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2.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3.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4.xml" ContentType="application/vnd.openxmlformats-officedocument.drawingml.chart+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1"/>
  </p:notesMasterIdLst>
  <p:sldIdLst>
    <p:sldId id="256" r:id="rId2"/>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Calibri"/>
              </a:defRPr>
            </a:pPr>
            <a:r>
              <a:rPr sz="1200" b="0" i="0" u="none" strike="noStrike">
                <a:solidFill>
                  <a:srgbClr val="00704A"/>
                </a:solidFill>
                <a:latin typeface="Calibri"/>
              </a:rPr>
              <a:t>Réponse du capteur selon la luminosité de surface (schéma)</a:t>
            </a:r>
          </a:p>
        </c:rich>
      </c:tx>
      <c:overlay val="0"/>
    </c:title>
    <c:autoTitleDeleted val="0"/>
    <c:plotArea>
      <c:layout/>
      <c:lineChart>
        <c:grouping val="standard"/>
        <c:varyColors val="0"/>
        <c:ser>
          <c:idx val="0"/>
          <c:order val="0"/>
          <c:tx>
            <c:strRef>
              <c:f>Sheet1!$B$1</c:f>
              <c:strCache>
                <c:ptCount val="1"/>
                <c:pt idx="0">
                  <c:v>DMSP-OLS (6 bits)</c:v>
                </c:pt>
              </c:strCache>
            </c:strRef>
          </c:tx>
          <c:spPr>
            <a:ln w="38100" cap="flat">
              <a:solidFill>
                <a:srgbClr val="8A9590"/>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18</c:v>
                </c:pt>
                <c:pt idx="1">
                  <c:v>36</c:v>
                </c:pt>
                <c:pt idx="2">
                  <c:v>55</c:v>
                </c:pt>
                <c:pt idx="3">
                  <c:v>73</c:v>
                </c:pt>
                <c:pt idx="4">
                  <c:v>91</c:v>
                </c:pt>
                <c:pt idx="5">
                  <c:v>100</c:v>
                </c:pt>
                <c:pt idx="6">
                  <c:v>100</c:v>
                </c:pt>
                <c:pt idx="7">
                  <c:v>100</c:v>
                </c:pt>
                <c:pt idx="8">
                  <c:v>100</c:v>
                </c:pt>
                <c:pt idx="9">
                  <c:v>100</c:v>
                </c:pt>
                <c:pt idx="10">
                  <c:v>100</c:v>
                </c:pt>
                <c:pt idx="11">
                  <c:v>100</c:v>
                </c:pt>
                <c:pt idx="12">
                  <c:v>100</c:v>
                </c:pt>
                <c:pt idx="13">
                  <c:v>100</c:v>
                </c:pt>
              </c:numCache>
            </c:numRef>
          </c:val>
          <c:smooth val="0"/>
          <c:extLst>
            <c:ext xmlns:c16="http://schemas.microsoft.com/office/drawing/2014/chart" uri="{C3380CC4-5D6E-409C-BE32-E72D297353CC}">
              <c16:uniqueId val="{00000000-7437-4ACA-85BE-54C3CFB4F577}"/>
            </c:ext>
          </c:extLst>
        </c:ser>
        <c:ser>
          <c:idx val="1"/>
          <c:order val="1"/>
          <c:tx>
            <c:strRef>
              <c:f>Sheet1!$C$1</c:f>
              <c:strCache>
                <c:ptCount val="1"/>
                <c:pt idx="0">
                  <c:v>VIIRS DNB (14 bits)</c:v>
                </c:pt>
              </c:strCache>
            </c:strRef>
          </c:tx>
          <c:spPr>
            <a:ln w="38100" cap="flat">
              <a:solidFill>
                <a:srgbClr val="00704A"/>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Sheet1!$C$2:$C$15</c:f>
              <c:numCache>
                <c:formatCode>General</c:formatCode>
                <c:ptCount val="14"/>
                <c:pt idx="0">
                  <c:v>7</c:v>
                </c:pt>
                <c:pt idx="1">
                  <c:v>14</c:v>
                </c:pt>
                <c:pt idx="2">
                  <c:v>21</c:v>
                </c:pt>
                <c:pt idx="3">
                  <c:v>29</c:v>
                </c:pt>
                <c:pt idx="4">
                  <c:v>36</c:v>
                </c:pt>
                <c:pt idx="5">
                  <c:v>43</c:v>
                </c:pt>
                <c:pt idx="6">
                  <c:v>50</c:v>
                </c:pt>
                <c:pt idx="7">
                  <c:v>57</c:v>
                </c:pt>
                <c:pt idx="8">
                  <c:v>64</c:v>
                </c:pt>
                <c:pt idx="9">
                  <c:v>71</c:v>
                </c:pt>
                <c:pt idx="10">
                  <c:v>79</c:v>
                </c:pt>
                <c:pt idx="11">
                  <c:v>86</c:v>
                </c:pt>
                <c:pt idx="12">
                  <c:v>93</c:v>
                </c:pt>
                <c:pt idx="13">
                  <c:v>100</c:v>
                </c:pt>
              </c:numCache>
            </c:numRef>
          </c:val>
          <c:smooth val="0"/>
          <c:extLst>
            <c:ext xmlns:c16="http://schemas.microsoft.com/office/drawing/2014/chart" uri="{C3380CC4-5D6E-409C-BE32-E72D297353CC}">
              <c16:uniqueId val="{00000001-7437-4ACA-85BE-54C3CFB4F577}"/>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Luminosité de surface (relative)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3E9E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Valeur enregistrée (% du max)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between"/>
      </c:valAx>
      <c:spPr>
        <a:noFill/>
        <a:ln>
          <a:noFill/>
        </a:ln>
        <a:effectLst/>
      </c:spPr>
    </c:plotArea>
    <c:legend>
      <c:legendPos val="b"/>
      <c:overlay val="0"/>
      <c:txPr>
        <a:bodyPr/>
        <a:lstStyle/>
        <a:p>
          <a:pPr>
            <a:defRPr sz="1100"/>
          </a:pPr>
          <a:endParaRPr lang="fr-F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Arial"/>
              </a:defRPr>
            </a:pPr>
            <a:r>
              <a:rPr sz="1200" b="0" i="0" u="none" strike="noStrike">
                <a:solidFill>
                  <a:srgbClr val="00704A"/>
                </a:solidFill>
                <a:latin typeface="Arial"/>
              </a:rPr>
              <a:t>Nuits sans nuages par mois (schématique)</a:t>
            </a:r>
          </a:p>
        </c:rich>
      </c:tx>
      <c:overlay val="0"/>
    </c:title>
    <c:autoTitleDeleted val="0"/>
    <c:plotArea>
      <c:layout/>
      <c:barChart>
        <c:barDir val="col"/>
        <c:grouping val="clustered"/>
        <c:varyColors val="0"/>
        <c:ser>
          <c:idx val="0"/>
          <c:order val="0"/>
          <c:tx>
            <c:strRef>
              <c:f>Sheet1!$B$1</c:f>
              <c:strCache>
                <c:ptCount val="1"/>
                <c:pt idx="0">
                  <c:v>Site sahélien</c:v>
                </c:pt>
              </c:strCache>
            </c:strRef>
          </c:tx>
          <c:spPr>
            <a:solidFill>
              <a:srgbClr val="00A86A"/>
            </a:solidFill>
            <a:effectLst/>
          </c:spPr>
          <c:invertIfNegative val="0"/>
          <c:cat>
            <c:strRef>
              <c:f>Sheet1!$A$2:$A$13</c:f>
              <c:strCache>
                <c:ptCount val="12"/>
                <c:pt idx="0">
                  <c:v>J</c:v>
                </c:pt>
                <c:pt idx="1">
                  <c:v>F</c:v>
                </c:pt>
                <c:pt idx="2">
                  <c:v>M</c:v>
                </c:pt>
                <c:pt idx="3">
                  <c:v>A</c:v>
                </c:pt>
                <c:pt idx="4">
                  <c:v>M</c:v>
                </c:pt>
                <c:pt idx="5">
                  <c:v>J</c:v>
                </c:pt>
                <c:pt idx="6">
                  <c:v>J</c:v>
                </c:pt>
                <c:pt idx="7">
                  <c:v>A</c:v>
                </c:pt>
                <c:pt idx="8">
                  <c:v>S</c:v>
                </c:pt>
                <c:pt idx="9">
                  <c:v>O</c:v>
                </c:pt>
                <c:pt idx="10">
                  <c:v>N</c:v>
                </c:pt>
                <c:pt idx="11">
                  <c:v>D</c:v>
                </c:pt>
              </c:strCache>
            </c:strRef>
          </c:cat>
          <c:val>
            <c:numRef>
              <c:f>Sheet1!$B$2:$B$13</c:f>
              <c:numCache>
                <c:formatCode>General</c:formatCode>
                <c:ptCount val="12"/>
                <c:pt idx="0">
                  <c:v>24</c:v>
                </c:pt>
                <c:pt idx="1">
                  <c:v>23</c:v>
                </c:pt>
                <c:pt idx="2">
                  <c:v>25</c:v>
                </c:pt>
                <c:pt idx="3">
                  <c:v>24</c:v>
                </c:pt>
                <c:pt idx="4">
                  <c:v>22</c:v>
                </c:pt>
                <c:pt idx="5">
                  <c:v>18</c:v>
                </c:pt>
                <c:pt idx="6">
                  <c:v>12</c:v>
                </c:pt>
                <c:pt idx="7">
                  <c:v>10</c:v>
                </c:pt>
                <c:pt idx="8">
                  <c:v>14</c:v>
                </c:pt>
                <c:pt idx="9">
                  <c:v>21</c:v>
                </c:pt>
                <c:pt idx="10">
                  <c:v>24</c:v>
                </c:pt>
                <c:pt idx="11">
                  <c:v>25</c:v>
                </c:pt>
              </c:numCache>
            </c:numRef>
          </c:val>
          <c:extLst>
            <c:ext xmlns:c16="http://schemas.microsoft.com/office/drawing/2014/chart" uri="{C3380CC4-5D6E-409C-BE32-E72D297353CC}">
              <c16:uniqueId val="{00000000-F630-4B8E-A98C-BB26DDF97168}"/>
            </c:ext>
          </c:extLst>
        </c:ser>
        <c:ser>
          <c:idx val="1"/>
          <c:order val="1"/>
          <c:tx>
            <c:strRef>
              <c:f>Sheet1!$C$1</c:f>
              <c:strCache>
                <c:ptCount val="1"/>
                <c:pt idx="0">
                  <c:v>Côte du golfe de Guinée</c:v>
                </c:pt>
              </c:strCache>
            </c:strRef>
          </c:tx>
          <c:spPr>
            <a:solidFill>
              <a:srgbClr val="F5C242"/>
            </a:solidFill>
            <a:effectLst/>
          </c:spPr>
          <c:invertIfNegative val="0"/>
          <c:cat>
            <c:strRef>
              <c:f>Sheet1!$A$2:$A$13</c:f>
              <c:strCache>
                <c:ptCount val="12"/>
                <c:pt idx="0">
                  <c:v>J</c:v>
                </c:pt>
                <c:pt idx="1">
                  <c:v>F</c:v>
                </c:pt>
                <c:pt idx="2">
                  <c:v>M</c:v>
                </c:pt>
                <c:pt idx="3">
                  <c:v>A</c:v>
                </c:pt>
                <c:pt idx="4">
                  <c:v>M</c:v>
                </c:pt>
                <c:pt idx="5">
                  <c:v>J</c:v>
                </c:pt>
                <c:pt idx="6">
                  <c:v>J</c:v>
                </c:pt>
                <c:pt idx="7">
                  <c:v>A</c:v>
                </c:pt>
                <c:pt idx="8">
                  <c:v>S</c:v>
                </c:pt>
                <c:pt idx="9">
                  <c:v>O</c:v>
                </c:pt>
                <c:pt idx="10">
                  <c:v>N</c:v>
                </c:pt>
                <c:pt idx="11">
                  <c:v>D</c:v>
                </c:pt>
              </c:strCache>
            </c:strRef>
          </c:cat>
          <c:val>
            <c:numRef>
              <c:f>Sheet1!$C$2:$C$13</c:f>
              <c:numCache>
                <c:formatCode>General</c:formatCode>
                <c:ptCount val="12"/>
                <c:pt idx="0">
                  <c:v>16</c:v>
                </c:pt>
                <c:pt idx="1">
                  <c:v>14</c:v>
                </c:pt>
                <c:pt idx="2">
                  <c:v>11</c:v>
                </c:pt>
                <c:pt idx="3">
                  <c:v>9</c:v>
                </c:pt>
                <c:pt idx="4">
                  <c:v>7</c:v>
                </c:pt>
                <c:pt idx="5">
                  <c:v>4</c:v>
                </c:pt>
                <c:pt idx="6">
                  <c:v>3</c:v>
                </c:pt>
                <c:pt idx="7">
                  <c:v>4</c:v>
                </c:pt>
                <c:pt idx="8">
                  <c:v>5</c:v>
                </c:pt>
                <c:pt idx="9">
                  <c:v>7</c:v>
                </c:pt>
                <c:pt idx="10">
                  <c:v>11</c:v>
                </c:pt>
                <c:pt idx="11">
                  <c:v>15</c:v>
                </c:pt>
              </c:numCache>
            </c:numRef>
          </c:val>
          <c:extLst>
            <c:ext xmlns:c16="http://schemas.microsoft.com/office/drawing/2014/chart" uri="{C3380CC4-5D6E-409C-BE32-E72D297353CC}">
              <c16:uniqueId val="{00000001-F630-4B8E-A98C-BB26DDF97168}"/>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3E9E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nuits valides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between"/>
      </c:valAx>
      <c:spPr>
        <a:noFill/>
        <a:ln>
          <a:noFill/>
        </a:ln>
        <a:effectLst/>
      </c:spPr>
    </c:plotArea>
    <c:legend>
      <c:legendPos val="b"/>
      <c:overlay val="0"/>
      <c:txPr>
        <a:bodyPr/>
        <a:lstStyle/>
        <a:p>
          <a:pPr>
            <a:defRPr sz="1100"/>
          </a:pPr>
          <a:endParaRPr lang="fr-FR"/>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Arial"/>
              </a:defRPr>
            </a:pPr>
            <a:r>
              <a:rPr sz="1200" b="0" i="0" u="none" strike="noStrike">
                <a:solidFill>
                  <a:srgbClr val="00704A"/>
                </a:solidFill>
                <a:latin typeface="Arial"/>
              </a:rPr>
              <a:t>Somme des lumières mensuelle, indice (illustratif)</a:t>
            </a:r>
          </a:p>
        </c:rich>
      </c:tx>
      <c:overlay val="0"/>
    </c:title>
    <c:autoTitleDeleted val="0"/>
    <c:plotArea>
      <c:layout/>
      <c:lineChart>
        <c:grouping val="standard"/>
        <c:varyColors val="0"/>
        <c:ser>
          <c:idx val="0"/>
          <c:order val="0"/>
          <c:tx>
            <c:strRef>
              <c:f>Sheet1!$B$1</c:f>
              <c:strCache>
                <c:ptCount val="1"/>
                <c:pt idx="0">
                  <c:v>SOL mensuelle brute</c:v>
                </c:pt>
              </c:strCache>
            </c:strRef>
          </c:tx>
          <c:spPr>
            <a:ln w="31750" cap="flat">
              <a:solidFill>
                <a:srgbClr val="BAC4BF"/>
              </a:solidFill>
              <a:prstDash val="solid"/>
              <a:round/>
            </a:ln>
            <a:effectLst/>
          </c:spPr>
          <c:marker>
            <c:symbol val="none"/>
          </c:marker>
          <c:cat>
            <c:strRef>
              <c:f>Sheet1!$A$2:$A$37</c:f>
              <c:strCache>
                <c:ptCount val="36"/>
                <c:pt idx="0">
                  <c:v>2023-01</c:v>
                </c:pt>
                <c:pt idx="1">
                  <c:v>02</c:v>
                </c:pt>
                <c:pt idx="2">
                  <c:v>03</c:v>
                </c:pt>
                <c:pt idx="3">
                  <c:v>04</c:v>
                </c:pt>
                <c:pt idx="4">
                  <c:v>05</c:v>
                </c:pt>
                <c:pt idx="5">
                  <c:v>06</c:v>
                </c:pt>
                <c:pt idx="6">
                  <c:v>07</c:v>
                </c:pt>
                <c:pt idx="7">
                  <c:v>08</c:v>
                </c:pt>
                <c:pt idx="8">
                  <c:v>09</c:v>
                </c:pt>
                <c:pt idx="9">
                  <c:v>10</c:v>
                </c:pt>
                <c:pt idx="10">
                  <c:v>11</c:v>
                </c:pt>
                <c:pt idx="11">
                  <c:v>12</c:v>
                </c:pt>
                <c:pt idx="12">
                  <c:v>2024-01</c:v>
                </c:pt>
                <c:pt idx="13">
                  <c:v>02</c:v>
                </c:pt>
                <c:pt idx="14">
                  <c:v>03</c:v>
                </c:pt>
                <c:pt idx="15">
                  <c:v>04</c:v>
                </c:pt>
                <c:pt idx="16">
                  <c:v>05</c:v>
                </c:pt>
                <c:pt idx="17">
                  <c:v>06</c:v>
                </c:pt>
                <c:pt idx="18">
                  <c:v>07</c:v>
                </c:pt>
                <c:pt idx="19">
                  <c:v>08</c:v>
                </c:pt>
                <c:pt idx="20">
                  <c:v>09</c:v>
                </c:pt>
                <c:pt idx="21">
                  <c:v>10</c:v>
                </c:pt>
                <c:pt idx="22">
                  <c:v>11</c:v>
                </c:pt>
                <c:pt idx="23">
                  <c:v>12</c:v>
                </c:pt>
                <c:pt idx="24">
                  <c:v>2025-01</c:v>
                </c:pt>
                <c:pt idx="25">
                  <c:v>02</c:v>
                </c:pt>
                <c:pt idx="26">
                  <c:v>03</c:v>
                </c:pt>
                <c:pt idx="27">
                  <c:v>04</c:v>
                </c:pt>
                <c:pt idx="28">
                  <c:v>05</c:v>
                </c:pt>
                <c:pt idx="29">
                  <c:v>06</c:v>
                </c:pt>
                <c:pt idx="30">
                  <c:v>07</c:v>
                </c:pt>
                <c:pt idx="31">
                  <c:v>08</c:v>
                </c:pt>
                <c:pt idx="32">
                  <c:v>09</c:v>
                </c:pt>
                <c:pt idx="33">
                  <c:v>10</c:v>
                </c:pt>
                <c:pt idx="34">
                  <c:v>11</c:v>
                </c:pt>
                <c:pt idx="35">
                  <c:v>12</c:v>
                </c:pt>
              </c:strCache>
            </c:strRef>
          </c:cat>
          <c:val>
            <c:numRef>
              <c:f>Sheet1!$B$2:$B$37</c:f>
              <c:numCache>
                <c:formatCode>General</c:formatCode>
                <c:ptCount val="36"/>
                <c:pt idx="0">
                  <c:v>100</c:v>
                </c:pt>
                <c:pt idx="1">
                  <c:v>98.3</c:v>
                </c:pt>
                <c:pt idx="2">
                  <c:v>101.6</c:v>
                </c:pt>
                <c:pt idx="3">
                  <c:v>103.9</c:v>
                </c:pt>
                <c:pt idx="4">
                  <c:v>100.2</c:v>
                </c:pt>
                <c:pt idx="5">
                  <c:v>93.3</c:v>
                </c:pt>
                <c:pt idx="6">
                  <c:v>76.099999999999994</c:v>
                </c:pt>
                <c:pt idx="7">
                  <c:v>78.099999999999994</c:v>
                </c:pt>
                <c:pt idx="8">
                  <c:v>98.2</c:v>
                </c:pt>
                <c:pt idx="9">
                  <c:v>104.7</c:v>
                </c:pt>
                <c:pt idx="10">
                  <c:v>107</c:v>
                </c:pt>
                <c:pt idx="11">
                  <c:v>110.4</c:v>
                </c:pt>
                <c:pt idx="12">
                  <c:v>103.5</c:v>
                </c:pt>
                <c:pt idx="13">
                  <c:v>101.7</c:v>
                </c:pt>
                <c:pt idx="14">
                  <c:v>105.1</c:v>
                </c:pt>
                <c:pt idx="15">
                  <c:v>126.9</c:v>
                </c:pt>
                <c:pt idx="16">
                  <c:v>122.3</c:v>
                </c:pt>
                <c:pt idx="17">
                  <c:v>113.9</c:v>
                </c:pt>
                <c:pt idx="18">
                  <c:v>64.8</c:v>
                </c:pt>
                <c:pt idx="19">
                  <c:v>66.5</c:v>
                </c:pt>
                <c:pt idx="20">
                  <c:v>101.6</c:v>
                </c:pt>
                <c:pt idx="21">
                  <c:v>108.2</c:v>
                </c:pt>
                <c:pt idx="22">
                  <c:v>110.7</c:v>
                </c:pt>
                <c:pt idx="23">
                  <c:v>114.2</c:v>
                </c:pt>
                <c:pt idx="24">
                  <c:v>107</c:v>
                </c:pt>
                <c:pt idx="25">
                  <c:v>105.1</c:v>
                </c:pt>
                <c:pt idx="26">
                  <c:v>108.7</c:v>
                </c:pt>
                <c:pt idx="27">
                  <c:v>111.1</c:v>
                </c:pt>
                <c:pt idx="28">
                  <c:v>107.1</c:v>
                </c:pt>
                <c:pt idx="29">
                  <c:v>99.8</c:v>
                </c:pt>
                <c:pt idx="30">
                  <c:v>81.3</c:v>
                </c:pt>
                <c:pt idx="31">
                  <c:v>83.4</c:v>
                </c:pt>
                <c:pt idx="32">
                  <c:v>105</c:v>
                </c:pt>
                <c:pt idx="33">
                  <c:v>111.8</c:v>
                </c:pt>
                <c:pt idx="34">
                  <c:v>114.3</c:v>
                </c:pt>
                <c:pt idx="35">
                  <c:v>117.9</c:v>
                </c:pt>
              </c:numCache>
            </c:numRef>
          </c:val>
          <c:smooth val="0"/>
          <c:extLst>
            <c:ext xmlns:c16="http://schemas.microsoft.com/office/drawing/2014/chart" uri="{C3380CC4-5D6E-409C-BE32-E72D297353CC}">
              <c16:uniqueId val="{00000000-2952-4CDF-A4AB-22C410FE95B3}"/>
            </c:ext>
          </c:extLst>
        </c:ser>
        <c:ser>
          <c:idx val="1"/>
          <c:order val="1"/>
          <c:tx>
            <c:strRef>
              <c:f>Sheet1!$C$1</c:f>
              <c:strCache>
                <c:ptCount val="1"/>
                <c:pt idx="0">
                  <c:v>Masquée et filtrée</c:v>
                </c:pt>
              </c:strCache>
            </c:strRef>
          </c:tx>
          <c:spPr>
            <a:ln w="31750" cap="flat">
              <a:solidFill>
                <a:srgbClr val="00704A"/>
              </a:solidFill>
              <a:prstDash val="solid"/>
              <a:round/>
            </a:ln>
            <a:effectLst/>
          </c:spPr>
          <c:marker>
            <c:symbol val="none"/>
          </c:marker>
          <c:cat>
            <c:strRef>
              <c:f>Sheet1!$A$2:$A$37</c:f>
              <c:strCache>
                <c:ptCount val="36"/>
                <c:pt idx="0">
                  <c:v>2023-01</c:v>
                </c:pt>
                <c:pt idx="1">
                  <c:v>02</c:v>
                </c:pt>
                <c:pt idx="2">
                  <c:v>03</c:v>
                </c:pt>
                <c:pt idx="3">
                  <c:v>04</c:v>
                </c:pt>
                <c:pt idx="4">
                  <c:v>05</c:v>
                </c:pt>
                <c:pt idx="5">
                  <c:v>06</c:v>
                </c:pt>
                <c:pt idx="6">
                  <c:v>07</c:v>
                </c:pt>
                <c:pt idx="7">
                  <c:v>08</c:v>
                </c:pt>
                <c:pt idx="8">
                  <c:v>09</c:v>
                </c:pt>
                <c:pt idx="9">
                  <c:v>10</c:v>
                </c:pt>
                <c:pt idx="10">
                  <c:v>11</c:v>
                </c:pt>
                <c:pt idx="11">
                  <c:v>12</c:v>
                </c:pt>
                <c:pt idx="12">
                  <c:v>2024-01</c:v>
                </c:pt>
                <c:pt idx="13">
                  <c:v>02</c:v>
                </c:pt>
                <c:pt idx="14">
                  <c:v>03</c:v>
                </c:pt>
                <c:pt idx="15">
                  <c:v>04</c:v>
                </c:pt>
                <c:pt idx="16">
                  <c:v>05</c:v>
                </c:pt>
                <c:pt idx="17">
                  <c:v>06</c:v>
                </c:pt>
                <c:pt idx="18">
                  <c:v>07</c:v>
                </c:pt>
                <c:pt idx="19">
                  <c:v>08</c:v>
                </c:pt>
                <c:pt idx="20">
                  <c:v>09</c:v>
                </c:pt>
                <c:pt idx="21">
                  <c:v>10</c:v>
                </c:pt>
                <c:pt idx="22">
                  <c:v>11</c:v>
                </c:pt>
                <c:pt idx="23">
                  <c:v>12</c:v>
                </c:pt>
                <c:pt idx="24">
                  <c:v>2025-01</c:v>
                </c:pt>
                <c:pt idx="25">
                  <c:v>02</c:v>
                </c:pt>
                <c:pt idx="26">
                  <c:v>03</c:v>
                </c:pt>
                <c:pt idx="27">
                  <c:v>04</c:v>
                </c:pt>
                <c:pt idx="28">
                  <c:v>05</c:v>
                </c:pt>
                <c:pt idx="29">
                  <c:v>06</c:v>
                </c:pt>
                <c:pt idx="30">
                  <c:v>07</c:v>
                </c:pt>
                <c:pt idx="31">
                  <c:v>08</c:v>
                </c:pt>
                <c:pt idx="32">
                  <c:v>09</c:v>
                </c:pt>
                <c:pt idx="33">
                  <c:v>10</c:v>
                </c:pt>
                <c:pt idx="34">
                  <c:v>11</c:v>
                </c:pt>
                <c:pt idx="35">
                  <c:v>12</c:v>
                </c:pt>
              </c:strCache>
            </c:strRef>
          </c:cat>
          <c:val>
            <c:numRef>
              <c:f>Sheet1!$C$2:$C$37</c:f>
              <c:numCache>
                <c:formatCode>General</c:formatCode>
                <c:ptCount val="36"/>
                <c:pt idx="0">
                  <c:v>100</c:v>
                </c:pt>
                <c:pt idx="1">
                  <c:v>98.3</c:v>
                </c:pt>
                <c:pt idx="2">
                  <c:v>101.6</c:v>
                </c:pt>
                <c:pt idx="3">
                  <c:v>103.9</c:v>
                </c:pt>
                <c:pt idx="4">
                  <c:v>100.2</c:v>
                </c:pt>
                <c:pt idx="5">
                  <c:v>93.3</c:v>
                </c:pt>
                <c:pt idx="6">
                  <c:v>89.5</c:v>
                </c:pt>
                <c:pt idx="7">
                  <c:v>91.8</c:v>
                </c:pt>
                <c:pt idx="8">
                  <c:v>98.2</c:v>
                </c:pt>
                <c:pt idx="9">
                  <c:v>104.7</c:v>
                </c:pt>
                <c:pt idx="10">
                  <c:v>107</c:v>
                </c:pt>
                <c:pt idx="11">
                  <c:v>110.4</c:v>
                </c:pt>
                <c:pt idx="12">
                  <c:v>103.5</c:v>
                </c:pt>
                <c:pt idx="13">
                  <c:v>101.7</c:v>
                </c:pt>
                <c:pt idx="14">
                  <c:v>105.1</c:v>
                </c:pt>
                <c:pt idx="15">
                  <c:v>107.5</c:v>
                </c:pt>
                <c:pt idx="16">
                  <c:v>103.6</c:v>
                </c:pt>
                <c:pt idx="17">
                  <c:v>96.6</c:v>
                </c:pt>
                <c:pt idx="18">
                  <c:v>92.6</c:v>
                </c:pt>
                <c:pt idx="19">
                  <c:v>95</c:v>
                </c:pt>
                <c:pt idx="20">
                  <c:v>101.6</c:v>
                </c:pt>
                <c:pt idx="21">
                  <c:v>108.2</c:v>
                </c:pt>
                <c:pt idx="22">
                  <c:v>110.7</c:v>
                </c:pt>
                <c:pt idx="23">
                  <c:v>114.2</c:v>
                </c:pt>
                <c:pt idx="24">
                  <c:v>107</c:v>
                </c:pt>
                <c:pt idx="25">
                  <c:v>105.1</c:v>
                </c:pt>
                <c:pt idx="26">
                  <c:v>108.7</c:v>
                </c:pt>
                <c:pt idx="27">
                  <c:v>111.1</c:v>
                </c:pt>
                <c:pt idx="28">
                  <c:v>107.1</c:v>
                </c:pt>
                <c:pt idx="29">
                  <c:v>99.8</c:v>
                </c:pt>
                <c:pt idx="30">
                  <c:v>95.7</c:v>
                </c:pt>
                <c:pt idx="31">
                  <c:v>98.1</c:v>
                </c:pt>
                <c:pt idx="32">
                  <c:v>105</c:v>
                </c:pt>
                <c:pt idx="33">
                  <c:v>111.8</c:v>
                </c:pt>
                <c:pt idx="34">
                  <c:v>114.3</c:v>
                </c:pt>
                <c:pt idx="35">
                  <c:v>117.9</c:v>
                </c:pt>
              </c:numCache>
            </c:numRef>
          </c:val>
          <c:smooth val="0"/>
          <c:extLst>
            <c:ext xmlns:c16="http://schemas.microsoft.com/office/drawing/2014/chart" uri="{C3380CC4-5D6E-409C-BE32-E72D297353CC}">
              <c16:uniqueId val="{00000001-2952-4CDF-A4AB-22C410FE95B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E6964"/>
                </a:solidFill>
                <a:latin typeface="Arial"/>
              </a:defRPr>
            </a:pPr>
            <a:endParaRPr lang="fr-FR"/>
          </a:p>
        </c:txPr>
        <c:crossAx val="2094734552"/>
        <c:crosses val="autoZero"/>
        <c:auto val="1"/>
        <c:lblAlgn val="ctr"/>
        <c:lblOffset val="100"/>
        <c:noMultiLvlLbl val="1"/>
      </c:catAx>
      <c:valAx>
        <c:axId val="2094734552"/>
        <c:scaling>
          <c:orientation val="minMax"/>
          <c:max val="130"/>
          <c:min val="60"/>
        </c:scaling>
        <c:delete val="0"/>
        <c:axPos val="l"/>
        <c:majorGridlines>
          <c:spPr>
            <a:ln w="6350" cap="flat">
              <a:solidFill>
                <a:srgbClr val="E3E9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between"/>
      </c:valAx>
      <c:spPr>
        <a:noFill/>
        <a:ln>
          <a:noFill/>
        </a:ln>
        <a:effectLst/>
      </c:spPr>
    </c:plotArea>
    <c:legend>
      <c:legendPos val="b"/>
      <c:overlay val="0"/>
      <c:txPr>
        <a:bodyPr/>
        <a:lstStyle/>
        <a:p>
          <a:pPr>
            <a:defRPr sz="1100"/>
          </a:pPr>
          <a:endParaRPr lang="fr-FR"/>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0704A"/>
                </a:solidFill>
                <a:latin typeface="Arial"/>
              </a:defRPr>
            </a:pPr>
            <a:r>
              <a:rPr sz="1100" b="0" i="0" u="none" strike="noStrike">
                <a:solidFill>
                  <a:srgbClr val="00704A"/>
                </a:solidFill>
                <a:latin typeface="Arial"/>
              </a:rPr>
              <a:t>Afrique subsaharienne rurale sans électricité (millions)</a:t>
            </a:r>
          </a:p>
        </c:rich>
      </c:tx>
      <c:overlay val="0"/>
    </c:title>
    <c:autoTitleDeleted val="0"/>
    <c:plotArea>
      <c:layout/>
      <c:barChart>
        <c:barDir val="col"/>
        <c:grouping val="clustered"/>
        <c:varyColors val="0"/>
        <c:ser>
          <c:idx val="0"/>
          <c:order val="0"/>
          <c:tx>
            <c:strRef>
              <c:f>Sheet1!$B$1</c:f>
              <c:strCache>
                <c:ptCount val="1"/>
                <c:pt idx="0">
                  <c:v>ASS rurale sans électricité (millions)</c:v>
                </c:pt>
              </c:strCache>
            </c:strRef>
          </c:tx>
          <c:spPr>
            <a:solidFill>
              <a:srgbClr val="8A9590"/>
            </a:solidFill>
            <a:effectLst/>
          </c:spPr>
          <c:invertIfNegative val="0"/>
          <c:dPt>
            <c:idx val="0"/>
            <c:invertIfNegative val="0"/>
            <c:bubble3D val="0"/>
            <c:extLst>
              <c:ext xmlns:c16="http://schemas.microsoft.com/office/drawing/2014/chart" uri="{C3380CC4-5D6E-409C-BE32-E72D297353CC}">
                <c16:uniqueId val="{00000001-C970-44C4-BDE3-8566A0B7D8A0}"/>
              </c:ext>
            </c:extLst>
          </c:dPt>
          <c:dPt>
            <c:idx val="1"/>
            <c:invertIfNegative val="0"/>
            <c:bubble3D val="0"/>
            <c:spPr>
              <a:solidFill>
                <a:srgbClr val="B83B2E"/>
              </a:solidFill>
              <a:effectLst/>
            </c:spPr>
            <c:extLst>
              <c:ext xmlns:c16="http://schemas.microsoft.com/office/drawing/2014/chart" uri="{C3380CC4-5D6E-409C-BE32-E72D297353CC}">
                <c16:uniqueId val="{00000003-C970-44C4-BDE3-8566A0B7D8A0}"/>
              </c:ext>
            </c:extLst>
          </c:dPt>
          <c:dLbls>
            <c:numFmt formatCode="#,##0" sourceLinked="0"/>
            <c:spPr>
              <a:noFill/>
              <a:ln>
                <a:noFill/>
              </a:ln>
              <a:effectLst/>
            </c:spPr>
            <c:txPr>
              <a:bodyPr/>
              <a:lstStyle/>
              <a:p>
                <a:pPr>
                  <a:defRPr sz="1200" b="1"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2010</c:v>
                </c:pt>
                <c:pt idx="1">
                  <c:v>2024</c:v>
                </c:pt>
              </c:strCache>
            </c:strRef>
          </c:cat>
          <c:val>
            <c:numRef>
              <c:f>Sheet1!$B$2:$B$3</c:f>
              <c:numCache>
                <c:formatCode>General</c:formatCode>
                <c:ptCount val="2"/>
                <c:pt idx="0">
                  <c:v>376</c:v>
                </c:pt>
                <c:pt idx="1">
                  <c:v>447</c:v>
                </c:pt>
              </c:numCache>
            </c:numRef>
          </c:val>
          <c:extLst>
            <c:ext xmlns:c16="http://schemas.microsoft.com/office/drawing/2014/chart" uri="{C3380CC4-5D6E-409C-BE32-E72D297353CC}">
              <c16:uniqueId val="{00000004-C970-44C4-BDE3-8566A0B7D8A0}"/>
            </c:ext>
          </c:extLst>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auto val="1"/>
        <c:lblAlgn val="ctr"/>
        <c:lblOffset val="100"/>
        <c:noMultiLvlLbl val="1"/>
      </c:catAx>
      <c:valAx>
        <c:axId val="2094734552"/>
        <c:scaling>
          <c:orientation val="minMax"/>
          <c:max val="5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Arial"/>
              </a:defRPr>
            </a:pPr>
            <a:r>
              <a:rPr sz="1200" b="0" i="0" u="none" strike="noStrike">
                <a:solidFill>
                  <a:srgbClr val="00704A"/>
                </a:solidFill>
                <a:latin typeface="Arial"/>
              </a:rPr>
              <a:t>Niveaux : log PIB vs log somme des lumières</a:t>
            </a:r>
          </a:p>
        </c:rich>
      </c:tx>
      <c:overlay val="0"/>
    </c:title>
    <c:autoTitleDeleted val="0"/>
    <c:plotArea>
      <c:layout/>
      <c:scatterChart>
        <c:scatterStyle val="lineMarker"/>
        <c:varyColors val="0"/>
        <c:ser>
          <c:idx val="0"/>
          <c:order val="0"/>
          <c:tx>
            <c:strRef>
              <c:f>Sheet1!$B$1</c:f>
              <c:strCache>
                <c:ptCount val="1"/>
                <c:pt idx="0">
                  <c:v>régions</c:v>
                </c:pt>
              </c:strCache>
            </c:strRef>
          </c:tx>
          <c:spPr>
            <a:ln>
              <a:noFill/>
            </a:ln>
            <a:effectLst/>
          </c:spPr>
          <c:marker>
            <c:symbol val="circle"/>
            <c:size val="9"/>
            <c:spPr>
              <a:solidFill>
                <a:srgbClr val="00704A"/>
              </a:solidFill>
              <a:ln w="9525" cap="flat">
                <a:solidFill>
                  <a:srgbClr val="00704A"/>
                </a:solidFill>
                <a:prstDash val="solid"/>
                <a:round/>
              </a:ln>
              <a:effectLst/>
            </c:spPr>
          </c:marker>
          <c:xVal>
            <c:numRef>
              <c:f>Sheet1!$A$2:$A$15</c:f>
              <c:numCache>
                <c:formatCode>General</c:formatCode>
                <c:ptCount val="14"/>
                <c:pt idx="0">
                  <c:v>1.2</c:v>
                </c:pt>
                <c:pt idx="1">
                  <c:v>1.8</c:v>
                </c:pt>
                <c:pt idx="2">
                  <c:v>2.2999999999999998</c:v>
                </c:pt>
                <c:pt idx="3">
                  <c:v>2.9</c:v>
                </c:pt>
                <c:pt idx="4">
                  <c:v>3.3</c:v>
                </c:pt>
                <c:pt idx="5">
                  <c:v>3.8</c:v>
                </c:pt>
                <c:pt idx="6">
                  <c:v>4.4000000000000004</c:v>
                </c:pt>
                <c:pt idx="7">
                  <c:v>4.9000000000000004</c:v>
                </c:pt>
                <c:pt idx="8">
                  <c:v>5.5</c:v>
                </c:pt>
                <c:pt idx="9">
                  <c:v>6.1</c:v>
                </c:pt>
                <c:pt idx="10">
                  <c:v>2</c:v>
                </c:pt>
                <c:pt idx="11">
                  <c:v>4</c:v>
                </c:pt>
                <c:pt idx="12">
                  <c:v>5.2</c:v>
                </c:pt>
                <c:pt idx="13">
                  <c:v>3</c:v>
                </c:pt>
              </c:numCache>
            </c:numRef>
          </c:xVal>
          <c:yVal>
            <c:numRef>
              <c:f>Sheet1!$B$2:$B$15</c:f>
              <c:numCache>
                <c:formatCode>General</c:formatCode>
                <c:ptCount val="14"/>
                <c:pt idx="0">
                  <c:v>1.5</c:v>
                </c:pt>
                <c:pt idx="1">
                  <c:v>1.9</c:v>
                </c:pt>
                <c:pt idx="2">
                  <c:v>2.6</c:v>
                </c:pt>
                <c:pt idx="3">
                  <c:v>2.8</c:v>
                </c:pt>
                <c:pt idx="4">
                  <c:v>3.5</c:v>
                </c:pt>
                <c:pt idx="5">
                  <c:v>3.6</c:v>
                </c:pt>
                <c:pt idx="6">
                  <c:v>4.5999999999999996</c:v>
                </c:pt>
                <c:pt idx="7">
                  <c:v>4.7</c:v>
                </c:pt>
                <c:pt idx="8">
                  <c:v>5.9</c:v>
                </c:pt>
                <c:pt idx="9">
                  <c:v>5.8</c:v>
                </c:pt>
                <c:pt idx="10">
                  <c:v>2.9</c:v>
                </c:pt>
                <c:pt idx="11">
                  <c:v>3.2</c:v>
                </c:pt>
                <c:pt idx="12">
                  <c:v>5</c:v>
                </c:pt>
                <c:pt idx="13">
                  <c:v>3.4</c:v>
                </c:pt>
              </c:numCache>
            </c:numRef>
          </c:yVal>
          <c:smooth val="0"/>
          <c:extLst>
            <c:ext xmlns:c16="http://schemas.microsoft.com/office/drawing/2014/chart" uri="{C3380CC4-5D6E-409C-BE32-E72D297353CC}">
              <c16:uniqueId val="{00000000-7707-4BD3-AC65-934627A21C74}"/>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log somme des lumières</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crossBetween val="midCat"/>
      </c:valAx>
      <c:valAx>
        <c:axId val="2094734552"/>
        <c:scaling>
          <c:orientation val="minMax"/>
        </c:scaling>
        <c:delete val="0"/>
        <c:axPos val="l"/>
        <c:majorGridlines>
          <c:spPr>
            <a:ln w="6350" cap="flat">
              <a:solidFill>
                <a:srgbClr val="E3E9E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log PIB</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Arial"/>
              </a:defRPr>
            </a:pPr>
            <a:r>
              <a:rPr sz="1200" b="0" i="0" u="none" strike="noStrike">
                <a:solidFill>
                  <a:srgbClr val="00704A"/>
                </a:solidFill>
                <a:latin typeface="Arial"/>
              </a:rPr>
              <a:t>Évolutions : croissance du PIB vs croissance de la lumière (%)</a:t>
            </a:r>
          </a:p>
        </c:rich>
      </c:tx>
      <c:overlay val="0"/>
    </c:title>
    <c:autoTitleDeleted val="0"/>
    <c:plotArea>
      <c:layout/>
      <c:scatterChart>
        <c:scatterStyle val="lineMarker"/>
        <c:varyColors val="0"/>
        <c:ser>
          <c:idx val="0"/>
          <c:order val="0"/>
          <c:tx>
            <c:strRef>
              <c:f>Sheet1!$B$1</c:f>
              <c:strCache>
                <c:ptCount val="1"/>
                <c:pt idx="0">
                  <c:v>régions</c:v>
                </c:pt>
              </c:strCache>
            </c:strRef>
          </c:tx>
          <c:spPr>
            <a:ln>
              <a:noFill/>
            </a:ln>
            <a:effectLst/>
          </c:spPr>
          <c:marker>
            <c:symbol val="circle"/>
            <c:size val="9"/>
            <c:spPr>
              <a:solidFill>
                <a:srgbClr val="A87700"/>
              </a:solidFill>
              <a:ln w="9525" cap="flat">
                <a:solidFill>
                  <a:srgbClr val="A87700"/>
                </a:solidFill>
                <a:prstDash val="solid"/>
                <a:round/>
              </a:ln>
              <a:effectLst/>
            </c:spPr>
          </c:marker>
          <c:xVal>
            <c:numRef>
              <c:f>Sheet1!$A$2:$A$15</c:f>
              <c:numCache>
                <c:formatCode>General</c:formatCode>
                <c:ptCount val="14"/>
                <c:pt idx="0">
                  <c:v>-2</c:v>
                </c:pt>
                <c:pt idx="1">
                  <c:v>-1</c:v>
                </c:pt>
                <c:pt idx="2">
                  <c:v>0</c:v>
                </c:pt>
                <c:pt idx="3">
                  <c:v>1</c:v>
                </c:pt>
                <c:pt idx="4">
                  <c:v>2</c:v>
                </c:pt>
                <c:pt idx="5">
                  <c:v>3</c:v>
                </c:pt>
                <c:pt idx="6">
                  <c:v>4</c:v>
                </c:pt>
                <c:pt idx="7">
                  <c:v>5</c:v>
                </c:pt>
                <c:pt idx="8">
                  <c:v>6</c:v>
                </c:pt>
                <c:pt idx="9">
                  <c:v>7</c:v>
                </c:pt>
                <c:pt idx="10">
                  <c:v>1.5</c:v>
                </c:pt>
                <c:pt idx="11">
                  <c:v>3.5</c:v>
                </c:pt>
                <c:pt idx="12">
                  <c:v>5.5</c:v>
                </c:pt>
                <c:pt idx="13">
                  <c:v>-0.5</c:v>
                </c:pt>
              </c:numCache>
            </c:numRef>
          </c:xVal>
          <c:yVal>
            <c:numRef>
              <c:f>Sheet1!$B$2:$B$15</c:f>
              <c:numCache>
                <c:formatCode>General</c:formatCode>
                <c:ptCount val="14"/>
                <c:pt idx="0">
                  <c:v>1.8</c:v>
                </c:pt>
                <c:pt idx="1">
                  <c:v>3.5</c:v>
                </c:pt>
                <c:pt idx="2">
                  <c:v>2.1</c:v>
                </c:pt>
                <c:pt idx="3">
                  <c:v>4.2</c:v>
                </c:pt>
                <c:pt idx="4">
                  <c:v>2.6</c:v>
                </c:pt>
                <c:pt idx="5">
                  <c:v>4.9000000000000004</c:v>
                </c:pt>
                <c:pt idx="6">
                  <c:v>3</c:v>
                </c:pt>
                <c:pt idx="7">
                  <c:v>5.2</c:v>
                </c:pt>
                <c:pt idx="8">
                  <c:v>3.3</c:v>
                </c:pt>
                <c:pt idx="9">
                  <c:v>4.4000000000000004</c:v>
                </c:pt>
                <c:pt idx="10">
                  <c:v>1.2</c:v>
                </c:pt>
                <c:pt idx="11">
                  <c:v>3.8</c:v>
                </c:pt>
                <c:pt idx="12">
                  <c:v>2.4</c:v>
                </c:pt>
                <c:pt idx="13">
                  <c:v>4</c:v>
                </c:pt>
              </c:numCache>
            </c:numRef>
          </c:yVal>
          <c:smooth val="0"/>
          <c:extLst>
            <c:ext xmlns:c16="http://schemas.microsoft.com/office/drawing/2014/chart" uri="{C3380CC4-5D6E-409C-BE32-E72D297353CC}">
              <c16:uniqueId val="{00000000-7005-451A-8DA5-11821C92BD9E}"/>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croissance de la lumière, %</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crossBetween val="midCat"/>
      </c:valAx>
      <c:valAx>
        <c:axId val="2094734552"/>
        <c:scaling>
          <c:orientation val="minMax"/>
        </c:scaling>
        <c:delete val="0"/>
        <c:axPos val="l"/>
        <c:majorGridlines>
          <c:spPr>
            <a:ln w="6350" cap="flat">
              <a:solidFill>
                <a:srgbClr val="E3E9E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croissance du PIB, %</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1402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Bienvenue. Ce module prolonge naturellement un panorama des sources de données non traditionnelles et prépare le travail géospatial sur les terres cultivées et le bâti. Cadrer la séance : il ne s’agit pas d’une galerie de belles images de l’Afrique la nuit, mais d’une séance sur un instrument de mesure qu’un institut statistique ou une banque centrale peut utiliser, tester et diffuser. Question d’ouverture à la salle : « Si vous ne pouviez prendre qu’une seule photo de votre pays pour juger de la santé de son économie, que photographieriez-vous ? » La réponse de ce domaine : photographiez-le la nuit. Les diapositives signalées RÉFÉRENCE servent aux travaux pratiques ; les parcourir rapidement en direct.</a:t>
            </a:r>
          </a:p>
        </p:txBody>
      </p:sp>
      <p:sp>
        <p:nvSpPr>
          <p:cNvPr id="4" name="Slide Number Placeholder 3"/>
          <p:cNvSpPr>
            <a:spLocks noGrp="1"/>
          </p:cNvSpPr>
          <p:nvPr>
            <p:ph type="sldNum" sz="quarter" idx="10"/>
          </p:nvPr>
        </p:nvSpPr>
        <p:spPr/>
        <p:txBody>
          <a:bodyPr/>
          <a:lstStyle/>
          <a:p>
            <a:fld id="{F7021451-1387-4CA6-816F-3879F97B5CBC}" type="slidenum">
              <a:rPr lang="fr-FR"/>
              <a:t>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Lire les objectifs à voix haute. La séance A porte sur l’instrument et les données : obtenir les données Black Marble, connaître leurs artefacts et produire une série nationale propre. La séance B porte sur l’inférence : ce que les lumières ont permis de mesurer, comment ces usages ont été validés, et si la relation tient dans votre propre pays. Expliciter les trois résultats — les participants doivent repartir avec des fichiers, pas seulement des impressions.</a:t>
            </a:r>
          </a:p>
        </p:txBody>
      </p:sp>
      <p:sp>
        <p:nvSpPr>
          <p:cNvPr id="4" name="Slide Number Placeholder 3"/>
          <p:cNvSpPr>
            <a:spLocks noGrp="1"/>
          </p:cNvSpPr>
          <p:nvPr>
            <p:ph type="sldNum" sz="quarter" idx="10"/>
          </p:nvPr>
        </p:nvSpPr>
        <p:spPr/>
        <p:txBody>
          <a:bodyPr/>
          <a:lstStyle/>
          <a:p>
            <a:fld id="{F7021451-1387-4CA6-816F-3879F97B5CBC}" type="slidenum">
              <a:rPr lang="fr-FR"/>
              <a:t>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[30 s] La séance alterne de courts blocs conceptuels et du travail pratique. Tenir les temps des blocs conceptuels — 15 minutes avant le premier labo et 30 minutes avant le second. Les diapositives de référence détaillées (produits, artefacts, code, modèles) sont à consulter pendant les labos, pas à présenter en entier. La restitution finale est courte et structurée : une phrase par table.</a:t>
            </a:r>
          </a:p>
        </p:txBody>
      </p:sp>
      <p:sp>
        <p:nvSpPr>
          <p:cNvPr id="4" name="Slide Number Placeholder 3"/>
          <p:cNvSpPr>
            <a:spLocks noGrp="1"/>
          </p:cNvSpPr>
          <p:nvPr>
            <p:ph type="sldNum" sz="quarter" idx="10"/>
          </p:nvPr>
        </p:nvSpPr>
        <p:spPr/>
        <p:txBody>
          <a:bodyPr/>
          <a:lstStyle/>
          <a:p>
            <a:fld id="{F7021451-1387-4CA6-816F-3879F97B5CBC}" type="slidenum">
              <a:rPr lang="fr-FR"/>
              <a:t>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[Section 1 · ~5 min] Transition. On part de l’idée physique, on définit précisément l’objet, puis on montre la chaîne d’hypothèses dont dépend toute étude — et on termine par ce que cela apporte spécifiquement aux statistiques macroéconomiques.</a:t>
            </a:r>
          </a:p>
        </p:txBody>
      </p:sp>
      <p:sp>
        <p:nvSpPr>
          <p:cNvPr id="4" name="Slide Number Placeholder 3"/>
          <p:cNvSpPr>
            <a:spLocks noGrp="1"/>
          </p:cNvSpPr>
          <p:nvPr>
            <p:ph type="sldNum" sz="quarter" idx="10"/>
          </p:nvPr>
        </p:nvSpPr>
        <p:spPr/>
        <p:txBody>
          <a:bodyPr/>
          <a:lstStyle/>
          <a:p>
            <a:fld id="{F7021451-1387-4CA6-816F-3879F97B5CBC}" type="slidenum">
              <a:rPr lang="fr-FR"/>
              <a:t>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C’est la réunion des quatre propriétés qui rend les NTL singulières : aucune autre source n’est à la fois cohérente à l’échelle mondiale, continue dans l’espace, indépendante des déclarations nationales et gratuite. DMSP = Defense Meteorological Satellite Program, le programme de satellites météorologiques du département de la Défense des États-Unis, lancé dans les années 1960. Précision sur la résolution : le pixel natif de la bande jour/nuit (DNB) de VIIRS mesure environ 742 m et reste quasi constant sur tout le balayage ; NASA Black Marble le rééchantillonne à 15 secondes d’arc, soit environ 500 m à l’équateur. Pour un public de statisticiens macroéconomiques, ajouter l’argument de la rapidité : le PIB trimestriel arrive avec un décalage ; les lumières arrivent chaque nuit.</a:t>
            </a:r>
          </a:p>
        </p:txBody>
      </p:sp>
      <p:sp>
        <p:nvSpPr>
          <p:cNvPr id="4" name="Slide Number Placeholder 3"/>
          <p:cNvSpPr>
            <a:spLocks noGrp="1"/>
          </p:cNvSpPr>
          <p:nvPr>
            <p:ph type="sldNum" sz="quarter" idx="10"/>
          </p:nvPr>
        </p:nvSpPr>
        <p:spPr/>
        <p:txBody>
          <a:bodyPr/>
          <a:lstStyle/>
          <a:p>
            <a:fld id="{F7021451-1387-4CA6-816F-3879F97B5CBC}" type="slidenum">
              <a:rPr lang="fr-FR"/>
              <a:t>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Lire une fois la définition de travail, puis s’attarder sur la colonne de droite. L’erreur la plus fréquente en travail appliqué consiste à traiter le composite comme une photo et à raisonner visuellement plutôt que radiométriquement. La deuxième consiste à passer de la radiance à la population ou au revenu sans justifier le lien. Les unités comptent : nanowatts par centimètre carré par stéradian — vous les retrouverez dans les fichiers HDF5 au labo A1.</a:t>
            </a:r>
          </a:p>
        </p:txBody>
      </p:sp>
      <p:sp>
        <p:nvSpPr>
          <p:cNvPr id="4" name="Slide Number Placeholder 3"/>
          <p:cNvSpPr>
            <a:spLocks noGrp="1"/>
          </p:cNvSpPr>
          <p:nvPr>
            <p:ph type="sldNum" sz="quarter" idx="10"/>
          </p:nvPr>
        </p:nvSpPr>
        <p:spPr/>
        <p:txBody>
          <a:bodyPr/>
          <a:lstStyle/>
          <a:p>
            <a:fld id="{F7021451-1387-4CA6-816F-3879F97B5CBC}" type="slidenum">
              <a:rPr lang="fr-FR"/>
              <a:t>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Parcourir la chaîne dans un sens, puis dans l’autre. Le sens inverse est l’exercice de diagnostic : face à un pixel sombre dans votre pays, énumérez tous les maillons qui pourraient l’expliquer. Le panneau du bas donne des exemples africains pour chaque maillon : les délestages rompent le maillon 1 ; les lanternes solaires de faible puissance peuvent ne pas émettre assez de lumière vers le haut pour franchir le seuil de détection ; les nuages de la saison des pluies et la poussière ou la fumée des feux de brousse en saison sèche atténuent le maillon 4. Les participants doivent pouvoir formuler au moins cinq explications distinctes de l’obscurité. C’est exactement le raisonnement attendu au labo B lorsque la relation avec un indicateur officiel se rompt.</a:t>
            </a:r>
          </a:p>
        </p:txBody>
      </p:sp>
      <p:sp>
        <p:nvSpPr>
          <p:cNvPr id="4" name="Slide Number Placeholder 3"/>
          <p:cNvSpPr>
            <a:spLocks noGrp="1"/>
          </p:cNvSpPr>
          <p:nvPr>
            <p:ph type="sldNum" sz="quarter" idx="10"/>
          </p:nvPr>
        </p:nvSpPr>
        <p:spPr/>
        <p:txBody>
          <a:bodyPr/>
          <a:lstStyle/>
          <a:p>
            <a:fld id="{F7021451-1387-4CA6-816F-3879F97B5CBC}" type="slidenum">
              <a:rPr lang="fr-FR"/>
              <a:t>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La bande jour/nuit est panchromatique, d’environ 500 à 900 nanomètres. Les lampes traditionnelles au sodium haute pression émettent surtout autour de 589 nm, en plein dans la bande. Les LED blanches émettent une grande part de leur énergie dans un pic bleu vers 450 nm, hors de la bande. Un passage aux LED peut donc réduire la radiance mesurée alors que la rue paraît plus lumineuse à l’œil (Kyba et al. 2017 en discutent pour les tendances mondiales). Deuxième point : l’heure de passage. VIIRS observe vers 01h30 heure locale — il voit la ville d’après minuit, dominée par l’éclairage public et de sécurité, pas l’économie du soir. Ces deux points font de la radiance un indicateur soumis à une dérive liée à la technologie et aux comportements ; c’est pourquoi les variations intra-unité sur de courtes fenêtres sont plus robustes que les niveaux en coupe transversale.</a:t>
            </a:r>
          </a:p>
        </p:txBody>
      </p:sp>
      <p:sp>
        <p:nvSpPr>
          <p:cNvPr id="4" name="Slide Number Placeholder 3"/>
          <p:cNvSpPr>
            <a:spLocks noGrp="1"/>
          </p:cNvSpPr>
          <p:nvPr>
            <p:ph type="sldNum" sz="quarter" idx="10"/>
          </p:nvPr>
        </p:nvSpPr>
        <p:spPr/>
        <p:txBody>
          <a:bodyPr/>
          <a:lstStyle/>
          <a:p>
            <a:fld id="{F7021451-1387-4CA6-816F-3879F97B5CBC}" type="slidenum">
              <a:rPr lang="fr-FR"/>
              <a:t>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S’adresser à ce public : comptables nationaux, statisticiens, économistes de banque centrale. Les quatre apports — rapidité, granularité, couverture de l’activité informelle et indépendance — répondent directement aux faiblesses connues des statistiques macroéconomiques dans de nombreux pays africains : retards du PIB trimestriel, PIB infranational rare ou inexistant, secteurs informels importants et questions ponctuelles de crédibilité. Puis le panneau de droite, avec fermeté : les lumières ne peuvent indiquer ni la valeur ajoutée sectorielle, ni les prix, ni le revenu des ménages, ni l’activité diurne. Tout ce que nous faisons dans ce module se situe entre ces deux colonnes.</a:t>
            </a:r>
          </a:p>
        </p:txBody>
      </p:sp>
      <p:sp>
        <p:nvSpPr>
          <p:cNvPr id="4" name="Slide Number Placeholder 3"/>
          <p:cNvSpPr>
            <a:spLocks noGrp="1"/>
          </p:cNvSpPr>
          <p:nvPr>
            <p:ph type="sldNum" sz="quarter" idx="10"/>
          </p:nvPr>
        </p:nvSpPr>
        <p:spPr/>
        <p:txBody>
          <a:bodyPr/>
          <a:lstStyle/>
          <a:p>
            <a:fld id="{F7021451-1387-4CA6-816F-3879F97B5CBC}" type="slidenum">
              <a:rPr lang="fr-FR"/>
              <a:t>10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[Section 2 · ~4 min] Le choix du capteur détermine les questions auxquelles on peut répondre. Garder un rythme soutenu ; les diapositives sur la géométrie et l’harmonisation sont des références pour les labos.</a:t>
            </a:r>
          </a:p>
        </p:txBody>
      </p:sp>
      <p:sp>
        <p:nvSpPr>
          <p:cNvPr id="4" name="Slide Number Placeholder 3"/>
          <p:cNvSpPr>
            <a:spLocks noGrp="1"/>
          </p:cNvSpPr>
          <p:nvPr>
            <p:ph type="sldNum" sz="quarter" idx="10"/>
          </p:nvPr>
        </p:nvSpPr>
        <p:spPr/>
        <p:txBody>
          <a:bodyPr/>
          <a:lstStyle/>
          <a:p>
            <a:fld id="{F7021451-1387-4CA6-816F-3879F97B5CBC}" type="slidenum">
              <a:rPr lang="fr-FR"/>
              <a:t>11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L’ironie historique mérite d’être dite : DMSP a été conçu pour voir les nuages au clair de lune, pour la prévision météorologique militaire. Les lumières des villes étaient du bruit ; il a fallu deux décennies avant que quiconque traite ce bruit comme le signal. Message clé sur la continuité : VIIRS vole désormais sur trois satellites (Suomi NPP, NOAA-20, NOAA-21) ; une institution qui investit aujourd’hui dans les méthodes NTL investit donc dans un flux de données qui a un avenir. Les produits Black Marble sont produits pour Suomi NPP (VNP46) et pour NOAA-20 (VJ146).</a:t>
            </a:r>
          </a:p>
        </p:txBody>
      </p:sp>
      <p:sp>
        <p:nvSpPr>
          <p:cNvPr id="4" name="Slide Number Placeholder 3"/>
          <p:cNvSpPr>
            <a:spLocks noGrp="1"/>
          </p:cNvSpPr>
          <p:nvPr>
            <p:ph type="sldNum" sz="quarter" idx="10"/>
          </p:nvPr>
        </p:nvSpPr>
        <p:spPr/>
        <p:txBody>
          <a:bodyPr/>
          <a:lstStyle/>
          <a:p>
            <a:fld id="{F7021451-1387-4CA6-816F-3879F97B5CBC}" type="slidenum">
              <a:rPr lang="fr-FR"/>
              <a:t>12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IMAGERIE RÉELLE] Deux images DMSP-OLS d’une seule orbite tirées de Croft (1978), parmi les premières images nocturnes publiées. À gauche, 18 avril 1974 : villes des États-Unis et du Mexique, plus une aurore au-dessus du Canada. À droite : l’Europe et l’Asie jusqu’à l’Afrique centrale — la bande de lumières en bas correspond aux feux agricoles en Afrique, l’amas lumineux en bas au centre aux torchères offshore du Nigeria, et les torchères d’Algérie et de Libye apparaissent au centre. Le message : la première apparition de l’Afrique dans l’imagerie nocturne s’est faite par les feux et les torchères — exactement les deux artefacts que le labo A vous demande de masquer. La chronologie à droite (NOAA NCEI) montre le passage de la série DMSP à la série VIIRS/JPSS, qui volera jusque dans les années 2030.</a:t>
            </a:r>
          </a:p>
        </p:txBody>
      </p:sp>
      <p:sp>
        <p:nvSpPr>
          <p:cNvPr id="4" name="Slide Number Placeholder 3"/>
          <p:cNvSpPr>
            <a:spLocks noGrp="1"/>
          </p:cNvSpPr>
          <p:nvPr>
            <p:ph type="sldNum" sz="quarter" idx="10"/>
          </p:nvPr>
        </p:nvSpPr>
        <p:spPr/>
        <p:txBody>
          <a:bodyPr/>
          <a:lstStyle/>
          <a:p>
            <a:fld id="{F7021451-1387-4CA6-816F-3879F97B5CBC}" type="slidenum">
              <a:rPr lang="fr-FR"/>
              <a:t>13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Point pédagogique : DMSP offre un long historique mais des valeurs grossières, saturées et non étalonnées ; VIIRS offre la précision, mais seulement depuis 2012. Toute série longue pour votre pays a besoin des deux, et donc d’une étape d’harmonisation explicite — c’est l’artefact de « discontinuité des capteurs » cité dans les objectifs de la séance (voir la diapositive sur les séries longues). Mentionner que la nouvelle génération (SDGSAT-1, Luojia, commerciale) ajoute la couleur, la dimension qui manque aux deux capteurs historiques.</a:t>
            </a:r>
          </a:p>
        </p:txBody>
      </p:sp>
      <p:sp>
        <p:nvSpPr>
          <p:cNvPr id="4" name="Slide Number Placeholder 3"/>
          <p:cNvSpPr>
            <a:spLocks noGrp="1"/>
          </p:cNvSpPr>
          <p:nvPr>
            <p:ph type="sldNum" sz="quarter" idx="10"/>
          </p:nvPr>
        </p:nvSpPr>
        <p:spPr/>
        <p:txBody>
          <a:bodyPr/>
          <a:lstStyle/>
          <a:p>
            <a:fld id="{F7021451-1387-4CA6-816F-3879F97B5CBC}" type="slidenum">
              <a:rPr lang="fr-FR"/>
              <a:t>14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IMAGERIE RÉELLE] Le même lieu la même nuit, observé par les deux capteurs (Elvidge et al. 2013). Demander à la salle de trouver trois différences avant de dévoiler les encadrés : détail spatial, sensibilité aux faibles lumières et débordement. Un delta de petites villes et de cours d’eau est un bon analogue de nombreuses localités fluviales et côtières africaines.</a:t>
            </a:r>
          </a:p>
        </p:txBody>
      </p:sp>
      <p:sp>
        <p:nvSpPr>
          <p:cNvPr id="4" name="Slide Number Placeholder 3"/>
          <p:cNvSpPr>
            <a:spLocks noGrp="1"/>
          </p:cNvSpPr>
          <p:nvPr>
            <p:ph type="sldNum" sz="quarter" idx="10"/>
          </p:nvPr>
        </p:nvSpPr>
        <p:spPr/>
        <p:txBody>
          <a:bodyPr/>
          <a:lstStyle/>
          <a:p>
            <a:fld id="{F7021451-1387-4CA6-816F-3879F97B5CBC}" type="slidenum">
              <a:rPr lang="fr-FR"/>
              <a:t>15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L’analogie la plus parlante : imaginez un thermomètre qui n’affiche que « 40 °C ou plus ». On peut encore étudier les endroits froids, mais toute question sur la chaleur devient une question sur votre modèle plutôt que sur vos données. C’est DMSP pour des centres-villes comme Lagos, Le Caire ou Johannesburg. VIIRS a été conçu autour de cette limite : sa bande jour/nuit couvre environ sept ordres de grandeur grâce à trois niveaux de gain. Le graphique est schématique — pas de données ajustées. Pour l’Afrique, l’autre extrémité de la plage compte tout autant : la plupart des localités rurales se situent près du seuil de détection, d’où l’importance plus grande, pour nous, de la sensibilité que de la saturation.</a:t>
            </a:r>
          </a:p>
        </p:txBody>
      </p:sp>
      <p:sp>
        <p:nvSpPr>
          <p:cNvPr id="4" name="Slide Number Placeholder 3"/>
          <p:cNvSpPr>
            <a:spLocks noGrp="1"/>
          </p:cNvSpPr>
          <p:nvPr>
            <p:ph type="sldNum" sz="quarter" idx="10"/>
          </p:nvPr>
        </p:nvSpPr>
        <p:spPr/>
        <p:txBody>
          <a:bodyPr/>
          <a:lstStyle/>
          <a:p>
            <a:fld id="{F7021451-1387-4CA6-816F-3879F97B5CBC}" type="slidenum">
              <a:rPr lang="fr-FR"/>
              <a:t>16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IMAGERIE RÉELLE] Ceci transforme le graphique schématique en preuve. À gauche : lumières stables DMSP 2013 ; les pixels rouges sont saturés et les profils sont plats à DN 63 sur tout Chicago. À droite : VIIRS 2016 sur la même région, affiché avec deux étirements de contraste car sa dynamique est trop large pour un seul ; les transects varient désormais à travers le centre urbain. S’en servir pour expliquer que toute régression sur les niveaux DMSP dans les grandes villes est une régression sur un plafond.</a:t>
            </a:r>
          </a:p>
        </p:txBody>
      </p:sp>
      <p:sp>
        <p:nvSpPr>
          <p:cNvPr id="4" name="Slide Number Placeholder 3"/>
          <p:cNvSpPr>
            <a:spLocks noGrp="1"/>
          </p:cNvSpPr>
          <p:nvPr>
            <p:ph type="sldNum" sz="quarter" idx="10"/>
          </p:nvPr>
        </p:nvSpPr>
        <p:spPr/>
        <p:txBody>
          <a:bodyPr/>
          <a:lstStyle/>
          <a:p>
            <a:fld id="{F7021451-1387-4CA6-816F-3879F97B5CBC}" type="slidenum">
              <a:rPr lang="fr-FR"/>
              <a:t>17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[RÉFÉRENCE · NOUVEAU] À utiliser pendant le labo A si les participants voient des données quotidiennes bruitées. VIIRS vole sur une orbite polaire héliosynchrone, avec un passage nocturne à l’équateur vers 01h30 heure locale ; sa large fauchée assure une couverture mondiale chaque nuit. Un astucieux schéma d’agrégation à bord maintient le pixel de la bande jour/nuit vers 742 m sur tout le balayage, contrairement aux anciens capteurs dont les pixels grandissent vers le bord. Deux sources de variation d’une nuit à l’autre qui ne sont pas de l’activité : l’angle de visée (la même ville vue au nadir ou au bord de la fauchée) et l’éclairement lunaire. Black Marble VNP46A2 corrige l’effet de la Lune ; les effets angulaires subsistent et sont l’une des raisons pour lesquelles les séries quotidiennes doivent être lissées.</a:t>
            </a:r>
          </a:p>
        </p:txBody>
      </p:sp>
      <p:sp>
        <p:nvSpPr>
          <p:cNvPr id="4" name="Slide Number Placeholder 3"/>
          <p:cNvSpPr>
            <a:spLocks noGrp="1"/>
          </p:cNvSpPr>
          <p:nvPr>
            <p:ph type="sldNum" sz="quarter" idx="10"/>
          </p:nvPr>
        </p:nvSpPr>
        <p:spPr/>
        <p:txBody>
          <a:bodyPr/>
          <a:lstStyle/>
          <a:p>
            <a:fld id="{F7021451-1387-4CA6-816F-3879F97B5CBC}" type="slidenum">
              <a:rPr lang="fr-FR"/>
              <a:t>18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C’est l’artefact de discontinuité des capteurs cité dans les objectifs. Ne jamais raccorder les valeurs numériques brutes du DMSP à la radiance VIIRS : unités, résolution, saturation et sensibilité différentes, et seulement deux ans de chevauchement. Trois options honnêtes. (1) VIIRS seul — pour la prévision immédiate et la plupart des usages macro depuis 2012, c’est le bon choix par défaut. (2) Un produit harmonisé : Li et al. (2020, Scientific Data) ont produit une série mondiale harmonisée de type DMSP pour 1992–2018 ; Chen et al. (2021, ESSD) une série étendue de type VIIRS pour 2000–2018. Ce sont deux modèles statistiques de ce que l’autre capteur aurait vu : les traiter comme des estimations et les citer. (3) Raccorder les taux de croissance sur la période de chevauchement, documenter et tester. La série annuelle VNL V2 de l’EOG (Elvidge et al. 2021) est le produit annuel VIIRS cohérent de référence.</a:t>
            </a:r>
          </a:p>
        </p:txBody>
      </p:sp>
      <p:sp>
        <p:nvSpPr>
          <p:cNvPr id="4" name="Slide Number Placeholder 3"/>
          <p:cNvSpPr>
            <a:spLocks noGrp="1"/>
          </p:cNvSpPr>
          <p:nvPr>
            <p:ph type="sldNum" sz="quarter" idx="10"/>
          </p:nvPr>
        </p:nvSpPr>
        <p:spPr/>
        <p:txBody>
          <a:bodyPr/>
          <a:lstStyle/>
          <a:p>
            <a:fld id="{F7021451-1387-4CA6-816F-3879F97B5CBC}" type="slidenum">
              <a:rPr lang="fr-FR"/>
              <a:t>19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[Section 3 · ~6 min] C’est la section la plus proche de la pratique. La famille de produits, les voies d’accès, le tableau des artefacts et la diapositive des indicateurs sont celles auxquelles les participants reviendront pendant le labo A.</a:t>
            </a:r>
          </a:p>
        </p:txBody>
      </p:sp>
      <p:sp>
        <p:nvSpPr>
          <p:cNvPr id="4" name="Slide Number Placeholder 3"/>
          <p:cNvSpPr>
            <a:spLocks noGrp="1"/>
          </p:cNvSpPr>
          <p:nvPr>
            <p:ph type="sldNum" sz="quarter" idx="10"/>
          </p:nvPr>
        </p:nvSpPr>
        <p:spPr/>
        <p:txBody>
          <a:bodyPr/>
          <a:lstStyle/>
          <a:p>
            <a:fld id="{F7021451-1387-4CA6-816F-3879F97B5CBC}" type="slidenum">
              <a:rPr lang="fr-FR"/>
              <a:t>20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Insister sur l’étape 1 pour notre continent. Le filtrage des nuages explique pourquoi le bassin du Congo et la côte ouest-africaine ont bien moins d’observations exploitables que le Sahara ou le Kalahari — un biais géographique systématique dans toute comparaison entre pays. Question : moins d’observations biaise-t-il le résultat, ou élargit-il seulement l’intervalle d’erreur ? Dans le labo A1, vous verrez chacune de ces étapes comme une couche du fichier : le masque nuageux, l’éclairement lunaire, l’indicateur de neige et le Mandatory_Quality_Flag. Dans VNP46A2, le Mandatory_Quality_Flag distingue les lumières persistantes de haute qualité (0), les lumières éphémères de haute qualité (1), les mesures de mauvaise qualité comme les valeurs aberrantes ou une possible contamination nuageuse (2) et l’absence de mesure / valeur de remplissage (255) ; les valeurs comblées sont suivies dans une couche distincte. Vérifiez le guide utilisateur en vigueur pour la version téléchargée. L’image est un produit statistique, pas un instantané — deux produits pour le même mois peuvent légitimement différer.</a:t>
            </a:r>
          </a:p>
        </p:txBody>
      </p:sp>
      <p:sp>
        <p:nvSpPr>
          <p:cNvPr id="4" name="Slide Number Placeholder 3"/>
          <p:cNvSpPr>
            <a:spLocks noGrp="1"/>
          </p:cNvSpPr>
          <p:nvPr>
            <p:ph type="sldNum" sz="quarter" idx="10"/>
          </p:nvPr>
        </p:nvSpPr>
        <p:spPr/>
        <p:txBody>
          <a:bodyPr/>
          <a:lstStyle/>
          <a:p>
            <a:fld id="{F7021451-1387-4CA6-816F-3879F97B5CBC}" type="slidenum">
              <a:rPr lang="fr-FR"/>
              <a:t>21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IMAGES RÉELLES] Sortie réelle de l’exemple « quality-assessment » de BlackMarblePy. En haut : une image quotidienne VNP46A2 après retrait des pixels signalés de mauvaise qualité — de grandes lacunes blanches là où les nuages ou la neige ont empêché la mesure. En bas : le composite mensuel VNP46A3 de la même zone. En Afrique, les lacunes sont dues aux nuages de la saison des pluies plutôt qu’à la neige, mais la leçon est identique : manquant ne veut pas dire sombre.</a:t>
            </a:r>
          </a:p>
        </p:txBody>
      </p:sp>
      <p:sp>
        <p:nvSpPr>
          <p:cNvPr id="4" name="Slide Number Placeholder 3"/>
          <p:cNvSpPr>
            <a:spLocks noGrp="1"/>
          </p:cNvSpPr>
          <p:nvPr>
            <p:ph type="sldNum" sz="quarter" idx="10"/>
          </p:nvPr>
        </p:nvSpPr>
        <p:spPr/>
        <p:txBody>
          <a:bodyPr/>
          <a:lstStyle/>
          <a:p>
            <a:fld id="{F7021451-1387-4CA6-816F-3879F97B5CBC}" type="slidenum">
              <a:rPr lang="fr-FR"/>
              <a:t>22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en direct — RÉFÉRENCE pour le labo A1] Quatre produits. A1 est la radiance non corrigée au sommet de l’atmosphère : ne pas l’utiliser pour des statistiques sans effectuer soi-même les corrections. A2 est le produit quotidien corrigé — la base de tout le reste. A3 et A4 sont les composites mensuels et annuels construits à partir des données quotidiennes ; ici, nous utilisons A3. Tous partagent une grille de 15 secondes d’arc, des tuiles de 10°×10°, le format HDF5 et un historique depuis janvier 2012. Les composites existent en versions proche du nadir, hors nadir et tous angles ; le composite proche du nadir sans neige est le choix par défaut habituel, et c’est celui que BlackMarblePy renvoie pour A3/A4. Piège pratique : la radiance est stockée en entiers mis à l’échelle avec une valeur de remplissage — oubliez l’un ou l’autre et vos chiffres sont faux d’un facteur ou contaminés par les valeurs de remplissage. Les jumeaux NOAA-20 portent le préfixe VJ146.</a:t>
            </a:r>
          </a:p>
        </p:txBody>
      </p:sp>
      <p:sp>
        <p:nvSpPr>
          <p:cNvPr id="4" name="Slide Number Placeholder 3"/>
          <p:cNvSpPr>
            <a:spLocks noGrp="1"/>
          </p:cNvSpPr>
          <p:nvPr>
            <p:ph type="sldNum" sz="quarter" idx="10"/>
          </p:nvPr>
        </p:nvSpPr>
        <p:spPr/>
        <p:txBody>
          <a:bodyPr/>
          <a:lstStyle/>
          <a:p>
            <a:fld id="{F7021451-1387-4CA6-816F-3879F97B5CBC}" type="slidenum">
              <a:rPr lang="fr-FR"/>
              <a:t>23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IMAGES RÉELLES] Sorties réelles de BlackMarblePy pour le Ghana. À gauche : le composite annuel VNP46A4 proche du nadir sans neige — Accra sur la côte, Kumasi au centre, Tamale au nord et les corridors routiers qui les relient. À droite : la somme des lumières mensuelle VNP46A3 pour tout le pays depuis janvier 2020 — une nette tendance à la hausse avec du bruit d’un mois à l’autre. Ce sont exactement les deux résultats du labo A : montrez-les comme objectif avant que les équipes ne commencent.</a:t>
            </a:r>
          </a:p>
        </p:txBody>
      </p:sp>
      <p:sp>
        <p:nvSpPr>
          <p:cNvPr id="4" name="Slide Number Placeholder 3"/>
          <p:cNvSpPr>
            <a:spLocks noGrp="1"/>
          </p:cNvSpPr>
          <p:nvPr>
            <p:ph type="sldNum" sz="quarter" idx="10"/>
          </p:nvPr>
        </p:nvSpPr>
        <p:spPr/>
        <p:txBody>
          <a:bodyPr/>
          <a:lstStyle/>
          <a:p>
            <a:fld id="{F7021451-1387-4CA6-816F-3879F97B5CBC}" type="slidenum">
              <a:rPr lang="fr-FR"/>
              <a:t>24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[RÉFÉRENCE · NOUVEAU] Voies d’accès. Ici, nous utilisons BlackMarblePy (Banque mondiale), car il masque le mosaïquage des tuiles, les facteurs d’échelle et les valeurs de remplissage, et peut renvoyer directement des statistiques zonales. Earth Engine est la solution de repli si les téléchargements sont lents sur le réseau local. Earth Engine héberge les composites mensuels de l’EOG (VCMCFG, et VCMSLCFG corrigé de la lumière parasite, qui offre une meilleure couverture aux hautes latitudes et pendant les mois d’été) ainsi que les composites annuels EOG V2.1 et V2.2. L’archive Light Every Night de la Banque mondiale sur AWS contient toutes les observations nocturnes et s’adresse aux utilisateurs avancés. Règle d’or : un produit, une version par série.</a:t>
            </a:r>
          </a:p>
        </p:txBody>
      </p:sp>
      <p:sp>
        <p:nvSpPr>
          <p:cNvPr id="4" name="Slide Number Placeholder 3"/>
          <p:cNvSpPr>
            <a:spLocks noGrp="1"/>
          </p:cNvSpPr>
          <p:nvPr>
            <p:ph type="sldNum" sz="quarter" idx="10"/>
          </p:nvPr>
        </p:nvSpPr>
        <p:spPr/>
        <p:txBody>
          <a:bodyPr/>
          <a:lstStyle/>
          <a:p>
            <a:fld id="{F7021451-1387-4CA6-816F-3879F97B5CBC}" type="slidenum">
              <a:rPr lang="fr-FR"/>
              <a:t>25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Cette diapositive évite la classe d’erreurs la plus embarrassante : annoncer un boom économique dans une région pétrolière alors que c’est le torchage qui a changé, ou un essor d’activité au milieu du lac Victoria qui n’est qu’une flottille de pêche. Pour les économies insulaires comme Maurice, les lumières de la pêche et du transport maritime au large sont juste à côté de la côte. Une seule de ces six sources est généralement le signal recherché par un statisticien. Toujours regarder la carte avant de faire confiance au chiffre.</a:t>
            </a:r>
          </a:p>
        </p:txBody>
      </p:sp>
      <p:sp>
        <p:nvSpPr>
          <p:cNvPr id="4" name="Slide Number Placeholder 3"/>
          <p:cNvSpPr>
            <a:spLocks noGrp="1"/>
          </p:cNvSpPr>
          <p:nvPr>
            <p:ph type="sldNum" sz="quarter" idx="10"/>
          </p:nvPr>
        </p:nvSpPr>
        <p:spPr/>
        <p:txBody>
          <a:bodyPr/>
          <a:lstStyle/>
          <a:p>
            <a:fld id="{F7021451-1387-4CA6-816F-3879F97B5CBC}" type="slidenum">
              <a:rPr lang="fr-FR"/>
              <a:t>26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 NOUVEAU — RÉFÉRENCE pour le labo A2] Ce sont exactement les six artefacts listés dans les objectifs de la séance. Pour chacun : un symptôme, un test rapide réalisable en une minute et un traitement standard. Soulignez que deux d’entre eux — la saisonnalité et la couverture nuageuse — interagissent en Afrique : la saison des pluies réduit les observations valides et coïncide avec de vrais motifs saisonniers de l’activité. La désaisonnalisation mérite un traitement dédié dans la préparation des données de prévision immédiate ; pour l’instant, comparer le même mois d’une année sur l’autre suffit.</a:t>
            </a:r>
          </a:p>
        </p:txBody>
      </p:sp>
      <p:sp>
        <p:nvSpPr>
          <p:cNvPr id="4" name="Slide Number Placeholder 3"/>
          <p:cNvSpPr>
            <a:spLocks noGrp="1"/>
          </p:cNvSpPr>
          <p:nvPr>
            <p:ph type="sldNum" sz="quarter" idx="10"/>
          </p:nvPr>
        </p:nvSpPr>
        <p:spPr/>
        <p:txBody>
          <a:bodyPr/>
          <a:lstStyle/>
          <a:p>
            <a:fld id="{F7021451-1387-4CA6-816F-3879F97B5CBC}" type="slidenum">
              <a:rPr lang="fr-FR"/>
              <a:t>27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Le graphique est schématique, non mesuré : il illustre le contraste type entre un site sahélien, dont la saison des pluies est courte et tardive, et un site côtier du golfe de Guinée, nuageux une grande partie de l’année. Dans vos propres données, le produit VNP46A3 indique le nombre d’observations par pixel — lisez-le avant de vous fier à un mois. Deux autres spécificités africaines : les aérosols (poussière de l’harmattan, fumée des feux de biomasse) et les effets calendaires. Román et Stokes (2015) ont montré des variations mesurables des lumières nocturnes pendant le ramadan et la période de Noël–Nouvel An — un rappel que la saisonnalité des lumières est en partie culturelle, et pas seulement météorologique.</a:t>
            </a:r>
          </a:p>
        </p:txBody>
      </p:sp>
      <p:sp>
        <p:nvSpPr>
          <p:cNvPr id="4" name="Slide Number Placeholder 3"/>
          <p:cNvSpPr>
            <a:spLocks noGrp="1"/>
          </p:cNvSpPr>
          <p:nvPr>
            <p:ph type="sldNum" sz="quarter" idx="10"/>
          </p:nvPr>
        </p:nvSpPr>
        <p:spPr/>
        <p:txBody>
          <a:bodyPr/>
          <a:lstStyle/>
          <a:p>
            <a:fld id="{F7021451-1387-4CA6-816F-3879F97B5CBC}" type="slidenum">
              <a:rPr lang="fr-FR"/>
              <a:t>28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Faire l’exemple jouet en direct — c’est le moyen le plus rapide de rendre les trois indicateurs concrets. Un district de 4×4 pixels, radiance en nW·cm⁻²·sr⁻¹. La somme des lumières additionne tout : 30,1. La surface éclairée compte les pixels au-dessus du seuil : avec 0,5, on obtient 8 pixels. La radiance moyenne des pixels éclairés vaut 28,6 / 8 = 3,6. Relevez maintenant le seuil à 1,0 : la surface éclairée passe de 8 à 6 pixels — une variation de 25 % produite par un choix, et non par la réalité. C’est pourquoi le seuil doit être déclaré et testé. La somme des lumières est sensible au bruit de fond, car chaque pixel faible y contribue. La radiance moyenne distingue un district qui s’illumine d’un district qui s’étend. Une quatrième famille — la concentration ou Gini de la lumière — sert d’indicateur indirect de l’inégalité spatiale.</a:t>
            </a:r>
          </a:p>
        </p:txBody>
      </p:sp>
      <p:sp>
        <p:nvSpPr>
          <p:cNvPr id="4" name="Slide Number Placeholder 3"/>
          <p:cNvSpPr>
            <a:spLocks noGrp="1"/>
          </p:cNvSpPr>
          <p:nvPr>
            <p:ph type="sldNum" sz="quarter" idx="10"/>
          </p:nvPr>
        </p:nvSpPr>
        <p:spPr/>
        <p:txBody>
          <a:bodyPr/>
          <a:lstStyle/>
          <a:p>
            <a:fld id="{F7021451-1387-4CA6-816F-3879F97B5CBC}" type="slidenum">
              <a:rPr lang="fr-FR"/>
              <a:t>29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[RÉFÉRENCE · NOUVEAU] Trois groupes de choix qui modifient les résultats plus qu’on ne le pense. L’espace : le contour et la statistique. Exactextract traite les pixels à cheval sur une limite en les pondérant, ce qui compte pour les petits districts et les îles. La normalisation : par km², on compare l’intensité ; par habitant, il faut un dénominateur de population qui ne soit pas lui-même construit à partir des lumières nocturnes (WorldPop utilise les NTL comme covariable). Le temps : moyenner les mois en trimestres pour s’aligner sur le PIB trimestriel ; la croissance en glissement annuel sur le même mois calendaire retire l’essentiel du bruit saisonnier et lunaire. La formule de croissance logarithmique en glissement annuel figurant dans le bandeau est la transformation qu’attendent la plupart des modèles de prévision immédiate.</a:t>
            </a:r>
          </a:p>
        </p:txBody>
      </p:sp>
      <p:sp>
        <p:nvSpPr>
          <p:cNvPr id="4" name="Slide Number Placeholder 3"/>
          <p:cNvSpPr>
            <a:spLocks noGrp="1"/>
          </p:cNvSpPr>
          <p:nvPr>
            <p:ph type="sldNum" sz="quarter" idx="10"/>
          </p:nvPr>
        </p:nvSpPr>
        <p:spPr/>
        <p:txBody>
          <a:bodyPr/>
          <a:lstStyle/>
          <a:p>
            <a:fld id="{F7021451-1387-4CA6-816F-3879F97B5CBC}" type="slidenum">
              <a:rPr lang="fr-FR"/>
              <a:t>30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Prendre le temps — c’est la diapositive que les participants réutiliseront. La question est typique de ce qu’un ministère peut demander à un institut statistique. L’étape 3 compte en milieu rural africain : si l’on fait la moyenne sur tout un district, quelques villages nouvellement éclairés disparaissent dans le fond sombre ; il faut donc utiliser les emprises des localités. L’étape 4 — le groupe témoin de villages comparables hors programme — transforme une description en preuve, et ne coûte presque rien. L’étape 6 est celle où la plupart des travaux publiés sont les plus minces : essayez de réfuter votre propre résultat avant que quelqu’un d’autre ne le fasse.</a:t>
            </a:r>
          </a:p>
        </p:txBody>
      </p:sp>
      <p:sp>
        <p:nvSpPr>
          <p:cNvPr id="4" name="Slide Number Placeholder 3"/>
          <p:cNvSpPr>
            <a:spLocks noGrp="1"/>
          </p:cNvSpPr>
          <p:nvPr>
            <p:ph type="sldNum" sz="quarter" idx="10"/>
          </p:nvPr>
        </p:nvSpPr>
        <p:spPr/>
        <p:txBody>
          <a:bodyPr/>
          <a:lstStyle/>
          <a:p>
            <a:fld id="{F7021451-1387-4CA6-816F-3879F97B5CBC}" type="slidenum">
              <a:rPr lang="fr-FR"/>
              <a:t>31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[Labo A · 30 min] Passer au notebook. Équipes de deux ou trois, un pays par équipe — idéalement celui d’un des membres. Si les téléchargements sont lents, basculer vers la solution de repli Earth Engine ou vers les fichiers préchargés.</a:t>
            </a:r>
          </a:p>
        </p:txBody>
      </p:sp>
      <p:sp>
        <p:nvSpPr>
          <p:cNvPr id="4" name="Slide Number Placeholder 3"/>
          <p:cNvSpPr>
            <a:spLocks noGrp="1"/>
          </p:cNvSpPr>
          <p:nvPr>
            <p:ph type="sldNum" sz="quarter" idx="10"/>
          </p:nvPr>
        </p:nvSpPr>
        <p:spPr/>
        <p:txBody>
          <a:bodyPr/>
          <a:lstStyle/>
          <a:p>
            <a:fld id="{F7021451-1387-4CA6-816F-3879F97B5CBC}" type="slidenum">
              <a:rPr lang="fr-FR"/>
              <a:t>32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[Labo A1 · 15 min] Étapes un à quatre. BlackMarblePy encapsule le téléchargement LAADS DAAC, mosaïque les tuiles de 10°×10°, découpe selon vos polygones et applique facteurs d’échelle et valeurs de remplissage. La méthode raster renvoie un objet xarray avec une couche par mois ; la méthode extract renvoie directement des statistiques zonales. Insistez sur l’étape quatre : regarder la carte. Demandez à chaque équipe de nommer une chose qui brille et qui n’est pas l’économie. Solution de repli : la collection Earth Engine NOAA/VIIRS/DNB/MONTHLY_V1/VCMSLCFG découpée avec le même contour.</a:t>
            </a:r>
          </a:p>
        </p:txBody>
      </p:sp>
      <p:sp>
        <p:nvSpPr>
          <p:cNvPr id="4" name="Slide Number Placeholder 3"/>
          <p:cNvSpPr>
            <a:spLocks noGrp="1"/>
          </p:cNvSpPr>
          <p:nvPr>
            <p:ph type="sldNum" sz="quarter" idx="10"/>
          </p:nvPr>
        </p:nvSpPr>
        <p:spPr/>
        <p:txBody>
          <a:bodyPr/>
          <a:lstStyle/>
          <a:p>
            <a:fld id="{F7021451-1387-4CA6-816F-3879F97B5CBC}" type="slidenum">
              <a:rPr lang="fr-FR"/>
              <a:t>33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[Labo A2 · 15 min] Quatre gestes : masquer, extraire, agréger, comparer. Les participants qui terminent tôt doivent tester le seuil (0,3, 0,5, 1,0) et voir à quel point la série change. La note de limites n’est pas facultative : cinq lignes, versionnées avec la série. C’est la « série nationale accompagnée de notes sur les limites des données » prévue dans les objectifs de la séance. Conservez les résultats — ils servent d’entrées au labo B et potentiellement aux modèles de prévision immédiate du PIB.</a:t>
            </a:r>
          </a:p>
        </p:txBody>
      </p:sp>
      <p:sp>
        <p:nvSpPr>
          <p:cNvPr id="4" name="Slide Number Placeholder 3"/>
          <p:cNvSpPr>
            <a:spLocks noGrp="1"/>
          </p:cNvSpPr>
          <p:nvPr>
            <p:ph type="sldNum" sz="quarter" idx="10"/>
          </p:nvPr>
        </p:nvSpPr>
        <p:spPr/>
        <p:txBody>
          <a:bodyPr/>
          <a:lstStyle/>
          <a:p>
            <a:fld id="{F7021451-1387-4CA6-816F-3879F97B5CBC}" type="slidenum">
              <a:rPr lang="fr-FR"/>
              <a:t>34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[30 s] Montrez-le comme objectif. La ligne grise est ce que l’on obtient sans masques : un pic artificiel dû à un épisode de torchage et des creux pendant les mois pluvieux peu couverts. La ligne bleu marine est la série masquée et filtrée selon la qualité. À droite, la note de limites en cinq lignes. Insistez : les données sont synthétiques — l’enjeu est la forme du livrable, pas les chiffres d’un pays réel.</a:t>
            </a:r>
          </a:p>
        </p:txBody>
      </p:sp>
      <p:sp>
        <p:nvSpPr>
          <p:cNvPr id="4" name="Slide Number Placeholder 3"/>
          <p:cNvSpPr>
            <a:spLocks noGrp="1"/>
          </p:cNvSpPr>
          <p:nvPr>
            <p:ph type="sldNum" sz="quarter" idx="10"/>
          </p:nvPr>
        </p:nvSpPr>
        <p:spPr/>
        <p:txBody>
          <a:bodyPr/>
          <a:lstStyle/>
          <a:p>
            <a:fld id="{F7021451-1387-4CA6-816F-3879F97B5CBC}" type="slidenum">
              <a:rPr lang="fr-FR"/>
              <a:t>35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[RÉFÉRENCE · NOUVEAU] Laissez cette diapositive affichée pendant que les équipes travaillent dans le labo A. Ces six problèmes représentent l’essentiel des demandes d’assistance dans les labos de lumières nocturnes. Le premier est le plus fréquent quand on lit directement les fichiers HDF5 ; le dernier est le plus important sur le plan analytique — un saut brutal est un artefact jusqu’à preuve du contraire.</a:t>
            </a:r>
          </a:p>
        </p:txBody>
      </p:sp>
      <p:sp>
        <p:nvSpPr>
          <p:cNvPr id="4" name="Slide Number Placeholder 3"/>
          <p:cNvSpPr>
            <a:spLocks noGrp="1"/>
          </p:cNvSpPr>
          <p:nvPr>
            <p:ph type="sldNum" sz="quarter" idx="10"/>
          </p:nvPr>
        </p:nvSpPr>
        <p:spPr/>
        <p:txBody>
          <a:bodyPr/>
          <a:lstStyle/>
          <a:p>
            <a:fld id="{F7021451-1387-4CA6-816F-3879F97B5CBC}" type="slidenum">
              <a:rPr lang="fr-FR"/>
              <a:t>36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[Section 4 · 30 min] La séance B commence ici. Pour chaque application, posez sans cesse deux questions : que faudrait-il supposer du comportement d’éclairage pour que cette inférence tienne, et comment a-t-elle été validée dans la littérature ? Ces deux questions sont les objectifs de la séance.</a:t>
            </a:r>
          </a:p>
        </p:txBody>
      </p:sp>
      <p:sp>
        <p:nvSpPr>
          <p:cNvPr id="4" name="Slide Number Placeholder 3"/>
          <p:cNvSpPr>
            <a:spLocks noGrp="1"/>
          </p:cNvSpPr>
          <p:nvPr>
            <p:ph type="sldNum" sz="quarter" idx="10"/>
          </p:nvPr>
        </p:nvSpPr>
        <p:spPr/>
        <p:txBody>
          <a:bodyPr/>
          <a:lstStyle/>
          <a:p>
            <a:fld id="{F7021451-1387-4CA6-816F-3879F97B5CBC}" type="slidenum">
              <a:rPr lang="fr-FR"/>
              <a:t>37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Une carte des usages, structurée par les ODD et les indicateurs macroéconomiques que les participants produisent déjà. Le mot clé est « appuyer » : les lumières nocturnes complètent les statistiques officielles — utiles pour la désagrégation, la prévision immédiate et la vérification — sans jamais les remplacer. Invitez les participants à choisir la case la plus pertinente pour leur institution : c’est l’application à reconstruire dans le labo B.</a:t>
            </a:r>
          </a:p>
        </p:txBody>
      </p:sp>
      <p:sp>
        <p:nvSpPr>
          <p:cNvPr id="4" name="Slide Number Placeholder 3"/>
          <p:cNvSpPr>
            <a:spLocks noGrp="1"/>
          </p:cNvSpPr>
          <p:nvPr>
            <p:ph type="sldNum" sz="quarter" idx="10"/>
          </p:nvPr>
        </p:nvSpPr>
        <p:spPr/>
        <p:txBody>
          <a:bodyPr/>
          <a:lstStyle/>
          <a:p>
            <a:fld id="{F7021451-1387-4CA6-816F-3879F97B5CBC}" type="slidenum">
              <a:rPr lang="fr-FR"/>
              <a:t>38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[2 min · NOUVEAU] Ce tableau est au cœur du deuxième objectif de la séance B : évaluer comment chaque usage a été validé et où le proxy fonctionne bien. Lisez une ligne à titre d’exemple. Les proxys de la production ont été validés par rapport au PIB national et infranational — et fonctionnent le mieux précisément là où le PIB est le plus fragile. L’électrification a été validée par des enquêtes, des recensements et les données des distributeurs. L’urbanisation par des grilles de bâti et les effectifs urbains des recensements. Les dégâts par des évaluations de terrain et d’UNOSAT. La cartographie de l’activité par la consommation d’électricité et les données de mobilité. La colonne de droite est la partie honnête : chaque usage a un régime où le proxy échoue, et dans les économies africaines ces régimes sont fréquents.</a:t>
            </a:r>
          </a:p>
        </p:txBody>
      </p:sp>
      <p:sp>
        <p:nvSpPr>
          <p:cNvPr id="4" name="Slide Number Placeholder 3"/>
          <p:cNvSpPr>
            <a:spLocks noGrp="1"/>
          </p:cNvSpPr>
          <p:nvPr>
            <p:ph type="sldNum" sz="quarter" idx="10"/>
          </p:nvPr>
        </p:nvSpPr>
        <p:spPr/>
        <p:txBody>
          <a:bodyPr/>
          <a:lstStyle/>
          <a:p>
            <a:fld id="{F7021451-1387-4CA6-816F-3879F97B5CBC}" type="slidenum">
              <a:rPr lang="fr-FR"/>
              <a:t>39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La version honnête : les lumières nocturnes remplacent mal de bons comptes nationaux, mais complètent très bien des comptes fragiles ou grossiers. Henderson, Storeygard et Weil (2012) ont montré que les lumières contiennent une vraie information sur la croissance. Bruederle et Hodler (2018) ont relié les lumières aux indicateurs de développement des ménages issus des enquêtes EDS, à l’échelle locale en Afrique. Martinez (2022) a utilisé les lumières comme référence indépendante pour la croissance déclarée du PIB — rappel que les lumières nocturnes sont aussi un outil de crédibilité pour les statistiques officielles. L’élasticité des lumières à la production n’est ni égale à un ni stable : l’agriculture et les mines génèrent beaucoup de valeur avec peu de lumière, ce qui compte pour la plupart des économies africaines. Les lumières aident le plus là où les statistiques sont les plus grossières : infranational, haute fréquence et informel.</a:t>
            </a:r>
          </a:p>
        </p:txBody>
      </p:sp>
      <p:sp>
        <p:nvSpPr>
          <p:cNvPr id="4" name="Slide Number Placeholder 3"/>
          <p:cNvSpPr>
            <a:spLocks noGrp="1"/>
          </p:cNvSpPr>
          <p:nvPr>
            <p:ph type="sldNum" sz="quarter" idx="10"/>
          </p:nvPr>
        </p:nvSpPr>
        <p:spPr/>
        <p:txBody>
          <a:bodyPr/>
          <a:lstStyle/>
          <a:p>
            <a:fld id="{F7021451-1387-4CA6-816F-3879F97B5CBC}" type="slidenum">
              <a:rPr lang="fr-FR"/>
              <a:t>40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IMAGERIE RÉELLE] Les deux figures que l’on cite. À gauche : Henderson, Storeygard et Weil (2012), figure 6a — croissance du PIB contre croissance des lumières, nette des effets fixes pays et année ; la relation est réelle mais bruitée, d’où leur choix de combiner les lumières avec les données officielles plutôt que de les remplacer. À droite : Elvidge et al. (2001), surface éclairée contre PIB pour 200 pays en axes log–log — une relation forte entre pays. Lien avec le labo B : le panneau de gauche est le test « en variations », celui de droite le test « en niveaux ».</a:t>
            </a:r>
          </a:p>
        </p:txBody>
      </p:sp>
      <p:sp>
        <p:nvSpPr>
          <p:cNvPr id="4" name="Slide Number Placeholder 3"/>
          <p:cNvSpPr>
            <a:spLocks noGrp="1"/>
          </p:cNvSpPr>
          <p:nvPr>
            <p:ph type="sldNum" sz="quarter" idx="10"/>
          </p:nvPr>
        </p:nvSpPr>
        <p:spPr/>
        <p:txBody>
          <a:bodyPr/>
          <a:lstStyle/>
          <a:p>
            <a:fld id="{F7021451-1387-4CA6-816F-3879F97B5CBC}" type="slidenum">
              <a:rPr lang="fr-FR"/>
              <a:t>41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 NOUVEAU] Quatre familles de méthodes. (1) La régression d’élasticité — point de départ de Henderson, Storeygard et Weil — estimée en taux de croissance avec effets région et année. (2) La combinaison de la croissance officielle et de celle fondée sur les lumières, avec des poids reflétant l’erreur de mesure de chacune ; c’est la logique de l’usage des lumières pour améliorer le PIB là où les comptes nationaux sont fragiles. (3) La désagrégation : répartir un PIB régional ou national connu sur des unités plus petites selon les parts de lumière, idéalement affinées avec des covariables de population, de bâti et de terres cultivées — exactement ce que produisent les analyses des terres cultivées et du bâti. (4) La prévision immédiate. Hu et Yao (2022, Journal of Econometrics) montrent que la relation est non linéaire et varie avec le niveau de revenu ; Beyer, Hu et Yao (2022, document de travail du FMI 22/109) utilisent les lumières pour mesurer la croissance trimestrielle. Leçon : estimer la relation localement.</a:t>
            </a:r>
          </a:p>
        </p:txBody>
      </p:sp>
      <p:sp>
        <p:nvSpPr>
          <p:cNvPr id="4" name="Slide Number Placeholder 3"/>
          <p:cNvSpPr>
            <a:spLocks noGrp="1"/>
          </p:cNvSpPr>
          <p:nvPr>
            <p:ph type="sldNum" sz="quarter" idx="10"/>
          </p:nvPr>
        </p:nvSpPr>
        <p:spPr/>
        <p:txBody>
          <a:bodyPr/>
          <a:lstStyle/>
          <a:p>
            <a:fld id="{F7021451-1387-4CA6-816F-3879F97B5CBC}" type="slidenum">
              <a:rPr lang="fr-FR"/>
              <a:t>42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Passerelle vers la préparation des données et l’apprentissage automatique pour la prévision immédiate du PIB. La série mensuelle construite dans le labo A est une variable candidate. Trois pièges à signaler dès maintenant : le biais d’anticipation (un composite mensuel a une date de publication — respectez-la dans les tests rétrospectifs) ; les ruptures liées aux changements de produit ou de version, qu’un modèle lira comme une récession ; et la saisonnalité et les lacunes nuageuses, qu’une préparation rigoureuse des données doit traiter systématiquement. Travaux : Beyer, Hu et Yao (2022) sur la croissance trimestrielle ; Beyer, Franco-Bedoya et Galdo (2021, World Development) sur le choc de la COVID-19 en Inde avec lumières quotidiennes et données d’électricité.</a:t>
            </a:r>
          </a:p>
        </p:txBody>
      </p:sp>
      <p:sp>
        <p:nvSpPr>
          <p:cNvPr id="4" name="Slide Number Placeholder 3"/>
          <p:cNvSpPr>
            <a:spLocks noGrp="1"/>
          </p:cNvSpPr>
          <p:nvPr>
            <p:ph type="sldNum" sz="quarter" idx="10"/>
          </p:nvPr>
        </p:nvSpPr>
        <p:spPr/>
        <p:txBody>
          <a:bodyPr/>
          <a:lstStyle/>
          <a:p>
            <a:fld id="{F7021451-1387-4CA6-816F-3879F97B5CBC}" type="slidenum">
              <a:rPr lang="fr-FR"/>
              <a:t>43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Le rapport Tracking SDG 7 publié le 24 juin 2026 chiffre le déficit mondial d’accès à 655 millions de personnes en 2024, dont plus de 560 millions en Afrique subsaharienne. Le déficit rural de la région est passé de 376 millions en 2010 à 447 millions en 2024 — la croissance démographique a dépassé les raccordements. Mission 300, portée par le Groupe de la Banque mondiale et la Banque africaine de développement, vise à raccorder 300 millions d’Africains d’ici 2030 ; des programmes de cette ampleur exigent un suivi indépendant et spatialement fin. Le point surprenant : la fiabilité. Les statistiques officielles comptent un ménage comme raccordé qu’il ait du courant quatre heures ou vingt-quatre heures par jour. Les observations VIIRS nocturnes permettent de faire la différence.</a:t>
            </a:r>
          </a:p>
        </p:txBody>
      </p:sp>
      <p:sp>
        <p:nvSpPr>
          <p:cNvPr id="4" name="Slide Number Placeholder 3"/>
          <p:cNvSpPr>
            <a:spLocks noGrp="1"/>
          </p:cNvSpPr>
          <p:nvPr>
            <p:ph type="sldNum" sz="quarter" idx="10"/>
          </p:nvPr>
        </p:nvSpPr>
        <p:spPr/>
        <p:txBody>
          <a:bodyPr/>
          <a:lstStyle/>
          <a:p>
            <a:fld id="{F7021451-1387-4CA6-816F-3879F97B5CBC}" type="slidenum">
              <a:rPr lang="fr-FR"/>
              <a:t>44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Rendez l’idée de fiabilité concrète. Les deux villages seraient enregistrés comme « raccordés » dans un recensement ou une enquête. Les données VIIRS quotidiennes montrent le village A éclairé 29 nuits sur 30 et le village B 15 — la signature des délestages. Le jeu de données High Resolution Electricity Access (HREA) de l’Université du Michigan et de la Banque mondiale applique cette logique à l’échelle des localités, en comparant la radiance de chaque nuit à la distribution statistique des pixels de fond non éclairés. Les nuits présentées sont illustratives, pas des données réelles. Pour un INS, le résultat pratique est une colonne fiabilité à côté des taux d’accès.</a:t>
            </a:r>
          </a:p>
        </p:txBody>
      </p:sp>
      <p:sp>
        <p:nvSpPr>
          <p:cNvPr id="4" name="Slide Number Placeholder 3"/>
          <p:cNvSpPr>
            <a:spLocks noGrp="1"/>
          </p:cNvSpPr>
          <p:nvPr>
            <p:ph type="sldNum" sz="quarter" idx="10"/>
          </p:nvPr>
        </p:nvSpPr>
        <p:spPr/>
        <p:txBody>
          <a:bodyPr/>
          <a:lstStyle/>
          <a:p>
            <a:fld id="{F7021451-1387-4CA6-816F-3879F97B5CBC}" type="slidenum">
              <a:rPr lang="fr-FR"/>
              <a:t>45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L’Afrique s’urbanise rapidement et les registres cadastraux suivent rarement. Le diagnostic étalement/densification est l’idée la plus transposable : il exige deux indicateurs, pas un seul — c’est précisément pourquoi la somme des lumières ne suffit pas pour l’analyse urbaine. Les deux villes illustratives ont la même lumière totale mais des implications totalement différentes pour les transports, les services et les émissions. Toujours associer les lumières à des grilles de population et de bâti : un pixel lumineux n’est pas une personne, une autoroute éclairée et vide le prouve.</a:t>
            </a:r>
          </a:p>
        </p:txBody>
      </p:sp>
      <p:sp>
        <p:nvSpPr>
          <p:cNvPr id="4" name="Slide Number Placeholder 3"/>
          <p:cNvSpPr>
            <a:spLocks noGrp="1"/>
          </p:cNvSpPr>
          <p:nvPr>
            <p:ph type="sldNum" sz="quarter" idx="10"/>
          </p:nvPr>
        </p:nvSpPr>
        <p:spPr/>
        <p:txBody>
          <a:bodyPr/>
          <a:lstStyle/>
          <a:p>
            <a:fld id="{F7021451-1387-4CA6-816F-3879F97B5CBC}" type="slidenum">
              <a:rPr lang="fr-FR"/>
              <a:t>46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IMAGERIE RÉELLE] Une vraie carte de changement produite avec BlackMarblePy : la différence de radiance mensuelle entre 2020 et 2025 sur le Ghana. Lisez-la avec en tête le diagnostic d’urbanisation de la diapositive précédente — la croissance en périphérie d’Accra et de Kumasi ressemble à de l’étalement ; les corridors qui se remplissent traduisent une densification du réseau ; les nouveaux points isolés au nord peuvent signaler une électrification nouvelle. Chacune de ces lectures est une hypothèse que le labo B vous demande de tester face à un indicateur officiel.</a:t>
            </a:r>
          </a:p>
        </p:txBody>
      </p:sp>
      <p:sp>
        <p:nvSpPr>
          <p:cNvPr id="4" name="Slide Number Placeholder 3"/>
          <p:cNvSpPr>
            <a:spLocks noGrp="1"/>
          </p:cNvSpPr>
          <p:nvPr>
            <p:ph type="sldNum" sz="quarter" idx="10"/>
          </p:nvPr>
        </p:nvSpPr>
        <p:spPr/>
        <p:txBody>
          <a:bodyPr/>
          <a:lstStyle/>
          <a:p>
            <a:fld id="{F7021451-1387-4CA6-816F-3879F97B5CBC}" type="slidenum">
              <a:rPr lang="fr-FR"/>
              <a:t>47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Passerelle vers les autres couches géospatiales. Les statistiques sur les terres cultivées et les grilles de bâti sont exactement les couches qui rendent les lumières interprétables. « Bâti mais sombre » est la combinaison la plus utile aux politiques d’accès à l’énergie ; les terres cultivées expliquent pourquoi les lumières sous-estiment la production dans les régions agricoles ; les grilles de population donnent la lumière par habitant, avec la réserve de circularité pour WorldPop ; et les réseaux relient l’analyse au commerce et à l’activité portuaire. Encouragez les équipes à conserver leurs limites administratives et leur code de statistiques zonales — il est réutilisé dans chacune de ces combinaisons.</a:t>
            </a:r>
          </a:p>
        </p:txBody>
      </p:sp>
      <p:sp>
        <p:nvSpPr>
          <p:cNvPr id="4" name="Slide Number Placeholder 3"/>
          <p:cNvSpPr>
            <a:spLocks noGrp="1"/>
          </p:cNvSpPr>
          <p:nvPr>
            <p:ph type="sldNum" sz="quarter" idx="10"/>
          </p:nvPr>
        </p:nvSpPr>
        <p:spPr/>
        <p:txBody>
          <a:bodyPr/>
          <a:lstStyle/>
          <a:p>
            <a:fld id="{F7021451-1387-4CA6-816F-3879F97B5CBC}" type="slidenum">
              <a:rPr lang="fr-FR"/>
              <a:t>48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30] L’application la plus chargée sur le plan éthique de la présentation. Le Soudan est le cas africain : après le déclenchement des combats à Khartoum le 15 avril 2023, l’Earth Observation Group a indiqué qu’en mai 2023 les lumières de la capitale étaient tombées au niveau du bruit, et l’UNOSAT a publié en juin 2023 une évaluation des coupures d’électricité à partir d’images nocturnes. La Syrie (Li et Li, 2014) et Porto Rico après l’ouragan Maria (produits quotidiens Black Marble) sont les études de référence. Les lumières nocturnes sont utilisées dans les rapports humanitaires et sur les droits humains : les erreurs ont des conséquences. Insistez sur la triangulation avec le terrain et sur une déclaration honnête de l’incertitude. Pour les instituts statistiques, l’intérêt est de disposer rapidement d’éléments de situation lorsque la collecte sur le terrain est impossible.</a:t>
            </a:r>
          </a:p>
        </p:txBody>
      </p:sp>
      <p:sp>
        <p:nvSpPr>
          <p:cNvPr id="4" name="Slide Number Placeholder 3"/>
          <p:cNvSpPr>
            <a:spLocks noGrp="1"/>
          </p:cNvSpPr>
          <p:nvPr>
            <p:ph type="sldNum" sz="quarter" idx="10"/>
          </p:nvPr>
        </p:nvSpPr>
        <p:spPr/>
        <p:txBody>
          <a:bodyPr/>
          <a:lstStyle/>
          <a:p>
            <a:fld id="{F7021451-1387-4CA6-816F-3879F97B5CBC}" type="slidenum">
              <a:rPr lang="fr-FR"/>
              <a:t>49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La cartographie de l’activité est la cinquième application de ce module. Les données quotidiennes excellent pour les chocs ayant une date de début nette. Beyer, Franco-Bedoya et Galdo (2021) ont combiné lumières nocturnes quotidiennes et consommation d’électricité pour suivre le confinement lié à la COVID-19 en Inde. Román et Stokes (2015) ont documenté les effets des fêtes pendant le ramadan et Noël. La recette de droite est une étude d’événement minimale — référence sur la même fenêtre l’année précédente, lissage sur 7 jours, écart à la référence avec une bande de variation normale, et recoupement. Les équipes qui choisissent l’option « choc » dans le labo B la suivront.</a:t>
            </a:r>
          </a:p>
        </p:txBody>
      </p:sp>
      <p:sp>
        <p:nvSpPr>
          <p:cNvPr id="4" name="Slide Number Placeholder 3"/>
          <p:cNvSpPr>
            <a:spLocks noGrp="1"/>
          </p:cNvSpPr>
          <p:nvPr>
            <p:ph type="sldNum" sz="quarter" idx="10"/>
          </p:nvPr>
        </p:nvSpPr>
        <p:spPr/>
        <p:txBody>
          <a:bodyPr/>
          <a:lstStyle/>
          <a:p>
            <a:fld id="{F7021451-1387-4CA6-816F-3879F97B5CBC}" type="slidenum">
              <a:rPr lang="fr-FR"/>
              <a:t>50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Un regard sur les nombreuses économies côtières et insulaires, avec Maurice comme exemple. Maurice couvre environ 2 000 km², soit de l’ordre de dix mille cellules de 15 secondes d’arc ; à cette échelle, un seul port, une centrale électrique ou une zone hôtelière peut dominer le total. Le traitement du littoral, les lumières de pêche et de navigation en mer et les nuages orographiques sur le plateau central comptent bien plus que pour un grand pays continental. Les cyclones tropicaux rendent la cartographie quotidienne des coupures pertinente sur le plan opérationnel. La règle : moins il y a de pixels, plus il faut déclarer la sensibilité aux choix.</a:t>
            </a:r>
          </a:p>
        </p:txBody>
      </p:sp>
      <p:sp>
        <p:nvSpPr>
          <p:cNvPr id="4" name="Slide Number Placeholder 3"/>
          <p:cNvSpPr>
            <a:spLocks noGrp="1"/>
          </p:cNvSpPr>
          <p:nvPr>
            <p:ph type="sldNum" sz="quarter" idx="10"/>
          </p:nvPr>
        </p:nvSpPr>
        <p:spPr/>
        <p:txBody>
          <a:bodyPr/>
          <a:lstStyle/>
          <a:p>
            <a:fld id="{F7021451-1387-4CA6-816F-3879F97B5CBC}" type="slidenum">
              <a:rPr lang="fr-FR"/>
              <a:t>51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[Labo B · 45 min + 15 min de restitution] Mêmes équipes que pour le labo A, même pays. Chaque équipe choisit l’une des quatre applications. L’indicateur officiel peut provenir de votre propre institution ou des fichiers fournis avec le labo.</a:t>
            </a:r>
          </a:p>
        </p:txBody>
      </p:sp>
      <p:sp>
        <p:nvSpPr>
          <p:cNvPr id="4" name="Slide Number Placeholder 3"/>
          <p:cNvSpPr>
            <a:spLocks noGrp="1"/>
          </p:cNvSpPr>
          <p:nvPr>
            <p:ph type="sldNum" sz="quarter" idx="10"/>
          </p:nvPr>
        </p:nvSpPr>
        <p:spPr/>
        <p:txBody>
          <a:bodyPr/>
          <a:lstStyle/>
          <a:p>
            <a:fld id="{F7021451-1387-4CA6-816F-3879F97B5CBC}" type="slidenum">
              <a:rPr lang="fr-FR"/>
              <a:t>52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[Labo B · 5 min] Chaque équipe choisit l’une des quatre options, qui correspondent aux applications que nous venons de voir. A — indicateur de production face au PIB ou à la valeur ajoutée régionale lorsqu’ils existent, sinon au PIB trimestriel national. B — électrification face à l’accès des ménages à l’électricité selon le recensement ou l’EDS. C — urbanisation face à la population urbaine du recensement ou à une grille de bâti. D — un choc (cyclone, coupure, fête, confinement) face aux rapports du distributeur ou aux sources officielles. Il ne s’agit pas de répliquer exactement un article, mais d’en reconstruire la logique avec vos propres données officielles.</a:t>
            </a:r>
          </a:p>
        </p:txBody>
      </p:sp>
      <p:sp>
        <p:nvSpPr>
          <p:cNvPr id="4" name="Slide Number Placeholder 3"/>
          <p:cNvSpPr>
            <a:spLocks noGrp="1"/>
          </p:cNvSpPr>
          <p:nvPr>
            <p:ph type="sldNum" sz="quarter" idx="10"/>
          </p:nvPr>
        </p:nvSpPr>
        <p:spPr/>
        <p:txBody>
          <a:bodyPr/>
          <a:lstStyle/>
          <a:p>
            <a:fld id="{F7021451-1387-4CA6-816F-3879F97B5CBC}" type="slidenum">
              <a:rPr lang="fr-FR"/>
              <a:t>53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[Labo B · 30 min] Le réflexe le plus important : estimer la relation deux fois, en niveaux et en évolutions. Entre régions, les niveaux sont dominés par la taille — les grandes régions sont lumineuses et produisent beaucoup — si bien que les corrélations paraissent impressionnantes. Les évolutions au sein d’une même région dans le temps sont le vrai test pour le suivi et la prévision immédiate, et elles sont généralement bien plus faibles. La carte des résidus est l’endroit où se trouve l’enseignement : les régions très au-dessus de la droite peuvent être des économies agricoles ou minières ; celles très en dessous peuvent abriter des torchères ou un port très éclairé. Tests de robustesse : retirer la capitale, changer le seuil, retirer les masques un par un.</a:t>
            </a:r>
          </a:p>
        </p:txBody>
      </p:sp>
      <p:sp>
        <p:nvSpPr>
          <p:cNvPr id="4" name="Slide Number Placeholder 3"/>
          <p:cNvSpPr>
            <a:spLocks noGrp="1"/>
          </p:cNvSpPr>
          <p:nvPr>
            <p:ph type="sldNum" sz="quarter" idx="10"/>
          </p:nvPr>
        </p:nvSpPr>
        <p:spPr/>
        <p:txBody>
          <a:bodyPr/>
          <a:lstStyle/>
          <a:p>
            <a:fld id="{F7021451-1387-4CA6-816F-3879F97B5CBC}" type="slidenum">
              <a:rPr lang="fr-FR"/>
              <a:t>54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Montrer cette diapositive avant que les équipes interprètent leurs propres résultats, pour éviter les surprises. Le panneau de gauche — les niveaux — montre en général un nuage serré, car la taille pilote les deux axes. Le panneau de droite — les évolutions — est plus bruité, et c’est normal : les taux de croissance éliminent l’effet taille et révèlent tous les artefacts ainsi que l’instabilité de l’élasticité. Données synthétiques : la diapositive montre un schéma typique, pas un pays. Une équipe qui trouve une relation forte en évolutions dispose d’un indicateur de suivi réellement utile.</a:t>
            </a:r>
          </a:p>
        </p:txBody>
      </p:sp>
      <p:sp>
        <p:nvSpPr>
          <p:cNvPr id="4" name="Slide Number Placeholder 3"/>
          <p:cNvSpPr>
            <a:spLocks noGrp="1"/>
          </p:cNvSpPr>
          <p:nvPr>
            <p:ph type="sldNum" sz="quarter" idx="10"/>
          </p:nvPr>
        </p:nvSpPr>
        <p:spPr/>
        <p:txBody>
          <a:bodyPr/>
          <a:lstStyle/>
          <a:p>
            <a:fld id="{F7021451-1387-4CA6-816F-3879F97B5CBC}" type="slidenum">
              <a:rPr lang="fr-FR"/>
              <a:t>55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[Restitution · 15 min] Chaque équipe remplit la fiche et lit sa restitution en une phrase. C’est l’objectif final de la séance : dire où la relation tient. La ligne « Décision » anticipe le guide de validation de la section suivante. Recueillir les fiches ; plusieurs deviennent généralement des fiches de projet.</a:t>
            </a:r>
          </a:p>
        </p:txBody>
      </p:sp>
      <p:sp>
        <p:nvSpPr>
          <p:cNvPr id="4" name="Slide Number Placeholder 3"/>
          <p:cNvSpPr>
            <a:spLocks noGrp="1"/>
          </p:cNvSpPr>
          <p:nvPr>
            <p:ph type="sldNum" sz="quarter" idx="10"/>
          </p:nvPr>
        </p:nvSpPr>
        <p:spPr/>
        <p:txBody>
          <a:bodyPr/>
          <a:lstStyle/>
          <a:p>
            <a:fld id="{F7021451-1387-4CA6-816F-3879F97B5CBC}" type="slidenum">
              <a:rPr lang="fr-FR"/>
              <a:t>56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[Section 5] Matériel de référence à l’appui des décisions du labo B et des projets de suite. À présenter brièvement à la fin de la séance B, ou à laisser en consultation aux équipes.</a:t>
            </a:r>
          </a:p>
        </p:txBody>
      </p:sp>
      <p:sp>
        <p:nvSpPr>
          <p:cNvPr id="4" name="Slide Number Placeholder 3"/>
          <p:cNvSpPr>
            <a:spLocks noGrp="1"/>
          </p:cNvSpPr>
          <p:nvPr>
            <p:ph type="sldNum" sz="quarter" idx="10"/>
          </p:nvPr>
        </p:nvSpPr>
        <p:spPr/>
        <p:txBody>
          <a:bodyPr/>
          <a:lstStyle/>
          <a:p>
            <a:fld id="{F7021451-1387-4CA6-816F-3879F97B5CBC}" type="slidenum">
              <a:rPr lang="fr-FR"/>
              <a:t>57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RÉFÉRENCE] La chaîne complète en une image. Chaque étape a une source de données ou un outil, et un résultat concret qui alimente l’étape suivante. Les bibliothèques Python citées sont des exemples d’options libres courantes, pas des obligations. Insister sur la reproductibilité : chaque étape aboutit à un fichier déposé sur GitHub, afin qu’un autre pays — ou votre propre institut l’an prochain — puisse la relancer.</a:t>
            </a:r>
          </a:p>
        </p:txBody>
      </p:sp>
      <p:sp>
        <p:nvSpPr>
          <p:cNvPr id="4" name="Slide Number Placeholder 3"/>
          <p:cNvSpPr>
            <a:spLocks noGrp="1"/>
          </p:cNvSpPr>
          <p:nvPr>
            <p:ph type="sldNum" sz="quarter" idx="10"/>
          </p:nvPr>
        </p:nvSpPr>
        <p:spPr/>
        <p:txBody>
          <a:bodyPr/>
          <a:lstStyle/>
          <a:p>
            <a:fld id="{F7021451-1387-4CA6-816F-3879F97B5CBC}" type="slidenum">
              <a:rPr lang="fr-FR"/>
              <a:t>58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RÉFÉRENCE] Le réflexe de se tourner vers les données quotidiennes est presque toujours une erreur en début de projet. Les composites annuels répondent à la plupart des questions statistiques pour une fraction de l’effort de traitement, et leurs défaillances sont visibles plutôt que silencieuses. Le mensuel est la fréquence naturelle de la prévision immédiate, c’est pourquoi le labo A l’utilise. Ne passer au quotidien que si vous pouvez dire précisément quelle résolution temporelle votre question exige — par exemple dater le début d’un conflit ou mesurer la fiabilité de l’approvisionnement.</a:t>
            </a:r>
          </a:p>
        </p:txBody>
      </p:sp>
      <p:sp>
        <p:nvSpPr>
          <p:cNvPr id="4" name="Slide Number Placeholder 3"/>
          <p:cNvSpPr>
            <a:spLocks noGrp="1"/>
          </p:cNvSpPr>
          <p:nvPr>
            <p:ph type="sldNum" sz="quarter" idx="10"/>
          </p:nvPr>
        </p:nvSpPr>
        <p:spPr/>
        <p:txBody>
          <a:bodyPr/>
          <a:lstStyle/>
          <a:p>
            <a:fld id="{F7021451-1387-4CA6-816F-3879F97B5CBC}" type="slidenum">
              <a:rPr lang="fr-FR"/>
              <a:t>59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RÉFÉRENCE pour le labo B] Un guide de décision proposé, à adapter au cadre d’assurance qualité de votre institut. Trois questions. D’abord, fixer la barre AVANT de regarder le résultat : quelle corrélation et quelle stabilité exigeriez-vous ? Ensuite, les artefacts ont-ils été identifiés et traités ? Enfin — le piège propre à ce domaine — votre référence est-elle indépendante ? Les modèles de population WorldPop utilisent les lumières nocturnes comme covariable : corréler les NTL avec WorldPop revient en partie à corréler les NTL avec elles-mêmes. Préférer le recensement ou les enquêtes comme référence de validation. L’issue est l’une des trois décisions, et la déclaration de limites à droite fait partie du livrable, quelle que soit la décision.</a:t>
            </a:r>
          </a:p>
        </p:txBody>
      </p:sp>
      <p:sp>
        <p:nvSpPr>
          <p:cNvPr id="4" name="Slide Number Placeholder 3"/>
          <p:cNvSpPr>
            <a:spLocks noGrp="1"/>
          </p:cNvSpPr>
          <p:nvPr>
            <p:ph type="sldNum" sz="quarter" idx="10"/>
          </p:nvPr>
        </p:nvSpPr>
        <p:spPr/>
        <p:txBody>
          <a:bodyPr/>
          <a:lstStyle/>
          <a:p>
            <a:fld id="{F7021451-1387-4CA6-816F-3879F97B5CBC}" type="slidenum">
              <a:rPr lang="fr-FR"/>
              <a:t>60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[30 s — RÉFÉRENCE] Garder cette liste ouverte pendant les labos. Le point 7 en est le cœur pratique : les travaux les plus crédibles identifient les effets à partir des évolutions d’une même unité dans le temps plutôt que des niveaux en coupe transversale, car les problèmes d’étalonnage s’annulent en grande partie — exactement ce qu’a montré la comparaison niveaux/évolutions du labo B. La règle d’or est le test de tout résultat que vous présentez.</a:t>
            </a:r>
          </a:p>
        </p:txBody>
      </p:sp>
      <p:sp>
        <p:nvSpPr>
          <p:cNvPr id="4" name="Slide Number Placeholder 3"/>
          <p:cNvSpPr>
            <a:spLocks noGrp="1"/>
          </p:cNvSpPr>
          <p:nvPr>
            <p:ph type="sldNum" sz="quarter" idx="10"/>
          </p:nvPr>
        </p:nvSpPr>
        <p:spPr/>
        <p:txBody>
          <a:bodyPr/>
          <a:lstStyle/>
          <a:p>
            <a:fld id="{F7021451-1387-4CA6-816F-3879F97B5CBC}" type="slidenum">
              <a:rPr lang="fr-FR"/>
              <a:t>61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[RÉFÉRENCE · NOUVEAU] Fait le lien avec les questions plus larges de gouvernance, d’IA, d’éthique et de confidentialité. À 500 m, les lumières nocturnes présentent peu de risque pour la vie privée des individus, mais pas aucun : combinées à des empreintes de bâtiments pour de petites localités, ou publiées en période de conflit, elles peuvent exposer des groupes vulnérables. Les licences comptent pour les produits commerciaux. Et du point de vue du système statistique : convenir de qui publie quoi, étiqueter clairement les statistiques expérimentales et éviter les chiffres parallèles qui fragilisent les chiffres officiels — conformément aux Principes fondamentaux de la statistique officielle des Nations Unies.</a:t>
            </a:r>
          </a:p>
        </p:txBody>
      </p:sp>
      <p:sp>
        <p:nvSpPr>
          <p:cNvPr id="4" name="Slide Number Placeholder 3"/>
          <p:cNvSpPr>
            <a:spLocks noGrp="1"/>
          </p:cNvSpPr>
          <p:nvPr>
            <p:ph type="sldNum" sz="quarter" idx="10"/>
          </p:nvPr>
        </p:nvSpPr>
        <p:spPr/>
        <p:txBody>
          <a:bodyPr/>
          <a:lstStyle/>
          <a:p>
            <a:fld id="{F7021451-1387-4CA6-816F-3879F97B5CBC}" type="slidenum">
              <a:rPr lang="fr-FR"/>
              <a:t>62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min · NOUVEAU] Six fiches de projet qui prolongent directement ce module. Chaque équipe présente sa fiche, ses sources de données et le résultat visé. La fiche « variable de prévision immédiate » fait naturellement le lien avec les travaux de prévision immédiate du PIB ; le suivi de l’expansion urbaine, avec l’analyse du bâti. Chaque résultat est assez réduit pour être prototypé en quelques jours.</a:t>
            </a:r>
          </a:p>
        </p:txBody>
      </p:sp>
      <p:sp>
        <p:nvSpPr>
          <p:cNvPr id="4" name="Slide Number Placeholder 3"/>
          <p:cNvSpPr>
            <a:spLocks noGrp="1"/>
          </p:cNvSpPr>
          <p:nvPr>
            <p:ph type="sldNum" sz="quarter" idx="10"/>
          </p:nvPr>
        </p:nvSpPr>
        <p:spPr/>
        <p:txBody>
          <a:bodyPr/>
          <a:lstStyle/>
          <a:p>
            <a:fld id="{F7021451-1387-4CA6-816F-3879F97B5CBC}" type="slidenum">
              <a:rPr lang="fr-FR"/>
              <a:t>63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[2 min · NOUVEAU] Interroger la salle avant de révéler chaque réponse. Réponses : (1) Les LED blanches émettent une grande part de leur énergie vers 450 nm, hors de la Day/Night Band (500–900 nm). (2) Rien n’a changé dans le monde ; le seuil est un choix du chercheur qui doit être déclaré et testé. (3) Pas indépendante : WorldPop utilise les NTL comme covariable, la corrélation est donc en partie circulaire. (4) Les niveaux sont dominés par la taille ; une faible corrélation des taux de croissance signifie que l’indicateur n’est pas encore un outil de suivi fiable. (5) Vérifier la couche du nombre d’observations : un mois sombre en saison des pluies, ce sont généralement des nuages, pas un effondrement. Ces réponses reprennent les messages clés du module.</a:t>
            </a:r>
          </a:p>
        </p:txBody>
      </p:sp>
      <p:sp>
        <p:nvSpPr>
          <p:cNvPr id="4" name="Slide Number Placeholder 3"/>
          <p:cNvSpPr>
            <a:spLocks noGrp="1"/>
          </p:cNvSpPr>
          <p:nvPr>
            <p:ph type="sldNum" sz="quarter" idx="10"/>
          </p:nvPr>
        </p:nvSpPr>
        <p:spPr/>
        <p:txBody>
          <a:bodyPr/>
          <a:lstStyle/>
          <a:p>
            <a:fld id="{F7021451-1387-4CA6-816F-3879F97B5CBC}" type="slidenum">
              <a:rPr lang="fr-FR"/>
              <a:t>64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[30 s] Terminer sur la dernière phrase. Extraire le signal est désormais une routine largement automatisée ; la discipline consiste à savoir ce que ce signal est en droit de signifier. Passer ensuite la main aux labos.</a:t>
            </a:r>
          </a:p>
        </p:txBody>
      </p:sp>
      <p:sp>
        <p:nvSpPr>
          <p:cNvPr id="4" name="Slide Number Placeholder 3"/>
          <p:cNvSpPr>
            <a:spLocks noGrp="1"/>
          </p:cNvSpPr>
          <p:nvPr>
            <p:ph type="sldNum" sz="quarter" idx="10"/>
          </p:nvPr>
        </p:nvSpPr>
        <p:spPr/>
        <p:txBody>
          <a:bodyPr/>
          <a:lstStyle/>
          <a:p>
            <a:fld id="{F7021451-1387-4CA6-816F-3879F97B5CBC}" type="slidenum">
              <a:rPr lang="fr-FR"/>
              <a:t>65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RÉFÉRENCE — à distribuer plutôt qu’à lire. Les deux termes les plus source de confusion : composite (souvent pris pour une photo) et nombre numérique (souvent pris pour une grandeur physique). « Élasticité » est ajoutée pour la séance B.</a:t>
            </a:r>
          </a:p>
        </p:txBody>
      </p:sp>
      <p:sp>
        <p:nvSpPr>
          <p:cNvPr id="4" name="Slide Number Placeholder 3"/>
          <p:cNvSpPr>
            <a:spLocks noGrp="1"/>
          </p:cNvSpPr>
          <p:nvPr>
            <p:ph type="sldNum" sz="quarter" idx="10"/>
          </p:nvPr>
        </p:nvSpPr>
        <p:spPr/>
        <p:txBody>
          <a:bodyPr/>
          <a:lstStyle/>
          <a:p>
            <a:fld id="{F7021451-1387-4CA6-816F-3879F97B5CBC}" type="slidenum">
              <a:rPr lang="fr-FR"/>
              <a:t>66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Laisser cette diapositive à l’écran pendant les questions. Les nouvelles références de cette édition couvrent la prévision immédiate (Beyer, Hu et Yao 2022 ; Hu et Yao 2022), les séries longues harmonisées (Li et al. 2020 ; Chen et al. 2021 ; Elvidge et al. 2021), les effets de calendrier (Román et Stokes 2015) et les chocs de court terme (Beyer et al. 2021).</a:t>
            </a:r>
          </a:p>
        </p:txBody>
      </p:sp>
      <p:sp>
        <p:nvSpPr>
          <p:cNvPr id="4" name="Slide Number Placeholder 3"/>
          <p:cNvSpPr>
            <a:spLocks noGrp="1"/>
          </p:cNvSpPr>
          <p:nvPr>
            <p:ph type="sldNum" sz="quarter" idx="10"/>
          </p:nvPr>
        </p:nvSpPr>
        <p:spPr/>
        <p:txBody>
          <a:bodyPr/>
          <a:lstStyle/>
          <a:p>
            <a:fld id="{F7021451-1387-4CA6-816F-3879F97B5CBC}" type="slidenum">
              <a:rPr lang="fr-FR"/>
              <a:t>67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une première expérience de cinq minutes, orienter vers l’application web Radiance Light Trends ou les tutoriels Open Nighttime Lights de la Banque mondiale avant toute chaîne de traitement lourde. BlackMarblePy et blackmarbler sont la voie la plus rapide vers une chaîne nationale reproductible.</a:t>
            </a:r>
          </a:p>
        </p:txBody>
      </p:sp>
      <p:sp>
        <p:nvSpPr>
          <p:cNvPr id="4" name="Slide Number Placeholder 3"/>
          <p:cNvSpPr>
            <a:spLocks noGrp="1"/>
          </p:cNvSpPr>
          <p:nvPr>
            <p:ph type="sldNum" sz="quarter" idx="10"/>
          </p:nvPr>
        </p:nvSpPr>
        <p:spPr/>
        <p:txBody>
          <a:bodyPr/>
          <a:lstStyle/>
          <a:p>
            <a:fld id="{F7021451-1387-4CA6-816F-3879F97B5CBC}" type="slidenum">
              <a:rPr lang="fr-FR"/>
              <a:t>68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Clôture. Rappeler aux participants de conserver les résultats et le code des labos A et B — ils seront réutilisés dans les travaux ultérieurs sur le géospatial, la prévision immédiate et les projets.</a:t>
            </a:r>
          </a:p>
        </p:txBody>
      </p:sp>
      <p:sp>
        <p:nvSpPr>
          <p:cNvPr id="4" name="Slide Number Placeholder 3"/>
          <p:cNvSpPr>
            <a:spLocks noGrp="1"/>
          </p:cNvSpPr>
          <p:nvPr>
            <p:ph type="sldNum" sz="quarter" idx="10"/>
          </p:nvPr>
        </p:nvSpPr>
        <p:spPr/>
        <p:txBody>
          <a:bodyPr/>
          <a:lstStyle/>
          <a:p>
            <a:fld id="{F7021451-1387-4CA6-816F-3879F97B5CBC}" type="slidenum">
              <a:rPr lang="fr-FR"/>
              <a:t>69</a:t>
            </a:fld>
            <a:endParaRPr lang="fr-F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afdb_di4a_logo.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png"/><Relationship Id="rId7"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24.png"/><Relationship Id="rId4" Type="http://schemas.openxmlformats.org/officeDocument/2006/relationships/image" Target="../media/image53.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png"/><Relationship Id="rId7"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64.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png"/><Relationship Id="rId7"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2.png"/><Relationship Id="rId7" Type="http://schemas.openxmlformats.org/officeDocument/2006/relationships/image" Target="../media/image7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chart" Target="../charts/char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3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83.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2.png"/><Relationship Id="rId7" Type="http://schemas.openxmlformats.org/officeDocument/2006/relationships/image" Target="../media/image87.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image" Target="../media/image86.png"/><Relationship Id="rId9" Type="http://schemas.openxmlformats.org/officeDocument/2006/relationships/image" Target="../media/image89.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2.png"/><Relationship Id="rId7" Type="http://schemas.openxmlformats.org/officeDocument/2006/relationships/image" Target="../media/image93.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98.png"/><Relationship Id="rId4" Type="http://schemas.openxmlformats.org/officeDocument/2006/relationships/image" Target="../media/image97.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2.png"/><Relationship Id="rId7" Type="http://schemas.openxmlformats.org/officeDocument/2006/relationships/image" Target="../media/image103.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chart" Target="../charts/chart4.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8.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88.png"/><Relationship Id="rId4" Type="http://schemas.openxmlformats.org/officeDocument/2006/relationships/image" Target="../media/image109.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0.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7.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0.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19.png"/><Relationship Id="rId4" Type="http://schemas.openxmlformats.org/officeDocument/2006/relationships/image" Target="../media/image118.png"/></Relationships>
</file>

<file path=ppt/slides/_rels/slide51.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2.png"/><Relationship Id="rId7"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121.png"/><Relationship Id="rId4" Type="http://schemas.openxmlformats.org/officeDocument/2006/relationships/image" Target="../media/image13.png"/><Relationship Id="rId9" Type="http://schemas.openxmlformats.org/officeDocument/2006/relationships/image" Target="../media/image124.png"/></Relationships>
</file>

<file path=ppt/slides/_rels/slide52.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4.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126.png"/><Relationship Id="rId4" Type="http://schemas.openxmlformats.org/officeDocument/2006/relationships/image" Target="../media/image8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27.png"/></Relationships>
</file>

<file path=ppt/slides/_rels/slide57.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2.png"/><Relationship Id="rId7" Type="http://schemas.openxmlformats.org/officeDocument/2006/relationships/image" Target="../media/image131.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31.png"/><Relationship Id="rId4" Type="http://schemas.openxmlformats.org/officeDocument/2006/relationships/image" Target="../media/image129.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134.png"/><Relationship Id="rId5" Type="http://schemas.openxmlformats.org/officeDocument/2006/relationships/image" Target="../media/image80.png"/><Relationship Id="rId4" Type="http://schemas.openxmlformats.org/officeDocument/2006/relationships/image" Target="../media/image13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35.png"/><Relationship Id="rId4" Type="http://schemas.openxmlformats.org/officeDocument/2006/relationships/image" Target="../media/image17.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36.png"/></Relationships>
</file>

<file path=ppt/slides/_rels/slide62.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2.png"/><Relationship Id="rId7" Type="http://schemas.openxmlformats.org/officeDocument/2006/relationships/image" Target="../media/image140.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 Id="rId9" Type="http://schemas.openxmlformats.org/officeDocument/2006/relationships/image" Target="../media/image141.png"/></Relationships>
</file>

<file path=ppt/slides/_rels/slide63.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2.png"/><Relationship Id="rId7" Type="http://schemas.openxmlformats.org/officeDocument/2006/relationships/image" Target="../media/image144.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143.png"/><Relationship Id="rId5" Type="http://schemas.openxmlformats.org/officeDocument/2006/relationships/image" Target="../media/image65.png"/><Relationship Id="rId4" Type="http://schemas.openxmlformats.org/officeDocument/2006/relationships/image" Target="../media/image142.png"/><Relationship Id="rId9" Type="http://schemas.openxmlformats.org/officeDocument/2006/relationships/image" Target="../media/image146.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148.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2.png"/><Relationship Id="rId7" Type="http://schemas.openxmlformats.org/officeDocument/2006/relationships/image" Target="../media/image152.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51.png"/><Relationship Id="rId11" Type="http://schemas.openxmlformats.org/officeDocument/2006/relationships/image" Target="../media/image155.png"/><Relationship Id="rId5" Type="http://schemas.openxmlformats.org/officeDocument/2006/relationships/image" Target="../media/image150.png"/><Relationship Id="rId10" Type="http://schemas.openxmlformats.org/officeDocument/2006/relationships/image" Target="../media/image154.png"/><Relationship Id="rId4" Type="http://schemas.openxmlformats.org/officeDocument/2006/relationships/image" Target="../media/image149.png"/><Relationship Id="rId9" Type="http://schemas.openxmlformats.org/officeDocument/2006/relationships/image" Target="../media/image153.png"/></Relationships>
</file>

<file path=ppt/slides/_rels/slide6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afdb_di4a_logo.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502920"/>
            <a:ext cx="6949440" cy="274320"/>
          </a:xfrm>
          <a:prstGeom prst="rect">
            <a:avLst/>
          </a:prstGeom>
          <a:noFill/>
          <a:ln/>
        </p:spPr>
        <p:txBody>
          <a:bodyPr wrap="square" lIns="0" tIns="0" rIns="0" bIns="0" rtlCol="0" anchor="t"/>
          <a:lstStyle/>
          <a:p>
            <a:pPr marL="0" indent="0">
              <a:buNone/>
            </a:pPr>
            <a:r>
              <a:rPr lang="fr-FR" sz="1050" b="1" kern="0" spc="100" dirty="0">
                <a:solidFill>
                  <a:srgbClr val="F5C242"/>
                </a:solidFill>
                <a:latin typeface="Calibri" pitchFamily="34" charset="0"/>
                <a:ea typeface="Calibri" pitchFamily="34" charset="-122"/>
                <a:cs typeface="Calibri" pitchFamily="34" charset="-120"/>
              </a:rPr>
              <a:t>BANQUE AFRICAINE DE DÉVELOPPEMENT  ·  DATA INNOVATION FOR AFRICA (DI4A)</a:t>
            </a:r>
            <a:endParaRPr lang="fr-FR" sz="1050" dirty="0"/>
          </a:p>
        </p:txBody>
      </p:sp>
      <p:sp>
        <p:nvSpPr>
          <p:cNvPr id="3" name="Text 1"/>
          <p:cNvSpPr txBox="1"/>
          <p:nvPr/>
        </p:nvSpPr>
        <p:spPr>
          <a:xfrm>
            <a:off x="731520" y="1234440"/>
            <a:ext cx="7315200" cy="1005840"/>
          </a:xfrm>
          <a:prstGeom prst="rect">
            <a:avLst/>
          </a:prstGeom>
          <a:noFill/>
          <a:ln/>
        </p:spPr>
        <p:txBody>
          <a:bodyPr wrap="square" lIns="0" tIns="0" rIns="0" bIns="0" rtlCol="0" anchor="ctr"/>
          <a:lstStyle/>
          <a:p>
            <a:pPr marL="0" indent="0">
              <a:buNone/>
            </a:pPr>
            <a:r>
              <a:rPr lang="fr-FR" sz="5400" b="1" dirty="0">
                <a:solidFill>
                  <a:srgbClr val="FFFFFF"/>
                </a:solidFill>
                <a:latin typeface="Calibri" pitchFamily="34" charset="0"/>
                <a:ea typeface="Calibri" pitchFamily="34" charset="-122"/>
                <a:cs typeface="Calibri" pitchFamily="34" charset="-120"/>
              </a:rPr>
              <a:t>Lumières nocturnes</a:t>
            </a:r>
            <a:endParaRPr lang="fr-FR" sz="5400" dirty="0"/>
          </a:p>
        </p:txBody>
      </p:sp>
      <p:sp>
        <p:nvSpPr>
          <p:cNvPr id="4" name="Text 2"/>
          <p:cNvSpPr txBox="1"/>
          <p:nvPr/>
        </p:nvSpPr>
        <p:spPr>
          <a:xfrm>
            <a:off x="731520" y="2286000"/>
            <a:ext cx="6035040" cy="822960"/>
          </a:xfrm>
          <a:prstGeom prst="rect">
            <a:avLst/>
          </a:prstGeom>
          <a:noFill/>
          <a:ln/>
        </p:spPr>
        <p:txBody>
          <a:bodyPr wrap="square" lIns="0" tIns="0" rIns="0" bIns="0" rtlCol="0" anchor="t"/>
          <a:lstStyle/>
          <a:p>
            <a:pPr marL="0" indent="0">
              <a:buNone/>
            </a:pPr>
            <a:r>
              <a:rPr lang="fr-FR" sz="2000" i="1" dirty="0">
                <a:solidFill>
                  <a:srgbClr val="D8EEE3"/>
                </a:solidFill>
                <a:latin typeface="Calibri" pitchFamily="34" charset="0"/>
                <a:ea typeface="Calibri" pitchFamily="34" charset="-122"/>
                <a:cs typeface="Calibri" pitchFamily="34" charset="-120"/>
              </a:rPr>
              <a:t>Mesurer l’activité depuis l’orbite — et ce que les lumières ont permis de mesurer</a:t>
            </a:r>
            <a:endParaRPr lang="fr-FR" sz="2000" dirty="0"/>
          </a:p>
        </p:txBody>
      </p:sp>
      <p:sp>
        <p:nvSpPr>
          <p:cNvPr id="8" name="Text 6"/>
          <p:cNvSpPr txBox="1"/>
          <p:nvPr/>
        </p:nvSpPr>
        <p:spPr>
          <a:xfrm>
            <a:off x="731520" y="4800600"/>
            <a:ext cx="6400800" cy="274320"/>
          </a:xfrm>
          <a:prstGeom prst="rect">
            <a:avLst/>
          </a:prstGeom>
          <a:noFill/>
          <a:ln/>
        </p:spPr>
        <p:txBody>
          <a:bodyPr wrap="square" lIns="0" tIns="0" rIns="0" bIns="0" rtlCol="0" anchor="t"/>
          <a:lstStyle/>
          <a:p>
            <a:pPr marL="0" indent="0">
              <a:buNone/>
            </a:pPr>
            <a:r>
              <a:rPr lang="fr-FR" sz="1200" b="1" dirty="0">
                <a:solidFill>
                  <a:srgbClr val="FFFFFF"/>
                </a:solidFill>
                <a:latin typeface="Calibri" pitchFamily="34" charset="0"/>
                <a:ea typeface="Calibri" pitchFamily="34" charset="-122"/>
                <a:cs typeface="Calibri" pitchFamily="34" charset="-120"/>
              </a:rPr>
              <a:t>Les lumières nocturnes pour les statistiques macroéconomiques</a:t>
            </a:r>
            <a:endParaRPr lang="fr-FR" sz="1200" dirty="0"/>
          </a:p>
        </p:txBody>
      </p:sp>
      <p:sp>
        <p:nvSpPr>
          <p:cNvPr id="9" name="Shape 7"/>
          <p:cNvSpPr/>
          <p:nvPr/>
        </p:nvSpPr>
        <p:spPr>
          <a:xfrm>
            <a:off x="731520" y="5349240"/>
            <a:ext cx="3523234" cy="1097280"/>
          </a:xfrm>
          <a:prstGeom prst="roundRect">
            <a:avLst>
              <a:gd name="adj" fmla="val 6667"/>
            </a:avLst>
          </a:prstGeom>
          <a:solidFill>
            <a:srgbClr val="FFFFFF"/>
          </a:solidFill>
          <a:ln w="9525">
            <a:solidFill>
              <a:srgbClr val="FFFFFF"/>
            </a:solidFill>
            <a:prstDash val="solid"/>
          </a:ln>
        </p:spPr>
      </p:sp>
      <p:pic>
        <p:nvPicPr>
          <p:cNvPr id="10" name="Image 0" descr="Logo Banque africaine de développement – Data Innovation for Africa (DI4A)"/>
          <p:cNvPicPr>
            <a:picLocks noChangeAspect="1"/>
          </p:cNvPicPr>
          <p:nvPr/>
        </p:nvPicPr>
        <p:blipFill>
          <a:blip r:embed="rId4"/>
          <a:stretch>
            <a:fillRect/>
          </a:stretch>
        </p:blipFill>
        <p:spPr>
          <a:xfrm>
            <a:off x="896112" y="5440680"/>
            <a:ext cx="3194050" cy="914400"/>
          </a:xfrm>
          <a:prstGeom prst="rect">
            <a:avLst/>
          </a:prstGeom>
        </p:spPr>
      </p:pic>
      <p:sp>
        <p:nvSpPr>
          <p:cNvPr id="16" name="Shape 11"/>
          <p:cNvSpPr/>
          <p:nvPr/>
        </p:nvSpPr>
        <p:spPr>
          <a:xfrm>
            <a:off x="0" y="6766560"/>
            <a:ext cx="9509522" cy="91440"/>
          </a:xfrm>
          <a:prstGeom prst="rect">
            <a:avLst/>
          </a:prstGeom>
          <a:solidFill>
            <a:srgbClr val="00704A"/>
          </a:solidFill>
          <a:ln w="6350">
            <a:solidFill>
              <a:srgbClr val="00704A"/>
            </a:solidFill>
            <a:prstDash val="solid"/>
          </a:ln>
        </p:spPr>
      </p:sp>
      <p:sp>
        <p:nvSpPr>
          <p:cNvPr id="17" name="Shape 12"/>
          <p:cNvSpPr/>
          <p:nvPr/>
        </p:nvSpPr>
        <p:spPr>
          <a:xfrm>
            <a:off x="9509522" y="6766560"/>
            <a:ext cx="2682173" cy="91440"/>
          </a:xfrm>
          <a:prstGeom prst="rect">
            <a:avLst/>
          </a:prstGeom>
          <a:solidFill>
            <a:srgbClr val="F5C242"/>
          </a:solidFill>
          <a:ln w="6350">
            <a:solidFill>
              <a:srgbClr val="F5C242"/>
            </a:solidFill>
            <a:prstDash val="solid"/>
          </a:ln>
        </p:spPr>
      </p:sp>
      <p:sp>
        <p:nvSpPr>
          <p:cNvPr id="18" name="Text 13"/>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Afrique  ·  Rendu illustratif : populations des localités GeoNames, frontières Natural Earth</a:t>
            </a:r>
            <a:endParaRPr lang="fr-FR"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PRÉSENTATION DES SÉANCES · OBJECTIFS D’APPRENTISSAGE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Deux séances et ce que vous saurez faire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CONTEXTE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a:t>
            </a:r>
            <a:endParaRPr lang="fr-FR" sz="900" dirty="0"/>
          </a:p>
        </p:txBody>
      </p:sp>
      <p:sp>
        <p:nvSpPr>
          <p:cNvPr id="12" name="Shape 9"/>
          <p:cNvSpPr/>
          <p:nvPr/>
        </p:nvSpPr>
        <p:spPr>
          <a:xfrm>
            <a:off x="548640" y="1417320"/>
            <a:ext cx="5440680" cy="4069080"/>
          </a:xfrm>
          <a:prstGeom prst="roundRect">
            <a:avLst>
              <a:gd name="adj" fmla="val 1798"/>
            </a:avLst>
          </a:prstGeom>
          <a:solidFill>
            <a:srgbClr val="E8F5EF"/>
          </a:solidFill>
          <a:ln w="9525">
            <a:solidFill>
              <a:srgbClr val="00A86A"/>
            </a:solidFill>
            <a:prstDash val="solid"/>
          </a:ln>
        </p:spPr>
      </p:sp>
      <p:sp>
        <p:nvSpPr>
          <p:cNvPr id="13" name="Shape 10"/>
          <p:cNvSpPr/>
          <p:nvPr/>
        </p:nvSpPr>
        <p:spPr>
          <a:xfrm>
            <a:off x="777240" y="1645920"/>
            <a:ext cx="566928" cy="566928"/>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924641" y="1793321"/>
            <a:ext cx="272125" cy="272125"/>
          </a:xfrm>
          <a:prstGeom prst="rect">
            <a:avLst/>
          </a:prstGeom>
        </p:spPr>
      </p:pic>
      <p:sp>
        <p:nvSpPr>
          <p:cNvPr id="15" name="Text 11"/>
          <p:cNvSpPr txBox="1"/>
          <p:nvPr/>
        </p:nvSpPr>
        <p:spPr>
          <a:xfrm>
            <a:off x="1508760" y="1645920"/>
            <a:ext cx="4251960" cy="228600"/>
          </a:xfrm>
          <a:prstGeom prst="rect">
            <a:avLst/>
          </a:prstGeom>
          <a:noFill/>
          <a:ln/>
        </p:spPr>
        <p:txBody>
          <a:bodyPr wrap="square" lIns="0" tIns="0" rIns="0" bIns="0" rtlCol="0" anchor="t"/>
          <a:lstStyle/>
          <a:p>
            <a:pPr marL="0" indent="0">
              <a:buNone/>
            </a:pPr>
            <a:r>
              <a:rPr lang="fr-FR" sz="1000" b="1" kern="0" spc="150" dirty="0">
                <a:solidFill>
                  <a:srgbClr val="0E7C86"/>
                </a:solidFill>
                <a:latin typeface="Calibri" pitchFamily="34" charset="0"/>
                <a:ea typeface="Calibri" pitchFamily="34" charset="-122"/>
                <a:cs typeface="Calibri" pitchFamily="34" charset="-120"/>
              </a:rPr>
              <a:t>SÉANCE A  ·  45 MIN</a:t>
            </a:r>
            <a:endParaRPr lang="fr-FR" sz="1000" dirty="0"/>
          </a:p>
        </p:txBody>
      </p:sp>
      <p:sp>
        <p:nvSpPr>
          <p:cNvPr id="16" name="Text 12"/>
          <p:cNvSpPr txBox="1"/>
          <p:nvPr/>
        </p:nvSpPr>
        <p:spPr>
          <a:xfrm>
            <a:off x="1508760" y="1874520"/>
            <a:ext cx="4251960" cy="54864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Lumières nocturnes : mesurer l’activité depuis l’orbite</a:t>
            </a:r>
            <a:endParaRPr lang="fr-FR" sz="1500" dirty="0"/>
          </a:p>
        </p:txBody>
      </p:sp>
      <p:sp>
        <p:nvSpPr>
          <p:cNvPr id="17" name="Text 13"/>
          <p:cNvSpPr txBox="1"/>
          <p:nvPr/>
        </p:nvSpPr>
        <p:spPr>
          <a:xfrm>
            <a:off x="822960" y="2651760"/>
            <a:ext cx="4892040" cy="2743200"/>
          </a:xfrm>
          <a:prstGeom prst="rect">
            <a:avLst/>
          </a:prstGeom>
          <a:noFill/>
          <a:ln/>
        </p:spPr>
        <p:txBody>
          <a:bodyPr wrap="square" lIns="0" tIns="0" rIns="0" bIns="0" rtlCol="0" anchor="t"/>
          <a:lstStyle/>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Collecter les données NASA Black Marble et découper un composite mensuel pour un pays choisi</a:t>
            </a:r>
            <a:endParaRPr lang="fr-FR" sz="1400" dirty="0"/>
          </a:p>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Identifier ce que les lumières nocturnes mesurent bien — et ce qu’elles ne mesurent pas</a:t>
            </a:r>
            <a:endParaRPr lang="fr-FR" sz="1400" dirty="0"/>
          </a:p>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Passer en revue les artefacts clés : débordement, saturation, torchères, saisonnalité, nuages, discontinuité des capteurs</a:t>
            </a:r>
            <a:endParaRPr lang="fr-FR" sz="1400" dirty="0"/>
          </a:p>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Appliquer des masques, agréger dans le temps et comparer des régions</a:t>
            </a:r>
            <a:endParaRPr lang="fr-FR" sz="1400" dirty="0"/>
          </a:p>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Produire une série nationale assortie de notes sur les limites des données</a:t>
            </a:r>
            <a:endParaRPr lang="fr-FR" sz="1400" dirty="0"/>
          </a:p>
        </p:txBody>
      </p:sp>
      <p:sp>
        <p:nvSpPr>
          <p:cNvPr id="18" name="Shape 14"/>
          <p:cNvSpPr/>
          <p:nvPr/>
        </p:nvSpPr>
        <p:spPr>
          <a:xfrm>
            <a:off x="6172200" y="1417320"/>
            <a:ext cx="5440680" cy="4069080"/>
          </a:xfrm>
          <a:prstGeom prst="roundRect">
            <a:avLst>
              <a:gd name="adj" fmla="val 1798"/>
            </a:avLst>
          </a:prstGeom>
          <a:solidFill>
            <a:srgbClr val="F4F7F5"/>
          </a:solidFill>
          <a:ln w="9525">
            <a:solidFill>
              <a:srgbClr val="D5DED9"/>
            </a:solidFill>
            <a:prstDash val="solid"/>
          </a:ln>
        </p:spPr>
      </p:sp>
      <p:sp>
        <p:nvSpPr>
          <p:cNvPr id="19" name="Shape 15"/>
          <p:cNvSpPr/>
          <p:nvPr/>
        </p:nvSpPr>
        <p:spPr>
          <a:xfrm>
            <a:off x="6400800" y="1645920"/>
            <a:ext cx="566928" cy="566928"/>
          </a:xfrm>
          <a:prstGeom prst="ellipse">
            <a:avLst/>
          </a:prstGeom>
          <a:solidFill>
            <a:srgbClr val="00704A"/>
          </a:solidFill>
          <a:ln w="12700">
            <a:solidFill>
              <a:srgbClr val="00704A"/>
            </a:solidFill>
            <a:prstDash val="solid"/>
          </a:ln>
        </p:spPr>
      </p:sp>
      <p:pic>
        <p:nvPicPr>
          <p:cNvPr id="20" name="Image 2" descr="preencoded.png"/>
          <p:cNvPicPr>
            <a:picLocks noChangeAspect="1"/>
          </p:cNvPicPr>
          <p:nvPr/>
        </p:nvPicPr>
        <p:blipFill>
          <a:blip r:embed="rId5"/>
          <a:stretch>
            <a:fillRect/>
          </a:stretch>
        </p:blipFill>
        <p:spPr>
          <a:xfrm>
            <a:off x="6548201" y="1793321"/>
            <a:ext cx="272125" cy="272125"/>
          </a:xfrm>
          <a:prstGeom prst="rect">
            <a:avLst/>
          </a:prstGeom>
        </p:spPr>
      </p:pic>
      <p:sp>
        <p:nvSpPr>
          <p:cNvPr id="21" name="Text 16"/>
          <p:cNvSpPr txBox="1"/>
          <p:nvPr/>
        </p:nvSpPr>
        <p:spPr>
          <a:xfrm>
            <a:off x="7132320" y="1645920"/>
            <a:ext cx="4251960" cy="228600"/>
          </a:xfrm>
          <a:prstGeom prst="rect">
            <a:avLst/>
          </a:prstGeom>
          <a:noFill/>
          <a:ln/>
        </p:spPr>
        <p:txBody>
          <a:bodyPr wrap="square" lIns="0" tIns="0" rIns="0" bIns="0" rtlCol="0" anchor="t"/>
          <a:lstStyle/>
          <a:p>
            <a:pPr marL="0" indent="0">
              <a:buNone/>
            </a:pPr>
            <a:r>
              <a:rPr lang="fr-FR" sz="1000" b="1" kern="0" spc="150" dirty="0">
                <a:solidFill>
                  <a:srgbClr val="0E7C86"/>
                </a:solidFill>
                <a:latin typeface="Calibri" pitchFamily="34" charset="0"/>
                <a:ea typeface="Calibri" pitchFamily="34" charset="-122"/>
                <a:cs typeface="Calibri" pitchFamily="34" charset="-120"/>
              </a:rPr>
              <a:t>SÉANCE B  ·  90 MIN</a:t>
            </a:r>
            <a:endParaRPr lang="fr-FR" sz="1000" dirty="0"/>
          </a:p>
        </p:txBody>
      </p:sp>
      <p:sp>
        <p:nvSpPr>
          <p:cNvPr id="22" name="Text 17"/>
          <p:cNvSpPr txBox="1"/>
          <p:nvPr/>
        </p:nvSpPr>
        <p:spPr>
          <a:xfrm>
            <a:off x="7132320" y="1874520"/>
            <a:ext cx="4251960" cy="54864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Les lumières nocturnes en pratique : ce qu’elles ont permis de mesurer</a:t>
            </a:r>
            <a:endParaRPr lang="fr-FR" sz="1500" dirty="0"/>
          </a:p>
        </p:txBody>
      </p:sp>
      <p:sp>
        <p:nvSpPr>
          <p:cNvPr id="23" name="Text 18"/>
          <p:cNvSpPr txBox="1"/>
          <p:nvPr/>
        </p:nvSpPr>
        <p:spPr>
          <a:xfrm>
            <a:off x="6446520" y="2651760"/>
            <a:ext cx="4892040" cy="2743200"/>
          </a:xfrm>
          <a:prstGeom prst="rect">
            <a:avLst/>
          </a:prstGeom>
          <a:noFill/>
          <a:ln/>
        </p:spPr>
        <p:txBody>
          <a:bodyPr wrap="square" lIns="0" tIns="0" rIns="0" bIns="0" rtlCol="0" anchor="t"/>
          <a:lstStyle/>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Passer en revue les usages courants : production, électrification, urbanisation, évaluation des dégâts, cartographie de l’activité</a:t>
            </a:r>
            <a:endParaRPr lang="fr-FR" sz="1400" dirty="0"/>
          </a:p>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Examiner comment chaque usage a été validé et où l’indicateur fonctionne bien</a:t>
            </a:r>
            <a:endParaRPr lang="fr-FR" sz="1400" dirty="0"/>
          </a:p>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Reproduire une application et la comparer à un indicateur officiel</a:t>
            </a:r>
            <a:endParaRPr lang="fr-FR" sz="1400" dirty="0"/>
          </a:p>
          <a:p>
            <a:pPr marL="177800" indent="-177800">
              <a:spcAft>
                <a:spcPts val="1000"/>
              </a:spcAft>
              <a:buSzPct val="100000"/>
              <a:buChar char="•"/>
            </a:pPr>
            <a:r>
              <a:rPr lang="fr-FR" sz="1400" dirty="0">
                <a:solidFill>
                  <a:srgbClr val="231F20"/>
                </a:solidFill>
                <a:latin typeface="Calibri" pitchFamily="34" charset="0"/>
                <a:ea typeface="Calibri" pitchFamily="34" charset="-122"/>
                <a:cs typeface="Calibri" pitchFamily="34" charset="-120"/>
              </a:rPr>
              <a:t>Indiquer où la relation tient — et où elle se rompt</a:t>
            </a:r>
            <a:endParaRPr lang="fr-FR" sz="1400" dirty="0"/>
          </a:p>
        </p:txBody>
      </p:sp>
      <p:sp>
        <p:nvSpPr>
          <p:cNvPr id="24" name="Shape 19"/>
          <p:cNvSpPr/>
          <p:nvPr/>
        </p:nvSpPr>
        <p:spPr>
          <a:xfrm>
            <a:off x="548640" y="5650992"/>
            <a:ext cx="11094415" cy="548640"/>
          </a:xfrm>
          <a:prstGeom prst="roundRect">
            <a:avLst>
              <a:gd name="adj" fmla="val 13333"/>
            </a:avLst>
          </a:prstGeom>
          <a:solidFill>
            <a:srgbClr val="FDF5DC"/>
          </a:solidFill>
          <a:ln w="9525">
            <a:solidFill>
              <a:srgbClr val="F5C242"/>
            </a:solidFill>
            <a:prstDash val="solid"/>
          </a:ln>
        </p:spPr>
      </p:sp>
      <p:sp>
        <p:nvSpPr>
          <p:cNvPr id="25" name="Text 20"/>
          <p:cNvSpPr txBox="1"/>
          <p:nvPr/>
        </p:nvSpPr>
        <p:spPr>
          <a:xfrm>
            <a:off x="777240" y="5650992"/>
            <a:ext cx="10637215" cy="548640"/>
          </a:xfrm>
          <a:prstGeom prst="rect">
            <a:avLst/>
          </a:prstGeom>
          <a:noFill/>
          <a:ln/>
        </p:spPr>
        <p:txBody>
          <a:bodyPr wrap="square" lIns="0" tIns="0" rIns="0" bIns="0" rtlCol="0" anchor="ctr"/>
          <a:lstStyle/>
          <a:p>
            <a:pPr marL="0" indent="0">
              <a:buNone/>
            </a:pPr>
            <a:r>
              <a:rPr lang="fr-FR" sz="1200" b="1" dirty="0">
                <a:solidFill>
                  <a:srgbClr val="A87700"/>
                </a:solidFill>
                <a:latin typeface="Calibri" pitchFamily="34" charset="0"/>
                <a:ea typeface="Calibri" pitchFamily="34" charset="-122"/>
                <a:cs typeface="Calibri" pitchFamily="34" charset="-120"/>
              </a:rPr>
              <a:t>À la fin, vous disposerez de trois résultats :  </a:t>
            </a:r>
            <a:r>
              <a:rPr lang="fr-FR" sz="1200" dirty="0">
                <a:solidFill>
                  <a:srgbClr val="231F20"/>
                </a:solidFill>
                <a:latin typeface="Calibri" pitchFamily="34" charset="0"/>
                <a:ea typeface="Calibri" pitchFamily="34" charset="-122"/>
                <a:cs typeface="Calibri" pitchFamily="34" charset="-120"/>
              </a:rPr>
              <a:t>①  un composite mensuel découpé pour votre pays   ②  une série nationale masquée avec une note sur ses limites   ③  une application reproduite, comparée à un indicateur officiel.</a:t>
            </a:r>
            <a:endParaRPr lang="fr-FR"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PRÉSENTATION DES SÉANCES · DÉROULEMENT</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Déroulement : concepts, puis pratique, deux fois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CONTEXTE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a:t>
            </a:r>
            <a:endParaRPr lang="fr-FR" sz="900" dirty="0"/>
          </a:p>
        </p:txBody>
      </p:sp>
      <p:sp>
        <p:nvSpPr>
          <p:cNvPr id="12" name="Text 9"/>
          <p:cNvSpPr txBox="1"/>
          <p:nvPr/>
        </p:nvSpPr>
        <p:spPr>
          <a:xfrm>
            <a:off x="548640" y="1417320"/>
            <a:ext cx="3328325" cy="274320"/>
          </a:xfrm>
          <a:prstGeom prst="rect">
            <a:avLst/>
          </a:prstGeom>
          <a:noFill/>
          <a:ln/>
        </p:spPr>
        <p:txBody>
          <a:bodyPr wrap="square" lIns="0" tIns="0" rIns="0" bIns="0" rtlCol="0" anchor="t"/>
          <a:lstStyle/>
          <a:p>
            <a:pPr marL="0" indent="0" algn="ctr">
              <a:buNone/>
            </a:pPr>
            <a:r>
              <a:rPr lang="fr-FR" sz="1100" b="1" kern="0" spc="200" dirty="0">
                <a:solidFill>
                  <a:srgbClr val="00704A"/>
                </a:solidFill>
                <a:latin typeface="Calibri" pitchFamily="34" charset="0"/>
                <a:ea typeface="Calibri" pitchFamily="34" charset="-122"/>
                <a:cs typeface="Calibri" pitchFamily="34" charset="-120"/>
              </a:rPr>
              <a:t>SÉANCE A</a:t>
            </a:r>
            <a:endParaRPr lang="fr-FR" sz="1100" dirty="0"/>
          </a:p>
        </p:txBody>
      </p:sp>
      <p:sp>
        <p:nvSpPr>
          <p:cNvPr id="13" name="Text 10"/>
          <p:cNvSpPr txBox="1"/>
          <p:nvPr/>
        </p:nvSpPr>
        <p:spPr>
          <a:xfrm>
            <a:off x="4986406" y="1417320"/>
            <a:ext cx="6656649" cy="274320"/>
          </a:xfrm>
          <a:prstGeom prst="rect">
            <a:avLst/>
          </a:prstGeom>
          <a:noFill/>
          <a:ln/>
        </p:spPr>
        <p:txBody>
          <a:bodyPr wrap="square" lIns="0" tIns="0" rIns="0" bIns="0" rtlCol="0" anchor="t"/>
          <a:lstStyle/>
          <a:p>
            <a:pPr marL="0" indent="0" algn="ctr">
              <a:buNone/>
            </a:pPr>
            <a:r>
              <a:rPr lang="fr-FR" sz="1100" b="1" kern="0" spc="200" dirty="0">
                <a:solidFill>
                  <a:srgbClr val="00704A"/>
                </a:solidFill>
                <a:latin typeface="Calibri" pitchFamily="34" charset="0"/>
                <a:ea typeface="Calibri" pitchFamily="34" charset="-122"/>
                <a:cs typeface="Calibri" pitchFamily="34" charset="-120"/>
              </a:rPr>
              <a:t>SÉANCE B</a:t>
            </a:r>
            <a:endParaRPr lang="fr-FR" sz="1100" dirty="0"/>
          </a:p>
        </p:txBody>
      </p:sp>
      <p:sp>
        <p:nvSpPr>
          <p:cNvPr id="14" name="Shape 11"/>
          <p:cNvSpPr/>
          <p:nvPr/>
        </p:nvSpPr>
        <p:spPr>
          <a:xfrm>
            <a:off x="566928" y="2011680"/>
            <a:ext cx="1072866" cy="822960"/>
          </a:xfrm>
          <a:prstGeom prst="rect">
            <a:avLst/>
          </a:prstGeom>
          <a:solidFill>
            <a:srgbClr val="00704A"/>
          </a:solidFill>
          <a:ln w="6350">
            <a:solidFill>
              <a:srgbClr val="00704A"/>
            </a:solidFill>
            <a:prstDash val="solid"/>
          </a:ln>
        </p:spPr>
      </p:sp>
      <p:sp>
        <p:nvSpPr>
          <p:cNvPr id="15" name="Text 12"/>
          <p:cNvSpPr txBox="1"/>
          <p:nvPr/>
        </p:nvSpPr>
        <p:spPr>
          <a:xfrm>
            <a:off x="621792" y="2011680"/>
            <a:ext cx="963138" cy="822960"/>
          </a:xfrm>
          <a:prstGeom prst="rect">
            <a:avLst/>
          </a:prstGeom>
          <a:noFill/>
          <a:ln/>
        </p:spPr>
        <p:txBody>
          <a:bodyPr wrap="square" lIns="0" tIns="0" rIns="0" bIns="0" rtlCol="0" anchor="ctr"/>
          <a:lstStyle/>
          <a:p>
            <a:pPr marL="0" indent="0" algn="ctr">
              <a:buNone/>
            </a:pPr>
            <a:r>
              <a:rPr lang="fr-FR" sz="1200" b="1" dirty="0">
                <a:solidFill>
                  <a:srgbClr val="FFFFFF"/>
                </a:solidFill>
                <a:latin typeface="Calibri" pitchFamily="34" charset="0"/>
                <a:ea typeface="Calibri" pitchFamily="34" charset="-122"/>
                <a:cs typeface="Calibri" pitchFamily="34" charset="-120"/>
              </a:rPr>
              <a:t>Concepts</a:t>
            </a:r>
            <a:endParaRPr lang="fr-FR" sz="1200" dirty="0"/>
          </a:p>
        </p:txBody>
      </p:sp>
      <p:sp>
        <p:nvSpPr>
          <p:cNvPr id="16" name="Text 13"/>
          <p:cNvSpPr txBox="1"/>
          <p:nvPr/>
        </p:nvSpPr>
        <p:spPr>
          <a:xfrm>
            <a:off x="548640" y="2907792"/>
            <a:ext cx="914400" cy="228600"/>
          </a:xfrm>
          <a:prstGeom prst="rect">
            <a:avLst/>
          </a:prstGeom>
          <a:noFill/>
          <a:ln/>
        </p:spPr>
        <p:txBody>
          <a:bodyPr wrap="square" lIns="0" tIns="0" rIns="0" bIns="0" rtlCol="0" anchor="t"/>
          <a:lstStyle/>
          <a:p>
            <a:pPr marL="0" indent="0">
              <a:buNone/>
            </a:pPr>
            <a:r>
              <a:rPr lang="fr-FR" sz="1000" b="1" dirty="0">
                <a:solidFill>
                  <a:srgbClr val="5E6964"/>
                </a:solidFill>
                <a:latin typeface="Calibri" pitchFamily="34" charset="0"/>
                <a:ea typeface="Calibri" pitchFamily="34" charset="-122"/>
                <a:cs typeface="Calibri" pitchFamily="34" charset="-120"/>
              </a:rPr>
              <a:t>0′</a:t>
            </a:r>
            <a:endParaRPr lang="fr-FR" sz="1000" dirty="0"/>
          </a:p>
        </p:txBody>
      </p:sp>
      <p:sp>
        <p:nvSpPr>
          <p:cNvPr id="17" name="Shape 14"/>
          <p:cNvSpPr/>
          <p:nvPr/>
        </p:nvSpPr>
        <p:spPr>
          <a:xfrm>
            <a:off x="1676370" y="2011680"/>
            <a:ext cx="1072866" cy="822960"/>
          </a:xfrm>
          <a:prstGeom prst="rect">
            <a:avLst/>
          </a:prstGeom>
          <a:solidFill>
            <a:srgbClr val="F5C242"/>
          </a:solidFill>
          <a:ln w="6350">
            <a:solidFill>
              <a:srgbClr val="F5C242"/>
            </a:solidFill>
            <a:prstDash val="solid"/>
          </a:ln>
        </p:spPr>
      </p:sp>
      <p:sp>
        <p:nvSpPr>
          <p:cNvPr id="18" name="Text 15"/>
          <p:cNvSpPr txBox="1"/>
          <p:nvPr/>
        </p:nvSpPr>
        <p:spPr>
          <a:xfrm>
            <a:off x="1731234" y="2011680"/>
            <a:ext cx="963138" cy="822960"/>
          </a:xfrm>
          <a:prstGeom prst="rect">
            <a:avLst/>
          </a:prstGeom>
          <a:noFill/>
          <a:ln/>
        </p:spPr>
        <p:txBody>
          <a:bodyPr wrap="square" lIns="0" tIns="0" rIns="0" bIns="0" rtlCol="0" anchor="ctr"/>
          <a:lstStyle/>
          <a:p>
            <a:pPr marL="0" indent="0" algn="ctr">
              <a:buNone/>
            </a:pPr>
            <a:r>
              <a:rPr lang="fr-FR" sz="1200" b="1" dirty="0">
                <a:solidFill>
                  <a:srgbClr val="00553A"/>
                </a:solidFill>
                <a:latin typeface="Calibri" pitchFamily="34" charset="0"/>
                <a:ea typeface="Calibri" pitchFamily="34" charset="-122"/>
                <a:cs typeface="Calibri" pitchFamily="34" charset="-120"/>
              </a:rPr>
              <a:t>Labo A1</a:t>
            </a:r>
            <a:endParaRPr lang="fr-FR" sz="1200" dirty="0"/>
          </a:p>
        </p:txBody>
      </p:sp>
      <p:sp>
        <p:nvSpPr>
          <p:cNvPr id="19" name="Text 16"/>
          <p:cNvSpPr txBox="1"/>
          <p:nvPr/>
        </p:nvSpPr>
        <p:spPr>
          <a:xfrm>
            <a:off x="1658082" y="2907792"/>
            <a:ext cx="914400" cy="228600"/>
          </a:xfrm>
          <a:prstGeom prst="rect">
            <a:avLst/>
          </a:prstGeom>
          <a:noFill/>
          <a:ln/>
        </p:spPr>
        <p:txBody>
          <a:bodyPr wrap="square" lIns="0" tIns="0" rIns="0" bIns="0" rtlCol="0" anchor="t"/>
          <a:lstStyle/>
          <a:p>
            <a:pPr marL="0" indent="0">
              <a:buNone/>
            </a:pPr>
            <a:r>
              <a:rPr lang="fr-FR" sz="1000" b="1" dirty="0">
                <a:solidFill>
                  <a:srgbClr val="5E6964"/>
                </a:solidFill>
                <a:latin typeface="Calibri" pitchFamily="34" charset="0"/>
                <a:ea typeface="Calibri" pitchFamily="34" charset="-122"/>
                <a:cs typeface="Calibri" pitchFamily="34" charset="-120"/>
              </a:rPr>
              <a:t>15′</a:t>
            </a:r>
            <a:endParaRPr lang="fr-FR" sz="1000" dirty="0"/>
          </a:p>
        </p:txBody>
      </p:sp>
      <p:sp>
        <p:nvSpPr>
          <p:cNvPr id="20" name="Shape 17"/>
          <p:cNvSpPr/>
          <p:nvPr/>
        </p:nvSpPr>
        <p:spPr>
          <a:xfrm>
            <a:off x="2785811" y="2011680"/>
            <a:ext cx="1072866" cy="822960"/>
          </a:xfrm>
          <a:prstGeom prst="rect">
            <a:avLst/>
          </a:prstGeom>
          <a:solidFill>
            <a:srgbClr val="F5C242"/>
          </a:solidFill>
          <a:ln w="6350">
            <a:solidFill>
              <a:srgbClr val="F5C242"/>
            </a:solidFill>
            <a:prstDash val="solid"/>
          </a:ln>
        </p:spPr>
      </p:sp>
      <p:sp>
        <p:nvSpPr>
          <p:cNvPr id="21" name="Text 18"/>
          <p:cNvSpPr txBox="1"/>
          <p:nvPr/>
        </p:nvSpPr>
        <p:spPr>
          <a:xfrm>
            <a:off x="2840675" y="2011680"/>
            <a:ext cx="963138" cy="822960"/>
          </a:xfrm>
          <a:prstGeom prst="rect">
            <a:avLst/>
          </a:prstGeom>
          <a:noFill/>
          <a:ln/>
        </p:spPr>
        <p:txBody>
          <a:bodyPr wrap="square" lIns="0" tIns="0" rIns="0" bIns="0" rtlCol="0" anchor="ctr"/>
          <a:lstStyle/>
          <a:p>
            <a:pPr marL="0" indent="0" algn="ctr">
              <a:buNone/>
            </a:pPr>
            <a:r>
              <a:rPr lang="fr-FR" sz="1200" b="1" dirty="0">
                <a:solidFill>
                  <a:srgbClr val="00553A"/>
                </a:solidFill>
                <a:latin typeface="Calibri" pitchFamily="34" charset="0"/>
                <a:ea typeface="Calibri" pitchFamily="34" charset="-122"/>
                <a:cs typeface="Calibri" pitchFamily="34" charset="-120"/>
              </a:rPr>
              <a:t>Labo A2</a:t>
            </a:r>
            <a:endParaRPr lang="fr-FR" sz="1200" dirty="0"/>
          </a:p>
        </p:txBody>
      </p:sp>
      <p:sp>
        <p:nvSpPr>
          <p:cNvPr id="22" name="Text 19"/>
          <p:cNvSpPr txBox="1"/>
          <p:nvPr/>
        </p:nvSpPr>
        <p:spPr>
          <a:xfrm>
            <a:off x="2767523" y="2907792"/>
            <a:ext cx="914400" cy="228600"/>
          </a:xfrm>
          <a:prstGeom prst="rect">
            <a:avLst/>
          </a:prstGeom>
          <a:noFill/>
          <a:ln/>
        </p:spPr>
        <p:txBody>
          <a:bodyPr wrap="square" lIns="0" tIns="0" rIns="0" bIns="0" rtlCol="0" anchor="t"/>
          <a:lstStyle/>
          <a:p>
            <a:pPr marL="0" indent="0">
              <a:buNone/>
            </a:pPr>
            <a:r>
              <a:rPr lang="fr-FR" sz="1000" b="1" dirty="0">
                <a:solidFill>
                  <a:srgbClr val="5E6964"/>
                </a:solidFill>
                <a:latin typeface="Calibri" pitchFamily="34" charset="0"/>
                <a:ea typeface="Calibri" pitchFamily="34" charset="-122"/>
                <a:cs typeface="Calibri" pitchFamily="34" charset="-120"/>
              </a:rPr>
              <a:t>30′</a:t>
            </a:r>
            <a:endParaRPr lang="fr-FR" sz="1000" dirty="0"/>
          </a:p>
        </p:txBody>
      </p:sp>
      <p:sp>
        <p:nvSpPr>
          <p:cNvPr id="23" name="Shape 20"/>
          <p:cNvSpPr/>
          <p:nvPr/>
        </p:nvSpPr>
        <p:spPr>
          <a:xfrm>
            <a:off x="3895253" y="2011680"/>
            <a:ext cx="1072866" cy="822960"/>
          </a:xfrm>
          <a:prstGeom prst="rect">
            <a:avLst/>
          </a:prstGeom>
          <a:solidFill>
            <a:srgbClr val="D5DED9"/>
          </a:solidFill>
          <a:ln w="6350">
            <a:solidFill>
              <a:srgbClr val="D5DED9"/>
            </a:solidFill>
            <a:prstDash val="solid"/>
          </a:ln>
        </p:spPr>
      </p:sp>
      <p:sp>
        <p:nvSpPr>
          <p:cNvPr id="24" name="Text 21"/>
          <p:cNvSpPr txBox="1"/>
          <p:nvPr/>
        </p:nvSpPr>
        <p:spPr>
          <a:xfrm>
            <a:off x="3950117" y="2011680"/>
            <a:ext cx="963138" cy="822960"/>
          </a:xfrm>
          <a:prstGeom prst="rect">
            <a:avLst/>
          </a:prstGeom>
          <a:noFill/>
          <a:ln/>
        </p:spPr>
        <p:txBody>
          <a:bodyPr wrap="square" lIns="0" tIns="0" rIns="0" bIns="0" rtlCol="0" anchor="ctr"/>
          <a:lstStyle/>
          <a:p>
            <a:pPr marL="0" indent="0" algn="ctr">
              <a:buNone/>
            </a:pPr>
            <a:r>
              <a:rPr lang="fr-FR" sz="1200" b="1" dirty="0">
                <a:solidFill>
                  <a:srgbClr val="231F20"/>
                </a:solidFill>
                <a:latin typeface="Calibri" pitchFamily="34" charset="0"/>
                <a:ea typeface="Calibri" pitchFamily="34" charset="-122"/>
                <a:cs typeface="Calibri" pitchFamily="34" charset="-120"/>
              </a:rPr>
              <a:t>Pause</a:t>
            </a:r>
            <a:endParaRPr lang="fr-FR" sz="1200" dirty="0"/>
          </a:p>
        </p:txBody>
      </p:sp>
      <p:sp>
        <p:nvSpPr>
          <p:cNvPr id="25" name="Text 22"/>
          <p:cNvSpPr txBox="1"/>
          <p:nvPr/>
        </p:nvSpPr>
        <p:spPr>
          <a:xfrm>
            <a:off x="3876965" y="2907792"/>
            <a:ext cx="914400" cy="228600"/>
          </a:xfrm>
          <a:prstGeom prst="rect">
            <a:avLst/>
          </a:prstGeom>
          <a:noFill/>
          <a:ln/>
        </p:spPr>
        <p:txBody>
          <a:bodyPr wrap="square" lIns="0" tIns="0" rIns="0" bIns="0" rtlCol="0" anchor="t"/>
          <a:lstStyle/>
          <a:p>
            <a:pPr marL="0" indent="0">
              <a:buNone/>
            </a:pPr>
            <a:r>
              <a:rPr lang="fr-FR" sz="1000" b="1" dirty="0">
                <a:solidFill>
                  <a:srgbClr val="5E6964"/>
                </a:solidFill>
                <a:latin typeface="Calibri" pitchFamily="34" charset="0"/>
                <a:ea typeface="Calibri" pitchFamily="34" charset="-122"/>
                <a:cs typeface="Calibri" pitchFamily="34" charset="-120"/>
              </a:rPr>
              <a:t>45′</a:t>
            </a:r>
            <a:endParaRPr lang="fr-FR" sz="1000" dirty="0"/>
          </a:p>
        </p:txBody>
      </p:sp>
      <p:sp>
        <p:nvSpPr>
          <p:cNvPr id="26" name="Shape 23"/>
          <p:cNvSpPr/>
          <p:nvPr/>
        </p:nvSpPr>
        <p:spPr>
          <a:xfrm>
            <a:off x="5004694" y="2011680"/>
            <a:ext cx="2182307" cy="822960"/>
          </a:xfrm>
          <a:prstGeom prst="rect">
            <a:avLst/>
          </a:prstGeom>
          <a:solidFill>
            <a:srgbClr val="00704A"/>
          </a:solidFill>
          <a:ln w="6350">
            <a:solidFill>
              <a:srgbClr val="00704A"/>
            </a:solidFill>
            <a:prstDash val="solid"/>
          </a:ln>
        </p:spPr>
      </p:sp>
      <p:sp>
        <p:nvSpPr>
          <p:cNvPr id="27" name="Text 24"/>
          <p:cNvSpPr txBox="1"/>
          <p:nvPr/>
        </p:nvSpPr>
        <p:spPr>
          <a:xfrm>
            <a:off x="5059558" y="2011680"/>
            <a:ext cx="2072579" cy="822960"/>
          </a:xfrm>
          <a:prstGeom prst="rect">
            <a:avLst/>
          </a:prstGeom>
          <a:noFill/>
          <a:ln/>
        </p:spPr>
        <p:txBody>
          <a:bodyPr wrap="square" lIns="0" tIns="0" rIns="0" bIns="0" rtlCol="0" anchor="ctr"/>
          <a:lstStyle/>
          <a:p>
            <a:pPr marL="0" indent="0" algn="ctr">
              <a:buNone/>
            </a:pPr>
            <a:r>
              <a:rPr lang="fr-FR" sz="1200" b="1" dirty="0">
                <a:solidFill>
                  <a:srgbClr val="FFFFFF"/>
                </a:solidFill>
                <a:latin typeface="Calibri" pitchFamily="34" charset="0"/>
                <a:ea typeface="Calibri" pitchFamily="34" charset="-122"/>
                <a:cs typeface="Calibri" pitchFamily="34" charset="-120"/>
              </a:rPr>
              <a:t>Applications</a:t>
            </a:r>
            <a:endParaRPr lang="fr-FR" sz="1200" dirty="0"/>
          </a:p>
        </p:txBody>
      </p:sp>
      <p:sp>
        <p:nvSpPr>
          <p:cNvPr id="28" name="Text 25"/>
          <p:cNvSpPr txBox="1"/>
          <p:nvPr/>
        </p:nvSpPr>
        <p:spPr>
          <a:xfrm>
            <a:off x="4986406" y="2907792"/>
            <a:ext cx="914400" cy="228600"/>
          </a:xfrm>
          <a:prstGeom prst="rect">
            <a:avLst/>
          </a:prstGeom>
          <a:noFill/>
          <a:ln/>
        </p:spPr>
        <p:txBody>
          <a:bodyPr wrap="square" lIns="0" tIns="0" rIns="0" bIns="0" rtlCol="0" anchor="t"/>
          <a:lstStyle/>
          <a:p>
            <a:pPr marL="0" indent="0">
              <a:buNone/>
            </a:pPr>
            <a:r>
              <a:rPr lang="fr-FR" sz="1000" b="1" dirty="0">
                <a:solidFill>
                  <a:srgbClr val="5E6964"/>
                </a:solidFill>
                <a:latin typeface="Calibri" pitchFamily="34" charset="0"/>
                <a:ea typeface="Calibri" pitchFamily="34" charset="-122"/>
                <a:cs typeface="Calibri" pitchFamily="34" charset="-120"/>
              </a:rPr>
              <a:t>60′</a:t>
            </a:r>
            <a:endParaRPr lang="fr-FR" sz="1000" dirty="0"/>
          </a:p>
        </p:txBody>
      </p:sp>
      <p:sp>
        <p:nvSpPr>
          <p:cNvPr id="29" name="Shape 26"/>
          <p:cNvSpPr/>
          <p:nvPr/>
        </p:nvSpPr>
        <p:spPr>
          <a:xfrm>
            <a:off x="7223577" y="2011680"/>
            <a:ext cx="3291749" cy="822960"/>
          </a:xfrm>
          <a:prstGeom prst="rect">
            <a:avLst/>
          </a:prstGeom>
          <a:solidFill>
            <a:srgbClr val="F5C242"/>
          </a:solidFill>
          <a:ln w="6350">
            <a:solidFill>
              <a:srgbClr val="F5C242"/>
            </a:solidFill>
            <a:prstDash val="solid"/>
          </a:ln>
        </p:spPr>
      </p:sp>
      <p:sp>
        <p:nvSpPr>
          <p:cNvPr id="30" name="Text 27"/>
          <p:cNvSpPr txBox="1"/>
          <p:nvPr/>
        </p:nvSpPr>
        <p:spPr>
          <a:xfrm>
            <a:off x="7278441" y="2011680"/>
            <a:ext cx="3182021" cy="822960"/>
          </a:xfrm>
          <a:prstGeom prst="rect">
            <a:avLst/>
          </a:prstGeom>
          <a:noFill/>
          <a:ln/>
        </p:spPr>
        <p:txBody>
          <a:bodyPr wrap="square" lIns="0" tIns="0" rIns="0" bIns="0" rtlCol="0" anchor="ctr"/>
          <a:lstStyle/>
          <a:p>
            <a:pPr marL="0" indent="0" algn="ctr">
              <a:buNone/>
            </a:pPr>
            <a:r>
              <a:rPr lang="fr-FR" sz="1200" b="1" dirty="0">
                <a:solidFill>
                  <a:srgbClr val="00553A"/>
                </a:solidFill>
                <a:latin typeface="Calibri" pitchFamily="34" charset="0"/>
                <a:ea typeface="Calibri" pitchFamily="34" charset="-122"/>
                <a:cs typeface="Calibri" pitchFamily="34" charset="-120"/>
              </a:rPr>
              <a:t>Labo B</a:t>
            </a:r>
            <a:endParaRPr lang="fr-FR" sz="1200" dirty="0"/>
          </a:p>
        </p:txBody>
      </p:sp>
      <p:sp>
        <p:nvSpPr>
          <p:cNvPr id="31" name="Text 28"/>
          <p:cNvSpPr txBox="1"/>
          <p:nvPr/>
        </p:nvSpPr>
        <p:spPr>
          <a:xfrm>
            <a:off x="7205289" y="2907792"/>
            <a:ext cx="914400" cy="228600"/>
          </a:xfrm>
          <a:prstGeom prst="rect">
            <a:avLst/>
          </a:prstGeom>
          <a:noFill/>
          <a:ln/>
        </p:spPr>
        <p:txBody>
          <a:bodyPr wrap="square" lIns="0" tIns="0" rIns="0" bIns="0" rtlCol="0" anchor="t"/>
          <a:lstStyle/>
          <a:p>
            <a:pPr marL="0" indent="0">
              <a:buNone/>
            </a:pPr>
            <a:r>
              <a:rPr lang="fr-FR" sz="1000" b="1" dirty="0">
                <a:solidFill>
                  <a:srgbClr val="5E6964"/>
                </a:solidFill>
                <a:latin typeface="Calibri" pitchFamily="34" charset="0"/>
                <a:ea typeface="Calibri" pitchFamily="34" charset="-122"/>
                <a:cs typeface="Calibri" pitchFamily="34" charset="-120"/>
              </a:rPr>
              <a:t>90′</a:t>
            </a:r>
            <a:endParaRPr lang="fr-FR" sz="1000" dirty="0"/>
          </a:p>
        </p:txBody>
      </p:sp>
      <p:sp>
        <p:nvSpPr>
          <p:cNvPr id="32" name="Shape 29"/>
          <p:cNvSpPr/>
          <p:nvPr/>
        </p:nvSpPr>
        <p:spPr>
          <a:xfrm>
            <a:off x="10551902" y="2011680"/>
            <a:ext cx="1072866" cy="822960"/>
          </a:xfrm>
          <a:prstGeom prst="rect">
            <a:avLst/>
          </a:prstGeom>
          <a:solidFill>
            <a:srgbClr val="00A86A"/>
          </a:solidFill>
          <a:ln w="6350">
            <a:solidFill>
              <a:srgbClr val="00A86A"/>
            </a:solidFill>
            <a:prstDash val="solid"/>
          </a:ln>
        </p:spPr>
      </p:sp>
      <p:sp>
        <p:nvSpPr>
          <p:cNvPr id="33" name="Text 30"/>
          <p:cNvSpPr txBox="1"/>
          <p:nvPr/>
        </p:nvSpPr>
        <p:spPr>
          <a:xfrm>
            <a:off x="10606766" y="2011680"/>
            <a:ext cx="963138" cy="822960"/>
          </a:xfrm>
          <a:prstGeom prst="rect">
            <a:avLst/>
          </a:prstGeom>
          <a:noFill/>
          <a:ln/>
        </p:spPr>
        <p:txBody>
          <a:bodyPr wrap="square" lIns="0" tIns="0" rIns="0" bIns="0" rtlCol="0" anchor="ctr"/>
          <a:lstStyle/>
          <a:p>
            <a:pPr marL="0" indent="0" algn="ctr">
              <a:buNone/>
            </a:pPr>
            <a:r>
              <a:rPr lang="fr-FR" sz="1200" b="1" dirty="0">
                <a:solidFill>
                  <a:srgbClr val="FFFFFF"/>
                </a:solidFill>
                <a:latin typeface="Calibri" pitchFamily="34" charset="0"/>
                <a:ea typeface="Calibri" pitchFamily="34" charset="-122"/>
                <a:cs typeface="Calibri" pitchFamily="34" charset="-120"/>
              </a:rPr>
              <a:t>Restitution</a:t>
            </a:r>
            <a:endParaRPr lang="fr-FR" sz="1200" dirty="0"/>
          </a:p>
        </p:txBody>
      </p:sp>
      <p:sp>
        <p:nvSpPr>
          <p:cNvPr id="34" name="Text 31"/>
          <p:cNvSpPr txBox="1"/>
          <p:nvPr/>
        </p:nvSpPr>
        <p:spPr>
          <a:xfrm>
            <a:off x="10533614" y="2907792"/>
            <a:ext cx="914400" cy="228600"/>
          </a:xfrm>
          <a:prstGeom prst="rect">
            <a:avLst/>
          </a:prstGeom>
          <a:noFill/>
          <a:ln/>
        </p:spPr>
        <p:txBody>
          <a:bodyPr wrap="square" lIns="0" tIns="0" rIns="0" bIns="0" rtlCol="0" anchor="t"/>
          <a:lstStyle/>
          <a:p>
            <a:pPr marL="0" indent="0">
              <a:buNone/>
            </a:pPr>
            <a:r>
              <a:rPr lang="fr-FR" sz="1000" b="1" dirty="0">
                <a:solidFill>
                  <a:srgbClr val="5E6964"/>
                </a:solidFill>
                <a:latin typeface="Calibri" pitchFamily="34" charset="0"/>
                <a:ea typeface="Calibri" pitchFamily="34" charset="-122"/>
                <a:cs typeface="Calibri" pitchFamily="34" charset="-120"/>
              </a:rPr>
              <a:t>135′</a:t>
            </a:r>
            <a:endParaRPr lang="fr-FR" sz="1000" dirty="0"/>
          </a:p>
        </p:txBody>
      </p:sp>
      <p:sp>
        <p:nvSpPr>
          <p:cNvPr id="35" name="Text 32"/>
          <p:cNvSpPr txBox="1"/>
          <p:nvPr/>
        </p:nvSpPr>
        <p:spPr>
          <a:xfrm>
            <a:off x="11185855" y="2907792"/>
            <a:ext cx="457200" cy="228600"/>
          </a:xfrm>
          <a:prstGeom prst="rect">
            <a:avLst/>
          </a:prstGeom>
          <a:noFill/>
          <a:ln/>
        </p:spPr>
        <p:txBody>
          <a:bodyPr wrap="square" lIns="0" tIns="0" rIns="0" bIns="0" rtlCol="0" anchor="t"/>
          <a:lstStyle/>
          <a:p>
            <a:pPr marL="0" indent="0" algn="r">
              <a:buNone/>
            </a:pPr>
            <a:r>
              <a:rPr lang="fr-FR" sz="1000" b="1" dirty="0">
                <a:solidFill>
                  <a:srgbClr val="5E6964"/>
                </a:solidFill>
                <a:latin typeface="Calibri" pitchFamily="34" charset="0"/>
                <a:ea typeface="Calibri" pitchFamily="34" charset="-122"/>
                <a:cs typeface="Calibri" pitchFamily="34" charset="-120"/>
              </a:rPr>
              <a:t>150′</a:t>
            </a:r>
            <a:endParaRPr lang="fr-FR" sz="1000" dirty="0"/>
          </a:p>
        </p:txBody>
      </p:sp>
      <p:sp>
        <p:nvSpPr>
          <p:cNvPr id="36" name="Shape 33"/>
          <p:cNvSpPr/>
          <p:nvPr/>
        </p:nvSpPr>
        <p:spPr>
          <a:xfrm>
            <a:off x="548640" y="3429000"/>
            <a:ext cx="2651760" cy="2148840"/>
          </a:xfrm>
          <a:prstGeom prst="roundRect">
            <a:avLst>
              <a:gd name="adj" fmla="val 3404"/>
            </a:avLst>
          </a:prstGeom>
          <a:solidFill>
            <a:srgbClr val="F4F7F5"/>
          </a:solidFill>
          <a:ln w="9525">
            <a:solidFill>
              <a:srgbClr val="D5DED9"/>
            </a:solidFill>
            <a:prstDash val="solid"/>
          </a:ln>
        </p:spPr>
      </p:sp>
      <p:sp>
        <p:nvSpPr>
          <p:cNvPr id="37" name="Shape 34"/>
          <p:cNvSpPr/>
          <p:nvPr/>
        </p:nvSpPr>
        <p:spPr>
          <a:xfrm>
            <a:off x="749808" y="3630168"/>
            <a:ext cx="457200" cy="457200"/>
          </a:xfrm>
          <a:prstGeom prst="ellipse">
            <a:avLst/>
          </a:prstGeom>
          <a:solidFill>
            <a:srgbClr val="00704A"/>
          </a:solidFill>
          <a:ln w="12700">
            <a:solidFill>
              <a:srgbClr val="00704A"/>
            </a:solidFill>
            <a:prstDash val="solid"/>
          </a:ln>
        </p:spPr>
      </p:sp>
      <p:pic>
        <p:nvPicPr>
          <p:cNvPr id="38" name="Image 1" descr="preencoded.png"/>
          <p:cNvPicPr>
            <a:picLocks noChangeAspect="1"/>
          </p:cNvPicPr>
          <p:nvPr/>
        </p:nvPicPr>
        <p:blipFill>
          <a:blip r:embed="rId4"/>
          <a:stretch>
            <a:fillRect/>
          </a:stretch>
        </p:blipFill>
        <p:spPr>
          <a:xfrm>
            <a:off x="868680" y="3749040"/>
            <a:ext cx="219456" cy="219456"/>
          </a:xfrm>
          <a:prstGeom prst="rect">
            <a:avLst/>
          </a:prstGeom>
        </p:spPr>
      </p:pic>
      <p:sp>
        <p:nvSpPr>
          <p:cNvPr id="39" name="Text 35"/>
          <p:cNvSpPr txBox="1"/>
          <p:nvPr/>
        </p:nvSpPr>
        <p:spPr>
          <a:xfrm>
            <a:off x="1325880" y="3630168"/>
            <a:ext cx="1737360" cy="45720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Concepts · 15 min</a:t>
            </a:r>
            <a:endParaRPr lang="fr-FR" sz="1300" dirty="0"/>
          </a:p>
        </p:txBody>
      </p:sp>
      <p:sp>
        <p:nvSpPr>
          <p:cNvPr id="40" name="Text 36"/>
          <p:cNvSpPr txBox="1"/>
          <p:nvPr/>
        </p:nvSpPr>
        <p:spPr>
          <a:xfrm>
            <a:off x="749808" y="4251960"/>
            <a:ext cx="2249424" cy="12344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Tour rapide de la physique, des capteurs et des produits. Les diapositives de référence sont signalées — y revenir pendant les labos.</a:t>
            </a:r>
            <a:endParaRPr lang="fr-FR" sz="1150" dirty="0"/>
          </a:p>
        </p:txBody>
      </p:sp>
      <p:sp>
        <p:nvSpPr>
          <p:cNvPr id="41" name="Shape 37"/>
          <p:cNvSpPr/>
          <p:nvPr/>
        </p:nvSpPr>
        <p:spPr>
          <a:xfrm>
            <a:off x="3355848" y="3429000"/>
            <a:ext cx="2651760" cy="2148840"/>
          </a:xfrm>
          <a:prstGeom prst="roundRect">
            <a:avLst>
              <a:gd name="adj" fmla="val 3404"/>
            </a:avLst>
          </a:prstGeom>
          <a:solidFill>
            <a:srgbClr val="F4F7F5"/>
          </a:solidFill>
          <a:ln w="9525">
            <a:solidFill>
              <a:srgbClr val="D5DED9"/>
            </a:solidFill>
            <a:prstDash val="solid"/>
          </a:ln>
        </p:spPr>
      </p:sp>
      <p:sp>
        <p:nvSpPr>
          <p:cNvPr id="42" name="Shape 38"/>
          <p:cNvSpPr/>
          <p:nvPr/>
        </p:nvSpPr>
        <p:spPr>
          <a:xfrm>
            <a:off x="3557016" y="3630168"/>
            <a:ext cx="457200" cy="457200"/>
          </a:xfrm>
          <a:prstGeom prst="ellipse">
            <a:avLst/>
          </a:prstGeom>
          <a:solidFill>
            <a:srgbClr val="F5C242"/>
          </a:solidFill>
          <a:ln w="12700">
            <a:solidFill>
              <a:srgbClr val="F5C242"/>
            </a:solidFill>
            <a:prstDash val="solid"/>
          </a:ln>
        </p:spPr>
      </p:sp>
      <p:pic>
        <p:nvPicPr>
          <p:cNvPr id="43" name="Image 2" descr="preencoded.png"/>
          <p:cNvPicPr>
            <a:picLocks noChangeAspect="1"/>
          </p:cNvPicPr>
          <p:nvPr/>
        </p:nvPicPr>
        <p:blipFill>
          <a:blip r:embed="rId5"/>
          <a:stretch>
            <a:fillRect/>
          </a:stretch>
        </p:blipFill>
        <p:spPr>
          <a:xfrm>
            <a:off x="3675888" y="3749040"/>
            <a:ext cx="219456" cy="219456"/>
          </a:xfrm>
          <a:prstGeom prst="rect">
            <a:avLst/>
          </a:prstGeom>
        </p:spPr>
      </p:pic>
      <p:sp>
        <p:nvSpPr>
          <p:cNvPr id="44" name="Text 39"/>
          <p:cNvSpPr txBox="1"/>
          <p:nvPr/>
        </p:nvSpPr>
        <p:spPr>
          <a:xfrm>
            <a:off x="4133088" y="3630168"/>
            <a:ext cx="1737360" cy="45720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Labo A · 30 min</a:t>
            </a:r>
            <a:endParaRPr lang="fr-FR" sz="1300" dirty="0"/>
          </a:p>
        </p:txBody>
      </p:sp>
      <p:sp>
        <p:nvSpPr>
          <p:cNvPr id="45" name="Text 40"/>
          <p:cNvSpPr txBox="1"/>
          <p:nvPr/>
        </p:nvSpPr>
        <p:spPr>
          <a:xfrm>
            <a:off x="3557016" y="4251960"/>
            <a:ext cx="2249424" cy="12344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Télécharger, découper, masquer et agréger un pays. Résultat : une série nationale mensuelle et une courte note sur ses limites.</a:t>
            </a:r>
            <a:endParaRPr lang="fr-FR" sz="1150" dirty="0"/>
          </a:p>
        </p:txBody>
      </p:sp>
      <p:sp>
        <p:nvSpPr>
          <p:cNvPr id="46" name="Shape 41"/>
          <p:cNvSpPr/>
          <p:nvPr/>
        </p:nvSpPr>
        <p:spPr>
          <a:xfrm>
            <a:off x="6163056" y="3429000"/>
            <a:ext cx="2651760" cy="2148840"/>
          </a:xfrm>
          <a:prstGeom prst="roundRect">
            <a:avLst>
              <a:gd name="adj" fmla="val 3404"/>
            </a:avLst>
          </a:prstGeom>
          <a:solidFill>
            <a:srgbClr val="F4F7F5"/>
          </a:solidFill>
          <a:ln w="9525">
            <a:solidFill>
              <a:srgbClr val="D5DED9"/>
            </a:solidFill>
            <a:prstDash val="solid"/>
          </a:ln>
        </p:spPr>
      </p:sp>
      <p:sp>
        <p:nvSpPr>
          <p:cNvPr id="47" name="Shape 42"/>
          <p:cNvSpPr/>
          <p:nvPr/>
        </p:nvSpPr>
        <p:spPr>
          <a:xfrm>
            <a:off x="6364224" y="3630168"/>
            <a:ext cx="457200" cy="457200"/>
          </a:xfrm>
          <a:prstGeom prst="ellipse">
            <a:avLst/>
          </a:prstGeom>
          <a:solidFill>
            <a:srgbClr val="F5C242"/>
          </a:solidFill>
          <a:ln w="12700">
            <a:solidFill>
              <a:srgbClr val="F5C242"/>
            </a:solidFill>
            <a:prstDash val="solid"/>
          </a:ln>
        </p:spPr>
      </p:sp>
      <p:pic>
        <p:nvPicPr>
          <p:cNvPr id="48" name="Image 3" descr="preencoded.png"/>
          <p:cNvPicPr>
            <a:picLocks noChangeAspect="1"/>
          </p:cNvPicPr>
          <p:nvPr/>
        </p:nvPicPr>
        <p:blipFill>
          <a:blip r:embed="rId6"/>
          <a:stretch>
            <a:fillRect/>
          </a:stretch>
        </p:blipFill>
        <p:spPr>
          <a:xfrm>
            <a:off x="6483096" y="3749040"/>
            <a:ext cx="219456" cy="219456"/>
          </a:xfrm>
          <a:prstGeom prst="rect">
            <a:avLst/>
          </a:prstGeom>
        </p:spPr>
      </p:pic>
      <p:sp>
        <p:nvSpPr>
          <p:cNvPr id="49" name="Text 43"/>
          <p:cNvSpPr txBox="1"/>
          <p:nvPr/>
        </p:nvSpPr>
        <p:spPr>
          <a:xfrm>
            <a:off x="6940296" y="3630168"/>
            <a:ext cx="1737360" cy="45720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Labo B · 45 min</a:t>
            </a:r>
            <a:endParaRPr lang="fr-FR" sz="1300" dirty="0"/>
          </a:p>
        </p:txBody>
      </p:sp>
      <p:sp>
        <p:nvSpPr>
          <p:cNvPr id="50" name="Text 44"/>
          <p:cNvSpPr txBox="1"/>
          <p:nvPr/>
        </p:nvSpPr>
        <p:spPr>
          <a:xfrm>
            <a:off x="6364224" y="4251960"/>
            <a:ext cx="2249424" cy="12344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Choisir production, électrification, urbanisation ou choc. Comparer votre indicateur NTL à une série officielle.</a:t>
            </a:r>
            <a:endParaRPr lang="fr-FR" sz="1150" dirty="0"/>
          </a:p>
        </p:txBody>
      </p:sp>
      <p:sp>
        <p:nvSpPr>
          <p:cNvPr id="51" name="Shape 45"/>
          <p:cNvSpPr/>
          <p:nvPr/>
        </p:nvSpPr>
        <p:spPr>
          <a:xfrm>
            <a:off x="8970264" y="3429000"/>
            <a:ext cx="2651760" cy="2148840"/>
          </a:xfrm>
          <a:prstGeom prst="roundRect">
            <a:avLst>
              <a:gd name="adj" fmla="val 3404"/>
            </a:avLst>
          </a:prstGeom>
          <a:solidFill>
            <a:srgbClr val="F4F7F5"/>
          </a:solidFill>
          <a:ln w="9525">
            <a:solidFill>
              <a:srgbClr val="D5DED9"/>
            </a:solidFill>
            <a:prstDash val="solid"/>
          </a:ln>
        </p:spPr>
      </p:sp>
      <p:sp>
        <p:nvSpPr>
          <p:cNvPr id="52" name="Shape 46"/>
          <p:cNvSpPr/>
          <p:nvPr/>
        </p:nvSpPr>
        <p:spPr>
          <a:xfrm>
            <a:off x="9171432" y="3630168"/>
            <a:ext cx="457200" cy="457200"/>
          </a:xfrm>
          <a:prstGeom prst="ellipse">
            <a:avLst/>
          </a:prstGeom>
          <a:solidFill>
            <a:srgbClr val="00704A"/>
          </a:solidFill>
          <a:ln w="12700">
            <a:solidFill>
              <a:srgbClr val="00704A"/>
            </a:solidFill>
            <a:prstDash val="solid"/>
          </a:ln>
        </p:spPr>
      </p:sp>
      <p:pic>
        <p:nvPicPr>
          <p:cNvPr id="53" name="Image 4" descr="preencoded.png"/>
          <p:cNvPicPr>
            <a:picLocks noChangeAspect="1"/>
          </p:cNvPicPr>
          <p:nvPr/>
        </p:nvPicPr>
        <p:blipFill>
          <a:blip r:embed="rId7"/>
          <a:stretch>
            <a:fillRect/>
          </a:stretch>
        </p:blipFill>
        <p:spPr>
          <a:xfrm>
            <a:off x="9290304" y="3749040"/>
            <a:ext cx="219456" cy="219456"/>
          </a:xfrm>
          <a:prstGeom prst="rect">
            <a:avLst/>
          </a:prstGeom>
        </p:spPr>
      </p:pic>
      <p:sp>
        <p:nvSpPr>
          <p:cNvPr id="54" name="Text 47"/>
          <p:cNvSpPr txBox="1"/>
          <p:nvPr/>
        </p:nvSpPr>
        <p:spPr>
          <a:xfrm>
            <a:off x="9747504" y="3630168"/>
            <a:ext cx="1737360" cy="45720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Restitution · 15 min</a:t>
            </a:r>
            <a:endParaRPr lang="fr-FR" sz="1300" dirty="0"/>
          </a:p>
        </p:txBody>
      </p:sp>
      <p:sp>
        <p:nvSpPr>
          <p:cNvPr id="55" name="Text 48"/>
          <p:cNvSpPr txBox="1"/>
          <p:nvPr/>
        </p:nvSpPr>
        <p:spPr>
          <a:xfrm>
            <a:off x="9171432" y="4251960"/>
            <a:ext cx="2249424" cy="12344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Chaque table indique en une phrase où la relation a tenu, où elle s’est rompue, et pourquoi.</a:t>
            </a:r>
            <a:endParaRPr lang="fr-FR" sz="1150" dirty="0"/>
          </a:p>
        </p:txBody>
      </p:sp>
      <p:sp>
        <p:nvSpPr>
          <p:cNvPr id="56" name="Text 49"/>
          <p:cNvSpPr txBox="1"/>
          <p:nvPr/>
        </p:nvSpPr>
        <p:spPr>
          <a:xfrm>
            <a:off x="548640" y="5806440"/>
            <a:ext cx="11094415" cy="320040"/>
          </a:xfrm>
          <a:prstGeom prst="rect">
            <a:avLst/>
          </a:prstGeom>
          <a:noFill/>
          <a:ln/>
        </p:spPr>
        <p:txBody>
          <a:bodyPr wrap="square" lIns="0" tIns="0" rIns="0" bIns="0" rtlCol="0" anchor="t"/>
          <a:lstStyle/>
          <a:p>
            <a:pPr marL="0" indent="0">
              <a:buNone/>
            </a:pPr>
            <a:r>
              <a:rPr lang="fr-FR" sz="1150" b="1" dirty="0">
                <a:solidFill>
                  <a:srgbClr val="00704A"/>
                </a:solidFill>
                <a:latin typeface="Calibri" pitchFamily="34" charset="0"/>
                <a:ea typeface="Calibri" pitchFamily="34" charset="-122"/>
                <a:cs typeface="Calibri" pitchFamily="34" charset="-120"/>
              </a:rPr>
              <a:t>Ensuite  Les limites administratives, grilles et statistiques zonales produites ici sont réutilisables pour les analyses des terres cultivées et du bâti.</a:t>
            </a:r>
            <a:r>
              <a:rPr lang="fr-FR" sz="1150" dirty="0">
                <a:solidFill>
                  <a:srgbClr val="231F20"/>
                </a:solidFill>
                <a:latin typeface="Calibri" pitchFamily="34" charset="0"/>
                <a:ea typeface="Calibri" pitchFamily="34" charset="-122"/>
                <a:cs typeface="Calibri" pitchFamily="34" charset="-120"/>
              </a:rPr>
              <a:t/>
            </a:r>
            <a:endParaRPr lang="fr-FR"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Côte du Maghreb  ·  Rendu illustratif : populations des localités GeoNames, frontières Natural Earth</a:t>
            </a:r>
            <a:endParaRPr lang="fr-FR"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fr-FR" sz="1100" b="1" kern="0" spc="300" dirty="0">
                <a:solidFill>
                  <a:srgbClr val="7BCBA9"/>
                </a:solidFill>
                <a:latin typeface="Calibri" pitchFamily="34" charset="0"/>
                <a:ea typeface="Calibri" pitchFamily="34" charset="-122"/>
                <a:cs typeface="Calibri" pitchFamily="34" charset="-120"/>
              </a:rPr>
              <a:t>SECTION 1</a:t>
            </a:r>
            <a:endParaRPr lang="fr-FR"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fr-FR" sz="8000" b="1" dirty="0">
                <a:solidFill>
                  <a:srgbClr val="F5C242"/>
                </a:solidFill>
                <a:latin typeface="Calibri" pitchFamily="34" charset="0"/>
                <a:ea typeface="Calibri" pitchFamily="34" charset="-122"/>
                <a:cs typeface="Calibri" pitchFamily="34" charset="-120"/>
              </a:rPr>
              <a:t>01</a:t>
            </a:r>
            <a:endParaRPr lang="fr-FR"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fr-FR" sz="3800" b="1" dirty="0">
                <a:solidFill>
                  <a:srgbClr val="FFFFFF"/>
                </a:solidFill>
                <a:latin typeface="Calibri" pitchFamily="34" charset="0"/>
                <a:ea typeface="Calibri" pitchFamily="34" charset="-122"/>
                <a:cs typeface="Calibri" pitchFamily="34" charset="-120"/>
              </a:rPr>
              <a:t>Fondements</a:t>
            </a:r>
            <a:endParaRPr lang="fr-FR"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fr-FR" sz="1700" i="1" dirty="0">
                <a:solidFill>
                  <a:srgbClr val="CDE8DA"/>
                </a:solidFill>
                <a:latin typeface="Calibri" pitchFamily="34" charset="0"/>
                <a:ea typeface="Calibri" pitchFamily="34" charset="-122"/>
                <a:cs typeface="Calibri" pitchFamily="34" charset="-120"/>
              </a:rPr>
              <a:t>Pourquoi une photo de l’obscurité nous apprendrait-elle quelque chose sur une économie ?</a:t>
            </a:r>
            <a:endParaRPr lang="fr-FR"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fr-FR" sz="1200" dirty="0">
                <a:solidFill>
                  <a:srgbClr val="A9D3BE"/>
                </a:solidFill>
                <a:latin typeface="Calibri" pitchFamily="34" charset="0"/>
                <a:ea typeface="Calibri" pitchFamily="34" charset="-122"/>
                <a:cs typeface="Calibri" pitchFamily="34" charset="-120"/>
              </a:rPr>
              <a:t>L’idée centrale  ·  Définitions  ·  La chaîne d’inférence  ·  Ce que voit le capteur  ·  Pourquoi c’est important</a:t>
            </a:r>
            <a:endParaRPr lang="fr-FR"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fr-FR" sz="1000" b="1" kern="0" spc="100" dirty="0">
                <a:solidFill>
                  <a:srgbClr val="00553A"/>
                </a:solidFill>
                <a:latin typeface="Calibri" pitchFamily="34" charset="0"/>
                <a:ea typeface="Calibri" pitchFamily="34" charset="-122"/>
                <a:cs typeface="Calibri" pitchFamily="34" charset="-120"/>
              </a:rPr>
              <a:t>SÉANCE A  ·  ≈ 5 MIN</a:t>
            </a:r>
            <a:endParaRPr lang="fr-FR"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dirty="0">
                <a:solidFill>
                  <a:srgbClr val="A9D3BE"/>
                </a:solidFill>
                <a:latin typeface="Calibri" pitchFamily="34" charset="0"/>
                <a:ea typeface="Calibri" pitchFamily="34" charset="-122"/>
                <a:cs typeface="Calibri" pitchFamily="34" charset="-120"/>
              </a:rPr>
              <a:t>4</a:t>
            </a:r>
            <a:endParaRPr lang="fr-FR"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01 · FONDEMENTS · L’IDÉE CENTRALE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La lumière trahit l’activité humaine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a:t>
            </a:r>
            <a:endParaRPr lang="fr-FR" sz="900" dirty="0"/>
          </a:p>
        </p:txBody>
      </p:sp>
      <p:sp>
        <p:nvSpPr>
          <p:cNvPr id="12" name="Text 9"/>
          <p:cNvSpPr txBox="1"/>
          <p:nvPr/>
        </p:nvSpPr>
        <p:spPr>
          <a:xfrm>
            <a:off x="548640" y="1371600"/>
            <a:ext cx="6766560" cy="685800"/>
          </a:xfrm>
          <a:prstGeom prst="rect">
            <a:avLst/>
          </a:prstGeom>
          <a:noFill/>
          <a:ln/>
        </p:spPr>
        <p:txBody>
          <a:bodyPr wrap="square" lIns="0" tIns="0" rIns="0" bIns="0" rtlCol="0" anchor="t"/>
          <a:lstStyle/>
          <a:p>
            <a:pPr marL="0" indent="0">
              <a:buNone/>
            </a:pPr>
            <a:r>
              <a:rPr lang="fr-FR" sz="1500" i="1" dirty="0">
                <a:solidFill>
                  <a:srgbClr val="00A86A"/>
                </a:solidFill>
                <a:latin typeface="Calibri" pitchFamily="34" charset="0"/>
                <a:ea typeface="Calibri" pitchFamily="34" charset="-122"/>
                <a:cs typeface="Calibri" pitchFamily="34" charset="-120"/>
              </a:rPr>
              <a:t>Presque tout ce que l’on fait après le coucher du soleil exige de la lumière — et une partie s’échappe vers le haut, dans le champ de vision d’un satellite.</a:t>
            </a:r>
            <a:endParaRPr lang="fr-FR" sz="1500" dirty="0"/>
          </a:p>
        </p:txBody>
      </p:sp>
      <p:sp>
        <p:nvSpPr>
          <p:cNvPr id="13" name="Text 10"/>
          <p:cNvSpPr txBox="1"/>
          <p:nvPr/>
        </p:nvSpPr>
        <p:spPr>
          <a:xfrm>
            <a:off x="548640" y="2103120"/>
            <a:ext cx="6766560" cy="64008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Ce fait physique transforme la face nocturne de la planète en une observation de la présence humaine qu’aucun recensement, enquête ou registre n’égale sur ces quatre propriétés à la fois :</a:t>
            </a:r>
            <a:endParaRPr lang="fr-FR" sz="1250" dirty="0"/>
          </a:p>
        </p:txBody>
      </p:sp>
      <p:sp>
        <p:nvSpPr>
          <p:cNvPr id="14" name="Shape 11"/>
          <p:cNvSpPr/>
          <p:nvPr/>
        </p:nvSpPr>
        <p:spPr>
          <a:xfrm>
            <a:off x="548640" y="2971800"/>
            <a:ext cx="3291840" cy="1261872"/>
          </a:xfrm>
          <a:prstGeom prst="roundRect">
            <a:avLst>
              <a:gd name="adj" fmla="val 5797"/>
            </a:avLst>
          </a:prstGeom>
          <a:solidFill>
            <a:srgbClr val="F4F7F5"/>
          </a:solidFill>
          <a:ln w="9525">
            <a:solidFill>
              <a:srgbClr val="D5DED9"/>
            </a:solidFill>
            <a:prstDash val="solid"/>
          </a:ln>
        </p:spPr>
      </p:sp>
      <p:sp>
        <p:nvSpPr>
          <p:cNvPr id="15" name="Shape 12"/>
          <p:cNvSpPr/>
          <p:nvPr/>
        </p:nvSpPr>
        <p:spPr>
          <a:xfrm>
            <a:off x="749808" y="3282696"/>
            <a:ext cx="640080" cy="640080"/>
          </a:xfrm>
          <a:prstGeom prst="ellipse">
            <a:avLst/>
          </a:prstGeom>
          <a:solidFill>
            <a:srgbClr val="E8F5EF"/>
          </a:solidFill>
          <a:ln w="12700">
            <a:solidFill>
              <a:srgbClr val="E8F5EF"/>
            </a:solidFill>
            <a:prstDash val="solid"/>
          </a:ln>
        </p:spPr>
      </p:sp>
      <p:pic>
        <p:nvPicPr>
          <p:cNvPr id="16" name="Image 1" descr="preencoded.png"/>
          <p:cNvPicPr>
            <a:picLocks noChangeAspect="1"/>
          </p:cNvPicPr>
          <p:nvPr/>
        </p:nvPicPr>
        <p:blipFill>
          <a:blip r:embed="rId4"/>
          <a:stretch>
            <a:fillRect/>
          </a:stretch>
        </p:blipFill>
        <p:spPr>
          <a:xfrm>
            <a:off x="916229" y="3449117"/>
            <a:ext cx="307238" cy="307238"/>
          </a:xfrm>
          <a:prstGeom prst="rect">
            <a:avLst/>
          </a:prstGeom>
        </p:spPr>
      </p:pic>
      <p:sp>
        <p:nvSpPr>
          <p:cNvPr id="17" name="Text 13"/>
          <p:cNvSpPr txBox="1"/>
          <p:nvPr/>
        </p:nvSpPr>
        <p:spPr>
          <a:xfrm>
            <a:off x="1554480" y="3246120"/>
            <a:ext cx="219456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Cohérente partout</a:t>
            </a:r>
            <a:endParaRPr lang="fr-FR" sz="1500" dirty="0"/>
          </a:p>
        </p:txBody>
      </p:sp>
      <p:sp>
        <p:nvSpPr>
          <p:cNvPr id="18" name="Text 14"/>
          <p:cNvSpPr txBox="1"/>
          <p:nvPr/>
        </p:nvSpPr>
        <p:spPr>
          <a:xfrm>
            <a:off x="1554480" y="3630168"/>
            <a:ext cx="2194560" cy="365760"/>
          </a:xfrm>
          <a:prstGeom prst="rect">
            <a:avLst/>
          </a:prstGeom>
          <a:noFill/>
          <a:ln/>
        </p:spPr>
        <p:txBody>
          <a:bodyPr wrap="square" lIns="0" tIns="0" rIns="0" bIns="0" rtlCol="0" anchor="t"/>
          <a:lstStyle/>
          <a:p>
            <a:pPr marL="0" indent="0">
              <a:buNone/>
            </a:pPr>
            <a:r>
              <a:rPr lang="fr-FR" sz="1250" dirty="0">
                <a:solidFill>
                  <a:srgbClr val="5E6964"/>
                </a:solidFill>
                <a:latin typeface="Calibri" pitchFamily="34" charset="0"/>
                <a:ea typeface="Calibri" pitchFamily="34" charset="-122"/>
                <a:cs typeface="Calibri" pitchFamily="34" charset="-120"/>
              </a:rPr>
              <a:t>Même méthode dans tous les pays</a:t>
            </a:r>
            <a:endParaRPr lang="fr-FR" sz="1250" dirty="0"/>
          </a:p>
        </p:txBody>
      </p:sp>
      <p:sp>
        <p:nvSpPr>
          <p:cNvPr id="19" name="Shape 15"/>
          <p:cNvSpPr/>
          <p:nvPr/>
        </p:nvSpPr>
        <p:spPr>
          <a:xfrm>
            <a:off x="3977640" y="2971800"/>
            <a:ext cx="3291840" cy="1261872"/>
          </a:xfrm>
          <a:prstGeom prst="roundRect">
            <a:avLst>
              <a:gd name="adj" fmla="val 5797"/>
            </a:avLst>
          </a:prstGeom>
          <a:solidFill>
            <a:srgbClr val="F4F7F5"/>
          </a:solidFill>
          <a:ln w="9525">
            <a:solidFill>
              <a:srgbClr val="D5DED9"/>
            </a:solidFill>
            <a:prstDash val="solid"/>
          </a:ln>
        </p:spPr>
      </p:sp>
      <p:sp>
        <p:nvSpPr>
          <p:cNvPr id="20" name="Shape 16"/>
          <p:cNvSpPr/>
          <p:nvPr/>
        </p:nvSpPr>
        <p:spPr>
          <a:xfrm>
            <a:off x="4178808" y="3282696"/>
            <a:ext cx="640080" cy="640080"/>
          </a:xfrm>
          <a:prstGeom prst="ellipse">
            <a:avLst/>
          </a:prstGeom>
          <a:solidFill>
            <a:srgbClr val="E8F5EF"/>
          </a:solidFill>
          <a:ln w="12700">
            <a:solidFill>
              <a:srgbClr val="E8F5EF"/>
            </a:solidFill>
            <a:prstDash val="solid"/>
          </a:ln>
        </p:spPr>
      </p:sp>
      <p:pic>
        <p:nvPicPr>
          <p:cNvPr id="21" name="Image 2" descr="preencoded.png"/>
          <p:cNvPicPr>
            <a:picLocks noChangeAspect="1"/>
          </p:cNvPicPr>
          <p:nvPr/>
        </p:nvPicPr>
        <p:blipFill>
          <a:blip r:embed="rId5"/>
          <a:stretch>
            <a:fillRect/>
          </a:stretch>
        </p:blipFill>
        <p:spPr>
          <a:xfrm>
            <a:off x="4345229" y="3449117"/>
            <a:ext cx="307238" cy="307238"/>
          </a:xfrm>
          <a:prstGeom prst="rect">
            <a:avLst/>
          </a:prstGeom>
        </p:spPr>
      </p:pic>
      <p:sp>
        <p:nvSpPr>
          <p:cNvPr id="22" name="Text 17"/>
          <p:cNvSpPr txBox="1"/>
          <p:nvPr/>
        </p:nvSpPr>
        <p:spPr>
          <a:xfrm>
            <a:off x="4983480" y="3246120"/>
            <a:ext cx="219456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Continue dans l’espace</a:t>
            </a:r>
            <a:endParaRPr lang="fr-FR" sz="1500" dirty="0"/>
          </a:p>
        </p:txBody>
      </p:sp>
      <p:sp>
        <p:nvSpPr>
          <p:cNvPr id="23" name="Text 18"/>
          <p:cNvSpPr txBox="1"/>
          <p:nvPr/>
        </p:nvSpPr>
        <p:spPr>
          <a:xfrm>
            <a:off x="4983480" y="3630168"/>
            <a:ext cx="2194560" cy="365760"/>
          </a:xfrm>
          <a:prstGeom prst="rect">
            <a:avLst/>
          </a:prstGeom>
          <a:noFill/>
          <a:ln/>
        </p:spPr>
        <p:txBody>
          <a:bodyPr wrap="square" lIns="0" tIns="0" rIns="0" bIns="0" rtlCol="0" anchor="t"/>
          <a:lstStyle/>
          <a:p>
            <a:pPr marL="0" indent="0">
              <a:buNone/>
            </a:pPr>
            <a:r>
              <a:rPr lang="fr-FR" sz="1250" dirty="0">
                <a:solidFill>
                  <a:srgbClr val="5E6964"/>
                </a:solidFill>
                <a:latin typeface="Calibri" pitchFamily="34" charset="0"/>
                <a:ea typeface="Calibri" pitchFamily="34" charset="-122"/>
                <a:cs typeface="Calibri" pitchFamily="34" charset="-120"/>
              </a:rPr>
              <a:t>Chaque maille d’environ 500 m</a:t>
            </a:r>
            <a:endParaRPr lang="fr-FR" sz="1250" dirty="0"/>
          </a:p>
        </p:txBody>
      </p:sp>
      <p:sp>
        <p:nvSpPr>
          <p:cNvPr id="24" name="Shape 19"/>
          <p:cNvSpPr/>
          <p:nvPr/>
        </p:nvSpPr>
        <p:spPr>
          <a:xfrm>
            <a:off x="548640" y="4389120"/>
            <a:ext cx="3291840" cy="1261872"/>
          </a:xfrm>
          <a:prstGeom prst="roundRect">
            <a:avLst>
              <a:gd name="adj" fmla="val 5797"/>
            </a:avLst>
          </a:prstGeom>
          <a:solidFill>
            <a:srgbClr val="F4F7F5"/>
          </a:solidFill>
          <a:ln w="9525">
            <a:solidFill>
              <a:srgbClr val="D5DED9"/>
            </a:solidFill>
            <a:prstDash val="solid"/>
          </a:ln>
        </p:spPr>
      </p:sp>
      <p:sp>
        <p:nvSpPr>
          <p:cNvPr id="25" name="Shape 20"/>
          <p:cNvSpPr/>
          <p:nvPr/>
        </p:nvSpPr>
        <p:spPr>
          <a:xfrm>
            <a:off x="749808" y="4700016"/>
            <a:ext cx="640080" cy="640080"/>
          </a:xfrm>
          <a:prstGeom prst="ellipse">
            <a:avLst/>
          </a:prstGeom>
          <a:solidFill>
            <a:srgbClr val="E8F5EF"/>
          </a:solidFill>
          <a:ln w="12700">
            <a:solidFill>
              <a:srgbClr val="E8F5EF"/>
            </a:solidFill>
            <a:prstDash val="solid"/>
          </a:ln>
        </p:spPr>
      </p:sp>
      <p:pic>
        <p:nvPicPr>
          <p:cNvPr id="26" name="Image 3" descr="preencoded.png"/>
          <p:cNvPicPr>
            <a:picLocks noChangeAspect="1"/>
          </p:cNvPicPr>
          <p:nvPr/>
        </p:nvPicPr>
        <p:blipFill>
          <a:blip r:embed="rId6"/>
          <a:stretch>
            <a:fillRect/>
          </a:stretch>
        </p:blipFill>
        <p:spPr>
          <a:xfrm>
            <a:off x="916229" y="4866437"/>
            <a:ext cx="307238" cy="307238"/>
          </a:xfrm>
          <a:prstGeom prst="rect">
            <a:avLst/>
          </a:prstGeom>
        </p:spPr>
      </p:pic>
      <p:sp>
        <p:nvSpPr>
          <p:cNvPr id="27" name="Text 21"/>
          <p:cNvSpPr txBox="1"/>
          <p:nvPr/>
        </p:nvSpPr>
        <p:spPr>
          <a:xfrm>
            <a:off x="1554480" y="4663440"/>
            <a:ext cx="219456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Politiquement neutre</a:t>
            </a:r>
            <a:endParaRPr lang="fr-FR" sz="1500" dirty="0"/>
          </a:p>
        </p:txBody>
      </p:sp>
      <p:sp>
        <p:nvSpPr>
          <p:cNvPr id="28" name="Text 22"/>
          <p:cNvSpPr txBox="1"/>
          <p:nvPr/>
        </p:nvSpPr>
        <p:spPr>
          <a:xfrm>
            <a:off x="1554480" y="5047488"/>
            <a:ext cx="2194560" cy="365760"/>
          </a:xfrm>
          <a:prstGeom prst="rect">
            <a:avLst/>
          </a:prstGeom>
          <a:noFill/>
          <a:ln/>
        </p:spPr>
        <p:txBody>
          <a:bodyPr wrap="square" lIns="0" tIns="0" rIns="0" bIns="0" rtlCol="0" anchor="t"/>
          <a:lstStyle/>
          <a:p>
            <a:pPr marL="0" indent="0">
              <a:buNone/>
            </a:pPr>
            <a:r>
              <a:rPr lang="fr-FR" sz="1250" dirty="0">
                <a:solidFill>
                  <a:srgbClr val="5E6964"/>
                </a:solidFill>
                <a:latin typeface="Calibri" pitchFamily="34" charset="0"/>
                <a:ea typeface="Calibri" pitchFamily="34" charset="-122"/>
                <a:cs typeface="Calibri" pitchFamily="34" charset="-120"/>
              </a:rPr>
              <a:t>Indépendante des déclarations</a:t>
            </a:r>
            <a:endParaRPr lang="fr-FR" sz="1250" dirty="0"/>
          </a:p>
        </p:txBody>
      </p:sp>
      <p:sp>
        <p:nvSpPr>
          <p:cNvPr id="29" name="Shape 23"/>
          <p:cNvSpPr/>
          <p:nvPr/>
        </p:nvSpPr>
        <p:spPr>
          <a:xfrm>
            <a:off x="3977640" y="4389120"/>
            <a:ext cx="3291840" cy="1261872"/>
          </a:xfrm>
          <a:prstGeom prst="roundRect">
            <a:avLst>
              <a:gd name="adj" fmla="val 5797"/>
            </a:avLst>
          </a:prstGeom>
          <a:solidFill>
            <a:srgbClr val="F4F7F5"/>
          </a:solidFill>
          <a:ln w="9525">
            <a:solidFill>
              <a:srgbClr val="D5DED9"/>
            </a:solidFill>
            <a:prstDash val="solid"/>
          </a:ln>
        </p:spPr>
      </p:sp>
      <p:sp>
        <p:nvSpPr>
          <p:cNvPr id="30" name="Shape 24"/>
          <p:cNvSpPr/>
          <p:nvPr/>
        </p:nvSpPr>
        <p:spPr>
          <a:xfrm>
            <a:off x="4178808" y="4700016"/>
            <a:ext cx="640080" cy="640080"/>
          </a:xfrm>
          <a:prstGeom prst="ellipse">
            <a:avLst/>
          </a:prstGeom>
          <a:solidFill>
            <a:srgbClr val="E8F5EF"/>
          </a:solidFill>
          <a:ln w="12700">
            <a:solidFill>
              <a:srgbClr val="E8F5EF"/>
            </a:solidFill>
            <a:prstDash val="solid"/>
          </a:ln>
        </p:spPr>
      </p:sp>
      <p:pic>
        <p:nvPicPr>
          <p:cNvPr id="31" name="Image 4" descr="preencoded.png"/>
          <p:cNvPicPr>
            <a:picLocks noChangeAspect="1"/>
          </p:cNvPicPr>
          <p:nvPr/>
        </p:nvPicPr>
        <p:blipFill>
          <a:blip r:embed="rId7"/>
          <a:stretch>
            <a:fillRect/>
          </a:stretch>
        </p:blipFill>
        <p:spPr>
          <a:xfrm>
            <a:off x="4345229" y="4866437"/>
            <a:ext cx="307238" cy="307238"/>
          </a:xfrm>
          <a:prstGeom prst="rect">
            <a:avLst/>
          </a:prstGeom>
        </p:spPr>
      </p:pic>
      <p:sp>
        <p:nvSpPr>
          <p:cNvPr id="32" name="Text 25"/>
          <p:cNvSpPr txBox="1"/>
          <p:nvPr/>
        </p:nvSpPr>
        <p:spPr>
          <a:xfrm>
            <a:off x="4983480" y="4663440"/>
            <a:ext cx="219456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Librement accessible</a:t>
            </a:r>
            <a:endParaRPr lang="fr-FR" sz="1500" dirty="0"/>
          </a:p>
        </p:txBody>
      </p:sp>
      <p:sp>
        <p:nvSpPr>
          <p:cNvPr id="33" name="Text 26"/>
          <p:cNvSpPr txBox="1"/>
          <p:nvPr/>
        </p:nvSpPr>
        <p:spPr>
          <a:xfrm>
            <a:off x="4983480" y="5047488"/>
            <a:ext cx="2194560" cy="365760"/>
          </a:xfrm>
          <a:prstGeom prst="rect">
            <a:avLst/>
          </a:prstGeom>
          <a:noFill/>
          <a:ln/>
        </p:spPr>
        <p:txBody>
          <a:bodyPr wrap="square" lIns="0" tIns="0" rIns="0" bIns="0" rtlCol="0" anchor="t"/>
          <a:lstStyle/>
          <a:p>
            <a:pPr marL="0" indent="0">
              <a:buNone/>
            </a:pPr>
            <a:r>
              <a:rPr lang="fr-FR" sz="1250" dirty="0">
                <a:solidFill>
                  <a:srgbClr val="5E6964"/>
                </a:solidFill>
                <a:latin typeface="Calibri" pitchFamily="34" charset="0"/>
                <a:ea typeface="Calibri" pitchFamily="34" charset="-122"/>
                <a:cs typeface="Calibri" pitchFamily="34" charset="-120"/>
              </a:rPr>
              <a:t>Produits ouverts NASA / EOG</a:t>
            </a:r>
            <a:endParaRPr lang="fr-FR" sz="1250" dirty="0"/>
          </a:p>
        </p:txBody>
      </p:sp>
      <p:sp>
        <p:nvSpPr>
          <p:cNvPr id="34" name="Shape 27"/>
          <p:cNvSpPr/>
          <p:nvPr/>
        </p:nvSpPr>
        <p:spPr>
          <a:xfrm>
            <a:off x="7680960" y="1371600"/>
            <a:ext cx="3959352" cy="960120"/>
          </a:xfrm>
          <a:prstGeom prst="roundRect">
            <a:avLst>
              <a:gd name="adj" fmla="val 7619"/>
            </a:avLst>
          </a:prstGeom>
          <a:solidFill>
            <a:srgbClr val="FFFFFF"/>
          </a:solidFill>
          <a:ln w="9525">
            <a:solidFill>
              <a:srgbClr val="D5DED9"/>
            </a:solidFill>
            <a:prstDash val="solid"/>
          </a:ln>
        </p:spPr>
      </p:sp>
      <p:sp>
        <p:nvSpPr>
          <p:cNvPr id="35" name="Text 28"/>
          <p:cNvSpPr txBox="1"/>
          <p:nvPr/>
        </p:nvSpPr>
        <p:spPr>
          <a:xfrm>
            <a:off x="7818120" y="1371600"/>
            <a:ext cx="1463040" cy="960120"/>
          </a:xfrm>
          <a:prstGeom prst="rect">
            <a:avLst/>
          </a:prstGeom>
          <a:noFill/>
          <a:ln/>
        </p:spPr>
        <p:txBody>
          <a:bodyPr wrap="square" lIns="0" tIns="0" rIns="0" bIns="0" rtlCol="0" anchor="ctr"/>
          <a:lstStyle/>
          <a:p>
            <a:pPr marL="0" indent="0">
              <a:buNone/>
            </a:pPr>
            <a:r>
              <a:rPr lang="fr-FR" sz="2400" b="1" dirty="0">
                <a:solidFill>
                  <a:srgbClr val="00704A"/>
                </a:solidFill>
                <a:latin typeface="Calibri" pitchFamily="34" charset="0"/>
                <a:ea typeface="Calibri" pitchFamily="34" charset="-122"/>
                <a:cs typeface="Calibri" pitchFamily="34" charset="-120"/>
              </a:rPr>
              <a:t>1992</a:t>
            </a:r>
            <a:endParaRPr lang="fr-FR" sz="2400" dirty="0"/>
          </a:p>
        </p:txBody>
      </p:sp>
      <p:sp>
        <p:nvSpPr>
          <p:cNvPr id="36" name="Text 29"/>
          <p:cNvSpPr txBox="1"/>
          <p:nvPr/>
        </p:nvSpPr>
        <p:spPr>
          <a:xfrm>
            <a:off x="9281160" y="1463040"/>
            <a:ext cx="2286000" cy="777240"/>
          </a:xfrm>
          <a:prstGeom prst="rect">
            <a:avLst/>
          </a:prstGeom>
          <a:noFill/>
          <a:ln/>
        </p:spPr>
        <p:txBody>
          <a:bodyPr wrap="square" lIns="0" tIns="0" rIns="0" bIns="0" rtlCol="0" anchor="ctr"/>
          <a:lstStyle/>
          <a:p>
            <a:pPr marL="0" indent="0">
              <a:buNone/>
            </a:pPr>
            <a:r>
              <a:rPr lang="fr-FR" sz="1050" dirty="0">
                <a:solidFill>
                  <a:srgbClr val="5E6964"/>
                </a:solidFill>
                <a:latin typeface="Calibri" pitchFamily="34" charset="0"/>
                <a:ea typeface="Calibri" pitchFamily="34" charset="-122"/>
                <a:cs typeface="Calibri" pitchFamily="34" charset="-120"/>
              </a:rPr>
              <a:t>Début de l’archive numérique continue DMSP — trois décennies d’historique</a:t>
            </a:r>
            <a:endParaRPr lang="fr-FR" sz="1050" dirty="0"/>
          </a:p>
        </p:txBody>
      </p:sp>
      <p:sp>
        <p:nvSpPr>
          <p:cNvPr id="37" name="Shape 30"/>
          <p:cNvSpPr/>
          <p:nvPr/>
        </p:nvSpPr>
        <p:spPr>
          <a:xfrm>
            <a:off x="7680960" y="2450592"/>
            <a:ext cx="3959352" cy="960120"/>
          </a:xfrm>
          <a:prstGeom prst="roundRect">
            <a:avLst>
              <a:gd name="adj" fmla="val 7619"/>
            </a:avLst>
          </a:prstGeom>
          <a:solidFill>
            <a:srgbClr val="FFFFFF"/>
          </a:solidFill>
          <a:ln w="9525">
            <a:solidFill>
              <a:srgbClr val="D5DED9"/>
            </a:solidFill>
            <a:prstDash val="solid"/>
          </a:ln>
        </p:spPr>
      </p:sp>
      <p:sp>
        <p:nvSpPr>
          <p:cNvPr id="38" name="Text 31"/>
          <p:cNvSpPr txBox="1"/>
          <p:nvPr/>
        </p:nvSpPr>
        <p:spPr>
          <a:xfrm>
            <a:off x="7818120" y="2450592"/>
            <a:ext cx="1463040" cy="960120"/>
          </a:xfrm>
          <a:prstGeom prst="rect">
            <a:avLst/>
          </a:prstGeom>
          <a:noFill/>
          <a:ln/>
        </p:spPr>
        <p:txBody>
          <a:bodyPr wrap="square" lIns="0" tIns="0" rIns="0" bIns="0" rtlCol="0" anchor="ctr"/>
          <a:lstStyle/>
          <a:p>
            <a:pPr marL="0" indent="0">
              <a:buNone/>
            </a:pPr>
            <a:r>
              <a:rPr lang="fr-FR" sz="2400" b="1" dirty="0">
                <a:solidFill>
                  <a:srgbClr val="00704A"/>
                </a:solidFill>
                <a:latin typeface="Calibri" pitchFamily="34" charset="0"/>
                <a:ea typeface="Calibri" pitchFamily="34" charset="-122"/>
                <a:cs typeface="Calibri" pitchFamily="34" charset="-120"/>
              </a:rPr>
              <a:t>≈ 500 m</a:t>
            </a:r>
            <a:endParaRPr lang="fr-FR" sz="2400" dirty="0"/>
          </a:p>
        </p:txBody>
      </p:sp>
      <p:sp>
        <p:nvSpPr>
          <p:cNvPr id="39" name="Text 32"/>
          <p:cNvSpPr txBox="1"/>
          <p:nvPr/>
        </p:nvSpPr>
        <p:spPr>
          <a:xfrm>
            <a:off x="9281160" y="2542032"/>
            <a:ext cx="2286000" cy="777240"/>
          </a:xfrm>
          <a:prstGeom prst="rect">
            <a:avLst/>
          </a:prstGeom>
          <a:noFill/>
          <a:ln/>
        </p:spPr>
        <p:txBody>
          <a:bodyPr wrap="square" lIns="0" tIns="0" rIns="0" bIns="0" rtlCol="0" anchor="ctr"/>
          <a:lstStyle/>
          <a:p>
            <a:pPr marL="0" indent="0">
              <a:buNone/>
            </a:pPr>
            <a:r>
              <a:rPr lang="fr-FR" sz="1050" dirty="0">
                <a:solidFill>
                  <a:srgbClr val="5E6964"/>
                </a:solidFill>
                <a:latin typeface="Calibri" pitchFamily="34" charset="0"/>
                <a:ea typeface="Calibri" pitchFamily="34" charset="-122"/>
                <a:cs typeface="Calibri" pitchFamily="34" charset="-120"/>
              </a:rPr>
              <a:t>Grille Black Marble (15 secondes d’arc) ; pixel natif VIIRS DNB ≈ 742 m, quasi constant sur la fauchée</a:t>
            </a:r>
            <a:endParaRPr lang="fr-FR" sz="1050" dirty="0"/>
          </a:p>
        </p:txBody>
      </p:sp>
      <p:sp>
        <p:nvSpPr>
          <p:cNvPr id="40" name="Shape 33"/>
          <p:cNvSpPr/>
          <p:nvPr/>
        </p:nvSpPr>
        <p:spPr>
          <a:xfrm>
            <a:off x="7680960" y="3529584"/>
            <a:ext cx="3959352" cy="960120"/>
          </a:xfrm>
          <a:prstGeom prst="roundRect">
            <a:avLst>
              <a:gd name="adj" fmla="val 7619"/>
            </a:avLst>
          </a:prstGeom>
          <a:solidFill>
            <a:srgbClr val="FFFFFF"/>
          </a:solidFill>
          <a:ln w="9525">
            <a:solidFill>
              <a:srgbClr val="D5DED9"/>
            </a:solidFill>
            <a:prstDash val="solid"/>
          </a:ln>
        </p:spPr>
      </p:sp>
      <p:sp>
        <p:nvSpPr>
          <p:cNvPr id="41" name="Text 34"/>
          <p:cNvSpPr txBox="1"/>
          <p:nvPr/>
        </p:nvSpPr>
        <p:spPr>
          <a:xfrm>
            <a:off x="7818120" y="3529584"/>
            <a:ext cx="1463040" cy="960120"/>
          </a:xfrm>
          <a:prstGeom prst="rect">
            <a:avLst/>
          </a:prstGeom>
          <a:noFill/>
          <a:ln/>
        </p:spPr>
        <p:txBody>
          <a:bodyPr wrap="square" lIns="0" tIns="0" rIns="0" bIns="0" rtlCol="0" anchor="ctr"/>
          <a:lstStyle/>
          <a:p>
            <a:pPr marL="0" indent="0">
              <a:buNone/>
            </a:pPr>
            <a:r>
              <a:rPr lang="fr-FR" sz="2400" b="1" dirty="0">
                <a:solidFill>
                  <a:srgbClr val="00704A"/>
                </a:solidFill>
                <a:latin typeface="Calibri" pitchFamily="34" charset="0"/>
                <a:ea typeface="Calibri" pitchFamily="34" charset="-122"/>
                <a:cs typeface="Calibri" pitchFamily="34" charset="-120"/>
              </a:rPr>
              <a:t>Chaque nuit</a:t>
            </a:r>
            <a:endParaRPr lang="fr-FR" sz="2400" dirty="0"/>
          </a:p>
        </p:txBody>
      </p:sp>
      <p:sp>
        <p:nvSpPr>
          <p:cNvPr id="42" name="Text 35"/>
          <p:cNvSpPr txBox="1"/>
          <p:nvPr/>
        </p:nvSpPr>
        <p:spPr>
          <a:xfrm>
            <a:off x="9281160" y="3621024"/>
            <a:ext cx="2286000" cy="777240"/>
          </a:xfrm>
          <a:prstGeom prst="rect">
            <a:avLst/>
          </a:prstGeom>
          <a:noFill/>
          <a:ln/>
        </p:spPr>
        <p:txBody>
          <a:bodyPr wrap="square" lIns="0" tIns="0" rIns="0" bIns="0" rtlCol="0" anchor="ctr"/>
          <a:lstStyle/>
          <a:p>
            <a:pPr marL="0" indent="0">
              <a:buNone/>
            </a:pPr>
            <a:r>
              <a:rPr lang="fr-FR" sz="1050" dirty="0">
                <a:solidFill>
                  <a:srgbClr val="5E6964"/>
                </a:solidFill>
                <a:latin typeface="Calibri" pitchFamily="34" charset="0"/>
                <a:ea typeface="Calibri" pitchFamily="34" charset="-122"/>
                <a:cs typeface="Calibri" pitchFamily="34" charset="-120"/>
              </a:rPr>
              <a:t>Passage VIIRS mondial vers 01h30 heure locale, depuis 2012</a:t>
            </a:r>
            <a:endParaRPr lang="fr-FR" sz="1050" dirty="0"/>
          </a:p>
        </p:txBody>
      </p:sp>
      <p:sp>
        <p:nvSpPr>
          <p:cNvPr id="43" name="Shape 36"/>
          <p:cNvSpPr/>
          <p:nvPr/>
        </p:nvSpPr>
        <p:spPr>
          <a:xfrm>
            <a:off x="7680960" y="4663440"/>
            <a:ext cx="3959352" cy="1143000"/>
          </a:xfrm>
          <a:prstGeom prst="roundRect">
            <a:avLst>
              <a:gd name="adj" fmla="val 6400"/>
            </a:avLst>
          </a:prstGeom>
          <a:solidFill>
            <a:srgbClr val="00553A"/>
          </a:solidFill>
          <a:ln w="9525">
            <a:solidFill>
              <a:srgbClr val="00553A"/>
            </a:solidFill>
            <a:prstDash val="solid"/>
          </a:ln>
        </p:spPr>
      </p:sp>
      <p:sp>
        <p:nvSpPr>
          <p:cNvPr id="44" name="Text 37"/>
          <p:cNvSpPr txBox="1"/>
          <p:nvPr/>
        </p:nvSpPr>
        <p:spPr>
          <a:xfrm>
            <a:off x="7863840" y="4663440"/>
            <a:ext cx="3611880" cy="1143000"/>
          </a:xfrm>
          <a:prstGeom prst="rect">
            <a:avLst/>
          </a:prstGeom>
          <a:noFill/>
          <a:ln/>
        </p:spPr>
        <p:txBody>
          <a:bodyPr wrap="square" lIns="0" tIns="0" rIns="0" bIns="0" rtlCol="0" anchor="ctr"/>
          <a:lstStyle/>
          <a:p>
            <a:pPr marL="0" indent="0">
              <a:buNone/>
            </a:pPr>
            <a:r>
              <a:rPr lang="fr-FR" sz="1200" b="1" dirty="0">
                <a:solidFill>
                  <a:srgbClr val="F5C242"/>
                </a:solidFill>
                <a:latin typeface="Calibri" pitchFamily="34" charset="0"/>
                <a:ea typeface="Calibri" pitchFamily="34" charset="-122"/>
                <a:cs typeface="Calibri" pitchFamily="34" charset="-120"/>
              </a:rPr>
              <a:t>Pour un institut statistique : </a:t>
            </a:r>
            <a:r>
              <a:rPr lang="fr-FR" sz="1200" dirty="0">
                <a:solidFill>
                  <a:srgbClr val="FFFFFF"/>
                </a:solidFill>
                <a:latin typeface="Calibri" pitchFamily="34" charset="0"/>
                <a:ea typeface="Calibri" pitchFamily="34" charset="-122"/>
                <a:cs typeface="Calibri" pitchFamily="34" charset="-120"/>
              </a:rPr>
              <a:t>un recensement environ tous les dix ans, des enquêtes tous les quelques ans, le PIB trimestriel avec retard — les lumières arrivent chaque nuit, pour chaque district.</a:t>
            </a:r>
            <a:endParaRPr lang="fr-FR"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01 · FONDEMENTS · DÉFINITIONS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Ce que sont les lumières nocturnes — et ne sont pas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6</a:t>
            </a:r>
            <a:endParaRPr lang="fr-FR" sz="900" dirty="0"/>
          </a:p>
        </p:txBody>
      </p:sp>
      <p:sp>
        <p:nvSpPr>
          <p:cNvPr id="12" name="Shape 9"/>
          <p:cNvSpPr/>
          <p:nvPr/>
        </p:nvSpPr>
        <p:spPr>
          <a:xfrm>
            <a:off x="548640" y="1371600"/>
            <a:ext cx="11094415" cy="960120"/>
          </a:xfrm>
          <a:prstGeom prst="roundRect">
            <a:avLst>
              <a:gd name="adj" fmla="val 7619"/>
            </a:avLst>
          </a:prstGeom>
          <a:solidFill>
            <a:srgbClr val="E8F5EF"/>
          </a:solidFill>
          <a:ln w="9525">
            <a:solidFill>
              <a:srgbClr val="00A86A"/>
            </a:solidFill>
            <a:prstDash val="solid"/>
          </a:ln>
        </p:spPr>
      </p:sp>
      <p:sp>
        <p:nvSpPr>
          <p:cNvPr id="13" name="Shape 10"/>
          <p:cNvSpPr/>
          <p:nvPr/>
        </p:nvSpPr>
        <p:spPr>
          <a:xfrm>
            <a:off x="777240" y="1572768"/>
            <a:ext cx="548640" cy="54864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919886" y="1715414"/>
            <a:ext cx="263347" cy="263347"/>
          </a:xfrm>
          <a:prstGeom prst="rect">
            <a:avLst/>
          </a:prstGeom>
        </p:spPr>
      </p:pic>
      <p:sp>
        <p:nvSpPr>
          <p:cNvPr id="15" name="Text 11"/>
          <p:cNvSpPr txBox="1"/>
          <p:nvPr/>
        </p:nvSpPr>
        <p:spPr>
          <a:xfrm>
            <a:off x="1554480" y="1481328"/>
            <a:ext cx="3657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DÉFINITION DE TRAVAIL</a:t>
            </a:r>
            <a:endParaRPr lang="fr-FR" sz="1000" dirty="0"/>
          </a:p>
        </p:txBody>
      </p:sp>
      <p:sp>
        <p:nvSpPr>
          <p:cNvPr id="16" name="Text 12"/>
          <p:cNvSpPr txBox="1"/>
          <p:nvPr/>
        </p:nvSpPr>
        <p:spPr>
          <a:xfrm>
            <a:off x="1554480" y="1719072"/>
            <a:ext cx="9875520" cy="594360"/>
          </a:xfrm>
          <a:prstGeom prst="rect">
            <a:avLst/>
          </a:prstGeom>
          <a:noFill/>
          <a:ln/>
        </p:spPr>
        <p:txBody>
          <a:bodyPr wrap="square" lIns="0" tIns="0" rIns="0" bIns="0" rtlCol="0" anchor="t"/>
          <a:lstStyle/>
          <a:p>
            <a:pPr marL="0" indent="0">
              <a:buNone/>
            </a:pPr>
            <a:r>
              <a:rPr lang="fr-FR" sz="1350" dirty="0">
                <a:solidFill>
                  <a:srgbClr val="231F20"/>
                </a:solidFill>
                <a:latin typeface="Calibri" pitchFamily="34" charset="0"/>
                <a:ea typeface="Calibri" pitchFamily="34" charset="-122"/>
                <a:cs typeface="Calibri" pitchFamily="34" charset="-120"/>
              </a:rPr>
              <a:t>Les lumières nocturnes (NTL) sont des mesures de la radiance visible et proche infrarouge émise vers le haut par la surface terrestre, enregistrées par un capteur satellitaire pendant la nuit locale, en l’absence de lumière solaire directe.</a:t>
            </a:r>
            <a:endParaRPr lang="fr-FR" sz="1350" dirty="0"/>
          </a:p>
        </p:txBody>
      </p:sp>
      <p:sp>
        <p:nvSpPr>
          <p:cNvPr id="17" name="Text 13"/>
          <p:cNvSpPr txBox="1"/>
          <p:nvPr/>
        </p:nvSpPr>
        <p:spPr>
          <a:xfrm>
            <a:off x="548640" y="2560320"/>
            <a:ext cx="5394960" cy="32004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Ce que c’est</a:t>
            </a:r>
            <a:endParaRPr lang="fr-FR" sz="1500" dirty="0"/>
          </a:p>
        </p:txBody>
      </p:sp>
      <p:sp>
        <p:nvSpPr>
          <p:cNvPr id="18" name="Text 14"/>
          <p:cNvSpPr txBox="1"/>
          <p:nvPr/>
        </p:nvSpPr>
        <p:spPr>
          <a:xfrm>
            <a:off x="6263640" y="2560320"/>
            <a:ext cx="5394960" cy="320040"/>
          </a:xfrm>
          <a:prstGeom prst="rect">
            <a:avLst/>
          </a:prstGeom>
          <a:noFill/>
          <a:ln/>
        </p:spPr>
        <p:txBody>
          <a:bodyPr wrap="square" lIns="0" tIns="0" rIns="0" bIns="0" rtlCol="0" anchor="t"/>
          <a:lstStyle/>
          <a:p>
            <a:pPr marL="0" indent="0">
              <a:buNone/>
            </a:pPr>
            <a:r>
              <a:rPr lang="fr-FR" sz="1500" b="1" dirty="0">
                <a:solidFill>
                  <a:srgbClr val="B83B2E"/>
                </a:solidFill>
                <a:latin typeface="Calibri" pitchFamily="34" charset="0"/>
                <a:ea typeface="Calibri" pitchFamily="34" charset="-122"/>
                <a:cs typeface="Calibri" pitchFamily="34" charset="-120"/>
              </a:rPr>
              <a:t>Ce que ce n’est pas</a:t>
            </a:r>
            <a:endParaRPr lang="fr-FR" sz="1500" dirty="0"/>
          </a:p>
        </p:txBody>
      </p:sp>
      <p:sp>
        <p:nvSpPr>
          <p:cNvPr id="19" name="Shape 15"/>
          <p:cNvSpPr/>
          <p:nvPr/>
        </p:nvSpPr>
        <p:spPr>
          <a:xfrm>
            <a:off x="548640" y="2971800"/>
            <a:ext cx="5440680" cy="868680"/>
          </a:xfrm>
          <a:prstGeom prst="roundRect">
            <a:avLst>
              <a:gd name="adj" fmla="val 8421"/>
            </a:avLst>
          </a:prstGeom>
          <a:solidFill>
            <a:srgbClr val="E6F6EE"/>
          </a:solidFill>
          <a:ln w="9525">
            <a:solidFill>
              <a:srgbClr val="BFE3CF"/>
            </a:solidFill>
            <a:prstDash val="solid"/>
          </a:ln>
        </p:spPr>
      </p:sp>
      <p:pic>
        <p:nvPicPr>
          <p:cNvPr id="20" name="Image 2" descr="preencoded.png"/>
          <p:cNvPicPr>
            <a:picLocks noChangeAspect="1"/>
          </p:cNvPicPr>
          <p:nvPr/>
        </p:nvPicPr>
        <p:blipFill>
          <a:blip r:embed="rId5"/>
          <a:stretch>
            <a:fillRect/>
          </a:stretch>
        </p:blipFill>
        <p:spPr>
          <a:xfrm>
            <a:off x="731520" y="3200400"/>
            <a:ext cx="411480" cy="411480"/>
          </a:xfrm>
          <a:prstGeom prst="rect">
            <a:avLst/>
          </a:prstGeom>
        </p:spPr>
      </p:pic>
      <p:sp>
        <p:nvSpPr>
          <p:cNvPr id="21" name="Text 16"/>
          <p:cNvSpPr txBox="1"/>
          <p:nvPr/>
        </p:nvSpPr>
        <p:spPr>
          <a:xfrm>
            <a:off x="1325880" y="3081528"/>
            <a:ext cx="4480560" cy="292608"/>
          </a:xfrm>
          <a:prstGeom prst="rect">
            <a:avLst/>
          </a:prstGeom>
          <a:noFill/>
          <a:ln/>
        </p:spPr>
        <p:txBody>
          <a:bodyPr wrap="square" lIns="0" tIns="0" rIns="0" bIns="0" rtlCol="0" anchor="t"/>
          <a:lstStyle/>
          <a:p>
            <a:pPr marL="0" indent="0">
              <a:buNone/>
            </a:pPr>
            <a:r>
              <a:rPr lang="fr-FR" sz="1300" b="1" dirty="0">
                <a:solidFill>
                  <a:srgbClr val="231F20"/>
                </a:solidFill>
                <a:latin typeface="Calibri" pitchFamily="34" charset="0"/>
                <a:ea typeface="Calibri" pitchFamily="34" charset="-122"/>
                <a:cs typeface="Calibri" pitchFamily="34" charset="-120"/>
              </a:rPr>
              <a:t>Une mesure physique</a:t>
            </a:r>
            <a:endParaRPr lang="fr-FR" sz="1300" dirty="0"/>
          </a:p>
        </p:txBody>
      </p:sp>
      <p:sp>
        <p:nvSpPr>
          <p:cNvPr id="22" name="Text 17"/>
          <p:cNvSpPr txBox="1"/>
          <p:nvPr/>
        </p:nvSpPr>
        <p:spPr>
          <a:xfrm>
            <a:off x="1325880" y="3383280"/>
            <a:ext cx="448056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Radiance en nW·cm⁻²·sr⁻¹ pour les capteurs étalonnés (VIIRS).</a:t>
            </a:r>
            <a:endParaRPr lang="fr-FR" sz="1150" dirty="0"/>
          </a:p>
        </p:txBody>
      </p:sp>
      <p:sp>
        <p:nvSpPr>
          <p:cNvPr id="23" name="Shape 18"/>
          <p:cNvSpPr/>
          <p:nvPr/>
        </p:nvSpPr>
        <p:spPr>
          <a:xfrm>
            <a:off x="6199632" y="2971800"/>
            <a:ext cx="5440680" cy="868680"/>
          </a:xfrm>
          <a:prstGeom prst="roundRect">
            <a:avLst>
              <a:gd name="adj" fmla="val 8421"/>
            </a:avLst>
          </a:prstGeom>
          <a:solidFill>
            <a:srgbClr val="FBE9E7"/>
          </a:solidFill>
          <a:ln w="9525">
            <a:solidFill>
              <a:srgbClr val="F0C6C2"/>
            </a:solidFill>
            <a:prstDash val="solid"/>
          </a:ln>
        </p:spPr>
      </p:sp>
      <p:pic>
        <p:nvPicPr>
          <p:cNvPr id="24" name="Image 3" descr="preencoded.png"/>
          <p:cNvPicPr>
            <a:picLocks noChangeAspect="1"/>
          </p:cNvPicPr>
          <p:nvPr/>
        </p:nvPicPr>
        <p:blipFill>
          <a:blip r:embed="rId6"/>
          <a:stretch>
            <a:fillRect/>
          </a:stretch>
        </p:blipFill>
        <p:spPr>
          <a:xfrm>
            <a:off x="6382512" y="3200400"/>
            <a:ext cx="411480" cy="411480"/>
          </a:xfrm>
          <a:prstGeom prst="rect">
            <a:avLst/>
          </a:prstGeom>
        </p:spPr>
      </p:pic>
      <p:sp>
        <p:nvSpPr>
          <p:cNvPr id="25" name="Text 19"/>
          <p:cNvSpPr txBox="1"/>
          <p:nvPr/>
        </p:nvSpPr>
        <p:spPr>
          <a:xfrm>
            <a:off x="6976872" y="3081528"/>
            <a:ext cx="4480560" cy="292608"/>
          </a:xfrm>
          <a:prstGeom prst="rect">
            <a:avLst/>
          </a:prstGeom>
          <a:noFill/>
          <a:ln/>
        </p:spPr>
        <p:txBody>
          <a:bodyPr wrap="square" lIns="0" tIns="0" rIns="0" bIns="0" rtlCol="0" anchor="t"/>
          <a:lstStyle/>
          <a:p>
            <a:pPr marL="0" indent="0">
              <a:buNone/>
            </a:pPr>
            <a:r>
              <a:rPr lang="fr-FR" sz="1300" b="1" dirty="0">
                <a:solidFill>
                  <a:srgbClr val="231F20"/>
                </a:solidFill>
                <a:latin typeface="Calibri" pitchFamily="34" charset="0"/>
                <a:ea typeface="Calibri" pitchFamily="34" charset="-122"/>
                <a:cs typeface="Calibri" pitchFamily="34" charset="-120"/>
              </a:rPr>
              <a:t>Une photographie</a:t>
            </a:r>
            <a:endParaRPr lang="fr-FR" sz="1300" dirty="0"/>
          </a:p>
        </p:txBody>
      </p:sp>
      <p:sp>
        <p:nvSpPr>
          <p:cNvPr id="26" name="Text 20"/>
          <p:cNvSpPr txBox="1"/>
          <p:nvPr/>
        </p:nvSpPr>
        <p:spPr>
          <a:xfrm>
            <a:off x="6976872" y="3383280"/>
            <a:ext cx="448056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La « Terre la nuit » est un composite statistique de nombreuses nuits sans nuages.</a:t>
            </a:r>
            <a:endParaRPr lang="fr-FR" sz="1150" dirty="0"/>
          </a:p>
        </p:txBody>
      </p:sp>
      <p:sp>
        <p:nvSpPr>
          <p:cNvPr id="27" name="Shape 21"/>
          <p:cNvSpPr/>
          <p:nvPr/>
        </p:nvSpPr>
        <p:spPr>
          <a:xfrm>
            <a:off x="548640" y="3959352"/>
            <a:ext cx="5440680" cy="868680"/>
          </a:xfrm>
          <a:prstGeom prst="roundRect">
            <a:avLst>
              <a:gd name="adj" fmla="val 8421"/>
            </a:avLst>
          </a:prstGeom>
          <a:solidFill>
            <a:srgbClr val="E6F6EE"/>
          </a:solidFill>
          <a:ln w="9525">
            <a:solidFill>
              <a:srgbClr val="BFE3CF"/>
            </a:solidFill>
            <a:prstDash val="solid"/>
          </a:ln>
        </p:spPr>
      </p:sp>
      <p:pic>
        <p:nvPicPr>
          <p:cNvPr id="28" name="Image 4" descr="preencoded.png"/>
          <p:cNvPicPr>
            <a:picLocks noChangeAspect="1"/>
          </p:cNvPicPr>
          <p:nvPr/>
        </p:nvPicPr>
        <p:blipFill>
          <a:blip r:embed="rId5"/>
          <a:stretch>
            <a:fillRect/>
          </a:stretch>
        </p:blipFill>
        <p:spPr>
          <a:xfrm>
            <a:off x="731520" y="4187952"/>
            <a:ext cx="411480" cy="411480"/>
          </a:xfrm>
          <a:prstGeom prst="rect">
            <a:avLst/>
          </a:prstGeom>
        </p:spPr>
      </p:pic>
      <p:sp>
        <p:nvSpPr>
          <p:cNvPr id="29" name="Text 22"/>
          <p:cNvSpPr txBox="1"/>
          <p:nvPr/>
        </p:nvSpPr>
        <p:spPr>
          <a:xfrm>
            <a:off x="1325880" y="4069080"/>
            <a:ext cx="4480560" cy="292608"/>
          </a:xfrm>
          <a:prstGeom prst="rect">
            <a:avLst/>
          </a:prstGeom>
          <a:noFill/>
          <a:ln/>
        </p:spPr>
        <p:txBody>
          <a:bodyPr wrap="square" lIns="0" tIns="0" rIns="0" bIns="0" rtlCol="0" anchor="t"/>
          <a:lstStyle/>
          <a:p>
            <a:pPr marL="0" indent="0">
              <a:buNone/>
            </a:pPr>
            <a:r>
              <a:rPr lang="fr-FR" sz="1300" b="1" dirty="0">
                <a:solidFill>
                  <a:srgbClr val="231F20"/>
                </a:solidFill>
                <a:latin typeface="Calibri" pitchFamily="34" charset="0"/>
                <a:ea typeface="Calibri" pitchFamily="34" charset="-122"/>
                <a:cs typeface="Calibri" pitchFamily="34" charset="-120"/>
              </a:rPr>
              <a:t>Une grille cohérente</a:t>
            </a:r>
            <a:endParaRPr lang="fr-FR" sz="1300" dirty="0"/>
          </a:p>
        </p:txBody>
      </p:sp>
      <p:sp>
        <p:nvSpPr>
          <p:cNvPr id="30" name="Text 23"/>
          <p:cNvSpPr txBox="1"/>
          <p:nvPr/>
        </p:nvSpPr>
        <p:spPr>
          <a:xfrm>
            <a:off x="1325880" y="4370832"/>
            <a:ext cx="448056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Même méthode dans tous les pays — petites îles comme grands États.</a:t>
            </a:r>
            <a:endParaRPr lang="fr-FR" sz="1150" dirty="0"/>
          </a:p>
        </p:txBody>
      </p:sp>
      <p:sp>
        <p:nvSpPr>
          <p:cNvPr id="31" name="Shape 24"/>
          <p:cNvSpPr/>
          <p:nvPr/>
        </p:nvSpPr>
        <p:spPr>
          <a:xfrm>
            <a:off x="6199632" y="3959352"/>
            <a:ext cx="5440680" cy="868680"/>
          </a:xfrm>
          <a:prstGeom prst="roundRect">
            <a:avLst>
              <a:gd name="adj" fmla="val 8421"/>
            </a:avLst>
          </a:prstGeom>
          <a:solidFill>
            <a:srgbClr val="FBE9E7"/>
          </a:solidFill>
          <a:ln w="9525">
            <a:solidFill>
              <a:srgbClr val="F0C6C2"/>
            </a:solidFill>
            <a:prstDash val="solid"/>
          </a:ln>
        </p:spPr>
      </p:sp>
      <p:pic>
        <p:nvPicPr>
          <p:cNvPr id="32" name="Image 5" descr="preencoded.png"/>
          <p:cNvPicPr>
            <a:picLocks noChangeAspect="1"/>
          </p:cNvPicPr>
          <p:nvPr/>
        </p:nvPicPr>
        <p:blipFill>
          <a:blip r:embed="rId6"/>
          <a:stretch>
            <a:fillRect/>
          </a:stretch>
        </p:blipFill>
        <p:spPr>
          <a:xfrm>
            <a:off x="6382512" y="4187952"/>
            <a:ext cx="411480" cy="411480"/>
          </a:xfrm>
          <a:prstGeom prst="rect">
            <a:avLst/>
          </a:prstGeom>
        </p:spPr>
      </p:pic>
      <p:sp>
        <p:nvSpPr>
          <p:cNvPr id="33" name="Text 25"/>
          <p:cNvSpPr txBox="1"/>
          <p:nvPr/>
        </p:nvSpPr>
        <p:spPr>
          <a:xfrm>
            <a:off x="6976872" y="4069080"/>
            <a:ext cx="4480560" cy="292608"/>
          </a:xfrm>
          <a:prstGeom prst="rect">
            <a:avLst/>
          </a:prstGeom>
          <a:noFill/>
          <a:ln/>
        </p:spPr>
        <p:txBody>
          <a:bodyPr wrap="square" lIns="0" tIns="0" rIns="0" bIns="0" rtlCol="0" anchor="t"/>
          <a:lstStyle/>
          <a:p>
            <a:pPr marL="0" indent="0">
              <a:buNone/>
            </a:pPr>
            <a:r>
              <a:rPr lang="fr-FR" sz="1300" b="1" dirty="0">
                <a:solidFill>
                  <a:srgbClr val="231F20"/>
                </a:solidFill>
                <a:latin typeface="Calibri" pitchFamily="34" charset="0"/>
                <a:ea typeface="Calibri" pitchFamily="34" charset="-122"/>
                <a:cs typeface="Calibri" pitchFamily="34" charset="-120"/>
              </a:rPr>
              <a:t>Une mesure directe de population ou de revenu</a:t>
            </a:r>
            <a:endParaRPr lang="fr-FR" sz="1300" dirty="0"/>
          </a:p>
        </p:txBody>
      </p:sp>
      <p:sp>
        <p:nvSpPr>
          <p:cNvPr id="34" name="Text 26"/>
          <p:cNvSpPr txBox="1"/>
          <p:nvPr/>
        </p:nvSpPr>
        <p:spPr>
          <a:xfrm>
            <a:off x="6976872" y="4370832"/>
            <a:ext cx="448056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Ce sont des inférences — chacune doit être justifiée.</a:t>
            </a:r>
            <a:endParaRPr lang="fr-FR" sz="1150" dirty="0"/>
          </a:p>
        </p:txBody>
      </p:sp>
      <p:sp>
        <p:nvSpPr>
          <p:cNvPr id="35" name="Shape 27"/>
          <p:cNvSpPr/>
          <p:nvPr/>
        </p:nvSpPr>
        <p:spPr>
          <a:xfrm>
            <a:off x="548640" y="4946904"/>
            <a:ext cx="5440680" cy="868680"/>
          </a:xfrm>
          <a:prstGeom prst="roundRect">
            <a:avLst>
              <a:gd name="adj" fmla="val 8421"/>
            </a:avLst>
          </a:prstGeom>
          <a:solidFill>
            <a:srgbClr val="E6F6EE"/>
          </a:solidFill>
          <a:ln w="9525">
            <a:solidFill>
              <a:srgbClr val="BFE3CF"/>
            </a:solidFill>
            <a:prstDash val="solid"/>
          </a:ln>
        </p:spPr>
      </p:sp>
      <p:pic>
        <p:nvPicPr>
          <p:cNvPr id="36" name="Image 6" descr="preencoded.png"/>
          <p:cNvPicPr>
            <a:picLocks noChangeAspect="1"/>
          </p:cNvPicPr>
          <p:nvPr/>
        </p:nvPicPr>
        <p:blipFill>
          <a:blip r:embed="rId5"/>
          <a:stretch>
            <a:fillRect/>
          </a:stretch>
        </p:blipFill>
        <p:spPr>
          <a:xfrm>
            <a:off x="731520" y="5175504"/>
            <a:ext cx="411480" cy="411480"/>
          </a:xfrm>
          <a:prstGeom prst="rect">
            <a:avLst/>
          </a:prstGeom>
        </p:spPr>
      </p:pic>
      <p:sp>
        <p:nvSpPr>
          <p:cNvPr id="37" name="Text 28"/>
          <p:cNvSpPr txBox="1"/>
          <p:nvPr/>
        </p:nvSpPr>
        <p:spPr>
          <a:xfrm>
            <a:off x="1325880" y="5056632"/>
            <a:ext cx="4480560" cy="292608"/>
          </a:xfrm>
          <a:prstGeom prst="rect">
            <a:avLst/>
          </a:prstGeom>
          <a:noFill/>
          <a:ln/>
        </p:spPr>
        <p:txBody>
          <a:bodyPr wrap="square" lIns="0" tIns="0" rIns="0" bIns="0" rtlCol="0" anchor="t"/>
          <a:lstStyle/>
          <a:p>
            <a:pPr marL="0" indent="0">
              <a:buNone/>
            </a:pPr>
            <a:r>
              <a:rPr lang="fr-FR" sz="1300" b="1" dirty="0">
                <a:solidFill>
                  <a:srgbClr val="231F20"/>
                </a:solidFill>
                <a:latin typeface="Calibri" pitchFamily="34" charset="0"/>
                <a:ea typeface="Calibri" pitchFamily="34" charset="-122"/>
                <a:cs typeface="Calibri" pitchFamily="34" charset="-120"/>
              </a:rPr>
              <a:t>Un enregistrement quasi temps réel</a:t>
            </a:r>
            <a:endParaRPr lang="fr-FR" sz="1300" dirty="0"/>
          </a:p>
        </p:txBody>
      </p:sp>
      <p:sp>
        <p:nvSpPr>
          <p:cNvPr id="38" name="Text 29"/>
          <p:cNvSpPr txBox="1"/>
          <p:nvPr/>
        </p:nvSpPr>
        <p:spPr>
          <a:xfrm>
            <a:off x="1325880" y="5358384"/>
            <a:ext cx="448056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Quotidien depuis 2012 ; composites mensuels et annuels gratuits.</a:t>
            </a:r>
            <a:endParaRPr lang="fr-FR" sz="1150" dirty="0"/>
          </a:p>
        </p:txBody>
      </p:sp>
      <p:sp>
        <p:nvSpPr>
          <p:cNvPr id="39" name="Shape 30"/>
          <p:cNvSpPr/>
          <p:nvPr/>
        </p:nvSpPr>
        <p:spPr>
          <a:xfrm>
            <a:off x="6199632" y="4946904"/>
            <a:ext cx="5440680" cy="868680"/>
          </a:xfrm>
          <a:prstGeom prst="roundRect">
            <a:avLst>
              <a:gd name="adj" fmla="val 8421"/>
            </a:avLst>
          </a:prstGeom>
          <a:solidFill>
            <a:srgbClr val="FBE9E7"/>
          </a:solidFill>
          <a:ln w="9525">
            <a:solidFill>
              <a:srgbClr val="F0C6C2"/>
            </a:solidFill>
            <a:prstDash val="solid"/>
          </a:ln>
        </p:spPr>
      </p:sp>
      <p:pic>
        <p:nvPicPr>
          <p:cNvPr id="40" name="Image 7" descr="preencoded.png"/>
          <p:cNvPicPr>
            <a:picLocks noChangeAspect="1"/>
          </p:cNvPicPr>
          <p:nvPr/>
        </p:nvPicPr>
        <p:blipFill>
          <a:blip r:embed="rId6"/>
          <a:stretch>
            <a:fillRect/>
          </a:stretch>
        </p:blipFill>
        <p:spPr>
          <a:xfrm>
            <a:off x="6382512" y="5175504"/>
            <a:ext cx="411480" cy="411480"/>
          </a:xfrm>
          <a:prstGeom prst="rect">
            <a:avLst/>
          </a:prstGeom>
        </p:spPr>
      </p:pic>
      <p:sp>
        <p:nvSpPr>
          <p:cNvPr id="41" name="Text 31"/>
          <p:cNvSpPr txBox="1"/>
          <p:nvPr/>
        </p:nvSpPr>
        <p:spPr>
          <a:xfrm>
            <a:off x="6976872" y="5056632"/>
            <a:ext cx="4480560" cy="292608"/>
          </a:xfrm>
          <a:prstGeom prst="rect">
            <a:avLst/>
          </a:prstGeom>
          <a:noFill/>
          <a:ln/>
        </p:spPr>
        <p:txBody>
          <a:bodyPr wrap="square" lIns="0" tIns="0" rIns="0" bIns="0" rtlCol="0" anchor="t"/>
          <a:lstStyle/>
          <a:p>
            <a:pPr marL="0" indent="0">
              <a:buNone/>
            </a:pPr>
            <a:r>
              <a:rPr lang="fr-FR" sz="1300" b="1" dirty="0">
                <a:solidFill>
                  <a:srgbClr val="231F20"/>
                </a:solidFill>
                <a:latin typeface="Calibri" pitchFamily="34" charset="0"/>
                <a:ea typeface="Calibri" pitchFamily="34" charset="-122"/>
                <a:cs typeface="Calibri" pitchFamily="34" charset="-120"/>
              </a:rPr>
              <a:t>Un relevé complet de l’éclairage</a:t>
            </a:r>
            <a:endParaRPr lang="fr-FR" sz="1300" dirty="0"/>
          </a:p>
        </p:txBody>
      </p:sp>
      <p:sp>
        <p:nvSpPr>
          <p:cNvPr id="42" name="Text 32"/>
          <p:cNvSpPr txBox="1"/>
          <p:nvPr/>
        </p:nvSpPr>
        <p:spPr>
          <a:xfrm>
            <a:off x="6976872" y="5358384"/>
            <a:ext cx="448056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La lumière intérieure, occultée ou latérale n’atteint jamais le capteur.</a:t>
            </a:r>
            <a:endParaRPr lang="fr-FR"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01 · FONDEMENTS · LA CHAÎNE D’INFÉRENCE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De l’électricité au pixel : cinq maillons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7</a:t>
            </a:r>
            <a:endParaRPr lang="fr-FR" sz="900" dirty="0"/>
          </a:p>
        </p:txBody>
      </p:sp>
      <p:sp>
        <p:nvSpPr>
          <p:cNvPr id="12" name="Shape 9"/>
          <p:cNvSpPr/>
          <p:nvPr/>
        </p:nvSpPr>
        <p:spPr>
          <a:xfrm>
            <a:off x="548640" y="1417320"/>
            <a:ext cx="2103120" cy="2331720"/>
          </a:xfrm>
          <a:prstGeom prst="roundRect">
            <a:avLst>
              <a:gd name="adj" fmla="val 3478"/>
            </a:avLst>
          </a:prstGeom>
          <a:solidFill>
            <a:srgbClr val="F4F7F5"/>
          </a:solidFill>
          <a:ln w="9525">
            <a:solidFill>
              <a:srgbClr val="D5DED9"/>
            </a:solidFill>
            <a:prstDash val="solid"/>
          </a:ln>
        </p:spPr>
      </p:sp>
      <p:sp>
        <p:nvSpPr>
          <p:cNvPr id="13" name="Shape 10"/>
          <p:cNvSpPr/>
          <p:nvPr/>
        </p:nvSpPr>
        <p:spPr>
          <a:xfrm>
            <a:off x="713232" y="1581912"/>
            <a:ext cx="411480" cy="411480"/>
          </a:xfrm>
          <a:prstGeom prst="ellipse">
            <a:avLst/>
          </a:prstGeom>
          <a:solidFill>
            <a:srgbClr val="00704A"/>
          </a:solidFill>
          <a:ln w="12700">
            <a:solidFill>
              <a:srgbClr val="00704A"/>
            </a:solidFill>
            <a:prstDash val="solid"/>
          </a:ln>
        </p:spPr>
      </p:sp>
      <p:sp>
        <p:nvSpPr>
          <p:cNvPr id="14" name="Text 11"/>
          <p:cNvSpPr txBox="1"/>
          <p:nvPr/>
        </p:nvSpPr>
        <p:spPr>
          <a:xfrm>
            <a:off x="713232" y="1581912"/>
            <a:ext cx="411480" cy="411480"/>
          </a:xfrm>
          <a:prstGeom prst="rect">
            <a:avLst/>
          </a:prstGeom>
          <a:noFill/>
          <a:ln/>
        </p:spPr>
        <p:txBody>
          <a:bodyPr wrap="square" lIns="0" tIns="0" rIns="0" bIns="0" rtlCol="0" anchor="ctr"/>
          <a:lstStyle/>
          <a:p>
            <a:pPr marL="0" indent="0" algn="ctr">
              <a:buNone/>
            </a:pPr>
            <a:r>
              <a:rPr lang="fr-FR" sz="1170" b="1" dirty="0">
                <a:solidFill>
                  <a:srgbClr val="FFFFFF"/>
                </a:solidFill>
                <a:latin typeface="Calibri" pitchFamily="34" charset="0"/>
                <a:ea typeface="Calibri" pitchFamily="34" charset="-122"/>
                <a:cs typeface="Calibri" pitchFamily="34" charset="-120"/>
              </a:rPr>
              <a:t>1</a:t>
            </a:r>
            <a:endParaRPr lang="fr-FR" sz="1170" dirty="0"/>
          </a:p>
        </p:txBody>
      </p:sp>
      <p:pic>
        <p:nvPicPr>
          <p:cNvPr id="15" name="Image 1" descr="preencoded.png"/>
          <p:cNvPicPr>
            <a:picLocks noChangeAspect="1"/>
          </p:cNvPicPr>
          <p:nvPr/>
        </p:nvPicPr>
        <p:blipFill>
          <a:blip r:embed="rId4"/>
          <a:stretch>
            <a:fillRect/>
          </a:stretch>
        </p:blipFill>
        <p:spPr>
          <a:xfrm>
            <a:off x="2084832" y="1618488"/>
            <a:ext cx="347472" cy="347472"/>
          </a:xfrm>
          <a:prstGeom prst="rect">
            <a:avLst/>
          </a:prstGeom>
        </p:spPr>
      </p:pic>
      <p:sp>
        <p:nvSpPr>
          <p:cNvPr id="16" name="Text 12"/>
          <p:cNvSpPr txBox="1"/>
          <p:nvPr/>
        </p:nvSpPr>
        <p:spPr>
          <a:xfrm>
            <a:off x="713232" y="2148840"/>
            <a:ext cx="1773936" cy="50292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Énergie et infrastructure</a:t>
            </a:r>
            <a:endParaRPr lang="fr-FR" sz="1350" dirty="0"/>
          </a:p>
        </p:txBody>
      </p:sp>
      <p:sp>
        <p:nvSpPr>
          <p:cNvPr id="17" name="Text 13"/>
          <p:cNvSpPr txBox="1"/>
          <p:nvPr/>
        </p:nvSpPr>
        <p:spPr>
          <a:xfrm>
            <a:off x="713232" y="2679192"/>
            <a:ext cx="1773936" cy="100584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Un réseau, un groupe électrogène ou du carburant existe et fonctionne.</a:t>
            </a:r>
            <a:endParaRPr lang="fr-FR" sz="1150" dirty="0"/>
          </a:p>
        </p:txBody>
      </p:sp>
      <p:sp>
        <p:nvSpPr>
          <p:cNvPr id="18" name="Text 14"/>
          <p:cNvSpPr txBox="1"/>
          <p:nvPr/>
        </p:nvSpPr>
        <p:spPr>
          <a:xfrm>
            <a:off x="2633472" y="2331720"/>
            <a:ext cx="178308" cy="365760"/>
          </a:xfrm>
          <a:prstGeom prst="rect">
            <a:avLst/>
          </a:prstGeom>
          <a:noFill/>
          <a:ln/>
        </p:spPr>
        <p:txBody>
          <a:bodyPr wrap="square" lIns="0" tIns="0" rIns="0" bIns="0" rtlCol="0" anchor="t"/>
          <a:lstStyle/>
          <a:p>
            <a:pPr marL="0" indent="0" algn="ctr">
              <a:buNone/>
            </a:pPr>
            <a:r>
              <a:rPr lang="fr-FR" sz="2000" b="1" dirty="0">
                <a:solidFill>
                  <a:srgbClr val="00A86A"/>
                </a:solidFill>
                <a:latin typeface="Calibri" pitchFamily="34" charset="0"/>
                <a:ea typeface="Calibri" pitchFamily="34" charset="-122"/>
                <a:cs typeface="Calibri" pitchFamily="34" charset="-120"/>
              </a:rPr>
              <a:t>›</a:t>
            </a:r>
            <a:endParaRPr lang="fr-FR" sz="2000" dirty="0"/>
          </a:p>
        </p:txBody>
      </p:sp>
      <p:sp>
        <p:nvSpPr>
          <p:cNvPr id="19" name="Shape 15"/>
          <p:cNvSpPr/>
          <p:nvPr/>
        </p:nvSpPr>
        <p:spPr>
          <a:xfrm>
            <a:off x="2793492" y="1417320"/>
            <a:ext cx="2103120" cy="2331720"/>
          </a:xfrm>
          <a:prstGeom prst="roundRect">
            <a:avLst>
              <a:gd name="adj" fmla="val 3478"/>
            </a:avLst>
          </a:prstGeom>
          <a:solidFill>
            <a:srgbClr val="F4F7F5"/>
          </a:solidFill>
          <a:ln w="9525">
            <a:solidFill>
              <a:srgbClr val="D5DED9"/>
            </a:solidFill>
            <a:prstDash val="solid"/>
          </a:ln>
        </p:spPr>
      </p:sp>
      <p:sp>
        <p:nvSpPr>
          <p:cNvPr id="20" name="Shape 16"/>
          <p:cNvSpPr/>
          <p:nvPr/>
        </p:nvSpPr>
        <p:spPr>
          <a:xfrm>
            <a:off x="2958084" y="1581912"/>
            <a:ext cx="411480" cy="411480"/>
          </a:xfrm>
          <a:prstGeom prst="ellipse">
            <a:avLst/>
          </a:prstGeom>
          <a:solidFill>
            <a:srgbClr val="00704A"/>
          </a:solidFill>
          <a:ln w="12700">
            <a:solidFill>
              <a:srgbClr val="00704A"/>
            </a:solidFill>
            <a:prstDash val="solid"/>
          </a:ln>
        </p:spPr>
      </p:sp>
      <p:sp>
        <p:nvSpPr>
          <p:cNvPr id="21" name="Text 17"/>
          <p:cNvSpPr txBox="1"/>
          <p:nvPr/>
        </p:nvSpPr>
        <p:spPr>
          <a:xfrm>
            <a:off x="2958084" y="1581912"/>
            <a:ext cx="411480" cy="411480"/>
          </a:xfrm>
          <a:prstGeom prst="rect">
            <a:avLst/>
          </a:prstGeom>
          <a:noFill/>
          <a:ln/>
        </p:spPr>
        <p:txBody>
          <a:bodyPr wrap="square" lIns="0" tIns="0" rIns="0" bIns="0" rtlCol="0" anchor="ctr"/>
          <a:lstStyle/>
          <a:p>
            <a:pPr marL="0" indent="0" algn="ctr">
              <a:buNone/>
            </a:pPr>
            <a:r>
              <a:rPr lang="fr-FR" sz="1170" b="1" dirty="0">
                <a:solidFill>
                  <a:srgbClr val="FFFFFF"/>
                </a:solidFill>
                <a:latin typeface="Calibri" pitchFamily="34" charset="0"/>
                <a:ea typeface="Calibri" pitchFamily="34" charset="-122"/>
                <a:cs typeface="Calibri" pitchFamily="34" charset="-120"/>
              </a:rPr>
              <a:t>2</a:t>
            </a:r>
            <a:endParaRPr lang="fr-FR" sz="1170" dirty="0"/>
          </a:p>
        </p:txBody>
      </p:sp>
      <p:pic>
        <p:nvPicPr>
          <p:cNvPr id="22" name="Image 2" descr="preencoded.png"/>
          <p:cNvPicPr>
            <a:picLocks noChangeAspect="1"/>
          </p:cNvPicPr>
          <p:nvPr/>
        </p:nvPicPr>
        <p:blipFill>
          <a:blip r:embed="rId5"/>
          <a:stretch>
            <a:fillRect/>
          </a:stretch>
        </p:blipFill>
        <p:spPr>
          <a:xfrm>
            <a:off x="4329684" y="1618488"/>
            <a:ext cx="347472" cy="347472"/>
          </a:xfrm>
          <a:prstGeom prst="rect">
            <a:avLst/>
          </a:prstGeom>
        </p:spPr>
      </p:pic>
      <p:sp>
        <p:nvSpPr>
          <p:cNvPr id="23" name="Text 18"/>
          <p:cNvSpPr txBox="1"/>
          <p:nvPr/>
        </p:nvSpPr>
        <p:spPr>
          <a:xfrm>
            <a:off x="2958084" y="2148840"/>
            <a:ext cx="1773936" cy="50292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Activité après la nuit tombée</a:t>
            </a:r>
            <a:endParaRPr lang="fr-FR" sz="1350" dirty="0"/>
          </a:p>
        </p:txBody>
      </p:sp>
      <p:sp>
        <p:nvSpPr>
          <p:cNvPr id="24" name="Text 19"/>
          <p:cNvSpPr txBox="1"/>
          <p:nvPr/>
        </p:nvSpPr>
        <p:spPr>
          <a:xfrm>
            <a:off x="2958084" y="2679192"/>
            <a:ext cx="1773936" cy="100584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L’énergie sert à éclairer : rues, maisons, marchés, industrie.</a:t>
            </a:r>
            <a:endParaRPr lang="fr-FR" sz="1150" dirty="0"/>
          </a:p>
        </p:txBody>
      </p:sp>
      <p:sp>
        <p:nvSpPr>
          <p:cNvPr id="25" name="Text 20"/>
          <p:cNvSpPr txBox="1"/>
          <p:nvPr/>
        </p:nvSpPr>
        <p:spPr>
          <a:xfrm>
            <a:off x="4878324" y="2331720"/>
            <a:ext cx="178308" cy="365760"/>
          </a:xfrm>
          <a:prstGeom prst="rect">
            <a:avLst/>
          </a:prstGeom>
          <a:noFill/>
          <a:ln/>
        </p:spPr>
        <p:txBody>
          <a:bodyPr wrap="square" lIns="0" tIns="0" rIns="0" bIns="0" rtlCol="0" anchor="t"/>
          <a:lstStyle/>
          <a:p>
            <a:pPr marL="0" indent="0" algn="ctr">
              <a:buNone/>
            </a:pPr>
            <a:r>
              <a:rPr lang="fr-FR" sz="2000" b="1" dirty="0">
                <a:solidFill>
                  <a:srgbClr val="00A86A"/>
                </a:solidFill>
                <a:latin typeface="Calibri" pitchFamily="34" charset="0"/>
                <a:ea typeface="Calibri" pitchFamily="34" charset="-122"/>
                <a:cs typeface="Calibri" pitchFamily="34" charset="-120"/>
              </a:rPr>
              <a:t>›</a:t>
            </a:r>
            <a:endParaRPr lang="fr-FR" sz="2000" dirty="0"/>
          </a:p>
        </p:txBody>
      </p:sp>
      <p:sp>
        <p:nvSpPr>
          <p:cNvPr id="26" name="Shape 21"/>
          <p:cNvSpPr/>
          <p:nvPr/>
        </p:nvSpPr>
        <p:spPr>
          <a:xfrm>
            <a:off x="5038344" y="1417320"/>
            <a:ext cx="2103120" cy="2331720"/>
          </a:xfrm>
          <a:prstGeom prst="roundRect">
            <a:avLst>
              <a:gd name="adj" fmla="val 3478"/>
            </a:avLst>
          </a:prstGeom>
          <a:solidFill>
            <a:srgbClr val="F4F7F5"/>
          </a:solidFill>
          <a:ln w="9525">
            <a:solidFill>
              <a:srgbClr val="D5DED9"/>
            </a:solidFill>
            <a:prstDash val="solid"/>
          </a:ln>
        </p:spPr>
      </p:sp>
      <p:sp>
        <p:nvSpPr>
          <p:cNvPr id="27" name="Shape 22"/>
          <p:cNvSpPr/>
          <p:nvPr/>
        </p:nvSpPr>
        <p:spPr>
          <a:xfrm>
            <a:off x="5202936" y="1581912"/>
            <a:ext cx="411480" cy="411480"/>
          </a:xfrm>
          <a:prstGeom prst="ellipse">
            <a:avLst/>
          </a:prstGeom>
          <a:solidFill>
            <a:srgbClr val="00704A"/>
          </a:solidFill>
          <a:ln w="12700">
            <a:solidFill>
              <a:srgbClr val="00704A"/>
            </a:solidFill>
            <a:prstDash val="solid"/>
          </a:ln>
        </p:spPr>
      </p:sp>
      <p:sp>
        <p:nvSpPr>
          <p:cNvPr id="28" name="Text 23"/>
          <p:cNvSpPr txBox="1"/>
          <p:nvPr/>
        </p:nvSpPr>
        <p:spPr>
          <a:xfrm>
            <a:off x="5202936" y="1581912"/>
            <a:ext cx="411480" cy="411480"/>
          </a:xfrm>
          <a:prstGeom prst="rect">
            <a:avLst/>
          </a:prstGeom>
          <a:noFill/>
          <a:ln/>
        </p:spPr>
        <p:txBody>
          <a:bodyPr wrap="square" lIns="0" tIns="0" rIns="0" bIns="0" rtlCol="0" anchor="ctr"/>
          <a:lstStyle/>
          <a:p>
            <a:pPr marL="0" indent="0" algn="ctr">
              <a:buNone/>
            </a:pPr>
            <a:r>
              <a:rPr lang="fr-FR" sz="1170" b="1" dirty="0">
                <a:solidFill>
                  <a:srgbClr val="FFFFFF"/>
                </a:solidFill>
                <a:latin typeface="Calibri" pitchFamily="34" charset="0"/>
                <a:ea typeface="Calibri" pitchFamily="34" charset="-122"/>
                <a:cs typeface="Calibri" pitchFamily="34" charset="-120"/>
              </a:rPr>
              <a:t>3</a:t>
            </a:r>
            <a:endParaRPr lang="fr-FR" sz="1170" dirty="0"/>
          </a:p>
        </p:txBody>
      </p:sp>
      <p:pic>
        <p:nvPicPr>
          <p:cNvPr id="29" name="Image 3" descr="preencoded.png"/>
          <p:cNvPicPr>
            <a:picLocks noChangeAspect="1"/>
          </p:cNvPicPr>
          <p:nvPr/>
        </p:nvPicPr>
        <p:blipFill>
          <a:blip r:embed="rId6"/>
          <a:stretch>
            <a:fillRect/>
          </a:stretch>
        </p:blipFill>
        <p:spPr>
          <a:xfrm>
            <a:off x="6574536" y="1618488"/>
            <a:ext cx="347472" cy="347472"/>
          </a:xfrm>
          <a:prstGeom prst="rect">
            <a:avLst/>
          </a:prstGeom>
        </p:spPr>
      </p:pic>
      <p:sp>
        <p:nvSpPr>
          <p:cNvPr id="30" name="Text 24"/>
          <p:cNvSpPr txBox="1"/>
          <p:nvPr/>
        </p:nvSpPr>
        <p:spPr>
          <a:xfrm>
            <a:off x="5202936" y="2148840"/>
            <a:ext cx="1773936" cy="50292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Émission vers le haut</a:t>
            </a:r>
            <a:endParaRPr lang="fr-FR" sz="1350" dirty="0"/>
          </a:p>
        </p:txBody>
      </p:sp>
      <p:sp>
        <p:nvSpPr>
          <p:cNvPr id="31" name="Text 25"/>
          <p:cNvSpPr txBox="1"/>
          <p:nvPr/>
        </p:nvSpPr>
        <p:spPr>
          <a:xfrm>
            <a:off x="5202936" y="2679192"/>
            <a:ext cx="1773936" cy="100584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Une partie de la lumière s’échappe vers le ciel au lieu d’être occultée.</a:t>
            </a:r>
            <a:endParaRPr lang="fr-FR" sz="1150" dirty="0"/>
          </a:p>
        </p:txBody>
      </p:sp>
      <p:sp>
        <p:nvSpPr>
          <p:cNvPr id="32" name="Text 26"/>
          <p:cNvSpPr txBox="1"/>
          <p:nvPr/>
        </p:nvSpPr>
        <p:spPr>
          <a:xfrm>
            <a:off x="7123176" y="2331720"/>
            <a:ext cx="178308" cy="365760"/>
          </a:xfrm>
          <a:prstGeom prst="rect">
            <a:avLst/>
          </a:prstGeom>
          <a:noFill/>
          <a:ln/>
        </p:spPr>
        <p:txBody>
          <a:bodyPr wrap="square" lIns="0" tIns="0" rIns="0" bIns="0" rtlCol="0" anchor="t"/>
          <a:lstStyle/>
          <a:p>
            <a:pPr marL="0" indent="0" algn="ctr">
              <a:buNone/>
            </a:pPr>
            <a:r>
              <a:rPr lang="fr-FR" sz="2000" b="1" dirty="0">
                <a:solidFill>
                  <a:srgbClr val="00A86A"/>
                </a:solidFill>
                <a:latin typeface="Calibri" pitchFamily="34" charset="0"/>
                <a:ea typeface="Calibri" pitchFamily="34" charset="-122"/>
                <a:cs typeface="Calibri" pitchFamily="34" charset="-120"/>
              </a:rPr>
              <a:t>›</a:t>
            </a:r>
            <a:endParaRPr lang="fr-FR" sz="2000" dirty="0"/>
          </a:p>
        </p:txBody>
      </p:sp>
      <p:sp>
        <p:nvSpPr>
          <p:cNvPr id="33" name="Shape 27"/>
          <p:cNvSpPr/>
          <p:nvPr/>
        </p:nvSpPr>
        <p:spPr>
          <a:xfrm>
            <a:off x="7283196" y="1417320"/>
            <a:ext cx="2103120" cy="2331720"/>
          </a:xfrm>
          <a:prstGeom prst="roundRect">
            <a:avLst>
              <a:gd name="adj" fmla="val 3478"/>
            </a:avLst>
          </a:prstGeom>
          <a:solidFill>
            <a:srgbClr val="F4F7F5"/>
          </a:solidFill>
          <a:ln w="9525">
            <a:solidFill>
              <a:srgbClr val="D5DED9"/>
            </a:solidFill>
            <a:prstDash val="solid"/>
          </a:ln>
        </p:spPr>
      </p:sp>
      <p:sp>
        <p:nvSpPr>
          <p:cNvPr id="34" name="Shape 28"/>
          <p:cNvSpPr/>
          <p:nvPr/>
        </p:nvSpPr>
        <p:spPr>
          <a:xfrm>
            <a:off x="7447788" y="1581912"/>
            <a:ext cx="411480" cy="411480"/>
          </a:xfrm>
          <a:prstGeom prst="ellipse">
            <a:avLst/>
          </a:prstGeom>
          <a:solidFill>
            <a:srgbClr val="00704A"/>
          </a:solidFill>
          <a:ln w="12700">
            <a:solidFill>
              <a:srgbClr val="00704A"/>
            </a:solidFill>
            <a:prstDash val="solid"/>
          </a:ln>
        </p:spPr>
      </p:sp>
      <p:sp>
        <p:nvSpPr>
          <p:cNvPr id="35" name="Text 29"/>
          <p:cNvSpPr txBox="1"/>
          <p:nvPr/>
        </p:nvSpPr>
        <p:spPr>
          <a:xfrm>
            <a:off x="7447788" y="1581912"/>
            <a:ext cx="411480" cy="411480"/>
          </a:xfrm>
          <a:prstGeom prst="rect">
            <a:avLst/>
          </a:prstGeom>
          <a:noFill/>
          <a:ln/>
        </p:spPr>
        <p:txBody>
          <a:bodyPr wrap="square" lIns="0" tIns="0" rIns="0" bIns="0" rtlCol="0" anchor="ctr"/>
          <a:lstStyle/>
          <a:p>
            <a:pPr marL="0" indent="0" algn="ctr">
              <a:buNone/>
            </a:pPr>
            <a:r>
              <a:rPr lang="fr-FR" sz="1170" b="1" dirty="0">
                <a:solidFill>
                  <a:srgbClr val="FFFFFF"/>
                </a:solidFill>
                <a:latin typeface="Calibri" pitchFamily="34" charset="0"/>
                <a:ea typeface="Calibri" pitchFamily="34" charset="-122"/>
                <a:cs typeface="Calibri" pitchFamily="34" charset="-120"/>
              </a:rPr>
              <a:t>4</a:t>
            </a:r>
            <a:endParaRPr lang="fr-FR" sz="1170" dirty="0"/>
          </a:p>
        </p:txBody>
      </p:sp>
      <p:pic>
        <p:nvPicPr>
          <p:cNvPr id="36" name="Image 4" descr="preencoded.png"/>
          <p:cNvPicPr>
            <a:picLocks noChangeAspect="1"/>
          </p:cNvPicPr>
          <p:nvPr/>
        </p:nvPicPr>
        <p:blipFill>
          <a:blip r:embed="rId7"/>
          <a:stretch>
            <a:fillRect/>
          </a:stretch>
        </p:blipFill>
        <p:spPr>
          <a:xfrm>
            <a:off x="8819388" y="1618488"/>
            <a:ext cx="347472" cy="347472"/>
          </a:xfrm>
          <a:prstGeom prst="rect">
            <a:avLst/>
          </a:prstGeom>
        </p:spPr>
      </p:pic>
      <p:sp>
        <p:nvSpPr>
          <p:cNvPr id="37" name="Text 30"/>
          <p:cNvSpPr txBox="1"/>
          <p:nvPr/>
        </p:nvSpPr>
        <p:spPr>
          <a:xfrm>
            <a:off x="7447788" y="2148840"/>
            <a:ext cx="1773936" cy="50292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Transfert atmosphérique</a:t>
            </a:r>
            <a:endParaRPr lang="fr-FR" sz="1350" dirty="0"/>
          </a:p>
        </p:txBody>
      </p:sp>
      <p:sp>
        <p:nvSpPr>
          <p:cNvPr id="38" name="Text 31"/>
          <p:cNvSpPr txBox="1"/>
          <p:nvPr/>
        </p:nvSpPr>
        <p:spPr>
          <a:xfrm>
            <a:off x="7447788" y="2679192"/>
            <a:ext cx="1773936" cy="100584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Les photons traversent l’atmosphère, atténués par aérosols, vapeur et nuages.</a:t>
            </a:r>
            <a:endParaRPr lang="fr-FR" sz="1150" dirty="0"/>
          </a:p>
        </p:txBody>
      </p:sp>
      <p:sp>
        <p:nvSpPr>
          <p:cNvPr id="39" name="Text 32"/>
          <p:cNvSpPr txBox="1"/>
          <p:nvPr/>
        </p:nvSpPr>
        <p:spPr>
          <a:xfrm>
            <a:off x="9368028" y="2331720"/>
            <a:ext cx="178308" cy="365760"/>
          </a:xfrm>
          <a:prstGeom prst="rect">
            <a:avLst/>
          </a:prstGeom>
          <a:noFill/>
          <a:ln/>
        </p:spPr>
        <p:txBody>
          <a:bodyPr wrap="square" lIns="0" tIns="0" rIns="0" bIns="0" rtlCol="0" anchor="t"/>
          <a:lstStyle/>
          <a:p>
            <a:pPr marL="0" indent="0" algn="ctr">
              <a:buNone/>
            </a:pPr>
            <a:r>
              <a:rPr lang="fr-FR" sz="2000" b="1" dirty="0">
                <a:solidFill>
                  <a:srgbClr val="00A86A"/>
                </a:solidFill>
                <a:latin typeface="Calibri" pitchFamily="34" charset="0"/>
                <a:ea typeface="Calibri" pitchFamily="34" charset="-122"/>
                <a:cs typeface="Calibri" pitchFamily="34" charset="-120"/>
              </a:rPr>
              <a:t>›</a:t>
            </a:r>
            <a:endParaRPr lang="fr-FR" sz="2000" dirty="0"/>
          </a:p>
        </p:txBody>
      </p:sp>
      <p:sp>
        <p:nvSpPr>
          <p:cNvPr id="40" name="Shape 33"/>
          <p:cNvSpPr/>
          <p:nvPr/>
        </p:nvSpPr>
        <p:spPr>
          <a:xfrm>
            <a:off x="9528048" y="1417320"/>
            <a:ext cx="2103120" cy="2331720"/>
          </a:xfrm>
          <a:prstGeom prst="roundRect">
            <a:avLst>
              <a:gd name="adj" fmla="val 3478"/>
            </a:avLst>
          </a:prstGeom>
          <a:solidFill>
            <a:srgbClr val="F4F7F5"/>
          </a:solidFill>
          <a:ln w="9525">
            <a:solidFill>
              <a:srgbClr val="D5DED9"/>
            </a:solidFill>
            <a:prstDash val="solid"/>
          </a:ln>
        </p:spPr>
      </p:sp>
      <p:sp>
        <p:nvSpPr>
          <p:cNvPr id="41" name="Shape 34"/>
          <p:cNvSpPr/>
          <p:nvPr/>
        </p:nvSpPr>
        <p:spPr>
          <a:xfrm>
            <a:off x="9692640" y="1581912"/>
            <a:ext cx="411480" cy="411480"/>
          </a:xfrm>
          <a:prstGeom prst="ellipse">
            <a:avLst/>
          </a:prstGeom>
          <a:solidFill>
            <a:srgbClr val="00704A"/>
          </a:solidFill>
          <a:ln w="12700">
            <a:solidFill>
              <a:srgbClr val="00704A"/>
            </a:solidFill>
            <a:prstDash val="solid"/>
          </a:ln>
        </p:spPr>
      </p:sp>
      <p:sp>
        <p:nvSpPr>
          <p:cNvPr id="42" name="Text 35"/>
          <p:cNvSpPr txBox="1"/>
          <p:nvPr/>
        </p:nvSpPr>
        <p:spPr>
          <a:xfrm>
            <a:off x="9692640" y="1581912"/>
            <a:ext cx="411480" cy="411480"/>
          </a:xfrm>
          <a:prstGeom prst="rect">
            <a:avLst/>
          </a:prstGeom>
          <a:noFill/>
          <a:ln/>
        </p:spPr>
        <p:txBody>
          <a:bodyPr wrap="square" lIns="0" tIns="0" rIns="0" bIns="0" rtlCol="0" anchor="ctr"/>
          <a:lstStyle/>
          <a:p>
            <a:pPr marL="0" indent="0" algn="ctr">
              <a:buNone/>
            </a:pPr>
            <a:r>
              <a:rPr lang="fr-FR" sz="1170" b="1" dirty="0">
                <a:solidFill>
                  <a:srgbClr val="FFFFFF"/>
                </a:solidFill>
                <a:latin typeface="Calibri" pitchFamily="34" charset="0"/>
                <a:ea typeface="Calibri" pitchFamily="34" charset="-122"/>
                <a:cs typeface="Calibri" pitchFamily="34" charset="-120"/>
              </a:rPr>
              <a:t>5</a:t>
            </a:r>
            <a:endParaRPr lang="fr-FR" sz="1170" dirty="0"/>
          </a:p>
        </p:txBody>
      </p:sp>
      <p:pic>
        <p:nvPicPr>
          <p:cNvPr id="43" name="Image 5" descr="preencoded.png"/>
          <p:cNvPicPr>
            <a:picLocks noChangeAspect="1"/>
          </p:cNvPicPr>
          <p:nvPr/>
        </p:nvPicPr>
        <p:blipFill>
          <a:blip r:embed="rId8"/>
          <a:stretch>
            <a:fillRect/>
          </a:stretch>
        </p:blipFill>
        <p:spPr>
          <a:xfrm>
            <a:off x="11064240" y="1618488"/>
            <a:ext cx="347472" cy="347472"/>
          </a:xfrm>
          <a:prstGeom prst="rect">
            <a:avLst/>
          </a:prstGeom>
        </p:spPr>
      </p:pic>
      <p:sp>
        <p:nvSpPr>
          <p:cNvPr id="44" name="Text 36"/>
          <p:cNvSpPr txBox="1"/>
          <p:nvPr/>
        </p:nvSpPr>
        <p:spPr>
          <a:xfrm>
            <a:off x="9692640" y="2148840"/>
            <a:ext cx="1773936" cy="50292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Réponse du capteur</a:t>
            </a:r>
            <a:endParaRPr lang="fr-FR" sz="1350" dirty="0"/>
          </a:p>
        </p:txBody>
      </p:sp>
      <p:sp>
        <p:nvSpPr>
          <p:cNvPr id="45" name="Text 37"/>
          <p:cNvSpPr txBox="1"/>
          <p:nvPr/>
        </p:nvSpPr>
        <p:spPr>
          <a:xfrm>
            <a:off x="9692640" y="2679192"/>
            <a:ext cx="1773936" cy="100584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Le détecteur les intègre sur sa bande en une valeur de radiance.</a:t>
            </a:r>
            <a:endParaRPr lang="fr-FR" sz="1150" dirty="0"/>
          </a:p>
        </p:txBody>
      </p:sp>
      <p:sp>
        <p:nvSpPr>
          <p:cNvPr id="46" name="Shape 38"/>
          <p:cNvSpPr/>
          <p:nvPr/>
        </p:nvSpPr>
        <p:spPr>
          <a:xfrm>
            <a:off x="548640" y="3977640"/>
            <a:ext cx="11094415" cy="2103120"/>
          </a:xfrm>
          <a:prstGeom prst="roundRect">
            <a:avLst>
              <a:gd name="adj" fmla="val 3478"/>
            </a:avLst>
          </a:prstGeom>
          <a:solidFill>
            <a:srgbClr val="FDF5DC"/>
          </a:solidFill>
          <a:ln w="9525">
            <a:solidFill>
              <a:srgbClr val="F5C242"/>
            </a:solidFill>
            <a:prstDash val="solid"/>
          </a:ln>
        </p:spPr>
      </p:sp>
      <p:pic>
        <p:nvPicPr>
          <p:cNvPr id="47" name="Image 6" descr="preencoded.png"/>
          <p:cNvPicPr>
            <a:picLocks noChangeAspect="1"/>
          </p:cNvPicPr>
          <p:nvPr/>
        </p:nvPicPr>
        <p:blipFill>
          <a:blip r:embed="rId9"/>
          <a:stretch>
            <a:fillRect/>
          </a:stretch>
        </p:blipFill>
        <p:spPr>
          <a:xfrm>
            <a:off x="777240" y="4133088"/>
            <a:ext cx="347472" cy="347472"/>
          </a:xfrm>
          <a:prstGeom prst="rect">
            <a:avLst/>
          </a:prstGeom>
        </p:spPr>
      </p:pic>
      <p:sp>
        <p:nvSpPr>
          <p:cNvPr id="48" name="Text 39"/>
          <p:cNvSpPr txBox="1"/>
          <p:nvPr/>
        </p:nvSpPr>
        <p:spPr>
          <a:xfrm>
            <a:off x="1280160" y="4114800"/>
            <a:ext cx="9144000" cy="365760"/>
          </a:xfrm>
          <a:prstGeom prst="rect">
            <a:avLst/>
          </a:prstGeom>
          <a:noFill/>
          <a:ln/>
        </p:spPr>
        <p:txBody>
          <a:bodyPr wrap="square" lIns="0" tIns="0" rIns="0" bIns="0" rtlCol="0" anchor="t"/>
          <a:lstStyle/>
          <a:p>
            <a:pPr marL="0" indent="0">
              <a:buNone/>
            </a:pPr>
            <a:r>
              <a:rPr lang="fr-FR" sz="1400" b="1" dirty="0">
                <a:solidFill>
                  <a:srgbClr val="A87700"/>
                </a:solidFill>
                <a:latin typeface="Calibri" pitchFamily="34" charset="0"/>
                <a:ea typeface="Calibri" pitchFamily="34" charset="-122"/>
                <a:cs typeface="Calibri" pitchFamily="34" charset="-120"/>
              </a:rPr>
              <a:t>Où la chaîne se rompt en contexte africain — un pixel sombre peut signifier…</a:t>
            </a:r>
            <a:endParaRPr lang="fr-FR" sz="1400" dirty="0"/>
          </a:p>
        </p:txBody>
      </p:sp>
      <p:sp>
        <p:nvSpPr>
          <p:cNvPr id="49" name="Shape 40"/>
          <p:cNvSpPr/>
          <p:nvPr/>
        </p:nvSpPr>
        <p:spPr>
          <a:xfrm>
            <a:off x="822960" y="4663440"/>
            <a:ext cx="868680" cy="274320"/>
          </a:xfrm>
          <a:prstGeom prst="roundRect">
            <a:avLst>
              <a:gd name="adj" fmla="val 50000"/>
            </a:avLst>
          </a:prstGeom>
          <a:solidFill>
            <a:srgbClr val="F5C242"/>
          </a:solidFill>
          <a:ln w="12700">
            <a:solidFill>
              <a:srgbClr val="F5C242"/>
            </a:solidFill>
            <a:prstDash val="solid"/>
          </a:ln>
        </p:spPr>
      </p:sp>
      <p:sp>
        <p:nvSpPr>
          <p:cNvPr id="50" name="Text 41"/>
          <p:cNvSpPr txBox="1"/>
          <p:nvPr/>
        </p:nvSpPr>
        <p:spPr>
          <a:xfrm>
            <a:off x="822960" y="4663440"/>
            <a:ext cx="868680" cy="274320"/>
          </a:xfrm>
          <a:prstGeom prst="rect">
            <a:avLst/>
          </a:prstGeom>
          <a:noFill/>
          <a:ln/>
        </p:spPr>
        <p:txBody>
          <a:bodyPr wrap="square" lIns="0" tIns="0" rIns="0" bIns="0" rtlCol="0" anchor="ctr"/>
          <a:lstStyle/>
          <a:p>
            <a:pPr marL="0" indent="0" algn="ctr">
              <a:buNone/>
            </a:pPr>
            <a:r>
              <a:rPr lang="fr-FR" sz="900" b="1" kern="0" spc="100" dirty="0">
                <a:solidFill>
                  <a:srgbClr val="00553A"/>
                </a:solidFill>
                <a:latin typeface="Calibri" pitchFamily="34" charset="0"/>
                <a:ea typeface="Calibri" pitchFamily="34" charset="-122"/>
                <a:cs typeface="Calibri" pitchFamily="34" charset="-120"/>
              </a:rPr>
              <a:t>Maillon 1</a:t>
            </a:r>
            <a:endParaRPr lang="fr-FR" sz="900" dirty="0"/>
          </a:p>
        </p:txBody>
      </p:sp>
      <p:sp>
        <p:nvSpPr>
          <p:cNvPr id="51" name="Text 42"/>
          <p:cNvSpPr txBox="1"/>
          <p:nvPr/>
        </p:nvSpPr>
        <p:spPr>
          <a:xfrm>
            <a:off x="1828800" y="4617720"/>
            <a:ext cx="4389120" cy="384048"/>
          </a:xfrm>
          <a:prstGeom prst="rect">
            <a:avLst/>
          </a:prstGeom>
          <a:noFill/>
          <a:ln/>
        </p:spPr>
        <p:txBody>
          <a:bodyPr wrap="square" lIns="0" tIns="0" rIns="0" bIns="0" rtlCol="0" anchor="ctr"/>
          <a:lstStyle/>
          <a:p>
            <a:pPr marL="0" indent="0">
              <a:buNone/>
            </a:pPr>
            <a:r>
              <a:rPr lang="fr-FR" sz="1200" dirty="0">
                <a:solidFill>
                  <a:srgbClr val="231F20"/>
                </a:solidFill>
                <a:latin typeface="Calibri" pitchFamily="34" charset="0"/>
                <a:ea typeface="Calibri" pitchFamily="34" charset="-122"/>
                <a:cs typeface="Calibri" pitchFamily="34" charset="-120"/>
              </a:rPr>
              <a:t>Délestage ou pénurie de carburant — les gens sont là, pas le courant</a:t>
            </a:r>
            <a:endParaRPr lang="fr-FR" sz="1200" dirty="0"/>
          </a:p>
        </p:txBody>
      </p:sp>
      <p:sp>
        <p:nvSpPr>
          <p:cNvPr id="52" name="Shape 43"/>
          <p:cNvSpPr/>
          <p:nvPr/>
        </p:nvSpPr>
        <p:spPr>
          <a:xfrm>
            <a:off x="6309360" y="4663440"/>
            <a:ext cx="868680" cy="274320"/>
          </a:xfrm>
          <a:prstGeom prst="roundRect">
            <a:avLst>
              <a:gd name="adj" fmla="val 50000"/>
            </a:avLst>
          </a:prstGeom>
          <a:solidFill>
            <a:srgbClr val="F5C242"/>
          </a:solidFill>
          <a:ln w="12700">
            <a:solidFill>
              <a:srgbClr val="F5C242"/>
            </a:solidFill>
            <a:prstDash val="solid"/>
          </a:ln>
        </p:spPr>
      </p:sp>
      <p:sp>
        <p:nvSpPr>
          <p:cNvPr id="53" name="Text 44"/>
          <p:cNvSpPr txBox="1"/>
          <p:nvPr/>
        </p:nvSpPr>
        <p:spPr>
          <a:xfrm>
            <a:off x="6309360" y="4663440"/>
            <a:ext cx="868680" cy="274320"/>
          </a:xfrm>
          <a:prstGeom prst="rect">
            <a:avLst/>
          </a:prstGeom>
          <a:noFill/>
          <a:ln/>
        </p:spPr>
        <p:txBody>
          <a:bodyPr wrap="square" lIns="0" tIns="0" rIns="0" bIns="0" rtlCol="0" anchor="ctr"/>
          <a:lstStyle/>
          <a:p>
            <a:pPr marL="0" indent="0" algn="ctr">
              <a:buNone/>
            </a:pPr>
            <a:r>
              <a:rPr lang="fr-FR" sz="900" b="1" kern="0" spc="100" dirty="0">
                <a:solidFill>
                  <a:srgbClr val="00553A"/>
                </a:solidFill>
                <a:latin typeface="Calibri" pitchFamily="34" charset="0"/>
                <a:ea typeface="Calibri" pitchFamily="34" charset="-122"/>
                <a:cs typeface="Calibri" pitchFamily="34" charset="-120"/>
              </a:rPr>
              <a:t>Maillon 2–3</a:t>
            </a:r>
            <a:endParaRPr lang="fr-FR" sz="900" dirty="0"/>
          </a:p>
        </p:txBody>
      </p:sp>
      <p:sp>
        <p:nvSpPr>
          <p:cNvPr id="54" name="Text 45"/>
          <p:cNvSpPr txBox="1"/>
          <p:nvPr/>
        </p:nvSpPr>
        <p:spPr>
          <a:xfrm>
            <a:off x="7315200" y="4617720"/>
            <a:ext cx="4389120" cy="384048"/>
          </a:xfrm>
          <a:prstGeom prst="rect">
            <a:avLst/>
          </a:prstGeom>
          <a:noFill/>
          <a:ln/>
        </p:spPr>
        <p:txBody>
          <a:bodyPr wrap="square" lIns="0" tIns="0" rIns="0" bIns="0" rtlCol="0" anchor="ctr"/>
          <a:lstStyle/>
          <a:p>
            <a:pPr marL="0" indent="0">
              <a:buNone/>
            </a:pPr>
            <a:r>
              <a:rPr lang="fr-FR" sz="1200" dirty="0">
                <a:solidFill>
                  <a:srgbClr val="231F20"/>
                </a:solidFill>
                <a:latin typeface="Calibri" pitchFamily="34" charset="0"/>
                <a:ea typeface="Calibri" pitchFamily="34" charset="-122"/>
                <a:cs typeface="Calibri" pitchFamily="34" charset="-120"/>
              </a:rPr>
              <a:t>Lanternes et petits kits solaires trop faibles pour être détectés</a:t>
            </a:r>
            <a:endParaRPr lang="fr-FR" sz="1200" dirty="0"/>
          </a:p>
        </p:txBody>
      </p:sp>
      <p:sp>
        <p:nvSpPr>
          <p:cNvPr id="55" name="Shape 46"/>
          <p:cNvSpPr/>
          <p:nvPr/>
        </p:nvSpPr>
        <p:spPr>
          <a:xfrm>
            <a:off x="822960" y="5303520"/>
            <a:ext cx="868680" cy="274320"/>
          </a:xfrm>
          <a:prstGeom prst="roundRect">
            <a:avLst>
              <a:gd name="adj" fmla="val 50000"/>
            </a:avLst>
          </a:prstGeom>
          <a:solidFill>
            <a:srgbClr val="F5C242"/>
          </a:solidFill>
          <a:ln w="12700">
            <a:solidFill>
              <a:srgbClr val="F5C242"/>
            </a:solidFill>
            <a:prstDash val="solid"/>
          </a:ln>
        </p:spPr>
      </p:sp>
      <p:sp>
        <p:nvSpPr>
          <p:cNvPr id="56" name="Text 47"/>
          <p:cNvSpPr txBox="1"/>
          <p:nvPr/>
        </p:nvSpPr>
        <p:spPr>
          <a:xfrm>
            <a:off x="822960" y="5303520"/>
            <a:ext cx="868680" cy="274320"/>
          </a:xfrm>
          <a:prstGeom prst="rect">
            <a:avLst/>
          </a:prstGeom>
          <a:noFill/>
          <a:ln/>
        </p:spPr>
        <p:txBody>
          <a:bodyPr wrap="square" lIns="0" tIns="0" rIns="0" bIns="0" rtlCol="0" anchor="ctr"/>
          <a:lstStyle/>
          <a:p>
            <a:pPr marL="0" indent="0" algn="ctr">
              <a:buNone/>
            </a:pPr>
            <a:r>
              <a:rPr lang="fr-FR" sz="900" b="1" kern="0" spc="100" dirty="0">
                <a:solidFill>
                  <a:srgbClr val="00553A"/>
                </a:solidFill>
                <a:latin typeface="Calibri" pitchFamily="34" charset="0"/>
                <a:ea typeface="Calibri" pitchFamily="34" charset="-122"/>
                <a:cs typeface="Calibri" pitchFamily="34" charset="-120"/>
              </a:rPr>
              <a:t>Maillon 4</a:t>
            </a:r>
            <a:endParaRPr lang="fr-FR" sz="900" dirty="0"/>
          </a:p>
        </p:txBody>
      </p:sp>
      <p:sp>
        <p:nvSpPr>
          <p:cNvPr id="57" name="Text 48"/>
          <p:cNvSpPr txBox="1"/>
          <p:nvPr/>
        </p:nvSpPr>
        <p:spPr>
          <a:xfrm>
            <a:off x="1828800" y="5257800"/>
            <a:ext cx="4389120" cy="384048"/>
          </a:xfrm>
          <a:prstGeom prst="rect">
            <a:avLst/>
          </a:prstGeom>
          <a:noFill/>
          <a:ln/>
        </p:spPr>
        <p:txBody>
          <a:bodyPr wrap="square" lIns="0" tIns="0" rIns="0" bIns="0" rtlCol="0" anchor="ctr"/>
          <a:lstStyle/>
          <a:p>
            <a:pPr marL="0" indent="0">
              <a:buNone/>
            </a:pPr>
            <a:r>
              <a:rPr lang="fr-FR" sz="1200" dirty="0">
                <a:solidFill>
                  <a:srgbClr val="231F20"/>
                </a:solidFill>
                <a:latin typeface="Calibri" pitchFamily="34" charset="0"/>
                <a:ea typeface="Calibri" pitchFamily="34" charset="-122"/>
                <a:cs typeface="Calibri" pitchFamily="34" charset="-120"/>
              </a:rPr>
              <a:t>Nuages de saison des pluies, harmattan, fumées de feux de brousse</a:t>
            </a:r>
            <a:endParaRPr lang="fr-FR" sz="1200" dirty="0"/>
          </a:p>
        </p:txBody>
      </p:sp>
      <p:sp>
        <p:nvSpPr>
          <p:cNvPr id="58" name="Shape 49"/>
          <p:cNvSpPr/>
          <p:nvPr/>
        </p:nvSpPr>
        <p:spPr>
          <a:xfrm>
            <a:off x="6309360" y="5303520"/>
            <a:ext cx="868680" cy="274320"/>
          </a:xfrm>
          <a:prstGeom prst="roundRect">
            <a:avLst>
              <a:gd name="adj" fmla="val 50000"/>
            </a:avLst>
          </a:prstGeom>
          <a:solidFill>
            <a:srgbClr val="F5C242"/>
          </a:solidFill>
          <a:ln w="12700">
            <a:solidFill>
              <a:srgbClr val="F5C242"/>
            </a:solidFill>
            <a:prstDash val="solid"/>
          </a:ln>
        </p:spPr>
      </p:sp>
      <p:sp>
        <p:nvSpPr>
          <p:cNvPr id="59" name="Text 50"/>
          <p:cNvSpPr txBox="1"/>
          <p:nvPr/>
        </p:nvSpPr>
        <p:spPr>
          <a:xfrm>
            <a:off x="6309360" y="5303520"/>
            <a:ext cx="868680" cy="274320"/>
          </a:xfrm>
          <a:prstGeom prst="rect">
            <a:avLst/>
          </a:prstGeom>
          <a:noFill/>
          <a:ln/>
        </p:spPr>
        <p:txBody>
          <a:bodyPr wrap="square" lIns="0" tIns="0" rIns="0" bIns="0" rtlCol="0" anchor="ctr"/>
          <a:lstStyle/>
          <a:p>
            <a:pPr marL="0" indent="0" algn="ctr">
              <a:buNone/>
            </a:pPr>
            <a:r>
              <a:rPr lang="fr-FR" sz="900" b="1" kern="0" spc="100" dirty="0">
                <a:solidFill>
                  <a:srgbClr val="00553A"/>
                </a:solidFill>
                <a:latin typeface="Calibri" pitchFamily="34" charset="0"/>
                <a:ea typeface="Calibri" pitchFamily="34" charset="-122"/>
                <a:cs typeface="Calibri" pitchFamily="34" charset="-120"/>
              </a:rPr>
              <a:t>Maillon 5</a:t>
            </a:r>
            <a:endParaRPr lang="fr-FR" sz="900" dirty="0"/>
          </a:p>
        </p:txBody>
      </p:sp>
      <p:sp>
        <p:nvSpPr>
          <p:cNvPr id="60" name="Text 51"/>
          <p:cNvSpPr txBox="1"/>
          <p:nvPr/>
        </p:nvSpPr>
        <p:spPr>
          <a:xfrm>
            <a:off x="7315200" y="5257800"/>
            <a:ext cx="4389120" cy="384048"/>
          </a:xfrm>
          <a:prstGeom prst="rect">
            <a:avLst/>
          </a:prstGeom>
          <a:noFill/>
          <a:ln/>
        </p:spPr>
        <p:txBody>
          <a:bodyPr wrap="square" lIns="0" tIns="0" rIns="0" bIns="0" rtlCol="0" anchor="ctr"/>
          <a:lstStyle/>
          <a:p>
            <a:pPr marL="0" indent="0">
              <a:buNone/>
            </a:pPr>
            <a:r>
              <a:rPr lang="fr-FR" sz="1200" dirty="0">
                <a:solidFill>
                  <a:srgbClr val="231F20"/>
                </a:solidFill>
                <a:latin typeface="Calibri" pitchFamily="34" charset="0"/>
                <a:ea typeface="Calibri" pitchFamily="34" charset="-122"/>
                <a:cs typeface="Calibri" pitchFamily="34" charset="-120"/>
              </a:rPr>
              <a:t>Éclairage rural sous le seuil de détection du capteur</a:t>
            </a:r>
            <a:endParaRPr lang="fr-FR"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01 · FONDEMENTS · CE QUE VOIT LE CAPTEUR</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Le capteur voit une seule bande, à une seule heure de la nuit</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8</a:t>
            </a:r>
            <a:endParaRPr lang="fr-FR" sz="900" dirty="0"/>
          </a:p>
        </p:txBody>
      </p:sp>
      <p:sp>
        <p:nvSpPr>
          <p:cNvPr id="12" name="Shape 9"/>
          <p:cNvSpPr/>
          <p:nvPr/>
        </p:nvSpPr>
        <p:spPr>
          <a:xfrm>
            <a:off x="548640" y="1965960"/>
            <a:ext cx="560832" cy="457200"/>
          </a:xfrm>
          <a:prstGeom prst="rect">
            <a:avLst/>
          </a:prstGeom>
          <a:solidFill>
            <a:srgbClr val="6A3FB5"/>
          </a:solidFill>
          <a:ln w="6350">
            <a:solidFill>
              <a:srgbClr val="6A3FB5"/>
            </a:solidFill>
            <a:prstDash val="solid"/>
          </a:ln>
        </p:spPr>
      </p:sp>
      <p:sp>
        <p:nvSpPr>
          <p:cNvPr id="13" name="Shape 10"/>
          <p:cNvSpPr/>
          <p:nvPr/>
        </p:nvSpPr>
        <p:spPr>
          <a:xfrm>
            <a:off x="1104900" y="1965960"/>
            <a:ext cx="560832" cy="457200"/>
          </a:xfrm>
          <a:prstGeom prst="rect">
            <a:avLst/>
          </a:prstGeom>
          <a:solidFill>
            <a:srgbClr val="3B4FD8"/>
          </a:solidFill>
          <a:ln w="6350">
            <a:solidFill>
              <a:srgbClr val="3B4FD8"/>
            </a:solidFill>
            <a:prstDash val="solid"/>
          </a:ln>
        </p:spPr>
      </p:sp>
      <p:sp>
        <p:nvSpPr>
          <p:cNvPr id="14" name="Shape 11"/>
          <p:cNvSpPr/>
          <p:nvPr/>
        </p:nvSpPr>
        <p:spPr>
          <a:xfrm>
            <a:off x="1661160" y="1965960"/>
            <a:ext cx="560832" cy="457200"/>
          </a:xfrm>
          <a:prstGeom prst="rect">
            <a:avLst/>
          </a:prstGeom>
          <a:solidFill>
            <a:srgbClr val="1F8FE0"/>
          </a:solidFill>
          <a:ln w="6350">
            <a:solidFill>
              <a:srgbClr val="1F8FE0"/>
            </a:solidFill>
            <a:prstDash val="solid"/>
          </a:ln>
        </p:spPr>
      </p:sp>
      <p:sp>
        <p:nvSpPr>
          <p:cNvPr id="15" name="Shape 12"/>
          <p:cNvSpPr/>
          <p:nvPr/>
        </p:nvSpPr>
        <p:spPr>
          <a:xfrm>
            <a:off x="2217420" y="1965960"/>
            <a:ext cx="560832" cy="457200"/>
          </a:xfrm>
          <a:prstGeom prst="rect">
            <a:avLst/>
          </a:prstGeom>
          <a:solidFill>
            <a:srgbClr val="1DB5A8"/>
          </a:solidFill>
          <a:ln w="6350">
            <a:solidFill>
              <a:srgbClr val="1DB5A8"/>
            </a:solidFill>
            <a:prstDash val="solid"/>
          </a:ln>
        </p:spPr>
      </p:sp>
      <p:sp>
        <p:nvSpPr>
          <p:cNvPr id="16" name="Shape 13"/>
          <p:cNvSpPr/>
          <p:nvPr/>
        </p:nvSpPr>
        <p:spPr>
          <a:xfrm>
            <a:off x="2773680" y="1965960"/>
            <a:ext cx="560832" cy="457200"/>
          </a:xfrm>
          <a:prstGeom prst="rect">
            <a:avLst/>
          </a:prstGeom>
          <a:solidFill>
            <a:srgbClr val="4CBF4A"/>
          </a:solidFill>
          <a:ln w="6350">
            <a:solidFill>
              <a:srgbClr val="4CBF4A"/>
            </a:solidFill>
            <a:prstDash val="solid"/>
          </a:ln>
        </p:spPr>
      </p:sp>
      <p:sp>
        <p:nvSpPr>
          <p:cNvPr id="17" name="Shape 14"/>
          <p:cNvSpPr/>
          <p:nvPr/>
        </p:nvSpPr>
        <p:spPr>
          <a:xfrm>
            <a:off x="3329940" y="1965960"/>
            <a:ext cx="560832" cy="457200"/>
          </a:xfrm>
          <a:prstGeom prst="rect">
            <a:avLst/>
          </a:prstGeom>
          <a:solidFill>
            <a:srgbClr val="C5D936"/>
          </a:solidFill>
          <a:ln w="6350">
            <a:solidFill>
              <a:srgbClr val="C5D936"/>
            </a:solidFill>
            <a:prstDash val="solid"/>
          </a:ln>
        </p:spPr>
      </p:sp>
      <p:sp>
        <p:nvSpPr>
          <p:cNvPr id="18" name="Shape 15"/>
          <p:cNvSpPr/>
          <p:nvPr/>
        </p:nvSpPr>
        <p:spPr>
          <a:xfrm>
            <a:off x="3886200" y="1965960"/>
            <a:ext cx="560832" cy="457200"/>
          </a:xfrm>
          <a:prstGeom prst="rect">
            <a:avLst/>
          </a:prstGeom>
          <a:solidFill>
            <a:srgbClr val="F2C230"/>
          </a:solidFill>
          <a:ln w="6350">
            <a:solidFill>
              <a:srgbClr val="F2C230"/>
            </a:solidFill>
            <a:prstDash val="solid"/>
          </a:ln>
        </p:spPr>
      </p:sp>
      <p:sp>
        <p:nvSpPr>
          <p:cNvPr id="19" name="Shape 16"/>
          <p:cNvSpPr/>
          <p:nvPr/>
        </p:nvSpPr>
        <p:spPr>
          <a:xfrm>
            <a:off x="4442460" y="1965960"/>
            <a:ext cx="560832" cy="457200"/>
          </a:xfrm>
          <a:prstGeom prst="rect">
            <a:avLst/>
          </a:prstGeom>
          <a:solidFill>
            <a:srgbClr val="F2902E"/>
          </a:solidFill>
          <a:ln w="6350">
            <a:solidFill>
              <a:srgbClr val="F2902E"/>
            </a:solidFill>
            <a:prstDash val="solid"/>
          </a:ln>
        </p:spPr>
      </p:sp>
      <p:sp>
        <p:nvSpPr>
          <p:cNvPr id="20" name="Shape 17"/>
          <p:cNvSpPr/>
          <p:nvPr/>
        </p:nvSpPr>
        <p:spPr>
          <a:xfrm>
            <a:off x="4998720" y="1965960"/>
            <a:ext cx="560832" cy="457200"/>
          </a:xfrm>
          <a:prstGeom prst="rect">
            <a:avLst/>
          </a:prstGeom>
          <a:solidFill>
            <a:srgbClr val="E2503A"/>
          </a:solidFill>
          <a:ln w="6350">
            <a:solidFill>
              <a:srgbClr val="E2503A"/>
            </a:solidFill>
            <a:prstDash val="solid"/>
          </a:ln>
        </p:spPr>
      </p:sp>
      <p:sp>
        <p:nvSpPr>
          <p:cNvPr id="21" name="Shape 18"/>
          <p:cNvSpPr/>
          <p:nvPr/>
        </p:nvSpPr>
        <p:spPr>
          <a:xfrm>
            <a:off x="5554980" y="1965960"/>
            <a:ext cx="560832" cy="457200"/>
          </a:xfrm>
          <a:prstGeom prst="rect">
            <a:avLst/>
          </a:prstGeom>
          <a:solidFill>
            <a:srgbClr val="B8322E"/>
          </a:solidFill>
          <a:ln w="6350">
            <a:solidFill>
              <a:srgbClr val="B8322E"/>
            </a:solidFill>
            <a:prstDash val="solid"/>
          </a:ln>
        </p:spPr>
      </p:sp>
      <p:sp>
        <p:nvSpPr>
          <p:cNvPr id="22" name="Shape 19"/>
          <p:cNvSpPr/>
          <p:nvPr/>
        </p:nvSpPr>
        <p:spPr>
          <a:xfrm>
            <a:off x="6111240" y="1965960"/>
            <a:ext cx="560832" cy="457200"/>
          </a:xfrm>
          <a:prstGeom prst="rect">
            <a:avLst/>
          </a:prstGeom>
          <a:solidFill>
            <a:srgbClr val="8A2F2F"/>
          </a:solidFill>
          <a:ln w="6350">
            <a:solidFill>
              <a:srgbClr val="8A2F2F"/>
            </a:solidFill>
            <a:prstDash val="solid"/>
          </a:ln>
        </p:spPr>
      </p:sp>
      <p:sp>
        <p:nvSpPr>
          <p:cNvPr id="23" name="Shape 20"/>
          <p:cNvSpPr/>
          <p:nvPr/>
        </p:nvSpPr>
        <p:spPr>
          <a:xfrm>
            <a:off x="6667500" y="1965960"/>
            <a:ext cx="560832" cy="457200"/>
          </a:xfrm>
          <a:prstGeom prst="rect">
            <a:avLst/>
          </a:prstGeom>
          <a:solidFill>
            <a:srgbClr val="5E2E3A"/>
          </a:solidFill>
          <a:ln w="6350">
            <a:solidFill>
              <a:srgbClr val="5E2E3A"/>
            </a:solidFill>
            <a:prstDash val="solid"/>
          </a:ln>
        </p:spPr>
      </p:sp>
      <p:sp>
        <p:nvSpPr>
          <p:cNvPr id="24" name="Text 21"/>
          <p:cNvSpPr txBox="1"/>
          <p:nvPr/>
        </p:nvSpPr>
        <p:spPr>
          <a:xfrm>
            <a:off x="274320" y="2468880"/>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400</a:t>
            </a:r>
            <a:endParaRPr lang="fr-FR" sz="900" dirty="0"/>
          </a:p>
        </p:txBody>
      </p:sp>
      <p:sp>
        <p:nvSpPr>
          <p:cNvPr id="25" name="Text 22"/>
          <p:cNvSpPr txBox="1"/>
          <p:nvPr/>
        </p:nvSpPr>
        <p:spPr>
          <a:xfrm>
            <a:off x="1386840" y="2468880"/>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500</a:t>
            </a:r>
            <a:endParaRPr lang="fr-FR" sz="900" dirty="0"/>
          </a:p>
        </p:txBody>
      </p:sp>
      <p:sp>
        <p:nvSpPr>
          <p:cNvPr id="26" name="Text 23"/>
          <p:cNvSpPr txBox="1"/>
          <p:nvPr/>
        </p:nvSpPr>
        <p:spPr>
          <a:xfrm>
            <a:off x="2499360" y="2468880"/>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600</a:t>
            </a:r>
            <a:endParaRPr lang="fr-FR" sz="900" dirty="0"/>
          </a:p>
        </p:txBody>
      </p:sp>
      <p:sp>
        <p:nvSpPr>
          <p:cNvPr id="27" name="Text 24"/>
          <p:cNvSpPr txBox="1"/>
          <p:nvPr/>
        </p:nvSpPr>
        <p:spPr>
          <a:xfrm>
            <a:off x="3611880" y="2468880"/>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700</a:t>
            </a:r>
            <a:endParaRPr lang="fr-FR" sz="900" dirty="0"/>
          </a:p>
        </p:txBody>
      </p:sp>
      <p:sp>
        <p:nvSpPr>
          <p:cNvPr id="28" name="Text 25"/>
          <p:cNvSpPr txBox="1"/>
          <p:nvPr/>
        </p:nvSpPr>
        <p:spPr>
          <a:xfrm>
            <a:off x="4724400" y="2468880"/>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800</a:t>
            </a:r>
            <a:endParaRPr lang="fr-FR" sz="900" dirty="0"/>
          </a:p>
        </p:txBody>
      </p:sp>
      <p:sp>
        <p:nvSpPr>
          <p:cNvPr id="29" name="Text 26"/>
          <p:cNvSpPr txBox="1"/>
          <p:nvPr/>
        </p:nvSpPr>
        <p:spPr>
          <a:xfrm>
            <a:off x="5836920" y="2468880"/>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900</a:t>
            </a:r>
            <a:endParaRPr lang="fr-FR" sz="900" dirty="0"/>
          </a:p>
        </p:txBody>
      </p:sp>
      <p:sp>
        <p:nvSpPr>
          <p:cNvPr id="30" name="Text 27"/>
          <p:cNvSpPr txBox="1"/>
          <p:nvPr/>
        </p:nvSpPr>
        <p:spPr>
          <a:xfrm>
            <a:off x="6949440" y="2468880"/>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1000</a:t>
            </a:r>
            <a:endParaRPr lang="fr-FR" sz="900" dirty="0"/>
          </a:p>
        </p:txBody>
      </p:sp>
      <p:sp>
        <p:nvSpPr>
          <p:cNvPr id="31" name="Text 28"/>
          <p:cNvSpPr txBox="1"/>
          <p:nvPr/>
        </p:nvSpPr>
        <p:spPr>
          <a:xfrm>
            <a:off x="5852160" y="2679192"/>
            <a:ext cx="1371600" cy="201168"/>
          </a:xfrm>
          <a:prstGeom prst="rect">
            <a:avLst/>
          </a:prstGeom>
          <a:noFill/>
          <a:ln/>
        </p:spPr>
        <p:txBody>
          <a:bodyPr wrap="square" lIns="0" tIns="0" rIns="0" bIns="0" rtlCol="0" anchor="t"/>
          <a:lstStyle/>
          <a:p>
            <a:pPr marL="0" indent="0" algn="r">
              <a:buNone/>
            </a:pPr>
            <a:r>
              <a:rPr lang="fr-FR" sz="900" i="1" dirty="0">
                <a:solidFill>
                  <a:srgbClr val="5E6964"/>
                </a:solidFill>
                <a:latin typeface="Calibri" pitchFamily="34" charset="0"/>
                <a:ea typeface="Calibri" pitchFamily="34" charset="-122"/>
                <a:cs typeface="Calibri" pitchFamily="34" charset="-120"/>
              </a:rPr>
              <a:t>longueur d’onde (nm)</a:t>
            </a:r>
            <a:endParaRPr lang="fr-FR" sz="900" dirty="0"/>
          </a:p>
        </p:txBody>
      </p:sp>
      <p:sp>
        <p:nvSpPr>
          <p:cNvPr id="32" name="Shape 29"/>
          <p:cNvSpPr/>
          <p:nvPr/>
        </p:nvSpPr>
        <p:spPr>
          <a:xfrm>
            <a:off x="1661160" y="1463040"/>
            <a:ext cx="4450080" cy="384048"/>
          </a:xfrm>
          <a:prstGeom prst="rect">
            <a:avLst/>
          </a:prstGeom>
          <a:solidFill>
            <a:srgbClr val="00704A"/>
          </a:solidFill>
          <a:ln w="12700">
            <a:solidFill>
              <a:srgbClr val="00704A"/>
            </a:solidFill>
            <a:prstDash val="solid"/>
          </a:ln>
        </p:spPr>
      </p:sp>
      <p:sp>
        <p:nvSpPr>
          <p:cNvPr id="33" name="Text 30"/>
          <p:cNvSpPr txBox="1"/>
          <p:nvPr/>
        </p:nvSpPr>
        <p:spPr>
          <a:xfrm>
            <a:off x="1661160" y="1463040"/>
            <a:ext cx="4450080" cy="384048"/>
          </a:xfrm>
          <a:prstGeom prst="rect">
            <a:avLst/>
          </a:prstGeom>
          <a:noFill/>
          <a:ln/>
        </p:spPr>
        <p:txBody>
          <a:bodyPr wrap="square" lIns="0" tIns="0" rIns="0" bIns="0" rtlCol="0" anchor="ctr"/>
          <a:lstStyle/>
          <a:p>
            <a:pPr marL="0" indent="0" algn="ctr">
              <a:buNone/>
            </a:pPr>
            <a:r>
              <a:rPr lang="fr-FR" sz="1150" b="1" dirty="0">
                <a:solidFill>
                  <a:srgbClr val="FFFFFF"/>
                </a:solidFill>
                <a:latin typeface="Calibri" pitchFamily="34" charset="0"/>
                <a:ea typeface="Calibri" pitchFamily="34" charset="-122"/>
                <a:cs typeface="Calibri" pitchFamily="34" charset="-120"/>
              </a:rPr>
              <a:t>Bande jour/nuit VIIRS  ≈ 500 – 900 nm</a:t>
            </a:r>
            <a:endParaRPr lang="fr-FR" sz="1150" dirty="0"/>
          </a:p>
        </p:txBody>
      </p:sp>
      <p:sp>
        <p:nvSpPr>
          <p:cNvPr id="34" name="Shape 31"/>
          <p:cNvSpPr/>
          <p:nvPr/>
        </p:nvSpPr>
        <p:spPr>
          <a:xfrm>
            <a:off x="2651303" y="2423160"/>
            <a:ext cx="0" cy="868680"/>
          </a:xfrm>
          <a:prstGeom prst="line">
            <a:avLst/>
          </a:prstGeom>
          <a:noFill/>
          <a:ln w="19050">
            <a:solidFill>
              <a:srgbClr val="00704A"/>
            </a:solidFill>
            <a:prstDash val="dash"/>
          </a:ln>
        </p:spPr>
      </p:sp>
      <p:sp>
        <p:nvSpPr>
          <p:cNvPr id="35" name="Text 32"/>
          <p:cNvSpPr txBox="1"/>
          <p:nvPr/>
        </p:nvSpPr>
        <p:spPr>
          <a:xfrm>
            <a:off x="2724455" y="3063240"/>
            <a:ext cx="4114800" cy="274320"/>
          </a:xfrm>
          <a:prstGeom prst="rect">
            <a:avLst/>
          </a:prstGeom>
          <a:noFill/>
          <a:ln/>
        </p:spPr>
        <p:txBody>
          <a:bodyPr wrap="square" lIns="0" tIns="0" rIns="0" bIns="0" rtlCol="0" anchor="t"/>
          <a:lstStyle/>
          <a:p>
            <a:pPr marL="0" indent="0">
              <a:buNone/>
            </a:pPr>
            <a:r>
              <a:rPr lang="fr-FR" sz="1100" b="1" dirty="0">
                <a:solidFill>
                  <a:srgbClr val="00704A"/>
                </a:solidFill>
                <a:latin typeface="Calibri" pitchFamily="34" charset="0"/>
                <a:ea typeface="Calibri" pitchFamily="34" charset="-122"/>
                <a:cs typeface="Calibri" pitchFamily="34" charset="-120"/>
              </a:rPr>
              <a:t>Pic des lampes au sodium ≈ 589 nm — dans la bande</a:t>
            </a:r>
            <a:endParaRPr lang="fr-FR" sz="1100" dirty="0"/>
          </a:p>
        </p:txBody>
      </p:sp>
      <p:sp>
        <p:nvSpPr>
          <p:cNvPr id="36" name="Shape 33"/>
          <p:cNvSpPr/>
          <p:nvPr/>
        </p:nvSpPr>
        <p:spPr>
          <a:xfrm>
            <a:off x="1104900" y="2423160"/>
            <a:ext cx="0" cy="1280160"/>
          </a:xfrm>
          <a:prstGeom prst="line">
            <a:avLst/>
          </a:prstGeom>
          <a:noFill/>
          <a:ln w="19050">
            <a:solidFill>
              <a:srgbClr val="B83B2E"/>
            </a:solidFill>
            <a:prstDash val="dash"/>
          </a:ln>
        </p:spPr>
      </p:sp>
      <p:sp>
        <p:nvSpPr>
          <p:cNvPr id="37" name="Text 34"/>
          <p:cNvSpPr txBox="1"/>
          <p:nvPr/>
        </p:nvSpPr>
        <p:spPr>
          <a:xfrm>
            <a:off x="1178052" y="3474720"/>
            <a:ext cx="4114800" cy="274320"/>
          </a:xfrm>
          <a:prstGeom prst="rect">
            <a:avLst/>
          </a:prstGeom>
          <a:noFill/>
          <a:ln/>
        </p:spPr>
        <p:txBody>
          <a:bodyPr wrap="square" lIns="0" tIns="0" rIns="0" bIns="0" rtlCol="0" anchor="t"/>
          <a:lstStyle/>
          <a:p>
            <a:pPr marL="0" indent="0">
              <a:buNone/>
            </a:pPr>
            <a:r>
              <a:rPr lang="fr-FR" sz="1100" b="1" dirty="0">
                <a:solidFill>
                  <a:srgbClr val="B83B2E"/>
                </a:solidFill>
                <a:latin typeface="Calibri" pitchFamily="34" charset="0"/>
                <a:ea typeface="Calibri" pitchFamily="34" charset="-122"/>
                <a:cs typeface="Calibri" pitchFamily="34" charset="-120"/>
              </a:rPr>
              <a:t>Pic bleu des LED blanches ≈ 450 nm — hors de la bande</a:t>
            </a:r>
            <a:endParaRPr lang="fr-FR" sz="1100" dirty="0"/>
          </a:p>
        </p:txBody>
      </p:sp>
      <p:sp>
        <p:nvSpPr>
          <p:cNvPr id="38" name="Shape 35"/>
          <p:cNvSpPr/>
          <p:nvPr/>
        </p:nvSpPr>
        <p:spPr>
          <a:xfrm>
            <a:off x="7589520" y="1371600"/>
            <a:ext cx="4050792" cy="1325880"/>
          </a:xfrm>
          <a:prstGeom prst="roundRect">
            <a:avLst>
              <a:gd name="adj" fmla="val 5517"/>
            </a:avLst>
          </a:prstGeom>
          <a:solidFill>
            <a:srgbClr val="F4F7F5"/>
          </a:solidFill>
          <a:ln w="9525">
            <a:solidFill>
              <a:srgbClr val="D5DED9"/>
            </a:solidFill>
            <a:prstDash val="solid"/>
          </a:ln>
        </p:spPr>
      </p:sp>
      <p:sp>
        <p:nvSpPr>
          <p:cNvPr id="39" name="Shape 36"/>
          <p:cNvSpPr/>
          <p:nvPr/>
        </p:nvSpPr>
        <p:spPr>
          <a:xfrm>
            <a:off x="7754112" y="1554480"/>
            <a:ext cx="502920" cy="502920"/>
          </a:xfrm>
          <a:prstGeom prst="ellipse">
            <a:avLst/>
          </a:prstGeom>
          <a:solidFill>
            <a:srgbClr val="E8F5EF"/>
          </a:solidFill>
          <a:ln w="12700">
            <a:solidFill>
              <a:srgbClr val="E8F5EF"/>
            </a:solidFill>
            <a:prstDash val="solid"/>
          </a:ln>
        </p:spPr>
      </p:sp>
      <p:pic>
        <p:nvPicPr>
          <p:cNvPr id="40" name="Image 1" descr="preencoded.png"/>
          <p:cNvPicPr>
            <a:picLocks noChangeAspect="1"/>
          </p:cNvPicPr>
          <p:nvPr/>
        </p:nvPicPr>
        <p:blipFill>
          <a:blip r:embed="rId4"/>
          <a:stretch>
            <a:fillRect/>
          </a:stretch>
        </p:blipFill>
        <p:spPr>
          <a:xfrm>
            <a:off x="7884871" y="1685239"/>
            <a:ext cx="241402" cy="241402"/>
          </a:xfrm>
          <a:prstGeom prst="rect">
            <a:avLst/>
          </a:prstGeom>
        </p:spPr>
      </p:pic>
      <p:sp>
        <p:nvSpPr>
          <p:cNvPr id="41" name="Text 37"/>
          <p:cNvSpPr txBox="1"/>
          <p:nvPr/>
        </p:nvSpPr>
        <p:spPr>
          <a:xfrm>
            <a:off x="8394192" y="1508760"/>
            <a:ext cx="310896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Le paradoxe des LED</a:t>
            </a:r>
            <a:endParaRPr lang="fr-FR" sz="1350" dirty="0"/>
          </a:p>
        </p:txBody>
      </p:sp>
      <p:sp>
        <p:nvSpPr>
          <p:cNvPr id="42" name="Text 38"/>
          <p:cNvSpPr txBox="1"/>
          <p:nvPr/>
        </p:nvSpPr>
        <p:spPr>
          <a:xfrm>
            <a:off x="8394192" y="1828800"/>
            <a:ext cx="3108960" cy="82296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Remplacer les lampes au sodium par des LED blanches peut faire paraître une ville plus sombre à VIIRS alors qu’elle est mieux éclairée au sol.</a:t>
            </a:r>
            <a:endParaRPr lang="fr-FR" sz="1100" dirty="0"/>
          </a:p>
        </p:txBody>
      </p:sp>
      <p:sp>
        <p:nvSpPr>
          <p:cNvPr id="43" name="Shape 39"/>
          <p:cNvSpPr/>
          <p:nvPr/>
        </p:nvSpPr>
        <p:spPr>
          <a:xfrm>
            <a:off x="7589520" y="2834640"/>
            <a:ext cx="4050792" cy="1325880"/>
          </a:xfrm>
          <a:prstGeom prst="roundRect">
            <a:avLst>
              <a:gd name="adj" fmla="val 5517"/>
            </a:avLst>
          </a:prstGeom>
          <a:solidFill>
            <a:srgbClr val="F4F7F5"/>
          </a:solidFill>
          <a:ln w="9525">
            <a:solidFill>
              <a:srgbClr val="D5DED9"/>
            </a:solidFill>
            <a:prstDash val="solid"/>
          </a:ln>
        </p:spPr>
      </p:sp>
      <p:sp>
        <p:nvSpPr>
          <p:cNvPr id="44" name="Shape 40"/>
          <p:cNvSpPr/>
          <p:nvPr/>
        </p:nvSpPr>
        <p:spPr>
          <a:xfrm>
            <a:off x="7754112" y="3017520"/>
            <a:ext cx="502920" cy="502920"/>
          </a:xfrm>
          <a:prstGeom prst="ellipse">
            <a:avLst/>
          </a:prstGeom>
          <a:solidFill>
            <a:srgbClr val="E8F5EF"/>
          </a:solidFill>
          <a:ln w="12700">
            <a:solidFill>
              <a:srgbClr val="E8F5EF"/>
            </a:solidFill>
            <a:prstDash val="solid"/>
          </a:ln>
        </p:spPr>
      </p:sp>
      <p:pic>
        <p:nvPicPr>
          <p:cNvPr id="45" name="Image 2" descr="preencoded.png"/>
          <p:cNvPicPr>
            <a:picLocks noChangeAspect="1"/>
          </p:cNvPicPr>
          <p:nvPr/>
        </p:nvPicPr>
        <p:blipFill>
          <a:blip r:embed="rId5"/>
          <a:stretch>
            <a:fillRect/>
          </a:stretch>
        </p:blipFill>
        <p:spPr>
          <a:xfrm>
            <a:off x="7884871" y="3148279"/>
            <a:ext cx="241402" cy="241402"/>
          </a:xfrm>
          <a:prstGeom prst="rect">
            <a:avLst/>
          </a:prstGeom>
        </p:spPr>
      </p:pic>
      <p:sp>
        <p:nvSpPr>
          <p:cNvPr id="46" name="Text 41"/>
          <p:cNvSpPr txBox="1"/>
          <p:nvPr/>
        </p:nvSpPr>
        <p:spPr>
          <a:xfrm>
            <a:off x="8394192" y="2971800"/>
            <a:ext cx="310896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L’instantané de 01h30</a:t>
            </a:r>
            <a:endParaRPr lang="fr-FR" sz="1350" dirty="0"/>
          </a:p>
        </p:txBody>
      </p:sp>
      <p:sp>
        <p:nvSpPr>
          <p:cNvPr id="47" name="Text 42"/>
          <p:cNvSpPr txBox="1"/>
          <p:nvPr/>
        </p:nvSpPr>
        <p:spPr>
          <a:xfrm>
            <a:off x="8394192" y="3291840"/>
            <a:ext cx="3108960" cy="82296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VIIRS passe après minuit. Marchés du soir, trafic et commerce (18h–22h) échappent largement à l’observation ; l’éclairage public domine.</a:t>
            </a:r>
            <a:endParaRPr lang="fr-FR" sz="1100" dirty="0"/>
          </a:p>
        </p:txBody>
      </p:sp>
      <p:sp>
        <p:nvSpPr>
          <p:cNvPr id="48" name="Shape 43"/>
          <p:cNvSpPr/>
          <p:nvPr/>
        </p:nvSpPr>
        <p:spPr>
          <a:xfrm>
            <a:off x="7589520" y="4297680"/>
            <a:ext cx="4050792" cy="1325880"/>
          </a:xfrm>
          <a:prstGeom prst="roundRect">
            <a:avLst>
              <a:gd name="adj" fmla="val 5517"/>
            </a:avLst>
          </a:prstGeom>
          <a:solidFill>
            <a:srgbClr val="F4F7F5"/>
          </a:solidFill>
          <a:ln w="9525">
            <a:solidFill>
              <a:srgbClr val="D5DED9"/>
            </a:solidFill>
            <a:prstDash val="solid"/>
          </a:ln>
        </p:spPr>
      </p:sp>
      <p:sp>
        <p:nvSpPr>
          <p:cNvPr id="49" name="Shape 44"/>
          <p:cNvSpPr/>
          <p:nvPr/>
        </p:nvSpPr>
        <p:spPr>
          <a:xfrm>
            <a:off x="7754112" y="4480560"/>
            <a:ext cx="502920" cy="502920"/>
          </a:xfrm>
          <a:prstGeom prst="ellipse">
            <a:avLst/>
          </a:prstGeom>
          <a:solidFill>
            <a:srgbClr val="E8F5EF"/>
          </a:solidFill>
          <a:ln w="12700">
            <a:solidFill>
              <a:srgbClr val="E8F5EF"/>
            </a:solidFill>
            <a:prstDash val="solid"/>
          </a:ln>
        </p:spPr>
      </p:sp>
      <p:pic>
        <p:nvPicPr>
          <p:cNvPr id="50" name="Image 3" descr="preencoded.png"/>
          <p:cNvPicPr>
            <a:picLocks noChangeAspect="1"/>
          </p:cNvPicPr>
          <p:nvPr/>
        </p:nvPicPr>
        <p:blipFill>
          <a:blip r:embed="rId6"/>
          <a:stretch>
            <a:fillRect/>
          </a:stretch>
        </p:blipFill>
        <p:spPr>
          <a:xfrm>
            <a:off x="7884871" y="4611319"/>
            <a:ext cx="241402" cy="241402"/>
          </a:xfrm>
          <a:prstGeom prst="rect">
            <a:avLst/>
          </a:prstGeom>
        </p:spPr>
      </p:pic>
      <p:sp>
        <p:nvSpPr>
          <p:cNvPr id="51" name="Text 45"/>
          <p:cNvSpPr txBox="1"/>
          <p:nvPr/>
        </p:nvSpPr>
        <p:spPr>
          <a:xfrm>
            <a:off x="8394192" y="4434840"/>
            <a:ext cx="310896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Seulement la lumière montante</a:t>
            </a:r>
            <a:endParaRPr lang="fr-FR" sz="1350" dirty="0"/>
          </a:p>
        </p:txBody>
      </p:sp>
      <p:sp>
        <p:nvSpPr>
          <p:cNvPr id="52" name="Text 46"/>
          <p:cNvSpPr txBox="1"/>
          <p:nvPr/>
        </p:nvSpPr>
        <p:spPr>
          <a:xfrm>
            <a:off x="8394192" y="4754880"/>
            <a:ext cx="3108960" cy="82296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Luminaires occultés, éclairage intérieur et lumière bloquée par les arbres ou les bâtiments n’atteignent jamais le capteur.</a:t>
            </a:r>
            <a:endParaRPr lang="fr-FR" sz="1100" dirty="0"/>
          </a:p>
        </p:txBody>
      </p:sp>
      <p:sp>
        <p:nvSpPr>
          <p:cNvPr id="53" name="Shape 47"/>
          <p:cNvSpPr/>
          <p:nvPr/>
        </p:nvSpPr>
        <p:spPr>
          <a:xfrm>
            <a:off x="548640" y="4434840"/>
            <a:ext cx="6675120" cy="1417320"/>
          </a:xfrm>
          <a:prstGeom prst="roundRect">
            <a:avLst>
              <a:gd name="adj" fmla="val 5161"/>
            </a:avLst>
          </a:prstGeom>
          <a:solidFill>
            <a:srgbClr val="F4F7F5"/>
          </a:solidFill>
          <a:ln w="9525">
            <a:solidFill>
              <a:srgbClr val="D5DED9"/>
            </a:solidFill>
            <a:prstDash val="solid"/>
          </a:ln>
        </p:spPr>
      </p:sp>
      <p:sp>
        <p:nvSpPr>
          <p:cNvPr id="54" name="Text 48"/>
          <p:cNvSpPr txBox="1"/>
          <p:nvPr/>
        </p:nvSpPr>
        <p:spPr>
          <a:xfrm>
            <a:off x="777240" y="4526280"/>
            <a:ext cx="6217920" cy="1280160"/>
          </a:xfrm>
          <a:prstGeom prst="rect">
            <a:avLst/>
          </a:prstGeom>
          <a:noFill/>
          <a:ln/>
        </p:spPr>
        <p:txBody>
          <a:bodyPr wrap="square" lIns="0" tIns="0" rIns="0" bIns="0" rtlCol="0" anchor="t"/>
          <a:lstStyle/>
          <a:p>
            <a:pPr marL="0" indent="0">
              <a:buNone/>
            </a:pPr>
            <a:r>
              <a:rPr lang="fr-FR" sz="1200" b="1" dirty="0">
                <a:solidFill>
                  <a:srgbClr val="00704A"/>
                </a:solidFill>
                <a:latin typeface="Calibri" pitchFamily="34" charset="0"/>
                <a:ea typeface="Calibri" pitchFamily="34" charset="-122"/>
                <a:cs typeface="Calibri" pitchFamily="34" charset="-120"/>
              </a:rPr>
              <a:t>Pourquoi c’est important pour la statistique</a:t>
            </a:r>
            <a:endParaRPr lang="fr-FR" sz="1200" dirty="0"/>
          </a:p>
          <a:p>
            <a:pPr marL="0" indent="0">
              <a:buNone/>
            </a:pPr>
            <a:r>
              <a:rPr lang="fr-FR" sz="1200" dirty="0">
                <a:solidFill>
                  <a:srgbClr val="231F20"/>
                </a:solidFill>
                <a:latin typeface="Calibri" pitchFamily="34" charset="0"/>
                <a:ea typeface="Calibri" pitchFamily="34" charset="-122"/>
                <a:cs typeface="Calibri" pitchFamily="34" charset="-120"/>
              </a:rPr>
              <a:t>Deux villes d’activité économique égale peuvent produire des radiances différentes selon le type de lampes, les habitudes de couvre-feu ou la forme du bâti. Les changements technologiques — le déploiement accéléré des LED et du solaire en Afrique — peuvent faire bouger la série sans aucun changement d’activité. Traiter le changement technologique comme une source connue de dérive et privilégier les variations intra-unité sur de courtes fenêtres.</a:t>
            </a:r>
            <a:endParaRPr lang="fr-FR"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01 · FONDEMENTS · POURQUOI C’EST IMPORTANT</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Ce que les lumières apportent aux statistiques macroéconomiques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9</a:t>
            </a:r>
            <a:endParaRPr lang="fr-FR" sz="900" dirty="0"/>
          </a:p>
        </p:txBody>
      </p:sp>
      <p:sp>
        <p:nvSpPr>
          <p:cNvPr id="12" name="Text 9"/>
          <p:cNvSpPr txBox="1"/>
          <p:nvPr/>
        </p:nvSpPr>
        <p:spPr>
          <a:xfrm>
            <a:off x="548640" y="1371600"/>
            <a:ext cx="6766560" cy="32004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Ce que les lumières apportent</a:t>
            </a:r>
            <a:endParaRPr lang="fr-FR" sz="1500" dirty="0"/>
          </a:p>
        </p:txBody>
      </p:sp>
      <p:sp>
        <p:nvSpPr>
          <p:cNvPr id="13" name="Shape 10"/>
          <p:cNvSpPr/>
          <p:nvPr/>
        </p:nvSpPr>
        <p:spPr>
          <a:xfrm>
            <a:off x="548640" y="1783080"/>
            <a:ext cx="3291840" cy="1810512"/>
          </a:xfrm>
          <a:prstGeom prst="roundRect">
            <a:avLst>
              <a:gd name="adj" fmla="val 4040"/>
            </a:avLst>
          </a:prstGeom>
          <a:solidFill>
            <a:srgbClr val="F4F7F5"/>
          </a:solidFill>
          <a:ln w="9525">
            <a:solidFill>
              <a:srgbClr val="D5DED9"/>
            </a:solidFill>
            <a:prstDash val="solid"/>
          </a:ln>
        </p:spPr>
      </p:sp>
      <p:sp>
        <p:nvSpPr>
          <p:cNvPr id="14" name="Shape 11"/>
          <p:cNvSpPr/>
          <p:nvPr/>
        </p:nvSpPr>
        <p:spPr>
          <a:xfrm>
            <a:off x="749808" y="1984248"/>
            <a:ext cx="548640" cy="548640"/>
          </a:xfrm>
          <a:prstGeom prst="ellipse">
            <a:avLst/>
          </a:prstGeom>
          <a:solidFill>
            <a:srgbClr val="00704A"/>
          </a:solidFill>
          <a:ln w="12700">
            <a:solidFill>
              <a:srgbClr val="00704A"/>
            </a:solidFill>
            <a:prstDash val="solid"/>
          </a:ln>
        </p:spPr>
      </p:sp>
      <p:pic>
        <p:nvPicPr>
          <p:cNvPr id="15" name="Image 1" descr="preencoded.png"/>
          <p:cNvPicPr>
            <a:picLocks noChangeAspect="1"/>
          </p:cNvPicPr>
          <p:nvPr/>
        </p:nvPicPr>
        <p:blipFill>
          <a:blip r:embed="rId4"/>
          <a:stretch>
            <a:fillRect/>
          </a:stretch>
        </p:blipFill>
        <p:spPr>
          <a:xfrm>
            <a:off x="892454" y="2126894"/>
            <a:ext cx="263347" cy="263347"/>
          </a:xfrm>
          <a:prstGeom prst="rect">
            <a:avLst/>
          </a:prstGeom>
        </p:spPr>
      </p:pic>
      <p:sp>
        <p:nvSpPr>
          <p:cNvPr id="16" name="Text 12"/>
          <p:cNvSpPr txBox="1"/>
          <p:nvPr/>
        </p:nvSpPr>
        <p:spPr>
          <a:xfrm>
            <a:off x="1417320" y="1984248"/>
            <a:ext cx="2286000" cy="54864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Rapidité</a:t>
            </a:r>
            <a:endParaRPr lang="fr-FR" sz="1400" dirty="0"/>
          </a:p>
        </p:txBody>
      </p:sp>
      <p:sp>
        <p:nvSpPr>
          <p:cNvPr id="17" name="Text 13"/>
          <p:cNvSpPr txBox="1"/>
          <p:nvPr/>
        </p:nvSpPr>
        <p:spPr>
          <a:xfrm>
            <a:off x="749808" y="2651760"/>
            <a:ext cx="288036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Composites mensuels disponibles en quelques semaines, produits quotidiens en quelques jours — avant les comptes trimestriels.</a:t>
            </a:r>
            <a:endParaRPr lang="fr-FR" sz="1150" dirty="0"/>
          </a:p>
        </p:txBody>
      </p:sp>
      <p:sp>
        <p:nvSpPr>
          <p:cNvPr id="18" name="Shape 14"/>
          <p:cNvSpPr/>
          <p:nvPr/>
        </p:nvSpPr>
        <p:spPr>
          <a:xfrm>
            <a:off x="3977640" y="1783080"/>
            <a:ext cx="3291840" cy="1810512"/>
          </a:xfrm>
          <a:prstGeom prst="roundRect">
            <a:avLst>
              <a:gd name="adj" fmla="val 4040"/>
            </a:avLst>
          </a:prstGeom>
          <a:solidFill>
            <a:srgbClr val="F4F7F5"/>
          </a:solidFill>
          <a:ln w="9525">
            <a:solidFill>
              <a:srgbClr val="D5DED9"/>
            </a:solidFill>
            <a:prstDash val="solid"/>
          </a:ln>
        </p:spPr>
      </p:sp>
      <p:sp>
        <p:nvSpPr>
          <p:cNvPr id="19" name="Shape 15"/>
          <p:cNvSpPr/>
          <p:nvPr/>
        </p:nvSpPr>
        <p:spPr>
          <a:xfrm>
            <a:off x="4178808" y="1984248"/>
            <a:ext cx="548640" cy="548640"/>
          </a:xfrm>
          <a:prstGeom prst="ellipse">
            <a:avLst/>
          </a:prstGeom>
          <a:solidFill>
            <a:srgbClr val="00704A"/>
          </a:solidFill>
          <a:ln w="12700">
            <a:solidFill>
              <a:srgbClr val="00704A"/>
            </a:solidFill>
            <a:prstDash val="solid"/>
          </a:ln>
        </p:spPr>
      </p:sp>
      <p:pic>
        <p:nvPicPr>
          <p:cNvPr id="20" name="Image 2" descr="preencoded.png"/>
          <p:cNvPicPr>
            <a:picLocks noChangeAspect="1"/>
          </p:cNvPicPr>
          <p:nvPr/>
        </p:nvPicPr>
        <p:blipFill>
          <a:blip r:embed="rId5"/>
          <a:stretch>
            <a:fillRect/>
          </a:stretch>
        </p:blipFill>
        <p:spPr>
          <a:xfrm>
            <a:off x="4321454" y="2126894"/>
            <a:ext cx="263347" cy="263347"/>
          </a:xfrm>
          <a:prstGeom prst="rect">
            <a:avLst/>
          </a:prstGeom>
        </p:spPr>
      </p:pic>
      <p:sp>
        <p:nvSpPr>
          <p:cNvPr id="21" name="Text 16"/>
          <p:cNvSpPr txBox="1"/>
          <p:nvPr/>
        </p:nvSpPr>
        <p:spPr>
          <a:xfrm>
            <a:off x="4846320" y="1984248"/>
            <a:ext cx="2286000" cy="54864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Granularité</a:t>
            </a:r>
            <a:endParaRPr lang="fr-FR" sz="1400" dirty="0"/>
          </a:p>
        </p:txBody>
      </p:sp>
      <p:sp>
        <p:nvSpPr>
          <p:cNvPr id="22" name="Text 17"/>
          <p:cNvSpPr txBox="1"/>
          <p:nvPr/>
        </p:nvSpPr>
        <p:spPr>
          <a:xfrm>
            <a:off x="4178808" y="2651760"/>
            <a:ext cx="288036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Une grille de 500 m s’agrège à toute limite : province, district, ville, corridor ou zone économique.</a:t>
            </a:r>
            <a:endParaRPr lang="fr-FR" sz="1150" dirty="0"/>
          </a:p>
        </p:txBody>
      </p:sp>
      <p:sp>
        <p:nvSpPr>
          <p:cNvPr id="23" name="Shape 18"/>
          <p:cNvSpPr/>
          <p:nvPr/>
        </p:nvSpPr>
        <p:spPr>
          <a:xfrm>
            <a:off x="548640" y="3749040"/>
            <a:ext cx="3291840" cy="1810512"/>
          </a:xfrm>
          <a:prstGeom prst="roundRect">
            <a:avLst>
              <a:gd name="adj" fmla="val 4040"/>
            </a:avLst>
          </a:prstGeom>
          <a:solidFill>
            <a:srgbClr val="F4F7F5"/>
          </a:solidFill>
          <a:ln w="9525">
            <a:solidFill>
              <a:srgbClr val="D5DED9"/>
            </a:solidFill>
            <a:prstDash val="solid"/>
          </a:ln>
        </p:spPr>
      </p:sp>
      <p:sp>
        <p:nvSpPr>
          <p:cNvPr id="24" name="Shape 19"/>
          <p:cNvSpPr/>
          <p:nvPr/>
        </p:nvSpPr>
        <p:spPr>
          <a:xfrm>
            <a:off x="749808" y="3950208"/>
            <a:ext cx="548640" cy="548640"/>
          </a:xfrm>
          <a:prstGeom prst="ellipse">
            <a:avLst/>
          </a:prstGeom>
          <a:solidFill>
            <a:srgbClr val="00704A"/>
          </a:solidFill>
          <a:ln w="12700">
            <a:solidFill>
              <a:srgbClr val="00704A"/>
            </a:solidFill>
            <a:prstDash val="solid"/>
          </a:ln>
        </p:spPr>
      </p:sp>
      <p:pic>
        <p:nvPicPr>
          <p:cNvPr id="25" name="Image 3" descr="preencoded.png"/>
          <p:cNvPicPr>
            <a:picLocks noChangeAspect="1"/>
          </p:cNvPicPr>
          <p:nvPr/>
        </p:nvPicPr>
        <p:blipFill>
          <a:blip r:embed="rId6"/>
          <a:stretch>
            <a:fillRect/>
          </a:stretch>
        </p:blipFill>
        <p:spPr>
          <a:xfrm>
            <a:off x="892454" y="4092854"/>
            <a:ext cx="263347" cy="263347"/>
          </a:xfrm>
          <a:prstGeom prst="rect">
            <a:avLst/>
          </a:prstGeom>
        </p:spPr>
      </p:pic>
      <p:sp>
        <p:nvSpPr>
          <p:cNvPr id="26" name="Text 20"/>
          <p:cNvSpPr txBox="1"/>
          <p:nvPr/>
        </p:nvSpPr>
        <p:spPr>
          <a:xfrm>
            <a:off x="1417320" y="3950208"/>
            <a:ext cx="2286000" cy="54864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Couverture du non-enregistré</a:t>
            </a:r>
            <a:endParaRPr lang="fr-FR" sz="1400" dirty="0"/>
          </a:p>
        </p:txBody>
      </p:sp>
      <p:sp>
        <p:nvSpPr>
          <p:cNvPr id="27" name="Text 21"/>
          <p:cNvSpPr txBox="1"/>
          <p:nvPr/>
        </p:nvSpPr>
        <p:spPr>
          <a:xfrm>
            <a:off x="749808" y="4617720"/>
            <a:ext cx="288036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L’activité informelle a aussi besoin de lumière ; elle apparaît même là où registres et enquêtes la manquent.</a:t>
            </a:r>
            <a:endParaRPr lang="fr-FR" sz="1150" dirty="0"/>
          </a:p>
        </p:txBody>
      </p:sp>
      <p:sp>
        <p:nvSpPr>
          <p:cNvPr id="28" name="Shape 22"/>
          <p:cNvSpPr/>
          <p:nvPr/>
        </p:nvSpPr>
        <p:spPr>
          <a:xfrm>
            <a:off x="3977640" y="3749040"/>
            <a:ext cx="3291840" cy="1810512"/>
          </a:xfrm>
          <a:prstGeom prst="roundRect">
            <a:avLst>
              <a:gd name="adj" fmla="val 4040"/>
            </a:avLst>
          </a:prstGeom>
          <a:solidFill>
            <a:srgbClr val="F4F7F5"/>
          </a:solidFill>
          <a:ln w="9525">
            <a:solidFill>
              <a:srgbClr val="D5DED9"/>
            </a:solidFill>
            <a:prstDash val="solid"/>
          </a:ln>
        </p:spPr>
      </p:sp>
      <p:sp>
        <p:nvSpPr>
          <p:cNvPr id="29" name="Shape 23"/>
          <p:cNvSpPr/>
          <p:nvPr/>
        </p:nvSpPr>
        <p:spPr>
          <a:xfrm>
            <a:off x="4178808" y="3950208"/>
            <a:ext cx="548640" cy="548640"/>
          </a:xfrm>
          <a:prstGeom prst="ellipse">
            <a:avLst/>
          </a:prstGeom>
          <a:solidFill>
            <a:srgbClr val="00704A"/>
          </a:solidFill>
          <a:ln w="12700">
            <a:solidFill>
              <a:srgbClr val="00704A"/>
            </a:solidFill>
            <a:prstDash val="solid"/>
          </a:ln>
        </p:spPr>
      </p:sp>
      <p:pic>
        <p:nvPicPr>
          <p:cNvPr id="30" name="Image 4" descr="preencoded.png"/>
          <p:cNvPicPr>
            <a:picLocks noChangeAspect="1"/>
          </p:cNvPicPr>
          <p:nvPr/>
        </p:nvPicPr>
        <p:blipFill>
          <a:blip r:embed="rId7"/>
          <a:stretch>
            <a:fillRect/>
          </a:stretch>
        </p:blipFill>
        <p:spPr>
          <a:xfrm>
            <a:off x="4321454" y="4092854"/>
            <a:ext cx="263347" cy="263347"/>
          </a:xfrm>
          <a:prstGeom prst="rect">
            <a:avLst/>
          </a:prstGeom>
        </p:spPr>
      </p:pic>
      <p:sp>
        <p:nvSpPr>
          <p:cNvPr id="31" name="Text 24"/>
          <p:cNvSpPr txBox="1"/>
          <p:nvPr/>
        </p:nvSpPr>
        <p:spPr>
          <a:xfrm>
            <a:off x="4846320" y="3950208"/>
            <a:ext cx="2286000" cy="54864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Contrôle indépendant</a:t>
            </a:r>
            <a:endParaRPr lang="fr-FR" sz="1400" dirty="0"/>
          </a:p>
        </p:txBody>
      </p:sp>
      <p:sp>
        <p:nvSpPr>
          <p:cNvPr id="32" name="Text 25"/>
          <p:cNvSpPr txBox="1"/>
          <p:nvPr/>
        </p:nvSpPr>
        <p:spPr>
          <a:xfrm>
            <a:off x="4178808" y="4617720"/>
            <a:ext cx="288036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Une source qu’aucune institution nationale ne produit — utile pour comparer, signaler des anomalies et renforcer la crédibilité.</a:t>
            </a:r>
            <a:endParaRPr lang="fr-FR" sz="1150" dirty="0"/>
          </a:p>
        </p:txBody>
      </p:sp>
      <p:sp>
        <p:nvSpPr>
          <p:cNvPr id="33" name="Shape 26"/>
          <p:cNvSpPr/>
          <p:nvPr/>
        </p:nvSpPr>
        <p:spPr>
          <a:xfrm>
            <a:off x="7589520" y="1371600"/>
            <a:ext cx="4050792" cy="4233672"/>
          </a:xfrm>
          <a:prstGeom prst="roundRect">
            <a:avLst>
              <a:gd name="adj" fmla="val 1806"/>
            </a:avLst>
          </a:prstGeom>
          <a:solidFill>
            <a:srgbClr val="00553A"/>
          </a:solidFill>
          <a:ln w="9525">
            <a:solidFill>
              <a:srgbClr val="00553A"/>
            </a:solidFill>
            <a:prstDash val="solid"/>
          </a:ln>
        </p:spPr>
      </p:sp>
      <p:sp>
        <p:nvSpPr>
          <p:cNvPr id="34" name="Text 27"/>
          <p:cNvSpPr txBox="1"/>
          <p:nvPr/>
        </p:nvSpPr>
        <p:spPr>
          <a:xfrm>
            <a:off x="7818120" y="1554480"/>
            <a:ext cx="3657600" cy="320040"/>
          </a:xfrm>
          <a:prstGeom prst="rect">
            <a:avLst/>
          </a:prstGeom>
          <a:noFill/>
          <a:ln/>
        </p:spPr>
        <p:txBody>
          <a:bodyPr wrap="square" lIns="0" tIns="0" rIns="0" bIns="0" rtlCol="0" anchor="t"/>
          <a:lstStyle/>
          <a:p>
            <a:pPr marL="0" indent="0">
              <a:buNone/>
            </a:pPr>
            <a:r>
              <a:rPr lang="fr-FR" sz="1500" b="1" dirty="0">
                <a:solidFill>
                  <a:srgbClr val="F5C242"/>
                </a:solidFill>
                <a:latin typeface="Calibri" pitchFamily="34" charset="0"/>
                <a:ea typeface="Calibri" pitchFamily="34" charset="-122"/>
                <a:cs typeface="Calibri" pitchFamily="34" charset="-120"/>
              </a:rPr>
              <a:t>Ce que les lumières ne peuvent pas donner</a:t>
            </a:r>
            <a:endParaRPr lang="fr-FR" sz="1500" dirty="0"/>
          </a:p>
        </p:txBody>
      </p:sp>
      <p:sp>
        <p:nvSpPr>
          <p:cNvPr id="35" name="Text 28"/>
          <p:cNvSpPr txBox="1"/>
          <p:nvPr/>
        </p:nvSpPr>
        <p:spPr>
          <a:xfrm>
            <a:off x="7818120" y="2011680"/>
            <a:ext cx="3611880" cy="3474720"/>
          </a:xfrm>
          <a:prstGeom prst="rect">
            <a:avLst/>
          </a:prstGeom>
          <a:noFill/>
          <a:ln/>
        </p:spPr>
        <p:txBody>
          <a:bodyPr wrap="square" lIns="0" tIns="0" rIns="0" bIns="0" rtlCol="0" anchor="t"/>
          <a:lstStyle/>
          <a:p>
            <a:pPr marL="177800" indent="-177800">
              <a:spcAft>
                <a:spcPts val="800"/>
              </a:spcAft>
              <a:buSzPct val="100000"/>
              <a:buChar char="•"/>
            </a:pPr>
            <a:r>
              <a:rPr lang="fr-FR" sz="1200" b="1" dirty="0">
                <a:solidFill>
                  <a:srgbClr val="FFFFFF"/>
                </a:solidFill>
                <a:latin typeface="Calibri" pitchFamily="34" charset="0"/>
                <a:ea typeface="Calibri" pitchFamily="34" charset="-122"/>
                <a:cs typeface="Calibri" pitchFamily="34" charset="-120"/>
              </a:rPr>
              <a:t>Valeur ajoutée par secteur.</a:t>
            </a:r>
            <a:r>
              <a:rPr lang="fr-FR" sz="1200" dirty="0">
                <a:solidFill>
                  <a:srgbClr val="D8EEE3"/>
                </a:solidFill>
                <a:latin typeface="Calibri" pitchFamily="34" charset="0"/>
                <a:ea typeface="Calibri" pitchFamily="34" charset="-122"/>
                <a:cs typeface="Calibri" pitchFamily="34" charset="-120"/>
              </a:rPr>
              <a:t> Agriculture, mines et nombreux services créent de la valeur avec peu de lumière.</a:t>
            </a:r>
            <a:endParaRPr lang="fr-FR" sz="1200" dirty="0"/>
          </a:p>
          <a:p>
            <a:pPr marL="177800" indent="-177800">
              <a:spcAft>
                <a:spcPts val="800"/>
              </a:spcAft>
              <a:buSzPct val="100000"/>
              <a:buChar char="•"/>
            </a:pPr>
            <a:r>
              <a:rPr lang="fr-FR" sz="1200" b="1" dirty="0">
                <a:solidFill>
                  <a:srgbClr val="FFFFFF"/>
                </a:solidFill>
                <a:latin typeface="Calibri" pitchFamily="34" charset="0"/>
                <a:ea typeface="Calibri" pitchFamily="34" charset="-122"/>
                <a:cs typeface="Calibri" pitchFamily="34" charset="-120"/>
              </a:rPr>
              <a:t>Prix ou déflateurs.</a:t>
            </a:r>
            <a:r>
              <a:rPr lang="fr-FR" sz="1200" dirty="0">
                <a:solidFill>
                  <a:srgbClr val="D8EEE3"/>
                </a:solidFill>
                <a:latin typeface="Calibri" pitchFamily="34" charset="0"/>
                <a:ea typeface="Calibri" pitchFamily="34" charset="-122"/>
                <a:cs typeface="Calibri" pitchFamily="34" charset="-120"/>
              </a:rPr>
              <a:t> Les lumières sont au mieux un signal de type volume.</a:t>
            </a:r>
            <a:endParaRPr lang="fr-FR" sz="1200" dirty="0"/>
          </a:p>
          <a:p>
            <a:pPr marL="177800" indent="-177800">
              <a:spcAft>
                <a:spcPts val="800"/>
              </a:spcAft>
              <a:buSzPct val="100000"/>
              <a:buChar char="•"/>
            </a:pPr>
            <a:r>
              <a:rPr lang="fr-FR" sz="1200" b="1" dirty="0">
                <a:solidFill>
                  <a:srgbClr val="FFFFFF"/>
                </a:solidFill>
                <a:latin typeface="Calibri" pitchFamily="34" charset="0"/>
                <a:ea typeface="Calibri" pitchFamily="34" charset="-122"/>
                <a:cs typeface="Calibri" pitchFamily="34" charset="-120"/>
              </a:rPr>
              <a:t>Revenu des ménages.</a:t>
            </a:r>
            <a:r>
              <a:rPr lang="fr-FR" sz="1200" dirty="0">
                <a:solidFill>
                  <a:srgbClr val="D8EEE3"/>
                </a:solidFill>
                <a:latin typeface="Calibri" pitchFamily="34" charset="0"/>
                <a:ea typeface="Calibri" pitchFamily="34" charset="-122"/>
                <a:cs typeface="Calibri" pitchFamily="34" charset="-120"/>
              </a:rPr>
              <a:t> Les pixels lumineux ne sont ni des personnes, ni leurs revenus.</a:t>
            </a:r>
            <a:endParaRPr lang="fr-FR" sz="1200" dirty="0"/>
          </a:p>
          <a:p>
            <a:pPr marL="177800" indent="-177800">
              <a:spcAft>
                <a:spcPts val="800"/>
              </a:spcAft>
              <a:buSzPct val="100000"/>
              <a:buChar char="•"/>
            </a:pPr>
            <a:r>
              <a:rPr lang="fr-FR" sz="1200" b="1" dirty="0">
                <a:solidFill>
                  <a:srgbClr val="FFFFFF"/>
                </a:solidFill>
                <a:latin typeface="Calibri" pitchFamily="34" charset="0"/>
                <a:ea typeface="Calibri" pitchFamily="34" charset="-122"/>
                <a:cs typeface="Calibri" pitchFamily="34" charset="-120"/>
              </a:rPr>
              <a:t>Activité diurne.</a:t>
            </a:r>
            <a:r>
              <a:rPr lang="fr-FR" sz="1200" dirty="0">
                <a:solidFill>
                  <a:srgbClr val="D8EEE3"/>
                </a:solidFill>
                <a:latin typeface="Calibri" pitchFamily="34" charset="0"/>
                <a:ea typeface="Calibri" pitchFamily="34" charset="-122"/>
                <a:cs typeface="Calibri" pitchFamily="34" charset="-120"/>
              </a:rPr>
              <a:t> Marchés, exploitations et bureaux qui ferment avant la nuit sont invisibles.</a:t>
            </a:r>
            <a:endParaRPr lang="fr-FR" sz="1200" dirty="0"/>
          </a:p>
        </p:txBody>
      </p:sp>
      <p:sp>
        <p:nvSpPr>
          <p:cNvPr id="36" name="Shape 29"/>
          <p:cNvSpPr/>
          <p:nvPr/>
        </p:nvSpPr>
        <p:spPr>
          <a:xfrm>
            <a:off x="548640" y="5742432"/>
            <a:ext cx="11094415" cy="457200"/>
          </a:xfrm>
          <a:prstGeom prst="roundRect">
            <a:avLst>
              <a:gd name="adj" fmla="val 16000"/>
            </a:avLst>
          </a:prstGeom>
          <a:solidFill>
            <a:srgbClr val="E8F5EF"/>
          </a:solidFill>
          <a:ln w="9525">
            <a:solidFill>
              <a:srgbClr val="E8F5EF"/>
            </a:solidFill>
            <a:prstDash val="solid"/>
          </a:ln>
        </p:spPr>
      </p:sp>
      <p:sp>
        <p:nvSpPr>
          <p:cNvPr id="37" name="Text 30"/>
          <p:cNvSpPr txBox="1"/>
          <p:nvPr/>
        </p:nvSpPr>
        <p:spPr>
          <a:xfrm>
            <a:off x="777240" y="5742432"/>
            <a:ext cx="10637215" cy="457200"/>
          </a:xfrm>
          <a:prstGeom prst="rect">
            <a:avLst/>
          </a:prstGeom>
          <a:noFill/>
          <a:ln/>
        </p:spPr>
        <p:txBody>
          <a:bodyPr wrap="square" lIns="0" tIns="0" rIns="0" bIns="0" rtlCol="0" anchor="ctr"/>
          <a:lstStyle/>
          <a:p>
            <a:pPr marL="0" indent="0">
              <a:buNone/>
            </a:pPr>
            <a:r>
              <a:rPr lang="fr-FR" sz="1200" b="1" dirty="0">
                <a:solidFill>
                  <a:srgbClr val="00704A"/>
                </a:solidFill>
                <a:latin typeface="Calibri" pitchFamily="34" charset="0"/>
                <a:ea typeface="Calibri" pitchFamily="34" charset="-122"/>
                <a:cs typeface="Calibri" pitchFamily="34" charset="-120"/>
              </a:rPr>
              <a:t>Positionnement :  </a:t>
            </a:r>
            <a:r>
              <a:rPr lang="fr-FR" sz="1200" dirty="0">
                <a:solidFill>
                  <a:srgbClr val="231F20"/>
                </a:solidFill>
                <a:latin typeface="Calibri" pitchFamily="34" charset="0"/>
                <a:ea typeface="Calibri" pitchFamily="34" charset="-122"/>
                <a:cs typeface="Calibri" pitchFamily="34" charset="-120"/>
              </a:rPr>
              <a:t>un complément aux statistiques officielles pour la désagrégation, la prévision immédiate et la vérification — jamais un substitut aux comptes nationaux, aux enquêtes ou au recensement.</a:t>
            </a:r>
            <a:endParaRPr lang="fr-FR"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Afrique de l’Ouest  ·  Rendu illustratif : populations des localités GeoNames, frontières Natural Earth</a:t>
            </a:r>
            <a:endParaRPr lang="fr-FR"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fr-FR" sz="1100" b="1" kern="0" spc="300" dirty="0">
                <a:solidFill>
                  <a:srgbClr val="7BCBA9"/>
                </a:solidFill>
                <a:latin typeface="Calibri" pitchFamily="34" charset="0"/>
                <a:ea typeface="Calibri" pitchFamily="34" charset="-122"/>
                <a:cs typeface="Calibri" pitchFamily="34" charset="-120"/>
              </a:rPr>
              <a:t>SECTION 2</a:t>
            </a:r>
            <a:endParaRPr lang="fr-FR"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fr-FR" sz="8000" b="1" dirty="0">
                <a:solidFill>
                  <a:srgbClr val="F5C242"/>
                </a:solidFill>
                <a:latin typeface="Calibri" pitchFamily="34" charset="0"/>
                <a:ea typeface="Calibri" pitchFamily="34" charset="-122"/>
                <a:cs typeface="Calibri" pitchFamily="34" charset="-120"/>
              </a:rPr>
              <a:t>02</a:t>
            </a:r>
            <a:endParaRPr lang="fr-FR"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fr-FR" sz="3800" b="1" dirty="0">
                <a:solidFill>
                  <a:srgbClr val="FFFFFF"/>
                </a:solidFill>
                <a:latin typeface="Calibri" pitchFamily="34" charset="0"/>
                <a:ea typeface="Calibri" pitchFamily="34" charset="-122"/>
                <a:cs typeface="Calibri" pitchFamily="34" charset="-120"/>
              </a:rPr>
              <a:t>Les instruments</a:t>
            </a:r>
            <a:endParaRPr lang="fr-FR"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fr-FR" sz="1700" i="1" dirty="0">
                <a:solidFill>
                  <a:srgbClr val="CDE8DA"/>
                </a:solidFill>
                <a:latin typeface="Calibri" pitchFamily="34" charset="0"/>
                <a:ea typeface="Calibri" pitchFamily="34" charset="-122"/>
                <a:cs typeface="Calibri" pitchFamily="34" charset="-120"/>
              </a:rPr>
              <a:t>Qu’est-ce qui mesure exactement, et avec quelle résolution ?</a:t>
            </a:r>
            <a:endParaRPr lang="fr-FR"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fr-FR" sz="1200" dirty="0">
                <a:solidFill>
                  <a:srgbClr val="A9D3BE"/>
                </a:solidFill>
                <a:latin typeface="Calibri" pitchFamily="34" charset="0"/>
                <a:ea typeface="Calibri" pitchFamily="34" charset="-122"/>
                <a:cs typeface="Calibri" pitchFamily="34" charset="-120"/>
              </a:rPr>
              <a:t>Historique  ·  DMSP ou VIIRS  ·  Dynamique  ·  Géométrie d’observation  ·  Séries longues</a:t>
            </a:r>
            <a:endParaRPr lang="fr-FR"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fr-FR" sz="1000" b="1" kern="0" spc="100" dirty="0">
                <a:solidFill>
                  <a:srgbClr val="00553A"/>
                </a:solidFill>
                <a:latin typeface="Calibri" pitchFamily="34" charset="0"/>
                <a:ea typeface="Calibri" pitchFamily="34" charset="-122"/>
                <a:cs typeface="Calibri" pitchFamily="34" charset="-120"/>
              </a:rPr>
              <a:t>SÉANCE A  ·  ≈ 4 MIN</a:t>
            </a:r>
            <a:endParaRPr lang="fr-FR"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dirty="0">
                <a:solidFill>
                  <a:srgbClr val="A9D3BE"/>
                </a:solidFill>
                <a:latin typeface="Calibri" pitchFamily="34" charset="0"/>
                <a:ea typeface="Calibri" pitchFamily="34" charset="-122"/>
                <a:cs typeface="Calibri" pitchFamily="34" charset="-120"/>
              </a:rPr>
              <a:t>10</a:t>
            </a:r>
            <a:endParaRPr lang="fr-FR"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02 · LES INSTRUMENTS · HISTORIQUE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Cinquante ans à observer l’obscurité</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11</a:t>
            </a:r>
            <a:endParaRPr lang="fr-FR" sz="900" dirty="0"/>
          </a:p>
        </p:txBody>
      </p:sp>
      <p:sp>
        <p:nvSpPr>
          <p:cNvPr id="12" name="Shape 9"/>
          <p:cNvSpPr/>
          <p:nvPr/>
        </p:nvSpPr>
        <p:spPr>
          <a:xfrm>
            <a:off x="914400" y="3429000"/>
            <a:ext cx="10362895" cy="0"/>
          </a:xfrm>
          <a:prstGeom prst="line">
            <a:avLst/>
          </a:prstGeom>
          <a:noFill/>
          <a:ln w="25400">
            <a:solidFill>
              <a:srgbClr val="00A86A"/>
            </a:solidFill>
            <a:prstDash val="solid"/>
          </a:ln>
        </p:spPr>
      </p:sp>
      <p:sp>
        <p:nvSpPr>
          <p:cNvPr id="13" name="Shape 10"/>
          <p:cNvSpPr/>
          <p:nvPr/>
        </p:nvSpPr>
        <p:spPr>
          <a:xfrm>
            <a:off x="1461497" y="3328416"/>
            <a:ext cx="201168" cy="201168"/>
          </a:xfrm>
          <a:prstGeom prst="ellipse">
            <a:avLst/>
          </a:prstGeom>
          <a:solidFill>
            <a:srgbClr val="00704A"/>
          </a:solidFill>
          <a:ln w="19050">
            <a:solidFill>
              <a:srgbClr val="FFFFFF"/>
            </a:solidFill>
            <a:prstDash val="solid"/>
          </a:ln>
        </p:spPr>
      </p:sp>
      <p:sp>
        <p:nvSpPr>
          <p:cNvPr id="14" name="Text 11"/>
          <p:cNvSpPr txBox="1"/>
          <p:nvPr/>
        </p:nvSpPr>
        <p:spPr>
          <a:xfrm>
            <a:off x="739121" y="2880360"/>
            <a:ext cx="1645920" cy="320040"/>
          </a:xfrm>
          <a:prstGeom prst="rect">
            <a:avLst/>
          </a:prstGeom>
          <a:noFill/>
          <a:ln/>
        </p:spPr>
        <p:txBody>
          <a:bodyPr wrap="square" lIns="0" tIns="0" rIns="0" bIns="0" rtlCol="0" anchor="t"/>
          <a:lstStyle/>
          <a:p>
            <a:pPr marL="0" indent="0" algn="ctr">
              <a:buNone/>
            </a:pPr>
            <a:r>
              <a:rPr lang="fr-FR" sz="1500" b="1" dirty="0">
                <a:solidFill>
                  <a:srgbClr val="00704A"/>
                </a:solidFill>
                <a:latin typeface="Calibri" pitchFamily="34" charset="0"/>
                <a:ea typeface="Calibri" pitchFamily="34" charset="-122"/>
                <a:cs typeface="Calibri" pitchFamily="34" charset="-120"/>
              </a:rPr>
              <a:t>Années 1970</a:t>
            </a:r>
            <a:endParaRPr lang="fr-FR" sz="1500" dirty="0"/>
          </a:p>
        </p:txBody>
      </p:sp>
      <p:sp>
        <p:nvSpPr>
          <p:cNvPr id="15" name="Text 12"/>
          <p:cNvSpPr txBox="1"/>
          <p:nvPr/>
        </p:nvSpPr>
        <p:spPr>
          <a:xfrm>
            <a:off x="693401" y="1463040"/>
            <a:ext cx="1737360" cy="1325880"/>
          </a:xfrm>
          <a:prstGeom prst="rect">
            <a:avLst/>
          </a:prstGeom>
          <a:noFill/>
          <a:ln/>
        </p:spPr>
        <p:txBody>
          <a:bodyPr wrap="square" lIns="0" tIns="0" rIns="0" bIns="0" rtlCol="0" anchor="b"/>
          <a:lstStyle/>
          <a:p>
            <a:pPr marL="0" indent="0" algn="ctr">
              <a:buNone/>
            </a:pPr>
            <a:r>
              <a:rPr lang="fr-FR" sz="1100" dirty="0">
                <a:solidFill>
                  <a:srgbClr val="5E6964"/>
                </a:solidFill>
                <a:latin typeface="Calibri" pitchFamily="34" charset="0"/>
                <a:ea typeface="Calibri" pitchFamily="34" charset="-122"/>
                <a:cs typeface="Calibri" pitchFamily="34" charset="-120"/>
              </a:rPr>
              <a:t>Imagerie nocturne DMSP-OLS (film). Lumières urbaines repérées lors de la détection des nuages.</a:t>
            </a:r>
            <a:endParaRPr lang="fr-FR" sz="1100" dirty="0"/>
          </a:p>
        </p:txBody>
      </p:sp>
      <p:sp>
        <p:nvSpPr>
          <p:cNvPr id="16" name="Shape 13"/>
          <p:cNvSpPr/>
          <p:nvPr/>
        </p:nvSpPr>
        <p:spPr>
          <a:xfrm>
            <a:off x="2756859" y="3328416"/>
            <a:ext cx="201168" cy="201168"/>
          </a:xfrm>
          <a:prstGeom prst="ellipse">
            <a:avLst/>
          </a:prstGeom>
          <a:solidFill>
            <a:srgbClr val="00704A"/>
          </a:solidFill>
          <a:ln w="19050">
            <a:solidFill>
              <a:srgbClr val="FFFFFF"/>
            </a:solidFill>
            <a:prstDash val="solid"/>
          </a:ln>
        </p:spPr>
      </p:sp>
      <p:sp>
        <p:nvSpPr>
          <p:cNvPr id="17" name="Text 14"/>
          <p:cNvSpPr txBox="1"/>
          <p:nvPr/>
        </p:nvSpPr>
        <p:spPr>
          <a:xfrm>
            <a:off x="2034483" y="3611880"/>
            <a:ext cx="1645920" cy="320040"/>
          </a:xfrm>
          <a:prstGeom prst="rect">
            <a:avLst/>
          </a:prstGeom>
          <a:noFill/>
          <a:ln/>
        </p:spPr>
        <p:txBody>
          <a:bodyPr wrap="square" lIns="0" tIns="0" rIns="0" bIns="0" rtlCol="0" anchor="t"/>
          <a:lstStyle/>
          <a:p>
            <a:pPr marL="0" indent="0" algn="ctr">
              <a:buNone/>
            </a:pPr>
            <a:r>
              <a:rPr lang="fr-FR" sz="1500" b="1" dirty="0">
                <a:solidFill>
                  <a:srgbClr val="00704A"/>
                </a:solidFill>
                <a:latin typeface="Calibri" pitchFamily="34" charset="0"/>
                <a:ea typeface="Calibri" pitchFamily="34" charset="-122"/>
                <a:cs typeface="Calibri" pitchFamily="34" charset="-120"/>
              </a:rPr>
              <a:t>1992</a:t>
            </a:r>
            <a:endParaRPr lang="fr-FR" sz="1500" dirty="0"/>
          </a:p>
        </p:txBody>
      </p:sp>
      <p:sp>
        <p:nvSpPr>
          <p:cNvPr id="18" name="Text 15"/>
          <p:cNvSpPr txBox="1"/>
          <p:nvPr/>
        </p:nvSpPr>
        <p:spPr>
          <a:xfrm>
            <a:off x="1988763" y="4251960"/>
            <a:ext cx="1737360" cy="132588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Début de l’archive numérique DMSP → série annuelle « lumières stables » jusqu’en 2013.</a:t>
            </a:r>
            <a:endParaRPr lang="fr-FR" sz="1100" dirty="0"/>
          </a:p>
        </p:txBody>
      </p:sp>
      <p:sp>
        <p:nvSpPr>
          <p:cNvPr id="19" name="Shape 16"/>
          <p:cNvSpPr/>
          <p:nvPr/>
        </p:nvSpPr>
        <p:spPr>
          <a:xfrm>
            <a:off x="4052221" y="3328416"/>
            <a:ext cx="201168" cy="201168"/>
          </a:xfrm>
          <a:prstGeom prst="ellipse">
            <a:avLst/>
          </a:prstGeom>
          <a:solidFill>
            <a:srgbClr val="00704A"/>
          </a:solidFill>
          <a:ln w="19050">
            <a:solidFill>
              <a:srgbClr val="FFFFFF"/>
            </a:solidFill>
            <a:prstDash val="solid"/>
          </a:ln>
        </p:spPr>
      </p:sp>
      <p:sp>
        <p:nvSpPr>
          <p:cNvPr id="20" name="Text 17"/>
          <p:cNvSpPr txBox="1"/>
          <p:nvPr/>
        </p:nvSpPr>
        <p:spPr>
          <a:xfrm>
            <a:off x="3329845" y="2880360"/>
            <a:ext cx="1645920" cy="320040"/>
          </a:xfrm>
          <a:prstGeom prst="rect">
            <a:avLst/>
          </a:prstGeom>
          <a:noFill/>
          <a:ln/>
        </p:spPr>
        <p:txBody>
          <a:bodyPr wrap="square" lIns="0" tIns="0" rIns="0" bIns="0" rtlCol="0" anchor="t"/>
          <a:lstStyle/>
          <a:p>
            <a:pPr marL="0" indent="0" algn="ctr">
              <a:buNone/>
            </a:pPr>
            <a:r>
              <a:rPr lang="fr-FR" sz="1500" b="1" dirty="0">
                <a:solidFill>
                  <a:srgbClr val="00704A"/>
                </a:solidFill>
                <a:latin typeface="Calibri" pitchFamily="34" charset="0"/>
                <a:ea typeface="Calibri" pitchFamily="34" charset="-122"/>
                <a:cs typeface="Calibri" pitchFamily="34" charset="-120"/>
              </a:rPr>
              <a:t>2011</a:t>
            </a:r>
            <a:endParaRPr lang="fr-FR" sz="1500" dirty="0"/>
          </a:p>
        </p:txBody>
      </p:sp>
      <p:sp>
        <p:nvSpPr>
          <p:cNvPr id="21" name="Text 18"/>
          <p:cNvSpPr txBox="1"/>
          <p:nvPr/>
        </p:nvSpPr>
        <p:spPr>
          <a:xfrm>
            <a:off x="3284125" y="1463040"/>
            <a:ext cx="1737360" cy="1325880"/>
          </a:xfrm>
          <a:prstGeom prst="rect">
            <a:avLst/>
          </a:prstGeom>
          <a:noFill/>
          <a:ln/>
        </p:spPr>
        <p:txBody>
          <a:bodyPr wrap="square" lIns="0" tIns="0" rIns="0" bIns="0" rtlCol="0" anchor="b"/>
          <a:lstStyle/>
          <a:p>
            <a:pPr marL="0" indent="0" algn="ctr">
              <a:buNone/>
            </a:pPr>
            <a:r>
              <a:rPr lang="fr-FR" sz="1100" dirty="0">
                <a:solidFill>
                  <a:srgbClr val="5E6964"/>
                </a:solidFill>
                <a:latin typeface="Calibri" pitchFamily="34" charset="0"/>
                <a:ea typeface="Calibri" pitchFamily="34" charset="-122"/>
                <a:cs typeface="Calibri" pitchFamily="34" charset="-120"/>
              </a:rPr>
              <a:t>Lancement de Suomi NPP avec VIIRS : premier capteur étalonné pour la radiance nocturne.</a:t>
            </a:r>
            <a:endParaRPr lang="fr-FR" sz="1100" dirty="0"/>
          </a:p>
        </p:txBody>
      </p:sp>
      <p:sp>
        <p:nvSpPr>
          <p:cNvPr id="22" name="Shape 19"/>
          <p:cNvSpPr/>
          <p:nvPr/>
        </p:nvSpPr>
        <p:spPr>
          <a:xfrm>
            <a:off x="5347583" y="3328416"/>
            <a:ext cx="201168" cy="201168"/>
          </a:xfrm>
          <a:prstGeom prst="ellipse">
            <a:avLst/>
          </a:prstGeom>
          <a:solidFill>
            <a:srgbClr val="00704A"/>
          </a:solidFill>
          <a:ln w="19050">
            <a:solidFill>
              <a:srgbClr val="FFFFFF"/>
            </a:solidFill>
            <a:prstDash val="solid"/>
          </a:ln>
        </p:spPr>
      </p:sp>
      <p:sp>
        <p:nvSpPr>
          <p:cNvPr id="23" name="Text 20"/>
          <p:cNvSpPr txBox="1"/>
          <p:nvPr/>
        </p:nvSpPr>
        <p:spPr>
          <a:xfrm>
            <a:off x="4625207" y="3611880"/>
            <a:ext cx="1645920" cy="320040"/>
          </a:xfrm>
          <a:prstGeom prst="rect">
            <a:avLst/>
          </a:prstGeom>
          <a:noFill/>
          <a:ln/>
        </p:spPr>
        <p:txBody>
          <a:bodyPr wrap="square" lIns="0" tIns="0" rIns="0" bIns="0" rtlCol="0" anchor="t"/>
          <a:lstStyle/>
          <a:p>
            <a:pPr marL="0" indent="0" algn="ctr">
              <a:buNone/>
            </a:pPr>
            <a:r>
              <a:rPr lang="fr-FR" sz="1500" b="1" dirty="0">
                <a:solidFill>
                  <a:srgbClr val="00704A"/>
                </a:solidFill>
                <a:latin typeface="Calibri" pitchFamily="34" charset="0"/>
                <a:ea typeface="Calibri" pitchFamily="34" charset="-122"/>
                <a:cs typeface="Calibri" pitchFamily="34" charset="-120"/>
              </a:rPr>
              <a:t>2012</a:t>
            </a:r>
            <a:endParaRPr lang="fr-FR" sz="1500" dirty="0"/>
          </a:p>
        </p:txBody>
      </p:sp>
      <p:sp>
        <p:nvSpPr>
          <p:cNvPr id="24" name="Text 21"/>
          <p:cNvSpPr txBox="1"/>
          <p:nvPr/>
        </p:nvSpPr>
        <p:spPr>
          <a:xfrm>
            <a:off x="4579487" y="4251960"/>
            <a:ext cx="1737360" cy="132588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Composites mensuels VIIRS sans nuages ; début de la série NASA Black Marble (janv. 2012).</a:t>
            </a:r>
            <a:endParaRPr lang="fr-FR" sz="1100" dirty="0"/>
          </a:p>
        </p:txBody>
      </p:sp>
      <p:sp>
        <p:nvSpPr>
          <p:cNvPr id="25" name="Shape 22"/>
          <p:cNvSpPr/>
          <p:nvPr/>
        </p:nvSpPr>
        <p:spPr>
          <a:xfrm>
            <a:off x="6642945" y="3328416"/>
            <a:ext cx="201168" cy="201168"/>
          </a:xfrm>
          <a:prstGeom prst="ellipse">
            <a:avLst/>
          </a:prstGeom>
          <a:solidFill>
            <a:srgbClr val="F5C242"/>
          </a:solidFill>
          <a:ln w="19050">
            <a:solidFill>
              <a:srgbClr val="FFFFFF"/>
            </a:solidFill>
            <a:prstDash val="solid"/>
          </a:ln>
        </p:spPr>
      </p:sp>
      <p:sp>
        <p:nvSpPr>
          <p:cNvPr id="26" name="Text 23"/>
          <p:cNvSpPr txBox="1"/>
          <p:nvPr/>
        </p:nvSpPr>
        <p:spPr>
          <a:xfrm>
            <a:off x="5920569" y="2880360"/>
            <a:ext cx="1645920" cy="320040"/>
          </a:xfrm>
          <a:prstGeom prst="rect">
            <a:avLst/>
          </a:prstGeom>
          <a:noFill/>
          <a:ln/>
        </p:spPr>
        <p:txBody>
          <a:bodyPr wrap="square" lIns="0" tIns="0" rIns="0" bIns="0" rtlCol="0" anchor="t"/>
          <a:lstStyle/>
          <a:p>
            <a:pPr marL="0" indent="0" algn="ctr">
              <a:buNone/>
            </a:pPr>
            <a:r>
              <a:rPr lang="fr-FR" sz="1500" b="1" dirty="0">
                <a:solidFill>
                  <a:srgbClr val="A87700"/>
                </a:solidFill>
                <a:latin typeface="Calibri" pitchFamily="34" charset="0"/>
                <a:ea typeface="Calibri" pitchFamily="34" charset="-122"/>
                <a:cs typeface="Calibri" pitchFamily="34" charset="-120"/>
              </a:rPr>
              <a:t>2017</a:t>
            </a:r>
            <a:endParaRPr lang="fr-FR" sz="1500" dirty="0"/>
          </a:p>
        </p:txBody>
      </p:sp>
      <p:sp>
        <p:nvSpPr>
          <p:cNvPr id="27" name="Text 24"/>
          <p:cNvSpPr txBox="1"/>
          <p:nvPr/>
        </p:nvSpPr>
        <p:spPr>
          <a:xfrm>
            <a:off x="5874849" y="1463040"/>
            <a:ext cx="1737360" cy="1325880"/>
          </a:xfrm>
          <a:prstGeom prst="rect">
            <a:avLst/>
          </a:prstGeom>
          <a:noFill/>
          <a:ln/>
        </p:spPr>
        <p:txBody>
          <a:bodyPr wrap="square" lIns="0" tIns="0" rIns="0" bIns="0" rtlCol="0" anchor="b"/>
          <a:lstStyle/>
          <a:p>
            <a:pPr marL="0" indent="0" algn="ctr">
              <a:buNone/>
            </a:pPr>
            <a:r>
              <a:rPr lang="fr-FR" sz="1100" dirty="0">
                <a:solidFill>
                  <a:srgbClr val="5E6964"/>
                </a:solidFill>
                <a:latin typeface="Calibri" pitchFamily="34" charset="0"/>
                <a:ea typeface="Calibri" pitchFamily="34" charset="-122"/>
                <a:cs typeface="Calibri" pitchFamily="34" charset="-120"/>
              </a:rPr>
              <a:t>Lancement de NOAA-20 avec un 2ᵉ VIIRS ; suivent les produits Black Marble jumeaux.</a:t>
            </a:r>
            <a:endParaRPr lang="fr-FR" sz="1100" dirty="0"/>
          </a:p>
        </p:txBody>
      </p:sp>
      <p:sp>
        <p:nvSpPr>
          <p:cNvPr id="28" name="Shape 25"/>
          <p:cNvSpPr/>
          <p:nvPr/>
        </p:nvSpPr>
        <p:spPr>
          <a:xfrm>
            <a:off x="7938306" y="3328416"/>
            <a:ext cx="201168" cy="201168"/>
          </a:xfrm>
          <a:prstGeom prst="ellipse">
            <a:avLst/>
          </a:prstGeom>
          <a:solidFill>
            <a:srgbClr val="F5C242"/>
          </a:solidFill>
          <a:ln w="19050">
            <a:solidFill>
              <a:srgbClr val="FFFFFF"/>
            </a:solidFill>
            <a:prstDash val="solid"/>
          </a:ln>
        </p:spPr>
      </p:sp>
      <p:sp>
        <p:nvSpPr>
          <p:cNvPr id="29" name="Text 26"/>
          <p:cNvSpPr txBox="1"/>
          <p:nvPr/>
        </p:nvSpPr>
        <p:spPr>
          <a:xfrm>
            <a:off x="7215930" y="3611880"/>
            <a:ext cx="1645920" cy="320040"/>
          </a:xfrm>
          <a:prstGeom prst="rect">
            <a:avLst/>
          </a:prstGeom>
          <a:noFill/>
          <a:ln/>
        </p:spPr>
        <p:txBody>
          <a:bodyPr wrap="square" lIns="0" tIns="0" rIns="0" bIns="0" rtlCol="0" anchor="t"/>
          <a:lstStyle/>
          <a:p>
            <a:pPr marL="0" indent="0" algn="ctr">
              <a:buNone/>
            </a:pPr>
            <a:r>
              <a:rPr lang="fr-FR" sz="1500" b="1" dirty="0">
                <a:solidFill>
                  <a:srgbClr val="A87700"/>
                </a:solidFill>
                <a:latin typeface="Calibri" pitchFamily="34" charset="0"/>
                <a:ea typeface="Calibri" pitchFamily="34" charset="-122"/>
                <a:cs typeface="Calibri" pitchFamily="34" charset="-120"/>
              </a:rPr>
              <a:t>2018</a:t>
            </a:r>
            <a:endParaRPr lang="fr-FR" sz="1500" dirty="0"/>
          </a:p>
        </p:txBody>
      </p:sp>
      <p:sp>
        <p:nvSpPr>
          <p:cNvPr id="30" name="Text 27"/>
          <p:cNvSpPr txBox="1"/>
          <p:nvPr/>
        </p:nvSpPr>
        <p:spPr>
          <a:xfrm>
            <a:off x="7170210" y="4251960"/>
            <a:ext cx="1737360" cy="132588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Luojia-1-01 démontre l’imagerie nocturne à ≈ 130 m depuis un petit satellite.</a:t>
            </a:r>
            <a:endParaRPr lang="fr-FR" sz="1100" dirty="0"/>
          </a:p>
        </p:txBody>
      </p:sp>
      <p:sp>
        <p:nvSpPr>
          <p:cNvPr id="31" name="Shape 28"/>
          <p:cNvSpPr/>
          <p:nvPr/>
        </p:nvSpPr>
        <p:spPr>
          <a:xfrm>
            <a:off x="9233668" y="3328416"/>
            <a:ext cx="201168" cy="201168"/>
          </a:xfrm>
          <a:prstGeom prst="ellipse">
            <a:avLst/>
          </a:prstGeom>
          <a:solidFill>
            <a:srgbClr val="F5C242"/>
          </a:solidFill>
          <a:ln w="19050">
            <a:solidFill>
              <a:srgbClr val="FFFFFF"/>
            </a:solidFill>
            <a:prstDash val="solid"/>
          </a:ln>
        </p:spPr>
      </p:sp>
      <p:sp>
        <p:nvSpPr>
          <p:cNvPr id="32" name="Text 29"/>
          <p:cNvSpPr txBox="1"/>
          <p:nvPr/>
        </p:nvSpPr>
        <p:spPr>
          <a:xfrm>
            <a:off x="8511292" y="2880360"/>
            <a:ext cx="1645920" cy="320040"/>
          </a:xfrm>
          <a:prstGeom prst="rect">
            <a:avLst/>
          </a:prstGeom>
          <a:noFill/>
          <a:ln/>
        </p:spPr>
        <p:txBody>
          <a:bodyPr wrap="square" lIns="0" tIns="0" rIns="0" bIns="0" rtlCol="0" anchor="t"/>
          <a:lstStyle/>
          <a:p>
            <a:pPr marL="0" indent="0" algn="ctr">
              <a:buNone/>
            </a:pPr>
            <a:r>
              <a:rPr lang="fr-FR" sz="1500" b="1" dirty="0">
                <a:solidFill>
                  <a:srgbClr val="A87700"/>
                </a:solidFill>
                <a:latin typeface="Calibri" pitchFamily="34" charset="0"/>
                <a:ea typeface="Calibri" pitchFamily="34" charset="-122"/>
                <a:cs typeface="Calibri" pitchFamily="34" charset="-120"/>
              </a:rPr>
              <a:t>2021</a:t>
            </a:r>
            <a:endParaRPr lang="fr-FR" sz="1500" dirty="0"/>
          </a:p>
        </p:txBody>
      </p:sp>
      <p:sp>
        <p:nvSpPr>
          <p:cNvPr id="33" name="Text 30"/>
          <p:cNvSpPr txBox="1"/>
          <p:nvPr/>
        </p:nvSpPr>
        <p:spPr>
          <a:xfrm>
            <a:off x="8465572" y="1463040"/>
            <a:ext cx="1737360" cy="1325880"/>
          </a:xfrm>
          <a:prstGeom prst="rect">
            <a:avLst/>
          </a:prstGeom>
          <a:noFill/>
          <a:ln/>
        </p:spPr>
        <p:txBody>
          <a:bodyPr wrap="square" lIns="0" tIns="0" rIns="0" bIns="0" rtlCol="0" anchor="b"/>
          <a:lstStyle/>
          <a:p>
            <a:pPr marL="0" indent="0" algn="ctr">
              <a:buNone/>
            </a:pPr>
            <a:r>
              <a:rPr lang="fr-FR" sz="1100" dirty="0">
                <a:solidFill>
                  <a:srgbClr val="5E6964"/>
                </a:solidFill>
                <a:latin typeface="Calibri" pitchFamily="34" charset="0"/>
                <a:ea typeface="Calibri" pitchFamily="34" charset="-122"/>
                <a:cs typeface="Calibri" pitchFamily="34" charset="-120"/>
              </a:rPr>
              <a:t>SDGSAT-1, imageur Glimmer : imagerie nocturne couleur à 10–40 m.</a:t>
            </a:r>
            <a:endParaRPr lang="fr-FR" sz="1100" dirty="0"/>
          </a:p>
        </p:txBody>
      </p:sp>
      <p:sp>
        <p:nvSpPr>
          <p:cNvPr id="34" name="Shape 31"/>
          <p:cNvSpPr/>
          <p:nvPr/>
        </p:nvSpPr>
        <p:spPr>
          <a:xfrm>
            <a:off x="10529030" y="3328416"/>
            <a:ext cx="201168" cy="201168"/>
          </a:xfrm>
          <a:prstGeom prst="ellipse">
            <a:avLst/>
          </a:prstGeom>
          <a:solidFill>
            <a:srgbClr val="F5C242"/>
          </a:solidFill>
          <a:ln w="19050">
            <a:solidFill>
              <a:srgbClr val="FFFFFF"/>
            </a:solidFill>
            <a:prstDash val="solid"/>
          </a:ln>
        </p:spPr>
      </p:sp>
      <p:sp>
        <p:nvSpPr>
          <p:cNvPr id="35" name="Text 32"/>
          <p:cNvSpPr txBox="1"/>
          <p:nvPr/>
        </p:nvSpPr>
        <p:spPr>
          <a:xfrm>
            <a:off x="9806654" y="3611880"/>
            <a:ext cx="1645920" cy="320040"/>
          </a:xfrm>
          <a:prstGeom prst="rect">
            <a:avLst/>
          </a:prstGeom>
          <a:noFill/>
          <a:ln/>
        </p:spPr>
        <p:txBody>
          <a:bodyPr wrap="square" lIns="0" tIns="0" rIns="0" bIns="0" rtlCol="0" anchor="t"/>
          <a:lstStyle/>
          <a:p>
            <a:pPr marL="0" indent="0" algn="ctr">
              <a:buNone/>
            </a:pPr>
            <a:r>
              <a:rPr lang="fr-FR" sz="1500" b="1" dirty="0">
                <a:solidFill>
                  <a:srgbClr val="A87700"/>
                </a:solidFill>
                <a:latin typeface="Calibri" pitchFamily="34" charset="0"/>
                <a:ea typeface="Calibri" pitchFamily="34" charset="-122"/>
                <a:cs typeface="Calibri" pitchFamily="34" charset="-120"/>
              </a:rPr>
              <a:t>2022</a:t>
            </a:r>
            <a:endParaRPr lang="fr-FR" sz="1500" dirty="0"/>
          </a:p>
        </p:txBody>
      </p:sp>
      <p:sp>
        <p:nvSpPr>
          <p:cNvPr id="36" name="Text 33"/>
          <p:cNvSpPr txBox="1"/>
          <p:nvPr/>
        </p:nvSpPr>
        <p:spPr>
          <a:xfrm>
            <a:off x="9760934" y="4251960"/>
            <a:ext cx="1737360" cy="132588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Lancement de NOAA-21 : un 3ᵉ VIIRS prolonge la série jusqu’aux années 2030.</a:t>
            </a:r>
            <a:endParaRPr lang="fr-FR" sz="1100" dirty="0"/>
          </a:p>
        </p:txBody>
      </p:sp>
      <p:sp>
        <p:nvSpPr>
          <p:cNvPr id="37" name="Shape 34"/>
          <p:cNvSpPr/>
          <p:nvPr/>
        </p:nvSpPr>
        <p:spPr>
          <a:xfrm>
            <a:off x="548640" y="5559552"/>
            <a:ext cx="11094415" cy="594360"/>
          </a:xfrm>
          <a:prstGeom prst="roundRect">
            <a:avLst>
              <a:gd name="adj" fmla="val 12308"/>
            </a:avLst>
          </a:prstGeom>
          <a:solidFill>
            <a:srgbClr val="E8F5EF"/>
          </a:solidFill>
          <a:ln w="9525">
            <a:solidFill>
              <a:srgbClr val="E8F5EF"/>
            </a:solidFill>
            <a:prstDash val="solid"/>
          </a:ln>
        </p:spPr>
      </p:sp>
      <p:sp>
        <p:nvSpPr>
          <p:cNvPr id="38" name="Text 35"/>
          <p:cNvSpPr txBox="1"/>
          <p:nvPr/>
        </p:nvSpPr>
        <p:spPr>
          <a:xfrm>
            <a:off x="777240" y="5559552"/>
            <a:ext cx="10637215" cy="594360"/>
          </a:xfrm>
          <a:prstGeom prst="rect">
            <a:avLst/>
          </a:prstGeom>
          <a:noFill/>
          <a:ln/>
        </p:spPr>
        <p:txBody>
          <a:bodyPr wrap="square" lIns="0" tIns="0" rIns="0" bIns="0" rtlCol="0" anchor="ctr"/>
          <a:lstStyle/>
          <a:p>
            <a:pPr marL="0" indent="0">
              <a:buNone/>
            </a:pPr>
            <a:r>
              <a:rPr lang="fr-FR" sz="1250" b="1" dirty="0">
                <a:solidFill>
                  <a:srgbClr val="00704A"/>
                </a:solidFill>
                <a:latin typeface="Calibri" pitchFamily="34" charset="0"/>
                <a:ea typeface="Calibri" pitchFamily="34" charset="-122"/>
                <a:cs typeface="Calibri" pitchFamily="34" charset="-120"/>
              </a:rPr>
              <a:t>L’ironie : </a:t>
            </a:r>
            <a:r>
              <a:rPr lang="fr-FR" sz="1250" dirty="0">
                <a:solidFill>
                  <a:srgbClr val="231F20"/>
                </a:solidFill>
                <a:latin typeface="Calibri" pitchFamily="34" charset="0"/>
                <a:ea typeface="Calibri" pitchFamily="34" charset="-122"/>
                <a:cs typeface="Calibri" pitchFamily="34" charset="-120"/>
              </a:rPr>
              <a:t>le premier instrument devait voir les nuages au clair de lune. Les lumières des villes étaient du bruit — il a fallu deux décennies pour traiter ce bruit comme le signal.</a:t>
            </a:r>
            <a:endParaRPr lang="fr-FR"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02 · LES INSTRUMENTS · IMAGERIE RÉELLE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Les premières images nocturnes : film DMSP, 1974</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IMAGERIE RÉELLE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12</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Source : Croft (1978), reproduit dans les tutoriels Open Nighttime Lights de la Banque mondiale (CC BY 4.0). Chronologie : NOAA NCEI, même source.</a:t>
            </a:r>
            <a:endParaRPr lang="fr-FR" sz="850" dirty="0"/>
          </a:p>
        </p:txBody>
      </p:sp>
      <p:sp>
        <p:nvSpPr>
          <p:cNvPr id="13" name="Shape 10"/>
          <p:cNvSpPr/>
          <p:nvPr/>
        </p:nvSpPr>
        <p:spPr>
          <a:xfrm>
            <a:off x="548640" y="1362456"/>
            <a:ext cx="4133088" cy="4050335"/>
          </a:xfrm>
          <a:prstGeom prst="roundRect">
            <a:avLst>
              <a:gd name="adj" fmla="val 1806"/>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4" name="Image 1" descr="/home/claude/build/img/real/croft.png"/>
          <p:cNvPicPr>
            <a:picLocks noChangeAspect="1"/>
          </p:cNvPicPr>
          <p:nvPr/>
        </p:nvPicPr>
        <p:blipFill>
          <a:blip r:embed="rId4"/>
          <a:stretch>
            <a:fillRect/>
          </a:stretch>
        </p:blipFill>
        <p:spPr>
          <a:xfrm>
            <a:off x="603504" y="1417320"/>
            <a:ext cx="4023360" cy="3940607"/>
          </a:xfrm>
          <a:prstGeom prst="rect">
            <a:avLst/>
          </a:prstGeom>
        </p:spPr>
      </p:pic>
      <p:sp>
        <p:nvSpPr>
          <p:cNvPr id="15" name="Shape 11"/>
          <p:cNvSpPr/>
          <p:nvPr/>
        </p:nvSpPr>
        <p:spPr>
          <a:xfrm>
            <a:off x="4846320" y="1325880"/>
            <a:ext cx="3337560" cy="969264"/>
          </a:xfrm>
          <a:prstGeom prst="roundRect">
            <a:avLst>
              <a:gd name="adj" fmla="val 7547"/>
            </a:avLst>
          </a:prstGeom>
          <a:solidFill>
            <a:srgbClr val="F4F7F5"/>
          </a:solidFill>
          <a:ln w="9525">
            <a:solidFill>
              <a:srgbClr val="D5DED9"/>
            </a:solidFill>
            <a:prstDash val="solid"/>
          </a:ln>
        </p:spPr>
      </p:sp>
      <p:sp>
        <p:nvSpPr>
          <p:cNvPr id="16" name="Shape 12"/>
          <p:cNvSpPr/>
          <p:nvPr/>
        </p:nvSpPr>
        <p:spPr>
          <a:xfrm>
            <a:off x="4983480" y="1463040"/>
            <a:ext cx="457200" cy="457200"/>
          </a:xfrm>
          <a:prstGeom prst="ellipse">
            <a:avLst/>
          </a:prstGeom>
          <a:solidFill>
            <a:srgbClr val="00704A"/>
          </a:solidFill>
          <a:ln w="12700">
            <a:solidFill>
              <a:srgbClr val="00704A"/>
            </a:solidFill>
            <a:prstDash val="solid"/>
          </a:ln>
        </p:spPr>
      </p:sp>
      <p:pic>
        <p:nvPicPr>
          <p:cNvPr id="17" name="Image 2" descr="preencoded.png"/>
          <p:cNvPicPr>
            <a:picLocks noChangeAspect="1"/>
          </p:cNvPicPr>
          <p:nvPr/>
        </p:nvPicPr>
        <p:blipFill>
          <a:blip r:embed="rId5"/>
          <a:stretch>
            <a:fillRect/>
          </a:stretch>
        </p:blipFill>
        <p:spPr>
          <a:xfrm>
            <a:off x="5102352" y="1581912"/>
            <a:ext cx="219456" cy="219456"/>
          </a:xfrm>
          <a:prstGeom prst="rect">
            <a:avLst/>
          </a:prstGeom>
        </p:spPr>
      </p:pic>
      <p:sp>
        <p:nvSpPr>
          <p:cNvPr id="18" name="Text 13"/>
          <p:cNvSpPr txBox="1"/>
          <p:nvPr/>
        </p:nvSpPr>
        <p:spPr>
          <a:xfrm>
            <a:off x="5577840" y="1417320"/>
            <a:ext cx="24688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Orbite de gauche · 18 avril 1974</a:t>
            </a:r>
            <a:endParaRPr lang="fr-FR" sz="1250" dirty="0"/>
          </a:p>
        </p:txBody>
      </p:sp>
      <p:sp>
        <p:nvSpPr>
          <p:cNvPr id="19" name="Text 14"/>
          <p:cNvSpPr txBox="1"/>
          <p:nvPr/>
        </p:nvSpPr>
        <p:spPr>
          <a:xfrm>
            <a:off x="5577840" y="1719072"/>
            <a:ext cx="2468880" cy="512064"/>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Lumières des villes du centre des États-Unis et du Mexique — et une aurore au-dessus du Canada.</a:t>
            </a:r>
            <a:endParaRPr lang="fr-FR" sz="1100" dirty="0"/>
          </a:p>
        </p:txBody>
      </p:sp>
      <p:sp>
        <p:nvSpPr>
          <p:cNvPr id="20" name="Shape 15"/>
          <p:cNvSpPr/>
          <p:nvPr/>
        </p:nvSpPr>
        <p:spPr>
          <a:xfrm>
            <a:off x="4846320" y="2404872"/>
            <a:ext cx="3337560" cy="969264"/>
          </a:xfrm>
          <a:prstGeom prst="roundRect">
            <a:avLst>
              <a:gd name="adj" fmla="val 7547"/>
            </a:avLst>
          </a:prstGeom>
          <a:solidFill>
            <a:srgbClr val="F4F7F5"/>
          </a:solidFill>
          <a:ln w="9525">
            <a:solidFill>
              <a:srgbClr val="D5DED9"/>
            </a:solidFill>
            <a:prstDash val="solid"/>
          </a:ln>
        </p:spPr>
      </p:sp>
      <p:sp>
        <p:nvSpPr>
          <p:cNvPr id="21" name="Shape 16"/>
          <p:cNvSpPr/>
          <p:nvPr/>
        </p:nvSpPr>
        <p:spPr>
          <a:xfrm>
            <a:off x="4983480" y="2542032"/>
            <a:ext cx="457200" cy="457200"/>
          </a:xfrm>
          <a:prstGeom prst="ellipse">
            <a:avLst/>
          </a:prstGeom>
          <a:solidFill>
            <a:srgbClr val="00704A"/>
          </a:solidFill>
          <a:ln w="12700">
            <a:solidFill>
              <a:srgbClr val="00704A"/>
            </a:solidFill>
            <a:prstDash val="solid"/>
          </a:ln>
        </p:spPr>
      </p:sp>
      <p:pic>
        <p:nvPicPr>
          <p:cNvPr id="22" name="Image 3" descr="preencoded.png"/>
          <p:cNvPicPr>
            <a:picLocks noChangeAspect="1"/>
          </p:cNvPicPr>
          <p:nvPr/>
        </p:nvPicPr>
        <p:blipFill>
          <a:blip r:embed="rId6"/>
          <a:stretch>
            <a:fillRect/>
          </a:stretch>
        </p:blipFill>
        <p:spPr>
          <a:xfrm>
            <a:off x="5102352" y="2660904"/>
            <a:ext cx="219456" cy="219456"/>
          </a:xfrm>
          <a:prstGeom prst="rect">
            <a:avLst/>
          </a:prstGeom>
        </p:spPr>
      </p:pic>
      <p:sp>
        <p:nvSpPr>
          <p:cNvPr id="23" name="Text 17"/>
          <p:cNvSpPr txBox="1"/>
          <p:nvPr/>
        </p:nvSpPr>
        <p:spPr>
          <a:xfrm>
            <a:off x="5577840" y="2496312"/>
            <a:ext cx="24688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Orbite de droite · Europe et Afrique</a:t>
            </a:r>
            <a:endParaRPr lang="fr-FR" sz="1250" dirty="0"/>
          </a:p>
        </p:txBody>
      </p:sp>
      <p:sp>
        <p:nvSpPr>
          <p:cNvPr id="24" name="Text 18"/>
          <p:cNvSpPr txBox="1"/>
          <p:nvPr/>
        </p:nvSpPr>
        <p:spPr>
          <a:xfrm>
            <a:off x="5577840" y="2798064"/>
            <a:ext cx="2468880" cy="512064"/>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Lumières des villes d’Europe et d’Asie jusqu’à l’Afrique centrale.</a:t>
            </a:r>
            <a:endParaRPr lang="fr-FR" sz="1100" dirty="0"/>
          </a:p>
        </p:txBody>
      </p:sp>
      <p:sp>
        <p:nvSpPr>
          <p:cNvPr id="25" name="Shape 19"/>
          <p:cNvSpPr/>
          <p:nvPr/>
        </p:nvSpPr>
        <p:spPr>
          <a:xfrm>
            <a:off x="4846320" y="3483864"/>
            <a:ext cx="3337560" cy="969264"/>
          </a:xfrm>
          <a:prstGeom prst="roundRect">
            <a:avLst>
              <a:gd name="adj" fmla="val 7547"/>
            </a:avLst>
          </a:prstGeom>
          <a:solidFill>
            <a:srgbClr val="FDF5DC"/>
          </a:solidFill>
          <a:ln w="9525">
            <a:solidFill>
              <a:srgbClr val="FDF5DC"/>
            </a:solidFill>
            <a:prstDash val="solid"/>
          </a:ln>
        </p:spPr>
      </p:sp>
      <p:sp>
        <p:nvSpPr>
          <p:cNvPr id="26" name="Shape 20"/>
          <p:cNvSpPr/>
          <p:nvPr/>
        </p:nvSpPr>
        <p:spPr>
          <a:xfrm>
            <a:off x="4983480" y="3621024"/>
            <a:ext cx="457200" cy="457200"/>
          </a:xfrm>
          <a:prstGeom prst="ellipse">
            <a:avLst/>
          </a:prstGeom>
          <a:solidFill>
            <a:srgbClr val="F5C242"/>
          </a:solidFill>
          <a:ln w="12700">
            <a:solidFill>
              <a:srgbClr val="F5C242"/>
            </a:solidFill>
            <a:prstDash val="solid"/>
          </a:ln>
        </p:spPr>
      </p:sp>
      <p:pic>
        <p:nvPicPr>
          <p:cNvPr id="27" name="Image 4" descr="preencoded.png"/>
          <p:cNvPicPr>
            <a:picLocks noChangeAspect="1"/>
          </p:cNvPicPr>
          <p:nvPr/>
        </p:nvPicPr>
        <p:blipFill>
          <a:blip r:embed="rId7"/>
          <a:stretch>
            <a:fillRect/>
          </a:stretch>
        </p:blipFill>
        <p:spPr>
          <a:xfrm>
            <a:off x="5102352" y="3739896"/>
            <a:ext cx="219456" cy="219456"/>
          </a:xfrm>
          <a:prstGeom prst="rect">
            <a:avLst/>
          </a:prstGeom>
        </p:spPr>
      </p:pic>
      <p:sp>
        <p:nvSpPr>
          <p:cNvPr id="28" name="Text 21"/>
          <p:cNvSpPr txBox="1"/>
          <p:nvPr/>
        </p:nvSpPr>
        <p:spPr>
          <a:xfrm>
            <a:off x="5577840" y="3575304"/>
            <a:ext cx="24688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Une bande de feux à travers l’Afrique</a:t>
            </a:r>
            <a:endParaRPr lang="fr-FR" sz="1250" dirty="0"/>
          </a:p>
        </p:txBody>
      </p:sp>
      <p:sp>
        <p:nvSpPr>
          <p:cNvPr id="29" name="Text 22"/>
          <p:cNvSpPr txBox="1"/>
          <p:nvPr/>
        </p:nvSpPr>
        <p:spPr>
          <a:xfrm>
            <a:off x="5577840" y="3877056"/>
            <a:ext cx="2468880" cy="512064"/>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Brûlis agricoles : lumineux, saisonniers et sans rapport avec les villes.</a:t>
            </a:r>
            <a:endParaRPr lang="fr-FR" sz="1100" dirty="0"/>
          </a:p>
        </p:txBody>
      </p:sp>
      <p:sp>
        <p:nvSpPr>
          <p:cNvPr id="30" name="Shape 23"/>
          <p:cNvSpPr/>
          <p:nvPr/>
        </p:nvSpPr>
        <p:spPr>
          <a:xfrm>
            <a:off x="4846320" y="4562856"/>
            <a:ext cx="3337560" cy="969264"/>
          </a:xfrm>
          <a:prstGeom prst="roundRect">
            <a:avLst>
              <a:gd name="adj" fmla="val 7547"/>
            </a:avLst>
          </a:prstGeom>
          <a:solidFill>
            <a:srgbClr val="FDF5DC"/>
          </a:solidFill>
          <a:ln w="9525">
            <a:solidFill>
              <a:srgbClr val="FDF5DC"/>
            </a:solidFill>
            <a:prstDash val="solid"/>
          </a:ln>
        </p:spPr>
      </p:sp>
      <p:sp>
        <p:nvSpPr>
          <p:cNvPr id="31" name="Shape 24"/>
          <p:cNvSpPr/>
          <p:nvPr/>
        </p:nvSpPr>
        <p:spPr>
          <a:xfrm>
            <a:off x="4983480" y="4700016"/>
            <a:ext cx="457200" cy="457200"/>
          </a:xfrm>
          <a:prstGeom prst="ellipse">
            <a:avLst/>
          </a:prstGeom>
          <a:solidFill>
            <a:srgbClr val="F5C242"/>
          </a:solidFill>
          <a:ln w="12700">
            <a:solidFill>
              <a:srgbClr val="F5C242"/>
            </a:solidFill>
            <a:prstDash val="solid"/>
          </a:ln>
        </p:spPr>
      </p:sp>
      <p:pic>
        <p:nvPicPr>
          <p:cNvPr id="32" name="Image 5" descr="preencoded.png"/>
          <p:cNvPicPr>
            <a:picLocks noChangeAspect="1"/>
          </p:cNvPicPr>
          <p:nvPr/>
        </p:nvPicPr>
        <p:blipFill>
          <a:blip r:embed="rId8"/>
          <a:stretch>
            <a:fillRect/>
          </a:stretch>
        </p:blipFill>
        <p:spPr>
          <a:xfrm>
            <a:off x="5102352" y="4818888"/>
            <a:ext cx="219456" cy="219456"/>
          </a:xfrm>
          <a:prstGeom prst="rect">
            <a:avLst/>
          </a:prstGeom>
        </p:spPr>
      </p:pic>
      <p:sp>
        <p:nvSpPr>
          <p:cNvPr id="33" name="Text 25"/>
          <p:cNvSpPr txBox="1"/>
          <p:nvPr/>
        </p:nvSpPr>
        <p:spPr>
          <a:xfrm>
            <a:off x="5577840" y="4654296"/>
            <a:ext cx="24688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Torchères</a:t>
            </a:r>
            <a:endParaRPr lang="fr-FR" sz="1250" dirty="0"/>
          </a:p>
        </p:txBody>
      </p:sp>
      <p:sp>
        <p:nvSpPr>
          <p:cNvPr id="34" name="Text 26"/>
          <p:cNvSpPr txBox="1"/>
          <p:nvPr/>
        </p:nvSpPr>
        <p:spPr>
          <a:xfrm>
            <a:off x="5577840" y="4956048"/>
            <a:ext cx="2468880" cy="512064"/>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Torchères offshore du Nigeria, Algérie et Libye — déjà visibles il y a 50 ans.</a:t>
            </a:r>
            <a:endParaRPr lang="fr-FR" sz="1100" dirty="0"/>
          </a:p>
        </p:txBody>
      </p:sp>
      <p:sp>
        <p:nvSpPr>
          <p:cNvPr id="35" name="Text 27"/>
          <p:cNvSpPr txBox="1"/>
          <p:nvPr/>
        </p:nvSpPr>
        <p:spPr>
          <a:xfrm>
            <a:off x="8458200" y="1325880"/>
            <a:ext cx="3200400" cy="274320"/>
          </a:xfrm>
          <a:prstGeom prst="rect">
            <a:avLst/>
          </a:prstGeom>
          <a:noFill/>
          <a:ln/>
        </p:spPr>
        <p:txBody>
          <a:bodyPr wrap="square" lIns="0" tIns="0" rIns="0" bIns="0" rtlCol="0" anchor="t"/>
          <a:lstStyle/>
          <a:p>
            <a:pPr marL="0" indent="0">
              <a:buNone/>
            </a:pPr>
            <a:r>
              <a:rPr lang="fr-FR" sz="1100" b="1" dirty="0">
                <a:solidFill>
                  <a:srgbClr val="00704A"/>
                </a:solidFill>
                <a:latin typeface="Calibri" pitchFamily="34" charset="0"/>
                <a:ea typeface="Calibri" pitchFamily="34" charset="-122"/>
                <a:cs typeface="Calibri" pitchFamily="34" charset="-120"/>
              </a:rPr>
              <a:t>Satellites à faible luminosité, 1990 – 2040</a:t>
            </a:r>
            <a:endParaRPr lang="fr-FR" sz="1100" dirty="0"/>
          </a:p>
        </p:txBody>
      </p:sp>
      <p:sp>
        <p:nvSpPr>
          <p:cNvPr id="36" name="Shape 28"/>
          <p:cNvSpPr/>
          <p:nvPr/>
        </p:nvSpPr>
        <p:spPr>
          <a:xfrm>
            <a:off x="8449056" y="1636776"/>
            <a:ext cx="3200400" cy="1948319"/>
          </a:xfrm>
          <a:prstGeom prst="roundRect">
            <a:avLst>
              <a:gd name="adj" fmla="val 3755"/>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37" name="Image 6" descr="/home/claude/build/img/real/timeline.png"/>
          <p:cNvPicPr>
            <a:picLocks noChangeAspect="1"/>
          </p:cNvPicPr>
          <p:nvPr/>
        </p:nvPicPr>
        <p:blipFill>
          <a:blip r:embed="rId9"/>
          <a:stretch>
            <a:fillRect/>
          </a:stretch>
        </p:blipFill>
        <p:spPr>
          <a:xfrm>
            <a:off x="8503920" y="1691640"/>
            <a:ext cx="3090672" cy="1838591"/>
          </a:xfrm>
          <a:prstGeom prst="rect">
            <a:avLst/>
          </a:prstGeom>
        </p:spPr>
      </p:pic>
      <p:sp>
        <p:nvSpPr>
          <p:cNvPr id="38" name="Shape 29"/>
          <p:cNvSpPr/>
          <p:nvPr/>
        </p:nvSpPr>
        <p:spPr>
          <a:xfrm>
            <a:off x="8449056" y="3703320"/>
            <a:ext cx="3191256" cy="1920240"/>
          </a:xfrm>
          <a:prstGeom prst="roundRect">
            <a:avLst>
              <a:gd name="adj" fmla="val 3810"/>
            </a:avLst>
          </a:prstGeom>
          <a:solidFill>
            <a:srgbClr val="00553A"/>
          </a:solidFill>
          <a:ln w="9525">
            <a:solidFill>
              <a:srgbClr val="00553A"/>
            </a:solidFill>
            <a:prstDash val="solid"/>
          </a:ln>
        </p:spPr>
      </p:sp>
      <p:sp>
        <p:nvSpPr>
          <p:cNvPr id="39" name="Text 30"/>
          <p:cNvSpPr txBox="1"/>
          <p:nvPr/>
        </p:nvSpPr>
        <p:spPr>
          <a:xfrm>
            <a:off x="8613648" y="3767328"/>
            <a:ext cx="2880360" cy="1783080"/>
          </a:xfrm>
          <a:prstGeom prst="rect">
            <a:avLst/>
          </a:prstGeom>
          <a:noFill/>
          <a:ln/>
        </p:spPr>
        <p:txBody>
          <a:bodyPr wrap="square" lIns="0" tIns="0" rIns="0" bIns="0" rtlCol="0" anchor="ctr"/>
          <a:lstStyle/>
          <a:p>
            <a:pPr marL="0" indent="0">
              <a:buNone/>
            </a:pPr>
            <a:r>
              <a:rPr lang="fr-FR" sz="1150" b="1" dirty="0">
                <a:solidFill>
                  <a:srgbClr val="F5C242"/>
                </a:solidFill>
                <a:latin typeface="Calibri" pitchFamily="34" charset="0"/>
                <a:ea typeface="Calibri" pitchFamily="34" charset="-122"/>
                <a:cs typeface="Calibri" pitchFamily="34" charset="-120"/>
              </a:rPr>
              <a:t>Pourquoi le montrer ici ? </a:t>
            </a:r>
            <a:r>
              <a:rPr lang="fr-FR" sz="1150" dirty="0">
                <a:solidFill>
                  <a:srgbClr val="FFFFFF"/>
                </a:solidFill>
                <a:latin typeface="Calibri" pitchFamily="34" charset="0"/>
                <a:ea typeface="Calibri" pitchFamily="34" charset="-122"/>
                <a:cs typeface="Calibri" pitchFamily="34" charset="-120"/>
              </a:rPr>
              <a:t>Feux et torchères ont été les premiers signaux africains jamais enregistrés depuis l’orbite — et ce sont encore les premiers artefacts à masquer.</a:t>
            </a:r>
            <a:endParaRPr lang="fr-FR"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02 · LES INSTRUMENTS · COMPARAISON DES CAPTEURS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Deux capteurs, deux sciences différentes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13</a:t>
            </a:r>
            <a:endParaRPr lang="fr-FR"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828800">
                  <a:extLst>
                    <a:ext uri="{9D8B030D-6E8A-4147-A177-3AD203B41FA5}">
                      <a16:colId xmlns:a16="http://schemas.microsoft.com/office/drawing/2014/main" val="20000"/>
                    </a:ext>
                  </a:extLst>
                </a:gridCol>
                <a:gridCol w="4626864">
                  <a:extLst>
                    <a:ext uri="{9D8B030D-6E8A-4147-A177-3AD203B41FA5}">
                      <a16:colId xmlns:a16="http://schemas.microsoft.com/office/drawing/2014/main" val="20001"/>
                    </a:ext>
                  </a:extLst>
                </a:gridCol>
                <a:gridCol w="4636008">
                  <a:extLst>
                    <a:ext uri="{9D8B030D-6E8A-4147-A177-3AD203B41FA5}">
                      <a16:colId xmlns:a16="http://schemas.microsoft.com/office/drawing/2014/main" val="20002"/>
                    </a:ext>
                  </a:extLst>
                </a:gridCol>
              </a:tblGrid>
              <a:tr h="475488">
                <a:tc>
                  <a:txBody>
                    <a:bodyPr/>
                    <a:lstStyle/>
                    <a:p>
                      <a:pPr marL="0" indent="0">
                        <a:buNone/>
                      </a:pP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fr-FR" sz="1250" b="1" dirty="0">
                          <a:solidFill>
                            <a:srgbClr val="FFFFFF"/>
                          </a:solidFill>
                          <a:latin typeface="Calibri" pitchFamily="34" charset="0"/>
                          <a:ea typeface="Calibri" pitchFamily="34" charset="-122"/>
                          <a:cs typeface="Calibri" pitchFamily="34" charset="-120"/>
                        </a:rPr>
                        <a:t>DMSP-OLS  ·  historique</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E6964"/>
                    </a:solidFill>
                  </a:tcPr>
                </a:tc>
                <a:tc>
                  <a:txBody>
                    <a:bodyPr/>
                    <a:lstStyle/>
                    <a:p>
                      <a:pPr marL="0" indent="0" algn="ctr">
                        <a:buNone/>
                      </a:pPr>
                      <a:r>
                        <a:rPr lang="fr-FR" sz="1250" b="1" dirty="0">
                          <a:solidFill>
                            <a:srgbClr val="FFFFFF"/>
                          </a:solidFill>
                          <a:latin typeface="Calibri" pitchFamily="34" charset="0"/>
                          <a:ea typeface="Calibri" pitchFamily="34" charset="-122"/>
                          <a:cs typeface="Calibri" pitchFamily="34" charset="-120"/>
                        </a:rPr>
                        <a:t>Bande jour/nuit VIIRS  ·  moderne</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04A"/>
                    </a:solidFill>
                  </a:tcPr>
                </a:tc>
                <a:extLst>
                  <a:ext uri="{0D108BD9-81ED-4DB2-BD59-A6C34878D82A}">
                    <a16:rowId xmlns:a16="http://schemas.microsoft.com/office/drawing/2014/main" val="10000"/>
                  </a:ext>
                </a:extLst>
              </a:tr>
              <a:tr h="475488">
                <a:tc>
                  <a:txBody>
                    <a:bodyPr/>
                    <a:lstStyle/>
                    <a:p>
                      <a:pPr marL="0" indent="0">
                        <a:buNone/>
                      </a:pPr>
                      <a:r>
                        <a:rPr lang="fr-FR" sz="1250" b="1" dirty="0">
                          <a:solidFill>
                            <a:srgbClr val="00704A"/>
                          </a:solidFill>
                          <a:latin typeface="Calibri" pitchFamily="34" charset="0"/>
                          <a:ea typeface="Calibri" pitchFamily="34" charset="-122"/>
                          <a:cs typeface="Calibri" pitchFamily="34" charset="-120"/>
                        </a:rPr>
                        <a:t>Période</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1992 – 2013 (archive)</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2012 – aujourd’hui (standard)</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1"/>
                  </a:ext>
                </a:extLst>
              </a:tr>
              <a:tr h="475488">
                <a:tc>
                  <a:txBody>
                    <a:bodyPr/>
                    <a:lstStyle/>
                    <a:p>
                      <a:pPr marL="0" indent="0">
                        <a:buNone/>
                      </a:pPr>
                      <a:r>
                        <a:rPr lang="fr-FR" sz="1250" b="1" dirty="0">
                          <a:solidFill>
                            <a:srgbClr val="00704A"/>
                          </a:solidFill>
                          <a:latin typeface="Calibri" pitchFamily="34" charset="0"/>
                          <a:ea typeface="Calibri" pitchFamily="34" charset="-122"/>
                          <a:cs typeface="Calibri" pitchFamily="34" charset="-120"/>
                        </a:rPr>
                        <a:t>Radiométrie</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Comptes numériques 6 bits 0–63, sans étalonnage à bord</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14 bits, radiance étalonnée en nW·cm⁻²·sr⁻¹</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2"/>
                  </a:ext>
                </a:extLst>
              </a:tr>
              <a:tr h="475488">
                <a:tc>
                  <a:txBody>
                    <a:bodyPr/>
                    <a:lstStyle/>
                    <a:p>
                      <a:pPr marL="0" indent="0">
                        <a:buNone/>
                      </a:pPr>
                      <a:r>
                        <a:rPr lang="fr-FR" sz="1250" b="1" dirty="0">
                          <a:solidFill>
                            <a:srgbClr val="00704A"/>
                          </a:solidFill>
                          <a:latin typeface="Calibri" pitchFamily="34" charset="0"/>
                          <a:ea typeface="Calibri" pitchFamily="34" charset="-122"/>
                          <a:cs typeface="Calibri" pitchFamily="34" charset="-120"/>
                        </a:rPr>
                        <a:t>Résolution</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 2,7 km, grille à 30 secondes d’arc (≈ 1 km)</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 742 m natif, grille à 15 secondes d’arc (≈ 500 m)</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3"/>
                  </a:ext>
                </a:extLst>
              </a:tr>
              <a:tr h="475488">
                <a:tc>
                  <a:txBody>
                    <a:bodyPr/>
                    <a:lstStyle/>
                    <a:p>
                      <a:pPr marL="0" indent="0">
                        <a:buNone/>
                      </a:pPr>
                      <a:r>
                        <a:rPr lang="fr-FR" sz="1250" b="1" dirty="0">
                          <a:solidFill>
                            <a:srgbClr val="00704A"/>
                          </a:solidFill>
                          <a:latin typeface="Calibri" pitchFamily="34" charset="0"/>
                          <a:ea typeface="Calibri" pitchFamily="34" charset="-122"/>
                          <a:cs typeface="Calibri" pitchFamily="34" charset="-120"/>
                        </a:rPr>
                        <a:t>Saturation</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Centres-villes écrêtés à 63</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Large dynamique, trois niveaux de gain</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4"/>
                  </a:ext>
                </a:extLst>
              </a:tr>
              <a:tr h="475488">
                <a:tc>
                  <a:txBody>
                    <a:bodyPr/>
                    <a:lstStyle/>
                    <a:p>
                      <a:pPr marL="0" indent="0">
                        <a:buNone/>
                      </a:pPr>
                      <a:r>
                        <a:rPr lang="fr-FR" sz="1250" b="1" dirty="0">
                          <a:solidFill>
                            <a:srgbClr val="00704A"/>
                          </a:solidFill>
                          <a:latin typeface="Calibri" pitchFamily="34" charset="0"/>
                          <a:ea typeface="Calibri" pitchFamily="34" charset="-122"/>
                          <a:cs typeface="Calibri" pitchFamily="34" charset="-120"/>
                        </a:rPr>
                        <a:t>Sensibilité</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Manque l’éclairage rural faible</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Détecte une lumière bien plus faible que DMSP</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5"/>
                  </a:ext>
                </a:extLst>
              </a:tr>
              <a:tr h="475488">
                <a:tc>
                  <a:txBody>
                    <a:bodyPr/>
                    <a:lstStyle/>
                    <a:p>
                      <a:pPr marL="0" indent="0">
                        <a:buNone/>
                      </a:pPr>
                      <a:r>
                        <a:rPr lang="fr-FR" sz="1250" b="1" dirty="0">
                          <a:solidFill>
                            <a:srgbClr val="00704A"/>
                          </a:solidFill>
                          <a:latin typeface="Calibri" pitchFamily="34" charset="0"/>
                          <a:ea typeface="Calibri" pitchFamily="34" charset="-122"/>
                          <a:cs typeface="Calibri" pitchFamily="34" charset="-120"/>
                        </a:rPr>
                        <a:t>Produits</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Composites annuels uniquement</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250" dirty="0">
                          <a:solidFill>
                            <a:srgbClr val="231F20"/>
                          </a:solidFill>
                          <a:latin typeface="Calibri" pitchFamily="34" charset="0"/>
                          <a:ea typeface="Calibri" pitchFamily="34" charset="-122"/>
                          <a:cs typeface="Calibri" pitchFamily="34" charset="-120"/>
                        </a:rPr>
                        <a:t>Quotidiens, mensuels et annuels — licence ouverte</a:t>
                      </a:r>
                      <a:endParaRPr lang="fr-FR"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6"/>
                  </a:ext>
                </a:extLst>
              </a:tr>
            </a:tbl>
          </a:graphicData>
        </a:graphic>
      </p:graphicFrame>
      <p:sp>
        <p:nvSpPr>
          <p:cNvPr id="13" name="Shape 9"/>
          <p:cNvSpPr/>
          <p:nvPr/>
        </p:nvSpPr>
        <p:spPr>
          <a:xfrm>
            <a:off x="548640" y="4937760"/>
            <a:ext cx="11094415" cy="868680"/>
          </a:xfrm>
          <a:prstGeom prst="roundRect">
            <a:avLst>
              <a:gd name="adj" fmla="val 8421"/>
            </a:avLst>
          </a:prstGeom>
          <a:solidFill>
            <a:srgbClr val="FDF5DC"/>
          </a:solidFill>
          <a:ln w="9525">
            <a:solidFill>
              <a:srgbClr val="F5C242"/>
            </a:solidFill>
            <a:prstDash val="solid"/>
          </a:ln>
        </p:spPr>
      </p:sp>
      <p:pic>
        <p:nvPicPr>
          <p:cNvPr id="14" name="Image 1" descr="preencoded.png"/>
          <p:cNvPicPr>
            <a:picLocks noChangeAspect="1"/>
          </p:cNvPicPr>
          <p:nvPr/>
        </p:nvPicPr>
        <p:blipFill>
          <a:blip r:embed="rId4"/>
          <a:stretch>
            <a:fillRect/>
          </a:stretch>
        </p:blipFill>
        <p:spPr>
          <a:xfrm>
            <a:off x="777240" y="5166360"/>
            <a:ext cx="384048" cy="384048"/>
          </a:xfrm>
          <a:prstGeom prst="rect">
            <a:avLst/>
          </a:prstGeom>
        </p:spPr>
      </p:pic>
      <p:sp>
        <p:nvSpPr>
          <p:cNvPr id="12" name="Text 10"/>
          <p:cNvSpPr txBox="1"/>
          <p:nvPr/>
        </p:nvSpPr>
        <p:spPr>
          <a:xfrm>
            <a:off x="1371600" y="4937760"/>
            <a:ext cx="10088575" cy="868680"/>
          </a:xfrm>
          <a:prstGeom prst="rect">
            <a:avLst/>
          </a:prstGeom>
          <a:noFill/>
          <a:ln/>
        </p:spPr>
        <p:txBody>
          <a:bodyPr wrap="square" lIns="0" tIns="0" rIns="0" bIns="0" rtlCol="0" anchor="ctr"/>
          <a:lstStyle/>
          <a:p>
            <a:pPr marL="0" indent="0">
              <a:buNone/>
            </a:pPr>
            <a:r>
              <a:rPr lang="fr-FR" sz="1200" b="1" dirty="0">
                <a:solidFill>
                  <a:srgbClr val="A87700"/>
                </a:solidFill>
                <a:latin typeface="Calibri" pitchFamily="34" charset="0"/>
                <a:ea typeface="Calibri" pitchFamily="34" charset="-122"/>
                <a:cs typeface="Calibri" pitchFamily="34" charset="-120"/>
              </a:rPr>
              <a:t>Nouvelle génération :  </a:t>
            </a:r>
            <a:r>
              <a:rPr lang="fr-FR" sz="1200" dirty="0">
                <a:solidFill>
                  <a:srgbClr val="231F20"/>
                </a:solidFill>
                <a:latin typeface="Calibri" pitchFamily="34" charset="0"/>
                <a:ea typeface="Calibri" pitchFamily="34" charset="-122"/>
                <a:cs typeface="Calibri" pitchFamily="34" charset="-120"/>
              </a:rPr>
              <a:t>Luojia-1-01 (≈ 130 m), SDGSAT-1 Glimmer (10 m panchromatique, 40 m couleur) et les constellations commerciales distinguent les rues et les types de lampes par la couleur — la dimension qui manque aux deux capteurs historiques.</a:t>
            </a:r>
            <a:endParaRPr lang="fr-FR"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02 · LES INSTRUMENTS · IMAGERIE RÉELLE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Même nuit, deux capteurs : delta du Mékong, 23 novembre 2014</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IMAGERIE RÉELLE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14</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Source : Elvidge et al. (2013), reproduit dans les tutoriels Open Nighttime Lights de la Banque mondiale (CC BY 4.0).</a:t>
            </a:r>
            <a:endParaRPr lang="fr-FR" sz="850" dirty="0"/>
          </a:p>
        </p:txBody>
      </p:sp>
      <p:sp>
        <p:nvSpPr>
          <p:cNvPr id="13" name="Shape 10"/>
          <p:cNvSpPr/>
          <p:nvPr/>
        </p:nvSpPr>
        <p:spPr>
          <a:xfrm>
            <a:off x="548640" y="1362456"/>
            <a:ext cx="7744968" cy="4177517"/>
          </a:xfrm>
          <a:prstGeom prst="roundRect">
            <a:avLst>
              <a:gd name="adj" fmla="val 1751"/>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4" name="Image 1" descr="/home/claude/build/img/real/mekong.png"/>
          <p:cNvPicPr>
            <a:picLocks noChangeAspect="1"/>
          </p:cNvPicPr>
          <p:nvPr/>
        </p:nvPicPr>
        <p:blipFill>
          <a:blip r:embed="rId4"/>
          <a:stretch>
            <a:fillRect/>
          </a:stretch>
        </p:blipFill>
        <p:spPr>
          <a:xfrm>
            <a:off x="603504" y="1417320"/>
            <a:ext cx="7635240" cy="4067789"/>
          </a:xfrm>
          <a:prstGeom prst="rect">
            <a:avLst/>
          </a:prstGeom>
        </p:spPr>
      </p:pic>
      <p:sp>
        <p:nvSpPr>
          <p:cNvPr id="15" name="Shape 11"/>
          <p:cNvSpPr/>
          <p:nvPr/>
        </p:nvSpPr>
        <p:spPr>
          <a:xfrm>
            <a:off x="8503920" y="1371600"/>
            <a:ext cx="3136392" cy="1243584"/>
          </a:xfrm>
          <a:prstGeom prst="roundRect">
            <a:avLst>
              <a:gd name="adj" fmla="val 5882"/>
            </a:avLst>
          </a:prstGeom>
          <a:solidFill>
            <a:srgbClr val="F4F7F5"/>
          </a:solidFill>
          <a:ln w="9525">
            <a:solidFill>
              <a:srgbClr val="D5DED9"/>
            </a:solidFill>
            <a:prstDash val="solid"/>
          </a:ln>
        </p:spPr>
      </p:sp>
      <p:sp>
        <p:nvSpPr>
          <p:cNvPr id="16" name="Shape 12"/>
          <p:cNvSpPr/>
          <p:nvPr/>
        </p:nvSpPr>
        <p:spPr>
          <a:xfrm>
            <a:off x="8641080" y="1508760"/>
            <a:ext cx="457200" cy="457200"/>
          </a:xfrm>
          <a:prstGeom prst="ellipse">
            <a:avLst/>
          </a:prstGeom>
          <a:solidFill>
            <a:srgbClr val="00704A"/>
          </a:solidFill>
          <a:ln w="12700">
            <a:solidFill>
              <a:srgbClr val="00704A"/>
            </a:solidFill>
            <a:prstDash val="solid"/>
          </a:ln>
        </p:spPr>
      </p:sp>
      <p:pic>
        <p:nvPicPr>
          <p:cNvPr id="17" name="Image 2" descr="preencoded.png"/>
          <p:cNvPicPr>
            <a:picLocks noChangeAspect="1"/>
          </p:cNvPicPr>
          <p:nvPr/>
        </p:nvPicPr>
        <p:blipFill>
          <a:blip r:embed="rId5"/>
          <a:stretch>
            <a:fillRect/>
          </a:stretch>
        </p:blipFill>
        <p:spPr>
          <a:xfrm>
            <a:off x="8759952" y="1627632"/>
            <a:ext cx="219456" cy="219456"/>
          </a:xfrm>
          <a:prstGeom prst="rect">
            <a:avLst/>
          </a:prstGeom>
        </p:spPr>
      </p:pic>
      <p:sp>
        <p:nvSpPr>
          <p:cNvPr id="18" name="Text 13"/>
          <p:cNvSpPr txBox="1"/>
          <p:nvPr/>
        </p:nvSpPr>
        <p:spPr>
          <a:xfrm>
            <a:off x="9235440" y="1463040"/>
            <a:ext cx="226771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Détail plus fin</a:t>
            </a:r>
            <a:endParaRPr lang="fr-FR" sz="1250" dirty="0"/>
          </a:p>
        </p:txBody>
      </p:sp>
      <p:sp>
        <p:nvSpPr>
          <p:cNvPr id="19" name="Text 14"/>
          <p:cNvSpPr txBox="1"/>
          <p:nvPr/>
        </p:nvSpPr>
        <p:spPr>
          <a:xfrm>
            <a:off x="9235440" y="1764792"/>
            <a:ext cx="2267712" cy="786384"/>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VIIRS (gauche) distingue villes, canaux et routes ; DMSP (droite) les fond en taches.</a:t>
            </a:r>
            <a:endParaRPr lang="fr-FR" sz="1100" dirty="0"/>
          </a:p>
        </p:txBody>
      </p:sp>
      <p:sp>
        <p:nvSpPr>
          <p:cNvPr id="20" name="Shape 15"/>
          <p:cNvSpPr/>
          <p:nvPr/>
        </p:nvSpPr>
        <p:spPr>
          <a:xfrm>
            <a:off x="8503920" y="2743200"/>
            <a:ext cx="3136392" cy="1243584"/>
          </a:xfrm>
          <a:prstGeom prst="roundRect">
            <a:avLst>
              <a:gd name="adj" fmla="val 5882"/>
            </a:avLst>
          </a:prstGeom>
          <a:solidFill>
            <a:srgbClr val="F4F7F5"/>
          </a:solidFill>
          <a:ln w="9525">
            <a:solidFill>
              <a:srgbClr val="D5DED9"/>
            </a:solidFill>
            <a:prstDash val="solid"/>
          </a:ln>
        </p:spPr>
      </p:sp>
      <p:sp>
        <p:nvSpPr>
          <p:cNvPr id="21" name="Shape 16"/>
          <p:cNvSpPr/>
          <p:nvPr/>
        </p:nvSpPr>
        <p:spPr>
          <a:xfrm>
            <a:off x="8641080" y="2880360"/>
            <a:ext cx="457200" cy="457200"/>
          </a:xfrm>
          <a:prstGeom prst="ellipse">
            <a:avLst/>
          </a:prstGeom>
          <a:solidFill>
            <a:srgbClr val="00704A"/>
          </a:solidFill>
          <a:ln w="12700">
            <a:solidFill>
              <a:srgbClr val="00704A"/>
            </a:solidFill>
            <a:prstDash val="solid"/>
          </a:ln>
        </p:spPr>
      </p:sp>
      <p:pic>
        <p:nvPicPr>
          <p:cNvPr id="22" name="Image 3" descr="preencoded.png"/>
          <p:cNvPicPr>
            <a:picLocks noChangeAspect="1"/>
          </p:cNvPicPr>
          <p:nvPr/>
        </p:nvPicPr>
        <p:blipFill>
          <a:blip r:embed="rId6"/>
          <a:stretch>
            <a:fillRect/>
          </a:stretch>
        </p:blipFill>
        <p:spPr>
          <a:xfrm>
            <a:off x="8759952" y="2999232"/>
            <a:ext cx="219456" cy="219456"/>
          </a:xfrm>
          <a:prstGeom prst="rect">
            <a:avLst/>
          </a:prstGeom>
        </p:spPr>
      </p:pic>
      <p:sp>
        <p:nvSpPr>
          <p:cNvPr id="23" name="Text 17"/>
          <p:cNvSpPr txBox="1"/>
          <p:nvPr/>
        </p:nvSpPr>
        <p:spPr>
          <a:xfrm>
            <a:off x="9235440" y="2834640"/>
            <a:ext cx="226771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Sensibilité accrue</a:t>
            </a:r>
            <a:endParaRPr lang="fr-FR" sz="1250" dirty="0"/>
          </a:p>
        </p:txBody>
      </p:sp>
      <p:sp>
        <p:nvSpPr>
          <p:cNvPr id="24" name="Text 18"/>
          <p:cNvSpPr txBox="1"/>
          <p:nvPr/>
        </p:nvSpPr>
        <p:spPr>
          <a:xfrm>
            <a:off x="9235440" y="3136392"/>
            <a:ext cx="2267712" cy="786384"/>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Les faibles lumières rurales le long des cours d’eau n’apparaissent que dans VIIRS — celles qui comptent le plus en Afrique rurale.</a:t>
            </a:r>
            <a:endParaRPr lang="fr-FR" sz="1100" dirty="0"/>
          </a:p>
        </p:txBody>
      </p:sp>
      <p:sp>
        <p:nvSpPr>
          <p:cNvPr id="25" name="Shape 19"/>
          <p:cNvSpPr/>
          <p:nvPr/>
        </p:nvSpPr>
        <p:spPr>
          <a:xfrm>
            <a:off x="8503920" y="4114800"/>
            <a:ext cx="3136392" cy="1243584"/>
          </a:xfrm>
          <a:prstGeom prst="roundRect">
            <a:avLst>
              <a:gd name="adj" fmla="val 5882"/>
            </a:avLst>
          </a:prstGeom>
          <a:solidFill>
            <a:srgbClr val="F4F7F5"/>
          </a:solidFill>
          <a:ln w="9525">
            <a:solidFill>
              <a:srgbClr val="D5DED9"/>
            </a:solidFill>
            <a:prstDash val="solid"/>
          </a:ln>
        </p:spPr>
      </p:sp>
      <p:sp>
        <p:nvSpPr>
          <p:cNvPr id="26" name="Shape 20"/>
          <p:cNvSpPr/>
          <p:nvPr/>
        </p:nvSpPr>
        <p:spPr>
          <a:xfrm>
            <a:off x="8641080" y="4251960"/>
            <a:ext cx="457200" cy="457200"/>
          </a:xfrm>
          <a:prstGeom prst="ellipse">
            <a:avLst/>
          </a:prstGeom>
          <a:solidFill>
            <a:srgbClr val="00704A"/>
          </a:solidFill>
          <a:ln w="12700">
            <a:solidFill>
              <a:srgbClr val="00704A"/>
            </a:solidFill>
            <a:prstDash val="solid"/>
          </a:ln>
        </p:spPr>
      </p:sp>
      <p:pic>
        <p:nvPicPr>
          <p:cNvPr id="27" name="Image 4" descr="preencoded.png"/>
          <p:cNvPicPr>
            <a:picLocks noChangeAspect="1"/>
          </p:cNvPicPr>
          <p:nvPr/>
        </p:nvPicPr>
        <p:blipFill>
          <a:blip r:embed="rId7"/>
          <a:stretch>
            <a:fillRect/>
          </a:stretch>
        </p:blipFill>
        <p:spPr>
          <a:xfrm>
            <a:off x="8759952" y="4370832"/>
            <a:ext cx="219456" cy="219456"/>
          </a:xfrm>
          <a:prstGeom prst="rect">
            <a:avLst/>
          </a:prstGeom>
        </p:spPr>
      </p:pic>
      <p:sp>
        <p:nvSpPr>
          <p:cNvPr id="28" name="Text 21"/>
          <p:cNvSpPr txBox="1"/>
          <p:nvPr/>
        </p:nvSpPr>
        <p:spPr>
          <a:xfrm>
            <a:off x="9235440" y="4206240"/>
            <a:ext cx="226771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Moins de débordement</a:t>
            </a:r>
            <a:endParaRPr lang="fr-FR" sz="1250" dirty="0"/>
          </a:p>
        </p:txBody>
      </p:sp>
      <p:sp>
        <p:nvSpPr>
          <p:cNvPr id="29" name="Text 22"/>
          <p:cNvSpPr txBox="1"/>
          <p:nvPr/>
        </p:nvSpPr>
        <p:spPr>
          <a:xfrm>
            <a:off x="9235440" y="4507992"/>
            <a:ext cx="2267712" cy="786384"/>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La large empreinte de DMSP étale la lumière au-delà de sa source et surestime la surface éclairée.</a:t>
            </a:r>
            <a:endParaRPr lang="fr-FR" sz="1100" dirty="0"/>
          </a:p>
        </p:txBody>
      </p:sp>
      <p:sp>
        <p:nvSpPr>
          <p:cNvPr id="30" name="Shape 23"/>
          <p:cNvSpPr/>
          <p:nvPr/>
        </p:nvSpPr>
        <p:spPr>
          <a:xfrm>
            <a:off x="548640" y="5577840"/>
            <a:ext cx="7744968" cy="457200"/>
          </a:xfrm>
          <a:prstGeom prst="roundRect">
            <a:avLst>
              <a:gd name="adj" fmla="val 16000"/>
            </a:avLst>
          </a:prstGeom>
          <a:solidFill>
            <a:srgbClr val="E8F5EF"/>
          </a:solidFill>
          <a:ln w="9525">
            <a:solidFill>
              <a:srgbClr val="E8F5EF"/>
            </a:solidFill>
            <a:prstDash val="solid"/>
          </a:ln>
        </p:spPr>
      </p:sp>
      <p:sp>
        <p:nvSpPr>
          <p:cNvPr id="31" name="Text 24"/>
          <p:cNvSpPr txBox="1"/>
          <p:nvPr/>
        </p:nvSpPr>
        <p:spPr>
          <a:xfrm>
            <a:off x="731520" y="5577840"/>
            <a:ext cx="7406640" cy="457200"/>
          </a:xfrm>
          <a:prstGeom prst="rect">
            <a:avLst/>
          </a:prstGeom>
          <a:noFill/>
          <a:ln/>
        </p:spPr>
        <p:txBody>
          <a:bodyPr wrap="square" lIns="0" tIns="0" rIns="0" bIns="0" rtlCol="0" anchor="ctr"/>
          <a:lstStyle/>
          <a:p>
            <a:pPr marL="0" indent="0">
              <a:buNone/>
            </a:pPr>
            <a:r>
              <a:rPr lang="fr-FR" sz="1150" b="1" dirty="0">
                <a:solidFill>
                  <a:srgbClr val="00704A"/>
                </a:solidFill>
                <a:latin typeface="Calibri" pitchFamily="34" charset="0"/>
                <a:ea typeface="Calibri" pitchFamily="34" charset="-122"/>
                <a:cs typeface="Calibri" pitchFamily="34" charset="-120"/>
              </a:rPr>
              <a:t>À retenir : </a:t>
            </a:r>
            <a:r>
              <a:rPr lang="fr-FR" sz="1150" dirty="0">
                <a:solidFill>
                  <a:srgbClr val="231F20"/>
                </a:solidFill>
                <a:latin typeface="Calibri" pitchFamily="34" charset="0"/>
                <a:ea typeface="Calibri" pitchFamily="34" charset="-122"/>
                <a:cs typeface="Calibri" pitchFamily="34" charset="-120"/>
              </a:rPr>
              <a:t>après 2012, utilisez VIIRS ; DMSP sert à l’historique uniquement, et seulement après harmonisation.</a:t>
            </a:r>
            <a:endParaRPr lang="fr-FR"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02 · LES INSTRUMENTS · DYNAMIQUE DE MESURE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Pourquoi les lieux les plus lumineux en disent le moins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15</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Illustration schématique — pas de données ajustées. Plage VIIRS d’après Elvidge et al. (2017).</a:t>
            </a:r>
            <a:endParaRPr lang="fr-FR" sz="850" dirty="0"/>
          </a:p>
        </p:txBody>
      </p:sp>
      <p:sp>
        <p:nvSpPr>
          <p:cNvPr id="13" name="Shape 10"/>
          <p:cNvSpPr/>
          <p:nvPr/>
        </p:nvSpPr>
        <p:spPr>
          <a:xfrm>
            <a:off x="548640" y="1417320"/>
            <a:ext cx="502920" cy="502920"/>
          </a:xfrm>
          <a:prstGeom prst="ellipse">
            <a:avLst/>
          </a:prstGeom>
          <a:solidFill>
            <a:srgbClr val="E8F5EF"/>
          </a:solidFill>
          <a:ln w="12700">
            <a:solidFill>
              <a:srgbClr val="E8F5EF"/>
            </a:solidFill>
            <a:prstDash val="solid"/>
          </a:ln>
        </p:spPr>
      </p:sp>
      <p:pic>
        <p:nvPicPr>
          <p:cNvPr id="14" name="Image 1" descr="preencoded.png"/>
          <p:cNvPicPr>
            <a:picLocks noChangeAspect="1"/>
          </p:cNvPicPr>
          <p:nvPr/>
        </p:nvPicPr>
        <p:blipFill>
          <a:blip r:embed="rId4"/>
          <a:stretch>
            <a:fillRect/>
          </a:stretch>
        </p:blipFill>
        <p:spPr>
          <a:xfrm>
            <a:off x="679399" y="1548079"/>
            <a:ext cx="241402" cy="241402"/>
          </a:xfrm>
          <a:prstGeom prst="rect">
            <a:avLst/>
          </a:prstGeom>
        </p:spPr>
      </p:pic>
      <p:sp>
        <p:nvSpPr>
          <p:cNvPr id="15" name="Text 11"/>
          <p:cNvSpPr txBox="1"/>
          <p:nvPr/>
        </p:nvSpPr>
        <p:spPr>
          <a:xfrm>
            <a:off x="1234440" y="1371600"/>
            <a:ext cx="4206240" cy="685800"/>
          </a:xfrm>
          <a:prstGeom prst="rect">
            <a:avLst/>
          </a:prstGeom>
          <a:noFill/>
          <a:ln/>
        </p:spPr>
        <p:txBody>
          <a:bodyPr wrap="square" lIns="0" tIns="0" rIns="0" bIns="0" rtlCol="0" anchor="ctr"/>
          <a:lstStyle/>
          <a:p>
            <a:pPr marL="0" indent="0">
              <a:buNone/>
            </a:pPr>
            <a:r>
              <a:rPr lang="fr-FR" sz="1250" dirty="0">
                <a:solidFill>
                  <a:srgbClr val="231F20"/>
                </a:solidFill>
                <a:latin typeface="Calibri" pitchFamily="34" charset="0"/>
                <a:ea typeface="Calibri" pitchFamily="34" charset="-122"/>
                <a:cs typeface="Calibri" pitchFamily="34" charset="-120"/>
              </a:rPr>
              <a:t>DMSP renvoie 63 au-delà d’une certaine luminosité — banlieue et centre-ville paraissent identiques.</a:t>
            </a:r>
            <a:endParaRPr lang="fr-FR" sz="1250" dirty="0"/>
          </a:p>
        </p:txBody>
      </p:sp>
      <p:sp>
        <p:nvSpPr>
          <p:cNvPr id="16" name="Shape 12"/>
          <p:cNvSpPr/>
          <p:nvPr/>
        </p:nvSpPr>
        <p:spPr>
          <a:xfrm>
            <a:off x="548640" y="2286000"/>
            <a:ext cx="502920" cy="502920"/>
          </a:xfrm>
          <a:prstGeom prst="ellipse">
            <a:avLst/>
          </a:prstGeom>
          <a:solidFill>
            <a:srgbClr val="E8F5EF"/>
          </a:solidFill>
          <a:ln w="12700">
            <a:solidFill>
              <a:srgbClr val="E8F5EF"/>
            </a:solidFill>
            <a:prstDash val="solid"/>
          </a:ln>
        </p:spPr>
      </p:sp>
      <p:pic>
        <p:nvPicPr>
          <p:cNvPr id="17" name="Image 2" descr="preencoded.png"/>
          <p:cNvPicPr>
            <a:picLocks noChangeAspect="1"/>
          </p:cNvPicPr>
          <p:nvPr/>
        </p:nvPicPr>
        <p:blipFill>
          <a:blip r:embed="rId5"/>
          <a:stretch>
            <a:fillRect/>
          </a:stretch>
        </p:blipFill>
        <p:spPr>
          <a:xfrm>
            <a:off x="679399" y="2416759"/>
            <a:ext cx="241402" cy="241402"/>
          </a:xfrm>
          <a:prstGeom prst="rect">
            <a:avLst/>
          </a:prstGeom>
        </p:spPr>
      </p:pic>
      <p:sp>
        <p:nvSpPr>
          <p:cNvPr id="18" name="Text 13"/>
          <p:cNvSpPr txBox="1"/>
          <p:nvPr/>
        </p:nvSpPr>
        <p:spPr>
          <a:xfrm>
            <a:off x="1234440" y="2240280"/>
            <a:ext cx="4206240" cy="685800"/>
          </a:xfrm>
          <a:prstGeom prst="rect">
            <a:avLst/>
          </a:prstGeom>
          <a:noFill/>
          <a:ln/>
        </p:spPr>
        <p:txBody>
          <a:bodyPr wrap="square" lIns="0" tIns="0" rIns="0" bIns="0" rtlCol="0" anchor="ctr"/>
          <a:lstStyle/>
          <a:p>
            <a:pPr marL="0" indent="0">
              <a:buNone/>
            </a:pPr>
            <a:r>
              <a:rPr lang="fr-FR" sz="1250" dirty="0">
                <a:solidFill>
                  <a:srgbClr val="231F20"/>
                </a:solidFill>
                <a:latin typeface="Calibri" pitchFamily="34" charset="0"/>
                <a:ea typeface="Calibri" pitchFamily="34" charset="-122"/>
                <a:cs typeface="Calibri" pitchFamily="34" charset="-120"/>
              </a:rPr>
              <a:t>VIIRS couvre environ sept ordres de grandeur, avec trois niveaux de gain commutables.</a:t>
            </a:r>
            <a:endParaRPr lang="fr-FR" sz="1250" dirty="0"/>
          </a:p>
        </p:txBody>
      </p:sp>
      <p:sp>
        <p:nvSpPr>
          <p:cNvPr id="19" name="Shape 14"/>
          <p:cNvSpPr/>
          <p:nvPr/>
        </p:nvSpPr>
        <p:spPr>
          <a:xfrm>
            <a:off x="548640" y="3154680"/>
            <a:ext cx="502920" cy="502920"/>
          </a:xfrm>
          <a:prstGeom prst="ellipse">
            <a:avLst/>
          </a:prstGeom>
          <a:solidFill>
            <a:srgbClr val="E8F5EF"/>
          </a:solidFill>
          <a:ln w="12700">
            <a:solidFill>
              <a:srgbClr val="E8F5EF"/>
            </a:solidFill>
            <a:prstDash val="solid"/>
          </a:ln>
        </p:spPr>
      </p:sp>
      <p:pic>
        <p:nvPicPr>
          <p:cNvPr id="20" name="Image 3" descr="preencoded.png"/>
          <p:cNvPicPr>
            <a:picLocks noChangeAspect="1"/>
          </p:cNvPicPr>
          <p:nvPr/>
        </p:nvPicPr>
        <p:blipFill>
          <a:blip r:embed="rId6"/>
          <a:stretch>
            <a:fillRect/>
          </a:stretch>
        </p:blipFill>
        <p:spPr>
          <a:xfrm>
            <a:off x="679399" y="3285439"/>
            <a:ext cx="241402" cy="241402"/>
          </a:xfrm>
          <a:prstGeom prst="rect">
            <a:avLst/>
          </a:prstGeom>
        </p:spPr>
      </p:pic>
      <p:sp>
        <p:nvSpPr>
          <p:cNvPr id="21" name="Text 15"/>
          <p:cNvSpPr txBox="1"/>
          <p:nvPr/>
        </p:nvSpPr>
        <p:spPr>
          <a:xfrm>
            <a:off x="1234440" y="3108960"/>
            <a:ext cx="4206240" cy="685800"/>
          </a:xfrm>
          <a:prstGeom prst="rect">
            <a:avLst/>
          </a:prstGeom>
          <a:noFill/>
          <a:ln/>
        </p:spPr>
        <p:txBody>
          <a:bodyPr wrap="square" lIns="0" tIns="0" rIns="0" bIns="0" rtlCol="0" anchor="ctr"/>
          <a:lstStyle/>
          <a:p>
            <a:pPr marL="0" indent="0">
              <a:buNone/>
            </a:pPr>
            <a:r>
              <a:rPr lang="fr-FR" sz="1250" dirty="0">
                <a:solidFill>
                  <a:srgbClr val="231F20"/>
                </a:solidFill>
                <a:latin typeface="Calibri" pitchFamily="34" charset="0"/>
                <a:ea typeface="Calibri" pitchFamily="34" charset="-122"/>
                <a:cs typeface="Calibri" pitchFamily="34" charset="-120"/>
              </a:rPr>
              <a:t>Son faible plancher de bruit rend visible un seul bateau de pêche éclairé sur un lac ou un océan sombre.</a:t>
            </a:r>
            <a:endParaRPr lang="fr-FR" sz="1250" dirty="0"/>
          </a:p>
        </p:txBody>
      </p:sp>
      <p:sp>
        <p:nvSpPr>
          <p:cNvPr id="22" name="Shape 16"/>
          <p:cNvSpPr/>
          <p:nvPr/>
        </p:nvSpPr>
        <p:spPr>
          <a:xfrm>
            <a:off x="548640" y="4160520"/>
            <a:ext cx="4892040" cy="1600200"/>
          </a:xfrm>
          <a:prstGeom prst="roundRect">
            <a:avLst>
              <a:gd name="adj" fmla="val 4571"/>
            </a:avLst>
          </a:prstGeom>
          <a:solidFill>
            <a:srgbClr val="FDF5DC"/>
          </a:solidFill>
          <a:ln w="9525">
            <a:solidFill>
              <a:srgbClr val="F5C242"/>
            </a:solidFill>
            <a:prstDash val="solid"/>
          </a:ln>
        </p:spPr>
      </p:sp>
      <p:sp>
        <p:nvSpPr>
          <p:cNvPr id="23" name="Text 17"/>
          <p:cNvSpPr txBox="1"/>
          <p:nvPr/>
        </p:nvSpPr>
        <p:spPr>
          <a:xfrm>
            <a:off x="777240" y="4251960"/>
            <a:ext cx="4434840" cy="1417320"/>
          </a:xfrm>
          <a:prstGeom prst="rect">
            <a:avLst/>
          </a:prstGeom>
          <a:noFill/>
          <a:ln/>
        </p:spPr>
        <p:txBody>
          <a:bodyPr wrap="square" lIns="0" tIns="0" rIns="0" bIns="0" rtlCol="0" anchor="t"/>
          <a:lstStyle/>
          <a:p>
            <a:pPr marL="0" indent="0">
              <a:buNone/>
            </a:pPr>
            <a:r>
              <a:rPr lang="fr-FR" sz="1250" b="1" dirty="0">
                <a:solidFill>
                  <a:srgbClr val="A87700"/>
                </a:solidFill>
                <a:latin typeface="Calibri" pitchFamily="34" charset="0"/>
                <a:ea typeface="Calibri" pitchFamily="34" charset="-122"/>
                <a:cs typeface="Calibri" pitchFamily="34" charset="-120"/>
              </a:rPr>
              <a:t>À lire avant toute régression</a:t>
            </a:r>
            <a:endParaRPr lang="fr-FR" sz="1250" dirty="0"/>
          </a:p>
          <a:p>
            <a:pPr marL="0" indent="0">
              <a:buNone/>
            </a:pPr>
            <a:r>
              <a:rPr lang="fr-FR" sz="1250" dirty="0">
                <a:solidFill>
                  <a:srgbClr val="231F20"/>
                </a:solidFill>
                <a:latin typeface="Calibri" pitchFamily="34" charset="0"/>
                <a:ea typeface="Calibri" pitchFamily="34" charset="-122"/>
                <a:cs typeface="Calibri" pitchFamily="34" charset="-120"/>
              </a:rPr>
              <a:t>La saturation est un plafond, pas un bruit que l’on peut moyenner. L’information n’a jamais été enregistrée — la corriger, c’est modéliser ce que le capteur n’a pas vu.</a:t>
            </a:r>
            <a:endParaRPr lang="fr-FR" sz="1250" dirty="0"/>
          </a:p>
        </p:txBody>
      </p:sp>
      <p:graphicFrame>
        <p:nvGraphicFramePr>
          <p:cNvPr id="24" name="Chart 0"/>
          <p:cNvGraphicFramePr/>
          <p:nvPr/>
        </p:nvGraphicFramePr>
        <p:xfrm>
          <a:off x="5760720" y="1325880"/>
          <a:ext cx="5897880" cy="4480560"/>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02 · LES INSTRUMENTS · IMAGERIE RÉELLE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La saturation sur données réelles : la même ville, 2013 et 2016</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IMAGERIE RÉELLE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16</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Région de Chicago. Lumières stables DMSP-OLS F18 2013 et composite VIIRS-DNB 2016. Source : tutoriels Open Nighttime Lights de la Banque mondiale (CC BY 4.0).</a:t>
            </a:r>
            <a:endParaRPr lang="fr-FR" sz="850" dirty="0"/>
          </a:p>
        </p:txBody>
      </p:sp>
      <p:sp>
        <p:nvSpPr>
          <p:cNvPr id="13" name="Text 10"/>
          <p:cNvSpPr txBox="1"/>
          <p:nvPr/>
        </p:nvSpPr>
        <p:spPr>
          <a:xfrm>
            <a:off x="548640" y="1325880"/>
            <a:ext cx="3840480" cy="274320"/>
          </a:xfrm>
          <a:prstGeom prst="rect">
            <a:avLst/>
          </a:prstGeom>
          <a:noFill/>
          <a:ln/>
        </p:spPr>
        <p:txBody>
          <a:bodyPr wrap="square" lIns="0" tIns="0" rIns="0" bIns="0" rtlCol="0" anchor="t"/>
          <a:lstStyle/>
          <a:p>
            <a:pPr marL="0" indent="0">
              <a:buNone/>
            </a:pPr>
            <a:r>
              <a:rPr lang="fr-FR" sz="1100" b="1" dirty="0">
                <a:solidFill>
                  <a:srgbClr val="B83B2E"/>
                </a:solidFill>
                <a:latin typeface="Calibri" pitchFamily="34" charset="0"/>
                <a:ea typeface="Calibri" pitchFamily="34" charset="-122"/>
                <a:cs typeface="Calibri" pitchFamily="34" charset="-120"/>
              </a:rPr>
              <a:t>DMSP-OLS · 2013 · pixels saturés en rouge</a:t>
            </a:r>
            <a:endParaRPr lang="fr-FR" sz="1100" dirty="0"/>
          </a:p>
        </p:txBody>
      </p:sp>
      <p:sp>
        <p:nvSpPr>
          <p:cNvPr id="14" name="Shape 11"/>
          <p:cNvSpPr/>
          <p:nvPr/>
        </p:nvSpPr>
        <p:spPr>
          <a:xfrm>
            <a:off x="548640" y="1636776"/>
            <a:ext cx="3521537" cy="4133088"/>
          </a:xfrm>
          <a:prstGeom prst="roundRect">
            <a:avLst>
              <a:gd name="adj" fmla="val 2077"/>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5" name="Image 1" descr="/home/claude/build/img/real/dmsp_sat.png"/>
          <p:cNvPicPr>
            <a:picLocks noChangeAspect="1"/>
          </p:cNvPicPr>
          <p:nvPr/>
        </p:nvPicPr>
        <p:blipFill>
          <a:blip r:embed="rId4"/>
          <a:stretch>
            <a:fillRect/>
          </a:stretch>
        </p:blipFill>
        <p:spPr>
          <a:xfrm>
            <a:off x="603504" y="1691640"/>
            <a:ext cx="3411809" cy="4023360"/>
          </a:xfrm>
          <a:prstGeom prst="rect">
            <a:avLst/>
          </a:prstGeom>
        </p:spPr>
      </p:pic>
      <p:sp>
        <p:nvSpPr>
          <p:cNvPr id="16" name="Text 12"/>
          <p:cNvSpPr txBox="1"/>
          <p:nvPr/>
        </p:nvSpPr>
        <p:spPr>
          <a:xfrm>
            <a:off x="4434840" y="1325880"/>
            <a:ext cx="4114800" cy="274320"/>
          </a:xfrm>
          <a:prstGeom prst="rect">
            <a:avLst/>
          </a:prstGeom>
          <a:noFill/>
          <a:ln/>
        </p:spPr>
        <p:txBody>
          <a:bodyPr wrap="square" lIns="0" tIns="0" rIns="0" bIns="0" rtlCol="0" anchor="t"/>
          <a:lstStyle/>
          <a:p>
            <a:pPr marL="0" indent="0">
              <a:buNone/>
            </a:pPr>
            <a:r>
              <a:rPr lang="fr-FR" sz="1100" b="1" dirty="0">
                <a:solidFill>
                  <a:srgbClr val="00704A"/>
                </a:solidFill>
                <a:latin typeface="Calibri" pitchFamily="34" charset="0"/>
                <a:ea typeface="Calibri" pitchFamily="34" charset="-122"/>
                <a:cs typeface="Calibri" pitchFamily="34" charset="-120"/>
              </a:rPr>
              <a:t>VIIRS-DNB · 2016 · même zone</a:t>
            </a:r>
            <a:endParaRPr lang="fr-FR" sz="1100" dirty="0"/>
          </a:p>
        </p:txBody>
      </p:sp>
      <p:sp>
        <p:nvSpPr>
          <p:cNvPr id="17" name="Shape 13"/>
          <p:cNvSpPr/>
          <p:nvPr/>
        </p:nvSpPr>
        <p:spPr>
          <a:xfrm>
            <a:off x="4425696" y="1636776"/>
            <a:ext cx="4189415" cy="4133088"/>
          </a:xfrm>
          <a:prstGeom prst="roundRect">
            <a:avLst>
              <a:gd name="adj" fmla="val 1770"/>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8" name="Image 2" descr="/home/claude/build/img/real/viirs_imp.png"/>
          <p:cNvPicPr>
            <a:picLocks noChangeAspect="1"/>
          </p:cNvPicPr>
          <p:nvPr/>
        </p:nvPicPr>
        <p:blipFill>
          <a:blip r:embed="rId5"/>
          <a:stretch>
            <a:fillRect/>
          </a:stretch>
        </p:blipFill>
        <p:spPr>
          <a:xfrm>
            <a:off x="4480560" y="1691640"/>
            <a:ext cx="4079687" cy="4023360"/>
          </a:xfrm>
          <a:prstGeom prst="rect">
            <a:avLst/>
          </a:prstGeom>
        </p:spPr>
      </p:pic>
      <p:sp>
        <p:nvSpPr>
          <p:cNvPr id="19" name="Shape 14"/>
          <p:cNvSpPr/>
          <p:nvPr/>
        </p:nvSpPr>
        <p:spPr>
          <a:xfrm>
            <a:off x="8732520" y="1325880"/>
            <a:ext cx="2907792" cy="4434840"/>
          </a:xfrm>
          <a:prstGeom prst="roundRect">
            <a:avLst>
              <a:gd name="adj" fmla="val 2516"/>
            </a:avLst>
          </a:prstGeom>
          <a:solidFill>
            <a:srgbClr val="00553A"/>
          </a:solidFill>
          <a:ln w="9525">
            <a:solidFill>
              <a:srgbClr val="00553A"/>
            </a:solidFill>
            <a:prstDash val="solid"/>
          </a:ln>
        </p:spPr>
      </p:sp>
      <p:sp>
        <p:nvSpPr>
          <p:cNvPr id="20" name="Text 15"/>
          <p:cNvSpPr txBox="1"/>
          <p:nvPr/>
        </p:nvSpPr>
        <p:spPr>
          <a:xfrm>
            <a:off x="8915400" y="1463040"/>
            <a:ext cx="2560320" cy="365760"/>
          </a:xfrm>
          <a:prstGeom prst="rect">
            <a:avLst/>
          </a:prstGeom>
          <a:noFill/>
          <a:ln/>
        </p:spPr>
        <p:txBody>
          <a:bodyPr wrap="square" lIns="0" tIns="0" rIns="0" bIns="0" rtlCol="0" anchor="t"/>
          <a:lstStyle/>
          <a:p>
            <a:pPr marL="0" indent="0">
              <a:buNone/>
            </a:pPr>
            <a:r>
              <a:rPr lang="fr-FR" sz="1400" b="1" dirty="0">
                <a:solidFill>
                  <a:srgbClr val="F5C242"/>
                </a:solidFill>
                <a:latin typeface="Calibri" pitchFamily="34" charset="0"/>
                <a:ea typeface="Calibri" pitchFamily="34" charset="-122"/>
                <a:cs typeface="Calibri" pitchFamily="34" charset="-120"/>
              </a:rPr>
              <a:t>Lire les profils</a:t>
            </a:r>
            <a:endParaRPr lang="fr-FR" sz="1400" dirty="0"/>
          </a:p>
        </p:txBody>
      </p:sp>
      <p:sp>
        <p:nvSpPr>
          <p:cNvPr id="21" name="Text 16"/>
          <p:cNvSpPr txBox="1"/>
          <p:nvPr/>
        </p:nvSpPr>
        <p:spPr>
          <a:xfrm>
            <a:off x="8915400" y="1920240"/>
            <a:ext cx="2606040" cy="3749040"/>
          </a:xfrm>
          <a:prstGeom prst="rect">
            <a:avLst/>
          </a:prstGeom>
          <a:noFill/>
          <a:ln/>
        </p:spPr>
        <p:txBody>
          <a:bodyPr wrap="square" lIns="0" tIns="0" rIns="0" bIns="0" rtlCol="0" anchor="t"/>
          <a:lstStyle/>
          <a:p>
            <a:pPr marL="177800" indent="-177800">
              <a:spcAft>
                <a:spcPts val="800"/>
              </a:spcAft>
              <a:buSzPct val="100000"/>
              <a:buChar char="•"/>
            </a:pPr>
            <a:r>
              <a:rPr lang="fr-FR" sz="1150" b="1" dirty="0">
                <a:solidFill>
                  <a:srgbClr val="FFFFFF"/>
                </a:solidFill>
                <a:latin typeface="Calibri" pitchFamily="34" charset="0"/>
                <a:ea typeface="Calibri" pitchFamily="34" charset="-122"/>
                <a:cs typeface="Calibri" pitchFamily="34" charset="-120"/>
              </a:rPr>
              <a:t>DMSP :</a:t>
            </a:r>
            <a:r>
              <a:rPr lang="fr-FR" sz="1150" dirty="0">
                <a:solidFill>
                  <a:srgbClr val="D8EEE3"/>
                </a:solidFill>
                <a:latin typeface="Calibri" pitchFamily="34" charset="0"/>
                <a:ea typeface="Calibri" pitchFamily="34" charset="-122"/>
                <a:cs typeface="Calibri" pitchFamily="34" charset="-120"/>
              </a:rPr>
              <a:t> les transects plafonnent à 63 sur toute l’agglomération — plus aucune information au centre.</a:t>
            </a:r>
            <a:endParaRPr lang="fr-FR" sz="1150" dirty="0"/>
          </a:p>
          <a:p>
            <a:pPr marL="177800" indent="-177800">
              <a:spcAft>
                <a:spcPts val="800"/>
              </a:spcAft>
              <a:buSzPct val="100000"/>
              <a:buChar char="•"/>
            </a:pPr>
            <a:r>
              <a:rPr lang="fr-FR" sz="1150" b="1" dirty="0">
                <a:solidFill>
                  <a:srgbClr val="FFFFFF"/>
                </a:solidFill>
                <a:latin typeface="Calibri" pitchFamily="34" charset="0"/>
                <a:ea typeface="Calibri" pitchFamily="34" charset="-122"/>
                <a:cs typeface="Calibri" pitchFamily="34" charset="-120"/>
              </a:rPr>
              <a:t>VIIRS :</a:t>
            </a:r>
            <a:r>
              <a:rPr lang="fr-FR" sz="1150" dirty="0">
                <a:solidFill>
                  <a:srgbClr val="D8EEE3"/>
                </a:solidFill>
                <a:latin typeface="Calibri" pitchFamily="34" charset="0"/>
                <a:ea typeface="Calibri" pitchFamily="34" charset="-122"/>
                <a:cs typeface="Calibri" pitchFamily="34" charset="-120"/>
              </a:rPr>
              <a:t> les mêmes transects montent et descendent à travers la ville.</a:t>
            </a:r>
            <a:endParaRPr lang="fr-FR" sz="1150" dirty="0"/>
          </a:p>
          <a:p>
            <a:pPr marL="177800" indent="-177800">
              <a:spcAft>
                <a:spcPts val="800"/>
              </a:spcAft>
              <a:buSzPct val="100000"/>
              <a:buChar char="•"/>
            </a:pPr>
            <a:r>
              <a:rPr lang="fr-FR" sz="1150" b="1" dirty="0">
                <a:solidFill>
                  <a:srgbClr val="FFFFFF"/>
                </a:solidFill>
                <a:latin typeface="Calibri" pitchFamily="34" charset="0"/>
                <a:ea typeface="Calibri" pitchFamily="34" charset="-122"/>
                <a:cs typeface="Calibri" pitchFamily="34" charset="-120"/>
              </a:rPr>
              <a:t>Pour l’Afrique :</a:t>
            </a:r>
            <a:r>
              <a:rPr lang="fr-FR" sz="1150" dirty="0">
                <a:solidFill>
                  <a:srgbClr val="D8EEE3"/>
                </a:solidFill>
                <a:latin typeface="Calibri" pitchFamily="34" charset="0"/>
                <a:ea typeface="Calibri" pitchFamily="34" charset="-122"/>
                <a:cs typeface="Calibri" pitchFamily="34" charset="-120"/>
              </a:rPr>
              <a:t> les centres de Lagos, du Caire et de Johannesburg se comportent ainsi dans DMSP ; les lumières rurales sont à l’autre extrémité de la plage.</a:t>
            </a:r>
            <a:endParaRPr lang="fr-FR"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02 · LES INSTRUMENTS · GÉOMÉTRIE D’OBSERVATION</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Quand et comment VIIRS observe votre pays</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17</a:t>
            </a:r>
            <a:endParaRPr lang="fr-FR" sz="900" dirty="0"/>
          </a:p>
        </p:txBody>
      </p:sp>
      <p:sp>
        <p:nvSpPr>
          <p:cNvPr id="12" name="Shape 9"/>
          <p:cNvSpPr/>
          <p:nvPr/>
        </p:nvSpPr>
        <p:spPr>
          <a:xfrm>
            <a:off x="548640" y="1371600"/>
            <a:ext cx="2651760" cy="1508760"/>
          </a:xfrm>
          <a:prstGeom prst="roundRect">
            <a:avLst>
              <a:gd name="adj" fmla="val 4848"/>
            </a:avLst>
          </a:prstGeom>
          <a:solidFill>
            <a:srgbClr val="E8F5EF"/>
          </a:solidFill>
          <a:ln w="9525">
            <a:solidFill>
              <a:srgbClr val="E8F5EF"/>
            </a:solidFill>
            <a:prstDash val="solid"/>
          </a:ln>
        </p:spPr>
      </p:sp>
      <p:sp>
        <p:nvSpPr>
          <p:cNvPr id="13" name="Text 10"/>
          <p:cNvSpPr txBox="1"/>
          <p:nvPr/>
        </p:nvSpPr>
        <p:spPr>
          <a:xfrm>
            <a:off x="731520" y="1463040"/>
            <a:ext cx="2286000" cy="59436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 01:30</a:t>
            </a:r>
            <a:endParaRPr lang="fr-FR" sz="2600" dirty="0"/>
          </a:p>
        </p:txBody>
      </p:sp>
      <p:sp>
        <p:nvSpPr>
          <p:cNvPr id="14" name="Text 11"/>
          <p:cNvSpPr txBox="1"/>
          <p:nvPr/>
        </p:nvSpPr>
        <p:spPr>
          <a:xfrm>
            <a:off x="731520" y="2057400"/>
            <a:ext cx="2331720" cy="777240"/>
          </a:xfrm>
          <a:prstGeom prst="rect">
            <a:avLst/>
          </a:prstGeom>
          <a:noFill/>
          <a:ln/>
        </p:spPr>
        <p:txBody>
          <a:bodyPr wrap="square" lIns="0" tIns="0" rIns="0" bIns="0" rtlCol="0" anchor="t"/>
          <a:lstStyle/>
          <a:p>
            <a:pPr marL="0" indent="0">
              <a:buNone/>
            </a:pPr>
            <a:r>
              <a:rPr lang="fr-FR" sz="1100" dirty="0">
                <a:solidFill>
                  <a:srgbClr val="5E6964"/>
                </a:solidFill>
                <a:latin typeface="Calibri" pitchFamily="34" charset="0"/>
                <a:ea typeface="Calibri" pitchFamily="34" charset="-122"/>
                <a:cs typeface="Calibri" pitchFamily="34" charset="-120"/>
              </a:rPr>
              <a:t>heure locale de passage à l’équateur, de nuit (orbite héliosynchrone)</a:t>
            </a:r>
            <a:endParaRPr lang="fr-FR" sz="1100" dirty="0"/>
          </a:p>
        </p:txBody>
      </p:sp>
      <p:sp>
        <p:nvSpPr>
          <p:cNvPr id="15" name="Shape 12"/>
          <p:cNvSpPr/>
          <p:nvPr/>
        </p:nvSpPr>
        <p:spPr>
          <a:xfrm>
            <a:off x="3355848" y="1371600"/>
            <a:ext cx="2651760" cy="1508760"/>
          </a:xfrm>
          <a:prstGeom prst="roundRect">
            <a:avLst>
              <a:gd name="adj" fmla="val 4848"/>
            </a:avLst>
          </a:prstGeom>
          <a:solidFill>
            <a:srgbClr val="E8F5EF"/>
          </a:solidFill>
          <a:ln w="9525">
            <a:solidFill>
              <a:srgbClr val="E8F5EF"/>
            </a:solidFill>
            <a:prstDash val="solid"/>
          </a:ln>
        </p:spPr>
      </p:sp>
      <p:sp>
        <p:nvSpPr>
          <p:cNvPr id="16" name="Text 13"/>
          <p:cNvSpPr txBox="1"/>
          <p:nvPr/>
        </p:nvSpPr>
        <p:spPr>
          <a:xfrm>
            <a:off x="3538728" y="1463040"/>
            <a:ext cx="2286000" cy="59436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 3 000 km</a:t>
            </a:r>
            <a:endParaRPr lang="fr-FR" sz="2600" dirty="0"/>
          </a:p>
        </p:txBody>
      </p:sp>
      <p:sp>
        <p:nvSpPr>
          <p:cNvPr id="17" name="Text 14"/>
          <p:cNvSpPr txBox="1"/>
          <p:nvPr/>
        </p:nvSpPr>
        <p:spPr>
          <a:xfrm>
            <a:off x="3538728" y="2057400"/>
            <a:ext cx="2331720" cy="777240"/>
          </a:xfrm>
          <a:prstGeom prst="rect">
            <a:avLst/>
          </a:prstGeom>
          <a:noFill/>
          <a:ln/>
        </p:spPr>
        <p:txBody>
          <a:bodyPr wrap="square" lIns="0" tIns="0" rIns="0" bIns="0" rtlCol="0" anchor="t"/>
          <a:lstStyle/>
          <a:p>
            <a:pPr marL="0" indent="0">
              <a:buNone/>
            </a:pPr>
            <a:r>
              <a:rPr lang="fr-FR" sz="1100" dirty="0">
                <a:solidFill>
                  <a:srgbClr val="5E6964"/>
                </a:solidFill>
                <a:latin typeface="Calibri" pitchFamily="34" charset="0"/>
                <a:ea typeface="Calibri" pitchFamily="34" charset="-122"/>
                <a:cs typeface="Calibri" pitchFamily="34" charset="-120"/>
              </a:rPr>
              <a:t>largeur de fauchée — chaque point du globe est vu au moins une fois par nuit</a:t>
            </a:r>
            <a:endParaRPr lang="fr-FR" sz="1100" dirty="0"/>
          </a:p>
        </p:txBody>
      </p:sp>
      <p:sp>
        <p:nvSpPr>
          <p:cNvPr id="18" name="Shape 15"/>
          <p:cNvSpPr/>
          <p:nvPr/>
        </p:nvSpPr>
        <p:spPr>
          <a:xfrm>
            <a:off x="6163056" y="1371600"/>
            <a:ext cx="2651760" cy="1508760"/>
          </a:xfrm>
          <a:prstGeom prst="roundRect">
            <a:avLst>
              <a:gd name="adj" fmla="val 4848"/>
            </a:avLst>
          </a:prstGeom>
          <a:solidFill>
            <a:srgbClr val="E8F5EF"/>
          </a:solidFill>
          <a:ln w="9525">
            <a:solidFill>
              <a:srgbClr val="E8F5EF"/>
            </a:solidFill>
            <a:prstDash val="solid"/>
          </a:ln>
        </p:spPr>
      </p:sp>
      <p:sp>
        <p:nvSpPr>
          <p:cNvPr id="19" name="Text 16"/>
          <p:cNvSpPr txBox="1"/>
          <p:nvPr/>
        </p:nvSpPr>
        <p:spPr>
          <a:xfrm>
            <a:off x="6345936" y="1463040"/>
            <a:ext cx="2286000" cy="59436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 742 m</a:t>
            </a:r>
            <a:endParaRPr lang="fr-FR" sz="2600" dirty="0"/>
          </a:p>
        </p:txBody>
      </p:sp>
      <p:sp>
        <p:nvSpPr>
          <p:cNvPr id="20" name="Text 17"/>
          <p:cNvSpPr txBox="1"/>
          <p:nvPr/>
        </p:nvSpPr>
        <p:spPr>
          <a:xfrm>
            <a:off x="6345936" y="2057400"/>
            <a:ext cx="2331720" cy="777240"/>
          </a:xfrm>
          <a:prstGeom prst="rect">
            <a:avLst/>
          </a:prstGeom>
          <a:noFill/>
          <a:ln/>
        </p:spPr>
        <p:txBody>
          <a:bodyPr wrap="square" lIns="0" tIns="0" rIns="0" bIns="0" rtlCol="0" anchor="t"/>
          <a:lstStyle/>
          <a:p>
            <a:pPr marL="0" indent="0">
              <a:buNone/>
            </a:pPr>
            <a:r>
              <a:rPr lang="fr-FR" sz="1100" dirty="0">
                <a:solidFill>
                  <a:srgbClr val="5E6964"/>
                </a:solidFill>
                <a:latin typeface="Calibri" pitchFamily="34" charset="0"/>
                <a:ea typeface="Calibri" pitchFamily="34" charset="-122"/>
                <a:cs typeface="Calibri" pitchFamily="34" charset="-120"/>
              </a:rPr>
              <a:t>pixel DNB natif, quasi constant du nadir au bord du balayage</a:t>
            </a:r>
            <a:endParaRPr lang="fr-FR" sz="1100" dirty="0"/>
          </a:p>
        </p:txBody>
      </p:sp>
      <p:sp>
        <p:nvSpPr>
          <p:cNvPr id="21" name="Shape 18"/>
          <p:cNvSpPr/>
          <p:nvPr/>
        </p:nvSpPr>
        <p:spPr>
          <a:xfrm>
            <a:off x="8970264" y="1371600"/>
            <a:ext cx="2651760" cy="1508760"/>
          </a:xfrm>
          <a:prstGeom prst="roundRect">
            <a:avLst>
              <a:gd name="adj" fmla="val 4848"/>
            </a:avLst>
          </a:prstGeom>
          <a:solidFill>
            <a:srgbClr val="E8F5EF"/>
          </a:solidFill>
          <a:ln w="9525">
            <a:solidFill>
              <a:srgbClr val="E8F5EF"/>
            </a:solidFill>
            <a:prstDash val="solid"/>
          </a:ln>
        </p:spPr>
      </p:sp>
      <p:sp>
        <p:nvSpPr>
          <p:cNvPr id="22" name="Text 19"/>
          <p:cNvSpPr txBox="1"/>
          <p:nvPr/>
        </p:nvSpPr>
        <p:spPr>
          <a:xfrm>
            <a:off x="9153144" y="1463040"/>
            <a:ext cx="2286000" cy="59436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3</a:t>
            </a:r>
            <a:endParaRPr lang="fr-FR" sz="2600" dirty="0"/>
          </a:p>
        </p:txBody>
      </p:sp>
      <p:sp>
        <p:nvSpPr>
          <p:cNvPr id="23" name="Text 20"/>
          <p:cNvSpPr txBox="1"/>
          <p:nvPr/>
        </p:nvSpPr>
        <p:spPr>
          <a:xfrm>
            <a:off x="9153144" y="2057400"/>
            <a:ext cx="2331720" cy="777240"/>
          </a:xfrm>
          <a:prstGeom prst="rect">
            <a:avLst/>
          </a:prstGeom>
          <a:noFill/>
          <a:ln/>
        </p:spPr>
        <p:txBody>
          <a:bodyPr wrap="square" lIns="0" tIns="0" rIns="0" bIns="0" rtlCol="0" anchor="t"/>
          <a:lstStyle/>
          <a:p>
            <a:pPr marL="0" indent="0">
              <a:buNone/>
            </a:pPr>
            <a:r>
              <a:rPr lang="fr-FR" sz="1100" dirty="0">
                <a:solidFill>
                  <a:srgbClr val="5E6964"/>
                </a:solidFill>
                <a:latin typeface="Calibri" pitchFamily="34" charset="0"/>
                <a:ea typeface="Calibri" pitchFamily="34" charset="-122"/>
                <a:cs typeface="Calibri" pitchFamily="34" charset="-120"/>
              </a:rPr>
              <a:t>Instruments VIIRS en orbite : Suomi NPP, NOAA-20, NOAA-21</a:t>
            </a:r>
            <a:endParaRPr lang="fr-FR" sz="1100" dirty="0"/>
          </a:p>
        </p:txBody>
      </p:sp>
      <p:sp>
        <p:nvSpPr>
          <p:cNvPr id="24" name="Shape 21"/>
          <p:cNvSpPr/>
          <p:nvPr/>
        </p:nvSpPr>
        <p:spPr>
          <a:xfrm>
            <a:off x="548640" y="3154680"/>
            <a:ext cx="3593592" cy="2697480"/>
          </a:xfrm>
          <a:prstGeom prst="roundRect">
            <a:avLst>
              <a:gd name="adj" fmla="val 2712"/>
            </a:avLst>
          </a:prstGeom>
          <a:solidFill>
            <a:srgbClr val="F4F7F5"/>
          </a:solidFill>
          <a:ln w="9525">
            <a:solidFill>
              <a:srgbClr val="D5DED9"/>
            </a:solidFill>
            <a:prstDash val="solid"/>
          </a:ln>
        </p:spPr>
      </p:sp>
      <p:sp>
        <p:nvSpPr>
          <p:cNvPr id="25" name="Shape 22"/>
          <p:cNvSpPr/>
          <p:nvPr/>
        </p:nvSpPr>
        <p:spPr>
          <a:xfrm>
            <a:off x="749808" y="3355848"/>
            <a:ext cx="548640" cy="548640"/>
          </a:xfrm>
          <a:prstGeom prst="ellipse">
            <a:avLst/>
          </a:prstGeom>
          <a:solidFill>
            <a:srgbClr val="00704A"/>
          </a:solidFill>
          <a:ln w="12700">
            <a:solidFill>
              <a:srgbClr val="00704A"/>
            </a:solidFill>
            <a:prstDash val="solid"/>
          </a:ln>
        </p:spPr>
      </p:sp>
      <p:pic>
        <p:nvPicPr>
          <p:cNvPr id="26" name="Image 1" descr="preencoded.png"/>
          <p:cNvPicPr>
            <a:picLocks noChangeAspect="1"/>
          </p:cNvPicPr>
          <p:nvPr/>
        </p:nvPicPr>
        <p:blipFill>
          <a:blip r:embed="rId4"/>
          <a:stretch>
            <a:fillRect/>
          </a:stretch>
        </p:blipFill>
        <p:spPr>
          <a:xfrm>
            <a:off x="892454" y="3498494"/>
            <a:ext cx="263347" cy="263347"/>
          </a:xfrm>
          <a:prstGeom prst="rect">
            <a:avLst/>
          </a:prstGeom>
        </p:spPr>
      </p:pic>
      <p:sp>
        <p:nvSpPr>
          <p:cNvPr id="27" name="Text 23"/>
          <p:cNvSpPr txBox="1"/>
          <p:nvPr/>
        </p:nvSpPr>
        <p:spPr>
          <a:xfrm>
            <a:off x="1417320" y="3355848"/>
            <a:ext cx="260604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L’angle de visée change chaque nuit</a:t>
            </a:r>
            <a:endParaRPr lang="fr-FR" sz="1350" dirty="0"/>
          </a:p>
        </p:txBody>
      </p:sp>
      <p:sp>
        <p:nvSpPr>
          <p:cNvPr id="28" name="Text 24"/>
          <p:cNvSpPr txBox="1"/>
          <p:nvPr/>
        </p:nvSpPr>
        <p:spPr>
          <a:xfrm>
            <a:off x="749808" y="4069080"/>
            <a:ext cx="3200400" cy="173736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Le même lieu est vu à la verticale une nuit et en oblique la suivante. Immeubles, arbres et pentes masquent ou révèlent la lumière différemment : la radiance quotidienne fluctue pour des raisons purement géométriques.</a:t>
            </a:r>
            <a:endParaRPr lang="fr-FR" sz="1250" dirty="0"/>
          </a:p>
        </p:txBody>
      </p:sp>
      <p:sp>
        <p:nvSpPr>
          <p:cNvPr id="29" name="Shape 25"/>
          <p:cNvSpPr/>
          <p:nvPr/>
        </p:nvSpPr>
        <p:spPr>
          <a:xfrm>
            <a:off x="4297680" y="3154680"/>
            <a:ext cx="3593592" cy="2697480"/>
          </a:xfrm>
          <a:prstGeom prst="roundRect">
            <a:avLst>
              <a:gd name="adj" fmla="val 2712"/>
            </a:avLst>
          </a:prstGeom>
          <a:solidFill>
            <a:srgbClr val="F4F7F5"/>
          </a:solidFill>
          <a:ln w="9525">
            <a:solidFill>
              <a:srgbClr val="D5DED9"/>
            </a:solidFill>
            <a:prstDash val="solid"/>
          </a:ln>
        </p:spPr>
      </p:sp>
      <p:sp>
        <p:nvSpPr>
          <p:cNvPr id="30" name="Shape 26"/>
          <p:cNvSpPr/>
          <p:nvPr/>
        </p:nvSpPr>
        <p:spPr>
          <a:xfrm>
            <a:off x="4498848" y="3355848"/>
            <a:ext cx="548640" cy="548640"/>
          </a:xfrm>
          <a:prstGeom prst="ellipse">
            <a:avLst/>
          </a:prstGeom>
          <a:solidFill>
            <a:srgbClr val="00704A"/>
          </a:solidFill>
          <a:ln w="12700">
            <a:solidFill>
              <a:srgbClr val="00704A"/>
            </a:solidFill>
            <a:prstDash val="solid"/>
          </a:ln>
        </p:spPr>
      </p:sp>
      <p:pic>
        <p:nvPicPr>
          <p:cNvPr id="31" name="Image 2" descr="preencoded.png"/>
          <p:cNvPicPr>
            <a:picLocks noChangeAspect="1"/>
          </p:cNvPicPr>
          <p:nvPr/>
        </p:nvPicPr>
        <p:blipFill>
          <a:blip r:embed="rId5"/>
          <a:stretch>
            <a:fillRect/>
          </a:stretch>
        </p:blipFill>
        <p:spPr>
          <a:xfrm>
            <a:off x="4641494" y="3498494"/>
            <a:ext cx="263347" cy="263347"/>
          </a:xfrm>
          <a:prstGeom prst="rect">
            <a:avLst/>
          </a:prstGeom>
        </p:spPr>
      </p:pic>
      <p:sp>
        <p:nvSpPr>
          <p:cNvPr id="32" name="Text 27"/>
          <p:cNvSpPr txBox="1"/>
          <p:nvPr/>
        </p:nvSpPr>
        <p:spPr>
          <a:xfrm>
            <a:off x="5166360" y="3355848"/>
            <a:ext cx="260604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La Lune modifie la scène</a:t>
            </a:r>
            <a:endParaRPr lang="fr-FR" sz="1350" dirty="0"/>
          </a:p>
        </p:txBody>
      </p:sp>
      <p:sp>
        <p:nvSpPr>
          <p:cNvPr id="33" name="Text 28"/>
          <p:cNvSpPr txBox="1"/>
          <p:nvPr/>
        </p:nvSpPr>
        <p:spPr>
          <a:xfrm>
            <a:off x="4498848" y="4069080"/>
            <a:ext cx="3200400" cy="173736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Le clair de lune réfléchi par les surfaces claires (sable, salines, sommets de nuages) ajoute une radiance à modéliser — le cycle lunaire laisse un rythme de ≈ 29,5 jours dans les données non corrigées.</a:t>
            </a:r>
            <a:endParaRPr lang="fr-FR" sz="1250" dirty="0"/>
          </a:p>
        </p:txBody>
      </p:sp>
      <p:sp>
        <p:nvSpPr>
          <p:cNvPr id="34" name="Shape 29"/>
          <p:cNvSpPr/>
          <p:nvPr/>
        </p:nvSpPr>
        <p:spPr>
          <a:xfrm>
            <a:off x="8046720" y="3154680"/>
            <a:ext cx="3593592" cy="2697480"/>
          </a:xfrm>
          <a:prstGeom prst="roundRect">
            <a:avLst>
              <a:gd name="adj" fmla="val 2712"/>
            </a:avLst>
          </a:prstGeom>
          <a:solidFill>
            <a:srgbClr val="F4F7F5"/>
          </a:solidFill>
          <a:ln w="9525">
            <a:solidFill>
              <a:srgbClr val="D5DED9"/>
            </a:solidFill>
            <a:prstDash val="solid"/>
          </a:ln>
        </p:spPr>
      </p:sp>
      <p:sp>
        <p:nvSpPr>
          <p:cNvPr id="35" name="Shape 30"/>
          <p:cNvSpPr/>
          <p:nvPr/>
        </p:nvSpPr>
        <p:spPr>
          <a:xfrm>
            <a:off x="8247888" y="3355848"/>
            <a:ext cx="548640" cy="548640"/>
          </a:xfrm>
          <a:prstGeom prst="ellipse">
            <a:avLst/>
          </a:prstGeom>
          <a:solidFill>
            <a:srgbClr val="00704A"/>
          </a:solidFill>
          <a:ln w="12700">
            <a:solidFill>
              <a:srgbClr val="00704A"/>
            </a:solidFill>
            <a:prstDash val="solid"/>
          </a:ln>
        </p:spPr>
      </p:sp>
      <p:pic>
        <p:nvPicPr>
          <p:cNvPr id="36" name="Image 3" descr="preencoded.png"/>
          <p:cNvPicPr>
            <a:picLocks noChangeAspect="1"/>
          </p:cNvPicPr>
          <p:nvPr/>
        </p:nvPicPr>
        <p:blipFill>
          <a:blip r:embed="rId6"/>
          <a:stretch>
            <a:fillRect/>
          </a:stretch>
        </p:blipFill>
        <p:spPr>
          <a:xfrm>
            <a:off x="8390534" y="3498494"/>
            <a:ext cx="263347" cy="263347"/>
          </a:xfrm>
          <a:prstGeom prst="rect">
            <a:avLst/>
          </a:prstGeom>
        </p:spPr>
      </p:pic>
      <p:sp>
        <p:nvSpPr>
          <p:cNvPr id="37" name="Text 31"/>
          <p:cNvSpPr txBox="1"/>
          <p:nvPr/>
        </p:nvSpPr>
        <p:spPr>
          <a:xfrm>
            <a:off x="8915400" y="3355848"/>
            <a:ext cx="260604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Agréger avant d’interpréter</a:t>
            </a:r>
            <a:endParaRPr lang="fr-FR" sz="1350" dirty="0"/>
          </a:p>
        </p:txBody>
      </p:sp>
      <p:sp>
        <p:nvSpPr>
          <p:cNvPr id="38" name="Text 32"/>
          <p:cNvSpPr txBox="1"/>
          <p:nvPr/>
        </p:nvSpPr>
        <p:spPr>
          <a:xfrm>
            <a:off x="8247888" y="4069080"/>
            <a:ext cx="3200400" cy="173736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Les composites moyennent de nombreux angles de visée et phases lunaires. N’utiliser les données quotidiennes que si la question l’exige, et les lisser (7 jours ou mensuel) avant de lire une tendance.</a:t>
            </a:r>
            <a:endParaRPr lang="fr-FR"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02 · LES INSTRUMENTS · DISCONTINUITÉ DES CAPTEURS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Raccorder les capteurs : construire honnêtement une série longue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18</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Li, X. et al. (2020) Scientific Data 7 ; Chen, Z. et al. (2021) Earth System Science Data 13 ; Elvidge, C. D. et al. (2021) Remote Sensing 13(5).</a:t>
            </a:r>
            <a:endParaRPr lang="fr-FR" sz="850" dirty="0"/>
          </a:p>
        </p:txBody>
      </p:sp>
      <p:sp>
        <p:nvSpPr>
          <p:cNvPr id="13" name="Text 10"/>
          <p:cNvSpPr txBox="1"/>
          <p:nvPr/>
        </p:nvSpPr>
        <p:spPr>
          <a:xfrm>
            <a:off x="548640" y="1508760"/>
            <a:ext cx="914400" cy="365760"/>
          </a:xfrm>
          <a:prstGeom prst="rect">
            <a:avLst/>
          </a:prstGeom>
          <a:noFill/>
          <a:ln/>
        </p:spPr>
        <p:txBody>
          <a:bodyPr wrap="square" lIns="0" tIns="0" rIns="0" bIns="0" rtlCol="0" anchor="ctr"/>
          <a:lstStyle/>
          <a:p>
            <a:pPr marL="0" indent="0">
              <a:buNone/>
            </a:pPr>
            <a:r>
              <a:rPr lang="fr-FR" sz="1100" b="1" dirty="0">
                <a:solidFill>
                  <a:srgbClr val="5E6964"/>
                </a:solidFill>
                <a:latin typeface="Calibri" pitchFamily="34" charset="0"/>
                <a:ea typeface="Calibri" pitchFamily="34" charset="-122"/>
                <a:cs typeface="Calibri" pitchFamily="34" charset="-120"/>
              </a:rPr>
              <a:t>DMSP-OLS</a:t>
            </a:r>
            <a:endParaRPr lang="fr-FR" sz="1100" dirty="0"/>
          </a:p>
        </p:txBody>
      </p:sp>
      <p:sp>
        <p:nvSpPr>
          <p:cNvPr id="14" name="Shape 11"/>
          <p:cNvSpPr/>
          <p:nvPr/>
        </p:nvSpPr>
        <p:spPr>
          <a:xfrm>
            <a:off x="1463040" y="1508760"/>
            <a:ext cx="6283914" cy="365760"/>
          </a:xfrm>
          <a:prstGeom prst="rect">
            <a:avLst/>
          </a:prstGeom>
          <a:solidFill>
            <a:srgbClr val="8A9590"/>
          </a:solidFill>
          <a:ln w="6350">
            <a:solidFill>
              <a:srgbClr val="8A9590"/>
            </a:solidFill>
            <a:prstDash val="solid"/>
          </a:ln>
        </p:spPr>
      </p:sp>
      <p:sp>
        <p:nvSpPr>
          <p:cNvPr id="15" name="Text 12"/>
          <p:cNvSpPr txBox="1"/>
          <p:nvPr/>
        </p:nvSpPr>
        <p:spPr>
          <a:xfrm>
            <a:off x="1554480" y="1508760"/>
            <a:ext cx="4572000" cy="365760"/>
          </a:xfrm>
          <a:prstGeom prst="rect">
            <a:avLst/>
          </a:prstGeom>
          <a:noFill/>
          <a:ln/>
        </p:spPr>
        <p:txBody>
          <a:bodyPr wrap="square" lIns="0" tIns="0" rIns="0" bIns="0" rtlCol="0" anchor="ctr"/>
          <a:lstStyle/>
          <a:p>
            <a:pPr marL="0" indent="0">
              <a:buNone/>
            </a:pPr>
            <a:r>
              <a:rPr lang="fr-FR" sz="1100" b="1" dirty="0">
                <a:solidFill>
                  <a:srgbClr val="FFFFFF"/>
                </a:solidFill>
                <a:latin typeface="Calibri" pitchFamily="34" charset="0"/>
                <a:ea typeface="Calibri" pitchFamily="34" charset="-122"/>
                <a:cs typeface="Calibri" pitchFamily="34" charset="-120"/>
              </a:rPr>
              <a:t>1992 – 2013  ·  valeurs numériques 0–63</a:t>
            </a:r>
            <a:endParaRPr lang="fr-FR" sz="1100" dirty="0"/>
          </a:p>
        </p:txBody>
      </p:sp>
      <p:sp>
        <p:nvSpPr>
          <p:cNvPr id="16" name="Text 13"/>
          <p:cNvSpPr txBox="1"/>
          <p:nvPr/>
        </p:nvSpPr>
        <p:spPr>
          <a:xfrm>
            <a:off x="548640" y="2011680"/>
            <a:ext cx="914400" cy="365760"/>
          </a:xfrm>
          <a:prstGeom prst="rect">
            <a:avLst/>
          </a:prstGeom>
          <a:noFill/>
          <a:ln/>
        </p:spPr>
        <p:txBody>
          <a:bodyPr wrap="square" lIns="0" tIns="0" rIns="0" bIns="0" rtlCol="0" anchor="ctr"/>
          <a:lstStyle/>
          <a:p>
            <a:pPr marL="0" indent="0">
              <a:buNone/>
            </a:pPr>
            <a:r>
              <a:rPr lang="fr-FR" sz="1100" b="1" dirty="0">
                <a:solidFill>
                  <a:srgbClr val="00704A"/>
                </a:solidFill>
                <a:latin typeface="Calibri" pitchFamily="34" charset="0"/>
                <a:ea typeface="Calibri" pitchFamily="34" charset="-122"/>
                <a:cs typeface="Calibri" pitchFamily="34" charset="-120"/>
              </a:rPr>
              <a:t>VIIRS</a:t>
            </a:r>
            <a:endParaRPr lang="fr-FR" sz="1100" dirty="0"/>
          </a:p>
        </p:txBody>
      </p:sp>
      <p:sp>
        <p:nvSpPr>
          <p:cNvPr id="17" name="Shape 14"/>
          <p:cNvSpPr/>
          <p:nvPr/>
        </p:nvSpPr>
        <p:spPr>
          <a:xfrm>
            <a:off x="7175689" y="2011680"/>
            <a:ext cx="4255923" cy="365760"/>
          </a:xfrm>
          <a:prstGeom prst="rect">
            <a:avLst/>
          </a:prstGeom>
          <a:solidFill>
            <a:srgbClr val="00704A"/>
          </a:solidFill>
          <a:ln w="6350">
            <a:solidFill>
              <a:srgbClr val="00704A"/>
            </a:solidFill>
            <a:prstDash val="solid"/>
          </a:ln>
        </p:spPr>
      </p:sp>
      <p:sp>
        <p:nvSpPr>
          <p:cNvPr id="18" name="Text 15"/>
          <p:cNvSpPr txBox="1"/>
          <p:nvPr/>
        </p:nvSpPr>
        <p:spPr>
          <a:xfrm>
            <a:off x="7267129" y="2011680"/>
            <a:ext cx="3657600" cy="365760"/>
          </a:xfrm>
          <a:prstGeom prst="rect">
            <a:avLst/>
          </a:prstGeom>
          <a:noFill/>
          <a:ln/>
        </p:spPr>
        <p:txBody>
          <a:bodyPr wrap="square" lIns="0" tIns="0" rIns="0" bIns="0" rtlCol="0" anchor="ctr"/>
          <a:lstStyle/>
          <a:p>
            <a:pPr marL="0" indent="0">
              <a:buNone/>
            </a:pPr>
            <a:r>
              <a:rPr lang="fr-FR" sz="1100" b="1" dirty="0">
                <a:solidFill>
                  <a:srgbClr val="FFFFFF"/>
                </a:solidFill>
                <a:latin typeface="Calibri" pitchFamily="34" charset="0"/>
                <a:ea typeface="Calibri" pitchFamily="34" charset="-122"/>
                <a:cs typeface="Calibri" pitchFamily="34" charset="-120"/>
              </a:rPr>
              <a:t>2012 – aujourd’hui  ·  radiance</a:t>
            </a:r>
            <a:endParaRPr lang="fr-FR" sz="1100" dirty="0"/>
          </a:p>
        </p:txBody>
      </p:sp>
      <p:sp>
        <p:nvSpPr>
          <p:cNvPr id="19" name="Shape 16"/>
          <p:cNvSpPr/>
          <p:nvPr/>
        </p:nvSpPr>
        <p:spPr>
          <a:xfrm>
            <a:off x="7175689" y="1399032"/>
            <a:ext cx="571265" cy="1088136"/>
          </a:xfrm>
          <a:prstGeom prst="rect">
            <a:avLst/>
          </a:prstGeom>
          <a:solidFill>
            <a:srgbClr val="F5C242">
              <a:alpha val="35000"/>
            </a:srgbClr>
          </a:solidFill>
          <a:ln w="15875">
            <a:solidFill>
              <a:srgbClr val="F5C242"/>
            </a:solidFill>
            <a:prstDash val="dash"/>
          </a:ln>
        </p:spPr>
      </p:sp>
      <p:sp>
        <p:nvSpPr>
          <p:cNvPr id="20" name="Text 17"/>
          <p:cNvSpPr txBox="1"/>
          <p:nvPr/>
        </p:nvSpPr>
        <p:spPr>
          <a:xfrm>
            <a:off x="6078409" y="2514600"/>
            <a:ext cx="2743200" cy="274320"/>
          </a:xfrm>
          <a:prstGeom prst="rect">
            <a:avLst/>
          </a:prstGeom>
          <a:noFill/>
          <a:ln/>
        </p:spPr>
        <p:txBody>
          <a:bodyPr wrap="square" lIns="0" tIns="0" rIns="0" bIns="0" rtlCol="0" anchor="t"/>
          <a:lstStyle/>
          <a:p>
            <a:pPr marL="0" indent="0" algn="ctr">
              <a:buNone/>
            </a:pPr>
            <a:r>
              <a:rPr lang="fr-FR" sz="1050" b="1" dirty="0">
                <a:solidFill>
                  <a:srgbClr val="A87700"/>
                </a:solidFill>
                <a:latin typeface="Calibri" pitchFamily="34" charset="0"/>
                <a:ea typeface="Calibri" pitchFamily="34" charset="-122"/>
                <a:cs typeface="Calibri" pitchFamily="34" charset="-120"/>
              </a:rPr>
              <a:t>Chevauchement : 2012–2013</a:t>
            </a:r>
            <a:endParaRPr lang="fr-FR" sz="1050" dirty="0"/>
          </a:p>
        </p:txBody>
      </p:sp>
      <p:sp>
        <p:nvSpPr>
          <p:cNvPr id="21" name="Text 18"/>
          <p:cNvSpPr txBox="1"/>
          <p:nvPr/>
        </p:nvSpPr>
        <p:spPr>
          <a:xfrm>
            <a:off x="1188720" y="2807208"/>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1992</a:t>
            </a:r>
            <a:endParaRPr lang="fr-FR" sz="900" dirty="0"/>
          </a:p>
        </p:txBody>
      </p:sp>
      <p:sp>
        <p:nvSpPr>
          <p:cNvPr id="22" name="Text 19"/>
          <p:cNvSpPr txBox="1"/>
          <p:nvPr/>
        </p:nvSpPr>
        <p:spPr>
          <a:xfrm>
            <a:off x="3473779" y="2807208"/>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2000</a:t>
            </a:r>
            <a:endParaRPr lang="fr-FR" sz="900" dirty="0"/>
          </a:p>
        </p:txBody>
      </p:sp>
      <p:sp>
        <p:nvSpPr>
          <p:cNvPr id="23" name="Text 20"/>
          <p:cNvSpPr txBox="1"/>
          <p:nvPr/>
        </p:nvSpPr>
        <p:spPr>
          <a:xfrm>
            <a:off x="5758839" y="2807208"/>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2008</a:t>
            </a:r>
            <a:endParaRPr lang="fr-FR" sz="900" dirty="0"/>
          </a:p>
        </p:txBody>
      </p:sp>
      <p:sp>
        <p:nvSpPr>
          <p:cNvPr id="24" name="Text 21"/>
          <p:cNvSpPr txBox="1"/>
          <p:nvPr/>
        </p:nvSpPr>
        <p:spPr>
          <a:xfrm>
            <a:off x="8043898" y="2807208"/>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2016</a:t>
            </a:r>
            <a:endParaRPr lang="fr-FR" sz="900" dirty="0"/>
          </a:p>
        </p:txBody>
      </p:sp>
      <p:sp>
        <p:nvSpPr>
          <p:cNvPr id="25" name="Text 22"/>
          <p:cNvSpPr txBox="1"/>
          <p:nvPr/>
        </p:nvSpPr>
        <p:spPr>
          <a:xfrm>
            <a:off x="10328958" y="2807208"/>
            <a:ext cx="548640" cy="201168"/>
          </a:xfrm>
          <a:prstGeom prst="rect">
            <a:avLst/>
          </a:prstGeom>
          <a:noFill/>
          <a:ln/>
        </p:spPr>
        <p:txBody>
          <a:bodyPr wrap="square" lIns="0" tIns="0" rIns="0" bIns="0" rtlCol="0" anchor="t"/>
          <a:lstStyle/>
          <a:p>
            <a:pPr marL="0" indent="0" algn="ctr">
              <a:buNone/>
            </a:pPr>
            <a:r>
              <a:rPr lang="fr-FR" sz="900" dirty="0">
                <a:solidFill>
                  <a:srgbClr val="5E6964"/>
                </a:solidFill>
                <a:latin typeface="Calibri" pitchFamily="34" charset="0"/>
                <a:ea typeface="Calibri" pitchFamily="34" charset="-122"/>
                <a:cs typeface="Calibri" pitchFamily="34" charset="-120"/>
              </a:rPr>
              <a:t>2024</a:t>
            </a:r>
            <a:endParaRPr lang="fr-FR" sz="900" dirty="0"/>
          </a:p>
        </p:txBody>
      </p:sp>
      <p:sp>
        <p:nvSpPr>
          <p:cNvPr id="26" name="Shape 23"/>
          <p:cNvSpPr/>
          <p:nvPr/>
        </p:nvSpPr>
        <p:spPr>
          <a:xfrm>
            <a:off x="548640" y="3154680"/>
            <a:ext cx="3593592" cy="2514600"/>
          </a:xfrm>
          <a:prstGeom prst="roundRect">
            <a:avLst>
              <a:gd name="adj" fmla="val 2909"/>
            </a:avLst>
          </a:prstGeom>
          <a:solidFill>
            <a:srgbClr val="F4F7F5"/>
          </a:solidFill>
          <a:ln w="9525">
            <a:solidFill>
              <a:srgbClr val="D5DED9"/>
            </a:solidFill>
            <a:prstDash val="solid"/>
          </a:ln>
        </p:spPr>
      </p:sp>
      <p:sp>
        <p:nvSpPr>
          <p:cNvPr id="27" name="Shape 24"/>
          <p:cNvSpPr/>
          <p:nvPr/>
        </p:nvSpPr>
        <p:spPr>
          <a:xfrm>
            <a:off x="731520" y="3337560"/>
            <a:ext cx="457200" cy="457200"/>
          </a:xfrm>
          <a:prstGeom prst="ellipse">
            <a:avLst/>
          </a:prstGeom>
          <a:solidFill>
            <a:srgbClr val="00704A"/>
          </a:solidFill>
          <a:ln w="12700">
            <a:solidFill>
              <a:srgbClr val="00704A"/>
            </a:solidFill>
            <a:prstDash val="solid"/>
          </a:ln>
        </p:spPr>
      </p:sp>
      <p:sp>
        <p:nvSpPr>
          <p:cNvPr id="28" name="Text 25"/>
          <p:cNvSpPr txBox="1"/>
          <p:nvPr/>
        </p:nvSpPr>
        <p:spPr>
          <a:xfrm>
            <a:off x="731520" y="3337560"/>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1</a:t>
            </a:r>
            <a:endParaRPr lang="fr-FR" sz="1300" dirty="0"/>
          </a:p>
        </p:txBody>
      </p:sp>
      <p:sp>
        <p:nvSpPr>
          <p:cNvPr id="29" name="Text 26"/>
          <p:cNvSpPr txBox="1"/>
          <p:nvPr/>
        </p:nvSpPr>
        <p:spPr>
          <a:xfrm>
            <a:off x="1325880" y="3337560"/>
            <a:ext cx="2697480" cy="45720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VIIRS seul (2012 →)</a:t>
            </a:r>
            <a:endParaRPr lang="fr-FR" sz="1350" dirty="0"/>
          </a:p>
        </p:txBody>
      </p:sp>
      <p:sp>
        <p:nvSpPr>
          <p:cNvPr id="30" name="Text 27"/>
          <p:cNvSpPr txBox="1"/>
          <p:nvPr/>
        </p:nvSpPr>
        <p:spPr>
          <a:xfrm>
            <a:off x="749808" y="3931920"/>
            <a:ext cx="3200400" cy="123444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Le choix le plus propre pour la plupart des questions macro : étalonné, cohérent, mensuel. Historique plus court.</a:t>
            </a:r>
            <a:endParaRPr lang="fr-FR" sz="1250" dirty="0"/>
          </a:p>
        </p:txBody>
      </p:sp>
      <p:sp>
        <p:nvSpPr>
          <p:cNvPr id="31" name="Text 28"/>
          <p:cNvSpPr txBox="1"/>
          <p:nvPr/>
        </p:nvSpPr>
        <p:spPr>
          <a:xfrm>
            <a:off x="749808" y="5212080"/>
            <a:ext cx="3200400" cy="274320"/>
          </a:xfrm>
          <a:prstGeom prst="rect">
            <a:avLst/>
          </a:prstGeom>
          <a:noFill/>
          <a:ln/>
        </p:spPr>
        <p:txBody>
          <a:bodyPr wrap="square" lIns="0" tIns="0" rIns="0" bIns="0" rtlCol="0" anchor="t"/>
          <a:lstStyle/>
          <a:p>
            <a:pPr marL="0" indent="0">
              <a:buNone/>
            </a:pPr>
            <a:r>
              <a:rPr lang="fr-FR" sz="1050" b="1" i="1" dirty="0">
                <a:solidFill>
                  <a:srgbClr val="00704A"/>
                </a:solidFill>
                <a:latin typeface="Calibri" pitchFamily="34" charset="0"/>
                <a:ea typeface="Calibri" pitchFamily="34" charset="-122"/>
                <a:cs typeface="Calibri" pitchFamily="34" charset="-120"/>
              </a:rPr>
              <a:t>Choix recommandé</a:t>
            </a:r>
            <a:endParaRPr lang="fr-FR" sz="1050" dirty="0"/>
          </a:p>
        </p:txBody>
      </p:sp>
      <p:sp>
        <p:nvSpPr>
          <p:cNvPr id="32" name="Shape 29"/>
          <p:cNvSpPr/>
          <p:nvPr/>
        </p:nvSpPr>
        <p:spPr>
          <a:xfrm>
            <a:off x="4297680" y="3154680"/>
            <a:ext cx="3593592" cy="2514600"/>
          </a:xfrm>
          <a:prstGeom prst="roundRect">
            <a:avLst>
              <a:gd name="adj" fmla="val 2909"/>
            </a:avLst>
          </a:prstGeom>
          <a:solidFill>
            <a:srgbClr val="F4F7F5"/>
          </a:solidFill>
          <a:ln w="9525">
            <a:solidFill>
              <a:srgbClr val="D5DED9"/>
            </a:solidFill>
            <a:prstDash val="solid"/>
          </a:ln>
        </p:spPr>
      </p:sp>
      <p:sp>
        <p:nvSpPr>
          <p:cNvPr id="33" name="Shape 30"/>
          <p:cNvSpPr/>
          <p:nvPr/>
        </p:nvSpPr>
        <p:spPr>
          <a:xfrm>
            <a:off x="4480560" y="3337560"/>
            <a:ext cx="457200" cy="457200"/>
          </a:xfrm>
          <a:prstGeom prst="ellipse">
            <a:avLst/>
          </a:prstGeom>
          <a:solidFill>
            <a:srgbClr val="00A86A"/>
          </a:solidFill>
          <a:ln w="12700">
            <a:solidFill>
              <a:srgbClr val="00A86A"/>
            </a:solidFill>
            <a:prstDash val="solid"/>
          </a:ln>
        </p:spPr>
      </p:sp>
      <p:sp>
        <p:nvSpPr>
          <p:cNvPr id="34" name="Text 31"/>
          <p:cNvSpPr txBox="1"/>
          <p:nvPr/>
        </p:nvSpPr>
        <p:spPr>
          <a:xfrm>
            <a:off x="4480560" y="3337560"/>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2</a:t>
            </a:r>
            <a:endParaRPr lang="fr-FR" sz="1300" dirty="0"/>
          </a:p>
        </p:txBody>
      </p:sp>
      <p:sp>
        <p:nvSpPr>
          <p:cNvPr id="35" name="Text 32"/>
          <p:cNvSpPr txBox="1"/>
          <p:nvPr/>
        </p:nvSpPr>
        <p:spPr>
          <a:xfrm>
            <a:off x="5074920" y="3337560"/>
            <a:ext cx="2697480" cy="45720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Un produit harmonisé publié</a:t>
            </a:r>
            <a:endParaRPr lang="fr-FR" sz="1350" dirty="0"/>
          </a:p>
        </p:txBody>
      </p:sp>
      <p:sp>
        <p:nvSpPr>
          <p:cNvPr id="36" name="Text 33"/>
          <p:cNvSpPr txBox="1"/>
          <p:nvPr/>
        </p:nvSpPr>
        <p:spPr>
          <a:xfrm>
            <a:off x="4498848" y="3931920"/>
            <a:ext cx="3200400" cy="123444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Ex. Li et al. (2020), série type DMSP 1992–2018 ; Chen et al. (2021), série type VIIRS 2000–2018. Ce sont des sorties de modèles — à citer comme estimations.</a:t>
            </a:r>
            <a:endParaRPr lang="fr-FR" sz="1250" dirty="0"/>
          </a:p>
        </p:txBody>
      </p:sp>
      <p:sp>
        <p:nvSpPr>
          <p:cNvPr id="37" name="Text 34"/>
          <p:cNvSpPr txBox="1"/>
          <p:nvPr/>
        </p:nvSpPr>
        <p:spPr>
          <a:xfrm>
            <a:off x="4498848" y="5212080"/>
            <a:ext cx="3200400" cy="274320"/>
          </a:xfrm>
          <a:prstGeom prst="rect">
            <a:avLst/>
          </a:prstGeom>
          <a:noFill/>
          <a:ln/>
        </p:spPr>
        <p:txBody>
          <a:bodyPr wrap="square" lIns="0" tIns="0" rIns="0" bIns="0" rtlCol="0" anchor="t"/>
          <a:lstStyle/>
          <a:p>
            <a:pPr marL="0" indent="0">
              <a:buNone/>
            </a:pPr>
            <a:r>
              <a:rPr lang="fr-FR" sz="1050" b="1" i="1" dirty="0">
                <a:solidFill>
                  <a:srgbClr val="00A86A"/>
                </a:solidFill>
                <a:latin typeface="Calibri" pitchFamily="34" charset="0"/>
                <a:ea typeface="Calibri" pitchFamily="34" charset="-122"/>
                <a:cs typeface="Calibri" pitchFamily="34" charset="-120"/>
              </a:rPr>
              <a:t>Pour le long terme</a:t>
            </a:r>
            <a:endParaRPr lang="fr-FR" sz="1050" dirty="0"/>
          </a:p>
        </p:txBody>
      </p:sp>
      <p:sp>
        <p:nvSpPr>
          <p:cNvPr id="38" name="Shape 35"/>
          <p:cNvSpPr/>
          <p:nvPr/>
        </p:nvSpPr>
        <p:spPr>
          <a:xfrm>
            <a:off x="8046720" y="3154680"/>
            <a:ext cx="3593592" cy="2514600"/>
          </a:xfrm>
          <a:prstGeom prst="roundRect">
            <a:avLst>
              <a:gd name="adj" fmla="val 2909"/>
            </a:avLst>
          </a:prstGeom>
          <a:solidFill>
            <a:srgbClr val="F4F7F5"/>
          </a:solidFill>
          <a:ln w="9525">
            <a:solidFill>
              <a:srgbClr val="D5DED9"/>
            </a:solidFill>
            <a:prstDash val="solid"/>
          </a:ln>
        </p:spPr>
      </p:sp>
      <p:sp>
        <p:nvSpPr>
          <p:cNvPr id="39" name="Shape 36"/>
          <p:cNvSpPr/>
          <p:nvPr/>
        </p:nvSpPr>
        <p:spPr>
          <a:xfrm>
            <a:off x="8229600" y="3337560"/>
            <a:ext cx="457200" cy="457200"/>
          </a:xfrm>
          <a:prstGeom prst="ellipse">
            <a:avLst/>
          </a:prstGeom>
          <a:solidFill>
            <a:srgbClr val="A87700"/>
          </a:solidFill>
          <a:ln w="12700">
            <a:solidFill>
              <a:srgbClr val="A87700"/>
            </a:solidFill>
            <a:prstDash val="solid"/>
          </a:ln>
        </p:spPr>
      </p:sp>
      <p:sp>
        <p:nvSpPr>
          <p:cNvPr id="40" name="Text 37"/>
          <p:cNvSpPr txBox="1"/>
          <p:nvPr/>
        </p:nvSpPr>
        <p:spPr>
          <a:xfrm>
            <a:off x="8229600" y="3337560"/>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3</a:t>
            </a:r>
            <a:endParaRPr lang="fr-FR" sz="1300" dirty="0"/>
          </a:p>
        </p:txBody>
      </p:sp>
      <p:sp>
        <p:nvSpPr>
          <p:cNvPr id="41" name="Text 38"/>
          <p:cNvSpPr txBox="1"/>
          <p:nvPr/>
        </p:nvSpPr>
        <p:spPr>
          <a:xfrm>
            <a:off x="8823960" y="3337560"/>
            <a:ext cx="2697480" cy="45720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Raccorder les taux de croissance</a:t>
            </a:r>
            <a:endParaRPr lang="fr-FR" sz="1350" dirty="0"/>
          </a:p>
        </p:txBody>
      </p:sp>
      <p:sp>
        <p:nvSpPr>
          <p:cNvPr id="42" name="Text 39"/>
          <p:cNvSpPr txBox="1"/>
          <p:nvPr/>
        </p:nvSpPr>
        <p:spPr>
          <a:xfrm>
            <a:off x="8247888" y="3931920"/>
            <a:ext cx="3200400" cy="123444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Croissance DMSP avant 2013, VIIRS après, raccordées sur le chevauchement. Documenter la méthode et la tester contre une alternative.</a:t>
            </a:r>
            <a:endParaRPr lang="fr-FR" sz="1250" dirty="0"/>
          </a:p>
        </p:txBody>
      </p:sp>
      <p:sp>
        <p:nvSpPr>
          <p:cNvPr id="43" name="Text 40"/>
          <p:cNvSpPr txBox="1"/>
          <p:nvPr/>
        </p:nvSpPr>
        <p:spPr>
          <a:xfrm>
            <a:off x="8247888" y="5212080"/>
            <a:ext cx="3200400" cy="274320"/>
          </a:xfrm>
          <a:prstGeom prst="rect">
            <a:avLst/>
          </a:prstGeom>
          <a:noFill/>
          <a:ln/>
        </p:spPr>
        <p:txBody>
          <a:bodyPr wrap="square" lIns="0" tIns="0" rIns="0" bIns="0" rtlCol="0" anchor="t"/>
          <a:lstStyle/>
          <a:p>
            <a:pPr marL="0" indent="0">
              <a:buNone/>
            </a:pPr>
            <a:r>
              <a:rPr lang="fr-FR" sz="1050" b="1" i="1" dirty="0">
                <a:solidFill>
                  <a:srgbClr val="A87700"/>
                </a:solidFill>
                <a:latin typeface="Calibri" pitchFamily="34" charset="0"/>
                <a:ea typeface="Calibri" pitchFamily="34" charset="-122"/>
                <a:cs typeface="Calibri" pitchFamily="34" charset="-120"/>
              </a:rPr>
              <a:t>Avec documentation</a:t>
            </a:r>
            <a:endParaRPr lang="fr-FR"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Vallée et delta du Nil  ·  Rendu illustratif : populations des localités GeoNames, frontières Natural Earth</a:t>
            </a:r>
            <a:endParaRPr lang="fr-FR"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fr-FR" sz="1100" b="1" kern="0" spc="300" dirty="0">
                <a:solidFill>
                  <a:srgbClr val="7BCBA9"/>
                </a:solidFill>
                <a:latin typeface="Calibri" pitchFamily="34" charset="0"/>
                <a:ea typeface="Calibri" pitchFamily="34" charset="-122"/>
                <a:cs typeface="Calibri" pitchFamily="34" charset="-120"/>
              </a:rPr>
              <a:t>SECTION 3</a:t>
            </a:r>
            <a:endParaRPr lang="fr-FR"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fr-FR" sz="8000" b="1" dirty="0">
                <a:solidFill>
                  <a:srgbClr val="F5C242"/>
                </a:solidFill>
                <a:latin typeface="Calibri" pitchFamily="34" charset="0"/>
                <a:ea typeface="Calibri" pitchFamily="34" charset="-122"/>
                <a:cs typeface="Calibri" pitchFamily="34" charset="-120"/>
              </a:rPr>
              <a:t>03</a:t>
            </a:r>
            <a:endParaRPr lang="fr-FR"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fr-FR" sz="3800" b="1" dirty="0">
                <a:solidFill>
                  <a:srgbClr val="FFFFFF"/>
                </a:solidFill>
                <a:latin typeface="Calibri" pitchFamily="34" charset="0"/>
                <a:ea typeface="Calibri" pitchFamily="34" charset="-122"/>
                <a:cs typeface="Calibri" pitchFamily="34" charset="-120"/>
              </a:rPr>
              <a:t>Des photons aux données</a:t>
            </a:r>
            <a:endParaRPr lang="fr-FR"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fr-FR" sz="1700" i="1" dirty="0">
                <a:solidFill>
                  <a:srgbClr val="CDE8DA"/>
                </a:solidFill>
                <a:latin typeface="Calibri" pitchFamily="34" charset="0"/>
                <a:ea typeface="Calibri" pitchFamily="34" charset="-122"/>
                <a:cs typeface="Calibri" pitchFamily="34" charset="-120"/>
              </a:rPr>
              <a:t>Comment une nuit d’observations devient-elle un chiffre publiable ?</a:t>
            </a:r>
            <a:endParaRPr lang="fr-FR"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fr-FR" sz="1200" dirty="0">
                <a:solidFill>
                  <a:srgbClr val="A9D3BE"/>
                </a:solidFill>
                <a:latin typeface="Calibri" pitchFamily="34" charset="0"/>
                <a:ea typeface="Calibri" pitchFamily="34" charset="-122"/>
                <a:cs typeface="Calibri" pitchFamily="34" charset="-120"/>
              </a:rPr>
              <a:t>Traitement  ·  Produits  ·  Accès  ·  Ce qui brille  ·  Artefacts  ·  Indicateurs  ·  Exemple</a:t>
            </a:r>
            <a:endParaRPr lang="fr-FR"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fr-FR" sz="1000" b="1" kern="0" spc="100" dirty="0">
                <a:solidFill>
                  <a:srgbClr val="00553A"/>
                </a:solidFill>
                <a:latin typeface="Calibri" pitchFamily="34" charset="0"/>
                <a:ea typeface="Calibri" pitchFamily="34" charset="-122"/>
                <a:cs typeface="Calibri" pitchFamily="34" charset="-120"/>
              </a:rPr>
              <a:t>SÉANCE A  ·  ≈ 6 MIN</a:t>
            </a:r>
            <a:endParaRPr lang="fr-FR"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dirty="0">
                <a:solidFill>
                  <a:srgbClr val="A9D3BE"/>
                </a:solidFill>
                <a:latin typeface="Calibri" pitchFamily="34" charset="0"/>
                <a:ea typeface="Calibri" pitchFamily="34" charset="-122"/>
                <a:cs typeface="Calibri" pitchFamily="34" charset="-120"/>
              </a:rPr>
              <a:t>19</a:t>
            </a:r>
            <a:endParaRPr lang="fr-FR"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MÉTHODE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Comment se fabrique une image de lumières nocturnes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20</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Sources : Román et al. (2018) ; page produit NASA LAADS DAAC VNP46A2, collection 2.</a:t>
            </a:r>
            <a:endParaRPr lang="fr-FR" sz="850" dirty="0"/>
          </a:p>
        </p:txBody>
      </p:sp>
      <p:sp>
        <p:nvSpPr>
          <p:cNvPr id="13" name="Shape 10"/>
          <p:cNvSpPr/>
          <p:nvPr/>
        </p:nvSpPr>
        <p:spPr>
          <a:xfrm>
            <a:off x="548640" y="1371600"/>
            <a:ext cx="2103120" cy="2514600"/>
          </a:xfrm>
          <a:prstGeom prst="roundRect">
            <a:avLst>
              <a:gd name="adj" fmla="val 3478"/>
            </a:avLst>
          </a:prstGeom>
          <a:solidFill>
            <a:srgbClr val="F4F7F5"/>
          </a:solidFill>
          <a:ln w="9525">
            <a:solidFill>
              <a:srgbClr val="D5DED9"/>
            </a:solidFill>
            <a:prstDash val="solid"/>
          </a:ln>
        </p:spPr>
      </p:sp>
      <p:sp>
        <p:nvSpPr>
          <p:cNvPr id="14" name="Shape 11"/>
          <p:cNvSpPr/>
          <p:nvPr/>
        </p:nvSpPr>
        <p:spPr>
          <a:xfrm>
            <a:off x="713232" y="1536192"/>
            <a:ext cx="384048" cy="384048"/>
          </a:xfrm>
          <a:prstGeom prst="ellipse">
            <a:avLst/>
          </a:prstGeom>
          <a:solidFill>
            <a:srgbClr val="00704A"/>
          </a:solidFill>
          <a:ln w="12700">
            <a:solidFill>
              <a:srgbClr val="00704A"/>
            </a:solidFill>
            <a:prstDash val="solid"/>
          </a:ln>
        </p:spPr>
      </p:sp>
      <p:sp>
        <p:nvSpPr>
          <p:cNvPr id="15" name="Text 12"/>
          <p:cNvSpPr txBox="1"/>
          <p:nvPr/>
        </p:nvSpPr>
        <p:spPr>
          <a:xfrm>
            <a:off x="713232" y="1536192"/>
            <a:ext cx="384048" cy="384048"/>
          </a:xfrm>
          <a:prstGeom prst="rect">
            <a:avLst/>
          </a:prstGeom>
          <a:noFill/>
          <a:ln/>
        </p:spPr>
        <p:txBody>
          <a:bodyPr wrap="square" lIns="0" tIns="0" rIns="0" bIns="0" rtlCol="0" anchor="ctr"/>
          <a:lstStyle/>
          <a:p>
            <a:pPr marL="0" indent="0" algn="ctr">
              <a:buNone/>
            </a:pPr>
            <a:r>
              <a:rPr lang="fr-FR" sz="1092" b="1" dirty="0">
                <a:solidFill>
                  <a:srgbClr val="FFFFFF"/>
                </a:solidFill>
                <a:latin typeface="Calibri" pitchFamily="34" charset="0"/>
                <a:ea typeface="Calibri" pitchFamily="34" charset="-122"/>
                <a:cs typeface="Calibri" pitchFamily="34" charset="-120"/>
              </a:rPr>
              <a:t>1</a:t>
            </a:r>
            <a:endParaRPr lang="fr-FR" sz="1092" dirty="0"/>
          </a:p>
        </p:txBody>
      </p:sp>
      <p:sp>
        <p:nvSpPr>
          <p:cNvPr id="16" name="Shape 13"/>
          <p:cNvSpPr/>
          <p:nvPr/>
        </p:nvSpPr>
        <p:spPr>
          <a:xfrm>
            <a:off x="1234440" y="1874520"/>
            <a:ext cx="731520" cy="731520"/>
          </a:xfrm>
          <a:prstGeom prst="ellipse">
            <a:avLst/>
          </a:prstGeom>
          <a:solidFill>
            <a:srgbClr val="E8F5EF"/>
          </a:solidFill>
          <a:ln w="12700">
            <a:solidFill>
              <a:srgbClr val="E8F5EF"/>
            </a:solidFill>
            <a:prstDash val="solid"/>
          </a:ln>
        </p:spPr>
      </p:sp>
      <p:pic>
        <p:nvPicPr>
          <p:cNvPr id="17" name="Image 1" descr="preencoded.png"/>
          <p:cNvPicPr>
            <a:picLocks noChangeAspect="1"/>
          </p:cNvPicPr>
          <p:nvPr/>
        </p:nvPicPr>
        <p:blipFill>
          <a:blip r:embed="rId4"/>
          <a:stretch>
            <a:fillRect/>
          </a:stretch>
        </p:blipFill>
        <p:spPr>
          <a:xfrm>
            <a:off x="1424635" y="2064715"/>
            <a:ext cx="351130" cy="351130"/>
          </a:xfrm>
          <a:prstGeom prst="rect">
            <a:avLst/>
          </a:prstGeom>
        </p:spPr>
      </p:pic>
      <p:sp>
        <p:nvSpPr>
          <p:cNvPr id="18" name="Text 14"/>
          <p:cNvSpPr txBox="1"/>
          <p:nvPr/>
        </p:nvSpPr>
        <p:spPr>
          <a:xfrm>
            <a:off x="685800" y="2697480"/>
            <a:ext cx="1828800" cy="320040"/>
          </a:xfrm>
          <a:prstGeom prst="rect">
            <a:avLst/>
          </a:prstGeom>
          <a:noFill/>
          <a:ln/>
        </p:spPr>
        <p:txBody>
          <a:bodyPr wrap="square" lIns="0" tIns="0" rIns="0" bIns="0" rtlCol="0" anchor="t"/>
          <a:lstStyle/>
          <a:p>
            <a:pPr marL="0" indent="0" algn="ctr">
              <a:buNone/>
            </a:pPr>
            <a:r>
              <a:rPr lang="fr-FR" sz="1350" b="1" dirty="0">
                <a:solidFill>
                  <a:srgbClr val="00704A"/>
                </a:solidFill>
                <a:latin typeface="Calibri" pitchFamily="34" charset="0"/>
                <a:ea typeface="Calibri" pitchFamily="34" charset="-122"/>
                <a:cs typeface="Calibri" pitchFamily="34" charset="-120"/>
              </a:rPr>
              <a:t>Filtrer les nuages</a:t>
            </a:r>
            <a:endParaRPr lang="fr-FR" sz="1350" dirty="0"/>
          </a:p>
        </p:txBody>
      </p:sp>
      <p:sp>
        <p:nvSpPr>
          <p:cNvPr id="19" name="Text 15"/>
          <p:cNvSpPr txBox="1"/>
          <p:nvPr/>
        </p:nvSpPr>
        <p:spPr>
          <a:xfrm>
            <a:off x="713232" y="3063240"/>
            <a:ext cx="1773936" cy="77724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Seules les nuits sans nuages entrent dans un composite. Sous les tropiques humides, la plupart peuvent être écartées.</a:t>
            </a:r>
            <a:endParaRPr lang="fr-FR" sz="1100" dirty="0"/>
          </a:p>
        </p:txBody>
      </p:sp>
      <p:sp>
        <p:nvSpPr>
          <p:cNvPr id="20" name="Shape 16"/>
          <p:cNvSpPr/>
          <p:nvPr/>
        </p:nvSpPr>
        <p:spPr>
          <a:xfrm>
            <a:off x="2793492" y="1371600"/>
            <a:ext cx="2103120" cy="2514600"/>
          </a:xfrm>
          <a:prstGeom prst="roundRect">
            <a:avLst>
              <a:gd name="adj" fmla="val 3478"/>
            </a:avLst>
          </a:prstGeom>
          <a:solidFill>
            <a:srgbClr val="F4F7F5"/>
          </a:solidFill>
          <a:ln w="9525">
            <a:solidFill>
              <a:srgbClr val="D5DED9"/>
            </a:solidFill>
            <a:prstDash val="solid"/>
          </a:ln>
        </p:spPr>
      </p:sp>
      <p:sp>
        <p:nvSpPr>
          <p:cNvPr id="21" name="Shape 17"/>
          <p:cNvSpPr/>
          <p:nvPr/>
        </p:nvSpPr>
        <p:spPr>
          <a:xfrm>
            <a:off x="2958084" y="1536192"/>
            <a:ext cx="384048" cy="384048"/>
          </a:xfrm>
          <a:prstGeom prst="ellipse">
            <a:avLst/>
          </a:prstGeom>
          <a:solidFill>
            <a:srgbClr val="00704A"/>
          </a:solidFill>
          <a:ln w="12700">
            <a:solidFill>
              <a:srgbClr val="00704A"/>
            </a:solidFill>
            <a:prstDash val="solid"/>
          </a:ln>
        </p:spPr>
      </p:sp>
      <p:sp>
        <p:nvSpPr>
          <p:cNvPr id="22" name="Text 18"/>
          <p:cNvSpPr txBox="1"/>
          <p:nvPr/>
        </p:nvSpPr>
        <p:spPr>
          <a:xfrm>
            <a:off x="2958084" y="1536192"/>
            <a:ext cx="384048" cy="384048"/>
          </a:xfrm>
          <a:prstGeom prst="rect">
            <a:avLst/>
          </a:prstGeom>
          <a:noFill/>
          <a:ln/>
        </p:spPr>
        <p:txBody>
          <a:bodyPr wrap="square" lIns="0" tIns="0" rIns="0" bIns="0" rtlCol="0" anchor="ctr"/>
          <a:lstStyle/>
          <a:p>
            <a:pPr marL="0" indent="0" algn="ctr">
              <a:buNone/>
            </a:pPr>
            <a:r>
              <a:rPr lang="fr-FR" sz="1092" b="1" dirty="0">
                <a:solidFill>
                  <a:srgbClr val="FFFFFF"/>
                </a:solidFill>
                <a:latin typeface="Calibri" pitchFamily="34" charset="0"/>
                <a:ea typeface="Calibri" pitchFamily="34" charset="-122"/>
                <a:cs typeface="Calibri" pitchFamily="34" charset="-120"/>
              </a:rPr>
              <a:t>2</a:t>
            </a:r>
            <a:endParaRPr lang="fr-FR" sz="1092" dirty="0"/>
          </a:p>
        </p:txBody>
      </p:sp>
      <p:sp>
        <p:nvSpPr>
          <p:cNvPr id="23" name="Shape 19"/>
          <p:cNvSpPr/>
          <p:nvPr/>
        </p:nvSpPr>
        <p:spPr>
          <a:xfrm>
            <a:off x="3479292" y="1874520"/>
            <a:ext cx="731520" cy="731520"/>
          </a:xfrm>
          <a:prstGeom prst="ellipse">
            <a:avLst/>
          </a:prstGeom>
          <a:solidFill>
            <a:srgbClr val="E8F5EF"/>
          </a:solidFill>
          <a:ln w="12700">
            <a:solidFill>
              <a:srgbClr val="E8F5EF"/>
            </a:solidFill>
            <a:prstDash val="solid"/>
          </a:ln>
        </p:spPr>
      </p:sp>
      <p:pic>
        <p:nvPicPr>
          <p:cNvPr id="24" name="Image 2" descr="preencoded.png"/>
          <p:cNvPicPr>
            <a:picLocks noChangeAspect="1"/>
          </p:cNvPicPr>
          <p:nvPr/>
        </p:nvPicPr>
        <p:blipFill>
          <a:blip r:embed="rId5"/>
          <a:stretch>
            <a:fillRect/>
          </a:stretch>
        </p:blipFill>
        <p:spPr>
          <a:xfrm>
            <a:off x="3669487" y="2064715"/>
            <a:ext cx="351130" cy="351130"/>
          </a:xfrm>
          <a:prstGeom prst="rect">
            <a:avLst/>
          </a:prstGeom>
        </p:spPr>
      </p:pic>
      <p:sp>
        <p:nvSpPr>
          <p:cNvPr id="25" name="Text 20"/>
          <p:cNvSpPr txBox="1"/>
          <p:nvPr/>
        </p:nvSpPr>
        <p:spPr>
          <a:xfrm>
            <a:off x="2930652" y="2697480"/>
            <a:ext cx="1828800" cy="320040"/>
          </a:xfrm>
          <a:prstGeom prst="rect">
            <a:avLst/>
          </a:prstGeom>
          <a:noFill/>
          <a:ln/>
        </p:spPr>
        <p:txBody>
          <a:bodyPr wrap="square" lIns="0" tIns="0" rIns="0" bIns="0" rtlCol="0" anchor="t"/>
          <a:lstStyle/>
          <a:p>
            <a:pPr marL="0" indent="0" algn="ctr">
              <a:buNone/>
            </a:pPr>
            <a:r>
              <a:rPr lang="fr-FR" sz="1350" b="1" dirty="0">
                <a:solidFill>
                  <a:srgbClr val="00704A"/>
                </a:solidFill>
                <a:latin typeface="Calibri" pitchFamily="34" charset="0"/>
                <a:ea typeface="Calibri" pitchFamily="34" charset="-122"/>
                <a:cs typeface="Calibri" pitchFamily="34" charset="-120"/>
              </a:rPr>
              <a:t>Retirer la lumière solaire</a:t>
            </a:r>
            <a:endParaRPr lang="fr-FR" sz="1350" dirty="0"/>
          </a:p>
        </p:txBody>
      </p:sp>
      <p:sp>
        <p:nvSpPr>
          <p:cNvPr id="26" name="Text 21"/>
          <p:cNvSpPr txBox="1"/>
          <p:nvPr/>
        </p:nvSpPr>
        <p:spPr>
          <a:xfrm>
            <a:off x="2958084" y="3063240"/>
            <a:ext cx="1773936" cy="77724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Crépuscule, reflets et lumière parasite de l’instrument sont corrigés ou exclus.</a:t>
            </a:r>
            <a:endParaRPr lang="fr-FR" sz="1100" dirty="0"/>
          </a:p>
        </p:txBody>
      </p:sp>
      <p:sp>
        <p:nvSpPr>
          <p:cNvPr id="27" name="Shape 22"/>
          <p:cNvSpPr/>
          <p:nvPr/>
        </p:nvSpPr>
        <p:spPr>
          <a:xfrm>
            <a:off x="5038344" y="1371600"/>
            <a:ext cx="2103120" cy="2514600"/>
          </a:xfrm>
          <a:prstGeom prst="roundRect">
            <a:avLst>
              <a:gd name="adj" fmla="val 3478"/>
            </a:avLst>
          </a:prstGeom>
          <a:solidFill>
            <a:srgbClr val="F4F7F5"/>
          </a:solidFill>
          <a:ln w="9525">
            <a:solidFill>
              <a:srgbClr val="D5DED9"/>
            </a:solidFill>
            <a:prstDash val="solid"/>
          </a:ln>
        </p:spPr>
      </p:sp>
      <p:sp>
        <p:nvSpPr>
          <p:cNvPr id="28" name="Shape 23"/>
          <p:cNvSpPr/>
          <p:nvPr/>
        </p:nvSpPr>
        <p:spPr>
          <a:xfrm>
            <a:off x="5202936" y="1536192"/>
            <a:ext cx="384048" cy="384048"/>
          </a:xfrm>
          <a:prstGeom prst="ellipse">
            <a:avLst/>
          </a:prstGeom>
          <a:solidFill>
            <a:srgbClr val="00704A"/>
          </a:solidFill>
          <a:ln w="12700">
            <a:solidFill>
              <a:srgbClr val="00704A"/>
            </a:solidFill>
            <a:prstDash val="solid"/>
          </a:ln>
        </p:spPr>
      </p:sp>
      <p:sp>
        <p:nvSpPr>
          <p:cNvPr id="29" name="Text 24"/>
          <p:cNvSpPr txBox="1"/>
          <p:nvPr/>
        </p:nvSpPr>
        <p:spPr>
          <a:xfrm>
            <a:off x="5202936" y="1536192"/>
            <a:ext cx="384048" cy="384048"/>
          </a:xfrm>
          <a:prstGeom prst="rect">
            <a:avLst/>
          </a:prstGeom>
          <a:noFill/>
          <a:ln/>
        </p:spPr>
        <p:txBody>
          <a:bodyPr wrap="square" lIns="0" tIns="0" rIns="0" bIns="0" rtlCol="0" anchor="ctr"/>
          <a:lstStyle/>
          <a:p>
            <a:pPr marL="0" indent="0" algn="ctr">
              <a:buNone/>
            </a:pPr>
            <a:r>
              <a:rPr lang="fr-FR" sz="1092" b="1" dirty="0">
                <a:solidFill>
                  <a:srgbClr val="FFFFFF"/>
                </a:solidFill>
                <a:latin typeface="Calibri" pitchFamily="34" charset="0"/>
                <a:ea typeface="Calibri" pitchFamily="34" charset="-122"/>
                <a:cs typeface="Calibri" pitchFamily="34" charset="-120"/>
              </a:rPr>
              <a:t>3</a:t>
            </a:r>
            <a:endParaRPr lang="fr-FR" sz="1092" dirty="0"/>
          </a:p>
        </p:txBody>
      </p:sp>
      <p:sp>
        <p:nvSpPr>
          <p:cNvPr id="30" name="Shape 25"/>
          <p:cNvSpPr/>
          <p:nvPr/>
        </p:nvSpPr>
        <p:spPr>
          <a:xfrm>
            <a:off x="5724144" y="1874520"/>
            <a:ext cx="731520" cy="731520"/>
          </a:xfrm>
          <a:prstGeom prst="ellipse">
            <a:avLst/>
          </a:prstGeom>
          <a:solidFill>
            <a:srgbClr val="E8F5EF"/>
          </a:solidFill>
          <a:ln w="12700">
            <a:solidFill>
              <a:srgbClr val="E8F5EF"/>
            </a:solidFill>
            <a:prstDash val="solid"/>
          </a:ln>
        </p:spPr>
      </p:sp>
      <p:pic>
        <p:nvPicPr>
          <p:cNvPr id="31" name="Image 3" descr="preencoded.png"/>
          <p:cNvPicPr>
            <a:picLocks noChangeAspect="1"/>
          </p:cNvPicPr>
          <p:nvPr/>
        </p:nvPicPr>
        <p:blipFill>
          <a:blip r:embed="rId6"/>
          <a:stretch>
            <a:fillRect/>
          </a:stretch>
        </p:blipFill>
        <p:spPr>
          <a:xfrm>
            <a:off x="5914339" y="2064715"/>
            <a:ext cx="351130" cy="351130"/>
          </a:xfrm>
          <a:prstGeom prst="rect">
            <a:avLst/>
          </a:prstGeom>
        </p:spPr>
      </p:pic>
      <p:sp>
        <p:nvSpPr>
          <p:cNvPr id="32" name="Text 26"/>
          <p:cNvSpPr txBox="1"/>
          <p:nvPr/>
        </p:nvSpPr>
        <p:spPr>
          <a:xfrm>
            <a:off x="5175504" y="2697480"/>
            <a:ext cx="1828800" cy="320040"/>
          </a:xfrm>
          <a:prstGeom prst="rect">
            <a:avLst/>
          </a:prstGeom>
          <a:noFill/>
          <a:ln/>
        </p:spPr>
        <p:txBody>
          <a:bodyPr wrap="square" lIns="0" tIns="0" rIns="0" bIns="0" rtlCol="0" anchor="t"/>
          <a:lstStyle/>
          <a:p>
            <a:pPr marL="0" indent="0" algn="ctr">
              <a:buNone/>
            </a:pPr>
            <a:r>
              <a:rPr lang="fr-FR" sz="1350" b="1" dirty="0">
                <a:solidFill>
                  <a:srgbClr val="00704A"/>
                </a:solidFill>
                <a:latin typeface="Calibri" pitchFamily="34" charset="0"/>
                <a:ea typeface="Calibri" pitchFamily="34" charset="-122"/>
                <a:cs typeface="Calibri" pitchFamily="34" charset="-120"/>
              </a:rPr>
              <a:t>Corriger l’effet de la Lune</a:t>
            </a:r>
            <a:endParaRPr lang="fr-FR" sz="1350" dirty="0"/>
          </a:p>
        </p:txBody>
      </p:sp>
      <p:sp>
        <p:nvSpPr>
          <p:cNvPr id="33" name="Text 27"/>
          <p:cNvSpPr txBox="1"/>
          <p:nvPr/>
        </p:nvSpPr>
        <p:spPr>
          <a:xfrm>
            <a:off x="5202936" y="3063240"/>
            <a:ext cx="1773936" cy="77724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Le clair de lune réfléchi par le sol imite la lumière émise ; il est modélisé et retiré.</a:t>
            </a:r>
            <a:endParaRPr lang="fr-FR" sz="1100" dirty="0"/>
          </a:p>
        </p:txBody>
      </p:sp>
      <p:sp>
        <p:nvSpPr>
          <p:cNvPr id="34" name="Shape 28"/>
          <p:cNvSpPr/>
          <p:nvPr/>
        </p:nvSpPr>
        <p:spPr>
          <a:xfrm>
            <a:off x="7283196" y="1371600"/>
            <a:ext cx="2103120" cy="2514600"/>
          </a:xfrm>
          <a:prstGeom prst="roundRect">
            <a:avLst>
              <a:gd name="adj" fmla="val 3478"/>
            </a:avLst>
          </a:prstGeom>
          <a:solidFill>
            <a:srgbClr val="F4F7F5"/>
          </a:solidFill>
          <a:ln w="9525">
            <a:solidFill>
              <a:srgbClr val="D5DED9"/>
            </a:solidFill>
            <a:prstDash val="solid"/>
          </a:ln>
        </p:spPr>
      </p:sp>
      <p:sp>
        <p:nvSpPr>
          <p:cNvPr id="35" name="Shape 29"/>
          <p:cNvSpPr/>
          <p:nvPr/>
        </p:nvSpPr>
        <p:spPr>
          <a:xfrm>
            <a:off x="7447788" y="1536192"/>
            <a:ext cx="384048" cy="384048"/>
          </a:xfrm>
          <a:prstGeom prst="ellipse">
            <a:avLst/>
          </a:prstGeom>
          <a:solidFill>
            <a:srgbClr val="00704A"/>
          </a:solidFill>
          <a:ln w="12700">
            <a:solidFill>
              <a:srgbClr val="00704A"/>
            </a:solidFill>
            <a:prstDash val="solid"/>
          </a:ln>
        </p:spPr>
      </p:sp>
      <p:sp>
        <p:nvSpPr>
          <p:cNvPr id="36" name="Text 30"/>
          <p:cNvSpPr txBox="1"/>
          <p:nvPr/>
        </p:nvSpPr>
        <p:spPr>
          <a:xfrm>
            <a:off x="7447788" y="1536192"/>
            <a:ext cx="384048" cy="384048"/>
          </a:xfrm>
          <a:prstGeom prst="rect">
            <a:avLst/>
          </a:prstGeom>
          <a:noFill/>
          <a:ln/>
        </p:spPr>
        <p:txBody>
          <a:bodyPr wrap="square" lIns="0" tIns="0" rIns="0" bIns="0" rtlCol="0" anchor="ctr"/>
          <a:lstStyle/>
          <a:p>
            <a:pPr marL="0" indent="0" algn="ctr">
              <a:buNone/>
            </a:pPr>
            <a:r>
              <a:rPr lang="fr-FR" sz="1092" b="1" dirty="0">
                <a:solidFill>
                  <a:srgbClr val="FFFFFF"/>
                </a:solidFill>
                <a:latin typeface="Calibri" pitchFamily="34" charset="0"/>
                <a:ea typeface="Calibri" pitchFamily="34" charset="-122"/>
                <a:cs typeface="Calibri" pitchFamily="34" charset="-120"/>
              </a:rPr>
              <a:t>4</a:t>
            </a:r>
            <a:endParaRPr lang="fr-FR" sz="1092" dirty="0"/>
          </a:p>
        </p:txBody>
      </p:sp>
      <p:sp>
        <p:nvSpPr>
          <p:cNvPr id="37" name="Shape 31"/>
          <p:cNvSpPr/>
          <p:nvPr/>
        </p:nvSpPr>
        <p:spPr>
          <a:xfrm>
            <a:off x="7968996" y="1874520"/>
            <a:ext cx="731520" cy="731520"/>
          </a:xfrm>
          <a:prstGeom prst="ellipse">
            <a:avLst/>
          </a:prstGeom>
          <a:solidFill>
            <a:srgbClr val="E8F5EF"/>
          </a:solidFill>
          <a:ln w="12700">
            <a:solidFill>
              <a:srgbClr val="E8F5EF"/>
            </a:solidFill>
            <a:prstDash val="solid"/>
          </a:ln>
        </p:spPr>
      </p:sp>
      <p:pic>
        <p:nvPicPr>
          <p:cNvPr id="38" name="Image 4" descr="preencoded.png"/>
          <p:cNvPicPr>
            <a:picLocks noChangeAspect="1"/>
          </p:cNvPicPr>
          <p:nvPr/>
        </p:nvPicPr>
        <p:blipFill>
          <a:blip r:embed="rId7"/>
          <a:stretch>
            <a:fillRect/>
          </a:stretch>
        </p:blipFill>
        <p:spPr>
          <a:xfrm>
            <a:off x="8159191" y="2064715"/>
            <a:ext cx="351130" cy="351130"/>
          </a:xfrm>
          <a:prstGeom prst="rect">
            <a:avLst/>
          </a:prstGeom>
        </p:spPr>
      </p:pic>
      <p:sp>
        <p:nvSpPr>
          <p:cNvPr id="39" name="Text 32"/>
          <p:cNvSpPr txBox="1"/>
          <p:nvPr/>
        </p:nvSpPr>
        <p:spPr>
          <a:xfrm>
            <a:off x="7420356" y="2697480"/>
            <a:ext cx="1828800" cy="320040"/>
          </a:xfrm>
          <a:prstGeom prst="rect">
            <a:avLst/>
          </a:prstGeom>
          <a:noFill/>
          <a:ln/>
        </p:spPr>
        <p:txBody>
          <a:bodyPr wrap="square" lIns="0" tIns="0" rIns="0" bIns="0" rtlCol="0" anchor="t"/>
          <a:lstStyle/>
          <a:p>
            <a:pPr marL="0" indent="0" algn="ctr">
              <a:buNone/>
            </a:pPr>
            <a:r>
              <a:rPr lang="fr-FR" sz="1350" b="1" dirty="0">
                <a:solidFill>
                  <a:srgbClr val="00704A"/>
                </a:solidFill>
                <a:latin typeface="Calibri" pitchFamily="34" charset="0"/>
                <a:ea typeface="Calibri" pitchFamily="34" charset="-122"/>
                <a:cs typeface="Calibri" pitchFamily="34" charset="-120"/>
              </a:rPr>
              <a:t>Filtrer les transitoires</a:t>
            </a:r>
            <a:endParaRPr lang="fr-FR" sz="1350" dirty="0"/>
          </a:p>
        </p:txBody>
      </p:sp>
      <p:sp>
        <p:nvSpPr>
          <p:cNvPr id="40" name="Text 33"/>
          <p:cNvSpPr txBox="1"/>
          <p:nvPr/>
        </p:nvSpPr>
        <p:spPr>
          <a:xfrm>
            <a:off x="7447788" y="3063240"/>
            <a:ext cx="1773936" cy="77724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Feux, éclairs, aurores et bateaux en mouvement sont repérés par leur instabilité.</a:t>
            </a:r>
            <a:endParaRPr lang="fr-FR" sz="1100" dirty="0"/>
          </a:p>
        </p:txBody>
      </p:sp>
      <p:sp>
        <p:nvSpPr>
          <p:cNvPr id="41" name="Shape 34"/>
          <p:cNvSpPr/>
          <p:nvPr/>
        </p:nvSpPr>
        <p:spPr>
          <a:xfrm>
            <a:off x="9528048" y="1371600"/>
            <a:ext cx="2103120" cy="2514600"/>
          </a:xfrm>
          <a:prstGeom prst="roundRect">
            <a:avLst>
              <a:gd name="adj" fmla="val 3478"/>
            </a:avLst>
          </a:prstGeom>
          <a:solidFill>
            <a:srgbClr val="F4F7F5"/>
          </a:solidFill>
          <a:ln w="9525">
            <a:solidFill>
              <a:srgbClr val="D5DED9"/>
            </a:solidFill>
            <a:prstDash val="solid"/>
          </a:ln>
        </p:spPr>
      </p:sp>
      <p:sp>
        <p:nvSpPr>
          <p:cNvPr id="42" name="Shape 35"/>
          <p:cNvSpPr/>
          <p:nvPr/>
        </p:nvSpPr>
        <p:spPr>
          <a:xfrm>
            <a:off x="9692640" y="1536192"/>
            <a:ext cx="384048" cy="384048"/>
          </a:xfrm>
          <a:prstGeom prst="ellipse">
            <a:avLst/>
          </a:prstGeom>
          <a:solidFill>
            <a:srgbClr val="00704A"/>
          </a:solidFill>
          <a:ln w="12700">
            <a:solidFill>
              <a:srgbClr val="00704A"/>
            </a:solidFill>
            <a:prstDash val="solid"/>
          </a:ln>
        </p:spPr>
      </p:sp>
      <p:sp>
        <p:nvSpPr>
          <p:cNvPr id="43" name="Text 36"/>
          <p:cNvSpPr txBox="1"/>
          <p:nvPr/>
        </p:nvSpPr>
        <p:spPr>
          <a:xfrm>
            <a:off x="9692640" y="1536192"/>
            <a:ext cx="384048" cy="384048"/>
          </a:xfrm>
          <a:prstGeom prst="rect">
            <a:avLst/>
          </a:prstGeom>
          <a:noFill/>
          <a:ln/>
        </p:spPr>
        <p:txBody>
          <a:bodyPr wrap="square" lIns="0" tIns="0" rIns="0" bIns="0" rtlCol="0" anchor="ctr"/>
          <a:lstStyle/>
          <a:p>
            <a:pPr marL="0" indent="0" algn="ctr">
              <a:buNone/>
            </a:pPr>
            <a:r>
              <a:rPr lang="fr-FR" sz="1092" b="1" dirty="0">
                <a:solidFill>
                  <a:srgbClr val="FFFFFF"/>
                </a:solidFill>
                <a:latin typeface="Calibri" pitchFamily="34" charset="0"/>
                <a:ea typeface="Calibri" pitchFamily="34" charset="-122"/>
                <a:cs typeface="Calibri" pitchFamily="34" charset="-120"/>
              </a:rPr>
              <a:t>5</a:t>
            </a:r>
            <a:endParaRPr lang="fr-FR" sz="1092" dirty="0"/>
          </a:p>
        </p:txBody>
      </p:sp>
      <p:sp>
        <p:nvSpPr>
          <p:cNvPr id="44" name="Shape 37"/>
          <p:cNvSpPr/>
          <p:nvPr/>
        </p:nvSpPr>
        <p:spPr>
          <a:xfrm>
            <a:off x="10213848" y="1874520"/>
            <a:ext cx="731520" cy="731520"/>
          </a:xfrm>
          <a:prstGeom prst="ellipse">
            <a:avLst/>
          </a:prstGeom>
          <a:solidFill>
            <a:srgbClr val="E8F5EF"/>
          </a:solidFill>
          <a:ln w="12700">
            <a:solidFill>
              <a:srgbClr val="E8F5EF"/>
            </a:solidFill>
            <a:prstDash val="solid"/>
          </a:ln>
        </p:spPr>
      </p:sp>
      <p:pic>
        <p:nvPicPr>
          <p:cNvPr id="45" name="Image 5" descr="preencoded.png"/>
          <p:cNvPicPr>
            <a:picLocks noChangeAspect="1"/>
          </p:cNvPicPr>
          <p:nvPr/>
        </p:nvPicPr>
        <p:blipFill>
          <a:blip r:embed="rId8"/>
          <a:stretch>
            <a:fillRect/>
          </a:stretch>
        </p:blipFill>
        <p:spPr>
          <a:xfrm>
            <a:off x="10404043" y="2064715"/>
            <a:ext cx="351130" cy="351130"/>
          </a:xfrm>
          <a:prstGeom prst="rect">
            <a:avLst/>
          </a:prstGeom>
        </p:spPr>
      </p:pic>
      <p:sp>
        <p:nvSpPr>
          <p:cNvPr id="46" name="Text 38"/>
          <p:cNvSpPr txBox="1"/>
          <p:nvPr/>
        </p:nvSpPr>
        <p:spPr>
          <a:xfrm>
            <a:off x="9665208" y="2697480"/>
            <a:ext cx="1828800" cy="320040"/>
          </a:xfrm>
          <a:prstGeom prst="rect">
            <a:avLst/>
          </a:prstGeom>
          <a:noFill/>
          <a:ln/>
        </p:spPr>
        <p:txBody>
          <a:bodyPr wrap="square" lIns="0" tIns="0" rIns="0" bIns="0" rtlCol="0" anchor="t"/>
          <a:lstStyle/>
          <a:p>
            <a:pPr marL="0" indent="0" algn="ctr">
              <a:buNone/>
            </a:pPr>
            <a:r>
              <a:rPr lang="fr-FR" sz="1350" b="1" dirty="0">
                <a:solidFill>
                  <a:srgbClr val="00704A"/>
                </a:solidFill>
                <a:latin typeface="Calibri" pitchFamily="34" charset="0"/>
                <a:ea typeface="Calibri" pitchFamily="34" charset="-122"/>
                <a:cs typeface="Calibri" pitchFamily="34" charset="-120"/>
              </a:rPr>
              <a:t>Composer et tuiler</a:t>
            </a:r>
            <a:endParaRPr lang="fr-FR" sz="1350" dirty="0"/>
          </a:p>
        </p:txBody>
      </p:sp>
      <p:sp>
        <p:nvSpPr>
          <p:cNvPr id="47" name="Text 39"/>
          <p:cNvSpPr txBox="1"/>
          <p:nvPr/>
        </p:nvSpPr>
        <p:spPr>
          <a:xfrm>
            <a:off x="9692640" y="3063240"/>
            <a:ext cx="1773936" cy="77724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Les nuits retenues sont moyennées en grille mensuelle ou annuelle, tuilée au niveau mondial.</a:t>
            </a:r>
            <a:endParaRPr lang="fr-FR" sz="1100" dirty="0"/>
          </a:p>
        </p:txBody>
      </p:sp>
      <p:sp>
        <p:nvSpPr>
          <p:cNvPr id="48" name="Shape 40"/>
          <p:cNvSpPr/>
          <p:nvPr/>
        </p:nvSpPr>
        <p:spPr>
          <a:xfrm>
            <a:off x="548640" y="4114800"/>
            <a:ext cx="6903720" cy="1691640"/>
          </a:xfrm>
          <a:prstGeom prst="roundRect">
            <a:avLst>
              <a:gd name="adj" fmla="val 4324"/>
            </a:avLst>
          </a:prstGeom>
          <a:solidFill>
            <a:srgbClr val="E8F5EF"/>
          </a:solidFill>
          <a:ln w="9525">
            <a:solidFill>
              <a:srgbClr val="00A86A"/>
            </a:solidFill>
            <a:prstDash val="solid"/>
          </a:ln>
        </p:spPr>
      </p:sp>
      <p:pic>
        <p:nvPicPr>
          <p:cNvPr id="49" name="Image 6" descr="preencoded.png"/>
          <p:cNvPicPr>
            <a:picLocks noChangeAspect="1"/>
          </p:cNvPicPr>
          <p:nvPr/>
        </p:nvPicPr>
        <p:blipFill>
          <a:blip r:embed="rId9"/>
          <a:stretch>
            <a:fillRect/>
          </a:stretch>
        </p:blipFill>
        <p:spPr>
          <a:xfrm>
            <a:off x="777240" y="4279392"/>
            <a:ext cx="347472" cy="347472"/>
          </a:xfrm>
          <a:prstGeom prst="rect">
            <a:avLst/>
          </a:prstGeom>
        </p:spPr>
      </p:pic>
      <p:sp>
        <p:nvSpPr>
          <p:cNvPr id="50" name="Text 41"/>
          <p:cNvSpPr txBox="1"/>
          <p:nvPr/>
        </p:nvSpPr>
        <p:spPr>
          <a:xfrm>
            <a:off x="1280160" y="4251960"/>
            <a:ext cx="5943600" cy="36576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Vous retrouverez ces étapes comme couches dans le labo A1</a:t>
            </a:r>
            <a:endParaRPr lang="fr-FR" sz="1350" dirty="0"/>
          </a:p>
        </p:txBody>
      </p:sp>
      <p:sp>
        <p:nvSpPr>
          <p:cNvPr id="51" name="Text 42"/>
          <p:cNvSpPr txBox="1"/>
          <p:nvPr/>
        </p:nvSpPr>
        <p:spPr>
          <a:xfrm>
            <a:off x="1280160" y="4617720"/>
            <a:ext cx="5989320" cy="109728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Black Marble VNP46A2 contient la radiance corrigée et ses justificatifs : masque nuageux, éclairement lunaire, indicateur de neige et Mandatory_Quality_Flag (0 = persistant de haute qualité, 1 = éphémère de haute qualité, 2 = mauvaise qualité, 255 = pas de mesure).</a:t>
            </a:r>
            <a:endParaRPr lang="fr-FR" sz="1150" dirty="0"/>
          </a:p>
        </p:txBody>
      </p:sp>
      <p:sp>
        <p:nvSpPr>
          <p:cNvPr id="52" name="Shape 43"/>
          <p:cNvSpPr/>
          <p:nvPr/>
        </p:nvSpPr>
        <p:spPr>
          <a:xfrm>
            <a:off x="7635240" y="4114800"/>
            <a:ext cx="4005072" cy="1691640"/>
          </a:xfrm>
          <a:prstGeom prst="roundRect">
            <a:avLst>
              <a:gd name="adj" fmla="val 4324"/>
            </a:avLst>
          </a:prstGeom>
          <a:solidFill>
            <a:srgbClr val="FDF5DC"/>
          </a:solidFill>
          <a:ln w="9525">
            <a:solidFill>
              <a:srgbClr val="F5C242"/>
            </a:solidFill>
            <a:prstDash val="solid"/>
          </a:ln>
        </p:spPr>
      </p:sp>
      <p:pic>
        <p:nvPicPr>
          <p:cNvPr id="53" name="Image 7" descr="preencoded.png"/>
          <p:cNvPicPr>
            <a:picLocks noChangeAspect="1"/>
          </p:cNvPicPr>
          <p:nvPr/>
        </p:nvPicPr>
        <p:blipFill>
          <a:blip r:embed="rId10"/>
          <a:stretch>
            <a:fillRect/>
          </a:stretch>
        </p:blipFill>
        <p:spPr>
          <a:xfrm>
            <a:off x="7863840" y="4279392"/>
            <a:ext cx="347472" cy="347472"/>
          </a:xfrm>
          <a:prstGeom prst="rect">
            <a:avLst/>
          </a:prstGeom>
        </p:spPr>
      </p:pic>
      <p:sp>
        <p:nvSpPr>
          <p:cNvPr id="54" name="Text 44"/>
          <p:cNvSpPr txBox="1"/>
          <p:nvPr/>
        </p:nvSpPr>
        <p:spPr>
          <a:xfrm>
            <a:off x="8366760" y="4251960"/>
            <a:ext cx="3200400" cy="365760"/>
          </a:xfrm>
          <a:prstGeom prst="rect">
            <a:avLst/>
          </a:prstGeom>
          <a:noFill/>
          <a:ln/>
        </p:spPr>
        <p:txBody>
          <a:bodyPr wrap="square" lIns="0" tIns="0" rIns="0" bIns="0" rtlCol="0" anchor="t"/>
          <a:lstStyle/>
          <a:p>
            <a:pPr marL="0" indent="0">
              <a:buNone/>
            </a:pPr>
            <a:r>
              <a:rPr lang="fr-FR" sz="1350" b="1" dirty="0">
                <a:solidFill>
                  <a:srgbClr val="A87700"/>
                </a:solidFill>
                <a:latin typeface="Calibri" pitchFamily="34" charset="0"/>
                <a:ea typeface="Calibri" pitchFamily="34" charset="-122"/>
                <a:cs typeface="Calibri" pitchFamily="34" charset="-120"/>
              </a:rPr>
              <a:t>Un produit, pas un instantané</a:t>
            </a:r>
            <a:endParaRPr lang="fr-FR" sz="1350" dirty="0"/>
          </a:p>
        </p:txBody>
      </p:sp>
      <p:sp>
        <p:nvSpPr>
          <p:cNvPr id="55" name="Text 45"/>
          <p:cNvSpPr txBox="1"/>
          <p:nvPr/>
        </p:nvSpPr>
        <p:spPr>
          <a:xfrm>
            <a:off x="8366760" y="4617720"/>
            <a:ext cx="3154680" cy="109728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Deux produits pour le même mois peuvent légitimement différer. Toujours noter le produit, la collection et la version.</a:t>
            </a:r>
            <a:endParaRPr lang="fr-FR"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IMAGES RÉELLES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Une nuit ou un composite : pourquoi les indicateurs de qualité comptent</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IMAGES RÉELLES</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21</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Suisse, janvier 2023. Source : notebook « quality-assessment » de BlackMarblePy (Banque mondiale, licence MIT) ; NASA Black Marble ; fond de carte © contributeurs OpenStreetMap © CARTO.</a:t>
            </a:r>
            <a:endParaRPr lang="fr-FR" sz="850" dirty="0"/>
          </a:p>
        </p:txBody>
      </p:sp>
      <p:sp>
        <p:nvSpPr>
          <p:cNvPr id="13" name="Text 10"/>
          <p:cNvSpPr txBox="1"/>
          <p:nvPr/>
        </p:nvSpPr>
        <p:spPr>
          <a:xfrm>
            <a:off x="548640" y="1325880"/>
            <a:ext cx="4800600" cy="274320"/>
          </a:xfrm>
          <a:prstGeom prst="rect">
            <a:avLst/>
          </a:prstGeom>
          <a:noFill/>
          <a:ln/>
        </p:spPr>
        <p:txBody>
          <a:bodyPr wrap="square" lIns="0" tIns="0" rIns="0" bIns="0" rtlCol="0" anchor="t"/>
          <a:lstStyle/>
          <a:p>
            <a:pPr marL="0" indent="0">
              <a:buNone/>
            </a:pPr>
            <a:r>
              <a:rPr lang="fr-FR" sz="1100" b="1" dirty="0">
                <a:solidFill>
                  <a:srgbClr val="B83B2E"/>
                </a:solidFill>
                <a:latin typeface="Calibri" pitchFamily="34" charset="0"/>
                <a:ea typeface="Calibri" pitchFamily="34" charset="-122"/>
                <a:cs typeface="Calibri" pitchFamily="34" charset="-120"/>
              </a:rPr>
              <a:t>VNP46A2 · une nuit, pixels de mauvaise qualité retirés</a:t>
            </a:r>
            <a:endParaRPr lang="fr-FR" sz="1100" dirty="0"/>
          </a:p>
        </p:txBody>
      </p:sp>
      <p:sp>
        <p:nvSpPr>
          <p:cNvPr id="14" name="Shape 11"/>
          <p:cNvSpPr/>
          <p:nvPr/>
        </p:nvSpPr>
        <p:spPr>
          <a:xfrm>
            <a:off x="548640" y="1609344"/>
            <a:ext cx="4910328" cy="2061191"/>
          </a:xfrm>
          <a:prstGeom prst="roundRect">
            <a:avLst>
              <a:gd name="adj" fmla="val 3549"/>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5" name="Image 1" descr="/home/claude/build/img/real/qa_day.png"/>
          <p:cNvPicPr>
            <a:picLocks noChangeAspect="1"/>
          </p:cNvPicPr>
          <p:nvPr/>
        </p:nvPicPr>
        <p:blipFill>
          <a:blip r:embed="rId4"/>
          <a:stretch>
            <a:fillRect/>
          </a:stretch>
        </p:blipFill>
        <p:spPr>
          <a:xfrm>
            <a:off x="603504" y="1664208"/>
            <a:ext cx="4800600" cy="1951463"/>
          </a:xfrm>
          <a:prstGeom prst="rect">
            <a:avLst/>
          </a:prstGeom>
        </p:spPr>
      </p:pic>
      <p:sp>
        <p:nvSpPr>
          <p:cNvPr id="16" name="Text 12"/>
          <p:cNvSpPr txBox="1"/>
          <p:nvPr/>
        </p:nvSpPr>
        <p:spPr>
          <a:xfrm>
            <a:off x="548640" y="3749040"/>
            <a:ext cx="4800600" cy="274320"/>
          </a:xfrm>
          <a:prstGeom prst="rect">
            <a:avLst/>
          </a:prstGeom>
          <a:noFill/>
          <a:ln/>
        </p:spPr>
        <p:txBody>
          <a:bodyPr wrap="square" lIns="0" tIns="0" rIns="0" bIns="0" rtlCol="0" anchor="t"/>
          <a:lstStyle/>
          <a:p>
            <a:pPr marL="0" indent="0">
              <a:buNone/>
            </a:pPr>
            <a:r>
              <a:rPr lang="fr-FR" sz="1100" b="1" dirty="0">
                <a:solidFill>
                  <a:srgbClr val="00704A"/>
                </a:solidFill>
                <a:latin typeface="Calibri" pitchFamily="34" charset="0"/>
                <a:ea typeface="Calibri" pitchFamily="34" charset="-122"/>
                <a:cs typeface="Calibri" pitchFamily="34" charset="-120"/>
              </a:rPr>
              <a:t>VNP46A3 · composite mensuel, même zone</a:t>
            </a:r>
            <a:endParaRPr lang="fr-FR" sz="1100" dirty="0"/>
          </a:p>
        </p:txBody>
      </p:sp>
      <p:sp>
        <p:nvSpPr>
          <p:cNvPr id="17" name="Shape 13"/>
          <p:cNvSpPr/>
          <p:nvPr/>
        </p:nvSpPr>
        <p:spPr>
          <a:xfrm>
            <a:off x="548640" y="4032504"/>
            <a:ext cx="4910328" cy="2033816"/>
          </a:xfrm>
          <a:prstGeom prst="roundRect">
            <a:avLst>
              <a:gd name="adj" fmla="val 3597"/>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8" name="Image 2" descr="/home/claude/build/img/real/qa_ch.png"/>
          <p:cNvPicPr>
            <a:picLocks noChangeAspect="1"/>
          </p:cNvPicPr>
          <p:nvPr/>
        </p:nvPicPr>
        <p:blipFill>
          <a:blip r:embed="rId5"/>
          <a:stretch>
            <a:fillRect/>
          </a:stretch>
        </p:blipFill>
        <p:spPr>
          <a:xfrm>
            <a:off x="603504" y="4087368"/>
            <a:ext cx="4800600" cy="1924088"/>
          </a:xfrm>
          <a:prstGeom prst="rect">
            <a:avLst/>
          </a:prstGeom>
        </p:spPr>
      </p:pic>
      <p:sp>
        <p:nvSpPr>
          <p:cNvPr id="19" name="Shape 14"/>
          <p:cNvSpPr/>
          <p:nvPr/>
        </p:nvSpPr>
        <p:spPr>
          <a:xfrm>
            <a:off x="5852160" y="1325880"/>
            <a:ext cx="5788152" cy="1078992"/>
          </a:xfrm>
          <a:prstGeom prst="roundRect">
            <a:avLst>
              <a:gd name="adj" fmla="val 6780"/>
            </a:avLst>
          </a:prstGeom>
          <a:solidFill>
            <a:srgbClr val="FBE9E7"/>
          </a:solidFill>
          <a:ln w="9525">
            <a:solidFill>
              <a:srgbClr val="FBE9E7"/>
            </a:solidFill>
            <a:prstDash val="solid"/>
          </a:ln>
        </p:spPr>
      </p:sp>
      <p:sp>
        <p:nvSpPr>
          <p:cNvPr id="20" name="Shape 15"/>
          <p:cNvSpPr/>
          <p:nvPr/>
        </p:nvSpPr>
        <p:spPr>
          <a:xfrm>
            <a:off x="5989320" y="1463040"/>
            <a:ext cx="457200" cy="457200"/>
          </a:xfrm>
          <a:prstGeom prst="ellipse">
            <a:avLst/>
          </a:prstGeom>
          <a:solidFill>
            <a:srgbClr val="00704A"/>
          </a:solidFill>
          <a:ln w="12700">
            <a:solidFill>
              <a:srgbClr val="00704A"/>
            </a:solidFill>
            <a:prstDash val="solid"/>
          </a:ln>
        </p:spPr>
      </p:sp>
      <p:pic>
        <p:nvPicPr>
          <p:cNvPr id="21" name="Image 3" descr="preencoded.png"/>
          <p:cNvPicPr>
            <a:picLocks noChangeAspect="1"/>
          </p:cNvPicPr>
          <p:nvPr/>
        </p:nvPicPr>
        <p:blipFill>
          <a:blip r:embed="rId6"/>
          <a:stretch>
            <a:fillRect/>
          </a:stretch>
        </p:blipFill>
        <p:spPr>
          <a:xfrm>
            <a:off x="6108192" y="1581912"/>
            <a:ext cx="219456" cy="219456"/>
          </a:xfrm>
          <a:prstGeom prst="rect">
            <a:avLst/>
          </a:prstGeom>
        </p:spPr>
      </p:pic>
      <p:sp>
        <p:nvSpPr>
          <p:cNvPr id="22" name="Text 16"/>
          <p:cNvSpPr txBox="1"/>
          <p:nvPr/>
        </p:nvSpPr>
        <p:spPr>
          <a:xfrm>
            <a:off x="6583680" y="1417320"/>
            <a:ext cx="491947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Lacunes = nuages, pas obscurité</a:t>
            </a:r>
            <a:endParaRPr lang="fr-FR" sz="1250" dirty="0"/>
          </a:p>
        </p:txBody>
      </p:sp>
      <p:sp>
        <p:nvSpPr>
          <p:cNvPr id="23" name="Text 17"/>
          <p:cNvSpPr txBox="1"/>
          <p:nvPr/>
        </p:nvSpPr>
        <p:spPr>
          <a:xfrm>
            <a:off x="6583680" y="1719072"/>
            <a:ext cx="4919472" cy="621792"/>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Les pixels masqués (en blanc, en haut) sont des données manquantes — jamais une lumière nulle.</a:t>
            </a:r>
            <a:endParaRPr lang="fr-FR" sz="1100" dirty="0"/>
          </a:p>
        </p:txBody>
      </p:sp>
      <p:sp>
        <p:nvSpPr>
          <p:cNvPr id="24" name="Shape 18"/>
          <p:cNvSpPr/>
          <p:nvPr/>
        </p:nvSpPr>
        <p:spPr>
          <a:xfrm>
            <a:off x="5852160" y="2532888"/>
            <a:ext cx="5788152" cy="1078992"/>
          </a:xfrm>
          <a:prstGeom prst="roundRect">
            <a:avLst>
              <a:gd name="adj" fmla="val 6780"/>
            </a:avLst>
          </a:prstGeom>
          <a:solidFill>
            <a:srgbClr val="F4F7F5"/>
          </a:solidFill>
          <a:ln w="9525">
            <a:solidFill>
              <a:srgbClr val="D5DED9"/>
            </a:solidFill>
            <a:prstDash val="solid"/>
          </a:ln>
        </p:spPr>
      </p:sp>
      <p:sp>
        <p:nvSpPr>
          <p:cNvPr id="25" name="Shape 19"/>
          <p:cNvSpPr/>
          <p:nvPr/>
        </p:nvSpPr>
        <p:spPr>
          <a:xfrm>
            <a:off x="5989320" y="2670048"/>
            <a:ext cx="457200" cy="457200"/>
          </a:xfrm>
          <a:prstGeom prst="ellipse">
            <a:avLst/>
          </a:prstGeom>
          <a:solidFill>
            <a:srgbClr val="00704A"/>
          </a:solidFill>
          <a:ln w="12700">
            <a:solidFill>
              <a:srgbClr val="00704A"/>
            </a:solidFill>
            <a:prstDash val="solid"/>
          </a:ln>
        </p:spPr>
      </p:sp>
      <p:pic>
        <p:nvPicPr>
          <p:cNvPr id="26" name="Image 4" descr="preencoded.png"/>
          <p:cNvPicPr>
            <a:picLocks noChangeAspect="1"/>
          </p:cNvPicPr>
          <p:nvPr/>
        </p:nvPicPr>
        <p:blipFill>
          <a:blip r:embed="rId7"/>
          <a:stretch>
            <a:fillRect/>
          </a:stretch>
        </p:blipFill>
        <p:spPr>
          <a:xfrm>
            <a:off x="6108192" y="2788920"/>
            <a:ext cx="219456" cy="219456"/>
          </a:xfrm>
          <a:prstGeom prst="rect">
            <a:avLst/>
          </a:prstGeom>
        </p:spPr>
      </p:pic>
      <p:sp>
        <p:nvSpPr>
          <p:cNvPr id="27" name="Text 20"/>
          <p:cNvSpPr txBox="1"/>
          <p:nvPr/>
        </p:nvSpPr>
        <p:spPr>
          <a:xfrm>
            <a:off x="6583680" y="2624328"/>
            <a:ext cx="491947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Les composites comblent</a:t>
            </a:r>
            <a:endParaRPr lang="fr-FR" sz="1250" dirty="0"/>
          </a:p>
        </p:txBody>
      </p:sp>
      <p:sp>
        <p:nvSpPr>
          <p:cNvPr id="28" name="Text 21"/>
          <p:cNvSpPr txBox="1"/>
          <p:nvPr/>
        </p:nvSpPr>
        <p:spPr>
          <a:xfrm>
            <a:off x="6583680" y="2926080"/>
            <a:ext cx="4919472" cy="621792"/>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La moyenne des nuits valides du mois donne une carte complète et plus lisse (en bas).</a:t>
            </a:r>
            <a:endParaRPr lang="fr-FR" sz="1100" dirty="0"/>
          </a:p>
        </p:txBody>
      </p:sp>
      <p:sp>
        <p:nvSpPr>
          <p:cNvPr id="29" name="Shape 22"/>
          <p:cNvSpPr/>
          <p:nvPr/>
        </p:nvSpPr>
        <p:spPr>
          <a:xfrm>
            <a:off x="5852160" y="3739896"/>
            <a:ext cx="5788152" cy="1078992"/>
          </a:xfrm>
          <a:prstGeom prst="roundRect">
            <a:avLst>
              <a:gd name="adj" fmla="val 6780"/>
            </a:avLst>
          </a:prstGeom>
          <a:solidFill>
            <a:srgbClr val="F4F7F5"/>
          </a:solidFill>
          <a:ln w="9525">
            <a:solidFill>
              <a:srgbClr val="D5DED9"/>
            </a:solidFill>
            <a:prstDash val="solid"/>
          </a:ln>
        </p:spPr>
      </p:sp>
      <p:sp>
        <p:nvSpPr>
          <p:cNvPr id="30" name="Shape 23"/>
          <p:cNvSpPr/>
          <p:nvPr/>
        </p:nvSpPr>
        <p:spPr>
          <a:xfrm>
            <a:off x="5989320" y="3877056"/>
            <a:ext cx="457200" cy="457200"/>
          </a:xfrm>
          <a:prstGeom prst="ellipse">
            <a:avLst/>
          </a:prstGeom>
          <a:solidFill>
            <a:srgbClr val="00704A"/>
          </a:solidFill>
          <a:ln w="12700">
            <a:solidFill>
              <a:srgbClr val="00704A"/>
            </a:solidFill>
            <a:prstDash val="solid"/>
          </a:ln>
        </p:spPr>
      </p:sp>
      <p:pic>
        <p:nvPicPr>
          <p:cNvPr id="31" name="Image 5" descr="preencoded.png"/>
          <p:cNvPicPr>
            <a:picLocks noChangeAspect="1"/>
          </p:cNvPicPr>
          <p:nvPr/>
        </p:nvPicPr>
        <p:blipFill>
          <a:blip r:embed="rId8"/>
          <a:stretch>
            <a:fillRect/>
          </a:stretch>
        </p:blipFill>
        <p:spPr>
          <a:xfrm>
            <a:off x="6108192" y="3995928"/>
            <a:ext cx="219456" cy="219456"/>
          </a:xfrm>
          <a:prstGeom prst="rect">
            <a:avLst/>
          </a:prstGeom>
        </p:spPr>
      </p:pic>
      <p:sp>
        <p:nvSpPr>
          <p:cNvPr id="32" name="Text 24"/>
          <p:cNvSpPr txBox="1"/>
          <p:nvPr/>
        </p:nvSpPr>
        <p:spPr>
          <a:xfrm>
            <a:off x="6583680" y="3831336"/>
            <a:ext cx="491947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Choisir son seuil de qualité</a:t>
            </a:r>
            <a:endParaRPr lang="fr-FR" sz="1250" dirty="0"/>
          </a:p>
        </p:txBody>
      </p:sp>
      <p:sp>
        <p:nvSpPr>
          <p:cNvPr id="33" name="Text 25"/>
          <p:cNvSpPr txBox="1"/>
          <p:nvPr/>
        </p:nvSpPr>
        <p:spPr>
          <a:xfrm>
            <a:off x="6583680" y="4133088"/>
            <a:ext cx="4919472" cy="621792"/>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Ne garder que la haute qualité est plus propre mais laisse moins de nuits valides — tester les deux.</a:t>
            </a:r>
            <a:endParaRPr lang="fr-FR" sz="1100" dirty="0"/>
          </a:p>
        </p:txBody>
      </p:sp>
      <p:sp>
        <p:nvSpPr>
          <p:cNvPr id="34" name="Shape 26"/>
          <p:cNvSpPr/>
          <p:nvPr/>
        </p:nvSpPr>
        <p:spPr>
          <a:xfrm>
            <a:off x="5852160" y="5029200"/>
            <a:ext cx="5788152" cy="777240"/>
          </a:xfrm>
          <a:prstGeom prst="roundRect">
            <a:avLst>
              <a:gd name="adj" fmla="val 9412"/>
            </a:avLst>
          </a:prstGeom>
          <a:solidFill>
            <a:srgbClr val="00553A"/>
          </a:solidFill>
          <a:ln w="9525">
            <a:solidFill>
              <a:srgbClr val="00553A"/>
            </a:solidFill>
            <a:prstDash val="solid"/>
          </a:ln>
        </p:spPr>
      </p:sp>
      <p:sp>
        <p:nvSpPr>
          <p:cNvPr id="35" name="Text 27"/>
          <p:cNvSpPr txBox="1"/>
          <p:nvPr/>
        </p:nvSpPr>
        <p:spPr>
          <a:xfrm>
            <a:off x="6035040" y="5029200"/>
            <a:ext cx="5440680" cy="777240"/>
          </a:xfrm>
          <a:prstGeom prst="rect">
            <a:avLst/>
          </a:prstGeom>
          <a:noFill/>
          <a:ln/>
        </p:spPr>
        <p:txBody>
          <a:bodyPr wrap="square" lIns="0" tIns="0" rIns="0" bIns="0" rtlCol="0" anchor="ctr"/>
          <a:lstStyle/>
          <a:p>
            <a:pPr marL="0" indent="0">
              <a:buNone/>
            </a:pPr>
            <a:r>
              <a:rPr lang="fr-FR" sz="1200" b="1" dirty="0">
                <a:solidFill>
                  <a:srgbClr val="F5C242"/>
                </a:solidFill>
                <a:latin typeface="Calibri" pitchFamily="34" charset="0"/>
                <a:ea typeface="Calibri" pitchFamily="34" charset="-122"/>
                <a:cs typeface="Calibri" pitchFamily="34" charset="-120"/>
              </a:rPr>
              <a:t>En Afrique, </a:t>
            </a:r>
            <a:r>
              <a:rPr lang="fr-FR" sz="1200" dirty="0">
                <a:solidFill>
                  <a:srgbClr val="FFFFFF"/>
                </a:solidFill>
                <a:latin typeface="Calibri" pitchFamily="34" charset="0"/>
                <a:ea typeface="Calibri" pitchFamily="34" charset="-122"/>
                <a:cs typeface="Calibri" pitchFamily="34" charset="-120"/>
              </a:rPr>
              <a:t>les lacunes viennent des nuages de saison des pluies, pas de la neige — la leçon est la même : manquant ≠ sombre.</a:t>
            </a:r>
            <a:endParaRPr lang="fr-FR"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PRODUITS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La famille de produits NASA Black Marble</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22</a:t>
            </a:r>
            <a:endParaRPr lang="fr-FR"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581912">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40080">
                <a:tc>
                  <a:txBody>
                    <a:bodyPr/>
                    <a:lstStyle/>
                    <a:p>
                      <a:pPr marL="0" indent="0" algn="ctr">
                        <a:buNone/>
                      </a:pP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fr-FR" sz="1200" b="1" dirty="0">
                          <a:solidFill>
                            <a:srgbClr val="FFFFFF"/>
                          </a:solidFill>
                          <a:latin typeface="Calibri" pitchFamily="34" charset="0"/>
                          <a:ea typeface="Calibri" pitchFamily="34" charset="-122"/>
                          <a:cs typeface="Calibri" pitchFamily="34" charset="-120"/>
                        </a:rPr>
                        <a:t>VNP46A1</a:t>
                      </a:r>
                      <a:endParaRPr lang="fr-FR" sz="1200" dirty="0">
                        <a:latin typeface="Calibri" charset="0"/>
                        <a:ea typeface="Calibri" charset="0"/>
                        <a:cs typeface="Calibri" charset="0"/>
                      </a:endParaRPr>
                    </a:p>
                    <a:p>
                      <a:pPr marL="0" indent="0" algn="ctr">
                        <a:buNone/>
                      </a:pPr>
                      <a:r>
                        <a:rPr lang="fr-FR" sz="1200" b="1" dirty="0">
                          <a:solidFill>
                            <a:srgbClr val="FFFFFF"/>
                          </a:solidFill>
                          <a:latin typeface="Calibri" pitchFamily="34" charset="0"/>
                          <a:ea typeface="Calibri" pitchFamily="34" charset="-122"/>
                          <a:cs typeface="Calibri" pitchFamily="34" charset="-120"/>
                        </a:rPr>
                        <a:t>QUOTIDIEN</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E6964"/>
                    </a:solidFill>
                  </a:tcPr>
                </a:tc>
                <a:tc>
                  <a:txBody>
                    <a:bodyPr/>
                    <a:lstStyle/>
                    <a:p>
                      <a:pPr marL="0" indent="0" algn="ctr">
                        <a:buNone/>
                      </a:pPr>
                      <a:r>
                        <a:rPr lang="fr-FR" sz="1200" b="1" dirty="0">
                          <a:solidFill>
                            <a:srgbClr val="FFFFFF"/>
                          </a:solidFill>
                          <a:latin typeface="Calibri" pitchFamily="34" charset="0"/>
                          <a:ea typeface="Calibri" pitchFamily="34" charset="-122"/>
                          <a:cs typeface="Calibri" pitchFamily="34" charset="-120"/>
                        </a:rPr>
                        <a:t>VNP46A2</a:t>
                      </a:r>
                      <a:endParaRPr lang="fr-FR" sz="1200" dirty="0">
                        <a:latin typeface="Calibri" charset="0"/>
                        <a:ea typeface="Calibri" charset="0"/>
                        <a:cs typeface="Calibri" charset="0"/>
                      </a:endParaRPr>
                    </a:p>
                    <a:p>
                      <a:pPr marL="0" indent="0" algn="ctr">
                        <a:buNone/>
                      </a:pPr>
                      <a:r>
                        <a:rPr lang="fr-FR" sz="1200" b="1" dirty="0">
                          <a:solidFill>
                            <a:srgbClr val="FFFFFF"/>
                          </a:solidFill>
                          <a:latin typeface="Calibri" pitchFamily="34" charset="0"/>
                          <a:ea typeface="Calibri" pitchFamily="34" charset="-122"/>
                          <a:cs typeface="Calibri" pitchFamily="34" charset="-120"/>
                        </a:rPr>
                        <a:t>QUOTIDIEN</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04A"/>
                    </a:solidFill>
                  </a:tcPr>
                </a:tc>
                <a:tc>
                  <a:txBody>
                    <a:bodyPr/>
                    <a:lstStyle/>
                    <a:p>
                      <a:pPr marL="0" indent="0" algn="ctr">
                        <a:buNone/>
                      </a:pPr>
                      <a:r>
                        <a:rPr lang="fr-FR" sz="1200" b="1" dirty="0">
                          <a:solidFill>
                            <a:srgbClr val="FFFFFF"/>
                          </a:solidFill>
                          <a:latin typeface="Calibri" pitchFamily="34" charset="0"/>
                          <a:ea typeface="Calibri" pitchFamily="34" charset="-122"/>
                          <a:cs typeface="Calibri" pitchFamily="34" charset="-120"/>
                        </a:rPr>
                        <a:t>VNP46A3</a:t>
                      </a:r>
                      <a:endParaRPr lang="fr-FR" sz="1200" dirty="0">
                        <a:latin typeface="Calibri" charset="0"/>
                        <a:ea typeface="Calibri" charset="0"/>
                        <a:cs typeface="Calibri" charset="0"/>
                      </a:endParaRPr>
                    </a:p>
                    <a:p>
                      <a:pPr marL="0" indent="0" algn="ctr">
                        <a:buNone/>
                      </a:pPr>
                      <a:r>
                        <a:rPr lang="fr-FR" sz="1200" b="1" dirty="0">
                          <a:solidFill>
                            <a:srgbClr val="FFFFFF"/>
                          </a:solidFill>
                          <a:latin typeface="Calibri" pitchFamily="34" charset="0"/>
                          <a:ea typeface="Calibri" pitchFamily="34" charset="-122"/>
                          <a:cs typeface="Calibri" pitchFamily="34" charset="-120"/>
                        </a:rPr>
                        <a:t>MENSUEL</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A86A"/>
                    </a:solidFill>
                  </a:tcPr>
                </a:tc>
                <a:tc>
                  <a:txBody>
                    <a:bodyPr/>
                    <a:lstStyle/>
                    <a:p>
                      <a:pPr marL="0" indent="0" algn="ctr">
                        <a:buNone/>
                      </a:pPr>
                      <a:r>
                        <a:rPr lang="fr-FR" sz="1200" b="1" dirty="0">
                          <a:solidFill>
                            <a:srgbClr val="FFFFFF"/>
                          </a:solidFill>
                          <a:latin typeface="Calibri" pitchFamily="34" charset="0"/>
                          <a:ea typeface="Calibri" pitchFamily="34" charset="-122"/>
                          <a:cs typeface="Calibri" pitchFamily="34" charset="-120"/>
                        </a:rPr>
                        <a:t>VNP46A4</a:t>
                      </a:r>
                      <a:endParaRPr lang="fr-FR" sz="1200" dirty="0">
                        <a:latin typeface="Calibri" charset="0"/>
                        <a:ea typeface="Calibri" charset="0"/>
                        <a:cs typeface="Calibri" charset="0"/>
                      </a:endParaRPr>
                    </a:p>
                    <a:p>
                      <a:pPr marL="0" indent="0" algn="ctr">
                        <a:buNone/>
                      </a:pPr>
                      <a:r>
                        <a:rPr lang="fr-FR" sz="1200" b="1" dirty="0">
                          <a:solidFill>
                            <a:srgbClr val="FFFFFF"/>
                          </a:solidFill>
                          <a:latin typeface="Calibri" pitchFamily="34" charset="0"/>
                          <a:ea typeface="Calibri" pitchFamily="34" charset="-122"/>
                          <a:cs typeface="Calibri" pitchFamily="34" charset="-120"/>
                        </a:rPr>
                        <a:t>ANNUEL</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685800">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Contenu</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Radiance au capteur (sommet de l’atmosphère)</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NTL corrigée de la Lune, lacunes comblées</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fr-FR" sz="1200" b="1" dirty="0">
                          <a:solidFill>
                            <a:srgbClr val="231F20"/>
                          </a:solidFill>
                          <a:latin typeface="Calibri" pitchFamily="34" charset="0"/>
                          <a:ea typeface="Calibri" pitchFamily="34" charset="-122"/>
                          <a:cs typeface="Calibri" pitchFamily="34" charset="-120"/>
                        </a:rPr>
                        <a:t>Composite des NTL quotidiennes corrigées</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Composite des NTL quotidiennes corrigées</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685800">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Corrections</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Non corrigé — entrées et géométrie</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Nuages, Lune, atmosphère, relief, lumière parasite</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fr-FR" sz="1200" b="1" dirty="0">
                          <a:solidFill>
                            <a:srgbClr val="231F20"/>
                          </a:solidFill>
                          <a:latin typeface="Calibri" pitchFamily="34" charset="0"/>
                          <a:ea typeface="Calibri" pitchFamily="34" charset="-122"/>
                          <a:cs typeface="Calibri" pitchFamily="34" charset="-120"/>
                        </a:rPr>
                        <a:t>Comme A2 + nombre d’observations et qualité</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Comme A2 + nombre d’observations et qualité</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extLst>
                  <a:ext uri="{0D108BD9-81ED-4DB2-BD59-A6C34878D82A}">
                    <a16:rowId xmlns:a16="http://schemas.microsoft.com/office/drawing/2014/main" val="10002"/>
                  </a:ext>
                </a:extLst>
              </a:tr>
              <a:tr h="685800">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Usage type</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Utilisateurs avancés</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Coupures, fiabilité, événements</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fr-FR" sz="1200" b="1" dirty="0">
                          <a:solidFill>
                            <a:srgbClr val="231F20"/>
                          </a:solidFill>
                          <a:latin typeface="Calibri" pitchFamily="34" charset="0"/>
                          <a:ea typeface="Calibri" pitchFamily="34" charset="-122"/>
                          <a:cs typeface="Calibri" pitchFamily="34" charset="-120"/>
                        </a:rPr>
                        <a:t>Évaluation de programmes, saisonnalité, nowcasting</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tc>
                  <a:txBody>
                    <a:bodyPr/>
                    <a:lstStyle/>
                    <a:p>
                      <a:pPr marL="0" indent="0" algn="ctr">
                        <a:buNone/>
                      </a:pPr>
                      <a:r>
                        <a:rPr lang="fr-FR" sz="1200" dirty="0">
                          <a:solidFill>
                            <a:srgbClr val="231F20"/>
                          </a:solidFill>
                          <a:latin typeface="Calibri" pitchFamily="34" charset="0"/>
                          <a:ea typeface="Calibri" pitchFamily="34" charset="-122"/>
                          <a:cs typeface="Calibri" pitchFamily="34" charset="-120"/>
                        </a:rPr>
                        <a:t>Tendances longues, panels infranationaux</a:t>
                      </a:r>
                      <a:endParaRPr lang="fr-FR"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extLst>
                  <a:ext uri="{0D108BD9-81ED-4DB2-BD59-A6C34878D82A}">
                    <a16:rowId xmlns:a16="http://schemas.microsoft.com/office/drawing/2014/main" val="10003"/>
                  </a:ext>
                </a:extLst>
              </a:tr>
            </a:tbl>
          </a:graphicData>
        </a:graphic>
      </p:graphicFrame>
      <p:sp>
        <p:nvSpPr>
          <p:cNvPr id="13" name="Shape 9"/>
          <p:cNvSpPr/>
          <p:nvPr/>
        </p:nvSpPr>
        <p:spPr>
          <a:xfrm>
            <a:off x="7159752" y="1097280"/>
            <a:ext cx="1737360" cy="237744"/>
          </a:xfrm>
          <a:prstGeom prst="roundRect">
            <a:avLst>
              <a:gd name="adj" fmla="val 50000"/>
            </a:avLst>
          </a:prstGeom>
          <a:solidFill>
            <a:srgbClr val="F5C242"/>
          </a:solidFill>
          <a:ln w="12700">
            <a:solidFill>
              <a:srgbClr val="F5C242"/>
            </a:solidFill>
            <a:prstDash val="solid"/>
          </a:ln>
        </p:spPr>
      </p:sp>
      <p:sp>
        <p:nvSpPr>
          <p:cNvPr id="14" name="Text 10"/>
          <p:cNvSpPr txBox="1"/>
          <p:nvPr/>
        </p:nvSpPr>
        <p:spPr>
          <a:xfrm>
            <a:off x="7159752" y="1097280"/>
            <a:ext cx="1737360" cy="237744"/>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UTILISÉ AU LABO A</a:t>
            </a:r>
            <a:endParaRPr lang="fr-FR" sz="850" dirty="0"/>
          </a:p>
        </p:txBody>
      </p:sp>
      <p:sp>
        <p:nvSpPr>
          <p:cNvPr id="15" name="Shape 11"/>
          <p:cNvSpPr/>
          <p:nvPr/>
        </p:nvSpPr>
        <p:spPr>
          <a:xfrm>
            <a:off x="548640" y="4343400"/>
            <a:ext cx="11094415" cy="1463040"/>
          </a:xfrm>
          <a:prstGeom prst="roundRect">
            <a:avLst>
              <a:gd name="adj" fmla="val 5000"/>
            </a:avLst>
          </a:prstGeom>
          <a:solidFill>
            <a:srgbClr val="F4F7F5"/>
          </a:solidFill>
          <a:ln w="9525">
            <a:solidFill>
              <a:srgbClr val="D5DED9"/>
            </a:solidFill>
            <a:prstDash val="solid"/>
          </a:ln>
        </p:spPr>
      </p:sp>
      <p:sp>
        <p:nvSpPr>
          <p:cNvPr id="16" name="Text 12"/>
          <p:cNvSpPr txBox="1"/>
          <p:nvPr/>
        </p:nvSpPr>
        <p:spPr>
          <a:xfrm>
            <a:off x="777240" y="4434840"/>
            <a:ext cx="10637215" cy="1280160"/>
          </a:xfrm>
          <a:prstGeom prst="rect">
            <a:avLst/>
          </a:prstGeom>
          <a:noFill/>
          <a:ln/>
        </p:spPr>
        <p:txBody>
          <a:bodyPr wrap="square" lIns="0" tIns="0" rIns="0" bIns="0" rtlCol="0" anchor="t"/>
          <a:lstStyle/>
          <a:p>
            <a:pPr marL="0" indent="0">
              <a:spcAft>
                <a:spcPts val="500"/>
              </a:spcAft>
              <a:buNone/>
            </a:pPr>
            <a:r>
              <a:rPr lang="fr-FR" sz="1150" b="1" dirty="0">
                <a:solidFill>
                  <a:srgbClr val="00704A"/>
                </a:solidFill>
                <a:latin typeface="Calibri" pitchFamily="34" charset="0"/>
                <a:ea typeface="Calibri" pitchFamily="34" charset="-122"/>
                <a:cs typeface="Calibri" pitchFamily="34" charset="-120"/>
              </a:rPr>
              <a:t>Commun à tous : </a:t>
            </a:r>
            <a:r>
              <a:rPr lang="fr-FR" sz="1150" dirty="0">
                <a:solidFill>
                  <a:srgbClr val="231F20"/>
                </a:solidFill>
                <a:latin typeface="Calibri" pitchFamily="34" charset="0"/>
                <a:ea typeface="Calibri" pitchFamily="34" charset="-122"/>
                <a:cs typeface="Calibri" pitchFamily="34" charset="-120"/>
              </a:rPr>
              <a:t>grille de 15 secondes d’arc (≈ 500 m à l’équateur) · tuiles 10° × 10° · HDF5 · depuis janvier 2012 · jumeaux NOAA-20 nommés VJ146*.</a:t>
            </a:r>
            <a:endParaRPr lang="fr-FR" sz="1150" dirty="0"/>
          </a:p>
          <a:p>
            <a:pPr marL="0" indent="0">
              <a:spcAft>
                <a:spcPts val="500"/>
              </a:spcAft>
              <a:buNone/>
            </a:pPr>
            <a:r>
              <a:rPr lang="fr-FR" sz="1150" b="1" dirty="0">
                <a:solidFill>
                  <a:srgbClr val="B83B2E"/>
                </a:solidFill>
                <a:latin typeface="Calibri" pitchFamily="34" charset="0"/>
                <a:ea typeface="Calibri" pitchFamily="34" charset="-122"/>
                <a:cs typeface="Calibri" pitchFamily="34" charset="-120"/>
              </a:rPr>
              <a:t>Piège : </a:t>
            </a:r>
            <a:r>
              <a:rPr lang="fr-FR" sz="1150" dirty="0">
                <a:solidFill>
                  <a:srgbClr val="231F20"/>
                </a:solidFill>
                <a:latin typeface="Calibri" pitchFamily="34" charset="0"/>
                <a:ea typeface="Calibri" pitchFamily="34" charset="-122"/>
                <a:cs typeface="Calibri" pitchFamily="34" charset="-120"/>
              </a:rPr>
              <a:t>la radiance est stockée en entiers mis à l’échelle — appliquer le facteur d’échelle des métadonnées et masquer la valeur de remplissage (65535 pour la radiance, 255 pour la qualité). BlackMarblePy le fait pour vous ; pas les lecteurs HDF5 bruts.</a:t>
            </a:r>
            <a:endParaRPr lang="fr-FR" sz="1150" dirty="0"/>
          </a:p>
          <a:p>
            <a:pPr marL="0" indent="0">
              <a:spcAft>
                <a:spcPts val="500"/>
              </a:spcAft>
              <a:buNone/>
            </a:pPr>
            <a:r>
              <a:rPr lang="fr-FR" sz="1150" b="1" dirty="0">
                <a:solidFill>
                  <a:srgbClr val="00704A"/>
                </a:solidFill>
                <a:latin typeface="Calibri" pitchFamily="34" charset="0"/>
                <a:ea typeface="Calibri" pitchFamily="34" charset="-122"/>
                <a:cs typeface="Calibri" pitchFamily="34" charset="-120"/>
              </a:rPr>
              <a:t>Variables : </a:t>
            </a:r>
            <a:r>
              <a:rPr lang="fr-FR" sz="1150" dirty="0">
                <a:solidFill>
                  <a:srgbClr val="231F20"/>
                </a:solidFill>
                <a:latin typeface="Calibri" pitchFamily="34" charset="0"/>
                <a:ea typeface="Calibri" pitchFamily="34" charset="-122"/>
                <a:cs typeface="Calibri" pitchFamily="34" charset="-120"/>
              </a:rPr>
              <a:t>A2 → DNB_BRDF-Corrected_NTL  ·  A3 / A4 → NearNadir_Composite_Snow_Free (variantes OffNadir_ et AllAngle_ aussi).</a:t>
            </a:r>
            <a:endParaRPr lang="fr-FR"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DONNÉES RÉELLES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Ce que donne Black Marble : le Ghana</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IMAGES RÉELLES</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23</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Source : NASA Black Marble VNP46A4 (annuel) et VNP46A3 (mensuel), produits avec BlackMarblePy (Banque mondiale, licence MIT) ; fond de carte © contributeurs OpenStreetMap © CARTO.</a:t>
            </a:r>
            <a:endParaRPr lang="fr-FR" sz="850" dirty="0"/>
          </a:p>
        </p:txBody>
      </p:sp>
      <p:sp>
        <p:nvSpPr>
          <p:cNvPr id="13" name="Shape 10"/>
          <p:cNvSpPr/>
          <p:nvPr/>
        </p:nvSpPr>
        <p:spPr>
          <a:xfrm>
            <a:off x="548640" y="1316736"/>
            <a:ext cx="4012296" cy="4270248"/>
          </a:xfrm>
          <a:prstGeom prst="roundRect">
            <a:avLst>
              <a:gd name="adj" fmla="val 1823"/>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4" name="Image 1" descr="/home/claude/build/img/real/gha_annual.png"/>
          <p:cNvPicPr>
            <a:picLocks noChangeAspect="1"/>
          </p:cNvPicPr>
          <p:nvPr/>
        </p:nvPicPr>
        <p:blipFill>
          <a:blip r:embed="rId4"/>
          <a:stretch>
            <a:fillRect/>
          </a:stretch>
        </p:blipFill>
        <p:spPr>
          <a:xfrm>
            <a:off x="603504" y="1371600"/>
            <a:ext cx="3902568" cy="4160520"/>
          </a:xfrm>
          <a:prstGeom prst="rect">
            <a:avLst/>
          </a:prstGeom>
        </p:spPr>
      </p:pic>
      <p:sp>
        <p:nvSpPr>
          <p:cNvPr id="15" name="Text 11"/>
          <p:cNvSpPr txBox="1"/>
          <p:nvPr/>
        </p:nvSpPr>
        <p:spPr>
          <a:xfrm>
            <a:off x="548640" y="5596128"/>
            <a:ext cx="4206240" cy="274320"/>
          </a:xfrm>
          <a:prstGeom prst="rect">
            <a:avLst/>
          </a:prstGeom>
          <a:noFill/>
          <a:ln/>
        </p:spPr>
        <p:txBody>
          <a:bodyPr wrap="square" lIns="0" tIns="0" rIns="0" bIns="0" rtlCol="0" anchor="t"/>
          <a:lstStyle/>
          <a:p>
            <a:pPr marL="0" indent="0">
              <a:buNone/>
            </a:pPr>
            <a:r>
              <a:rPr lang="fr-FR" sz="1100" b="1" dirty="0">
                <a:solidFill>
                  <a:srgbClr val="00704A"/>
                </a:solidFill>
                <a:latin typeface="Calibri" pitchFamily="34" charset="0"/>
                <a:ea typeface="Calibri" pitchFamily="34" charset="-122"/>
                <a:cs typeface="Calibri" pitchFamily="34" charset="-120"/>
              </a:rPr>
              <a:t>Composite annuel VNP46A4 — Accra, Kumasi, Tamale et les corridors qui les relient</a:t>
            </a:r>
            <a:endParaRPr lang="fr-FR" sz="1100" dirty="0"/>
          </a:p>
        </p:txBody>
      </p:sp>
      <p:sp>
        <p:nvSpPr>
          <p:cNvPr id="16" name="Text 12"/>
          <p:cNvSpPr txBox="1"/>
          <p:nvPr/>
        </p:nvSpPr>
        <p:spPr>
          <a:xfrm>
            <a:off x="4800600" y="1325880"/>
            <a:ext cx="6766560" cy="274320"/>
          </a:xfrm>
          <a:prstGeom prst="rect">
            <a:avLst/>
          </a:prstGeom>
          <a:noFill/>
          <a:ln/>
        </p:spPr>
        <p:txBody>
          <a:bodyPr wrap="square" lIns="0" tIns="0" rIns="0" bIns="0" rtlCol="0" anchor="t"/>
          <a:lstStyle/>
          <a:p>
            <a:pPr marL="0" indent="0">
              <a:buNone/>
            </a:pPr>
            <a:r>
              <a:rPr lang="fr-FR" sz="1100" b="1" dirty="0">
                <a:solidFill>
                  <a:srgbClr val="00704A"/>
                </a:solidFill>
                <a:latin typeface="Calibri" pitchFamily="34" charset="0"/>
                <a:ea typeface="Calibri" pitchFamily="34" charset="-122"/>
                <a:cs typeface="Calibri" pitchFamily="34" charset="-120"/>
              </a:rPr>
              <a:t>Somme des lumières nationale mensuelle, VNP46A3, depuis janvier 2020</a:t>
            </a:r>
            <a:endParaRPr lang="fr-FR" sz="1100" dirty="0"/>
          </a:p>
        </p:txBody>
      </p:sp>
      <p:sp>
        <p:nvSpPr>
          <p:cNvPr id="17" name="Shape 13"/>
          <p:cNvSpPr/>
          <p:nvPr/>
        </p:nvSpPr>
        <p:spPr>
          <a:xfrm>
            <a:off x="4800600" y="1636776"/>
            <a:ext cx="6839712" cy="2926800"/>
          </a:xfrm>
          <a:prstGeom prst="roundRect">
            <a:avLst>
              <a:gd name="adj" fmla="val 2499"/>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8" name="Image 2" descr="/home/claude/build/img/real/gha_monthly.png"/>
          <p:cNvPicPr>
            <a:picLocks noChangeAspect="1"/>
          </p:cNvPicPr>
          <p:nvPr/>
        </p:nvPicPr>
        <p:blipFill>
          <a:blip r:embed="rId5"/>
          <a:stretch>
            <a:fillRect/>
          </a:stretch>
        </p:blipFill>
        <p:spPr>
          <a:xfrm>
            <a:off x="4855464" y="1691640"/>
            <a:ext cx="6729984" cy="2817072"/>
          </a:xfrm>
          <a:prstGeom prst="rect">
            <a:avLst/>
          </a:prstGeom>
        </p:spPr>
      </p:pic>
      <p:sp>
        <p:nvSpPr>
          <p:cNvPr id="19" name="Shape 14"/>
          <p:cNvSpPr/>
          <p:nvPr/>
        </p:nvSpPr>
        <p:spPr>
          <a:xfrm>
            <a:off x="4800600" y="4617720"/>
            <a:ext cx="3291840" cy="1143000"/>
          </a:xfrm>
          <a:prstGeom prst="roundRect">
            <a:avLst>
              <a:gd name="adj" fmla="val 6400"/>
            </a:avLst>
          </a:prstGeom>
          <a:solidFill>
            <a:srgbClr val="F4F7F5"/>
          </a:solidFill>
          <a:ln w="9525">
            <a:solidFill>
              <a:srgbClr val="D5DED9"/>
            </a:solidFill>
            <a:prstDash val="solid"/>
          </a:ln>
        </p:spPr>
      </p:sp>
      <p:sp>
        <p:nvSpPr>
          <p:cNvPr id="20" name="Shape 15"/>
          <p:cNvSpPr/>
          <p:nvPr/>
        </p:nvSpPr>
        <p:spPr>
          <a:xfrm>
            <a:off x="4937760" y="4754880"/>
            <a:ext cx="457200" cy="457200"/>
          </a:xfrm>
          <a:prstGeom prst="ellipse">
            <a:avLst/>
          </a:prstGeom>
          <a:solidFill>
            <a:srgbClr val="00704A"/>
          </a:solidFill>
          <a:ln w="12700">
            <a:solidFill>
              <a:srgbClr val="00704A"/>
            </a:solidFill>
            <a:prstDash val="solid"/>
          </a:ln>
        </p:spPr>
      </p:sp>
      <p:pic>
        <p:nvPicPr>
          <p:cNvPr id="21" name="Image 3" descr="preencoded.png"/>
          <p:cNvPicPr>
            <a:picLocks noChangeAspect="1"/>
          </p:cNvPicPr>
          <p:nvPr/>
        </p:nvPicPr>
        <p:blipFill>
          <a:blip r:embed="rId6"/>
          <a:stretch>
            <a:fillRect/>
          </a:stretch>
        </p:blipFill>
        <p:spPr>
          <a:xfrm>
            <a:off x="5056632" y="4873752"/>
            <a:ext cx="219456" cy="219456"/>
          </a:xfrm>
          <a:prstGeom prst="rect">
            <a:avLst/>
          </a:prstGeom>
        </p:spPr>
      </p:pic>
      <p:sp>
        <p:nvSpPr>
          <p:cNvPr id="22" name="Text 16"/>
          <p:cNvSpPr txBox="1"/>
          <p:nvPr/>
        </p:nvSpPr>
        <p:spPr>
          <a:xfrm>
            <a:off x="5532120" y="4709160"/>
            <a:ext cx="242316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Résultat du labo A1</a:t>
            </a:r>
            <a:endParaRPr lang="fr-FR" sz="1250" dirty="0"/>
          </a:p>
        </p:txBody>
      </p:sp>
      <p:sp>
        <p:nvSpPr>
          <p:cNvPr id="23" name="Text 17"/>
          <p:cNvSpPr txBox="1"/>
          <p:nvPr/>
        </p:nvSpPr>
        <p:spPr>
          <a:xfrm>
            <a:off x="5532120" y="5010912"/>
            <a:ext cx="2423160" cy="68580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C’est la carte que vous produirez pour votre pays : découpée, en unités de radiance.</a:t>
            </a:r>
            <a:endParaRPr lang="fr-FR" sz="1100" dirty="0"/>
          </a:p>
        </p:txBody>
      </p:sp>
      <p:sp>
        <p:nvSpPr>
          <p:cNvPr id="24" name="Shape 18"/>
          <p:cNvSpPr/>
          <p:nvPr/>
        </p:nvSpPr>
        <p:spPr>
          <a:xfrm>
            <a:off x="8247888" y="4617720"/>
            <a:ext cx="3291840" cy="1143000"/>
          </a:xfrm>
          <a:prstGeom prst="roundRect">
            <a:avLst>
              <a:gd name="adj" fmla="val 6400"/>
            </a:avLst>
          </a:prstGeom>
          <a:solidFill>
            <a:srgbClr val="FDF5DC"/>
          </a:solidFill>
          <a:ln w="9525">
            <a:solidFill>
              <a:srgbClr val="FDF5DC"/>
            </a:solidFill>
            <a:prstDash val="solid"/>
          </a:ln>
        </p:spPr>
      </p:sp>
      <p:sp>
        <p:nvSpPr>
          <p:cNvPr id="25" name="Shape 19"/>
          <p:cNvSpPr/>
          <p:nvPr/>
        </p:nvSpPr>
        <p:spPr>
          <a:xfrm>
            <a:off x="8385048" y="4754880"/>
            <a:ext cx="457200" cy="457200"/>
          </a:xfrm>
          <a:prstGeom prst="ellipse">
            <a:avLst/>
          </a:prstGeom>
          <a:solidFill>
            <a:srgbClr val="F5C242"/>
          </a:solidFill>
          <a:ln w="12700">
            <a:solidFill>
              <a:srgbClr val="F5C242"/>
            </a:solidFill>
            <a:prstDash val="solid"/>
          </a:ln>
        </p:spPr>
      </p:sp>
      <p:pic>
        <p:nvPicPr>
          <p:cNvPr id="26" name="Image 4" descr="preencoded.png"/>
          <p:cNvPicPr>
            <a:picLocks noChangeAspect="1"/>
          </p:cNvPicPr>
          <p:nvPr/>
        </p:nvPicPr>
        <p:blipFill>
          <a:blip r:embed="rId7"/>
          <a:stretch>
            <a:fillRect/>
          </a:stretch>
        </p:blipFill>
        <p:spPr>
          <a:xfrm>
            <a:off x="8503920" y="4873752"/>
            <a:ext cx="219456" cy="219456"/>
          </a:xfrm>
          <a:prstGeom prst="rect">
            <a:avLst/>
          </a:prstGeom>
        </p:spPr>
      </p:pic>
      <p:sp>
        <p:nvSpPr>
          <p:cNvPr id="27" name="Text 20"/>
          <p:cNvSpPr txBox="1"/>
          <p:nvPr/>
        </p:nvSpPr>
        <p:spPr>
          <a:xfrm>
            <a:off x="8979408" y="4709160"/>
            <a:ext cx="242316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Résultat du labo A2</a:t>
            </a:r>
            <a:endParaRPr lang="fr-FR" sz="1250" dirty="0"/>
          </a:p>
        </p:txBody>
      </p:sp>
      <p:sp>
        <p:nvSpPr>
          <p:cNvPr id="28" name="Text 21"/>
          <p:cNvSpPr txBox="1"/>
          <p:nvPr/>
        </p:nvSpPr>
        <p:spPr>
          <a:xfrm>
            <a:off x="8979408" y="5010912"/>
            <a:ext cx="2423160" cy="68580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Et voici la série : un point par mois, prête pour les masques, les trimestres et les taux de croissance.</a:t>
            </a:r>
            <a:endParaRPr lang="fr-FR"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VOIES D’ACCÈS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Cinq façons d’obtenir les données — en choisir une et s’y tenir</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24</a:t>
            </a:r>
            <a:endParaRPr lang="fr-FR" sz="900" dirty="0"/>
          </a:p>
        </p:txBody>
      </p:sp>
      <p:sp>
        <p:nvSpPr>
          <p:cNvPr id="12" name="Shape 9"/>
          <p:cNvSpPr/>
          <p:nvPr/>
        </p:nvSpPr>
        <p:spPr>
          <a:xfrm>
            <a:off x="548640" y="1371600"/>
            <a:ext cx="7498080" cy="786384"/>
          </a:xfrm>
          <a:prstGeom prst="roundRect">
            <a:avLst>
              <a:gd name="adj" fmla="val 9302"/>
            </a:avLst>
          </a:prstGeom>
          <a:solidFill>
            <a:srgbClr val="F4F7F5"/>
          </a:solidFill>
          <a:ln w="9525">
            <a:solidFill>
              <a:srgbClr val="D5DED9"/>
            </a:solidFill>
            <a:prstDash val="solid"/>
          </a:ln>
        </p:spPr>
      </p:sp>
      <p:sp>
        <p:nvSpPr>
          <p:cNvPr id="13" name="Shape 10"/>
          <p:cNvSpPr/>
          <p:nvPr/>
        </p:nvSpPr>
        <p:spPr>
          <a:xfrm>
            <a:off x="713232" y="1508760"/>
            <a:ext cx="512064" cy="512064"/>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46369" y="1641897"/>
            <a:ext cx="245791" cy="245791"/>
          </a:xfrm>
          <a:prstGeom prst="rect">
            <a:avLst/>
          </a:prstGeom>
        </p:spPr>
      </p:pic>
      <p:sp>
        <p:nvSpPr>
          <p:cNvPr id="15" name="Text 11"/>
          <p:cNvSpPr txBox="1"/>
          <p:nvPr/>
        </p:nvSpPr>
        <p:spPr>
          <a:xfrm>
            <a:off x="1371600" y="1444752"/>
            <a:ext cx="2834640" cy="64008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NASA LAADS DAAC / Earthdata</a:t>
            </a:r>
            <a:endParaRPr lang="fr-FR" sz="1300" dirty="0"/>
          </a:p>
        </p:txBody>
      </p:sp>
      <p:sp>
        <p:nvSpPr>
          <p:cNvPr id="16" name="Text 12"/>
          <p:cNvSpPr txBox="1"/>
          <p:nvPr/>
        </p:nvSpPr>
        <p:spPr>
          <a:xfrm>
            <a:off x="4160520" y="1426464"/>
            <a:ext cx="2743200" cy="676656"/>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Tuiles Black Marble VNP46 et VJ146 en HDF5. Compte Earthdata et jeton de téléchargement gratuits.</a:t>
            </a:r>
            <a:endParaRPr lang="fr-FR" sz="1050" dirty="0"/>
          </a:p>
        </p:txBody>
      </p:sp>
      <p:sp>
        <p:nvSpPr>
          <p:cNvPr id="17" name="Shape 13"/>
          <p:cNvSpPr/>
          <p:nvPr/>
        </p:nvSpPr>
        <p:spPr>
          <a:xfrm>
            <a:off x="6949440" y="1645920"/>
            <a:ext cx="987552" cy="237744"/>
          </a:xfrm>
          <a:prstGeom prst="roundRect">
            <a:avLst>
              <a:gd name="adj" fmla="val 50000"/>
            </a:avLst>
          </a:prstGeom>
          <a:solidFill>
            <a:srgbClr val="E8F5EF"/>
          </a:solidFill>
          <a:ln w="12700">
            <a:solidFill>
              <a:srgbClr val="E8F5EF"/>
            </a:solidFill>
            <a:prstDash val="solid"/>
          </a:ln>
        </p:spPr>
      </p:sp>
      <p:sp>
        <p:nvSpPr>
          <p:cNvPr id="18" name="Text 14"/>
          <p:cNvSpPr txBox="1"/>
          <p:nvPr/>
        </p:nvSpPr>
        <p:spPr>
          <a:xfrm>
            <a:off x="6949440" y="1645920"/>
            <a:ext cx="987552" cy="237744"/>
          </a:xfrm>
          <a:prstGeom prst="rect">
            <a:avLst/>
          </a:prstGeom>
          <a:noFill/>
          <a:ln/>
        </p:spPr>
        <p:txBody>
          <a:bodyPr wrap="square" lIns="0" tIns="0" rIns="0" bIns="0" rtlCol="0" anchor="ctr"/>
          <a:lstStyle/>
          <a:p>
            <a:pPr marL="0" indent="0" algn="ctr">
              <a:buNone/>
            </a:pPr>
            <a:r>
              <a:rPr lang="fr-FR" sz="750" b="1" kern="0" spc="100" dirty="0">
                <a:solidFill>
                  <a:srgbClr val="00704A"/>
                </a:solidFill>
                <a:latin typeface="Calibri" pitchFamily="34" charset="0"/>
                <a:ea typeface="Calibri" pitchFamily="34" charset="-122"/>
                <a:cs typeface="Calibri" pitchFamily="34" charset="-120"/>
              </a:rPr>
              <a:t>SOURCE PRIMAIRE</a:t>
            </a:r>
            <a:endParaRPr lang="fr-FR" sz="750" dirty="0"/>
          </a:p>
        </p:txBody>
      </p:sp>
      <p:sp>
        <p:nvSpPr>
          <p:cNvPr id="19" name="Shape 15"/>
          <p:cNvSpPr/>
          <p:nvPr/>
        </p:nvSpPr>
        <p:spPr>
          <a:xfrm>
            <a:off x="548640" y="2267712"/>
            <a:ext cx="7498080" cy="786384"/>
          </a:xfrm>
          <a:prstGeom prst="roundRect">
            <a:avLst>
              <a:gd name="adj" fmla="val 9302"/>
            </a:avLst>
          </a:prstGeom>
          <a:solidFill>
            <a:srgbClr val="FDF5DC"/>
          </a:solidFill>
          <a:ln w="9525">
            <a:solidFill>
              <a:srgbClr val="F5C242"/>
            </a:solidFill>
            <a:prstDash val="solid"/>
          </a:ln>
        </p:spPr>
      </p:sp>
      <p:sp>
        <p:nvSpPr>
          <p:cNvPr id="20" name="Shape 16"/>
          <p:cNvSpPr/>
          <p:nvPr/>
        </p:nvSpPr>
        <p:spPr>
          <a:xfrm>
            <a:off x="713232" y="2404872"/>
            <a:ext cx="512064" cy="512064"/>
          </a:xfrm>
          <a:prstGeom prst="ellipse">
            <a:avLst/>
          </a:prstGeom>
          <a:solidFill>
            <a:srgbClr val="F5C242"/>
          </a:solidFill>
          <a:ln w="12700">
            <a:solidFill>
              <a:srgbClr val="F5C242"/>
            </a:solidFill>
            <a:prstDash val="solid"/>
          </a:ln>
        </p:spPr>
      </p:sp>
      <p:pic>
        <p:nvPicPr>
          <p:cNvPr id="21" name="Image 2" descr="preencoded.png"/>
          <p:cNvPicPr>
            <a:picLocks noChangeAspect="1"/>
          </p:cNvPicPr>
          <p:nvPr/>
        </p:nvPicPr>
        <p:blipFill>
          <a:blip r:embed="rId5"/>
          <a:stretch>
            <a:fillRect/>
          </a:stretch>
        </p:blipFill>
        <p:spPr>
          <a:xfrm>
            <a:off x="846369" y="2538009"/>
            <a:ext cx="245791" cy="245791"/>
          </a:xfrm>
          <a:prstGeom prst="rect">
            <a:avLst/>
          </a:prstGeom>
        </p:spPr>
      </p:pic>
      <p:sp>
        <p:nvSpPr>
          <p:cNvPr id="22" name="Text 17"/>
          <p:cNvSpPr txBox="1"/>
          <p:nvPr/>
        </p:nvSpPr>
        <p:spPr>
          <a:xfrm>
            <a:off x="1371600" y="2340864"/>
            <a:ext cx="2834640" cy="64008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BlackMarblePy (Banque mondiale)</a:t>
            </a:r>
            <a:endParaRPr lang="fr-FR" sz="1300" dirty="0"/>
          </a:p>
        </p:txBody>
      </p:sp>
      <p:sp>
        <p:nvSpPr>
          <p:cNvPr id="23" name="Text 18"/>
          <p:cNvSpPr txBox="1"/>
          <p:nvPr/>
        </p:nvSpPr>
        <p:spPr>
          <a:xfrm>
            <a:off x="4160520" y="2322576"/>
            <a:ext cx="2743200" cy="676656"/>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Python : télécharger, mosaïquer, découper selon vos contours et calculer des statistiques zonales en quelques lignes. Jumeau R : blackmarbler.</a:t>
            </a:r>
            <a:endParaRPr lang="fr-FR" sz="1050" dirty="0"/>
          </a:p>
        </p:txBody>
      </p:sp>
      <p:sp>
        <p:nvSpPr>
          <p:cNvPr id="24" name="Shape 19"/>
          <p:cNvSpPr/>
          <p:nvPr/>
        </p:nvSpPr>
        <p:spPr>
          <a:xfrm>
            <a:off x="6949440" y="2542032"/>
            <a:ext cx="987552" cy="237744"/>
          </a:xfrm>
          <a:prstGeom prst="roundRect">
            <a:avLst>
              <a:gd name="adj" fmla="val 50000"/>
            </a:avLst>
          </a:prstGeom>
          <a:solidFill>
            <a:srgbClr val="F5C242"/>
          </a:solidFill>
          <a:ln w="12700">
            <a:solidFill>
              <a:srgbClr val="F5C242"/>
            </a:solidFill>
            <a:prstDash val="solid"/>
          </a:ln>
        </p:spPr>
      </p:sp>
      <p:sp>
        <p:nvSpPr>
          <p:cNvPr id="25" name="Text 20"/>
          <p:cNvSpPr txBox="1"/>
          <p:nvPr/>
        </p:nvSpPr>
        <p:spPr>
          <a:xfrm>
            <a:off x="6949440" y="2542032"/>
            <a:ext cx="987552" cy="237744"/>
          </a:xfrm>
          <a:prstGeom prst="rect">
            <a:avLst/>
          </a:prstGeom>
          <a:noFill/>
          <a:ln/>
        </p:spPr>
        <p:txBody>
          <a:bodyPr wrap="square" lIns="0" tIns="0" rIns="0" bIns="0" rtlCol="0" anchor="ctr"/>
          <a:lstStyle/>
          <a:p>
            <a:pPr marL="0" indent="0" algn="ctr">
              <a:buNone/>
            </a:pPr>
            <a:r>
              <a:rPr lang="fr-FR" sz="750" b="1" kern="0" spc="100" dirty="0">
                <a:solidFill>
                  <a:srgbClr val="00553A"/>
                </a:solidFill>
                <a:latin typeface="Calibri" pitchFamily="34" charset="0"/>
                <a:ea typeface="Calibri" pitchFamily="34" charset="-122"/>
                <a:cs typeface="Calibri" pitchFamily="34" charset="-120"/>
              </a:rPr>
              <a:t>UTILISÉ AU LABO A</a:t>
            </a:r>
            <a:endParaRPr lang="fr-FR" sz="750" dirty="0"/>
          </a:p>
        </p:txBody>
      </p:sp>
      <p:sp>
        <p:nvSpPr>
          <p:cNvPr id="26" name="Shape 21"/>
          <p:cNvSpPr/>
          <p:nvPr/>
        </p:nvSpPr>
        <p:spPr>
          <a:xfrm>
            <a:off x="548640" y="3163824"/>
            <a:ext cx="7498080" cy="786384"/>
          </a:xfrm>
          <a:prstGeom prst="roundRect">
            <a:avLst>
              <a:gd name="adj" fmla="val 9302"/>
            </a:avLst>
          </a:prstGeom>
          <a:solidFill>
            <a:srgbClr val="F4F7F5"/>
          </a:solidFill>
          <a:ln w="9525">
            <a:solidFill>
              <a:srgbClr val="D5DED9"/>
            </a:solidFill>
            <a:prstDash val="solid"/>
          </a:ln>
        </p:spPr>
      </p:sp>
      <p:sp>
        <p:nvSpPr>
          <p:cNvPr id="27" name="Shape 22"/>
          <p:cNvSpPr/>
          <p:nvPr/>
        </p:nvSpPr>
        <p:spPr>
          <a:xfrm>
            <a:off x="713232" y="3300984"/>
            <a:ext cx="512064" cy="512064"/>
          </a:xfrm>
          <a:prstGeom prst="ellipse">
            <a:avLst/>
          </a:prstGeom>
          <a:solidFill>
            <a:srgbClr val="00704A"/>
          </a:solidFill>
          <a:ln w="12700">
            <a:solidFill>
              <a:srgbClr val="00704A"/>
            </a:solidFill>
            <a:prstDash val="solid"/>
          </a:ln>
        </p:spPr>
      </p:sp>
      <p:pic>
        <p:nvPicPr>
          <p:cNvPr id="28" name="Image 3" descr="preencoded.png"/>
          <p:cNvPicPr>
            <a:picLocks noChangeAspect="1"/>
          </p:cNvPicPr>
          <p:nvPr/>
        </p:nvPicPr>
        <p:blipFill>
          <a:blip r:embed="rId6"/>
          <a:stretch>
            <a:fillRect/>
          </a:stretch>
        </p:blipFill>
        <p:spPr>
          <a:xfrm>
            <a:off x="846369" y="3434121"/>
            <a:ext cx="245791" cy="245791"/>
          </a:xfrm>
          <a:prstGeom prst="rect">
            <a:avLst/>
          </a:prstGeom>
        </p:spPr>
      </p:pic>
      <p:sp>
        <p:nvSpPr>
          <p:cNvPr id="29" name="Text 23"/>
          <p:cNvSpPr txBox="1"/>
          <p:nvPr/>
        </p:nvSpPr>
        <p:spPr>
          <a:xfrm>
            <a:off x="1371600" y="3236976"/>
            <a:ext cx="2834640" cy="64008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Google Earth Engine</a:t>
            </a:r>
            <a:endParaRPr lang="fr-FR" sz="1300" dirty="0"/>
          </a:p>
        </p:txBody>
      </p:sp>
      <p:sp>
        <p:nvSpPr>
          <p:cNvPr id="30" name="Text 24"/>
          <p:cNvSpPr txBox="1"/>
          <p:nvPr/>
        </p:nvSpPr>
        <p:spPr>
          <a:xfrm>
            <a:off x="4160520" y="3218688"/>
            <a:ext cx="2743200" cy="676656"/>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Catalogue hébergé : NOAA/VIIRS/DNB/MONTHLY_V1/VCMSLCFG · NOAA/VIIRS/DNB/ANNUAL_V21 &amp; V22 · collections Black Marble.</a:t>
            </a:r>
            <a:endParaRPr lang="fr-FR" sz="1050" dirty="0"/>
          </a:p>
        </p:txBody>
      </p:sp>
      <p:sp>
        <p:nvSpPr>
          <p:cNvPr id="31" name="Shape 25"/>
          <p:cNvSpPr/>
          <p:nvPr/>
        </p:nvSpPr>
        <p:spPr>
          <a:xfrm>
            <a:off x="6949440" y="3438144"/>
            <a:ext cx="987552" cy="237744"/>
          </a:xfrm>
          <a:prstGeom prst="roundRect">
            <a:avLst>
              <a:gd name="adj" fmla="val 50000"/>
            </a:avLst>
          </a:prstGeom>
          <a:solidFill>
            <a:srgbClr val="E8F5EF"/>
          </a:solidFill>
          <a:ln w="12700">
            <a:solidFill>
              <a:srgbClr val="E8F5EF"/>
            </a:solidFill>
            <a:prstDash val="solid"/>
          </a:ln>
        </p:spPr>
      </p:sp>
      <p:sp>
        <p:nvSpPr>
          <p:cNvPr id="32" name="Text 26"/>
          <p:cNvSpPr txBox="1"/>
          <p:nvPr/>
        </p:nvSpPr>
        <p:spPr>
          <a:xfrm>
            <a:off x="6949440" y="3438144"/>
            <a:ext cx="987552" cy="237744"/>
          </a:xfrm>
          <a:prstGeom prst="rect">
            <a:avLst/>
          </a:prstGeom>
          <a:noFill/>
          <a:ln/>
        </p:spPr>
        <p:txBody>
          <a:bodyPr wrap="square" lIns="0" tIns="0" rIns="0" bIns="0" rtlCol="0" anchor="ctr"/>
          <a:lstStyle/>
          <a:p>
            <a:pPr marL="0" indent="0" algn="ctr">
              <a:buNone/>
            </a:pPr>
            <a:r>
              <a:rPr lang="fr-FR" sz="750" b="1" kern="0" spc="100" dirty="0">
                <a:solidFill>
                  <a:srgbClr val="00704A"/>
                </a:solidFill>
                <a:latin typeface="Calibri" pitchFamily="34" charset="0"/>
                <a:ea typeface="Calibri" pitchFamily="34" charset="-122"/>
                <a:cs typeface="Calibri" pitchFamily="34" charset="-120"/>
              </a:rPr>
              <a:t>SOLUTION DE REPLI</a:t>
            </a:r>
            <a:endParaRPr lang="fr-FR" sz="750" dirty="0"/>
          </a:p>
        </p:txBody>
      </p:sp>
      <p:sp>
        <p:nvSpPr>
          <p:cNvPr id="33" name="Shape 27"/>
          <p:cNvSpPr/>
          <p:nvPr/>
        </p:nvSpPr>
        <p:spPr>
          <a:xfrm>
            <a:off x="548640" y="4059936"/>
            <a:ext cx="7498080" cy="786384"/>
          </a:xfrm>
          <a:prstGeom prst="roundRect">
            <a:avLst>
              <a:gd name="adj" fmla="val 9302"/>
            </a:avLst>
          </a:prstGeom>
          <a:solidFill>
            <a:srgbClr val="F4F7F5"/>
          </a:solidFill>
          <a:ln w="9525">
            <a:solidFill>
              <a:srgbClr val="D5DED9"/>
            </a:solidFill>
            <a:prstDash val="solid"/>
          </a:ln>
        </p:spPr>
      </p:sp>
      <p:sp>
        <p:nvSpPr>
          <p:cNvPr id="34" name="Shape 28"/>
          <p:cNvSpPr/>
          <p:nvPr/>
        </p:nvSpPr>
        <p:spPr>
          <a:xfrm>
            <a:off x="713232" y="4197096"/>
            <a:ext cx="512064" cy="512064"/>
          </a:xfrm>
          <a:prstGeom prst="ellipse">
            <a:avLst/>
          </a:prstGeom>
          <a:solidFill>
            <a:srgbClr val="00704A"/>
          </a:solidFill>
          <a:ln w="12700">
            <a:solidFill>
              <a:srgbClr val="00704A"/>
            </a:solidFill>
            <a:prstDash val="solid"/>
          </a:ln>
        </p:spPr>
      </p:sp>
      <p:pic>
        <p:nvPicPr>
          <p:cNvPr id="35" name="Image 4" descr="preencoded.png"/>
          <p:cNvPicPr>
            <a:picLocks noChangeAspect="1"/>
          </p:cNvPicPr>
          <p:nvPr/>
        </p:nvPicPr>
        <p:blipFill>
          <a:blip r:embed="rId7"/>
          <a:stretch>
            <a:fillRect/>
          </a:stretch>
        </p:blipFill>
        <p:spPr>
          <a:xfrm>
            <a:off x="846369" y="4330233"/>
            <a:ext cx="245791" cy="245791"/>
          </a:xfrm>
          <a:prstGeom prst="rect">
            <a:avLst/>
          </a:prstGeom>
        </p:spPr>
      </p:pic>
      <p:sp>
        <p:nvSpPr>
          <p:cNvPr id="36" name="Text 29"/>
          <p:cNvSpPr txBox="1"/>
          <p:nvPr/>
        </p:nvSpPr>
        <p:spPr>
          <a:xfrm>
            <a:off x="1371600" y="4133088"/>
            <a:ext cx="2834640" cy="64008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Earth Observation Group (EOG)</a:t>
            </a:r>
            <a:endParaRPr lang="fr-FR" sz="1300" dirty="0"/>
          </a:p>
        </p:txBody>
      </p:sp>
      <p:sp>
        <p:nvSpPr>
          <p:cNvPr id="37" name="Text 30"/>
          <p:cNvSpPr txBox="1"/>
          <p:nvPr/>
        </p:nvSpPr>
        <p:spPr>
          <a:xfrm>
            <a:off x="4160520" y="4114800"/>
            <a:ext cx="2743200" cy="676656"/>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VIIRS Nighttime Lights (VNL) annuel V2.x et GeoTIFF mensuels ; VIIRS Nightfire pour les torchères.</a:t>
            </a:r>
            <a:endParaRPr lang="fr-FR" sz="1050" dirty="0"/>
          </a:p>
        </p:txBody>
      </p:sp>
      <p:sp>
        <p:nvSpPr>
          <p:cNvPr id="38" name="Shape 31"/>
          <p:cNvSpPr/>
          <p:nvPr/>
        </p:nvSpPr>
        <p:spPr>
          <a:xfrm>
            <a:off x="6949440" y="4334256"/>
            <a:ext cx="987552" cy="237744"/>
          </a:xfrm>
          <a:prstGeom prst="roundRect">
            <a:avLst>
              <a:gd name="adj" fmla="val 50000"/>
            </a:avLst>
          </a:prstGeom>
          <a:solidFill>
            <a:srgbClr val="E8F5EF"/>
          </a:solidFill>
          <a:ln w="12700">
            <a:solidFill>
              <a:srgbClr val="E8F5EF"/>
            </a:solidFill>
            <a:prstDash val="solid"/>
          </a:ln>
        </p:spPr>
      </p:sp>
      <p:sp>
        <p:nvSpPr>
          <p:cNvPr id="39" name="Text 32"/>
          <p:cNvSpPr txBox="1"/>
          <p:nvPr/>
        </p:nvSpPr>
        <p:spPr>
          <a:xfrm>
            <a:off x="6949440" y="4334256"/>
            <a:ext cx="987552" cy="237744"/>
          </a:xfrm>
          <a:prstGeom prst="rect">
            <a:avLst/>
          </a:prstGeom>
          <a:noFill/>
          <a:ln/>
        </p:spPr>
        <p:txBody>
          <a:bodyPr wrap="square" lIns="0" tIns="0" rIns="0" bIns="0" rtlCol="0" anchor="ctr"/>
          <a:lstStyle/>
          <a:p>
            <a:pPr marL="0" indent="0" algn="ctr">
              <a:buNone/>
            </a:pPr>
            <a:r>
              <a:rPr lang="fr-FR" sz="750" b="1" kern="0" spc="100" dirty="0">
                <a:solidFill>
                  <a:srgbClr val="00704A"/>
                </a:solidFill>
                <a:latin typeface="Calibri" pitchFamily="34" charset="0"/>
                <a:ea typeface="Calibri" pitchFamily="34" charset="-122"/>
                <a:cs typeface="Calibri" pitchFamily="34" charset="-120"/>
              </a:rPr>
              <a:t>SÉRIE ANNUELLE</a:t>
            </a:r>
            <a:endParaRPr lang="fr-FR" sz="750" dirty="0"/>
          </a:p>
        </p:txBody>
      </p:sp>
      <p:sp>
        <p:nvSpPr>
          <p:cNvPr id="40" name="Shape 33"/>
          <p:cNvSpPr/>
          <p:nvPr/>
        </p:nvSpPr>
        <p:spPr>
          <a:xfrm>
            <a:off x="548640" y="4956048"/>
            <a:ext cx="7498080" cy="786384"/>
          </a:xfrm>
          <a:prstGeom prst="roundRect">
            <a:avLst>
              <a:gd name="adj" fmla="val 9302"/>
            </a:avLst>
          </a:prstGeom>
          <a:solidFill>
            <a:srgbClr val="F4F7F5"/>
          </a:solidFill>
          <a:ln w="9525">
            <a:solidFill>
              <a:srgbClr val="D5DED9"/>
            </a:solidFill>
            <a:prstDash val="solid"/>
          </a:ln>
        </p:spPr>
      </p:sp>
      <p:sp>
        <p:nvSpPr>
          <p:cNvPr id="41" name="Shape 34"/>
          <p:cNvSpPr/>
          <p:nvPr/>
        </p:nvSpPr>
        <p:spPr>
          <a:xfrm>
            <a:off x="713232" y="5093208"/>
            <a:ext cx="512064" cy="512064"/>
          </a:xfrm>
          <a:prstGeom prst="ellipse">
            <a:avLst/>
          </a:prstGeom>
          <a:solidFill>
            <a:srgbClr val="00704A"/>
          </a:solidFill>
          <a:ln w="12700">
            <a:solidFill>
              <a:srgbClr val="00704A"/>
            </a:solidFill>
            <a:prstDash val="solid"/>
          </a:ln>
        </p:spPr>
      </p:sp>
      <p:pic>
        <p:nvPicPr>
          <p:cNvPr id="42" name="Image 5" descr="preencoded.png"/>
          <p:cNvPicPr>
            <a:picLocks noChangeAspect="1"/>
          </p:cNvPicPr>
          <p:nvPr/>
        </p:nvPicPr>
        <p:blipFill>
          <a:blip r:embed="rId8"/>
          <a:stretch>
            <a:fillRect/>
          </a:stretch>
        </p:blipFill>
        <p:spPr>
          <a:xfrm>
            <a:off x="846369" y="5226345"/>
            <a:ext cx="245791" cy="245791"/>
          </a:xfrm>
          <a:prstGeom prst="rect">
            <a:avLst/>
          </a:prstGeom>
        </p:spPr>
      </p:pic>
      <p:sp>
        <p:nvSpPr>
          <p:cNvPr id="43" name="Text 35"/>
          <p:cNvSpPr txBox="1"/>
          <p:nvPr/>
        </p:nvSpPr>
        <p:spPr>
          <a:xfrm>
            <a:off x="1371600" y="5029200"/>
            <a:ext cx="2834640" cy="640080"/>
          </a:xfrm>
          <a:prstGeom prst="rect">
            <a:avLst/>
          </a:prstGeom>
          <a:noFill/>
          <a:ln/>
        </p:spPr>
        <p:txBody>
          <a:bodyPr wrap="square" lIns="0" tIns="0" rIns="0" bIns="0" rtlCol="0" anchor="ctr"/>
          <a:lstStyle/>
          <a:p>
            <a:pPr marL="0" indent="0">
              <a:buNone/>
            </a:pPr>
            <a:r>
              <a:rPr lang="fr-FR" sz="1300" b="1" dirty="0">
                <a:solidFill>
                  <a:srgbClr val="00704A"/>
                </a:solidFill>
                <a:latin typeface="Calibri" pitchFamily="34" charset="0"/>
                <a:ea typeface="Calibri" pitchFamily="34" charset="-122"/>
                <a:cs typeface="Calibri" pitchFamily="34" charset="-120"/>
              </a:rPr>
              <a:t>World Bank Light Every Night</a:t>
            </a:r>
            <a:endParaRPr lang="fr-FR" sz="1300" dirty="0"/>
          </a:p>
        </p:txBody>
      </p:sp>
      <p:sp>
        <p:nvSpPr>
          <p:cNvPr id="44" name="Text 36"/>
          <p:cNvSpPr txBox="1"/>
          <p:nvPr/>
        </p:nvSpPr>
        <p:spPr>
          <a:xfrm>
            <a:off x="4160520" y="5010912"/>
            <a:ext cx="2743200" cy="676656"/>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Toutes les observations nocturnes DMSP et VIIRS en données ouvertes sur AWS, avec tutoriels.</a:t>
            </a:r>
            <a:endParaRPr lang="fr-FR" sz="1050" dirty="0"/>
          </a:p>
        </p:txBody>
      </p:sp>
      <p:sp>
        <p:nvSpPr>
          <p:cNvPr id="45" name="Shape 37"/>
          <p:cNvSpPr/>
          <p:nvPr/>
        </p:nvSpPr>
        <p:spPr>
          <a:xfrm>
            <a:off x="6949440" y="5230368"/>
            <a:ext cx="987552" cy="237744"/>
          </a:xfrm>
          <a:prstGeom prst="roundRect">
            <a:avLst>
              <a:gd name="adj" fmla="val 50000"/>
            </a:avLst>
          </a:prstGeom>
          <a:solidFill>
            <a:srgbClr val="E8F5EF"/>
          </a:solidFill>
          <a:ln w="12700">
            <a:solidFill>
              <a:srgbClr val="E8F5EF"/>
            </a:solidFill>
            <a:prstDash val="solid"/>
          </a:ln>
        </p:spPr>
      </p:sp>
      <p:sp>
        <p:nvSpPr>
          <p:cNvPr id="46" name="Text 38"/>
          <p:cNvSpPr txBox="1"/>
          <p:nvPr/>
        </p:nvSpPr>
        <p:spPr>
          <a:xfrm>
            <a:off x="6949440" y="5230368"/>
            <a:ext cx="987552" cy="237744"/>
          </a:xfrm>
          <a:prstGeom prst="rect">
            <a:avLst/>
          </a:prstGeom>
          <a:noFill/>
          <a:ln/>
        </p:spPr>
        <p:txBody>
          <a:bodyPr wrap="square" lIns="0" tIns="0" rIns="0" bIns="0" rtlCol="0" anchor="ctr"/>
          <a:lstStyle/>
          <a:p>
            <a:pPr marL="0" indent="0" algn="ctr">
              <a:buNone/>
            </a:pPr>
            <a:r>
              <a:rPr lang="fr-FR" sz="750" b="1" kern="0" spc="100" dirty="0">
                <a:solidFill>
                  <a:srgbClr val="00704A"/>
                </a:solidFill>
                <a:latin typeface="Calibri" pitchFamily="34" charset="0"/>
                <a:ea typeface="Calibri" pitchFamily="34" charset="-122"/>
                <a:cs typeface="Calibri" pitchFamily="34" charset="-120"/>
              </a:rPr>
              <a:t>AVANCÉ</a:t>
            </a:r>
            <a:endParaRPr lang="fr-FR" sz="750" dirty="0"/>
          </a:p>
        </p:txBody>
      </p:sp>
      <p:sp>
        <p:nvSpPr>
          <p:cNvPr id="47" name="Shape 39"/>
          <p:cNvSpPr/>
          <p:nvPr/>
        </p:nvSpPr>
        <p:spPr>
          <a:xfrm>
            <a:off x="8275320" y="1371600"/>
            <a:ext cx="3364992" cy="4370832"/>
          </a:xfrm>
          <a:prstGeom prst="roundRect">
            <a:avLst>
              <a:gd name="adj" fmla="val 2174"/>
            </a:avLst>
          </a:prstGeom>
          <a:solidFill>
            <a:srgbClr val="00553A"/>
          </a:solidFill>
          <a:ln w="9525">
            <a:solidFill>
              <a:srgbClr val="00553A"/>
            </a:solidFill>
            <a:prstDash val="solid"/>
          </a:ln>
        </p:spPr>
      </p:sp>
      <p:sp>
        <p:nvSpPr>
          <p:cNvPr id="48" name="Text 40"/>
          <p:cNvSpPr txBox="1"/>
          <p:nvPr/>
        </p:nvSpPr>
        <p:spPr>
          <a:xfrm>
            <a:off x="8503920" y="1536192"/>
            <a:ext cx="2926080" cy="320040"/>
          </a:xfrm>
          <a:prstGeom prst="rect">
            <a:avLst/>
          </a:prstGeom>
          <a:noFill/>
          <a:ln/>
        </p:spPr>
        <p:txBody>
          <a:bodyPr wrap="square" lIns="0" tIns="0" rIns="0" bIns="0" rtlCol="0" anchor="t"/>
          <a:lstStyle/>
          <a:p>
            <a:pPr marL="0" indent="0">
              <a:buNone/>
            </a:pPr>
            <a:r>
              <a:rPr lang="fr-FR" sz="1500" b="1" dirty="0">
                <a:solidFill>
                  <a:srgbClr val="F5C242"/>
                </a:solidFill>
                <a:latin typeface="Calibri" pitchFamily="34" charset="0"/>
                <a:ea typeface="Calibri" pitchFamily="34" charset="-122"/>
                <a:cs typeface="Calibri" pitchFamily="34" charset="-120"/>
              </a:rPr>
              <a:t>Choisir une voie</a:t>
            </a:r>
            <a:endParaRPr lang="fr-FR" sz="1500" dirty="0"/>
          </a:p>
        </p:txBody>
      </p:sp>
      <p:sp>
        <p:nvSpPr>
          <p:cNvPr id="49" name="Text 41"/>
          <p:cNvSpPr txBox="1"/>
          <p:nvPr/>
        </p:nvSpPr>
        <p:spPr>
          <a:xfrm>
            <a:off x="8503920" y="1965960"/>
            <a:ext cx="2926080" cy="3657600"/>
          </a:xfrm>
          <a:prstGeom prst="rect">
            <a:avLst/>
          </a:prstGeom>
          <a:noFill/>
          <a:ln/>
        </p:spPr>
        <p:txBody>
          <a:bodyPr wrap="square" lIns="0" tIns="0" rIns="0" bIns="0" rtlCol="0" anchor="t"/>
          <a:lstStyle/>
          <a:p>
            <a:pPr marL="177800" indent="-177800">
              <a:spcAft>
                <a:spcPts val="800"/>
              </a:spcAft>
              <a:buSzPct val="100000"/>
              <a:buChar char="•"/>
            </a:pPr>
            <a:r>
              <a:rPr lang="fr-FR" sz="1150" b="1" dirty="0">
                <a:solidFill>
                  <a:srgbClr val="FFFFFF"/>
                </a:solidFill>
                <a:latin typeface="Calibri" pitchFamily="34" charset="0"/>
                <a:ea typeface="Calibri" pitchFamily="34" charset="-122"/>
                <a:cs typeface="Calibri" pitchFamily="34" charset="-120"/>
              </a:rPr>
              <a:t>Chaîne reproductible ?</a:t>
            </a:r>
            <a:r>
              <a:rPr lang="fr-FR" sz="1150" dirty="0">
                <a:solidFill>
                  <a:srgbClr val="D8EEE3"/>
                </a:solidFill>
                <a:latin typeface="Calibri" pitchFamily="34" charset="0"/>
                <a:ea typeface="Calibri" pitchFamily="34" charset="-122"/>
                <a:cs typeface="Calibri" pitchFamily="34" charset="-120"/>
              </a:rPr>
              <a:t> BlackMarblePy ou blackmarbler, scriptés et versionnés.</a:t>
            </a:r>
            <a:endParaRPr lang="fr-FR" sz="1150" dirty="0"/>
          </a:p>
          <a:p>
            <a:pPr marL="177800" indent="-177800">
              <a:spcAft>
                <a:spcPts val="800"/>
              </a:spcAft>
              <a:buSzPct val="100000"/>
              <a:buChar char="•"/>
            </a:pPr>
            <a:r>
              <a:rPr lang="fr-FR" sz="1150" b="1" dirty="0">
                <a:solidFill>
                  <a:srgbClr val="FFFFFF"/>
                </a:solidFill>
                <a:latin typeface="Calibri" pitchFamily="34" charset="0"/>
                <a:ea typeface="Calibri" pitchFamily="34" charset="-122"/>
                <a:cs typeface="Calibri" pitchFamily="34" charset="-120"/>
              </a:rPr>
              <a:t>Pas de calcul local ?</a:t>
            </a:r>
            <a:r>
              <a:rPr lang="fr-FR" sz="1150" dirty="0">
                <a:solidFill>
                  <a:srgbClr val="D8EEE3"/>
                </a:solidFill>
                <a:latin typeface="Calibri" pitchFamily="34" charset="0"/>
                <a:ea typeface="Calibri" pitchFamily="34" charset="-122"/>
                <a:cs typeface="Calibri" pitchFamily="34" charset="-120"/>
              </a:rPr>
              <a:t> Earth Engine — mais noter identifiants de collection et dates.</a:t>
            </a:r>
            <a:endParaRPr lang="fr-FR" sz="1150" dirty="0"/>
          </a:p>
          <a:p>
            <a:pPr marL="177800" indent="-177800">
              <a:spcAft>
                <a:spcPts val="800"/>
              </a:spcAft>
              <a:buSzPct val="100000"/>
              <a:buChar char="•"/>
            </a:pPr>
            <a:r>
              <a:rPr lang="fr-FR" sz="1150" b="1" dirty="0">
                <a:solidFill>
                  <a:srgbClr val="FFFFFF"/>
                </a:solidFill>
                <a:latin typeface="Calibri" pitchFamily="34" charset="0"/>
                <a:ea typeface="Calibri" pitchFamily="34" charset="-122"/>
                <a:cs typeface="Calibri" pitchFamily="34" charset="-120"/>
              </a:rPr>
              <a:t>Longue série annuelle ?</a:t>
            </a:r>
            <a:r>
              <a:rPr lang="fr-FR" sz="1150" dirty="0">
                <a:solidFill>
                  <a:srgbClr val="D8EEE3"/>
                </a:solidFill>
                <a:latin typeface="Calibri" pitchFamily="34" charset="0"/>
                <a:ea typeface="Calibri" pitchFamily="34" charset="-122"/>
                <a:cs typeface="Calibri" pitchFamily="34" charset="-120"/>
              </a:rPr>
              <a:t> composites annuels EOG VNL V2.</a:t>
            </a:r>
            <a:endParaRPr lang="fr-FR" sz="1150" dirty="0"/>
          </a:p>
          <a:p>
            <a:pPr marL="177800" indent="-177800">
              <a:spcAft>
                <a:spcPts val="800"/>
              </a:spcAft>
              <a:buSzPct val="100000"/>
              <a:buChar char="•"/>
            </a:pPr>
            <a:r>
              <a:rPr lang="fr-FR" sz="1150" b="1" dirty="0">
                <a:solidFill>
                  <a:srgbClr val="FFFFFF"/>
                </a:solidFill>
                <a:latin typeface="Calibri" pitchFamily="34" charset="0"/>
                <a:ea typeface="Calibri" pitchFamily="34" charset="-122"/>
                <a:cs typeface="Calibri" pitchFamily="34" charset="-120"/>
              </a:rPr>
              <a:t>Ne jamais mélanger</a:t>
            </a:r>
            <a:r>
              <a:rPr lang="fr-FR" sz="1150" dirty="0">
                <a:solidFill>
                  <a:srgbClr val="D8EEE3"/>
                </a:solidFill>
                <a:latin typeface="Calibri" pitchFamily="34" charset="0"/>
                <a:ea typeface="Calibri" pitchFamily="34" charset="-122"/>
                <a:cs typeface="Calibri" pitchFamily="34" charset="-120"/>
              </a:rPr>
              <a:t> des produits dans une série sans le documenter.</a:t>
            </a:r>
            <a:endParaRPr lang="fr-FR"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INTERPRÉTATION</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Ce qui brille vraiment sur l’Afrique la nuit</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25</a:t>
            </a:r>
            <a:endParaRPr lang="fr-FR" sz="900" dirty="0"/>
          </a:p>
        </p:txBody>
      </p:sp>
      <p:sp>
        <p:nvSpPr>
          <p:cNvPr id="12" name="Shape 9"/>
          <p:cNvSpPr/>
          <p:nvPr/>
        </p:nvSpPr>
        <p:spPr>
          <a:xfrm>
            <a:off x="548640" y="1371600"/>
            <a:ext cx="3593592" cy="1920240"/>
          </a:xfrm>
          <a:prstGeom prst="roundRect">
            <a:avLst>
              <a:gd name="adj" fmla="val 3810"/>
            </a:avLst>
          </a:prstGeom>
          <a:solidFill>
            <a:srgbClr val="E6F6EE"/>
          </a:solidFill>
          <a:ln w="9525">
            <a:solidFill>
              <a:srgbClr val="E6F6EE"/>
            </a:solidFill>
            <a:prstDash val="solid"/>
          </a:ln>
        </p:spPr>
      </p:sp>
      <p:sp>
        <p:nvSpPr>
          <p:cNvPr id="13" name="Shape 10"/>
          <p:cNvSpPr/>
          <p:nvPr/>
        </p:nvSpPr>
        <p:spPr>
          <a:xfrm>
            <a:off x="749808" y="1572768"/>
            <a:ext cx="548640" cy="548640"/>
          </a:xfrm>
          <a:prstGeom prst="ellipse">
            <a:avLst/>
          </a:prstGeom>
          <a:solidFill>
            <a:srgbClr val="FFFFFF"/>
          </a:solidFill>
          <a:ln w="12700">
            <a:solidFill>
              <a:srgbClr val="FFFFFF"/>
            </a:solidFill>
            <a:prstDash val="solid"/>
          </a:ln>
        </p:spPr>
      </p:sp>
      <p:pic>
        <p:nvPicPr>
          <p:cNvPr id="14" name="Image 1" descr="preencoded.png"/>
          <p:cNvPicPr>
            <a:picLocks noChangeAspect="1"/>
          </p:cNvPicPr>
          <p:nvPr/>
        </p:nvPicPr>
        <p:blipFill>
          <a:blip r:embed="rId4"/>
          <a:stretch>
            <a:fillRect/>
          </a:stretch>
        </p:blipFill>
        <p:spPr>
          <a:xfrm>
            <a:off x="892454" y="1715414"/>
            <a:ext cx="263347" cy="263347"/>
          </a:xfrm>
          <a:prstGeom prst="rect">
            <a:avLst/>
          </a:prstGeom>
        </p:spPr>
      </p:pic>
      <p:sp>
        <p:nvSpPr>
          <p:cNvPr id="15" name="Text 11"/>
          <p:cNvSpPr txBox="1"/>
          <p:nvPr/>
        </p:nvSpPr>
        <p:spPr>
          <a:xfrm>
            <a:off x="1417320" y="1572768"/>
            <a:ext cx="182880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Villes et localités</a:t>
            </a:r>
            <a:endParaRPr lang="fr-FR" sz="1350" dirty="0"/>
          </a:p>
        </p:txBody>
      </p:sp>
      <p:sp>
        <p:nvSpPr>
          <p:cNvPr id="16" name="Shape 12"/>
          <p:cNvSpPr/>
          <p:nvPr/>
        </p:nvSpPr>
        <p:spPr>
          <a:xfrm>
            <a:off x="3246120" y="1709928"/>
            <a:ext cx="731520" cy="256032"/>
          </a:xfrm>
          <a:prstGeom prst="roundRect">
            <a:avLst>
              <a:gd name="adj" fmla="val 50000"/>
            </a:avLst>
          </a:prstGeom>
          <a:solidFill>
            <a:srgbClr val="00704A"/>
          </a:solidFill>
          <a:ln w="12700">
            <a:solidFill>
              <a:srgbClr val="00704A"/>
            </a:solidFill>
            <a:prstDash val="solid"/>
          </a:ln>
        </p:spPr>
      </p:sp>
      <p:sp>
        <p:nvSpPr>
          <p:cNvPr id="17" name="Text 13"/>
          <p:cNvSpPr txBox="1"/>
          <p:nvPr/>
        </p:nvSpPr>
        <p:spPr>
          <a:xfrm>
            <a:off x="3246120" y="1709928"/>
            <a:ext cx="73152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SIGNAL</a:t>
            </a:r>
            <a:endParaRPr lang="fr-FR" sz="850" dirty="0"/>
          </a:p>
        </p:txBody>
      </p:sp>
      <p:sp>
        <p:nvSpPr>
          <p:cNvPr id="18" name="Text 14"/>
          <p:cNvSpPr txBox="1"/>
          <p:nvPr/>
        </p:nvSpPr>
        <p:spPr>
          <a:xfrm>
            <a:off x="749808" y="2267712"/>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Rues, bâtiments, marchés, véhicules. La composante dominante et la plus étudiée du signal.</a:t>
            </a:r>
            <a:endParaRPr lang="fr-FR" sz="1150" dirty="0"/>
          </a:p>
        </p:txBody>
      </p:sp>
      <p:sp>
        <p:nvSpPr>
          <p:cNvPr id="19" name="Shape 15"/>
          <p:cNvSpPr/>
          <p:nvPr/>
        </p:nvSpPr>
        <p:spPr>
          <a:xfrm>
            <a:off x="4297680" y="1371600"/>
            <a:ext cx="3593592" cy="1920240"/>
          </a:xfrm>
          <a:prstGeom prst="roundRect">
            <a:avLst>
              <a:gd name="adj" fmla="val 3810"/>
            </a:avLst>
          </a:prstGeom>
          <a:solidFill>
            <a:srgbClr val="E6F6EE"/>
          </a:solidFill>
          <a:ln w="9525">
            <a:solidFill>
              <a:srgbClr val="E6F6EE"/>
            </a:solidFill>
            <a:prstDash val="solid"/>
          </a:ln>
        </p:spPr>
      </p:sp>
      <p:sp>
        <p:nvSpPr>
          <p:cNvPr id="20" name="Shape 16"/>
          <p:cNvSpPr/>
          <p:nvPr/>
        </p:nvSpPr>
        <p:spPr>
          <a:xfrm>
            <a:off x="4498848" y="1572768"/>
            <a:ext cx="548640" cy="548640"/>
          </a:xfrm>
          <a:prstGeom prst="ellipse">
            <a:avLst/>
          </a:prstGeom>
          <a:solidFill>
            <a:srgbClr val="FFFFFF"/>
          </a:solidFill>
          <a:ln w="12700">
            <a:solidFill>
              <a:srgbClr val="FFFFFF"/>
            </a:solidFill>
            <a:prstDash val="solid"/>
          </a:ln>
        </p:spPr>
      </p:sp>
      <p:pic>
        <p:nvPicPr>
          <p:cNvPr id="21" name="Image 2" descr="preencoded.png"/>
          <p:cNvPicPr>
            <a:picLocks noChangeAspect="1"/>
          </p:cNvPicPr>
          <p:nvPr/>
        </p:nvPicPr>
        <p:blipFill>
          <a:blip r:embed="rId5"/>
          <a:stretch>
            <a:fillRect/>
          </a:stretch>
        </p:blipFill>
        <p:spPr>
          <a:xfrm>
            <a:off x="4641494" y="1715414"/>
            <a:ext cx="263347" cy="263347"/>
          </a:xfrm>
          <a:prstGeom prst="rect">
            <a:avLst/>
          </a:prstGeom>
        </p:spPr>
      </p:pic>
      <p:sp>
        <p:nvSpPr>
          <p:cNvPr id="22" name="Text 17"/>
          <p:cNvSpPr txBox="1"/>
          <p:nvPr/>
        </p:nvSpPr>
        <p:spPr>
          <a:xfrm>
            <a:off x="5166360" y="1572768"/>
            <a:ext cx="182880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Corridors, ports et mines</a:t>
            </a:r>
            <a:endParaRPr lang="fr-FR" sz="1350" dirty="0"/>
          </a:p>
        </p:txBody>
      </p:sp>
      <p:sp>
        <p:nvSpPr>
          <p:cNvPr id="23" name="Shape 18"/>
          <p:cNvSpPr/>
          <p:nvPr/>
        </p:nvSpPr>
        <p:spPr>
          <a:xfrm>
            <a:off x="6995160" y="1709928"/>
            <a:ext cx="731520" cy="256032"/>
          </a:xfrm>
          <a:prstGeom prst="roundRect">
            <a:avLst>
              <a:gd name="adj" fmla="val 50000"/>
            </a:avLst>
          </a:prstGeom>
          <a:solidFill>
            <a:srgbClr val="00704A"/>
          </a:solidFill>
          <a:ln w="12700">
            <a:solidFill>
              <a:srgbClr val="00704A"/>
            </a:solidFill>
            <a:prstDash val="solid"/>
          </a:ln>
        </p:spPr>
      </p:sp>
      <p:sp>
        <p:nvSpPr>
          <p:cNvPr id="24" name="Text 19"/>
          <p:cNvSpPr txBox="1"/>
          <p:nvPr/>
        </p:nvSpPr>
        <p:spPr>
          <a:xfrm>
            <a:off x="6995160" y="1709928"/>
            <a:ext cx="73152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SIGNAL</a:t>
            </a:r>
            <a:endParaRPr lang="fr-FR" sz="850" dirty="0"/>
          </a:p>
        </p:txBody>
      </p:sp>
      <p:sp>
        <p:nvSpPr>
          <p:cNvPr id="25" name="Text 20"/>
          <p:cNvSpPr txBox="1"/>
          <p:nvPr/>
        </p:nvSpPr>
        <p:spPr>
          <a:xfrm>
            <a:off x="4498848" y="2267712"/>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Routes, ports, aéroports, sites miniers et industriels : le réseau entre les points lumineux.</a:t>
            </a:r>
            <a:endParaRPr lang="fr-FR" sz="1150" dirty="0"/>
          </a:p>
        </p:txBody>
      </p:sp>
      <p:sp>
        <p:nvSpPr>
          <p:cNvPr id="26" name="Shape 21"/>
          <p:cNvSpPr/>
          <p:nvPr/>
        </p:nvSpPr>
        <p:spPr>
          <a:xfrm>
            <a:off x="8046720" y="1371600"/>
            <a:ext cx="3593592" cy="1920240"/>
          </a:xfrm>
          <a:prstGeom prst="roundRect">
            <a:avLst>
              <a:gd name="adj" fmla="val 3810"/>
            </a:avLst>
          </a:prstGeom>
          <a:solidFill>
            <a:srgbClr val="FBE9E7"/>
          </a:solidFill>
          <a:ln w="9525">
            <a:solidFill>
              <a:srgbClr val="FBE9E7"/>
            </a:solidFill>
            <a:prstDash val="solid"/>
          </a:ln>
        </p:spPr>
      </p:sp>
      <p:sp>
        <p:nvSpPr>
          <p:cNvPr id="27" name="Shape 22"/>
          <p:cNvSpPr/>
          <p:nvPr/>
        </p:nvSpPr>
        <p:spPr>
          <a:xfrm>
            <a:off x="8247888" y="1572768"/>
            <a:ext cx="548640" cy="548640"/>
          </a:xfrm>
          <a:prstGeom prst="ellipse">
            <a:avLst/>
          </a:prstGeom>
          <a:solidFill>
            <a:srgbClr val="FFFFFF"/>
          </a:solidFill>
          <a:ln w="12700">
            <a:solidFill>
              <a:srgbClr val="FFFFFF"/>
            </a:solidFill>
            <a:prstDash val="solid"/>
          </a:ln>
        </p:spPr>
      </p:sp>
      <p:pic>
        <p:nvPicPr>
          <p:cNvPr id="28" name="Image 3" descr="preencoded.png"/>
          <p:cNvPicPr>
            <a:picLocks noChangeAspect="1"/>
          </p:cNvPicPr>
          <p:nvPr/>
        </p:nvPicPr>
        <p:blipFill>
          <a:blip r:embed="rId6"/>
          <a:stretch>
            <a:fillRect/>
          </a:stretch>
        </p:blipFill>
        <p:spPr>
          <a:xfrm>
            <a:off x="8390534" y="1715414"/>
            <a:ext cx="263347" cy="263347"/>
          </a:xfrm>
          <a:prstGeom prst="rect">
            <a:avLst/>
          </a:prstGeom>
        </p:spPr>
      </p:pic>
      <p:sp>
        <p:nvSpPr>
          <p:cNvPr id="29" name="Text 23"/>
          <p:cNvSpPr txBox="1"/>
          <p:nvPr/>
        </p:nvSpPr>
        <p:spPr>
          <a:xfrm>
            <a:off x="8915400" y="1572768"/>
            <a:ext cx="182880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Torchères</a:t>
            </a:r>
            <a:endParaRPr lang="fr-FR" sz="1350" dirty="0"/>
          </a:p>
        </p:txBody>
      </p:sp>
      <p:sp>
        <p:nvSpPr>
          <p:cNvPr id="30" name="Shape 24"/>
          <p:cNvSpPr/>
          <p:nvPr/>
        </p:nvSpPr>
        <p:spPr>
          <a:xfrm>
            <a:off x="10744200" y="1709928"/>
            <a:ext cx="731520" cy="256032"/>
          </a:xfrm>
          <a:prstGeom prst="roundRect">
            <a:avLst>
              <a:gd name="adj" fmla="val 50000"/>
            </a:avLst>
          </a:prstGeom>
          <a:solidFill>
            <a:srgbClr val="B83B2E"/>
          </a:solidFill>
          <a:ln w="12700">
            <a:solidFill>
              <a:srgbClr val="B83B2E"/>
            </a:solidFill>
            <a:prstDash val="solid"/>
          </a:ln>
        </p:spPr>
      </p:sp>
      <p:sp>
        <p:nvSpPr>
          <p:cNvPr id="31" name="Text 25"/>
          <p:cNvSpPr txBox="1"/>
          <p:nvPr/>
        </p:nvSpPr>
        <p:spPr>
          <a:xfrm>
            <a:off x="10744200" y="1709928"/>
            <a:ext cx="73152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MASQUER</a:t>
            </a:r>
            <a:endParaRPr lang="fr-FR" sz="850" dirty="0"/>
          </a:p>
        </p:txBody>
      </p:sp>
      <p:sp>
        <p:nvSpPr>
          <p:cNvPr id="32" name="Text 26"/>
          <p:cNvSpPr txBox="1"/>
          <p:nvPr/>
        </p:nvSpPr>
        <p:spPr>
          <a:xfrm>
            <a:off x="8247888" y="2267712"/>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Points isolés très brillants dans les zones pétrolières et gazières — delta du Niger, Algérie, Libye. À masquer.</a:t>
            </a:r>
            <a:endParaRPr lang="fr-FR" sz="1150" dirty="0"/>
          </a:p>
        </p:txBody>
      </p:sp>
      <p:sp>
        <p:nvSpPr>
          <p:cNvPr id="33" name="Shape 27"/>
          <p:cNvSpPr/>
          <p:nvPr/>
        </p:nvSpPr>
        <p:spPr>
          <a:xfrm>
            <a:off x="548640" y="3474720"/>
            <a:ext cx="3593592" cy="1920240"/>
          </a:xfrm>
          <a:prstGeom prst="roundRect">
            <a:avLst>
              <a:gd name="adj" fmla="val 3810"/>
            </a:avLst>
          </a:prstGeom>
          <a:solidFill>
            <a:srgbClr val="FDF5DC"/>
          </a:solidFill>
          <a:ln w="9525">
            <a:solidFill>
              <a:srgbClr val="FDF5DC"/>
            </a:solidFill>
            <a:prstDash val="solid"/>
          </a:ln>
        </p:spPr>
      </p:sp>
      <p:sp>
        <p:nvSpPr>
          <p:cNvPr id="34" name="Shape 28"/>
          <p:cNvSpPr/>
          <p:nvPr/>
        </p:nvSpPr>
        <p:spPr>
          <a:xfrm>
            <a:off x="749808" y="3675888"/>
            <a:ext cx="548640" cy="548640"/>
          </a:xfrm>
          <a:prstGeom prst="ellipse">
            <a:avLst/>
          </a:prstGeom>
          <a:solidFill>
            <a:srgbClr val="FFFFFF"/>
          </a:solidFill>
          <a:ln w="12700">
            <a:solidFill>
              <a:srgbClr val="FFFFFF"/>
            </a:solidFill>
            <a:prstDash val="solid"/>
          </a:ln>
        </p:spPr>
      </p:sp>
      <p:pic>
        <p:nvPicPr>
          <p:cNvPr id="35" name="Image 4" descr="preencoded.png"/>
          <p:cNvPicPr>
            <a:picLocks noChangeAspect="1"/>
          </p:cNvPicPr>
          <p:nvPr/>
        </p:nvPicPr>
        <p:blipFill>
          <a:blip r:embed="rId7"/>
          <a:stretch>
            <a:fillRect/>
          </a:stretch>
        </p:blipFill>
        <p:spPr>
          <a:xfrm>
            <a:off x="892454" y="3818534"/>
            <a:ext cx="263347" cy="263347"/>
          </a:xfrm>
          <a:prstGeom prst="rect">
            <a:avLst/>
          </a:prstGeom>
        </p:spPr>
      </p:pic>
      <p:sp>
        <p:nvSpPr>
          <p:cNvPr id="36" name="Text 29"/>
          <p:cNvSpPr txBox="1"/>
          <p:nvPr/>
        </p:nvSpPr>
        <p:spPr>
          <a:xfrm>
            <a:off x="1417320" y="3675888"/>
            <a:ext cx="182880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Pêche au lamparo</a:t>
            </a:r>
            <a:endParaRPr lang="fr-FR" sz="1350" dirty="0"/>
          </a:p>
        </p:txBody>
      </p:sp>
      <p:sp>
        <p:nvSpPr>
          <p:cNvPr id="37" name="Shape 30"/>
          <p:cNvSpPr/>
          <p:nvPr/>
        </p:nvSpPr>
        <p:spPr>
          <a:xfrm>
            <a:off x="3246120" y="3813048"/>
            <a:ext cx="731520" cy="256032"/>
          </a:xfrm>
          <a:prstGeom prst="roundRect">
            <a:avLst>
              <a:gd name="adj" fmla="val 50000"/>
            </a:avLst>
          </a:prstGeom>
          <a:solidFill>
            <a:srgbClr val="A87700"/>
          </a:solidFill>
          <a:ln w="12700">
            <a:solidFill>
              <a:srgbClr val="A87700"/>
            </a:solidFill>
            <a:prstDash val="solid"/>
          </a:ln>
        </p:spPr>
      </p:sp>
      <p:sp>
        <p:nvSpPr>
          <p:cNvPr id="38" name="Text 31"/>
          <p:cNvSpPr txBox="1"/>
          <p:nvPr/>
        </p:nvSpPr>
        <p:spPr>
          <a:xfrm>
            <a:off x="3246120" y="3813048"/>
            <a:ext cx="73152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CONTEXTE</a:t>
            </a:r>
            <a:endParaRPr lang="fr-FR" sz="850" dirty="0"/>
          </a:p>
        </p:txBody>
      </p:sp>
      <p:sp>
        <p:nvSpPr>
          <p:cNvPr id="39" name="Text 32"/>
          <p:cNvSpPr txBox="1"/>
          <p:nvPr/>
        </p:nvSpPr>
        <p:spPr>
          <a:xfrm>
            <a:off x="749808" y="4370832"/>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Pêche à la lumière sur les lacs Victoria et Tanganyika ; flottilles au large des États insulaires.</a:t>
            </a:r>
            <a:endParaRPr lang="fr-FR" sz="1150" dirty="0"/>
          </a:p>
        </p:txBody>
      </p:sp>
      <p:sp>
        <p:nvSpPr>
          <p:cNvPr id="40" name="Shape 33"/>
          <p:cNvSpPr/>
          <p:nvPr/>
        </p:nvSpPr>
        <p:spPr>
          <a:xfrm>
            <a:off x="4297680" y="3474720"/>
            <a:ext cx="3593592" cy="1920240"/>
          </a:xfrm>
          <a:prstGeom prst="roundRect">
            <a:avLst>
              <a:gd name="adj" fmla="val 3810"/>
            </a:avLst>
          </a:prstGeom>
          <a:solidFill>
            <a:srgbClr val="FBE9E7"/>
          </a:solidFill>
          <a:ln w="9525">
            <a:solidFill>
              <a:srgbClr val="FBE9E7"/>
            </a:solidFill>
            <a:prstDash val="solid"/>
          </a:ln>
        </p:spPr>
      </p:sp>
      <p:sp>
        <p:nvSpPr>
          <p:cNvPr id="41" name="Shape 34"/>
          <p:cNvSpPr/>
          <p:nvPr/>
        </p:nvSpPr>
        <p:spPr>
          <a:xfrm>
            <a:off x="4498848" y="3675888"/>
            <a:ext cx="548640" cy="548640"/>
          </a:xfrm>
          <a:prstGeom prst="ellipse">
            <a:avLst/>
          </a:prstGeom>
          <a:solidFill>
            <a:srgbClr val="FFFFFF"/>
          </a:solidFill>
          <a:ln w="12700">
            <a:solidFill>
              <a:srgbClr val="FFFFFF"/>
            </a:solidFill>
            <a:prstDash val="solid"/>
          </a:ln>
        </p:spPr>
      </p:sp>
      <p:pic>
        <p:nvPicPr>
          <p:cNvPr id="42" name="Image 5" descr="preencoded.png"/>
          <p:cNvPicPr>
            <a:picLocks noChangeAspect="1"/>
          </p:cNvPicPr>
          <p:nvPr/>
        </p:nvPicPr>
        <p:blipFill>
          <a:blip r:embed="rId8"/>
          <a:stretch>
            <a:fillRect/>
          </a:stretch>
        </p:blipFill>
        <p:spPr>
          <a:xfrm>
            <a:off x="4641494" y="3818534"/>
            <a:ext cx="263347" cy="263347"/>
          </a:xfrm>
          <a:prstGeom prst="rect">
            <a:avLst/>
          </a:prstGeom>
        </p:spPr>
      </p:pic>
      <p:sp>
        <p:nvSpPr>
          <p:cNvPr id="43" name="Text 35"/>
          <p:cNvSpPr txBox="1"/>
          <p:nvPr/>
        </p:nvSpPr>
        <p:spPr>
          <a:xfrm>
            <a:off x="5166360" y="3675888"/>
            <a:ext cx="182880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Feux</a:t>
            </a:r>
            <a:endParaRPr lang="fr-FR" sz="1350" dirty="0"/>
          </a:p>
        </p:txBody>
      </p:sp>
      <p:sp>
        <p:nvSpPr>
          <p:cNvPr id="44" name="Shape 36"/>
          <p:cNvSpPr/>
          <p:nvPr/>
        </p:nvSpPr>
        <p:spPr>
          <a:xfrm>
            <a:off x="6995160" y="3813048"/>
            <a:ext cx="731520" cy="256032"/>
          </a:xfrm>
          <a:prstGeom prst="roundRect">
            <a:avLst>
              <a:gd name="adj" fmla="val 50000"/>
            </a:avLst>
          </a:prstGeom>
          <a:solidFill>
            <a:srgbClr val="B83B2E"/>
          </a:solidFill>
          <a:ln w="12700">
            <a:solidFill>
              <a:srgbClr val="B83B2E"/>
            </a:solidFill>
            <a:prstDash val="solid"/>
          </a:ln>
        </p:spPr>
      </p:sp>
      <p:sp>
        <p:nvSpPr>
          <p:cNvPr id="45" name="Text 37"/>
          <p:cNvSpPr txBox="1"/>
          <p:nvPr/>
        </p:nvSpPr>
        <p:spPr>
          <a:xfrm>
            <a:off x="6995160" y="3813048"/>
            <a:ext cx="73152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MASQUER</a:t>
            </a:r>
            <a:endParaRPr lang="fr-FR" sz="850" dirty="0"/>
          </a:p>
        </p:txBody>
      </p:sp>
      <p:sp>
        <p:nvSpPr>
          <p:cNvPr id="46" name="Text 38"/>
          <p:cNvSpPr txBox="1"/>
          <p:nvPr/>
        </p:nvSpPr>
        <p:spPr>
          <a:xfrm>
            <a:off x="4498848" y="4370832"/>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Feux de brousse et brûlis agricoles : intenses, brefs et très saisonniers.</a:t>
            </a:r>
            <a:endParaRPr lang="fr-FR" sz="1150" dirty="0"/>
          </a:p>
        </p:txBody>
      </p:sp>
      <p:sp>
        <p:nvSpPr>
          <p:cNvPr id="47" name="Shape 39"/>
          <p:cNvSpPr/>
          <p:nvPr/>
        </p:nvSpPr>
        <p:spPr>
          <a:xfrm>
            <a:off x="8046720" y="3474720"/>
            <a:ext cx="3593592" cy="1920240"/>
          </a:xfrm>
          <a:prstGeom prst="roundRect">
            <a:avLst>
              <a:gd name="adj" fmla="val 3810"/>
            </a:avLst>
          </a:prstGeom>
          <a:solidFill>
            <a:srgbClr val="EFF2F0"/>
          </a:solidFill>
          <a:ln w="9525">
            <a:solidFill>
              <a:srgbClr val="EFF2F0"/>
            </a:solidFill>
            <a:prstDash val="solid"/>
          </a:ln>
        </p:spPr>
      </p:sp>
      <p:sp>
        <p:nvSpPr>
          <p:cNvPr id="48" name="Shape 40"/>
          <p:cNvSpPr/>
          <p:nvPr/>
        </p:nvSpPr>
        <p:spPr>
          <a:xfrm>
            <a:off x="8247888" y="3675888"/>
            <a:ext cx="548640" cy="548640"/>
          </a:xfrm>
          <a:prstGeom prst="ellipse">
            <a:avLst/>
          </a:prstGeom>
          <a:solidFill>
            <a:srgbClr val="FFFFFF"/>
          </a:solidFill>
          <a:ln w="12700">
            <a:solidFill>
              <a:srgbClr val="FFFFFF"/>
            </a:solidFill>
            <a:prstDash val="solid"/>
          </a:ln>
        </p:spPr>
      </p:sp>
      <p:pic>
        <p:nvPicPr>
          <p:cNvPr id="49" name="Image 6" descr="preencoded.png"/>
          <p:cNvPicPr>
            <a:picLocks noChangeAspect="1"/>
          </p:cNvPicPr>
          <p:nvPr/>
        </p:nvPicPr>
        <p:blipFill>
          <a:blip r:embed="rId9"/>
          <a:stretch>
            <a:fillRect/>
          </a:stretch>
        </p:blipFill>
        <p:spPr>
          <a:xfrm>
            <a:off x="8390534" y="3818534"/>
            <a:ext cx="263347" cy="263347"/>
          </a:xfrm>
          <a:prstGeom prst="rect">
            <a:avLst/>
          </a:prstGeom>
        </p:spPr>
      </p:pic>
      <p:sp>
        <p:nvSpPr>
          <p:cNvPr id="50" name="Text 41"/>
          <p:cNvSpPr txBox="1"/>
          <p:nvPr/>
        </p:nvSpPr>
        <p:spPr>
          <a:xfrm>
            <a:off x="8915400" y="3675888"/>
            <a:ext cx="182880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Lumière naturelle ou réfléchie</a:t>
            </a:r>
            <a:endParaRPr lang="fr-FR" sz="1350" dirty="0"/>
          </a:p>
        </p:txBody>
      </p:sp>
      <p:sp>
        <p:nvSpPr>
          <p:cNvPr id="51" name="Shape 42"/>
          <p:cNvSpPr/>
          <p:nvPr/>
        </p:nvSpPr>
        <p:spPr>
          <a:xfrm>
            <a:off x="10744200" y="3813048"/>
            <a:ext cx="731520" cy="256032"/>
          </a:xfrm>
          <a:prstGeom prst="roundRect">
            <a:avLst>
              <a:gd name="adj" fmla="val 50000"/>
            </a:avLst>
          </a:prstGeom>
          <a:solidFill>
            <a:srgbClr val="5E6964"/>
          </a:solidFill>
          <a:ln w="12700">
            <a:solidFill>
              <a:srgbClr val="5E6964"/>
            </a:solidFill>
            <a:prstDash val="solid"/>
          </a:ln>
        </p:spPr>
      </p:sp>
      <p:sp>
        <p:nvSpPr>
          <p:cNvPr id="52" name="Text 43"/>
          <p:cNvSpPr txBox="1"/>
          <p:nvPr/>
        </p:nvSpPr>
        <p:spPr>
          <a:xfrm>
            <a:off x="10744200" y="3813048"/>
            <a:ext cx="73152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RETIRER</a:t>
            </a:r>
            <a:endParaRPr lang="fr-FR" sz="850" dirty="0"/>
          </a:p>
        </p:txBody>
      </p:sp>
      <p:sp>
        <p:nvSpPr>
          <p:cNvPr id="53" name="Text 44"/>
          <p:cNvSpPr txBox="1"/>
          <p:nvPr/>
        </p:nvSpPr>
        <p:spPr>
          <a:xfrm>
            <a:off x="8247888" y="4370832"/>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Clair de lune sur le sable clair ou les salines, luminescence nocturne. Aucun signal humain.</a:t>
            </a:r>
            <a:endParaRPr lang="fr-FR" sz="1150" dirty="0"/>
          </a:p>
        </p:txBody>
      </p:sp>
      <p:sp>
        <p:nvSpPr>
          <p:cNvPr id="54" name="Text 45"/>
          <p:cNvSpPr txBox="1"/>
          <p:nvPr/>
        </p:nvSpPr>
        <p:spPr>
          <a:xfrm>
            <a:off x="548640" y="5669280"/>
            <a:ext cx="11094415" cy="274320"/>
          </a:xfrm>
          <a:prstGeom prst="rect">
            <a:avLst/>
          </a:prstGeom>
          <a:noFill/>
          <a:ln/>
        </p:spPr>
        <p:txBody>
          <a:bodyPr wrap="square" lIns="0" tIns="0" rIns="0" bIns="0" rtlCol="0" anchor="t"/>
          <a:lstStyle/>
          <a:p>
            <a:pPr marL="0" indent="0">
              <a:buNone/>
            </a:pPr>
            <a:r>
              <a:rPr lang="fr-FR" sz="1100" i="1" dirty="0">
                <a:solidFill>
                  <a:srgbClr val="5E6964"/>
                </a:solidFill>
                <a:latin typeface="Calibri" pitchFamily="34" charset="0"/>
                <a:ea typeface="Calibri" pitchFamily="34" charset="-122"/>
                <a:cs typeface="Calibri" pitchFamily="34" charset="-120"/>
              </a:rPr>
              <a:t>Les torchères sont répertoriées séparément par le produit VIIRS Nightfire (Earth Observation Group).</a:t>
            </a:r>
            <a:endParaRPr lang="fr-FR"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ARTEFACTS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Six artefacts à vérifier avant de se fier à une série</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A · RÉF</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26</a:t>
            </a:r>
            <a:endParaRPr lang="fr-FR"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384048">
                <a:tc>
                  <a:txBody>
                    <a:bodyPr/>
                    <a:lstStyle/>
                    <a:p>
                      <a:pPr marL="0" indent="0">
                        <a:buNone/>
                      </a:pPr>
                      <a:r>
                        <a:rPr lang="fr-FR" sz="1150" b="1" dirty="0">
                          <a:solidFill>
                            <a:srgbClr val="FFFFFF"/>
                          </a:solidFill>
                          <a:latin typeface="Calibri" pitchFamily="34" charset="0"/>
                          <a:ea typeface="Calibri" pitchFamily="34" charset="-122"/>
                          <a:cs typeface="Calibri" pitchFamily="34" charset="-120"/>
                        </a:rPr>
                        <a:t>Artefact</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704A"/>
                    </a:solidFill>
                  </a:tcPr>
                </a:tc>
                <a:tc>
                  <a:txBody>
                    <a:bodyPr/>
                    <a:lstStyle/>
                    <a:p>
                      <a:pPr marL="0" indent="0">
                        <a:buNone/>
                      </a:pPr>
                      <a:r>
                        <a:rPr lang="fr-FR" sz="1150" b="1" dirty="0">
                          <a:solidFill>
                            <a:srgbClr val="FFFFFF"/>
                          </a:solidFill>
                          <a:latin typeface="Calibri" pitchFamily="34" charset="0"/>
                          <a:ea typeface="Calibri" pitchFamily="34" charset="-122"/>
                          <a:cs typeface="Calibri" pitchFamily="34" charset="-120"/>
                        </a:rPr>
                        <a:t>Ce que l’on voit</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704A"/>
                    </a:solidFill>
                  </a:tcPr>
                </a:tc>
                <a:tc>
                  <a:txBody>
                    <a:bodyPr/>
                    <a:lstStyle/>
                    <a:p>
                      <a:pPr marL="0" indent="0">
                        <a:buNone/>
                      </a:pPr>
                      <a:r>
                        <a:rPr lang="fr-FR" sz="1150" b="1" dirty="0">
                          <a:solidFill>
                            <a:srgbClr val="FFFFFF"/>
                          </a:solidFill>
                          <a:latin typeface="Calibri" pitchFamily="34" charset="0"/>
                          <a:ea typeface="Calibri" pitchFamily="34" charset="-122"/>
                          <a:cs typeface="Calibri" pitchFamily="34" charset="-120"/>
                        </a:rPr>
                        <a:t>Test rapide</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704A"/>
                    </a:solidFill>
                  </a:tcPr>
                </a:tc>
                <a:tc>
                  <a:txBody>
                    <a:bodyPr/>
                    <a:lstStyle/>
                    <a:p>
                      <a:pPr marL="0" indent="0">
                        <a:buNone/>
                      </a:pPr>
                      <a:r>
                        <a:rPr lang="fr-FR" sz="1150" b="1" dirty="0">
                          <a:solidFill>
                            <a:srgbClr val="FFFFFF"/>
                          </a:solidFill>
                          <a:latin typeface="Calibri" pitchFamily="34" charset="0"/>
                          <a:ea typeface="Calibri" pitchFamily="34" charset="-122"/>
                          <a:cs typeface="Calibri" pitchFamily="34" charset="-120"/>
                        </a:rPr>
                        <a:t>Traitement</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704A"/>
                    </a:solidFill>
                  </a:tcPr>
                </a:tc>
                <a:extLst>
                  <a:ext uri="{0D108BD9-81ED-4DB2-BD59-A6C34878D82A}">
                    <a16:rowId xmlns:a16="http://schemas.microsoft.com/office/drawing/2014/main" val="10000"/>
                  </a:ext>
                </a:extLst>
              </a:tr>
              <a:tr h="658368">
                <a:tc>
                  <a:txBody>
                    <a:bodyPr/>
                    <a:lstStyle/>
                    <a:p>
                      <a:pPr marL="0" indent="0">
                        <a:buNone/>
                      </a:pPr>
                      <a:r>
                        <a:rPr lang="fr-FR" sz="1150" b="1" dirty="0">
                          <a:solidFill>
                            <a:srgbClr val="00704A"/>
                          </a:solidFill>
                          <a:latin typeface="Calibri" pitchFamily="34" charset="0"/>
                          <a:ea typeface="Calibri" pitchFamily="34" charset="-122"/>
                          <a:cs typeface="Calibri" pitchFamily="34" charset="-120"/>
                        </a:rPr>
                        <a:t>Débordement (blooming)</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La lumière déborde de sa source ; petites villes fusionnées ; surface éclairée surestimée</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Comparer la surface éclairée à une emprise bâtie (GHSL, WSF)</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Relever / tester le seuil ; masques du bâti ; préférer des sommes sur de grands contours</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658368">
                <a:tc>
                  <a:txBody>
                    <a:bodyPr/>
                    <a:lstStyle/>
                    <a:p>
                      <a:pPr marL="0" indent="0">
                        <a:buNone/>
                      </a:pPr>
                      <a:r>
                        <a:rPr lang="fr-FR" sz="1150" b="1" dirty="0">
                          <a:solidFill>
                            <a:srgbClr val="00704A"/>
                          </a:solidFill>
                          <a:latin typeface="Calibri" pitchFamily="34" charset="0"/>
                          <a:ea typeface="Calibri" pitchFamily="34" charset="-122"/>
                          <a:cs typeface="Calibri" pitchFamily="34" charset="-120"/>
                        </a:rPr>
                        <a:t>Saturation</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Plateaux au cœur des villes (DMSP) ; les centres lumineux cessent de croître</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Maxima groupés au plafond du capteur ?</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Utiliser VIIRS ; pour le DMSP, un produit harmonisé ou étalonné en radiance</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fr-FR" sz="1150" b="1" dirty="0">
                          <a:solidFill>
                            <a:srgbClr val="00704A"/>
                          </a:solidFill>
                          <a:latin typeface="Calibri" pitchFamily="34" charset="0"/>
                          <a:ea typeface="Calibri" pitchFamily="34" charset="-122"/>
                          <a:cs typeface="Calibri" pitchFamily="34" charset="-120"/>
                        </a:rPr>
                        <a:t>Torchères</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Points isolés très brillants, zones pétrolières et gazières</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Superposer les torchères VIIRS Nightfire</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Masquer les torchères avec une zone tampon avant d’agréger</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3"/>
                  </a:ext>
                </a:extLst>
              </a:tr>
              <a:tr h="658368">
                <a:tc>
                  <a:txBody>
                    <a:bodyPr/>
                    <a:lstStyle/>
                    <a:p>
                      <a:pPr marL="0" indent="0">
                        <a:buNone/>
                      </a:pPr>
                      <a:r>
                        <a:rPr lang="fr-FR" sz="1150" b="1" dirty="0">
                          <a:solidFill>
                            <a:srgbClr val="00704A"/>
                          </a:solidFill>
                          <a:latin typeface="Calibri" pitchFamily="34" charset="0"/>
                          <a:ea typeface="Calibri" pitchFamily="34" charset="-122"/>
                          <a:cs typeface="Calibri" pitchFamily="34" charset="-120"/>
                        </a:rPr>
                        <a:t>Saisonnalité</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Motif calendaire récurrent : fêtes, saison des feux, lacunes de saison des pluies</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Tracer chaque mois sur plusieurs années</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Comparer en glissement annuel ; désaisonnaliser avant de modéliser</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fr-FR" sz="1150" b="1" dirty="0">
                          <a:solidFill>
                            <a:srgbClr val="00704A"/>
                          </a:solidFill>
                          <a:latin typeface="Calibri" pitchFamily="34" charset="0"/>
                          <a:ea typeface="Calibri" pitchFamily="34" charset="-122"/>
                          <a:cs typeface="Calibri" pitchFamily="34" charset="-120"/>
                        </a:rPr>
                        <a:t>Couverture nuageuse</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Mois avec peu de nuits valides ; valeurs bruitées ou manquantes</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Lire la couche du nombre d’observations</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Écarter les mois sous un seuil ; combler ou passer au trimestre</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5"/>
                  </a:ext>
                </a:extLst>
              </a:tr>
              <a:tr h="658368">
                <a:tc>
                  <a:txBody>
                    <a:bodyPr/>
                    <a:lstStyle/>
                    <a:p>
                      <a:pPr marL="0" indent="0">
                        <a:buNone/>
                      </a:pPr>
                      <a:r>
                        <a:rPr lang="fr-FR" sz="1150" b="1" dirty="0">
                          <a:solidFill>
                            <a:srgbClr val="00704A"/>
                          </a:solidFill>
                          <a:latin typeface="Calibri" pitchFamily="34" charset="0"/>
                          <a:ea typeface="Calibri" pitchFamily="34" charset="-122"/>
                          <a:cs typeface="Calibri" pitchFamily="34" charset="-120"/>
                        </a:rPr>
                        <a:t>Discontinuité des capteurs</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Sauts au passage DMSP→VIIRS, aux changements de version ou de satellite</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Test de rupture aux dates de changement</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150" dirty="0">
                          <a:solidFill>
                            <a:srgbClr val="231F20"/>
                          </a:solidFill>
                          <a:latin typeface="Calibri" pitchFamily="34" charset="0"/>
                          <a:ea typeface="Calibri" pitchFamily="34" charset="-122"/>
                          <a:cs typeface="Calibri" pitchFamily="34" charset="-120"/>
                        </a:rPr>
                        <a:t>Un produit et une version par série ; harmoniser et documenter</a:t>
                      </a:r>
                      <a:endParaRPr lang="fr-FR"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3" name="Text 9"/>
          <p:cNvSpPr txBox="1"/>
          <p:nvPr/>
        </p:nvSpPr>
        <p:spPr>
          <a:xfrm>
            <a:off x="548640" y="5806440"/>
            <a:ext cx="11094415" cy="320040"/>
          </a:xfrm>
          <a:prstGeom prst="rect">
            <a:avLst/>
          </a:prstGeom>
          <a:noFill/>
          <a:ln/>
        </p:spPr>
        <p:txBody>
          <a:bodyPr wrap="square" lIns="0" tIns="0" rIns="0" bIns="0" rtlCol="0" anchor="t"/>
          <a:lstStyle/>
          <a:p>
            <a:pPr marL="0" indent="0">
              <a:buNone/>
            </a:pPr>
            <a:r>
              <a:rPr lang="fr-FR" sz="1150" i="1" dirty="0">
                <a:solidFill>
                  <a:srgbClr val="00704A"/>
                </a:solidFill>
                <a:latin typeface="Calibri" pitchFamily="34" charset="0"/>
                <a:ea typeface="Calibri" pitchFamily="34" charset="-122"/>
                <a:cs typeface="Calibri" pitchFamily="34" charset="-120"/>
              </a:rPr>
              <a:t>Consignez chaque artefact trouvé, où, et comment vous l’avez traité — c’est le cœur de la note de limites produite au labo A2.</a:t>
            </a:r>
            <a:endParaRPr lang="fr-FR"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SPÉCIFICITÉS AFRICAINES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Nuages, saisons et calendriers : le problème propre à l’Afrique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27</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Profils schématiques, à titre illustratif — lisez la couche réelle du nombre d’observations pour votre pays. Effets calendaires : Román &amp; Stokes (2015), Earth’s Future 3(6).</a:t>
            </a:r>
            <a:endParaRPr lang="fr-FR" sz="850" dirty="0"/>
          </a:p>
        </p:txBody>
      </p:sp>
      <p:graphicFrame>
        <p:nvGraphicFramePr>
          <p:cNvPr id="13" name="Chart 0"/>
          <p:cNvGraphicFramePr/>
          <p:nvPr/>
        </p:nvGraphicFramePr>
        <p:xfrm>
          <a:off x="548640" y="1325880"/>
          <a:ext cx="6309360" cy="443484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7086600" y="1325880"/>
            <a:ext cx="4553712" cy="1353312"/>
          </a:xfrm>
          <a:prstGeom prst="roundRect">
            <a:avLst>
              <a:gd name="adj" fmla="val 5405"/>
            </a:avLst>
          </a:prstGeom>
          <a:solidFill>
            <a:srgbClr val="F4F7F5"/>
          </a:solidFill>
          <a:ln w="9525">
            <a:solidFill>
              <a:srgbClr val="D5DED9"/>
            </a:solidFill>
            <a:prstDash val="solid"/>
          </a:ln>
        </p:spPr>
      </p:sp>
      <p:sp>
        <p:nvSpPr>
          <p:cNvPr id="15" name="Shape 11"/>
          <p:cNvSpPr/>
          <p:nvPr/>
        </p:nvSpPr>
        <p:spPr>
          <a:xfrm>
            <a:off x="7251192" y="1508760"/>
            <a:ext cx="502920" cy="502920"/>
          </a:xfrm>
          <a:prstGeom prst="ellipse">
            <a:avLst/>
          </a:prstGeom>
          <a:solidFill>
            <a:srgbClr val="E8F5EF"/>
          </a:solidFill>
          <a:ln w="12700">
            <a:solidFill>
              <a:srgbClr val="E8F5EF"/>
            </a:solidFill>
            <a:prstDash val="solid"/>
          </a:ln>
        </p:spPr>
      </p:sp>
      <p:pic>
        <p:nvPicPr>
          <p:cNvPr id="16" name="Image 1" descr="preencoded.png"/>
          <p:cNvPicPr>
            <a:picLocks noChangeAspect="1"/>
          </p:cNvPicPr>
          <p:nvPr/>
        </p:nvPicPr>
        <p:blipFill>
          <a:blip r:embed="rId5"/>
          <a:stretch>
            <a:fillRect/>
          </a:stretch>
        </p:blipFill>
        <p:spPr>
          <a:xfrm>
            <a:off x="7381951" y="1639519"/>
            <a:ext cx="241402" cy="241402"/>
          </a:xfrm>
          <a:prstGeom prst="rect">
            <a:avLst/>
          </a:prstGeom>
        </p:spPr>
      </p:pic>
      <p:sp>
        <p:nvSpPr>
          <p:cNvPr id="17" name="Text 12"/>
          <p:cNvSpPr txBox="1"/>
          <p:nvPr/>
        </p:nvSpPr>
        <p:spPr>
          <a:xfrm>
            <a:off x="7882128" y="1463040"/>
            <a:ext cx="3657600" cy="320040"/>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Saisons des pluies : peu de données</a:t>
            </a:r>
            <a:endParaRPr lang="fr-FR" sz="1300" dirty="0"/>
          </a:p>
        </p:txBody>
      </p:sp>
      <p:sp>
        <p:nvSpPr>
          <p:cNvPr id="18" name="Text 13"/>
          <p:cNvSpPr txBox="1"/>
          <p:nvPr/>
        </p:nvSpPr>
        <p:spPr>
          <a:xfrm>
            <a:off x="7882128" y="1783080"/>
            <a:ext cx="3657600" cy="86868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Les régions côtières et équatoriales peuvent n’avoir qu’une poignée de nuits valides aux mois les plus pluvieux — la valeur mensuelle repose sur très peu de données.</a:t>
            </a:r>
            <a:endParaRPr lang="fr-FR" sz="1100" dirty="0"/>
          </a:p>
        </p:txBody>
      </p:sp>
      <p:sp>
        <p:nvSpPr>
          <p:cNvPr id="19" name="Shape 14"/>
          <p:cNvSpPr/>
          <p:nvPr/>
        </p:nvSpPr>
        <p:spPr>
          <a:xfrm>
            <a:off x="7086600" y="2816352"/>
            <a:ext cx="4553712" cy="1353312"/>
          </a:xfrm>
          <a:prstGeom prst="roundRect">
            <a:avLst>
              <a:gd name="adj" fmla="val 5405"/>
            </a:avLst>
          </a:prstGeom>
          <a:solidFill>
            <a:srgbClr val="F4F7F5"/>
          </a:solidFill>
          <a:ln w="9525">
            <a:solidFill>
              <a:srgbClr val="D5DED9"/>
            </a:solidFill>
            <a:prstDash val="solid"/>
          </a:ln>
        </p:spPr>
      </p:sp>
      <p:sp>
        <p:nvSpPr>
          <p:cNvPr id="20" name="Shape 15"/>
          <p:cNvSpPr/>
          <p:nvPr/>
        </p:nvSpPr>
        <p:spPr>
          <a:xfrm>
            <a:off x="7251192" y="2999232"/>
            <a:ext cx="502920" cy="502920"/>
          </a:xfrm>
          <a:prstGeom prst="ellipse">
            <a:avLst/>
          </a:prstGeom>
          <a:solidFill>
            <a:srgbClr val="E8F5EF"/>
          </a:solidFill>
          <a:ln w="12700">
            <a:solidFill>
              <a:srgbClr val="E8F5EF"/>
            </a:solidFill>
            <a:prstDash val="solid"/>
          </a:ln>
        </p:spPr>
      </p:sp>
      <p:pic>
        <p:nvPicPr>
          <p:cNvPr id="21" name="Image 2" descr="preencoded.png"/>
          <p:cNvPicPr>
            <a:picLocks noChangeAspect="1"/>
          </p:cNvPicPr>
          <p:nvPr/>
        </p:nvPicPr>
        <p:blipFill>
          <a:blip r:embed="rId6"/>
          <a:stretch>
            <a:fillRect/>
          </a:stretch>
        </p:blipFill>
        <p:spPr>
          <a:xfrm>
            <a:off x="7381951" y="3129991"/>
            <a:ext cx="241402" cy="241402"/>
          </a:xfrm>
          <a:prstGeom prst="rect">
            <a:avLst/>
          </a:prstGeom>
        </p:spPr>
      </p:pic>
      <p:sp>
        <p:nvSpPr>
          <p:cNvPr id="22" name="Text 16"/>
          <p:cNvSpPr txBox="1"/>
          <p:nvPr/>
        </p:nvSpPr>
        <p:spPr>
          <a:xfrm>
            <a:off x="7882128" y="2953512"/>
            <a:ext cx="3657600" cy="320040"/>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Poussière et fumée atténuent le signal</a:t>
            </a:r>
            <a:endParaRPr lang="fr-FR" sz="1300" dirty="0"/>
          </a:p>
        </p:txBody>
      </p:sp>
      <p:sp>
        <p:nvSpPr>
          <p:cNvPr id="23" name="Text 17"/>
          <p:cNvSpPr txBox="1"/>
          <p:nvPr/>
        </p:nvSpPr>
        <p:spPr>
          <a:xfrm>
            <a:off x="7882128" y="3273552"/>
            <a:ext cx="3657600" cy="86868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La poussière de l’harmattan et la fumée des feux de saison sèche atténuent la lumière, même par nuit « claire ».</a:t>
            </a:r>
            <a:endParaRPr lang="fr-FR" sz="1100" dirty="0"/>
          </a:p>
        </p:txBody>
      </p:sp>
      <p:sp>
        <p:nvSpPr>
          <p:cNvPr id="24" name="Shape 18"/>
          <p:cNvSpPr/>
          <p:nvPr/>
        </p:nvSpPr>
        <p:spPr>
          <a:xfrm>
            <a:off x="7086600" y="4306824"/>
            <a:ext cx="4553712" cy="1353312"/>
          </a:xfrm>
          <a:prstGeom prst="roundRect">
            <a:avLst>
              <a:gd name="adj" fmla="val 5405"/>
            </a:avLst>
          </a:prstGeom>
          <a:solidFill>
            <a:srgbClr val="F4F7F5"/>
          </a:solidFill>
          <a:ln w="9525">
            <a:solidFill>
              <a:srgbClr val="D5DED9"/>
            </a:solidFill>
            <a:prstDash val="solid"/>
          </a:ln>
        </p:spPr>
      </p:sp>
      <p:sp>
        <p:nvSpPr>
          <p:cNvPr id="25" name="Shape 19"/>
          <p:cNvSpPr/>
          <p:nvPr/>
        </p:nvSpPr>
        <p:spPr>
          <a:xfrm>
            <a:off x="7251192" y="4489704"/>
            <a:ext cx="502920" cy="502920"/>
          </a:xfrm>
          <a:prstGeom prst="ellipse">
            <a:avLst/>
          </a:prstGeom>
          <a:solidFill>
            <a:srgbClr val="E8F5EF"/>
          </a:solidFill>
          <a:ln w="12700">
            <a:solidFill>
              <a:srgbClr val="E8F5EF"/>
            </a:solidFill>
            <a:prstDash val="solid"/>
          </a:ln>
        </p:spPr>
      </p:sp>
      <p:pic>
        <p:nvPicPr>
          <p:cNvPr id="26" name="Image 3" descr="preencoded.png"/>
          <p:cNvPicPr>
            <a:picLocks noChangeAspect="1"/>
          </p:cNvPicPr>
          <p:nvPr/>
        </p:nvPicPr>
        <p:blipFill>
          <a:blip r:embed="rId7"/>
          <a:stretch>
            <a:fillRect/>
          </a:stretch>
        </p:blipFill>
        <p:spPr>
          <a:xfrm>
            <a:off x="7381951" y="4620463"/>
            <a:ext cx="241402" cy="241402"/>
          </a:xfrm>
          <a:prstGeom prst="rect">
            <a:avLst/>
          </a:prstGeom>
        </p:spPr>
      </p:pic>
      <p:sp>
        <p:nvSpPr>
          <p:cNvPr id="27" name="Text 20"/>
          <p:cNvSpPr txBox="1"/>
          <p:nvPr/>
        </p:nvSpPr>
        <p:spPr>
          <a:xfrm>
            <a:off x="7882128" y="4443984"/>
            <a:ext cx="3657600" cy="320040"/>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Les calendriers déplacent la lumière</a:t>
            </a:r>
            <a:endParaRPr lang="fr-FR" sz="1300" dirty="0"/>
          </a:p>
        </p:txBody>
      </p:sp>
      <p:sp>
        <p:nvSpPr>
          <p:cNvPr id="28" name="Text 21"/>
          <p:cNvSpPr txBox="1"/>
          <p:nvPr/>
        </p:nvSpPr>
        <p:spPr>
          <a:xfrm>
            <a:off x="7882128" y="4764024"/>
            <a:ext cx="3657600" cy="86868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Ramadan, fêtes de fin d’année et récoltes modifient les comportements nocturnes ; les fêtes déplacent la radiance de façon mesurable.</a:t>
            </a:r>
            <a:endParaRPr lang="fr-FR"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INDICATEURS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Transformer une image en chiffre</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A · RÉF</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28</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Valeurs illustratives. La concentration de la lumière (Gini de la radiance) forme une 4ᵉ famille, utilisée pour l’inégalité spatiale.</a:t>
            </a:r>
            <a:endParaRPr lang="fr-FR" sz="850" dirty="0"/>
          </a:p>
        </p:txBody>
      </p:sp>
      <p:sp>
        <p:nvSpPr>
          <p:cNvPr id="13" name="Text 10"/>
          <p:cNvSpPr txBox="1"/>
          <p:nvPr/>
        </p:nvSpPr>
        <p:spPr>
          <a:xfrm>
            <a:off x="548640" y="1325880"/>
            <a:ext cx="4114800" cy="274320"/>
          </a:xfrm>
          <a:prstGeom prst="rect">
            <a:avLst/>
          </a:prstGeom>
          <a:noFill/>
          <a:ln/>
        </p:spPr>
        <p:txBody>
          <a:bodyPr wrap="square" lIns="0" tIns="0" rIns="0" bIns="0" rtlCol="0" anchor="t"/>
          <a:lstStyle/>
          <a:p>
            <a:pPr marL="0" indent="0">
              <a:buNone/>
            </a:pPr>
            <a:r>
              <a:rPr lang="fr-FR" sz="1150" b="1" dirty="0">
                <a:solidFill>
                  <a:srgbClr val="00704A"/>
                </a:solidFill>
                <a:latin typeface="Calibri" pitchFamily="34" charset="0"/>
                <a:ea typeface="Calibri" pitchFamily="34" charset="-122"/>
                <a:cs typeface="Calibri" pitchFamily="34" charset="-120"/>
              </a:rPr>
              <a:t>District fictif · radiance par pixel (nW·cm⁻²·sr⁻¹)</a:t>
            </a:r>
            <a:endParaRPr lang="fr-FR" sz="1150" dirty="0"/>
          </a:p>
        </p:txBody>
      </p:sp>
      <p:sp>
        <p:nvSpPr>
          <p:cNvPr id="14" name="Shape 11"/>
          <p:cNvSpPr/>
          <p:nvPr/>
        </p:nvSpPr>
        <p:spPr>
          <a:xfrm>
            <a:off x="548640" y="1691640"/>
            <a:ext cx="822960" cy="822960"/>
          </a:xfrm>
          <a:prstGeom prst="rect">
            <a:avLst/>
          </a:prstGeom>
          <a:solidFill>
            <a:srgbClr val="F1F6F3"/>
          </a:solidFill>
          <a:ln w="6350">
            <a:solidFill>
              <a:srgbClr val="F1F6F3"/>
            </a:solidFill>
            <a:prstDash val="solid"/>
          </a:ln>
        </p:spPr>
      </p:sp>
      <p:sp>
        <p:nvSpPr>
          <p:cNvPr id="15" name="Text 12"/>
          <p:cNvSpPr txBox="1"/>
          <p:nvPr/>
        </p:nvSpPr>
        <p:spPr>
          <a:xfrm>
            <a:off x="548640" y="1691640"/>
            <a:ext cx="822960" cy="822960"/>
          </a:xfrm>
          <a:prstGeom prst="rect">
            <a:avLst/>
          </a:prstGeom>
          <a:noFill/>
          <a:ln/>
        </p:spPr>
        <p:txBody>
          <a:bodyPr wrap="square" lIns="0" tIns="0" rIns="0" bIns="0" rtlCol="0" anchor="ctr"/>
          <a:lstStyle/>
          <a:p>
            <a:pPr marL="0" indent="0" algn="ctr">
              <a:buNone/>
            </a:pPr>
            <a:r>
              <a:rPr lang="fr-FR" sz="1400" b="1" dirty="0">
                <a:solidFill>
                  <a:srgbClr val="5E6964"/>
                </a:solidFill>
                <a:latin typeface="Calibri" pitchFamily="34" charset="0"/>
                <a:ea typeface="Calibri" pitchFamily="34" charset="-122"/>
                <a:cs typeface="Calibri" pitchFamily="34" charset="-120"/>
              </a:rPr>
              <a:t>0.1</a:t>
            </a:r>
            <a:endParaRPr lang="fr-FR" sz="1400" dirty="0"/>
          </a:p>
        </p:txBody>
      </p:sp>
      <p:sp>
        <p:nvSpPr>
          <p:cNvPr id="16" name="Shape 13"/>
          <p:cNvSpPr/>
          <p:nvPr/>
        </p:nvSpPr>
        <p:spPr>
          <a:xfrm>
            <a:off x="1417320" y="1691640"/>
            <a:ext cx="822960" cy="822960"/>
          </a:xfrm>
          <a:prstGeom prst="rect">
            <a:avLst/>
          </a:prstGeom>
          <a:solidFill>
            <a:srgbClr val="D3EBDD"/>
          </a:solidFill>
          <a:ln w="6350">
            <a:solidFill>
              <a:srgbClr val="D3EBDD"/>
            </a:solidFill>
            <a:prstDash val="solid"/>
          </a:ln>
        </p:spPr>
      </p:sp>
      <p:sp>
        <p:nvSpPr>
          <p:cNvPr id="17" name="Text 14"/>
          <p:cNvSpPr txBox="1"/>
          <p:nvPr/>
        </p:nvSpPr>
        <p:spPr>
          <a:xfrm>
            <a:off x="1417320" y="1691640"/>
            <a:ext cx="822960" cy="822960"/>
          </a:xfrm>
          <a:prstGeom prst="rect">
            <a:avLst/>
          </a:prstGeom>
          <a:noFill/>
          <a:ln/>
        </p:spPr>
        <p:txBody>
          <a:bodyPr wrap="square" lIns="0" tIns="0" rIns="0" bIns="0" rtlCol="0" anchor="ctr"/>
          <a:lstStyle/>
          <a:p>
            <a:pPr marL="0" indent="0" algn="ctr">
              <a:buNone/>
            </a:pPr>
            <a:r>
              <a:rPr lang="fr-FR" sz="1400" b="1" dirty="0">
                <a:solidFill>
                  <a:srgbClr val="5E6964"/>
                </a:solidFill>
                <a:latin typeface="Calibri" pitchFamily="34" charset="0"/>
                <a:ea typeface="Calibri" pitchFamily="34" charset="-122"/>
                <a:cs typeface="Calibri" pitchFamily="34" charset="-120"/>
              </a:rPr>
              <a:t>0.3</a:t>
            </a:r>
            <a:endParaRPr lang="fr-FR" sz="1400" dirty="0"/>
          </a:p>
        </p:txBody>
      </p:sp>
      <p:sp>
        <p:nvSpPr>
          <p:cNvPr id="18" name="Shape 15"/>
          <p:cNvSpPr/>
          <p:nvPr/>
        </p:nvSpPr>
        <p:spPr>
          <a:xfrm>
            <a:off x="2286000" y="1691640"/>
            <a:ext cx="822960" cy="822960"/>
          </a:xfrm>
          <a:prstGeom prst="rect">
            <a:avLst/>
          </a:prstGeom>
          <a:solidFill>
            <a:srgbClr val="F1F6F3"/>
          </a:solidFill>
          <a:ln w="6350">
            <a:solidFill>
              <a:srgbClr val="F1F6F3"/>
            </a:solidFill>
            <a:prstDash val="solid"/>
          </a:ln>
        </p:spPr>
      </p:sp>
      <p:sp>
        <p:nvSpPr>
          <p:cNvPr id="19" name="Text 16"/>
          <p:cNvSpPr txBox="1"/>
          <p:nvPr/>
        </p:nvSpPr>
        <p:spPr>
          <a:xfrm>
            <a:off x="2286000" y="1691640"/>
            <a:ext cx="822960" cy="822960"/>
          </a:xfrm>
          <a:prstGeom prst="rect">
            <a:avLst/>
          </a:prstGeom>
          <a:noFill/>
          <a:ln/>
        </p:spPr>
        <p:txBody>
          <a:bodyPr wrap="square" lIns="0" tIns="0" rIns="0" bIns="0" rtlCol="0" anchor="ctr"/>
          <a:lstStyle/>
          <a:p>
            <a:pPr marL="0" indent="0" algn="ctr">
              <a:buNone/>
            </a:pPr>
            <a:r>
              <a:rPr lang="fr-FR" sz="1400" b="1" dirty="0">
                <a:solidFill>
                  <a:srgbClr val="5E6964"/>
                </a:solidFill>
                <a:latin typeface="Calibri" pitchFamily="34" charset="0"/>
                <a:ea typeface="Calibri" pitchFamily="34" charset="-122"/>
                <a:cs typeface="Calibri" pitchFamily="34" charset="-120"/>
              </a:rPr>
              <a:t>0.2</a:t>
            </a:r>
            <a:endParaRPr lang="fr-FR" sz="1400" dirty="0"/>
          </a:p>
        </p:txBody>
      </p:sp>
      <p:sp>
        <p:nvSpPr>
          <p:cNvPr id="20" name="Shape 17"/>
          <p:cNvSpPr/>
          <p:nvPr/>
        </p:nvSpPr>
        <p:spPr>
          <a:xfrm>
            <a:off x="3154680" y="1691640"/>
            <a:ext cx="822960" cy="822960"/>
          </a:xfrm>
          <a:prstGeom prst="rect">
            <a:avLst/>
          </a:prstGeom>
          <a:solidFill>
            <a:srgbClr val="F1F6F3"/>
          </a:solidFill>
          <a:ln w="6350">
            <a:solidFill>
              <a:srgbClr val="F1F6F3"/>
            </a:solidFill>
            <a:prstDash val="solid"/>
          </a:ln>
        </p:spPr>
      </p:sp>
      <p:sp>
        <p:nvSpPr>
          <p:cNvPr id="21" name="Text 18"/>
          <p:cNvSpPr txBox="1"/>
          <p:nvPr/>
        </p:nvSpPr>
        <p:spPr>
          <a:xfrm>
            <a:off x="3154680" y="1691640"/>
            <a:ext cx="822960" cy="822960"/>
          </a:xfrm>
          <a:prstGeom prst="rect">
            <a:avLst/>
          </a:prstGeom>
          <a:noFill/>
          <a:ln/>
        </p:spPr>
        <p:txBody>
          <a:bodyPr wrap="square" lIns="0" tIns="0" rIns="0" bIns="0" rtlCol="0" anchor="ctr"/>
          <a:lstStyle/>
          <a:p>
            <a:pPr marL="0" indent="0" algn="ctr">
              <a:buNone/>
            </a:pPr>
            <a:r>
              <a:rPr lang="fr-FR" sz="1400" b="1" dirty="0">
                <a:solidFill>
                  <a:srgbClr val="5E6964"/>
                </a:solidFill>
                <a:latin typeface="Calibri" pitchFamily="34" charset="0"/>
                <a:ea typeface="Calibri" pitchFamily="34" charset="-122"/>
                <a:cs typeface="Calibri" pitchFamily="34" charset="-120"/>
              </a:rPr>
              <a:t>0.0</a:t>
            </a:r>
            <a:endParaRPr lang="fr-FR" sz="1400" dirty="0"/>
          </a:p>
        </p:txBody>
      </p:sp>
      <p:sp>
        <p:nvSpPr>
          <p:cNvPr id="22" name="Shape 19"/>
          <p:cNvSpPr/>
          <p:nvPr/>
        </p:nvSpPr>
        <p:spPr>
          <a:xfrm>
            <a:off x="548640" y="2560320"/>
            <a:ext cx="822960" cy="822960"/>
          </a:xfrm>
          <a:prstGeom prst="rect">
            <a:avLst/>
          </a:prstGeom>
          <a:solidFill>
            <a:srgbClr val="D3EBDD"/>
          </a:solidFill>
          <a:ln w="6350">
            <a:solidFill>
              <a:srgbClr val="D3EBDD"/>
            </a:solidFill>
            <a:prstDash val="solid"/>
          </a:ln>
        </p:spPr>
      </p:sp>
      <p:sp>
        <p:nvSpPr>
          <p:cNvPr id="23" name="Text 20"/>
          <p:cNvSpPr txBox="1"/>
          <p:nvPr/>
        </p:nvSpPr>
        <p:spPr>
          <a:xfrm>
            <a:off x="548640" y="2560320"/>
            <a:ext cx="822960" cy="822960"/>
          </a:xfrm>
          <a:prstGeom prst="rect">
            <a:avLst/>
          </a:prstGeom>
          <a:noFill/>
          <a:ln/>
        </p:spPr>
        <p:txBody>
          <a:bodyPr wrap="square" lIns="0" tIns="0" rIns="0" bIns="0" rtlCol="0" anchor="ctr"/>
          <a:lstStyle/>
          <a:p>
            <a:pPr marL="0" indent="0" algn="ctr">
              <a:buNone/>
            </a:pPr>
            <a:r>
              <a:rPr lang="fr-FR" sz="1400" b="1" dirty="0">
                <a:solidFill>
                  <a:srgbClr val="5E6964"/>
                </a:solidFill>
                <a:latin typeface="Calibri" pitchFamily="34" charset="0"/>
                <a:ea typeface="Calibri" pitchFamily="34" charset="-122"/>
                <a:cs typeface="Calibri" pitchFamily="34" charset="-120"/>
              </a:rPr>
              <a:t>0.4</a:t>
            </a:r>
            <a:endParaRPr lang="fr-FR" sz="1400" dirty="0"/>
          </a:p>
        </p:txBody>
      </p:sp>
      <p:sp>
        <p:nvSpPr>
          <p:cNvPr id="24" name="Shape 21"/>
          <p:cNvSpPr/>
          <p:nvPr/>
        </p:nvSpPr>
        <p:spPr>
          <a:xfrm>
            <a:off x="1417320" y="2560320"/>
            <a:ext cx="822960" cy="822960"/>
          </a:xfrm>
          <a:prstGeom prst="rect">
            <a:avLst/>
          </a:prstGeom>
          <a:solidFill>
            <a:srgbClr val="00A86A"/>
          </a:solidFill>
          <a:ln w="6350">
            <a:solidFill>
              <a:srgbClr val="00A86A"/>
            </a:solidFill>
            <a:prstDash val="solid"/>
          </a:ln>
        </p:spPr>
      </p:sp>
      <p:sp>
        <p:nvSpPr>
          <p:cNvPr id="25" name="Text 22"/>
          <p:cNvSpPr txBox="1"/>
          <p:nvPr/>
        </p:nvSpPr>
        <p:spPr>
          <a:xfrm>
            <a:off x="1417320" y="2560320"/>
            <a:ext cx="822960" cy="822960"/>
          </a:xfrm>
          <a:prstGeom prst="rect">
            <a:avLst/>
          </a:prstGeom>
          <a:noFill/>
          <a:ln/>
        </p:spPr>
        <p:txBody>
          <a:bodyPr wrap="square" lIns="0" tIns="0" rIns="0" bIns="0" rtlCol="0" anchor="ctr"/>
          <a:lstStyle/>
          <a:p>
            <a:pPr marL="0" indent="0" algn="ctr">
              <a:buNone/>
            </a:pPr>
            <a:r>
              <a:rPr lang="fr-FR" sz="1400" b="1" dirty="0">
                <a:solidFill>
                  <a:srgbClr val="FFFFFF"/>
                </a:solidFill>
                <a:latin typeface="Calibri" pitchFamily="34" charset="0"/>
                <a:ea typeface="Calibri" pitchFamily="34" charset="-122"/>
                <a:cs typeface="Calibri" pitchFamily="34" charset="-120"/>
              </a:rPr>
              <a:t>2.5</a:t>
            </a:r>
            <a:endParaRPr lang="fr-FR" sz="1400" dirty="0"/>
          </a:p>
        </p:txBody>
      </p:sp>
      <p:sp>
        <p:nvSpPr>
          <p:cNvPr id="26" name="Shape 23"/>
          <p:cNvSpPr/>
          <p:nvPr/>
        </p:nvSpPr>
        <p:spPr>
          <a:xfrm>
            <a:off x="2286000" y="2560320"/>
            <a:ext cx="822960" cy="822960"/>
          </a:xfrm>
          <a:prstGeom prst="rect">
            <a:avLst/>
          </a:prstGeom>
          <a:solidFill>
            <a:srgbClr val="00704A"/>
          </a:solidFill>
          <a:ln w="6350">
            <a:solidFill>
              <a:srgbClr val="00704A"/>
            </a:solidFill>
            <a:prstDash val="solid"/>
          </a:ln>
        </p:spPr>
      </p:sp>
      <p:sp>
        <p:nvSpPr>
          <p:cNvPr id="27" name="Text 24"/>
          <p:cNvSpPr txBox="1"/>
          <p:nvPr/>
        </p:nvSpPr>
        <p:spPr>
          <a:xfrm>
            <a:off x="2286000" y="2560320"/>
            <a:ext cx="822960" cy="822960"/>
          </a:xfrm>
          <a:prstGeom prst="rect">
            <a:avLst/>
          </a:prstGeom>
          <a:noFill/>
          <a:ln/>
        </p:spPr>
        <p:txBody>
          <a:bodyPr wrap="square" lIns="0" tIns="0" rIns="0" bIns="0" rtlCol="0" anchor="ctr"/>
          <a:lstStyle/>
          <a:p>
            <a:pPr marL="0" indent="0" algn="ctr">
              <a:buNone/>
            </a:pPr>
            <a:r>
              <a:rPr lang="fr-FR" sz="1400" b="1" dirty="0">
                <a:solidFill>
                  <a:srgbClr val="FFFFFF"/>
                </a:solidFill>
                <a:latin typeface="Calibri" pitchFamily="34" charset="0"/>
                <a:ea typeface="Calibri" pitchFamily="34" charset="-122"/>
                <a:cs typeface="Calibri" pitchFamily="34" charset="-120"/>
              </a:rPr>
              <a:t>6.0</a:t>
            </a:r>
            <a:endParaRPr lang="fr-FR" sz="1400" dirty="0"/>
          </a:p>
        </p:txBody>
      </p:sp>
      <p:sp>
        <p:nvSpPr>
          <p:cNvPr id="28" name="Shape 25"/>
          <p:cNvSpPr/>
          <p:nvPr/>
        </p:nvSpPr>
        <p:spPr>
          <a:xfrm>
            <a:off x="3154680" y="2560320"/>
            <a:ext cx="822960" cy="822960"/>
          </a:xfrm>
          <a:prstGeom prst="rect">
            <a:avLst/>
          </a:prstGeom>
          <a:solidFill>
            <a:srgbClr val="00A86A"/>
          </a:solidFill>
          <a:ln w="6350">
            <a:solidFill>
              <a:srgbClr val="00A86A"/>
            </a:solidFill>
            <a:prstDash val="solid"/>
          </a:ln>
        </p:spPr>
      </p:sp>
      <p:sp>
        <p:nvSpPr>
          <p:cNvPr id="29" name="Text 26"/>
          <p:cNvSpPr txBox="1"/>
          <p:nvPr/>
        </p:nvSpPr>
        <p:spPr>
          <a:xfrm>
            <a:off x="3154680" y="2560320"/>
            <a:ext cx="822960" cy="822960"/>
          </a:xfrm>
          <a:prstGeom prst="rect">
            <a:avLst/>
          </a:prstGeom>
          <a:noFill/>
          <a:ln/>
        </p:spPr>
        <p:txBody>
          <a:bodyPr wrap="square" lIns="0" tIns="0" rIns="0" bIns="0" rtlCol="0" anchor="ctr"/>
          <a:lstStyle/>
          <a:p>
            <a:pPr marL="0" indent="0" algn="ctr">
              <a:buNone/>
            </a:pPr>
            <a:r>
              <a:rPr lang="fr-FR" sz="1400" b="1" dirty="0">
                <a:solidFill>
                  <a:srgbClr val="FFFFFF"/>
                </a:solidFill>
                <a:latin typeface="Calibri" pitchFamily="34" charset="0"/>
                <a:ea typeface="Calibri" pitchFamily="34" charset="-122"/>
                <a:cs typeface="Calibri" pitchFamily="34" charset="-120"/>
              </a:rPr>
              <a:t>0.6</a:t>
            </a:r>
            <a:endParaRPr lang="fr-FR" sz="1400" dirty="0"/>
          </a:p>
        </p:txBody>
      </p:sp>
      <p:sp>
        <p:nvSpPr>
          <p:cNvPr id="30" name="Shape 27"/>
          <p:cNvSpPr/>
          <p:nvPr/>
        </p:nvSpPr>
        <p:spPr>
          <a:xfrm>
            <a:off x="548640" y="3429000"/>
            <a:ext cx="822960" cy="822960"/>
          </a:xfrm>
          <a:prstGeom prst="rect">
            <a:avLst/>
          </a:prstGeom>
          <a:solidFill>
            <a:srgbClr val="F1F6F3"/>
          </a:solidFill>
          <a:ln w="6350">
            <a:solidFill>
              <a:srgbClr val="F1F6F3"/>
            </a:solidFill>
            <a:prstDash val="solid"/>
          </a:ln>
        </p:spPr>
      </p:sp>
      <p:sp>
        <p:nvSpPr>
          <p:cNvPr id="31" name="Text 28"/>
          <p:cNvSpPr txBox="1"/>
          <p:nvPr/>
        </p:nvSpPr>
        <p:spPr>
          <a:xfrm>
            <a:off x="548640" y="3429000"/>
            <a:ext cx="822960" cy="822960"/>
          </a:xfrm>
          <a:prstGeom prst="rect">
            <a:avLst/>
          </a:prstGeom>
          <a:noFill/>
          <a:ln/>
        </p:spPr>
        <p:txBody>
          <a:bodyPr wrap="square" lIns="0" tIns="0" rIns="0" bIns="0" rtlCol="0" anchor="ctr"/>
          <a:lstStyle/>
          <a:p>
            <a:pPr marL="0" indent="0" algn="ctr">
              <a:buNone/>
            </a:pPr>
            <a:r>
              <a:rPr lang="fr-FR" sz="1400" b="1" dirty="0">
                <a:solidFill>
                  <a:srgbClr val="5E6964"/>
                </a:solidFill>
                <a:latin typeface="Calibri" pitchFamily="34" charset="0"/>
                <a:ea typeface="Calibri" pitchFamily="34" charset="-122"/>
                <a:cs typeface="Calibri" pitchFamily="34" charset="-120"/>
              </a:rPr>
              <a:t>0.2</a:t>
            </a:r>
            <a:endParaRPr lang="fr-FR" sz="1400" dirty="0"/>
          </a:p>
        </p:txBody>
      </p:sp>
      <p:sp>
        <p:nvSpPr>
          <p:cNvPr id="32" name="Shape 29"/>
          <p:cNvSpPr/>
          <p:nvPr/>
        </p:nvSpPr>
        <p:spPr>
          <a:xfrm>
            <a:off x="1417320" y="3429000"/>
            <a:ext cx="822960" cy="822960"/>
          </a:xfrm>
          <a:prstGeom prst="rect">
            <a:avLst/>
          </a:prstGeom>
          <a:solidFill>
            <a:srgbClr val="00704A"/>
          </a:solidFill>
          <a:ln w="6350">
            <a:solidFill>
              <a:srgbClr val="00704A"/>
            </a:solidFill>
            <a:prstDash val="solid"/>
          </a:ln>
        </p:spPr>
      </p:sp>
      <p:sp>
        <p:nvSpPr>
          <p:cNvPr id="33" name="Text 30"/>
          <p:cNvSpPr txBox="1"/>
          <p:nvPr/>
        </p:nvSpPr>
        <p:spPr>
          <a:xfrm>
            <a:off x="1417320" y="3429000"/>
            <a:ext cx="822960" cy="822960"/>
          </a:xfrm>
          <a:prstGeom prst="rect">
            <a:avLst/>
          </a:prstGeom>
          <a:noFill/>
          <a:ln/>
        </p:spPr>
        <p:txBody>
          <a:bodyPr wrap="square" lIns="0" tIns="0" rIns="0" bIns="0" rtlCol="0" anchor="ctr"/>
          <a:lstStyle/>
          <a:p>
            <a:pPr marL="0" indent="0" algn="ctr">
              <a:buNone/>
            </a:pPr>
            <a:r>
              <a:rPr lang="fr-FR" sz="1400" b="1" dirty="0">
                <a:solidFill>
                  <a:srgbClr val="FFFFFF"/>
                </a:solidFill>
                <a:latin typeface="Calibri" pitchFamily="34" charset="0"/>
                <a:ea typeface="Calibri" pitchFamily="34" charset="-122"/>
                <a:cs typeface="Calibri" pitchFamily="34" charset="-120"/>
              </a:rPr>
              <a:t>4.0</a:t>
            </a:r>
            <a:endParaRPr lang="fr-FR" sz="1400" dirty="0"/>
          </a:p>
        </p:txBody>
      </p:sp>
      <p:sp>
        <p:nvSpPr>
          <p:cNvPr id="34" name="Shape 31"/>
          <p:cNvSpPr/>
          <p:nvPr/>
        </p:nvSpPr>
        <p:spPr>
          <a:xfrm>
            <a:off x="2286000" y="3429000"/>
            <a:ext cx="822960" cy="822960"/>
          </a:xfrm>
          <a:prstGeom prst="rect">
            <a:avLst/>
          </a:prstGeom>
          <a:solidFill>
            <a:srgbClr val="00704A"/>
          </a:solidFill>
          <a:ln w="6350">
            <a:solidFill>
              <a:srgbClr val="00704A"/>
            </a:solidFill>
            <a:prstDash val="solid"/>
          </a:ln>
        </p:spPr>
      </p:sp>
      <p:sp>
        <p:nvSpPr>
          <p:cNvPr id="35" name="Text 32"/>
          <p:cNvSpPr txBox="1"/>
          <p:nvPr/>
        </p:nvSpPr>
        <p:spPr>
          <a:xfrm>
            <a:off x="2286000" y="3429000"/>
            <a:ext cx="822960" cy="822960"/>
          </a:xfrm>
          <a:prstGeom prst="rect">
            <a:avLst/>
          </a:prstGeom>
          <a:noFill/>
          <a:ln/>
        </p:spPr>
        <p:txBody>
          <a:bodyPr wrap="square" lIns="0" tIns="0" rIns="0" bIns="0" rtlCol="0" anchor="ctr"/>
          <a:lstStyle/>
          <a:p>
            <a:pPr marL="0" indent="0" algn="ctr">
              <a:buNone/>
            </a:pPr>
            <a:r>
              <a:rPr lang="fr-FR" sz="1400" b="1" dirty="0">
                <a:solidFill>
                  <a:srgbClr val="FFFFFF"/>
                </a:solidFill>
                <a:latin typeface="Calibri" pitchFamily="34" charset="0"/>
                <a:ea typeface="Calibri" pitchFamily="34" charset="-122"/>
                <a:cs typeface="Calibri" pitchFamily="34" charset="-120"/>
              </a:rPr>
              <a:t>12.0</a:t>
            </a:r>
            <a:endParaRPr lang="fr-FR" sz="1400" dirty="0"/>
          </a:p>
        </p:txBody>
      </p:sp>
      <p:sp>
        <p:nvSpPr>
          <p:cNvPr id="36" name="Shape 33"/>
          <p:cNvSpPr/>
          <p:nvPr/>
        </p:nvSpPr>
        <p:spPr>
          <a:xfrm>
            <a:off x="3154680" y="3429000"/>
            <a:ext cx="822960" cy="822960"/>
          </a:xfrm>
          <a:prstGeom prst="rect">
            <a:avLst/>
          </a:prstGeom>
          <a:solidFill>
            <a:srgbClr val="00A86A"/>
          </a:solidFill>
          <a:ln w="6350">
            <a:solidFill>
              <a:srgbClr val="00A86A"/>
            </a:solidFill>
            <a:prstDash val="solid"/>
          </a:ln>
        </p:spPr>
      </p:sp>
      <p:sp>
        <p:nvSpPr>
          <p:cNvPr id="37" name="Text 34"/>
          <p:cNvSpPr txBox="1"/>
          <p:nvPr/>
        </p:nvSpPr>
        <p:spPr>
          <a:xfrm>
            <a:off x="3154680" y="3429000"/>
            <a:ext cx="822960" cy="822960"/>
          </a:xfrm>
          <a:prstGeom prst="rect">
            <a:avLst/>
          </a:prstGeom>
          <a:noFill/>
          <a:ln/>
        </p:spPr>
        <p:txBody>
          <a:bodyPr wrap="square" lIns="0" tIns="0" rIns="0" bIns="0" rtlCol="0" anchor="ctr"/>
          <a:lstStyle/>
          <a:p>
            <a:pPr marL="0" indent="0" algn="ctr">
              <a:buNone/>
            </a:pPr>
            <a:r>
              <a:rPr lang="fr-FR" sz="1400" b="1" dirty="0">
                <a:solidFill>
                  <a:srgbClr val="FFFFFF"/>
                </a:solidFill>
                <a:latin typeface="Calibri" pitchFamily="34" charset="0"/>
                <a:ea typeface="Calibri" pitchFamily="34" charset="-122"/>
                <a:cs typeface="Calibri" pitchFamily="34" charset="-120"/>
              </a:rPr>
              <a:t>1.5</a:t>
            </a:r>
            <a:endParaRPr lang="fr-FR" sz="1400" dirty="0"/>
          </a:p>
        </p:txBody>
      </p:sp>
      <p:sp>
        <p:nvSpPr>
          <p:cNvPr id="38" name="Shape 35"/>
          <p:cNvSpPr/>
          <p:nvPr/>
        </p:nvSpPr>
        <p:spPr>
          <a:xfrm>
            <a:off x="548640" y="4297680"/>
            <a:ext cx="822960" cy="822960"/>
          </a:xfrm>
          <a:prstGeom prst="rect">
            <a:avLst/>
          </a:prstGeom>
          <a:solidFill>
            <a:srgbClr val="F1F6F3"/>
          </a:solidFill>
          <a:ln w="6350">
            <a:solidFill>
              <a:srgbClr val="F1F6F3"/>
            </a:solidFill>
            <a:prstDash val="solid"/>
          </a:ln>
        </p:spPr>
      </p:sp>
      <p:sp>
        <p:nvSpPr>
          <p:cNvPr id="39" name="Text 36"/>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fr-FR" sz="1400" b="1" dirty="0">
                <a:solidFill>
                  <a:srgbClr val="5E6964"/>
                </a:solidFill>
                <a:latin typeface="Calibri" pitchFamily="34" charset="0"/>
                <a:ea typeface="Calibri" pitchFamily="34" charset="-122"/>
                <a:cs typeface="Calibri" pitchFamily="34" charset="-120"/>
              </a:rPr>
              <a:t>0.0</a:t>
            </a:r>
            <a:endParaRPr lang="fr-FR" sz="1400" dirty="0"/>
          </a:p>
        </p:txBody>
      </p:sp>
      <p:sp>
        <p:nvSpPr>
          <p:cNvPr id="40" name="Shape 37"/>
          <p:cNvSpPr/>
          <p:nvPr/>
        </p:nvSpPr>
        <p:spPr>
          <a:xfrm>
            <a:off x="1417320" y="4297680"/>
            <a:ext cx="822960" cy="822960"/>
          </a:xfrm>
          <a:prstGeom prst="rect">
            <a:avLst/>
          </a:prstGeom>
          <a:solidFill>
            <a:srgbClr val="00A86A"/>
          </a:solidFill>
          <a:ln w="6350">
            <a:solidFill>
              <a:srgbClr val="00A86A"/>
            </a:solidFill>
            <a:prstDash val="solid"/>
          </a:ln>
        </p:spPr>
      </p:sp>
      <p:sp>
        <p:nvSpPr>
          <p:cNvPr id="41" name="Text 38"/>
          <p:cNvSpPr txBox="1"/>
          <p:nvPr/>
        </p:nvSpPr>
        <p:spPr>
          <a:xfrm>
            <a:off x="1417320" y="4297680"/>
            <a:ext cx="822960" cy="822960"/>
          </a:xfrm>
          <a:prstGeom prst="rect">
            <a:avLst/>
          </a:prstGeom>
          <a:noFill/>
          <a:ln/>
        </p:spPr>
        <p:txBody>
          <a:bodyPr wrap="square" lIns="0" tIns="0" rIns="0" bIns="0" rtlCol="0" anchor="ctr"/>
          <a:lstStyle/>
          <a:p>
            <a:pPr marL="0" indent="0" algn="ctr">
              <a:buNone/>
            </a:pPr>
            <a:r>
              <a:rPr lang="fr-FR" sz="1400" b="1" dirty="0">
                <a:solidFill>
                  <a:srgbClr val="FFFFFF"/>
                </a:solidFill>
                <a:latin typeface="Calibri" pitchFamily="34" charset="0"/>
                <a:ea typeface="Calibri" pitchFamily="34" charset="-122"/>
                <a:cs typeface="Calibri" pitchFamily="34" charset="-120"/>
              </a:rPr>
              <a:t>0.8</a:t>
            </a:r>
            <a:endParaRPr lang="fr-FR" sz="1400" dirty="0"/>
          </a:p>
        </p:txBody>
      </p:sp>
      <p:sp>
        <p:nvSpPr>
          <p:cNvPr id="42" name="Shape 39"/>
          <p:cNvSpPr/>
          <p:nvPr/>
        </p:nvSpPr>
        <p:spPr>
          <a:xfrm>
            <a:off x="2286000" y="4297680"/>
            <a:ext cx="822960" cy="822960"/>
          </a:xfrm>
          <a:prstGeom prst="rect">
            <a:avLst/>
          </a:prstGeom>
          <a:solidFill>
            <a:srgbClr val="00A86A"/>
          </a:solidFill>
          <a:ln w="6350">
            <a:solidFill>
              <a:srgbClr val="00A86A"/>
            </a:solidFill>
            <a:prstDash val="solid"/>
          </a:ln>
        </p:spPr>
      </p:sp>
      <p:sp>
        <p:nvSpPr>
          <p:cNvPr id="43" name="Text 40"/>
          <p:cNvSpPr txBox="1"/>
          <p:nvPr/>
        </p:nvSpPr>
        <p:spPr>
          <a:xfrm>
            <a:off x="2286000" y="4297680"/>
            <a:ext cx="822960" cy="822960"/>
          </a:xfrm>
          <a:prstGeom prst="rect">
            <a:avLst/>
          </a:prstGeom>
          <a:noFill/>
          <a:ln/>
        </p:spPr>
        <p:txBody>
          <a:bodyPr wrap="square" lIns="0" tIns="0" rIns="0" bIns="0" rtlCol="0" anchor="ctr"/>
          <a:lstStyle/>
          <a:p>
            <a:pPr marL="0" indent="0" algn="ctr">
              <a:buNone/>
            </a:pPr>
            <a:r>
              <a:rPr lang="fr-FR" sz="1400" b="1" dirty="0">
                <a:solidFill>
                  <a:srgbClr val="FFFFFF"/>
                </a:solidFill>
                <a:latin typeface="Calibri" pitchFamily="34" charset="0"/>
                <a:ea typeface="Calibri" pitchFamily="34" charset="-122"/>
                <a:cs typeface="Calibri" pitchFamily="34" charset="-120"/>
              </a:rPr>
              <a:t>1.2</a:t>
            </a:r>
            <a:endParaRPr lang="fr-FR" sz="1400" dirty="0"/>
          </a:p>
        </p:txBody>
      </p:sp>
      <p:sp>
        <p:nvSpPr>
          <p:cNvPr id="44" name="Shape 41"/>
          <p:cNvSpPr/>
          <p:nvPr/>
        </p:nvSpPr>
        <p:spPr>
          <a:xfrm>
            <a:off x="3154680" y="4297680"/>
            <a:ext cx="822960" cy="822960"/>
          </a:xfrm>
          <a:prstGeom prst="rect">
            <a:avLst/>
          </a:prstGeom>
          <a:solidFill>
            <a:srgbClr val="D3EBDD"/>
          </a:solidFill>
          <a:ln w="6350">
            <a:solidFill>
              <a:srgbClr val="D3EBDD"/>
            </a:solidFill>
            <a:prstDash val="solid"/>
          </a:ln>
        </p:spPr>
      </p:sp>
      <p:sp>
        <p:nvSpPr>
          <p:cNvPr id="45" name="Text 42"/>
          <p:cNvSpPr txBox="1"/>
          <p:nvPr/>
        </p:nvSpPr>
        <p:spPr>
          <a:xfrm>
            <a:off x="3154680" y="4297680"/>
            <a:ext cx="822960" cy="822960"/>
          </a:xfrm>
          <a:prstGeom prst="rect">
            <a:avLst/>
          </a:prstGeom>
          <a:noFill/>
          <a:ln/>
        </p:spPr>
        <p:txBody>
          <a:bodyPr wrap="square" lIns="0" tIns="0" rIns="0" bIns="0" rtlCol="0" anchor="ctr"/>
          <a:lstStyle/>
          <a:p>
            <a:pPr marL="0" indent="0" algn="ctr">
              <a:buNone/>
            </a:pPr>
            <a:r>
              <a:rPr lang="fr-FR" sz="1400" b="1" dirty="0">
                <a:solidFill>
                  <a:srgbClr val="5E6964"/>
                </a:solidFill>
                <a:latin typeface="Calibri" pitchFamily="34" charset="0"/>
                <a:ea typeface="Calibri" pitchFamily="34" charset="-122"/>
                <a:cs typeface="Calibri" pitchFamily="34" charset="-120"/>
              </a:rPr>
              <a:t>0.3</a:t>
            </a:r>
            <a:endParaRPr lang="fr-FR" sz="1400" dirty="0"/>
          </a:p>
        </p:txBody>
      </p:sp>
      <p:sp>
        <p:nvSpPr>
          <p:cNvPr id="46" name="Text 43"/>
          <p:cNvSpPr txBox="1"/>
          <p:nvPr/>
        </p:nvSpPr>
        <p:spPr>
          <a:xfrm>
            <a:off x="548640" y="5212080"/>
            <a:ext cx="3657600" cy="274320"/>
          </a:xfrm>
          <a:prstGeom prst="rect">
            <a:avLst/>
          </a:prstGeom>
          <a:noFill/>
          <a:ln/>
        </p:spPr>
        <p:txBody>
          <a:bodyPr wrap="square" lIns="0" tIns="0" rIns="0" bIns="0" rtlCol="0" anchor="t"/>
          <a:lstStyle/>
          <a:p>
            <a:pPr marL="0" indent="0">
              <a:buNone/>
            </a:pPr>
            <a:r>
              <a:rPr lang="fr-FR" sz="1050" i="1" dirty="0">
                <a:solidFill>
                  <a:srgbClr val="5E6964"/>
                </a:solidFill>
                <a:latin typeface="Calibri" pitchFamily="34" charset="0"/>
                <a:ea typeface="Calibri" pitchFamily="34" charset="-122"/>
                <a:cs typeface="Calibri" pitchFamily="34" charset="-120"/>
              </a:rPr>
              <a:t>En bleu = au-dessus du seuil de 0,5</a:t>
            </a:r>
            <a:endParaRPr lang="fr-FR" sz="1050" dirty="0"/>
          </a:p>
        </p:txBody>
      </p:sp>
      <p:sp>
        <p:nvSpPr>
          <p:cNvPr id="47" name="Shape 44"/>
          <p:cNvSpPr/>
          <p:nvPr/>
        </p:nvSpPr>
        <p:spPr>
          <a:xfrm>
            <a:off x="4343400" y="1325880"/>
            <a:ext cx="7296912" cy="1078992"/>
          </a:xfrm>
          <a:prstGeom prst="roundRect">
            <a:avLst>
              <a:gd name="adj" fmla="val 6780"/>
            </a:avLst>
          </a:prstGeom>
          <a:solidFill>
            <a:srgbClr val="F4F7F5"/>
          </a:solidFill>
          <a:ln w="9525">
            <a:solidFill>
              <a:srgbClr val="D5DED9"/>
            </a:solidFill>
            <a:prstDash val="solid"/>
          </a:ln>
        </p:spPr>
      </p:sp>
      <p:sp>
        <p:nvSpPr>
          <p:cNvPr id="48" name="Text 45"/>
          <p:cNvSpPr txBox="1"/>
          <p:nvPr/>
        </p:nvSpPr>
        <p:spPr>
          <a:xfrm>
            <a:off x="4480560" y="1325880"/>
            <a:ext cx="1463040" cy="1078992"/>
          </a:xfrm>
          <a:prstGeom prst="rect">
            <a:avLst/>
          </a:prstGeom>
          <a:noFill/>
          <a:ln/>
        </p:spPr>
        <p:txBody>
          <a:bodyPr wrap="square" lIns="0" tIns="0" rIns="0" bIns="0" rtlCol="0" anchor="ctr"/>
          <a:lstStyle/>
          <a:p>
            <a:pPr marL="0" indent="0" algn="ctr">
              <a:buNone/>
            </a:pPr>
            <a:r>
              <a:rPr lang="fr-FR" sz="2800" b="1" dirty="0">
                <a:solidFill>
                  <a:srgbClr val="00704A"/>
                </a:solidFill>
                <a:latin typeface="Calibri" pitchFamily="34" charset="0"/>
                <a:ea typeface="Calibri" pitchFamily="34" charset="-122"/>
                <a:cs typeface="Calibri" pitchFamily="34" charset="-120"/>
              </a:rPr>
              <a:t>30.1</a:t>
            </a:r>
            <a:endParaRPr lang="fr-FR" sz="2800" dirty="0"/>
          </a:p>
        </p:txBody>
      </p:sp>
      <p:sp>
        <p:nvSpPr>
          <p:cNvPr id="49" name="Text 46"/>
          <p:cNvSpPr txBox="1"/>
          <p:nvPr/>
        </p:nvSpPr>
        <p:spPr>
          <a:xfrm>
            <a:off x="6035040" y="1435608"/>
            <a:ext cx="548640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Somme des lumières (SOL)</a:t>
            </a:r>
            <a:endParaRPr lang="fr-FR" sz="1350" dirty="0"/>
          </a:p>
        </p:txBody>
      </p:sp>
      <p:sp>
        <p:nvSpPr>
          <p:cNvPr id="50" name="Text 47"/>
          <p:cNvSpPr txBox="1"/>
          <p:nvPr/>
        </p:nvSpPr>
        <p:spPr>
          <a:xfrm>
            <a:off x="6035040" y="1746504"/>
            <a:ext cx="5486400" cy="59436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Radiance totale dans un contour. Indicateur phare de la littérature économique ; le plus sensible au bruit de fond.</a:t>
            </a:r>
            <a:endParaRPr lang="fr-FR" sz="1150" dirty="0"/>
          </a:p>
        </p:txBody>
      </p:sp>
      <p:sp>
        <p:nvSpPr>
          <p:cNvPr id="51" name="Shape 48"/>
          <p:cNvSpPr/>
          <p:nvPr/>
        </p:nvSpPr>
        <p:spPr>
          <a:xfrm>
            <a:off x="4343400" y="2532888"/>
            <a:ext cx="7296912" cy="1078992"/>
          </a:xfrm>
          <a:prstGeom prst="roundRect">
            <a:avLst>
              <a:gd name="adj" fmla="val 6780"/>
            </a:avLst>
          </a:prstGeom>
          <a:solidFill>
            <a:srgbClr val="F4F7F5"/>
          </a:solidFill>
          <a:ln w="9525">
            <a:solidFill>
              <a:srgbClr val="D5DED9"/>
            </a:solidFill>
            <a:prstDash val="solid"/>
          </a:ln>
        </p:spPr>
      </p:sp>
      <p:sp>
        <p:nvSpPr>
          <p:cNvPr id="52" name="Text 49"/>
          <p:cNvSpPr txBox="1"/>
          <p:nvPr/>
        </p:nvSpPr>
        <p:spPr>
          <a:xfrm>
            <a:off x="4480560" y="2532888"/>
            <a:ext cx="1463040" cy="1078992"/>
          </a:xfrm>
          <a:prstGeom prst="rect">
            <a:avLst/>
          </a:prstGeom>
          <a:noFill/>
          <a:ln/>
        </p:spPr>
        <p:txBody>
          <a:bodyPr wrap="square" lIns="0" tIns="0" rIns="0" bIns="0" rtlCol="0" anchor="ctr"/>
          <a:lstStyle/>
          <a:p>
            <a:pPr marL="0" indent="0" algn="ctr">
              <a:buNone/>
            </a:pPr>
            <a:r>
              <a:rPr lang="fr-FR" sz="2800" b="1" dirty="0">
                <a:solidFill>
                  <a:srgbClr val="00704A"/>
                </a:solidFill>
                <a:latin typeface="Calibri" pitchFamily="34" charset="0"/>
                <a:ea typeface="Calibri" pitchFamily="34" charset="-122"/>
                <a:cs typeface="Calibri" pitchFamily="34" charset="-120"/>
              </a:rPr>
              <a:t>8 px</a:t>
            </a:r>
            <a:endParaRPr lang="fr-FR" sz="2800" dirty="0"/>
          </a:p>
        </p:txBody>
      </p:sp>
      <p:sp>
        <p:nvSpPr>
          <p:cNvPr id="53" name="Text 50"/>
          <p:cNvSpPr txBox="1"/>
          <p:nvPr/>
        </p:nvSpPr>
        <p:spPr>
          <a:xfrm>
            <a:off x="6035040" y="2642616"/>
            <a:ext cx="548640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Surface éclairée</a:t>
            </a:r>
            <a:endParaRPr lang="fr-FR" sz="1350" dirty="0"/>
          </a:p>
        </p:txBody>
      </p:sp>
      <p:sp>
        <p:nvSpPr>
          <p:cNvPr id="54" name="Text 51"/>
          <p:cNvSpPr txBox="1"/>
          <p:nvPr/>
        </p:nvSpPr>
        <p:spPr>
          <a:xfrm>
            <a:off x="6035040" y="2953512"/>
            <a:ext cx="5486400" cy="59436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Pixels au-dessus d’un seuil choisi. Intuitive — mais le seuil est un choix de l’analyste.</a:t>
            </a:r>
            <a:endParaRPr lang="fr-FR" sz="1150" dirty="0"/>
          </a:p>
        </p:txBody>
      </p:sp>
      <p:sp>
        <p:nvSpPr>
          <p:cNvPr id="55" name="Shape 52"/>
          <p:cNvSpPr/>
          <p:nvPr/>
        </p:nvSpPr>
        <p:spPr>
          <a:xfrm>
            <a:off x="4343400" y="3739896"/>
            <a:ext cx="7296912" cy="1078992"/>
          </a:xfrm>
          <a:prstGeom prst="roundRect">
            <a:avLst>
              <a:gd name="adj" fmla="val 6780"/>
            </a:avLst>
          </a:prstGeom>
          <a:solidFill>
            <a:srgbClr val="F4F7F5"/>
          </a:solidFill>
          <a:ln w="9525">
            <a:solidFill>
              <a:srgbClr val="D5DED9"/>
            </a:solidFill>
            <a:prstDash val="solid"/>
          </a:ln>
        </p:spPr>
      </p:sp>
      <p:sp>
        <p:nvSpPr>
          <p:cNvPr id="56" name="Text 53"/>
          <p:cNvSpPr txBox="1"/>
          <p:nvPr/>
        </p:nvSpPr>
        <p:spPr>
          <a:xfrm>
            <a:off x="4480560" y="3739896"/>
            <a:ext cx="1463040" cy="1078992"/>
          </a:xfrm>
          <a:prstGeom prst="rect">
            <a:avLst/>
          </a:prstGeom>
          <a:noFill/>
          <a:ln/>
        </p:spPr>
        <p:txBody>
          <a:bodyPr wrap="square" lIns="0" tIns="0" rIns="0" bIns="0" rtlCol="0" anchor="ctr"/>
          <a:lstStyle/>
          <a:p>
            <a:pPr marL="0" indent="0" algn="ctr">
              <a:buNone/>
            </a:pPr>
            <a:r>
              <a:rPr lang="fr-FR" sz="2800" b="1" dirty="0">
                <a:solidFill>
                  <a:srgbClr val="00704A"/>
                </a:solidFill>
                <a:latin typeface="Calibri" pitchFamily="34" charset="0"/>
                <a:ea typeface="Calibri" pitchFamily="34" charset="-122"/>
                <a:cs typeface="Calibri" pitchFamily="34" charset="-120"/>
              </a:rPr>
              <a:t>3.6</a:t>
            </a:r>
            <a:endParaRPr lang="fr-FR" sz="2800" dirty="0"/>
          </a:p>
        </p:txBody>
      </p:sp>
      <p:sp>
        <p:nvSpPr>
          <p:cNvPr id="57" name="Text 54"/>
          <p:cNvSpPr txBox="1"/>
          <p:nvPr/>
        </p:nvSpPr>
        <p:spPr>
          <a:xfrm>
            <a:off x="6035040" y="3849624"/>
            <a:ext cx="548640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Radiance moyenne (éclairée)</a:t>
            </a:r>
            <a:endParaRPr lang="fr-FR" sz="1350" dirty="0"/>
          </a:p>
        </p:txBody>
      </p:sp>
      <p:sp>
        <p:nvSpPr>
          <p:cNvPr id="58" name="Text 55"/>
          <p:cNvSpPr txBox="1"/>
          <p:nvPr/>
        </p:nvSpPr>
        <p:spPr>
          <a:xfrm>
            <a:off x="6035040" y="4160520"/>
            <a:ext cx="5486400" cy="59436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Intensité indépendante de l’étendue. Distingue un district qui s’illumine d’un district qui s’étend.</a:t>
            </a:r>
            <a:endParaRPr lang="fr-FR" sz="1150" dirty="0"/>
          </a:p>
        </p:txBody>
      </p:sp>
      <p:sp>
        <p:nvSpPr>
          <p:cNvPr id="59" name="Shape 56"/>
          <p:cNvSpPr/>
          <p:nvPr/>
        </p:nvSpPr>
        <p:spPr>
          <a:xfrm>
            <a:off x="4343400" y="4983480"/>
            <a:ext cx="7296912" cy="777240"/>
          </a:xfrm>
          <a:prstGeom prst="roundRect">
            <a:avLst>
              <a:gd name="adj" fmla="val 9412"/>
            </a:avLst>
          </a:prstGeom>
          <a:solidFill>
            <a:srgbClr val="FDF5DC"/>
          </a:solidFill>
          <a:ln w="9525">
            <a:solidFill>
              <a:srgbClr val="F5C242"/>
            </a:solidFill>
            <a:prstDash val="solid"/>
          </a:ln>
        </p:spPr>
      </p:sp>
      <p:sp>
        <p:nvSpPr>
          <p:cNvPr id="60" name="Text 57"/>
          <p:cNvSpPr txBox="1"/>
          <p:nvPr/>
        </p:nvSpPr>
        <p:spPr>
          <a:xfrm>
            <a:off x="4526280" y="4983480"/>
            <a:ext cx="6949440" cy="777240"/>
          </a:xfrm>
          <a:prstGeom prst="rect">
            <a:avLst/>
          </a:prstGeom>
          <a:noFill/>
          <a:ln/>
        </p:spPr>
        <p:txBody>
          <a:bodyPr wrap="square" lIns="0" tIns="0" rIns="0" bIns="0" rtlCol="0" anchor="ctr"/>
          <a:lstStyle/>
          <a:p>
            <a:pPr marL="0" indent="0">
              <a:buNone/>
            </a:pPr>
            <a:r>
              <a:rPr lang="fr-FR" sz="1200" b="1" dirty="0">
                <a:solidFill>
                  <a:srgbClr val="A87700"/>
                </a:solidFill>
                <a:latin typeface="Calibri" pitchFamily="34" charset="0"/>
                <a:ea typeface="Calibri" pitchFamily="34" charset="-122"/>
                <a:cs typeface="Calibri" pitchFamily="34" charset="-120"/>
              </a:rPr>
              <a:t>Seuil relevé à 1,0 → la surface éclairée passe de 8 à 6 pixels (−25 %). </a:t>
            </a:r>
            <a:r>
              <a:rPr lang="fr-FR" sz="1200" dirty="0">
                <a:solidFill>
                  <a:srgbClr val="231F20"/>
                </a:solidFill>
                <a:latin typeface="Calibri" pitchFamily="34" charset="0"/>
                <a:ea typeface="Calibri" pitchFamily="34" charset="-122"/>
                <a:cs typeface="Calibri" pitchFamily="34" charset="-120"/>
              </a:rPr>
              <a:t>Toujours déclarer produit, version, contour, seuil et masques — et tester le seuil.</a:t>
            </a:r>
            <a:endParaRPr lang="fr-FR"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CHOIX DE CONCEPTION</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Normaliser et agréger en connaissance de cause</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A · RÉF</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29</a:t>
            </a:r>
            <a:endParaRPr lang="fr-FR" sz="900" dirty="0"/>
          </a:p>
        </p:txBody>
      </p:sp>
      <p:sp>
        <p:nvSpPr>
          <p:cNvPr id="12" name="Shape 9"/>
          <p:cNvSpPr/>
          <p:nvPr/>
        </p:nvSpPr>
        <p:spPr>
          <a:xfrm>
            <a:off x="548640" y="1371600"/>
            <a:ext cx="3593592" cy="3337560"/>
          </a:xfrm>
          <a:prstGeom prst="roundRect">
            <a:avLst>
              <a:gd name="adj" fmla="val 2192"/>
            </a:avLst>
          </a:prstGeom>
          <a:solidFill>
            <a:srgbClr val="F4F7F5"/>
          </a:solidFill>
          <a:ln w="9525">
            <a:solidFill>
              <a:srgbClr val="D5DED9"/>
            </a:solidFill>
            <a:prstDash val="solid"/>
          </a:ln>
        </p:spPr>
      </p:sp>
      <p:sp>
        <p:nvSpPr>
          <p:cNvPr id="13" name="Shape 10"/>
          <p:cNvSpPr/>
          <p:nvPr/>
        </p:nvSpPr>
        <p:spPr>
          <a:xfrm>
            <a:off x="749808" y="1572768"/>
            <a:ext cx="548640" cy="54864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92454" y="1715414"/>
            <a:ext cx="263347" cy="263347"/>
          </a:xfrm>
          <a:prstGeom prst="rect">
            <a:avLst/>
          </a:prstGeom>
        </p:spPr>
      </p:pic>
      <p:sp>
        <p:nvSpPr>
          <p:cNvPr id="15" name="Text 11"/>
          <p:cNvSpPr txBox="1"/>
          <p:nvPr/>
        </p:nvSpPr>
        <p:spPr>
          <a:xfrm>
            <a:off x="1417320" y="1572768"/>
            <a:ext cx="2560320" cy="548640"/>
          </a:xfrm>
          <a:prstGeom prst="rect">
            <a:avLst/>
          </a:prstGeom>
          <a:noFill/>
          <a:ln/>
        </p:spPr>
        <p:txBody>
          <a:bodyPr wrap="square" lIns="0" tIns="0" rIns="0" bIns="0" rtlCol="0" anchor="ctr"/>
          <a:lstStyle/>
          <a:p>
            <a:pPr marL="0" indent="0">
              <a:buNone/>
            </a:pPr>
            <a:r>
              <a:rPr lang="fr-FR" sz="1500" b="1" dirty="0">
                <a:solidFill>
                  <a:srgbClr val="00704A"/>
                </a:solidFill>
                <a:latin typeface="Calibri" pitchFamily="34" charset="0"/>
                <a:ea typeface="Calibri" pitchFamily="34" charset="-122"/>
                <a:cs typeface="Calibri" pitchFamily="34" charset="-120"/>
              </a:rPr>
              <a:t>Dans l’espace</a:t>
            </a:r>
            <a:endParaRPr lang="fr-FR" sz="1500" dirty="0"/>
          </a:p>
        </p:txBody>
      </p:sp>
      <p:sp>
        <p:nvSpPr>
          <p:cNvPr id="16" name="Text 12"/>
          <p:cNvSpPr txBox="1"/>
          <p:nvPr/>
        </p:nvSpPr>
        <p:spPr>
          <a:xfrm>
            <a:off x="749808" y="2286000"/>
            <a:ext cx="3200400" cy="2331720"/>
          </a:xfrm>
          <a:prstGeom prst="rect">
            <a:avLst/>
          </a:prstGeom>
          <a:noFill/>
          <a:ln/>
        </p:spPr>
        <p:txBody>
          <a:bodyPr wrap="square" lIns="0" tIns="0" rIns="0" bIns="0" rtlCol="0" anchor="t"/>
          <a:lstStyle/>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Contour :</a:t>
            </a:r>
            <a:r>
              <a:rPr lang="fr-FR" sz="1300" dirty="0">
                <a:solidFill>
                  <a:srgbClr val="231F20"/>
                </a:solidFill>
                <a:latin typeface="Calibri" pitchFamily="34" charset="0"/>
                <a:ea typeface="Calibri" pitchFamily="34" charset="-122"/>
                <a:cs typeface="Calibri" pitchFamily="34" charset="-120"/>
              </a:rPr>
              <a:t> admin-1 pour les comparaisons macro ; emprises des localités pour les programmes.</a:t>
            </a:r>
            <a:endParaRPr lang="fr-FR" sz="1300" dirty="0"/>
          </a:p>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Statistique :</a:t>
            </a:r>
            <a:r>
              <a:rPr lang="fr-FR" sz="1300" dirty="0">
                <a:solidFill>
                  <a:srgbClr val="231F20"/>
                </a:solidFill>
                <a:latin typeface="Calibri" pitchFamily="34" charset="0"/>
                <a:ea typeface="Calibri" pitchFamily="34" charset="-122"/>
                <a:cs typeface="Calibri" pitchFamily="34" charset="-120"/>
              </a:rPr>
              <a:t> somme pour « combien », moyenne pour « quelle intensité », surface pour « quelle taille ».</a:t>
            </a:r>
            <a:endParaRPr lang="fr-FR" sz="1300" dirty="0"/>
          </a:p>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Outil zonal :</a:t>
            </a:r>
            <a:r>
              <a:rPr lang="fr-FR" sz="1300" dirty="0">
                <a:solidFill>
                  <a:srgbClr val="231F20"/>
                </a:solidFill>
                <a:latin typeface="Calibri" pitchFamily="34" charset="0"/>
                <a:ea typeface="Calibri" pitchFamily="34" charset="-122"/>
                <a:cs typeface="Calibri" pitchFamily="34" charset="-120"/>
              </a:rPr>
              <a:t> exactextract pondère les pixels partiels aux limites.</a:t>
            </a:r>
            <a:endParaRPr lang="fr-FR" sz="1300" dirty="0"/>
          </a:p>
        </p:txBody>
      </p:sp>
      <p:sp>
        <p:nvSpPr>
          <p:cNvPr id="17" name="Shape 13"/>
          <p:cNvSpPr/>
          <p:nvPr/>
        </p:nvSpPr>
        <p:spPr>
          <a:xfrm>
            <a:off x="4297680" y="1371600"/>
            <a:ext cx="3593592" cy="3337560"/>
          </a:xfrm>
          <a:prstGeom prst="roundRect">
            <a:avLst>
              <a:gd name="adj" fmla="val 2192"/>
            </a:avLst>
          </a:prstGeom>
          <a:solidFill>
            <a:srgbClr val="F4F7F5"/>
          </a:solidFill>
          <a:ln w="9525">
            <a:solidFill>
              <a:srgbClr val="D5DED9"/>
            </a:solidFill>
            <a:prstDash val="solid"/>
          </a:ln>
        </p:spPr>
      </p:sp>
      <p:sp>
        <p:nvSpPr>
          <p:cNvPr id="18" name="Shape 14"/>
          <p:cNvSpPr/>
          <p:nvPr/>
        </p:nvSpPr>
        <p:spPr>
          <a:xfrm>
            <a:off x="4498848" y="1572768"/>
            <a:ext cx="548640" cy="548640"/>
          </a:xfrm>
          <a:prstGeom prst="ellipse">
            <a:avLst/>
          </a:prstGeom>
          <a:solidFill>
            <a:srgbClr val="00704A"/>
          </a:solidFill>
          <a:ln w="12700">
            <a:solidFill>
              <a:srgbClr val="00704A"/>
            </a:solidFill>
            <a:prstDash val="solid"/>
          </a:ln>
        </p:spPr>
      </p:sp>
      <p:pic>
        <p:nvPicPr>
          <p:cNvPr id="19" name="Image 2" descr="preencoded.png"/>
          <p:cNvPicPr>
            <a:picLocks noChangeAspect="1"/>
          </p:cNvPicPr>
          <p:nvPr/>
        </p:nvPicPr>
        <p:blipFill>
          <a:blip r:embed="rId5"/>
          <a:stretch>
            <a:fillRect/>
          </a:stretch>
        </p:blipFill>
        <p:spPr>
          <a:xfrm>
            <a:off x="4641494" y="1715414"/>
            <a:ext cx="263347" cy="263347"/>
          </a:xfrm>
          <a:prstGeom prst="rect">
            <a:avLst/>
          </a:prstGeom>
        </p:spPr>
      </p:pic>
      <p:sp>
        <p:nvSpPr>
          <p:cNvPr id="20" name="Text 15"/>
          <p:cNvSpPr txBox="1"/>
          <p:nvPr/>
        </p:nvSpPr>
        <p:spPr>
          <a:xfrm>
            <a:off x="5166360" y="1572768"/>
            <a:ext cx="2560320" cy="548640"/>
          </a:xfrm>
          <a:prstGeom prst="rect">
            <a:avLst/>
          </a:prstGeom>
          <a:noFill/>
          <a:ln/>
        </p:spPr>
        <p:txBody>
          <a:bodyPr wrap="square" lIns="0" tIns="0" rIns="0" bIns="0" rtlCol="0" anchor="ctr"/>
          <a:lstStyle/>
          <a:p>
            <a:pPr marL="0" indent="0">
              <a:buNone/>
            </a:pPr>
            <a:r>
              <a:rPr lang="fr-FR" sz="1500" b="1" dirty="0">
                <a:solidFill>
                  <a:srgbClr val="00704A"/>
                </a:solidFill>
                <a:latin typeface="Calibri" pitchFamily="34" charset="0"/>
                <a:ea typeface="Calibri" pitchFamily="34" charset="-122"/>
                <a:cs typeface="Calibri" pitchFamily="34" charset="-120"/>
              </a:rPr>
              <a:t>Normalisation</a:t>
            </a:r>
            <a:endParaRPr lang="fr-FR" sz="1500" dirty="0"/>
          </a:p>
        </p:txBody>
      </p:sp>
      <p:sp>
        <p:nvSpPr>
          <p:cNvPr id="21" name="Text 16"/>
          <p:cNvSpPr txBox="1"/>
          <p:nvPr/>
        </p:nvSpPr>
        <p:spPr>
          <a:xfrm>
            <a:off x="4498848" y="2286000"/>
            <a:ext cx="3200400" cy="2331720"/>
          </a:xfrm>
          <a:prstGeom prst="rect">
            <a:avLst/>
          </a:prstGeom>
          <a:noFill/>
          <a:ln/>
        </p:spPr>
        <p:txBody>
          <a:bodyPr wrap="square" lIns="0" tIns="0" rIns="0" bIns="0" rtlCol="0" anchor="t"/>
          <a:lstStyle/>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Par km² :</a:t>
            </a:r>
            <a:r>
              <a:rPr lang="fr-FR" sz="1300" dirty="0">
                <a:solidFill>
                  <a:srgbClr val="231F20"/>
                </a:solidFill>
                <a:latin typeface="Calibri" pitchFamily="34" charset="0"/>
                <a:ea typeface="Calibri" pitchFamily="34" charset="-122"/>
                <a:cs typeface="Calibri" pitchFamily="34" charset="-120"/>
              </a:rPr>
              <a:t> compare l’intensité entre unités de tailles différentes.</a:t>
            </a:r>
            <a:endParaRPr lang="fr-FR" sz="1300" dirty="0"/>
          </a:p>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Par habitant :</a:t>
            </a:r>
            <a:r>
              <a:rPr lang="fr-FR" sz="1300" dirty="0">
                <a:solidFill>
                  <a:srgbClr val="231F20"/>
                </a:solidFill>
                <a:latin typeface="Calibri" pitchFamily="34" charset="0"/>
                <a:ea typeface="Calibri" pitchFamily="34" charset="-122"/>
                <a:cs typeface="Calibri" pitchFamily="34" charset="-120"/>
              </a:rPr>
              <a:t> seulement avec une source de population indépendante (recensement).</a:t>
            </a:r>
            <a:endParaRPr lang="fr-FR" sz="1300" dirty="0"/>
          </a:p>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Logarithmes :</a:t>
            </a:r>
            <a:r>
              <a:rPr lang="fr-FR" sz="1300" dirty="0">
                <a:solidFill>
                  <a:srgbClr val="231F20"/>
                </a:solidFill>
                <a:latin typeface="Calibri" pitchFamily="34" charset="0"/>
                <a:ea typeface="Calibri" pitchFamily="34" charset="-122"/>
                <a:cs typeface="Calibri" pitchFamily="34" charset="-120"/>
              </a:rPr>
              <a:t> log(SOL) réduit l’asymétrie ; fixer un seuil de bruit avant le log.</a:t>
            </a:r>
            <a:endParaRPr lang="fr-FR" sz="1300" dirty="0"/>
          </a:p>
        </p:txBody>
      </p:sp>
      <p:sp>
        <p:nvSpPr>
          <p:cNvPr id="22" name="Shape 17"/>
          <p:cNvSpPr/>
          <p:nvPr/>
        </p:nvSpPr>
        <p:spPr>
          <a:xfrm>
            <a:off x="8046720" y="1371600"/>
            <a:ext cx="3593592" cy="3337560"/>
          </a:xfrm>
          <a:prstGeom prst="roundRect">
            <a:avLst>
              <a:gd name="adj" fmla="val 2192"/>
            </a:avLst>
          </a:prstGeom>
          <a:solidFill>
            <a:srgbClr val="F4F7F5"/>
          </a:solidFill>
          <a:ln w="9525">
            <a:solidFill>
              <a:srgbClr val="D5DED9"/>
            </a:solidFill>
            <a:prstDash val="solid"/>
          </a:ln>
        </p:spPr>
      </p:sp>
      <p:sp>
        <p:nvSpPr>
          <p:cNvPr id="23" name="Shape 18"/>
          <p:cNvSpPr/>
          <p:nvPr/>
        </p:nvSpPr>
        <p:spPr>
          <a:xfrm>
            <a:off x="8247888" y="1572768"/>
            <a:ext cx="548640" cy="548640"/>
          </a:xfrm>
          <a:prstGeom prst="ellipse">
            <a:avLst/>
          </a:prstGeom>
          <a:solidFill>
            <a:srgbClr val="00704A"/>
          </a:solidFill>
          <a:ln w="12700">
            <a:solidFill>
              <a:srgbClr val="00704A"/>
            </a:solidFill>
            <a:prstDash val="solid"/>
          </a:ln>
        </p:spPr>
      </p:sp>
      <p:pic>
        <p:nvPicPr>
          <p:cNvPr id="24" name="Image 3" descr="preencoded.png"/>
          <p:cNvPicPr>
            <a:picLocks noChangeAspect="1"/>
          </p:cNvPicPr>
          <p:nvPr/>
        </p:nvPicPr>
        <p:blipFill>
          <a:blip r:embed="rId6"/>
          <a:stretch>
            <a:fillRect/>
          </a:stretch>
        </p:blipFill>
        <p:spPr>
          <a:xfrm>
            <a:off x="8390534" y="1715414"/>
            <a:ext cx="263347" cy="263347"/>
          </a:xfrm>
          <a:prstGeom prst="rect">
            <a:avLst/>
          </a:prstGeom>
        </p:spPr>
      </p:pic>
      <p:sp>
        <p:nvSpPr>
          <p:cNvPr id="25" name="Text 19"/>
          <p:cNvSpPr txBox="1"/>
          <p:nvPr/>
        </p:nvSpPr>
        <p:spPr>
          <a:xfrm>
            <a:off x="8915400" y="1572768"/>
            <a:ext cx="2560320" cy="548640"/>
          </a:xfrm>
          <a:prstGeom prst="rect">
            <a:avLst/>
          </a:prstGeom>
          <a:noFill/>
          <a:ln/>
        </p:spPr>
        <p:txBody>
          <a:bodyPr wrap="square" lIns="0" tIns="0" rIns="0" bIns="0" rtlCol="0" anchor="ctr"/>
          <a:lstStyle/>
          <a:p>
            <a:pPr marL="0" indent="0">
              <a:buNone/>
            </a:pPr>
            <a:r>
              <a:rPr lang="fr-FR" sz="1500" b="1" dirty="0">
                <a:solidFill>
                  <a:srgbClr val="00704A"/>
                </a:solidFill>
                <a:latin typeface="Calibri" pitchFamily="34" charset="0"/>
                <a:ea typeface="Calibri" pitchFamily="34" charset="-122"/>
                <a:cs typeface="Calibri" pitchFamily="34" charset="-120"/>
              </a:rPr>
              <a:t>Dans le temps</a:t>
            </a:r>
            <a:endParaRPr lang="fr-FR" sz="1500" dirty="0"/>
          </a:p>
        </p:txBody>
      </p:sp>
      <p:sp>
        <p:nvSpPr>
          <p:cNvPr id="26" name="Text 20"/>
          <p:cNvSpPr txBox="1"/>
          <p:nvPr/>
        </p:nvSpPr>
        <p:spPr>
          <a:xfrm>
            <a:off x="8247888" y="2286000"/>
            <a:ext cx="3200400" cy="2331720"/>
          </a:xfrm>
          <a:prstGeom prst="rect">
            <a:avLst/>
          </a:prstGeom>
          <a:noFill/>
          <a:ln/>
        </p:spPr>
        <p:txBody>
          <a:bodyPr wrap="square" lIns="0" tIns="0" rIns="0" bIns="0" rtlCol="0" anchor="t"/>
          <a:lstStyle/>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Mensuel → trimestriel :</a:t>
            </a:r>
            <a:r>
              <a:rPr lang="fr-FR" sz="1300" dirty="0">
                <a:solidFill>
                  <a:srgbClr val="231F20"/>
                </a:solidFill>
                <a:latin typeface="Calibri" pitchFamily="34" charset="0"/>
                <a:ea typeface="Calibri" pitchFamily="34" charset="-122"/>
                <a:cs typeface="Calibri" pitchFamily="34" charset="-120"/>
              </a:rPr>
              <a:t> moyenne des mois pour s’aligner sur le PIB trimestriel.</a:t>
            </a:r>
            <a:endParaRPr lang="fr-FR" sz="1300" dirty="0"/>
          </a:p>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Croissance :</a:t>
            </a:r>
            <a:r>
              <a:rPr lang="fr-FR" sz="1300" dirty="0">
                <a:solidFill>
                  <a:srgbClr val="231F20"/>
                </a:solidFill>
                <a:latin typeface="Calibri" pitchFamily="34" charset="0"/>
                <a:ea typeface="Calibri" pitchFamily="34" charset="-122"/>
                <a:cs typeface="Calibri" pitchFamily="34" charset="-120"/>
              </a:rPr>
              <a:t> le glissement annuel sur le même mois retire l’essentiel de la saisonnalité.</a:t>
            </a:r>
            <a:endParaRPr lang="fr-FR" sz="1300" dirty="0"/>
          </a:p>
          <a:p>
            <a:pPr marL="177800" indent="-177800">
              <a:spcAft>
                <a:spcPts val="1000"/>
              </a:spcAft>
              <a:buSzPct val="100000"/>
              <a:buChar char="•"/>
            </a:pPr>
            <a:r>
              <a:rPr lang="fr-FR" sz="1300" b="1" dirty="0">
                <a:solidFill>
                  <a:srgbClr val="00704A"/>
                </a:solidFill>
                <a:latin typeface="Calibri" pitchFamily="34" charset="0"/>
                <a:ea typeface="Calibri" pitchFamily="34" charset="-122"/>
                <a:cs typeface="Calibri" pitchFamily="34" charset="-120"/>
              </a:rPr>
              <a:t>Lacunes :</a:t>
            </a:r>
            <a:r>
              <a:rPr lang="fr-FR" sz="1300" dirty="0">
                <a:solidFill>
                  <a:srgbClr val="231F20"/>
                </a:solidFill>
                <a:latin typeface="Calibri" pitchFamily="34" charset="0"/>
                <a:ea typeface="Calibri" pitchFamily="34" charset="-122"/>
                <a:cs typeface="Calibri" pitchFamily="34" charset="-120"/>
              </a:rPr>
              <a:t> jamais un mois manquant compté comme zéro.</a:t>
            </a:r>
            <a:endParaRPr lang="fr-FR" sz="1300" dirty="0"/>
          </a:p>
        </p:txBody>
      </p:sp>
      <p:sp>
        <p:nvSpPr>
          <p:cNvPr id="27" name="Shape 21"/>
          <p:cNvSpPr/>
          <p:nvPr/>
        </p:nvSpPr>
        <p:spPr>
          <a:xfrm>
            <a:off x="548640" y="4937760"/>
            <a:ext cx="11094415" cy="868680"/>
          </a:xfrm>
          <a:prstGeom prst="roundRect">
            <a:avLst>
              <a:gd name="adj" fmla="val 8421"/>
            </a:avLst>
          </a:prstGeom>
          <a:solidFill>
            <a:srgbClr val="00553A"/>
          </a:solidFill>
          <a:ln w="9525">
            <a:solidFill>
              <a:srgbClr val="00553A"/>
            </a:solidFill>
            <a:prstDash val="solid"/>
          </a:ln>
        </p:spPr>
      </p:sp>
      <p:sp>
        <p:nvSpPr>
          <p:cNvPr id="28" name="Text 22"/>
          <p:cNvSpPr txBox="1"/>
          <p:nvPr/>
        </p:nvSpPr>
        <p:spPr>
          <a:xfrm>
            <a:off x="822960" y="4937760"/>
            <a:ext cx="10545775" cy="868680"/>
          </a:xfrm>
          <a:prstGeom prst="rect">
            <a:avLst/>
          </a:prstGeom>
          <a:noFill/>
          <a:ln/>
        </p:spPr>
        <p:txBody>
          <a:bodyPr wrap="square" lIns="0" tIns="0" rIns="0" bIns="0" rtlCol="0" anchor="ctr"/>
          <a:lstStyle/>
          <a:p>
            <a:pPr marL="0" indent="0">
              <a:buNone/>
            </a:pPr>
            <a:r>
              <a:rPr lang="fr-FR" sz="1300" b="1" dirty="0">
                <a:solidFill>
                  <a:srgbClr val="F5C242"/>
                </a:solidFill>
                <a:latin typeface="Calibri" pitchFamily="34" charset="0"/>
                <a:ea typeface="Calibri" pitchFamily="34" charset="-122"/>
                <a:cs typeface="Calibri" pitchFamily="34" charset="-120"/>
              </a:rPr>
              <a:t>Transformation de référence pour le travail macro :   </a:t>
            </a:r>
            <a:r>
              <a:rPr lang="fr-FR" sz="1300" b="1" dirty="0">
                <a:solidFill>
                  <a:srgbClr val="FFFFFF"/>
                </a:solidFill>
                <a:latin typeface="Courier New" pitchFamily="34" charset="0"/>
                <a:ea typeface="Courier New" pitchFamily="34" charset="-122"/>
                <a:cs typeface="Courier New" pitchFamily="34" charset="-120"/>
              </a:rPr>
              <a:t>g(r, t) = log SOL(r, t) − log SOL(r, t − 12)</a:t>
            </a:r>
            <a:r>
              <a:rPr lang="fr-FR" sz="1300" dirty="0">
                <a:solidFill>
                  <a:srgbClr val="D8EEE3"/>
                </a:solidFill>
                <a:latin typeface="Calibri" pitchFamily="34" charset="0"/>
                <a:ea typeface="Calibri" pitchFamily="34" charset="-122"/>
                <a:cs typeface="Calibri" pitchFamily="34" charset="-120"/>
              </a:rPr>
              <a:t>   — croissance en glissement annuel de la somme des lumières mensuelle de la région r.</a:t>
            </a:r>
            <a:endParaRPr lang="fr-FR"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03 · DES PHOTONS AUX DONNÉES · EXEMPLE COMMENTÉ</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Une question, de bout en bout</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30</a:t>
            </a:r>
            <a:endParaRPr lang="fr-FR" sz="900" dirty="0"/>
          </a:p>
        </p:txBody>
      </p:sp>
      <p:sp>
        <p:nvSpPr>
          <p:cNvPr id="12" name="Shape 9"/>
          <p:cNvSpPr/>
          <p:nvPr/>
        </p:nvSpPr>
        <p:spPr>
          <a:xfrm>
            <a:off x="548640" y="1325880"/>
            <a:ext cx="11094415" cy="640080"/>
          </a:xfrm>
          <a:prstGeom prst="roundRect">
            <a:avLst>
              <a:gd name="adj" fmla="val 11429"/>
            </a:avLst>
          </a:prstGeom>
          <a:solidFill>
            <a:srgbClr val="E8F5EF"/>
          </a:solidFill>
          <a:ln w="9525">
            <a:solidFill>
              <a:srgbClr val="00A86A"/>
            </a:solidFill>
            <a:prstDash val="solid"/>
          </a:ln>
        </p:spPr>
      </p:sp>
      <p:pic>
        <p:nvPicPr>
          <p:cNvPr id="13" name="Image 1" descr="preencoded.png"/>
          <p:cNvPicPr>
            <a:picLocks noChangeAspect="1"/>
          </p:cNvPicPr>
          <p:nvPr/>
        </p:nvPicPr>
        <p:blipFill>
          <a:blip r:embed="rId4"/>
          <a:stretch>
            <a:fillRect/>
          </a:stretch>
        </p:blipFill>
        <p:spPr>
          <a:xfrm>
            <a:off x="777240" y="1463040"/>
            <a:ext cx="365760" cy="365760"/>
          </a:xfrm>
          <a:prstGeom prst="rect">
            <a:avLst/>
          </a:prstGeom>
        </p:spPr>
      </p:pic>
      <p:sp>
        <p:nvSpPr>
          <p:cNvPr id="14" name="Text 10"/>
          <p:cNvSpPr txBox="1"/>
          <p:nvPr/>
        </p:nvSpPr>
        <p:spPr>
          <a:xfrm>
            <a:off x="1325880" y="1325880"/>
            <a:ext cx="10058400" cy="640080"/>
          </a:xfrm>
          <a:prstGeom prst="rect">
            <a:avLst/>
          </a:prstGeom>
          <a:noFill/>
          <a:ln/>
        </p:spPr>
        <p:txBody>
          <a:bodyPr wrap="square" lIns="0" tIns="0" rIns="0" bIns="0" rtlCol="0" anchor="ctr"/>
          <a:lstStyle/>
          <a:p>
            <a:pPr marL="0" indent="0">
              <a:buNone/>
            </a:pPr>
            <a:r>
              <a:rPr lang="fr-FR" sz="1500" b="1" i="1" dirty="0">
                <a:solidFill>
                  <a:srgbClr val="00704A"/>
                </a:solidFill>
                <a:latin typeface="Calibri" pitchFamily="34" charset="0"/>
                <a:ea typeface="Calibri" pitchFamily="34" charset="-122"/>
                <a:cs typeface="Calibri" pitchFamily="34" charset="-120"/>
              </a:rPr>
              <a:t>Le programme de mini-réseaux de 2023 a-t-il réellement apporté la lumière aux villages ciblés ?</a:t>
            </a:r>
            <a:endParaRPr lang="fr-FR" sz="1500" dirty="0"/>
          </a:p>
        </p:txBody>
      </p:sp>
      <p:sp>
        <p:nvSpPr>
          <p:cNvPr id="15" name="Shape 11"/>
          <p:cNvSpPr/>
          <p:nvPr/>
        </p:nvSpPr>
        <p:spPr>
          <a:xfrm>
            <a:off x="548640" y="2194560"/>
            <a:ext cx="3593592" cy="1719072"/>
          </a:xfrm>
          <a:prstGeom prst="roundRect">
            <a:avLst>
              <a:gd name="adj" fmla="val 4255"/>
            </a:avLst>
          </a:prstGeom>
          <a:solidFill>
            <a:srgbClr val="F4F7F5"/>
          </a:solidFill>
          <a:ln w="9525">
            <a:solidFill>
              <a:srgbClr val="D5DED9"/>
            </a:solidFill>
            <a:prstDash val="solid"/>
          </a:ln>
        </p:spPr>
      </p:sp>
      <p:sp>
        <p:nvSpPr>
          <p:cNvPr id="16" name="Shape 12"/>
          <p:cNvSpPr/>
          <p:nvPr/>
        </p:nvSpPr>
        <p:spPr>
          <a:xfrm>
            <a:off x="731520" y="2377440"/>
            <a:ext cx="438912" cy="438912"/>
          </a:xfrm>
          <a:prstGeom prst="ellipse">
            <a:avLst/>
          </a:prstGeom>
          <a:solidFill>
            <a:srgbClr val="00704A"/>
          </a:solidFill>
          <a:ln w="12700">
            <a:solidFill>
              <a:srgbClr val="00704A"/>
            </a:solidFill>
            <a:prstDash val="solid"/>
          </a:ln>
        </p:spPr>
      </p:sp>
      <p:sp>
        <p:nvSpPr>
          <p:cNvPr id="17" name="Text 13"/>
          <p:cNvSpPr txBox="1"/>
          <p:nvPr/>
        </p:nvSpPr>
        <p:spPr>
          <a:xfrm>
            <a:off x="731520" y="2377440"/>
            <a:ext cx="438912" cy="438912"/>
          </a:xfrm>
          <a:prstGeom prst="rect">
            <a:avLst/>
          </a:prstGeom>
          <a:noFill/>
          <a:ln/>
        </p:spPr>
        <p:txBody>
          <a:bodyPr wrap="square" lIns="0" tIns="0" rIns="0" bIns="0" rtlCol="0" anchor="ctr"/>
          <a:lstStyle/>
          <a:p>
            <a:pPr marL="0" indent="0" algn="ctr">
              <a:buNone/>
            </a:pPr>
            <a:r>
              <a:rPr lang="fr-FR" sz="1248" b="1" dirty="0">
                <a:solidFill>
                  <a:srgbClr val="FFFFFF"/>
                </a:solidFill>
                <a:latin typeface="Calibri" pitchFamily="34" charset="0"/>
                <a:ea typeface="Calibri" pitchFamily="34" charset="-122"/>
                <a:cs typeface="Calibri" pitchFamily="34" charset="-120"/>
              </a:rPr>
              <a:t>1</a:t>
            </a:r>
            <a:endParaRPr lang="fr-FR" sz="1248" dirty="0"/>
          </a:p>
        </p:txBody>
      </p:sp>
      <p:sp>
        <p:nvSpPr>
          <p:cNvPr id="18" name="Text 14"/>
          <p:cNvSpPr txBox="1"/>
          <p:nvPr/>
        </p:nvSpPr>
        <p:spPr>
          <a:xfrm>
            <a:off x="1325880" y="2377440"/>
            <a:ext cx="2697480" cy="43891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Traduire la question en lumière</a:t>
            </a:r>
            <a:endParaRPr lang="fr-FR" sz="1350" dirty="0"/>
          </a:p>
        </p:txBody>
      </p:sp>
      <p:sp>
        <p:nvSpPr>
          <p:cNvPr id="19" name="Text 15"/>
          <p:cNvSpPr txBox="1"/>
          <p:nvPr/>
        </p:nvSpPr>
        <p:spPr>
          <a:xfrm>
            <a:off x="749808" y="2944368"/>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villages électrifiés devraient compter plus de nuits au-dessus de leur radiance de fond après la mise en service.</a:t>
            </a:r>
            <a:endParaRPr lang="fr-FR" sz="1150" dirty="0"/>
          </a:p>
        </p:txBody>
      </p:sp>
      <p:sp>
        <p:nvSpPr>
          <p:cNvPr id="20" name="Shape 16"/>
          <p:cNvSpPr/>
          <p:nvPr/>
        </p:nvSpPr>
        <p:spPr>
          <a:xfrm>
            <a:off x="4297680" y="2194560"/>
            <a:ext cx="3593592" cy="1719072"/>
          </a:xfrm>
          <a:prstGeom prst="roundRect">
            <a:avLst>
              <a:gd name="adj" fmla="val 4255"/>
            </a:avLst>
          </a:prstGeom>
          <a:solidFill>
            <a:srgbClr val="F4F7F5"/>
          </a:solidFill>
          <a:ln w="9525">
            <a:solidFill>
              <a:srgbClr val="D5DED9"/>
            </a:solidFill>
            <a:prstDash val="solid"/>
          </a:ln>
        </p:spPr>
      </p:sp>
      <p:sp>
        <p:nvSpPr>
          <p:cNvPr id="21" name="Shape 17"/>
          <p:cNvSpPr/>
          <p:nvPr/>
        </p:nvSpPr>
        <p:spPr>
          <a:xfrm>
            <a:off x="4480560" y="2377440"/>
            <a:ext cx="438912" cy="438912"/>
          </a:xfrm>
          <a:prstGeom prst="ellipse">
            <a:avLst/>
          </a:prstGeom>
          <a:solidFill>
            <a:srgbClr val="00704A"/>
          </a:solidFill>
          <a:ln w="12700">
            <a:solidFill>
              <a:srgbClr val="00704A"/>
            </a:solidFill>
            <a:prstDash val="solid"/>
          </a:ln>
        </p:spPr>
      </p:sp>
      <p:sp>
        <p:nvSpPr>
          <p:cNvPr id="22" name="Text 18"/>
          <p:cNvSpPr txBox="1"/>
          <p:nvPr/>
        </p:nvSpPr>
        <p:spPr>
          <a:xfrm>
            <a:off x="4480560" y="2377440"/>
            <a:ext cx="438912" cy="438912"/>
          </a:xfrm>
          <a:prstGeom prst="rect">
            <a:avLst/>
          </a:prstGeom>
          <a:noFill/>
          <a:ln/>
        </p:spPr>
        <p:txBody>
          <a:bodyPr wrap="square" lIns="0" tIns="0" rIns="0" bIns="0" rtlCol="0" anchor="ctr"/>
          <a:lstStyle/>
          <a:p>
            <a:pPr marL="0" indent="0" algn="ctr">
              <a:buNone/>
            </a:pPr>
            <a:r>
              <a:rPr lang="fr-FR" sz="1248" b="1" dirty="0">
                <a:solidFill>
                  <a:srgbClr val="FFFFFF"/>
                </a:solidFill>
                <a:latin typeface="Calibri" pitchFamily="34" charset="0"/>
                <a:ea typeface="Calibri" pitchFamily="34" charset="-122"/>
                <a:cs typeface="Calibri" pitchFamily="34" charset="-120"/>
              </a:rPr>
              <a:t>2</a:t>
            </a:r>
            <a:endParaRPr lang="fr-FR" sz="1248" dirty="0"/>
          </a:p>
        </p:txBody>
      </p:sp>
      <p:sp>
        <p:nvSpPr>
          <p:cNvPr id="23" name="Text 19"/>
          <p:cNvSpPr txBox="1"/>
          <p:nvPr/>
        </p:nvSpPr>
        <p:spPr>
          <a:xfrm>
            <a:off x="5074920" y="2377440"/>
            <a:ext cx="2697480" cy="43891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Choisir le produit</a:t>
            </a:r>
            <a:endParaRPr lang="fr-FR" sz="1350" dirty="0"/>
          </a:p>
        </p:txBody>
      </p:sp>
      <p:sp>
        <p:nvSpPr>
          <p:cNvPr id="24" name="Text 20"/>
          <p:cNvSpPr txBox="1"/>
          <p:nvPr/>
        </p:nvSpPr>
        <p:spPr>
          <a:xfrm>
            <a:off x="4498848" y="2944368"/>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VNP46A3 mensuel pour dater le changement ; VNP46A2 quotidien pour la fiabilité. Noter la version.</a:t>
            </a:r>
            <a:endParaRPr lang="fr-FR" sz="1150" dirty="0"/>
          </a:p>
        </p:txBody>
      </p:sp>
      <p:sp>
        <p:nvSpPr>
          <p:cNvPr id="25" name="Shape 21"/>
          <p:cNvSpPr/>
          <p:nvPr/>
        </p:nvSpPr>
        <p:spPr>
          <a:xfrm>
            <a:off x="8046720" y="2194560"/>
            <a:ext cx="3593592" cy="1719072"/>
          </a:xfrm>
          <a:prstGeom prst="roundRect">
            <a:avLst>
              <a:gd name="adj" fmla="val 4255"/>
            </a:avLst>
          </a:prstGeom>
          <a:solidFill>
            <a:srgbClr val="F4F7F5"/>
          </a:solidFill>
          <a:ln w="9525">
            <a:solidFill>
              <a:srgbClr val="D5DED9"/>
            </a:solidFill>
            <a:prstDash val="solid"/>
          </a:ln>
        </p:spPr>
      </p:sp>
      <p:sp>
        <p:nvSpPr>
          <p:cNvPr id="26" name="Shape 22"/>
          <p:cNvSpPr/>
          <p:nvPr/>
        </p:nvSpPr>
        <p:spPr>
          <a:xfrm>
            <a:off x="8229600" y="2377440"/>
            <a:ext cx="438912" cy="438912"/>
          </a:xfrm>
          <a:prstGeom prst="ellipse">
            <a:avLst/>
          </a:prstGeom>
          <a:solidFill>
            <a:srgbClr val="00704A"/>
          </a:solidFill>
          <a:ln w="12700">
            <a:solidFill>
              <a:srgbClr val="00704A"/>
            </a:solidFill>
            <a:prstDash val="solid"/>
          </a:ln>
        </p:spPr>
      </p:sp>
      <p:sp>
        <p:nvSpPr>
          <p:cNvPr id="27" name="Text 23"/>
          <p:cNvSpPr txBox="1"/>
          <p:nvPr/>
        </p:nvSpPr>
        <p:spPr>
          <a:xfrm>
            <a:off x="8229600" y="2377440"/>
            <a:ext cx="438912" cy="438912"/>
          </a:xfrm>
          <a:prstGeom prst="rect">
            <a:avLst/>
          </a:prstGeom>
          <a:noFill/>
          <a:ln/>
        </p:spPr>
        <p:txBody>
          <a:bodyPr wrap="square" lIns="0" tIns="0" rIns="0" bIns="0" rtlCol="0" anchor="ctr"/>
          <a:lstStyle/>
          <a:p>
            <a:pPr marL="0" indent="0" algn="ctr">
              <a:buNone/>
            </a:pPr>
            <a:r>
              <a:rPr lang="fr-FR" sz="1248" b="1" dirty="0">
                <a:solidFill>
                  <a:srgbClr val="FFFFFF"/>
                </a:solidFill>
                <a:latin typeface="Calibri" pitchFamily="34" charset="0"/>
                <a:ea typeface="Calibri" pitchFamily="34" charset="-122"/>
                <a:cs typeface="Calibri" pitchFamily="34" charset="-120"/>
              </a:rPr>
              <a:t>3</a:t>
            </a:r>
            <a:endParaRPr lang="fr-FR" sz="1248" dirty="0"/>
          </a:p>
        </p:txBody>
      </p:sp>
      <p:sp>
        <p:nvSpPr>
          <p:cNvPr id="28" name="Text 24"/>
          <p:cNvSpPr txBox="1"/>
          <p:nvPr/>
        </p:nvSpPr>
        <p:spPr>
          <a:xfrm>
            <a:off x="8823960" y="2377440"/>
            <a:ext cx="2697480" cy="43891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Définir les unités</a:t>
            </a:r>
            <a:endParaRPr lang="fr-FR" sz="1350" dirty="0"/>
          </a:p>
        </p:txBody>
      </p:sp>
      <p:sp>
        <p:nvSpPr>
          <p:cNvPr id="29" name="Text 25"/>
          <p:cNvSpPr txBox="1"/>
          <p:nvPr/>
        </p:nvSpPr>
        <p:spPr>
          <a:xfrm>
            <a:off x="8247888" y="2944368"/>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Emprises des localités et petite zone tampon — pas des districts entiers, où les villages éclairés disparaissent.</a:t>
            </a:r>
            <a:endParaRPr lang="fr-FR" sz="1150" dirty="0"/>
          </a:p>
        </p:txBody>
      </p:sp>
      <p:sp>
        <p:nvSpPr>
          <p:cNvPr id="30" name="Shape 26"/>
          <p:cNvSpPr/>
          <p:nvPr/>
        </p:nvSpPr>
        <p:spPr>
          <a:xfrm>
            <a:off x="548640" y="4069080"/>
            <a:ext cx="3593592" cy="1719072"/>
          </a:xfrm>
          <a:prstGeom prst="roundRect">
            <a:avLst>
              <a:gd name="adj" fmla="val 4255"/>
            </a:avLst>
          </a:prstGeom>
          <a:solidFill>
            <a:srgbClr val="F4F7F5"/>
          </a:solidFill>
          <a:ln w="9525">
            <a:solidFill>
              <a:srgbClr val="D5DED9"/>
            </a:solidFill>
            <a:prstDash val="solid"/>
          </a:ln>
        </p:spPr>
      </p:sp>
      <p:sp>
        <p:nvSpPr>
          <p:cNvPr id="31" name="Shape 27"/>
          <p:cNvSpPr/>
          <p:nvPr/>
        </p:nvSpPr>
        <p:spPr>
          <a:xfrm>
            <a:off x="731520" y="4251960"/>
            <a:ext cx="438912" cy="438912"/>
          </a:xfrm>
          <a:prstGeom prst="ellipse">
            <a:avLst/>
          </a:prstGeom>
          <a:solidFill>
            <a:srgbClr val="00704A"/>
          </a:solidFill>
          <a:ln w="12700">
            <a:solidFill>
              <a:srgbClr val="00704A"/>
            </a:solidFill>
            <a:prstDash val="solid"/>
          </a:ln>
        </p:spPr>
      </p:sp>
      <p:sp>
        <p:nvSpPr>
          <p:cNvPr id="32" name="Text 28"/>
          <p:cNvSpPr txBox="1"/>
          <p:nvPr/>
        </p:nvSpPr>
        <p:spPr>
          <a:xfrm>
            <a:off x="731520" y="4251960"/>
            <a:ext cx="438912" cy="438912"/>
          </a:xfrm>
          <a:prstGeom prst="rect">
            <a:avLst/>
          </a:prstGeom>
          <a:noFill/>
          <a:ln/>
        </p:spPr>
        <p:txBody>
          <a:bodyPr wrap="square" lIns="0" tIns="0" rIns="0" bIns="0" rtlCol="0" anchor="ctr"/>
          <a:lstStyle/>
          <a:p>
            <a:pPr marL="0" indent="0" algn="ctr">
              <a:buNone/>
            </a:pPr>
            <a:r>
              <a:rPr lang="fr-FR" sz="1248" b="1" dirty="0">
                <a:solidFill>
                  <a:srgbClr val="FFFFFF"/>
                </a:solidFill>
                <a:latin typeface="Calibri" pitchFamily="34" charset="0"/>
                <a:ea typeface="Calibri" pitchFamily="34" charset="-122"/>
                <a:cs typeface="Calibri" pitchFamily="34" charset="-120"/>
              </a:rPr>
              <a:t>4</a:t>
            </a:r>
            <a:endParaRPr lang="fr-FR" sz="1248" dirty="0"/>
          </a:p>
        </p:txBody>
      </p:sp>
      <p:sp>
        <p:nvSpPr>
          <p:cNvPr id="33" name="Text 29"/>
          <p:cNvSpPr txBox="1"/>
          <p:nvPr/>
        </p:nvSpPr>
        <p:spPr>
          <a:xfrm>
            <a:off x="1325880" y="4251960"/>
            <a:ext cx="2697480" cy="43891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Indicateur et témoin</a:t>
            </a:r>
            <a:endParaRPr lang="fr-FR" sz="1350" dirty="0"/>
          </a:p>
        </p:txBody>
      </p:sp>
      <p:sp>
        <p:nvSpPr>
          <p:cNvPr id="34" name="Text 30"/>
          <p:cNvSpPr txBox="1"/>
          <p:nvPr/>
        </p:nvSpPr>
        <p:spPr>
          <a:xfrm>
            <a:off x="749808" y="4818888"/>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Radiance moyenne et part de nuits éclairées ; témoins = villages similaires hors programme.</a:t>
            </a:r>
            <a:endParaRPr lang="fr-FR" sz="1150" dirty="0"/>
          </a:p>
        </p:txBody>
      </p:sp>
      <p:sp>
        <p:nvSpPr>
          <p:cNvPr id="35" name="Shape 31"/>
          <p:cNvSpPr/>
          <p:nvPr/>
        </p:nvSpPr>
        <p:spPr>
          <a:xfrm>
            <a:off x="4297680" y="4069080"/>
            <a:ext cx="3593592" cy="1719072"/>
          </a:xfrm>
          <a:prstGeom prst="roundRect">
            <a:avLst>
              <a:gd name="adj" fmla="val 4255"/>
            </a:avLst>
          </a:prstGeom>
          <a:solidFill>
            <a:srgbClr val="F4F7F5"/>
          </a:solidFill>
          <a:ln w="9525">
            <a:solidFill>
              <a:srgbClr val="D5DED9"/>
            </a:solidFill>
            <a:prstDash val="solid"/>
          </a:ln>
        </p:spPr>
      </p:sp>
      <p:sp>
        <p:nvSpPr>
          <p:cNvPr id="36" name="Shape 32"/>
          <p:cNvSpPr/>
          <p:nvPr/>
        </p:nvSpPr>
        <p:spPr>
          <a:xfrm>
            <a:off x="4480560" y="4251960"/>
            <a:ext cx="438912" cy="438912"/>
          </a:xfrm>
          <a:prstGeom prst="ellipse">
            <a:avLst/>
          </a:prstGeom>
          <a:solidFill>
            <a:srgbClr val="00704A"/>
          </a:solidFill>
          <a:ln w="12700">
            <a:solidFill>
              <a:srgbClr val="00704A"/>
            </a:solidFill>
            <a:prstDash val="solid"/>
          </a:ln>
        </p:spPr>
      </p:sp>
      <p:sp>
        <p:nvSpPr>
          <p:cNvPr id="37" name="Text 33"/>
          <p:cNvSpPr txBox="1"/>
          <p:nvPr/>
        </p:nvSpPr>
        <p:spPr>
          <a:xfrm>
            <a:off x="4480560" y="4251960"/>
            <a:ext cx="438912" cy="438912"/>
          </a:xfrm>
          <a:prstGeom prst="rect">
            <a:avLst/>
          </a:prstGeom>
          <a:noFill/>
          <a:ln/>
        </p:spPr>
        <p:txBody>
          <a:bodyPr wrap="square" lIns="0" tIns="0" rIns="0" bIns="0" rtlCol="0" anchor="ctr"/>
          <a:lstStyle/>
          <a:p>
            <a:pPr marL="0" indent="0" algn="ctr">
              <a:buNone/>
            </a:pPr>
            <a:r>
              <a:rPr lang="fr-FR" sz="1248" b="1" dirty="0">
                <a:solidFill>
                  <a:srgbClr val="FFFFFF"/>
                </a:solidFill>
                <a:latin typeface="Calibri" pitchFamily="34" charset="0"/>
                <a:ea typeface="Calibri" pitchFamily="34" charset="-122"/>
                <a:cs typeface="Calibri" pitchFamily="34" charset="-120"/>
              </a:rPr>
              <a:t>5</a:t>
            </a:r>
            <a:endParaRPr lang="fr-FR" sz="1248" dirty="0"/>
          </a:p>
        </p:txBody>
      </p:sp>
      <p:sp>
        <p:nvSpPr>
          <p:cNvPr id="38" name="Text 34"/>
          <p:cNvSpPr txBox="1"/>
          <p:nvPr/>
        </p:nvSpPr>
        <p:spPr>
          <a:xfrm>
            <a:off x="5074920" y="4251960"/>
            <a:ext cx="2697480" cy="43891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Lire la différence</a:t>
            </a:r>
            <a:endParaRPr lang="fr-FR" sz="1350" dirty="0"/>
          </a:p>
        </p:txBody>
      </p:sp>
      <p:sp>
        <p:nvSpPr>
          <p:cNvPr id="39" name="Text 35"/>
          <p:cNvSpPr txBox="1"/>
          <p:nvPr/>
        </p:nvSpPr>
        <p:spPr>
          <a:xfrm>
            <a:off x="4498848" y="4818888"/>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Une rupture chez les villages du programme, absente chez les témoins, est une preuve ; une hausse commune est régionale.</a:t>
            </a:r>
            <a:endParaRPr lang="fr-FR" sz="1150" dirty="0"/>
          </a:p>
        </p:txBody>
      </p:sp>
      <p:sp>
        <p:nvSpPr>
          <p:cNvPr id="40" name="Shape 36"/>
          <p:cNvSpPr/>
          <p:nvPr/>
        </p:nvSpPr>
        <p:spPr>
          <a:xfrm>
            <a:off x="8046720" y="4069080"/>
            <a:ext cx="3593592" cy="1719072"/>
          </a:xfrm>
          <a:prstGeom prst="roundRect">
            <a:avLst>
              <a:gd name="adj" fmla="val 4255"/>
            </a:avLst>
          </a:prstGeom>
          <a:solidFill>
            <a:srgbClr val="F4F7F5"/>
          </a:solidFill>
          <a:ln w="9525">
            <a:solidFill>
              <a:srgbClr val="D5DED9"/>
            </a:solidFill>
            <a:prstDash val="solid"/>
          </a:ln>
        </p:spPr>
      </p:sp>
      <p:sp>
        <p:nvSpPr>
          <p:cNvPr id="41" name="Shape 37"/>
          <p:cNvSpPr/>
          <p:nvPr/>
        </p:nvSpPr>
        <p:spPr>
          <a:xfrm>
            <a:off x="8229600" y="4251960"/>
            <a:ext cx="438912" cy="438912"/>
          </a:xfrm>
          <a:prstGeom prst="ellipse">
            <a:avLst/>
          </a:prstGeom>
          <a:solidFill>
            <a:srgbClr val="F5C242"/>
          </a:solidFill>
          <a:ln w="12700">
            <a:solidFill>
              <a:srgbClr val="F5C242"/>
            </a:solidFill>
            <a:prstDash val="solid"/>
          </a:ln>
        </p:spPr>
      </p:sp>
      <p:sp>
        <p:nvSpPr>
          <p:cNvPr id="42" name="Text 38"/>
          <p:cNvSpPr txBox="1"/>
          <p:nvPr/>
        </p:nvSpPr>
        <p:spPr>
          <a:xfrm>
            <a:off x="8229600" y="4251960"/>
            <a:ext cx="438912" cy="438912"/>
          </a:xfrm>
          <a:prstGeom prst="rect">
            <a:avLst/>
          </a:prstGeom>
          <a:noFill/>
          <a:ln/>
        </p:spPr>
        <p:txBody>
          <a:bodyPr wrap="square" lIns="0" tIns="0" rIns="0" bIns="0" rtlCol="0" anchor="ctr"/>
          <a:lstStyle/>
          <a:p>
            <a:pPr marL="0" indent="0" algn="ctr">
              <a:buNone/>
            </a:pPr>
            <a:r>
              <a:rPr lang="fr-FR" sz="1248" b="1" dirty="0">
                <a:solidFill>
                  <a:srgbClr val="00553A"/>
                </a:solidFill>
                <a:latin typeface="Calibri" pitchFamily="34" charset="0"/>
                <a:ea typeface="Calibri" pitchFamily="34" charset="-122"/>
                <a:cs typeface="Calibri" pitchFamily="34" charset="-120"/>
              </a:rPr>
              <a:t>6</a:t>
            </a:r>
            <a:endParaRPr lang="fr-FR" sz="1248" dirty="0"/>
          </a:p>
        </p:txBody>
      </p:sp>
      <p:sp>
        <p:nvSpPr>
          <p:cNvPr id="43" name="Text 39"/>
          <p:cNvSpPr txBox="1"/>
          <p:nvPr/>
        </p:nvSpPr>
        <p:spPr>
          <a:xfrm>
            <a:off x="8823960" y="4251960"/>
            <a:ext cx="2697480" cy="43891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Tenter de la réfuter</a:t>
            </a:r>
            <a:endParaRPr lang="fr-FR" sz="1350" dirty="0"/>
          </a:p>
        </p:txBody>
      </p:sp>
      <p:sp>
        <p:nvSpPr>
          <p:cNvPr id="44" name="Text 40"/>
          <p:cNvSpPr txBox="1"/>
          <p:nvPr/>
        </p:nvSpPr>
        <p:spPr>
          <a:xfrm>
            <a:off x="8247888" y="4818888"/>
            <a:ext cx="3200400" cy="9144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Vérifier feux, torchères, Lune et saison ; comparer aux raccordements du distributeur ou au suivi du programme.</a:t>
            </a:r>
            <a:endParaRPr lang="fr-FR"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Golfe de Guinée : Abidjan – Accra – Lagos  ·  Rendu illustratif : populations des localités GeoNames, frontières Natural Earth</a:t>
            </a:r>
            <a:endParaRPr lang="fr-FR"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fr-FR" sz="1100" b="1" kern="0" spc="300" dirty="0">
                <a:solidFill>
                  <a:srgbClr val="7BCBA9"/>
                </a:solidFill>
                <a:latin typeface="Calibri" pitchFamily="34" charset="0"/>
                <a:ea typeface="Calibri" pitchFamily="34" charset="-122"/>
                <a:cs typeface="Calibri" pitchFamily="34" charset="-120"/>
              </a:rPr>
              <a:t>PRATIQUE · LABO A</a:t>
            </a:r>
            <a:endParaRPr lang="fr-FR"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fr-FR" sz="8000" b="1" dirty="0">
                <a:solidFill>
                  <a:srgbClr val="F5C242"/>
                </a:solidFill>
                <a:latin typeface="Calibri" pitchFamily="34" charset="0"/>
                <a:ea typeface="Calibri" pitchFamily="34" charset="-122"/>
                <a:cs typeface="Calibri" pitchFamily="34" charset="-120"/>
              </a:rPr>
              <a:t>A</a:t>
            </a:r>
            <a:endParaRPr lang="fr-FR"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fr-FR" sz="3200" b="1" dirty="0">
                <a:solidFill>
                  <a:srgbClr val="FFFFFF"/>
                </a:solidFill>
                <a:latin typeface="Calibri" pitchFamily="34" charset="0"/>
                <a:ea typeface="Calibri" pitchFamily="34" charset="-122"/>
                <a:cs typeface="Calibri" pitchFamily="34" charset="-120"/>
              </a:rPr>
              <a:t>Du téléchargement à une série nationale</a:t>
            </a:r>
            <a:endParaRPr lang="fr-FR" sz="32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fr-FR" sz="1700" i="1" dirty="0">
                <a:solidFill>
                  <a:srgbClr val="CDE8DA"/>
                </a:solidFill>
                <a:latin typeface="Calibri" pitchFamily="34" charset="0"/>
                <a:ea typeface="Calibri" pitchFamily="34" charset="-122"/>
                <a:cs typeface="Calibri" pitchFamily="34" charset="-120"/>
              </a:rPr>
              <a:t>Collecter, découper, masquer, agréger — et écrire ce que les données ne peuvent pas dire.</a:t>
            </a:r>
            <a:endParaRPr lang="fr-FR"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fr-FR" sz="1200" dirty="0">
                <a:solidFill>
                  <a:srgbClr val="A9D3BE"/>
                </a:solidFill>
                <a:latin typeface="Calibri" pitchFamily="34" charset="0"/>
                <a:ea typeface="Calibri" pitchFamily="34" charset="-122"/>
                <a:cs typeface="Calibri" pitchFamily="34" charset="-120"/>
              </a:rPr>
              <a:t>A1  Collecter et découper un composite mensuel  ·  A2  Masques, agrégation, comparaison régionale, série nationale</a:t>
            </a:r>
            <a:endParaRPr lang="fr-FR"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fr-FR" sz="1000" b="1" kern="0" spc="100" dirty="0">
                <a:solidFill>
                  <a:srgbClr val="00553A"/>
                </a:solidFill>
                <a:latin typeface="Calibri" pitchFamily="34" charset="0"/>
                <a:ea typeface="Calibri" pitchFamily="34" charset="-122"/>
                <a:cs typeface="Calibri" pitchFamily="34" charset="-120"/>
              </a:rPr>
              <a:t>LABO A  ·  30 MIN</a:t>
            </a:r>
            <a:endParaRPr lang="fr-FR"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dirty="0">
                <a:solidFill>
                  <a:srgbClr val="A9D3BE"/>
                </a:solidFill>
                <a:latin typeface="Calibri" pitchFamily="34" charset="0"/>
                <a:ea typeface="Calibri" pitchFamily="34" charset="-122"/>
                <a:cs typeface="Calibri" pitchFamily="34" charset="-120"/>
              </a:rPr>
              <a:t>31</a:t>
            </a:r>
            <a:endParaRPr lang="fr-FR"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LABO A1 · COLLECTER ET DÉCOUPER · 15 MIN</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Collecter les données Black Marble et découper un composite mensuel</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32</a:t>
            </a:r>
            <a:endParaRPr lang="fr-FR" sz="900" dirty="0"/>
          </a:p>
        </p:txBody>
      </p:sp>
      <p:sp>
        <p:nvSpPr>
          <p:cNvPr id="12" name="Shape 9"/>
          <p:cNvSpPr/>
          <p:nvPr/>
        </p:nvSpPr>
        <p:spPr>
          <a:xfrm>
            <a:off x="548640" y="1371600"/>
            <a:ext cx="4937760" cy="987552"/>
          </a:xfrm>
          <a:prstGeom prst="roundRect">
            <a:avLst>
              <a:gd name="adj" fmla="val 7407"/>
            </a:avLst>
          </a:prstGeom>
          <a:solidFill>
            <a:srgbClr val="F4F7F5"/>
          </a:solidFill>
          <a:ln w="9525">
            <a:solidFill>
              <a:srgbClr val="D5DED9"/>
            </a:solidFill>
            <a:prstDash val="solid"/>
          </a:ln>
        </p:spPr>
      </p:sp>
      <p:sp>
        <p:nvSpPr>
          <p:cNvPr id="13" name="Shape 10"/>
          <p:cNvSpPr/>
          <p:nvPr/>
        </p:nvSpPr>
        <p:spPr>
          <a:xfrm>
            <a:off x="731520" y="1618488"/>
            <a:ext cx="475488" cy="475488"/>
          </a:xfrm>
          <a:prstGeom prst="ellipse">
            <a:avLst/>
          </a:prstGeom>
          <a:solidFill>
            <a:srgbClr val="F5C242"/>
          </a:solidFill>
          <a:ln w="12700">
            <a:solidFill>
              <a:srgbClr val="F5C242"/>
            </a:solidFill>
            <a:prstDash val="solid"/>
          </a:ln>
        </p:spPr>
      </p:sp>
      <p:sp>
        <p:nvSpPr>
          <p:cNvPr id="14" name="Text 11"/>
          <p:cNvSpPr txBox="1"/>
          <p:nvPr/>
        </p:nvSpPr>
        <p:spPr>
          <a:xfrm>
            <a:off x="731520" y="1618488"/>
            <a:ext cx="475488" cy="475488"/>
          </a:xfrm>
          <a:prstGeom prst="rect">
            <a:avLst/>
          </a:prstGeom>
          <a:noFill/>
          <a:ln/>
        </p:spPr>
        <p:txBody>
          <a:bodyPr wrap="square" lIns="0" tIns="0" rIns="0" bIns="0" rtlCol="0" anchor="ctr"/>
          <a:lstStyle/>
          <a:p>
            <a:pPr marL="0" indent="0" algn="ctr">
              <a:buNone/>
            </a:pPr>
            <a:r>
              <a:rPr lang="fr-FR" sz="1352" b="1" dirty="0">
                <a:solidFill>
                  <a:srgbClr val="00553A"/>
                </a:solidFill>
                <a:latin typeface="Calibri" pitchFamily="34" charset="0"/>
                <a:ea typeface="Calibri" pitchFamily="34" charset="-122"/>
                <a:cs typeface="Calibri" pitchFamily="34" charset="-120"/>
              </a:rPr>
              <a:t>1</a:t>
            </a:r>
            <a:endParaRPr lang="fr-FR" sz="1352" dirty="0"/>
          </a:p>
        </p:txBody>
      </p:sp>
      <p:sp>
        <p:nvSpPr>
          <p:cNvPr id="15" name="Text 12"/>
          <p:cNvSpPr txBox="1"/>
          <p:nvPr/>
        </p:nvSpPr>
        <p:spPr>
          <a:xfrm>
            <a:off x="1417320" y="1463040"/>
            <a:ext cx="393192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Obtenir l’accès</a:t>
            </a:r>
            <a:endParaRPr lang="fr-FR" sz="1350" dirty="0"/>
          </a:p>
        </p:txBody>
      </p:sp>
      <p:sp>
        <p:nvSpPr>
          <p:cNvPr id="16" name="Text 13"/>
          <p:cNvSpPr txBox="1"/>
          <p:nvPr/>
        </p:nvSpPr>
        <p:spPr>
          <a:xfrm>
            <a:off x="1417320" y="1773936"/>
            <a:ext cx="3931920" cy="566928"/>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Créer un compte NASA Earthdata gratuit et générer un jeton de téléchargement.</a:t>
            </a:r>
            <a:endParaRPr lang="fr-FR" sz="1150" dirty="0"/>
          </a:p>
        </p:txBody>
      </p:sp>
      <p:sp>
        <p:nvSpPr>
          <p:cNvPr id="17" name="Shape 14"/>
          <p:cNvSpPr/>
          <p:nvPr/>
        </p:nvSpPr>
        <p:spPr>
          <a:xfrm>
            <a:off x="548640" y="2487168"/>
            <a:ext cx="4937760" cy="987552"/>
          </a:xfrm>
          <a:prstGeom prst="roundRect">
            <a:avLst>
              <a:gd name="adj" fmla="val 7407"/>
            </a:avLst>
          </a:prstGeom>
          <a:solidFill>
            <a:srgbClr val="F4F7F5"/>
          </a:solidFill>
          <a:ln w="9525">
            <a:solidFill>
              <a:srgbClr val="D5DED9"/>
            </a:solidFill>
            <a:prstDash val="solid"/>
          </a:ln>
        </p:spPr>
      </p:sp>
      <p:sp>
        <p:nvSpPr>
          <p:cNvPr id="18" name="Shape 15"/>
          <p:cNvSpPr/>
          <p:nvPr/>
        </p:nvSpPr>
        <p:spPr>
          <a:xfrm>
            <a:off x="731520" y="2734056"/>
            <a:ext cx="475488" cy="475488"/>
          </a:xfrm>
          <a:prstGeom prst="ellipse">
            <a:avLst/>
          </a:prstGeom>
          <a:solidFill>
            <a:srgbClr val="F5C242"/>
          </a:solidFill>
          <a:ln w="12700">
            <a:solidFill>
              <a:srgbClr val="F5C242"/>
            </a:solidFill>
            <a:prstDash val="solid"/>
          </a:ln>
        </p:spPr>
      </p:sp>
      <p:sp>
        <p:nvSpPr>
          <p:cNvPr id="19" name="Text 16"/>
          <p:cNvSpPr txBox="1"/>
          <p:nvPr/>
        </p:nvSpPr>
        <p:spPr>
          <a:xfrm>
            <a:off x="731520" y="2734056"/>
            <a:ext cx="475488" cy="475488"/>
          </a:xfrm>
          <a:prstGeom prst="rect">
            <a:avLst/>
          </a:prstGeom>
          <a:noFill/>
          <a:ln/>
        </p:spPr>
        <p:txBody>
          <a:bodyPr wrap="square" lIns="0" tIns="0" rIns="0" bIns="0" rtlCol="0" anchor="ctr"/>
          <a:lstStyle/>
          <a:p>
            <a:pPr marL="0" indent="0" algn="ctr">
              <a:buNone/>
            </a:pPr>
            <a:r>
              <a:rPr lang="fr-FR" sz="1352" b="1" dirty="0">
                <a:solidFill>
                  <a:srgbClr val="00553A"/>
                </a:solidFill>
                <a:latin typeface="Calibri" pitchFamily="34" charset="0"/>
                <a:ea typeface="Calibri" pitchFamily="34" charset="-122"/>
                <a:cs typeface="Calibri" pitchFamily="34" charset="-120"/>
              </a:rPr>
              <a:t>2</a:t>
            </a:r>
            <a:endParaRPr lang="fr-FR" sz="1352" dirty="0"/>
          </a:p>
        </p:txBody>
      </p:sp>
      <p:sp>
        <p:nvSpPr>
          <p:cNvPr id="20" name="Text 17"/>
          <p:cNvSpPr txBox="1"/>
          <p:nvPr/>
        </p:nvSpPr>
        <p:spPr>
          <a:xfrm>
            <a:off x="1417320" y="2578608"/>
            <a:ext cx="393192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Choisir un contour</a:t>
            </a:r>
            <a:endParaRPr lang="fr-FR" sz="1350" dirty="0"/>
          </a:p>
        </p:txBody>
      </p:sp>
      <p:sp>
        <p:nvSpPr>
          <p:cNvPr id="21" name="Text 18"/>
          <p:cNvSpPr txBox="1"/>
          <p:nvPr/>
        </p:nvSpPr>
        <p:spPr>
          <a:xfrm>
            <a:off x="1417320" y="2889504"/>
            <a:ext cx="3931920" cy="566928"/>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Polygones nationaux et admin-1 : contours officiels de votre INS, ou geoBoundaries / GADM.</a:t>
            </a:r>
            <a:endParaRPr lang="fr-FR" sz="1150" dirty="0"/>
          </a:p>
        </p:txBody>
      </p:sp>
      <p:sp>
        <p:nvSpPr>
          <p:cNvPr id="22" name="Shape 19"/>
          <p:cNvSpPr/>
          <p:nvPr/>
        </p:nvSpPr>
        <p:spPr>
          <a:xfrm>
            <a:off x="548640" y="3602736"/>
            <a:ext cx="4937760" cy="987552"/>
          </a:xfrm>
          <a:prstGeom prst="roundRect">
            <a:avLst>
              <a:gd name="adj" fmla="val 7407"/>
            </a:avLst>
          </a:prstGeom>
          <a:solidFill>
            <a:srgbClr val="F4F7F5"/>
          </a:solidFill>
          <a:ln w="9525">
            <a:solidFill>
              <a:srgbClr val="D5DED9"/>
            </a:solidFill>
            <a:prstDash val="solid"/>
          </a:ln>
        </p:spPr>
      </p:sp>
      <p:sp>
        <p:nvSpPr>
          <p:cNvPr id="23" name="Shape 20"/>
          <p:cNvSpPr/>
          <p:nvPr/>
        </p:nvSpPr>
        <p:spPr>
          <a:xfrm>
            <a:off x="731520" y="3849624"/>
            <a:ext cx="475488" cy="475488"/>
          </a:xfrm>
          <a:prstGeom prst="ellipse">
            <a:avLst/>
          </a:prstGeom>
          <a:solidFill>
            <a:srgbClr val="F5C242"/>
          </a:solidFill>
          <a:ln w="12700">
            <a:solidFill>
              <a:srgbClr val="F5C242"/>
            </a:solidFill>
            <a:prstDash val="solid"/>
          </a:ln>
        </p:spPr>
      </p:sp>
      <p:sp>
        <p:nvSpPr>
          <p:cNvPr id="24" name="Text 21"/>
          <p:cNvSpPr txBox="1"/>
          <p:nvPr/>
        </p:nvSpPr>
        <p:spPr>
          <a:xfrm>
            <a:off x="731520" y="3849624"/>
            <a:ext cx="475488" cy="475488"/>
          </a:xfrm>
          <a:prstGeom prst="rect">
            <a:avLst/>
          </a:prstGeom>
          <a:noFill/>
          <a:ln/>
        </p:spPr>
        <p:txBody>
          <a:bodyPr wrap="square" lIns="0" tIns="0" rIns="0" bIns="0" rtlCol="0" anchor="ctr"/>
          <a:lstStyle/>
          <a:p>
            <a:pPr marL="0" indent="0" algn="ctr">
              <a:buNone/>
            </a:pPr>
            <a:r>
              <a:rPr lang="fr-FR" sz="1352" b="1" dirty="0">
                <a:solidFill>
                  <a:srgbClr val="00553A"/>
                </a:solidFill>
                <a:latin typeface="Calibri" pitchFamily="34" charset="0"/>
                <a:ea typeface="Calibri" pitchFamily="34" charset="-122"/>
                <a:cs typeface="Calibri" pitchFamily="34" charset="-120"/>
              </a:rPr>
              <a:t>3</a:t>
            </a:r>
            <a:endParaRPr lang="fr-FR" sz="1352" dirty="0"/>
          </a:p>
        </p:txBody>
      </p:sp>
      <p:sp>
        <p:nvSpPr>
          <p:cNvPr id="25" name="Text 22"/>
          <p:cNvSpPr txBox="1"/>
          <p:nvPr/>
        </p:nvSpPr>
        <p:spPr>
          <a:xfrm>
            <a:off x="1417320" y="3694176"/>
            <a:ext cx="393192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Demander VNP46A3</a:t>
            </a:r>
            <a:endParaRPr lang="fr-FR" sz="1350" dirty="0"/>
          </a:p>
        </p:txBody>
      </p:sp>
      <p:sp>
        <p:nvSpPr>
          <p:cNvPr id="26" name="Text 23"/>
          <p:cNvSpPr txBox="1"/>
          <p:nvPr/>
        </p:nvSpPr>
        <p:spPr>
          <a:xfrm>
            <a:off x="1417320" y="4005072"/>
            <a:ext cx="3931920" cy="566928"/>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Composites mensuels, de janvier 2019 au dernier mois disponible.</a:t>
            </a:r>
            <a:endParaRPr lang="fr-FR" sz="1150" dirty="0"/>
          </a:p>
        </p:txBody>
      </p:sp>
      <p:sp>
        <p:nvSpPr>
          <p:cNvPr id="27" name="Shape 24"/>
          <p:cNvSpPr/>
          <p:nvPr/>
        </p:nvSpPr>
        <p:spPr>
          <a:xfrm>
            <a:off x="548640" y="4718304"/>
            <a:ext cx="4937760" cy="987552"/>
          </a:xfrm>
          <a:prstGeom prst="roundRect">
            <a:avLst>
              <a:gd name="adj" fmla="val 7407"/>
            </a:avLst>
          </a:prstGeom>
          <a:solidFill>
            <a:srgbClr val="F4F7F5"/>
          </a:solidFill>
          <a:ln w="9525">
            <a:solidFill>
              <a:srgbClr val="D5DED9"/>
            </a:solidFill>
            <a:prstDash val="solid"/>
          </a:ln>
        </p:spPr>
      </p:sp>
      <p:sp>
        <p:nvSpPr>
          <p:cNvPr id="28" name="Shape 25"/>
          <p:cNvSpPr/>
          <p:nvPr/>
        </p:nvSpPr>
        <p:spPr>
          <a:xfrm>
            <a:off x="731520" y="4965192"/>
            <a:ext cx="475488" cy="475488"/>
          </a:xfrm>
          <a:prstGeom prst="ellipse">
            <a:avLst/>
          </a:prstGeom>
          <a:solidFill>
            <a:srgbClr val="F5C242"/>
          </a:solidFill>
          <a:ln w="12700">
            <a:solidFill>
              <a:srgbClr val="F5C242"/>
            </a:solidFill>
            <a:prstDash val="solid"/>
          </a:ln>
        </p:spPr>
      </p:sp>
      <p:sp>
        <p:nvSpPr>
          <p:cNvPr id="29" name="Text 26"/>
          <p:cNvSpPr txBox="1"/>
          <p:nvPr/>
        </p:nvSpPr>
        <p:spPr>
          <a:xfrm>
            <a:off x="731520" y="4965192"/>
            <a:ext cx="475488" cy="475488"/>
          </a:xfrm>
          <a:prstGeom prst="rect">
            <a:avLst/>
          </a:prstGeom>
          <a:noFill/>
          <a:ln/>
        </p:spPr>
        <p:txBody>
          <a:bodyPr wrap="square" lIns="0" tIns="0" rIns="0" bIns="0" rtlCol="0" anchor="ctr"/>
          <a:lstStyle/>
          <a:p>
            <a:pPr marL="0" indent="0" algn="ctr">
              <a:buNone/>
            </a:pPr>
            <a:r>
              <a:rPr lang="fr-FR" sz="1352" b="1" dirty="0">
                <a:solidFill>
                  <a:srgbClr val="00553A"/>
                </a:solidFill>
                <a:latin typeface="Calibri" pitchFamily="34" charset="0"/>
                <a:ea typeface="Calibri" pitchFamily="34" charset="-122"/>
                <a:cs typeface="Calibri" pitchFamily="34" charset="-120"/>
              </a:rPr>
              <a:t>4</a:t>
            </a:r>
            <a:endParaRPr lang="fr-FR" sz="1352" dirty="0"/>
          </a:p>
        </p:txBody>
      </p:sp>
      <p:sp>
        <p:nvSpPr>
          <p:cNvPr id="30" name="Text 27"/>
          <p:cNvSpPr txBox="1"/>
          <p:nvPr/>
        </p:nvSpPr>
        <p:spPr>
          <a:xfrm>
            <a:off x="1417320" y="4809744"/>
            <a:ext cx="393192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Découper, inspecter</a:t>
            </a:r>
            <a:endParaRPr lang="fr-FR" sz="1350" dirty="0"/>
          </a:p>
        </p:txBody>
      </p:sp>
      <p:sp>
        <p:nvSpPr>
          <p:cNvPr id="31" name="Text 28"/>
          <p:cNvSpPr txBox="1"/>
          <p:nvPr/>
        </p:nvSpPr>
        <p:spPr>
          <a:xfrm>
            <a:off x="1417320" y="5120640"/>
            <a:ext cx="3931920" cy="566928"/>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Cartographier un mois. Villes, corridors — et torchères ou lamparos — apparaissent-ils là où on les attend ?</a:t>
            </a:r>
            <a:endParaRPr lang="fr-FR" sz="1150" dirty="0"/>
          </a:p>
        </p:txBody>
      </p:sp>
      <p:sp>
        <p:nvSpPr>
          <p:cNvPr id="32" name="Shape 29"/>
          <p:cNvSpPr/>
          <p:nvPr/>
        </p:nvSpPr>
        <p:spPr>
          <a:xfrm>
            <a:off x="5715000" y="1371600"/>
            <a:ext cx="5925312" cy="4343400"/>
          </a:xfrm>
          <a:prstGeom prst="roundRect">
            <a:avLst>
              <a:gd name="adj" fmla="val 1684"/>
            </a:avLst>
          </a:prstGeom>
          <a:solidFill>
            <a:srgbClr val="0F2A1F"/>
          </a:solidFill>
          <a:ln w="9525">
            <a:solidFill>
              <a:srgbClr val="0F2A1F"/>
            </a:solidFill>
            <a:prstDash val="solid"/>
          </a:ln>
        </p:spPr>
      </p:sp>
      <p:sp>
        <p:nvSpPr>
          <p:cNvPr id="33" name="Text 30"/>
          <p:cNvSpPr txBox="1"/>
          <p:nvPr/>
        </p:nvSpPr>
        <p:spPr>
          <a:xfrm>
            <a:off x="5943600" y="1508760"/>
            <a:ext cx="5468112" cy="228600"/>
          </a:xfrm>
          <a:prstGeom prst="rect">
            <a:avLst/>
          </a:prstGeom>
          <a:noFill/>
          <a:ln/>
        </p:spPr>
        <p:txBody>
          <a:bodyPr wrap="square" lIns="0" tIns="0" rIns="0" bIns="0" rtlCol="0" anchor="t"/>
          <a:lstStyle/>
          <a:p>
            <a:pPr marL="0" indent="0">
              <a:buNone/>
            </a:pPr>
            <a:r>
              <a:rPr lang="fr-FR" sz="950" b="1" kern="0" spc="150" dirty="0">
                <a:solidFill>
                  <a:srgbClr val="F5C242"/>
                </a:solidFill>
                <a:latin typeface="Calibri" pitchFamily="34" charset="0"/>
                <a:ea typeface="Calibri" pitchFamily="34" charset="-122"/>
                <a:cs typeface="Calibri" pitchFamily="34" charset="-120"/>
              </a:rPr>
              <a:t>PYTHON · BLACKMARBLEPY</a:t>
            </a:r>
            <a:endParaRPr lang="fr-FR" sz="950" dirty="0"/>
          </a:p>
        </p:txBody>
      </p:sp>
      <p:sp>
        <p:nvSpPr>
          <p:cNvPr id="34" name="Text 31"/>
          <p:cNvSpPr txBox="1"/>
          <p:nvPr/>
        </p:nvSpPr>
        <p:spPr>
          <a:xfrm>
            <a:off x="5943600" y="1810512"/>
            <a:ext cx="5468112" cy="3794760"/>
          </a:xfrm>
          <a:prstGeom prst="rect">
            <a:avLst/>
          </a:prstGeom>
          <a:noFill/>
          <a:ln/>
        </p:spPr>
        <p:txBody>
          <a:bodyPr wrap="square" lIns="0" tIns="0" rIns="0" bIns="0" rtlCol="0" anchor="t"/>
          <a:lstStyle/>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pip install blackmarblepy geopandas</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import geopandas as gpd, pandas as pd</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from blackmarble import BlackMarble</a:t>
            </a:r>
            <a:endParaRPr lang="fr-FR" sz="1050" dirty="0"/>
          </a:p>
          <a:p>
            <a:pPr marL="0" indent="0">
              <a:lnSpc>
                <a:spcPct val="105000"/>
              </a:lnSpc>
              <a:buNone/>
            </a:pP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bm  = BlackMarble(token=EARTHDATA_TOKEN,</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                  output_directory="data")</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gdf = gpd.read_file("boundaries/adm1.geojson")</a:t>
            </a:r>
            <a:endParaRPr lang="fr-FR" sz="1050" dirty="0"/>
          </a:p>
          <a:p>
            <a:pPr marL="0" indent="0">
              <a:lnSpc>
                <a:spcPct val="105000"/>
              </a:lnSpc>
              <a:buNone/>
            </a:pPr>
            <a:endParaRPr lang="fr-FR" sz="1050" dirty="0"/>
          </a:p>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Composites mensuels, depuis janvier 2019</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months = pd.date_range("2019-01-01", "2025-12-01",</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                       freq="MS")</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ntl = bm.raster(gdf, product_id="VNP46A3",</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                date_range=months)</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ntl = ntl["NearNadir_Composite_Snow_Free"]</a:t>
            </a:r>
            <a:endParaRPr lang="fr-FR" sz="1050" dirty="0"/>
          </a:p>
          <a:p>
            <a:pPr marL="0" indent="0">
              <a:lnSpc>
                <a:spcPct val="105000"/>
              </a:lnSpc>
              <a:buNone/>
            </a:pPr>
            <a:endParaRPr lang="fr-FR" sz="1050" dirty="0"/>
          </a:p>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Inspecter un mois avant d’aller plus loin</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ntl.isel(time=-1).plot(robust=True)</a:t>
            </a:r>
            <a:endParaRPr lang="fr-FR" sz="1050" dirty="0"/>
          </a:p>
        </p:txBody>
      </p:sp>
      <p:sp>
        <p:nvSpPr>
          <p:cNvPr id="35" name="Text 32"/>
          <p:cNvSpPr txBox="1"/>
          <p:nvPr/>
        </p:nvSpPr>
        <p:spPr>
          <a:xfrm>
            <a:off x="548640" y="5870448"/>
            <a:ext cx="11094415" cy="274320"/>
          </a:xfrm>
          <a:prstGeom prst="rect">
            <a:avLst/>
          </a:prstGeom>
          <a:noFill/>
          <a:ln/>
        </p:spPr>
        <p:txBody>
          <a:bodyPr wrap="square" lIns="0" tIns="0" rIns="0" bIns="0" rtlCol="0" anchor="t"/>
          <a:lstStyle/>
          <a:p>
            <a:pPr marL="0" indent="0">
              <a:buNone/>
            </a:pPr>
            <a:r>
              <a:rPr lang="fr-FR" sz="1000" i="1" dirty="0">
                <a:solidFill>
                  <a:srgbClr val="5E6964"/>
                </a:solidFill>
                <a:latin typeface="Calibri" pitchFamily="34" charset="0"/>
                <a:ea typeface="Calibri" pitchFamily="34" charset="-122"/>
                <a:cs typeface="Calibri" pitchFamily="34" charset="-120"/>
              </a:rPr>
              <a:t>Code illustratif — consultez la documentation de BlackMarblePy pour la version installée dans votre environnement.</a:t>
            </a:r>
            <a:endParaRPr lang="fr-FR"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LABO A2 · MASQUES ET AGRÉGATION · 15 MIN</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Appliquer les masques, agréger, comparer les régions, construire la série</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33</a:t>
            </a:r>
            <a:endParaRPr lang="fr-FR" sz="900" dirty="0"/>
          </a:p>
        </p:txBody>
      </p:sp>
      <p:sp>
        <p:nvSpPr>
          <p:cNvPr id="12" name="Shape 9"/>
          <p:cNvSpPr/>
          <p:nvPr/>
        </p:nvSpPr>
        <p:spPr>
          <a:xfrm>
            <a:off x="548640" y="1371600"/>
            <a:ext cx="5852160" cy="4343400"/>
          </a:xfrm>
          <a:prstGeom prst="roundRect">
            <a:avLst>
              <a:gd name="adj" fmla="val 1684"/>
            </a:avLst>
          </a:prstGeom>
          <a:solidFill>
            <a:srgbClr val="0F2A1F"/>
          </a:solidFill>
          <a:ln w="9525">
            <a:solidFill>
              <a:srgbClr val="0F2A1F"/>
            </a:solidFill>
            <a:prstDash val="solid"/>
          </a:ln>
        </p:spPr>
      </p:sp>
      <p:sp>
        <p:nvSpPr>
          <p:cNvPr id="13" name="Text 10"/>
          <p:cNvSpPr txBox="1"/>
          <p:nvPr/>
        </p:nvSpPr>
        <p:spPr>
          <a:xfrm>
            <a:off x="777240" y="1508760"/>
            <a:ext cx="5394960" cy="228600"/>
          </a:xfrm>
          <a:prstGeom prst="rect">
            <a:avLst/>
          </a:prstGeom>
          <a:noFill/>
          <a:ln/>
        </p:spPr>
        <p:txBody>
          <a:bodyPr wrap="square" lIns="0" tIns="0" rIns="0" bIns="0" rtlCol="0" anchor="t"/>
          <a:lstStyle/>
          <a:p>
            <a:pPr marL="0" indent="0">
              <a:buNone/>
            </a:pPr>
            <a:r>
              <a:rPr lang="fr-FR" sz="950" b="1" kern="0" spc="150" dirty="0">
                <a:solidFill>
                  <a:srgbClr val="F5C242"/>
                </a:solidFill>
                <a:latin typeface="Calibri" pitchFamily="34" charset="0"/>
                <a:ea typeface="Calibri" pitchFamily="34" charset="-122"/>
                <a:cs typeface="Calibri" pitchFamily="34" charset="-120"/>
              </a:rPr>
              <a:t>PYTHON · MASQUER → AGRÉGER → COMPARER</a:t>
            </a:r>
            <a:endParaRPr lang="fr-FR" sz="950" dirty="0"/>
          </a:p>
        </p:txBody>
      </p:sp>
      <p:sp>
        <p:nvSpPr>
          <p:cNvPr id="14" name="Text 11"/>
          <p:cNvSpPr txBox="1"/>
          <p:nvPr/>
        </p:nvSpPr>
        <p:spPr>
          <a:xfrm>
            <a:off x="777240" y="1810512"/>
            <a:ext cx="5394960" cy="3794760"/>
          </a:xfrm>
          <a:prstGeom prst="rect">
            <a:avLst/>
          </a:prstGeom>
          <a:noFill/>
          <a:ln/>
        </p:spPr>
        <p:txBody>
          <a:bodyPr wrap="square" lIns="0" tIns="0" rIns="0" bIns="0" rtlCol="0" anchor="t"/>
          <a:lstStyle/>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1  Masque : seuil de bruit, tampons torchères</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ntl = ntl.where(ntl &gt;= 0.5)        # seuil de bruit</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ntl = ntl.where(~flare_mask)       # tampon Nightfire</a:t>
            </a:r>
            <a:endParaRPr lang="fr-FR" sz="1050" dirty="0"/>
          </a:p>
          <a:p>
            <a:pPr marL="0" indent="0">
              <a:lnSpc>
                <a:spcPct val="105000"/>
              </a:lnSpc>
              <a:buNone/>
            </a:pPr>
            <a:endParaRPr lang="fr-FR" sz="1050" dirty="0"/>
          </a:p>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2  Sommes zonales par admin-1, par mois</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df = zonal_sum(ntl, gdf, id="ADM1") # fonction du notebook</a:t>
            </a:r>
            <a:endParaRPr lang="fr-FR" sz="1050" dirty="0"/>
          </a:p>
          <a:p>
            <a:pPr marL="0" indent="0">
              <a:lnSpc>
                <a:spcPct val="105000"/>
              </a:lnSpc>
              <a:buNone/>
            </a:pPr>
            <a:endParaRPr lang="fr-FR" sz="1050" dirty="0"/>
          </a:p>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3  Agréger et transformer</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nat = df.groupby("date")["ntl_sum"].sum()</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q   = nat.resample("QS").mean()</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yoy = np.log(nat).diff(12)</a:t>
            </a:r>
            <a:endParaRPr lang="fr-FR" sz="1050" dirty="0"/>
          </a:p>
          <a:p>
            <a:pPr marL="0" indent="0">
              <a:lnSpc>
                <a:spcPct val="105000"/>
              </a:lnSpc>
              <a:buNone/>
            </a:pPr>
            <a:endParaRPr lang="fr-FR" sz="1050" dirty="0"/>
          </a:p>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4  Comparer les régions : part de la lumière nationale</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share = df.pivot(index="date", columns="ADM1",</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                 values="ntl_sum")</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share = share.div(share.sum(axis=1), axis=0)</a:t>
            </a:r>
            <a:endParaRPr lang="fr-FR" sz="1050" dirty="0"/>
          </a:p>
        </p:txBody>
      </p:sp>
      <p:sp>
        <p:nvSpPr>
          <p:cNvPr id="15" name="Shape 12"/>
          <p:cNvSpPr/>
          <p:nvPr/>
        </p:nvSpPr>
        <p:spPr>
          <a:xfrm>
            <a:off x="6629400" y="1371600"/>
            <a:ext cx="5010912" cy="969264"/>
          </a:xfrm>
          <a:prstGeom prst="roundRect">
            <a:avLst>
              <a:gd name="adj" fmla="val 7547"/>
            </a:avLst>
          </a:prstGeom>
          <a:solidFill>
            <a:srgbClr val="F4F7F5"/>
          </a:solidFill>
          <a:ln w="9525">
            <a:solidFill>
              <a:srgbClr val="D5DED9"/>
            </a:solidFill>
            <a:prstDash val="solid"/>
          </a:ln>
        </p:spPr>
      </p:sp>
      <p:sp>
        <p:nvSpPr>
          <p:cNvPr id="16" name="Shape 13"/>
          <p:cNvSpPr/>
          <p:nvPr/>
        </p:nvSpPr>
        <p:spPr>
          <a:xfrm>
            <a:off x="6784848" y="1572768"/>
            <a:ext cx="548640" cy="548640"/>
          </a:xfrm>
          <a:prstGeom prst="ellipse">
            <a:avLst/>
          </a:prstGeom>
          <a:solidFill>
            <a:srgbClr val="E8F5EF"/>
          </a:solidFill>
          <a:ln w="12700">
            <a:solidFill>
              <a:srgbClr val="E8F5EF"/>
            </a:solidFill>
            <a:prstDash val="solid"/>
          </a:ln>
        </p:spPr>
      </p:sp>
      <p:pic>
        <p:nvPicPr>
          <p:cNvPr id="17" name="Image 1" descr="preencoded.png"/>
          <p:cNvPicPr>
            <a:picLocks noChangeAspect="1"/>
          </p:cNvPicPr>
          <p:nvPr/>
        </p:nvPicPr>
        <p:blipFill>
          <a:blip r:embed="rId4"/>
          <a:stretch>
            <a:fillRect/>
          </a:stretch>
        </p:blipFill>
        <p:spPr>
          <a:xfrm>
            <a:off x="6927494" y="1715414"/>
            <a:ext cx="263347" cy="263347"/>
          </a:xfrm>
          <a:prstGeom prst="rect">
            <a:avLst/>
          </a:prstGeom>
        </p:spPr>
      </p:pic>
      <p:sp>
        <p:nvSpPr>
          <p:cNvPr id="18" name="Text 14"/>
          <p:cNvSpPr txBox="1"/>
          <p:nvPr/>
        </p:nvSpPr>
        <p:spPr>
          <a:xfrm>
            <a:off x="7498080" y="1463040"/>
            <a:ext cx="402336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Masques appliqués</a:t>
            </a:r>
            <a:endParaRPr lang="fr-FR" sz="1350" dirty="0"/>
          </a:p>
        </p:txBody>
      </p:sp>
      <p:sp>
        <p:nvSpPr>
          <p:cNvPr id="19" name="Text 15"/>
          <p:cNvSpPr txBox="1"/>
          <p:nvPr/>
        </p:nvSpPr>
        <p:spPr>
          <a:xfrm>
            <a:off x="7498080" y="1783080"/>
            <a:ext cx="4023360" cy="5486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Qualité, seuil de bruit, tampons des torchères, plans d’eau (pêche au lamparo).</a:t>
            </a:r>
            <a:endParaRPr lang="fr-FR" sz="1150" dirty="0"/>
          </a:p>
        </p:txBody>
      </p:sp>
      <p:sp>
        <p:nvSpPr>
          <p:cNvPr id="20" name="Shape 16"/>
          <p:cNvSpPr/>
          <p:nvPr/>
        </p:nvSpPr>
        <p:spPr>
          <a:xfrm>
            <a:off x="6629400" y="2468880"/>
            <a:ext cx="5010912" cy="969264"/>
          </a:xfrm>
          <a:prstGeom prst="roundRect">
            <a:avLst>
              <a:gd name="adj" fmla="val 7547"/>
            </a:avLst>
          </a:prstGeom>
          <a:solidFill>
            <a:srgbClr val="F4F7F5"/>
          </a:solidFill>
          <a:ln w="9525">
            <a:solidFill>
              <a:srgbClr val="D5DED9"/>
            </a:solidFill>
            <a:prstDash val="solid"/>
          </a:ln>
        </p:spPr>
      </p:sp>
      <p:sp>
        <p:nvSpPr>
          <p:cNvPr id="21" name="Shape 17"/>
          <p:cNvSpPr/>
          <p:nvPr/>
        </p:nvSpPr>
        <p:spPr>
          <a:xfrm>
            <a:off x="6784848" y="2670048"/>
            <a:ext cx="548640" cy="548640"/>
          </a:xfrm>
          <a:prstGeom prst="ellipse">
            <a:avLst/>
          </a:prstGeom>
          <a:solidFill>
            <a:srgbClr val="E8F5EF"/>
          </a:solidFill>
          <a:ln w="12700">
            <a:solidFill>
              <a:srgbClr val="E8F5EF"/>
            </a:solidFill>
            <a:prstDash val="solid"/>
          </a:ln>
        </p:spPr>
      </p:sp>
      <p:pic>
        <p:nvPicPr>
          <p:cNvPr id="22" name="Image 2" descr="preencoded.png"/>
          <p:cNvPicPr>
            <a:picLocks noChangeAspect="1"/>
          </p:cNvPicPr>
          <p:nvPr/>
        </p:nvPicPr>
        <p:blipFill>
          <a:blip r:embed="rId5"/>
          <a:stretch>
            <a:fillRect/>
          </a:stretch>
        </p:blipFill>
        <p:spPr>
          <a:xfrm>
            <a:off x="6927494" y="2812694"/>
            <a:ext cx="263347" cy="263347"/>
          </a:xfrm>
          <a:prstGeom prst="rect">
            <a:avLst/>
          </a:prstGeom>
        </p:spPr>
      </p:pic>
      <p:sp>
        <p:nvSpPr>
          <p:cNvPr id="23" name="Text 18"/>
          <p:cNvSpPr txBox="1"/>
          <p:nvPr/>
        </p:nvSpPr>
        <p:spPr>
          <a:xfrm>
            <a:off x="7498080" y="2560320"/>
            <a:ext cx="402336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Série nationale</a:t>
            </a:r>
            <a:endParaRPr lang="fr-FR" sz="1350" dirty="0"/>
          </a:p>
        </p:txBody>
      </p:sp>
      <p:sp>
        <p:nvSpPr>
          <p:cNvPr id="24" name="Text 19"/>
          <p:cNvSpPr txBox="1"/>
          <p:nvPr/>
        </p:nvSpPr>
        <p:spPr>
          <a:xfrm>
            <a:off x="7498080" y="2880360"/>
            <a:ext cx="4023360" cy="5486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SOL mensuelle, moyenne trimestrielle et croissance en glissement annuel.</a:t>
            </a:r>
            <a:endParaRPr lang="fr-FR" sz="1150" dirty="0"/>
          </a:p>
        </p:txBody>
      </p:sp>
      <p:sp>
        <p:nvSpPr>
          <p:cNvPr id="25" name="Shape 20"/>
          <p:cNvSpPr/>
          <p:nvPr/>
        </p:nvSpPr>
        <p:spPr>
          <a:xfrm>
            <a:off x="6629400" y="3566160"/>
            <a:ext cx="5010912" cy="969264"/>
          </a:xfrm>
          <a:prstGeom prst="roundRect">
            <a:avLst>
              <a:gd name="adj" fmla="val 7547"/>
            </a:avLst>
          </a:prstGeom>
          <a:solidFill>
            <a:srgbClr val="F4F7F5"/>
          </a:solidFill>
          <a:ln w="9525">
            <a:solidFill>
              <a:srgbClr val="D5DED9"/>
            </a:solidFill>
            <a:prstDash val="solid"/>
          </a:ln>
        </p:spPr>
      </p:sp>
      <p:sp>
        <p:nvSpPr>
          <p:cNvPr id="26" name="Shape 21"/>
          <p:cNvSpPr/>
          <p:nvPr/>
        </p:nvSpPr>
        <p:spPr>
          <a:xfrm>
            <a:off x="6784848" y="3767328"/>
            <a:ext cx="548640" cy="548640"/>
          </a:xfrm>
          <a:prstGeom prst="ellipse">
            <a:avLst/>
          </a:prstGeom>
          <a:solidFill>
            <a:srgbClr val="E8F5EF"/>
          </a:solidFill>
          <a:ln w="12700">
            <a:solidFill>
              <a:srgbClr val="E8F5EF"/>
            </a:solidFill>
            <a:prstDash val="solid"/>
          </a:ln>
        </p:spPr>
      </p:sp>
      <p:pic>
        <p:nvPicPr>
          <p:cNvPr id="27" name="Image 3" descr="preencoded.png"/>
          <p:cNvPicPr>
            <a:picLocks noChangeAspect="1"/>
          </p:cNvPicPr>
          <p:nvPr/>
        </p:nvPicPr>
        <p:blipFill>
          <a:blip r:embed="rId6"/>
          <a:stretch>
            <a:fillRect/>
          </a:stretch>
        </p:blipFill>
        <p:spPr>
          <a:xfrm>
            <a:off x="6927494" y="3909974"/>
            <a:ext cx="263347" cy="263347"/>
          </a:xfrm>
          <a:prstGeom prst="rect">
            <a:avLst/>
          </a:prstGeom>
        </p:spPr>
      </p:pic>
      <p:sp>
        <p:nvSpPr>
          <p:cNvPr id="28" name="Text 22"/>
          <p:cNvSpPr txBox="1"/>
          <p:nvPr/>
        </p:nvSpPr>
        <p:spPr>
          <a:xfrm>
            <a:off x="7498080" y="3657600"/>
            <a:ext cx="402336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Comparaison régionale</a:t>
            </a:r>
            <a:endParaRPr lang="fr-FR" sz="1350" dirty="0"/>
          </a:p>
        </p:txBody>
      </p:sp>
      <p:sp>
        <p:nvSpPr>
          <p:cNvPr id="29" name="Text 23"/>
          <p:cNvSpPr txBox="1"/>
          <p:nvPr/>
        </p:nvSpPr>
        <p:spPr>
          <a:xfrm>
            <a:off x="7498080" y="3977640"/>
            <a:ext cx="4023360" cy="5486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Part de chaque région dans la lumière nationale.</a:t>
            </a:r>
            <a:endParaRPr lang="fr-FR" sz="1150" dirty="0"/>
          </a:p>
        </p:txBody>
      </p:sp>
      <p:sp>
        <p:nvSpPr>
          <p:cNvPr id="30" name="Shape 24"/>
          <p:cNvSpPr/>
          <p:nvPr/>
        </p:nvSpPr>
        <p:spPr>
          <a:xfrm>
            <a:off x="6629400" y="4663440"/>
            <a:ext cx="5010912" cy="969264"/>
          </a:xfrm>
          <a:prstGeom prst="roundRect">
            <a:avLst>
              <a:gd name="adj" fmla="val 7547"/>
            </a:avLst>
          </a:prstGeom>
          <a:solidFill>
            <a:srgbClr val="F4F7F5"/>
          </a:solidFill>
          <a:ln w="9525">
            <a:solidFill>
              <a:srgbClr val="D5DED9"/>
            </a:solidFill>
            <a:prstDash val="solid"/>
          </a:ln>
        </p:spPr>
      </p:sp>
      <p:sp>
        <p:nvSpPr>
          <p:cNvPr id="31" name="Shape 25"/>
          <p:cNvSpPr/>
          <p:nvPr/>
        </p:nvSpPr>
        <p:spPr>
          <a:xfrm>
            <a:off x="6784848" y="4864608"/>
            <a:ext cx="548640" cy="548640"/>
          </a:xfrm>
          <a:prstGeom prst="ellipse">
            <a:avLst/>
          </a:prstGeom>
          <a:solidFill>
            <a:srgbClr val="E8F5EF"/>
          </a:solidFill>
          <a:ln w="12700">
            <a:solidFill>
              <a:srgbClr val="E8F5EF"/>
            </a:solidFill>
            <a:prstDash val="solid"/>
          </a:ln>
        </p:spPr>
      </p:sp>
      <p:pic>
        <p:nvPicPr>
          <p:cNvPr id="32" name="Image 4" descr="preencoded.png"/>
          <p:cNvPicPr>
            <a:picLocks noChangeAspect="1"/>
          </p:cNvPicPr>
          <p:nvPr/>
        </p:nvPicPr>
        <p:blipFill>
          <a:blip r:embed="rId7"/>
          <a:stretch>
            <a:fillRect/>
          </a:stretch>
        </p:blipFill>
        <p:spPr>
          <a:xfrm>
            <a:off x="6927494" y="5007254"/>
            <a:ext cx="263347" cy="263347"/>
          </a:xfrm>
          <a:prstGeom prst="rect">
            <a:avLst/>
          </a:prstGeom>
        </p:spPr>
      </p:pic>
      <p:sp>
        <p:nvSpPr>
          <p:cNvPr id="33" name="Text 26"/>
          <p:cNvSpPr txBox="1"/>
          <p:nvPr/>
        </p:nvSpPr>
        <p:spPr>
          <a:xfrm>
            <a:off x="7498080" y="4754880"/>
            <a:ext cx="402336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Note de limites</a:t>
            </a:r>
            <a:endParaRPr lang="fr-FR" sz="1350" dirty="0"/>
          </a:p>
        </p:txBody>
      </p:sp>
      <p:sp>
        <p:nvSpPr>
          <p:cNvPr id="34" name="Text 27"/>
          <p:cNvSpPr txBox="1"/>
          <p:nvPr/>
        </p:nvSpPr>
        <p:spPr>
          <a:xfrm>
            <a:off x="7498080" y="5074920"/>
            <a:ext cx="4023360" cy="5486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Cinq lignes : produit et version, masques, seuil, mois peu couverts, ruptures connues.</a:t>
            </a:r>
            <a:endParaRPr lang="fr-FR" sz="1150" dirty="0"/>
          </a:p>
        </p:txBody>
      </p:sp>
      <p:sp>
        <p:nvSpPr>
          <p:cNvPr id="35" name="Text 28"/>
          <p:cNvSpPr txBox="1"/>
          <p:nvPr/>
        </p:nvSpPr>
        <p:spPr>
          <a:xfrm>
            <a:off x="548640" y="5870448"/>
            <a:ext cx="11094415" cy="274320"/>
          </a:xfrm>
          <a:prstGeom prst="rect">
            <a:avLst/>
          </a:prstGeom>
          <a:noFill/>
          <a:ln/>
        </p:spPr>
        <p:txBody>
          <a:bodyPr wrap="square" lIns="0" tIns="0" rIns="0" bIns="0" rtlCol="0" anchor="t"/>
          <a:lstStyle/>
          <a:p>
            <a:pPr marL="0" indent="0">
              <a:buNone/>
            </a:pPr>
            <a:r>
              <a:rPr lang="fr-FR" sz="1000" i="1" dirty="0">
                <a:solidFill>
                  <a:srgbClr val="5E6964"/>
                </a:solidFill>
                <a:latin typeface="Calibri" pitchFamily="34" charset="0"/>
                <a:ea typeface="Calibri" pitchFamily="34" charset="-122"/>
                <a:cs typeface="Calibri" pitchFamily="34" charset="-120"/>
              </a:rPr>
              <a:t>zonal_sum encapsule exactextract dans le notebook du labo ; affichez df.head() avant d’agréger. Le seuil de 0,5 nW·cm⁻²·sr⁻¹ est un point de départ à tester.</a:t>
            </a:r>
            <a:endParaRPr lang="fr-FR"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LABO A · À QUOI RESSEMBLE UN BON RÉSULTAT</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Une série nationale que l’on peut défendre</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A</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34</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Données synthétiques illustratives — montrent la forme du résultat attendu, pas un pays réel.</a:t>
            </a:r>
            <a:endParaRPr lang="fr-FR" sz="850" dirty="0"/>
          </a:p>
        </p:txBody>
      </p:sp>
      <p:graphicFrame>
        <p:nvGraphicFramePr>
          <p:cNvPr id="13" name="Chart 0"/>
          <p:cNvGraphicFramePr/>
          <p:nvPr/>
        </p:nvGraphicFramePr>
        <p:xfrm>
          <a:off x="548640" y="1325880"/>
          <a:ext cx="7315200" cy="443484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8138160" y="1325880"/>
            <a:ext cx="3502152" cy="4434840"/>
          </a:xfrm>
          <a:prstGeom prst="roundRect">
            <a:avLst>
              <a:gd name="adj" fmla="val 2089"/>
            </a:avLst>
          </a:prstGeom>
          <a:solidFill>
            <a:srgbClr val="F4F7F5"/>
          </a:solidFill>
          <a:ln w="9525">
            <a:solidFill>
              <a:srgbClr val="D5DED9"/>
            </a:solidFill>
            <a:prstDash val="solid"/>
          </a:ln>
        </p:spPr>
      </p:sp>
      <p:sp>
        <p:nvSpPr>
          <p:cNvPr id="15" name="Text 11"/>
          <p:cNvSpPr txBox="1"/>
          <p:nvPr/>
        </p:nvSpPr>
        <p:spPr>
          <a:xfrm>
            <a:off x="8321040" y="1463040"/>
            <a:ext cx="3200400" cy="274320"/>
          </a:xfrm>
          <a:prstGeom prst="rect">
            <a:avLst/>
          </a:prstGeom>
          <a:noFill/>
          <a:ln/>
        </p:spPr>
        <p:txBody>
          <a:bodyPr wrap="square" lIns="0" tIns="0" rIns="0" bIns="0" rtlCol="0" anchor="t"/>
          <a:lstStyle/>
          <a:p>
            <a:pPr marL="0" indent="0">
              <a:buNone/>
            </a:pPr>
            <a:r>
              <a:rPr lang="fr-FR" sz="1000" b="1" kern="0" spc="150" dirty="0">
                <a:solidFill>
                  <a:srgbClr val="0E7C86"/>
                </a:solidFill>
                <a:latin typeface="Calibri" pitchFamily="34" charset="0"/>
                <a:ea typeface="Calibri" pitchFamily="34" charset="-122"/>
                <a:cs typeface="Calibri" pitchFamily="34" charset="-120"/>
              </a:rPr>
              <a:t>NOTE DE LIMITES — EXEMPLE</a:t>
            </a:r>
            <a:endParaRPr lang="fr-FR" sz="1000" dirty="0"/>
          </a:p>
        </p:txBody>
      </p:sp>
      <p:sp>
        <p:nvSpPr>
          <p:cNvPr id="16" name="Text 12"/>
          <p:cNvSpPr txBox="1"/>
          <p:nvPr/>
        </p:nvSpPr>
        <p:spPr>
          <a:xfrm>
            <a:off x="8321040" y="1828800"/>
            <a:ext cx="3154680" cy="3840480"/>
          </a:xfrm>
          <a:prstGeom prst="rect">
            <a:avLst/>
          </a:prstGeom>
          <a:noFill/>
          <a:ln/>
        </p:spPr>
        <p:txBody>
          <a:bodyPr wrap="square" lIns="0" tIns="0" rIns="0" bIns="0" rtlCol="0" anchor="t"/>
          <a:lstStyle/>
          <a:p>
            <a:pPr marL="177800" indent="-177800">
              <a:spcAft>
                <a:spcPts val="600"/>
              </a:spcAft>
              <a:buSzPct val="100000"/>
              <a:buChar char="•"/>
            </a:pPr>
            <a:r>
              <a:rPr lang="fr-FR" sz="1100" b="1" dirty="0">
                <a:solidFill>
                  <a:srgbClr val="00704A"/>
                </a:solidFill>
                <a:latin typeface="Calibri" pitchFamily="34" charset="0"/>
                <a:ea typeface="Calibri" pitchFamily="34" charset="-122"/>
                <a:cs typeface="Calibri" pitchFamily="34" charset="-120"/>
              </a:rPr>
              <a:t>Données :</a:t>
            </a:r>
            <a:r>
              <a:rPr lang="fr-FR" sz="1100" dirty="0">
                <a:solidFill>
                  <a:srgbClr val="231F20"/>
                </a:solidFill>
                <a:latin typeface="Calibri" pitchFamily="34" charset="0"/>
                <a:ea typeface="Calibri" pitchFamily="34" charset="-122"/>
                <a:cs typeface="Calibri" pitchFamily="34" charset="-120"/>
              </a:rPr>
              <a:t> VNP46A3, collection 2, janv. 2023 – déc. 2025, proche du nadir, sans neige.</a:t>
            </a:r>
            <a:endParaRPr lang="fr-FR" sz="1100" dirty="0"/>
          </a:p>
          <a:p>
            <a:pPr marL="177800" indent="-177800">
              <a:spcAft>
                <a:spcPts val="600"/>
              </a:spcAft>
              <a:buSzPct val="100000"/>
              <a:buChar char="•"/>
            </a:pPr>
            <a:r>
              <a:rPr lang="fr-FR" sz="1100" b="1" dirty="0">
                <a:solidFill>
                  <a:srgbClr val="00704A"/>
                </a:solidFill>
                <a:latin typeface="Calibri" pitchFamily="34" charset="0"/>
                <a:ea typeface="Calibri" pitchFamily="34" charset="-122"/>
                <a:cs typeface="Calibri" pitchFamily="34" charset="-120"/>
              </a:rPr>
              <a:t>Masques :</a:t>
            </a:r>
            <a:r>
              <a:rPr lang="fr-FR" sz="1100" dirty="0">
                <a:solidFill>
                  <a:srgbClr val="231F20"/>
                </a:solidFill>
                <a:latin typeface="Calibri" pitchFamily="34" charset="0"/>
                <a:ea typeface="Calibri" pitchFamily="34" charset="-122"/>
                <a:cs typeface="Calibri" pitchFamily="34" charset="-120"/>
              </a:rPr>
              <a:t> qualité ; seuil de bruit 0,5 ; tampons de 2 km (torchères) ; eaux intérieures.</a:t>
            </a:r>
            <a:endParaRPr lang="fr-FR" sz="1100" dirty="0"/>
          </a:p>
          <a:p>
            <a:pPr marL="177800" indent="-177800">
              <a:spcAft>
                <a:spcPts val="600"/>
              </a:spcAft>
              <a:buSzPct val="100000"/>
              <a:buChar char="•"/>
            </a:pPr>
            <a:r>
              <a:rPr lang="fr-FR" sz="1100" b="1" dirty="0">
                <a:solidFill>
                  <a:srgbClr val="00704A"/>
                </a:solidFill>
                <a:latin typeface="Calibri" pitchFamily="34" charset="0"/>
                <a:ea typeface="Calibri" pitchFamily="34" charset="-122"/>
                <a:cs typeface="Calibri" pitchFamily="34" charset="-120"/>
              </a:rPr>
              <a:t>Lacunes :</a:t>
            </a:r>
            <a:r>
              <a:rPr lang="fr-FR" sz="1100" dirty="0">
                <a:solidFill>
                  <a:srgbClr val="231F20"/>
                </a:solidFill>
                <a:latin typeface="Calibri" pitchFamily="34" charset="0"/>
                <a:ea typeface="Calibri" pitchFamily="34" charset="-122"/>
                <a:cs typeface="Calibri" pitchFamily="34" charset="-120"/>
              </a:rPr>
              <a:t> juillet–août &lt; 5 nuits valides dans les provinces côtières ; signalé, non imputé.</a:t>
            </a:r>
            <a:endParaRPr lang="fr-FR" sz="1100" dirty="0"/>
          </a:p>
          <a:p>
            <a:pPr marL="177800" indent="-177800">
              <a:spcAft>
                <a:spcPts val="600"/>
              </a:spcAft>
              <a:buSzPct val="100000"/>
              <a:buChar char="•"/>
            </a:pPr>
            <a:r>
              <a:rPr lang="fr-FR" sz="1100" b="1" dirty="0">
                <a:solidFill>
                  <a:srgbClr val="00704A"/>
                </a:solidFill>
                <a:latin typeface="Calibri" pitchFamily="34" charset="0"/>
                <a:ea typeface="Calibri" pitchFamily="34" charset="-122"/>
                <a:cs typeface="Calibri" pitchFamily="34" charset="-120"/>
              </a:rPr>
              <a:t>Ruptures :</a:t>
            </a:r>
            <a:r>
              <a:rPr lang="fr-FR" sz="1100" dirty="0">
                <a:solidFill>
                  <a:srgbClr val="231F20"/>
                </a:solidFill>
                <a:latin typeface="Calibri" pitchFamily="34" charset="0"/>
                <a:ea typeface="Calibri" pitchFamily="34" charset="-122"/>
                <a:cs typeface="Calibri" pitchFamily="34" charset="-120"/>
              </a:rPr>
              <a:t> torchage avr.–juin 2024 masqué ; pas de changement de produit.</a:t>
            </a:r>
            <a:endParaRPr lang="fr-FR" sz="1100" dirty="0"/>
          </a:p>
          <a:p>
            <a:pPr marL="177800" indent="-177800">
              <a:spcAft>
                <a:spcPts val="600"/>
              </a:spcAft>
              <a:buSzPct val="100000"/>
              <a:buChar char="•"/>
            </a:pPr>
            <a:r>
              <a:rPr lang="fr-FR" sz="1100" b="1" dirty="0">
                <a:solidFill>
                  <a:srgbClr val="00704A"/>
                </a:solidFill>
                <a:latin typeface="Calibri" pitchFamily="34" charset="0"/>
                <a:ea typeface="Calibri" pitchFamily="34" charset="-122"/>
                <a:cs typeface="Calibri" pitchFamily="34" charset="-120"/>
              </a:rPr>
              <a:t>À ne pas utiliser pour :</a:t>
            </a:r>
            <a:r>
              <a:rPr lang="fr-FR" sz="1100" dirty="0">
                <a:solidFill>
                  <a:srgbClr val="231F20"/>
                </a:solidFill>
                <a:latin typeface="Calibri" pitchFamily="34" charset="0"/>
                <a:ea typeface="Calibri" pitchFamily="34" charset="-122"/>
                <a:cs typeface="Calibri" pitchFamily="34" charset="-120"/>
              </a:rPr>
              <a:t> niveaux de PIB, revenu des ménages, petites localités.</a:t>
            </a:r>
            <a:endParaRPr lang="fr-FR"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LABO A · DÉPANNAGE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Chiffres suspects : symptôme, cause, solution</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A · RÉF</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35</a:t>
            </a:r>
            <a:endParaRPr lang="fr-FR"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384048">
                <a:tc>
                  <a:txBody>
                    <a:bodyPr/>
                    <a:lstStyle/>
                    <a:p>
                      <a:pPr marL="0" indent="0">
                        <a:buNone/>
                      </a:pPr>
                      <a:r>
                        <a:rPr lang="fr-FR" sz="1200" b="1" dirty="0">
                          <a:solidFill>
                            <a:srgbClr val="00553A"/>
                          </a:solidFill>
                          <a:latin typeface="Calibri" pitchFamily="34" charset="0"/>
                          <a:ea typeface="Calibri" pitchFamily="34" charset="-122"/>
                          <a:cs typeface="Calibri" pitchFamily="34" charset="-120"/>
                        </a:rPr>
                        <a:t>Symptôme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tc>
                  <a:txBody>
                    <a:bodyPr/>
                    <a:lstStyle/>
                    <a:p>
                      <a:pPr marL="0" indent="0">
                        <a:buNone/>
                      </a:pPr>
                      <a:r>
                        <a:rPr lang="fr-FR" sz="1200" b="1" dirty="0">
                          <a:solidFill>
                            <a:srgbClr val="00553A"/>
                          </a:solidFill>
                          <a:latin typeface="Calibri" pitchFamily="34" charset="0"/>
                          <a:ea typeface="Calibri" pitchFamily="34" charset="-122"/>
                          <a:cs typeface="Calibri" pitchFamily="34" charset="-120"/>
                        </a:rPr>
                        <a:t>Cause probable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tc>
                  <a:txBody>
                    <a:bodyPr/>
                    <a:lstStyle/>
                    <a:p>
                      <a:pPr marL="0" indent="0">
                        <a:buNone/>
                      </a:pPr>
                      <a:r>
                        <a:rPr lang="fr-FR" sz="1200" b="1" dirty="0">
                          <a:solidFill>
                            <a:srgbClr val="00553A"/>
                          </a:solidFill>
                          <a:latin typeface="Calibri" pitchFamily="34" charset="0"/>
                          <a:ea typeface="Calibri" pitchFamily="34" charset="-122"/>
                          <a:cs typeface="Calibri" pitchFamily="34" charset="-120"/>
                        </a:rPr>
                        <a:t>Solution</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extLst>
                  <a:ext uri="{0D108BD9-81ED-4DB2-BD59-A6C34878D82A}">
                    <a16:rowId xmlns:a16="http://schemas.microsoft.com/office/drawing/2014/main" val="10000"/>
                  </a:ext>
                </a:extLst>
              </a:tr>
              <a:tr h="658368">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Valeurs dix fois trop grandes, ou pics énormes</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Facteur d’échelle oublié ; remplissage (65535) lu comme radiance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Utiliser BlackMarblePy, ou appliquer échelle et masque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658368">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Raccord rectiligne à travers le pays</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Limite de tuile — une tuile de 10° manquante pour ce mois</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Vérifier chaque tuile téléchargée ; redemander celle qui manque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Limites et raster ne se superposent pas</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SCR différents (limites projetées vs raster géographique)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Reprojeter les limites en EPSG:4326 avant le découpage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3"/>
                  </a:ext>
                </a:extLst>
              </a:tr>
              <a:tr h="658368">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Districts côtiers sous-éclairés</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Pixels à cheval sur le littoral exclus par le découpage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Découpage « all-touched » ou poids partiels exactextract</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Un mois est vide ou proche de zéro</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Trop peu de nuits claires ; mois entier manquant</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Le marquer manquant ; jamais moyenné comme zéro</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5"/>
                  </a:ext>
                </a:extLst>
              </a:tr>
              <a:tr h="658368">
                <a:tc>
                  <a:txBody>
                    <a:bodyPr/>
                    <a:lstStyle/>
                    <a:p>
                      <a:pPr marL="0" indent="0">
                        <a:buNone/>
                      </a:pPr>
                      <a:r>
                        <a:rPr lang="fr-FR" sz="1200" b="1" dirty="0">
                          <a:solidFill>
                            <a:srgbClr val="00704A"/>
                          </a:solidFill>
                          <a:latin typeface="Calibri" pitchFamily="34" charset="0"/>
                          <a:ea typeface="Calibri" pitchFamily="34" charset="-122"/>
                          <a:cs typeface="Calibri" pitchFamily="34" charset="-120"/>
                        </a:rPr>
                        <a:t>Saut brutal dans une seule région</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Torchère, feu, flottille de pêche — ou événement réel</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fr-FR" sz="1200" dirty="0">
                          <a:solidFill>
                            <a:srgbClr val="231F20"/>
                          </a:solidFill>
                          <a:latin typeface="Calibri" pitchFamily="34" charset="0"/>
                          <a:ea typeface="Calibri" pitchFamily="34" charset="-122"/>
                          <a:cs typeface="Calibri" pitchFamily="34" charset="-120"/>
                        </a:rPr>
                        <a:t>Cartographier le mois ; vérifier Nightfire et la presse</a:t>
                      </a:r>
                      <a:endParaRPr lang="fr-FR"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3" name="Text 9"/>
          <p:cNvSpPr txBox="1"/>
          <p:nvPr/>
        </p:nvSpPr>
        <p:spPr>
          <a:xfrm>
            <a:off x="548640" y="5806440"/>
            <a:ext cx="11094415" cy="274320"/>
          </a:xfrm>
          <a:prstGeom prst="rect">
            <a:avLst/>
          </a:prstGeom>
          <a:noFill/>
          <a:ln/>
        </p:spPr>
        <p:txBody>
          <a:bodyPr wrap="square" lIns="0" tIns="0" rIns="0" bIns="0" rtlCol="0" anchor="t"/>
          <a:lstStyle/>
          <a:p>
            <a:pPr marL="0" indent="0">
              <a:buNone/>
            </a:pPr>
            <a:r>
              <a:rPr lang="fr-FR" sz="1100" i="1" dirty="0">
                <a:solidFill>
                  <a:srgbClr val="00704A"/>
                </a:solidFill>
                <a:latin typeface="Calibri" pitchFamily="34" charset="0"/>
                <a:ea typeface="Calibri" pitchFamily="34" charset="-122"/>
                <a:cs typeface="Calibri" pitchFamily="34" charset="-120"/>
              </a:rPr>
              <a:t>Gardez une copie préchargée de VNP46A3 pour vos pays au cas où les téléchargements bloquent.</a:t>
            </a:r>
            <a:endParaRPr lang="fr-FR"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Afrique centrale et orientale  ·  Rendu illustratif : populations des localités GeoNames, frontières Natural Earth</a:t>
            </a:r>
            <a:endParaRPr lang="fr-FR"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fr-FR" sz="1100" b="1" kern="0" spc="300" dirty="0">
                <a:solidFill>
                  <a:srgbClr val="7BCBA9"/>
                </a:solidFill>
                <a:latin typeface="Calibri" pitchFamily="34" charset="0"/>
                <a:ea typeface="Calibri" pitchFamily="34" charset="-122"/>
                <a:cs typeface="Calibri" pitchFamily="34" charset="-120"/>
              </a:rPr>
              <a:t>SECTION 4</a:t>
            </a:r>
            <a:endParaRPr lang="fr-FR"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fr-FR" sz="8000" b="1" dirty="0">
                <a:solidFill>
                  <a:srgbClr val="F5C242"/>
                </a:solidFill>
                <a:latin typeface="Calibri" pitchFamily="34" charset="0"/>
                <a:ea typeface="Calibri" pitchFamily="34" charset="-122"/>
                <a:cs typeface="Calibri" pitchFamily="34" charset="-120"/>
              </a:rPr>
              <a:t>04</a:t>
            </a:r>
            <a:endParaRPr lang="fr-FR"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fr-FR" sz="3800" b="1" dirty="0">
                <a:solidFill>
                  <a:srgbClr val="FFFFFF"/>
                </a:solidFill>
                <a:latin typeface="Calibri" pitchFamily="34" charset="0"/>
                <a:ea typeface="Calibri" pitchFamily="34" charset="-122"/>
                <a:cs typeface="Calibri" pitchFamily="34" charset="-120"/>
              </a:rPr>
              <a:t>Applications</a:t>
            </a:r>
            <a:endParaRPr lang="fr-FR"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fr-FR" sz="1700" i="1" dirty="0">
                <a:solidFill>
                  <a:srgbClr val="CDE8DA"/>
                </a:solidFill>
                <a:latin typeface="Calibri" pitchFamily="34" charset="0"/>
                <a:ea typeface="Calibri" pitchFamily="34" charset="-122"/>
                <a:cs typeface="Calibri" pitchFamily="34" charset="-120"/>
              </a:rPr>
              <a:t>À quelles questions statistiques ces données répondent-elles vraiment — et comment le savoir ?</a:t>
            </a:r>
            <a:endParaRPr lang="fr-FR"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fr-FR" sz="1200" dirty="0">
                <a:solidFill>
                  <a:srgbClr val="A9D3BE"/>
                </a:solidFill>
                <a:latin typeface="Calibri" pitchFamily="34" charset="0"/>
                <a:ea typeface="Calibri" pitchFamily="34" charset="-122"/>
                <a:cs typeface="Calibri" pitchFamily="34" charset="-120"/>
              </a:rPr>
              <a:t>Carte des ODD  ·  Validation  ·  Économie et nowcasting  ·  Accès à l’énergie  ·  Urbanisation  ·  Crises et chocs  ·  Îles</a:t>
            </a:r>
            <a:endParaRPr lang="fr-FR"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fr-FR" sz="1000" b="1" kern="0" spc="100" dirty="0">
                <a:solidFill>
                  <a:srgbClr val="00553A"/>
                </a:solidFill>
                <a:latin typeface="Calibri" pitchFamily="34" charset="0"/>
                <a:ea typeface="Calibri" pitchFamily="34" charset="-122"/>
                <a:cs typeface="Calibri" pitchFamily="34" charset="-120"/>
              </a:rPr>
              <a:t>SÉANCE B  ·  30 MIN</a:t>
            </a:r>
            <a:endParaRPr lang="fr-FR"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dirty="0">
                <a:solidFill>
                  <a:srgbClr val="A9D3BE"/>
                </a:solidFill>
                <a:latin typeface="Calibri" pitchFamily="34" charset="0"/>
                <a:ea typeface="Calibri" pitchFamily="34" charset="-122"/>
                <a:cs typeface="Calibri" pitchFamily="34" charset="-120"/>
              </a:rPr>
              <a:t>36</a:t>
            </a:r>
            <a:endParaRPr lang="fr-FR"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VUE D’ENSEMBLE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Où les lumières appuient le suivi des ODD et macroéconomique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37</a:t>
            </a:r>
            <a:endParaRPr lang="fr-FR" sz="900" dirty="0"/>
          </a:p>
        </p:txBody>
      </p:sp>
      <p:sp>
        <p:nvSpPr>
          <p:cNvPr id="12" name="Shape 9"/>
          <p:cNvSpPr/>
          <p:nvPr/>
        </p:nvSpPr>
        <p:spPr>
          <a:xfrm>
            <a:off x="548640" y="1371600"/>
            <a:ext cx="3593592" cy="1783080"/>
          </a:xfrm>
          <a:prstGeom prst="roundRect">
            <a:avLst>
              <a:gd name="adj" fmla="val 4103"/>
            </a:avLst>
          </a:prstGeom>
          <a:solidFill>
            <a:srgbClr val="F4F7F5"/>
          </a:solidFill>
          <a:ln w="9525">
            <a:solidFill>
              <a:srgbClr val="D5DED9"/>
            </a:solidFill>
            <a:prstDash val="solid"/>
          </a:ln>
        </p:spPr>
      </p:sp>
      <p:sp>
        <p:nvSpPr>
          <p:cNvPr id="13" name="Shape 10"/>
          <p:cNvSpPr/>
          <p:nvPr/>
        </p:nvSpPr>
        <p:spPr>
          <a:xfrm>
            <a:off x="749808" y="1600200"/>
            <a:ext cx="594360" cy="59436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904342" y="1754734"/>
            <a:ext cx="285293" cy="285293"/>
          </a:xfrm>
          <a:prstGeom prst="rect">
            <a:avLst/>
          </a:prstGeom>
        </p:spPr>
      </p:pic>
      <p:sp>
        <p:nvSpPr>
          <p:cNvPr id="15" name="Shape 11"/>
          <p:cNvSpPr/>
          <p:nvPr/>
        </p:nvSpPr>
        <p:spPr>
          <a:xfrm>
            <a:off x="1508760" y="1627632"/>
            <a:ext cx="777240" cy="237744"/>
          </a:xfrm>
          <a:prstGeom prst="roundRect">
            <a:avLst>
              <a:gd name="adj" fmla="val 50000"/>
            </a:avLst>
          </a:prstGeom>
          <a:solidFill>
            <a:srgbClr val="E8F5EF"/>
          </a:solidFill>
          <a:ln w="12700">
            <a:solidFill>
              <a:srgbClr val="E8F5EF"/>
            </a:solidFill>
            <a:prstDash val="solid"/>
          </a:ln>
        </p:spPr>
      </p:sp>
      <p:sp>
        <p:nvSpPr>
          <p:cNvPr id="16" name="Text 12"/>
          <p:cNvSpPr txBox="1"/>
          <p:nvPr/>
        </p:nvSpPr>
        <p:spPr>
          <a:xfrm>
            <a:off x="1508760" y="1627632"/>
            <a:ext cx="777240" cy="237744"/>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ODD 1</a:t>
            </a:r>
            <a:endParaRPr lang="fr-FR" sz="850" dirty="0"/>
          </a:p>
        </p:txBody>
      </p:sp>
      <p:sp>
        <p:nvSpPr>
          <p:cNvPr id="17" name="Text 13"/>
          <p:cNvSpPr txBox="1"/>
          <p:nvPr/>
        </p:nvSpPr>
        <p:spPr>
          <a:xfrm>
            <a:off x="1508760" y="1920240"/>
            <a:ext cx="2514600" cy="36576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Pauvreté et richesse</a:t>
            </a:r>
            <a:endParaRPr lang="fr-FR" sz="1400" dirty="0"/>
          </a:p>
        </p:txBody>
      </p:sp>
      <p:sp>
        <p:nvSpPr>
          <p:cNvPr id="18" name="Text 14"/>
          <p:cNvSpPr txBox="1"/>
          <p:nvPr/>
        </p:nvSpPr>
        <p:spPr>
          <a:xfrm>
            <a:off x="749808" y="2377440"/>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Estimations sur petits domaines combinant lumières et enquêtes</a:t>
            </a:r>
            <a:endParaRPr lang="fr-FR" sz="1150" dirty="0"/>
          </a:p>
        </p:txBody>
      </p:sp>
      <p:sp>
        <p:nvSpPr>
          <p:cNvPr id="19" name="Shape 15"/>
          <p:cNvSpPr/>
          <p:nvPr/>
        </p:nvSpPr>
        <p:spPr>
          <a:xfrm>
            <a:off x="4297680" y="1371600"/>
            <a:ext cx="3593592" cy="1783080"/>
          </a:xfrm>
          <a:prstGeom prst="roundRect">
            <a:avLst>
              <a:gd name="adj" fmla="val 4103"/>
            </a:avLst>
          </a:prstGeom>
          <a:solidFill>
            <a:srgbClr val="F4F7F5"/>
          </a:solidFill>
          <a:ln w="9525">
            <a:solidFill>
              <a:srgbClr val="D5DED9"/>
            </a:solidFill>
            <a:prstDash val="solid"/>
          </a:ln>
        </p:spPr>
      </p:sp>
      <p:sp>
        <p:nvSpPr>
          <p:cNvPr id="20" name="Shape 16"/>
          <p:cNvSpPr/>
          <p:nvPr/>
        </p:nvSpPr>
        <p:spPr>
          <a:xfrm>
            <a:off x="4498848" y="1600200"/>
            <a:ext cx="594360" cy="594360"/>
          </a:xfrm>
          <a:prstGeom prst="ellipse">
            <a:avLst/>
          </a:prstGeom>
          <a:solidFill>
            <a:srgbClr val="00704A"/>
          </a:solidFill>
          <a:ln w="12700">
            <a:solidFill>
              <a:srgbClr val="00704A"/>
            </a:solidFill>
            <a:prstDash val="solid"/>
          </a:ln>
        </p:spPr>
      </p:sp>
      <p:pic>
        <p:nvPicPr>
          <p:cNvPr id="21" name="Image 2" descr="preencoded.png"/>
          <p:cNvPicPr>
            <a:picLocks noChangeAspect="1"/>
          </p:cNvPicPr>
          <p:nvPr/>
        </p:nvPicPr>
        <p:blipFill>
          <a:blip r:embed="rId5"/>
          <a:stretch>
            <a:fillRect/>
          </a:stretch>
        </p:blipFill>
        <p:spPr>
          <a:xfrm>
            <a:off x="4653382" y="1754734"/>
            <a:ext cx="285293" cy="285293"/>
          </a:xfrm>
          <a:prstGeom prst="rect">
            <a:avLst/>
          </a:prstGeom>
        </p:spPr>
      </p:pic>
      <p:sp>
        <p:nvSpPr>
          <p:cNvPr id="22" name="Shape 17"/>
          <p:cNvSpPr/>
          <p:nvPr/>
        </p:nvSpPr>
        <p:spPr>
          <a:xfrm>
            <a:off x="5257800" y="1627632"/>
            <a:ext cx="777240" cy="237744"/>
          </a:xfrm>
          <a:prstGeom prst="roundRect">
            <a:avLst>
              <a:gd name="adj" fmla="val 50000"/>
            </a:avLst>
          </a:prstGeom>
          <a:solidFill>
            <a:srgbClr val="E8F5EF"/>
          </a:solidFill>
          <a:ln w="12700">
            <a:solidFill>
              <a:srgbClr val="E8F5EF"/>
            </a:solidFill>
            <a:prstDash val="solid"/>
          </a:ln>
        </p:spPr>
      </p:sp>
      <p:sp>
        <p:nvSpPr>
          <p:cNvPr id="23" name="Text 18"/>
          <p:cNvSpPr txBox="1"/>
          <p:nvPr/>
        </p:nvSpPr>
        <p:spPr>
          <a:xfrm>
            <a:off x="5257800" y="1627632"/>
            <a:ext cx="777240" cy="237744"/>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ODD 7</a:t>
            </a:r>
            <a:endParaRPr lang="fr-FR" sz="850" dirty="0"/>
          </a:p>
        </p:txBody>
      </p:sp>
      <p:sp>
        <p:nvSpPr>
          <p:cNvPr id="24" name="Text 19"/>
          <p:cNvSpPr txBox="1"/>
          <p:nvPr/>
        </p:nvSpPr>
        <p:spPr>
          <a:xfrm>
            <a:off x="5257800" y="1920240"/>
            <a:ext cx="2514600" cy="36576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Accès et fiabilité électriques</a:t>
            </a:r>
            <a:endParaRPr lang="fr-FR" sz="1400" dirty="0"/>
          </a:p>
        </p:txBody>
      </p:sp>
      <p:sp>
        <p:nvSpPr>
          <p:cNvPr id="25" name="Text 20"/>
          <p:cNvSpPr txBox="1"/>
          <p:nvPr/>
        </p:nvSpPr>
        <p:spPr>
          <a:xfrm>
            <a:off x="4498848" y="2377440"/>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Localiser les non-desservis ; suivre la fréquence d’éclairage</a:t>
            </a:r>
            <a:endParaRPr lang="fr-FR" sz="1150" dirty="0"/>
          </a:p>
        </p:txBody>
      </p:sp>
      <p:sp>
        <p:nvSpPr>
          <p:cNvPr id="26" name="Shape 21"/>
          <p:cNvSpPr/>
          <p:nvPr/>
        </p:nvSpPr>
        <p:spPr>
          <a:xfrm>
            <a:off x="8046720" y="1371600"/>
            <a:ext cx="3593592" cy="1783080"/>
          </a:xfrm>
          <a:prstGeom prst="roundRect">
            <a:avLst>
              <a:gd name="adj" fmla="val 4103"/>
            </a:avLst>
          </a:prstGeom>
          <a:solidFill>
            <a:srgbClr val="F4F7F5"/>
          </a:solidFill>
          <a:ln w="9525">
            <a:solidFill>
              <a:srgbClr val="D5DED9"/>
            </a:solidFill>
            <a:prstDash val="solid"/>
          </a:ln>
        </p:spPr>
      </p:sp>
      <p:sp>
        <p:nvSpPr>
          <p:cNvPr id="27" name="Shape 22"/>
          <p:cNvSpPr/>
          <p:nvPr/>
        </p:nvSpPr>
        <p:spPr>
          <a:xfrm>
            <a:off x="8247888" y="1600200"/>
            <a:ext cx="594360" cy="594360"/>
          </a:xfrm>
          <a:prstGeom prst="ellipse">
            <a:avLst/>
          </a:prstGeom>
          <a:solidFill>
            <a:srgbClr val="00704A"/>
          </a:solidFill>
          <a:ln w="12700">
            <a:solidFill>
              <a:srgbClr val="00704A"/>
            </a:solidFill>
            <a:prstDash val="solid"/>
          </a:ln>
        </p:spPr>
      </p:sp>
      <p:pic>
        <p:nvPicPr>
          <p:cNvPr id="28" name="Image 3" descr="preencoded.png"/>
          <p:cNvPicPr>
            <a:picLocks noChangeAspect="1"/>
          </p:cNvPicPr>
          <p:nvPr/>
        </p:nvPicPr>
        <p:blipFill>
          <a:blip r:embed="rId6"/>
          <a:stretch>
            <a:fillRect/>
          </a:stretch>
        </p:blipFill>
        <p:spPr>
          <a:xfrm>
            <a:off x="8402422" y="1754734"/>
            <a:ext cx="285293" cy="285293"/>
          </a:xfrm>
          <a:prstGeom prst="rect">
            <a:avLst/>
          </a:prstGeom>
        </p:spPr>
      </p:pic>
      <p:sp>
        <p:nvSpPr>
          <p:cNvPr id="29" name="Shape 23"/>
          <p:cNvSpPr/>
          <p:nvPr/>
        </p:nvSpPr>
        <p:spPr>
          <a:xfrm>
            <a:off x="9006840" y="1627632"/>
            <a:ext cx="777240" cy="237744"/>
          </a:xfrm>
          <a:prstGeom prst="roundRect">
            <a:avLst>
              <a:gd name="adj" fmla="val 50000"/>
            </a:avLst>
          </a:prstGeom>
          <a:solidFill>
            <a:srgbClr val="E8F5EF"/>
          </a:solidFill>
          <a:ln w="12700">
            <a:solidFill>
              <a:srgbClr val="E8F5EF"/>
            </a:solidFill>
            <a:prstDash val="solid"/>
          </a:ln>
        </p:spPr>
      </p:sp>
      <p:sp>
        <p:nvSpPr>
          <p:cNvPr id="30" name="Text 24"/>
          <p:cNvSpPr txBox="1"/>
          <p:nvPr/>
        </p:nvSpPr>
        <p:spPr>
          <a:xfrm>
            <a:off x="9006840" y="1627632"/>
            <a:ext cx="777240" cy="237744"/>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ODD 8</a:t>
            </a:r>
            <a:endParaRPr lang="fr-FR" sz="850" dirty="0"/>
          </a:p>
        </p:txBody>
      </p:sp>
      <p:sp>
        <p:nvSpPr>
          <p:cNvPr id="31" name="Text 25"/>
          <p:cNvSpPr txBox="1"/>
          <p:nvPr/>
        </p:nvSpPr>
        <p:spPr>
          <a:xfrm>
            <a:off x="9006840" y="1920240"/>
            <a:ext cx="2514600" cy="36576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Activité économique</a:t>
            </a:r>
            <a:endParaRPr lang="fr-FR" sz="1400" dirty="0"/>
          </a:p>
        </p:txBody>
      </p:sp>
      <p:sp>
        <p:nvSpPr>
          <p:cNvPr id="32" name="Text 26"/>
          <p:cNvSpPr txBox="1"/>
          <p:nvPr/>
        </p:nvSpPr>
        <p:spPr>
          <a:xfrm>
            <a:off x="8247888" y="2377440"/>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Désagrégation infranationale du PIB ; nowcasting ; signaux conjoncturels</a:t>
            </a:r>
            <a:endParaRPr lang="fr-FR" sz="1150" dirty="0"/>
          </a:p>
        </p:txBody>
      </p:sp>
      <p:sp>
        <p:nvSpPr>
          <p:cNvPr id="33" name="Shape 27"/>
          <p:cNvSpPr/>
          <p:nvPr/>
        </p:nvSpPr>
        <p:spPr>
          <a:xfrm>
            <a:off x="548640" y="3337560"/>
            <a:ext cx="3593592" cy="1783080"/>
          </a:xfrm>
          <a:prstGeom prst="roundRect">
            <a:avLst>
              <a:gd name="adj" fmla="val 4103"/>
            </a:avLst>
          </a:prstGeom>
          <a:solidFill>
            <a:srgbClr val="F4F7F5"/>
          </a:solidFill>
          <a:ln w="9525">
            <a:solidFill>
              <a:srgbClr val="D5DED9"/>
            </a:solidFill>
            <a:prstDash val="solid"/>
          </a:ln>
        </p:spPr>
      </p:sp>
      <p:sp>
        <p:nvSpPr>
          <p:cNvPr id="34" name="Shape 28"/>
          <p:cNvSpPr/>
          <p:nvPr/>
        </p:nvSpPr>
        <p:spPr>
          <a:xfrm>
            <a:off x="749808" y="3566160"/>
            <a:ext cx="594360" cy="594360"/>
          </a:xfrm>
          <a:prstGeom prst="ellipse">
            <a:avLst/>
          </a:prstGeom>
          <a:solidFill>
            <a:srgbClr val="00704A"/>
          </a:solidFill>
          <a:ln w="12700">
            <a:solidFill>
              <a:srgbClr val="00704A"/>
            </a:solidFill>
            <a:prstDash val="solid"/>
          </a:ln>
        </p:spPr>
      </p:sp>
      <p:pic>
        <p:nvPicPr>
          <p:cNvPr id="35" name="Image 4" descr="preencoded.png"/>
          <p:cNvPicPr>
            <a:picLocks noChangeAspect="1"/>
          </p:cNvPicPr>
          <p:nvPr/>
        </p:nvPicPr>
        <p:blipFill>
          <a:blip r:embed="rId7"/>
          <a:stretch>
            <a:fillRect/>
          </a:stretch>
        </p:blipFill>
        <p:spPr>
          <a:xfrm>
            <a:off x="904342" y="3720694"/>
            <a:ext cx="285293" cy="285293"/>
          </a:xfrm>
          <a:prstGeom prst="rect">
            <a:avLst/>
          </a:prstGeom>
        </p:spPr>
      </p:pic>
      <p:sp>
        <p:nvSpPr>
          <p:cNvPr id="36" name="Shape 29"/>
          <p:cNvSpPr/>
          <p:nvPr/>
        </p:nvSpPr>
        <p:spPr>
          <a:xfrm>
            <a:off x="1508760" y="3593592"/>
            <a:ext cx="777240" cy="237744"/>
          </a:xfrm>
          <a:prstGeom prst="roundRect">
            <a:avLst>
              <a:gd name="adj" fmla="val 50000"/>
            </a:avLst>
          </a:prstGeom>
          <a:solidFill>
            <a:srgbClr val="E8F5EF"/>
          </a:solidFill>
          <a:ln w="12700">
            <a:solidFill>
              <a:srgbClr val="E8F5EF"/>
            </a:solidFill>
            <a:prstDash val="solid"/>
          </a:ln>
        </p:spPr>
      </p:sp>
      <p:sp>
        <p:nvSpPr>
          <p:cNvPr id="37" name="Text 30"/>
          <p:cNvSpPr txBox="1"/>
          <p:nvPr/>
        </p:nvSpPr>
        <p:spPr>
          <a:xfrm>
            <a:off x="1508760" y="3593592"/>
            <a:ext cx="777240" cy="237744"/>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ODD 9</a:t>
            </a:r>
            <a:endParaRPr lang="fr-FR" sz="850" dirty="0"/>
          </a:p>
        </p:txBody>
      </p:sp>
      <p:sp>
        <p:nvSpPr>
          <p:cNvPr id="38" name="Text 31"/>
          <p:cNvSpPr txBox="1"/>
          <p:nvPr/>
        </p:nvSpPr>
        <p:spPr>
          <a:xfrm>
            <a:off x="1508760" y="3886200"/>
            <a:ext cx="2514600" cy="36576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Infrastructures</a:t>
            </a:r>
            <a:endParaRPr lang="fr-FR" sz="1400" dirty="0"/>
          </a:p>
        </p:txBody>
      </p:sp>
      <p:sp>
        <p:nvSpPr>
          <p:cNvPr id="39" name="Text 32"/>
          <p:cNvSpPr txBox="1"/>
          <p:nvPr/>
        </p:nvSpPr>
        <p:spPr>
          <a:xfrm>
            <a:off x="749808" y="4343400"/>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Corridors, ports, zones industrielles et économiques spéciales</a:t>
            </a:r>
            <a:endParaRPr lang="fr-FR" sz="1150" dirty="0"/>
          </a:p>
        </p:txBody>
      </p:sp>
      <p:sp>
        <p:nvSpPr>
          <p:cNvPr id="40" name="Shape 33"/>
          <p:cNvSpPr/>
          <p:nvPr/>
        </p:nvSpPr>
        <p:spPr>
          <a:xfrm>
            <a:off x="4297680" y="3337560"/>
            <a:ext cx="3593592" cy="1783080"/>
          </a:xfrm>
          <a:prstGeom prst="roundRect">
            <a:avLst>
              <a:gd name="adj" fmla="val 4103"/>
            </a:avLst>
          </a:prstGeom>
          <a:solidFill>
            <a:srgbClr val="F4F7F5"/>
          </a:solidFill>
          <a:ln w="9525">
            <a:solidFill>
              <a:srgbClr val="D5DED9"/>
            </a:solidFill>
            <a:prstDash val="solid"/>
          </a:ln>
        </p:spPr>
      </p:sp>
      <p:sp>
        <p:nvSpPr>
          <p:cNvPr id="41" name="Shape 34"/>
          <p:cNvSpPr/>
          <p:nvPr/>
        </p:nvSpPr>
        <p:spPr>
          <a:xfrm>
            <a:off x="4498848" y="3566160"/>
            <a:ext cx="594360" cy="594360"/>
          </a:xfrm>
          <a:prstGeom prst="ellipse">
            <a:avLst/>
          </a:prstGeom>
          <a:solidFill>
            <a:srgbClr val="00704A"/>
          </a:solidFill>
          <a:ln w="12700">
            <a:solidFill>
              <a:srgbClr val="00704A"/>
            </a:solidFill>
            <a:prstDash val="solid"/>
          </a:ln>
        </p:spPr>
      </p:sp>
      <p:pic>
        <p:nvPicPr>
          <p:cNvPr id="42" name="Image 5" descr="preencoded.png"/>
          <p:cNvPicPr>
            <a:picLocks noChangeAspect="1"/>
          </p:cNvPicPr>
          <p:nvPr/>
        </p:nvPicPr>
        <p:blipFill>
          <a:blip r:embed="rId8"/>
          <a:stretch>
            <a:fillRect/>
          </a:stretch>
        </p:blipFill>
        <p:spPr>
          <a:xfrm>
            <a:off x="4653382" y="3720694"/>
            <a:ext cx="285293" cy="285293"/>
          </a:xfrm>
          <a:prstGeom prst="rect">
            <a:avLst/>
          </a:prstGeom>
        </p:spPr>
      </p:pic>
      <p:sp>
        <p:nvSpPr>
          <p:cNvPr id="43" name="Shape 35"/>
          <p:cNvSpPr/>
          <p:nvPr/>
        </p:nvSpPr>
        <p:spPr>
          <a:xfrm>
            <a:off x="5257800" y="3593592"/>
            <a:ext cx="777240" cy="237744"/>
          </a:xfrm>
          <a:prstGeom prst="roundRect">
            <a:avLst>
              <a:gd name="adj" fmla="val 50000"/>
            </a:avLst>
          </a:prstGeom>
          <a:solidFill>
            <a:srgbClr val="E8F5EF"/>
          </a:solidFill>
          <a:ln w="12700">
            <a:solidFill>
              <a:srgbClr val="E8F5EF"/>
            </a:solidFill>
            <a:prstDash val="solid"/>
          </a:ln>
        </p:spPr>
      </p:sp>
      <p:sp>
        <p:nvSpPr>
          <p:cNvPr id="44" name="Text 36"/>
          <p:cNvSpPr txBox="1"/>
          <p:nvPr/>
        </p:nvSpPr>
        <p:spPr>
          <a:xfrm>
            <a:off x="5257800" y="3593592"/>
            <a:ext cx="777240" cy="237744"/>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ODD 11</a:t>
            </a:r>
            <a:endParaRPr lang="fr-FR" sz="850" dirty="0"/>
          </a:p>
        </p:txBody>
      </p:sp>
      <p:sp>
        <p:nvSpPr>
          <p:cNvPr id="45" name="Text 37"/>
          <p:cNvSpPr txBox="1"/>
          <p:nvPr/>
        </p:nvSpPr>
        <p:spPr>
          <a:xfrm>
            <a:off x="5257800" y="3886200"/>
            <a:ext cx="2514600" cy="36576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Urbanisation</a:t>
            </a:r>
            <a:endParaRPr lang="fr-FR" sz="1400" dirty="0"/>
          </a:p>
        </p:txBody>
      </p:sp>
      <p:sp>
        <p:nvSpPr>
          <p:cNvPr id="46" name="Text 38"/>
          <p:cNvSpPr txBox="1"/>
          <p:nvPr/>
        </p:nvSpPr>
        <p:spPr>
          <a:xfrm>
            <a:off x="4498848" y="4343400"/>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Emprise urbaine, étalement ou densification, villes nouvelles</a:t>
            </a:r>
            <a:endParaRPr lang="fr-FR" sz="1150" dirty="0"/>
          </a:p>
        </p:txBody>
      </p:sp>
      <p:sp>
        <p:nvSpPr>
          <p:cNvPr id="47" name="Shape 39"/>
          <p:cNvSpPr/>
          <p:nvPr/>
        </p:nvSpPr>
        <p:spPr>
          <a:xfrm>
            <a:off x="8046720" y="3337560"/>
            <a:ext cx="3593592" cy="1783080"/>
          </a:xfrm>
          <a:prstGeom prst="roundRect">
            <a:avLst>
              <a:gd name="adj" fmla="val 4103"/>
            </a:avLst>
          </a:prstGeom>
          <a:solidFill>
            <a:srgbClr val="F4F7F5"/>
          </a:solidFill>
          <a:ln w="9525">
            <a:solidFill>
              <a:srgbClr val="D5DED9"/>
            </a:solidFill>
            <a:prstDash val="solid"/>
          </a:ln>
        </p:spPr>
      </p:sp>
      <p:sp>
        <p:nvSpPr>
          <p:cNvPr id="48" name="Shape 40"/>
          <p:cNvSpPr/>
          <p:nvPr/>
        </p:nvSpPr>
        <p:spPr>
          <a:xfrm>
            <a:off x="8247888" y="3566160"/>
            <a:ext cx="594360" cy="594360"/>
          </a:xfrm>
          <a:prstGeom prst="ellipse">
            <a:avLst/>
          </a:prstGeom>
          <a:solidFill>
            <a:srgbClr val="00704A"/>
          </a:solidFill>
          <a:ln w="12700">
            <a:solidFill>
              <a:srgbClr val="00704A"/>
            </a:solidFill>
            <a:prstDash val="solid"/>
          </a:ln>
        </p:spPr>
      </p:sp>
      <p:pic>
        <p:nvPicPr>
          <p:cNvPr id="49" name="Image 6" descr="preencoded.png"/>
          <p:cNvPicPr>
            <a:picLocks noChangeAspect="1"/>
          </p:cNvPicPr>
          <p:nvPr/>
        </p:nvPicPr>
        <p:blipFill>
          <a:blip r:embed="rId9"/>
          <a:stretch>
            <a:fillRect/>
          </a:stretch>
        </p:blipFill>
        <p:spPr>
          <a:xfrm>
            <a:off x="8402422" y="3720694"/>
            <a:ext cx="285293" cy="285293"/>
          </a:xfrm>
          <a:prstGeom prst="rect">
            <a:avLst/>
          </a:prstGeom>
        </p:spPr>
      </p:pic>
      <p:sp>
        <p:nvSpPr>
          <p:cNvPr id="50" name="Shape 41"/>
          <p:cNvSpPr/>
          <p:nvPr/>
        </p:nvSpPr>
        <p:spPr>
          <a:xfrm>
            <a:off x="9006840" y="3593592"/>
            <a:ext cx="1600200" cy="237744"/>
          </a:xfrm>
          <a:prstGeom prst="roundRect">
            <a:avLst>
              <a:gd name="adj" fmla="val 50000"/>
            </a:avLst>
          </a:prstGeom>
          <a:solidFill>
            <a:srgbClr val="E8F5EF"/>
          </a:solidFill>
          <a:ln w="12700">
            <a:solidFill>
              <a:srgbClr val="E8F5EF"/>
            </a:solidFill>
            <a:prstDash val="solid"/>
          </a:ln>
        </p:spPr>
      </p:sp>
      <p:sp>
        <p:nvSpPr>
          <p:cNvPr id="51" name="Text 42"/>
          <p:cNvSpPr txBox="1"/>
          <p:nvPr/>
        </p:nvSpPr>
        <p:spPr>
          <a:xfrm>
            <a:off x="9006840" y="3593592"/>
            <a:ext cx="1600200" cy="237744"/>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ODD 16 · humanitaire</a:t>
            </a:r>
            <a:endParaRPr lang="fr-FR" sz="850" dirty="0"/>
          </a:p>
        </p:txBody>
      </p:sp>
      <p:sp>
        <p:nvSpPr>
          <p:cNvPr id="52" name="Text 43"/>
          <p:cNvSpPr txBox="1"/>
          <p:nvPr/>
        </p:nvSpPr>
        <p:spPr>
          <a:xfrm>
            <a:off x="9006840" y="3886200"/>
            <a:ext cx="2514600" cy="36576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Conflits et catastrophes</a:t>
            </a:r>
            <a:endParaRPr lang="fr-FR" sz="1400" dirty="0"/>
          </a:p>
        </p:txBody>
      </p:sp>
      <p:sp>
        <p:nvSpPr>
          <p:cNvPr id="53" name="Text 44"/>
          <p:cNvSpPr txBox="1"/>
          <p:nvPr/>
        </p:nvSpPr>
        <p:spPr>
          <a:xfrm>
            <a:off x="8247888" y="4343400"/>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Coupures, signaux de déplacement, suivi du relèvement</a:t>
            </a:r>
            <a:endParaRPr lang="fr-FR" sz="1150" dirty="0"/>
          </a:p>
        </p:txBody>
      </p:sp>
      <p:sp>
        <p:nvSpPr>
          <p:cNvPr id="54" name="Shape 45"/>
          <p:cNvSpPr/>
          <p:nvPr/>
        </p:nvSpPr>
        <p:spPr>
          <a:xfrm>
            <a:off x="548640" y="5440680"/>
            <a:ext cx="11094415" cy="548640"/>
          </a:xfrm>
          <a:prstGeom prst="roundRect">
            <a:avLst>
              <a:gd name="adj" fmla="val 13333"/>
            </a:avLst>
          </a:prstGeom>
          <a:solidFill>
            <a:srgbClr val="E8F5EF"/>
          </a:solidFill>
          <a:ln w="9525">
            <a:solidFill>
              <a:srgbClr val="E8F5EF"/>
            </a:solidFill>
            <a:prstDash val="solid"/>
          </a:ln>
        </p:spPr>
      </p:sp>
      <p:sp>
        <p:nvSpPr>
          <p:cNvPr id="55" name="Text 46"/>
          <p:cNvSpPr txBox="1"/>
          <p:nvPr/>
        </p:nvSpPr>
        <p:spPr>
          <a:xfrm>
            <a:off x="777240" y="5440680"/>
            <a:ext cx="10637215" cy="548640"/>
          </a:xfrm>
          <a:prstGeom prst="rect">
            <a:avLst/>
          </a:prstGeom>
          <a:noFill/>
          <a:ln/>
        </p:spPr>
        <p:txBody>
          <a:bodyPr wrap="square" lIns="0" tIns="0" rIns="0" bIns="0" rtlCol="0" anchor="ctr"/>
          <a:lstStyle/>
          <a:p>
            <a:pPr marL="0" indent="0">
              <a:buNone/>
            </a:pPr>
            <a:r>
              <a:rPr lang="fr-FR" sz="1200" b="1" dirty="0">
                <a:solidFill>
                  <a:srgbClr val="00704A"/>
                </a:solidFill>
                <a:latin typeface="Calibri" pitchFamily="34" charset="0"/>
                <a:ea typeface="Calibri" pitchFamily="34" charset="-122"/>
                <a:cs typeface="Calibri" pitchFamily="34" charset="-120"/>
              </a:rPr>
              <a:t>Un complément, pas un substitut. </a:t>
            </a:r>
            <a:r>
              <a:rPr lang="fr-FR" sz="1200" dirty="0">
                <a:solidFill>
                  <a:srgbClr val="231F20"/>
                </a:solidFill>
                <a:latin typeface="Calibri" pitchFamily="34" charset="0"/>
                <a:ea typeface="Calibri" pitchFamily="34" charset="-122"/>
                <a:cs typeface="Calibri" pitchFamily="34" charset="-120"/>
              </a:rPr>
              <a:t>Les lumières apportent finesse spatiale, fréquence et vérification indépendante aux statistiques officielles — elles ne remplacent ni le recensement, ni l’enquête, ni les comptes nationaux.</a:t>
            </a:r>
            <a:endParaRPr lang="fr-FR"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COMMENT CHAQUE USAGE A ÉTÉ VALIDÉ</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Cinq usages, cinq stratégies de validation</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38</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Henderson et al. (2012) ; Beyer, Hu &amp; Yao (2022) ; Falchetta et al. (2019) ; Min &amp; O’Keeffe (HREA) ; Román et al. (2019) ; Beyer et al. (2021) ; Li &amp; Li (2014).</a:t>
            </a:r>
            <a:endParaRPr lang="fr-FR" sz="8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13432">
                  <a:extLst>
                    <a:ext uri="{9D8B030D-6E8A-4147-A177-3AD203B41FA5}">
                      <a16:colId xmlns:a16="http://schemas.microsoft.com/office/drawing/2014/main" val="20004"/>
                    </a:ext>
                  </a:extLst>
                </a:gridCol>
              </a:tblGrid>
              <a:tr h="384048">
                <a:tc>
                  <a:txBody>
                    <a:bodyPr/>
                    <a:lstStyle/>
                    <a:p>
                      <a:pPr marL="0" indent="0">
                        <a:buNone/>
                      </a:pPr>
                      <a:r>
                        <a:rPr lang="fr-FR" sz="1100" b="1" dirty="0">
                          <a:solidFill>
                            <a:srgbClr val="FFFFFF"/>
                          </a:solidFill>
                          <a:latin typeface="Calibri" pitchFamily="34" charset="0"/>
                          <a:ea typeface="Calibri" pitchFamily="34" charset="-122"/>
                          <a:cs typeface="Calibri" pitchFamily="34" charset="-120"/>
                        </a:rPr>
                        <a:t>Usage</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704A"/>
                    </a:solidFill>
                  </a:tcPr>
                </a:tc>
                <a:tc>
                  <a:txBody>
                    <a:bodyPr/>
                    <a:lstStyle/>
                    <a:p>
                      <a:pPr marL="0" indent="0">
                        <a:buNone/>
                      </a:pPr>
                      <a:r>
                        <a:rPr lang="fr-FR" sz="1100" b="1" dirty="0">
                          <a:solidFill>
                            <a:srgbClr val="FFFFFF"/>
                          </a:solidFill>
                          <a:latin typeface="Calibri" pitchFamily="34" charset="0"/>
                          <a:ea typeface="Calibri" pitchFamily="34" charset="-122"/>
                          <a:cs typeface="Calibri" pitchFamily="34" charset="-120"/>
                        </a:rPr>
                        <a:t>Indicateur NTL</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704A"/>
                    </a:solidFill>
                  </a:tcPr>
                </a:tc>
                <a:tc>
                  <a:txBody>
                    <a:bodyPr/>
                    <a:lstStyle/>
                    <a:p>
                      <a:pPr marL="0" indent="0">
                        <a:buNone/>
                      </a:pPr>
                      <a:r>
                        <a:rPr lang="fr-FR" sz="1100" b="1" dirty="0">
                          <a:solidFill>
                            <a:srgbClr val="FFFFFF"/>
                          </a:solidFill>
                          <a:latin typeface="Calibri" pitchFamily="34" charset="0"/>
                          <a:ea typeface="Calibri" pitchFamily="34" charset="-122"/>
                          <a:cs typeface="Calibri" pitchFamily="34" charset="-120"/>
                        </a:rPr>
                        <a:t>Validé par rapport à</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704A"/>
                    </a:solidFill>
                  </a:tcPr>
                </a:tc>
                <a:tc>
                  <a:txBody>
                    <a:bodyPr/>
                    <a:lstStyle/>
                    <a:p>
                      <a:pPr marL="0" indent="0">
                        <a:buNone/>
                      </a:pPr>
                      <a:r>
                        <a:rPr lang="fr-FR" sz="1100" b="1" dirty="0">
                          <a:solidFill>
                            <a:srgbClr val="FFFFFF"/>
                          </a:solidFill>
                          <a:latin typeface="Calibri" pitchFamily="34" charset="0"/>
                          <a:ea typeface="Calibri" pitchFamily="34" charset="-122"/>
                          <a:cs typeface="Calibri" pitchFamily="34" charset="-120"/>
                        </a:rPr>
                        <a:t>Fonctionne bien</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704A"/>
                    </a:solidFill>
                  </a:tcPr>
                </a:tc>
                <a:tc>
                  <a:txBody>
                    <a:bodyPr/>
                    <a:lstStyle/>
                    <a:p>
                      <a:pPr marL="0" indent="0">
                        <a:buNone/>
                      </a:pPr>
                      <a:r>
                        <a:rPr lang="fr-FR" sz="1100" b="1" dirty="0">
                          <a:solidFill>
                            <a:srgbClr val="FFFFFF"/>
                          </a:solidFill>
                          <a:latin typeface="Calibri" pitchFamily="34" charset="0"/>
                          <a:ea typeface="Calibri" pitchFamily="34" charset="-122"/>
                          <a:cs typeface="Calibri" pitchFamily="34" charset="-120"/>
                        </a:rPr>
                        <a:t>Fonctionne mal</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83B2E"/>
                    </a:solidFill>
                  </a:tcPr>
                </a:tc>
                <a:extLst>
                  <a:ext uri="{0D108BD9-81ED-4DB2-BD59-A6C34878D82A}">
                    <a16:rowId xmlns:a16="http://schemas.microsoft.com/office/drawing/2014/main" val="10000"/>
                  </a:ext>
                </a:extLst>
              </a:tr>
              <a:tr h="777240">
                <a:tc>
                  <a:txBody>
                    <a:bodyPr/>
                    <a:lstStyle/>
                    <a:p>
                      <a:pPr marL="0" indent="0">
                        <a:buNone/>
                      </a:pPr>
                      <a:r>
                        <a:rPr lang="fr-FR" sz="1100" b="1" dirty="0">
                          <a:solidFill>
                            <a:srgbClr val="00704A"/>
                          </a:solidFill>
                          <a:latin typeface="Calibri" pitchFamily="34" charset="0"/>
                          <a:ea typeface="Calibri" pitchFamily="34" charset="-122"/>
                          <a:cs typeface="Calibri" pitchFamily="34" charset="-120"/>
                        </a:rPr>
                        <a:t>Proxy production</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Croissance de la SoL</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PIB national et infranational ; PIB trimestriel</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Statistiques fragiles ; infranational ; économies urbaines et industrielles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Économies agricoles ou minières ; centres riches saturés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1"/>
                  </a:ext>
                </a:extLst>
              </a:tr>
              <a:tr h="777240">
                <a:tc>
                  <a:txBody>
                    <a:bodyPr/>
                    <a:lstStyle/>
                    <a:p>
                      <a:pPr marL="0" indent="0">
                        <a:buNone/>
                      </a:pPr>
                      <a:r>
                        <a:rPr lang="fr-FR" sz="1100" b="1" dirty="0">
                          <a:solidFill>
                            <a:srgbClr val="00704A"/>
                          </a:solidFill>
                          <a:latin typeface="Calibri" pitchFamily="34" charset="0"/>
                          <a:ea typeface="Calibri" pitchFamily="34" charset="-122"/>
                          <a:cs typeface="Calibri" pitchFamily="34" charset="-120"/>
                        </a:rPr>
                        <a:t>Électrification</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Part des nuits éclairées par localité</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Enquêtes ménages (EDS, LSMS), recensement, distributeurs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Localités raccordées au réseau ; fiabilité dans le temps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Solaire domestique ; très faible consommation</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2"/>
                  </a:ext>
                </a:extLst>
              </a:tr>
              <a:tr h="777240">
                <a:tc>
                  <a:txBody>
                    <a:bodyPr/>
                    <a:lstStyle/>
                    <a:p>
                      <a:pPr marL="0" indent="0">
                        <a:buNone/>
                      </a:pPr>
                      <a:r>
                        <a:rPr lang="fr-FR" sz="1100" b="1" dirty="0">
                          <a:solidFill>
                            <a:srgbClr val="00704A"/>
                          </a:solidFill>
                          <a:latin typeface="Calibri" pitchFamily="34" charset="0"/>
                          <a:ea typeface="Calibri" pitchFamily="34" charset="-122"/>
                          <a:cs typeface="Calibri" pitchFamily="34" charset="-120"/>
                        </a:rPr>
                        <a:t>Urbanisation</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Croissance surface éclairée et radiance</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Grilles de bâti (GHSL, WSF) ; pop. urbaine recensée</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Emprise et croissance des grandes villes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Petites villes (débordement) ; quartiers informels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3"/>
                  </a:ext>
                </a:extLst>
              </a:tr>
              <a:tr h="777240">
                <a:tc>
                  <a:txBody>
                    <a:bodyPr/>
                    <a:lstStyle/>
                    <a:p>
                      <a:pPr marL="0" indent="0">
                        <a:buNone/>
                      </a:pPr>
                      <a:r>
                        <a:rPr lang="fr-FR" sz="1100" b="1" dirty="0">
                          <a:solidFill>
                            <a:srgbClr val="00704A"/>
                          </a:solidFill>
                          <a:latin typeface="Calibri" pitchFamily="34" charset="0"/>
                          <a:ea typeface="Calibri" pitchFamily="34" charset="-122"/>
                          <a:cs typeface="Calibri" pitchFamily="34" charset="-120"/>
                        </a:rPr>
                        <a:t>Dégâts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Baisse vs référence pré-événement</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UNOSAT et rapports de terrain ; relevés de coupures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Coupures du réseau ; destructions massives ; relèvement</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Dégâts localisés ; zones déjà sombres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4"/>
                  </a:ext>
                </a:extLst>
              </a:tr>
              <a:tr h="777240">
                <a:tc>
                  <a:txBody>
                    <a:bodyPr/>
                    <a:lstStyle/>
                    <a:p>
                      <a:pPr marL="0" indent="0">
                        <a:buNone/>
                      </a:pPr>
                      <a:r>
                        <a:rPr lang="fr-FR" sz="1100" b="1" dirty="0">
                          <a:solidFill>
                            <a:srgbClr val="00704A"/>
                          </a:solidFill>
                          <a:latin typeface="Calibri" pitchFamily="34" charset="0"/>
                          <a:ea typeface="Calibri" pitchFamily="34" charset="-122"/>
                          <a:cs typeface="Calibri" pitchFamily="34" charset="-120"/>
                        </a:rPr>
                        <a:t>Activité</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Variation quotidienne / mensuelle</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Électricité, mobilité, enquêtes entreprises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Confinements, fêtes, grands événements</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fr-FR" sz="1100" dirty="0">
                          <a:solidFill>
                            <a:srgbClr val="231F20"/>
                          </a:solidFill>
                          <a:latin typeface="Calibri" pitchFamily="34" charset="0"/>
                          <a:ea typeface="Calibri" pitchFamily="34" charset="-122"/>
                          <a:cs typeface="Calibri" pitchFamily="34" charset="-120"/>
                        </a:rPr>
                        <a:t>Activité diurne et peu éclairée</a:t>
                      </a:r>
                      <a:endParaRPr lang="fr-FR"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APPLICATION 01</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Mesurer l’économie depuis l’orbite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39</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Henderson et al. (2012) AER 102(2) ; Bruederle &amp; Hodler (2018) PLOS ONE 13(9) ; Martinez (2022) JPE 130(10).</a:t>
            </a:r>
            <a:endParaRPr lang="fr-FR" sz="850" dirty="0"/>
          </a:p>
        </p:txBody>
      </p:sp>
      <p:sp>
        <p:nvSpPr>
          <p:cNvPr id="13" name="Text 10"/>
          <p:cNvSpPr txBox="1"/>
          <p:nvPr/>
        </p:nvSpPr>
        <p:spPr>
          <a:xfrm>
            <a:off x="548640" y="1325880"/>
            <a:ext cx="5486400" cy="32004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Ce que montrent les travaux</a:t>
            </a:r>
            <a:endParaRPr lang="fr-FR" sz="1400" dirty="0"/>
          </a:p>
        </p:txBody>
      </p:sp>
      <p:sp>
        <p:nvSpPr>
          <p:cNvPr id="14" name="Shape 11"/>
          <p:cNvSpPr/>
          <p:nvPr/>
        </p:nvSpPr>
        <p:spPr>
          <a:xfrm>
            <a:off x="548640" y="1737360"/>
            <a:ext cx="5486400" cy="1188720"/>
          </a:xfrm>
          <a:prstGeom prst="roundRect">
            <a:avLst>
              <a:gd name="adj" fmla="val 6154"/>
            </a:avLst>
          </a:prstGeom>
          <a:solidFill>
            <a:srgbClr val="F4F7F5"/>
          </a:solidFill>
          <a:ln w="9525">
            <a:solidFill>
              <a:srgbClr val="D5DED9"/>
            </a:solidFill>
            <a:prstDash val="solid"/>
          </a:ln>
        </p:spPr>
      </p:sp>
      <p:sp>
        <p:nvSpPr>
          <p:cNvPr id="15" name="Shape 12"/>
          <p:cNvSpPr/>
          <p:nvPr/>
        </p:nvSpPr>
        <p:spPr>
          <a:xfrm>
            <a:off x="731520" y="2011680"/>
            <a:ext cx="548640" cy="548640"/>
          </a:xfrm>
          <a:prstGeom prst="ellipse">
            <a:avLst/>
          </a:prstGeom>
          <a:solidFill>
            <a:srgbClr val="E8F5EF"/>
          </a:solidFill>
          <a:ln w="12700">
            <a:solidFill>
              <a:srgbClr val="E8F5EF"/>
            </a:solidFill>
            <a:prstDash val="solid"/>
          </a:ln>
        </p:spPr>
      </p:sp>
      <p:pic>
        <p:nvPicPr>
          <p:cNvPr id="16" name="Image 1" descr="preencoded.png"/>
          <p:cNvPicPr>
            <a:picLocks noChangeAspect="1"/>
          </p:cNvPicPr>
          <p:nvPr/>
        </p:nvPicPr>
        <p:blipFill>
          <a:blip r:embed="rId4"/>
          <a:stretch>
            <a:fillRect/>
          </a:stretch>
        </p:blipFill>
        <p:spPr>
          <a:xfrm>
            <a:off x="874166" y="2154326"/>
            <a:ext cx="263347" cy="263347"/>
          </a:xfrm>
          <a:prstGeom prst="rect">
            <a:avLst/>
          </a:prstGeom>
        </p:spPr>
      </p:pic>
      <p:sp>
        <p:nvSpPr>
          <p:cNvPr id="17" name="Text 13"/>
          <p:cNvSpPr txBox="1"/>
          <p:nvPr/>
        </p:nvSpPr>
        <p:spPr>
          <a:xfrm>
            <a:off x="1417320" y="1847088"/>
            <a:ext cx="4480560" cy="320040"/>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Henderson, Storeygard &amp; Weil (2012)</a:t>
            </a:r>
            <a:endParaRPr lang="fr-FR" sz="1300" dirty="0"/>
          </a:p>
        </p:txBody>
      </p:sp>
      <p:sp>
        <p:nvSpPr>
          <p:cNvPr id="18" name="Text 14"/>
          <p:cNvSpPr txBox="1"/>
          <p:nvPr/>
        </p:nvSpPr>
        <p:spPr>
          <a:xfrm>
            <a:off x="1417320" y="2176272"/>
            <a:ext cx="4480560" cy="71323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lumières informent réellement sur la croissance et peuvent améliorer le PIB là où les comptes sont fragiles.</a:t>
            </a:r>
            <a:endParaRPr lang="fr-FR" sz="1150" dirty="0"/>
          </a:p>
        </p:txBody>
      </p:sp>
      <p:sp>
        <p:nvSpPr>
          <p:cNvPr id="19" name="Shape 15"/>
          <p:cNvSpPr/>
          <p:nvPr/>
        </p:nvSpPr>
        <p:spPr>
          <a:xfrm>
            <a:off x="548640" y="3063240"/>
            <a:ext cx="5486400" cy="1188720"/>
          </a:xfrm>
          <a:prstGeom prst="roundRect">
            <a:avLst>
              <a:gd name="adj" fmla="val 6154"/>
            </a:avLst>
          </a:prstGeom>
          <a:solidFill>
            <a:srgbClr val="F4F7F5"/>
          </a:solidFill>
          <a:ln w="9525">
            <a:solidFill>
              <a:srgbClr val="D5DED9"/>
            </a:solidFill>
            <a:prstDash val="solid"/>
          </a:ln>
        </p:spPr>
      </p:sp>
      <p:sp>
        <p:nvSpPr>
          <p:cNvPr id="20" name="Shape 16"/>
          <p:cNvSpPr/>
          <p:nvPr/>
        </p:nvSpPr>
        <p:spPr>
          <a:xfrm>
            <a:off x="731520" y="3337560"/>
            <a:ext cx="548640" cy="548640"/>
          </a:xfrm>
          <a:prstGeom prst="ellipse">
            <a:avLst/>
          </a:prstGeom>
          <a:solidFill>
            <a:srgbClr val="E8F5EF"/>
          </a:solidFill>
          <a:ln w="12700">
            <a:solidFill>
              <a:srgbClr val="E8F5EF"/>
            </a:solidFill>
            <a:prstDash val="solid"/>
          </a:ln>
        </p:spPr>
      </p:sp>
      <p:pic>
        <p:nvPicPr>
          <p:cNvPr id="21" name="Image 2" descr="preencoded.png"/>
          <p:cNvPicPr>
            <a:picLocks noChangeAspect="1"/>
          </p:cNvPicPr>
          <p:nvPr/>
        </p:nvPicPr>
        <p:blipFill>
          <a:blip r:embed="rId5"/>
          <a:stretch>
            <a:fillRect/>
          </a:stretch>
        </p:blipFill>
        <p:spPr>
          <a:xfrm>
            <a:off x="874166" y="3480206"/>
            <a:ext cx="263347" cy="263347"/>
          </a:xfrm>
          <a:prstGeom prst="rect">
            <a:avLst/>
          </a:prstGeom>
        </p:spPr>
      </p:pic>
      <p:sp>
        <p:nvSpPr>
          <p:cNvPr id="22" name="Text 17"/>
          <p:cNvSpPr txBox="1"/>
          <p:nvPr/>
        </p:nvSpPr>
        <p:spPr>
          <a:xfrm>
            <a:off x="1417320" y="3172968"/>
            <a:ext cx="4480560" cy="320040"/>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Bruederle &amp; Hodler (2018)</a:t>
            </a:r>
            <a:endParaRPr lang="fr-FR" sz="1300" dirty="0"/>
          </a:p>
        </p:txBody>
      </p:sp>
      <p:sp>
        <p:nvSpPr>
          <p:cNvPr id="23" name="Text 18"/>
          <p:cNvSpPr txBox="1"/>
          <p:nvPr/>
        </p:nvSpPr>
        <p:spPr>
          <a:xfrm>
            <a:off x="1417320" y="3502152"/>
            <a:ext cx="4480560" cy="71323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lumières suivent richesse, éducation et santé des ménages à l’échelle locale, à partir des grappes EDS en Afrique.</a:t>
            </a:r>
            <a:endParaRPr lang="fr-FR" sz="1150" dirty="0"/>
          </a:p>
        </p:txBody>
      </p:sp>
      <p:sp>
        <p:nvSpPr>
          <p:cNvPr id="24" name="Shape 19"/>
          <p:cNvSpPr/>
          <p:nvPr/>
        </p:nvSpPr>
        <p:spPr>
          <a:xfrm>
            <a:off x="548640" y="4389120"/>
            <a:ext cx="5486400" cy="1188720"/>
          </a:xfrm>
          <a:prstGeom prst="roundRect">
            <a:avLst>
              <a:gd name="adj" fmla="val 6154"/>
            </a:avLst>
          </a:prstGeom>
          <a:solidFill>
            <a:srgbClr val="F4F7F5"/>
          </a:solidFill>
          <a:ln w="9525">
            <a:solidFill>
              <a:srgbClr val="D5DED9"/>
            </a:solidFill>
            <a:prstDash val="solid"/>
          </a:ln>
        </p:spPr>
      </p:sp>
      <p:sp>
        <p:nvSpPr>
          <p:cNvPr id="25" name="Shape 20"/>
          <p:cNvSpPr/>
          <p:nvPr/>
        </p:nvSpPr>
        <p:spPr>
          <a:xfrm>
            <a:off x="731520" y="4663440"/>
            <a:ext cx="548640" cy="548640"/>
          </a:xfrm>
          <a:prstGeom prst="ellipse">
            <a:avLst/>
          </a:prstGeom>
          <a:solidFill>
            <a:srgbClr val="E8F5EF"/>
          </a:solidFill>
          <a:ln w="12700">
            <a:solidFill>
              <a:srgbClr val="E8F5EF"/>
            </a:solidFill>
            <a:prstDash val="solid"/>
          </a:ln>
        </p:spPr>
      </p:sp>
      <p:pic>
        <p:nvPicPr>
          <p:cNvPr id="26" name="Image 3" descr="preencoded.png"/>
          <p:cNvPicPr>
            <a:picLocks noChangeAspect="1"/>
          </p:cNvPicPr>
          <p:nvPr/>
        </p:nvPicPr>
        <p:blipFill>
          <a:blip r:embed="rId6"/>
          <a:stretch>
            <a:fillRect/>
          </a:stretch>
        </p:blipFill>
        <p:spPr>
          <a:xfrm>
            <a:off x="874166" y="4806086"/>
            <a:ext cx="263347" cy="263347"/>
          </a:xfrm>
          <a:prstGeom prst="rect">
            <a:avLst/>
          </a:prstGeom>
        </p:spPr>
      </p:pic>
      <p:sp>
        <p:nvSpPr>
          <p:cNvPr id="27" name="Text 21"/>
          <p:cNvSpPr txBox="1"/>
          <p:nvPr/>
        </p:nvSpPr>
        <p:spPr>
          <a:xfrm>
            <a:off x="1417320" y="4498848"/>
            <a:ext cx="4480560" cy="320040"/>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Martinez (2022)</a:t>
            </a:r>
            <a:endParaRPr lang="fr-FR" sz="1300" dirty="0"/>
          </a:p>
        </p:txBody>
      </p:sp>
      <p:sp>
        <p:nvSpPr>
          <p:cNvPr id="28" name="Text 22"/>
          <p:cNvSpPr txBox="1"/>
          <p:nvPr/>
        </p:nvSpPr>
        <p:spPr>
          <a:xfrm>
            <a:off x="1417320" y="4828032"/>
            <a:ext cx="4480560" cy="71323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Lumières utilisées comme référence indépendante pour tester la crédibilité de la croissance déclarée.</a:t>
            </a:r>
            <a:endParaRPr lang="fr-FR" sz="1150" dirty="0"/>
          </a:p>
        </p:txBody>
      </p:sp>
      <p:sp>
        <p:nvSpPr>
          <p:cNvPr id="29" name="Text 23"/>
          <p:cNvSpPr txBox="1"/>
          <p:nvPr/>
        </p:nvSpPr>
        <p:spPr>
          <a:xfrm>
            <a:off x="6355080" y="1325880"/>
            <a:ext cx="5486400" cy="320040"/>
          </a:xfrm>
          <a:prstGeom prst="rect">
            <a:avLst/>
          </a:prstGeom>
          <a:noFill/>
          <a:ln/>
        </p:spPr>
        <p:txBody>
          <a:bodyPr wrap="square" lIns="0" tIns="0" rIns="0" bIns="0" rtlCol="0" anchor="t"/>
          <a:lstStyle/>
          <a:p>
            <a:pPr marL="0" indent="0">
              <a:buNone/>
            </a:pPr>
            <a:r>
              <a:rPr lang="fr-FR" sz="1400" b="1" dirty="0">
                <a:solidFill>
                  <a:srgbClr val="B83B2E"/>
                </a:solidFill>
                <a:latin typeface="Calibri" pitchFamily="34" charset="0"/>
                <a:ea typeface="Calibri" pitchFamily="34" charset="-122"/>
                <a:cs typeface="Calibri" pitchFamily="34" charset="-120"/>
              </a:rPr>
              <a:t>Pourquoi le lien lumières–production varie</a:t>
            </a:r>
            <a:endParaRPr lang="fr-FR" sz="1400" dirty="0"/>
          </a:p>
        </p:txBody>
      </p:sp>
      <p:sp>
        <p:nvSpPr>
          <p:cNvPr id="30" name="Shape 24"/>
          <p:cNvSpPr/>
          <p:nvPr/>
        </p:nvSpPr>
        <p:spPr>
          <a:xfrm>
            <a:off x="6355080" y="1737360"/>
            <a:ext cx="5285232" cy="603504"/>
          </a:xfrm>
          <a:prstGeom prst="roundRect">
            <a:avLst>
              <a:gd name="adj" fmla="val 12121"/>
            </a:avLst>
          </a:prstGeom>
          <a:solidFill>
            <a:srgbClr val="FBE9E7"/>
          </a:solidFill>
          <a:ln w="9525">
            <a:solidFill>
              <a:srgbClr val="FBE9E7"/>
            </a:solidFill>
            <a:prstDash val="solid"/>
          </a:ln>
        </p:spPr>
      </p:sp>
      <p:pic>
        <p:nvPicPr>
          <p:cNvPr id="31" name="Image 4" descr="preencoded.png"/>
          <p:cNvPicPr>
            <a:picLocks noChangeAspect="1"/>
          </p:cNvPicPr>
          <p:nvPr/>
        </p:nvPicPr>
        <p:blipFill>
          <a:blip r:embed="rId7"/>
          <a:stretch>
            <a:fillRect/>
          </a:stretch>
        </p:blipFill>
        <p:spPr>
          <a:xfrm>
            <a:off x="6510528" y="1874520"/>
            <a:ext cx="329184" cy="329184"/>
          </a:xfrm>
          <a:prstGeom prst="rect">
            <a:avLst/>
          </a:prstGeom>
        </p:spPr>
      </p:pic>
      <p:sp>
        <p:nvSpPr>
          <p:cNvPr id="32" name="Text 25"/>
          <p:cNvSpPr txBox="1"/>
          <p:nvPr/>
        </p:nvSpPr>
        <p:spPr>
          <a:xfrm>
            <a:off x="6995160" y="1737360"/>
            <a:ext cx="4572000" cy="603504"/>
          </a:xfrm>
          <a:prstGeom prst="rect">
            <a:avLst/>
          </a:prstGeom>
          <a:noFill/>
          <a:ln/>
        </p:spPr>
        <p:txBody>
          <a:bodyPr wrap="square" lIns="0" tIns="0" rIns="0" bIns="0" rtlCol="0" anchor="ctr"/>
          <a:lstStyle/>
          <a:p>
            <a:pPr marL="0" indent="0">
              <a:buNone/>
            </a:pPr>
            <a:r>
              <a:rPr lang="fr-FR" sz="1200" dirty="0">
                <a:solidFill>
                  <a:srgbClr val="231F20"/>
                </a:solidFill>
                <a:latin typeface="Calibri" pitchFamily="34" charset="0"/>
                <a:ea typeface="Calibri" pitchFamily="34" charset="-122"/>
                <a:cs typeface="Calibri" pitchFamily="34" charset="-120"/>
              </a:rPr>
              <a:t>Structure sectorielle : agriculture et mines créent de la valeur sans lumière</a:t>
            </a:r>
            <a:endParaRPr lang="fr-FR" sz="1200" dirty="0"/>
          </a:p>
        </p:txBody>
      </p:sp>
      <p:sp>
        <p:nvSpPr>
          <p:cNvPr id="33" name="Shape 26"/>
          <p:cNvSpPr/>
          <p:nvPr/>
        </p:nvSpPr>
        <p:spPr>
          <a:xfrm>
            <a:off x="6355080" y="2450592"/>
            <a:ext cx="5285232" cy="603504"/>
          </a:xfrm>
          <a:prstGeom prst="roundRect">
            <a:avLst>
              <a:gd name="adj" fmla="val 12121"/>
            </a:avLst>
          </a:prstGeom>
          <a:solidFill>
            <a:srgbClr val="FBE9E7"/>
          </a:solidFill>
          <a:ln w="9525">
            <a:solidFill>
              <a:srgbClr val="FBE9E7"/>
            </a:solidFill>
            <a:prstDash val="solid"/>
          </a:ln>
        </p:spPr>
      </p:sp>
      <p:pic>
        <p:nvPicPr>
          <p:cNvPr id="34" name="Image 5" descr="preencoded.png"/>
          <p:cNvPicPr>
            <a:picLocks noChangeAspect="1"/>
          </p:cNvPicPr>
          <p:nvPr/>
        </p:nvPicPr>
        <p:blipFill>
          <a:blip r:embed="rId8"/>
          <a:stretch>
            <a:fillRect/>
          </a:stretch>
        </p:blipFill>
        <p:spPr>
          <a:xfrm>
            <a:off x="6510528" y="2587752"/>
            <a:ext cx="329184" cy="329184"/>
          </a:xfrm>
          <a:prstGeom prst="rect">
            <a:avLst/>
          </a:prstGeom>
        </p:spPr>
      </p:pic>
      <p:sp>
        <p:nvSpPr>
          <p:cNvPr id="35" name="Text 27"/>
          <p:cNvSpPr txBox="1"/>
          <p:nvPr/>
        </p:nvSpPr>
        <p:spPr>
          <a:xfrm>
            <a:off x="6995160" y="2450592"/>
            <a:ext cx="4572000" cy="603504"/>
          </a:xfrm>
          <a:prstGeom prst="rect">
            <a:avLst/>
          </a:prstGeom>
          <a:noFill/>
          <a:ln/>
        </p:spPr>
        <p:txBody>
          <a:bodyPr wrap="square" lIns="0" tIns="0" rIns="0" bIns="0" rtlCol="0" anchor="ctr"/>
          <a:lstStyle/>
          <a:p>
            <a:pPr marL="0" indent="0">
              <a:buNone/>
            </a:pPr>
            <a:r>
              <a:rPr lang="fr-FR" sz="1200" dirty="0">
                <a:solidFill>
                  <a:srgbClr val="231F20"/>
                </a:solidFill>
                <a:latin typeface="Calibri" pitchFamily="34" charset="0"/>
                <a:ea typeface="Calibri" pitchFamily="34" charset="-122"/>
                <a:cs typeface="Calibri" pitchFamily="34" charset="-120"/>
              </a:rPr>
              <a:t>Revenu : les centres lumineux saturent ou plafonnent</a:t>
            </a:r>
            <a:endParaRPr lang="fr-FR" sz="1200" dirty="0"/>
          </a:p>
        </p:txBody>
      </p:sp>
      <p:sp>
        <p:nvSpPr>
          <p:cNvPr id="36" name="Shape 28"/>
          <p:cNvSpPr/>
          <p:nvPr/>
        </p:nvSpPr>
        <p:spPr>
          <a:xfrm>
            <a:off x="6355080" y="3163824"/>
            <a:ext cx="5285232" cy="603504"/>
          </a:xfrm>
          <a:prstGeom prst="roundRect">
            <a:avLst>
              <a:gd name="adj" fmla="val 12121"/>
            </a:avLst>
          </a:prstGeom>
          <a:solidFill>
            <a:srgbClr val="FBE9E7"/>
          </a:solidFill>
          <a:ln w="9525">
            <a:solidFill>
              <a:srgbClr val="FBE9E7"/>
            </a:solidFill>
            <a:prstDash val="solid"/>
          </a:ln>
        </p:spPr>
      </p:sp>
      <p:pic>
        <p:nvPicPr>
          <p:cNvPr id="37" name="Image 6" descr="preencoded.png"/>
          <p:cNvPicPr>
            <a:picLocks noChangeAspect="1"/>
          </p:cNvPicPr>
          <p:nvPr/>
        </p:nvPicPr>
        <p:blipFill>
          <a:blip r:embed="rId9"/>
          <a:stretch>
            <a:fillRect/>
          </a:stretch>
        </p:blipFill>
        <p:spPr>
          <a:xfrm>
            <a:off x="6510528" y="3300984"/>
            <a:ext cx="329184" cy="329184"/>
          </a:xfrm>
          <a:prstGeom prst="rect">
            <a:avLst/>
          </a:prstGeom>
        </p:spPr>
      </p:pic>
      <p:sp>
        <p:nvSpPr>
          <p:cNvPr id="38" name="Text 29"/>
          <p:cNvSpPr txBox="1"/>
          <p:nvPr/>
        </p:nvSpPr>
        <p:spPr>
          <a:xfrm>
            <a:off x="6995160" y="3163824"/>
            <a:ext cx="4572000" cy="603504"/>
          </a:xfrm>
          <a:prstGeom prst="rect">
            <a:avLst/>
          </a:prstGeom>
          <a:noFill/>
          <a:ln/>
        </p:spPr>
        <p:txBody>
          <a:bodyPr wrap="square" lIns="0" tIns="0" rIns="0" bIns="0" rtlCol="0" anchor="ctr"/>
          <a:lstStyle/>
          <a:p>
            <a:pPr marL="0" indent="0">
              <a:buNone/>
            </a:pPr>
            <a:r>
              <a:rPr lang="fr-FR" sz="1200" dirty="0">
                <a:solidFill>
                  <a:srgbClr val="231F20"/>
                </a:solidFill>
                <a:latin typeface="Calibri" pitchFamily="34" charset="0"/>
                <a:ea typeface="Calibri" pitchFamily="34" charset="-122"/>
                <a:cs typeface="Calibri" pitchFamily="34" charset="-120"/>
              </a:rPr>
              <a:t>Éclairage : le passage aux LED change la lumière par watt</a:t>
            </a:r>
            <a:endParaRPr lang="fr-FR" sz="1200" dirty="0"/>
          </a:p>
        </p:txBody>
      </p:sp>
      <p:sp>
        <p:nvSpPr>
          <p:cNvPr id="39" name="Shape 30"/>
          <p:cNvSpPr/>
          <p:nvPr/>
        </p:nvSpPr>
        <p:spPr>
          <a:xfrm>
            <a:off x="6355080" y="3877056"/>
            <a:ext cx="5285232" cy="603504"/>
          </a:xfrm>
          <a:prstGeom prst="roundRect">
            <a:avLst>
              <a:gd name="adj" fmla="val 12121"/>
            </a:avLst>
          </a:prstGeom>
          <a:solidFill>
            <a:srgbClr val="FBE9E7"/>
          </a:solidFill>
          <a:ln w="9525">
            <a:solidFill>
              <a:srgbClr val="FBE9E7"/>
            </a:solidFill>
            <a:prstDash val="solid"/>
          </a:ln>
        </p:spPr>
      </p:sp>
      <p:pic>
        <p:nvPicPr>
          <p:cNvPr id="40" name="Image 7" descr="preencoded.png"/>
          <p:cNvPicPr>
            <a:picLocks noChangeAspect="1"/>
          </p:cNvPicPr>
          <p:nvPr/>
        </p:nvPicPr>
        <p:blipFill>
          <a:blip r:embed="rId10"/>
          <a:stretch>
            <a:fillRect/>
          </a:stretch>
        </p:blipFill>
        <p:spPr>
          <a:xfrm>
            <a:off x="6510528" y="4014216"/>
            <a:ext cx="329184" cy="329184"/>
          </a:xfrm>
          <a:prstGeom prst="rect">
            <a:avLst/>
          </a:prstGeom>
        </p:spPr>
      </p:pic>
      <p:sp>
        <p:nvSpPr>
          <p:cNvPr id="41" name="Text 31"/>
          <p:cNvSpPr txBox="1"/>
          <p:nvPr/>
        </p:nvSpPr>
        <p:spPr>
          <a:xfrm>
            <a:off x="6995160" y="3877056"/>
            <a:ext cx="4572000" cy="603504"/>
          </a:xfrm>
          <a:prstGeom prst="rect">
            <a:avLst/>
          </a:prstGeom>
          <a:noFill/>
          <a:ln/>
        </p:spPr>
        <p:txBody>
          <a:bodyPr wrap="square" lIns="0" tIns="0" rIns="0" bIns="0" rtlCol="0" anchor="ctr"/>
          <a:lstStyle/>
          <a:p>
            <a:pPr marL="0" indent="0">
              <a:buNone/>
            </a:pPr>
            <a:r>
              <a:rPr lang="fr-FR" sz="1200" dirty="0">
                <a:solidFill>
                  <a:srgbClr val="231F20"/>
                </a:solidFill>
                <a:latin typeface="Calibri" pitchFamily="34" charset="0"/>
                <a:ea typeface="Calibri" pitchFamily="34" charset="-122"/>
                <a:cs typeface="Calibri" pitchFamily="34" charset="-120"/>
              </a:rPr>
              <a:t>Courant : les délestages éteignent la lumière, pas la production</a:t>
            </a:r>
            <a:endParaRPr lang="fr-FR" sz="1200" dirty="0"/>
          </a:p>
        </p:txBody>
      </p:sp>
      <p:sp>
        <p:nvSpPr>
          <p:cNvPr id="42" name="Shape 32"/>
          <p:cNvSpPr/>
          <p:nvPr/>
        </p:nvSpPr>
        <p:spPr>
          <a:xfrm>
            <a:off x="6355080" y="4663440"/>
            <a:ext cx="5285232" cy="1005840"/>
          </a:xfrm>
          <a:prstGeom prst="roundRect">
            <a:avLst>
              <a:gd name="adj" fmla="val 7273"/>
            </a:avLst>
          </a:prstGeom>
          <a:solidFill>
            <a:srgbClr val="00553A"/>
          </a:solidFill>
          <a:ln w="9525">
            <a:solidFill>
              <a:srgbClr val="00553A"/>
            </a:solidFill>
            <a:prstDash val="solid"/>
          </a:ln>
        </p:spPr>
      </p:sp>
      <p:sp>
        <p:nvSpPr>
          <p:cNvPr id="43" name="Text 33"/>
          <p:cNvSpPr txBox="1"/>
          <p:nvPr/>
        </p:nvSpPr>
        <p:spPr>
          <a:xfrm>
            <a:off x="6537960" y="4754880"/>
            <a:ext cx="4572000" cy="274320"/>
          </a:xfrm>
          <a:prstGeom prst="rect">
            <a:avLst/>
          </a:prstGeom>
          <a:noFill/>
          <a:ln/>
        </p:spPr>
        <p:txBody>
          <a:bodyPr wrap="square" lIns="0" tIns="0" rIns="0" bIns="0" rtlCol="0" anchor="t"/>
          <a:lstStyle/>
          <a:p>
            <a:pPr marL="0" indent="0">
              <a:buNone/>
            </a:pPr>
            <a:r>
              <a:rPr lang="fr-FR" sz="1000" b="1" kern="0" spc="200" dirty="0">
                <a:solidFill>
                  <a:srgbClr val="F5C242"/>
                </a:solidFill>
                <a:latin typeface="Calibri" pitchFamily="34" charset="0"/>
                <a:ea typeface="Calibri" pitchFamily="34" charset="-122"/>
                <a:cs typeface="Calibri" pitchFamily="34" charset="-120"/>
              </a:rPr>
              <a:t>OÙ LES LUMIÈRES AIDENT LE PLUS</a:t>
            </a:r>
            <a:endParaRPr lang="fr-FR" sz="1000" dirty="0"/>
          </a:p>
        </p:txBody>
      </p:sp>
      <p:sp>
        <p:nvSpPr>
          <p:cNvPr id="44" name="Shape 34"/>
          <p:cNvSpPr/>
          <p:nvPr/>
        </p:nvSpPr>
        <p:spPr>
          <a:xfrm>
            <a:off x="6537960" y="5120640"/>
            <a:ext cx="1554480" cy="347472"/>
          </a:xfrm>
          <a:prstGeom prst="roundRect">
            <a:avLst>
              <a:gd name="adj" fmla="val 50000"/>
            </a:avLst>
          </a:prstGeom>
          <a:solidFill>
            <a:srgbClr val="F5C242"/>
          </a:solidFill>
          <a:ln w="12700">
            <a:solidFill>
              <a:srgbClr val="F5C242"/>
            </a:solidFill>
            <a:prstDash val="solid"/>
          </a:ln>
        </p:spPr>
      </p:sp>
      <p:sp>
        <p:nvSpPr>
          <p:cNvPr id="45" name="Text 35"/>
          <p:cNvSpPr txBox="1"/>
          <p:nvPr/>
        </p:nvSpPr>
        <p:spPr>
          <a:xfrm>
            <a:off x="6537960" y="5120640"/>
            <a:ext cx="1554480" cy="347472"/>
          </a:xfrm>
          <a:prstGeom prst="rect">
            <a:avLst/>
          </a:prstGeom>
          <a:noFill/>
          <a:ln/>
        </p:spPr>
        <p:txBody>
          <a:bodyPr wrap="square" lIns="0" tIns="0" rIns="0" bIns="0" rtlCol="0" anchor="ctr"/>
          <a:lstStyle/>
          <a:p>
            <a:pPr marL="0" indent="0" algn="ctr">
              <a:buNone/>
            </a:pPr>
            <a:r>
              <a:rPr lang="fr-FR" sz="1050" b="1" kern="0" spc="100" dirty="0">
                <a:solidFill>
                  <a:srgbClr val="00553A"/>
                </a:solidFill>
                <a:latin typeface="Calibri" pitchFamily="34" charset="0"/>
                <a:ea typeface="Calibri" pitchFamily="34" charset="-122"/>
                <a:cs typeface="Calibri" pitchFamily="34" charset="-120"/>
              </a:rPr>
              <a:t>Infranational</a:t>
            </a:r>
            <a:endParaRPr lang="fr-FR" sz="1050" dirty="0"/>
          </a:p>
        </p:txBody>
      </p:sp>
      <p:sp>
        <p:nvSpPr>
          <p:cNvPr id="46" name="Shape 36"/>
          <p:cNvSpPr/>
          <p:nvPr/>
        </p:nvSpPr>
        <p:spPr>
          <a:xfrm>
            <a:off x="8211312" y="5120640"/>
            <a:ext cx="1554480" cy="347472"/>
          </a:xfrm>
          <a:prstGeom prst="roundRect">
            <a:avLst>
              <a:gd name="adj" fmla="val 50000"/>
            </a:avLst>
          </a:prstGeom>
          <a:solidFill>
            <a:srgbClr val="F5C242"/>
          </a:solidFill>
          <a:ln w="12700">
            <a:solidFill>
              <a:srgbClr val="F5C242"/>
            </a:solidFill>
            <a:prstDash val="solid"/>
          </a:ln>
        </p:spPr>
      </p:sp>
      <p:sp>
        <p:nvSpPr>
          <p:cNvPr id="47" name="Text 37"/>
          <p:cNvSpPr txBox="1"/>
          <p:nvPr/>
        </p:nvSpPr>
        <p:spPr>
          <a:xfrm>
            <a:off x="8211312" y="5120640"/>
            <a:ext cx="1554480" cy="347472"/>
          </a:xfrm>
          <a:prstGeom prst="rect">
            <a:avLst/>
          </a:prstGeom>
          <a:noFill/>
          <a:ln/>
        </p:spPr>
        <p:txBody>
          <a:bodyPr wrap="square" lIns="0" tIns="0" rIns="0" bIns="0" rtlCol="0" anchor="ctr"/>
          <a:lstStyle/>
          <a:p>
            <a:pPr marL="0" indent="0" algn="ctr">
              <a:buNone/>
            </a:pPr>
            <a:r>
              <a:rPr lang="fr-FR" sz="1050" b="1" kern="0" spc="100" dirty="0">
                <a:solidFill>
                  <a:srgbClr val="00553A"/>
                </a:solidFill>
                <a:latin typeface="Calibri" pitchFamily="34" charset="0"/>
                <a:ea typeface="Calibri" pitchFamily="34" charset="-122"/>
                <a:cs typeface="Calibri" pitchFamily="34" charset="-120"/>
              </a:rPr>
              <a:t>Haute fréquence</a:t>
            </a:r>
            <a:endParaRPr lang="fr-FR" sz="1050" dirty="0"/>
          </a:p>
        </p:txBody>
      </p:sp>
      <p:sp>
        <p:nvSpPr>
          <p:cNvPr id="48" name="Shape 38"/>
          <p:cNvSpPr/>
          <p:nvPr/>
        </p:nvSpPr>
        <p:spPr>
          <a:xfrm>
            <a:off x="9884664" y="5120640"/>
            <a:ext cx="1554480" cy="347472"/>
          </a:xfrm>
          <a:prstGeom prst="roundRect">
            <a:avLst>
              <a:gd name="adj" fmla="val 50000"/>
            </a:avLst>
          </a:prstGeom>
          <a:solidFill>
            <a:srgbClr val="F5C242"/>
          </a:solidFill>
          <a:ln w="12700">
            <a:solidFill>
              <a:srgbClr val="F5C242"/>
            </a:solidFill>
            <a:prstDash val="solid"/>
          </a:ln>
        </p:spPr>
      </p:sp>
      <p:sp>
        <p:nvSpPr>
          <p:cNvPr id="49" name="Text 39"/>
          <p:cNvSpPr txBox="1"/>
          <p:nvPr/>
        </p:nvSpPr>
        <p:spPr>
          <a:xfrm>
            <a:off x="9884664" y="5120640"/>
            <a:ext cx="1554480" cy="347472"/>
          </a:xfrm>
          <a:prstGeom prst="rect">
            <a:avLst/>
          </a:prstGeom>
          <a:noFill/>
          <a:ln/>
        </p:spPr>
        <p:txBody>
          <a:bodyPr wrap="square" lIns="0" tIns="0" rIns="0" bIns="0" rtlCol="0" anchor="ctr"/>
          <a:lstStyle/>
          <a:p>
            <a:pPr marL="0" indent="0" algn="ctr">
              <a:buNone/>
            </a:pPr>
            <a:r>
              <a:rPr lang="fr-FR" sz="1050" b="1" kern="0" spc="100" dirty="0">
                <a:solidFill>
                  <a:srgbClr val="00553A"/>
                </a:solidFill>
                <a:latin typeface="Calibri" pitchFamily="34" charset="0"/>
                <a:ea typeface="Calibri" pitchFamily="34" charset="-122"/>
                <a:cs typeface="Calibri" pitchFamily="34" charset="-120"/>
              </a:rPr>
              <a:t>Économie informelle</a:t>
            </a:r>
            <a:endParaRPr lang="fr-FR"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LES RÉSULTATS PUBLIÉS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Les résultats, tels que publiés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40</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Henderson, Storeygard &amp; Weil (2012), fig. 6a ; Elvidge et al. (2001). Tous deux reproduits dans les tutoriels Open Nighttime Lights de la Banque mondiale (CC BY 4.0).</a:t>
            </a:r>
            <a:endParaRPr lang="fr-FR" sz="850" dirty="0"/>
          </a:p>
        </p:txBody>
      </p:sp>
      <p:sp>
        <p:nvSpPr>
          <p:cNvPr id="13" name="Text 10"/>
          <p:cNvSpPr txBox="1"/>
          <p:nvPr/>
        </p:nvSpPr>
        <p:spPr>
          <a:xfrm>
            <a:off x="548640" y="1325880"/>
            <a:ext cx="5486400" cy="274320"/>
          </a:xfrm>
          <a:prstGeom prst="rect">
            <a:avLst/>
          </a:prstGeom>
          <a:noFill/>
          <a:ln/>
        </p:spPr>
        <p:txBody>
          <a:bodyPr wrap="square" lIns="0" tIns="0" rIns="0" bIns="0" rtlCol="0" anchor="t"/>
          <a:lstStyle/>
          <a:p>
            <a:pPr marL="0" indent="0">
              <a:buNone/>
            </a:pPr>
            <a:r>
              <a:rPr lang="fr-FR" sz="1100" b="1" dirty="0">
                <a:solidFill>
                  <a:srgbClr val="00704A"/>
                </a:solidFill>
                <a:latin typeface="Calibri" pitchFamily="34" charset="0"/>
                <a:ea typeface="Calibri" pitchFamily="34" charset="-122"/>
                <a:cs typeface="Calibri" pitchFamily="34" charset="-120"/>
              </a:rPr>
              <a:t>Henderson, Storeygard &amp; Weil (2012) · PIB vs lumières, au sein des pays</a:t>
            </a:r>
            <a:endParaRPr lang="fr-FR" sz="1100" dirty="0"/>
          </a:p>
        </p:txBody>
      </p:sp>
      <p:sp>
        <p:nvSpPr>
          <p:cNvPr id="14" name="Shape 11"/>
          <p:cNvSpPr/>
          <p:nvPr/>
        </p:nvSpPr>
        <p:spPr>
          <a:xfrm>
            <a:off x="548640" y="1636776"/>
            <a:ext cx="4605604" cy="3355848"/>
          </a:xfrm>
          <a:prstGeom prst="roundRect">
            <a:avLst>
              <a:gd name="adj" fmla="val 2180"/>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5" name="Image 1" descr="/home/claude/build/img/real/henderson.png"/>
          <p:cNvPicPr>
            <a:picLocks noChangeAspect="1"/>
          </p:cNvPicPr>
          <p:nvPr/>
        </p:nvPicPr>
        <p:blipFill>
          <a:blip r:embed="rId4"/>
          <a:stretch>
            <a:fillRect/>
          </a:stretch>
        </p:blipFill>
        <p:spPr>
          <a:xfrm>
            <a:off x="603504" y="1691640"/>
            <a:ext cx="4495876" cy="3246120"/>
          </a:xfrm>
          <a:prstGeom prst="rect">
            <a:avLst/>
          </a:prstGeom>
        </p:spPr>
      </p:pic>
      <p:sp>
        <p:nvSpPr>
          <p:cNvPr id="16" name="Text 12"/>
          <p:cNvSpPr txBox="1"/>
          <p:nvPr/>
        </p:nvSpPr>
        <p:spPr>
          <a:xfrm>
            <a:off x="6355080" y="1325880"/>
            <a:ext cx="5303520" cy="274320"/>
          </a:xfrm>
          <a:prstGeom prst="rect">
            <a:avLst/>
          </a:prstGeom>
          <a:noFill/>
          <a:ln/>
        </p:spPr>
        <p:txBody>
          <a:bodyPr wrap="square" lIns="0" tIns="0" rIns="0" bIns="0" rtlCol="0" anchor="t"/>
          <a:lstStyle/>
          <a:p>
            <a:pPr marL="0" indent="0">
              <a:buNone/>
            </a:pPr>
            <a:r>
              <a:rPr lang="fr-FR" sz="1100" b="1" dirty="0">
                <a:solidFill>
                  <a:srgbClr val="00704A"/>
                </a:solidFill>
                <a:latin typeface="Calibri" pitchFamily="34" charset="0"/>
                <a:ea typeface="Calibri" pitchFamily="34" charset="-122"/>
                <a:cs typeface="Calibri" pitchFamily="34" charset="-120"/>
              </a:rPr>
              <a:t>Elvidge et al. (2001) · surface éclairée vs PIB, 200 pays</a:t>
            </a:r>
            <a:endParaRPr lang="fr-FR" sz="1100" dirty="0"/>
          </a:p>
        </p:txBody>
      </p:sp>
      <p:sp>
        <p:nvSpPr>
          <p:cNvPr id="17" name="Shape 13"/>
          <p:cNvSpPr/>
          <p:nvPr/>
        </p:nvSpPr>
        <p:spPr>
          <a:xfrm>
            <a:off x="6848856" y="1636776"/>
            <a:ext cx="3764859" cy="3355848"/>
          </a:xfrm>
          <a:prstGeom prst="roundRect">
            <a:avLst>
              <a:gd name="adj" fmla="val 2180"/>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8" name="Image 2" descr="/home/claude/build/img/real/elvidge.png"/>
          <p:cNvPicPr>
            <a:picLocks noChangeAspect="1"/>
          </p:cNvPicPr>
          <p:nvPr/>
        </p:nvPicPr>
        <p:blipFill>
          <a:blip r:embed="rId5"/>
          <a:stretch>
            <a:fillRect/>
          </a:stretch>
        </p:blipFill>
        <p:spPr>
          <a:xfrm>
            <a:off x="6903720" y="1691640"/>
            <a:ext cx="3655131" cy="3246120"/>
          </a:xfrm>
          <a:prstGeom prst="rect">
            <a:avLst/>
          </a:prstGeom>
        </p:spPr>
      </p:pic>
      <p:sp>
        <p:nvSpPr>
          <p:cNvPr id="19" name="Shape 14"/>
          <p:cNvSpPr/>
          <p:nvPr/>
        </p:nvSpPr>
        <p:spPr>
          <a:xfrm>
            <a:off x="548640" y="5166360"/>
            <a:ext cx="5468112" cy="822960"/>
          </a:xfrm>
          <a:prstGeom prst="roundRect">
            <a:avLst>
              <a:gd name="adj" fmla="val 8889"/>
            </a:avLst>
          </a:prstGeom>
          <a:solidFill>
            <a:srgbClr val="E8F5EF"/>
          </a:solidFill>
          <a:ln w="9525">
            <a:solidFill>
              <a:srgbClr val="E8F5EF"/>
            </a:solidFill>
            <a:prstDash val="solid"/>
          </a:ln>
        </p:spPr>
      </p:sp>
      <p:sp>
        <p:nvSpPr>
          <p:cNvPr id="20" name="Text 15"/>
          <p:cNvSpPr txBox="1"/>
          <p:nvPr/>
        </p:nvSpPr>
        <p:spPr>
          <a:xfrm>
            <a:off x="731520" y="5166360"/>
            <a:ext cx="5120640" cy="82296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Variations des lumières et du PIB évoluent ensemble après retrait des effets pays et année — mais avec une forte dispersion.</a:t>
            </a:r>
            <a:endParaRPr lang="fr-FR" sz="1150" dirty="0"/>
          </a:p>
        </p:txBody>
      </p:sp>
      <p:sp>
        <p:nvSpPr>
          <p:cNvPr id="21" name="Shape 16"/>
          <p:cNvSpPr/>
          <p:nvPr/>
        </p:nvSpPr>
        <p:spPr>
          <a:xfrm>
            <a:off x="6172200" y="5166360"/>
            <a:ext cx="5468112" cy="822960"/>
          </a:xfrm>
          <a:prstGeom prst="roundRect">
            <a:avLst>
              <a:gd name="adj" fmla="val 8889"/>
            </a:avLst>
          </a:prstGeom>
          <a:solidFill>
            <a:srgbClr val="FDF5DC"/>
          </a:solidFill>
          <a:ln w="9525">
            <a:solidFill>
              <a:srgbClr val="FDF5DC"/>
            </a:solidFill>
            <a:prstDash val="solid"/>
          </a:ln>
        </p:spPr>
      </p:sp>
      <p:sp>
        <p:nvSpPr>
          <p:cNvPr id="22" name="Text 17"/>
          <p:cNvSpPr txBox="1"/>
          <p:nvPr/>
        </p:nvSpPr>
        <p:spPr>
          <a:xfrm>
            <a:off x="6355080" y="5166360"/>
            <a:ext cx="5120640" cy="82296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D’un pays à l’autre, la surface éclairée croît presque au même rythme que le PIB en log — le constat fondateur du domaine.</a:t>
            </a:r>
            <a:endParaRPr lang="fr-FR"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ÉCONOMIE · MÉTHODES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Quatre façons d’estimer la production à partir des lumières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41</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Henderson et al. (2012) ; Hu &amp; Yao (2022) Journal of Econometrics 228(2) ; Beyer, Hu &amp; Yao (2022) IMF Working Paper 22/109.</a:t>
            </a:r>
            <a:endParaRPr lang="fr-FR" sz="850" dirty="0"/>
          </a:p>
        </p:txBody>
      </p:sp>
      <p:sp>
        <p:nvSpPr>
          <p:cNvPr id="13" name="Shape 10"/>
          <p:cNvSpPr/>
          <p:nvPr/>
        </p:nvSpPr>
        <p:spPr>
          <a:xfrm>
            <a:off x="548640" y="1371600"/>
            <a:ext cx="5468112" cy="1847088"/>
          </a:xfrm>
          <a:prstGeom prst="roundRect">
            <a:avLst>
              <a:gd name="adj" fmla="val 3960"/>
            </a:avLst>
          </a:prstGeom>
          <a:solidFill>
            <a:srgbClr val="F4F7F5"/>
          </a:solidFill>
          <a:ln w="9525">
            <a:solidFill>
              <a:srgbClr val="D5DED9"/>
            </a:solidFill>
            <a:prstDash val="solid"/>
          </a:ln>
        </p:spPr>
      </p:sp>
      <p:sp>
        <p:nvSpPr>
          <p:cNvPr id="14" name="Shape 11"/>
          <p:cNvSpPr/>
          <p:nvPr/>
        </p:nvSpPr>
        <p:spPr>
          <a:xfrm>
            <a:off x="731520" y="1554480"/>
            <a:ext cx="457200" cy="457200"/>
          </a:xfrm>
          <a:prstGeom prst="ellipse">
            <a:avLst/>
          </a:prstGeom>
          <a:solidFill>
            <a:srgbClr val="00704A"/>
          </a:solidFill>
          <a:ln w="12700">
            <a:solidFill>
              <a:srgbClr val="00704A"/>
            </a:solidFill>
            <a:prstDash val="solid"/>
          </a:ln>
        </p:spPr>
      </p:sp>
      <p:sp>
        <p:nvSpPr>
          <p:cNvPr id="15" name="Text 12"/>
          <p:cNvSpPr txBox="1"/>
          <p:nvPr/>
        </p:nvSpPr>
        <p:spPr>
          <a:xfrm>
            <a:off x="731520" y="1554480"/>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1</a:t>
            </a:r>
            <a:endParaRPr lang="fr-FR" sz="1300" dirty="0"/>
          </a:p>
        </p:txBody>
      </p:sp>
      <p:sp>
        <p:nvSpPr>
          <p:cNvPr id="16" name="Text 13"/>
          <p:cNvSpPr txBox="1"/>
          <p:nvPr/>
        </p:nvSpPr>
        <p:spPr>
          <a:xfrm>
            <a:off x="1325880" y="1554480"/>
            <a:ext cx="4480560" cy="45720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Régression d’élasticité</a:t>
            </a:r>
            <a:endParaRPr lang="fr-FR" sz="1400" dirty="0"/>
          </a:p>
        </p:txBody>
      </p:sp>
      <p:sp>
        <p:nvSpPr>
          <p:cNvPr id="17" name="Shape 14"/>
          <p:cNvSpPr/>
          <p:nvPr/>
        </p:nvSpPr>
        <p:spPr>
          <a:xfrm>
            <a:off x="731520" y="2121408"/>
            <a:ext cx="5102352" cy="411480"/>
          </a:xfrm>
          <a:prstGeom prst="roundRect">
            <a:avLst>
              <a:gd name="adj" fmla="val 17778"/>
            </a:avLst>
          </a:prstGeom>
          <a:solidFill>
            <a:srgbClr val="E8F5EF"/>
          </a:solidFill>
          <a:ln w="9525">
            <a:solidFill>
              <a:srgbClr val="E8F5EF"/>
            </a:solidFill>
            <a:prstDash val="solid"/>
          </a:ln>
        </p:spPr>
      </p:sp>
      <p:sp>
        <p:nvSpPr>
          <p:cNvPr id="18" name="Text 15"/>
          <p:cNvSpPr txBox="1"/>
          <p:nvPr/>
        </p:nvSpPr>
        <p:spPr>
          <a:xfrm>
            <a:off x="822960" y="2121408"/>
            <a:ext cx="4937760" cy="411480"/>
          </a:xfrm>
          <a:prstGeom prst="rect">
            <a:avLst/>
          </a:prstGeom>
          <a:noFill/>
          <a:ln/>
        </p:spPr>
        <p:txBody>
          <a:bodyPr wrap="square" lIns="0" tIns="0" rIns="0" bIns="0" rtlCol="0" anchor="ctr"/>
          <a:lstStyle/>
          <a:p>
            <a:pPr marL="0" indent="0">
              <a:buNone/>
            </a:pPr>
            <a:r>
              <a:rPr lang="fr-FR" sz="1050" b="1" dirty="0">
                <a:solidFill>
                  <a:srgbClr val="00704A"/>
                </a:solidFill>
                <a:latin typeface="Courier New" pitchFamily="34" charset="0"/>
                <a:ea typeface="Courier New" pitchFamily="34" charset="-122"/>
                <a:cs typeface="Courier New" pitchFamily="34" charset="-120"/>
              </a:rPr>
              <a:t>Δlog PIB(r,t) = β · Δlog NTL(r,t) + effets région et année</a:t>
            </a:r>
            <a:endParaRPr lang="fr-FR" sz="1050" dirty="0"/>
          </a:p>
        </p:txBody>
      </p:sp>
      <p:sp>
        <p:nvSpPr>
          <p:cNvPr id="19" name="Text 16"/>
          <p:cNvSpPr txBox="1"/>
          <p:nvPr/>
        </p:nvSpPr>
        <p:spPr>
          <a:xfrm>
            <a:off x="749808" y="2606040"/>
            <a:ext cx="5074920" cy="566928"/>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Estimer l’intensité du co-mouvement entre production et lumière, sur des régions bien mesurées.</a:t>
            </a:r>
            <a:endParaRPr lang="fr-FR" sz="1150" dirty="0"/>
          </a:p>
        </p:txBody>
      </p:sp>
      <p:sp>
        <p:nvSpPr>
          <p:cNvPr id="20" name="Shape 17"/>
          <p:cNvSpPr/>
          <p:nvPr/>
        </p:nvSpPr>
        <p:spPr>
          <a:xfrm>
            <a:off x="6172200" y="1371600"/>
            <a:ext cx="5468112" cy="1847088"/>
          </a:xfrm>
          <a:prstGeom prst="roundRect">
            <a:avLst>
              <a:gd name="adj" fmla="val 3960"/>
            </a:avLst>
          </a:prstGeom>
          <a:solidFill>
            <a:srgbClr val="F4F7F5"/>
          </a:solidFill>
          <a:ln w="9525">
            <a:solidFill>
              <a:srgbClr val="D5DED9"/>
            </a:solidFill>
            <a:prstDash val="solid"/>
          </a:ln>
        </p:spPr>
      </p:sp>
      <p:sp>
        <p:nvSpPr>
          <p:cNvPr id="21" name="Shape 18"/>
          <p:cNvSpPr/>
          <p:nvPr/>
        </p:nvSpPr>
        <p:spPr>
          <a:xfrm>
            <a:off x="6355080" y="1554480"/>
            <a:ext cx="457200" cy="457200"/>
          </a:xfrm>
          <a:prstGeom prst="ellipse">
            <a:avLst/>
          </a:prstGeom>
          <a:solidFill>
            <a:srgbClr val="00704A"/>
          </a:solidFill>
          <a:ln w="12700">
            <a:solidFill>
              <a:srgbClr val="00704A"/>
            </a:solidFill>
            <a:prstDash val="solid"/>
          </a:ln>
        </p:spPr>
      </p:sp>
      <p:sp>
        <p:nvSpPr>
          <p:cNvPr id="22" name="Text 19"/>
          <p:cNvSpPr txBox="1"/>
          <p:nvPr/>
        </p:nvSpPr>
        <p:spPr>
          <a:xfrm>
            <a:off x="6355080" y="1554480"/>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2</a:t>
            </a:r>
            <a:endParaRPr lang="fr-FR" sz="1300" dirty="0"/>
          </a:p>
        </p:txBody>
      </p:sp>
      <p:sp>
        <p:nvSpPr>
          <p:cNvPr id="23" name="Text 20"/>
          <p:cNvSpPr txBox="1"/>
          <p:nvPr/>
        </p:nvSpPr>
        <p:spPr>
          <a:xfrm>
            <a:off x="6949440" y="1554480"/>
            <a:ext cx="4480560" cy="45720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Combiner aux données officielles</a:t>
            </a:r>
            <a:endParaRPr lang="fr-FR" sz="1400" dirty="0"/>
          </a:p>
        </p:txBody>
      </p:sp>
      <p:sp>
        <p:nvSpPr>
          <p:cNvPr id="24" name="Shape 21"/>
          <p:cNvSpPr/>
          <p:nvPr/>
        </p:nvSpPr>
        <p:spPr>
          <a:xfrm>
            <a:off x="6355080" y="2121408"/>
            <a:ext cx="5102352" cy="411480"/>
          </a:xfrm>
          <a:prstGeom prst="roundRect">
            <a:avLst>
              <a:gd name="adj" fmla="val 17778"/>
            </a:avLst>
          </a:prstGeom>
          <a:solidFill>
            <a:srgbClr val="E8F5EF"/>
          </a:solidFill>
          <a:ln w="9525">
            <a:solidFill>
              <a:srgbClr val="E8F5EF"/>
            </a:solidFill>
            <a:prstDash val="solid"/>
          </a:ln>
        </p:spPr>
      </p:sp>
      <p:sp>
        <p:nvSpPr>
          <p:cNvPr id="25" name="Text 22"/>
          <p:cNvSpPr txBox="1"/>
          <p:nvPr/>
        </p:nvSpPr>
        <p:spPr>
          <a:xfrm>
            <a:off x="6446520" y="2121408"/>
            <a:ext cx="4937760" cy="411480"/>
          </a:xfrm>
          <a:prstGeom prst="rect">
            <a:avLst/>
          </a:prstGeom>
          <a:noFill/>
          <a:ln/>
        </p:spPr>
        <p:txBody>
          <a:bodyPr wrap="square" lIns="0" tIns="0" rIns="0" bIns="0" rtlCol="0" anchor="ctr"/>
          <a:lstStyle/>
          <a:p>
            <a:pPr marL="0" indent="0">
              <a:buNone/>
            </a:pPr>
            <a:r>
              <a:rPr lang="fr-FR" sz="1050" b="1" dirty="0">
                <a:solidFill>
                  <a:srgbClr val="00704A"/>
                </a:solidFill>
                <a:latin typeface="Courier New" pitchFamily="34" charset="0"/>
                <a:ea typeface="Courier New" pitchFamily="34" charset="-122"/>
                <a:cs typeface="Courier New" pitchFamily="34" charset="-120"/>
              </a:rPr>
              <a:t>ŷ = λ · croissance officielle + (1 − λ) · croissance prédite (NTL)</a:t>
            </a:r>
            <a:endParaRPr lang="fr-FR" sz="1050" dirty="0"/>
          </a:p>
        </p:txBody>
      </p:sp>
      <p:sp>
        <p:nvSpPr>
          <p:cNvPr id="26" name="Text 23"/>
          <p:cNvSpPr txBox="1"/>
          <p:nvPr/>
        </p:nvSpPr>
        <p:spPr>
          <a:xfrm>
            <a:off x="6373368" y="2606040"/>
            <a:ext cx="5074920" cy="566928"/>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Pondérer les deux signaux bruités selon leur fiabilité — plus de poids aux lumières si les comptes sont fragiles.</a:t>
            </a:r>
            <a:endParaRPr lang="fr-FR" sz="1150" dirty="0"/>
          </a:p>
        </p:txBody>
      </p:sp>
      <p:sp>
        <p:nvSpPr>
          <p:cNvPr id="27" name="Shape 24"/>
          <p:cNvSpPr/>
          <p:nvPr/>
        </p:nvSpPr>
        <p:spPr>
          <a:xfrm>
            <a:off x="548640" y="3383280"/>
            <a:ext cx="5468112" cy="1847088"/>
          </a:xfrm>
          <a:prstGeom prst="roundRect">
            <a:avLst>
              <a:gd name="adj" fmla="val 3960"/>
            </a:avLst>
          </a:prstGeom>
          <a:solidFill>
            <a:srgbClr val="F4F7F5"/>
          </a:solidFill>
          <a:ln w="9525">
            <a:solidFill>
              <a:srgbClr val="D5DED9"/>
            </a:solidFill>
            <a:prstDash val="solid"/>
          </a:ln>
        </p:spPr>
      </p:sp>
      <p:sp>
        <p:nvSpPr>
          <p:cNvPr id="28" name="Shape 25"/>
          <p:cNvSpPr/>
          <p:nvPr/>
        </p:nvSpPr>
        <p:spPr>
          <a:xfrm>
            <a:off x="731520" y="3566160"/>
            <a:ext cx="457200" cy="457200"/>
          </a:xfrm>
          <a:prstGeom prst="ellipse">
            <a:avLst/>
          </a:prstGeom>
          <a:solidFill>
            <a:srgbClr val="00704A"/>
          </a:solidFill>
          <a:ln w="12700">
            <a:solidFill>
              <a:srgbClr val="00704A"/>
            </a:solidFill>
            <a:prstDash val="solid"/>
          </a:ln>
        </p:spPr>
      </p:sp>
      <p:sp>
        <p:nvSpPr>
          <p:cNvPr id="29" name="Text 26"/>
          <p:cNvSpPr txBox="1"/>
          <p:nvPr/>
        </p:nvSpPr>
        <p:spPr>
          <a:xfrm>
            <a:off x="731520" y="3566160"/>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3</a:t>
            </a:r>
            <a:endParaRPr lang="fr-FR" sz="1300" dirty="0"/>
          </a:p>
        </p:txBody>
      </p:sp>
      <p:sp>
        <p:nvSpPr>
          <p:cNvPr id="30" name="Text 27"/>
          <p:cNvSpPr txBox="1"/>
          <p:nvPr/>
        </p:nvSpPr>
        <p:spPr>
          <a:xfrm>
            <a:off x="1325880" y="3566160"/>
            <a:ext cx="4480560" cy="45720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Désagrégation spatiale</a:t>
            </a:r>
            <a:endParaRPr lang="fr-FR" sz="1400" dirty="0"/>
          </a:p>
        </p:txBody>
      </p:sp>
      <p:sp>
        <p:nvSpPr>
          <p:cNvPr id="31" name="Shape 28"/>
          <p:cNvSpPr/>
          <p:nvPr/>
        </p:nvSpPr>
        <p:spPr>
          <a:xfrm>
            <a:off x="731520" y="4133088"/>
            <a:ext cx="5102352" cy="411480"/>
          </a:xfrm>
          <a:prstGeom prst="roundRect">
            <a:avLst>
              <a:gd name="adj" fmla="val 17778"/>
            </a:avLst>
          </a:prstGeom>
          <a:solidFill>
            <a:srgbClr val="E8F5EF"/>
          </a:solidFill>
          <a:ln w="9525">
            <a:solidFill>
              <a:srgbClr val="E8F5EF"/>
            </a:solidFill>
            <a:prstDash val="solid"/>
          </a:ln>
        </p:spPr>
      </p:sp>
      <p:sp>
        <p:nvSpPr>
          <p:cNvPr id="32" name="Text 29"/>
          <p:cNvSpPr txBox="1"/>
          <p:nvPr/>
        </p:nvSpPr>
        <p:spPr>
          <a:xfrm>
            <a:off x="822960" y="4133088"/>
            <a:ext cx="4937760" cy="411480"/>
          </a:xfrm>
          <a:prstGeom prst="rect">
            <a:avLst/>
          </a:prstGeom>
          <a:noFill/>
          <a:ln/>
        </p:spPr>
        <p:txBody>
          <a:bodyPr wrap="square" lIns="0" tIns="0" rIns="0" bIns="0" rtlCol="0" anchor="ctr"/>
          <a:lstStyle/>
          <a:p>
            <a:pPr marL="0" indent="0">
              <a:buNone/>
            </a:pPr>
            <a:r>
              <a:rPr lang="fr-FR" sz="1050" b="1" dirty="0">
                <a:solidFill>
                  <a:srgbClr val="00704A"/>
                </a:solidFill>
                <a:latin typeface="Courier New" pitchFamily="34" charset="0"/>
                <a:ea typeface="Courier New" pitchFamily="34" charset="-122"/>
                <a:cs typeface="Courier New" pitchFamily="34" charset="-120"/>
              </a:rPr>
              <a:t>PIB(cellule) = PIB(région) × part NTL(cellule), affinée par covariables</a:t>
            </a:r>
            <a:endParaRPr lang="fr-FR" sz="1050" dirty="0"/>
          </a:p>
        </p:txBody>
      </p:sp>
      <p:sp>
        <p:nvSpPr>
          <p:cNvPr id="33" name="Text 30"/>
          <p:cNvSpPr txBox="1"/>
          <p:nvPr/>
        </p:nvSpPr>
        <p:spPr>
          <a:xfrm>
            <a:off x="749808" y="4617720"/>
            <a:ext cx="5074920" cy="566928"/>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Répartir des totaux régionaux connus sur une grille ou des districts sans comptes.</a:t>
            </a:r>
            <a:endParaRPr lang="fr-FR" sz="1150" dirty="0"/>
          </a:p>
        </p:txBody>
      </p:sp>
      <p:sp>
        <p:nvSpPr>
          <p:cNvPr id="34" name="Shape 31"/>
          <p:cNvSpPr/>
          <p:nvPr/>
        </p:nvSpPr>
        <p:spPr>
          <a:xfrm>
            <a:off x="6172200" y="3383280"/>
            <a:ext cx="5468112" cy="1847088"/>
          </a:xfrm>
          <a:prstGeom prst="roundRect">
            <a:avLst>
              <a:gd name="adj" fmla="val 3960"/>
            </a:avLst>
          </a:prstGeom>
          <a:solidFill>
            <a:srgbClr val="F4F7F5"/>
          </a:solidFill>
          <a:ln w="9525">
            <a:solidFill>
              <a:srgbClr val="D5DED9"/>
            </a:solidFill>
            <a:prstDash val="solid"/>
          </a:ln>
        </p:spPr>
      </p:sp>
      <p:sp>
        <p:nvSpPr>
          <p:cNvPr id="35" name="Shape 32"/>
          <p:cNvSpPr/>
          <p:nvPr/>
        </p:nvSpPr>
        <p:spPr>
          <a:xfrm>
            <a:off x="6355080" y="3566160"/>
            <a:ext cx="457200" cy="457200"/>
          </a:xfrm>
          <a:prstGeom prst="ellipse">
            <a:avLst/>
          </a:prstGeom>
          <a:solidFill>
            <a:srgbClr val="00704A"/>
          </a:solidFill>
          <a:ln w="12700">
            <a:solidFill>
              <a:srgbClr val="00704A"/>
            </a:solidFill>
            <a:prstDash val="solid"/>
          </a:ln>
        </p:spPr>
      </p:sp>
      <p:sp>
        <p:nvSpPr>
          <p:cNvPr id="36" name="Text 33"/>
          <p:cNvSpPr txBox="1"/>
          <p:nvPr/>
        </p:nvSpPr>
        <p:spPr>
          <a:xfrm>
            <a:off x="6355080" y="3566160"/>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4</a:t>
            </a:r>
            <a:endParaRPr lang="fr-FR" sz="1300" dirty="0"/>
          </a:p>
        </p:txBody>
      </p:sp>
      <p:sp>
        <p:nvSpPr>
          <p:cNvPr id="37" name="Text 34"/>
          <p:cNvSpPr txBox="1"/>
          <p:nvPr/>
        </p:nvSpPr>
        <p:spPr>
          <a:xfrm>
            <a:off x="6949440" y="3566160"/>
            <a:ext cx="4480560" cy="45720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Nowcasting</a:t>
            </a:r>
            <a:endParaRPr lang="fr-FR" sz="1400" dirty="0"/>
          </a:p>
        </p:txBody>
      </p:sp>
      <p:sp>
        <p:nvSpPr>
          <p:cNvPr id="38" name="Shape 35"/>
          <p:cNvSpPr/>
          <p:nvPr/>
        </p:nvSpPr>
        <p:spPr>
          <a:xfrm>
            <a:off x="6355080" y="4133088"/>
            <a:ext cx="5102352" cy="411480"/>
          </a:xfrm>
          <a:prstGeom prst="roundRect">
            <a:avLst>
              <a:gd name="adj" fmla="val 17778"/>
            </a:avLst>
          </a:prstGeom>
          <a:solidFill>
            <a:srgbClr val="E8F5EF"/>
          </a:solidFill>
          <a:ln w="9525">
            <a:solidFill>
              <a:srgbClr val="E8F5EF"/>
            </a:solidFill>
            <a:prstDash val="solid"/>
          </a:ln>
        </p:spPr>
      </p:sp>
      <p:sp>
        <p:nvSpPr>
          <p:cNvPr id="39" name="Text 36"/>
          <p:cNvSpPr txBox="1"/>
          <p:nvPr/>
        </p:nvSpPr>
        <p:spPr>
          <a:xfrm>
            <a:off x="6446520" y="4133088"/>
            <a:ext cx="4937760" cy="411480"/>
          </a:xfrm>
          <a:prstGeom prst="rect">
            <a:avLst/>
          </a:prstGeom>
          <a:noFill/>
          <a:ln/>
        </p:spPr>
        <p:txBody>
          <a:bodyPr wrap="square" lIns="0" tIns="0" rIns="0" bIns="0" rtlCol="0" anchor="ctr"/>
          <a:lstStyle/>
          <a:p>
            <a:pPr marL="0" indent="0">
              <a:buNone/>
            </a:pPr>
            <a:r>
              <a:rPr lang="fr-FR" sz="1050" b="1" dirty="0">
                <a:solidFill>
                  <a:srgbClr val="00704A"/>
                </a:solidFill>
                <a:latin typeface="Courier New" pitchFamily="34" charset="0"/>
                <a:ea typeface="Courier New" pitchFamily="34" charset="-122"/>
                <a:cs typeface="Courier New" pitchFamily="34" charset="-120"/>
              </a:rPr>
              <a:t>PIB trimestriel ← f(croissance NTL mensuelle, autres indicateurs)</a:t>
            </a:r>
            <a:endParaRPr lang="fr-FR" sz="1050" dirty="0"/>
          </a:p>
        </p:txBody>
      </p:sp>
      <p:sp>
        <p:nvSpPr>
          <p:cNvPr id="40" name="Text 37"/>
          <p:cNvSpPr txBox="1"/>
          <p:nvPr/>
        </p:nvSpPr>
        <p:spPr>
          <a:xfrm>
            <a:off x="6373368" y="4617720"/>
            <a:ext cx="5074920" cy="566928"/>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Utiliser la série mensuelle comme variable précoce avant la publication officielle.</a:t>
            </a:r>
            <a:endParaRPr lang="fr-FR" sz="1150" dirty="0"/>
          </a:p>
        </p:txBody>
      </p:sp>
      <p:sp>
        <p:nvSpPr>
          <p:cNvPr id="41" name="Shape 38"/>
          <p:cNvSpPr/>
          <p:nvPr/>
        </p:nvSpPr>
        <p:spPr>
          <a:xfrm>
            <a:off x="548640" y="5440680"/>
            <a:ext cx="11094415" cy="502920"/>
          </a:xfrm>
          <a:prstGeom prst="roundRect">
            <a:avLst>
              <a:gd name="adj" fmla="val 14545"/>
            </a:avLst>
          </a:prstGeom>
          <a:solidFill>
            <a:srgbClr val="FDF5DC"/>
          </a:solidFill>
          <a:ln w="9525">
            <a:solidFill>
              <a:srgbClr val="F5C242"/>
            </a:solidFill>
            <a:prstDash val="solid"/>
          </a:ln>
        </p:spPr>
      </p:sp>
      <p:sp>
        <p:nvSpPr>
          <p:cNvPr id="42" name="Text 39"/>
          <p:cNvSpPr txBox="1"/>
          <p:nvPr/>
        </p:nvSpPr>
        <p:spPr>
          <a:xfrm>
            <a:off x="777240" y="5440680"/>
            <a:ext cx="10637215" cy="502920"/>
          </a:xfrm>
          <a:prstGeom prst="rect">
            <a:avLst/>
          </a:prstGeom>
          <a:noFill/>
          <a:ln/>
        </p:spPr>
        <p:txBody>
          <a:bodyPr wrap="square" lIns="0" tIns="0" rIns="0" bIns="0" rtlCol="0" anchor="ctr"/>
          <a:lstStyle/>
          <a:p>
            <a:pPr marL="0" indent="0">
              <a:buNone/>
            </a:pPr>
            <a:r>
              <a:rPr lang="fr-FR" sz="1150" b="1" dirty="0">
                <a:solidFill>
                  <a:srgbClr val="A87700"/>
                </a:solidFill>
                <a:latin typeface="Calibri" pitchFamily="34" charset="0"/>
                <a:ea typeface="Calibri" pitchFamily="34" charset="-122"/>
                <a:cs typeface="Calibri" pitchFamily="34" charset="-120"/>
              </a:rPr>
              <a:t>L’élasticité n’est pas une constante. </a:t>
            </a:r>
            <a:r>
              <a:rPr lang="fr-FR" sz="1150" dirty="0">
                <a:solidFill>
                  <a:srgbClr val="231F20"/>
                </a:solidFill>
                <a:latin typeface="Calibri" pitchFamily="34" charset="0"/>
                <a:ea typeface="Calibri" pitchFamily="34" charset="-122"/>
                <a:cs typeface="Calibri" pitchFamily="34" charset="-120"/>
              </a:rPr>
              <a:t>Hu &amp; Yao (2022) trouvent une relation lumières–PIB non linéaire et variable selon le revenu — estimez-la pour votre contexte au lieu d’emprunter un chiffre.</a:t>
            </a:r>
            <a:endParaRPr lang="fr-FR"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ÉCONOMIE · NOWCASTING</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Les lumières pour le nowcasting — de la série au modèle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42</a:t>
            </a:r>
            <a:endParaRPr lang="fr-FR" sz="900" dirty="0"/>
          </a:p>
        </p:txBody>
      </p:sp>
      <p:sp>
        <p:nvSpPr>
          <p:cNvPr id="12" name="Shape 9"/>
          <p:cNvSpPr/>
          <p:nvPr/>
        </p:nvSpPr>
        <p:spPr>
          <a:xfrm>
            <a:off x="548640" y="1417320"/>
            <a:ext cx="2514600" cy="1691640"/>
          </a:xfrm>
          <a:prstGeom prst="roundRect">
            <a:avLst>
              <a:gd name="adj" fmla="val 4324"/>
            </a:avLst>
          </a:prstGeom>
          <a:solidFill>
            <a:srgbClr val="F4F7F5"/>
          </a:solidFill>
          <a:ln w="9525">
            <a:solidFill>
              <a:srgbClr val="D5DED9"/>
            </a:solidFill>
            <a:prstDash val="solid"/>
          </a:ln>
        </p:spPr>
      </p:sp>
      <p:sp>
        <p:nvSpPr>
          <p:cNvPr id="13" name="Shape 10"/>
          <p:cNvSpPr/>
          <p:nvPr/>
        </p:nvSpPr>
        <p:spPr>
          <a:xfrm>
            <a:off x="731520" y="1600200"/>
            <a:ext cx="548640" cy="54864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74166" y="1742846"/>
            <a:ext cx="263347" cy="263347"/>
          </a:xfrm>
          <a:prstGeom prst="rect">
            <a:avLst/>
          </a:prstGeom>
        </p:spPr>
      </p:pic>
      <p:sp>
        <p:nvSpPr>
          <p:cNvPr id="15" name="Text 11"/>
          <p:cNvSpPr txBox="1"/>
          <p:nvPr/>
        </p:nvSpPr>
        <p:spPr>
          <a:xfrm>
            <a:off x="1417320" y="1600200"/>
            <a:ext cx="1554480" cy="54864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NTL mensuel</a:t>
            </a:r>
            <a:endParaRPr lang="fr-FR" sz="1400" dirty="0"/>
          </a:p>
        </p:txBody>
      </p:sp>
      <p:sp>
        <p:nvSpPr>
          <p:cNvPr id="16" name="Text 12"/>
          <p:cNvSpPr txBox="1"/>
          <p:nvPr/>
        </p:nvSpPr>
        <p:spPr>
          <a:xfrm>
            <a:off x="731520" y="2286000"/>
            <a:ext cx="219456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VNP46A3, masqué, national et régional</a:t>
            </a:r>
            <a:endParaRPr lang="fr-FR" sz="1150" dirty="0"/>
          </a:p>
        </p:txBody>
      </p:sp>
      <p:sp>
        <p:nvSpPr>
          <p:cNvPr id="17" name="Text 13"/>
          <p:cNvSpPr txBox="1"/>
          <p:nvPr/>
        </p:nvSpPr>
        <p:spPr>
          <a:xfrm>
            <a:off x="3063240" y="1965960"/>
            <a:ext cx="320040" cy="457200"/>
          </a:xfrm>
          <a:prstGeom prst="rect">
            <a:avLst/>
          </a:prstGeom>
          <a:noFill/>
          <a:ln/>
        </p:spPr>
        <p:txBody>
          <a:bodyPr wrap="square" lIns="0" tIns="0" rIns="0" bIns="0" rtlCol="0" anchor="t"/>
          <a:lstStyle/>
          <a:p>
            <a:pPr marL="0" indent="0" algn="ctr">
              <a:buNone/>
            </a:pPr>
            <a:r>
              <a:rPr lang="fr-FR" sz="2600" b="1" dirty="0">
                <a:solidFill>
                  <a:srgbClr val="00A86A"/>
                </a:solidFill>
                <a:latin typeface="Calibri" pitchFamily="34" charset="0"/>
                <a:ea typeface="Calibri" pitchFamily="34" charset="-122"/>
                <a:cs typeface="Calibri" pitchFamily="34" charset="-120"/>
              </a:rPr>
              <a:t>›</a:t>
            </a:r>
            <a:endParaRPr lang="fr-FR" sz="2600" dirty="0"/>
          </a:p>
        </p:txBody>
      </p:sp>
      <p:sp>
        <p:nvSpPr>
          <p:cNvPr id="18" name="Shape 14"/>
          <p:cNvSpPr/>
          <p:nvPr/>
        </p:nvSpPr>
        <p:spPr>
          <a:xfrm>
            <a:off x="3383280" y="1417320"/>
            <a:ext cx="2514600" cy="1691640"/>
          </a:xfrm>
          <a:prstGeom prst="roundRect">
            <a:avLst>
              <a:gd name="adj" fmla="val 4324"/>
            </a:avLst>
          </a:prstGeom>
          <a:solidFill>
            <a:srgbClr val="F4F7F5"/>
          </a:solidFill>
          <a:ln w="9525">
            <a:solidFill>
              <a:srgbClr val="D5DED9"/>
            </a:solidFill>
            <a:prstDash val="solid"/>
          </a:ln>
        </p:spPr>
      </p:sp>
      <p:sp>
        <p:nvSpPr>
          <p:cNvPr id="19" name="Shape 15"/>
          <p:cNvSpPr/>
          <p:nvPr/>
        </p:nvSpPr>
        <p:spPr>
          <a:xfrm>
            <a:off x="3566160" y="1600200"/>
            <a:ext cx="548640" cy="548640"/>
          </a:xfrm>
          <a:prstGeom prst="ellipse">
            <a:avLst/>
          </a:prstGeom>
          <a:solidFill>
            <a:srgbClr val="00704A"/>
          </a:solidFill>
          <a:ln w="12700">
            <a:solidFill>
              <a:srgbClr val="00704A"/>
            </a:solidFill>
            <a:prstDash val="solid"/>
          </a:ln>
        </p:spPr>
      </p:sp>
      <p:pic>
        <p:nvPicPr>
          <p:cNvPr id="20" name="Image 2" descr="preencoded.png"/>
          <p:cNvPicPr>
            <a:picLocks noChangeAspect="1"/>
          </p:cNvPicPr>
          <p:nvPr/>
        </p:nvPicPr>
        <p:blipFill>
          <a:blip r:embed="rId5"/>
          <a:stretch>
            <a:fillRect/>
          </a:stretch>
        </p:blipFill>
        <p:spPr>
          <a:xfrm>
            <a:off x="3708806" y="1742846"/>
            <a:ext cx="263347" cy="263347"/>
          </a:xfrm>
          <a:prstGeom prst="rect">
            <a:avLst/>
          </a:prstGeom>
        </p:spPr>
      </p:pic>
      <p:sp>
        <p:nvSpPr>
          <p:cNvPr id="21" name="Text 16"/>
          <p:cNvSpPr txBox="1"/>
          <p:nvPr/>
        </p:nvSpPr>
        <p:spPr>
          <a:xfrm>
            <a:off x="4251960" y="1600200"/>
            <a:ext cx="1554480" cy="54864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Transformer</a:t>
            </a:r>
            <a:endParaRPr lang="fr-FR" sz="1400" dirty="0"/>
          </a:p>
        </p:txBody>
      </p:sp>
      <p:sp>
        <p:nvSpPr>
          <p:cNvPr id="22" name="Text 17"/>
          <p:cNvSpPr txBox="1"/>
          <p:nvPr/>
        </p:nvSpPr>
        <p:spPr>
          <a:xfrm>
            <a:off x="3566160" y="2286000"/>
            <a:ext cx="219456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log, glissement annuel, moyenne trimestrielle</a:t>
            </a:r>
            <a:endParaRPr lang="fr-FR" sz="1150" dirty="0"/>
          </a:p>
        </p:txBody>
      </p:sp>
      <p:sp>
        <p:nvSpPr>
          <p:cNvPr id="23" name="Text 18"/>
          <p:cNvSpPr txBox="1"/>
          <p:nvPr/>
        </p:nvSpPr>
        <p:spPr>
          <a:xfrm>
            <a:off x="5897880" y="1965960"/>
            <a:ext cx="320040" cy="457200"/>
          </a:xfrm>
          <a:prstGeom prst="rect">
            <a:avLst/>
          </a:prstGeom>
          <a:noFill/>
          <a:ln/>
        </p:spPr>
        <p:txBody>
          <a:bodyPr wrap="square" lIns="0" tIns="0" rIns="0" bIns="0" rtlCol="0" anchor="t"/>
          <a:lstStyle/>
          <a:p>
            <a:pPr marL="0" indent="0" algn="ctr">
              <a:buNone/>
            </a:pPr>
            <a:r>
              <a:rPr lang="fr-FR" sz="2600" b="1" dirty="0">
                <a:solidFill>
                  <a:srgbClr val="00A86A"/>
                </a:solidFill>
                <a:latin typeface="Calibri" pitchFamily="34" charset="0"/>
                <a:ea typeface="Calibri" pitchFamily="34" charset="-122"/>
                <a:cs typeface="Calibri" pitchFamily="34" charset="-120"/>
              </a:rPr>
              <a:t>›</a:t>
            </a:r>
            <a:endParaRPr lang="fr-FR" sz="2600" dirty="0"/>
          </a:p>
        </p:txBody>
      </p:sp>
      <p:sp>
        <p:nvSpPr>
          <p:cNvPr id="24" name="Shape 19"/>
          <p:cNvSpPr/>
          <p:nvPr/>
        </p:nvSpPr>
        <p:spPr>
          <a:xfrm>
            <a:off x="6217920" y="1417320"/>
            <a:ext cx="2514600" cy="1691640"/>
          </a:xfrm>
          <a:prstGeom prst="roundRect">
            <a:avLst>
              <a:gd name="adj" fmla="val 4324"/>
            </a:avLst>
          </a:prstGeom>
          <a:solidFill>
            <a:srgbClr val="F4F7F5"/>
          </a:solidFill>
          <a:ln w="9525">
            <a:solidFill>
              <a:srgbClr val="D5DED9"/>
            </a:solidFill>
            <a:prstDash val="solid"/>
          </a:ln>
        </p:spPr>
      </p:sp>
      <p:sp>
        <p:nvSpPr>
          <p:cNvPr id="25" name="Shape 20"/>
          <p:cNvSpPr/>
          <p:nvPr/>
        </p:nvSpPr>
        <p:spPr>
          <a:xfrm>
            <a:off x="6400800" y="1600200"/>
            <a:ext cx="548640" cy="548640"/>
          </a:xfrm>
          <a:prstGeom prst="ellipse">
            <a:avLst/>
          </a:prstGeom>
          <a:solidFill>
            <a:srgbClr val="00704A"/>
          </a:solidFill>
          <a:ln w="12700">
            <a:solidFill>
              <a:srgbClr val="00704A"/>
            </a:solidFill>
            <a:prstDash val="solid"/>
          </a:ln>
        </p:spPr>
      </p:sp>
      <p:pic>
        <p:nvPicPr>
          <p:cNvPr id="26" name="Image 3" descr="preencoded.png"/>
          <p:cNvPicPr>
            <a:picLocks noChangeAspect="1"/>
          </p:cNvPicPr>
          <p:nvPr/>
        </p:nvPicPr>
        <p:blipFill>
          <a:blip r:embed="rId6"/>
          <a:stretch>
            <a:fillRect/>
          </a:stretch>
        </p:blipFill>
        <p:spPr>
          <a:xfrm>
            <a:off x="6543446" y="1742846"/>
            <a:ext cx="263347" cy="263347"/>
          </a:xfrm>
          <a:prstGeom prst="rect">
            <a:avLst/>
          </a:prstGeom>
        </p:spPr>
      </p:pic>
      <p:sp>
        <p:nvSpPr>
          <p:cNvPr id="27" name="Text 21"/>
          <p:cNvSpPr txBox="1"/>
          <p:nvPr/>
        </p:nvSpPr>
        <p:spPr>
          <a:xfrm>
            <a:off x="7086600" y="1600200"/>
            <a:ext cx="1554480" cy="54864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Modéliser</a:t>
            </a:r>
            <a:endParaRPr lang="fr-FR" sz="1400" dirty="0"/>
          </a:p>
        </p:txBody>
      </p:sp>
      <p:sp>
        <p:nvSpPr>
          <p:cNvPr id="28" name="Text 22"/>
          <p:cNvSpPr txBox="1"/>
          <p:nvPr/>
        </p:nvSpPr>
        <p:spPr>
          <a:xfrm>
            <a:off x="6400800" y="2286000"/>
            <a:ext cx="219456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équation-pont, MIDAS ou apprentissage automatique</a:t>
            </a:r>
            <a:endParaRPr lang="fr-FR" sz="1150" dirty="0"/>
          </a:p>
        </p:txBody>
      </p:sp>
      <p:sp>
        <p:nvSpPr>
          <p:cNvPr id="29" name="Text 23"/>
          <p:cNvSpPr txBox="1"/>
          <p:nvPr/>
        </p:nvSpPr>
        <p:spPr>
          <a:xfrm>
            <a:off x="8732520" y="1965960"/>
            <a:ext cx="320040" cy="457200"/>
          </a:xfrm>
          <a:prstGeom prst="rect">
            <a:avLst/>
          </a:prstGeom>
          <a:noFill/>
          <a:ln/>
        </p:spPr>
        <p:txBody>
          <a:bodyPr wrap="square" lIns="0" tIns="0" rIns="0" bIns="0" rtlCol="0" anchor="t"/>
          <a:lstStyle/>
          <a:p>
            <a:pPr marL="0" indent="0" algn="ctr">
              <a:buNone/>
            </a:pPr>
            <a:r>
              <a:rPr lang="fr-FR" sz="2600" b="1" dirty="0">
                <a:solidFill>
                  <a:srgbClr val="00A86A"/>
                </a:solidFill>
                <a:latin typeface="Calibri" pitchFamily="34" charset="0"/>
                <a:ea typeface="Calibri" pitchFamily="34" charset="-122"/>
                <a:cs typeface="Calibri" pitchFamily="34" charset="-120"/>
              </a:rPr>
              <a:t>›</a:t>
            </a:r>
            <a:endParaRPr lang="fr-FR" sz="2600" dirty="0"/>
          </a:p>
        </p:txBody>
      </p:sp>
      <p:sp>
        <p:nvSpPr>
          <p:cNvPr id="30" name="Shape 24"/>
          <p:cNvSpPr/>
          <p:nvPr/>
        </p:nvSpPr>
        <p:spPr>
          <a:xfrm>
            <a:off x="9052560" y="1417320"/>
            <a:ext cx="2514600" cy="1691640"/>
          </a:xfrm>
          <a:prstGeom prst="roundRect">
            <a:avLst>
              <a:gd name="adj" fmla="val 4324"/>
            </a:avLst>
          </a:prstGeom>
          <a:solidFill>
            <a:srgbClr val="00553A"/>
          </a:solidFill>
          <a:ln w="9525">
            <a:solidFill>
              <a:srgbClr val="00553A"/>
            </a:solidFill>
            <a:prstDash val="solid"/>
          </a:ln>
        </p:spPr>
      </p:sp>
      <p:sp>
        <p:nvSpPr>
          <p:cNvPr id="31" name="Shape 25"/>
          <p:cNvSpPr/>
          <p:nvPr/>
        </p:nvSpPr>
        <p:spPr>
          <a:xfrm>
            <a:off x="9235440" y="1600200"/>
            <a:ext cx="548640" cy="548640"/>
          </a:xfrm>
          <a:prstGeom prst="ellipse">
            <a:avLst/>
          </a:prstGeom>
          <a:solidFill>
            <a:srgbClr val="F5C242"/>
          </a:solidFill>
          <a:ln w="12700">
            <a:solidFill>
              <a:srgbClr val="F5C242"/>
            </a:solidFill>
            <a:prstDash val="solid"/>
          </a:ln>
        </p:spPr>
      </p:sp>
      <p:pic>
        <p:nvPicPr>
          <p:cNvPr id="32" name="Image 4" descr="preencoded.png"/>
          <p:cNvPicPr>
            <a:picLocks noChangeAspect="1"/>
          </p:cNvPicPr>
          <p:nvPr/>
        </p:nvPicPr>
        <p:blipFill>
          <a:blip r:embed="rId7"/>
          <a:stretch>
            <a:fillRect/>
          </a:stretch>
        </p:blipFill>
        <p:spPr>
          <a:xfrm>
            <a:off x="9378086" y="1742846"/>
            <a:ext cx="263347" cy="263347"/>
          </a:xfrm>
          <a:prstGeom prst="rect">
            <a:avLst/>
          </a:prstGeom>
        </p:spPr>
      </p:pic>
      <p:sp>
        <p:nvSpPr>
          <p:cNvPr id="33" name="Text 26"/>
          <p:cNvSpPr txBox="1"/>
          <p:nvPr/>
        </p:nvSpPr>
        <p:spPr>
          <a:xfrm>
            <a:off x="9921240" y="1600200"/>
            <a:ext cx="1554480" cy="548640"/>
          </a:xfrm>
          <a:prstGeom prst="rect">
            <a:avLst/>
          </a:prstGeom>
          <a:noFill/>
          <a:ln/>
        </p:spPr>
        <p:txBody>
          <a:bodyPr wrap="square" lIns="0" tIns="0" rIns="0" bIns="0" rtlCol="0" anchor="ctr"/>
          <a:lstStyle/>
          <a:p>
            <a:pPr marL="0" indent="0">
              <a:buNone/>
            </a:pPr>
            <a:r>
              <a:rPr lang="fr-FR" sz="1400" b="1" dirty="0">
                <a:solidFill>
                  <a:srgbClr val="FFFFFF"/>
                </a:solidFill>
                <a:latin typeface="Calibri" pitchFamily="34" charset="0"/>
                <a:ea typeface="Calibri" pitchFamily="34" charset="-122"/>
                <a:cs typeface="Calibri" pitchFamily="34" charset="-120"/>
              </a:rPr>
              <a:t>Prévoir</a:t>
            </a:r>
            <a:endParaRPr lang="fr-FR" sz="1400" dirty="0"/>
          </a:p>
        </p:txBody>
      </p:sp>
      <p:sp>
        <p:nvSpPr>
          <p:cNvPr id="34" name="Text 27"/>
          <p:cNvSpPr txBox="1"/>
          <p:nvPr/>
        </p:nvSpPr>
        <p:spPr>
          <a:xfrm>
            <a:off x="9235440" y="2286000"/>
            <a:ext cx="2194560" cy="731520"/>
          </a:xfrm>
          <a:prstGeom prst="rect">
            <a:avLst/>
          </a:prstGeom>
          <a:noFill/>
          <a:ln/>
        </p:spPr>
        <p:txBody>
          <a:bodyPr wrap="square" lIns="0" tIns="0" rIns="0" bIns="0" rtlCol="0" anchor="t"/>
          <a:lstStyle/>
          <a:p>
            <a:pPr marL="0" indent="0">
              <a:buNone/>
            </a:pPr>
            <a:r>
              <a:rPr lang="fr-FR" sz="1150" dirty="0">
                <a:solidFill>
                  <a:srgbClr val="D8EEE3"/>
                </a:solidFill>
                <a:latin typeface="Calibri" pitchFamily="34" charset="0"/>
                <a:ea typeface="Calibri" pitchFamily="34" charset="-122"/>
                <a:cs typeface="Calibri" pitchFamily="34" charset="-120"/>
              </a:rPr>
              <a:t>croissance du PIB trimestriel, avant publication</a:t>
            </a:r>
            <a:endParaRPr lang="fr-FR" sz="1150" dirty="0"/>
          </a:p>
        </p:txBody>
      </p:sp>
      <p:sp>
        <p:nvSpPr>
          <p:cNvPr id="35" name="Shape 28"/>
          <p:cNvSpPr/>
          <p:nvPr/>
        </p:nvSpPr>
        <p:spPr>
          <a:xfrm>
            <a:off x="548640" y="3383280"/>
            <a:ext cx="3593592" cy="2377440"/>
          </a:xfrm>
          <a:prstGeom prst="roundRect">
            <a:avLst>
              <a:gd name="adj" fmla="val 3077"/>
            </a:avLst>
          </a:prstGeom>
          <a:solidFill>
            <a:srgbClr val="E6F6EE"/>
          </a:solidFill>
          <a:ln w="9525">
            <a:solidFill>
              <a:srgbClr val="E6F6EE"/>
            </a:solidFill>
            <a:prstDash val="solid"/>
          </a:ln>
        </p:spPr>
      </p:sp>
      <p:sp>
        <p:nvSpPr>
          <p:cNvPr id="36" name="Text 29"/>
          <p:cNvSpPr txBox="1"/>
          <p:nvPr/>
        </p:nvSpPr>
        <p:spPr>
          <a:xfrm>
            <a:off x="749808" y="3493008"/>
            <a:ext cx="3200400" cy="32004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Atouts</a:t>
            </a:r>
            <a:endParaRPr lang="fr-FR" sz="1400" dirty="0"/>
          </a:p>
        </p:txBody>
      </p:sp>
      <p:sp>
        <p:nvSpPr>
          <p:cNvPr id="37" name="Text 30"/>
          <p:cNvSpPr txBox="1"/>
          <p:nvPr/>
        </p:nvSpPr>
        <p:spPr>
          <a:xfrm>
            <a:off x="749808" y="3886200"/>
            <a:ext cx="3200400" cy="1828800"/>
          </a:xfrm>
          <a:prstGeom prst="rect">
            <a:avLst/>
          </a:prstGeom>
          <a:noFill/>
          <a:ln/>
        </p:spPr>
        <p:txBody>
          <a:bodyPr wrap="square" lIns="0" tIns="0" rIns="0" bIns="0" rtlCol="0" anchor="t"/>
          <a:lstStyle/>
          <a:p>
            <a:pPr marL="177800" indent="-177800">
              <a:spcAft>
                <a:spcPts val="600"/>
              </a:spcAft>
              <a:buSzPct val="100000"/>
              <a:buChar char="•"/>
            </a:pPr>
            <a:r>
              <a:rPr lang="fr-FR" sz="1150" dirty="0">
                <a:solidFill>
                  <a:srgbClr val="231F20"/>
                </a:solidFill>
                <a:latin typeface="Calibri" pitchFamily="34" charset="0"/>
                <a:ea typeface="Calibri" pitchFamily="34" charset="-122"/>
                <a:cs typeface="Calibri" pitchFamily="34" charset="-120"/>
              </a:rPr>
              <a:t>Disponible quelques semaines après le mois</a:t>
            </a:r>
            <a:endParaRPr lang="fr-FR" sz="1150" dirty="0"/>
          </a:p>
          <a:p>
            <a:pPr marL="177800" indent="-177800">
              <a:spcAft>
                <a:spcPts val="600"/>
              </a:spcAft>
              <a:buSzPct val="100000"/>
              <a:buChar char="•"/>
            </a:pPr>
            <a:r>
              <a:rPr lang="fr-FR" sz="1150" dirty="0">
                <a:solidFill>
                  <a:srgbClr val="231F20"/>
                </a:solidFill>
                <a:latin typeface="Calibri" pitchFamily="34" charset="0"/>
                <a:ea typeface="Calibri" pitchFamily="34" charset="-122"/>
                <a:cs typeface="Calibri" pitchFamily="34" charset="-120"/>
              </a:rPr>
              <a:t>Indépendant des enquêtes et des sources administratives</a:t>
            </a:r>
            <a:endParaRPr lang="fr-FR" sz="1150" dirty="0"/>
          </a:p>
          <a:p>
            <a:pPr marL="177800" indent="-177800">
              <a:spcAft>
                <a:spcPts val="600"/>
              </a:spcAft>
              <a:buSzPct val="100000"/>
              <a:buChar char="•"/>
            </a:pPr>
            <a:r>
              <a:rPr lang="fr-FR" sz="1150" dirty="0">
                <a:solidFill>
                  <a:srgbClr val="231F20"/>
                </a:solidFill>
                <a:latin typeface="Calibri" pitchFamily="34" charset="0"/>
                <a:ea typeface="Calibri" pitchFamily="34" charset="-122"/>
                <a:cs typeface="Calibri" pitchFamily="34" charset="-120"/>
              </a:rPr>
              <a:t>Détail régional absent des indicateurs nationaux</a:t>
            </a:r>
            <a:endParaRPr lang="fr-FR" sz="1150" dirty="0"/>
          </a:p>
        </p:txBody>
      </p:sp>
      <p:sp>
        <p:nvSpPr>
          <p:cNvPr id="38" name="Shape 31"/>
          <p:cNvSpPr/>
          <p:nvPr/>
        </p:nvSpPr>
        <p:spPr>
          <a:xfrm>
            <a:off x="4297680" y="3383280"/>
            <a:ext cx="3593592" cy="2377440"/>
          </a:xfrm>
          <a:prstGeom prst="roundRect">
            <a:avLst>
              <a:gd name="adj" fmla="val 3077"/>
            </a:avLst>
          </a:prstGeom>
          <a:solidFill>
            <a:srgbClr val="FBE9E7"/>
          </a:solidFill>
          <a:ln w="9525">
            <a:solidFill>
              <a:srgbClr val="FBE9E7"/>
            </a:solidFill>
            <a:prstDash val="solid"/>
          </a:ln>
        </p:spPr>
      </p:sp>
      <p:sp>
        <p:nvSpPr>
          <p:cNvPr id="39" name="Text 32"/>
          <p:cNvSpPr txBox="1"/>
          <p:nvPr/>
        </p:nvSpPr>
        <p:spPr>
          <a:xfrm>
            <a:off x="4498848" y="3493008"/>
            <a:ext cx="3200400" cy="320040"/>
          </a:xfrm>
          <a:prstGeom prst="rect">
            <a:avLst/>
          </a:prstGeom>
          <a:noFill/>
          <a:ln/>
        </p:spPr>
        <p:txBody>
          <a:bodyPr wrap="square" lIns="0" tIns="0" rIns="0" bIns="0" rtlCol="0" anchor="t"/>
          <a:lstStyle/>
          <a:p>
            <a:pPr marL="0" indent="0">
              <a:buNone/>
            </a:pPr>
            <a:r>
              <a:rPr lang="fr-FR" sz="1400" b="1" dirty="0">
                <a:solidFill>
                  <a:srgbClr val="B83B2E"/>
                </a:solidFill>
                <a:latin typeface="Calibri" pitchFamily="34" charset="0"/>
                <a:ea typeface="Calibri" pitchFamily="34" charset="-122"/>
                <a:cs typeface="Calibri" pitchFamily="34" charset="-120"/>
              </a:rPr>
              <a:t>Pièges</a:t>
            </a:r>
            <a:endParaRPr lang="fr-FR" sz="1400" dirty="0"/>
          </a:p>
        </p:txBody>
      </p:sp>
      <p:sp>
        <p:nvSpPr>
          <p:cNvPr id="40" name="Text 33"/>
          <p:cNvSpPr txBox="1"/>
          <p:nvPr/>
        </p:nvSpPr>
        <p:spPr>
          <a:xfrm>
            <a:off x="4498848" y="3886200"/>
            <a:ext cx="3200400" cy="1828800"/>
          </a:xfrm>
          <a:prstGeom prst="rect">
            <a:avLst/>
          </a:prstGeom>
          <a:noFill/>
          <a:ln/>
        </p:spPr>
        <p:txBody>
          <a:bodyPr wrap="square" lIns="0" tIns="0" rIns="0" bIns="0" rtlCol="0" anchor="t"/>
          <a:lstStyle/>
          <a:p>
            <a:pPr marL="177800" indent="-177800">
              <a:spcAft>
                <a:spcPts val="600"/>
              </a:spcAft>
              <a:buSzPct val="100000"/>
              <a:buChar char="•"/>
            </a:pPr>
            <a:r>
              <a:rPr lang="fr-FR" sz="1150" dirty="0">
                <a:solidFill>
                  <a:srgbClr val="231F20"/>
                </a:solidFill>
                <a:latin typeface="Calibri" pitchFamily="34" charset="0"/>
                <a:ea typeface="Calibri" pitchFamily="34" charset="-122"/>
                <a:cs typeface="Calibri" pitchFamily="34" charset="-120"/>
              </a:rPr>
              <a:t>Biais d’anticipation : seulement les données connues à la date</a:t>
            </a:r>
            <a:endParaRPr lang="fr-FR" sz="1150" dirty="0"/>
          </a:p>
          <a:p>
            <a:pPr marL="177800" indent="-177800">
              <a:spcAft>
                <a:spcPts val="600"/>
              </a:spcAft>
              <a:buSzPct val="100000"/>
              <a:buChar char="•"/>
            </a:pPr>
            <a:r>
              <a:rPr lang="fr-FR" sz="1150" dirty="0">
                <a:solidFill>
                  <a:srgbClr val="231F20"/>
                </a:solidFill>
                <a:latin typeface="Calibri" pitchFamily="34" charset="0"/>
                <a:ea typeface="Calibri" pitchFamily="34" charset="-122"/>
                <a:cs typeface="Calibri" pitchFamily="34" charset="-120"/>
              </a:rPr>
              <a:t>Les ruptures de produit ressemblent à des récessions</a:t>
            </a:r>
            <a:endParaRPr lang="fr-FR" sz="1150" dirty="0"/>
          </a:p>
          <a:p>
            <a:pPr marL="177800" indent="-177800">
              <a:spcAft>
                <a:spcPts val="600"/>
              </a:spcAft>
              <a:buSzPct val="100000"/>
              <a:buChar char="•"/>
            </a:pPr>
            <a:r>
              <a:rPr lang="fr-FR" sz="1150" dirty="0">
                <a:solidFill>
                  <a:srgbClr val="231F20"/>
                </a:solidFill>
                <a:latin typeface="Calibri" pitchFamily="34" charset="0"/>
                <a:ea typeface="Calibri" pitchFamily="34" charset="-122"/>
                <a:cs typeface="Calibri" pitchFamily="34" charset="-120"/>
              </a:rPr>
              <a:t>Saisonnalité et lacunes nuageuses à traiter d’abord</a:t>
            </a:r>
            <a:endParaRPr lang="fr-FR" sz="1150" dirty="0"/>
          </a:p>
        </p:txBody>
      </p:sp>
      <p:sp>
        <p:nvSpPr>
          <p:cNvPr id="41" name="Shape 34"/>
          <p:cNvSpPr/>
          <p:nvPr/>
        </p:nvSpPr>
        <p:spPr>
          <a:xfrm>
            <a:off x="8046720" y="3383280"/>
            <a:ext cx="3593592" cy="2377440"/>
          </a:xfrm>
          <a:prstGeom prst="roundRect">
            <a:avLst>
              <a:gd name="adj" fmla="val 3077"/>
            </a:avLst>
          </a:prstGeom>
          <a:solidFill>
            <a:srgbClr val="E8F5EF"/>
          </a:solidFill>
          <a:ln w="9525">
            <a:solidFill>
              <a:srgbClr val="00A86A"/>
            </a:solidFill>
            <a:prstDash val="solid"/>
          </a:ln>
        </p:spPr>
      </p:sp>
      <p:sp>
        <p:nvSpPr>
          <p:cNvPr id="42" name="Text 35"/>
          <p:cNvSpPr txBox="1"/>
          <p:nvPr/>
        </p:nvSpPr>
        <p:spPr>
          <a:xfrm>
            <a:off x="8247888" y="3493008"/>
            <a:ext cx="3200400" cy="32004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Travaux</a:t>
            </a:r>
            <a:endParaRPr lang="fr-FR" sz="1400" dirty="0"/>
          </a:p>
        </p:txBody>
      </p:sp>
      <p:sp>
        <p:nvSpPr>
          <p:cNvPr id="43" name="Text 36"/>
          <p:cNvSpPr txBox="1"/>
          <p:nvPr/>
        </p:nvSpPr>
        <p:spPr>
          <a:xfrm>
            <a:off x="8247888" y="3886200"/>
            <a:ext cx="3200400" cy="1828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Beyer, Hu &amp; Yao (2022, IMF WP 22/109) mesurent la croissance trimestrielle de nombreux pays à partir des lumières nocturnes. Beyer et al. (2021) combinent lumières quotidiennes et consommation d’électricité pour suivre le choc de la COVID-19 en Inde.</a:t>
            </a:r>
            <a:endParaRPr lang="fr-FR"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APPLICATION 02</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Accès à l’énergie et ODD 7 : le grand défi de l’Afrique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43</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Sources : Tracking SDG 7: The Energy Progress Report (AIE, IRENA, ONU-DAES, Banque mondiale, OMS), 24 juin 2026 ; HREA, Min &amp; O’Keeffe (Univ. du Michigan).</a:t>
            </a:r>
            <a:endParaRPr lang="fr-FR" sz="850" dirty="0"/>
          </a:p>
        </p:txBody>
      </p:sp>
      <p:sp>
        <p:nvSpPr>
          <p:cNvPr id="13" name="Shape 10"/>
          <p:cNvSpPr/>
          <p:nvPr/>
        </p:nvSpPr>
        <p:spPr>
          <a:xfrm>
            <a:off x="548640" y="1325880"/>
            <a:ext cx="2194560" cy="1188720"/>
          </a:xfrm>
          <a:prstGeom prst="roundRect">
            <a:avLst>
              <a:gd name="adj" fmla="val 6154"/>
            </a:avLst>
          </a:prstGeom>
          <a:solidFill>
            <a:srgbClr val="E8F5EF"/>
          </a:solidFill>
          <a:ln w="9525">
            <a:solidFill>
              <a:srgbClr val="00A86A"/>
            </a:solidFill>
            <a:prstDash val="solid"/>
          </a:ln>
        </p:spPr>
      </p:sp>
      <p:sp>
        <p:nvSpPr>
          <p:cNvPr id="14" name="Text 11"/>
          <p:cNvSpPr txBox="1"/>
          <p:nvPr/>
        </p:nvSpPr>
        <p:spPr>
          <a:xfrm>
            <a:off x="548640" y="1371600"/>
            <a:ext cx="2194560" cy="640080"/>
          </a:xfrm>
          <a:prstGeom prst="rect">
            <a:avLst/>
          </a:prstGeom>
          <a:noFill/>
          <a:ln/>
        </p:spPr>
        <p:txBody>
          <a:bodyPr wrap="square" lIns="0" tIns="0" rIns="0" bIns="0" rtlCol="0" anchor="t"/>
          <a:lstStyle/>
          <a:p>
            <a:pPr marL="0" indent="0" algn="ctr">
              <a:buNone/>
            </a:pPr>
            <a:r>
              <a:rPr lang="fr-FR" sz="3000" b="1" dirty="0">
                <a:solidFill>
                  <a:srgbClr val="00704A"/>
                </a:solidFill>
                <a:latin typeface="Calibri" pitchFamily="34" charset="0"/>
                <a:ea typeface="Calibri" pitchFamily="34" charset="-122"/>
                <a:cs typeface="Calibri" pitchFamily="34" charset="-120"/>
              </a:rPr>
              <a:t>655 M</a:t>
            </a:r>
            <a:endParaRPr lang="fr-FR" sz="3000" dirty="0"/>
          </a:p>
        </p:txBody>
      </p:sp>
      <p:sp>
        <p:nvSpPr>
          <p:cNvPr id="15" name="Text 12"/>
          <p:cNvSpPr txBox="1"/>
          <p:nvPr/>
        </p:nvSpPr>
        <p:spPr>
          <a:xfrm>
            <a:off x="685800" y="1965960"/>
            <a:ext cx="1920240" cy="502920"/>
          </a:xfrm>
          <a:prstGeom prst="rect">
            <a:avLst/>
          </a:prstGeom>
          <a:noFill/>
          <a:ln/>
        </p:spPr>
        <p:txBody>
          <a:bodyPr wrap="square" lIns="0" tIns="0" rIns="0" bIns="0" rtlCol="0" anchor="t"/>
          <a:lstStyle/>
          <a:p>
            <a:pPr marL="0" indent="0" algn="ctr">
              <a:buNone/>
            </a:pPr>
            <a:r>
              <a:rPr lang="fr-FR" sz="1050" dirty="0">
                <a:solidFill>
                  <a:srgbClr val="5E6964"/>
                </a:solidFill>
                <a:latin typeface="Calibri" pitchFamily="34" charset="0"/>
                <a:ea typeface="Calibri" pitchFamily="34" charset="-122"/>
                <a:cs typeface="Calibri" pitchFamily="34" charset="-120"/>
              </a:rPr>
              <a:t>personnes sans électricité dans le monde (2024)</a:t>
            </a:r>
            <a:endParaRPr lang="fr-FR" sz="1050" dirty="0"/>
          </a:p>
        </p:txBody>
      </p:sp>
      <p:sp>
        <p:nvSpPr>
          <p:cNvPr id="16" name="Shape 13"/>
          <p:cNvSpPr/>
          <p:nvPr/>
        </p:nvSpPr>
        <p:spPr>
          <a:xfrm>
            <a:off x="2926080" y="1325880"/>
            <a:ext cx="2194560" cy="1188720"/>
          </a:xfrm>
          <a:prstGeom prst="roundRect">
            <a:avLst>
              <a:gd name="adj" fmla="val 6154"/>
            </a:avLst>
          </a:prstGeom>
          <a:solidFill>
            <a:srgbClr val="FBE9E7"/>
          </a:solidFill>
          <a:ln w="9525">
            <a:solidFill>
              <a:srgbClr val="B83B2E"/>
            </a:solidFill>
            <a:prstDash val="solid"/>
          </a:ln>
        </p:spPr>
      </p:sp>
      <p:sp>
        <p:nvSpPr>
          <p:cNvPr id="17" name="Text 14"/>
          <p:cNvSpPr txBox="1"/>
          <p:nvPr/>
        </p:nvSpPr>
        <p:spPr>
          <a:xfrm>
            <a:off x="2926080" y="1371600"/>
            <a:ext cx="2194560" cy="640080"/>
          </a:xfrm>
          <a:prstGeom prst="rect">
            <a:avLst/>
          </a:prstGeom>
          <a:noFill/>
          <a:ln/>
        </p:spPr>
        <p:txBody>
          <a:bodyPr wrap="square" lIns="0" tIns="0" rIns="0" bIns="0" rtlCol="0" anchor="t"/>
          <a:lstStyle/>
          <a:p>
            <a:pPr marL="0" indent="0" algn="ctr">
              <a:buNone/>
            </a:pPr>
            <a:r>
              <a:rPr lang="fr-FR" sz="3000" b="1" dirty="0">
                <a:solidFill>
                  <a:srgbClr val="B83B2E"/>
                </a:solidFill>
                <a:latin typeface="Calibri" pitchFamily="34" charset="0"/>
                <a:ea typeface="Calibri" pitchFamily="34" charset="-122"/>
                <a:cs typeface="Calibri" pitchFamily="34" charset="-120"/>
              </a:rPr>
              <a:t>&gt; 560 M</a:t>
            </a:r>
            <a:endParaRPr lang="fr-FR" sz="3000" dirty="0"/>
          </a:p>
        </p:txBody>
      </p:sp>
      <p:sp>
        <p:nvSpPr>
          <p:cNvPr id="18" name="Text 15"/>
          <p:cNvSpPr txBox="1"/>
          <p:nvPr/>
        </p:nvSpPr>
        <p:spPr>
          <a:xfrm>
            <a:off x="3063240" y="1965960"/>
            <a:ext cx="1920240" cy="502920"/>
          </a:xfrm>
          <a:prstGeom prst="rect">
            <a:avLst/>
          </a:prstGeom>
          <a:noFill/>
          <a:ln/>
        </p:spPr>
        <p:txBody>
          <a:bodyPr wrap="square" lIns="0" tIns="0" rIns="0" bIns="0" rtlCol="0" anchor="t"/>
          <a:lstStyle/>
          <a:p>
            <a:pPr marL="0" indent="0" algn="ctr">
              <a:buNone/>
            </a:pPr>
            <a:r>
              <a:rPr lang="fr-FR" sz="1050" dirty="0">
                <a:solidFill>
                  <a:srgbClr val="5E6964"/>
                </a:solidFill>
                <a:latin typeface="Calibri" pitchFamily="34" charset="0"/>
                <a:ea typeface="Calibri" pitchFamily="34" charset="-122"/>
                <a:cs typeface="Calibri" pitchFamily="34" charset="-120"/>
              </a:rPr>
              <a:t>d’entre elles en Afrique subsaharienne</a:t>
            </a:r>
            <a:endParaRPr lang="fr-FR" sz="1050" dirty="0"/>
          </a:p>
        </p:txBody>
      </p:sp>
      <p:graphicFrame>
        <p:nvGraphicFramePr>
          <p:cNvPr id="19" name="Chart 0"/>
          <p:cNvGraphicFramePr/>
          <p:nvPr/>
        </p:nvGraphicFramePr>
        <p:xfrm>
          <a:off x="548640" y="2697480"/>
          <a:ext cx="457200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20" name="Shape 16"/>
          <p:cNvSpPr/>
          <p:nvPr/>
        </p:nvSpPr>
        <p:spPr>
          <a:xfrm>
            <a:off x="5440680" y="1325880"/>
            <a:ext cx="6199632" cy="804672"/>
          </a:xfrm>
          <a:prstGeom prst="roundRect">
            <a:avLst>
              <a:gd name="adj" fmla="val 9091"/>
            </a:avLst>
          </a:prstGeom>
          <a:solidFill>
            <a:srgbClr val="F4F7F5"/>
          </a:solidFill>
          <a:ln w="9525">
            <a:solidFill>
              <a:srgbClr val="D5DED9"/>
            </a:solidFill>
            <a:prstDash val="solid"/>
          </a:ln>
        </p:spPr>
      </p:sp>
      <p:sp>
        <p:nvSpPr>
          <p:cNvPr id="21" name="Shape 17"/>
          <p:cNvSpPr/>
          <p:nvPr/>
        </p:nvSpPr>
        <p:spPr>
          <a:xfrm>
            <a:off x="5577840" y="1463040"/>
            <a:ext cx="530352" cy="530352"/>
          </a:xfrm>
          <a:prstGeom prst="ellipse">
            <a:avLst/>
          </a:prstGeom>
          <a:solidFill>
            <a:srgbClr val="E8F5EF"/>
          </a:solidFill>
          <a:ln w="12700">
            <a:solidFill>
              <a:srgbClr val="E8F5EF"/>
            </a:solidFill>
            <a:prstDash val="solid"/>
          </a:ln>
        </p:spPr>
      </p:sp>
      <p:pic>
        <p:nvPicPr>
          <p:cNvPr id="22" name="Image 1" descr="preencoded.png"/>
          <p:cNvPicPr>
            <a:picLocks noChangeAspect="1"/>
          </p:cNvPicPr>
          <p:nvPr/>
        </p:nvPicPr>
        <p:blipFill>
          <a:blip r:embed="rId5"/>
          <a:stretch>
            <a:fillRect/>
          </a:stretch>
        </p:blipFill>
        <p:spPr>
          <a:xfrm>
            <a:off x="5715732" y="1600932"/>
            <a:ext cx="254569" cy="254569"/>
          </a:xfrm>
          <a:prstGeom prst="rect">
            <a:avLst/>
          </a:prstGeom>
        </p:spPr>
      </p:pic>
      <p:sp>
        <p:nvSpPr>
          <p:cNvPr id="23" name="Text 18"/>
          <p:cNvSpPr txBox="1"/>
          <p:nvPr/>
        </p:nvSpPr>
        <p:spPr>
          <a:xfrm>
            <a:off x="6263640" y="1380744"/>
            <a:ext cx="5212080" cy="292608"/>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Localiser les non-desservis</a:t>
            </a:r>
            <a:endParaRPr lang="fr-FR" sz="1300" dirty="0"/>
          </a:p>
        </p:txBody>
      </p:sp>
      <p:sp>
        <p:nvSpPr>
          <p:cNvPr id="24" name="Text 19"/>
          <p:cNvSpPr txBox="1"/>
          <p:nvPr/>
        </p:nvSpPr>
        <p:spPr>
          <a:xfrm>
            <a:off x="6263640" y="1673352"/>
            <a:ext cx="5257800" cy="438912"/>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Les localités visibles le jour mais sombres la nuit sont probablement non électrifiées.</a:t>
            </a:r>
            <a:endParaRPr lang="fr-FR" sz="1100" dirty="0"/>
          </a:p>
        </p:txBody>
      </p:sp>
      <p:sp>
        <p:nvSpPr>
          <p:cNvPr id="25" name="Shape 20"/>
          <p:cNvSpPr/>
          <p:nvPr/>
        </p:nvSpPr>
        <p:spPr>
          <a:xfrm>
            <a:off x="5440680" y="2240280"/>
            <a:ext cx="6199632" cy="804672"/>
          </a:xfrm>
          <a:prstGeom prst="roundRect">
            <a:avLst>
              <a:gd name="adj" fmla="val 9091"/>
            </a:avLst>
          </a:prstGeom>
          <a:solidFill>
            <a:srgbClr val="F4F7F5"/>
          </a:solidFill>
          <a:ln w="9525">
            <a:solidFill>
              <a:srgbClr val="D5DED9"/>
            </a:solidFill>
            <a:prstDash val="solid"/>
          </a:ln>
        </p:spPr>
      </p:sp>
      <p:sp>
        <p:nvSpPr>
          <p:cNvPr id="26" name="Shape 21"/>
          <p:cNvSpPr/>
          <p:nvPr/>
        </p:nvSpPr>
        <p:spPr>
          <a:xfrm>
            <a:off x="5577840" y="2377440"/>
            <a:ext cx="530352" cy="530352"/>
          </a:xfrm>
          <a:prstGeom prst="ellipse">
            <a:avLst/>
          </a:prstGeom>
          <a:solidFill>
            <a:srgbClr val="E8F5EF"/>
          </a:solidFill>
          <a:ln w="12700">
            <a:solidFill>
              <a:srgbClr val="E8F5EF"/>
            </a:solidFill>
            <a:prstDash val="solid"/>
          </a:ln>
        </p:spPr>
      </p:sp>
      <p:pic>
        <p:nvPicPr>
          <p:cNvPr id="27" name="Image 2" descr="preencoded.png"/>
          <p:cNvPicPr>
            <a:picLocks noChangeAspect="1"/>
          </p:cNvPicPr>
          <p:nvPr/>
        </p:nvPicPr>
        <p:blipFill>
          <a:blip r:embed="rId6"/>
          <a:stretch>
            <a:fillRect/>
          </a:stretch>
        </p:blipFill>
        <p:spPr>
          <a:xfrm>
            <a:off x="5715732" y="2515332"/>
            <a:ext cx="254569" cy="254569"/>
          </a:xfrm>
          <a:prstGeom prst="rect">
            <a:avLst/>
          </a:prstGeom>
        </p:spPr>
      </p:pic>
      <p:sp>
        <p:nvSpPr>
          <p:cNvPr id="28" name="Text 22"/>
          <p:cNvSpPr txBox="1"/>
          <p:nvPr/>
        </p:nvSpPr>
        <p:spPr>
          <a:xfrm>
            <a:off x="6263640" y="2295144"/>
            <a:ext cx="5212080" cy="292608"/>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Vérifier les programmes</a:t>
            </a:r>
            <a:endParaRPr lang="fr-FR" sz="1300" dirty="0"/>
          </a:p>
        </p:txBody>
      </p:sp>
      <p:sp>
        <p:nvSpPr>
          <p:cNvPr id="29" name="Text 23"/>
          <p:cNvSpPr txBox="1"/>
          <p:nvPr/>
        </p:nvSpPr>
        <p:spPr>
          <a:xfrm>
            <a:off x="6263640" y="2587752"/>
            <a:ext cx="5257800" cy="438912"/>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Une extension de réseau qui ne produit aucune lumière nouvelle n’a pas vraiment été livrée.</a:t>
            </a:r>
            <a:endParaRPr lang="fr-FR" sz="1100" dirty="0"/>
          </a:p>
        </p:txBody>
      </p:sp>
      <p:sp>
        <p:nvSpPr>
          <p:cNvPr id="30" name="Shape 24"/>
          <p:cNvSpPr/>
          <p:nvPr/>
        </p:nvSpPr>
        <p:spPr>
          <a:xfrm>
            <a:off x="5440680" y="3154680"/>
            <a:ext cx="6199632" cy="804672"/>
          </a:xfrm>
          <a:prstGeom prst="roundRect">
            <a:avLst>
              <a:gd name="adj" fmla="val 9091"/>
            </a:avLst>
          </a:prstGeom>
          <a:solidFill>
            <a:srgbClr val="F4F7F5"/>
          </a:solidFill>
          <a:ln w="9525">
            <a:solidFill>
              <a:srgbClr val="D5DED9"/>
            </a:solidFill>
            <a:prstDash val="solid"/>
          </a:ln>
        </p:spPr>
      </p:sp>
      <p:sp>
        <p:nvSpPr>
          <p:cNvPr id="31" name="Shape 25"/>
          <p:cNvSpPr/>
          <p:nvPr/>
        </p:nvSpPr>
        <p:spPr>
          <a:xfrm>
            <a:off x="5577840" y="3291840"/>
            <a:ext cx="530352" cy="530352"/>
          </a:xfrm>
          <a:prstGeom prst="ellipse">
            <a:avLst/>
          </a:prstGeom>
          <a:solidFill>
            <a:srgbClr val="E8F5EF"/>
          </a:solidFill>
          <a:ln w="12700">
            <a:solidFill>
              <a:srgbClr val="E8F5EF"/>
            </a:solidFill>
            <a:prstDash val="solid"/>
          </a:ln>
        </p:spPr>
      </p:sp>
      <p:pic>
        <p:nvPicPr>
          <p:cNvPr id="32" name="Image 3" descr="preencoded.png"/>
          <p:cNvPicPr>
            <a:picLocks noChangeAspect="1"/>
          </p:cNvPicPr>
          <p:nvPr/>
        </p:nvPicPr>
        <p:blipFill>
          <a:blip r:embed="rId7"/>
          <a:stretch>
            <a:fillRect/>
          </a:stretch>
        </p:blipFill>
        <p:spPr>
          <a:xfrm>
            <a:off x="5715732" y="3429732"/>
            <a:ext cx="254569" cy="254569"/>
          </a:xfrm>
          <a:prstGeom prst="rect">
            <a:avLst/>
          </a:prstGeom>
        </p:spPr>
      </p:pic>
      <p:sp>
        <p:nvSpPr>
          <p:cNvPr id="33" name="Text 26"/>
          <p:cNvSpPr txBox="1"/>
          <p:nvPr/>
        </p:nvSpPr>
        <p:spPr>
          <a:xfrm>
            <a:off x="6263640" y="3209544"/>
            <a:ext cx="5212080" cy="292608"/>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Mesurer la fiabilité</a:t>
            </a:r>
            <a:endParaRPr lang="fr-FR" sz="1300" dirty="0"/>
          </a:p>
        </p:txBody>
      </p:sp>
      <p:sp>
        <p:nvSpPr>
          <p:cNvPr id="34" name="Text 27"/>
          <p:cNvSpPr txBox="1"/>
          <p:nvPr/>
        </p:nvSpPr>
        <p:spPr>
          <a:xfrm>
            <a:off x="6263640" y="3502152"/>
            <a:ext cx="5257800" cy="438912"/>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Les données quotidiennes montrent la fréquence d’éclairage — les délestages qu’un « raccordé » masque.</a:t>
            </a:r>
            <a:endParaRPr lang="fr-FR" sz="1100" dirty="0"/>
          </a:p>
        </p:txBody>
      </p:sp>
      <p:sp>
        <p:nvSpPr>
          <p:cNvPr id="35" name="Shape 28"/>
          <p:cNvSpPr/>
          <p:nvPr/>
        </p:nvSpPr>
        <p:spPr>
          <a:xfrm>
            <a:off x="5440680" y="4069080"/>
            <a:ext cx="6199632" cy="804672"/>
          </a:xfrm>
          <a:prstGeom prst="roundRect">
            <a:avLst>
              <a:gd name="adj" fmla="val 9091"/>
            </a:avLst>
          </a:prstGeom>
          <a:solidFill>
            <a:srgbClr val="F4F7F5"/>
          </a:solidFill>
          <a:ln w="9525">
            <a:solidFill>
              <a:srgbClr val="D5DED9"/>
            </a:solidFill>
            <a:prstDash val="solid"/>
          </a:ln>
        </p:spPr>
      </p:sp>
      <p:sp>
        <p:nvSpPr>
          <p:cNvPr id="36" name="Shape 29"/>
          <p:cNvSpPr/>
          <p:nvPr/>
        </p:nvSpPr>
        <p:spPr>
          <a:xfrm>
            <a:off x="5577840" y="4206240"/>
            <a:ext cx="530352" cy="530352"/>
          </a:xfrm>
          <a:prstGeom prst="ellipse">
            <a:avLst/>
          </a:prstGeom>
          <a:solidFill>
            <a:srgbClr val="E8F5EF"/>
          </a:solidFill>
          <a:ln w="12700">
            <a:solidFill>
              <a:srgbClr val="E8F5EF"/>
            </a:solidFill>
            <a:prstDash val="solid"/>
          </a:ln>
        </p:spPr>
      </p:sp>
      <p:pic>
        <p:nvPicPr>
          <p:cNvPr id="37" name="Image 4" descr="preencoded.png"/>
          <p:cNvPicPr>
            <a:picLocks noChangeAspect="1"/>
          </p:cNvPicPr>
          <p:nvPr/>
        </p:nvPicPr>
        <p:blipFill>
          <a:blip r:embed="rId8"/>
          <a:stretch>
            <a:fillRect/>
          </a:stretch>
        </p:blipFill>
        <p:spPr>
          <a:xfrm>
            <a:off x="5715732" y="4344132"/>
            <a:ext cx="254569" cy="254569"/>
          </a:xfrm>
          <a:prstGeom prst="rect">
            <a:avLst/>
          </a:prstGeom>
        </p:spPr>
      </p:pic>
      <p:sp>
        <p:nvSpPr>
          <p:cNvPr id="38" name="Text 30"/>
          <p:cNvSpPr txBox="1"/>
          <p:nvPr/>
        </p:nvSpPr>
        <p:spPr>
          <a:xfrm>
            <a:off x="6263640" y="4123944"/>
            <a:ext cx="5212080" cy="292608"/>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Planifier le dernier km</a:t>
            </a:r>
            <a:endParaRPr lang="fr-FR" sz="1300" dirty="0"/>
          </a:p>
        </p:txBody>
      </p:sp>
      <p:sp>
        <p:nvSpPr>
          <p:cNvPr id="39" name="Text 31"/>
          <p:cNvSpPr txBox="1"/>
          <p:nvPr/>
        </p:nvSpPr>
        <p:spPr>
          <a:xfrm>
            <a:off x="6263640" y="4416552"/>
            <a:ext cx="5257800" cy="438912"/>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La distance aux corridors éclairés oriente le choix réseau, mini-réseau ou solaire autonome.</a:t>
            </a:r>
            <a:endParaRPr lang="fr-FR" sz="1100" dirty="0"/>
          </a:p>
        </p:txBody>
      </p:sp>
      <p:sp>
        <p:nvSpPr>
          <p:cNvPr id="40" name="Shape 32"/>
          <p:cNvSpPr/>
          <p:nvPr/>
        </p:nvSpPr>
        <p:spPr>
          <a:xfrm>
            <a:off x="5440680" y="5029200"/>
            <a:ext cx="6199632" cy="685800"/>
          </a:xfrm>
          <a:prstGeom prst="roundRect">
            <a:avLst>
              <a:gd name="adj" fmla="val 10667"/>
            </a:avLst>
          </a:prstGeom>
          <a:solidFill>
            <a:srgbClr val="FDF5DC"/>
          </a:solidFill>
          <a:ln w="9525">
            <a:solidFill>
              <a:srgbClr val="F5C242"/>
            </a:solidFill>
            <a:prstDash val="solid"/>
          </a:ln>
        </p:spPr>
      </p:sp>
      <p:sp>
        <p:nvSpPr>
          <p:cNvPr id="41" name="Text 33"/>
          <p:cNvSpPr txBox="1"/>
          <p:nvPr/>
        </p:nvSpPr>
        <p:spPr>
          <a:xfrm>
            <a:off x="5623560" y="5029200"/>
            <a:ext cx="5852160" cy="685800"/>
          </a:xfrm>
          <a:prstGeom prst="rect">
            <a:avLst/>
          </a:prstGeom>
          <a:noFill/>
          <a:ln/>
        </p:spPr>
        <p:txBody>
          <a:bodyPr wrap="square" lIns="0" tIns="0" rIns="0" bIns="0" rtlCol="0" anchor="ctr"/>
          <a:lstStyle/>
          <a:p>
            <a:pPr marL="0" indent="0">
              <a:buNone/>
            </a:pPr>
            <a:r>
              <a:rPr lang="fr-FR" sz="1200" b="1" dirty="0">
                <a:solidFill>
                  <a:srgbClr val="A87700"/>
                </a:solidFill>
                <a:latin typeface="Calibri" pitchFamily="34" charset="0"/>
                <a:ea typeface="Calibri" pitchFamily="34" charset="-122"/>
                <a:cs typeface="Calibri" pitchFamily="34" charset="-120"/>
              </a:rPr>
              <a:t>Mission 300 </a:t>
            </a:r>
            <a:r>
              <a:rPr lang="fr-FR" sz="1200" dirty="0">
                <a:solidFill>
                  <a:srgbClr val="231F20"/>
                </a:solidFill>
                <a:latin typeface="Calibri" pitchFamily="34" charset="0"/>
                <a:ea typeface="Calibri" pitchFamily="34" charset="-122"/>
                <a:cs typeface="Calibri" pitchFamily="34" charset="-120"/>
              </a:rPr>
              <a:t>(Groupe de la Banque mondiale et BAD) : 300 M de personnes raccordées d’ici 2030 — un suivi à cette échelle exige des données spatiales.</a:t>
            </a:r>
            <a:endParaRPr lang="fr-FR"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ÉNERGIE · FIABILITÉ</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Raccordé ne veut pas dire alimenté</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44</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Nuits illustratives. Méthode inspirée de HREA (Min &amp; O’Keeffe, Université du Michigan / Banque mondiale) ; voir aussi Falchetta et al. (2019), Scientific Data 6.</a:t>
            </a:r>
            <a:endParaRPr lang="fr-FR" sz="850" dirty="0"/>
          </a:p>
        </p:txBody>
      </p:sp>
      <p:sp>
        <p:nvSpPr>
          <p:cNvPr id="13" name="Text 10"/>
          <p:cNvSpPr txBox="1"/>
          <p:nvPr/>
        </p:nvSpPr>
        <p:spPr>
          <a:xfrm>
            <a:off x="548640" y="1325880"/>
            <a:ext cx="7315200" cy="320040"/>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Trente nuits dans deux villages tous deux comptés comme « raccordés » (illustratif)</a:t>
            </a:r>
            <a:endParaRPr lang="fr-FR" sz="1300" dirty="0"/>
          </a:p>
        </p:txBody>
      </p:sp>
      <p:sp>
        <p:nvSpPr>
          <p:cNvPr id="14" name="Text 11"/>
          <p:cNvSpPr txBox="1"/>
          <p:nvPr/>
        </p:nvSpPr>
        <p:spPr>
          <a:xfrm>
            <a:off x="548640" y="1828800"/>
            <a:ext cx="2743200" cy="274320"/>
          </a:xfrm>
          <a:prstGeom prst="rect">
            <a:avLst/>
          </a:prstGeom>
          <a:noFill/>
          <a:ln/>
        </p:spPr>
        <p:txBody>
          <a:bodyPr wrap="square" lIns="0" tIns="0" rIns="0" bIns="0" rtlCol="0" anchor="t"/>
          <a:lstStyle/>
          <a:p>
            <a:pPr marL="0" indent="0">
              <a:buNone/>
            </a:pPr>
            <a:r>
              <a:rPr lang="fr-FR" sz="1200" b="1" dirty="0">
                <a:solidFill>
                  <a:srgbClr val="231F20"/>
                </a:solidFill>
                <a:latin typeface="Calibri" pitchFamily="34" charset="0"/>
                <a:ea typeface="Calibri" pitchFamily="34" charset="-122"/>
                <a:cs typeface="Calibri" pitchFamily="34" charset="-120"/>
              </a:rPr>
              <a:t>Village A · réseau stable</a:t>
            </a:r>
            <a:endParaRPr lang="fr-FR" sz="1200" dirty="0"/>
          </a:p>
        </p:txBody>
      </p:sp>
      <p:sp>
        <p:nvSpPr>
          <p:cNvPr id="15" name="Shape 12"/>
          <p:cNvSpPr/>
          <p:nvPr/>
        </p:nvSpPr>
        <p:spPr>
          <a:xfrm>
            <a:off x="548640" y="2176272"/>
            <a:ext cx="201168" cy="457200"/>
          </a:xfrm>
          <a:prstGeom prst="rect">
            <a:avLst/>
          </a:prstGeom>
          <a:solidFill>
            <a:srgbClr val="F5C242"/>
          </a:solidFill>
          <a:ln w="12700">
            <a:solidFill>
              <a:srgbClr val="F5C242"/>
            </a:solidFill>
            <a:prstDash val="solid"/>
          </a:ln>
        </p:spPr>
      </p:sp>
      <p:sp>
        <p:nvSpPr>
          <p:cNvPr id="16" name="Shape 13"/>
          <p:cNvSpPr/>
          <p:nvPr/>
        </p:nvSpPr>
        <p:spPr>
          <a:xfrm>
            <a:off x="786384" y="2176272"/>
            <a:ext cx="201168" cy="457200"/>
          </a:xfrm>
          <a:prstGeom prst="rect">
            <a:avLst/>
          </a:prstGeom>
          <a:solidFill>
            <a:srgbClr val="F5C242"/>
          </a:solidFill>
          <a:ln w="12700">
            <a:solidFill>
              <a:srgbClr val="F5C242"/>
            </a:solidFill>
            <a:prstDash val="solid"/>
          </a:ln>
        </p:spPr>
      </p:sp>
      <p:sp>
        <p:nvSpPr>
          <p:cNvPr id="17" name="Shape 14"/>
          <p:cNvSpPr/>
          <p:nvPr/>
        </p:nvSpPr>
        <p:spPr>
          <a:xfrm>
            <a:off x="1024128" y="2176272"/>
            <a:ext cx="201168" cy="457200"/>
          </a:xfrm>
          <a:prstGeom prst="rect">
            <a:avLst/>
          </a:prstGeom>
          <a:solidFill>
            <a:srgbClr val="F5C242"/>
          </a:solidFill>
          <a:ln w="12700">
            <a:solidFill>
              <a:srgbClr val="F5C242"/>
            </a:solidFill>
            <a:prstDash val="solid"/>
          </a:ln>
        </p:spPr>
      </p:sp>
      <p:sp>
        <p:nvSpPr>
          <p:cNvPr id="18" name="Shape 15"/>
          <p:cNvSpPr/>
          <p:nvPr/>
        </p:nvSpPr>
        <p:spPr>
          <a:xfrm>
            <a:off x="1261872" y="2176272"/>
            <a:ext cx="201168" cy="457200"/>
          </a:xfrm>
          <a:prstGeom prst="rect">
            <a:avLst/>
          </a:prstGeom>
          <a:solidFill>
            <a:srgbClr val="F5C242"/>
          </a:solidFill>
          <a:ln w="12700">
            <a:solidFill>
              <a:srgbClr val="F5C242"/>
            </a:solidFill>
            <a:prstDash val="solid"/>
          </a:ln>
        </p:spPr>
      </p:sp>
      <p:sp>
        <p:nvSpPr>
          <p:cNvPr id="19" name="Shape 16"/>
          <p:cNvSpPr/>
          <p:nvPr/>
        </p:nvSpPr>
        <p:spPr>
          <a:xfrm>
            <a:off x="1499616" y="2176272"/>
            <a:ext cx="201168" cy="457200"/>
          </a:xfrm>
          <a:prstGeom prst="rect">
            <a:avLst/>
          </a:prstGeom>
          <a:solidFill>
            <a:srgbClr val="F5C242"/>
          </a:solidFill>
          <a:ln w="12700">
            <a:solidFill>
              <a:srgbClr val="F5C242"/>
            </a:solidFill>
            <a:prstDash val="solid"/>
          </a:ln>
        </p:spPr>
      </p:sp>
      <p:sp>
        <p:nvSpPr>
          <p:cNvPr id="20" name="Shape 17"/>
          <p:cNvSpPr/>
          <p:nvPr/>
        </p:nvSpPr>
        <p:spPr>
          <a:xfrm>
            <a:off x="1737360" y="2176272"/>
            <a:ext cx="201168" cy="457200"/>
          </a:xfrm>
          <a:prstGeom prst="rect">
            <a:avLst/>
          </a:prstGeom>
          <a:solidFill>
            <a:srgbClr val="F5C242"/>
          </a:solidFill>
          <a:ln w="12700">
            <a:solidFill>
              <a:srgbClr val="F5C242"/>
            </a:solidFill>
            <a:prstDash val="solid"/>
          </a:ln>
        </p:spPr>
      </p:sp>
      <p:sp>
        <p:nvSpPr>
          <p:cNvPr id="21" name="Shape 18"/>
          <p:cNvSpPr/>
          <p:nvPr/>
        </p:nvSpPr>
        <p:spPr>
          <a:xfrm>
            <a:off x="1975104" y="2176272"/>
            <a:ext cx="201168" cy="457200"/>
          </a:xfrm>
          <a:prstGeom prst="rect">
            <a:avLst/>
          </a:prstGeom>
          <a:solidFill>
            <a:srgbClr val="F5C242"/>
          </a:solidFill>
          <a:ln w="12700">
            <a:solidFill>
              <a:srgbClr val="F5C242"/>
            </a:solidFill>
            <a:prstDash val="solid"/>
          </a:ln>
        </p:spPr>
      </p:sp>
      <p:sp>
        <p:nvSpPr>
          <p:cNvPr id="22" name="Shape 19"/>
          <p:cNvSpPr/>
          <p:nvPr/>
        </p:nvSpPr>
        <p:spPr>
          <a:xfrm>
            <a:off x="2212848" y="2176272"/>
            <a:ext cx="201168" cy="457200"/>
          </a:xfrm>
          <a:prstGeom prst="rect">
            <a:avLst/>
          </a:prstGeom>
          <a:solidFill>
            <a:srgbClr val="F5C242"/>
          </a:solidFill>
          <a:ln w="12700">
            <a:solidFill>
              <a:srgbClr val="F5C242"/>
            </a:solidFill>
            <a:prstDash val="solid"/>
          </a:ln>
        </p:spPr>
      </p:sp>
      <p:sp>
        <p:nvSpPr>
          <p:cNvPr id="23" name="Shape 20"/>
          <p:cNvSpPr/>
          <p:nvPr/>
        </p:nvSpPr>
        <p:spPr>
          <a:xfrm>
            <a:off x="2450592" y="2176272"/>
            <a:ext cx="201168" cy="457200"/>
          </a:xfrm>
          <a:prstGeom prst="rect">
            <a:avLst/>
          </a:prstGeom>
          <a:solidFill>
            <a:srgbClr val="F5C242"/>
          </a:solidFill>
          <a:ln w="12700">
            <a:solidFill>
              <a:srgbClr val="F5C242"/>
            </a:solidFill>
            <a:prstDash val="solid"/>
          </a:ln>
        </p:spPr>
      </p:sp>
      <p:sp>
        <p:nvSpPr>
          <p:cNvPr id="24" name="Shape 21"/>
          <p:cNvSpPr/>
          <p:nvPr/>
        </p:nvSpPr>
        <p:spPr>
          <a:xfrm>
            <a:off x="2688336" y="2176272"/>
            <a:ext cx="201168" cy="457200"/>
          </a:xfrm>
          <a:prstGeom prst="rect">
            <a:avLst/>
          </a:prstGeom>
          <a:solidFill>
            <a:srgbClr val="F5C242"/>
          </a:solidFill>
          <a:ln w="12700">
            <a:solidFill>
              <a:srgbClr val="F5C242"/>
            </a:solidFill>
            <a:prstDash val="solid"/>
          </a:ln>
        </p:spPr>
      </p:sp>
      <p:sp>
        <p:nvSpPr>
          <p:cNvPr id="25" name="Shape 22"/>
          <p:cNvSpPr/>
          <p:nvPr/>
        </p:nvSpPr>
        <p:spPr>
          <a:xfrm>
            <a:off x="2926080" y="2176272"/>
            <a:ext cx="201168" cy="457200"/>
          </a:xfrm>
          <a:prstGeom prst="rect">
            <a:avLst/>
          </a:prstGeom>
          <a:solidFill>
            <a:srgbClr val="F5C242"/>
          </a:solidFill>
          <a:ln w="12700">
            <a:solidFill>
              <a:srgbClr val="F5C242"/>
            </a:solidFill>
            <a:prstDash val="solid"/>
          </a:ln>
        </p:spPr>
      </p:sp>
      <p:sp>
        <p:nvSpPr>
          <p:cNvPr id="26" name="Shape 23"/>
          <p:cNvSpPr/>
          <p:nvPr/>
        </p:nvSpPr>
        <p:spPr>
          <a:xfrm>
            <a:off x="3163824" y="2176272"/>
            <a:ext cx="201168" cy="457200"/>
          </a:xfrm>
          <a:prstGeom prst="rect">
            <a:avLst/>
          </a:prstGeom>
          <a:solidFill>
            <a:srgbClr val="F5C242"/>
          </a:solidFill>
          <a:ln w="12700">
            <a:solidFill>
              <a:srgbClr val="F5C242"/>
            </a:solidFill>
            <a:prstDash val="solid"/>
          </a:ln>
        </p:spPr>
      </p:sp>
      <p:sp>
        <p:nvSpPr>
          <p:cNvPr id="27" name="Shape 24"/>
          <p:cNvSpPr/>
          <p:nvPr/>
        </p:nvSpPr>
        <p:spPr>
          <a:xfrm>
            <a:off x="3401568" y="2176272"/>
            <a:ext cx="201168" cy="457200"/>
          </a:xfrm>
          <a:prstGeom prst="rect">
            <a:avLst/>
          </a:prstGeom>
          <a:solidFill>
            <a:srgbClr val="F5C242"/>
          </a:solidFill>
          <a:ln w="12700">
            <a:solidFill>
              <a:srgbClr val="F5C242"/>
            </a:solidFill>
            <a:prstDash val="solid"/>
          </a:ln>
        </p:spPr>
      </p:sp>
      <p:sp>
        <p:nvSpPr>
          <p:cNvPr id="28" name="Shape 25"/>
          <p:cNvSpPr/>
          <p:nvPr/>
        </p:nvSpPr>
        <p:spPr>
          <a:xfrm>
            <a:off x="3639312" y="2176272"/>
            <a:ext cx="201168" cy="457200"/>
          </a:xfrm>
          <a:prstGeom prst="rect">
            <a:avLst/>
          </a:prstGeom>
          <a:solidFill>
            <a:srgbClr val="F5C242"/>
          </a:solidFill>
          <a:ln w="12700">
            <a:solidFill>
              <a:srgbClr val="F5C242"/>
            </a:solidFill>
            <a:prstDash val="solid"/>
          </a:ln>
        </p:spPr>
      </p:sp>
      <p:sp>
        <p:nvSpPr>
          <p:cNvPr id="29" name="Shape 26"/>
          <p:cNvSpPr/>
          <p:nvPr/>
        </p:nvSpPr>
        <p:spPr>
          <a:xfrm>
            <a:off x="3877056" y="2176272"/>
            <a:ext cx="201168" cy="457200"/>
          </a:xfrm>
          <a:prstGeom prst="rect">
            <a:avLst/>
          </a:prstGeom>
          <a:solidFill>
            <a:srgbClr val="1F3A2E"/>
          </a:solidFill>
          <a:ln w="12700">
            <a:solidFill>
              <a:srgbClr val="1F3A2E"/>
            </a:solidFill>
            <a:prstDash val="solid"/>
          </a:ln>
        </p:spPr>
      </p:sp>
      <p:sp>
        <p:nvSpPr>
          <p:cNvPr id="30" name="Shape 27"/>
          <p:cNvSpPr/>
          <p:nvPr/>
        </p:nvSpPr>
        <p:spPr>
          <a:xfrm>
            <a:off x="4114800" y="2176272"/>
            <a:ext cx="201168" cy="457200"/>
          </a:xfrm>
          <a:prstGeom prst="rect">
            <a:avLst/>
          </a:prstGeom>
          <a:solidFill>
            <a:srgbClr val="F5C242"/>
          </a:solidFill>
          <a:ln w="12700">
            <a:solidFill>
              <a:srgbClr val="F5C242"/>
            </a:solidFill>
            <a:prstDash val="solid"/>
          </a:ln>
        </p:spPr>
      </p:sp>
      <p:sp>
        <p:nvSpPr>
          <p:cNvPr id="31" name="Shape 28"/>
          <p:cNvSpPr/>
          <p:nvPr/>
        </p:nvSpPr>
        <p:spPr>
          <a:xfrm>
            <a:off x="4352544" y="2176272"/>
            <a:ext cx="201168" cy="457200"/>
          </a:xfrm>
          <a:prstGeom prst="rect">
            <a:avLst/>
          </a:prstGeom>
          <a:solidFill>
            <a:srgbClr val="F5C242"/>
          </a:solidFill>
          <a:ln w="12700">
            <a:solidFill>
              <a:srgbClr val="F5C242"/>
            </a:solidFill>
            <a:prstDash val="solid"/>
          </a:ln>
        </p:spPr>
      </p:sp>
      <p:sp>
        <p:nvSpPr>
          <p:cNvPr id="32" name="Shape 29"/>
          <p:cNvSpPr/>
          <p:nvPr/>
        </p:nvSpPr>
        <p:spPr>
          <a:xfrm>
            <a:off x="4590288" y="2176272"/>
            <a:ext cx="201168" cy="457200"/>
          </a:xfrm>
          <a:prstGeom prst="rect">
            <a:avLst/>
          </a:prstGeom>
          <a:solidFill>
            <a:srgbClr val="F5C242"/>
          </a:solidFill>
          <a:ln w="12700">
            <a:solidFill>
              <a:srgbClr val="F5C242"/>
            </a:solidFill>
            <a:prstDash val="solid"/>
          </a:ln>
        </p:spPr>
      </p:sp>
      <p:sp>
        <p:nvSpPr>
          <p:cNvPr id="33" name="Shape 30"/>
          <p:cNvSpPr/>
          <p:nvPr/>
        </p:nvSpPr>
        <p:spPr>
          <a:xfrm>
            <a:off x="4828032" y="2176272"/>
            <a:ext cx="201168" cy="457200"/>
          </a:xfrm>
          <a:prstGeom prst="rect">
            <a:avLst/>
          </a:prstGeom>
          <a:solidFill>
            <a:srgbClr val="F5C242"/>
          </a:solidFill>
          <a:ln w="12700">
            <a:solidFill>
              <a:srgbClr val="F5C242"/>
            </a:solidFill>
            <a:prstDash val="solid"/>
          </a:ln>
        </p:spPr>
      </p:sp>
      <p:sp>
        <p:nvSpPr>
          <p:cNvPr id="34" name="Shape 31"/>
          <p:cNvSpPr/>
          <p:nvPr/>
        </p:nvSpPr>
        <p:spPr>
          <a:xfrm>
            <a:off x="5065776" y="2176272"/>
            <a:ext cx="201168" cy="457200"/>
          </a:xfrm>
          <a:prstGeom prst="rect">
            <a:avLst/>
          </a:prstGeom>
          <a:solidFill>
            <a:srgbClr val="F5C242"/>
          </a:solidFill>
          <a:ln w="12700">
            <a:solidFill>
              <a:srgbClr val="F5C242"/>
            </a:solidFill>
            <a:prstDash val="solid"/>
          </a:ln>
        </p:spPr>
      </p:sp>
      <p:sp>
        <p:nvSpPr>
          <p:cNvPr id="35" name="Shape 32"/>
          <p:cNvSpPr/>
          <p:nvPr/>
        </p:nvSpPr>
        <p:spPr>
          <a:xfrm>
            <a:off x="5303520" y="2176272"/>
            <a:ext cx="201168" cy="457200"/>
          </a:xfrm>
          <a:prstGeom prst="rect">
            <a:avLst/>
          </a:prstGeom>
          <a:solidFill>
            <a:srgbClr val="F5C242"/>
          </a:solidFill>
          <a:ln w="12700">
            <a:solidFill>
              <a:srgbClr val="F5C242"/>
            </a:solidFill>
            <a:prstDash val="solid"/>
          </a:ln>
        </p:spPr>
      </p:sp>
      <p:sp>
        <p:nvSpPr>
          <p:cNvPr id="36" name="Shape 33"/>
          <p:cNvSpPr/>
          <p:nvPr/>
        </p:nvSpPr>
        <p:spPr>
          <a:xfrm>
            <a:off x="5541264" y="2176272"/>
            <a:ext cx="201168" cy="457200"/>
          </a:xfrm>
          <a:prstGeom prst="rect">
            <a:avLst/>
          </a:prstGeom>
          <a:solidFill>
            <a:srgbClr val="F5C242"/>
          </a:solidFill>
          <a:ln w="12700">
            <a:solidFill>
              <a:srgbClr val="F5C242"/>
            </a:solidFill>
            <a:prstDash val="solid"/>
          </a:ln>
        </p:spPr>
      </p:sp>
      <p:sp>
        <p:nvSpPr>
          <p:cNvPr id="37" name="Shape 34"/>
          <p:cNvSpPr/>
          <p:nvPr/>
        </p:nvSpPr>
        <p:spPr>
          <a:xfrm>
            <a:off x="5779008" y="2176272"/>
            <a:ext cx="201168" cy="457200"/>
          </a:xfrm>
          <a:prstGeom prst="rect">
            <a:avLst/>
          </a:prstGeom>
          <a:solidFill>
            <a:srgbClr val="F5C242"/>
          </a:solidFill>
          <a:ln w="12700">
            <a:solidFill>
              <a:srgbClr val="F5C242"/>
            </a:solidFill>
            <a:prstDash val="solid"/>
          </a:ln>
        </p:spPr>
      </p:sp>
      <p:sp>
        <p:nvSpPr>
          <p:cNvPr id="38" name="Shape 35"/>
          <p:cNvSpPr/>
          <p:nvPr/>
        </p:nvSpPr>
        <p:spPr>
          <a:xfrm>
            <a:off x="6016752" y="2176272"/>
            <a:ext cx="201168" cy="457200"/>
          </a:xfrm>
          <a:prstGeom prst="rect">
            <a:avLst/>
          </a:prstGeom>
          <a:solidFill>
            <a:srgbClr val="F5C242"/>
          </a:solidFill>
          <a:ln w="12700">
            <a:solidFill>
              <a:srgbClr val="F5C242"/>
            </a:solidFill>
            <a:prstDash val="solid"/>
          </a:ln>
        </p:spPr>
      </p:sp>
      <p:sp>
        <p:nvSpPr>
          <p:cNvPr id="39" name="Shape 36"/>
          <p:cNvSpPr/>
          <p:nvPr/>
        </p:nvSpPr>
        <p:spPr>
          <a:xfrm>
            <a:off x="6254496" y="2176272"/>
            <a:ext cx="201168" cy="457200"/>
          </a:xfrm>
          <a:prstGeom prst="rect">
            <a:avLst/>
          </a:prstGeom>
          <a:solidFill>
            <a:srgbClr val="F5C242"/>
          </a:solidFill>
          <a:ln w="12700">
            <a:solidFill>
              <a:srgbClr val="F5C242"/>
            </a:solidFill>
            <a:prstDash val="solid"/>
          </a:ln>
        </p:spPr>
      </p:sp>
      <p:sp>
        <p:nvSpPr>
          <p:cNvPr id="40" name="Shape 37"/>
          <p:cNvSpPr/>
          <p:nvPr/>
        </p:nvSpPr>
        <p:spPr>
          <a:xfrm>
            <a:off x="6492240" y="2176272"/>
            <a:ext cx="201168" cy="457200"/>
          </a:xfrm>
          <a:prstGeom prst="rect">
            <a:avLst/>
          </a:prstGeom>
          <a:solidFill>
            <a:srgbClr val="F5C242"/>
          </a:solidFill>
          <a:ln w="12700">
            <a:solidFill>
              <a:srgbClr val="F5C242"/>
            </a:solidFill>
            <a:prstDash val="solid"/>
          </a:ln>
        </p:spPr>
      </p:sp>
      <p:sp>
        <p:nvSpPr>
          <p:cNvPr id="41" name="Shape 38"/>
          <p:cNvSpPr/>
          <p:nvPr/>
        </p:nvSpPr>
        <p:spPr>
          <a:xfrm>
            <a:off x="6729984" y="2176272"/>
            <a:ext cx="201168" cy="457200"/>
          </a:xfrm>
          <a:prstGeom prst="rect">
            <a:avLst/>
          </a:prstGeom>
          <a:solidFill>
            <a:srgbClr val="F5C242"/>
          </a:solidFill>
          <a:ln w="12700">
            <a:solidFill>
              <a:srgbClr val="F5C242"/>
            </a:solidFill>
            <a:prstDash val="solid"/>
          </a:ln>
        </p:spPr>
      </p:sp>
      <p:sp>
        <p:nvSpPr>
          <p:cNvPr id="42" name="Shape 39"/>
          <p:cNvSpPr/>
          <p:nvPr/>
        </p:nvSpPr>
        <p:spPr>
          <a:xfrm>
            <a:off x="6967728" y="2176272"/>
            <a:ext cx="201168" cy="457200"/>
          </a:xfrm>
          <a:prstGeom prst="rect">
            <a:avLst/>
          </a:prstGeom>
          <a:solidFill>
            <a:srgbClr val="F5C242"/>
          </a:solidFill>
          <a:ln w="12700">
            <a:solidFill>
              <a:srgbClr val="F5C242"/>
            </a:solidFill>
            <a:prstDash val="solid"/>
          </a:ln>
        </p:spPr>
      </p:sp>
      <p:sp>
        <p:nvSpPr>
          <p:cNvPr id="43" name="Shape 40"/>
          <p:cNvSpPr/>
          <p:nvPr/>
        </p:nvSpPr>
        <p:spPr>
          <a:xfrm>
            <a:off x="7205472" y="2176272"/>
            <a:ext cx="201168" cy="457200"/>
          </a:xfrm>
          <a:prstGeom prst="rect">
            <a:avLst/>
          </a:prstGeom>
          <a:solidFill>
            <a:srgbClr val="F5C242"/>
          </a:solidFill>
          <a:ln w="12700">
            <a:solidFill>
              <a:srgbClr val="F5C242"/>
            </a:solidFill>
            <a:prstDash val="solid"/>
          </a:ln>
        </p:spPr>
      </p:sp>
      <p:sp>
        <p:nvSpPr>
          <p:cNvPr id="44" name="Shape 41"/>
          <p:cNvSpPr/>
          <p:nvPr/>
        </p:nvSpPr>
        <p:spPr>
          <a:xfrm>
            <a:off x="7443216" y="2176272"/>
            <a:ext cx="201168" cy="457200"/>
          </a:xfrm>
          <a:prstGeom prst="rect">
            <a:avLst/>
          </a:prstGeom>
          <a:solidFill>
            <a:srgbClr val="F5C242"/>
          </a:solidFill>
          <a:ln w="12700">
            <a:solidFill>
              <a:srgbClr val="F5C242"/>
            </a:solidFill>
            <a:prstDash val="solid"/>
          </a:ln>
        </p:spPr>
      </p:sp>
      <p:sp>
        <p:nvSpPr>
          <p:cNvPr id="45" name="Text 42"/>
          <p:cNvSpPr txBox="1"/>
          <p:nvPr/>
        </p:nvSpPr>
        <p:spPr>
          <a:xfrm>
            <a:off x="7818120" y="2176272"/>
            <a:ext cx="1463040" cy="457200"/>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29 / 30 nuits éclairées</a:t>
            </a:r>
            <a:endParaRPr lang="fr-FR" sz="1400" dirty="0"/>
          </a:p>
        </p:txBody>
      </p:sp>
      <p:sp>
        <p:nvSpPr>
          <p:cNvPr id="46" name="Text 43"/>
          <p:cNvSpPr txBox="1"/>
          <p:nvPr/>
        </p:nvSpPr>
        <p:spPr>
          <a:xfrm>
            <a:off x="548640" y="3063240"/>
            <a:ext cx="2743200" cy="274320"/>
          </a:xfrm>
          <a:prstGeom prst="rect">
            <a:avLst/>
          </a:prstGeom>
          <a:noFill/>
          <a:ln/>
        </p:spPr>
        <p:txBody>
          <a:bodyPr wrap="square" lIns="0" tIns="0" rIns="0" bIns="0" rtlCol="0" anchor="t"/>
          <a:lstStyle/>
          <a:p>
            <a:pPr marL="0" indent="0">
              <a:buNone/>
            </a:pPr>
            <a:r>
              <a:rPr lang="fr-FR" sz="1200" b="1" dirty="0">
                <a:solidFill>
                  <a:srgbClr val="231F20"/>
                </a:solidFill>
                <a:latin typeface="Calibri" pitchFamily="34" charset="0"/>
                <a:ea typeface="Calibri" pitchFamily="34" charset="-122"/>
                <a:cs typeface="Calibri" pitchFamily="34" charset="-120"/>
              </a:rPr>
              <a:t>Village B · délestages</a:t>
            </a:r>
            <a:endParaRPr lang="fr-FR" sz="1200" dirty="0"/>
          </a:p>
        </p:txBody>
      </p:sp>
      <p:sp>
        <p:nvSpPr>
          <p:cNvPr id="47" name="Shape 44"/>
          <p:cNvSpPr/>
          <p:nvPr/>
        </p:nvSpPr>
        <p:spPr>
          <a:xfrm>
            <a:off x="548640" y="3410712"/>
            <a:ext cx="201168" cy="457200"/>
          </a:xfrm>
          <a:prstGeom prst="rect">
            <a:avLst/>
          </a:prstGeom>
          <a:solidFill>
            <a:srgbClr val="F5C242"/>
          </a:solidFill>
          <a:ln w="12700">
            <a:solidFill>
              <a:srgbClr val="F5C242"/>
            </a:solidFill>
            <a:prstDash val="solid"/>
          </a:ln>
        </p:spPr>
      </p:sp>
      <p:sp>
        <p:nvSpPr>
          <p:cNvPr id="48" name="Shape 45"/>
          <p:cNvSpPr/>
          <p:nvPr/>
        </p:nvSpPr>
        <p:spPr>
          <a:xfrm>
            <a:off x="786384" y="3410712"/>
            <a:ext cx="201168" cy="457200"/>
          </a:xfrm>
          <a:prstGeom prst="rect">
            <a:avLst/>
          </a:prstGeom>
          <a:solidFill>
            <a:srgbClr val="1F3A2E"/>
          </a:solidFill>
          <a:ln w="12700">
            <a:solidFill>
              <a:srgbClr val="1F3A2E"/>
            </a:solidFill>
            <a:prstDash val="solid"/>
          </a:ln>
        </p:spPr>
      </p:sp>
      <p:sp>
        <p:nvSpPr>
          <p:cNvPr id="49" name="Shape 46"/>
          <p:cNvSpPr/>
          <p:nvPr/>
        </p:nvSpPr>
        <p:spPr>
          <a:xfrm>
            <a:off x="1024128" y="3410712"/>
            <a:ext cx="201168" cy="457200"/>
          </a:xfrm>
          <a:prstGeom prst="rect">
            <a:avLst/>
          </a:prstGeom>
          <a:solidFill>
            <a:srgbClr val="F5C242"/>
          </a:solidFill>
          <a:ln w="12700">
            <a:solidFill>
              <a:srgbClr val="F5C242"/>
            </a:solidFill>
            <a:prstDash val="solid"/>
          </a:ln>
        </p:spPr>
      </p:sp>
      <p:sp>
        <p:nvSpPr>
          <p:cNvPr id="50" name="Shape 47"/>
          <p:cNvSpPr/>
          <p:nvPr/>
        </p:nvSpPr>
        <p:spPr>
          <a:xfrm>
            <a:off x="1261872" y="3410712"/>
            <a:ext cx="201168" cy="457200"/>
          </a:xfrm>
          <a:prstGeom prst="rect">
            <a:avLst/>
          </a:prstGeom>
          <a:solidFill>
            <a:srgbClr val="F5C242"/>
          </a:solidFill>
          <a:ln w="12700">
            <a:solidFill>
              <a:srgbClr val="F5C242"/>
            </a:solidFill>
            <a:prstDash val="solid"/>
          </a:ln>
        </p:spPr>
      </p:sp>
      <p:sp>
        <p:nvSpPr>
          <p:cNvPr id="51" name="Shape 48"/>
          <p:cNvSpPr/>
          <p:nvPr/>
        </p:nvSpPr>
        <p:spPr>
          <a:xfrm>
            <a:off x="1499616" y="3410712"/>
            <a:ext cx="201168" cy="457200"/>
          </a:xfrm>
          <a:prstGeom prst="rect">
            <a:avLst/>
          </a:prstGeom>
          <a:solidFill>
            <a:srgbClr val="1F3A2E"/>
          </a:solidFill>
          <a:ln w="12700">
            <a:solidFill>
              <a:srgbClr val="1F3A2E"/>
            </a:solidFill>
            <a:prstDash val="solid"/>
          </a:ln>
        </p:spPr>
      </p:sp>
      <p:sp>
        <p:nvSpPr>
          <p:cNvPr id="52" name="Shape 49"/>
          <p:cNvSpPr/>
          <p:nvPr/>
        </p:nvSpPr>
        <p:spPr>
          <a:xfrm>
            <a:off x="1737360" y="3410712"/>
            <a:ext cx="201168" cy="457200"/>
          </a:xfrm>
          <a:prstGeom prst="rect">
            <a:avLst/>
          </a:prstGeom>
          <a:solidFill>
            <a:srgbClr val="1F3A2E"/>
          </a:solidFill>
          <a:ln w="12700">
            <a:solidFill>
              <a:srgbClr val="1F3A2E"/>
            </a:solidFill>
            <a:prstDash val="solid"/>
          </a:ln>
        </p:spPr>
      </p:sp>
      <p:sp>
        <p:nvSpPr>
          <p:cNvPr id="53" name="Shape 50"/>
          <p:cNvSpPr/>
          <p:nvPr/>
        </p:nvSpPr>
        <p:spPr>
          <a:xfrm>
            <a:off x="1975104" y="3410712"/>
            <a:ext cx="201168" cy="457200"/>
          </a:xfrm>
          <a:prstGeom prst="rect">
            <a:avLst/>
          </a:prstGeom>
          <a:solidFill>
            <a:srgbClr val="F5C242"/>
          </a:solidFill>
          <a:ln w="12700">
            <a:solidFill>
              <a:srgbClr val="F5C242"/>
            </a:solidFill>
            <a:prstDash val="solid"/>
          </a:ln>
        </p:spPr>
      </p:sp>
      <p:sp>
        <p:nvSpPr>
          <p:cNvPr id="54" name="Shape 51"/>
          <p:cNvSpPr/>
          <p:nvPr/>
        </p:nvSpPr>
        <p:spPr>
          <a:xfrm>
            <a:off x="2212848" y="3410712"/>
            <a:ext cx="201168" cy="457200"/>
          </a:xfrm>
          <a:prstGeom prst="rect">
            <a:avLst/>
          </a:prstGeom>
          <a:solidFill>
            <a:srgbClr val="F5C242"/>
          </a:solidFill>
          <a:ln w="12700">
            <a:solidFill>
              <a:srgbClr val="F5C242"/>
            </a:solidFill>
            <a:prstDash val="solid"/>
          </a:ln>
        </p:spPr>
      </p:sp>
      <p:sp>
        <p:nvSpPr>
          <p:cNvPr id="55" name="Shape 52"/>
          <p:cNvSpPr/>
          <p:nvPr/>
        </p:nvSpPr>
        <p:spPr>
          <a:xfrm>
            <a:off x="2450592" y="3410712"/>
            <a:ext cx="201168" cy="457200"/>
          </a:xfrm>
          <a:prstGeom prst="rect">
            <a:avLst/>
          </a:prstGeom>
          <a:solidFill>
            <a:srgbClr val="1F3A2E"/>
          </a:solidFill>
          <a:ln w="12700">
            <a:solidFill>
              <a:srgbClr val="1F3A2E"/>
            </a:solidFill>
            <a:prstDash val="solid"/>
          </a:ln>
        </p:spPr>
      </p:sp>
      <p:sp>
        <p:nvSpPr>
          <p:cNvPr id="56" name="Shape 53"/>
          <p:cNvSpPr/>
          <p:nvPr/>
        </p:nvSpPr>
        <p:spPr>
          <a:xfrm>
            <a:off x="2688336" y="3410712"/>
            <a:ext cx="201168" cy="457200"/>
          </a:xfrm>
          <a:prstGeom prst="rect">
            <a:avLst/>
          </a:prstGeom>
          <a:solidFill>
            <a:srgbClr val="1F3A2E"/>
          </a:solidFill>
          <a:ln w="12700">
            <a:solidFill>
              <a:srgbClr val="1F3A2E"/>
            </a:solidFill>
            <a:prstDash val="solid"/>
          </a:ln>
        </p:spPr>
      </p:sp>
      <p:sp>
        <p:nvSpPr>
          <p:cNvPr id="57" name="Shape 54"/>
          <p:cNvSpPr/>
          <p:nvPr/>
        </p:nvSpPr>
        <p:spPr>
          <a:xfrm>
            <a:off x="2926080" y="3410712"/>
            <a:ext cx="201168" cy="457200"/>
          </a:xfrm>
          <a:prstGeom prst="rect">
            <a:avLst/>
          </a:prstGeom>
          <a:solidFill>
            <a:srgbClr val="F5C242"/>
          </a:solidFill>
          <a:ln w="12700">
            <a:solidFill>
              <a:srgbClr val="F5C242"/>
            </a:solidFill>
            <a:prstDash val="solid"/>
          </a:ln>
        </p:spPr>
      </p:sp>
      <p:sp>
        <p:nvSpPr>
          <p:cNvPr id="58" name="Shape 55"/>
          <p:cNvSpPr/>
          <p:nvPr/>
        </p:nvSpPr>
        <p:spPr>
          <a:xfrm>
            <a:off x="3163824" y="3410712"/>
            <a:ext cx="201168" cy="457200"/>
          </a:xfrm>
          <a:prstGeom prst="rect">
            <a:avLst/>
          </a:prstGeom>
          <a:solidFill>
            <a:srgbClr val="F5C242"/>
          </a:solidFill>
          <a:ln w="12700">
            <a:solidFill>
              <a:srgbClr val="F5C242"/>
            </a:solidFill>
            <a:prstDash val="solid"/>
          </a:ln>
        </p:spPr>
      </p:sp>
      <p:sp>
        <p:nvSpPr>
          <p:cNvPr id="59" name="Shape 56"/>
          <p:cNvSpPr/>
          <p:nvPr/>
        </p:nvSpPr>
        <p:spPr>
          <a:xfrm>
            <a:off x="3401568" y="3410712"/>
            <a:ext cx="201168" cy="457200"/>
          </a:xfrm>
          <a:prstGeom prst="rect">
            <a:avLst/>
          </a:prstGeom>
          <a:solidFill>
            <a:srgbClr val="F5C242"/>
          </a:solidFill>
          <a:ln w="12700">
            <a:solidFill>
              <a:srgbClr val="F5C242"/>
            </a:solidFill>
            <a:prstDash val="solid"/>
          </a:ln>
        </p:spPr>
      </p:sp>
      <p:sp>
        <p:nvSpPr>
          <p:cNvPr id="60" name="Shape 57"/>
          <p:cNvSpPr/>
          <p:nvPr/>
        </p:nvSpPr>
        <p:spPr>
          <a:xfrm>
            <a:off x="3639312" y="3410712"/>
            <a:ext cx="201168" cy="457200"/>
          </a:xfrm>
          <a:prstGeom prst="rect">
            <a:avLst/>
          </a:prstGeom>
          <a:solidFill>
            <a:srgbClr val="1F3A2E"/>
          </a:solidFill>
          <a:ln w="12700">
            <a:solidFill>
              <a:srgbClr val="1F3A2E"/>
            </a:solidFill>
            <a:prstDash val="solid"/>
          </a:ln>
        </p:spPr>
      </p:sp>
      <p:sp>
        <p:nvSpPr>
          <p:cNvPr id="61" name="Shape 58"/>
          <p:cNvSpPr/>
          <p:nvPr/>
        </p:nvSpPr>
        <p:spPr>
          <a:xfrm>
            <a:off x="3877056" y="3410712"/>
            <a:ext cx="201168" cy="457200"/>
          </a:xfrm>
          <a:prstGeom prst="rect">
            <a:avLst/>
          </a:prstGeom>
          <a:solidFill>
            <a:srgbClr val="F5C242"/>
          </a:solidFill>
          <a:ln w="12700">
            <a:solidFill>
              <a:srgbClr val="F5C242"/>
            </a:solidFill>
            <a:prstDash val="solid"/>
          </a:ln>
        </p:spPr>
      </p:sp>
      <p:sp>
        <p:nvSpPr>
          <p:cNvPr id="62" name="Shape 59"/>
          <p:cNvSpPr/>
          <p:nvPr/>
        </p:nvSpPr>
        <p:spPr>
          <a:xfrm>
            <a:off x="4114800" y="3410712"/>
            <a:ext cx="201168" cy="457200"/>
          </a:xfrm>
          <a:prstGeom prst="rect">
            <a:avLst/>
          </a:prstGeom>
          <a:solidFill>
            <a:srgbClr val="1F3A2E"/>
          </a:solidFill>
          <a:ln w="12700">
            <a:solidFill>
              <a:srgbClr val="1F3A2E"/>
            </a:solidFill>
            <a:prstDash val="solid"/>
          </a:ln>
        </p:spPr>
      </p:sp>
      <p:sp>
        <p:nvSpPr>
          <p:cNvPr id="63" name="Shape 60"/>
          <p:cNvSpPr/>
          <p:nvPr/>
        </p:nvSpPr>
        <p:spPr>
          <a:xfrm>
            <a:off x="4352544" y="3410712"/>
            <a:ext cx="201168" cy="457200"/>
          </a:xfrm>
          <a:prstGeom prst="rect">
            <a:avLst/>
          </a:prstGeom>
          <a:solidFill>
            <a:srgbClr val="1F3A2E"/>
          </a:solidFill>
          <a:ln w="12700">
            <a:solidFill>
              <a:srgbClr val="1F3A2E"/>
            </a:solidFill>
            <a:prstDash val="solid"/>
          </a:ln>
        </p:spPr>
      </p:sp>
      <p:sp>
        <p:nvSpPr>
          <p:cNvPr id="64" name="Shape 61"/>
          <p:cNvSpPr/>
          <p:nvPr/>
        </p:nvSpPr>
        <p:spPr>
          <a:xfrm>
            <a:off x="4590288" y="3410712"/>
            <a:ext cx="201168" cy="457200"/>
          </a:xfrm>
          <a:prstGeom prst="rect">
            <a:avLst/>
          </a:prstGeom>
          <a:solidFill>
            <a:srgbClr val="1F3A2E"/>
          </a:solidFill>
          <a:ln w="12700">
            <a:solidFill>
              <a:srgbClr val="1F3A2E"/>
            </a:solidFill>
            <a:prstDash val="solid"/>
          </a:ln>
        </p:spPr>
      </p:sp>
      <p:sp>
        <p:nvSpPr>
          <p:cNvPr id="65" name="Shape 62"/>
          <p:cNvSpPr/>
          <p:nvPr/>
        </p:nvSpPr>
        <p:spPr>
          <a:xfrm>
            <a:off x="4828032" y="3410712"/>
            <a:ext cx="201168" cy="457200"/>
          </a:xfrm>
          <a:prstGeom prst="rect">
            <a:avLst/>
          </a:prstGeom>
          <a:solidFill>
            <a:srgbClr val="F5C242"/>
          </a:solidFill>
          <a:ln w="12700">
            <a:solidFill>
              <a:srgbClr val="F5C242"/>
            </a:solidFill>
            <a:prstDash val="solid"/>
          </a:ln>
        </p:spPr>
      </p:sp>
      <p:sp>
        <p:nvSpPr>
          <p:cNvPr id="66" name="Shape 63"/>
          <p:cNvSpPr/>
          <p:nvPr/>
        </p:nvSpPr>
        <p:spPr>
          <a:xfrm>
            <a:off x="5065776" y="3410712"/>
            <a:ext cx="201168" cy="457200"/>
          </a:xfrm>
          <a:prstGeom prst="rect">
            <a:avLst/>
          </a:prstGeom>
          <a:solidFill>
            <a:srgbClr val="F5C242"/>
          </a:solidFill>
          <a:ln w="12700">
            <a:solidFill>
              <a:srgbClr val="F5C242"/>
            </a:solidFill>
            <a:prstDash val="solid"/>
          </a:ln>
        </p:spPr>
      </p:sp>
      <p:sp>
        <p:nvSpPr>
          <p:cNvPr id="67" name="Shape 64"/>
          <p:cNvSpPr/>
          <p:nvPr/>
        </p:nvSpPr>
        <p:spPr>
          <a:xfrm>
            <a:off x="5303520" y="3410712"/>
            <a:ext cx="201168" cy="457200"/>
          </a:xfrm>
          <a:prstGeom prst="rect">
            <a:avLst/>
          </a:prstGeom>
          <a:solidFill>
            <a:srgbClr val="1F3A2E"/>
          </a:solidFill>
          <a:ln w="12700">
            <a:solidFill>
              <a:srgbClr val="1F3A2E"/>
            </a:solidFill>
            <a:prstDash val="solid"/>
          </a:ln>
        </p:spPr>
      </p:sp>
      <p:sp>
        <p:nvSpPr>
          <p:cNvPr id="68" name="Shape 65"/>
          <p:cNvSpPr/>
          <p:nvPr/>
        </p:nvSpPr>
        <p:spPr>
          <a:xfrm>
            <a:off x="5541264" y="3410712"/>
            <a:ext cx="201168" cy="457200"/>
          </a:xfrm>
          <a:prstGeom prst="rect">
            <a:avLst/>
          </a:prstGeom>
          <a:solidFill>
            <a:srgbClr val="1F3A2E"/>
          </a:solidFill>
          <a:ln w="12700">
            <a:solidFill>
              <a:srgbClr val="1F3A2E"/>
            </a:solidFill>
            <a:prstDash val="solid"/>
          </a:ln>
        </p:spPr>
      </p:sp>
      <p:sp>
        <p:nvSpPr>
          <p:cNvPr id="69" name="Shape 66"/>
          <p:cNvSpPr/>
          <p:nvPr/>
        </p:nvSpPr>
        <p:spPr>
          <a:xfrm>
            <a:off x="5779008" y="3410712"/>
            <a:ext cx="201168" cy="457200"/>
          </a:xfrm>
          <a:prstGeom prst="rect">
            <a:avLst/>
          </a:prstGeom>
          <a:solidFill>
            <a:srgbClr val="F5C242"/>
          </a:solidFill>
          <a:ln w="12700">
            <a:solidFill>
              <a:srgbClr val="F5C242"/>
            </a:solidFill>
            <a:prstDash val="solid"/>
          </a:ln>
        </p:spPr>
      </p:sp>
      <p:sp>
        <p:nvSpPr>
          <p:cNvPr id="70" name="Shape 67"/>
          <p:cNvSpPr/>
          <p:nvPr/>
        </p:nvSpPr>
        <p:spPr>
          <a:xfrm>
            <a:off x="6016752" y="3410712"/>
            <a:ext cx="201168" cy="457200"/>
          </a:xfrm>
          <a:prstGeom prst="rect">
            <a:avLst/>
          </a:prstGeom>
          <a:solidFill>
            <a:srgbClr val="1F3A2E"/>
          </a:solidFill>
          <a:ln w="12700">
            <a:solidFill>
              <a:srgbClr val="1F3A2E"/>
            </a:solidFill>
            <a:prstDash val="solid"/>
          </a:ln>
        </p:spPr>
      </p:sp>
      <p:sp>
        <p:nvSpPr>
          <p:cNvPr id="71" name="Shape 68"/>
          <p:cNvSpPr/>
          <p:nvPr/>
        </p:nvSpPr>
        <p:spPr>
          <a:xfrm>
            <a:off x="6254496" y="3410712"/>
            <a:ext cx="201168" cy="457200"/>
          </a:xfrm>
          <a:prstGeom prst="rect">
            <a:avLst/>
          </a:prstGeom>
          <a:solidFill>
            <a:srgbClr val="F5C242"/>
          </a:solidFill>
          <a:ln w="12700">
            <a:solidFill>
              <a:srgbClr val="F5C242"/>
            </a:solidFill>
            <a:prstDash val="solid"/>
          </a:ln>
        </p:spPr>
      </p:sp>
      <p:sp>
        <p:nvSpPr>
          <p:cNvPr id="72" name="Shape 69"/>
          <p:cNvSpPr/>
          <p:nvPr/>
        </p:nvSpPr>
        <p:spPr>
          <a:xfrm>
            <a:off x="6492240" y="3410712"/>
            <a:ext cx="201168" cy="457200"/>
          </a:xfrm>
          <a:prstGeom prst="rect">
            <a:avLst/>
          </a:prstGeom>
          <a:solidFill>
            <a:srgbClr val="F5C242"/>
          </a:solidFill>
          <a:ln w="12700">
            <a:solidFill>
              <a:srgbClr val="F5C242"/>
            </a:solidFill>
            <a:prstDash val="solid"/>
          </a:ln>
        </p:spPr>
      </p:sp>
      <p:sp>
        <p:nvSpPr>
          <p:cNvPr id="73" name="Shape 70"/>
          <p:cNvSpPr/>
          <p:nvPr/>
        </p:nvSpPr>
        <p:spPr>
          <a:xfrm>
            <a:off x="6729984" y="3410712"/>
            <a:ext cx="201168" cy="457200"/>
          </a:xfrm>
          <a:prstGeom prst="rect">
            <a:avLst/>
          </a:prstGeom>
          <a:solidFill>
            <a:srgbClr val="1F3A2E"/>
          </a:solidFill>
          <a:ln w="12700">
            <a:solidFill>
              <a:srgbClr val="1F3A2E"/>
            </a:solidFill>
            <a:prstDash val="solid"/>
          </a:ln>
        </p:spPr>
      </p:sp>
      <p:sp>
        <p:nvSpPr>
          <p:cNvPr id="74" name="Shape 71"/>
          <p:cNvSpPr/>
          <p:nvPr/>
        </p:nvSpPr>
        <p:spPr>
          <a:xfrm>
            <a:off x="6967728" y="3410712"/>
            <a:ext cx="201168" cy="457200"/>
          </a:xfrm>
          <a:prstGeom prst="rect">
            <a:avLst/>
          </a:prstGeom>
          <a:solidFill>
            <a:srgbClr val="F5C242"/>
          </a:solidFill>
          <a:ln w="12700">
            <a:solidFill>
              <a:srgbClr val="F5C242"/>
            </a:solidFill>
            <a:prstDash val="solid"/>
          </a:ln>
        </p:spPr>
      </p:sp>
      <p:sp>
        <p:nvSpPr>
          <p:cNvPr id="75" name="Shape 72"/>
          <p:cNvSpPr/>
          <p:nvPr/>
        </p:nvSpPr>
        <p:spPr>
          <a:xfrm>
            <a:off x="7205472" y="3410712"/>
            <a:ext cx="201168" cy="457200"/>
          </a:xfrm>
          <a:prstGeom prst="rect">
            <a:avLst/>
          </a:prstGeom>
          <a:solidFill>
            <a:srgbClr val="1F3A2E"/>
          </a:solidFill>
          <a:ln w="12700">
            <a:solidFill>
              <a:srgbClr val="1F3A2E"/>
            </a:solidFill>
            <a:prstDash val="solid"/>
          </a:ln>
        </p:spPr>
      </p:sp>
      <p:sp>
        <p:nvSpPr>
          <p:cNvPr id="76" name="Shape 73"/>
          <p:cNvSpPr/>
          <p:nvPr/>
        </p:nvSpPr>
        <p:spPr>
          <a:xfrm>
            <a:off x="7443216" y="3410712"/>
            <a:ext cx="201168" cy="457200"/>
          </a:xfrm>
          <a:prstGeom prst="rect">
            <a:avLst/>
          </a:prstGeom>
          <a:solidFill>
            <a:srgbClr val="1F3A2E"/>
          </a:solidFill>
          <a:ln w="12700">
            <a:solidFill>
              <a:srgbClr val="1F3A2E"/>
            </a:solidFill>
            <a:prstDash val="solid"/>
          </a:ln>
        </p:spPr>
      </p:sp>
      <p:sp>
        <p:nvSpPr>
          <p:cNvPr id="77" name="Text 74"/>
          <p:cNvSpPr txBox="1"/>
          <p:nvPr/>
        </p:nvSpPr>
        <p:spPr>
          <a:xfrm>
            <a:off x="7818120" y="3410712"/>
            <a:ext cx="1463040" cy="457200"/>
          </a:xfrm>
          <a:prstGeom prst="rect">
            <a:avLst/>
          </a:prstGeom>
          <a:noFill/>
          <a:ln/>
        </p:spPr>
        <p:txBody>
          <a:bodyPr wrap="square" lIns="0" tIns="0" rIns="0" bIns="0" rtlCol="0" anchor="ctr"/>
          <a:lstStyle/>
          <a:p>
            <a:pPr marL="0" indent="0">
              <a:buNone/>
            </a:pPr>
            <a:r>
              <a:rPr lang="fr-FR" sz="1400" b="1" dirty="0">
                <a:solidFill>
                  <a:srgbClr val="B83B2E"/>
                </a:solidFill>
                <a:latin typeface="Calibri" pitchFamily="34" charset="0"/>
                <a:ea typeface="Calibri" pitchFamily="34" charset="-122"/>
                <a:cs typeface="Calibri" pitchFamily="34" charset="-120"/>
              </a:rPr>
              <a:t>15 / 30 nuits éclairées</a:t>
            </a:r>
            <a:endParaRPr lang="fr-FR" sz="1400" dirty="0"/>
          </a:p>
        </p:txBody>
      </p:sp>
      <p:sp>
        <p:nvSpPr>
          <p:cNvPr id="78" name="Text 75"/>
          <p:cNvSpPr txBox="1"/>
          <p:nvPr/>
        </p:nvSpPr>
        <p:spPr>
          <a:xfrm>
            <a:off x="548640" y="4343400"/>
            <a:ext cx="3657600" cy="274320"/>
          </a:xfrm>
          <a:prstGeom prst="rect">
            <a:avLst/>
          </a:prstGeom>
          <a:noFill/>
          <a:ln/>
        </p:spPr>
        <p:txBody>
          <a:bodyPr wrap="square" lIns="0" tIns="0" rIns="0" bIns="0" rtlCol="0" anchor="t"/>
          <a:lstStyle/>
          <a:p>
            <a:pPr marL="0" indent="0">
              <a:buNone/>
            </a:pPr>
            <a:r>
              <a:rPr lang="fr-FR" sz="1050" dirty="0">
                <a:solidFill>
                  <a:srgbClr val="5E6964"/>
                </a:solidFill>
                <a:latin typeface="Calibri" pitchFamily="34" charset="0"/>
                <a:ea typeface="Calibri" pitchFamily="34" charset="-122"/>
                <a:cs typeface="Calibri" pitchFamily="34" charset="-120"/>
              </a:rPr>
              <a:t>■ nuit éclairée    ■ nuit sombre</a:t>
            </a:r>
            <a:endParaRPr lang="fr-FR" sz="1050" dirty="0"/>
          </a:p>
        </p:txBody>
      </p:sp>
      <p:sp>
        <p:nvSpPr>
          <p:cNvPr id="79" name="Shape 76"/>
          <p:cNvSpPr/>
          <p:nvPr/>
        </p:nvSpPr>
        <p:spPr>
          <a:xfrm>
            <a:off x="548640" y="4709160"/>
            <a:ext cx="8732520" cy="1051560"/>
          </a:xfrm>
          <a:prstGeom prst="roundRect">
            <a:avLst>
              <a:gd name="adj" fmla="val 6957"/>
            </a:avLst>
          </a:prstGeom>
          <a:solidFill>
            <a:srgbClr val="F4F7F5"/>
          </a:solidFill>
          <a:ln w="9525">
            <a:solidFill>
              <a:srgbClr val="D5DED9"/>
            </a:solidFill>
            <a:prstDash val="solid"/>
          </a:ln>
        </p:spPr>
      </p:sp>
      <p:sp>
        <p:nvSpPr>
          <p:cNvPr id="80" name="Text 77"/>
          <p:cNvSpPr txBox="1"/>
          <p:nvPr/>
        </p:nvSpPr>
        <p:spPr>
          <a:xfrm>
            <a:off x="777240" y="4709160"/>
            <a:ext cx="8321040" cy="1051560"/>
          </a:xfrm>
          <a:prstGeom prst="rect">
            <a:avLst/>
          </a:prstGeom>
          <a:noFill/>
          <a:ln/>
        </p:spPr>
        <p:txBody>
          <a:bodyPr wrap="square" lIns="0" tIns="0" rIns="0" bIns="0" rtlCol="0" anchor="ctr"/>
          <a:lstStyle/>
          <a:p>
            <a:pPr marL="0" indent="0">
              <a:buNone/>
            </a:pPr>
            <a:r>
              <a:rPr lang="fr-FR" sz="1200" b="1" dirty="0">
                <a:solidFill>
                  <a:srgbClr val="00704A"/>
                </a:solidFill>
                <a:latin typeface="Calibri" pitchFamily="34" charset="0"/>
                <a:ea typeface="Calibri" pitchFamily="34" charset="-122"/>
                <a:cs typeface="Calibri" pitchFamily="34" charset="-120"/>
              </a:rPr>
              <a:t>Principe : </a:t>
            </a:r>
            <a:r>
              <a:rPr lang="fr-FR" sz="1200" dirty="0">
                <a:solidFill>
                  <a:srgbClr val="231F20"/>
                </a:solidFill>
                <a:latin typeface="Calibri" pitchFamily="34" charset="0"/>
                <a:ea typeface="Calibri" pitchFamily="34" charset="-122"/>
                <a:cs typeface="Calibri" pitchFamily="34" charset="-120"/>
              </a:rPr>
              <a:t>pour chaque localité, comparer la radiance de chaque nuit à un modèle statistique du fond sombre environnant. La part des nuits nettement au-dessus du fond est un proxy de fiabilité ; sa tendance montre si l’accès s’améliore.</a:t>
            </a:r>
            <a:endParaRPr lang="fr-FR" sz="1200" dirty="0"/>
          </a:p>
        </p:txBody>
      </p:sp>
      <p:sp>
        <p:nvSpPr>
          <p:cNvPr id="81" name="Shape 78"/>
          <p:cNvSpPr/>
          <p:nvPr/>
        </p:nvSpPr>
        <p:spPr>
          <a:xfrm>
            <a:off x="9555480" y="1325880"/>
            <a:ext cx="2084832" cy="4434840"/>
          </a:xfrm>
          <a:prstGeom prst="roundRect">
            <a:avLst>
              <a:gd name="adj" fmla="val 3509"/>
            </a:avLst>
          </a:prstGeom>
          <a:solidFill>
            <a:srgbClr val="00553A"/>
          </a:solidFill>
          <a:ln w="9525">
            <a:solidFill>
              <a:srgbClr val="00553A"/>
            </a:solidFill>
            <a:prstDash val="solid"/>
          </a:ln>
        </p:spPr>
      </p:sp>
      <p:sp>
        <p:nvSpPr>
          <p:cNvPr id="82" name="Text 79"/>
          <p:cNvSpPr txBox="1"/>
          <p:nvPr/>
        </p:nvSpPr>
        <p:spPr>
          <a:xfrm>
            <a:off x="9710928" y="1481328"/>
            <a:ext cx="1828800" cy="548640"/>
          </a:xfrm>
          <a:prstGeom prst="rect">
            <a:avLst/>
          </a:prstGeom>
          <a:noFill/>
          <a:ln/>
        </p:spPr>
        <p:txBody>
          <a:bodyPr wrap="square" lIns="0" tIns="0" rIns="0" bIns="0" rtlCol="0" anchor="t"/>
          <a:lstStyle/>
          <a:p>
            <a:pPr marL="0" indent="0">
              <a:buNone/>
            </a:pPr>
            <a:r>
              <a:rPr lang="fr-FR" sz="1300" b="1" dirty="0">
                <a:solidFill>
                  <a:srgbClr val="F5C242"/>
                </a:solidFill>
                <a:latin typeface="Calibri" pitchFamily="34" charset="0"/>
                <a:ea typeface="Calibri" pitchFamily="34" charset="-122"/>
                <a:cs typeface="Calibri" pitchFamily="34" charset="-120"/>
              </a:rPr>
              <a:t>Pour un institut statistique</a:t>
            </a:r>
            <a:endParaRPr lang="fr-FR" sz="1300" dirty="0"/>
          </a:p>
        </p:txBody>
      </p:sp>
      <p:sp>
        <p:nvSpPr>
          <p:cNvPr id="83" name="Text 80"/>
          <p:cNvSpPr txBox="1"/>
          <p:nvPr/>
        </p:nvSpPr>
        <p:spPr>
          <a:xfrm>
            <a:off x="9710928" y="2103120"/>
            <a:ext cx="1810512" cy="3566160"/>
          </a:xfrm>
          <a:prstGeom prst="rect">
            <a:avLst/>
          </a:prstGeom>
          <a:noFill/>
          <a:ln/>
        </p:spPr>
        <p:txBody>
          <a:bodyPr wrap="square" lIns="0" tIns="0" rIns="0" bIns="0" rtlCol="0" anchor="t"/>
          <a:lstStyle/>
          <a:p>
            <a:pPr marL="177800" indent="-177800">
              <a:spcAft>
                <a:spcPts val="800"/>
              </a:spcAft>
              <a:buSzPct val="100000"/>
              <a:buChar char="•"/>
            </a:pPr>
            <a:r>
              <a:rPr lang="fr-FR" sz="1150" dirty="0">
                <a:solidFill>
                  <a:srgbClr val="D8EEE3"/>
                </a:solidFill>
                <a:latin typeface="Calibri" pitchFamily="34" charset="0"/>
                <a:ea typeface="Calibri" pitchFamily="34" charset="-122"/>
                <a:cs typeface="Calibri" pitchFamily="34" charset="-120"/>
              </a:rPr>
              <a:t>Ajouter une colonne fiabilité à côté des taux d’accès</a:t>
            </a:r>
            <a:endParaRPr lang="fr-FR" sz="1150" dirty="0"/>
          </a:p>
          <a:p>
            <a:pPr marL="177800" indent="-177800">
              <a:spcAft>
                <a:spcPts val="800"/>
              </a:spcAft>
              <a:buSzPct val="100000"/>
              <a:buChar char="•"/>
            </a:pPr>
            <a:r>
              <a:rPr lang="fr-FR" sz="1150" dirty="0">
                <a:solidFill>
                  <a:srgbClr val="D8EEE3"/>
                </a:solidFill>
                <a:latin typeface="Calibri" pitchFamily="34" charset="0"/>
                <a:ea typeface="Calibri" pitchFamily="34" charset="-122"/>
                <a:cs typeface="Calibri" pitchFamily="34" charset="-120"/>
              </a:rPr>
              <a:t>Signaler les districts où l’accès monte mais pas les nuits éclairées</a:t>
            </a:r>
            <a:endParaRPr lang="fr-FR" sz="1150" dirty="0"/>
          </a:p>
          <a:p>
            <a:pPr marL="177800" indent="-177800">
              <a:spcAft>
                <a:spcPts val="800"/>
              </a:spcAft>
              <a:buSzPct val="100000"/>
              <a:buChar char="•"/>
            </a:pPr>
            <a:r>
              <a:rPr lang="fr-FR" sz="1150" dirty="0">
                <a:solidFill>
                  <a:srgbClr val="D8EEE3"/>
                </a:solidFill>
                <a:latin typeface="Calibri" pitchFamily="34" charset="0"/>
                <a:ea typeface="Calibri" pitchFamily="34" charset="-122"/>
                <a:cs typeface="Calibri" pitchFamily="34" charset="-120"/>
              </a:rPr>
              <a:t>Recouper avec les coupures du distributeur</a:t>
            </a:r>
            <a:endParaRPr lang="fr-FR"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APPLICATION 03</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L’urbanisation et la forme d’une ville</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45</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Même somme des lumières — deux villes très différentes (illustratif).</a:t>
            </a:r>
            <a:endParaRPr lang="fr-FR" sz="850" dirty="0"/>
          </a:p>
        </p:txBody>
      </p:sp>
      <p:sp>
        <p:nvSpPr>
          <p:cNvPr id="13" name="Shape 10"/>
          <p:cNvSpPr/>
          <p:nvPr/>
        </p:nvSpPr>
        <p:spPr>
          <a:xfrm>
            <a:off x="548640" y="1325880"/>
            <a:ext cx="2788920" cy="4297680"/>
          </a:xfrm>
          <a:prstGeom prst="roundRect">
            <a:avLst>
              <a:gd name="adj" fmla="val 2623"/>
            </a:avLst>
          </a:prstGeom>
          <a:solidFill>
            <a:srgbClr val="F4F7F5"/>
          </a:solidFill>
          <a:ln w="9525">
            <a:solidFill>
              <a:srgbClr val="D5DED9"/>
            </a:solidFill>
            <a:prstDash val="solid"/>
          </a:ln>
        </p:spPr>
      </p:sp>
      <p:sp>
        <p:nvSpPr>
          <p:cNvPr id="14" name="Text 11"/>
          <p:cNvSpPr txBox="1"/>
          <p:nvPr/>
        </p:nvSpPr>
        <p:spPr>
          <a:xfrm>
            <a:off x="548640" y="1417320"/>
            <a:ext cx="2788920" cy="365760"/>
          </a:xfrm>
          <a:prstGeom prst="rect">
            <a:avLst/>
          </a:prstGeom>
          <a:noFill/>
          <a:ln/>
        </p:spPr>
        <p:txBody>
          <a:bodyPr wrap="square" lIns="0" tIns="0" rIns="0" bIns="0" rtlCol="0" anchor="t"/>
          <a:lstStyle/>
          <a:p>
            <a:pPr marL="0" indent="0" algn="ctr">
              <a:buNone/>
            </a:pPr>
            <a:r>
              <a:rPr lang="fr-FR" sz="1500" b="1" dirty="0">
                <a:solidFill>
                  <a:srgbClr val="00704A"/>
                </a:solidFill>
                <a:latin typeface="Calibri" pitchFamily="34" charset="0"/>
                <a:ea typeface="Calibri" pitchFamily="34" charset="-122"/>
                <a:cs typeface="Calibri" pitchFamily="34" charset="-120"/>
              </a:rPr>
              <a:t>Étalement</a:t>
            </a:r>
            <a:endParaRPr lang="fr-FR" sz="1500" dirty="0"/>
          </a:p>
        </p:txBody>
      </p:sp>
      <p:sp>
        <p:nvSpPr>
          <p:cNvPr id="15" name="Text 12"/>
          <p:cNvSpPr txBox="1"/>
          <p:nvPr/>
        </p:nvSpPr>
        <p:spPr>
          <a:xfrm>
            <a:off x="731520" y="1783080"/>
            <a:ext cx="2423160" cy="45720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L’emprise s’étend en périphérie, peu intense</a:t>
            </a:r>
            <a:endParaRPr lang="fr-FR" sz="1100" dirty="0"/>
          </a:p>
        </p:txBody>
      </p:sp>
      <p:sp>
        <p:nvSpPr>
          <p:cNvPr id="16" name="Shape 13"/>
          <p:cNvSpPr/>
          <p:nvPr/>
        </p:nvSpPr>
        <p:spPr>
          <a:xfrm>
            <a:off x="800100" y="2286000"/>
            <a:ext cx="2286000" cy="2286000"/>
          </a:xfrm>
          <a:prstGeom prst="ellipse">
            <a:avLst/>
          </a:prstGeom>
          <a:solidFill>
            <a:srgbClr val="DDF0E5"/>
          </a:solidFill>
          <a:ln w="12700">
            <a:solidFill>
              <a:srgbClr val="FFFFFF"/>
            </a:solidFill>
            <a:prstDash val="solid"/>
          </a:ln>
        </p:spPr>
      </p:sp>
      <p:sp>
        <p:nvSpPr>
          <p:cNvPr id="17" name="Shape 14"/>
          <p:cNvSpPr/>
          <p:nvPr/>
        </p:nvSpPr>
        <p:spPr>
          <a:xfrm>
            <a:off x="1165860" y="2651760"/>
            <a:ext cx="1554480" cy="1554480"/>
          </a:xfrm>
          <a:prstGeom prst="ellipse">
            <a:avLst/>
          </a:prstGeom>
          <a:solidFill>
            <a:srgbClr val="A8D8BF"/>
          </a:solidFill>
          <a:ln w="12700">
            <a:solidFill>
              <a:srgbClr val="FFFFFF"/>
            </a:solidFill>
            <a:prstDash val="solid"/>
          </a:ln>
        </p:spPr>
      </p:sp>
      <p:sp>
        <p:nvSpPr>
          <p:cNvPr id="18" name="Shape 15"/>
          <p:cNvSpPr/>
          <p:nvPr/>
        </p:nvSpPr>
        <p:spPr>
          <a:xfrm>
            <a:off x="1531620" y="3017520"/>
            <a:ext cx="822960" cy="822960"/>
          </a:xfrm>
          <a:prstGeom prst="ellipse">
            <a:avLst/>
          </a:prstGeom>
          <a:solidFill>
            <a:srgbClr val="00A86A"/>
          </a:solidFill>
          <a:ln w="12700">
            <a:solidFill>
              <a:srgbClr val="FFFFFF"/>
            </a:solidFill>
            <a:prstDash val="solid"/>
          </a:ln>
        </p:spPr>
      </p:sp>
      <p:sp>
        <p:nvSpPr>
          <p:cNvPr id="19" name="Shape 16"/>
          <p:cNvSpPr/>
          <p:nvPr/>
        </p:nvSpPr>
        <p:spPr>
          <a:xfrm>
            <a:off x="777240" y="4983480"/>
            <a:ext cx="2331720" cy="384048"/>
          </a:xfrm>
          <a:prstGeom prst="roundRect">
            <a:avLst>
              <a:gd name="adj" fmla="val 50000"/>
            </a:avLst>
          </a:prstGeom>
          <a:solidFill>
            <a:srgbClr val="FFFFFF"/>
          </a:solidFill>
          <a:ln w="12700">
            <a:solidFill>
              <a:srgbClr val="FFFFFF"/>
            </a:solidFill>
            <a:prstDash val="solid"/>
          </a:ln>
        </p:spPr>
      </p:sp>
      <p:sp>
        <p:nvSpPr>
          <p:cNvPr id="20" name="Text 17"/>
          <p:cNvSpPr txBox="1"/>
          <p:nvPr/>
        </p:nvSpPr>
        <p:spPr>
          <a:xfrm>
            <a:off x="777240" y="4983480"/>
            <a:ext cx="2331720" cy="384048"/>
          </a:xfrm>
          <a:prstGeom prst="rect">
            <a:avLst/>
          </a:prstGeom>
          <a:noFill/>
          <a:ln/>
        </p:spPr>
        <p:txBody>
          <a:bodyPr wrap="square" lIns="0" tIns="0" rIns="0" bIns="0" rtlCol="0" anchor="ctr"/>
          <a:lstStyle/>
          <a:p>
            <a:pPr marL="0" indent="0" algn="ctr">
              <a:buNone/>
            </a:pPr>
            <a:r>
              <a:rPr lang="fr-FR" sz="1000" b="1" kern="0" spc="100" dirty="0">
                <a:solidFill>
                  <a:srgbClr val="00704A"/>
                </a:solidFill>
                <a:latin typeface="Calibri" pitchFamily="34" charset="0"/>
                <a:ea typeface="Calibri" pitchFamily="34" charset="-122"/>
                <a:cs typeface="Calibri" pitchFamily="34" charset="-120"/>
              </a:rPr>
              <a:t>Surface éclairée +40 %  ·  Radiance +6 %</a:t>
            </a:r>
            <a:endParaRPr lang="fr-FR" sz="1000" dirty="0"/>
          </a:p>
        </p:txBody>
      </p:sp>
      <p:sp>
        <p:nvSpPr>
          <p:cNvPr id="21" name="Shape 18"/>
          <p:cNvSpPr/>
          <p:nvPr/>
        </p:nvSpPr>
        <p:spPr>
          <a:xfrm>
            <a:off x="3474720" y="1325880"/>
            <a:ext cx="2788920" cy="4297680"/>
          </a:xfrm>
          <a:prstGeom prst="roundRect">
            <a:avLst>
              <a:gd name="adj" fmla="val 2623"/>
            </a:avLst>
          </a:prstGeom>
          <a:solidFill>
            <a:srgbClr val="F4F7F5"/>
          </a:solidFill>
          <a:ln w="9525">
            <a:solidFill>
              <a:srgbClr val="D5DED9"/>
            </a:solidFill>
            <a:prstDash val="solid"/>
          </a:ln>
        </p:spPr>
      </p:sp>
      <p:sp>
        <p:nvSpPr>
          <p:cNvPr id="22" name="Text 19"/>
          <p:cNvSpPr txBox="1"/>
          <p:nvPr/>
        </p:nvSpPr>
        <p:spPr>
          <a:xfrm>
            <a:off x="3474720" y="1417320"/>
            <a:ext cx="2788920" cy="365760"/>
          </a:xfrm>
          <a:prstGeom prst="rect">
            <a:avLst/>
          </a:prstGeom>
          <a:noFill/>
          <a:ln/>
        </p:spPr>
        <p:txBody>
          <a:bodyPr wrap="square" lIns="0" tIns="0" rIns="0" bIns="0" rtlCol="0" anchor="t"/>
          <a:lstStyle/>
          <a:p>
            <a:pPr marL="0" indent="0" algn="ctr">
              <a:buNone/>
            </a:pPr>
            <a:r>
              <a:rPr lang="fr-FR" sz="1500" b="1" dirty="0">
                <a:solidFill>
                  <a:srgbClr val="00704A"/>
                </a:solidFill>
                <a:latin typeface="Calibri" pitchFamily="34" charset="0"/>
                <a:ea typeface="Calibri" pitchFamily="34" charset="-122"/>
                <a:cs typeface="Calibri" pitchFamily="34" charset="-120"/>
              </a:rPr>
              <a:t>Densification</a:t>
            </a:r>
            <a:endParaRPr lang="fr-FR" sz="1500" dirty="0"/>
          </a:p>
        </p:txBody>
      </p:sp>
      <p:sp>
        <p:nvSpPr>
          <p:cNvPr id="23" name="Text 20"/>
          <p:cNvSpPr txBox="1"/>
          <p:nvPr/>
        </p:nvSpPr>
        <p:spPr>
          <a:xfrm>
            <a:off x="3657600" y="1783080"/>
            <a:ext cx="2423160" cy="457200"/>
          </a:xfrm>
          <a:prstGeom prst="rect">
            <a:avLst/>
          </a:prstGeom>
          <a:noFill/>
          <a:ln/>
        </p:spPr>
        <p:txBody>
          <a:bodyPr wrap="square" lIns="0" tIns="0" rIns="0" bIns="0" rtlCol="0" anchor="t"/>
          <a:lstStyle/>
          <a:p>
            <a:pPr marL="0" indent="0" algn="ctr">
              <a:buNone/>
            </a:pPr>
            <a:r>
              <a:rPr lang="fr-FR" sz="1100" dirty="0">
                <a:solidFill>
                  <a:srgbClr val="5E6964"/>
                </a:solidFill>
                <a:latin typeface="Calibri" pitchFamily="34" charset="0"/>
                <a:ea typeface="Calibri" pitchFamily="34" charset="-122"/>
                <a:cs typeface="Calibri" pitchFamily="34" charset="-120"/>
              </a:rPr>
              <a:t>La même emprise s’intensifie</a:t>
            </a:r>
            <a:endParaRPr lang="fr-FR" sz="1100" dirty="0"/>
          </a:p>
        </p:txBody>
      </p:sp>
      <p:sp>
        <p:nvSpPr>
          <p:cNvPr id="24" name="Shape 21"/>
          <p:cNvSpPr/>
          <p:nvPr/>
        </p:nvSpPr>
        <p:spPr>
          <a:xfrm>
            <a:off x="4069080" y="2628900"/>
            <a:ext cx="1600200" cy="1600200"/>
          </a:xfrm>
          <a:prstGeom prst="ellipse">
            <a:avLst/>
          </a:prstGeom>
          <a:solidFill>
            <a:srgbClr val="A8D8BF"/>
          </a:solidFill>
          <a:ln w="12700">
            <a:solidFill>
              <a:srgbClr val="FFFFFF"/>
            </a:solidFill>
            <a:prstDash val="solid"/>
          </a:ln>
        </p:spPr>
      </p:sp>
      <p:sp>
        <p:nvSpPr>
          <p:cNvPr id="25" name="Shape 22"/>
          <p:cNvSpPr/>
          <p:nvPr/>
        </p:nvSpPr>
        <p:spPr>
          <a:xfrm>
            <a:off x="4297680" y="2857500"/>
            <a:ext cx="1143000" cy="1143000"/>
          </a:xfrm>
          <a:prstGeom prst="ellipse">
            <a:avLst/>
          </a:prstGeom>
          <a:solidFill>
            <a:srgbClr val="00A86A"/>
          </a:solidFill>
          <a:ln w="12700">
            <a:solidFill>
              <a:srgbClr val="FFFFFF"/>
            </a:solidFill>
            <a:prstDash val="solid"/>
          </a:ln>
        </p:spPr>
      </p:sp>
      <p:sp>
        <p:nvSpPr>
          <p:cNvPr id="26" name="Shape 23"/>
          <p:cNvSpPr/>
          <p:nvPr/>
        </p:nvSpPr>
        <p:spPr>
          <a:xfrm>
            <a:off x="4526280" y="3086100"/>
            <a:ext cx="685800" cy="685800"/>
          </a:xfrm>
          <a:prstGeom prst="ellipse">
            <a:avLst/>
          </a:prstGeom>
          <a:solidFill>
            <a:srgbClr val="00704A"/>
          </a:solidFill>
          <a:ln w="12700">
            <a:solidFill>
              <a:srgbClr val="FFFFFF"/>
            </a:solidFill>
            <a:prstDash val="solid"/>
          </a:ln>
        </p:spPr>
      </p:sp>
      <p:sp>
        <p:nvSpPr>
          <p:cNvPr id="27" name="Shape 24"/>
          <p:cNvSpPr/>
          <p:nvPr/>
        </p:nvSpPr>
        <p:spPr>
          <a:xfrm>
            <a:off x="3703320" y="4983480"/>
            <a:ext cx="2331720" cy="384048"/>
          </a:xfrm>
          <a:prstGeom prst="roundRect">
            <a:avLst>
              <a:gd name="adj" fmla="val 50000"/>
            </a:avLst>
          </a:prstGeom>
          <a:solidFill>
            <a:srgbClr val="FFFFFF"/>
          </a:solidFill>
          <a:ln w="12700">
            <a:solidFill>
              <a:srgbClr val="FFFFFF"/>
            </a:solidFill>
            <a:prstDash val="solid"/>
          </a:ln>
        </p:spPr>
      </p:sp>
      <p:sp>
        <p:nvSpPr>
          <p:cNvPr id="28" name="Text 25"/>
          <p:cNvSpPr txBox="1"/>
          <p:nvPr/>
        </p:nvSpPr>
        <p:spPr>
          <a:xfrm>
            <a:off x="3703320" y="4983480"/>
            <a:ext cx="2331720" cy="384048"/>
          </a:xfrm>
          <a:prstGeom prst="rect">
            <a:avLst/>
          </a:prstGeom>
          <a:noFill/>
          <a:ln/>
        </p:spPr>
        <p:txBody>
          <a:bodyPr wrap="square" lIns="0" tIns="0" rIns="0" bIns="0" rtlCol="0" anchor="ctr"/>
          <a:lstStyle/>
          <a:p>
            <a:pPr marL="0" indent="0" algn="ctr">
              <a:buNone/>
            </a:pPr>
            <a:r>
              <a:rPr lang="fr-FR" sz="1000" b="1" kern="0" spc="100" dirty="0">
                <a:solidFill>
                  <a:srgbClr val="00704A"/>
                </a:solidFill>
                <a:latin typeface="Calibri" pitchFamily="34" charset="0"/>
                <a:ea typeface="Calibri" pitchFamily="34" charset="-122"/>
                <a:cs typeface="Calibri" pitchFamily="34" charset="-120"/>
              </a:rPr>
              <a:t>Surface éclairée +6 %  ·  Radiance +40 %</a:t>
            </a:r>
            <a:endParaRPr lang="fr-FR" sz="1000" dirty="0"/>
          </a:p>
        </p:txBody>
      </p:sp>
      <p:sp>
        <p:nvSpPr>
          <p:cNvPr id="29" name="Shape 26"/>
          <p:cNvSpPr/>
          <p:nvPr/>
        </p:nvSpPr>
        <p:spPr>
          <a:xfrm>
            <a:off x="6537960" y="1325880"/>
            <a:ext cx="5102352" cy="987552"/>
          </a:xfrm>
          <a:prstGeom prst="roundRect">
            <a:avLst>
              <a:gd name="adj" fmla="val 7407"/>
            </a:avLst>
          </a:prstGeom>
          <a:solidFill>
            <a:srgbClr val="F4F7F5"/>
          </a:solidFill>
          <a:ln w="9525">
            <a:solidFill>
              <a:srgbClr val="D5DED9"/>
            </a:solidFill>
            <a:prstDash val="solid"/>
          </a:ln>
        </p:spPr>
      </p:sp>
      <p:sp>
        <p:nvSpPr>
          <p:cNvPr id="30" name="Shape 27"/>
          <p:cNvSpPr/>
          <p:nvPr/>
        </p:nvSpPr>
        <p:spPr>
          <a:xfrm>
            <a:off x="6675120" y="1527048"/>
            <a:ext cx="548640" cy="548640"/>
          </a:xfrm>
          <a:prstGeom prst="ellipse">
            <a:avLst/>
          </a:prstGeom>
          <a:solidFill>
            <a:srgbClr val="E8F5EF"/>
          </a:solidFill>
          <a:ln w="12700">
            <a:solidFill>
              <a:srgbClr val="E8F5EF"/>
            </a:solidFill>
            <a:prstDash val="solid"/>
          </a:ln>
        </p:spPr>
      </p:sp>
      <p:pic>
        <p:nvPicPr>
          <p:cNvPr id="31" name="Image 1" descr="preencoded.png"/>
          <p:cNvPicPr>
            <a:picLocks noChangeAspect="1"/>
          </p:cNvPicPr>
          <p:nvPr/>
        </p:nvPicPr>
        <p:blipFill>
          <a:blip r:embed="rId4"/>
          <a:stretch>
            <a:fillRect/>
          </a:stretch>
        </p:blipFill>
        <p:spPr>
          <a:xfrm>
            <a:off x="6817766" y="1669694"/>
            <a:ext cx="263347" cy="263347"/>
          </a:xfrm>
          <a:prstGeom prst="rect">
            <a:avLst/>
          </a:prstGeom>
        </p:spPr>
      </p:pic>
      <p:sp>
        <p:nvSpPr>
          <p:cNvPr id="32" name="Text 28"/>
          <p:cNvSpPr txBox="1"/>
          <p:nvPr/>
        </p:nvSpPr>
        <p:spPr>
          <a:xfrm>
            <a:off x="7360920" y="1417320"/>
            <a:ext cx="416052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Cartographier l’emprise sans registres</a:t>
            </a:r>
            <a:endParaRPr lang="fr-FR" sz="1250" dirty="0"/>
          </a:p>
        </p:txBody>
      </p:sp>
      <p:sp>
        <p:nvSpPr>
          <p:cNvPr id="33" name="Text 29"/>
          <p:cNvSpPr txBox="1"/>
          <p:nvPr/>
        </p:nvSpPr>
        <p:spPr>
          <a:xfrm>
            <a:off x="7360920" y="1737360"/>
            <a:ext cx="4160520" cy="54864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Les lumières révèlent l’étendue du bâti là où cadastre et cartes récentes font défaut.</a:t>
            </a:r>
            <a:endParaRPr lang="fr-FR" sz="1100" dirty="0"/>
          </a:p>
        </p:txBody>
      </p:sp>
      <p:sp>
        <p:nvSpPr>
          <p:cNvPr id="34" name="Shape 30"/>
          <p:cNvSpPr/>
          <p:nvPr/>
        </p:nvSpPr>
        <p:spPr>
          <a:xfrm>
            <a:off x="6537960" y="2423160"/>
            <a:ext cx="5102352" cy="987552"/>
          </a:xfrm>
          <a:prstGeom prst="roundRect">
            <a:avLst>
              <a:gd name="adj" fmla="val 7407"/>
            </a:avLst>
          </a:prstGeom>
          <a:solidFill>
            <a:srgbClr val="F4F7F5"/>
          </a:solidFill>
          <a:ln w="9525">
            <a:solidFill>
              <a:srgbClr val="D5DED9"/>
            </a:solidFill>
            <a:prstDash val="solid"/>
          </a:ln>
        </p:spPr>
      </p:sp>
      <p:sp>
        <p:nvSpPr>
          <p:cNvPr id="35" name="Shape 31"/>
          <p:cNvSpPr/>
          <p:nvPr/>
        </p:nvSpPr>
        <p:spPr>
          <a:xfrm>
            <a:off x="6675120" y="2624328"/>
            <a:ext cx="548640" cy="548640"/>
          </a:xfrm>
          <a:prstGeom prst="ellipse">
            <a:avLst/>
          </a:prstGeom>
          <a:solidFill>
            <a:srgbClr val="E8F5EF"/>
          </a:solidFill>
          <a:ln w="12700">
            <a:solidFill>
              <a:srgbClr val="E8F5EF"/>
            </a:solidFill>
            <a:prstDash val="solid"/>
          </a:ln>
        </p:spPr>
      </p:sp>
      <p:pic>
        <p:nvPicPr>
          <p:cNvPr id="36" name="Image 2" descr="preencoded.png"/>
          <p:cNvPicPr>
            <a:picLocks noChangeAspect="1"/>
          </p:cNvPicPr>
          <p:nvPr/>
        </p:nvPicPr>
        <p:blipFill>
          <a:blip r:embed="rId5"/>
          <a:stretch>
            <a:fillRect/>
          </a:stretch>
        </p:blipFill>
        <p:spPr>
          <a:xfrm>
            <a:off x="6817766" y="2766974"/>
            <a:ext cx="263347" cy="263347"/>
          </a:xfrm>
          <a:prstGeom prst="rect">
            <a:avLst/>
          </a:prstGeom>
        </p:spPr>
      </p:pic>
      <p:sp>
        <p:nvSpPr>
          <p:cNvPr id="37" name="Text 32"/>
          <p:cNvSpPr txBox="1"/>
          <p:nvPr/>
        </p:nvSpPr>
        <p:spPr>
          <a:xfrm>
            <a:off x="7360920" y="2514600"/>
            <a:ext cx="416052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Distinguer étalement et densification</a:t>
            </a:r>
            <a:endParaRPr lang="fr-FR" sz="1250" dirty="0"/>
          </a:p>
        </p:txBody>
      </p:sp>
      <p:sp>
        <p:nvSpPr>
          <p:cNvPr id="38" name="Text 33"/>
          <p:cNvSpPr txBox="1"/>
          <p:nvPr/>
        </p:nvSpPr>
        <p:spPr>
          <a:xfrm>
            <a:off x="7360920" y="2834640"/>
            <a:ext cx="4160520" cy="54864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Comparer la croissance de la surface éclairée et de la radiance — essentiel pour transports et services.</a:t>
            </a:r>
            <a:endParaRPr lang="fr-FR" sz="1100" dirty="0"/>
          </a:p>
        </p:txBody>
      </p:sp>
      <p:sp>
        <p:nvSpPr>
          <p:cNvPr id="39" name="Shape 34"/>
          <p:cNvSpPr/>
          <p:nvPr/>
        </p:nvSpPr>
        <p:spPr>
          <a:xfrm>
            <a:off x="6537960" y="3520440"/>
            <a:ext cx="5102352" cy="987552"/>
          </a:xfrm>
          <a:prstGeom prst="roundRect">
            <a:avLst>
              <a:gd name="adj" fmla="val 7407"/>
            </a:avLst>
          </a:prstGeom>
          <a:solidFill>
            <a:srgbClr val="F4F7F5"/>
          </a:solidFill>
          <a:ln w="9525">
            <a:solidFill>
              <a:srgbClr val="D5DED9"/>
            </a:solidFill>
            <a:prstDash val="solid"/>
          </a:ln>
        </p:spPr>
      </p:sp>
      <p:sp>
        <p:nvSpPr>
          <p:cNvPr id="40" name="Shape 35"/>
          <p:cNvSpPr/>
          <p:nvPr/>
        </p:nvSpPr>
        <p:spPr>
          <a:xfrm>
            <a:off x="6675120" y="3721608"/>
            <a:ext cx="548640" cy="548640"/>
          </a:xfrm>
          <a:prstGeom prst="ellipse">
            <a:avLst/>
          </a:prstGeom>
          <a:solidFill>
            <a:srgbClr val="E8F5EF"/>
          </a:solidFill>
          <a:ln w="12700">
            <a:solidFill>
              <a:srgbClr val="E8F5EF"/>
            </a:solidFill>
            <a:prstDash val="solid"/>
          </a:ln>
        </p:spPr>
      </p:sp>
      <p:pic>
        <p:nvPicPr>
          <p:cNvPr id="41" name="Image 3" descr="preencoded.png"/>
          <p:cNvPicPr>
            <a:picLocks noChangeAspect="1"/>
          </p:cNvPicPr>
          <p:nvPr/>
        </p:nvPicPr>
        <p:blipFill>
          <a:blip r:embed="rId6"/>
          <a:stretch>
            <a:fillRect/>
          </a:stretch>
        </p:blipFill>
        <p:spPr>
          <a:xfrm>
            <a:off x="6817766" y="3864254"/>
            <a:ext cx="263347" cy="263347"/>
          </a:xfrm>
          <a:prstGeom prst="rect">
            <a:avLst/>
          </a:prstGeom>
        </p:spPr>
      </p:pic>
      <p:sp>
        <p:nvSpPr>
          <p:cNvPr id="42" name="Text 36"/>
          <p:cNvSpPr txBox="1"/>
          <p:nvPr/>
        </p:nvSpPr>
        <p:spPr>
          <a:xfrm>
            <a:off x="7360920" y="3611880"/>
            <a:ext cx="416052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Détecter tôt les villes nouvelles</a:t>
            </a:r>
            <a:endParaRPr lang="fr-FR" sz="1250" dirty="0"/>
          </a:p>
        </p:txBody>
      </p:sp>
      <p:sp>
        <p:nvSpPr>
          <p:cNvPr id="43" name="Text 37"/>
          <p:cNvSpPr txBox="1"/>
          <p:nvPr/>
        </p:nvSpPr>
        <p:spPr>
          <a:xfrm>
            <a:off x="7360920" y="3931920"/>
            <a:ext cx="4160520" cy="54864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Villes minières, zones économiques et sites de déplacés apparaissent avant la géographie officielle.</a:t>
            </a:r>
            <a:endParaRPr lang="fr-FR" sz="1100" dirty="0"/>
          </a:p>
        </p:txBody>
      </p:sp>
      <p:sp>
        <p:nvSpPr>
          <p:cNvPr id="44" name="Shape 38"/>
          <p:cNvSpPr/>
          <p:nvPr/>
        </p:nvSpPr>
        <p:spPr>
          <a:xfrm>
            <a:off x="6537960" y="4617720"/>
            <a:ext cx="5102352" cy="987552"/>
          </a:xfrm>
          <a:prstGeom prst="roundRect">
            <a:avLst>
              <a:gd name="adj" fmla="val 7407"/>
            </a:avLst>
          </a:prstGeom>
          <a:solidFill>
            <a:srgbClr val="F4F7F5"/>
          </a:solidFill>
          <a:ln w="9525">
            <a:solidFill>
              <a:srgbClr val="D5DED9"/>
            </a:solidFill>
            <a:prstDash val="solid"/>
          </a:ln>
        </p:spPr>
      </p:sp>
      <p:sp>
        <p:nvSpPr>
          <p:cNvPr id="45" name="Shape 39"/>
          <p:cNvSpPr/>
          <p:nvPr/>
        </p:nvSpPr>
        <p:spPr>
          <a:xfrm>
            <a:off x="6675120" y="4818888"/>
            <a:ext cx="548640" cy="548640"/>
          </a:xfrm>
          <a:prstGeom prst="ellipse">
            <a:avLst/>
          </a:prstGeom>
          <a:solidFill>
            <a:srgbClr val="E8F5EF"/>
          </a:solidFill>
          <a:ln w="12700">
            <a:solidFill>
              <a:srgbClr val="E8F5EF"/>
            </a:solidFill>
            <a:prstDash val="solid"/>
          </a:ln>
        </p:spPr>
      </p:sp>
      <p:pic>
        <p:nvPicPr>
          <p:cNvPr id="46" name="Image 4" descr="preencoded.png"/>
          <p:cNvPicPr>
            <a:picLocks noChangeAspect="1"/>
          </p:cNvPicPr>
          <p:nvPr/>
        </p:nvPicPr>
        <p:blipFill>
          <a:blip r:embed="rId7"/>
          <a:stretch>
            <a:fillRect/>
          </a:stretch>
        </p:blipFill>
        <p:spPr>
          <a:xfrm>
            <a:off x="6817766" y="4961534"/>
            <a:ext cx="263347" cy="263347"/>
          </a:xfrm>
          <a:prstGeom prst="rect">
            <a:avLst/>
          </a:prstGeom>
        </p:spPr>
      </p:pic>
      <p:sp>
        <p:nvSpPr>
          <p:cNvPr id="47" name="Text 40"/>
          <p:cNvSpPr txBox="1"/>
          <p:nvPr/>
        </p:nvSpPr>
        <p:spPr>
          <a:xfrm>
            <a:off x="7360920" y="4709160"/>
            <a:ext cx="416052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Associer aux grilles de population</a:t>
            </a:r>
            <a:endParaRPr lang="fr-FR" sz="1250" dirty="0"/>
          </a:p>
        </p:txBody>
      </p:sp>
      <p:sp>
        <p:nvSpPr>
          <p:cNvPr id="48" name="Text 41"/>
          <p:cNvSpPr txBox="1"/>
          <p:nvPr/>
        </p:nvSpPr>
        <p:spPr>
          <a:xfrm>
            <a:off x="7360920" y="5029200"/>
            <a:ext cx="4160520" cy="54864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Grilles du recensement ou du bâti — un pixel lumineux n’est pas une personne.</a:t>
            </a:r>
            <a:endParaRPr lang="fr-FR"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CHANGEMENTS SUR DONNÉES RÉELLES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Où la lumière a-t-elle progressé ? Ghana, 2020 – 2025</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IMAGERIE RÉELLE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46</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Source : variation NASA Black Marble VNP46A3 2020–2025, produite avec BlackMarblePy (Banque mondiale, licence MIT) ; fond de carte © contributeurs OpenStreetMap © CARTO.</a:t>
            </a:r>
            <a:endParaRPr lang="fr-FR" sz="850" dirty="0"/>
          </a:p>
        </p:txBody>
      </p:sp>
      <p:sp>
        <p:nvSpPr>
          <p:cNvPr id="13" name="Shape 10"/>
          <p:cNvSpPr/>
          <p:nvPr/>
        </p:nvSpPr>
        <p:spPr>
          <a:xfrm>
            <a:off x="548640" y="1316736"/>
            <a:ext cx="3719688" cy="4544568"/>
          </a:xfrm>
          <a:prstGeom prst="roundRect">
            <a:avLst>
              <a:gd name="adj" fmla="val 1967"/>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4" name="Image 1" descr="/home/claude/build/img/real/gha_change.png"/>
          <p:cNvPicPr>
            <a:picLocks noChangeAspect="1"/>
          </p:cNvPicPr>
          <p:nvPr/>
        </p:nvPicPr>
        <p:blipFill>
          <a:blip r:embed="rId4"/>
          <a:stretch>
            <a:fillRect/>
          </a:stretch>
        </p:blipFill>
        <p:spPr>
          <a:xfrm>
            <a:off x="603504" y="1371600"/>
            <a:ext cx="3609960" cy="4434840"/>
          </a:xfrm>
          <a:prstGeom prst="rect">
            <a:avLst/>
          </a:prstGeom>
        </p:spPr>
      </p:pic>
      <p:sp>
        <p:nvSpPr>
          <p:cNvPr id="15" name="Shape 11"/>
          <p:cNvSpPr/>
          <p:nvPr/>
        </p:nvSpPr>
        <p:spPr>
          <a:xfrm>
            <a:off x="4526280" y="1325880"/>
            <a:ext cx="7114032" cy="1005840"/>
          </a:xfrm>
          <a:prstGeom prst="roundRect">
            <a:avLst>
              <a:gd name="adj" fmla="val 7273"/>
            </a:avLst>
          </a:prstGeom>
          <a:solidFill>
            <a:srgbClr val="F4F7F5"/>
          </a:solidFill>
          <a:ln w="9525">
            <a:solidFill>
              <a:srgbClr val="D5DED9"/>
            </a:solidFill>
            <a:prstDash val="solid"/>
          </a:ln>
        </p:spPr>
      </p:sp>
      <p:sp>
        <p:nvSpPr>
          <p:cNvPr id="16" name="Shape 12"/>
          <p:cNvSpPr/>
          <p:nvPr/>
        </p:nvSpPr>
        <p:spPr>
          <a:xfrm>
            <a:off x="4663440" y="1463040"/>
            <a:ext cx="457200" cy="457200"/>
          </a:xfrm>
          <a:prstGeom prst="ellipse">
            <a:avLst/>
          </a:prstGeom>
          <a:solidFill>
            <a:srgbClr val="00704A"/>
          </a:solidFill>
          <a:ln w="12700">
            <a:solidFill>
              <a:srgbClr val="00704A"/>
            </a:solidFill>
            <a:prstDash val="solid"/>
          </a:ln>
        </p:spPr>
      </p:sp>
      <p:pic>
        <p:nvPicPr>
          <p:cNvPr id="17" name="Image 2" descr="preencoded.png"/>
          <p:cNvPicPr>
            <a:picLocks noChangeAspect="1"/>
          </p:cNvPicPr>
          <p:nvPr/>
        </p:nvPicPr>
        <p:blipFill>
          <a:blip r:embed="rId5"/>
          <a:stretch>
            <a:fillRect/>
          </a:stretch>
        </p:blipFill>
        <p:spPr>
          <a:xfrm>
            <a:off x="4782312" y="1581912"/>
            <a:ext cx="219456" cy="219456"/>
          </a:xfrm>
          <a:prstGeom prst="rect">
            <a:avLst/>
          </a:prstGeom>
        </p:spPr>
      </p:pic>
      <p:sp>
        <p:nvSpPr>
          <p:cNvPr id="18" name="Text 13"/>
          <p:cNvSpPr txBox="1"/>
          <p:nvPr/>
        </p:nvSpPr>
        <p:spPr>
          <a:xfrm>
            <a:off x="5257800" y="1417320"/>
            <a:ext cx="624535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Les franges urbaines s’allument</a:t>
            </a:r>
            <a:endParaRPr lang="fr-FR" sz="1250" dirty="0"/>
          </a:p>
        </p:txBody>
      </p:sp>
      <p:sp>
        <p:nvSpPr>
          <p:cNvPr id="19" name="Text 14"/>
          <p:cNvSpPr txBox="1"/>
          <p:nvPr/>
        </p:nvSpPr>
        <p:spPr>
          <a:xfrm>
            <a:off x="5257800" y="1719072"/>
            <a:ext cx="6245352" cy="54864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Les plus fortes hausses entourent Accra et Kumasi — expansion en périphérie, pas seulement des centres.</a:t>
            </a:r>
            <a:endParaRPr lang="fr-FR" sz="1100" dirty="0"/>
          </a:p>
        </p:txBody>
      </p:sp>
      <p:sp>
        <p:nvSpPr>
          <p:cNvPr id="20" name="Shape 15"/>
          <p:cNvSpPr/>
          <p:nvPr/>
        </p:nvSpPr>
        <p:spPr>
          <a:xfrm>
            <a:off x="4526280" y="2441448"/>
            <a:ext cx="7114032" cy="1005840"/>
          </a:xfrm>
          <a:prstGeom prst="roundRect">
            <a:avLst>
              <a:gd name="adj" fmla="val 7273"/>
            </a:avLst>
          </a:prstGeom>
          <a:solidFill>
            <a:srgbClr val="F4F7F5"/>
          </a:solidFill>
          <a:ln w="9525">
            <a:solidFill>
              <a:srgbClr val="D5DED9"/>
            </a:solidFill>
            <a:prstDash val="solid"/>
          </a:ln>
        </p:spPr>
      </p:sp>
      <p:sp>
        <p:nvSpPr>
          <p:cNvPr id="21" name="Shape 16"/>
          <p:cNvSpPr/>
          <p:nvPr/>
        </p:nvSpPr>
        <p:spPr>
          <a:xfrm>
            <a:off x="4663440" y="2578608"/>
            <a:ext cx="457200" cy="457200"/>
          </a:xfrm>
          <a:prstGeom prst="ellipse">
            <a:avLst/>
          </a:prstGeom>
          <a:solidFill>
            <a:srgbClr val="00704A"/>
          </a:solidFill>
          <a:ln w="12700">
            <a:solidFill>
              <a:srgbClr val="00704A"/>
            </a:solidFill>
            <a:prstDash val="solid"/>
          </a:ln>
        </p:spPr>
      </p:sp>
      <p:pic>
        <p:nvPicPr>
          <p:cNvPr id="22" name="Image 3" descr="preencoded.png"/>
          <p:cNvPicPr>
            <a:picLocks noChangeAspect="1"/>
          </p:cNvPicPr>
          <p:nvPr/>
        </p:nvPicPr>
        <p:blipFill>
          <a:blip r:embed="rId6"/>
          <a:stretch>
            <a:fillRect/>
          </a:stretch>
        </p:blipFill>
        <p:spPr>
          <a:xfrm>
            <a:off x="4782312" y="2697480"/>
            <a:ext cx="219456" cy="219456"/>
          </a:xfrm>
          <a:prstGeom prst="rect">
            <a:avLst/>
          </a:prstGeom>
        </p:spPr>
      </p:pic>
      <p:sp>
        <p:nvSpPr>
          <p:cNvPr id="23" name="Text 17"/>
          <p:cNvSpPr txBox="1"/>
          <p:nvPr/>
        </p:nvSpPr>
        <p:spPr>
          <a:xfrm>
            <a:off x="5257800" y="2532888"/>
            <a:ext cx="624535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Les corridors se densifient</a:t>
            </a:r>
            <a:endParaRPr lang="fr-FR" sz="1250" dirty="0"/>
          </a:p>
        </p:txBody>
      </p:sp>
      <p:sp>
        <p:nvSpPr>
          <p:cNvPr id="24" name="Text 18"/>
          <p:cNvSpPr txBox="1"/>
          <p:nvPr/>
        </p:nvSpPr>
        <p:spPr>
          <a:xfrm>
            <a:off x="5257800" y="2834640"/>
            <a:ext cx="6245352" cy="54864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Nouvelle lumière le long des routes reliant les grandes villes : le réseau de localités se densifie.</a:t>
            </a:r>
            <a:endParaRPr lang="fr-FR" sz="1100" dirty="0"/>
          </a:p>
        </p:txBody>
      </p:sp>
      <p:sp>
        <p:nvSpPr>
          <p:cNvPr id="25" name="Shape 19"/>
          <p:cNvSpPr/>
          <p:nvPr/>
        </p:nvSpPr>
        <p:spPr>
          <a:xfrm>
            <a:off x="4526280" y="3557016"/>
            <a:ext cx="7114032" cy="1005840"/>
          </a:xfrm>
          <a:prstGeom prst="roundRect">
            <a:avLst>
              <a:gd name="adj" fmla="val 7273"/>
            </a:avLst>
          </a:prstGeom>
          <a:solidFill>
            <a:srgbClr val="F4F7F5"/>
          </a:solidFill>
          <a:ln w="9525">
            <a:solidFill>
              <a:srgbClr val="D5DED9"/>
            </a:solidFill>
            <a:prstDash val="solid"/>
          </a:ln>
        </p:spPr>
      </p:sp>
      <p:sp>
        <p:nvSpPr>
          <p:cNvPr id="26" name="Shape 20"/>
          <p:cNvSpPr/>
          <p:nvPr/>
        </p:nvSpPr>
        <p:spPr>
          <a:xfrm>
            <a:off x="4663440" y="3694176"/>
            <a:ext cx="457200" cy="457200"/>
          </a:xfrm>
          <a:prstGeom prst="ellipse">
            <a:avLst/>
          </a:prstGeom>
          <a:solidFill>
            <a:srgbClr val="00704A"/>
          </a:solidFill>
          <a:ln w="12700">
            <a:solidFill>
              <a:srgbClr val="00704A"/>
            </a:solidFill>
            <a:prstDash val="solid"/>
          </a:ln>
        </p:spPr>
      </p:sp>
      <p:pic>
        <p:nvPicPr>
          <p:cNvPr id="27" name="Image 4" descr="preencoded.png"/>
          <p:cNvPicPr>
            <a:picLocks noChangeAspect="1"/>
          </p:cNvPicPr>
          <p:nvPr/>
        </p:nvPicPr>
        <p:blipFill>
          <a:blip r:embed="rId7"/>
          <a:stretch>
            <a:fillRect/>
          </a:stretch>
        </p:blipFill>
        <p:spPr>
          <a:xfrm>
            <a:off x="4782312" y="3813048"/>
            <a:ext cx="219456" cy="219456"/>
          </a:xfrm>
          <a:prstGeom prst="rect">
            <a:avLst/>
          </a:prstGeom>
        </p:spPr>
      </p:pic>
      <p:sp>
        <p:nvSpPr>
          <p:cNvPr id="28" name="Text 21"/>
          <p:cNvSpPr txBox="1"/>
          <p:nvPr/>
        </p:nvSpPr>
        <p:spPr>
          <a:xfrm>
            <a:off x="5257800" y="3648456"/>
            <a:ext cx="624535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Nouvelles lumières au nord</a:t>
            </a:r>
            <a:endParaRPr lang="fr-FR" sz="1250" dirty="0"/>
          </a:p>
        </p:txBody>
      </p:sp>
      <p:sp>
        <p:nvSpPr>
          <p:cNvPr id="29" name="Text 22"/>
          <p:cNvSpPr txBox="1"/>
          <p:nvPr/>
        </p:nvSpPr>
        <p:spPr>
          <a:xfrm>
            <a:off x="5257800" y="3950208"/>
            <a:ext cx="6245352" cy="54864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Petits points nouveaux dans les régions du nord : gains d’électrification probables à vérifier sur le terrain.</a:t>
            </a:r>
            <a:endParaRPr lang="fr-FR" sz="1100" dirty="0"/>
          </a:p>
        </p:txBody>
      </p:sp>
      <p:sp>
        <p:nvSpPr>
          <p:cNvPr id="30" name="Shape 23"/>
          <p:cNvSpPr/>
          <p:nvPr/>
        </p:nvSpPr>
        <p:spPr>
          <a:xfrm>
            <a:off x="4526280" y="4672584"/>
            <a:ext cx="7114032" cy="1005840"/>
          </a:xfrm>
          <a:prstGeom prst="roundRect">
            <a:avLst>
              <a:gd name="adj" fmla="val 7273"/>
            </a:avLst>
          </a:prstGeom>
          <a:solidFill>
            <a:srgbClr val="FDF5DC"/>
          </a:solidFill>
          <a:ln w="9525">
            <a:solidFill>
              <a:srgbClr val="FDF5DC"/>
            </a:solidFill>
            <a:prstDash val="solid"/>
          </a:ln>
        </p:spPr>
      </p:sp>
      <p:sp>
        <p:nvSpPr>
          <p:cNvPr id="31" name="Shape 24"/>
          <p:cNvSpPr/>
          <p:nvPr/>
        </p:nvSpPr>
        <p:spPr>
          <a:xfrm>
            <a:off x="4663440" y="4809744"/>
            <a:ext cx="457200" cy="457200"/>
          </a:xfrm>
          <a:prstGeom prst="ellipse">
            <a:avLst/>
          </a:prstGeom>
          <a:solidFill>
            <a:srgbClr val="F5C242"/>
          </a:solidFill>
          <a:ln w="12700">
            <a:solidFill>
              <a:srgbClr val="F5C242"/>
            </a:solidFill>
            <a:prstDash val="solid"/>
          </a:ln>
        </p:spPr>
      </p:sp>
      <p:pic>
        <p:nvPicPr>
          <p:cNvPr id="32" name="Image 5" descr="preencoded.png"/>
          <p:cNvPicPr>
            <a:picLocks noChangeAspect="1"/>
          </p:cNvPicPr>
          <p:nvPr/>
        </p:nvPicPr>
        <p:blipFill>
          <a:blip r:embed="rId8"/>
          <a:stretch>
            <a:fillRect/>
          </a:stretch>
        </p:blipFill>
        <p:spPr>
          <a:xfrm>
            <a:off x="4782312" y="4928616"/>
            <a:ext cx="219456" cy="219456"/>
          </a:xfrm>
          <a:prstGeom prst="rect">
            <a:avLst/>
          </a:prstGeom>
        </p:spPr>
      </p:pic>
      <p:sp>
        <p:nvSpPr>
          <p:cNvPr id="33" name="Text 25"/>
          <p:cNvSpPr txBox="1"/>
          <p:nvPr/>
        </p:nvSpPr>
        <p:spPr>
          <a:xfrm>
            <a:off x="5257800" y="4764024"/>
            <a:ext cx="6245352"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À tester dans le labo B</a:t>
            </a:r>
            <a:endParaRPr lang="fr-FR" sz="1250" dirty="0"/>
          </a:p>
        </p:txBody>
      </p:sp>
      <p:sp>
        <p:nvSpPr>
          <p:cNvPr id="34" name="Text 26"/>
          <p:cNvSpPr txBox="1"/>
          <p:nvPr/>
        </p:nvSpPr>
        <p:spPr>
          <a:xfrm>
            <a:off x="5257800" y="5065776"/>
            <a:ext cx="6245352" cy="54864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Comparer l’évolution régionale au recensement ou au distributeur — les régions les plus éclairées croissent-elles plus vite ?</a:t>
            </a:r>
            <a:endParaRPr lang="fr-FR"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COMBINER LES SOURCES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Les lumières sont plus fortes combinées à d’autres grilles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47</a:t>
            </a:r>
            <a:endParaRPr lang="fr-FR" sz="900" dirty="0"/>
          </a:p>
        </p:txBody>
      </p:sp>
      <p:sp>
        <p:nvSpPr>
          <p:cNvPr id="12" name="Shape 9"/>
          <p:cNvSpPr/>
          <p:nvPr/>
        </p:nvSpPr>
        <p:spPr>
          <a:xfrm>
            <a:off x="548640" y="1371600"/>
            <a:ext cx="5468112" cy="2029968"/>
          </a:xfrm>
          <a:prstGeom prst="roundRect">
            <a:avLst>
              <a:gd name="adj" fmla="val 3604"/>
            </a:avLst>
          </a:prstGeom>
          <a:solidFill>
            <a:srgbClr val="F4F7F5"/>
          </a:solidFill>
          <a:ln w="9525">
            <a:solidFill>
              <a:srgbClr val="D5DED9"/>
            </a:solidFill>
            <a:prstDash val="solid"/>
          </a:ln>
        </p:spPr>
      </p:sp>
      <p:sp>
        <p:nvSpPr>
          <p:cNvPr id="13" name="Shape 10"/>
          <p:cNvSpPr/>
          <p:nvPr/>
        </p:nvSpPr>
        <p:spPr>
          <a:xfrm>
            <a:off x="749808" y="1572768"/>
            <a:ext cx="594360" cy="59436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904342" y="1727302"/>
            <a:ext cx="285293" cy="285293"/>
          </a:xfrm>
          <a:prstGeom prst="rect">
            <a:avLst/>
          </a:prstGeom>
        </p:spPr>
      </p:pic>
      <p:sp>
        <p:nvSpPr>
          <p:cNvPr id="15" name="Text 11"/>
          <p:cNvSpPr txBox="1"/>
          <p:nvPr/>
        </p:nvSpPr>
        <p:spPr>
          <a:xfrm>
            <a:off x="1508760" y="1536192"/>
            <a:ext cx="27432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Lumières × bâti</a:t>
            </a:r>
            <a:endParaRPr lang="fr-FR" sz="1500" dirty="0"/>
          </a:p>
        </p:txBody>
      </p:sp>
      <p:sp>
        <p:nvSpPr>
          <p:cNvPr id="16" name="Text 12"/>
          <p:cNvSpPr txBox="1"/>
          <p:nvPr/>
        </p:nvSpPr>
        <p:spPr>
          <a:xfrm>
            <a:off x="1508760" y="1874520"/>
            <a:ext cx="4297680" cy="320040"/>
          </a:xfrm>
          <a:prstGeom prst="rect">
            <a:avLst/>
          </a:prstGeom>
          <a:noFill/>
          <a:ln/>
        </p:spPr>
        <p:txBody>
          <a:bodyPr wrap="square" lIns="0" tIns="0" rIns="0" bIns="0" rtlCol="0" anchor="t"/>
          <a:lstStyle/>
          <a:p>
            <a:pPr marL="0" indent="0">
              <a:buNone/>
            </a:pPr>
            <a:r>
              <a:rPr lang="fr-FR" sz="1050" i="1" dirty="0">
                <a:solidFill>
                  <a:srgbClr val="5E6964"/>
                </a:solidFill>
                <a:latin typeface="Calibri" pitchFamily="34" charset="0"/>
                <a:ea typeface="Calibri" pitchFamily="34" charset="-122"/>
                <a:cs typeface="Calibri" pitchFamily="34" charset="-120"/>
              </a:rPr>
              <a:t>GHSL, World Settlement Footprint, Google Open Buildings</a:t>
            </a:r>
            <a:endParaRPr lang="fr-FR" sz="1050" dirty="0"/>
          </a:p>
        </p:txBody>
      </p:sp>
      <p:sp>
        <p:nvSpPr>
          <p:cNvPr id="17" name="Shape 13"/>
          <p:cNvSpPr/>
          <p:nvPr/>
        </p:nvSpPr>
        <p:spPr>
          <a:xfrm>
            <a:off x="4206240" y="1572768"/>
            <a:ext cx="1645920" cy="256032"/>
          </a:xfrm>
          <a:prstGeom prst="roundRect">
            <a:avLst>
              <a:gd name="adj" fmla="val 50000"/>
            </a:avLst>
          </a:prstGeom>
          <a:solidFill>
            <a:srgbClr val="F5C242"/>
          </a:solidFill>
          <a:ln w="12700">
            <a:solidFill>
              <a:srgbClr val="F5C242"/>
            </a:solidFill>
            <a:prstDash val="solid"/>
          </a:ln>
        </p:spPr>
      </p:sp>
      <p:sp>
        <p:nvSpPr>
          <p:cNvPr id="18" name="Text 14"/>
          <p:cNvSpPr txBox="1"/>
          <p:nvPr/>
        </p:nvSpPr>
        <p:spPr>
          <a:xfrm>
            <a:off x="4206240" y="1572768"/>
            <a:ext cx="164592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Grilles de bâti</a:t>
            </a:r>
            <a:endParaRPr lang="fr-FR" sz="850" dirty="0"/>
          </a:p>
        </p:txBody>
      </p:sp>
      <p:sp>
        <p:nvSpPr>
          <p:cNvPr id="19" name="Text 15"/>
          <p:cNvSpPr txBox="1"/>
          <p:nvPr/>
        </p:nvSpPr>
        <p:spPr>
          <a:xfrm>
            <a:off x="749808" y="2331720"/>
            <a:ext cx="5074920" cy="960120"/>
          </a:xfrm>
          <a:prstGeom prst="rect">
            <a:avLst/>
          </a:prstGeom>
          <a:noFill/>
          <a:ln/>
        </p:spPr>
        <p:txBody>
          <a:bodyPr wrap="square" lIns="0" tIns="0" rIns="0" bIns="0" rtlCol="0" anchor="t"/>
          <a:lstStyle/>
          <a:p>
            <a:pPr marL="0" indent="0">
              <a:buNone/>
            </a:pPr>
            <a:r>
              <a:rPr lang="fr-FR" sz="1350" dirty="0">
                <a:solidFill>
                  <a:srgbClr val="231F20"/>
                </a:solidFill>
                <a:latin typeface="Calibri" pitchFamily="34" charset="0"/>
                <a:ea typeface="Calibri" pitchFamily="34" charset="-122"/>
                <a:cs typeface="Calibri" pitchFamily="34" charset="-120"/>
              </a:rPr>
              <a:t>Bâti mais sombre = localités probablement non électrifiées ou abandonnées. Éclairé mais non bâti = torchères, feux, pêche, routes.</a:t>
            </a:r>
            <a:endParaRPr lang="fr-FR" sz="1350" dirty="0"/>
          </a:p>
        </p:txBody>
      </p:sp>
      <p:sp>
        <p:nvSpPr>
          <p:cNvPr id="20" name="Shape 16"/>
          <p:cNvSpPr/>
          <p:nvPr/>
        </p:nvSpPr>
        <p:spPr>
          <a:xfrm>
            <a:off x="6172200" y="1371600"/>
            <a:ext cx="5468112" cy="2029968"/>
          </a:xfrm>
          <a:prstGeom prst="roundRect">
            <a:avLst>
              <a:gd name="adj" fmla="val 3604"/>
            </a:avLst>
          </a:prstGeom>
          <a:solidFill>
            <a:srgbClr val="F4F7F5"/>
          </a:solidFill>
          <a:ln w="9525">
            <a:solidFill>
              <a:srgbClr val="D5DED9"/>
            </a:solidFill>
            <a:prstDash val="solid"/>
          </a:ln>
        </p:spPr>
      </p:sp>
      <p:sp>
        <p:nvSpPr>
          <p:cNvPr id="21" name="Shape 17"/>
          <p:cNvSpPr/>
          <p:nvPr/>
        </p:nvSpPr>
        <p:spPr>
          <a:xfrm>
            <a:off x="6373368" y="1572768"/>
            <a:ext cx="594360" cy="594360"/>
          </a:xfrm>
          <a:prstGeom prst="ellipse">
            <a:avLst/>
          </a:prstGeom>
          <a:solidFill>
            <a:srgbClr val="00704A"/>
          </a:solidFill>
          <a:ln w="12700">
            <a:solidFill>
              <a:srgbClr val="00704A"/>
            </a:solidFill>
            <a:prstDash val="solid"/>
          </a:ln>
        </p:spPr>
      </p:sp>
      <p:pic>
        <p:nvPicPr>
          <p:cNvPr id="22" name="Image 2" descr="preencoded.png"/>
          <p:cNvPicPr>
            <a:picLocks noChangeAspect="1"/>
          </p:cNvPicPr>
          <p:nvPr/>
        </p:nvPicPr>
        <p:blipFill>
          <a:blip r:embed="rId5"/>
          <a:stretch>
            <a:fillRect/>
          </a:stretch>
        </p:blipFill>
        <p:spPr>
          <a:xfrm>
            <a:off x="6527902" y="1727302"/>
            <a:ext cx="285293" cy="285293"/>
          </a:xfrm>
          <a:prstGeom prst="rect">
            <a:avLst/>
          </a:prstGeom>
        </p:spPr>
      </p:pic>
      <p:sp>
        <p:nvSpPr>
          <p:cNvPr id="23" name="Text 18"/>
          <p:cNvSpPr txBox="1"/>
          <p:nvPr/>
        </p:nvSpPr>
        <p:spPr>
          <a:xfrm>
            <a:off x="7132320" y="1536192"/>
            <a:ext cx="27432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Lumières × terres cultivées</a:t>
            </a:r>
            <a:endParaRPr lang="fr-FR" sz="1500" dirty="0"/>
          </a:p>
        </p:txBody>
      </p:sp>
      <p:sp>
        <p:nvSpPr>
          <p:cNvPr id="24" name="Text 19"/>
          <p:cNvSpPr txBox="1"/>
          <p:nvPr/>
        </p:nvSpPr>
        <p:spPr>
          <a:xfrm>
            <a:off x="7132320" y="1874520"/>
            <a:ext cx="4297680" cy="320040"/>
          </a:xfrm>
          <a:prstGeom prst="rect">
            <a:avLst/>
          </a:prstGeom>
          <a:noFill/>
          <a:ln/>
        </p:spPr>
        <p:txBody>
          <a:bodyPr wrap="square" lIns="0" tIns="0" rIns="0" bIns="0" rtlCol="0" anchor="t"/>
          <a:lstStyle/>
          <a:p>
            <a:pPr marL="0" indent="0">
              <a:buNone/>
            </a:pPr>
            <a:r>
              <a:rPr lang="fr-FR" sz="1050" i="1" dirty="0">
                <a:solidFill>
                  <a:srgbClr val="5E6964"/>
                </a:solidFill>
                <a:latin typeface="Calibri" pitchFamily="34" charset="0"/>
                <a:ea typeface="Calibri" pitchFamily="34" charset="-122"/>
                <a:cs typeface="Calibri" pitchFamily="34" charset="-120"/>
              </a:rPr>
              <a:t>Masques et cartes des types de cultures</a:t>
            </a:r>
            <a:endParaRPr lang="fr-FR" sz="1050" dirty="0"/>
          </a:p>
        </p:txBody>
      </p:sp>
      <p:sp>
        <p:nvSpPr>
          <p:cNvPr id="25" name="Shape 20"/>
          <p:cNvSpPr/>
          <p:nvPr/>
        </p:nvSpPr>
        <p:spPr>
          <a:xfrm>
            <a:off x="9829800" y="1572768"/>
            <a:ext cx="1645920" cy="256032"/>
          </a:xfrm>
          <a:prstGeom prst="roundRect">
            <a:avLst>
              <a:gd name="adj" fmla="val 50000"/>
            </a:avLst>
          </a:prstGeom>
          <a:solidFill>
            <a:srgbClr val="F5C242"/>
          </a:solidFill>
          <a:ln w="12700">
            <a:solidFill>
              <a:srgbClr val="F5C242"/>
            </a:solidFill>
            <a:prstDash val="solid"/>
          </a:ln>
        </p:spPr>
      </p:sp>
      <p:sp>
        <p:nvSpPr>
          <p:cNvPr id="26" name="Text 21"/>
          <p:cNvSpPr txBox="1"/>
          <p:nvPr/>
        </p:nvSpPr>
        <p:spPr>
          <a:xfrm>
            <a:off x="9829800" y="1572768"/>
            <a:ext cx="164592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Cartes des cultures</a:t>
            </a:r>
            <a:endParaRPr lang="fr-FR" sz="850" dirty="0"/>
          </a:p>
        </p:txBody>
      </p:sp>
      <p:sp>
        <p:nvSpPr>
          <p:cNvPr id="27" name="Text 22"/>
          <p:cNvSpPr txBox="1"/>
          <p:nvPr/>
        </p:nvSpPr>
        <p:spPr>
          <a:xfrm>
            <a:off x="6373368" y="2331720"/>
            <a:ext cx="5074920" cy="960120"/>
          </a:xfrm>
          <a:prstGeom prst="rect">
            <a:avLst/>
          </a:prstGeom>
          <a:noFill/>
          <a:ln/>
        </p:spPr>
        <p:txBody>
          <a:bodyPr wrap="square" lIns="0" tIns="0" rIns="0" bIns="0" rtlCol="0" anchor="t"/>
          <a:lstStyle/>
          <a:p>
            <a:pPr marL="0" indent="0">
              <a:buNone/>
            </a:pPr>
            <a:r>
              <a:rPr lang="fr-FR" sz="1350" dirty="0">
                <a:solidFill>
                  <a:srgbClr val="231F20"/>
                </a:solidFill>
                <a:latin typeface="Calibri" pitchFamily="34" charset="0"/>
                <a:ea typeface="Calibri" pitchFamily="34" charset="-122"/>
                <a:cs typeface="Calibri" pitchFamily="34" charset="-120"/>
              </a:rPr>
              <a:t>Explique le faible lien lumières–PIB des régions agricoles ; sépare agriculture et activité urbaine.</a:t>
            </a:r>
            <a:endParaRPr lang="fr-FR" sz="1350" dirty="0"/>
          </a:p>
        </p:txBody>
      </p:sp>
      <p:sp>
        <p:nvSpPr>
          <p:cNvPr id="28" name="Shape 23"/>
          <p:cNvSpPr/>
          <p:nvPr/>
        </p:nvSpPr>
        <p:spPr>
          <a:xfrm>
            <a:off x="548640" y="3566160"/>
            <a:ext cx="5468112" cy="2029968"/>
          </a:xfrm>
          <a:prstGeom prst="roundRect">
            <a:avLst>
              <a:gd name="adj" fmla="val 3604"/>
            </a:avLst>
          </a:prstGeom>
          <a:solidFill>
            <a:srgbClr val="F4F7F5"/>
          </a:solidFill>
          <a:ln w="9525">
            <a:solidFill>
              <a:srgbClr val="D5DED9"/>
            </a:solidFill>
            <a:prstDash val="solid"/>
          </a:ln>
        </p:spPr>
      </p:sp>
      <p:sp>
        <p:nvSpPr>
          <p:cNvPr id="29" name="Shape 24"/>
          <p:cNvSpPr/>
          <p:nvPr/>
        </p:nvSpPr>
        <p:spPr>
          <a:xfrm>
            <a:off x="749808" y="3767328"/>
            <a:ext cx="594360" cy="594360"/>
          </a:xfrm>
          <a:prstGeom prst="ellipse">
            <a:avLst/>
          </a:prstGeom>
          <a:solidFill>
            <a:srgbClr val="00704A"/>
          </a:solidFill>
          <a:ln w="12700">
            <a:solidFill>
              <a:srgbClr val="00704A"/>
            </a:solidFill>
            <a:prstDash val="solid"/>
          </a:ln>
        </p:spPr>
      </p:sp>
      <p:pic>
        <p:nvPicPr>
          <p:cNvPr id="30" name="Image 3" descr="preencoded.png"/>
          <p:cNvPicPr>
            <a:picLocks noChangeAspect="1"/>
          </p:cNvPicPr>
          <p:nvPr/>
        </p:nvPicPr>
        <p:blipFill>
          <a:blip r:embed="rId6"/>
          <a:stretch>
            <a:fillRect/>
          </a:stretch>
        </p:blipFill>
        <p:spPr>
          <a:xfrm>
            <a:off x="904342" y="3921862"/>
            <a:ext cx="285293" cy="285293"/>
          </a:xfrm>
          <a:prstGeom prst="rect">
            <a:avLst/>
          </a:prstGeom>
        </p:spPr>
      </p:pic>
      <p:sp>
        <p:nvSpPr>
          <p:cNvPr id="31" name="Text 25"/>
          <p:cNvSpPr txBox="1"/>
          <p:nvPr/>
        </p:nvSpPr>
        <p:spPr>
          <a:xfrm>
            <a:off x="1508760" y="3730752"/>
            <a:ext cx="27432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Lumières × population</a:t>
            </a:r>
            <a:endParaRPr lang="fr-FR" sz="1500" dirty="0"/>
          </a:p>
        </p:txBody>
      </p:sp>
      <p:sp>
        <p:nvSpPr>
          <p:cNvPr id="32" name="Text 26"/>
          <p:cNvSpPr txBox="1"/>
          <p:nvPr/>
        </p:nvSpPr>
        <p:spPr>
          <a:xfrm>
            <a:off x="1508760" y="4069080"/>
            <a:ext cx="4297680" cy="320040"/>
          </a:xfrm>
          <a:prstGeom prst="rect">
            <a:avLst/>
          </a:prstGeom>
          <a:noFill/>
          <a:ln/>
        </p:spPr>
        <p:txBody>
          <a:bodyPr wrap="square" lIns="0" tIns="0" rIns="0" bIns="0" rtlCol="0" anchor="t"/>
          <a:lstStyle/>
          <a:p>
            <a:pPr marL="0" indent="0">
              <a:buNone/>
            </a:pPr>
            <a:r>
              <a:rPr lang="fr-FR" sz="1050" i="1" dirty="0">
                <a:solidFill>
                  <a:srgbClr val="5E6964"/>
                </a:solidFill>
                <a:latin typeface="Calibri" pitchFamily="34" charset="0"/>
                <a:ea typeface="Calibri" pitchFamily="34" charset="-122"/>
                <a:cs typeface="Calibri" pitchFamily="34" charset="-120"/>
              </a:rPr>
              <a:t>Grilles du recensement ; WorldPop avec prudence</a:t>
            </a:r>
            <a:endParaRPr lang="fr-FR" sz="1050" dirty="0"/>
          </a:p>
        </p:txBody>
      </p:sp>
      <p:sp>
        <p:nvSpPr>
          <p:cNvPr id="33" name="Shape 27"/>
          <p:cNvSpPr/>
          <p:nvPr/>
        </p:nvSpPr>
        <p:spPr>
          <a:xfrm>
            <a:off x="4206240" y="3767328"/>
            <a:ext cx="1645920" cy="256032"/>
          </a:xfrm>
          <a:prstGeom prst="roundRect">
            <a:avLst>
              <a:gd name="adj" fmla="val 50000"/>
            </a:avLst>
          </a:prstGeom>
          <a:solidFill>
            <a:srgbClr val="F5C242"/>
          </a:solidFill>
          <a:ln w="12700">
            <a:solidFill>
              <a:srgbClr val="F5C242"/>
            </a:solidFill>
            <a:prstDash val="solid"/>
          </a:ln>
        </p:spPr>
      </p:sp>
      <p:sp>
        <p:nvSpPr>
          <p:cNvPr id="34" name="Text 28"/>
          <p:cNvSpPr txBox="1"/>
          <p:nvPr/>
        </p:nvSpPr>
        <p:spPr>
          <a:xfrm>
            <a:off x="4206240" y="3767328"/>
            <a:ext cx="164592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Diapositive validation</a:t>
            </a:r>
            <a:endParaRPr lang="fr-FR" sz="850" dirty="0"/>
          </a:p>
        </p:txBody>
      </p:sp>
      <p:sp>
        <p:nvSpPr>
          <p:cNvPr id="35" name="Text 29"/>
          <p:cNvSpPr txBox="1"/>
          <p:nvPr/>
        </p:nvSpPr>
        <p:spPr>
          <a:xfrm>
            <a:off x="749808" y="4526280"/>
            <a:ext cx="5074920" cy="960120"/>
          </a:xfrm>
          <a:prstGeom prst="rect">
            <a:avLst/>
          </a:prstGeom>
          <a:noFill/>
          <a:ln/>
        </p:spPr>
        <p:txBody>
          <a:bodyPr wrap="square" lIns="0" tIns="0" rIns="0" bIns="0" rtlCol="0" anchor="t"/>
          <a:lstStyle/>
          <a:p>
            <a:pPr marL="0" indent="0">
              <a:buNone/>
            </a:pPr>
            <a:r>
              <a:rPr lang="fr-FR" sz="1350" dirty="0">
                <a:solidFill>
                  <a:srgbClr val="231F20"/>
                </a:solidFill>
                <a:latin typeface="Calibri" pitchFamily="34" charset="0"/>
                <a:ea typeface="Calibri" pitchFamily="34" charset="-122"/>
                <a:cs typeface="Calibri" pitchFamily="34" charset="-120"/>
              </a:rPr>
              <a:t>Lumière par habitant, population non éclairée. Circularité : WorldPop utilise les NTL comme covariable.</a:t>
            </a:r>
            <a:endParaRPr lang="fr-FR" sz="1350" dirty="0"/>
          </a:p>
        </p:txBody>
      </p:sp>
      <p:sp>
        <p:nvSpPr>
          <p:cNvPr id="36" name="Shape 30"/>
          <p:cNvSpPr/>
          <p:nvPr/>
        </p:nvSpPr>
        <p:spPr>
          <a:xfrm>
            <a:off x="6172200" y="3566160"/>
            <a:ext cx="5468112" cy="2029968"/>
          </a:xfrm>
          <a:prstGeom prst="roundRect">
            <a:avLst>
              <a:gd name="adj" fmla="val 3604"/>
            </a:avLst>
          </a:prstGeom>
          <a:solidFill>
            <a:srgbClr val="F4F7F5"/>
          </a:solidFill>
          <a:ln w="9525">
            <a:solidFill>
              <a:srgbClr val="D5DED9"/>
            </a:solidFill>
            <a:prstDash val="solid"/>
          </a:ln>
        </p:spPr>
      </p:sp>
      <p:sp>
        <p:nvSpPr>
          <p:cNvPr id="37" name="Shape 31"/>
          <p:cNvSpPr/>
          <p:nvPr/>
        </p:nvSpPr>
        <p:spPr>
          <a:xfrm>
            <a:off x="6373368" y="3767328"/>
            <a:ext cx="594360" cy="594360"/>
          </a:xfrm>
          <a:prstGeom prst="ellipse">
            <a:avLst/>
          </a:prstGeom>
          <a:solidFill>
            <a:srgbClr val="00704A"/>
          </a:solidFill>
          <a:ln w="12700">
            <a:solidFill>
              <a:srgbClr val="00704A"/>
            </a:solidFill>
            <a:prstDash val="solid"/>
          </a:ln>
        </p:spPr>
      </p:sp>
      <p:pic>
        <p:nvPicPr>
          <p:cNvPr id="38" name="Image 4" descr="preencoded.png"/>
          <p:cNvPicPr>
            <a:picLocks noChangeAspect="1"/>
          </p:cNvPicPr>
          <p:nvPr/>
        </p:nvPicPr>
        <p:blipFill>
          <a:blip r:embed="rId7"/>
          <a:stretch>
            <a:fillRect/>
          </a:stretch>
        </p:blipFill>
        <p:spPr>
          <a:xfrm>
            <a:off x="6527902" y="3921862"/>
            <a:ext cx="285293" cy="285293"/>
          </a:xfrm>
          <a:prstGeom prst="rect">
            <a:avLst/>
          </a:prstGeom>
        </p:spPr>
      </p:pic>
      <p:sp>
        <p:nvSpPr>
          <p:cNvPr id="39" name="Text 32"/>
          <p:cNvSpPr txBox="1"/>
          <p:nvPr/>
        </p:nvSpPr>
        <p:spPr>
          <a:xfrm>
            <a:off x="7132320" y="3730752"/>
            <a:ext cx="27432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Lumières × réseaux</a:t>
            </a:r>
            <a:endParaRPr lang="fr-FR" sz="1500" dirty="0"/>
          </a:p>
        </p:txBody>
      </p:sp>
      <p:sp>
        <p:nvSpPr>
          <p:cNvPr id="40" name="Text 33"/>
          <p:cNvSpPr txBox="1"/>
          <p:nvPr/>
        </p:nvSpPr>
        <p:spPr>
          <a:xfrm>
            <a:off x="7132320" y="4069080"/>
            <a:ext cx="4297680" cy="320040"/>
          </a:xfrm>
          <a:prstGeom prst="rect">
            <a:avLst/>
          </a:prstGeom>
          <a:noFill/>
          <a:ln/>
        </p:spPr>
        <p:txBody>
          <a:bodyPr wrap="square" lIns="0" tIns="0" rIns="0" bIns="0" rtlCol="0" anchor="t"/>
          <a:lstStyle/>
          <a:p>
            <a:pPr marL="0" indent="0">
              <a:buNone/>
            </a:pPr>
            <a:r>
              <a:rPr lang="fr-FR" sz="1050" i="1" dirty="0">
                <a:solidFill>
                  <a:srgbClr val="5E6964"/>
                </a:solidFill>
                <a:latin typeface="Calibri" pitchFamily="34" charset="0"/>
                <a:ea typeface="Calibri" pitchFamily="34" charset="-122"/>
                <a:cs typeface="Calibri" pitchFamily="34" charset="-120"/>
              </a:rPr>
              <a:t>Routes, ports, lignes électriques, mines</a:t>
            </a:r>
            <a:endParaRPr lang="fr-FR" sz="1050" dirty="0"/>
          </a:p>
        </p:txBody>
      </p:sp>
      <p:sp>
        <p:nvSpPr>
          <p:cNvPr id="41" name="Shape 34"/>
          <p:cNvSpPr/>
          <p:nvPr/>
        </p:nvSpPr>
        <p:spPr>
          <a:xfrm>
            <a:off x="9829800" y="3767328"/>
            <a:ext cx="1645920" cy="256032"/>
          </a:xfrm>
          <a:prstGeom prst="roundRect">
            <a:avLst>
              <a:gd name="adj" fmla="val 50000"/>
            </a:avLst>
          </a:prstGeom>
          <a:solidFill>
            <a:srgbClr val="F5C242"/>
          </a:solidFill>
          <a:ln w="12700">
            <a:solidFill>
              <a:srgbClr val="F5C242"/>
            </a:solidFill>
            <a:prstDash val="solid"/>
          </a:ln>
        </p:spPr>
      </p:sp>
      <p:sp>
        <p:nvSpPr>
          <p:cNvPr id="42" name="Text 35"/>
          <p:cNvSpPr txBox="1"/>
          <p:nvPr/>
        </p:nvSpPr>
        <p:spPr>
          <a:xfrm>
            <a:off x="9829800" y="3767328"/>
            <a:ext cx="164592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Commerce et ports</a:t>
            </a:r>
            <a:endParaRPr lang="fr-FR" sz="850" dirty="0"/>
          </a:p>
        </p:txBody>
      </p:sp>
      <p:sp>
        <p:nvSpPr>
          <p:cNvPr id="43" name="Text 36"/>
          <p:cNvSpPr txBox="1"/>
          <p:nvPr/>
        </p:nvSpPr>
        <p:spPr>
          <a:xfrm>
            <a:off x="6373368" y="4526280"/>
            <a:ext cx="5074920" cy="960120"/>
          </a:xfrm>
          <a:prstGeom prst="rect">
            <a:avLst/>
          </a:prstGeom>
          <a:noFill/>
          <a:ln/>
        </p:spPr>
        <p:txBody>
          <a:bodyPr wrap="square" lIns="0" tIns="0" rIns="0" bIns="0" rtlCol="0" anchor="t"/>
          <a:lstStyle/>
          <a:p>
            <a:pPr marL="0" indent="0">
              <a:buNone/>
            </a:pPr>
            <a:r>
              <a:rPr lang="fr-FR" sz="1350" dirty="0">
                <a:solidFill>
                  <a:srgbClr val="231F20"/>
                </a:solidFill>
                <a:latin typeface="Calibri" pitchFamily="34" charset="0"/>
                <a:ea typeface="Calibri" pitchFamily="34" charset="-122"/>
                <a:cs typeface="Calibri" pitchFamily="34" charset="-120"/>
              </a:rPr>
              <a:t>Distingue corridors et enclaves des localités ; appuie l’analyse du commerce et des infrastructures.</a:t>
            </a:r>
            <a:endParaRPr lang="fr-FR"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APPLICATION 04</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Quand les lumières s’éteignent : conflits et catastrophes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48</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Sources : Payne Institute / EOG (sept. 2024) ; UNOSAT (juin 2023) ; Li &amp; Li (2014) IJRS 35(18) ; Román et al. (2019) PLOS ONE 14(6).</a:t>
            </a:r>
            <a:endParaRPr lang="fr-FR" sz="850" dirty="0"/>
          </a:p>
        </p:txBody>
      </p:sp>
      <p:sp>
        <p:nvSpPr>
          <p:cNvPr id="13" name="Shape 10"/>
          <p:cNvSpPr/>
          <p:nvPr/>
        </p:nvSpPr>
        <p:spPr>
          <a:xfrm>
            <a:off x="548640" y="1371600"/>
            <a:ext cx="3593592" cy="2423160"/>
          </a:xfrm>
          <a:prstGeom prst="roundRect">
            <a:avLst>
              <a:gd name="adj" fmla="val 3019"/>
            </a:avLst>
          </a:prstGeom>
          <a:solidFill>
            <a:srgbClr val="FBE9E7"/>
          </a:solidFill>
          <a:ln w="9525">
            <a:solidFill>
              <a:srgbClr val="F0C6C2"/>
            </a:solidFill>
            <a:prstDash val="solid"/>
          </a:ln>
        </p:spPr>
      </p:sp>
      <p:sp>
        <p:nvSpPr>
          <p:cNvPr id="14" name="Shape 11"/>
          <p:cNvSpPr/>
          <p:nvPr/>
        </p:nvSpPr>
        <p:spPr>
          <a:xfrm>
            <a:off x="749808" y="1554480"/>
            <a:ext cx="548640" cy="548640"/>
          </a:xfrm>
          <a:prstGeom prst="ellipse">
            <a:avLst/>
          </a:prstGeom>
          <a:solidFill>
            <a:srgbClr val="FFFFFF"/>
          </a:solidFill>
          <a:ln w="12700">
            <a:solidFill>
              <a:srgbClr val="FFFFFF"/>
            </a:solidFill>
            <a:prstDash val="solid"/>
          </a:ln>
        </p:spPr>
      </p:sp>
      <p:pic>
        <p:nvPicPr>
          <p:cNvPr id="15" name="Image 1" descr="preencoded.png"/>
          <p:cNvPicPr>
            <a:picLocks noChangeAspect="1"/>
          </p:cNvPicPr>
          <p:nvPr/>
        </p:nvPicPr>
        <p:blipFill>
          <a:blip r:embed="rId4"/>
          <a:stretch>
            <a:fillRect/>
          </a:stretch>
        </p:blipFill>
        <p:spPr>
          <a:xfrm>
            <a:off x="892454" y="1697126"/>
            <a:ext cx="263347" cy="263347"/>
          </a:xfrm>
          <a:prstGeom prst="rect">
            <a:avLst/>
          </a:prstGeom>
        </p:spPr>
      </p:pic>
      <p:sp>
        <p:nvSpPr>
          <p:cNvPr id="16" name="Text 12"/>
          <p:cNvSpPr txBox="1"/>
          <p:nvPr/>
        </p:nvSpPr>
        <p:spPr>
          <a:xfrm>
            <a:off x="1417320" y="1554480"/>
            <a:ext cx="260604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Conflit · Soudan, 2023</a:t>
            </a:r>
            <a:endParaRPr lang="fr-FR" sz="1350" dirty="0"/>
          </a:p>
        </p:txBody>
      </p:sp>
      <p:sp>
        <p:nvSpPr>
          <p:cNvPr id="17" name="Text 13"/>
          <p:cNvSpPr txBox="1"/>
          <p:nvPr/>
        </p:nvSpPr>
        <p:spPr>
          <a:xfrm>
            <a:off x="749808" y="2240280"/>
            <a:ext cx="3200400" cy="146304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Après le début des combats à Khartoum en avril 2023, la lumière de la capitale est tombée au niveau du bruit dès mai (EOG). L’UNOSAT a cartographié les coupures par NTL en juin 2023.</a:t>
            </a:r>
            <a:endParaRPr lang="fr-FR" sz="1250" dirty="0"/>
          </a:p>
        </p:txBody>
      </p:sp>
      <p:sp>
        <p:nvSpPr>
          <p:cNvPr id="18" name="Shape 14"/>
          <p:cNvSpPr/>
          <p:nvPr/>
        </p:nvSpPr>
        <p:spPr>
          <a:xfrm>
            <a:off x="4297680" y="1371600"/>
            <a:ext cx="3593592" cy="2423160"/>
          </a:xfrm>
          <a:prstGeom prst="roundRect">
            <a:avLst>
              <a:gd name="adj" fmla="val 3019"/>
            </a:avLst>
          </a:prstGeom>
          <a:solidFill>
            <a:srgbClr val="FBE9E7"/>
          </a:solidFill>
          <a:ln w="9525">
            <a:solidFill>
              <a:srgbClr val="F0C6C2"/>
            </a:solidFill>
            <a:prstDash val="solid"/>
          </a:ln>
        </p:spPr>
      </p:sp>
      <p:sp>
        <p:nvSpPr>
          <p:cNvPr id="19" name="Shape 15"/>
          <p:cNvSpPr/>
          <p:nvPr/>
        </p:nvSpPr>
        <p:spPr>
          <a:xfrm>
            <a:off x="4498848" y="1554480"/>
            <a:ext cx="548640" cy="548640"/>
          </a:xfrm>
          <a:prstGeom prst="ellipse">
            <a:avLst/>
          </a:prstGeom>
          <a:solidFill>
            <a:srgbClr val="FFFFFF"/>
          </a:solidFill>
          <a:ln w="12700">
            <a:solidFill>
              <a:srgbClr val="FFFFFF"/>
            </a:solidFill>
            <a:prstDash val="solid"/>
          </a:ln>
        </p:spPr>
      </p:sp>
      <p:pic>
        <p:nvPicPr>
          <p:cNvPr id="20" name="Image 2" descr="preencoded.png"/>
          <p:cNvPicPr>
            <a:picLocks noChangeAspect="1"/>
          </p:cNvPicPr>
          <p:nvPr/>
        </p:nvPicPr>
        <p:blipFill>
          <a:blip r:embed="rId5"/>
          <a:stretch>
            <a:fillRect/>
          </a:stretch>
        </p:blipFill>
        <p:spPr>
          <a:xfrm>
            <a:off x="4641494" y="1697126"/>
            <a:ext cx="263347" cy="263347"/>
          </a:xfrm>
          <a:prstGeom prst="rect">
            <a:avLst/>
          </a:prstGeom>
        </p:spPr>
      </p:pic>
      <p:sp>
        <p:nvSpPr>
          <p:cNvPr id="21" name="Text 16"/>
          <p:cNvSpPr txBox="1"/>
          <p:nvPr/>
        </p:nvSpPr>
        <p:spPr>
          <a:xfrm>
            <a:off x="5166360" y="1554480"/>
            <a:ext cx="260604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Conflit · Syrie, 2011–2014</a:t>
            </a:r>
            <a:endParaRPr lang="fr-FR" sz="1350" dirty="0"/>
          </a:p>
        </p:txBody>
      </p:sp>
      <p:sp>
        <p:nvSpPr>
          <p:cNvPr id="22" name="Text 17"/>
          <p:cNvSpPr txBox="1"/>
          <p:nvPr/>
        </p:nvSpPr>
        <p:spPr>
          <a:xfrm>
            <a:off x="4498848" y="2240280"/>
            <a:ext cx="3200400" cy="146304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Li &amp; Li (2014) ont mesuré une perte de plus de 70 % de la lumière nocturne nationale, suivant les déplacements province par province.</a:t>
            </a:r>
            <a:endParaRPr lang="fr-FR" sz="1250" dirty="0"/>
          </a:p>
        </p:txBody>
      </p:sp>
      <p:sp>
        <p:nvSpPr>
          <p:cNvPr id="23" name="Shape 18"/>
          <p:cNvSpPr/>
          <p:nvPr/>
        </p:nvSpPr>
        <p:spPr>
          <a:xfrm>
            <a:off x="8046720" y="1371600"/>
            <a:ext cx="3593592" cy="2423160"/>
          </a:xfrm>
          <a:prstGeom prst="roundRect">
            <a:avLst>
              <a:gd name="adj" fmla="val 3019"/>
            </a:avLst>
          </a:prstGeom>
          <a:solidFill>
            <a:srgbClr val="FBE9E7"/>
          </a:solidFill>
          <a:ln w="9525">
            <a:solidFill>
              <a:srgbClr val="F0C6C2"/>
            </a:solidFill>
            <a:prstDash val="solid"/>
          </a:ln>
        </p:spPr>
      </p:sp>
      <p:sp>
        <p:nvSpPr>
          <p:cNvPr id="24" name="Shape 19"/>
          <p:cNvSpPr/>
          <p:nvPr/>
        </p:nvSpPr>
        <p:spPr>
          <a:xfrm>
            <a:off x="8247888" y="1554480"/>
            <a:ext cx="548640" cy="548640"/>
          </a:xfrm>
          <a:prstGeom prst="ellipse">
            <a:avLst/>
          </a:prstGeom>
          <a:solidFill>
            <a:srgbClr val="FFFFFF"/>
          </a:solidFill>
          <a:ln w="12700">
            <a:solidFill>
              <a:srgbClr val="FFFFFF"/>
            </a:solidFill>
            <a:prstDash val="solid"/>
          </a:ln>
        </p:spPr>
      </p:sp>
      <p:pic>
        <p:nvPicPr>
          <p:cNvPr id="25" name="Image 3" descr="preencoded.png"/>
          <p:cNvPicPr>
            <a:picLocks noChangeAspect="1"/>
          </p:cNvPicPr>
          <p:nvPr/>
        </p:nvPicPr>
        <p:blipFill>
          <a:blip r:embed="rId6"/>
          <a:stretch>
            <a:fillRect/>
          </a:stretch>
        </p:blipFill>
        <p:spPr>
          <a:xfrm>
            <a:off x="8390534" y="1697126"/>
            <a:ext cx="263347" cy="263347"/>
          </a:xfrm>
          <a:prstGeom prst="rect">
            <a:avLst/>
          </a:prstGeom>
        </p:spPr>
      </p:pic>
      <p:sp>
        <p:nvSpPr>
          <p:cNvPr id="26" name="Text 20"/>
          <p:cNvSpPr txBox="1"/>
          <p:nvPr/>
        </p:nvSpPr>
        <p:spPr>
          <a:xfrm>
            <a:off x="8915400" y="1554480"/>
            <a:ext cx="2606040" cy="548640"/>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Catastrophe · Porto Rico, 2017</a:t>
            </a:r>
            <a:endParaRPr lang="fr-FR" sz="1350" dirty="0"/>
          </a:p>
        </p:txBody>
      </p:sp>
      <p:sp>
        <p:nvSpPr>
          <p:cNvPr id="27" name="Text 21"/>
          <p:cNvSpPr txBox="1"/>
          <p:nvPr/>
        </p:nvSpPr>
        <p:spPr>
          <a:xfrm>
            <a:off x="8247888" y="2240280"/>
            <a:ext cx="3200400" cy="1463040"/>
          </a:xfrm>
          <a:prstGeom prst="rect">
            <a:avLst/>
          </a:prstGeom>
          <a:noFill/>
          <a:ln/>
        </p:spPr>
        <p:txBody>
          <a:bodyPr wrap="square" lIns="0" tIns="0" rIns="0" bIns="0" rtlCol="0" anchor="t"/>
          <a:lstStyle/>
          <a:p>
            <a:pPr marL="0" indent="0">
              <a:buNone/>
            </a:pPr>
            <a:r>
              <a:rPr lang="fr-FR" sz="1250" dirty="0">
                <a:solidFill>
                  <a:srgbClr val="231F20"/>
                </a:solidFill>
                <a:latin typeface="Calibri" pitchFamily="34" charset="0"/>
                <a:ea typeface="Calibri" pitchFamily="34" charset="-122"/>
                <a:cs typeface="Calibri" pitchFamily="34" charset="-120"/>
              </a:rPr>
              <a:t>Après l’ouragan Maria, les données quotidiennes NASA Black Marble ont cartographié la panne et suivi le rétablissement quartier par quartier.</a:t>
            </a:r>
            <a:endParaRPr lang="fr-FR" sz="1250" dirty="0"/>
          </a:p>
        </p:txBody>
      </p:sp>
      <p:sp>
        <p:nvSpPr>
          <p:cNvPr id="28" name="Shape 22"/>
          <p:cNvSpPr/>
          <p:nvPr/>
        </p:nvSpPr>
        <p:spPr>
          <a:xfrm>
            <a:off x="548640" y="4069080"/>
            <a:ext cx="11094415" cy="1691640"/>
          </a:xfrm>
          <a:prstGeom prst="roundRect">
            <a:avLst>
              <a:gd name="adj" fmla="val 4324"/>
            </a:avLst>
          </a:prstGeom>
          <a:solidFill>
            <a:srgbClr val="00553A"/>
          </a:solidFill>
          <a:ln w="9525">
            <a:solidFill>
              <a:srgbClr val="00553A"/>
            </a:solidFill>
            <a:prstDash val="solid"/>
          </a:ln>
        </p:spPr>
      </p:sp>
      <p:pic>
        <p:nvPicPr>
          <p:cNvPr id="29" name="Image 4" descr="preencoded.png"/>
          <p:cNvPicPr>
            <a:picLocks noChangeAspect="1"/>
          </p:cNvPicPr>
          <p:nvPr/>
        </p:nvPicPr>
        <p:blipFill>
          <a:blip r:embed="rId7"/>
          <a:stretch>
            <a:fillRect/>
          </a:stretch>
        </p:blipFill>
        <p:spPr>
          <a:xfrm>
            <a:off x="822960" y="4297680"/>
            <a:ext cx="457200" cy="457200"/>
          </a:xfrm>
          <a:prstGeom prst="rect">
            <a:avLst/>
          </a:prstGeom>
        </p:spPr>
      </p:pic>
      <p:sp>
        <p:nvSpPr>
          <p:cNvPr id="30" name="Text 23"/>
          <p:cNvSpPr txBox="1"/>
          <p:nvPr/>
        </p:nvSpPr>
        <p:spPr>
          <a:xfrm>
            <a:off x="1463040" y="4206240"/>
            <a:ext cx="10058400" cy="411480"/>
          </a:xfrm>
          <a:prstGeom prst="rect">
            <a:avLst/>
          </a:prstGeom>
          <a:noFill/>
          <a:ln/>
        </p:spPr>
        <p:txBody>
          <a:bodyPr wrap="square" lIns="0" tIns="0" rIns="0" bIns="0" rtlCol="0" anchor="t"/>
          <a:lstStyle/>
          <a:p>
            <a:pPr marL="0" indent="0">
              <a:buNone/>
            </a:pPr>
            <a:r>
              <a:rPr lang="fr-FR" sz="1600" b="1" dirty="0">
                <a:solidFill>
                  <a:srgbClr val="F5C242"/>
                </a:solidFill>
                <a:latin typeface="Calibri" pitchFamily="34" charset="0"/>
                <a:ea typeface="Calibri" pitchFamily="34" charset="-122"/>
                <a:cs typeface="Calibri" pitchFamily="34" charset="-120"/>
              </a:rPr>
              <a:t>Règle d’interprétation : absence de lumière n’est pas absence de population</a:t>
            </a:r>
            <a:endParaRPr lang="fr-FR" sz="1600" dirty="0"/>
          </a:p>
        </p:txBody>
      </p:sp>
      <p:sp>
        <p:nvSpPr>
          <p:cNvPr id="31" name="Text 24"/>
          <p:cNvSpPr txBox="1"/>
          <p:nvPr/>
        </p:nvSpPr>
        <p:spPr>
          <a:xfrm>
            <a:off x="1463040" y="4663440"/>
            <a:ext cx="9966960" cy="1005840"/>
          </a:xfrm>
          <a:prstGeom prst="rect">
            <a:avLst/>
          </a:prstGeom>
          <a:noFill/>
          <a:ln/>
        </p:spPr>
        <p:txBody>
          <a:bodyPr wrap="square" lIns="0" tIns="0" rIns="0" bIns="0" rtlCol="0" anchor="t"/>
          <a:lstStyle/>
          <a:p>
            <a:pPr marL="0" indent="0">
              <a:buNone/>
            </a:pPr>
            <a:r>
              <a:rPr lang="fr-FR" sz="1250" dirty="0">
                <a:solidFill>
                  <a:srgbClr val="D8EEE3"/>
                </a:solidFill>
                <a:latin typeface="Calibri" pitchFamily="34" charset="0"/>
                <a:ea typeface="Calibri" pitchFamily="34" charset="-122"/>
                <a:cs typeface="Calibri" pitchFamily="34" charset="-120"/>
              </a:rPr>
              <a:t>L’obscurité peut signifier déplacement, destruction, pénurie de carburant, couvre-feu, panne du réseau — ou décision d’éteindre l’éclairage public. Le satellite ne peut pas trancher. Le recoupement avec le terrain est indispensable, et l’incertitude doit être déclarée.</a:t>
            </a:r>
            <a:endParaRPr lang="fr-FR"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APPLICATION 05</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Cartographier l’activité : chocs, événements et calendriers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49</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Beyer, Franco-Bedoya &amp; Galdo (2021) World Development 140 ; Román &amp; Stokes (2015) Earth’s Future 3(6).</a:t>
            </a:r>
            <a:endParaRPr lang="fr-FR" sz="850" dirty="0"/>
          </a:p>
        </p:txBody>
      </p:sp>
      <p:sp>
        <p:nvSpPr>
          <p:cNvPr id="13" name="Shape 10"/>
          <p:cNvSpPr/>
          <p:nvPr/>
        </p:nvSpPr>
        <p:spPr>
          <a:xfrm>
            <a:off x="548640" y="1371600"/>
            <a:ext cx="6309360" cy="960120"/>
          </a:xfrm>
          <a:prstGeom prst="roundRect">
            <a:avLst>
              <a:gd name="adj" fmla="val 7619"/>
            </a:avLst>
          </a:prstGeom>
          <a:solidFill>
            <a:srgbClr val="F4F7F5"/>
          </a:solidFill>
          <a:ln w="9525">
            <a:solidFill>
              <a:srgbClr val="D5DED9"/>
            </a:solidFill>
            <a:prstDash val="solid"/>
          </a:ln>
        </p:spPr>
      </p:sp>
      <p:sp>
        <p:nvSpPr>
          <p:cNvPr id="14" name="Shape 11"/>
          <p:cNvSpPr/>
          <p:nvPr/>
        </p:nvSpPr>
        <p:spPr>
          <a:xfrm>
            <a:off x="731520" y="1554480"/>
            <a:ext cx="566928" cy="566928"/>
          </a:xfrm>
          <a:prstGeom prst="ellipse">
            <a:avLst/>
          </a:prstGeom>
          <a:solidFill>
            <a:srgbClr val="00704A"/>
          </a:solidFill>
          <a:ln w="12700">
            <a:solidFill>
              <a:srgbClr val="00704A"/>
            </a:solidFill>
            <a:prstDash val="solid"/>
          </a:ln>
        </p:spPr>
      </p:sp>
      <p:pic>
        <p:nvPicPr>
          <p:cNvPr id="15" name="Image 1" descr="preencoded.png"/>
          <p:cNvPicPr>
            <a:picLocks noChangeAspect="1"/>
          </p:cNvPicPr>
          <p:nvPr/>
        </p:nvPicPr>
        <p:blipFill>
          <a:blip r:embed="rId4"/>
          <a:stretch>
            <a:fillRect/>
          </a:stretch>
        </p:blipFill>
        <p:spPr>
          <a:xfrm>
            <a:off x="878921" y="1701881"/>
            <a:ext cx="272125" cy="272125"/>
          </a:xfrm>
          <a:prstGeom prst="rect">
            <a:avLst/>
          </a:prstGeom>
        </p:spPr>
      </p:pic>
      <p:sp>
        <p:nvSpPr>
          <p:cNvPr id="16" name="Text 12"/>
          <p:cNvSpPr txBox="1"/>
          <p:nvPr/>
        </p:nvSpPr>
        <p:spPr>
          <a:xfrm>
            <a:off x="1463040" y="1444752"/>
            <a:ext cx="521208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Confinements</a:t>
            </a:r>
            <a:endParaRPr lang="fr-FR" sz="1350" dirty="0"/>
          </a:p>
        </p:txBody>
      </p:sp>
      <p:sp>
        <p:nvSpPr>
          <p:cNvPr id="17" name="Text 13"/>
          <p:cNvSpPr txBox="1"/>
          <p:nvPr/>
        </p:nvSpPr>
        <p:spPr>
          <a:xfrm>
            <a:off x="1463040" y="1755648"/>
            <a:ext cx="5257800" cy="5486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Lumières quotidiennes et consommation d’électricité ont suivi l’ampleur et le calendrier du choc COVID-19 de 2020 par district en Inde.</a:t>
            </a:r>
            <a:endParaRPr lang="fr-FR" sz="1150" dirty="0"/>
          </a:p>
        </p:txBody>
      </p:sp>
      <p:sp>
        <p:nvSpPr>
          <p:cNvPr id="18" name="Shape 14"/>
          <p:cNvSpPr/>
          <p:nvPr/>
        </p:nvSpPr>
        <p:spPr>
          <a:xfrm>
            <a:off x="548640" y="2450592"/>
            <a:ext cx="6309360" cy="960120"/>
          </a:xfrm>
          <a:prstGeom prst="roundRect">
            <a:avLst>
              <a:gd name="adj" fmla="val 7619"/>
            </a:avLst>
          </a:prstGeom>
          <a:solidFill>
            <a:srgbClr val="F4F7F5"/>
          </a:solidFill>
          <a:ln w="9525">
            <a:solidFill>
              <a:srgbClr val="D5DED9"/>
            </a:solidFill>
            <a:prstDash val="solid"/>
          </a:ln>
        </p:spPr>
      </p:sp>
      <p:sp>
        <p:nvSpPr>
          <p:cNvPr id="19" name="Shape 15"/>
          <p:cNvSpPr/>
          <p:nvPr/>
        </p:nvSpPr>
        <p:spPr>
          <a:xfrm>
            <a:off x="731520" y="2633472"/>
            <a:ext cx="566928" cy="566928"/>
          </a:xfrm>
          <a:prstGeom prst="ellipse">
            <a:avLst/>
          </a:prstGeom>
          <a:solidFill>
            <a:srgbClr val="00704A"/>
          </a:solidFill>
          <a:ln w="12700">
            <a:solidFill>
              <a:srgbClr val="00704A"/>
            </a:solidFill>
            <a:prstDash val="solid"/>
          </a:ln>
        </p:spPr>
      </p:sp>
      <p:pic>
        <p:nvPicPr>
          <p:cNvPr id="20" name="Image 2" descr="preencoded.png"/>
          <p:cNvPicPr>
            <a:picLocks noChangeAspect="1"/>
          </p:cNvPicPr>
          <p:nvPr/>
        </p:nvPicPr>
        <p:blipFill>
          <a:blip r:embed="rId5"/>
          <a:stretch>
            <a:fillRect/>
          </a:stretch>
        </p:blipFill>
        <p:spPr>
          <a:xfrm>
            <a:off x="878921" y="2780873"/>
            <a:ext cx="272125" cy="272125"/>
          </a:xfrm>
          <a:prstGeom prst="rect">
            <a:avLst/>
          </a:prstGeom>
        </p:spPr>
      </p:pic>
      <p:sp>
        <p:nvSpPr>
          <p:cNvPr id="21" name="Text 16"/>
          <p:cNvSpPr txBox="1"/>
          <p:nvPr/>
        </p:nvSpPr>
        <p:spPr>
          <a:xfrm>
            <a:off x="1463040" y="2523744"/>
            <a:ext cx="521208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Fêtes et congés</a:t>
            </a:r>
            <a:endParaRPr lang="fr-FR" sz="1350" dirty="0"/>
          </a:p>
        </p:txBody>
      </p:sp>
      <p:sp>
        <p:nvSpPr>
          <p:cNvPr id="22" name="Text 17"/>
          <p:cNvSpPr txBox="1"/>
          <p:nvPr/>
        </p:nvSpPr>
        <p:spPr>
          <a:xfrm>
            <a:off x="1463040" y="2834640"/>
            <a:ext cx="5257800" cy="5486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 ramadan et les fêtes de fin d’année modifient nettement la lumière nocturne — effet calendaire à modéliser, ou signal à étudier.</a:t>
            </a:r>
            <a:endParaRPr lang="fr-FR" sz="1150" dirty="0"/>
          </a:p>
        </p:txBody>
      </p:sp>
      <p:sp>
        <p:nvSpPr>
          <p:cNvPr id="23" name="Shape 18"/>
          <p:cNvSpPr/>
          <p:nvPr/>
        </p:nvSpPr>
        <p:spPr>
          <a:xfrm>
            <a:off x="548640" y="3529584"/>
            <a:ext cx="6309360" cy="960120"/>
          </a:xfrm>
          <a:prstGeom prst="roundRect">
            <a:avLst>
              <a:gd name="adj" fmla="val 7619"/>
            </a:avLst>
          </a:prstGeom>
          <a:solidFill>
            <a:srgbClr val="F4F7F5"/>
          </a:solidFill>
          <a:ln w="9525">
            <a:solidFill>
              <a:srgbClr val="D5DED9"/>
            </a:solidFill>
            <a:prstDash val="solid"/>
          </a:ln>
        </p:spPr>
      </p:sp>
      <p:sp>
        <p:nvSpPr>
          <p:cNvPr id="24" name="Shape 19"/>
          <p:cNvSpPr/>
          <p:nvPr/>
        </p:nvSpPr>
        <p:spPr>
          <a:xfrm>
            <a:off x="731520" y="3712464"/>
            <a:ext cx="566928" cy="566928"/>
          </a:xfrm>
          <a:prstGeom prst="ellipse">
            <a:avLst/>
          </a:prstGeom>
          <a:solidFill>
            <a:srgbClr val="00704A"/>
          </a:solidFill>
          <a:ln w="12700">
            <a:solidFill>
              <a:srgbClr val="00704A"/>
            </a:solidFill>
            <a:prstDash val="solid"/>
          </a:ln>
        </p:spPr>
      </p:sp>
      <p:pic>
        <p:nvPicPr>
          <p:cNvPr id="25" name="Image 3" descr="preencoded.png"/>
          <p:cNvPicPr>
            <a:picLocks noChangeAspect="1"/>
          </p:cNvPicPr>
          <p:nvPr/>
        </p:nvPicPr>
        <p:blipFill>
          <a:blip r:embed="rId6"/>
          <a:stretch>
            <a:fillRect/>
          </a:stretch>
        </p:blipFill>
        <p:spPr>
          <a:xfrm>
            <a:off x="878921" y="3859865"/>
            <a:ext cx="272125" cy="272125"/>
          </a:xfrm>
          <a:prstGeom prst="rect">
            <a:avLst/>
          </a:prstGeom>
        </p:spPr>
      </p:pic>
      <p:sp>
        <p:nvSpPr>
          <p:cNvPr id="26" name="Text 20"/>
          <p:cNvSpPr txBox="1"/>
          <p:nvPr/>
        </p:nvSpPr>
        <p:spPr>
          <a:xfrm>
            <a:off x="1463040" y="3602736"/>
            <a:ext cx="521208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Événements du réseau</a:t>
            </a:r>
            <a:endParaRPr lang="fr-FR" sz="1350" dirty="0"/>
          </a:p>
        </p:txBody>
      </p:sp>
      <p:sp>
        <p:nvSpPr>
          <p:cNvPr id="27" name="Text 21"/>
          <p:cNvSpPr txBox="1"/>
          <p:nvPr/>
        </p:nvSpPr>
        <p:spPr>
          <a:xfrm>
            <a:off x="1463040" y="3913632"/>
            <a:ext cx="5257800" cy="5486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Pannes nationales et rationnements : baisses brutales et étendues dans les données quotidiennes.</a:t>
            </a:r>
            <a:endParaRPr lang="fr-FR" sz="1150" dirty="0"/>
          </a:p>
        </p:txBody>
      </p:sp>
      <p:sp>
        <p:nvSpPr>
          <p:cNvPr id="28" name="Shape 22"/>
          <p:cNvSpPr/>
          <p:nvPr/>
        </p:nvSpPr>
        <p:spPr>
          <a:xfrm>
            <a:off x="548640" y="4608576"/>
            <a:ext cx="6309360" cy="960120"/>
          </a:xfrm>
          <a:prstGeom prst="roundRect">
            <a:avLst>
              <a:gd name="adj" fmla="val 7619"/>
            </a:avLst>
          </a:prstGeom>
          <a:solidFill>
            <a:srgbClr val="F4F7F5"/>
          </a:solidFill>
          <a:ln w="9525">
            <a:solidFill>
              <a:srgbClr val="D5DED9"/>
            </a:solidFill>
            <a:prstDash val="solid"/>
          </a:ln>
        </p:spPr>
      </p:sp>
      <p:sp>
        <p:nvSpPr>
          <p:cNvPr id="29" name="Shape 23"/>
          <p:cNvSpPr/>
          <p:nvPr/>
        </p:nvSpPr>
        <p:spPr>
          <a:xfrm>
            <a:off x="731520" y="4791456"/>
            <a:ext cx="566928" cy="566928"/>
          </a:xfrm>
          <a:prstGeom prst="ellipse">
            <a:avLst/>
          </a:prstGeom>
          <a:solidFill>
            <a:srgbClr val="00704A"/>
          </a:solidFill>
          <a:ln w="12700">
            <a:solidFill>
              <a:srgbClr val="00704A"/>
            </a:solidFill>
            <a:prstDash val="solid"/>
          </a:ln>
        </p:spPr>
      </p:sp>
      <p:pic>
        <p:nvPicPr>
          <p:cNvPr id="30" name="Image 4" descr="preencoded.png"/>
          <p:cNvPicPr>
            <a:picLocks noChangeAspect="1"/>
          </p:cNvPicPr>
          <p:nvPr/>
        </p:nvPicPr>
        <p:blipFill>
          <a:blip r:embed="rId7"/>
          <a:stretch>
            <a:fillRect/>
          </a:stretch>
        </p:blipFill>
        <p:spPr>
          <a:xfrm>
            <a:off x="878921" y="4938857"/>
            <a:ext cx="272125" cy="272125"/>
          </a:xfrm>
          <a:prstGeom prst="rect">
            <a:avLst/>
          </a:prstGeom>
        </p:spPr>
      </p:pic>
      <p:sp>
        <p:nvSpPr>
          <p:cNvPr id="31" name="Text 24"/>
          <p:cNvSpPr txBox="1"/>
          <p:nvPr/>
        </p:nvSpPr>
        <p:spPr>
          <a:xfrm>
            <a:off x="1463040" y="4681728"/>
            <a:ext cx="5212080" cy="320040"/>
          </a:xfrm>
          <a:prstGeom prst="rect">
            <a:avLst/>
          </a:prstGeom>
          <a:noFill/>
          <a:ln/>
        </p:spPr>
        <p:txBody>
          <a:bodyPr wrap="square" lIns="0" tIns="0" rIns="0" bIns="0" rtlCol="0" anchor="t"/>
          <a:lstStyle/>
          <a:p>
            <a:pPr marL="0" indent="0">
              <a:buNone/>
            </a:pPr>
            <a:r>
              <a:rPr lang="fr-FR" sz="1350" b="1" dirty="0">
                <a:solidFill>
                  <a:srgbClr val="00704A"/>
                </a:solidFill>
                <a:latin typeface="Calibri" pitchFamily="34" charset="0"/>
                <a:ea typeface="Calibri" pitchFamily="34" charset="-122"/>
                <a:cs typeface="Calibri" pitchFamily="34" charset="-120"/>
              </a:rPr>
              <a:t>Cyclones et inondations</a:t>
            </a:r>
            <a:endParaRPr lang="fr-FR" sz="1350" dirty="0"/>
          </a:p>
        </p:txBody>
      </p:sp>
      <p:sp>
        <p:nvSpPr>
          <p:cNvPr id="32" name="Text 25"/>
          <p:cNvSpPr txBox="1"/>
          <p:nvPr/>
        </p:nvSpPr>
        <p:spPr>
          <a:xfrm>
            <a:off x="1463040" y="4992624"/>
            <a:ext cx="5257800" cy="5486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Étendue des coupures et vitesse de rétablissement après les tempêtes — clé pour l’océan Indien.</a:t>
            </a:r>
            <a:endParaRPr lang="fr-FR" sz="1150" dirty="0"/>
          </a:p>
        </p:txBody>
      </p:sp>
      <p:sp>
        <p:nvSpPr>
          <p:cNvPr id="33" name="Shape 26"/>
          <p:cNvSpPr/>
          <p:nvPr/>
        </p:nvSpPr>
        <p:spPr>
          <a:xfrm>
            <a:off x="7132320" y="1371600"/>
            <a:ext cx="4507992" cy="4206240"/>
          </a:xfrm>
          <a:prstGeom prst="roundRect">
            <a:avLst>
              <a:gd name="adj" fmla="val 1739"/>
            </a:avLst>
          </a:prstGeom>
          <a:solidFill>
            <a:srgbClr val="E8F5EF"/>
          </a:solidFill>
          <a:ln w="9525">
            <a:solidFill>
              <a:srgbClr val="00A86A"/>
            </a:solidFill>
            <a:prstDash val="solid"/>
          </a:ln>
        </p:spPr>
      </p:sp>
      <p:sp>
        <p:nvSpPr>
          <p:cNvPr id="34" name="Text 27"/>
          <p:cNvSpPr txBox="1"/>
          <p:nvPr/>
        </p:nvSpPr>
        <p:spPr>
          <a:xfrm>
            <a:off x="7360920" y="1508760"/>
            <a:ext cx="41148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Recette d’étude d’événement</a:t>
            </a:r>
            <a:endParaRPr lang="fr-FR" sz="1500" dirty="0"/>
          </a:p>
        </p:txBody>
      </p:sp>
      <p:sp>
        <p:nvSpPr>
          <p:cNvPr id="35" name="Shape 28"/>
          <p:cNvSpPr/>
          <p:nvPr/>
        </p:nvSpPr>
        <p:spPr>
          <a:xfrm>
            <a:off x="7360920" y="2011680"/>
            <a:ext cx="365760" cy="365760"/>
          </a:xfrm>
          <a:prstGeom prst="ellipse">
            <a:avLst/>
          </a:prstGeom>
          <a:solidFill>
            <a:srgbClr val="00704A"/>
          </a:solidFill>
          <a:ln w="12700">
            <a:solidFill>
              <a:srgbClr val="00704A"/>
            </a:solidFill>
            <a:prstDash val="solid"/>
          </a:ln>
        </p:spPr>
      </p:sp>
      <p:sp>
        <p:nvSpPr>
          <p:cNvPr id="36" name="Text 29"/>
          <p:cNvSpPr txBox="1"/>
          <p:nvPr/>
        </p:nvSpPr>
        <p:spPr>
          <a:xfrm>
            <a:off x="7360920" y="2011680"/>
            <a:ext cx="365760" cy="365760"/>
          </a:xfrm>
          <a:prstGeom prst="rect">
            <a:avLst/>
          </a:prstGeom>
          <a:noFill/>
          <a:ln/>
        </p:spPr>
        <p:txBody>
          <a:bodyPr wrap="square" lIns="0" tIns="0" rIns="0" bIns="0" rtlCol="0" anchor="ctr"/>
          <a:lstStyle/>
          <a:p>
            <a:pPr marL="0" indent="0" algn="ctr">
              <a:buNone/>
            </a:pPr>
            <a:r>
              <a:rPr lang="fr-FR" sz="1040" b="1" dirty="0">
                <a:solidFill>
                  <a:srgbClr val="FFFFFF"/>
                </a:solidFill>
                <a:latin typeface="Calibri" pitchFamily="34" charset="0"/>
                <a:ea typeface="Calibri" pitchFamily="34" charset="-122"/>
                <a:cs typeface="Calibri" pitchFamily="34" charset="-120"/>
              </a:rPr>
              <a:t>1</a:t>
            </a:r>
            <a:endParaRPr lang="fr-FR" sz="1040" dirty="0"/>
          </a:p>
        </p:txBody>
      </p:sp>
      <p:sp>
        <p:nvSpPr>
          <p:cNvPr id="37" name="Text 30"/>
          <p:cNvSpPr txBox="1"/>
          <p:nvPr/>
        </p:nvSpPr>
        <p:spPr>
          <a:xfrm>
            <a:off x="7863840" y="1965960"/>
            <a:ext cx="3611880" cy="50292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VNP46A2 quotidien pour la zone touchée et une zone de comparaison</a:t>
            </a:r>
            <a:endParaRPr lang="fr-FR" sz="1150" dirty="0"/>
          </a:p>
        </p:txBody>
      </p:sp>
      <p:sp>
        <p:nvSpPr>
          <p:cNvPr id="38" name="Shape 31"/>
          <p:cNvSpPr/>
          <p:nvPr/>
        </p:nvSpPr>
        <p:spPr>
          <a:xfrm>
            <a:off x="7360920" y="2697480"/>
            <a:ext cx="365760" cy="365760"/>
          </a:xfrm>
          <a:prstGeom prst="ellipse">
            <a:avLst/>
          </a:prstGeom>
          <a:solidFill>
            <a:srgbClr val="00704A"/>
          </a:solidFill>
          <a:ln w="12700">
            <a:solidFill>
              <a:srgbClr val="00704A"/>
            </a:solidFill>
            <a:prstDash val="solid"/>
          </a:ln>
        </p:spPr>
      </p:sp>
      <p:sp>
        <p:nvSpPr>
          <p:cNvPr id="39" name="Text 32"/>
          <p:cNvSpPr txBox="1"/>
          <p:nvPr/>
        </p:nvSpPr>
        <p:spPr>
          <a:xfrm>
            <a:off x="7360920" y="2697480"/>
            <a:ext cx="365760" cy="365760"/>
          </a:xfrm>
          <a:prstGeom prst="rect">
            <a:avLst/>
          </a:prstGeom>
          <a:noFill/>
          <a:ln/>
        </p:spPr>
        <p:txBody>
          <a:bodyPr wrap="square" lIns="0" tIns="0" rIns="0" bIns="0" rtlCol="0" anchor="ctr"/>
          <a:lstStyle/>
          <a:p>
            <a:pPr marL="0" indent="0" algn="ctr">
              <a:buNone/>
            </a:pPr>
            <a:r>
              <a:rPr lang="fr-FR" sz="1040" b="1" dirty="0">
                <a:solidFill>
                  <a:srgbClr val="FFFFFF"/>
                </a:solidFill>
                <a:latin typeface="Calibri" pitchFamily="34" charset="0"/>
                <a:ea typeface="Calibri" pitchFamily="34" charset="-122"/>
                <a:cs typeface="Calibri" pitchFamily="34" charset="-120"/>
              </a:rPr>
              <a:t>2</a:t>
            </a:r>
            <a:endParaRPr lang="fr-FR" sz="1040" dirty="0"/>
          </a:p>
        </p:txBody>
      </p:sp>
      <p:sp>
        <p:nvSpPr>
          <p:cNvPr id="40" name="Text 33"/>
          <p:cNvSpPr txBox="1"/>
          <p:nvPr/>
        </p:nvSpPr>
        <p:spPr>
          <a:xfrm>
            <a:off x="7863840" y="2651760"/>
            <a:ext cx="3611880" cy="50292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Même fenêtre calendaire de l’année précédente comme référence</a:t>
            </a:r>
            <a:endParaRPr lang="fr-FR" sz="1150" dirty="0"/>
          </a:p>
        </p:txBody>
      </p:sp>
      <p:sp>
        <p:nvSpPr>
          <p:cNvPr id="41" name="Shape 34"/>
          <p:cNvSpPr/>
          <p:nvPr/>
        </p:nvSpPr>
        <p:spPr>
          <a:xfrm>
            <a:off x="7360920" y="3383280"/>
            <a:ext cx="365760" cy="365760"/>
          </a:xfrm>
          <a:prstGeom prst="ellipse">
            <a:avLst/>
          </a:prstGeom>
          <a:solidFill>
            <a:srgbClr val="00704A"/>
          </a:solidFill>
          <a:ln w="12700">
            <a:solidFill>
              <a:srgbClr val="00704A"/>
            </a:solidFill>
            <a:prstDash val="solid"/>
          </a:ln>
        </p:spPr>
      </p:sp>
      <p:sp>
        <p:nvSpPr>
          <p:cNvPr id="42" name="Text 35"/>
          <p:cNvSpPr txBox="1"/>
          <p:nvPr/>
        </p:nvSpPr>
        <p:spPr>
          <a:xfrm>
            <a:off x="7360920" y="3383280"/>
            <a:ext cx="365760" cy="365760"/>
          </a:xfrm>
          <a:prstGeom prst="rect">
            <a:avLst/>
          </a:prstGeom>
          <a:noFill/>
          <a:ln/>
        </p:spPr>
        <p:txBody>
          <a:bodyPr wrap="square" lIns="0" tIns="0" rIns="0" bIns="0" rtlCol="0" anchor="ctr"/>
          <a:lstStyle/>
          <a:p>
            <a:pPr marL="0" indent="0" algn="ctr">
              <a:buNone/>
            </a:pPr>
            <a:r>
              <a:rPr lang="fr-FR" sz="1040" b="1" dirty="0">
                <a:solidFill>
                  <a:srgbClr val="FFFFFF"/>
                </a:solidFill>
                <a:latin typeface="Calibri" pitchFamily="34" charset="0"/>
                <a:ea typeface="Calibri" pitchFamily="34" charset="-122"/>
                <a:cs typeface="Calibri" pitchFamily="34" charset="-120"/>
              </a:rPr>
              <a:t>3</a:t>
            </a:r>
            <a:endParaRPr lang="fr-FR" sz="1040" dirty="0"/>
          </a:p>
        </p:txBody>
      </p:sp>
      <p:sp>
        <p:nvSpPr>
          <p:cNvPr id="43" name="Text 36"/>
          <p:cNvSpPr txBox="1"/>
          <p:nvPr/>
        </p:nvSpPr>
        <p:spPr>
          <a:xfrm>
            <a:off x="7863840" y="3337560"/>
            <a:ext cx="3611880" cy="50292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Moyenne mobile 7 jours contre le bruit d’angle de visée</a:t>
            </a:r>
            <a:endParaRPr lang="fr-FR" sz="1150" dirty="0"/>
          </a:p>
        </p:txBody>
      </p:sp>
      <p:sp>
        <p:nvSpPr>
          <p:cNvPr id="44" name="Shape 37"/>
          <p:cNvSpPr/>
          <p:nvPr/>
        </p:nvSpPr>
        <p:spPr>
          <a:xfrm>
            <a:off x="7360920" y="4069080"/>
            <a:ext cx="365760" cy="365760"/>
          </a:xfrm>
          <a:prstGeom prst="ellipse">
            <a:avLst/>
          </a:prstGeom>
          <a:solidFill>
            <a:srgbClr val="00704A"/>
          </a:solidFill>
          <a:ln w="12700">
            <a:solidFill>
              <a:srgbClr val="00704A"/>
            </a:solidFill>
            <a:prstDash val="solid"/>
          </a:ln>
        </p:spPr>
      </p:sp>
      <p:sp>
        <p:nvSpPr>
          <p:cNvPr id="45" name="Text 38"/>
          <p:cNvSpPr txBox="1"/>
          <p:nvPr/>
        </p:nvSpPr>
        <p:spPr>
          <a:xfrm>
            <a:off x="7360920" y="4069080"/>
            <a:ext cx="365760" cy="365760"/>
          </a:xfrm>
          <a:prstGeom prst="rect">
            <a:avLst/>
          </a:prstGeom>
          <a:noFill/>
          <a:ln/>
        </p:spPr>
        <p:txBody>
          <a:bodyPr wrap="square" lIns="0" tIns="0" rIns="0" bIns="0" rtlCol="0" anchor="ctr"/>
          <a:lstStyle/>
          <a:p>
            <a:pPr marL="0" indent="0" algn="ctr">
              <a:buNone/>
            </a:pPr>
            <a:r>
              <a:rPr lang="fr-FR" sz="1040" b="1" dirty="0">
                <a:solidFill>
                  <a:srgbClr val="FFFFFF"/>
                </a:solidFill>
                <a:latin typeface="Calibri" pitchFamily="34" charset="0"/>
                <a:ea typeface="Calibri" pitchFamily="34" charset="-122"/>
                <a:cs typeface="Calibri" pitchFamily="34" charset="-120"/>
              </a:rPr>
              <a:t>4</a:t>
            </a:r>
            <a:endParaRPr lang="fr-FR" sz="1040" dirty="0"/>
          </a:p>
        </p:txBody>
      </p:sp>
      <p:sp>
        <p:nvSpPr>
          <p:cNvPr id="46" name="Text 39"/>
          <p:cNvSpPr txBox="1"/>
          <p:nvPr/>
        </p:nvSpPr>
        <p:spPr>
          <a:xfrm>
            <a:off x="7863840" y="4023360"/>
            <a:ext cx="3611880" cy="50292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Exprimer en % d’écart à la référence, avec une bande de variation normale</a:t>
            </a:r>
            <a:endParaRPr lang="fr-FR" sz="1150" dirty="0"/>
          </a:p>
        </p:txBody>
      </p:sp>
      <p:sp>
        <p:nvSpPr>
          <p:cNvPr id="47" name="Shape 40"/>
          <p:cNvSpPr/>
          <p:nvPr/>
        </p:nvSpPr>
        <p:spPr>
          <a:xfrm>
            <a:off x="7360920" y="4754880"/>
            <a:ext cx="365760" cy="365760"/>
          </a:xfrm>
          <a:prstGeom prst="ellipse">
            <a:avLst/>
          </a:prstGeom>
          <a:solidFill>
            <a:srgbClr val="00704A"/>
          </a:solidFill>
          <a:ln w="12700">
            <a:solidFill>
              <a:srgbClr val="00704A"/>
            </a:solidFill>
            <a:prstDash val="solid"/>
          </a:ln>
        </p:spPr>
      </p:sp>
      <p:sp>
        <p:nvSpPr>
          <p:cNvPr id="48" name="Text 41"/>
          <p:cNvSpPr txBox="1"/>
          <p:nvPr/>
        </p:nvSpPr>
        <p:spPr>
          <a:xfrm>
            <a:off x="7360920" y="4754880"/>
            <a:ext cx="365760" cy="365760"/>
          </a:xfrm>
          <a:prstGeom prst="rect">
            <a:avLst/>
          </a:prstGeom>
          <a:noFill/>
          <a:ln/>
        </p:spPr>
        <p:txBody>
          <a:bodyPr wrap="square" lIns="0" tIns="0" rIns="0" bIns="0" rtlCol="0" anchor="ctr"/>
          <a:lstStyle/>
          <a:p>
            <a:pPr marL="0" indent="0" algn="ctr">
              <a:buNone/>
            </a:pPr>
            <a:r>
              <a:rPr lang="fr-FR" sz="1040" b="1" dirty="0">
                <a:solidFill>
                  <a:srgbClr val="FFFFFF"/>
                </a:solidFill>
                <a:latin typeface="Calibri" pitchFamily="34" charset="0"/>
                <a:ea typeface="Calibri" pitchFamily="34" charset="-122"/>
                <a:cs typeface="Calibri" pitchFamily="34" charset="-120"/>
              </a:rPr>
              <a:t>5</a:t>
            </a:r>
            <a:endParaRPr lang="fr-FR" sz="1040" dirty="0"/>
          </a:p>
        </p:txBody>
      </p:sp>
      <p:sp>
        <p:nvSpPr>
          <p:cNvPr id="49" name="Text 42"/>
          <p:cNvSpPr txBox="1"/>
          <p:nvPr/>
        </p:nvSpPr>
        <p:spPr>
          <a:xfrm>
            <a:off x="7863840" y="4709160"/>
            <a:ext cx="3611880" cy="50292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Recouper avec le distributeur, la presse ou le terrain</a:t>
            </a:r>
            <a:endParaRPr lang="fr-FR"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04 · APPLICATIONS · PETITES ÎLES ET LITTORAUX</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Regard insulaire : petites îles et économies côtières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SÉANCE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50</a:t>
            </a:r>
            <a:endParaRPr lang="fr-FR" sz="900" dirty="0"/>
          </a:p>
        </p:txBody>
      </p:sp>
      <p:sp>
        <p:nvSpPr>
          <p:cNvPr id="12" name="Shape 9"/>
          <p:cNvSpPr/>
          <p:nvPr/>
        </p:nvSpPr>
        <p:spPr>
          <a:xfrm>
            <a:off x="548640" y="1371600"/>
            <a:ext cx="3593592" cy="1810512"/>
          </a:xfrm>
          <a:prstGeom prst="roundRect">
            <a:avLst>
              <a:gd name="adj" fmla="val 4040"/>
            </a:avLst>
          </a:prstGeom>
          <a:solidFill>
            <a:srgbClr val="F4F7F5"/>
          </a:solidFill>
          <a:ln w="9525">
            <a:solidFill>
              <a:srgbClr val="D5DED9"/>
            </a:solidFill>
            <a:prstDash val="solid"/>
          </a:ln>
        </p:spPr>
      </p:sp>
      <p:sp>
        <p:nvSpPr>
          <p:cNvPr id="13" name="Shape 10"/>
          <p:cNvSpPr/>
          <p:nvPr/>
        </p:nvSpPr>
        <p:spPr>
          <a:xfrm>
            <a:off x="749808" y="1572768"/>
            <a:ext cx="530352" cy="530352"/>
          </a:xfrm>
          <a:prstGeom prst="ellipse">
            <a:avLst/>
          </a:prstGeom>
          <a:solidFill>
            <a:srgbClr val="E8F5EF"/>
          </a:solidFill>
          <a:ln w="12700">
            <a:solidFill>
              <a:srgbClr val="E8F5EF"/>
            </a:solidFill>
            <a:prstDash val="solid"/>
          </a:ln>
        </p:spPr>
      </p:sp>
      <p:pic>
        <p:nvPicPr>
          <p:cNvPr id="14" name="Image 1" descr="preencoded.png"/>
          <p:cNvPicPr>
            <a:picLocks noChangeAspect="1"/>
          </p:cNvPicPr>
          <p:nvPr/>
        </p:nvPicPr>
        <p:blipFill>
          <a:blip r:embed="rId4"/>
          <a:stretch>
            <a:fillRect/>
          </a:stretch>
        </p:blipFill>
        <p:spPr>
          <a:xfrm>
            <a:off x="887700" y="1710660"/>
            <a:ext cx="254569" cy="254569"/>
          </a:xfrm>
          <a:prstGeom prst="rect">
            <a:avLst/>
          </a:prstGeom>
        </p:spPr>
      </p:pic>
      <p:sp>
        <p:nvSpPr>
          <p:cNvPr id="15" name="Text 11"/>
          <p:cNvSpPr txBox="1"/>
          <p:nvPr/>
        </p:nvSpPr>
        <p:spPr>
          <a:xfrm>
            <a:off x="1417320" y="157276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Peu de pixels</a:t>
            </a:r>
            <a:endParaRPr lang="fr-FR" sz="1400" dirty="0"/>
          </a:p>
        </p:txBody>
      </p:sp>
      <p:sp>
        <p:nvSpPr>
          <p:cNvPr id="16" name="Text 12"/>
          <p:cNvSpPr txBox="1"/>
          <p:nvPr/>
        </p:nvSpPr>
        <p:spPr>
          <a:xfrm>
            <a:off x="749808" y="2240280"/>
            <a:ext cx="320040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Un petit État insulaire ne couvre que quelques milliers de cellules de 500 m ; un seul complexe hôtelier, port ou centrale peut dominer le total.</a:t>
            </a:r>
            <a:endParaRPr lang="fr-FR" sz="1150" dirty="0"/>
          </a:p>
        </p:txBody>
      </p:sp>
      <p:sp>
        <p:nvSpPr>
          <p:cNvPr id="17" name="Shape 13"/>
          <p:cNvSpPr/>
          <p:nvPr/>
        </p:nvSpPr>
        <p:spPr>
          <a:xfrm>
            <a:off x="4297680" y="1371600"/>
            <a:ext cx="3593592" cy="1810512"/>
          </a:xfrm>
          <a:prstGeom prst="roundRect">
            <a:avLst>
              <a:gd name="adj" fmla="val 4040"/>
            </a:avLst>
          </a:prstGeom>
          <a:solidFill>
            <a:srgbClr val="F4F7F5"/>
          </a:solidFill>
          <a:ln w="9525">
            <a:solidFill>
              <a:srgbClr val="D5DED9"/>
            </a:solidFill>
            <a:prstDash val="solid"/>
          </a:ln>
        </p:spPr>
      </p:sp>
      <p:sp>
        <p:nvSpPr>
          <p:cNvPr id="18" name="Shape 14"/>
          <p:cNvSpPr/>
          <p:nvPr/>
        </p:nvSpPr>
        <p:spPr>
          <a:xfrm>
            <a:off x="4498848" y="1572768"/>
            <a:ext cx="530352" cy="530352"/>
          </a:xfrm>
          <a:prstGeom prst="ellipse">
            <a:avLst/>
          </a:prstGeom>
          <a:solidFill>
            <a:srgbClr val="E8F5EF"/>
          </a:solidFill>
          <a:ln w="12700">
            <a:solidFill>
              <a:srgbClr val="E8F5EF"/>
            </a:solidFill>
            <a:prstDash val="solid"/>
          </a:ln>
        </p:spPr>
      </p:sp>
      <p:pic>
        <p:nvPicPr>
          <p:cNvPr id="19" name="Image 2" descr="preencoded.png"/>
          <p:cNvPicPr>
            <a:picLocks noChangeAspect="1"/>
          </p:cNvPicPr>
          <p:nvPr/>
        </p:nvPicPr>
        <p:blipFill>
          <a:blip r:embed="rId5"/>
          <a:stretch>
            <a:fillRect/>
          </a:stretch>
        </p:blipFill>
        <p:spPr>
          <a:xfrm>
            <a:off x="4636740" y="1710660"/>
            <a:ext cx="254569" cy="254569"/>
          </a:xfrm>
          <a:prstGeom prst="rect">
            <a:avLst/>
          </a:prstGeom>
        </p:spPr>
      </p:pic>
      <p:sp>
        <p:nvSpPr>
          <p:cNvPr id="20" name="Text 15"/>
          <p:cNvSpPr txBox="1"/>
          <p:nvPr/>
        </p:nvSpPr>
        <p:spPr>
          <a:xfrm>
            <a:off x="5166360" y="157276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Mélange côte et mer</a:t>
            </a:r>
            <a:endParaRPr lang="fr-FR" sz="1400" dirty="0"/>
          </a:p>
        </p:txBody>
      </p:sp>
      <p:sp>
        <p:nvSpPr>
          <p:cNvPr id="21" name="Text 16"/>
          <p:cNvSpPr txBox="1"/>
          <p:nvPr/>
        </p:nvSpPr>
        <p:spPr>
          <a:xfrm>
            <a:off x="4498848" y="2240280"/>
            <a:ext cx="320040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pixels côtiers mêlent lumière terrestre et reflet sur l’eau ; découper avec soin et tester « all-touched » contre centre seul.</a:t>
            </a:r>
            <a:endParaRPr lang="fr-FR" sz="1150" dirty="0"/>
          </a:p>
        </p:txBody>
      </p:sp>
      <p:sp>
        <p:nvSpPr>
          <p:cNvPr id="22" name="Shape 17"/>
          <p:cNvSpPr/>
          <p:nvPr/>
        </p:nvSpPr>
        <p:spPr>
          <a:xfrm>
            <a:off x="8046720" y="1371600"/>
            <a:ext cx="3593592" cy="1810512"/>
          </a:xfrm>
          <a:prstGeom prst="roundRect">
            <a:avLst>
              <a:gd name="adj" fmla="val 4040"/>
            </a:avLst>
          </a:prstGeom>
          <a:solidFill>
            <a:srgbClr val="F4F7F5"/>
          </a:solidFill>
          <a:ln w="9525">
            <a:solidFill>
              <a:srgbClr val="D5DED9"/>
            </a:solidFill>
            <a:prstDash val="solid"/>
          </a:ln>
        </p:spPr>
      </p:sp>
      <p:sp>
        <p:nvSpPr>
          <p:cNvPr id="23" name="Shape 18"/>
          <p:cNvSpPr/>
          <p:nvPr/>
        </p:nvSpPr>
        <p:spPr>
          <a:xfrm>
            <a:off x="8247888" y="1572768"/>
            <a:ext cx="530352" cy="530352"/>
          </a:xfrm>
          <a:prstGeom prst="ellipse">
            <a:avLst/>
          </a:prstGeom>
          <a:solidFill>
            <a:srgbClr val="E8F5EF"/>
          </a:solidFill>
          <a:ln w="12700">
            <a:solidFill>
              <a:srgbClr val="E8F5EF"/>
            </a:solidFill>
            <a:prstDash val="solid"/>
          </a:ln>
        </p:spPr>
      </p:sp>
      <p:pic>
        <p:nvPicPr>
          <p:cNvPr id="24" name="Image 3" descr="preencoded.png"/>
          <p:cNvPicPr>
            <a:picLocks noChangeAspect="1"/>
          </p:cNvPicPr>
          <p:nvPr/>
        </p:nvPicPr>
        <p:blipFill>
          <a:blip r:embed="rId6"/>
          <a:stretch>
            <a:fillRect/>
          </a:stretch>
        </p:blipFill>
        <p:spPr>
          <a:xfrm>
            <a:off x="8385780" y="1710660"/>
            <a:ext cx="254569" cy="254569"/>
          </a:xfrm>
          <a:prstGeom prst="rect">
            <a:avLst/>
          </a:prstGeom>
        </p:spPr>
      </p:pic>
      <p:sp>
        <p:nvSpPr>
          <p:cNvPr id="25" name="Text 19"/>
          <p:cNvSpPr txBox="1"/>
          <p:nvPr/>
        </p:nvSpPr>
        <p:spPr>
          <a:xfrm>
            <a:off x="8915400" y="157276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Lumières en mer</a:t>
            </a:r>
            <a:endParaRPr lang="fr-FR" sz="1400" dirty="0"/>
          </a:p>
        </p:txBody>
      </p:sp>
      <p:sp>
        <p:nvSpPr>
          <p:cNvPr id="26" name="Text 20"/>
          <p:cNvSpPr txBox="1"/>
          <p:nvPr/>
        </p:nvSpPr>
        <p:spPr>
          <a:xfrm>
            <a:off x="8247888" y="2240280"/>
            <a:ext cx="320040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Flottilles de pêche, navires au mouillage et plateformes sont juste au-delà du littoral — masquer la mer ou en faire un indicateur maritime distinct.</a:t>
            </a:r>
            <a:endParaRPr lang="fr-FR" sz="1150" dirty="0"/>
          </a:p>
        </p:txBody>
      </p:sp>
      <p:sp>
        <p:nvSpPr>
          <p:cNvPr id="27" name="Shape 21"/>
          <p:cNvSpPr/>
          <p:nvPr/>
        </p:nvSpPr>
        <p:spPr>
          <a:xfrm>
            <a:off x="548640" y="3337560"/>
            <a:ext cx="3593592" cy="1810512"/>
          </a:xfrm>
          <a:prstGeom prst="roundRect">
            <a:avLst>
              <a:gd name="adj" fmla="val 4040"/>
            </a:avLst>
          </a:prstGeom>
          <a:solidFill>
            <a:srgbClr val="F4F7F5"/>
          </a:solidFill>
          <a:ln w="9525">
            <a:solidFill>
              <a:srgbClr val="D5DED9"/>
            </a:solidFill>
            <a:prstDash val="solid"/>
          </a:ln>
        </p:spPr>
      </p:sp>
      <p:sp>
        <p:nvSpPr>
          <p:cNvPr id="28" name="Shape 22"/>
          <p:cNvSpPr/>
          <p:nvPr/>
        </p:nvSpPr>
        <p:spPr>
          <a:xfrm>
            <a:off x="749808" y="3538728"/>
            <a:ext cx="530352" cy="530352"/>
          </a:xfrm>
          <a:prstGeom prst="ellipse">
            <a:avLst/>
          </a:prstGeom>
          <a:solidFill>
            <a:srgbClr val="E8F5EF"/>
          </a:solidFill>
          <a:ln w="12700">
            <a:solidFill>
              <a:srgbClr val="E8F5EF"/>
            </a:solidFill>
            <a:prstDash val="solid"/>
          </a:ln>
        </p:spPr>
      </p:sp>
      <p:pic>
        <p:nvPicPr>
          <p:cNvPr id="29" name="Image 4" descr="preencoded.png"/>
          <p:cNvPicPr>
            <a:picLocks noChangeAspect="1"/>
          </p:cNvPicPr>
          <p:nvPr/>
        </p:nvPicPr>
        <p:blipFill>
          <a:blip r:embed="rId7"/>
          <a:stretch>
            <a:fillRect/>
          </a:stretch>
        </p:blipFill>
        <p:spPr>
          <a:xfrm>
            <a:off x="887700" y="3676620"/>
            <a:ext cx="254569" cy="254569"/>
          </a:xfrm>
          <a:prstGeom prst="rect">
            <a:avLst/>
          </a:prstGeom>
        </p:spPr>
      </p:pic>
      <p:sp>
        <p:nvSpPr>
          <p:cNvPr id="30" name="Text 23"/>
          <p:cNvSpPr txBox="1"/>
          <p:nvPr/>
        </p:nvSpPr>
        <p:spPr>
          <a:xfrm>
            <a:off x="1417320" y="353872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Nuages orographiques</a:t>
            </a:r>
            <a:endParaRPr lang="fr-FR" sz="1400" dirty="0"/>
          </a:p>
        </p:txBody>
      </p:sp>
      <p:sp>
        <p:nvSpPr>
          <p:cNvPr id="31" name="Text 24"/>
          <p:cNvSpPr txBox="1"/>
          <p:nvPr/>
        </p:nvSpPr>
        <p:spPr>
          <a:xfrm>
            <a:off x="749808" y="4206240"/>
            <a:ext cx="320040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nuages des alizés sur les plateaux centraux réduisent les observations valides — vérifier la couche d’observations par district.</a:t>
            </a:r>
            <a:endParaRPr lang="fr-FR" sz="1150" dirty="0"/>
          </a:p>
        </p:txBody>
      </p:sp>
      <p:sp>
        <p:nvSpPr>
          <p:cNvPr id="32" name="Shape 25"/>
          <p:cNvSpPr/>
          <p:nvPr/>
        </p:nvSpPr>
        <p:spPr>
          <a:xfrm>
            <a:off x="4297680" y="3337560"/>
            <a:ext cx="3593592" cy="1810512"/>
          </a:xfrm>
          <a:prstGeom prst="roundRect">
            <a:avLst>
              <a:gd name="adj" fmla="val 4040"/>
            </a:avLst>
          </a:prstGeom>
          <a:solidFill>
            <a:srgbClr val="F4F7F5"/>
          </a:solidFill>
          <a:ln w="9525">
            <a:solidFill>
              <a:srgbClr val="D5DED9"/>
            </a:solidFill>
            <a:prstDash val="solid"/>
          </a:ln>
        </p:spPr>
      </p:sp>
      <p:sp>
        <p:nvSpPr>
          <p:cNvPr id="33" name="Shape 26"/>
          <p:cNvSpPr/>
          <p:nvPr/>
        </p:nvSpPr>
        <p:spPr>
          <a:xfrm>
            <a:off x="4498848" y="3538728"/>
            <a:ext cx="530352" cy="530352"/>
          </a:xfrm>
          <a:prstGeom prst="ellipse">
            <a:avLst/>
          </a:prstGeom>
          <a:solidFill>
            <a:srgbClr val="E8F5EF"/>
          </a:solidFill>
          <a:ln w="12700">
            <a:solidFill>
              <a:srgbClr val="E8F5EF"/>
            </a:solidFill>
            <a:prstDash val="solid"/>
          </a:ln>
        </p:spPr>
      </p:sp>
      <p:pic>
        <p:nvPicPr>
          <p:cNvPr id="34" name="Image 5" descr="preencoded.png"/>
          <p:cNvPicPr>
            <a:picLocks noChangeAspect="1"/>
          </p:cNvPicPr>
          <p:nvPr/>
        </p:nvPicPr>
        <p:blipFill>
          <a:blip r:embed="rId8"/>
          <a:stretch>
            <a:fillRect/>
          </a:stretch>
        </p:blipFill>
        <p:spPr>
          <a:xfrm>
            <a:off x="4636740" y="3676620"/>
            <a:ext cx="254569" cy="254569"/>
          </a:xfrm>
          <a:prstGeom prst="rect">
            <a:avLst/>
          </a:prstGeom>
        </p:spPr>
      </p:pic>
      <p:sp>
        <p:nvSpPr>
          <p:cNvPr id="35" name="Text 27"/>
          <p:cNvSpPr txBox="1"/>
          <p:nvPr/>
        </p:nvSpPr>
        <p:spPr>
          <a:xfrm>
            <a:off x="5166360" y="353872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Signal touristique</a:t>
            </a:r>
            <a:endParaRPr lang="fr-FR" sz="1400" dirty="0"/>
          </a:p>
        </p:txBody>
      </p:sp>
      <p:sp>
        <p:nvSpPr>
          <p:cNvPr id="36" name="Text 28"/>
          <p:cNvSpPr txBox="1"/>
          <p:nvPr/>
        </p:nvSpPr>
        <p:spPr>
          <a:xfrm>
            <a:off x="4498848" y="4206240"/>
            <a:ext cx="320040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zones hôtelières sont très lumineuses pour leur population ; normaliser avec soin et lire avec les données d’arrivées.</a:t>
            </a:r>
            <a:endParaRPr lang="fr-FR" sz="1150" dirty="0"/>
          </a:p>
        </p:txBody>
      </p:sp>
      <p:sp>
        <p:nvSpPr>
          <p:cNvPr id="37" name="Shape 29"/>
          <p:cNvSpPr/>
          <p:nvPr/>
        </p:nvSpPr>
        <p:spPr>
          <a:xfrm>
            <a:off x="8046720" y="3337560"/>
            <a:ext cx="3593592" cy="1810512"/>
          </a:xfrm>
          <a:prstGeom prst="roundRect">
            <a:avLst>
              <a:gd name="adj" fmla="val 4040"/>
            </a:avLst>
          </a:prstGeom>
          <a:solidFill>
            <a:srgbClr val="F4F7F5"/>
          </a:solidFill>
          <a:ln w="9525">
            <a:solidFill>
              <a:srgbClr val="D5DED9"/>
            </a:solidFill>
            <a:prstDash val="solid"/>
          </a:ln>
        </p:spPr>
      </p:sp>
      <p:sp>
        <p:nvSpPr>
          <p:cNvPr id="38" name="Shape 30"/>
          <p:cNvSpPr/>
          <p:nvPr/>
        </p:nvSpPr>
        <p:spPr>
          <a:xfrm>
            <a:off x="8247888" y="3538728"/>
            <a:ext cx="530352" cy="530352"/>
          </a:xfrm>
          <a:prstGeom prst="ellipse">
            <a:avLst/>
          </a:prstGeom>
          <a:solidFill>
            <a:srgbClr val="E8F5EF"/>
          </a:solidFill>
          <a:ln w="12700">
            <a:solidFill>
              <a:srgbClr val="E8F5EF"/>
            </a:solidFill>
            <a:prstDash val="solid"/>
          </a:ln>
        </p:spPr>
      </p:sp>
      <p:pic>
        <p:nvPicPr>
          <p:cNvPr id="39" name="Image 6" descr="preencoded.png"/>
          <p:cNvPicPr>
            <a:picLocks noChangeAspect="1"/>
          </p:cNvPicPr>
          <p:nvPr/>
        </p:nvPicPr>
        <p:blipFill>
          <a:blip r:embed="rId9"/>
          <a:stretch>
            <a:fillRect/>
          </a:stretch>
        </p:blipFill>
        <p:spPr>
          <a:xfrm>
            <a:off x="8385780" y="3676620"/>
            <a:ext cx="254569" cy="254569"/>
          </a:xfrm>
          <a:prstGeom prst="rect">
            <a:avLst/>
          </a:prstGeom>
        </p:spPr>
      </p:pic>
      <p:sp>
        <p:nvSpPr>
          <p:cNvPr id="40" name="Text 31"/>
          <p:cNvSpPr txBox="1"/>
          <p:nvPr/>
        </p:nvSpPr>
        <p:spPr>
          <a:xfrm>
            <a:off x="8915400" y="353872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Saison cyclonique</a:t>
            </a:r>
            <a:endParaRPr lang="fr-FR" sz="1400" dirty="0"/>
          </a:p>
        </p:txBody>
      </p:sp>
      <p:sp>
        <p:nvSpPr>
          <p:cNvPr id="41" name="Text 32"/>
          <p:cNvSpPr txBox="1"/>
          <p:nvPr/>
        </p:nvSpPr>
        <p:spPr>
          <a:xfrm>
            <a:off x="8247888" y="4206240"/>
            <a:ext cx="3200400" cy="896112"/>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données quotidiennes cartographient coupures et rétablissement après cyclone — usage opérationnel pour les statistiques de catastrophes.</a:t>
            </a:r>
            <a:endParaRPr lang="fr-FR" sz="1150" dirty="0"/>
          </a:p>
        </p:txBody>
      </p:sp>
      <p:sp>
        <p:nvSpPr>
          <p:cNvPr id="42" name="Shape 33"/>
          <p:cNvSpPr/>
          <p:nvPr/>
        </p:nvSpPr>
        <p:spPr>
          <a:xfrm>
            <a:off x="548640" y="5440680"/>
            <a:ext cx="11094415" cy="502920"/>
          </a:xfrm>
          <a:prstGeom prst="roundRect">
            <a:avLst>
              <a:gd name="adj" fmla="val 14545"/>
            </a:avLst>
          </a:prstGeom>
          <a:solidFill>
            <a:srgbClr val="FDF5DC"/>
          </a:solidFill>
          <a:ln w="9525">
            <a:solidFill>
              <a:srgbClr val="F5C242"/>
            </a:solidFill>
            <a:prstDash val="solid"/>
          </a:ln>
        </p:spPr>
      </p:sp>
      <p:sp>
        <p:nvSpPr>
          <p:cNvPr id="43" name="Text 34"/>
          <p:cNvSpPr txBox="1"/>
          <p:nvPr/>
        </p:nvSpPr>
        <p:spPr>
          <a:xfrm>
            <a:off x="777240" y="5440680"/>
            <a:ext cx="10637215" cy="502920"/>
          </a:xfrm>
          <a:prstGeom prst="rect">
            <a:avLst/>
          </a:prstGeom>
          <a:noFill/>
          <a:ln/>
        </p:spPr>
        <p:txBody>
          <a:bodyPr wrap="square" lIns="0" tIns="0" rIns="0" bIns="0" rtlCol="0" anchor="ctr"/>
          <a:lstStyle/>
          <a:p>
            <a:pPr marL="0" indent="0">
              <a:buNone/>
            </a:pPr>
            <a:r>
              <a:rPr lang="fr-FR" sz="1200" b="1" dirty="0">
                <a:solidFill>
                  <a:srgbClr val="A87700"/>
                </a:solidFill>
                <a:latin typeface="Calibri" pitchFamily="34" charset="0"/>
                <a:ea typeface="Calibri" pitchFamily="34" charset="-122"/>
                <a:cs typeface="Calibri" pitchFamily="34" charset="-120"/>
              </a:rPr>
              <a:t>Règle pour les petites unités : </a:t>
            </a:r>
            <a:r>
              <a:rPr lang="fr-FR" sz="1200" dirty="0">
                <a:solidFill>
                  <a:srgbClr val="231F20"/>
                </a:solidFill>
                <a:latin typeface="Calibri" pitchFamily="34" charset="0"/>
                <a:ea typeface="Calibri" pitchFamily="34" charset="-122"/>
                <a:cs typeface="Calibri" pitchFamily="34" charset="-120"/>
              </a:rPr>
              <a:t>moins il y a de pixels, plus chaque choix de masque et de limites compte — déclarez explicitement la sensibilité à ces choix.</a:t>
            </a:r>
            <a:endParaRPr lang="fr-FR"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Gauteng et le Highveld  ·  Rendu illustratif : populations des localités GeoNames, frontières Natural Earth</a:t>
            </a:r>
            <a:endParaRPr lang="fr-FR"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fr-FR" sz="1100" b="1" kern="0" spc="300" dirty="0">
                <a:solidFill>
                  <a:srgbClr val="7BCBA9"/>
                </a:solidFill>
                <a:latin typeface="Calibri" pitchFamily="34" charset="0"/>
                <a:ea typeface="Calibri" pitchFamily="34" charset="-122"/>
                <a:cs typeface="Calibri" pitchFamily="34" charset="-120"/>
              </a:rPr>
              <a:t>PRATIQUE · LABO B</a:t>
            </a:r>
            <a:endParaRPr lang="fr-FR"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fr-FR" sz="8000" b="1" dirty="0">
                <a:solidFill>
                  <a:srgbClr val="F5C242"/>
                </a:solidFill>
                <a:latin typeface="Calibri" pitchFamily="34" charset="0"/>
                <a:ea typeface="Calibri" pitchFamily="34" charset="-122"/>
                <a:cs typeface="Calibri" pitchFamily="34" charset="-120"/>
              </a:rPr>
              <a:t>B</a:t>
            </a:r>
            <a:endParaRPr lang="fr-FR"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fr-FR" sz="3800" b="1" dirty="0">
                <a:solidFill>
                  <a:srgbClr val="FFFFFF"/>
                </a:solidFill>
                <a:latin typeface="Calibri" pitchFamily="34" charset="0"/>
                <a:ea typeface="Calibri" pitchFamily="34" charset="-122"/>
                <a:cs typeface="Calibri" pitchFamily="34" charset="-120"/>
              </a:rPr>
              <a:t>Reconstruire une application</a:t>
            </a:r>
            <a:endParaRPr lang="fr-FR"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fr-FR" sz="1700" i="1" dirty="0">
                <a:solidFill>
                  <a:srgbClr val="CDE8DA"/>
                </a:solidFill>
                <a:latin typeface="Calibri" pitchFamily="34" charset="0"/>
                <a:ea typeface="Calibri" pitchFamily="34" charset="-122"/>
                <a:cs typeface="Calibri" pitchFamily="34" charset="-120"/>
              </a:rPr>
              <a:t>Comparez votre indicateur de lumières nocturnes à un indicateur officiel — et dites où la relation tient.</a:t>
            </a:r>
            <a:endParaRPr lang="fr-FR"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fr-FR" sz="1200" dirty="0">
                <a:solidFill>
                  <a:srgbClr val="A9D3BE"/>
                </a:solidFill>
                <a:latin typeface="Calibri" pitchFamily="34" charset="0"/>
                <a:ea typeface="Calibri" pitchFamily="34" charset="-122"/>
                <a:cs typeface="Calibri" pitchFamily="34" charset="-120"/>
              </a:rPr>
              <a:t>Choisir une application  ·  Aligner unités et périodes  ·  Comparer niveaux et variations  ·  Cartographier les résidus  ·  Restituer</a:t>
            </a:r>
            <a:endParaRPr lang="fr-FR"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fr-FR" sz="1000" b="1" kern="0" spc="100" dirty="0">
                <a:solidFill>
                  <a:srgbClr val="00553A"/>
                </a:solidFill>
                <a:latin typeface="Calibri" pitchFamily="34" charset="0"/>
                <a:ea typeface="Calibri" pitchFamily="34" charset="-122"/>
                <a:cs typeface="Calibri" pitchFamily="34" charset="-120"/>
              </a:rPr>
              <a:t>LABO B  ·  45 + 15 MIN</a:t>
            </a:r>
            <a:endParaRPr lang="fr-FR"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dirty="0">
                <a:solidFill>
                  <a:srgbClr val="A9D3BE"/>
                </a:solidFill>
                <a:latin typeface="Calibri" pitchFamily="34" charset="0"/>
                <a:ea typeface="Calibri" pitchFamily="34" charset="-122"/>
                <a:cs typeface="Calibri" pitchFamily="34" charset="-120"/>
              </a:rPr>
              <a:t>51</a:t>
            </a:r>
            <a:endParaRPr lang="fr-FR"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LABO B · ÉTAPE 1 · CHOISIR</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Choisir une application et son comparateur officiel</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52</a:t>
            </a:r>
            <a:endParaRPr lang="fr-FR" sz="900" dirty="0"/>
          </a:p>
        </p:txBody>
      </p:sp>
      <p:sp>
        <p:nvSpPr>
          <p:cNvPr id="12" name="Shape 9"/>
          <p:cNvSpPr/>
          <p:nvPr/>
        </p:nvSpPr>
        <p:spPr>
          <a:xfrm>
            <a:off x="548640" y="1371600"/>
            <a:ext cx="2651760" cy="4343400"/>
          </a:xfrm>
          <a:prstGeom prst="roundRect">
            <a:avLst>
              <a:gd name="adj" fmla="val 2759"/>
            </a:avLst>
          </a:prstGeom>
          <a:solidFill>
            <a:srgbClr val="F4F7F5"/>
          </a:solidFill>
          <a:ln w="9525">
            <a:solidFill>
              <a:srgbClr val="D5DED9"/>
            </a:solidFill>
            <a:prstDash val="solid"/>
          </a:ln>
        </p:spPr>
      </p:sp>
      <p:sp>
        <p:nvSpPr>
          <p:cNvPr id="13" name="Text 10"/>
          <p:cNvSpPr txBox="1"/>
          <p:nvPr/>
        </p:nvSpPr>
        <p:spPr>
          <a:xfrm>
            <a:off x="731520" y="1508760"/>
            <a:ext cx="640080" cy="685800"/>
          </a:xfrm>
          <a:prstGeom prst="rect">
            <a:avLst/>
          </a:prstGeom>
          <a:noFill/>
          <a:ln/>
        </p:spPr>
        <p:txBody>
          <a:bodyPr wrap="square" lIns="0" tIns="0" rIns="0" bIns="0" rtlCol="0" anchor="ctr"/>
          <a:lstStyle/>
          <a:p>
            <a:pPr marL="0" indent="0">
              <a:buNone/>
            </a:pPr>
            <a:r>
              <a:rPr lang="fr-FR" sz="4000" b="1" dirty="0">
                <a:solidFill>
                  <a:srgbClr val="F5C242"/>
                </a:solidFill>
                <a:latin typeface="Calibri" pitchFamily="34" charset="0"/>
                <a:ea typeface="Calibri" pitchFamily="34" charset="-122"/>
                <a:cs typeface="Calibri" pitchFamily="34" charset="-120"/>
              </a:rPr>
              <a:t>A</a:t>
            </a:r>
            <a:endParaRPr lang="fr-FR" sz="4000" dirty="0"/>
          </a:p>
        </p:txBody>
      </p:sp>
      <p:pic>
        <p:nvPicPr>
          <p:cNvPr id="14" name="Image 1" descr="preencoded.png"/>
          <p:cNvPicPr>
            <a:picLocks noChangeAspect="1"/>
          </p:cNvPicPr>
          <p:nvPr/>
        </p:nvPicPr>
        <p:blipFill>
          <a:blip r:embed="rId4"/>
          <a:stretch>
            <a:fillRect/>
          </a:stretch>
        </p:blipFill>
        <p:spPr>
          <a:xfrm>
            <a:off x="2514600" y="1645920"/>
            <a:ext cx="411480" cy="411480"/>
          </a:xfrm>
          <a:prstGeom prst="rect">
            <a:avLst/>
          </a:prstGeom>
        </p:spPr>
      </p:pic>
      <p:sp>
        <p:nvSpPr>
          <p:cNvPr id="15" name="Text 11"/>
          <p:cNvSpPr txBox="1"/>
          <p:nvPr/>
        </p:nvSpPr>
        <p:spPr>
          <a:xfrm>
            <a:off x="731520" y="2240280"/>
            <a:ext cx="22860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Indicateur de production</a:t>
            </a:r>
            <a:endParaRPr lang="fr-FR" sz="1500" dirty="0"/>
          </a:p>
        </p:txBody>
      </p:sp>
      <p:sp>
        <p:nvSpPr>
          <p:cNvPr id="16" name="Text 12"/>
          <p:cNvSpPr txBox="1"/>
          <p:nvPr/>
        </p:nvSpPr>
        <p:spPr>
          <a:xfrm>
            <a:off x="731520" y="274320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INDICATEUR NTL</a:t>
            </a:r>
            <a:endParaRPr lang="fr-FR" sz="900" dirty="0"/>
          </a:p>
        </p:txBody>
      </p:sp>
      <p:sp>
        <p:nvSpPr>
          <p:cNvPr id="17" name="Text 13"/>
          <p:cNvSpPr txBox="1"/>
          <p:nvPr/>
        </p:nvSpPr>
        <p:spPr>
          <a:xfrm>
            <a:off x="731520" y="297180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SOL annuelle par région (VNP46A4 ou moyenne VNP46A3)</a:t>
            </a:r>
            <a:endParaRPr lang="fr-FR" sz="1150" dirty="0"/>
          </a:p>
        </p:txBody>
      </p:sp>
      <p:sp>
        <p:nvSpPr>
          <p:cNvPr id="18" name="Text 14"/>
          <p:cNvSpPr txBox="1"/>
          <p:nvPr/>
        </p:nvSpPr>
        <p:spPr>
          <a:xfrm>
            <a:off x="731520" y="370332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COMPARATEUR OFFICIEL</a:t>
            </a:r>
            <a:endParaRPr lang="fr-FR" sz="900" dirty="0"/>
          </a:p>
        </p:txBody>
      </p:sp>
      <p:sp>
        <p:nvSpPr>
          <p:cNvPr id="19" name="Text 15"/>
          <p:cNvSpPr txBox="1"/>
          <p:nvPr/>
        </p:nvSpPr>
        <p:spPr>
          <a:xfrm>
            <a:off x="731520" y="393192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PIB / VA régionale, ou PIB trimestriel national</a:t>
            </a:r>
            <a:endParaRPr lang="fr-FR" sz="1150" dirty="0"/>
          </a:p>
        </p:txBody>
      </p:sp>
      <p:sp>
        <p:nvSpPr>
          <p:cNvPr id="20" name="Text 16"/>
          <p:cNvSpPr txBox="1"/>
          <p:nvPr/>
        </p:nvSpPr>
        <p:spPr>
          <a:xfrm>
            <a:off x="731520" y="466344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TEST</a:t>
            </a:r>
            <a:endParaRPr lang="fr-FR" sz="900" dirty="0"/>
          </a:p>
        </p:txBody>
      </p:sp>
      <p:sp>
        <p:nvSpPr>
          <p:cNvPr id="21" name="Text 17"/>
          <p:cNvSpPr txBox="1"/>
          <p:nvPr/>
        </p:nvSpPr>
        <p:spPr>
          <a:xfrm>
            <a:off x="731520" y="489204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Élasticité en taux de croissance ; ajustement par région</a:t>
            </a:r>
            <a:endParaRPr lang="fr-FR" sz="1150" dirty="0"/>
          </a:p>
        </p:txBody>
      </p:sp>
      <p:sp>
        <p:nvSpPr>
          <p:cNvPr id="22" name="Shape 18"/>
          <p:cNvSpPr/>
          <p:nvPr/>
        </p:nvSpPr>
        <p:spPr>
          <a:xfrm>
            <a:off x="3355848" y="1371600"/>
            <a:ext cx="2651760" cy="4343400"/>
          </a:xfrm>
          <a:prstGeom prst="roundRect">
            <a:avLst>
              <a:gd name="adj" fmla="val 2759"/>
            </a:avLst>
          </a:prstGeom>
          <a:solidFill>
            <a:srgbClr val="F4F7F5"/>
          </a:solidFill>
          <a:ln w="9525">
            <a:solidFill>
              <a:srgbClr val="D5DED9"/>
            </a:solidFill>
            <a:prstDash val="solid"/>
          </a:ln>
        </p:spPr>
      </p:sp>
      <p:sp>
        <p:nvSpPr>
          <p:cNvPr id="23" name="Text 19"/>
          <p:cNvSpPr txBox="1"/>
          <p:nvPr/>
        </p:nvSpPr>
        <p:spPr>
          <a:xfrm>
            <a:off x="3538728" y="1508760"/>
            <a:ext cx="640080" cy="685800"/>
          </a:xfrm>
          <a:prstGeom prst="rect">
            <a:avLst/>
          </a:prstGeom>
          <a:noFill/>
          <a:ln/>
        </p:spPr>
        <p:txBody>
          <a:bodyPr wrap="square" lIns="0" tIns="0" rIns="0" bIns="0" rtlCol="0" anchor="ctr"/>
          <a:lstStyle/>
          <a:p>
            <a:pPr marL="0" indent="0">
              <a:buNone/>
            </a:pPr>
            <a:r>
              <a:rPr lang="fr-FR" sz="4000" b="1" dirty="0">
                <a:solidFill>
                  <a:srgbClr val="F5C242"/>
                </a:solidFill>
                <a:latin typeface="Calibri" pitchFamily="34" charset="0"/>
                <a:ea typeface="Calibri" pitchFamily="34" charset="-122"/>
                <a:cs typeface="Calibri" pitchFamily="34" charset="-120"/>
              </a:rPr>
              <a:t>B</a:t>
            </a:r>
            <a:endParaRPr lang="fr-FR" sz="4000" dirty="0"/>
          </a:p>
        </p:txBody>
      </p:sp>
      <p:pic>
        <p:nvPicPr>
          <p:cNvPr id="24" name="Image 2" descr="preencoded.png"/>
          <p:cNvPicPr>
            <a:picLocks noChangeAspect="1"/>
          </p:cNvPicPr>
          <p:nvPr/>
        </p:nvPicPr>
        <p:blipFill>
          <a:blip r:embed="rId5"/>
          <a:stretch>
            <a:fillRect/>
          </a:stretch>
        </p:blipFill>
        <p:spPr>
          <a:xfrm>
            <a:off x="5321808" y="1645920"/>
            <a:ext cx="411480" cy="411480"/>
          </a:xfrm>
          <a:prstGeom prst="rect">
            <a:avLst/>
          </a:prstGeom>
        </p:spPr>
      </p:pic>
      <p:sp>
        <p:nvSpPr>
          <p:cNvPr id="25" name="Text 20"/>
          <p:cNvSpPr txBox="1"/>
          <p:nvPr/>
        </p:nvSpPr>
        <p:spPr>
          <a:xfrm>
            <a:off x="3538728" y="2240280"/>
            <a:ext cx="22860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Électrification</a:t>
            </a:r>
            <a:endParaRPr lang="fr-FR" sz="1500" dirty="0"/>
          </a:p>
        </p:txBody>
      </p:sp>
      <p:sp>
        <p:nvSpPr>
          <p:cNvPr id="26" name="Text 21"/>
          <p:cNvSpPr txBox="1"/>
          <p:nvPr/>
        </p:nvSpPr>
        <p:spPr>
          <a:xfrm>
            <a:off x="3538728" y="274320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INDICATEUR NTL</a:t>
            </a:r>
            <a:endParaRPr lang="fr-FR" sz="900" dirty="0"/>
          </a:p>
        </p:txBody>
      </p:sp>
      <p:sp>
        <p:nvSpPr>
          <p:cNvPr id="27" name="Text 22"/>
          <p:cNvSpPr txBox="1"/>
          <p:nvPr/>
        </p:nvSpPr>
        <p:spPr>
          <a:xfrm>
            <a:off x="3538728" y="297180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Part des localités éclairées, par district</a:t>
            </a:r>
            <a:endParaRPr lang="fr-FR" sz="1150" dirty="0"/>
          </a:p>
        </p:txBody>
      </p:sp>
      <p:sp>
        <p:nvSpPr>
          <p:cNvPr id="28" name="Text 23"/>
          <p:cNvSpPr txBox="1"/>
          <p:nvPr/>
        </p:nvSpPr>
        <p:spPr>
          <a:xfrm>
            <a:off x="3538728" y="370332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COMPARATEUR OFFICIEL</a:t>
            </a:r>
            <a:endParaRPr lang="fr-FR" sz="900" dirty="0"/>
          </a:p>
        </p:txBody>
      </p:sp>
      <p:sp>
        <p:nvSpPr>
          <p:cNvPr id="29" name="Text 24"/>
          <p:cNvSpPr txBox="1"/>
          <p:nvPr/>
        </p:nvSpPr>
        <p:spPr>
          <a:xfrm>
            <a:off x="3538728" y="393192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Part des ménages électrifiés (recensement ou EDS)</a:t>
            </a:r>
            <a:endParaRPr lang="fr-FR" sz="1150" dirty="0"/>
          </a:p>
        </p:txBody>
      </p:sp>
      <p:sp>
        <p:nvSpPr>
          <p:cNvPr id="30" name="Text 25"/>
          <p:cNvSpPr txBox="1"/>
          <p:nvPr/>
        </p:nvSpPr>
        <p:spPr>
          <a:xfrm>
            <a:off x="3538728" y="466344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TEST</a:t>
            </a:r>
            <a:endParaRPr lang="fr-FR" sz="900" dirty="0"/>
          </a:p>
        </p:txBody>
      </p:sp>
      <p:sp>
        <p:nvSpPr>
          <p:cNvPr id="31" name="Text 26"/>
          <p:cNvSpPr txBox="1"/>
          <p:nvPr/>
        </p:nvSpPr>
        <p:spPr>
          <a:xfrm>
            <a:off x="3538728" y="489204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Corrélation entre districts ; valeurs atypiques</a:t>
            </a:r>
            <a:endParaRPr lang="fr-FR" sz="1150" dirty="0"/>
          </a:p>
        </p:txBody>
      </p:sp>
      <p:sp>
        <p:nvSpPr>
          <p:cNvPr id="32" name="Shape 27"/>
          <p:cNvSpPr/>
          <p:nvPr/>
        </p:nvSpPr>
        <p:spPr>
          <a:xfrm>
            <a:off x="6163056" y="1371600"/>
            <a:ext cx="2651760" cy="4343400"/>
          </a:xfrm>
          <a:prstGeom prst="roundRect">
            <a:avLst>
              <a:gd name="adj" fmla="val 2759"/>
            </a:avLst>
          </a:prstGeom>
          <a:solidFill>
            <a:srgbClr val="F4F7F5"/>
          </a:solidFill>
          <a:ln w="9525">
            <a:solidFill>
              <a:srgbClr val="D5DED9"/>
            </a:solidFill>
            <a:prstDash val="solid"/>
          </a:ln>
        </p:spPr>
      </p:sp>
      <p:sp>
        <p:nvSpPr>
          <p:cNvPr id="33" name="Text 28"/>
          <p:cNvSpPr txBox="1"/>
          <p:nvPr/>
        </p:nvSpPr>
        <p:spPr>
          <a:xfrm>
            <a:off x="6345936" y="1508760"/>
            <a:ext cx="640080" cy="685800"/>
          </a:xfrm>
          <a:prstGeom prst="rect">
            <a:avLst/>
          </a:prstGeom>
          <a:noFill/>
          <a:ln/>
        </p:spPr>
        <p:txBody>
          <a:bodyPr wrap="square" lIns="0" tIns="0" rIns="0" bIns="0" rtlCol="0" anchor="ctr"/>
          <a:lstStyle/>
          <a:p>
            <a:pPr marL="0" indent="0">
              <a:buNone/>
            </a:pPr>
            <a:r>
              <a:rPr lang="fr-FR" sz="4000" b="1" dirty="0">
                <a:solidFill>
                  <a:srgbClr val="F5C242"/>
                </a:solidFill>
                <a:latin typeface="Calibri" pitchFamily="34" charset="0"/>
                <a:ea typeface="Calibri" pitchFamily="34" charset="-122"/>
                <a:cs typeface="Calibri" pitchFamily="34" charset="-120"/>
              </a:rPr>
              <a:t>C</a:t>
            </a:r>
            <a:endParaRPr lang="fr-FR" sz="4000" dirty="0"/>
          </a:p>
        </p:txBody>
      </p:sp>
      <p:pic>
        <p:nvPicPr>
          <p:cNvPr id="34" name="Image 3" descr="preencoded.png"/>
          <p:cNvPicPr>
            <a:picLocks noChangeAspect="1"/>
          </p:cNvPicPr>
          <p:nvPr/>
        </p:nvPicPr>
        <p:blipFill>
          <a:blip r:embed="rId6"/>
          <a:stretch>
            <a:fillRect/>
          </a:stretch>
        </p:blipFill>
        <p:spPr>
          <a:xfrm>
            <a:off x="8129016" y="1645920"/>
            <a:ext cx="411480" cy="411480"/>
          </a:xfrm>
          <a:prstGeom prst="rect">
            <a:avLst/>
          </a:prstGeom>
        </p:spPr>
      </p:pic>
      <p:sp>
        <p:nvSpPr>
          <p:cNvPr id="35" name="Text 29"/>
          <p:cNvSpPr txBox="1"/>
          <p:nvPr/>
        </p:nvSpPr>
        <p:spPr>
          <a:xfrm>
            <a:off x="6345936" y="2240280"/>
            <a:ext cx="22860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Urbanisation</a:t>
            </a:r>
            <a:endParaRPr lang="fr-FR" sz="1500" dirty="0"/>
          </a:p>
        </p:txBody>
      </p:sp>
      <p:sp>
        <p:nvSpPr>
          <p:cNvPr id="36" name="Text 30"/>
          <p:cNvSpPr txBox="1"/>
          <p:nvPr/>
        </p:nvSpPr>
        <p:spPr>
          <a:xfrm>
            <a:off x="6345936" y="274320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INDICATEUR NTL</a:t>
            </a:r>
            <a:endParaRPr lang="fr-FR" sz="900" dirty="0"/>
          </a:p>
        </p:txBody>
      </p:sp>
      <p:sp>
        <p:nvSpPr>
          <p:cNvPr id="37" name="Text 31"/>
          <p:cNvSpPr txBox="1"/>
          <p:nvPr/>
        </p:nvSpPr>
        <p:spPr>
          <a:xfrm>
            <a:off x="6345936" y="297180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Surface éclairée au-dessus du seuil, par district</a:t>
            </a:r>
            <a:endParaRPr lang="fr-FR" sz="1150" dirty="0"/>
          </a:p>
        </p:txBody>
      </p:sp>
      <p:sp>
        <p:nvSpPr>
          <p:cNvPr id="38" name="Text 32"/>
          <p:cNvSpPr txBox="1"/>
          <p:nvPr/>
        </p:nvSpPr>
        <p:spPr>
          <a:xfrm>
            <a:off x="6345936" y="370332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COMPARATEUR OFFICIEL</a:t>
            </a:r>
            <a:endParaRPr lang="fr-FR" sz="900" dirty="0"/>
          </a:p>
        </p:txBody>
      </p:sp>
      <p:sp>
        <p:nvSpPr>
          <p:cNvPr id="39" name="Text 33"/>
          <p:cNvSpPr txBox="1"/>
          <p:nvPr/>
        </p:nvSpPr>
        <p:spPr>
          <a:xfrm>
            <a:off x="6345936" y="393192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Population urbaine (recensement) ou surface bâtie</a:t>
            </a:r>
            <a:endParaRPr lang="fr-FR" sz="1150" dirty="0"/>
          </a:p>
        </p:txBody>
      </p:sp>
      <p:sp>
        <p:nvSpPr>
          <p:cNvPr id="40" name="Text 34"/>
          <p:cNvSpPr txBox="1"/>
          <p:nvPr/>
        </p:nvSpPr>
        <p:spPr>
          <a:xfrm>
            <a:off x="6345936" y="466344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TEST</a:t>
            </a:r>
            <a:endParaRPr lang="fr-FR" sz="900" dirty="0"/>
          </a:p>
        </p:txBody>
      </p:sp>
      <p:sp>
        <p:nvSpPr>
          <p:cNvPr id="41" name="Text 35"/>
          <p:cNvSpPr txBox="1"/>
          <p:nvPr/>
        </p:nvSpPr>
        <p:spPr>
          <a:xfrm>
            <a:off x="6345936" y="489204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Niveaux et croissance ; étalement ou densification</a:t>
            </a:r>
            <a:endParaRPr lang="fr-FR" sz="1150" dirty="0"/>
          </a:p>
        </p:txBody>
      </p:sp>
      <p:sp>
        <p:nvSpPr>
          <p:cNvPr id="42" name="Shape 36"/>
          <p:cNvSpPr/>
          <p:nvPr/>
        </p:nvSpPr>
        <p:spPr>
          <a:xfrm>
            <a:off x="8970264" y="1371600"/>
            <a:ext cx="2651760" cy="4343400"/>
          </a:xfrm>
          <a:prstGeom prst="roundRect">
            <a:avLst>
              <a:gd name="adj" fmla="val 2759"/>
            </a:avLst>
          </a:prstGeom>
          <a:solidFill>
            <a:srgbClr val="F4F7F5"/>
          </a:solidFill>
          <a:ln w="9525">
            <a:solidFill>
              <a:srgbClr val="D5DED9"/>
            </a:solidFill>
            <a:prstDash val="solid"/>
          </a:ln>
        </p:spPr>
      </p:sp>
      <p:sp>
        <p:nvSpPr>
          <p:cNvPr id="43" name="Text 37"/>
          <p:cNvSpPr txBox="1"/>
          <p:nvPr/>
        </p:nvSpPr>
        <p:spPr>
          <a:xfrm>
            <a:off x="9153144" y="1508760"/>
            <a:ext cx="640080" cy="685800"/>
          </a:xfrm>
          <a:prstGeom prst="rect">
            <a:avLst/>
          </a:prstGeom>
          <a:noFill/>
          <a:ln/>
        </p:spPr>
        <p:txBody>
          <a:bodyPr wrap="square" lIns="0" tIns="0" rIns="0" bIns="0" rtlCol="0" anchor="ctr"/>
          <a:lstStyle/>
          <a:p>
            <a:pPr marL="0" indent="0">
              <a:buNone/>
            </a:pPr>
            <a:r>
              <a:rPr lang="fr-FR" sz="4000" b="1" dirty="0">
                <a:solidFill>
                  <a:srgbClr val="F5C242"/>
                </a:solidFill>
                <a:latin typeface="Calibri" pitchFamily="34" charset="0"/>
                <a:ea typeface="Calibri" pitchFamily="34" charset="-122"/>
                <a:cs typeface="Calibri" pitchFamily="34" charset="-120"/>
              </a:rPr>
              <a:t>D</a:t>
            </a:r>
            <a:endParaRPr lang="fr-FR" sz="4000" dirty="0"/>
          </a:p>
        </p:txBody>
      </p:sp>
      <p:pic>
        <p:nvPicPr>
          <p:cNvPr id="44" name="Image 4" descr="preencoded.png"/>
          <p:cNvPicPr>
            <a:picLocks noChangeAspect="1"/>
          </p:cNvPicPr>
          <p:nvPr/>
        </p:nvPicPr>
        <p:blipFill>
          <a:blip r:embed="rId7"/>
          <a:stretch>
            <a:fillRect/>
          </a:stretch>
        </p:blipFill>
        <p:spPr>
          <a:xfrm>
            <a:off x="10936224" y="1645920"/>
            <a:ext cx="411480" cy="411480"/>
          </a:xfrm>
          <a:prstGeom prst="rect">
            <a:avLst/>
          </a:prstGeom>
        </p:spPr>
      </p:pic>
      <p:sp>
        <p:nvSpPr>
          <p:cNvPr id="45" name="Text 38"/>
          <p:cNvSpPr txBox="1"/>
          <p:nvPr/>
        </p:nvSpPr>
        <p:spPr>
          <a:xfrm>
            <a:off x="9153144" y="2240280"/>
            <a:ext cx="2286000" cy="365760"/>
          </a:xfrm>
          <a:prstGeom prst="rect">
            <a:avLst/>
          </a:prstGeom>
          <a:noFill/>
          <a:ln/>
        </p:spPr>
        <p:txBody>
          <a:bodyPr wrap="square" lIns="0" tIns="0" rIns="0" bIns="0" rtlCol="0" anchor="t"/>
          <a:lstStyle/>
          <a:p>
            <a:pPr marL="0" indent="0">
              <a:buNone/>
            </a:pPr>
            <a:r>
              <a:rPr lang="fr-FR" sz="1500" b="1" dirty="0">
                <a:solidFill>
                  <a:srgbClr val="00704A"/>
                </a:solidFill>
                <a:latin typeface="Calibri" pitchFamily="34" charset="0"/>
                <a:ea typeface="Calibri" pitchFamily="34" charset="-122"/>
                <a:cs typeface="Calibri" pitchFamily="34" charset="-120"/>
              </a:rPr>
              <a:t>Choc</a:t>
            </a:r>
            <a:endParaRPr lang="fr-FR" sz="1500" dirty="0"/>
          </a:p>
        </p:txBody>
      </p:sp>
      <p:sp>
        <p:nvSpPr>
          <p:cNvPr id="46" name="Text 39"/>
          <p:cNvSpPr txBox="1"/>
          <p:nvPr/>
        </p:nvSpPr>
        <p:spPr>
          <a:xfrm>
            <a:off x="9153144" y="274320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INDICATEUR NTL</a:t>
            </a:r>
            <a:endParaRPr lang="fr-FR" sz="900" dirty="0"/>
          </a:p>
        </p:txBody>
      </p:sp>
      <p:sp>
        <p:nvSpPr>
          <p:cNvPr id="47" name="Text 40"/>
          <p:cNvSpPr txBox="1"/>
          <p:nvPr/>
        </p:nvSpPr>
        <p:spPr>
          <a:xfrm>
            <a:off x="9153144" y="297180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Radiance quotidienne ou mensuelle vs référence</a:t>
            </a:r>
            <a:endParaRPr lang="fr-FR" sz="1150" dirty="0"/>
          </a:p>
        </p:txBody>
      </p:sp>
      <p:sp>
        <p:nvSpPr>
          <p:cNvPr id="48" name="Text 41"/>
          <p:cNvSpPr txBox="1"/>
          <p:nvPr/>
        </p:nvSpPr>
        <p:spPr>
          <a:xfrm>
            <a:off x="9153144" y="370332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COMPARATEUR OFFICIEL</a:t>
            </a:r>
            <a:endParaRPr lang="fr-FR" sz="900" dirty="0"/>
          </a:p>
        </p:txBody>
      </p:sp>
      <p:sp>
        <p:nvSpPr>
          <p:cNvPr id="49" name="Text 42"/>
          <p:cNvSpPr txBox="1"/>
          <p:nvPr/>
        </p:nvSpPr>
        <p:spPr>
          <a:xfrm>
            <a:off x="9153144" y="393192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Rapports de coupures, statistiques de catastrophe ou d’activité</a:t>
            </a:r>
            <a:endParaRPr lang="fr-FR" sz="1150" dirty="0"/>
          </a:p>
        </p:txBody>
      </p:sp>
      <p:sp>
        <p:nvSpPr>
          <p:cNvPr id="50" name="Text 43"/>
          <p:cNvSpPr txBox="1"/>
          <p:nvPr/>
        </p:nvSpPr>
        <p:spPr>
          <a:xfrm>
            <a:off x="9153144" y="4663440"/>
            <a:ext cx="2286000" cy="228600"/>
          </a:xfrm>
          <a:prstGeom prst="rect">
            <a:avLst/>
          </a:prstGeom>
          <a:noFill/>
          <a:ln/>
        </p:spPr>
        <p:txBody>
          <a:bodyPr wrap="square" lIns="0" tIns="0" rIns="0" bIns="0" rtlCol="0" anchor="t"/>
          <a:lstStyle/>
          <a:p>
            <a:pPr marL="0" indent="0">
              <a:buNone/>
            </a:pPr>
            <a:r>
              <a:rPr lang="fr-FR" sz="900" b="1" kern="0" spc="150" dirty="0">
                <a:solidFill>
                  <a:srgbClr val="0E7C86"/>
                </a:solidFill>
                <a:latin typeface="Calibri" pitchFamily="34" charset="0"/>
                <a:ea typeface="Calibri" pitchFamily="34" charset="-122"/>
                <a:cs typeface="Calibri" pitchFamily="34" charset="-120"/>
              </a:rPr>
              <a:t>TEST</a:t>
            </a:r>
            <a:endParaRPr lang="fr-FR" sz="900" dirty="0"/>
          </a:p>
        </p:txBody>
      </p:sp>
      <p:sp>
        <p:nvSpPr>
          <p:cNvPr id="51" name="Text 44"/>
          <p:cNvSpPr txBox="1"/>
          <p:nvPr/>
        </p:nvSpPr>
        <p:spPr>
          <a:xfrm>
            <a:off x="9153144" y="4892040"/>
            <a:ext cx="22860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Date et ampleur de la chute ; reprise</a:t>
            </a:r>
            <a:endParaRPr lang="fr-FR" sz="1150" dirty="0"/>
          </a:p>
        </p:txBody>
      </p:sp>
      <p:sp>
        <p:nvSpPr>
          <p:cNvPr id="52" name="Text 45"/>
          <p:cNvSpPr txBox="1"/>
          <p:nvPr/>
        </p:nvSpPr>
        <p:spPr>
          <a:xfrm>
            <a:off x="548640" y="5870448"/>
            <a:ext cx="11094415" cy="274320"/>
          </a:xfrm>
          <a:prstGeom prst="rect">
            <a:avLst/>
          </a:prstGeom>
          <a:noFill/>
          <a:ln/>
        </p:spPr>
        <p:txBody>
          <a:bodyPr wrap="square" lIns="0" tIns="0" rIns="0" bIns="0" rtlCol="0" anchor="t"/>
          <a:lstStyle/>
          <a:p>
            <a:pPr marL="0" indent="0">
              <a:buNone/>
            </a:pPr>
            <a:r>
              <a:rPr lang="fr-FR" sz="1100" i="1" dirty="0">
                <a:solidFill>
                  <a:srgbClr val="00704A"/>
                </a:solidFill>
                <a:latin typeface="Calibri" pitchFamily="34" charset="0"/>
                <a:ea typeface="Calibri" pitchFamily="34" charset="-122"/>
                <a:cs typeface="Calibri" pitchFamily="34" charset="-120"/>
              </a:rPr>
              <a:t>Reconstruire, c’est reproduire la logique d’un cas d’usage publié sur votre pays, avec vos propres données officielles.</a:t>
            </a:r>
            <a:endParaRPr lang="fr-FR"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LABO B · ÉTAPES 2–5 · COMPARER</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Comparer en niveaux et en évolutions — puis cartographier le reste</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53</a:t>
            </a:r>
            <a:endParaRPr lang="fr-FR" sz="900" dirty="0"/>
          </a:p>
        </p:txBody>
      </p:sp>
      <p:sp>
        <p:nvSpPr>
          <p:cNvPr id="12" name="Shape 9"/>
          <p:cNvSpPr/>
          <p:nvPr/>
        </p:nvSpPr>
        <p:spPr>
          <a:xfrm>
            <a:off x="548640" y="1371600"/>
            <a:ext cx="5212080" cy="777240"/>
          </a:xfrm>
          <a:prstGeom prst="roundRect">
            <a:avLst>
              <a:gd name="adj" fmla="val 9412"/>
            </a:avLst>
          </a:prstGeom>
          <a:solidFill>
            <a:srgbClr val="F4F7F5"/>
          </a:solidFill>
          <a:ln w="9525">
            <a:solidFill>
              <a:srgbClr val="D5DED9"/>
            </a:solidFill>
            <a:prstDash val="solid"/>
          </a:ln>
        </p:spPr>
      </p:sp>
      <p:sp>
        <p:nvSpPr>
          <p:cNvPr id="13" name="Shape 10"/>
          <p:cNvSpPr/>
          <p:nvPr/>
        </p:nvSpPr>
        <p:spPr>
          <a:xfrm>
            <a:off x="713232" y="1527048"/>
            <a:ext cx="457200" cy="457200"/>
          </a:xfrm>
          <a:prstGeom prst="ellipse">
            <a:avLst/>
          </a:prstGeom>
          <a:solidFill>
            <a:srgbClr val="F5C242"/>
          </a:solidFill>
          <a:ln w="12700">
            <a:solidFill>
              <a:srgbClr val="F5C242"/>
            </a:solidFill>
            <a:prstDash val="solid"/>
          </a:ln>
        </p:spPr>
      </p:sp>
      <p:sp>
        <p:nvSpPr>
          <p:cNvPr id="14" name="Text 11"/>
          <p:cNvSpPr txBox="1"/>
          <p:nvPr/>
        </p:nvSpPr>
        <p:spPr>
          <a:xfrm>
            <a:off x="713232" y="1527048"/>
            <a:ext cx="457200" cy="457200"/>
          </a:xfrm>
          <a:prstGeom prst="rect">
            <a:avLst/>
          </a:prstGeom>
          <a:noFill/>
          <a:ln/>
        </p:spPr>
        <p:txBody>
          <a:bodyPr wrap="square" lIns="0" tIns="0" rIns="0" bIns="0" rtlCol="0" anchor="ctr"/>
          <a:lstStyle/>
          <a:p>
            <a:pPr marL="0" indent="0" algn="ctr">
              <a:buNone/>
            </a:pPr>
            <a:r>
              <a:rPr lang="fr-FR" sz="1300" b="1" dirty="0">
                <a:solidFill>
                  <a:srgbClr val="00553A"/>
                </a:solidFill>
                <a:latin typeface="Calibri" pitchFamily="34" charset="0"/>
                <a:ea typeface="Calibri" pitchFamily="34" charset="-122"/>
                <a:cs typeface="Calibri" pitchFamily="34" charset="-120"/>
              </a:rPr>
              <a:t>2</a:t>
            </a:r>
            <a:endParaRPr lang="fr-FR" sz="1300" dirty="0"/>
          </a:p>
        </p:txBody>
      </p:sp>
      <p:sp>
        <p:nvSpPr>
          <p:cNvPr id="15" name="Text 12"/>
          <p:cNvSpPr txBox="1"/>
          <p:nvPr/>
        </p:nvSpPr>
        <p:spPr>
          <a:xfrm>
            <a:off x="1325880" y="1417320"/>
            <a:ext cx="4297680" cy="301752"/>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Aligner</a:t>
            </a:r>
            <a:endParaRPr lang="fr-FR" sz="1300" dirty="0"/>
          </a:p>
        </p:txBody>
      </p:sp>
      <p:sp>
        <p:nvSpPr>
          <p:cNvPr id="16" name="Text 13"/>
          <p:cNvSpPr txBox="1"/>
          <p:nvPr/>
        </p:nvSpPr>
        <p:spPr>
          <a:xfrm>
            <a:off x="1325880" y="1719072"/>
            <a:ext cx="4343400" cy="41148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Mêmes unités (régions ou districts) et mêmes périodes pour les deux séries.</a:t>
            </a:r>
            <a:endParaRPr lang="fr-FR" sz="1100" dirty="0"/>
          </a:p>
        </p:txBody>
      </p:sp>
      <p:sp>
        <p:nvSpPr>
          <p:cNvPr id="17" name="Shape 14"/>
          <p:cNvSpPr/>
          <p:nvPr/>
        </p:nvSpPr>
        <p:spPr>
          <a:xfrm>
            <a:off x="548640" y="2258568"/>
            <a:ext cx="5212080" cy="777240"/>
          </a:xfrm>
          <a:prstGeom prst="roundRect">
            <a:avLst>
              <a:gd name="adj" fmla="val 9412"/>
            </a:avLst>
          </a:prstGeom>
          <a:solidFill>
            <a:srgbClr val="F4F7F5"/>
          </a:solidFill>
          <a:ln w="9525">
            <a:solidFill>
              <a:srgbClr val="D5DED9"/>
            </a:solidFill>
            <a:prstDash val="solid"/>
          </a:ln>
        </p:spPr>
      </p:sp>
      <p:sp>
        <p:nvSpPr>
          <p:cNvPr id="18" name="Shape 15"/>
          <p:cNvSpPr/>
          <p:nvPr/>
        </p:nvSpPr>
        <p:spPr>
          <a:xfrm>
            <a:off x="713232" y="2414016"/>
            <a:ext cx="457200" cy="457200"/>
          </a:xfrm>
          <a:prstGeom prst="ellipse">
            <a:avLst/>
          </a:prstGeom>
          <a:solidFill>
            <a:srgbClr val="F5C242"/>
          </a:solidFill>
          <a:ln w="12700">
            <a:solidFill>
              <a:srgbClr val="F5C242"/>
            </a:solidFill>
            <a:prstDash val="solid"/>
          </a:ln>
        </p:spPr>
      </p:sp>
      <p:sp>
        <p:nvSpPr>
          <p:cNvPr id="19" name="Text 16"/>
          <p:cNvSpPr txBox="1"/>
          <p:nvPr/>
        </p:nvSpPr>
        <p:spPr>
          <a:xfrm>
            <a:off x="713232" y="2414016"/>
            <a:ext cx="457200" cy="457200"/>
          </a:xfrm>
          <a:prstGeom prst="rect">
            <a:avLst/>
          </a:prstGeom>
          <a:noFill/>
          <a:ln/>
        </p:spPr>
        <p:txBody>
          <a:bodyPr wrap="square" lIns="0" tIns="0" rIns="0" bIns="0" rtlCol="0" anchor="ctr"/>
          <a:lstStyle/>
          <a:p>
            <a:pPr marL="0" indent="0" algn="ctr">
              <a:buNone/>
            </a:pPr>
            <a:r>
              <a:rPr lang="fr-FR" sz="1300" b="1" dirty="0">
                <a:solidFill>
                  <a:srgbClr val="00553A"/>
                </a:solidFill>
                <a:latin typeface="Calibri" pitchFamily="34" charset="0"/>
                <a:ea typeface="Calibri" pitchFamily="34" charset="-122"/>
                <a:cs typeface="Calibri" pitchFamily="34" charset="-120"/>
              </a:rPr>
              <a:t>3</a:t>
            </a:r>
            <a:endParaRPr lang="fr-FR" sz="1300" dirty="0"/>
          </a:p>
        </p:txBody>
      </p:sp>
      <p:sp>
        <p:nvSpPr>
          <p:cNvPr id="20" name="Text 17"/>
          <p:cNvSpPr txBox="1"/>
          <p:nvPr/>
        </p:nvSpPr>
        <p:spPr>
          <a:xfrm>
            <a:off x="1325880" y="2304288"/>
            <a:ext cx="4297680" cy="301752"/>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Transformer</a:t>
            </a:r>
            <a:endParaRPr lang="fr-FR" sz="1300" dirty="0"/>
          </a:p>
        </p:txBody>
      </p:sp>
      <p:sp>
        <p:nvSpPr>
          <p:cNvPr id="21" name="Text 18"/>
          <p:cNvSpPr txBox="1"/>
          <p:nvPr/>
        </p:nvSpPr>
        <p:spPr>
          <a:xfrm>
            <a:off x="1325880" y="2606040"/>
            <a:ext cx="4343400" cy="41148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Logs pour les totaux asymétriques ; taux de croissance pour les évolutions ; par km² ou par habitant si justifié.</a:t>
            </a:r>
            <a:endParaRPr lang="fr-FR" sz="1100" dirty="0"/>
          </a:p>
        </p:txBody>
      </p:sp>
      <p:sp>
        <p:nvSpPr>
          <p:cNvPr id="22" name="Shape 19"/>
          <p:cNvSpPr/>
          <p:nvPr/>
        </p:nvSpPr>
        <p:spPr>
          <a:xfrm>
            <a:off x="548640" y="3145536"/>
            <a:ext cx="5212080" cy="777240"/>
          </a:xfrm>
          <a:prstGeom prst="roundRect">
            <a:avLst>
              <a:gd name="adj" fmla="val 9412"/>
            </a:avLst>
          </a:prstGeom>
          <a:solidFill>
            <a:srgbClr val="F4F7F5"/>
          </a:solidFill>
          <a:ln w="9525">
            <a:solidFill>
              <a:srgbClr val="D5DED9"/>
            </a:solidFill>
            <a:prstDash val="solid"/>
          </a:ln>
        </p:spPr>
      </p:sp>
      <p:sp>
        <p:nvSpPr>
          <p:cNvPr id="23" name="Shape 20"/>
          <p:cNvSpPr/>
          <p:nvPr/>
        </p:nvSpPr>
        <p:spPr>
          <a:xfrm>
            <a:off x="713232" y="3300984"/>
            <a:ext cx="457200" cy="457200"/>
          </a:xfrm>
          <a:prstGeom prst="ellipse">
            <a:avLst/>
          </a:prstGeom>
          <a:solidFill>
            <a:srgbClr val="F5C242"/>
          </a:solidFill>
          <a:ln w="12700">
            <a:solidFill>
              <a:srgbClr val="F5C242"/>
            </a:solidFill>
            <a:prstDash val="solid"/>
          </a:ln>
        </p:spPr>
      </p:sp>
      <p:sp>
        <p:nvSpPr>
          <p:cNvPr id="24" name="Text 21"/>
          <p:cNvSpPr txBox="1"/>
          <p:nvPr/>
        </p:nvSpPr>
        <p:spPr>
          <a:xfrm>
            <a:off x="713232" y="3300984"/>
            <a:ext cx="457200" cy="457200"/>
          </a:xfrm>
          <a:prstGeom prst="rect">
            <a:avLst/>
          </a:prstGeom>
          <a:noFill/>
          <a:ln/>
        </p:spPr>
        <p:txBody>
          <a:bodyPr wrap="square" lIns="0" tIns="0" rIns="0" bIns="0" rtlCol="0" anchor="ctr"/>
          <a:lstStyle/>
          <a:p>
            <a:pPr marL="0" indent="0" algn="ctr">
              <a:buNone/>
            </a:pPr>
            <a:r>
              <a:rPr lang="fr-FR" sz="1300" b="1" dirty="0">
                <a:solidFill>
                  <a:srgbClr val="00553A"/>
                </a:solidFill>
                <a:latin typeface="Calibri" pitchFamily="34" charset="0"/>
                <a:ea typeface="Calibri" pitchFamily="34" charset="-122"/>
                <a:cs typeface="Calibri" pitchFamily="34" charset="-120"/>
              </a:rPr>
              <a:t>4</a:t>
            </a:r>
            <a:endParaRPr lang="fr-FR" sz="1300" dirty="0"/>
          </a:p>
        </p:txBody>
      </p:sp>
      <p:sp>
        <p:nvSpPr>
          <p:cNvPr id="25" name="Text 22"/>
          <p:cNvSpPr txBox="1"/>
          <p:nvPr/>
        </p:nvSpPr>
        <p:spPr>
          <a:xfrm>
            <a:off x="1325880" y="3191256"/>
            <a:ext cx="4297680" cy="301752"/>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Comparer</a:t>
            </a:r>
            <a:endParaRPr lang="fr-FR" sz="1300" dirty="0"/>
          </a:p>
        </p:txBody>
      </p:sp>
      <p:sp>
        <p:nvSpPr>
          <p:cNvPr id="26" name="Text 23"/>
          <p:cNvSpPr txBox="1"/>
          <p:nvPr/>
        </p:nvSpPr>
        <p:spPr>
          <a:xfrm>
            <a:off x="1325880" y="3493008"/>
            <a:ext cx="4343400" cy="41148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Nuage de points, corrélation et pente — en niveaux, puis en évolutions.</a:t>
            </a:r>
            <a:endParaRPr lang="fr-FR" sz="1100" dirty="0"/>
          </a:p>
        </p:txBody>
      </p:sp>
      <p:sp>
        <p:nvSpPr>
          <p:cNvPr id="27" name="Shape 24"/>
          <p:cNvSpPr/>
          <p:nvPr/>
        </p:nvSpPr>
        <p:spPr>
          <a:xfrm>
            <a:off x="548640" y="4032504"/>
            <a:ext cx="5212080" cy="777240"/>
          </a:xfrm>
          <a:prstGeom prst="roundRect">
            <a:avLst>
              <a:gd name="adj" fmla="val 9412"/>
            </a:avLst>
          </a:prstGeom>
          <a:solidFill>
            <a:srgbClr val="F4F7F5"/>
          </a:solidFill>
          <a:ln w="9525">
            <a:solidFill>
              <a:srgbClr val="D5DED9"/>
            </a:solidFill>
            <a:prstDash val="solid"/>
          </a:ln>
        </p:spPr>
      </p:sp>
      <p:sp>
        <p:nvSpPr>
          <p:cNvPr id="28" name="Shape 25"/>
          <p:cNvSpPr/>
          <p:nvPr/>
        </p:nvSpPr>
        <p:spPr>
          <a:xfrm>
            <a:off x="713232" y="4187952"/>
            <a:ext cx="457200" cy="457200"/>
          </a:xfrm>
          <a:prstGeom prst="ellipse">
            <a:avLst/>
          </a:prstGeom>
          <a:solidFill>
            <a:srgbClr val="F5C242"/>
          </a:solidFill>
          <a:ln w="12700">
            <a:solidFill>
              <a:srgbClr val="F5C242"/>
            </a:solidFill>
            <a:prstDash val="solid"/>
          </a:ln>
        </p:spPr>
      </p:sp>
      <p:sp>
        <p:nvSpPr>
          <p:cNvPr id="29" name="Text 26"/>
          <p:cNvSpPr txBox="1"/>
          <p:nvPr/>
        </p:nvSpPr>
        <p:spPr>
          <a:xfrm>
            <a:off x="713232" y="4187952"/>
            <a:ext cx="457200" cy="457200"/>
          </a:xfrm>
          <a:prstGeom prst="rect">
            <a:avLst/>
          </a:prstGeom>
          <a:noFill/>
          <a:ln/>
        </p:spPr>
        <p:txBody>
          <a:bodyPr wrap="square" lIns="0" tIns="0" rIns="0" bIns="0" rtlCol="0" anchor="ctr"/>
          <a:lstStyle/>
          <a:p>
            <a:pPr marL="0" indent="0" algn="ctr">
              <a:buNone/>
            </a:pPr>
            <a:r>
              <a:rPr lang="fr-FR" sz="1300" b="1" dirty="0">
                <a:solidFill>
                  <a:srgbClr val="00553A"/>
                </a:solidFill>
                <a:latin typeface="Calibri" pitchFamily="34" charset="0"/>
                <a:ea typeface="Calibri" pitchFamily="34" charset="-122"/>
                <a:cs typeface="Calibri" pitchFamily="34" charset="-120"/>
              </a:rPr>
              <a:t>5</a:t>
            </a:r>
            <a:endParaRPr lang="fr-FR" sz="1300" dirty="0"/>
          </a:p>
        </p:txBody>
      </p:sp>
      <p:sp>
        <p:nvSpPr>
          <p:cNvPr id="30" name="Text 27"/>
          <p:cNvSpPr txBox="1"/>
          <p:nvPr/>
        </p:nvSpPr>
        <p:spPr>
          <a:xfrm>
            <a:off x="1325880" y="4078224"/>
            <a:ext cx="4297680" cy="301752"/>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Cartographier les résidus</a:t>
            </a:r>
            <a:endParaRPr lang="fr-FR" sz="1300" dirty="0"/>
          </a:p>
        </p:txBody>
      </p:sp>
      <p:sp>
        <p:nvSpPr>
          <p:cNvPr id="31" name="Text 28"/>
          <p:cNvSpPr txBox="1"/>
          <p:nvPr/>
        </p:nvSpPr>
        <p:spPr>
          <a:xfrm>
            <a:off x="1325880" y="4379976"/>
            <a:ext cx="4343400" cy="41148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Où l’indicateur officiel s’écarte-t-il fortement de ce que prédisent les lumières ?</a:t>
            </a:r>
            <a:endParaRPr lang="fr-FR" sz="1100" dirty="0"/>
          </a:p>
        </p:txBody>
      </p:sp>
      <p:sp>
        <p:nvSpPr>
          <p:cNvPr id="32" name="Shape 29"/>
          <p:cNvSpPr/>
          <p:nvPr/>
        </p:nvSpPr>
        <p:spPr>
          <a:xfrm>
            <a:off x="548640" y="4919472"/>
            <a:ext cx="5212080" cy="777240"/>
          </a:xfrm>
          <a:prstGeom prst="roundRect">
            <a:avLst>
              <a:gd name="adj" fmla="val 9412"/>
            </a:avLst>
          </a:prstGeom>
          <a:solidFill>
            <a:srgbClr val="F4F7F5"/>
          </a:solidFill>
          <a:ln w="9525">
            <a:solidFill>
              <a:srgbClr val="D5DED9"/>
            </a:solidFill>
            <a:prstDash val="solid"/>
          </a:ln>
        </p:spPr>
      </p:sp>
      <p:sp>
        <p:nvSpPr>
          <p:cNvPr id="33" name="Shape 30"/>
          <p:cNvSpPr/>
          <p:nvPr/>
        </p:nvSpPr>
        <p:spPr>
          <a:xfrm>
            <a:off x="713232" y="5074920"/>
            <a:ext cx="457200" cy="457200"/>
          </a:xfrm>
          <a:prstGeom prst="ellipse">
            <a:avLst/>
          </a:prstGeom>
          <a:solidFill>
            <a:srgbClr val="F5C242"/>
          </a:solidFill>
          <a:ln w="12700">
            <a:solidFill>
              <a:srgbClr val="F5C242"/>
            </a:solidFill>
            <a:prstDash val="solid"/>
          </a:ln>
        </p:spPr>
      </p:sp>
      <p:sp>
        <p:nvSpPr>
          <p:cNvPr id="34" name="Text 31"/>
          <p:cNvSpPr txBox="1"/>
          <p:nvPr/>
        </p:nvSpPr>
        <p:spPr>
          <a:xfrm>
            <a:off x="713232" y="5074920"/>
            <a:ext cx="457200" cy="457200"/>
          </a:xfrm>
          <a:prstGeom prst="rect">
            <a:avLst/>
          </a:prstGeom>
          <a:noFill/>
          <a:ln/>
        </p:spPr>
        <p:txBody>
          <a:bodyPr wrap="square" lIns="0" tIns="0" rIns="0" bIns="0" rtlCol="0" anchor="ctr"/>
          <a:lstStyle/>
          <a:p>
            <a:pPr marL="0" indent="0" algn="ctr">
              <a:buNone/>
            </a:pPr>
            <a:r>
              <a:rPr lang="fr-FR" sz="1300" b="1" dirty="0">
                <a:solidFill>
                  <a:srgbClr val="00553A"/>
                </a:solidFill>
                <a:latin typeface="Calibri" pitchFamily="34" charset="0"/>
                <a:ea typeface="Calibri" pitchFamily="34" charset="-122"/>
                <a:cs typeface="Calibri" pitchFamily="34" charset="-120"/>
              </a:rPr>
              <a:t>6</a:t>
            </a:r>
            <a:endParaRPr lang="fr-FR" sz="1300" dirty="0"/>
          </a:p>
        </p:txBody>
      </p:sp>
      <p:sp>
        <p:nvSpPr>
          <p:cNvPr id="35" name="Text 32"/>
          <p:cNvSpPr txBox="1"/>
          <p:nvPr/>
        </p:nvSpPr>
        <p:spPr>
          <a:xfrm>
            <a:off x="1325880" y="4965192"/>
            <a:ext cx="4297680" cy="301752"/>
          </a:xfrm>
          <a:prstGeom prst="rect">
            <a:avLst/>
          </a:prstGeom>
          <a:noFill/>
          <a:ln/>
        </p:spPr>
        <p:txBody>
          <a:bodyPr wrap="square" lIns="0" tIns="0" rIns="0" bIns="0" rtlCol="0" anchor="t"/>
          <a:lstStyle/>
          <a:p>
            <a:pPr marL="0" indent="0">
              <a:buNone/>
            </a:pPr>
            <a:r>
              <a:rPr lang="fr-FR" sz="1300" b="1" dirty="0">
                <a:solidFill>
                  <a:srgbClr val="00704A"/>
                </a:solidFill>
                <a:latin typeface="Calibri" pitchFamily="34" charset="0"/>
                <a:ea typeface="Calibri" pitchFamily="34" charset="-122"/>
                <a:cs typeface="Calibri" pitchFamily="34" charset="-120"/>
              </a:rPr>
              <a:t>Tester la robustesse</a:t>
            </a:r>
            <a:endParaRPr lang="fr-FR" sz="1300" dirty="0"/>
          </a:p>
        </p:txBody>
      </p:sp>
      <p:sp>
        <p:nvSpPr>
          <p:cNvPr id="36" name="Text 33"/>
          <p:cNvSpPr txBox="1"/>
          <p:nvPr/>
        </p:nvSpPr>
        <p:spPr>
          <a:xfrm>
            <a:off x="1325880" y="5266944"/>
            <a:ext cx="4343400" cy="411480"/>
          </a:xfrm>
          <a:prstGeom prst="rect">
            <a:avLst/>
          </a:prstGeom>
          <a:noFill/>
          <a:ln/>
        </p:spPr>
        <p:txBody>
          <a:bodyPr wrap="square" lIns="0" tIns="0" rIns="0" bIns="0" rtlCol="0" anchor="t"/>
          <a:lstStyle/>
          <a:p>
            <a:pPr marL="0" indent="0">
              <a:buNone/>
            </a:pPr>
            <a:r>
              <a:rPr lang="fr-FR" sz="1100" dirty="0">
                <a:solidFill>
                  <a:srgbClr val="231F20"/>
                </a:solidFill>
                <a:latin typeface="Calibri" pitchFamily="34" charset="0"/>
                <a:ea typeface="Calibri" pitchFamily="34" charset="-122"/>
                <a:cs typeface="Calibri" pitchFamily="34" charset="-120"/>
              </a:rPr>
              <a:t>Retirer la capitale ; changer le seuil ; retirer les masques un par un.</a:t>
            </a:r>
            <a:endParaRPr lang="fr-FR" sz="1100" dirty="0"/>
          </a:p>
        </p:txBody>
      </p:sp>
      <p:sp>
        <p:nvSpPr>
          <p:cNvPr id="37" name="Shape 34"/>
          <p:cNvSpPr/>
          <p:nvPr/>
        </p:nvSpPr>
        <p:spPr>
          <a:xfrm>
            <a:off x="5989320" y="1371600"/>
            <a:ext cx="5650992" cy="4343400"/>
          </a:xfrm>
          <a:prstGeom prst="roundRect">
            <a:avLst>
              <a:gd name="adj" fmla="val 1684"/>
            </a:avLst>
          </a:prstGeom>
          <a:solidFill>
            <a:srgbClr val="0F2A1F"/>
          </a:solidFill>
          <a:ln w="9525">
            <a:solidFill>
              <a:srgbClr val="0F2A1F"/>
            </a:solidFill>
            <a:prstDash val="solid"/>
          </a:ln>
        </p:spPr>
      </p:sp>
      <p:sp>
        <p:nvSpPr>
          <p:cNvPr id="38" name="Text 35"/>
          <p:cNvSpPr txBox="1"/>
          <p:nvPr/>
        </p:nvSpPr>
        <p:spPr>
          <a:xfrm>
            <a:off x="6217920" y="1508760"/>
            <a:ext cx="5193792" cy="228600"/>
          </a:xfrm>
          <a:prstGeom prst="rect">
            <a:avLst/>
          </a:prstGeom>
          <a:noFill/>
          <a:ln/>
        </p:spPr>
        <p:txBody>
          <a:bodyPr wrap="square" lIns="0" tIns="0" rIns="0" bIns="0" rtlCol="0" anchor="t"/>
          <a:lstStyle/>
          <a:p>
            <a:pPr marL="0" indent="0">
              <a:buNone/>
            </a:pPr>
            <a:r>
              <a:rPr lang="fr-FR" sz="950" b="1" kern="0" spc="150" dirty="0">
                <a:solidFill>
                  <a:srgbClr val="F5C242"/>
                </a:solidFill>
                <a:latin typeface="Calibri" pitchFamily="34" charset="0"/>
                <a:ea typeface="Calibri" pitchFamily="34" charset="-122"/>
                <a:cs typeface="Calibri" pitchFamily="34" charset="-120"/>
              </a:rPr>
              <a:t>PYTHON · EXEMPLE OPTION A</a:t>
            </a:r>
            <a:endParaRPr lang="fr-FR" sz="950" dirty="0"/>
          </a:p>
        </p:txBody>
      </p:sp>
      <p:sp>
        <p:nvSpPr>
          <p:cNvPr id="39" name="Text 36"/>
          <p:cNvSpPr txBox="1"/>
          <p:nvPr/>
        </p:nvSpPr>
        <p:spPr>
          <a:xfrm>
            <a:off x="6217920" y="1810512"/>
            <a:ext cx="5193792" cy="3794760"/>
          </a:xfrm>
          <a:prstGeom prst="rect">
            <a:avLst/>
          </a:prstGeom>
          <a:noFill/>
          <a:ln/>
        </p:spPr>
        <p:txBody>
          <a:bodyPr wrap="square" lIns="0" tIns="0" rIns="0" bIns="0" rtlCol="0" anchor="t"/>
          <a:lstStyle/>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import numpy as np, statsmodels.formula.api as smf</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d = ntl_region.merge(official, on=["region", "year"])</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d["ln_ntl"], d["ln_y"] = np.log(d.sol), np.log(d.gdp)</a:t>
            </a:r>
            <a:endParaRPr lang="fr-FR" sz="1050" dirty="0"/>
          </a:p>
          <a:p>
            <a:pPr marL="0" indent="0">
              <a:lnSpc>
                <a:spcPct val="105000"/>
              </a:lnSpc>
              <a:buNone/>
            </a:pPr>
            <a:endParaRPr lang="fr-FR" sz="1050" dirty="0"/>
          </a:p>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Niveaux : coupe transversale, années empilées</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lev = smf.ols("ln_y ~ ln_ntl + C(year)", d).fit()</a:t>
            </a:r>
            <a:endParaRPr lang="fr-FR" sz="1050" dirty="0"/>
          </a:p>
          <a:p>
            <a:pPr marL="0" indent="0">
              <a:lnSpc>
                <a:spcPct val="105000"/>
              </a:lnSpc>
              <a:buNone/>
            </a:pPr>
            <a:endParaRPr lang="fr-FR" sz="1050" dirty="0"/>
          </a:p>
          <a:p>
            <a:pPr marL="0" indent="0">
              <a:lnSpc>
                <a:spcPct val="105000"/>
              </a:lnSpc>
              <a:buNone/>
            </a:pPr>
            <a:r>
              <a:rPr lang="fr-FR" sz="1050" dirty="0">
                <a:solidFill>
                  <a:srgbClr val="8CCBAA"/>
                </a:solidFill>
                <a:latin typeface="Courier New" pitchFamily="34" charset="0"/>
                <a:ea typeface="Courier New" pitchFamily="34" charset="-122"/>
                <a:cs typeface="Courier New" pitchFamily="34" charset="-120"/>
              </a:rPr>
              <a:t># Évolutions : croissance intra-région dans le temps</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d = d.sort_values(["region", "year"])</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g = d.groupby("region")[["ln_y", "ln_ntl"]].diff()</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chg = smf.ols("ln_y ~ ln_ntl", g.dropna()).fit()</a:t>
            </a:r>
            <a:endParaRPr lang="fr-FR" sz="1050" dirty="0"/>
          </a:p>
          <a:p>
            <a:pPr marL="0" indent="0">
              <a:lnSpc>
                <a:spcPct val="105000"/>
              </a:lnSpc>
              <a:buNone/>
            </a:pP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print(lev.params, lev.rsquared)</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print(chg.params, chg.rsquared)</a:t>
            </a:r>
            <a:endParaRPr lang="fr-FR" sz="1050" dirty="0"/>
          </a:p>
          <a:p>
            <a:pPr marL="0" indent="0">
              <a:lnSpc>
                <a:spcPct val="105000"/>
              </a:lnSpc>
              <a:buNone/>
            </a:pPr>
            <a:r>
              <a:rPr lang="fr-FR" sz="1050" dirty="0">
                <a:solidFill>
                  <a:srgbClr val="EAF4EE"/>
                </a:solidFill>
                <a:latin typeface="Courier New" pitchFamily="34" charset="0"/>
                <a:ea typeface="Courier New" pitchFamily="34" charset="-122"/>
                <a:cs typeface="Courier New" pitchFamily="34" charset="-120"/>
              </a:rPr>
              <a:t>d["resid"] = lev.resid      # à cartographier</a:t>
            </a:r>
            <a:endParaRPr lang="fr-FR" sz="1050" dirty="0"/>
          </a:p>
        </p:txBody>
      </p:sp>
      <p:sp>
        <p:nvSpPr>
          <p:cNvPr id="40" name="Text 37"/>
          <p:cNvSpPr txBox="1"/>
          <p:nvPr/>
        </p:nvSpPr>
        <p:spPr>
          <a:xfrm>
            <a:off x="548640" y="5870448"/>
            <a:ext cx="11094415" cy="274320"/>
          </a:xfrm>
          <a:prstGeom prst="rect">
            <a:avLst/>
          </a:prstGeom>
          <a:noFill/>
          <a:ln/>
        </p:spPr>
        <p:txBody>
          <a:bodyPr wrap="square" lIns="0" tIns="0" rIns="0" bIns="0" rtlCol="0" anchor="t"/>
          <a:lstStyle/>
          <a:p>
            <a:pPr marL="0" indent="0">
              <a:buNone/>
            </a:pPr>
            <a:r>
              <a:rPr lang="fr-FR" sz="1000" i="1" dirty="0">
                <a:solidFill>
                  <a:srgbClr val="5E6964"/>
                </a:solidFill>
                <a:latin typeface="Calibri" pitchFamily="34" charset="0"/>
                <a:ea typeface="Calibri" pitchFamily="34" charset="-122"/>
                <a:cs typeface="Calibri" pitchFamily="34" charset="-120"/>
              </a:rPr>
              <a:t>Adaptez les noms de variables à vos fichiers. Pour les options B–D, changez de comparateur et gardez la logique niveaux/évolutions.</a:t>
            </a:r>
            <a:endParaRPr lang="fr-FR"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LABO B · À QUOI S’ATTENDRE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Forte en niveaux, plus faible en évolutions — le schéma habituel</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54</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Données synthétiques illustrant un schéma typique — pas les résultats d’un pays.</a:t>
            </a:r>
            <a:endParaRPr lang="fr-FR" sz="850" dirty="0"/>
          </a:p>
        </p:txBody>
      </p:sp>
      <p:graphicFrame>
        <p:nvGraphicFramePr>
          <p:cNvPr id="13" name="Chart 0"/>
          <p:cNvGraphicFramePr/>
          <p:nvPr/>
        </p:nvGraphicFramePr>
        <p:xfrm>
          <a:off x="548640" y="1325880"/>
          <a:ext cx="5120640" cy="3657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
          <p:cNvGraphicFramePr/>
          <p:nvPr/>
        </p:nvGraphicFramePr>
        <p:xfrm>
          <a:off x="6309360" y="1325880"/>
          <a:ext cx="5120640" cy="3657600"/>
        </p:xfrm>
        <a:graphic>
          <a:graphicData uri="http://schemas.openxmlformats.org/drawingml/2006/chart">
            <c:chart xmlns:c="http://schemas.openxmlformats.org/drawingml/2006/chart" xmlns:r="http://schemas.openxmlformats.org/officeDocument/2006/relationships" r:id="rId5"/>
          </a:graphicData>
        </a:graphic>
      </p:graphicFrame>
      <p:sp>
        <p:nvSpPr>
          <p:cNvPr id="15" name="Shape 10"/>
          <p:cNvSpPr/>
          <p:nvPr/>
        </p:nvSpPr>
        <p:spPr>
          <a:xfrm>
            <a:off x="548640" y="5120640"/>
            <a:ext cx="5120640" cy="685800"/>
          </a:xfrm>
          <a:prstGeom prst="roundRect">
            <a:avLst>
              <a:gd name="adj" fmla="val 10667"/>
            </a:avLst>
          </a:prstGeom>
          <a:solidFill>
            <a:srgbClr val="E8F5EF"/>
          </a:solidFill>
          <a:ln w="9525">
            <a:solidFill>
              <a:srgbClr val="E8F5EF"/>
            </a:solidFill>
            <a:prstDash val="solid"/>
          </a:ln>
        </p:spPr>
      </p:sp>
      <p:sp>
        <p:nvSpPr>
          <p:cNvPr id="16" name="Text 11"/>
          <p:cNvSpPr txBox="1"/>
          <p:nvPr/>
        </p:nvSpPr>
        <p:spPr>
          <a:xfrm>
            <a:off x="731520" y="5120640"/>
            <a:ext cx="4754880" cy="68580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La taille pilote les deux axes : les grandes régions sont lumineuses et productives. Une forte corrélation ici prouve peu.</a:t>
            </a:r>
            <a:endParaRPr lang="fr-FR" sz="1150" dirty="0"/>
          </a:p>
        </p:txBody>
      </p:sp>
      <p:sp>
        <p:nvSpPr>
          <p:cNvPr id="17" name="Shape 12"/>
          <p:cNvSpPr/>
          <p:nvPr/>
        </p:nvSpPr>
        <p:spPr>
          <a:xfrm>
            <a:off x="6309360" y="5120640"/>
            <a:ext cx="5330952" cy="685800"/>
          </a:xfrm>
          <a:prstGeom prst="roundRect">
            <a:avLst>
              <a:gd name="adj" fmla="val 10667"/>
            </a:avLst>
          </a:prstGeom>
          <a:solidFill>
            <a:srgbClr val="FDF5DC"/>
          </a:solidFill>
          <a:ln w="9525">
            <a:solidFill>
              <a:srgbClr val="FDF5DC"/>
            </a:solidFill>
            <a:prstDash val="solid"/>
          </a:ln>
        </p:spPr>
      </p:sp>
      <p:sp>
        <p:nvSpPr>
          <p:cNvPr id="18" name="Text 13"/>
          <p:cNvSpPr txBox="1"/>
          <p:nvPr/>
        </p:nvSpPr>
        <p:spPr>
          <a:xfrm>
            <a:off x="6492240" y="5120640"/>
            <a:ext cx="4983480" cy="685800"/>
          </a:xfrm>
          <a:prstGeom prst="rect">
            <a:avLst/>
          </a:prstGeom>
          <a:noFill/>
          <a:ln/>
        </p:spPr>
        <p:txBody>
          <a:bodyPr wrap="square" lIns="0" tIns="0" rIns="0" bIns="0" rtlCol="0" anchor="ctr"/>
          <a:lstStyle/>
          <a:p>
            <a:pPr marL="0" indent="0">
              <a:buNone/>
            </a:pPr>
            <a:r>
              <a:rPr lang="fr-FR" sz="1150" dirty="0">
                <a:solidFill>
                  <a:srgbClr val="231F20"/>
                </a:solidFill>
                <a:latin typeface="Calibri" pitchFamily="34" charset="0"/>
                <a:ea typeface="Calibri" pitchFamily="34" charset="-122"/>
                <a:cs typeface="Calibri" pitchFamily="34" charset="-120"/>
              </a:rPr>
              <a:t>Le vrai test pour le suivi : la croissance de la lumière suit-elle celle de la production dans une même région ?</a:t>
            </a:r>
            <a:endParaRPr lang="fr-FR"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LABO B · RESTITUTION · 15 MIN</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Dire où la relation tient — en une phrase</a:t>
            </a:r>
            <a:endParaRPr lang="fr-FR"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553A"/>
                </a:solidFill>
                <a:latin typeface="Calibri" pitchFamily="34" charset="0"/>
                <a:ea typeface="Calibri" pitchFamily="34" charset="-122"/>
                <a:cs typeface="Calibri" pitchFamily="34" charset="-120"/>
              </a:rPr>
              <a:t>LABO B</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55</a:t>
            </a:r>
            <a:endParaRPr lang="fr-FR" sz="900" dirty="0"/>
          </a:p>
        </p:txBody>
      </p:sp>
      <p:sp>
        <p:nvSpPr>
          <p:cNvPr id="12" name="Text 9"/>
          <p:cNvSpPr txBox="1"/>
          <p:nvPr/>
        </p:nvSpPr>
        <p:spPr>
          <a:xfrm>
            <a:off x="548640" y="1325880"/>
            <a:ext cx="5486400" cy="274320"/>
          </a:xfrm>
          <a:prstGeom prst="rect">
            <a:avLst/>
          </a:prstGeom>
          <a:noFill/>
          <a:ln/>
        </p:spPr>
        <p:txBody>
          <a:bodyPr wrap="square" lIns="0" tIns="0" rIns="0" bIns="0" rtlCol="0" anchor="t"/>
          <a:lstStyle/>
          <a:p>
            <a:pPr marL="0" indent="0">
              <a:buNone/>
            </a:pPr>
            <a:r>
              <a:rPr lang="fr-FR" sz="1000" b="1" kern="0" spc="150" dirty="0">
                <a:solidFill>
                  <a:srgbClr val="0E7C86"/>
                </a:solidFill>
                <a:latin typeface="Calibri" pitchFamily="34" charset="0"/>
                <a:ea typeface="Calibri" pitchFamily="34" charset="-122"/>
                <a:cs typeface="Calibri" pitchFamily="34" charset="-120"/>
              </a:rPr>
              <a:t>FICHE DE RESTITUTION — UNE PAR ÉQUIPE</a:t>
            </a:r>
            <a:endParaRPr lang="fr-FR" sz="1000" dirty="0"/>
          </a:p>
        </p:txBody>
      </p:sp>
      <p:sp>
        <p:nvSpPr>
          <p:cNvPr id="13" name="Shape 10"/>
          <p:cNvSpPr/>
          <p:nvPr/>
        </p:nvSpPr>
        <p:spPr>
          <a:xfrm>
            <a:off x="548640" y="1645920"/>
            <a:ext cx="2377440" cy="502920"/>
          </a:xfrm>
          <a:prstGeom prst="rect">
            <a:avLst/>
          </a:prstGeom>
          <a:solidFill>
            <a:srgbClr val="00704A"/>
          </a:solidFill>
          <a:ln w="6350">
            <a:solidFill>
              <a:srgbClr val="00704A"/>
            </a:solidFill>
            <a:prstDash val="solid"/>
          </a:ln>
        </p:spPr>
      </p:sp>
      <p:sp>
        <p:nvSpPr>
          <p:cNvPr id="14" name="Text 11"/>
          <p:cNvSpPr txBox="1"/>
          <p:nvPr/>
        </p:nvSpPr>
        <p:spPr>
          <a:xfrm>
            <a:off x="658368" y="1645920"/>
            <a:ext cx="2194560" cy="502920"/>
          </a:xfrm>
          <a:prstGeom prst="rect">
            <a:avLst/>
          </a:prstGeom>
          <a:noFill/>
          <a:ln/>
        </p:spPr>
        <p:txBody>
          <a:bodyPr wrap="square" lIns="0" tIns="0" rIns="0" bIns="0" rtlCol="0" anchor="ctr"/>
          <a:lstStyle/>
          <a:p>
            <a:pPr marL="0" indent="0">
              <a:buNone/>
            </a:pPr>
            <a:r>
              <a:rPr lang="fr-FR" sz="1150" b="1" dirty="0">
                <a:solidFill>
                  <a:srgbClr val="FFFFFF"/>
                </a:solidFill>
                <a:latin typeface="Calibri" pitchFamily="34" charset="0"/>
                <a:ea typeface="Calibri" pitchFamily="34" charset="-122"/>
                <a:cs typeface="Calibri" pitchFamily="34" charset="-120"/>
              </a:rPr>
              <a:t>Application et pays</a:t>
            </a:r>
            <a:endParaRPr lang="fr-FR" sz="1150" dirty="0"/>
          </a:p>
        </p:txBody>
      </p:sp>
      <p:sp>
        <p:nvSpPr>
          <p:cNvPr id="15" name="Shape 12"/>
          <p:cNvSpPr/>
          <p:nvPr/>
        </p:nvSpPr>
        <p:spPr>
          <a:xfrm>
            <a:off x="2971800" y="1645920"/>
            <a:ext cx="4206240" cy="502920"/>
          </a:xfrm>
          <a:prstGeom prst="rect">
            <a:avLst/>
          </a:prstGeom>
          <a:solidFill>
            <a:srgbClr val="F4F7F5"/>
          </a:solidFill>
          <a:ln w="6350">
            <a:solidFill>
              <a:srgbClr val="F4F7F5"/>
            </a:solidFill>
            <a:prstDash val="solid"/>
          </a:ln>
        </p:spPr>
      </p:sp>
      <p:sp>
        <p:nvSpPr>
          <p:cNvPr id="16" name="Text 13"/>
          <p:cNvSpPr txBox="1"/>
          <p:nvPr/>
        </p:nvSpPr>
        <p:spPr>
          <a:xfrm>
            <a:off x="3108960" y="1645920"/>
            <a:ext cx="3977640" cy="502920"/>
          </a:xfrm>
          <a:prstGeom prst="rect">
            <a:avLst/>
          </a:prstGeom>
          <a:noFill/>
          <a:ln/>
        </p:spPr>
        <p:txBody>
          <a:bodyPr wrap="square" lIns="0" tIns="0" rIns="0" bIns="0" rtlCol="0" anchor="ctr"/>
          <a:lstStyle/>
          <a:p>
            <a:pPr marL="0" indent="0">
              <a:buNone/>
            </a:pPr>
            <a:r>
              <a:rPr lang="fr-FR" sz="1100" i="1" dirty="0">
                <a:solidFill>
                  <a:srgbClr val="5E6964"/>
                </a:solidFill>
                <a:latin typeface="Calibri" pitchFamily="34" charset="0"/>
                <a:ea typeface="Calibri" pitchFamily="34" charset="-122"/>
                <a:cs typeface="Calibri" pitchFamily="34" charset="-120"/>
              </a:rPr>
              <a:t>ex. Indicateur de production · régions du pays X · 2013–2024</a:t>
            </a:r>
            <a:endParaRPr lang="fr-FR" sz="1100" dirty="0"/>
          </a:p>
        </p:txBody>
      </p:sp>
      <p:sp>
        <p:nvSpPr>
          <p:cNvPr id="17" name="Shape 14"/>
          <p:cNvSpPr/>
          <p:nvPr/>
        </p:nvSpPr>
        <p:spPr>
          <a:xfrm>
            <a:off x="548640" y="2221992"/>
            <a:ext cx="2377440" cy="502920"/>
          </a:xfrm>
          <a:prstGeom prst="rect">
            <a:avLst/>
          </a:prstGeom>
          <a:solidFill>
            <a:srgbClr val="00704A"/>
          </a:solidFill>
          <a:ln w="6350">
            <a:solidFill>
              <a:srgbClr val="00704A"/>
            </a:solidFill>
            <a:prstDash val="solid"/>
          </a:ln>
        </p:spPr>
      </p:sp>
      <p:sp>
        <p:nvSpPr>
          <p:cNvPr id="18" name="Text 15"/>
          <p:cNvSpPr txBox="1"/>
          <p:nvPr/>
        </p:nvSpPr>
        <p:spPr>
          <a:xfrm>
            <a:off x="658368" y="2221992"/>
            <a:ext cx="2194560" cy="502920"/>
          </a:xfrm>
          <a:prstGeom prst="rect">
            <a:avLst/>
          </a:prstGeom>
          <a:noFill/>
          <a:ln/>
        </p:spPr>
        <p:txBody>
          <a:bodyPr wrap="square" lIns="0" tIns="0" rIns="0" bIns="0" rtlCol="0" anchor="ctr"/>
          <a:lstStyle/>
          <a:p>
            <a:pPr marL="0" indent="0">
              <a:buNone/>
            </a:pPr>
            <a:r>
              <a:rPr lang="fr-FR" sz="1150" b="1" dirty="0">
                <a:solidFill>
                  <a:srgbClr val="FFFFFF"/>
                </a:solidFill>
                <a:latin typeface="Calibri" pitchFamily="34" charset="0"/>
                <a:ea typeface="Calibri" pitchFamily="34" charset="-122"/>
                <a:cs typeface="Calibri" pitchFamily="34" charset="-120"/>
              </a:rPr>
              <a:t>Comparateur officiel</a:t>
            </a:r>
            <a:endParaRPr lang="fr-FR" sz="1150" dirty="0"/>
          </a:p>
        </p:txBody>
      </p:sp>
      <p:sp>
        <p:nvSpPr>
          <p:cNvPr id="19" name="Shape 16"/>
          <p:cNvSpPr/>
          <p:nvPr/>
        </p:nvSpPr>
        <p:spPr>
          <a:xfrm>
            <a:off x="2971800" y="2221992"/>
            <a:ext cx="4206240" cy="502920"/>
          </a:xfrm>
          <a:prstGeom prst="rect">
            <a:avLst/>
          </a:prstGeom>
          <a:solidFill>
            <a:srgbClr val="F4F7F5"/>
          </a:solidFill>
          <a:ln w="6350">
            <a:solidFill>
              <a:srgbClr val="F4F7F5"/>
            </a:solidFill>
            <a:prstDash val="solid"/>
          </a:ln>
        </p:spPr>
      </p:sp>
      <p:sp>
        <p:nvSpPr>
          <p:cNvPr id="20" name="Text 17"/>
          <p:cNvSpPr txBox="1"/>
          <p:nvPr/>
        </p:nvSpPr>
        <p:spPr>
          <a:xfrm>
            <a:off x="3108960" y="2221992"/>
            <a:ext cx="3977640" cy="502920"/>
          </a:xfrm>
          <a:prstGeom prst="rect">
            <a:avLst/>
          </a:prstGeom>
          <a:noFill/>
          <a:ln/>
        </p:spPr>
        <p:txBody>
          <a:bodyPr wrap="square" lIns="0" tIns="0" rIns="0" bIns="0" rtlCol="0" anchor="ctr"/>
          <a:lstStyle/>
          <a:p>
            <a:pPr marL="0" indent="0">
              <a:buNone/>
            </a:pPr>
            <a:r>
              <a:rPr lang="fr-FR" sz="1100" i="1" dirty="0">
                <a:solidFill>
                  <a:srgbClr val="5E6964"/>
                </a:solidFill>
                <a:latin typeface="Calibri" pitchFamily="34" charset="0"/>
                <a:ea typeface="Calibri" pitchFamily="34" charset="-122"/>
                <a:cs typeface="Calibri" pitchFamily="34" charset="-120"/>
              </a:rPr>
              <a:t>Source, unité, années, nombre d’unités</a:t>
            </a:r>
            <a:endParaRPr lang="fr-FR" sz="1100" dirty="0"/>
          </a:p>
        </p:txBody>
      </p:sp>
      <p:sp>
        <p:nvSpPr>
          <p:cNvPr id="21" name="Shape 18"/>
          <p:cNvSpPr/>
          <p:nvPr/>
        </p:nvSpPr>
        <p:spPr>
          <a:xfrm>
            <a:off x="548640" y="2798064"/>
            <a:ext cx="2377440" cy="502920"/>
          </a:xfrm>
          <a:prstGeom prst="rect">
            <a:avLst/>
          </a:prstGeom>
          <a:solidFill>
            <a:srgbClr val="00704A"/>
          </a:solidFill>
          <a:ln w="6350">
            <a:solidFill>
              <a:srgbClr val="00704A"/>
            </a:solidFill>
            <a:prstDash val="solid"/>
          </a:ln>
        </p:spPr>
      </p:sp>
      <p:sp>
        <p:nvSpPr>
          <p:cNvPr id="22" name="Text 19"/>
          <p:cNvSpPr txBox="1"/>
          <p:nvPr/>
        </p:nvSpPr>
        <p:spPr>
          <a:xfrm>
            <a:off x="658368" y="2798064"/>
            <a:ext cx="2194560" cy="502920"/>
          </a:xfrm>
          <a:prstGeom prst="rect">
            <a:avLst/>
          </a:prstGeom>
          <a:noFill/>
          <a:ln/>
        </p:spPr>
        <p:txBody>
          <a:bodyPr wrap="square" lIns="0" tIns="0" rIns="0" bIns="0" rtlCol="0" anchor="ctr"/>
          <a:lstStyle/>
          <a:p>
            <a:pPr marL="0" indent="0">
              <a:buNone/>
            </a:pPr>
            <a:r>
              <a:rPr lang="fr-FR" sz="1150" b="1" dirty="0">
                <a:solidFill>
                  <a:srgbClr val="FFFFFF"/>
                </a:solidFill>
                <a:latin typeface="Calibri" pitchFamily="34" charset="0"/>
                <a:ea typeface="Calibri" pitchFamily="34" charset="-122"/>
                <a:cs typeface="Calibri" pitchFamily="34" charset="-120"/>
              </a:rPr>
              <a:t>Force en niveaux</a:t>
            </a:r>
            <a:endParaRPr lang="fr-FR" sz="1150" dirty="0"/>
          </a:p>
        </p:txBody>
      </p:sp>
      <p:sp>
        <p:nvSpPr>
          <p:cNvPr id="23" name="Shape 20"/>
          <p:cNvSpPr/>
          <p:nvPr/>
        </p:nvSpPr>
        <p:spPr>
          <a:xfrm>
            <a:off x="2971800" y="2798064"/>
            <a:ext cx="4206240" cy="502920"/>
          </a:xfrm>
          <a:prstGeom prst="rect">
            <a:avLst/>
          </a:prstGeom>
          <a:solidFill>
            <a:srgbClr val="F4F7F5"/>
          </a:solidFill>
          <a:ln w="6350">
            <a:solidFill>
              <a:srgbClr val="F4F7F5"/>
            </a:solidFill>
            <a:prstDash val="solid"/>
          </a:ln>
        </p:spPr>
      </p:sp>
      <p:sp>
        <p:nvSpPr>
          <p:cNvPr id="24" name="Text 21"/>
          <p:cNvSpPr txBox="1"/>
          <p:nvPr/>
        </p:nvSpPr>
        <p:spPr>
          <a:xfrm>
            <a:off x="3108960" y="2798064"/>
            <a:ext cx="3977640" cy="502920"/>
          </a:xfrm>
          <a:prstGeom prst="rect">
            <a:avLst/>
          </a:prstGeom>
          <a:noFill/>
          <a:ln/>
        </p:spPr>
        <p:txBody>
          <a:bodyPr wrap="square" lIns="0" tIns="0" rIns="0" bIns="0" rtlCol="0" anchor="ctr"/>
          <a:lstStyle/>
          <a:p>
            <a:pPr marL="0" indent="0">
              <a:buNone/>
            </a:pPr>
            <a:r>
              <a:rPr lang="fr-FR" sz="1100" i="1" dirty="0">
                <a:solidFill>
                  <a:srgbClr val="5E6964"/>
                </a:solidFill>
                <a:latin typeface="Calibri" pitchFamily="34" charset="0"/>
                <a:ea typeface="Calibri" pitchFamily="34" charset="-122"/>
                <a:cs typeface="Calibri" pitchFamily="34" charset="-120"/>
              </a:rPr>
              <a:t>Corrélation / pente / R²</a:t>
            </a:r>
            <a:endParaRPr lang="fr-FR" sz="1100" dirty="0"/>
          </a:p>
        </p:txBody>
      </p:sp>
      <p:sp>
        <p:nvSpPr>
          <p:cNvPr id="25" name="Shape 22"/>
          <p:cNvSpPr/>
          <p:nvPr/>
        </p:nvSpPr>
        <p:spPr>
          <a:xfrm>
            <a:off x="548640" y="3374136"/>
            <a:ext cx="2377440" cy="502920"/>
          </a:xfrm>
          <a:prstGeom prst="rect">
            <a:avLst/>
          </a:prstGeom>
          <a:solidFill>
            <a:srgbClr val="00704A"/>
          </a:solidFill>
          <a:ln w="6350">
            <a:solidFill>
              <a:srgbClr val="00704A"/>
            </a:solidFill>
            <a:prstDash val="solid"/>
          </a:ln>
        </p:spPr>
      </p:sp>
      <p:sp>
        <p:nvSpPr>
          <p:cNvPr id="26" name="Text 23"/>
          <p:cNvSpPr txBox="1"/>
          <p:nvPr/>
        </p:nvSpPr>
        <p:spPr>
          <a:xfrm>
            <a:off x="658368" y="3374136"/>
            <a:ext cx="2194560" cy="502920"/>
          </a:xfrm>
          <a:prstGeom prst="rect">
            <a:avLst/>
          </a:prstGeom>
          <a:noFill/>
          <a:ln/>
        </p:spPr>
        <p:txBody>
          <a:bodyPr wrap="square" lIns="0" tIns="0" rIns="0" bIns="0" rtlCol="0" anchor="ctr"/>
          <a:lstStyle/>
          <a:p>
            <a:pPr marL="0" indent="0">
              <a:buNone/>
            </a:pPr>
            <a:r>
              <a:rPr lang="fr-FR" sz="1150" b="1" dirty="0">
                <a:solidFill>
                  <a:srgbClr val="FFFFFF"/>
                </a:solidFill>
                <a:latin typeface="Calibri" pitchFamily="34" charset="0"/>
                <a:ea typeface="Calibri" pitchFamily="34" charset="-122"/>
                <a:cs typeface="Calibri" pitchFamily="34" charset="-120"/>
              </a:rPr>
              <a:t>Force en évolutions</a:t>
            </a:r>
            <a:endParaRPr lang="fr-FR" sz="1150" dirty="0"/>
          </a:p>
        </p:txBody>
      </p:sp>
      <p:sp>
        <p:nvSpPr>
          <p:cNvPr id="27" name="Shape 24"/>
          <p:cNvSpPr/>
          <p:nvPr/>
        </p:nvSpPr>
        <p:spPr>
          <a:xfrm>
            <a:off x="2971800" y="3374136"/>
            <a:ext cx="4206240" cy="502920"/>
          </a:xfrm>
          <a:prstGeom prst="rect">
            <a:avLst/>
          </a:prstGeom>
          <a:solidFill>
            <a:srgbClr val="F4F7F5"/>
          </a:solidFill>
          <a:ln w="6350">
            <a:solidFill>
              <a:srgbClr val="F4F7F5"/>
            </a:solidFill>
            <a:prstDash val="solid"/>
          </a:ln>
        </p:spPr>
      </p:sp>
      <p:sp>
        <p:nvSpPr>
          <p:cNvPr id="28" name="Text 25"/>
          <p:cNvSpPr txBox="1"/>
          <p:nvPr/>
        </p:nvSpPr>
        <p:spPr>
          <a:xfrm>
            <a:off x="3108960" y="3374136"/>
            <a:ext cx="3977640" cy="502920"/>
          </a:xfrm>
          <a:prstGeom prst="rect">
            <a:avLst/>
          </a:prstGeom>
          <a:noFill/>
          <a:ln/>
        </p:spPr>
        <p:txBody>
          <a:bodyPr wrap="square" lIns="0" tIns="0" rIns="0" bIns="0" rtlCol="0" anchor="ctr"/>
          <a:lstStyle/>
          <a:p>
            <a:pPr marL="0" indent="0">
              <a:buNone/>
            </a:pPr>
            <a:r>
              <a:rPr lang="fr-FR" sz="1100" i="1" dirty="0">
                <a:solidFill>
                  <a:srgbClr val="5E6964"/>
                </a:solidFill>
                <a:latin typeface="Calibri" pitchFamily="34" charset="0"/>
                <a:ea typeface="Calibri" pitchFamily="34" charset="-122"/>
                <a:cs typeface="Calibri" pitchFamily="34" charset="-120"/>
              </a:rPr>
              <a:t>Corrélation / pente / R² des taux de croissance</a:t>
            </a:r>
            <a:endParaRPr lang="fr-FR" sz="1100" dirty="0"/>
          </a:p>
        </p:txBody>
      </p:sp>
      <p:sp>
        <p:nvSpPr>
          <p:cNvPr id="29" name="Shape 26"/>
          <p:cNvSpPr/>
          <p:nvPr/>
        </p:nvSpPr>
        <p:spPr>
          <a:xfrm>
            <a:off x="548640" y="3950208"/>
            <a:ext cx="2377440" cy="502920"/>
          </a:xfrm>
          <a:prstGeom prst="rect">
            <a:avLst/>
          </a:prstGeom>
          <a:solidFill>
            <a:srgbClr val="00704A"/>
          </a:solidFill>
          <a:ln w="6350">
            <a:solidFill>
              <a:srgbClr val="00704A"/>
            </a:solidFill>
            <a:prstDash val="solid"/>
          </a:ln>
        </p:spPr>
      </p:sp>
      <p:sp>
        <p:nvSpPr>
          <p:cNvPr id="30" name="Text 27"/>
          <p:cNvSpPr txBox="1"/>
          <p:nvPr/>
        </p:nvSpPr>
        <p:spPr>
          <a:xfrm>
            <a:off x="658368" y="3950208"/>
            <a:ext cx="2194560" cy="502920"/>
          </a:xfrm>
          <a:prstGeom prst="rect">
            <a:avLst/>
          </a:prstGeom>
          <a:noFill/>
          <a:ln/>
        </p:spPr>
        <p:txBody>
          <a:bodyPr wrap="square" lIns="0" tIns="0" rIns="0" bIns="0" rtlCol="0" anchor="ctr"/>
          <a:lstStyle/>
          <a:p>
            <a:pPr marL="0" indent="0">
              <a:buNone/>
            </a:pPr>
            <a:r>
              <a:rPr lang="fr-FR" sz="1150" b="1" dirty="0">
                <a:solidFill>
                  <a:srgbClr val="FFFFFF"/>
                </a:solidFill>
                <a:latin typeface="Calibri" pitchFamily="34" charset="0"/>
                <a:ea typeface="Calibri" pitchFamily="34" charset="-122"/>
                <a:cs typeface="Calibri" pitchFamily="34" charset="-120"/>
              </a:rPr>
              <a:t>Tient là où …</a:t>
            </a:r>
            <a:endParaRPr lang="fr-FR" sz="1150" dirty="0"/>
          </a:p>
        </p:txBody>
      </p:sp>
      <p:sp>
        <p:nvSpPr>
          <p:cNvPr id="31" name="Shape 28"/>
          <p:cNvSpPr/>
          <p:nvPr/>
        </p:nvSpPr>
        <p:spPr>
          <a:xfrm>
            <a:off x="2971800" y="3950208"/>
            <a:ext cx="4206240" cy="502920"/>
          </a:xfrm>
          <a:prstGeom prst="rect">
            <a:avLst/>
          </a:prstGeom>
          <a:solidFill>
            <a:srgbClr val="F4F7F5"/>
          </a:solidFill>
          <a:ln w="6350">
            <a:solidFill>
              <a:srgbClr val="F4F7F5"/>
            </a:solidFill>
            <a:prstDash val="solid"/>
          </a:ln>
        </p:spPr>
      </p:sp>
      <p:sp>
        <p:nvSpPr>
          <p:cNvPr id="32" name="Text 29"/>
          <p:cNvSpPr txBox="1"/>
          <p:nvPr/>
        </p:nvSpPr>
        <p:spPr>
          <a:xfrm>
            <a:off x="3108960" y="3950208"/>
            <a:ext cx="3977640" cy="502920"/>
          </a:xfrm>
          <a:prstGeom prst="rect">
            <a:avLst/>
          </a:prstGeom>
          <a:noFill/>
          <a:ln/>
        </p:spPr>
        <p:txBody>
          <a:bodyPr wrap="square" lIns="0" tIns="0" rIns="0" bIns="0" rtlCol="0" anchor="ctr"/>
          <a:lstStyle/>
          <a:p>
            <a:pPr marL="0" indent="0">
              <a:buNone/>
            </a:pPr>
            <a:r>
              <a:rPr lang="fr-FR" sz="1100" i="1" dirty="0">
                <a:solidFill>
                  <a:srgbClr val="5E6964"/>
                </a:solidFill>
                <a:latin typeface="Calibri" pitchFamily="34" charset="0"/>
                <a:ea typeface="Calibri" pitchFamily="34" charset="-122"/>
                <a:cs typeface="Calibri" pitchFamily="34" charset="-120"/>
              </a:rPr>
              <a:t>Régions, périodes ou secteurs où l’ajustement est bon</a:t>
            </a:r>
            <a:endParaRPr lang="fr-FR" sz="1100" dirty="0"/>
          </a:p>
        </p:txBody>
      </p:sp>
      <p:sp>
        <p:nvSpPr>
          <p:cNvPr id="33" name="Shape 30"/>
          <p:cNvSpPr/>
          <p:nvPr/>
        </p:nvSpPr>
        <p:spPr>
          <a:xfrm>
            <a:off x="548640" y="4526280"/>
            <a:ext cx="2377440" cy="502920"/>
          </a:xfrm>
          <a:prstGeom prst="rect">
            <a:avLst/>
          </a:prstGeom>
          <a:solidFill>
            <a:srgbClr val="00704A"/>
          </a:solidFill>
          <a:ln w="6350">
            <a:solidFill>
              <a:srgbClr val="00704A"/>
            </a:solidFill>
            <a:prstDash val="solid"/>
          </a:ln>
        </p:spPr>
      </p:sp>
      <p:sp>
        <p:nvSpPr>
          <p:cNvPr id="34" name="Text 31"/>
          <p:cNvSpPr txBox="1"/>
          <p:nvPr/>
        </p:nvSpPr>
        <p:spPr>
          <a:xfrm>
            <a:off x="658368" y="4526280"/>
            <a:ext cx="2194560" cy="502920"/>
          </a:xfrm>
          <a:prstGeom prst="rect">
            <a:avLst/>
          </a:prstGeom>
          <a:noFill/>
          <a:ln/>
        </p:spPr>
        <p:txBody>
          <a:bodyPr wrap="square" lIns="0" tIns="0" rIns="0" bIns="0" rtlCol="0" anchor="ctr"/>
          <a:lstStyle/>
          <a:p>
            <a:pPr marL="0" indent="0">
              <a:buNone/>
            </a:pPr>
            <a:r>
              <a:rPr lang="fr-FR" sz="1150" b="1" dirty="0">
                <a:solidFill>
                  <a:srgbClr val="FFFFFF"/>
                </a:solidFill>
                <a:latin typeface="Calibri" pitchFamily="34" charset="0"/>
                <a:ea typeface="Calibri" pitchFamily="34" charset="-122"/>
                <a:cs typeface="Calibri" pitchFamily="34" charset="-120"/>
              </a:rPr>
              <a:t>Échoue là où …</a:t>
            </a:r>
            <a:endParaRPr lang="fr-FR" sz="1150" dirty="0"/>
          </a:p>
        </p:txBody>
      </p:sp>
      <p:sp>
        <p:nvSpPr>
          <p:cNvPr id="35" name="Shape 32"/>
          <p:cNvSpPr/>
          <p:nvPr/>
        </p:nvSpPr>
        <p:spPr>
          <a:xfrm>
            <a:off x="2971800" y="4526280"/>
            <a:ext cx="4206240" cy="502920"/>
          </a:xfrm>
          <a:prstGeom prst="rect">
            <a:avLst/>
          </a:prstGeom>
          <a:solidFill>
            <a:srgbClr val="F4F7F5"/>
          </a:solidFill>
          <a:ln w="6350">
            <a:solidFill>
              <a:srgbClr val="F4F7F5"/>
            </a:solidFill>
            <a:prstDash val="solid"/>
          </a:ln>
        </p:spPr>
      </p:sp>
      <p:sp>
        <p:nvSpPr>
          <p:cNvPr id="36" name="Text 33"/>
          <p:cNvSpPr txBox="1"/>
          <p:nvPr/>
        </p:nvSpPr>
        <p:spPr>
          <a:xfrm>
            <a:off x="3108960" y="4526280"/>
            <a:ext cx="3977640" cy="502920"/>
          </a:xfrm>
          <a:prstGeom prst="rect">
            <a:avLst/>
          </a:prstGeom>
          <a:noFill/>
          <a:ln/>
        </p:spPr>
        <p:txBody>
          <a:bodyPr wrap="square" lIns="0" tIns="0" rIns="0" bIns="0" rtlCol="0" anchor="ctr"/>
          <a:lstStyle/>
          <a:p>
            <a:pPr marL="0" indent="0">
              <a:buNone/>
            </a:pPr>
            <a:r>
              <a:rPr lang="fr-FR" sz="1100" i="1" dirty="0">
                <a:solidFill>
                  <a:srgbClr val="5E6964"/>
                </a:solidFill>
                <a:latin typeface="Calibri" pitchFamily="34" charset="0"/>
                <a:ea typeface="Calibri" pitchFamily="34" charset="-122"/>
                <a:cs typeface="Calibri" pitchFamily="34" charset="-120"/>
              </a:rPr>
              <a:t>…et quel maillon de la chaîne d’inférence l’explique</a:t>
            </a:r>
            <a:endParaRPr lang="fr-FR" sz="1100" dirty="0"/>
          </a:p>
        </p:txBody>
      </p:sp>
      <p:sp>
        <p:nvSpPr>
          <p:cNvPr id="37" name="Shape 34"/>
          <p:cNvSpPr/>
          <p:nvPr/>
        </p:nvSpPr>
        <p:spPr>
          <a:xfrm>
            <a:off x="548640" y="5102352"/>
            <a:ext cx="2377440" cy="502920"/>
          </a:xfrm>
          <a:prstGeom prst="rect">
            <a:avLst/>
          </a:prstGeom>
          <a:solidFill>
            <a:srgbClr val="00704A"/>
          </a:solidFill>
          <a:ln w="6350">
            <a:solidFill>
              <a:srgbClr val="00704A"/>
            </a:solidFill>
            <a:prstDash val="solid"/>
          </a:ln>
        </p:spPr>
      </p:sp>
      <p:sp>
        <p:nvSpPr>
          <p:cNvPr id="38" name="Text 35"/>
          <p:cNvSpPr txBox="1"/>
          <p:nvPr/>
        </p:nvSpPr>
        <p:spPr>
          <a:xfrm>
            <a:off x="658368" y="5102352"/>
            <a:ext cx="2194560" cy="502920"/>
          </a:xfrm>
          <a:prstGeom prst="rect">
            <a:avLst/>
          </a:prstGeom>
          <a:noFill/>
          <a:ln/>
        </p:spPr>
        <p:txBody>
          <a:bodyPr wrap="square" lIns="0" tIns="0" rIns="0" bIns="0" rtlCol="0" anchor="ctr"/>
          <a:lstStyle/>
          <a:p>
            <a:pPr marL="0" indent="0">
              <a:buNone/>
            </a:pPr>
            <a:r>
              <a:rPr lang="fr-FR" sz="1150" b="1" dirty="0">
                <a:solidFill>
                  <a:srgbClr val="FFFFFF"/>
                </a:solidFill>
                <a:latin typeface="Calibri" pitchFamily="34" charset="0"/>
                <a:ea typeface="Calibri" pitchFamily="34" charset="-122"/>
                <a:cs typeface="Calibri" pitchFamily="34" charset="-120"/>
              </a:rPr>
              <a:t>Décision</a:t>
            </a:r>
            <a:endParaRPr lang="fr-FR" sz="1150" dirty="0"/>
          </a:p>
        </p:txBody>
      </p:sp>
      <p:sp>
        <p:nvSpPr>
          <p:cNvPr id="39" name="Shape 36"/>
          <p:cNvSpPr/>
          <p:nvPr/>
        </p:nvSpPr>
        <p:spPr>
          <a:xfrm>
            <a:off x="2971800" y="5102352"/>
            <a:ext cx="4206240" cy="502920"/>
          </a:xfrm>
          <a:prstGeom prst="rect">
            <a:avLst/>
          </a:prstGeom>
          <a:solidFill>
            <a:srgbClr val="FDF5DC"/>
          </a:solidFill>
          <a:ln w="6350">
            <a:solidFill>
              <a:srgbClr val="FDF5DC"/>
            </a:solidFill>
            <a:prstDash val="solid"/>
          </a:ln>
        </p:spPr>
      </p:sp>
      <p:sp>
        <p:nvSpPr>
          <p:cNvPr id="40" name="Text 37"/>
          <p:cNvSpPr txBox="1"/>
          <p:nvPr/>
        </p:nvSpPr>
        <p:spPr>
          <a:xfrm>
            <a:off x="3108960" y="5102352"/>
            <a:ext cx="3977640" cy="502920"/>
          </a:xfrm>
          <a:prstGeom prst="rect">
            <a:avLst/>
          </a:prstGeom>
          <a:noFill/>
          <a:ln/>
        </p:spPr>
        <p:txBody>
          <a:bodyPr wrap="square" lIns="0" tIns="0" rIns="0" bIns="0" rtlCol="0" anchor="ctr"/>
          <a:lstStyle/>
          <a:p>
            <a:pPr marL="0" indent="0">
              <a:buNone/>
            </a:pPr>
            <a:r>
              <a:rPr lang="fr-FR" sz="1100" i="1" dirty="0">
                <a:solidFill>
                  <a:srgbClr val="5E6964"/>
                </a:solidFill>
                <a:latin typeface="Calibri" pitchFamily="34" charset="0"/>
                <a:ea typeface="Calibri" pitchFamily="34" charset="-122"/>
                <a:cs typeface="Calibri" pitchFamily="34" charset="-120"/>
              </a:rPr>
              <a:t>Statistique expérimentale · outil de diagnostic · inadapté</a:t>
            </a:r>
            <a:endParaRPr lang="fr-FR" sz="1100" dirty="0"/>
          </a:p>
        </p:txBody>
      </p:sp>
      <p:sp>
        <p:nvSpPr>
          <p:cNvPr id="41" name="Shape 38"/>
          <p:cNvSpPr/>
          <p:nvPr/>
        </p:nvSpPr>
        <p:spPr>
          <a:xfrm>
            <a:off x="7498080" y="1325880"/>
            <a:ext cx="4142232" cy="4434840"/>
          </a:xfrm>
          <a:prstGeom prst="roundRect">
            <a:avLst>
              <a:gd name="adj" fmla="val 1766"/>
            </a:avLst>
          </a:prstGeom>
          <a:solidFill>
            <a:srgbClr val="00553A"/>
          </a:solidFill>
          <a:ln w="9525">
            <a:solidFill>
              <a:srgbClr val="00553A"/>
            </a:solidFill>
            <a:prstDash val="solid"/>
          </a:ln>
        </p:spPr>
      </p:sp>
      <p:pic>
        <p:nvPicPr>
          <p:cNvPr id="42" name="Image 1" descr="preencoded.png"/>
          <p:cNvPicPr>
            <a:picLocks noChangeAspect="1"/>
          </p:cNvPicPr>
          <p:nvPr/>
        </p:nvPicPr>
        <p:blipFill>
          <a:blip r:embed="rId4"/>
          <a:stretch>
            <a:fillRect/>
          </a:stretch>
        </p:blipFill>
        <p:spPr>
          <a:xfrm>
            <a:off x="7726680" y="1554480"/>
            <a:ext cx="411480" cy="411480"/>
          </a:xfrm>
          <a:prstGeom prst="rect">
            <a:avLst/>
          </a:prstGeom>
        </p:spPr>
      </p:pic>
      <p:sp>
        <p:nvSpPr>
          <p:cNvPr id="43" name="Text 39"/>
          <p:cNvSpPr txBox="1"/>
          <p:nvPr/>
        </p:nvSpPr>
        <p:spPr>
          <a:xfrm>
            <a:off x="8275320" y="1554480"/>
            <a:ext cx="3200400" cy="411480"/>
          </a:xfrm>
          <a:prstGeom prst="rect">
            <a:avLst/>
          </a:prstGeom>
          <a:noFill/>
          <a:ln/>
        </p:spPr>
        <p:txBody>
          <a:bodyPr wrap="square" lIns="0" tIns="0" rIns="0" bIns="0" rtlCol="0" anchor="ctr"/>
          <a:lstStyle/>
          <a:p>
            <a:pPr marL="0" indent="0">
              <a:buNone/>
            </a:pPr>
            <a:r>
              <a:rPr lang="fr-FR" sz="1400" b="1" dirty="0">
                <a:solidFill>
                  <a:srgbClr val="F5C242"/>
                </a:solidFill>
                <a:latin typeface="Calibri" pitchFamily="34" charset="0"/>
                <a:ea typeface="Calibri" pitchFamily="34" charset="-122"/>
                <a:cs typeface="Calibri" pitchFamily="34" charset="-120"/>
              </a:rPr>
              <a:t>La restitution en une phrase</a:t>
            </a:r>
            <a:endParaRPr lang="fr-FR" sz="1400" dirty="0"/>
          </a:p>
        </p:txBody>
      </p:sp>
      <p:sp>
        <p:nvSpPr>
          <p:cNvPr id="44" name="Text 40"/>
          <p:cNvSpPr txBox="1"/>
          <p:nvPr/>
        </p:nvSpPr>
        <p:spPr>
          <a:xfrm>
            <a:off x="7726680" y="2148840"/>
            <a:ext cx="3703320" cy="2377440"/>
          </a:xfrm>
          <a:prstGeom prst="rect">
            <a:avLst/>
          </a:prstGeom>
          <a:noFill/>
          <a:ln/>
        </p:spPr>
        <p:txBody>
          <a:bodyPr wrap="square" lIns="0" tIns="0" rIns="0" bIns="0" rtlCol="0" anchor="t"/>
          <a:lstStyle/>
          <a:p>
            <a:pPr marL="0" indent="0">
              <a:buNone/>
            </a:pPr>
            <a:r>
              <a:rPr lang="fr-FR" sz="1300" i="1" dirty="0">
                <a:solidFill>
                  <a:srgbClr val="FFFFFF"/>
                </a:solidFill>
                <a:latin typeface="Calibri" pitchFamily="34" charset="0"/>
                <a:ea typeface="Calibri" pitchFamily="34" charset="-122"/>
                <a:cs typeface="Calibri" pitchFamily="34" charset="-120"/>
              </a:rPr>
              <a:t>« Les lumières nocturnes suivent bien [indicateur officiel] [où / quand], car [le comportement d’éclairage tient] ; elles décrochent [où / quand], car [maillon défaillant]. Nous classons l’indicateur comme [décision]. »</a:t>
            </a:r>
            <a:endParaRPr lang="fr-FR" sz="1300" dirty="0"/>
          </a:p>
        </p:txBody>
      </p:sp>
      <p:sp>
        <p:nvSpPr>
          <p:cNvPr id="45" name="Text 41"/>
          <p:cNvSpPr txBox="1"/>
          <p:nvPr/>
        </p:nvSpPr>
        <p:spPr>
          <a:xfrm>
            <a:off x="7726680" y="4754880"/>
            <a:ext cx="3703320" cy="822960"/>
          </a:xfrm>
          <a:prstGeom prst="rect">
            <a:avLst/>
          </a:prstGeom>
          <a:noFill/>
          <a:ln/>
        </p:spPr>
        <p:txBody>
          <a:bodyPr wrap="square" lIns="0" tIns="0" rIns="0" bIns="0" rtlCol="0" anchor="t"/>
          <a:lstStyle/>
          <a:p>
            <a:pPr marL="0" indent="0">
              <a:buNone/>
            </a:pPr>
            <a:r>
              <a:rPr lang="fr-FR" sz="1100" dirty="0">
                <a:solidFill>
                  <a:srgbClr val="A9D3BE"/>
                </a:solidFill>
                <a:latin typeface="Calibri" pitchFamily="34" charset="0"/>
                <a:ea typeface="Calibri" pitchFamily="34" charset="-122"/>
                <a:cs typeface="Calibri" pitchFamily="34" charset="-120"/>
              </a:rPr>
              <a:t>Deux minutes par équipe. Les fiches sont recueillies pour amorcer des fiches de projet.</a:t>
            </a:r>
            <a:endParaRPr lang="fr-FR"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Afrique australe  ·  Rendu illustratif : populations des localités GeoNames, frontières Natural Earth</a:t>
            </a:r>
            <a:endParaRPr lang="fr-FR"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fr-FR" sz="1100" b="1" kern="0" spc="300" dirty="0">
                <a:solidFill>
                  <a:srgbClr val="7BCBA9"/>
                </a:solidFill>
                <a:latin typeface="Calibri" pitchFamily="34" charset="0"/>
                <a:ea typeface="Calibri" pitchFamily="34" charset="-122"/>
                <a:cs typeface="Calibri" pitchFamily="34" charset="-120"/>
              </a:rPr>
              <a:t>SECTION 5</a:t>
            </a:r>
            <a:endParaRPr lang="fr-FR"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fr-FR" sz="8000" b="1" dirty="0">
                <a:solidFill>
                  <a:srgbClr val="F5C242"/>
                </a:solidFill>
                <a:latin typeface="Calibri" pitchFamily="34" charset="0"/>
                <a:ea typeface="Calibri" pitchFamily="34" charset="-122"/>
                <a:cs typeface="Calibri" pitchFamily="34" charset="-120"/>
              </a:rPr>
              <a:t>05</a:t>
            </a:r>
            <a:endParaRPr lang="fr-FR"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fr-FR" sz="3800" b="1" dirty="0">
                <a:solidFill>
                  <a:srgbClr val="FFFFFF"/>
                </a:solidFill>
                <a:latin typeface="Calibri" pitchFamily="34" charset="0"/>
                <a:ea typeface="Calibri" pitchFamily="34" charset="-122"/>
                <a:cs typeface="Calibri" pitchFamily="34" charset="-120"/>
              </a:rPr>
              <a:t>De la séance à la pratique</a:t>
            </a:r>
            <a:endParaRPr lang="fr-FR"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fr-FR" sz="1700" i="1" dirty="0">
                <a:solidFill>
                  <a:srgbClr val="CDE8DA"/>
                </a:solidFill>
                <a:latin typeface="Calibri" pitchFamily="34" charset="0"/>
                <a:ea typeface="Calibri" pitchFamily="34" charset="-122"/>
                <a:cs typeface="Calibri" pitchFamily="34" charset="-120"/>
              </a:rPr>
              <a:t>Comment ces résultats deviennent-ils publiables par votre institution ?</a:t>
            </a:r>
            <a:endParaRPr lang="fr-FR"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fr-FR" sz="1200" dirty="0">
                <a:solidFill>
                  <a:srgbClr val="A9D3BE"/>
                </a:solidFill>
                <a:latin typeface="Calibri" pitchFamily="34" charset="0"/>
                <a:ea typeface="Calibri" pitchFamily="34" charset="-122"/>
                <a:cs typeface="Calibri" pitchFamily="34" charset="-120"/>
              </a:rPr>
              <a:t>Chaîne  ·  Choix du produit  ·  Validation  ·  Liste de contrôle  ·  Éthique  ·  Fiches de projet</a:t>
            </a:r>
            <a:endParaRPr lang="fr-FR"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fr-FR" sz="1000" b="1" kern="0" spc="100" dirty="0">
                <a:solidFill>
                  <a:srgbClr val="00553A"/>
                </a:solidFill>
                <a:latin typeface="Calibri" pitchFamily="34" charset="0"/>
                <a:ea typeface="Calibri" pitchFamily="34" charset="-122"/>
                <a:cs typeface="Calibri" pitchFamily="34" charset="-120"/>
              </a:rPr>
              <a:t>RÉFÉRENCE  ·  POUR LA SUITE DES TRAVAUX</a:t>
            </a:r>
            <a:endParaRPr lang="fr-FR"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dirty="0">
                <a:solidFill>
                  <a:srgbClr val="A9D3BE"/>
                </a:solidFill>
                <a:latin typeface="Calibri" pitchFamily="34" charset="0"/>
                <a:ea typeface="Calibri" pitchFamily="34" charset="-122"/>
                <a:cs typeface="Calibri" pitchFamily="34" charset="-120"/>
              </a:rPr>
              <a:t>56</a:t>
            </a:r>
            <a:endParaRPr lang="fr-FR"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05 · DE LA SÉANCE AUX PROJETS · DÉMARCHE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Cinq étapes, une chaîne reproductible</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57</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Exemple d’outils libres : BlackMarblePy / rasterio / xarray (lecture), geopandas (contours), exactextract ou rasterstats (statistiques zonales), statsmodels (validation), matplotlib (cartes).</a:t>
            </a:r>
            <a:endParaRPr lang="fr-FR" sz="850" dirty="0"/>
          </a:p>
        </p:txBody>
      </p:sp>
      <p:sp>
        <p:nvSpPr>
          <p:cNvPr id="13" name="Shape 10"/>
          <p:cNvSpPr/>
          <p:nvPr/>
        </p:nvSpPr>
        <p:spPr>
          <a:xfrm>
            <a:off x="548640" y="1371600"/>
            <a:ext cx="2103120" cy="685800"/>
          </a:xfrm>
          <a:prstGeom prst="rect">
            <a:avLst/>
          </a:prstGeom>
          <a:solidFill>
            <a:srgbClr val="00704A"/>
          </a:solidFill>
          <a:ln w="6350">
            <a:solidFill>
              <a:srgbClr val="00704A"/>
            </a:solidFill>
            <a:prstDash val="solid"/>
          </a:ln>
        </p:spPr>
      </p:sp>
      <p:pic>
        <p:nvPicPr>
          <p:cNvPr id="14" name="Image 1" descr="preencoded.png"/>
          <p:cNvPicPr>
            <a:picLocks noChangeAspect="1"/>
          </p:cNvPicPr>
          <p:nvPr/>
        </p:nvPicPr>
        <p:blipFill>
          <a:blip r:embed="rId4"/>
          <a:stretch>
            <a:fillRect/>
          </a:stretch>
        </p:blipFill>
        <p:spPr>
          <a:xfrm>
            <a:off x="731520" y="1536192"/>
            <a:ext cx="365760" cy="365760"/>
          </a:xfrm>
          <a:prstGeom prst="rect">
            <a:avLst/>
          </a:prstGeom>
        </p:spPr>
      </p:pic>
      <p:sp>
        <p:nvSpPr>
          <p:cNvPr id="15" name="Text 11"/>
          <p:cNvSpPr txBox="1"/>
          <p:nvPr/>
        </p:nvSpPr>
        <p:spPr>
          <a:xfrm>
            <a:off x="1234440" y="1371600"/>
            <a:ext cx="1325880" cy="685800"/>
          </a:xfrm>
          <a:prstGeom prst="rect">
            <a:avLst/>
          </a:prstGeom>
          <a:noFill/>
          <a:ln/>
        </p:spPr>
        <p:txBody>
          <a:bodyPr wrap="square" lIns="0" tIns="0" rIns="0" bIns="0" rtlCol="0" anchor="ctr"/>
          <a:lstStyle/>
          <a:p>
            <a:pPr marL="0" indent="0">
              <a:buNone/>
            </a:pPr>
            <a:r>
              <a:rPr lang="fr-FR" sz="1600" b="1" dirty="0">
                <a:solidFill>
                  <a:srgbClr val="FFFFFF"/>
                </a:solidFill>
                <a:latin typeface="Calibri" pitchFamily="34" charset="0"/>
                <a:ea typeface="Calibri" pitchFamily="34" charset="-122"/>
                <a:cs typeface="Calibri" pitchFamily="34" charset="-120"/>
              </a:rPr>
              <a:t>Collecter</a:t>
            </a:r>
            <a:endParaRPr lang="fr-FR" sz="1600" dirty="0"/>
          </a:p>
        </p:txBody>
      </p:sp>
      <p:sp>
        <p:nvSpPr>
          <p:cNvPr id="16" name="Shape 12"/>
          <p:cNvSpPr/>
          <p:nvPr/>
        </p:nvSpPr>
        <p:spPr>
          <a:xfrm>
            <a:off x="548640" y="2148840"/>
            <a:ext cx="2103120" cy="2377440"/>
          </a:xfrm>
          <a:prstGeom prst="roundRect">
            <a:avLst>
              <a:gd name="adj" fmla="val 3478"/>
            </a:avLst>
          </a:prstGeom>
          <a:solidFill>
            <a:srgbClr val="F4F7F5"/>
          </a:solidFill>
          <a:ln w="9525">
            <a:solidFill>
              <a:srgbClr val="D5DED9"/>
            </a:solidFill>
            <a:prstDash val="solid"/>
          </a:ln>
        </p:spPr>
      </p:sp>
      <p:sp>
        <p:nvSpPr>
          <p:cNvPr id="17" name="Text 13"/>
          <p:cNvSpPr txBox="1"/>
          <p:nvPr/>
        </p:nvSpPr>
        <p:spPr>
          <a:xfrm>
            <a:off x="685800"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NASA Earthdata / LAADS DAAC</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BlackMarblePy · Earth Engine</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Bandes et indicateurs qualité</a:t>
            </a:r>
            <a:endParaRPr lang="fr-FR" sz="1300" dirty="0"/>
          </a:p>
        </p:txBody>
      </p:sp>
      <p:sp>
        <p:nvSpPr>
          <p:cNvPr id="18" name="Text 14"/>
          <p:cNvSpPr txBox="1"/>
          <p:nvPr/>
        </p:nvSpPr>
        <p:spPr>
          <a:xfrm>
            <a:off x="548640" y="4572000"/>
            <a:ext cx="2103120" cy="365760"/>
          </a:xfrm>
          <a:prstGeom prst="rect">
            <a:avLst/>
          </a:prstGeom>
          <a:noFill/>
          <a:ln/>
        </p:spPr>
        <p:txBody>
          <a:bodyPr wrap="square" lIns="0" tIns="0" rIns="0" bIns="0" rtlCol="0" anchor="t"/>
          <a:lstStyle/>
          <a:p>
            <a:pPr marL="0" indent="0" algn="ctr">
              <a:buNone/>
            </a:pPr>
            <a:r>
              <a:rPr lang="fr-FR" sz="1800" b="1" dirty="0">
                <a:solidFill>
                  <a:srgbClr val="00704A"/>
                </a:solidFill>
                <a:latin typeface="Calibri" pitchFamily="34" charset="0"/>
                <a:ea typeface="Calibri" pitchFamily="34" charset="-122"/>
                <a:cs typeface="Calibri" pitchFamily="34" charset="-120"/>
              </a:rPr>
              <a:t>↓</a:t>
            </a:r>
            <a:endParaRPr lang="fr-FR" sz="1800" dirty="0"/>
          </a:p>
        </p:txBody>
      </p:sp>
      <p:sp>
        <p:nvSpPr>
          <p:cNvPr id="19" name="Shape 15"/>
          <p:cNvSpPr/>
          <p:nvPr/>
        </p:nvSpPr>
        <p:spPr>
          <a:xfrm>
            <a:off x="685800" y="4983480"/>
            <a:ext cx="1828800" cy="347472"/>
          </a:xfrm>
          <a:prstGeom prst="roundRect">
            <a:avLst>
              <a:gd name="adj" fmla="val 50000"/>
            </a:avLst>
          </a:prstGeom>
          <a:solidFill>
            <a:srgbClr val="E8F5EF"/>
          </a:solidFill>
          <a:ln w="12700">
            <a:solidFill>
              <a:srgbClr val="E8F5EF"/>
            </a:solidFill>
            <a:prstDash val="solid"/>
          </a:ln>
        </p:spPr>
      </p:sp>
      <p:sp>
        <p:nvSpPr>
          <p:cNvPr id="20" name="Text 16"/>
          <p:cNvSpPr txBox="1"/>
          <p:nvPr/>
        </p:nvSpPr>
        <p:spPr>
          <a:xfrm>
            <a:off x="685800" y="4983480"/>
            <a:ext cx="1828800" cy="347472"/>
          </a:xfrm>
          <a:prstGeom prst="rect">
            <a:avLst/>
          </a:prstGeom>
          <a:noFill/>
          <a:ln/>
        </p:spPr>
        <p:txBody>
          <a:bodyPr wrap="square" lIns="0" tIns="0" rIns="0" bIns="0" rtlCol="0" anchor="ctr"/>
          <a:lstStyle/>
          <a:p>
            <a:pPr marL="0" indent="0" algn="ctr">
              <a:buNone/>
            </a:pPr>
            <a:r>
              <a:rPr lang="fr-FR" sz="1000" b="1" kern="0" spc="100" dirty="0">
                <a:solidFill>
                  <a:srgbClr val="00704A"/>
                </a:solidFill>
                <a:latin typeface="Calibri" pitchFamily="34" charset="0"/>
                <a:ea typeface="Calibri" pitchFamily="34" charset="-122"/>
                <a:cs typeface="Calibri" pitchFamily="34" charset="-120"/>
              </a:rPr>
              <a:t>Extrait national</a:t>
            </a:r>
            <a:endParaRPr lang="fr-FR" sz="1000" dirty="0"/>
          </a:p>
        </p:txBody>
      </p:sp>
      <p:sp>
        <p:nvSpPr>
          <p:cNvPr id="21" name="Shape 17"/>
          <p:cNvSpPr/>
          <p:nvPr/>
        </p:nvSpPr>
        <p:spPr>
          <a:xfrm>
            <a:off x="2793492" y="1371600"/>
            <a:ext cx="2103120" cy="685800"/>
          </a:xfrm>
          <a:prstGeom prst="rect">
            <a:avLst/>
          </a:prstGeom>
          <a:solidFill>
            <a:srgbClr val="008A5A"/>
          </a:solidFill>
          <a:ln w="6350">
            <a:solidFill>
              <a:srgbClr val="008A5A"/>
            </a:solidFill>
            <a:prstDash val="solid"/>
          </a:ln>
        </p:spPr>
      </p:sp>
      <p:pic>
        <p:nvPicPr>
          <p:cNvPr id="22" name="Image 2" descr="preencoded.png"/>
          <p:cNvPicPr>
            <a:picLocks noChangeAspect="1"/>
          </p:cNvPicPr>
          <p:nvPr/>
        </p:nvPicPr>
        <p:blipFill>
          <a:blip r:embed="rId5"/>
          <a:stretch>
            <a:fillRect/>
          </a:stretch>
        </p:blipFill>
        <p:spPr>
          <a:xfrm>
            <a:off x="2976372" y="1536192"/>
            <a:ext cx="365760" cy="365760"/>
          </a:xfrm>
          <a:prstGeom prst="rect">
            <a:avLst/>
          </a:prstGeom>
        </p:spPr>
      </p:pic>
      <p:sp>
        <p:nvSpPr>
          <p:cNvPr id="23" name="Text 18"/>
          <p:cNvSpPr txBox="1"/>
          <p:nvPr/>
        </p:nvSpPr>
        <p:spPr>
          <a:xfrm>
            <a:off x="3479292" y="1371600"/>
            <a:ext cx="1325880" cy="685800"/>
          </a:xfrm>
          <a:prstGeom prst="rect">
            <a:avLst/>
          </a:prstGeom>
          <a:noFill/>
          <a:ln/>
        </p:spPr>
        <p:txBody>
          <a:bodyPr wrap="square" lIns="0" tIns="0" rIns="0" bIns="0" rtlCol="0" anchor="ctr"/>
          <a:lstStyle/>
          <a:p>
            <a:pPr marL="0" indent="0">
              <a:buNone/>
            </a:pPr>
            <a:r>
              <a:rPr lang="fr-FR" sz="1600" b="1" dirty="0">
                <a:solidFill>
                  <a:srgbClr val="FFFFFF"/>
                </a:solidFill>
                <a:latin typeface="Calibri" pitchFamily="34" charset="0"/>
                <a:ea typeface="Calibri" pitchFamily="34" charset="-122"/>
                <a:cs typeface="Calibri" pitchFamily="34" charset="-120"/>
              </a:rPr>
              <a:t>Explorer</a:t>
            </a:r>
            <a:endParaRPr lang="fr-FR" sz="1600" dirty="0"/>
          </a:p>
        </p:txBody>
      </p:sp>
      <p:sp>
        <p:nvSpPr>
          <p:cNvPr id="24" name="Shape 19"/>
          <p:cNvSpPr/>
          <p:nvPr/>
        </p:nvSpPr>
        <p:spPr>
          <a:xfrm>
            <a:off x="2793492" y="2148840"/>
            <a:ext cx="2103120" cy="2377440"/>
          </a:xfrm>
          <a:prstGeom prst="roundRect">
            <a:avLst>
              <a:gd name="adj" fmla="val 3478"/>
            </a:avLst>
          </a:prstGeom>
          <a:solidFill>
            <a:srgbClr val="F4F7F5"/>
          </a:solidFill>
          <a:ln w="9525">
            <a:solidFill>
              <a:srgbClr val="D5DED9"/>
            </a:solidFill>
            <a:prstDash val="solid"/>
          </a:ln>
        </p:spPr>
      </p:sp>
      <p:sp>
        <p:nvSpPr>
          <p:cNvPr id="25" name="Text 20"/>
          <p:cNvSpPr txBox="1"/>
          <p:nvPr/>
        </p:nvSpPr>
        <p:spPr>
          <a:xfrm>
            <a:off x="2930652"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Histogrammes et cartes</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Masques nuages et qualité</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Variations mensuelles</a:t>
            </a:r>
            <a:endParaRPr lang="fr-FR" sz="1300" dirty="0"/>
          </a:p>
        </p:txBody>
      </p:sp>
      <p:sp>
        <p:nvSpPr>
          <p:cNvPr id="26" name="Text 21"/>
          <p:cNvSpPr txBox="1"/>
          <p:nvPr/>
        </p:nvSpPr>
        <p:spPr>
          <a:xfrm>
            <a:off x="2793492" y="4572000"/>
            <a:ext cx="2103120" cy="365760"/>
          </a:xfrm>
          <a:prstGeom prst="rect">
            <a:avLst/>
          </a:prstGeom>
          <a:noFill/>
          <a:ln/>
        </p:spPr>
        <p:txBody>
          <a:bodyPr wrap="square" lIns="0" tIns="0" rIns="0" bIns="0" rtlCol="0" anchor="t"/>
          <a:lstStyle/>
          <a:p>
            <a:pPr marL="0" indent="0" algn="ctr">
              <a:buNone/>
            </a:pPr>
            <a:r>
              <a:rPr lang="fr-FR" sz="1800" b="1" dirty="0">
                <a:solidFill>
                  <a:srgbClr val="008A5A"/>
                </a:solidFill>
                <a:latin typeface="Calibri" pitchFamily="34" charset="0"/>
                <a:ea typeface="Calibri" pitchFamily="34" charset="-122"/>
                <a:cs typeface="Calibri" pitchFamily="34" charset="-120"/>
              </a:rPr>
              <a:t>↓</a:t>
            </a:r>
            <a:endParaRPr lang="fr-FR" sz="1800" dirty="0"/>
          </a:p>
        </p:txBody>
      </p:sp>
      <p:sp>
        <p:nvSpPr>
          <p:cNvPr id="27" name="Shape 22"/>
          <p:cNvSpPr/>
          <p:nvPr/>
        </p:nvSpPr>
        <p:spPr>
          <a:xfrm>
            <a:off x="2930652" y="4983480"/>
            <a:ext cx="1828800" cy="347472"/>
          </a:xfrm>
          <a:prstGeom prst="roundRect">
            <a:avLst>
              <a:gd name="adj" fmla="val 50000"/>
            </a:avLst>
          </a:prstGeom>
          <a:solidFill>
            <a:srgbClr val="E8F5EF"/>
          </a:solidFill>
          <a:ln w="12700">
            <a:solidFill>
              <a:srgbClr val="E8F5EF"/>
            </a:solidFill>
            <a:prstDash val="solid"/>
          </a:ln>
        </p:spPr>
      </p:sp>
      <p:sp>
        <p:nvSpPr>
          <p:cNvPr id="28" name="Text 23"/>
          <p:cNvSpPr txBox="1"/>
          <p:nvPr/>
        </p:nvSpPr>
        <p:spPr>
          <a:xfrm>
            <a:off x="2930652" y="4983480"/>
            <a:ext cx="1828800" cy="347472"/>
          </a:xfrm>
          <a:prstGeom prst="rect">
            <a:avLst/>
          </a:prstGeom>
          <a:noFill/>
          <a:ln/>
        </p:spPr>
        <p:txBody>
          <a:bodyPr wrap="square" lIns="0" tIns="0" rIns="0" bIns="0" rtlCol="0" anchor="ctr"/>
          <a:lstStyle/>
          <a:p>
            <a:pPr marL="0" indent="0" algn="ctr">
              <a:buNone/>
            </a:pPr>
            <a:r>
              <a:rPr lang="fr-FR" sz="1000" b="1" kern="0" spc="100" dirty="0">
                <a:solidFill>
                  <a:srgbClr val="00704A"/>
                </a:solidFill>
                <a:latin typeface="Calibri" pitchFamily="34" charset="0"/>
                <a:ea typeface="Calibri" pitchFamily="34" charset="-122"/>
                <a:cs typeface="Calibri" pitchFamily="34" charset="-120"/>
              </a:rPr>
              <a:t>Journal des artefacts</a:t>
            </a:r>
            <a:endParaRPr lang="fr-FR" sz="1000" dirty="0"/>
          </a:p>
        </p:txBody>
      </p:sp>
      <p:sp>
        <p:nvSpPr>
          <p:cNvPr id="29" name="Shape 24"/>
          <p:cNvSpPr/>
          <p:nvPr/>
        </p:nvSpPr>
        <p:spPr>
          <a:xfrm>
            <a:off x="5038344" y="1371600"/>
            <a:ext cx="2103120" cy="685800"/>
          </a:xfrm>
          <a:prstGeom prst="rect">
            <a:avLst/>
          </a:prstGeom>
          <a:solidFill>
            <a:srgbClr val="00A86A"/>
          </a:solidFill>
          <a:ln w="6350">
            <a:solidFill>
              <a:srgbClr val="00A86A"/>
            </a:solidFill>
            <a:prstDash val="solid"/>
          </a:ln>
        </p:spPr>
      </p:sp>
      <p:pic>
        <p:nvPicPr>
          <p:cNvPr id="30" name="Image 3" descr="preencoded.png"/>
          <p:cNvPicPr>
            <a:picLocks noChangeAspect="1"/>
          </p:cNvPicPr>
          <p:nvPr/>
        </p:nvPicPr>
        <p:blipFill>
          <a:blip r:embed="rId6"/>
          <a:stretch>
            <a:fillRect/>
          </a:stretch>
        </p:blipFill>
        <p:spPr>
          <a:xfrm>
            <a:off x="5221224" y="1536192"/>
            <a:ext cx="365760" cy="365760"/>
          </a:xfrm>
          <a:prstGeom prst="rect">
            <a:avLst/>
          </a:prstGeom>
        </p:spPr>
      </p:pic>
      <p:sp>
        <p:nvSpPr>
          <p:cNvPr id="31" name="Text 25"/>
          <p:cNvSpPr txBox="1"/>
          <p:nvPr/>
        </p:nvSpPr>
        <p:spPr>
          <a:xfrm>
            <a:off x="5724144" y="1371600"/>
            <a:ext cx="1325880" cy="685800"/>
          </a:xfrm>
          <a:prstGeom prst="rect">
            <a:avLst/>
          </a:prstGeom>
          <a:noFill/>
          <a:ln/>
        </p:spPr>
        <p:txBody>
          <a:bodyPr wrap="square" lIns="0" tIns="0" rIns="0" bIns="0" rtlCol="0" anchor="ctr"/>
          <a:lstStyle/>
          <a:p>
            <a:pPr marL="0" indent="0">
              <a:buNone/>
            </a:pPr>
            <a:r>
              <a:rPr lang="fr-FR" sz="1600" b="1" dirty="0">
                <a:solidFill>
                  <a:srgbClr val="FFFFFF"/>
                </a:solidFill>
                <a:latin typeface="Calibri" pitchFamily="34" charset="0"/>
                <a:ea typeface="Calibri" pitchFamily="34" charset="-122"/>
                <a:cs typeface="Calibri" pitchFamily="34" charset="-120"/>
              </a:rPr>
              <a:t>Analyser</a:t>
            </a:r>
            <a:endParaRPr lang="fr-FR" sz="1600" dirty="0"/>
          </a:p>
        </p:txBody>
      </p:sp>
      <p:sp>
        <p:nvSpPr>
          <p:cNvPr id="32" name="Shape 26"/>
          <p:cNvSpPr/>
          <p:nvPr/>
        </p:nvSpPr>
        <p:spPr>
          <a:xfrm>
            <a:off x="5038344" y="2148840"/>
            <a:ext cx="2103120" cy="2377440"/>
          </a:xfrm>
          <a:prstGeom prst="roundRect">
            <a:avLst>
              <a:gd name="adj" fmla="val 3478"/>
            </a:avLst>
          </a:prstGeom>
          <a:solidFill>
            <a:srgbClr val="F4F7F5"/>
          </a:solidFill>
          <a:ln w="9525">
            <a:solidFill>
              <a:srgbClr val="D5DED9"/>
            </a:solidFill>
            <a:prstDash val="solid"/>
          </a:ln>
        </p:spPr>
      </p:sp>
      <p:sp>
        <p:nvSpPr>
          <p:cNvPr id="33" name="Text 27"/>
          <p:cNvSpPr txBox="1"/>
          <p:nvPr/>
        </p:nvSpPr>
        <p:spPr>
          <a:xfrm>
            <a:off x="5175504"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Stat. zonales par niveau admin.</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Séries annuelles et mensuelles</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Détection des changements</a:t>
            </a:r>
            <a:endParaRPr lang="fr-FR" sz="1300" dirty="0"/>
          </a:p>
        </p:txBody>
      </p:sp>
      <p:sp>
        <p:nvSpPr>
          <p:cNvPr id="34" name="Text 28"/>
          <p:cNvSpPr txBox="1"/>
          <p:nvPr/>
        </p:nvSpPr>
        <p:spPr>
          <a:xfrm>
            <a:off x="5038344" y="4572000"/>
            <a:ext cx="2103120" cy="365760"/>
          </a:xfrm>
          <a:prstGeom prst="rect">
            <a:avLst/>
          </a:prstGeom>
          <a:noFill/>
          <a:ln/>
        </p:spPr>
        <p:txBody>
          <a:bodyPr wrap="square" lIns="0" tIns="0" rIns="0" bIns="0" rtlCol="0" anchor="t"/>
          <a:lstStyle/>
          <a:p>
            <a:pPr marL="0" indent="0" algn="ctr">
              <a:buNone/>
            </a:pPr>
            <a:r>
              <a:rPr lang="fr-FR" sz="1800" b="1" dirty="0">
                <a:solidFill>
                  <a:srgbClr val="00A86A"/>
                </a:solidFill>
                <a:latin typeface="Calibri" pitchFamily="34" charset="0"/>
                <a:ea typeface="Calibri" pitchFamily="34" charset="-122"/>
                <a:cs typeface="Calibri" pitchFamily="34" charset="-120"/>
              </a:rPr>
              <a:t>↓</a:t>
            </a:r>
            <a:endParaRPr lang="fr-FR" sz="1800" dirty="0"/>
          </a:p>
        </p:txBody>
      </p:sp>
      <p:sp>
        <p:nvSpPr>
          <p:cNvPr id="35" name="Shape 29"/>
          <p:cNvSpPr/>
          <p:nvPr/>
        </p:nvSpPr>
        <p:spPr>
          <a:xfrm>
            <a:off x="5175504" y="4983480"/>
            <a:ext cx="1828800" cy="347472"/>
          </a:xfrm>
          <a:prstGeom prst="roundRect">
            <a:avLst>
              <a:gd name="adj" fmla="val 50000"/>
            </a:avLst>
          </a:prstGeom>
          <a:solidFill>
            <a:srgbClr val="E8F5EF"/>
          </a:solidFill>
          <a:ln w="12700">
            <a:solidFill>
              <a:srgbClr val="E8F5EF"/>
            </a:solidFill>
            <a:prstDash val="solid"/>
          </a:ln>
        </p:spPr>
      </p:sp>
      <p:sp>
        <p:nvSpPr>
          <p:cNvPr id="36" name="Text 30"/>
          <p:cNvSpPr txBox="1"/>
          <p:nvPr/>
        </p:nvSpPr>
        <p:spPr>
          <a:xfrm>
            <a:off x="5175504" y="4983480"/>
            <a:ext cx="1828800" cy="347472"/>
          </a:xfrm>
          <a:prstGeom prst="rect">
            <a:avLst/>
          </a:prstGeom>
          <a:noFill/>
          <a:ln/>
        </p:spPr>
        <p:txBody>
          <a:bodyPr wrap="square" lIns="0" tIns="0" rIns="0" bIns="0" rtlCol="0" anchor="ctr"/>
          <a:lstStyle/>
          <a:p>
            <a:pPr marL="0" indent="0" algn="ctr">
              <a:buNone/>
            </a:pPr>
            <a:r>
              <a:rPr lang="fr-FR" sz="1000" b="1" kern="0" spc="100" dirty="0">
                <a:solidFill>
                  <a:srgbClr val="00704A"/>
                </a:solidFill>
                <a:latin typeface="Calibri" pitchFamily="34" charset="0"/>
                <a:ea typeface="Calibri" pitchFamily="34" charset="-122"/>
                <a:cs typeface="Calibri" pitchFamily="34" charset="-120"/>
              </a:rPr>
              <a:t>Tableaux et cartes</a:t>
            </a:r>
            <a:endParaRPr lang="fr-FR" sz="1000" dirty="0"/>
          </a:p>
        </p:txBody>
      </p:sp>
      <p:sp>
        <p:nvSpPr>
          <p:cNvPr id="37" name="Shape 31"/>
          <p:cNvSpPr/>
          <p:nvPr/>
        </p:nvSpPr>
        <p:spPr>
          <a:xfrm>
            <a:off x="7283196" y="1371600"/>
            <a:ext cx="2103120" cy="685800"/>
          </a:xfrm>
          <a:prstGeom prst="rect">
            <a:avLst/>
          </a:prstGeom>
          <a:solidFill>
            <a:srgbClr val="D99A1E"/>
          </a:solidFill>
          <a:ln w="6350">
            <a:solidFill>
              <a:srgbClr val="D99A1E"/>
            </a:solidFill>
            <a:prstDash val="solid"/>
          </a:ln>
        </p:spPr>
      </p:sp>
      <p:pic>
        <p:nvPicPr>
          <p:cNvPr id="38" name="Image 4" descr="preencoded.png"/>
          <p:cNvPicPr>
            <a:picLocks noChangeAspect="1"/>
          </p:cNvPicPr>
          <p:nvPr/>
        </p:nvPicPr>
        <p:blipFill>
          <a:blip r:embed="rId7"/>
          <a:stretch>
            <a:fillRect/>
          </a:stretch>
        </p:blipFill>
        <p:spPr>
          <a:xfrm>
            <a:off x="7466076" y="1536192"/>
            <a:ext cx="365760" cy="365760"/>
          </a:xfrm>
          <a:prstGeom prst="rect">
            <a:avLst/>
          </a:prstGeom>
        </p:spPr>
      </p:pic>
      <p:sp>
        <p:nvSpPr>
          <p:cNvPr id="39" name="Text 32"/>
          <p:cNvSpPr txBox="1"/>
          <p:nvPr/>
        </p:nvSpPr>
        <p:spPr>
          <a:xfrm>
            <a:off x="7968996" y="1371600"/>
            <a:ext cx="1325880" cy="685800"/>
          </a:xfrm>
          <a:prstGeom prst="rect">
            <a:avLst/>
          </a:prstGeom>
          <a:noFill/>
          <a:ln/>
        </p:spPr>
        <p:txBody>
          <a:bodyPr wrap="square" lIns="0" tIns="0" rIns="0" bIns="0" rtlCol="0" anchor="ctr"/>
          <a:lstStyle/>
          <a:p>
            <a:pPr marL="0" indent="0">
              <a:buNone/>
            </a:pPr>
            <a:r>
              <a:rPr lang="fr-FR" sz="1600" b="1" dirty="0">
                <a:solidFill>
                  <a:srgbClr val="FFFFFF"/>
                </a:solidFill>
                <a:latin typeface="Calibri" pitchFamily="34" charset="0"/>
                <a:ea typeface="Calibri" pitchFamily="34" charset="-122"/>
                <a:cs typeface="Calibri" pitchFamily="34" charset="-120"/>
              </a:rPr>
              <a:t>Valider</a:t>
            </a:r>
            <a:endParaRPr lang="fr-FR" sz="1600" dirty="0"/>
          </a:p>
        </p:txBody>
      </p:sp>
      <p:sp>
        <p:nvSpPr>
          <p:cNvPr id="40" name="Shape 33"/>
          <p:cNvSpPr/>
          <p:nvPr/>
        </p:nvSpPr>
        <p:spPr>
          <a:xfrm>
            <a:off x="7283196" y="2148840"/>
            <a:ext cx="2103120" cy="2377440"/>
          </a:xfrm>
          <a:prstGeom prst="roundRect">
            <a:avLst>
              <a:gd name="adj" fmla="val 3478"/>
            </a:avLst>
          </a:prstGeom>
          <a:solidFill>
            <a:srgbClr val="F4F7F5"/>
          </a:solidFill>
          <a:ln w="9525">
            <a:solidFill>
              <a:srgbClr val="D5DED9"/>
            </a:solidFill>
            <a:prstDash val="solid"/>
          </a:ln>
        </p:spPr>
      </p:sp>
      <p:sp>
        <p:nvSpPr>
          <p:cNvPr id="41" name="Text 34"/>
          <p:cNvSpPr txBox="1"/>
          <p:nvPr/>
        </p:nvSpPr>
        <p:spPr>
          <a:xfrm>
            <a:off x="7420356"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Données infranationales officielles</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Recensements, enquêtes, distributeurs</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Décision d’aptitude</a:t>
            </a:r>
            <a:endParaRPr lang="fr-FR" sz="1300" dirty="0"/>
          </a:p>
        </p:txBody>
      </p:sp>
      <p:sp>
        <p:nvSpPr>
          <p:cNvPr id="42" name="Text 35"/>
          <p:cNvSpPr txBox="1"/>
          <p:nvPr/>
        </p:nvSpPr>
        <p:spPr>
          <a:xfrm>
            <a:off x="7283196" y="4572000"/>
            <a:ext cx="2103120" cy="365760"/>
          </a:xfrm>
          <a:prstGeom prst="rect">
            <a:avLst/>
          </a:prstGeom>
          <a:noFill/>
          <a:ln/>
        </p:spPr>
        <p:txBody>
          <a:bodyPr wrap="square" lIns="0" tIns="0" rIns="0" bIns="0" rtlCol="0" anchor="t"/>
          <a:lstStyle/>
          <a:p>
            <a:pPr marL="0" indent="0" algn="ctr">
              <a:buNone/>
            </a:pPr>
            <a:r>
              <a:rPr lang="fr-FR" sz="1800" b="1" dirty="0">
                <a:solidFill>
                  <a:srgbClr val="D99A1E"/>
                </a:solidFill>
                <a:latin typeface="Calibri" pitchFamily="34" charset="0"/>
                <a:ea typeface="Calibri" pitchFamily="34" charset="-122"/>
                <a:cs typeface="Calibri" pitchFamily="34" charset="-120"/>
              </a:rPr>
              <a:t>↓</a:t>
            </a:r>
            <a:endParaRPr lang="fr-FR" sz="1800" dirty="0"/>
          </a:p>
        </p:txBody>
      </p:sp>
      <p:sp>
        <p:nvSpPr>
          <p:cNvPr id="43" name="Shape 36"/>
          <p:cNvSpPr/>
          <p:nvPr/>
        </p:nvSpPr>
        <p:spPr>
          <a:xfrm>
            <a:off x="7420356" y="4983480"/>
            <a:ext cx="1828800" cy="347472"/>
          </a:xfrm>
          <a:prstGeom prst="roundRect">
            <a:avLst>
              <a:gd name="adj" fmla="val 50000"/>
            </a:avLst>
          </a:prstGeom>
          <a:solidFill>
            <a:srgbClr val="E8F5EF"/>
          </a:solidFill>
          <a:ln w="12700">
            <a:solidFill>
              <a:srgbClr val="E8F5EF"/>
            </a:solidFill>
            <a:prstDash val="solid"/>
          </a:ln>
        </p:spPr>
      </p:sp>
      <p:sp>
        <p:nvSpPr>
          <p:cNvPr id="44" name="Text 37"/>
          <p:cNvSpPr txBox="1"/>
          <p:nvPr/>
        </p:nvSpPr>
        <p:spPr>
          <a:xfrm>
            <a:off x="7420356" y="4983480"/>
            <a:ext cx="1828800" cy="347472"/>
          </a:xfrm>
          <a:prstGeom prst="rect">
            <a:avLst/>
          </a:prstGeom>
          <a:noFill/>
          <a:ln/>
        </p:spPr>
        <p:txBody>
          <a:bodyPr wrap="square" lIns="0" tIns="0" rIns="0" bIns="0" rtlCol="0" anchor="ctr"/>
          <a:lstStyle/>
          <a:p>
            <a:pPr marL="0" indent="0" algn="ctr">
              <a:buNone/>
            </a:pPr>
            <a:r>
              <a:rPr lang="fr-FR" sz="1000" b="1" kern="0" spc="100" dirty="0">
                <a:solidFill>
                  <a:srgbClr val="00704A"/>
                </a:solidFill>
                <a:latin typeface="Calibri" pitchFamily="34" charset="0"/>
                <a:ea typeface="Calibri" pitchFamily="34" charset="-122"/>
                <a:cs typeface="Calibri" pitchFamily="34" charset="-120"/>
              </a:rPr>
              <a:t>Preuves + décision</a:t>
            </a:r>
            <a:endParaRPr lang="fr-FR" sz="1000" dirty="0"/>
          </a:p>
        </p:txBody>
      </p:sp>
      <p:sp>
        <p:nvSpPr>
          <p:cNvPr id="45" name="Shape 38"/>
          <p:cNvSpPr/>
          <p:nvPr/>
        </p:nvSpPr>
        <p:spPr>
          <a:xfrm>
            <a:off x="9528048" y="1371600"/>
            <a:ext cx="2103120" cy="685800"/>
          </a:xfrm>
          <a:prstGeom prst="rect">
            <a:avLst/>
          </a:prstGeom>
          <a:solidFill>
            <a:srgbClr val="A87700"/>
          </a:solidFill>
          <a:ln w="6350">
            <a:solidFill>
              <a:srgbClr val="A87700"/>
            </a:solidFill>
            <a:prstDash val="solid"/>
          </a:ln>
        </p:spPr>
      </p:sp>
      <p:pic>
        <p:nvPicPr>
          <p:cNvPr id="46" name="Image 5" descr="preencoded.png"/>
          <p:cNvPicPr>
            <a:picLocks noChangeAspect="1"/>
          </p:cNvPicPr>
          <p:nvPr/>
        </p:nvPicPr>
        <p:blipFill>
          <a:blip r:embed="rId8"/>
          <a:stretch>
            <a:fillRect/>
          </a:stretch>
        </p:blipFill>
        <p:spPr>
          <a:xfrm>
            <a:off x="9710928" y="1536192"/>
            <a:ext cx="365760" cy="365760"/>
          </a:xfrm>
          <a:prstGeom prst="rect">
            <a:avLst/>
          </a:prstGeom>
        </p:spPr>
      </p:pic>
      <p:sp>
        <p:nvSpPr>
          <p:cNvPr id="47" name="Text 39"/>
          <p:cNvSpPr txBox="1"/>
          <p:nvPr/>
        </p:nvSpPr>
        <p:spPr>
          <a:xfrm>
            <a:off x="10213848" y="1371600"/>
            <a:ext cx="1325880" cy="685800"/>
          </a:xfrm>
          <a:prstGeom prst="rect">
            <a:avLst/>
          </a:prstGeom>
          <a:noFill/>
          <a:ln/>
        </p:spPr>
        <p:txBody>
          <a:bodyPr wrap="square" lIns="0" tIns="0" rIns="0" bIns="0" rtlCol="0" anchor="ctr"/>
          <a:lstStyle/>
          <a:p>
            <a:pPr marL="0" indent="0">
              <a:buNone/>
            </a:pPr>
            <a:r>
              <a:rPr lang="fr-FR" sz="1600" b="1" dirty="0">
                <a:solidFill>
                  <a:srgbClr val="FFFFFF"/>
                </a:solidFill>
                <a:latin typeface="Calibri" pitchFamily="34" charset="0"/>
                <a:ea typeface="Calibri" pitchFamily="34" charset="-122"/>
                <a:cs typeface="Calibri" pitchFamily="34" charset="-120"/>
              </a:rPr>
              <a:t>Publier</a:t>
            </a:r>
            <a:endParaRPr lang="fr-FR" sz="1600" dirty="0"/>
          </a:p>
        </p:txBody>
      </p:sp>
      <p:sp>
        <p:nvSpPr>
          <p:cNvPr id="48" name="Shape 40"/>
          <p:cNvSpPr/>
          <p:nvPr/>
        </p:nvSpPr>
        <p:spPr>
          <a:xfrm>
            <a:off x="9528048" y="2148840"/>
            <a:ext cx="2103120" cy="2377440"/>
          </a:xfrm>
          <a:prstGeom prst="roundRect">
            <a:avLst>
              <a:gd name="adj" fmla="val 3478"/>
            </a:avLst>
          </a:prstGeom>
          <a:solidFill>
            <a:srgbClr val="F4F7F5"/>
          </a:solidFill>
          <a:ln w="9525">
            <a:solidFill>
              <a:srgbClr val="D5DED9"/>
            </a:solidFill>
            <a:prstDash val="solid"/>
          </a:ln>
        </p:spPr>
      </p:sp>
      <p:sp>
        <p:nvSpPr>
          <p:cNvPr id="49" name="Text 41"/>
          <p:cNvSpPr txBox="1"/>
          <p:nvPr/>
        </p:nvSpPr>
        <p:spPr>
          <a:xfrm>
            <a:off x="9665208"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Notebooks et cartes</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Déclaration de limites</a:t>
            </a:r>
            <a:endParaRPr lang="fr-FR" sz="1300" dirty="0"/>
          </a:p>
          <a:p>
            <a:pPr marL="177800" indent="-177800">
              <a:spcAft>
                <a:spcPts val="1000"/>
              </a:spcAft>
              <a:buSzPct val="100000"/>
              <a:buChar char="•"/>
            </a:pPr>
            <a:r>
              <a:rPr lang="fr-FR" sz="1300" dirty="0">
                <a:solidFill>
                  <a:srgbClr val="231F20"/>
                </a:solidFill>
                <a:latin typeface="Calibri" pitchFamily="34" charset="0"/>
                <a:ea typeface="Calibri" pitchFamily="34" charset="-122"/>
                <a:cs typeface="Calibri" pitchFamily="34" charset="-120"/>
              </a:rPr>
              <a:t>README : méthode, sources, licence</a:t>
            </a:r>
            <a:endParaRPr lang="fr-FR" sz="1300" dirty="0"/>
          </a:p>
        </p:txBody>
      </p:sp>
      <p:sp>
        <p:nvSpPr>
          <p:cNvPr id="50" name="Text 42"/>
          <p:cNvSpPr txBox="1"/>
          <p:nvPr/>
        </p:nvSpPr>
        <p:spPr>
          <a:xfrm>
            <a:off x="9528048" y="4572000"/>
            <a:ext cx="2103120" cy="365760"/>
          </a:xfrm>
          <a:prstGeom prst="rect">
            <a:avLst/>
          </a:prstGeom>
          <a:noFill/>
          <a:ln/>
        </p:spPr>
        <p:txBody>
          <a:bodyPr wrap="square" lIns="0" tIns="0" rIns="0" bIns="0" rtlCol="0" anchor="t"/>
          <a:lstStyle/>
          <a:p>
            <a:pPr marL="0" indent="0" algn="ctr">
              <a:buNone/>
            </a:pPr>
            <a:r>
              <a:rPr lang="fr-FR" sz="1800" b="1" dirty="0">
                <a:solidFill>
                  <a:srgbClr val="A87700"/>
                </a:solidFill>
                <a:latin typeface="Calibri" pitchFamily="34" charset="0"/>
                <a:ea typeface="Calibri" pitchFamily="34" charset="-122"/>
                <a:cs typeface="Calibri" pitchFamily="34" charset="-120"/>
              </a:rPr>
              <a:t>↓</a:t>
            </a:r>
            <a:endParaRPr lang="fr-FR" sz="1800" dirty="0"/>
          </a:p>
        </p:txBody>
      </p:sp>
      <p:sp>
        <p:nvSpPr>
          <p:cNvPr id="51" name="Shape 43"/>
          <p:cNvSpPr/>
          <p:nvPr/>
        </p:nvSpPr>
        <p:spPr>
          <a:xfrm>
            <a:off x="9665208" y="4983480"/>
            <a:ext cx="1828800" cy="347472"/>
          </a:xfrm>
          <a:prstGeom prst="roundRect">
            <a:avLst>
              <a:gd name="adj" fmla="val 50000"/>
            </a:avLst>
          </a:prstGeom>
          <a:solidFill>
            <a:srgbClr val="E8F5EF"/>
          </a:solidFill>
          <a:ln w="12700">
            <a:solidFill>
              <a:srgbClr val="E8F5EF"/>
            </a:solidFill>
            <a:prstDash val="solid"/>
          </a:ln>
        </p:spPr>
      </p:sp>
      <p:sp>
        <p:nvSpPr>
          <p:cNvPr id="52" name="Text 44"/>
          <p:cNvSpPr txBox="1"/>
          <p:nvPr/>
        </p:nvSpPr>
        <p:spPr>
          <a:xfrm>
            <a:off x="9665208" y="4983480"/>
            <a:ext cx="1828800" cy="347472"/>
          </a:xfrm>
          <a:prstGeom prst="rect">
            <a:avLst/>
          </a:prstGeom>
          <a:noFill/>
          <a:ln/>
        </p:spPr>
        <p:txBody>
          <a:bodyPr wrap="square" lIns="0" tIns="0" rIns="0" bIns="0" rtlCol="0" anchor="ctr"/>
          <a:lstStyle/>
          <a:p>
            <a:pPr marL="0" indent="0" algn="ctr">
              <a:buNone/>
            </a:pPr>
            <a:r>
              <a:rPr lang="fr-FR" sz="1000" b="1" kern="0" spc="100" dirty="0">
                <a:solidFill>
                  <a:srgbClr val="00704A"/>
                </a:solidFill>
                <a:latin typeface="Calibri" pitchFamily="34" charset="0"/>
                <a:ea typeface="Calibri" pitchFamily="34" charset="-122"/>
                <a:cs typeface="Calibri" pitchFamily="34" charset="-120"/>
              </a:rPr>
              <a:t>Dépôt public</a:t>
            </a:r>
            <a:endParaRPr lang="fr-FR"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05 · DE LA SÉANCE AUX PROJETS · CHOISIR UN PRODUIT</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Quelle fréquence pour quelle question ?</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58</a:t>
            </a:r>
            <a:endParaRPr lang="fr-FR" sz="900" dirty="0"/>
          </a:p>
        </p:txBody>
      </p:sp>
      <p:sp>
        <p:nvSpPr>
          <p:cNvPr id="12" name="Shape 9"/>
          <p:cNvSpPr/>
          <p:nvPr/>
        </p:nvSpPr>
        <p:spPr>
          <a:xfrm>
            <a:off x="548640" y="1371600"/>
            <a:ext cx="3593592" cy="4023360"/>
          </a:xfrm>
          <a:prstGeom prst="roundRect">
            <a:avLst>
              <a:gd name="adj" fmla="val 2036"/>
            </a:avLst>
          </a:prstGeom>
          <a:solidFill>
            <a:srgbClr val="F4F7F5"/>
          </a:solidFill>
          <a:ln w="9525">
            <a:solidFill>
              <a:srgbClr val="D5DED9"/>
            </a:solidFill>
            <a:prstDash val="solid"/>
          </a:ln>
        </p:spPr>
      </p:sp>
      <p:sp>
        <p:nvSpPr>
          <p:cNvPr id="13" name="Shape 10"/>
          <p:cNvSpPr/>
          <p:nvPr/>
        </p:nvSpPr>
        <p:spPr>
          <a:xfrm>
            <a:off x="749808" y="1572768"/>
            <a:ext cx="548640" cy="54864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92454" y="1715414"/>
            <a:ext cx="263347" cy="263347"/>
          </a:xfrm>
          <a:prstGeom prst="rect">
            <a:avLst/>
          </a:prstGeom>
        </p:spPr>
      </p:pic>
      <p:sp>
        <p:nvSpPr>
          <p:cNvPr id="15" name="Text 11"/>
          <p:cNvSpPr txBox="1"/>
          <p:nvPr/>
        </p:nvSpPr>
        <p:spPr>
          <a:xfrm>
            <a:off x="1417320" y="1527048"/>
            <a:ext cx="2560320" cy="365760"/>
          </a:xfrm>
          <a:prstGeom prst="rect">
            <a:avLst/>
          </a:prstGeom>
          <a:noFill/>
          <a:ln/>
        </p:spPr>
        <p:txBody>
          <a:bodyPr wrap="square" lIns="0" tIns="0" rIns="0" bIns="0" rtlCol="0" anchor="t"/>
          <a:lstStyle/>
          <a:p>
            <a:pPr marL="0" indent="0">
              <a:buNone/>
            </a:pPr>
            <a:r>
              <a:rPr lang="fr-FR" sz="1600" b="1" dirty="0">
                <a:solidFill>
                  <a:srgbClr val="00704A"/>
                </a:solidFill>
                <a:latin typeface="Calibri" pitchFamily="34" charset="0"/>
                <a:ea typeface="Calibri" pitchFamily="34" charset="-122"/>
                <a:cs typeface="Calibri" pitchFamily="34" charset="-120"/>
              </a:rPr>
              <a:t>Annuel</a:t>
            </a:r>
            <a:endParaRPr lang="fr-FR" sz="1600" dirty="0"/>
          </a:p>
        </p:txBody>
      </p:sp>
      <p:sp>
        <p:nvSpPr>
          <p:cNvPr id="16" name="Text 12"/>
          <p:cNvSpPr txBox="1"/>
          <p:nvPr/>
        </p:nvSpPr>
        <p:spPr>
          <a:xfrm>
            <a:off x="1417320" y="1874520"/>
            <a:ext cx="2560320" cy="274320"/>
          </a:xfrm>
          <a:prstGeom prst="rect">
            <a:avLst/>
          </a:prstGeom>
          <a:noFill/>
          <a:ln/>
        </p:spPr>
        <p:txBody>
          <a:bodyPr wrap="square" lIns="0" tIns="0" rIns="0" bIns="0" rtlCol="0" anchor="t"/>
          <a:lstStyle/>
          <a:p>
            <a:pPr marL="0" indent="0">
              <a:buNone/>
            </a:pPr>
            <a:r>
              <a:rPr lang="fr-FR" sz="1050" dirty="0">
                <a:solidFill>
                  <a:srgbClr val="5E6964"/>
                </a:solidFill>
                <a:latin typeface="Calibri" pitchFamily="34" charset="0"/>
                <a:ea typeface="Calibri" pitchFamily="34" charset="-122"/>
                <a:cs typeface="Calibri" pitchFamily="34" charset="-120"/>
              </a:rPr>
              <a:t>VNP46A4 · EOG VNL annuel</a:t>
            </a:r>
            <a:endParaRPr lang="fr-FR" sz="1050" dirty="0"/>
          </a:p>
        </p:txBody>
      </p:sp>
      <p:sp>
        <p:nvSpPr>
          <p:cNvPr id="17" name="Text 13"/>
          <p:cNvSpPr txBox="1"/>
          <p:nvPr/>
        </p:nvSpPr>
        <p:spPr>
          <a:xfrm>
            <a:off x="749808" y="2331720"/>
            <a:ext cx="3200400" cy="228600"/>
          </a:xfrm>
          <a:prstGeom prst="rect">
            <a:avLst/>
          </a:prstGeom>
          <a:noFill/>
          <a:ln/>
        </p:spPr>
        <p:txBody>
          <a:bodyPr wrap="square" lIns="0" tIns="0" rIns="0" bIns="0" rtlCol="0" anchor="t"/>
          <a:lstStyle/>
          <a:p>
            <a:pPr marL="0" indent="0">
              <a:buNone/>
            </a:pPr>
            <a:r>
              <a:rPr lang="fr-FR" sz="950" b="1" kern="0" spc="150" dirty="0">
                <a:solidFill>
                  <a:srgbClr val="00704A"/>
                </a:solidFill>
                <a:latin typeface="Calibri" pitchFamily="34" charset="0"/>
                <a:ea typeface="Calibri" pitchFamily="34" charset="-122"/>
                <a:cs typeface="Calibri" pitchFamily="34" charset="-120"/>
              </a:rPr>
              <a:t>ATOUT</a:t>
            </a:r>
            <a:endParaRPr lang="fr-FR" sz="950" dirty="0"/>
          </a:p>
        </p:txBody>
      </p:sp>
      <p:sp>
        <p:nvSpPr>
          <p:cNvPr id="18" name="Text 14"/>
          <p:cNvSpPr txBox="1"/>
          <p:nvPr/>
        </p:nvSpPr>
        <p:spPr>
          <a:xfrm>
            <a:off x="749808" y="257860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Série la plus propre ; bruit et lumières éphémères largement filtrés.</a:t>
            </a:r>
            <a:endParaRPr lang="fr-FR" sz="1150" dirty="0"/>
          </a:p>
        </p:txBody>
      </p:sp>
      <p:sp>
        <p:nvSpPr>
          <p:cNvPr id="19" name="Text 15"/>
          <p:cNvSpPr txBox="1"/>
          <p:nvPr/>
        </p:nvSpPr>
        <p:spPr>
          <a:xfrm>
            <a:off x="749808" y="3337560"/>
            <a:ext cx="3200400" cy="228600"/>
          </a:xfrm>
          <a:prstGeom prst="rect">
            <a:avLst/>
          </a:prstGeom>
          <a:noFill/>
          <a:ln/>
        </p:spPr>
        <p:txBody>
          <a:bodyPr wrap="square" lIns="0" tIns="0" rIns="0" bIns="0" rtlCol="0" anchor="t"/>
          <a:lstStyle/>
          <a:p>
            <a:pPr marL="0" indent="0">
              <a:buNone/>
            </a:pPr>
            <a:r>
              <a:rPr lang="fr-FR" sz="950" b="1" kern="0" spc="150" dirty="0">
                <a:solidFill>
                  <a:srgbClr val="B83B2E"/>
                </a:solidFill>
                <a:latin typeface="Calibri" pitchFamily="34" charset="0"/>
                <a:ea typeface="Calibri" pitchFamily="34" charset="-122"/>
                <a:cs typeface="Calibri" pitchFamily="34" charset="-120"/>
              </a:rPr>
              <a:t>POINT DE VIGILANCE</a:t>
            </a:r>
            <a:endParaRPr lang="fr-FR" sz="950" dirty="0"/>
          </a:p>
        </p:txBody>
      </p:sp>
      <p:sp>
        <p:nvSpPr>
          <p:cNvPr id="20" name="Text 16"/>
          <p:cNvSpPr txBox="1"/>
          <p:nvPr/>
        </p:nvSpPr>
        <p:spPr>
          <a:xfrm>
            <a:off x="749808" y="358444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Impossible de dater un changement à l’intérieur de l’année.</a:t>
            </a:r>
            <a:endParaRPr lang="fr-FR" sz="1150" dirty="0"/>
          </a:p>
        </p:txBody>
      </p:sp>
      <p:sp>
        <p:nvSpPr>
          <p:cNvPr id="21" name="Text 17"/>
          <p:cNvSpPr txBox="1"/>
          <p:nvPr/>
        </p:nvSpPr>
        <p:spPr>
          <a:xfrm>
            <a:off x="749808" y="4343400"/>
            <a:ext cx="3200400" cy="228600"/>
          </a:xfrm>
          <a:prstGeom prst="rect">
            <a:avLst/>
          </a:prstGeom>
          <a:noFill/>
          <a:ln/>
        </p:spPr>
        <p:txBody>
          <a:bodyPr wrap="square" lIns="0" tIns="0" rIns="0" bIns="0" rtlCol="0" anchor="t"/>
          <a:lstStyle/>
          <a:p>
            <a:pPr marL="0" indent="0">
              <a:buNone/>
            </a:pPr>
            <a:r>
              <a:rPr lang="fr-FR" sz="950" b="1" kern="0" spc="150" dirty="0">
                <a:solidFill>
                  <a:srgbClr val="0E7C86"/>
                </a:solidFill>
                <a:latin typeface="Calibri" pitchFamily="34" charset="0"/>
                <a:ea typeface="Calibri" pitchFamily="34" charset="-122"/>
                <a:cs typeface="Calibri" pitchFamily="34" charset="-120"/>
              </a:rPr>
              <a:t>USAGE TYPE</a:t>
            </a:r>
            <a:endParaRPr lang="fr-FR" sz="950" dirty="0"/>
          </a:p>
        </p:txBody>
      </p:sp>
      <p:sp>
        <p:nvSpPr>
          <p:cNvPr id="22" name="Text 18"/>
          <p:cNvSpPr txBox="1"/>
          <p:nvPr/>
        </p:nvSpPr>
        <p:spPr>
          <a:xfrm>
            <a:off x="749808" y="459028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Panels infranationaux, tendances longues, expansion urbaine, cartes de pauvreté, désagrégation du PIB.</a:t>
            </a:r>
            <a:endParaRPr lang="fr-FR" sz="1150" dirty="0"/>
          </a:p>
        </p:txBody>
      </p:sp>
      <p:sp>
        <p:nvSpPr>
          <p:cNvPr id="23" name="Shape 19"/>
          <p:cNvSpPr/>
          <p:nvPr/>
        </p:nvSpPr>
        <p:spPr>
          <a:xfrm>
            <a:off x="4297680" y="1371600"/>
            <a:ext cx="3593592" cy="4023360"/>
          </a:xfrm>
          <a:prstGeom prst="roundRect">
            <a:avLst>
              <a:gd name="adj" fmla="val 2036"/>
            </a:avLst>
          </a:prstGeom>
          <a:solidFill>
            <a:srgbClr val="E8F5EF"/>
          </a:solidFill>
          <a:ln w="19050">
            <a:solidFill>
              <a:srgbClr val="00A86A"/>
            </a:solidFill>
            <a:prstDash val="solid"/>
          </a:ln>
        </p:spPr>
      </p:sp>
      <p:sp>
        <p:nvSpPr>
          <p:cNvPr id="24" name="Shape 20"/>
          <p:cNvSpPr/>
          <p:nvPr/>
        </p:nvSpPr>
        <p:spPr>
          <a:xfrm>
            <a:off x="4498848" y="1572768"/>
            <a:ext cx="548640" cy="548640"/>
          </a:xfrm>
          <a:prstGeom prst="ellipse">
            <a:avLst/>
          </a:prstGeom>
          <a:solidFill>
            <a:srgbClr val="00704A"/>
          </a:solidFill>
          <a:ln w="12700">
            <a:solidFill>
              <a:srgbClr val="00704A"/>
            </a:solidFill>
            <a:prstDash val="solid"/>
          </a:ln>
        </p:spPr>
      </p:sp>
      <p:pic>
        <p:nvPicPr>
          <p:cNvPr id="25" name="Image 2" descr="preencoded.png"/>
          <p:cNvPicPr>
            <a:picLocks noChangeAspect="1"/>
          </p:cNvPicPr>
          <p:nvPr/>
        </p:nvPicPr>
        <p:blipFill>
          <a:blip r:embed="rId5"/>
          <a:stretch>
            <a:fillRect/>
          </a:stretch>
        </p:blipFill>
        <p:spPr>
          <a:xfrm>
            <a:off x="4641494" y="1715414"/>
            <a:ext cx="263347" cy="263347"/>
          </a:xfrm>
          <a:prstGeom prst="rect">
            <a:avLst/>
          </a:prstGeom>
        </p:spPr>
      </p:pic>
      <p:sp>
        <p:nvSpPr>
          <p:cNvPr id="26" name="Text 21"/>
          <p:cNvSpPr txBox="1"/>
          <p:nvPr/>
        </p:nvSpPr>
        <p:spPr>
          <a:xfrm>
            <a:off x="5166360" y="1527048"/>
            <a:ext cx="2560320" cy="365760"/>
          </a:xfrm>
          <a:prstGeom prst="rect">
            <a:avLst/>
          </a:prstGeom>
          <a:noFill/>
          <a:ln/>
        </p:spPr>
        <p:txBody>
          <a:bodyPr wrap="square" lIns="0" tIns="0" rIns="0" bIns="0" rtlCol="0" anchor="t"/>
          <a:lstStyle/>
          <a:p>
            <a:pPr marL="0" indent="0">
              <a:buNone/>
            </a:pPr>
            <a:r>
              <a:rPr lang="fr-FR" sz="1600" b="1" dirty="0">
                <a:solidFill>
                  <a:srgbClr val="00704A"/>
                </a:solidFill>
                <a:latin typeface="Calibri" pitchFamily="34" charset="0"/>
                <a:ea typeface="Calibri" pitchFamily="34" charset="-122"/>
                <a:cs typeface="Calibri" pitchFamily="34" charset="-120"/>
              </a:rPr>
              <a:t>Mensuel</a:t>
            </a:r>
            <a:endParaRPr lang="fr-FR" sz="1600" dirty="0"/>
          </a:p>
        </p:txBody>
      </p:sp>
      <p:sp>
        <p:nvSpPr>
          <p:cNvPr id="27" name="Text 22"/>
          <p:cNvSpPr txBox="1"/>
          <p:nvPr/>
        </p:nvSpPr>
        <p:spPr>
          <a:xfrm>
            <a:off x="5166360" y="1874520"/>
            <a:ext cx="2560320" cy="274320"/>
          </a:xfrm>
          <a:prstGeom prst="rect">
            <a:avLst/>
          </a:prstGeom>
          <a:noFill/>
          <a:ln/>
        </p:spPr>
        <p:txBody>
          <a:bodyPr wrap="square" lIns="0" tIns="0" rIns="0" bIns="0" rtlCol="0" anchor="t"/>
          <a:lstStyle/>
          <a:p>
            <a:pPr marL="0" indent="0">
              <a:buNone/>
            </a:pPr>
            <a:r>
              <a:rPr lang="fr-FR" sz="1050" dirty="0">
                <a:solidFill>
                  <a:srgbClr val="5E6964"/>
                </a:solidFill>
                <a:latin typeface="Calibri" pitchFamily="34" charset="0"/>
                <a:ea typeface="Calibri" pitchFamily="34" charset="-122"/>
                <a:cs typeface="Calibri" pitchFamily="34" charset="-120"/>
              </a:rPr>
              <a:t>VNP46A3 · EOG VNL mensuel</a:t>
            </a:r>
            <a:endParaRPr lang="fr-FR" sz="1050" dirty="0"/>
          </a:p>
        </p:txBody>
      </p:sp>
      <p:sp>
        <p:nvSpPr>
          <p:cNvPr id="28" name="Text 23"/>
          <p:cNvSpPr txBox="1"/>
          <p:nvPr/>
        </p:nvSpPr>
        <p:spPr>
          <a:xfrm>
            <a:off x="4498848" y="2331720"/>
            <a:ext cx="3200400" cy="228600"/>
          </a:xfrm>
          <a:prstGeom prst="rect">
            <a:avLst/>
          </a:prstGeom>
          <a:noFill/>
          <a:ln/>
        </p:spPr>
        <p:txBody>
          <a:bodyPr wrap="square" lIns="0" tIns="0" rIns="0" bIns="0" rtlCol="0" anchor="t"/>
          <a:lstStyle/>
          <a:p>
            <a:pPr marL="0" indent="0">
              <a:buNone/>
            </a:pPr>
            <a:r>
              <a:rPr lang="fr-FR" sz="950" b="1" kern="0" spc="150" dirty="0">
                <a:solidFill>
                  <a:srgbClr val="00704A"/>
                </a:solidFill>
                <a:latin typeface="Calibri" pitchFamily="34" charset="0"/>
                <a:ea typeface="Calibri" pitchFamily="34" charset="-122"/>
                <a:cs typeface="Calibri" pitchFamily="34" charset="-120"/>
              </a:rPr>
              <a:t>ATOUT</a:t>
            </a:r>
            <a:endParaRPr lang="fr-FR" sz="950" dirty="0"/>
          </a:p>
        </p:txBody>
      </p:sp>
      <p:sp>
        <p:nvSpPr>
          <p:cNvPr id="29" name="Text 24"/>
          <p:cNvSpPr txBox="1"/>
          <p:nvPr/>
        </p:nvSpPr>
        <p:spPr>
          <a:xfrm>
            <a:off x="4498848" y="257860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Date un changement à la saison près ; alimente les prévisions trimestrielles.</a:t>
            </a:r>
            <a:endParaRPr lang="fr-FR" sz="1150" dirty="0"/>
          </a:p>
        </p:txBody>
      </p:sp>
      <p:sp>
        <p:nvSpPr>
          <p:cNvPr id="30" name="Text 25"/>
          <p:cNvSpPr txBox="1"/>
          <p:nvPr/>
        </p:nvSpPr>
        <p:spPr>
          <a:xfrm>
            <a:off x="4498848" y="3337560"/>
            <a:ext cx="3200400" cy="228600"/>
          </a:xfrm>
          <a:prstGeom prst="rect">
            <a:avLst/>
          </a:prstGeom>
          <a:noFill/>
          <a:ln/>
        </p:spPr>
        <p:txBody>
          <a:bodyPr wrap="square" lIns="0" tIns="0" rIns="0" bIns="0" rtlCol="0" anchor="t"/>
          <a:lstStyle/>
          <a:p>
            <a:pPr marL="0" indent="0">
              <a:buNone/>
            </a:pPr>
            <a:r>
              <a:rPr lang="fr-FR" sz="950" b="1" kern="0" spc="150" dirty="0">
                <a:solidFill>
                  <a:srgbClr val="B83B2E"/>
                </a:solidFill>
                <a:latin typeface="Calibri" pitchFamily="34" charset="0"/>
                <a:ea typeface="Calibri" pitchFamily="34" charset="-122"/>
                <a:cs typeface="Calibri" pitchFamily="34" charset="-120"/>
              </a:rPr>
              <a:t>POINT DE VIGILANCE</a:t>
            </a:r>
            <a:endParaRPr lang="fr-FR" sz="950" dirty="0"/>
          </a:p>
        </p:txBody>
      </p:sp>
      <p:sp>
        <p:nvSpPr>
          <p:cNvPr id="31" name="Text 26"/>
          <p:cNvSpPr txBox="1"/>
          <p:nvPr/>
        </p:nvSpPr>
        <p:spPr>
          <a:xfrm>
            <a:off x="4498848" y="358444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mois de pluie peuvent reposer sur très peu de nuits valides.</a:t>
            </a:r>
            <a:endParaRPr lang="fr-FR" sz="1150" dirty="0"/>
          </a:p>
        </p:txBody>
      </p:sp>
      <p:sp>
        <p:nvSpPr>
          <p:cNvPr id="32" name="Text 27"/>
          <p:cNvSpPr txBox="1"/>
          <p:nvPr/>
        </p:nvSpPr>
        <p:spPr>
          <a:xfrm>
            <a:off x="4498848" y="4343400"/>
            <a:ext cx="3200400" cy="228600"/>
          </a:xfrm>
          <a:prstGeom prst="rect">
            <a:avLst/>
          </a:prstGeom>
          <a:noFill/>
          <a:ln/>
        </p:spPr>
        <p:txBody>
          <a:bodyPr wrap="square" lIns="0" tIns="0" rIns="0" bIns="0" rtlCol="0" anchor="t"/>
          <a:lstStyle/>
          <a:p>
            <a:pPr marL="0" indent="0">
              <a:buNone/>
            </a:pPr>
            <a:r>
              <a:rPr lang="fr-FR" sz="950" b="1" kern="0" spc="150" dirty="0">
                <a:solidFill>
                  <a:srgbClr val="0E7C86"/>
                </a:solidFill>
                <a:latin typeface="Calibri" pitchFamily="34" charset="0"/>
                <a:ea typeface="Calibri" pitchFamily="34" charset="-122"/>
                <a:cs typeface="Calibri" pitchFamily="34" charset="-120"/>
              </a:rPr>
              <a:t>USAGE TYPE</a:t>
            </a:r>
            <a:endParaRPr lang="fr-FR" sz="950" dirty="0"/>
          </a:p>
        </p:txBody>
      </p:sp>
      <p:sp>
        <p:nvSpPr>
          <p:cNvPr id="33" name="Text 28"/>
          <p:cNvSpPr txBox="1"/>
          <p:nvPr/>
        </p:nvSpPr>
        <p:spPr>
          <a:xfrm>
            <a:off x="4498848" y="459028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Prévision immédiate, évaluation de programmes, activité saisonnière, conflits et relèvement.</a:t>
            </a:r>
            <a:endParaRPr lang="fr-FR" sz="1150" dirty="0"/>
          </a:p>
        </p:txBody>
      </p:sp>
      <p:sp>
        <p:nvSpPr>
          <p:cNvPr id="34" name="Shape 29"/>
          <p:cNvSpPr/>
          <p:nvPr/>
        </p:nvSpPr>
        <p:spPr>
          <a:xfrm>
            <a:off x="8046720" y="1371600"/>
            <a:ext cx="3593592" cy="4023360"/>
          </a:xfrm>
          <a:prstGeom prst="roundRect">
            <a:avLst>
              <a:gd name="adj" fmla="val 2036"/>
            </a:avLst>
          </a:prstGeom>
          <a:solidFill>
            <a:srgbClr val="F4F7F5"/>
          </a:solidFill>
          <a:ln w="9525">
            <a:solidFill>
              <a:srgbClr val="D5DED9"/>
            </a:solidFill>
            <a:prstDash val="solid"/>
          </a:ln>
        </p:spPr>
      </p:sp>
      <p:sp>
        <p:nvSpPr>
          <p:cNvPr id="35" name="Shape 30"/>
          <p:cNvSpPr/>
          <p:nvPr/>
        </p:nvSpPr>
        <p:spPr>
          <a:xfrm>
            <a:off x="8247888" y="1572768"/>
            <a:ext cx="548640" cy="548640"/>
          </a:xfrm>
          <a:prstGeom prst="ellipse">
            <a:avLst/>
          </a:prstGeom>
          <a:solidFill>
            <a:srgbClr val="00704A"/>
          </a:solidFill>
          <a:ln w="12700">
            <a:solidFill>
              <a:srgbClr val="00704A"/>
            </a:solidFill>
            <a:prstDash val="solid"/>
          </a:ln>
        </p:spPr>
      </p:sp>
      <p:pic>
        <p:nvPicPr>
          <p:cNvPr id="36" name="Image 3" descr="preencoded.png"/>
          <p:cNvPicPr>
            <a:picLocks noChangeAspect="1"/>
          </p:cNvPicPr>
          <p:nvPr/>
        </p:nvPicPr>
        <p:blipFill>
          <a:blip r:embed="rId6"/>
          <a:stretch>
            <a:fillRect/>
          </a:stretch>
        </p:blipFill>
        <p:spPr>
          <a:xfrm>
            <a:off x="8390534" y="1715414"/>
            <a:ext cx="263347" cy="263347"/>
          </a:xfrm>
          <a:prstGeom prst="rect">
            <a:avLst/>
          </a:prstGeom>
        </p:spPr>
      </p:pic>
      <p:sp>
        <p:nvSpPr>
          <p:cNvPr id="37" name="Text 31"/>
          <p:cNvSpPr txBox="1"/>
          <p:nvPr/>
        </p:nvSpPr>
        <p:spPr>
          <a:xfrm>
            <a:off x="8915400" y="1527048"/>
            <a:ext cx="2560320" cy="365760"/>
          </a:xfrm>
          <a:prstGeom prst="rect">
            <a:avLst/>
          </a:prstGeom>
          <a:noFill/>
          <a:ln/>
        </p:spPr>
        <p:txBody>
          <a:bodyPr wrap="square" lIns="0" tIns="0" rIns="0" bIns="0" rtlCol="0" anchor="t"/>
          <a:lstStyle/>
          <a:p>
            <a:pPr marL="0" indent="0">
              <a:buNone/>
            </a:pPr>
            <a:r>
              <a:rPr lang="fr-FR" sz="1600" b="1" dirty="0">
                <a:solidFill>
                  <a:srgbClr val="00704A"/>
                </a:solidFill>
                <a:latin typeface="Calibri" pitchFamily="34" charset="0"/>
                <a:ea typeface="Calibri" pitchFamily="34" charset="-122"/>
                <a:cs typeface="Calibri" pitchFamily="34" charset="-120"/>
              </a:rPr>
              <a:t>Quotidien</a:t>
            </a:r>
            <a:endParaRPr lang="fr-FR" sz="1600" dirty="0"/>
          </a:p>
        </p:txBody>
      </p:sp>
      <p:sp>
        <p:nvSpPr>
          <p:cNvPr id="38" name="Text 32"/>
          <p:cNvSpPr txBox="1"/>
          <p:nvPr/>
        </p:nvSpPr>
        <p:spPr>
          <a:xfrm>
            <a:off x="8915400" y="1874520"/>
            <a:ext cx="2560320" cy="274320"/>
          </a:xfrm>
          <a:prstGeom prst="rect">
            <a:avLst/>
          </a:prstGeom>
          <a:noFill/>
          <a:ln/>
        </p:spPr>
        <p:txBody>
          <a:bodyPr wrap="square" lIns="0" tIns="0" rIns="0" bIns="0" rtlCol="0" anchor="t"/>
          <a:lstStyle/>
          <a:p>
            <a:pPr marL="0" indent="0">
              <a:buNone/>
            </a:pPr>
            <a:r>
              <a:rPr lang="fr-FR" sz="1050" dirty="0">
                <a:solidFill>
                  <a:srgbClr val="5E6964"/>
                </a:solidFill>
                <a:latin typeface="Calibri" pitchFamily="34" charset="0"/>
                <a:ea typeface="Calibri" pitchFamily="34" charset="-122"/>
                <a:cs typeface="Calibri" pitchFamily="34" charset="-120"/>
              </a:rPr>
              <a:t>VNP46A2</a:t>
            </a:r>
            <a:endParaRPr lang="fr-FR" sz="1050" dirty="0"/>
          </a:p>
        </p:txBody>
      </p:sp>
      <p:sp>
        <p:nvSpPr>
          <p:cNvPr id="39" name="Text 33"/>
          <p:cNvSpPr txBox="1"/>
          <p:nvPr/>
        </p:nvSpPr>
        <p:spPr>
          <a:xfrm>
            <a:off x="8247888" y="2331720"/>
            <a:ext cx="3200400" cy="228600"/>
          </a:xfrm>
          <a:prstGeom prst="rect">
            <a:avLst/>
          </a:prstGeom>
          <a:noFill/>
          <a:ln/>
        </p:spPr>
        <p:txBody>
          <a:bodyPr wrap="square" lIns="0" tIns="0" rIns="0" bIns="0" rtlCol="0" anchor="t"/>
          <a:lstStyle/>
          <a:p>
            <a:pPr marL="0" indent="0">
              <a:buNone/>
            </a:pPr>
            <a:r>
              <a:rPr lang="fr-FR" sz="950" b="1" kern="0" spc="150" dirty="0">
                <a:solidFill>
                  <a:srgbClr val="00704A"/>
                </a:solidFill>
                <a:latin typeface="Calibri" pitchFamily="34" charset="0"/>
                <a:ea typeface="Calibri" pitchFamily="34" charset="-122"/>
                <a:cs typeface="Calibri" pitchFamily="34" charset="-120"/>
              </a:rPr>
              <a:t>ATOUT</a:t>
            </a:r>
            <a:endParaRPr lang="fr-FR" sz="950" dirty="0"/>
          </a:p>
        </p:txBody>
      </p:sp>
      <p:sp>
        <p:nvSpPr>
          <p:cNvPr id="40" name="Text 34"/>
          <p:cNvSpPr txBox="1"/>
          <p:nvPr/>
        </p:nvSpPr>
        <p:spPr>
          <a:xfrm>
            <a:off x="8247888" y="257860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Chaque nuit, corrigé de la Lune, de l’atmosphère et du relief.</a:t>
            </a:r>
            <a:endParaRPr lang="fr-FR" sz="1150" dirty="0"/>
          </a:p>
        </p:txBody>
      </p:sp>
      <p:sp>
        <p:nvSpPr>
          <p:cNvPr id="41" name="Text 35"/>
          <p:cNvSpPr txBox="1"/>
          <p:nvPr/>
        </p:nvSpPr>
        <p:spPr>
          <a:xfrm>
            <a:off x="8247888" y="3337560"/>
            <a:ext cx="3200400" cy="228600"/>
          </a:xfrm>
          <a:prstGeom prst="rect">
            <a:avLst/>
          </a:prstGeom>
          <a:noFill/>
          <a:ln/>
        </p:spPr>
        <p:txBody>
          <a:bodyPr wrap="square" lIns="0" tIns="0" rIns="0" bIns="0" rtlCol="0" anchor="t"/>
          <a:lstStyle/>
          <a:p>
            <a:pPr marL="0" indent="0">
              <a:buNone/>
            </a:pPr>
            <a:r>
              <a:rPr lang="fr-FR" sz="950" b="1" kern="0" spc="150" dirty="0">
                <a:solidFill>
                  <a:srgbClr val="B83B2E"/>
                </a:solidFill>
                <a:latin typeface="Calibri" pitchFamily="34" charset="0"/>
                <a:ea typeface="Calibri" pitchFamily="34" charset="-122"/>
                <a:cs typeface="Calibri" pitchFamily="34" charset="-120"/>
              </a:rPr>
              <a:t>POINT DE VIGILANCE</a:t>
            </a:r>
            <a:endParaRPr lang="fr-FR" sz="950" dirty="0"/>
          </a:p>
        </p:txBody>
      </p:sp>
      <p:sp>
        <p:nvSpPr>
          <p:cNvPr id="42" name="Text 36"/>
          <p:cNvSpPr txBox="1"/>
          <p:nvPr/>
        </p:nvSpPr>
        <p:spPr>
          <a:xfrm>
            <a:off x="8247888" y="358444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Gros volumes ; une nuit isolée est bruitée — agréger d’abord.</a:t>
            </a:r>
            <a:endParaRPr lang="fr-FR" sz="1150" dirty="0"/>
          </a:p>
        </p:txBody>
      </p:sp>
      <p:sp>
        <p:nvSpPr>
          <p:cNvPr id="43" name="Text 37"/>
          <p:cNvSpPr txBox="1"/>
          <p:nvPr/>
        </p:nvSpPr>
        <p:spPr>
          <a:xfrm>
            <a:off x="8247888" y="4343400"/>
            <a:ext cx="3200400" cy="228600"/>
          </a:xfrm>
          <a:prstGeom prst="rect">
            <a:avLst/>
          </a:prstGeom>
          <a:noFill/>
          <a:ln/>
        </p:spPr>
        <p:txBody>
          <a:bodyPr wrap="square" lIns="0" tIns="0" rIns="0" bIns="0" rtlCol="0" anchor="t"/>
          <a:lstStyle/>
          <a:p>
            <a:pPr marL="0" indent="0">
              <a:buNone/>
            </a:pPr>
            <a:r>
              <a:rPr lang="fr-FR" sz="950" b="1" kern="0" spc="150" dirty="0">
                <a:solidFill>
                  <a:srgbClr val="0E7C86"/>
                </a:solidFill>
                <a:latin typeface="Calibri" pitchFamily="34" charset="0"/>
                <a:ea typeface="Calibri" pitchFamily="34" charset="-122"/>
                <a:cs typeface="Calibri" pitchFamily="34" charset="-120"/>
              </a:rPr>
              <a:t>USAGE TYPE</a:t>
            </a:r>
            <a:endParaRPr lang="fr-FR" sz="950" dirty="0"/>
          </a:p>
        </p:txBody>
      </p:sp>
      <p:sp>
        <p:nvSpPr>
          <p:cNvPr id="44" name="Text 38"/>
          <p:cNvSpPr txBox="1"/>
          <p:nvPr/>
        </p:nvSpPr>
        <p:spPr>
          <a:xfrm>
            <a:off x="8247888" y="4590288"/>
            <a:ext cx="3200400" cy="73152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Coupures, réponse aux catastrophes, fiabilité de l’approvisionnement électrique, études d’événements.</a:t>
            </a:r>
            <a:endParaRPr lang="fr-FR" sz="1150" dirty="0"/>
          </a:p>
        </p:txBody>
      </p:sp>
      <p:sp>
        <p:nvSpPr>
          <p:cNvPr id="45" name="Shape 39"/>
          <p:cNvSpPr/>
          <p:nvPr/>
        </p:nvSpPr>
        <p:spPr>
          <a:xfrm>
            <a:off x="548640" y="5559552"/>
            <a:ext cx="11094415" cy="457200"/>
          </a:xfrm>
          <a:prstGeom prst="roundRect">
            <a:avLst>
              <a:gd name="adj" fmla="val 16000"/>
            </a:avLst>
          </a:prstGeom>
          <a:solidFill>
            <a:srgbClr val="FDF5DC"/>
          </a:solidFill>
          <a:ln w="9525">
            <a:solidFill>
              <a:srgbClr val="F5C242"/>
            </a:solidFill>
            <a:prstDash val="solid"/>
          </a:ln>
        </p:spPr>
      </p:sp>
      <p:sp>
        <p:nvSpPr>
          <p:cNvPr id="46" name="Text 40"/>
          <p:cNvSpPr txBox="1"/>
          <p:nvPr/>
        </p:nvSpPr>
        <p:spPr>
          <a:xfrm>
            <a:off x="777240" y="5559552"/>
            <a:ext cx="10637215" cy="457200"/>
          </a:xfrm>
          <a:prstGeom prst="rect">
            <a:avLst/>
          </a:prstGeom>
          <a:noFill/>
          <a:ln/>
        </p:spPr>
        <p:txBody>
          <a:bodyPr wrap="square" lIns="0" tIns="0" rIns="0" bIns="0" rtlCol="0" anchor="ctr"/>
          <a:lstStyle/>
          <a:p>
            <a:pPr marL="0" indent="0">
              <a:buNone/>
            </a:pPr>
            <a:r>
              <a:rPr lang="fr-FR" sz="1200" b="1" dirty="0">
                <a:solidFill>
                  <a:srgbClr val="A87700"/>
                </a:solidFill>
                <a:latin typeface="Calibri" pitchFamily="34" charset="0"/>
                <a:ea typeface="Calibri" pitchFamily="34" charset="-122"/>
                <a:cs typeface="Calibri" pitchFamily="34" charset="-120"/>
              </a:rPr>
              <a:t>Règle empirique : commencer par l’annuel. </a:t>
            </a:r>
            <a:r>
              <a:rPr lang="fr-FR" sz="1200" dirty="0">
                <a:solidFill>
                  <a:srgbClr val="231F20"/>
                </a:solidFill>
                <a:latin typeface="Calibri" pitchFamily="34" charset="0"/>
                <a:ea typeface="Calibri" pitchFamily="34" charset="-122"/>
                <a:cs typeface="Calibri" pitchFamily="34" charset="-120"/>
              </a:rPr>
              <a:t>Plus la fréquence est fine, plus il faut se fier aux corrections et gérer de bruit.</a:t>
            </a:r>
            <a:endParaRPr lang="fr-FR"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05 · DE LA SÉANCE AUX PROJETS · VALIDATION</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Diffuser, ou garder comme outil de diagnostic ?</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59</a:t>
            </a:r>
            <a:endParaRPr lang="fr-FR"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fr-FR" sz="850" i="1" dirty="0">
                <a:solidFill>
                  <a:srgbClr val="5E6964"/>
                </a:solidFill>
                <a:latin typeface="Calibri" pitchFamily="34" charset="0"/>
                <a:ea typeface="Calibri" pitchFamily="34" charset="-122"/>
                <a:cs typeface="Calibri" pitchFamily="34" charset="-120"/>
              </a:rPr>
              <a:t>Guide indicatif — à adapter à votre cadre national d’assurance qualité. Circularité : voir Falchetta et al. (2019), Scientific Data.</a:t>
            </a:r>
            <a:endParaRPr lang="fr-FR" sz="850" dirty="0"/>
          </a:p>
        </p:txBody>
      </p:sp>
      <p:sp>
        <p:nvSpPr>
          <p:cNvPr id="13" name="Shape 10"/>
          <p:cNvSpPr/>
          <p:nvPr/>
        </p:nvSpPr>
        <p:spPr>
          <a:xfrm>
            <a:off x="548640" y="1371600"/>
            <a:ext cx="5486400" cy="749808"/>
          </a:xfrm>
          <a:prstGeom prst="roundRect">
            <a:avLst>
              <a:gd name="adj" fmla="val 9756"/>
            </a:avLst>
          </a:prstGeom>
          <a:solidFill>
            <a:srgbClr val="F4F7F5"/>
          </a:solidFill>
          <a:ln w="9525">
            <a:solidFill>
              <a:srgbClr val="D5DED9"/>
            </a:solidFill>
            <a:prstDash val="solid"/>
          </a:ln>
        </p:spPr>
      </p:sp>
      <p:sp>
        <p:nvSpPr>
          <p:cNvPr id="14" name="Shape 11"/>
          <p:cNvSpPr/>
          <p:nvPr/>
        </p:nvSpPr>
        <p:spPr>
          <a:xfrm>
            <a:off x="713232" y="1591056"/>
            <a:ext cx="548640" cy="310896"/>
          </a:xfrm>
          <a:prstGeom prst="roundRect">
            <a:avLst>
              <a:gd name="adj" fmla="val 50000"/>
            </a:avLst>
          </a:prstGeom>
          <a:solidFill>
            <a:srgbClr val="00704A"/>
          </a:solidFill>
          <a:ln w="12700">
            <a:solidFill>
              <a:srgbClr val="00704A"/>
            </a:solidFill>
            <a:prstDash val="solid"/>
          </a:ln>
        </p:spPr>
      </p:sp>
      <p:sp>
        <p:nvSpPr>
          <p:cNvPr id="15" name="Text 12"/>
          <p:cNvSpPr txBox="1"/>
          <p:nvPr/>
        </p:nvSpPr>
        <p:spPr>
          <a:xfrm>
            <a:off x="713232" y="1591056"/>
            <a:ext cx="548640" cy="310896"/>
          </a:xfrm>
          <a:prstGeom prst="rect">
            <a:avLst/>
          </a:prstGeom>
          <a:noFill/>
          <a:ln/>
        </p:spPr>
        <p:txBody>
          <a:bodyPr wrap="square" lIns="0" tIns="0" rIns="0" bIns="0" rtlCol="0" anchor="ctr"/>
          <a:lstStyle/>
          <a:p>
            <a:pPr marL="0" indent="0" algn="ctr">
              <a:buNone/>
            </a:pPr>
            <a:r>
              <a:rPr lang="fr-FR" sz="1000" b="1" kern="0" spc="100" dirty="0">
                <a:solidFill>
                  <a:srgbClr val="FFFFFF"/>
                </a:solidFill>
                <a:latin typeface="Calibri" pitchFamily="34" charset="0"/>
                <a:ea typeface="Calibri" pitchFamily="34" charset="-122"/>
                <a:cs typeface="Calibri" pitchFamily="34" charset="-120"/>
              </a:rPr>
              <a:t>Q1</a:t>
            </a:r>
            <a:endParaRPr lang="fr-FR" sz="1000" dirty="0"/>
          </a:p>
        </p:txBody>
      </p:sp>
      <p:sp>
        <p:nvSpPr>
          <p:cNvPr id="16" name="Text 13"/>
          <p:cNvSpPr txBox="1"/>
          <p:nvPr/>
        </p:nvSpPr>
        <p:spPr>
          <a:xfrm>
            <a:off x="1417320" y="1426464"/>
            <a:ext cx="4526280" cy="36576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La relation est-elle forte et stable entre unités et années ?</a:t>
            </a:r>
            <a:endParaRPr lang="fr-FR" sz="1250" dirty="0"/>
          </a:p>
        </p:txBody>
      </p:sp>
      <p:sp>
        <p:nvSpPr>
          <p:cNvPr id="17" name="Text 14"/>
          <p:cNvSpPr txBox="1"/>
          <p:nvPr/>
        </p:nvSpPr>
        <p:spPr>
          <a:xfrm>
            <a:off x="1417320" y="1773936"/>
            <a:ext cx="4526280" cy="301752"/>
          </a:xfrm>
          <a:prstGeom prst="rect">
            <a:avLst/>
          </a:prstGeom>
          <a:noFill/>
          <a:ln/>
        </p:spPr>
        <p:txBody>
          <a:bodyPr wrap="square" lIns="0" tIns="0" rIns="0" bIns="0" rtlCol="0" anchor="t"/>
          <a:lstStyle/>
          <a:p>
            <a:pPr marL="0" indent="0">
              <a:buNone/>
            </a:pPr>
            <a:r>
              <a:rPr lang="fr-FR" sz="1100" dirty="0">
                <a:solidFill>
                  <a:srgbClr val="5E6964"/>
                </a:solidFill>
                <a:latin typeface="Calibri" pitchFamily="34" charset="0"/>
                <a:ea typeface="Calibri" pitchFamily="34" charset="-122"/>
                <a:cs typeface="Calibri" pitchFamily="34" charset="-120"/>
              </a:rPr>
              <a:t>Fixez la barre avant de regarder.</a:t>
            </a:r>
            <a:endParaRPr lang="fr-FR" sz="1100" dirty="0"/>
          </a:p>
        </p:txBody>
      </p:sp>
      <p:sp>
        <p:nvSpPr>
          <p:cNvPr id="18" name="Shape 15"/>
          <p:cNvSpPr/>
          <p:nvPr/>
        </p:nvSpPr>
        <p:spPr>
          <a:xfrm>
            <a:off x="548640" y="2240280"/>
            <a:ext cx="5486400" cy="749808"/>
          </a:xfrm>
          <a:prstGeom prst="roundRect">
            <a:avLst>
              <a:gd name="adj" fmla="val 9756"/>
            </a:avLst>
          </a:prstGeom>
          <a:solidFill>
            <a:srgbClr val="F4F7F5"/>
          </a:solidFill>
          <a:ln w="9525">
            <a:solidFill>
              <a:srgbClr val="D5DED9"/>
            </a:solidFill>
            <a:prstDash val="solid"/>
          </a:ln>
        </p:spPr>
      </p:sp>
      <p:sp>
        <p:nvSpPr>
          <p:cNvPr id="19" name="Shape 16"/>
          <p:cNvSpPr/>
          <p:nvPr/>
        </p:nvSpPr>
        <p:spPr>
          <a:xfrm>
            <a:off x="713232" y="2459736"/>
            <a:ext cx="548640" cy="310896"/>
          </a:xfrm>
          <a:prstGeom prst="roundRect">
            <a:avLst>
              <a:gd name="adj" fmla="val 50000"/>
            </a:avLst>
          </a:prstGeom>
          <a:solidFill>
            <a:srgbClr val="00704A"/>
          </a:solidFill>
          <a:ln w="12700">
            <a:solidFill>
              <a:srgbClr val="00704A"/>
            </a:solidFill>
            <a:prstDash val="solid"/>
          </a:ln>
        </p:spPr>
      </p:sp>
      <p:sp>
        <p:nvSpPr>
          <p:cNvPr id="20" name="Text 17"/>
          <p:cNvSpPr txBox="1"/>
          <p:nvPr/>
        </p:nvSpPr>
        <p:spPr>
          <a:xfrm>
            <a:off x="713232" y="2459736"/>
            <a:ext cx="548640" cy="310896"/>
          </a:xfrm>
          <a:prstGeom prst="rect">
            <a:avLst/>
          </a:prstGeom>
          <a:noFill/>
          <a:ln/>
        </p:spPr>
        <p:txBody>
          <a:bodyPr wrap="square" lIns="0" tIns="0" rIns="0" bIns="0" rtlCol="0" anchor="ctr"/>
          <a:lstStyle/>
          <a:p>
            <a:pPr marL="0" indent="0" algn="ctr">
              <a:buNone/>
            </a:pPr>
            <a:r>
              <a:rPr lang="fr-FR" sz="1000" b="1" kern="0" spc="100" dirty="0">
                <a:solidFill>
                  <a:srgbClr val="FFFFFF"/>
                </a:solidFill>
                <a:latin typeface="Calibri" pitchFamily="34" charset="0"/>
                <a:ea typeface="Calibri" pitchFamily="34" charset="-122"/>
                <a:cs typeface="Calibri" pitchFamily="34" charset="-120"/>
              </a:rPr>
              <a:t>Q2</a:t>
            </a:r>
            <a:endParaRPr lang="fr-FR" sz="1000" dirty="0"/>
          </a:p>
        </p:txBody>
      </p:sp>
      <p:sp>
        <p:nvSpPr>
          <p:cNvPr id="21" name="Text 18"/>
          <p:cNvSpPr txBox="1"/>
          <p:nvPr/>
        </p:nvSpPr>
        <p:spPr>
          <a:xfrm>
            <a:off x="1417320" y="2295144"/>
            <a:ext cx="4526280" cy="36576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Les artefacts sont-ils identifiés et traités ?</a:t>
            </a:r>
            <a:endParaRPr lang="fr-FR" sz="1250" dirty="0"/>
          </a:p>
        </p:txBody>
      </p:sp>
      <p:sp>
        <p:nvSpPr>
          <p:cNvPr id="22" name="Text 19"/>
          <p:cNvSpPr txBox="1"/>
          <p:nvPr/>
        </p:nvSpPr>
        <p:spPr>
          <a:xfrm>
            <a:off x="1417320" y="2642616"/>
            <a:ext cx="4526280" cy="301752"/>
          </a:xfrm>
          <a:prstGeom prst="rect">
            <a:avLst/>
          </a:prstGeom>
          <a:noFill/>
          <a:ln/>
        </p:spPr>
        <p:txBody>
          <a:bodyPr wrap="square" lIns="0" tIns="0" rIns="0" bIns="0" rtlCol="0" anchor="t"/>
          <a:lstStyle/>
          <a:p>
            <a:pPr marL="0" indent="0">
              <a:buNone/>
            </a:pPr>
            <a:r>
              <a:rPr lang="fr-FR" sz="1100" dirty="0">
                <a:solidFill>
                  <a:srgbClr val="5E6964"/>
                </a:solidFill>
                <a:latin typeface="Calibri" pitchFamily="34" charset="0"/>
                <a:ea typeface="Calibri" pitchFamily="34" charset="-122"/>
                <a:cs typeface="Calibri" pitchFamily="34" charset="-120"/>
              </a:rPr>
              <a:t>Torchères, débordement, saisonnalité, nuages, bruit.</a:t>
            </a:r>
            <a:endParaRPr lang="fr-FR" sz="1100" dirty="0"/>
          </a:p>
        </p:txBody>
      </p:sp>
      <p:sp>
        <p:nvSpPr>
          <p:cNvPr id="23" name="Shape 20"/>
          <p:cNvSpPr/>
          <p:nvPr/>
        </p:nvSpPr>
        <p:spPr>
          <a:xfrm>
            <a:off x="548640" y="3108960"/>
            <a:ext cx="5486400" cy="749808"/>
          </a:xfrm>
          <a:prstGeom prst="roundRect">
            <a:avLst>
              <a:gd name="adj" fmla="val 9756"/>
            </a:avLst>
          </a:prstGeom>
          <a:solidFill>
            <a:srgbClr val="F4F7F5"/>
          </a:solidFill>
          <a:ln w="9525">
            <a:solidFill>
              <a:srgbClr val="D5DED9"/>
            </a:solidFill>
            <a:prstDash val="solid"/>
          </a:ln>
        </p:spPr>
      </p:sp>
      <p:sp>
        <p:nvSpPr>
          <p:cNvPr id="24" name="Shape 21"/>
          <p:cNvSpPr/>
          <p:nvPr/>
        </p:nvSpPr>
        <p:spPr>
          <a:xfrm>
            <a:off x="713232" y="3328416"/>
            <a:ext cx="548640" cy="310896"/>
          </a:xfrm>
          <a:prstGeom prst="roundRect">
            <a:avLst>
              <a:gd name="adj" fmla="val 50000"/>
            </a:avLst>
          </a:prstGeom>
          <a:solidFill>
            <a:srgbClr val="00704A"/>
          </a:solidFill>
          <a:ln w="12700">
            <a:solidFill>
              <a:srgbClr val="00704A"/>
            </a:solidFill>
            <a:prstDash val="solid"/>
          </a:ln>
        </p:spPr>
      </p:sp>
      <p:sp>
        <p:nvSpPr>
          <p:cNvPr id="25" name="Text 22"/>
          <p:cNvSpPr txBox="1"/>
          <p:nvPr/>
        </p:nvSpPr>
        <p:spPr>
          <a:xfrm>
            <a:off x="713232" y="3328416"/>
            <a:ext cx="548640" cy="310896"/>
          </a:xfrm>
          <a:prstGeom prst="rect">
            <a:avLst/>
          </a:prstGeom>
          <a:noFill/>
          <a:ln/>
        </p:spPr>
        <p:txBody>
          <a:bodyPr wrap="square" lIns="0" tIns="0" rIns="0" bIns="0" rtlCol="0" anchor="ctr"/>
          <a:lstStyle/>
          <a:p>
            <a:pPr marL="0" indent="0" algn="ctr">
              <a:buNone/>
            </a:pPr>
            <a:r>
              <a:rPr lang="fr-FR" sz="1000" b="1" kern="0" spc="100" dirty="0">
                <a:solidFill>
                  <a:srgbClr val="FFFFFF"/>
                </a:solidFill>
                <a:latin typeface="Calibri" pitchFamily="34" charset="0"/>
                <a:ea typeface="Calibri" pitchFamily="34" charset="-122"/>
                <a:cs typeface="Calibri" pitchFamily="34" charset="-120"/>
              </a:rPr>
              <a:t>Q3</a:t>
            </a:r>
            <a:endParaRPr lang="fr-FR" sz="1000" dirty="0"/>
          </a:p>
        </p:txBody>
      </p:sp>
      <p:sp>
        <p:nvSpPr>
          <p:cNvPr id="26" name="Text 23"/>
          <p:cNvSpPr txBox="1"/>
          <p:nvPr/>
        </p:nvSpPr>
        <p:spPr>
          <a:xfrm>
            <a:off x="1417320" y="3163824"/>
            <a:ext cx="4526280" cy="36576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La référence est-elle indépendante ?</a:t>
            </a:r>
            <a:endParaRPr lang="fr-FR" sz="1250" dirty="0"/>
          </a:p>
        </p:txBody>
      </p:sp>
      <p:sp>
        <p:nvSpPr>
          <p:cNvPr id="27" name="Text 24"/>
          <p:cNvSpPr txBox="1"/>
          <p:nvPr/>
        </p:nvSpPr>
        <p:spPr>
          <a:xfrm>
            <a:off x="1417320" y="3511296"/>
            <a:ext cx="4526280" cy="301752"/>
          </a:xfrm>
          <a:prstGeom prst="rect">
            <a:avLst/>
          </a:prstGeom>
          <a:noFill/>
          <a:ln/>
        </p:spPr>
        <p:txBody>
          <a:bodyPr wrap="square" lIns="0" tIns="0" rIns="0" bIns="0" rtlCol="0" anchor="t"/>
          <a:lstStyle/>
          <a:p>
            <a:pPr marL="0" indent="0">
              <a:buNone/>
            </a:pPr>
            <a:r>
              <a:rPr lang="fr-FR" sz="1100" dirty="0">
                <a:solidFill>
                  <a:srgbClr val="5E6964"/>
                </a:solidFill>
                <a:latin typeface="Calibri" pitchFamily="34" charset="0"/>
                <a:ea typeface="Calibri" pitchFamily="34" charset="-122"/>
                <a:cs typeface="Calibri" pitchFamily="34" charset="-120"/>
              </a:rPr>
              <a:t>WorldPop utilise les NTL en covariable — circularité.</a:t>
            </a:r>
            <a:endParaRPr lang="fr-FR" sz="1100" dirty="0"/>
          </a:p>
        </p:txBody>
      </p:sp>
      <p:sp>
        <p:nvSpPr>
          <p:cNvPr id="28" name="Shape 25"/>
          <p:cNvSpPr/>
          <p:nvPr/>
        </p:nvSpPr>
        <p:spPr>
          <a:xfrm>
            <a:off x="548640" y="4069080"/>
            <a:ext cx="5486400" cy="475488"/>
          </a:xfrm>
          <a:prstGeom prst="roundRect">
            <a:avLst>
              <a:gd name="adj" fmla="val 15385"/>
            </a:avLst>
          </a:prstGeom>
          <a:solidFill>
            <a:srgbClr val="E6F6EE"/>
          </a:solidFill>
          <a:ln w="9525">
            <a:solidFill>
              <a:srgbClr val="E6F6EE"/>
            </a:solidFill>
            <a:prstDash val="solid"/>
          </a:ln>
        </p:spPr>
      </p:sp>
      <p:pic>
        <p:nvPicPr>
          <p:cNvPr id="29" name="Image 1" descr="preencoded.png"/>
          <p:cNvPicPr>
            <a:picLocks noChangeAspect="1"/>
          </p:cNvPicPr>
          <p:nvPr/>
        </p:nvPicPr>
        <p:blipFill>
          <a:blip r:embed="rId4"/>
          <a:stretch>
            <a:fillRect/>
          </a:stretch>
        </p:blipFill>
        <p:spPr>
          <a:xfrm>
            <a:off x="713232" y="4160520"/>
            <a:ext cx="292608" cy="292608"/>
          </a:xfrm>
          <a:prstGeom prst="rect">
            <a:avLst/>
          </a:prstGeom>
        </p:spPr>
      </p:pic>
      <p:sp>
        <p:nvSpPr>
          <p:cNvPr id="30" name="Text 26"/>
          <p:cNvSpPr txBox="1"/>
          <p:nvPr/>
        </p:nvSpPr>
        <p:spPr>
          <a:xfrm>
            <a:off x="1143000" y="4069080"/>
            <a:ext cx="4754880" cy="475488"/>
          </a:xfrm>
          <a:prstGeom prst="rect">
            <a:avLst/>
          </a:prstGeom>
          <a:noFill/>
          <a:ln/>
        </p:spPr>
        <p:txBody>
          <a:bodyPr wrap="square" lIns="0" tIns="0" rIns="0" bIns="0" rtlCol="0" anchor="ctr"/>
          <a:lstStyle/>
          <a:p>
            <a:pPr marL="0" indent="0">
              <a:buNone/>
            </a:pPr>
            <a:r>
              <a:rPr lang="fr-FR" sz="1200" b="1" dirty="0">
                <a:solidFill>
                  <a:srgbClr val="00704A"/>
                </a:solidFill>
                <a:latin typeface="Calibri" pitchFamily="34" charset="0"/>
                <a:ea typeface="Calibri" pitchFamily="34" charset="-122"/>
                <a:cs typeface="Calibri" pitchFamily="34" charset="-120"/>
              </a:rPr>
              <a:t>Oui aux trois → Statistique expérimentale — diffuser avec ses limites</a:t>
            </a:r>
            <a:endParaRPr lang="fr-FR" sz="1200" dirty="0"/>
          </a:p>
        </p:txBody>
      </p:sp>
      <p:sp>
        <p:nvSpPr>
          <p:cNvPr id="31" name="Shape 27"/>
          <p:cNvSpPr/>
          <p:nvPr/>
        </p:nvSpPr>
        <p:spPr>
          <a:xfrm>
            <a:off x="548640" y="4636008"/>
            <a:ext cx="5486400" cy="475488"/>
          </a:xfrm>
          <a:prstGeom prst="roundRect">
            <a:avLst>
              <a:gd name="adj" fmla="val 15385"/>
            </a:avLst>
          </a:prstGeom>
          <a:solidFill>
            <a:srgbClr val="FDF5DC"/>
          </a:solidFill>
          <a:ln w="9525">
            <a:solidFill>
              <a:srgbClr val="FDF5DC"/>
            </a:solidFill>
            <a:prstDash val="solid"/>
          </a:ln>
        </p:spPr>
      </p:sp>
      <p:pic>
        <p:nvPicPr>
          <p:cNvPr id="32" name="Image 2" descr="preencoded.png"/>
          <p:cNvPicPr>
            <a:picLocks noChangeAspect="1"/>
          </p:cNvPicPr>
          <p:nvPr/>
        </p:nvPicPr>
        <p:blipFill>
          <a:blip r:embed="rId5"/>
          <a:stretch>
            <a:fillRect/>
          </a:stretch>
        </p:blipFill>
        <p:spPr>
          <a:xfrm>
            <a:off x="713232" y="4727448"/>
            <a:ext cx="292608" cy="292608"/>
          </a:xfrm>
          <a:prstGeom prst="rect">
            <a:avLst/>
          </a:prstGeom>
        </p:spPr>
      </p:pic>
      <p:sp>
        <p:nvSpPr>
          <p:cNvPr id="33" name="Text 28"/>
          <p:cNvSpPr txBox="1"/>
          <p:nvPr/>
        </p:nvSpPr>
        <p:spPr>
          <a:xfrm>
            <a:off x="1143000" y="4636008"/>
            <a:ext cx="4754880" cy="475488"/>
          </a:xfrm>
          <a:prstGeom prst="rect">
            <a:avLst/>
          </a:prstGeom>
          <a:noFill/>
          <a:ln/>
        </p:spPr>
        <p:txBody>
          <a:bodyPr wrap="square" lIns="0" tIns="0" rIns="0" bIns="0" rtlCol="0" anchor="ctr"/>
          <a:lstStyle/>
          <a:p>
            <a:pPr marL="0" indent="0">
              <a:buNone/>
            </a:pPr>
            <a:r>
              <a:rPr lang="fr-FR" sz="1200" b="1" dirty="0">
                <a:solidFill>
                  <a:srgbClr val="A87700"/>
                </a:solidFill>
                <a:latin typeface="Calibri" pitchFamily="34" charset="0"/>
                <a:ea typeface="Calibri" pitchFamily="34" charset="-122"/>
                <a:cs typeface="Calibri" pitchFamily="34" charset="-120"/>
              </a:rPr>
              <a:t>En partie → Outil de diagnostic — usage interne uniquement</a:t>
            </a:r>
            <a:endParaRPr lang="fr-FR" sz="1200" dirty="0"/>
          </a:p>
        </p:txBody>
      </p:sp>
      <p:sp>
        <p:nvSpPr>
          <p:cNvPr id="34" name="Shape 29"/>
          <p:cNvSpPr/>
          <p:nvPr/>
        </p:nvSpPr>
        <p:spPr>
          <a:xfrm>
            <a:off x="548640" y="5202936"/>
            <a:ext cx="5486400" cy="475488"/>
          </a:xfrm>
          <a:prstGeom prst="roundRect">
            <a:avLst>
              <a:gd name="adj" fmla="val 15385"/>
            </a:avLst>
          </a:prstGeom>
          <a:solidFill>
            <a:srgbClr val="FBE9E7"/>
          </a:solidFill>
          <a:ln w="9525">
            <a:solidFill>
              <a:srgbClr val="FBE9E7"/>
            </a:solidFill>
            <a:prstDash val="solid"/>
          </a:ln>
        </p:spPr>
      </p:sp>
      <p:pic>
        <p:nvPicPr>
          <p:cNvPr id="35" name="Image 3" descr="preencoded.png"/>
          <p:cNvPicPr>
            <a:picLocks noChangeAspect="1"/>
          </p:cNvPicPr>
          <p:nvPr/>
        </p:nvPicPr>
        <p:blipFill>
          <a:blip r:embed="rId6"/>
          <a:stretch>
            <a:fillRect/>
          </a:stretch>
        </p:blipFill>
        <p:spPr>
          <a:xfrm>
            <a:off x="713232" y="5294376"/>
            <a:ext cx="292608" cy="292608"/>
          </a:xfrm>
          <a:prstGeom prst="rect">
            <a:avLst/>
          </a:prstGeom>
        </p:spPr>
      </p:pic>
      <p:sp>
        <p:nvSpPr>
          <p:cNvPr id="36" name="Text 30"/>
          <p:cNvSpPr txBox="1"/>
          <p:nvPr/>
        </p:nvSpPr>
        <p:spPr>
          <a:xfrm>
            <a:off x="1143000" y="5202936"/>
            <a:ext cx="4754880" cy="475488"/>
          </a:xfrm>
          <a:prstGeom prst="rect">
            <a:avLst/>
          </a:prstGeom>
          <a:noFill/>
          <a:ln/>
        </p:spPr>
        <p:txBody>
          <a:bodyPr wrap="square" lIns="0" tIns="0" rIns="0" bIns="0" rtlCol="0" anchor="ctr"/>
          <a:lstStyle/>
          <a:p>
            <a:pPr marL="0" indent="0">
              <a:buNone/>
            </a:pPr>
            <a:r>
              <a:rPr lang="fr-FR" sz="1200" b="1" dirty="0">
                <a:solidFill>
                  <a:srgbClr val="B83B2E"/>
                </a:solidFill>
                <a:latin typeface="Calibri" pitchFamily="34" charset="0"/>
                <a:ea typeface="Calibri" pitchFamily="34" charset="-122"/>
                <a:cs typeface="Calibri" pitchFamily="34" charset="-120"/>
              </a:rPr>
              <a:t>Non → Inadapté — documenter pourquoi</a:t>
            </a:r>
            <a:endParaRPr lang="fr-FR" sz="1200" dirty="0"/>
          </a:p>
        </p:txBody>
      </p:sp>
      <p:sp>
        <p:nvSpPr>
          <p:cNvPr id="37" name="Shape 31"/>
          <p:cNvSpPr/>
          <p:nvPr/>
        </p:nvSpPr>
        <p:spPr>
          <a:xfrm>
            <a:off x="6355080" y="1371600"/>
            <a:ext cx="5285232" cy="4434840"/>
          </a:xfrm>
          <a:prstGeom prst="roundRect">
            <a:avLst>
              <a:gd name="adj" fmla="val 1649"/>
            </a:avLst>
          </a:prstGeom>
          <a:solidFill>
            <a:srgbClr val="E8F5EF"/>
          </a:solidFill>
          <a:ln w="9525">
            <a:solidFill>
              <a:srgbClr val="00A86A"/>
            </a:solidFill>
            <a:prstDash val="solid"/>
          </a:ln>
        </p:spPr>
      </p:sp>
      <p:sp>
        <p:nvSpPr>
          <p:cNvPr id="38" name="Text 32"/>
          <p:cNvSpPr txBox="1"/>
          <p:nvPr/>
        </p:nvSpPr>
        <p:spPr>
          <a:xfrm>
            <a:off x="6583680" y="1481328"/>
            <a:ext cx="4846320" cy="320040"/>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Déclaration de limites — modèle</a:t>
            </a:r>
            <a:endParaRPr lang="fr-FR" sz="1400" dirty="0"/>
          </a:p>
        </p:txBody>
      </p:sp>
      <p:sp>
        <p:nvSpPr>
          <p:cNvPr id="39" name="Text 33"/>
          <p:cNvSpPr txBox="1"/>
          <p:nvPr/>
        </p:nvSpPr>
        <p:spPr>
          <a:xfrm>
            <a:off x="6583680" y="1783080"/>
            <a:ext cx="4846320" cy="274320"/>
          </a:xfrm>
          <a:prstGeom prst="rect">
            <a:avLst/>
          </a:prstGeom>
          <a:noFill/>
          <a:ln/>
        </p:spPr>
        <p:txBody>
          <a:bodyPr wrap="square" lIns="0" tIns="0" rIns="0" bIns="0" rtlCol="0" anchor="t"/>
          <a:lstStyle/>
          <a:p>
            <a:pPr marL="0" indent="0">
              <a:buNone/>
            </a:pPr>
            <a:r>
              <a:rPr lang="fr-FR" sz="1050" i="1" dirty="0">
                <a:solidFill>
                  <a:srgbClr val="5E6964"/>
                </a:solidFill>
                <a:latin typeface="Calibri" pitchFamily="34" charset="0"/>
                <a:ea typeface="Calibri" pitchFamily="34" charset="-122"/>
                <a:cs typeface="Calibri" pitchFamily="34" charset="-120"/>
              </a:rPr>
              <a:t>Fait partie du livrable, déposée sur GitHub</a:t>
            </a:r>
            <a:endParaRPr lang="fr-FR" sz="1050" dirty="0"/>
          </a:p>
        </p:txBody>
      </p:sp>
      <p:sp>
        <p:nvSpPr>
          <p:cNvPr id="40" name="Shape 34"/>
          <p:cNvSpPr/>
          <p:nvPr/>
        </p:nvSpPr>
        <p:spPr>
          <a:xfrm>
            <a:off x="6583680" y="2194560"/>
            <a:ext cx="1600200" cy="512064"/>
          </a:xfrm>
          <a:prstGeom prst="rect">
            <a:avLst/>
          </a:prstGeom>
          <a:solidFill>
            <a:srgbClr val="FFFFFF"/>
          </a:solidFill>
          <a:ln w="6350">
            <a:solidFill>
              <a:srgbClr val="FFFFFF"/>
            </a:solidFill>
            <a:prstDash val="solid"/>
          </a:ln>
        </p:spPr>
      </p:sp>
      <p:sp>
        <p:nvSpPr>
          <p:cNvPr id="41" name="Text 35"/>
          <p:cNvSpPr txBox="1"/>
          <p:nvPr/>
        </p:nvSpPr>
        <p:spPr>
          <a:xfrm>
            <a:off x="6675120" y="2194560"/>
            <a:ext cx="1463040" cy="512064"/>
          </a:xfrm>
          <a:prstGeom prst="rect">
            <a:avLst/>
          </a:prstGeom>
          <a:noFill/>
          <a:ln/>
        </p:spPr>
        <p:txBody>
          <a:bodyPr wrap="square" lIns="0" tIns="0" rIns="0" bIns="0" rtlCol="0" anchor="ctr"/>
          <a:lstStyle/>
          <a:p>
            <a:pPr marL="0" indent="0">
              <a:buNone/>
            </a:pPr>
            <a:r>
              <a:rPr lang="fr-FR" sz="1100" b="1" dirty="0">
                <a:solidFill>
                  <a:srgbClr val="00704A"/>
                </a:solidFill>
                <a:latin typeface="Calibri" pitchFamily="34" charset="0"/>
                <a:ea typeface="Calibri" pitchFamily="34" charset="-122"/>
                <a:cs typeface="Calibri" pitchFamily="34" charset="-120"/>
              </a:rPr>
              <a:t>Données</a:t>
            </a:r>
            <a:endParaRPr lang="fr-FR" sz="1100" dirty="0"/>
          </a:p>
        </p:txBody>
      </p:sp>
      <p:sp>
        <p:nvSpPr>
          <p:cNvPr id="42" name="Shape 36"/>
          <p:cNvSpPr/>
          <p:nvPr/>
        </p:nvSpPr>
        <p:spPr>
          <a:xfrm>
            <a:off x="8229600" y="2194560"/>
            <a:ext cx="3200400" cy="512064"/>
          </a:xfrm>
          <a:prstGeom prst="rect">
            <a:avLst/>
          </a:prstGeom>
          <a:solidFill>
            <a:srgbClr val="FFFFFF"/>
          </a:solidFill>
          <a:ln w="6350">
            <a:solidFill>
              <a:srgbClr val="FFFFFF"/>
            </a:solidFill>
            <a:prstDash val="solid"/>
          </a:ln>
        </p:spPr>
      </p:sp>
      <p:sp>
        <p:nvSpPr>
          <p:cNvPr id="43" name="Text 37"/>
          <p:cNvSpPr txBox="1"/>
          <p:nvPr/>
        </p:nvSpPr>
        <p:spPr>
          <a:xfrm>
            <a:off x="8321040" y="2194560"/>
            <a:ext cx="3063240" cy="512064"/>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Produit, version de collection, période, fréquence</a:t>
            </a:r>
            <a:endParaRPr lang="fr-FR" sz="1050" dirty="0"/>
          </a:p>
        </p:txBody>
      </p:sp>
      <p:sp>
        <p:nvSpPr>
          <p:cNvPr id="44" name="Shape 38"/>
          <p:cNvSpPr/>
          <p:nvPr/>
        </p:nvSpPr>
        <p:spPr>
          <a:xfrm>
            <a:off x="6583680" y="2779776"/>
            <a:ext cx="1600200" cy="512064"/>
          </a:xfrm>
          <a:prstGeom prst="rect">
            <a:avLst/>
          </a:prstGeom>
          <a:solidFill>
            <a:srgbClr val="FFFFFF"/>
          </a:solidFill>
          <a:ln w="6350">
            <a:solidFill>
              <a:srgbClr val="FFFFFF"/>
            </a:solidFill>
            <a:prstDash val="solid"/>
          </a:ln>
        </p:spPr>
      </p:sp>
      <p:sp>
        <p:nvSpPr>
          <p:cNvPr id="45" name="Text 39"/>
          <p:cNvSpPr txBox="1"/>
          <p:nvPr/>
        </p:nvSpPr>
        <p:spPr>
          <a:xfrm>
            <a:off x="6675120" y="2779776"/>
            <a:ext cx="1463040" cy="512064"/>
          </a:xfrm>
          <a:prstGeom prst="rect">
            <a:avLst/>
          </a:prstGeom>
          <a:noFill/>
          <a:ln/>
        </p:spPr>
        <p:txBody>
          <a:bodyPr wrap="square" lIns="0" tIns="0" rIns="0" bIns="0" rtlCol="0" anchor="ctr"/>
          <a:lstStyle/>
          <a:p>
            <a:pPr marL="0" indent="0">
              <a:buNone/>
            </a:pPr>
            <a:r>
              <a:rPr lang="fr-FR" sz="1100" b="1" dirty="0">
                <a:solidFill>
                  <a:srgbClr val="00704A"/>
                </a:solidFill>
                <a:latin typeface="Calibri" pitchFamily="34" charset="0"/>
                <a:ea typeface="Calibri" pitchFamily="34" charset="-122"/>
                <a:cs typeface="Calibri" pitchFamily="34" charset="-120"/>
              </a:rPr>
              <a:t>Choix</a:t>
            </a:r>
            <a:endParaRPr lang="fr-FR" sz="1100" dirty="0"/>
          </a:p>
        </p:txBody>
      </p:sp>
      <p:sp>
        <p:nvSpPr>
          <p:cNvPr id="46" name="Shape 40"/>
          <p:cNvSpPr/>
          <p:nvPr/>
        </p:nvSpPr>
        <p:spPr>
          <a:xfrm>
            <a:off x="8229600" y="2779776"/>
            <a:ext cx="3200400" cy="512064"/>
          </a:xfrm>
          <a:prstGeom prst="rect">
            <a:avLst/>
          </a:prstGeom>
          <a:solidFill>
            <a:srgbClr val="FFFFFF"/>
          </a:solidFill>
          <a:ln w="6350">
            <a:solidFill>
              <a:srgbClr val="FFFFFF"/>
            </a:solidFill>
            <a:prstDash val="solid"/>
          </a:ln>
        </p:spPr>
      </p:sp>
      <p:sp>
        <p:nvSpPr>
          <p:cNvPr id="47" name="Text 41"/>
          <p:cNvSpPr txBox="1"/>
          <p:nvPr/>
        </p:nvSpPr>
        <p:spPr>
          <a:xfrm>
            <a:off x="8321040" y="2779776"/>
            <a:ext cx="3063240" cy="512064"/>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Contours, seuil de radiance, masques appliqués</a:t>
            </a:r>
            <a:endParaRPr lang="fr-FR" sz="1050" dirty="0"/>
          </a:p>
        </p:txBody>
      </p:sp>
      <p:sp>
        <p:nvSpPr>
          <p:cNvPr id="48" name="Shape 42"/>
          <p:cNvSpPr/>
          <p:nvPr/>
        </p:nvSpPr>
        <p:spPr>
          <a:xfrm>
            <a:off x="6583680" y="3364992"/>
            <a:ext cx="1600200" cy="512064"/>
          </a:xfrm>
          <a:prstGeom prst="rect">
            <a:avLst/>
          </a:prstGeom>
          <a:solidFill>
            <a:srgbClr val="FFFFFF"/>
          </a:solidFill>
          <a:ln w="6350">
            <a:solidFill>
              <a:srgbClr val="FFFFFF"/>
            </a:solidFill>
            <a:prstDash val="solid"/>
          </a:ln>
        </p:spPr>
      </p:sp>
      <p:sp>
        <p:nvSpPr>
          <p:cNvPr id="49" name="Text 43"/>
          <p:cNvSpPr txBox="1"/>
          <p:nvPr/>
        </p:nvSpPr>
        <p:spPr>
          <a:xfrm>
            <a:off x="6675120" y="3364992"/>
            <a:ext cx="1463040" cy="512064"/>
          </a:xfrm>
          <a:prstGeom prst="rect">
            <a:avLst/>
          </a:prstGeom>
          <a:noFill/>
          <a:ln/>
        </p:spPr>
        <p:txBody>
          <a:bodyPr wrap="square" lIns="0" tIns="0" rIns="0" bIns="0" rtlCol="0" anchor="ctr"/>
          <a:lstStyle/>
          <a:p>
            <a:pPr marL="0" indent="0">
              <a:buNone/>
            </a:pPr>
            <a:r>
              <a:rPr lang="fr-FR" sz="1100" b="1" dirty="0">
                <a:solidFill>
                  <a:srgbClr val="00704A"/>
                </a:solidFill>
                <a:latin typeface="Calibri" pitchFamily="34" charset="0"/>
                <a:ea typeface="Calibri" pitchFamily="34" charset="-122"/>
                <a:cs typeface="Calibri" pitchFamily="34" charset="-120"/>
              </a:rPr>
              <a:t>Artefacts</a:t>
            </a:r>
            <a:endParaRPr lang="fr-FR" sz="1100" dirty="0"/>
          </a:p>
        </p:txBody>
      </p:sp>
      <p:sp>
        <p:nvSpPr>
          <p:cNvPr id="50" name="Shape 44"/>
          <p:cNvSpPr/>
          <p:nvPr/>
        </p:nvSpPr>
        <p:spPr>
          <a:xfrm>
            <a:off x="8229600" y="3364992"/>
            <a:ext cx="3200400" cy="512064"/>
          </a:xfrm>
          <a:prstGeom prst="rect">
            <a:avLst/>
          </a:prstGeom>
          <a:solidFill>
            <a:srgbClr val="FFFFFF"/>
          </a:solidFill>
          <a:ln w="6350">
            <a:solidFill>
              <a:srgbClr val="FFFFFF"/>
            </a:solidFill>
            <a:prstDash val="solid"/>
          </a:ln>
        </p:spPr>
      </p:sp>
      <p:sp>
        <p:nvSpPr>
          <p:cNvPr id="51" name="Text 45"/>
          <p:cNvSpPr txBox="1"/>
          <p:nvPr/>
        </p:nvSpPr>
        <p:spPr>
          <a:xfrm>
            <a:off x="8321040" y="3364992"/>
            <a:ext cx="3063240" cy="512064"/>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Lesquels des six ont été trouvés, où, quel traitement</a:t>
            </a:r>
            <a:endParaRPr lang="fr-FR" sz="1050" dirty="0"/>
          </a:p>
        </p:txBody>
      </p:sp>
      <p:sp>
        <p:nvSpPr>
          <p:cNvPr id="52" name="Shape 46"/>
          <p:cNvSpPr/>
          <p:nvPr/>
        </p:nvSpPr>
        <p:spPr>
          <a:xfrm>
            <a:off x="6583680" y="3950208"/>
            <a:ext cx="1600200" cy="512064"/>
          </a:xfrm>
          <a:prstGeom prst="rect">
            <a:avLst/>
          </a:prstGeom>
          <a:solidFill>
            <a:srgbClr val="FFFFFF"/>
          </a:solidFill>
          <a:ln w="6350">
            <a:solidFill>
              <a:srgbClr val="FFFFFF"/>
            </a:solidFill>
            <a:prstDash val="solid"/>
          </a:ln>
        </p:spPr>
      </p:sp>
      <p:sp>
        <p:nvSpPr>
          <p:cNvPr id="53" name="Text 47"/>
          <p:cNvSpPr txBox="1"/>
          <p:nvPr/>
        </p:nvSpPr>
        <p:spPr>
          <a:xfrm>
            <a:off x="6675120" y="3950208"/>
            <a:ext cx="1463040" cy="512064"/>
          </a:xfrm>
          <a:prstGeom prst="rect">
            <a:avLst/>
          </a:prstGeom>
          <a:noFill/>
          <a:ln/>
        </p:spPr>
        <p:txBody>
          <a:bodyPr wrap="square" lIns="0" tIns="0" rIns="0" bIns="0" rtlCol="0" anchor="ctr"/>
          <a:lstStyle/>
          <a:p>
            <a:pPr marL="0" indent="0">
              <a:buNone/>
            </a:pPr>
            <a:r>
              <a:rPr lang="fr-FR" sz="1100" b="1" dirty="0">
                <a:solidFill>
                  <a:srgbClr val="00704A"/>
                </a:solidFill>
                <a:latin typeface="Calibri" pitchFamily="34" charset="0"/>
                <a:ea typeface="Calibri" pitchFamily="34" charset="-122"/>
                <a:cs typeface="Calibri" pitchFamily="34" charset="-120"/>
              </a:rPr>
              <a:t>Validation</a:t>
            </a:r>
            <a:endParaRPr lang="fr-FR" sz="1100" dirty="0"/>
          </a:p>
        </p:txBody>
      </p:sp>
      <p:sp>
        <p:nvSpPr>
          <p:cNvPr id="54" name="Shape 48"/>
          <p:cNvSpPr/>
          <p:nvPr/>
        </p:nvSpPr>
        <p:spPr>
          <a:xfrm>
            <a:off x="8229600" y="3950208"/>
            <a:ext cx="3200400" cy="512064"/>
          </a:xfrm>
          <a:prstGeom prst="rect">
            <a:avLst/>
          </a:prstGeom>
          <a:solidFill>
            <a:srgbClr val="FFFFFF"/>
          </a:solidFill>
          <a:ln w="6350">
            <a:solidFill>
              <a:srgbClr val="FFFFFF"/>
            </a:solidFill>
            <a:prstDash val="solid"/>
          </a:ln>
        </p:spPr>
      </p:sp>
      <p:sp>
        <p:nvSpPr>
          <p:cNvPr id="55" name="Text 49"/>
          <p:cNvSpPr txBox="1"/>
          <p:nvPr/>
        </p:nvSpPr>
        <p:spPr>
          <a:xfrm>
            <a:off x="8321040" y="3950208"/>
            <a:ext cx="3063240" cy="512064"/>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Référence, année, nombre d’unités, force en niveaux et en évolutions</a:t>
            </a:r>
            <a:endParaRPr lang="fr-FR" sz="1050" dirty="0"/>
          </a:p>
        </p:txBody>
      </p:sp>
      <p:sp>
        <p:nvSpPr>
          <p:cNvPr id="56" name="Shape 50"/>
          <p:cNvSpPr/>
          <p:nvPr/>
        </p:nvSpPr>
        <p:spPr>
          <a:xfrm>
            <a:off x="6583680" y="4535424"/>
            <a:ext cx="1600200" cy="512064"/>
          </a:xfrm>
          <a:prstGeom prst="rect">
            <a:avLst/>
          </a:prstGeom>
          <a:solidFill>
            <a:srgbClr val="FFFFFF"/>
          </a:solidFill>
          <a:ln w="6350">
            <a:solidFill>
              <a:srgbClr val="FFFFFF"/>
            </a:solidFill>
            <a:prstDash val="solid"/>
          </a:ln>
        </p:spPr>
      </p:sp>
      <p:sp>
        <p:nvSpPr>
          <p:cNvPr id="57" name="Text 51"/>
          <p:cNvSpPr txBox="1"/>
          <p:nvPr/>
        </p:nvSpPr>
        <p:spPr>
          <a:xfrm>
            <a:off x="6675120" y="4535424"/>
            <a:ext cx="1463040" cy="512064"/>
          </a:xfrm>
          <a:prstGeom prst="rect">
            <a:avLst/>
          </a:prstGeom>
          <a:noFill/>
          <a:ln/>
        </p:spPr>
        <p:txBody>
          <a:bodyPr wrap="square" lIns="0" tIns="0" rIns="0" bIns="0" rtlCol="0" anchor="ctr"/>
          <a:lstStyle/>
          <a:p>
            <a:pPr marL="0" indent="0">
              <a:buNone/>
            </a:pPr>
            <a:r>
              <a:rPr lang="fr-FR" sz="1100" b="1" dirty="0">
                <a:solidFill>
                  <a:srgbClr val="00704A"/>
                </a:solidFill>
                <a:latin typeface="Calibri" pitchFamily="34" charset="0"/>
                <a:ea typeface="Calibri" pitchFamily="34" charset="-122"/>
                <a:cs typeface="Calibri" pitchFamily="34" charset="-120"/>
              </a:rPr>
              <a:t>Décision</a:t>
            </a:r>
            <a:endParaRPr lang="fr-FR" sz="1100" dirty="0"/>
          </a:p>
        </p:txBody>
      </p:sp>
      <p:sp>
        <p:nvSpPr>
          <p:cNvPr id="58" name="Shape 52"/>
          <p:cNvSpPr/>
          <p:nvPr/>
        </p:nvSpPr>
        <p:spPr>
          <a:xfrm>
            <a:off x="8229600" y="4535424"/>
            <a:ext cx="3200400" cy="512064"/>
          </a:xfrm>
          <a:prstGeom prst="rect">
            <a:avLst/>
          </a:prstGeom>
          <a:solidFill>
            <a:srgbClr val="FFFFFF"/>
          </a:solidFill>
          <a:ln w="6350">
            <a:solidFill>
              <a:srgbClr val="FFFFFF"/>
            </a:solidFill>
            <a:prstDash val="solid"/>
          </a:ln>
        </p:spPr>
      </p:sp>
      <p:sp>
        <p:nvSpPr>
          <p:cNvPr id="59" name="Text 53"/>
          <p:cNvSpPr txBox="1"/>
          <p:nvPr/>
        </p:nvSpPr>
        <p:spPr>
          <a:xfrm>
            <a:off x="8321040" y="4535424"/>
            <a:ext cx="3063240" cy="512064"/>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Expérimentale, diagnostic ou inadaptée — et pourquoi</a:t>
            </a:r>
            <a:endParaRPr lang="fr-FR" sz="1050" dirty="0"/>
          </a:p>
        </p:txBody>
      </p:sp>
      <p:sp>
        <p:nvSpPr>
          <p:cNvPr id="60" name="Shape 54"/>
          <p:cNvSpPr/>
          <p:nvPr/>
        </p:nvSpPr>
        <p:spPr>
          <a:xfrm>
            <a:off x="6583680" y="5120640"/>
            <a:ext cx="1600200" cy="512064"/>
          </a:xfrm>
          <a:prstGeom prst="rect">
            <a:avLst/>
          </a:prstGeom>
          <a:solidFill>
            <a:srgbClr val="FFFFFF"/>
          </a:solidFill>
          <a:ln w="6350">
            <a:solidFill>
              <a:srgbClr val="FFFFFF"/>
            </a:solidFill>
            <a:prstDash val="solid"/>
          </a:ln>
        </p:spPr>
      </p:sp>
      <p:sp>
        <p:nvSpPr>
          <p:cNvPr id="61" name="Text 55"/>
          <p:cNvSpPr txBox="1"/>
          <p:nvPr/>
        </p:nvSpPr>
        <p:spPr>
          <a:xfrm>
            <a:off x="6675120" y="5120640"/>
            <a:ext cx="1463040" cy="512064"/>
          </a:xfrm>
          <a:prstGeom prst="rect">
            <a:avLst/>
          </a:prstGeom>
          <a:noFill/>
          <a:ln/>
        </p:spPr>
        <p:txBody>
          <a:bodyPr wrap="square" lIns="0" tIns="0" rIns="0" bIns="0" rtlCol="0" anchor="ctr"/>
          <a:lstStyle/>
          <a:p>
            <a:pPr marL="0" indent="0">
              <a:buNone/>
            </a:pPr>
            <a:r>
              <a:rPr lang="fr-FR" sz="1100" b="1" dirty="0">
                <a:solidFill>
                  <a:srgbClr val="B83B2E"/>
                </a:solidFill>
                <a:latin typeface="Calibri" pitchFamily="34" charset="0"/>
                <a:ea typeface="Calibri" pitchFamily="34" charset="-122"/>
                <a:cs typeface="Calibri" pitchFamily="34" charset="-120"/>
              </a:rPr>
              <a:t>À ne pas utiliser pour</a:t>
            </a:r>
            <a:endParaRPr lang="fr-FR" sz="1100" dirty="0"/>
          </a:p>
        </p:txBody>
      </p:sp>
      <p:sp>
        <p:nvSpPr>
          <p:cNvPr id="62" name="Shape 56"/>
          <p:cNvSpPr/>
          <p:nvPr/>
        </p:nvSpPr>
        <p:spPr>
          <a:xfrm>
            <a:off x="8229600" y="5120640"/>
            <a:ext cx="3200400" cy="512064"/>
          </a:xfrm>
          <a:prstGeom prst="rect">
            <a:avLst/>
          </a:prstGeom>
          <a:solidFill>
            <a:srgbClr val="FFFFFF"/>
          </a:solidFill>
          <a:ln w="6350">
            <a:solidFill>
              <a:srgbClr val="FFFFFF"/>
            </a:solidFill>
            <a:prstDash val="solid"/>
          </a:ln>
        </p:spPr>
      </p:sp>
      <p:sp>
        <p:nvSpPr>
          <p:cNvPr id="63" name="Text 57"/>
          <p:cNvSpPr txBox="1"/>
          <p:nvPr/>
        </p:nvSpPr>
        <p:spPr>
          <a:xfrm>
            <a:off x="8321040" y="5120640"/>
            <a:ext cx="3063240" cy="512064"/>
          </a:xfrm>
          <a:prstGeom prst="rect">
            <a:avLst/>
          </a:prstGeom>
          <a:noFill/>
          <a:ln/>
        </p:spPr>
        <p:txBody>
          <a:bodyPr wrap="square" lIns="0" tIns="0" rIns="0" bIns="0" rtlCol="0" anchor="ctr"/>
          <a:lstStyle/>
          <a:p>
            <a:pPr marL="0" indent="0">
              <a:buNone/>
            </a:pPr>
            <a:r>
              <a:rPr lang="fr-FR" sz="1050" dirty="0">
                <a:solidFill>
                  <a:srgbClr val="231F20"/>
                </a:solidFill>
                <a:latin typeface="Calibri" pitchFamily="34" charset="0"/>
                <a:ea typeface="Calibri" pitchFamily="34" charset="-122"/>
                <a:cs typeface="Calibri" pitchFamily="34" charset="-120"/>
              </a:rPr>
              <a:t>p. ex. revenu des ménages, effectifs des petites localités</a:t>
            </a:r>
            <a:endParaRPr lang="fr-FR"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05 · DE LA SÉANCE AUX PROJETS · BONNES PRATIQUES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Liste de contrôle pour une analyse solide</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60</a:t>
            </a:r>
            <a:endParaRPr lang="fr-FR" sz="900" dirty="0"/>
          </a:p>
        </p:txBody>
      </p:sp>
      <p:sp>
        <p:nvSpPr>
          <p:cNvPr id="12" name="Shape 9"/>
          <p:cNvSpPr/>
          <p:nvPr/>
        </p:nvSpPr>
        <p:spPr>
          <a:xfrm>
            <a:off x="548640" y="1371600"/>
            <a:ext cx="3593592" cy="969264"/>
          </a:xfrm>
          <a:prstGeom prst="roundRect">
            <a:avLst>
              <a:gd name="adj" fmla="val 7547"/>
            </a:avLst>
          </a:prstGeom>
          <a:solidFill>
            <a:srgbClr val="F4F7F5"/>
          </a:solidFill>
          <a:ln w="9525">
            <a:solidFill>
              <a:srgbClr val="D5DED9"/>
            </a:solidFill>
            <a:prstDash val="solid"/>
          </a:ln>
        </p:spPr>
      </p:sp>
      <p:sp>
        <p:nvSpPr>
          <p:cNvPr id="13" name="Shape 10"/>
          <p:cNvSpPr/>
          <p:nvPr/>
        </p:nvSpPr>
        <p:spPr>
          <a:xfrm>
            <a:off x="713232" y="1600200"/>
            <a:ext cx="475488" cy="475488"/>
          </a:xfrm>
          <a:prstGeom prst="ellipse">
            <a:avLst/>
          </a:prstGeom>
          <a:solidFill>
            <a:srgbClr val="00704A"/>
          </a:solidFill>
          <a:ln w="12700">
            <a:solidFill>
              <a:srgbClr val="00704A"/>
            </a:solidFill>
            <a:prstDash val="solid"/>
          </a:ln>
        </p:spPr>
      </p:sp>
      <p:sp>
        <p:nvSpPr>
          <p:cNvPr id="14" name="Text 11"/>
          <p:cNvSpPr txBox="1"/>
          <p:nvPr/>
        </p:nvSpPr>
        <p:spPr>
          <a:xfrm>
            <a:off x="713232" y="1600200"/>
            <a:ext cx="475488" cy="475488"/>
          </a:xfrm>
          <a:prstGeom prst="rect">
            <a:avLst/>
          </a:prstGeom>
          <a:noFill/>
          <a:ln/>
        </p:spPr>
        <p:txBody>
          <a:bodyPr wrap="square" lIns="0" tIns="0" rIns="0" bIns="0" rtlCol="0" anchor="ctr"/>
          <a:lstStyle/>
          <a:p>
            <a:pPr marL="0" indent="0" algn="ctr">
              <a:buNone/>
            </a:pPr>
            <a:r>
              <a:rPr lang="fr-FR" sz="1352" b="1" dirty="0">
                <a:solidFill>
                  <a:srgbClr val="FFFFFF"/>
                </a:solidFill>
                <a:latin typeface="Calibri" pitchFamily="34" charset="0"/>
                <a:ea typeface="Calibri" pitchFamily="34" charset="-122"/>
                <a:cs typeface="Calibri" pitchFamily="34" charset="-120"/>
              </a:rPr>
              <a:t>1</a:t>
            </a:r>
            <a:endParaRPr lang="fr-FR" sz="1352" dirty="0"/>
          </a:p>
        </p:txBody>
      </p:sp>
      <p:sp>
        <p:nvSpPr>
          <p:cNvPr id="15" name="Text 12"/>
          <p:cNvSpPr txBox="1"/>
          <p:nvPr/>
        </p:nvSpPr>
        <p:spPr>
          <a:xfrm>
            <a:off x="1325880" y="1463040"/>
            <a:ext cx="26974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Nommer produit et version</a:t>
            </a:r>
            <a:endParaRPr lang="fr-FR" sz="1250" dirty="0"/>
          </a:p>
        </p:txBody>
      </p:sp>
      <p:sp>
        <p:nvSpPr>
          <p:cNvPr id="16" name="Text 13"/>
          <p:cNvSpPr txBox="1"/>
          <p:nvPr/>
        </p:nvSpPr>
        <p:spPr>
          <a:xfrm>
            <a:off x="1325880" y="1783080"/>
            <a:ext cx="2697480" cy="530352"/>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VNP46A3 collection 2, VNL V2.x — ils ne sont pas interchangeables.</a:t>
            </a:r>
            <a:endParaRPr lang="fr-FR" sz="1050" dirty="0"/>
          </a:p>
        </p:txBody>
      </p:sp>
      <p:sp>
        <p:nvSpPr>
          <p:cNvPr id="17" name="Shape 14"/>
          <p:cNvSpPr/>
          <p:nvPr/>
        </p:nvSpPr>
        <p:spPr>
          <a:xfrm>
            <a:off x="4297680" y="1371600"/>
            <a:ext cx="3593592" cy="969264"/>
          </a:xfrm>
          <a:prstGeom prst="roundRect">
            <a:avLst>
              <a:gd name="adj" fmla="val 7547"/>
            </a:avLst>
          </a:prstGeom>
          <a:solidFill>
            <a:srgbClr val="F4F7F5"/>
          </a:solidFill>
          <a:ln w="9525">
            <a:solidFill>
              <a:srgbClr val="D5DED9"/>
            </a:solidFill>
            <a:prstDash val="solid"/>
          </a:ln>
        </p:spPr>
      </p:sp>
      <p:sp>
        <p:nvSpPr>
          <p:cNvPr id="18" name="Shape 15"/>
          <p:cNvSpPr/>
          <p:nvPr/>
        </p:nvSpPr>
        <p:spPr>
          <a:xfrm>
            <a:off x="4462272" y="1600200"/>
            <a:ext cx="475488" cy="475488"/>
          </a:xfrm>
          <a:prstGeom prst="ellipse">
            <a:avLst/>
          </a:prstGeom>
          <a:solidFill>
            <a:srgbClr val="00704A"/>
          </a:solidFill>
          <a:ln w="12700">
            <a:solidFill>
              <a:srgbClr val="00704A"/>
            </a:solidFill>
            <a:prstDash val="solid"/>
          </a:ln>
        </p:spPr>
      </p:sp>
      <p:sp>
        <p:nvSpPr>
          <p:cNvPr id="19" name="Text 16"/>
          <p:cNvSpPr txBox="1"/>
          <p:nvPr/>
        </p:nvSpPr>
        <p:spPr>
          <a:xfrm>
            <a:off x="4462272" y="1600200"/>
            <a:ext cx="475488" cy="475488"/>
          </a:xfrm>
          <a:prstGeom prst="rect">
            <a:avLst/>
          </a:prstGeom>
          <a:noFill/>
          <a:ln/>
        </p:spPr>
        <p:txBody>
          <a:bodyPr wrap="square" lIns="0" tIns="0" rIns="0" bIns="0" rtlCol="0" anchor="ctr"/>
          <a:lstStyle/>
          <a:p>
            <a:pPr marL="0" indent="0" algn="ctr">
              <a:buNone/>
            </a:pPr>
            <a:r>
              <a:rPr lang="fr-FR" sz="1352" b="1" dirty="0">
                <a:solidFill>
                  <a:srgbClr val="FFFFFF"/>
                </a:solidFill>
                <a:latin typeface="Calibri" pitchFamily="34" charset="0"/>
                <a:ea typeface="Calibri" pitchFamily="34" charset="-122"/>
                <a:cs typeface="Calibri" pitchFamily="34" charset="-120"/>
              </a:rPr>
              <a:t>2</a:t>
            </a:r>
            <a:endParaRPr lang="fr-FR" sz="1352" dirty="0"/>
          </a:p>
        </p:txBody>
      </p:sp>
      <p:sp>
        <p:nvSpPr>
          <p:cNvPr id="20" name="Text 17"/>
          <p:cNvSpPr txBox="1"/>
          <p:nvPr/>
        </p:nvSpPr>
        <p:spPr>
          <a:xfrm>
            <a:off x="5074920" y="1463040"/>
            <a:ext cx="26974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Ne pas raccorder naïvement</a:t>
            </a:r>
            <a:endParaRPr lang="fr-FR" sz="1250" dirty="0"/>
          </a:p>
        </p:txBody>
      </p:sp>
      <p:sp>
        <p:nvSpPr>
          <p:cNvPr id="21" name="Text 18"/>
          <p:cNvSpPr txBox="1"/>
          <p:nvPr/>
        </p:nvSpPr>
        <p:spPr>
          <a:xfrm>
            <a:off x="5074920" y="1783080"/>
            <a:ext cx="2697480" cy="530352"/>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Toute série DMSP–VIIRS exige une harmonisation documentée.</a:t>
            </a:r>
            <a:endParaRPr lang="fr-FR" sz="1050" dirty="0"/>
          </a:p>
        </p:txBody>
      </p:sp>
      <p:sp>
        <p:nvSpPr>
          <p:cNvPr id="22" name="Shape 19"/>
          <p:cNvSpPr/>
          <p:nvPr/>
        </p:nvSpPr>
        <p:spPr>
          <a:xfrm>
            <a:off x="548640" y="2468880"/>
            <a:ext cx="3593592" cy="969264"/>
          </a:xfrm>
          <a:prstGeom prst="roundRect">
            <a:avLst>
              <a:gd name="adj" fmla="val 7547"/>
            </a:avLst>
          </a:prstGeom>
          <a:solidFill>
            <a:srgbClr val="F4F7F5"/>
          </a:solidFill>
          <a:ln w="9525">
            <a:solidFill>
              <a:srgbClr val="D5DED9"/>
            </a:solidFill>
            <a:prstDash val="solid"/>
          </a:ln>
        </p:spPr>
      </p:sp>
      <p:sp>
        <p:nvSpPr>
          <p:cNvPr id="23" name="Shape 20"/>
          <p:cNvSpPr/>
          <p:nvPr/>
        </p:nvSpPr>
        <p:spPr>
          <a:xfrm>
            <a:off x="713232" y="2697480"/>
            <a:ext cx="475488" cy="475488"/>
          </a:xfrm>
          <a:prstGeom prst="ellipse">
            <a:avLst/>
          </a:prstGeom>
          <a:solidFill>
            <a:srgbClr val="00704A"/>
          </a:solidFill>
          <a:ln w="12700">
            <a:solidFill>
              <a:srgbClr val="00704A"/>
            </a:solidFill>
            <a:prstDash val="solid"/>
          </a:ln>
        </p:spPr>
      </p:sp>
      <p:sp>
        <p:nvSpPr>
          <p:cNvPr id="24" name="Text 21"/>
          <p:cNvSpPr txBox="1"/>
          <p:nvPr/>
        </p:nvSpPr>
        <p:spPr>
          <a:xfrm>
            <a:off x="713232" y="2697480"/>
            <a:ext cx="475488" cy="475488"/>
          </a:xfrm>
          <a:prstGeom prst="rect">
            <a:avLst/>
          </a:prstGeom>
          <a:noFill/>
          <a:ln/>
        </p:spPr>
        <p:txBody>
          <a:bodyPr wrap="square" lIns="0" tIns="0" rIns="0" bIns="0" rtlCol="0" anchor="ctr"/>
          <a:lstStyle/>
          <a:p>
            <a:pPr marL="0" indent="0" algn="ctr">
              <a:buNone/>
            </a:pPr>
            <a:r>
              <a:rPr lang="fr-FR" sz="1352" b="1" dirty="0">
                <a:solidFill>
                  <a:srgbClr val="FFFFFF"/>
                </a:solidFill>
                <a:latin typeface="Calibri" pitchFamily="34" charset="0"/>
                <a:ea typeface="Calibri" pitchFamily="34" charset="-122"/>
                <a:cs typeface="Calibri" pitchFamily="34" charset="-120"/>
              </a:rPr>
              <a:t>3</a:t>
            </a:r>
            <a:endParaRPr lang="fr-FR" sz="1352" dirty="0"/>
          </a:p>
        </p:txBody>
      </p:sp>
      <p:sp>
        <p:nvSpPr>
          <p:cNvPr id="25" name="Text 22"/>
          <p:cNvSpPr txBox="1"/>
          <p:nvPr/>
        </p:nvSpPr>
        <p:spPr>
          <a:xfrm>
            <a:off x="1325880" y="2560320"/>
            <a:ext cx="26974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Déclarer et tester le seuil</a:t>
            </a:r>
            <a:endParaRPr lang="fr-FR" sz="1250" dirty="0"/>
          </a:p>
        </p:txBody>
      </p:sp>
      <p:sp>
        <p:nvSpPr>
          <p:cNvPr id="26" name="Text 23"/>
          <p:cNvSpPr txBox="1"/>
          <p:nvPr/>
        </p:nvSpPr>
        <p:spPr>
          <a:xfrm>
            <a:off x="1325880" y="2880360"/>
            <a:ext cx="2697480" cy="530352"/>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Montrer que le résultat résiste à une plage raisonnable.</a:t>
            </a:r>
            <a:endParaRPr lang="fr-FR" sz="1050" dirty="0"/>
          </a:p>
        </p:txBody>
      </p:sp>
      <p:sp>
        <p:nvSpPr>
          <p:cNvPr id="27" name="Shape 24"/>
          <p:cNvSpPr/>
          <p:nvPr/>
        </p:nvSpPr>
        <p:spPr>
          <a:xfrm>
            <a:off x="4297680" y="2468880"/>
            <a:ext cx="3593592" cy="969264"/>
          </a:xfrm>
          <a:prstGeom prst="roundRect">
            <a:avLst>
              <a:gd name="adj" fmla="val 7547"/>
            </a:avLst>
          </a:prstGeom>
          <a:solidFill>
            <a:srgbClr val="F4F7F5"/>
          </a:solidFill>
          <a:ln w="9525">
            <a:solidFill>
              <a:srgbClr val="D5DED9"/>
            </a:solidFill>
            <a:prstDash val="solid"/>
          </a:ln>
        </p:spPr>
      </p:sp>
      <p:sp>
        <p:nvSpPr>
          <p:cNvPr id="28" name="Shape 25"/>
          <p:cNvSpPr/>
          <p:nvPr/>
        </p:nvSpPr>
        <p:spPr>
          <a:xfrm>
            <a:off x="4462272" y="2697480"/>
            <a:ext cx="475488" cy="475488"/>
          </a:xfrm>
          <a:prstGeom prst="ellipse">
            <a:avLst/>
          </a:prstGeom>
          <a:solidFill>
            <a:srgbClr val="00704A"/>
          </a:solidFill>
          <a:ln w="12700">
            <a:solidFill>
              <a:srgbClr val="00704A"/>
            </a:solidFill>
            <a:prstDash val="solid"/>
          </a:ln>
        </p:spPr>
      </p:sp>
      <p:sp>
        <p:nvSpPr>
          <p:cNvPr id="29" name="Text 26"/>
          <p:cNvSpPr txBox="1"/>
          <p:nvPr/>
        </p:nvSpPr>
        <p:spPr>
          <a:xfrm>
            <a:off x="4462272" y="2697480"/>
            <a:ext cx="475488" cy="475488"/>
          </a:xfrm>
          <a:prstGeom prst="rect">
            <a:avLst/>
          </a:prstGeom>
          <a:noFill/>
          <a:ln/>
        </p:spPr>
        <p:txBody>
          <a:bodyPr wrap="square" lIns="0" tIns="0" rIns="0" bIns="0" rtlCol="0" anchor="ctr"/>
          <a:lstStyle/>
          <a:p>
            <a:pPr marL="0" indent="0" algn="ctr">
              <a:buNone/>
            </a:pPr>
            <a:r>
              <a:rPr lang="fr-FR" sz="1352" b="1" dirty="0">
                <a:solidFill>
                  <a:srgbClr val="FFFFFF"/>
                </a:solidFill>
                <a:latin typeface="Calibri" pitchFamily="34" charset="0"/>
                <a:ea typeface="Calibri" pitchFamily="34" charset="-122"/>
                <a:cs typeface="Calibri" pitchFamily="34" charset="-120"/>
              </a:rPr>
              <a:t>4</a:t>
            </a:r>
            <a:endParaRPr lang="fr-FR" sz="1352" dirty="0"/>
          </a:p>
        </p:txBody>
      </p:sp>
      <p:sp>
        <p:nvSpPr>
          <p:cNvPr id="30" name="Text 27"/>
          <p:cNvSpPr txBox="1"/>
          <p:nvPr/>
        </p:nvSpPr>
        <p:spPr>
          <a:xfrm>
            <a:off x="5074920" y="2560320"/>
            <a:ext cx="26974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Masquer ce qu’on n’étudie pas</a:t>
            </a:r>
            <a:endParaRPr lang="fr-FR" sz="1250" dirty="0"/>
          </a:p>
        </p:txBody>
      </p:sp>
      <p:sp>
        <p:nvSpPr>
          <p:cNvPr id="31" name="Text 28"/>
          <p:cNvSpPr txBox="1"/>
          <p:nvPr/>
        </p:nvSpPr>
        <p:spPr>
          <a:xfrm>
            <a:off x="5074920" y="2880360"/>
            <a:ext cx="2697480" cy="530352"/>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Bruit de fond, torchères, pêche au lamparo, feux.</a:t>
            </a:r>
            <a:endParaRPr lang="fr-FR" sz="1050" dirty="0"/>
          </a:p>
        </p:txBody>
      </p:sp>
      <p:sp>
        <p:nvSpPr>
          <p:cNvPr id="32" name="Shape 29"/>
          <p:cNvSpPr/>
          <p:nvPr/>
        </p:nvSpPr>
        <p:spPr>
          <a:xfrm>
            <a:off x="548640" y="3566160"/>
            <a:ext cx="3593592" cy="969264"/>
          </a:xfrm>
          <a:prstGeom prst="roundRect">
            <a:avLst>
              <a:gd name="adj" fmla="val 7547"/>
            </a:avLst>
          </a:prstGeom>
          <a:solidFill>
            <a:srgbClr val="F4F7F5"/>
          </a:solidFill>
          <a:ln w="9525">
            <a:solidFill>
              <a:srgbClr val="D5DED9"/>
            </a:solidFill>
            <a:prstDash val="solid"/>
          </a:ln>
        </p:spPr>
      </p:sp>
      <p:sp>
        <p:nvSpPr>
          <p:cNvPr id="33" name="Shape 30"/>
          <p:cNvSpPr/>
          <p:nvPr/>
        </p:nvSpPr>
        <p:spPr>
          <a:xfrm>
            <a:off x="713232" y="3794760"/>
            <a:ext cx="475488" cy="475488"/>
          </a:xfrm>
          <a:prstGeom prst="ellipse">
            <a:avLst/>
          </a:prstGeom>
          <a:solidFill>
            <a:srgbClr val="00704A"/>
          </a:solidFill>
          <a:ln w="12700">
            <a:solidFill>
              <a:srgbClr val="00704A"/>
            </a:solidFill>
            <a:prstDash val="solid"/>
          </a:ln>
        </p:spPr>
      </p:sp>
      <p:sp>
        <p:nvSpPr>
          <p:cNvPr id="34" name="Text 31"/>
          <p:cNvSpPr txBox="1"/>
          <p:nvPr/>
        </p:nvSpPr>
        <p:spPr>
          <a:xfrm>
            <a:off x="713232" y="3794760"/>
            <a:ext cx="475488" cy="475488"/>
          </a:xfrm>
          <a:prstGeom prst="rect">
            <a:avLst/>
          </a:prstGeom>
          <a:noFill/>
          <a:ln/>
        </p:spPr>
        <p:txBody>
          <a:bodyPr wrap="square" lIns="0" tIns="0" rIns="0" bIns="0" rtlCol="0" anchor="ctr"/>
          <a:lstStyle/>
          <a:p>
            <a:pPr marL="0" indent="0" algn="ctr">
              <a:buNone/>
            </a:pPr>
            <a:r>
              <a:rPr lang="fr-FR" sz="1352" b="1" dirty="0">
                <a:solidFill>
                  <a:srgbClr val="FFFFFF"/>
                </a:solidFill>
                <a:latin typeface="Calibri" pitchFamily="34" charset="0"/>
                <a:ea typeface="Calibri" pitchFamily="34" charset="-122"/>
                <a:cs typeface="Calibri" pitchFamily="34" charset="-120"/>
              </a:rPr>
              <a:t>5</a:t>
            </a:r>
            <a:endParaRPr lang="fr-FR" sz="1352" dirty="0"/>
          </a:p>
        </p:txBody>
      </p:sp>
      <p:sp>
        <p:nvSpPr>
          <p:cNvPr id="35" name="Text 32"/>
          <p:cNvSpPr txBox="1"/>
          <p:nvPr/>
        </p:nvSpPr>
        <p:spPr>
          <a:xfrm>
            <a:off x="1325880" y="3657600"/>
            <a:ext cx="26974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Normaliser à dessein</a:t>
            </a:r>
            <a:endParaRPr lang="fr-FR" sz="1250" dirty="0"/>
          </a:p>
        </p:txBody>
      </p:sp>
      <p:sp>
        <p:nvSpPr>
          <p:cNvPr id="36" name="Text 33"/>
          <p:cNvSpPr txBox="1"/>
          <p:nvPr/>
        </p:nvSpPr>
        <p:spPr>
          <a:xfrm>
            <a:off x="1325880" y="3977640"/>
            <a:ext cx="2697480" cy="530352"/>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Par habitant, par km², ou non — l’annoncer et le justifier.</a:t>
            </a:r>
            <a:endParaRPr lang="fr-FR" sz="1050" dirty="0"/>
          </a:p>
        </p:txBody>
      </p:sp>
      <p:sp>
        <p:nvSpPr>
          <p:cNvPr id="37" name="Shape 34"/>
          <p:cNvSpPr/>
          <p:nvPr/>
        </p:nvSpPr>
        <p:spPr>
          <a:xfrm>
            <a:off x="4297680" y="3566160"/>
            <a:ext cx="3593592" cy="969264"/>
          </a:xfrm>
          <a:prstGeom prst="roundRect">
            <a:avLst>
              <a:gd name="adj" fmla="val 7547"/>
            </a:avLst>
          </a:prstGeom>
          <a:solidFill>
            <a:srgbClr val="F4F7F5"/>
          </a:solidFill>
          <a:ln w="9525">
            <a:solidFill>
              <a:srgbClr val="D5DED9"/>
            </a:solidFill>
            <a:prstDash val="solid"/>
          </a:ln>
        </p:spPr>
      </p:sp>
      <p:sp>
        <p:nvSpPr>
          <p:cNvPr id="38" name="Shape 35"/>
          <p:cNvSpPr/>
          <p:nvPr/>
        </p:nvSpPr>
        <p:spPr>
          <a:xfrm>
            <a:off x="4462272" y="3794760"/>
            <a:ext cx="475488" cy="475488"/>
          </a:xfrm>
          <a:prstGeom prst="ellipse">
            <a:avLst/>
          </a:prstGeom>
          <a:solidFill>
            <a:srgbClr val="00704A"/>
          </a:solidFill>
          <a:ln w="12700">
            <a:solidFill>
              <a:srgbClr val="00704A"/>
            </a:solidFill>
            <a:prstDash val="solid"/>
          </a:ln>
        </p:spPr>
      </p:sp>
      <p:sp>
        <p:nvSpPr>
          <p:cNvPr id="39" name="Text 36"/>
          <p:cNvSpPr txBox="1"/>
          <p:nvPr/>
        </p:nvSpPr>
        <p:spPr>
          <a:xfrm>
            <a:off x="4462272" y="3794760"/>
            <a:ext cx="475488" cy="475488"/>
          </a:xfrm>
          <a:prstGeom prst="rect">
            <a:avLst/>
          </a:prstGeom>
          <a:noFill/>
          <a:ln/>
        </p:spPr>
        <p:txBody>
          <a:bodyPr wrap="square" lIns="0" tIns="0" rIns="0" bIns="0" rtlCol="0" anchor="ctr"/>
          <a:lstStyle/>
          <a:p>
            <a:pPr marL="0" indent="0" algn="ctr">
              <a:buNone/>
            </a:pPr>
            <a:r>
              <a:rPr lang="fr-FR" sz="1352" b="1" dirty="0">
                <a:solidFill>
                  <a:srgbClr val="FFFFFF"/>
                </a:solidFill>
                <a:latin typeface="Calibri" pitchFamily="34" charset="0"/>
                <a:ea typeface="Calibri" pitchFamily="34" charset="-122"/>
                <a:cs typeface="Calibri" pitchFamily="34" charset="-120"/>
              </a:rPr>
              <a:t>6</a:t>
            </a:r>
            <a:endParaRPr lang="fr-FR" sz="1352" dirty="0"/>
          </a:p>
        </p:txBody>
      </p:sp>
      <p:sp>
        <p:nvSpPr>
          <p:cNvPr id="40" name="Text 37"/>
          <p:cNvSpPr txBox="1"/>
          <p:nvPr/>
        </p:nvSpPr>
        <p:spPr>
          <a:xfrm>
            <a:off x="5074920" y="3657600"/>
            <a:ext cx="26974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Valider sur le terrain</a:t>
            </a:r>
            <a:endParaRPr lang="fr-FR" sz="1250" dirty="0"/>
          </a:p>
        </p:txBody>
      </p:sp>
      <p:sp>
        <p:nvSpPr>
          <p:cNvPr id="41" name="Text 38"/>
          <p:cNvSpPr txBox="1"/>
          <p:nvPr/>
        </p:nvSpPr>
        <p:spPr>
          <a:xfrm>
            <a:off x="5074920" y="3977640"/>
            <a:ext cx="2697480" cy="530352"/>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Recensement, enquêtes, données du distributeur — sources indépendantes.</a:t>
            </a:r>
            <a:endParaRPr lang="fr-FR" sz="1050" dirty="0"/>
          </a:p>
        </p:txBody>
      </p:sp>
      <p:sp>
        <p:nvSpPr>
          <p:cNvPr id="42" name="Shape 39"/>
          <p:cNvSpPr/>
          <p:nvPr/>
        </p:nvSpPr>
        <p:spPr>
          <a:xfrm>
            <a:off x="548640" y="4663440"/>
            <a:ext cx="3593592" cy="969264"/>
          </a:xfrm>
          <a:prstGeom prst="roundRect">
            <a:avLst>
              <a:gd name="adj" fmla="val 7547"/>
            </a:avLst>
          </a:prstGeom>
          <a:solidFill>
            <a:srgbClr val="F4F7F5"/>
          </a:solidFill>
          <a:ln w="9525">
            <a:solidFill>
              <a:srgbClr val="D5DED9"/>
            </a:solidFill>
            <a:prstDash val="solid"/>
          </a:ln>
        </p:spPr>
      </p:sp>
      <p:sp>
        <p:nvSpPr>
          <p:cNvPr id="43" name="Shape 40"/>
          <p:cNvSpPr/>
          <p:nvPr/>
        </p:nvSpPr>
        <p:spPr>
          <a:xfrm>
            <a:off x="713232" y="4892040"/>
            <a:ext cx="475488" cy="475488"/>
          </a:xfrm>
          <a:prstGeom prst="ellipse">
            <a:avLst/>
          </a:prstGeom>
          <a:solidFill>
            <a:srgbClr val="F5C242"/>
          </a:solidFill>
          <a:ln w="12700">
            <a:solidFill>
              <a:srgbClr val="F5C242"/>
            </a:solidFill>
            <a:prstDash val="solid"/>
          </a:ln>
        </p:spPr>
      </p:sp>
      <p:sp>
        <p:nvSpPr>
          <p:cNvPr id="44" name="Text 41"/>
          <p:cNvSpPr txBox="1"/>
          <p:nvPr/>
        </p:nvSpPr>
        <p:spPr>
          <a:xfrm>
            <a:off x="713232" y="4892040"/>
            <a:ext cx="475488" cy="475488"/>
          </a:xfrm>
          <a:prstGeom prst="rect">
            <a:avLst/>
          </a:prstGeom>
          <a:noFill/>
          <a:ln/>
        </p:spPr>
        <p:txBody>
          <a:bodyPr wrap="square" lIns="0" tIns="0" rIns="0" bIns="0" rtlCol="0" anchor="ctr"/>
          <a:lstStyle/>
          <a:p>
            <a:pPr marL="0" indent="0" algn="ctr">
              <a:buNone/>
            </a:pPr>
            <a:r>
              <a:rPr lang="fr-FR" sz="1352" b="1" dirty="0">
                <a:solidFill>
                  <a:srgbClr val="00553A"/>
                </a:solidFill>
                <a:latin typeface="Calibri" pitchFamily="34" charset="0"/>
                <a:ea typeface="Calibri" pitchFamily="34" charset="-122"/>
                <a:cs typeface="Calibri" pitchFamily="34" charset="-120"/>
              </a:rPr>
              <a:t>7</a:t>
            </a:r>
            <a:endParaRPr lang="fr-FR" sz="1352" dirty="0"/>
          </a:p>
        </p:txBody>
      </p:sp>
      <p:sp>
        <p:nvSpPr>
          <p:cNvPr id="45" name="Text 42"/>
          <p:cNvSpPr txBox="1"/>
          <p:nvPr/>
        </p:nvSpPr>
        <p:spPr>
          <a:xfrm>
            <a:off x="1325880" y="4754880"/>
            <a:ext cx="26974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Préférer les évolutions</a:t>
            </a:r>
            <a:endParaRPr lang="fr-FR" sz="1250" dirty="0"/>
          </a:p>
        </p:txBody>
      </p:sp>
      <p:sp>
        <p:nvSpPr>
          <p:cNvPr id="46" name="Text 43"/>
          <p:cNvSpPr txBox="1"/>
          <p:nvPr/>
        </p:nvSpPr>
        <p:spPr>
          <a:xfrm>
            <a:off x="1325880" y="5074920"/>
            <a:ext cx="2697480" cy="530352"/>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Les différences annulent une grande part des erreurs d’étalonnage.</a:t>
            </a:r>
            <a:endParaRPr lang="fr-FR" sz="1050" dirty="0"/>
          </a:p>
        </p:txBody>
      </p:sp>
      <p:sp>
        <p:nvSpPr>
          <p:cNvPr id="47" name="Shape 44"/>
          <p:cNvSpPr/>
          <p:nvPr/>
        </p:nvSpPr>
        <p:spPr>
          <a:xfrm>
            <a:off x="4297680" y="4663440"/>
            <a:ext cx="3593592" cy="969264"/>
          </a:xfrm>
          <a:prstGeom prst="roundRect">
            <a:avLst>
              <a:gd name="adj" fmla="val 7547"/>
            </a:avLst>
          </a:prstGeom>
          <a:solidFill>
            <a:srgbClr val="F4F7F5"/>
          </a:solidFill>
          <a:ln w="9525">
            <a:solidFill>
              <a:srgbClr val="D5DED9"/>
            </a:solidFill>
            <a:prstDash val="solid"/>
          </a:ln>
        </p:spPr>
      </p:sp>
      <p:sp>
        <p:nvSpPr>
          <p:cNvPr id="48" name="Shape 45"/>
          <p:cNvSpPr/>
          <p:nvPr/>
        </p:nvSpPr>
        <p:spPr>
          <a:xfrm>
            <a:off x="4462272" y="4892040"/>
            <a:ext cx="475488" cy="475488"/>
          </a:xfrm>
          <a:prstGeom prst="ellipse">
            <a:avLst/>
          </a:prstGeom>
          <a:solidFill>
            <a:srgbClr val="00704A"/>
          </a:solidFill>
          <a:ln w="12700">
            <a:solidFill>
              <a:srgbClr val="00704A"/>
            </a:solidFill>
            <a:prstDash val="solid"/>
          </a:ln>
        </p:spPr>
      </p:sp>
      <p:sp>
        <p:nvSpPr>
          <p:cNvPr id="49" name="Text 46"/>
          <p:cNvSpPr txBox="1"/>
          <p:nvPr/>
        </p:nvSpPr>
        <p:spPr>
          <a:xfrm>
            <a:off x="4462272" y="4892040"/>
            <a:ext cx="475488" cy="475488"/>
          </a:xfrm>
          <a:prstGeom prst="rect">
            <a:avLst/>
          </a:prstGeom>
          <a:noFill/>
          <a:ln/>
        </p:spPr>
        <p:txBody>
          <a:bodyPr wrap="square" lIns="0" tIns="0" rIns="0" bIns="0" rtlCol="0" anchor="ctr"/>
          <a:lstStyle/>
          <a:p>
            <a:pPr marL="0" indent="0" algn="ctr">
              <a:buNone/>
            </a:pPr>
            <a:r>
              <a:rPr lang="fr-FR" sz="1352" b="1" dirty="0">
                <a:solidFill>
                  <a:srgbClr val="FFFFFF"/>
                </a:solidFill>
                <a:latin typeface="Calibri" pitchFamily="34" charset="0"/>
                <a:ea typeface="Calibri" pitchFamily="34" charset="-122"/>
                <a:cs typeface="Calibri" pitchFamily="34" charset="-120"/>
              </a:rPr>
              <a:t>8</a:t>
            </a:r>
            <a:endParaRPr lang="fr-FR" sz="1352" dirty="0"/>
          </a:p>
        </p:txBody>
      </p:sp>
      <p:sp>
        <p:nvSpPr>
          <p:cNvPr id="50" name="Text 47"/>
          <p:cNvSpPr txBox="1"/>
          <p:nvPr/>
        </p:nvSpPr>
        <p:spPr>
          <a:xfrm>
            <a:off x="5074920" y="4754880"/>
            <a:ext cx="2697480" cy="320040"/>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Publier code et limites</a:t>
            </a:r>
            <a:endParaRPr lang="fr-FR" sz="1250" dirty="0"/>
          </a:p>
        </p:txBody>
      </p:sp>
      <p:sp>
        <p:nvSpPr>
          <p:cNvPr id="51" name="Text 48"/>
          <p:cNvSpPr txBox="1"/>
          <p:nvPr/>
        </p:nvSpPr>
        <p:spPr>
          <a:xfrm>
            <a:off x="5074920" y="5074920"/>
            <a:ext cx="2697480" cy="530352"/>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README avec méthode, sources, licence et réserves.</a:t>
            </a:r>
            <a:endParaRPr lang="fr-FR" sz="1050" dirty="0"/>
          </a:p>
        </p:txBody>
      </p:sp>
      <p:sp>
        <p:nvSpPr>
          <p:cNvPr id="52" name="Shape 49"/>
          <p:cNvSpPr/>
          <p:nvPr/>
        </p:nvSpPr>
        <p:spPr>
          <a:xfrm>
            <a:off x="8046720" y="1371600"/>
            <a:ext cx="3593592" cy="4261104"/>
          </a:xfrm>
          <a:prstGeom prst="roundRect">
            <a:avLst>
              <a:gd name="adj" fmla="val 2036"/>
            </a:avLst>
          </a:prstGeom>
          <a:solidFill>
            <a:srgbClr val="00553A"/>
          </a:solidFill>
          <a:ln w="9525">
            <a:solidFill>
              <a:srgbClr val="00553A"/>
            </a:solidFill>
            <a:prstDash val="solid"/>
          </a:ln>
        </p:spPr>
      </p:sp>
      <p:pic>
        <p:nvPicPr>
          <p:cNvPr id="53" name="Image 1" descr="preencoded.png"/>
          <p:cNvPicPr>
            <a:picLocks noChangeAspect="1"/>
          </p:cNvPicPr>
          <p:nvPr/>
        </p:nvPicPr>
        <p:blipFill>
          <a:blip r:embed="rId4"/>
          <a:stretch>
            <a:fillRect/>
          </a:stretch>
        </p:blipFill>
        <p:spPr>
          <a:xfrm>
            <a:off x="8275320" y="1600200"/>
            <a:ext cx="411480" cy="411480"/>
          </a:xfrm>
          <a:prstGeom prst="rect">
            <a:avLst/>
          </a:prstGeom>
        </p:spPr>
      </p:pic>
      <p:sp>
        <p:nvSpPr>
          <p:cNvPr id="54" name="Text 50"/>
          <p:cNvSpPr txBox="1"/>
          <p:nvPr/>
        </p:nvSpPr>
        <p:spPr>
          <a:xfrm>
            <a:off x="8823960" y="1600200"/>
            <a:ext cx="2743200" cy="411480"/>
          </a:xfrm>
          <a:prstGeom prst="rect">
            <a:avLst/>
          </a:prstGeom>
          <a:noFill/>
          <a:ln/>
        </p:spPr>
        <p:txBody>
          <a:bodyPr wrap="square" lIns="0" tIns="0" rIns="0" bIns="0" rtlCol="0" anchor="ctr"/>
          <a:lstStyle/>
          <a:p>
            <a:pPr marL="0" indent="0">
              <a:buNone/>
            </a:pPr>
            <a:r>
              <a:rPr lang="fr-FR" sz="1200" b="1" kern="0" spc="200" dirty="0">
                <a:solidFill>
                  <a:srgbClr val="F5C242"/>
                </a:solidFill>
                <a:latin typeface="Calibri" pitchFamily="34" charset="0"/>
                <a:ea typeface="Calibri" pitchFamily="34" charset="-122"/>
                <a:cs typeface="Calibri" pitchFamily="34" charset="-120"/>
              </a:rPr>
              <a:t>LA RÈGLE D’OR</a:t>
            </a:r>
            <a:endParaRPr lang="fr-FR" sz="1200" dirty="0"/>
          </a:p>
        </p:txBody>
      </p:sp>
      <p:sp>
        <p:nvSpPr>
          <p:cNvPr id="55" name="Text 51"/>
          <p:cNvSpPr txBox="1"/>
          <p:nvPr/>
        </p:nvSpPr>
        <p:spPr>
          <a:xfrm>
            <a:off x="8275320" y="2240280"/>
            <a:ext cx="3154680" cy="1828800"/>
          </a:xfrm>
          <a:prstGeom prst="rect">
            <a:avLst/>
          </a:prstGeom>
          <a:noFill/>
          <a:ln/>
        </p:spPr>
        <p:txBody>
          <a:bodyPr wrap="square" lIns="0" tIns="0" rIns="0" bIns="0" rtlCol="0" anchor="t"/>
          <a:lstStyle/>
          <a:p>
            <a:pPr marL="0" indent="0">
              <a:buNone/>
            </a:pPr>
            <a:r>
              <a:rPr lang="fr-FR" sz="1600" b="1" dirty="0">
                <a:solidFill>
                  <a:srgbClr val="FFFFFF"/>
                </a:solidFill>
                <a:latin typeface="Calibri" pitchFamily="34" charset="0"/>
                <a:ea typeface="Calibri" pitchFamily="34" charset="-122"/>
                <a:cs typeface="Calibri" pitchFamily="34" charset="-120"/>
              </a:rPr>
              <a:t>Énoncez en une phrase ce qui doit être vrai sur les comportements d’éclairage pour que votre conclusion tienne.</a:t>
            </a:r>
            <a:endParaRPr lang="fr-FR" sz="1600" dirty="0"/>
          </a:p>
        </p:txBody>
      </p:sp>
      <p:sp>
        <p:nvSpPr>
          <p:cNvPr id="56" name="Text 52"/>
          <p:cNvSpPr txBox="1"/>
          <p:nvPr/>
        </p:nvSpPr>
        <p:spPr>
          <a:xfrm>
            <a:off x="8275320" y="4343400"/>
            <a:ext cx="3154680" cy="1005840"/>
          </a:xfrm>
          <a:prstGeom prst="rect">
            <a:avLst/>
          </a:prstGeom>
          <a:noFill/>
          <a:ln/>
        </p:spPr>
        <p:txBody>
          <a:bodyPr wrap="square" lIns="0" tIns="0" rIns="0" bIns="0" rtlCol="0" anchor="t"/>
          <a:lstStyle/>
          <a:p>
            <a:pPr marL="0" indent="0">
              <a:buNone/>
            </a:pPr>
            <a:r>
              <a:rPr lang="fr-FR" sz="1200" i="1" dirty="0">
                <a:solidFill>
                  <a:srgbClr val="A9D3BE"/>
                </a:solidFill>
                <a:latin typeface="Calibri" pitchFamily="34" charset="0"/>
                <a:ea typeface="Calibri" pitchFamily="34" charset="-122"/>
                <a:cs typeface="Calibri" pitchFamily="34" charset="-120"/>
              </a:rPr>
              <a:t>Si vous ne pouvez pas écrire cette phrase, vous n’avez pas encore de résultat.</a:t>
            </a:r>
            <a:endParaRPr lang="fr-FR" sz="1200" dirty="0"/>
          </a:p>
        </p:txBody>
      </p:sp>
      <p:sp>
        <p:nvSpPr>
          <p:cNvPr id="57" name="Shape 53"/>
          <p:cNvSpPr/>
          <p:nvPr/>
        </p:nvSpPr>
        <p:spPr>
          <a:xfrm>
            <a:off x="548640" y="5760720"/>
            <a:ext cx="11094415" cy="411480"/>
          </a:xfrm>
          <a:prstGeom prst="roundRect">
            <a:avLst>
              <a:gd name="adj" fmla="val 17778"/>
            </a:avLst>
          </a:prstGeom>
          <a:solidFill>
            <a:srgbClr val="E8F5EF"/>
          </a:solidFill>
          <a:ln w="9525">
            <a:solidFill>
              <a:srgbClr val="E8F5EF"/>
            </a:solidFill>
            <a:prstDash val="solid"/>
          </a:ln>
        </p:spPr>
      </p:sp>
      <p:sp>
        <p:nvSpPr>
          <p:cNvPr id="58" name="Text 54"/>
          <p:cNvSpPr txBox="1"/>
          <p:nvPr/>
        </p:nvSpPr>
        <p:spPr>
          <a:xfrm>
            <a:off x="777240" y="5760720"/>
            <a:ext cx="10637215" cy="411480"/>
          </a:xfrm>
          <a:prstGeom prst="rect">
            <a:avLst/>
          </a:prstGeom>
          <a:noFill/>
          <a:ln/>
        </p:spPr>
        <p:txBody>
          <a:bodyPr wrap="square" lIns="0" tIns="0" rIns="0" bIns="0" rtlCol="0" anchor="ctr"/>
          <a:lstStyle/>
          <a:p>
            <a:pPr marL="0" indent="0">
              <a:buNone/>
            </a:pPr>
            <a:r>
              <a:rPr lang="fr-FR" sz="1150" b="1" dirty="0">
                <a:solidFill>
                  <a:srgbClr val="00704A"/>
                </a:solidFill>
                <a:latin typeface="Calibri" pitchFamily="34" charset="0"/>
                <a:ea typeface="Calibri" pitchFamily="34" charset="-122"/>
                <a:cs typeface="Calibri" pitchFamily="34" charset="-120"/>
              </a:rPr>
              <a:t>Partagez : </a:t>
            </a:r>
            <a:r>
              <a:rPr lang="fr-FR" sz="1150" dirty="0">
                <a:solidFill>
                  <a:srgbClr val="231F20"/>
                </a:solidFill>
                <a:latin typeface="Calibri" pitchFamily="34" charset="0"/>
                <a:ea typeface="Calibri" pitchFamily="34" charset="-122"/>
                <a:cs typeface="Calibri" pitchFamily="34" charset="-120"/>
              </a:rPr>
              <a:t>un dépôt documenté et réutilisable est la contribution de votre institution à une communauté de pratique partagée.</a:t>
            </a:r>
            <a:endParaRPr lang="fr-FR"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05 · DE LA SÉANCE AUX PROJETS · ÉTHIQUE ET GOUVERNANCE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Éthique, confidentialité et gouvernance des statistiques de lumières</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61</a:t>
            </a:r>
            <a:endParaRPr lang="fr-FR" sz="900" dirty="0"/>
          </a:p>
        </p:txBody>
      </p:sp>
      <p:sp>
        <p:nvSpPr>
          <p:cNvPr id="12" name="Shape 9"/>
          <p:cNvSpPr/>
          <p:nvPr/>
        </p:nvSpPr>
        <p:spPr>
          <a:xfrm>
            <a:off x="548640" y="1371600"/>
            <a:ext cx="3593592" cy="1938528"/>
          </a:xfrm>
          <a:prstGeom prst="roundRect">
            <a:avLst>
              <a:gd name="adj" fmla="val 3774"/>
            </a:avLst>
          </a:prstGeom>
          <a:solidFill>
            <a:srgbClr val="F4F7F5"/>
          </a:solidFill>
          <a:ln w="9525">
            <a:solidFill>
              <a:srgbClr val="D5DED9"/>
            </a:solidFill>
            <a:prstDash val="solid"/>
          </a:ln>
        </p:spPr>
      </p:sp>
      <p:sp>
        <p:nvSpPr>
          <p:cNvPr id="13" name="Shape 10"/>
          <p:cNvSpPr/>
          <p:nvPr/>
        </p:nvSpPr>
        <p:spPr>
          <a:xfrm>
            <a:off x="749808" y="1572768"/>
            <a:ext cx="530352" cy="530352"/>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87700" y="1710660"/>
            <a:ext cx="254569" cy="254569"/>
          </a:xfrm>
          <a:prstGeom prst="rect">
            <a:avLst/>
          </a:prstGeom>
        </p:spPr>
      </p:pic>
      <p:sp>
        <p:nvSpPr>
          <p:cNvPr id="15" name="Text 11"/>
          <p:cNvSpPr txBox="1"/>
          <p:nvPr/>
        </p:nvSpPr>
        <p:spPr>
          <a:xfrm>
            <a:off x="1417320" y="157276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Confidentialité</a:t>
            </a:r>
            <a:endParaRPr lang="fr-FR" sz="1400" dirty="0"/>
          </a:p>
        </p:txBody>
      </p:sp>
      <p:sp>
        <p:nvSpPr>
          <p:cNvPr id="16" name="Text 12"/>
          <p:cNvSpPr txBox="1"/>
          <p:nvPr/>
        </p:nvSpPr>
        <p:spPr>
          <a:xfrm>
            <a:off x="749808" y="2240280"/>
            <a:ext cx="3200400" cy="10058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À ≈ 500 m, les lumières identifient rarement des individus. Le risque augmente en les combinant à des empreintes de bâtiments ou à de l’imagerie haute résolution pour de très petites localités.</a:t>
            </a:r>
            <a:endParaRPr lang="fr-FR" sz="1150" dirty="0"/>
          </a:p>
        </p:txBody>
      </p:sp>
      <p:sp>
        <p:nvSpPr>
          <p:cNvPr id="17" name="Shape 13"/>
          <p:cNvSpPr/>
          <p:nvPr/>
        </p:nvSpPr>
        <p:spPr>
          <a:xfrm>
            <a:off x="4297680" y="1371600"/>
            <a:ext cx="3593592" cy="1938528"/>
          </a:xfrm>
          <a:prstGeom prst="roundRect">
            <a:avLst>
              <a:gd name="adj" fmla="val 3774"/>
            </a:avLst>
          </a:prstGeom>
          <a:solidFill>
            <a:srgbClr val="F4F7F5"/>
          </a:solidFill>
          <a:ln w="9525">
            <a:solidFill>
              <a:srgbClr val="D5DED9"/>
            </a:solidFill>
            <a:prstDash val="solid"/>
          </a:ln>
        </p:spPr>
      </p:sp>
      <p:sp>
        <p:nvSpPr>
          <p:cNvPr id="18" name="Shape 14"/>
          <p:cNvSpPr/>
          <p:nvPr/>
        </p:nvSpPr>
        <p:spPr>
          <a:xfrm>
            <a:off x="4498848" y="1572768"/>
            <a:ext cx="530352" cy="530352"/>
          </a:xfrm>
          <a:prstGeom prst="ellipse">
            <a:avLst/>
          </a:prstGeom>
          <a:solidFill>
            <a:srgbClr val="00704A"/>
          </a:solidFill>
          <a:ln w="12700">
            <a:solidFill>
              <a:srgbClr val="00704A"/>
            </a:solidFill>
            <a:prstDash val="solid"/>
          </a:ln>
        </p:spPr>
      </p:sp>
      <p:pic>
        <p:nvPicPr>
          <p:cNvPr id="19" name="Image 2" descr="preencoded.png"/>
          <p:cNvPicPr>
            <a:picLocks noChangeAspect="1"/>
          </p:cNvPicPr>
          <p:nvPr/>
        </p:nvPicPr>
        <p:blipFill>
          <a:blip r:embed="rId5"/>
          <a:stretch>
            <a:fillRect/>
          </a:stretch>
        </p:blipFill>
        <p:spPr>
          <a:xfrm>
            <a:off x="4636740" y="1710660"/>
            <a:ext cx="254569" cy="254569"/>
          </a:xfrm>
          <a:prstGeom prst="rect">
            <a:avLst/>
          </a:prstGeom>
        </p:spPr>
      </p:pic>
      <p:sp>
        <p:nvSpPr>
          <p:cNvPr id="20" name="Text 15"/>
          <p:cNvSpPr txBox="1"/>
          <p:nvPr/>
        </p:nvSpPr>
        <p:spPr>
          <a:xfrm>
            <a:off x="5166360" y="157276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Sensibilité aux conflits</a:t>
            </a:r>
            <a:endParaRPr lang="fr-FR" sz="1400" dirty="0"/>
          </a:p>
        </p:txBody>
      </p:sp>
      <p:sp>
        <p:nvSpPr>
          <p:cNvPr id="21" name="Text 16"/>
          <p:cNvSpPr txBox="1"/>
          <p:nvPr/>
        </p:nvSpPr>
        <p:spPr>
          <a:xfrm>
            <a:off x="4498848" y="2240280"/>
            <a:ext cx="3200400" cy="10058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cartes d’assombrissement peuvent révéler des déplacements ou des populations vulnérables. Penser à l’agrégation et au calendrier de diffusion.</a:t>
            </a:r>
            <a:endParaRPr lang="fr-FR" sz="1150" dirty="0"/>
          </a:p>
        </p:txBody>
      </p:sp>
      <p:sp>
        <p:nvSpPr>
          <p:cNvPr id="22" name="Shape 17"/>
          <p:cNvSpPr/>
          <p:nvPr/>
        </p:nvSpPr>
        <p:spPr>
          <a:xfrm>
            <a:off x="8046720" y="1371600"/>
            <a:ext cx="3593592" cy="1938528"/>
          </a:xfrm>
          <a:prstGeom prst="roundRect">
            <a:avLst>
              <a:gd name="adj" fmla="val 3774"/>
            </a:avLst>
          </a:prstGeom>
          <a:solidFill>
            <a:srgbClr val="F4F7F5"/>
          </a:solidFill>
          <a:ln w="9525">
            <a:solidFill>
              <a:srgbClr val="D5DED9"/>
            </a:solidFill>
            <a:prstDash val="solid"/>
          </a:ln>
        </p:spPr>
      </p:sp>
      <p:sp>
        <p:nvSpPr>
          <p:cNvPr id="23" name="Shape 18"/>
          <p:cNvSpPr/>
          <p:nvPr/>
        </p:nvSpPr>
        <p:spPr>
          <a:xfrm>
            <a:off x="8247888" y="1572768"/>
            <a:ext cx="530352" cy="530352"/>
          </a:xfrm>
          <a:prstGeom prst="ellipse">
            <a:avLst/>
          </a:prstGeom>
          <a:solidFill>
            <a:srgbClr val="00704A"/>
          </a:solidFill>
          <a:ln w="12700">
            <a:solidFill>
              <a:srgbClr val="00704A"/>
            </a:solidFill>
            <a:prstDash val="solid"/>
          </a:ln>
        </p:spPr>
      </p:sp>
      <p:pic>
        <p:nvPicPr>
          <p:cNvPr id="24" name="Image 3" descr="preencoded.png"/>
          <p:cNvPicPr>
            <a:picLocks noChangeAspect="1"/>
          </p:cNvPicPr>
          <p:nvPr/>
        </p:nvPicPr>
        <p:blipFill>
          <a:blip r:embed="rId6"/>
          <a:stretch>
            <a:fillRect/>
          </a:stretch>
        </p:blipFill>
        <p:spPr>
          <a:xfrm>
            <a:off x="8385780" y="1710660"/>
            <a:ext cx="254569" cy="254569"/>
          </a:xfrm>
          <a:prstGeom prst="rect">
            <a:avLst/>
          </a:prstGeom>
        </p:spPr>
      </p:pic>
      <p:sp>
        <p:nvSpPr>
          <p:cNvPr id="25" name="Text 19"/>
          <p:cNvSpPr txBox="1"/>
          <p:nvPr/>
        </p:nvSpPr>
        <p:spPr>
          <a:xfrm>
            <a:off x="8915400" y="157276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Licences et souveraineté</a:t>
            </a:r>
            <a:endParaRPr lang="fr-FR" sz="1400" dirty="0"/>
          </a:p>
        </p:txBody>
      </p:sp>
      <p:sp>
        <p:nvSpPr>
          <p:cNvPr id="26" name="Text 20"/>
          <p:cNvSpPr txBox="1"/>
          <p:nvPr/>
        </p:nvSpPr>
        <p:spPr>
          <a:xfrm>
            <a:off x="8247888" y="2240280"/>
            <a:ext cx="3200400" cy="10058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Les produits NASA et EOG sont ouverts ; l’imagerie nocturne commerciale souvent non. Vérifier les licences avant de rediffuser des produits dérivés.</a:t>
            </a:r>
            <a:endParaRPr lang="fr-FR" sz="1150" dirty="0"/>
          </a:p>
        </p:txBody>
      </p:sp>
      <p:sp>
        <p:nvSpPr>
          <p:cNvPr id="27" name="Shape 21"/>
          <p:cNvSpPr/>
          <p:nvPr/>
        </p:nvSpPr>
        <p:spPr>
          <a:xfrm>
            <a:off x="548640" y="3474720"/>
            <a:ext cx="3593592" cy="1938528"/>
          </a:xfrm>
          <a:prstGeom prst="roundRect">
            <a:avLst>
              <a:gd name="adj" fmla="val 3774"/>
            </a:avLst>
          </a:prstGeom>
          <a:solidFill>
            <a:srgbClr val="F4F7F5"/>
          </a:solidFill>
          <a:ln w="9525">
            <a:solidFill>
              <a:srgbClr val="D5DED9"/>
            </a:solidFill>
            <a:prstDash val="solid"/>
          </a:ln>
        </p:spPr>
      </p:sp>
      <p:sp>
        <p:nvSpPr>
          <p:cNvPr id="28" name="Shape 22"/>
          <p:cNvSpPr/>
          <p:nvPr/>
        </p:nvSpPr>
        <p:spPr>
          <a:xfrm>
            <a:off x="749808" y="3675888"/>
            <a:ext cx="530352" cy="530352"/>
          </a:xfrm>
          <a:prstGeom prst="ellipse">
            <a:avLst/>
          </a:prstGeom>
          <a:solidFill>
            <a:srgbClr val="00704A"/>
          </a:solidFill>
          <a:ln w="12700">
            <a:solidFill>
              <a:srgbClr val="00704A"/>
            </a:solidFill>
            <a:prstDash val="solid"/>
          </a:ln>
        </p:spPr>
      </p:sp>
      <p:pic>
        <p:nvPicPr>
          <p:cNvPr id="29" name="Image 4" descr="preencoded.png"/>
          <p:cNvPicPr>
            <a:picLocks noChangeAspect="1"/>
          </p:cNvPicPr>
          <p:nvPr/>
        </p:nvPicPr>
        <p:blipFill>
          <a:blip r:embed="rId7"/>
          <a:stretch>
            <a:fillRect/>
          </a:stretch>
        </p:blipFill>
        <p:spPr>
          <a:xfrm>
            <a:off x="887700" y="3813780"/>
            <a:ext cx="254569" cy="254569"/>
          </a:xfrm>
          <a:prstGeom prst="rect">
            <a:avLst/>
          </a:prstGeom>
        </p:spPr>
      </p:pic>
      <p:sp>
        <p:nvSpPr>
          <p:cNvPr id="30" name="Text 23"/>
          <p:cNvSpPr txBox="1"/>
          <p:nvPr/>
        </p:nvSpPr>
        <p:spPr>
          <a:xfrm>
            <a:off x="1417320" y="367588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Étiquetage</a:t>
            </a:r>
            <a:endParaRPr lang="fr-FR" sz="1400" dirty="0"/>
          </a:p>
        </p:txBody>
      </p:sp>
      <p:sp>
        <p:nvSpPr>
          <p:cNvPr id="31" name="Text 24"/>
          <p:cNvSpPr txBox="1"/>
          <p:nvPr/>
        </p:nvSpPr>
        <p:spPr>
          <a:xfrm>
            <a:off x="749808" y="4343400"/>
            <a:ext cx="3200400" cy="10058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Diffuser comme statistique expérimentale avec une déclaration de limites ; ne jamais présenter un indicateur indirect comme la mesure officielle.</a:t>
            </a:r>
            <a:endParaRPr lang="fr-FR" sz="1150" dirty="0"/>
          </a:p>
        </p:txBody>
      </p:sp>
      <p:sp>
        <p:nvSpPr>
          <p:cNvPr id="32" name="Shape 25"/>
          <p:cNvSpPr/>
          <p:nvPr/>
        </p:nvSpPr>
        <p:spPr>
          <a:xfrm>
            <a:off x="4297680" y="3474720"/>
            <a:ext cx="3593592" cy="1938528"/>
          </a:xfrm>
          <a:prstGeom prst="roundRect">
            <a:avLst>
              <a:gd name="adj" fmla="val 3774"/>
            </a:avLst>
          </a:prstGeom>
          <a:solidFill>
            <a:srgbClr val="F4F7F5"/>
          </a:solidFill>
          <a:ln w="9525">
            <a:solidFill>
              <a:srgbClr val="D5DED9"/>
            </a:solidFill>
            <a:prstDash val="solid"/>
          </a:ln>
        </p:spPr>
      </p:sp>
      <p:sp>
        <p:nvSpPr>
          <p:cNvPr id="33" name="Shape 26"/>
          <p:cNvSpPr/>
          <p:nvPr/>
        </p:nvSpPr>
        <p:spPr>
          <a:xfrm>
            <a:off x="4498848" y="3675888"/>
            <a:ext cx="530352" cy="530352"/>
          </a:xfrm>
          <a:prstGeom prst="ellipse">
            <a:avLst/>
          </a:prstGeom>
          <a:solidFill>
            <a:srgbClr val="00704A"/>
          </a:solidFill>
          <a:ln w="12700">
            <a:solidFill>
              <a:srgbClr val="00704A"/>
            </a:solidFill>
            <a:prstDash val="solid"/>
          </a:ln>
        </p:spPr>
      </p:sp>
      <p:pic>
        <p:nvPicPr>
          <p:cNvPr id="34" name="Image 5" descr="preencoded.png"/>
          <p:cNvPicPr>
            <a:picLocks noChangeAspect="1"/>
          </p:cNvPicPr>
          <p:nvPr/>
        </p:nvPicPr>
        <p:blipFill>
          <a:blip r:embed="rId8"/>
          <a:stretch>
            <a:fillRect/>
          </a:stretch>
        </p:blipFill>
        <p:spPr>
          <a:xfrm>
            <a:off x="4636740" y="3813780"/>
            <a:ext cx="254569" cy="254569"/>
          </a:xfrm>
          <a:prstGeom prst="rect">
            <a:avLst/>
          </a:prstGeom>
        </p:spPr>
      </p:pic>
      <p:sp>
        <p:nvSpPr>
          <p:cNvPr id="35" name="Text 27"/>
          <p:cNvSpPr txBox="1"/>
          <p:nvPr/>
        </p:nvSpPr>
        <p:spPr>
          <a:xfrm>
            <a:off x="5166360" y="367588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Coordination</a:t>
            </a:r>
            <a:endParaRPr lang="fr-FR" sz="1400" dirty="0"/>
          </a:p>
        </p:txBody>
      </p:sp>
      <p:sp>
        <p:nvSpPr>
          <p:cNvPr id="36" name="Text 28"/>
          <p:cNvSpPr txBox="1"/>
          <p:nvPr/>
        </p:nvSpPr>
        <p:spPr>
          <a:xfrm>
            <a:off x="4498848" y="4343400"/>
            <a:ext cx="3200400" cy="10058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Convenir au sein du système statistique national de qui produit, valide et diffuse — éviter les chiffres parallèles.</a:t>
            </a:r>
            <a:endParaRPr lang="fr-FR" sz="1150" dirty="0"/>
          </a:p>
        </p:txBody>
      </p:sp>
      <p:sp>
        <p:nvSpPr>
          <p:cNvPr id="37" name="Shape 29"/>
          <p:cNvSpPr/>
          <p:nvPr/>
        </p:nvSpPr>
        <p:spPr>
          <a:xfrm>
            <a:off x="8046720" y="3474720"/>
            <a:ext cx="3593592" cy="1938528"/>
          </a:xfrm>
          <a:prstGeom prst="roundRect">
            <a:avLst>
              <a:gd name="adj" fmla="val 3774"/>
            </a:avLst>
          </a:prstGeom>
          <a:solidFill>
            <a:srgbClr val="F4F7F5"/>
          </a:solidFill>
          <a:ln w="9525">
            <a:solidFill>
              <a:srgbClr val="D5DED9"/>
            </a:solidFill>
            <a:prstDash val="solid"/>
          </a:ln>
        </p:spPr>
      </p:sp>
      <p:sp>
        <p:nvSpPr>
          <p:cNvPr id="38" name="Shape 30"/>
          <p:cNvSpPr/>
          <p:nvPr/>
        </p:nvSpPr>
        <p:spPr>
          <a:xfrm>
            <a:off x="8247888" y="3675888"/>
            <a:ext cx="530352" cy="530352"/>
          </a:xfrm>
          <a:prstGeom prst="ellipse">
            <a:avLst/>
          </a:prstGeom>
          <a:solidFill>
            <a:srgbClr val="00704A"/>
          </a:solidFill>
          <a:ln w="12700">
            <a:solidFill>
              <a:srgbClr val="00704A"/>
            </a:solidFill>
            <a:prstDash val="solid"/>
          </a:ln>
        </p:spPr>
      </p:sp>
      <p:pic>
        <p:nvPicPr>
          <p:cNvPr id="39" name="Image 6" descr="preencoded.png"/>
          <p:cNvPicPr>
            <a:picLocks noChangeAspect="1"/>
          </p:cNvPicPr>
          <p:nvPr/>
        </p:nvPicPr>
        <p:blipFill>
          <a:blip r:embed="rId9"/>
          <a:stretch>
            <a:fillRect/>
          </a:stretch>
        </p:blipFill>
        <p:spPr>
          <a:xfrm>
            <a:off x="8385780" y="3813780"/>
            <a:ext cx="254569" cy="254569"/>
          </a:xfrm>
          <a:prstGeom prst="rect">
            <a:avLst/>
          </a:prstGeom>
        </p:spPr>
      </p:pic>
      <p:sp>
        <p:nvSpPr>
          <p:cNvPr id="40" name="Text 31"/>
          <p:cNvSpPr txBox="1"/>
          <p:nvPr/>
        </p:nvSpPr>
        <p:spPr>
          <a:xfrm>
            <a:off x="8915400" y="3675888"/>
            <a:ext cx="2560320" cy="530352"/>
          </a:xfrm>
          <a:prstGeom prst="rect">
            <a:avLst/>
          </a:prstGeom>
          <a:noFill/>
          <a:ln/>
        </p:spPr>
        <p:txBody>
          <a:bodyPr wrap="square" lIns="0" tIns="0" rIns="0" bIns="0" rtlCol="0" anchor="ctr"/>
          <a:lstStyle/>
          <a:p>
            <a:pPr marL="0" indent="0">
              <a:buNone/>
            </a:pPr>
            <a:r>
              <a:rPr lang="fr-FR" sz="1400" b="1" dirty="0">
                <a:solidFill>
                  <a:srgbClr val="00704A"/>
                </a:solidFill>
                <a:latin typeface="Calibri" pitchFamily="34" charset="0"/>
                <a:ea typeface="Calibri" pitchFamily="34" charset="-122"/>
                <a:cs typeface="Calibri" pitchFamily="34" charset="-120"/>
              </a:rPr>
              <a:t>IA et modèles</a:t>
            </a:r>
            <a:endParaRPr lang="fr-FR" sz="1400" dirty="0"/>
          </a:p>
        </p:txBody>
      </p:sp>
      <p:sp>
        <p:nvSpPr>
          <p:cNvPr id="41" name="Text 32"/>
          <p:cNvSpPr txBox="1"/>
          <p:nvPr/>
        </p:nvSpPr>
        <p:spPr>
          <a:xfrm>
            <a:off x="8247888" y="4343400"/>
            <a:ext cx="3200400" cy="100584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Si des modèles d’apprentissage automatique utilisent les lumières, documenter variables et données d’entraînement, et appliquer vos règles de gouvernance de l’IA.</a:t>
            </a:r>
            <a:endParaRPr lang="fr-FR" sz="1150" dirty="0"/>
          </a:p>
        </p:txBody>
      </p:sp>
      <p:sp>
        <p:nvSpPr>
          <p:cNvPr id="42" name="Text 33"/>
          <p:cNvSpPr txBox="1"/>
          <p:nvPr/>
        </p:nvSpPr>
        <p:spPr>
          <a:xfrm>
            <a:off x="548640" y="5715000"/>
            <a:ext cx="11094415" cy="320040"/>
          </a:xfrm>
          <a:prstGeom prst="rect">
            <a:avLst/>
          </a:prstGeom>
          <a:noFill/>
          <a:ln/>
        </p:spPr>
        <p:txBody>
          <a:bodyPr wrap="square" lIns="0" tIns="0" rIns="0" bIns="0" rtlCol="0" anchor="t"/>
          <a:lstStyle/>
          <a:p>
            <a:pPr marL="0" indent="0">
              <a:buNone/>
            </a:pPr>
            <a:r>
              <a:rPr lang="fr-FR" sz="1100" i="1" dirty="0">
                <a:solidFill>
                  <a:srgbClr val="00704A"/>
                </a:solidFill>
                <a:latin typeface="Calibri" pitchFamily="34" charset="0"/>
                <a:ea typeface="Calibri" pitchFamily="34" charset="-122"/>
                <a:cs typeface="Calibri" pitchFamily="34" charset="-120"/>
              </a:rPr>
              <a:t>S’appuie sur les bonnes pratiques en matière d’accès aux données, de gouvernance, d’IA, d’éthique et de confidentialité, et sur les Principes fondamentaux de la statistique officielle des Nations Unies.</a:t>
            </a:r>
            <a:endParaRPr lang="fr-FR"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05 · DE LA SÉANCE À LA PRATIQUE · FICHES DE PROJET</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Six fiches de projet lumières nocturnes pour votre institution</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PROJETS</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62</a:t>
            </a:r>
            <a:endParaRPr lang="fr-FR" sz="900" dirty="0"/>
          </a:p>
        </p:txBody>
      </p:sp>
      <p:sp>
        <p:nvSpPr>
          <p:cNvPr id="12" name="Shape 9"/>
          <p:cNvSpPr/>
          <p:nvPr/>
        </p:nvSpPr>
        <p:spPr>
          <a:xfrm>
            <a:off x="548640" y="1371600"/>
            <a:ext cx="3593592" cy="1993392"/>
          </a:xfrm>
          <a:prstGeom prst="roundRect">
            <a:avLst>
              <a:gd name="adj" fmla="val 3670"/>
            </a:avLst>
          </a:prstGeom>
          <a:solidFill>
            <a:srgbClr val="F4F7F5"/>
          </a:solidFill>
          <a:ln w="9525">
            <a:solidFill>
              <a:srgbClr val="D5DED9"/>
            </a:solidFill>
            <a:prstDash val="solid"/>
          </a:ln>
        </p:spPr>
      </p:sp>
      <p:sp>
        <p:nvSpPr>
          <p:cNvPr id="13" name="Shape 10"/>
          <p:cNvSpPr/>
          <p:nvPr/>
        </p:nvSpPr>
        <p:spPr>
          <a:xfrm>
            <a:off x="749808" y="1572768"/>
            <a:ext cx="530352" cy="530352"/>
          </a:xfrm>
          <a:prstGeom prst="ellipse">
            <a:avLst/>
          </a:prstGeom>
          <a:solidFill>
            <a:srgbClr val="F5C242"/>
          </a:solidFill>
          <a:ln w="12700">
            <a:solidFill>
              <a:srgbClr val="F5C242"/>
            </a:solidFill>
            <a:prstDash val="solid"/>
          </a:ln>
        </p:spPr>
      </p:sp>
      <p:pic>
        <p:nvPicPr>
          <p:cNvPr id="14" name="Image 1" descr="preencoded.png"/>
          <p:cNvPicPr>
            <a:picLocks noChangeAspect="1"/>
          </p:cNvPicPr>
          <p:nvPr/>
        </p:nvPicPr>
        <p:blipFill>
          <a:blip r:embed="rId4"/>
          <a:stretch>
            <a:fillRect/>
          </a:stretch>
        </p:blipFill>
        <p:spPr>
          <a:xfrm>
            <a:off x="887700" y="1710660"/>
            <a:ext cx="254569" cy="254569"/>
          </a:xfrm>
          <a:prstGeom prst="rect">
            <a:avLst/>
          </a:prstGeom>
        </p:spPr>
      </p:pic>
      <p:sp>
        <p:nvSpPr>
          <p:cNvPr id="15" name="Text 11"/>
          <p:cNvSpPr txBox="1"/>
          <p:nvPr/>
        </p:nvSpPr>
        <p:spPr>
          <a:xfrm>
            <a:off x="1417320" y="1572768"/>
            <a:ext cx="2606040" cy="53035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Indice d’activité infranational</a:t>
            </a:r>
            <a:endParaRPr lang="fr-FR" sz="1350" dirty="0"/>
          </a:p>
        </p:txBody>
      </p:sp>
      <p:sp>
        <p:nvSpPr>
          <p:cNvPr id="16" name="Text 12"/>
          <p:cNvSpPr txBox="1"/>
          <p:nvPr/>
        </p:nvSpPr>
        <p:spPr>
          <a:xfrm>
            <a:off x="749808" y="2212848"/>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SOL mensuelle par région, masquée et validée sur les comptes régionaux.</a:t>
            </a:r>
            <a:endParaRPr lang="fr-FR" sz="1150" dirty="0"/>
          </a:p>
        </p:txBody>
      </p:sp>
      <p:sp>
        <p:nvSpPr>
          <p:cNvPr id="17" name="Text 13"/>
          <p:cNvSpPr txBox="1"/>
          <p:nvPr/>
        </p:nvSpPr>
        <p:spPr>
          <a:xfrm>
            <a:off x="749808" y="2926080"/>
            <a:ext cx="3200400" cy="320040"/>
          </a:xfrm>
          <a:prstGeom prst="rect">
            <a:avLst/>
          </a:prstGeom>
          <a:noFill/>
          <a:ln/>
        </p:spPr>
        <p:txBody>
          <a:bodyPr wrap="square" lIns="0" tIns="0" rIns="0" bIns="0" rtlCol="0" anchor="t"/>
          <a:lstStyle/>
          <a:p>
            <a:pPr marL="0" indent="0">
              <a:buNone/>
            </a:pPr>
            <a:r>
              <a:rPr lang="fr-FR" sz="1100" b="1" dirty="0">
                <a:solidFill>
                  <a:srgbClr val="0E7C86"/>
                </a:solidFill>
                <a:latin typeface="Calibri" pitchFamily="34" charset="0"/>
                <a:ea typeface="Calibri" pitchFamily="34" charset="-122"/>
                <a:cs typeface="Calibri" pitchFamily="34" charset="-120"/>
              </a:rPr>
              <a:t>Résultat : </a:t>
            </a:r>
            <a:r>
              <a:rPr lang="fr-FR" sz="1100" dirty="0">
                <a:solidFill>
                  <a:srgbClr val="231F20"/>
                </a:solidFill>
                <a:latin typeface="Calibri" pitchFamily="34" charset="0"/>
                <a:ea typeface="Calibri" pitchFamily="34" charset="-122"/>
                <a:cs typeface="Calibri" pitchFamily="34" charset="-120"/>
              </a:rPr>
              <a:t>indicateur régional expérimental</a:t>
            </a:r>
            <a:endParaRPr lang="fr-FR" sz="1100" dirty="0"/>
          </a:p>
        </p:txBody>
      </p:sp>
      <p:sp>
        <p:nvSpPr>
          <p:cNvPr id="18" name="Shape 14"/>
          <p:cNvSpPr/>
          <p:nvPr/>
        </p:nvSpPr>
        <p:spPr>
          <a:xfrm>
            <a:off x="4297680" y="1371600"/>
            <a:ext cx="3593592" cy="1993392"/>
          </a:xfrm>
          <a:prstGeom prst="roundRect">
            <a:avLst>
              <a:gd name="adj" fmla="val 3670"/>
            </a:avLst>
          </a:prstGeom>
          <a:solidFill>
            <a:srgbClr val="F4F7F5"/>
          </a:solidFill>
          <a:ln w="9525">
            <a:solidFill>
              <a:srgbClr val="D5DED9"/>
            </a:solidFill>
            <a:prstDash val="solid"/>
          </a:ln>
        </p:spPr>
      </p:sp>
      <p:sp>
        <p:nvSpPr>
          <p:cNvPr id="19" name="Shape 15"/>
          <p:cNvSpPr/>
          <p:nvPr/>
        </p:nvSpPr>
        <p:spPr>
          <a:xfrm>
            <a:off x="4498848" y="1572768"/>
            <a:ext cx="530352" cy="530352"/>
          </a:xfrm>
          <a:prstGeom prst="ellipse">
            <a:avLst/>
          </a:prstGeom>
          <a:solidFill>
            <a:srgbClr val="F5C242"/>
          </a:solidFill>
          <a:ln w="12700">
            <a:solidFill>
              <a:srgbClr val="F5C242"/>
            </a:solidFill>
            <a:prstDash val="solid"/>
          </a:ln>
        </p:spPr>
      </p:sp>
      <p:pic>
        <p:nvPicPr>
          <p:cNvPr id="20" name="Image 2" descr="preencoded.png"/>
          <p:cNvPicPr>
            <a:picLocks noChangeAspect="1"/>
          </p:cNvPicPr>
          <p:nvPr/>
        </p:nvPicPr>
        <p:blipFill>
          <a:blip r:embed="rId5"/>
          <a:stretch>
            <a:fillRect/>
          </a:stretch>
        </p:blipFill>
        <p:spPr>
          <a:xfrm>
            <a:off x="4636740" y="1710660"/>
            <a:ext cx="254569" cy="254569"/>
          </a:xfrm>
          <a:prstGeom prst="rect">
            <a:avLst/>
          </a:prstGeom>
        </p:spPr>
      </p:pic>
      <p:sp>
        <p:nvSpPr>
          <p:cNvPr id="21" name="Text 16"/>
          <p:cNvSpPr txBox="1"/>
          <p:nvPr/>
        </p:nvSpPr>
        <p:spPr>
          <a:xfrm>
            <a:off x="5166360" y="1572768"/>
            <a:ext cx="2606040" cy="53035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Variable de prévision immédiate</a:t>
            </a:r>
            <a:endParaRPr lang="fr-FR" sz="1350" dirty="0"/>
          </a:p>
        </p:txBody>
      </p:sp>
      <p:sp>
        <p:nvSpPr>
          <p:cNvPr id="22" name="Text 17"/>
          <p:cNvSpPr txBox="1"/>
          <p:nvPr/>
        </p:nvSpPr>
        <p:spPr>
          <a:xfrm>
            <a:off x="4498848" y="2212848"/>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Croissance des NTL ajoutée à un modèle de prévision du PIB ; tester le gain hors échantillon.</a:t>
            </a:r>
            <a:endParaRPr lang="fr-FR" sz="1150" dirty="0"/>
          </a:p>
        </p:txBody>
      </p:sp>
      <p:sp>
        <p:nvSpPr>
          <p:cNvPr id="23" name="Text 18"/>
          <p:cNvSpPr txBox="1"/>
          <p:nvPr/>
        </p:nvSpPr>
        <p:spPr>
          <a:xfrm>
            <a:off x="4498848" y="2926080"/>
            <a:ext cx="3200400" cy="320040"/>
          </a:xfrm>
          <a:prstGeom prst="rect">
            <a:avLst/>
          </a:prstGeom>
          <a:noFill/>
          <a:ln/>
        </p:spPr>
        <p:txBody>
          <a:bodyPr wrap="square" lIns="0" tIns="0" rIns="0" bIns="0" rtlCol="0" anchor="t"/>
          <a:lstStyle/>
          <a:p>
            <a:pPr marL="0" indent="0">
              <a:buNone/>
            </a:pPr>
            <a:r>
              <a:rPr lang="fr-FR" sz="1100" b="1" dirty="0">
                <a:solidFill>
                  <a:srgbClr val="0E7C86"/>
                </a:solidFill>
                <a:latin typeface="Calibri" pitchFamily="34" charset="0"/>
                <a:ea typeface="Calibri" pitchFamily="34" charset="-122"/>
                <a:cs typeface="Calibri" pitchFamily="34" charset="-120"/>
              </a:rPr>
              <a:t>Résultat : </a:t>
            </a:r>
            <a:r>
              <a:rPr lang="fr-FR" sz="1100" dirty="0">
                <a:solidFill>
                  <a:srgbClr val="231F20"/>
                </a:solidFill>
                <a:latin typeface="Calibri" pitchFamily="34" charset="0"/>
                <a:ea typeface="Calibri" pitchFamily="34" charset="-122"/>
                <a:cs typeface="Calibri" pitchFamily="34" charset="-120"/>
              </a:rPr>
              <a:t>prévision avec et sans lumières</a:t>
            </a:r>
            <a:endParaRPr lang="fr-FR" sz="1100" dirty="0"/>
          </a:p>
        </p:txBody>
      </p:sp>
      <p:sp>
        <p:nvSpPr>
          <p:cNvPr id="24" name="Shape 19"/>
          <p:cNvSpPr/>
          <p:nvPr/>
        </p:nvSpPr>
        <p:spPr>
          <a:xfrm>
            <a:off x="8046720" y="1371600"/>
            <a:ext cx="3593592" cy="1993392"/>
          </a:xfrm>
          <a:prstGeom prst="roundRect">
            <a:avLst>
              <a:gd name="adj" fmla="val 3670"/>
            </a:avLst>
          </a:prstGeom>
          <a:solidFill>
            <a:srgbClr val="F4F7F5"/>
          </a:solidFill>
          <a:ln w="9525">
            <a:solidFill>
              <a:srgbClr val="D5DED9"/>
            </a:solidFill>
            <a:prstDash val="solid"/>
          </a:ln>
        </p:spPr>
      </p:sp>
      <p:sp>
        <p:nvSpPr>
          <p:cNvPr id="25" name="Shape 20"/>
          <p:cNvSpPr/>
          <p:nvPr/>
        </p:nvSpPr>
        <p:spPr>
          <a:xfrm>
            <a:off x="8247888" y="1572768"/>
            <a:ext cx="530352" cy="530352"/>
          </a:xfrm>
          <a:prstGeom prst="ellipse">
            <a:avLst/>
          </a:prstGeom>
          <a:solidFill>
            <a:srgbClr val="F5C242"/>
          </a:solidFill>
          <a:ln w="12700">
            <a:solidFill>
              <a:srgbClr val="F5C242"/>
            </a:solidFill>
            <a:prstDash val="solid"/>
          </a:ln>
        </p:spPr>
      </p:sp>
      <p:pic>
        <p:nvPicPr>
          <p:cNvPr id="26" name="Image 3" descr="preencoded.png"/>
          <p:cNvPicPr>
            <a:picLocks noChangeAspect="1"/>
          </p:cNvPicPr>
          <p:nvPr/>
        </p:nvPicPr>
        <p:blipFill>
          <a:blip r:embed="rId6"/>
          <a:stretch>
            <a:fillRect/>
          </a:stretch>
        </p:blipFill>
        <p:spPr>
          <a:xfrm>
            <a:off x="8385780" y="1710660"/>
            <a:ext cx="254569" cy="254569"/>
          </a:xfrm>
          <a:prstGeom prst="rect">
            <a:avLst/>
          </a:prstGeom>
        </p:spPr>
      </p:pic>
      <p:sp>
        <p:nvSpPr>
          <p:cNvPr id="27" name="Text 21"/>
          <p:cNvSpPr txBox="1"/>
          <p:nvPr/>
        </p:nvSpPr>
        <p:spPr>
          <a:xfrm>
            <a:off x="8915400" y="1572768"/>
            <a:ext cx="2606040" cy="53035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Suivi de la fiabilité électrique</a:t>
            </a:r>
            <a:endParaRPr lang="fr-FR" sz="1350" dirty="0"/>
          </a:p>
        </p:txBody>
      </p:sp>
      <p:sp>
        <p:nvSpPr>
          <p:cNvPr id="28" name="Text 22"/>
          <p:cNvSpPr txBox="1"/>
          <p:nvPr/>
        </p:nvSpPr>
        <p:spPr>
          <a:xfrm>
            <a:off x="8247888" y="2212848"/>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Part de nuits éclairées par district (données quotidiennes), face aux taux d’accès officiels.</a:t>
            </a:r>
            <a:endParaRPr lang="fr-FR" sz="1150" dirty="0"/>
          </a:p>
        </p:txBody>
      </p:sp>
      <p:sp>
        <p:nvSpPr>
          <p:cNvPr id="29" name="Text 23"/>
          <p:cNvSpPr txBox="1"/>
          <p:nvPr/>
        </p:nvSpPr>
        <p:spPr>
          <a:xfrm>
            <a:off x="8247888" y="2926080"/>
            <a:ext cx="3200400" cy="320040"/>
          </a:xfrm>
          <a:prstGeom prst="rect">
            <a:avLst/>
          </a:prstGeom>
          <a:noFill/>
          <a:ln/>
        </p:spPr>
        <p:txBody>
          <a:bodyPr wrap="square" lIns="0" tIns="0" rIns="0" bIns="0" rtlCol="0" anchor="t"/>
          <a:lstStyle/>
          <a:p>
            <a:pPr marL="0" indent="0">
              <a:buNone/>
            </a:pPr>
            <a:r>
              <a:rPr lang="fr-FR" sz="1100" b="1" dirty="0">
                <a:solidFill>
                  <a:srgbClr val="0E7C86"/>
                </a:solidFill>
                <a:latin typeface="Calibri" pitchFamily="34" charset="0"/>
                <a:ea typeface="Calibri" pitchFamily="34" charset="-122"/>
                <a:cs typeface="Calibri" pitchFamily="34" charset="-120"/>
              </a:rPr>
              <a:t>Résultat : </a:t>
            </a:r>
            <a:r>
              <a:rPr lang="fr-FR" sz="1100" dirty="0">
                <a:solidFill>
                  <a:srgbClr val="231F20"/>
                </a:solidFill>
                <a:latin typeface="Calibri" pitchFamily="34" charset="0"/>
                <a:ea typeface="Calibri" pitchFamily="34" charset="-122"/>
                <a:cs typeface="Calibri" pitchFamily="34" charset="-120"/>
              </a:rPr>
              <a:t>tableau de bord de fiabilité</a:t>
            </a:r>
            <a:endParaRPr lang="fr-FR" sz="1100" dirty="0"/>
          </a:p>
        </p:txBody>
      </p:sp>
      <p:sp>
        <p:nvSpPr>
          <p:cNvPr id="30" name="Shape 24"/>
          <p:cNvSpPr/>
          <p:nvPr/>
        </p:nvSpPr>
        <p:spPr>
          <a:xfrm>
            <a:off x="548640" y="3520440"/>
            <a:ext cx="3593592" cy="1993392"/>
          </a:xfrm>
          <a:prstGeom prst="roundRect">
            <a:avLst>
              <a:gd name="adj" fmla="val 3670"/>
            </a:avLst>
          </a:prstGeom>
          <a:solidFill>
            <a:srgbClr val="F4F7F5"/>
          </a:solidFill>
          <a:ln w="9525">
            <a:solidFill>
              <a:srgbClr val="D5DED9"/>
            </a:solidFill>
            <a:prstDash val="solid"/>
          </a:ln>
        </p:spPr>
      </p:sp>
      <p:sp>
        <p:nvSpPr>
          <p:cNvPr id="31" name="Shape 25"/>
          <p:cNvSpPr/>
          <p:nvPr/>
        </p:nvSpPr>
        <p:spPr>
          <a:xfrm>
            <a:off x="749808" y="3721608"/>
            <a:ext cx="530352" cy="530352"/>
          </a:xfrm>
          <a:prstGeom prst="ellipse">
            <a:avLst/>
          </a:prstGeom>
          <a:solidFill>
            <a:srgbClr val="F5C242"/>
          </a:solidFill>
          <a:ln w="12700">
            <a:solidFill>
              <a:srgbClr val="F5C242"/>
            </a:solidFill>
            <a:prstDash val="solid"/>
          </a:ln>
        </p:spPr>
      </p:sp>
      <p:pic>
        <p:nvPicPr>
          <p:cNvPr id="32" name="Image 4" descr="preencoded.png"/>
          <p:cNvPicPr>
            <a:picLocks noChangeAspect="1"/>
          </p:cNvPicPr>
          <p:nvPr/>
        </p:nvPicPr>
        <p:blipFill>
          <a:blip r:embed="rId7"/>
          <a:stretch>
            <a:fillRect/>
          </a:stretch>
        </p:blipFill>
        <p:spPr>
          <a:xfrm>
            <a:off x="887700" y="3859500"/>
            <a:ext cx="254569" cy="254569"/>
          </a:xfrm>
          <a:prstGeom prst="rect">
            <a:avLst/>
          </a:prstGeom>
        </p:spPr>
      </p:pic>
      <p:sp>
        <p:nvSpPr>
          <p:cNvPr id="33" name="Text 26"/>
          <p:cNvSpPr txBox="1"/>
          <p:nvPr/>
        </p:nvSpPr>
        <p:spPr>
          <a:xfrm>
            <a:off x="1417320" y="3721608"/>
            <a:ext cx="2606040" cy="53035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Suivi de l’expansion urbaine</a:t>
            </a:r>
            <a:endParaRPr lang="fr-FR" sz="1350" dirty="0"/>
          </a:p>
        </p:txBody>
      </p:sp>
      <p:sp>
        <p:nvSpPr>
          <p:cNvPr id="34" name="Text 27"/>
          <p:cNvSpPr txBox="1"/>
          <p:nvPr/>
        </p:nvSpPr>
        <p:spPr>
          <a:xfrm>
            <a:off x="749808" y="4361688"/>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Croissance de la surface éclairée et de la radiance, combinée aux grilles de bâti.</a:t>
            </a:r>
            <a:endParaRPr lang="fr-FR" sz="1150" dirty="0"/>
          </a:p>
        </p:txBody>
      </p:sp>
      <p:sp>
        <p:nvSpPr>
          <p:cNvPr id="35" name="Text 28"/>
          <p:cNvSpPr txBox="1"/>
          <p:nvPr/>
        </p:nvSpPr>
        <p:spPr>
          <a:xfrm>
            <a:off x="749808" y="5074920"/>
            <a:ext cx="3200400" cy="320040"/>
          </a:xfrm>
          <a:prstGeom prst="rect">
            <a:avLst/>
          </a:prstGeom>
          <a:noFill/>
          <a:ln/>
        </p:spPr>
        <p:txBody>
          <a:bodyPr wrap="square" lIns="0" tIns="0" rIns="0" bIns="0" rtlCol="0" anchor="t"/>
          <a:lstStyle/>
          <a:p>
            <a:pPr marL="0" indent="0">
              <a:buNone/>
            </a:pPr>
            <a:r>
              <a:rPr lang="fr-FR" sz="1100" b="1" dirty="0">
                <a:solidFill>
                  <a:srgbClr val="0E7C86"/>
                </a:solidFill>
                <a:latin typeface="Calibri" pitchFamily="34" charset="0"/>
                <a:ea typeface="Calibri" pitchFamily="34" charset="-122"/>
                <a:cs typeface="Calibri" pitchFamily="34" charset="-120"/>
              </a:rPr>
              <a:t>Résultat : </a:t>
            </a:r>
            <a:r>
              <a:rPr lang="fr-FR" sz="1100" dirty="0">
                <a:solidFill>
                  <a:srgbClr val="231F20"/>
                </a:solidFill>
                <a:latin typeface="Calibri" pitchFamily="34" charset="0"/>
                <a:ea typeface="Calibri" pitchFamily="34" charset="-122"/>
                <a:cs typeface="Calibri" pitchFamily="34" charset="-120"/>
              </a:rPr>
              <a:t>carte étalement vs densification</a:t>
            </a:r>
            <a:endParaRPr lang="fr-FR" sz="1100" dirty="0"/>
          </a:p>
        </p:txBody>
      </p:sp>
      <p:sp>
        <p:nvSpPr>
          <p:cNvPr id="36" name="Shape 29"/>
          <p:cNvSpPr/>
          <p:nvPr/>
        </p:nvSpPr>
        <p:spPr>
          <a:xfrm>
            <a:off x="4297680" y="3520440"/>
            <a:ext cx="3593592" cy="1993392"/>
          </a:xfrm>
          <a:prstGeom prst="roundRect">
            <a:avLst>
              <a:gd name="adj" fmla="val 3670"/>
            </a:avLst>
          </a:prstGeom>
          <a:solidFill>
            <a:srgbClr val="F4F7F5"/>
          </a:solidFill>
          <a:ln w="9525">
            <a:solidFill>
              <a:srgbClr val="D5DED9"/>
            </a:solidFill>
            <a:prstDash val="solid"/>
          </a:ln>
        </p:spPr>
      </p:sp>
      <p:sp>
        <p:nvSpPr>
          <p:cNvPr id="37" name="Shape 30"/>
          <p:cNvSpPr/>
          <p:nvPr/>
        </p:nvSpPr>
        <p:spPr>
          <a:xfrm>
            <a:off x="4498848" y="3721608"/>
            <a:ext cx="530352" cy="530352"/>
          </a:xfrm>
          <a:prstGeom prst="ellipse">
            <a:avLst/>
          </a:prstGeom>
          <a:solidFill>
            <a:srgbClr val="F5C242"/>
          </a:solidFill>
          <a:ln w="12700">
            <a:solidFill>
              <a:srgbClr val="F5C242"/>
            </a:solidFill>
            <a:prstDash val="solid"/>
          </a:ln>
        </p:spPr>
      </p:sp>
      <p:pic>
        <p:nvPicPr>
          <p:cNvPr id="38" name="Image 5" descr="preencoded.png"/>
          <p:cNvPicPr>
            <a:picLocks noChangeAspect="1"/>
          </p:cNvPicPr>
          <p:nvPr/>
        </p:nvPicPr>
        <p:blipFill>
          <a:blip r:embed="rId8"/>
          <a:stretch>
            <a:fillRect/>
          </a:stretch>
        </p:blipFill>
        <p:spPr>
          <a:xfrm>
            <a:off x="4636740" y="3859500"/>
            <a:ext cx="254569" cy="254569"/>
          </a:xfrm>
          <a:prstGeom prst="rect">
            <a:avLst/>
          </a:prstGeom>
        </p:spPr>
      </p:pic>
      <p:sp>
        <p:nvSpPr>
          <p:cNvPr id="39" name="Text 31"/>
          <p:cNvSpPr txBox="1"/>
          <p:nvPr/>
        </p:nvSpPr>
        <p:spPr>
          <a:xfrm>
            <a:off x="5166360" y="3721608"/>
            <a:ext cx="2606040" cy="53035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Évaluation rapide des coupures</a:t>
            </a:r>
            <a:endParaRPr lang="fr-FR" sz="1350" dirty="0"/>
          </a:p>
        </p:txBody>
      </p:sp>
      <p:sp>
        <p:nvSpPr>
          <p:cNvPr id="40" name="Text 32"/>
          <p:cNvSpPr txBox="1"/>
          <p:nvPr/>
        </p:nvSpPr>
        <p:spPr>
          <a:xfrm>
            <a:off x="4498848" y="4361688"/>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Modèle d’étude d’événement pour cyclones, inondations ou pannes de réseau.</a:t>
            </a:r>
            <a:endParaRPr lang="fr-FR" sz="1150" dirty="0"/>
          </a:p>
        </p:txBody>
      </p:sp>
      <p:sp>
        <p:nvSpPr>
          <p:cNvPr id="41" name="Text 33"/>
          <p:cNvSpPr txBox="1"/>
          <p:nvPr/>
        </p:nvSpPr>
        <p:spPr>
          <a:xfrm>
            <a:off x="4498848" y="5074920"/>
            <a:ext cx="3200400" cy="320040"/>
          </a:xfrm>
          <a:prstGeom prst="rect">
            <a:avLst/>
          </a:prstGeom>
          <a:noFill/>
          <a:ln/>
        </p:spPr>
        <p:txBody>
          <a:bodyPr wrap="square" lIns="0" tIns="0" rIns="0" bIns="0" rtlCol="0" anchor="t"/>
          <a:lstStyle/>
          <a:p>
            <a:pPr marL="0" indent="0">
              <a:buNone/>
            </a:pPr>
            <a:r>
              <a:rPr lang="fr-FR" sz="1100" b="1" dirty="0">
                <a:solidFill>
                  <a:srgbClr val="0E7C86"/>
                </a:solidFill>
                <a:latin typeface="Calibri" pitchFamily="34" charset="0"/>
                <a:ea typeface="Calibri" pitchFamily="34" charset="-122"/>
                <a:cs typeface="Calibri" pitchFamily="34" charset="-120"/>
              </a:rPr>
              <a:t>Résultat : </a:t>
            </a:r>
            <a:r>
              <a:rPr lang="fr-FR" sz="1100" dirty="0">
                <a:solidFill>
                  <a:srgbClr val="231F20"/>
                </a:solidFill>
                <a:latin typeface="Calibri" pitchFamily="34" charset="0"/>
                <a:ea typeface="Calibri" pitchFamily="34" charset="-122"/>
                <a:cs typeface="Calibri" pitchFamily="34" charset="-120"/>
              </a:rPr>
              <a:t>notebook réutilisable + note</a:t>
            </a:r>
            <a:endParaRPr lang="fr-FR" sz="1100" dirty="0"/>
          </a:p>
        </p:txBody>
      </p:sp>
      <p:sp>
        <p:nvSpPr>
          <p:cNvPr id="42" name="Shape 34"/>
          <p:cNvSpPr/>
          <p:nvPr/>
        </p:nvSpPr>
        <p:spPr>
          <a:xfrm>
            <a:off x="8046720" y="3520440"/>
            <a:ext cx="3593592" cy="1993392"/>
          </a:xfrm>
          <a:prstGeom prst="roundRect">
            <a:avLst>
              <a:gd name="adj" fmla="val 3670"/>
            </a:avLst>
          </a:prstGeom>
          <a:solidFill>
            <a:srgbClr val="F4F7F5"/>
          </a:solidFill>
          <a:ln w="9525">
            <a:solidFill>
              <a:srgbClr val="D5DED9"/>
            </a:solidFill>
            <a:prstDash val="solid"/>
          </a:ln>
        </p:spPr>
      </p:sp>
      <p:sp>
        <p:nvSpPr>
          <p:cNvPr id="43" name="Shape 35"/>
          <p:cNvSpPr/>
          <p:nvPr/>
        </p:nvSpPr>
        <p:spPr>
          <a:xfrm>
            <a:off x="8247888" y="3721608"/>
            <a:ext cx="530352" cy="530352"/>
          </a:xfrm>
          <a:prstGeom prst="ellipse">
            <a:avLst/>
          </a:prstGeom>
          <a:solidFill>
            <a:srgbClr val="F5C242"/>
          </a:solidFill>
          <a:ln w="12700">
            <a:solidFill>
              <a:srgbClr val="F5C242"/>
            </a:solidFill>
            <a:prstDash val="solid"/>
          </a:ln>
        </p:spPr>
      </p:sp>
      <p:pic>
        <p:nvPicPr>
          <p:cNvPr id="44" name="Image 6" descr="preencoded.png"/>
          <p:cNvPicPr>
            <a:picLocks noChangeAspect="1"/>
          </p:cNvPicPr>
          <p:nvPr/>
        </p:nvPicPr>
        <p:blipFill>
          <a:blip r:embed="rId9"/>
          <a:stretch>
            <a:fillRect/>
          </a:stretch>
        </p:blipFill>
        <p:spPr>
          <a:xfrm>
            <a:off x="8385780" y="3859500"/>
            <a:ext cx="254569" cy="254569"/>
          </a:xfrm>
          <a:prstGeom prst="rect">
            <a:avLst/>
          </a:prstGeom>
        </p:spPr>
      </p:pic>
      <p:sp>
        <p:nvSpPr>
          <p:cNvPr id="45" name="Text 36"/>
          <p:cNvSpPr txBox="1"/>
          <p:nvPr/>
        </p:nvSpPr>
        <p:spPr>
          <a:xfrm>
            <a:off x="8915400" y="3721608"/>
            <a:ext cx="2606040" cy="530352"/>
          </a:xfrm>
          <a:prstGeom prst="rect">
            <a:avLst/>
          </a:prstGeom>
          <a:noFill/>
          <a:ln/>
        </p:spPr>
        <p:txBody>
          <a:bodyPr wrap="square" lIns="0" tIns="0" rIns="0" bIns="0" rtlCol="0" anchor="ctr"/>
          <a:lstStyle/>
          <a:p>
            <a:pPr marL="0" indent="0">
              <a:buNone/>
            </a:pPr>
            <a:r>
              <a:rPr lang="fr-FR" sz="1350" b="1" dirty="0">
                <a:solidFill>
                  <a:srgbClr val="00704A"/>
                </a:solidFill>
                <a:latin typeface="Calibri" pitchFamily="34" charset="0"/>
                <a:ea typeface="Calibri" pitchFamily="34" charset="-122"/>
                <a:cs typeface="Calibri" pitchFamily="34" charset="-120"/>
              </a:rPr>
              <a:t>Contrôle de crédibilité</a:t>
            </a:r>
            <a:endParaRPr lang="fr-FR" sz="1350" dirty="0"/>
          </a:p>
        </p:txBody>
      </p:sp>
      <p:sp>
        <p:nvSpPr>
          <p:cNvPr id="46" name="Text 37"/>
          <p:cNvSpPr txBox="1"/>
          <p:nvPr/>
        </p:nvSpPr>
        <p:spPr>
          <a:xfrm>
            <a:off x="8247888" y="4361688"/>
            <a:ext cx="3200400" cy="685800"/>
          </a:xfrm>
          <a:prstGeom prst="rect">
            <a:avLst/>
          </a:prstGeom>
          <a:noFill/>
          <a:ln/>
        </p:spPr>
        <p:txBody>
          <a:bodyPr wrap="square" lIns="0" tIns="0" rIns="0" bIns="0" rtlCol="0" anchor="t"/>
          <a:lstStyle/>
          <a:p>
            <a:pPr marL="0" indent="0">
              <a:buNone/>
            </a:pPr>
            <a:r>
              <a:rPr lang="fr-FR" sz="1150" dirty="0">
                <a:solidFill>
                  <a:srgbClr val="231F20"/>
                </a:solidFill>
                <a:latin typeface="Calibri" pitchFamily="34" charset="0"/>
                <a:ea typeface="Calibri" pitchFamily="34" charset="-122"/>
                <a:cs typeface="Calibri" pitchFamily="34" charset="-120"/>
              </a:rPr>
              <a:t>Comparer croissance du PIB régional et de la lumière ; examiner les plus grands écarts.</a:t>
            </a:r>
            <a:endParaRPr lang="fr-FR" sz="1150" dirty="0"/>
          </a:p>
        </p:txBody>
      </p:sp>
      <p:sp>
        <p:nvSpPr>
          <p:cNvPr id="47" name="Text 38"/>
          <p:cNvSpPr txBox="1"/>
          <p:nvPr/>
        </p:nvSpPr>
        <p:spPr>
          <a:xfrm>
            <a:off x="8247888" y="5074920"/>
            <a:ext cx="3200400" cy="320040"/>
          </a:xfrm>
          <a:prstGeom prst="rect">
            <a:avLst/>
          </a:prstGeom>
          <a:noFill/>
          <a:ln/>
        </p:spPr>
        <p:txBody>
          <a:bodyPr wrap="square" lIns="0" tIns="0" rIns="0" bIns="0" rtlCol="0" anchor="t"/>
          <a:lstStyle/>
          <a:p>
            <a:pPr marL="0" indent="0">
              <a:buNone/>
            </a:pPr>
            <a:r>
              <a:rPr lang="fr-FR" sz="1100" b="1" dirty="0">
                <a:solidFill>
                  <a:srgbClr val="0E7C86"/>
                </a:solidFill>
                <a:latin typeface="Calibri" pitchFamily="34" charset="0"/>
                <a:ea typeface="Calibri" pitchFamily="34" charset="-122"/>
                <a:cs typeface="Calibri" pitchFamily="34" charset="-120"/>
              </a:rPr>
              <a:t>Résultat : </a:t>
            </a:r>
            <a:r>
              <a:rPr lang="fr-FR" sz="1100" dirty="0">
                <a:solidFill>
                  <a:srgbClr val="231F20"/>
                </a:solidFill>
                <a:latin typeface="Calibri" pitchFamily="34" charset="0"/>
                <a:ea typeface="Calibri" pitchFamily="34" charset="-122"/>
                <a:cs typeface="Calibri" pitchFamily="34" charset="-120"/>
              </a:rPr>
              <a:t>carte des résidus + note</a:t>
            </a:r>
            <a:endParaRPr lang="fr-FR" sz="1100" dirty="0"/>
          </a:p>
        </p:txBody>
      </p:sp>
      <p:sp>
        <p:nvSpPr>
          <p:cNvPr id="48" name="Text 39"/>
          <p:cNvSpPr txBox="1"/>
          <p:nvPr/>
        </p:nvSpPr>
        <p:spPr>
          <a:xfrm>
            <a:off x="548640" y="5733288"/>
            <a:ext cx="11094415" cy="320040"/>
          </a:xfrm>
          <a:prstGeom prst="rect">
            <a:avLst/>
          </a:prstGeom>
          <a:noFill/>
          <a:ln/>
        </p:spPr>
        <p:txBody>
          <a:bodyPr wrap="square" lIns="0" tIns="0" rIns="0" bIns="0" rtlCol="0" anchor="t"/>
          <a:lstStyle/>
          <a:p>
            <a:pPr marL="0" indent="0">
              <a:buNone/>
            </a:pPr>
            <a:r>
              <a:rPr lang="fr-FR" sz="1100" i="1" dirty="0">
                <a:solidFill>
                  <a:srgbClr val="00704A"/>
                </a:solidFill>
                <a:latin typeface="Calibri" pitchFamily="34" charset="0"/>
                <a:ea typeface="Calibri" pitchFamily="34" charset="-122"/>
                <a:cs typeface="Calibri" pitchFamily="34" charset="-120"/>
              </a:rPr>
              <a:t>Chaque fiche précise sa question, ses sources de données et le résultat visé · assez réduite pour un prototype en quelques jours.</a:t>
            </a:r>
            <a:endParaRPr lang="fr-FR"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VÉRIFIEZ VOS ACQUIS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Cinq questions pour vérifier vos acquis</a:t>
            </a:r>
            <a:endParaRPr lang="fr-FR"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FFFFFF"/>
                </a:solidFill>
                <a:latin typeface="Calibri" pitchFamily="34" charset="0"/>
                <a:ea typeface="Calibri" pitchFamily="34" charset="-122"/>
                <a:cs typeface="Calibri" pitchFamily="34" charset="-120"/>
              </a:rPr>
              <a:t>SYNTHÈSE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63</a:t>
            </a:r>
            <a:endParaRPr lang="fr-FR" sz="900" dirty="0"/>
          </a:p>
        </p:txBody>
      </p:sp>
      <p:sp>
        <p:nvSpPr>
          <p:cNvPr id="12" name="Shape 9"/>
          <p:cNvSpPr/>
          <p:nvPr/>
        </p:nvSpPr>
        <p:spPr>
          <a:xfrm>
            <a:off x="548640" y="1481328"/>
            <a:ext cx="457200" cy="457200"/>
          </a:xfrm>
          <a:prstGeom prst="ellipse">
            <a:avLst/>
          </a:prstGeom>
          <a:solidFill>
            <a:srgbClr val="00704A"/>
          </a:solidFill>
          <a:ln w="12700">
            <a:solidFill>
              <a:srgbClr val="00704A"/>
            </a:solidFill>
            <a:prstDash val="solid"/>
          </a:ln>
        </p:spPr>
      </p:sp>
      <p:sp>
        <p:nvSpPr>
          <p:cNvPr id="13" name="Text 10"/>
          <p:cNvSpPr txBox="1"/>
          <p:nvPr/>
        </p:nvSpPr>
        <p:spPr>
          <a:xfrm>
            <a:off x="548640" y="1481328"/>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1</a:t>
            </a:r>
            <a:endParaRPr lang="fr-FR" sz="1300" dirty="0"/>
          </a:p>
        </p:txBody>
      </p:sp>
      <p:sp>
        <p:nvSpPr>
          <p:cNvPr id="14" name="Shape 11"/>
          <p:cNvSpPr/>
          <p:nvPr/>
        </p:nvSpPr>
        <p:spPr>
          <a:xfrm>
            <a:off x="1188720" y="1325880"/>
            <a:ext cx="6583680" cy="777240"/>
          </a:xfrm>
          <a:prstGeom prst="roundRect">
            <a:avLst>
              <a:gd name="adj" fmla="val 9412"/>
            </a:avLst>
          </a:prstGeom>
          <a:solidFill>
            <a:srgbClr val="F4F7F5"/>
          </a:solidFill>
          <a:ln w="9525">
            <a:solidFill>
              <a:srgbClr val="D5DED9"/>
            </a:solidFill>
            <a:prstDash val="solid"/>
          </a:ln>
        </p:spPr>
      </p:sp>
      <p:sp>
        <p:nvSpPr>
          <p:cNvPr id="15" name="Text 12"/>
          <p:cNvSpPr txBox="1"/>
          <p:nvPr/>
        </p:nvSpPr>
        <p:spPr>
          <a:xfrm>
            <a:off x="1371600" y="1325880"/>
            <a:ext cx="6263640" cy="777240"/>
          </a:xfrm>
          <a:prstGeom prst="rect">
            <a:avLst/>
          </a:prstGeom>
          <a:noFill/>
          <a:ln/>
        </p:spPr>
        <p:txBody>
          <a:bodyPr wrap="square" lIns="0" tIns="0" rIns="0" bIns="0" rtlCol="0" anchor="ctr"/>
          <a:lstStyle/>
          <a:p>
            <a:pPr marL="0" indent="0">
              <a:buNone/>
            </a:pPr>
            <a:r>
              <a:rPr lang="fr-FR" sz="1250" b="1" dirty="0">
                <a:solidFill>
                  <a:srgbClr val="00704A"/>
                </a:solidFill>
                <a:latin typeface="Calibri" pitchFamily="34" charset="0"/>
                <a:ea typeface="Calibri" pitchFamily="34" charset="-122"/>
                <a:cs typeface="Calibri" pitchFamily="34" charset="-120"/>
              </a:rPr>
              <a:t>Pourquoi une ville peut-elle paraître moins lumineuse pour VIIRS après un passage aux LED ?</a:t>
            </a:r>
            <a:endParaRPr lang="fr-FR" sz="1250" dirty="0"/>
          </a:p>
        </p:txBody>
      </p:sp>
      <p:sp>
        <p:nvSpPr>
          <p:cNvPr id="16" name="Shape 13"/>
          <p:cNvSpPr/>
          <p:nvPr/>
        </p:nvSpPr>
        <p:spPr>
          <a:xfrm>
            <a:off x="7909560" y="1325880"/>
            <a:ext cx="3730752" cy="777240"/>
          </a:xfrm>
          <a:prstGeom prst="roundRect">
            <a:avLst>
              <a:gd name="adj" fmla="val 9412"/>
            </a:avLst>
          </a:prstGeom>
          <a:solidFill>
            <a:srgbClr val="FDF5DC"/>
          </a:solidFill>
          <a:ln w="9525">
            <a:solidFill>
              <a:srgbClr val="FDF5DC"/>
            </a:solidFill>
            <a:prstDash val="solid"/>
          </a:ln>
        </p:spPr>
      </p:sp>
      <p:sp>
        <p:nvSpPr>
          <p:cNvPr id="17" name="Text 14"/>
          <p:cNvSpPr txBox="1"/>
          <p:nvPr/>
        </p:nvSpPr>
        <p:spPr>
          <a:xfrm>
            <a:off x="8065008" y="1325880"/>
            <a:ext cx="3474720" cy="777240"/>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Son pic bleu (≈ 450 nm) est hors de la Day/Night Band.</a:t>
            </a:r>
            <a:endParaRPr lang="fr-FR" sz="1100" dirty="0"/>
          </a:p>
        </p:txBody>
      </p:sp>
      <p:sp>
        <p:nvSpPr>
          <p:cNvPr id="18" name="Shape 15"/>
          <p:cNvSpPr/>
          <p:nvPr/>
        </p:nvSpPr>
        <p:spPr>
          <a:xfrm>
            <a:off x="548640" y="2377440"/>
            <a:ext cx="457200" cy="457200"/>
          </a:xfrm>
          <a:prstGeom prst="ellipse">
            <a:avLst/>
          </a:prstGeom>
          <a:solidFill>
            <a:srgbClr val="00704A"/>
          </a:solidFill>
          <a:ln w="12700">
            <a:solidFill>
              <a:srgbClr val="00704A"/>
            </a:solidFill>
            <a:prstDash val="solid"/>
          </a:ln>
        </p:spPr>
      </p:sp>
      <p:sp>
        <p:nvSpPr>
          <p:cNvPr id="19" name="Text 16"/>
          <p:cNvSpPr txBox="1"/>
          <p:nvPr/>
        </p:nvSpPr>
        <p:spPr>
          <a:xfrm>
            <a:off x="548640" y="2377440"/>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2</a:t>
            </a:r>
            <a:endParaRPr lang="fr-FR" sz="1300" dirty="0"/>
          </a:p>
        </p:txBody>
      </p:sp>
      <p:sp>
        <p:nvSpPr>
          <p:cNvPr id="20" name="Shape 17"/>
          <p:cNvSpPr/>
          <p:nvPr/>
        </p:nvSpPr>
        <p:spPr>
          <a:xfrm>
            <a:off x="1188720" y="2221992"/>
            <a:ext cx="6583680" cy="777240"/>
          </a:xfrm>
          <a:prstGeom prst="roundRect">
            <a:avLst>
              <a:gd name="adj" fmla="val 9412"/>
            </a:avLst>
          </a:prstGeom>
          <a:solidFill>
            <a:srgbClr val="F4F7F5"/>
          </a:solidFill>
          <a:ln w="9525">
            <a:solidFill>
              <a:srgbClr val="D5DED9"/>
            </a:solidFill>
            <a:prstDash val="solid"/>
          </a:ln>
        </p:spPr>
      </p:sp>
      <p:sp>
        <p:nvSpPr>
          <p:cNvPr id="21" name="Text 18"/>
          <p:cNvSpPr txBox="1"/>
          <p:nvPr/>
        </p:nvSpPr>
        <p:spPr>
          <a:xfrm>
            <a:off x="1371600" y="2221992"/>
            <a:ext cx="6263640" cy="777240"/>
          </a:xfrm>
          <a:prstGeom prst="rect">
            <a:avLst/>
          </a:prstGeom>
          <a:noFill/>
          <a:ln/>
        </p:spPr>
        <p:txBody>
          <a:bodyPr wrap="square" lIns="0" tIns="0" rIns="0" bIns="0" rtlCol="0" anchor="ctr"/>
          <a:lstStyle/>
          <a:p>
            <a:pPr marL="0" indent="0">
              <a:buNone/>
            </a:pPr>
            <a:r>
              <a:rPr lang="fr-FR" sz="1250" b="1" dirty="0">
                <a:solidFill>
                  <a:srgbClr val="00704A"/>
                </a:solidFill>
                <a:latin typeface="Calibri" pitchFamily="34" charset="0"/>
                <a:ea typeface="Calibri" pitchFamily="34" charset="-122"/>
                <a:cs typeface="Calibri" pitchFamily="34" charset="-120"/>
              </a:rPr>
              <a:t>La surface éclairée d’un district baisse de 25 % quand le seuil passe de 0,5 à 1,0. Qu’est-ce qui a changé dans le monde ?</a:t>
            </a:r>
            <a:endParaRPr lang="fr-FR" sz="1250" dirty="0"/>
          </a:p>
        </p:txBody>
      </p:sp>
      <p:sp>
        <p:nvSpPr>
          <p:cNvPr id="22" name="Shape 19"/>
          <p:cNvSpPr/>
          <p:nvPr/>
        </p:nvSpPr>
        <p:spPr>
          <a:xfrm>
            <a:off x="7909560" y="2221992"/>
            <a:ext cx="3730752" cy="777240"/>
          </a:xfrm>
          <a:prstGeom prst="roundRect">
            <a:avLst>
              <a:gd name="adj" fmla="val 9412"/>
            </a:avLst>
          </a:prstGeom>
          <a:solidFill>
            <a:srgbClr val="FDF5DC"/>
          </a:solidFill>
          <a:ln w="9525">
            <a:solidFill>
              <a:srgbClr val="FDF5DC"/>
            </a:solidFill>
            <a:prstDash val="solid"/>
          </a:ln>
        </p:spPr>
      </p:sp>
      <p:sp>
        <p:nvSpPr>
          <p:cNvPr id="23" name="Text 20"/>
          <p:cNvSpPr txBox="1"/>
          <p:nvPr/>
        </p:nvSpPr>
        <p:spPr>
          <a:xfrm>
            <a:off x="8065008" y="2221992"/>
            <a:ext cx="3474720" cy="777240"/>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Rien — c’est un choix du chercheur. À déclarer et tester.</a:t>
            </a:r>
            <a:endParaRPr lang="fr-FR" sz="1100" dirty="0"/>
          </a:p>
        </p:txBody>
      </p:sp>
      <p:sp>
        <p:nvSpPr>
          <p:cNvPr id="24" name="Shape 21"/>
          <p:cNvSpPr/>
          <p:nvPr/>
        </p:nvSpPr>
        <p:spPr>
          <a:xfrm>
            <a:off x="548640" y="3273552"/>
            <a:ext cx="457200" cy="457200"/>
          </a:xfrm>
          <a:prstGeom prst="ellipse">
            <a:avLst/>
          </a:prstGeom>
          <a:solidFill>
            <a:srgbClr val="00704A"/>
          </a:solidFill>
          <a:ln w="12700">
            <a:solidFill>
              <a:srgbClr val="00704A"/>
            </a:solidFill>
            <a:prstDash val="solid"/>
          </a:ln>
        </p:spPr>
      </p:sp>
      <p:sp>
        <p:nvSpPr>
          <p:cNvPr id="25" name="Text 22"/>
          <p:cNvSpPr txBox="1"/>
          <p:nvPr/>
        </p:nvSpPr>
        <p:spPr>
          <a:xfrm>
            <a:off x="548640" y="3273552"/>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3</a:t>
            </a:r>
            <a:endParaRPr lang="fr-FR" sz="1300" dirty="0"/>
          </a:p>
        </p:txBody>
      </p:sp>
      <p:sp>
        <p:nvSpPr>
          <p:cNvPr id="26" name="Shape 23"/>
          <p:cNvSpPr/>
          <p:nvPr/>
        </p:nvSpPr>
        <p:spPr>
          <a:xfrm>
            <a:off x="1188720" y="3118104"/>
            <a:ext cx="6583680" cy="777240"/>
          </a:xfrm>
          <a:prstGeom prst="roundRect">
            <a:avLst>
              <a:gd name="adj" fmla="val 9412"/>
            </a:avLst>
          </a:prstGeom>
          <a:solidFill>
            <a:srgbClr val="F4F7F5"/>
          </a:solidFill>
          <a:ln w="9525">
            <a:solidFill>
              <a:srgbClr val="D5DED9"/>
            </a:solidFill>
            <a:prstDash val="solid"/>
          </a:ln>
        </p:spPr>
      </p:sp>
      <p:sp>
        <p:nvSpPr>
          <p:cNvPr id="27" name="Text 24"/>
          <p:cNvSpPr txBox="1"/>
          <p:nvPr/>
        </p:nvSpPr>
        <p:spPr>
          <a:xfrm>
            <a:off x="1371600" y="3118104"/>
            <a:ext cx="6263640" cy="777240"/>
          </a:xfrm>
          <a:prstGeom prst="rect">
            <a:avLst/>
          </a:prstGeom>
          <a:noFill/>
          <a:ln/>
        </p:spPr>
        <p:txBody>
          <a:bodyPr wrap="square" lIns="0" tIns="0" rIns="0" bIns="0" rtlCol="0" anchor="ctr"/>
          <a:lstStyle/>
          <a:p>
            <a:pPr marL="0" indent="0">
              <a:buNone/>
            </a:pPr>
            <a:r>
              <a:rPr lang="fr-FR" sz="1250" b="1" dirty="0">
                <a:solidFill>
                  <a:srgbClr val="00704A"/>
                </a:solidFill>
                <a:latin typeface="Calibri" pitchFamily="34" charset="0"/>
                <a:ea typeface="Calibri" pitchFamily="34" charset="-122"/>
                <a:cs typeface="Calibri" pitchFamily="34" charset="-120"/>
              </a:rPr>
              <a:t>Votre indicateur NTL est corrélé à 0,9 avec WorldPop. Est-il validé ?</a:t>
            </a:r>
            <a:endParaRPr lang="fr-FR" sz="1250" dirty="0"/>
          </a:p>
        </p:txBody>
      </p:sp>
      <p:sp>
        <p:nvSpPr>
          <p:cNvPr id="28" name="Shape 25"/>
          <p:cNvSpPr/>
          <p:nvPr/>
        </p:nvSpPr>
        <p:spPr>
          <a:xfrm>
            <a:off x="7909560" y="3118104"/>
            <a:ext cx="3730752" cy="777240"/>
          </a:xfrm>
          <a:prstGeom prst="roundRect">
            <a:avLst>
              <a:gd name="adj" fmla="val 9412"/>
            </a:avLst>
          </a:prstGeom>
          <a:solidFill>
            <a:srgbClr val="FDF5DC"/>
          </a:solidFill>
          <a:ln w="9525">
            <a:solidFill>
              <a:srgbClr val="FDF5DC"/>
            </a:solidFill>
            <a:prstDash val="solid"/>
          </a:ln>
        </p:spPr>
      </p:sp>
      <p:sp>
        <p:nvSpPr>
          <p:cNvPr id="29" name="Text 26"/>
          <p:cNvSpPr txBox="1"/>
          <p:nvPr/>
        </p:nvSpPr>
        <p:spPr>
          <a:xfrm>
            <a:off x="8065008" y="3118104"/>
            <a:ext cx="3474720" cy="777240"/>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Non — WorldPop utilise les NTL en covariable. La référence n’est pas indépendante.</a:t>
            </a:r>
            <a:endParaRPr lang="fr-FR" sz="1100" dirty="0"/>
          </a:p>
        </p:txBody>
      </p:sp>
      <p:sp>
        <p:nvSpPr>
          <p:cNvPr id="30" name="Shape 27"/>
          <p:cNvSpPr/>
          <p:nvPr/>
        </p:nvSpPr>
        <p:spPr>
          <a:xfrm>
            <a:off x="548640" y="4169664"/>
            <a:ext cx="457200" cy="457200"/>
          </a:xfrm>
          <a:prstGeom prst="ellipse">
            <a:avLst/>
          </a:prstGeom>
          <a:solidFill>
            <a:srgbClr val="00704A"/>
          </a:solidFill>
          <a:ln w="12700">
            <a:solidFill>
              <a:srgbClr val="00704A"/>
            </a:solidFill>
            <a:prstDash val="solid"/>
          </a:ln>
        </p:spPr>
      </p:sp>
      <p:sp>
        <p:nvSpPr>
          <p:cNvPr id="31" name="Text 28"/>
          <p:cNvSpPr txBox="1"/>
          <p:nvPr/>
        </p:nvSpPr>
        <p:spPr>
          <a:xfrm>
            <a:off x="548640" y="4169664"/>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4</a:t>
            </a:r>
            <a:endParaRPr lang="fr-FR" sz="1300" dirty="0"/>
          </a:p>
        </p:txBody>
      </p:sp>
      <p:sp>
        <p:nvSpPr>
          <p:cNvPr id="32" name="Shape 29"/>
          <p:cNvSpPr/>
          <p:nvPr/>
        </p:nvSpPr>
        <p:spPr>
          <a:xfrm>
            <a:off x="1188720" y="4014216"/>
            <a:ext cx="6583680" cy="777240"/>
          </a:xfrm>
          <a:prstGeom prst="roundRect">
            <a:avLst>
              <a:gd name="adj" fmla="val 9412"/>
            </a:avLst>
          </a:prstGeom>
          <a:solidFill>
            <a:srgbClr val="F4F7F5"/>
          </a:solidFill>
          <a:ln w="9525">
            <a:solidFill>
              <a:srgbClr val="D5DED9"/>
            </a:solidFill>
            <a:prstDash val="solid"/>
          </a:ln>
        </p:spPr>
      </p:sp>
      <p:sp>
        <p:nvSpPr>
          <p:cNvPr id="33" name="Text 30"/>
          <p:cNvSpPr txBox="1"/>
          <p:nvPr/>
        </p:nvSpPr>
        <p:spPr>
          <a:xfrm>
            <a:off x="1371600" y="4014216"/>
            <a:ext cx="6263640" cy="777240"/>
          </a:xfrm>
          <a:prstGeom prst="rect">
            <a:avLst/>
          </a:prstGeom>
          <a:noFill/>
          <a:ln/>
        </p:spPr>
        <p:txBody>
          <a:bodyPr wrap="square" lIns="0" tIns="0" rIns="0" bIns="0" rtlCol="0" anchor="ctr"/>
          <a:lstStyle/>
          <a:p>
            <a:pPr marL="0" indent="0">
              <a:buNone/>
            </a:pPr>
            <a:r>
              <a:rPr lang="fr-FR" sz="1250" b="1" dirty="0">
                <a:solidFill>
                  <a:srgbClr val="00704A"/>
                </a:solidFill>
                <a:latin typeface="Calibri" pitchFamily="34" charset="0"/>
                <a:ea typeface="Calibri" pitchFamily="34" charset="-122"/>
                <a:cs typeface="Calibri" pitchFamily="34" charset="-120"/>
              </a:rPr>
              <a:t>Corrélation forte en niveaux mais faible en taux de croissance. Qu’en conclure ?</a:t>
            </a:r>
            <a:endParaRPr lang="fr-FR" sz="1250" dirty="0"/>
          </a:p>
        </p:txBody>
      </p:sp>
      <p:sp>
        <p:nvSpPr>
          <p:cNvPr id="34" name="Shape 31"/>
          <p:cNvSpPr/>
          <p:nvPr/>
        </p:nvSpPr>
        <p:spPr>
          <a:xfrm>
            <a:off x="7909560" y="4014216"/>
            <a:ext cx="3730752" cy="777240"/>
          </a:xfrm>
          <a:prstGeom prst="roundRect">
            <a:avLst>
              <a:gd name="adj" fmla="val 9412"/>
            </a:avLst>
          </a:prstGeom>
          <a:solidFill>
            <a:srgbClr val="FDF5DC"/>
          </a:solidFill>
          <a:ln w="9525">
            <a:solidFill>
              <a:srgbClr val="FDF5DC"/>
            </a:solidFill>
            <a:prstDash val="solid"/>
          </a:ln>
        </p:spPr>
      </p:sp>
      <p:sp>
        <p:nvSpPr>
          <p:cNvPr id="35" name="Text 32"/>
          <p:cNvSpPr txBox="1"/>
          <p:nvPr/>
        </p:nvSpPr>
        <p:spPr>
          <a:xfrm>
            <a:off x="8065008" y="4014216"/>
            <a:ext cx="3474720" cy="777240"/>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La taille pilote les niveaux ; l’indicateur n’est pas encore un outil de suivi fiable.</a:t>
            </a:r>
            <a:endParaRPr lang="fr-FR" sz="1100" dirty="0"/>
          </a:p>
        </p:txBody>
      </p:sp>
      <p:sp>
        <p:nvSpPr>
          <p:cNvPr id="36" name="Shape 33"/>
          <p:cNvSpPr/>
          <p:nvPr/>
        </p:nvSpPr>
        <p:spPr>
          <a:xfrm>
            <a:off x="548640" y="5065776"/>
            <a:ext cx="457200" cy="457200"/>
          </a:xfrm>
          <a:prstGeom prst="ellipse">
            <a:avLst/>
          </a:prstGeom>
          <a:solidFill>
            <a:srgbClr val="00704A"/>
          </a:solidFill>
          <a:ln w="12700">
            <a:solidFill>
              <a:srgbClr val="00704A"/>
            </a:solidFill>
            <a:prstDash val="solid"/>
          </a:ln>
        </p:spPr>
      </p:sp>
      <p:sp>
        <p:nvSpPr>
          <p:cNvPr id="37" name="Text 34"/>
          <p:cNvSpPr txBox="1"/>
          <p:nvPr/>
        </p:nvSpPr>
        <p:spPr>
          <a:xfrm>
            <a:off x="548640" y="5065776"/>
            <a:ext cx="457200" cy="457200"/>
          </a:xfrm>
          <a:prstGeom prst="rect">
            <a:avLst/>
          </a:prstGeom>
          <a:noFill/>
          <a:ln/>
        </p:spPr>
        <p:txBody>
          <a:bodyPr wrap="square" lIns="0" tIns="0" rIns="0" bIns="0" rtlCol="0" anchor="ctr"/>
          <a:lstStyle/>
          <a:p>
            <a:pPr marL="0" indent="0" algn="ctr">
              <a:buNone/>
            </a:pPr>
            <a:r>
              <a:rPr lang="fr-FR" sz="1300" b="1" dirty="0">
                <a:solidFill>
                  <a:srgbClr val="FFFFFF"/>
                </a:solidFill>
                <a:latin typeface="Calibri" pitchFamily="34" charset="0"/>
                <a:ea typeface="Calibri" pitchFamily="34" charset="-122"/>
                <a:cs typeface="Calibri" pitchFamily="34" charset="-120"/>
              </a:rPr>
              <a:t>5</a:t>
            </a:r>
            <a:endParaRPr lang="fr-FR" sz="1300" dirty="0"/>
          </a:p>
        </p:txBody>
      </p:sp>
      <p:sp>
        <p:nvSpPr>
          <p:cNvPr id="38" name="Shape 35"/>
          <p:cNvSpPr/>
          <p:nvPr/>
        </p:nvSpPr>
        <p:spPr>
          <a:xfrm>
            <a:off x="1188720" y="4910328"/>
            <a:ext cx="6583680" cy="777240"/>
          </a:xfrm>
          <a:prstGeom prst="roundRect">
            <a:avLst>
              <a:gd name="adj" fmla="val 9412"/>
            </a:avLst>
          </a:prstGeom>
          <a:solidFill>
            <a:srgbClr val="F4F7F5"/>
          </a:solidFill>
          <a:ln w="9525">
            <a:solidFill>
              <a:srgbClr val="D5DED9"/>
            </a:solidFill>
            <a:prstDash val="solid"/>
          </a:ln>
        </p:spPr>
      </p:sp>
      <p:sp>
        <p:nvSpPr>
          <p:cNvPr id="39" name="Text 36"/>
          <p:cNvSpPr txBox="1"/>
          <p:nvPr/>
        </p:nvSpPr>
        <p:spPr>
          <a:xfrm>
            <a:off x="1371600" y="4910328"/>
            <a:ext cx="6263640" cy="777240"/>
          </a:xfrm>
          <a:prstGeom prst="rect">
            <a:avLst/>
          </a:prstGeom>
          <a:noFill/>
          <a:ln/>
        </p:spPr>
        <p:txBody>
          <a:bodyPr wrap="square" lIns="0" tIns="0" rIns="0" bIns="0" rtlCol="0" anchor="ctr"/>
          <a:lstStyle/>
          <a:p>
            <a:pPr marL="0" indent="0">
              <a:buNone/>
            </a:pPr>
            <a:r>
              <a:rPr lang="fr-FR" sz="1250" b="1" dirty="0">
                <a:solidFill>
                  <a:srgbClr val="00704A"/>
                </a:solidFill>
                <a:latin typeface="Calibri" pitchFamily="34" charset="0"/>
                <a:ea typeface="Calibri" pitchFamily="34" charset="-122"/>
                <a:cs typeface="Calibri" pitchFamily="34" charset="-120"/>
              </a:rPr>
              <a:t>Une province côtière s’éteint un mois en saison des pluies. Première vérification ?</a:t>
            </a:r>
            <a:endParaRPr lang="fr-FR" sz="1250" dirty="0"/>
          </a:p>
        </p:txBody>
      </p:sp>
      <p:sp>
        <p:nvSpPr>
          <p:cNvPr id="40" name="Shape 37"/>
          <p:cNvSpPr/>
          <p:nvPr/>
        </p:nvSpPr>
        <p:spPr>
          <a:xfrm>
            <a:off x="7909560" y="4910328"/>
            <a:ext cx="3730752" cy="777240"/>
          </a:xfrm>
          <a:prstGeom prst="roundRect">
            <a:avLst>
              <a:gd name="adj" fmla="val 9412"/>
            </a:avLst>
          </a:prstGeom>
          <a:solidFill>
            <a:srgbClr val="FDF5DC"/>
          </a:solidFill>
          <a:ln w="9525">
            <a:solidFill>
              <a:srgbClr val="FDF5DC"/>
            </a:solidFill>
            <a:prstDash val="solid"/>
          </a:ln>
        </p:spPr>
      </p:sp>
      <p:sp>
        <p:nvSpPr>
          <p:cNvPr id="41" name="Text 38"/>
          <p:cNvSpPr txBox="1"/>
          <p:nvPr/>
        </p:nvSpPr>
        <p:spPr>
          <a:xfrm>
            <a:off x="8065008" y="4910328"/>
            <a:ext cx="3474720" cy="777240"/>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La couche du nombre d’observations : nuages, pas effondrement.</a:t>
            </a:r>
            <a:endParaRPr lang="fr-FR" sz="1100" dirty="0"/>
          </a:p>
        </p:txBody>
      </p:sp>
      <p:sp>
        <p:nvSpPr>
          <p:cNvPr id="42" name="Text 39"/>
          <p:cNvSpPr txBox="1"/>
          <p:nvPr/>
        </p:nvSpPr>
        <p:spPr>
          <a:xfrm>
            <a:off x="548640" y="5870448"/>
            <a:ext cx="11094415" cy="274320"/>
          </a:xfrm>
          <a:prstGeom prst="rect">
            <a:avLst/>
          </a:prstGeom>
          <a:noFill/>
          <a:ln/>
        </p:spPr>
        <p:txBody>
          <a:bodyPr wrap="square" lIns="0" tIns="0" rIns="0" bIns="0" rtlCol="0" anchor="t"/>
          <a:lstStyle/>
          <a:p>
            <a:pPr marL="0" indent="0">
              <a:buNone/>
            </a:pPr>
            <a:r>
              <a:rPr lang="fr-FR" sz="1000" i="1" dirty="0">
                <a:solidFill>
                  <a:srgbClr val="5E6964"/>
                </a:solidFill>
                <a:latin typeface="Calibri" pitchFamily="34" charset="0"/>
                <a:ea typeface="Calibri" pitchFamily="34" charset="-122"/>
                <a:cs typeface="Calibri" pitchFamily="34" charset="-120"/>
              </a:rPr>
              <a:t>Conseil aux présentateurs : masquez la colonne de droite avec une forme ou révélez les réponses une à une.</a:t>
            </a:r>
            <a:endParaRPr lang="fr-FR"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766560"/>
            <a:ext cx="9509522" cy="91440"/>
          </a:xfrm>
          <a:prstGeom prst="rect">
            <a:avLst/>
          </a:prstGeom>
          <a:solidFill>
            <a:srgbClr val="00704A"/>
          </a:solidFill>
          <a:ln w="6350">
            <a:solidFill>
              <a:srgbClr val="00704A"/>
            </a:solidFill>
            <a:prstDash val="solid"/>
          </a:ln>
        </p:spPr>
      </p:sp>
      <p:sp>
        <p:nvSpPr>
          <p:cNvPr id="3" name="Shape 1"/>
          <p:cNvSpPr/>
          <p:nvPr/>
        </p:nvSpPr>
        <p:spPr>
          <a:xfrm>
            <a:off x="9509522" y="6766560"/>
            <a:ext cx="2682173" cy="91440"/>
          </a:xfrm>
          <a:prstGeom prst="rect">
            <a:avLst/>
          </a:prstGeom>
          <a:solidFill>
            <a:srgbClr val="F5C242"/>
          </a:solidFill>
          <a:ln w="6350">
            <a:solidFill>
              <a:srgbClr val="F5C242"/>
            </a:solidFill>
            <a:prstDash val="solid"/>
          </a:ln>
        </p:spPr>
      </p:sp>
      <p:sp>
        <p:nvSpPr>
          <p:cNvPr id="4" name="Text 2"/>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Maurice  ·  Rendu illustratif : populations des localités GeoNames, frontières Natural Earth</a:t>
            </a:r>
            <a:endParaRPr lang="fr-FR" sz="800" dirty="0"/>
          </a:p>
        </p:txBody>
      </p:sp>
      <p:sp>
        <p:nvSpPr>
          <p:cNvPr id="5" name="Text 3"/>
          <p:cNvSpPr txBox="1"/>
          <p:nvPr/>
        </p:nvSpPr>
        <p:spPr>
          <a:xfrm>
            <a:off x="822960" y="640080"/>
            <a:ext cx="5486400" cy="274320"/>
          </a:xfrm>
          <a:prstGeom prst="rect">
            <a:avLst/>
          </a:prstGeom>
          <a:noFill/>
          <a:ln/>
        </p:spPr>
        <p:txBody>
          <a:bodyPr wrap="square" lIns="0" tIns="0" rIns="0" bIns="0" rtlCol="0" anchor="t"/>
          <a:lstStyle/>
          <a:p>
            <a:pPr marL="0" indent="0">
              <a:buNone/>
            </a:pPr>
            <a:r>
              <a:rPr lang="fr-FR" sz="1100" b="1" kern="0" spc="300" dirty="0">
                <a:solidFill>
                  <a:srgbClr val="7BCBA9"/>
                </a:solidFill>
                <a:latin typeface="Calibri" pitchFamily="34" charset="0"/>
                <a:ea typeface="Calibri" pitchFamily="34" charset="-122"/>
                <a:cs typeface="Calibri" pitchFamily="34" charset="-120"/>
              </a:rPr>
              <a:t>EN CONCLUSION</a:t>
            </a:r>
            <a:endParaRPr lang="fr-FR" sz="1100" dirty="0"/>
          </a:p>
        </p:txBody>
      </p:sp>
      <p:sp>
        <p:nvSpPr>
          <p:cNvPr id="6" name="Text 4"/>
          <p:cNvSpPr txBox="1"/>
          <p:nvPr/>
        </p:nvSpPr>
        <p:spPr>
          <a:xfrm>
            <a:off x="822960" y="914400"/>
            <a:ext cx="6858000" cy="640080"/>
          </a:xfrm>
          <a:prstGeom prst="rect">
            <a:avLst/>
          </a:prstGeom>
          <a:noFill/>
          <a:ln/>
        </p:spPr>
        <p:txBody>
          <a:bodyPr wrap="square" lIns="0" tIns="0" rIns="0" bIns="0" rtlCol="0" anchor="ctr"/>
          <a:lstStyle/>
          <a:p>
            <a:pPr marL="0" indent="0">
              <a:buNone/>
            </a:pPr>
            <a:r>
              <a:rPr lang="fr-FR" sz="3000" b="1" dirty="0">
                <a:solidFill>
                  <a:srgbClr val="FFFFFF"/>
                </a:solidFill>
                <a:latin typeface="Calibri" pitchFamily="34" charset="0"/>
                <a:ea typeface="Calibri" pitchFamily="34" charset="-122"/>
                <a:cs typeface="Calibri" pitchFamily="34" charset="-120"/>
              </a:rPr>
              <a:t>Cinq idées à emporter aux labos</a:t>
            </a:r>
            <a:endParaRPr lang="fr-FR" sz="3000" dirty="0"/>
          </a:p>
        </p:txBody>
      </p:sp>
      <p:sp>
        <p:nvSpPr>
          <p:cNvPr id="7" name="Shape 5"/>
          <p:cNvSpPr/>
          <p:nvPr/>
        </p:nvSpPr>
        <p:spPr>
          <a:xfrm>
            <a:off x="822960" y="1856232"/>
            <a:ext cx="420624" cy="420624"/>
          </a:xfrm>
          <a:prstGeom prst="ellipse">
            <a:avLst/>
          </a:prstGeom>
          <a:solidFill>
            <a:srgbClr val="F5C242"/>
          </a:solidFill>
          <a:ln w="12700">
            <a:solidFill>
              <a:srgbClr val="F5C242"/>
            </a:solidFill>
            <a:prstDash val="solid"/>
          </a:ln>
        </p:spPr>
      </p:sp>
      <p:sp>
        <p:nvSpPr>
          <p:cNvPr id="8" name="Text 6"/>
          <p:cNvSpPr txBox="1"/>
          <p:nvPr/>
        </p:nvSpPr>
        <p:spPr>
          <a:xfrm>
            <a:off x="822960" y="1856232"/>
            <a:ext cx="420624" cy="420624"/>
          </a:xfrm>
          <a:prstGeom prst="rect">
            <a:avLst/>
          </a:prstGeom>
          <a:noFill/>
          <a:ln/>
        </p:spPr>
        <p:txBody>
          <a:bodyPr wrap="square" lIns="0" tIns="0" rIns="0" bIns="0" rtlCol="0" anchor="ctr"/>
          <a:lstStyle/>
          <a:p>
            <a:pPr marL="0" indent="0" algn="ctr">
              <a:buNone/>
            </a:pPr>
            <a:r>
              <a:rPr lang="fr-FR" sz="1196" b="1" dirty="0">
                <a:solidFill>
                  <a:srgbClr val="00553A"/>
                </a:solidFill>
                <a:latin typeface="Calibri" pitchFamily="34" charset="0"/>
                <a:ea typeface="Calibri" pitchFamily="34" charset="-122"/>
                <a:cs typeface="Calibri" pitchFamily="34" charset="-120"/>
              </a:rPr>
              <a:t>1</a:t>
            </a:r>
            <a:endParaRPr lang="fr-FR" sz="1196" dirty="0"/>
          </a:p>
        </p:txBody>
      </p:sp>
      <p:sp>
        <p:nvSpPr>
          <p:cNvPr id="9" name="Text 7"/>
          <p:cNvSpPr txBox="1"/>
          <p:nvPr/>
        </p:nvSpPr>
        <p:spPr>
          <a:xfrm>
            <a:off x="1463040" y="1783080"/>
            <a:ext cx="6583680" cy="594360"/>
          </a:xfrm>
          <a:prstGeom prst="rect">
            <a:avLst/>
          </a:prstGeom>
          <a:noFill/>
          <a:ln/>
        </p:spPr>
        <p:txBody>
          <a:bodyPr wrap="square" lIns="0" tIns="0" rIns="0" bIns="0" rtlCol="0" anchor="ctr"/>
          <a:lstStyle/>
          <a:p>
            <a:pPr marL="0" indent="0">
              <a:buNone/>
            </a:pPr>
            <a:r>
              <a:rPr lang="fr-FR" sz="1350" dirty="0">
                <a:solidFill>
                  <a:srgbClr val="FFFFFF"/>
                </a:solidFill>
                <a:latin typeface="Calibri" pitchFamily="34" charset="0"/>
                <a:ea typeface="Calibri" pitchFamily="34" charset="-122"/>
                <a:cs typeface="Calibri" pitchFamily="34" charset="-120"/>
              </a:rPr>
              <a:t>Les lumières nocturnes sont un indicateur indirect, jamais la grandeur d’intérêt — nommez l’hypothèse qui les relie à votre question.</a:t>
            </a:r>
            <a:endParaRPr lang="fr-FR" sz="1350" dirty="0"/>
          </a:p>
        </p:txBody>
      </p:sp>
      <p:sp>
        <p:nvSpPr>
          <p:cNvPr id="10" name="Shape 8"/>
          <p:cNvSpPr/>
          <p:nvPr/>
        </p:nvSpPr>
        <p:spPr>
          <a:xfrm>
            <a:off x="822960" y="2569464"/>
            <a:ext cx="420624" cy="420624"/>
          </a:xfrm>
          <a:prstGeom prst="ellipse">
            <a:avLst/>
          </a:prstGeom>
          <a:solidFill>
            <a:srgbClr val="F5C242"/>
          </a:solidFill>
          <a:ln w="12700">
            <a:solidFill>
              <a:srgbClr val="F5C242"/>
            </a:solidFill>
            <a:prstDash val="solid"/>
          </a:ln>
        </p:spPr>
      </p:sp>
      <p:sp>
        <p:nvSpPr>
          <p:cNvPr id="11" name="Text 9"/>
          <p:cNvSpPr txBox="1"/>
          <p:nvPr/>
        </p:nvSpPr>
        <p:spPr>
          <a:xfrm>
            <a:off x="822960" y="2569464"/>
            <a:ext cx="420624" cy="420624"/>
          </a:xfrm>
          <a:prstGeom prst="rect">
            <a:avLst/>
          </a:prstGeom>
          <a:noFill/>
          <a:ln/>
        </p:spPr>
        <p:txBody>
          <a:bodyPr wrap="square" lIns="0" tIns="0" rIns="0" bIns="0" rtlCol="0" anchor="ctr"/>
          <a:lstStyle/>
          <a:p>
            <a:pPr marL="0" indent="0" algn="ctr">
              <a:buNone/>
            </a:pPr>
            <a:r>
              <a:rPr lang="fr-FR" sz="1196" b="1" dirty="0">
                <a:solidFill>
                  <a:srgbClr val="00553A"/>
                </a:solidFill>
                <a:latin typeface="Calibri" pitchFamily="34" charset="0"/>
                <a:ea typeface="Calibri" pitchFamily="34" charset="-122"/>
                <a:cs typeface="Calibri" pitchFamily="34" charset="-120"/>
              </a:rPr>
              <a:t>2</a:t>
            </a:r>
            <a:endParaRPr lang="fr-FR" sz="1196" dirty="0"/>
          </a:p>
        </p:txBody>
      </p:sp>
      <p:sp>
        <p:nvSpPr>
          <p:cNvPr id="12" name="Text 10"/>
          <p:cNvSpPr txBox="1"/>
          <p:nvPr/>
        </p:nvSpPr>
        <p:spPr>
          <a:xfrm>
            <a:off x="1463040" y="2496312"/>
            <a:ext cx="6583680" cy="594360"/>
          </a:xfrm>
          <a:prstGeom prst="rect">
            <a:avLst/>
          </a:prstGeom>
          <a:noFill/>
          <a:ln/>
        </p:spPr>
        <p:txBody>
          <a:bodyPr wrap="square" lIns="0" tIns="0" rIns="0" bIns="0" rtlCol="0" anchor="ctr"/>
          <a:lstStyle/>
          <a:p>
            <a:pPr marL="0" indent="0">
              <a:buNone/>
            </a:pPr>
            <a:r>
              <a:rPr lang="fr-FR" sz="1350" dirty="0">
                <a:solidFill>
                  <a:srgbClr val="FFFFFF"/>
                </a:solidFill>
                <a:latin typeface="Calibri" pitchFamily="34" charset="0"/>
                <a:ea typeface="Calibri" pitchFamily="34" charset="-122"/>
                <a:cs typeface="Calibri" pitchFamily="34" charset="-120"/>
              </a:rPr>
              <a:t>L’instrument définit la science : le DMSP sature, VIIRS est étalonné, et aucun des deux ne voit le bleu.</a:t>
            </a:r>
            <a:endParaRPr lang="fr-FR" sz="1350" dirty="0"/>
          </a:p>
        </p:txBody>
      </p:sp>
      <p:sp>
        <p:nvSpPr>
          <p:cNvPr id="13" name="Shape 11"/>
          <p:cNvSpPr/>
          <p:nvPr/>
        </p:nvSpPr>
        <p:spPr>
          <a:xfrm>
            <a:off x="822960" y="3282696"/>
            <a:ext cx="420624" cy="420624"/>
          </a:xfrm>
          <a:prstGeom prst="ellipse">
            <a:avLst/>
          </a:prstGeom>
          <a:solidFill>
            <a:srgbClr val="F5C242"/>
          </a:solidFill>
          <a:ln w="12700">
            <a:solidFill>
              <a:srgbClr val="F5C242"/>
            </a:solidFill>
            <a:prstDash val="solid"/>
          </a:ln>
        </p:spPr>
      </p:sp>
      <p:sp>
        <p:nvSpPr>
          <p:cNvPr id="14" name="Text 12"/>
          <p:cNvSpPr txBox="1"/>
          <p:nvPr/>
        </p:nvSpPr>
        <p:spPr>
          <a:xfrm>
            <a:off x="822960" y="3282696"/>
            <a:ext cx="420624" cy="420624"/>
          </a:xfrm>
          <a:prstGeom prst="rect">
            <a:avLst/>
          </a:prstGeom>
          <a:noFill/>
          <a:ln/>
        </p:spPr>
        <p:txBody>
          <a:bodyPr wrap="square" lIns="0" tIns="0" rIns="0" bIns="0" rtlCol="0" anchor="ctr"/>
          <a:lstStyle/>
          <a:p>
            <a:pPr marL="0" indent="0" algn="ctr">
              <a:buNone/>
            </a:pPr>
            <a:r>
              <a:rPr lang="fr-FR" sz="1196" b="1" dirty="0">
                <a:solidFill>
                  <a:srgbClr val="00553A"/>
                </a:solidFill>
                <a:latin typeface="Calibri" pitchFamily="34" charset="0"/>
                <a:ea typeface="Calibri" pitchFamily="34" charset="-122"/>
                <a:cs typeface="Calibri" pitchFamily="34" charset="-120"/>
              </a:rPr>
              <a:t>3</a:t>
            </a:r>
            <a:endParaRPr lang="fr-FR" sz="1196" dirty="0"/>
          </a:p>
        </p:txBody>
      </p:sp>
      <p:sp>
        <p:nvSpPr>
          <p:cNvPr id="15" name="Text 13"/>
          <p:cNvSpPr txBox="1"/>
          <p:nvPr/>
        </p:nvSpPr>
        <p:spPr>
          <a:xfrm>
            <a:off x="1463040" y="3209544"/>
            <a:ext cx="6583680" cy="594360"/>
          </a:xfrm>
          <a:prstGeom prst="rect">
            <a:avLst/>
          </a:prstGeom>
          <a:noFill/>
          <a:ln/>
        </p:spPr>
        <p:txBody>
          <a:bodyPr wrap="square" lIns="0" tIns="0" rIns="0" bIns="0" rtlCol="0" anchor="ctr"/>
          <a:lstStyle/>
          <a:p>
            <a:pPr marL="0" indent="0">
              <a:buNone/>
            </a:pPr>
            <a:r>
              <a:rPr lang="fr-FR" sz="1350" dirty="0">
                <a:solidFill>
                  <a:srgbClr val="FFFFFF"/>
                </a:solidFill>
                <a:latin typeface="Calibri" pitchFamily="34" charset="0"/>
                <a:ea typeface="Calibri" pitchFamily="34" charset="-122"/>
                <a:cs typeface="Calibri" pitchFamily="34" charset="-120"/>
              </a:rPr>
              <a:t>Les données valent le plus là où la statistique officielle est la plus mince : infranational, haute fréquence, crises, informel.</a:t>
            </a:r>
            <a:endParaRPr lang="fr-FR" sz="1350" dirty="0"/>
          </a:p>
        </p:txBody>
      </p:sp>
      <p:sp>
        <p:nvSpPr>
          <p:cNvPr id="16" name="Shape 14"/>
          <p:cNvSpPr/>
          <p:nvPr/>
        </p:nvSpPr>
        <p:spPr>
          <a:xfrm>
            <a:off x="822960" y="3995928"/>
            <a:ext cx="420624" cy="420624"/>
          </a:xfrm>
          <a:prstGeom prst="ellipse">
            <a:avLst/>
          </a:prstGeom>
          <a:solidFill>
            <a:srgbClr val="F5C242"/>
          </a:solidFill>
          <a:ln w="12700">
            <a:solidFill>
              <a:srgbClr val="F5C242"/>
            </a:solidFill>
            <a:prstDash val="solid"/>
          </a:ln>
        </p:spPr>
      </p:sp>
      <p:sp>
        <p:nvSpPr>
          <p:cNvPr id="17" name="Text 15"/>
          <p:cNvSpPr txBox="1"/>
          <p:nvPr/>
        </p:nvSpPr>
        <p:spPr>
          <a:xfrm>
            <a:off x="822960" y="3995928"/>
            <a:ext cx="420624" cy="420624"/>
          </a:xfrm>
          <a:prstGeom prst="rect">
            <a:avLst/>
          </a:prstGeom>
          <a:noFill/>
          <a:ln/>
        </p:spPr>
        <p:txBody>
          <a:bodyPr wrap="square" lIns="0" tIns="0" rIns="0" bIns="0" rtlCol="0" anchor="ctr"/>
          <a:lstStyle/>
          <a:p>
            <a:pPr marL="0" indent="0" algn="ctr">
              <a:buNone/>
            </a:pPr>
            <a:r>
              <a:rPr lang="fr-FR" sz="1196" b="1" dirty="0">
                <a:solidFill>
                  <a:srgbClr val="00553A"/>
                </a:solidFill>
                <a:latin typeface="Calibri" pitchFamily="34" charset="0"/>
                <a:ea typeface="Calibri" pitchFamily="34" charset="-122"/>
                <a:cs typeface="Calibri" pitchFamily="34" charset="-120"/>
              </a:rPr>
              <a:t>4</a:t>
            </a:r>
            <a:endParaRPr lang="fr-FR" sz="1196" dirty="0"/>
          </a:p>
        </p:txBody>
      </p:sp>
      <p:sp>
        <p:nvSpPr>
          <p:cNvPr id="18" name="Text 16"/>
          <p:cNvSpPr txBox="1"/>
          <p:nvPr/>
        </p:nvSpPr>
        <p:spPr>
          <a:xfrm>
            <a:off x="1463040" y="3922776"/>
            <a:ext cx="6583680" cy="594360"/>
          </a:xfrm>
          <a:prstGeom prst="rect">
            <a:avLst/>
          </a:prstGeom>
          <a:noFill/>
          <a:ln/>
        </p:spPr>
        <p:txBody>
          <a:bodyPr wrap="square" lIns="0" tIns="0" rIns="0" bIns="0" rtlCol="0" anchor="ctr"/>
          <a:lstStyle/>
          <a:p>
            <a:pPr marL="0" indent="0">
              <a:buNone/>
            </a:pPr>
            <a:r>
              <a:rPr lang="fr-FR" sz="1350" dirty="0">
                <a:solidFill>
                  <a:srgbClr val="FFFFFF"/>
                </a:solidFill>
                <a:latin typeface="Calibri" pitchFamily="34" charset="0"/>
                <a:ea typeface="Calibri" pitchFamily="34" charset="-122"/>
                <a:cs typeface="Calibri" pitchFamily="34" charset="-120"/>
              </a:rPr>
              <a:t>L’obscurité n’est pas le vide — éclairage hors réseau, nuages et délestages se ressemblent vus d’en haut.</a:t>
            </a:r>
            <a:endParaRPr lang="fr-FR" sz="1350" dirty="0"/>
          </a:p>
        </p:txBody>
      </p:sp>
      <p:sp>
        <p:nvSpPr>
          <p:cNvPr id="19" name="Shape 17"/>
          <p:cNvSpPr/>
          <p:nvPr/>
        </p:nvSpPr>
        <p:spPr>
          <a:xfrm>
            <a:off x="822960" y="4709160"/>
            <a:ext cx="420624" cy="420624"/>
          </a:xfrm>
          <a:prstGeom prst="ellipse">
            <a:avLst/>
          </a:prstGeom>
          <a:solidFill>
            <a:srgbClr val="F5C242"/>
          </a:solidFill>
          <a:ln w="12700">
            <a:solidFill>
              <a:srgbClr val="F5C242"/>
            </a:solidFill>
            <a:prstDash val="solid"/>
          </a:ln>
        </p:spPr>
      </p:sp>
      <p:sp>
        <p:nvSpPr>
          <p:cNvPr id="20" name="Text 18"/>
          <p:cNvSpPr txBox="1"/>
          <p:nvPr/>
        </p:nvSpPr>
        <p:spPr>
          <a:xfrm>
            <a:off x="822960" y="4709160"/>
            <a:ext cx="420624" cy="420624"/>
          </a:xfrm>
          <a:prstGeom prst="rect">
            <a:avLst/>
          </a:prstGeom>
          <a:noFill/>
          <a:ln/>
        </p:spPr>
        <p:txBody>
          <a:bodyPr wrap="square" lIns="0" tIns="0" rIns="0" bIns="0" rtlCol="0" anchor="ctr"/>
          <a:lstStyle/>
          <a:p>
            <a:pPr marL="0" indent="0" algn="ctr">
              <a:buNone/>
            </a:pPr>
            <a:r>
              <a:rPr lang="fr-FR" sz="1196" b="1" dirty="0">
                <a:solidFill>
                  <a:srgbClr val="00553A"/>
                </a:solidFill>
                <a:latin typeface="Calibri" pitchFamily="34" charset="0"/>
                <a:ea typeface="Calibri" pitchFamily="34" charset="-122"/>
                <a:cs typeface="Calibri" pitchFamily="34" charset="-120"/>
              </a:rPr>
              <a:t>5</a:t>
            </a:r>
            <a:endParaRPr lang="fr-FR" sz="1196" dirty="0"/>
          </a:p>
        </p:txBody>
      </p:sp>
      <p:sp>
        <p:nvSpPr>
          <p:cNvPr id="21" name="Text 19"/>
          <p:cNvSpPr txBox="1"/>
          <p:nvPr/>
        </p:nvSpPr>
        <p:spPr>
          <a:xfrm>
            <a:off x="1463040" y="4636008"/>
            <a:ext cx="6583680" cy="594360"/>
          </a:xfrm>
          <a:prstGeom prst="rect">
            <a:avLst/>
          </a:prstGeom>
          <a:noFill/>
          <a:ln/>
        </p:spPr>
        <p:txBody>
          <a:bodyPr wrap="square" lIns="0" tIns="0" rIns="0" bIns="0" rtlCol="0" anchor="ctr"/>
          <a:lstStyle/>
          <a:p>
            <a:pPr marL="0" indent="0">
              <a:buNone/>
            </a:pPr>
            <a:r>
              <a:rPr lang="fr-FR" sz="1350" dirty="0">
                <a:solidFill>
                  <a:srgbClr val="FFFFFF"/>
                </a:solidFill>
                <a:latin typeface="Calibri" pitchFamily="34" charset="0"/>
                <a:ea typeface="Calibri" pitchFamily="34" charset="-122"/>
                <a:cs typeface="Calibri" pitchFamily="34" charset="-120"/>
              </a:rPr>
              <a:t>Validez avec des sources indépendantes, en niveaux et en évolutions, et publiez vos limites avec vos résultats.</a:t>
            </a:r>
            <a:endParaRPr lang="fr-FR" sz="1350" dirty="0"/>
          </a:p>
        </p:txBody>
      </p:sp>
      <p:sp>
        <p:nvSpPr>
          <p:cNvPr id="22" name="Text 20"/>
          <p:cNvSpPr txBox="1"/>
          <p:nvPr/>
        </p:nvSpPr>
        <p:spPr>
          <a:xfrm>
            <a:off x="822960" y="5486400"/>
            <a:ext cx="7315200" cy="548640"/>
          </a:xfrm>
          <a:prstGeom prst="rect">
            <a:avLst/>
          </a:prstGeom>
          <a:noFill/>
          <a:ln/>
        </p:spPr>
        <p:txBody>
          <a:bodyPr wrap="square" lIns="0" tIns="0" rIns="0" bIns="0" rtlCol="0" anchor="t"/>
          <a:lstStyle/>
          <a:p>
            <a:pPr marL="0" indent="0">
              <a:buNone/>
            </a:pPr>
            <a:r>
              <a:rPr lang="fr-FR" sz="1500" i="1" dirty="0">
                <a:solidFill>
                  <a:srgbClr val="F5C242"/>
                </a:solidFill>
                <a:latin typeface="Calibri" pitchFamily="34" charset="0"/>
                <a:ea typeface="Calibri" pitchFamily="34" charset="-122"/>
                <a:cs typeface="Calibri" pitchFamily="34" charset="-120"/>
              </a:rPr>
              <a:t>L’obscurité nous en dit beaucoup. Elle ne dit pas tout — et elle ne parle jamais d’elle-même.</a:t>
            </a:r>
            <a:endParaRPr lang="fr-FR"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ANNEXE · GLOSSAIRE</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Le vocabulaire de ce module</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65</a:t>
            </a:r>
            <a:endParaRPr lang="fr-FR" sz="900" dirty="0"/>
          </a:p>
        </p:txBody>
      </p:sp>
      <p:sp>
        <p:nvSpPr>
          <p:cNvPr id="12" name="Shape 9"/>
          <p:cNvSpPr/>
          <p:nvPr/>
        </p:nvSpPr>
        <p:spPr>
          <a:xfrm>
            <a:off x="548640" y="1325880"/>
            <a:ext cx="5468112" cy="786384"/>
          </a:xfrm>
          <a:prstGeom prst="roundRect">
            <a:avLst>
              <a:gd name="adj" fmla="val 9302"/>
            </a:avLst>
          </a:prstGeom>
          <a:solidFill>
            <a:srgbClr val="F4F7F5"/>
          </a:solidFill>
          <a:ln w="9525">
            <a:solidFill>
              <a:srgbClr val="D5DED9"/>
            </a:solidFill>
            <a:prstDash val="solid"/>
          </a:ln>
        </p:spPr>
      </p:sp>
      <p:pic>
        <p:nvPicPr>
          <p:cNvPr id="13" name="Image 1" descr="preencoded.png"/>
          <p:cNvPicPr>
            <a:picLocks noChangeAspect="1"/>
          </p:cNvPicPr>
          <p:nvPr/>
        </p:nvPicPr>
        <p:blipFill>
          <a:blip r:embed="rId4"/>
          <a:stretch>
            <a:fillRect/>
          </a:stretch>
        </p:blipFill>
        <p:spPr>
          <a:xfrm>
            <a:off x="731520" y="1545336"/>
            <a:ext cx="329184" cy="329184"/>
          </a:xfrm>
          <a:prstGeom prst="rect">
            <a:avLst/>
          </a:prstGeom>
        </p:spPr>
      </p:pic>
      <p:sp>
        <p:nvSpPr>
          <p:cNvPr id="14" name="Text 10"/>
          <p:cNvSpPr txBox="1"/>
          <p:nvPr/>
        </p:nvSpPr>
        <p:spPr>
          <a:xfrm>
            <a:off x="1234440" y="1380744"/>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Radiance</a:t>
            </a:r>
            <a:endParaRPr lang="fr-FR" sz="1250" dirty="0"/>
          </a:p>
        </p:txBody>
      </p:sp>
      <p:sp>
        <p:nvSpPr>
          <p:cNvPr id="15" name="Text 11"/>
          <p:cNvSpPr txBox="1"/>
          <p:nvPr/>
        </p:nvSpPr>
        <p:spPr>
          <a:xfrm>
            <a:off x="1234440" y="1673352"/>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Énergie quittant une surface par unité d’aire et d’angle solide ; en nW·cm⁻²·sr⁻¹ pour les NTL.</a:t>
            </a:r>
            <a:endParaRPr lang="fr-FR" sz="1050" dirty="0"/>
          </a:p>
        </p:txBody>
      </p:sp>
      <p:sp>
        <p:nvSpPr>
          <p:cNvPr id="16" name="Shape 12"/>
          <p:cNvSpPr/>
          <p:nvPr/>
        </p:nvSpPr>
        <p:spPr>
          <a:xfrm>
            <a:off x="6172200" y="1325880"/>
            <a:ext cx="5468112" cy="786384"/>
          </a:xfrm>
          <a:prstGeom prst="roundRect">
            <a:avLst>
              <a:gd name="adj" fmla="val 9302"/>
            </a:avLst>
          </a:prstGeom>
          <a:solidFill>
            <a:srgbClr val="F4F7F5"/>
          </a:solidFill>
          <a:ln w="9525">
            <a:solidFill>
              <a:srgbClr val="D5DED9"/>
            </a:solidFill>
            <a:prstDash val="solid"/>
          </a:ln>
        </p:spPr>
      </p:sp>
      <p:pic>
        <p:nvPicPr>
          <p:cNvPr id="17" name="Image 2" descr="preencoded.png"/>
          <p:cNvPicPr>
            <a:picLocks noChangeAspect="1"/>
          </p:cNvPicPr>
          <p:nvPr/>
        </p:nvPicPr>
        <p:blipFill>
          <a:blip r:embed="rId4"/>
          <a:stretch>
            <a:fillRect/>
          </a:stretch>
        </p:blipFill>
        <p:spPr>
          <a:xfrm>
            <a:off x="6355080" y="1545336"/>
            <a:ext cx="329184" cy="329184"/>
          </a:xfrm>
          <a:prstGeom prst="rect">
            <a:avLst/>
          </a:prstGeom>
        </p:spPr>
      </p:pic>
      <p:sp>
        <p:nvSpPr>
          <p:cNvPr id="18" name="Text 13"/>
          <p:cNvSpPr txBox="1"/>
          <p:nvPr/>
        </p:nvSpPr>
        <p:spPr>
          <a:xfrm>
            <a:off x="6858000" y="1380744"/>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Nombre numérique (DN)</a:t>
            </a:r>
            <a:endParaRPr lang="fr-FR" sz="1250" dirty="0"/>
          </a:p>
        </p:txBody>
      </p:sp>
      <p:sp>
        <p:nvSpPr>
          <p:cNvPr id="19" name="Text 14"/>
          <p:cNvSpPr txBox="1"/>
          <p:nvPr/>
        </p:nvSpPr>
        <p:spPr>
          <a:xfrm>
            <a:off x="6858000" y="1673352"/>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Comptage brut du capteur, sans unité physique ; le DMSP va de 0 à 63.</a:t>
            </a:r>
            <a:endParaRPr lang="fr-FR" sz="1050" dirty="0"/>
          </a:p>
        </p:txBody>
      </p:sp>
      <p:sp>
        <p:nvSpPr>
          <p:cNvPr id="20" name="Shape 15"/>
          <p:cNvSpPr/>
          <p:nvPr/>
        </p:nvSpPr>
        <p:spPr>
          <a:xfrm>
            <a:off x="548640" y="2221992"/>
            <a:ext cx="5468112" cy="786384"/>
          </a:xfrm>
          <a:prstGeom prst="roundRect">
            <a:avLst>
              <a:gd name="adj" fmla="val 9302"/>
            </a:avLst>
          </a:prstGeom>
          <a:solidFill>
            <a:srgbClr val="F4F7F5"/>
          </a:solidFill>
          <a:ln w="9525">
            <a:solidFill>
              <a:srgbClr val="D5DED9"/>
            </a:solidFill>
            <a:prstDash val="solid"/>
          </a:ln>
        </p:spPr>
      </p:sp>
      <p:pic>
        <p:nvPicPr>
          <p:cNvPr id="21" name="Image 3" descr="preencoded.png"/>
          <p:cNvPicPr>
            <a:picLocks noChangeAspect="1"/>
          </p:cNvPicPr>
          <p:nvPr/>
        </p:nvPicPr>
        <p:blipFill>
          <a:blip r:embed="rId4"/>
          <a:stretch>
            <a:fillRect/>
          </a:stretch>
        </p:blipFill>
        <p:spPr>
          <a:xfrm>
            <a:off x="731520" y="2441448"/>
            <a:ext cx="329184" cy="329184"/>
          </a:xfrm>
          <a:prstGeom prst="rect">
            <a:avLst/>
          </a:prstGeom>
        </p:spPr>
      </p:pic>
      <p:sp>
        <p:nvSpPr>
          <p:cNvPr id="22" name="Text 16"/>
          <p:cNvSpPr txBox="1"/>
          <p:nvPr/>
        </p:nvSpPr>
        <p:spPr>
          <a:xfrm>
            <a:off x="1234440" y="2276856"/>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Composite</a:t>
            </a:r>
            <a:endParaRPr lang="fr-FR" sz="1250" dirty="0"/>
          </a:p>
        </p:txBody>
      </p:sp>
      <p:sp>
        <p:nvSpPr>
          <p:cNvPr id="23" name="Text 17"/>
          <p:cNvSpPr txBox="1"/>
          <p:nvPr/>
        </p:nvSpPr>
        <p:spPr>
          <a:xfrm>
            <a:off x="1234440" y="2569464"/>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Grille assemblée à partir de nombreuses nuits sans nuages — pas la photo d’une nuit.</a:t>
            </a:r>
            <a:endParaRPr lang="fr-FR" sz="1050" dirty="0"/>
          </a:p>
        </p:txBody>
      </p:sp>
      <p:sp>
        <p:nvSpPr>
          <p:cNvPr id="24" name="Shape 18"/>
          <p:cNvSpPr/>
          <p:nvPr/>
        </p:nvSpPr>
        <p:spPr>
          <a:xfrm>
            <a:off x="6172200" y="2221992"/>
            <a:ext cx="5468112" cy="786384"/>
          </a:xfrm>
          <a:prstGeom prst="roundRect">
            <a:avLst>
              <a:gd name="adj" fmla="val 9302"/>
            </a:avLst>
          </a:prstGeom>
          <a:solidFill>
            <a:srgbClr val="F4F7F5"/>
          </a:solidFill>
          <a:ln w="9525">
            <a:solidFill>
              <a:srgbClr val="D5DED9"/>
            </a:solidFill>
            <a:prstDash val="solid"/>
          </a:ln>
        </p:spPr>
      </p:sp>
      <p:pic>
        <p:nvPicPr>
          <p:cNvPr id="25" name="Image 4" descr="preencoded.png"/>
          <p:cNvPicPr>
            <a:picLocks noChangeAspect="1"/>
          </p:cNvPicPr>
          <p:nvPr/>
        </p:nvPicPr>
        <p:blipFill>
          <a:blip r:embed="rId4"/>
          <a:stretch>
            <a:fillRect/>
          </a:stretch>
        </p:blipFill>
        <p:spPr>
          <a:xfrm>
            <a:off x="6355080" y="2441448"/>
            <a:ext cx="329184" cy="329184"/>
          </a:xfrm>
          <a:prstGeom prst="rect">
            <a:avLst/>
          </a:prstGeom>
        </p:spPr>
      </p:pic>
      <p:sp>
        <p:nvSpPr>
          <p:cNvPr id="26" name="Text 19"/>
          <p:cNvSpPr txBox="1"/>
          <p:nvPr/>
        </p:nvSpPr>
        <p:spPr>
          <a:xfrm>
            <a:off x="6858000" y="2276856"/>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Lumières stables</a:t>
            </a:r>
            <a:endParaRPr lang="fr-FR" sz="1250" dirty="0"/>
          </a:p>
        </p:txBody>
      </p:sp>
      <p:sp>
        <p:nvSpPr>
          <p:cNvPr id="27" name="Text 20"/>
          <p:cNvSpPr txBox="1"/>
          <p:nvPr/>
        </p:nvSpPr>
        <p:spPr>
          <a:xfrm>
            <a:off x="6858000" y="2569464"/>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Produit dont feux, aurores et autres sources instables ont été retirés.</a:t>
            </a:r>
            <a:endParaRPr lang="fr-FR" sz="1050" dirty="0"/>
          </a:p>
        </p:txBody>
      </p:sp>
      <p:sp>
        <p:nvSpPr>
          <p:cNvPr id="28" name="Shape 21"/>
          <p:cNvSpPr/>
          <p:nvPr/>
        </p:nvSpPr>
        <p:spPr>
          <a:xfrm>
            <a:off x="548640" y="3118104"/>
            <a:ext cx="5468112" cy="786384"/>
          </a:xfrm>
          <a:prstGeom prst="roundRect">
            <a:avLst>
              <a:gd name="adj" fmla="val 9302"/>
            </a:avLst>
          </a:prstGeom>
          <a:solidFill>
            <a:srgbClr val="F4F7F5"/>
          </a:solidFill>
          <a:ln w="9525">
            <a:solidFill>
              <a:srgbClr val="D5DED9"/>
            </a:solidFill>
            <a:prstDash val="solid"/>
          </a:ln>
        </p:spPr>
      </p:sp>
      <p:pic>
        <p:nvPicPr>
          <p:cNvPr id="29" name="Image 5" descr="preencoded.png"/>
          <p:cNvPicPr>
            <a:picLocks noChangeAspect="1"/>
          </p:cNvPicPr>
          <p:nvPr/>
        </p:nvPicPr>
        <p:blipFill>
          <a:blip r:embed="rId4"/>
          <a:stretch>
            <a:fillRect/>
          </a:stretch>
        </p:blipFill>
        <p:spPr>
          <a:xfrm>
            <a:off x="731520" y="3337560"/>
            <a:ext cx="329184" cy="329184"/>
          </a:xfrm>
          <a:prstGeom prst="rect">
            <a:avLst/>
          </a:prstGeom>
        </p:spPr>
      </p:pic>
      <p:sp>
        <p:nvSpPr>
          <p:cNvPr id="30" name="Text 22"/>
          <p:cNvSpPr txBox="1"/>
          <p:nvPr/>
        </p:nvSpPr>
        <p:spPr>
          <a:xfrm>
            <a:off x="1234440" y="3172968"/>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Somme des lumières (SOL)</a:t>
            </a:r>
            <a:endParaRPr lang="fr-FR" sz="1250" dirty="0"/>
          </a:p>
        </p:txBody>
      </p:sp>
      <p:sp>
        <p:nvSpPr>
          <p:cNvPr id="31" name="Text 23"/>
          <p:cNvSpPr txBox="1"/>
          <p:nvPr/>
        </p:nvSpPr>
        <p:spPr>
          <a:xfrm>
            <a:off x="1234440" y="3465576"/>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Radiance totale de tous les pixels à l’intérieur d’un contour.</a:t>
            </a:r>
            <a:endParaRPr lang="fr-FR" sz="1050" dirty="0"/>
          </a:p>
        </p:txBody>
      </p:sp>
      <p:sp>
        <p:nvSpPr>
          <p:cNvPr id="32" name="Shape 24"/>
          <p:cNvSpPr/>
          <p:nvPr/>
        </p:nvSpPr>
        <p:spPr>
          <a:xfrm>
            <a:off x="6172200" y="3118104"/>
            <a:ext cx="5468112" cy="786384"/>
          </a:xfrm>
          <a:prstGeom prst="roundRect">
            <a:avLst>
              <a:gd name="adj" fmla="val 9302"/>
            </a:avLst>
          </a:prstGeom>
          <a:solidFill>
            <a:srgbClr val="F4F7F5"/>
          </a:solidFill>
          <a:ln w="9525">
            <a:solidFill>
              <a:srgbClr val="D5DED9"/>
            </a:solidFill>
            <a:prstDash val="solid"/>
          </a:ln>
        </p:spPr>
      </p:sp>
      <p:pic>
        <p:nvPicPr>
          <p:cNvPr id="33" name="Image 6" descr="preencoded.png"/>
          <p:cNvPicPr>
            <a:picLocks noChangeAspect="1"/>
          </p:cNvPicPr>
          <p:nvPr/>
        </p:nvPicPr>
        <p:blipFill>
          <a:blip r:embed="rId4"/>
          <a:stretch>
            <a:fillRect/>
          </a:stretch>
        </p:blipFill>
        <p:spPr>
          <a:xfrm>
            <a:off x="6355080" y="3337560"/>
            <a:ext cx="329184" cy="329184"/>
          </a:xfrm>
          <a:prstGeom prst="rect">
            <a:avLst/>
          </a:prstGeom>
        </p:spPr>
      </p:pic>
      <p:sp>
        <p:nvSpPr>
          <p:cNvPr id="34" name="Text 25"/>
          <p:cNvSpPr txBox="1"/>
          <p:nvPr/>
        </p:nvSpPr>
        <p:spPr>
          <a:xfrm>
            <a:off x="6858000" y="3172968"/>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Débordement (blooming)</a:t>
            </a:r>
            <a:endParaRPr lang="fr-FR" sz="1250" dirty="0"/>
          </a:p>
        </p:txBody>
      </p:sp>
      <p:sp>
        <p:nvSpPr>
          <p:cNvPr id="35" name="Text 26"/>
          <p:cNvSpPr txBox="1"/>
          <p:nvPr/>
        </p:nvSpPr>
        <p:spPr>
          <a:xfrm>
            <a:off x="6858000" y="3465576"/>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Extension apparente de la lumière au-delà de sa source (diffusion, géolocalisation).</a:t>
            </a:r>
            <a:endParaRPr lang="fr-FR" sz="1050" dirty="0"/>
          </a:p>
        </p:txBody>
      </p:sp>
      <p:sp>
        <p:nvSpPr>
          <p:cNvPr id="36" name="Shape 27"/>
          <p:cNvSpPr/>
          <p:nvPr/>
        </p:nvSpPr>
        <p:spPr>
          <a:xfrm>
            <a:off x="548640" y="4014216"/>
            <a:ext cx="5468112" cy="786384"/>
          </a:xfrm>
          <a:prstGeom prst="roundRect">
            <a:avLst>
              <a:gd name="adj" fmla="val 9302"/>
            </a:avLst>
          </a:prstGeom>
          <a:solidFill>
            <a:srgbClr val="F4F7F5"/>
          </a:solidFill>
          <a:ln w="9525">
            <a:solidFill>
              <a:srgbClr val="D5DED9"/>
            </a:solidFill>
            <a:prstDash val="solid"/>
          </a:ln>
        </p:spPr>
      </p:sp>
      <p:pic>
        <p:nvPicPr>
          <p:cNvPr id="37" name="Image 7" descr="preencoded.png"/>
          <p:cNvPicPr>
            <a:picLocks noChangeAspect="1"/>
          </p:cNvPicPr>
          <p:nvPr/>
        </p:nvPicPr>
        <p:blipFill>
          <a:blip r:embed="rId4"/>
          <a:stretch>
            <a:fillRect/>
          </a:stretch>
        </p:blipFill>
        <p:spPr>
          <a:xfrm>
            <a:off x="731520" y="4233672"/>
            <a:ext cx="329184" cy="329184"/>
          </a:xfrm>
          <a:prstGeom prst="rect">
            <a:avLst/>
          </a:prstGeom>
        </p:spPr>
      </p:pic>
      <p:sp>
        <p:nvSpPr>
          <p:cNvPr id="38" name="Text 28"/>
          <p:cNvSpPr txBox="1"/>
          <p:nvPr/>
        </p:nvSpPr>
        <p:spPr>
          <a:xfrm>
            <a:off x="1234440" y="4069080"/>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Correction BRDF</a:t>
            </a:r>
            <a:endParaRPr lang="fr-FR" sz="1250" dirty="0"/>
          </a:p>
        </p:txBody>
      </p:sp>
      <p:sp>
        <p:nvSpPr>
          <p:cNvPr id="39" name="Text 29"/>
          <p:cNvSpPr txBox="1"/>
          <p:nvPr/>
        </p:nvSpPr>
        <p:spPr>
          <a:xfrm>
            <a:off x="1234440" y="4361688"/>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Ajustement selon la variation de la lumière (lunaire) réfléchie avec les angles de visée et d’éclairement.</a:t>
            </a:r>
            <a:endParaRPr lang="fr-FR" sz="1050" dirty="0"/>
          </a:p>
        </p:txBody>
      </p:sp>
      <p:sp>
        <p:nvSpPr>
          <p:cNvPr id="40" name="Shape 30"/>
          <p:cNvSpPr/>
          <p:nvPr/>
        </p:nvSpPr>
        <p:spPr>
          <a:xfrm>
            <a:off x="6172200" y="4014216"/>
            <a:ext cx="5468112" cy="786384"/>
          </a:xfrm>
          <a:prstGeom prst="roundRect">
            <a:avLst>
              <a:gd name="adj" fmla="val 9302"/>
            </a:avLst>
          </a:prstGeom>
          <a:solidFill>
            <a:srgbClr val="F4F7F5"/>
          </a:solidFill>
          <a:ln w="9525">
            <a:solidFill>
              <a:srgbClr val="D5DED9"/>
            </a:solidFill>
            <a:prstDash val="solid"/>
          </a:ln>
        </p:spPr>
      </p:sp>
      <p:pic>
        <p:nvPicPr>
          <p:cNvPr id="41" name="Image 8" descr="preencoded.png"/>
          <p:cNvPicPr>
            <a:picLocks noChangeAspect="1"/>
          </p:cNvPicPr>
          <p:nvPr/>
        </p:nvPicPr>
        <p:blipFill>
          <a:blip r:embed="rId4"/>
          <a:stretch>
            <a:fillRect/>
          </a:stretch>
        </p:blipFill>
        <p:spPr>
          <a:xfrm>
            <a:off x="6355080" y="4233672"/>
            <a:ext cx="329184" cy="329184"/>
          </a:xfrm>
          <a:prstGeom prst="rect">
            <a:avLst/>
          </a:prstGeom>
        </p:spPr>
      </p:pic>
      <p:sp>
        <p:nvSpPr>
          <p:cNvPr id="42" name="Text 31"/>
          <p:cNvSpPr txBox="1"/>
          <p:nvPr/>
        </p:nvSpPr>
        <p:spPr>
          <a:xfrm>
            <a:off x="6858000" y="4069080"/>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Statistiques zonales</a:t>
            </a:r>
            <a:endParaRPr lang="fr-FR" sz="1250" dirty="0"/>
          </a:p>
        </p:txBody>
      </p:sp>
      <p:sp>
        <p:nvSpPr>
          <p:cNvPr id="43" name="Text 32"/>
          <p:cNvSpPr txBox="1"/>
          <p:nvPr/>
        </p:nvSpPr>
        <p:spPr>
          <a:xfrm>
            <a:off x="6858000" y="4361688"/>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Synthèse des valeurs d’un raster (somme, moyenne, effectif) dans chaque polygone.</a:t>
            </a:r>
            <a:endParaRPr lang="fr-FR" sz="1050" dirty="0"/>
          </a:p>
        </p:txBody>
      </p:sp>
      <p:sp>
        <p:nvSpPr>
          <p:cNvPr id="44" name="Shape 33"/>
          <p:cNvSpPr/>
          <p:nvPr/>
        </p:nvSpPr>
        <p:spPr>
          <a:xfrm>
            <a:off x="548640" y="4910328"/>
            <a:ext cx="5468112" cy="786384"/>
          </a:xfrm>
          <a:prstGeom prst="roundRect">
            <a:avLst>
              <a:gd name="adj" fmla="val 9302"/>
            </a:avLst>
          </a:prstGeom>
          <a:solidFill>
            <a:srgbClr val="F4F7F5"/>
          </a:solidFill>
          <a:ln w="9525">
            <a:solidFill>
              <a:srgbClr val="D5DED9"/>
            </a:solidFill>
            <a:prstDash val="solid"/>
          </a:ln>
        </p:spPr>
      </p:sp>
      <p:pic>
        <p:nvPicPr>
          <p:cNvPr id="45" name="Image 9" descr="preencoded.png"/>
          <p:cNvPicPr>
            <a:picLocks noChangeAspect="1"/>
          </p:cNvPicPr>
          <p:nvPr/>
        </p:nvPicPr>
        <p:blipFill>
          <a:blip r:embed="rId4"/>
          <a:stretch>
            <a:fillRect/>
          </a:stretch>
        </p:blipFill>
        <p:spPr>
          <a:xfrm>
            <a:off x="731520" y="5129784"/>
            <a:ext cx="329184" cy="329184"/>
          </a:xfrm>
          <a:prstGeom prst="rect">
            <a:avLst/>
          </a:prstGeom>
        </p:spPr>
      </p:pic>
      <p:sp>
        <p:nvSpPr>
          <p:cNvPr id="46" name="Text 34"/>
          <p:cNvSpPr txBox="1"/>
          <p:nvPr/>
        </p:nvSpPr>
        <p:spPr>
          <a:xfrm>
            <a:off x="1234440" y="4965192"/>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Nadir</a:t>
            </a:r>
            <a:endParaRPr lang="fr-FR" sz="1250" dirty="0"/>
          </a:p>
        </p:txBody>
      </p:sp>
      <p:sp>
        <p:nvSpPr>
          <p:cNvPr id="47" name="Text 35"/>
          <p:cNvSpPr txBox="1"/>
          <p:nvPr/>
        </p:nvSpPr>
        <p:spPr>
          <a:xfrm>
            <a:off x="1234440" y="5257800"/>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Point situé à la verticale du satellite, où l’empreinte du pixel est la plus petite.</a:t>
            </a:r>
            <a:endParaRPr lang="fr-FR" sz="1050" dirty="0"/>
          </a:p>
        </p:txBody>
      </p:sp>
      <p:sp>
        <p:nvSpPr>
          <p:cNvPr id="48" name="Shape 36"/>
          <p:cNvSpPr/>
          <p:nvPr/>
        </p:nvSpPr>
        <p:spPr>
          <a:xfrm>
            <a:off x="6172200" y="4910328"/>
            <a:ext cx="5468112" cy="786384"/>
          </a:xfrm>
          <a:prstGeom prst="roundRect">
            <a:avLst>
              <a:gd name="adj" fmla="val 9302"/>
            </a:avLst>
          </a:prstGeom>
          <a:solidFill>
            <a:srgbClr val="F4F7F5"/>
          </a:solidFill>
          <a:ln w="9525">
            <a:solidFill>
              <a:srgbClr val="D5DED9"/>
            </a:solidFill>
            <a:prstDash val="solid"/>
          </a:ln>
        </p:spPr>
      </p:sp>
      <p:pic>
        <p:nvPicPr>
          <p:cNvPr id="49" name="Image 10" descr="preencoded.png"/>
          <p:cNvPicPr>
            <a:picLocks noChangeAspect="1"/>
          </p:cNvPicPr>
          <p:nvPr/>
        </p:nvPicPr>
        <p:blipFill>
          <a:blip r:embed="rId4"/>
          <a:stretch>
            <a:fillRect/>
          </a:stretch>
        </p:blipFill>
        <p:spPr>
          <a:xfrm>
            <a:off x="6355080" y="5129784"/>
            <a:ext cx="329184" cy="329184"/>
          </a:xfrm>
          <a:prstGeom prst="rect">
            <a:avLst/>
          </a:prstGeom>
        </p:spPr>
      </p:pic>
      <p:sp>
        <p:nvSpPr>
          <p:cNvPr id="50" name="Text 37"/>
          <p:cNvSpPr txBox="1"/>
          <p:nvPr/>
        </p:nvSpPr>
        <p:spPr>
          <a:xfrm>
            <a:off x="6858000" y="4965192"/>
            <a:ext cx="4572000" cy="292608"/>
          </a:xfrm>
          <a:prstGeom prst="rect">
            <a:avLst/>
          </a:prstGeom>
          <a:noFill/>
          <a:ln/>
        </p:spPr>
        <p:txBody>
          <a:bodyPr wrap="square" lIns="0" tIns="0" rIns="0" bIns="0" rtlCol="0" anchor="t"/>
          <a:lstStyle/>
          <a:p>
            <a:pPr marL="0" indent="0">
              <a:buNone/>
            </a:pPr>
            <a:r>
              <a:rPr lang="fr-FR" sz="1250" b="1" dirty="0">
                <a:solidFill>
                  <a:srgbClr val="00704A"/>
                </a:solidFill>
                <a:latin typeface="Calibri" pitchFamily="34" charset="0"/>
                <a:ea typeface="Calibri" pitchFamily="34" charset="-122"/>
                <a:cs typeface="Calibri" pitchFamily="34" charset="-120"/>
              </a:rPr>
              <a:t>Élasticité</a:t>
            </a:r>
            <a:endParaRPr lang="fr-FR" sz="1250" dirty="0"/>
          </a:p>
        </p:txBody>
      </p:sp>
      <p:sp>
        <p:nvSpPr>
          <p:cNvPr id="51" name="Text 38"/>
          <p:cNvSpPr txBox="1"/>
          <p:nvPr/>
        </p:nvSpPr>
        <p:spPr>
          <a:xfrm>
            <a:off x="6858000" y="5257800"/>
            <a:ext cx="4663440" cy="411480"/>
          </a:xfrm>
          <a:prstGeom prst="rect">
            <a:avLst/>
          </a:prstGeom>
          <a:noFill/>
          <a:ln/>
        </p:spPr>
        <p:txBody>
          <a:bodyPr wrap="square" lIns="0" tIns="0" rIns="0" bIns="0" rtlCol="0" anchor="t"/>
          <a:lstStyle/>
          <a:p>
            <a:pPr marL="0" indent="0">
              <a:buNone/>
            </a:pPr>
            <a:r>
              <a:rPr lang="fr-FR" sz="1050" dirty="0">
                <a:solidFill>
                  <a:srgbClr val="231F20"/>
                </a:solidFill>
                <a:latin typeface="Calibri" pitchFamily="34" charset="0"/>
                <a:ea typeface="Calibri" pitchFamily="34" charset="-122"/>
                <a:cs typeface="Calibri" pitchFamily="34" charset="-120"/>
              </a:rPr>
              <a:t>Variation en % de la production associée à 1 % de lumière en plus ; pas une constante.</a:t>
            </a:r>
            <a:endParaRPr lang="fr-FR"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ANNEXE · SOURCES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Références choisies</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66</a:t>
            </a:r>
            <a:endParaRPr lang="fr-FR" sz="900" dirty="0"/>
          </a:p>
        </p:txBody>
      </p:sp>
      <p:sp>
        <p:nvSpPr>
          <p:cNvPr id="12" name="Text 9"/>
          <p:cNvSpPr txBox="1"/>
          <p:nvPr/>
        </p:nvSpPr>
        <p:spPr>
          <a:xfrm>
            <a:off x="548640" y="1325880"/>
            <a:ext cx="5440680" cy="4754880"/>
          </a:xfrm>
          <a:prstGeom prst="rect">
            <a:avLst/>
          </a:prstGeom>
          <a:noFill/>
          <a:ln/>
        </p:spPr>
        <p:txBody>
          <a:bodyPr wrap="square" lIns="0" tIns="0" rIns="0" bIns="0" rtlCol="0" anchor="t"/>
          <a:lstStyle/>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Beyer, R., Franco-Bedoya, S. et Galdo, V. (2021). Examining the economic impact of COVID-19 in India through daily electricity consumption and nighttime light intensity. World Development, 140.</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Beyer, R., Hu, Y. et Yao, J. (2022). Measuring quarterly economic growth from outer space. IMF Working Paper 22/109.</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Bruederle, A. et Hodler, R. (2018). Nighttime lights as a proxy for human development at the local level. PLOS ONE, 13(9).</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Croft, T. A. (1978). Nighttime images of the Earth from space. Scientific American, 239(1).</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Chen, Z. et al. (2021). An extended time series (2000–2018) of global NPP-VIIRS-like nighttime light data. Earth System Science Data, 13.</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Elvidge, C. D. et al. (2001). Night-time lights of the world: 1994–1995. ISPRS Journal of Photogrammetry and Remote Sensing, 56(2).</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Elvidge, C. D. et al. (2013). Why VIIRS data are superior to DMSP for mapping nighttime lights. Proceedings of the Asia-Pacific Advanced Network, 35.</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Elvidge, C. D. et al. (2017). VIIRS night-time lights. International Journal of Remote Sensing, 38(21).</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Elvidge, C. D. et al. (2021). Annual time series of global VIIRS nighttime lights derived from monthly averages: 2012 to 2019. Remote Sensing, 13(5).</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Falchetta, G. et al. (2019). A high-resolution gridded dataset to assess electrification in sub-Saharan Africa. Scientific Data, 6.</a:t>
            </a:r>
            <a:endParaRPr lang="fr-FR" sz="1050" dirty="0"/>
          </a:p>
        </p:txBody>
      </p:sp>
      <p:sp>
        <p:nvSpPr>
          <p:cNvPr id="13" name="Text 10"/>
          <p:cNvSpPr txBox="1"/>
          <p:nvPr/>
        </p:nvSpPr>
        <p:spPr>
          <a:xfrm>
            <a:off x="6172200" y="1325880"/>
            <a:ext cx="5440680" cy="4754880"/>
          </a:xfrm>
          <a:prstGeom prst="rect">
            <a:avLst/>
          </a:prstGeom>
          <a:noFill/>
          <a:ln/>
        </p:spPr>
        <p:txBody>
          <a:bodyPr wrap="square" lIns="0" tIns="0" rIns="0" bIns="0" rtlCol="0" anchor="t"/>
          <a:lstStyle/>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Henderson, J. V., Storeygard, A. et Weil, D. N. (2012). Measuring economic growth from outer space. American Economic Review, 102(2).</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Hu, Y. et Yao, J. (2022). Illuminating economic growth. Journal of Econometrics, 228(2).</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AIE, IRENA, ONU-DAES, Banque mondiale, OMS (2026). Tracking SDG 7 : The Energy Progress Report.</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Kyba, C. et al. (2017). Artificially lit surface of Earth at night increasing in radiance and extent. Science Advances, 3(11).</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Li, X. et Li, D. (2014). Can night-time light images play a role in evaluating the Syrian crisis? IJRS, 35(18).</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Martinez, L. R. (2022). How much should we trust the dictator’s GDP growth estimates? Journal of Political Economy, 130(10).</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Román, M. O. et Stokes, E. C. (2015). Holidays in lights: tracking cultural patterns in demand for energy services. Earth’s Future, 3(6).</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a:t>
            </a:r>
            <a:endParaRPr lang="fr-FR" sz="1050" dirty="0"/>
          </a:p>
          <a:p>
            <a:pPr marL="0" indent="0">
              <a:spcAft>
                <a:spcPts val="500"/>
              </a:spcAft>
              <a:buNone/>
            </a:pPr>
            <a:r>
              <a:rPr lang="fr-FR" sz="1050" dirty="0">
                <a:solidFill>
                  <a:srgbClr val="231F20"/>
                </a:solidFill>
                <a:latin typeface="Calibri" pitchFamily="34" charset="0"/>
                <a:ea typeface="Calibri" pitchFamily="34" charset="-122"/>
                <a:cs typeface="Calibri" pitchFamily="34" charset="-120"/>
              </a:rPr>
              <a:t>Román, M. O. et al. (2019). Satellite-based assessment of electricity restoration efforts in Puerto Rico after Hurricane Maria. PLOS ONE, 14(6).</a:t>
            </a:r>
            <a:endParaRPr lang="fr-FR"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Logo BAD"/>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fr-FR" sz="1000" b="1" kern="0" spc="200" dirty="0">
                <a:solidFill>
                  <a:srgbClr val="0E7C86"/>
                </a:solidFill>
                <a:latin typeface="Calibri" pitchFamily="34" charset="0"/>
                <a:ea typeface="Calibri" pitchFamily="34" charset="-122"/>
                <a:cs typeface="Calibri" pitchFamily="34" charset="-120"/>
              </a:rPr>
              <a:t>ANNEXE · DONNÉES ET OUTILS</a:t>
            </a:r>
            <a:endParaRPr lang="fr-FR"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fr-FR" sz="2600" b="1" dirty="0">
                <a:solidFill>
                  <a:srgbClr val="00704A"/>
                </a:solidFill>
                <a:latin typeface="Calibri" pitchFamily="34" charset="0"/>
                <a:ea typeface="Calibri" pitchFamily="34" charset="-122"/>
                <a:cs typeface="Calibri" pitchFamily="34" charset="-120"/>
              </a:rPr>
              <a:t>Données, outils et tutoriels à conserver</a:t>
            </a:r>
            <a:endParaRPr lang="fr-FR"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fr-FR" sz="850" b="1" kern="0" spc="100" dirty="0">
                <a:solidFill>
                  <a:srgbClr val="00704A"/>
                </a:solidFill>
                <a:latin typeface="Calibri" pitchFamily="34" charset="0"/>
                <a:ea typeface="Calibri" pitchFamily="34" charset="-122"/>
                <a:cs typeface="Calibri" pitchFamily="34" charset="-120"/>
              </a:rPr>
              <a:t>RÉFÉRENCE</a:t>
            </a:r>
            <a:endParaRPr lang="fr-FR"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fr-FR" sz="850" dirty="0">
                <a:solidFill>
                  <a:srgbClr val="5E6964"/>
                </a:solidFill>
                <a:latin typeface="Calibri" pitchFamily="34" charset="0"/>
                <a:ea typeface="Calibri" pitchFamily="34" charset="-122"/>
                <a:cs typeface="Calibri" pitchFamily="34" charset="-120"/>
              </a:rPr>
              <a:t>Lumières nocturnes  ·  Data Innovation for Africa (DI4A) — BAD</a:t>
            </a:r>
            <a:endParaRPr lang="fr-FR"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fr-FR" sz="900" b="1" dirty="0">
                <a:solidFill>
                  <a:srgbClr val="00704A"/>
                </a:solidFill>
                <a:latin typeface="Calibri" pitchFamily="34" charset="0"/>
                <a:ea typeface="Calibri" pitchFamily="34" charset="-122"/>
                <a:cs typeface="Calibri" pitchFamily="34" charset="-120"/>
              </a:rPr>
              <a:t>67</a:t>
            </a:r>
            <a:endParaRPr lang="fr-FR" sz="900" dirty="0"/>
          </a:p>
        </p:txBody>
      </p:sp>
      <p:sp>
        <p:nvSpPr>
          <p:cNvPr id="12" name="Shape 9"/>
          <p:cNvSpPr/>
          <p:nvPr/>
        </p:nvSpPr>
        <p:spPr>
          <a:xfrm>
            <a:off x="548640" y="1325880"/>
            <a:ext cx="5468112" cy="969264"/>
          </a:xfrm>
          <a:prstGeom prst="roundRect">
            <a:avLst>
              <a:gd name="adj" fmla="val 7547"/>
            </a:avLst>
          </a:prstGeom>
          <a:solidFill>
            <a:srgbClr val="F4F7F5"/>
          </a:solidFill>
          <a:ln w="9525">
            <a:solidFill>
              <a:srgbClr val="D5DED9"/>
            </a:solidFill>
            <a:prstDash val="solid"/>
          </a:ln>
        </p:spPr>
      </p:sp>
      <p:sp>
        <p:nvSpPr>
          <p:cNvPr id="13" name="Shape 10"/>
          <p:cNvSpPr/>
          <p:nvPr/>
        </p:nvSpPr>
        <p:spPr>
          <a:xfrm>
            <a:off x="731520" y="1508760"/>
            <a:ext cx="603504" cy="603504"/>
          </a:xfrm>
          <a:prstGeom prst="ellipse">
            <a:avLst/>
          </a:prstGeom>
          <a:solidFill>
            <a:srgbClr val="E8F5EF"/>
          </a:solidFill>
          <a:ln w="12700">
            <a:solidFill>
              <a:srgbClr val="E8F5EF"/>
            </a:solidFill>
            <a:prstDash val="solid"/>
          </a:ln>
        </p:spPr>
      </p:sp>
      <p:pic>
        <p:nvPicPr>
          <p:cNvPr id="14" name="Image 1" descr="preencoded.png"/>
          <p:cNvPicPr>
            <a:picLocks noChangeAspect="1"/>
          </p:cNvPicPr>
          <p:nvPr/>
        </p:nvPicPr>
        <p:blipFill>
          <a:blip r:embed="rId4"/>
          <a:stretch>
            <a:fillRect/>
          </a:stretch>
        </p:blipFill>
        <p:spPr>
          <a:xfrm>
            <a:off x="888431" y="1665671"/>
            <a:ext cx="289682" cy="289682"/>
          </a:xfrm>
          <a:prstGeom prst="rect">
            <a:avLst/>
          </a:prstGeom>
        </p:spPr>
      </p:pic>
      <p:sp>
        <p:nvSpPr>
          <p:cNvPr id="15" name="Text 11"/>
          <p:cNvSpPr txBox="1"/>
          <p:nvPr/>
        </p:nvSpPr>
        <p:spPr>
          <a:xfrm>
            <a:off x="1508760" y="1435608"/>
            <a:ext cx="4389120" cy="347472"/>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NASA Black Marble</a:t>
            </a:r>
            <a:endParaRPr lang="fr-FR" sz="1400" dirty="0"/>
          </a:p>
        </p:txBody>
      </p:sp>
      <p:sp>
        <p:nvSpPr>
          <p:cNvPr id="16" name="Text 12"/>
          <p:cNvSpPr txBox="1"/>
          <p:nvPr/>
        </p:nvSpPr>
        <p:spPr>
          <a:xfrm>
            <a:off x="1508760" y="1801368"/>
            <a:ext cx="438912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LAADS DAAC · Earthdata — produits VNP46 / VJ146</a:t>
            </a:r>
            <a:endParaRPr lang="fr-FR" sz="1150" dirty="0"/>
          </a:p>
        </p:txBody>
      </p:sp>
      <p:sp>
        <p:nvSpPr>
          <p:cNvPr id="17" name="Shape 13"/>
          <p:cNvSpPr/>
          <p:nvPr/>
        </p:nvSpPr>
        <p:spPr>
          <a:xfrm>
            <a:off x="6172200" y="1325880"/>
            <a:ext cx="5468112" cy="969264"/>
          </a:xfrm>
          <a:prstGeom prst="roundRect">
            <a:avLst>
              <a:gd name="adj" fmla="val 7547"/>
            </a:avLst>
          </a:prstGeom>
          <a:solidFill>
            <a:srgbClr val="F4F7F5"/>
          </a:solidFill>
          <a:ln w="9525">
            <a:solidFill>
              <a:srgbClr val="D5DED9"/>
            </a:solidFill>
            <a:prstDash val="solid"/>
          </a:ln>
        </p:spPr>
      </p:sp>
      <p:sp>
        <p:nvSpPr>
          <p:cNvPr id="18" name="Shape 14"/>
          <p:cNvSpPr/>
          <p:nvPr/>
        </p:nvSpPr>
        <p:spPr>
          <a:xfrm>
            <a:off x="6355080" y="1508760"/>
            <a:ext cx="603504" cy="603504"/>
          </a:xfrm>
          <a:prstGeom prst="ellipse">
            <a:avLst/>
          </a:prstGeom>
          <a:solidFill>
            <a:srgbClr val="E8F5EF"/>
          </a:solidFill>
          <a:ln w="12700">
            <a:solidFill>
              <a:srgbClr val="E8F5EF"/>
            </a:solidFill>
            <a:prstDash val="solid"/>
          </a:ln>
        </p:spPr>
      </p:sp>
      <p:pic>
        <p:nvPicPr>
          <p:cNvPr id="19" name="Image 2" descr="preencoded.png"/>
          <p:cNvPicPr>
            <a:picLocks noChangeAspect="1"/>
          </p:cNvPicPr>
          <p:nvPr/>
        </p:nvPicPr>
        <p:blipFill>
          <a:blip r:embed="rId5"/>
          <a:stretch>
            <a:fillRect/>
          </a:stretch>
        </p:blipFill>
        <p:spPr>
          <a:xfrm>
            <a:off x="6511991" y="1665671"/>
            <a:ext cx="289682" cy="289682"/>
          </a:xfrm>
          <a:prstGeom prst="rect">
            <a:avLst/>
          </a:prstGeom>
        </p:spPr>
      </p:pic>
      <p:sp>
        <p:nvSpPr>
          <p:cNvPr id="20" name="Text 15"/>
          <p:cNvSpPr txBox="1"/>
          <p:nvPr/>
        </p:nvSpPr>
        <p:spPr>
          <a:xfrm>
            <a:off x="7132320" y="1435608"/>
            <a:ext cx="4389120" cy="347472"/>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Earth Observation Group</a:t>
            </a:r>
            <a:endParaRPr lang="fr-FR" sz="1400" dirty="0"/>
          </a:p>
        </p:txBody>
      </p:sp>
      <p:sp>
        <p:nvSpPr>
          <p:cNvPr id="21" name="Text 16"/>
          <p:cNvSpPr txBox="1"/>
          <p:nvPr/>
        </p:nvSpPr>
        <p:spPr>
          <a:xfrm>
            <a:off x="7132320" y="1801368"/>
            <a:ext cx="438912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Composites VNL annuels et mensuels ; VIIRS Nightfire</a:t>
            </a:r>
            <a:endParaRPr lang="fr-FR" sz="1150" dirty="0"/>
          </a:p>
        </p:txBody>
      </p:sp>
      <p:sp>
        <p:nvSpPr>
          <p:cNvPr id="22" name="Shape 17"/>
          <p:cNvSpPr/>
          <p:nvPr/>
        </p:nvSpPr>
        <p:spPr>
          <a:xfrm>
            <a:off x="548640" y="2423160"/>
            <a:ext cx="5468112" cy="969264"/>
          </a:xfrm>
          <a:prstGeom prst="roundRect">
            <a:avLst>
              <a:gd name="adj" fmla="val 7547"/>
            </a:avLst>
          </a:prstGeom>
          <a:solidFill>
            <a:srgbClr val="F4F7F5"/>
          </a:solidFill>
          <a:ln w="9525">
            <a:solidFill>
              <a:srgbClr val="D5DED9"/>
            </a:solidFill>
            <a:prstDash val="solid"/>
          </a:ln>
        </p:spPr>
      </p:sp>
      <p:sp>
        <p:nvSpPr>
          <p:cNvPr id="23" name="Shape 18"/>
          <p:cNvSpPr/>
          <p:nvPr/>
        </p:nvSpPr>
        <p:spPr>
          <a:xfrm>
            <a:off x="731520" y="2606040"/>
            <a:ext cx="603504" cy="603504"/>
          </a:xfrm>
          <a:prstGeom prst="ellipse">
            <a:avLst/>
          </a:prstGeom>
          <a:solidFill>
            <a:srgbClr val="E8F5EF"/>
          </a:solidFill>
          <a:ln w="12700">
            <a:solidFill>
              <a:srgbClr val="E8F5EF"/>
            </a:solidFill>
            <a:prstDash val="solid"/>
          </a:ln>
        </p:spPr>
      </p:sp>
      <p:pic>
        <p:nvPicPr>
          <p:cNvPr id="24" name="Image 3" descr="preencoded.png"/>
          <p:cNvPicPr>
            <a:picLocks noChangeAspect="1"/>
          </p:cNvPicPr>
          <p:nvPr/>
        </p:nvPicPr>
        <p:blipFill>
          <a:blip r:embed="rId6"/>
          <a:stretch>
            <a:fillRect/>
          </a:stretch>
        </p:blipFill>
        <p:spPr>
          <a:xfrm>
            <a:off x="888431" y="2762951"/>
            <a:ext cx="289682" cy="289682"/>
          </a:xfrm>
          <a:prstGeom prst="rect">
            <a:avLst/>
          </a:prstGeom>
        </p:spPr>
      </p:pic>
      <p:sp>
        <p:nvSpPr>
          <p:cNvPr id="25" name="Text 19"/>
          <p:cNvSpPr txBox="1"/>
          <p:nvPr/>
        </p:nvSpPr>
        <p:spPr>
          <a:xfrm>
            <a:off x="1508760" y="2532888"/>
            <a:ext cx="4389120" cy="347472"/>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Google Earth Engine</a:t>
            </a:r>
            <a:endParaRPr lang="fr-FR" sz="1400" dirty="0"/>
          </a:p>
        </p:txBody>
      </p:sp>
      <p:sp>
        <p:nvSpPr>
          <p:cNvPr id="26" name="Text 20"/>
          <p:cNvSpPr txBox="1"/>
          <p:nvPr/>
        </p:nvSpPr>
        <p:spPr>
          <a:xfrm>
            <a:off x="1508760" y="2898648"/>
            <a:ext cx="438912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Collections EOG et Black Marble hébergées, prêtes à l’analyse</a:t>
            </a:r>
            <a:endParaRPr lang="fr-FR" sz="1150" dirty="0"/>
          </a:p>
        </p:txBody>
      </p:sp>
      <p:sp>
        <p:nvSpPr>
          <p:cNvPr id="27" name="Shape 21"/>
          <p:cNvSpPr/>
          <p:nvPr/>
        </p:nvSpPr>
        <p:spPr>
          <a:xfrm>
            <a:off x="6172200" y="2423160"/>
            <a:ext cx="5468112" cy="969264"/>
          </a:xfrm>
          <a:prstGeom prst="roundRect">
            <a:avLst>
              <a:gd name="adj" fmla="val 7547"/>
            </a:avLst>
          </a:prstGeom>
          <a:solidFill>
            <a:srgbClr val="F4F7F5"/>
          </a:solidFill>
          <a:ln w="9525">
            <a:solidFill>
              <a:srgbClr val="D5DED9"/>
            </a:solidFill>
            <a:prstDash val="solid"/>
          </a:ln>
        </p:spPr>
      </p:sp>
      <p:sp>
        <p:nvSpPr>
          <p:cNvPr id="28" name="Shape 22"/>
          <p:cNvSpPr/>
          <p:nvPr/>
        </p:nvSpPr>
        <p:spPr>
          <a:xfrm>
            <a:off x="6355080" y="2606040"/>
            <a:ext cx="603504" cy="603504"/>
          </a:xfrm>
          <a:prstGeom prst="ellipse">
            <a:avLst/>
          </a:prstGeom>
          <a:solidFill>
            <a:srgbClr val="E8F5EF"/>
          </a:solidFill>
          <a:ln w="12700">
            <a:solidFill>
              <a:srgbClr val="E8F5EF"/>
            </a:solidFill>
            <a:prstDash val="solid"/>
          </a:ln>
        </p:spPr>
      </p:sp>
      <p:pic>
        <p:nvPicPr>
          <p:cNvPr id="29" name="Image 4" descr="preencoded.png"/>
          <p:cNvPicPr>
            <a:picLocks noChangeAspect="1"/>
          </p:cNvPicPr>
          <p:nvPr/>
        </p:nvPicPr>
        <p:blipFill>
          <a:blip r:embed="rId7"/>
          <a:stretch>
            <a:fillRect/>
          </a:stretch>
        </p:blipFill>
        <p:spPr>
          <a:xfrm>
            <a:off x="6511991" y="2762951"/>
            <a:ext cx="289682" cy="289682"/>
          </a:xfrm>
          <a:prstGeom prst="rect">
            <a:avLst/>
          </a:prstGeom>
        </p:spPr>
      </p:pic>
      <p:sp>
        <p:nvSpPr>
          <p:cNvPr id="30" name="Text 23"/>
          <p:cNvSpPr txBox="1"/>
          <p:nvPr/>
        </p:nvSpPr>
        <p:spPr>
          <a:xfrm>
            <a:off x="7132320" y="2532888"/>
            <a:ext cx="4389120" cy="347472"/>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BlackMarblePy / blackmarbler</a:t>
            </a:r>
            <a:endParaRPr lang="fr-FR" sz="1400" dirty="0"/>
          </a:p>
        </p:txBody>
      </p:sp>
      <p:sp>
        <p:nvSpPr>
          <p:cNvPr id="31" name="Text 24"/>
          <p:cNvSpPr txBox="1"/>
          <p:nvPr/>
        </p:nvSpPr>
        <p:spPr>
          <a:xfrm>
            <a:off x="7132320" y="2898648"/>
            <a:ext cx="438912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Paquets Banque mondiale pour Python et R</a:t>
            </a:r>
            <a:endParaRPr lang="fr-FR" sz="1150" dirty="0"/>
          </a:p>
        </p:txBody>
      </p:sp>
      <p:sp>
        <p:nvSpPr>
          <p:cNvPr id="32" name="Shape 25"/>
          <p:cNvSpPr/>
          <p:nvPr/>
        </p:nvSpPr>
        <p:spPr>
          <a:xfrm>
            <a:off x="548640" y="3520440"/>
            <a:ext cx="5468112" cy="969264"/>
          </a:xfrm>
          <a:prstGeom prst="roundRect">
            <a:avLst>
              <a:gd name="adj" fmla="val 7547"/>
            </a:avLst>
          </a:prstGeom>
          <a:solidFill>
            <a:srgbClr val="F4F7F5"/>
          </a:solidFill>
          <a:ln w="9525">
            <a:solidFill>
              <a:srgbClr val="D5DED9"/>
            </a:solidFill>
            <a:prstDash val="solid"/>
          </a:ln>
        </p:spPr>
      </p:sp>
      <p:sp>
        <p:nvSpPr>
          <p:cNvPr id="33" name="Shape 26"/>
          <p:cNvSpPr/>
          <p:nvPr/>
        </p:nvSpPr>
        <p:spPr>
          <a:xfrm>
            <a:off x="731520" y="3703320"/>
            <a:ext cx="603504" cy="603504"/>
          </a:xfrm>
          <a:prstGeom prst="ellipse">
            <a:avLst/>
          </a:prstGeom>
          <a:solidFill>
            <a:srgbClr val="E8F5EF"/>
          </a:solidFill>
          <a:ln w="12700">
            <a:solidFill>
              <a:srgbClr val="E8F5EF"/>
            </a:solidFill>
            <a:prstDash val="solid"/>
          </a:ln>
        </p:spPr>
      </p:sp>
      <p:pic>
        <p:nvPicPr>
          <p:cNvPr id="34" name="Image 5" descr="preencoded.png"/>
          <p:cNvPicPr>
            <a:picLocks noChangeAspect="1"/>
          </p:cNvPicPr>
          <p:nvPr/>
        </p:nvPicPr>
        <p:blipFill>
          <a:blip r:embed="rId8"/>
          <a:stretch>
            <a:fillRect/>
          </a:stretch>
        </p:blipFill>
        <p:spPr>
          <a:xfrm>
            <a:off x="888431" y="3860231"/>
            <a:ext cx="289682" cy="289682"/>
          </a:xfrm>
          <a:prstGeom prst="rect">
            <a:avLst/>
          </a:prstGeom>
        </p:spPr>
      </p:pic>
      <p:sp>
        <p:nvSpPr>
          <p:cNvPr id="35" name="Text 27"/>
          <p:cNvSpPr txBox="1"/>
          <p:nvPr/>
        </p:nvSpPr>
        <p:spPr>
          <a:xfrm>
            <a:off x="1508760" y="3630168"/>
            <a:ext cx="4389120" cy="347472"/>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HREA</a:t>
            </a:r>
            <a:endParaRPr lang="fr-FR" sz="1400" dirty="0"/>
          </a:p>
        </p:txBody>
      </p:sp>
      <p:sp>
        <p:nvSpPr>
          <p:cNvPr id="36" name="Text 28"/>
          <p:cNvSpPr txBox="1"/>
          <p:nvPr/>
        </p:nvSpPr>
        <p:spPr>
          <a:xfrm>
            <a:off x="1508760" y="3995928"/>
            <a:ext cx="438912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Accès à l’électricité et fiabilité par localité</a:t>
            </a:r>
            <a:endParaRPr lang="fr-FR" sz="1150" dirty="0"/>
          </a:p>
        </p:txBody>
      </p:sp>
      <p:sp>
        <p:nvSpPr>
          <p:cNvPr id="37" name="Shape 29"/>
          <p:cNvSpPr/>
          <p:nvPr/>
        </p:nvSpPr>
        <p:spPr>
          <a:xfrm>
            <a:off x="6172200" y="3520440"/>
            <a:ext cx="5468112" cy="969264"/>
          </a:xfrm>
          <a:prstGeom prst="roundRect">
            <a:avLst>
              <a:gd name="adj" fmla="val 7547"/>
            </a:avLst>
          </a:prstGeom>
          <a:solidFill>
            <a:srgbClr val="F4F7F5"/>
          </a:solidFill>
          <a:ln w="9525">
            <a:solidFill>
              <a:srgbClr val="D5DED9"/>
            </a:solidFill>
            <a:prstDash val="solid"/>
          </a:ln>
        </p:spPr>
      </p:sp>
      <p:sp>
        <p:nvSpPr>
          <p:cNvPr id="38" name="Shape 30"/>
          <p:cNvSpPr/>
          <p:nvPr/>
        </p:nvSpPr>
        <p:spPr>
          <a:xfrm>
            <a:off x="6355080" y="3703320"/>
            <a:ext cx="603504" cy="603504"/>
          </a:xfrm>
          <a:prstGeom prst="ellipse">
            <a:avLst/>
          </a:prstGeom>
          <a:solidFill>
            <a:srgbClr val="E8F5EF"/>
          </a:solidFill>
          <a:ln w="12700">
            <a:solidFill>
              <a:srgbClr val="E8F5EF"/>
            </a:solidFill>
            <a:prstDash val="solid"/>
          </a:ln>
        </p:spPr>
      </p:sp>
      <p:pic>
        <p:nvPicPr>
          <p:cNvPr id="39" name="Image 6" descr="preencoded.png"/>
          <p:cNvPicPr>
            <a:picLocks noChangeAspect="1"/>
          </p:cNvPicPr>
          <p:nvPr/>
        </p:nvPicPr>
        <p:blipFill>
          <a:blip r:embed="rId9"/>
          <a:stretch>
            <a:fillRect/>
          </a:stretch>
        </p:blipFill>
        <p:spPr>
          <a:xfrm>
            <a:off x="6511991" y="3860231"/>
            <a:ext cx="289682" cy="289682"/>
          </a:xfrm>
          <a:prstGeom prst="rect">
            <a:avLst/>
          </a:prstGeom>
        </p:spPr>
      </p:pic>
      <p:sp>
        <p:nvSpPr>
          <p:cNvPr id="40" name="Text 31"/>
          <p:cNvSpPr txBox="1"/>
          <p:nvPr/>
        </p:nvSpPr>
        <p:spPr>
          <a:xfrm>
            <a:off x="7132320" y="3630168"/>
            <a:ext cx="4389120" cy="347472"/>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Light Every Night</a:t>
            </a:r>
            <a:endParaRPr lang="fr-FR" sz="1400" dirty="0"/>
          </a:p>
        </p:txBody>
      </p:sp>
      <p:sp>
        <p:nvSpPr>
          <p:cNvPr id="41" name="Text 32"/>
          <p:cNvSpPr txBox="1"/>
          <p:nvPr/>
        </p:nvSpPr>
        <p:spPr>
          <a:xfrm>
            <a:off x="7132320" y="3995928"/>
            <a:ext cx="438912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Toutes les observations nocturnes DMSP et VIIRS, ouvertes sur AWS</a:t>
            </a:r>
            <a:endParaRPr lang="fr-FR" sz="1150" dirty="0"/>
          </a:p>
        </p:txBody>
      </p:sp>
      <p:sp>
        <p:nvSpPr>
          <p:cNvPr id="42" name="Shape 33"/>
          <p:cNvSpPr/>
          <p:nvPr/>
        </p:nvSpPr>
        <p:spPr>
          <a:xfrm>
            <a:off x="548640" y="4617720"/>
            <a:ext cx="5468112" cy="969264"/>
          </a:xfrm>
          <a:prstGeom prst="roundRect">
            <a:avLst>
              <a:gd name="adj" fmla="val 7547"/>
            </a:avLst>
          </a:prstGeom>
          <a:solidFill>
            <a:srgbClr val="F4F7F5"/>
          </a:solidFill>
          <a:ln w="9525">
            <a:solidFill>
              <a:srgbClr val="D5DED9"/>
            </a:solidFill>
            <a:prstDash val="solid"/>
          </a:ln>
        </p:spPr>
      </p:sp>
      <p:sp>
        <p:nvSpPr>
          <p:cNvPr id="43" name="Shape 34"/>
          <p:cNvSpPr/>
          <p:nvPr/>
        </p:nvSpPr>
        <p:spPr>
          <a:xfrm>
            <a:off x="731520" y="4800600"/>
            <a:ext cx="603504" cy="603504"/>
          </a:xfrm>
          <a:prstGeom prst="ellipse">
            <a:avLst/>
          </a:prstGeom>
          <a:solidFill>
            <a:srgbClr val="E8F5EF"/>
          </a:solidFill>
          <a:ln w="12700">
            <a:solidFill>
              <a:srgbClr val="E8F5EF"/>
            </a:solidFill>
            <a:prstDash val="solid"/>
          </a:ln>
        </p:spPr>
      </p:sp>
      <p:pic>
        <p:nvPicPr>
          <p:cNvPr id="44" name="Image 7" descr="preencoded.png"/>
          <p:cNvPicPr>
            <a:picLocks noChangeAspect="1"/>
          </p:cNvPicPr>
          <p:nvPr/>
        </p:nvPicPr>
        <p:blipFill>
          <a:blip r:embed="rId10"/>
          <a:stretch>
            <a:fillRect/>
          </a:stretch>
        </p:blipFill>
        <p:spPr>
          <a:xfrm>
            <a:off x="888431" y="4957511"/>
            <a:ext cx="289682" cy="289682"/>
          </a:xfrm>
          <a:prstGeom prst="rect">
            <a:avLst/>
          </a:prstGeom>
        </p:spPr>
      </p:pic>
      <p:sp>
        <p:nvSpPr>
          <p:cNvPr id="45" name="Text 35"/>
          <p:cNvSpPr txBox="1"/>
          <p:nvPr/>
        </p:nvSpPr>
        <p:spPr>
          <a:xfrm>
            <a:off x="1508760" y="4727448"/>
            <a:ext cx="4389120" cy="347472"/>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GHSL · WSF · Open Buildings</a:t>
            </a:r>
            <a:endParaRPr lang="fr-FR" sz="1400" dirty="0"/>
          </a:p>
        </p:txBody>
      </p:sp>
      <p:sp>
        <p:nvSpPr>
          <p:cNvPr id="46" name="Text 36"/>
          <p:cNvSpPr txBox="1"/>
          <p:nvPr/>
        </p:nvSpPr>
        <p:spPr>
          <a:xfrm>
            <a:off x="1508760" y="5093208"/>
            <a:ext cx="438912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Grilles de bâti à associer aux lumières</a:t>
            </a:r>
            <a:endParaRPr lang="fr-FR" sz="1150" dirty="0"/>
          </a:p>
        </p:txBody>
      </p:sp>
      <p:sp>
        <p:nvSpPr>
          <p:cNvPr id="47" name="Shape 37"/>
          <p:cNvSpPr/>
          <p:nvPr/>
        </p:nvSpPr>
        <p:spPr>
          <a:xfrm>
            <a:off x="6172200" y="4617720"/>
            <a:ext cx="5468112" cy="969264"/>
          </a:xfrm>
          <a:prstGeom prst="roundRect">
            <a:avLst>
              <a:gd name="adj" fmla="val 7547"/>
            </a:avLst>
          </a:prstGeom>
          <a:solidFill>
            <a:srgbClr val="F4F7F5"/>
          </a:solidFill>
          <a:ln w="9525">
            <a:solidFill>
              <a:srgbClr val="D5DED9"/>
            </a:solidFill>
            <a:prstDash val="solid"/>
          </a:ln>
        </p:spPr>
      </p:sp>
      <p:sp>
        <p:nvSpPr>
          <p:cNvPr id="48" name="Shape 38"/>
          <p:cNvSpPr/>
          <p:nvPr/>
        </p:nvSpPr>
        <p:spPr>
          <a:xfrm>
            <a:off x="6355080" y="4800600"/>
            <a:ext cx="603504" cy="603504"/>
          </a:xfrm>
          <a:prstGeom prst="ellipse">
            <a:avLst/>
          </a:prstGeom>
          <a:solidFill>
            <a:srgbClr val="E8F5EF"/>
          </a:solidFill>
          <a:ln w="12700">
            <a:solidFill>
              <a:srgbClr val="E8F5EF"/>
            </a:solidFill>
            <a:prstDash val="solid"/>
          </a:ln>
        </p:spPr>
      </p:sp>
      <p:pic>
        <p:nvPicPr>
          <p:cNvPr id="49" name="Image 8" descr="preencoded.png"/>
          <p:cNvPicPr>
            <a:picLocks noChangeAspect="1"/>
          </p:cNvPicPr>
          <p:nvPr/>
        </p:nvPicPr>
        <p:blipFill>
          <a:blip r:embed="rId11"/>
          <a:stretch>
            <a:fillRect/>
          </a:stretch>
        </p:blipFill>
        <p:spPr>
          <a:xfrm>
            <a:off x="6511991" y="4957511"/>
            <a:ext cx="289682" cy="289682"/>
          </a:xfrm>
          <a:prstGeom prst="rect">
            <a:avLst/>
          </a:prstGeom>
        </p:spPr>
      </p:pic>
      <p:sp>
        <p:nvSpPr>
          <p:cNvPr id="50" name="Text 39"/>
          <p:cNvSpPr txBox="1"/>
          <p:nvPr/>
        </p:nvSpPr>
        <p:spPr>
          <a:xfrm>
            <a:off x="7132320" y="4727448"/>
            <a:ext cx="4389120" cy="347472"/>
          </a:xfrm>
          <a:prstGeom prst="rect">
            <a:avLst/>
          </a:prstGeom>
          <a:noFill/>
          <a:ln/>
        </p:spPr>
        <p:txBody>
          <a:bodyPr wrap="square" lIns="0" tIns="0" rIns="0" bIns="0" rtlCol="0" anchor="t"/>
          <a:lstStyle/>
          <a:p>
            <a:pPr marL="0" indent="0">
              <a:buNone/>
            </a:pPr>
            <a:r>
              <a:rPr lang="fr-FR" sz="1400" b="1" dirty="0">
                <a:solidFill>
                  <a:srgbClr val="00704A"/>
                </a:solidFill>
                <a:latin typeface="Calibri" pitchFamily="34" charset="0"/>
                <a:ea typeface="Calibri" pitchFamily="34" charset="-122"/>
                <a:cs typeface="Calibri" pitchFamily="34" charset="-120"/>
              </a:rPr>
              <a:t>Open Nighttime Lights (Banque mondiale)</a:t>
            </a:r>
            <a:endParaRPr lang="fr-FR" sz="1400" dirty="0"/>
          </a:p>
        </p:txBody>
      </p:sp>
      <p:sp>
        <p:nvSpPr>
          <p:cNvPr id="51" name="Text 40"/>
          <p:cNvSpPr txBox="1"/>
          <p:nvPr/>
        </p:nvSpPr>
        <p:spPr>
          <a:xfrm>
            <a:off x="7132320" y="5093208"/>
            <a:ext cx="4389120" cy="411480"/>
          </a:xfrm>
          <a:prstGeom prst="rect">
            <a:avLst/>
          </a:prstGeom>
          <a:noFill/>
          <a:ln/>
        </p:spPr>
        <p:txBody>
          <a:bodyPr wrap="square" lIns="0" tIns="0" rIns="0" bIns="0" rtlCol="0" anchor="t"/>
          <a:lstStyle/>
          <a:p>
            <a:pPr marL="0" indent="0">
              <a:buNone/>
            </a:pPr>
            <a:r>
              <a:rPr lang="fr-FR" sz="1150" dirty="0">
                <a:solidFill>
                  <a:srgbClr val="5E6964"/>
                </a:solidFill>
                <a:latin typeface="Calibri" pitchFamily="34" charset="0"/>
                <a:ea typeface="Calibri" pitchFamily="34" charset="-122"/>
                <a:cs typeface="Calibri" pitchFamily="34" charset="-120"/>
              </a:rPr>
              <a:t>Tutoriels, notebooks — et la plupart des images réelles de ce support (CC BY 4.0)</a:t>
            </a:r>
            <a:endParaRPr lang="fr-FR"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fr-FR" sz="800" i="1" dirty="0">
                <a:solidFill>
                  <a:srgbClr val="7BCBA9"/>
                </a:solidFill>
                <a:latin typeface="Calibri" pitchFamily="34" charset="0"/>
                <a:ea typeface="Calibri" pitchFamily="34" charset="-122"/>
                <a:cs typeface="Calibri" pitchFamily="34" charset="-120"/>
              </a:rPr>
              <a:t>Afrique  ·  Rendu illustratif : populations des localités GeoNames, frontières Natural Earth</a:t>
            </a:r>
            <a:endParaRPr lang="fr-FR" sz="800" dirty="0"/>
          </a:p>
        </p:txBody>
      </p:sp>
      <p:sp>
        <p:nvSpPr>
          <p:cNvPr id="3" name="Text 1"/>
          <p:cNvSpPr txBox="1"/>
          <p:nvPr/>
        </p:nvSpPr>
        <p:spPr>
          <a:xfrm>
            <a:off x="731520" y="640080"/>
            <a:ext cx="7315200" cy="274320"/>
          </a:xfrm>
          <a:prstGeom prst="rect">
            <a:avLst/>
          </a:prstGeom>
          <a:noFill/>
          <a:ln/>
        </p:spPr>
        <p:txBody>
          <a:bodyPr wrap="square" lIns="0" tIns="0" rIns="0" bIns="0" rtlCol="0" anchor="t"/>
          <a:lstStyle/>
          <a:p>
            <a:pPr marL="0" indent="0">
              <a:buNone/>
            </a:pPr>
            <a:r>
              <a:rPr lang="fr-FR" sz="1100" b="1" kern="0" spc="200" dirty="0">
                <a:solidFill>
                  <a:srgbClr val="F5C242"/>
                </a:solidFill>
                <a:latin typeface="Calibri" pitchFamily="34" charset="0"/>
                <a:ea typeface="Calibri" pitchFamily="34" charset="-122"/>
                <a:cs typeface="Calibri" pitchFamily="34" charset="-120"/>
              </a:rPr>
              <a:t>BANQUE AFRICAINE DE DÉVELOPPEMENT  ·  DATA INNOVATION FOR AFRICA (DI4A)</a:t>
            </a:r>
            <a:endParaRPr lang="fr-FR" sz="1100" dirty="0"/>
          </a:p>
        </p:txBody>
      </p:sp>
      <p:sp>
        <p:nvSpPr>
          <p:cNvPr id="4" name="Text 2"/>
          <p:cNvSpPr txBox="1"/>
          <p:nvPr/>
        </p:nvSpPr>
        <p:spPr>
          <a:xfrm>
            <a:off x="731520" y="1371600"/>
            <a:ext cx="6400800" cy="914400"/>
          </a:xfrm>
          <a:prstGeom prst="rect">
            <a:avLst/>
          </a:prstGeom>
          <a:noFill/>
          <a:ln/>
        </p:spPr>
        <p:txBody>
          <a:bodyPr wrap="square" lIns="0" tIns="0" rIns="0" bIns="0" rtlCol="0" anchor="ctr"/>
          <a:lstStyle/>
          <a:p>
            <a:pPr marL="0" indent="0">
              <a:buNone/>
            </a:pPr>
            <a:r>
              <a:rPr lang="fr-FR" sz="5200" b="1" dirty="0">
                <a:solidFill>
                  <a:srgbClr val="FFFFFF"/>
                </a:solidFill>
                <a:latin typeface="Calibri" pitchFamily="34" charset="0"/>
                <a:ea typeface="Calibri" pitchFamily="34" charset="-122"/>
                <a:cs typeface="Calibri" pitchFamily="34" charset="-120"/>
              </a:rPr>
              <a:t>Merci</a:t>
            </a:r>
            <a:endParaRPr lang="fr-FR" sz="5200" dirty="0"/>
          </a:p>
        </p:txBody>
      </p:sp>
      <p:sp>
        <p:nvSpPr>
          <p:cNvPr id="7" name="Text 5"/>
          <p:cNvSpPr txBox="1"/>
          <p:nvPr/>
        </p:nvSpPr>
        <p:spPr>
          <a:xfrm>
            <a:off x="731520" y="4800600"/>
            <a:ext cx="6400800" cy="274320"/>
          </a:xfrm>
          <a:prstGeom prst="rect">
            <a:avLst/>
          </a:prstGeom>
          <a:noFill/>
          <a:ln/>
        </p:spPr>
        <p:txBody>
          <a:bodyPr wrap="square" lIns="0" tIns="0" rIns="0" bIns="0" rtlCol="0" anchor="t"/>
          <a:lstStyle/>
          <a:p>
            <a:pPr marL="0" indent="0">
              <a:buNone/>
            </a:pPr>
            <a:r>
              <a:rPr lang="fr-FR" sz="1200" b="1" dirty="0">
                <a:solidFill>
                  <a:srgbClr val="FFFFFF"/>
                </a:solidFill>
                <a:latin typeface="Calibri" pitchFamily="34" charset="0"/>
                <a:ea typeface="Calibri" pitchFamily="34" charset="-122"/>
                <a:cs typeface="Calibri" pitchFamily="34" charset="-120"/>
              </a:rPr>
              <a:t>Data Innovation for Africa (DI4A) — Banque africaine de développement</a:t>
            </a:r>
            <a:endParaRPr lang="fr-FR" sz="1200" dirty="0"/>
          </a:p>
        </p:txBody>
      </p:sp>
      <p:sp>
        <p:nvSpPr>
          <p:cNvPr id="8" name="Shape 6"/>
          <p:cNvSpPr/>
          <p:nvPr/>
        </p:nvSpPr>
        <p:spPr>
          <a:xfrm>
            <a:off x="731520" y="5349240"/>
            <a:ext cx="3523234" cy="1097280"/>
          </a:xfrm>
          <a:prstGeom prst="roundRect">
            <a:avLst>
              <a:gd name="adj" fmla="val 6667"/>
            </a:avLst>
          </a:prstGeom>
          <a:solidFill>
            <a:srgbClr val="FFFFFF"/>
          </a:solidFill>
          <a:ln w="9525">
            <a:solidFill>
              <a:srgbClr val="FFFFFF"/>
            </a:solidFill>
            <a:prstDash val="solid"/>
          </a:ln>
        </p:spPr>
      </p:sp>
      <p:pic>
        <p:nvPicPr>
          <p:cNvPr id="9" name="Image 0" descr="Logo Banque africaine de développement – Data Innovation for Africa (DI4A)"/>
          <p:cNvPicPr>
            <a:picLocks noChangeAspect="1"/>
          </p:cNvPicPr>
          <p:nvPr/>
        </p:nvPicPr>
        <p:blipFill>
          <a:blip r:embed="rId4"/>
          <a:stretch>
            <a:fillRect/>
          </a:stretch>
        </p:blipFill>
        <p:spPr>
          <a:xfrm>
            <a:off x="896112" y="5440680"/>
            <a:ext cx="3194050" cy="914400"/>
          </a:xfrm>
          <a:prstGeom prst="rect">
            <a:avLst/>
          </a:prstGeom>
        </p:spPr>
      </p:pic>
      <p:sp>
        <p:nvSpPr>
          <p:cNvPr id="15" name="Shape 10"/>
          <p:cNvSpPr/>
          <p:nvPr/>
        </p:nvSpPr>
        <p:spPr>
          <a:xfrm>
            <a:off x="0" y="6766560"/>
            <a:ext cx="9509522" cy="91440"/>
          </a:xfrm>
          <a:prstGeom prst="rect">
            <a:avLst/>
          </a:prstGeom>
          <a:solidFill>
            <a:srgbClr val="00704A"/>
          </a:solidFill>
          <a:ln w="6350">
            <a:solidFill>
              <a:srgbClr val="00704A"/>
            </a:solidFill>
            <a:prstDash val="solid"/>
          </a:ln>
        </p:spPr>
      </p:sp>
      <p:sp>
        <p:nvSpPr>
          <p:cNvPr id="16" name="Shape 11"/>
          <p:cNvSpPr/>
          <p:nvPr/>
        </p:nvSpPr>
        <p:spPr>
          <a:xfrm>
            <a:off x="9509522" y="6766560"/>
            <a:ext cx="2682173" cy="91440"/>
          </a:xfrm>
          <a:prstGeom prst="rect">
            <a:avLst/>
          </a:prstGeom>
          <a:solidFill>
            <a:srgbClr val="F5C242"/>
          </a:solidFill>
          <a:ln w="6350">
            <a:solidFill>
              <a:srgbClr val="F5C242"/>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19543</Words>
  <Application>Microsoft Office PowerPoint</Application>
  <PresentationFormat>Widescreen</PresentationFormat>
  <Paragraphs>1611</Paragraphs>
  <Slides>69</Slides>
  <Notes>69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Banque africaine de développement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Lumières nocturnes — BAD – Data Innovation for Africa (DI4A)</dc:title>
  <dc:subject>Lumières nocturnes pour les statistiques macroéconomiques</dc:subject>
  <dc:creator>Banque africaine de développement – Data Innovation for Africa (DI4A)</dc:creator>
  <cp:lastModifiedBy>HAJ TAIEB mohamed ali</cp:lastModifiedBy>
  <cp:revision>3</cp:revision>
  <dcterms:created xsi:type="dcterms:W3CDTF">2026-10-02T09:05:27Z</dcterms:created>
  <dcterms:modified xsi:type="dcterms:W3CDTF">2026-10-02T09:10:53Z</dcterms:modified>
</cp:coreProperties>
</file>