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3" r:id="rId7"/>
    <p:sldId id="264" r:id="rId8"/>
    <p:sldId id="265" r:id="rId9"/>
    <p:sldId id="266" r:id="rId10"/>
    <p:sldId id="267"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F546F2-447C-3F20-34FA-21BD4FA3F003}">
          <p14:sldIdLst>
            <p14:sldId id="256"/>
            <p14:sldId id="257"/>
            <p14:sldId id="258"/>
          </p14:sldIdLst>
        </p14:section>
        <p14:section name="Créer le compte" id="{4F3F988E-374E-E981-F3D4-4B56965038CC}">
          <p14:sldIdLst>
            <p14:sldId id="259"/>
            <p14:sldId id="260"/>
          </p14:sldIdLst>
        </p14:section>
        <p14:section name="Obtenir le jeton" id="{8C0DAE60-B76E-4DD1-AD40-100DA0FC3CA5}">
          <p14:sldIdLst>
            <p14:sldId id="263"/>
            <p14:sldId id="264"/>
          </p14:sldIdLst>
        </p14:section>
        <p14:section name="Utiliser le jeton" id="{F17B3533-E9F2-78E3-E8A8-FC793E6CFE6E}">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04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Avec ce guide pratique, chaque utilisateur obtient un jeton NASA Earthdata : la clé qui permet à nos scripts de télécharger les données de lumières nocturnes NASA Black Marble. Gardez votre messagerie ouverte : il faudra confirmer le compte.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est le produit de lumières nocturnes de la NASA issu du capteur VIIRS, à environ 500 m de résolution. Les fichiers sont dans l’archive LAADS DAAC, accessible uniquement aux utilisateurs authentifiés. Le jeton prouve votre identité. L’analyse des lumières nocturnes BAD – DI4A utilise le produit mensuel VNP46A3 pour construire des séries nationales.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étapes : s’inscrire, activer par e-mail, accepter deux EULA, autoriser l’application LAADS, générer le jeton, puis le tester et l’utiliser. Insistez sur l’avertissement : la plupart des échecs viennent d’un profil incomplet, d’EULA manquantes ou d’une application LAADS non autorisée.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Allez sur urs.earthdata.nasa.gov et cliquez sur Register. Les champs obligatoires ont un point rouge. Soignez organisation, type d’utilisateur et domaine d’étude : le guide de la Banque mondiale pour Black Marble précise que le jeton ne fonctionne pas sans eux. Cliquez ensuite sur Register for Earthdata Login.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NASA envoie un e-mail de confirmation. Ouvrez-le et cliquez sur le lien d’activation ; s’il n’apparaît pas, regardez dans Spam ou Promotions. Connectez-vous ensuite avec votre identifiant et votre mot de passe.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retour dans votre profil Earthdata, cliquez sur Generate Token dans le menu du haut. Si aucun jeton n’est listé, cliquez sur le bouton vert Generate Token en bas, puis sur Show Token, et copiez-le.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points : un jeton dure 60 jours, on peut en avoir au plus deux valides, et il s’envoie dans l’en-tête Authorization sous la forme Bearer jeton. Traitez-le comme un mot de passe.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Stockez le jeton dans la variable d’environnement BLACKMARBLE_TOKEN. Testez-le avec curl sur le README de LAADS : vous devez obtenir un fichier texte, pas une page de connexion HTML. blackmarblepy lit ensuite la variable automatiquement ; ici, on demande les données mensuelles VNP46A3 pour 2025. Sous R, blackmarbler fait la même chose.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problèmes fréquents et leurs solutions. Un accès refusé signifie en général un profil incomplet, des EULA manquantes ou LAADS non autorisé. Un jeton expiré se régénère. Deux jetons est le maximum. Et curl a besoin de -L et -b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Références officielles pour aller plus loin.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Vous avez maintenant un jeton NASA fonctionnel. Gardez-le dans votre variable d’environnement pour vos analyses de lumières nocturnes. Des questions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9045"/>
          </a:solidFill>
          <a:ln/>
        </p:spPr>
      </p:sp>
      <p:sp>
        <p:nvSpPr>
          <p:cNvPr id="3" name="Shape 1"/>
          <p:cNvSpPr/>
          <p:nvPr/>
        </p:nvSpPr>
        <p:spPr>
          <a:xfrm>
            <a:off x="0" y="0"/>
            <a:ext cx="1234440" cy="54864"/>
          </a:xfrm>
          <a:prstGeom prst="rect">
            <a:avLst/>
          </a:prstGeom>
          <a:solidFill>
            <a:srgbClr val="F5C242"/>
          </a:solidFill>
          <a:ln/>
        </p:spPr>
      </p:sp>
      <p:sp>
        <p:nvSpPr>
          <p:cNvPr id="4" name="Text 2"/>
          <p:cNvSpPr/>
          <p:nvPr/>
        </p:nvSpPr>
        <p:spPr>
          <a:xfrm>
            <a:off x="457200" y="4800600"/>
            <a:ext cx="6766560" cy="201168"/>
          </a:xfrm>
          <a:prstGeom prst="rect">
            <a:avLst/>
          </a:prstGeom>
          <a:noFill/>
          <a:ln/>
        </p:spPr>
        <p:txBody>
          <a:bodyPr wrap="square" lIns="0" tIns="0" rIns="0" bIns="0" rtlCol="0" anchor="ctr"/>
          <a:lstStyle/>
          <a:p>
            <a:pPr marL="0" indent="0">
              <a:buNone/>
            </a:pPr>
            <a:r>
              <a:rPr lang="en-US" sz="850" dirty="0">
                <a:solidFill>
                  <a:srgbClr val="8A968F"/>
                </a:solidFill>
              </a:rPr>
              <a:t>Jeton NASA Earthdata · Banque africaine de développement – Data Innovation for Africa (DI4A)</a:t>
            </a:r>
            <a:endParaRPr lang="en-US" sz="850" dirty="0"/>
          </a:p>
        </p:txBody>
      </p:sp>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hyperlink" Target="https://pypi.org/project/blackmarblepy/" TargetMode="External"/><Relationship Id="rId3" Type="http://schemas.openxmlformats.org/officeDocument/2006/relationships/image" Target="../media/image26.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worldbank.github.io/blackmarbler/" TargetMode="External"/><Relationship Id="rId5" Type="http://schemas.openxmlformats.org/officeDocument/2006/relationships/hyperlink" Target="https://ladsweb.modaps.eosdis.nasa.gov/learn/download-files-using-edl-tokens/" TargetMode="External"/><Relationship Id="rId4" Type="http://schemas.openxmlformats.org/officeDocument/2006/relationships/hyperlink" Target="https://urs.earthdata.nasa.gov/documentation/for_users/user_toke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5760720" cy="274320"/>
          </a:xfrm>
          <a:prstGeom prst="rect">
            <a:avLst/>
          </a:prstGeom>
          <a:noFill/>
          <a:ln/>
        </p:spPr>
        <p:txBody>
          <a:bodyPr wrap="square" lIns="0" tIns="0" rIns="0" bIns="0" rtlCol="0" anchor="ctr"/>
          <a:lstStyle/>
          <a:p>
            <a:pPr marL="0" indent="0">
              <a:buNone/>
            </a:pPr>
            <a:r>
              <a:rPr lang="en-US" sz="1100" b="1" kern="0" spc="200" dirty="0">
                <a:solidFill>
                  <a:srgbClr val="F5C242"/>
                </a:solidFill>
                <a:latin typeface="Calibri" pitchFamily="34" charset="0"/>
                <a:ea typeface="Calibri" pitchFamily="34" charset="-122"/>
                <a:cs typeface="Calibri" pitchFamily="34" charset="-120"/>
              </a:rPr>
              <a:t>BAD · DATA INNOVATION FOR AFRICA (DI4A)</a:t>
            </a:r>
            <a:endParaRPr lang="en-US" sz="1100" dirty="0"/>
          </a:p>
        </p:txBody>
      </p:sp>
      <p:sp>
        <p:nvSpPr>
          <p:cNvPr id="3" name="Text 1"/>
          <p:cNvSpPr txBox="1"/>
          <p:nvPr/>
        </p:nvSpPr>
        <p:spPr>
          <a:xfrm>
            <a:off x="548640" y="1280160"/>
            <a:ext cx="5760720" cy="15087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Obtenir un jeton NASA Earthdata pour les lumières nocturnes</a:t>
            </a:r>
            <a:endParaRPr lang="en-US" sz="3200" dirty="0"/>
          </a:p>
        </p:txBody>
      </p:sp>
      <p:sp>
        <p:nvSpPr>
          <p:cNvPr id="4" name="Text 2"/>
          <p:cNvSpPr txBox="1"/>
          <p:nvPr/>
        </p:nvSpPr>
        <p:spPr>
          <a:xfrm>
            <a:off x="548640" y="2926080"/>
            <a:ext cx="5486400" cy="685800"/>
          </a:xfrm>
          <a:prstGeom prst="rect">
            <a:avLst/>
          </a:prstGeom>
          <a:noFill/>
          <a:ln/>
        </p:spPr>
        <p:txBody>
          <a:bodyPr wrap="square" lIns="0" tIns="0" rIns="0" bIns="0" rtlCol="0" anchor="t"/>
          <a:lstStyle/>
          <a:p>
            <a:pPr marL="0" indent="0">
              <a:buNone/>
            </a:pPr>
            <a:r>
              <a:rPr lang="en-US" sz="1700" i="1" dirty="0">
                <a:solidFill>
                  <a:srgbClr val="E8F4EB"/>
                </a:solidFill>
                <a:latin typeface="Calibri" pitchFamily="34" charset="0"/>
                <a:ea typeface="Calibri" pitchFamily="34" charset="-122"/>
                <a:cs typeface="Calibri" pitchFamily="34" charset="-120"/>
              </a:rPr>
              <a:t>Accéder aux données NASA Black Marble (VNP46) en six étapes</a:t>
            </a:r>
            <a:endParaRPr lang="en-US" sz="1700" dirty="0"/>
          </a:p>
        </p:txBody>
      </p:sp>
      <p:sp>
        <p:nvSpPr>
          <p:cNvPr id="5" name="Shape 3"/>
          <p:cNvSpPr/>
          <p:nvPr/>
        </p:nvSpPr>
        <p:spPr>
          <a:xfrm>
            <a:off x="5897880" y="731520"/>
            <a:ext cx="2834640" cy="2834640"/>
          </a:xfrm>
          <a:prstGeom prst="ellipse">
            <a:avLst/>
          </a:prstGeom>
          <a:solidFill>
            <a:srgbClr val="FFFFFF">
              <a:alpha val="12000"/>
            </a:srgbClr>
          </a:solidFill>
          <a:ln w="9525">
            <a:solidFill>
              <a:srgbClr val="FFFFFF">
                <a:alpha val="30000"/>
              </a:srgbClr>
            </a:solidFill>
            <a:prstDash val="solid"/>
          </a:ln>
        </p:spPr>
      </p:sp>
      <p:sp>
        <p:nvSpPr>
          <p:cNvPr id="6" name="Shape 4"/>
          <p:cNvSpPr/>
          <p:nvPr/>
        </p:nvSpPr>
        <p:spPr>
          <a:xfrm>
            <a:off x="6291072" y="1124712"/>
            <a:ext cx="2048256" cy="2048256"/>
          </a:xfrm>
          <a:prstGeom prst="ellipse">
            <a:avLst/>
          </a:prstGeom>
          <a:solidFill>
            <a:srgbClr val="FFFFFF">
              <a:alpha val="10000"/>
            </a:srgbClr>
          </a:solidFill>
          <a:ln w="9525">
            <a:solidFill>
              <a:srgbClr val="FFFFFF">
                <a:alpha val="30000"/>
              </a:srgbClr>
            </a:solidFill>
            <a:prstDash val="solid"/>
          </a:ln>
        </p:spPr>
      </p:sp>
      <p:sp>
        <p:nvSpPr>
          <p:cNvPr id="7" name="Shape 5"/>
          <p:cNvSpPr/>
          <p:nvPr/>
        </p:nvSpPr>
        <p:spPr>
          <a:xfrm>
            <a:off x="6629400" y="1463040"/>
            <a:ext cx="1371600" cy="1371600"/>
          </a:xfrm>
          <a:prstGeom prst="ellipse">
            <a:avLst/>
          </a:prstGeom>
          <a:solidFill>
            <a:srgbClr val="FFFFFF"/>
          </a:solidFill>
          <a:ln/>
        </p:spPr>
      </p:sp>
      <p:pic>
        <p:nvPicPr>
          <p:cNvPr id="8" name="Image 0" descr="/home/claude/work/ntl/icons/satellite_g2.png"/>
          <p:cNvPicPr>
            <a:picLocks noChangeAspect="1"/>
          </p:cNvPicPr>
          <p:nvPr/>
        </p:nvPicPr>
        <p:blipFill>
          <a:blip r:embed="rId3"/>
          <a:stretch>
            <a:fillRect/>
          </a:stretch>
        </p:blipFill>
        <p:spPr>
          <a:xfrm>
            <a:off x="6931152" y="1764792"/>
            <a:ext cx="768096" cy="768096"/>
          </a:xfrm>
          <a:prstGeom prst="rect">
            <a:avLst/>
          </a:prstGeom>
        </p:spPr>
      </p:pic>
      <p:pic>
        <p:nvPicPr>
          <p:cNvPr id="9" name="Image 1" descr="Logo Banque africaine de développement – Data Innovation for Africa (DI4A)"/>
          <p:cNvPicPr>
            <a:picLocks noChangeAspect="1"/>
          </p:cNvPicPr>
          <p:nvPr/>
        </p:nvPicPr>
        <p:blipFill>
          <a:blip r:embed="rId4"/>
          <a:stretch>
            <a:fillRect/>
          </a:stretch>
        </p:blipFill>
        <p:spPr>
          <a:xfrm>
            <a:off x="548640" y="4069080"/>
            <a:ext cx="1980311" cy="566928"/>
          </a:xfrm>
          <a:prstGeom prst="rect">
            <a:avLst/>
          </a:prstGeom>
        </p:spPr>
      </p:pic>
      <p:sp>
        <p:nvSpPr>
          <p:cNvPr id="10" name="Text 6"/>
          <p:cNvSpPr txBox="1"/>
          <p:nvPr/>
        </p:nvSpPr>
        <p:spPr>
          <a:xfrm>
            <a:off x="2757551" y="4069080"/>
            <a:ext cx="5669280" cy="566928"/>
          </a:xfrm>
          <a:prstGeom prst="rect">
            <a:avLst/>
          </a:prstGeom>
          <a:noFill/>
          <a:ln/>
        </p:spPr>
        <p:txBody>
          <a:bodyPr wrap="square" lIns="0" tIns="0" rIns="0" bIns="0" rtlCol="0" anchor="ctr"/>
          <a:lstStyle/>
          <a:p>
            <a:pPr marL="0" indent="0">
              <a:spcBef>
                <a:spcPts val="200"/>
              </a:spcBef>
              <a:buNone/>
            </a:pPr>
            <a:r>
              <a:rPr lang="en-US" sz="1100" b="1" dirty="0">
                <a:solidFill>
                  <a:srgbClr val="FFFFFF"/>
                </a:solidFill>
                <a:latin typeface="Calibri" pitchFamily="34" charset="0"/>
                <a:ea typeface="Calibri" pitchFamily="34" charset="-122"/>
                <a:cs typeface="Calibri" pitchFamily="34" charset="-120"/>
              </a:rPr>
              <a:t>Banque africaine de développement (BAD)</a:t>
            </a:r>
            <a:endParaRPr lang="en-US" sz="1100" dirty="0"/>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POURQUOI UN JETON NASA</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 jeton pour accéder à NASA Black Marble</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1481328" cy="1417320"/>
          </a:xfrm>
          <a:prstGeom prst="roundRect">
            <a:avLst>
              <a:gd name="adj" fmla="val 5161"/>
            </a:avLst>
          </a:prstGeom>
          <a:solidFill>
            <a:srgbClr val="F4F8F5"/>
          </a:solidFill>
          <a:ln w="9525">
            <a:solidFill>
              <a:srgbClr val="D3E2D7"/>
            </a:solidFill>
            <a:prstDash val="solid"/>
          </a:ln>
        </p:spPr>
      </p:sp>
      <p:sp>
        <p:nvSpPr>
          <p:cNvPr id="11" name="Shape 9"/>
          <p:cNvSpPr/>
          <p:nvPr/>
        </p:nvSpPr>
        <p:spPr>
          <a:xfrm>
            <a:off x="946404" y="1444752"/>
            <a:ext cx="502920" cy="502920"/>
          </a:xfrm>
          <a:prstGeom prst="ellipse">
            <a:avLst/>
          </a:prstGeom>
          <a:solidFill>
            <a:srgbClr val="0E5A2E">
              <a:alpha val="20000"/>
            </a:srgbClr>
          </a:solidFill>
          <a:ln/>
        </p:spPr>
      </p:sp>
      <p:pic>
        <p:nvPicPr>
          <p:cNvPr id="12" name="Image 0" descr="/home/claude/work/ntl/icons/userplus_g2.png"/>
          <p:cNvPicPr>
            <a:picLocks noChangeAspect="1"/>
          </p:cNvPicPr>
          <p:nvPr/>
        </p:nvPicPr>
        <p:blipFill>
          <a:blip r:embed="rId3"/>
          <a:stretch>
            <a:fillRect/>
          </a:stretch>
        </p:blipFill>
        <p:spPr>
          <a:xfrm>
            <a:off x="1082192" y="1580540"/>
            <a:ext cx="231343" cy="231343"/>
          </a:xfrm>
          <a:prstGeom prst="rect">
            <a:avLst/>
          </a:prstGeom>
        </p:spPr>
      </p:pic>
      <p:sp>
        <p:nvSpPr>
          <p:cNvPr id="13" name="Text 10"/>
          <p:cNvSpPr txBox="1"/>
          <p:nvPr/>
        </p:nvSpPr>
        <p:spPr>
          <a:xfrm>
            <a:off x="53035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Compte Earthdata</a:t>
            </a:r>
            <a:endParaRPr lang="en-US" sz="1200" dirty="0"/>
          </a:p>
        </p:txBody>
      </p:sp>
      <p:sp>
        <p:nvSpPr>
          <p:cNvPr id="14" name="Text 11"/>
          <p:cNvSpPr txBox="1"/>
          <p:nvPr/>
        </p:nvSpPr>
        <p:spPr>
          <a:xfrm>
            <a:off x="54864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Identifiant NASA gratuit</a:t>
            </a:r>
            <a:endParaRPr lang="en-US" sz="950" dirty="0"/>
          </a:p>
        </p:txBody>
      </p:sp>
      <p:pic>
        <p:nvPicPr>
          <p:cNvPr id="15" name="Image 1" descr="/home/claude/work/ntl/icons/arrow_g1.png"/>
          <p:cNvPicPr>
            <a:picLocks noChangeAspect="1"/>
          </p:cNvPicPr>
          <p:nvPr/>
        </p:nvPicPr>
        <p:blipFill>
          <a:blip r:embed="rId4"/>
          <a:stretch>
            <a:fillRect/>
          </a:stretch>
        </p:blipFill>
        <p:spPr>
          <a:xfrm>
            <a:off x="1965960" y="1920240"/>
            <a:ext cx="155448" cy="155448"/>
          </a:xfrm>
          <a:prstGeom prst="rect">
            <a:avLst/>
          </a:prstGeom>
        </p:spPr>
      </p:pic>
      <p:sp>
        <p:nvSpPr>
          <p:cNvPr id="16" name="Shape 12"/>
          <p:cNvSpPr/>
          <p:nvPr/>
        </p:nvSpPr>
        <p:spPr>
          <a:xfrm>
            <a:off x="2148840" y="1298448"/>
            <a:ext cx="1481328" cy="1417320"/>
          </a:xfrm>
          <a:prstGeom prst="roundRect">
            <a:avLst>
              <a:gd name="adj" fmla="val 5161"/>
            </a:avLst>
          </a:prstGeom>
          <a:solidFill>
            <a:srgbClr val="F5C242">
              <a:alpha val="20000"/>
            </a:srgbClr>
          </a:solidFill>
          <a:ln w="19050">
            <a:solidFill>
              <a:srgbClr val="D49A00"/>
            </a:solidFill>
            <a:prstDash val="solid"/>
          </a:ln>
        </p:spPr>
      </p:sp>
      <p:sp>
        <p:nvSpPr>
          <p:cNvPr id="17" name="Shape 13"/>
          <p:cNvSpPr/>
          <p:nvPr/>
        </p:nvSpPr>
        <p:spPr>
          <a:xfrm>
            <a:off x="2638044" y="1444752"/>
            <a:ext cx="502920" cy="502920"/>
          </a:xfrm>
          <a:prstGeom prst="ellipse">
            <a:avLst/>
          </a:prstGeom>
          <a:solidFill>
            <a:srgbClr val="D49A00">
              <a:alpha val="20000"/>
            </a:srgbClr>
          </a:solidFill>
          <a:ln/>
        </p:spPr>
      </p:sp>
      <p:pic>
        <p:nvPicPr>
          <p:cNvPr id="18" name="Image 2" descr="/home/claude/work/ntl/icons/key_gold.png"/>
          <p:cNvPicPr>
            <a:picLocks noChangeAspect="1"/>
          </p:cNvPicPr>
          <p:nvPr/>
        </p:nvPicPr>
        <p:blipFill>
          <a:blip r:embed="rId5"/>
          <a:stretch>
            <a:fillRect/>
          </a:stretch>
        </p:blipFill>
        <p:spPr>
          <a:xfrm>
            <a:off x="2773832" y="1580540"/>
            <a:ext cx="231343" cy="231343"/>
          </a:xfrm>
          <a:prstGeom prst="rect">
            <a:avLst/>
          </a:prstGeom>
        </p:spPr>
      </p:pic>
      <p:sp>
        <p:nvSpPr>
          <p:cNvPr id="19" name="Text 14"/>
          <p:cNvSpPr txBox="1"/>
          <p:nvPr/>
        </p:nvSpPr>
        <p:spPr>
          <a:xfrm>
            <a:off x="222199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Jeton Bearer</a:t>
            </a:r>
            <a:endParaRPr lang="en-US" sz="1200" dirty="0"/>
          </a:p>
        </p:txBody>
      </p:sp>
      <p:sp>
        <p:nvSpPr>
          <p:cNvPr id="20" name="Text 15"/>
          <p:cNvSpPr txBox="1"/>
          <p:nvPr/>
        </p:nvSpPr>
        <p:spPr>
          <a:xfrm>
            <a:off x="224028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Votre clé d’accès, 60 jours</a:t>
            </a:r>
            <a:endParaRPr lang="en-US" sz="950" dirty="0"/>
          </a:p>
        </p:txBody>
      </p:sp>
      <p:pic>
        <p:nvPicPr>
          <p:cNvPr id="21" name="Image 3" descr="/home/claude/work/ntl/icons/arrow_g1.png"/>
          <p:cNvPicPr>
            <a:picLocks noChangeAspect="1"/>
          </p:cNvPicPr>
          <p:nvPr/>
        </p:nvPicPr>
        <p:blipFill>
          <a:blip r:embed="rId4"/>
          <a:stretch>
            <a:fillRect/>
          </a:stretch>
        </p:blipFill>
        <p:spPr>
          <a:xfrm>
            <a:off x="3657600" y="1920240"/>
            <a:ext cx="155448" cy="155448"/>
          </a:xfrm>
          <a:prstGeom prst="rect">
            <a:avLst/>
          </a:prstGeom>
        </p:spPr>
      </p:pic>
      <p:sp>
        <p:nvSpPr>
          <p:cNvPr id="22" name="Shape 16"/>
          <p:cNvSpPr/>
          <p:nvPr/>
        </p:nvSpPr>
        <p:spPr>
          <a:xfrm>
            <a:off x="3840480" y="1298448"/>
            <a:ext cx="1481328" cy="1417320"/>
          </a:xfrm>
          <a:prstGeom prst="roundRect">
            <a:avLst>
              <a:gd name="adj" fmla="val 5161"/>
            </a:avLst>
          </a:prstGeom>
          <a:solidFill>
            <a:srgbClr val="F4F8F5"/>
          </a:solidFill>
          <a:ln w="9525">
            <a:solidFill>
              <a:srgbClr val="D3E2D7"/>
            </a:solidFill>
            <a:prstDash val="solid"/>
          </a:ln>
        </p:spPr>
      </p:sp>
      <p:sp>
        <p:nvSpPr>
          <p:cNvPr id="23" name="Shape 17"/>
          <p:cNvSpPr/>
          <p:nvPr/>
        </p:nvSpPr>
        <p:spPr>
          <a:xfrm>
            <a:off x="4329684" y="1444752"/>
            <a:ext cx="502920" cy="502920"/>
          </a:xfrm>
          <a:prstGeom prst="ellipse">
            <a:avLst/>
          </a:prstGeom>
          <a:solidFill>
            <a:srgbClr val="0E5A2E">
              <a:alpha val="20000"/>
            </a:srgbClr>
          </a:solidFill>
          <a:ln/>
        </p:spPr>
      </p:sp>
      <p:pic>
        <p:nvPicPr>
          <p:cNvPr id="24" name="Image 4" descr="/home/claude/work/ntl/icons/database_g2.png"/>
          <p:cNvPicPr>
            <a:picLocks noChangeAspect="1"/>
          </p:cNvPicPr>
          <p:nvPr/>
        </p:nvPicPr>
        <p:blipFill>
          <a:blip r:embed="rId6"/>
          <a:stretch>
            <a:fillRect/>
          </a:stretch>
        </p:blipFill>
        <p:spPr>
          <a:xfrm>
            <a:off x="4465472" y="1580540"/>
            <a:ext cx="231343" cy="231343"/>
          </a:xfrm>
          <a:prstGeom prst="rect">
            <a:avLst/>
          </a:prstGeom>
        </p:spPr>
      </p:pic>
      <p:sp>
        <p:nvSpPr>
          <p:cNvPr id="25" name="Text 18"/>
          <p:cNvSpPr txBox="1"/>
          <p:nvPr/>
        </p:nvSpPr>
        <p:spPr>
          <a:xfrm>
            <a:off x="391363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LAADS DAAC</a:t>
            </a:r>
            <a:endParaRPr lang="en-US" sz="1200" dirty="0"/>
          </a:p>
        </p:txBody>
      </p:sp>
      <p:sp>
        <p:nvSpPr>
          <p:cNvPr id="26" name="Text 19"/>
          <p:cNvSpPr txBox="1"/>
          <p:nvPr/>
        </p:nvSpPr>
        <p:spPr>
          <a:xfrm>
            <a:off x="393192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Archive NASA des produits VNP46</a:t>
            </a:r>
            <a:endParaRPr lang="en-US" sz="950" dirty="0"/>
          </a:p>
        </p:txBody>
      </p:sp>
      <p:pic>
        <p:nvPicPr>
          <p:cNvPr id="27" name="Image 5" descr="/home/claude/work/ntl/icons/arrow_g1.png"/>
          <p:cNvPicPr>
            <a:picLocks noChangeAspect="1"/>
          </p:cNvPicPr>
          <p:nvPr/>
        </p:nvPicPr>
        <p:blipFill>
          <a:blip r:embed="rId4"/>
          <a:stretch>
            <a:fillRect/>
          </a:stretch>
        </p:blipFill>
        <p:spPr>
          <a:xfrm>
            <a:off x="5349240" y="1920240"/>
            <a:ext cx="155448" cy="155448"/>
          </a:xfrm>
          <a:prstGeom prst="rect">
            <a:avLst/>
          </a:prstGeom>
        </p:spPr>
      </p:pic>
      <p:sp>
        <p:nvSpPr>
          <p:cNvPr id="28" name="Shape 20"/>
          <p:cNvSpPr/>
          <p:nvPr/>
        </p:nvSpPr>
        <p:spPr>
          <a:xfrm>
            <a:off x="5532120" y="1298448"/>
            <a:ext cx="1481328" cy="1417320"/>
          </a:xfrm>
          <a:prstGeom prst="roundRect">
            <a:avLst>
              <a:gd name="adj" fmla="val 5161"/>
            </a:avLst>
          </a:prstGeom>
          <a:solidFill>
            <a:srgbClr val="F4F8F5"/>
          </a:solidFill>
          <a:ln w="9525">
            <a:solidFill>
              <a:srgbClr val="D3E2D7"/>
            </a:solidFill>
            <a:prstDash val="solid"/>
          </a:ln>
        </p:spPr>
      </p:sp>
      <p:sp>
        <p:nvSpPr>
          <p:cNvPr id="29" name="Shape 21"/>
          <p:cNvSpPr/>
          <p:nvPr/>
        </p:nvSpPr>
        <p:spPr>
          <a:xfrm>
            <a:off x="6021324" y="1444752"/>
            <a:ext cx="502920" cy="502920"/>
          </a:xfrm>
          <a:prstGeom prst="ellipse">
            <a:avLst/>
          </a:prstGeom>
          <a:solidFill>
            <a:srgbClr val="0E5A2E">
              <a:alpha val="20000"/>
            </a:srgbClr>
          </a:solidFill>
          <a:ln/>
        </p:spPr>
      </p:sp>
      <p:pic>
        <p:nvPicPr>
          <p:cNvPr id="30" name="Image 6" descr="/home/claude/work/ntl/icons/python_g2.png"/>
          <p:cNvPicPr>
            <a:picLocks noChangeAspect="1"/>
          </p:cNvPicPr>
          <p:nvPr/>
        </p:nvPicPr>
        <p:blipFill>
          <a:blip r:embed="rId7"/>
          <a:stretch>
            <a:fillRect/>
          </a:stretch>
        </p:blipFill>
        <p:spPr>
          <a:xfrm>
            <a:off x="6157112" y="1580540"/>
            <a:ext cx="231343" cy="231343"/>
          </a:xfrm>
          <a:prstGeom prst="rect">
            <a:avLst/>
          </a:prstGeom>
        </p:spPr>
      </p:pic>
      <p:sp>
        <p:nvSpPr>
          <p:cNvPr id="31" name="Text 22"/>
          <p:cNvSpPr txBox="1"/>
          <p:nvPr/>
        </p:nvSpPr>
        <p:spPr>
          <a:xfrm>
            <a:off x="560527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blackmarblepy</a:t>
            </a:r>
            <a:endParaRPr lang="en-US" sz="1200" dirty="0"/>
          </a:p>
        </p:txBody>
      </p:sp>
      <p:sp>
        <p:nvSpPr>
          <p:cNvPr id="32" name="Text 23"/>
          <p:cNvSpPr txBox="1"/>
          <p:nvPr/>
        </p:nvSpPr>
        <p:spPr>
          <a:xfrm>
            <a:off x="562356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Python / R : télécharger, découper</a:t>
            </a:r>
            <a:endParaRPr lang="en-US" sz="950" dirty="0"/>
          </a:p>
        </p:txBody>
      </p:sp>
      <p:pic>
        <p:nvPicPr>
          <p:cNvPr id="33" name="Image 7" descr="/home/claude/work/ntl/icons/arrow_g1.png"/>
          <p:cNvPicPr>
            <a:picLocks noChangeAspect="1"/>
          </p:cNvPicPr>
          <p:nvPr/>
        </p:nvPicPr>
        <p:blipFill>
          <a:blip r:embed="rId4"/>
          <a:stretch>
            <a:fillRect/>
          </a:stretch>
        </p:blipFill>
        <p:spPr>
          <a:xfrm>
            <a:off x="7040880" y="1920240"/>
            <a:ext cx="155448" cy="155448"/>
          </a:xfrm>
          <a:prstGeom prst="rect">
            <a:avLst/>
          </a:prstGeom>
        </p:spPr>
      </p:pic>
      <p:sp>
        <p:nvSpPr>
          <p:cNvPr id="34" name="Shape 24"/>
          <p:cNvSpPr/>
          <p:nvPr/>
        </p:nvSpPr>
        <p:spPr>
          <a:xfrm>
            <a:off x="7223760" y="1298448"/>
            <a:ext cx="1481328" cy="1417320"/>
          </a:xfrm>
          <a:prstGeom prst="roundRect">
            <a:avLst>
              <a:gd name="adj" fmla="val 5161"/>
            </a:avLst>
          </a:prstGeom>
          <a:solidFill>
            <a:srgbClr val="F4F8F5"/>
          </a:solidFill>
          <a:ln w="9525">
            <a:solidFill>
              <a:srgbClr val="D3E2D7"/>
            </a:solidFill>
            <a:prstDash val="solid"/>
          </a:ln>
        </p:spPr>
      </p:sp>
      <p:sp>
        <p:nvSpPr>
          <p:cNvPr id="35" name="Shape 25"/>
          <p:cNvSpPr/>
          <p:nvPr/>
        </p:nvSpPr>
        <p:spPr>
          <a:xfrm>
            <a:off x="7712964" y="1444752"/>
            <a:ext cx="502920" cy="502920"/>
          </a:xfrm>
          <a:prstGeom prst="ellipse">
            <a:avLst/>
          </a:prstGeom>
          <a:solidFill>
            <a:srgbClr val="0E5A2E">
              <a:alpha val="20000"/>
            </a:srgbClr>
          </a:solidFill>
          <a:ln/>
        </p:spPr>
      </p:sp>
      <p:pic>
        <p:nvPicPr>
          <p:cNvPr id="36" name="Image 8" descr="/home/claude/work/ntl/icons/chart_g2.png"/>
          <p:cNvPicPr>
            <a:picLocks noChangeAspect="1"/>
          </p:cNvPicPr>
          <p:nvPr/>
        </p:nvPicPr>
        <p:blipFill>
          <a:blip r:embed="rId8"/>
          <a:stretch>
            <a:fillRect/>
          </a:stretch>
        </p:blipFill>
        <p:spPr>
          <a:xfrm>
            <a:off x="7848752" y="1580540"/>
            <a:ext cx="231343" cy="231343"/>
          </a:xfrm>
          <a:prstGeom prst="rect">
            <a:avLst/>
          </a:prstGeom>
        </p:spPr>
      </p:pic>
      <p:sp>
        <p:nvSpPr>
          <p:cNvPr id="37" name="Text 26"/>
          <p:cNvSpPr txBox="1"/>
          <p:nvPr/>
        </p:nvSpPr>
        <p:spPr>
          <a:xfrm>
            <a:off x="7296912" y="2011680"/>
            <a:ext cx="1335024" cy="2743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Série LN</a:t>
            </a:r>
            <a:endParaRPr lang="en-US" sz="1200" dirty="0"/>
          </a:p>
        </p:txBody>
      </p:sp>
      <p:sp>
        <p:nvSpPr>
          <p:cNvPr id="38" name="Text 27"/>
          <p:cNvSpPr txBox="1"/>
          <p:nvPr/>
        </p:nvSpPr>
        <p:spPr>
          <a:xfrm>
            <a:off x="7315200" y="2286000"/>
            <a:ext cx="1298448" cy="384048"/>
          </a:xfrm>
          <a:prstGeom prst="rect">
            <a:avLst/>
          </a:prstGeom>
          <a:noFill/>
          <a:ln/>
        </p:spPr>
        <p:txBody>
          <a:bodyPr wrap="square" lIns="0" tIns="0" rIns="0" bIns="0" rtlCol="0" anchor="t"/>
          <a:lstStyle/>
          <a:p>
            <a:pPr marL="0" indent="0" algn="ctr">
              <a:buNone/>
            </a:pPr>
            <a:r>
              <a:rPr lang="en-US" sz="950" dirty="0">
                <a:solidFill>
                  <a:srgbClr val="5A6660"/>
                </a:solidFill>
                <a:latin typeface="Calibri" pitchFamily="34" charset="0"/>
                <a:ea typeface="Calibri" pitchFamily="34" charset="-122"/>
                <a:cs typeface="Calibri" pitchFamily="34" charset="-120"/>
              </a:rPr>
              <a:t>Indicateurs nationaux mensuels</a:t>
            </a:r>
            <a:endParaRPr lang="en-US" sz="950" dirty="0"/>
          </a:p>
        </p:txBody>
      </p:sp>
      <p:sp>
        <p:nvSpPr>
          <p:cNvPr id="39" name="Text 28"/>
          <p:cNvSpPr txBox="1"/>
          <p:nvPr/>
        </p:nvSpPr>
        <p:spPr>
          <a:xfrm>
            <a:off x="457200" y="2898648"/>
            <a:ext cx="4206240" cy="228600"/>
          </a:xfrm>
          <a:prstGeom prst="rect">
            <a:avLst/>
          </a:prstGeom>
          <a:noFill/>
          <a:ln/>
        </p:spPr>
        <p:txBody>
          <a:bodyPr wrap="square" lIns="0" tIns="0" rIns="0" bIns="0" rtlCol="0" anchor="t"/>
          <a:lstStyle/>
          <a:p>
            <a:pPr marL="0" indent="0">
              <a:buNone/>
            </a:pPr>
            <a:r>
              <a:rPr lang="en-US" sz="1100" b="1" dirty="0">
                <a:solidFill>
                  <a:srgbClr val="0E5A2E"/>
                </a:solidFill>
                <a:latin typeface="Calibri" pitchFamily="34" charset="0"/>
                <a:ea typeface="Calibri" pitchFamily="34" charset="-122"/>
                <a:cs typeface="Calibri" pitchFamily="34" charset="-120"/>
              </a:rPr>
              <a:t>Produits Black Marble (VIIRS, ~500 m)</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4206240" cy="109728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1945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Produit</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2C9045"/>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Contenu</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2C9045"/>
                    </a:solidFill>
                  </a:tcPr>
                </a:tc>
                <a:extLst>
                  <a:ext uri="{0D108BD9-81ED-4DB2-BD59-A6C34878D82A}">
                    <a16:rowId xmlns:a16="http://schemas.microsoft.com/office/drawing/2014/main" val="10000"/>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VNP46A1</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Quotidien, radiance brute</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VNP46A2</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Quotidien, corrigé de la lune, lacunes comblées</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VNP46A3</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DF3DC"/>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Composite mensuel — utilisé dans l’analyse</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DF3DC"/>
                    </a:solidFill>
                  </a:tcPr>
                </a:tc>
                <a:extLst>
                  <a:ext uri="{0D108BD9-81ED-4DB2-BD59-A6C34878D82A}">
                    <a16:rowId xmlns:a16="http://schemas.microsoft.com/office/drawing/2014/main" val="10003"/>
                  </a:ext>
                </a:extLst>
              </a:tr>
              <a:tr h="219456">
                <a:tc>
                  <a:txBody>
                    <a:bodyPr/>
                    <a:lstStyle/>
                    <a:p>
                      <a:pPr marL="0" indent="0">
                        <a:buNone/>
                      </a:pPr>
                      <a:r>
                        <a:rPr lang="en-US" sz="950" b="1" dirty="0">
                          <a:solidFill>
                            <a:srgbClr val="0E5A2E"/>
                          </a:solidFill>
                          <a:latin typeface="Calibri" pitchFamily="34" charset="0"/>
                          <a:ea typeface="Calibri" pitchFamily="34" charset="-122"/>
                          <a:cs typeface="Calibri" pitchFamily="34" charset="-120"/>
                        </a:rPr>
                        <a:t>VNP46A4</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tc>
                  <a:txBody>
                    <a:bodyPr/>
                    <a:lstStyle/>
                    <a:p>
                      <a:pPr marL="0" indent="0">
                        <a:buNone/>
                      </a:pPr>
                      <a:r>
                        <a:rPr lang="en-US" sz="950" dirty="0">
                          <a:solidFill>
                            <a:srgbClr val="231F20"/>
                          </a:solidFill>
                          <a:latin typeface="Calibri" pitchFamily="34" charset="0"/>
                          <a:ea typeface="Calibri" pitchFamily="34" charset="-122"/>
                          <a:cs typeface="Calibri" pitchFamily="34" charset="-120"/>
                        </a:rPr>
                        <a:t>Composite annuel</a:t>
                      </a:r>
                      <a:endParaRPr lang="en-US" sz="950" dirty="0">
                        <a:latin typeface="Calibri" charset="0"/>
                        <a:ea typeface="Calibri" charset="0"/>
                        <a:cs typeface="Calibri" charset="0"/>
                      </a:endParaRPr>
                    </a:p>
                  </a:txBody>
                  <a:tcPr marL="73152" marR="73152"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1" name="Shape 29"/>
          <p:cNvSpPr/>
          <p:nvPr/>
        </p:nvSpPr>
        <p:spPr>
          <a:xfrm>
            <a:off x="4892040" y="2898648"/>
            <a:ext cx="3794760" cy="1664208"/>
          </a:xfrm>
          <a:prstGeom prst="roundRect">
            <a:avLst>
              <a:gd name="adj" fmla="val 4396"/>
            </a:avLst>
          </a:prstGeom>
          <a:solidFill>
            <a:srgbClr val="FFFFFF"/>
          </a:solidFill>
          <a:ln w="9525">
            <a:solidFill>
              <a:srgbClr val="D3E2D7"/>
            </a:solidFill>
            <a:prstDash val="solid"/>
          </a:ln>
        </p:spPr>
      </p:sp>
      <p:sp>
        <p:nvSpPr>
          <p:cNvPr id="42" name="Shape 30"/>
          <p:cNvSpPr/>
          <p:nvPr/>
        </p:nvSpPr>
        <p:spPr>
          <a:xfrm>
            <a:off x="5074920" y="3063240"/>
            <a:ext cx="457200" cy="457200"/>
          </a:xfrm>
          <a:prstGeom prst="ellipse">
            <a:avLst/>
          </a:prstGeom>
          <a:solidFill>
            <a:srgbClr val="0E5A2E">
              <a:alpha val="20000"/>
            </a:srgbClr>
          </a:solidFill>
          <a:ln/>
        </p:spPr>
      </p:sp>
      <p:pic>
        <p:nvPicPr>
          <p:cNvPr id="43" name="Image 9" descr="/home/claude/work/ntl/icons/calendar_g2.png"/>
          <p:cNvPicPr>
            <a:picLocks noChangeAspect="1"/>
          </p:cNvPicPr>
          <p:nvPr/>
        </p:nvPicPr>
        <p:blipFill>
          <a:blip r:embed="rId9"/>
          <a:stretch>
            <a:fillRect/>
          </a:stretch>
        </p:blipFill>
        <p:spPr>
          <a:xfrm>
            <a:off x="5198364" y="3186684"/>
            <a:ext cx="210312" cy="210312"/>
          </a:xfrm>
          <a:prstGeom prst="rect">
            <a:avLst/>
          </a:prstGeom>
        </p:spPr>
      </p:pic>
      <p:sp>
        <p:nvSpPr>
          <p:cNvPr id="44" name="Text 31"/>
          <p:cNvSpPr txBox="1"/>
          <p:nvPr/>
        </p:nvSpPr>
        <p:spPr>
          <a:xfrm>
            <a:off x="5669280" y="3035808"/>
            <a:ext cx="2880360" cy="50292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Où vous l’utiliserez</a:t>
            </a:r>
            <a:endParaRPr lang="en-US" sz="1150" dirty="0"/>
          </a:p>
        </p:txBody>
      </p:sp>
      <p:sp>
        <p:nvSpPr>
          <p:cNvPr id="45" name="Text 32"/>
          <p:cNvSpPr txBox="1"/>
          <p:nvPr/>
        </p:nvSpPr>
        <p:spPr>
          <a:xfrm>
            <a:off x="5074920" y="3630168"/>
            <a:ext cx="3474720" cy="86868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Analyse des lumières nocturnes BAD · DI4A : télécharger et découper les données mensuelles Black Marble, puis construire des indicateurs nationaux.</a:t>
            </a:r>
            <a:endParaRPr lang="en-US" sz="1000" dirty="0"/>
          </a:p>
        </p:txBody>
      </p:sp>
      <p:sp>
        <p:nvSpPr>
          <p:cNvPr id="46"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APERÇU · LES SIX ÉTAPES</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D’un compte NASA à un jeton fonctionnel</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2587752" cy="1325880"/>
          </a:xfrm>
          <a:prstGeom prst="roundRect">
            <a:avLst>
              <a:gd name="adj" fmla="val 5517"/>
            </a:avLst>
          </a:prstGeom>
          <a:solidFill>
            <a:srgbClr val="F4F8F5"/>
          </a:solidFill>
          <a:ln w="9525">
            <a:solidFill>
              <a:srgbClr val="D3E2D7"/>
            </a:solidFill>
            <a:prstDash val="solid"/>
          </a:ln>
        </p:spPr>
      </p:sp>
      <p:sp>
        <p:nvSpPr>
          <p:cNvPr id="11" name="Shape 9"/>
          <p:cNvSpPr/>
          <p:nvPr/>
        </p:nvSpPr>
        <p:spPr>
          <a:xfrm>
            <a:off x="640080" y="1481328"/>
            <a:ext cx="457200" cy="457200"/>
          </a:xfrm>
          <a:prstGeom prst="ellipse">
            <a:avLst/>
          </a:prstGeom>
          <a:solidFill>
            <a:srgbClr val="2C9045">
              <a:alpha val="20000"/>
            </a:srgbClr>
          </a:solidFill>
          <a:ln/>
        </p:spPr>
      </p:sp>
      <p:pic>
        <p:nvPicPr>
          <p:cNvPr id="12" name="Image 0" descr="/home/claude/work/ntl/icons/userplus_g1.png"/>
          <p:cNvPicPr>
            <a:picLocks noChangeAspect="1"/>
          </p:cNvPicPr>
          <p:nvPr/>
        </p:nvPicPr>
        <p:blipFill>
          <a:blip r:embed="rId3"/>
          <a:stretch>
            <a:fillRect/>
          </a:stretch>
        </p:blipFill>
        <p:spPr>
          <a:xfrm>
            <a:off x="763524" y="1604772"/>
            <a:ext cx="210312" cy="210312"/>
          </a:xfrm>
          <a:prstGeom prst="rect">
            <a:avLst/>
          </a:prstGeom>
        </p:spPr>
      </p:pic>
      <p:sp>
        <p:nvSpPr>
          <p:cNvPr id="13" name="Text 10"/>
          <p:cNvSpPr txBox="1"/>
          <p:nvPr/>
        </p:nvSpPr>
        <p:spPr>
          <a:xfrm>
            <a:off x="2194560" y="1463040"/>
            <a:ext cx="667512" cy="457200"/>
          </a:xfrm>
          <a:prstGeom prst="rect">
            <a:avLst/>
          </a:prstGeom>
          <a:noFill/>
          <a:ln/>
        </p:spPr>
        <p:txBody>
          <a:bodyPr wrap="square" lIns="0" tIns="0" rIns="0" bIns="0" rtlCol="0" anchor="ctr"/>
          <a:lstStyle/>
          <a:p>
            <a:pPr marL="0" indent="0" algn="r">
              <a:buNone/>
            </a:pPr>
            <a:r>
              <a:rPr lang="en-US" sz="2400" b="1" dirty="0">
                <a:solidFill>
                  <a:srgbClr val="2C9045"/>
                </a:solidFill>
                <a:latin typeface="Calibri" pitchFamily="34" charset="0"/>
                <a:ea typeface="Calibri" pitchFamily="34" charset="-122"/>
                <a:cs typeface="Calibri" pitchFamily="34" charset="-120"/>
              </a:rPr>
              <a:t>01</a:t>
            </a:r>
            <a:endParaRPr lang="en-US" sz="2400" dirty="0"/>
          </a:p>
        </p:txBody>
      </p:sp>
      <p:sp>
        <p:nvSpPr>
          <p:cNvPr id="14" name="Text 11"/>
          <p:cNvSpPr txBox="1"/>
          <p:nvPr/>
        </p:nvSpPr>
        <p:spPr>
          <a:xfrm>
            <a:off x="640080"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S’inscrire</a:t>
            </a:r>
            <a:endParaRPr lang="en-US" sz="1300" dirty="0"/>
          </a:p>
        </p:txBody>
      </p:sp>
      <p:sp>
        <p:nvSpPr>
          <p:cNvPr id="15" name="Text 12"/>
          <p:cNvSpPr txBox="1"/>
          <p:nvPr/>
        </p:nvSpPr>
        <p:spPr>
          <a:xfrm>
            <a:off x="640080"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urs.earthdata.nasa.gov, profil complet</a:t>
            </a:r>
            <a:endParaRPr lang="en-US" sz="1000" dirty="0"/>
          </a:p>
        </p:txBody>
      </p:sp>
      <p:sp>
        <p:nvSpPr>
          <p:cNvPr id="16" name="Shape 13"/>
          <p:cNvSpPr/>
          <p:nvPr/>
        </p:nvSpPr>
        <p:spPr>
          <a:xfrm>
            <a:off x="3282696" y="1298448"/>
            <a:ext cx="2587752" cy="1325880"/>
          </a:xfrm>
          <a:prstGeom prst="roundRect">
            <a:avLst>
              <a:gd name="adj" fmla="val 5517"/>
            </a:avLst>
          </a:prstGeom>
          <a:solidFill>
            <a:srgbClr val="F4F8F5"/>
          </a:solidFill>
          <a:ln w="9525">
            <a:solidFill>
              <a:srgbClr val="D3E2D7"/>
            </a:solidFill>
            <a:prstDash val="solid"/>
          </a:ln>
        </p:spPr>
      </p:sp>
      <p:sp>
        <p:nvSpPr>
          <p:cNvPr id="17" name="Shape 14"/>
          <p:cNvSpPr/>
          <p:nvPr/>
        </p:nvSpPr>
        <p:spPr>
          <a:xfrm>
            <a:off x="3465576" y="1481328"/>
            <a:ext cx="457200" cy="457200"/>
          </a:xfrm>
          <a:prstGeom prst="ellipse">
            <a:avLst/>
          </a:prstGeom>
          <a:solidFill>
            <a:srgbClr val="0E5A2E">
              <a:alpha val="20000"/>
            </a:srgbClr>
          </a:solidFill>
          <a:ln/>
        </p:spPr>
      </p:sp>
      <p:pic>
        <p:nvPicPr>
          <p:cNvPr id="18" name="Image 1" descr="/home/claude/work/ntl/icons/envelope_g2.png"/>
          <p:cNvPicPr>
            <a:picLocks noChangeAspect="1"/>
          </p:cNvPicPr>
          <p:nvPr/>
        </p:nvPicPr>
        <p:blipFill>
          <a:blip r:embed="rId4"/>
          <a:stretch>
            <a:fillRect/>
          </a:stretch>
        </p:blipFill>
        <p:spPr>
          <a:xfrm>
            <a:off x="3589020" y="1604772"/>
            <a:ext cx="210312" cy="210312"/>
          </a:xfrm>
          <a:prstGeom prst="rect">
            <a:avLst/>
          </a:prstGeom>
        </p:spPr>
      </p:pic>
      <p:sp>
        <p:nvSpPr>
          <p:cNvPr id="19" name="Text 15"/>
          <p:cNvSpPr txBox="1"/>
          <p:nvPr/>
        </p:nvSpPr>
        <p:spPr>
          <a:xfrm>
            <a:off x="5020056" y="1463040"/>
            <a:ext cx="667512" cy="457200"/>
          </a:xfrm>
          <a:prstGeom prst="rect">
            <a:avLst/>
          </a:prstGeom>
          <a:noFill/>
          <a:ln/>
        </p:spPr>
        <p:txBody>
          <a:bodyPr wrap="square" lIns="0" tIns="0" rIns="0" bIns="0" rtlCol="0" anchor="ctr"/>
          <a:lstStyle/>
          <a:p>
            <a:pPr marL="0" indent="0" algn="r">
              <a:buNone/>
            </a:pPr>
            <a:r>
              <a:rPr lang="en-US" sz="2400" b="1" dirty="0">
                <a:solidFill>
                  <a:srgbClr val="0E5A2E"/>
                </a:solidFill>
                <a:latin typeface="Calibri" pitchFamily="34" charset="0"/>
                <a:ea typeface="Calibri" pitchFamily="34" charset="-122"/>
                <a:cs typeface="Calibri" pitchFamily="34" charset="-120"/>
              </a:rPr>
              <a:t>02</a:t>
            </a:r>
            <a:endParaRPr lang="en-US" sz="2400" dirty="0"/>
          </a:p>
        </p:txBody>
      </p:sp>
      <p:sp>
        <p:nvSpPr>
          <p:cNvPr id="20" name="Text 16"/>
          <p:cNvSpPr txBox="1"/>
          <p:nvPr/>
        </p:nvSpPr>
        <p:spPr>
          <a:xfrm>
            <a:off x="3465576"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Activer</a:t>
            </a:r>
            <a:endParaRPr lang="en-US" sz="1300" dirty="0"/>
          </a:p>
        </p:txBody>
      </p:sp>
      <p:sp>
        <p:nvSpPr>
          <p:cNvPr id="21" name="Text 17"/>
          <p:cNvSpPr txBox="1"/>
          <p:nvPr/>
        </p:nvSpPr>
        <p:spPr>
          <a:xfrm>
            <a:off x="3465576"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Lien de l’e-mail de confirmation</a:t>
            </a:r>
            <a:endParaRPr lang="en-US" sz="1000" dirty="0"/>
          </a:p>
        </p:txBody>
      </p:sp>
      <p:sp>
        <p:nvSpPr>
          <p:cNvPr id="22" name="Shape 18"/>
          <p:cNvSpPr/>
          <p:nvPr/>
        </p:nvSpPr>
        <p:spPr>
          <a:xfrm>
            <a:off x="6108192" y="1298448"/>
            <a:ext cx="2587752" cy="1325880"/>
          </a:xfrm>
          <a:prstGeom prst="roundRect">
            <a:avLst>
              <a:gd name="adj" fmla="val 5517"/>
            </a:avLst>
          </a:prstGeom>
          <a:solidFill>
            <a:srgbClr val="F4F8F5"/>
          </a:solidFill>
          <a:ln w="9525">
            <a:solidFill>
              <a:srgbClr val="D3E2D7"/>
            </a:solidFill>
            <a:prstDash val="solid"/>
          </a:ln>
        </p:spPr>
      </p:sp>
      <p:sp>
        <p:nvSpPr>
          <p:cNvPr id="23" name="Shape 19"/>
          <p:cNvSpPr/>
          <p:nvPr/>
        </p:nvSpPr>
        <p:spPr>
          <a:xfrm>
            <a:off x="6291072" y="1481328"/>
            <a:ext cx="457200" cy="457200"/>
          </a:xfrm>
          <a:prstGeom prst="ellipse">
            <a:avLst/>
          </a:prstGeom>
          <a:solidFill>
            <a:srgbClr val="0E7C86">
              <a:alpha val="20000"/>
            </a:srgbClr>
          </a:solidFill>
          <a:ln/>
        </p:spPr>
      </p:sp>
      <p:pic>
        <p:nvPicPr>
          <p:cNvPr id="24" name="Image 2" descr="/home/claude/work/ntl/icons/file_teal.png"/>
          <p:cNvPicPr>
            <a:picLocks noChangeAspect="1"/>
          </p:cNvPicPr>
          <p:nvPr/>
        </p:nvPicPr>
        <p:blipFill>
          <a:blip r:embed="rId5"/>
          <a:stretch>
            <a:fillRect/>
          </a:stretch>
        </p:blipFill>
        <p:spPr>
          <a:xfrm>
            <a:off x="6414516" y="1604772"/>
            <a:ext cx="210312" cy="210312"/>
          </a:xfrm>
          <a:prstGeom prst="rect">
            <a:avLst/>
          </a:prstGeom>
        </p:spPr>
      </p:pic>
      <p:sp>
        <p:nvSpPr>
          <p:cNvPr id="25" name="Text 20"/>
          <p:cNvSpPr txBox="1"/>
          <p:nvPr/>
        </p:nvSpPr>
        <p:spPr>
          <a:xfrm>
            <a:off x="7845552" y="1463040"/>
            <a:ext cx="667512" cy="457200"/>
          </a:xfrm>
          <a:prstGeom prst="rect">
            <a:avLst/>
          </a:prstGeom>
          <a:noFill/>
          <a:ln/>
        </p:spPr>
        <p:txBody>
          <a:bodyPr wrap="square" lIns="0" tIns="0" rIns="0" bIns="0" rtlCol="0" anchor="ctr"/>
          <a:lstStyle/>
          <a:p>
            <a:pPr marL="0" indent="0" algn="r">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26" name="Text 21"/>
          <p:cNvSpPr txBox="1"/>
          <p:nvPr/>
        </p:nvSpPr>
        <p:spPr>
          <a:xfrm>
            <a:off x="6291072" y="2029968"/>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Accepter les EULA</a:t>
            </a:r>
            <a:endParaRPr lang="en-US" sz="1300" dirty="0"/>
          </a:p>
        </p:txBody>
      </p:sp>
      <p:sp>
        <p:nvSpPr>
          <p:cNvPr id="27" name="Text 22"/>
          <p:cNvSpPr txBox="1"/>
          <p:nvPr/>
        </p:nvSpPr>
        <p:spPr>
          <a:xfrm>
            <a:off x="6291072" y="2286000"/>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MERIS et Sentinel-3, depuis le profil</a:t>
            </a:r>
            <a:endParaRPr lang="en-US" sz="1000" dirty="0"/>
          </a:p>
        </p:txBody>
      </p:sp>
      <p:sp>
        <p:nvSpPr>
          <p:cNvPr id="28" name="Shape 23"/>
          <p:cNvSpPr/>
          <p:nvPr/>
        </p:nvSpPr>
        <p:spPr>
          <a:xfrm>
            <a:off x="457200" y="2779776"/>
            <a:ext cx="2587752" cy="1325880"/>
          </a:xfrm>
          <a:prstGeom prst="roundRect">
            <a:avLst>
              <a:gd name="adj" fmla="val 5517"/>
            </a:avLst>
          </a:prstGeom>
          <a:solidFill>
            <a:srgbClr val="F4F8F5"/>
          </a:solidFill>
          <a:ln w="9525">
            <a:solidFill>
              <a:srgbClr val="D3E2D7"/>
            </a:solidFill>
            <a:prstDash val="solid"/>
          </a:ln>
        </p:spPr>
      </p:sp>
      <p:sp>
        <p:nvSpPr>
          <p:cNvPr id="29" name="Shape 24"/>
          <p:cNvSpPr/>
          <p:nvPr/>
        </p:nvSpPr>
        <p:spPr>
          <a:xfrm>
            <a:off x="640080" y="2962656"/>
            <a:ext cx="457200" cy="457200"/>
          </a:xfrm>
          <a:prstGeom prst="ellipse">
            <a:avLst/>
          </a:prstGeom>
          <a:solidFill>
            <a:srgbClr val="D49A00">
              <a:alpha val="20000"/>
            </a:srgbClr>
          </a:solidFill>
          <a:ln/>
        </p:spPr>
      </p:sp>
      <p:pic>
        <p:nvPicPr>
          <p:cNvPr id="30" name="Image 3" descr="/home/claude/work/ntl/icons/shield_gold.png"/>
          <p:cNvPicPr>
            <a:picLocks noChangeAspect="1"/>
          </p:cNvPicPr>
          <p:nvPr/>
        </p:nvPicPr>
        <p:blipFill>
          <a:blip r:embed="rId6"/>
          <a:stretch>
            <a:fillRect/>
          </a:stretch>
        </p:blipFill>
        <p:spPr>
          <a:xfrm>
            <a:off x="763524" y="3086100"/>
            <a:ext cx="210312" cy="210312"/>
          </a:xfrm>
          <a:prstGeom prst="rect">
            <a:avLst/>
          </a:prstGeom>
        </p:spPr>
      </p:pic>
      <p:sp>
        <p:nvSpPr>
          <p:cNvPr id="31" name="Text 25"/>
          <p:cNvSpPr txBox="1"/>
          <p:nvPr/>
        </p:nvSpPr>
        <p:spPr>
          <a:xfrm>
            <a:off x="2194560" y="2944368"/>
            <a:ext cx="667512" cy="457200"/>
          </a:xfrm>
          <a:prstGeom prst="rect">
            <a:avLst/>
          </a:prstGeom>
          <a:noFill/>
          <a:ln/>
        </p:spPr>
        <p:txBody>
          <a:bodyPr wrap="square" lIns="0" tIns="0" rIns="0" bIns="0" rtlCol="0" anchor="ctr"/>
          <a:lstStyle/>
          <a:p>
            <a:pPr marL="0" indent="0" algn="r">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32" name="Text 26"/>
          <p:cNvSpPr txBox="1"/>
          <p:nvPr/>
        </p:nvSpPr>
        <p:spPr>
          <a:xfrm>
            <a:off x="640080"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Autoriser LAADS</a:t>
            </a:r>
            <a:endParaRPr lang="en-US" sz="1300" dirty="0"/>
          </a:p>
        </p:txBody>
      </p:sp>
      <p:sp>
        <p:nvSpPr>
          <p:cNvPr id="33" name="Text 27"/>
          <p:cNvSpPr txBox="1"/>
          <p:nvPr/>
        </p:nvSpPr>
        <p:spPr>
          <a:xfrm>
            <a:off x="640080"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Approuver l’application sur ladsweb</a:t>
            </a:r>
            <a:endParaRPr lang="en-US" sz="1000" dirty="0"/>
          </a:p>
        </p:txBody>
      </p:sp>
      <p:sp>
        <p:nvSpPr>
          <p:cNvPr id="34" name="Shape 28"/>
          <p:cNvSpPr/>
          <p:nvPr/>
        </p:nvSpPr>
        <p:spPr>
          <a:xfrm>
            <a:off x="3282696" y="2779776"/>
            <a:ext cx="2587752" cy="1325880"/>
          </a:xfrm>
          <a:prstGeom prst="roundRect">
            <a:avLst>
              <a:gd name="adj" fmla="val 5517"/>
            </a:avLst>
          </a:prstGeom>
          <a:solidFill>
            <a:srgbClr val="F4F8F5"/>
          </a:solidFill>
          <a:ln w="9525">
            <a:solidFill>
              <a:srgbClr val="D3E2D7"/>
            </a:solidFill>
            <a:prstDash val="solid"/>
          </a:ln>
        </p:spPr>
      </p:sp>
      <p:sp>
        <p:nvSpPr>
          <p:cNvPr id="35" name="Shape 29"/>
          <p:cNvSpPr/>
          <p:nvPr/>
        </p:nvSpPr>
        <p:spPr>
          <a:xfrm>
            <a:off x="3465576" y="2962656"/>
            <a:ext cx="457200" cy="457200"/>
          </a:xfrm>
          <a:prstGeom prst="ellipse">
            <a:avLst/>
          </a:prstGeom>
          <a:solidFill>
            <a:srgbClr val="C4621D">
              <a:alpha val="20000"/>
            </a:srgbClr>
          </a:solidFill>
          <a:ln/>
        </p:spPr>
      </p:sp>
      <p:pic>
        <p:nvPicPr>
          <p:cNvPr id="36" name="Image 4" descr="/home/claude/work/ntl/icons/key_orange.png"/>
          <p:cNvPicPr>
            <a:picLocks noChangeAspect="1"/>
          </p:cNvPicPr>
          <p:nvPr/>
        </p:nvPicPr>
        <p:blipFill>
          <a:blip r:embed="rId7"/>
          <a:stretch>
            <a:fillRect/>
          </a:stretch>
        </p:blipFill>
        <p:spPr>
          <a:xfrm>
            <a:off x="3589020" y="3086100"/>
            <a:ext cx="210312" cy="210312"/>
          </a:xfrm>
          <a:prstGeom prst="rect">
            <a:avLst/>
          </a:prstGeom>
        </p:spPr>
      </p:pic>
      <p:sp>
        <p:nvSpPr>
          <p:cNvPr id="37" name="Text 30"/>
          <p:cNvSpPr txBox="1"/>
          <p:nvPr/>
        </p:nvSpPr>
        <p:spPr>
          <a:xfrm>
            <a:off x="5020056" y="2944368"/>
            <a:ext cx="667512" cy="457200"/>
          </a:xfrm>
          <a:prstGeom prst="rect">
            <a:avLst/>
          </a:prstGeom>
          <a:noFill/>
          <a:ln/>
        </p:spPr>
        <p:txBody>
          <a:bodyPr wrap="square" lIns="0" tIns="0" rIns="0" bIns="0" rtlCol="0" anchor="ctr"/>
          <a:lstStyle/>
          <a:p>
            <a:pPr marL="0" indent="0" algn="r">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38" name="Text 31"/>
          <p:cNvSpPr txBox="1"/>
          <p:nvPr/>
        </p:nvSpPr>
        <p:spPr>
          <a:xfrm>
            <a:off x="3465576"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Générer le jeton</a:t>
            </a:r>
            <a:endParaRPr lang="en-US" sz="1300" dirty="0"/>
          </a:p>
        </p:txBody>
      </p:sp>
      <p:sp>
        <p:nvSpPr>
          <p:cNvPr id="39" name="Text 32"/>
          <p:cNvSpPr txBox="1"/>
          <p:nvPr/>
        </p:nvSpPr>
        <p:spPr>
          <a:xfrm>
            <a:off x="3465576"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Profil › Generate Token › Show Token</a:t>
            </a:r>
            <a:endParaRPr lang="en-US" sz="1000" dirty="0"/>
          </a:p>
        </p:txBody>
      </p:sp>
      <p:sp>
        <p:nvSpPr>
          <p:cNvPr id="40" name="Shape 33"/>
          <p:cNvSpPr/>
          <p:nvPr/>
        </p:nvSpPr>
        <p:spPr>
          <a:xfrm>
            <a:off x="6108192" y="2779776"/>
            <a:ext cx="2587752" cy="1325880"/>
          </a:xfrm>
          <a:prstGeom prst="roundRect">
            <a:avLst>
              <a:gd name="adj" fmla="val 5517"/>
            </a:avLst>
          </a:prstGeom>
          <a:solidFill>
            <a:srgbClr val="F4F8F5"/>
          </a:solidFill>
          <a:ln w="9525">
            <a:solidFill>
              <a:srgbClr val="D3E2D7"/>
            </a:solidFill>
            <a:prstDash val="solid"/>
          </a:ln>
        </p:spPr>
      </p:sp>
      <p:sp>
        <p:nvSpPr>
          <p:cNvPr id="41" name="Shape 34"/>
          <p:cNvSpPr/>
          <p:nvPr/>
        </p:nvSpPr>
        <p:spPr>
          <a:xfrm>
            <a:off x="6291072" y="2962656"/>
            <a:ext cx="457200" cy="457200"/>
          </a:xfrm>
          <a:prstGeom prst="ellipse">
            <a:avLst/>
          </a:prstGeom>
          <a:solidFill>
            <a:srgbClr val="B83B2E">
              <a:alpha val="20000"/>
            </a:srgbClr>
          </a:solidFill>
          <a:ln/>
        </p:spPr>
      </p:sp>
      <p:pic>
        <p:nvPicPr>
          <p:cNvPr id="42" name="Image 5" descr="/home/claude/work/ntl/icons/terminal_red.png"/>
          <p:cNvPicPr>
            <a:picLocks noChangeAspect="1"/>
          </p:cNvPicPr>
          <p:nvPr/>
        </p:nvPicPr>
        <p:blipFill>
          <a:blip r:embed="rId8"/>
          <a:stretch>
            <a:fillRect/>
          </a:stretch>
        </p:blipFill>
        <p:spPr>
          <a:xfrm>
            <a:off x="6414516" y="3086100"/>
            <a:ext cx="210312" cy="210312"/>
          </a:xfrm>
          <a:prstGeom prst="rect">
            <a:avLst/>
          </a:prstGeom>
        </p:spPr>
      </p:pic>
      <p:sp>
        <p:nvSpPr>
          <p:cNvPr id="43" name="Text 35"/>
          <p:cNvSpPr txBox="1"/>
          <p:nvPr/>
        </p:nvSpPr>
        <p:spPr>
          <a:xfrm>
            <a:off x="7845552" y="2944368"/>
            <a:ext cx="667512" cy="457200"/>
          </a:xfrm>
          <a:prstGeom prst="rect">
            <a:avLst/>
          </a:prstGeom>
          <a:noFill/>
          <a:ln/>
        </p:spPr>
        <p:txBody>
          <a:bodyPr wrap="square" lIns="0" tIns="0" rIns="0" bIns="0" rtlCol="0" anchor="ctr"/>
          <a:lstStyle/>
          <a:p>
            <a:pPr marL="0" indent="0" algn="r">
              <a:buNone/>
            </a:pPr>
            <a:r>
              <a:rPr lang="en-US" sz="2400" b="1" dirty="0">
                <a:solidFill>
                  <a:srgbClr val="B83B2E"/>
                </a:solidFill>
                <a:latin typeface="Calibri" pitchFamily="34" charset="0"/>
                <a:ea typeface="Calibri" pitchFamily="34" charset="-122"/>
                <a:cs typeface="Calibri" pitchFamily="34" charset="-120"/>
              </a:rPr>
              <a:t>06</a:t>
            </a:r>
            <a:endParaRPr lang="en-US" sz="2400" dirty="0"/>
          </a:p>
        </p:txBody>
      </p:sp>
      <p:sp>
        <p:nvSpPr>
          <p:cNvPr id="44" name="Text 36"/>
          <p:cNvSpPr txBox="1"/>
          <p:nvPr/>
        </p:nvSpPr>
        <p:spPr>
          <a:xfrm>
            <a:off x="6291072" y="3511296"/>
            <a:ext cx="2240280" cy="25603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Tester et utiliser</a:t>
            </a:r>
            <a:endParaRPr lang="en-US" sz="1300" dirty="0"/>
          </a:p>
        </p:txBody>
      </p:sp>
      <p:sp>
        <p:nvSpPr>
          <p:cNvPr id="45" name="Text 37"/>
          <p:cNvSpPr txBox="1"/>
          <p:nvPr/>
        </p:nvSpPr>
        <p:spPr>
          <a:xfrm>
            <a:off x="6291072" y="3767328"/>
            <a:ext cx="2240280" cy="292608"/>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Test curl, puis blackmarblepy / blackmarbler</a:t>
            </a:r>
            <a:endParaRPr lang="en-US" sz="1000" dirty="0"/>
          </a:p>
        </p:txBody>
      </p:sp>
      <p:sp>
        <p:nvSpPr>
          <p:cNvPr id="46" name="Shape 38"/>
          <p:cNvSpPr/>
          <p:nvPr/>
        </p:nvSpPr>
        <p:spPr>
          <a:xfrm>
            <a:off x="457200" y="4270248"/>
            <a:ext cx="8229600" cy="384048"/>
          </a:xfrm>
          <a:prstGeom prst="roundRect">
            <a:avLst>
              <a:gd name="adj" fmla="val 19048"/>
            </a:avLst>
          </a:prstGeom>
          <a:solidFill>
            <a:srgbClr val="D49A00">
              <a:alpha val="13000"/>
            </a:srgbClr>
          </a:solidFill>
          <a:ln w="12700">
            <a:solidFill>
              <a:srgbClr val="D49A00"/>
            </a:solidFill>
            <a:prstDash val="solid"/>
          </a:ln>
        </p:spPr>
      </p:sp>
      <p:pic>
        <p:nvPicPr>
          <p:cNvPr id="47" name="Image 6" descr="/home/claude/work/ntl/icons/warn_gold.png"/>
          <p:cNvPicPr>
            <a:picLocks noChangeAspect="1"/>
          </p:cNvPicPr>
          <p:nvPr/>
        </p:nvPicPr>
        <p:blipFill>
          <a:blip r:embed="rId9"/>
          <a:stretch>
            <a:fillRect/>
          </a:stretch>
        </p:blipFill>
        <p:spPr>
          <a:xfrm>
            <a:off x="612648" y="4325112"/>
            <a:ext cx="274320" cy="274320"/>
          </a:xfrm>
          <a:prstGeom prst="rect">
            <a:avLst/>
          </a:prstGeom>
        </p:spPr>
      </p:pic>
      <p:sp>
        <p:nvSpPr>
          <p:cNvPr id="48" name="Text 39"/>
          <p:cNvSpPr txBox="1"/>
          <p:nvPr/>
        </p:nvSpPr>
        <p:spPr>
          <a:xfrm>
            <a:off x="1024128" y="4270248"/>
            <a:ext cx="7516368"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La plupart des échecs viennent des étapes 01, 03 et 04 : profil incomplet, EULA non acceptées ou application LAADS non autorisée.</a:t>
            </a:r>
            <a:endParaRPr lang="en-US" sz="1050" dirty="0"/>
          </a:p>
        </p:txBody>
      </p:sp>
      <p:sp>
        <p:nvSpPr>
          <p:cNvPr id="49"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01 · S’INSCRIRE</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Créer votre compte Earthdata Login</a:t>
            </a:r>
            <a:endParaRPr lang="en-US" sz="2800" dirty="0"/>
          </a:p>
        </p:txBody>
      </p:sp>
      <p:sp>
        <p:nvSpPr>
          <p:cNvPr id="4" name="Shape 2"/>
          <p:cNvSpPr/>
          <p:nvPr/>
        </p:nvSpPr>
        <p:spPr>
          <a:xfrm>
            <a:off x="7717536" y="338328"/>
            <a:ext cx="100584" cy="100584"/>
          </a:xfrm>
          <a:prstGeom prst="ellipse">
            <a:avLst/>
          </a:prstGeom>
          <a:solidFill>
            <a:srgbClr val="2C9045"/>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Ouvrir urs.earthdata.nasa.gov</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Cliquer sur Register (ou sur ladsweb : Login › Earthdata Login).</a:t>
            </a:r>
            <a:endParaRPr lang="en-US" sz="1250" dirty="0"/>
          </a:p>
        </p:txBody>
      </p:sp>
      <p:sp>
        <p:nvSpPr>
          <p:cNvPr id="13" name="Shape 11"/>
          <p:cNvSpPr/>
          <p:nvPr/>
        </p:nvSpPr>
        <p:spPr>
          <a:xfrm>
            <a:off x="457200" y="1938528"/>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1938528"/>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1911096"/>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Choisir identifiant et mot de passe</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Ils servent à vous connecter aux sites de la NASA.</a:t>
            </a:r>
            <a:endParaRPr lang="en-US" sz="1250" dirty="0"/>
          </a:p>
        </p:txBody>
      </p:sp>
      <p:sp>
        <p:nvSpPr>
          <p:cNvPr id="16" name="Shape 14"/>
          <p:cNvSpPr/>
          <p:nvPr/>
        </p:nvSpPr>
        <p:spPr>
          <a:xfrm>
            <a:off x="457200" y="2596896"/>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59689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569464"/>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Remplir les champs obligatoires</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Marqués d’un point rouge : nom, e-mail, pays.</a:t>
            </a:r>
            <a:endParaRPr lang="en-US" sz="1250" dirty="0"/>
          </a:p>
        </p:txBody>
      </p:sp>
      <p:sp>
        <p:nvSpPr>
          <p:cNvPr id="19" name="Shape 17"/>
          <p:cNvSpPr/>
          <p:nvPr/>
        </p:nvSpPr>
        <p:spPr>
          <a:xfrm>
            <a:off x="457200" y="3255264"/>
            <a:ext cx="329184" cy="329184"/>
          </a:xfrm>
          <a:prstGeom prst="ellipse">
            <a:avLst/>
          </a:prstGeom>
          <a:solidFill>
            <a:srgbClr val="E8F4EB"/>
          </a:solidFill>
          <a:ln w="9525">
            <a:solidFill>
              <a:srgbClr val="D3E2D7"/>
            </a:solidFill>
            <a:prstDash val="solid"/>
          </a:ln>
        </p:spPr>
      </p:sp>
      <p:sp>
        <p:nvSpPr>
          <p:cNvPr id="20" name="Text 18"/>
          <p:cNvSpPr txBox="1"/>
          <p:nvPr/>
        </p:nvSpPr>
        <p:spPr>
          <a:xfrm>
            <a:off x="457200" y="325526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914400" y="3227832"/>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Ne pas oublier les champs encadrés</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Organisation, type d’utilisateur, domaine d’étude : sinon le jeton échoue.</a:t>
            </a:r>
            <a:endParaRPr lang="en-US" sz="1250" dirty="0"/>
          </a:p>
        </p:txBody>
      </p:sp>
      <p:sp>
        <p:nvSpPr>
          <p:cNvPr id="22" name="Shape 20"/>
          <p:cNvSpPr/>
          <p:nvPr/>
        </p:nvSpPr>
        <p:spPr>
          <a:xfrm>
            <a:off x="457200" y="3913632"/>
            <a:ext cx="329184" cy="329184"/>
          </a:xfrm>
          <a:prstGeom prst="ellipse">
            <a:avLst/>
          </a:prstGeom>
          <a:solidFill>
            <a:srgbClr val="E8F4EB"/>
          </a:solidFill>
          <a:ln w="9525">
            <a:solidFill>
              <a:srgbClr val="D3E2D7"/>
            </a:solidFill>
            <a:prstDash val="solid"/>
          </a:ln>
        </p:spPr>
      </p:sp>
      <p:sp>
        <p:nvSpPr>
          <p:cNvPr id="23" name="Text 21"/>
          <p:cNvSpPr txBox="1"/>
          <p:nvPr/>
        </p:nvSpPr>
        <p:spPr>
          <a:xfrm>
            <a:off x="457200" y="3913632"/>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5</a:t>
            </a:r>
            <a:endParaRPr lang="en-US" sz="1150" dirty="0"/>
          </a:p>
        </p:txBody>
      </p:sp>
      <p:sp>
        <p:nvSpPr>
          <p:cNvPr id="24" name="Text 22"/>
          <p:cNvSpPr txBox="1"/>
          <p:nvPr/>
        </p:nvSpPr>
        <p:spPr>
          <a:xfrm>
            <a:off x="914400" y="3886200"/>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Cliquer sur Register for Earthdata Login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Puis ouvrir votre boîte e-mail.</a:t>
            </a:r>
            <a:endParaRPr lang="en-US" sz="1250" dirty="0"/>
          </a:p>
        </p:txBody>
      </p:sp>
      <p:sp>
        <p:nvSpPr>
          <p:cNvPr id="25" name="Shape 23"/>
          <p:cNvSpPr/>
          <p:nvPr/>
        </p:nvSpPr>
        <p:spPr>
          <a:xfrm>
            <a:off x="4663440" y="1188720"/>
            <a:ext cx="4023360" cy="3200400"/>
          </a:xfrm>
          <a:prstGeom prst="roundRect">
            <a:avLst>
              <a:gd name="adj" fmla="val 1714"/>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6" name="Shape 24"/>
          <p:cNvSpPr/>
          <p:nvPr/>
        </p:nvSpPr>
        <p:spPr>
          <a:xfrm>
            <a:off x="4663440" y="1188720"/>
            <a:ext cx="4023360" cy="292608"/>
          </a:xfrm>
          <a:prstGeom prst="roundRect">
            <a:avLst>
              <a:gd name="adj" fmla="val 18750"/>
            </a:avLst>
          </a:prstGeom>
          <a:solidFill>
            <a:srgbClr val="EEF1EF"/>
          </a:solidFill>
          <a:ln/>
        </p:spPr>
      </p:sp>
      <p:sp>
        <p:nvSpPr>
          <p:cNvPr id="27" name="Shape 25"/>
          <p:cNvSpPr/>
          <p:nvPr/>
        </p:nvSpPr>
        <p:spPr>
          <a:xfrm>
            <a:off x="4773168" y="1298448"/>
            <a:ext cx="73152" cy="73152"/>
          </a:xfrm>
          <a:prstGeom prst="ellipse">
            <a:avLst/>
          </a:prstGeom>
          <a:solidFill>
            <a:srgbClr val="E0A39B"/>
          </a:solidFill>
          <a:ln/>
        </p:spPr>
      </p:sp>
      <p:sp>
        <p:nvSpPr>
          <p:cNvPr id="28" name="Shape 26"/>
          <p:cNvSpPr/>
          <p:nvPr/>
        </p:nvSpPr>
        <p:spPr>
          <a:xfrm>
            <a:off x="4892040" y="1298448"/>
            <a:ext cx="73152" cy="73152"/>
          </a:xfrm>
          <a:prstGeom prst="ellipse">
            <a:avLst/>
          </a:prstGeom>
          <a:solidFill>
            <a:srgbClr val="E8C97A"/>
          </a:solidFill>
          <a:ln/>
        </p:spPr>
      </p:sp>
      <p:sp>
        <p:nvSpPr>
          <p:cNvPr id="29" name="Shape 27"/>
          <p:cNvSpPr/>
          <p:nvPr/>
        </p:nvSpPr>
        <p:spPr>
          <a:xfrm>
            <a:off x="5010912" y="1298448"/>
            <a:ext cx="73152" cy="73152"/>
          </a:xfrm>
          <a:prstGeom prst="ellipse">
            <a:avLst/>
          </a:prstGeom>
          <a:solidFill>
            <a:srgbClr val="9CCB9F"/>
          </a:solidFill>
          <a:ln/>
        </p:spPr>
      </p:sp>
      <p:sp>
        <p:nvSpPr>
          <p:cNvPr id="30" name="Shape 28"/>
          <p:cNvSpPr/>
          <p:nvPr/>
        </p:nvSpPr>
        <p:spPr>
          <a:xfrm>
            <a:off x="5166360" y="1252728"/>
            <a:ext cx="3383280" cy="173736"/>
          </a:xfrm>
          <a:prstGeom prst="roundRect">
            <a:avLst>
              <a:gd name="adj" fmla="val 47368"/>
            </a:avLst>
          </a:prstGeom>
          <a:solidFill>
            <a:srgbClr val="FFFFFF"/>
          </a:solidFill>
          <a:ln/>
        </p:spPr>
      </p:sp>
      <p:sp>
        <p:nvSpPr>
          <p:cNvPr id="31" name="Text 29"/>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urs.earthdata.nasa.gov/users/new</a:t>
            </a:r>
            <a:endParaRPr lang="en-US" sz="850" dirty="0"/>
          </a:p>
        </p:txBody>
      </p:sp>
      <p:sp>
        <p:nvSpPr>
          <p:cNvPr id="32" name="Text 30"/>
          <p:cNvSpPr txBox="1"/>
          <p:nvPr/>
        </p:nvSpPr>
        <p:spPr>
          <a:xfrm>
            <a:off x="4846320" y="1554480"/>
            <a:ext cx="36576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Inscription Earthdata Login</a:t>
            </a:r>
            <a:endParaRPr lang="en-US" sz="1200" dirty="0"/>
          </a:p>
        </p:txBody>
      </p:sp>
      <p:sp>
        <p:nvSpPr>
          <p:cNvPr id="33" name="Text 31"/>
          <p:cNvSpPr txBox="1"/>
          <p:nvPr/>
        </p:nvSpPr>
        <p:spPr>
          <a:xfrm>
            <a:off x="4846320" y="1828800"/>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Username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34" name="Shape 32"/>
          <p:cNvSpPr/>
          <p:nvPr/>
        </p:nvSpPr>
        <p:spPr>
          <a:xfrm>
            <a:off x="4846320" y="1984248"/>
            <a:ext cx="1737360" cy="210312"/>
          </a:xfrm>
          <a:prstGeom prst="roundRect">
            <a:avLst>
              <a:gd name="adj" fmla="val 17391"/>
            </a:avLst>
          </a:prstGeom>
          <a:solidFill>
            <a:srgbClr val="FFFFFF"/>
          </a:solidFill>
          <a:ln w="9525">
            <a:solidFill>
              <a:srgbClr val="B7C4BB"/>
            </a:solidFill>
            <a:prstDash val="solid"/>
          </a:ln>
        </p:spPr>
      </p:sp>
      <p:sp>
        <p:nvSpPr>
          <p:cNvPr id="35" name="Text 33"/>
          <p:cNvSpPr txBox="1"/>
          <p:nvPr/>
        </p:nvSpPr>
        <p:spPr>
          <a:xfrm>
            <a:off x="4919472" y="1984248"/>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prenom_nom</a:t>
            </a:r>
            <a:endParaRPr lang="en-US" sz="850" dirty="0"/>
          </a:p>
        </p:txBody>
      </p:sp>
      <p:sp>
        <p:nvSpPr>
          <p:cNvPr id="36" name="Text 34"/>
          <p:cNvSpPr txBox="1"/>
          <p:nvPr/>
        </p:nvSpPr>
        <p:spPr>
          <a:xfrm>
            <a:off x="6720840" y="1828800"/>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Password</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37" name="Shape 35"/>
          <p:cNvSpPr/>
          <p:nvPr/>
        </p:nvSpPr>
        <p:spPr>
          <a:xfrm>
            <a:off x="6720840" y="1984248"/>
            <a:ext cx="1737360" cy="210312"/>
          </a:xfrm>
          <a:prstGeom prst="roundRect">
            <a:avLst>
              <a:gd name="adj" fmla="val 17391"/>
            </a:avLst>
          </a:prstGeom>
          <a:solidFill>
            <a:srgbClr val="FFFFFF"/>
          </a:solidFill>
          <a:ln w="9525">
            <a:solidFill>
              <a:srgbClr val="B7C4BB"/>
            </a:solidFill>
            <a:prstDash val="solid"/>
          </a:ln>
        </p:spPr>
      </p:sp>
      <p:sp>
        <p:nvSpPr>
          <p:cNvPr id="38" name="Text 36"/>
          <p:cNvSpPr txBox="1"/>
          <p:nvPr/>
        </p:nvSpPr>
        <p:spPr>
          <a:xfrm>
            <a:off x="6793992" y="1984248"/>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a:t>
            </a:r>
            <a:endParaRPr lang="en-US" sz="850" dirty="0"/>
          </a:p>
        </p:txBody>
      </p:sp>
      <p:sp>
        <p:nvSpPr>
          <p:cNvPr id="39" name="Text 37"/>
          <p:cNvSpPr txBox="1"/>
          <p:nvPr/>
        </p:nvSpPr>
        <p:spPr>
          <a:xfrm>
            <a:off x="4846320" y="2313432"/>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Name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0" name="Shape 38"/>
          <p:cNvSpPr/>
          <p:nvPr/>
        </p:nvSpPr>
        <p:spPr>
          <a:xfrm>
            <a:off x="4846320" y="2468880"/>
            <a:ext cx="1737360" cy="210312"/>
          </a:xfrm>
          <a:prstGeom prst="roundRect">
            <a:avLst>
              <a:gd name="adj" fmla="val 17391"/>
            </a:avLst>
          </a:prstGeom>
          <a:solidFill>
            <a:srgbClr val="FFFFFF"/>
          </a:solidFill>
          <a:ln w="9525">
            <a:solidFill>
              <a:srgbClr val="B7C4BB"/>
            </a:solidFill>
            <a:prstDash val="solid"/>
          </a:ln>
        </p:spPr>
      </p:sp>
      <p:sp>
        <p:nvSpPr>
          <p:cNvPr id="41" name="Text 39"/>
          <p:cNvSpPr txBox="1"/>
          <p:nvPr/>
        </p:nvSpPr>
        <p:spPr>
          <a:xfrm>
            <a:off x="4919472" y="2468880"/>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Prénom et nom</a:t>
            </a:r>
            <a:endParaRPr lang="en-US" sz="850" dirty="0"/>
          </a:p>
        </p:txBody>
      </p:sp>
      <p:sp>
        <p:nvSpPr>
          <p:cNvPr id="42" name="Text 40"/>
          <p:cNvSpPr txBox="1"/>
          <p:nvPr/>
        </p:nvSpPr>
        <p:spPr>
          <a:xfrm>
            <a:off x="6720840" y="2313432"/>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Email</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3" name="Shape 41"/>
          <p:cNvSpPr/>
          <p:nvPr/>
        </p:nvSpPr>
        <p:spPr>
          <a:xfrm>
            <a:off x="6720840" y="2468880"/>
            <a:ext cx="1737360" cy="210312"/>
          </a:xfrm>
          <a:prstGeom prst="roundRect">
            <a:avLst>
              <a:gd name="adj" fmla="val 17391"/>
            </a:avLst>
          </a:prstGeom>
          <a:solidFill>
            <a:srgbClr val="FFFFFF"/>
          </a:solidFill>
          <a:ln w="9525">
            <a:solidFill>
              <a:srgbClr val="B7C4BB"/>
            </a:solidFill>
            <a:prstDash val="solid"/>
          </a:ln>
        </p:spPr>
      </p:sp>
      <p:sp>
        <p:nvSpPr>
          <p:cNvPr id="44" name="Text 42"/>
          <p:cNvSpPr txBox="1"/>
          <p:nvPr/>
        </p:nvSpPr>
        <p:spPr>
          <a:xfrm>
            <a:off x="6793992" y="2468880"/>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nom@institution.org</a:t>
            </a:r>
            <a:endParaRPr lang="en-US" sz="850" dirty="0"/>
          </a:p>
        </p:txBody>
      </p:sp>
      <p:sp>
        <p:nvSpPr>
          <p:cNvPr id="45" name="Text 43"/>
          <p:cNvSpPr txBox="1"/>
          <p:nvPr/>
        </p:nvSpPr>
        <p:spPr>
          <a:xfrm>
            <a:off x="4846320" y="2798064"/>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Country</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6" name="Shape 44"/>
          <p:cNvSpPr/>
          <p:nvPr/>
        </p:nvSpPr>
        <p:spPr>
          <a:xfrm>
            <a:off x="4846320" y="2953512"/>
            <a:ext cx="1737360" cy="210312"/>
          </a:xfrm>
          <a:prstGeom prst="roundRect">
            <a:avLst>
              <a:gd name="adj" fmla="val 17391"/>
            </a:avLst>
          </a:prstGeom>
          <a:solidFill>
            <a:srgbClr val="FFFFFF"/>
          </a:solidFill>
          <a:ln w="9525">
            <a:solidFill>
              <a:srgbClr val="B7C4BB"/>
            </a:solidFill>
            <a:prstDash val="solid"/>
          </a:ln>
        </p:spPr>
      </p:sp>
      <p:sp>
        <p:nvSpPr>
          <p:cNvPr id="47" name="Text 45"/>
          <p:cNvSpPr txBox="1"/>
          <p:nvPr/>
        </p:nvSpPr>
        <p:spPr>
          <a:xfrm>
            <a:off x="4919472" y="2953512"/>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Votre pays</a:t>
            </a:r>
            <a:endParaRPr lang="en-US" sz="850" dirty="0"/>
          </a:p>
        </p:txBody>
      </p:sp>
      <p:sp>
        <p:nvSpPr>
          <p:cNvPr id="48" name="Text 46"/>
          <p:cNvSpPr txBox="1"/>
          <p:nvPr/>
        </p:nvSpPr>
        <p:spPr>
          <a:xfrm>
            <a:off x="6720840" y="2798064"/>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Organization</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49" name="Shape 47"/>
          <p:cNvSpPr/>
          <p:nvPr/>
        </p:nvSpPr>
        <p:spPr>
          <a:xfrm>
            <a:off x="6720840" y="2953512"/>
            <a:ext cx="1737360" cy="210312"/>
          </a:xfrm>
          <a:prstGeom prst="roundRect">
            <a:avLst>
              <a:gd name="adj" fmla="val 17391"/>
            </a:avLst>
          </a:prstGeom>
          <a:solidFill>
            <a:srgbClr val="FFFFFF"/>
          </a:solidFill>
          <a:ln w="9525">
            <a:solidFill>
              <a:srgbClr val="B7C4BB"/>
            </a:solidFill>
            <a:prstDash val="solid"/>
          </a:ln>
        </p:spPr>
      </p:sp>
      <p:sp>
        <p:nvSpPr>
          <p:cNvPr id="50" name="Text 48"/>
          <p:cNvSpPr txBox="1"/>
          <p:nvPr/>
        </p:nvSpPr>
        <p:spPr>
          <a:xfrm>
            <a:off x="6793992" y="2953512"/>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Votre INS ou banque centrale</a:t>
            </a:r>
            <a:endParaRPr lang="en-US" sz="850" dirty="0"/>
          </a:p>
        </p:txBody>
      </p:sp>
      <p:sp>
        <p:nvSpPr>
          <p:cNvPr id="51" name="Shape 49"/>
          <p:cNvSpPr/>
          <p:nvPr/>
        </p:nvSpPr>
        <p:spPr>
          <a:xfrm>
            <a:off x="6675120" y="2907792"/>
            <a:ext cx="1828800" cy="301752"/>
          </a:xfrm>
          <a:prstGeom prst="roundRect">
            <a:avLst>
              <a:gd name="adj" fmla="val 18182"/>
            </a:avLst>
          </a:prstGeom>
          <a:ln w="25400">
            <a:solidFill>
              <a:srgbClr val="D49A00"/>
            </a:solidFill>
            <a:prstDash val="solid"/>
          </a:ln>
        </p:spPr>
      </p:sp>
      <p:sp>
        <p:nvSpPr>
          <p:cNvPr id="52" name="Text 50"/>
          <p:cNvSpPr txBox="1"/>
          <p:nvPr/>
        </p:nvSpPr>
        <p:spPr>
          <a:xfrm>
            <a:off x="4846320" y="3282696"/>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User type</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53" name="Shape 51"/>
          <p:cNvSpPr/>
          <p:nvPr/>
        </p:nvSpPr>
        <p:spPr>
          <a:xfrm>
            <a:off x="4846320" y="3438144"/>
            <a:ext cx="1737360" cy="210312"/>
          </a:xfrm>
          <a:prstGeom prst="roundRect">
            <a:avLst>
              <a:gd name="adj" fmla="val 17391"/>
            </a:avLst>
          </a:prstGeom>
          <a:solidFill>
            <a:srgbClr val="FFFFFF"/>
          </a:solidFill>
          <a:ln w="9525">
            <a:solidFill>
              <a:srgbClr val="B7C4BB"/>
            </a:solidFill>
            <a:prstDash val="solid"/>
          </a:ln>
        </p:spPr>
      </p:sp>
      <p:sp>
        <p:nvSpPr>
          <p:cNvPr id="54" name="Text 52"/>
          <p:cNvSpPr txBox="1"/>
          <p:nvPr/>
        </p:nvSpPr>
        <p:spPr>
          <a:xfrm>
            <a:off x="4919472" y="3438144"/>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Choisir dans la liste</a:t>
            </a:r>
            <a:endParaRPr lang="en-US" sz="850" dirty="0"/>
          </a:p>
        </p:txBody>
      </p:sp>
      <p:sp>
        <p:nvSpPr>
          <p:cNvPr id="55" name="Shape 53"/>
          <p:cNvSpPr/>
          <p:nvPr/>
        </p:nvSpPr>
        <p:spPr>
          <a:xfrm>
            <a:off x="4800600" y="3392424"/>
            <a:ext cx="1828800" cy="301752"/>
          </a:xfrm>
          <a:prstGeom prst="roundRect">
            <a:avLst>
              <a:gd name="adj" fmla="val 18182"/>
            </a:avLst>
          </a:prstGeom>
          <a:ln w="25400">
            <a:solidFill>
              <a:srgbClr val="D49A00"/>
            </a:solidFill>
            <a:prstDash val="solid"/>
          </a:ln>
        </p:spPr>
      </p:sp>
      <p:sp>
        <p:nvSpPr>
          <p:cNvPr id="56" name="Text 54"/>
          <p:cNvSpPr txBox="1"/>
          <p:nvPr/>
        </p:nvSpPr>
        <p:spPr>
          <a:xfrm>
            <a:off x="6720840" y="3282696"/>
            <a:ext cx="1737360" cy="146304"/>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Study area</a:t>
            </a:r>
            <a:r>
              <a:rPr lang="en-US" sz="700" dirty="0">
                <a:solidFill>
                  <a:srgbClr val="D9473B"/>
                </a:solidFill>
                <a:latin typeface="Calibri" pitchFamily="34" charset="0"/>
                <a:ea typeface="Calibri" pitchFamily="34" charset="-122"/>
                <a:cs typeface="Calibri" pitchFamily="34" charset="-120"/>
              </a:rPr>
              <a:t> ●</a:t>
            </a:r>
            <a:endParaRPr lang="en-US" sz="850" dirty="0"/>
          </a:p>
        </p:txBody>
      </p:sp>
      <p:sp>
        <p:nvSpPr>
          <p:cNvPr id="57" name="Shape 55"/>
          <p:cNvSpPr/>
          <p:nvPr/>
        </p:nvSpPr>
        <p:spPr>
          <a:xfrm>
            <a:off x="6720840" y="3438144"/>
            <a:ext cx="1737360" cy="210312"/>
          </a:xfrm>
          <a:prstGeom prst="roundRect">
            <a:avLst>
              <a:gd name="adj" fmla="val 17391"/>
            </a:avLst>
          </a:prstGeom>
          <a:solidFill>
            <a:srgbClr val="FFFFFF"/>
          </a:solidFill>
          <a:ln w="9525">
            <a:solidFill>
              <a:srgbClr val="B7C4BB"/>
            </a:solidFill>
            <a:prstDash val="solid"/>
          </a:ln>
        </p:spPr>
      </p:sp>
      <p:sp>
        <p:nvSpPr>
          <p:cNvPr id="58" name="Text 56"/>
          <p:cNvSpPr txBox="1"/>
          <p:nvPr/>
        </p:nvSpPr>
        <p:spPr>
          <a:xfrm>
            <a:off x="6793992" y="3438144"/>
            <a:ext cx="1591056" cy="210312"/>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Choisir dans la liste</a:t>
            </a:r>
            <a:endParaRPr lang="en-US" sz="850" dirty="0"/>
          </a:p>
        </p:txBody>
      </p:sp>
      <p:sp>
        <p:nvSpPr>
          <p:cNvPr id="59" name="Shape 57"/>
          <p:cNvSpPr/>
          <p:nvPr/>
        </p:nvSpPr>
        <p:spPr>
          <a:xfrm>
            <a:off x="6675120" y="3392424"/>
            <a:ext cx="1828800" cy="301752"/>
          </a:xfrm>
          <a:prstGeom prst="roundRect">
            <a:avLst>
              <a:gd name="adj" fmla="val 18182"/>
            </a:avLst>
          </a:prstGeom>
          <a:ln w="25400">
            <a:solidFill>
              <a:srgbClr val="D49A00"/>
            </a:solidFill>
            <a:prstDash val="solid"/>
          </a:ln>
        </p:spPr>
      </p:sp>
      <p:sp>
        <p:nvSpPr>
          <p:cNvPr id="60" name="Shape 58"/>
          <p:cNvSpPr/>
          <p:nvPr/>
        </p:nvSpPr>
        <p:spPr>
          <a:xfrm>
            <a:off x="4846320" y="3995928"/>
            <a:ext cx="3657600" cy="274320"/>
          </a:xfrm>
          <a:prstGeom prst="roundRect">
            <a:avLst>
              <a:gd name="adj" fmla="val 16667"/>
            </a:avLst>
          </a:prstGeom>
          <a:solidFill>
            <a:srgbClr val="2C9045"/>
          </a:solidFill>
          <a:ln/>
        </p:spPr>
      </p:sp>
      <p:sp>
        <p:nvSpPr>
          <p:cNvPr id="61" name="Text 59"/>
          <p:cNvSpPr txBox="1"/>
          <p:nvPr/>
        </p:nvSpPr>
        <p:spPr>
          <a:xfrm>
            <a:off x="4846320" y="3995928"/>
            <a:ext cx="365760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Register for Earthdata Login</a:t>
            </a:r>
            <a:endParaRPr lang="en-US" sz="950" dirty="0"/>
          </a:p>
        </p:txBody>
      </p:sp>
      <p:sp>
        <p:nvSpPr>
          <p:cNvPr id="62" name="Text 60"/>
          <p:cNvSpPr txBox="1"/>
          <p:nvPr/>
        </p:nvSpPr>
        <p:spPr>
          <a:xfrm>
            <a:off x="4663440" y="4462272"/>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Illustration schématique — la page réelle peut légèrement différer.</a:t>
            </a:r>
            <a:endParaRPr lang="en-US" sz="850" dirty="0"/>
          </a:p>
        </p:txBody>
      </p:sp>
      <p:sp>
        <p:nvSpPr>
          <p:cNvPr id="63"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02 · ACTIVER</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Activer votre compte par e-mail</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0E5A2E"/>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Ouvrir votre boîte e-mail</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Cherchez le message d’Earthdata Login (vérifiez Spam).</a:t>
            </a:r>
            <a:endParaRPr lang="en-US" sz="1250" dirty="0"/>
          </a:p>
        </p:txBody>
      </p:sp>
      <p:sp>
        <p:nvSpPr>
          <p:cNvPr id="13" name="Shape 11"/>
          <p:cNvSpPr/>
          <p:nvPr/>
        </p:nvSpPr>
        <p:spPr>
          <a:xfrm>
            <a:off x="457200" y="2057400"/>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205740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202996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Cliquer sur le lien d’activation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Votre profil est activé.</a:t>
            </a:r>
            <a:endParaRPr lang="en-US" sz="1250" dirty="0"/>
          </a:p>
        </p:txBody>
      </p:sp>
      <p:sp>
        <p:nvSpPr>
          <p:cNvPr id="16" name="Shape 14"/>
          <p:cNvSpPr/>
          <p:nvPr/>
        </p:nvSpPr>
        <p:spPr>
          <a:xfrm>
            <a:off x="457200" y="2834640"/>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83464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807208"/>
            <a:ext cx="3520440" cy="731520"/>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Se connecter</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Sur urs.earthdata.nasa.gov avec identifiant et mot de passe.</a:t>
            </a:r>
            <a:endParaRPr lang="en-US" sz="1250" dirty="0"/>
          </a:p>
        </p:txBody>
      </p:sp>
      <p:sp>
        <p:nvSpPr>
          <p:cNvPr id="19" name="Shape 17"/>
          <p:cNvSpPr/>
          <p:nvPr/>
        </p:nvSpPr>
        <p:spPr>
          <a:xfrm>
            <a:off x="4663440" y="1188720"/>
            <a:ext cx="4023360" cy="2377440"/>
          </a:xfrm>
          <a:prstGeom prst="roundRect">
            <a:avLst>
              <a:gd name="adj" fmla="val 2308"/>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0" name="Shape 18"/>
          <p:cNvSpPr/>
          <p:nvPr/>
        </p:nvSpPr>
        <p:spPr>
          <a:xfrm>
            <a:off x="4663440" y="1188720"/>
            <a:ext cx="4023360" cy="292608"/>
          </a:xfrm>
          <a:prstGeom prst="roundRect">
            <a:avLst>
              <a:gd name="adj" fmla="val 18750"/>
            </a:avLst>
          </a:prstGeom>
          <a:solidFill>
            <a:srgbClr val="EEF1EF"/>
          </a:solidFill>
          <a:ln/>
        </p:spPr>
      </p:sp>
      <p:sp>
        <p:nvSpPr>
          <p:cNvPr id="21" name="Shape 19"/>
          <p:cNvSpPr/>
          <p:nvPr/>
        </p:nvSpPr>
        <p:spPr>
          <a:xfrm>
            <a:off x="4773168" y="1298448"/>
            <a:ext cx="73152" cy="73152"/>
          </a:xfrm>
          <a:prstGeom prst="ellipse">
            <a:avLst/>
          </a:prstGeom>
          <a:solidFill>
            <a:srgbClr val="E0A39B"/>
          </a:solidFill>
          <a:ln/>
        </p:spPr>
      </p:sp>
      <p:sp>
        <p:nvSpPr>
          <p:cNvPr id="22" name="Shape 20"/>
          <p:cNvSpPr/>
          <p:nvPr/>
        </p:nvSpPr>
        <p:spPr>
          <a:xfrm>
            <a:off x="4892040" y="1298448"/>
            <a:ext cx="73152" cy="73152"/>
          </a:xfrm>
          <a:prstGeom prst="ellipse">
            <a:avLst/>
          </a:prstGeom>
          <a:solidFill>
            <a:srgbClr val="E8C97A"/>
          </a:solidFill>
          <a:ln/>
        </p:spPr>
      </p:sp>
      <p:sp>
        <p:nvSpPr>
          <p:cNvPr id="23" name="Shape 21"/>
          <p:cNvSpPr/>
          <p:nvPr/>
        </p:nvSpPr>
        <p:spPr>
          <a:xfrm>
            <a:off x="5010912" y="1298448"/>
            <a:ext cx="73152" cy="73152"/>
          </a:xfrm>
          <a:prstGeom prst="ellipse">
            <a:avLst/>
          </a:prstGeom>
          <a:solidFill>
            <a:srgbClr val="9CCB9F"/>
          </a:solidFill>
          <a:ln/>
        </p:spPr>
      </p:sp>
      <p:sp>
        <p:nvSpPr>
          <p:cNvPr id="24" name="Shape 22"/>
          <p:cNvSpPr/>
          <p:nvPr/>
        </p:nvSpPr>
        <p:spPr>
          <a:xfrm>
            <a:off x="5166360" y="1252728"/>
            <a:ext cx="3383280" cy="173736"/>
          </a:xfrm>
          <a:prstGeom prst="roundRect">
            <a:avLst>
              <a:gd name="adj" fmla="val 47368"/>
            </a:avLst>
          </a:prstGeom>
          <a:solidFill>
            <a:srgbClr val="FFFFFF"/>
          </a:solidFill>
          <a:ln/>
        </p:spPr>
      </p:sp>
      <p:sp>
        <p:nvSpPr>
          <p:cNvPr id="25" name="Text 23"/>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mail.google.com</a:t>
            </a:r>
            <a:endParaRPr lang="en-US" sz="850" dirty="0"/>
          </a:p>
        </p:txBody>
      </p:sp>
      <p:sp>
        <p:nvSpPr>
          <p:cNvPr id="26" name="Shape 24"/>
          <p:cNvSpPr/>
          <p:nvPr/>
        </p:nvSpPr>
        <p:spPr>
          <a:xfrm>
            <a:off x="4846320" y="1645920"/>
            <a:ext cx="457200" cy="457200"/>
          </a:xfrm>
          <a:prstGeom prst="ellipse">
            <a:avLst/>
          </a:prstGeom>
          <a:solidFill>
            <a:srgbClr val="0E5A2E">
              <a:alpha val="20000"/>
            </a:srgbClr>
          </a:solidFill>
          <a:ln/>
        </p:spPr>
      </p:sp>
      <p:pic>
        <p:nvPicPr>
          <p:cNvPr id="27" name="Image 0" descr="/home/claude/work/ntl/icons/envelope_g2.png"/>
          <p:cNvPicPr>
            <a:picLocks noChangeAspect="1"/>
          </p:cNvPicPr>
          <p:nvPr/>
        </p:nvPicPr>
        <p:blipFill>
          <a:blip r:embed="rId3"/>
          <a:stretch>
            <a:fillRect/>
          </a:stretch>
        </p:blipFill>
        <p:spPr>
          <a:xfrm>
            <a:off x="4969764" y="1769364"/>
            <a:ext cx="210312" cy="210312"/>
          </a:xfrm>
          <a:prstGeom prst="rect">
            <a:avLst/>
          </a:prstGeom>
        </p:spPr>
      </p:pic>
      <p:sp>
        <p:nvSpPr>
          <p:cNvPr id="28" name="Text 25"/>
          <p:cNvSpPr txBox="1"/>
          <p:nvPr/>
        </p:nvSpPr>
        <p:spPr>
          <a:xfrm>
            <a:off x="5440680" y="1627632"/>
            <a:ext cx="3108960" cy="50292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NASA Earthdata Login</a:t>
            </a:r>
            <a:endParaRPr lang="en-US" sz="1000" dirty="0"/>
          </a:p>
          <a:p>
            <a:pPr marL="0" indent="0">
              <a:buNone/>
            </a:pPr>
            <a:r>
              <a:rPr lang="en-US" sz="1000" dirty="0">
                <a:solidFill>
                  <a:srgbClr val="231F20"/>
                </a:solidFill>
                <a:latin typeface="Calibri" pitchFamily="34" charset="0"/>
                <a:ea typeface="Calibri" pitchFamily="34" charset="-122"/>
                <a:cs typeface="Calibri" pitchFamily="34" charset="-120"/>
              </a:rPr>
              <a:t>Activate your account</a:t>
            </a:r>
            <a:endParaRPr lang="en-US" sz="1000" dirty="0"/>
          </a:p>
        </p:txBody>
      </p:sp>
      <p:sp>
        <p:nvSpPr>
          <p:cNvPr id="29" name="Text 26"/>
          <p:cNvSpPr txBox="1"/>
          <p:nvPr/>
        </p:nvSpPr>
        <p:spPr>
          <a:xfrm>
            <a:off x="4846320" y="2267712"/>
            <a:ext cx="3657600" cy="457200"/>
          </a:xfrm>
          <a:prstGeom prst="rect">
            <a:avLst/>
          </a:prstGeom>
          <a:noFill/>
          <a:ln/>
        </p:spPr>
        <p:txBody>
          <a:bodyPr wrap="square" lIns="0" tIns="0" rIns="0" bIns="0" rtlCol="0" anchor="t"/>
          <a:lstStyle/>
          <a:p>
            <a:pPr marL="0" indent="0">
              <a:buNone/>
            </a:pPr>
            <a:r>
              <a:rPr lang="en-US" sz="950" dirty="0">
                <a:solidFill>
                  <a:srgbClr val="5A6660"/>
                </a:solidFill>
                <a:latin typeface="Calibri" pitchFamily="34" charset="0"/>
                <a:ea typeface="Calibri" pitchFamily="34" charset="-122"/>
                <a:cs typeface="Calibri" pitchFamily="34" charset="-120"/>
              </a:rPr>
              <a:t>Cliquez sur le lien ci-dessous pour activer votre profil Earthdata Login.</a:t>
            </a:r>
            <a:endParaRPr lang="en-US" sz="950" dirty="0"/>
          </a:p>
        </p:txBody>
      </p:sp>
      <p:sp>
        <p:nvSpPr>
          <p:cNvPr id="30" name="Shape 27"/>
          <p:cNvSpPr/>
          <p:nvPr/>
        </p:nvSpPr>
        <p:spPr>
          <a:xfrm>
            <a:off x="4846320" y="2852928"/>
            <a:ext cx="2194560" cy="292608"/>
          </a:xfrm>
          <a:prstGeom prst="roundRect">
            <a:avLst>
              <a:gd name="adj" fmla="val 15625"/>
            </a:avLst>
          </a:prstGeom>
          <a:solidFill>
            <a:srgbClr val="2C9045"/>
          </a:solidFill>
          <a:ln/>
        </p:spPr>
      </p:sp>
      <p:sp>
        <p:nvSpPr>
          <p:cNvPr id="31" name="Text 28"/>
          <p:cNvSpPr txBox="1"/>
          <p:nvPr/>
        </p:nvSpPr>
        <p:spPr>
          <a:xfrm>
            <a:off x="4846320" y="2852928"/>
            <a:ext cx="21945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Activate account</a:t>
            </a:r>
            <a:endParaRPr lang="en-US" sz="950" dirty="0"/>
          </a:p>
        </p:txBody>
      </p:sp>
      <p:sp>
        <p:nvSpPr>
          <p:cNvPr id="32" name="Shape 29"/>
          <p:cNvSpPr/>
          <p:nvPr/>
        </p:nvSpPr>
        <p:spPr>
          <a:xfrm>
            <a:off x="4800600" y="2807208"/>
            <a:ext cx="2286000" cy="384048"/>
          </a:xfrm>
          <a:prstGeom prst="roundRect">
            <a:avLst>
              <a:gd name="adj" fmla="val 14286"/>
            </a:avLst>
          </a:prstGeom>
          <a:ln w="25400">
            <a:solidFill>
              <a:srgbClr val="D49A00"/>
            </a:solidFill>
            <a:prstDash val="solid"/>
          </a:ln>
        </p:spPr>
      </p:sp>
      <p:sp>
        <p:nvSpPr>
          <p:cNvPr id="33" name="Shape 30"/>
          <p:cNvSpPr/>
          <p:nvPr/>
        </p:nvSpPr>
        <p:spPr>
          <a:xfrm>
            <a:off x="4663440" y="3749040"/>
            <a:ext cx="4023360" cy="566928"/>
          </a:xfrm>
          <a:prstGeom prst="roundRect">
            <a:avLst>
              <a:gd name="adj" fmla="val 12903"/>
            </a:avLst>
          </a:prstGeom>
          <a:solidFill>
            <a:srgbClr val="2C9045">
              <a:alpha val="13000"/>
            </a:srgbClr>
          </a:solidFill>
          <a:ln w="12700">
            <a:solidFill>
              <a:srgbClr val="2C9045"/>
            </a:solidFill>
            <a:prstDash val="solid"/>
          </a:ln>
        </p:spPr>
      </p:sp>
      <p:pic>
        <p:nvPicPr>
          <p:cNvPr id="34" name="Image 1" descr="/home/claude/work/ntl/icons/bulb_g1.png"/>
          <p:cNvPicPr>
            <a:picLocks noChangeAspect="1"/>
          </p:cNvPicPr>
          <p:nvPr/>
        </p:nvPicPr>
        <p:blipFill>
          <a:blip r:embed="rId4"/>
          <a:stretch>
            <a:fillRect/>
          </a:stretch>
        </p:blipFill>
        <p:spPr>
          <a:xfrm>
            <a:off x="4818888" y="3895344"/>
            <a:ext cx="274320" cy="274320"/>
          </a:xfrm>
          <a:prstGeom prst="rect">
            <a:avLst/>
          </a:prstGeom>
        </p:spPr>
      </p:pic>
      <p:sp>
        <p:nvSpPr>
          <p:cNvPr id="35" name="Text 31"/>
          <p:cNvSpPr txBox="1"/>
          <p:nvPr/>
        </p:nvSpPr>
        <p:spPr>
          <a:xfrm>
            <a:off x="5230368" y="3749040"/>
            <a:ext cx="3310128" cy="56692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Pas d’e-mail après 10 minutes ? Vérifiez Spam ou Promotions, puis contactez l’équipe d’assistance.</a:t>
            </a:r>
            <a:endParaRPr lang="en-US" sz="1050" dirty="0"/>
          </a:p>
        </p:txBody>
      </p:sp>
      <p:sp>
        <p:nvSpPr>
          <p:cNvPr id="36" name="Text 32"/>
          <p:cNvSpPr txBox="1"/>
          <p:nvPr/>
        </p:nvSpPr>
        <p:spPr>
          <a:xfrm>
            <a:off x="4663440" y="4407408"/>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Illustration schématique — la page réelle peut légèrement différer.</a:t>
            </a:r>
            <a:endParaRPr lang="en-US" sz="850" dirty="0"/>
          </a:p>
        </p:txBody>
      </p:sp>
      <p:sp>
        <p:nvSpPr>
          <p:cNvPr id="37"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GÉNÉRER LE JETON</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Générer et copier votre jeton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C4621D"/>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80160"/>
            <a:ext cx="329184" cy="329184"/>
          </a:xfrm>
          <a:prstGeom prst="ellipse">
            <a:avLst/>
          </a:prstGeom>
          <a:solidFill>
            <a:srgbClr val="E8F4EB"/>
          </a:solidFill>
          <a:ln w="9525">
            <a:solidFill>
              <a:srgbClr val="D3E2D7"/>
            </a:solidFill>
            <a:prstDash val="solid"/>
          </a:ln>
        </p:spPr>
      </p:sp>
      <p:sp>
        <p:nvSpPr>
          <p:cNvPr id="11" name="Text 9"/>
          <p:cNvSpPr txBox="1"/>
          <p:nvPr/>
        </p:nvSpPr>
        <p:spPr>
          <a:xfrm>
            <a:off x="457200" y="1280160"/>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914400" y="1252728"/>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Se connecter au profil Earthdata</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urs.earthdata.nasa.gov/profile.</a:t>
            </a:r>
            <a:endParaRPr lang="en-US" sz="1250" dirty="0"/>
          </a:p>
        </p:txBody>
      </p:sp>
      <p:sp>
        <p:nvSpPr>
          <p:cNvPr id="13" name="Shape 11"/>
          <p:cNvSpPr/>
          <p:nvPr/>
        </p:nvSpPr>
        <p:spPr>
          <a:xfrm>
            <a:off x="457200" y="1938528"/>
            <a:ext cx="329184" cy="329184"/>
          </a:xfrm>
          <a:prstGeom prst="ellipse">
            <a:avLst/>
          </a:prstGeom>
          <a:solidFill>
            <a:srgbClr val="E8F4EB"/>
          </a:solidFill>
          <a:ln w="9525">
            <a:solidFill>
              <a:srgbClr val="D3E2D7"/>
            </a:solidFill>
            <a:prstDash val="solid"/>
          </a:ln>
        </p:spPr>
      </p:sp>
      <p:sp>
        <p:nvSpPr>
          <p:cNvPr id="14" name="Text 12"/>
          <p:cNvSpPr txBox="1"/>
          <p:nvPr/>
        </p:nvSpPr>
        <p:spPr>
          <a:xfrm>
            <a:off x="457200" y="1938528"/>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914400" y="1911096"/>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Cliquer sur Generate Token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Dans le menu du haut du profil.</a:t>
            </a:r>
            <a:endParaRPr lang="en-US" sz="1250" dirty="0"/>
          </a:p>
        </p:txBody>
      </p:sp>
      <p:sp>
        <p:nvSpPr>
          <p:cNvPr id="16" name="Shape 14"/>
          <p:cNvSpPr/>
          <p:nvPr/>
        </p:nvSpPr>
        <p:spPr>
          <a:xfrm>
            <a:off x="457200" y="2596896"/>
            <a:ext cx="329184" cy="329184"/>
          </a:xfrm>
          <a:prstGeom prst="ellipse">
            <a:avLst/>
          </a:prstGeom>
          <a:solidFill>
            <a:srgbClr val="E8F4EB"/>
          </a:solidFill>
          <a:ln w="9525">
            <a:solidFill>
              <a:srgbClr val="D3E2D7"/>
            </a:solidFill>
            <a:prstDash val="solid"/>
          </a:ln>
        </p:spPr>
      </p:sp>
      <p:sp>
        <p:nvSpPr>
          <p:cNvPr id="17" name="Text 15"/>
          <p:cNvSpPr txBox="1"/>
          <p:nvPr/>
        </p:nvSpPr>
        <p:spPr>
          <a:xfrm>
            <a:off x="457200" y="2596896"/>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914400" y="2569464"/>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Cliquer sur le bouton vert Generate Token</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En bas de la page, si aucun jeton n’est encore listé.</a:t>
            </a:r>
            <a:endParaRPr lang="en-US" sz="1250" dirty="0"/>
          </a:p>
        </p:txBody>
      </p:sp>
      <p:sp>
        <p:nvSpPr>
          <p:cNvPr id="19" name="Shape 17"/>
          <p:cNvSpPr/>
          <p:nvPr/>
        </p:nvSpPr>
        <p:spPr>
          <a:xfrm>
            <a:off x="457200" y="3255264"/>
            <a:ext cx="329184" cy="329184"/>
          </a:xfrm>
          <a:prstGeom prst="ellipse">
            <a:avLst/>
          </a:prstGeom>
          <a:solidFill>
            <a:srgbClr val="E8F4EB"/>
          </a:solidFill>
          <a:ln w="9525">
            <a:solidFill>
              <a:srgbClr val="D3E2D7"/>
            </a:solidFill>
            <a:prstDash val="solid"/>
          </a:ln>
        </p:spPr>
      </p:sp>
      <p:sp>
        <p:nvSpPr>
          <p:cNvPr id="20" name="Text 18"/>
          <p:cNvSpPr txBox="1"/>
          <p:nvPr/>
        </p:nvSpPr>
        <p:spPr>
          <a:xfrm>
            <a:off x="457200" y="3255264"/>
            <a:ext cx="329184" cy="329184"/>
          </a:xfrm>
          <a:prstGeom prst="rect">
            <a:avLst/>
          </a:prstGeom>
          <a:noFill/>
          <a:ln/>
        </p:spPr>
        <p:txBody>
          <a:bodyPr wrap="square" lIns="0" tIns="0" rIns="0" bIns="0" rtlCol="0" anchor="ctr"/>
          <a:lstStyle/>
          <a:p>
            <a:pPr marL="0" indent="0" algn="ctr">
              <a:buNone/>
            </a:pPr>
            <a:r>
              <a:rPr lang="en-US" sz="1150" b="1" dirty="0">
                <a:solidFill>
                  <a:srgbClr val="0E5A2E"/>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914400" y="3227832"/>
            <a:ext cx="3520440" cy="612648"/>
          </a:xfrm>
          <a:prstGeom prst="rect">
            <a:avLst/>
          </a:prstGeom>
          <a:noFill/>
          <a:ln/>
        </p:spPr>
        <p:txBody>
          <a:bodyPr wrap="square" lIns="0" tIns="0" rIns="0" bIns="0" rtlCol="0" anchor="t"/>
          <a:lstStyle/>
          <a:p>
            <a:pPr marL="0" indent="0">
              <a:spcAft>
                <a:spcPts val="200"/>
              </a:spcAft>
              <a:buNone/>
            </a:pPr>
            <a:r>
              <a:rPr lang="en-US" sz="1250" b="1" dirty="0">
                <a:solidFill>
                  <a:srgbClr val="231F20"/>
                </a:solidFill>
                <a:latin typeface="Calibri" pitchFamily="34" charset="0"/>
                <a:ea typeface="Calibri" pitchFamily="34" charset="-122"/>
                <a:cs typeface="Calibri" pitchFamily="34" charset="-120"/>
              </a:rPr>
              <a:t>Cliquer sur Show Token, puis copier</a:t>
            </a:r>
            <a:endParaRPr lang="en-US" sz="1250" dirty="0"/>
          </a:p>
          <a:p>
            <a:pPr marL="0" indent="0">
              <a:spcAft>
                <a:spcPts val="200"/>
              </a:spcAft>
              <a:buNone/>
            </a:pPr>
            <a:r>
              <a:rPr lang="en-US" sz="1050" dirty="0">
                <a:solidFill>
                  <a:srgbClr val="5A6660"/>
                </a:solidFill>
                <a:latin typeface="Calibri" pitchFamily="34" charset="0"/>
                <a:ea typeface="Calibri" pitchFamily="34" charset="-122"/>
                <a:cs typeface="Calibri" pitchFamily="34" charset="-120"/>
              </a:rPr>
              <a:t>Collez-le directement dans un gestionnaire de mots de passe ou une variable d’environnement.</a:t>
            </a:r>
            <a:endParaRPr lang="en-US" sz="1250" dirty="0"/>
          </a:p>
        </p:txBody>
      </p:sp>
      <p:sp>
        <p:nvSpPr>
          <p:cNvPr id="22" name="Shape 20"/>
          <p:cNvSpPr/>
          <p:nvPr/>
        </p:nvSpPr>
        <p:spPr>
          <a:xfrm>
            <a:off x="4663440" y="1188720"/>
            <a:ext cx="4023360" cy="3154680"/>
          </a:xfrm>
          <a:prstGeom prst="roundRect">
            <a:avLst>
              <a:gd name="adj" fmla="val 1739"/>
            </a:avLst>
          </a:prstGeom>
          <a:solidFill>
            <a:srgbClr val="FFFFFF"/>
          </a:solidFill>
          <a:ln w="9525">
            <a:solidFill>
              <a:srgbClr val="D3E2D7"/>
            </a:solidFill>
            <a:prstDash val="solid"/>
          </a:ln>
          <a:effectLst>
            <a:outerShdw blurRad="76200" dist="25400" dir="5400000" algn="bl" rotWithShape="0">
              <a:srgbClr val="000000">
                <a:alpha val="12000"/>
              </a:srgbClr>
            </a:outerShdw>
          </a:effectLst>
        </p:spPr>
      </p:sp>
      <p:sp>
        <p:nvSpPr>
          <p:cNvPr id="23" name="Shape 21"/>
          <p:cNvSpPr/>
          <p:nvPr/>
        </p:nvSpPr>
        <p:spPr>
          <a:xfrm>
            <a:off x="4663440" y="1188720"/>
            <a:ext cx="4023360" cy="292608"/>
          </a:xfrm>
          <a:prstGeom prst="roundRect">
            <a:avLst>
              <a:gd name="adj" fmla="val 18750"/>
            </a:avLst>
          </a:prstGeom>
          <a:solidFill>
            <a:srgbClr val="EEF1EF"/>
          </a:solidFill>
          <a:ln/>
        </p:spPr>
      </p:sp>
      <p:sp>
        <p:nvSpPr>
          <p:cNvPr id="24" name="Shape 22"/>
          <p:cNvSpPr/>
          <p:nvPr/>
        </p:nvSpPr>
        <p:spPr>
          <a:xfrm>
            <a:off x="4773168" y="1298448"/>
            <a:ext cx="73152" cy="73152"/>
          </a:xfrm>
          <a:prstGeom prst="ellipse">
            <a:avLst/>
          </a:prstGeom>
          <a:solidFill>
            <a:srgbClr val="E0A39B"/>
          </a:solidFill>
          <a:ln/>
        </p:spPr>
      </p:sp>
      <p:sp>
        <p:nvSpPr>
          <p:cNvPr id="25" name="Shape 23"/>
          <p:cNvSpPr/>
          <p:nvPr/>
        </p:nvSpPr>
        <p:spPr>
          <a:xfrm>
            <a:off x="4892040" y="1298448"/>
            <a:ext cx="73152" cy="73152"/>
          </a:xfrm>
          <a:prstGeom prst="ellipse">
            <a:avLst/>
          </a:prstGeom>
          <a:solidFill>
            <a:srgbClr val="E8C97A"/>
          </a:solidFill>
          <a:ln/>
        </p:spPr>
      </p:sp>
      <p:sp>
        <p:nvSpPr>
          <p:cNvPr id="26" name="Shape 24"/>
          <p:cNvSpPr/>
          <p:nvPr/>
        </p:nvSpPr>
        <p:spPr>
          <a:xfrm>
            <a:off x="5010912" y="1298448"/>
            <a:ext cx="73152" cy="73152"/>
          </a:xfrm>
          <a:prstGeom prst="ellipse">
            <a:avLst/>
          </a:prstGeom>
          <a:solidFill>
            <a:srgbClr val="9CCB9F"/>
          </a:solidFill>
          <a:ln/>
        </p:spPr>
      </p:sp>
      <p:sp>
        <p:nvSpPr>
          <p:cNvPr id="27" name="Shape 25"/>
          <p:cNvSpPr/>
          <p:nvPr/>
        </p:nvSpPr>
        <p:spPr>
          <a:xfrm>
            <a:off x="5166360" y="1252728"/>
            <a:ext cx="3383280" cy="173736"/>
          </a:xfrm>
          <a:prstGeom prst="roundRect">
            <a:avLst>
              <a:gd name="adj" fmla="val 47368"/>
            </a:avLst>
          </a:prstGeom>
          <a:solidFill>
            <a:srgbClr val="FFFFFF"/>
          </a:solidFill>
          <a:ln/>
        </p:spPr>
      </p:sp>
      <p:sp>
        <p:nvSpPr>
          <p:cNvPr id="28" name="Text 26"/>
          <p:cNvSpPr txBox="1"/>
          <p:nvPr/>
        </p:nvSpPr>
        <p:spPr>
          <a:xfrm>
            <a:off x="5257800" y="1252728"/>
            <a:ext cx="3200400" cy="173736"/>
          </a:xfrm>
          <a:prstGeom prst="rect">
            <a:avLst/>
          </a:prstGeom>
          <a:noFill/>
          <a:ln/>
        </p:spPr>
        <p:txBody>
          <a:bodyPr wrap="square" lIns="0" tIns="0" rIns="0" bIns="0" rtlCol="0" anchor="ctr"/>
          <a:lstStyle/>
          <a:p>
            <a:pPr marL="0" indent="0">
              <a:buNone/>
            </a:pPr>
            <a:r>
              <a:rPr lang="en-US" sz="850" dirty="0">
                <a:solidFill>
                  <a:srgbClr val="5A6660"/>
                </a:solidFill>
                <a:latin typeface="Calibri" pitchFamily="34" charset="0"/>
                <a:ea typeface="Calibri" pitchFamily="34" charset="-122"/>
                <a:cs typeface="Calibri" pitchFamily="34" charset="-120"/>
              </a:rPr>
              <a:t>urs.earthdata.nasa.gov/users/tokens</a:t>
            </a:r>
            <a:endParaRPr lang="en-US" sz="850" dirty="0"/>
          </a:p>
        </p:txBody>
      </p:sp>
      <p:sp>
        <p:nvSpPr>
          <p:cNvPr id="29" name="Text 27"/>
          <p:cNvSpPr txBox="1"/>
          <p:nvPr/>
        </p:nvSpPr>
        <p:spPr>
          <a:xfrm>
            <a:off x="4846320"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Profile</a:t>
            </a:r>
            <a:endParaRPr lang="en-US" sz="900" dirty="0"/>
          </a:p>
        </p:txBody>
      </p:sp>
      <p:sp>
        <p:nvSpPr>
          <p:cNvPr id="30" name="Text 28"/>
          <p:cNvSpPr txBox="1"/>
          <p:nvPr/>
        </p:nvSpPr>
        <p:spPr>
          <a:xfrm>
            <a:off x="5779008"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Applications</a:t>
            </a:r>
            <a:endParaRPr lang="en-US" sz="900" dirty="0"/>
          </a:p>
        </p:txBody>
      </p:sp>
      <p:sp>
        <p:nvSpPr>
          <p:cNvPr id="31" name="Text 29"/>
          <p:cNvSpPr txBox="1"/>
          <p:nvPr/>
        </p:nvSpPr>
        <p:spPr>
          <a:xfrm>
            <a:off x="6711696" y="1600200"/>
            <a:ext cx="896112" cy="219456"/>
          </a:xfrm>
          <a:prstGeom prst="rect">
            <a:avLst/>
          </a:prstGeom>
          <a:noFill/>
          <a:ln/>
        </p:spPr>
        <p:txBody>
          <a:bodyPr wrap="square" lIns="0" tIns="0" rIns="0" bIns="0" rtlCol="0" anchor="ctr"/>
          <a:lstStyle/>
          <a:p>
            <a:pPr marL="0" indent="0" algn="ctr">
              <a:buNone/>
            </a:pPr>
            <a:r>
              <a:rPr lang="en-US" sz="900" dirty="0">
                <a:solidFill>
                  <a:srgbClr val="5A6660"/>
                </a:solidFill>
                <a:latin typeface="Calibri" pitchFamily="34" charset="0"/>
                <a:ea typeface="Calibri" pitchFamily="34" charset="-122"/>
                <a:cs typeface="Calibri" pitchFamily="34" charset="-120"/>
              </a:rPr>
              <a:t>EULAs</a:t>
            </a:r>
            <a:endParaRPr lang="en-US" sz="900" dirty="0"/>
          </a:p>
        </p:txBody>
      </p:sp>
      <p:sp>
        <p:nvSpPr>
          <p:cNvPr id="32" name="Text 30"/>
          <p:cNvSpPr txBox="1"/>
          <p:nvPr/>
        </p:nvSpPr>
        <p:spPr>
          <a:xfrm>
            <a:off x="7644384" y="1600200"/>
            <a:ext cx="896112" cy="219456"/>
          </a:xfrm>
          <a:prstGeom prst="rect">
            <a:avLst/>
          </a:prstGeom>
          <a:noFill/>
          <a:ln/>
        </p:spPr>
        <p:txBody>
          <a:bodyPr wrap="square" lIns="0" tIns="0" rIns="0" bIns="0" rtlCol="0" anchor="ctr"/>
          <a:lstStyle/>
          <a:p>
            <a:pPr marL="0" indent="0" algn="ctr">
              <a:buNone/>
            </a:pPr>
            <a:r>
              <a:rPr lang="en-US" sz="900" b="1" dirty="0">
                <a:solidFill>
                  <a:srgbClr val="0E5A2E"/>
                </a:solidFill>
                <a:latin typeface="Calibri" pitchFamily="34" charset="0"/>
                <a:ea typeface="Calibri" pitchFamily="34" charset="-122"/>
                <a:cs typeface="Calibri" pitchFamily="34" charset="-120"/>
              </a:rPr>
              <a:t>Generate Token</a:t>
            </a:r>
            <a:endParaRPr lang="en-US" sz="900" dirty="0"/>
          </a:p>
        </p:txBody>
      </p:sp>
      <p:sp>
        <p:nvSpPr>
          <p:cNvPr id="33" name="Shape 31"/>
          <p:cNvSpPr/>
          <p:nvPr/>
        </p:nvSpPr>
        <p:spPr>
          <a:xfrm>
            <a:off x="7598664" y="1554480"/>
            <a:ext cx="987552" cy="310896"/>
          </a:xfrm>
          <a:prstGeom prst="roundRect">
            <a:avLst>
              <a:gd name="adj" fmla="val 17647"/>
            </a:avLst>
          </a:prstGeom>
          <a:ln w="25400">
            <a:solidFill>
              <a:srgbClr val="D49A00"/>
            </a:solidFill>
            <a:prstDash val="solid"/>
          </a:ln>
        </p:spPr>
      </p:sp>
      <p:sp>
        <p:nvSpPr>
          <p:cNvPr id="34" name="Shape 32"/>
          <p:cNvSpPr/>
          <p:nvPr/>
        </p:nvSpPr>
        <p:spPr>
          <a:xfrm>
            <a:off x="4846320" y="1901952"/>
            <a:ext cx="3657600" cy="0"/>
          </a:xfrm>
          <a:prstGeom prst="line">
            <a:avLst/>
          </a:prstGeom>
          <a:noFill/>
          <a:ln w="9525">
            <a:solidFill>
              <a:srgbClr val="D3E2D7"/>
            </a:solidFill>
            <a:prstDash val="solid"/>
          </a:ln>
        </p:spPr>
      </p:sp>
      <p:sp>
        <p:nvSpPr>
          <p:cNvPr id="35" name="Text 33"/>
          <p:cNvSpPr txBox="1"/>
          <p:nvPr/>
        </p:nvSpPr>
        <p:spPr>
          <a:xfrm>
            <a:off x="4846320" y="2011680"/>
            <a:ext cx="36576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Generate Bearer Token</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846320" y="2331720"/>
          <a:ext cx="3657600" cy="475488"/>
        </p:xfrm>
        <a:graphic>
          <a:graphicData uri="http://schemas.openxmlformats.org/drawingml/2006/table">
            <a:tbl>
              <a:tblPr/>
              <a:tblGrid>
                <a:gridCol w="19202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tblGrid>
              <a:tr h="237744">
                <a:tc>
                  <a:txBody>
                    <a:bodyPr/>
                    <a:lstStyle/>
                    <a:p>
                      <a:pPr marL="0" indent="0">
                        <a:buNone/>
                      </a:pPr>
                      <a:r>
                        <a:rPr lang="en-US" sz="850" b="1" dirty="0">
                          <a:solidFill>
                            <a:srgbClr val="5A6660"/>
                          </a:solidFill>
                          <a:latin typeface="Calibri" pitchFamily="34" charset="0"/>
                          <a:ea typeface="Calibri" pitchFamily="34" charset="-122"/>
                          <a:cs typeface="Calibri" pitchFamily="34" charset="-120"/>
                        </a:rPr>
                        <a:t>Token</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b="1" dirty="0">
                          <a:solidFill>
                            <a:srgbClr val="5A6660"/>
                          </a:solidFill>
                          <a:latin typeface="Calibri" pitchFamily="34" charset="0"/>
                          <a:ea typeface="Calibri" pitchFamily="34" charset="-122"/>
                          <a:cs typeface="Calibri" pitchFamily="34" charset="-120"/>
                        </a:rPr>
                        <a:t>Expiration</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extLst>
                  <a:ext uri="{0D108BD9-81ED-4DB2-BD59-A6C34878D82A}">
                    <a16:rowId xmlns:a16="http://schemas.microsoft.com/office/drawing/2014/main" val="10000"/>
                  </a:ext>
                </a:extLst>
              </a:tr>
              <a:tr h="237744">
                <a:tc>
                  <a:txBody>
                    <a:bodyPr/>
                    <a:lstStyle/>
                    <a:p>
                      <a:pPr marL="0" indent="0">
                        <a:buNone/>
                      </a:pPr>
                      <a:r>
                        <a:rPr lang="en-US" sz="850" dirty="0">
                          <a:solidFill>
                            <a:srgbClr val="000000"/>
                          </a:solidFill>
                          <a:latin typeface="Courier New" pitchFamily="34" charset="0"/>
                          <a:ea typeface="Courier New" pitchFamily="34" charset="-122"/>
                          <a:cs typeface="Courier New" pitchFamily="34" charset="-120"/>
                        </a:rPr>
                        <a:t>••••••••••••••••••••</a:t>
                      </a:r>
                      <a:endParaRPr lang="en-US" sz="850" dirty="0">
                        <a:latin typeface="Courier New" charset="0"/>
                        <a:ea typeface="Courier New" charset="0"/>
                        <a:cs typeface="Courier New"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dirty="0">
                          <a:solidFill>
                            <a:srgbClr val="231F20"/>
                          </a:solidFill>
                          <a:latin typeface="Calibri" pitchFamily="34" charset="0"/>
                          <a:ea typeface="Calibri" pitchFamily="34" charset="-122"/>
                          <a:cs typeface="Calibri" pitchFamily="34" charset="-120"/>
                        </a:rPr>
                        <a:t>dans 60 jours</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tc>
                  <a:txBody>
                    <a:bodyPr/>
                    <a:lstStyle/>
                    <a:p>
                      <a:pPr marL="0" indent="0">
                        <a:buNone/>
                      </a:pPr>
                      <a:r>
                        <a:rPr lang="en-US" sz="850" dirty="0">
                          <a:solidFill>
                            <a:srgbClr val="231F2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64008" marR="64008" marT="18288" marB="18288" anchor="ctr">
                    <a:lnL w="9525" cap="flat" cmpd="sng" algn="ctr">
                      <a:solidFill>
                        <a:srgbClr val="D3E2D7"/>
                      </a:solidFill>
                      <a:prstDash val="solid"/>
                      <a:round/>
                      <a:headEnd type="none" w="med" len="med"/>
                      <a:tailEnd type="none" w="med" len="med"/>
                    </a:lnL>
                    <a:lnR w="9525" cap="flat" cmpd="sng" algn="ctr">
                      <a:solidFill>
                        <a:srgbClr val="D3E2D7"/>
                      </a:solidFill>
                      <a:prstDash val="solid"/>
                      <a:round/>
                      <a:headEnd type="none" w="med" len="med"/>
                      <a:tailEnd type="none" w="med" len="med"/>
                    </a:lnR>
                    <a:lnT w="9525" cap="flat" cmpd="sng" algn="ctr">
                      <a:solidFill>
                        <a:srgbClr val="D3E2D7"/>
                      </a:solidFill>
                      <a:prstDash val="solid"/>
                      <a:round/>
                      <a:headEnd type="none" w="med" len="med"/>
                      <a:tailEnd type="none" w="med" len="med"/>
                    </a:lnT>
                    <a:lnB w="9525" cap="flat" cmpd="sng" algn="ctr">
                      <a:solidFill>
                        <a:srgbClr val="D3E2D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7" name="Shape 34"/>
          <p:cNvSpPr/>
          <p:nvPr/>
        </p:nvSpPr>
        <p:spPr>
          <a:xfrm>
            <a:off x="4846320" y="2971800"/>
            <a:ext cx="1188720" cy="274320"/>
          </a:xfrm>
          <a:prstGeom prst="roundRect">
            <a:avLst>
              <a:gd name="adj" fmla="val 16667"/>
            </a:avLst>
          </a:prstGeom>
          <a:solidFill>
            <a:srgbClr val="2F6FB7"/>
          </a:solidFill>
          <a:ln/>
        </p:spPr>
      </p:sp>
      <p:sp>
        <p:nvSpPr>
          <p:cNvPr id="38" name="Text 35"/>
          <p:cNvSpPr txBox="1"/>
          <p:nvPr/>
        </p:nvSpPr>
        <p:spPr>
          <a:xfrm>
            <a:off x="4846320" y="2971800"/>
            <a:ext cx="11887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Show Token</a:t>
            </a:r>
            <a:endParaRPr lang="en-US" sz="900" dirty="0"/>
          </a:p>
        </p:txBody>
      </p:sp>
      <p:sp>
        <p:nvSpPr>
          <p:cNvPr id="39" name="Shape 36"/>
          <p:cNvSpPr/>
          <p:nvPr/>
        </p:nvSpPr>
        <p:spPr>
          <a:xfrm>
            <a:off x="4800600" y="2926080"/>
            <a:ext cx="1280160" cy="365760"/>
          </a:xfrm>
          <a:prstGeom prst="roundRect">
            <a:avLst>
              <a:gd name="adj" fmla="val 15000"/>
            </a:avLst>
          </a:prstGeom>
          <a:ln w="25400">
            <a:solidFill>
              <a:srgbClr val="D49A00"/>
            </a:solidFill>
            <a:prstDash val="solid"/>
          </a:ln>
        </p:spPr>
      </p:sp>
      <p:sp>
        <p:nvSpPr>
          <p:cNvPr id="40" name="Shape 37"/>
          <p:cNvSpPr/>
          <p:nvPr/>
        </p:nvSpPr>
        <p:spPr>
          <a:xfrm>
            <a:off x="6949440" y="3794760"/>
            <a:ext cx="1554480" cy="292608"/>
          </a:xfrm>
          <a:prstGeom prst="roundRect">
            <a:avLst>
              <a:gd name="adj" fmla="val 15625"/>
            </a:avLst>
          </a:prstGeom>
          <a:solidFill>
            <a:srgbClr val="2C9045"/>
          </a:solidFill>
          <a:ln/>
        </p:spPr>
      </p:sp>
      <p:sp>
        <p:nvSpPr>
          <p:cNvPr id="41" name="Text 38"/>
          <p:cNvSpPr txBox="1"/>
          <p:nvPr/>
        </p:nvSpPr>
        <p:spPr>
          <a:xfrm>
            <a:off x="6949440" y="3794760"/>
            <a:ext cx="15544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Generate Token</a:t>
            </a:r>
            <a:endParaRPr lang="en-US" sz="950" dirty="0"/>
          </a:p>
        </p:txBody>
      </p:sp>
      <p:sp>
        <p:nvSpPr>
          <p:cNvPr id="42" name="Shape 39"/>
          <p:cNvSpPr/>
          <p:nvPr/>
        </p:nvSpPr>
        <p:spPr>
          <a:xfrm>
            <a:off x="6903720" y="3749040"/>
            <a:ext cx="1645920" cy="384048"/>
          </a:xfrm>
          <a:prstGeom prst="roundRect">
            <a:avLst>
              <a:gd name="adj" fmla="val 14286"/>
            </a:avLst>
          </a:prstGeom>
          <a:ln w="25400">
            <a:solidFill>
              <a:srgbClr val="D49A00"/>
            </a:solidFill>
            <a:prstDash val="solid"/>
          </a:ln>
        </p:spPr>
      </p:sp>
      <p:sp>
        <p:nvSpPr>
          <p:cNvPr id="43" name="Text 40"/>
          <p:cNvSpPr txBox="1"/>
          <p:nvPr/>
        </p:nvSpPr>
        <p:spPr>
          <a:xfrm>
            <a:off x="4663440" y="4434840"/>
            <a:ext cx="402336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Illustration schématique — la page réelle peut légèrement différer.</a:t>
            </a:r>
            <a:endParaRPr lang="en-US" sz="850" dirty="0"/>
          </a:p>
        </p:txBody>
      </p:sp>
      <p:sp>
        <p:nvSpPr>
          <p:cNvPr id="44"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05 · GÉNÉRER LE JETON</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Trois points à retenir sur le jeton</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C4621D"/>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2587752" cy="1874520"/>
          </a:xfrm>
          <a:prstGeom prst="roundRect">
            <a:avLst>
              <a:gd name="adj" fmla="val 3902"/>
            </a:avLst>
          </a:prstGeom>
          <a:solidFill>
            <a:srgbClr val="F4F8F5"/>
          </a:solidFill>
          <a:ln w="9525">
            <a:solidFill>
              <a:srgbClr val="D3E2D7"/>
            </a:solidFill>
            <a:prstDash val="solid"/>
          </a:ln>
        </p:spPr>
      </p:sp>
      <p:sp>
        <p:nvSpPr>
          <p:cNvPr id="11" name="Shape 9"/>
          <p:cNvSpPr/>
          <p:nvPr/>
        </p:nvSpPr>
        <p:spPr>
          <a:xfrm>
            <a:off x="658368" y="1481328"/>
            <a:ext cx="457200" cy="457200"/>
          </a:xfrm>
          <a:prstGeom prst="ellipse">
            <a:avLst/>
          </a:prstGeom>
          <a:solidFill>
            <a:srgbClr val="C4621D">
              <a:alpha val="20000"/>
            </a:srgbClr>
          </a:solidFill>
          <a:ln/>
        </p:spPr>
      </p:sp>
      <p:pic>
        <p:nvPicPr>
          <p:cNvPr id="12" name="Image 0" descr="/home/claude/work/ntl/icons/clock_orange.png"/>
          <p:cNvPicPr>
            <a:picLocks noChangeAspect="1"/>
          </p:cNvPicPr>
          <p:nvPr/>
        </p:nvPicPr>
        <p:blipFill>
          <a:blip r:embed="rId3"/>
          <a:stretch>
            <a:fillRect/>
          </a:stretch>
        </p:blipFill>
        <p:spPr>
          <a:xfrm>
            <a:off x="781812" y="1604772"/>
            <a:ext cx="210312" cy="210312"/>
          </a:xfrm>
          <a:prstGeom prst="rect">
            <a:avLst/>
          </a:prstGeom>
        </p:spPr>
      </p:pic>
      <p:sp>
        <p:nvSpPr>
          <p:cNvPr id="13" name="Text 10"/>
          <p:cNvSpPr txBox="1"/>
          <p:nvPr/>
        </p:nvSpPr>
        <p:spPr>
          <a:xfrm>
            <a:off x="658368" y="2011680"/>
            <a:ext cx="2240280" cy="566928"/>
          </a:xfrm>
          <a:prstGeom prst="rect">
            <a:avLst/>
          </a:prstGeom>
          <a:noFill/>
          <a:ln/>
        </p:spPr>
        <p:txBody>
          <a:bodyPr wrap="square" lIns="0" tIns="0" rIns="0" bIns="0" rtlCol="0" anchor="ctr"/>
          <a:lstStyle/>
          <a:p>
            <a:pPr marL="0" indent="0">
              <a:buNone/>
            </a:pPr>
            <a:r>
              <a:rPr lang="en-US" sz="4000" b="1" dirty="0">
                <a:solidFill>
                  <a:srgbClr val="C4621D"/>
                </a:solidFill>
                <a:latin typeface="Calibri" pitchFamily="34" charset="0"/>
                <a:ea typeface="Calibri" pitchFamily="34" charset="-122"/>
                <a:cs typeface="Calibri" pitchFamily="34" charset="-120"/>
              </a:rPr>
              <a:t>60</a:t>
            </a:r>
            <a:r>
              <a:rPr lang="en-US" sz="1300" b="1" dirty="0">
                <a:solidFill>
                  <a:srgbClr val="231F20"/>
                </a:solidFill>
                <a:latin typeface="Calibri" pitchFamily="34" charset="0"/>
                <a:ea typeface="Calibri" pitchFamily="34" charset="-122"/>
                <a:cs typeface="Calibri" pitchFamily="34" charset="-120"/>
              </a:rPr>
              <a:t> jours</a:t>
            </a:r>
            <a:endParaRPr lang="en-US" sz="4000" dirty="0"/>
          </a:p>
        </p:txBody>
      </p:sp>
      <p:sp>
        <p:nvSpPr>
          <p:cNvPr id="14" name="Text 11"/>
          <p:cNvSpPr txBox="1"/>
          <p:nvPr/>
        </p:nvSpPr>
        <p:spPr>
          <a:xfrm>
            <a:off x="658368"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Chaque jeton est valable 60 jours ; il faut ensuite en générer un nouveau.</a:t>
            </a:r>
            <a:endParaRPr lang="en-US" sz="1000" dirty="0"/>
          </a:p>
        </p:txBody>
      </p:sp>
      <p:sp>
        <p:nvSpPr>
          <p:cNvPr id="15" name="Shape 12"/>
          <p:cNvSpPr/>
          <p:nvPr/>
        </p:nvSpPr>
        <p:spPr>
          <a:xfrm>
            <a:off x="3282696" y="1298448"/>
            <a:ext cx="2587752" cy="1874520"/>
          </a:xfrm>
          <a:prstGeom prst="roundRect">
            <a:avLst>
              <a:gd name="adj" fmla="val 3902"/>
            </a:avLst>
          </a:prstGeom>
          <a:solidFill>
            <a:srgbClr val="F4F8F5"/>
          </a:solidFill>
          <a:ln w="9525">
            <a:solidFill>
              <a:srgbClr val="D3E2D7"/>
            </a:solidFill>
            <a:prstDash val="solid"/>
          </a:ln>
        </p:spPr>
      </p:sp>
      <p:sp>
        <p:nvSpPr>
          <p:cNvPr id="16" name="Shape 13"/>
          <p:cNvSpPr/>
          <p:nvPr/>
        </p:nvSpPr>
        <p:spPr>
          <a:xfrm>
            <a:off x="3483864" y="1481328"/>
            <a:ext cx="457200" cy="457200"/>
          </a:xfrm>
          <a:prstGeom prst="ellipse">
            <a:avLst/>
          </a:prstGeom>
          <a:solidFill>
            <a:srgbClr val="0E5A2E">
              <a:alpha val="20000"/>
            </a:srgbClr>
          </a:solidFill>
          <a:ln/>
        </p:spPr>
      </p:sp>
      <p:pic>
        <p:nvPicPr>
          <p:cNvPr id="17" name="Image 1" descr="/home/claude/work/ntl/icons/key_g2.png"/>
          <p:cNvPicPr>
            <a:picLocks noChangeAspect="1"/>
          </p:cNvPicPr>
          <p:nvPr/>
        </p:nvPicPr>
        <p:blipFill>
          <a:blip r:embed="rId4"/>
          <a:stretch>
            <a:fillRect/>
          </a:stretch>
        </p:blipFill>
        <p:spPr>
          <a:xfrm>
            <a:off x="3607308" y="1604772"/>
            <a:ext cx="210312" cy="210312"/>
          </a:xfrm>
          <a:prstGeom prst="rect">
            <a:avLst/>
          </a:prstGeom>
        </p:spPr>
      </p:pic>
      <p:sp>
        <p:nvSpPr>
          <p:cNvPr id="18" name="Text 14"/>
          <p:cNvSpPr txBox="1"/>
          <p:nvPr/>
        </p:nvSpPr>
        <p:spPr>
          <a:xfrm>
            <a:off x="3483864" y="2011680"/>
            <a:ext cx="2240280" cy="566928"/>
          </a:xfrm>
          <a:prstGeom prst="rect">
            <a:avLst/>
          </a:prstGeom>
          <a:noFill/>
          <a:ln/>
        </p:spPr>
        <p:txBody>
          <a:bodyPr wrap="square" lIns="0" tIns="0" rIns="0" bIns="0" rtlCol="0" anchor="ctr"/>
          <a:lstStyle/>
          <a:p>
            <a:pPr marL="0" indent="0">
              <a:buNone/>
            </a:pPr>
            <a:r>
              <a:rPr lang="en-US" sz="4000" b="1" dirty="0">
                <a:solidFill>
                  <a:srgbClr val="0E5A2E"/>
                </a:solidFill>
                <a:latin typeface="Calibri" pitchFamily="34" charset="0"/>
                <a:ea typeface="Calibri" pitchFamily="34" charset="-122"/>
                <a:cs typeface="Calibri" pitchFamily="34" charset="-120"/>
              </a:rPr>
              <a:t>2</a:t>
            </a:r>
            <a:r>
              <a:rPr lang="en-US" sz="1300" b="1" dirty="0">
                <a:solidFill>
                  <a:srgbClr val="231F20"/>
                </a:solidFill>
                <a:latin typeface="Calibri" pitchFamily="34" charset="0"/>
                <a:ea typeface="Calibri" pitchFamily="34" charset="-122"/>
                <a:cs typeface="Calibri" pitchFamily="34" charset="-120"/>
              </a:rPr>
              <a:t> jetons max</a:t>
            </a:r>
            <a:endParaRPr lang="en-US" sz="4000" dirty="0"/>
          </a:p>
        </p:txBody>
      </p:sp>
      <p:sp>
        <p:nvSpPr>
          <p:cNvPr id="19" name="Text 15"/>
          <p:cNvSpPr txBox="1"/>
          <p:nvPr/>
        </p:nvSpPr>
        <p:spPr>
          <a:xfrm>
            <a:off x="3483864"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Deux jetons valides au plus par utilisateur. Supprimez-en un pour en créer un autre.</a:t>
            </a:r>
            <a:endParaRPr lang="en-US" sz="1000" dirty="0"/>
          </a:p>
        </p:txBody>
      </p:sp>
      <p:sp>
        <p:nvSpPr>
          <p:cNvPr id="20" name="Shape 16"/>
          <p:cNvSpPr/>
          <p:nvPr/>
        </p:nvSpPr>
        <p:spPr>
          <a:xfrm>
            <a:off x="6108192" y="1298448"/>
            <a:ext cx="2587752" cy="1874520"/>
          </a:xfrm>
          <a:prstGeom prst="roundRect">
            <a:avLst>
              <a:gd name="adj" fmla="val 3902"/>
            </a:avLst>
          </a:prstGeom>
          <a:solidFill>
            <a:srgbClr val="F4F8F5"/>
          </a:solidFill>
          <a:ln w="9525">
            <a:solidFill>
              <a:srgbClr val="D3E2D7"/>
            </a:solidFill>
            <a:prstDash val="solid"/>
          </a:ln>
        </p:spPr>
      </p:sp>
      <p:sp>
        <p:nvSpPr>
          <p:cNvPr id="21" name="Shape 17"/>
          <p:cNvSpPr/>
          <p:nvPr/>
        </p:nvSpPr>
        <p:spPr>
          <a:xfrm>
            <a:off x="6309360" y="1481328"/>
            <a:ext cx="457200" cy="457200"/>
          </a:xfrm>
          <a:prstGeom prst="ellipse">
            <a:avLst/>
          </a:prstGeom>
          <a:solidFill>
            <a:srgbClr val="0E7C86">
              <a:alpha val="20000"/>
            </a:srgbClr>
          </a:solidFill>
          <a:ln/>
        </p:spPr>
      </p:sp>
      <p:pic>
        <p:nvPicPr>
          <p:cNvPr id="22" name="Image 2" descr="/home/claude/work/ntl/icons/terminal_teal.png"/>
          <p:cNvPicPr>
            <a:picLocks noChangeAspect="1"/>
          </p:cNvPicPr>
          <p:nvPr/>
        </p:nvPicPr>
        <p:blipFill>
          <a:blip r:embed="rId5"/>
          <a:stretch>
            <a:fillRect/>
          </a:stretch>
        </p:blipFill>
        <p:spPr>
          <a:xfrm>
            <a:off x="6432804" y="1604772"/>
            <a:ext cx="210312" cy="210312"/>
          </a:xfrm>
          <a:prstGeom prst="rect">
            <a:avLst/>
          </a:prstGeom>
        </p:spPr>
      </p:pic>
      <p:sp>
        <p:nvSpPr>
          <p:cNvPr id="23" name="Text 18"/>
          <p:cNvSpPr txBox="1"/>
          <p:nvPr/>
        </p:nvSpPr>
        <p:spPr>
          <a:xfrm>
            <a:off x="6309360" y="2011680"/>
            <a:ext cx="2240280" cy="566928"/>
          </a:xfrm>
          <a:prstGeom prst="rect">
            <a:avLst/>
          </a:prstGeom>
          <a:noFill/>
          <a:ln/>
        </p:spPr>
        <p:txBody>
          <a:bodyPr wrap="square" lIns="0" tIns="0" rIns="0" bIns="0" rtlCol="0" anchor="ctr"/>
          <a:lstStyle/>
          <a:p>
            <a:pPr marL="0" indent="0">
              <a:buNone/>
            </a:pPr>
            <a:r>
              <a:rPr lang="en-US" sz="4000" b="1" dirty="0">
                <a:solidFill>
                  <a:srgbClr val="0E7C86"/>
                </a:solidFill>
                <a:latin typeface="Calibri" pitchFamily="34" charset="0"/>
                <a:ea typeface="Calibri" pitchFamily="34" charset="-122"/>
                <a:cs typeface="Calibri" pitchFamily="34" charset="-120"/>
              </a:rPr>
              <a:t>1</a:t>
            </a:r>
            <a:r>
              <a:rPr lang="en-US" sz="1300" b="1" dirty="0">
                <a:solidFill>
                  <a:srgbClr val="231F20"/>
                </a:solidFill>
                <a:latin typeface="Calibri" pitchFamily="34" charset="0"/>
                <a:ea typeface="Calibri" pitchFamily="34" charset="-122"/>
                <a:cs typeface="Calibri" pitchFamily="34" charset="-120"/>
              </a:rPr>
              <a:t> en-tête</a:t>
            </a:r>
            <a:endParaRPr lang="en-US" sz="4000" dirty="0"/>
          </a:p>
        </p:txBody>
      </p:sp>
      <p:sp>
        <p:nvSpPr>
          <p:cNvPr id="24" name="Text 19"/>
          <p:cNvSpPr txBox="1"/>
          <p:nvPr/>
        </p:nvSpPr>
        <p:spPr>
          <a:xfrm>
            <a:off x="6309360" y="2606040"/>
            <a:ext cx="2240280" cy="50292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Envoyé avec chaque requête : Authorization: Bearer &lt;jeton&gt;.</a:t>
            </a:r>
            <a:endParaRPr lang="en-US" sz="1000" dirty="0"/>
          </a:p>
        </p:txBody>
      </p:sp>
      <p:sp>
        <p:nvSpPr>
          <p:cNvPr id="25" name="Shape 20"/>
          <p:cNvSpPr/>
          <p:nvPr/>
        </p:nvSpPr>
        <p:spPr>
          <a:xfrm>
            <a:off x="457200" y="3383280"/>
            <a:ext cx="8229600" cy="502920"/>
          </a:xfrm>
          <a:prstGeom prst="roundRect">
            <a:avLst>
              <a:gd name="adj" fmla="val 14545"/>
            </a:avLst>
          </a:prstGeom>
          <a:solidFill>
            <a:srgbClr val="D49A00">
              <a:alpha val="13000"/>
            </a:srgbClr>
          </a:solidFill>
          <a:ln w="12700">
            <a:solidFill>
              <a:srgbClr val="D49A00"/>
            </a:solidFill>
            <a:prstDash val="solid"/>
          </a:ln>
        </p:spPr>
      </p:sp>
      <p:pic>
        <p:nvPicPr>
          <p:cNvPr id="26" name="Image 3" descr="/home/claude/work/ntl/icons/warn_gold.png"/>
          <p:cNvPicPr>
            <a:picLocks noChangeAspect="1"/>
          </p:cNvPicPr>
          <p:nvPr/>
        </p:nvPicPr>
        <p:blipFill>
          <a:blip r:embed="rId6"/>
          <a:stretch>
            <a:fillRect/>
          </a:stretch>
        </p:blipFill>
        <p:spPr>
          <a:xfrm>
            <a:off x="612648" y="3497580"/>
            <a:ext cx="274320" cy="274320"/>
          </a:xfrm>
          <a:prstGeom prst="rect">
            <a:avLst/>
          </a:prstGeom>
        </p:spPr>
      </p:pic>
      <p:sp>
        <p:nvSpPr>
          <p:cNvPr id="27" name="Text 21"/>
          <p:cNvSpPr txBox="1"/>
          <p:nvPr/>
        </p:nvSpPr>
        <p:spPr>
          <a:xfrm>
            <a:off x="1024128" y="3383280"/>
            <a:ext cx="7516368"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Traitez le jeton comme un mot de passe : jamais dans un notebook partagé, une diapositive ou un dépôt GitHub. Utilisez une variable d’environnement.</a:t>
            </a:r>
            <a:endParaRPr lang="en-US" sz="1050" dirty="0"/>
          </a:p>
        </p:txBody>
      </p:sp>
      <p:sp>
        <p:nvSpPr>
          <p:cNvPr id="28" name="Text 22"/>
          <p:cNvSpPr txBox="1"/>
          <p:nvPr/>
        </p:nvSpPr>
        <p:spPr>
          <a:xfrm>
            <a:off x="457200" y="4526280"/>
            <a:ext cx="8229600" cy="182880"/>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Sources : documentation Earthdata Login, « User tokens » ; LAADS DAAC, « Download files using EDL tokens ».</a:t>
            </a:r>
            <a:endParaRPr lang="en-US" sz="850" dirty="0"/>
          </a:p>
        </p:txBody>
      </p:sp>
      <p:sp>
        <p:nvSpPr>
          <p:cNvPr id="29"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TESTER ET UTILISER</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Stocker le jeton, le tester, télécharger Black Marble</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B83B2E"/>
          </a:solidFill>
          <a:ln/>
        </p:spPr>
      </p:sp>
      <p:sp>
        <p:nvSpPr>
          <p:cNvPr id="10" name="Shape 8"/>
          <p:cNvSpPr/>
          <p:nvPr/>
        </p:nvSpPr>
        <p:spPr>
          <a:xfrm>
            <a:off x="457200" y="1280160"/>
            <a:ext cx="4023360" cy="1417320"/>
          </a:xfrm>
          <a:prstGeom prst="roundRect">
            <a:avLst>
              <a:gd name="adj" fmla="val 3871"/>
            </a:avLst>
          </a:prstGeom>
          <a:solidFill>
            <a:srgbClr val="10261A"/>
          </a:solidFill>
          <a:ln/>
        </p:spPr>
      </p:sp>
      <p:sp>
        <p:nvSpPr>
          <p:cNvPr id="11" name="Text 9"/>
          <p:cNvSpPr txBox="1"/>
          <p:nvPr/>
        </p:nvSpPr>
        <p:spPr>
          <a:xfrm>
            <a:off x="640080" y="137160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LE STOCKER DANS UNE VARIABLE D’ENVIRONNEMENT</a:t>
            </a:r>
            <a:endParaRPr lang="en-US" sz="900" dirty="0"/>
          </a:p>
        </p:txBody>
      </p:sp>
      <p:sp>
        <p:nvSpPr>
          <p:cNvPr id="12" name="Text 10"/>
          <p:cNvSpPr txBox="1"/>
          <p:nvPr/>
        </p:nvSpPr>
        <p:spPr>
          <a:xfrm>
            <a:off x="640080" y="1609344"/>
            <a:ext cx="3657600" cy="99669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Terminal macOS / Linux</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export BLACKMARBLE_TOKEN="eyJ0eXAi..."</a:t>
            </a:r>
            <a:endParaRPr lang="en-US" sz="850" dirty="0"/>
          </a:p>
          <a:p>
            <a:pPr marL="0" indent="0">
              <a:buNone/>
            </a:pPr>
            <a:r>
              <a:rPr lang="en-US" sz="850" dirty="0">
                <a:solidFill>
                  <a:srgbClr val="8FB59A"/>
                </a:solidFill>
                <a:latin typeface="Courier New" pitchFamily="34" charset="0"/>
                <a:ea typeface="Courier New" pitchFamily="34" charset="-122"/>
                <a:cs typeface="Courier New" pitchFamily="34" charset="-120"/>
              </a:rPr>
              <a:t># Windows PowerShell</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$env:BLACKMARBLE_TOKEN="eyJ0eXAi..."</a:t>
            </a:r>
            <a:endParaRPr lang="en-US" sz="850" dirty="0"/>
          </a:p>
          <a:p>
            <a:pPr marL="0" indent="0">
              <a:buNone/>
            </a:pPr>
            <a:r>
              <a:rPr lang="en-US" sz="850" dirty="0">
                <a:solidFill>
                  <a:srgbClr val="8FB59A"/>
                </a:solidFill>
                <a:latin typeface="Courier New" pitchFamily="34" charset="0"/>
                <a:ea typeface="Courier New" pitchFamily="34" charset="-122"/>
                <a:cs typeface="Courier New" pitchFamily="34" charset="-120"/>
              </a:rPr>
              <a:t># Google Colab / Jupyter</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os</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os.environ["BLACKMARBLE_TOKEN"] = "eyJ..."</a:t>
            </a:r>
            <a:endParaRPr lang="en-US" sz="850" dirty="0"/>
          </a:p>
        </p:txBody>
      </p:sp>
      <p:sp>
        <p:nvSpPr>
          <p:cNvPr id="13" name="Shape 11"/>
          <p:cNvSpPr/>
          <p:nvPr/>
        </p:nvSpPr>
        <p:spPr>
          <a:xfrm>
            <a:off x="457200" y="2834640"/>
            <a:ext cx="4023360" cy="1554480"/>
          </a:xfrm>
          <a:prstGeom prst="roundRect">
            <a:avLst>
              <a:gd name="adj" fmla="val 3529"/>
            </a:avLst>
          </a:prstGeom>
          <a:solidFill>
            <a:srgbClr val="10261A"/>
          </a:solidFill>
          <a:ln/>
        </p:spPr>
      </p:sp>
      <p:sp>
        <p:nvSpPr>
          <p:cNvPr id="14" name="Text 12"/>
          <p:cNvSpPr txBox="1"/>
          <p:nvPr/>
        </p:nvSpPr>
        <p:spPr>
          <a:xfrm>
            <a:off x="640080" y="292608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LE TESTER : TÉLÉCHARGER LE README DE LAADS</a:t>
            </a:r>
            <a:endParaRPr lang="en-US" sz="900" dirty="0"/>
          </a:p>
        </p:txBody>
      </p:sp>
      <p:sp>
        <p:nvSpPr>
          <p:cNvPr id="15" name="Text 13"/>
          <p:cNvSpPr txBox="1"/>
          <p:nvPr/>
        </p:nvSpPr>
        <p:spPr>
          <a:xfrm>
            <a:off x="640080" y="3163824"/>
            <a:ext cx="3657600" cy="113385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Doit renvoyer un fichier texte, pas une page HTML</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curl -L -b session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-H "Authorization: Bearer $BLACKMARBLE_TOKEN"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-o README.txt \</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https://ladsweb.modaps.eosdis.nasa.gov/archive/README</a:t>
            </a:r>
            <a:endParaRPr lang="en-US" sz="850" dirty="0"/>
          </a:p>
        </p:txBody>
      </p:sp>
      <p:sp>
        <p:nvSpPr>
          <p:cNvPr id="16" name="Shape 14"/>
          <p:cNvSpPr/>
          <p:nvPr/>
        </p:nvSpPr>
        <p:spPr>
          <a:xfrm>
            <a:off x="4663440" y="1280160"/>
            <a:ext cx="4023360" cy="3108960"/>
          </a:xfrm>
          <a:prstGeom prst="roundRect">
            <a:avLst>
              <a:gd name="adj" fmla="val 1765"/>
            </a:avLst>
          </a:prstGeom>
          <a:solidFill>
            <a:srgbClr val="10261A"/>
          </a:solidFill>
          <a:ln/>
        </p:spPr>
      </p:sp>
      <p:sp>
        <p:nvSpPr>
          <p:cNvPr id="17" name="Text 15"/>
          <p:cNvSpPr txBox="1"/>
          <p:nvPr/>
        </p:nvSpPr>
        <p:spPr>
          <a:xfrm>
            <a:off x="4846320" y="1371600"/>
            <a:ext cx="3657600" cy="182880"/>
          </a:xfrm>
          <a:prstGeom prst="rect">
            <a:avLst/>
          </a:prstGeom>
          <a:noFill/>
          <a:ln/>
        </p:spPr>
        <p:txBody>
          <a:bodyPr wrap="square" lIns="0" tIns="0" rIns="0" bIns="0" rtlCol="0" anchor="t"/>
          <a:lstStyle/>
          <a:p>
            <a:pPr marL="0" indent="0">
              <a:buNone/>
            </a:pPr>
            <a:r>
              <a:rPr lang="en-US" sz="900" b="1" kern="0" spc="100" dirty="0">
                <a:solidFill>
                  <a:srgbClr val="9CCB9F"/>
                </a:solidFill>
                <a:latin typeface="Calibri" pitchFamily="34" charset="0"/>
                <a:ea typeface="Calibri" pitchFamily="34" charset="-122"/>
                <a:cs typeface="Calibri" pitchFamily="34" charset="-120"/>
              </a:rPr>
              <a:t>L’UTILISER : LUMIÈRES NOCTURNES MENSUELLES</a:t>
            </a:r>
            <a:endParaRPr lang="en-US" sz="900" dirty="0"/>
          </a:p>
        </p:txBody>
      </p:sp>
      <p:sp>
        <p:nvSpPr>
          <p:cNvPr id="18" name="Text 16"/>
          <p:cNvSpPr txBox="1"/>
          <p:nvPr/>
        </p:nvSpPr>
        <p:spPr>
          <a:xfrm>
            <a:off x="4846320" y="1609344"/>
            <a:ext cx="3657600" cy="2688336"/>
          </a:xfrm>
          <a:prstGeom prst="rect">
            <a:avLst/>
          </a:prstGeom>
          <a:noFill/>
          <a:ln/>
        </p:spPr>
        <p:txBody>
          <a:bodyPr wrap="square" lIns="0" tIns="0" rIns="0" bIns="0" rtlCol="0" anchor="t"/>
          <a:lstStyle/>
          <a:p>
            <a:pPr marL="0" indent="0">
              <a:buNone/>
            </a:pPr>
            <a:r>
              <a:rPr lang="en-US" sz="850" dirty="0">
                <a:solidFill>
                  <a:srgbClr val="8FB59A"/>
                </a:solidFill>
                <a:latin typeface="Courier New" pitchFamily="34" charset="0"/>
                <a:ea typeface="Courier New" pitchFamily="34" charset="-122"/>
                <a:cs typeface="Courier New" pitchFamily="34" charset="-120"/>
              </a:rPr>
              <a:t># pip install blackmarblepy</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geopandas as gpd</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import pandas as pd</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from blackmarble import BlackMarble, Product</a:t>
            </a:r>
            <a:endParaRPr lang="en-US" sz="850" dirty="0"/>
          </a:p>
          <a:p>
            <a:pPr marL="0" indent="0">
              <a:buNone/>
            </a:pP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gdf = gpd.read_file("mon_pays.geojson")</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bm = BlackMarble()  # lit BLACKMARBLE_TOKEN</a:t>
            </a:r>
            <a:endParaRPr lang="en-US" sz="850" dirty="0"/>
          </a:p>
          <a:p>
            <a:pPr marL="0" indent="0">
              <a:buNone/>
            </a:pP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ntl = bm.raster(</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gdf,</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product_id=Product.VNP46A3,  # mensuel</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date_range=pd.date_range(</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        "2025-01-01", "2025-12-01", freq="MS"),</a:t>
            </a:r>
            <a:endParaRPr lang="en-US" sz="850" dirty="0"/>
          </a:p>
          <a:p>
            <a:pPr marL="0" indent="0">
              <a:buNone/>
            </a:pPr>
            <a:r>
              <a:rPr lang="en-US" sz="850" dirty="0">
                <a:solidFill>
                  <a:srgbClr val="E8F4EB"/>
                </a:solidFill>
                <a:latin typeface="Courier New" pitchFamily="34" charset="0"/>
                <a:ea typeface="Courier New" pitchFamily="34" charset="-122"/>
                <a:cs typeface="Courier New" pitchFamily="34" charset="-120"/>
              </a:rPr>
              <a:t>)</a:t>
            </a:r>
            <a:endParaRPr lang="en-US" sz="850" dirty="0"/>
          </a:p>
        </p:txBody>
      </p:sp>
      <p:sp>
        <p:nvSpPr>
          <p:cNvPr id="19" name="Text 17"/>
          <p:cNvSpPr txBox="1"/>
          <p:nvPr/>
        </p:nvSpPr>
        <p:spPr>
          <a:xfrm>
            <a:off x="457200" y="4480560"/>
            <a:ext cx="8229600" cy="201168"/>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Sous R : blackmarbler::bm_raster(roi_sf, product_id = "VNP46A3", date = "2025-01-01", bearer = token).</a:t>
            </a:r>
            <a:endParaRPr lang="en-US" sz="850" dirty="0"/>
          </a:p>
        </p:txBody>
      </p:sp>
      <p:sp>
        <p:nvSpPr>
          <p:cNvPr id="25"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06 · TESTER ET UTILISER</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 le jeton ne fonctionne pas</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B83B2E"/>
          </a:solidFill>
          <a:ln/>
        </p:spPr>
      </p:sp>
      <p:sp>
        <p:nvSpPr>
          <p:cNvPr id="10" name="Shape 8"/>
          <p:cNvSpPr/>
          <p:nvPr/>
        </p:nvSpPr>
        <p:spPr>
          <a:xfrm>
            <a:off x="457200" y="1298448"/>
            <a:ext cx="3977640" cy="1417320"/>
          </a:xfrm>
          <a:prstGeom prst="roundRect">
            <a:avLst>
              <a:gd name="adj" fmla="val 5161"/>
            </a:avLst>
          </a:prstGeom>
          <a:solidFill>
            <a:srgbClr val="F4F8F5"/>
          </a:solidFill>
          <a:ln w="9525">
            <a:solidFill>
              <a:srgbClr val="D3E2D7"/>
            </a:solidFill>
            <a:prstDash val="solid"/>
          </a:ln>
        </p:spPr>
      </p:sp>
      <p:sp>
        <p:nvSpPr>
          <p:cNvPr id="11" name="Shape 9"/>
          <p:cNvSpPr/>
          <p:nvPr/>
        </p:nvSpPr>
        <p:spPr>
          <a:xfrm>
            <a:off x="685800" y="1554480"/>
            <a:ext cx="530352" cy="530352"/>
          </a:xfrm>
          <a:prstGeom prst="ellipse">
            <a:avLst/>
          </a:prstGeom>
          <a:solidFill>
            <a:srgbClr val="B83B2E">
              <a:alpha val="20000"/>
            </a:srgbClr>
          </a:solidFill>
          <a:ln/>
        </p:spPr>
      </p:sp>
      <p:pic>
        <p:nvPicPr>
          <p:cNvPr id="12" name="Image 0" descr="/home/claude/work/ntl/icons/lock_red.png"/>
          <p:cNvPicPr>
            <a:picLocks noChangeAspect="1"/>
          </p:cNvPicPr>
          <p:nvPr/>
        </p:nvPicPr>
        <p:blipFill>
          <a:blip r:embed="rId3"/>
          <a:stretch>
            <a:fillRect/>
          </a:stretch>
        </p:blipFill>
        <p:spPr>
          <a:xfrm>
            <a:off x="828995" y="1697675"/>
            <a:ext cx="243962" cy="243962"/>
          </a:xfrm>
          <a:prstGeom prst="rect">
            <a:avLst/>
          </a:prstGeom>
        </p:spPr>
      </p:pic>
      <p:sp>
        <p:nvSpPr>
          <p:cNvPr id="13" name="Text 10"/>
          <p:cNvSpPr txBox="1"/>
          <p:nvPr/>
        </p:nvSpPr>
        <p:spPr>
          <a:xfrm>
            <a:off x="1417320" y="1481328"/>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Accès refusé (401)</a:t>
            </a:r>
            <a:endParaRPr lang="en-US" sz="1300" dirty="0"/>
          </a:p>
        </p:txBody>
      </p:sp>
      <p:sp>
        <p:nvSpPr>
          <p:cNvPr id="14" name="Text 11"/>
          <p:cNvSpPr txBox="1"/>
          <p:nvPr/>
        </p:nvSpPr>
        <p:spPr>
          <a:xfrm>
            <a:off x="1417320" y="1847088"/>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Vérifiez les champs du profil (organisation, type, domaine d’étude), les EULA MERIS et Sentinel-3 et l’autorisation LAADS.</a:t>
            </a:r>
            <a:endParaRPr lang="en-US" sz="1000" dirty="0"/>
          </a:p>
        </p:txBody>
      </p:sp>
      <p:sp>
        <p:nvSpPr>
          <p:cNvPr id="15" name="Shape 12"/>
          <p:cNvSpPr/>
          <p:nvPr/>
        </p:nvSpPr>
        <p:spPr>
          <a:xfrm>
            <a:off x="4709160" y="1298448"/>
            <a:ext cx="3977640" cy="1417320"/>
          </a:xfrm>
          <a:prstGeom prst="roundRect">
            <a:avLst>
              <a:gd name="adj" fmla="val 5161"/>
            </a:avLst>
          </a:prstGeom>
          <a:solidFill>
            <a:srgbClr val="F4F8F5"/>
          </a:solidFill>
          <a:ln w="9525">
            <a:solidFill>
              <a:srgbClr val="D3E2D7"/>
            </a:solidFill>
            <a:prstDash val="solid"/>
          </a:ln>
        </p:spPr>
      </p:sp>
      <p:sp>
        <p:nvSpPr>
          <p:cNvPr id="16" name="Shape 13"/>
          <p:cNvSpPr/>
          <p:nvPr/>
        </p:nvSpPr>
        <p:spPr>
          <a:xfrm>
            <a:off x="4937760" y="1554480"/>
            <a:ext cx="530352" cy="530352"/>
          </a:xfrm>
          <a:prstGeom prst="ellipse">
            <a:avLst/>
          </a:prstGeom>
          <a:solidFill>
            <a:srgbClr val="C4621D">
              <a:alpha val="20000"/>
            </a:srgbClr>
          </a:solidFill>
          <a:ln/>
        </p:spPr>
      </p:sp>
      <p:pic>
        <p:nvPicPr>
          <p:cNvPr id="17" name="Image 1" descr="/home/claude/work/ntl/icons/clock_orange.png"/>
          <p:cNvPicPr>
            <a:picLocks noChangeAspect="1"/>
          </p:cNvPicPr>
          <p:nvPr/>
        </p:nvPicPr>
        <p:blipFill>
          <a:blip r:embed="rId4"/>
          <a:stretch>
            <a:fillRect/>
          </a:stretch>
        </p:blipFill>
        <p:spPr>
          <a:xfrm>
            <a:off x="5080955" y="1697675"/>
            <a:ext cx="243962" cy="243962"/>
          </a:xfrm>
          <a:prstGeom prst="rect">
            <a:avLst/>
          </a:prstGeom>
        </p:spPr>
      </p:pic>
      <p:sp>
        <p:nvSpPr>
          <p:cNvPr id="18" name="Text 14"/>
          <p:cNvSpPr txBox="1"/>
          <p:nvPr/>
        </p:nvSpPr>
        <p:spPr>
          <a:xfrm>
            <a:off x="5669280" y="1481328"/>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Jeton expiré</a:t>
            </a:r>
            <a:endParaRPr lang="en-US" sz="1300" dirty="0"/>
          </a:p>
        </p:txBody>
      </p:sp>
      <p:sp>
        <p:nvSpPr>
          <p:cNvPr id="19" name="Text 15"/>
          <p:cNvSpPr txBox="1"/>
          <p:nvPr/>
        </p:nvSpPr>
        <p:spPr>
          <a:xfrm>
            <a:off x="5669280" y="1847088"/>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Un jeton dure 60 jours. Générez-en un nouveau et mettez à jour BLACKMARBLE_TOKEN.</a:t>
            </a:r>
            <a:endParaRPr lang="en-US" sz="1000" dirty="0"/>
          </a:p>
        </p:txBody>
      </p:sp>
      <p:sp>
        <p:nvSpPr>
          <p:cNvPr id="20" name="Shape 16"/>
          <p:cNvSpPr/>
          <p:nvPr/>
        </p:nvSpPr>
        <p:spPr>
          <a:xfrm>
            <a:off x="457200" y="2871216"/>
            <a:ext cx="3977640" cy="1417320"/>
          </a:xfrm>
          <a:prstGeom prst="roundRect">
            <a:avLst>
              <a:gd name="adj" fmla="val 5161"/>
            </a:avLst>
          </a:prstGeom>
          <a:solidFill>
            <a:srgbClr val="F4F8F5"/>
          </a:solidFill>
          <a:ln w="9525">
            <a:solidFill>
              <a:srgbClr val="D3E2D7"/>
            </a:solidFill>
            <a:prstDash val="solid"/>
          </a:ln>
        </p:spPr>
      </p:sp>
      <p:sp>
        <p:nvSpPr>
          <p:cNvPr id="21" name="Shape 17"/>
          <p:cNvSpPr/>
          <p:nvPr/>
        </p:nvSpPr>
        <p:spPr>
          <a:xfrm>
            <a:off x="685800" y="3127248"/>
            <a:ext cx="530352" cy="530352"/>
          </a:xfrm>
          <a:prstGeom prst="ellipse">
            <a:avLst/>
          </a:prstGeom>
          <a:solidFill>
            <a:srgbClr val="0E7C86">
              <a:alpha val="20000"/>
            </a:srgbClr>
          </a:solidFill>
          <a:ln/>
        </p:spPr>
      </p:sp>
      <p:pic>
        <p:nvPicPr>
          <p:cNvPr id="22" name="Image 2" descr="/home/claude/work/ntl/icons/trash_teal.png"/>
          <p:cNvPicPr>
            <a:picLocks noChangeAspect="1"/>
          </p:cNvPicPr>
          <p:nvPr/>
        </p:nvPicPr>
        <p:blipFill>
          <a:blip r:embed="rId5"/>
          <a:stretch>
            <a:fillRect/>
          </a:stretch>
        </p:blipFill>
        <p:spPr>
          <a:xfrm>
            <a:off x="828995" y="3270443"/>
            <a:ext cx="243962" cy="243962"/>
          </a:xfrm>
          <a:prstGeom prst="rect">
            <a:avLst/>
          </a:prstGeom>
        </p:spPr>
      </p:pic>
      <p:sp>
        <p:nvSpPr>
          <p:cNvPr id="23" name="Text 18"/>
          <p:cNvSpPr txBox="1"/>
          <p:nvPr/>
        </p:nvSpPr>
        <p:spPr>
          <a:xfrm>
            <a:off x="1417320" y="3054096"/>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Impossible de créer un jeton</a:t>
            </a:r>
            <a:endParaRPr lang="en-US" sz="1300" dirty="0"/>
          </a:p>
        </p:txBody>
      </p:sp>
      <p:sp>
        <p:nvSpPr>
          <p:cNvPr id="24" name="Text 19"/>
          <p:cNvSpPr txBox="1"/>
          <p:nvPr/>
        </p:nvSpPr>
        <p:spPr>
          <a:xfrm>
            <a:off x="1417320" y="3419856"/>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Vous avez déjà deux jetons valides. Supprimez-en un avec ✕, puis recommencez.</a:t>
            </a:r>
            <a:endParaRPr lang="en-US" sz="1000" dirty="0"/>
          </a:p>
        </p:txBody>
      </p:sp>
      <p:sp>
        <p:nvSpPr>
          <p:cNvPr id="25" name="Shape 20"/>
          <p:cNvSpPr/>
          <p:nvPr/>
        </p:nvSpPr>
        <p:spPr>
          <a:xfrm>
            <a:off x="4709160" y="2871216"/>
            <a:ext cx="3977640" cy="1417320"/>
          </a:xfrm>
          <a:prstGeom prst="roundRect">
            <a:avLst>
              <a:gd name="adj" fmla="val 5161"/>
            </a:avLst>
          </a:prstGeom>
          <a:solidFill>
            <a:srgbClr val="F4F8F5"/>
          </a:solidFill>
          <a:ln w="9525">
            <a:solidFill>
              <a:srgbClr val="D3E2D7"/>
            </a:solidFill>
            <a:prstDash val="solid"/>
          </a:ln>
        </p:spPr>
      </p:sp>
      <p:sp>
        <p:nvSpPr>
          <p:cNvPr id="26" name="Shape 21"/>
          <p:cNvSpPr/>
          <p:nvPr/>
        </p:nvSpPr>
        <p:spPr>
          <a:xfrm>
            <a:off x="4937760" y="3127248"/>
            <a:ext cx="530352" cy="530352"/>
          </a:xfrm>
          <a:prstGeom prst="ellipse">
            <a:avLst/>
          </a:prstGeom>
          <a:solidFill>
            <a:srgbClr val="0E5A2E">
              <a:alpha val="20000"/>
            </a:srgbClr>
          </a:solidFill>
          <a:ln/>
        </p:spPr>
      </p:sp>
      <p:pic>
        <p:nvPicPr>
          <p:cNvPr id="27" name="Image 3" descr="/home/claude/work/ntl/icons/terminal_g2.png"/>
          <p:cNvPicPr>
            <a:picLocks noChangeAspect="1"/>
          </p:cNvPicPr>
          <p:nvPr/>
        </p:nvPicPr>
        <p:blipFill>
          <a:blip r:embed="rId6"/>
          <a:stretch>
            <a:fillRect/>
          </a:stretch>
        </p:blipFill>
        <p:spPr>
          <a:xfrm>
            <a:off x="5080955" y="3270443"/>
            <a:ext cx="243962" cy="243962"/>
          </a:xfrm>
          <a:prstGeom prst="rect">
            <a:avLst/>
          </a:prstGeom>
        </p:spPr>
      </p:pic>
      <p:sp>
        <p:nvSpPr>
          <p:cNvPr id="28" name="Text 22"/>
          <p:cNvSpPr txBox="1"/>
          <p:nvPr/>
        </p:nvSpPr>
        <p:spPr>
          <a:xfrm>
            <a:off x="5669280" y="3054096"/>
            <a:ext cx="2834640" cy="34747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curl renvoie une page HTML</a:t>
            </a:r>
            <a:endParaRPr lang="en-US" sz="1300" dirty="0"/>
          </a:p>
        </p:txBody>
      </p:sp>
      <p:sp>
        <p:nvSpPr>
          <p:cNvPr id="29" name="Text 23"/>
          <p:cNvSpPr txBox="1"/>
          <p:nvPr/>
        </p:nvSpPr>
        <p:spPr>
          <a:xfrm>
            <a:off x="5669280" y="3419856"/>
            <a:ext cx="2834640" cy="777240"/>
          </a:xfrm>
          <a:prstGeom prst="rect">
            <a:avLst/>
          </a:prstGeom>
          <a:noFill/>
          <a:ln/>
        </p:spPr>
        <p:txBody>
          <a:bodyPr wrap="square" lIns="0" tIns="0" rIns="0" bIns="0" rtlCol="0" anchor="t"/>
          <a:lstStyle/>
          <a:p>
            <a:pPr marL="0" indent="0">
              <a:buNone/>
            </a:pPr>
            <a:r>
              <a:rPr lang="en-US" sz="1000" dirty="0">
                <a:solidFill>
                  <a:srgbClr val="5A6660"/>
                </a:solidFill>
                <a:latin typeface="Calibri" pitchFamily="34" charset="0"/>
                <a:ea typeface="Calibri" pitchFamily="34" charset="-122"/>
                <a:cs typeface="Calibri" pitchFamily="34" charset="-120"/>
              </a:rPr>
              <a:t>Gardez -L et -b session, utilisez -H (pas -h) et un espace après « Bearer ».</a:t>
            </a:r>
            <a:endParaRPr lang="en-US" sz="1000" dirty="0"/>
          </a:p>
        </p:txBody>
      </p:sp>
      <p:sp>
        <p:nvSpPr>
          <p:cNvPr id="30"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6949440" cy="228600"/>
          </a:xfrm>
          <a:prstGeom prst="rect">
            <a:avLst/>
          </a:prstGeom>
          <a:noFill/>
          <a:ln/>
        </p:spPr>
        <p:txBody>
          <a:bodyPr wrap="square" lIns="0" tIns="0" rIns="0" bIns="0" rtlCol="0" anchor="ctr"/>
          <a:lstStyle/>
          <a:p>
            <a:pPr marL="0" indent="0">
              <a:buNone/>
            </a:pPr>
            <a:r>
              <a:rPr lang="en-US" sz="1050" b="1" kern="0" spc="300" dirty="0">
                <a:solidFill>
                  <a:srgbClr val="0E5A2E"/>
                </a:solidFill>
                <a:latin typeface="Calibri" pitchFamily="34" charset="0"/>
                <a:ea typeface="Calibri" pitchFamily="34" charset="-122"/>
                <a:cs typeface="Calibri" pitchFamily="34" charset="-120"/>
              </a:rPr>
              <a:t>SOURCES</a:t>
            </a:r>
            <a:endParaRPr lang="en-US" sz="1050" dirty="0"/>
          </a:p>
        </p:txBody>
      </p:sp>
      <p:sp>
        <p:nvSpPr>
          <p:cNvPr id="3" name="Text 1"/>
          <p:cNvSpPr txBox="1"/>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et références</a:t>
            </a:r>
            <a:endParaRPr lang="en-US" sz="2800" dirty="0"/>
          </a:p>
        </p:txBody>
      </p:sp>
      <p:sp>
        <p:nvSpPr>
          <p:cNvPr id="4" name="Shape 2"/>
          <p:cNvSpPr/>
          <p:nvPr/>
        </p:nvSpPr>
        <p:spPr>
          <a:xfrm>
            <a:off x="7717536" y="338328"/>
            <a:ext cx="100584" cy="100584"/>
          </a:xfrm>
          <a:prstGeom prst="ellipse">
            <a:avLst/>
          </a:prstGeom>
          <a:solidFill>
            <a:srgbClr val="D3E2D7"/>
          </a:solidFill>
          <a:ln/>
        </p:spPr>
      </p:sp>
      <p:sp>
        <p:nvSpPr>
          <p:cNvPr id="5" name="Shape 3"/>
          <p:cNvSpPr/>
          <p:nvPr/>
        </p:nvSpPr>
        <p:spPr>
          <a:xfrm>
            <a:off x="7891272" y="338328"/>
            <a:ext cx="100584" cy="100584"/>
          </a:xfrm>
          <a:prstGeom prst="ellipse">
            <a:avLst/>
          </a:prstGeom>
          <a:solidFill>
            <a:srgbClr val="D3E2D7"/>
          </a:solidFill>
          <a:ln/>
        </p:spPr>
      </p:sp>
      <p:sp>
        <p:nvSpPr>
          <p:cNvPr id="6" name="Shape 4"/>
          <p:cNvSpPr/>
          <p:nvPr/>
        </p:nvSpPr>
        <p:spPr>
          <a:xfrm>
            <a:off x="8065008" y="338328"/>
            <a:ext cx="100584" cy="100584"/>
          </a:xfrm>
          <a:prstGeom prst="ellipse">
            <a:avLst/>
          </a:prstGeom>
          <a:solidFill>
            <a:srgbClr val="D3E2D7"/>
          </a:solidFill>
          <a:ln/>
        </p:spPr>
      </p:sp>
      <p:sp>
        <p:nvSpPr>
          <p:cNvPr id="7" name="Shape 5"/>
          <p:cNvSpPr/>
          <p:nvPr/>
        </p:nvSpPr>
        <p:spPr>
          <a:xfrm>
            <a:off x="8238744" y="338328"/>
            <a:ext cx="100584" cy="100584"/>
          </a:xfrm>
          <a:prstGeom prst="ellipse">
            <a:avLst/>
          </a:prstGeom>
          <a:solidFill>
            <a:srgbClr val="D3E2D7"/>
          </a:solidFill>
          <a:ln/>
        </p:spPr>
      </p:sp>
      <p:sp>
        <p:nvSpPr>
          <p:cNvPr id="8" name="Shape 6"/>
          <p:cNvSpPr/>
          <p:nvPr/>
        </p:nvSpPr>
        <p:spPr>
          <a:xfrm>
            <a:off x="8412480" y="338328"/>
            <a:ext cx="100584" cy="100584"/>
          </a:xfrm>
          <a:prstGeom prst="ellipse">
            <a:avLst/>
          </a:prstGeom>
          <a:solidFill>
            <a:srgbClr val="D3E2D7"/>
          </a:solidFill>
          <a:ln/>
        </p:spPr>
      </p:sp>
      <p:sp>
        <p:nvSpPr>
          <p:cNvPr id="9" name="Shape 7"/>
          <p:cNvSpPr/>
          <p:nvPr/>
        </p:nvSpPr>
        <p:spPr>
          <a:xfrm>
            <a:off x="8586216" y="338328"/>
            <a:ext cx="100584" cy="100584"/>
          </a:xfrm>
          <a:prstGeom prst="ellipse">
            <a:avLst/>
          </a:prstGeom>
          <a:solidFill>
            <a:srgbClr val="D3E2D7"/>
          </a:solidFill>
          <a:ln/>
        </p:spPr>
      </p:sp>
      <p:sp>
        <p:nvSpPr>
          <p:cNvPr id="10" name="Shape 8"/>
          <p:cNvSpPr/>
          <p:nvPr/>
        </p:nvSpPr>
        <p:spPr>
          <a:xfrm>
            <a:off x="457200" y="1298448"/>
            <a:ext cx="8229600" cy="676656"/>
          </a:xfrm>
          <a:prstGeom prst="roundRect">
            <a:avLst>
              <a:gd name="adj" fmla="val 10811"/>
            </a:avLst>
          </a:prstGeom>
          <a:solidFill>
            <a:srgbClr val="F4F8F5"/>
          </a:solidFill>
          <a:ln w="9525">
            <a:solidFill>
              <a:srgbClr val="D3E2D7"/>
            </a:solidFill>
            <a:prstDash val="solid"/>
          </a:ln>
        </p:spPr>
      </p:sp>
      <p:sp>
        <p:nvSpPr>
          <p:cNvPr id="11" name="Shape 9"/>
          <p:cNvSpPr/>
          <p:nvPr/>
        </p:nvSpPr>
        <p:spPr>
          <a:xfrm>
            <a:off x="640080" y="1417320"/>
            <a:ext cx="438912" cy="438912"/>
          </a:xfrm>
          <a:prstGeom prst="ellipse">
            <a:avLst/>
          </a:prstGeom>
          <a:solidFill>
            <a:srgbClr val="0E5A2E">
              <a:alpha val="20000"/>
            </a:srgbClr>
          </a:solidFill>
          <a:ln/>
        </p:spPr>
      </p:sp>
      <p:pic>
        <p:nvPicPr>
          <p:cNvPr id="12" name="Image 0" descr="/home/claude/work/ntl/icons/book_g2.png"/>
          <p:cNvPicPr>
            <a:picLocks noChangeAspect="1"/>
          </p:cNvPicPr>
          <p:nvPr/>
        </p:nvPicPr>
        <p:blipFill>
          <a:blip r:embed="rId3"/>
          <a:stretch>
            <a:fillRect/>
          </a:stretch>
        </p:blipFill>
        <p:spPr>
          <a:xfrm>
            <a:off x="758586" y="1535826"/>
            <a:ext cx="201900" cy="201900"/>
          </a:xfrm>
          <a:prstGeom prst="rect">
            <a:avLst/>
          </a:prstGeom>
        </p:spPr>
      </p:pic>
      <p:sp>
        <p:nvSpPr>
          <p:cNvPr id="13" name="Text 10"/>
          <p:cNvSpPr txBox="1"/>
          <p:nvPr/>
        </p:nvSpPr>
        <p:spPr>
          <a:xfrm>
            <a:off x="1280160" y="1298448"/>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Earthdata Login — User tokens</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urs.earthdata.nasa.gov/documentation/for_users/user_token</a:t>
            </a:r>
            <a:endParaRPr lang="en-US" sz="1150" dirty="0"/>
          </a:p>
        </p:txBody>
      </p:sp>
      <p:sp>
        <p:nvSpPr>
          <p:cNvPr id="14" name="Shape 11"/>
          <p:cNvSpPr/>
          <p:nvPr/>
        </p:nvSpPr>
        <p:spPr>
          <a:xfrm>
            <a:off x="457200" y="2084832"/>
            <a:ext cx="8229600" cy="676656"/>
          </a:xfrm>
          <a:prstGeom prst="roundRect">
            <a:avLst>
              <a:gd name="adj" fmla="val 10811"/>
            </a:avLst>
          </a:prstGeom>
          <a:solidFill>
            <a:srgbClr val="F4F8F5"/>
          </a:solidFill>
          <a:ln w="9525">
            <a:solidFill>
              <a:srgbClr val="D3E2D7"/>
            </a:solidFill>
            <a:prstDash val="solid"/>
          </a:ln>
        </p:spPr>
      </p:sp>
      <p:sp>
        <p:nvSpPr>
          <p:cNvPr id="15" name="Shape 12"/>
          <p:cNvSpPr/>
          <p:nvPr/>
        </p:nvSpPr>
        <p:spPr>
          <a:xfrm>
            <a:off x="640080" y="2203704"/>
            <a:ext cx="438912" cy="438912"/>
          </a:xfrm>
          <a:prstGeom prst="ellipse">
            <a:avLst/>
          </a:prstGeom>
          <a:solidFill>
            <a:srgbClr val="0E5A2E">
              <a:alpha val="20000"/>
            </a:srgbClr>
          </a:solidFill>
          <a:ln/>
        </p:spPr>
      </p:sp>
      <p:pic>
        <p:nvPicPr>
          <p:cNvPr id="16" name="Image 1" descr="/home/claude/work/ntl/icons/book_g2.png"/>
          <p:cNvPicPr>
            <a:picLocks noChangeAspect="1"/>
          </p:cNvPicPr>
          <p:nvPr/>
        </p:nvPicPr>
        <p:blipFill>
          <a:blip r:embed="rId3"/>
          <a:stretch>
            <a:fillRect/>
          </a:stretch>
        </p:blipFill>
        <p:spPr>
          <a:xfrm>
            <a:off x="758586" y="2322210"/>
            <a:ext cx="201900" cy="201900"/>
          </a:xfrm>
          <a:prstGeom prst="rect">
            <a:avLst/>
          </a:prstGeom>
        </p:spPr>
      </p:pic>
      <p:sp>
        <p:nvSpPr>
          <p:cNvPr id="17" name="Text 13"/>
          <p:cNvSpPr txBox="1"/>
          <p:nvPr/>
        </p:nvSpPr>
        <p:spPr>
          <a:xfrm>
            <a:off x="1280160" y="2084832"/>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LAADS DAAC — Download files using EDL tokens</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ladsweb.modaps.eosdis.nasa.gov/learn/download-files-using-edl-tokens/</a:t>
            </a:r>
            <a:endParaRPr lang="en-US" sz="1150" dirty="0"/>
          </a:p>
        </p:txBody>
      </p:sp>
      <p:sp>
        <p:nvSpPr>
          <p:cNvPr id="18" name="Shape 14"/>
          <p:cNvSpPr/>
          <p:nvPr/>
        </p:nvSpPr>
        <p:spPr>
          <a:xfrm>
            <a:off x="457200" y="2871216"/>
            <a:ext cx="8229600" cy="676656"/>
          </a:xfrm>
          <a:prstGeom prst="roundRect">
            <a:avLst>
              <a:gd name="adj" fmla="val 10811"/>
            </a:avLst>
          </a:prstGeom>
          <a:solidFill>
            <a:srgbClr val="F4F8F5"/>
          </a:solidFill>
          <a:ln w="9525">
            <a:solidFill>
              <a:srgbClr val="D3E2D7"/>
            </a:solidFill>
            <a:prstDash val="solid"/>
          </a:ln>
        </p:spPr>
      </p:sp>
      <p:sp>
        <p:nvSpPr>
          <p:cNvPr id="19" name="Shape 15"/>
          <p:cNvSpPr/>
          <p:nvPr/>
        </p:nvSpPr>
        <p:spPr>
          <a:xfrm>
            <a:off x="640080" y="2990088"/>
            <a:ext cx="438912" cy="438912"/>
          </a:xfrm>
          <a:prstGeom prst="ellipse">
            <a:avLst/>
          </a:prstGeom>
          <a:solidFill>
            <a:srgbClr val="0E5A2E">
              <a:alpha val="20000"/>
            </a:srgbClr>
          </a:solidFill>
          <a:ln/>
        </p:spPr>
      </p:sp>
      <p:pic>
        <p:nvPicPr>
          <p:cNvPr id="20" name="Image 2" descr="/home/claude/work/ntl/icons/book_g2.png"/>
          <p:cNvPicPr>
            <a:picLocks noChangeAspect="1"/>
          </p:cNvPicPr>
          <p:nvPr/>
        </p:nvPicPr>
        <p:blipFill>
          <a:blip r:embed="rId3"/>
          <a:stretch>
            <a:fillRect/>
          </a:stretch>
        </p:blipFill>
        <p:spPr>
          <a:xfrm>
            <a:off x="758586" y="3108594"/>
            <a:ext cx="201900" cy="201900"/>
          </a:xfrm>
          <a:prstGeom prst="rect">
            <a:avLst/>
          </a:prstGeom>
        </p:spPr>
      </p:pic>
      <p:sp>
        <p:nvSpPr>
          <p:cNvPr id="21" name="Text 16"/>
          <p:cNvSpPr txBox="1"/>
          <p:nvPr/>
        </p:nvSpPr>
        <p:spPr>
          <a:xfrm>
            <a:off x="1280160" y="2871216"/>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Banque mondiale — blackmarbler (R) : étapes du jeton NASA</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worldbank.github.io/blackmarbler/</a:t>
            </a:r>
            <a:endParaRPr lang="en-US" sz="1150" dirty="0"/>
          </a:p>
        </p:txBody>
      </p:sp>
      <p:sp>
        <p:nvSpPr>
          <p:cNvPr id="22" name="Shape 17"/>
          <p:cNvSpPr/>
          <p:nvPr/>
        </p:nvSpPr>
        <p:spPr>
          <a:xfrm>
            <a:off x="457200" y="3657600"/>
            <a:ext cx="8229600" cy="676656"/>
          </a:xfrm>
          <a:prstGeom prst="roundRect">
            <a:avLst>
              <a:gd name="adj" fmla="val 10811"/>
            </a:avLst>
          </a:prstGeom>
          <a:solidFill>
            <a:srgbClr val="F4F8F5"/>
          </a:solidFill>
          <a:ln w="9525">
            <a:solidFill>
              <a:srgbClr val="D3E2D7"/>
            </a:solidFill>
            <a:prstDash val="solid"/>
          </a:ln>
        </p:spPr>
      </p:sp>
      <p:sp>
        <p:nvSpPr>
          <p:cNvPr id="23" name="Shape 18"/>
          <p:cNvSpPr/>
          <p:nvPr/>
        </p:nvSpPr>
        <p:spPr>
          <a:xfrm>
            <a:off x="640080" y="3776472"/>
            <a:ext cx="438912" cy="438912"/>
          </a:xfrm>
          <a:prstGeom prst="ellipse">
            <a:avLst/>
          </a:prstGeom>
          <a:solidFill>
            <a:srgbClr val="0E5A2E">
              <a:alpha val="20000"/>
            </a:srgbClr>
          </a:solidFill>
          <a:ln/>
        </p:spPr>
      </p:sp>
      <p:pic>
        <p:nvPicPr>
          <p:cNvPr id="24" name="Image 3" descr="/home/claude/work/ntl/icons/python_g2.png"/>
          <p:cNvPicPr>
            <a:picLocks noChangeAspect="1"/>
          </p:cNvPicPr>
          <p:nvPr/>
        </p:nvPicPr>
        <p:blipFill>
          <a:blip r:embed="rId7"/>
          <a:stretch>
            <a:fillRect/>
          </a:stretch>
        </p:blipFill>
        <p:spPr>
          <a:xfrm>
            <a:off x="758586" y="3894978"/>
            <a:ext cx="201900" cy="201900"/>
          </a:xfrm>
          <a:prstGeom prst="rect">
            <a:avLst/>
          </a:prstGeom>
        </p:spPr>
      </p:pic>
      <p:sp>
        <p:nvSpPr>
          <p:cNvPr id="25" name="Text 19"/>
          <p:cNvSpPr txBox="1"/>
          <p:nvPr/>
        </p:nvSpPr>
        <p:spPr>
          <a:xfrm>
            <a:off x="1280160" y="3657600"/>
            <a:ext cx="7223760" cy="67665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blackmarblepy (paquet Python)</a:t>
            </a:r>
            <a:endParaRPr lang="en-US" sz="1150" dirty="0"/>
          </a:p>
          <a:p>
            <a:pPr marL="0" indent="0">
              <a:buNone/>
            </a:pPr>
            <a:r>
              <a:rPr lang="en-US" sz="950" u="sng" dirty="0">
                <a:solidFill>
                  <a:srgbClr val="5A6660"/>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pypi.org/project/blackmarblepy/</a:t>
            </a:r>
            <a:endParaRPr lang="en-US" sz="1150" dirty="0"/>
          </a:p>
        </p:txBody>
      </p:sp>
      <p:sp>
        <p:nvSpPr>
          <p:cNvPr id="26" name="Text 20"/>
          <p:cNvSpPr txBox="1"/>
          <p:nvPr/>
        </p:nvSpPr>
        <p:spPr>
          <a:xfrm>
            <a:off x="457200" y="4480560"/>
            <a:ext cx="8229600" cy="201168"/>
          </a:xfrm>
          <a:prstGeom prst="rect">
            <a:avLst/>
          </a:prstGeom>
          <a:noFill/>
          <a:ln/>
        </p:spPr>
        <p:txBody>
          <a:bodyPr wrap="square" lIns="0" tIns="0" rIns="0" bIns="0" rtlCol="0" anchor="t"/>
          <a:lstStyle/>
          <a:p>
            <a:pPr marL="0" indent="0">
              <a:buNone/>
            </a:pPr>
            <a:r>
              <a:rPr lang="en-US" sz="850" i="1" dirty="0">
                <a:solidFill>
                  <a:srgbClr val="5A6660"/>
                </a:solidFill>
                <a:latin typeface="Calibri" pitchFamily="34" charset="0"/>
                <a:ea typeface="Calibri" pitchFamily="34" charset="-122"/>
                <a:cs typeface="Calibri" pitchFamily="34" charset="-120"/>
              </a:rPr>
              <a:t>Procédure vérifiée en octobre 2026 ; les interfaces de la NASA peuvent évoluer.</a:t>
            </a:r>
            <a:endParaRPr lang="en-US" sz="850" dirty="0"/>
          </a:p>
        </p:txBody>
      </p:sp>
      <p:sp>
        <p:nvSpPr>
          <p:cNvPr id="27" name="Slide Number Placeholder 0"/>
          <p:cNvSpPr>
            <a:spLocks noGrp="1"/>
          </p:cNvSpPr>
          <p:nvPr>
            <p:ph type="sldNum" sz="quarter" idx="4294967295"/>
          </p:nvPr>
        </p:nvSpPr>
        <p:spPr>
          <a:xfrm>
            <a:off x="7772400" y="4800600"/>
            <a:ext cx="9144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68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60120"/>
            <a:ext cx="8046720" cy="274320"/>
          </a:xfrm>
          <a:prstGeom prst="rect">
            <a:avLst/>
          </a:prstGeom>
          <a:noFill/>
          <a:ln/>
        </p:spPr>
        <p:txBody>
          <a:bodyPr wrap="square" lIns="0" tIns="0" rIns="0" bIns="0" rtlCol="0" anchor="ctr"/>
          <a:lstStyle/>
          <a:p>
            <a:pPr marL="0" indent="0">
              <a:buNone/>
            </a:pPr>
            <a:r>
              <a:rPr lang="en-US" sz="1100" b="1" kern="0" spc="300" dirty="0">
                <a:solidFill>
                  <a:srgbClr val="F5C242"/>
                </a:solidFill>
                <a:latin typeface="Calibri" pitchFamily="34" charset="0"/>
                <a:ea typeface="Calibri" pitchFamily="34" charset="-122"/>
                <a:cs typeface="Calibri" pitchFamily="34" charset="-120"/>
              </a:rPr>
              <a:t>VOUS ÊTES PRÊTS</a:t>
            </a:r>
            <a:endParaRPr lang="en-US" sz="1100" dirty="0"/>
          </a:p>
        </p:txBody>
      </p:sp>
      <p:sp>
        <p:nvSpPr>
          <p:cNvPr id="3" name="Text 1"/>
          <p:cNvSpPr txBox="1"/>
          <p:nvPr/>
        </p:nvSpPr>
        <p:spPr>
          <a:xfrm>
            <a:off x="548640" y="1325880"/>
            <a:ext cx="8046720" cy="9144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Votre jeton est prêt pour Black Marble</a:t>
            </a:r>
            <a:endParaRPr lang="en-US" sz="3400" dirty="0"/>
          </a:p>
        </p:txBody>
      </p:sp>
      <p:sp>
        <p:nvSpPr>
          <p:cNvPr id="4" name="Text 2"/>
          <p:cNvSpPr txBox="1"/>
          <p:nvPr/>
        </p:nvSpPr>
        <p:spPr>
          <a:xfrm>
            <a:off x="548640" y="2423160"/>
            <a:ext cx="6766560" cy="777240"/>
          </a:xfrm>
          <a:prstGeom prst="rect">
            <a:avLst/>
          </a:prstGeom>
          <a:noFill/>
          <a:ln/>
        </p:spPr>
        <p:txBody>
          <a:bodyPr wrap="square" lIns="0" tIns="0" rIns="0" bIns="0" rtlCol="0" anchor="t"/>
          <a:lstStyle/>
          <a:p>
            <a:pPr marL="0" indent="0">
              <a:buNone/>
            </a:pPr>
            <a:r>
              <a:rPr lang="en-US" sz="1600" i="1" dirty="0">
                <a:solidFill>
                  <a:srgbClr val="E8F4EB"/>
                </a:solidFill>
                <a:latin typeface="Calibri" pitchFamily="34" charset="0"/>
                <a:ea typeface="Calibri" pitchFamily="34" charset="-122"/>
                <a:cs typeface="Calibri" pitchFamily="34" charset="-120"/>
              </a:rPr>
              <a:t>Gardez-le à portée de main pour vos analyses de lumières nocturnes (BAD · DI4A).</a:t>
            </a:r>
            <a:endParaRPr lang="en-US" sz="1600" dirty="0"/>
          </a:p>
        </p:txBody>
      </p:sp>
      <p:pic>
        <p:nvPicPr>
          <p:cNvPr id="5" name="Image 0" descr="Logo Banque africaine de développement – Data Innovation for Africa (DI4A)"/>
          <p:cNvPicPr>
            <a:picLocks noChangeAspect="1"/>
          </p:cNvPicPr>
          <p:nvPr/>
        </p:nvPicPr>
        <p:blipFill>
          <a:blip r:embed="rId3"/>
          <a:stretch>
            <a:fillRect/>
          </a:stretch>
        </p:blipFill>
        <p:spPr>
          <a:xfrm>
            <a:off x="548640" y="4069080"/>
            <a:ext cx="1980311" cy="566928"/>
          </a:xfrm>
          <a:prstGeom prst="rect">
            <a:avLst/>
          </a:prstGeom>
        </p:spPr>
      </p:pic>
      <p:sp>
        <p:nvSpPr>
          <p:cNvPr id="6" name="Text 3"/>
          <p:cNvSpPr txBox="1"/>
          <p:nvPr/>
        </p:nvSpPr>
        <p:spPr>
          <a:xfrm>
            <a:off x="2757551" y="4069080"/>
            <a:ext cx="5669280" cy="566928"/>
          </a:xfrm>
          <a:prstGeom prst="rect">
            <a:avLst/>
          </a:prstGeom>
          <a:noFill/>
          <a:ln/>
        </p:spPr>
        <p:txBody>
          <a:bodyPr wrap="square" lIns="0" tIns="0" rIns="0" bIns="0" rtlCol="0" anchor="ctr"/>
          <a:lstStyle/>
          <a:p>
            <a:pPr marL="0" indent="0">
              <a:spcBef>
                <a:spcPts val="200"/>
              </a:spcBef>
              <a:buNone/>
            </a:pPr>
            <a:r>
              <a:rPr lang="en-US" sz="1100" b="1" dirty="0">
                <a:solidFill>
                  <a:srgbClr val="FFFFFF"/>
                </a:solidFill>
                <a:latin typeface="Calibri" pitchFamily="34" charset="0"/>
                <a:ea typeface="Calibri" pitchFamily="34" charset="-122"/>
                <a:cs typeface="Calibri" pitchFamily="34" charset="-120"/>
              </a:rPr>
              <a:t>Banque africaine de développement (BAD)</a:t>
            </a:r>
            <a:endParaRPr lang="en-US" sz="1100" dirty="0"/>
          </a:p>
          <a:p>
            <a:pPr marL="0" indent="0">
              <a:spcBef>
                <a:spcPts val="200"/>
              </a:spcBef>
              <a:buNone/>
            </a:pPr>
            <a:r>
              <a:rPr lang="en-US" sz="1100" dirty="0">
                <a:solidFill>
                  <a:srgbClr val="E8F4EB"/>
                </a:solidFill>
                <a:latin typeface="Calibri" pitchFamily="34" charset="0"/>
                <a:ea typeface="Calibri" pitchFamily="34" charset="-122"/>
                <a:cs typeface="Calibri" pitchFamily="34" charset="-120"/>
              </a:rPr>
              <a:t>Data Innovation for Africa (DI4A)</a:t>
            </a:r>
            <a:endParaRPr lang="en-US" sz="1100" dirty="0"/>
          </a:p>
        </p:txBody>
      </p:sp>
    </p:spTree>
  </p:cSld>
  <p:clrMapOvr>
    <a:masterClrMapping/>
  </p:clrMapOvr>
</p:sld>
</file>

<file path=ppt/theme/theme1.xml><?xml version="1.0" encoding="utf-8"?>
<a:theme xmlns:a="http://schemas.openxmlformats.org/drawingml/2006/main" name="AfDB DI4A">
  <a:themeElements>
    <a:clrScheme name="AfDB DI4A">
      <a:dk1>
        <a:srgbClr val="231F20"/>
      </a:dk1>
      <a:lt1>
        <a:srgbClr val="FFFFFF"/>
      </a:lt1>
      <a:dk2>
        <a:srgbClr val="0E5A2E"/>
      </a:dk2>
      <a:lt2>
        <a:srgbClr val="F4F8F5"/>
      </a:lt2>
      <a:accent1>
        <a:srgbClr val="2C9045"/>
      </a:accent1>
      <a:accent2>
        <a:srgbClr val="0E5A2E"/>
      </a:accent2>
      <a:accent3>
        <a:srgbClr val="0E7C86"/>
      </a:accent3>
      <a:accent4>
        <a:srgbClr val="D49A00"/>
      </a:accent4>
      <a:accent5>
        <a:srgbClr val="C4621D"/>
      </a:accent5>
      <a:accent6>
        <a:srgbClr val="B83B2E"/>
      </a:accent6>
      <a:hlink>
        <a:srgbClr val="2C9045"/>
      </a:hlink>
      <a:folHlink>
        <a:srgbClr val="0E5A2E"/>
      </a:folHlink>
    </a:clrScheme>
    <a:fontScheme name="AfDB DI4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1744</Words>
  <Application>Microsoft Office PowerPoint</Application>
  <PresentationFormat>On-screen Show (16:9)</PresentationFormat>
  <Paragraphs>233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AfDB DI4A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Obtenir un jeton NASA Earthdata pour les lumières nocturnes</dc:title>
  <dc:subject>PptxGenJS Presentation</dc:subject>
  <dc:creator>African Development Bank – Data Innovation for Africa (DI4A)</dc:creator>
  <cp:lastModifiedBy>HADJ TAIEB, MOHAMED ALI</cp:lastModifiedBy>
  <cp:revision>3</cp:revision>
  <dcterms:created xsi:type="dcterms:W3CDTF">2026-10-16T16:12:01Z</dcterms:created>
  <dcterms:modified xsi:type="dcterms:W3CDTF">2026-10-16T16:20:34Z</dcterms:modified>
</cp:coreProperties>
</file>