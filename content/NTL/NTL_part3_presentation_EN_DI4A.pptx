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40ffd7c-186d-19de-24a6-baf6125fb37c}">
          <p14:sldIdLst>
            <p14:sldId id="256"/>
            <p14:sldId id="257"/>
            <p14:sldId id="258"/>
          </p14:sldIdLst>
        </p14:section>
        <p14:section name="A · Why lights" id="{749c79c0-a374-8b99-4658-32a01e231c7e}">
          <p14:sldIdLst>
            <p14:sldId id="259"/>
            <p14:sldId id="260"/>
            <p14:sldId id="261"/>
          </p14:sldIdLst>
        </p14:section>
        <p14:section name="B · Sensors and data" id="{bc3b005a-e071-a92f-1882-4ac139b24265}">
          <p14:sldIdLst>
            <p14:sldId id="262"/>
            <p14:sldId id="263"/>
            <p14:sldId id="264"/>
            <p14:sldId id="265"/>
          </p14:sldIdLst>
        </p14:section>
        <p14:section name="C · Architecture and pipeline" id="{ffa05564-5351-fc2b-fc5b-e589d9954bce}">
          <p14:sldIdLst>
            <p14:sldId id="266"/>
            <p14:sldId id="267"/>
            <p14:sldId id="268"/>
          </p14:sldIdLst>
        </p14:section>
        <p14:section name="D · Preprocessing" id="{420518e8-1642-f5b0-b14c-fa087186c6cd}">
          <p14:sldIdLst>
            <p14:sldId id="269"/>
            <p14:sldId id="270"/>
            <p14:sldId id="271"/>
            <p14:sldId id="272"/>
            <p14:sldId id="273"/>
          </p14:sldIdLst>
        </p14:section>
        <p14:section name="E · Analyses" id="{9ddd99d9-07e2-be3e-8e6f-ef13303f7ef4}">
          <p14:sldIdLst>
            <p14:sldId id="274"/>
            <p14:sldId id="275"/>
            <p14:sldId id="276"/>
            <p14:sldId id="277"/>
            <p14:sldId id="278"/>
            <p14:sldId id="279"/>
            <p14:sldId id="280"/>
            <p14:sldId id="281"/>
            <p14:sldId id="282"/>
            <p14:sldId id="283"/>
            <p14:sldId id="284"/>
            <p14:sldId id="285"/>
            <p14:sldId id="286"/>
          </p14:sldIdLst>
        </p14:section>
        <p14:section name="F · Confidence and publishing" id="{355bbc94-e6a7-780a-7438-df65cc066115}">
          <p14:sldIdLst>
            <p14:sldId id="287"/>
            <p14:sldId id="288"/>
            <p14:sldId id="289"/>
            <p14:sldId id="290"/>
          </p14:sldIdLst>
        </p14:section>
        <p14:section name="G · Wrap-up" id="{7757fd30-c7d1-bf2e-9377-63dd9471fa7f}">
          <p14:sldIdLst>
            <p14:sldId id="291"/>
            <p14:sldId id="292"/>
            <p14:sldId id="293"/>
            <p14:sldId id="294"/>
          </p14:sldIdLst>
        </p14:section>
        <p14:section name="Annexes" id="{7b7e47bd-6c11-6338-c132-85947c0321e4}">
          <p14:sldIdLst>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hands-on session. In parts 1 and 2 we saw how to collect and understand a Black Marble file. Now we move to use: what can we measure about the economy with night-time lights, and how do we do it rigorously and reproducibly? Everything you will see comes from the “part 3” notebook, which starts from a single ISO3 country code and ends with a dashboard published on the web. The image on the right is real: the 2025 Black Marble annual composite for Ghana. You can see Accra, Kumasi and the road corridors. Question for the room: what exactly do you think this image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objectives. First, understand the signal: lights are not GDP, but they bear witness to it. Second, reproduce: the notebook is designed so that one parameter, the ISO3 code, changes the country analysed. Third, interpret: we will see each metric with a simple formula, a graphical intuition and how to read the result. Finally, publish with care: every message produced by the notebook carries a confidence level. That is the common thread of the session. Keep asking yourself: how far can I trust this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flow. We start with the intuition and the literature, then the sensors. Next the pipeline architecture and preprocessing, often the most underestimated part. The core of the session is part E: six families of analyses, each with its economic question, its metric and its pitfall. We finish with confidence and publishing, then a bridge to your own projects. Keep some questions for the end: we will have a few minutes for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intuition is simple: all activity consumes energy, and part of that energy escapes at night as light. The more active an area, the brighter it shines. The map on the left is real: it shows where light increased or decreased in Ghana between 2020 and 2025. The signal's three strengths are homogeneity, spatial detail and timeliness. But careful: these are strengths for complementing official statistics, not replacing them. Question: in your country, which statistic is most lacking at regional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references structure the field. Chen and Nordhaus show that lights are most useful where statistics are weak. Henderson, Storeygard and Weil, the founding paper in economics, find an elasticity of about 0.3: it is an order of magnitude, not a constant. Elvidge and Román describe the products we use. Li et al. provide the harmonised long series. Gibson and co-authors remind us of the limits in rural areas. Key point: the notebook estimates your country's own elasticity, with its confidence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avoiding misinterpretation. The satellite passes around half past one in the morning. It therefore sees urban lighting, industry, ports, corridors. It sees agriculture, daytime trade and the rural informal economy poorly. And it sees light without local activity: gas flares, bush fires. Consequence: the relationship between light and GDP depends on the structure of the economy. Question: what share of your GDP is barely visible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satellite we care about is in polar orbit at about 830 kilometres. Its VIIRS sensor has a special band, the Day/Night Band, able to measure extremely low light levels. It passes every night around half past one, which makes measurements comparable across countries. Products are resampled onto a grid of about 500 metres. The unit is a radiance: nanowatts per square centimetre per steradian. Remember that it is a light intensity, not energy consumed.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sensor generations coexist. DMSP-OLS, from 1992 to 2013, is an uncalibrated military sensor at about one kilometre, which codes light from 0 to 63 and saturates in city centres. VIIRS, since 2012, is calibrated, finer and does not saturate. The real image of the Mekong Delta shows it: on the left VIIRS distinguishes villages, on the right DMSP gives a blur. Black Marble is the corrected daily version of VIIRS. The notebook uses VIIRS for everything, DMSP only for the long series, and checks the junction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images of Chicago. On the left, DMSP in 2013: everything in red is saturated at the maximum value of 63. The profile becomes a plateau: growth in the centre can no longer be seen. On the right, VIIRS in 2016 over the same area: values range from 25 to 280 nanowatts, the urban structure reappears. Blooming still exists with VIIRS but is weaker. For your analyses: prefer VIIRS, and be wary of small administrative units next to large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all the sources used, with their coverage period. The core is VIIRS, monthly and annual. Daily Black Marble is used to zoom in on shocks. DMSP and the harmonised series allow us to go back to 1992, to be read as a trend. GHSL or WorldPop provide population, essential for per-capita reasoning and for the population in the dark. Sentinel-5P adds nitrogen dioxide as a complementary industrial indicator. Finally the World Bank provides real GDP and the electricity access rate for validation. All these data are read in Google Earth Engine, except the World Bank indicators.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full pipeline. You set an ISO3 code and a period. Earth Engine does the heavy computation server-side: we never download imagery, only tables aggregated by administrative unit and by month. These tables are cached. Then come preprocessing, the analyses of sections 4 to 10, the export of static files and publication on GitHub Pages. Four principles: reproducible, lightweight, cached, traceable. The green labels show the notebook section matching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 is organised in four layers. Acquisition talks to Earth Engine and the World Bank API. Preprocessing applies quality rules and manages the cache. Analysis contains the statistical methods: time series, indicators, econometrics, shocks, and an orchestration module. Delivery produces charts, key messages with their confidence, exported files and publication. The notebook embeds all this code: it runs on its own, even opened directly in Colab. The dashboard is a static site, with no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here is the only cell you edit. The ISO3 code determines everything: boundaries, population, GDP, region names. The period starts in 2014, the first full year of monthly VIIRS; if you leave END_YEAR empty, the notebook takes the last full year available. The CUSTOM_EVENTS block lets you add your country's known shocks, which greatly improves the shocks section. All other thresholds, such as the cloud or gas-flare threshold, have documented defaults. Exercise: which event would you add for your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quantities recur everywhere. Radiance is a pixel's measurement. The sum of lights, or SoL, adds up the radiances of all pixels in an administrative unit: it is an activity index, not an amount of energy. Light per capita divides SoL by population and distinguishes a truly active region from one that is merely populous. The real image of Switzerland also shows grey areas: these are unobserved pixels. Golden rule: a missing pixel is not a dark pixel.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Preprocessing turns thousands of images into clean tables. Six rules, each with its rationale. One: clouds; a pixel is kept only if it has at least two cloud-free observations in the month, and a unit-month is kept only if 80% of its pixels are valid. Two: negative values, noise, set to zero. Three: outliers, capped or replaced by the median. Four: unlit background. Five: gas flares, masked with a two-kilometre halo. Six: DMSP saturation. Every threshold is a documented, adjustable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real images of Switzerland in January. On the left, the daily quality flag: huge areas of poor quality, due to clouds and snow. On the right, the number of usable observations in the month: it varies strongly from one area to another. If these pixels were treated as dark, national light would drop artificially in winter. Hence three rules: filter by quality, require minimum coverage, and rescale only when at least 80% of pixels are valid. Question: which months are cloudiest in your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Gas flares shine as brightly as a city, with no local economic activity. The notebook detects them automatically: very bright, nearly uninhabited, not built-up pixels. It turns them into polygons, adds a two-kilometre halo for blooming, and removes them from every year. The simulated figure on the left shows the three steps: raw image, clouds masked, flare removed. On the right, the treatment of outlying spikes: a value above five times the pixel's annual median is replaced by the median. Careful: the mask can also remove an isolated mine or port; check the exported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interpreting anything, read the quality-control table in section 3.4. Six indicators: the number of months observed, cloud-free coverage, the share of unit-months excluded, the share of light removed as gas flares, the population source and DMSP saturation. The values shown here are format examples, not results. The notebook also checks the continuity of the long series at the junction between DMSP and VIIRS. Practical tip: copy this table into any methodological note you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section 4 is exploration: look at the data before computing. First reflex: the logarithmic scale. The simulated figure on the left shows why: in raw radiance almost everything is squashed near zero; on a log scale the distribution becomes readable. The notebook offers an interactive map by year, a before/after map and a table by region. The real map of Ghana shows the typical geography: the capital, the second city, corridors. Exercise: spot a possible artefact by eye on your country's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varies through the year for reasons unrelated to the economy: year-end festivities, reflecting snow, vegetation, night length. To isolate the trend, the notebook applies an STL decomposition to the log of the sum of lights. The observed series, in grey, splits into a trend, a seasonal component and a remainder. The green, seasonally adjusted curve is the one to read. STL is applied to the log because the seasonal amplitude is proportional to the level. Here, on simulated data, we see a dip in 2020 that will reappear in the shocks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real series for Ghana. On the left, the monthly series from 2020 to 2026: despite fluctuations, the trend is readable. On the right, the daily series over three months: it jumps from day to day because of clouds, the moon and viewing angle. That is why the notebook uses each frequency for what it does well: monthly for trends, daily only to date a shock, with a high-quality filter and a seven-day rolling median, and annual for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measure a region's growth we do not use ordinary regression, which is too sensitive to extreme values. The simulated figure shows it: a single outlying year, a fire for example, pulls the least-squares line upwards. The Theil–Sen slope, the median of all slopes between pairs of years, stays faithful to the trend. The Mann–Kendall test tells whether this trend is statistically established. The notebook combines both: a region is classed as growing or declining only if its slope exceeds 1% per year and the test is significant at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ranks regions by their annual growth of light, with confidence intervals. The colours match the three classes. Read the error bars carefully: region 7 has a positive slope but its interval touches zero, so we cannot say it is growing. The notebook also produces a choropleth map of the classes. A lot of stagnation often means a lack of information, not an absence of change. Question: which region of your country do you expect to see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complementary questions. β-convergence: do initially dimly lit regions grow faster? We regress growth on the initial level of light per capita; a negative slope means catching up. σ-convergence: does the dispersion between regions fall over time? And the Herfindahl index measures concentration: the sum of squared shares. The notebook adds the correlation with nitrogen dioxide, an industrial indicator. The interpretation is economic: polarisation around the capital or electrification spreading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question for national accountants: do lights track official GDP? The notebook estimates the elasticity β with three specifications: in levels, in growth rates, and on the long series. The left panel, in levels, shows a very clear relationship, but careful: two rising series always seem correlated. The right panel, in growth rates, is more demanding and more honest. If β stays comparable in both, the relationship is credible. GDP comes from the World Bank API, in constant 2015 dollars.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elasticity is only worth something if the model is sound. The notebook computes robust Newey–West standard errors, because annual residuals are often autocorrelated, and three classic diagnostics: Durbin–Watson, Breusch–Pagan and Jarque–Bera. Above all, it measures out-of-sample prediction: each year is predicted by a model that has not seen it. The simulated figure compares official growth with growth estimated from lights; the 2020 shock is captured well, but not perfectly. The gold diamond is an estimate for the not-yet-published year, with its interval.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operational uses. The nowcast: estimating GDP growth for the year the World Bank has not yet published, from light growth, with a prediction interval. Experimental regional GDP: allocating national GDP across regions pro rata to light. The parameter γ is an assumption: with γ equal to 0.5, dimly lit regions get more weight, which partly corrects the under-representation of agriculture. The simulated figure shows this choice strongly changes the first region's share. These figures are experimental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detects shocks. Two tools. An anomaly is an isolated month whose STL remainder is extreme; we use a robust z-score, based on the median and the median absolute deviation, and also require a deviation of at least 5%. A structural break is a lasting change: the series is split into linear segments, with a penalty that avoids cutting too often. Breaks are matched against the event catalogue. A break with no explanation must be documented before being interpreted: it may be a sensor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an event is identified, we measure it. We compute the mean level of the twelve preceding months, on the seasonally adjusted series. The trough is the maximum deviation from that level. Recovery is the number of months needed to return to it. The simulated figure shows a trough of about 13% and recovery within a few months. The notebook also checks that the trough exceeds ordinary variability: otherwise confidence is low. For precise dating we use daily Black Marble, with a base-100 index and a rolling median. Question: which recent shock would you like to measure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measures spatial distribution. The Lorenz curve ranks units from least to most lit per capita and accumulates population on the x-axis and light on the y-axis. The further the curve from the diagonal, the higher the inequality. The Gini is the ratio of areas A over A plus B. The Theil index has the advantage of decomposing: how much inequality comes from gaps between regions, and how much from within regions? The notebook also computes a bootstrap interval to know whether the Gini has changed significantly.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very telling indicator for decision-makers: how many people live in inhabited areas with no detectable light? We cross the population map with the light map. But the result depends heavily on the chosen threshold: the simulated figure shows three thresholds, and the gap between them is considerable. That is why the notebook publishes a range, not a single figure. We then compare with the World Bank access rate, from household surveys. Careful: a connected household that consumes little is invisible from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publishing approach. Every result receives a confidence level, computed by explicit rules. The tree on the left is the one for the elasticity: fewer than eight years is low; significant at 1%, a narrow interval, high R² and at least 15 years is high; the same conditions with fewer than 15 years is medium; significant at 10% is medium; otherwise low. On the right, what each level implies for publication. A low message is a lead, not a conclusion. The notebook always shows the reason next to the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rules for publishing. Always an interval. An explicit experimental-statistics status for regional GDP and the nowcast. Traceability, thanks to the manifest that records parameters and versions. Publicly documented thresholds. And above all, lights complement official statistics, they do not replace them. The notebook also generates recommendations tailored to the results: for example, if the link between lights and GDP is weak, it explicitly recommends not releasing a GDP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output is an eight-page web dashboard: overview with indicators and key messages, interactive map with a time slider and before/after view, trends, regions, shocks, inequality, methods and limitations, and downloadable data. It is a static site: no server, no database. Files are exported in section 11. Several countries can coexist on the same site. The mock-up shown uses dummy values; the real site displays your country's results with their confidence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takes a single function call. It checks the token, creates the public repository if it does not exist, pushes the site to the gh-pages branch, enables GitHub Pages, waits for the build and displays the address. Re-running updates the site without duplicating the repository. Security is essential: use a narrowly scoped token with a short expiry, stored as a secret. The code never displays it and redacts error messages. And before sharing your notebook, clear the output of the publishing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limitations, which the notebook also exports to the dashboard's methodology page. Stating them does not weaken your results: it makes them credible. The most important for a statistician are the first, what lights actually measure, and the sixth: the elasticity is estimated on few points, it is unstable and not causal. For electricity access, always recall that a connected low-consumption household is invisible. Finally, the administrative boundaries used may differ from your country's official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answer the session's title: here is what lights have made it possible to measure. A seasonally adjusted activity trend. The geography of growth, region by region. Convergence or polarisation. A GDP signal, with its limits. The impact of shocks, dated and quantified. And spatial inequality, including a proxy for electricity access. The main message fits in one sentence: one pipeline, one parameter, and for every result a value, an interval and a confidence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four project ideas that can be done directly with this notebook. A quarterly leading indicator of regional activity. The assessment of a known shock in your country. A map of dark areas to compare with connection registers. Or an experimental regional GDP compared with your regional accounts. For each project, ask yourself the framing questions: the economic question, the user, the validation data, the targeted confidence level and the limitations to state. The simplest way to start: change the ISO3 code and run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Four messages to remember. Lights are a witness of activity, not GDP. Always preprocess before interpreting. Every figure is published with an interval and a confidence level. And a simple ISO3 code is enough to produce a public, traceable dashboard. I now suggest a few minutes of questions. The annexes that follow contain the glossary of acronyms, the references and a one-page cheat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of the acronyms used in the presentation and in the notebook. Each acronym is spelled out at first use in the slides; this table is a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Glossary of the acronyms used in the presentation and in the notebook. Each acronym is spelled out at first use in the slides; this table is a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references cited and sources of all images. Teaching figures are built on simulated data; real images come from World Bank public repositories under open licences.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cheat sheet: for each metric, its formula and its reading rule. You can print it and keep it next to the notebook during your group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19088"/>
            <a:ext cx="7498080" cy="274320"/>
          </a:xfrm>
          <a:prstGeom prst="rect">
            <a:avLst/>
          </a:prstGeom>
          <a:noFill/>
          <a:ln/>
        </p:spPr>
        <p:txBody>
          <a:bodyPr wrap="square" lIns="0" tIns="0" rIns="0" bIns="0" rtlCol="0" anchor="ctr"/>
          <a:lstStyle/>
          <a:p>
            <a:pPr indent="0" marL="0">
              <a:buNone/>
            </a:pPr>
            <a:r>
              <a:rPr lang="en-US" sz="1000" dirty="0">
                <a:solidFill>
                  <a:srgbClr val="6B7280"/>
                </a:solidFill>
              </a:rPr>
              <a:t>Night-time lights in practice · African Development Bank – Data Innovation for Africa (DI4A)</a:t>
            </a:r>
            <a:endParaRPr lang="en-US" sz="1000" dirty="0"/>
          </a:p>
        </p:txBody>
      </p:sp>
      <p:sp>
        <p:nvSpPr>
          <p:cNvPr id="3" name="Text 1"/>
          <p:cNvSpPr txBox="1"/>
          <p:nvPr/>
        </p:nvSpPr>
        <p:spPr>
          <a:xfrm>
            <a:off x="8138160" y="6419088"/>
            <a:ext cx="3017520" cy="274320"/>
          </a:xfrm>
          <a:prstGeom prst="rect">
            <a:avLst/>
          </a:prstGeom>
          <a:noFill/>
          <a:ln/>
        </p:spPr>
        <p:txBody>
          <a:bodyPr wrap="square" lIns="0" tIns="0" rIns="0" bIns="0" rtlCol="0" anchor="ctr"/>
          <a:lstStyle/>
          <a:p>
            <a:pPr algn="r" indent="0" marL="0">
              <a:buNone/>
            </a:pPr>
            <a:r>
              <a:rPr lang="en-US" sz="1000" b="1" dirty="0">
                <a:solidFill>
                  <a:srgbClr val="1F4E8C"/>
                </a:solidFill>
              </a:rPr>
              <a:t>AfDB · DI4A</a:t>
            </a:r>
            <a:endParaRPr lang="en-US" sz="1000" dirty="0"/>
          </a:p>
        </p:txBody>
      </p:sp>
      <p:sp>
        <p:nvSpPr>
          <p:cNvPr id="4" name="Text 2"/>
          <p:cNvSpPr/>
          <p:nvPr>
            <p:ph idx="102" type="body" hasCustomPrompt="1"/>
          </p:nvPr>
        </p:nvSpPr>
        <p:spPr>
          <a:xfrm>
            <a:off x="548640" y="292608"/>
            <a:ext cx="10058400" cy="292608"/>
          </a:xfrm>
          <a:prstGeom prst="rect">
            <a:avLst/>
          </a:prstGeom>
          <a:noFill/>
          <a:ln/>
        </p:spPr>
        <p:txBody>
          <a:bodyPr wrap="square" rtlCol="0"/>
          <a:lstStyle>
            <a:lvl1pPr algn="l" indent="0" marL="0">
              <a:buNone/>
              <a:defRPr lang="en-US" sz="1200" b="1" spc="200" kern="0" dirty="0">
                <a:solidFill>
                  <a:srgbClr val="B7791F"/>
                </a:solidFill>
              </a:defRPr>
            </a:lvl1pPr>
          </a:lstStyle>
          <a:p>
            <a:pPr algn="l" indent="0" marL="0">
              <a:buNone/>
            </a:pPr>
            <a:endParaRPr lang="en-US" sz="1200" dirty="0"/>
          </a:p>
        </p:txBody>
      </p:sp>
      <p:sp>
        <p:nvSpPr>
          <p:cNvPr id="5" name="Text 2"/>
          <p:cNvSpPr/>
          <p:nvPr>
            <p:ph idx="103" type="title" hasCustomPrompt="1"/>
          </p:nvPr>
        </p:nvSpPr>
        <p:spPr>
          <a:xfrm>
            <a:off x="548640" y="566928"/>
            <a:ext cx="11064240" cy="658368"/>
          </a:xfrm>
          <a:prstGeom prst="rect">
            <a:avLst/>
          </a:prstGeom>
          <a:noFill/>
          <a:ln/>
        </p:spPr>
        <p:txBody>
          <a:bodyPr wrap="square" rtlCol="0"/>
          <a:lstStyle>
            <a:lvl1pPr algn="l" indent="0" marL="0">
              <a:buNone/>
              <a:defRPr lang="en-US" sz="2800" b="1" dirty="0">
                <a:solidFill>
                  <a:srgbClr val="00553A"/>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EDE"/>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2.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2.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2.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2.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2.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slideLayout" Target="../slideLayouts/slideLayout2.xml"/><Relationship Id="rId8"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2.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2.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2.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85800" y="640080"/>
            <a:ext cx="3246120" cy="329184"/>
          </a:xfrm>
          <a:prstGeom prst="roundRect">
            <a:avLst>
              <a:gd name="adj" fmla="val 50000"/>
            </a:avLst>
          </a:prstGeom>
          <a:solidFill>
            <a:srgbClr val="FFFFFF"/>
          </a:solidFill>
          <a:ln w="15875">
            <a:solidFill>
              <a:srgbClr val="F5C242"/>
            </a:solidFill>
            <a:prstDash val="solid"/>
          </a:ln>
        </p:spPr>
      </p:sp>
      <p:sp>
        <p:nvSpPr>
          <p:cNvPr id="3" name="Text 1"/>
          <p:cNvSpPr txBox="1"/>
          <p:nvPr/>
        </p:nvSpPr>
        <p:spPr>
          <a:xfrm>
            <a:off x="685800" y="640080"/>
            <a:ext cx="3246120" cy="329184"/>
          </a:xfrm>
          <a:prstGeom prst="rect">
            <a:avLst/>
          </a:prstGeom>
          <a:noFill/>
          <a:ln/>
        </p:spPr>
        <p:txBody>
          <a:bodyPr wrap="square" lIns="0" tIns="0" rIns="0" bIns="0" rtlCol="0" anchor="ctr"/>
          <a:lstStyle/>
          <a:p>
            <a:pPr algn="ctr" indent="0" marL="0">
              <a:spcAft>
                <a:spcPts val="200"/>
              </a:spcAft>
              <a:buNone/>
            </a:pPr>
            <a:r>
              <a:rPr lang="en-US" sz="1050" b="1" spc="100" kern="0" dirty="0">
                <a:solidFill>
                  <a:srgbClr val="00553A"/>
                </a:solidFill>
              </a:rPr>
              <a:t>AFRICAN DEVELOPMENT BANK</a:t>
            </a:r>
            <a:endParaRPr lang="en-US" sz="1050" dirty="0"/>
          </a:p>
        </p:txBody>
      </p:sp>
      <p:sp>
        <p:nvSpPr>
          <p:cNvPr id="6" name="Shape 4"/>
          <p:cNvSpPr/>
          <p:nvPr/>
        </p:nvSpPr>
        <p:spPr>
          <a:xfrm>
            <a:off x="4069080" y="640080"/>
            <a:ext cx="5029200" cy="329184"/>
          </a:xfrm>
          <a:prstGeom prst="roundRect">
            <a:avLst>
              <a:gd name="adj" fmla="val 50000"/>
            </a:avLst>
          </a:prstGeom>
          <a:solidFill>
            <a:srgbClr val="00553A"/>
          </a:solidFill>
          <a:ln w="15875">
            <a:solidFill>
              <a:srgbClr val="CFEEDE"/>
            </a:solidFill>
            <a:prstDash val="solid"/>
          </a:ln>
        </p:spPr>
      </p:sp>
      <p:sp>
        <p:nvSpPr>
          <p:cNvPr id="7" name="Text 5"/>
          <p:cNvSpPr txBox="1"/>
          <p:nvPr/>
        </p:nvSpPr>
        <p:spPr>
          <a:xfrm>
            <a:off x="4069080" y="640080"/>
            <a:ext cx="5029200" cy="329184"/>
          </a:xfrm>
          <a:prstGeom prst="rect">
            <a:avLst/>
          </a:prstGeom>
          <a:noFill/>
          <a:ln/>
        </p:spPr>
        <p:txBody>
          <a:bodyPr wrap="square" lIns="0" tIns="0" rIns="0" bIns="0" rtlCol="0" anchor="ctr"/>
          <a:lstStyle/>
          <a:p>
            <a:pPr algn="ctr" indent="0" marL="0">
              <a:spcAft>
                <a:spcPts val="200"/>
              </a:spcAft>
              <a:buNone/>
            </a:pPr>
            <a:r>
              <a:rPr lang="en-US" sz="1050" b="1" spc="100" kern="0" dirty="0">
                <a:solidFill>
                  <a:srgbClr val="E6F6EE"/>
                </a:solidFill>
              </a:rPr>
              <a:t>DATA INNOVATION FOR AFRICA (DI4A)</a:t>
            </a:r>
            <a:endParaRPr lang="en-US" sz="1050" dirty="0"/>
          </a:p>
        </p:txBody>
      </p:sp>
      <p:sp>
        <p:nvSpPr>
          <p:cNvPr id="8" name="Text 6"/>
          <p:cNvSpPr txBox="1"/>
          <p:nvPr/>
        </p:nvSpPr>
        <p:spPr>
          <a:xfrm>
            <a:off x="685800" y="1325880"/>
            <a:ext cx="7040880" cy="1417320"/>
          </a:xfrm>
          <a:prstGeom prst="rect">
            <a:avLst/>
          </a:prstGeom>
          <a:noFill/>
          <a:ln/>
        </p:spPr>
        <p:txBody>
          <a:bodyPr wrap="square" lIns="635" tIns="635" rIns="635" bIns="635" rtlCol="0" anchor="ctr"/>
          <a:lstStyle/>
          <a:p>
            <a:pPr indent="0" marL="0">
              <a:spcAft>
                <a:spcPts val="200"/>
              </a:spcAft>
              <a:buNone/>
            </a:pPr>
            <a:r>
              <a:rPr lang="en-US" sz="4200" b="1" dirty="0">
                <a:solidFill>
                  <a:srgbClr val="FFFFFF"/>
                </a:solidFill>
              </a:rPr>
              <a:t>Night-time lights in practice</a:t>
            </a:r>
            <a:endParaRPr lang="en-US" sz="4200" dirty="0"/>
          </a:p>
        </p:txBody>
      </p:sp>
      <p:sp>
        <p:nvSpPr>
          <p:cNvPr id="9" name="Text 7"/>
          <p:cNvSpPr txBox="1"/>
          <p:nvPr/>
        </p:nvSpPr>
        <p:spPr>
          <a:xfrm>
            <a:off x="685800" y="2788920"/>
            <a:ext cx="7040880" cy="777240"/>
          </a:xfrm>
          <a:prstGeom prst="rect">
            <a:avLst/>
          </a:prstGeom>
          <a:noFill/>
          <a:ln/>
        </p:spPr>
        <p:txBody>
          <a:bodyPr wrap="square" lIns="635" tIns="635" rIns="635" bIns="635" rtlCol="0" anchor="t"/>
          <a:lstStyle/>
          <a:p>
            <a:pPr indent="0" marL="0">
              <a:spcAft>
                <a:spcPts val="200"/>
              </a:spcAft>
              <a:buNone/>
            </a:pPr>
            <a:r>
              <a:rPr lang="en-US" sz="2000" i="1" dirty="0">
                <a:solidFill>
                  <a:srgbClr val="E6F6EE"/>
                </a:solidFill>
              </a:rPr>
              <a:t>What they have made it possible to measure — from satellite to published dashboard</a:t>
            </a:r>
            <a:endParaRPr lang="en-US" sz="2000" dirty="0"/>
          </a:p>
        </p:txBody>
      </p:sp>
      <p:sp>
        <p:nvSpPr>
          <p:cNvPr id="10" name="Text 8"/>
          <p:cNvSpPr txBox="1"/>
          <p:nvPr/>
        </p:nvSpPr>
        <p:spPr>
          <a:xfrm>
            <a:off x="685800" y="3611880"/>
            <a:ext cx="7040880" cy="640080"/>
          </a:xfrm>
          <a:prstGeom prst="rect">
            <a:avLst/>
          </a:prstGeom>
          <a:noFill/>
          <a:ln/>
        </p:spPr>
        <p:txBody>
          <a:bodyPr wrap="square" lIns="635" tIns="635" rIns="635" bIns="635" rtlCol="0" anchor="t"/>
          <a:lstStyle/>
          <a:p>
            <a:pPr indent="0" marL="0">
              <a:spcAft>
                <a:spcPts val="200"/>
              </a:spcAft>
              <a:buNone/>
            </a:pPr>
            <a:r>
              <a:rPr lang="en-US" sz="1500" dirty="0">
                <a:solidFill>
                  <a:srgbClr val="CFEEDE"/>
                </a:solidFill>
              </a:rPr>
              <a:t>Analysis notebook “NTL hands-on, part 3”: a reproducible pipeline driven by one ISO3 code</a:t>
            </a:r>
            <a:endParaRPr lang="en-US" sz="1500" dirty="0"/>
          </a:p>
        </p:txBody>
      </p:sp>
      <p:sp>
        <p:nvSpPr>
          <p:cNvPr id="11" name="Shape 9"/>
          <p:cNvSpPr/>
          <p:nvPr/>
        </p:nvSpPr>
        <p:spPr>
          <a:xfrm>
            <a:off x="685800" y="4526280"/>
            <a:ext cx="6766560" cy="1417320"/>
          </a:xfrm>
          <a:prstGeom prst="roundRect">
            <a:avLst>
              <a:gd name="adj" fmla="val 7742"/>
            </a:avLst>
          </a:prstGeom>
          <a:solidFill>
            <a:srgbClr val="1F4E8C"/>
          </a:solidFill>
          <a:ln w="9525">
            <a:solidFill>
              <a:srgbClr val="3F7FC7"/>
            </a:solidFill>
            <a:prstDash val="solid"/>
          </a:ln>
        </p:spPr>
      </p:sp>
      <p:sp>
        <p:nvSpPr>
          <p:cNvPr id="12" name="Text 10"/>
          <p:cNvSpPr txBox="1"/>
          <p:nvPr/>
        </p:nvSpPr>
        <p:spPr>
          <a:xfrm>
            <a:off x="914400" y="4663440"/>
            <a:ext cx="6400800" cy="320040"/>
          </a:xfrm>
          <a:prstGeom prst="rect">
            <a:avLst/>
          </a:prstGeom>
          <a:noFill/>
          <a:ln/>
        </p:spPr>
        <p:txBody>
          <a:bodyPr wrap="square" lIns="635" tIns="635" rIns="635" bIns="635" rtlCol="0" anchor="t"/>
          <a:lstStyle/>
          <a:p>
            <a:pPr indent="0" marL="0">
              <a:spcAft>
                <a:spcPts val="200"/>
              </a:spcAft>
              <a:buNone/>
            </a:pPr>
            <a:r>
              <a:rPr lang="en-US" sz="1300" b="1" spc="200" kern="0" dirty="0">
                <a:solidFill>
                  <a:srgbClr val="FFFFFF"/>
                </a:solidFill>
              </a:rPr>
              <a:t>AFDB – DATA INNOVATION FOR AFRICA (DI4A)</a:t>
            </a:r>
            <a:endParaRPr lang="en-US" sz="1300" dirty="0"/>
          </a:p>
        </p:txBody>
      </p:sp>
      <p:sp>
        <p:nvSpPr>
          <p:cNvPr id="13" name="Text 11"/>
          <p:cNvSpPr txBox="1"/>
          <p:nvPr/>
        </p:nvSpPr>
        <p:spPr>
          <a:xfrm>
            <a:off x="914400" y="5029200"/>
            <a:ext cx="6400800" cy="320040"/>
          </a:xfrm>
          <a:prstGeom prst="rect">
            <a:avLst/>
          </a:prstGeom>
          <a:noFill/>
          <a:ln/>
        </p:spPr>
        <p:txBody>
          <a:bodyPr wrap="square" lIns="635" tIns="635" rIns="635" bIns="635" rtlCol="0" anchor="t"/>
          <a:lstStyle/>
          <a:p>
            <a:pPr indent="0" marL="0">
              <a:spcAft>
                <a:spcPts val="200"/>
              </a:spcAft>
              <a:buNone/>
            </a:pPr>
            <a:r>
              <a:rPr lang="en-US" sz="1400" dirty="0">
                <a:solidFill>
                  <a:srgbClr val="DCE9F8"/>
                </a:solidFill>
              </a:rPr>
              <a:t>Hands-on series · Satellite data for economic statistics</a:t>
            </a:r>
            <a:endParaRPr lang="en-US" sz="1400" dirty="0"/>
          </a:p>
        </p:txBody>
      </p:sp>
      <p:sp>
        <p:nvSpPr>
          <p:cNvPr id="14" name="Text 12"/>
          <p:cNvSpPr txBox="1"/>
          <p:nvPr/>
        </p:nvSpPr>
        <p:spPr>
          <a:xfrm>
            <a:off x="914400" y="5376672"/>
            <a:ext cx="6400800" cy="320040"/>
          </a:xfrm>
          <a:prstGeom prst="rect">
            <a:avLst/>
          </a:prstGeom>
          <a:noFill/>
          <a:ln/>
        </p:spPr>
        <p:txBody>
          <a:bodyPr wrap="square" lIns="635" tIns="635" rIns="635" bIns="635" rtlCol="0" anchor="t"/>
          <a:lstStyle/>
          <a:p>
            <a:pPr indent="0" marL="0">
              <a:spcAft>
                <a:spcPts val="200"/>
              </a:spcAft>
              <a:buNone/>
            </a:pPr>
            <a:r>
              <a:rPr lang="en-US" sz="1400" b="1" dirty="0">
                <a:solidFill>
                  <a:srgbClr val="F5C242"/>
                </a:solidFill>
              </a:rPr>
              <a:t>Part 3 · Analyse and publish</a:t>
            </a:r>
            <a:endParaRPr lang="en-US" sz="1400" dirty="0"/>
          </a:p>
        </p:txBody>
      </p:sp>
      <p:pic>
        <p:nvPicPr>
          <p:cNvPr id="15" name="Image 0" descr="/tmp/claude-0/-home-claude/8a8742ef-7d0d-54fc-a0c9-7ecbfc9f8b73/scratchpad/deck/real/ghana_map.png">    </p:cNvPr>
          <p:cNvPicPr>
            <a:picLocks noChangeAspect="1"/>
          </p:cNvPicPr>
          <p:nvPr/>
        </p:nvPicPr>
        <p:blipFill>
          <a:blip r:embed="rId1"/>
          <a:stretch>
            <a:fillRect/>
          </a:stretch>
        </p:blipFill>
        <p:spPr>
          <a:xfrm>
            <a:off x="8001000" y="1069967"/>
            <a:ext cx="3657600" cy="4260866"/>
          </a:xfrm>
          <a:prstGeom prst="rect">
            <a:avLst/>
          </a:prstGeom>
        </p:spPr>
      </p:pic>
      <p:sp>
        <p:nvSpPr>
          <p:cNvPr id="16" name="Text 13"/>
          <p:cNvSpPr txBox="1"/>
          <p:nvPr/>
        </p:nvSpPr>
        <p:spPr>
          <a:xfrm>
            <a:off x="7863840" y="5897880"/>
            <a:ext cx="3931920" cy="274320"/>
          </a:xfrm>
          <a:prstGeom prst="rect">
            <a:avLst/>
          </a:prstGeom>
          <a:noFill/>
          <a:ln/>
        </p:spPr>
        <p:txBody>
          <a:bodyPr wrap="square" lIns="635" tIns="635" rIns="635" bIns="635" rtlCol="0" anchor="t"/>
          <a:lstStyle/>
          <a:p>
            <a:pPr algn="ctr" indent="0" marL="0">
              <a:spcAft>
                <a:spcPts val="200"/>
              </a:spcAft>
              <a:buNone/>
            </a:pPr>
            <a:r>
              <a:rPr lang="en-US" sz="1000" i="1" dirty="0">
                <a:solidFill>
                  <a:srgbClr val="CFEEDE"/>
                </a:solidFill>
              </a:rPr>
              <a:t>Black Marble VNP46A4 (2025), Ghana — real image</a:t>
            </a:r>
            <a:endParaRPr lang="en-US" sz="1000" dirty="0"/>
          </a:p>
        </p:txBody>
      </p:sp>
      <p:sp>
        <p:nvSpPr>
          <p:cNvPr id="17" name="Text 14"/>
          <p:cNvSpPr txBox="1"/>
          <p:nvPr/>
        </p:nvSpPr>
        <p:spPr>
          <a:xfrm>
            <a:off x="685800" y="6263640"/>
            <a:ext cx="7315200" cy="274320"/>
          </a:xfrm>
          <a:prstGeom prst="rect">
            <a:avLst/>
          </a:prstGeom>
          <a:noFill/>
          <a:ln/>
        </p:spPr>
        <p:txBody>
          <a:bodyPr wrap="square" lIns="635" tIns="635" rIns="635" bIns="635" rtlCol="0" anchor="t"/>
          <a:lstStyle/>
          <a:p>
            <a:pPr indent="0" marL="0">
              <a:spcAft>
                <a:spcPts val="200"/>
              </a:spcAft>
              <a:buNone/>
            </a:pPr>
            <a:r>
              <a:rPr lang="en-US" sz="1000" i="1" dirty="0">
                <a:solidFill>
                  <a:srgbClr val="CFEEDE"/>
                </a:solidFill>
              </a:rPr>
              <a:t>Source: NASA Black Marble via blackmarblepy (World Bank, MIT licence)</a:t>
            </a:r>
            <a:endParaRPr lang="en-US" sz="10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EDE"/>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OPENING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By the end of this session, you will be able to…</a:t>
            </a:r>
            <a:endParaRPr lang="en-US" sz="2800" dirty="0"/>
          </a:p>
        </p:txBody>
      </p:sp>
      <p:sp>
        <p:nvSpPr>
          <p:cNvPr id="4" name="Shape 2"/>
          <p:cNvSpPr/>
          <p:nvPr/>
        </p:nvSpPr>
        <p:spPr>
          <a:xfrm>
            <a:off x="548640" y="150876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91640"/>
            <a:ext cx="502920" cy="50292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52221" y="1812341"/>
            <a:ext cx="261518" cy="261518"/>
          </a:xfrm>
          <a:prstGeom prst="rect">
            <a:avLst/>
          </a:prstGeom>
        </p:spPr>
      </p:pic>
      <p:sp>
        <p:nvSpPr>
          <p:cNvPr id="7" name="Text 4"/>
          <p:cNvSpPr txBox="1"/>
          <p:nvPr/>
        </p:nvSpPr>
        <p:spPr>
          <a:xfrm>
            <a:off x="1371600" y="167335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Explain</a:t>
            </a:r>
            <a:endParaRPr lang="en-US" sz="1500" dirty="0"/>
          </a:p>
        </p:txBody>
      </p:sp>
      <p:sp>
        <p:nvSpPr>
          <p:cNvPr id="8" name="Text 5"/>
          <p:cNvSpPr txBox="1"/>
          <p:nvPr/>
        </p:nvSpPr>
        <p:spPr>
          <a:xfrm>
            <a:off x="731520" y="231343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what night-time lights measure, why they inform on economic activity, and where their limits lie.</a:t>
            </a:r>
            <a:endParaRPr lang="en-US" sz="1500" dirty="0"/>
          </a:p>
        </p:txBody>
      </p:sp>
      <p:sp>
        <p:nvSpPr>
          <p:cNvPr id="9" name="Shape 6"/>
          <p:cNvSpPr/>
          <p:nvPr/>
        </p:nvSpPr>
        <p:spPr>
          <a:xfrm>
            <a:off x="6126480" y="150876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6309360" y="1691640"/>
            <a:ext cx="502920" cy="50292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6430061" y="1812341"/>
            <a:ext cx="261518" cy="261518"/>
          </a:xfrm>
          <a:prstGeom prst="rect">
            <a:avLst/>
          </a:prstGeom>
        </p:spPr>
      </p:pic>
      <p:sp>
        <p:nvSpPr>
          <p:cNvPr id="12" name="Text 8"/>
          <p:cNvSpPr txBox="1"/>
          <p:nvPr/>
        </p:nvSpPr>
        <p:spPr>
          <a:xfrm>
            <a:off x="6949440" y="167335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Reproduce</a:t>
            </a:r>
            <a:endParaRPr lang="en-US" sz="1500" dirty="0"/>
          </a:p>
        </p:txBody>
      </p:sp>
      <p:sp>
        <p:nvSpPr>
          <p:cNvPr id="13" name="Text 9"/>
          <p:cNvSpPr txBox="1"/>
          <p:nvPr/>
        </p:nvSpPr>
        <p:spPr>
          <a:xfrm>
            <a:off x="6309360" y="231343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the end-to-end pipeline: one ISO3 code → national and regional indicators → a public dashboard.</a:t>
            </a:r>
            <a:endParaRPr lang="en-US" sz="1500" dirty="0"/>
          </a:p>
        </p:txBody>
      </p:sp>
      <p:sp>
        <p:nvSpPr>
          <p:cNvPr id="14" name="Shape 10"/>
          <p:cNvSpPr/>
          <p:nvPr/>
        </p:nvSpPr>
        <p:spPr>
          <a:xfrm>
            <a:off x="548640" y="374904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731520" y="3931920"/>
            <a:ext cx="502920" cy="50292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852221" y="4052621"/>
            <a:ext cx="261518" cy="261518"/>
          </a:xfrm>
          <a:prstGeom prst="rect">
            <a:avLst/>
          </a:prstGeom>
        </p:spPr>
      </p:pic>
      <p:sp>
        <p:nvSpPr>
          <p:cNvPr id="17" name="Text 12"/>
          <p:cNvSpPr txBox="1"/>
          <p:nvPr/>
        </p:nvSpPr>
        <p:spPr>
          <a:xfrm>
            <a:off x="1371600" y="391363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Interpret</a:t>
            </a:r>
            <a:endParaRPr lang="en-US" sz="1500" dirty="0"/>
          </a:p>
        </p:txBody>
      </p:sp>
      <p:sp>
        <p:nvSpPr>
          <p:cNvPr id="18" name="Text 13"/>
          <p:cNvSpPr txBox="1"/>
          <p:nvPr/>
        </p:nvSpPr>
        <p:spPr>
          <a:xfrm>
            <a:off x="731520" y="455371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the key metrics: STL, Theil–Sen, convergence, NTL–GDP elasticity, shocks, Gini, population “in the dark”.</a:t>
            </a:r>
            <a:endParaRPr lang="en-US" sz="1500" dirty="0"/>
          </a:p>
        </p:txBody>
      </p:sp>
      <p:sp>
        <p:nvSpPr>
          <p:cNvPr id="19" name="Shape 14"/>
          <p:cNvSpPr/>
          <p:nvPr/>
        </p:nvSpPr>
        <p:spPr>
          <a:xfrm>
            <a:off x="6126480" y="3749040"/>
            <a:ext cx="5394960" cy="2011680"/>
          </a:xfrm>
          <a:prstGeom prst="roundRect">
            <a:avLst>
              <a:gd name="adj" fmla="val 5455"/>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6309360" y="3931920"/>
            <a:ext cx="502920" cy="502920"/>
          </a:xfrm>
          <a:prstGeom prst="ellipse">
            <a:avLst/>
          </a:prstGeom>
          <a:solidFill>
            <a:srgbClr val="1F4E8C"/>
          </a:solidFill>
          <a:ln w="12700">
            <a:solidFill>
              <a:srgbClr val="1F4E8C"/>
            </a:solidFill>
            <a:prstDash val="solid"/>
          </a:ln>
        </p:spPr>
      </p:sp>
      <p:pic>
        <p:nvPicPr>
          <p:cNvPr id="21" name="Image 3" descr="preencoded.png">    </p:cNvPr>
          <p:cNvPicPr>
            <a:picLocks noChangeAspect="1"/>
          </p:cNvPicPr>
          <p:nvPr/>
        </p:nvPicPr>
        <p:blipFill>
          <a:blip r:embed="rId4"/>
          <a:stretch>
            <a:fillRect/>
          </a:stretch>
        </p:blipFill>
        <p:spPr>
          <a:xfrm>
            <a:off x="6430061" y="4052621"/>
            <a:ext cx="261518" cy="261518"/>
          </a:xfrm>
          <a:prstGeom prst="rect">
            <a:avLst/>
          </a:prstGeom>
        </p:spPr>
      </p:pic>
      <p:sp>
        <p:nvSpPr>
          <p:cNvPr id="22" name="Text 16"/>
          <p:cNvSpPr txBox="1"/>
          <p:nvPr/>
        </p:nvSpPr>
        <p:spPr>
          <a:xfrm>
            <a:off x="6949440" y="391363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Publish with care</a:t>
            </a:r>
            <a:endParaRPr lang="en-US" sz="1500" dirty="0"/>
          </a:p>
        </p:txBody>
      </p:sp>
      <p:sp>
        <p:nvSpPr>
          <p:cNvPr id="23" name="Text 17"/>
          <p:cNvSpPr txBox="1"/>
          <p:nvPr/>
        </p:nvSpPr>
        <p:spPr>
          <a:xfrm>
            <a:off x="6309360" y="4553712"/>
            <a:ext cx="5029200" cy="1097280"/>
          </a:xfrm>
          <a:prstGeom prst="rect">
            <a:avLst/>
          </a:prstGeom>
          <a:noFill/>
          <a:ln/>
        </p:spPr>
        <p:txBody>
          <a:bodyPr wrap="square" lIns="635" tIns="635" rIns="635" bIns="635" rtlCol="0" anchor="t"/>
          <a:lstStyle/>
          <a:p>
            <a:pPr indent="0" marL="0">
              <a:spcAft>
                <a:spcPts val="200"/>
              </a:spcAft>
              <a:buNone/>
            </a:pPr>
            <a:r>
              <a:rPr lang="en-US" sz="1500" dirty="0">
                <a:solidFill>
                  <a:srgbClr val="231F20"/>
                </a:solidFill>
              </a:rPr>
              <a:t>results that carry a confidence level, intervals and full traceability.</a:t>
            </a:r>
            <a:endParaRPr lang="en-US" sz="1500" dirty="0"/>
          </a:p>
        </p:txBody>
      </p:sp>
      <p:sp>
        <p:nvSpPr>
          <p:cNvPr id="24" name="Text 18"/>
          <p:cNvSpPr txBox="1"/>
          <p:nvPr/>
        </p:nvSpPr>
        <p:spPr>
          <a:xfrm>
            <a:off x="548640" y="5943600"/>
            <a:ext cx="11064240" cy="365760"/>
          </a:xfrm>
          <a:prstGeom prst="rect">
            <a:avLst/>
          </a:prstGeom>
          <a:noFill/>
          <a:ln/>
        </p:spPr>
        <p:txBody>
          <a:bodyPr wrap="square" lIns="635" tIns="635" rIns="635" bIns="635" rtlCol="0" anchor="t"/>
          <a:lstStyle/>
          <a:p>
            <a:pPr indent="0" marL="0">
              <a:spcAft>
                <a:spcPts val="200"/>
              </a:spcAft>
              <a:buNone/>
            </a:pPr>
            <a:r>
              <a:rPr lang="en-US" sz="1500" b="1" i="1" dirty="0">
                <a:solidFill>
                  <a:srgbClr val="00553A"/>
                </a:solidFill>
              </a:rPr>
              <a:t>Common thread: </a:t>
            </a:r>
            <a:pPr indent="0" marL="0">
              <a:spcAft>
                <a:spcPts val="200"/>
              </a:spcAft>
              <a:buNone/>
            </a:pPr>
            <a:r>
              <a:rPr lang="en-US" sz="1500" i="1" dirty="0">
                <a:solidFill>
                  <a:srgbClr val="231F20"/>
                </a:solidFill>
              </a:rPr>
              <a:t>a measurement is only useful if you can say how far it can be trusted.</a:t>
            </a:r>
            <a:endParaRPr lang="en-US" sz="15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OPENING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Session outline (75 minutes)</a:t>
            </a:r>
            <a:endParaRPr lang="en-US" sz="2800" dirty="0"/>
          </a:p>
        </p:txBody>
      </p:sp>
      <p:sp>
        <p:nvSpPr>
          <p:cNvPr id="4" name="Shape 2"/>
          <p:cNvSpPr/>
          <p:nvPr/>
        </p:nvSpPr>
        <p:spPr>
          <a:xfrm>
            <a:off x="548640" y="1463040"/>
            <a:ext cx="6949440" cy="658368"/>
          </a:xfrm>
          <a:prstGeom prst="roundRect">
            <a:avLst>
              <a:gd name="adj" fmla="val 16667"/>
            </a:avLst>
          </a:prstGeom>
          <a:solidFill>
            <a:srgbClr val="F4F7F5"/>
          </a:solidFill>
          <a:ln w="9525">
            <a:solidFill>
              <a:srgbClr val="D5DED9"/>
            </a:solidFill>
            <a:prstDash val="solid"/>
          </a:ln>
        </p:spPr>
      </p:sp>
      <p:sp>
        <p:nvSpPr>
          <p:cNvPr id="5" name="Text 3"/>
          <p:cNvSpPr txBox="1"/>
          <p:nvPr/>
        </p:nvSpPr>
        <p:spPr>
          <a:xfrm>
            <a:off x="685800" y="1463040"/>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10 min</a:t>
            </a:r>
            <a:endParaRPr lang="en-US" sz="1500" dirty="0"/>
          </a:p>
        </p:txBody>
      </p:sp>
      <p:sp>
        <p:nvSpPr>
          <p:cNvPr id="6" name="Shape 4"/>
          <p:cNvSpPr/>
          <p:nvPr/>
        </p:nvSpPr>
        <p:spPr>
          <a:xfrm>
            <a:off x="1554480" y="1554480"/>
            <a:ext cx="475488" cy="475488"/>
          </a:xfrm>
          <a:prstGeom prst="ellipse">
            <a:avLst/>
          </a:prstGeom>
          <a:solidFill>
            <a:srgbClr val="00704A"/>
          </a:solidFill>
          <a:ln w="12700">
            <a:solidFill>
              <a:srgbClr val="00704A"/>
            </a:solidFill>
            <a:prstDash val="solid"/>
          </a:ln>
        </p:spPr>
      </p:sp>
      <p:pic>
        <p:nvPicPr>
          <p:cNvPr id="7" name="Image 0" descr="preencoded.png">    </p:cNvPr>
          <p:cNvPicPr>
            <a:picLocks noChangeAspect="1"/>
          </p:cNvPicPr>
          <p:nvPr/>
        </p:nvPicPr>
        <p:blipFill>
          <a:blip r:embed="rId1"/>
          <a:stretch>
            <a:fillRect/>
          </a:stretch>
        </p:blipFill>
        <p:spPr>
          <a:xfrm>
            <a:off x="1668597" y="1668597"/>
            <a:ext cx="247254" cy="247254"/>
          </a:xfrm>
          <a:prstGeom prst="rect">
            <a:avLst/>
          </a:prstGeom>
        </p:spPr>
      </p:pic>
      <p:sp>
        <p:nvSpPr>
          <p:cNvPr id="8" name="Text 5"/>
          <p:cNvSpPr txBox="1"/>
          <p:nvPr/>
        </p:nvSpPr>
        <p:spPr>
          <a:xfrm>
            <a:off x="2148840" y="1463040"/>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A</a:t>
            </a:r>
            <a:endParaRPr lang="en-US" sz="1500" dirty="0"/>
          </a:p>
        </p:txBody>
      </p:sp>
      <p:sp>
        <p:nvSpPr>
          <p:cNvPr id="9" name="Text 6"/>
          <p:cNvSpPr txBox="1"/>
          <p:nvPr/>
        </p:nvSpPr>
        <p:spPr>
          <a:xfrm>
            <a:off x="2788920" y="1463040"/>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Why lights measure the economy</a:t>
            </a:r>
            <a:endParaRPr lang="en-US" sz="1500" dirty="0"/>
          </a:p>
        </p:txBody>
      </p:sp>
      <p:sp>
        <p:nvSpPr>
          <p:cNvPr id="10" name="Shape 7"/>
          <p:cNvSpPr/>
          <p:nvPr/>
        </p:nvSpPr>
        <p:spPr>
          <a:xfrm>
            <a:off x="548640" y="2249424"/>
            <a:ext cx="6949440" cy="658368"/>
          </a:xfrm>
          <a:prstGeom prst="roundRect">
            <a:avLst>
              <a:gd name="adj" fmla="val 16667"/>
            </a:avLst>
          </a:prstGeom>
          <a:solidFill>
            <a:srgbClr val="FFFFFF"/>
          </a:solidFill>
          <a:ln w="9525">
            <a:solidFill>
              <a:srgbClr val="D5DED9"/>
            </a:solidFill>
            <a:prstDash val="solid"/>
          </a:ln>
        </p:spPr>
      </p:sp>
      <p:sp>
        <p:nvSpPr>
          <p:cNvPr id="11" name="Text 8"/>
          <p:cNvSpPr txBox="1"/>
          <p:nvPr/>
        </p:nvSpPr>
        <p:spPr>
          <a:xfrm>
            <a:off x="685800" y="2249424"/>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10 min</a:t>
            </a:r>
            <a:endParaRPr lang="en-US" sz="1500" dirty="0"/>
          </a:p>
        </p:txBody>
      </p:sp>
      <p:sp>
        <p:nvSpPr>
          <p:cNvPr id="12" name="Shape 9"/>
          <p:cNvSpPr/>
          <p:nvPr/>
        </p:nvSpPr>
        <p:spPr>
          <a:xfrm>
            <a:off x="1554480" y="2340864"/>
            <a:ext cx="475488" cy="475488"/>
          </a:xfrm>
          <a:prstGeom prst="ellipse">
            <a:avLst/>
          </a:prstGeom>
          <a:solidFill>
            <a:srgbClr val="00704A"/>
          </a:solidFill>
          <a:ln w="12700">
            <a:solidFill>
              <a:srgbClr val="00704A"/>
            </a:solidFill>
            <a:prstDash val="solid"/>
          </a:ln>
        </p:spPr>
      </p:sp>
      <p:pic>
        <p:nvPicPr>
          <p:cNvPr id="13" name="Image 1" descr="preencoded.png">    </p:cNvPr>
          <p:cNvPicPr>
            <a:picLocks noChangeAspect="1"/>
          </p:cNvPicPr>
          <p:nvPr/>
        </p:nvPicPr>
        <p:blipFill>
          <a:blip r:embed="rId2"/>
          <a:stretch>
            <a:fillRect/>
          </a:stretch>
        </p:blipFill>
        <p:spPr>
          <a:xfrm>
            <a:off x="1668597" y="2454981"/>
            <a:ext cx="247254" cy="247254"/>
          </a:xfrm>
          <a:prstGeom prst="rect">
            <a:avLst/>
          </a:prstGeom>
        </p:spPr>
      </p:pic>
      <p:sp>
        <p:nvSpPr>
          <p:cNvPr id="14" name="Text 10"/>
          <p:cNvSpPr txBox="1"/>
          <p:nvPr/>
        </p:nvSpPr>
        <p:spPr>
          <a:xfrm>
            <a:off x="2148840" y="2249424"/>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B</a:t>
            </a:r>
            <a:endParaRPr lang="en-US" sz="1500" dirty="0"/>
          </a:p>
        </p:txBody>
      </p:sp>
      <p:sp>
        <p:nvSpPr>
          <p:cNvPr id="15" name="Text 11"/>
          <p:cNvSpPr txBox="1"/>
          <p:nvPr/>
        </p:nvSpPr>
        <p:spPr>
          <a:xfrm>
            <a:off x="2788920" y="2249424"/>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Sensors and data</a:t>
            </a:r>
            <a:endParaRPr lang="en-US" sz="1500" dirty="0"/>
          </a:p>
        </p:txBody>
      </p:sp>
      <p:sp>
        <p:nvSpPr>
          <p:cNvPr id="16" name="Shape 12"/>
          <p:cNvSpPr/>
          <p:nvPr/>
        </p:nvSpPr>
        <p:spPr>
          <a:xfrm>
            <a:off x="548640" y="3035808"/>
            <a:ext cx="6949440" cy="658368"/>
          </a:xfrm>
          <a:prstGeom prst="roundRect">
            <a:avLst>
              <a:gd name="adj" fmla="val 16667"/>
            </a:avLst>
          </a:prstGeom>
          <a:solidFill>
            <a:srgbClr val="F4F7F5"/>
          </a:solidFill>
          <a:ln w="9525">
            <a:solidFill>
              <a:srgbClr val="D5DED9"/>
            </a:solidFill>
            <a:prstDash val="solid"/>
          </a:ln>
        </p:spPr>
      </p:sp>
      <p:sp>
        <p:nvSpPr>
          <p:cNvPr id="17" name="Text 13"/>
          <p:cNvSpPr txBox="1"/>
          <p:nvPr/>
        </p:nvSpPr>
        <p:spPr>
          <a:xfrm>
            <a:off x="685800" y="3035808"/>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15 min</a:t>
            </a:r>
            <a:endParaRPr lang="en-US" sz="1500" dirty="0"/>
          </a:p>
        </p:txBody>
      </p:sp>
      <p:sp>
        <p:nvSpPr>
          <p:cNvPr id="18" name="Shape 14"/>
          <p:cNvSpPr/>
          <p:nvPr/>
        </p:nvSpPr>
        <p:spPr>
          <a:xfrm>
            <a:off x="1554480" y="3127248"/>
            <a:ext cx="475488" cy="475488"/>
          </a:xfrm>
          <a:prstGeom prst="ellipse">
            <a:avLst/>
          </a:prstGeom>
          <a:solidFill>
            <a:srgbClr val="00704A"/>
          </a:solidFill>
          <a:ln w="12700">
            <a:solidFill>
              <a:srgbClr val="00704A"/>
            </a:solidFill>
            <a:prstDash val="solid"/>
          </a:ln>
        </p:spPr>
      </p:sp>
      <p:pic>
        <p:nvPicPr>
          <p:cNvPr id="19" name="Image 2" descr="preencoded.png">    </p:cNvPr>
          <p:cNvPicPr>
            <a:picLocks noChangeAspect="1"/>
          </p:cNvPicPr>
          <p:nvPr/>
        </p:nvPicPr>
        <p:blipFill>
          <a:blip r:embed="rId3"/>
          <a:stretch>
            <a:fillRect/>
          </a:stretch>
        </p:blipFill>
        <p:spPr>
          <a:xfrm>
            <a:off x="1668597" y="3241365"/>
            <a:ext cx="247254" cy="247254"/>
          </a:xfrm>
          <a:prstGeom prst="rect">
            <a:avLst/>
          </a:prstGeom>
        </p:spPr>
      </p:pic>
      <p:sp>
        <p:nvSpPr>
          <p:cNvPr id="20" name="Text 15"/>
          <p:cNvSpPr txBox="1"/>
          <p:nvPr/>
        </p:nvSpPr>
        <p:spPr>
          <a:xfrm>
            <a:off x="2148840" y="3035808"/>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C–D</a:t>
            </a:r>
            <a:endParaRPr lang="en-US" sz="1500" dirty="0"/>
          </a:p>
        </p:txBody>
      </p:sp>
      <p:sp>
        <p:nvSpPr>
          <p:cNvPr id="21" name="Text 16"/>
          <p:cNvSpPr txBox="1"/>
          <p:nvPr/>
        </p:nvSpPr>
        <p:spPr>
          <a:xfrm>
            <a:off x="2788920" y="3035808"/>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Architecture, pipeline and preprocessing</a:t>
            </a:r>
            <a:endParaRPr lang="en-US" sz="1500" dirty="0"/>
          </a:p>
        </p:txBody>
      </p:sp>
      <p:sp>
        <p:nvSpPr>
          <p:cNvPr id="22" name="Shape 17"/>
          <p:cNvSpPr/>
          <p:nvPr/>
        </p:nvSpPr>
        <p:spPr>
          <a:xfrm>
            <a:off x="548640" y="3822192"/>
            <a:ext cx="6949440" cy="658368"/>
          </a:xfrm>
          <a:prstGeom prst="roundRect">
            <a:avLst>
              <a:gd name="adj" fmla="val 16667"/>
            </a:avLst>
          </a:prstGeom>
          <a:solidFill>
            <a:srgbClr val="FFFFFF"/>
          </a:solidFill>
          <a:ln w="9525">
            <a:solidFill>
              <a:srgbClr val="D5DED9"/>
            </a:solidFill>
            <a:prstDash val="solid"/>
          </a:ln>
        </p:spPr>
      </p:sp>
      <p:sp>
        <p:nvSpPr>
          <p:cNvPr id="23" name="Text 18"/>
          <p:cNvSpPr txBox="1"/>
          <p:nvPr/>
        </p:nvSpPr>
        <p:spPr>
          <a:xfrm>
            <a:off x="685800" y="3822192"/>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25 min</a:t>
            </a:r>
            <a:endParaRPr lang="en-US" sz="1500" dirty="0"/>
          </a:p>
        </p:txBody>
      </p:sp>
      <p:sp>
        <p:nvSpPr>
          <p:cNvPr id="24" name="Shape 19"/>
          <p:cNvSpPr/>
          <p:nvPr/>
        </p:nvSpPr>
        <p:spPr>
          <a:xfrm>
            <a:off x="1554480" y="3913632"/>
            <a:ext cx="475488" cy="475488"/>
          </a:xfrm>
          <a:prstGeom prst="ellipse">
            <a:avLst/>
          </a:prstGeom>
          <a:solidFill>
            <a:srgbClr val="00704A"/>
          </a:solidFill>
          <a:ln w="12700">
            <a:solidFill>
              <a:srgbClr val="00704A"/>
            </a:solidFill>
            <a:prstDash val="solid"/>
          </a:ln>
        </p:spPr>
      </p:sp>
      <p:pic>
        <p:nvPicPr>
          <p:cNvPr id="25" name="Image 3" descr="preencoded.png">    </p:cNvPr>
          <p:cNvPicPr>
            <a:picLocks noChangeAspect="1"/>
          </p:cNvPicPr>
          <p:nvPr/>
        </p:nvPicPr>
        <p:blipFill>
          <a:blip r:embed="rId4"/>
          <a:stretch>
            <a:fillRect/>
          </a:stretch>
        </p:blipFill>
        <p:spPr>
          <a:xfrm>
            <a:off x="1668597" y="4027749"/>
            <a:ext cx="247254" cy="247254"/>
          </a:xfrm>
          <a:prstGeom prst="rect">
            <a:avLst/>
          </a:prstGeom>
        </p:spPr>
      </p:pic>
      <p:sp>
        <p:nvSpPr>
          <p:cNvPr id="26" name="Text 20"/>
          <p:cNvSpPr txBox="1"/>
          <p:nvPr/>
        </p:nvSpPr>
        <p:spPr>
          <a:xfrm>
            <a:off x="2148840" y="3822192"/>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E</a:t>
            </a:r>
            <a:endParaRPr lang="en-US" sz="1500" dirty="0"/>
          </a:p>
        </p:txBody>
      </p:sp>
      <p:sp>
        <p:nvSpPr>
          <p:cNvPr id="27" name="Text 21"/>
          <p:cNvSpPr txBox="1"/>
          <p:nvPr/>
        </p:nvSpPr>
        <p:spPr>
          <a:xfrm>
            <a:off x="2788920" y="3822192"/>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Analyses: trends, regions, GDP, shocks, inequality</a:t>
            </a:r>
            <a:endParaRPr lang="en-US" sz="1500" dirty="0"/>
          </a:p>
        </p:txBody>
      </p:sp>
      <p:sp>
        <p:nvSpPr>
          <p:cNvPr id="28" name="Shape 22"/>
          <p:cNvSpPr/>
          <p:nvPr/>
        </p:nvSpPr>
        <p:spPr>
          <a:xfrm>
            <a:off x="548640" y="4608576"/>
            <a:ext cx="6949440" cy="658368"/>
          </a:xfrm>
          <a:prstGeom prst="roundRect">
            <a:avLst>
              <a:gd name="adj" fmla="val 16667"/>
            </a:avLst>
          </a:prstGeom>
          <a:solidFill>
            <a:srgbClr val="F4F7F5"/>
          </a:solidFill>
          <a:ln w="9525">
            <a:solidFill>
              <a:srgbClr val="D5DED9"/>
            </a:solidFill>
            <a:prstDash val="solid"/>
          </a:ln>
        </p:spPr>
      </p:sp>
      <p:sp>
        <p:nvSpPr>
          <p:cNvPr id="29" name="Text 23"/>
          <p:cNvSpPr txBox="1"/>
          <p:nvPr/>
        </p:nvSpPr>
        <p:spPr>
          <a:xfrm>
            <a:off x="685800" y="4608576"/>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7 min</a:t>
            </a:r>
            <a:endParaRPr lang="en-US" sz="1500" dirty="0"/>
          </a:p>
        </p:txBody>
      </p:sp>
      <p:sp>
        <p:nvSpPr>
          <p:cNvPr id="30" name="Shape 24"/>
          <p:cNvSpPr/>
          <p:nvPr/>
        </p:nvSpPr>
        <p:spPr>
          <a:xfrm>
            <a:off x="1554480" y="4700016"/>
            <a:ext cx="475488" cy="475488"/>
          </a:xfrm>
          <a:prstGeom prst="ellipse">
            <a:avLst/>
          </a:prstGeom>
          <a:solidFill>
            <a:srgbClr val="1F4E8C"/>
          </a:solidFill>
          <a:ln w="12700">
            <a:solidFill>
              <a:srgbClr val="1F4E8C"/>
            </a:solidFill>
            <a:prstDash val="solid"/>
          </a:ln>
        </p:spPr>
      </p:sp>
      <p:pic>
        <p:nvPicPr>
          <p:cNvPr id="31" name="Image 4" descr="preencoded.png">    </p:cNvPr>
          <p:cNvPicPr>
            <a:picLocks noChangeAspect="1"/>
          </p:cNvPicPr>
          <p:nvPr/>
        </p:nvPicPr>
        <p:blipFill>
          <a:blip r:embed="rId5"/>
          <a:stretch>
            <a:fillRect/>
          </a:stretch>
        </p:blipFill>
        <p:spPr>
          <a:xfrm>
            <a:off x="1668597" y="4814133"/>
            <a:ext cx="247254" cy="247254"/>
          </a:xfrm>
          <a:prstGeom prst="rect">
            <a:avLst/>
          </a:prstGeom>
        </p:spPr>
      </p:pic>
      <p:sp>
        <p:nvSpPr>
          <p:cNvPr id="32" name="Text 25"/>
          <p:cNvSpPr txBox="1"/>
          <p:nvPr/>
        </p:nvSpPr>
        <p:spPr>
          <a:xfrm>
            <a:off x="2148840" y="4608576"/>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F</a:t>
            </a:r>
            <a:endParaRPr lang="en-US" sz="1500" dirty="0"/>
          </a:p>
        </p:txBody>
      </p:sp>
      <p:sp>
        <p:nvSpPr>
          <p:cNvPr id="33" name="Text 26"/>
          <p:cNvSpPr txBox="1"/>
          <p:nvPr/>
        </p:nvSpPr>
        <p:spPr>
          <a:xfrm>
            <a:off x="2788920" y="4608576"/>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Confidence, dashboard and publishing</a:t>
            </a:r>
            <a:endParaRPr lang="en-US" sz="1500" dirty="0"/>
          </a:p>
        </p:txBody>
      </p:sp>
      <p:sp>
        <p:nvSpPr>
          <p:cNvPr id="34" name="Shape 27"/>
          <p:cNvSpPr/>
          <p:nvPr/>
        </p:nvSpPr>
        <p:spPr>
          <a:xfrm>
            <a:off x="548640" y="5394960"/>
            <a:ext cx="6949440" cy="658368"/>
          </a:xfrm>
          <a:prstGeom prst="roundRect">
            <a:avLst>
              <a:gd name="adj" fmla="val 16667"/>
            </a:avLst>
          </a:prstGeom>
          <a:solidFill>
            <a:srgbClr val="FFFFFF"/>
          </a:solidFill>
          <a:ln w="9525">
            <a:solidFill>
              <a:srgbClr val="D5DED9"/>
            </a:solidFill>
            <a:prstDash val="solid"/>
          </a:ln>
        </p:spPr>
      </p:sp>
      <p:sp>
        <p:nvSpPr>
          <p:cNvPr id="35" name="Text 28"/>
          <p:cNvSpPr txBox="1"/>
          <p:nvPr/>
        </p:nvSpPr>
        <p:spPr>
          <a:xfrm>
            <a:off x="685800" y="5394960"/>
            <a:ext cx="82296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8 min</a:t>
            </a:r>
            <a:endParaRPr lang="en-US" sz="1500" dirty="0"/>
          </a:p>
        </p:txBody>
      </p:sp>
      <p:sp>
        <p:nvSpPr>
          <p:cNvPr id="36" name="Shape 29"/>
          <p:cNvSpPr/>
          <p:nvPr/>
        </p:nvSpPr>
        <p:spPr>
          <a:xfrm>
            <a:off x="1554480" y="5486400"/>
            <a:ext cx="475488" cy="475488"/>
          </a:xfrm>
          <a:prstGeom prst="ellipse">
            <a:avLst/>
          </a:prstGeom>
          <a:solidFill>
            <a:srgbClr val="00704A"/>
          </a:solidFill>
          <a:ln w="12700">
            <a:solidFill>
              <a:srgbClr val="00704A"/>
            </a:solidFill>
            <a:prstDash val="solid"/>
          </a:ln>
        </p:spPr>
      </p:sp>
      <p:pic>
        <p:nvPicPr>
          <p:cNvPr id="37" name="Image 5" descr="preencoded.png">    </p:cNvPr>
          <p:cNvPicPr>
            <a:picLocks noChangeAspect="1"/>
          </p:cNvPicPr>
          <p:nvPr/>
        </p:nvPicPr>
        <p:blipFill>
          <a:blip r:embed="rId6"/>
          <a:stretch>
            <a:fillRect/>
          </a:stretch>
        </p:blipFill>
        <p:spPr>
          <a:xfrm>
            <a:off x="1668597" y="5600517"/>
            <a:ext cx="247254" cy="247254"/>
          </a:xfrm>
          <a:prstGeom prst="rect">
            <a:avLst/>
          </a:prstGeom>
        </p:spPr>
      </p:pic>
      <p:sp>
        <p:nvSpPr>
          <p:cNvPr id="38" name="Text 30"/>
          <p:cNvSpPr txBox="1"/>
          <p:nvPr/>
        </p:nvSpPr>
        <p:spPr>
          <a:xfrm>
            <a:off x="2148840" y="5394960"/>
            <a:ext cx="685800" cy="658368"/>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G</a:t>
            </a:r>
            <a:endParaRPr lang="en-US" sz="1500" dirty="0"/>
          </a:p>
        </p:txBody>
      </p:sp>
      <p:sp>
        <p:nvSpPr>
          <p:cNvPr id="39" name="Text 31"/>
          <p:cNvSpPr txBox="1"/>
          <p:nvPr/>
        </p:nvSpPr>
        <p:spPr>
          <a:xfrm>
            <a:off x="2788920" y="5394960"/>
            <a:ext cx="4663440" cy="658368"/>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Limitations, wrap-up and bridge to your projects</a:t>
            </a:r>
            <a:endParaRPr lang="en-US" sz="1500" dirty="0"/>
          </a:p>
        </p:txBody>
      </p:sp>
      <p:sp>
        <p:nvSpPr>
          <p:cNvPr id="40" name="Shape 32"/>
          <p:cNvSpPr/>
          <p:nvPr/>
        </p:nvSpPr>
        <p:spPr>
          <a:xfrm>
            <a:off x="7863840" y="1463040"/>
            <a:ext cx="3794760" cy="4572000"/>
          </a:xfrm>
          <a:prstGeom prst="roundRect">
            <a:avLst>
              <a:gd name="adj" fmla="val 2892"/>
            </a:avLst>
          </a:prstGeom>
          <a:solidFill>
            <a:srgbClr val="E8F5EF"/>
          </a:solidFill>
          <a:ln w="9525">
            <a:solidFill>
              <a:srgbClr val="E8F5EF"/>
            </a:solidFill>
            <a:prstDash val="solid"/>
          </a:ln>
          <a:effectLst>
            <a:outerShdw sx="100000" sy="100000" kx="0" ky="0" algn="bl" rotWithShape="0" blurRad="101600" dist="25400" dir="5400000">
              <a:srgbClr val="9CA3AF">
                <a:alpha val="25000"/>
              </a:srgbClr>
            </a:outerShdw>
          </a:effectLst>
        </p:spPr>
      </p:sp>
      <p:sp>
        <p:nvSpPr>
          <p:cNvPr id="41" name="Text 33"/>
          <p:cNvSpPr txBox="1"/>
          <p:nvPr/>
        </p:nvSpPr>
        <p:spPr>
          <a:xfrm>
            <a:off x="8092440" y="1600200"/>
            <a:ext cx="33832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Where we are</a:t>
            </a:r>
            <a:endParaRPr lang="en-US" sz="1600" dirty="0"/>
          </a:p>
        </p:txBody>
      </p:sp>
      <p:sp>
        <p:nvSpPr>
          <p:cNvPr id="42" name="Shape 34"/>
          <p:cNvSpPr/>
          <p:nvPr/>
        </p:nvSpPr>
        <p:spPr>
          <a:xfrm>
            <a:off x="8138160" y="2194560"/>
            <a:ext cx="292608" cy="292608"/>
          </a:xfrm>
          <a:prstGeom prst="ellipse">
            <a:avLst/>
          </a:prstGeom>
          <a:solidFill>
            <a:srgbClr val="6B7280"/>
          </a:solidFill>
          <a:ln w="12700">
            <a:solidFill>
              <a:srgbClr val="6B7280"/>
            </a:solidFill>
            <a:prstDash val="solid"/>
          </a:ln>
        </p:spPr>
      </p:sp>
      <p:sp>
        <p:nvSpPr>
          <p:cNvPr id="43" name="Shape 35"/>
          <p:cNvSpPr/>
          <p:nvPr/>
        </p:nvSpPr>
        <p:spPr>
          <a:xfrm>
            <a:off x="8284464" y="2514600"/>
            <a:ext cx="0" cy="896112"/>
          </a:xfrm>
          <a:prstGeom prst="line">
            <a:avLst/>
          </a:prstGeom>
          <a:noFill/>
          <a:ln w="25400">
            <a:solidFill>
              <a:srgbClr val="D5DED9"/>
            </a:solidFill>
            <a:prstDash val="solid"/>
          </a:ln>
        </p:spPr>
      </p:sp>
      <p:sp>
        <p:nvSpPr>
          <p:cNvPr id="44" name="Text 36"/>
          <p:cNvSpPr txBox="1"/>
          <p:nvPr/>
        </p:nvSpPr>
        <p:spPr>
          <a:xfrm>
            <a:off x="8549640" y="2148840"/>
            <a:ext cx="30175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6B7280"/>
                </a:solidFill>
              </a:rPr>
              <a:t>Parts 1–2</a:t>
            </a:r>
            <a:endParaRPr lang="en-US" sz="1400" dirty="0"/>
          </a:p>
        </p:txBody>
      </p:sp>
      <p:sp>
        <p:nvSpPr>
          <p:cNvPr id="45" name="Text 37"/>
          <p:cNvSpPr txBox="1"/>
          <p:nvPr/>
        </p:nvSpPr>
        <p:spPr>
          <a:xfrm>
            <a:off x="8549640" y="2478024"/>
            <a:ext cx="3017520" cy="73152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Collect and understand a Black Marble file</a:t>
            </a:r>
            <a:endParaRPr lang="en-US" sz="1350" dirty="0"/>
          </a:p>
        </p:txBody>
      </p:sp>
      <p:sp>
        <p:nvSpPr>
          <p:cNvPr id="46" name="Shape 38"/>
          <p:cNvSpPr/>
          <p:nvPr/>
        </p:nvSpPr>
        <p:spPr>
          <a:xfrm>
            <a:off x="8138160" y="3429000"/>
            <a:ext cx="292608" cy="292608"/>
          </a:xfrm>
          <a:prstGeom prst="ellipse">
            <a:avLst/>
          </a:prstGeom>
          <a:solidFill>
            <a:srgbClr val="00553A"/>
          </a:solidFill>
          <a:ln w="12700">
            <a:solidFill>
              <a:srgbClr val="00553A"/>
            </a:solidFill>
            <a:prstDash val="solid"/>
          </a:ln>
        </p:spPr>
      </p:sp>
      <p:sp>
        <p:nvSpPr>
          <p:cNvPr id="47" name="Shape 39"/>
          <p:cNvSpPr/>
          <p:nvPr/>
        </p:nvSpPr>
        <p:spPr>
          <a:xfrm>
            <a:off x="8284464" y="3749040"/>
            <a:ext cx="0" cy="896112"/>
          </a:xfrm>
          <a:prstGeom prst="line">
            <a:avLst/>
          </a:prstGeom>
          <a:noFill/>
          <a:ln w="25400">
            <a:solidFill>
              <a:srgbClr val="D5DED9"/>
            </a:solidFill>
            <a:prstDash val="solid"/>
          </a:ln>
        </p:spPr>
      </p:sp>
      <p:sp>
        <p:nvSpPr>
          <p:cNvPr id="48" name="Text 40"/>
          <p:cNvSpPr txBox="1"/>
          <p:nvPr/>
        </p:nvSpPr>
        <p:spPr>
          <a:xfrm>
            <a:off x="8549640" y="3383280"/>
            <a:ext cx="30175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Part 3</a:t>
            </a:r>
            <a:endParaRPr lang="en-US" sz="1400" dirty="0"/>
          </a:p>
        </p:txBody>
      </p:sp>
      <p:sp>
        <p:nvSpPr>
          <p:cNvPr id="49" name="Text 41"/>
          <p:cNvSpPr txBox="1"/>
          <p:nvPr/>
        </p:nvSpPr>
        <p:spPr>
          <a:xfrm>
            <a:off x="8549640" y="3712464"/>
            <a:ext cx="3017520" cy="73152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Analyse and publish — this session</a:t>
            </a:r>
            <a:endParaRPr lang="en-US" sz="1350" dirty="0"/>
          </a:p>
        </p:txBody>
      </p:sp>
      <p:sp>
        <p:nvSpPr>
          <p:cNvPr id="50" name="Shape 42"/>
          <p:cNvSpPr/>
          <p:nvPr/>
        </p:nvSpPr>
        <p:spPr>
          <a:xfrm>
            <a:off x="8138160" y="4663440"/>
            <a:ext cx="292608" cy="292608"/>
          </a:xfrm>
          <a:prstGeom prst="ellipse">
            <a:avLst/>
          </a:prstGeom>
          <a:solidFill>
            <a:srgbClr val="1F4E8C"/>
          </a:solidFill>
          <a:ln w="12700">
            <a:solidFill>
              <a:srgbClr val="1F4E8C"/>
            </a:solidFill>
            <a:prstDash val="solid"/>
          </a:ln>
        </p:spPr>
      </p:sp>
      <p:sp>
        <p:nvSpPr>
          <p:cNvPr id="51" name="Text 43"/>
          <p:cNvSpPr txBox="1"/>
          <p:nvPr/>
        </p:nvSpPr>
        <p:spPr>
          <a:xfrm>
            <a:off x="8549640" y="4617720"/>
            <a:ext cx="30175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Next step</a:t>
            </a:r>
            <a:endParaRPr lang="en-US" sz="1400" dirty="0"/>
          </a:p>
        </p:txBody>
      </p:sp>
      <p:sp>
        <p:nvSpPr>
          <p:cNvPr id="52" name="Text 44"/>
          <p:cNvSpPr txBox="1"/>
          <p:nvPr/>
        </p:nvSpPr>
        <p:spPr>
          <a:xfrm>
            <a:off x="8549640" y="4946904"/>
            <a:ext cx="3017520" cy="73152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Apply the pipeline to your own country</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 · WHY LIGHTS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intuition: human activity is visible from space</a:t>
            </a:r>
            <a:endParaRPr lang="en-US" sz="2800" dirty="0"/>
          </a:p>
        </p:txBody>
      </p:sp>
      <p:pic>
        <p:nvPicPr>
          <p:cNvPr id="4" name="Image 0" descr="/tmp/claude-0/-home-claude/8a8742ef-7d0d-54fc-a0c9-7ecbfc9f8b73/scratchpad/deck/real/ghana_change.png">    </p:cNvPr>
          <p:cNvPicPr>
            <a:picLocks noChangeAspect="1"/>
          </p:cNvPicPr>
          <p:nvPr/>
        </p:nvPicPr>
        <p:blipFill>
          <a:blip r:embed="rId1"/>
          <a:stretch>
            <a:fillRect/>
          </a:stretch>
        </p:blipFill>
        <p:spPr>
          <a:xfrm>
            <a:off x="576389" y="1371600"/>
            <a:ext cx="3693543" cy="4754880"/>
          </a:xfrm>
          <a:prstGeom prst="rect">
            <a:avLst/>
          </a:prstGeom>
        </p:spPr>
      </p:pic>
      <p:sp>
        <p:nvSpPr>
          <p:cNvPr id="5" name="Text 2"/>
          <p:cNvSpPr txBox="1"/>
          <p:nvPr/>
        </p:nvSpPr>
        <p:spPr>
          <a:xfrm>
            <a:off x="548640" y="6108192"/>
            <a:ext cx="393192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Radiance change 2020→2025, Ghana (Black Marble). Source: blackmarblepy, World Bank (MIT).</a:t>
            </a:r>
            <a:endParaRPr lang="en-US" sz="1000" dirty="0"/>
          </a:p>
        </p:txBody>
      </p:sp>
      <p:sp>
        <p:nvSpPr>
          <p:cNvPr id="6" name="Shape 3"/>
          <p:cNvSpPr/>
          <p:nvPr/>
        </p:nvSpPr>
        <p:spPr>
          <a:xfrm>
            <a:off x="5074920" y="1508760"/>
            <a:ext cx="777240" cy="777240"/>
          </a:xfrm>
          <a:prstGeom prst="ellipse">
            <a:avLst/>
          </a:prstGeom>
          <a:solidFill>
            <a:srgbClr val="00704A"/>
          </a:solidFill>
          <a:ln w="12700">
            <a:solidFill>
              <a:srgbClr val="00704A"/>
            </a:solidFill>
            <a:prstDash val="solid"/>
          </a:ln>
        </p:spPr>
      </p:sp>
      <p:pic>
        <p:nvPicPr>
          <p:cNvPr id="7" name="Image 1" descr="preencoded.png">    </p:cNvPr>
          <p:cNvPicPr>
            <a:picLocks noChangeAspect="1"/>
          </p:cNvPicPr>
          <p:nvPr/>
        </p:nvPicPr>
        <p:blipFill>
          <a:blip r:embed="rId2"/>
          <a:stretch>
            <a:fillRect/>
          </a:stretch>
        </p:blipFill>
        <p:spPr>
          <a:xfrm>
            <a:off x="5261458" y="1695298"/>
            <a:ext cx="404165" cy="404165"/>
          </a:xfrm>
          <a:prstGeom prst="rect">
            <a:avLst/>
          </a:prstGeom>
        </p:spPr>
      </p:pic>
      <p:sp>
        <p:nvSpPr>
          <p:cNvPr id="8" name="Text 4"/>
          <p:cNvSpPr txBox="1"/>
          <p:nvPr/>
        </p:nvSpPr>
        <p:spPr>
          <a:xfrm>
            <a:off x="466344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Activity</a:t>
            </a:r>
            <a:endParaRPr lang="en-US" sz="1500" dirty="0"/>
          </a:p>
        </p:txBody>
      </p:sp>
      <p:sp>
        <p:nvSpPr>
          <p:cNvPr id="9" name="Text 5"/>
          <p:cNvSpPr txBox="1"/>
          <p:nvPr/>
        </p:nvSpPr>
        <p:spPr>
          <a:xfrm>
            <a:off x="466344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producing, transporting, trading, consuming</a:t>
            </a:r>
            <a:endParaRPr lang="en-US" sz="1250" dirty="0"/>
          </a:p>
        </p:txBody>
      </p:sp>
      <p:sp>
        <p:nvSpPr>
          <p:cNvPr id="10" name="Shape 6"/>
          <p:cNvSpPr/>
          <p:nvPr/>
        </p:nvSpPr>
        <p:spPr>
          <a:xfrm>
            <a:off x="5989320" y="1892808"/>
            <a:ext cx="777240" cy="914"/>
          </a:xfrm>
          <a:prstGeom prst="line">
            <a:avLst/>
          </a:prstGeom>
          <a:noFill/>
          <a:ln w="31750">
            <a:solidFill>
              <a:srgbClr val="F5C242"/>
            </a:solidFill>
            <a:prstDash val="solid"/>
            <a:tailEnd type="triangle"/>
          </a:ln>
        </p:spPr>
      </p:sp>
      <p:sp>
        <p:nvSpPr>
          <p:cNvPr id="11" name="Shape 7"/>
          <p:cNvSpPr/>
          <p:nvPr/>
        </p:nvSpPr>
        <p:spPr>
          <a:xfrm>
            <a:off x="6858000" y="1508760"/>
            <a:ext cx="777240" cy="777240"/>
          </a:xfrm>
          <a:prstGeom prst="ellipse">
            <a:avLst/>
          </a:prstGeom>
          <a:solidFill>
            <a:srgbClr val="00704A"/>
          </a:solidFill>
          <a:ln w="12700">
            <a:solidFill>
              <a:srgbClr val="00704A"/>
            </a:solidFill>
            <a:prstDash val="solid"/>
          </a:ln>
        </p:spPr>
      </p:sp>
      <p:pic>
        <p:nvPicPr>
          <p:cNvPr id="12" name="Image 2" descr="preencoded.png">    </p:cNvPr>
          <p:cNvPicPr>
            <a:picLocks noChangeAspect="1"/>
          </p:cNvPicPr>
          <p:nvPr/>
        </p:nvPicPr>
        <p:blipFill>
          <a:blip r:embed="rId3"/>
          <a:stretch>
            <a:fillRect/>
          </a:stretch>
        </p:blipFill>
        <p:spPr>
          <a:xfrm>
            <a:off x="7044538" y="1695298"/>
            <a:ext cx="404165" cy="404165"/>
          </a:xfrm>
          <a:prstGeom prst="rect">
            <a:avLst/>
          </a:prstGeom>
        </p:spPr>
      </p:pic>
      <p:sp>
        <p:nvSpPr>
          <p:cNvPr id="13" name="Text 8"/>
          <p:cNvSpPr txBox="1"/>
          <p:nvPr/>
        </p:nvSpPr>
        <p:spPr>
          <a:xfrm>
            <a:off x="644652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Energy</a:t>
            </a:r>
            <a:endParaRPr lang="en-US" sz="1500" dirty="0"/>
          </a:p>
        </p:txBody>
      </p:sp>
      <p:sp>
        <p:nvSpPr>
          <p:cNvPr id="14" name="Text 9"/>
          <p:cNvSpPr txBox="1"/>
          <p:nvPr/>
        </p:nvSpPr>
        <p:spPr>
          <a:xfrm>
            <a:off x="644652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activity requires electricity</a:t>
            </a:r>
            <a:endParaRPr lang="en-US" sz="1250" dirty="0"/>
          </a:p>
        </p:txBody>
      </p:sp>
      <p:sp>
        <p:nvSpPr>
          <p:cNvPr id="15" name="Shape 10"/>
          <p:cNvSpPr/>
          <p:nvPr/>
        </p:nvSpPr>
        <p:spPr>
          <a:xfrm>
            <a:off x="7772400" y="1892808"/>
            <a:ext cx="777240" cy="914"/>
          </a:xfrm>
          <a:prstGeom prst="line">
            <a:avLst/>
          </a:prstGeom>
          <a:noFill/>
          <a:ln w="31750">
            <a:solidFill>
              <a:srgbClr val="F5C242"/>
            </a:solidFill>
            <a:prstDash val="solid"/>
            <a:tailEnd type="triangle"/>
          </a:ln>
        </p:spPr>
      </p:sp>
      <p:sp>
        <p:nvSpPr>
          <p:cNvPr id="16" name="Shape 11"/>
          <p:cNvSpPr/>
          <p:nvPr/>
        </p:nvSpPr>
        <p:spPr>
          <a:xfrm>
            <a:off x="8641080" y="1508760"/>
            <a:ext cx="777240" cy="777240"/>
          </a:xfrm>
          <a:prstGeom prst="ellipse">
            <a:avLst/>
          </a:prstGeom>
          <a:solidFill>
            <a:srgbClr val="00704A"/>
          </a:solidFill>
          <a:ln w="12700">
            <a:solidFill>
              <a:srgbClr val="00704A"/>
            </a:solidFill>
            <a:prstDash val="solid"/>
          </a:ln>
        </p:spPr>
      </p:sp>
      <p:pic>
        <p:nvPicPr>
          <p:cNvPr id="17" name="Image 3" descr="preencoded.png">    </p:cNvPr>
          <p:cNvPicPr>
            <a:picLocks noChangeAspect="1"/>
          </p:cNvPicPr>
          <p:nvPr/>
        </p:nvPicPr>
        <p:blipFill>
          <a:blip r:embed="rId4"/>
          <a:stretch>
            <a:fillRect/>
          </a:stretch>
        </p:blipFill>
        <p:spPr>
          <a:xfrm>
            <a:off x="8827618" y="1695298"/>
            <a:ext cx="404165" cy="404165"/>
          </a:xfrm>
          <a:prstGeom prst="rect">
            <a:avLst/>
          </a:prstGeom>
        </p:spPr>
      </p:pic>
      <p:sp>
        <p:nvSpPr>
          <p:cNvPr id="18" name="Text 12"/>
          <p:cNvSpPr txBox="1"/>
          <p:nvPr/>
        </p:nvSpPr>
        <p:spPr>
          <a:xfrm>
            <a:off x="822960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Light</a:t>
            </a:r>
            <a:endParaRPr lang="en-US" sz="1500" dirty="0"/>
          </a:p>
        </p:txBody>
      </p:sp>
      <p:sp>
        <p:nvSpPr>
          <p:cNvPr id="19" name="Text 13"/>
          <p:cNvSpPr txBox="1"/>
          <p:nvPr/>
        </p:nvSpPr>
        <p:spPr>
          <a:xfrm>
            <a:off x="822960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part of it escapes skywards at night</a:t>
            </a:r>
            <a:endParaRPr lang="en-US" sz="1250" dirty="0"/>
          </a:p>
        </p:txBody>
      </p:sp>
      <p:sp>
        <p:nvSpPr>
          <p:cNvPr id="20" name="Shape 14"/>
          <p:cNvSpPr/>
          <p:nvPr/>
        </p:nvSpPr>
        <p:spPr>
          <a:xfrm>
            <a:off x="9555480" y="1892808"/>
            <a:ext cx="777240" cy="914"/>
          </a:xfrm>
          <a:prstGeom prst="line">
            <a:avLst/>
          </a:prstGeom>
          <a:noFill/>
          <a:ln w="31750">
            <a:solidFill>
              <a:srgbClr val="F5C242"/>
            </a:solidFill>
            <a:prstDash val="solid"/>
            <a:tailEnd type="triangle"/>
          </a:ln>
        </p:spPr>
      </p:sp>
      <p:sp>
        <p:nvSpPr>
          <p:cNvPr id="21" name="Shape 15"/>
          <p:cNvSpPr/>
          <p:nvPr/>
        </p:nvSpPr>
        <p:spPr>
          <a:xfrm>
            <a:off x="10424160" y="1508760"/>
            <a:ext cx="777240" cy="777240"/>
          </a:xfrm>
          <a:prstGeom prst="ellipse">
            <a:avLst/>
          </a:prstGeom>
          <a:solidFill>
            <a:srgbClr val="1F4E8C"/>
          </a:solidFill>
          <a:ln w="12700">
            <a:solidFill>
              <a:srgbClr val="1F4E8C"/>
            </a:solidFill>
            <a:prstDash val="solid"/>
          </a:ln>
        </p:spPr>
      </p:sp>
      <p:pic>
        <p:nvPicPr>
          <p:cNvPr id="22" name="Image 4" descr="preencoded.png">    </p:cNvPr>
          <p:cNvPicPr>
            <a:picLocks noChangeAspect="1"/>
          </p:cNvPicPr>
          <p:nvPr/>
        </p:nvPicPr>
        <p:blipFill>
          <a:blip r:embed="rId5"/>
          <a:stretch>
            <a:fillRect/>
          </a:stretch>
        </p:blipFill>
        <p:spPr>
          <a:xfrm>
            <a:off x="10610698" y="1695298"/>
            <a:ext cx="404165" cy="404165"/>
          </a:xfrm>
          <a:prstGeom prst="rect">
            <a:avLst/>
          </a:prstGeom>
        </p:spPr>
      </p:pic>
      <p:sp>
        <p:nvSpPr>
          <p:cNvPr id="23" name="Text 16"/>
          <p:cNvSpPr txBox="1"/>
          <p:nvPr/>
        </p:nvSpPr>
        <p:spPr>
          <a:xfrm>
            <a:off x="10012680" y="2377440"/>
            <a:ext cx="1600200" cy="320040"/>
          </a:xfrm>
          <a:prstGeom prst="rect">
            <a:avLst/>
          </a:prstGeom>
          <a:noFill/>
          <a:ln/>
        </p:spPr>
        <p:txBody>
          <a:bodyPr wrap="square" lIns="635" tIns="635" rIns="635" bIns="635" rtlCol="0" anchor="t"/>
          <a:lstStyle/>
          <a:p>
            <a:pPr algn="ctr" indent="0" marL="0">
              <a:spcAft>
                <a:spcPts val="200"/>
              </a:spcAft>
              <a:buNone/>
            </a:pPr>
            <a:r>
              <a:rPr lang="en-US" sz="1500" b="1" dirty="0">
                <a:solidFill>
                  <a:srgbClr val="00553A"/>
                </a:solidFill>
              </a:rPr>
              <a:t>Measurement</a:t>
            </a:r>
            <a:endParaRPr lang="en-US" sz="1500" dirty="0"/>
          </a:p>
        </p:txBody>
      </p:sp>
      <p:sp>
        <p:nvSpPr>
          <p:cNvPr id="24" name="Text 17"/>
          <p:cNvSpPr txBox="1"/>
          <p:nvPr/>
        </p:nvSpPr>
        <p:spPr>
          <a:xfrm>
            <a:off x="10012680" y="2697480"/>
            <a:ext cx="1600200" cy="77724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the VIIRS sensor records it every night</a:t>
            </a:r>
            <a:endParaRPr lang="en-US" sz="1250" dirty="0"/>
          </a:p>
        </p:txBody>
      </p:sp>
      <p:sp>
        <p:nvSpPr>
          <p:cNvPr id="25" name="Shape 18"/>
          <p:cNvSpPr/>
          <p:nvPr/>
        </p:nvSpPr>
        <p:spPr>
          <a:xfrm>
            <a:off x="4663440" y="3703320"/>
            <a:ext cx="2240280" cy="1325880"/>
          </a:xfrm>
          <a:prstGeom prst="roundRect">
            <a:avLst>
              <a:gd name="adj" fmla="val 8276"/>
            </a:avLst>
          </a:prstGeom>
          <a:solidFill>
            <a:srgbClr val="E8F5EF"/>
          </a:solidFill>
          <a:ln w="9525">
            <a:solidFill>
              <a:srgbClr val="E8F5EF"/>
            </a:solidFill>
            <a:prstDash val="solid"/>
          </a:ln>
        </p:spPr>
      </p:sp>
      <p:sp>
        <p:nvSpPr>
          <p:cNvPr id="26" name="Text 19"/>
          <p:cNvSpPr txBox="1"/>
          <p:nvPr/>
        </p:nvSpPr>
        <p:spPr>
          <a:xfrm>
            <a:off x="4800600" y="3767328"/>
            <a:ext cx="20116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Homogeneous</a:t>
            </a:r>
            <a:endParaRPr lang="en-US" sz="1600" dirty="0"/>
          </a:p>
        </p:txBody>
      </p:sp>
      <p:sp>
        <p:nvSpPr>
          <p:cNvPr id="27" name="Text 20"/>
          <p:cNvSpPr txBox="1"/>
          <p:nvPr/>
        </p:nvSpPr>
        <p:spPr>
          <a:xfrm>
            <a:off x="4800600" y="4114800"/>
            <a:ext cx="201168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same sensor, same method, everywhere</a:t>
            </a:r>
            <a:endParaRPr lang="en-US" sz="1300" dirty="0"/>
          </a:p>
        </p:txBody>
      </p:sp>
      <p:sp>
        <p:nvSpPr>
          <p:cNvPr id="28" name="Shape 21"/>
          <p:cNvSpPr/>
          <p:nvPr/>
        </p:nvSpPr>
        <p:spPr>
          <a:xfrm>
            <a:off x="7040880" y="3703320"/>
            <a:ext cx="2240280" cy="1325880"/>
          </a:xfrm>
          <a:prstGeom prst="roundRect">
            <a:avLst>
              <a:gd name="adj" fmla="val 8276"/>
            </a:avLst>
          </a:prstGeom>
          <a:solidFill>
            <a:srgbClr val="E8F5EF"/>
          </a:solidFill>
          <a:ln w="9525">
            <a:solidFill>
              <a:srgbClr val="E8F5EF"/>
            </a:solidFill>
            <a:prstDash val="solid"/>
          </a:ln>
        </p:spPr>
      </p:sp>
      <p:sp>
        <p:nvSpPr>
          <p:cNvPr id="29" name="Text 22"/>
          <p:cNvSpPr txBox="1"/>
          <p:nvPr/>
        </p:nvSpPr>
        <p:spPr>
          <a:xfrm>
            <a:off x="7178040" y="3767328"/>
            <a:ext cx="20116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Detailed</a:t>
            </a:r>
            <a:endParaRPr lang="en-US" sz="1600" dirty="0"/>
          </a:p>
        </p:txBody>
      </p:sp>
      <p:sp>
        <p:nvSpPr>
          <p:cNvPr id="30" name="Text 23"/>
          <p:cNvSpPr txBox="1"/>
          <p:nvPr/>
        </p:nvSpPr>
        <p:spPr>
          <a:xfrm>
            <a:off x="7178040" y="4114800"/>
            <a:ext cx="201168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~500 m pixel: regions, districts, cities</a:t>
            </a:r>
            <a:endParaRPr lang="en-US" sz="1300" dirty="0"/>
          </a:p>
        </p:txBody>
      </p:sp>
      <p:sp>
        <p:nvSpPr>
          <p:cNvPr id="31" name="Shape 24"/>
          <p:cNvSpPr/>
          <p:nvPr/>
        </p:nvSpPr>
        <p:spPr>
          <a:xfrm>
            <a:off x="9418320" y="3703320"/>
            <a:ext cx="2240280" cy="1325880"/>
          </a:xfrm>
          <a:prstGeom prst="roundRect">
            <a:avLst>
              <a:gd name="adj" fmla="val 8276"/>
            </a:avLst>
          </a:prstGeom>
          <a:solidFill>
            <a:srgbClr val="E8F5EF"/>
          </a:solidFill>
          <a:ln w="9525">
            <a:solidFill>
              <a:srgbClr val="E8F5EF"/>
            </a:solidFill>
            <a:prstDash val="solid"/>
          </a:ln>
        </p:spPr>
      </p:sp>
      <p:sp>
        <p:nvSpPr>
          <p:cNvPr id="32" name="Text 25"/>
          <p:cNvSpPr txBox="1"/>
          <p:nvPr/>
        </p:nvSpPr>
        <p:spPr>
          <a:xfrm>
            <a:off x="9555480" y="3767328"/>
            <a:ext cx="201168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Timely</a:t>
            </a:r>
            <a:endParaRPr lang="en-US" sz="1600" dirty="0"/>
          </a:p>
        </p:txBody>
      </p:sp>
      <p:sp>
        <p:nvSpPr>
          <p:cNvPr id="33" name="Text 26"/>
          <p:cNvSpPr txBox="1"/>
          <p:nvPr/>
        </p:nvSpPr>
        <p:spPr>
          <a:xfrm>
            <a:off x="9555480" y="4114800"/>
            <a:ext cx="201168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monthly or even daily, without waiting for the accounts</a:t>
            </a:r>
            <a:endParaRPr lang="en-US" sz="1300" dirty="0"/>
          </a:p>
        </p:txBody>
      </p:sp>
      <p:sp>
        <p:nvSpPr>
          <p:cNvPr id="34" name="Shape 27"/>
          <p:cNvSpPr/>
          <p:nvPr/>
        </p:nvSpPr>
        <p:spPr>
          <a:xfrm>
            <a:off x="4663440" y="5257800"/>
            <a:ext cx="6995160" cy="868680"/>
          </a:xfrm>
          <a:prstGeom prst="roundRect">
            <a:avLst>
              <a:gd name="adj" fmla="val 12632"/>
            </a:avLst>
          </a:prstGeom>
          <a:solidFill>
            <a:srgbClr val="FDF6E3"/>
          </a:solidFill>
          <a:ln w="9525">
            <a:solidFill>
              <a:srgbClr val="FDF6E3"/>
            </a:solidFill>
            <a:prstDash val="solid"/>
          </a:ln>
        </p:spPr>
      </p:sp>
      <p:sp>
        <p:nvSpPr>
          <p:cNvPr id="35" name="Text 28"/>
          <p:cNvSpPr txBox="1"/>
          <p:nvPr/>
        </p:nvSpPr>
        <p:spPr>
          <a:xfrm>
            <a:off x="4800600" y="5330952"/>
            <a:ext cx="6720840" cy="72237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Why it matters  </a:t>
            </a:r>
            <a:pPr indent="0" marL="0">
              <a:spcAft>
                <a:spcPts val="200"/>
              </a:spcAft>
              <a:buNone/>
            </a:pPr>
            <a:r>
              <a:rPr lang="en-US" sz="1350" dirty="0">
                <a:solidFill>
                  <a:srgbClr val="231F20"/>
                </a:solidFill>
              </a:rPr>
              <a:t>national accounts are annual, published late and rarely regional; lights fill these gaps without replacing official statistics.</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 · WHY LIGHTS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What the literature says</a:t>
            </a:r>
            <a:endParaRPr lang="en-US" sz="2800" dirty="0"/>
          </a:p>
        </p:txBody>
      </p:sp>
      <p:sp>
        <p:nvSpPr>
          <p:cNvPr id="4" name="Shape 2"/>
          <p:cNvSpPr/>
          <p:nvPr/>
        </p:nvSpPr>
        <p:spPr>
          <a:xfrm>
            <a:off x="868680" y="1600200"/>
            <a:ext cx="0" cy="4526280"/>
          </a:xfrm>
          <a:prstGeom prst="line">
            <a:avLst/>
          </a:prstGeom>
          <a:noFill/>
          <a:ln w="31750">
            <a:solidFill>
              <a:srgbClr val="D5DED9"/>
            </a:solidFill>
            <a:prstDash val="solid"/>
          </a:ln>
        </p:spPr>
      </p:sp>
      <p:sp>
        <p:nvSpPr>
          <p:cNvPr id="5" name="Shape 3"/>
          <p:cNvSpPr/>
          <p:nvPr/>
        </p:nvSpPr>
        <p:spPr>
          <a:xfrm>
            <a:off x="713232" y="1581912"/>
            <a:ext cx="310896" cy="310896"/>
          </a:xfrm>
          <a:prstGeom prst="ellipse">
            <a:avLst/>
          </a:prstGeom>
          <a:solidFill>
            <a:srgbClr val="00704A"/>
          </a:solidFill>
          <a:ln w="25400">
            <a:solidFill>
              <a:srgbClr val="FFFFFF"/>
            </a:solidFill>
            <a:prstDash val="solid"/>
          </a:ln>
        </p:spPr>
      </p:sp>
      <p:sp>
        <p:nvSpPr>
          <p:cNvPr id="6" name="Text 4"/>
          <p:cNvSpPr txBox="1"/>
          <p:nvPr/>
        </p:nvSpPr>
        <p:spPr>
          <a:xfrm>
            <a:off x="1188720" y="149047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2011</a:t>
            </a:r>
            <a:endParaRPr lang="en-US" sz="1400" dirty="0"/>
          </a:p>
        </p:txBody>
      </p:sp>
      <p:sp>
        <p:nvSpPr>
          <p:cNvPr id="7" name="Text 5"/>
          <p:cNvSpPr txBox="1"/>
          <p:nvPr/>
        </p:nvSpPr>
        <p:spPr>
          <a:xfrm>
            <a:off x="2103120" y="141732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Chen &amp; Nordhaus</a:t>
            </a:r>
            <a:pPr indent="0" marL="0">
              <a:spcAft>
                <a:spcPts val="200"/>
              </a:spcAft>
              <a:buNone/>
            </a:pPr>
            <a:r>
              <a:rPr lang="en-US" sz="1400" i="1" dirty="0">
                <a:solidFill>
                  <a:srgbClr val="6B7280"/>
                </a:solidFill>
              </a:rPr>
              <a:t>  ·  PNAS</a:t>
            </a:r>
            <a:endParaRPr lang="en-US" sz="1400" dirty="0"/>
          </a:p>
        </p:txBody>
      </p:sp>
      <p:sp>
        <p:nvSpPr>
          <p:cNvPr id="8" name="Text 6"/>
          <p:cNvSpPr txBox="1"/>
          <p:nvPr/>
        </p:nvSpPr>
        <p:spPr>
          <a:xfrm>
            <a:off x="2103120" y="170992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Lights add information mainly where statistics are weak, and for regions.</a:t>
            </a:r>
            <a:endParaRPr lang="en-US" sz="1250" dirty="0"/>
          </a:p>
        </p:txBody>
      </p:sp>
      <p:sp>
        <p:nvSpPr>
          <p:cNvPr id="9" name="Shape 7"/>
          <p:cNvSpPr/>
          <p:nvPr/>
        </p:nvSpPr>
        <p:spPr>
          <a:xfrm>
            <a:off x="713232" y="2359152"/>
            <a:ext cx="310896" cy="310896"/>
          </a:xfrm>
          <a:prstGeom prst="ellipse">
            <a:avLst/>
          </a:prstGeom>
          <a:solidFill>
            <a:srgbClr val="F5C242"/>
          </a:solidFill>
          <a:ln w="25400">
            <a:solidFill>
              <a:srgbClr val="FFFFFF"/>
            </a:solidFill>
            <a:prstDash val="solid"/>
          </a:ln>
        </p:spPr>
      </p:sp>
      <p:sp>
        <p:nvSpPr>
          <p:cNvPr id="10" name="Text 8"/>
          <p:cNvSpPr txBox="1"/>
          <p:nvPr/>
        </p:nvSpPr>
        <p:spPr>
          <a:xfrm>
            <a:off x="1188720" y="226771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2012</a:t>
            </a:r>
            <a:endParaRPr lang="en-US" sz="1400" dirty="0"/>
          </a:p>
        </p:txBody>
      </p:sp>
      <p:sp>
        <p:nvSpPr>
          <p:cNvPr id="11" name="Text 9"/>
          <p:cNvSpPr txBox="1"/>
          <p:nvPr/>
        </p:nvSpPr>
        <p:spPr>
          <a:xfrm>
            <a:off x="2103120" y="219456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Henderson, Storeygard &amp; Weil</a:t>
            </a:r>
            <a:pPr indent="0" marL="0">
              <a:spcAft>
                <a:spcPts val="200"/>
              </a:spcAft>
              <a:buNone/>
            </a:pPr>
            <a:r>
              <a:rPr lang="en-US" sz="1400" i="1" dirty="0">
                <a:solidFill>
                  <a:srgbClr val="6B7280"/>
                </a:solidFill>
              </a:rPr>
              <a:t>  ·  AER</a:t>
            </a:r>
            <a:endParaRPr lang="en-US" sz="1400" dirty="0"/>
          </a:p>
        </p:txBody>
      </p:sp>
      <p:sp>
        <p:nvSpPr>
          <p:cNvPr id="12" name="Text 10"/>
          <p:cNvSpPr txBox="1"/>
          <p:nvPr/>
        </p:nvSpPr>
        <p:spPr>
          <a:xfrm>
            <a:off x="2103120" y="248716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Growth in lights tracks GDP growth; they improve growth estimates.</a:t>
            </a:r>
            <a:endParaRPr lang="en-US" sz="1250" dirty="0"/>
          </a:p>
        </p:txBody>
      </p:sp>
      <p:sp>
        <p:nvSpPr>
          <p:cNvPr id="13" name="Shape 11"/>
          <p:cNvSpPr/>
          <p:nvPr/>
        </p:nvSpPr>
        <p:spPr>
          <a:xfrm>
            <a:off x="713232" y="3136392"/>
            <a:ext cx="310896" cy="310896"/>
          </a:xfrm>
          <a:prstGeom prst="ellipse">
            <a:avLst/>
          </a:prstGeom>
          <a:solidFill>
            <a:srgbClr val="00704A"/>
          </a:solidFill>
          <a:ln w="25400">
            <a:solidFill>
              <a:srgbClr val="FFFFFF"/>
            </a:solidFill>
            <a:prstDash val="solid"/>
          </a:ln>
        </p:spPr>
      </p:sp>
      <p:sp>
        <p:nvSpPr>
          <p:cNvPr id="14" name="Text 12"/>
          <p:cNvSpPr txBox="1"/>
          <p:nvPr/>
        </p:nvSpPr>
        <p:spPr>
          <a:xfrm>
            <a:off x="1188720" y="304495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2017–21</a:t>
            </a:r>
            <a:endParaRPr lang="en-US" sz="1400" dirty="0"/>
          </a:p>
        </p:txBody>
      </p:sp>
      <p:sp>
        <p:nvSpPr>
          <p:cNvPr id="15" name="Text 13"/>
          <p:cNvSpPr txBox="1"/>
          <p:nvPr/>
        </p:nvSpPr>
        <p:spPr>
          <a:xfrm>
            <a:off x="2103120" y="297180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Elvidge et al.</a:t>
            </a:r>
            <a:pPr indent="0" marL="0">
              <a:spcAft>
                <a:spcPts val="200"/>
              </a:spcAft>
              <a:buNone/>
            </a:pPr>
            <a:r>
              <a:rPr lang="en-US" sz="1400" i="1" dirty="0">
                <a:solidFill>
                  <a:srgbClr val="6B7280"/>
                </a:solidFill>
              </a:rPr>
              <a:t>  ·  IJRS · RS</a:t>
            </a:r>
            <a:endParaRPr lang="en-US" sz="1400" dirty="0"/>
          </a:p>
        </p:txBody>
      </p:sp>
      <p:sp>
        <p:nvSpPr>
          <p:cNvPr id="16" name="Text 14"/>
          <p:cNvSpPr txBox="1"/>
          <p:nvPr/>
        </p:nvSpPr>
        <p:spPr>
          <a:xfrm>
            <a:off x="2103120" y="326440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Monthly and annual VIIRS products (VNL V2): stray light corrected, background and ephemeral lights masked.</a:t>
            </a:r>
            <a:endParaRPr lang="en-US" sz="1250" dirty="0"/>
          </a:p>
        </p:txBody>
      </p:sp>
      <p:sp>
        <p:nvSpPr>
          <p:cNvPr id="17" name="Shape 15"/>
          <p:cNvSpPr/>
          <p:nvPr/>
        </p:nvSpPr>
        <p:spPr>
          <a:xfrm>
            <a:off x="713232" y="3913632"/>
            <a:ext cx="310896" cy="310896"/>
          </a:xfrm>
          <a:prstGeom prst="ellipse">
            <a:avLst/>
          </a:prstGeom>
          <a:solidFill>
            <a:srgbClr val="00704A"/>
          </a:solidFill>
          <a:ln w="25400">
            <a:solidFill>
              <a:srgbClr val="FFFFFF"/>
            </a:solidFill>
            <a:prstDash val="solid"/>
          </a:ln>
        </p:spPr>
      </p:sp>
      <p:sp>
        <p:nvSpPr>
          <p:cNvPr id="18" name="Text 16"/>
          <p:cNvSpPr txBox="1"/>
          <p:nvPr/>
        </p:nvSpPr>
        <p:spPr>
          <a:xfrm>
            <a:off x="1188720" y="382219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2018</a:t>
            </a:r>
            <a:endParaRPr lang="en-US" sz="1400" dirty="0"/>
          </a:p>
        </p:txBody>
      </p:sp>
      <p:sp>
        <p:nvSpPr>
          <p:cNvPr id="19" name="Text 17"/>
          <p:cNvSpPr txBox="1"/>
          <p:nvPr/>
        </p:nvSpPr>
        <p:spPr>
          <a:xfrm>
            <a:off x="2103120" y="374904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Román et al.</a:t>
            </a:r>
            <a:pPr indent="0" marL="0">
              <a:spcAft>
                <a:spcPts val="200"/>
              </a:spcAft>
              <a:buNone/>
            </a:pPr>
            <a:r>
              <a:rPr lang="en-US" sz="1400" i="1" dirty="0">
                <a:solidFill>
                  <a:srgbClr val="6B7280"/>
                </a:solidFill>
              </a:rPr>
              <a:t>  ·  RSE</a:t>
            </a:r>
            <a:endParaRPr lang="en-US" sz="1400" dirty="0"/>
          </a:p>
        </p:txBody>
      </p:sp>
      <p:sp>
        <p:nvSpPr>
          <p:cNvPr id="20" name="Text 18"/>
          <p:cNvSpPr txBox="1"/>
          <p:nvPr/>
        </p:nvSpPr>
        <p:spPr>
          <a:xfrm>
            <a:off x="2103120" y="404164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NASA Black Marble: BRDF and lunar corrections, suited to daily series.</a:t>
            </a:r>
            <a:endParaRPr lang="en-US" sz="1250" dirty="0"/>
          </a:p>
        </p:txBody>
      </p:sp>
      <p:sp>
        <p:nvSpPr>
          <p:cNvPr id="21" name="Shape 19"/>
          <p:cNvSpPr/>
          <p:nvPr/>
        </p:nvSpPr>
        <p:spPr>
          <a:xfrm>
            <a:off x="713232" y="4690872"/>
            <a:ext cx="310896" cy="310896"/>
          </a:xfrm>
          <a:prstGeom prst="ellipse">
            <a:avLst/>
          </a:prstGeom>
          <a:solidFill>
            <a:srgbClr val="00704A"/>
          </a:solidFill>
          <a:ln w="25400">
            <a:solidFill>
              <a:srgbClr val="FFFFFF"/>
            </a:solidFill>
            <a:prstDash val="solid"/>
          </a:ln>
        </p:spPr>
      </p:sp>
      <p:sp>
        <p:nvSpPr>
          <p:cNvPr id="22" name="Text 20"/>
          <p:cNvSpPr txBox="1"/>
          <p:nvPr/>
        </p:nvSpPr>
        <p:spPr>
          <a:xfrm>
            <a:off x="1188720" y="459943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2020</a:t>
            </a:r>
            <a:endParaRPr lang="en-US" sz="1400" dirty="0"/>
          </a:p>
        </p:txBody>
      </p:sp>
      <p:sp>
        <p:nvSpPr>
          <p:cNvPr id="23" name="Text 21"/>
          <p:cNvSpPr txBox="1"/>
          <p:nvPr/>
        </p:nvSpPr>
        <p:spPr>
          <a:xfrm>
            <a:off x="2103120" y="452628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Li et al.</a:t>
            </a:r>
            <a:pPr indent="0" marL="0">
              <a:spcAft>
                <a:spcPts val="200"/>
              </a:spcAft>
              <a:buNone/>
            </a:pPr>
            <a:r>
              <a:rPr lang="en-US" sz="1400" i="1" dirty="0">
                <a:solidFill>
                  <a:srgbClr val="6B7280"/>
                </a:solidFill>
              </a:rPr>
              <a:t>  ·  Sci. Data</a:t>
            </a:r>
            <a:endParaRPr lang="en-US" sz="1400" dirty="0"/>
          </a:p>
        </p:txBody>
      </p:sp>
      <p:sp>
        <p:nvSpPr>
          <p:cNvPr id="24" name="Text 22"/>
          <p:cNvSpPr txBox="1"/>
          <p:nvPr/>
        </p:nvSpPr>
        <p:spPr>
          <a:xfrm>
            <a:off x="2103120" y="481888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Harmonised DMSP–VIIRS series 1992–2018: the long run, to be read as a trend.</a:t>
            </a:r>
            <a:endParaRPr lang="en-US" sz="1250" dirty="0"/>
          </a:p>
        </p:txBody>
      </p:sp>
      <p:sp>
        <p:nvSpPr>
          <p:cNvPr id="25" name="Shape 23"/>
          <p:cNvSpPr/>
          <p:nvPr/>
        </p:nvSpPr>
        <p:spPr>
          <a:xfrm>
            <a:off x="713232" y="5468112"/>
            <a:ext cx="310896" cy="310896"/>
          </a:xfrm>
          <a:prstGeom prst="ellipse">
            <a:avLst/>
          </a:prstGeom>
          <a:solidFill>
            <a:srgbClr val="00704A"/>
          </a:solidFill>
          <a:ln w="25400">
            <a:solidFill>
              <a:srgbClr val="FFFFFF"/>
            </a:solidFill>
            <a:prstDash val="solid"/>
          </a:ln>
        </p:spPr>
      </p:sp>
      <p:sp>
        <p:nvSpPr>
          <p:cNvPr id="26" name="Text 24"/>
          <p:cNvSpPr txBox="1"/>
          <p:nvPr/>
        </p:nvSpPr>
        <p:spPr>
          <a:xfrm>
            <a:off x="1188720" y="5376672"/>
            <a:ext cx="914400" cy="457200"/>
          </a:xfrm>
          <a:prstGeom prst="rect">
            <a:avLst/>
          </a:prstGeom>
          <a:noFill/>
          <a:ln/>
        </p:spPr>
        <p:txBody>
          <a:bodyPr wrap="square" lIns="635" tIns="635" rIns="635" bIns="635" rtlCol="0" anchor="ctr"/>
          <a:lstStyle/>
          <a:p>
            <a:pPr indent="0" marL="0">
              <a:spcAft>
                <a:spcPts val="200"/>
              </a:spcAft>
              <a:buNone/>
            </a:pPr>
            <a:r>
              <a:rPr lang="en-US" sz="1400" b="1" dirty="0">
                <a:solidFill>
                  <a:srgbClr val="1F4E8C"/>
                </a:solidFill>
              </a:rPr>
              <a:t>2020–21</a:t>
            </a:r>
            <a:endParaRPr lang="en-US" sz="1400" dirty="0"/>
          </a:p>
        </p:txBody>
      </p:sp>
      <p:sp>
        <p:nvSpPr>
          <p:cNvPr id="27" name="Text 25"/>
          <p:cNvSpPr txBox="1"/>
          <p:nvPr/>
        </p:nvSpPr>
        <p:spPr>
          <a:xfrm>
            <a:off x="2103120" y="5303520"/>
            <a:ext cx="4663440" cy="292608"/>
          </a:xfrm>
          <a:prstGeom prst="rect">
            <a:avLst/>
          </a:prstGeom>
          <a:noFill/>
          <a:ln/>
        </p:spPr>
        <p:txBody>
          <a:bodyPr wrap="square" lIns="635" tIns="635" rIns="635" bIns="635" rtlCol="0" anchor="t"/>
          <a:lstStyle/>
          <a:p>
            <a:pPr indent="0" marL="0">
              <a:spcAft>
                <a:spcPts val="200"/>
              </a:spcAft>
              <a:buNone/>
            </a:pPr>
            <a:r>
              <a:rPr lang="en-US" sz="1400" b="1" dirty="0">
                <a:solidFill>
                  <a:srgbClr val="231F20"/>
                </a:solidFill>
              </a:rPr>
              <a:t>Gibson et al.</a:t>
            </a:r>
            <a:pPr indent="0" marL="0">
              <a:spcAft>
                <a:spcPts val="200"/>
              </a:spcAft>
              <a:buNone/>
            </a:pPr>
            <a:r>
              <a:rPr lang="en-US" sz="1400" i="1" dirty="0">
                <a:solidFill>
                  <a:srgbClr val="6B7280"/>
                </a:solidFill>
              </a:rPr>
              <a:t>  ·  JDE · JES</a:t>
            </a:r>
            <a:endParaRPr lang="en-US" sz="1400" dirty="0"/>
          </a:p>
        </p:txBody>
      </p:sp>
      <p:sp>
        <p:nvSpPr>
          <p:cNvPr id="28" name="Text 26"/>
          <p:cNvSpPr txBox="1"/>
          <p:nvPr/>
        </p:nvSpPr>
        <p:spPr>
          <a:xfrm>
            <a:off x="2103120" y="5596128"/>
            <a:ext cx="4937760" cy="45720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Limits in rural and sparsely populated areas: the signal is weak there.</a:t>
            </a:r>
            <a:endParaRPr lang="en-US" sz="1250" dirty="0"/>
          </a:p>
        </p:txBody>
      </p:sp>
      <p:sp>
        <p:nvSpPr>
          <p:cNvPr id="29" name="Shape 27"/>
          <p:cNvSpPr/>
          <p:nvPr/>
        </p:nvSpPr>
        <p:spPr>
          <a:xfrm>
            <a:off x="7452360" y="1463040"/>
            <a:ext cx="4206240" cy="2377440"/>
          </a:xfrm>
          <a:prstGeom prst="roundRect">
            <a:avLst>
              <a:gd name="adj" fmla="val 4615"/>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30" name="Text 28"/>
          <p:cNvSpPr txBox="1"/>
          <p:nvPr/>
        </p:nvSpPr>
        <p:spPr>
          <a:xfrm>
            <a:off x="7635240" y="1554480"/>
            <a:ext cx="3840480" cy="1005840"/>
          </a:xfrm>
          <a:prstGeom prst="rect">
            <a:avLst/>
          </a:prstGeom>
          <a:noFill/>
          <a:ln/>
        </p:spPr>
        <p:txBody>
          <a:bodyPr wrap="square" lIns="635" tIns="635" rIns="635" bIns="635" rtlCol="0" anchor="t"/>
          <a:lstStyle/>
          <a:p>
            <a:pPr algn="ctr" indent="0" marL="0">
              <a:spcAft>
                <a:spcPts val="200"/>
              </a:spcAft>
              <a:buNone/>
            </a:pPr>
            <a:r>
              <a:rPr lang="en-US" sz="6000" b="1" dirty="0">
                <a:solidFill>
                  <a:srgbClr val="F5C242"/>
                </a:solidFill>
              </a:rPr>
              <a:t>≈ 0.3</a:t>
            </a:r>
            <a:endParaRPr lang="en-US" sz="6000" dirty="0"/>
          </a:p>
        </p:txBody>
      </p:sp>
      <p:sp>
        <p:nvSpPr>
          <p:cNvPr id="31" name="Text 29"/>
          <p:cNvSpPr txBox="1"/>
          <p:nvPr/>
        </p:nvSpPr>
        <p:spPr>
          <a:xfrm>
            <a:off x="7635240" y="2560320"/>
            <a:ext cx="3840480" cy="1188720"/>
          </a:xfrm>
          <a:prstGeom prst="rect">
            <a:avLst/>
          </a:prstGeom>
          <a:noFill/>
          <a:ln/>
        </p:spPr>
        <p:txBody>
          <a:bodyPr wrap="square" lIns="635" tIns="635" rIns="635" bIns="635" rtlCol="0" anchor="t"/>
          <a:lstStyle/>
          <a:p>
            <a:pPr algn="ctr" indent="0" marL="0">
              <a:spcAft>
                <a:spcPts val="200"/>
              </a:spcAft>
              <a:buNone/>
            </a:pPr>
            <a:r>
              <a:rPr lang="en-US" sz="1350" dirty="0">
                <a:solidFill>
                  <a:srgbClr val="FFFFFF"/>
                </a:solidFill>
              </a:rPr>
              <a:t>elasticity of GDP with respect to lights (Henderson et al., 2012): +1% light ↔ ≈ +0.3% GDP, on average across a global panel</a:t>
            </a:r>
            <a:endParaRPr lang="en-US" sz="1350" dirty="0"/>
          </a:p>
        </p:txBody>
      </p:sp>
      <p:sp>
        <p:nvSpPr>
          <p:cNvPr id="32" name="Shape 30"/>
          <p:cNvSpPr/>
          <p:nvPr/>
        </p:nvSpPr>
        <p:spPr>
          <a:xfrm>
            <a:off x="7452360" y="4069080"/>
            <a:ext cx="4206240" cy="2057400"/>
          </a:xfrm>
          <a:prstGeom prst="roundRect">
            <a:avLst>
              <a:gd name="adj" fmla="val 5333"/>
            </a:avLst>
          </a:prstGeom>
          <a:solidFill>
            <a:srgbClr val="EAF2FB"/>
          </a:solidFill>
          <a:ln w="9525">
            <a:solidFill>
              <a:srgbClr val="EAF2FB"/>
            </a:solidFill>
            <a:prstDash val="solid"/>
          </a:ln>
        </p:spPr>
      </p:sp>
      <p:sp>
        <p:nvSpPr>
          <p:cNvPr id="33" name="Text 31"/>
          <p:cNvSpPr txBox="1"/>
          <p:nvPr/>
        </p:nvSpPr>
        <p:spPr>
          <a:xfrm>
            <a:off x="7635240" y="4160520"/>
            <a:ext cx="3840480" cy="32004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Key point</a:t>
            </a:r>
            <a:endParaRPr lang="en-US" sz="1500" dirty="0"/>
          </a:p>
        </p:txBody>
      </p:sp>
      <p:sp>
        <p:nvSpPr>
          <p:cNvPr id="34" name="Text 32"/>
          <p:cNvSpPr txBox="1"/>
          <p:nvPr/>
        </p:nvSpPr>
        <p:spPr>
          <a:xfrm>
            <a:off x="7635240" y="4498848"/>
            <a:ext cx="3840480" cy="15544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This figure is an international average. Your country will have its own elasticity, estimated on only 10 to 30 years: it will be more uncertain. The notebook estimates it and shows its interval.</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 · WHY LIGHTS</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What lights see… and what they miss</a:t>
            </a:r>
            <a:endParaRPr lang="en-US" sz="2800" dirty="0"/>
          </a:p>
        </p:txBody>
      </p:sp>
      <p:sp>
        <p:nvSpPr>
          <p:cNvPr id="4" name="Shape 2"/>
          <p:cNvSpPr/>
          <p:nvPr/>
        </p:nvSpPr>
        <p:spPr>
          <a:xfrm>
            <a:off x="548640" y="1417320"/>
            <a:ext cx="822960" cy="822960"/>
          </a:xfrm>
          <a:prstGeom prst="ellipse">
            <a:avLst/>
          </a:prstGeom>
          <a:solidFill>
            <a:srgbClr val="1F4E8C"/>
          </a:solidFill>
          <a:ln w="12700">
            <a:solidFill>
              <a:srgbClr val="1F4E8C"/>
            </a:solidFill>
            <a:prstDash val="solid"/>
          </a:ln>
        </p:spPr>
      </p:sp>
      <p:pic>
        <p:nvPicPr>
          <p:cNvPr id="5" name="Image 0" descr="preencoded.png">    </p:cNvPr>
          <p:cNvPicPr>
            <a:picLocks noChangeAspect="1"/>
          </p:cNvPicPr>
          <p:nvPr/>
        </p:nvPicPr>
        <p:blipFill>
          <a:blip r:embed="rId1"/>
          <a:stretch>
            <a:fillRect/>
          </a:stretch>
        </p:blipFill>
        <p:spPr>
          <a:xfrm>
            <a:off x="746150" y="1614830"/>
            <a:ext cx="427939" cy="427939"/>
          </a:xfrm>
          <a:prstGeom prst="rect">
            <a:avLst/>
          </a:prstGeom>
        </p:spPr>
      </p:pic>
      <p:sp>
        <p:nvSpPr>
          <p:cNvPr id="6" name="Text 3"/>
          <p:cNvSpPr txBox="1"/>
          <p:nvPr/>
        </p:nvSpPr>
        <p:spPr>
          <a:xfrm>
            <a:off x="1554480" y="1463040"/>
            <a:ext cx="10058400" cy="731520"/>
          </a:xfrm>
          <a:prstGeom prst="rect">
            <a:avLst/>
          </a:prstGeom>
          <a:noFill/>
          <a:ln/>
        </p:spPr>
        <p:txBody>
          <a:bodyPr wrap="square" lIns="635" tIns="635" rIns="635" bIns="635" rtlCol="0" anchor="ctr"/>
          <a:lstStyle/>
          <a:p>
            <a:pPr indent="0" marL="0">
              <a:spcAft>
                <a:spcPts val="200"/>
              </a:spcAft>
              <a:buNone/>
            </a:pPr>
            <a:r>
              <a:rPr lang="en-US" sz="1700" b="1" dirty="0">
                <a:solidFill>
                  <a:srgbClr val="1F4E8C"/>
                </a:solidFill>
              </a:rPr>
              <a:t>Satellite overpass around 01:30 local time. </a:t>
            </a:r>
            <a:pPr indent="0" marL="0">
              <a:spcAft>
                <a:spcPts val="200"/>
              </a:spcAft>
              <a:buNone/>
            </a:pPr>
            <a:r>
              <a:rPr lang="en-US" sz="1700" dirty="0">
                <a:solidFill>
                  <a:srgbClr val="231F20"/>
                </a:solidFill>
              </a:rPr>
              <a:t>Lights measure night-time radiance, not value added.</a:t>
            </a:r>
            <a:endParaRPr lang="en-US" sz="1700" dirty="0"/>
          </a:p>
        </p:txBody>
      </p:sp>
      <p:sp>
        <p:nvSpPr>
          <p:cNvPr id="7" name="Shape 4"/>
          <p:cNvSpPr/>
          <p:nvPr/>
        </p:nvSpPr>
        <p:spPr>
          <a:xfrm>
            <a:off x="548640" y="2423160"/>
            <a:ext cx="5440680" cy="3108960"/>
          </a:xfrm>
          <a:prstGeom prst="roundRect">
            <a:avLst>
              <a:gd name="adj" fmla="val 3529"/>
            </a:avLst>
          </a:prstGeom>
          <a:solidFill>
            <a:srgbClr val="E8F5EF"/>
          </a:solidFill>
          <a:ln w="9525">
            <a:solidFill>
              <a:srgbClr val="E8F5EF"/>
            </a:solidFill>
            <a:prstDash val="solid"/>
          </a:ln>
        </p:spPr>
      </p:sp>
      <p:sp>
        <p:nvSpPr>
          <p:cNvPr id="8" name="Shape 5"/>
          <p:cNvSpPr/>
          <p:nvPr/>
        </p:nvSpPr>
        <p:spPr>
          <a:xfrm>
            <a:off x="6217920" y="2423160"/>
            <a:ext cx="5440680" cy="3108960"/>
          </a:xfrm>
          <a:prstGeom prst="roundRect">
            <a:avLst>
              <a:gd name="adj" fmla="val 3529"/>
            </a:avLst>
          </a:prstGeom>
          <a:solidFill>
            <a:srgbClr val="FBECEC"/>
          </a:solidFill>
          <a:ln w="9525">
            <a:solidFill>
              <a:srgbClr val="FBECEC"/>
            </a:solidFill>
            <a:prstDash val="solid"/>
          </a:ln>
        </p:spPr>
      </p:sp>
      <p:sp>
        <p:nvSpPr>
          <p:cNvPr id="9" name="Text 6"/>
          <p:cNvSpPr txBox="1"/>
          <p:nvPr/>
        </p:nvSpPr>
        <p:spPr>
          <a:xfrm>
            <a:off x="777240" y="2514600"/>
            <a:ext cx="5029200" cy="411480"/>
          </a:xfrm>
          <a:prstGeom prst="rect">
            <a:avLst/>
          </a:prstGeom>
          <a:noFill/>
          <a:ln/>
        </p:spPr>
        <p:txBody>
          <a:bodyPr wrap="square" lIns="635" tIns="635" rIns="635" bIns="635" rtlCol="0" anchor="t"/>
          <a:lstStyle/>
          <a:p>
            <a:pPr indent="0" marL="0">
              <a:spcAft>
                <a:spcPts val="200"/>
              </a:spcAft>
              <a:buNone/>
            </a:pPr>
            <a:r>
              <a:rPr lang="en-US" sz="1800" b="1" dirty="0">
                <a:solidFill>
                  <a:srgbClr val="00553A"/>
                </a:solidFill>
              </a:rPr>
              <a:t>✓  </a:t>
            </a:r>
            <a:pPr indent="0" marL="0">
              <a:spcAft>
                <a:spcPts val="200"/>
              </a:spcAft>
              <a:buNone/>
            </a:pPr>
            <a:r>
              <a:rPr lang="en-US" sz="1800" b="1" dirty="0">
                <a:solidFill>
                  <a:srgbClr val="00553A"/>
                </a:solidFill>
              </a:rPr>
              <a:t>Well captured</a:t>
            </a:r>
            <a:endParaRPr lang="en-US" sz="1800" dirty="0"/>
          </a:p>
        </p:txBody>
      </p:sp>
      <p:sp>
        <p:nvSpPr>
          <p:cNvPr id="10" name="Text 7"/>
          <p:cNvSpPr txBox="1"/>
          <p:nvPr/>
        </p:nvSpPr>
        <p:spPr>
          <a:xfrm>
            <a:off x="6446520" y="2514600"/>
            <a:ext cx="5029200" cy="411480"/>
          </a:xfrm>
          <a:prstGeom prst="rect">
            <a:avLst/>
          </a:prstGeom>
          <a:noFill/>
          <a:ln/>
        </p:spPr>
        <p:txBody>
          <a:bodyPr wrap="square" lIns="635" tIns="635" rIns="635" bIns="635" rtlCol="0" anchor="t"/>
          <a:lstStyle/>
          <a:p>
            <a:pPr indent="0" marL="0">
              <a:spcAft>
                <a:spcPts val="200"/>
              </a:spcAft>
              <a:buNone/>
            </a:pPr>
            <a:r>
              <a:rPr lang="en-US" sz="1800" b="1" dirty="0">
                <a:solidFill>
                  <a:srgbClr val="D64545"/>
                </a:solidFill>
              </a:rPr>
              <a:t>✗  </a:t>
            </a:r>
            <a:pPr indent="0" marL="0">
              <a:spcAft>
                <a:spcPts val="200"/>
              </a:spcAft>
              <a:buNone/>
            </a:pPr>
            <a:r>
              <a:rPr lang="en-US" sz="1800" b="1" dirty="0">
                <a:solidFill>
                  <a:srgbClr val="D64545"/>
                </a:solidFill>
              </a:rPr>
              <a:t>Poorly captured or misleading</a:t>
            </a:r>
            <a:endParaRPr lang="en-US" sz="1800" dirty="0"/>
          </a:p>
        </p:txBody>
      </p:sp>
      <p:sp>
        <p:nvSpPr>
          <p:cNvPr id="11" name="Shape 8"/>
          <p:cNvSpPr/>
          <p:nvPr/>
        </p:nvSpPr>
        <p:spPr>
          <a:xfrm>
            <a:off x="777240" y="3063240"/>
            <a:ext cx="548640" cy="548640"/>
          </a:xfrm>
          <a:prstGeom prst="ellipse">
            <a:avLst/>
          </a:prstGeom>
          <a:solidFill>
            <a:srgbClr val="00704A"/>
          </a:solidFill>
          <a:ln w="12700">
            <a:solidFill>
              <a:srgbClr val="00704A"/>
            </a:solidFill>
            <a:prstDash val="solid"/>
          </a:ln>
        </p:spPr>
      </p:sp>
      <p:pic>
        <p:nvPicPr>
          <p:cNvPr id="12" name="Image 1" descr="preencoded.png">    </p:cNvPr>
          <p:cNvPicPr>
            <a:picLocks noChangeAspect="1"/>
          </p:cNvPicPr>
          <p:nvPr/>
        </p:nvPicPr>
        <p:blipFill>
          <a:blip r:embed="rId2"/>
          <a:stretch>
            <a:fillRect/>
          </a:stretch>
        </p:blipFill>
        <p:spPr>
          <a:xfrm>
            <a:off x="908914" y="3194914"/>
            <a:ext cx="285293" cy="285293"/>
          </a:xfrm>
          <a:prstGeom prst="rect">
            <a:avLst/>
          </a:prstGeom>
        </p:spPr>
      </p:pic>
      <p:sp>
        <p:nvSpPr>
          <p:cNvPr id="13" name="Text 9"/>
          <p:cNvSpPr txBox="1"/>
          <p:nvPr/>
        </p:nvSpPr>
        <p:spPr>
          <a:xfrm>
            <a:off x="1463040" y="306324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Cities, street lighting, commercial areas</a:t>
            </a:r>
            <a:endParaRPr lang="en-US" sz="1500" dirty="0"/>
          </a:p>
        </p:txBody>
      </p:sp>
      <p:sp>
        <p:nvSpPr>
          <p:cNvPr id="14" name="Shape 10"/>
          <p:cNvSpPr/>
          <p:nvPr/>
        </p:nvSpPr>
        <p:spPr>
          <a:xfrm>
            <a:off x="6446520" y="3063240"/>
            <a:ext cx="548640" cy="548640"/>
          </a:xfrm>
          <a:prstGeom prst="ellipse">
            <a:avLst/>
          </a:prstGeom>
          <a:solidFill>
            <a:srgbClr val="D64545"/>
          </a:solidFill>
          <a:ln w="12700">
            <a:solidFill>
              <a:srgbClr val="D64545"/>
            </a:solidFill>
            <a:prstDash val="solid"/>
          </a:ln>
        </p:spPr>
      </p:sp>
      <p:pic>
        <p:nvPicPr>
          <p:cNvPr id="15" name="Image 2" descr="preencoded.png">    </p:cNvPr>
          <p:cNvPicPr>
            <a:picLocks noChangeAspect="1"/>
          </p:cNvPicPr>
          <p:nvPr/>
        </p:nvPicPr>
        <p:blipFill>
          <a:blip r:embed="rId3"/>
          <a:stretch>
            <a:fillRect/>
          </a:stretch>
        </p:blipFill>
        <p:spPr>
          <a:xfrm>
            <a:off x="6578194" y="3194914"/>
            <a:ext cx="285293" cy="285293"/>
          </a:xfrm>
          <a:prstGeom prst="rect">
            <a:avLst/>
          </a:prstGeom>
        </p:spPr>
      </p:pic>
      <p:sp>
        <p:nvSpPr>
          <p:cNvPr id="16" name="Text 11"/>
          <p:cNvSpPr txBox="1"/>
          <p:nvPr/>
        </p:nvSpPr>
        <p:spPr>
          <a:xfrm>
            <a:off x="7132320" y="306324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Agriculture and the rural informal economy</a:t>
            </a:r>
            <a:endParaRPr lang="en-US" sz="1500" dirty="0"/>
          </a:p>
        </p:txBody>
      </p:sp>
      <p:sp>
        <p:nvSpPr>
          <p:cNvPr id="17" name="Shape 12"/>
          <p:cNvSpPr/>
          <p:nvPr/>
        </p:nvSpPr>
        <p:spPr>
          <a:xfrm>
            <a:off x="777240" y="3840480"/>
            <a:ext cx="548640" cy="548640"/>
          </a:xfrm>
          <a:prstGeom prst="ellipse">
            <a:avLst/>
          </a:prstGeom>
          <a:solidFill>
            <a:srgbClr val="00704A"/>
          </a:solidFill>
          <a:ln w="12700">
            <a:solidFill>
              <a:srgbClr val="00704A"/>
            </a:solidFill>
            <a:prstDash val="solid"/>
          </a:ln>
        </p:spPr>
      </p:sp>
      <p:pic>
        <p:nvPicPr>
          <p:cNvPr id="18" name="Image 3" descr="preencoded.png">    </p:cNvPr>
          <p:cNvPicPr>
            <a:picLocks noChangeAspect="1"/>
          </p:cNvPicPr>
          <p:nvPr/>
        </p:nvPicPr>
        <p:blipFill>
          <a:blip r:embed="rId4"/>
          <a:stretch>
            <a:fillRect/>
          </a:stretch>
        </p:blipFill>
        <p:spPr>
          <a:xfrm>
            <a:off x="908914" y="3972154"/>
            <a:ext cx="285293" cy="285293"/>
          </a:xfrm>
          <a:prstGeom prst="rect">
            <a:avLst/>
          </a:prstGeom>
        </p:spPr>
      </p:pic>
      <p:sp>
        <p:nvSpPr>
          <p:cNvPr id="19" name="Text 13"/>
          <p:cNvSpPr txBox="1"/>
          <p:nvPr/>
        </p:nvSpPr>
        <p:spPr>
          <a:xfrm>
            <a:off x="1463040" y="384048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Industry, ports, mines, energy sites</a:t>
            </a:r>
            <a:endParaRPr lang="en-US" sz="1500" dirty="0"/>
          </a:p>
        </p:txBody>
      </p:sp>
      <p:sp>
        <p:nvSpPr>
          <p:cNvPr id="20" name="Shape 14"/>
          <p:cNvSpPr/>
          <p:nvPr/>
        </p:nvSpPr>
        <p:spPr>
          <a:xfrm>
            <a:off x="6446520" y="3840480"/>
            <a:ext cx="548640" cy="548640"/>
          </a:xfrm>
          <a:prstGeom prst="ellipse">
            <a:avLst/>
          </a:prstGeom>
          <a:solidFill>
            <a:srgbClr val="D64545"/>
          </a:solidFill>
          <a:ln w="12700">
            <a:solidFill>
              <a:srgbClr val="D64545"/>
            </a:solidFill>
            <a:prstDash val="solid"/>
          </a:ln>
        </p:spPr>
      </p:sp>
      <p:pic>
        <p:nvPicPr>
          <p:cNvPr id="21" name="Image 4" descr="preencoded.png">    </p:cNvPr>
          <p:cNvPicPr>
            <a:picLocks noChangeAspect="1"/>
          </p:cNvPicPr>
          <p:nvPr/>
        </p:nvPicPr>
        <p:blipFill>
          <a:blip r:embed="rId5"/>
          <a:stretch>
            <a:fillRect/>
          </a:stretch>
        </p:blipFill>
        <p:spPr>
          <a:xfrm>
            <a:off x="6578194" y="3972154"/>
            <a:ext cx="285293" cy="285293"/>
          </a:xfrm>
          <a:prstGeom prst="rect">
            <a:avLst/>
          </a:prstGeom>
        </p:spPr>
      </p:pic>
      <p:sp>
        <p:nvSpPr>
          <p:cNvPr id="22" name="Text 15"/>
          <p:cNvSpPr txBox="1"/>
          <p:nvPr/>
        </p:nvSpPr>
        <p:spPr>
          <a:xfrm>
            <a:off x="7132320" y="384048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Daytime trade and dimly lit services</a:t>
            </a:r>
            <a:endParaRPr lang="en-US" sz="1500" dirty="0"/>
          </a:p>
        </p:txBody>
      </p:sp>
      <p:sp>
        <p:nvSpPr>
          <p:cNvPr id="23" name="Shape 16"/>
          <p:cNvSpPr/>
          <p:nvPr/>
        </p:nvSpPr>
        <p:spPr>
          <a:xfrm>
            <a:off x="777240" y="4617720"/>
            <a:ext cx="548640" cy="548640"/>
          </a:xfrm>
          <a:prstGeom prst="ellipse">
            <a:avLst/>
          </a:prstGeom>
          <a:solidFill>
            <a:srgbClr val="00704A"/>
          </a:solidFill>
          <a:ln w="12700">
            <a:solidFill>
              <a:srgbClr val="00704A"/>
            </a:solidFill>
            <a:prstDash val="solid"/>
          </a:ln>
        </p:spPr>
      </p:sp>
      <p:pic>
        <p:nvPicPr>
          <p:cNvPr id="24" name="Image 5" descr="preencoded.png">    </p:cNvPr>
          <p:cNvPicPr>
            <a:picLocks noChangeAspect="1"/>
          </p:cNvPicPr>
          <p:nvPr/>
        </p:nvPicPr>
        <p:blipFill>
          <a:blip r:embed="rId6"/>
          <a:stretch>
            <a:fillRect/>
          </a:stretch>
        </p:blipFill>
        <p:spPr>
          <a:xfrm>
            <a:off x="908914" y="4749394"/>
            <a:ext cx="285293" cy="285293"/>
          </a:xfrm>
          <a:prstGeom prst="rect">
            <a:avLst/>
          </a:prstGeom>
        </p:spPr>
      </p:pic>
      <p:sp>
        <p:nvSpPr>
          <p:cNvPr id="25" name="Text 17"/>
          <p:cNvSpPr txBox="1"/>
          <p:nvPr/>
        </p:nvSpPr>
        <p:spPr>
          <a:xfrm>
            <a:off x="1463040" y="461772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Transport corridors, new electrification</a:t>
            </a:r>
            <a:endParaRPr lang="en-US" sz="1500" dirty="0"/>
          </a:p>
        </p:txBody>
      </p:sp>
      <p:sp>
        <p:nvSpPr>
          <p:cNvPr id="26" name="Shape 18"/>
          <p:cNvSpPr/>
          <p:nvPr/>
        </p:nvSpPr>
        <p:spPr>
          <a:xfrm>
            <a:off x="6446520" y="4617720"/>
            <a:ext cx="548640" cy="548640"/>
          </a:xfrm>
          <a:prstGeom prst="ellipse">
            <a:avLst/>
          </a:prstGeom>
          <a:solidFill>
            <a:srgbClr val="D64545"/>
          </a:solidFill>
          <a:ln w="12700">
            <a:solidFill>
              <a:srgbClr val="D64545"/>
            </a:solidFill>
            <a:prstDash val="solid"/>
          </a:ln>
        </p:spPr>
      </p:sp>
      <p:pic>
        <p:nvPicPr>
          <p:cNvPr id="27" name="Image 6" descr="preencoded.png">    </p:cNvPr>
          <p:cNvPicPr>
            <a:picLocks noChangeAspect="1"/>
          </p:cNvPicPr>
          <p:nvPr/>
        </p:nvPicPr>
        <p:blipFill>
          <a:blip r:embed="rId7"/>
          <a:stretch>
            <a:fillRect/>
          </a:stretch>
        </p:blipFill>
        <p:spPr>
          <a:xfrm>
            <a:off x="6578194" y="4749394"/>
            <a:ext cx="285293" cy="285293"/>
          </a:xfrm>
          <a:prstGeom prst="rect">
            <a:avLst/>
          </a:prstGeom>
        </p:spPr>
      </p:pic>
      <p:sp>
        <p:nvSpPr>
          <p:cNvPr id="28" name="Text 19"/>
          <p:cNvSpPr txBox="1"/>
          <p:nvPr/>
        </p:nvSpPr>
        <p:spPr>
          <a:xfrm>
            <a:off x="7132320" y="4617720"/>
            <a:ext cx="4389120" cy="548640"/>
          </a:xfrm>
          <a:prstGeom prst="rect">
            <a:avLst/>
          </a:prstGeom>
          <a:noFill/>
          <a:ln/>
        </p:spPr>
        <p:txBody>
          <a:bodyPr wrap="square" lIns="635" tIns="635" rIns="635" bIns="635" rtlCol="0" anchor="ctr"/>
          <a:lstStyle/>
          <a:p>
            <a:pPr indent="0" marL="0">
              <a:spcAft>
                <a:spcPts val="200"/>
              </a:spcAft>
              <a:buNone/>
            </a:pPr>
            <a:r>
              <a:rPr lang="en-US" sz="1500" dirty="0">
                <a:solidFill>
                  <a:srgbClr val="231F20"/>
                </a:solidFill>
              </a:rPr>
              <a:t>Gas flares, fires, aurora: light without local activity</a:t>
            </a:r>
            <a:endParaRPr lang="en-US" sz="1500" dirty="0"/>
          </a:p>
        </p:txBody>
      </p:sp>
      <p:sp>
        <p:nvSpPr>
          <p:cNvPr id="29" name="Shape 20"/>
          <p:cNvSpPr/>
          <p:nvPr/>
        </p:nvSpPr>
        <p:spPr>
          <a:xfrm>
            <a:off x="548640" y="5669280"/>
            <a:ext cx="11109960" cy="594360"/>
          </a:xfrm>
          <a:prstGeom prst="roundRect">
            <a:avLst>
              <a:gd name="adj" fmla="val 18462"/>
            </a:avLst>
          </a:prstGeom>
          <a:solidFill>
            <a:srgbClr val="FDF6E3"/>
          </a:solidFill>
          <a:ln w="9525">
            <a:solidFill>
              <a:srgbClr val="FDF6E3"/>
            </a:solidFill>
            <a:prstDash val="solid"/>
          </a:ln>
        </p:spPr>
      </p:sp>
      <p:sp>
        <p:nvSpPr>
          <p:cNvPr id="30" name="Text 21"/>
          <p:cNvSpPr txBox="1"/>
          <p:nvPr/>
        </p:nvSpPr>
        <p:spPr>
          <a:xfrm>
            <a:off x="685800" y="5742432"/>
            <a:ext cx="10835640" cy="44805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Consequence  </a:t>
            </a:r>
            <a:pPr indent="0" marL="0">
              <a:spcAft>
                <a:spcPts val="200"/>
              </a:spcAft>
              <a:buNone/>
            </a:pPr>
            <a:r>
              <a:rPr lang="en-US" sz="1300" dirty="0">
                <a:solidFill>
                  <a:srgbClr val="231F20"/>
                </a:solidFill>
              </a:rPr>
              <a:t>a country whose growth comes from agriculture or daytime services can grow without its light moving. Notebook section 10 and the dashboard's “Methods &amp; limitations” page detail these biases.</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SENSORS AND DATA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How a satellite sees at night</a:t>
            </a:r>
            <a:endParaRPr lang="en-US" sz="2800" dirty="0"/>
          </a:p>
        </p:txBody>
      </p:sp>
      <p:pic>
        <p:nvPicPr>
          <p:cNvPr id="4" name="Image 0" descr="/tmp/claude-0/-home-claude/8a8742ef-7d0d-54fc-a0c9-7ecbfc9f8b73/scratchpad/deck/real/remote_sensing.png">    </p:cNvPr>
          <p:cNvPicPr>
            <a:picLocks noChangeAspect="1"/>
          </p:cNvPicPr>
          <p:nvPr/>
        </p:nvPicPr>
        <p:blipFill>
          <a:blip r:embed="rId1"/>
          <a:stretch>
            <a:fillRect/>
          </a:stretch>
        </p:blipFill>
        <p:spPr>
          <a:xfrm>
            <a:off x="548640" y="1388745"/>
            <a:ext cx="6035040" cy="3394710"/>
          </a:xfrm>
          <a:prstGeom prst="rect">
            <a:avLst/>
          </a:prstGeom>
        </p:spPr>
      </p:pic>
      <p:sp>
        <p:nvSpPr>
          <p:cNvPr id="5" name="Text 2"/>
          <p:cNvSpPr txBox="1"/>
          <p:nvPr/>
        </p:nvSpPr>
        <p:spPr>
          <a:xfrm>
            <a:off x="548640" y="4828032"/>
            <a:ext cx="60350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Observation platforms, from ground to geostationary orbit. Source: NASA Goddard, via Open Nighttime Lights (World Bank, CC BY 4.0).</a:t>
            </a:r>
            <a:endParaRPr lang="en-US" sz="1000" dirty="0"/>
          </a:p>
        </p:txBody>
      </p:sp>
      <p:sp>
        <p:nvSpPr>
          <p:cNvPr id="6" name="Shape 3"/>
          <p:cNvSpPr/>
          <p:nvPr/>
        </p:nvSpPr>
        <p:spPr>
          <a:xfrm>
            <a:off x="6949440" y="1417320"/>
            <a:ext cx="640080" cy="640080"/>
          </a:xfrm>
          <a:prstGeom prst="ellipse">
            <a:avLst/>
          </a:prstGeom>
          <a:solidFill>
            <a:srgbClr val="00704A"/>
          </a:solidFill>
          <a:ln w="12700">
            <a:solidFill>
              <a:srgbClr val="00704A"/>
            </a:solidFill>
            <a:prstDash val="solid"/>
          </a:ln>
        </p:spPr>
      </p:sp>
      <p:pic>
        <p:nvPicPr>
          <p:cNvPr id="7" name="Image 1" descr="preencoded.png">    </p:cNvPr>
          <p:cNvPicPr>
            <a:picLocks noChangeAspect="1"/>
          </p:cNvPicPr>
          <p:nvPr/>
        </p:nvPicPr>
        <p:blipFill>
          <a:blip r:embed="rId2"/>
          <a:stretch>
            <a:fillRect/>
          </a:stretch>
        </p:blipFill>
        <p:spPr>
          <a:xfrm>
            <a:off x="7103059" y="1570939"/>
            <a:ext cx="332842" cy="332842"/>
          </a:xfrm>
          <a:prstGeom prst="rect">
            <a:avLst/>
          </a:prstGeom>
        </p:spPr>
      </p:pic>
      <p:sp>
        <p:nvSpPr>
          <p:cNvPr id="8" name="Text 4"/>
          <p:cNvSpPr txBox="1"/>
          <p:nvPr/>
        </p:nvSpPr>
        <p:spPr>
          <a:xfrm>
            <a:off x="7726680" y="1371600"/>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Suomi-NPP · NOAA-20</a:t>
            </a:r>
            <a:endParaRPr lang="en-US" sz="1600" dirty="0"/>
          </a:p>
        </p:txBody>
      </p:sp>
      <p:sp>
        <p:nvSpPr>
          <p:cNvPr id="9" name="Text 5"/>
          <p:cNvSpPr txBox="1"/>
          <p:nvPr/>
        </p:nvSpPr>
        <p:spPr>
          <a:xfrm>
            <a:off x="7726680" y="1737360"/>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sun-synchronous polar orbit, ~830 km altitude</a:t>
            </a:r>
            <a:endParaRPr lang="en-US" sz="1350" dirty="0"/>
          </a:p>
        </p:txBody>
      </p:sp>
      <p:sp>
        <p:nvSpPr>
          <p:cNvPr id="10" name="Shape 6"/>
          <p:cNvSpPr/>
          <p:nvPr/>
        </p:nvSpPr>
        <p:spPr>
          <a:xfrm>
            <a:off x="6949440" y="2441448"/>
            <a:ext cx="640080" cy="640080"/>
          </a:xfrm>
          <a:prstGeom prst="ellipse">
            <a:avLst/>
          </a:prstGeom>
          <a:solidFill>
            <a:srgbClr val="1F4E8C"/>
          </a:solidFill>
          <a:ln w="12700">
            <a:solidFill>
              <a:srgbClr val="1F4E8C"/>
            </a:solidFill>
            <a:prstDash val="solid"/>
          </a:ln>
        </p:spPr>
      </p:sp>
      <p:pic>
        <p:nvPicPr>
          <p:cNvPr id="11" name="Image 2" descr="preencoded.png">    </p:cNvPr>
          <p:cNvPicPr>
            <a:picLocks noChangeAspect="1"/>
          </p:cNvPicPr>
          <p:nvPr/>
        </p:nvPicPr>
        <p:blipFill>
          <a:blip r:embed="rId3"/>
          <a:stretch>
            <a:fillRect/>
          </a:stretch>
        </p:blipFill>
        <p:spPr>
          <a:xfrm>
            <a:off x="7103059" y="2595067"/>
            <a:ext cx="332842" cy="332842"/>
          </a:xfrm>
          <a:prstGeom prst="rect">
            <a:avLst/>
          </a:prstGeom>
        </p:spPr>
      </p:pic>
      <p:sp>
        <p:nvSpPr>
          <p:cNvPr id="12" name="Text 7"/>
          <p:cNvSpPr txBox="1"/>
          <p:nvPr/>
        </p:nvSpPr>
        <p:spPr>
          <a:xfrm>
            <a:off x="7726680" y="2395728"/>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VIIRS sensor, DNB band</a:t>
            </a:r>
            <a:endParaRPr lang="en-US" sz="1600" dirty="0"/>
          </a:p>
        </p:txBody>
      </p:sp>
      <p:sp>
        <p:nvSpPr>
          <p:cNvPr id="13" name="Text 8"/>
          <p:cNvSpPr txBox="1"/>
          <p:nvPr/>
        </p:nvSpPr>
        <p:spPr>
          <a:xfrm>
            <a:off x="7726680" y="2761488"/>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Day/Night Band: sensitive to very faint night-time light</a:t>
            </a:r>
            <a:endParaRPr lang="en-US" sz="1350" dirty="0"/>
          </a:p>
        </p:txBody>
      </p:sp>
      <p:sp>
        <p:nvSpPr>
          <p:cNvPr id="14" name="Shape 9"/>
          <p:cNvSpPr/>
          <p:nvPr/>
        </p:nvSpPr>
        <p:spPr>
          <a:xfrm>
            <a:off x="6949440" y="3465576"/>
            <a:ext cx="640080" cy="640080"/>
          </a:xfrm>
          <a:prstGeom prst="ellipse">
            <a:avLst/>
          </a:prstGeom>
          <a:solidFill>
            <a:srgbClr val="00704A"/>
          </a:solidFill>
          <a:ln w="12700">
            <a:solidFill>
              <a:srgbClr val="00704A"/>
            </a:solidFill>
            <a:prstDash val="solid"/>
          </a:ln>
        </p:spPr>
      </p:sp>
      <p:pic>
        <p:nvPicPr>
          <p:cNvPr id="15" name="Image 3" descr="preencoded.png">    </p:cNvPr>
          <p:cNvPicPr>
            <a:picLocks noChangeAspect="1"/>
          </p:cNvPicPr>
          <p:nvPr/>
        </p:nvPicPr>
        <p:blipFill>
          <a:blip r:embed="rId4"/>
          <a:stretch>
            <a:fillRect/>
          </a:stretch>
        </p:blipFill>
        <p:spPr>
          <a:xfrm>
            <a:off x="7103059" y="3619195"/>
            <a:ext cx="332842" cy="332842"/>
          </a:xfrm>
          <a:prstGeom prst="rect">
            <a:avLst/>
          </a:prstGeom>
        </p:spPr>
      </p:pic>
      <p:sp>
        <p:nvSpPr>
          <p:cNvPr id="16" name="Text 10"/>
          <p:cNvSpPr txBox="1"/>
          <p:nvPr/>
        </p:nvSpPr>
        <p:spPr>
          <a:xfrm>
            <a:off x="7726680" y="3419856"/>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One overpass per night</a:t>
            </a:r>
            <a:endParaRPr lang="en-US" sz="1600" dirty="0"/>
          </a:p>
        </p:txBody>
      </p:sp>
      <p:sp>
        <p:nvSpPr>
          <p:cNvPr id="17" name="Text 11"/>
          <p:cNvSpPr txBox="1"/>
          <p:nvPr/>
        </p:nvSpPr>
        <p:spPr>
          <a:xfrm>
            <a:off x="7726680" y="3785616"/>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around 01:30 local time: same time everywhere</a:t>
            </a:r>
            <a:endParaRPr lang="en-US" sz="1350" dirty="0"/>
          </a:p>
        </p:txBody>
      </p:sp>
      <p:sp>
        <p:nvSpPr>
          <p:cNvPr id="18" name="Shape 12"/>
          <p:cNvSpPr/>
          <p:nvPr/>
        </p:nvSpPr>
        <p:spPr>
          <a:xfrm>
            <a:off x="6949440" y="4489704"/>
            <a:ext cx="640080" cy="640080"/>
          </a:xfrm>
          <a:prstGeom prst="ellipse">
            <a:avLst/>
          </a:prstGeom>
          <a:solidFill>
            <a:srgbClr val="1F4E8C"/>
          </a:solidFill>
          <a:ln w="12700">
            <a:solidFill>
              <a:srgbClr val="1F4E8C"/>
            </a:solidFill>
            <a:prstDash val="solid"/>
          </a:ln>
        </p:spPr>
      </p:sp>
      <p:pic>
        <p:nvPicPr>
          <p:cNvPr id="19" name="Image 4" descr="preencoded.png">    </p:cNvPr>
          <p:cNvPicPr>
            <a:picLocks noChangeAspect="1"/>
          </p:cNvPicPr>
          <p:nvPr/>
        </p:nvPicPr>
        <p:blipFill>
          <a:blip r:embed="rId5"/>
          <a:stretch>
            <a:fillRect/>
          </a:stretch>
        </p:blipFill>
        <p:spPr>
          <a:xfrm>
            <a:off x="7103059" y="4643323"/>
            <a:ext cx="332842" cy="332842"/>
          </a:xfrm>
          <a:prstGeom prst="rect">
            <a:avLst/>
          </a:prstGeom>
        </p:spPr>
      </p:pic>
      <p:sp>
        <p:nvSpPr>
          <p:cNvPr id="20" name="Text 13"/>
          <p:cNvSpPr txBox="1"/>
          <p:nvPr/>
        </p:nvSpPr>
        <p:spPr>
          <a:xfrm>
            <a:off x="7726680" y="4443984"/>
            <a:ext cx="3931920" cy="365760"/>
          </a:xfrm>
          <a:prstGeom prst="rect">
            <a:avLst/>
          </a:prstGeom>
          <a:noFill/>
          <a:ln/>
        </p:spPr>
        <p:txBody>
          <a:bodyPr wrap="square" lIns="635" tIns="635" rIns="635" bIns="635" rtlCol="0" anchor="t"/>
          <a:lstStyle/>
          <a:p>
            <a:pPr indent="0" marL="0">
              <a:spcAft>
                <a:spcPts val="200"/>
              </a:spcAft>
              <a:buNone/>
            </a:pPr>
            <a:r>
              <a:rPr lang="en-US" sz="1600" b="1" dirty="0">
                <a:solidFill>
                  <a:srgbClr val="00553A"/>
                </a:solidFill>
              </a:rPr>
              <a:t>~500 m grid</a:t>
            </a:r>
            <a:endParaRPr lang="en-US" sz="1600" dirty="0"/>
          </a:p>
        </p:txBody>
      </p:sp>
      <p:sp>
        <p:nvSpPr>
          <p:cNvPr id="21" name="Text 14"/>
          <p:cNvSpPr txBox="1"/>
          <p:nvPr/>
        </p:nvSpPr>
        <p:spPr>
          <a:xfrm>
            <a:off x="7726680" y="4809744"/>
            <a:ext cx="393192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15 arc-seconds; monthly and annual composites</a:t>
            </a:r>
            <a:endParaRPr lang="en-US" sz="1350" dirty="0"/>
          </a:p>
        </p:txBody>
      </p:sp>
      <p:sp>
        <p:nvSpPr>
          <p:cNvPr id="22" name="Shape 15"/>
          <p:cNvSpPr/>
          <p:nvPr/>
        </p:nvSpPr>
        <p:spPr>
          <a:xfrm>
            <a:off x="548640" y="5349240"/>
            <a:ext cx="11109960" cy="685800"/>
          </a:xfrm>
          <a:prstGeom prst="roundRect">
            <a:avLst>
              <a:gd name="adj" fmla="val 16000"/>
            </a:avLst>
          </a:prstGeom>
          <a:solidFill>
            <a:srgbClr val="EAF2FB"/>
          </a:solidFill>
          <a:ln w="9525">
            <a:solidFill>
              <a:srgbClr val="EAF2FB"/>
            </a:solidFill>
            <a:prstDash val="solid"/>
          </a:ln>
        </p:spPr>
      </p:sp>
      <p:sp>
        <p:nvSpPr>
          <p:cNvPr id="23" name="Text 16"/>
          <p:cNvSpPr txBox="1"/>
          <p:nvPr/>
        </p:nvSpPr>
        <p:spPr>
          <a:xfrm>
            <a:off x="685800" y="5349240"/>
            <a:ext cx="10835640" cy="68580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Unit: nW·cm⁻²·sr⁻¹ = nanowatt per cm² per steradian — upward-emitted radiance</a:t>
            </a:r>
            <a:endParaRPr lang="en-US" sz="15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SENSORS AND DATA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Two sensor generations: DMSP-OLS and VIIRS</a:t>
            </a:r>
            <a:endParaRPr lang="en-US" sz="2800" dirty="0"/>
          </a:p>
        </p:txBody>
      </p:sp>
      <p:pic>
        <p:nvPicPr>
          <p:cNvPr id="4" name="Image 0" descr="/tmp/claude-0/-home-claude/8a8742ef-7d0d-54fc-a0c9-7ecbfc9f8b73/scratchpad/deck/real/mekong.png">    </p:cNvPr>
          <p:cNvPicPr>
            <a:picLocks noChangeAspect="1"/>
          </p:cNvPicPr>
          <p:nvPr/>
        </p:nvPicPr>
        <p:blipFill>
          <a:blip r:embed="rId1"/>
          <a:stretch>
            <a:fillRect/>
          </a:stretch>
        </p:blipFill>
        <p:spPr>
          <a:xfrm>
            <a:off x="548640" y="1386486"/>
            <a:ext cx="5760720" cy="3170629"/>
          </a:xfrm>
          <a:prstGeom prst="rect">
            <a:avLst/>
          </a:prstGeom>
        </p:spPr>
      </p:pic>
      <p:sp>
        <p:nvSpPr>
          <p:cNvPr id="5" name="Text 2"/>
          <p:cNvSpPr txBox="1"/>
          <p:nvPr/>
        </p:nvSpPr>
        <p:spPr>
          <a:xfrm>
            <a:off x="548640" y="4590288"/>
            <a:ext cx="576072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Mekong Delta, 23 Nov 2014: VIIRS DNB (left) vs DMSP-OLS (right). Source: Elvidge et al. (2013), via Open Nighttime Lights (CC BY 4.0).</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0" y="1371600"/>
          <a:ext cx="5074920" cy="914400"/>
        </p:xfrm>
        <a:graphic>
          <a:graphicData uri="http://schemas.openxmlformats.org/drawingml/2006/table">
            <a:tbl>
              <a:tblPr/>
              <a:tblGrid>
                <a:gridCol w="1143000"/>
                <a:gridCol w="1234440"/>
                <a:gridCol w="1234440"/>
                <a:gridCol w="1463040"/>
              </a:tblGrid>
              <a:tr h="566928">
                <a:tc>
                  <a:txBody>
                    <a:bodyPr/>
                    <a:lstStyle/>
                    <a:p>
                      <a:pPr indent="0" marL="0">
                        <a:buNone/>
                      </a:pPr>
                      <a:r>
                        <a:rPr lang="en-US" sz="1300" b="1" dirty="0">
                          <a:solidFill>
                            <a:srgbClr val="FFFFFF"/>
                          </a:solidFill>
                        </a:rPr>
                        <a:t>Sensor</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300" b="1" dirty="0">
                          <a:solidFill>
                            <a:srgbClr val="FFFFFF"/>
                          </a:solidFill>
                        </a:rPr>
                        <a:t>DMSP-OLS</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300" b="1" dirty="0">
                          <a:solidFill>
                            <a:srgbClr val="FFFFFF"/>
                          </a:solidFill>
                        </a:rPr>
                        <a:t>VIIRS DNB</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300" b="1" dirty="0">
                          <a:solidFill>
                            <a:srgbClr val="FFFFFF"/>
                          </a:solidFill>
                        </a:rPr>
                        <a:t>Black Marble VNP46A2</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00553A"/>
                    </a:solidFill>
                  </a:tcPr>
                </a:tc>
              </a:tr>
              <a:tr h="566928">
                <a:tc>
                  <a:txBody>
                    <a:bodyPr/>
                    <a:lstStyle/>
                    <a:p>
                      <a:pPr indent="0" marL="0">
                        <a:buNone/>
                      </a:pPr>
                      <a:r>
                        <a:rPr lang="en-US" sz="1300" b="1" dirty="0">
                          <a:solidFill>
                            <a:srgbClr val="00553A"/>
                          </a:solidFill>
                        </a:rPr>
                        <a:t>Period</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1992–2013</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2012 →</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2012 →</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r>
              <a:tr h="566928">
                <a:tc>
                  <a:txBody>
                    <a:bodyPr/>
                    <a:lstStyle/>
                    <a:p>
                      <a:pPr indent="0" marL="0">
                        <a:buNone/>
                      </a:pPr>
                      <a:r>
                        <a:rPr lang="en-US" sz="1300" b="1" dirty="0">
                          <a:solidFill>
                            <a:srgbClr val="00553A"/>
                          </a:solidFill>
                        </a:rPr>
                        <a:t>Resolution</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~1 km</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~500 m</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~500 m, daily</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00553A"/>
                          </a:solidFill>
                        </a:rPr>
                        <a:t>Measurement</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number 0–63, saturates</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calibrated radiance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300" dirty="0">
                          <a:solidFill>
                            <a:srgbClr val="231F20"/>
                          </a:solidFill>
                        </a:rPr>
                        <a:t>BRDF/moon-corrected radiance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r>
              <a:tr h="566928">
                <a:tc>
                  <a:txBody>
                    <a:bodyPr/>
                    <a:lstStyle/>
                    <a:p>
                      <a:pPr indent="0" marL="0">
                        <a:buNone/>
                      </a:pPr>
                      <a:r>
                        <a:rPr lang="en-US" sz="1300" b="1" dirty="0">
                          <a:solidFill>
                            <a:srgbClr val="00553A"/>
                          </a:solidFill>
                        </a:rPr>
                        <a:t>Use here</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long series (harmonised)</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main analyses</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300" dirty="0">
                          <a:solidFill>
                            <a:srgbClr val="231F20"/>
                          </a:solidFill>
                        </a:rPr>
                        <a:t>shocks, day by day</a:t>
                      </a:r>
                      <a:endParaRPr lang="en-US" sz="1300" dirty="0"/>
                    </a:p>
                  </a:txBody>
                  <a:tcPr marL="54864" marR="54864" marT="54864" marB="54864"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FFFFF"/>
                    </a:solidFill>
                  </a:tcPr>
                </a:tc>
              </a:tr>
            </a:tbl>
          </a:graphicData>
        </a:graphic>
      </p:graphicFrame>
      <p:sp>
        <p:nvSpPr>
          <p:cNvPr id="7" name="Shape 3"/>
          <p:cNvSpPr/>
          <p:nvPr/>
        </p:nvSpPr>
        <p:spPr>
          <a:xfrm>
            <a:off x="6583680" y="4434840"/>
            <a:ext cx="5074920" cy="1097280"/>
          </a:xfrm>
          <a:prstGeom prst="roundRect">
            <a:avLst>
              <a:gd name="adj" fmla="val 10000"/>
            </a:avLst>
          </a:prstGeom>
          <a:solidFill>
            <a:srgbClr val="FDF6E3"/>
          </a:solidFill>
          <a:ln w="9525">
            <a:solidFill>
              <a:srgbClr val="FDF6E3"/>
            </a:solidFill>
            <a:prstDash val="solid"/>
          </a:ln>
        </p:spPr>
      </p:sp>
      <p:sp>
        <p:nvSpPr>
          <p:cNvPr id="8" name="Text 4"/>
          <p:cNvSpPr txBox="1"/>
          <p:nvPr/>
        </p:nvSpPr>
        <p:spPr>
          <a:xfrm>
            <a:off x="6720840" y="4507992"/>
            <a:ext cx="4800600" cy="95097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Key point  </a:t>
            </a:r>
            <a:pPr indent="0" marL="0">
              <a:spcAft>
                <a:spcPts val="200"/>
              </a:spcAft>
              <a:buNone/>
            </a:pPr>
            <a:r>
              <a:rPr lang="en-US" sz="1350" dirty="0">
                <a:solidFill>
                  <a:srgbClr val="231F20"/>
                </a:solidFill>
              </a:rPr>
              <a:t>VIIRS is finer, calibrated and does not saturate. DMSP is only useful to go back before 2012, through a harmonised series to be read as a trend only.</a:t>
            </a:r>
            <a:endParaRPr lang="en-US" sz="1350" dirty="0"/>
          </a:p>
        </p:txBody>
      </p:sp>
      <p:sp>
        <p:nvSpPr>
          <p:cNvPr id="9" name="Shape 5"/>
          <p:cNvSpPr/>
          <p:nvPr/>
        </p:nvSpPr>
        <p:spPr>
          <a:xfrm>
            <a:off x="548640" y="5074920"/>
            <a:ext cx="5760720" cy="868680"/>
          </a:xfrm>
          <a:prstGeom prst="roundRect">
            <a:avLst>
              <a:gd name="adj" fmla="val 12632"/>
            </a:avLst>
          </a:prstGeom>
          <a:solidFill>
            <a:srgbClr val="FDF6E3"/>
          </a:solidFill>
          <a:ln w="9525">
            <a:solidFill>
              <a:srgbClr val="FDF6E3"/>
            </a:solidFill>
            <a:prstDash val="solid"/>
          </a:ln>
        </p:spPr>
      </p:sp>
      <p:sp>
        <p:nvSpPr>
          <p:cNvPr id="10" name="Text 6"/>
          <p:cNvSpPr txBox="1"/>
          <p:nvPr/>
        </p:nvSpPr>
        <p:spPr>
          <a:xfrm>
            <a:off x="685800" y="5074920"/>
            <a:ext cx="5486400" cy="868680"/>
          </a:xfrm>
          <a:prstGeom prst="rect">
            <a:avLst/>
          </a:prstGeom>
          <a:noFill/>
          <a:ln/>
        </p:spPr>
        <p:txBody>
          <a:bodyPr wrap="square" lIns="635" tIns="635" rIns="635" bIns="635" rtlCol="0" anchor="ctr"/>
          <a:lstStyle/>
          <a:p>
            <a:pPr algn="ctr" indent="0" marL="0">
              <a:spcAft>
                <a:spcPts val="200"/>
              </a:spcAft>
              <a:buNone/>
            </a:pPr>
            <a:r>
              <a:rPr lang="en-US" sz="1350" dirty="0">
                <a:solidFill>
                  <a:srgbClr val="B7791F"/>
                </a:solidFill>
                <a:latin typeface="Cambria" pitchFamily="34" charset="0"/>
                <a:ea typeface="Cambria" pitchFamily="34" charset="-122"/>
                <a:cs typeface="Cambria" pitchFamily="34" charset="-120"/>
              </a:rPr>
              <a:t>Sensor break in 2013→2014: the notebook checks continuity at the junction (quality control 3.4)</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SENSORS AND DATA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Saturation and blooming: why VIIRS changes the game</a:t>
            </a:r>
            <a:endParaRPr lang="en-US" sz="2800" dirty="0"/>
          </a:p>
        </p:txBody>
      </p:sp>
      <p:pic>
        <p:nvPicPr>
          <p:cNvPr id="4" name="Image 0" descr="/tmp/claude-0/-home-claude/8a8742ef-7d0d-54fc-a0c9-7ecbfc9f8b73/scratchpad/deck/real/dmsp_sat.png">    </p:cNvPr>
          <p:cNvPicPr>
            <a:picLocks noChangeAspect="1"/>
          </p:cNvPicPr>
          <p:nvPr/>
        </p:nvPicPr>
        <p:blipFill>
          <a:blip r:embed="rId1"/>
          <a:stretch>
            <a:fillRect/>
          </a:stretch>
        </p:blipFill>
        <p:spPr>
          <a:xfrm>
            <a:off x="551713" y="1371600"/>
            <a:ext cx="3560014" cy="4206240"/>
          </a:xfrm>
          <a:prstGeom prst="rect">
            <a:avLst/>
          </a:prstGeom>
        </p:spPr>
      </p:pic>
      <p:pic>
        <p:nvPicPr>
          <p:cNvPr id="5" name="Image 1" descr="/tmp/claude-0/-home-claude/8a8742ef-7d0d-54fc-a0c9-7ecbfc9f8b73/scratchpad/deck/real/viirs_impr.png">    </p:cNvPr>
          <p:cNvPicPr>
            <a:picLocks noChangeAspect="1"/>
          </p:cNvPicPr>
          <p:nvPr/>
        </p:nvPicPr>
        <p:blipFill>
          <a:blip r:embed="rId2"/>
          <a:stretch>
            <a:fillRect/>
          </a:stretch>
        </p:blipFill>
        <p:spPr>
          <a:xfrm>
            <a:off x="4343400" y="1723174"/>
            <a:ext cx="3566160" cy="3503093"/>
          </a:xfrm>
          <a:prstGeom prst="rect">
            <a:avLst/>
          </a:prstGeom>
        </p:spPr>
      </p:pic>
      <p:sp>
        <p:nvSpPr>
          <p:cNvPr id="6" name="Text 2"/>
          <p:cNvSpPr txBox="1"/>
          <p:nvPr/>
        </p:nvSpPr>
        <p:spPr>
          <a:xfrm>
            <a:off x="548640" y="5577840"/>
            <a:ext cx="3566160" cy="274320"/>
          </a:xfrm>
          <a:prstGeom prst="rect">
            <a:avLst/>
          </a:prstGeom>
          <a:noFill/>
          <a:ln/>
        </p:spPr>
        <p:txBody>
          <a:bodyPr wrap="square" lIns="635" tIns="635" rIns="635" bIns="635" rtlCol="0" anchor="t"/>
          <a:lstStyle/>
          <a:p>
            <a:pPr algn="ctr" indent="0" marL="0">
              <a:spcAft>
                <a:spcPts val="200"/>
              </a:spcAft>
              <a:buNone/>
            </a:pPr>
            <a:r>
              <a:rPr lang="en-US" sz="1300" b="1" dirty="0">
                <a:solidFill>
                  <a:srgbClr val="D64545"/>
                </a:solidFill>
              </a:rPr>
              <a:t>DMSP-OLS 2013</a:t>
            </a:r>
            <a:endParaRPr lang="en-US" sz="1300" dirty="0"/>
          </a:p>
        </p:txBody>
      </p:sp>
      <p:sp>
        <p:nvSpPr>
          <p:cNvPr id="7" name="Text 3"/>
          <p:cNvSpPr txBox="1"/>
          <p:nvPr/>
        </p:nvSpPr>
        <p:spPr>
          <a:xfrm>
            <a:off x="4343400" y="5577840"/>
            <a:ext cx="3566160" cy="274320"/>
          </a:xfrm>
          <a:prstGeom prst="rect">
            <a:avLst/>
          </a:prstGeom>
          <a:noFill/>
          <a:ln/>
        </p:spPr>
        <p:txBody>
          <a:bodyPr wrap="square" lIns="635" tIns="635" rIns="635" bIns="635" rtlCol="0" anchor="t"/>
          <a:lstStyle/>
          <a:p>
            <a:pPr algn="ctr" indent="0" marL="0">
              <a:spcAft>
                <a:spcPts val="200"/>
              </a:spcAft>
              <a:buNone/>
            </a:pPr>
            <a:r>
              <a:rPr lang="en-US" sz="1300" b="1" dirty="0">
                <a:solidFill>
                  <a:srgbClr val="00553A"/>
                </a:solidFill>
              </a:rPr>
              <a:t>VIIRS DNB 2016</a:t>
            </a:r>
            <a:endParaRPr lang="en-US" sz="1300" dirty="0"/>
          </a:p>
        </p:txBody>
      </p:sp>
      <p:sp>
        <p:nvSpPr>
          <p:cNvPr id="8" name="Text 4"/>
          <p:cNvSpPr txBox="1"/>
          <p:nvPr/>
        </p:nvSpPr>
        <p:spPr>
          <a:xfrm>
            <a:off x="548640" y="5870448"/>
            <a:ext cx="74066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Chicago: saturated pixels in red (DMSP). Profiles along the red lines. Source: Open Nighttime Lights (World Bank, CC BY 4.0).</a:t>
            </a:r>
            <a:endParaRPr lang="en-US" sz="1000" dirty="0"/>
          </a:p>
        </p:txBody>
      </p:sp>
      <p:sp>
        <p:nvSpPr>
          <p:cNvPr id="9" name="Shape 5"/>
          <p:cNvSpPr/>
          <p:nvPr/>
        </p:nvSpPr>
        <p:spPr>
          <a:xfrm>
            <a:off x="8183880" y="1371600"/>
            <a:ext cx="3474720" cy="1554480"/>
          </a:xfrm>
          <a:prstGeom prst="roundRect">
            <a:avLst>
              <a:gd name="adj" fmla="val 7059"/>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6"/>
          <p:cNvSpPr/>
          <p:nvPr/>
        </p:nvSpPr>
        <p:spPr>
          <a:xfrm>
            <a:off x="8366760" y="1554480"/>
            <a:ext cx="502920" cy="502920"/>
          </a:xfrm>
          <a:prstGeom prst="ellipse">
            <a:avLst/>
          </a:prstGeom>
          <a:solidFill>
            <a:srgbClr val="D64545"/>
          </a:solidFill>
          <a:ln w="12700">
            <a:solidFill>
              <a:srgbClr val="D64545"/>
            </a:solidFill>
            <a:prstDash val="solid"/>
          </a:ln>
        </p:spPr>
      </p:sp>
      <p:pic>
        <p:nvPicPr>
          <p:cNvPr id="11" name="Image 2" descr="preencoded.png">    </p:cNvPr>
          <p:cNvPicPr>
            <a:picLocks noChangeAspect="1"/>
          </p:cNvPicPr>
          <p:nvPr/>
        </p:nvPicPr>
        <p:blipFill>
          <a:blip r:embed="rId3"/>
          <a:stretch>
            <a:fillRect/>
          </a:stretch>
        </p:blipFill>
        <p:spPr>
          <a:xfrm>
            <a:off x="8487461" y="1675181"/>
            <a:ext cx="261518" cy="261518"/>
          </a:xfrm>
          <a:prstGeom prst="rect">
            <a:avLst/>
          </a:prstGeom>
        </p:spPr>
      </p:pic>
      <p:sp>
        <p:nvSpPr>
          <p:cNvPr id="12" name="Text 7"/>
          <p:cNvSpPr txBox="1"/>
          <p:nvPr/>
        </p:nvSpPr>
        <p:spPr>
          <a:xfrm>
            <a:off x="9006840" y="1536192"/>
            <a:ext cx="25146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D64545"/>
                </a:solidFill>
              </a:rPr>
              <a:t>Saturation</a:t>
            </a:r>
            <a:endParaRPr lang="en-US" sz="1500" dirty="0"/>
          </a:p>
        </p:txBody>
      </p:sp>
      <p:sp>
        <p:nvSpPr>
          <p:cNvPr id="13" name="Text 8"/>
          <p:cNvSpPr txBox="1"/>
          <p:nvPr/>
        </p:nvSpPr>
        <p:spPr>
          <a:xfrm>
            <a:off x="8366760" y="2176272"/>
            <a:ext cx="3108960" cy="6400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DMSP caps at 63: the city centre looks flat, its growth is invisible.</a:t>
            </a:r>
            <a:endParaRPr lang="en-US" sz="1350" dirty="0"/>
          </a:p>
        </p:txBody>
      </p:sp>
      <p:sp>
        <p:nvSpPr>
          <p:cNvPr id="14" name="Shape 9"/>
          <p:cNvSpPr/>
          <p:nvPr/>
        </p:nvSpPr>
        <p:spPr>
          <a:xfrm>
            <a:off x="8183880" y="3108960"/>
            <a:ext cx="3474720" cy="1554480"/>
          </a:xfrm>
          <a:prstGeom prst="roundRect">
            <a:avLst>
              <a:gd name="adj" fmla="val 7059"/>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0"/>
          <p:cNvSpPr/>
          <p:nvPr/>
        </p:nvSpPr>
        <p:spPr>
          <a:xfrm>
            <a:off x="8366760" y="3291840"/>
            <a:ext cx="502920" cy="502920"/>
          </a:xfrm>
          <a:prstGeom prst="ellipse">
            <a:avLst/>
          </a:prstGeom>
          <a:solidFill>
            <a:srgbClr val="B7791F"/>
          </a:solidFill>
          <a:ln w="12700">
            <a:solidFill>
              <a:srgbClr val="B7791F"/>
            </a:solidFill>
            <a:prstDash val="solid"/>
          </a:ln>
        </p:spPr>
      </p:sp>
      <p:pic>
        <p:nvPicPr>
          <p:cNvPr id="16" name="Image 3" descr="preencoded.png">    </p:cNvPr>
          <p:cNvPicPr>
            <a:picLocks noChangeAspect="1"/>
          </p:cNvPicPr>
          <p:nvPr/>
        </p:nvPicPr>
        <p:blipFill>
          <a:blip r:embed="rId4"/>
          <a:stretch>
            <a:fillRect/>
          </a:stretch>
        </p:blipFill>
        <p:spPr>
          <a:xfrm>
            <a:off x="8487461" y="3412541"/>
            <a:ext cx="261518" cy="261518"/>
          </a:xfrm>
          <a:prstGeom prst="rect">
            <a:avLst/>
          </a:prstGeom>
        </p:spPr>
      </p:pic>
      <p:sp>
        <p:nvSpPr>
          <p:cNvPr id="17" name="Text 11"/>
          <p:cNvSpPr txBox="1"/>
          <p:nvPr/>
        </p:nvSpPr>
        <p:spPr>
          <a:xfrm>
            <a:off x="9006840" y="3273552"/>
            <a:ext cx="25146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B7791F"/>
                </a:solidFill>
              </a:rPr>
              <a:t>Blooming</a:t>
            </a:r>
            <a:endParaRPr lang="en-US" sz="1500" dirty="0"/>
          </a:p>
        </p:txBody>
      </p:sp>
      <p:sp>
        <p:nvSpPr>
          <p:cNvPr id="18" name="Text 12"/>
          <p:cNvSpPr txBox="1"/>
          <p:nvPr/>
        </p:nvSpPr>
        <p:spPr>
          <a:xfrm>
            <a:off x="8366760" y="3913632"/>
            <a:ext cx="3108960" cy="6400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Light “spills” around cities and inflates the lit area.</a:t>
            </a:r>
            <a:endParaRPr lang="en-US" sz="1350" dirty="0"/>
          </a:p>
        </p:txBody>
      </p:sp>
      <p:sp>
        <p:nvSpPr>
          <p:cNvPr id="19" name="Shape 13"/>
          <p:cNvSpPr/>
          <p:nvPr/>
        </p:nvSpPr>
        <p:spPr>
          <a:xfrm>
            <a:off x="8183880" y="4846320"/>
            <a:ext cx="3474720" cy="1280160"/>
          </a:xfrm>
          <a:prstGeom prst="roundRect">
            <a:avLst>
              <a:gd name="adj" fmla="val 857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4"/>
          <p:cNvSpPr/>
          <p:nvPr/>
        </p:nvSpPr>
        <p:spPr>
          <a:xfrm>
            <a:off x="8366760" y="5029200"/>
            <a:ext cx="502920" cy="502920"/>
          </a:xfrm>
          <a:prstGeom prst="ellipse">
            <a:avLst/>
          </a:prstGeom>
          <a:solidFill>
            <a:srgbClr val="00704A"/>
          </a:solidFill>
          <a:ln w="12700">
            <a:solidFill>
              <a:srgbClr val="00704A"/>
            </a:solidFill>
            <a:prstDash val="solid"/>
          </a:ln>
        </p:spPr>
      </p:sp>
      <p:pic>
        <p:nvPicPr>
          <p:cNvPr id="21" name="Image 4" descr="preencoded.png">    </p:cNvPr>
          <p:cNvPicPr>
            <a:picLocks noChangeAspect="1"/>
          </p:cNvPicPr>
          <p:nvPr/>
        </p:nvPicPr>
        <p:blipFill>
          <a:blip r:embed="rId5"/>
          <a:stretch>
            <a:fillRect/>
          </a:stretch>
        </p:blipFill>
        <p:spPr>
          <a:xfrm>
            <a:off x="8487461" y="5149901"/>
            <a:ext cx="261518" cy="261518"/>
          </a:xfrm>
          <a:prstGeom prst="rect">
            <a:avLst/>
          </a:prstGeom>
        </p:spPr>
      </p:pic>
      <p:sp>
        <p:nvSpPr>
          <p:cNvPr id="22" name="Text 15"/>
          <p:cNvSpPr txBox="1"/>
          <p:nvPr/>
        </p:nvSpPr>
        <p:spPr>
          <a:xfrm>
            <a:off x="9006840" y="5010912"/>
            <a:ext cx="25146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VIIRS: 25 to 280 nW</a:t>
            </a:r>
            <a:endParaRPr lang="en-US" sz="1500" dirty="0"/>
          </a:p>
        </p:txBody>
      </p:sp>
      <p:sp>
        <p:nvSpPr>
          <p:cNvPr id="23" name="Text 16"/>
          <p:cNvSpPr txBox="1"/>
          <p:nvPr/>
        </p:nvSpPr>
        <p:spPr>
          <a:xfrm>
            <a:off x="8366760" y="5650992"/>
            <a:ext cx="3108960" cy="36576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in the urban core that was capped</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B · SENSORS AND DATA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pipeline's data catalogue</a:t>
            </a:r>
            <a:endParaRPr lang="en-US" sz="2800" dirty="0"/>
          </a:p>
        </p:txBody>
      </p:sp>
      <p:sp>
        <p:nvSpPr>
          <p:cNvPr id="4" name="Shape 2"/>
          <p:cNvSpPr/>
          <p:nvPr/>
        </p:nvSpPr>
        <p:spPr>
          <a:xfrm>
            <a:off x="3657600" y="1737360"/>
            <a:ext cx="0" cy="4023360"/>
          </a:xfrm>
          <a:prstGeom prst="line">
            <a:avLst/>
          </a:prstGeom>
          <a:noFill/>
          <a:ln w="12700">
            <a:solidFill>
              <a:srgbClr val="E5E7EB"/>
            </a:solidFill>
            <a:prstDash val="dash"/>
          </a:ln>
        </p:spPr>
      </p:sp>
      <p:sp>
        <p:nvSpPr>
          <p:cNvPr id="5" name="Text 3"/>
          <p:cNvSpPr txBox="1"/>
          <p:nvPr/>
        </p:nvSpPr>
        <p:spPr>
          <a:xfrm>
            <a:off x="32918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1990</a:t>
            </a:r>
            <a:endParaRPr lang="en-US" sz="1100" dirty="0"/>
          </a:p>
        </p:txBody>
      </p:sp>
      <p:sp>
        <p:nvSpPr>
          <p:cNvPr id="6" name="Shape 4"/>
          <p:cNvSpPr/>
          <p:nvPr/>
        </p:nvSpPr>
        <p:spPr>
          <a:xfrm>
            <a:off x="5029200" y="1737360"/>
            <a:ext cx="0" cy="4023360"/>
          </a:xfrm>
          <a:prstGeom prst="line">
            <a:avLst/>
          </a:prstGeom>
          <a:noFill/>
          <a:ln w="12700">
            <a:solidFill>
              <a:srgbClr val="E5E7EB"/>
            </a:solidFill>
            <a:prstDash val="dash"/>
          </a:ln>
        </p:spPr>
      </p:sp>
      <p:sp>
        <p:nvSpPr>
          <p:cNvPr id="7" name="Text 5"/>
          <p:cNvSpPr txBox="1"/>
          <p:nvPr/>
        </p:nvSpPr>
        <p:spPr>
          <a:xfrm>
            <a:off x="46634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2000</a:t>
            </a:r>
            <a:endParaRPr lang="en-US" sz="1100" dirty="0"/>
          </a:p>
        </p:txBody>
      </p:sp>
      <p:sp>
        <p:nvSpPr>
          <p:cNvPr id="8" name="Shape 6"/>
          <p:cNvSpPr/>
          <p:nvPr/>
        </p:nvSpPr>
        <p:spPr>
          <a:xfrm>
            <a:off x="6400800" y="1737360"/>
            <a:ext cx="0" cy="4023360"/>
          </a:xfrm>
          <a:prstGeom prst="line">
            <a:avLst/>
          </a:prstGeom>
          <a:noFill/>
          <a:ln w="12700">
            <a:solidFill>
              <a:srgbClr val="E5E7EB"/>
            </a:solidFill>
            <a:prstDash val="dash"/>
          </a:ln>
        </p:spPr>
      </p:sp>
      <p:sp>
        <p:nvSpPr>
          <p:cNvPr id="9" name="Text 7"/>
          <p:cNvSpPr txBox="1"/>
          <p:nvPr/>
        </p:nvSpPr>
        <p:spPr>
          <a:xfrm>
            <a:off x="60350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2010</a:t>
            </a:r>
            <a:endParaRPr lang="en-US" sz="1100" dirty="0"/>
          </a:p>
        </p:txBody>
      </p:sp>
      <p:sp>
        <p:nvSpPr>
          <p:cNvPr id="10" name="Shape 8"/>
          <p:cNvSpPr/>
          <p:nvPr/>
        </p:nvSpPr>
        <p:spPr>
          <a:xfrm>
            <a:off x="7772400" y="1737360"/>
            <a:ext cx="0" cy="4023360"/>
          </a:xfrm>
          <a:prstGeom prst="line">
            <a:avLst/>
          </a:prstGeom>
          <a:noFill/>
          <a:ln w="12700">
            <a:solidFill>
              <a:srgbClr val="E5E7EB"/>
            </a:solidFill>
            <a:prstDash val="dash"/>
          </a:ln>
        </p:spPr>
      </p:sp>
      <p:sp>
        <p:nvSpPr>
          <p:cNvPr id="11" name="Text 9"/>
          <p:cNvSpPr txBox="1"/>
          <p:nvPr/>
        </p:nvSpPr>
        <p:spPr>
          <a:xfrm>
            <a:off x="7406640" y="1417320"/>
            <a:ext cx="731520" cy="274320"/>
          </a:xfrm>
          <a:prstGeom prst="rect">
            <a:avLst/>
          </a:prstGeom>
          <a:noFill/>
          <a:ln/>
        </p:spPr>
        <p:txBody>
          <a:bodyPr wrap="square" lIns="635" tIns="635" rIns="635" bIns="635" rtlCol="0" anchor="t"/>
          <a:lstStyle/>
          <a:p>
            <a:pPr algn="ctr" indent="0" marL="0">
              <a:spcAft>
                <a:spcPts val="200"/>
              </a:spcAft>
              <a:buNone/>
            </a:pPr>
            <a:r>
              <a:rPr lang="en-US" sz="1100" dirty="0">
                <a:solidFill>
                  <a:srgbClr val="6B7280"/>
                </a:solidFill>
              </a:rPr>
              <a:t>2020</a:t>
            </a:r>
            <a:endParaRPr lang="en-US" sz="1100" dirty="0"/>
          </a:p>
        </p:txBody>
      </p:sp>
      <p:sp>
        <p:nvSpPr>
          <p:cNvPr id="12" name="Text 10"/>
          <p:cNvSpPr txBox="1"/>
          <p:nvPr/>
        </p:nvSpPr>
        <p:spPr>
          <a:xfrm>
            <a:off x="548640" y="1801368"/>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VIIRS monthly (VCMSLCFG)</a:t>
            </a:r>
            <a:endParaRPr lang="en-US" sz="1350" dirty="0"/>
          </a:p>
        </p:txBody>
      </p:sp>
      <p:sp>
        <p:nvSpPr>
          <p:cNvPr id="13" name="Shape 11"/>
          <p:cNvSpPr/>
          <p:nvPr/>
        </p:nvSpPr>
        <p:spPr>
          <a:xfrm>
            <a:off x="6949440" y="1874520"/>
            <a:ext cx="1645920" cy="256032"/>
          </a:xfrm>
          <a:prstGeom prst="roundRect">
            <a:avLst>
              <a:gd name="adj" fmla="val 50000"/>
            </a:avLst>
          </a:prstGeom>
          <a:solidFill>
            <a:srgbClr val="00704A"/>
          </a:solidFill>
          <a:ln w="12700">
            <a:solidFill>
              <a:srgbClr val="00704A"/>
            </a:solidFill>
            <a:prstDash val="solid"/>
          </a:ln>
        </p:spPr>
      </p:sp>
      <p:sp>
        <p:nvSpPr>
          <p:cNvPr id="14" name="Text 12"/>
          <p:cNvSpPr txBox="1"/>
          <p:nvPr/>
        </p:nvSpPr>
        <p:spPr>
          <a:xfrm>
            <a:off x="8778240" y="1801368"/>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monthly series, STL, shocks</a:t>
            </a:r>
            <a:endParaRPr lang="en-US" sz="1250" dirty="0"/>
          </a:p>
        </p:txBody>
      </p:sp>
      <p:sp>
        <p:nvSpPr>
          <p:cNvPr id="15" name="Text 13"/>
          <p:cNvSpPr txBox="1"/>
          <p:nvPr/>
        </p:nvSpPr>
        <p:spPr>
          <a:xfrm>
            <a:off x="548640" y="2286000"/>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VIIRS annual VNL V2</a:t>
            </a:r>
            <a:endParaRPr lang="en-US" sz="1350" dirty="0"/>
          </a:p>
        </p:txBody>
      </p:sp>
      <p:sp>
        <p:nvSpPr>
          <p:cNvPr id="16" name="Shape 14"/>
          <p:cNvSpPr/>
          <p:nvPr/>
        </p:nvSpPr>
        <p:spPr>
          <a:xfrm>
            <a:off x="6812280" y="2359152"/>
            <a:ext cx="1783080" cy="256032"/>
          </a:xfrm>
          <a:prstGeom prst="roundRect">
            <a:avLst>
              <a:gd name="adj" fmla="val 50000"/>
            </a:avLst>
          </a:prstGeom>
          <a:solidFill>
            <a:srgbClr val="00553A"/>
          </a:solidFill>
          <a:ln w="12700">
            <a:solidFill>
              <a:srgbClr val="00553A"/>
            </a:solidFill>
            <a:prstDash val="solid"/>
          </a:ln>
        </p:spPr>
      </p:sp>
      <p:sp>
        <p:nvSpPr>
          <p:cNvPr id="17" name="Text 15"/>
          <p:cNvSpPr txBox="1"/>
          <p:nvPr/>
        </p:nvSpPr>
        <p:spPr>
          <a:xfrm>
            <a:off x="8778240" y="2286000"/>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annual levels, regions, GDP</a:t>
            </a:r>
            <a:endParaRPr lang="en-US" sz="1250" dirty="0"/>
          </a:p>
        </p:txBody>
      </p:sp>
      <p:sp>
        <p:nvSpPr>
          <p:cNvPr id="18" name="Text 16"/>
          <p:cNvSpPr txBox="1"/>
          <p:nvPr/>
        </p:nvSpPr>
        <p:spPr>
          <a:xfrm>
            <a:off x="548640" y="2770632"/>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Black Marble VNP46A2</a:t>
            </a:r>
            <a:endParaRPr lang="en-US" sz="1350" dirty="0"/>
          </a:p>
        </p:txBody>
      </p:sp>
      <p:sp>
        <p:nvSpPr>
          <p:cNvPr id="19" name="Shape 17"/>
          <p:cNvSpPr/>
          <p:nvPr/>
        </p:nvSpPr>
        <p:spPr>
          <a:xfrm>
            <a:off x="6675120" y="2843784"/>
            <a:ext cx="1920240" cy="256032"/>
          </a:xfrm>
          <a:prstGeom prst="roundRect">
            <a:avLst>
              <a:gd name="adj" fmla="val 50000"/>
            </a:avLst>
          </a:prstGeom>
          <a:solidFill>
            <a:srgbClr val="1F4E8C"/>
          </a:solidFill>
          <a:ln w="12700">
            <a:solidFill>
              <a:srgbClr val="1F4E8C"/>
            </a:solidFill>
            <a:prstDash val="solid"/>
          </a:ln>
        </p:spPr>
      </p:sp>
      <p:sp>
        <p:nvSpPr>
          <p:cNvPr id="20" name="Text 18"/>
          <p:cNvSpPr txBox="1"/>
          <p:nvPr/>
        </p:nvSpPr>
        <p:spPr>
          <a:xfrm>
            <a:off x="8778240" y="2770632"/>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daily zoom on shocks</a:t>
            </a:r>
            <a:endParaRPr lang="en-US" sz="1250" dirty="0"/>
          </a:p>
        </p:txBody>
      </p:sp>
      <p:sp>
        <p:nvSpPr>
          <p:cNvPr id="21" name="Text 19"/>
          <p:cNvSpPr txBox="1"/>
          <p:nvPr/>
        </p:nvSpPr>
        <p:spPr>
          <a:xfrm>
            <a:off x="548640" y="3255264"/>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DMSP-OLS</a:t>
            </a:r>
            <a:endParaRPr lang="en-US" sz="1350" dirty="0"/>
          </a:p>
        </p:txBody>
      </p:sp>
      <p:sp>
        <p:nvSpPr>
          <p:cNvPr id="22" name="Shape 20"/>
          <p:cNvSpPr/>
          <p:nvPr/>
        </p:nvSpPr>
        <p:spPr>
          <a:xfrm>
            <a:off x="3931920" y="3328416"/>
            <a:ext cx="2880360" cy="256032"/>
          </a:xfrm>
          <a:prstGeom prst="roundRect">
            <a:avLst>
              <a:gd name="adj" fmla="val 50000"/>
            </a:avLst>
          </a:prstGeom>
          <a:solidFill>
            <a:srgbClr val="6B7280"/>
          </a:solidFill>
          <a:ln w="12700">
            <a:solidFill>
              <a:srgbClr val="6B7280"/>
            </a:solidFill>
            <a:prstDash val="solid"/>
          </a:ln>
        </p:spPr>
      </p:sp>
      <p:sp>
        <p:nvSpPr>
          <p:cNvPr id="23" name="Text 21"/>
          <p:cNvSpPr txBox="1"/>
          <p:nvPr/>
        </p:nvSpPr>
        <p:spPr>
          <a:xfrm>
            <a:off x="8778240" y="3255264"/>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saturation diagnostics</a:t>
            </a:r>
            <a:endParaRPr lang="en-US" sz="1250" dirty="0"/>
          </a:p>
        </p:txBody>
      </p:sp>
      <p:sp>
        <p:nvSpPr>
          <p:cNvPr id="24" name="Text 22"/>
          <p:cNvSpPr txBox="1"/>
          <p:nvPr/>
        </p:nvSpPr>
        <p:spPr>
          <a:xfrm>
            <a:off x="548640" y="3739896"/>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Harmonised DMSP–VIIRS</a:t>
            </a:r>
            <a:endParaRPr lang="en-US" sz="1350" dirty="0"/>
          </a:p>
        </p:txBody>
      </p:sp>
      <p:sp>
        <p:nvSpPr>
          <p:cNvPr id="25" name="Shape 23"/>
          <p:cNvSpPr/>
          <p:nvPr/>
        </p:nvSpPr>
        <p:spPr>
          <a:xfrm>
            <a:off x="3931920" y="3813048"/>
            <a:ext cx="4663440" cy="256032"/>
          </a:xfrm>
          <a:prstGeom prst="roundRect">
            <a:avLst>
              <a:gd name="adj" fmla="val 50000"/>
            </a:avLst>
          </a:prstGeom>
          <a:solidFill>
            <a:srgbClr val="B7791F"/>
          </a:solidFill>
          <a:ln w="12700">
            <a:solidFill>
              <a:srgbClr val="B7791F"/>
            </a:solidFill>
            <a:prstDash val="solid"/>
          </a:ln>
        </p:spPr>
      </p:sp>
      <p:sp>
        <p:nvSpPr>
          <p:cNvPr id="26" name="Text 24"/>
          <p:cNvSpPr txBox="1"/>
          <p:nvPr/>
        </p:nvSpPr>
        <p:spPr>
          <a:xfrm>
            <a:off x="8778240" y="3739896"/>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long-run trend (Li et al.)</a:t>
            </a:r>
            <a:endParaRPr lang="en-US" sz="1250" dirty="0"/>
          </a:p>
        </p:txBody>
      </p:sp>
      <p:sp>
        <p:nvSpPr>
          <p:cNvPr id="27" name="Text 25"/>
          <p:cNvSpPr txBox="1"/>
          <p:nvPr/>
        </p:nvSpPr>
        <p:spPr>
          <a:xfrm>
            <a:off x="548640" y="4224528"/>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GHSL · WorldPop</a:t>
            </a:r>
            <a:endParaRPr lang="en-US" sz="1350" dirty="0"/>
          </a:p>
        </p:txBody>
      </p:sp>
      <p:sp>
        <p:nvSpPr>
          <p:cNvPr id="28" name="Shape 26"/>
          <p:cNvSpPr/>
          <p:nvPr/>
        </p:nvSpPr>
        <p:spPr>
          <a:xfrm>
            <a:off x="3657600" y="4297680"/>
            <a:ext cx="4937760" cy="256032"/>
          </a:xfrm>
          <a:prstGeom prst="roundRect">
            <a:avLst>
              <a:gd name="adj" fmla="val 50000"/>
            </a:avLst>
          </a:prstGeom>
          <a:solidFill>
            <a:srgbClr val="7C3AED"/>
          </a:solidFill>
          <a:ln w="12700">
            <a:solidFill>
              <a:srgbClr val="7C3AED"/>
            </a:solidFill>
            <a:prstDash val="solid"/>
          </a:ln>
        </p:spPr>
      </p:sp>
      <p:sp>
        <p:nvSpPr>
          <p:cNvPr id="29" name="Text 27"/>
          <p:cNvSpPr txBox="1"/>
          <p:nvPr/>
        </p:nvSpPr>
        <p:spPr>
          <a:xfrm>
            <a:off x="8778240" y="4224528"/>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population, degree of urbanisation</a:t>
            </a:r>
            <a:endParaRPr lang="en-US" sz="1250" dirty="0"/>
          </a:p>
        </p:txBody>
      </p:sp>
      <p:sp>
        <p:nvSpPr>
          <p:cNvPr id="30" name="Text 28"/>
          <p:cNvSpPr txBox="1"/>
          <p:nvPr/>
        </p:nvSpPr>
        <p:spPr>
          <a:xfrm>
            <a:off x="548640" y="4709160"/>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Sentinel-5P NO₂</a:t>
            </a:r>
            <a:endParaRPr lang="en-US" sz="1350" dirty="0"/>
          </a:p>
        </p:txBody>
      </p:sp>
      <p:sp>
        <p:nvSpPr>
          <p:cNvPr id="31" name="Shape 29"/>
          <p:cNvSpPr/>
          <p:nvPr/>
        </p:nvSpPr>
        <p:spPr>
          <a:xfrm>
            <a:off x="7498080" y="4782312"/>
            <a:ext cx="1097280" cy="256032"/>
          </a:xfrm>
          <a:prstGeom prst="roundRect">
            <a:avLst>
              <a:gd name="adj" fmla="val 50000"/>
            </a:avLst>
          </a:prstGeom>
          <a:solidFill>
            <a:srgbClr val="B45309"/>
          </a:solidFill>
          <a:ln w="12700">
            <a:solidFill>
              <a:srgbClr val="B45309"/>
            </a:solidFill>
            <a:prstDash val="solid"/>
          </a:ln>
        </p:spPr>
      </p:sp>
      <p:sp>
        <p:nvSpPr>
          <p:cNvPr id="32" name="Text 30"/>
          <p:cNvSpPr txBox="1"/>
          <p:nvPr/>
        </p:nvSpPr>
        <p:spPr>
          <a:xfrm>
            <a:off x="8778240" y="4709160"/>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industrial activity (complement)</a:t>
            </a:r>
            <a:endParaRPr lang="en-US" sz="1250" dirty="0"/>
          </a:p>
        </p:txBody>
      </p:sp>
      <p:sp>
        <p:nvSpPr>
          <p:cNvPr id="33" name="Text 31"/>
          <p:cNvSpPr txBox="1"/>
          <p:nvPr/>
        </p:nvSpPr>
        <p:spPr>
          <a:xfrm>
            <a:off x="548640" y="5193792"/>
            <a:ext cx="3063240" cy="384048"/>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World Bank (WDI)</a:t>
            </a:r>
            <a:endParaRPr lang="en-US" sz="1350" dirty="0"/>
          </a:p>
        </p:txBody>
      </p:sp>
      <p:sp>
        <p:nvSpPr>
          <p:cNvPr id="34" name="Shape 32"/>
          <p:cNvSpPr/>
          <p:nvPr/>
        </p:nvSpPr>
        <p:spPr>
          <a:xfrm>
            <a:off x="3657600" y="5266944"/>
            <a:ext cx="4937760" cy="256032"/>
          </a:xfrm>
          <a:prstGeom prst="roundRect">
            <a:avLst>
              <a:gd name="adj" fmla="val 50000"/>
            </a:avLst>
          </a:prstGeom>
          <a:solidFill>
            <a:srgbClr val="D64545"/>
          </a:solidFill>
          <a:ln w="12700">
            <a:solidFill>
              <a:srgbClr val="D64545"/>
            </a:solidFill>
            <a:prstDash val="solid"/>
          </a:ln>
        </p:spPr>
      </p:sp>
      <p:sp>
        <p:nvSpPr>
          <p:cNvPr id="35" name="Text 33"/>
          <p:cNvSpPr txBox="1"/>
          <p:nvPr/>
        </p:nvSpPr>
        <p:spPr>
          <a:xfrm>
            <a:off x="8778240" y="5193792"/>
            <a:ext cx="2926080" cy="384048"/>
          </a:xfrm>
          <a:prstGeom prst="rect">
            <a:avLst/>
          </a:prstGeom>
          <a:noFill/>
          <a:ln/>
        </p:spPr>
        <p:txBody>
          <a:bodyPr wrap="square" lIns="635" tIns="635" rIns="635" bIns="635" rtlCol="0" anchor="ctr"/>
          <a:lstStyle/>
          <a:p>
            <a:pPr indent="0" marL="0">
              <a:spcAft>
                <a:spcPts val="200"/>
              </a:spcAft>
              <a:buNone/>
            </a:pPr>
            <a:r>
              <a:rPr lang="en-US" sz="1250" dirty="0">
                <a:solidFill>
                  <a:srgbClr val="231F20"/>
                </a:solidFill>
              </a:rPr>
              <a:t>real GDP, electricity access</a:t>
            </a:r>
            <a:endParaRPr lang="en-US" sz="1250" dirty="0"/>
          </a:p>
        </p:txBody>
      </p:sp>
      <p:sp>
        <p:nvSpPr>
          <p:cNvPr id="36" name="Text 34"/>
          <p:cNvSpPr txBox="1"/>
          <p:nvPr/>
        </p:nvSpPr>
        <p:spPr>
          <a:xfrm>
            <a:off x="548640" y="5852160"/>
            <a:ext cx="11109960" cy="365760"/>
          </a:xfrm>
          <a:prstGeom prst="rect">
            <a:avLst/>
          </a:prstGeom>
          <a:noFill/>
          <a:ln/>
        </p:spPr>
        <p:txBody>
          <a:bodyPr wrap="square" lIns="635" tIns="635" rIns="635" bIns="635" rtlCol="0" anchor="t"/>
          <a:lstStyle/>
          <a:p>
            <a:pPr indent="0" marL="0">
              <a:spcAft>
                <a:spcPts val="200"/>
              </a:spcAft>
              <a:buNone/>
            </a:pPr>
            <a:r>
              <a:rPr lang="en-US" sz="1300" i="1" dirty="0">
                <a:solidFill>
                  <a:srgbClr val="6B7280"/>
                </a:solidFill>
              </a:rPr>
              <a:t>+ geoBoundaries administrative boundaries (FAO GAUL fallback) · ESA WorldCover 10 m · event catalogue (COVID-19, ACLED, EM-DAT)</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C · ARCHITECTURE AND PIPELINE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end-to-end pipeline: from one ISO3 code to a public site</a:t>
            </a:r>
            <a:endParaRPr lang="en-US" sz="2800" dirty="0"/>
          </a:p>
        </p:txBody>
      </p:sp>
      <p:sp>
        <p:nvSpPr>
          <p:cNvPr id="4" name="Shape 2"/>
          <p:cNvSpPr/>
          <p:nvPr/>
        </p:nvSpPr>
        <p:spPr>
          <a:xfrm>
            <a:off x="548640"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914400" y="1645920"/>
            <a:ext cx="685800" cy="685800"/>
          </a:xfrm>
          <a:prstGeom prst="ellipse">
            <a:avLst/>
          </a:prstGeom>
          <a:solidFill>
            <a:srgbClr val="F5C242"/>
          </a:solidFill>
          <a:ln w="12700">
            <a:solidFill>
              <a:srgbClr val="F5C242"/>
            </a:solidFill>
            <a:prstDash val="solid"/>
          </a:ln>
        </p:spPr>
      </p:sp>
      <p:pic>
        <p:nvPicPr>
          <p:cNvPr id="6" name="Image 0" descr="preencoded.png">    </p:cNvPr>
          <p:cNvPicPr>
            <a:picLocks noChangeAspect="1"/>
          </p:cNvPicPr>
          <p:nvPr/>
        </p:nvPicPr>
        <p:blipFill>
          <a:blip r:embed="rId1"/>
          <a:stretch>
            <a:fillRect/>
          </a:stretch>
        </p:blipFill>
        <p:spPr>
          <a:xfrm>
            <a:off x="1078992" y="1810512"/>
            <a:ext cx="356616" cy="356616"/>
          </a:xfrm>
          <a:prstGeom prst="rect">
            <a:avLst/>
          </a:prstGeom>
        </p:spPr>
      </p:pic>
      <p:sp>
        <p:nvSpPr>
          <p:cNvPr id="7" name="Text 4"/>
          <p:cNvSpPr txBox="1"/>
          <p:nvPr/>
        </p:nvSpPr>
        <p:spPr>
          <a:xfrm>
            <a:off x="594360"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Parameter</a:t>
            </a:r>
            <a:endParaRPr lang="en-US" sz="1400" dirty="0"/>
          </a:p>
        </p:txBody>
      </p:sp>
      <p:sp>
        <p:nvSpPr>
          <p:cNvPr id="8" name="Text 5"/>
          <p:cNvSpPr txBox="1"/>
          <p:nvPr/>
        </p:nvSpPr>
        <p:spPr>
          <a:xfrm>
            <a:off x="594360"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ISO3 + period</a:t>
            </a:r>
            <a:endParaRPr lang="en-US" sz="1200" dirty="0"/>
          </a:p>
        </p:txBody>
      </p:sp>
      <p:sp>
        <p:nvSpPr>
          <p:cNvPr id="9" name="Shape 6"/>
          <p:cNvSpPr/>
          <p:nvPr/>
        </p:nvSpPr>
        <p:spPr>
          <a:xfrm>
            <a:off x="1984248" y="2450592"/>
            <a:ext cx="173736" cy="914"/>
          </a:xfrm>
          <a:prstGeom prst="line">
            <a:avLst/>
          </a:prstGeom>
          <a:noFill/>
          <a:ln w="31750">
            <a:solidFill>
              <a:srgbClr val="F5C242"/>
            </a:solidFill>
            <a:prstDash val="solid"/>
            <a:tailEnd type="triangle"/>
          </a:ln>
        </p:spPr>
      </p:sp>
      <p:sp>
        <p:nvSpPr>
          <p:cNvPr id="10" name="Shape 7"/>
          <p:cNvSpPr/>
          <p:nvPr/>
        </p:nvSpPr>
        <p:spPr>
          <a:xfrm>
            <a:off x="2176272"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11" name="Shape 8"/>
          <p:cNvSpPr/>
          <p:nvPr/>
        </p:nvSpPr>
        <p:spPr>
          <a:xfrm>
            <a:off x="2542032" y="1645920"/>
            <a:ext cx="685800" cy="685800"/>
          </a:xfrm>
          <a:prstGeom prst="ellipse">
            <a:avLst/>
          </a:prstGeom>
          <a:solidFill>
            <a:srgbClr val="1F4E8C"/>
          </a:solidFill>
          <a:ln w="12700">
            <a:solidFill>
              <a:srgbClr val="1F4E8C"/>
            </a:solidFill>
            <a:prstDash val="solid"/>
          </a:ln>
        </p:spPr>
      </p:sp>
      <p:pic>
        <p:nvPicPr>
          <p:cNvPr id="12" name="Image 1" descr="preencoded.png">    </p:cNvPr>
          <p:cNvPicPr>
            <a:picLocks noChangeAspect="1"/>
          </p:cNvPicPr>
          <p:nvPr/>
        </p:nvPicPr>
        <p:blipFill>
          <a:blip r:embed="rId2"/>
          <a:stretch>
            <a:fillRect/>
          </a:stretch>
        </p:blipFill>
        <p:spPr>
          <a:xfrm>
            <a:off x="2706624" y="1810512"/>
            <a:ext cx="356616" cy="356616"/>
          </a:xfrm>
          <a:prstGeom prst="rect">
            <a:avLst/>
          </a:prstGeom>
        </p:spPr>
      </p:pic>
      <p:sp>
        <p:nvSpPr>
          <p:cNvPr id="13" name="Text 9"/>
          <p:cNvSpPr txBox="1"/>
          <p:nvPr/>
        </p:nvSpPr>
        <p:spPr>
          <a:xfrm>
            <a:off x="2221992"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Earth Engine</a:t>
            </a:r>
            <a:endParaRPr lang="en-US" sz="1400" dirty="0"/>
          </a:p>
        </p:txBody>
      </p:sp>
      <p:sp>
        <p:nvSpPr>
          <p:cNvPr id="14" name="Text 10"/>
          <p:cNvSpPr txBox="1"/>
          <p:nvPr/>
        </p:nvSpPr>
        <p:spPr>
          <a:xfrm>
            <a:off x="2221992"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server-side compute</a:t>
            </a:r>
            <a:endParaRPr lang="en-US" sz="1200" dirty="0"/>
          </a:p>
        </p:txBody>
      </p:sp>
      <p:sp>
        <p:nvSpPr>
          <p:cNvPr id="15" name="Shape 11"/>
          <p:cNvSpPr/>
          <p:nvPr/>
        </p:nvSpPr>
        <p:spPr>
          <a:xfrm>
            <a:off x="3611880" y="2450592"/>
            <a:ext cx="173736" cy="914"/>
          </a:xfrm>
          <a:prstGeom prst="line">
            <a:avLst/>
          </a:prstGeom>
          <a:noFill/>
          <a:ln w="31750">
            <a:solidFill>
              <a:srgbClr val="F5C242"/>
            </a:solidFill>
            <a:prstDash val="solid"/>
            <a:tailEnd type="triangle"/>
          </a:ln>
        </p:spPr>
      </p:sp>
      <p:sp>
        <p:nvSpPr>
          <p:cNvPr id="16" name="Shape 12"/>
          <p:cNvSpPr/>
          <p:nvPr/>
        </p:nvSpPr>
        <p:spPr>
          <a:xfrm>
            <a:off x="3803904"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17" name="Shape 13"/>
          <p:cNvSpPr/>
          <p:nvPr/>
        </p:nvSpPr>
        <p:spPr>
          <a:xfrm>
            <a:off x="4169664" y="1645920"/>
            <a:ext cx="685800" cy="685800"/>
          </a:xfrm>
          <a:prstGeom prst="ellipse">
            <a:avLst/>
          </a:prstGeom>
          <a:solidFill>
            <a:srgbClr val="6B7280"/>
          </a:solidFill>
          <a:ln w="12700">
            <a:solidFill>
              <a:srgbClr val="6B7280"/>
            </a:solidFill>
            <a:prstDash val="solid"/>
          </a:ln>
        </p:spPr>
      </p:sp>
      <p:pic>
        <p:nvPicPr>
          <p:cNvPr id="18" name="Image 2" descr="preencoded.png">    </p:cNvPr>
          <p:cNvPicPr>
            <a:picLocks noChangeAspect="1"/>
          </p:cNvPicPr>
          <p:nvPr/>
        </p:nvPicPr>
        <p:blipFill>
          <a:blip r:embed="rId3"/>
          <a:stretch>
            <a:fillRect/>
          </a:stretch>
        </p:blipFill>
        <p:spPr>
          <a:xfrm>
            <a:off x="4334256" y="1810512"/>
            <a:ext cx="356616" cy="356616"/>
          </a:xfrm>
          <a:prstGeom prst="rect">
            <a:avLst/>
          </a:prstGeom>
        </p:spPr>
      </p:pic>
      <p:sp>
        <p:nvSpPr>
          <p:cNvPr id="19" name="Text 14"/>
          <p:cNvSpPr txBox="1"/>
          <p:nvPr/>
        </p:nvSpPr>
        <p:spPr>
          <a:xfrm>
            <a:off x="3849624"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Cache</a:t>
            </a:r>
            <a:endParaRPr lang="en-US" sz="1400" dirty="0"/>
          </a:p>
        </p:txBody>
      </p:sp>
      <p:sp>
        <p:nvSpPr>
          <p:cNvPr id="20" name="Text 15"/>
          <p:cNvSpPr txBox="1"/>
          <p:nvPr/>
        </p:nvSpPr>
        <p:spPr>
          <a:xfrm>
            <a:off x="3849624"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aggregated tables</a:t>
            </a:r>
            <a:endParaRPr lang="en-US" sz="1200" dirty="0"/>
          </a:p>
        </p:txBody>
      </p:sp>
      <p:sp>
        <p:nvSpPr>
          <p:cNvPr id="21" name="Shape 16"/>
          <p:cNvSpPr/>
          <p:nvPr/>
        </p:nvSpPr>
        <p:spPr>
          <a:xfrm>
            <a:off x="5239512" y="2450592"/>
            <a:ext cx="173736" cy="914"/>
          </a:xfrm>
          <a:prstGeom prst="line">
            <a:avLst/>
          </a:prstGeom>
          <a:noFill/>
          <a:ln w="31750">
            <a:solidFill>
              <a:srgbClr val="F5C242"/>
            </a:solidFill>
            <a:prstDash val="solid"/>
            <a:tailEnd type="triangle"/>
          </a:ln>
        </p:spPr>
      </p:sp>
      <p:sp>
        <p:nvSpPr>
          <p:cNvPr id="22" name="Shape 17"/>
          <p:cNvSpPr/>
          <p:nvPr/>
        </p:nvSpPr>
        <p:spPr>
          <a:xfrm>
            <a:off x="5431536"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23" name="Shape 18"/>
          <p:cNvSpPr/>
          <p:nvPr/>
        </p:nvSpPr>
        <p:spPr>
          <a:xfrm>
            <a:off x="5797296" y="1645920"/>
            <a:ext cx="685800" cy="685800"/>
          </a:xfrm>
          <a:prstGeom prst="ellipse">
            <a:avLst/>
          </a:prstGeom>
          <a:solidFill>
            <a:srgbClr val="00704A"/>
          </a:solidFill>
          <a:ln w="12700">
            <a:solidFill>
              <a:srgbClr val="00704A"/>
            </a:solidFill>
            <a:prstDash val="solid"/>
          </a:ln>
        </p:spPr>
      </p:sp>
      <p:pic>
        <p:nvPicPr>
          <p:cNvPr id="24" name="Image 3" descr="preencoded.png">    </p:cNvPr>
          <p:cNvPicPr>
            <a:picLocks noChangeAspect="1"/>
          </p:cNvPicPr>
          <p:nvPr/>
        </p:nvPicPr>
        <p:blipFill>
          <a:blip r:embed="rId4"/>
          <a:stretch>
            <a:fillRect/>
          </a:stretch>
        </p:blipFill>
        <p:spPr>
          <a:xfrm>
            <a:off x="5961888" y="1810512"/>
            <a:ext cx="356616" cy="356616"/>
          </a:xfrm>
          <a:prstGeom prst="rect">
            <a:avLst/>
          </a:prstGeom>
        </p:spPr>
      </p:pic>
      <p:sp>
        <p:nvSpPr>
          <p:cNvPr id="25" name="Text 19"/>
          <p:cNvSpPr txBox="1"/>
          <p:nvPr/>
        </p:nvSpPr>
        <p:spPr>
          <a:xfrm>
            <a:off x="5477256"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Preprocessing</a:t>
            </a:r>
            <a:endParaRPr lang="en-US" sz="1400" dirty="0"/>
          </a:p>
        </p:txBody>
      </p:sp>
      <p:sp>
        <p:nvSpPr>
          <p:cNvPr id="26" name="Text 20"/>
          <p:cNvSpPr txBox="1"/>
          <p:nvPr/>
        </p:nvSpPr>
        <p:spPr>
          <a:xfrm>
            <a:off x="5477256"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clouds, flares…</a:t>
            </a:r>
            <a:endParaRPr lang="en-US" sz="1200" dirty="0"/>
          </a:p>
        </p:txBody>
      </p:sp>
      <p:sp>
        <p:nvSpPr>
          <p:cNvPr id="27" name="Shape 21"/>
          <p:cNvSpPr/>
          <p:nvPr/>
        </p:nvSpPr>
        <p:spPr>
          <a:xfrm>
            <a:off x="6867144" y="2450592"/>
            <a:ext cx="173736" cy="914"/>
          </a:xfrm>
          <a:prstGeom prst="line">
            <a:avLst/>
          </a:prstGeom>
          <a:noFill/>
          <a:ln w="31750">
            <a:solidFill>
              <a:srgbClr val="F5C242"/>
            </a:solidFill>
            <a:prstDash val="solid"/>
            <a:tailEnd type="triangle"/>
          </a:ln>
        </p:spPr>
      </p:sp>
      <p:sp>
        <p:nvSpPr>
          <p:cNvPr id="28" name="Shape 22"/>
          <p:cNvSpPr/>
          <p:nvPr/>
        </p:nvSpPr>
        <p:spPr>
          <a:xfrm>
            <a:off x="7059168"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29" name="Shape 23"/>
          <p:cNvSpPr/>
          <p:nvPr/>
        </p:nvSpPr>
        <p:spPr>
          <a:xfrm>
            <a:off x="7424928" y="1645920"/>
            <a:ext cx="685800" cy="685800"/>
          </a:xfrm>
          <a:prstGeom prst="ellipse">
            <a:avLst/>
          </a:prstGeom>
          <a:solidFill>
            <a:srgbClr val="00553A"/>
          </a:solidFill>
          <a:ln w="12700">
            <a:solidFill>
              <a:srgbClr val="00553A"/>
            </a:solidFill>
            <a:prstDash val="solid"/>
          </a:ln>
        </p:spPr>
      </p:sp>
      <p:pic>
        <p:nvPicPr>
          <p:cNvPr id="30" name="Image 4" descr="preencoded.png">    </p:cNvPr>
          <p:cNvPicPr>
            <a:picLocks noChangeAspect="1"/>
          </p:cNvPicPr>
          <p:nvPr/>
        </p:nvPicPr>
        <p:blipFill>
          <a:blip r:embed="rId5"/>
          <a:stretch>
            <a:fillRect/>
          </a:stretch>
        </p:blipFill>
        <p:spPr>
          <a:xfrm>
            <a:off x="7589520" y="1810512"/>
            <a:ext cx="356616" cy="356616"/>
          </a:xfrm>
          <a:prstGeom prst="rect">
            <a:avLst/>
          </a:prstGeom>
        </p:spPr>
      </p:pic>
      <p:sp>
        <p:nvSpPr>
          <p:cNvPr id="31" name="Text 24"/>
          <p:cNvSpPr txBox="1"/>
          <p:nvPr/>
        </p:nvSpPr>
        <p:spPr>
          <a:xfrm>
            <a:off x="7104888"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Analyses</a:t>
            </a:r>
            <a:endParaRPr lang="en-US" sz="1400" dirty="0"/>
          </a:p>
        </p:txBody>
      </p:sp>
      <p:sp>
        <p:nvSpPr>
          <p:cNvPr id="32" name="Text 25"/>
          <p:cNvSpPr txBox="1"/>
          <p:nvPr/>
        </p:nvSpPr>
        <p:spPr>
          <a:xfrm>
            <a:off x="7104888"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6 families</a:t>
            </a:r>
            <a:endParaRPr lang="en-US" sz="1200" dirty="0"/>
          </a:p>
        </p:txBody>
      </p:sp>
      <p:sp>
        <p:nvSpPr>
          <p:cNvPr id="33" name="Shape 26"/>
          <p:cNvSpPr/>
          <p:nvPr/>
        </p:nvSpPr>
        <p:spPr>
          <a:xfrm>
            <a:off x="8494776" y="2450592"/>
            <a:ext cx="173736" cy="914"/>
          </a:xfrm>
          <a:prstGeom prst="line">
            <a:avLst/>
          </a:prstGeom>
          <a:noFill/>
          <a:ln w="31750">
            <a:solidFill>
              <a:srgbClr val="F5C242"/>
            </a:solidFill>
            <a:prstDash val="solid"/>
            <a:tailEnd type="triangle"/>
          </a:ln>
        </p:spPr>
      </p:sp>
      <p:sp>
        <p:nvSpPr>
          <p:cNvPr id="34" name="Shape 27"/>
          <p:cNvSpPr/>
          <p:nvPr/>
        </p:nvSpPr>
        <p:spPr>
          <a:xfrm>
            <a:off x="8686800"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35" name="Shape 28"/>
          <p:cNvSpPr/>
          <p:nvPr/>
        </p:nvSpPr>
        <p:spPr>
          <a:xfrm>
            <a:off x="9052560" y="1645920"/>
            <a:ext cx="685800" cy="685800"/>
          </a:xfrm>
          <a:prstGeom prst="ellipse">
            <a:avLst/>
          </a:prstGeom>
          <a:solidFill>
            <a:srgbClr val="00A86A"/>
          </a:solidFill>
          <a:ln w="12700">
            <a:solidFill>
              <a:srgbClr val="00A86A"/>
            </a:solidFill>
            <a:prstDash val="solid"/>
          </a:ln>
        </p:spPr>
      </p:sp>
      <p:pic>
        <p:nvPicPr>
          <p:cNvPr id="36" name="Image 5" descr="preencoded.png">    </p:cNvPr>
          <p:cNvPicPr>
            <a:picLocks noChangeAspect="1"/>
          </p:cNvPicPr>
          <p:nvPr/>
        </p:nvPicPr>
        <p:blipFill>
          <a:blip r:embed="rId6"/>
          <a:stretch>
            <a:fillRect/>
          </a:stretch>
        </p:blipFill>
        <p:spPr>
          <a:xfrm>
            <a:off x="9217152" y="1810512"/>
            <a:ext cx="356616" cy="356616"/>
          </a:xfrm>
          <a:prstGeom prst="rect">
            <a:avLst/>
          </a:prstGeom>
        </p:spPr>
      </p:pic>
      <p:sp>
        <p:nvSpPr>
          <p:cNvPr id="37" name="Text 29"/>
          <p:cNvSpPr txBox="1"/>
          <p:nvPr/>
        </p:nvSpPr>
        <p:spPr>
          <a:xfrm>
            <a:off x="8732520"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Export</a:t>
            </a:r>
            <a:endParaRPr lang="en-US" sz="1400" dirty="0"/>
          </a:p>
        </p:txBody>
      </p:sp>
      <p:sp>
        <p:nvSpPr>
          <p:cNvPr id="38" name="Text 30"/>
          <p:cNvSpPr txBox="1"/>
          <p:nvPr/>
        </p:nvSpPr>
        <p:spPr>
          <a:xfrm>
            <a:off x="8732520"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CSV, JSON, PNG</a:t>
            </a:r>
            <a:endParaRPr lang="en-US" sz="1200" dirty="0"/>
          </a:p>
        </p:txBody>
      </p:sp>
      <p:sp>
        <p:nvSpPr>
          <p:cNvPr id="39" name="Shape 31"/>
          <p:cNvSpPr/>
          <p:nvPr/>
        </p:nvSpPr>
        <p:spPr>
          <a:xfrm>
            <a:off x="10122408" y="2450592"/>
            <a:ext cx="173736" cy="914"/>
          </a:xfrm>
          <a:prstGeom prst="line">
            <a:avLst/>
          </a:prstGeom>
          <a:noFill/>
          <a:ln w="31750">
            <a:solidFill>
              <a:srgbClr val="F5C242"/>
            </a:solidFill>
            <a:prstDash val="solid"/>
            <a:tailEnd type="triangle"/>
          </a:ln>
        </p:spPr>
      </p:sp>
      <p:sp>
        <p:nvSpPr>
          <p:cNvPr id="40" name="Shape 32"/>
          <p:cNvSpPr/>
          <p:nvPr/>
        </p:nvSpPr>
        <p:spPr>
          <a:xfrm>
            <a:off x="10314432" y="1508760"/>
            <a:ext cx="1417320" cy="1874520"/>
          </a:xfrm>
          <a:prstGeom prst="roundRect">
            <a:avLst>
              <a:gd name="adj" fmla="val 774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41" name="Shape 33"/>
          <p:cNvSpPr/>
          <p:nvPr/>
        </p:nvSpPr>
        <p:spPr>
          <a:xfrm>
            <a:off x="10680192" y="1645920"/>
            <a:ext cx="685800" cy="685800"/>
          </a:xfrm>
          <a:prstGeom prst="ellipse">
            <a:avLst/>
          </a:prstGeom>
          <a:solidFill>
            <a:srgbClr val="231F20"/>
          </a:solidFill>
          <a:ln w="12700">
            <a:solidFill>
              <a:srgbClr val="231F20"/>
            </a:solidFill>
            <a:prstDash val="solid"/>
          </a:ln>
        </p:spPr>
      </p:sp>
      <p:pic>
        <p:nvPicPr>
          <p:cNvPr id="42" name="Image 6" descr="preencoded.png">    </p:cNvPr>
          <p:cNvPicPr>
            <a:picLocks noChangeAspect="1"/>
          </p:cNvPicPr>
          <p:nvPr/>
        </p:nvPicPr>
        <p:blipFill>
          <a:blip r:embed="rId7"/>
          <a:stretch>
            <a:fillRect/>
          </a:stretch>
        </p:blipFill>
        <p:spPr>
          <a:xfrm>
            <a:off x="10844784" y="1810512"/>
            <a:ext cx="356616" cy="356616"/>
          </a:xfrm>
          <a:prstGeom prst="rect">
            <a:avLst/>
          </a:prstGeom>
        </p:spPr>
      </p:pic>
      <p:sp>
        <p:nvSpPr>
          <p:cNvPr id="43" name="Text 34"/>
          <p:cNvSpPr txBox="1"/>
          <p:nvPr/>
        </p:nvSpPr>
        <p:spPr>
          <a:xfrm>
            <a:off x="10360152" y="2423160"/>
            <a:ext cx="1325880" cy="365760"/>
          </a:xfrm>
          <a:prstGeom prst="rect">
            <a:avLst/>
          </a:prstGeom>
          <a:noFill/>
          <a:ln/>
        </p:spPr>
        <p:txBody>
          <a:bodyPr wrap="square" lIns="635" tIns="635" rIns="635" bIns="635" rtlCol="0" anchor="t"/>
          <a:lstStyle/>
          <a:p>
            <a:pPr algn="ctr" indent="0" marL="0">
              <a:spcAft>
                <a:spcPts val="200"/>
              </a:spcAft>
              <a:buNone/>
            </a:pPr>
            <a:r>
              <a:rPr lang="en-US" sz="1400" b="1" dirty="0">
                <a:solidFill>
                  <a:srgbClr val="00553A"/>
                </a:solidFill>
              </a:rPr>
              <a:t>GitHub Pages</a:t>
            </a:r>
            <a:endParaRPr lang="en-US" sz="1400" dirty="0"/>
          </a:p>
        </p:txBody>
      </p:sp>
      <p:sp>
        <p:nvSpPr>
          <p:cNvPr id="44" name="Text 35"/>
          <p:cNvSpPr txBox="1"/>
          <p:nvPr/>
        </p:nvSpPr>
        <p:spPr>
          <a:xfrm>
            <a:off x="10360152" y="2770632"/>
            <a:ext cx="1325880" cy="548640"/>
          </a:xfrm>
          <a:prstGeom prst="rect">
            <a:avLst/>
          </a:prstGeom>
          <a:noFill/>
          <a:ln/>
        </p:spPr>
        <p:txBody>
          <a:bodyPr wrap="square" lIns="635" tIns="635" rIns="635" bIns="635" rtlCol="0" anchor="t"/>
          <a:lstStyle/>
          <a:p>
            <a:pPr algn="ctr" indent="0" marL="0">
              <a:spcAft>
                <a:spcPts val="200"/>
              </a:spcAft>
              <a:buNone/>
            </a:pPr>
            <a:r>
              <a:rPr lang="en-US" sz="1200" dirty="0">
                <a:solidFill>
                  <a:srgbClr val="231F20"/>
                </a:solidFill>
              </a:rPr>
              <a:t>public site</a:t>
            </a:r>
            <a:endParaRPr lang="en-US" sz="1200" dirty="0"/>
          </a:p>
        </p:txBody>
      </p:sp>
      <p:sp>
        <p:nvSpPr>
          <p:cNvPr id="45" name="Shape 36"/>
          <p:cNvSpPr/>
          <p:nvPr/>
        </p:nvSpPr>
        <p:spPr>
          <a:xfrm>
            <a:off x="548640" y="3520440"/>
            <a:ext cx="1417320" cy="329184"/>
          </a:xfrm>
          <a:prstGeom prst="roundRect">
            <a:avLst>
              <a:gd name="adj" fmla="val 50000"/>
            </a:avLst>
          </a:prstGeom>
          <a:solidFill>
            <a:srgbClr val="E8F5EF"/>
          </a:solidFill>
          <a:ln w="15875">
            <a:solidFill>
              <a:srgbClr val="E8F5EF"/>
            </a:solidFill>
            <a:prstDash val="solid"/>
          </a:ln>
        </p:spPr>
      </p:sp>
      <p:sp>
        <p:nvSpPr>
          <p:cNvPr id="46" name="Text 37"/>
          <p:cNvSpPr txBox="1"/>
          <p:nvPr/>
        </p:nvSpPr>
        <p:spPr>
          <a:xfrm>
            <a:off x="548640"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§2</a:t>
            </a:r>
            <a:endParaRPr lang="en-US" sz="1100" dirty="0"/>
          </a:p>
        </p:txBody>
      </p:sp>
      <p:sp>
        <p:nvSpPr>
          <p:cNvPr id="47" name="Shape 38"/>
          <p:cNvSpPr/>
          <p:nvPr/>
        </p:nvSpPr>
        <p:spPr>
          <a:xfrm>
            <a:off x="2176272" y="3520440"/>
            <a:ext cx="4672584" cy="329184"/>
          </a:xfrm>
          <a:prstGeom prst="roundRect">
            <a:avLst>
              <a:gd name="adj" fmla="val 50000"/>
            </a:avLst>
          </a:prstGeom>
          <a:solidFill>
            <a:srgbClr val="E8F5EF"/>
          </a:solidFill>
          <a:ln w="15875">
            <a:solidFill>
              <a:srgbClr val="E8F5EF"/>
            </a:solidFill>
            <a:prstDash val="solid"/>
          </a:ln>
        </p:spPr>
      </p:sp>
      <p:sp>
        <p:nvSpPr>
          <p:cNvPr id="48" name="Text 39"/>
          <p:cNvSpPr txBox="1"/>
          <p:nvPr/>
        </p:nvSpPr>
        <p:spPr>
          <a:xfrm>
            <a:off x="2176272" y="3520440"/>
            <a:ext cx="4672584"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§3</a:t>
            </a:r>
            <a:endParaRPr lang="en-US" sz="1100" dirty="0"/>
          </a:p>
        </p:txBody>
      </p:sp>
      <p:sp>
        <p:nvSpPr>
          <p:cNvPr id="49" name="Shape 40"/>
          <p:cNvSpPr/>
          <p:nvPr/>
        </p:nvSpPr>
        <p:spPr>
          <a:xfrm>
            <a:off x="7059168" y="3520440"/>
            <a:ext cx="1417320" cy="329184"/>
          </a:xfrm>
          <a:prstGeom prst="roundRect">
            <a:avLst>
              <a:gd name="adj" fmla="val 50000"/>
            </a:avLst>
          </a:prstGeom>
          <a:solidFill>
            <a:srgbClr val="E8F5EF"/>
          </a:solidFill>
          <a:ln w="15875">
            <a:solidFill>
              <a:srgbClr val="E8F5EF"/>
            </a:solidFill>
            <a:prstDash val="solid"/>
          </a:ln>
        </p:spPr>
      </p:sp>
      <p:sp>
        <p:nvSpPr>
          <p:cNvPr id="50" name="Text 41"/>
          <p:cNvSpPr txBox="1"/>
          <p:nvPr/>
        </p:nvSpPr>
        <p:spPr>
          <a:xfrm>
            <a:off x="7059168"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§4–10</a:t>
            </a:r>
            <a:endParaRPr lang="en-US" sz="1100" dirty="0"/>
          </a:p>
        </p:txBody>
      </p:sp>
      <p:sp>
        <p:nvSpPr>
          <p:cNvPr id="51" name="Shape 42"/>
          <p:cNvSpPr/>
          <p:nvPr/>
        </p:nvSpPr>
        <p:spPr>
          <a:xfrm>
            <a:off x="8686800" y="3520440"/>
            <a:ext cx="1417320" cy="329184"/>
          </a:xfrm>
          <a:prstGeom prst="roundRect">
            <a:avLst>
              <a:gd name="adj" fmla="val 50000"/>
            </a:avLst>
          </a:prstGeom>
          <a:solidFill>
            <a:srgbClr val="E8F5EF"/>
          </a:solidFill>
          <a:ln w="15875">
            <a:solidFill>
              <a:srgbClr val="E8F5EF"/>
            </a:solidFill>
            <a:prstDash val="solid"/>
          </a:ln>
        </p:spPr>
      </p:sp>
      <p:sp>
        <p:nvSpPr>
          <p:cNvPr id="52" name="Text 43"/>
          <p:cNvSpPr txBox="1"/>
          <p:nvPr/>
        </p:nvSpPr>
        <p:spPr>
          <a:xfrm>
            <a:off x="8686800"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§11</a:t>
            </a:r>
            <a:endParaRPr lang="en-US" sz="1100" dirty="0"/>
          </a:p>
        </p:txBody>
      </p:sp>
      <p:sp>
        <p:nvSpPr>
          <p:cNvPr id="53" name="Shape 44"/>
          <p:cNvSpPr/>
          <p:nvPr/>
        </p:nvSpPr>
        <p:spPr>
          <a:xfrm>
            <a:off x="10314432" y="3520440"/>
            <a:ext cx="1417320" cy="329184"/>
          </a:xfrm>
          <a:prstGeom prst="roundRect">
            <a:avLst>
              <a:gd name="adj" fmla="val 50000"/>
            </a:avLst>
          </a:prstGeom>
          <a:solidFill>
            <a:srgbClr val="E8F5EF"/>
          </a:solidFill>
          <a:ln w="15875">
            <a:solidFill>
              <a:srgbClr val="E8F5EF"/>
            </a:solidFill>
            <a:prstDash val="solid"/>
          </a:ln>
        </p:spPr>
      </p:sp>
      <p:sp>
        <p:nvSpPr>
          <p:cNvPr id="54" name="Text 45"/>
          <p:cNvSpPr txBox="1"/>
          <p:nvPr/>
        </p:nvSpPr>
        <p:spPr>
          <a:xfrm>
            <a:off x="10314432" y="3520440"/>
            <a:ext cx="1417320" cy="329184"/>
          </a:xfrm>
          <a:prstGeom prst="rect">
            <a:avLst/>
          </a:prstGeom>
          <a:noFill/>
          <a:ln/>
        </p:spPr>
        <p:txBody>
          <a:bodyPr wrap="square" lIns="0" tIns="0" rIns="0" bIns="0" rtlCol="0" anchor="ctr"/>
          <a:lstStyle/>
          <a:p>
            <a:pPr algn="ctr" indent="0" marL="0">
              <a:spcAft>
                <a:spcPts val="200"/>
              </a:spcAft>
              <a:buNone/>
            </a:pPr>
            <a:r>
              <a:rPr lang="en-US" sz="1100" b="1" spc="100" kern="0" dirty="0">
                <a:solidFill>
                  <a:srgbClr val="00553A"/>
                </a:solidFill>
              </a:rPr>
              <a:t>notebook §12</a:t>
            </a:r>
            <a:endParaRPr lang="en-US" sz="1100" dirty="0"/>
          </a:p>
        </p:txBody>
      </p:sp>
      <p:sp>
        <p:nvSpPr>
          <p:cNvPr id="55" name="Shape 46"/>
          <p:cNvSpPr/>
          <p:nvPr/>
        </p:nvSpPr>
        <p:spPr>
          <a:xfrm>
            <a:off x="548640"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6" name="Shape 47"/>
          <p:cNvSpPr/>
          <p:nvPr/>
        </p:nvSpPr>
        <p:spPr>
          <a:xfrm>
            <a:off x="731520" y="4297680"/>
            <a:ext cx="502920" cy="502920"/>
          </a:xfrm>
          <a:prstGeom prst="ellipse">
            <a:avLst/>
          </a:prstGeom>
          <a:solidFill>
            <a:srgbClr val="00704A"/>
          </a:solidFill>
          <a:ln w="12700">
            <a:solidFill>
              <a:srgbClr val="00704A"/>
            </a:solidFill>
            <a:prstDash val="solid"/>
          </a:ln>
        </p:spPr>
      </p:sp>
      <p:pic>
        <p:nvPicPr>
          <p:cNvPr id="57" name="Image 7" descr="preencoded.png">    </p:cNvPr>
          <p:cNvPicPr>
            <a:picLocks noChangeAspect="1"/>
          </p:cNvPicPr>
          <p:nvPr/>
        </p:nvPicPr>
        <p:blipFill>
          <a:blip r:embed="rId8"/>
          <a:stretch>
            <a:fillRect/>
          </a:stretch>
        </p:blipFill>
        <p:spPr>
          <a:xfrm>
            <a:off x="852221" y="4418381"/>
            <a:ext cx="261518" cy="261518"/>
          </a:xfrm>
          <a:prstGeom prst="rect">
            <a:avLst/>
          </a:prstGeom>
        </p:spPr>
      </p:pic>
      <p:sp>
        <p:nvSpPr>
          <p:cNvPr id="58" name="Text 48"/>
          <p:cNvSpPr txBox="1"/>
          <p:nvPr/>
        </p:nvSpPr>
        <p:spPr>
          <a:xfrm>
            <a:off x="1371600"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Reproducible</a:t>
            </a:r>
            <a:endParaRPr lang="en-US" sz="1500" dirty="0"/>
          </a:p>
        </p:txBody>
      </p:sp>
      <p:sp>
        <p:nvSpPr>
          <p:cNvPr id="59" name="Text 49"/>
          <p:cNvSpPr txBox="1"/>
          <p:nvPr/>
        </p:nvSpPr>
        <p:spPr>
          <a:xfrm>
            <a:off x="731520"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no country-specific value is hard-coded: changing ISO3 is enough.</a:t>
            </a:r>
            <a:endParaRPr lang="en-US" sz="1300" dirty="0"/>
          </a:p>
        </p:txBody>
      </p:sp>
      <p:sp>
        <p:nvSpPr>
          <p:cNvPr id="60" name="Shape 50"/>
          <p:cNvSpPr/>
          <p:nvPr/>
        </p:nvSpPr>
        <p:spPr>
          <a:xfrm>
            <a:off x="3364992"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1" name="Shape 51"/>
          <p:cNvSpPr/>
          <p:nvPr/>
        </p:nvSpPr>
        <p:spPr>
          <a:xfrm>
            <a:off x="3547872" y="4297680"/>
            <a:ext cx="502920" cy="502920"/>
          </a:xfrm>
          <a:prstGeom prst="ellipse">
            <a:avLst/>
          </a:prstGeom>
          <a:solidFill>
            <a:srgbClr val="1F4E8C"/>
          </a:solidFill>
          <a:ln w="12700">
            <a:solidFill>
              <a:srgbClr val="1F4E8C"/>
            </a:solidFill>
            <a:prstDash val="solid"/>
          </a:ln>
        </p:spPr>
      </p:sp>
      <p:pic>
        <p:nvPicPr>
          <p:cNvPr id="62" name="Image 8" descr="preencoded.png">    </p:cNvPr>
          <p:cNvPicPr>
            <a:picLocks noChangeAspect="1"/>
          </p:cNvPicPr>
          <p:nvPr/>
        </p:nvPicPr>
        <p:blipFill>
          <a:blip r:embed="rId9"/>
          <a:stretch>
            <a:fillRect/>
          </a:stretch>
        </p:blipFill>
        <p:spPr>
          <a:xfrm>
            <a:off x="3668573" y="4418381"/>
            <a:ext cx="261518" cy="261518"/>
          </a:xfrm>
          <a:prstGeom prst="rect">
            <a:avLst/>
          </a:prstGeom>
        </p:spPr>
      </p:pic>
      <p:sp>
        <p:nvSpPr>
          <p:cNvPr id="63" name="Text 52"/>
          <p:cNvSpPr txBox="1"/>
          <p:nvPr/>
        </p:nvSpPr>
        <p:spPr>
          <a:xfrm>
            <a:off x="4187952"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Lightweight</a:t>
            </a:r>
            <a:endParaRPr lang="en-US" sz="1500" dirty="0"/>
          </a:p>
        </p:txBody>
      </p:sp>
      <p:sp>
        <p:nvSpPr>
          <p:cNvPr id="64" name="Text 53"/>
          <p:cNvSpPr txBox="1"/>
          <p:nvPr/>
        </p:nvSpPr>
        <p:spPr>
          <a:xfrm>
            <a:off x="3547872"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imagery stays in Earth Engine; only aggregated tables come back.</a:t>
            </a:r>
            <a:endParaRPr lang="en-US" sz="1300" dirty="0"/>
          </a:p>
        </p:txBody>
      </p:sp>
      <p:sp>
        <p:nvSpPr>
          <p:cNvPr id="65" name="Shape 54"/>
          <p:cNvSpPr/>
          <p:nvPr/>
        </p:nvSpPr>
        <p:spPr>
          <a:xfrm>
            <a:off x="6181344"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6" name="Shape 55"/>
          <p:cNvSpPr/>
          <p:nvPr/>
        </p:nvSpPr>
        <p:spPr>
          <a:xfrm>
            <a:off x="6364224" y="4297680"/>
            <a:ext cx="502920" cy="502920"/>
          </a:xfrm>
          <a:prstGeom prst="ellipse">
            <a:avLst/>
          </a:prstGeom>
          <a:solidFill>
            <a:srgbClr val="00704A"/>
          </a:solidFill>
          <a:ln w="12700">
            <a:solidFill>
              <a:srgbClr val="00704A"/>
            </a:solidFill>
            <a:prstDash val="solid"/>
          </a:ln>
        </p:spPr>
      </p:sp>
      <p:pic>
        <p:nvPicPr>
          <p:cNvPr id="67" name="Image 9" descr="preencoded.png">    </p:cNvPr>
          <p:cNvPicPr>
            <a:picLocks noChangeAspect="1"/>
          </p:cNvPicPr>
          <p:nvPr/>
        </p:nvPicPr>
        <p:blipFill>
          <a:blip r:embed="rId10"/>
          <a:stretch>
            <a:fillRect/>
          </a:stretch>
        </p:blipFill>
        <p:spPr>
          <a:xfrm>
            <a:off x="6484925" y="4418381"/>
            <a:ext cx="261518" cy="261518"/>
          </a:xfrm>
          <a:prstGeom prst="rect">
            <a:avLst/>
          </a:prstGeom>
        </p:spPr>
      </p:pic>
      <p:sp>
        <p:nvSpPr>
          <p:cNvPr id="68" name="Text 56"/>
          <p:cNvSpPr txBox="1"/>
          <p:nvPr/>
        </p:nvSpPr>
        <p:spPr>
          <a:xfrm>
            <a:off x="7004304"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Cached</a:t>
            </a:r>
            <a:endParaRPr lang="en-US" sz="1500" dirty="0"/>
          </a:p>
        </p:txBody>
      </p:sp>
      <p:sp>
        <p:nvSpPr>
          <p:cNvPr id="69" name="Text 57"/>
          <p:cNvSpPr txBox="1"/>
          <p:nvPr/>
        </p:nvSpPr>
        <p:spPr>
          <a:xfrm>
            <a:off x="6364224"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a second run does not query GEE again (FORCE_DOWNLOAD to force it).</a:t>
            </a:r>
            <a:endParaRPr lang="en-US" sz="1300" dirty="0"/>
          </a:p>
        </p:txBody>
      </p:sp>
      <p:sp>
        <p:nvSpPr>
          <p:cNvPr id="70" name="Shape 58"/>
          <p:cNvSpPr/>
          <p:nvPr/>
        </p:nvSpPr>
        <p:spPr>
          <a:xfrm>
            <a:off x="8997696" y="4114800"/>
            <a:ext cx="2670048" cy="1965960"/>
          </a:xfrm>
          <a:prstGeom prst="roundRect">
            <a:avLst>
              <a:gd name="adj" fmla="val 5581"/>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1" name="Shape 59"/>
          <p:cNvSpPr/>
          <p:nvPr/>
        </p:nvSpPr>
        <p:spPr>
          <a:xfrm>
            <a:off x="9180576" y="4297680"/>
            <a:ext cx="502920" cy="502920"/>
          </a:xfrm>
          <a:prstGeom prst="ellipse">
            <a:avLst/>
          </a:prstGeom>
          <a:solidFill>
            <a:srgbClr val="1F4E8C"/>
          </a:solidFill>
          <a:ln w="12700">
            <a:solidFill>
              <a:srgbClr val="1F4E8C"/>
            </a:solidFill>
            <a:prstDash val="solid"/>
          </a:ln>
        </p:spPr>
      </p:sp>
      <p:pic>
        <p:nvPicPr>
          <p:cNvPr id="72" name="Image 10" descr="preencoded.png">    </p:cNvPr>
          <p:cNvPicPr>
            <a:picLocks noChangeAspect="1"/>
          </p:cNvPicPr>
          <p:nvPr/>
        </p:nvPicPr>
        <p:blipFill>
          <a:blip r:embed="rId11"/>
          <a:stretch>
            <a:fillRect/>
          </a:stretch>
        </p:blipFill>
        <p:spPr>
          <a:xfrm>
            <a:off x="9301277" y="4418381"/>
            <a:ext cx="261518" cy="261518"/>
          </a:xfrm>
          <a:prstGeom prst="rect">
            <a:avLst/>
          </a:prstGeom>
        </p:spPr>
      </p:pic>
      <p:sp>
        <p:nvSpPr>
          <p:cNvPr id="73" name="Text 60"/>
          <p:cNvSpPr txBox="1"/>
          <p:nvPr/>
        </p:nvSpPr>
        <p:spPr>
          <a:xfrm>
            <a:off x="9820656" y="4279392"/>
            <a:ext cx="1709928"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Traceable</a:t>
            </a:r>
            <a:endParaRPr lang="en-US" sz="1500" dirty="0"/>
          </a:p>
        </p:txBody>
      </p:sp>
      <p:sp>
        <p:nvSpPr>
          <p:cNvPr id="74" name="Text 61"/>
          <p:cNvSpPr txBox="1"/>
          <p:nvPr/>
        </p:nvSpPr>
        <p:spPr>
          <a:xfrm>
            <a:off x="9180576" y="4919472"/>
            <a:ext cx="2304288" cy="10515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a manifest keeps parameters, versions and data availability.</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C · ARCHITECTURE AND PIPELINE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Software architecture: one notebook, a src/ package, a static site</a:t>
            </a:r>
            <a:endParaRPr lang="en-US" sz="2800" dirty="0"/>
          </a:p>
        </p:txBody>
      </p:sp>
      <p:sp>
        <p:nvSpPr>
          <p:cNvPr id="4" name="Shape 2"/>
          <p:cNvSpPr/>
          <p:nvPr/>
        </p:nvSpPr>
        <p:spPr>
          <a:xfrm>
            <a:off x="548640" y="1417320"/>
            <a:ext cx="2670048" cy="3429000"/>
          </a:xfrm>
          <a:prstGeom prst="roundRect">
            <a:avLst>
              <a:gd name="adj" fmla="val 4110"/>
            </a:avLst>
          </a:prstGeom>
          <a:solidFill>
            <a:srgbClr val="EAF2FB"/>
          </a:solidFill>
          <a:ln w="9525">
            <a:solidFill>
              <a:srgbClr val="EAF2FB"/>
            </a:solidFill>
            <a:prstDash val="solid"/>
          </a:ln>
        </p:spPr>
      </p:sp>
      <p:sp>
        <p:nvSpPr>
          <p:cNvPr id="5" name="Text 3"/>
          <p:cNvSpPr txBox="1"/>
          <p:nvPr/>
        </p:nvSpPr>
        <p:spPr>
          <a:xfrm>
            <a:off x="685800"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Acquisition</a:t>
            </a:r>
            <a:endParaRPr lang="en-US" sz="1500" dirty="0"/>
          </a:p>
        </p:txBody>
      </p:sp>
      <p:sp>
        <p:nvSpPr>
          <p:cNvPr id="6" name="Shape 4"/>
          <p:cNvSpPr/>
          <p:nvPr/>
        </p:nvSpPr>
        <p:spPr>
          <a:xfrm>
            <a:off x="685800" y="1892808"/>
            <a:ext cx="2395728" cy="502920"/>
          </a:xfrm>
          <a:prstGeom prst="roundRect">
            <a:avLst>
              <a:gd name="adj" fmla="val 21818"/>
            </a:avLst>
          </a:prstGeom>
          <a:solidFill>
            <a:srgbClr val="FFFFFF"/>
          </a:solidFill>
          <a:ln w="9525">
            <a:solidFill>
              <a:srgbClr val="D5DED9"/>
            </a:solidFill>
            <a:prstDash val="solid"/>
          </a:ln>
        </p:spPr>
      </p:sp>
      <p:sp>
        <p:nvSpPr>
          <p:cNvPr id="7" name="Text 5"/>
          <p:cNvSpPr txBox="1"/>
          <p:nvPr/>
        </p:nvSpPr>
        <p:spPr>
          <a:xfrm>
            <a:off x="777240"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gee.py</a:t>
            </a:r>
            <a:endParaRPr lang="en-US" sz="1200" dirty="0"/>
          </a:p>
        </p:txBody>
      </p:sp>
      <p:sp>
        <p:nvSpPr>
          <p:cNvPr id="8" name="Text 6"/>
          <p:cNvSpPr txBox="1"/>
          <p:nvPr/>
        </p:nvSpPr>
        <p:spPr>
          <a:xfrm>
            <a:off x="777240"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connection, availability</a:t>
            </a:r>
            <a:endParaRPr lang="en-US" sz="1150" dirty="0"/>
          </a:p>
        </p:txBody>
      </p:sp>
      <p:sp>
        <p:nvSpPr>
          <p:cNvPr id="9" name="Shape 7"/>
          <p:cNvSpPr/>
          <p:nvPr/>
        </p:nvSpPr>
        <p:spPr>
          <a:xfrm>
            <a:off x="685800" y="2468880"/>
            <a:ext cx="2395728" cy="502920"/>
          </a:xfrm>
          <a:prstGeom prst="roundRect">
            <a:avLst>
              <a:gd name="adj" fmla="val 21818"/>
            </a:avLst>
          </a:prstGeom>
          <a:solidFill>
            <a:srgbClr val="FFFFFF"/>
          </a:solidFill>
          <a:ln w="9525">
            <a:solidFill>
              <a:srgbClr val="D5DED9"/>
            </a:solidFill>
            <a:prstDash val="solid"/>
          </a:ln>
        </p:spPr>
      </p:sp>
      <p:sp>
        <p:nvSpPr>
          <p:cNvPr id="10" name="Text 8"/>
          <p:cNvSpPr txBox="1"/>
          <p:nvPr/>
        </p:nvSpPr>
        <p:spPr>
          <a:xfrm>
            <a:off x="777240"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boundaries.py</a:t>
            </a:r>
            <a:endParaRPr lang="en-US" sz="1200" dirty="0"/>
          </a:p>
        </p:txBody>
      </p:sp>
      <p:sp>
        <p:nvSpPr>
          <p:cNvPr id="11" name="Text 9"/>
          <p:cNvSpPr txBox="1"/>
          <p:nvPr/>
        </p:nvSpPr>
        <p:spPr>
          <a:xfrm>
            <a:off x="777240"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ADM0/1/2 boundaries</a:t>
            </a:r>
            <a:endParaRPr lang="en-US" sz="1150" dirty="0"/>
          </a:p>
        </p:txBody>
      </p:sp>
      <p:sp>
        <p:nvSpPr>
          <p:cNvPr id="12" name="Shape 10"/>
          <p:cNvSpPr/>
          <p:nvPr/>
        </p:nvSpPr>
        <p:spPr>
          <a:xfrm>
            <a:off x="685800" y="3044952"/>
            <a:ext cx="2395728" cy="502920"/>
          </a:xfrm>
          <a:prstGeom prst="roundRect">
            <a:avLst>
              <a:gd name="adj" fmla="val 21818"/>
            </a:avLst>
          </a:prstGeom>
          <a:solidFill>
            <a:srgbClr val="FFFFFF"/>
          </a:solidFill>
          <a:ln w="9525">
            <a:solidFill>
              <a:srgbClr val="D5DED9"/>
            </a:solidFill>
            <a:prstDash val="solid"/>
          </a:ln>
        </p:spPr>
      </p:sp>
      <p:sp>
        <p:nvSpPr>
          <p:cNvPr id="13" name="Text 11"/>
          <p:cNvSpPr txBox="1"/>
          <p:nvPr/>
        </p:nvSpPr>
        <p:spPr>
          <a:xfrm>
            <a:off x="777240"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acquisition.py</a:t>
            </a:r>
            <a:endParaRPr lang="en-US" sz="1200" dirty="0"/>
          </a:p>
        </p:txBody>
      </p:sp>
      <p:sp>
        <p:nvSpPr>
          <p:cNvPr id="14" name="Text 12"/>
          <p:cNvSpPr txBox="1"/>
          <p:nvPr/>
        </p:nvSpPr>
        <p:spPr>
          <a:xfrm>
            <a:off x="777240"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zonal statistics</a:t>
            </a:r>
            <a:endParaRPr lang="en-US" sz="1150" dirty="0"/>
          </a:p>
        </p:txBody>
      </p:sp>
      <p:sp>
        <p:nvSpPr>
          <p:cNvPr id="15" name="Shape 13"/>
          <p:cNvSpPr/>
          <p:nvPr/>
        </p:nvSpPr>
        <p:spPr>
          <a:xfrm>
            <a:off x="685800" y="3621024"/>
            <a:ext cx="2395728" cy="502920"/>
          </a:xfrm>
          <a:prstGeom prst="roundRect">
            <a:avLst>
              <a:gd name="adj" fmla="val 21818"/>
            </a:avLst>
          </a:prstGeom>
          <a:solidFill>
            <a:srgbClr val="FFFFFF"/>
          </a:solidFill>
          <a:ln w="9525">
            <a:solidFill>
              <a:srgbClr val="D5DED9"/>
            </a:solidFill>
            <a:prstDash val="solid"/>
          </a:ln>
        </p:spPr>
      </p:sp>
      <p:sp>
        <p:nvSpPr>
          <p:cNvPr id="16" name="Text 14"/>
          <p:cNvSpPr txBox="1"/>
          <p:nvPr/>
        </p:nvSpPr>
        <p:spPr>
          <a:xfrm>
            <a:off x="777240" y="3639312"/>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1F4E8C"/>
                </a:solidFill>
                <a:latin typeface="Courier New" pitchFamily="34" charset="0"/>
                <a:ea typeface="Courier New" pitchFamily="34" charset="-122"/>
                <a:cs typeface="Courier New" pitchFamily="34" charset="-120"/>
              </a:rPr>
              <a:t>worldbank.py</a:t>
            </a:r>
            <a:endParaRPr lang="en-US" sz="1200" dirty="0"/>
          </a:p>
        </p:txBody>
      </p:sp>
      <p:sp>
        <p:nvSpPr>
          <p:cNvPr id="17" name="Text 15"/>
          <p:cNvSpPr txBox="1"/>
          <p:nvPr/>
        </p:nvSpPr>
        <p:spPr>
          <a:xfrm>
            <a:off x="777240" y="3867912"/>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WDI API</a:t>
            </a:r>
            <a:endParaRPr lang="en-US" sz="1150" dirty="0"/>
          </a:p>
        </p:txBody>
      </p:sp>
      <p:sp>
        <p:nvSpPr>
          <p:cNvPr id="18" name="Shape 16"/>
          <p:cNvSpPr/>
          <p:nvPr/>
        </p:nvSpPr>
        <p:spPr>
          <a:xfrm>
            <a:off x="3364992" y="1417320"/>
            <a:ext cx="2670048" cy="3429000"/>
          </a:xfrm>
          <a:prstGeom prst="roundRect">
            <a:avLst>
              <a:gd name="adj" fmla="val 4110"/>
            </a:avLst>
          </a:prstGeom>
          <a:solidFill>
            <a:srgbClr val="E8F5EF"/>
          </a:solidFill>
          <a:ln w="9525">
            <a:solidFill>
              <a:srgbClr val="E8F5EF"/>
            </a:solidFill>
            <a:prstDash val="solid"/>
          </a:ln>
        </p:spPr>
      </p:sp>
      <p:sp>
        <p:nvSpPr>
          <p:cNvPr id="19" name="Text 17"/>
          <p:cNvSpPr txBox="1"/>
          <p:nvPr/>
        </p:nvSpPr>
        <p:spPr>
          <a:xfrm>
            <a:off x="3502152"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704A"/>
                </a:solidFill>
              </a:rPr>
              <a:t>Preprocessing</a:t>
            </a:r>
            <a:endParaRPr lang="en-US" sz="1500" dirty="0"/>
          </a:p>
        </p:txBody>
      </p:sp>
      <p:sp>
        <p:nvSpPr>
          <p:cNvPr id="20" name="Shape 18"/>
          <p:cNvSpPr/>
          <p:nvPr/>
        </p:nvSpPr>
        <p:spPr>
          <a:xfrm>
            <a:off x="3502152" y="1892808"/>
            <a:ext cx="2395728" cy="502920"/>
          </a:xfrm>
          <a:prstGeom prst="roundRect">
            <a:avLst>
              <a:gd name="adj" fmla="val 21818"/>
            </a:avLst>
          </a:prstGeom>
          <a:solidFill>
            <a:srgbClr val="FFFFFF"/>
          </a:solidFill>
          <a:ln w="9525">
            <a:solidFill>
              <a:srgbClr val="D5DED9"/>
            </a:solidFill>
            <a:prstDash val="solid"/>
          </a:ln>
        </p:spPr>
      </p:sp>
      <p:sp>
        <p:nvSpPr>
          <p:cNvPr id="21" name="Text 19"/>
          <p:cNvSpPr txBox="1"/>
          <p:nvPr/>
        </p:nvSpPr>
        <p:spPr>
          <a:xfrm>
            <a:off x="3593592"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preprocessing.py</a:t>
            </a:r>
            <a:endParaRPr lang="en-US" sz="1200" dirty="0"/>
          </a:p>
        </p:txBody>
      </p:sp>
      <p:sp>
        <p:nvSpPr>
          <p:cNvPr id="22" name="Text 20"/>
          <p:cNvSpPr txBox="1"/>
          <p:nvPr/>
        </p:nvSpPr>
        <p:spPr>
          <a:xfrm>
            <a:off x="3593592"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clouds, flares, outliers</a:t>
            </a:r>
            <a:endParaRPr lang="en-US" sz="1150" dirty="0"/>
          </a:p>
        </p:txBody>
      </p:sp>
      <p:sp>
        <p:nvSpPr>
          <p:cNvPr id="23" name="Shape 21"/>
          <p:cNvSpPr/>
          <p:nvPr/>
        </p:nvSpPr>
        <p:spPr>
          <a:xfrm>
            <a:off x="3502152" y="2468880"/>
            <a:ext cx="2395728" cy="502920"/>
          </a:xfrm>
          <a:prstGeom prst="roundRect">
            <a:avLst>
              <a:gd name="adj" fmla="val 21818"/>
            </a:avLst>
          </a:prstGeom>
          <a:solidFill>
            <a:srgbClr val="FFFFFF"/>
          </a:solidFill>
          <a:ln w="9525">
            <a:solidFill>
              <a:srgbClr val="D5DED9"/>
            </a:solidFill>
            <a:prstDash val="solid"/>
          </a:ln>
        </p:spPr>
      </p:sp>
      <p:sp>
        <p:nvSpPr>
          <p:cNvPr id="24" name="Text 22"/>
          <p:cNvSpPr txBox="1"/>
          <p:nvPr/>
        </p:nvSpPr>
        <p:spPr>
          <a:xfrm>
            <a:off x="3593592"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cache.py</a:t>
            </a:r>
            <a:endParaRPr lang="en-US" sz="1200" dirty="0"/>
          </a:p>
        </p:txBody>
      </p:sp>
      <p:sp>
        <p:nvSpPr>
          <p:cNvPr id="25" name="Text 23"/>
          <p:cNvSpPr txBox="1"/>
          <p:nvPr/>
        </p:nvSpPr>
        <p:spPr>
          <a:xfrm>
            <a:off x="3593592"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caching</a:t>
            </a:r>
            <a:endParaRPr lang="en-US" sz="1150" dirty="0"/>
          </a:p>
        </p:txBody>
      </p:sp>
      <p:sp>
        <p:nvSpPr>
          <p:cNvPr id="26" name="Shape 24"/>
          <p:cNvSpPr/>
          <p:nvPr/>
        </p:nvSpPr>
        <p:spPr>
          <a:xfrm>
            <a:off x="3502152" y="3044952"/>
            <a:ext cx="2395728" cy="502920"/>
          </a:xfrm>
          <a:prstGeom prst="roundRect">
            <a:avLst>
              <a:gd name="adj" fmla="val 21818"/>
            </a:avLst>
          </a:prstGeom>
          <a:solidFill>
            <a:srgbClr val="FFFFFF"/>
          </a:solidFill>
          <a:ln w="9525">
            <a:solidFill>
              <a:srgbClr val="D5DED9"/>
            </a:solidFill>
            <a:prstDash val="solid"/>
          </a:ln>
        </p:spPr>
      </p:sp>
      <p:sp>
        <p:nvSpPr>
          <p:cNvPr id="27" name="Text 25"/>
          <p:cNvSpPr txBox="1"/>
          <p:nvPr/>
        </p:nvSpPr>
        <p:spPr>
          <a:xfrm>
            <a:off x="3593592"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704A"/>
                </a:solidFill>
                <a:latin typeface="Courier New" pitchFamily="34" charset="0"/>
                <a:ea typeface="Courier New" pitchFamily="34" charset="-122"/>
                <a:cs typeface="Courier New" pitchFamily="34" charset="-120"/>
              </a:rPr>
              <a:t>config.py</a:t>
            </a:r>
            <a:endParaRPr lang="en-US" sz="1200" dirty="0"/>
          </a:p>
        </p:txBody>
      </p:sp>
      <p:sp>
        <p:nvSpPr>
          <p:cNvPr id="28" name="Text 26"/>
          <p:cNvSpPr txBox="1"/>
          <p:nvPr/>
        </p:nvSpPr>
        <p:spPr>
          <a:xfrm>
            <a:off x="3593592"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parameters, datasets</a:t>
            </a:r>
            <a:endParaRPr lang="en-US" sz="1150" dirty="0"/>
          </a:p>
        </p:txBody>
      </p:sp>
      <p:sp>
        <p:nvSpPr>
          <p:cNvPr id="29" name="Shape 27"/>
          <p:cNvSpPr/>
          <p:nvPr/>
        </p:nvSpPr>
        <p:spPr>
          <a:xfrm>
            <a:off x="6181344" y="1417320"/>
            <a:ext cx="2670048" cy="3429000"/>
          </a:xfrm>
          <a:prstGeom prst="roundRect">
            <a:avLst>
              <a:gd name="adj" fmla="val 4110"/>
            </a:avLst>
          </a:prstGeom>
          <a:solidFill>
            <a:srgbClr val="E8F5EF"/>
          </a:solidFill>
          <a:ln w="9525">
            <a:solidFill>
              <a:srgbClr val="E8F5EF"/>
            </a:solidFill>
            <a:prstDash val="solid"/>
          </a:ln>
        </p:spPr>
      </p:sp>
      <p:sp>
        <p:nvSpPr>
          <p:cNvPr id="30" name="Text 28"/>
          <p:cNvSpPr txBox="1"/>
          <p:nvPr/>
        </p:nvSpPr>
        <p:spPr>
          <a:xfrm>
            <a:off x="6318504"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Analysis</a:t>
            </a:r>
            <a:endParaRPr lang="en-US" sz="1500" dirty="0"/>
          </a:p>
        </p:txBody>
      </p:sp>
      <p:sp>
        <p:nvSpPr>
          <p:cNvPr id="31" name="Shape 29"/>
          <p:cNvSpPr/>
          <p:nvPr/>
        </p:nvSpPr>
        <p:spPr>
          <a:xfrm>
            <a:off x="6318504" y="1892808"/>
            <a:ext cx="2395728" cy="502920"/>
          </a:xfrm>
          <a:prstGeom prst="roundRect">
            <a:avLst>
              <a:gd name="adj" fmla="val 21818"/>
            </a:avLst>
          </a:prstGeom>
          <a:solidFill>
            <a:srgbClr val="FFFFFF"/>
          </a:solidFill>
          <a:ln w="9525">
            <a:solidFill>
              <a:srgbClr val="D5DED9"/>
            </a:solidFill>
            <a:prstDash val="solid"/>
          </a:ln>
        </p:spPr>
      </p:sp>
      <p:sp>
        <p:nvSpPr>
          <p:cNvPr id="32" name="Text 30"/>
          <p:cNvSpPr txBox="1"/>
          <p:nvPr/>
        </p:nvSpPr>
        <p:spPr>
          <a:xfrm>
            <a:off x="6409944"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timeseries.py</a:t>
            </a:r>
            <a:endParaRPr lang="en-US" sz="1200" dirty="0"/>
          </a:p>
        </p:txBody>
      </p:sp>
      <p:sp>
        <p:nvSpPr>
          <p:cNvPr id="33" name="Text 31"/>
          <p:cNvSpPr txBox="1"/>
          <p:nvPr/>
        </p:nvSpPr>
        <p:spPr>
          <a:xfrm>
            <a:off x="6409944"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STL, anomalies, breaks</a:t>
            </a:r>
            <a:endParaRPr lang="en-US" sz="1150" dirty="0"/>
          </a:p>
        </p:txBody>
      </p:sp>
      <p:sp>
        <p:nvSpPr>
          <p:cNvPr id="34" name="Shape 32"/>
          <p:cNvSpPr/>
          <p:nvPr/>
        </p:nvSpPr>
        <p:spPr>
          <a:xfrm>
            <a:off x="6318504" y="2468880"/>
            <a:ext cx="2395728" cy="502920"/>
          </a:xfrm>
          <a:prstGeom prst="roundRect">
            <a:avLst>
              <a:gd name="adj" fmla="val 21818"/>
            </a:avLst>
          </a:prstGeom>
          <a:solidFill>
            <a:srgbClr val="FFFFFF"/>
          </a:solidFill>
          <a:ln w="9525">
            <a:solidFill>
              <a:srgbClr val="D5DED9"/>
            </a:solidFill>
            <a:prstDash val="solid"/>
          </a:ln>
        </p:spPr>
      </p:sp>
      <p:sp>
        <p:nvSpPr>
          <p:cNvPr id="35" name="Text 33"/>
          <p:cNvSpPr txBox="1"/>
          <p:nvPr/>
        </p:nvSpPr>
        <p:spPr>
          <a:xfrm>
            <a:off x="6409944"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indicators.py</a:t>
            </a:r>
            <a:endParaRPr lang="en-US" sz="1200" dirty="0"/>
          </a:p>
        </p:txBody>
      </p:sp>
      <p:sp>
        <p:nvSpPr>
          <p:cNvPr id="36" name="Text 34"/>
          <p:cNvSpPr txBox="1"/>
          <p:nvPr/>
        </p:nvSpPr>
        <p:spPr>
          <a:xfrm>
            <a:off x="6409944"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Theil–Sen, Gini, Theil, HHI</a:t>
            </a:r>
            <a:endParaRPr lang="en-US" sz="1150" dirty="0"/>
          </a:p>
        </p:txBody>
      </p:sp>
      <p:sp>
        <p:nvSpPr>
          <p:cNvPr id="37" name="Shape 35"/>
          <p:cNvSpPr/>
          <p:nvPr/>
        </p:nvSpPr>
        <p:spPr>
          <a:xfrm>
            <a:off x="6318504" y="3044952"/>
            <a:ext cx="2395728" cy="502920"/>
          </a:xfrm>
          <a:prstGeom prst="roundRect">
            <a:avLst>
              <a:gd name="adj" fmla="val 21818"/>
            </a:avLst>
          </a:prstGeom>
          <a:solidFill>
            <a:srgbClr val="FFFFFF"/>
          </a:solidFill>
          <a:ln w="9525">
            <a:solidFill>
              <a:srgbClr val="D5DED9"/>
            </a:solidFill>
            <a:prstDash val="solid"/>
          </a:ln>
        </p:spPr>
      </p:sp>
      <p:sp>
        <p:nvSpPr>
          <p:cNvPr id="38" name="Text 36"/>
          <p:cNvSpPr txBox="1"/>
          <p:nvPr/>
        </p:nvSpPr>
        <p:spPr>
          <a:xfrm>
            <a:off x="6409944"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econometrics.py</a:t>
            </a:r>
            <a:endParaRPr lang="en-US" sz="1200" dirty="0"/>
          </a:p>
        </p:txBody>
      </p:sp>
      <p:sp>
        <p:nvSpPr>
          <p:cNvPr id="39" name="Text 37"/>
          <p:cNvSpPr txBox="1"/>
          <p:nvPr/>
        </p:nvSpPr>
        <p:spPr>
          <a:xfrm>
            <a:off x="6409944"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elasticity, nowcast</a:t>
            </a:r>
            <a:endParaRPr lang="en-US" sz="1150" dirty="0"/>
          </a:p>
        </p:txBody>
      </p:sp>
      <p:sp>
        <p:nvSpPr>
          <p:cNvPr id="40" name="Shape 38"/>
          <p:cNvSpPr/>
          <p:nvPr/>
        </p:nvSpPr>
        <p:spPr>
          <a:xfrm>
            <a:off x="6318504" y="3621024"/>
            <a:ext cx="2395728" cy="502920"/>
          </a:xfrm>
          <a:prstGeom prst="roundRect">
            <a:avLst>
              <a:gd name="adj" fmla="val 21818"/>
            </a:avLst>
          </a:prstGeom>
          <a:solidFill>
            <a:srgbClr val="FFFFFF"/>
          </a:solidFill>
          <a:ln w="9525">
            <a:solidFill>
              <a:srgbClr val="D5DED9"/>
            </a:solidFill>
            <a:prstDash val="solid"/>
          </a:ln>
        </p:spPr>
      </p:sp>
      <p:sp>
        <p:nvSpPr>
          <p:cNvPr id="41" name="Text 39"/>
          <p:cNvSpPr txBox="1"/>
          <p:nvPr/>
        </p:nvSpPr>
        <p:spPr>
          <a:xfrm>
            <a:off x="6409944" y="3639312"/>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shocks.py</a:t>
            </a:r>
            <a:endParaRPr lang="en-US" sz="1200" dirty="0"/>
          </a:p>
        </p:txBody>
      </p:sp>
      <p:sp>
        <p:nvSpPr>
          <p:cNvPr id="42" name="Text 40"/>
          <p:cNvSpPr txBox="1"/>
          <p:nvPr/>
        </p:nvSpPr>
        <p:spPr>
          <a:xfrm>
            <a:off x="6409944" y="3867912"/>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events, impacts</a:t>
            </a:r>
            <a:endParaRPr lang="en-US" sz="1150" dirty="0"/>
          </a:p>
        </p:txBody>
      </p:sp>
      <p:sp>
        <p:nvSpPr>
          <p:cNvPr id="43" name="Shape 41"/>
          <p:cNvSpPr/>
          <p:nvPr/>
        </p:nvSpPr>
        <p:spPr>
          <a:xfrm>
            <a:off x="6318504" y="4197096"/>
            <a:ext cx="2395728" cy="502920"/>
          </a:xfrm>
          <a:prstGeom prst="roundRect">
            <a:avLst>
              <a:gd name="adj" fmla="val 21818"/>
            </a:avLst>
          </a:prstGeom>
          <a:solidFill>
            <a:srgbClr val="FFFFFF"/>
          </a:solidFill>
          <a:ln w="9525">
            <a:solidFill>
              <a:srgbClr val="D5DED9"/>
            </a:solidFill>
            <a:prstDash val="solid"/>
          </a:ln>
        </p:spPr>
      </p:sp>
      <p:sp>
        <p:nvSpPr>
          <p:cNvPr id="44" name="Text 42"/>
          <p:cNvSpPr txBox="1"/>
          <p:nvPr/>
        </p:nvSpPr>
        <p:spPr>
          <a:xfrm>
            <a:off x="6409944" y="4215384"/>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00553A"/>
                </a:solidFill>
                <a:latin typeface="Courier New" pitchFamily="34" charset="0"/>
                <a:ea typeface="Courier New" pitchFamily="34" charset="-122"/>
                <a:cs typeface="Courier New" pitchFamily="34" charset="-120"/>
              </a:rPr>
              <a:t>pipeline.py</a:t>
            </a:r>
            <a:endParaRPr lang="en-US" sz="1200" dirty="0"/>
          </a:p>
        </p:txBody>
      </p:sp>
      <p:sp>
        <p:nvSpPr>
          <p:cNvPr id="45" name="Text 43"/>
          <p:cNvSpPr txBox="1"/>
          <p:nvPr/>
        </p:nvSpPr>
        <p:spPr>
          <a:xfrm>
            <a:off x="6409944" y="4443984"/>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orchestration</a:t>
            </a:r>
            <a:endParaRPr lang="en-US" sz="1150" dirty="0"/>
          </a:p>
        </p:txBody>
      </p:sp>
      <p:sp>
        <p:nvSpPr>
          <p:cNvPr id="46" name="Shape 44"/>
          <p:cNvSpPr/>
          <p:nvPr/>
        </p:nvSpPr>
        <p:spPr>
          <a:xfrm>
            <a:off x="8997696" y="1417320"/>
            <a:ext cx="2670048" cy="3429000"/>
          </a:xfrm>
          <a:prstGeom prst="roundRect">
            <a:avLst>
              <a:gd name="adj" fmla="val 4110"/>
            </a:avLst>
          </a:prstGeom>
          <a:solidFill>
            <a:srgbClr val="FDF6E3"/>
          </a:solidFill>
          <a:ln w="9525">
            <a:solidFill>
              <a:srgbClr val="FDF6E3"/>
            </a:solidFill>
            <a:prstDash val="solid"/>
          </a:ln>
        </p:spPr>
      </p:sp>
      <p:sp>
        <p:nvSpPr>
          <p:cNvPr id="47" name="Text 45"/>
          <p:cNvSpPr txBox="1"/>
          <p:nvPr/>
        </p:nvSpPr>
        <p:spPr>
          <a:xfrm>
            <a:off x="9134856" y="1481328"/>
            <a:ext cx="23774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B7791F"/>
                </a:solidFill>
              </a:rPr>
              <a:t>Delivery</a:t>
            </a:r>
            <a:endParaRPr lang="en-US" sz="1500" dirty="0"/>
          </a:p>
        </p:txBody>
      </p:sp>
      <p:sp>
        <p:nvSpPr>
          <p:cNvPr id="48" name="Shape 46"/>
          <p:cNvSpPr/>
          <p:nvPr/>
        </p:nvSpPr>
        <p:spPr>
          <a:xfrm>
            <a:off x="9134856" y="1892808"/>
            <a:ext cx="2395728" cy="502920"/>
          </a:xfrm>
          <a:prstGeom prst="roundRect">
            <a:avLst>
              <a:gd name="adj" fmla="val 21818"/>
            </a:avLst>
          </a:prstGeom>
          <a:solidFill>
            <a:srgbClr val="FFFFFF"/>
          </a:solidFill>
          <a:ln w="9525">
            <a:solidFill>
              <a:srgbClr val="D5DED9"/>
            </a:solidFill>
            <a:prstDash val="solid"/>
          </a:ln>
        </p:spPr>
      </p:sp>
      <p:sp>
        <p:nvSpPr>
          <p:cNvPr id="49" name="Text 47"/>
          <p:cNvSpPr txBox="1"/>
          <p:nvPr/>
        </p:nvSpPr>
        <p:spPr>
          <a:xfrm>
            <a:off x="9226296" y="1911096"/>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viz.py</a:t>
            </a:r>
            <a:endParaRPr lang="en-US" sz="1200" dirty="0"/>
          </a:p>
        </p:txBody>
      </p:sp>
      <p:sp>
        <p:nvSpPr>
          <p:cNvPr id="50" name="Text 48"/>
          <p:cNvSpPr txBox="1"/>
          <p:nvPr/>
        </p:nvSpPr>
        <p:spPr>
          <a:xfrm>
            <a:off x="9226296" y="2139696"/>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charts, maps</a:t>
            </a:r>
            <a:endParaRPr lang="en-US" sz="1150" dirty="0"/>
          </a:p>
        </p:txBody>
      </p:sp>
      <p:sp>
        <p:nvSpPr>
          <p:cNvPr id="51" name="Shape 49"/>
          <p:cNvSpPr/>
          <p:nvPr/>
        </p:nvSpPr>
        <p:spPr>
          <a:xfrm>
            <a:off x="9134856" y="2468880"/>
            <a:ext cx="2395728" cy="502920"/>
          </a:xfrm>
          <a:prstGeom prst="roundRect">
            <a:avLst>
              <a:gd name="adj" fmla="val 21818"/>
            </a:avLst>
          </a:prstGeom>
          <a:solidFill>
            <a:srgbClr val="FFFFFF"/>
          </a:solidFill>
          <a:ln w="9525">
            <a:solidFill>
              <a:srgbClr val="D5DED9"/>
            </a:solidFill>
            <a:prstDash val="solid"/>
          </a:ln>
        </p:spPr>
      </p:sp>
      <p:sp>
        <p:nvSpPr>
          <p:cNvPr id="52" name="Text 50"/>
          <p:cNvSpPr txBox="1"/>
          <p:nvPr/>
        </p:nvSpPr>
        <p:spPr>
          <a:xfrm>
            <a:off x="9226296" y="2487168"/>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messages.py</a:t>
            </a:r>
            <a:endParaRPr lang="en-US" sz="1200" dirty="0"/>
          </a:p>
        </p:txBody>
      </p:sp>
      <p:sp>
        <p:nvSpPr>
          <p:cNvPr id="53" name="Text 51"/>
          <p:cNvSpPr txBox="1"/>
          <p:nvPr/>
        </p:nvSpPr>
        <p:spPr>
          <a:xfrm>
            <a:off x="9226296" y="2715768"/>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messages, confidence</a:t>
            </a:r>
            <a:endParaRPr lang="en-US" sz="1150" dirty="0"/>
          </a:p>
        </p:txBody>
      </p:sp>
      <p:sp>
        <p:nvSpPr>
          <p:cNvPr id="54" name="Shape 52"/>
          <p:cNvSpPr/>
          <p:nvPr/>
        </p:nvSpPr>
        <p:spPr>
          <a:xfrm>
            <a:off x="9134856" y="3044952"/>
            <a:ext cx="2395728" cy="502920"/>
          </a:xfrm>
          <a:prstGeom prst="roundRect">
            <a:avLst>
              <a:gd name="adj" fmla="val 21818"/>
            </a:avLst>
          </a:prstGeom>
          <a:solidFill>
            <a:srgbClr val="FFFFFF"/>
          </a:solidFill>
          <a:ln w="9525">
            <a:solidFill>
              <a:srgbClr val="D5DED9"/>
            </a:solidFill>
            <a:prstDash val="solid"/>
          </a:ln>
        </p:spPr>
      </p:sp>
      <p:sp>
        <p:nvSpPr>
          <p:cNvPr id="55" name="Text 53"/>
          <p:cNvSpPr txBox="1"/>
          <p:nvPr/>
        </p:nvSpPr>
        <p:spPr>
          <a:xfrm>
            <a:off x="9226296" y="3063240"/>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export.py</a:t>
            </a:r>
            <a:endParaRPr lang="en-US" sz="1200" dirty="0"/>
          </a:p>
        </p:txBody>
      </p:sp>
      <p:sp>
        <p:nvSpPr>
          <p:cNvPr id="56" name="Text 54"/>
          <p:cNvSpPr txBox="1"/>
          <p:nvPr/>
        </p:nvSpPr>
        <p:spPr>
          <a:xfrm>
            <a:off x="9226296" y="3291840"/>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static files</a:t>
            </a:r>
            <a:endParaRPr lang="en-US" sz="1150" dirty="0"/>
          </a:p>
        </p:txBody>
      </p:sp>
      <p:sp>
        <p:nvSpPr>
          <p:cNvPr id="57" name="Shape 55"/>
          <p:cNvSpPr/>
          <p:nvPr/>
        </p:nvSpPr>
        <p:spPr>
          <a:xfrm>
            <a:off x="9134856" y="3621024"/>
            <a:ext cx="2395728" cy="502920"/>
          </a:xfrm>
          <a:prstGeom prst="roundRect">
            <a:avLst>
              <a:gd name="adj" fmla="val 21818"/>
            </a:avLst>
          </a:prstGeom>
          <a:solidFill>
            <a:srgbClr val="FFFFFF"/>
          </a:solidFill>
          <a:ln w="9525">
            <a:solidFill>
              <a:srgbClr val="D5DED9"/>
            </a:solidFill>
            <a:prstDash val="solid"/>
          </a:ln>
        </p:spPr>
      </p:sp>
      <p:sp>
        <p:nvSpPr>
          <p:cNvPr id="58" name="Text 56"/>
          <p:cNvSpPr txBox="1"/>
          <p:nvPr/>
        </p:nvSpPr>
        <p:spPr>
          <a:xfrm>
            <a:off x="9226296" y="3639312"/>
            <a:ext cx="2240280" cy="246888"/>
          </a:xfrm>
          <a:prstGeom prst="rect">
            <a:avLst/>
          </a:prstGeom>
          <a:noFill/>
          <a:ln/>
        </p:spPr>
        <p:txBody>
          <a:bodyPr wrap="square" lIns="0" tIns="0" rIns="0" bIns="0" rtlCol="0" anchor="t"/>
          <a:lstStyle/>
          <a:p>
            <a:pPr indent="0" marL="0">
              <a:spcAft>
                <a:spcPts val="200"/>
              </a:spcAft>
              <a:buNone/>
            </a:pPr>
            <a:r>
              <a:rPr lang="en-US" sz="1200" b="1" dirty="0">
                <a:solidFill>
                  <a:srgbClr val="B7791F"/>
                </a:solidFill>
                <a:latin typeface="Courier New" pitchFamily="34" charset="0"/>
                <a:ea typeface="Courier New" pitchFamily="34" charset="-122"/>
                <a:cs typeface="Courier New" pitchFamily="34" charset="-120"/>
              </a:rPr>
              <a:t>publish.py</a:t>
            </a:r>
            <a:endParaRPr lang="en-US" sz="1200" dirty="0"/>
          </a:p>
        </p:txBody>
      </p:sp>
      <p:sp>
        <p:nvSpPr>
          <p:cNvPr id="59" name="Text 57"/>
          <p:cNvSpPr txBox="1"/>
          <p:nvPr/>
        </p:nvSpPr>
        <p:spPr>
          <a:xfrm>
            <a:off x="9226296" y="3867912"/>
            <a:ext cx="2240280" cy="237744"/>
          </a:xfrm>
          <a:prstGeom prst="rect">
            <a:avLst/>
          </a:prstGeom>
          <a:noFill/>
          <a:ln/>
        </p:spPr>
        <p:txBody>
          <a:bodyPr wrap="square" lIns="0" tIns="0" rIns="0" bIns="0" rtlCol="0" anchor="t"/>
          <a:lstStyle/>
          <a:p>
            <a:pPr indent="0" marL="0">
              <a:spcAft>
                <a:spcPts val="200"/>
              </a:spcAft>
              <a:buNone/>
            </a:pPr>
            <a:r>
              <a:rPr lang="en-US" sz="1150" dirty="0">
                <a:solidFill>
                  <a:srgbClr val="231F20"/>
                </a:solidFill>
              </a:rPr>
              <a:t>GitHub Pages</a:t>
            </a:r>
            <a:endParaRPr lang="en-US" sz="1150" dirty="0"/>
          </a:p>
        </p:txBody>
      </p:sp>
      <p:sp>
        <p:nvSpPr>
          <p:cNvPr id="60" name="Shape 58"/>
          <p:cNvSpPr/>
          <p:nvPr/>
        </p:nvSpPr>
        <p:spPr>
          <a:xfrm>
            <a:off x="548640" y="5029200"/>
            <a:ext cx="5486400" cy="1097280"/>
          </a:xfrm>
          <a:prstGeom prst="roundRect">
            <a:avLst>
              <a:gd name="adj" fmla="val 10000"/>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61" name="Shape 59"/>
          <p:cNvSpPr/>
          <p:nvPr/>
        </p:nvSpPr>
        <p:spPr>
          <a:xfrm>
            <a:off x="731520" y="5193792"/>
            <a:ext cx="731520" cy="731520"/>
          </a:xfrm>
          <a:prstGeom prst="ellipse">
            <a:avLst/>
          </a:prstGeom>
          <a:solidFill>
            <a:srgbClr val="00704A"/>
          </a:solidFill>
          <a:ln w="12700">
            <a:solidFill>
              <a:srgbClr val="00704A"/>
            </a:solidFill>
            <a:prstDash val="solid"/>
          </a:ln>
        </p:spPr>
      </p:sp>
      <p:pic>
        <p:nvPicPr>
          <p:cNvPr id="62" name="Image 0" descr="preencoded.png">    </p:cNvPr>
          <p:cNvPicPr>
            <a:picLocks noChangeAspect="1"/>
          </p:cNvPicPr>
          <p:nvPr/>
        </p:nvPicPr>
        <p:blipFill>
          <a:blip r:embed="rId1"/>
          <a:stretch>
            <a:fillRect/>
          </a:stretch>
        </p:blipFill>
        <p:spPr>
          <a:xfrm>
            <a:off x="907085" y="5369357"/>
            <a:ext cx="380390" cy="380390"/>
          </a:xfrm>
          <a:prstGeom prst="rect">
            <a:avLst/>
          </a:prstGeom>
        </p:spPr>
      </p:pic>
      <p:sp>
        <p:nvSpPr>
          <p:cNvPr id="63" name="Text 60"/>
          <p:cNvSpPr txBox="1"/>
          <p:nvPr/>
        </p:nvSpPr>
        <p:spPr>
          <a:xfrm>
            <a:off x="1600200" y="5102352"/>
            <a:ext cx="429768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704A"/>
                </a:solidFill>
              </a:rPr>
              <a:t>Notebook (13 sections)</a:t>
            </a:r>
            <a:endParaRPr lang="en-US" sz="1500" dirty="0"/>
          </a:p>
        </p:txBody>
      </p:sp>
      <p:sp>
        <p:nvSpPr>
          <p:cNvPr id="64" name="Text 61"/>
          <p:cNvSpPr txBox="1"/>
          <p:nvPr/>
        </p:nvSpPr>
        <p:spPr>
          <a:xfrm>
            <a:off x="1600200" y="5449824"/>
            <a:ext cx="4297680" cy="5943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Colab · Kaggle · Jupyter; src/ code embedded and auto-unpacked</a:t>
            </a:r>
            <a:endParaRPr lang="en-US" sz="1300" dirty="0"/>
          </a:p>
        </p:txBody>
      </p:sp>
      <p:sp>
        <p:nvSpPr>
          <p:cNvPr id="65" name="Shape 62"/>
          <p:cNvSpPr/>
          <p:nvPr/>
        </p:nvSpPr>
        <p:spPr>
          <a:xfrm>
            <a:off x="6172200" y="5029200"/>
            <a:ext cx="5486400" cy="1097280"/>
          </a:xfrm>
          <a:prstGeom prst="roundRect">
            <a:avLst>
              <a:gd name="adj" fmla="val 10000"/>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66" name="Shape 63"/>
          <p:cNvSpPr/>
          <p:nvPr/>
        </p:nvSpPr>
        <p:spPr>
          <a:xfrm>
            <a:off x="6355080" y="5193792"/>
            <a:ext cx="731520" cy="731520"/>
          </a:xfrm>
          <a:prstGeom prst="ellipse">
            <a:avLst/>
          </a:prstGeom>
          <a:solidFill>
            <a:srgbClr val="1F4E8C"/>
          </a:solidFill>
          <a:ln w="12700">
            <a:solidFill>
              <a:srgbClr val="1F4E8C"/>
            </a:solidFill>
            <a:prstDash val="solid"/>
          </a:ln>
        </p:spPr>
      </p:sp>
      <p:pic>
        <p:nvPicPr>
          <p:cNvPr id="67" name="Image 1" descr="preencoded.png">    </p:cNvPr>
          <p:cNvPicPr>
            <a:picLocks noChangeAspect="1"/>
          </p:cNvPicPr>
          <p:nvPr/>
        </p:nvPicPr>
        <p:blipFill>
          <a:blip r:embed="rId2"/>
          <a:stretch>
            <a:fillRect/>
          </a:stretch>
        </p:blipFill>
        <p:spPr>
          <a:xfrm>
            <a:off x="6530645" y="5369357"/>
            <a:ext cx="380390" cy="380390"/>
          </a:xfrm>
          <a:prstGeom prst="rect">
            <a:avLst/>
          </a:prstGeom>
        </p:spPr>
      </p:pic>
      <p:sp>
        <p:nvSpPr>
          <p:cNvPr id="68" name="Text 64"/>
          <p:cNvSpPr txBox="1"/>
          <p:nvPr/>
        </p:nvSpPr>
        <p:spPr>
          <a:xfrm>
            <a:off x="7223760" y="5102352"/>
            <a:ext cx="4297680" cy="36576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Dashboard (8 pages)</a:t>
            </a:r>
            <a:endParaRPr lang="en-US" sz="1500" dirty="0"/>
          </a:p>
        </p:txBody>
      </p:sp>
      <p:sp>
        <p:nvSpPr>
          <p:cNvPr id="69" name="Text 65"/>
          <p:cNvSpPr txBox="1"/>
          <p:nvPr/>
        </p:nvSpPr>
        <p:spPr>
          <a:xfrm>
            <a:off x="7223760" y="5449824"/>
            <a:ext cx="4297680" cy="5943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static HTML + JavaScript, data in dashboard/data/&lt;ISO3&gt;/</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C · ARCHITECTURE AND PIPELINE</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One cell to edit</a:t>
            </a:r>
            <a:endParaRPr lang="en-US" sz="2800" dirty="0"/>
          </a:p>
        </p:txBody>
      </p:sp>
      <p:sp>
        <p:nvSpPr>
          <p:cNvPr id="4" name="Shape 2"/>
          <p:cNvSpPr/>
          <p:nvPr/>
        </p:nvSpPr>
        <p:spPr>
          <a:xfrm>
            <a:off x="548640" y="1417320"/>
            <a:ext cx="6400800" cy="4663440"/>
          </a:xfrm>
          <a:prstGeom prst="roundRect">
            <a:avLst>
              <a:gd name="adj" fmla="val 2353"/>
            </a:avLst>
          </a:prstGeom>
          <a:solidFill>
            <a:srgbClr val="1E293B"/>
          </a:solidFill>
          <a:ln w="9525">
            <a:solidFill>
              <a:srgbClr val="1E293B"/>
            </a:solidFill>
            <a:prstDash val="solid"/>
          </a:ln>
          <a:effectLst>
            <a:outerShdw sx="100000" sy="100000" kx="0" ky="0" algn="bl" rotWithShape="0" blurRad="101600" dist="25400" dir="5400000">
              <a:srgbClr val="9CA3AF">
                <a:alpha val="25000"/>
              </a:srgbClr>
            </a:outerShdw>
          </a:effectLst>
        </p:spPr>
      </p:sp>
      <p:sp>
        <p:nvSpPr>
          <p:cNvPr id="5" name="Text 3"/>
          <p:cNvSpPr txBox="1"/>
          <p:nvPr/>
        </p:nvSpPr>
        <p:spPr>
          <a:xfrm>
            <a:off x="777240" y="1600200"/>
            <a:ext cx="6035040" cy="4343400"/>
          </a:xfrm>
          <a:prstGeom prst="rect">
            <a:avLst/>
          </a:prstGeom>
          <a:noFill/>
          <a:ln/>
        </p:spPr>
        <p:txBody>
          <a:bodyPr wrap="square" lIns="635" tIns="635" rIns="635" bIns="635" rtlCol="0" anchor="t"/>
          <a:lstStyle/>
          <a:p>
            <a:pPr indent="0" marL="0">
              <a:buNone/>
            </a:pPr>
            <a:r>
              <a:rPr lang="en-US" sz="1300" dirty="0">
                <a:solidFill>
                  <a:srgbClr val="94A3B8"/>
                </a:solidFill>
                <a:latin typeface="Courier New" pitchFamily="34" charset="0"/>
                <a:ea typeface="Courier New" pitchFamily="34" charset="-122"/>
                <a:cs typeface="Courier New" pitchFamily="34" charset="-120"/>
              </a:rPr>
              <a:t># ⚙️  PARAMETERS — the only cell to edit</a:t>
            </a:r>
            <a:endParaRPr lang="en-US" sz="1300" dirty="0"/>
          </a:p>
          <a:p>
            <a:pPr indent="0" marL="0">
              <a:buNone/>
            </a:pPr>
            <a:r>
              <a:rPr lang="en-US" sz="1300" dirty="0">
                <a:solidFill>
                  <a:srgbClr val="F5C242"/>
                </a:solidFill>
                <a:latin typeface="Courier New" pitchFamily="34" charset="0"/>
                <a:ea typeface="Courier New" pitchFamily="34" charset="-122"/>
                <a:cs typeface="Courier New" pitchFamily="34" charset="-120"/>
              </a:rPr>
              <a:t>ISO3 = "TUN"</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START_YEAR = 2014</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END_YEAR = None        # last full year</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ADMIN_LEVELS = ("ADM1", "ADM2")</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GEE_PROJECT = None     # Google Cloud project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FORCE_DOWNLOAD = False # ignore the cache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CUSTOM_EVENTS = [      # country-specific shocks</a:t>
            </a:r>
            <a:endParaRPr lang="en-US" sz="1300" dirty="0"/>
          </a:p>
          <a:p>
            <a:pPr indent="0" marL="0">
              <a:buNone/>
            </a:pPr>
            <a:r>
              <a:rPr lang="en-US" sz="1300" dirty="0">
                <a:solidFill>
                  <a:srgbClr val="86EFAC"/>
                </a:solidFill>
                <a:latin typeface="Courier New" pitchFamily="34" charset="0"/>
                <a:ea typeface="Courier New" pitchFamily="34" charset="-122"/>
                <a:cs typeface="Courier New" pitchFamily="34" charset="-120"/>
              </a:rPr>
              <a:t>  {"label": "Cyclone X", "start": "2019-03-01",</a:t>
            </a:r>
            <a:endParaRPr lang="en-US" sz="1300" dirty="0"/>
          </a:p>
          <a:p>
            <a:pPr indent="0" marL="0">
              <a:buNone/>
            </a:pPr>
            <a:r>
              <a:rPr lang="en-US" sz="1300" dirty="0">
                <a:solidFill>
                  <a:srgbClr val="86EFAC"/>
                </a:solidFill>
                <a:latin typeface="Courier New" pitchFamily="34" charset="0"/>
                <a:ea typeface="Courier New" pitchFamily="34" charset="-122"/>
                <a:cs typeface="Courier New" pitchFamily="34" charset="-120"/>
              </a:rPr>
              <a:t>   "end": "2019-05-31", "type": "disaster"},</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PUBLISH = False        # True -&gt; GitHub Pages</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REPO_NAME = "ntl-dashboard"</a:t>
            </a:r>
            <a:endParaRPr lang="en-US" sz="1300" dirty="0"/>
          </a:p>
        </p:txBody>
      </p:sp>
      <p:sp>
        <p:nvSpPr>
          <p:cNvPr id="6" name="Shape 4"/>
          <p:cNvSpPr/>
          <p:nvPr/>
        </p:nvSpPr>
        <p:spPr>
          <a:xfrm>
            <a:off x="7269480" y="1463040"/>
            <a:ext cx="594360" cy="594360"/>
          </a:xfrm>
          <a:prstGeom prst="ellipse">
            <a:avLst/>
          </a:prstGeom>
          <a:solidFill>
            <a:srgbClr val="00704A"/>
          </a:solidFill>
          <a:ln w="12700">
            <a:solidFill>
              <a:srgbClr val="00704A"/>
            </a:solidFill>
            <a:prstDash val="solid"/>
          </a:ln>
        </p:spPr>
      </p:sp>
      <p:pic>
        <p:nvPicPr>
          <p:cNvPr id="7" name="Image 0" descr="preencoded.png">    </p:cNvPr>
          <p:cNvPicPr>
            <a:picLocks noChangeAspect="1"/>
          </p:cNvPicPr>
          <p:nvPr/>
        </p:nvPicPr>
        <p:blipFill>
          <a:blip r:embed="rId1"/>
          <a:stretch>
            <a:fillRect/>
          </a:stretch>
        </p:blipFill>
        <p:spPr>
          <a:xfrm>
            <a:off x="7412126" y="1605686"/>
            <a:ext cx="309067" cy="309067"/>
          </a:xfrm>
          <a:prstGeom prst="rect">
            <a:avLst/>
          </a:prstGeom>
        </p:spPr>
      </p:pic>
      <p:sp>
        <p:nvSpPr>
          <p:cNvPr id="8" name="Text 5"/>
          <p:cNvSpPr txBox="1"/>
          <p:nvPr/>
        </p:nvSpPr>
        <p:spPr>
          <a:xfrm>
            <a:off x="8001000" y="141732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ISO3</a:t>
            </a:r>
            <a:endParaRPr lang="en-US" sz="1500" dirty="0"/>
          </a:p>
        </p:txBody>
      </p:sp>
      <p:sp>
        <p:nvSpPr>
          <p:cNvPr id="9" name="Text 6"/>
          <p:cNvSpPr txBox="1"/>
          <p:nvPr/>
        </p:nvSpPr>
        <p:spPr>
          <a:xfrm>
            <a:off x="8001000" y="176479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3-letter country code (ISO 3166-1). TUN = Tunisia, SEN = Senegal, KEN = Kenya…</a:t>
            </a:r>
            <a:endParaRPr lang="en-US" sz="1300" dirty="0"/>
          </a:p>
        </p:txBody>
      </p:sp>
      <p:sp>
        <p:nvSpPr>
          <p:cNvPr id="10" name="Shape 7"/>
          <p:cNvSpPr/>
          <p:nvPr/>
        </p:nvSpPr>
        <p:spPr>
          <a:xfrm>
            <a:off x="7269480" y="2651760"/>
            <a:ext cx="594360" cy="59436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7412126" y="2794406"/>
            <a:ext cx="309067" cy="309067"/>
          </a:xfrm>
          <a:prstGeom prst="rect">
            <a:avLst/>
          </a:prstGeom>
        </p:spPr>
      </p:pic>
      <p:sp>
        <p:nvSpPr>
          <p:cNvPr id="12" name="Text 8"/>
          <p:cNvSpPr txBox="1"/>
          <p:nvPr/>
        </p:nvSpPr>
        <p:spPr>
          <a:xfrm>
            <a:off x="8001000" y="260604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ADM1 / ADM2</a:t>
            </a:r>
            <a:endParaRPr lang="en-US" sz="1500" dirty="0"/>
          </a:p>
        </p:txBody>
      </p:sp>
      <p:sp>
        <p:nvSpPr>
          <p:cNvPr id="13" name="Text 9"/>
          <p:cNvSpPr txBox="1"/>
          <p:nvPr/>
        </p:nvSpPr>
        <p:spPr>
          <a:xfrm>
            <a:off x="8001000" y="295351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1st and 2nd administrative levels: regions, then districts</a:t>
            </a:r>
            <a:endParaRPr lang="en-US" sz="1300" dirty="0"/>
          </a:p>
        </p:txBody>
      </p:sp>
      <p:sp>
        <p:nvSpPr>
          <p:cNvPr id="14" name="Shape 10"/>
          <p:cNvSpPr/>
          <p:nvPr/>
        </p:nvSpPr>
        <p:spPr>
          <a:xfrm>
            <a:off x="7269480" y="3840480"/>
            <a:ext cx="594360" cy="594360"/>
          </a:xfrm>
          <a:prstGeom prst="ellipse">
            <a:avLst/>
          </a:prstGeom>
          <a:solidFill>
            <a:srgbClr val="B7791F"/>
          </a:solidFill>
          <a:ln w="12700">
            <a:solidFill>
              <a:srgbClr val="B7791F"/>
            </a:solidFill>
            <a:prstDash val="solid"/>
          </a:ln>
        </p:spPr>
      </p:sp>
      <p:pic>
        <p:nvPicPr>
          <p:cNvPr id="15" name="Image 2" descr="preencoded.png">    </p:cNvPr>
          <p:cNvPicPr>
            <a:picLocks noChangeAspect="1"/>
          </p:cNvPicPr>
          <p:nvPr/>
        </p:nvPicPr>
        <p:blipFill>
          <a:blip r:embed="rId3"/>
          <a:stretch>
            <a:fillRect/>
          </a:stretch>
        </p:blipFill>
        <p:spPr>
          <a:xfrm>
            <a:off x="7412126" y="3983126"/>
            <a:ext cx="309067" cy="309067"/>
          </a:xfrm>
          <a:prstGeom prst="rect">
            <a:avLst/>
          </a:prstGeom>
        </p:spPr>
      </p:pic>
      <p:sp>
        <p:nvSpPr>
          <p:cNvPr id="16" name="Text 11"/>
          <p:cNvSpPr txBox="1"/>
          <p:nvPr/>
        </p:nvSpPr>
        <p:spPr>
          <a:xfrm>
            <a:off x="8001000" y="379476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CUSTOM_EVENTS</a:t>
            </a:r>
            <a:endParaRPr lang="en-US" sz="1500" dirty="0"/>
          </a:p>
        </p:txBody>
      </p:sp>
      <p:sp>
        <p:nvSpPr>
          <p:cNvPr id="17" name="Text 12"/>
          <p:cNvSpPr txBox="1"/>
          <p:nvPr/>
        </p:nvSpPr>
        <p:spPr>
          <a:xfrm>
            <a:off x="8001000" y="414223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your known shocks (cyclone, conflict, energy crisis) for section 8</a:t>
            </a:r>
            <a:endParaRPr lang="en-US" sz="1300" dirty="0"/>
          </a:p>
        </p:txBody>
      </p:sp>
      <p:sp>
        <p:nvSpPr>
          <p:cNvPr id="18" name="Shape 13"/>
          <p:cNvSpPr/>
          <p:nvPr/>
        </p:nvSpPr>
        <p:spPr>
          <a:xfrm>
            <a:off x="7269480" y="5029200"/>
            <a:ext cx="594360" cy="594360"/>
          </a:xfrm>
          <a:prstGeom prst="ellipse">
            <a:avLst/>
          </a:prstGeom>
          <a:solidFill>
            <a:srgbClr val="00704A"/>
          </a:solidFill>
          <a:ln w="12700">
            <a:solidFill>
              <a:srgbClr val="00704A"/>
            </a:solidFill>
            <a:prstDash val="solid"/>
          </a:ln>
        </p:spPr>
      </p:sp>
      <p:pic>
        <p:nvPicPr>
          <p:cNvPr id="19" name="Image 3" descr="preencoded.png">    </p:cNvPr>
          <p:cNvPicPr>
            <a:picLocks noChangeAspect="1"/>
          </p:cNvPicPr>
          <p:nvPr/>
        </p:nvPicPr>
        <p:blipFill>
          <a:blip r:embed="rId4"/>
          <a:stretch>
            <a:fillRect/>
          </a:stretch>
        </p:blipFill>
        <p:spPr>
          <a:xfrm>
            <a:off x="7412126" y="5171846"/>
            <a:ext cx="309067" cy="309067"/>
          </a:xfrm>
          <a:prstGeom prst="rect">
            <a:avLst/>
          </a:prstGeom>
        </p:spPr>
      </p:pic>
      <p:sp>
        <p:nvSpPr>
          <p:cNvPr id="20" name="Text 14"/>
          <p:cNvSpPr txBox="1"/>
          <p:nvPr/>
        </p:nvSpPr>
        <p:spPr>
          <a:xfrm>
            <a:off x="8001000" y="4983480"/>
            <a:ext cx="365760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Other thresholds</a:t>
            </a:r>
            <a:endParaRPr lang="en-US" sz="1500" dirty="0"/>
          </a:p>
        </p:txBody>
      </p:sp>
      <p:sp>
        <p:nvSpPr>
          <p:cNvPr id="21" name="Text 15"/>
          <p:cNvSpPr txBox="1"/>
          <p:nvPr/>
        </p:nvSpPr>
        <p:spPr>
          <a:xfrm>
            <a:off x="8001000" y="5330952"/>
            <a:ext cx="3657600" cy="7772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documented defaults in src/config.py, overridable in NTLConfig(...)</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PREPROCESSING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Basic quantities: radiance, SoL, light per capita</a:t>
            </a:r>
            <a:endParaRPr lang="en-US" sz="2800" dirty="0"/>
          </a:p>
        </p:txBody>
      </p:sp>
      <p:pic>
        <p:nvPicPr>
          <p:cNvPr id="4" name="Image 0" descr="/tmp/claude-0/-home-claude/8a8742ef-7d0d-54fc-a0c9-7ecbfc9f8b73/scratchpad/deck/real/swiss_monthly.png">    </p:cNvPr>
          <p:cNvPicPr>
            <a:picLocks noChangeAspect="1"/>
          </p:cNvPicPr>
          <p:nvPr/>
        </p:nvPicPr>
        <p:blipFill>
          <a:blip r:embed="rId1"/>
          <a:stretch>
            <a:fillRect/>
          </a:stretch>
        </p:blipFill>
        <p:spPr>
          <a:xfrm>
            <a:off x="548640" y="1380095"/>
            <a:ext cx="6035040" cy="2497609"/>
          </a:xfrm>
          <a:prstGeom prst="rect">
            <a:avLst/>
          </a:prstGeom>
        </p:spPr>
      </p:pic>
      <p:sp>
        <p:nvSpPr>
          <p:cNvPr id="5" name="Text 2"/>
          <p:cNvSpPr txBox="1"/>
          <p:nvPr/>
        </p:nvSpPr>
        <p:spPr>
          <a:xfrm>
            <a:off x="548640" y="3886200"/>
            <a:ext cx="60350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Monthly Black Marble (VNP46A3), Switzerland, January 2023 — real image. Source: blackmarblepy (World Bank, MIT).</a:t>
            </a:r>
            <a:endParaRPr lang="en-US" sz="1000" dirty="0"/>
          </a:p>
        </p:txBody>
      </p:sp>
      <p:sp>
        <p:nvSpPr>
          <p:cNvPr id="6" name="Shape 3"/>
          <p:cNvSpPr/>
          <p:nvPr/>
        </p:nvSpPr>
        <p:spPr>
          <a:xfrm>
            <a:off x="6858000" y="1371600"/>
            <a:ext cx="480060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 name="Text 4"/>
          <p:cNvSpPr txBox="1"/>
          <p:nvPr/>
        </p:nvSpPr>
        <p:spPr>
          <a:xfrm>
            <a:off x="7040880" y="1444752"/>
            <a:ext cx="448056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Pixel radiance</a:t>
            </a:r>
            <a:endParaRPr lang="en-US" sz="1500" dirty="0"/>
          </a:p>
        </p:txBody>
      </p:sp>
      <p:sp>
        <p:nvSpPr>
          <p:cNvPr id="8" name="Shape 5"/>
          <p:cNvSpPr/>
          <p:nvPr/>
        </p:nvSpPr>
        <p:spPr>
          <a:xfrm>
            <a:off x="7040880" y="1801368"/>
            <a:ext cx="4434840" cy="438912"/>
          </a:xfrm>
          <a:prstGeom prst="roundRect">
            <a:avLst>
              <a:gd name="adj" fmla="val 25000"/>
            </a:avLst>
          </a:prstGeom>
          <a:solidFill>
            <a:srgbClr val="EAF2FB"/>
          </a:solidFill>
          <a:ln w="9525">
            <a:solidFill>
              <a:srgbClr val="EAF2FB"/>
            </a:solidFill>
            <a:prstDash val="solid"/>
          </a:ln>
        </p:spPr>
      </p:sp>
      <p:sp>
        <p:nvSpPr>
          <p:cNvPr id="9" name="Text 6"/>
          <p:cNvSpPr txBox="1"/>
          <p:nvPr/>
        </p:nvSpPr>
        <p:spPr>
          <a:xfrm>
            <a:off x="7178040" y="1801368"/>
            <a:ext cx="4160520" cy="438912"/>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r ᵢ  [nW·cm⁻²·sr⁻¹]</a:t>
            </a:r>
            <a:endParaRPr lang="en-US" sz="1500" dirty="0"/>
          </a:p>
        </p:txBody>
      </p:sp>
      <p:sp>
        <p:nvSpPr>
          <p:cNvPr id="10" name="Text 7"/>
          <p:cNvSpPr txBox="1"/>
          <p:nvPr/>
        </p:nvSpPr>
        <p:spPr>
          <a:xfrm>
            <a:off x="7040880" y="2286000"/>
            <a:ext cx="4480560" cy="34747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light intensity measured over ~500 m</a:t>
            </a:r>
            <a:endParaRPr lang="en-US" sz="1300" dirty="0"/>
          </a:p>
        </p:txBody>
      </p:sp>
      <p:sp>
        <p:nvSpPr>
          <p:cNvPr id="11" name="Shape 8"/>
          <p:cNvSpPr/>
          <p:nvPr/>
        </p:nvSpPr>
        <p:spPr>
          <a:xfrm>
            <a:off x="6858000" y="2852928"/>
            <a:ext cx="480060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2" name="Text 9"/>
          <p:cNvSpPr txBox="1"/>
          <p:nvPr/>
        </p:nvSpPr>
        <p:spPr>
          <a:xfrm>
            <a:off x="7040880" y="2926080"/>
            <a:ext cx="448056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Sum of lights (SoL)</a:t>
            </a:r>
            <a:endParaRPr lang="en-US" sz="1500" dirty="0"/>
          </a:p>
        </p:txBody>
      </p:sp>
      <p:sp>
        <p:nvSpPr>
          <p:cNvPr id="13" name="Shape 10"/>
          <p:cNvSpPr/>
          <p:nvPr/>
        </p:nvSpPr>
        <p:spPr>
          <a:xfrm>
            <a:off x="7040880" y="3282696"/>
            <a:ext cx="4434840" cy="438912"/>
          </a:xfrm>
          <a:prstGeom prst="roundRect">
            <a:avLst>
              <a:gd name="adj" fmla="val 25000"/>
            </a:avLst>
          </a:prstGeom>
          <a:solidFill>
            <a:srgbClr val="EAF2FB"/>
          </a:solidFill>
          <a:ln w="9525">
            <a:solidFill>
              <a:srgbClr val="EAF2FB"/>
            </a:solidFill>
            <a:prstDash val="solid"/>
          </a:ln>
        </p:spPr>
      </p:sp>
      <p:sp>
        <p:nvSpPr>
          <p:cNvPr id="14" name="Text 11"/>
          <p:cNvSpPr txBox="1"/>
          <p:nvPr/>
        </p:nvSpPr>
        <p:spPr>
          <a:xfrm>
            <a:off x="7178040" y="3282696"/>
            <a:ext cx="4160520" cy="438912"/>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SoL = Σ rᵢ   (i ∈ unit)</a:t>
            </a:r>
            <a:endParaRPr lang="en-US" sz="1500" dirty="0"/>
          </a:p>
        </p:txBody>
      </p:sp>
      <p:sp>
        <p:nvSpPr>
          <p:cNvPr id="15" name="Text 12"/>
          <p:cNvSpPr txBox="1"/>
          <p:nvPr/>
        </p:nvSpPr>
        <p:spPr>
          <a:xfrm>
            <a:off x="7040880" y="3767328"/>
            <a:ext cx="4480560" cy="34747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an activity index, not an energy</a:t>
            </a:r>
            <a:endParaRPr lang="en-US" sz="1300" dirty="0"/>
          </a:p>
        </p:txBody>
      </p:sp>
      <p:sp>
        <p:nvSpPr>
          <p:cNvPr id="16" name="Shape 13"/>
          <p:cNvSpPr/>
          <p:nvPr/>
        </p:nvSpPr>
        <p:spPr>
          <a:xfrm>
            <a:off x="6858000" y="4334256"/>
            <a:ext cx="480060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7" name="Text 14"/>
          <p:cNvSpPr txBox="1"/>
          <p:nvPr/>
        </p:nvSpPr>
        <p:spPr>
          <a:xfrm>
            <a:off x="7040880" y="4407408"/>
            <a:ext cx="448056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Light per capita</a:t>
            </a:r>
            <a:endParaRPr lang="en-US" sz="1500" dirty="0"/>
          </a:p>
        </p:txBody>
      </p:sp>
      <p:sp>
        <p:nvSpPr>
          <p:cNvPr id="18" name="Shape 15"/>
          <p:cNvSpPr/>
          <p:nvPr/>
        </p:nvSpPr>
        <p:spPr>
          <a:xfrm>
            <a:off x="7040880" y="4764024"/>
            <a:ext cx="4434840" cy="438912"/>
          </a:xfrm>
          <a:prstGeom prst="roundRect">
            <a:avLst>
              <a:gd name="adj" fmla="val 25000"/>
            </a:avLst>
          </a:prstGeom>
          <a:solidFill>
            <a:srgbClr val="EAF2FB"/>
          </a:solidFill>
          <a:ln w="9525">
            <a:solidFill>
              <a:srgbClr val="EAF2FB"/>
            </a:solidFill>
            <a:prstDash val="solid"/>
          </a:ln>
        </p:spPr>
      </p:sp>
      <p:sp>
        <p:nvSpPr>
          <p:cNvPr id="19" name="Text 16"/>
          <p:cNvSpPr txBox="1"/>
          <p:nvPr/>
        </p:nvSpPr>
        <p:spPr>
          <a:xfrm>
            <a:off x="7178040" y="4764024"/>
            <a:ext cx="4160520" cy="438912"/>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SoL / population</a:t>
            </a:r>
            <a:endParaRPr lang="en-US" sz="1500" dirty="0"/>
          </a:p>
        </p:txBody>
      </p:sp>
      <p:sp>
        <p:nvSpPr>
          <p:cNvPr id="20" name="Text 17"/>
          <p:cNvSpPr txBox="1"/>
          <p:nvPr/>
        </p:nvSpPr>
        <p:spPr>
          <a:xfrm>
            <a:off x="7040880" y="5248656"/>
            <a:ext cx="4480560" cy="34747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separates an active region from a populous one</a:t>
            </a:r>
            <a:endParaRPr lang="en-US" sz="1300" dirty="0"/>
          </a:p>
        </p:txBody>
      </p:sp>
      <p:sp>
        <p:nvSpPr>
          <p:cNvPr id="21" name="Shape 18"/>
          <p:cNvSpPr/>
          <p:nvPr/>
        </p:nvSpPr>
        <p:spPr>
          <a:xfrm>
            <a:off x="548640" y="4343400"/>
            <a:ext cx="6035040" cy="914400"/>
          </a:xfrm>
          <a:prstGeom prst="roundRect">
            <a:avLst>
              <a:gd name="adj" fmla="val 12000"/>
            </a:avLst>
          </a:prstGeom>
          <a:solidFill>
            <a:srgbClr val="FDF6E3"/>
          </a:solidFill>
          <a:ln w="9525">
            <a:solidFill>
              <a:srgbClr val="FDF6E3"/>
            </a:solidFill>
            <a:prstDash val="solid"/>
          </a:ln>
        </p:spPr>
      </p:sp>
      <p:sp>
        <p:nvSpPr>
          <p:cNvPr id="22" name="Text 19"/>
          <p:cNvSpPr txBox="1"/>
          <p:nvPr/>
        </p:nvSpPr>
        <p:spPr>
          <a:xfrm>
            <a:off x="685800" y="4416552"/>
            <a:ext cx="5760720" cy="76809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Golden rule  </a:t>
            </a:r>
            <a:pPr indent="0" marL="0">
              <a:spcAft>
                <a:spcPts val="200"/>
              </a:spcAft>
              <a:buNone/>
            </a:pPr>
            <a:r>
              <a:rPr lang="en-US" sz="1350" dirty="0">
                <a:solidFill>
                  <a:srgbClr val="231F20"/>
                </a:solidFill>
              </a:rPr>
              <a:t>a pixel that was never observed (clouds) is not dark: it is missing. Treating it as zero manufactures a false recession.</a:t>
            </a:r>
            <a:endParaRPr lang="en-US" sz="1350" dirty="0"/>
          </a:p>
        </p:txBody>
      </p:sp>
      <p:sp>
        <p:nvSpPr>
          <p:cNvPr id="23" name="Shape 20"/>
          <p:cNvSpPr/>
          <p:nvPr/>
        </p:nvSpPr>
        <p:spPr>
          <a:xfrm>
            <a:off x="548640" y="5394960"/>
            <a:ext cx="6035040" cy="777240"/>
          </a:xfrm>
          <a:prstGeom prst="roundRect">
            <a:avLst>
              <a:gd name="adj" fmla="val 14118"/>
            </a:avLst>
          </a:prstGeom>
          <a:solidFill>
            <a:srgbClr val="FBECEC"/>
          </a:solidFill>
          <a:ln w="9525">
            <a:solidFill>
              <a:srgbClr val="FBECEC"/>
            </a:solidFill>
            <a:prstDash val="solid"/>
          </a:ln>
        </p:spPr>
      </p:sp>
      <p:sp>
        <p:nvSpPr>
          <p:cNvPr id="24" name="Text 21"/>
          <p:cNvSpPr txBox="1"/>
          <p:nvPr/>
        </p:nvSpPr>
        <p:spPr>
          <a:xfrm>
            <a:off x="685800" y="5468112"/>
            <a:ext cx="5760720" cy="630936"/>
          </a:xfrm>
          <a:prstGeom prst="rect">
            <a:avLst/>
          </a:prstGeom>
          <a:noFill/>
          <a:ln/>
        </p:spPr>
        <p:txBody>
          <a:bodyPr wrap="square" lIns="635" tIns="635" rIns="635" bIns="635" rtlCol="0" anchor="ctr"/>
          <a:lstStyle/>
          <a:p>
            <a:pPr indent="0" marL="0">
              <a:spcAft>
                <a:spcPts val="200"/>
              </a:spcAft>
              <a:buNone/>
            </a:pPr>
            <a:r>
              <a:rPr lang="en-US" sz="1350" b="1" dirty="0">
                <a:solidFill>
                  <a:srgbClr val="D64545"/>
                </a:solidFill>
              </a:rPr>
              <a:t>Pitfall  </a:t>
            </a:r>
            <a:pPr indent="0" marL="0">
              <a:spcAft>
                <a:spcPts val="200"/>
              </a:spcAft>
              <a:buNone/>
            </a:pPr>
            <a:r>
              <a:rPr lang="en-US" sz="1350" dirty="0">
                <a:solidFill>
                  <a:srgbClr val="231F20"/>
                </a:solidFill>
              </a:rPr>
              <a:t>comparing the SoL of two regions of very different sizes: also reason per capita and as a national share.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PREPROCESSING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6-step preprocessing chain</a:t>
            </a:r>
            <a:endParaRPr lang="en-US" sz="2800" dirty="0"/>
          </a:p>
        </p:txBody>
      </p:sp>
      <p:sp>
        <p:nvSpPr>
          <p:cNvPr id="4" name="Shape 2"/>
          <p:cNvSpPr/>
          <p:nvPr/>
        </p:nvSpPr>
        <p:spPr>
          <a:xfrm>
            <a:off x="548640" y="141732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00200"/>
            <a:ext cx="566928" cy="566928"/>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67583" y="1736263"/>
            <a:ext cx="294803" cy="294803"/>
          </a:xfrm>
          <a:prstGeom prst="rect">
            <a:avLst/>
          </a:prstGeom>
        </p:spPr>
      </p:pic>
      <p:sp>
        <p:nvSpPr>
          <p:cNvPr id="7" name="Text 4"/>
          <p:cNvSpPr txBox="1"/>
          <p:nvPr/>
        </p:nvSpPr>
        <p:spPr>
          <a:xfrm>
            <a:off x="3520440" y="152704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1</a:t>
            </a:r>
            <a:endParaRPr lang="en-US" sz="2400" dirty="0"/>
          </a:p>
        </p:txBody>
      </p:sp>
      <p:sp>
        <p:nvSpPr>
          <p:cNvPr id="8" name="Text 5"/>
          <p:cNvSpPr txBox="1"/>
          <p:nvPr/>
        </p:nvSpPr>
        <p:spPr>
          <a:xfrm>
            <a:off x="1417320" y="161848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Clouds</a:t>
            </a:r>
            <a:endParaRPr lang="en-US" sz="1700" dirty="0"/>
          </a:p>
        </p:txBody>
      </p:sp>
      <p:sp>
        <p:nvSpPr>
          <p:cNvPr id="9" name="Text 6"/>
          <p:cNvSpPr txBox="1"/>
          <p:nvPr/>
        </p:nvSpPr>
        <p:spPr>
          <a:xfrm>
            <a:off x="731520" y="224028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pixel valid if cf_cvg ≥ 2; unit-month kept if ≥ 80% of pixels are valid, then rescaled</a:t>
            </a:r>
            <a:endParaRPr lang="en-US" sz="1300" dirty="0"/>
          </a:p>
        </p:txBody>
      </p:sp>
      <p:sp>
        <p:nvSpPr>
          <p:cNvPr id="10" name="Text 7"/>
          <p:cNvSpPr txBox="1"/>
          <p:nvPr/>
        </p:nvSpPr>
        <p:spPr>
          <a:xfrm>
            <a:off x="731520" y="308152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Why: </a:t>
            </a:r>
            <a:pPr indent="0" marL="0">
              <a:spcAft>
                <a:spcPts val="200"/>
              </a:spcAft>
              <a:buNone/>
            </a:pPr>
            <a:r>
              <a:rPr lang="en-US" sz="1200" i="1" dirty="0">
                <a:solidFill>
                  <a:srgbClr val="231F20"/>
                </a:solidFill>
              </a:rPr>
              <a:t>don't mistake a cloudy month for a recession</a:t>
            </a:r>
            <a:endParaRPr lang="en-US" sz="1200" dirty="0"/>
          </a:p>
        </p:txBody>
      </p:sp>
      <p:sp>
        <p:nvSpPr>
          <p:cNvPr id="11" name="Shape 8"/>
          <p:cNvSpPr/>
          <p:nvPr/>
        </p:nvSpPr>
        <p:spPr>
          <a:xfrm>
            <a:off x="4297680" y="141732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2" name="Shape 9"/>
          <p:cNvSpPr/>
          <p:nvPr/>
        </p:nvSpPr>
        <p:spPr>
          <a:xfrm>
            <a:off x="4480560" y="1600200"/>
            <a:ext cx="566928" cy="566928"/>
          </a:xfrm>
          <a:prstGeom prst="ellipse">
            <a:avLst/>
          </a:prstGeom>
          <a:solidFill>
            <a:srgbClr val="00704A"/>
          </a:solidFill>
          <a:ln w="12700">
            <a:solidFill>
              <a:srgbClr val="00704A"/>
            </a:solidFill>
            <a:prstDash val="solid"/>
          </a:ln>
        </p:spPr>
      </p:sp>
      <p:pic>
        <p:nvPicPr>
          <p:cNvPr id="13" name="Image 1" descr="preencoded.png">    </p:cNvPr>
          <p:cNvPicPr>
            <a:picLocks noChangeAspect="1"/>
          </p:cNvPicPr>
          <p:nvPr/>
        </p:nvPicPr>
        <p:blipFill>
          <a:blip r:embed="rId2"/>
          <a:stretch>
            <a:fillRect/>
          </a:stretch>
        </p:blipFill>
        <p:spPr>
          <a:xfrm>
            <a:off x="4616623" y="1736263"/>
            <a:ext cx="294803" cy="294803"/>
          </a:xfrm>
          <a:prstGeom prst="rect">
            <a:avLst/>
          </a:prstGeom>
        </p:spPr>
      </p:pic>
      <p:sp>
        <p:nvSpPr>
          <p:cNvPr id="14" name="Text 10"/>
          <p:cNvSpPr txBox="1"/>
          <p:nvPr/>
        </p:nvSpPr>
        <p:spPr>
          <a:xfrm>
            <a:off x="7269480" y="152704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2</a:t>
            </a:r>
            <a:endParaRPr lang="en-US" sz="2400" dirty="0"/>
          </a:p>
        </p:txBody>
      </p:sp>
      <p:sp>
        <p:nvSpPr>
          <p:cNvPr id="15" name="Text 11"/>
          <p:cNvSpPr txBox="1"/>
          <p:nvPr/>
        </p:nvSpPr>
        <p:spPr>
          <a:xfrm>
            <a:off x="5166360" y="161848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Negatives</a:t>
            </a:r>
            <a:endParaRPr lang="en-US" sz="1700" dirty="0"/>
          </a:p>
        </p:txBody>
      </p:sp>
      <p:sp>
        <p:nvSpPr>
          <p:cNvPr id="16" name="Text 12"/>
          <p:cNvSpPr txBox="1"/>
          <p:nvPr/>
        </p:nvSpPr>
        <p:spPr>
          <a:xfrm>
            <a:off x="4480560" y="224028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values &lt; 0 set to 0</a:t>
            </a:r>
            <a:endParaRPr lang="en-US" sz="1300" dirty="0"/>
          </a:p>
        </p:txBody>
      </p:sp>
      <p:sp>
        <p:nvSpPr>
          <p:cNvPr id="17" name="Text 13"/>
          <p:cNvSpPr txBox="1"/>
          <p:nvPr/>
        </p:nvSpPr>
        <p:spPr>
          <a:xfrm>
            <a:off x="4480560" y="308152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Why: </a:t>
            </a:r>
            <a:pPr indent="0" marL="0">
              <a:spcAft>
                <a:spcPts val="200"/>
              </a:spcAft>
              <a:buNone/>
            </a:pPr>
            <a:r>
              <a:rPr lang="en-US" sz="1200" i="1" dirty="0">
                <a:solidFill>
                  <a:srgbClr val="231F20"/>
                </a:solidFill>
              </a:rPr>
              <a:t>calibration noise over dark areas</a:t>
            </a:r>
            <a:endParaRPr lang="en-US" sz="1200" dirty="0"/>
          </a:p>
        </p:txBody>
      </p:sp>
      <p:sp>
        <p:nvSpPr>
          <p:cNvPr id="18" name="Shape 14"/>
          <p:cNvSpPr/>
          <p:nvPr/>
        </p:nvSpPr>
        <p:spPr>
          <a:xfrm>
            <a:off x="8046720" y="141732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9" name="Shape 15"/>
          <p:cNvSpPr/>
          <p:nvPr/>
        </p:nvSpPr>
        <p:spPr>
          <a:xfrm>
            <a:off x="8229600" y="1600200"/>
            <a:ext cx="566928" cy="566928"/>
          </a:xfrm>
          <a:prstGeom prst="ellipse">
            <a:avLst/>
          </a:prstGeom>
          <a:solidFill>
            <a:srgbClr val="00704A"/>
          </a:solidFill>
          <a:ln w="12700">
            <a:solidFill>
              <a:srgbClr val="00704A"/>
            </a:solidFill>
            <a:prstDash val="solid"/>
          </a:ln>
        </p:spPr>
      </p:sp>
      <p:pic>
        <p:nvPicPr>
          <p:cNvPr id="20" name="Image 2" descr="preencoded.png">    </p:cNvPr>
          <p:cNvPicPr>
            <a:picLocks noChangeAspect="1"/>
          </p:cNvPicPr>
          <p:nvPr/>
        </p:nvPicPr>
        <p:blipFill>
          <a:blip r:embed="rId3"/>
          <a:stretch>
            <a:fillRect/>
          </a:stretch>
        </p:blipFill>
        <p:spPr>
          <a:xfrm>
            <a:off x="8365663" y="1736263"/>
            <a:ext cx="294803" cy="294803"/>
          </a:xfrm>
          <a:prstGeom prst="rect">
            <a:avLst/>
          </a:prstGeom>
        </p:spPr>
      </p:pic>
      <p:sp>
        <p:nvSpPr>
          <p:cNvPr id="21" name="Text 16"/>
          <p:cNvSpPr txBox="1"/>
          <p:nvPr/>
        </p:nvSpPr>
        <p:spPr>
          <a:xfrm>
            <a:off x="11018520" y="152704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3</a:t>
            </a:r>
            <a:endParaRPr lang="en-US" sz="2400" dirty="0"/>
          </a:p>
        </p:txBody>
      </p:sp>
      <p:sp>
        <p:nvSpPr>
          <p:cNvPr id="22" name="Text 17"/>
          <p:cNvSpPr txBox="1"/>
          <p:nvPr/>
        </p:nvSpPr>
        <p:spPr>
          <a:xfrm>
            <a:off x="8915400" y="161848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Outliers</a:t>
            </a:r>
            <a:endParaRPr lang="en-US" sz="1700" dirty="0"/>
          </a:p>
        </p:txBody>
      </p:sp>
      <p:sp>
        <p:nvSpPr>
          <p:cNvPr id="23" name="Text 18"/>
          <p:cNvSpPr txBox="1"/>
          <p:nvPr/>
        </p:nvSpPr>
        <p:spPr>
          <a:xfrm>
            <a:off x="8229600" y="224028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cap of 1,000 nW; spike &gt; 5 × the pixel's annual median → median</a:t>
            </a:r>
            <a:endParaRPr lang="en-US" sz="1300" dirty="0"/>
          </a:p>
        </p:txBody>
      </p:sp>
      <p:sp>
        <p:nvSpPr>
          <p:cNvPr id="24" name="Text 19"/>
          <p:cNvSpPr txBox="1"/>
          <p:nvPr/>
        </p:nvSpPr>
        <p:spPr>
          <a:xfrm>
            <a:off x="8229600" y="308152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Why: </a:t>
            </a:r>
            <a:pPr indent="0" marL="0">
              <a:spcAft>
                <a:spcPts val="200"/>
              </a:spcAft>
              <a:buNone/>
            </a:pPr>
            <a:r>
              <a:rPr lang="en-US" sz="1200" i="1" dirty="0">
                <a:solidFill>
                  <a:srgbClr val="231F20"/>
                </a:solidFill>
              </a:rPr>
              <a:t>fires, lightning, glints</a:t>
            </a:r>
            <a:endParaRPr lang="en-US" sz="1200" dirty="0"/>
          </a:p>
        </p:txBody>
      </p:sp>
      <p:sp>
        <p:nvSpPr>
          <p:cNvPr id="25" name="Shape 20"/>
          <p:cNvSpPr/>
          <p:nvPr/>
        </p:nvSpPr>
        <p:spPr>
          <a:xfrm>
            <a:off x="548640" y="379476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6" name="Shape 21"/>
          <p:cNvSpPr/>
          <p:nvPr/>
        </p:nvSpPr>
        <p:spPr>
          <a:xfrm>
            <a:off x="731520" y="3977640"/>
            <a:ext cx="566928" cy="566928"/>
          </a:xfrm>
          <a:prstGeom prst="ellipse">
            <a:avLst/>
          </a:prstGeom>
          <a:solidFill>
            <a:srgbClr val="00704A"/>
          </a:solidFill>
          <a:ln w="12700">
            <a:solidFill>
              <a:srgbClr val="00704A"/>
            </a:solidFill>
            <a:prstDash val="solid"/>
          </a:ln>
        </p:spPr>
      </p:sp>
      <p:pic>
        <p:nvPicPr>
          <p:cNvPr id="27" name="Image 3" descr="preencoded.png">    </p:cNvPr>
          <p:cNvPicPr>
            <a:picLocks noChangeAspect="1"/>
          </p:cNvPicPr>
          <p:nvPr/>
        </p:nvPicPr>
        <p:blipFill>
          <a:blip r:embed="rId4"/>
          <a:stretch>
            <a:fillRect/>
          </a:stretch>
        </p:blipFill>
        <p:spPr>
          <a:xfrm>
            <a:off x="867583" y="4113703"/>
            <a:ext cx="294803" cy="294803"/>
          </a:xfrm>
          <a:prstGeom prst="rect">
            <a:avLst/>
          </a:prstGeom>
        </p:spPr>
      </p:pic>
      <p:sp>
        <p:nvSpPr>
          <p:cNvPr id="28" name="Text 22"/>
          <p:cNvSpPr txBox="1"/>
          <p:nvPr/>
        </p:nvSpPr>
        <p:spPr>
          <a:xfrm>
            <a:off x="3520440" y="390448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4</a:t>
            </a:r>
            <a:endParaRPr lang="en-US" sz="2400" dirty="0"/>
          </a:p>
        </p:txBody>
      </p:sp>
      <p:sp>
        <p:nvSpPr>
          <p:cNvPr id="29" name="Text 23"/>
          <p:cNvSpPr txBox="1"/>
          <p:nvPr/>
        </p:nvSpPr>
        <p:spPr>
          <a:xfrm>
            <a:off x="1417320" y="399592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Background</a:t>
            </a:r>
            <a:endParaRPr lang="en-US" sz="1700" dirty="0"/>
          </a:p>
        </p:txBody>
      </p:sp>
      <p:sp>
        <p:nvSpPr>
          <p:cNvPr id="30" name="Text 24"/>
          <p:cNvSpPr txBox="1"/>
          <p:nvPr/>
        </p:nvSpPr>
        <p:spPr>
          <a:xfrm>
            <a:off x="731520" y="461772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pixels unlit in the VNL V2 annual composite → 0</a:t>
            </a:r>
            <a:endParaRPr lang="en-US" sz="1300" dirty="0"/>
          </a:p>
        </p:txBody>
      </p:sp>
      <p:sp>
        <p:nvSpPr>
          <p:cNvPr id="31" name="Text 25"/>
          <p:cNvSpPr txBox="1"/>
          <p:nvPr/>
        </p:nvSpPr>
        <p:spPr>
          <a:xfrm>
            <a:off x="731520" y="545896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Why: </a:t>
            </a:r>
            <a:pPr indent="0" marL="0">
              <a:spcAft>
                <a:spcPts val="200"/>
              </a:spcAft>
              <a:buNone/>
            </a:pPr>
            <a:r>
              <a:rPr lang="en-US" sz="1200" i="1" dirty="0">
                <a:solidFill>
                  <a:srgbClr val="231F20"/>
                </a:solidFill>
              </a:rPr>
              <a:t>EOG already masks background and ephemeral lights</a:t>
            </a:r>
            <a:endParaRPr lang="en-US" sz="1200" dirty="0"/>
          </a:p>
        </p:txBody>
      </p:sp>
      <p:sp>
        <p:nvSpPr>
          <p:cNvPr id="32" name="Shape 26"/>
          <p:cNvSpPr/>
          <p:nvPr/>
        </p:nvSpPr>
        <p:spPr>
          <a:xfrm>
            <a:off x="4297680" y="379476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3" name="Shape 27"/>
          <p:cNvSpPr/>
          <p:nvPr/>
        </p:nvSpPr>
        <p:spPr>
          <a:xfrm>
            <a:off x="4480560" y="3977640"/>
            <a:ext cx="566928" cy="566928"/>
          </a:xfrm>
          <a:prstGeom prst="ellipse">
            <a:avLst/>
          </a:prstGeom>
          <a:solidFill>
            <a:srgbClr val="D64545"/>
          </a:solidFill>
          <a:ln w="12700">
            <a:solidFill>
              <a:srgbClr val="D64545"/>
            </a:solidFill>
            <a:prstDash val="solid"/>
          </a:ln>
        </p:spPr>
      </p:sp>
      <p:pic>
        <p:nvPicPr>
          <p:cNvPr id="34" name="Image 4" descr="preencoded.png">    </p:cNvPr>
          <p:cNvPicPr>
            <a:picLocks noChangeAspect="1"/>
          </p:cNvPicPr>
          <p:nvPr/>
        </p:nvPicPr>
        <p:blipFill>
          <a:blip r:embed="rId5"/>
          <a:stretch>
            <a:fillRect/>
          </a:stretch>
        </p:blipFill>
        <p:spPr>
          <a:xfrm>
            <a:off x="4616623" y="4113703"/>
            <a:ext cx="294803" cy="294803"/>
          </a:xfrm>
          <a:prstGeom prst="rect">
            <a:avLst/>
          </a:prstGeom>
        </p:spPr>
      </p:pic>
      <p:sp>
        <p:nvSpPr>
          <p:cNvPr id="35" name="Text 28"/>
          <p:cNvSpPr txBox="1"/>
          <p:nvPr/>
        </p:nvSpPr>
        <p:spPr>
          <a:xfrm>
            <a:off x="7269480" y="390448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5</a:t>
            </a:r>
            <a:endParaRPr lang="en-US" sz="2400" dirty="0"/>
          </a:p>
        </p:txBody>
      </p:sp>
      <p:sp>
        <p:nvSpPr>
          <p:cNvPr id="36" name="Text 29"/>
          <p:cNvSpPr txBox="1"/>
          <p:nvPr/>
        </p:nvSpPr>
        <p:spPr>
          <a:xfrm>
            <a:off x="5166360" y="399592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Gas flares</a:t>
            </a:r>
            <a:endParaRPr lang="en-US" sz="1700" dirty="0"/>
          </a:p>
        </p:txBody>
      </p:sp>
      <p:sp>
        <p:nvSpPr>
          <p:cNvPr id="37" name="Text 30"/>
          <p:cNvSpPr txBox="1"/>
          <p:nvPr/>
        </p:nvSpPr>
        <p:spPr>
          <a:xfrm>
            <a:off x="4480560" y="461772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 50 nW, &lt; 5 inhabitants, not built-up (union of years) + 2 km halo</a:t>
            </a:r>
            <a:endParaRPr lang="en-US" sz="1300" dirty="0"/>
          </a:p>
        </p:txBody>
      </p:sp>
      <p:sp>
        <p:nvSpPr>
          <p:cNvPr id="38" name="Text 31"/>
          <p:cNvSpPr txBox="1"/>
          <p:nvPr/>
        </p:nvSpPr>
        <p:spPr>
          <a:xfrm>
            <a:off x="4480560" y="545896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Why: </a:t>
            </a:r>
            <a:pPr indent="0" marL="0">
              <a:spcAft>
                <a:spcPts val="200"/>
              </a:spcAft>
              <a:buNone/>
            </a:pPr>
            <a:r>
              <a:rPr lang="en-US" sz="1200" i="1" dirty="0">
                <a:solidFill>
                  <a:srgbClr val="231F20"/>
                </a:solidFill>
              </a:rPr>
              <a:t>removes flared gas and its spill-over</a:t>
            </a:r>
            <a:endParaRPr lang="en-US" sz="1200" dirty="0"/>
          </a:p>
        </p:txBody>
      </p:sp>
      <p:sp>
        <p:nvSpPr>
          <p:cNvPr id="39" name="Shape 32"/>
          <p:cNvSpPr/>
          <p:nvPr/>
        </p:nvSpPr>
        <p:spPr>
          <a:xfrm>
            <a:off x="8046720" y="3794760"/>
            <a:ext cx="35661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40" name="Shape 33"/>
          <p:cNvSpPr/>
          <p:nvPr/>
        </p:nvSpPr>
        <p:spPr>
          <a:xfrm>
            <a:off x="8229600" y="3977640"/>
            <a:ext cx="566928" cy="566928"/>
          </a:xfrm>
          <a:prstGeom prst="ellipse">
            <a:avLst/>
          </a:prstGeom>
          <a:solidFill>
            <a:srgbClr val="00704A"/>
          </a:solidFill>
          <a:ln w="12700">
            <a:solidFill>
              <a:srgbClr val="00704A"/>
            </a:solidFill>
            <a:prstDash val="solid"/>
          </a:ln>
        </p:spPr>
      </p:sp>
      <p:pic>
        <p:nvPicPr>
          <p:cNvPr id="41" name="Image 5" descr="preencoded.png">    </p:cNvPr>
          <p:cNvPicPr>
            <a:picLocks noChangeAspect="1"/>
          </p:cNvPicPr>
          <p:nvPr/>
        </p:nvPicPr>
        <p:blipFill>
          <a:blip r:embed="rId6"/>
          <a:stretch>
            <a:fillRect/>
          </a:stretch>
        </p:blipFill>
        <p:spPr>
          <a:xfrm>
            <a:off x="8365663" y="4113703"/>
            <a:ext cx="294803" cy="294803"/>
          </a:xfrm>
          <a:prstGeom prst="rect">
            <a:avLst/>
          </a:prstGeom>
        </p:spPr>
      </p:pic>
      <p:sp>
        <p:nvSpPr>
          <p:cNvPr id="42" name="Text 34"/>
          <p:cNvSpPr txBox="1"/>
          <p:nvPr/>
        </p:nvSpPr>
        <p:spPr>
          <a:xfrm>
            <a:off x="11018520" y="3904488"/>
            <a:ext cx="457200" cy="457200"/>
          </a:xfrm>
          <a:prstGeom prst="rect">
            <a:avLst/>
          </a:prstGeom>
          <a:noFill/>
          <a:ln/>
        </p:spPr>
        <p:txBody>
          <a:bodyPr wrap="square" lIns="635" tIns="635" rIns="635" bIns="635" rtlCol="0" anchor="t"/>
          <a:lstStyle/>
          <a:p>
            <a:pPr algn="r" indent="0" marL="0">
              <a:spcAft>
                <a:spcPts val="200"/>
              </a:spcAft>
              <a:buNone/>
            </a:pPr>
            <a:r>
              <a:rPr lang="en-US" sz="2400" b="1" dirty="0">
                <a:solidFill>
                  <a:srgbClr val="F5C242"/>
                </a:solidFill>
              </a:rPr>
              <a:t>6</a:t>
            </a:r>
            <a:endParaRPr lang="en-US" sz="2400" dirty="0"/>
          </a:p>
        </p:txBody>
      </p:sp>
      <p:sp>
        <p:nvSpPr>
          <p:cNvPr id="43" name="Text 35"/>
          <p:cNvSpPr txBox="1"/>
          <p:nvPr/>
        </p:nvSpPr>
        <p:spPr>
          <a:xfrm>
            <a:off x="8915400" y="3995928"/>
            <a:ext cx="2194560" cy="502920"/>
          </a:xfrm>
          <a:prstGeom prst="rect">
            <a:avLst/>
          </a:prstGeom>
          <a:noFill/>
          <a:ln/>
        </p:spPr>
        <p:txBody>
          <a:bodyPr wrap="square" lIns="635" tIns="635" rIns="635" bIns="635" rtlCol="0" anchor="ctr"/>
          <a:lstStyle/>
          <a:p>
            <a:pPr indent="0" marL="0">
              <a:spcAft>
                <a:spcPts val="200"/>
              </a:spcAft>
              <a:buNone/>
            </a:pPr>
            <a:r>
              <a:rPr lang="en-US" sz="1700" b="1" dirty="0">
                <a:solidFill>
                  <a:srgbClr val="00553A"/>
                </a:solidFill>
              </a:rPr>
              <a:t>DMSP</a:t>
            </a:r>
            <a:endParaRPr lang="en-US" sz="1700" dirty="0"/>
          </a:p>
        </p:txBody>
      </p:sp>
      <p:sp>
        <p:nvSpPr>
          <p:cNvPr id="44" name="Text 36"/>
          <p:cNvSpPr txBox="1"/>
          <p:nvPr/>
        </p:nvSpPr>
        <p:spPr>
          <a:xfrm>
            <a:off x="8229600" y="4617720"/>
            <a:ext cx="3200400" cy="8686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share of saturated pixels measured; DN &gt; 7 threshold on the harmonised series</a:t>
            </a:r>
            <a:endParaRPr lang="en-US" sz="1300" dirty="0"/>
          </a:p>
        </p:txBody>
      </p:sp>
      <p:sp>
        <p:nvSpPr>
          <p:cNvPr id="45" name="Text 37"/>
          <p:cNvSpPr txBox="1"/>
          <p:nvPr/>
        </p:nvSpPr>
        <p:spPr>
          <a:xfrm>
            <a:off x="8229600" y="5458968"/>
            <a:ext cx="3200400" cy="457200"/>
          </a:xfrm>
          <a:prstGeom prst="rect">
            <a:avLst/>
          </a:prstGeom>
          <a:noFill/>
          <a:ln/>
        </p:spPr>
        <p:txBody>
          <a:bodyPr wrap="square" lIns="635" tIns="635" rIns="635" bIns="635" rtlCol="0" anchor="t"/>
          <a:lstStyle/>
          <a:p>
            <a:pPr indent="0" marL="0">
              <a:spcAft>
                <a:spcPts val="200"/>
              </a:spcAft>
              <a:buNone/>
            </a:pPr>
            <a:r>
              <a:rPr lang="en-US" sz="1200" b="1" i="1" dirty="0">
                <a:solidFill>
                  <a:srgbClr val="B7791F"/>
                </a:solidFill>
              </a:rPr>
              <a:t>Why: </a:t>
            </a:r>
            <a:pPr indent="0" marL="0">
              <a:spcAft>
                <a:spcPts val="200"/>
              </a:spcAft>
              <a:buNone/>
            </a:pPr>
            <a:r>
              <a:rPr lang="en-US" sz="1200" i="1" dirty="0">
                <a:solidFill>
                  <a:srgbClr val="231F20"/>
                </a:solidFill>
              </a:rPr>
              <a:t>recommendation of Li et al. (2020)</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PREPROCESSING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Clouds and quality: a missing pixel is not a dark pixel</a:t>
            </a:r>
            <a:endParaRPr lang="en-US" sz="2800" dirty="0"/>
          </a:p>
        </p:txBody>
      </p:sp>
      <p:pic>
        <p:nvPicPr>
          <p:cNvPr id="4" name="Image 0" descr="/tmp/claude-0/-home-claude/8a8742ef-7d0d-54fc-a0c9-7ecbfc9f8b73/scratchpad/deck/real/swiss_quality.png">    </p:cNvPr>
          <p:cNvPicPr>
            <a:picLocks noChangeAspect="1"/>
          </p:cNvPicPr>
          <p:nvPr/>
        </p:nvPicPr>
        <p:blipFill>
          <a:blip r:embed="rId1"/>
          <a:stretch>
            <a:fillRect/>
          </a:stretch>
        </p:blipFill>
        <p:spPr>
          <a:xfrm>
            <a:off x="548640" y="1380330"/>
            <a:ext cx="5577840" cy="2314260"/>
          </a:xfrm>
          <a:prstGeom prst="rect">
            <a:avLst/>
          </a:prstGeom>
        </p:spPr>
      </p:pic>
      <p:sp>
        <p:nvSpPr>
          <p:cNvPr id="5" name="Text 2"/>
          <p:cNvSpPr txBox="1"/>
          <p:nvPr/>
        </p:nvSpPr>
        <p:spPr>
          <a:xfrm>
            <a:off x="548640" y="3703320"/>
            <a:ext cx="5577840" cy="274320"/>
          </a:xfrm>
          <a:prstGeom prst="rect">
            <a:avLst/>
          </a:prstGeom>
          <a:noFill/>
          <a:ln/>
        </p:spPr>
        <p:txBody>
          <a:bodyPr wrap="square" lIns="635" tIns="635" rIns="635" bIns="635" rtlCol="0" anchor="t"/>
          <a:lstStyle/>
          <a:p>
            <a:pPr indent="0" marL="0">
              <a:spcAft>
                <a:spcPts val="200"/>
              </a:spcAft>
              <a:buNone/>
            </a:pPr>
            <a:r>
              <a:rPr lang="en-US" sz="1200" b="1" dirty="0">
                <a:solidFill>
                  <a:srgbClr val="00553A"/>
                </a:solidFill>
              </a:rPr>
              <a:t>Daily quality flag (VNP46A2), Switzerland, 1 Jan 2023</a:t>
            </a:r>
            <a:endParaRPr lang="en-US" sz="1200" dirty="0"/>
          </a:p>
        </p:txBody>
      </p:sp>
      <p:pic>
        <p:nvPicPr>
          <p:cNvPr id="6" name="Image 1" descr="/tmp/claude-0/-home-claude/8a8742ef-7d0d-54fc-a0c9-7ecbfc9f8b73/scratchpad/deck/real/swiss_nobs.png">    </p:cNvPr>
          <p:cNvPicPr>
            <a:picLocks noChangeAspect="1"/>
          </p:cNvPicPr>
          <p:nvPr/>
        </p:nvPicPr>
        <p:blipFill>
          <a:blip r:embed="rId2"/>
          <a:stretch>
            <a:fillRect/>
          </a:stretch>
        </p:blipFill>
        <p:spPr>
          <a:xfrm>
            <a:off x="6126480" y="1375410"/>
            <a:ext cx="5577840" cy="2324100"/>
          </a:xfrm>
          <a:prstGeom prst="rect">
            <a:avLst/>
          </a:prstGeom>
        </p:spPr>
      </p:pic>
      <p:sp>
        <p:nvSpPr>
          <p:cNvPr id="7" name="Text 3"/>
          <p:cNvSpPr txBox="1"/>
          <p:nvPr/>
        </p:nvSpPr>
        <p:spPr>
          <a:xfrm>
            <a:off x="6126480" y="3703320"/>
            <a:ext cx="5577840" cy="274320"/>
          </a:xfrm>
          <a:prstGeom prst="rect">
            <a:avLst/>
          </a:prstGeom>
          <a:noFill/>
          <a:ln/>
        </p:spPr>
        <p:txBody>
          <a:bodyPr wrap="square" lIns="635" tIns="635" rIns="635" bIns="635" rtlCol="0" anchor="t"/>
          <a:lstStyle/>
          <a:p>
            <a:pPr indent="0" marL="0">
              <a:spcAft>
                <a:spcPts val="200"/>
              </a:spcAft>
              <a:buNone/>
            </a:pPr>
            <a:r>
              <a:rPr lang="en-US" sz="1200" b="1" dirty="0">
                <a:solidFill>
                  <a:srgbClr val="00553A"/>
                </a:solidFill>
              </a:rPr>
              <a:t>Number of snow-free observations (VNP46A3), January 2023</a:t>
            </a:r>
            <a:endParaRPr lang="en-US" sz="1200" dirty="0"/>
          </a:p>
        </p:txBody>
      </p:sp>
      <p:sp>
        <p:nvSpPr>
          <p:cNvPr id="8" name="Text 4"/>
          <p:cNvSpPr txBox="1"/>
          <p:nvPr/>
        </p:nvSpPr>
        <p:spPr>
          <a:xfrm>
            <a:off x="548640" y="3977640"/>
            <a:ext cx="1106424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Real images — Source: NASA Black Marble via blackmarblepy, “quality-assessment” notebook (World Bank, MIT).</a:t>
            </a:r>
            <a:endParaRPr lang="en-US" sz="1000" dirty="0"/>
          </a:p>
        </p:txBody>
      </p:sp>
      <p:sp>
        <p:nvSpPr>
          <p:cNvPr id="9" name="Shape 5"/>
          <p:cNvSpPr/>
          <p:nvPr/>
        </p:nvSpPr>
        <p:spPr>
          <a:xfrm>
            <a:off x="548640" y="4389120"/>
            <a:ext cx="3566160" cy="1783080"/>
          </a:xfrm>
          <a:prstGeom prst="roundRect">
            <a:avLst>
              <a:gd name="adj" fmla="val 6154"/>
            </a:avLst>
          </a:prstGeom>
          <a:solidFill>
            <a:srgbClr val="E8F5EF"/>
          </a:solidFill>
          <a:ln w="9525">
            <a:solidFill>
              <a:srgbClr val="E8F5EF"/>
            </a:solidFill>
            <a:prstDash val="solid"/>
          </a:ln>
        </p:spPr>
      </p:sp>
      <p:sp>
        <p:nvSpPr>
          <p:cNvPr id="10" name="Text 6"/>
          <p:cNvSpPr txBox="1"/>
          <p:nvPr/>
        </p:nvSpPr>
        <p:spPr>
          <a:xfrm>
            <a:off x="685800" y="4462272"/>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Quality flags</a:t>
            </a:r>
            <a:endParaRPr lang="en-US" sz="1500" dirty="0"/>
          </a:p>
        </p:txBody>
      </p:sp>
      <p:sp>
        <p:nvSpPr>
          <p:cNvPr id="11" name="Text 7"/>
          <p:cNvSpPr txBox="1"/>
          <p:nvPr/>
        </p:nvSpPr>
        <p:spPr>
          <a:xfrm>
            <a:off x="685800" y="4809744"/>
            <a:ext cx="32918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Daily Black Marble: 0 = high-quality persistent, 1 = high-quality ephemeral, 2 = poor quality (clouds, moon…). The notebook keeps high quality only, cloud- and snow-free.</a:t>
            </a:r>
            <a:endParaRPr lang="en-US" sz="1250" dirty="0"/>
          </a:p>
        </p:txBody>
      </p:sp>
      <p:sp>
        <p:nvSpPr>
          <p:cNvPr id="12" name="Shape 8"/>
          <p:cNvSpPr/>
          <p:nvPr/>
        </p:nvSpPr>
        <p:spPr>
          <a:xfrm>
            <a:off x="4297680" y="4389120"/>
            <a:ext cx="3566160" cy="1783080"/>
          </a:xfrm>
          <a:prstGeom prst="roundRect">
            <a:avLst>
              <a:gd name="adj" fmla="val 6154"/>
            </a:avLst>
          </a:prstGeom>
          <a:solidFill>
            <a:srgbClr val="E8F5EF"/>
          </a:solidFill>
          <a:ln w="9525">
            <a:solidFill>
              <a:srgbClr val="E8F5EF"/>
            </a:solidFill>
            <a:prstDash val="solid"/>
          </a:ln>
        </p:spPr>
      </p:sp>
      <p:sp>
        <p:nvSpPr>
          <p:cNvPr id="13" name="Text 9"/>
          <p:cNvSpPr txBox="1"/>
          <p:nvPr/>
        </p:nvSpPr>
        <p:spPr>
          <a:xfrm>
            <a:off x="4434840" y="4462272"/>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Coverage cf_cvg</a:t>
            </a:r>
            <a:endParaRPr lang="en-US" sz="1500" dirty="0"/>
          </a:p>
        </p:txBody>
      </p:sp>
      <p:sp>
        <p:nvSpPr>
          <p:cNvPr id="14" name="Text 10"/>
          <p:cNvSpPr txBox="1"/>
          <p:nvPr/>
        </p:nvSpPr>
        <p:spPr>
          <a:xfrm>
            <a:off x="4434840" y="4809744"/>
            <a:ext cx="32918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Monthly VIIRS: number of cloud-free observations per pixel. In cloudy equatorial areas, one month may not be enough.</a:t>
            </a:r>
            <a:endParaRPr lang="en-US" sz="1250" dirty="0"/>
          </a:p>
        </p:txBody>
      </p:sp>
      <p:sp>
        <p:nvSpPr>
          <p:cNvPr id="15" name="Shape 11"/>
          <p:cNvSpPr/>
          <p:nvPr/>
        </p:nvSpPr>
        <p:spPr>
          <a:xfrm>
            <a:off x="8046720" y="4389120"/>
            <a:ext cx="3566160" cy="1783080"/>
          </a:xfrm>
          <a:prstGeom prst="roundRect">
            <a:avLst>
              <a:gd name="adj" fmla="val 6154"/>
            </a:avLst>
          </a:prstGeom>
          <a:solidFill>
            <a:srgbClr val="EAF2FB"/>
          </a:solidFill>
          <a:ln w="9525">
            <a:solidFill>
              <a:srgbClr val="EAF2FB"/>
            </a:solidFill>
            <a:prstDash val="solid"/>
          </a:ln>
        </p:spPr>
      </p:sp>
      <p:sp>
        <p:nvSpPr>
          <p:cNvPr id="16" name="Text 12"/>
          <p:cNvSpPr txBox="1"/>
          <p:nvPr/>
        </p:nvSpPr>
        <p:spPr>
          <a:xfrm>
            <a:off x="8183880" y="4462272"/>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Rescaling</a:t>
            </a:r>
            <a:endParaRPr lang="en-US" sz="1500" dirty="0"/>
          </a:p>
        </p:txBody>
      </p:sp>
      <p:sp>
        <p:nvSpPr>
          <p:cNvPr id="17" name="Text 13"/>
          <p:cNvSpPr txBox="1"/>
          <p:nvPr/>
        </p:nvSpPr>
        <p:spPr>
          <a:xfrm>
            <a:off x="8183880" y="4809744"/>
            <a:ext cx="32918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if 80–100% of pixels are valid, SoL is scaled up to the whole unit; below that, the month is excluded.</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PREPROCESSING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Gas flares and outliers: light without local activity</a:t>
            </a:r>
            <a:endParaRPr lang="en-US" sz="2800" dirty="0"/>
          </a:p>
        </p:txBody>
      </p:sp>
      <p:pic>
        <p:nvPicPr>
          <p:cNvPr id="4" name="Image 0" descr="/tmp/claude-0/-home-claude/8a8742ef-7d0d-54fc-a0c9-7ecbfc9f8b73/scratchpad/deck/img/preproc_en.png">    </p:cNvPr>
          <p:cNvPicPr>
            <a:picLocks noChangeAspect="1"/>
          </p:cNvPicPr>
          <p:nvPr/>
        </p:nvPicPr>
        <p:blipFill>
          <a:blip r:embed="rId1"/>
          <a:stretch>
            <a:fillRect/>
          </a:stretch>
        </p:blipFill>
        <p:spPr>
          <a:xfrm>
            <a:off x="548640" y="1396144"/>
            <a:ext cx="6949440" cy="2556952"/>
          </a:xfrm>
          <a:prstGeom prst="rect">
            <a:avLst/>
          </a:prstGeom>
        </p:spPr>
      </p:pic>
      <p:pic>
        <p:nvPicPr>
          <p:cNvPr id="5" name="Image 1" descr="/tmp/claude-0/-home-claude/8a8742ef-7d0d-54fc-a0c9-7ecbfc9f8b73/scratchpad/deck/img/spike_en.png">    </p:cNvPr>
          <p:cNvPicPr>
            <a:picLocks noChangeAspect="1"/>
          </p:cNvPicPr>
          <p:nvPr/>
        </p:nvPicPr>
        <p:blipFill>
          <a:blip r:embed="rId2"/>
          <a:stretch>
            <a:fillRect/>
          </a:stretch>
        </p:blipFill>
        <p:spPr>
          <a:xfrm>
            <a:off x="7680960" y="1430537"/>
            <a:ext cx="3977640" cy="2488165"/>
          </a:xfrm>
          <a:prstGeom prst="rect">
            <a:avLst/>
          </a:prstGeom>
        </p:spPr>
      </p:pic>
      <p:sp>
        <p:nvSpPr>
          <p:cNvPr id="6" name="Shape 2"/>
          <p:cNvSpPr/>
          <p:nvPr/>
        </p:nvSpPr>
        <p:spPr>
          <a:xfrm>
            <a:off x="548640" y="4206240"/>
            <a:ext cx="548640" cy="548640"/>
          </a:xfrm>
          <a:prstGeom prst="ellipse">
            <a:avLst/>
          </a:prstGeom>
          <a:solidFill>
            <a:srgbClr val="D64545"/>
          </a:solidFill>
          <a:ln w="12700">
            <a:solidFill>
              <a:srgbClr val="D64545"/>
            </a:solidFill>
            <a:prstDash val="solid"/>
          </a:ln>
        </p:spPr>
      </p:sp>
      <p:pic>
        <p:nvPicPr>
          <p:cNvPr id="7" name="Image 2" descr="preencoded.png">    </p:cNvPr>
          <p:cNvPicPr>
            <a:picLocks noChangeAspect="1"/>
          </p:cNvPicPr>
          <p:nvPr/>
        </p:nvPicPr>
        <p:blipFill>
          <a:blip r:embed="rId3"/>
          <a:stretch>
            <a:fillRect/>
          </a:stretch>
        </p:blipFill>
        <p:spPr>
          <a:xfrm>
            <a:off x="680314" y="4337914"/>
            <a:ext cx="285293" cy="285293"/>
          </a:xfrm>
          <a:prstGeom prst="rect">
            <a:avLst/>
          </a:prstGeom>
        </p:spPr>
      </p:pic>
      <p:sp>
        <p:nvSpPr>
          <p:cNvPr id="8" name="Text 3"/>
          <p:cNvSpPr txBox="1"/>
          <p:nvPr/>
        </p:nvSpPr>
        <p:spPr>
          <a:xfrm>
            <a:off x="1188720" y="4206240"/>
            <a:ext cx="1600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Detect</a:t>
            </a:r>
            <a:endParaRPr lang="en-US" sz="1500" dirty="0"/>
          </a:p>
        </p:txBody>
      </p:sp>
      <p:sp>
        <p:nvSpPr>
          <p:cNvPr id="9" name="Text 4"/>
          <p:cNvSpPr txBox="1"/>
          <p:nvPr/>
        </p:nvSpPr>
        <p:spPr>
          <a:xfrm>
            <a:off x="548640" y="4828032"/>
            <a:ext cx="219456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very bright (≥ 50 nW), nearly uninhabited (&lt; 5 inhabitants), not built-up pixels, over the union of years</a:t>
            </a:r>
            <a:endParaRPr lang="en-US" sz="1250" dirty="0"/>
          </a:p>
        </p:txBody>
      </p:sp>
      <p:sp>
        <p:nvSpPr>
          <p:cNvPr id="10" name="Shape 5"/>
          <p:cNvSpPr/>
          <p:nvPr/>
        </p:nvSpPr>
        <p:spPr>
          <a:xfrm>
            <a:off x="2880360" y="4206240"/>
            <a:ext cx="548640" cy="548640"/>
          </a:xfrm>
          <a:prstGeom prst="ellipse">
            <a:avLst/>
          </a:prstGeom>
          <a:solidFill>
            <a:srgbClr val="00704A"/>
          </a:solidFill>
          <a:ln w="12700">
            <a:solidFill>
              <a:srgbClr val="00704A"/>
            </a:solidFill>
            <a:prstDash val="solid"/>
          </a:ln>
        </p:spPr>
      </p:sp>
      <p:pic>
        <p:nvPicPr>
          <p:cNvPr id="11" name="Image 3" descr="preencoded.png">    </p:cNvPr>
          <p:cNvPicPr>
            <a:picLocks noChangeAspect="1"/>
          </p:cNvPicPr>
          <p:nvPr/>
        </p:nvPicPr>
        <p:blipFill>
          <a:blip r:embed="rId4"/>
          <a:stretch>
            <a:fillRect/>
          </a:stretch>
        </p:blipFill>
        <p:spPr>
          <a:xfrm>
            <a:off x="3012034" y="4337914"/>
            <a:ext cx="285293" cy="285293"/>
          </a:xfrm>
          <a:prstGeom prst="rect">
            <a:avLst/>
          </a:prstGeom>
        </p:spPr>
      </p:pic>
      <p:sp>
        <p:nvSpPr>
          <p:cNvPr id="12" name="Text 6"/>
          <p:cNvSpPr txBox="1"/>
          <p:nvPr/>
        </p:nvSpPr>
        <p:spPr>
          <a:xfrm>
            <a:off x="3520440" y="4206240"/>
            <a:ext cx="1600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Vectorise</a:t>
            </a:r>
            <a:endParaRPr lang="en-US" sz="1500" dirty="0"/>
          </a:p>
        </p:txBody>
      </p:sp>
      <p:sp>
        <p:nvSpPr>
          <p:cNvPr id="13" name="Text 7"/>
          <p:cNvSpPr txBox="1"/>
          <p:nvPr/>
        </p:nvSpPr>
        <p:spPr>
          <a:xfrm>
            <a:off x="2880360" y="4828032"/>
            <a:ext cx="219456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candidates become polygons, cached and exported for visual checking</a:t>
            </a:r>
            <a:endParaRPr lang="en-US" sz="1250" dirty="0"/>
          </a:p>
        </p:txBody>
      </p:sp>
      <p:sp>
        <p:nvSpPr>
          <p:cNvPr id="14" name="Shape 8"/>
          <p:cNvSpPr/>
          <p:nvPr/>
        </p:nvSpPr>
        <p:spPr>
          <a:xfrm>
            <a:off x="5212080" y="4206240"/>
            <a:ext cx="548640" cy="548640"/>
          </a:xfrm>
          <a:prstGeom prst="ellipse">
            <a:avLst/>
          </a:prstGeom>
          <a:solidFill>
            <a:srgbClr val="00704A"/>
          </a:solidFill>
          <a:ln w="12700">
            <a:solidFill>
              <a:srgbClr val="00704A"/>
            </a:solidFill>
            <a:prstDash val="solid"/>
          </a:ln>
        </p:spPr>
      </p:sp>
      <p:pic>
        <p:nvPicPr>
          <p:cNvPr id="15" name="Image 4" descr="preencoded.png">    </p:cNvPr>
          <p:cNvPicPr>
            <a:picLocks noChangeAspect="1"/>
          </p:cNvPicPr>
          <p:nvPr/>
        </p:nvPicPr>
        <p:blipFill>
          <a:blip r:embed="rId5"/>
          <a:stretch>
            <a:fillRect/>
          </a:stretch>
        </p:blipFill>
        <p:spPr>
          <a:xfrm>
            <a:off x="5343754" y="4337914"/>
            <a:ext cx="285293" cy="285293"/>
          </a:xfrm>
          <a:prstGeom prst="rect">
            <a:avLst/>
          </a:prstGeom>
        </p:spPr>
      </p:pic>
      <p:sp>
        <p:nvSpPr>
          <p:cNvPr id="16" name="Text 9"/>
          <p:cNvSpPr txBox="1"/>
          <p:nvPr/>
        </p:nvSpPr>
        <p:spPr>
          <a:xfrm>
            <a:off x="5852160" y="4206240"/>
            <a:ext cx="1600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Mask</a:t>
            </a:r>
            <a:endParaRPr lang="en-US" sz="1500" dirty="0"/>
          </a:p>
        </p:txBody>
      </p:sp>
      <p:sp>
        <p:nvSpPr>
          <p:cNvPr id="17" name="Text 10"/>
          <p:cNvSpPr txBox="1"/>
          <p:nvPr/>
        </p:nvSpPr>
        <p:spPr>
          <a:xfrm>
            <a:off x="5212080" y="4828032"/>
            <a:ext cx="219456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the polygon + a 2 km halo is removed from every year</a:t>
            </a:r>
            <a:endParaRPr lang="en-US" sz="1250" dirty="0"/>
          </a:p>
        </p:txBody>
      </p:sp>
      <p:sp>
        <p:nvSpPr>
          <p:cNvPr id="18" name="Shape 11"/>
          <p:cNvSpPr/>
          <p:nvPr/>
        </p:nvSpPr>
        <p:spPr>
          <a:xfrm>
            <a:off x="7680960" y="4206240"/>
            <a:ext cx="3977640" cy="1920240"/>
          </a:xfrm>
          <a:prstGeom prst="roundRect">
            <a:avLst>
              <a:gd name="adj" fmla="val 5714"/>
            </a:avLst>
          </a:prstGeom>
          <a:solidFill>
            <a:srgbClr val="FDF6E3"/>
          </a:solidFill>
          <a:ln w="9525">
            <a:solidFill>
              <a:srgbClr val="FDF6E3"/>
            </a:solidFill>
            <a:prstDash val="solid"/>
          </a:ln>
        </p:spPr>
      </p:sp>
      <p:sp>
        <p:nvSpPr>
          <p:cNvPr id="19" name="Text 12"/>
          <p:cNvSpPr txBox="1"/>
          <p:nvPr/>
        </p:nvSpPr>
        <p:spPr>
          <a:xfrm>
            <a:off x="7818120" y="4279392"/>
            <a:ext cx="3703320" cy="177393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How to read  </a:t>
            </a:r>
            <a:pPr indent="0" marL="0">
              <a:spcAft>
                <a:spcPts val="200"/>
              </a:spcAft>
              <a:buNone/>
            </a:pPr>
            <a:r>
              <a:rPr lang="en-US" sz="1350" dirty="0">
                <a:solidFill>
                  <a:srgbClr val="231F20"/>
                </a:solidFill>
              </a:rPr>
              <a:t>the quality-control table shows the share of light removed as gas flares. In an oil-producing country it can be large: check the exported list (flare_candidates.csv) on a map.</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D · PREPROCESSING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Quality control: six indicators to read before any analysis</a:t>
            </a:r>
            <a:endParaRPr lang="en-US" sz="2800" dirty="0"/>
          </a:p>
        </p:txBody>
      </p:sp>
      <p:sp>
        <p:nvSpPr>
          <p:cNvPr id="4" name="Shape 2"/>
          <p:cNvSpPr/>
          <p:nvPr/>
        </p:nvSpPr>
        <p:spPr>
          <a:xfrm>
            <a:off x="548640" y="1417320"/>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685800" y="1554480"/>
            <a:ext cx="457200" cy="45720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795528" y="1664208"/>
            <a:ext cx="237744" cy="237744"/>
          </a:xfrm>
          <a:prstGeom prst="rect">
            <a:avLst/>
          </a:prstGeom>
        </p:spPr>
      </p:pic>
      <p:sp>
        <p:nvSpPr>
          <p:cNvPr id="7" name="Text 4"/>
          <p:cNvSpPr txBox="1"/>
          <p:nvPr/>
        </p:nvSpPr>
        <p:spPr>
          <a:xfrm>
            <a:off x="1234440" y="1508760"/>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Months observed (national)</a:t>
            </a:r>
            <a:endParaRPr lang="en-US" sz="1350" dirty="0"/>
          </a:p>
        </p:txBody>
      </p:sp>
      <p:sp>
        <p:nvSpPr>
          <p:cNvPr id="8" name="Text 5"/>
          <p:cNvSpPr txBox="1"/>
          <p:nvPr/>
        </p:nvSpPr>
        <p:spPr>
          <a:xfrm>
            <a:off x="685800" y="2075688"/>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e.g. 132 / 132</a:t>
            </a:r>
            <a:endParaRPr lang="en-US" sz="1500" dirty="0"/>
          </a:p>
        </p:txBody>
      </p:sp>
      <p:sp>
        <p:nvSpPr>
          <p:cNvPr id="9" name="Text 6"/>
          <p:cNvSpPr txBox="1"/>
          <p:nvPr/>
        </p:nvSpPr>
        <p:spPr>
          <a:xfrm>
            <a:off x="685800" y="2404872"/>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gaps = broken series</a:t>
            </a:r>
            <a:endParaRPr lang="en-US" sz="1200" dirty="0"/>
          </a:p>
        </p:txBody>
      </p:sp>
      <p:sp>
        <p:nvSpPr>
          <p:cNvPr id="10" name="Shape 7"/>
          <p:cNvSpPr/>
          <p:nvPr/>
        </p:nvSpPr>
        <p:spPr>
          <a:xfrm>
            <a:off x="4206240" y="1417320"/>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Shape 8"/>
          <p:cNvSpPr/>
          <p:nvPr/>
        </p:nvSpPr>
        <p:spPr>
          <a:xfrm>
            <a:off x="4343400" y="1554480"/>
            <a:ext cx="457200" cy="457200"/>
          </a:xfrm>
          <a:prstGeom prst="ellipse">
            <a:avLst/>
          </a:prstGeom>
          <a:solidFill>
            <a:srgbClr val="00704A"/>
          </a:solidFill>
          <a:ln w="12700">
            <a:solidFill>
              <a:srgbClr val="00704A"/>
            </a:solidFill>
            <a:prstDash val="solid"/>
          </a:ln>
        </p:spPr>
      </p:sp>
      <p:pic>
        <p:nvPicPr>
          <p:cNvPr id="12" name="Image 1" descr="preencoded.png">    </p:cNvPr>
          <p:cNvPicPr>
            <a:picLocks noChangeAspect="1"/>
          </p:cNvPicPr>
          <p:nvPr/>
        </p:nvPicPr>
        <p:blipFill>
          <a:blip r:embed="rId2"/>
          <a:stretch>
            <a:fillRect/>
          </a:stretch>
        </p:blipFill>
        <p:spPr>
          <a:xfrm>
            <a:off x="4453128" y="1664208"/>
            <a:ext cx="237744" cy="237744"/>
          </a:xfrm>
          <a:prstGeom prst="rect">
            <a:avLst/>
          </a:prstGeom>
        </p:spPr>
      </p:pic>
      <p:sp>
        <p:nvSpPr>
          <p:cNvPr id="13" name="Text 9"/>
          <p:cNvSpPr txBox="1"/>
          <p:nvPr/>
        </p:nvSpPr>
        <p:spPr>
          <a:xfrm>
            <a:off x="4892040" y="1508760"/>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Mean cloud-free coverage</a:t>
            </a:r>
            <a:endParaRPr lang="en-US" sz="1350" dirty="0"/>
          </a:p>
        </p:txBody>
      </p:sp>
      <p:sp>
        <p:nvSpPr>
          <p:cNvPr id="14" name="Text 10"/>
          <p:cNvSpPr txBox="1"/>
          <p:nvPr/>
        </p:nvSpPr>
        <p:spPr>
          <a:xfrm>
            <a:off x="4343400" y="2075688"/>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e.g. 94%</a:t>
            </a:r>
            <a:endParaRPr lang="en-US" sz="1500" dirty="0"/>
          </a:p>
        </p:txBody>
      </p:sp>
      <p:sp>
        <p:nvSpPr>
          <p:cNvPr id="15" name="Text 11"/>
          <p:cNvSpPr txBox="1"/>
          <p:nvPr/>
        </p:nvSpPr>
        <p:spPr>
          <a:xfrm>
            <a:off x="4343400" y="2404872"/>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&lt; 80%: caution in the rainy season</a:t>
            </a:r>
            <a:endParaRPr lang="en-US" sz="1200" dirty="0"/>
          </a:p>
        </p:txBody>
      </p:sp>
      <p:sp>
        <p:nvSpPr>
          <p:cNvPr id="16" name="Shape 12"/>
          <p:cNvSpPr/>
          <p:nvPr/>
        </p:nvSpPr>
        <p:spPr>
          <a:xfrm>
            <a:off x="548640" y="2990088"/>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7" name="Shape 13"/>
          <p:cNvSpPr/>
          <p:nvPr/>
        </p:nvSpPr>
        <p:spPr>
          <a:xfrm>
            <a:off x="685800" y="3127248"/>
            <a:ext cx="457200" cy="457200"/>
          </a:xfrm>
          <a:prstGeom prst="ellipse">
            <a:avLst/>
          </a:prstGeom>
          <a:solidFill>
            <a:srgbClr val="00704A"/>
          </a:solidFill>
          <a:ln w="12700">
            <a:solidFill>
              <a:srgbClr val="00704A"/>
            </a:solidFill>
            <a:prstDash val="solid"/>
          </a:ln>
        </p:spPr>
      </p:sp>
      <p:pic>
        <p:nvPicPr>
          <p:cNvPr id="18" name="Image 2" descr="preencoded.png">    </p:cNvPr>
          <p:cNvPicPr>
            <a:picLocks noChangeAspect="1"/>
          </p:cNvPicPr>
          <p:nvPr/>
        </p:nvPicPr>
        <p:blipFill>
          <a:blip r:embed="rId3"/>
          <a:stretch>
            <a:fillRect/>
          </a:stretch>
        </p:blipFill>
        <p:spPr>
          <a:xfrm>
            <a:off x="795528" y="3236976"/>
            <a:ext cx="237744" cy="237744"/>
          </a:xfrm>
          <a:prstGeom prst="rect">
            <a:avLst/>
          </a:prstGeom>
        </p:spPr>
      </p:pic>
      <p:sp>
        <p:nvSpPr>
          <p:cNvPr id="19" name="Text 14"/>
          <p:cNvSpPr txBox="1"/>
          <p:nvPr/>
        </p:nvSpPr>
        <p:spPr>
          <a:xfrm>
            <a:off x="1234440" y="3081528"/>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Unit-months excluded</a:t>
            </a:r>
            <a:endParaRPr lang="en-US" sz="1350" dirty="0"/>
          </a:p>
        </p:txBody>
      </p:sp>
      <p:sp>
        <p:nvSpPr>
          <p:cNvPr id="20" name="Text 15"/>
          <p:cNvSpPr txBox="1"/>
          <p:nvPr/>
        </p:nvSpPr>
        <p:spPr>
          <a:xfrm>
            <a:off x="685800" y="3648456"/>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e.g. 3.1%</a:t>
            </a:r>
            <a:endParaRPr lang="en-US" sz="1500" dirty="0"/>
          </a:p>
        </p:txBody>
      </p:sp>
      <p:sp>
        <p:nvSpPr>
          <p:cNvPr id="21" name="Text 16"/>
          <p:cNvSpPr txBox="1"/>
          <p:nvPr/>
        </p:nvSpPr>
        <p:spPr>
          <a:xfrm>
            <a:off x="685800" y="3977640"/>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high: fragile regional series</a:t>
            </a:r>
            <a:endParaRPr lang="en-US" sz="1200" dirty="0"/>
          </a:p>
        </p:txBody>
      </p:sp>
      <p:sp>
        <p:nvSpPr>
          <p:cNvPr id="22" name="Shape 17"/>
          <p:cNvSpPr/>
          <p:nvPr/>
        </p:nvSpPr>
        <p:spPr>
          <a:xfrm>
            <a:off x="4206240" y="2990088"/>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3" name="Shape 18"/>
          <p:cNvSpPr/>
          <p:nvPr/>
        </p:nvSpPr>
        <p:spPr>
          <a:xfrm>
            <a:off x="4343400" y="3127248"/>
            <a:ext cx="457200" cy="457200"/>
          </a:xfrm>
          <a:prstGeom prst="ellipse">
            <a:avLst/>
          </a:prstGeom>
          <a:solidFill>
            <a:srgbClr val="00704A"/>
          </a:solidFill>
          <a:ln w="12700">
            <a:solidFill>
              <a:srgbClr val="00704A"/>
            </a:solidFill>
            <a:prstDash val="solid"/>
          </a:ln>
        </p:spPr>
      </p:sp>
      <p:pic>
        <p:nvPicPr>
          <p:cNvPr id="24" name="Image 3" descr="preencoded.png">    </p:cNvPr>
          <p:cNvPicPr>
            <a:picLocks noChangeAspect="1"/>
          </p:cNvPicPr>
          <p:nvPr/>
        </p:nvPicPr>
        <p:blipFill>
          <a:blip r:embed="rId4"/>
          <a:stretch>
            <a:fillRect/>
          </a:stretch>
        </p:blipFill>
        <p:spPr>
          <a:xfrm>
            <a:off x="4453128" y="3236976"/>
            <a:ext cx="237744" cy="237744"/>
          </a:xfrm>
          <a:prstGeom prst="rect">
            <a:avLst/>
          </a:prstGeom>
        </p:spPr>
      </p:pic>
      <p:sp>
        <p:nvSpPr>
          <p:cNvPr id="25" name="Text 19"/>
          <p:cNvSpPr txBox="1"/>
          <p:nvPr/>
        </p:nvSpPr>
        <p:spPr>
          <a:xfrm>
            <a:off x="4892040" y="3081528"/>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Light removed (flares)</a:t>
            </a:r>
            <a:endParaRPr lang="en-US" sz="1350" dirty="0"/>
          </a:p>
        </p:txBody>
      </p:sp>
      <p:sp>
        <p:nvSpPr>
          <p:cNvPr id="26" name="Text 20"/>
          <p:cNvSpPr txBox="1"/>
          <p:nvPr/>
        </p:nvSpPr>
        <p:spPr>
          <a:xfrm>
            <a:off x="4343400" y="3648456"/>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e.g. 0.8%</a:t>
            </a:r>
            <a:endParaRPr lang="en-US" sz="1500" dirty="0"/>
          </a:p>
        </p:txBody>
      </p:sp>
      <p:sp>
        <p:nvSpPr>
          <p:cNvPr id="27" name="Text 21"/>
          <p:cNvSpPr txBox="1"/>
          <p:nvPr/>
        </p:nvSpPr>
        <p:spPr>
          <a:xfrm>
            <a:off x="4343400" y="3977640"/>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high: check the masked sites</a:t>
            </a:r>
            <a:endParaRPr lang="en-US" sz="1200" dirty="0"/>
          </a:p>
        </p:txBody>
      </p:sp>
      <p:sp>
        <p:nvSpPr>
          <p:cNvPr id="28" name="Shape 22"/>
          <p:cNvSpPr/>
          <p:nvPr/>
        </p:nvSpPr>
        <p:spPr>
          <a:xfrm>
            <a:off x="548640" y="4562856"/>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9" name="Shape 23"/>
          <p:cNvSpPr/>
          <p:nvPr/>
        </p:nvSpPr>
        <p:spPr>
          <a:xfrm>
            <a:off x="685800" y="4700016"/>
            <a:ext cx="457200" cy="457200"/>
          </a:xfrm>
          <a:prstGeom prst="ellipse">
            <a:avLst/>
          </a:prstGeom>
          <a:solidFill>
            <a:srgbClr val="00704A"/>
          </a:solidFill>
          <a:ln w="12700">
            <a:solidFill>
              <a:srgbClr val="00704A"/>
            </a:solidFill>
            <a:prstDash val="solid"/>
          </a:ln>
        </p:spPr>
      </p:sp>
      <p:pic>
        <p:nvPicPr>
          <p:cNvPr id="30" name="Image 4" descr="preencoded.png">    </p:cNvPr>
          <p:cNvPicPr>
            <a:picLocks noChangeAspect="1"/>
          </p:cNvPicPr>
          <p:nvPr/>
        </p:nvPicPr>
        <p:blipFill>
          <a:blip r:embed="rId5"/>
          <a:stretch>
            <a:fillRect/>
          </a:stretch>
        </p:blipFill>
        <p:spPr>
          <a:xfrm>
            <a:off x="795528" y="4809744"/>
            <a:ext cx="237744" cy="237744"/>
          </a:xfrm>
          <a:prstGeom prst="rect">
            <a:avLst/>
          </a:prstGeom>
        </p:spPr>
      </p:pic>
      <p:sp>
        <p:nvSpPr>
          <p:cNvPr id="31" name="Text 24"/>
          <p:cNvSpPr txBox="1"/>
          <p:nvPr/>
        </p:nvSpPr>
        <p:spPr>
          <a:xfrm>
            <a:off x="1234440" y="4654296"/>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Population source</a:t>
            </a:r>
            <a:endParaRPr lang="en-US" sz="1350" dirty="0"/>
          </a:p>
        </p:txBody>
      </p:sp>
      <p:sp>
        <p:nvSpPr>
          <p:cNvPr id="32" name="Text 25"/>
          <p:cNvSpPr txBox="1"/>
          <p:nvPr/>
        </p:nvSpPr>
        <p:spPr>
          <a:xfrm>
            <a:off x="685800" y="5221224"/>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GHSL — 2025</a:t>
            </a:r>
            <a:endParaRPr lang="en-US" sz="1500" dirty="0"/>
          </a:p>
        </p:txBody>
      </p:sp>
      <p:sp>
        <p:nvSpPr>
          <p:cNvPr id="33" name="Text 26"/>
          <p:cNvSpPr txBox="1"/>
          <p:nvPr/>
        </p:nvSpPr>
        <p:spPr>
          <a:xfrm>
            <a:off x="685800" y="5550408"/>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GHSL by default, WorldPop as an option</a:t>
            </a:r>
            <a:endParaRPr lang="en-US" sz="1200" dirty="0"/>
          </a:p>
        </p:txBody>
      </p:sp>
      <p:sp>
        <p:nvSpPr>
          <p:cNvPr id="34" name="Shape 27"/>
          <p:cNvSpPr/>
          <p:nvPr/>
        </p:nvSpPr>
        <p:spPr>
          <a:xfrm>
            <a:off x="4206240" y="4562856"/>
            <a:ext cx="3474720" cy="1417320"/>
          </a:xfrm>
          <a:prstGeom prst="roundRect">
            <a:avLst>
              <a:gd name="adj" fmla="val 7742"/>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5" name="Shape 28"/>
          <p:cNvSpPr/>
          <p:nvPr/>
        </p:nvSpPr>
        <p:spPr>
          <a:xfrm>
            <a:off x="4343400" y="4700016"/>
            <a:ext cx="457200" cy="457200"/>
          </a:xfrm>
          <a:prstGeom prst="ellipse">
            <a:avLst/>
          </a:prstGeom>
          <a:solidFill>
            <a:srgbClr val="00704A"/>
          </a:solidFill>
          <a:ln w="12700">
            <a:solidFill>
              <a:srgbClr val="00704A"/>
            </a:solidFill>
            <a:prstDash val="solid"/>
          </a:ln>
        </p:spPr>
      </p:sp>
      <p:pic>
        <p:nvPicPr>
          <p:cNvPr id="36" name="Image 5" descr="preencoded.png">    </p:cNvPr>
          <p:cNvPicPr>
            <a:picLocks noChangeAspect="1"/>
          </p:cNvPicPr>
          <p:nvPr/>
        </p:nvPicPr>
        <p:blipFill>
          <a:blip r:embed="rId6"/>
          <a:stretch>
            <a:fillRect/>
          </a:stretch>
        </p:blipFill>
        <p:spPr>
          <a:xfrm>
            <a:off x="4453128" y="4809744"/>
            <a:ext cx="237744" cy="237744"/>
          </a:xfrm>
          <a:prstGeom prst="rect">
            <a:avLst/>
          </a:prstGeom>
        </p:spPr>
      </p:pic>
      <p:sp>
        <p:nvSpPr>
          <p:cNvPr id="37" name="Text 29"/>
          <p:cNvSpPr txBox="1"/>
          <p:nvPr/>
        </p:nvSpPr>
        <p:spPr>
          <a:xfrm>
            <a:off x="4892040" y="4654296"/>
            <a:ext cx="2697480" cy="54864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DMSP saturation</a:t>
            </a:r>
            <a:endParaRPr lang="en-US" sz="1350" dirty="0"/>
          </a:p>
        </p:txBody>
      </p:sp>
      <p:sp>
        <p:nvSpPr>
          <p:cNvPr id="38" name="Text 30"/>
          <p:cNvSpPr txBox="1"/>
          <p:nvPr/>
        </p:nvSpPr>
        <p:spPr>
          <a:xfrm>
            <a:off x="4343400" y="5221224"/>
            <a:ext cx="320040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latin typeface="Cambria" pitchFamily="34" charset="0"/>
                <a:ea typeface="Cambria" pitchFamily="34" charset="-122"/>
                <a:cs typeface="Cambria" pitchFamily="34" charset="-120"/>
              </a:rPr>
              <a:t>e.g. 0.45%</a:t>
            </a:r>
            <a:endParaRPr lang="en-US" sz="1500" dirty="0"/>
          </a:p>
        </p:txBody>
      </p:sp>
      <p:sp>
        <p:nvSpPr>
          <p:cNvPr id="39" name="Text 31"/>
          <p:cNvSpPr txBox="1"/>
          <p:nvPr/>
        </p:nvSpPr>
        <p:spPr>
          <a:xfrm>
            <a:off x="4343400" y="5550408"/>
            <a:ext cx="3200400" cy="365760"/>
          </a:xfrm>
          <a:prstGeom prst="rect">
            <a:avLst/>
          </a:prstGeom>
          <a:noFill/>
          <a:ln/>
        </p:spPr>
        <p:txBody>
          <a:bodyPr wrap="square" lIns="635" tIns="635" rIns="635" bIns="635" rtlCol="0" anchor="t"/>
          <a:lstStyle/>
          <a:p>
            <a:pPr indent="0" marL="0">
              <a:spcAft>
                <a:spcPts val="200"/>
              </a:spcAft>
              <a:buNone/>
            </a:pPr>
            <a:r>
              <a:rPr lang="en-US" sz="1200" i="1" dirty="0">
                <a:solidFill>
                  <a:srgbClr val="231F20"/>
                </a:solidFill>
              </a:rPr>
              <a:t>high: long series less reliable in cities</a:t>
            </a:r>
            <a:endParaRPr lang="en-US" sz="1200" dirty="0"/>
          </a:p>
        </p:txBody>
      </p:sp>
      <p:sp>
        <p:nvSpPr>
          <p:cNvPr id="40" name="Shape 32"/>
          <p:cNvSpPr/>
          <p:nvPr/>
        </p:nvSpPr>
        <p:spPr>
          <a:xfrm>
            <a:off x="8001000" y="1417320"/>
            <a:ext cx="3657600" cy="2743200"/>
          </a:xfrm>
          <a:prstGeom prst="roundRect">
            <a:avLst>
              <a:gd name="adj" fmla="val 4000"/>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41" name="Text 33"/>
          <p:cNvSpPr txBox="1"/>
          <p:nvPr/>
        </p:nvSpPr>
        <p:spPr>
          <a:xfrm>
            <a:off x="8183880" y="1508760"/>
            <a:ext cx="3291840" cy="365760"/>
          </a:xfrm>
          <a:prstGeom prst="rect">
            <a:avLst/>
          </a:prstGeom>
          <a:noFill/>
          <a:ln/>
        </p:spPr>
        <p:txBody>
          <a:bodyPr wrap="square" lIns="635" tIns="635" rIns="635" bIns="635" rtlCol="0" anchor="t"/>
          <a:lstStyle/>
          <a:p>
            <a:pPr indent="0" marL="0">
              <a:spcAft>
                <a:spcPts val="200"/>
              </a:spcAft>
              <a:buNone/>
            </a:pPr>
            <a:r>
              <a:rPr lang="en-US" sz="1600" b="1" dirty="0">
                <a:solidFill>
                  <a:srgbClr val="F5C242"/>
                </a:solidFill>
              </a:rPr>
              <a:t>DMSP → VIIRS junction</a:t>
            </a:r>
            <a:endParaRPr lang="en-US" sz="1600" dirty="0"/>
          </a:p>
        </p:txBody>
      </p:sp>
      <p:sp>
        <p:nvSpPr>
          <p:cNvPr id="42" name="Text 34"/>
          <p:cNvSpPr txBox="1"/>
          <p:nvPr/>
        </p:nvSpPr>
        <p:spPr>
          <a:xfrm>
            <a:off x="8183880" y="1920240"/>
            <a:ext cx="3291840" cy="2148840"/>
          </a:xfrm>
          <a:prstGeom prst="rect">
            <a:avLst/>
          </a:prstGeom>
          <a:noFill/>
          <a:ln/>
        </p:spPr>
        <p:txBody>
          <a:bodyPr wrap="square" lIns="635" tIns="635" rIns="635" bIns="635" rtlCol="0" anchor="t"/>
          <a:lstStyle/>
          <a:p>
            <a:pPr indent="0" marL="0">
              <a:spcAft>
                <a:spcPts val="200"/>
              </a:spcAft>
              <a:buNone/>
            </a:pPr>
            <a:r>
              <a:rPr lang="en-US" sz="1300" dirty="0">
                <a:solidFill>
                  <a:srgbClr val="FFFFFF"/>
                </a:solidFill>
              </a:rPr>
              <a:t>The notebook compares growth 2012→13, the 2013→14 junction and 2014→15. A jump at the junction very different from neighbouring years signals a residual sensor break: the long series must then be read with caution.</a:t>
            </a:r>
            <a:endParaRPr lang="en-US" sz="1300" dirty="0"/>
          </a:p>
        </p:txBody>
      </p:sp>
      <p:sp>
        <p:nvSpPr>
          <p:cNvPr id="43" name="Shape 35"/>
          <p:cNvSpPr/>
          <p:nvPr/>
        </p:nvSpPr>
        <p:spPr>
          <a:xfrm>
            <a:off x="8001000" y="4343400"/>
            <a:ext cx="3657600" cy="1737360"/>
          </a:xfrm>
          <a:prstGeom prst="roundRect">
            <a:avLst>
              <a:gd name="adj" fmla="val 6316"/>
            </a:avLst>
          </a:prstGeom>
          <a:solidFill>
            <a:srgbClr val="FDF6E3"/>
          </a:solidFill>
          <a:ln w="9525">
            <a:solidFill>
              <a:srgbClr val="FDF6E3"/>
            </a:solidFill>
            <a:prstDash val="solid"/>
          </a:ln>
        </p:spPr>
      </p:sp>
      <p:sp>
        <p:nvSpPr>
          <p:cNvPr id="44" name="Text 36"/>
          <p:cNvSpPr txBox="1"/>
          <p:nvPr/>
        </p:nvSpPr>
        <p:spPr>
          <a:xfrm>
            <a:off x="8138160" y="4416552"/>
            <a:ext cx="3383280" cy="1591056"/>
          </a:xfrm>
          <a:prstGeom prst="rect">
            <a:avLst/>
          </a:prstGeom>
          <a:noFill/>
          <a:ln/>
        </p:spPr>
        <p:txBody>
          <a:bodyPr wrap="square" lIns="635" tIns="635" rIns="635" bIns="635" rtlCol="0" anchor="ctr"/>
          <a:lstStyle/>
          <a:p>
            <a:pPr indent="0" marL="0">
              <a:spcAft>
                <a:spcPts val="200"/>
              </a:spcAft>
              <a:buNone/>
            </a:pPr>
            <a:r>
              <a:rPr lang="en-US" sz="1350" b="1" dirty="0">
                <a:solidFill>
                  <a:srgbClr val="B7791F"/>
                </a:solidFill>
              </a:rPr>
              <a:t>How to read  </a:t>
            </a:r>
            <a:pPr indent="0" marL="0">
              <a:spcAft>
                <a:spcPts val="200"/>
              </a:spcAft>
              <a:buNone/>
            </a:pPr>
            <a:r>
              <a:rPr lang="en-US" sz="1350" dirty="0">
                <a:solidFill>
                  <a:srgbClr val="231F20"/>
                </a:solidFill>
              </a:rPr>
              <a:t>the “e.g.” values are format examples. If any indicator is high, the results that depend on it are less reliable.</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4</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Exploration: look before you compute</a:t>
            </a:r>
            <a:endParaRPr lang="en-US" sz="2800" dirty="0"/>
          </a:p>
        </p:txBody>
      </p:sp>
      <p:pic>
        <p:nvPicPr>
          <p:cNvPr id="4" name="Image 0" descr="/tmp/claude-0/-home-claude/8a8742ef-7d0d-54fc-a0c9-7ecbfc9f8b73/scratchpad/deck/img/distribution_en.png">    </p:cNvPr>
          <p:cNvPicPr>
            <a:picLocks noChangeAspect="1"/>
          </p:cNvPicPr>
          <p:nvPr/>
        </p:nvPicPr>
        <p:blipFill>
          <a:blip r:embed="rId1"/>
          <a:stretch>
            <a:fillRect/>
          </a:stretch>
        </p:blipFill>
        <p:spPr>
          <a:xfrm>
            <a:off x="548640" y="1396068"/>
            <a:ext cx="6766560" cy="2694265"/>
          </a:xfrm>
          <a:prstGeom prst="rect">
            <a:avLst/>
          </a:prstGeom>
        </p:spPr>
      </p:pic>
      <p:pic>
        <p:nvPicPr>
          <p:cNvPr id="5" name="Image 1" descr="/tmp/claude-0/-home-claude/8a8742ef-7d0d-54fc-a0c9-7ecbfc9f8b73/scratchpad/deck/real/ghana_map.png">    </p:cNvPr>
          <p:cNvPicPr>
            <a:picLocks noChangeAspect="1"/>
          </p:cNvPicPr>
          <p:nvPr/>
        </p:nvPicPr>
        <p:blipFill>
          <a:blip r:embed="rId2"/>
          <a:stretch>
            <a:fillRect/>
          </a:stretch>
        </p:blipFill>
        <p:spPr>
          <a:xfrm>
            <a:off x="8073811" y="1325880"/>
            <a:ext cx="3100499" cy="3611880"/>
          </a:xfrm>
          <a:prstGeom prst="rect">
            <a:avLst/>
          </a:prstGeom>
        </p:spPr>
      </p:pic>
      <p:sp>
        <p:nvSpPr>
          <p:cNvPr id="6" name="Text 2"/>
          <p:cNvSpPr txBox="1"/>
          <p:nvPr/>
        </p:nvSpPr>
        <p:spPr>
          <a:xfrm>
            <a:off x="7589520" y="4937760"/>
            <a:ext cx="4069080" cy="274320"/>
          </a:xfrm>
          <a:prstGeom prst="rect">
            <a:avLst/>
          </a:prstGeom>
          <a:noFill/>
          <a:ln/>
        </p:spPr>
        <p:txBody>
          <a:bodyPr wrap="square" lIns="635" tIns="635" rIns="635" bIns="635" rtlCol="0" anchor="t"/>
          <a:lstStyle/>
          <a:p>
            <a:pPr algn="l" indent="0" marL="0">
              <a:spcAft>
                <a:spcPts val="200"/>
              </a:spcAft>
              <a:buNone/>
            </a:pPr>
            <a:r>
              <a:rPr lang="en-US" sz="1000" i="1" dirty="0">
                <a:solidFill>
                  <a:srgbClr val="6B7280"/>
                </a:solidFill>
              </a:rPr>
              <a:t>Annual Black Marble 2025, Ghana (real). Source: blackmarblepy (MIT).</a:t>
            </a:r>
            <a:endParaRPr lang="en-US" sz="1000" dirty="0"/>
          </a:p>
        </p:txBody>
      </p:sp>
      <p:sp>
        <p:nvSpPr>
          <p:cNvPr id="7" name="Shape 3"/>
          <p:cNvSpPr/>
          <p:nvPr/>
        </p:nvSpPr>
        <p:spPr>
          <a:xfrm>
            <a:off x="548640" y="4343400"/>
            <a:ext cx="502920" cy="502920"/>
          </a:xfrm>
          <a:prstGeom prst="ellipse">
            <a:avLst/>
          </a:prstGeom>
          <a:solidFill>
            <a:srgbClr val="00704A"/>
          </a:solidFill>
          <a:ln w="12700">
            <a:solidFill>
              <a:srgbClr val="00704A"/>
            </a:solidFill>
            <a:prstDash val="solid"/>
          </a:ln>
        </p:spPr>
      </p:sp>
      <p:pic>
        <p:nvPicPr>
          <p:cNvPr id="8" name="Image 2" descr="preencoded.png">    </p:cNvPr>
          <p:cNvPicPr>
            <a:picLocks noChangeAspect="1"/>
          </p:cNvPicPr>
          <p:nvPr/>
        </p:nvPicPr>
        <p:blipFill>
          <a:blip r:embed="rId3"/>
          <a:stretch>
            <a:fillRect/>
          </a:stretch>
        </p:blipFill>
        <p:spPr>
          <a:xfrm>
            <a:off x="669341" y="4464101"/>
            <a:ext cx="261518" cy="261518"/>
          </a:xfrm>
          <a:prstGeom prst="rect">
            <a:avLst/>
          </a:prstGeom>
        </p:spPr>
      </p:pic>
      <p:sp>
        <p:nvSpPr>
          <p:cNvPr id="9" name="Text 4"/>
          <p:cNvSpPr txBox="1"/>
          <p:nvPr/>
        </p:nvSpPr>
        <p:spPr>
          <a:xfrm>
            <a:off x="1143000" y="4315968"/>
            <a:ext cx="1645920" cy="566928"/>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Interactive map</a:t>
            </a:r>
            <a:endParaRPr lang="en-US" sz="1350" dirty="0"/>
          </a:p>
        </p:txBody>
      </p:sp>
      <p:sp>
        <p:nvSpPr>
          <p:cNvPr id="10" name="Text 5"/>
          <p:cNvSpPr txBox="1"/>
          <p:nvPr/>
        </p:nvSpPr>
        <p:spPr>
          <a:xfrm>
            <a:off x="548640" y="4919472"/>
            <a:ext cx="2148840" cy="5486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annual composite with a time slider</a:t>
            </a:r>
            <a:endParaRPr lang="en-US" sz="1250" dirty="0"/>
          </a:p>
        </p:txBody>
      </p:sp>
      <p:sp>
        <p:nvSpPr>
          <p:cNvPr id="11" name="Shape 6"/>
          <p:cNvSpPr/>
          <p:nvPr/>
        </p:nvSpPr>
        <p:spPr>
          <a:xfrm>
            <a:off x="2834640" y="4343400"/>
            <a:ext cx="502920" cy="502920"/>
          </a:xfrm>
          <a:prstGeom prst="ellipse">
            <a:avLst/>
          </a:prstGeom>
          <a:solidFill>
            <a:srgbClr val="00704A"/>
          </a:solidFill>
          <a:ln w="12700">
            <a:solidFill>
              <a:srgbClr val="00704A"/>
            </a:solidFill>
            <a:prstDash val="solid"/>
          </a:ln>
        </p:spPr>
      </p:sp>
      <p:pic>
        <p:nvPicPr>
          <p:cNvPr id="12" name="Image 3" descr="preencoded.png">    </p:cNvPr>
          <p:cNvPicPr>
            <a:picLocks noChangeAspect="1"/>
          </p:cNvPicPr>
          <p:nvPr/>
        </p:nvPicPr>
        <p:blipFill>
          <a:blip r:embed="rId4"/>
          <a:stretch>
            <a:fillRect/>
          </a:stretch>
        </p:blipFill>
        <p:spPr>
          <a:xfrm>
            <a:off x="2955341" y="4464101"/>
            <a:ext cx="261518" cy="261518"/>
          </a:xfrm>
          <a:prstGeom prst="rect">
            <a:avLst/>
          </a:prstGeom>
        </p:spPr>
      </p:pic>
      <p:sp>
        <p:nvSpPr>
          <p:cNvPr id="13" name="Text 7"/>
          <p:cNvSpPr txBox="1"/>
          <p:nvPr/>
        </p:nvSpPr>
        <p:spPr>
          <a:xfrm>
            <a:off x="3429000" y="4315968"/>
            <a:ext cx="1645920" cy="566928"/>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Before / after</a:t>
            </a:r>
            <a:endParaRPr lang="en-US" sz="1350" dirty="0"/>
          </a:p>
        </p:txBody>
      </p:sp>
      <p:sp>
        <p:nvSpPr>
          <p:cNvPr id="14" name="Text 8"/>
          <p:cNvSpPr txBox="1"/>
          <p:nvPr/>
        </p:nvSpPr>
        <p:spPr>
          <a:xfrm>
            <a:off x="2834640" y="4919472"/>
            <a:ext cx="2148840" cy="5486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first vs last year, split map</a:t>
            </a:r>
            <a:endParaRPr lang="en-US" sz="1250" dirty="0"/>
          </a:p>
        </p:txBody>
      </p:sp>
      <p:sp>
        <p:nvSpPr>
          <p:cNvPr id="15" name="Shape 9"/>
          <p:cNvSpPr/>
          <p:nvPr/>
        </p:nvSpPr>
        <p:spPr>
          <a:xfrm>
            <a:off x="5120640" y="4343400"/>
            <a:ext cx="502920" cy="502920"/>
          </a:xfrm>
          <a:prstGeom prst="ellipse">
            <a:avLst/>
          </a:prstGeom>
          <a:solidFill>
            <a:srgbClr val="00704A"/>
          </a:solidFill>
          <a:ln w="12700">
            <a:solidFill>
              <a:srgbClr val="00704A"/>
            </a:solidFill>
            <a:prstDash val="solid"/>
          </a:ln>
        </p:spPr>
      </p:sp>
      <p:pic>
        <p:nvPicPr>
          <p:cNvPr id="16" name="Image 4" descr="preencoded.png">    </p:cNvPr>
          <p:cNvPicPr>
            <a:picLocks noChangeAspect="1"/>
          </p:cNvPicPr>
          <p:nvPr/>
        </p:nvPicPr>
        <p:blipFill>
          <a:blip r:embed="rId5"/>
          <a:stretch>
            <a:fillRect/>
          </a:stretch>
        </p:blipFill>
        <p:spPr>
          <a:xfrm>
            <a:off x="5241341" y="4464101"/>
            <a:ext cx="261518" cy="261518"/>
          </a:xfrm>
          <a:prstGeom prst="rect">
            <a:avLst/>
          </a:prstGeom>
        </p:spPr>
      </p:pic>
      <p:sp>
        <p:nvSpPr>
          <p:cNvPr id="17" name="Text 10"/>
          <p:cNvSpPr txBox="1"/>
          <p:nvPr/>
        </p:nvSpPr>
        <p:spPr>
          <a:xfrm>
            <a:off x="5715000" y="4315968"/>
            <a:ext cx="1645920" cy="566928"/>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ADM1 statistics</a:t>
            </a:r>
            <a:endParaRPr lang="en-US" sz="1350" dirty="0"/>
          </a:p>
        </p:txBody>
      </p:sp>
      <p:sp>
        <p:nvSpPr>
          <p:cNvPr id="18" name="Text 11"/>
          <p:cNvSpPr txBox="1"/>
          <p:nvPr/>
        </p:nvSpPr>
        <p:spPr>
          <a:xfrm>
            <a:off x="5120640" y="4919472"/>
            <a:ext cx="2148840" cy="5486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SoL, national share, light per capita</a:t>
            </a:r>
            <a:endParaRPr lang="en-US" sz="1250" dirty="0"/>
          </a:p>
        </p:txBody>
      </p:sp>
      <p:sp>
        <p:nvSpPr>
          <p:cNvPr id="19" name="Shape 12"/>
          <p:cNvSpPr/>
          <p:nvPr/>
        </p:nvSpPr>
        <p:spPr>
          <a:xfrm>
            <a:off x="548640" y="5532120"/>
            <a:ext cx="6766560" cy="685800"/>
          </a:xfrm>
          <a:prstGeom prst="roundRect">
            <a:avLst>
              <a:gd name="adj" fmla="val 16000"/>
            </a:avLst>
          </a:prstGeom>
          <a:solidFill>
            <a:srgbClr val="FDF6E3"/>
          </a:solidFill>
          <a:ln w="9525">
            <a:solidFill>
              <a:srgbClr val="FDF6E3"/>
            </a:solidFill>
            <a:prstDash val="solid"/>
          </a:ln>
        </p:spPr>
      </p:sp>
      <p:sp>
        <p:nvSpPr>
          <p:cNvPr id="20" name="Text 13"/>
          <p:cNvSpPr txBox="1"/>
          <p:nvPr/>
        </p:nvSpPr>
        <p:spPr>
          <a:xfrm>
            <a:off x="685800" y="5605272"/>
            <a:ext cx="6492240" cy="53949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How to read  </a:t>
            </a:r>
            <a:pPr indent="0" marL="0">
              <a:spcAft>
                <a:spcPts val="200"/>
              </a:spcAft>
              <a:buNone/>
            </a:pPr>
            <a:r>
              <a:rPr lang="en-US" sz="1250" dirty="0">
                <a:solidFill>
                  <a:srgbClr val="231F20"/>
                </a:solidFill>
              </a:rPr>
              <a:t>radiance is highly skewed: a few very bright urban pixels, many faint ones. Hence mapping on a log scale.</a:t>
            </a:r>
            <a:endParaRPr lang="en-US" sz="1250" dirty="0"/>
          </a:p>
        </p:txBody>
      </p:sp>
      <p:sp>
        <p:nvSpPr>
          <p:cNvPr id="21" name="Shape 14"/>
          <p:cNvSpPr/>
          <p:nvPr/>
        </p:nvSpPr>
        <p:spPr>
          <a:xfrm>
            <a:off x="7589520" y="5303520"/>
            <a:ext cx="4069080" cy="868680"/>
          </a:xfrm>
          <a:prstGeom prst="roundRect">
            <a:avLst>
              <a:gd name="adj" fmla="val 12632"/>
            </a:avLst>
          </a:prstGeom>
          <a:solidFill>
            <a:srgbClr val="FBECEC"/>
          </a:solidFill>
          <a:ln w="9525">
            <a:solidFill>
              <a:srgbClr val="FBECEC"/>
            </a:solidFill>
            <a:prstDash val="solid"/>
          </a:ln>
        </p:spPr>
      </p:sp>
      <p:sp>
        <p:nvSpPr>
          <p:cNvPr id="22" name="Text 15"/>
          <p:cNvSpPr txBox="1"/>
          <p:nvPr/>
        </p:nvSpPr>
        <p:spPr>
          <a:xfrm>
            <a:off x="7726680" y="5376672"/>
            <a:ext cx="3794760" cy="722376"/>
          </a:xfrm>
          <a:prstGeom prst="rect">
            <a:avLst/>
          </a:prstGeom>
          <a:noFill/>
          <a:ln/>
        </p:spPr>
        <p:txBody>
          <a:bodyPr wrap="square" lIns="635" tIns="635" rIns="635" bIns="635" rtlCol="0" anchor="ctr"/>
          <a:lstStyle/>
          <a:p>
            <a:pPr indent="0" marL="0">
              <a:spcAft>
                <a:spcPts val="200"/>
              </a:spcAft>
              <a:buNone/>
            </a:pPr>
            <a:r>
              <a:rPr lang="en-US" sz="1250" b="1" dirty="0">
                <a:solidFill>
                  <a:srgbClr val="D64545"/>
                </a:solidFill>
              </a:rPr>
              <a:t>Pitfall  </a:t>
            </a:r>
            <a:pPr indent="0" marL="0">
              <a:spcAft>
                <a:spcPts val="200"/>
              </a:spcAft>
              <a:buNone/>
            </a:pPr>
            <a:r>
              <a:rPr lang="en-US" sz="1250" dirty="0">
                <a:solidFill>
                  <a:srgbClr val="231F20"/>
                </a:solidFill>
              </a:rPr>
              <a:t>mistaking a residual flare or a very bright isolated site for a city</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5</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Seasonality and STL decomposition</a:t>
            </a:r>
            <a:endParaRPr lang="en-US" sz="2800" dirty="0"/>
          </a:p>
        </p:txBody>
      </p:sp>
      <p:pic>
        <p:nvPicPr>
          <p:cNvPr id="4" name="Image 0" descr="/tmp/claude-0/-home-claude/8a8742ef-7d0d-54fc-a0c9-7ecbfc9f8b73/scratchpad/deck/img/stl_en.png">    </p:cNvPr>
          <p:cNvPicPr>
            <a:picLocks noChangeAspect="1"/>
          </p:cNvPicPr>
          <p:nvPr/>
        </p:nvPicPr>
        <p:blipFill>
          <a:blip r:embed="rId1"/>
          <a:stretch>
            <a:fillRect/>
          </a:stretch>
        </p:blipFill>
        <p:spPr>
          <a:xfrm>
            <a:off x="548640" y="1574823"/>
            <a:ext cx="6675120" cy="4348434"/>
          </a:xfrm>
          <a:prstGeom prst="rect">
            <a:avLst/>
          </a:prstGeom>
        </p:spPr>
      </p:pic>
      <p:sp>
        <p:nvSpPr>
          <p:cNvPr id="5" name="Shape 2"/>
          <p:cNvSpPr/>
          <p:nvPr/>
        </p:nvSpPr>
        <p:spPr>
          <a:xfrm>
            <a:off x="7452360" y="1371600"/>
            <a:ext cx="4206240" cy="1417320"/>
          </a:xfrm>
          <a:prstGeom prst="roundRect">
            <a:avLst>
              <a:gd name="adj" fmla="val 7742"/>
            </a:avLst>
          </a:prstGeom>
          <a:solidFill>
            <a:srgbClr val="E8F5EF"/>
          </a:solidFill>
          <a:ln w="9525">
            <a:solidFill>
              <a:srgbClr val="E8F5EF"/>
            </a:solidFill>
            <a:prstDash val="solid"/>
          </a:ln>
        </p:spPr>
      </p:sp>
      <p:sp>
        <p:nvSpPr>
          <p:cNvPr id="6" name="Text 3"/>
          <p:cNvSpPr txBox="1"/>
          <p:nvPr/>
        </p:nvSpPr>
        <p:spPr>
          <a:xfrm>
            <a:off x="7589520" y="1417320"/>
            <a:ext cx="393192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Economic question</a:t>
            </a:r>
            <a:endParaRPr lang="en-US" sz="1400" dirty="0"/>
          </a:p>
        </p:txBody>
      </p:sp>
      <p:sp>
        <p:nvSpPr>
          <p:cNvPr id="7" name="Text 4"/>
          <p:cNvSpPr txBox="1"/>
          <p:nvPr/>
        </p:nvSpPr>
        <p:spPr>
          <a:xfrm>
            <a:off x="7589520" y="1737360"/>
            <a:ext cx="3931920" cy="1005840"/>
          </a:xfrm>
          <a:prstGeom prst="rect">
            <a:avLst/>
          </a:prstGeom>
          <a:noFill/>
          <a:ln/>
        </p:spPr>
        <p:txBody>
          <a:bodyPr wrap="square" lIns="635" tIns="635" rIns="635" bIns="635" rtlCol="0" anchor="t"/>
          <a:lstStyle/>
          <a:p>
            <a:pPr indent="0" marL="0">
              <a:spcAft>
                <a:spcPts val="200"/>
              </a:spcAft>
              <a:buNone/>
            </a:pPr>
            <a:r>
              <a:rPr lang="en-US" sz="1400" dirty="0">
                <a:solidFill>
                  <a:srgbClr val="231F20"/>
                </a:solidFill>
              </a:rPr>
              <a:t>Is light activity really rising once seasonal effects are removed?</a:t>
            </a:r>
            <a:endParaRPr lang="en-US" sz="1400" dirty="0"/>
          </a:p>
        </p:txBody>
      </p:sp>
      <p:sp>
        <p:nvSpPr>
          <p:cNvPr id="8" name="Shape 5"/>
          <p:cNvSpPr/>
          <p:nvPr/>
        </p:nvSpPr>
        <p:spPr>
          <a:xfrm>
            <a:off x="7452360" y="2926080"/>
            <a:ext cx="4206240" cy="548640"/>
          </a:xfrm>
          <a:prstGeom prst="roundRect">
            <a:avLst>
              <a:gd name="adj" fmla="val 20000"/>
            </a:avLst>
          </a:prstGeom>
          <a:solidFill>
            <a:srgbClr val="EAF2FB"/>
          </a:solidFill>
          <a:ln w="9525">
            <a:solidFill>
              <a:srgbClr val="EAF2FB"/>
            </a:solidFill>
            <a:prstDash val="solid"/>
          </a:ln>
        </p:spPr>
      </p:sp>
      <p:sp>
        <p:nvSpPr>
          <p:cNvPr id="9" name="Text 6"/>
          <p:cNvSpPr txBox="1"/>
          <p:nvPr/>
        </p:nvSpPr>
        <p:spPr>
          <a:xfrm>
            <a:off x="7589520" y="2926080"/>
            <a:ext cx="3931920" cy="548640"/>
          </a:xfrm>
          <a:prstGeom prst="rect">
            <a:avLst/>
          </a:prstGeom>
          <a:noFill/>
          <a:ln/>
        </p:spPr>
        <p:txBody>
          <a:bodyPr wrap="square" lIns="635" tIns="635" rIns="635" bIns="635" rtlCol="0" anchor="ctr"/>
          <a:lstStyle/>
          <a:p>
            <a:pPr algn="ctr" indent="0" marL="0">
              <a:spcAft>
                <a:spcPts val="200"/>
              </a:spcAft>
              <a:buNone/>
            </a:pPr>
            <a:r>
              <a:rPr lang="en-US" sz="1900" dirty="0">
                <a:solidFill>
                  <a:srgbClr val="1F4E8C"/>
                </a:solidFill>
                <a:latin typeface="Cambria" pitchFamily="34" charset="0"/>
                <a:ea typeface="Cambria" pitchFamily="34" charset="-122"/>
                <a:cs typeface="Cambria" pitchFamily="34" charset="-120"/>
              </a:rPr>
              <a:t>log(SoLₜ) = Tₜ + Sₜ + Rₜ</a:t>
            </a:r>
            <a:endParaRPr lang="en-US" sz="1900" dirty="0"/>
          </a:p>
        </p:txBody>
      </p:sp>
      <p:sp>
        <p:nvSpPr>
          <p:cNvPr id="10" name="Text 7"/>
          <p:cNvSpPr txBox="1"/>
          <p:nvPr/>
        </p:nvSpPr>
        <p:spPr>
          <a:xfrm>
            <a:off x="7452360" y="3566160"/>
            <a:ext cx="4206240" cy="914400"/>
          </a:xfrm>
          <a:prstGeom prst="rect">
            <a:avLst/>
          </a:prstGeom>
          <a:noFill/>
          <a:ln/>
        </p:spPr>
        <p:txBody>
          <a:bodyPr wrap="square" lIns="635" tIns="635" rIns="635" bIns="635" rtlCol="0" anchor="t"/>
          <a:lstStyle/>
          <a:p>
            <a:pPr indent="0" marL="0">
              <a:spcAft>
                <a:spcPts val="200"/>
              </a:spcAft>
              <a:buNone/>
            </a:pPr>
            <a:r>
              <a:rPr lang="en-US" sz="1300" b="1" dirty="0">
                <a:solidFill>
                  <a:srgbClr val="1F4E8C"/>
                </a:solidFill>
              </a:rPr>
              <a:t>STL </a:t>
            </a:r>
            <a:pPr indent="0" marL="0">
              <a:spcAft>
                <a:spcPts val="200"/>
              </a:spcAft>
              <a:buNone/>
            </a:pPr>
            <a:r>
              <a:rPr lang="en-US" sz="1300" dirty="0">
                <a:solidFill>
                  <a:srgbClr val="231F20"/>
                </a:solidFill>
              </a:rPr>
              <a:t>= Seasonal-Trend decomposition using Loess. Applied to the log, period 12, robust version that resists atypical months.</a:t>
            </a:r>
            <a:endParaRPr lang="en-US" sz="1300" dirty="0"/>
          </a:p>
        </p:txBody>
      </p:sp>
      <p:sp>
        <p:nvSpPr>
          <p:cNvPr id="11" name="Shape 8"/>
          <p:cNvSpPr/>
          <p:nvPr/>
        </p:nvSpPr>
        <p:spPr>
          <a:xfrm>
            <a:off x="7452360" y="4526280"/>
            <a:ext cx="4206240" cy="868680"/>
          </a:xfrm>
          <a:prstGeom prst="roundRect">
            <a:avLst>
              <a:gd name="adj" fmla="val 12632"/>
            </a:avLst>
          </a:prstGeom>
          <a:solidFill>
            <a:srgbClr val="FDF6E3"/>
          </a:solidFill>
          <a:ln w="9525">
            <a:solidFill>
              <a:srgbClr val="FDF6E3"/>
            </a:solidFill>
            <a:prstDash val="solid"/>
          </a:ln>
        </p:spPr>
      </p:sp>
      <p:sp>
        <p:nvSpPr>
          <p:cNvPr id="12" name="Text 9"/>
          <p:cNvSpPr txBox="1"/>
          <p:nvPr/>
        </p:nvSpPr>
        <p:spPr>
          <a:xfrm>
            <a:off x="7589520" y="4599432"/>
            <a:ext cx="3931920" cy="72237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How to read  </a:t>
            </a:r>
            <a:pPr indent="0" marL="0">
              <a:spcAft>
                <a:spcPts val="200"/>
              </a:spcAft>
              <a:buNone/>
            </a:pPr>
            <a:r>
              <a:rPr lang="en-US" sz="1250" dirty="0">
                <a:solidFill>
                  <a:srgbClr val="231F20"/>
                </a:solidFill>
              </a:rPr>
              <a:t>read the seasonally adjusted curve (green). Year-on-year change (same month, previous year) also neutralises the season.</a:t>
            </a:r>
            <a:endParaRPr lang="en-US" sz="1250" dirty="0"/>
          </a:p>
        </p:txBody>
      </p:sp>
      <p:sp>
        <p:nvSpPr>
          <p:cNvPr id="13" name="Shape 10"/>
          <p:cNvSpPr/>
          <p:nvPr/>
        </p:nvSpPr>
        <p:spPr>
          <a:xfrm>
            <a:off x="7452360" y="5486400"/>
            <a:ext cx="4206240" cy="731520"/>
          </a:xfrm>
          <a:prstGeom prst="roundRect">
            <a:avLst>
              <a:gd name="adj" fmla="val 15000"/>
            </a:avLst>
          </a:prstGeom>
          <a:solidFill>
            <a:srgbClr val="FBECEC"/>
          </a:solidFill>
          <a:ln w="9525">
            <a:solidFill>
              <a:srgbClr val="FBECEC"/>
            </a:solidFill>
            <a:prstDash val="solid"/>
          </a:ln>
        </p:spPr>
      </p:sp>
      <p:sp>
        <p:nvSpPr>
          <p:cNvPr id="14" name="Text 11"/>
          <p:cNvSpPr txBox="1"/>
          <p:nvPr/>
        </p:nvSpPr>
        <p:spPr>
          <a:xfrm>
            <a:off x="7589520" y="5559552"/>
            <a:ext cx="3931920" cy="585216"/>
          </a:xfrm>
          <a:prstGeom prst="rect">
            <a:avLst/>
          </a:prstGeom>
          <a:noFill/>
          <a:ln/>
        </p:spPr>
        <p:txBody>
          <a:bodyPr wrap="square" lIns="635" tIns="635" rIns="635" bIns="635" rtlCol="0" anchor="ctr"/>
          <a:lstStyle/>
          <a:p>
            <a:pPr indent="0" marL="0">
              <a:spcAft>
                <a:spcPts val="200"/>
              </a:spcAft>
              <a:buNone/>
            </a:pPr>
            <a:r>
              <a:rPr lang="en-US" sz="1250" b="1" dirty="0">
                <a:solidFill>
                  <a:srgbClr val="D64545"/>
                </a:solidFill>
              </a:rPr>
              <a:t>Pitfall  </a:t>
            </a:r>
            <a:pPr indent="0" marL="0">
              <a:spcAft>
                <a:spcPts val="200"/>
              </a:spcAft>
              <a:buNone/>
            </a:pPr>
            <a:r>
              <a:rPr lang="en-US" sz="1250" dirty="0">
                <a:solidFill>
                  <a:srgbClr val="231F20"/>
                </a:solidFill>
              </a:rPr>
              <a:t>comparing December with November: festivities, snow and night length distort the reading.</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5</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On real data: monthly or daily?</a:t>
            </a:r>
            <a:endParaRPr lang="en-US" sz="2800" dirty="0"/>
          </a:p>
        </p:txBody>
      </p:sp>
      <p:pic>
        <p:nvPicPr>
          <p:cNvPr id="4" name="Image 0" descr="/tmp/claude-0/-home-claude/8a8742ef-7d0d-54fc-a0c9-7ecbfc9f8b73/scratchpad/deck/real/ghana_monthly.png">    </p:cNvPr>
          <p:cNvPicPr>
            <a:picLocks noChangeAspect="1"/>
          </p:cNvPicPr>
          <p:nvPr/>
        </p:nvPicPr>
        <p:blipFill>
          <a:blip r:embed="rId1"/>
          <a:stretch>
            <a:fillRect/>
          </a:stretch>
        </p:blipFill>
        <p:spPr>
          <a:xfrm>
            <a:off x="548640" y="1493520"/>
            <a:ext cx="5486400" cy="2682240"/>
          </a:xfrm>
          <a:prstGeom prst="rect">
            <a:avLst/>
          </a:prstGeom>
        </p:spPr>
      </p:pic>
      <p:pic>
        <p:nvPicPr>
          <p:cNvPr id="5" name="Image 1" descr="/tmp/claude-0/-home-claude/8a8742ef-7d0d-54fc-a0c9-7ecbfc9f8b73/scratchpad/deck/real/ghana_daily.png">    </p:cNvPr>
          <p:cNvPicPr>
            <a:picLocks noChangeAspect="1"/>
          </p:cNvPicPr>
          <p:nvPr/>
        </p:nvPicPr>
        <p:blipFill>
          <a:blip r:embed="rId2"/>
          <a:stretch>
            <a:fillRect/>
          </a:stretch>
        </p:blipFill>
        <p:spPr>
          <a:xfrm>
            <a:off x="6172200" y="1493520"/>
            <a:ext cx="5486400" cy="2682240"/>
          </a:xfrm>
          <a:prstGeom prst="rect">
            <a:avLst/>
          </a:prstGeom>
        </p:spPr>
      </p:pic>
      <p:sp>
        <p:nvSpPr>
          <p:cNvPr id="6" name="Text 2"/>
          <p:cNvSpPr txBox="1"/>
          <p:nvPr/>
        </p:nvSpPr>
        <p:spPr>
          <a:xfrm>
            <a:off x="548640" y="4315968"/>
            <a:ext cx="5486400" cy="292608"/>
          </a:xfrm>
          <a:prstGeom prst="rect">
            <a:avLst/>
          </a:prstGeom>
          <a:noFill/>
          <a:ln/>
        </p:spPr>
        <p:txBody>
          <a:bodyPr wrap="square" lIns="635" tIns="635" rIns="635" bIns="635" rtlCol="0" anchor="t"/>
          <a:lstStyle/>
          <a:p>
            <a:pPr algn="ctr" indent="0" marL="0">
              <a:spcAft>
                <a:spcPts val="200"/>
              </a:spcAft>
              <a:buNone/>
            </a:pPr>
            <a:r>
              <a:rPr lang="en-US" sz="1300" b="1" dirty="0">
                <a:solidFill>
                  <a:srgbClr val="00553A"/>
                </a:solidFill>
              </a:rPr>
              <a:t>Monthly (VNP46A3), Ghana, 2020–2026: readable trend</a:t>
            </a:r>
            <a:endParaRPr lang="en-US" sz="1300" dirty="0"/>
          </a:p>
        </p:txBody>
      </p:sp>
      <p:sp>
        <p:nvSpPr>
          <p:cNvPr id="7" name="Text 3"/>
          <p:cNvSpPr txBox="1"/>
          <p:nvPr/>
        </p:nvSpPr>
        <p:spPr>
          <a:xfrm>
            <a:off x="6172200" y="4315968"/>
            <a:ext cx="5486400" cy="292608"/>
          </a:xfrm>
          <a:prstGeom prst="rect">
            <a:avLst/>
          </a:prstGeom>
          <a:noFill/>
          <a:ln/>
        </p:spPr>
        <p:txBody>
          <a:bodyPr wrap="square" lIns="635" tIns="635" rIns="635" bIns="635" rtlCol="0" anchor="t"/>
          <a:lstStyle/>
          <a:p>
            <a:pPr algn="ctr" indent="0" marL="0">
              <a:spcAft>
                <a:spcPts val="200"/>
              </a:spcAft>
              <a:buNone/>
            </a:pPr>
            <a:r>
              <a:rPr lang="en-US" sz="1300" b="1" dirty="0">
                <a:solidFill>
                  <a:srgbClr val="D64545"/>
                </a:solidFill>
              </a:rPr>
              <a:t>Daily (VNP46A2), Ghana, Jan–Mar 2026: very noisy</a:t>
            </a:r>
            <a:endParaRPr lang="en-US" sz="1300" dirty="0"/>
          </a:p>
        </p:txBody>
      </p:sp>
      <p:sp>
        <p:nvSpPr>
          <p:cNvPr id="8" name="Text 4"/>
          <p:cNvSpPr txBox="1"/>
          <p:nvPr/>
        </p:nvSpPr>
        <p:spPr>
          <a:xfrm>
            <a:off x="548640" y="4617720"/>
            <a:ext cx="11064240" cy="274320"/>
          </a:xfrm>
          <a:prstGeom prst="rect">
            <a:avLst/>
          </a:prstGeom>
          <a:noFill/>
          <a:ln/>
        </p:spPr>
        <p:txBody>
          <a:bodyPr wrap="square" lIns="635" tIns="635" rIns="635" bIns="635" rtlCol="0" anchor="t"/>
          <a:lstStyle/>
          <a:p>
            <a:pPr algn="ctr" indent="0" marL="0">
              <a:spcAft>
                <a:spcPts val="200"/>
              </a:spcAft>
              <a:buNone/>
            </a:pPr>
            <a:r>
              <a:rPr lang="en-US" sz="1000" i="1" dirty="0">
                <a:solidFill>
                  <a:srgbClr val="6B7280"/>
                </a:solidFill>
              </a:rPr>
              <a:t>Real images — Source: NASA Black Marble via blackmarblepy (World Bank, MIT).</a:t>
            </a:r>
            <a:endParaRPr lang="en-US" sz="1000" dirty="0"/>
          </a:p>
        </p:txBody>
      </p:sp>
      <p:sp>
        <p:nvSpPr>
          <p:cNvPr id="9" name="Shape 5"/>
          <p:cNvSpPr/>
          <p:nvPr/>
        </p:nvSpPr>
        <p:spPr>
          <a:xfrm>
            <a:off x="548640" y="5029200"/>
            <a:ext cx="3566160" cy="1143000"/>
          </a:xfrm>
          <a:prstGeom prst="roundRect">
            <a:avLst>
              <a:gd name="adj" fmla="val 96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Text 6"/>
          <p:cNvSpPr txBox="1"/>
          <p:nvPr/>
        </p:nvSpPr>
        <p:spPr>
          <a:xfrm>
            <a:off x="685800" y="5074920"/>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00704A"/>
                </a:solidFill>
              </a:rPr>
              <a:t>Monthly → trends</a:t>
            </a:r>
            <a:endParaRPr lang="en-US" sz="1500" dirty="0"/>
          </a:p>
        </p:txBody>
      </p:sp>
      <p:sp>
        <p:nvSpPr>
          <p:cNvPr id="11" name="Text 7"/>
          <p:cNvSpPr txBox="1"/>
          <p:nvPr/>
        </p:nvSpPr>
        <p:spPr>
          <a:xfrm>
            <a:off x="685800" y="5422392"/>
            <a:ext cx="3291840" cy="713232"/>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STL, year-on-year change, regional growth, elasticity</a:t>
            </a:r>
            <a:endParaRPr lang="en-US" sz="1250" dirty="0"/>
          </a:p>
        </p:txBody>
      </p:sp>
      <p:sp>
        <p:nvSpPr>
          <p:cNvPr id="12" name="Shape 8"/>
          <p:cNvSpPr/>
          <p:nvPr/>
        </p:nvSpPr>
        <p:spPr>
          <a:xfrm>
            <a:off x="4297680" y="5029200"/>
            <a:ext cx="3566160" cy="1143000"/>
          </a:xfrm>
          <a:prstGeom prst="roundRect">
            <a:avLst>
              <a:gd name="adj" fmla="val 96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3" name="Text 9"/>
          <p:cNvSpPr txBox="1"/>
          <p:nvPr/>
        </p:nvSpPr>
        <p:spPr>
          <a:xfrm>
            <a:off x="4434840" y="5074920"/>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Daily → dated shocks</a:t>
            </a:r>
            <a:endParaRPr lang="en-US" sz="1500" dirty="0"/>
          </a:p>
        </p:txBody>
      </p:sp>
      <p:sp>
        <p:nvSpPr>
          <p:cNvPr id="14" name="Text 10"/>
          <p:cNvSpPr txBox="1"/>
          <p:nvPr/>
        </p:nvSpPr>
        <p:spPr>
          <a:xfrm>
            <a:off x="4434840" y="5422392"/>
            <a:ext cx="3291840" cy="713232"/>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base-100 index + 7-day rolling median, high quality only</a:t>
            </a:r>
            <a:endParaRPr lang="en-US" sz="1250" dirty="0"/>
          </a:p>
        </p:txBody>
      </p:sp>
      <p:sp>
        <p:nvSpPr>
          <p:cNvPr id="15" name="Shape 11"/>
          <p:cNvSpPr/>
          <p:nvPr/>
        </p:nvSpPr>
        <p:spPr>
          <a:xfrm>
            <a:off x="8046720" y="5029200"/>
            <a:ext cx="3566160" cy="1143000"/>
          </a:xfrm>
          <a:prstGeom prst="roundRect">
            <a:avLst>
              <a:gd name="adj" fmla="val 96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6" name="Text 12"/>
          <p:cNvSpPr txBox="1"/>
          <p:nvPr/>
        </p:nvSpPr>
        <p:spPr>
          <a:xfrm>
            <a:off x="8183880" y="5074920"/>
            <a:ext cx="3291840" cy="347472"/>
          </a:xfrm>
          <a:prstGeom prst="rect">
            <a:avLst/>
          </a:prstGeom>
          <a:noFill/>
          <a:ln/>
        </p:spPr>
        <p:txBody>
          <a:bodyPr wrap="square" lIns="635" tIns="635" rIns="635" bIns="635" rtlCol="0" anchor="t"/>
          <a:lstStyle/>
          <a:p>
            <a:pPr indent="0" marL="0">
              <a:spcAft>
                <a:spcPts val="200"/>
              </a:spcAft>
              <a:buNone/>
            </a:pPr>
            <a:r>
              <a:rPr lang="en-US" sz="1500" b="1" dirty="0">
                <a:solidFill>
                  <a:srgbClr val="B7791F"/>
                </a:solidFill>
              </a:rPr>
              <a:t>Annual → levels</a:t>
            </a:r>
            <a:endParaRPr lang="en-US" sz="1500" dirty="0"/>
          </a:p>
        </p:txBody>
      </p:sp>
      <p:sp>
        <p:nvSpPr>
          <p:cNvPr id="17" name="Text 13"/>
          <p:cNvSpPr txBox="1"/>
          <p:nvPr/>
        </p:nvSpPr>
        <p:spPr>
          <a:xfrm>
            <a:off x="8183880" y="5422392"/>
            <a:ext cx="3291840" cy="713232"/>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masked VNL V2 composites: regional levels, GDP, inequality</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6</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Measuring a robust trend: Theil–Sen and Mann–Kendall</a:t>
            </a:r>
            <a:endParaRPr lang="en-US" sz="2800" dirty="0"/>
          </a:p>
        </p:txBody>
      </p:sp>
      <p:pic>
        <p:nvPicPr>
          <p:cNvPr id="4" name="Image 0" descr="/tmp/claude-0/-home-claude/8a8742ef-7d0d-54fc-a0c9-7ecbfc9f8b73/scratchpad/deck/img/theilsen_en.png">    </p:cNvPr>
          <p:cNvPicPr>
            <a:picLocks noChangeAspect="1"/>
          </p:cNvPicPr>
          <p:nvPr/>
        </p:nvPicPr>
        <p:blipFill>
          <a:blip r:embed="rId1"/>
          <a:stretch>
            <a:fillRect/>
          </a:stretch>
        </p:blipFill>
        <p:spPr>
          <a:xfrm>
            <a:off x="548640" y="1417158"/>
            <a:ext cx="6309360" cy="3840804"/>
          </a:xfrm>
          <a:prstGeom prst="rect">
            <a:avLst/>
          </a:prstGeom>
        </p:spPr>
      </p:pic>
      <p:sp>
        <p:nvSpPr>
          <p:cNvPr id="5" name="Shape 2"/>
          <p:cNvSpPr/>
          <p:nvPr/>
        </p:nvSpPr>
        <p:spPr>
          <a:xfrm>
            <a:off x="7132320" y="1371600"/>
            <a:ext cx="452628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 name="Text 3"/>
          <p:cNvSpPr txBox="1"/>
          <p:nvPr/>
        </p:nvSpPr>
        <p:spPr>
          <a:xfrm>
            <a:off x="7269480" y="1444752"/>
            <a:ext cx="4206240" cy="329184"/>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Theil–Sen slope</a:t>
            </a:r>
            <a:endParaRPr lang="en-US" sz="1500" dirty="0"/>
          </a:p>
        </p:txBody>
      </p:sp>
      <p:sp>
        <p:nvSpPr>
          <p:cNvPr id="7" name="Text 4"/>
          <p:cNvSpPr txBox="1"/>
          <p:nvPr/>
        </p:nvSpPr>
        <p:spPr>
          <a:xfrm>
            <a:off x="7269480" y="1773936"/>
            <a:ext cx="4206240" cy="7315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median of the slopes between all pairs of years, on log(SoL). An outlying year barely moves it.</a:t>
            </a:r>
            <a:endParaRPr lang="en-US" sz="1300" dirty="0"/>
          </a:p>
        </p:txBody>
      </p:sp>
      <p:sp>
        <p:nvSpPr>
          <p:cNvPr id="8" name="Shape 5"/>
          <p:cNvSpPr/>
          <p:nvPr/>
        </p:nvSpPr>
        <p:spPr>
          <a:xfrm>
            <a:off x="7269480" y="2532888"/>
            <a:ext cx="4251960" cy="457200"/>
          </a:xfrm>
          <a:prstGeom prst="roundRect">
            <a:avLst>
              <a:gd name="adj" fmla="val 24000"/>
            </a:avLst>
          </a:prstGeom>
          <a:solidFill>
            <a:srgbClr val="EAF2FB"/>
          </a:solidFill>
          <a:ln w="9525">
            <a:solidFill>
              <a:srgbClr val="EAF2FB"/>
            </a:solidFill>
            <a:prstDash val="solid"/>
          </a:ln>
        </p:spPr>
      </p:sp>
      <p:sp>
        <p:nvSpPr>
          <p:cNvPr id="9" name="Text 6"/>
          <p:cNvSpPr txBox="1"/>
          <p:nvPr/>
        </p:nvSpPr>
        <p:spPr>
          <a:xfrm>
            <a:off x="7406640" y="2532888"/>
            <a:ext cx="3977640" cy="45720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β̂ = median [ (yⱼ − yᵢ) / (tⱼ − tᵢ) ]</a:t>
            </a:r>
            <a:endParaRPr lang="en-US" sz="1500" dirty="0"/>
          </a:p>
        </p:txBody>
      </p:sp>
      <p:sp>
        <p:nvSpPr>
          <p:cNvPr id="10" name="Shape 7"/>
          <p:cNvSpPr/>
          <p:nvPr/>
        </p:nvSpPr>
        <p:spPr>
          <a:xfrm>
            <a:off x="7132320" y="3246120"/>
            <a:ext cx="452628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Text 8"/>
          <p:cNvSpPr txBox="1"/>
          <p:nvPr/>
        </p:nvSpPr>
        <p:spPr>
          <a:xfrm>
            <a:off x="7269480" y="3319272"/>
            <a:ext cx="4206240" cy="329184"/>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Mann–Kendall test</a:t>
            </a:r>
            <a:endParaRPr lang="en-US" sz="1500" dirty="0"/>
          </a:p>
        </p:txBody>
      </p:sp>
      <p:sp>
        <p:nvSpPr>
          <p:cNvPr id="12" name="Text 9"/>
          <p:cNvSpPr txBox="1"/>
          <p:nvPr/>
        </p:nvSpPr>
        <p:spPr>
          <a:xfrm>
            <a:off x="7269480" y="3648456"/>
            <a:ext cx="4206240" cy="7315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is the trend significant or due to chance? Counts rising vs falling pairs.</a:t>
            </a:r>
            <a:endParaRPr lang="en-US" sz="1300" dirty="0"/>
          </a:p>
        </p:txBody>
      </p:sp>
      <p:sp>
        <p:nvSpPr>
          <p:cNvPr id="13" name="Shape 10"/>
          <p:cNvSpPr/>
          <p:nvPr/>
        </p:nvSpPr>
        <p:spPr>
          <a:xfrm>
            <a:off x="7269480" y="4407408"/>
            <a:ext cx="4251960" cy="457200"/>
          </a:xfrm>
          <a:prstGeom prst="roundRect">
            <a:avLst>
              <a:gd name="adj" fmla="val 24000"/>
            </a:avLst>
          </a:prstGeom>
          <a:solidFill>
            <a:srgbClr val="EAF2FB"/>
          </a:solidFill>
          <a:ln w="9525">
            <a:solidFill>
              <a:srgbClr val="EAF2FB"/>
            </a:solidFill>
            <a:prstDash val="solid"/>
          </a:ln>
        </p:spPr>
      </p:sp>
      <p:sp>
        <p:nvSpPr>
          <p:cNvPr id="14" name="Text 11"/>
          <p:cNvSpPr txBox="1"/>
          <p:nvPr/>
        </p:nvSpPr>
        <p:spPr>
          <a:xfrm>
            <a:off x="7406640" y="4407408"/>
            <a:ext cx="3977640" cy="45720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S = Σ sign(yⱼ − yᵢ)</a:t>
            </a:r>
            <a:endParaRPr lang="en-US" sz="1500" dirty="0"/>
          </a:p>
        </p:txBody>
      </p:sp>
      <p:sp>
        <p:nvSpPr>
          <p:cNvPr id="15" name="Shape 12"/>
          <p:cNvSpPr/>
          <p:nvPr/>
        </p:nvSpPr>
        <p:spPr>
          <a:xfrm>
            <a:off x="7132320" y="5212080"/>
            <a:ext cx="4526280" cy="868680"/>
          </a:xfrm>
          <a:prstGeom prst="roundRect">
            <a:avLst>
              <a:gd name="adj" fmla="val 12632"/>
            </a:avLst>
          </a:prstGeom>
          <a:solidFill>
            <a:srgbClr val="FDF6E3"/>
          </a:solidFill>
          <a:ln w="9525">
            <a:solidFill>
              <a:srgbClr val="FDF6E3"/>
            </a:solidFill>
            <a:prstDash val="solid"/>
          </a:ln>
        </p:spPr>
      </p:sp>
      <p:sp>
        <p:nvSpPr>
          <p:cNvPr id="16" name="Text 13"/>
          <p:cNvSpPr txBox="1"/>
          <p:nvPr/>
        </p:nvSpPr>
        <p:spPr>
          <a:xfrm>
            <a:off x="7269480" y="5212080"/>
            <a:ext cx="4251960" cy="868680"/>
          </a:xfrm>
          <a:prstGeom prst="rect">
            <a:avLst/>
          </a:prstGeom>
          <a:noFill/>
          <a:ln/>
        </p:spPr>
        <p:txBody>
          <a:bodyPr wrap="square" lIns="635" tIns="635" rIns="635" bIns="635" rtlCol="0" anchor="ctr"/>
          <a:lstStyle/>
          <a:p>
            <a:pPr algn="ctr" indent="0" marL="0">
              <a:spcAft>
                <a:spcPts val="200"/>
              </a:spcAft>
              <a:buNone/>
            </a:pPr>
            <a:r>
              <a:rPr lang="en-US" sz="1400" dirty="0">
                <a:solidFill>
                  <a:srgbClr val="B7791F"/>
                </a:solidFill>
                <a:latin typeface="Cambria" pitchFamily="34" charset="0"/>
                <a:ea typeface="Cambria" pitchFamily="34" charset="-122"/>
                <a:cs typeface="Cambria" pitchFamily="34" charset="-120"/>
              </a:rPr>
              <a:t>Class “Growth” or “Decline” if |slope| ≥ 1%/yr AND p &lt; 0.10; otherwise “Stagnation”</a:t>
            </a:r>
            <a:endParaRPr lang="en-US" sz="1400" dirty="0"/>
          </a:p>
        </p:txBody>
      </p:sp>
      <p:sp>
        <p:nvSpPr>
          <p:cNvPr id="17" name="Shape 14"/>
          <p:cNvSpPr/>
          <p:nvPr/>
        </p:nvSpPr>
        <p:spPr>
          <a:xfrm>
            <a:off x="548640" y="5486400"/>
            <a:ext cx="6309360" cy="640080"/>
          </a:xfrm>
          <a:prstGeom prst="roundRect">
            <a:avLst>
              <a:gd name="adj" fmla="val 17143"/>
            </a:avLst>
          </a:prstGeom>
          <a:solidFill>
            <a:srgbClr val="FDF6E3"/>
          </a:solidFill>
          <a:ln w="9525">
            <a:solidFill>
              <a:srgbClr val="FDF6E3"/>
            </a:solidFill>
            <a:prstDash val="solid"/>
          </a:ln>
        </p:spPr>
      </p:sp>
      <p:sp>
        <p:nvSpPr>
          <p:cNvPr id="18" name="Text 15"/>
          <p:cNvSpPr txBox="1"/>
          <p:nvPr/>
        </p:nvSpPr>
        <p:spPr>
          <a:xfrm>
            <a:off x="685800" y="5559552"/>
            <a:ext cx="6035040" cy="49377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How to read  </a:t>
            </a:r>
            <a:pPr indent="0" marL="0">
              <a:spcAft>
                <a:spcPts val="200"/>
              </a:spcAft>
              <a:buNone/>
            </a:pPr>
            <a:r>
              <a:rPr lang="en-US" sz="1300" dirty="0">
                <a:solidFill>
                  <a:srgbClr val="231F20"/>
                </a:solidFill>
              </a:rPr>
              <a:t>annual growth = exp(β̂) − 1, with its 95% confidence interval.</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6</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Who grows, who stagnates, who declines?</a:t>
            </a:r>
            <a:endParaRPr lang="en-US" sz="2800" dirty="0"/>
          </a:p>
        </p:txBody>
      </p:sp>
      <p:pic>
        <p:nvPicPr>
          <p:cNvPr id="4" name="Image 0" descr="/tmp/claude-0/-home-claude/8a8742ef-7d0d-54fc-a0c9-7ecbfc9f8b73/scratchpad/deck/img/ranking_en.png">    </p:cNvPr>
          <p:cNvPicPr>
            <a:picLocks noChangeAspect="1"/>
          </p:cNvPicPr>
          <p:nvPr/>
        </p:nvPicPr>
        <p:blipFill>
          <a:blip r:embed="rId1"/>
          <a:stretch>
            <a:fillRect/>
          </a:stretch>
        </p:blipFill>
        <p:spPr>
          <a:xfrm>
            <a:off x="548640" y="1555047"/>
            <a:ext cx="6309360" cy="4433705"/>
          </a:xfrm>
          <a:prstGeom prst="rect">
            <a:avLst/>
          </a:prstGeom>
        </p:spPr>
      </p:pic>
      <p:sp>
        <p:nvSpPr>
          <p:cNvPr id="5" name="Shape 2"/>
          <p:cNvSpPr/>
          <p:nvPr/>
        </p:nvSpPr>
        <p:spPr>
          <a:xfrm>
            <a:off x="7132320" y="1371600"/>
            <a:ext cx="4526280" cy="1280160"/>
          </a:xfrm>
          <a:prstGeom prst="roundRect">
            <a:avLst>
              <a:gd name="adj" fmla="val 8571"/>
            </a:avLst>
          </a:prstGeom>
          <a:solidFill>
            <a:srgbClr val="E8F5EF"/>
          </a:solidFill>
          <a:ln w="9525">
            <a:solidFill>
              <a:srgbClr val="E8F5EF"/>
            </a:solidFill>
            <a:prstDash val="solid"/>
          </a:ln>
        </p:spPr>
      </p:sp>
      <p:sp>
        <p:nvSpPr>
          <p:cNvPr id="6" name="Text 3"/>
          <p:cNvSpPr txBox="1"/>
          <p:nvPr/>
        </p:nvSpPr>
        <p:spPr>
          <a:xfrm>
            <a:off x="7269480" y="1417320"/>
            <a:ext cx="420624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Economic question</a:t>
            </a:r>
            <a:endParaRPr lang="en-US" sz="1400" dirty="0"/>
          </a:p>
        </p:txBody>
      </p:sp>
      <p:sp>
        <p:nvSpPr>
          <p:cNvPr id="7" name="Text 4"/>
          <p:cNvSpPr txBox="1"/>
          <p:nvPr/>
        </p:nvSpPr>
        <p:spPr>
          <a:xfrm>
            <a:off x="7269480" y="1737360"/>
            <a:ext cx="4206240" cy="868680"/>
          </a:xfrm>
          <a:prstGeom prst="rect">
            <a:avLst/>
          </a:prstGeom>
          <a:noFill/>
          <a:ln/>
        </p:spPr>
        <p:txBody>
          <a:bodyPr wrap="square" lIns="635" tIns="635" rIns="635" bIns="635" rtlCol="0" anchor="t"/>
          <a:lstStyle/>
          <a:p>
            <a:pPr indent="0" marL="0">
              <a:spcAft>
                <a:spcPts val="200"/>
              </a:spcAft>
              <a:buNone/>
            </a:pPr>
            <a:r>
              <a:rPr lang="en-US" sz="1400" dirty="0">
                <a:solidFill>
                  <a:srgbClr val="231F20"/>
                </a:solidFill>
              </a:rPr>
              <a:t>Where is activity rising, and where is it falling, over the period?</a:t>
            </a:r>
            <a:endParaRPr lang="en-US" sz="1400" dirty="0"/>
          </a:p>
        </p:txBody>
      </p:sp>
      <p:sp>
        <p:nvSpPr>
          <p:cNvPr id="8" name="Shape 5"/>
          <p:cNvSpPr/>
          <p:nvPr/>
        </p:nvSpPr>
        <p:spPr>
          <a:xfrm>
            <a:off x="7178040" y="2926080"/>
            <a:ext cx="365760" cy="292608"/>
          </a:xfrm>
          <a:prstGeom prst="roundRect">
            <a:avLst>
              <a:gd name="adj" fmla="val 25000"/>
            </a:avLst>
          </a:prstGeom>
          <a:solidFill>
            <a:srgbClr val="3F7FC7"/>
          </a:solidFill>
          <a:ln w="12700">
            <a:solidFill>
              <a:srgbClr val="3F7FC7"/>
            </a:solidFill>
            <a:prstDash val="solid"/>
          </a:ln>
        </p:spPr>
      </p:sp>
      <p:sp>
        <p:nvSpPr>
          <p:cNvPr id="9" name="Text 6"/>
          <p:cNvSpPr txBox="1"/>
          <p:nvPr/>
        </p:nvSpPr>
        <p:spPr>
          <a:xfrm>
            <a:off x="7680960" y="2834640"/>
            <a:ext cx="3977640" cy="502920"/>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Growth — </a:t>
            </a:r>
            <a:pPr indent="0" marL="0">
              <a:spcAft>
                <a:spcPts val="200"/>
              </a:spcAft>
              <a:buNone/>
            </a:pPr>
            <a:r>
              <a:rPr lang="en-US" sz="1350" dirty="0">
                <a:solidFill>
                  <a:srgbClr val="231F20"/>
                </a:solidFill>
              </a:rPr>
              <a:t>slope ≥ +1%/yr and significant</a:t>
            </a:r>
            <a:endParaRPr lang="en-US" sz="1350" dirty="0"/>
          </a:p>
        </p:txBody>
      </p:sp>
      <p:sp>
        <p:nvSpPr>
          <p:cNvPr id="10" name="Shape 7"/>
          <p:cNvSpPr/>
          <p:nvPr/>
        </p:nvSpPr>
        <p:spPr>
          <a:xfrm>
            <a:off x="7178040" y="3493008"/>
            <a:ext cx="365760" cy="292608"/>
          </a:xfrm>
          <a:prstGeom prst="roundRect">
            <a:avLst>
              <a:gd name="adj" fmla="val 25000"/>
            </a:avLst>
          </a:prstGeom>
          <a:solidFill>
            <a:srgbClr val="A9A8A2"/>
          </a:solidFill>
          <a:ln w="12700">
            <a:solidFill>
              <a:srgbClr val="A9A8A2"/>
            </a:solidFill>
            <a:prstDash val="solid"/>
          </a:ln>
        </p:spPr>
      </p:sp>
      <p:sp>
        <p:nvSpPr>
          <p:cNvPr id="11" name="Text 8"/>
          <p:cNvSpPr txBox="1"/>
          <p:nvPr/>
        </p:nvSpPr>
        <p:spPr>
          <a:xfrm>
            <a:off x="7680960" y="3401568"/>
            <a:ext cx="3977640" cy="502920"/>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Stagnation — </a:t>
            </a:r>
            <a:pPr indent="0" marL="0">
              <a:spcAft>
                <a:spcPts val="200"/>
              </a:spcAft>
              <a:buNone/>
            </a:pPr>
            <a:r>
              <a:rPr lang="en-US" sz="1350" dirty="0">
                <a:solidFill>
                  <a:srgbClr val="231F20"/>
                </a:solidFill>
              </a:rPr>
              <a:t>|slope| &lt; 1%/yr, or trend not established</a:t>
            </a:r>
            <a:endParaRPr lang="en-US" sz="1350" dirty="0"/>
          </a:p>
        </p:txBody>
      </p:sp>
      <p:sp>
        <p:nvSpPr>
          <p:cNvPr id="12" name="Shape 9"/>
          <p:cNvSpPr/>
          <p:nvPr/>
        </p:nvSpPr>
        <p:spPr>
          <a:xfrm>
            <a:off x="7178040" y="4059936"/>
            <a:ext cx="365760" cy="292608"/>
          </a:xfrm>
          <a:prstGeom prst="roundRect">
            <a:avLst>
              <a:gd name="adj" fmla="val 25000"/>
            </a:avLst>
          </a:prstGeom>
          <a:solidFill>
            <a:srgbClr val="D64545"/>
          </a:solidFill>
          <a:ln w="12700">
            <a:solidFill>
              <a:srgbClr val="D64545"/>
            </a:solidFill>
            <a:prstDash val="solid"/>
          </a:ln>
        </p:spPr>
      </p:sp>
      <p:sp>
        <p:nvSpPr>
          <p:cNvPr id="13" name="Text 10"/>
          <p:cNvSpPr txBox="1"/>
          <p:nvPr/>
        </p:nvSpPr>
        <p:spPr>
          <a:xfrm>
            <a:off x="7680960" y="3968496"/>
            <a:ext cx="3977640" cy="502920"/>
          </a:xfrm>
          <a:prstGeom prst="rect">
            <a:avLst/>
          </a:prstGeom>
          <a:noFill/>
          <a:ln/>
        </p:spPr>
        <p:txBody>
          <a:bodyPr wrap="square" lIns="635" tIns="635" rIns="635" bIns="635" rtlCol="0" anchor="ctr"/>
          <a:lstStyle/>
          <a:p>
            <a:pPr indent="0" marL="0">
              <a:spcAft>
                <a:spcPts val="200"/>
              </a:spcAft>
              <a:buNone/>
            </a:pPr>
            <a:r>
              <a:rPr lang="en-US" sz="1350" b="1" dirty="0">
                <a:solidFill>
                  <a:srgbClr val="231F20"/>
                </a:solidFill>
              </a:rPr>
              <a:t>Decline — </a:t>
            </a:r>
            <a:pPr indent="0" marL="0">
              <a:spcAft>
                <a:spcPts val="200"/>
              </a:spcAft>
              <a:buNone/>
            </a:pPr>
            <a:r>
              <a:rPr lang="en-US" sz="1350" dirty="0">
                <a:solidFill>
                  <a:srgbClr val="231F20"/>
                </a:solidFill>
              </a:rPr>
              <a:t>slope ≤ −1%/yr and significant</a:t>
            </a:r>
            <a:endParaRPr lang="en-US" sz="1350" dirty="0"/>
          </a:p>
        </p:txBody>
      </p:sp>
      <p:sp>
        <p:nvSpPr>
          <p:cNvPr id="14" name="Shape 11"/>
          <p:cNvSpPr/>
          <p:nvPr/>
        </p:nvSpPr>
        <p:spPr>
          <a:xfrm>
            <a:off x="7132320" y="4617720"/>
            <a:ext cx="4526280" cy="777240"/>
          </a:xfrm>
          <a:prstGeom prst="roundRect">
            <a:avLst>
              <a:gd name="adj" fmla="val 14118"/>
            </a:avLst>
          </a:prstGeom>
          <a:solidFill>
            <a:srgbClr val="FDF6E3"/>
          </a:solidFill>
          <a:ln w="9525">
            <a:solidFill>
              <a:srgbClr val="FDF6E3"/>
            </a:solidFill>
            <a:prstDash val="solid"/>
          </a:ln>
        </p:spPr>
      </p:sp>
      <p:sp>
        <p:nvSpPr>
          <p:cNvPr id="15" name="Text 12"/>
          <p:cNvSpPr txBox="1"/>
          <p:nvPr/>
        </p:nvSpPr>
        <p:spPr>
          <a:xfrm>
            <a:off x="7269480" y="4690872"/>
            <a:ext cx="4251960" cy="63093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How to read  </a:t>
            </a:r>
            <a:pPr indent="0" marL="0">
              <a:spcAft>
                <a:spcPts val="200"/>
              </a:spcAft>
              <a:buNone/>
            </a:pPr>
            <a:r>
              <a:rPr lang="en-US" sz="1250" dirty="0">
                <a:solidFill>
                  <a:srgbClr val="231F20"/>
                </a:solidFill>
              </a:rPr>
              <a:t>error bars are 95% CIs. Region 7 has a positive slope but its CI touches zero: it stays in “stagnation”.</a:t>
            </a:r>
            <a:endParaRPr lang="en-US" sz="1250" dirty="0"/>
          </a:p>
        </p:txBody>
      </p:sp>
      <p:sp>
        <p:nvSpPr>
          <p:cNvPr id="16" name="Shape 13"/>
          <p:cNvSpPr/>
          <p:nvPr/>
        </p:nvSpPr>
        <p:spPr>
          <a:xfrm>
            <a:off x="7132320" y="5486400"/>
            <a:ext cx="4526280" cy="731520"/>
          </a:xfrm>
          <a:prstGeom prst="roundRect">
            <a:avLst>
              <a:gd name="adj" fmla="val 15000"/>
            </a:avLst>
          </a:prstGeom>
          <a:solidFill>
            <a:srgbClr val="FBECEC"/>
          </a:solidFill>
          <a:ln w="9525">
            <a:solidFill>
              <a:srgbClr val="FBECEC"/>
            </a:solidFill>
            <a:prstDash val="solid"/>
          </a:ln>
        </p:spPr>
      </p:sp>
      <p:sp>
        <p:nvSpPr>
          <p:cNvPr id="17" name="Text 14"/>
          <p:cNvSpPr txBox="1"/>
          <p:nvPr/>
        </p:nvSpPr>
        <p:spPr>
          <a:xfrm>
            <a:off x="7269480" y="5559552"/>
            <a:ext cx="4251960" cy="585216"/>
          </a:xfrm>
          <a:prstGeom prst="rect">
            <a:avLst/>
          </a:prstGeom>
          <a:noFill/>
          <a:ln/>
        </p:spPr>
        <p:txBody>
          <a:bodyPr wrap="square" lIns="635" tIns="635" rIns="635" bIns="635" rtlCol="0" anchor="ctr"/>
          <a:lstStyle/>
          <a:p>
            <a:pPr indent="0" marL="0">
              <a:spcAft>
                <a:spcPts val="200"/>
              </a:spcAft>
              <a:buNone/>
            </a:pPr>
            <a:r>
              <a:rPr lang="en-US" sz="1250" b="1" dirty="0">
                <a:solidFill>
                  <a:srgbClr val="D64545"/>
                </a:solidFill>
              </a:rPr>
              <a:t>Pitfall  </a:t>
            </a:r>
            <a:pPr indent="0" marL="0">
              <a:spcAft>
                <a:spcPts val="200"/>
              </a:spcAft>
              <a:buNone/>
            </a:pPr>
            <a:r>
              <a:rPr lang="en-US" sz="1250" dirty="0">
                <a:solidFill>
                  <a:srgbClr val="231F20"/>
                </a:solidFill>
              </a:rPr>
              <a:t>reading “stagnation” as “standing still”: it often means “not enough information”.</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6</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Convergence and concentration: is activity spreading out?</a:t>
            </a:r>
            <a:endParaRPr lang="en-US" sz="2800" dirty="0"/>
          </a:p>
        </p:txBody>
      </p:sp>
      <p:pic>
        <p:nvPicPr>
          <p:cNvPr id="4" name="Image 0" descr="/tmp/claude-0/-home-claude/8a8742ef-7d0d-54fc-a0c9-7ecbfc9f8b73/scratchpad/deck/img/convergence_en.png">    </p:cNvPr>
          <p:cNvPicPr>
            <a:picLocks noChangeAspect="1"/>
          </p:cNvPicPr>
          <p:nvPr/>
        </p:nvPicPr>
        <p:blipFill>
          <a:blip r:embed="rId1"/>
          <a:stretch>
            <a:fillRect/>
          </a:stretch>
        </p:blipFill>
        <p:spPr>
          <a:xfrm>
            <a:off x="548640" y="1341793"/>
            <a:ext cx="7315200" cy="3031414"/>
          </a:xfrm>
          <a:prstGeom prst="rect">
            <a:avLst/>
          </a:prstGeom>
        </p:spPr>
      </p:pic>
      <p:sp>
        <p:nvSpPr>
          <p:cNvPr id="5" name="Shape 2"/>
          <p:cNvSpPr/>
          <p:nvPr/>
        </p:nvSpPr>
        <p:spPr>
          <a:xfrm>
            <a:off x="548640" y="4572000"/>
            <a:ext cx="2377440" cy="1645920"/>
          </a:xfrm>
          <a:prstGeom prst="roundRect">
            <a:avLst>
              <a:gd name="adj" fmla="val 666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 name="Text 3"/>
          <p:cNvSpPr txBox="1"/>
          <p:nvPr/>
        </p:nvSpPr>
        <p:spPr>
          <a:xfrm>
            <a:off x="658368" y="4617720"/>
            <a:ext cx="2194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β-convergence</a:t>
            </a:r>
            <a:endParaRPr lang="en-US" sz="1400" dirty="0"/>
          </a:p>
        </p:txBody>
      </p:sp>
      <p:sp>
        <p:nvSpPr>
          <p:cNvPr id="7" name="Shape 4"/>
          <p:cNvSpPr/>
          <p:nvPr/>
        </p:nvSpPr>
        <p:spPr>
          <a:xfrm>
            <a:off x="640080" y="4956048"/>
            <a:ext cx="2194560" cy="411480"/>
          </a:xfrm>
          <a:prstGeom prst="roundRect">
            <a:avLst>
              <a:gd name="adj" fmla="val 26667"/>
            </a:avLst>
          </a:prstGeom>
          <a:solidFill>
            <a:srgbClr val="EAF2FB"/>
          </a:solidFill>
          <a:ln w="9525">
            <a:solidFill>
              <a:srgbClr val="EAF2FB"/>
            </a:solidFill>
            <a:prstDash val="solid"/>
          </a:ln>
        </p:spPr>
      </p:sp>
      <p:sp>
        <p:nvSpPr>
          <p:cNvPr id="8" name="Text 5"/>
          <p:cNvSpPr txBox="1"/>
          <p:nvPr/>
        </p:nvSpPr>
        <p:spPr>
          <a:xfrm>
            <a:off x="777240" y="4956048"/>
            <a:ext cx="19202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gᵢ = a + β · log(xᵢ,₀) + εᵢ</a:t>
            </a:r>
            <a:endParaRPr lang="en-US" sz="1300" dirty="0"/>
          </a:p>
        </p:txBody>
      </p:sp>
      <p:sp>
        <p:nvSpPr>
          <p:cNvPr id="9" name="Text 6"/>
          <p:cNvSpPr txBox="1"/>
          <p:nvPr/>
        </p:nvSpPr>
        <p:spPr>
          <a:xfrm>
            <a:off x="658368" y="5413248"/>
            <a:ext cx="2194560" cy="777240"/>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β &lt; 0: initially dimly lit regions grow faster — they catch up.</a:t>
            </a:r>
            <a:endParaRPr lang="en-US" sz="1150" dirty="0"/>
          </a:p>
        </p:txBody>
      </p:sp>
      <p:sp>
        <p:nvSpPr>
          <p:cNvPr id="10" name="Shape 7"/>
          <p:cNvSpPr/>
          <p:nvPr/>
        </p:nvSpPr>
        <p:spPr>
          <a:xfrm>
            <a:off x="3063240" y="4572000"/>
            <a:ext cx="2377440" cy="1645920"/>
          </a:xfrm>
          <a:prstGeom prst="roundRect">
            <a:avLst>
              <a:gd name="adj" fmla="val 666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Text 8"/>
          <p:cNvSpPr txBox="1"/>
          <p:nvPr/>
        </p:nvSpPr>
        <p:spPr>
          <a:xfrm>
            <a:off x="3172968" y="4617720"/>
            <a:ext cx="2194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σ-convergence</a:t>
            </a:r>
            <a:endParaRPr lang="en-US" sz="1400" dirty="0"/>
          </a:p>
        </p:txBody>
      </p:sp>
      <p:sp>
        <p:nvSpPr>
          <p:cNvPr id="12" name="Shape 9"/>
          <p:cNvSpPr/>
          <p:nvPr/>
        </p:nvSpPr>
        <p:spPr>
          <a:xfrm>
            <a:off x="3154680" y="4956048"/>
            <a:ext cx="2194560" cy="411480"/>
          </a:xfrm>
          <a:prstGeom prst="roundRect">
            <a:avLst>
              <a:gd name="adj" fmla="val 26667"/>
            </a:avLst>
          </a:prstGeom>
          <a:solidFill>
            <a:srgbClr val="EAF2FB"/>
          </a:solidFill>
          <a:ln w="9525">
            <a:solidFill>
              <a:srgbClr val="EAF2FB"/>
            </a:solidFill>
            <a:prstDash val="solid"/>
          </a:ln>
        </p:spPr>
      </p:sp>
      <p:sp>
        <p:nvSpPr>
          <p:cNvPr id="13" name="Text 10"/>
          <p:cNvSpPr txBox="1"/>
          <p:nvPr/>
        </p:nvSpPr>
        <p:spPr>
          <a:xfrm>
            <a:off x="3291840" y="4956048"/>
            <a:ext cx="19202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σₜ = std. dev. [ log(xᵢ,ₜ) ]</a:t>
            </a:r>
            <a:endParaRPr lang="en-US" sz="1300" dirty="0"/>
          </a:p>
        </p:txBody>
      </p:sp>
      <p:sp>
        <p:nvSpPr>
          <p:cNvPr id="14" name="Text 11"/>
          <p:cNvSpPr txBox="1"/>
          <p:nvPr/>
        </p:nvSpPr>
        <p:spPr>
          <a:xfrm>
            <a:off x="3172968" y="5413248"/>
            <a:ext cx="2194560" cy="777240"/>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σ falls: gaps between regions narrow.</a:t>
            </a:r>
            <a:endParaRPr lang="en-US" sz="1150" dirty="0"/>
          </a:p>
        </p:txBody>
      </p:sp>
      <p:sp>
        <p:nvSpPr>
          <p:cNvPr id="15" name="Shape 12"/>
          <p:cNvSpPr/>
          <p:nvPr/>
        </p:nvSpPr>
        <p:spPr>
          <a:xfrm>
            <a:off x="5577840" y="4572000"/>
            <a:ext cx="2377440" cy="1645920"/>
          </a:xfrm>
          <a:prstGeom prst="roundRect">
            <a:avLst>
              <a:gd name="adj" fmla="val 666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6" name="Text 13"/>
          <p:cNvSpPr txBox="1"/>
          <p:nvPr/>
        </p:nvSpPr>
        <p:spPr>
          <a:xfrm>
            <a:off x="5687568" y="4617720"/>
            <a:ext cx="2194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Herfindahl (HHI)</a:t>
            </a:r>
            <a:endParaRPr lang="en-US" sz="1400" dirty="0"/>
          </a:p>
        </p:txBody>
      </p:sp>
      <p:sp>
        <p:nvSpPr>
          <p:cNvPr id="17" name="Shape 14"/>
          <p:cNvSpPr/>
          <p:nvPr/>
        </p:nvSpPr>
        <p:spPr>
          <a:xfrm>
            <a:off x="5669280" y="4956048"/>
            <a:ext cx="2194560" cy="411480"/>
          </a:xfrm>
          <a:prstGeom prst="roundRect">
            <a:avLst>
              <a:gd name="adj" fmla="val 26667"/>
            </a:avLst>
          </a:prstGeom>
          <a:solidFill>
            <a:srgbClr val="EAF2FB"/>
          </a:solidFill>
          <a:ln w="9525">
            <a:solidFill>
              <a:srgbClr val="EAF2FB"/>
            </a:solidFill>
            <a:prstDash val="solid"/>
          </a:ln>
        </p:spPr>
      </p:sp>
      <p:sp>
        <p:nvSpPr>
          <p:cNvPr id="18" name="Text 15"/>
          <p:cNvSpPr txBox="1"/>
          <p:nvPr/>
        </p:nvSpPr>
        <p:spPr>
          <a:xfrm>
            <a:off x="5806440" y="4956048"/>
            <a:ext cx="19202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HHI = Σ sᵢ²</a:t>
            </a:r>
            <a:endParaRPr lang="en-US" sz="1300" dirty="0"/>
          </a:p>
        </p:txBody>
      </p:sp>
      <p:sp>
        <p:nvSpPr>
          <p:cNvPr id="19" name="Text 16"/>
          <p:cNvSpPr txBox="1"/>
          <p:nvPr/>
        </p:nvSpPr>
        <p:spPr>
          <a:xfrm>
            <a:off x="5687568" y="5413248"/>
            <a:ext cx="2194560" cy="777240"/>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sᵢ = share of national light; 1 = everything in one unit.</a:t>
            </a:r>
            <a:endParaRPr lang="en-US" sz="1150" dirty="0"/>
          </a:p>
        </p:txBody>
      </p:sp>
      <p:sp>
        <p:nvSpPr>
          <p:cNvPr id="20" name="Shape 17"/>
          <p:cNvSpPr/>
          <p:nvPr/>
        </p:nvSpPr>
        <p:spPr>
          <a:xfrm>
            <a:off x="8138160" y="1371600"/>
            <a:ext cx="3520440" cy="1371600"/>
          </a:xfrm>
          <a:prstGeom prst="roundRect">
            <a:avLst>
              <a:gd name="adj" fmla="val 8000"/>
            </a:avLst>
          </a:prstGeom>
          <a:solidFill>
            <a:srgbClr val="E8F5EF"/>
          </a:solidFill>
          <a:ln w="9525">
            <a:solidFill>
              <a:srgbClr val="E8F5EF"/>
            </a:solidFill>
            <a:prstDash val="solid"/>
          </a:ln>
        </p:spPr>
      </p:sp>
      <p:sp>
        <p:nvSpPr>
          <p:cNvPr id="21" name="Text 18"/>
          <p:cNvSpPr txBox="1"/>
          <p:nvPr/>
        </p:nvSpPr>
        <p:spPr>
          <a:xfrm>
            <a:off x="8275320" y="1417320"/>
            <a:ext cx="329184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Economic question</a:t>
            </a:r>
            <a:endParaRPr lang="en-US" sz="1400" dirty="0"/>
          </a:p>
        </p:txBody>
      </p:sp>
      <p:sp>
        <p:nvSpPr>
          <p:cNvPr id="22" name="Text 19"/>
          <p:cNvSpPr txBox="1"/>
          <p:nvPr/>
        </p:nvSpPr>
        <p:spPr>
          <a:xfrm>
            <a:off x="8275320" y="1737360"/>
            <a:ext cx="3291840" cy="9601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Does growth benefit peripheral regions, or concentrate around the capital?</a:t>
            </a:r>
            <a:endParaRPr lang="en-US" sz="1300" dirty="0"/>
          </a:p>
        </p:txBody>
      </p:sp>
      <p:sp>
        <p:nvSpPr>
          <p:cNvPr id="23" name="Shape 20"/>
          <p:cNvSpPr/>
          <p:nvPr/>
        </p:nvSpPr>
        <p:spPr>
          <a:xfrm>
            <a:off x="8138160" y="2926080"/>
            <a:ext cx="352044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4" name="Shape 21"/>
          <p:cNvSpPr/>
          <p:nvPr/>
        </p:nvSpPr>
        <p:spPr>
          <a:xfrm>
            <a:off x="8321040" y="3108960"/>
            <a:ext cx="502920" cy="502920"/>
          </a:xfrm>
          <a:prstGeom prst="ellipse">
            <a:avLst/>
          </a:prstGeom>
          <a:solidFill>
            <a:srgbClr val="B45309"/>
          </a:solidFill>
          <a:ln w="12700">
            <a:solidFill>
              <a:srgbClr val="B45309"/>
            </a:solidFill>
            <a:prstDash val="solid"/>
          </a:ln>
        </p:spPr>
      </p:sp>
      <p:pic>
        <p:nvPicPr>
          <p:cNvPr id="25" name="Image 1" descr="preencoded.png">    </p:cNvPr>
          <p:cNvPicPr>
            <a:picLocks noChangeAspect="1"/>
          </p:cNvPicPr>
          <p:nvPr/>
        </p:nvPicPr>
        <p:blipFill>
          <a:blip r:embed="rId2"/>
          <a:stretch>
            <a:fillRect/>
          </a:stretch>
        </p:blipFill>
        <p:spPr>
          <a:xfrm>
            <a:off x="8441741" y="3229661"/>
            <a:ext cx="261518" cy="261518"/>
          </a:xfrm>
          <a:prstGeom prst="rect">
            <a:avLst/>
          </a:prstGeom>
        </p:spPr>
      </p:pic>
      <p:sp>
        <p:nvSpPr>
          <p:cNvPr id="26" name="Text 22"/>
          <p:cNvSpPr txBox="1"/>
          <p:nvPr/>
        </p:nvSpPr>
        <p:spPr>
          <a:xfrm>
            <a:off x="8961120" y="309067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B45309"/>
                </a:solidFill>
              </a:rPr>
              <a:t>NO₂ (Sentinel-5P)</a:t>
            </a:r>
            <a:endParaRPr lang="en-US" sz="1500" dirty="0"/>
          </a:p>
        </p:txBody>
      </p:sp>
      <p:sp>
        <p:nvSpPr>
          <p:cNvPr id="27" name="Text 23"/>
          <p:cNvSpPr txBox="1"/>
          <p:nvPr/>
        </p:nvSpPr>
        <p:spPr>
          <a:xfrm>
            <a:off x="8321040" y="3730752"/>
            <a:ext cx="3154680" cy="5943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Spearman correlation with light: a complementary industrial indicator.</a:t>
            </a:r>
            <a:endParaRPr lang="en-US" sz="1250" dirty="0"/>
          </a:p>
        </p:txBody>
      </p:sp>
      <p:sp>
        <p:nvSpPr>
          <p:cNvPr id="28" name="Shape 24"/>
          <p:cNvSpPr/>
          <p:nvPr/>
        </p:nvSpPr>
        <p:spPr>
          <a:xfrm>
            <a:off x="8138160" y="4572000"/>
            <a:ext cx="3520440" cy="1645920"/>
          </a:xfrm>
          <a:prstGeom prst="roundRect">
            <a:avLst>
              <a:gd name="adj" fmla="val 6667"/>
            </a:avLst>
          </a:prstGeom>
          <a:solidFill>
            <a:srgbClr val="FDF6E3"/>
          </a:solidFill>
          <a:ln w="9525">
            <a:solidFill>
              <a:srgbClr val="FDF6E3"/>
            </a:solidFill>
            <a:prstDash val="solid"/>
          </a:ln>
        </p:spPr>
      </p:sp>
      <p:sp>
        <p:nvSpPr>
          <p:cNvPr id="29" name="Text 25"/>
          <p:cNvSpPr txBox="1"/>
          <p:nvPr/>
        </p:nvSpPr>
        <p:spPr>
          <a:xfrm>
            <a:off x="8275320" y="4645152"/>
            <a:ext cx="3246120" cy="1499616"/>
          </a:xfrm>
          <a:prstGeom prst="rect">
            <a:avLst/>
          </a:prstGeom>
          <a:noFill/>
          <a:ln/>
        </p:spPr>
        <p:txBody>
          <a:bodyPr wrap="square" lIns="635" tIns="635" rIns="635" bIns="635" rtlCol="0" anchor="ctr"/>
          <a:lstStyle/>
          <a:p>
            <a:pPr indent="0" marL="0">
              <a:spcAft>
                <a:spcPts val="200"/>
              </a:spcAft>
              <a:buNone/>
            </a:pPr>
            <a:r>
              <a:rPr lang="en-US" sz="1250" b="1" dirty="0">
                <a:solidFill>
                  <a:srgbClr val="B7791F"/>
                </a:solidFill>
              </a:rPr>
              <a:t>Economic reading  </a:t>
            </a:r>
            <a:pPr indent="0" marL="0">
              <a:spcAft>
                <a:spcPts val="200"/>
              </a:spcAft>
              <a:buNone/>
            </a:pPr>
            <a:r>
              <a:rPr lang="en-US" sz="1250" dirty="0">
                <a:solidFill>
                  <a:srgbClr val="231F20"/>
                </a:solidFill>
              </a:rPr>
              <a:t>rising concentration = polarisation (capital, ports); convergence = electrification spreading to the periphery.</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7</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lights–GDP relationship: estimating an elasticity</a:t>
            </a:r>
            <a:endParaRPr lang="en-US" sz="2800" dirty="0"/>
          </a:p>
        </p:txBody>
      </p:sp>
      <p:pic>
        <p:nvPicPr>
          <p:cNvPr id="4" name="Image 0" descr="/tmp/claude-0/-home-claude/8a8742ef-7d0d-54fc-a0c9-7ecbfc9f8b73/scratchpad/deck/img/ntl_gdp_en.png">    </p:cNvPr>
          <p:cNvPicPr>
            <a:picLocks noChangeAspect="1"/>
          </p:cNvPicPr>
          <p:nvPr/>
        </p:nvPicPr>
        <p:blipFill>
          <a:blip r:embed="rId1"/>
          <a:stretch>
            <a:fillRect/>
          </a:stretch>
        </p:blipFill>
        <p:spPr>
          <a:xfrm>
            <a:off x="548640" y="1348051"/>
            <a:ext cx="7498080" cy="3110338"/>
          </a:xfrm>
          <a:prstGeom prst="rect">
            <a:avLst/>
          </a:prstGeom>
        </p:spPr>
      </p:pic>
      <p:sp>
        <p:nvSpPr>
          <p:cNvPr id="5" name="Shape 2"/>
          <p:cNvSpPr/>
          <p:nvPr/>
        </p:nvSpPr>
        <p:spPr>
          <a:xfrm>
            <a:off x="8275320" y="1371600"/>
            <a:ext cx="3383280" cy="594360"/>
          </a:xfrm>
          <a:prstGeom prst="roundRect">
            <a:avLst>
              <a:gd name="adj" fmla="val 18462"/>
            </a:avLst>
          </a:prstGeom>
          <a:solidFill>
            <a:srgbClr val="EAF2FB"/>
          </a:solidFill>
          <a:ln w="9525">
            <a:solidFill>
              <a:srgbClr val="EAF2FB"/>
            </a:solidFill>
            <a:prstDash val="solid"/>
          </a:ln>
        </p:spPr>
      </p:sp>
      <p:sp>
        <p:nvSpPr>
          <p:cNvPr id="6" name="Text 3"/>
          <p:cNvSpPr txBox="1"/>
          <p:nvPr/>
        </p:nvSpPr>
        <p:spPr>
          <a:xfrm>
            <a:off x="8412480" y="1371600"/>
            <a:ext cx="3108960" cy="59436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log(NTLₜ) = α + β · log(GDPₜ) + εₜ</a:t>
            </a:r>
            <a:endParaRPr lang="en-US" sz="1500" dirty="0"/>
          </a:p>
        </p:txBody>
      </p:sp>
      <p:sp>
        <p:nvSpPr>
          <p:cNvPr id="7" name="Text 4"/>
          <p:cNvSpPr txBox="1"/>
          <p:nvPr/>
        </p:nvSpPr>
        <p:spPr>
          <a:xfrm>
            <a:off x="8275320" y="2011680"/>
            <a:ext cx="3383280" cy="54864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β = elasticity: +1% GDP ↔ +β% light.</a:t>
            </a:r>
            <a:endParaRPr lang="en-US" sz="1350" dirty="0"/>
          </a:p>
        </p:txBody>
      </p:sp>
      <p:sp>
        <p:nvSpPr>
          <p:cNvPr id="8" name="Shape 5"/>
          <p:cNvSpPr/>
          <p:nvPr/>
        </p:nvSpPr>
        <p:spPr>
          <a:xfrm>
            <a:off x="8275320" y="2651760"/>
            <a:ext cx="3383280" cy="548640"/>
          </a:xfrm>
          <a:prstGeom prst="roundRect">
            <a:avLst>
              <a:gd name="adj" fmla="val 20000"/>
            </a:avLst>
          </a:prstGeom>
          <a:solidFill>
            <a:srgbClr val="F4F7F5"/>
          </a:solidFill>
          <a:ln w="9525">
            <a:solidFill>
              <a:srgbClr val="F4F7F5"/>
            </a:solidFill>
            <a:prstDash val="solid"/>
          </a:ln>
        </p:spPr>
      </p:sp>
      <p:sp>
        <p:nvSpPr>
          <p:cNvPr id="9" name="Text 6"/>
          <p:cNvSpPr txBox="1"/>
          <p:nvPr/>
        </p:nvSpPr>
        <p:spPr>
          <a:xfrm>
            <a:off x="8366760" y="2651760"/>
            <a:ext cx="3246120" cy="548640"/>
          </a:xfrm>
          <a:prstGeom prst="rect">
            <a:avLst/>
          </a:prstGeom>
          <a:noFill/>
          <a:ln/>
        </p:spPr>
        <p:txBody>
          <a:bodyPr wrap="square" lIns="635" tIns="635" rIns="635" bIns="635" rtlCol="0" anchor="ctr"/>
          <a:lstStyle/>
          <a:p>
            <a:pPr indent="0" marL="0">
              <a:spcAft>
                <a:spcPts val="200"/>
              </a:spcAft>
              <a:buNone/>
            </a:pPr>
            <a:r>
              <a:rPr lang="en-US" sz="1150" b="1" dirty="0">
                <a:solidFill>
                  <a:srgbClr val="00553A"/>
                </a:solidFill>
              </a:rPr>
              <a:t>Levels (VIIRS) — </a:t>
            </a:r>
            <a:pPr indent="0" marL="0">
              <a:spcAft>
                <a:spcPts val="200"/>
              </a:spcAft>
              <a:buNone/>
            </a:pPr>
            <a:r>
              <a:rPr lang="en-US" sz="1150" dirty="0">
                <a:solidFill>
                  <a:srgbClr val="231F20"/>
                </a:solidFill>
              </a:rPr>
              <a:t>long-run relationship; spurious-regression risk</a:t>
            </a:r>
            <a:endParaRPr lang="en-US" sz="1150" dirty="0"/>
          </a:p>
        </p:txBody>
      </p:sp>
      <p:sp>
        <p:nvSpPr>
          <p:cNvPr id="10" name="Shape 7"/>
          <p:cNvSpPr/>
          <p:nvPr/>
        </p:nvSpPr>
        <p:spPr>
          <a:xfrm>
            <a:off x="8275320" y="3273552"/>
            <a:ext cx="3383280" cy="548640"/>
          </a:xfrm>
          <a:prstGeom prst="roundRect">
            <a:avLst>
              <a:gd name="adj" fmla="val 20000"/>
            </a:avLst>
          </a:prstGeom>
          <a:solidFill>
            <a:srgbClr val="EAF2FB"/>
          </a:solidFill>
          <a:ln w="9525">
            <a:solidFill>
              <a:srgbClr val="EAF2FB"/>
            </a:solidFill>
            <a:prstDash val="solid"/>
          </a:ln>
        </p:spPr>
      </p:sp>
      <p:sp>
        <p:nvSpPr>
          <p:cNvPr id="11" name="Text 8"/>
          <p:cNvSpPr txBox="1"/>
          <p:nvPr/>
        </p:nvSpPr>
        <p:spPr>
          <a:xfrm>
            <a:off x="8366760" y="3273552"/>
            <a:ext cx="3246120" cy="548640"/>
          </a:xfrm>
          <a:prstGeom prst="rect">
            <a:avLst/>
          </a:prstGeom>
          <a:noFill/>
          <a:ln/>
        </p:spPr>
        <p:txBody>
          <a:bodyPr wrap="square" lIns="635" tIns="635" rIns="635" bIns="635" rtlCol="0" anchor="ctr"/>
          <a:lstStyle/>
          <a:p>
            <a:pPr indent="0" marL="0">
              <a:spcAft>
                <a:spcPts val="200"/>
              </a:spcAft>
              <a:buNone/>
            </a:pPr>
            <a:r>
              <a:rPr lang="en-US" sz="1150" b="1" dirty="0">
                <a:solidFill>
                  <a:srgbClr val="1F4E8C"/>
                </a:solidFill>
              </a:rPr>
              <a:t>Growth (VIIRS) — </a:t>
            </a:r>
            <a:pPr indent="0" marL="0">
              <a:spcAft>
                <a:spcPts val="200"/>
              </a:spcAft>
              <a:buNone/>
            </a:pPr>
            <a:r>
              <a:rPr lang="en-US" sz="1150" dirty="0">
                <a:solidFill>
                  <a:srgbClr val="231F20"/>
                </a:solidFill>
              </a:rPr>
              <a:t>Δlog: removes the common trend; more demanding</a:t>
            </a:r>
            <a:endParaRPr lang="en-US" sz="1150" dirty="0"/>
          </a:p>
        </p:txBody>
      </p:sp>
      <p:sp>
        <p:nvSpPr>
          <p:cNvPr id="12" name="Shape 9"/>
          <p:cNvSpPr/>
          <p:nvPr/>
        </p:nvSpPr>
        <p:spPr>
          <a:xfrm>
            <a:off x="8275320" y="3895344"/>
            <a:ext cx="3383280" cy="548640"/>
          </a:xfrm>
          <a:prstGeom prst="roundRect">
            <a:avLst>
              <a:gd name="adj" fmla="val 20000"/>
            </a:avLst>
          </a:prstGeom>
          <a:solidFill>
            <a:srgbClr val="F4F7F5"/>
          </a:solidFill>
          <a:ln w="9525">
            <a:solidFill>
              <a:srgbClr val="F4F7F5"/>
            </a:solidFill>
            <a:prstDash val="solid"/>
          </a:ln>
        </p:spPr>
      </p:sp>
      <p:sp>
        <p:nvSpPr>
          <p:cNvPr id="13" name="Text 10"/>
          <p:cNvSpPr txBox="1"/>
          <p:nvPr/>
        </p:nvSpPr>
        <p:spPr>
          <a:xfrm>
            <a:off x="8366760" y="3895344"/>
            <a:ext cx="3246120" cy="548640"/>
          </a:xfrm>
          <a:prstGeom prst="rect">
            <a:avLst/>
          </a:prstGeom>
          <a:noFill/>
          <a:ln/>
        </p:spPr>
        <p:txBody>
          <a:bodyPr wrap="square" lIns="635" tIns="635" rIns="635" bIns="635" rtlCol="0" anchor="ctr"/>
          <a:lstStyle/>
          <a:p>
            <a:pPr indent="0" marL="0">
              <a:spcAft>
                <a:spcPts val="200"/>
              </a:spcAft>
              <a:buNone/>
            </a:pPr>
            <a:r>
              <a:rPr lang="en-US" sz="1150" b="1" dirty="0">
                <a:solidFill>
                  <a:srgbClr val="00553A"/>
                </a:solidFill>
              </a:rPr>
              <a:t>Long series — </a:t>
            </a:r>
            <a:pPr indent="0" marL="0">
              <a:spcAft>
                <a:spcPts val="200"/>
              </a:spcAft>
              <a:buNone/>
            </a:pPr>
            <a:r>
              <a:rPr lang="en-US" sz="1150" dirty="0">
                <a:solidFill>
                  <a:srgbClr val="231F20"/>
                </a:solidFill>
              </a:rPr>
              <a:t>harmonised DMSP–VIIRS, with a sensor dummy</a:t>
            </a:r>
            <a:endParaRPr lang="en-US" sz="1150" dirty="0"/>
          </a:p>
        </p:txBody>
      </p:sp>
      <p:sp>
        <p:nvSpPr>
          <p:cNvPr id="14" name="Shape 11"/>
          <p:cNvSpPr/>
          <p:nvPr/>
        </p:nvSpPr>
        <p:spPr>
          <a:xfrm>
            <a:off x="548640" y="4663440"/>
            <a:ext cx="5486400" cy="1508760"/>
          </a:xfrm>
          <a:prstGeom prst="roundRect">
            <a:avLst>
              <a:gd name="adj" fmla="val 7273"/>
            </a:avLst>
          </a:prstGeom>
          <a:solidFill>
            <a:srgbClr val="E8F5EF"/>
          </a:solidFill>
          <a:ln w="9525">
            <a:solidFill>
              <a:srgbClr val="E8F5EF"/>
            </a:solidFill>
            <a:prstDash val="solid"/>
          </a:ln>
        </p:spPr>
      </p:sp>
      <p:sp>
        <p:nvSpPr>
          <p:cNvPr id="15" name="Text 12"/>
          <p:cNvSpPr txBox="1"/>
          <p:nvPr/>
        </p:nvSpPr>
        <p:spPr>
          <a:xfrm>
            <a:off x="685800" y="4709160"/>
            <a:ext cx="521208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Why two specifications?</a:t>
            </a:r>
            <a:endParaRPr lang="en-US" sz="1400" dirty="0"/>
          </a:p>
        </p:txBody>
      </p:sp>
      <p:sp>
        <p:nvSpPr>
          <p:cNvPr id="16" name="Text 13"/>
          <p:cNvSpPr txBox="1"/>
          <p:nvPr/>
        </p:nvSpPr>
        <p:spPr>
          <a:xfrm>
            <a:off x="685800" y="5029200"/>
            <a:ext cx="5212080" cy="109728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Two series that both rise over time look correlated even with no causal link: this is spurious regression. If β stays similar in growth rates, the relationship is credible.</a:t>
            </a:r>
            <a:endParaRPr lang="en-US" sz="1300" dirty="0"/>
          </a:p>
        </p:txBody>
      </p:sp>
      <p:sp>
        <p:nvSpPr>
          <p:cNvPr id="17" name="Shape 14"/>
          <p:cNvSpPr/>
          <p:nvPr/>
        </p:nvSpPr>
        <p:spPr>
          <a:xfrm>
            <a:off x="6217920" y="4663440"/>
            <a:ext cx="5440680" cy="1508760"/>
          </a:xfrm>
          <a:prstGeom prst="roundRect">
            <a:avLst>
              <a:gd name="adj" fmla="val 7273"/>
            </a:avLst>
          </a:prstGeom>
          <a:solidFill>
            <a:srgbClr val="FDF6E3"/>
          </a:solidFill>
          <a:ln w="9525">
            <a:solidFill>
              <a:srgbClr val="FDF6E3"/>
            </a:solidFill>
            <a:prstDash val="solid"/>
          </a:ln>
        </p:spPr>
      </p:sp>
      <p:sp>
        <p:nvSpPr>
          <p:cNvPr id="18" name="Text 15"/>
          <p:cNvSpPr txBox="1"/>
          <p:nvPr/>
        </p:nvSpPr>
        <p:spPr>
          <a:xfrm>
            <a:off x="6355080" y="4736592"/>
            <a:ext cx="5166360" cy="136245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Economic reading  </a:t>
            </a:r>
            <a:pPr indent="0" marL="0">
              <a:spcAft>
                <a:spcPts val="200"/>
              </a:spcAft>
              <a:buNone/>
            </a:pPr>
            <a:r>
              <a:rPr lang="en-US" sz="1300" dirty="0">
                <a:solidFill>
                  <a:srgbClr val="231F20"/>
                </a:solidFill>
              </a:rPr>
              <a:t>β &lt; 1: light grows more slowly than GDP (services, LEDs, efficiency). β unstable across specifications: use lights only as a directional signal.</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7</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Diagnostics and out-of-sample prediction: an honest test</a:t>
            </a:r>
            <a:endParaRPr lang="en-US" sz="2800" dirty="0"/>
          </a:p>
        </p:txBody>
      </p:sp>
      <p:pic>
        <p:nvPicPr>
          <p:cNvPr id="4" name="Image 0" descr="/tmp/claude-0/-home-claude/8a8742ef-7d0d-54fc-a0c9-7ecbfc9f8b73/scratchpad/deck/img/tracking_en.png">    </p:cNvPr>
          <p:cNvPicPr>
            <a:picLocks noChangeAspect="1"/>
          </p:cNvPicPr>
          <p:nvPr/>
        </p:nvPicPr>
        <p:blipFill>
          <a:blip r:embed="rId1"/>
          <a:stretch>
            <a:fillRect/>
          </a:stretch>
        </p:blipFill>
        <p:spPr>
          <a:xfrm>
            <a:off x="548640" y="1398664"/>
            <a:ext cx="6583680" cy="3146271"/>
          </a:xfrm>
          <a:prstGeom prst="rect">
            <a:avLst/>
          </a:prstGeom>
        </p:spPr>
      </p:pic>
      <p:sp>
        <p:nvSpPr>
          <p:cNvPr id="5" name="Shape 2"/>
          <p:cNvSpPr/>
          <p:nvPr/>
        </p:nvSpPr>
        <p:spPr>
          <a:xfrm>
            <a:off x="7406640" y="1371600"/>
            <a:ext cx="4251960" cy="731520"/>
          </a:xfrm>
          <a:prstGeom prst="roundRect">
            <a:avLst>
              <a:gd name="adj" fmla="val 15000"/>
            </a:avLst>
          </a:prstGeom>
          <a:solidFill>
            <a:srgbClr val="F4F7F5"/>
          </a:solidFill>
          <a:ln w="9525">
            <a:solidFill>
              <a:srgbClr val="F4F7F5"/>
            </a:solidFill>
            <a:prstDash val="solid"/>
          </a:ln>
        </p:spPr>
      </p:sp>
      <p:sp>
        <p:nvSpPr>
          <p:cNvPr id="6" name="Text 3"/>
          <p:cNvSpPr txBox="1"/>
          <p:nvPr/>
        </p:nvSpPr>
        <p:spPr>
          <a:xfrm>
            <a:off x="7543800" y="138988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HAC (Newey–West)</a:t>
            </a:r>
            <a:endParaRPr lang="en-US" sz="1400" dirty="0"/>
          </a:p>
        </p:txBody>
      </p:sp>
      <p:sp>
        <p:nvSpPr>
          <p:cNvPr id="7" name="Text 4"/>
          <p:cNvSpPr txBox="1"/>
          <p:nvPr/>
        </p:nvSpPr>
        <p:spPr>
          <a:xfrm>
            <a:off x="7543800" y="170992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standard errors corrected for autocorrelation in annual residuals</a:t>
            </a:r>
            <a:endParaRPr lang="en-US" sz="1200" dirty="0"/>
          </a:p>
        </p:txBody>
      </p:sp>
      <p:sp>
        <p:nvSpPr>
          <p:cNvPr id="8" name="Shape 5"/>
          <p:cNvSpPr/>
          <p:nvPr/>
        </p:nvSpPr>
        <p:spPr>
          <a:xfrm>
            <a:off x="7406640" y="2194560"/>
            <a:ext cx="4251960" cy="731520"/>
          </a:xfrm>
          <a:prstGeom prst="roundRect">
            <a:avLst>
              <a:gd name="adj" fmla="val 15000"/>
            </a:avLst>
          </a:prstGeom>
          <a:solidFill>
            <a:srgbClr val="F4F7F5"/>
          </a:solidFill>
          <a:ln w="9525">
            <a:solidFill>
              <a:srgbClr val="F4F7F5"/>
            </a:solidFill>
            <a:prstDash val="solid"/>
          </a:ln>
        </p:spPr>
      </p:sp>
      <p:sp>
        <p:nvSpPr>
          <p:cNvPr id="9" name="Text 6"/>
          <p:cNvSpPr txBox="1"/>
          <p:nvPr/>
        </p:nvSpPr>
        <p:spPr>
          <a:xfrm>
            <a:off x="7543800" y="221284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Durbin–Watson</a:t>
            </a:r>
            <a:endParaRPr lang="en-US" sz="1400" dirty="0"/>
          </a:p>
        </p:txBody>
      </p:sp>
      <p:sp>
        <p:nvSpPr>
          <p:cNvPr id="10" name="Text 7"/>
          <p:cNvSpPr txBox="1"/>
          <p:nvPr/>
        </p:nvSpPr>
        <p:spPr>
          <a:xfrm>
            <a:off x="7543800" y="253288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residual autocorrelation; ≈ 2 if absent</a:t>
            </a:r>
            <a:endParaRPr lang="en-US" sz="1200" dirty="0"/>
          </a:p>
        </p:txBody>
      </p:sp>
      <p:sp>
        <p:nvSpPr>
          <p:cNvPr id="11" name="Shape 8"/>
          <p:cNvSpPr/>
          <p:nvPr/>
        </p:nvSpPr>
        <p:spPr>
          <a:xfrm>
            <a:off x="7406640" y="3017520"/>
            <a:ext cx="4251960" cy="731520"/>
          </a:xfrm>
          <a:prstGeom prst="roundRect">
            <a:avLst>
              <a:gd name="adj" fmla="val 15000"/>
            </a:avLst>
          </a:prstGeom>
          <a:solidFill>
            <a:srgbClr val="F4F7F5"/>
          </a:solidFill>
          <a:ln w="9525">
            <a:solidFill>
              <a:srgbClr val="F4F7F5"/>
            </a:solidFill>
            <a:prstDash val="solid"/>
          </a:ln>
        </p:spPr>
      </p:sp>
      <p:sp>
        <p:nvSpPr>
          <p:cNvPr id="12" name="Text 9"/>
          <p:cNvSpPr txBox="1"/>
          <p:nvPr/>
        </p:nvSpPr>
        <p:spPr>
          <a:xfrm>
            <a:off x="7543800" y="303580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Breusch–Pagan</a:t>
            </a:r>
            <a:endParaRPr lang="en-US" sz="1400" dirty="0"/>
          </a:p>
        </p:txBody>
      </p:sp>
      <p:sp>
        <p:nvSpPr>
          <p:cNvPr id="13" name="Text 10"/>
          <p:cNvSpPr txBox="1"/>
          <p:nvPr/>
        </p:nvSpPr>
        <p:spPr>
          <a:xfrm>
            <a:off x="7543800" y="335584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heteroskedasticity: does error variance change?</a:t>
            </a:r>
            <a:endParaRPr lang="en-US" sz="1200" dirty="0"/>
          </a:p>
        </p:txBody>
      </p:sp>
      <p:sp>
        <p:nvSpPr>
          <p:cNvPr id="14" name="Shape 11"/>
          <p:cNvSpPr/>
          <p:nvPr/>
        </p:nvSpPr>
        <p:spPr>
          <a:xfrm>
            <a:off x="7406640" y="3840480"/>
            <a:ext cx="4251960" cy="731520"/>
          </a:xfrm>
          <a:prstGeom prst="roundRect">
            <a:avLst>
              <a:gd name="adj" fmla="val 15000"/>
            </a:avLst>
          </a:prstGeom>
          <a:solidFill>
            <a:srgbClr val="F4F7F5"/>
          </a:solidFill>
          <a:ln w="9525">
            <a:solidFill>
              <a:srgbClr val="F4F7F5"/>
            </a:solidFill>
            <a:prstDash val="solid"/>
          </a:ln>
        </p:spPr>
      </p:sp>
      <p:sp>
        <p:nvSpPr>
          <p:cNvPr id="15" name="Text 12"/>
          <p:cNvSpPr txBox="1"/>
          <p:nvPr/>
        </p:nvSpPr>
        <p:spPr>
          <a:xfrm>
            <a:off x="7543800" y="3858768"/>
            <a:ext cx="4023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Jarque–Bera</a:t>
            </a:r>
            <a:endParaRPr lang="en-US" sz="1400" dirty="0"/>
          </a:p>
        </p:txBody>
      </p:sp>
      <p:sp>
        <p:nvSpPr>
          <p:cNvPr id="16" name="Text 13"/>
          <p:cNvSpPr txBox="1"/>
          <p:nvPr/>
        </p:nvSpPr>
        <p:spPr>
          <a:xfrm>
            <a:off x="7543800" y="4178808"/>
            <a:ext cx="4023360" cy="36576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normality of residuals</a:t>
            </a:r>
            <a:endParaRPr lang="en-US" sz="1200" dirty="0"/>
          </a:p>
        </p:txBody>
      </p:sp>
      <p:sp>
        <p:nvSpPr>
          <p:cNvPr id="17" name="Shape 14"/>
          <p:cNvSpPr/>
          <p:nvPr/>
        </p:nvSpPr>
        <p:spPr>
          <a:xfrm>
            <a:off x="548640" y="4800600"/>
            <a:ext cx="6583680" cy="1371600"/>
          </a:xfrm>
          <a:prstGeom prst="roundRect">
            <a:avLst>
              <a:gd name="adj" fmla="val 8000"/>
            </a:avLst>
          </a:prstGeom>
          <a:solidFill>
            <a:srgbClr val="E8F5EF"/>
          </a:solidFill>
          <a:ln w="9525">
            <a:solidFill>
              <a:srgbClr val="E8F5EF"/>
            </a:solidFill>
            <a:prstDash val="solid"/>
          </a:ln>
        </p:spPr>
      </p:sp>
      <p:sp>
        <p:nvSpPr>
          <p:cNvPr id="18" name="Text 15"/>
          <p:cNvSpPr txBox="1"/>
          <p:nvPr/>
        </p:nvSpPr>
        <p:spPr>
          <a:xfrm>
            <a:off x="685800" y="4846320"/>
            <a:ext cx="63093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Out-of-sample prediction (leave-one-out)</a:t>
            </a:r>
            <a:endParaRPr lang="en-US" sz="1400" dirty="0"/>
          </a:p>
        </p:txBody>
      </p:sp>
      <p:sp>
        <p:nvSpPr>
          <p:cNvPr id="19" name="Text 16"/>
          <p:cNvSpPr txBox="1"/>
          <p:nvPr/>
        </p:nvSpPr>
        <p:spPr>
          <a:xfrm>
            <a:off x="685800" y="5166360"/>
            <a:ext cx="6309360" cy="96012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Each year is predicted by a model estimated without it. The notebook reports the correlation and the mean absolute error (in growth points): the honest measure of predictive ability.</a:t>
            </a:r>
            <a:endParaRPr lang="en-US" sz="1300" dirty="0"/>
          </a:p>
        </p:txBody>
      </p:sp>
      <p:sp>
        <p:nvSpPr>
          <p:cNvPr id="20" name="Shape 17"/>
          <p:cNvSpPr/>
          <p:nvPr/>
        </p:nvSpPr>
        <p:spPr>
          <a:xfrm>
            <a:off x="7406640" y="4800600"/>
            <a:ext cx="4251960" cy="1371600"/>
          </a:xfrm>
          <a:prstGeom prst="roundRect">
            <a:avLst>
              <a:gd name="adj" fmla="val 8000"/>
            </a:avLst>
          </a:prstGeom>
          <a:solidFill>
            <a:srgbClr val="FBECEC"/>
          </a:solidFill>
          <a:ln w="9525">
            <a:solidFill>
              <a:srgbClr val="FBECEC"/>
            </a:solidFill>
            <a:prstDash val="solid"/>
          </a:ln>
        </p:spPr>
      </p:sp>
      <p:sp>
        <p:nvSpPr>
          <p:cNvPr id="21" name="Text 18"/>
          <p:cNvSpPr txBox="1"/>
          <p:nvPr/>
        </p:nvSpPr>
        <p:spPr>
          <a:xfrm>
            <a:off x="7543800" y="4873752"/>
            <a:ext cx="3977640" cy="1225296"/>
          </a:xfrm>
          <a:prstGeom prst="rect">
            <a:avLst/>
          </a:prstGeom>
          <a:noFill/>
          <a:ln/>
        </p:spPr>
        <p:txBody>
          <a:bodyPr wrap="square" lIns="635" tIns="635" rIns="635" bIns="635" rtlCol="0" anchor="ctr"/>
          <a:lstStyle/>
          <a:p>
            <a:pPr indent="0" marL="0">
              <a:spcAft>
                <a:spcPts val="200"/>
              </a:spcAft>
              <a:buNone/>
            </a:pPr>
            <a:r>
              <a:rPr lang="en-US" sz="1300" b="1" dirty="0">
                <a:solidFill>
                  <a:srgbClr val="D64545"/>
                </a:solidFill>
              </a:rPr>
              <a:t>Pitfall  </a:t>
            </a:r>
            <a:pPr indent="0" marL="0">
              <a:spcAft>
                <a:spcPts val="200"/>
              </a:spcAft>
              <a:buNone/>
            </a:pPr>
            <a:r>
              <a:rPr lang="en-US" sz="1300" dirty="0">
                <a:solidFill>
                  <a:srgbClr val="231F20"/>
                </a:solidFill>
              </a:rPr>
              <a:t>settling for the R² in levels: it is almost always high. Read β's CI and the out-of-sample error.</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7</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Estimating activity where statistics are missing</a:t>
            </a:r>
            <a:endParaRPr lang="en-US" sz="2800" dirty="0"/>
          </a:p>
        </p:txBody>
      </p:sp>
      <p:sp>
        <p:nvSpPr>
          <p:cNvPr id="4" name="Shape 2"/>
          <p:cNvSpPr/>
          <p:nvPr/>
        </p:nvSpPr>
        <p:spPr>
          <a:xfrm>
            <a:off x="548640" y="1371600"/>
            <a:ext cx="5394960" cy="2240280"/>
          </a:xfrm>
          <a:prstGeom prst="roundRect">
            <a:avLst>
              <a:gd name="adj" fmla="val 4898"/>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554480"/>
            <a:ext cx="502920" cy="502920"/>
          </a:xfrm>
          <a:prstGeom prst="ellipse">
            <a:avLst/>
          </a:prstGeom>
          <a:solidFill>
            <a:srgbClr val="1F4E8C"/>
          </a:solidFill>
          <a:ln w="12700">
            <a:solidFill>
              <a:srgbClr val="1F4E8C"/>
            </a:solidFill>
            <a:prstDash val="solid"/>
          </a:ln>
        </p:spPr>
      </p:sp>
      <p:pic>
        <p:nvPicPr>
          <p:cNvPr id="6" name="Image 0" descr="preencoded.png">    </p:cNvPr>
          <p:cNvPicPr>
            <a:picLocks noChangeAspect="1"/>
          </p:cNvPicPr>
          <p:nvPr/>
        </p:nvPicPr>
        <p:blipFill>
          <a:blip r:embed="rId1"/>
          <a:stretch>
            <a:fillRect/>
          </a:stretch>
        </p:blipFill>
        <p:spPr>
          <a:xfrm>
            <a:off x="852221" y="1675181"/>
            <a:ext cx="261518" cy="261518"/>
          </a:xfrm>
          <a:prstGeom prst="rect">
            <a:avLst/>
          </a:prstGeom>
        </p:spPr>
      </p:pic>
      <p:sp>
        <p:nvSpPr>
          <p:cNvPr id="7" name="Text 4"/>
          <p:cNvSpPr txBox="1"/>
          <p:nvPr/>
        </p:nvSpPr>
        <p:spPr>
          <a:xfrm>
            <a:off x="1371600" y="1536192"/>
            <a:ext cx="44348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Nowcast: the not-yet-published year</a:t>
            </a:r>
            <a:endParaRPr lang="en-US" sz="1500" dirty="0"/>
          </a:p>
        </p:txBody>
      </p:sp>
      <p:sp>
        <p:nvSpPr>
          <p:cNvPr id="8" name="Text 5"/>
          <p:cNvSpPr txBox="1"/>
          <p:nvPr/>
        </p:nvSpPr>
        <p:spPr>
          <a:xfrm>
            <a:off x="731520" y="2176272"/>
            <a:ext cx="5029200" cy="132588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GDP growth for the recent year is estimated from light growth, with 80% and 95% prediction intervals.</a:t>
            </a:r>
            <a:endParaRPr lang="en-US" sz="1350" dirty="0"/>
          </a:p>
        </p:txBody>
      </p:sp>
      <p:sp>
        <p:nvSpPr>
          <p:cNvPr id="9" name="Shape 6"/>
          <p:cNvSpPr/>
          <p:nvPr/>
        </p:nvSpPr>
        <p:spPr>
          <a:xfrm>
            <a:off x="731520" y="2880360"/>
            <a:ext cx="5029200" cy="548640"/>
          </a:xfrm>
          <a:prstGeom prst="roundRect">
            <a:avLst>
              <a:gd name="adj" fmla="val 20000"/>
            </a:avLst>
          </a:prstGeom>
          <a:solidFill>
            <a:srgbClr val="EAF2FB"/>
          </a:solidFill>
          <a:ln w="9525">
            <a:solidFill>
              <a:srgbClr val="EAF2FB"/>
            </a:solidFill>
            <a:prstDash val="solid"/>
          </a:ln>
        </p:spPr>
      </p:sp>
      <p:sp>
        <p:nvSpPr>
          <p:cNvPr id="10" name="Text 7"/>
          <p:cNvSpPr txBox="1"/>
          <p:nvPr/>
        </p:nvSpPr>
        <p:spPr>
          <a:xfrm>
            <a:off x="868680" y="2880360"/>
            <a:ext cx="4754880" cy="548640"/>
          </a:xfrm>
          <a:prstGeom prst="rect">
            <a:avLst/>
          </a:prstGeom>
          <a:noFill/>
          <a:ln/>
        </p:spPr>
        <p:txBody>
          <a:bodyPr wrap="square" lIns="635" tIns="635" rIns="635" bIns="635" rtlCol="0" anchor="ctr"/>
          <a:lstStyle/>
          <a:p>
            <a:pPr algn="ctr" indent="0" marL="0">
              <a:spcAft>
                <a:spcPts val="200"/>
              </a:spcAft>
              <a:buNone/>
            </a:pPr>
            <a:r>
              <a:rPr lang="en-US" sz="1600" dirty="0">
                <a:solidFill>
                  <a:srgbClr val="1F4E8C"/>
                </a:solidFill>
                <a:latin typeface="Cambria" pitchFamily="34" charset="0"/>
                <a:ea typeface="Cambria" pitchFamily="34" charset="-122"/>
                <a:cs typeface="Cambria" pitchFamily="34" charset="-120"/>
              </a:rPr>
              <a:t>Δlog(GDPₜ) = a + γ · Δlog(NTLₜ)</a:t>
            </a:r>
            <a:endParaRPr lang="en-US" sz="1600" dirty="0"/>
          </a:p>
        </p:txBody>
      </p:sp>
      <p:pic>
        <p:nvPicPr>
          <p:cNvPr id="11" name="Image 1" descr="/tmp/claude-0/-home-claude/8a8742ef-7d0d-54fc-a0c9-7ecbfc9f8b73/scratchpad/deck/img/regional_gdp_en.png">    </p:cNvPr>
          <p:cNvPicPr>
            <a:picLocks noChangeAspect="1"/>
          </p:cNvPicPr>
          <p:nvPr/>
        </p:nvPicPr>
        <p:blipFill>
          <a:blip r:embed="rId2"/>
          <a:stretch>
            <a:fillRect/>
          </a:stretch>
        </p:blipFill>
        <p:spPr>
          <a:xfrm>
            <a:off x="6172200" y="1387192"/>
            <a:ext cx="5486400" cy="2620576"/>
          </a:xfrm>
          <a:prstGeom prst="rect">
            <a:avLst/>
          </a:prstGeom>
        </p:spPr>
      </p:pic>
      <p:sp>
        <p:nvSpPr>
          <p:cNvPr id="12" name="Shape 8"/>
          <p:cNvSpPr/>
          <p:nvPr/>
        </p:nvSpPr>
        <p:spPr>
          <a:xfrm>
            <a:off x="6263640" y="4160520"/>
            <a:ext cx="5303520" cy="548640"/>
          </a:xfrm>
          <a:prstGeom prst="roundRect">
            <a:avLst>
              <a:gd name="adj" fmla="val 20000"/>
            </a:avLst>
          </a:prstGeom>
          <a:solidFill>
            <a:srgbClr val="EAF2FB"/>
          </a:solidFill>
          <a:ln w="9525">
            <a:solidFill>
              <a:srgbClr val="EAF2FB"/>
            </a:solidFill>
            <a:prstDash val="solid"/>
          </a:ln>
        </p:spPr>
      </p:sp>
      <p:sp>
        <p:nvSpPr>
          <p:cNvPr id="13" name="Text 9"/>
          <p:cNvSpPr txBox="1"/>
          <p:nvPr/>
        </p:nvSpPr>
        <p:spPr>
          <a:xfrm>
            <a:off x="6400800" y="4160520"/>
            <a:ext cx="5029200" cy="548640"/>
          </a:xfrm>
          <a:prstGeom prst="rect">
            <a:avLst/>
          </a:prstGeom>
          <a:noFill/>
          <a:ln/>
        </p:spPr>
        <p:txBody>
          <a:bodyPr wrap="square" lIns="635" tIns="635" rIns="635" bIns="635" rtlCol="0" anchor="ctr"/>
          <a:lstStyle/>
          <a:p>
            <a:pPr algn="ctr" indent="0" marL="0">
              <a:spcAft>
                <a:spcPts val="200"/>
              </a:spcAft>
              <a:buNone/>
            </a:pPr>
            <a:r>
              <a:rPr lang="en-US" sz="1600" dirty="0">
                <a:solidFill>
                  <a:srgbClr val="1F4E8C"/>
                </a:solidFill>
                <a:latin typeface="Cambria" pitchFamily="34" charset="0"/>
                <a:ea typeface="Cambria" pitchFamily="34" charset="-122"/>
                <a:cs typeface="Cambria" pitchFamily="34" charset="-120"/>
              </a:rPr>
              <a:t>GDPᵣ = national GDP × SoLᵣ</a:t>
            </a:r>
            <a:pPr algn="ctr" indent="0" marL="0">
              <a:spcAft>
                <a:spcPts val="200"/>
              </a:spcAft>
              <a:buNone/>
            </a:pPr>
            <a:r>
              <a:rPr lang="en-US" sz="1600" baseline="30000" dirty="0">
                <a:solidFill>
                  <a:srgbClr val="1F4E8C"/>
                </a:solidFill>
                <a:latin typeface="Cambria" pitchFamily="34" charset="0"/>
                <a:ea typeface="Cambria" pitchFamily="34" charset="-122"/>
                <a:cs typeface="Cambria" pitchFamily="34" charset="-120"/>
              </a:rPr>
              <a:t>γ</a:t>
            </a:r>
            <a:pPr algn="ctr" indent="0" marL="0">
              <a:spcAft>
                <a:spcPts val="200"/>
              </a:spcAft>
              <a:buNone/>
            </a:pPr>
            <a:r>
              <a:rPr lang="en-US" sz="1600" dirty="0">
                <a:solidFill>
                  <a:srgbClr val="1F4E8C"/>
                </a:solidFill>
                <a:latin typeface="Cambria" pitchFamily="34" charset="0"/>
                <a:ea typeface="Cambria" pitchFamily="34" charset="-122"/>
                <a:cs typeface="Cambria" pitchFamily="34" charset="-120"/>
              </a:rPr>
              <a:t> / Σ SoL</a:t>
            </a:r>
            <a:pPr algn="ctr" indent="0" marL="0">
              <a:spcAft>
                <a:spcPts val="200"/>
              </a:spcAft>
              <a:buNone/>
            </a:pPr>
            <a:r>
              <a:rPr lang="en-US" sz="1600" baseline="30000" dirty="0">
                <a:solidFill>
                  <a:srgbClr val="1F4E8C"/>
                </a:solidFill>
                <a:latin typeface="Cambria" pitchFamily="34" charset="0"/>
                <a:ea typeface="Cambria" pitchFamily="34" charset="-122"/>
                <a:cs typeface="Cambria" pitchFamily="34" charset="-120"/>
              </a:rPr>
              <a:t>γ</a:t>
            </a:r>
            <a:endParaRPr lang="en-US" sz="1600" dirty="0"/>
          </a:p>
        </p:txBody>
      </p:sp>
      <p:sp>
        <p:nvSpPr>
          <p:cNvPr id="14" name="Text 10"/>
          <p:cNvSpPr txBox="1"/>
          <p:nvPr/>
        </p:nvSpPr>
        <p:spPr>
          <a:xfrm>
            <a:off x="6263640" y="4800600"/>
            <a:ext cx="5394960" cy="1371600"/>
          </a:xfrm>
          <a:prstGeom prst="rect">
            <a:avLst/>
          </a:prstGeom>
          <a:noFill/>
          <a:ln/>
        </p:spPr>
        <p:txBody>
          <a:bodyPr wrap="square" lIns="635" tIns="635" rIns="635" bIns="635" rtlCol="0" anchor="t"/>
          <a:lstStyle/>
          <a:p>
            <a:pPr indent="0" marL="0">
              <a:spcAft>
                <a:spcPts val="200"/>
              </a:spcAft>
              <a:buNone/>
            </a:pPr>
            <a:r>
              <a:rPr lang="en-US" sz="1300" b="1" dirty="0">
                <a:solidFill>
                  <a:srgbClr val="00553A"/>
                </a:solidFill>
              </a:rPr>
              <a:t>Experimental regional GDP. </a:t>
            </a:r>
            <a:pPr indent="0" marL="0">
              <a:spcAft>
                <a:spcPts val="200"/>
              </a:spcAft>
              <a:buNone/>
            </a:pPr>
            <a:r>
              <a:rPr lang="en-US" sz="1300" dirty="0">
                <a:solidFill>
                  <a:srgbClr val="231F20"/>
                </a:solidFill>
              </a:rPr>
              <a:t>γ = 1: pro rata to light; γ = 0.5: sensitivity giving more weight to dimly lit regions. The gap between the two measures the uncertainty due to the assumption.</a:t>
            </a:r>
            <a:endParaRPr lang="en-US" sz="1300" dirty="0"/>
          </a:p>
        </p:txBody>
      </p:sp>
      <p:sp>
        <p:nvSpPr>
          <p:cNvPr id="15" name="Shape 11"/>
          <p:cNvSpPr/>
          <p:nvPr/>
        </p:nvSpPr>
        <p:spPr>
          <a:xfrm>
            <a:off x="548640" y="3840480"/>
            <a:ext cx="5394960" cy="2331720"/>
          </a:xfrm>
          <a:prstGeom prst="roundRect">
            <a:avLst>
              <a:gd name="adj" fmla="val 4706"/>
            </a:avLst>
          </a:prstGeom>
          <a:solidFill>
            <a:srgbClr val="FDF6E3"/>
          </a:solidFill>
          <a:ln w="9525">
            <a:solidFill>
              <a:srgbClr val="FDF6E3"/>
            </a:solidFill>
            <a:prstDash val="solid"/>
          </a:ln>
        </p:spPr>
      </p:sp>
      <p:sp>
        <p:nvSpPr>
          <p:cNvPr id="16" name="Shape 12"/>
          <p:cNvSpPr/>
          <p:nvPr/>
        </p:nvSpPr>
        <p:spPr>
          <a:xfrm>
            <a:off x="731520" y="4023360"/>
            <a:ext cx="548640" cy="548640"/>
          </a:xfrm>
          <a:prstGeom prst="ellipse">
            <a:avLst/>
          </a:prstGeom>
          <a:solidFill>
            <a:srgbClr val="B7791F"/>
          </a:solidFill>
          <a:ln w="12700">
            <a:solidFill>
              <a:srgbClr val="B7791F"/>
            </a:solidFill>
            <a:prstDash val="solid"/>
          </a:ln>
        </p:spPr>
      </p:sp>
      <p:pic>
        <p:nvPicPr>
          <p:cNvPr id="17" name="Image 2" descr="preencoded.png">    </p:cNvPr>
          <p:cNvPicPr>
            <a:picLocks noChangeAspect="1"/>
          </p:cNvPicPr>
          <p:nvPr/>
        </p:nvPicPr>
        <p:blipFill>
          <a:blip r:embed="rId3"/>
          <a:stretch>
            <a:fillRect/>
          </a:stretch>
        </p:blipFill>
        <p:spPr>
          <a:xfrm>
            <a:off x="863194" y="4155034"/>
            <a:ext cx="285293" cy="285293"/>
          </a:xfrm>
          <a:prstGeom prst="rect">
            <a:avLst/>
          </a:prstGeom>
        </p:spPr>
      </p:pic>
      <p:sp>
        <p:nvSpPr>
          <p:cNvPr id="18" name="Text 13"/>
          <p:cNvSpPr txBox="1"/>
          <p:nvPr/>
        </p:nvSpPr>
        <p:spPr>
          <a:xfrm>
            <a:off x="1417320" y="4023360"/>
            <a:ext cx="4389120" cy="548640"/>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Status: experimental statistics</a:t>
            </a:r>
            <a:endParaRPr lang="en-US" sz="1600" dirty="0"/>
          </a:p>
        </p:txBody>
      </p:sp>
      <p:sp>
        <p:nvSpPr>
          <p:cNvPr id="19" name="Text 14"/>
          <p:cNvSpPr txBox="1"/>
          <p:nvPr/>
        </p:nvSpPr>
        <p:spPr>
          <a:xfrm>
            <a:off x="731520" y="4663440"/>
            <a:ext cx="5029200" cy="146304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These estimates carry “low” confidence by construction: extrapolation from a model estimated on few years. Publish with intervals and a methodological note, after comparison with available regional accounts.</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8</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Detecting shocks: anomalies and structural breaks</a:t>
            </a:r>
            <a:endParaRPr lang="en-US" sz="2800" dirty="0"/>
          </a:p>
        </p:txBody>
      </p:sp>
      <p:pic>
        <p:nvPicPr>
          <p:cNvPr id="4" name="Image 0" descr="/tmp/claude-0/-home-claude/8a8742ef-7d0d-54fc-a0c9-7ecbfc9f8b73/scratchpad/deck/img/anomalies_en.png">    </p:cNvPr>
          <p:cNvPicPr>
            <a:picLocks noChangeAspect="1"/>
          </p:cNvPicPr>
          <p:nvPr/>
        </p:nvPicPr>
        <p:blipFill>
          <a:blip r:embed="rId1"/>
          <a:stretch>
            <a:fillRect/>
          </a:stretch>
        </p:blipFill>
        <p:spPr>
          <a:xfrm>
            <a:off x="548640" y="1345852"/>
            <a:ext cx="7040880" cy="3069015"/>
          </a:xfrm>
          <a:prstGeom prst="rect">
            <a:avLst/>
          </a:prstGeom>
        </p:spPr>
      </p:pic>
      <p:sp>
        <p:nvSpPr>
          <p:cNvPr id="5" name="Shape 2"/>
          <p:cNvSpPr/>
          <p:nvPr/>
        </p:nvSpPr>
        <p:spPr>
          <a:xfrm>
            <a:off x="7818120" y="1371600"/>
            <a:ext cx="3840480" cy="1691640"/>
          </a:xfrm>
          <a:prstGeom prst="roundRect">
            <a:avLst>
              <a:gd name="adj" fmla="val 648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6" name="Text 3"/>
          <p:cNvSpPr txBox="1"/>
          <p:nvPr/>
        </p:nvSpPr>
        <p:spPr>
          <a:xfrm>
            <a:off x="7955280" y="1444752"/>
            <a:ext cx="3566160" cy="329184"/>
          </a:xfrm>
          <a:prstGeom prst="rect">
            <a:avLst/>
          </a:prstGeom>
          <a:noFill/>
          <a:ln/>
        </p:spPr>
        <p:txBody>
          <a:bodyPr wrap="square" lIns="635" tIns="635" rIns="635" bIns="635" rtlCol="0" anchor="t"/>
          <a:lstStyle/>
          <a:p>
            <a:pPr indent="0" marL="0">
              <a:spcAft>
                <a:spcPts val="200"/>
              </a:spcAft>
              <a:buNone/>
            </a:pPr>
            <a:r>
              <a:rPr lang="en-US" sz="1500" b="1" dirty="0">
                <a:solidFill>
                  <a:srgbClr val="D64545"/>
                </a:solidFill>
              </a:rPr>
              <a:t>Anomaly</a:t>
            </a:r>
            <a:endParaRPr lang="en-US" sz="1500" dirty="0"/>
          </a:p>
        </p:txBody>
      </p:sp>
      <p:sp>
        <p:nvSpPr>
          <p:cNvPr id="7" name="Text 4"/>
          <p:cNvSpPr txBox="1"/>
          <p:nvPr/>
        </p:nvSpPr>
        <p:spPr>
          <a:xfrm>
            <a:off x="7955280" y="1773936"/>
            <a:ext cx="3566160" cy="7772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month whose STL remainder is extreme: |robust z| ≥ 3.5 AND deviation ≥ 5%</a:t>
            </a:r>
            <a:endParaRPr lang="en-US" sz="1250" dirty="0"/>
          </a:p>
        </p:txBody>
      </p:sp>
      <p:sp>
        <p:nvSpPr>
          <p:cNvPr id="8" name="Shape 5"/>
          <p:cNvSpPr/>
          <p:nvPr/>
        </p:nvSpPr>
        <p:spPr>
          <a:xfrm>
            <a:off x="7955280" y="2560320"/>
            <a:ext cx="3566160" cy="411480"/>
          </a:xfrm>
          <a:prstGeom prst="roundRect">
            <a:avLst>
              <a:gd name="adj" fmla="val 26667"/>
            </a:avLst>
          </a:prstGeom>
          <a:solidFill>
            <a:srgbClr val="EAF2FB"/>
          </a:solidFill>
          <a:ln w="9525">
            <a:solidFill>
              <a:srgbClr val="EAF2FB"/>
            </a:solidFill>
            <a:prstDash val="solid"/>
          </a:ln>
        </p:spPr>
      </p:sp>
      <p:sp>
        <p:nvSpPr>
          <p:cNvPr id="9" name="Text 6"/>
          <p:cNvSpPr txBox="1"/>
          <p:nvPr/>
        </p:nvSpPr>
        <p:spPr>
          <a:xfrm>
            <a:off x="8092440" y="2560320"/>
            <a:ext cx="3291840" cy="411480"/>
          </a:xfrm>
          <a:prstGeom prst="rect">
            <a:avLst/>
          </a:prstGeom>
          <a:noFill/>
          <a:ln/>
        </p:spPr>
        <p:txBody>
          <a:bodyPr wrap="square" lIns="635" tIns="635" rIns="635" bIns="635" rtlCol="0" anchor="ctr"/>
          <a:lstStyle/>
          <a:p>
            <a:pPr algn="ctr" indent="0" marL="0">
              <a:spcAft>
                <a:spcPts val="200"/>
              </a:spcAft>
              <a:buNone/>
            </a:pPr>
            <a:r>
              <a:rPr lang="en-US" sz="1300" dirty="0">
                <a:solidFill>
                  <a:srgbClr val="1F4E8C"/>
                </a:solidFill>
                <a:latin typeface="Cambria" pitchFamily="34" charset="0"/>
                <a:ea typeface="Cambria" pitchFamily="34" charset="-122"/>
                <a:cs typeface="Cambria" pitchFamily="34" charset="-120"/>
              </a:rPr>
              <a:t>z = (Rₜ − median) / (1.4826 × MAD)</a:t>
            </a:r>
            <a:endParaRPr lang="en-US" sz="1300" dirty="0"/>
          </a:p>
        </p:txBody>
      </p:sp>
      <p:sp>
        <p:nvSpPr>
          <p:cNvPr id="10" name="Shape 7"/>
          <p:cNvSpPr/>
          <p:nvPr/>
        </p:nvSpPr>
        <p:spPr>
          <a:xfrm>
            <a:off x="7818120" y="3200400"/>
            <a:ext cx="3840480" cy="1691640"/>
          </a:xfrm>
          <a:prstGeom prst="roundRect">
            <a:avLst>
              <a:gd name="adj" fmla="val 648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Text 8"/>
          <p:cNvSpPr txBox="1"/>
          <p:nvPr/>
        </p:nvSpPr>
        <p:spPr>
          <a:xfrm>
            <a:off x="7955280" y="3273552"/>
            <a:ext cx="3566160" cy="329184"/>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Structural break</a:t>
            </a:r>
            <a:endParaRPr lang="en-US" sz="1500" dirty="0"/>
          </a:p>
        </p:txBody>
      </p:sp>
      <p:sp>
        <p:nvSpPr>
          <p:cNvPr id="12" name="Text 9"/>
          <p:cNvSpPr txBox="1"/>
          <p:nvPr/>
        </p:nvSpPr>
        <p:spPr>
          <a:xfrm>
            <a:off x="7955280" y="3602736"/>
            <a:ext cx="3566160" cy="77724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lasting change in level or slope; piecewise linear segmentation, BIC-type penalty, ≥ 12 months on each side</a:t>
            </a:r>
            <a:endParaRPr lang="en-US" sz="1250" dirty="0"/>
          </a:p>
        </p:txBody>
      </p:sp>
      <p:sp>
        <p:nvSpPr>
          <p:cNvPr id="13" name="Text 10"/>
          <p:cNvSpPr txBox="1"/>
          <p:nvPr/>
        </p:nvSpPr>
        <p:spPr>
          <a:xfrm>
            <a:off x="7818120" y="4983480"/>
            <a:ext cx="3840480" cy="594360"/>
          </a:xfrm>
          <a:prstGeom prst="rect">
            <a:avLst/>
          </a:prstGeom>
          <a:noFill/>
          <a:ln/>
        </p:spPr>
        <p:txBody>
          <a:bodyPr wrap="square" lIns="635" tIns="635" rIns="635" bIns="635" rtlCol="0" anchor="t"/>
          <a:lstStyle/>
          <a:p>
            <a:pPr indent="0" marL="0">
              <a:spcAft>
                <a:spcPts val="200"/>
              </a:spcAft>
              <a:buNone/>
            </a:pPr>
            <a:r>
              <a:rPr lang="en-US" sz="1250" b="1" dirty="0">
                <a:solidFill>
                  <a:srgbClr val="1F4E8C"/>
                </a:solidFill>
              </a:rPr>
              <a:t>MAD </a:t>
            </a:r>
            <a:pPr indent="0" marL="0">
              <a:spcAft>
                <a:spcPts val="200"/>
              </a:spcAft>
              <a:buNone/>
            </a:pPr>
            <a:r>
              <a:rPr lang="en-US" sz="1250" dirty="0">
                <a:solidFill>
                  <a:srgbClr val="231F20"/>
                </a:solidFill>
              </a:rPr>
              <a:t>= median absolute deviation: a dispersion measure robust to extreme values.</a:t>
            </a:r>
            <a:endParaRPr lang="en-US" sz="1250" dirty="0"/>
          </a:p>
        </p:txBody>
      </p:sp>
      <p:sp>
        <p:nvSpPr>
          <p:cNvPr id="14" name="Shape 11"/>
          <p:cNvSpPr/>
          <p:nvPr/>
        </p:nvSpPr>
        <p:spPr>
          <a:xfrm>
            <a:off x="548640" y="4617720"/>
            <a:ext cx="7040880" cy="1554480"/>
          </a:xfrm>
          <a:prstGeom prst="roundRect">
            <a:avLst>
              <a:gd name="adj" fmla="val 7059"/>
            </a:avLst>
          </a:prstGeom>
          <a:solidFill>
            <a:srgbClr val="E8F5EF"/>
          </a:solidFill>
          <a:ln w="9525">
            <a:solidFill>
              <a:srgbClr val="E8F5EF"/>
            </a:solidFill>
            <a:prstDash val="solid"/>
          </a:ln>
        </p:spPr>
      </p:sp>
      <p:sp>
        <p:nvSpPr>
          <p:cNvPr id="15" name="Text 12"/>
          <p:cNvSpPr txBox="1"/>
          <p:nvPr/>
        </p:nvSpPr>
        <p:spPr>
          <a:xfrm>
            <a:off x="685800" y="4663440"/>
            <a:ext cx="6766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Event catalogue</a:t>
            </a:r>
            <a:endParaRPr lang="en-US" sz="1400" dirty="0"/>
          </a:p>
        </p:txBody>
      </p:sp>
      <p:sp>
        <p:nvSpPr>
          <p:cNvPr id="16" name="Text 13"/>
          <p:cNvSpPr txBox="1"/>
          <p:nvPr/>
        </p:nvSpPr>
        <p:spPr>
          <a:xfrm>
            <a:off x="685800" y="4983480"/>
            <a:ext cx="6766560" cy="11430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COVID-19 (generic, March 2020 – June 2021) + your CUSTOM_EVENTS + optional ACLED (conflict) or EM-DAT (disaster) export. A break with no known event within ±6 months is flagged: it must be documented (sensor, outage) before being interpreted.</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8</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Measuring a shock: depth of the trough and speed of recovery</a:t>
            </a:r>
            <a:endParaRPr lang="en-US" sz="2800" dirty="0"/>
          </a:p>
        </p:txBody>
      </p:sp>
      <p:pic>
        <p:nvPicPr>
          <p:cNvPr id="4" name="Image 0" descr="/tmp/claude-0/-home-claude/8a8742ef-7d0d-54fc-a0c9-7ecbfc9f8b73/scratchpad/deck/img/shock_en.png">    </p:cNvPr>
          <p:cNvPicPr>
            <a:picLocks noChangeAspect="1"/>
          </p:cNvPicPr>
          <p:nvPr/>
        </p:nvPicPr>
        <p:blipFill>
          <a:blip r:embed="rId1"/>
          <a:stretch>
            <a:fillRect/>
          </a:stretch>
        </p:blipFill>
        <p:spPr>
          <a:xfrm>
            <a:off x="548640" y="1348259"/>
            <a:ext cx="7040880" cy="3338523"/>
          </a:xfrm>
          <a:prstGeom prst="rect">
            <a:avLst/>
          </a:prstGeom>
        </p:spPr>
      </p:pic>
      <p:sp>
        <p:nvSpPr>
          <p:cNvPr id="5" name="Shape 2"/>
          <p:cNvSpPr/>
          <p:nvPr/>
        </p:nvSpPr>
        <p:spPr>
          <a:xfrm>
            <a:off x="7818120" y="1371600"/>
            <a:ext cx="3840480" cy="777240"/>
          </a:xfrm>
          <a:prstGeom prst="roundRect">
            <a:avLst>
              <a:gd name="adj" fmla="val 14118"/>
            </a:avLst>
          </a:prstGeom>
          <a:solidFill>
            <a:srgbClr val="F4F7F5"/>
          </a:solidFill>
          <a:ln w="9525">
            <a:solidFill>
              <a:srgbClr val="F4F7F5"/>
            </a:solidFill>
            <a:prstDash val="solid"/>
          </a:ln>
        </p:spPr>
      </p:sp>
      <p:sp>
        <p:nvSpPr>
          <p:cNvPr id="6" name="Text 3"/>
          <p:cNvSpPr txBox="1"/>
          <p:nvPr/>
        </p:nvSpPr>
        <p:spPr>
          <a:xfrm>
            <a:off x="7955280" y="139903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Pre-shock level</a:t>
            </a:r>
            <a:endParaRPr lang="en-US" sz="1400" dirty="0"/>
          </a:p>
        </p:txBody>
      </p:sp>
      <p:sp>
        <p:nvSpPr>
          <p:cNvPr id="7" name="Text 4"/>
          <p:cNvSpPr txBox="1"/>
          <p:nvPr/>
        </p:nvSpPr>
        <p:spPr>
          <a:xfrm>
            <a:off x="7955280" y="170992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mean of the 12 months before the event, seasonally adjusted series</a:t>
            </a:r>
            <a:endParaRPr lang="en-US" sz="1200" dirty="0"/>
          </a:p>
        </p:txBody>
      </p:sp>
      <p:sp>
        <p:nvSpPr>
          <p:cNvPr id="8" name="Shape 5"/>
          <p:cNvSpPr/>
          <p:nvPr/>
        </p:nvSpPr>
        <p:spPr>
          <a:xfrm>
            <a:off x="7818120" y="2240280"/>
            <a:ext cx="3840480" cy="777240"/>
          </a:xfrm>
          <a:prstGeom prst="roundRect">
            <a:avLst>
              <a:gd name="adj" fmla="val 14118"/>
            </a:avLst>
          </a:prstGeom>
          <a:solidFill>
            <a:srgbClr val="F4F7F5"/>
          </a:solidFill>
          <a:ln w="9525">
            <a:solidFill>
              <a:srgbClr val="F4F7F5"/>
            </a:solidFill>
            <a:prstDash val="solid"/>
          </a:ln>
        </p:spPr>
      </p:sp>
      <p:sp>
        <p:nvSpPr>
          <p:cNvPr id="9" name="Text 6"/>
          <p:cNvSpPr txBox="1"/>
          <p:nvPr/>
        </p:nvSpPr>
        <p:spPr>
          <a:xfrm>
            <a:off x="7955280" y="226771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Trough</a:t>
            </a:r>
            <a:endParaRPr lang="en-US" sz="1400" dirty="0"/>
          </a:p>
        </p:txBody>
      </p:sp>
      <p:sp>
        <p:nvSpPr>
          <p:cNvPr id="10" name="Text 7"/>
          <p:cNvSpPr txBox="1"/>
          <p:nvPr/>
        </p:nvSpPr>
        <p:spPr>
          <a:xfrm>
            <a:off x="7955280" y="257860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maximum deviation from that level during the event (in %)</a:t>
            </a:r>
            <a:endParaRPr lang="en-US" sz="1200" dirty="0"/>
          </a:p>
        </p:txBody>
      </p:sp>
      <p:sp>
        <p:nvSpPr>
          <p:cNvPr id="11" name="Shape 8"/>
          <p:cNvSpPr/>
          <p:nvPr/>
        </p:nvSpPr>
        <p:spPr>
          <a:xfrm>
            <a:off x="7818120" y="3108960"/>
            <a:ext cx="3840480" cy="777240"/>
          </a:xfrm>
          <a:prstGeom prst="roundRect">
            <a:avLst>
              <a:gd name="adj" fmla="val 14118"/>
            </a:avLst>
          </a:prstGeom>
          <a:solidFill>
            <a:srgbClr val="F4F7F5"/>
          </a:solidFill>
          <a:ln w="9525">
            <a:solidFill>
              <a:srgbClr val="F4F7F5"/>
            </a:solidFill>
            <a:prstDash val="solid"/>
          </a:ln>
        </p:spPr>
      </p:sp>
      <p:sp>
        <p:nvSpPr>
          <p:cNvPr id="12" name="Text 9"/>
          <p:cNvSpPr txBox="1"/>
          <p:nvPr/>
        </p:nvSpPr>
        <p:spPr>
          <a:xfrm>
            <a:off x="7955280" y="313639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Recovery</a:t>
            </a:r>
            <a:endParaRPr lang="en-US" sz="1400" dirty="0"/>
          </a:p>
        </p:txBody>
      </p:sp>
      <p:sp>
        <p:nvSpPr>
          <p:cNvPr id="13" name="Text 10"/>
          <p:cNvSpPr txBox="1"/>
          <p:nvPr/>
        </p:nvSpPr>
        <p:spPr>
          <a:xfrm>
            <a:off x="7955280" y="344728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number of months to return to the pre-shock level</a:t>
            </a:r>
            <a:endParaRPr lang="en-US" sz="1200" dirty="0"/>
          </a:p>
        </p:txBody>
      </p:sp>
      <p:sp>
        <p:nvSpPr>
          <p:cNvPr id="14" name="Shape 11"/>
          <p:cNvSpPr/>
          <p:nvPr/>
        </p:nvSpPr>
        <p:spPr>
          <a:xfrm>
            <a:off x="7818120" y="3977640"/>
            <a:ext cx="3840480" cy="777240"/>
          </a:xfrm>
          <a:prstGeom prst="roundRect">
            <a:avLst>
              <a:gd name="adj" fmla="val 14118"/>
            </a:avLst>
          </a:prstGeom>
          <a:solidFill>
            <a:srgbClr val="EAF2FB"/>
          </a:solidFill>
          <a:ln w="9525">
            <a:solidFill>
              <a:srgbClr val="EAF2FB"/>
            </a:solidFill>
            <a:prstDash val="solid"/>
          </a:ln>
        </p:spPr>
      </p:sp>
      <p:sp>
        <p:nvSpPr>
          <p:cNvPr id="15" name="Text 12"/>
          <p:cNvSpPr txBox="1"/>
          <p:nvPr/>
        </p:nvSpPr>
        <p:spPr>
          <a:xfrm>
            <a:off x="7955280" y="4005072"/>
            <a:ext cx="3611880" cy="310896"/>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Distinguishable from noise?</a:t>
            </a:r>
            <a:endParaRPr lang="en-US" sz="1400" dirty="0"/>
          </a:p>
        </p:txBody>
      </p:sp>
      <p:sp>
        <p:nvSpPr>
          <p:cNvPr id="16" name="Text 13"/>
          <p:cNvSpPr txBox="1"/>
          <p:nvPr/>
        </p:nvSpPr>
        <p:spPr>
          <a:xfrm>
            <a:off x="7955280" y="4315968"/>
            <a:ext cx="3611880" cy="41148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the trough is compared with pre-shock monthly variability</a:t>
            </a:r>
            <a:endParaRPr lang="en-US" sz="1200" dirty="0"/>
          </a:p>
        </p:txBody>
      </p:sp>
      <p:sp>
        <p:nvSpPr>
          <p:cNvPr id="17" name="Shape 14"/>
          <p:cNvSpPr/>
          <p:nvPr/>
        </p:nvSpPr>
        <p:spPr>
          <a:xfrm>
            <a:off x="548640" y="4892040"/>
            <a:ext cx="7040880" cy="1280160"/>
          </a:xfrm>
          <a:prstGeom prst="roundRect">
            <a:avLst>
              <a:gd name="adj" fmla="val 8571"/>
            </a:avLst>
          </a:prstGeom>
          <a:solidFill>
            <a:srgbClr val="E8F5EF"/>
          </a:solidFill>
          <a:ln w="9525">
            <a:solidFill>
              <a:srgbClr val="E8F5EF"/>
            </a:solidFill>
            <a:prstDash val="solid"/>
          </a:ln>
        </p:spPr>
      </p:sp>
      <p:sp>
        <p:nvSpPr>
          <p:cNvPr id="18" name="Text 15"/>
          <p:cNvSpPr txBox="1"/>
          <p:nvPr/>
        </p:nvSpPr>
        <p:spPr>
          <a:xfrm>
            <a:off x="685800" y="4937760"/>
            <a:ext cx="676656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Daily Black Marble zoom</a:t>
            </a:r>
            <a:endParaRPr lang="en-US" sz="1400" dirty="0"/>
          </a:p>
        </p:txBody>
      </p:sp>
      <p:sp>
        <p:nvSpPr>
          <p:cNvPr id="19" name="Text 16"/>
          <p:cNvSpPr txBox="1"/>
          <p:nvPr/>
        </p:nvSpPr>
        <p:spPr>
          <a:xfrm>
            <a:off x="685800" y="5257800"/>
            <a:ext cx="6766560" cy="8686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To date a shock to the day: base-100 index (median of the first 60 days), high-quality cloud- and snow-free pixels, 7-day rolling median. Impact also computed by region (heat table).</a:t>
            </a:r>
            <a:endParaRPr lang="en-US" sz="1250" dirty="0"/>
          </a:p>
        </p:txBody>
      </p:sp>
      <p:sp>
        <p:nvSpPr>
          <p:cNvPr id="20" name="Shape 17"/>
          <p:cNvSpPr/>
          <p:nvPr/>
        </p:nvSpPr>
        <p:spPr>
          <a:xfrm>
            <a:off x="7818120" y="4892040"/>
            <a:ext cx="3840480" cy="1280160"/>
          </a:xfrm>
          <a:prstGeom prst="roundRect">
            <a:avLst>
              <a:gd name="adj" fmla="val 8571"/>
            </a:avLst>
          </a:prstGeom>
          <a:solidFill>
            <a:srgbClr val="FDF6E3"/>
          </a:solidFill>
          <a:ln w="9525">
            <a:solidFill>
              <a:srgbClr val="FDF6E3"/>
            </a:solidFill>
            <a:prstDash val="solid"/>
          </a:ln>
        </p:spPr>
      </p:sp>
      <p:sp>
        <p:nvSpPr>
          <p:cNvPr id="21" name="Text 18"/>
          <p:cNvSpPr txBox="1"/>
          <p:nvPr/>
        </p:nvSpPr>
        <p:spPr>
          <a:xfrm>
            <a:off x="7955280" y="4965192"/>
            <a:ext cx="3566160" cy="1133856"/>
          </a:xfrm>
          <a:prstGeom prst="rect">
            <a:avLst/>
          </a:prstGeom>
          <a:noFill/>
          <a:ln/>
        </p:spPr>
        <p:txBody>
          <a:bodyPr wrap="square" lIns="635" tIns="635" rIns="635" bIns="635" rtlCol="0" anchor="ctr"/>
          <a:lstStyle/>
          <a:p>
            <a:pPr indent="0" marL="0">
              <a:spcAft>
                <a:spcPts val="200"/>
              </a:spcAft>
              <a:buNone/>
            </a:pPr>
            <a:r>
              <a:rPr lang="en-US" sz="1200" b="1" dirty="0">
                <a:solidFill>
                  <a:srgbClr val="B7791F"/>
                </a:solidFill>
              </a:rPr>
              <a:t>Reading  </a:t>
            </a:r>
            <a:pPr indent="0" marL="0">
              <a:spcAft>
                <a:spcPts val="200"/>
              </a:spcAft>
              <a:buNone/>
            </a:pPr>
            <a:r>
              <a:rPr lang="en-US" sz="1200" dirty="0">
                <a:solidFill>
                  <a:srgbClr val="231F20"/>
                </a:solidFill>
              </a:rPr>
              <a:t>light captures stoppages of night-time activity well (lockdowns, outages, displacement); it underestimates agricultural or daytime-service shocks.</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9</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Spatial inequality: Lorenz, Gini and Theil</a:t>
            </a:r>
            <a:endParaRPr lang="en-US" sz="2800" dirty="0"/>
          </a:p>
        </p:txBody>
      </p:sp>
      <p:pic>
        <p:nvPicPr>
          <p:cNvPr id="4" name="Image 0" descr="/tmp/claude-0/-home-claude/8a8742ef-7d0d-54fc-a0c9-7ecbfc9f8b73/scratchpad/deck/img/lorenz_en.png">    </p:cNvPr>
          <p:cNvPicPr>
            <a:picLocks noChangeAspect="1"/>
          </p:cNvPicPr>
          <p:nvPr/>
        </p:nvPicPr>
        <p:blipFill>
          <a:blip r:embed="rId1"/>
          <a:stretch>
            <a:fillRect/>
          </a:stretch>
        </p:blipFill>
        <p:spPr>
          <a:xfrm>
            <a:off x="548640" y="1364100"/>
            <a:ext cx="4572000" cy="4266961"/>
          </a:xfrm>
          <a:prstGeom prst="rect">
            <a:avLst/>
          </a:prstGeom>
        </p:spPr>
      </p:pic>
      <p:pic>
        <p:nvPicPr>
          <p:cNvPr id="5" name="Image 1" descr="/tmp/claude-0/-home-claude/8a8742ef-7d0d-54fc-a0c9-7ecbfc9f8b73/scratchpad/deck/img/theil_en.png">    </p:cNvPr>
          <p:cNvPicPr>
            <a:picLocks noChangeAspect="1"/>
          </p:cNvPicPr>
          <p:nvPr/>
        </p:nvPicPr>
        <p:blipFill>
          <a:blip r:embed="rId2"/>
          <a:stretch>
            <a:fillRect/>
          </a:stretch>
        </p:blipFill>
        <p:spPr>
          <a:xfrm>
            <a:off x="5349240" y="1369840"/>
            <a:ext cx="3108960" cy="1649440"/>
          </a:xfrm>
          <a:prstGeom prst="rect">
            <a:avLst/>
          </a:prstGeom>
        </p:spPr>
      </p:pic>
      <p:sp>
        <p:nvSpPr>
          <p:cNvPr id="6" name="Shape 2"/>
          <p:cNvSpPr/>
          <p:nvPr/>
        </p:nvSpPr>
        <p:spPr>
          <a:xfrm>
            <a:off x="5349240" y="324612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 name="Text 3"/>
          <p:cNvSpPr txBox="1"/>
          <p:nvPr/>
        </p:nvSpPr>
        <p:spPr>
          <a:xfrm>
            <a:off x="5458968" y="330098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Gini</a:t>
            </a:r>
            <a:endParaRPr lang="en-US" sz="1400" dirty="0"/>
          </a:p>
        </p:txBody>
      </p:sp>
      <p:sp>
        <p:nvSpPr>
          <p:cNvPr id="8" name="Text 4"/>
          <p:cNvSpPr txBox="1"/>
          <p:nvPr/>
        </p:nvSpPr>
        <p:spPr>
          <a:xfrm>
            <a:off x="5458968" y="363016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0 = equality, 1 = all light in a single unit. Population-weighted, on the finest units.</a:t>
            </a:r>
            <a:endParaRPr lang="en-US" sz="1200" dirty="0"/>
          </a:p>
        </p:txBody>
      </p:sp>
      <p:sp>
        <p:nvSpPr>
          <p:cNvPr id="9" name="Shape 5"/>
          <p:cNvSpPr/>
          <p:nvPr/>
        </p:nvSpPr>
        <p:spPr>
          <a:xfrm>
            <a:off x="8549640" y="324612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Text 6"/>
          <p:cNvSpPr txBox="1"/>
          <p:nvPr/>
        </p:nvSpPr>
        <p:spPr>
          <a:xfrm>
            <a:off x="8659368" y="330098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Theil T</a:t>
            </a:r>
            <a:endParaRPr lang="en-US" sz="1400" dirty="0"/>
          </a:p>
        </p:txBody>
      </p:sp>
      <p:sp>
        <p:nvSpPr>
          <p:cNvPr id="11" name="Text 7"/>
          <p:cNvSpPr txBox="1"/>
          <p:nvPr/>
        </p:nvSpPr>
        <p:spPr>
          <a:xfrm>
            <a:off x="8659368" y="363016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decomposes into between-region and within-region inequality: at which level to act?</a:t>
            </a:r>
            <a:endParaRPr lang="en-US" sz="1200" dirty="0"/>
          </a:p>
        </p:txBody>
      </p:sp>
      <p:sp>
        <p:nvSpPr>
          <p:cNvPr id="12" name="Shape 8"/>
          <p:cNvSpPr/>
          <p:nvPr/>
        </p:nvSpPr>
        <p:spPr>
          <a:xfrm>
            <a:off x="5349240" y="475488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3" name="Text 9"/>
          <p:cNvSpPr txBox="1"/>
          <p:nvPr/>
        </p:nvSpPr>
        <p:spPr>
          <a:xfrm>
            <a:off x="5458968" y="480974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Change in Gini</a:t>
            </a:r>
            <a:endParaRPr lang="en-US" sz="1400" dirty="0"/>
          </a:p>
        </p:txBody>
      </p:sp>
      <p:sp>
        <p:nvSpPr>
          <p:cNvPr id="14" name="Text 10"/>
          <p:cNvSpPr txBox="1"/>
          <p:nvPr/>
        </p:nvSpPr>
        <p:spPr>
          <a:xfrm>
            <a:off x="5458968" y="513892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95% bootstrap interval (300 draws): is the rise or fall significant?</a:t>
            </a:r>
            <a:endParaRPr lang="en-US" sz="1200" dirty="0"/>
          </a:p>
        </p:txBody>
      </p:sp>
      <p:sp>
        <p:nvSpPr>
          <p:cNvPr id="15" name="Shape 11"/>
          <p:cNvSpPr/>
          <p:nvPr/>
        </p:nvSpPr>
        <p:spPr>
          <a:xfrm>
            <a:off x="8549640" y="4754880"/>
            <a:ext cx="3063240" cy="1371600"/>
          </a:xfrm>
          <a:prstGeom prst="roundRect">
            <a:avLst>
              <a:gd name="adj" fmla="val 8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6" name="Text 12"/>
          <p:cNvSpPr txBox="1"/>
          <p:nvPr/>
        </p:nvSpPr>
        <p:spPr>
          <a:xfrm>
            <a:off x="8659368" y="4809744"/>
            <a:ext cx="2834640" cy="310896"/>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Urban / rural gap</a:t>
            </a:r>
            <a:endParaRPr lang="en-US" sz="1400" dirty="0"/>
          </a:p>
        </p:txBody>
      </p:sp>
      <p:sp>
        <p:nvSpPr>
          <p:cNvPr id="17" name="Text 13"/>
          <p:cNvSpPr txBox="1"/>
          <p:nvPr/>
        </p:nvSpPr>
        <p:spPr>
          <a:xfrm>
            <a:off x="8659368" y="5138928"/>
            <a:ext cx="2834640" cy="960120"/>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urban ÷ rural light per capita (GHSL degree of urbanisation)</a:t>
            </a:r>
            <a:endParaRPr lang="en-US" sz="1200" dirty="0"/>
          </a:p>
        </p:txBody>
      </p:sp>
      <p:sp>
        <p:nvSpPr>
          <p:cNvPr id="18" name="Shape 14"/>
          <p:cNvSpPr/>
          <p:nvPr/>
        </p:nvSpPr>
        <p:spPr>
          <a:xfrm>
            <a:off x="8595360" y="1371600"/>
            <a:ext cx="3063240" cy="1691640"/>
          </a:xfrm>
          <a:prstGeom prst="roundRect">
            <a:avLst>
              <a:gd name="adj" fmla="val 6486"/>
            </a:avLst>
          </a:prstGeom>
          <a:solidFill>
            <a:srgbClr val="E8F5EF"/>
          </a:solidFill>
          <a:ln w="9525">
            <a:solidFill>
              <a:srgbClr val="E8F5EF"/>
            </a:solidFill>
            <a:prstDash val="solid"/>
          </a:ln>
        </p:spPr>
      </p:sp>
      <p:sp>
        <p:nvSpPr>
          <p:cNvPr id="19" name="Text 15"/>
          <p:cNvSpPr txBox="1"/>
          <p:nvPr/>
        </p:nvSpPr>
        <p:spPr>
          <a:xfrm>
            <a:off x="8732520" y="1417320"/>
            <a:ext cx="2834640"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Economic question</a:t>
            </a:r>
            <a:endParaRPr lang="en-US" sz="1400" dirty="0"/>
          </a:p>
        </p:txBody>
      </p:sp>
      <p:sp>
        <p:nvSpPr>
          <p:cNvPr id="20" name="Text 16"/>
          <p:cNvSpPr txBox="1"/>
          <p:nvPr/>
        </p:nvSpPr>
        <p:spPr>
          <a:xfrm>
            <a:off x="8732520" y="1737360"/>
            <a:ext cx="2834640" cy="128016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Is access to light, a proxy for development, fairly distributed across people?</a:t>
            </a:r>
            <a:endParaRPr lang="en-US" sz="1250" dirty="0"/>
          </a:p>
        </p:txBody>
      </p:sp>
      <p:sp>
        <p:nvSpPr>
          <p:cNvPr id="21" name="Shape 17"/>
          <p:cNvSpPr/>
          <p:nvPr/>
        </p:nvSpPr>
        <p:spPr>
          <a:xfrm>
            <a:off x="548640" y="5760720"/>
            <a:ext cx="4572000" cy="457200"/>
          </a:xfrm>
          <a:prstGeom prst="roundRect">
            <a:avLst>
              <a:gd name="adj" fmla="val 24000"/>
            </a:avLst>
          </a:prstGeom>
          <a:solidFill>
            <a:srgbClr val="FDF6E3"/>
          </a:solidFill>
          <a:ln w="9525">
            <a:solidFill>
              <a:srgbClr val="FDF6E3"/>
            </a:solidFill>
            <a:prstDash val="solid"/>
          </a:ln>
        </p:spPr>
      </p:sp>
      <p:sp>
        <p:nvSpPr>
          <p:cNvPr id="22" name="Text 18"/>
          <p:cNvSpPr txBox="1"/>
          <p:nvPr/>
        </p:nvSpPr>
        <p:spPr>
          <a:xfrm>
            <a:off x="685800" y="5833872"/>
            <a:ext cx="4297680" cy="310896"/>
          </a:xfrm>
          <a:prstGeom prst="rect">
            <a:avLst/>
          </a:prstGeom>
          <a:noFill/>
          <a:ln/>
        </p:spPr>
        <p:txBody>
          <a:bodyPr wrap="square" lIns="635" tIns="635" rIns="635" bIns="635" rtlCol="0" anchor="ctr"/>
          <a:lstStyle/>
          <a:p>
            <a:pPr indent="0" marL="0">
              <a:spcAft>
                <a:spcPts val="200"/>
              </a:spcAft>
              <a:buNone/>
            </a:pPr>
            <a:r>
              <a:rPr lang="en-US" sz="1200" b="1" dirty="0">
                <a:solidFill>
                  <a:srgbClr val="B7791F"/>
                </a:solidFill>
              </a:rPr>
              <a:t>How to read  </a:t>
            </a:r>
            <a:pPr indent="0" marL="0">
              <a:spcAft>
                <a:spcPts val="200"/>
              </a:spcAft>
              <a:buNone/>
            </a:pPr>
            <a:r>
              <a:rPr lang="en-US" sz="1200" dirty="0">
                <a:solidFill>
                  <a:srgbClr val="231F20"/>
                </a:solidFill>
              </a:rPr>
              <a:t>curve far from the diagonal = high inequality. Gini = area A / (A + B).</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E · ANALYSES — SECTION 9</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population “in the dark”: a proxy for electricity access</a:t>
            </a:r>
            <a:endParaRPr lang="en-US" sz="2800" dirty="0"/>
          </a:p>
        </p:txBody>
      </p:sp>
      <p:pic>
        <p:nvPicPr>
          <p:cNvPr id="4" name="Image 0" descr="/tmp/claude-0/-home-claude/8a8742ef-7d0d-54fc-a0c9-7ecbfc9f8b73/scratchpad/deck/img/dark_en.png">    </p:cNvPr>
          <p:cNvPicPr>
            <a:picLocks noChangeAspect="1"/>
          </p:cNvPicPr>
          <p:nvPr/>
        </p:nvPicPr>
        <p:blipFill>
          <a:blip r:embed="rId1"/>
          <a:stretch>
            <a:fillRect/>
          </a:stretch>
        </p:blipFill>
        <p:spPr>
          <a:xfrm>
            <a:off x="548640" y="1341606"/>
            <a:ext cx="6035040" cy="3534707"/>
          </a:xfrm>
          <a:prstGeom prst="rect">
            <a:avLst/>
          </a:prstGeom>
        </p:spPr>
      </p:pic>
      <p:sp>
        <p:nvSpPr>
          <p:cNvPr id="5" name="Shape 2"/>
          <p:cNvSpPr/>
          <p:nvPr/>
        </p:nvSpPr>
        <p:spPr>
          <a:xfrm>
            <a:off x="6812280" y="1371600"/>
            <a:ext cx="4846320" cy="2011680"/>
          </a:xfrm>
          <a:prstGeom prst="roundRect">
            <a:avLst>
              <a:gd name="adj" fmla="val 5455"/>
            </a:avLst>
          </a:prstGeom>
          <a:solidFill>
            <a:srgbClr val="E8F5EF"/>
          </a:solidFill>
          <a:ln w="9525">
            <a:solidFill>
              <a:srgbClr val="E8F5EF"/>
            </a:solidFill>
            <a:prstDash val="solid"/>
          </a:ln>
        </p:spPr>
      </p:sp>
      <p:sp>
        <p:nvSpPr>
          <p:cNvPr id="6" name="Text 3"/>
          <p:cNvSpPr txBox="1"/>
          <p:nvPr/>
        </p:nvSpPr>
        <p:spPr>
          <a:xfrm>
            <a:off x="6949440" y="1417320"/>
            <a:ext cx="4572000" cy="32004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Definition</a:t>
            </a:r>
            <a:endParaRPr lang="en-US" sz="1500" dirty="0"/>
          </a:p>
        </p:txBody>
      </p:sp>
      <p:sp>
        <p:nvSpPr>
          <p:cNvPr id="7" name="Text 4"/>
          <p:cNvSpPr txBox="1"/>
          <p:nvPr/>
        </p:nvSpPr>
        <p:spPr>
          <a:xfrm>
            <a:off x="6949440" y="1755648"/>
            <a:ext cx="4572000" cy="914400"/>
          </a:xfrm>
          <a:prstGeom prst="rect">
            <a:avLst/>
          </a:prstGeom>
          <a:noFill/>
          <a:ln/>
        </p:spPr>
        <p:txBody>
          <a:bodyPr wrap="square" lIns="635" tIns="635" rIns="635" bIns="635" rtlCol="0" anchor="t"/>
          <a:lstStyle/>
          <a:p>
            <a:pPr indent="0" marL="0">
              <a:spcAft>
                <a:spcPts val="200"/>
              </a:spcAft>
              <a:buNone/>
            </a:pPr>
            <a:r>
              <a:rPr lang="en-US" sz="1350" dirty="0">
                <a:solidFill>
                  <a:srgbClr val="231F20"/>
                </a:solidFill>
              </a:rPr>
              <a:t>Inhabitants of populated pixels (≥ 5 inhabitants, ~0.21 km²) whose radiance stays below the detection threshold (0.5 nW by default).</a:t>
            </a:r>
            <a:endParaRPr lang="en-US" sz="1350" dirty="0"/>
          </a:p>
        </p:txBody>
      </p:sp>
      <p:sp>
        <p:nvSpPr>
          <p:cNvPr id="8" name="Shape 5"/>
          <p:cNvSpPr/>
          <p:nvPr/>
        </p:nvSpPr>
        <p:spPr>
          <a:xfrm>
            <a:off x="6949440" y="2743200"/>
            <a:ext cx="4572000" cy="502920"/>
          </a:xfrm>
          <a:prstGeom prst="roundRect">
            <a:avLst>
              <a:gd name="adj" fmla="val 21818"/>
            </a:avLst>
          </a:prstGeom>
          <a:solidFill>
            <a:srgbClr val="EAF2FB"/>
          </a:solidFill>
          <a:ln w="9525">
            <a:solidFill>
              <a:srgbClr val="EAF2FB"/>
            </a:solidFill>
            <a:prstDash val="solid"/>
          </a:ln>
        </p:spPr>
      </p:sp>
      <p:sp>
        <p:nvSpPr>
          <p:cNvPr id="9" name="Text 6"/>
          <p:cNvSpPr txBox="1"/>
          <p:nvPr/>
        </p:nvSpPr>
        <p:spPr>
          <a:xfrm>
            <a:off x="7086600" y="2743200"/>
            <a:ext cx="4297680" cy="502920"/>
          </a:xfrm>
          <a:prstGeom prst="rect">
            <a:avLst/>
          </a:prstGeom>
          <a:noFill/>
          <a:ln/>
        </p:spPr>
        <p:txBody>
          <a:bodyPr wrap="square" lIns="635" tIns="635" rIns="635" bIns="635" rtlCol="0" anchor="ctr"/>
          <a:lstStyle/>
          <a:p>
            <a:pPr algn="ctr" indent="0" marL="0">
              <a:spcAft>
                <a:spcPts val="200"/>
              </a:spcAft>
              <a:buNone/>
            </a:pPr>
            <a:r>
              <a:rPr lang="en-US" sz="1500" dirty="0">
                <a:solidFill>
                  <a:srgbClr val="1F4E8C"/>
                </a:solidFill>
                <a:latin typeface="Cambria" pitchFamily="34" charset="0"/>
                <a:ea typeface="Cambria" pitchFamily="34" charset="-122"/>
                <a:cs typeface="Cambria" pitchFamily="34" charset="-120"/>
              </a:rPr>
              <a:t>thresholds tested: 0.25 · 0.5 · 1 nW</a:t>
            </a:r>
            <a:endParaRPr lang="en-US" sz="1500" dirty="0"/>
          </a:p>
        </p:txBody>
      </p:sp>
      <p:sp>
        <p:nvSpPr>
          <p:cNvPr id="10" name="Shape 7"/>
          <p:cNvSpPr/>
          <p:nvPr/>
        </p:nvSpPr>
        <p:spPr>
          <a:xfrm>
            <a:off x="6812280" y="3566160"/>
            <a:ext cx="4846320" cy="1325880"/>
          </a:xfrm>
          <a:prstGeom prst="roundRect">
            <a:avLst>
              <a:gd name="adj" fmla="val 827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1" name="Shape 8"/>
          <p:cNvSpPr/>
          <p:nvPr/>
        </p:nvSpPr>
        <p:spPr>
          <a:xfrm>
            <a:off x="6995160" y="3749040"/>
            <a:ext cx="502920" cy="502920"/>
          </a:xfrm>
          <a:prstGeom prst="ellipse">
            <a:avLst/>
          </a:prstGeom>
          <a:solidFill>
            <a:srgbClr val="1F4E8C"/>
          </a:solidFill>
          <a:ln w="12700">
            <a:solidFill>
              <a:srgbClr val="1F4E8C"/>
            </a:solidFill>
            <a:prstDash val="solid"/>
          </a:ln>
        </p:spPr>
      </p:sp>
      <p:pic>
        <p:nvPicPr>
          <p:cNvPr id="12" name="Image 1" descr="preencoded.png">    </p:cNvPr>
          <p:cNvPicPr>
            <a:picLocks noChangeAspect="1"/>
          </p:cNvPicPr>
          <p:nvPr/>
        </p:nvPicPr>
        <p:blipFill>
          <a:blip r:embed="rId2"/>
          <a:stretch>
            <a:fillRect/>
          </a:stretch>
        </p:blipFill>
        <p:spPr>
          <a:xfrm>
            <a:off x="7115861" y="3869741"/>
            <a:ext cx="261518" cy="261518"/>
          </a:xfrm>
          <a:prstGeom prst="rect">
            <a:avLst/>
          </a:prstGeom>
        </p:spPr>
      </p:pic>
      <p:sp>
        <p:nvSpPr>
          <p:cNvPr id="13" name="Text 9"/>
          <p:cNvSpPr txBox="1"/>
          <p:nvPr/>
        </p:nvSpPr>
        <p:spPr>
          <a:xfrm>
            <a:off x="7635240" y="3730752"/>
            <a:ext cx="388620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World Bank comparison</a:t>
            </a:r>
            <a:endParaRPr lang="en-US" sz="1500" dirty="0"/>
          </a:p>
        </p:txBody>
      </p:sp>
      <p:sp>
        <p:nvSpPr>
          <p:cNvPr id="14" name="Text 10"/>
          <p:cNvSpPr txBox="1"/>
          <p:nvPr/>
        </p:nvSpPr>
        <p:spPr>
          <a:xfrm>
            <a:off x="6995160" y="4370832"/>
            <a:ext cx="4480560" cy="4114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gap with the EG.ELC.ACCS.ZS access rate (household surveys)</a:t>
            </a:r>
            <a:endParaRPr lang="en-US" sz="1250" dirty="0"/>
          </a:p>
        </p:txBody>
      </p:sp>
      <p:sp>
        <p:nvSpPr>
          <p:cNvPr id="15" name="Shape 11"/>
          <p:cNvSpPr/>
          <p:nvPr/>
        </p:nvSpPr>
        <p:spPr>
          <a:xfrm>
            <a:off x="548640" y="5074920"/>
            <a:ext cx="6035040" cy="1097280"/>
          </a:xfrm>
          <a:prstGeom prst="roundRect">
            <a:avLst>
              <a:gd name="adj" fmla="val 10000"/>
            </a:avLst>
          </a:prstGeom>
          <a:solidFill>
            <a:srgbClr val="FBECEC"/>
          </a:solidFill>
          <a:ln w="9525">
            <a:solidFill>
              <a:srgbClr val="FBECEC"/>
            </a:solidFill>
            <a:prstDash val="solid"/>
          </a:ln>
        </p:spPr>
      </p:sp>
      <p:sp>
        <p:nvSpPr>
          <p:cNvPr id="16" name="Text 12"/>
          <p:cNvSpPr txBox="1"/>
          <p:nvPr/>
        </p:nvSpPr>
        <p:spPr>
          <a:xfrm>
            <a:off x="685800" y="5148072"/>
            <a:ext cx="5760720" cy="950976"/>
          </a:xfrm>
          <a:prstGeom prst="rect">
            <a:avLst/>
          </a:prstGeom>
          <a:noFill/>
          <a:ln/>
        </p:spPr>
        <p:txBody>
          <a:bodyPr wrap="square" lIns="635" tIns="635" rIns="635" bIns="635" rtlCol="0" anchor="ctr"/>
          <a:lstStyle/>
          <a:p>
            <a:pPr indent="0" marL="0">
              <a:spcAft>
                <a:spcPts val="200"/>
              </a:spcAft>
              <a:buNone/>
            </a:pPr>
            <a:r>
              <a:rPr lang="en-US" sz="1300" b="1" dirty="0">
                <a:solidFill>
                  <a:srgbClr val="D64545"/>
                </a:solidFill>
              </a:rPr>
              <a:t>Pitfall  </a:t>
            </a:r>
            <a:pPr indent="0" marL="0">
              <a:spcAft>
                <a:spcPts val="200"/>
              </a:spcAft>
              <a:buNone/>
            </a:pPr>
            <a:r>
              <a:rPr lang="en-US" sz="1300" dirty="0">
                <a:solidFill>
                  <a:srgbClr val="231F20"/>
                </a:solidFill>
              </a:rPr>
              <a:t>“inhabited without light” ≠ “not connected”: a connected low-consumption household is invisible; the result depends on the threshold and the population map.</a:t>
            </a:r>
            <a:endParaRPr lang="en-US" sz="1300" dirty="0"/>
          </a:p>
        </p:txBody>
      </p:sp>
      <p:sp>
        <p:nvSpPr>
          <p:cNvPr id="17" name="Shape 13"/>
          <p:cNvSpPr/>
          <p:nvPr/>
        </p:nvSpPr>
        <p:spPr>
          <a:xfrm>
            <a:off x="6812280" y="5074920"/>
            <a:ext cx="4846320" cy="1097280"/>
          </a:xfrm>
          <a:prstGeom prst="roundRect">
            <a:avLst>
              <a:gd name="adj" fmla="val 10000"/>
            </a:avLst>
          </a:prstGeom>
          <a:solidFill>
            <a:srgbClr val="FDF6E3"/>
          </a:solidFill>
          <a:ln w="9525">
            <a:solidFill>
              <a:srgbClr val="FDF6E3"/>
            </a:solidFill>
            <a:prstDash val="solid"/>
          </a:ln>
        </p:spPr>
      </p:sp>
      <p:sp>
        <p:nvSpPr>
          <p:cNvPr id="18" name="Text 14"/>
          <p:cNvSpPr txBox="1"/>
          <p:nvPr/>
        </p:nvSpPr>
        <p:spPr>
          <a:xfrm>
            <a:off x="6949440" y="5148072"/>
            <a:ext cx="4572000" cy="950976"/>
          </a:xfrm>
          <a:prstGeom prst="rect">
            <a:avLst/>
          </a:prstGeom>
          <a:noFill/>
          <a:ln/>
        </p:spPr>
        <p:txBody>
          <a:bodyPr wrap="square" lIns="635" tIns="635" rIns="635" bIns="635" rtlCol="0" anchor="ctr"/>
          <a:lstStyle/>
          <a:p>
            <a:pPr indent="0" marL="0">
              <a:spcAft>
                <a:spcPts val="200"/>
              </a:spcAft>
              <a:buNone/>
            </a:pPr>
            <a:r>
              <a:rPr lang="en-US" sz="1300" b="1" dirty="0">
                <a:solidFill>
                  <a:srgbClr val="B7791F"/>
                </a:solidFill>
              </a:rPr>
              <a:t>Publishing  </a:t>
            </a:r>
            <a:pPr indent="0" marL="0">
              <a:spcAft>
                <a:spcPts val="200"/>
              </a:spcAft>
              <a:buNone/>
            </a:pPr>
            <a:r>
              <a:rPr lang="en-US" sz="1300" dirty="0">
                <a:solidFill>
                  <a:srgbClr val="231F20"/>
                </a:solidFill>
              </a:rPr>
              <a:t>always publish a range (by threshold), never a figure to the nearest person. The map of dark areas helps target electrification.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CONFIDENCE AND PUBLISHING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confidence system: high, medium, low</a:t>
            </a:r>
            <a:endParaRPr lang="en-US" sz="2800" dirty="0"/>
          </a:p>
        </p:txBody>
      </p:sp>
      <p:sp>
        <p:nvSpPr>
          <p:cNvPr id="4" name="Text 2"/>
          <p:cNvSpPr txBox="1"/>
          <p:nvPr/>
        </p:nvSpPr>
        <p:spPr>
          <a:xfrm>
            <a:off x="548640" y="1325880"/>
            <a:ext cx="7315200" cy="320040"/>
          </a:xfrm>
          <a:prstGeom prst="rect">
            <a:avLst/>
          </a:prstGeom>
          <a:noFill/>
          <a:ln/>
        </p:spPr>
        <p:txBody>
          <a:bodyPr wrap="square" lIns="635" tIns="635" rIns="635" bIns="635" rtlCol="0" anchor="t"/>
          <a:lstStyle/>
          <a:p>
            <a:pPr indent="0" marL="0">
              <a:spcAft>
                <a:spcPts val="200"/>
              </a:spcAft>
              <a:buNone/>
            </a:pPr>
            <a:r>
              <a:rPr lang="en-US" sz="1400" b="1" dirty="0">
                <a:solidFill>
                  <a:srgbClr val="1F4E8C"/>
                </a:solidFill>
              </a:rPr>
              <a:t>Example: NTL–GDP elasticity (src/econometrics.py)</a:t>
            </a:r>
            <a:endParaRPr lang="en-US" sz="1400" dirty="0"/>
          </a:p>
        </p:txBody>
      </p:sp>
      <p:sp>
        <p:nvSpPr>
          <p:cNvPr id="5" name="Text 3"/>
          <p:cNvSpPr txBox="1"/>
          <p:nvPr/>
        </p:nvSpPr>
        <p:spPr>
          <a:xfrm>
            <a:off x="548640" y="1645920"/>
            <a:ext cx="5486400" cy="274320"/>
          </a:xfrm>
          <a:prstGeom prst="rect">
            <a:avLst/>
          </a:prstGeom>
          <a:noFill/>
          <a:ln/>
        </p:spPr>
        <p:txBody>
          <a:bodyPr wrap="square" lIns="635" tIns="635" rIns="635" bIns="635" rtlCol="0" anchor="t"/>
          <a:lstStyle/>
          <a:p>
            <a:pPr indent="0" marL="0">
              <a:spcAft>
                <a:spcPts val="200"/>
              </a:spcAft>
              <a:buNone/>
            </a:pPr>
            <a:r>
              <a:rPr lang="en-US" sz="1200" i="1" dirty="0">
                <a:solidFill>
                  <a:srgbClr val="6B7280"/>
                </a:solidFill>
              </a:rPr>
              <a:t>Rules tested in order; the first true one wins</a:t>
            </a:r>
            <a:endParaRPr lang="en-US" sz="1200" dirty="0"/>
          </a:p>
        </p:txBody>
      </p:sp>
      <p:sp>
        <p:nvSpPr>
          <p:cNvPr id="6" name="Shape 4"/>
          <p:cNvSpPr/>
          <p:nvPr/>
        </p:nvSpPr>
        <p:spPr>
          <a:xfrm>
            <a:off x="548640" y="2011680"/>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7" name="Text 5"/>
          <p:cNvSpPr txBox="1"/>
          <p:nvPr/>
        </p:nvSpPr>
        <p:spPr>
          <a:xfrm>
            <a:off x="640080" y="2011680"/>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1</a:t>
            </a:r>
            <a:endParaRPr lang="en-US" sz="1600" dirty="0"/>
          </a:p>
        </p:txBody>
      </p:sp>
      <p:sp>
        <p:nvSpPr>
          <p:cNvPr id="8" name="Text 6"/>
          <p:cNvSpPr txBox="1"/>
          <p:nvPr/>
        </p:nvSpPr>
        <p:spPr>
          <a:xfrm>
            <a:off x="960120" y="2011680"/>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n &lt; 8 years</a:t>
            </a:r>
            <a:endParaRPr lang="en-US" sz="1300" dirty="0"/>
          </a:p>
        </p:txBody>
      </p:sp>
      <p:sp>
        <p:nvSpPr>
          <p:cNvPr id="9" name="Shape 7"/>
          <p:cNvSpPr/>
          <p:nvPr/>
        </p:nvSpPr>
        <p:spPr>
          <a:xfrm>
            <a:off x="4114800" y="2313432"/>
            <a:ext cx="411480" cy="914"/>
          </a:xfrm>
          <a:prstGeom prst="line">
            <a:avLst/>
          </a:prstGeom>
          <a:noFill/>
          <a:ln w="22225">
            <a:solidFill>
              <a:srgbClr val="6B7280"/>
            </a:solidFill>
            <a:prstDash val="solid"/>
            <a:tailEnd type="triangle"/>
          </a:ln>
        </p:spPr>
      </p:sp>
      <p:sp>
        <p:nvSpPr>
          <p:cNvPr id="10" name="Shape 8"/>
          <p:cNvSpPr/>
          <p:nvPr/>
        </p:nvSpPr>
        <p:spPr>
          <a:xfrm>
            <a:off x="4572000" y="2121408"/>
            <a:ext cx="1417320" cy="384048"/>
          </a:xfrm>
          <a:prstGeom prst="roundRect">
            <a:avLst>
              <a:gd name="adj" fmla="val 42857"/>
            </a:avLst>
          </a:prstGeom>
          <a:solidFill>
            <a:srgbClr val="FBECEC"/>
          </a:solidFill>
          <a:ln w="15875">
            <a:solidFill>
              <a:srgbClr val="D64545"/>
            </a:solidFill>
            <a:prstDash val="solid"/>
          </a:ln>
        </p:spPr>
      </p:sp>
      <p:sp>
        <p:nvSpPr>
          <p:cNvPr id="11" name="Text 9"/>
          <p:cNvSpPr txBox="1"/>
          <p:nvPr/>
        </p:nvSpPr>
        <p:spPr>
          <a:xfrm>
            <a:off x="4572000" y="2121408"/>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D64545"/>
                </a:solidFill>
              </a:rPr>
              <a:t>● LOW</a:t>
            </a:r>
            <a:endParaRPr lang="en-US" sz="1200" dirty="0"/>
          </a:p>
        </p:txBody>
      </p:sp>
      <p:sp>
        <p:nvSpPr>
          <p:cNvPr id="12" name="Shape 10"/>
          <p:cNvSpPr/>
          <p:nvPr/>
        </p:nvSpPr>
        <p:spPr>
          <a:xfrm>
            <a:off x="1463040" y="2633472"/>
            <a:ext cx="914" cy="201168"/>
          </a:xfrm>
          <a:prstGeom prst="line">
            <a:avLst/>
          </a:prstGeom>
          <a:noFill/>
          <a:ln w="19050">
            <a:solidFill>
              <a:srgbClr val="6B7280"/>
            </a:solidFill>
            <a:prstDash val="solid"/>
            <a:tailEnd type="triangle"/>
          </a:ln>
        </p:spPr>
      </p:sp>
      <p:sp>
        <p:nvSpPr>
          <p:cNvPr id="13" name="Text 11"/>
          <p:cNvSpPr txBox="1"/>
          <p:nvPr/>
        </p:nvSpPr>
        <p:spPr>
          <a:xfrm>
            <a:off x="1554480" y="2615184"/>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a:t>
            </a:r>
            <a:endParaRPr lang="en-US" sz="1000" dirty="0"/>
          </a:p>
        </p:txBody>
      </p:sp>
      <p:sp>
        <p:nvSpPr>
          <p:cNvPr id="14" name="Shape 12"/>
          <p:cNvSpPr/>
          <p:nvPr/>
        </p:nvSpPr>
        <p:spPr>
          <a:xfrm>
            <a:off x="548640" y="2852928"/>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15" name="Text 13"/>
          <p:cNvSpPr txBox="1"/>
          <p:nvPr/>
        </p:nvSpPr>
        <p:spPr>
          <a:xfrm>
            <a:off x="640080" y="2852928"/>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2</a:t>
            </a:r>
            <a:endParaRPr lang="en-US" sz="1600" dirty="0"/>
          </a:p>
        </p:txBody>
      </p:sp>
      <p:sp>
        <p:nvSpPr>
          <p:cNvPr id="16" name="Text 14"/>
          <p:cNvSpPr txBox="1"/>
          <p:nvPr/>
        </p:nvSpPr>
        <p:spPr>
          <a:xfrm>
            <a:off x="960120" y="2852928"/>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p &lt; 0.01 · CI &lt; 1 · R² ≥ 0.6 · n ≥ 15</a:t>
            </a:r>
            <a:endParaRPr lang="en-US" sz="1300" dirty="0"/>
          </a:p>
        </p:txBody>
      </p:sp>
      <p:sp>
        <p:nvSpPr>
          <p:cNvPr id="17" name="Shape 15"/>
          <p:cNvSpPr/>
          <p:nvPr/>
        </p:nvSpPr>
        <p:spPr>
          <a:xfrm>
            <a:off x="4114800" y="3154680"/>
            <a:ext cx="411480" cy="914"/>
          </a:xfrm>
          <a:prstGeom prst="line">
            <a:avLst/>
          </a:prstGeom>
          <a:noFill/>
          <a:ln w="22225">
            <a:solidFill>
              <a:srgbClr val="6B7280"/>
            </a:solidFill>
            <a:prstDash val="solid"/>
            <a:tailEnd type="triangle"/>
          </a:ln>
        </p:spPr>
      </p:sp>
      <p:sp>
        <p:nvSpPr>
          <p:cNvPr id="18" name="Shape 16"/>
          <p:cNvSpPr/>
          <p:nvPr/>
        </p:nvSpPr>
        <p:spPr>
          <a:xfrm>
            <a:off x="4572000" y="2962656"/>
            <a:ext cx="1417320" cy="384048"/>
          </a:xfrm>
          <a:prstGeom prst="roundRect">
            <a:avLst>
              <a:gd name="adj" fmla="val 42857"/>
            </a:avLst>
          </a:prstGeom>
          <a:solidFill>
            <a:srgbClr val="E8F5EF"/>
          </a:solidFill>
          <a:ln w="15875">
            <a:solidFill>
              <a:srgbClr val="00704A"/>
            </a:solidFill>
            <a:prstDash val="solid"/>
          </a:ln>
        </p:spPr>
      </p:sp>
      <p:sp>
        <p:nvSpPr>
          <p:cNvPr id="19" name="Text 17"/>
          <p:cNvSpPr txBox="1"/>
          <p:nvPr/>
        </p:nvSpPr>
        <p:spPr>
          <a:xfrm>
            <a:off x="4572000" y="2962656"/>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00704A"/>
                </a:solidFill>
              </a:rPr>
              <a:t>● HIGH</a:t>
            </a:r>
            <a:endParaRPr lang="en-US" sz="1200" dirty="0"/>
          </a:p>
        </p:txBody>
      </p:sp>
      <p:sp>
        <p:nvSpPr>
          <p:cNvPr id="20" name="Shape 18"/>
          <p:cNvSpPr/>
          <p:nvPr/>
        </p:nvSpPr>
        <p:spPr>
          <a:xfrm>
            <a:off x="1463040" y="3474720"/>
            <a:ext cx="914" cy="201168"/>
          </a:xfrm>
          <a:prstGeom prst="line">
            <a:avLst/>
          </a:prstGeom>
          <a:noFill/>
          <a:ln w="19050">
            <a:solidFill>
              <a:srgbClr val="6B7280"/>
            </a:solidFill>
            <a:prstDash val="solid"/>
            <a:tailEnd type="triangle"/>
          </a:ln>
        </p:spPr>
      </p:sp>
      <p:sp>
        <p:nvSpPr>
          <p:cNvPr id="21" name="Text 19"/>
          <p:cNvSpPr txBox="1"/>
          <p:nvPr/>
        </p:nvSpPr>
        <p:spPr>
          <a:xfrm>
            <a:off x="1554480" y="3456432"/>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a:t>
            </a:r>
            <a:endParaRPr lang="en-US" sz="1000" dirty="0"/>
          </a:p>
        </p:txBody>
      </p:sp>
      <p:sp>
        <p:nvSpPr>
          <p:cNvPr id="22" name="Shape 20"/>
          <p:cNvSpPr/>
          <p:nvPr/>
        </p:nvSpPr>
        <p:spPr>
          <a:xfrm>
            <a:off x="548640" y="3694176"/>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23" name="Text 21"/>
          <p:cNvSpPr txBox="1"/>
          <p:nvPr/>
        </p:nvSpPr>
        <p:spPr>
          <a:xfrm>
            <a:off x="640080" y="3694176"/>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3</a:t>
            </a:r>
            <a:endParaRPr lang="en-US" sz="1600" dirty="0"/>
          </a:p>
        </p:txBody>
      </p:sp>
      <p:sp>
        <p:nvSpPr>
          <p:cNvPr id="24" name="Text 22"/>
          <p:cNvSpPr txBox="1"/>
          <p:nvPr/>
        </p:nvSpPr>
        <p:spPr>
          <a:xfrm>
            <a:off x="960120" y="3694176"/>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p &lt; 0.01 · CI &lt; 1 · R² ≥ 0.6 (n &lt; 15)</a:t>
            </a:r>
            <a:endParaRPr lang="en-US" sz="1300" dirty="0"/>
          </a:p>
        </p:txBody>
      </p:sp>
      <p:sp>
        <p:nvSpPr>
          <p:cNvPr id="25" name="Shape 23"/>
          <p:cNvSpPr/>
          <p:nvPr/>
        </p:nvSpPr>
        <p:spPr>
          <a:xfrm>
            <a:off x="4114800" y="3995928"/>
            <a:ext cx="411480" cy="914"/>
          </a:xfrm>
          <a:prstGeom prst="line">
            <a:avLst/>
          </a:prstGeom>
          <a:noFill/>
          <a:ln w="22225">
            <a:solidFill>
              <a:srgbClr val="6B7280"/>
            </a:solidFill>
            <a:prstDash val="solid"/>
            <a:tailEnd type="triangle"/>
          </a:ln>
        </p:spPr>
      </p:sp>
      <p:sp>
        <p:nvSpPr>
          <p:cNvPr id="26" name="Shape 24"/>
          <p:cNvSpPr/>
          <p:nvPr/>
        </p:nvSpPr>
        <p:spPr>
          <a:xfrm>
            <a:off x="4572000" y="3803904"/>
            <a:ext cx="1417320" cy="384048"/>
          </a:xfrm>
          <a:prstGeom prst="roundRect">
            <a:avLst>
              <a:gd name="adj" fmla="val 42857"/>
            </a:avLst>
          </a:prstGeom>
          <a:solidFill>
            <a:srgbClr val="FDF6E3"/>
          </a:solidFill>
          <a:ln w="15875">
            <a:solidFill>
              <a:srgbClr val="B7791F"/>
            </a:solidFill>
            <a:prstDash val="solid"/>
          </a:ln>
        </p:spPr>
      </p:sp>
      <p:sp>
        <p:nvSpPr>
          <p:cNvPr id="27" name="Text 25"/>
          <p:cNvSpPr txBox="1"/>
          <p:nvPr/>
        </p:nvSpPr>
        <p:spPr>
          <a:xfrm>
            <a:off x="4572000" y="3803904"/>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B7791F"/>
                </a:solidFill>
              </a:rPr>
              <a:t>● MEDIUM</a:t>
            </a:r>
            <a:endParaRPr lang="en-US" sz="1200" dirty="0"/>
          </a:p>
        </p:txBody>
      </p:sp>
      <p:sp>
        <p:nvSpPr>
          <p:cNvPr id="28" name="Shape 26"/>
          <p:cNvSpPr/>
          <p:nvPr/>
        </p:nvSpPr>
        <p:spPr>
          <a:xfrm>
            <a:off x="1463040" y="4315968"/>
            <a:ext cx="914" cy="201168"/>
          </a:xfrm>
          <a:prstGeom prst="line">
            <a:avLst/>
          </a:prstGeom>
          <a:noFill/>
          <a:ln w="19050">
            <a:solidFill>
              <a:srgbClr val="6B7280"/>
            </a:solidFill>
            <a:prstDash val="solid"/>
            <a:tailEnd type="triangle"/>
          </a:ln>
        </p:spPr>
      </p:sp>
      <p:sp>
        <p:nvSpPr>
          <p:cNvPr id="29" name="Text 27"/>
          <p:cNvSpPr txBox="1"/>
          <p:nvPr/>
        </p:nvSpPr>
        <p:spPr>
          <a:xfrm>
            <a:off x="1554480" y="4297680"/>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a:t>
            </a:r>
            <a:endParaRPr lang="en-US" sz="1000" dirty="0"/>
          </a:p>
        </p:txBody>
      </p:sp>
      <p:sp>
        <p:nvSpPr>
          <p:cNvPr id="30" name="Shape 28"/>
          <p:cNvSpPr/>
          <p:nvPr/>
        </p:nvSpPr>
        <p:spPr>
          <a:xfrm>
            <a:off x="548640" y="4535424"/>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31" name="Text 29"/>
          <p:cNvSpPr txBox="1"/>
          <p:nvPr/>
        </p:nvSpPr>
        <p:spPr>
          <a:xfrm>
            <a:off x="640080" y="4535424"/>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4</a:t>
            </a:r>
            <a:endParaRPr lang="en-US" sz="1600" dirty="0"/>
          </a:p>
        </p:txBody>
      </p:sp>
      <p:sp>
        <p:nvSpPr>
          <p:cNvPr id="32" name="Text 30"/>
          <p:cNvSpPr txBox="1"/>
          <p:nvPr/>
        </p:nvSpPr>
        <p:spPr>
          <a:xfrm>
            <a:off x="960120" y="4535424"/>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p &lt; 0.10</a:t>
            </a:r>
            <a:endParaRPr lang="en-US" sz="1300" dirty="0"/>
          </a:p>
        </p:txBody>
      </p:sp>
      <p:sp>
        <p:nvSpPr>
          <p:cNvPr id="33" name="Shape 31"/>
          <p:cNvSpPr/>
          <p:nvPr/>
        </p:nvSpPr>
        <p:spPr>
          <a:xfrm>
            <a:off x="4114800" y="4837176"/>
            <a:ext cx="411480" cy="914"/>
          </a:xfrm>
          <a:prstGeom prst="line">
            <a:avLst/>
          </a:prstGeom>
          <a:noFill/>
          <a:ln w="22225">
            <a:solidFill>
              <a:srgbClr val="6B7280"/>
            </a:solidFill>
            <a:prstDash val="solid"/>
            <a:tailEnd type="triangle"/>
          </a:ln>
        </p:spPr>
      </p:sp>
      <p:sp>
        <p:nvSpPr>
          <p:cNvPr id="34" name="Shape 32"/>
          <p:cNvSpPr/>
          <p:nvPr/>
        </p:nvSpPr>
        <p:spPr>
          <a:xfrm>
            <a:off x="4572000" y="4645152"/>
            <a:ext cx="1417320" cy="384048"/>
          </a:xfrm>
          <a:prstGeom prst="roundRect">
            <a:avLst>
              <a:gd name="adj" fmla="val 42857"/>
            </a:avLst>
          </a:prstGeom>
          <a:solidFill>
            <a:srgbClr val="FDF6E3"/>
          </a:solidFill>
          <a:ln w="15875">
            <a:solidFill>
              <a:srgbClr val="B7791F"/>
            </a:solidFill>
            <a:prstDash val="solid"/>
          </a:ln>
        </p:spPr>
      </p:sp>
      <p:sp>
        <p:nvSpPr>
          <p:cNvPr id="35" name="Text 33"/>
          <p:cNvSpPr txBox="1"/>
          <p:nvPr/>
        </p:nvSpPr>
        <p:spPr>
          <a:xfrm>
            <a:off x="4572000" y="4645152"/>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B7791F"/>
                </a:solidFill>
              </a:rPr>
              <a:t>● MEDIUM</a:t>
            </a:r>
            <a:endParaRPr lang="en-US" sz="1200" dirty="0"/>
          </a:p>
        </p:txBody>
      </p:sp>
      <p:sp>
        <p:nvSpPr>
          <p:cNvPr id="36" name="Shape 34"/>
          <p:cNvSpPr/>
          <p:nvPr/>
        </p:nvSpPr>
        <p:spPr>
          <a:xfrm>
            <a:off x="1463040" y="5157216"/>
            <a:ext cx="914" cy="201168"/>
          </a:xfrm>
          <a:prstGeom prst="line">
            <a:avLst/>
          </a:prstGeom>
          <a:noFill/>
          <a:ln w="19050">
            <a:solidFill>
              <a:srgbClr val="6B7280"/>
            </a:solidFill>
            <a:prstDash val="solid"/>
            <a:tailEnd type="triangle"/>
          </a:ln>
        </p:spPr>
      </p:sp>
      <p:sp>
        <p:nvSpPr>
          <p:cNvPr id="37" name="Text 35"/>
          <p:cNvSpPr txBox="1"/>
          <p:nvPr/>
        </p:nvSpPr>
        <p:spPr>
          <a:xfrm>
            <a:off x="1554480" y="5138928"/>
            <a:ext cx="548640" cy="228600"/>
          </a:xfrm>
          <a:prstGeom prst="rect">
            <a:avLst/>
          </a:prstGeom>
          <a:noFill/>
          <a:ln/>
        </p:spPr>
        <p:txBody>
          <a:bodyPr wrap="square" lIns="635" tIns="635" rIns="635" bIns="635" rtlCol="0" anchor="t"/>
          <a:lstStyle/>
          <a:p>
            <a:pPr indent="0" marL="0">
              <a:spcAft>
                <a:spcPts val="200"/>
              </a:spcAft>
              <a:buNone/>
            </a:pPr>
            <a:r>
              <a:rPr lang="en-US" sz="1000" dirty="0">
                <a:solidFill>
                  <a:srgbClr val="6B7280"/>
                </a:solidFill>
              </a:rPr>
              <a:t>no</a:t>
            </a:r>
            <a:endParaRPr lang="en-US" sz="1000" dirty="0"/>
          </a:p>
        </p:txBody>
      </p:sp>
      <p:sp>
        <p:nvSpPr>
          <p:cNvPr id="38" name="Shape 36"/>
          <p:cNvSpPr/>
          <p:nvPr/>
        </p:nvSpPr>
        <p:spPr>
          <a:xfrm>
            <a:off x="548640" y="5376672"/>
            <a:ext cx="3520440" cy="603504"/>
          </a:xfrm>
          <a:prstGeom prst="roundRect">
            <a:avLst>
              <a:gd name="adj" fmla="val 18182"/>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39" name="Text 37"/>
          <p:cNvSpPr txBox="1"/>
          <p:nvPr/>
        </p:nvSpPr>
        <p:spPr>
          <a:xfrm>
            <a:off x="640080" y="5376672"/>
            <a:ext cx="320040" cy="603504"/>
          </a:xfrm>
          <a:prstGeom prst="rect">
            <a:avLst/>
          </a:prstGeom>
          <a:noFill/>
          <a:ln/>
        </p:spPr>
        <p:txBody>
          <a:bodyPr wrap="square" lIns="635" tIns="635" rIns="635" bIns="635" rtlCol="0" anchor="ctr"/>
          <a:lstStyle/>
          <a:p>
            <a:pPr indent="0" marL="0">
              <a:spcAft>
                <a:spcPts val="200"/>
              </a:spcAft>
              <a:buNone/>
            </a:pPr>
            <a:r>
              <a:rPr lang="en-US" sz="1600" b="1" dirty="0">
                <a:solidFill>
                  <a:srgbClr val="B7791F"/>
                </a:solidFill>
              </a:rPr>
              <a:t>5</a:t>
            </a:r>
            <a:endParaRPr lang="en-US" sz="1600" dirty="0"/>
          </a:p>
        </p:txBody>
      </p:sp>
      <p:sp>
        <p:nvSpPr>
          <p:cNvPr id="40" name="Text 38"/>
          <p:cNvSpPr txBox="1"/>
          <p:nvPr/>
        </p:nvSpPr>
        <p:spPr>
          <a:xfrm>
            <a:off x="960120" y="5376672"/>
            <a:ext cx="3063240" cy="603504"/>
          </a:xfrm>
          <a:prstGeom prst="rect">
            <a:avLst/>
          </a:prstGeom>
          <a:noFill/>
          <a:ln/>
        </p:spPr>
        <p:txBody>
          <a:bodyPr wrap="square" lIns="635" tIns="635" rIns="635" bIns="635" rtlCol="0" anchor="ctr"/>
          <a:lstStyle/>
          <a:p>
            <a:pPr indent="0" marL="0">
              <a:spcAft>
                <a:spcPts val="200"/>
              </a:spcAft>
              <a:buNone/>
            </a:pPr>
            <a:r>
              <a:rPr lang="en-US" sz="1300" b="1" dirty="0">
                <a:solidFill>
                  <a:srgbClr val="231F20"/>
                </a:solidFill>
              </a:rPr>
              <a:t>otherwise</a:t>
            </a:r>
            <a:endParaRPr lang="en-US" sz="1300" dirty="0"/>
          </a:p>
        </p:txBody>
      </p:sp>
      <p:sp>
        <p:nvSpPr>
          <p:cNvPr id="41" name="Shape 39"/>
          <p:cNvSpPr/>
          <p:nvPr/>
        </p:nvSpPr>
        <p:spPr>
          <a:xfrm>
            <a:off x="4114800" y="5678424"/>
            <a:ext cx="411480" cy="914"/>
          </a:xfrm>
          <a:prstGeom prst="line">
            <a:avLst/>
          </a:prstGeom>
          <a:noFill/>
          <a:ln w="22225">
            <a:solidFill>
              <a:srgbClr val="6B7280"/>
            </a:solidFill>
            <a:prstDash val="solid"/>
            <a:tailEnd type="triangle"/>
          </a:ln>
        </p:spPr>
      </p:sp>
      <p:sp>
        <p:nvSpPr>
          <p:cNvPr id="42" name="Shape 40"/>
          <p:cNvSpPr/>
          <p:nvPr/>
        </p:nvSpPr>
        <p:spPr>
          <a:xfrm>
            <a:off x="4572000" y="5486400"/>
            <a:ext cx="1417320" cy="384048"/>
          </a:xfrm>
          <a:prstGeom prst="roundRect">
            <a:avLst>
              <a:gd name="adj" fmla="val 42857"/>
            </a:avLst>
          </a:prstGeom>
          <a:solidFill>
            <a:srgbClr val="FBECEC"/>
          </a:solidFill>
          <a:ln w="15875">
            <a:solidFill>
              <a:srgbClr val="D64545"/>
            </a:solidFill>
            <a:prstDash val="solid"/>
          </a:ln>
        </p:spPr>
      </p:sp>
      <p:sp>
        <p:nvSpPr>
          <p:cNvPr id="43" name="Text 41"/>
          <p:cNvSpPr txBox="1"/>
          <p:nvPr/>
        </p:nvSpPr>
        <p:spPr>
          <a:xfrm>
            <a:off x="4572000" y="5486400"/>
            <a:ext cx="1417320" cy="384048"/>
          </a:xfrm>
          <a:prstGeom prst="rect">
            <a:avLst/>
          </a:prstGeom>
          <a:noFill/>
          <a:ln/>
        </p:spPr>
        <p:txBody>
          <a:bodyPr wrap="square" lIns="0" tIns="0" rIns="0" bIns="0" rtlCol="0" anchor="ctr"/>
          <a:lstStyle/>
          <a:p>
            <a:pPr algn="ctr" indent="0" marL="0">
              <a:spcAft>
                <a:spcPts val="200"/>
              </a:spcAft>
              <a:buNone/>
            </a:pPr>
            <a:r>
              <a:rPr lang="en-US" sz="1200" b="1" spc="100" kern="0" dirty="0">
                <a:solidFill>
                  <a:srgbClr val="D64545"/>
                </a:solidFill>
              </a:rPr>
              <a:t>● LOW</a:t>
            </a:r>
            <a:endParaRPr lang="en-US" sz="1200" dirty="0"/>
          </a:p>
        </p:txBody>
      </p:sp>
      <p:sp>
        <p:nvSpPr>
          <p:cNvPr id="44" name="Shape 42"/>
          <p:cNvSpPr/>
          <p:nvPr/>
        </p:nvSpPr>
        <p:spPr>
          <a:xfrm>
            <a:off x="6172200" y="1371600"/>
            <a:ext cx="5486400" cy="1188720"/>
          </a:xfrm>
          <a:prstGeom prst="roundRect">
            <a:avLst>
              <a:gd name="adj" fmla="val 9231"/>
            </a:avLst>
          </a:prstGeom>
          <a:solidFill>
            <a:srgbClr val="E8F5EF"/>
          </a:solidFill>
          <a:ln w="9525">
            <a:solidFill>
              <a:srgbClr val="E8F5EF"/>
            </a:solidFill>
            <a:prstDash val="solid"/>
          </a:ln>
        </p:spPr>
      </p:sp>
      <p:sp>
        <p:nvSpPr>
          <p:cNvPr id="45" name="Shape 43"/>
          <p:cNvSpPr/>
          <p:nvPr/>
        </p:nvSpPr>
        <p:spPr>
          <a:xfrm>
            <a:off x="6355080" y="1737360"/>
            <a:ext cx="457200" cy="457200"/>
          </a:xfrm>
          <a:prstGeom prst="ellipse">
            <a:avLst/>
          </a:prstGeom>
          <a:solidFill>
            <a:srgbClr val="00704A"/>
          </a:solidFill>
          <a:ln w="12700">
            <a:solidFill>
              <a:srgbClr val="00704A"/>
            </a:solidFill>
            <a:prstDash val="solid"/>
          </a:ln>
        </p:spPr>
      </p:sp>
      <p:sp>
        <p:nvSpPr>
          <p:cNvPr id="46" name="Text 44"/>
          <p:cNvSpPr txBox="1"/>
          <p:nvPr/>
        </p:nvSpPr>
        <p:spPr>
          <a:xfrm>
            <a:off x="6949440" y="1463040"/>
            <a:ext cx="4572000" cy="347472"/>
          </a:xfrm>
          <a:prstGeom prst="rect">
            <a:avLst/>
          </a:prstGeom>
          <a:noFill/>
          <a:ln/>
        </p:spPr>
        <p:txBody>
          <a:bodyPr wrap="square" lIns="635" tIns="635" rIns="635" bIns="635" rtlCol="0" anchor="t"/>
          <a:lstStyle/>
          <a:p>
            <a:pPr indent="0" marL="0">
              <a:spcAft>
                <a:spcPts val="200"/>
              </a:spcAft>
              <a:buNone/>
            </a:pPr>
            <a:r>
              <a:rPr lang="en-US" sz="1600" b="1" dirty="0">
                <a:solidFill>
                  <a:srgbClr val="00704A"/>
                </a:solidFill>
              </a:rPr>
              <a:t>High</a:t>
            </a:r>
            <a:endParaRPr lang="en-US" sz="1600" dirty="0"/>
          </a:p>
        </p:txBody>
      </p:sp>
      <p:sp>
        <p:nvSpPr>
          <p:cNvPr id="47" name="Text 45"/>
          <p:cNvSpPr txBox="1"/>
          <p:nvPr/>
        </p:nvSpPr>
        <p:spPr>
          <a:xfrm>
            <a:off x="6949440" y="1810512"/>
            <a:ext cx="4572000" cy="71323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significant, sufficient sample, insensitive to choices → publishable message</a:t>
            </a:r>
            <a:endParaRPr lang="en-US" sz="1300" dirty="0"/>
          </a:p>
        </p:txBody>
      </p:sp>
      <p:sp>
        <p:nvSpPr>
          <p:cNvPr id="48" name="Shape 46"/>
          <p:cNvSpPr/>
          <p:nvPr/>
        </p:nvSpPr>
        <p:spPr>
          <a:xfrm>
            <a:off x="6172200" y="2697480"/>
            <a:ext cx="5486400" cy="1188720"/>
          </a:xfrm>
          <a:prstGeom prst="roundRect">
            <a:avLst>
              <a:gd name="adj" fmla="val 9231"/>
            </a:avLst>
          </a:prstGeom>
          <a:solidFill>
            <a:srgbClr val="FDF6E3"/>
          </a:solidFill>
          <a:ln w="9525">
            <a:solidFill>
              <a:srgbClr val="FDF6E3"/>
            </a:solidFill>
            <a:prstDash val="solid"/>
          </a:ln>
        </p:spPr>
      </p:sp>
      <p:sp>
        <p:nvSpPr>
          <p:cNvPr id="49" name="Shape 47"/>
          <p:cNvSpPr/>
          <p:nvPr/>
        </p:nvSpPr>
        <p:spPr>
          <a:xfrm>
            <a:off x="6355080" y="3063240"/>
            <a:ext cx="457200" cy="457200"/>
          </a:xfrm>
          <a:prstGeom prst="ellipse">
            <a:avLst/>
          </a:prstGeom>
          <a:solidFill>
            <a:srgbClr val="B7791F"/>
          </a:solidFill>
          <a:ln w="12700">
            <a:solidFill>
              <a:srgbClr val="B7791F"/>
            </a:solidFill>
            <a:prstDash val="solid"/>
          </a:ln>
        </p:spPr>
      </p:sp>
      <p:sp>
        <p:nvSpPr>
          <p:cNvPr id="50" name="Text 48"/>
          <p:cNvSpPr txBox="1"/>
          <p:nvPr/>
        </p:nvSpPr>
        <p:spPr>
          <a:xfrm>
            <a:off x="6949440" y="2788920"/>
            <a:ext cx="4572000" cy="347472"/>
          </a:xfrm>
          <a:prstGeom prst="rect">
            <a:avLst/>
          </a:prstGeom>
          <a:noFill/>
          <a:ln/>
        </p:spPr>
        <p:txBody>
          <a:bodyPr wrap="square" lIns="635" tIns="635" rIns="635" bIns="635" rtlCol="0" anchor="t"/>
          <a:lstStyle/>
          <a:p>
            <a:pPr indent="0" marL="0">
              <a:spcAft>
                <a:spcPts val="200"/>
              </a:spcAft>
              <a:buNone/>
            </a:pPr>
            <a:r>
              <a:rPr lang="en-US" sz="1600" b="1" dirty="0">
                <a:solidFill>
                  <a:srgbClr val="B7791F"/>
                </a:solidFill>
              </a:rPr>
              <a:t>Medium</a:t>
            </a:r>
            <a:endParaRPr lang="en-US" sz="1600" dirty="0"/>
          </a:p>
        </p:txBody>
      </p:sp>
      <p:sp>
        <p:nvSpPr>
          <p:cNvPr id="51" name="Text 49"/>
          <p:cNvSpPr txBox="1"/>
          <p:nvPr/>
        </p:nvSpPr>
        <p:spPr>
          <a:xfrm>
            <a:off x="6949440" y="3136392"/>
            <a:ext cx="4572000" cy="71323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significant but short sample or threshold-sensitive → publish with caveats</a:t>
            </a:r>
            <a:endParaRPr lang="en-US" sz="1300" dirty="0"/>
          </a:p>
        </p:txBody>
      </p:sp>
      <p:sp>
        <p:nvSpPr>
          <p:cNvPr id="52" name="Shape 50"/>
          <p:cNvSpPr/>
          <p:nvPr/>
        </p:nvSpPr>
        <p:spPr>
          <a:xfrm>
            <a:off x="6172200" y="4023360"/>
            <a:ext cx="5486400" cy="1188720"/>
          </a:xfrm>
          <a:prstGeom prst="roundRect">
            <a:avLst>
              <a:gd name="adj" fmla="val 9231"/>
            </a:avLst>
          </a:prstGeom>
          <a:solidFill>
            <a:srgbClr val="FBECEC"/>
          </a:solidFill>
          <a:ln w="9525">
            <a:solidFill>
              <a:srgbClr val="FBECEC"/>
            </a:solidFill>
            <a:prstDash val="solid"/>
          </a:ln>
        </p:spPr>
      </p:sp>
      <p:sp>
        <p:nvSpPr>
          <p:cNvPr id="53" name="Shape 51"/>
          <p:cNvSpPr/>
          <p:nvPr/>
        </p:nvSpPr>
        <p:spPr>
          <a:xfrm>
            <a:off x="6355080" y="4389120"/>
            <a:ext cx="457200" cy="457200"/>
          </a:xfrm>
          <a:prstGeom prst="ellipse">
            <a:avLst/>
          </a:prstGeom>
          <a:solidFill>
            <a:srgbClr val="D64545"/>
          </a:solidFill>
          <a:ln w="12700">
            <a:solidFill>
              <a:srgbClr val="D64545"/>
            </a:solidFill>
            <a:prstDash val="solid"/>
          </a:ln>
        </p:spPr>
      </p:sp>
      <p:sp>
        <p:nvSpPr>
          <p:cNvPr id="54" name="Text 52"/>
          <p:cNvSpPr txBox="1"/>
          <p:nvPr/>
        </p:nvSpPr>
        <p:spPr>
          <a:xfrm>
            <a:off x="6949440" y="4114800"/>
            <a:ext cx="4572000" cy="347472"/>
          </a:xfrm>
          <a:prstGeom prst="rect">
            <a:avLst/>
          </a:prstGeom>
          <a:noFill/>
          <a:ln/>
        </p:spPr>
        <p:txBody>
          <a:bodyPr wrap="square" lIns="635" tIns="635" rIns="635" bIns="635" rtlCol="0" anchor="t"/>
          <a:lstStyle/>
          <a:p>
            <a:pPr indent="0" marL="0">
              <a:spcAft>
                <a:spcPts val="200"/>
              </a:spcAft>
              <a:buNone/>
            </a:pPr>
            <a:r>
              <a:rPr lang="en-US" sz="1600" b="1" dirty="0">
                <a:solidFill>
                  <a:srgbClr val="D64545"/>
                </a:solidFill>
              </a:rPr>
              <a:t>Low</a:t>
            </a:r>
            <a:endParaRPr lang="en-US" sz="1600" dirty="0"/>
          </a:p>
        </p:txBody>
      </p:sp>
      <p:sp>
        <p:nvSpPr>
          <p:cNvPr id="55" name="Text 53"/>
          <p:cNvSpPr txBox="1"/>
          <p:nvPr/>
        </p:nvSpPr>
        <p:spPr>
          <a:xfrm>
            <a:off x="6949440" y="4462272"/>
            <a:ext cx="4572000" cy="713232"/>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not significant, extrapolation, strong dependence on assumptions → a lead, not a conclusion</a:t>
            </a:r>
            <a:endParaRPr lang="en-US" sz="1300" dirty="0"/>
          </a:p>
        </p:txBody>
      </p:sp>
      <p:sp>
        <p:nvSpPr>
          <p:cNvPr id="56" name="Text 54"/>
          <p:cNvSpPr txBox="1"/>
          <p:nvPr/>
        </p:nvSpPr>
        <p:spPr>
          <a:xfrm>
            <a:off x="6172200" y="5440680"/>
            <a:ext cx="5486400" cy="731520"/>
          </a:xfrm>
          <a:prstGeom prst="rect">
            <a:avLst/>
          </a:prstGeom>
          <a:noFill/>
          <a:ln/>
        </p:spPr>
        <p:txBody>
          <a:bodyPr wrap="square" lIns="635" tIns="635" rIns="635" bIns="635" rtlCol="0" anchor="t"/>
          <a:lstStyle/>
          <a:p>
            <a:pPr indent="0" marL="0">
              <a:spcAft>
                <a:spcPts val="200"/>
              </a:spcAft>
              <a:buNone/>
            </a:pPr>
            <a:r>
              <a:rPr lang="en-US" sz="1300" i="1" dirty="0">
                <a:solidFill>
                  <a:srgbClr val="231F20"/>
                </a:solidFill>
              </a:rPr>
              <a:t>Trends follow a similar rule (n ≥ 6; p &lt; 0.01 → high; p &lt; 0.10 → medium). Every message shows its confidence AND its reason.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CONFIDENCE AND PUBLISHING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Publishing light-based statistics: five good practices</a:t>
            </a:r>
            <a:endParaRPr lang="en-US" sz="2800" dirty="0"/>
          </a:p>
        </p:txBody>
      </p:sp>
      <p:sp>
        <p:nvSpPr>
          <p:cNvPr id="4" name="Shape 2"/>
          <p:cNvSpPr/>
          <p:nvPr/>
        </p:nvSpPr>
        <p:spPr>
          <a:xfrm>
            <a:off x="548640"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1188720" y="1645920"/>
            <a:ext cx="822960" cy="82296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1386230" y="1843430"/>
            <a:ext cx="427939" cy="427939"/>
          </a:xfrm>
          <a:prstGeom prst="rect">
            <a:avLst/>
          </a:prstGeom>
        </p:spPr>
      </p:pic>
      <p:sp>
        <p:nvSpPr>
          <p:cNvPr id="7" name="Text 4"/>
          <p:cNvSpPr txBox="1"/>
          <p:nvPr/>
        </p:nvSpPr>
        <p:spPr>
          <a:xfrm>
            <a:off x="640080"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Always an interval</a:t>
            </a:r>
            <a:endParaRPr lang="en-US" sz="1500" dirty="0"/>
          </a:p>
        </p:txBody>
      </p:sp>
      <p:sp>
        <p:nvSpPr>
          <p:cNvPr id="8" name="Text 5"/>
          <p:cNvSpPr txBox="1"/>
          <p:nvPr/>
        </p:nvSpPr>
        <p:spPr>
          <a:xfrm>
            <a:off x="685800"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95% CI, range by threshold, prediction interval: never a bare number.</a:t>
            </a:r>
            <a:endParaRPr lang="en-US" sz="1250" dirty="0"/>
          </a:p>
        </p:txBody>
      </p:sp>
      <p:sp>
        <p:nvSpPr>
          <p:cNvPr id="9" name="Shape 6"/>
          <p:cNvSpPr/>
          <p:nvPr/>
        </p:nvSpPr>
        <p:spPr>
          <a:xfrm>
            <a:off x="2807208"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3447288" y="1645920"/>
            <a:ext cx="822960" cy="82296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3644798" y="1843430"/>
            <a:ext cx="427939" cy="427939"/>
          </a:xfrm>
          <a:prstGeom prst="rect">
            <a:avLst/>
          </a:prstGeom>
        </p:spPr>
      </p:pic>
      <p:sp>
        <p:nvSpPr>
          <p:cNvPr id="12" name="Text 8"/>
          <p:cNvSpPr txBox="1"/>
          <p:nvPr/>
        </p:nvSpPr>
        <p:spPr>
          <a:xfrm>
            <a:off x="2898648"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Experimental status</a:t>
            </a:r>
            <a:endParaRPr lang="en-US" sz="1500" dirty="0"/>
          </a:p>
        </p:txBody>
      </p:sp>
      <p:sp>
        <p:nvSpPr>
          <p:cNvPr id="13" name="Text 9"/>
          <p:cNvSpPr txBox="1"/>
          <p:nvPr/>
        </p:nvSpPr>
        <p:spPr>
          <a:xfrm>
            <a:off x="2944368"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Regional GDP and nowcast: labelled “experimental statistics”.</a:t>
            </a:r>
            <a:endParaRPr lang="en-US" sz="1250" dirty="0"/>
          </a:p>
        </p:txBody>
      </p:sp>
      <p:sp>
        <p:nvSpPr>
          <p:cNvPr id="14" name="Shape 10"/>
          <p:cNvSpPr/>
          <p:nvPr/>
        </p:nvSpPr>
        <p:spPr>
          <a:xfrm>
            <a:off x="5065776"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5705856" y="1645920"/>
            <a:ext cx="822960" cy="82296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5903366" y="1843430"/>
            <a:ext cx="427939" cy="427939"/>
          </a:xfrm>
          <a:prstGeom prst="rect">
            <a:avLst/>
          </a:prstGeom>
        </p:spPr>
      </p:pic>
      <p:sp>
        <p:nvSpPr>
          <p:cNvPr id="17" name="Text 12"/>
          <p:cNvSpPr txBox="1"/>
          <p:nvPr/>
        </p:nvSpPr>
        <p:spPr>
          <a:xfrm>
            <a:off x="5157216"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Traceability</a:t>
            </a:r>
            <a:endParaRPr lang="en-US" sz="1500" dirty="0"/>
          </a:p>
        </p:txBody>
      </p:sp>
      <p:sp>
        <p:nvSpPr>
          <p:cNvPr id="18" name="Text 13"/>
          <p:cNvSpPr txBox="1"/>
          <p:nvPr/>
        </p:nvSpPr>
        <p:spPr>
          <a:xfrm>
            <a:off x="5202936"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manifest: parameters, versions, data availability, extraction date.</a:t>
            </a:r>
            <a:endParaRPr lang="en-US" sz="1250" dirty="0"/>
          </a:p>
        </p:txBody>
      </p:sp>
      <p:sp>
        <p:nvSpPr>
          <p:cNvPr id="19" name="Shape 14"/>
          <p:cNvSpPr/>
          <p:nvPr/>
        </p:nvSpPr>
        <p:spPr>
          <a:xfrm>
            <a:off x="7324344"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7964424" y="1645920"/>
            <a:ext cx="822960" cy="822960"/>
          </a:xfrm>
          <a:prstGeom prst="ellipse">
            <a:avLst/>
          </a:prstGeom>
          <a:solidFill>
            <a:srgbClr val="00704A"/>
          </a:solidFill>
          <a:ln w="12700">
            <a:solidFill>
              <a:srgbClr val="00704A"/>
            </a:solidFill>
            <a:prstDash val="solid"/>
          </a:ln>
        </p:spPr>
      </p:sp>
      <p:pic>
        <p:nvPicPr>
          <p:cNvPr id="21" name="Image 3" descr="preencoded.png">    </p:cNvPr>
          <p:cNvPicPr>
            <a:picLocks noChangeAspect="1"/>
          </p:cNvPicPr>
          <p:nvPr/>
        </p:nvPicPr>
        <p:blipFill>
          <a:blip r:embed="rId4"/>
          <a:stretch>
            <a:fillRect/>
          </a:stretch>
        </p:blipFill>
        <p:spPr>
          <a:xfrm>
            <a:off x="8161934" y="1843430"/>
            <a:ext cx="427939" cy="427939"/>
          </a:xfrm>
          <a:prstGeom prst="rect">
            <a:avLst/>
          </a:prstGeom>
        </p:spPr>
      </p:pic>
      <p:sp>
        <p:nvSpPr>
          <p:cNvPr id="22" name="Text 16"/>
          <p:cNvSpPr txBox="1"/>
          <p:nvPr/>
        </p:nvSpPr>
        <p:spPr>
          <a:xfrm>
            <a:off x="7415784"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Documented thresholds</a:t>
            </a:r>
            <a:endParaRPr lang="en-US" sz="1500" dirty="0"/>
          </a:p>
        </p:txBody>
      </p:sp>
      <p:sp>
        <p:nvSpPr>
          <p:cNvPr id="23" name="Text 17"/>
          <p:cNvSpPr txBox="1"/>
          <p:nvPr/>
        </p:nvSpPr>
        <p:spPr>
          <a:xfrm>
            <a:off x="7461504"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every threshold is shown on the dashboard's “Methods &amp; limitations” page.</a:t>
            </a:r>
            <a:endParaRPr lang="en-US" sz="1250" dirty="0"/>
          </a:p>
        </p:txBody>
      </p:sp>
      <p:sp>
        <p:nvSpPr>
          <p:cNvPr id="24" name="Shape 18"/>
          <p:cNvSpPr/>
          <p:nvPr/>
        </p:nvSpPr>
        <p:spPr>
          <a:xfrm>
            <a:off x="9582912" y="1463040"/>
            <a:ext cx="2103120" cy="3200400"/>
          </a:xfrm>
          <a:prstGeom prst="roundRect">
            <a:avLst>
              <a:gd name="adj" fmla="val 521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19"/>
          <p:cNvSpPr/>
          <p:nvPr/>
        </p:nvSpPr>
        <p:spPr>
          <a:xfrm>
            <a:off x="10222992" y="1645920"/>
            <a:ext cx="822960" cy="822960"/>
          </a:xfrm>
          <a:prstGeom prst="ellipse">
            <a:avLst/>
          </a:prstGeom>
          <a:solidFill>
            <a:srgbClr val="1F4E8C"/>
          </a:solidFill>
          <a:ln w="12700">
            <a:solidFill>
              <a:srgbClr val="1F4E8C"/>
            </a:solidFill>
            <a:prstDash val="solid"/>
          </a:ln>
        </p:spPr>
      </p:sp>
      <p:pic>
        <p:nvPicPr>
          <p:cNvPr id="26" name="Image 4" descr="preencoded.png">    </p:cNvPr>
          <p:cNvPicPr>
            <a:picLocks noChangeAspect="1"/>
          </p:cNvPicPr>
          <p:nvPr/>
        </p:nvPicPr>
        <p:blipFill>
          <a:blip r:embed="rId5"/>
          <a:stretch>
            <a:fillRect/>
          </a:stretch>
        </p:blipFill>
        <p:spPr>
          <a:xfrm>
            <a:off x="10420502" y="1843430"/>
            <a:ext cx="427939" cy="427939"/>
          </a:xfrm>
          <a:prstGeom prst="rect">
            <a:avLst/>
          </a:prstGeom>
        </p:spPr>
      </p:pic>
      <p:sp>
        <p:nvSpPr>
          <p:cNvPr id="27" name="Text 20"/>
          <p:cNvSpPr txBox="1"/>
          <p:nvPr/>
        </p:nvSpPr>
        <p:spPr>
          <a:xfrm>
            <a:off x="9674352" y="2606040"/>
            <a:ext cx="1920240" cy="640080"/>
          </a:xfrm>
          <a:prstGeom prst="rect">
            <a:avLst/>
          </a:prstGeom>
          <a:noFill/>
          <a:ln/>
        </p:spPr>
        <p:txBody>
          <a:bodyPr wrap="square" lIns="635" tIns="635" rIns="635" bIns="635" rtlCol="0" anchor="ctr"/>
          <a:lstStyle/>
          <a:p>
            <a:pPr algn="ctr" indent="0" marL="0">
              <a:spcAft>
                <a:spcPts val="200"/>
              </a:spcAft>
              <a:buNone/>
            </a:pPr>
            <a:r>
              <a:rPr lang="en-US" sz="1500" b="1" dirty="0">
                <a:solidFill>
                  <a:srgbClr val="00553A"/>
                </a:solidFill>
              </a:rPr>
              <a:t>Never alone</a:t>
            </a:r>
            <a:endParaRPr lang="en-US" sz="1500" dirty="0"/>
          </a:p>
        </p:txBody>
      </p:sp>
      <p:sp>
        <p:nvSpPr>
          <p:cNvPr id="28" name="Text 21"/>
          <p:cNvSpPr txBox="1"/>
          <p:nvPr/>
        </p:nvSpPr>
        <p:spPr>
          <a:xfrm>
            <a:off x="9720072" y="3291840"/>
            <a:ext cx="1828800" cy="1325880"/>
          </a:xfrm>
          <a:prstGeom prst="rect">
            <a:avLst/>
          </a:prstGeom>
          <a:noFill/>
          <a:ln/>
        </p:spPr>
        <p:txBody>
          <a:bodyPr wrap="square" lIns="635" tIns="635" rIns="635" bIns="635" rtlCol="0" anchor="t"/>
          <a:lstStyle/>
          <a:p>
            <a:pPr algn="ctr" indent="0" marL="0">
              <a:spcAft>
                <a:spcPts val="200"/>
              </a:spcAft>
              <a:buNone/>
            </a:pPr>
            <a:r>
              <a:rPr lang="en-US" sz="1250" dirty="0">
                <a:solidFill>
                  <a:srgbClr val="231F20"/>
                </a:solidFill>
              </a:rPr>
              <a:t>as a complement to accounts and surveys, never a substitute.</a:t>
            </a:r>
            <a:endParaRPr lang="en-US" sz="1250" dirty="0"/>
          </a:p>
        </p:txBody>
      </p:sp>
      <p:sp>
        <p:nvSpPr>
          <p:cNvPr id="29" name="Shape 22"/>
          <p:cNvSpPr/>
          <p:nvPr/>
        </p:nvSpPr>
        <p:spPr>
          <a:xfrm>
            <a:off x="548640" y="4892040"/>
            <a:ext cx="11109960" cy="1280160"/>
          </a:xfrm>
          <a:prstGeom prst="roundRect">
            <a:avLst>
              <a:gd name="adj" fmla="val 8571"/>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30" name="Text 23"/>
          <p:cNvSpPr txBox="1"/>
          <p:nvPr/>
        </p:nvSpPr>
        <p:spPr>
          <a:xfrm>
            <a:off x="777240" y="4983480"/>
            <a:ext cx="10698480" cy="1097280"/>
          </a:xfrm>
          <a:prstGeom prst="rect">
            <a:avLst/>
          </a:prstGeom>
          <a:noFill/>
          <a:ln/>
        </p:spPr>
        <p:txBody>
          <a:bodyPr wrap="square" lIns="635" tIns="635" rIns="635" bIns="635" rtlCol="0" anchor="t"/>
          <a:lstStyle/>
          <a:p>
            <a:pPr indent="0" marL="0">
              <a:spcAft>
                <a:spcPts val="200"/>
              </a:spcAft>
              <a:buNone/>
            </a:pPr>
            <a:r>
              <a:rPr lang="en-US" sz="1350" b="1" dirty="0">
                <a:solidFill>
                  <a:srgbClr val="F5C242"/>
                </a:solidFill>
              </a:rPr>
              <a:t>Recommendations produced automatically by the notebook (section 10)</a:t>
            </a:r>
            <a:endParaRPr lang="en-US" sz="1350" dirty="0"/>
          </a:p>
          <a:p>
            <a:pPr indent="0" marL="0">
              <a:spcAft>
                <a:spcPts val="200"/>
              </a:spcAft>
              <a:buNone/>
            </a:pPr>
            <a:r>
              <a:rPr lang="en-US" sz="1350" dirty="0">
                <a:solidFill>
                  <a:srgbClr val="FFFFFF"/>
                </a:solidFill>
              </a:rPr>
              <a:t>Use lights as a leading, subnational indicator · Do not release GDP estimates if the NTL–GDP link is weak · Cross the “in the dark” map with connection registers · Document unexplained breaks · Update every quarter.</a:t>
            </a:r>
            <a:endParaRPr lang="en-US" sz="13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CONFIDENCE AND PUBLISHING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The dashboard: 8 pages, no server</a:t>
            </a:r>
            <a:endParaRPr lang="en-US" sz="2800" dirty="0"/>
          </a:p>
        </p:txBody>
      </p:sp>
      <p:sp>
        <p:nvSpPr>
          <p:cNvPr id="4" name="Shape 2"/>
          <p:cNvSpPr/>
          <p:nvPr/>
        </p:nvSpPr>
        <p:spPr>
          <a:xfrm>
            <a:off x="548640" y="1371600"/>
            <a:ext cx="7315200" cy="4800600"/>
          </a:xfrm>
          <a:prstGeom prst="roundRect">
            <a:avLst>
              <a:gd name="adj" fmla="val 2286"/>
            </a:avLst>
          </a:prstGeom>
          <a:solidFill>
            <a:srgbClr val="FFFFFF"/>
          </a:solidFill>
          <a:ln w="9525">
            <a:solidFill>
              <a:srgbClr val="D5DED9"/>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548640" y="1371600"/>
            <a:ext cx="7315200" cy="384048"/>
          </a:xfrm>
          <a:prstGeom prst="rect">
            <a:avLst/>
          </a:prstGeom>
          <a:solidFill>
            <a:srgbClr val="E5E7EB"/>
          </a:solidFill>
          <a:ln w="12700">
            <a:solidFill>
              <a:srgbClr val="E5E7EB"/>
            </a:solidFill>
            <a:prstDash val="solid"/>
          </a:ln>
        </p:spPr>
      </p:sp>
      <p:sp>
        <p:nvSpPr>
          <p:cNvPr id="6" name="Shape 4"/>
          <p:cNvSpPr/>
          <p:nvPr/>
        </p:nvSpPr>
        <p:spPr>
          <a:xfrm>
            <a:off x="713232" y="1490472"/>
            <a:ext cx="146304" cy="146304"/>
          </a:xfrm>
          <a:prstGeom prst="ellipse">
            <a:avLst/>
          </a:prstGeom>
          <a:solidFill>
            <a:srgbClr val="EF4444"/>
          </a:solidFill>
          <a:ln w="12700">
            <a:solidFill>
              <a:srgbClr val="FFFFFF"/>
            </a:solidFill>
            <a:prstDash val="solid"/>
          </a:ln>
        </p:spPr>
      </p:sp>
      <p:sp>
        <p:nvSpPr>
          <p:cNvPr id="7" name="Shape 5"/>
          <p:cNvSpPr/>
          <p:nvPr/>
        </p:nvSpPr>
        <p:spPr>
          <a:xfrm>
            <a:off x="941832" y="1490472"/>
            <a:ext cx="146304" cy="146304"/>
          </a:xfrm>
          <a:prstGeom prst="ellipse">
            <a:avLst/>
          </a:prstGeom>
          <a:solidFill>
            <a:srgbClr val="F59E0B"/>
          </a:solidFill>
          <a:ln w="12700">
            <a:solidFill>
              <a:srgbClr val="FFFFFF"/>
            </a:solidFill>
            <a:prstDash val="solid"/>
          </a:ln>
        </p:spPr>
      </p:sp>
      <p:sp>
        <p:nvSpPr>
          <p:cNvPr id="8" name="Shape 6"/>
          <p:cNvSpPr/>
          <p:nvPr/>
        </p:nvSpPr>
        <p:spPr>
          <a:xfrm>
            <a:off x="1170432" y="1490472"/>
            <a:ext cx="146304" cy="146304"/>
          </a:xfrm>
          <a:prstGeom prst="ellipse">
            <a:avLst/>
          </a:prstGeom>
          <a:solidFill>
            <a:srgbClr val="10B981"/>
          </a:solidFill>
          <a:ln w="12700">
            <a:solidFill>
              <a:srgbClr val="FFFFFF"/>
            </a:solidFill>
            <a:prstDash val="solid"/>
          </a:ln>
        </p:spPr>
      </p:sp>
      <p:sp>
        <p:nvSpPr>
          <p:cNvPr id="9" name="Shape 7"/>
          <p:cNvSpPr/>
          <p:nvPr/>
        </p:nvSpPr>
        <p:spPr>
          <a:xfrm>
            <a:off x="1508760" y="1444752"/>
            <a:ext cx="6172200" cy="246888"/>
          </a:xfrm>
          <a:prstGeom prst="roundRect">
            <a:avLst>
              <a:gd name="adj" fmla="val 37037"/>
            </a:avLst>
          </a:prstGeom>
          <a:solidFill>
            <a:srgbClr val="FFFFFF"/>
          </a:solidFill>
          <a:ln w="9525">
            <a:solidFill>
              <a:srgbClr val="FFFFFF"/>
            </a:solidFill>
            <a:prstDash val="solid"/>
          </a:ln>
        </p:spPr>
      </p:sp>
      <p:sp>
        <p:nvSpPr>
          <p:cNvPr id="10" name="Text 8"/>
          <p:cNvSpPr txBox="1"/>
          <p:nvPr/>
        </p:nvSpPr>
        <p:spPr>
          <a:xfrm>
            <a:off x="1600200" y="1444752"/>
            <a:ext cx="5943600" cy="246888"/>
          </a:xfrm>
          <a:prstGeom prst="rect">
            <a:avLst/>
          </a:prstGeom>
          <a:noFill/>
          <a:ln/>
        </p:spPr>
        <p:txBody>
          <a:bodyPr wrap="square" lIns="0" tIns="0" rIns="0" bIns="0" rtlCol="0" anchor="ctr"/>
          <a:lstStyle/>
          <a:p>
            <a:pPr indent="0" marL="0">
              <a:spcAft>
                <a:spcPts val="200"/>
              </a:spcAft>
              <a:buNone/>
            </a:pPr>
            <a:r>
              <a:rPr lang="en-US" sz="1100" dirty="0">
                <a:solidFill>
                  <a:srgbClr val="6B7280"/>
                </a:solidFill>
                <a:latin typeface="Courier New" pitchFamily="34" charset="0"/>
                <a:ea typeface="Courier New" pitchFamily="34" charset="-122"/>
                <a:cs typeface="Courier New" pitchFamily="34" charset="-120"/>
              </a:rPr>
              <a:t>https://&lt;user&gt;.github.io/ntl-dashboard/?country=TUN</a:t>
            </a:r>
            <a:endParaRPr lang="en-US" sz="1100" dirty="0"/>
          </a:p>
        </p:txBody>
      </p:sp>
      <p:sp>
        <p:nvSpPr>
          <p:cNvPr id="11" name="Shape 9"/>
          <p:cNvSpPr/>
          <p:nvPr/>
        </p:nvSpPr>
        <p:spPr>
          <a:xfrm>
            <a:off x="731520" y="1901952"/>
            <a:ext cx="822960" cy="292608"/>
          </a:xfrm>
          <a:prstGeom prst="roundRect">
            <a:avLst>
              <a:gd name="adj" fmla="val 56250"/>
            </a:avLst>
          </a:prstGeom>
          <a:solidFill>
            <a:srgbClr val="00553A"/>
          </a:solidFill>
          <a:ln w="15875">
            <a:solidFill>
              <a:srgbClr val="00553A"/>
            </a:solidFill>
            <a:prstDash val="solid"/>
          </a:ln>
        </p:spPr>
      </p:sp>
      <p:sp>
        <p:nvSpPr>
          <p:cNvPr id="12" name="Text 10"/>
          <p:cNvSpPr txBox="1"/>
          <p:nvPr/>
        </p:nvSpPr>
        <p:spPr>
          <a:xfrm>
            <a:off x="731520"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FFFFFF"/>
                </a:solidFill>
              </a:rPr>
              <a:t>Overview</a:t>
            </a:r>
            <a:endParaRPr lang="en-US" sz="1000" dirty="0"/>
          </a:p>
        </p:txBody>
      </p:sp>
      <p:sp>
        <p:nvSpPr>
          <p:cNvPr id="13" name="Shape 11"/>
          <p:cNvSpPr/>
          <p:nvPr/>
        </p:nvSpPr>
        <p:spPr>
          <a:xfrm>
            <a:off x="1618488" y="1901952"/>
            <a:ext cx="822960" cy="292608"/>
          </a:xfrm>
          <a:prstGeom prst="roundRect">
            <a:avLst>
              <a:gd name="adj" fmla="val 56250"/>
            </a:avLst>
          </a:prstGeom>
          <a:solidFill>
            <a:srgbClr val="F4F7F5"/>
          </a:solidFill>
          <a:ln w="15875">
            <a:solidFill>
              <a:srgbClr val="F4F7F5"/>
            </a:solidFill>
            <a:prstDash val="solid"/>
          </a:ln>
        </p:spPr>
      </p:sp>
      <p:sp>
        <p:nvSpPr>
          <p:cNvPr id="14" name="Text 12"/>
          <p:cNvSpPr txBox="1"/>
          <p:nvPr/>
        </p:nvSpPr>
        <p:spPr>
          <a:xfrm>
            <a:off x="1618488"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Map</a:t>
            </a:r>
            <a:endParaRPr lang="en-US" sz="1000" dirty="0"/>
          </a:p>
        </p:txBody>
      </p:sp>
      <p:sp>
        <p:nvSpPr>
          <p:cNvPr id="15" name="Shape 13"/>
          <p:cNvSpPr/>
          <p:nvPr/>
        </p:nvSpPr>
        <p:spPr>
          <a:xfrm>
            <a:off x="2505456" y="1901952"/>
            <a:ext cx="822960" cy="292608"/>
          </a:xfrm>
          <a:prstGeom prst="roundRect">
            <a:avLst>
              <a:gd name="adj" fmla="val 56250"/>
            </a:avLst>
          </a:prstGeom>
          <a:solidFill>
            <a:srgbClr val="F4F7F5"/>
          </a:solidFill>
          <a:ln w="15875">
            <a:solidFill>
              <a:srgbClr val="F4F7F5"/>
            </a:solidFill>
            <a:prstDash val="solid"/>
          </a:ln>
        </p:spPr>
      </p:sp>
      <p:sp>
        <p:nvSpPr>
          <p:cNvPr id="16" name="Text 14"/>
          <p:cNvSpPr txBox="1"/>
          <p:nvPr/>
        </p:nvSpPr>
        <p:spPr>
          <a:xfrm>
            <a:off x="2505456"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Trends</a:t>
            </a:r>
            <a:endParaRPr lang="en-US" sz="1000" dirty="0"/>
          </a:p>
        </p:txBody>
      </p:sp>
      <p:sp>
        <p:nvSpPr>
          <p:cNvPr id="17" name="Shape 15"/>
          <p:cNvSpPr/>
          <p:nvPr/>
        </p:nvSpPr>
        <p:spPr>
          <a:xfrm>
            <a:off x="3392424" y="1901952"/>
            <a:ext cx="822960" cy="292608"/>
          </a:xfrm>
          <a:prstGeom prst="roundRect">
            <a:avLst>
              <a:gd name="adj" fmla="val 56250"/>
            </a:avLst>
          </a:prstGeom>
          <a:solidFill>
            <a:srgbClr val="F4F7F5"/>
          </a:solidFill>
          <a:ln w="15875">
            <a:solidFill>
              <a:srgbClr val="F4F7F5"/>
            </a:solidFill>
            <a:prstDash val="solid"/>
          </a:ln>
        </p:spPr>
      </p:sp>
      <p:sp>
        <p:nvSpPr>
          <p:cNvPr id="18" name="Text 16"/>
          <p:cNvSpPr txBox="1"/>
          <p:nvPr/>
        </p:nvSpPr>
        <p:spPr>
          <a:xfrm>
            <a:off x="3392424"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Regions</a:t>
            </a:r>
            <a:endParaRPr lang="en-US" sz="1000" dirty="0"/>
          </a:p>
        </p:txBody>
      </p:sp>
      <p:sp>
        <p:nvSpPr>
          <p:cNvPr id="19" name="Shape 17"/>
          <p:cNvSpPr/>
          <p:nvPr/>
        </p:nvSpPr>
        <p:spPr>
          <a:xfrm>
            <a:off x="4279392" y="1901952"/>
            <a:ext cx="822960" cy="292608"/>
          </a:xfrm>
          <a:prstGeom prst="roundRect">
            <a:avLst>
              <a:gd name="adj" fmla="val 56250"/>
            </a:avLst>
          </a:prstGeom>
          <a:solidFill>
            <a:srgbClr val="F4F7F5"/>
          </a:solidFill>
          <a:ln w="15875">
            <a:solidFill>
              <a:srgbClr val="F4F7F5"/>
            </a:solidFill>
            <a:prstDash val="solid"/>
          </a:ln>
        </p:spPr>
      </p:sp>
      <p:sp>
        <p:nvSpPr>
          <p:cNvPr id="20" name="Text 18"/>
          <p:cNvSpPr txBox="1"/>
          <p:nvPr/>
        </p:nvSpPr>
        <p:spPr>
          <a:xfrm>
            <a:off x="4279392"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Shocks</a:t>
            </a:r>
            <a:endParaRPr lang="en-US" sz="1000" dirty="0"/>
          </a:p>
        </p:txBody>
      </p:sp>
      <p:sp>
        <p:nvSpPr>
          <p:cNvPr id="21" name="Shape 19"/>
          <p:cNvSpPr/>
          <p:nvPr/>
        </p:nvSpPr>
        <p:spPr>
          <a:xfrm>
            <a:off x="5166360" y="1901952"/>
            <a:ext cx="822960" cy="292608"/>
          </a:xfrm>
          <a:prstGeom prst="roundRect">
            <a:avLst>
              <a:gd name="adj" fmla="val 56250"/>
            </a:avLst>
          </a:prstGeom>
          <a:solidFill>
            <a:srgbClr val="F4F7F5"/>
          </a:solidFill>
          <a:ln w="15875">
            <a:solidFill>
              <a:srgbClr val="F4F7F5"/>
            </a:solidFill>
            <a:prstDash val="solid"/>
          </a:ln>
        </p:spPr>
      </p:sp>
      <p:sp>
        <p:nvSpPr>
          <p:cNvPr id="22" name="Text 20"/>
          <p:cNvSpPr txBox="1"/>
          <p:nvPr/>
        </p:nvSpPr>
        <p:spPr>
          <a:xfrm>
            <a:off x="5166360"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Inequality</a:t>
            </a:r>
            <a:endParaRPr lang="en-US" sz="1000" dirty="0"/>
          </a:p>
        </p:txBody>
      </p:sp>
      <p:sp>
        <p:nvSpPr>
          <p:cNvPr id="23" name="Shape 21"/>
          <p:cNvSpPr/>
          <p:nvPr/>
        </p:nvSpPr>
        <p:spPr>
          <a:xfrm>
            <a:off x="6053328" y="1901952"/>
            <a:ext cx="822960" cy="292608"/>
          </a:xfrm>
          <a:prstGeom prst="roundRect">
            <a:avLst>
              <a:gd name="adj" fmla="val 56250"/>
            </a:avLst>
          </a:prstGeom>
          <a:solidFill>
            <a:srgbClr val="F4F7F5"/>
          </a:solidFill>
          <a:ln w="15875">
            <a:solidFill>
              <a:srgbClr val="F4F7F5"/>
            </a:solidFill>
            <a:prstDash val="solid"/>
          </a:ln>
        </p:spPr>
      </p:sp>
      <p:sp>
        <p:nvSpPr>
          <p:cNvPr id="24" name="Text 22"/>
          <p:cNvSpPr txBox="1"/>
          <p:nvPr/>
        </p:nvSpPr>
        <p:spPr>
          <a:xfrm>
            <a:off x="6053328"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Methods</a:t>
            </a:r>
            <a:endParaRPr lang="en-US" sz="1000" dirty="0"/>
          </a:p>
        </p:txBody>
      </p:sp>
      <p:sp>
        <p:nvSpPr>
          <p:cNvPr id="25" name="Shape 23"/>
          <p:cNvSpPr/>
          <p:nvPr/>
        </p:nvSpPr>
        <p:spPr>
          <a:xfrm>
            <a:off x="6940296" y="1901952"/>
            <a:ext cx="822960" cy="292608"/>
          </a:xfrm>
          <a:prstGeom prst="roundRect">
            <a:avLst>
              <a:gd name="adj" fmla="val 56250"/>
            </a:avLst>
          </a:prstGeom>
          <a:solidFill>
            <a:srgbClr val="F4F7F5"/>
          </a:solidFill>
          <a:ln w="15875">
            <a:solidFill>
              <a:srgbClr val="F4F7F5"/>
            </a:solidFill>
            <a:prstDash val="solid"/>
          </a:ln>
        </p:spPr>
      </p:sp>
      <p:sp>
        <p:nvSpPr>
          <p:cNvPr id="26" name="Text 24"/>
          <p:cNvSpPr txBox="1"/>
          <p:nvPr/>
        </p:nvSpPr>
        <p:spPr>
          <a:xfrm>
            <a:off x="6940296" y="1901952"/>
            <a:ext cx="822960" cy="292608"/>
          </a:xfrm>
          <a:prstGeom prst="rect">
            <a:avLst/>
          </a:prstGeom>
          <a:noFill/>
          <a:ln/>
        </p:spPr>
        <p:txBody>
          <a:bodyPr wrap="square" lIns="0" tIns="0" rIns="0" bIns="0" rtlCol="0" anchor="ctr"/>
          <a:lstStyle/>
          <a:p>
            <a:pPr algn="ctr" indent="0" marL="0">
              <a:spcAft>
                <a:spcPts val="200"/>
              </a:spcAft>
              <a:buNone/>
            </a:pPr>
            <a:r>
              <a:rPr lang="en-US" sz="1000" b="1" spc="100" kern="0" dirty="0">
                <a:solidFill>
                  <a:srgbClr val="00553A"/>
                </a:solidFill>
              </a:rPr>
              <a:t>Data</a:t>
            </a:r>
            <a:endParaRPr lang="en-US" sz="1000" dirty="0"/>
          </a:p>
        </p:txBody>
      </p:sp>
      <p:sp>
        <p:nvSpPr>
          <p:cNvPr id="27" name="Shape 25"/>
          <p:cNvSpPr/>
          <p:nvPr/>
        </p:nvSpPr>
        <p:spPr>
          <a:xfrm>
            <a:off x="777240" y="2377440"/>
            <a:ext cx="1627632" cy="960120"/>
          </a:xfrm>
          <a:prstGeom prst="roundRect">
            <a:avLst>
              <a:gd name="adj" fmla="val 11429"/>
            </a:avLst>
          </a:prstGeom>
          <a:solidFill>
            <a:srgbClr val="F4F7F5"/>
          </a:solidFill>
          <a:ln w="9525">
            <a:solidFill>
              <a:srgbClr val="F4F7F5"/>
            </a:solidFill>
            <a:prstDash val="solid"/>
          </a:ln>
        </p:spPr>
      </p:sp>
      <p:sp>
        <p:nvSpPr>
          <p:cNvPr id="28" name="Text 26"/>
          <p:cNvSpPr txBox="1"/>
          <p:nvPr/>
        </p:nvSpPr>
        <p:spPr>
          <a:xfrm>
            <a:off x="822960"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+3.5%/yr</a:t>
            </a:r>
            <a:endParaRPr lang="en-US" sz="1800" dirty="0"/>
          </a:p>
        </p:txBody>
      </p:sp>
      <p:sp>
        <p:nvSpPr>
          <p:cNvPr id="29" name="Text 27"/>
          <p:cNvSpPr txBox="1"/>
          <p:nvPr/>
        </p:nvSpPr>
        <p:spPr>
          <a:xfrm>
            <a:off x="822960"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growth of light</a:t>
            </a:r>
            <a:endParaRPr lang="en-US" sz="1050" dirty="0"/>
          </a:p>
        </p:txBody>
      </p:sp>
      <p:sp>
        <p:nvSpPr>
          <p:cNvPr id="30" name="Shape 28"/>
          <p:cNvSpPr/>
          <p:nvPr/>
        </p:nvSpPr>
        <p:spPr>
          <a:xfrm>
            <a:off x="2532888" y="2377440"/>
            <a:ext cx="1627632" cy="960120"/>
          </a:xfrm>
          <a:prstGeom prst="roundRect">
            <a:avLst>
              <a:gd name="adj" fmla="val 11429"/>
            </a:avLst>
          </a:prstGeom>
          <a:solidFill>
            <a:srgbClr val="F4F7F5"/>
          </a:solidFill>
          <a:ln w="9525">
            <a:solidFill>
              <a:srgbClr val="F4F7F5"/>
            </a:solidFill>
            <a:prstDash val="solid"/>
          </a:ln>
        </p:spPr>
      </p:sp>
      <p:sp>
        <p:nvSpPr>
          <p:cNvPr id="31" name="Text 29"/>
          <p:cNvSpPr txBox="1"/>
          <p:nvPr/>
        </p:nvSpPr>
        <p:spPr>
          <a:xfrm>
            <a:off x="2578608"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0.62</a:t>
            </a:r>
            <a:endParaRPr lang="en-US" sz="1800" dirty="0"/>
          </a:p>
        </p:txBody>
      </p:sp>
      <p:sp>
        <p:nvSpPr>
          <p:cNvPr id="32" name="Text 30"/>
          <p:cNvSpPr txBox="1"/>
          <p:nvPr/>
        </p:nvSpPr>
        <p:spPr>
          <a:xfrm>
            <a:off x="2578608"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light–GDP elasticity</a:t>
            </a:r>
            <a:endParaRPr lang="en-US" sz="1050" dirty="0"/>
          </a:p>
        </p:txBody>
      </p:sp>
      <p:sp>
        <p:nvSpPr>
          <p:cNvPr id="33" name="Shape 31"/>
          <p:cNvSpPr/>
          <p:nvPr/>
        </p:nvSpPr>
        <p:spPr>
          <a:xfrm>
            <a:off x="4288536" y="2377440"/>
            <a:ext cx="1627632" cy="960120"/>
          </a:xfrm>
          <a:prstGeom prst="roundRect">
            <a:avLst>
              <a:gd name="adj" fmla="val 11429"/>
            </a:avLst>
          </a:prstGeom>
          <a:solidFill>
            <a:srgbClr val="F4F7F5"/>
          </a:solidFill>
          <a:ln w="9525">
            <a:solidFill>
              <a:srgbClr val="F4F7F5"/>
            </a:solidFill>
            <a:prstDash val="solid"/>
          </a:ln>
        </p:spPr>
      </p:sp>
      <p:sp>
        <p:nvSpPr>
          <p:cNvPr id="34" name="Text 32"/>
          <p:cNvSpPr txBox="1"/>
          <p:nvPr/>
        </p:nvSpPr>
        <p:spPr>
          <a:xfrm>
            <a:off x="4334256"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0.54</a:t>
            </a:r>
            <a:endParaRPr lang="en-US" sz="1800" dirty="0"/>
          </a:p>
        </p:txBody>
      </p:sp>
      <p:sp>
        <p:nvSpPr>
          <p:cNvPr id="35" name="Text 33"/>
          <p:cNvSpPr txBox="1"/>
          <p:nvPr/>
        </p:nvSpPr>
        <p:spPr>
          <a:xfrm>
            <a:off x="4334256"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light per capita Gini</a:t>
            </a:r>
            <a:endParaRPr lang="en-US" sz="1050" dirty="0"/>
          </a:p>
        </p:txBody>
      </p:sp>
      <p:sp>
        <p:nvSpPr>
          <p:cNvPr id="36" name="Shape 34"/>
          <p:cNvSpPr/>
          <p:nvPr/>
        </p:nvSpPr>
        <p:spPr>
          <a:xfrm>
            <a:off x="6044184" y="2377440"/>
            <a:ext cx="1627632" cy="960120"/>
          </a:xfrm>
          <a:prstGeom prst="roundRect">
            <a:avLst>
              <a:gd name="adj" fmla="val 11429"/>
            </a:avLst>
          </a:prstGeom>
          <a:solidFill>
            <a:srgbClr val="F4F7F5"/>
          </a:solidFill>
          <a:ln w="9525">
            <a:solidFill>
              <a:srgbClr val="F4F7F5"/>
            </a:solidFill>
            <a:prstDash val="solid"/>
          </a:ln>
        </p:spPr>
      </p:sp>
      <p:sp>
        <p:nvSpPr>
          <p:cNvPr id="37" name="Text 35"/>
          <p:cNvSpPr txBox="1"/>
          <p:nvPr/>
        </p:nvSpPr>
        <p:spPr>
          <a:xfrm>
            <a:off x="6089904" y="2395728"/>
            <a:ext cx="1536192" cy="502920"/>
          </a:xfrm>
          <a:prstGeom prst="rect">
            <a:avLst/>
          </a:prstGeom>
          <a:noFill/>
          <a:ln/>
        </p:spPr>
        <p:txBody>
          <a:bodyPr wrap="square" lIns="635" tIns="635" rIns="635" bIns="635" rtlCol="0" anchor="ctr"/>
          <a:lstStyle/>
          <a:p>
            <a:pPr algn="ctr" indent="0" marL="0">
              <a:spcAft>
                <a:spcPts val="200"/>
              </a:spcAft>
              <a:buNone/>
            </a:pPr>
            <a:r>
              <a:rPr lang="en-US" sz="1800" b="1" dirty="0">
                <a:solidFill>
                  <a:srgbClr val="1F4E8C"/>
                </a:solidFill>
              </a:rPr>
              <a:t>1.4–3.0M</a:t>
            </a:r>
            <a:endParaRPr lang="en-US" sz="1800" dirty="0"/>
          </a:p>
        </p:txBody>
      </p:sp>
      <p:sp>
        <p:nvSpPr>
          <p:cNvPr id="38" name="Text 36"/>
          <p:cNvSpPr txBox="1"/>
          <p:nvPr/>
        </p:nvSpPr>
        <p:spPr>
          <a:xfrm>
            <a:off x="6089904" y="2880360"/>
            <a:ext cx="1536192" cy="411480"/>
          </a:xfrm>
          <a:prstGeom prst="rect">
            <a:avLst/>
          </a:prstGeom>
          <a:noFill/>
          <a:ln/>
        </p:spPr>
        <p:txBody>
          <a:bodyPr wrap="square" lIns="635" tIns="635" rIns="635" bIns="635" rtlCol="0" anchor="t"/>
          <a:lstStyle/>
          <a:p>
            <a:pPr algn="ctr" indent="0" marL="0">
              <a:spcAft>
                <a:spcPts val="200"/>
              </a:spcAft>
              <a:buNone/>
            </a:pPr>
            <a:r>
              <a:rPr lang="en-US" sz="1050" dirty="0">
                <a:solidFill>
                  <a:srgbClr val="6B7280"/>
                </a:solidFill>
              </a:rPr>
              <a:t>people in the dark</a:t>
            </a:r>
            <a:endParaRPr lang="en-US" sz="1050" dirty="0"/>
          </a:p>
        </p:txBody>
      </p:sp>
      <p:pic>
        <p:nvPicPr>
          <p:cNvPr id="39" name="Image 0" descr="/tmp/claude-0/-home-claude/8a8742ef-7d0d-54fc-a0c9-7ecbfc9f8b73/scratchpad/deck/img/stl_en.png">    </p:cNvPr>
          <p:cNvPicPr>
            <a:picLocks noChangeAspect="1"/>
          </p:cNvPicPr>
          <p:nvPr/>
        </p:nvPicPr>
        <p:blipFill>
          <a:blip r:embed="rId1"/>
          <a:stretch>
            <a:fillRect/>
          </a:stretch>
        </p:blipFill>
        <p:spPr>
          <a:xfrm>
            <a:off x="823794" y="3474720"/>
            <a:ext cx="3930253" cy="2560320"/>
          </a:xfrm>
          <a:prstGeom prst="rect">
            <a:avLst/>
          </a:prstGeom>
        </p:spPr>
      </p:pic>
      <p:sp>
        <p:nvSpPr>
          <p:cNvPr id="40" name="Shape 37"/>
          <p:cNvSpPr/>
          <p:nvPr/>
        </p:nvSpPr>
        <p:spPr>
          <a:xfrm>
            <a:off x="4937760" y="3474720"/>
            <a:ext cx="2743200" cy="2560320"/>
          </a:xfrm>
          <a:prstGeom prst="roundRect">
            <a:avLst>
              <a:gd name="adj" fmla="val 4286"/>
            </a:avLst>
          </a:prstGeom>
          <a:solidFill>
            <a:srgbClr val="E8F5EF"/>
          </a:solidFill>
          <a:ln w="9525">
            <a:solidFill>
              <a:srgbClr val="E8F5EF"/>
            </a:solidFill>
            <a:prstDash val="solid"/>
          </a:ln>
        </p:spPr>
      </p:sp>
      <p:sp>
        <p:nvSpPr>
          <p:cNvPr id="41" name="Text 38"/>
          <p:cNvSpPr txBox="1"/>
          <p:nvPr/>
        </p:nvSpPr>
        <p:spPr>
          <a:xfrm>
            <a:off x="5029200" y="3520440"/>
            <a:ext cx="2560320" cy="320040"/>
          </a:xfrm>
          <a:prstGeom prst="rect">
            <a:avLst/>
          </a:prstGeom>
          <a:noFill/>
          <a:ln/>
        </p:spPr>
        <p:txBody>
          <a:bodyPr wrap="square" lIns="635" tIns="635" rIns="635" bIns="635" rtlCol="0" anchor="t"/>
          <a:lstStyle/>
          <a:p>
            <a:pPr indent="0" marL="0">
              <a:spcAft>
                <a:spcPts val="200"/>
              </a:spcAft>
              <a:buNone/>
            </a:pPr>
            <a:r>
              <a:rPr lang="en-US" sz="1250" b="1" dirty="0">
                <a:solidFill>
                  <a:srgbClr val="00553A"/>
                </a:solidFill>
              </a:rPr>
              <a:t>Key messages</a:t>
            </a:r>
            <a:endParaRPr lang="en-US" sz="1250" dirty="0"/>
          </a:p>
        </p:txBody>
      </p:sp>
      <p:sp>
        <p:nvSpPr>
          <p:cNvPr id="42" name="Text 39"/>
          <p:cNvSpPr txBox="1"/>
          <p:nvPr/>
        </p:nvSpPr>
        <p:spPr>
          <a:xfrm>
            <a:off x="5029200" y="3886200"/>
            <a:ext cx="2560320" cy="2011680"/>
          </a:xfrm>
          <a:prstGeom prst="rect">
            <a:avLst/>
          </a:prstGeom>
          <a:noFill/>
          <a:ln/>
        </p:spPr>
        <p:txBody>
          <a:bodyPr wrap="square" lIns="635" tIns="635" rIns="635" bIns="635" rtlCol="0" anchor="t"/>
          <a:lstStyle/>
          <a:p>
            <a:pPr indent="0" marL="0">
              <a:spcAft>
                <a:spcPts val="400"/>
              </a:spcAft>
              <a:buNone/>
            </a:pPr>
            <a:r>
              <a:rPr lang="en-US" sz="1200" dirty="0">
                <a:solidFill>
                  <a:srgbClr val="231F20"/>
                </a:solidFill>
              </a:rPr>
              <a:t>🟢 National trend</a:t>
            </a:r>
            <a:endParaRPr lang="en-US" sz="1200" dirty="0"/>
          </a:p>
          <a:p>
            <a:pPr indent="0" marL="0">
              <a:spcAft>
                <a:spcPts val="400"/>
              </a:spcAft>
              <a:buNone/>
            </a:pPr>
            <a:r>
              <a:rPr lang="en-US" sz="1200" dirty="0">
                <a:solidFill>
                  <a:srgbClr val="231F20"/>
                </a:solidFill>
              </a:rPr>
              <a:t>🟠 Regions</a:t>
            </a:r>
            <a:endParaRPr lang="en-US" sz="1200" dirty="0"/>
          </a:p>
          <a:p>
            <a:pPr indent="0" marL="0">
              <a:spcAft>
                <a:spcPts val="400"/>
              </a:spcAft>
              <a:buNone/>
            </a:pPr>
            <a:r>
              <a:rPr lang="en-US" sz="1200" dirty="0">
                <a:solidFill>
                  <a:srgbClr val="231F20"/>
                </a:solidFill>
              </a:rPr>
              <a:t>🟠 Link with GDP</a:t>
            </a:r>
            <a:endParaRPr lang="en-US" sz="1200" dirty="0"/>
          </a:p>
          <a:p>
            <a:pPr indent="0" marL="0">
              <a:spcAft>
                <a:spcPts val="400"/>
              </a:spcAft>
              <a:buNone/>
            </a:pPr>
            <a:r>
              <a:rPr lang="en-US" sz="1200" dirty="0">
                <a:solidFill>
                  <a:srgbClr val="231F20"/>
                </a:solidFill>
              </a:rPr>
              <a:t>🔴 Recent estimate</a:t>
            </a:r>
            <a:endParaRPr lang="en-US" sz="1200" dirty="0"/>
          </a:p>
          <a:p>
            <a:pPr indent="0" marL="0">
              <a:spcAft>
                <a:spcPts val="400"/>
              </a:spcAft>
              <a:buNone/>
            </a:pPr>
            <a:r>
              <a:rPr lang="en-US" sz="1200" dirty="0">
                <a:solidFill>
                  <a:srgbClr val="231F20"/>
                </a:solidFill>
              </a:rPr>
              <a:t>🟠 Inequality and access</a:t>
            </a:r>
            <a:endParaRPr lang="en-US" sz="1200" dirty="0"/>
          </a:p>
        </p:txBody>
      </p:sp>
      <p:sp>
        <p:nvSpPr>
          <p:cNvPr id="43" name="Text 40"/>
          <p:cNvSpPr txBox="1"/>
          <p:nvPr/>
        </p:nvSpPr>
        <p:spPr>
          <a:xfrm>
            <a:off x="548640" y="6199632"/>
            <a:ext cx="7315200" cy="228600"/>
          </a:xfrm>
          <a:prstGeom prst="rect">
            <a:avLst/>
          </a:prstGeom>
          <a:noFill/>
          <a:ln/>
        </p:spPr>
        <p:txBody>
          <a:bodyPr wrap="square" lIns="635" tIns="635" rIns="635" bIns="635" rtlCol="0" anchor="t"/>
          <a:lstStyle/>
          <a:p>
            <a:pPr indent="0" marL="0">
              <a:spcAft>
                <a:spcPts val="200"/>
              </a:spcAft>
              <a:buNone/>
            </a:pPr>
            <a:r>
              <a:rPr lang="en-US" sz="1000" i="1" dirty="0">
                <a:solidFill>
                  <a:srgbClr val="6B7280"/>
                </a:solidFill>
              </a:rPr>
              <a:t>Illustrative mock-up (dummy values)</a:t>
            </a:r>
            <a:endParaRPr lang="en-US" sz="1000" dirty="0"/>
          </a:p>
        </p:txBody>
      </p:sp>
      <p:sp>
        <p:nvSpPr>
          <p:cNvPr id="44" name="Shape 41"/>
          <p:cNvSpPr/>
          <p:nvPr/>
        </p:nvSpPr>
        <p:spPr>
          <a:xfrm>
            <a:off x="8092440" y="1371600"/>
            <a:ext cx="3566160" cy="1481328"/>
          </a:xfrm>
          <a:prstGeom prst="roundRect">
            <a:avLst>
              <a:gd name="adj" fmla="val 740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45" name="Shape 42"/>
          <p:cNvSpPr/>
          <p:nvPr/>
        </p:nvSpPr>
        <p:spPr>
          <a:xfrm>
            <a:off x="8275320" y="1554480"/>
            <a:ext cx="502920" cy="502920"/>
          </a:xfrm>
          <a:prstGeom prst="ellipse">
            <a:avLst/>
          </a:prstGeom>
          <a:solidFill>
            <a:srgbClr val="00704A"/>
          </a:solidFill>
          <a:ln w="12700">
            <a:solidFill>
              <a:srgbClr val="00704A"/>
            </a:solidFill>
            <a:prstDash val="solid"/>
          </a:ln>
        </p:spPr>
      </p:sp>
      <p:pic>
        <p:nvPicPr>
          <p:cNvPr id="46" name="Image 1" descr="preencoded.png">    </p:cNvPr>
          <p:cNvPicPr>
            <a:picLocks noChangeAspect="1"/>
          </p:cNvPicPr>
          <p:nvPr/>
        </p:nvPicPr>
        <p:blipFill>
          <a:blip r:embed="rId2"/>
          <a:stretch>
            <a:fillRect/>
          </a:stretch>
        </p:blipFill>
        <p:spPr>
          <a:xfrm>
            <a:off x="8396021" y="1675181"/>
            <a:ext cx="261518" cy="261518"/>
          </a:xfrm>
          <a:prstGeom prst="rect">
            <a:avLst/>
          </a:prstGeom>
        </p:spPr>
      </p:pic>
      <p:sp>
        <p:nvSpPr>
          <p:cNvPr id="47" name="Text 43"/>
          <p:cNvSpPr txBox="1"/>
          <p:nvPr/>
        </p:nvSpPr>
        <p:spPr>
          <a:xfrm>
            <a:off x="8915400" y="1536192"/>
            <a:ext cx="26060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Static export (section 11)</a:t>
            </a:r>
            <a:endParaRPr lang="en-US" sz="1500" dirty="0"/>
          </a:p>
        </p:txBody>
      </p:sp>
      <p:sp>
        <p:nvSpPr>
          <p:cNvPr id="48" name="Text 44"/>
          <p:cNvSpPr txBox="1"/>
          <p:nvPr/>
        </p:nvSpPr>
        <p:spPr>
          <a:xfrm>
            <a:off x="8275320" y="2176272"/>
            <a:ext cx="3200400" cy="566928"/>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simplified GeoJSON, CSV, JSON, PNG under dashboard/data/&lt;ISO3&gt;/ — GEE tiles expire, a PNG does not.</a:t>
            </a:r>
            <a:endParaRPr lang="en-US" sz="1200" dirty="0"/>
          </a:p>
        </p:txBody>
      </p:sp>
      <p:sp>
        <p:nvSpPr>
          <p:cNvPr id="49" name="Shape 45"/>
          <p:cNvSpPr/>
          <p:nvPr/>
        </p:nvSpPr>
        <p:spPr>
          <a:xfrm>
            <a:off x="8092440" y="2999232"/>
            <a:ext cx="3566160" cy="1481328"/>
          </a:xfrm>
          <a:prstGeom prst="roundRect">
            <a:avLst>
              <a:gd name="adj" fmla="val 740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0" name="Shape 46"/>
          <p:cNvSpPr/>
          <p:nvPr/>
        </p:nvSpPr>
        <p:spPr>
          <a:xfrm>
            <a:off x="8275320" y="3182112"/>
            <a:ext cx="502920" cy="502920"/>
          </a:xfrm>
          <a:prstGeom prst="ellipse">
            <a:avLst/>
          </a:prstGeom>
          <a:solidFill>
            <a:srgbClr val="1F4E8C"/>
          </a:solidFill>
          <a:ln w="12700">
            <a:solidFill>
              <a:srgbClr val="1F4E8C"/>
            </a:solidFill>
            <a:prstDash val="solid"/>
          </a:ln>
        </p:spPr>
      </p:sp>
      <p:pic>
        <p:nvPicPr>
          <p:cNvPr id="51" name="Image 2" descr="preencoded.png">    </p:cNvPr>
          <p:cNvPicPr>
            <a:picLocks noChangeAspect="1"/>
          </p:cNvPicPr>
          <p:nvPr/>
        </p:nvPicPr>
        <p:blipFill>
          <a:blip r:embed="rId3"/>
          <a:stretch>
            <a:fillRect/>
          </a:stretch>
        </p:blipFill>
        <p:spPr>
          <a:xfrm>
            <a:off x="8396021" y="3302813"/>
            <a:ext cx="261518" cy="261518"/>
          </a:xfrm>
          <a:prstGeom prst="rect">
            <a:avLst/>
          </a:prstGeom>
        </p:spPr>
      </p:pic>
      <p:sp>
        <p:nvSpPr>
          <p:cNvPr id="52" name="Text 47"/>
          <p:cNvSpPr txBox="1"/>
          <p:nvPr/>
        </p:nvSpPr>
        <p:spPr>
          <a:xfrm>
            <a:off x="8915400" y="3163824"/>
            <a:ext cx="26060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Multi-country</a:t>
            </a:r>
            <a:endParaRPr lang="en-US" sz="1500" dirty="0"/>
          </a:p>
        </p:txBody>
      </p:sp>
      <p:sp>
        <p:nvSpPr>
          <p:cNvPr id="53" name="Text 48"/>
          <p:cNvSpPr txBox="1"/>
          <p:nvPr/>
        </p:nvSpPr>
        <p:spPr>
          <a:xfrm>
            <a:off x="8275320" y="3803904"/>
            <a:ext cx="3200400" cy="566928"/>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countries.json: several countries can coexist on the same site.</a:t>
            </a:r>
            <a:endParaRPr lang="en-US" sz="1200" dirty="0"/>
          </a:p>
        </p:txBody>
      </p:sp>
      <p:sp>
        <p:nvSpPr>
          <p:cNvPr id="54" name="Shape 49"/>
          <p:cNvSpPr/>
          <p:nvPr/>
        </p:nvSpPr>
        <p:spPr>
          <a:xfrm>
            <a:off x="8092440" y="4626864"/>
            <a:ext cx="3566160" cy="1481328"/>
          </a:xfrm>
          <a:prstGeom prst="roundRect">
            <a:avLst>
              <a:gd name="adj" fmla="val 7407"/>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5" name="Shape 50"/>
          <p:cNvSpPr/>
          <p:nvPr/>
        </p:nvSpPr>
        <p:spPr>
          <a:xfrm>
            <a:off x="8275320" y="4809744"/>
            <a:ext cx="502920" cy="502920"/>
          </a:xfrm>
          <a:prstGeom prst="ellipse">
            <a:avLst/>
          </a:prstGeom>
          <a:solidFill>
            <a:srgbClr val="00704A"/>
          </a:solidFill>
          <a:ln w="12700">
            <a:solidFill>
              <a:srgbClr val="00704A"/>
            </a:solidFill>
            <a:prstDash val="solid"/>
          </a:ln>
        </p:spPr>
      </p:sp>
      <p:pic>
        <p:nvPicPr>
          <p:cNvPr id="56" name="Image 3" descr="preencoded.png">    </p:cNvPr>
          <p:cNvPicPr>
            <a:picLocks noChangeAspect="1"/>
          </p:cNvPicPr>
          <p:nvPr/>
        </p:nvPicPr>
        <p:blipFill>
          <a:blip r:embed="rId4"/>
          <a:stretch>
            <a:fillRect/>
          </a:stretch>
        </p:blipFill>
        <p:spPr>
          <a:xfrm>
            <a:off x="8396021" y="4930445"/>
            <a:ext cx="261518" cy="261518"/>
          </a:xfrm>
          <a:prstGeom prst="rect">
            <a:avLst/>
          </a:prstGeom>
        </p:spPr>
      </p:pic>
      <p:sp>
        <p:nvSpPr>
          <p:cNvPr id="57" name="Text 51"/>
          <p:cNvSpPr txBox="1"/>
          <p:nvPr/>
        </p:nvSpPr>
        <p:spPr>
          <a:xfrm>
            <a:off x="8915400" y="4791456"/>
            <a:ext cx="260604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Manifest</a:t>
            </a:r>
            <a:endParaRPr lang="en-US" sz="1500" dirty="0"/>
          </a:p>
        </p:txBody>
      </p:sp>
      <p:sp>
        <p:nvSpPr>
          <p:cNvPr id="58" name="Text 52"/>
          <p:cNvSpPr txBox="1"/>
          <p:nvPr/>
        </p:nvSpPr>
        <p:spPr>
          <a:xfrm>
            <a:off x="8275320" y="5431536"/>
            <a:ext cx="3200400" cy="566928"/>
          </a:xfrm>
          <a:prstGeom prst="rect">
            <a:avLst/>
          </a:prstGeom>
          <a:noFill/>
          <a:ln/>
        </p:spPr>
        <p:txBody>
          <a:bodyPr wrap="square" lIns="635" tIns="635" rIns="635" bIns="635" rtlCol="0" anchor="t"/>
          <a:lstStyle/>
          <a:p>
            <a:pPr indent="0" marL="0">
              <a:spcAft>
                <a:spcPts val="200"/>
              </a:spcAft>
              <a:buNone/>
            </a:pPr>
            <a:r>
              <a:rPr lang="en-US" sz="1200" dirty="0">
                <a:solidFill>
                  <a:srgbClr val="231F20"/>
                </a:solidFill>
              </a:rPr>
              <a:t>parameters, versions, references: the reproducibility guarantee.</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F · CONFIDENCE AND PUBLISHING</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Publish in one call, with a secure token</a:t>
            </a:r>
            <a:endParaRPr lang="en-US" sz="2800" dirty="0"/>
          </a:p>
        </p:txBody>
      </p:sp>
      <p:sp>
        <p:nvSpPr>
          <p:cNvPr id="4" name="Shape 2"/>
          <p:cNvSpPr/>
          <p:nvPr/>
        </p:nvSpPr>
        <p:spPr>
          <a:xfrm>
            <a:off x="548640" y="1371600"/>
            <a:ext cx="11109960" cy="548640"/>
          </a:xfrm>
          <a:prstGeom prst="roundRect">
            <a:avLst>
              <a:gd name="adj" fmla="val 20000"/>
            </a:avLst>
          </a:prstGeom>
          <a:solidFill>
            <a:srgbClr val="EAF2FB"/>
          </a:solidFill>
          <a:ln w="9525">
            <a:solidFill>
              <a:srgbClr val="EAF2FB"/>
            </a:solidFill>
            <a:prstDash val="solid"/>
          </a:ln>
        </p:spPr>
      </p:sp>
      <p:sp>
        <p:nvSpPr>
          <p:cNvPr id="5" name="Text 3"/>
          <p:cNvSpPr txBox="1"/>
          <p:nvPr/>
        </p:nvSpPr>
        <p:spPr>
          <a:xfrm>
            <a:off x="685800" y="1371600"/>
            <a:ext cx="10835640" cy="548640"/>
          </a:xfrm>
          <a:prstGeom prst="rect">
            <a:avLst/>
          </a:prstGeom>
          <a:noFill/>
          <a:ln/>
        </p:spPr>
        <p:txBody>
          <a:bodyPr wrap="square" lIns="635" tIns="635" rIns="635" bIns="635" rtlCol="0" anchor="ctr"/>
          <a:lstStyle/>
          <a:p>
            <a:pPr algn="ctr" indent="0" marL="0">
              <a:spcAft>
                <a:spcPts val="200"/>
              </a:spcAft>
              <a:buNone/>
            </a:pPr>
            <a:r>
              <a:rPr lang="en-US" sz="1800" dirty="0">
                <a:solidFill>
                  <a:srgbClr val="1F4E8C"/>
                </a:solidFill>
                <a:latin typeface="Cambria" pitchFamily="34" charset="0"/>
                <a:ea typeface="Cambria" pitchFamily="34" charset="-122"/>
                <a:cs typeface="Cambria" pitchFamily="34" charset="-120"/>
              </a:rPr>
              <a:t>publish_dashboard(ISO3, REPO_NAME, GITHUB_USER)</a:t>
            </a:r>
            <a:endParaRPr lang="en-US" sz="1800" dirty="0"/>
          </a:p>
        </p:txBody>
      </p:sp>
      <p:sp>
        <p:nvSpPr>
          <p:cNvPr id="6" name="Shape 4"/>
          <p:cNvSpPr/>
          <p:nvPr/>
        </p:nvSpPr>
        <p:spPr>
          <a:xfrm>
            <a:off x="548640"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7" name="Shape 5"/>
          <p:cNvSpPr/>
          <p:nvPr/>
        </p:nvSpPr>
        <p:spPr>
          <a:xfrm>
            <a:off x="1261872" y="2286000"/>
            <a:ext cx="640080" cy="640080"/>
          </a:xfrm>
          <a:prstGeom prst="ellipse">
            <a:avLst/>
          </a:prstGeom>
          <a:solidFill>
            <a:srgbClr val="00704A"/>
          </a:solidFill>
          <a:ln w="12700">
            <a:solidFill>
              <a:srgbClr val="00704A"/>
            </a:solidFill>
            <a:prstDash val="solid"/>
          </a:ln>
        </p:spPr>
      </p:sp>
      <p:pic>
        <p:nvPicPr>
          <p:cNvPr id="8" name="Image 0" descr="preencoded.png">    </p:cNvPr>
          <p:cNvPicPr>
            <a:picLocks noChangeAspect="1"/>
          </p:cNvPicPr>
          <p:nvPr/>
        </p:nvPicPr>
        <p:blipFill>
          <a:blip r:embed="rId1"/>
          <a:stretch>
            <a:fillRect/>
          </a:stretch>
        </p:blipFill>
        <p:spPr>
          <a:xfrm>
            <a:off x="1415491" y="2439619"/>
            <a:ext cx="332842" cy="332842"/>
          </a:xfrm>
          <a:prstGeom prst="rect">
            <a:avLst/>
          </a:prstGeom>
        </p:spPr>
      </p:pic>
      <p:sp>
        <p:nvSpPr>
          <p:cNvPr id="9" name="Text 6"/>
          <p:cNvSpPr txBox="1"/>
          <p:nvPr/>
        </p:nvSpPr>
        <p:spPr>
          <a:xfrm>
            <a:off x="621792"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Check the token</a:t>
            </a:r>
            <a:endParaRPr lang="en-US" sz="1350" dirty="0"/>
          </a:p>
        </p:txBody>
      </p:sp>
      <p:sp>
        <p:nvSpPr>
          <p:cNvPr id="10" name="Text 7"/>
          <p:cNvSpPr txBox="1"/>
          <p:nvPr/>
        </p:nvSpPr>
        <p:spPr>
          <a:xfrm>
            <a:off x="621792"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GET /user</a:t>
            </a:r>
            <a:endParaRPr lang="en-US" sz="1150" dirty="0"/>
          </a:p>
        </p:txBody>
      </p:sp>
      <p:sp>
        <p:nvSpPr>
          <p:cNvPr id="11" name="Shape 8"/>
          <p:cNvSpPr/>
          <p:nvPr/>
        </p:nvSpPr>
        <p:spPr>
          <a:xfrm>
            <a:off x="2624328" y="3035808"/>
            <a:ext cx="164592" cy="914"/>
          </a:xfrm>
          <a:prstGeom prst="line">
            <a:avLst/>
          </a:prstGeom>
          <a:noFill/>
          <a:ln w="31750">
            <a:solidFill>
              <a:srgbClr val="F5C242"/>
            </a:solidFill>
            <a:prstDash val="solid"/>
            <a:tailEnd type="triangle"/>
          </a:ln>
        </p:spPr>
      </p:sp>
      <p:sp>
        <p:nvSpPr>
          <p:cNvPr id="12" name="Shape 9"/>
          <p:cNvSpPr/>
          <p:nvPr/>
        </p:nvSpPr>
        <p:spPr>
          <a:xfrm>
            <a:off x="2807208"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3" name="Shape 10"/>
          <p:cNvSpPr/>
          <p:nvPr/>
        </p:nvSpPr>
        <p:spPr>
          <a:xfrm>
            <a:off x="3520440" y="2286000"/>
            <a:ext cx="640080" cy="640080"/>
          </a:xfrm>
          <a:prstGeom prst="ellipse">
            <a:avLst/>
          </a:prstGeom>
          <a:solidFill>
            <a:srgbClr val="00704A"/>
          </a:solidFill>
          <a:ln w="12700">
            <a:solidFill>
              <a:srgbClr val="00704A"/>
            </a:solidFill>
            <a:prstDash val="solid"/>
          </a:ln>
        </p:spPr>
      </p:sp>
      <p:pic>
        <p:nvPicPr>
          <p:cNvPr id="14" name="Image 1" descr="preencoded.png">    </p:cNvPr>
          <p:cNvPicPr>
            <a:picLocks noChangeAspect="1"/>
          </p:cNvPicPr>
          <p:nvPr/>
        </p:nvPicPr>
        <p:blipFill>
          <a:blip r:embed="rId2"/>
          <a:stretch>
            <a:fillRect/>
          </a:stretch>
        </p:blipFill>
        <p:spPr>
          <a:xfrm>
            <a:off x="3674059" y="2439619"/>
            <a:ext cx="332842" cy="332842"/>
          </a:xfrm>
          <a:prstGeom prst="rect">
            <a:avLst/>
          </a:prstGeom>
        </p:spPr>
      </p:pic>
      <p:sp>
        <p:nvSpPr>
          <p:cNvPr id="15" name="Text 11"/>
          <p:cNvSpPr txBox="1"/>
          <p:nvPr/>
        </p:nvSpPr>
        <p:spPr>
          <a:xfrm>
            <a:off x="2880360"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Create the public repo</a:t>
            </a:r>
            <a:endParaRPr lang="en-US" sz="1350" dirty="0"/>
          </a:p>
        </p:txBody>
      </p:sp>
      <p:sp>
        <p:nvSpPr>
          <p:cNvPr id="16" name="Text 12"/>
          <p:cNvSpPr txBox="1"/>
          <p:nvPr/>
        </p:nvSpPr>
        <p:spPr>
          <a:xfrm>
            <a:off x="2880360"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if it does not exist</a:t>
            </a:r>
            <a:endParaRPr lang="en-US" sz="1150" dirty="0"/>
          </a:p>
        </p:txBody>
      </p:sp>
      <p:sp>
        <p:nvSpPr>
          <p:cNvPr id="17" name="Shape 13"/>
          <p:cNvSpPr/>
          <p:nvPr/>
        </p:nvSpPr>
        <p:spPr>
          <a:xfrm>
            <a:off x="4882896" y="3035808"/>
            <a:ext cx="164592" cy="914"/>
          </a:xfrm>
          <a:prstGeom prst="line">
            <a:avLst/>
          </a:prstGeom>
          <a:noFill/>
          <a:ln w="31750">
            <a:solidFill>
              <a:srgbClr val="F5C242"/>
            </a:solidFill>
            <a:prstDash val="solid"/>
            <a:tailEnd type="triangle"/>
          </a:ln>
        </p:spPr>
      </p:sp>
      <p:sp>
        <p:nvSpPr>
          <p:cNvPr id="18" name="Shape 14"/>
          <p:cNvSpPr/>
          <p:nvPr/>
        </p:nvSpPr>
        <p:spPr>
          <a:xfrm>
            <a:off x="5065776"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9" name="Shape 15"/>
          <p:cNvSpPr/>
          <p:nvPr/>
        </p:nvSpPr>
        <p:spPr>
          <a:xfrm>
            <a:off x="5779008" y="2286000"/>
            <a:ext cx="640080" cy="640080"/>
          </a:xfrm>
          <a:prstGeom prst="ellipse">
            <a:avLst/>
          </a:prstGeom>
          <a:solidFill>
            <a:srgbClr val="00704A"/>
          </a:solidFill>
          <a:ln w="12700">
            <a:solidFill>
              <a:srgbClr val="00704A"/>
            </a:solidFill>
            <a:prstDash val="solid"/>
          </a:ln>
        </p:spPr>
      </p:sp>
      <p:pic>
        <p:nvPicPr>
          <p:cNvPr id="20" name="Image 2" descr="preencoded.png">    </p:cNvPr>
          <p:cNvPicPr>
            <a:picLocks noChangeAspect="1"/>
          </p:cNvPicPr>
          <p:nvPr/>
        </p:nvPicPr>
        <p:blipFill>
          <a:blip r:embed="rId3"/>
          <a:stretch>
            <a:fillRect/>
          </a:stretch>
        </p:blipFill>
        <p:spPr>
          <a:xfrm>
            <a:off x="5932627" y="2439619"/>
            <a:ext cx="332842" cy="332842"/>
          </a:xfrm>
          <a:prstGeom prst="rect">
            <a:avLst/>
          </a:prstGeom>
        </p:spPr>
      </p:pic>
      <p:sp>
        <p:nvSpPr>
          <p:cNvPr id="21" name="Text 16"/>
          <p:cNvSpPr txBox="1"/>
          <p:nvPr/>
        </p:nvSpPr>
        <p:spPr>
          <a:xfrm>
            <a:off x="5138928"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Push the site</a:t>
            </a:r>
            <a:endParaRPr lang="en-US" sz="1350" dirty="0"/>
          </a:p>
        </p:txBody>
      </p:sp>
      <p:sp>
        <p:nvSpPr>
          <p:cNvPr id="22" name="Text 17"/>
          <p:cNvSpPr txBox="1"/>
          <p:nvPr/>
        </p:nvSpPr>
        <p:spPr>
          <a:xfrm>
            <a:off x="5138928"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gh-pages branch, one timestamped commit</a:t>
            </a:r>
            <a:endParaRPr lang="en-US" sz="1150" dirty="0"/>
          </a:p>
        </p:txBody>
      </p:sp>
      <p:sp>
        <p:nvSpPr>
          <p:cNvPr id="23" name="Shape 18"/>
          <p:cNvSpPr/>
          <p:nvPr/>
        </p:nvSpPr>
        <p:spPr>
          <a:xfrm>
            <a:off x="7141464" y="3035808"/>
            <a:ext cx="164592" cy="914"/>
          </a:xfrm>
          <a:prstGeom prst="line">
            <a:avLst/>
          </a:prstGeom>
          <a:noFill/>
          <a:ln w="31750">
            <a:solidFill>
              <a:srgbClr val="F5C242"/>
            </a:solidFill>
            <a:prstDash val="solid"/>
            <a:tailEnd type="triangle"/>
          </a:ln>
        </p:spPr>
      </p:sp>
      <p:sp>
        <p:nvSpPr>
          <p:cNvPr id="24" name="Shape 19"/>
          <p:cNvSpPr/>
          <p:nvPr/>
        </p:nvSpPr>
        <p:spPr>
          <a:xfrm>
            <a:off x="7324344"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20"/>
          <p:cNvSpPr/>
          <p:nvPr/>
        </p:nvSpPr>
        <p:spPr>
          <a:xfrm>
            <a:off x="8037576" y="2286000"/>
            <a:ext cx="640080" cy="640080"/>
          </a:xfrm>
          <a:prstGeom prst="ellipse">
            <a:avLst/>
          </a:prstGeom>
          <a:solidFill>
            <a:srgbClr val="00704A"/>
          </a:solidFill>
          <a:ln w="12700">
            <a:solidFill>
              <a:srgbClr val="00704A"/>
            </a:solidFill>
            <a:prstDash val="solid"/>
          </a:ln>
        </p:spPr>
      </p:sp>
      <p:pic>
        <p:nvPicPr>
          <p:cNvPr id="26" name="Image 3" descr="preencoded.png">    </p:cNvPr>
          <p:cNvPicPr>
            <a:picLocks noChangeAspect="1"/>
          </p:cNvPicPr>
          <p:nvPr/>
        </p:nvPicPr>
        <p:blipFill>
          <a:blip r:embed="rId4"/>
          <a:stretch>
            <a:fillRect/>
          </a:stretch>
        </p:blipFill>
        <p:spPr>
          <a:xfrm>
            <a:off x="8191195" y="2439619"/>
            <a:ext cx="332842" cy="332842"/>
          </a:xfrm>
          <a:prstGeom prst="rect">
            <a:avLst/>
          </a:prstGeom>
        </p:spPr>
      </p:pic>
      <p:sp>
        <p:nvSpPr>
          <p:cNvPr id="27" name="Text 21"/>
          <p:cNvSpPr txBox="1"/>
          <p:nvPr/>
        </p:nvSpPr>
        <p:spPr>
          <a:xfrm>
            <a:off x="7397496"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Enable Pages</a:t>
            </a:r>
            <a:endParaRPr lang="en-US" sz="1350" dirty="0"/>
          </a:p>
        </p:txBody>
      </p:sp>
      <p:sp>
        <p:nvSpPr>
          <p:cNvPr id="28" name="Text 22"/>
          <p:cNvSpPr txBox="1"/>
          <p:nvPr/>
        </p:nvSpPr>
        <p:spPr>
          <a:xfrm>
            <a:off x="7397496"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and wait for the build</a:t>
            </a:r>
            <a:endParaRPr lang="en-US" sz="1150" dirty="0"/>
          </a:p>
        </p:txBody>
      </p:sp>
      <p:sp>
        <p:nvSpPr>
          <p:cNvPr id="29" name="Shape 23"/>
          <p:cNvSpPr/>
          <p:nvPr/>
        </p:nvSpPr>
        <p:spPr>
          <a:xfrm>
            <a:off x="9400032" y="3035808"/>
            <a:ext cx="164592" cy="914"/>
          </a:xfrm>
          <a:prstGeom prst="line">
            <a:avLst/>
          </a:prstGeom>
          <a:noFill/>
          <a:ln w="31750">
            <a:solidFill>
              <a:srgbClr val="F5C242"/>
            </a:solidFill>
            <a:prstDash val="solid"/>
            <a:tailEnd type="triangle"/>
          </a:ln>
        </p:spPr>
      </p:sp>
      <p:sp>
        <p:nvSpPr>
          <p:cNvPr id="30" name="Shape 24"/>
          <p:cNvSpPr/>
          <p:nvPr/>
        </p:nvSpPr>
        <p:spPr>
          <a:xfrm>
            <a:off x="9582912" y="2148840"/>
            <a:ext cx="2057400" cy="1783080"/>
          </a:xfrm>
          <a:prstGeom prst="roundRect">
            <a:avLst>
              <a:gd name="adj" fmla="val 6154"/>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1" name="Shape 25"/>
          <p:cNvSpPr/>
          <p:nvPr/>
        </p:nvSpPr>
        <p:spPr>
          <a:xfrm>
            <a:off x="10296144" y="2286000"/>
            <a:ext cx="640080" cy="640080"/>
          </a:xfrm>
          <a:prstGeom prst="ellipse">
            <a:avLst/>
          </a:prstGeom>
          <a:solidFill>
            <a:srgbClr val="1F4E8C"/>
          </a:solidFill>
          <a:ln w="12700">
            <a:solidFill>
              <a:srgbClr val="1F4E8C"/>
            </a:solidFill>
            <a:prstDash val="solid"/>
          </a:ln>
        </p:spPr>
      </p:sp>
      <p:pic>
        <p:nvPicPr>
          <p:cNvPr id="32" name="Image 4" descr="preencoded.png">    </p:cNvPr>
          <p:cNvPicPr>
            <a:picLocks noChangeAspect="1"/>
          </p:cNvPicPr>
          <p:nvPr/>
        </p:nvPicPr>
        <p:blipFill>
          <a:blip r:embed="rId5"/>
          <a:stretch>
            <a:fillRect/>
          </a:stretch>
        </p:blipFill>
        <p:spPr>
          <a:xfrm>
            <a:off x="10449763" y="2439619"/>
            <a:ext cx="332842" cy="332842"/>
          </a:xfrm>
          <a:prstGeom prst="rect">
            <a:avLst/>
          </a:prstGeom>
        </p:spPr>
      </p:pic>
      <p:sp>
        <p:nvSpPr>
          <p:cNvPr id="33" name="Text 26"/>
          <p:cNvSpPr txBox="1"/>
          <p:nvPr/>
        </p:nvSpPr>
        <p:spPr>
          <a:xfrm>
            <a:off x="9656064" y="2971800"/>
            <a:ext cx="1920240" cy="365760"/>
          </a:xfrm>
          <a:prstGeom prst="rect">
            <a:avLst/>
          </a:prstGeom>
          <a:noFill/>
          <a:ln/>
        </p:spPr>
        <p:txBody>
          <a:bodyPr wrap="square" lIns="635" tIns="635" rIns="635" bIns="635" rtlCol="0" anchor="t"/>
          <a:lstStyle/>
          <a:p>
            <a:pPr algn="ctr" indent="0" marL="0">
              <a:spcAft>
                <a:spcPts val="200"/>
              </a:spcAft>
              <a:buNone/>
            </a:pPr>
            <a:r>
              <a:rPr lang="en-US" sz="1350" b="1" dirty="0">
                <a:solidFill>
                  <a:srgbClr val="00553A"/>
                </a:solidFill>
              </a:rPr>
              <a:t>Show the URL</a:t>
            </a:r>
            <a:endParaRPr lang="en-US" sz="1350" dirty="0"/>
          </a:p>
        </p:txBody>
      </p:sp>
      <p:sp>
        <p:nvSpPr>
          <p:cNvPr id="34" name="Text 27"/>
          <p:cNvSpPr txBox="1"/>
          <p:nvPr/>
        </p:nvSpPr>
        <p:spPr>
          <a:xfrm>
            <a:off x="9656064" y="3337560"/>
            <a:ext cx="1920240" cy="548640"/>
          </a:xfrm>
          <a:prstGeom prst="rect">
            <a:avLst/>
          </a:prstGeom>
          <a:noFill/>
          <a:ln/>
        </p:spPr>
        <p:txBody>
          <a:bodyPr wrap="square" lIns="635" tIns="635" rIns="635" bIns="635" rtlCol="0" anchor="t"/>
          <a:lstStyle/>
          <a:p>
            <a:pPr algn="ctr" indent="0" marL="0">
              <a:spcAft>
                <a:spcPts val="200"/>
              </a:spcAft>
              <a:buNone/>
            </a:pPr>
            <a:r>
              <a:rPr lang="en-US" sz="1150" dirty="0">
                <a:solidFill>
                  <a:srgbClr val="6B7280"/>
                </a:solidFill>
              </a:rPr>
              <a:t>&lt;user&gt;.github.io/&lt;repo&gt;</a:t>
            </a:r>
            <a:endParaRPr lang="en-US" sz="1150" dirty="0"/>
          </a:p>
        </p:txBody>
      </p:sp>
      <p:sp>
        <p:nvSpPr>
          <p:cNvPr id="35" name="Shape 28"/>
          <p:cNvSpPr/>
          <p:nvPr/>
        </p:nvSpPr>
        <p:spPr>
          <a:xfrm>
            <a:off x="548640" y="4114800"/>
            <a:ext cx="11109960" cy="2057400"/>
          </a:xfrm>
          <a:prstGeom prst="roundRect">
            <a:avLst>
              <a:gd name="adj" fmla="val 5333"/>
            </a:avLst>
          </a:prstGeom>
          <a:solidFill>
            <a:srgbClr val="FBECEC"/>
          </a:solidFill>
          <a:ln w="9525">
            <a:solidFill>
              <a:srgbClr val="FBECEC"/>
            </a:solidFill>
            <a:prstDash val="solid"/>
          </a:ln>
        </p:spPr>
      </p:sp>
      <p:sp>
        <p:nvSpPr>
          <p:cNvPr id="36" name="Shape 29"/>
          <p:cNvSpPr/>
          <p:nvPr/>
        </p:nvSpPr>
        <p:spPr>
          <a:xfrm>
            <a:off x="731520" y="4251960"/>
            <a:ext cx="594360" cy="594360"/>
          </a:xfrm>
          <a:prstGeom prst="ellipse">
            <a:avLst/>
          </a:prstGeom>
          <a:solidFill>
            <a:srgbClr val="D64545"/>
          </a:solidFill>
          <a:ln w="12700">
            <a:solidFill>
              <a:srgbClr val="D64545"/>
            </a:solidFill>
            <a:prstDash val="solid"/>
          </a:ln>
        </p:spPr>
      </p:sp>
      <p:pic>
        <p:nvPicPr>
          <p:cNvPr id="37" name="Image 5" descr="preencoded.png">    </p:cNvPr>
          <p:cNvPicPr>
            <a:picLocks noChangeAspect="1"/>
          </p:cNvPicPr>
          <p:nvPr/>
        </p:nvPicPr>
        <p:blipFill>
          <a:blip r:embed="rId6"/>
          <a:stretch>
            <a:fillRect/>
          </a:stretch>
        </p:blipFill>
        <p:spPr>
          <a:xfrm>
            <a:off x="874166" y="4394606"/>
            <a:ext cx="309067" cy="309067"/>
          </a:xfrm>
          <a:prstGeom prst="rect">
            <a:avLst/>
          </a:prstGeom>
        </p:spPr>
      </p:pic>
      <p:sp>
        <p:nvSpPr>
          <p:cNvPr id="38" name="Text 30"/>
          <p:cNvSpPr txBox="1"/>
          <p:nvPr/>
        </p:nvSpPr>
        <p:spPr>
          <a:xfrm>
            <a:off x="1463040" y="4251960"/>
            <a:ext cx="9875520" cy="548640"/>
          </a:xfrm>
          <a:prstGeom prst="rect">
            <a:avLst/>
          </a:prstGeom>
          <a:noFill/>
          <a:ln/>
        </p:spPr>
        <p:txBody>
          <a:bodyPr wrap="square" lIns="635" tIns="635" rIns="635" bIns="635" rtlCol="0" anchor="ctr"/>
          <a:lstStyle/>
          <a:p>
            <a:pPr indent="0" marL="0">
              <a:spcAft>
                <a:spcPts val="200"/>
              </a:spcAft>
              <a:buNone/>
            </a:pPr>
            <a:r>
              <a:rPr lang="en-US" sz="1600" b="1" dirty="0">
                <a:solidFill>
                  <a:srgbClr val="D64545"/>
                </a:solidFill>
              </a:rPr>
              <a:t>Token security: read before running</a:t>
            </a:r>
            <a:endParaRPr lang="en-US" sz="1600" dirty="0"/>
          </a:p>
        </p:txBody>
      </p:sp>
      <p:sp>
        <p:nvSpPr>
          <p:cNvPr id="39" name="Text 31"/>
          <p:cNvSpPr txBox="1"/>
          <p:nvPr/>
        </p:nvSpPr>
        <p:spPr>
          <a:xfrm>
            <a:off x="777240" y="4846320"/>
            <a:ext cx="10698480" cy="1280160"/>
          </a:xfrm>
          <a:prstGeom prst="rect">
            <a:avLst/>
          </a:prstGeom>
          <a:noFill/>
          <a:ln/>
        </p:spPr>
        <p:txBody>
          <a:bodyPr wrap="square" lIns="635" tIns="635" rIns="635" bIns="635" rtlCol="0" anchor="t"/>
          <a:lstStyle/>
          <a:p>
            <a:pPr marL="190500" indent="-190500">
              <a:spcAft>
                <a:spcPts val="300"/>
              </a:spcAft>
              <a:buSzPct val="100000"/>
              <a:buChar char="•"/>
            </a:pPr>
            <a:r>
              <a:rPr lang="en-US" sz="1300" b="1" dirty="0">
                <a:solidFill>
                  <a:srgbClr val="231F20"/>
                </a:solidFill>
              </a:rPr>
              <a:t>Fine-grained token</a:t>
            </a:r>
            <a:pPr indent="0" marL="0">
              <a:spcAft>
                <a:spcPts val="300"/>
              </a:spcAft>
              <a:buNone/>
            </a:pPr>
            <a:r>
              <a:rPr lang="en-US" sz="1300" dirty="0">
                <a:solidFill>
                  <a:srgbClr val="231F20"/>
                </a:solidFill>
              </a:rPr>
              <a:t>, short expiry (7–30 days), limited to the dashboard repository only.</a:t>
            </a:r>
            <a:endParaRPr lang="en-US" sz="1300" dirty="0"/>
          </a:p>
          <a:p>
            <a:pPr marL="190500" indent="-190500">
              <a:spcAft>
                <a:spcPts val="300"/>
              </a:spcAft>
              <a:buSzPct val="100000"/>
              <a:buChar char="•"/>
            </a:pPr>
            <a:r>
              <a:rPr lang="en-US" sz="1300" b="1" dirty="0">
                <a:solidFill>
                  <a:srgbClr val="231F20"/>
                </a:solidFill>
              </a:rPr>
              <a:t>Minimum permissions</a:t>
            </a:r>
            <a:pPr indent="0" marL="0">
              <a:spcAft>
                <a:spcPts val="300"/>
              </a:spcAft>
              <a:buNone/>
            </a:pPr>
            <a:r>
              <a:rPr lang="en-US" sz="1300" dirty="0">
                <a:solidFill>
                  <a:srgbClr val="231F20"/>
                </a:solidFill>
              </a:rPr>
              <a:t>: Contents and Pages (read/write); Administration only to create the repository.</a:t>
            </a:r>
            <a:endParaRPr lang="en-US" sz="1300" dirty="0"/>
          </a:p>
          <a:p>
            <a:pPr marL="190500" indent="-190500">
              <a:spcAft>
                <a:spcPts val="300"/>
              </a:spcAft>
              <a:buSzPct val="100000"/>
              <a:buChar char="•"/>
            </a:pPr>
            <a:r>
              <a:rPr lang="en-US" sz="1300" b="1" dirty="0">
                <a:solidFill>
                  <a:srgbClr val="231F20"/>
                </a:solidFill>
              </a:rPr>
              <a:t>Storage</a:t>
            </a:r>
            <a:pPr indent="0" marL="0">
              <a:spcAft>
                <a:spcPts val="300"/>
              </a:spcAft>
              <a:buNone/>
            </a:pPr>
            <a:r>
              <a:rPr lang="en-US" sz="1300" dirty="0">
                <a:solidFill>
                  <a:srgbClr val="231F20"/>
                </a:solidFill>
              </a:rPr>
              <a:t>: Colab secret GITHUB_TOKEN or .env file — never in code, outputs or URLs.</a:t>
            </a:r>
            <a:endParaRPr lang="en-US" sz="1300" dirty="0"/>
          </a:p>
          <a:p>
            <a:pPr marL="190500" indent="-190500">
              <a:spcAft>
                <a:spcPts val="300"/>
              </a:spcAft>
              <a:buSzPct val="100000"/>
              <a:buChar char="•"/>
            </a:pPr>
            <a:r>
              <a:rPr lang="en-US" sz="1300" b="1" dirty="0">
                <a:solidFill>
                  <a:srgbClr val="231F20"/>
                </a:solidFill>
              </a:rPr>
              <a:t>Before sharing</a:t>
            </a:r>
            <a:pPr indent="0" marL="0">
              <a:spcAft>
                <a:spcPts val="300"/>
              </a:spcAft>
              <a:buNone/>
            </a:pPr>
            <a:r>
              <a:rPr lang="en-US" sz="1300" dirty="0">
                <a:solidFill>
                  <a:srgbClr val="231F20"/>
                </a:solidFill>
              </a:rPr>
              <a:t>: clear the publishing cell's output, then revoke the token.</a:t>
            </a:r>
            <a:endParaRPr lang="en-US" sz="13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G · WRAP-UP</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Limitations and biases: what must always be said</a:t>
            </a:r>
            <a:endParaRPr lang="en-US" sz="2800" dirty="0"/>
          </a:p>
        </p:txBody>
      </p:sp>
      <p:sp>
        <p:nvSpPr>
          <p:cNvPr id="4" name="Shape 2"/>
          <p:cNvSpPr/>
          <p:nvPr/>
        </p:nvSpPr>
        <p:spPr>
          <a:xfrm>
            <a:off x="548640"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685800" y="1554480"/>
            <a:ext cx="502920" cy="502920"/>
          </a:xfrm>
          <a:prstGeom prst="ellipse">
            <a:avLst/>
          </a:prstGeom>
          <a:solidFill>
            <a:srgbClr val="D64545"/>
          </a:solidFill>
          <a:ln w="12700">
            <a:solidFill>
              <a:srgbClr val="D64545"/>
            </a:solidFill>
            <a:prstDash val="solid"/>
          </a:ln>
        </p:spPr>
      </p:sp>
      <p:pic>
        <p:nvPicPr>
          <p:cNvPr id="6" name="Image 0" descr="preencoded.png">    </p:cNvPr>
          <p:cNvPicPr>
            <a:picLocks noChangeAspect="1"/>
          </p:cNvPicPr>
          <p:nvPr/>
        </p:nvPicPr>
        <p:blipFill>
          <a:blip r:embed="rId1"/>
          <a:stretch>
            <a:fillRect/>
          </a:stretch>
        </p:blipFill>
        <p:spPr>
          <a:xfrm>
            <a:off x="806501" y="1675181"/>
            <a:ext cx="261518" cy="261518"/>
          </a:xfrm>
          <a:prstGeom prst="rect">
            <a:avLst/>
          </a:prstGeom>
        </p:spPr>
      </p:pic>
      <p:sp>
        <p:nvSpPr>
          <p:cNvPr id="7" name="Text 4"/>
          <p:cNvSpPr txBox="1"/>
          <p:nvPr/>
        </p:nvSpPr>
        <p:spPr>
          <a:xfrm>
            <a:off x="1280160"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What lights measure</a:t>
            </a:r>
            <a:endParaRPr lang="en-US" sz="1350" dirty="0"/>
          </a:p>
        </p:txBody>
      </p:sp>
      <p:sp>
        <p:nvSpPr>
          <p:cNvPr id="8" name="Text 5"/>
          <p:cNvSpPr txBox="1"/>
          <p:nvPr/>
        </p:nvSpPr>
        <p:spPr>
          <a:xfrm>
            <a:off x="685800"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radiance at ~01:30; agriculture, daytime trade and rural informal economy poorly captured</a:t>
            </a:r>
            <a:endParaRPr lang="en-US" sz="1250" dirty="0"/>
          </a:p>
        </p:txBody>
      </p:sp>
      <p:sp>
        <p:nvSpPr>
          <p:cNvPr id="9" name="Shape 6"/>
          <p:cNvSpPr/>
          <p:nvPr/>
        </p:nvSpPr>
        <p:spPr>
          <a:xfrm>
            <a:off x="3355848"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3493008" y="1554480"/>
            <a:ext cx="502920" cy="502920"/>
          </a:xfrm>
          <a:prstGeom prst="ellipse">
            <a:avLst/>
          </a:prstGeom>
          <a:solidFill>
            <a:srgbClr val="D64545"/>
          </a:solidFill>
          <a:ln w="12700">
            <a:solidFill>
              <a:srgbClr val="D64545"/>
            </a:solidFill>
            <a:prstDash val="solid"/>
          </a:ln>
        </p:spPr>
      </p:sp>
      <p:pic>
        <p:nvPicPr>
          <p:cNvPr id="11" name="Image 1" descr="preencoded.png">    </p:cNvPr>
          <p:cNvPicPr>
            <a:picLocks noChangeAspect="1"/>
          </p:cNvPicPr>
          <p:nvPr/>
        </p:nvPicPr>
        <p:blipFill>
          <a:blip r:embed="rId2"/>
          <a:stretch>
            <a:fillRect/>
          </a:stretch>
        </p:blipFill>
        <p:spPr>
          <a:xfrm>
            <a:off x="3613709" y="1675181"/>
            <a:ext cx="261518" cy="261518"/>
          </a:xfrm>
          <a:prstGeom prst="rect">
            <a:avLst/>
          </a:prstGeom>
        </p:spPr>
      </p:pic>
      <p:sp>
        <p:nvSpPr>
          <p:cNvPr id="12" name="Text 8"/>
          <p:cNvSpPr txBox="1"/>
          <p:nvPr/>
        </p:nvSpPr>
        <p:spPr>
          <a:xfrm>
            <a:off x="4087368"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Saturation, blooming</a:t>
            </a:r>
            <a:endParaRPr lang="en-US" sz="1350" dirty="0"/>
          </a:p>
        </p:txBody>
      </p:sp>
      <p:sp>
        <p:nvSpPr>
          <p:cNvPr id="13" name="Text 9"/>
          <p:cNvSpPr txBox="1"/>
          <p:nvPr/>
        </p:nvSpPr>
        <p:spPr>
          <a:xfrm>
            <a:off x="3493008"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DMSP saturates; blooming still inflates the lit area</a:t>
            </a:r>
            <a:endParaRPr lang="en-US" sz="1250" dirty="0"/>
          </a:p>
        </p:txBody>
      </p:sp>
      <p:sp>
        <p:nvSpPr>
          <p:cNvPr id="14" name="Shape 10"/>
          <p:cNvSpPr/>
          <p:nvPr/>
        </p:nvSpPr>
        <p:spPr>
          <a:xfrm>
            <a:off x="6163056"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6300216" y="1554480"/>
            <a:ext cx="502920" cy="502920"/>
          </a:xfrm>
          <a:prstGeom prst="ellipse">
            <a:avLst/>
          </a:prstGeom>
          <a:solidFill>
            <a:srgbClr val="D64545"/>
          </a:solidFill>
          <a:ln w="12700">
            <a:solidFill>
              <a:srgbClr val="D64545"/>
            </a:solidFill>
            <a:prstDash val="solid"/>
          </a:ln>
        </p:spPr>
      </p:sp>
      <p:pic>
        <p:nvPicPr>
          <p:cNvPr id="16" name="Image 2" descr="preencoded.png">    </p:cNvPr>
          <p:cNvPicPr>
            <a:picLocks noChangeAspect="1"/>
          </p:cNvPicPr>
          <p:nvPr/>
        </p:nvPicPr>
        <p:blipFill>
          <a:blip r:embed="rId3"/>
          <a:stretch>
            <a:fillRect/>
          </a:stretch>
        </p:blipFill>
        <p:spPr>
          <a:xfrm>
            <a:off x="6420917" y="1675181"/>
            <a:ext cx="261518" cy="261518"/>
          </a:xfrm>
          <a:prstGeom prst="rect">
            <a:avLst/>
          </a:prstGeom>
        </p:spPr>
      </p:pic>
      <p:sp>
        <p:nvSpPr>
          <p:cNvPr id="17" name="Text 12"/>
          <p:cNvSpPr txBox="1"/>
          <p:nvPr/>
        </p:nvSpPr>
        <p:spPr>
          <a:xfrm>
            <a:off x="6894576"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Flares, isolated sites</a:t>
            </a:r>
            <a:endParaRPr lang="en-US" sz="1350" dirty="0"/>
          </a:p>
        </p:txBody>
      </p:sp>
      <p:sp>
        <p:nvSpPr>
          <p:cNvPr id="18" name="Text 13"/>
          <p:cNvSpPr txBox="1"/>
          <p:nvPr/>
        </p:nvSpPr>
        <p:spPr>
          <a:xfrm>
            <a:off x="6300216"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the mask may remove a mine or miss a small flare</a:t>
            </a:r>
            <a:endParaRPr lang="en-US" sz="1250" dirty="0"/>
          </a:p>
        </p:txBody>
      </p:sp>
      <p:sp>
        <p:nvSpPr>
          <p:cNvPr id="19" name="Shape 14"/>
          <p:cNvSpPr/>
          <p:nvPr/>
        </p:nvSpPr>
        <p:spPr>
          <a:xfrm>
            <a:off x="8970264" y="141732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9107424" y="1554480"/>
            <a:ext cx="502920" cy="502920"/>
          </a:xfrm>
          <a:prstGeom prst="ellipse">
            <a:avLst/>
          </a:prstGeom>
          <a:solidFill>
            <a:srgbClr val="D64545"/>
          </a:solidFill>
          <a:ln w="12700">
            <a:solidFill>
              <a:srgbClr val="D64545"/>
            </a:solidFill>
            <a:prstDash val="solid"/>
          </a:ln>
        </p:spPr>
      </p:sp>
      <p:pic>
        <p:nvPicPr>
          <p:cNvPr id="21" name="Image 3" descr="preencoded.png">    </p:cNvPr>
          <p:cNvPicPr>
            <a:picLocks noChangeAspect="1"/>
          </p:cNvPicPr>
          <p:nvPr/>
        </p:nvPicPr>
        <p:blipFill>
          <a:blip r:embed="rId4"/>
          <a:stretch>
            <a:fillRect/>
          </a:stretch>
        </p:blipFill>
        <p:spPr>
          <a:xfrm>
            <a:off x="9228125" y="1675181"/>
            <a:ext cx="261518" cy="261518"/>
          </a:xfrm>
          <a:prstGeom prst="rect">
            <a:avLst/>
          </a:prstGeom>
        </p:spPr>
      </p:pic>
      <p:sp>
        <p:nvSpPr>
          <p:cNvPr id="22" name="Text 16"/>
          <p:cNvSpPr txBox="1"/>
          <p:nvPr/>
        </p:nvSpPr>
        <p:spPr>
          <a:xfrm>
            <a:off x="9701784" y="150876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Clouds, seasons, moon</a:t>
            </a:r>
            <a:endParaRPr lang="en-US" sz="1350" dirty="0"/>
          </a:p>
        </p:txBody>
      </p:sp>
      <p:sp>
        <p:nvSpPr>
          <p:cNvPr id="23" name="Text 17"/>
          <p:cNvSpPr txBox="1"/>
          <p:nvPr/>
        </p:nvSpPr>
        <p:spPr>
          <a:xfrm>
            <a:off x="9107424" y="219456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partially observed months; STL removes the average season, not an abnormal one</a:t>
            </a:r>
            <a:endParaRPr lang="en-US" sz="1250" dirty="0"/>
          </a:p>
        </p:txBody>
      </p:sp>
      <p:sp>
        <p:nvSpPr>
          <p:cNvPr id="24" name="Shape 18"/>
          <p:cNvSpPr/>
          <p:nvPr/>
        </p:nvSpPr>
        <p:spPr>
          <a:xfrm>
            <a:off x="548640"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19"/>
          <p:cNvSpPr/>
          <p:nvPr/>
        </p:nvSpPr>
        <p:spPr>
          <a:xfrm>
            <a:off x="685800" y="3931920"/>
            <a:ext cx="502920" cy="502920"/>
          </a:xfrm>
          <a:prstGeom prst="ellipse">
            <a:avLst/>
          </a:prstGeom>
          <a:solidFill>
            <a:srgbClr val="D64545"/>
          </a:solidFill>
          <a:ln w="12700">
            <a:solidFill>
              <a:srgbClr val="D64545"/>
            </a:solidFill>
            <a:prstDash val="solid"/>
          </a:ln>
        </p:spPr>
      </p:sp>
      <p:pic>
        <p:nvPicPr>
          <p:cNvPr id="26" name="Image 4" descr="preencoded.png">    </p:cNvPr>
          <p:cNvPicPr>
            <a:picLocks noChangeAspect="1"/>
          </p:cNvPicPr>
          <p:nvPr/>
        </p:nvPicPr>
        <p:blipFill>
          <a:blip r:embed="rId5"/>
          <a:stretch>
            <a:fillRect/>
          </a:stretch>
        </p:blipFill>
        <p:spPr>
          <a:xfrm>
            <a:off x="806501" y="4052621"/>
            <a:ext cx="261518" cy="261518"/>
          </a:xfrm>
          <a:prstGeom prst="rect">
            <a:avLst/>
          </a:prstGeom>
        </p:spPr>
      </p:pic>
      <p:sp>
        <p:nvSpPr>
          <p:cNvPr id="27" name="Text 20"/>
          <p:cNvSpPr txBox="1"/>
          <p:nvPr/>
        </p:nvSpPr>
        <p:spPr>
          <a:xfrm>
            <a:off x="1280160"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Product breaks</a:t>
            </a:r>
            <a:endParaRPr lang="en-US" sz="1350" dirty="0"/>
          </a:p>
        </p:txBody>
      </p:sp>
      <p:sp>
        <p:nvSpPr>
          <p:cNvPr id="28" name="Text 21"/>
          <p:cNvSpPr txBox="1"/>
          <p:nvPr/>
        </p:nvSpPr>
        <p:spPr>
          <a:xfrm>
            <a:off x="685800"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DMSP and VIIRS not comparable; modelled long series, trend only</a:t>
            </a:r>
            <a:endParaRPr lang="en-US" sz="1250" dirty="0"/>
          </a:p>
        </p:txBody>
      </p:sp>
      <p:sp>
        <p:nvSpPr>
          <p:cNvPr id="29" name="Shape 22"/>
          <p:cNvSpPr/>
          <p:nvPr/>
        </p:nvSpPr>
        <p:spPr>
          <a:xfrm>
            <a:off x="3355848"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0" name="Shape 23"/>
          <p:cNvSpPr/>
          <p:nvPr/>
        </p:nvSpPr>
        <p:spPr>
          <a:xfrm>
            <a:off x="3493008" y="3931920"/>
            <a:ext cx="502920" cy="502920"/>
          </a:xfrm>
          <a:prstGeom prst="ellipse">
            <a:avLst/>
          </a:prstGeom>
          <a:solidFill>
            <a:srgbClr val="D64545"/>
          </a:solidFill>
          <a:ln w="12700">
            <a:solidFill>
              <a:srgbClr val="D64545"/>
            </a:solidFill>
            <a:prstDash val="solid"/>
          </a:ln>
        </p:spPr>
      </p:sp>
      <p:pic>
        <p:nvPicPr>
          <p:cNvPr id="31" name="Image 5" descr="preencoded.png">    </p:cNvPr>
          <p:cNvPicPr>
            <a:picLocks noChangeAspect="1"/>
          </p:cNvPicPr>
          <p:nvPr/>
        </p:nvPicPr>
        <p:blipFill>
          <a:blip r:embed="rId6"/>
          <a:stretch>
            <a:fillRect/>
          </a:stretch>
        </p:blipFill>
        <p:spPr>
          <a:xfrm>
            <a:off x="3613709" y="4052621"/>
            <a:ext cx="261518" cy="261518"/>
          </a:xfrm>
          <a:prstGeom prst="rect">
            <a:avLst/>
          </a:prstGeom>
        </p:spPr>
      </p:pic>
      <p:sp>
        <p:nvSpPr>
          <p:cNvPr id="32" name="Text 24"/>
          <p:cNvSpPr txBox="1"/>
          <p:nvPr/>
        </p:nvSpPr>
        <p:spPr>
          <a:xfrm>
            <a:off x="4087368"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NTL–GDP elasticity</a:t>
            </a:r>
            <a:endParaRPr lang="en-US" sz="1350" dirty="0"/>
          </a:p>
        </p:txBody>
      </p:sp>
      <p:sp>
        <p:nvSpPr>
          <p:cNvPr id="33" name="Text 25"/>
          <p:cNvSpPr txBox="1"/>
          <p:nvPr/>
        </p:nvSpPr>
        <p:spPr>
          <a:xfrm>
            <a:off x="3493008"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10 to 30 points: wide intervals, non-causal and unstable relationship</a:t>
            </a:r>
            <a:endParaRPr lang="en-US" sz="1250" dirty="0"/>
          </a:p>
        </p:txBody>
      </p:sp>
      <p:sp>
        <p:nvSpPr>
          <p:cNvPr id="34" name="Shape 26"/>
          <p:cNvSpPr/>
          <p:nvPr/>
        </p:nvSpPr>
        <p:spPr>
          <a:xfrm>
            <a:off x="6163056"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5" name="Shape 27"/>
          <p:cNvSpPr/>
          <p:nvPr/>
        </p:nvSpPr>
        <p:spPr>
          <a:xfrm>
            <a:off x="6300216" y="3931920"/>
            <a:ext cx="502920" cy="502920"/>
          </a:xfrm>
          <a:prstGeom prst="ellipse">
            <a:avLst/>
          </a:prstGeom>
          <a:solidFill>
            <a:srgbClr val="D64545"/>
          </a:solidFill>
          <a:ln w="12700">
            <a:solidFill>
              <a:srgbClr val="D64545"/>
            </a:solidFill>
            <a:prstDash val="solid"/>
          </a:ln>
        </p:spPr>
      </p:sp>
      <p:pic>
        <p:nvPicPr>
          <p:cNvPr id="36" name="Image 6" descr="preencoded.png">    </p:cNvPr>
          <p:cNvPicPr>
            <a:picLocks noChangeAspect="1"/>
          </p:cNvPicPr>
          <p:nvPr/>
        </p:nvPicPr>
        <p:blipFill>
          <a:blip r:embed="rId7"/>
          <a:stretch>
            <a:fillRect/>
          </a:stretch>
        </p:blipFill>
        <p:spPr>
          <a:xfrm>
            <a:off x="6420917" y="4052621"/>
            <a:ext cx="261518" cy="261518"/>
          </a:xfrm>
          <a:prstGeom prst="rect">
            <a:avLst/>
          </a:prstGeom>
        </p:spPr>
      </p:pic>
      <p:sp>
        <p:nvSpPr>
          <p:cNvPr id="37" name="Text 28"/>
          <p:cNvSpPr txBox="1"/>
          <p:nvPr/>
        </p:nvSpPr>
        <p:spPr>
          <a:xfrm>
            <a:off x="6894576"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Electricity access</a:t>
            </a:r>
            <a:endParaRPr lang="en-US" sz="1350" dirty="0"/>
          </a:p>
        </p:txBody>
      </p:sp>
      <p:sp>
        <p:nvSpPr>
          <p:cNvPr id="38" name="Text 29"/>
          <p:cNvSpPr txBox="1"/>
          <p:nvPr/>
        </p:nvSpPr>
        <p:spPr>
          <a:xfrm>
            <a:off x="6300216"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“inhabited without light” ≠ “not connected”; threshold-sensitive</a:t>
            </a:r>
            <a:endParaRPr lang="en-US" sz="1250" dirty="0"/>
          </a:p>
        </p:txBody>
      </p:sp>
      <p:sp>
        <p:nvSpPr>
          <p:cNvPr id="39" name="Shape 30"/>
          <p:cNvSpPr/>
          <p:nvPr/>
        </p:nvSpPr>
        <p:spPr>
          <a:xfrm>
            <a:off x="8970264" y="3794760"/>
            <a:ext cx="2651760" cy="2194560"/>
          </a:xfrm>
          <a:prstGeom prst="roundRect">
            <a:avLst>
              <a:gd name="adj" fmla="val 5000"/>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40" name="Shape 31"/>
          <p:cNvSpPr/>
          <p:nvPr/>
        </p:nvSpPr>
        <p:spPr>
          <a:xfrm>
            <a:off x="9107424" y="3931920"/>
            <a:ext cx="502920" cy="502920"/>
          </a:xfrm>
          <a:prstGeom prst="ellipse">
            <a:avLst/>
          </a:prstGeom>
          <a:solidFill>
            <a:srgbClr val="D64545"/>
          </a:solidFill>
          <a:ln w="12700">
            <a:solidFill>
              <a:srgbClr val="D64545"/>
            </a:solidFill>
            <a:prstDash val="solid"/>
          </a:ln>
        </p:spPr>
      </p:sp>
      <p:pic>
        <p:nvPicPr>
          <p:cNvPr id="41" name="Image 7" descr="preencoded.png">    </p:cNvPr>
          <p:cNvPicPr>
            <a:picLocks noChangeAspect="1"/>
          </p:cNvPicPr>
          <p:nvPr/>
        </p:nvPicPr>
        <p:blipFill>
          <a:blip r:embed="rId8"/>
          <a:stretch>
            <a:fillRect/>
          </a:stretch>
        </p:blipFill>
        <p:spPr>
          <a:xfrm>
            <a:off x="9228125" y="4052621"/>
            <a:ext cx="261518" cy="261518"/>
          </a:xfrm>
          <a:prstGeom prst="rect">
            <a:avLst/>
          </a:prstGeom>
        </p:spPr>
      </p:pic>
      <p:sp>
        <p:nvSpPr>
          <p:cNvPr id="42" name="Text 32"/>
          <p:cNvSpPr txBox="1"/>
          <p:nvPr/>
        </p:nvSpPr>
        <p:spPr>
          <a:xfrm>
            <a:off x="9701784" y="3886200"/>
            <a:ext cx="1828800" cy="594360"/>
          </a:xfrm>
          <a:prstGeom prst="rect">
            <a:avLst/>
          </a:prstGeom>
          <a:noFill/>
          <a:ln/>
        </p:spPr>
        <p:txBody>
          <a:bodyPr wrap="square" lIns="635" tIns="635" rIns="635" bIns="635" rtlCol="0" anchor="ctr"/>
          <a:lstStyle/>
          <a:p>
            <a:pPr indent="0" marL="0">
              <a:spcAft>
                <a:spcPts val="200"/>
              </a:spcAft>
              <a:buNone/>
            </a:pPr>
            <a:r>
              <a:rPr lang="en-US" sz="1350" b="1" dirty="0">
                <a:solidFill>
                  <a:srgbClr val="00553A"/>
                </a:solidFill>
              </a:rPr>
              <a:t>Administrative boundaries</a:t>
            </a:r>
            <a:endParaRPr lang="en-US" sz="1350" dirty="0"/>
          </a:p>
        </p:txBody>
      </p:sp>
      <p:sp>
        <p:nvSpPr>
          <p:cNvPr id="43" name="Text 33"/>
          <p:cNvSpPr txBox="1"/>
          <p:nvPr/>
        </p:nvSpPr>
        <p:spPr>
          <a:xfrm>
            <a:off x="9107424" y="4572000"/>
            <a:ext cx="2377440" cy="1325880"/>
          </a:xfrm>
          <a:prstGeom prst="rect">
            <a:avLst/>
          </a:prstGeom>
          <a:noFill/>
          <a:ln/>
        </p:spPr>
        <p:txBody>
          <a:bodyPr wrap="square" lIns="635" tIns="635" rIns="635" bIns="635" rtlCol="0" anchor="t"/>
          <a:lstStyle/>
          <a:p>
            <a:pPr indent="0" marL="0">
              <a:spcAft>
                <a:spcPts val="200"/>
              </a:spcAft>
              <a:buNone/>
            </a:pPr>
            <a:r>
              <a:rPr lang="en-US" sz="1250" dirty="0">
                <a:solidFill>
                  <a:srgbClr val="231F20"/>
                </a:solidFill>
              </a:rPr>
              <a:t>geoBoundaries / GAUL may differ from official boundaries</a:t>
            </a:r>
            <a:endParaRPr lang="en-US" sz="12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G · WRAP-UP</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What lights have made it possible to measure</a:t>
            </a:r>
            <a:endParaRPr lang="en-US" sz="2800" dirty="0"/>
          </a:p>
        </p:txBody>
      </p:sp>
      <p:sp>
        <p:nvSpPr>
          <p:cNvPr id="4" name="Shape 2"/>
          <p:cNvSpPr/>
          <p:nvPr/>
        </p:nvSpPr>
        <p:spPr>
          <a:xfrm>
            <a:off x="548640" y="141732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91640"/>
            <a:ext cx="685800" cy="68580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96112" y="1856232"/>
            <a:ext cx="356616" cy="356616"/>
          </a:xfrm>
          <a:prstGeom prst="rect">
            <a:avLst/>
          </a:prstGeom>
        </p:spPr>
      </p:pic>
      <p:sp>
        <p:nvSpPr>
          <p:cNvPr id="7" name="Text 4"/>
          <p:cNvSpPr txBox="1"/>
          <p:nvPr/>
        </p:nvSpPr>
        <p:spPr>
          <a:xfrm>
            <a:off x="1554480" y="158191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704A"/>
                </a:solidFill>
              </a:rPr>
              <a:t>The activity trend</a:t>
            </a:r>
            <a:endParaRPr lang="en-US" sz="1500" dirty="0"/>
          </a:p>
        </p:txBody>
      </p:sp>
      <p:sp>
        <p:nvSpPr>
          <p:cNvPr id="8" name="Text 5"/>
          <p:cNvSpPr txBox="1"/>
          <p:nvPr/>
        </p:nvSpPr>
        <p:spPr>
          <a:xfrm>
            <a:off x="1554480" y="214884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seasonally adjusted annual growth, with CI</a:t>
            </a:r>
            <a:endParaRPr lang="en-US" sz="1300" dirty="0"/>
          </a:p>
        </p:txBody>
      </p:sp>
      <p:sp>
        <p:nvSpPr>
          <p:cNvPr id="9" name="Shape 6"/>
          <p:cNvSpPr/>
          <p:nvPr/>
        </p:nvSpPr>
        <p:spPr>
          <a:xfrm>
            <a:off x="4297680" y="141732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4480560" y="1691640"/>
            <a:ext cx="685800" cy="685800"/>
          </a:xfrm>
          <a:prstGeom prst="ellipse">
            <a:avLst/>
          </a:prstGeom>
          <a:solidFill>
            <a:srgbClr val="00704A"/>
          </a:solidFill>
          <a:ln w="12700">
            <a:solidFill>
              <a:srgbClr val="00704A"/>
            </a:solidFill>
            <a:prstDash val="solid"/>
          </a:ln>
        </p:spPr>
      </p:sp>
      <p:pic>
        <p:nvPicPr>
          <p:cNvPr id="11" name="Image 1" descr="preencoded.png">    </p:cNvPr>
          <p:cNvPicPr>
            <a:picLocks noChangeAspect="1"/>
          </p:cNvPicPr>
          <p:nvPr/>
        </p:nvPicPr>
        <p:blipFill>
          <a:blip r:embed="rId2"/>
          <a:stretch>
            <a:fillRect/>
          </a:stretch>
        </p:blipFill>
        <p:spPr>
          <a:xfrm>
            <a:off x="4645152" y="1856232"/>
            <a:ext cx="356616" cy="356616"/>
          </a:xfrm>
          <a:prstGeom prst="rect">
            <a:avLst/>
          </a:prstGeom>
        </p:spPr>
      </p:pic>
      <p:sp>
        <p:nvSpPr>
          <p:cNvPr id="12" name="Text 8"/>
          <p:cNvSpPr txBox="1"/>
          <p:nvPr/>
        </p:nvSpPr>
        <p:spPr>
          <a:xfrm>
            <a:off x="5303520" y="158191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704A"/>
                </a:solidFill>
              </a:rPr>
              <a:t>The geography of growth</a:t>
            </a:r>
            <a:endParaRPr lang="en-US" sz="1500" dirty="0"/>
          </a:p>
        </p:txBody>
      </p:sp>
      <p:sp>
        <p:nvSpPr>
          <p:cNvPr id="13" name="Text 9"/>
          <p:cNvSpPr txBox="1"/>
          <p:nvPr/>
        </p:nvSpPr>
        <p:spPr>
          <a:xfrm>
            <a:off x="5303520" y="214884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regions growing, stagnating, declining</a:t>
            </a:r>
            <a:endParaRPr lang="en-US" sz="1300" dirty="0"/>
          </a:p>
        </p:txBody>
      </p:sp>
      <p:sp>
        <p:nvSpPr>
          <p:cNvPr id="14" name="Shape 10"/>
          <p:cNvSpPr/>
          <p:nvPr/>
        </p:nvSpPr>
        <p:spPr>
          <a:xfrm>
            <a:off x="8046720" y="141732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8229600" y="1691640"/>
            <a:ext cx="685800" cy="68580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8394192" y="1856232"/>
            <a:ext cx="356616" cy="356616"/>
          </a:xfrm>
          <a:prstGeom prst="rect">
            <a:avLst/>
          </a:prstGeom>
        </p:spPr>
      </p:pic>
      <p:sp>
        <p:nvSpPr>
          <p:cNvPr id="17" name="Text 12"/>
          <p:cNvSpPr txBox="1"/>
          <p:nvPr/>
        </p:nvSpPr>
        <p:spPr>
          <a:xfrm>
            <a:off x="9052560" y="158191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704A"/>
                </a:solidFill>
              </a:rPr>
              <a:t>Convergence</a:t>
            </a:r>
            <a:endParaRPr lang="en-US" sz="1500" dirty="0"/>
          </a:p>
        </p:txBody>
      </p:sp>
      <p:sp>
        <p:nvSpPr>
          <p:cNvPr id="18" name="Text 13"/>
          <p:cNvSpPr txBox="1"/>
          <p:nvPr/>
        </p:nvSpPr>
        <p:spPr>
          <a:xfrm>
            <a:off x="9052560" y="214884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catching up or polarisation</a:t>
            </a:r>
            <a:endParaRPr lang="en-US" sz="1300" dirty="0"/>
          </a:p>
        </p:txBody>
      </p:sp>
      <p:sp>
        <p:nvSpPr>
          <p:cNvPr id="19" name="Shape 14"/>
          <p:cNvSpPr/>
          <p:nvPr/>
        </p:nvSpPr>
        <p:spPr>
          <a:xfrm>
            <a:off x="548640" y="310896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731520" y="3383280"/>
            <a:ext cx="685800" cy="685800"/>
          </a:xfrm>
          <a:prstGeom prst="ellipse">
            <a:avLst/>
          </a:prstGeom>
          <a:solidFill>
            <a:srgbClr val="1F4E8C"/>
          </a:solidFill>
          <a:ln w="12700">
            <a:solidFill>
              <a:srgbClr val="1F4E8C"/>
            </a:solidFill>
            <a:prstDash val="solid"/>
          </a:ln>
        </p:spPr>
      </p:sp>
      <p:pic>
        <p:nvPicPr>
          <p:cNvPr id="21" name="Image 3" descr="preencoded.png">    </p:cNvPr>
          <p:cNvPicPr>
            <a:picLocks noChangeAspect="1"/>
          </p:cNvPicPr>
          <p:nvPr/>
        </p:nvPicPr>
        <p:blipFill>
          <a:blip r:embed="rId4"/>
          <a:stretch>
            <a:fillRect/>
          </a:stretch>
        </p:blipFill>
        <p:spPr>
          <a:xfrm>
            <a:off x="896112" y="3547872"/>
            <a:ext cx="356616" cy="356616"/>
          </a:xfrm>
          <a:prstGeom prst="rect">
            <a:avLst/>
          </a:prstGeom>
        </p:spPr>
      </p:pic>
      <p:sp>
        <p:nvSpPr>
          <p:cNvPr id="22" name="Text 16"/>
          <p:cNvSpPr txBox="1"/>
          <p:nvPr/>
        </p:nvSpPr>
        <p:spPr>
          <a:xfrm>
            <a:off x="1554480" y="327355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A GDP signal</a:t>
            </a:r>
            <a:endParaRPr lang="en-US" sz="1500" dirty="0"/>
          </a:p>
        </p:txBody>
      </p:sp>
      <p:sp>
        <p:nvSpPr>
          <p:cNvPr id="23" name="Text 17"/>
          <p:cNvSpPr txBox="1"/>
          <p:nvPr/>
        </p:nvSpPr>
        <p:spPr>
          <a:xfrm>
            <a:off x="1554480" y="384048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elasticity, nowcast, experimental regional GDP</a:t>
            </a:r>
            <a:endParaRPr lang="en-US" sz="1300" dirty="0"/>
          </a:p>
        </p:txBody>
      </p:sp>
      <p:sp>
        <p:nvSpPr>
          <p:cNvPr id="24" name="Shape 18"/>
          <p:cNvSpPr/>
          <p:nvPr/>
        </p:nvSpPr>
        <p:spPr>
          <a:xfrm>
            <a:off x="4297680" y="310896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5" name="Shape 19"/>
          <p:cNvSpPr/>
          <p:nvPr/>
        </p:nvSpPr>
        <p:spPr>
          <a:xfrm>
            <a:off x="4480560" y="3383280"/>
            <a:ext cx="685800" cy="685800"/>
          </a:xfrm>
          <a:prstGeom prst="ellipse">
            <a:avLst/>
          </a:prstGeom>
          <a:solidFill>
            <a:srgbClr val="1F4E8C"/>
          </a:solidFill>
          <a:ln w="12700">
            <a:solidFill>
              <a:srgbClr val="1F4E8C"/>
            </a:solidFill>
            <a:prstDash val="solid"/>
          </a:ln>
        </p:spPr>
      </p:sp>
      <p:pic>
        <p:nvPicPr>
          <p:cNvPr id="26" name="Image 4" descr="preencoded.png">    </p:cNvPr>
          <p:cNvPicPr>
            <a:picLocks noChangeAspect="1"/>
          </p:cNvPicPr>
          <p:nvPr/>
        </p:nvPicPr>
        <p:blipFill>
          <a:blip r:embed="rId5"/>
          <a:stretch>
            <a:fillRect/>
          </a:stretch>
        </p:blipFill>
        <p:spPr>
          <a:xfrm>
            <a:off x="4645152" y="3547872"/>
            <a:ext cx="356616" cy="356616"/>
          </a:xfrm>
          <a:prstGeom prst="rect">
            <a:avLst/>
          </a:prstGeom>
        </p:spPr>
      </p:pic>
      <p:sp>
        <p:nvSpPr>
          <p:cNvPr id="27" name="Text 20"/>
          <p:cNvSpPr txBox="1"/>
          <p:nvPr/>
        </p:nvSpPr>
        <p:spPr>
          <a:xfrm>
            <a:off x="5303520" y="327355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The impact of shocks</a:t>
            </a:r>
            <a:endParaRPr lang="en-US" sz="1500" dirty="0"/>
          </a:p>
        </p:txBody>
      </p:sp>
      <p:sp>
        <p:nvSpPr>
          <p:cNvPr id="28" name="Text 21"/>
          <p:cNvSpPr txBox="1"/>
          <p:nvPr/>
        </p:nvSpPr>
        <p:spPr>
          <a:xfrm>
            <a:off x="5303520" y="384048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trough, recovery, day-level dating</a:t>
            </a:r>
            <a:endParaRPr lang="en-US" sz="1300" dirty="0"/>
          </a:p>
        </p:txBody>
      </p:sp>
      <p:sp>
        <p:nvSpPr>
          <p:cNvPr id="29" name="Shape 22"/>
          <p:cNvSpPr/>
          <p:nvPr/>
        </p:nvSpPr>
        <p:spPr>
          <a:xfrm>
            <a:off x="8046720" y="3108960"/>
            <a:ext cx="3566160" cy="1508760"/>
          </a:xfrm>
          <a:prstGeom prst="roundRect">
            <a:avLst>
              <a:gd name="adj" fmla="val 7273"/>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30" name="Shape 23"/>
          <p:cNvSpPr/>
          <p:nvPr/>
        </p:nvSpPr>
        <p:spPr>
          <a:xfrm>
            <a:off x="8229600" y="3383280"/>
            <a:ext cx="685800" cy="685800"/>
          </a:xfrm>
          <a:prstGeom prst="ellipse">
            <a:avLst/>
          </a:prstGeom>
          <a:solidFill>
            <a:srgbClr val="1F4E8C"/>
          </a:solidFill>
          <a:ln w="12700">
            <a:solidFill>
              <a:srgbClr val="1F4E8C"/>
            </a:solidFill>
            <a:prstDash val="solid"/>
          </a:ln>
        </p:spPr>
      </p:sp>
      <p:pic>
        <p:nvPicPr>
          <p:cNvPr id="31" name="Image 5" descr="preencoded.png">    </p:cNvPr>
          <p:cNvPicPr>
            <a:picLocks noChangeAspect="1"/>
          </p:cNvPicPr>
          <p:nvPr/>
        </p:nvPicPr>
        <p:blipFill>
          <a:blip r:embed="rId6"/>
          <a:stretch>
            <a:fillRect/>
          </a:stretch>
        </p:blipFill>
        <p:spPr>
          <a:xfrm>
            <a:off x="8394192" y="3547872"/>
            <a:ext cx="356616" cy="356616"/>
          </a:xfrm>
          <a:prstGeom prst="rect">
            <a:avLst/>
          </a:prstGeom>
        </p:spPr>
      </p:pic>
      <p:sp>
        <p:nvSpPr>
          <p:cNvPr id="32" name="Text 24"/>
          <p:cNvSpPr txBox="1"/>
          <p:nvPr/>
        </p:nvSpPr>
        <p:spPr>
          <a:xfrm>
            <a:off x="9052560" y="3273552"/>
            <a:ext cx="246888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1F4E8C"/>
                </a:solidFill>
              </a:rPr>
              <a:t>Inequality and access</a:t>
            </a:r>
            <a:endParaRPr lang="en-US" sz="1500" dirty="0"/>
          </a:p>
        </p:txBody>
      </p:sp>
      <p:sp>
        <p:nvSpPr>
          <p:cNvPr id="33" name="Text 25"/>
          <p:cNvSpPr txBox="1"/>
          <p:nvPr/>
        </p:nvSpPr>
        <p:spPr>
          <a:xfrm>
            <a:off x="9052560" y="3840480"/>
            <a:ext cx="2468880" cy="68580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Gini, Theil, population in the dark (range)</a:t>
            </a:r>
            <a:endParaRPr lang="en-US" sz="1300" dirty="0"/>
          </a:p>
        </p:txBody>
      </p:sp>
      <p:sp>
        <p:nvSpPr>
          <p:cNvPr id="34" name="Shape 26"/>
          <p:cNvSpPr/>
          <p:nvPr/>
        </p:nvSpPr>
        <p:spPr>
          <a:xfrm>
            <a:off x="548640" y="4892040"/>
            <a:ext cx="11109960" cy="1280160"/>
          </a:xfrm>
          <a:prstGeom prst="roundRect">
            <a:avLst>
              <a:gd name="adj" fmla="val 8571"/>
            </a:avLst>
          </a:prstGeom>
          <a:solidFill>
            <a:srgbClr val="00553A"/>
          </a:solidFill>
          <a:ln w="9525">
            <a:solidFill>
              <a:srgbClr val="00553A"/>
            </a:solidFill>
            <a:prstDash val="solid"/>
          </a:ln>
          <a:effectLst>
            <a:outerShdw sx="100000" sy="100000" kx="0" ky="0" algn="bl" rotWithShape="0" blurRad="101600" dist="25400" dir="5400000">
              <a:srgbClr val="9CA3AF">
                <a:alpha val="25000"/>
              </a:srgbClr>
            </a:outerShdw>
          </a:effectLst>
        </p:spPr>
      </p:sp>
      <p:sp>
        <p:nvSpPr>
          <p:cNvPr id="35" name="Text 27"/>
          <p:cNvSpPr txBox="1"/>
          <p:nvPr/>
        </p:nvSpPr>
        <p:spPr>
          <a:xfrm>
            <a:off x="822960" y="4937760"/>
            <a:ext cx="10607040" cy="1188720"/>
          </a:xfrm>
          <a:prstGeom prst="rect">
            <a:avLst/>
          </a:prstGeom>
          <a:noFill/>
          <a:ln/>
        </p:spPr>
        <p:txBody>
          <a:bodyPr wrap="square" lIns="635" tIns="635" rIns="635" bIns="635" rtlCol="0" anchor="ctr"/>
          <a:lstStyle/>
          <a:p>
            <a:pPr algn="ctr" indent="0" marL="0">
              <a:spcAft>
                <a:spcPts val="200"/>
              </a:spcAft>
              <a:buNone/>
            </a:pPr>
            <a:r>
              <a:rPr lang="en-US" sz="1900" b="1" dirty="0">
                <a:solidFill>
                  <a:srgbClr val="FFFFFF"/>
                </a:solidFill>
              </a:rPr>
              <a:t>One pipeline, one parameter, and for every result: a value, an interval, a confidence level and its reason.</a:t>
            </a:r>
            <a:endParaRPr lang="en-US" sz="19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G · WRAP-UP</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Towards your own projects</a:t>
            </a:r>
            <a:endParaRPr lang="en-US" sz="2800" dirty="0"/>
          </a:p>
        </p:txBody>
      </p:sp>
      <p:sp>
        <p:nvSpPr>
          <p:cNvPr id="4" name="Shape 2"/>
          <p:cNvSpPr/>
          <p:nvPr/>
        </p:nvSpPr>
        <p:spPr>
          <a:xfrm>
            <a:off x="548640" y="141732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5" name="Shape 3"/>
          <p:cNvSpPr/>
          <p:nvPr/>
        </p:nvSpPr>
        <p:spPr>
          <a:xfrm>
            <a:off x="731520" y="1600200"/>
            <a:ext cx="502920" cy="502920"/>
          </a:xfrm>
          <a:prstGeom prst="ellipse">
            <a:avLst/>
          </a:prstGeom>
          <a:solidFill>
            <a:srgbClr val="00704A"/>
          </a:solidFill>
          <a:ln w="12700">
            <a:solidFill>
              <a:srgbClr val="00704A"/>
            </a:solidFill>
            <a:prstDash val="solid"/>
          </a:ln>
        </p:spPr>
      </p:sp>
      <p:pic>
        <p:nvPicPr>
          <p:cNvPr id="6" name="Image 0" descr="preencoded.png">    </p:cNvPr>
          <p:cNvPicPr>
            <a:picLocks noChangeAspect="1"/>
          </p:cNvPicPr>
          <p:nvPr/>
        </p:nvPicPr>
        <p:blipFill>
          <a:blip r:embed="rId1"/>
          <a:stretch>
            <a:fillRect/>
          </a:stretch>
        </p:blipFill>
        <p:spPr>
          <a:xfrm>
            <a:off x="852221" y="1720901"/>
            <a:ext cx="261518" cy="261518"/>
          </a:xfrm>
          <a:prstGeom prst="rect">
            <a:avLst/>
          </a:prstGeom>
        </p:spPr>
      </p:pic>
      <p:sp>
        <p:nvSpPr>
          <p:cNvPr id="7" name="Text 4"/>
          <p:cNvSpPr txBox="1"/>
          <p:nvPr/>
        </p:nvSpPr>
        <p:spPr>
          <a:xfrm>
            <a:off x="1371600" y="158191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Sub-annual tracking</a:t>
            </a:r>
            <a:endParaRPr lang="en-US" sz="1500" dirty="0"/>
          </a:p>
        </p:txBody>
      </p:sp>
      <p:sp>
        <p:nvSpPr>
          <p:cNvPr id="8" name="Text 5"/>
          <p:cNvSpPr txBox="1"/>
          <p:nvPr/>
        </p:nvSpPr>
        <p:spPr>
          <a:xfrm>
            <a:off x="731520" y="222199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a quarterly leading indicator of regional activity for your country</a:t>
            </a:r>
            <a:endParaRPr lang="en-US" sz="1300" dirty="0"/>
          </a:p>
        </p:txBody>
      </p:sp>
      <p:sp>
        <p:nvSpPr>
          <p:cNvPr id="9" name="Shape 6"/>
          <p:cNvSpPr/>
          <p:nvPr/>
        </p:nvSpPr>
        <p:spPr>
          <a:xfrm>
            <a:off x="4206240" y="141732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0" name="Shape 7"/>
          <p:cNvSpPr/>
          <p:nvPr/>
        </p:nvSpPr>
        <p:spPr>
          <a:xfrm>
            <a:off x="4389120" y="1600200"/>
            <a:ext cx="502920" cy="502920"/>
          </a:xfrm>
          <a:prstGeom prst="ellipse">
            <a:avLst/>
          </a:prstGeom>
          <a:solidFill>
            <a:srgbClr val="1F4E8C"/>
          </a:solidFill>
          <a:ln w="12700">
            <a:solidFill>
              <a:srgbClr val="1F4E8C"/>
            </a:solidFill>
            <a:prstDash val="solid"/>
          </a:ln>
        </p:spPr>
      </p:sp>
      <p:pic>
        <p:nvPicPr>
          <p:cNvPr id="11" name="Image 1" descr="preencoded.png">    </p:cNvPr>
          <p:cNvPicPr>
            <a:picLocks noChangeAspect="1"/>
          </p:cNvPicPr>
          <p:nvPr/>
        </p:nvPicPr>
        <p:blipFill>
          <a:blip r:embed="rId2"/>
          <a:stretch>
            <a:fillRect/>
          </a:stretch>
        </p:blipFill>
        <p:spPr>
          <a:xfrm>
            <a:off x="4509821" y="1720901"/>
            <a:ext cx="261518" cy="261518"/>
          </a:xfrm>
          <a:prstGeom prst="rect">
            <a:avLst/>
          </a:prstGeom>
        </p:spPr>
      </p:pic>
      <p:sp>
        <p:nvSpPr>
          <p:cNvPr id="12" name="Text 8"/>
          <p:cNvSpPr txBox="1"/>
          <p:nvPr/>
        </p:nvSpPr>
        <p:spPr>
          <a:xfrm>
            <a:off x="5029200" y="158191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Assess a shock</a:t>
            </a:r>
            <a:endParaRPr lang="en-US" sz="1500" dirty="0"/>
          </a:p>
        </p:txBody>
      </p:sp>
      <p:sp>
        <p:nvSpPr>
          <p:cNvPr id="13" name="Text 9"/>
          <p:cNvSpPr txBox="1"/>
          <p:nvPr/>
        </p:nvSpPr>
        <p:spPr>
          <a:xfrm>
            <a:off x="4389120" y="222199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cyclone, conflict, energy crisis: trough, recovery, affected regions</a:t>
            </a:r>
            <a:endParaRPr lang="en-US" sz="1300" dirty="0"/>
          </a:p>
        </p:txBody>
      </p:sp>
      <p:sp>
        <p:nvSpPr>
          <p:cNvPr id="14" name="Shape 10"/>
          <p:cNvSpPr/>
          <p:nvPr/>
        </p:nvSpPr>
        <p:spPr>
          <a:xfrm>
            <a:off x="548640" y="329184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15" name="Shape 11"/>
          <p:cNvSpPr/>
          <p:nvPr/>
        </p:nvSpPr>
        <p:spPr>
          <a:xfrm>
            <a:off x="731520" y="3474720"/>
            <a:ext cx="502920" cy="502920"/>
          </a:xfrm>
          <a:prstGeom prst="ellipse">
            <a:avLst/>
          </a:prstGeom>
          <a:solidFill>
            <a:srgbClr val="00704A"/>
          </a:solidFill>
          <a:ln w="12700">
            <a:solidFill>
              <a:srgbClr val="00704A"/>
            </a:solidFill>
            <a:prstDash val="solid"/>
          </a:ln>
        </p:spPr>
      </p:sp>
      <p:pic>
        <p:nvPicPr>
          <p:cNvPr id="16" name="Image 2" descr="preencoded.png">    </p:cNvPr>
          <p:cNvPicPr>
            <a:picLocks noChangeAspect="1"/>
          </p:cNvPicPr>
          <p:nvPr/>
        </p:nvPicPr>
        <p:blipFill>
          <a:blip r:embed="rId3"/>
          <a:stretch>
            <a:fillRect/>
          </a:stretch>
        </p:blipFill>
        <p:spPr>
          <a:xfrm>
            <a:off x="852221" y="3595421"/>
            <a:ext cx="261518" cy="261518"/>
          </a:xfrm>
          <a:prstGeom prst="rect">
            <a:avLst/>
          </a:prstGeom>
        </p:spPr>
      </p:pic>
      <p:sp>
        <p:nvSpPr>
          <p:cNvPr id="17" name="Text 12"/>
          <p:cNvSpPr txBox="1"/>
          <p:nvPr/>
        </p:nvSpPr>
        <p:spPr>
          <a:xfrm>
            <a:off x="1371600" y="345643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Electricity access</a:t>
            </a:r>
            <a:endParaRPr lang="en-US" sz="1500" dirty="0"/>
          </a:p>
        </p:txBody>
      </p:sp>
      <p:sp>
        <p:nvSpPr>
          <p:cNvPr id="18" name="Text 13"/>
          <p:cNvSpPr txBox="1"/>
          <p:nvPr/>
        </p:nvSpPr>
        <p:spPr>
          <a:xfrm>
            <a:off x="731520" y="409651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map of “dark” areas crossed with connection registers</a:t>
            </a:r>
            <a:endParaRPr lang="en-US" sz="1300" dirty="0"/>
          </a:p>
        </p:txBody>
      </p:sp>
      <p:sp>
        <p:nvSpPr>
          <p:cNvPr id="19" name="Shape 14"/>
          <p:cNvSpPr/>
          <p:nvPr/>
        </p:nvSpPr>
        <p:spPr>
          <a:xfrm>
            <a:off x="4206240" y="3291840"/>
            <a:ext cx="3520440" cy="1737360"/>
          </a:xfrm>
          <a:prstGeom prst="roundRect">
            <a:avLst>
              <a:gd name="adj" fmla="val 6316"/>
            </a:avLst>
          </a:prstGeom>
          <a:solidFill>
            <a:srgbClr val="F4F7F5"/>
          </a:solidFill>
          <a:ln w="9525">
            <a:solidFill>
              <a:srgbClr val="F4F7F5"/>
            </a:solidFill>
            <a:prstDash val="solid"/>
          </a:ln>
          <a:effectLst>
            <a:outerShdw sx="100000" sy="100000" kx="0" ky="0" algn="bl" rotWithShape="0" blurRad="101600" dist="25400" dir="5400000">
              <a:srgbClr val="9CA3AF">
                <a:alpha val="25000"/>
              </a:srgbClr>
            </a:outerShdw>
          </a:effectLst>
        </p:spPr>
      </p:sp>
      <p:sp>
        <p:nvSpPr>
          <p:cNvPr id="20" name="Shape 15"/>
          <p:cNvSpPr/>
          <p:nvPr/>
        </p:nvSpPr>
        <p:spPr>
          <a:xfrm>
            <a:off x="4389120" y="3474720"/>
            <a:ext cx="502920" cy="502920"/>
          </a:xfrm>
          <a:prstGeom prst="ellipse">
            <a:avLst/>
          </a:prstGeom>
          <a:solidFill>
            <a:srgbClr val="1F4E8C"/>
          </a:solidFill>
          <a:ln w="12700">
            <a:solidFill>
              <a:srgbClr val="1F4E8C"/>
            </a:solidFill>
            <a:prstDash val="solid"/>
          </a:ln>
        </p:spPr>
      </p:sp>
      <p:pic>
        <p:nvPicPr>
          <p:cNvPr id="21" name="Image 3" descr="preencoded.png">    </p:cNvPr>
          <p:cNvPicPr>
            <a:picLocks noChangeAspect="1"/>
          </p:cNvPicPr>
          <p:nvPr/>
        </p:nvPicPr>
        <p:blipFill>
          <a:blip r:embed="rId4"/>
          <a:stretch>
            <a:fillRect/>
          </a:stretch>
        </p:blipFill>
        <p:spPr>
          <a:xfrm>
            <a:off x="4509821" y="3595421"/>
            <a:ext cx="261518" cy="261518"/>
          </a:xfrm>
          <a:prstGeom prst="rect">
            <a:avLst/>
          </a:prstGeom>
        </p:spPr>
      </p:pic>
      <p:sp>
        <p:nvSpPr>
          <p:cNvPr id="22" name="Text 16"/>
          <p:cNvSpPr txBox="1"/>
          <p:nvPr/>
        </p:nvSpPr>
        <p:spPr>
          <a:xfrm>
            <a:off x="5029200" y="3456432"/>
            <a:ext cx="2560320" cy="54864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Experimental regional GDP</a:t>
            </a:r>
            <a:endParaRPr lang="en-US" sz="1500" dirty="0"/>
          </a:p>
        </p:txBody>
      </p:sp>
      <p:sp>
        <p:nvSpPr>
          <p:cNvPr id="23" name="Text 17"/>
          <p:cNvSpPr txBox="1"/>
          <p:nvPr/>
        </p:nvSpPr>
        <p:spPr>
          <a:xfrm>
            <a:off x="4389120" y="4096512"/>
            <a:ext cx="3154680" cy="822960"/>
          </a:xfrm>
          <a:prstGeom prst="rect">
            <a:avLst/>
          </a:prstGeom>
          <a:noFill/>
          <a:ln/>
        </p:spPr>
        <p:txBody>
          <a:bodyPr wrap="square" lIns="635" tIns="635" rIns="635" bIns="635" rtlCol="0" anchor="t"/>
          <a:lstStyle/>
          <a:p>
            <a:pPr indent="0" marL="0">
              <a:spcAft>
                <a:spcPts val="200"/>
              </a:spcAft>
              <a:buNone/>
            </a:pPr>
            <a:r>
              <a:rPr lang="en-US" sz="1300" dirty="0">
                <a:solidFill>
                  <a:srgbClr val="231F20"/>
                </a:solidFill>
              </a:rPr>
              <a:t>compare γ = 1 and γ = 0.5 with existing regional accounts</a:t>
            </a:r>
            <a:endParaRPr lang="en-US" sz="1300" dirty="0"/>
          </a:p>
        </p:txBody>
      </p:sp>
      <p:sp>
        <p:nvSpPr>
          <p:cNvPr id="24" name="Shape 18"/>
          <p:cNvSpPr/>
          <p:nvPr/>
        </p:nvSpPr>
        <p:spPr>
          <a:xfrm>
            <a:off x="8001000" y="1417320"/>
            <a:ext cx="3657600" cy="3611880"/>
          </a:xfrm>
          <a:prstGeom prst="roundRect">
            <a:avLst>
              <a:gd name="adj" fmla="val 3038"/>
            </a:avLst>
          </a:prstGeom>
          <a:solidFill>
            <a:srgbClr val="EAF2FB"/>
          </a:solidFill>
          <a:ln w="9525">
            <a:solidFill>
              <a:srgbClr val="EAF2FB"/>
            </a:solidFill>
            <a:prstDash val="solid"/>
          </a:ln>
        </p:spPr>
      </p:sp>
      <p:sp>
        <p:nvSpPr>
          <p:cNvPr id="25" name="Text 19"/>
          <p:cNvSpPr txBox="1"/>
          <p:nvPr/>
        </p:nvSpPr>
        <p:spPr>
          <a:xfrm>
            <a:off x="8183880" y="1508760"/>
            <a:ext cx="3291840" cy="365760"/>
          </a:xfrm>
          <a:prstGeom prst="rect">
            <a:avLst/>
          </a:prstGeom>
          <a:noFill/>
          <a:ln/>
        </p:spPr>
        <p:txBody>
          <a:bodyPr wrap="square" lIns="635" tIns="635" rIns="635" bIns="635" rtlCol="0" anchor="t"/>
          <a:lstStyle/>
          <a:p>
            <a:pPr indent="0" marL="0">
              <a:spcAft>
                <a:spcPts val="200"/>
              </a:spcAft>
              <a:buNone/>
            </a:pPr>
            <a:r>
              <a:rPr lang="en-US" sz="1500" b="1" dirty="0">
                <a:solidFill>
                  <a:srgbClr val="1F4E8C"/>
                </a:solidFill>
              </a:rPr>
              <a:t>Questions to frame your project</a:t>
            </a:r>
            <a:endParaRPr lang="en-US" sz="1500" dirty="0"/>
          </a:p>
        </p:txBody>
      </p:sp>
      <p:sp>
        <p:nvSpPr>
          <p:cNvPr id="26" name="Text 20"/>
          <p:cNvSpPr txBox="1"/>
          <p:nvPr/>
        </p:nvSpPr>
        <p:spPr>
          <a:xfrm>
            <a:off x="8183880" y="1920240"/>
            <a:ext cx="3337560" cy="3017520"/>
          </a:xfrm>
          <a:prstGeom prst="rect">
            <a:avLst/>
          </a:prstGeom>
          <a:noFill/>
          <a:ln/>
        </p:spPr>
        <p:txBody>
          <a:bodyPr wrap="square" lIns="635" tIns="635" rIns="635" bIns="635" rtlCol="0" anchor="t"/>
          <a:lstStyle/>
          <a:p>
            <a:pPr marL="190500" indent="-190500">
              <a:spcAft>
                <a:spcPts val="800"/>
              </a:spcAft>
              <a:buSzPct val="100000"/>
              <a:buChar char="•"/>
            </a:pPr>
            <a:r>
              <a:rPr lang="en-US" sz="1350" dirty="0">
                <a:solidFill>
                  <a:srgbClr val="231F20"/>
                </a:solidFill>
              </a:rPr>
              <a:t>Which economic question?</a:t>
            </a:r>
            <a:endParaRPr lang="en-US" sz="1350" dirty="0"/>
          </a:p>
          <a:p>
            <a:pPr marL="190500" indent="-190500">
              <a:spcAft>
                <a:spcPts val="800"/>
              </a:spcAft>
              <a:buSzPct val="100000"/>
              <a:buChar char="•"/>
            </a:pPr>
            <a:r>
              <a:rPr lang="en-US" sz="1350" dirty="0">
                <a:solidFill>
                  <a:srgbClr val="231F20"/>
                </a:solidFill>
              </a:rPr>
              <a:t>Which statistical product, for which user?</a:t>
            </a:r>
            <a:endParaRPr lang="en-US" sz="1350" dirty="0"/>
          </a:p>
          <a:p>
            <a:pPr marL="190500" indent="-190500">
              <a:spcAft>
                <a:spcPts val="800"/>
              </a:spcAft>
              <a:buSzPct val="100000"/>
              <a:buChar char="•"/>
            </a:pPr>
            <a:r>
              <a:rPr lang="en-US" sz="1350" dirty="0">
                <a:solidFill>
                  <a:srgbClr val="231F20"/>
                </a:solidFill>
              </a:rPr>
              <a:t>Which official validation data?</a:t>
            </a:r>
            <a:endParaRPr lang="en-US" sz="1350" dirty="0"/>
          </a:p>
          <a:p>
            <a:pPr marL="190500" indent="-190500">
              <a:spcAft>
                <a:spcPts val="800"/>
              </a:spcAft>
              <a:buSzPct val="100000"/>
              <a:buChar char="•"/>
            </a:pPr>
            <a:r>
              <a:rPr lang="en-US" sz="1350" dirty="0">
                <a:solidFill>
                  <a:srgbClr val="231F20"/>
                </a:solidFill>
              </a:rPr>
              <a:t>Which confidence level is targeted?</a:t>
            </a:r>
            <a:endParaRPr lang="en-US" sz="1350" dirty="0"/>
          </a:p>
          <a:p>
            <a:pPr marL="190500" indent="-190500">
              <a:spcAft>
                <a:spcPts val="800"/>
              </a:spcAft>
              <a:buSzPct val="100000"/>
              <a:buChar char="•"/>
            </a:pPr>
            <a:r>
              <a:rPr lang="en-US" sz="1350" dirty="0">
                <a:solidFill>
                  <a:srgbClr val="231F20"/>
                </a:solidFill>
              </a:rPr>
              <a:t>Which limitations to state?</a:t>
            </a:r>
            <a:endParaRPr lang="en-US" sz="1350" dirty="0"/>
          </a:p>
        </p:txBody>
      </p:sp>
      <p:sp>
        <p:nvSpPr>
          <p:cNvPr id="27" name="Shape 21"/>
          <p:cNvSpPr/>
          <p:nvPr/>
        </p:nvSpPr>
        <p:spPr>
          <a:xfrm>
            <a:off x="548640" y="5257800"/>
            <a:ext cx="11109960" cy="914400"/>
          </a:xfrm>
          <a:prstGeom prst="roundRect">
            <a:avLst>
              <a:gd name="adj" fmla="val 12000"/>
            </a:avLst>
          </a:prstGeom>
          <a:solidFill>
            <a:srgbClr val="E8F5EF"/>
          </a:solidFill>
          <a:ln w="9525">
            <a:solidFill>
              <a:srgbClr val="E8F5EF"/>
            </a:solidFill>
            <a:prstDash val="solid"/>
          </a:ln>
        </p:spPr>
      </p:sp>
      <p:sp>
        <p:nvSpPr>
          <p:cNvPr id="28" name="Shape 22"/>
          <p:cNvSpPr/>
          <p:nvPr/>
        </p:nvSpPr>
        <p:spPr>
          <a:xfrm>
            <a:off x="731520" y="5394960"/>
            <a:ext cx="594360" cy="594360"/>
          </a:xfrm>
          <a:prstGeom prst="ellipse">
            <a:avLst/>
          </a:prstGeom>
          <a:solidFill>
            <a:srgbClr val="00704A"/>
          </a:solidFill>
          <a:ln w="12700">
            <a:solidFill>
              <a:srgbClr val="00704A"/>
            </a:solidFill>
            <a:prstDash val="solid"/>
          </a:ln>
        </p:spPr>
      </p:sp>
      <p:pic>
        <p:nvPicPr>
          <p:cNvPr id="29" name="Image 4" descr="preencoded.png">    </p:cNvPr>
          <p:cNvPicPr>
            <a:picLocks noChangeAspect="1"/>
          </p:cNvPicPr>
          <p:nvPr/>
        </p:nvPicPr>
        <p:blipFill>
          <a:blip r:embed="rId5"/>
          <a:stretch>
            <a:fillRect/>
          </a:stretch>
        </p:blipFill>
        <p:spPr>
          <a:xfrm>
            <a:off x="874166" y="5537606"/>
            <a:ext cx="309067" cy="309067"/>
          </a:xfrm>
          <a:prstGeom prst="rect">
            <a:avLst/>
          </a:prstGeom>
        </p:spPr>
      </p:pic>
      <p:sp>
        <p:nvSpPr>
          <p:cNvPr id="30" name="Text 23"/>
          <p:cNvSpPr txBox="1"/>
          <p:nvPr/>
        </p:nvSpPr>
        <p:spPr>
          <a:xfrm>
            <a:off x="1463040" y="5303520"/>
            <a:ext cx="10058400" cy="822960"/>
          </a:xfrm>
          <a:prstGeom prst="rect">
            <a:avLst/>
          </a:prstGeom>
          <a:noFill/>
          <a:ln/>
        </p:spPr>
        <p:txBody>
          <a:bodyPr wrap="square" lIns="635" tIns="635" rIns="635" bIns="635" rtlCol="0" anchor="ctr"/>
          <a:lstStyle/>
          <a:p>
            <a:pPr indent="0" marL="0">
              <a:spcAft>
                <a:spcPts val="200"/>
              </a:spcAft>
              <a:buNone/>
            </a:pPr>
            <a:r>
              <a:rPr lang="en-US" sz="1400" dirty="0">
                <a:solidFill>
                  <a:srgbClr val="231F20"/>
                </a:solidFill>
              </a:rPr>
              <a:t>To get started: open the part 3 notebook in Colab, replace ISO3 with your country, add an event to CUSTOM_EVENTS, and click “Run all”.</a:t>
            </a:r>
            <a:endParaRPr lang="en-US" sz="14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85800" y="1097280"/>
            <a:ext cx="10789920" cy="914400"/>
          </a:xfrm>
          <a:prstGeom prst="rect">
            <a:avLst/>
          </a:prstGeom>
          <a:noFill/>
          <a:ln/>
        </p:spPr>
        <p:txBody>
          <a:bodyPr wrap="square" lIns="635" tIns="635" rIns="635" bIns="635" rtlCol="0" anchor="t"/>
          <a:lstStyle/>
          <a:p>
            <a:pPr indent="0" marL="0">
              <a:spcAft>
                <a:spcPts val="200"/>
              </a:spcAft>
              <a:buNone/>
            </a:pPr>
            <a:r>
              <a:rPr lang="en-US" sz="4000" b="1" dirty="0">
                <a:solidFill>
                  <a:srgbClr val="FFFFFF"/>
                </a:solidFill>
              </a:rPr>
              <a:t>Thank you — over to your questions</a:t>
            </a:r>
            <a:endParaRPr lang="en-US" sz="4000" dirty="0"/>
          </a:p>
        </p:txBody>
      </p:sp>
      <p:sp>
        <p:nvSpPr>
          <p:cNvPr id="3" name="Text 1"/>
          <p:cNvSpPr txBox="1"/>
          <p:nvPr/>
        </p:nvSpPr>
        <p:spPr>
          <a:xfrm>
            <a:off x="685800" y="2103120"/>
            <a:ext cx="10789920" cy="548640"/>
          </a:xfrm>
          <a:prstGeom prst="rect">
            <a:avLst/>
          </a:prstGeom>
          <a:noFill/>
          <a:ln/>
        </p:spPr>
        <p:txBody>
          <a:bodyPr wrap="square" lIns="635" tIns="635" rIns="635" bIns="635" rtlCol="0" anchor="t"/>
          <a:lstStyle/>
          <a:p>
            <a:pPr indent="0" marL="0">
              <a:spcAft>
                <a:spcPts val="200"/>
              </a:spcAft>
              <a:buNone/>
            </a:pPr>
            <a:r>
              <a:rPr lang="en-US" sz="2000" i="1" dirty="0">
                <a:solidFill>
                  <a:srgbClr val="F5C242"/>
                </a:solidFill>
              </a:rPr>
              <a:t>“A measurement is only useful if you can say how far it can be trusted.”</a:t>
            </a:r>
            <a:endParaRPr lang="en-US" sz="2000" dirty="0"/>
          </a:p>
        </p:txBody>
      </p:sp>
      <p:sp>
        <p:nvSpPr>
          <p:cNvPr id="4" name="Shape 2"/>
          <p:cNvSpPr/>
          <p:nvPr/>
        </p:nvSpPr>
        <p:spPr>
          <a:xfrm>
            <a:off x="685800" y="3063240"/>
            <a:ext cx="5257800" cy="822960"/>
          </a:xfrm>
          <a:prstGeom prst="roundRect">
            <a:avLst>
              <a:gd name="adj" fmla="val 13333"/>
            </a:avLst>
          </a:prstGeom>
          <a:solidFill>
            <a:srgbClr val="FFFFFF"/>
          </a:solidFill>
          <a:ln w="9525">
            <a:solidFill>
              <a:srgbClr val="FFFFFF"/>
            </a:solidFill>
            <a:prstDash val="solid"/>
          </a:ln>
        </p:spPr>
      </p:sp>
      <p:sp>
        <p:nvSpPr>
          <p:cNvPr id="5" name="Text 3"/>
          <p:cNvSpPr txBox="1"/>
          <p:nvPr/>
        </p:nvSpPr>
        <p:spPr>
          <a:xfrm>
            <a:off x="822960" y="306324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1</a:t>
            </a:r>
            <a:endParaRPr lang="en-US" sz="2600" dirty="0"/>
          </a:p>
        </p:txBody>
      </p:sp>
      <p:sp>
        <p:nvSpPr>
          <p:cNvPr id="6" name="Text 4"/>
          <p:cNvSpPr txBox="1"/>
          <p:nvPr/>
        </p:nvSpPr>
        <p:spPr>
          <a:xfrm>
            <a:off x="1325880" y="306324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Lights = a witness of activity, not GDP</a:t>
            </a:r>
            <a:endParaRPr lang="en-US" sz="1500" dirty="0"/>
          </a:p>
        </p:txBody>
      </p:sp>
      <p:sp>
        <p:nvSpPr>
          <p:cNvPr id="7" name="Shape 5"/>
          <p:cNvSpPr/>
          <p:nvPr/>
        </p:nvSpPr>
        <p:spPr>
          <a:xfrm>
            <a:off x="6172200" y="3063240"/>
            <a:ext cx="5257800" cy="822960"/>
          </a:xfrm>
          <a:prstGeom prst="roundRect">
            <a:avLst>
              <a:gd name="adj" fmla="val 13333"/>
            </a:avLst>
          </a:prstGeom>
          <a:solidFill>
            <a:srgbClr val="FFFFFF"/>
          </a:solidFill>
          <a:ln w="9525">
            <a:solidFill>
              <a:srgbClr val="FFFFFF"/>
            </a:solidFill>
            <a:prstDash val="solid"/>
          </a:ln>
        </p:spPr>
      </p:sp>
      <p:sp>
        <p:nvSpPr>
          <p:cNvPr id="8" name="Text 6"/>
          <p:cNvSpPr txBox="1"/>
          <p:nvPr/>
        </p:nvSpPr>
        <p:spPr>
          <a:xfrm>
            <a:off x="6309360" y="306324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2</a:t>
            </a:r>
            <a:endParaRPr lang="en-US" sz="2600" dirty="0"/>
          </a:p>
        </p:txBody>
      </p:sp>
      <p:sp>
        <p:nvSpPr>
          <p:cNvPr id="9" name="Text 7"/>
          <p:cNvSpPr txBox="1"/>
          <p:nvPr/>
        </p:nvSpPr>
        <p:spPr>
          <a:xfrm>
            <a:off x="6812280" y="306324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Preprocess before interpreting: clouds, flares, season</a:t>
            </a:r>
            <a:endParaRPr lang="en-US" sz="1500" dirty="0"/>
          </a:p>
        </p:txBody>
      </p:sp>
      <p:sp>
        <p:nvSpPr>
          <p:cNvPr id="10" name="Shape 8"/>
          <p:cNvSpPr/>
          <p:nvPr/>
        </p:nvSpPr>
        <p:spPr>
          <a:xfrm>
            <a:off x="685800" y="4069080"/>
            <a:ext cx="5257800" cy="822960"/>
          </a:xfrm>
          <a:prstGeom prst="roundRect">
            <a:avLst>
              <a:gd name="adj" fmla="val 13333"/>
            </a:avLst>
          </a:prstGeom>
          <a:solidFill>
            <a:srgbClr val="FFFFFF"/>
          </a:solidFill>
          <a:ln w="9525">
            <a:solidFill>
              <a:srgbClr val="FFFFFF"/>
            </a:solidFill>
            <a:prstDash val="solid"/>
          </a:ln>
        </p:spPr>
      </p:sp>
      <p:sp>
        <p:nvSpPr>
          <p:cNvPr id="11" name="Text 9"/>
          <p:cNvSpPr txBox="1"/>
          <p:nvPr/>
        </p:nvSpPr>
        <p:spPr>
          <a:xfrm>
            <a:off x="822960" y="406908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3</a:t>
            </a:r>
            <a:endParaRPr lang="en-US" sz="2600" dirty="0"/>
          </a:p>
        </p:txBody>
      </p:sp>
      <p:sp>
        <p:nvSpPr>
          <p:cNvPr id="12" name="Text 10"/>
          <p:cNvSpPr txBox="1"/>
          <p:nvPr/>
        </p:nvSpPr>
        <p:spPr>
          <a:xfrm>
            <a:off x="1325880" y="406908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Always an interval and a confidence level</a:t>
            </a:r>
            <a:endParaRPr lang="en-US" sz="1500" dirty="0"/>
          </a:p>
        </p:txBody>
      </p:sp>
      <p:sp>
        <p:nvSpPr>
          <p:cNvPr id="13" name="Shape 11"/>
          <p:cNvSpPr/>
          <p:nvPr/>
        </p:nvSpPr>
        <p:spPr>
          <a:xfrm>
            <a:off x="6172200" y="4069080"/>
            <a:ext cx="5257800" cy="822960"/>
          </a:xfrm>
          <a:prstGeom prst="roundRect">
            <a:avLst>
              <a:gd name="adj" fmla="val 13333"/>
            </a:avLst>
          </a:prstGeom>
          <a:solidFill>
            <a:srgbClr val="FFFFFF"/>
          </a:solidFill>
          <a:ln w="9525">
            <a:solidFill>
              <a:srgbClr val="FFFFFF"/>
            </a:solidFill>
            <a:prstDash val="solid"/>
          </a:ln>
        </p:spPr>
      </p:sp>
      <p:sp>
        <p:nvSpPr>
          <p:cNvPr id="14" name="Text 12"/>
          <p:cNvSpPr txBox="1"/>
          <p:nvPr/>
        </p:nvSpPr>
        <p:spPr>
          <a:xfrm>
            <a:off x="6309360" y="4069080"/>
            <a:ext cx="457200" cy="822960"/>
          </a:xfrm>
          <a:prstGeom prst="rect">
            <a:avLst/>
          </a:prstGeom>
          <a:noFill/>
          <a:ln/>
        </p:spPr>
        <p:txBody>
          <a:bodyPr wrap="square" lIns="635" tIns="635" rIns="635" bIns="635" rtlCol="0" anchor="ctr"/>
          <a:lstStyle/>
          <a:p>
            <a:pPr indent="0" marL="0">
              <a:spcAft>
                <a:spcPts val="200"/>
              </a:spcAft>
              <a:buNone/>
            </a:pPr>
            <a:r>
              <a:rPr lang="en-US" sz="2600" b="1" dirty="0">
                <a:solidFill>
                  <a:srgbClr val="F5C242"/>
                </a:solidFill>
              </a:rPr>
              <a:t>4</a:t>
            </a:r>
            <a:endParaRPr lang="en-US" sz="2600" dirty="0"/>
          </a:p>
        </p:txBody>
      </p:sp>
      <p:sp>
        <p:nvSpPr>
          <p:cNvPr id="15" name="Text 13"/>
          <p:cNvSpPr txBox="1"/>
          <p:nvPr/>
        </p:nvSpPr>
        <p:spPr>
          <a:xfrm>
            <a:off x="6812280" y="4069080"/>
            <a:ext cx="4526280" cy="822960"/>
          </a:xfrm>
          <a:prstGeom prst="rect">
            <a:avLst/>
          </a:prstGeom>
          <a:noFill/>
          <a:ln/>
        </p:spPr>
        <p:txBody>
          <a:bodyPr wrap="square" lIns="635" tIns="635" rIns="635" bIns="635" rtlCol="0" anchor="ctr"/>
          <a:lstStyle/>
          <a:p>
            <a:pPr indent="0" marL="0">
              <a:spcAft>
                <a:spcPts val="200"/>
              </a:spcAft>
              <a:buNone/>
            </a:pPr>
            <a:r>
              <a:rPr lang="en-US" sz="1500" b="1" dirty="0">
                <a:solidFill>
                  <a:srgbClr val="00553A"/>
                </a:solidFill>
              </a:rPr>
              <a:t>One ISO3 code → a public, traceable dashboard</a:t>
            </a:r>
            <a:endParaRPr lang="en-US" sz="1500" dirty="0"/>
          </a:p>
        </p:txBody>
      </p:sp>
      <p:sp>
        <p:nvSpPr>
          <p:cNvPr id="16" name="Text 14"/>
          <p:cNvSpPr txBox="1"/>
          <p:nvPr/>
        </p:nvSpPr>
        <p:spPr>
          <a:xfrm>
            <a:off x="685800" y="5486400"/>
            <a:ext cx="10789920" cy="365760"/>
          </a:xfrm>
          <a:prstGeom prst="rect">
            <a:avLst/>
          </a:prstGeom>
          <a:noFill/>
          <a:ln/>
        </p:spPr>
        <p:txBody>
          <a:bodyPr wrap="square" lIns="635" tIns="635" rIns="635" bIns="635" rtlCol="0" anchor="t"/>
          <a:lstStyle/>
          <a:p>
            <a:pPr indent="0" marL="0">
              <a:spcAft>
                <a:spcPts val="200"/>
              </a:spcAft>
              <a:buNone/>
            </a:pPr>
            <a:r>
              <a:rPr lang="en-US" sz="1400" dirty="0">
                <a:solidFill>
                  <a:srgbClr val="CFEEDE"/>
                </a:solidFill>
              </a:rPr>
              <a:t>African Development Bank – Data Innovation for Africa (DI4A)</a:t>
            </a:r>
            <a:endParaRPr lang="en-US" sz="1400" dirty="0"/>
          </a:p>
        </p:txBody>
      </p:sp>
      <p:sp>
        <p:nvSpPr>
          <p:cNvPr id="17" name="Text 15"/>
          <p:cNvSpPr txBox="1"/>
          <p:nvPr/>
        </p:nvSpPr>
        <p:spPr>
          <a:xfrm>
            <a:off x="685800" y="5897880"/>
            <a:ext cx="10789920" cy="320040"/>
          </a:xfrm>
          <a:prstGeom prst="rect">
            <a:avLst/>
          </a:prstGeom>
          <a:noFill/>
          <a:ln/>
        </p:spPr>
        <p:txBody>
          <a:bodyPr wrap="square" lIns="635" tIns="635" rIns="635" bIns="635" rtlCol="0" anchor="t"/>
          <a:lstStyle/>
          <a:p>
            <a:pPr indent="0" marL="0">
              <a:spcAft>
                <a:spcPts val="200"/>
              </a:spcAft>
              <a:buNone/>
            </a:pPr>
            <a:r>
              <a:rPr lang="en-US" sz="1200" i="1" dirty="0">
                <a:solidFill>
                  <a:srgbClr val="CFEEDE"/>
                </a:solidFill>
              </a:rPr>
              <a:t>Night-time lights in practice · Analysis notebook “NTL hands-on, part 3”</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EDE"/>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 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Glossary of acronyms (1/2)</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1920240"/>
                <a:gridCol w="5120640"/>
                <a:gridCol w="4069080"/>
              </a:tblGrid>
              <a:tr h="265176">
                <a:tc>
                  <a:txBody>
                    <a:bodyPr/>
                    <a:lstStyle/>
                    <a:p>
                      <a:pPr indent="0" marL="0">
                        <a:buNone/>
                      </a:pPr>
                      <a:r>
                        <a:rPr lang="en-US" sz="1200" b="1" dirty="0">
                          <a:solidFill>
                            <a:srgbClr val="FFFFFF"/>
                          </a:solidFill>
                        </a:rPr>
                        <a:t>Acronym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Full form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Meaning here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r>
              <a:tr h="265176">
                <a:tc>
                  <a:txBody>
                    <a:bodyPr/>
                    <a:lstStyle/>
                    <a:p>
                      <a:pPr indent="0" marL="0">
                        <a:buNone/>
                      </a:pPr>
                      <a:r>
                        <a:rPr lang="en-US" sz="1200" b="1" dirty="0">
                          <a:solidFill>
                            <a:srgbClr val="1F4E8C"/>
                          </a:solidFill>
                        </a:rPr>
                        <a:t>AfDB / BAD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African Development Bank</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institution behind DI4A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DI4A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Data Innovation for Africa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AfDB data-innovation programme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NTL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Night-Time Lights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night-time lights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VIIRS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Visible Infrared Imaging Radiometer Suite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sensor on Suomi-NPP and NOAA-20</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DNB</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Day/Night Band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VIIRS band sensitive to faint light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DMSP-OLS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Defense Meteorological Satellite Program – Operational Linescan System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older sensor (1992–2013)</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VNL V2</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VIIRS Nighttime Lights, version 2</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EOG annual composites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VNP46A1–A4</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NASA Black Marble products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A2 daily, A3 monthly, A4 annual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EOG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Earth Observation Group (Colorado School of Mines)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producer of VIIRS composites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BRDF</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Bidirectional Reflectance Distribution Function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viewing-angle correction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GEE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Google Earth Engine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geospatial computing platform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ISO3</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ISO 3166-1 alpha-3</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three-letter country code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ADM0 / 1 / 2</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administrative levels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country / regions / districts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SoL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Sum of Lights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sum of a unit's radiances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cf_cvg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cloud-free coverage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number of cloud-free observations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GHSL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Global Human Settlement Layer (JRC)</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population (GHS-POP), urbanisation (GHS-SMOD)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bl>
          </a:graphicData>
        </a:graphic>
      </p:graphicFrame>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 A</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Glossary of acronyms (2/2)</a:t>
            </a:r>
            <a:endParaRPr lang="en-US" sz="28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a:tblGrid>
                <a:gridCol w="1920240"/>
                <a:gridCol w="5120640"/>
                <a:gridCol w="4069080"/>
              </a:tblGrid>
              <a:tr h="265176">
                <a:tc>
                  <a:txBody>
                    <a:bodyPr/>
                    <a:lstStyle/>
                    <a:p>
                      <a:pPr indent="0" marL="0">
                        <a:buNone/>
                      </a:pPr>
                      <a:r>
                        <a:rPr lang="en-US" sz="1200" b="1" dirty="0">
                          <a:solidFill>
                            <a:srgbClr val="FFFFFF"/>
                          </a:solidFill>
                        </a:rPr>
                        <a:t>Acronym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Full form</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c>
                  <a:txBody>
                    <a:bodyPr/>
                    <a:lstStyle/>
                    <a:p>
                      <a:pPr indent="0" marL="0">
                        <a:buNone/>
                      </a:pPr>
                      <a:r>
                        <a:rPr lang="en-US" sz="1200" b="1" dirty="0">
                          <a:solidFill>
                            <a:srgbClr val="FFFFFF"/>
                          </a:solidFill>
                        </a:rPr>
                        <a:t>Meaning here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00553A"/>
                    </a:solidFill>
                  </a:tcPr>
                </a:tc>
              </a:tr>
              <a:tr h="265176">
                <a:tc>
                  <a:txBody>
                    <a:bodyPr/>
                    <a:lstStyle/>
                    <a:p>
                      <a:pPr indent="0" marL="0">
                        <a:buNone/>
                      </a:pPr>
                      <a:r>
                        <a:rPr lang="en-US" sz="1200" b="1" dirty="0">
                          <a:solidFill>
                            <a:srgbClr val="1F4E8C"/>
                          </a:solidFill>
                        </a:rPr>
                        <a:t>S5P · NO₂</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Sentinel-5P · nitrogen dioxide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industrial activity indicator</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WDI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World Development Indicators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World Bank database (GDP, access)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PIB / GDP</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Gross Domestic Product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constant 2015 USD here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STL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Seasonal-Trend decomposition using Loess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trend + season + remainder</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Loess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LOcally Estimated Scatterplot Smoothing</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smoothing by local regressions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MCO / OLS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Ordinary Least Squares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classic linear regression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HAC</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Heteroskedasticity and Autocorrelation Consistent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Newey–West standard errors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IC / CI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Confidence Interval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95% here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MAD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Median Absolute Deviation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robust dispersion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BIC</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Bayesian Information Criterion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penalty against over-segmentation</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HHI</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Herfindahl–Hirschman Index</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concentration index</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LOO</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Leave-One-Out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validation leaving one year out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ACLED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Armed Conflict Location &amp; Event Data</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conflict event database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EM-DAT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Emergency Events Database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disaster database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GAUL</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Global Administrative Unit Layers (FAO)</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administrative boundaries (fallback)</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r h="265176">
                <a:tc>
                  <a:txBody>
                    <a:bodyPr/>
                    <a:lstStyle/>
                    <a:p>
                      <a:pPr indent="0" marL="0">
                        <a:buNone/>
                      </a:pPr>
                      <a:r>
                        <a:rPr lang="en-US" sz="1200" b="1" dirty="0">
                          <a:solidFill>
                            <a:srgbClr val="1F4E8C"/>
                          </a:solidFill>
                        </a:rPr>
                        <a:t>PAT</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Personal Access Token (GitHub)</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c>
                  <a:txBody>
                    <a:bodyPr/>
                    <a:lstStyle/>
                    <a:p>
                      <a:pPr indent="0" marL="0">
                        <a:buNone/>
                      </a:pPr>
                      <a:r>
                        <a:rPr lang="en-US" sz="1200" dirty="0">
                          <a:solidFill>
                            <a:srgbClr val="231F20"/>
                          </a:solidFill>
                        </a:rPr>
                        <a:t>access token used to publish</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FFFFF"/>
                    </a:solidFill>
                  </a:tcPr>
                </a:tc>
              </a:tr>
              <a:tr h="265176">
                <a:tc>
                  <a:txBody>
                    <a:bodyPr/>
                    <a:lstStyle/>
                    <a:p>
                      <a:pPr indent="0" marL="0">
                        <a:buNone/>
                      </a:pPr>
                      <a:r>
                        <a:rPr lang="en-US" sz="1200" b="1" dirty="0">
                          <a:solidFill>
                            <a:srgbClr val="1F4E8C"/>
                          </a:solidFill>
                        </a:rPr>
                        <a:t>LED</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Light-Emitting Diode</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c>
                  <a:txBody>
                    <a:bodyPr/>
                    <a:lstStyle/>
                    <a:p>
                      <a:pPr indent="0" marL="0">
                        <a:buNone/>
                      </a:pPr>
                      <a:r>
                        <a:rPr lang="en-US" sz="1200" dirty="0">
                          <a:solidFill>
                            <a:srgbClr val="231F20"/>
                          </a:solidFill>
                        </a:rPr>
                        <a:t>lighting less visible to VIIRS</a:t>
                      </a:r>
                      <a:endParaRPr lang="en-US" sz="1200" dirty="0"/>
                    </a:p>
                  </a:txBody>
                  <a:tcPr marL="73152" marR="73152" marT="27432" marB="27432" anchor="ctr">
                    <a:lnL w="6350" cap="flat" cmpd="sng" algn="ctr">
                      <a:solidFill>
                        <a:srgbClr val="D5DED9"/>
                      </a:solidFill>
                      <a:prstDash val="solid"/>
                      <a:round/>
                      <a:headEnd type="none" w="med" len="med"/>
                      <a:tailEnd type="none" w="med" len="med"/>
                    </a:lnL>
                    <a:lnR w="6350" cap="flat" cmpd="sng" algn="ctr">
                      <a:solidFill>
                        <a:srgbClr val="D5DED9"/>
                      </a:solidFill>
                      <a:prstDash val="solid"/>
                      <a:round/>
                      <a:headEnd type="none" w="med" len="med"/>
                      <a:tailEnd type="none" w="med" len="med"/>
                    </a:lnR>
                    <a:lnT w="6350" cap="flat" cmpd="sng" algn="ctr">
                      <a:solidFill>
                        <a:srgbClr val="D5DED9"/>
                      </a:solidFill>
                      <a:prstDash val="solid"/>
                      <a:round/>
                      <a:headEnd type="none" w="med" len="med"/>
                      <a:tailEnd type="none" w="med" len="med"/>
                    </a:lnT>
                    <a:lnB w="6350" cap="flat" cmpd="sng" algn="ctr">
                      <a:solidFill>
                        <a:srgbClr val="D5DED9"/>
                      </a:solidFill>
                      <a:prstDash val="solid"/>
                      <a:round/>
                      <a:headEnd type="none" w="med" len="med"/>
                      <a:tailEnd type="none" w="med" len="med"/>
                    </a:lnB>
                    <a:solidFill>
                      <a:srgbClr val="F4F7F5"/>
                    </a:solidFill>
                  </a:tcPr>
                </a:tc>
              </a:tr>
            </a:tbl>
          </a:graphicData>
        </a:graphic>
      </p:graphicFrame>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 B</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References and image sources</a:t>
            </a:r>
            <a:endParaRPr lang="en-US" sz="2800" dirty="0"/>
          </a:p>
        </p:txBody>
      </p:sp>
      <p:sp>
        <p:nvSpPr>
          <p:cNvPr id="4" name="Text 2"/>
          <p:cNvSpPr txBox="1"/>
          <p:nvPr/>
        </p:nvSpPr>
        <p:spPr>
          <a:xfrm>
            <a:off x="548640" y="1371600"/>
            <a:ext cx="6949440" cy="4754880"/>
          </a:xfrm>
          <a:prstGeom prst="rect">
            <a:avLst/>
          </a:prstGeom>
          <a:noFill/>
          <a:ln/>
        </p:spPr>
        <p:txBody>
          <a:bodyPr wrap="square" lIns="635" tIns="635" rIns="635" bIns="635" rtlCol="0" anchor="t"/>
          <a:lstStyle/>
          <a:p>
            <a:pPr marL="190500" indent="-190500">
              <a:spcAft>
                <a:spcPts val="700"/>
              </a:spcAft>
              <a:buSzPct val="100000"/>
              <a:buChar char="•"/>
            </a:pPr>
            <a:r>
              <a:rPr lang="en-US" sz="1250" dirty="0">
                <a:solidFill>
                  <a:srgbClr val="231F20"/>
                </a:solidFill>
              </a:rPr>
              <a:t>Chen, X., Nordhaus, W. D. (2011). Using luminosity data as a proxy for economic statistics. PNAS 108(21).</a:t>
            </a:r>
            <a:endParaRPr lang="en-US" sz="1250" dirty="0"/>
          </a:p>
          <a:p>
            <a:pPr marL="190500" indent="-190500">
              <a:spcAft>
                <a:spcPts val="700"/>
              </a:spcAft>
              <a:buSzPct val="100000"/>
              <a:buChar char="•"/>
            </a:pPr>
            <a:r>
              <a:rPr lang="en-US" sz="1250" dirty="0">
                <a:solidFill>
                  <a:srgbClr val="231F20"/>
                </a:solidFill>
              </a:rPr>
              <a:t>Henderson, J. V., Storeygard, A., Weil, D. N. (2012). Measuring economic growth from outer space. AER 102(2).</a:t>
            </a:r>
            <a:endParaRPr lang="en-US" sz="1250" dirty="0"/>
          </a:p>
          <a:p>
            <a:pPr marL="190500" indent="-190500">
              <a:spcAft>
                <a:spcPts val="700"/>
              </a:spcAft>
              <a:buSzPct val="100000"/>
              <a:buChar char="•"/>
            </a:pPr>
            <a:r>
              <a:rPr lang="en-US" sz="1250" dirty="0">
                <a:solidFill>
                  <a:srgbClr val="231F20"/>
                </a:solidFill>
              </a:rPr>
              <a:t>Elvidge, C. D. et al. (2017). VIIRS night-time lights. Int. J. Remote Sensing 38(21).</a:t>
            </a:r>
            <a:endParaRPr lang="en-US" sz="1250" dirty="0"/>
          </a:p>
          <a:p>
            <a:pPr marL="190500" indent="-190500">
              <a:spcAft>
                <a:spcPts val="700"/>
              </a:spcAft>
              <a:buSzPct val="100000"/>
              <a:buChar char="•"/>
            </a:pPr>
            <a:r>
              <a:rPr lang="en-US" sz="1250" dirty="0">
                <a:solidFill>
                  <a:srgbClr val="231F20"/>
                </a:solidFill>
              </a:rPr>
              <a:t>Elvidge, C. D. et al. (2021). Annual time series of global VIIRS nighttime lights. Remote Sensing 13(5).</a:t>
            </a:r>
            <a:endParaRPr lang="en-US" sz="1250" dirty="0"/>
          </a:p>
          <a:p>
            <a:pPr marL="190500" indent="-190500">
              <a:spcAft>
                <a:spcPts val="700"/>
              </a:spcAft>
              <a:buSzPct val="100000"/>
              <a:buChar char="•"/>
            </a:pPr>
            <a:r>
              <a:rPr lang="en-US" sz="1250" dirty="0">
                <a:solidFill>
                  <a:srgbClr val="231F20"/>
                </a:solidFill>
              </a:rPr>
              <a:t>Román, M. O. et al. (2018). NASA's Black Marble nighttime lights product suite. Remote Sensing of Environment 210.</a:t>
            </a:r>
            <a:endParaRPr lang="en-US" sz="1250" dirty="0"/>
          </a:p>
          <a:p>
            <a:pPr marL="190500" indent="-190500">
              <a:spcAft>
                <a:spcPts val="700"/>
              </a:spcAft>
              <a:buSzPct val="100000"/>
              <a:buChar char="•"/>
            </a:pPr>
            <a:r>
              <a:rPr lang="en-US" sz="1250" dirty="0">
                <a:solidFill>
                  <a:srgbClr val="231F20"/>
                </a:solidFill>
              </a:rPr>
              <a:t>Li, X. et al. (2020). A harmonized global nighttime light dataset 1992–2018. Scientific Data 7, 168.</a:t>
            </a:r>
            <a:endParaRPr lang="en-US" sz="1250" dirty="0"/>
          </a:p>
          <a:p>
            <a:pPr marL="190500" indent="-190500">
              <a:spcAft>
                <a:spcPts val="700"/>
              </a:spcAft>
              <a:buSzPct val="100000"/>
              <a:buChar char="•"/>
            </a:pPr>
            <a:r>
              <a:rPr lang="en-US" sz="1250" dirty="0">
                <a:solidFill>
                  <a:srgbClr val="231F20"/>
                </a:solidFill>
              </a:rPr>
              <a:t>Gibson, J. et al. (2021). Which night lights data should we use in economics, and where? JDE 149.</a:t>
            </a:r>
            <a:endParaRPr lang="en-US" sz="1250" dirty="0"/>
          </a:p>
          <a:p>
            <a:pPr marL="190500" indent="-190500">
              <a:spcAft>
                <a:spcPts val="700"/>
              </a:spcAft>
              <a:buSzPct val="100000"/>
              <a:buChar char="•"/>
            </a:pPr>
            <a:r>
              <a:rPr lang="en-US" sz="1250" dirty="0">
                <a:solidFill>
                  <a:srgbClr val="231F20"/>
                </a:solidFill>
              </a:rPr>
              <a:t>Cleveland, R. B. et al. (1990). STL: a seasonal-trend decomposition procedure based on Loess. JOS 6(1).</a:t>
            </a:r>
            <a:endParaRPr lang="en-US" sz="1250" dirty="0"/>
          </a:p>
          <a:p>
            <a:pPr marL="190500" indent="-190500">
              <a:spcAft>
                <a:spcPts val="700"/>
              </a:spcAft>
              <a:buSzPct val="100000"/>
              <a:buChar char="•"/>
            </a:pPr>
            <a:r>
              <a:rPr lang="en-US" sz="1250" dirty="0">
                <a:solidFill>
                  <a:srgbClr val="231F20"/>
                </a:solidFill>
              </a:rPr>
              <a:t>Schiavina, M. et al. (2023). GHS-POP R2023A. European Commission, JRC · Runfola, D. et al. (2020). geoBoundaries. PLoS ONE 15(4).</a:t>
            </a:r>
            <a:endParaRPr lang="en-US" sz="1250" dirty="0"/>
          </a:p>
        </p:txBody>
      </p:sp>
      <p:sp>
        <p:nvSpPr>
          <p:cNvPr id="5" name="Shape 3"/>
          <p:cNvSpPr/>
          <p:nvPr/>
        </p:nvSpPr>
        <p:spPr>
          <a:xfrm>
            <a:off x="7772400" y="1371600"/>
            <a:ext cx="3886200" cy="4754880"/>
          </a:xfrm>
          <a:prstGeom prst="roundRect">
            <a:avLst>
              <a:gd name="adj" fmla="val 2824"/>
            </a:avLst>
          </a:prstGeom>
          <a:solidFill>
            <a:srgbClr val="F4F7F5"/>
          </a:solidFill>
          <a:ln w="9525">
            <a:solidFill>
              <a:srgbClr val="F4F7F5"/>
            </a:solidFill>
            <a:prstDash val="solid"/>
          </a:ln>
        </p:spPr>
      </p:sp>
      <p:sp>
        <p:nvSpPr>
          <p:cNvPr id="6" name="Text 4"/>
          <p:cNvSpPr txBox="1"/>
          <p:nvPr/>
        </p:nvSpPr>
        <p:spPr>
          <a:xfrm>
            <a:off x="7955280" y="1463040"/>
            <a:ext cx="3566160" cy="365760"/>
          </a:xfrm>
          <a:prstGeom prst="rect">
            <a:avLst/>
          </a:prstGeom>
          <a:noFill/>
          <a:ln/>
        </p:spPr>
        <p:txBody>
          <a:bodyPr wrap="square" lIns="635" tIns="635" rIns="635" bIns="635" rtlCol="0" anchor="t"/>
          <a:lstStyle/>
          <a:p>
            <a:pPr indent="0" marL="0">
              <a:spcAft>
                <a:spcPts val="200"/>
              </a:spcAft>
              <a:buNone/>
            </a:pPr>
            <a:r>
              <a:rPr lang="en-US" sz="1500" b="1" dirty="0">
                <a:solidFill>
                  <a:srgbClr val="00553A"/>
                </a:solidFill>
              </a:rPr>
              <a:t>Image sources</a:t>
            </a:r>
            <a:endParaRPr lang="en-US" sz="1500" dirty="0"/>
          </a:p>
        </p:txBody>
      </p:sp>
      <p:sp>
        <p:nvSpPr>
          <p:cNvPr id="7" name="Text 5"/>
          <p:cNvSpPr txBox="1"/>
          <p:nvPr/>
        </p:nvSpPr>
        <p:spPr>
          <a:xfrm>
            <a:off x="7955280" y="1874520"/>
            <a:ext cx="3566160" cy="4160520"/>
          </a:xfrm>
          <a:prstGeom prst="rect">
            <a:avLst/>
          </a:prstGeom>
          <a:noFill/>
          <a:ln/>
        </p:spPr>
        <p:txBody>
          <a:bodyPr wrap="square" lIns="635" tIns="635" rIns="635" bIns="635" rtlCol="0" anchor="t"/>
          <a:lstStyle/>
          <a:p>
            <a:pPr indent="0" marL="0">
              <a:spcAft>
                <a:spcPts val="200"/>
              </a:spcAft>
              <a:buNone/>
            </a:pPr>
            <a:r>
              <a:rPr lang="en-US" sz="1200" b="1" dirty="0">
                <a:solidFill>
                  <a:srgbClr val="231F20"/>
                </a:solidFill>
              </a:rPr>
              <a:t>Real images</a:t>
            </a:r>
            <a:endParaRPr lang="en-US" sz="1200" dirty="0"/>
          </a:p>
          <a:p>
            <a:pPr indent="0" marL="0">
              <a:spcAft>
                <a:spcPts val="200"/>
              </a:spcAft>
              <a:buNone/>
            </a:pPr>
            <a:r>
              <a:rPr lang="en-US" sz="1200" dirty="0">
                <a:solidFill>
                  <a:srgbClr val="231F20"/>
                </a:solidFill>
              </a:rPr>
              <a:t>• NASA Black Marble (Ghana, Switzerland) via blackmarblepy, World Bank — MIT licence</a:t>
            </a:r>
            <a:endParaRPr lang="en-US" sz="1200" dirty="0"/>
          </a:p>
          <a:p>
            <a:pPr indent="0" marL="0">
              <a:spcAft>
                <a:spcPts val="200"/>
              </a:spcAft>
              <a:buNone/>
            </a:pPr>
            <a:r>
              <a:rPr lang="en-US" sz="1200" dirty="0">
                <a:solidFill>
                  <a:srgbClr val="231F20"/>
                </a:solidFill>
              </a:rPr>
              <a:t>• Mekong, Chicago, platforms: Open Nighttime Lights, World Bank — CC BY 4.0 (after Elvidge et al.; NASA Goddard)</a:t>
            </a:r>
            <a:endParaRPr lang="en-US" sz="1200" dirty="0"/>
          </a:p>
          <a:p>
            <a:pPr indent="0" marL="0">
              <a:spcAft>
                <a:spcPts val="200"/>
              </a:spcAft>
              <a:buNone/>
            </a:pPr>
            <a:r>
              <a:rPr lang="en-US" sz="1200" dirty="0">
                <a:solidFill>
                  <a:srgbClr val="231F20"/>
                </a:solidFill>
              </a:rPr>
              <a:t> </a:t>
            </a:r>
            <a:endParaRPr lang="en-US" sz="1200" dirty="0"/>
          </a:p>
          <a:p>
            <a:pPr indent="0" marL="0">
              <a:spcAft>
                <a:spcPts val="200"/>
              </a:spcAft>
              <a:buNone/>
            </a:pPr>
            <a:r>
              <a:rPr lang="en-US" sz="1200" b="1" dirty="0">
                <a:solidFill>
                  <a:srgbClr val="231F20"/>
                </a:solidFill>
              </a:rPr>
              <a:t>Teaching figures</a:t>
            </a:r>
            <a:endParaRPr lang="en-US" sz="1200" dirty="0"/>
          </a:p>
          <a:p>
            <a:pPr indent="0" marL="0">
              <a:spcAft>
                <a:spcPts val="200"/>
              </a:spcAft>
              <a:buNone/>
            </a:pPr>
            <a:r>
              <a:rPr lang="en-US" sz="1200" dirty="0">
                <a:solidFill>
                  <a:srgbClr val="231F20"/>
                </a:solidFill>
              </a:rPr>
              <a:t>• generated from simulated data, for illustration only; they describe no real country</a:t>
            </a:r>
            <a:endParaRPr lang="en-US" sz="1200" dirty="0"/>
          </a:p>
          <a:p>
            <a:pPr indent="0" marL="0">
              <a:spcAft>
                <a:spcPts val="200"/>
              </a:spcAft>
              <a:buNone/>
            </a:pPr>
            <a:r>
              <a:rPr lang="en-US" sz="1200" dirty="0">
                <a:solidFill>
                  <a:srgbClr val="231F20"/>
                </a:solidFill>
              </a:rPr>
              <a:t> </a:t>
            </a:r>
            <a:endParaRPr lang="en-US" sz="1200" dirty="0"/>
          </a:p>
          <a:p>
            <a:pPr indent="0" marL="0">
              <a:spcAft>
                <a:spcPts val="200"/>
              </a:spcAft>
              <a:buNone/>
            </a:pPr>
            <a:r>
              <a:rPr lang="en-US" sz="1200" b="1" dirty="0">
                <a:solidFill>
                  <a:srgbClr val="231F20"/>
                </a:solidFill>
              </a:rPr>
              <a:t>Methods and thresholds</a:t>
            </a:r>
            <a:endParaRPr lang="en-US" sz="1200" dirty="0"/>
          </a:p>
          <a:p>
            <a:pPr indent="0" marL="0">
              <a:spcAft>
                <a:spcPts val="200"/>
              </a:spcAft>
              <a:buNone/>
            </a:pPr>
            <a:r>
              <a:rPr lang="en-US" sz="1200" dirty="0">
                <a:solidFill>
                  <a:srgbClr val="231F20"/>
                </a:solidFill>
              </a:rPr>
              <a:t>• NTL hands-on part 3 notebook and src/ package (config.py)</a:t>
            </a:r>
            <a:endParaRPr lang="en-US" sz="120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p:nvPr>
            <p:ph idx="102" type="body" hasCustomPrompt="1"/>
          </p:nvPr>
        </p:nvSpPr>
        <p:spPr>
          <a:xfrm>
            <a:off x="548640" y="292608"/>
            <a:ext cx="10058400" cy="292608"/>
          </a:xfrm>
          <a:prstGeom prst="rect">
            <a:avLst/>
          </a:prstGeom>
          <a:noFill/>
          <a:ln/>
        </p:spPr>
        <p:txBody>
          <a:bodyPr wrap="square" lIns="0" tIns="0" rIns="0" bIns="0" rtlCol="0"/>
          <a:lstStyle/>
          <a:p>
            <a:pPr algn="l" indent="0" marL="0">
              <a:buNone/>
            </a:pPr>
            <a:r>
              <a:rPr lang="en-US" sz="1200" b="1" spc="200" kern="0" dirty="0">
                <a:solidFill>
                  <a:srgbClr val="B7791F"/>
                </a:solidFill>
              </a:rPr>
              <a:t>ANNEX C</a:t>
            </a:r>
            <a:endParaRPr lang="en-US" sz="1200" dirty="0"/>
          </a:p>
        </p:txBody>
      </p:sp>
      <p:sp>
        <p:nvSpPr>
          <p:cNvPr id="3" name="Text 2"/>
          <p:cNvSpPr/>
          <p:nvPr>
            <p:ph idx="103" type="title" hasCustomPrompt="1"/>
          </p:nvPr>
        </p:nvSpPr>
        <p:spPr>
          <a:xfrm>
            <a:off x="548640" y="566928"/>
            <a:ext cx="11064240" cy="658368"/>
          </a:xfrm>
          <a:prstGeom prst="rect">
            <a:avLst/>
          </a:prstGeom>
          <a:noFill/>
          <a:ln/>
        </p:spPr>
        <p:txBody>
          <a:bodyPr wrap="square" lIns="0" tIns="0" rIns="0" bIns="0" rtlCol="0" anchor="ctr"/>
          <a:lstStyle/>
          <a:p>
            <a:pPr algn="l" indent="0" marL="0">
              <a:buNone/>
            </a:pPr>
            <a:r>
              <a:rPr lang="en-US" sz="2800" b="1" dirty="0">
                <a:solidFill>
                  <a:srgbClr val="00553A"/>
                </a:solidFill>
              </a:rPr>
              <a:t>Cheat sheet: the metrics at a glance</a:t>
            </a:r>
            <a:endParaRPr lang="en-US" sz="2800" dirty="0"/>
          </a:p>
        </p:txBody>
      </p:sp>
      <p:sp>
        <p:nvSpPr>
          <p:cNvPr id="4" name="Shape 2"/>
          <p:cNvSpPr/>
          <p:nvPr/>
        </p:nvSpPr>
        <p:spPr>
          <a:xfrm>
            <a:off x="548640" y="1371600"/>
            <a:ext cx="2651760" cy="1481328"/>
          </a:xfrm>
          <a:prstGeom prst="roundRect">
            <a:avLst>
              <a:gd name="adj" fmla="val 7407"/>
            </a:avLst>
          </a:prstGeom>
          <a:solidFill>
            <a:srgbClr val="F4F7F5"/>
          </a:solidFill>
          <a:ln w="9525">
            <a:solidFill>
              <a:srgbClr val="F4F7F5"/>
            </a:solidFill>
            <a:prstDash val="solid"/>
          </a:ln>
        </p:spPr>
      </p:sp>
      <p:sp>
        <p:nvSpPr>
          <p:cNvPr id="5" name="Text 3"/>
          <p:cNvSpPr txBox="1"/>
          <p:nvPr/>
        </p:nvSpPr>
        <p:spPr>
          <a:xfrm>
            <a:off x="658368"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SoL</a:t>
            </a:r>
            <a:endParaRPr lang="en-US" sz="1400" dirty="0"/>
          </a:p>
        </p:txBody>
      </p:sp>
      <p:sp>
        <p:nvSpPr>
          <p:cNvPr id="6" name="Text 4"/>
          <p:cNvSpPr txBox="1"/>
          <p:nvPr/>
        </p:nvSpPr>
        <p:spPr>
          <a:xfrm>
            <a:off x="658368"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Σ rᵢ</a:t>
            </a:r>
            <a:endParaRPr lang="en-US" sz="1350" dirty="0"/>
          </a:p>
        </p:txBody>
      </p:sp>
      <p:sp>
        <p:nvSpPr>
          <p:cNvPr id="7" name="Text 5"/>
          <p:cNvSpPr txBox="1"/>
          <p:nvPr/>
        </p:nvSpPr>
        <p:spPr>
          <a:xfrm>
            <a:off x="658368"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activity index; also reason per capita</a:t>
            </a:r>
            <a:endParaRPr lang="en-US" sz="1150" dirty="0"/>
          </a:p>
        </p:txBody>
      </p:sp>
      <p:sp>
        <p:nvSpPr>
          <p:cNvPr id="8" name="Shape 6"/>
          <p:cNvSpPr/>
          <p:nvPr/>
        </p:nvSpPr>
        <p:spPr>
          <a:xfrm>
            <a:off x="3355848" y="1371600"/>
            <a:ext cx="2651760" cy="1481328"/>
          </a:xfrm>
          <a:prstGeom prst="roundRect">
            <a:avLst>
              <a:gd name="adj" fmla="val 7407"/>
            </a:avLst>
          </a:prstGeom>
          <a:solidFill>
            <a:srgbClr val="F4F7F5"/>
          </a:solidFill>
          <a:ln w="9525">
            <a:solidFill>
              <a:srgbClr val="F4F7F5"/>
            </a:solidFill>
            <a:prstDash val="solid"/>
          </a:ln>
        </p:spPr>
      </p:sp>
      <p:sp>
        <p:nvSpPr>
          <p:cNvPr id="9" name="Text 7"/>
          <p:cNvSpPr txBox="1"/>
          <p:nvPr/>
        </p:nvSpPr>
        <p:spPr>
          <a:xfrm>
            <a:off x="3465576"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STL</a:t>
            </a:r>
            <a:endParaRPr lang="en-US" sz="1400" dirty="0"/>
          </a:p>
        </p:txBody>
      </p:sp>
      <p:sp>
        <p:nvSpPr>
          <p:cNvPr id="10" name="Text 8"/>
          <p:cNvSpPr txBox="1"/>
          <p:nvPr/>
        </p:nvSpPr>
        <p:spPr>
          <a:xfrm>
            <a:off x="3465576"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log SoL = T + S + R</a:t>
            </a:r>
            <a:endParaRPr lang="en-US" sz="1350" dirty="0"/>
          </a:p>
        </p:txBody>
      </p:sp>
      <p:sp>
        <p:nvSpPr>
          <p:cNvPr id="11" name="Text 9"/>
          <p:cNvSpPr txBox="1"/>
          <p:nvPr/>
        </p:nvSpPr>
        <p:spPr>
          <a:xfrm>
            <a:off x="3465576"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read the seasonally adjusted series</a:t>
            </a:r>
            <a:endParaRPr lang="en-US" sz="1150" dirty="0"/>
          </a:p>
        </p:txBody>
      </p:sp>
      <p:sp>
        <p:nvSpPr>
          <p:cNvPr id="12" name="Shape 10"/>
          <p:cNvSpPr/>
          <p:nvPr/>
        </p:nvSpPr>
        <p:spPr>
          <a:xfrm>
            <a:off x="6163056" y="1371600"/>
            <a:ext cx="2651760" cy="1481328"/>
          </a:xfrm>
          <a:prstGeom prst="roundRect">
            <a:avLst>
              <a:gd name="adj" fmla="val 7407"/>
            </a:avLst>
          </a:prstGeom>
          <a:solidFill>
            <a:srgbClr val="F4F7F5"/>
          </a:solidFill>
          <a:ln w="9525">
            <a:solidFill>
              <a:srgbClr val="F4F7F5"/>
            </a:solidFill>
            <a:prstDash val="solid"/>
          </a:ln>
        </p:spPr>
      </p:sp>
      <p:sp>
        <p:nvSpPr>
          <p:cNvPr id="13" name="Text 11"/>
          <p:cNvSpPr txBox="1"/>
          <p:nvPr/>
        </p:nvSpPr>
        <p:spPr>
          <a:xfrm>
            <a:off x="6272784"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Theil–Sen</a:t>
            </a:r>
            <a:endParaRPr lang="en-US" sz="1400" dirty="0"/>
          </a:p>
        </p:txBody>
      </p:sp>
      <p:sp>
        <p:nvSpPr>
          <p:cNvPr id="14" name="Text 12"/>
          <p:cNvSpPr txBox="1"/>
          <p:nvPr/>
        </p:nvSpPr>
        <p:spPr>
          <a:xfrm>
            <a:off x="6272784"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median of slopes</a:t>
            </a:r>
            <a:endParaRPr lang="en-US" sz="1350" dirty="0"/>
          </a:p>
        </p:txBody>
      </p:sp>
      <p:sp>
        <p:nvSpPr>
          <p:cNvPr id="15" name="Text 13"/>
          <p:cNvSpPr txBox="1"/>
          <p:nvPr/>
        </p:nvSpPr>
        <p:spPr>
          <a:xfrm>
            <a:off x="6272784"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robust growth; class if ≥ 1%/yr and p &lt; 0.10</a:t>
            </a:r>
            <a:endParaRPr lang="en-US" sz="1150" dirty="0"/>
          </a:p>
        </p:txBody>
      </p:sp>
      <p:sp>
        <p:nvSpPr>
          <p:cNvPr id="16" name="Shape 14"/>
          <p:cNvSpPr/>
          <p:nvPr/>
        </p:nvSpPr>
        <p:spPr>
          <a:xfrm>
            <a:off x="8970264" y="1371600"/>
            <a:ext cx="2651760" cy="1481328"/>
          </a:xfrm>
          <a:prstGeom prst="roundRect">
            <a:avLst>
              <a:gd name="adj" fmla="val 7407"/>
            </a:avLst>
          </a:prstGeom>
          <a:solidFill>
            <a:srgbClr val="F4F7F5"/>
          </a:solidFill>
          <a:ln w="9525">
            <a:solidFill>
              <a:srgbClr val="F4F7F5"/>
            </a:solidFill>
            <a:prstDash val="solid"/>
          </a:ln>
        </p:spPr>
      </p:sp>
      <p:sp>
        <p:nvSpPr>
          <p:cNvPr id="17" name="Text 15"/>
          <p:cNvSpPr txBox="1"/>
          <p:nvPr/>
        </p:nvSpPr>
        <p:spPr>
          <a:xfrm>
            <a:off x="9079992" y="1426464"/>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β-convergence</a:t>
            </a:r>
            <a:endParaRPr lang="en-US" sz="1400" dirty="0"/>
          </a:p>
        </p:txBody>
      </p:sp>
      <p:sp>
        <p:nvSpPr>
          <p:cNvPr id="18" name="Text 16"/>
          <p:cNvSpPr txBox="1"/>
          <p:nvPr/>
        </p:nvSpPr>
        <p:spPr>
          <a:xfrm>
            <a:off x="9079992" y="1755648"/>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g = a + β log x₀</a:t>
            </a:r>
            <a:endParaRPr lang="en-US" sz="1350" dirty="0"/>
          </a:p>
        </p:txBody>
      </p:sp>
      <p:sp>
        <p:nvSpPr>
          <p:cNvPr id="19" name="Text 17"/>
          <p:cNvSpPr txBox="1"/>
          <p:nvPr/>
        </p:nvSpPr>
        <p:spPr>
          <a:xfrm>
            <a:off x="9079992" y="2157984"/>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β &lt; 0: catching up</a:t>
            </a:r>
            <a:endParaRPr lang="en-US" sz="1150" dirty="0"/>
          </a:p>
        </p:txBody>
      </p:sp>
      <p:sp>
        <p:nvSpPr>
          <p:cNvPr id="20" name="Shape 18"/>
          <p:cNvSpPr/>
          <p:nvPr/>
        </p:nvSpPr>
        <p:spPr>
          <a:xfrm>
            <a:off x="548640" y="2999232"/>
            <a:ext cx="2651760" cy="1481328"/>
          </a:xfrm>
          <a:prstGeom prst="roundRect">
            <a:avLst>
              <a:gd name="adj" fmla="val 7407"/>
            </a:avLst>
          </a:prstGeom>
          <a:solidFill>
            <a:srgbClr val="EAF2FB"/>
          </a:solidFill>
          <a:ln w="9525">
            <a:solidFill>
              <a:srgbClr val="EAF2FB"/>
            </a:solidFill>
            <a:prstDash val="solid"/>
          </a:ln>
        </p:spPr>
      </p:sp>
      <p:sp>
        <p:nvSpPr>
          <p:cNvPr id="21" name="Text 19"/>
          <p:cNvSpPr txBox="1"/>
          <p:nvPr/>
        </p:nvSpPr>
        <p:spPr>
          <a:xfrm>
            <a:off x="658368"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HHI</a:t>
            </a:r>
            <a:endParaRPr lang="en-US" sz="1400" dirty="0"/>
          </a:p>
        </p:txBody>
      </p:sp>
      <p:sp>
        <p:nvSpPr>
          <p:cNvPr id="22" name="Text 20"/>
          <p:cNvSpPr txBox="1"/>
          <p:nvPr/>
        </p:nvSpPr>
        <p:spPr>
          <a:xfrm>
            <a:off x="658368"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Σ sᵢ²</a:t>
            </a:r>
            <a:endParaRPr lang="en-US" sz="1350" dirty="0"/>
          </a:p>
        </p:txBody>
      </p:sp>
      <p:sp>
        <p:nvSpPr>
          <p:cNvPr id="23" name="Text 21"/>
          <p:cNvSpPr txBox="1"/>
          <p:nvPr/>
        </p:nvSpPr>
        <p:spPr>
          <a:xfrm>
            <a:off x="658368"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concentration; 1 = a single unit</a:t>
            </a:r>
            <a:endParaRPr lang="en-US" sz="1150" dirty="0"/>
          </a:p>
        </p:txBody>
      </p:sp>
      <p:sp>
        <p:nvSpPr>
          <p:cNvPr id="24" name="Shape 22"/>
          <p:cNvSpPr/>
          <p:nvPr/>
        </p:nvSpPr>
        <p:spPr>
          <a:xfrm>
            <a:off x="3355848" y="2999232"/>
            <a:ext cx="2651760" cy="1481328"/>
          </a:xfrm>
          <a:prstGeom prst="roundRect">
            <a:avLst>
              <a:gd name="adj" fmla="val 7407"/>
            </a:avLst>
          </a:prstGeom>
          <a:solidFill>
            <a:srgbClr val="EAF2FB"/>
          </a:solidFill>
          <a:ln w="9525">
            <a:solidFill>
              <a:srgbClr val="EAF2FB"/>
            </a:solidFill>
            <a:prstDash val="solid"/>
          </a:ln>
        </p:spPr>
      </p:sp>
      <p:sp>
        <p:nvSpPr>
          <p:cNvPr id="25" name="Text 23"/>
          <p:cNvSpPr txBox="1"/>
          <p:nvPr/>
        </p:nvSpPr>
        <p:spPr>
          <a:xfrm>
            <a:off x="3465576"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Elasticity</a:t>
            </a:r>
            <a:endParaRPr lang="en-US" sz="1400" dirty="0"/>
          </a:p>
        </p:txBody>
      </p:sp>
      <p:sp>
        <p:nvSpPr>
          <p:cNvPr id="26" name="Text 24"/>
          <p:cNvSpPr txBox="1"/>
          <p:nvPr/>
        </p:nvSpPr>
        <p:spPr>
          <a:xfrm>
            <a:off x="3465576"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log NTL = α + β log GDP</a:t>
            </a:r>
            <a:endParaRPr lang="en-US" sz="1350" dirty="0"/>
          </a:p>
        </p:txBody>
      </p:sp>
      <p:sp>
        <p:nvSpPr>
          <p:cNvPr id="27" name="Text 25"/>
          <p:cNvSpPr txBox="1"/>
          <p:nvPr/>
        </p:nvSpPr>
        <p:spPr>
          <a:xfrm>
            <a:off x="3465576"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compare levels and growth; read the CI</a:t>
            </a:r>
            <a:endParaRPr lang="en-US" sz="1150" dirty="0"/>
          </a:p>
        </p:txBody>
      </p:sp>
      <p:sp>
        <p:nvSpPr>
          <p:cNvPr id="28" name="Shape 26"/>
          <p:cNvSpPr/>
          <p:nvPr/>
        </p:nvSpPr>
        <p:spPr>
          <a:xfrm>
            <a:off x="6163056" y="2999232"/>
            <a:ext cx="2651760" cy="1481328"/>
          </a:xfrm>
          <a:prstGeom prst="roundRect">
            <a:avLst>
              <a:gd name="adj" fmla="val 7407"/>
            </a:avLst>
          </a:prstGeom>
          <a:solidFill>
            <a:srgbClr val="EAF2FB"/>
          </a:solidFill>
          <a:ln w="9525">
            <a:solidFill>
              <a:srgbClr val="EAF2FB"/>
            </a:solidFill>
            <a:prstDash val="solid"/>
          </a:ln>
        </p:spPr>
      </p:sp>
      <p:sp>
        <p:nvSpPr>
          <p:cNvPr id="29" name="Text 27"/>
          <p:cNvSpPr txBox="1"/>
          <p:nvPr/>
        </p:nvSpPr>
        <p:spPr>
          <a:xfrm>
            <a:off x="6272784"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Nowcast</a:t>
            </a:r>
            <a:endParaRPr lang="en-US" sz="1400" dirty="0"/>
          </a:p>
        </p:txBody>
      </p:sp>
      <p:sp>
        <p:nvSpPr>
          <p:cNvPr id="30" name="Text 28"/>
          <p:cNvSpPr txBox="1"/>
          <p:nvPr/>
        </p:nvSpPr>
        <p:spPr>
          <a:xfrm>
            <a:off x="6272784"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Δlog GDP = a + γ Δlog NTL</a:t>
            </a:r>
            <a:endParaRPr lang="en-US" sz="1350" dirty="0"/>
          </a:p>
        </p:txBody>
      </p:sp>
      <p:sp>
        <p:nvSpPr>
          <p:cNvPr id="31" name="Text 29"/>
          <p:cNvSpPr txBox="1"/>
          <p:nvPr/>
        </p:nvSpPr>
        <p:spPr>
          <a:xfrm>
            <a:off x="6272784"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experimental statistic, 80% interval</a:t>
            </a:r>
            <a:endParaRPr lang="en-US" sz="1150" dirty="0"/>
          </a:p>
        </p:txBody>
      </p:sp>
      <p:sp>
        <p:nvSpPr>
          <p:cNvPr id="32" name="Shape 30"/>
          <p:cNvSpPr/>
          <p:nvPr/>
        </p:nvSpPr>
        <p:spPr>
          <a:xfrm>
            <a:off x="8970264" y="2999232"/>
            <a:ext cx="2651760" cy="1481328"/>
          </a:xfrm>
          <a:prstGeom prst="roundRect">
            <a:avLst>
              <a:gd name="adj" fmla="val 7407"/>
            </a:avLst>
          </a:prstGeom>
          <a:solidFill>
            <a:srgbClr val="EAF2FB"/>
          </a:solidFill>
          <a:ln w="9525">
            <a:solidFill>
              <a:srgbClr val="EAF2FB"/>
            </a:solidFill>
            <a:prstDash val="solid"/>
          </a:ln>
        </p:spPr>
      </p:sp>
      <p:sp>
        <p:nvSpPr>
          <p:cNvPr id="33" name="Text 31"/>
          <p:cNvSpPr txBox="1"/>
          <p:nvPr/>
        </p:nvSpPr>
        <p:spPr>
          <a:xfrm>
            <a:off x="9079992" y="3054096"/>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Anomaly</a:t>
            </a:r>
            <a:endParaRPr lang="en-US" sz="1400" dirty="0"/>
          </a:p>
        </p:txBody>
      </p:sp>
      <p:sp>
        <p:nvSpPr>
          <p:cNvPr id="34" name="Text 32"/>
          <p:cNvSpPr txBox="1"/>
          <p:nvPr/>
        </p:nvSpPr>
        <p:spPr>
          <a:xfrm>
            <a:off x="9079992" y="3383280"/>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|z| ≥ 3.5 ; ≥ 5 %</a:t>
            </a:r>
            <a:endParaRPr lang="en-US" sz="1350" dirty="0"/>
          </a:p>
        </p:txBody>
      </p:sp>
      <p:sp>
        <p:nvSpPr>
          <p:cNvPr id="35" name="Text 33"/>
          <p:cNvSpPr txBox="1"/>
          <p:nvPr/>
        </p:nvSpPr>
        <p:spPr>
          <a:xfrm>
            <a:off x="9079992" y="3785616"/>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robust z (median, MAD) on the STL remainder</a:t>
            </a:r>
            <a:endParaRPr lang="en-US" sz="1150" dirty="0"/>
          </a:p>
        </p:txBody>
      </p:sp>
      <p:sp>
        <p:nvSpPr>
          <p:cNvPr id="36" name="Shape 34"/>
          <p:cNvSpPr/>
          <p:nvPr/>
        </p:nvSpPr>
        <p:spPr>
          <a:xfrm>
            <a:off x="548640" y="4626864"/>
            <a:ext cx="2651760" cy="1481328"/>
          </a:xfrm>
          <a:prstGeom prst="roundRect">
            <a:avLst>
              <a:gd name="adj" fmla="val 7407"/>
            </a:avLst>
          </a:prstGeom>
          <a:solidFill>
            <a:srgbClr val="F4F7F5"/>
          </a:solidFill>
          <a:ln w="9525">
            <a:solidFill>
              <a:srgbClr val="F4F7F5"/>
            </a:solidFill>
            <a:prstDash val="solid"/>
          </a:ln>
        </p:spPr>
      </p:sp>
      <p:sp>
        <p:nvSpPr>
          <p:cNvPr id="37" name="Text 35"/>
          <p:cNvSpPr txBox="1"/>
          <p:nvPr/>
        </p:nvSpPr>
        <p:spPr>
          <a:xfrm>
            <a:off x="658368"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Trough</a:t>
            </a:r>
            <a:endParaRPr lang="en-US" sz="1400" dirty="0"/>
          </a:p>
        </p:txBody>
      </p:sp>
      <p:sp>
        <p:nvSpPr>
          <p:cNvPr id="38" name="Text 36"/>
          <p:cNvSpPr txBox="1"/>
          <p:nvPr/>
        </p:nvSpPr>
        <p:spPr>
          <a:xfrm>
            <a:off x="658368"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max. gap / 12 months before</a:t>
            </a:r>
            <a:endParaRPr lang="en-US" sz="1350" dirty="0"/>
          </a:p>
        </p:txBody>
      </p:sp>
      <p:sp>
        <p:nvSpPr>
          <p:cNvPr id="39" name="Text 37"/>
          <p:cNvSpPr txBox="1"/>
          <p:nvPr/>
        </p:nvSpPr>
        <p:spPr>
          <a:xfrm>
            <a:off x="658368"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 months to recovery</a:t>
            </a:r>
            <a:endParaRPr lang="en-US" sz="1150" dirty="0"/>
          </a:p>
        </p:txBody>
      </p:sp>
      <p:sp>
        <p:nvSpPr>
          <p:cNvPr id="40" name="Shape 38"/>
          <p:cNvSpPr/>
          <p:nvPr/>
        </p:nvSpPr>
        <p:spPr>
          <a:xfrm>
            <a:off x="3355848" y="4626864"/>
            <a:ext cx="2651760" cy="1481328"/>
          </a:xfrm>
          <a:prstGeom prst="roundRect">
            <a:avLst>
              <a:gd name="adj" fmla="val 7407"/>
            </a:avLst>
          </a:prstGeom>
          <a:solidFill>
            <a:srgbClr val="F4F7F5"/>
          </a:solidFill>
          <a:ln w="9525">
            <a:solidFill>
              <a:srgbClr val="F4F7F5"/>
            </a:solidFill>
            <a:prstDash val="solid"/>
          </a:ln>
        </p:spPr>
      </p:sp>
      <p:sp>
        <p:nvSpPr>
          <p:cNvPr id="41" name="Text 39"/>
          <p:cNvSpPr txBox="1"/>
          <p:nvPr/>
        </p:nvSpPr>
        <p:spPr>
          <a:xfrm>
            <a:off x="3465576"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Gini</a:t>
            </a:r>
            <a:endParaRPr lang="en-US" sz="1400" dirty="0"/>
          </a:p>
        </p:txBody>
      </p:sp>
      <p:sp>
        <p:nvSpPr>
          <p:cNvPr id="42" name="Text 40"/>
          <p:cNvSpPr txBox="1"/>
          <p:nvPr/>
        </p:nvSpPr>
        <p:spPr>
          <a:xfrm>
            <a:off x="3465576"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A / (A + B)</a:t>
            </a:r>
            <a:endParaRPr lang="en-US" sz="1350" dirty="0"/>
          </a:p>
        </p:txBody>
      </p:sp>
      <p:sp>
        <p:nvSpPr>
          <p:cNvPr id="43" name="Text 41"/>
          <p:cNvSpPr txBox="1"/>
          <p:nvPr/>
        </p:nvSpPr>
        <p:spPr>
          <a:xfrm>
            <a:off x="3465576"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0 equality · 1 all in one unit</a:t>
            </a:r>
            <a:endParaRPr lang="en-US" sz="1150" dirty="0"/>
          </a:p>
        </p:txBody>
      </p:sp>
      <p:sp>
        <p:nvSpPr>
          <p:cNvPr id="44" name="Shape 42"/>
          <p:cNvSpPr/>
          <p:nvPr/>
        </p:nvSpPr>
        <p:spPr>
          <a:xfrm>
            <a:off x="6163056" y="4626864"/>
            <a:ext cx="2651760" cy="1481328"/>
          </a:xfrm>
          <a:prstGeom prst="roundRect">
            <a:avLst>
              <a:gd name="adj" fmla="val 7407"/>
            </a:avLst>
          </a:prstGeom>
          <a:solidFill>
            <a:srgbClr val="F4F7F5"/>
          </a:solidFill>
          <a:ln w="9525">
            <a:solidFill>
              <a:srgbClr val="F4F7F5"/>
            </a:solidFill>
            <a:prstDash val="solid"/>
          </a:ln>
        </p:spPr>
      </p:sp>
      <p:sp>
        <p:nvSpPr>
          <p:cNvPr id="45" name="Text 43"/>
          <p:cNvSpPr txBox="1"/>
          <p:nvPr/>
        </p:nvSpPr>
        <p:spPr>
          <a:xfrm>
            <a:off x="6272784"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Theil T</a:t>
            </a:r>
            <a:endParaRPr lang="en-US" sz="1400" dirty="0"/>
          </a:p>
        </p:txBody>
      </p:sp>
      <p:sp>
        <p:nvSpPr>
          <p:cNvPr id="46" name="Text 44"/>
          <p:cNvSpPr txBox="1"/>
          <p:nvPr/>
        </p:nvSpPr>
        <p:spPr>
          <a:xfrm>
            <a:off x="6272784"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between + within</a:t>
            </a:r>
            <a:endParaRPr lang="en-US" sz="1350" dirty="0"/>
          </a:p>
        </p:txBody>
      </p:sp>
      <p:sp>
        <p:nvSpPr>
          <p:cNvPr id="47" name="Text 45"/>
          <p:cNvSpPr txBox="1"/>
          <p:nvPr/>
        </p:nvSpPr>
        <p:spPr>
          <a:xfrm>
            <a:off x="6272784"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at which level to act?</a:t>
            </a:r>
            <a:endParaRPr lang="en-US" sz="1150" dirty="0"/>
          </a:p>
        </p:txBody>
      </p:sp>
      <p:sp>
        <p:nvSpPr>
          <p:cNvPr id="48" name="Shape 46"/>
          <p:cNvSpPr/>
          <p:nvPr/>
        </p:nvSpPr>
        <p:spPr>
          <a:xfrm>
            <a:off x="8970264" y="4626864"/>
            <a:ext cx="2651760" cy="1481328"/>
          </a:xfrm>
          <a:prstGeom prst="roundRect">
            <a:avLst>
              <a:gd name="adj" fmla="val 7407"/>
            </a:avLst>
          </a:prstGeom>
          <a:solidFill>
            <a:srgbClr val="F4F7F5"/>
          </a:solidFill>
          <a:ln w="9525">
            <a:solidFill>
              <a:srgbClr val="F4F7F5"/>
            </a:solidFill>
            <a:prstDash val="solid"/>
          </a:ln>
        </p:spPr>
      </p:sp>
      <p:sp>
        <p:nvSpPr>
          <p:cNvPr id="49" name="Text 47"/>
          <p:cNvSpPr txBox="1"/>
          <p:nvPr/>
        </p:nvSpPr>
        <p:spPr>
          <a:xfrm>
            <a:off x="9079992" y="4681728"/>
            <a:ext cx="2432304" cy="320040"/>
          </a:xfrm>
          <a:prstGeom prst="rect">
            <a:avLst/>
          </a:prstGeom>
          <a:noFill/>
          <a:ln/>
        </p:spPr>
        <p:txBody>
          <a:bodyPr wrap="square" lIns="635" tIns="635" rIns="635" bIns="635" rtlCol="0" anchor="t"/>
          <a:lstStyle/>
          <a:p>
            <a:pPr indent="0" marL="0">
              <a:spcAft>
                <a:spcPts val="200"/>
              </a:spcAft>
              <a:buNone/>
            </a:pPr>
            <a:r>
              <a:rPr lang="en-US" sz="1400" b="1" dirty="0">
                <a:solidFill>
                  <a:srgbClr val="00553A"/>
                </a:solidFill>
              </a:rPr>
              <a:t>In the dark</a:t>
            </a:r>
            <a:endParaRPr lang="en-US" sz="1400" dirty="0"/>
          </a:p>
        </p:txBody>
      </p:sp>
      <p:sp>
        <p:nvSpPr>
          <p:cNvPr id="50" name="Text 48"/>
          <p:cNvSpPr txBox="1"/>
          <p:nvPr/>
        </p:nvSpPr>
        <p:spPr>
          <a:xfrm>
            <a:off x="9079992" y="5010912"/>
            <a:ext cx="2432304" cy="384048"/>
          </a:xfrm>
          <a:prstGeom prst="rect">
            <a:avLst/>
          </a:prstGeom>
          <a:noFill/>
          <a:ln/>
        </p:spPr>
        <p:txBody>
          <a:bodyPr wrap="square" lIns="635" tIns="635" rIns="635" bIns="635" rtlCol="0" anchor="t"/>
          <a:lstStyle/>
          <a:p>
            <a:pPr indent="0" marL="0">
              <a:spcAft>
                <a:spcPts val="200"/>
              </a:spcAft>
              <a:buNone/>
            </a:pPr>
            <a:r>
              <a:rPr lang="en-US" sz="1350" dirty="0">
                <a:solidFill>
                  <a:srgbClr val="1F4E8C"/>
                </a:solidFill>
                <a:latin typeface="Cambria" pitchFamily="34" charset="0"/>
                <a:ea typeface="Cambria" pitchFamily="34" charset="-122"/>
                <a:cs typeface="Cambria" pitchFamily="34" charset="-120"/>
              </a:rPr>
              <a:t>pop. ≥ 5 · r &lt; 0.5 nW</a:t>
            </a:r>
            <a:endParaRPr lang="en-US" sz="1350" dirty="0"/>
          </a:p>
        </p:txBody>
      </p:sp>
      <p:sp>
        <p:nvSpPr>
          <p:cNvPr id="51" name="Text 49"/>
          <p:cNvSpPr txBox="1"/>
          <p:nvPr/>
        </p:nvSpPr>
        <p:spPr>
          <a:xfrm>
            <a:off x="9079992" y="5413248"/>
            <a:ext cx="2432304" cy="658368"/>
          </a:xfrm>
          <a:prstGeom prst="rect">
            <a:avLst/>
          </a:prstGeom>
          <a:noFill/>
          <a:ln/>
        </p:spPr>
        <p:txBody>
          <a:bodyPr wrap="square" lIns="635" tIns="635" rIns="635" bIns="635" rtlCol="0" anchor="t"/>
          <a:lstStyle/>
          <a:p>
            <a:pPr indent="0" marL="0">
              <a:spcAft>
                <a:spcPts val="200"/>
              </a:spcAft>
              <a:buNone/>
            </a:pPr>
            <a:r>
              <a:rPr lang="en-US" sz="1150" dirty="0">
                <a:solidFill>
                  <a:srgbClr val="231F20"/>
                </a:solidFill>
              </a:rPr>
              <a:t>publish a range (0.25–1 nW)</a:t>
            </a:r>
            <a:endParaRPr lang="en-US" sz="1150" dirty="0"/>
          </a:p>
        </p:txBody>
      </p:sp>
      <p:sp>
        <p:nvSpPr>
          <p:cNvPr id="25" name="Slide Number Placeholder 0"/>
          <p:cNvSpPr>
            <a:spLocks noGrp="1"/>
          </p:cNvSpPr>
          <p:nvPr>
            <p:ph type="sldNum" sz="quarter" idx="4294967295"/>
          </p:nvPr>
        </p:nvSpPr>
        <p:spPr>
          <a:xfrm>
            <a:off x="1129284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AfDB DI4A">
  <a:themeElements>
    <a:clrScheme name="AfDB DI4A">
      <a:dk1>
        <a:srgbClr val="231F20"/>
      </a:dk1>
      <a:lt1>
        <a:srgbClr val="FFFFFF"/>
      </a:lt1>
      <a:dk2>
        <a:srgbClr val="00553A"/>
      </a:dk2>
      <a:lt2>
        <a:srgbClr val="E8F5EF"/>
      </a:lt2>
      <a:accent1>
        <a:srgbClr val="00704A"/>
      </a:accent1>
      <a:accent2>
        <a:srgbClr val="F5C242"/>
      </a:accent2>
      <a:accent3>
        <a:srgbClr val="3F7FC7"/>
      </a:accent3>
      <a:accent4>
        <a:srgbClr val="1F4E8C"/>
      </a:accent4>
      <a:accent5>
        <a:srgbClr val="00A86A"/>
      </a:accent5>
      <a:accent6>
        <a:srgbClr val="D64545"/>
      </a:accent6>
      <a:hlink>
        <a:srgbClr val="1F4E8C"/>
      </a:hlink>
      <a:folHlink>
        <a:srgbClr val="3F7FC7"/>
      </a:folHlink>
    </a:clrScheme>
    <a:fontScheme name="AfDB DI4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African Development Bank – Data Innovation for Africa (DI4A)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Night-time lights in practice</dc:title>
  <dc:subject>Night-time lights in practice</dc:subject>
  <dc:creator>African Development Bank – Data Innovation for Africa (DI4A)</dc:creator>
  <cp:lastModifiedBy>African Development Bank – Data Innovation for Africa (DI4A)</cp:lastModifiedBy>
  <cp:revision>1</cp:revision>
  <dcterms:created xsi:type="dcterms:W3CDTF">2026-10-15T12:05:11Z</dcterms:created>
  <dcterms:modified xsi:type="dcterms:W3CDTF">2026-10-15T12:05:11Z</dcterms:modified>
</cp:coreProperties>
</file>