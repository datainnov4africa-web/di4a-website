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2.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35"/>
  </p:notesMasterIdLst>
  <p:sldIdLst>
    <p:sldId id="256" r:id="rId3"/>
    <p:sldId id="2147482887" r:id="rId4"/>
    <p:sldId id="260" r:id="rId5"/>
    <p:sldId id="261" r:id="rId6"/>
    <p:sldId id="262" r:id="rId7"/>
    <p:sldId id="263" r:id="rId8"/>
    <p:sldId id="2147482889" r:id="rId9"/>
    <p:sldId id="29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3" r:id="rId27"/>
    <p:sldId id="284" r:id="rId28"/>
    <p:sldId id="285" r:id="rId29"/>
    <p:sldId id="286" r:id="rId30"/>
    <p:sldId id="287" r:id="rId31"/>
    <p:sldId id="289" r:id="rId32"/>
    <p:sldId id="290" r:id="rId33"/>
    <p:sldId id="291" r:id="rId3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31F20"/>
                </a:solidFill>
                <a:latin typeface="Calibri"/>
              </a:defRPr>
            </a:pPr>
            <a:r>
              <a:rPr lang="en-US" sz="1100" b="0" i="0" u="none" strike="noStrike">
                <a:solidFill>
                  <a:srgbClr val="231F20"/>
                </a:solidFill>
                <a:latin typeface="Calibri"/>
              </a:rPr>
              <a:t>Sensor response to brightness (schematic)</a:t>
            </a:r>
          </a:p>
        </c:rich>
      </c:tx>
      <c:overlay val="0"/>
    </c:title>
    <c:autoTitleDeleted val="0"/>
    <c:plotArea>
      <c:layout/>
      <c:lineChart>
        <c:grouping val="standard"/>
        <c:varyColors val="0"/>
        <c:ser>
          <c:idx val="0"/>
          <c:order val="0"/>
          <c:tx>
            <c:strRef>
              <c:f>Sheet1!$B$1</c:f>
              <c:strCache>
                <c:ptCount val="1"/>
                <c:pt idx="0">
                  <c:v>DMSP-OLS (6 bits)</c:v>
                </c:pt>
              </c:strCache>
            </c:strRef>
          </c:tx>
          <c:spPr>
            <a:ln w="31750" cap="flat">
              <a:solidFill>
                <a:srgbClr val="A9B5B0"/>
              </a:solidFill>
              <a:prstDash val="solid"/>
              <a:round/>
            </a:ln>
            <a:effectLst/>
          </c:spPr>
          <c:marker>
            <c:symbol val="none"/>
          </c:marker>
          <c:cat>
            <c:strRef>
              <c:f>Sheet1!$A$2:$A$15</c:f>
              <c:strCache>
                <c:ptCount val="14"/>
                <c:pt idx="0">
                  <c:v>1</c:v>
                </c:pt>
                <c:pt idx="1">
                  <c:v>2</c:v>
                </c:pt>
                <c:pt idx="2">
                  <c:v>3</c:v>
                </c:pt>
                <c:pt idx="3">
                  <c:v>4</c:v>
                </c:pt>
                <c:pt idx="4">
                  <c:v>5</c:v>
                </c:pt>
                <c:pt idx="5">
                  <c:v>6</c:v>
                </c:pt>
                <c:pt idx="6">
                  <c:v>7</c:v>
                </c:pt>
                <c:pt idx="7">
                  <c:v>8</c:v>
                </c:pt>
                <c:pt idx="8">
                  <c:v>9</c:v>
                </c:pt>
                <c:pt idx="9">
                  <c:v>10</c:v>
                </c:pt>
                <c:pt idx="10">
                  <c:v>11</c:v>
                </c:pt>
                <c:pt idx="11">
                  <c:v>12</c:v>
                </c:pt>
                <c:pt idx="12">
                  <c:v>13</c:v>
                </c:pt>
                <c:pt idx="13">
                  <c:v>14</c:v>
                </c:pt>
              </c:strCache>
            </c:strRef>
          </c:cat>
          <c:val>
            <c:numRef>
              <c:f>Sheet1!$B$2:$B$15</c:f>
              <c:numCache>
                <c:formatCode>General</c:formatCode>
                <c:ptCount val="14"/>
                <c:pt idx="0">
                  <c:v>18</c:v>
                </c:pt>
                <c:pt idx="1">
                  <c:v>36</c:v>
                </c:pt>
                <c:pt idx="2">
                  <c:v>55</c:v>
                </c:pt>
                <c:pt idx="3">
                  <c:v>73</c:v>
                </c:pt>
                <c:pt idx="4">
                  <c:v>91</c:v>
                </c:pt>
                <c:pt idx="5">
                  <c:v>100</c:v>
                </c:pt>
                <c:pt idx="6">
                  <c:v>100</c:v>
                </c:pt>
                <c:pt idx="7">
                  <c:v>100</c:v>
                </c:pt>
                <c:pt idx="8">
                  <c:v>100</c:v>
                </c:pt>
                <c:pt idx="9">
                  <c:v>100</c:v>
                </c:pt>
                <c:pt idx="10">
                  <c:v>100</c:v>
                </c:pt>
                <c:pt idx="11">
                  <c:v>100</c:v>
                </c:pt>
                <c:pt idx="12">
                  <c:v>100</c:v>
                </c:pt>
                <c:pt idx="13">
                  <c:v>100</c:v>
                </c:pt>
              </c:numCache>
            </c:numRef>
          </c:val>
          <c:smooth val="0"/>
          <c:extLst>
            <c:ext xmlns:c16="http://schemas.microsoft.com/office/drawing/2014/chart" uri="{C3380CC4-5D6E-409C-BE32-E72D297353CC}">
              <c16:uniqueId val="{00000000-2590-4B10-BCE6-CFCFD28D085F}"/>
            </c:ext>
          </c:extLst>
        </c:ser>
        <c:ser>
          <c:idx val="1"/>
          <c:order val="1"/>
          <c:tx>
            <c:strRef>
              <c:f>Sheet1!$C$1</c:f>
              <c:strCache>
                <c:ptCount val="1"/>
                <c:pt idx="0">
                  <c:v>VIIRS DNB (14 bits)</c:v>
                </c:pt>
              </c:strCache>
            </c:strRef>
          </c:tx>
          <c:spPr>
            <a:ln w="31750" cap="flat">
              <a:solidFill>
                <a:srgbClr val="00A86A"/>
              </a:solidFill>
              <a:prstDash val="solid"/>
              <a:round/>
            </a:ln>
            <a:effectLst/>
          </c:spPr>
          <c:marker>
            <c:symbol val="none"/>
          </c:marker>
          <c:cat>
            <c:strRef>
              <c:f>Sheet1!$A$2:$A$15</c:f>
              <c:strCache>
                <c:ptCount val="14"/>
                <c:pt idx="0">
                  <c:v>1</c:v>
                </c:pt>
                <c:pt idx="1">
                  <c:v>2</c:v>
                </c:pt>
                <c:pt idx="2">
                  <c:v>3</c:v>
                </c:pt>
                <c:pt idx="3">
                  <c:v>4</c:v>
                </c:pt>
                <c:pt idx="4">
                  <c:v>5</c:v>
                </c:pt>
                <c:pt idx="5">
                  <c:v>6</c:v>
                </c:pt>
                <c:pt idx="6">
                  <c:v>7</c:v>
                </c:pt>
                <c:pt idx="7">
                  <c:v>8</c:v>
                </c:pt>
                <c:pt idx="8">
                  <c:v>9</c:v>
                </c:pt>
                <c:pt idx="9">
                  <c:v>10</c:v>
                </c:pt>
                <c:pt idx="10">
                  <c:v>11</c:v>
                </c:pt>
                <c:pt idx="11">
                  <c:v>12</c:v>
                </c:pt>
                <c:pt idx="12">
                  <c:v>13</c:v>
                </c:pt>
                <c:pt idx="13">
                  <c:v>14</c:v>
                </c:pt>
              </c:strCache>
            </c:strRef>
          </c:cat>
          <c:val>
            <c:numRef>
              <c:f>Sheet1!$C$2:$C$15</c:f>
              <c:numCache>
                <c:formatCode>General</c:formatCode>
                <c:ptCount val="14"/>
                <c:pt idx="0">
                  <c:v>7</c:v>
                </c:pt>
                <c:pt idx="1">
                  <c:v>14</c:v>
                </c:pt>
                <c:pt idx="2">
                  <c:v>21</c:v>
                </c:pt>
                <c:pt idx="3">
                  <c:v>29</c:v>
                </c:pt>
                <c:pt idx="4">
                  <c:v>36</c:v>
                </c:pt>
                <c:pt idx="5">
                  <c:v>43</c:v>
                </c:pt>
                <c:pt idx="6">
                  <c:v>50</c:v>
                </c:pt>
                <c:pt idx="7">
                  <c:v>57</c:v>
                </c:pt>
                <c:pt idx="8">
                  <c:v>64</c:v>
                </c:pt>
                <c:pt idx="9">
                  <c:v>71</c:v>
                </c:pt>
                <c:pt idx="10">
                  <c:v>79</c:v>
                </c:pt>
                <c:pt idx="11">
                  <c:v>86</c:v>
                </c:pt>
                <c:pt idx="12">
                  <c:v>93</c:v>
                </c:pt>
                <c:pt idx="13">
                  <c:v>100</c:v>
                </c:pt>
              </c:numCache>
            </c:numRef>
          </c:val>
          <c:smooth val="0"/>
          <c:extLst>
            <c:ext xmlns:c16="http://schemas.microsoft.com/office/drawing/2014/chart" uri="{C3380CC4-5D6E-409C-BE32-E72D297353CC}">
              <c16:uniqueId val="{00000001-2590-4B10-BCE6-CFCFD28D085F}"/>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900" b="0" i="0" u="none" strike="noStrike">
                    <a:solidFill>
                      <a:srgbClr val="5E6964"/>
                    </a:solidFill>
                    <a:latin typeface="Arial"/>
                  </a:defRPr>
                </a:pPr>
                <a:r>
                  <a:rPr lang="en-US" sz="900" b="0" i="0" u="none" strike="noStrike">
                    <a:solidFill>
                      <a:srgbClr val="5E6964"/>
                    </a:solidFill>
                    <a:latin typeface="Arial"/>
                  </a:rPr>
                  <a:t>Surface brightness (relative)</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E6964"/>
                </a:solidFill>
                <a:latin typeface="Arial"/>
              </a:defRPr>
            </a:pPr>
            <a:endParaRPr lang="en-US"/>
          </a:p>
        </c:txPr>
        <c:crossAx val="2094734552"/>
        <c:crosses val="autoZero"/>
        <c:auto val="1"/>
        <c:lblAlgn val="ctr"/>
        <c:lblOffset val="100"/>
        <c:noMultiLvlLbl val="1"/>
      </c:catAx>
      <c:valAx>
        <c:axId val="2094734552"/>
        <c:scaling>
          <c:orientation val="minMax"/>
          <c:max val="110"/>
          <c:min val="0"/>
        </c:scaling>
        <c:delete val="0"/>
        <c:axPos val="l"/>
        <c:majorGridlines>
          <c:spPr>
            <a:ln w="6350" cap="flat">
              <a:solidFill>
                <a:srgbClr val="E1E7E4"/>
              </a:solidFill>
              <a:prstDash val="solid"/>
              <a:round/>
            </a:ln>
          </c:spPr>
        </c:majorGridlines>
        <c:title>
          <c:tx>
            <c:rich>
              <a:bodyPr/>
              <a:lstStyle/>
              <a:p>
                <a:pPr>
                  <a:defRPr sz="900" b="0" i="0" u="none" strike="noStrike">
                    <a:solidFill>
                      <a:srgbClr val="5E6964"/>
                    </a:solidFill>
                    <a:latin typeface="Arial"/>
                  </a:defRPr>
                </a:pPr>
                <a:r>
                  <a:rPr lang="en-US" sz="900" b="0" i="0" u="none" strike="noStrike">
                    <a:solidFill>
                      <a:srgbClr val="5E6964"/>
                    </a:solidFill>
                    <a:latin typeface="Arial"/>
                  </a:rPr>
                  <a:t>Recorded value (% of max.)</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E6964"/>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5E6964"/>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50" b="0" i="0" u="none" strike="noStrike">
                <a:solidFill>
                  <a:srgbClr val="231F20"/>
                </a:solidFill>
                <a:latin typeface="Calibri"/>
              </a:defRPr>
            </a:pPr>
            <a:r>
              <a:rPr lang="en-US" sz="1050" b="0" i="0" u="none" strike="noStrike">
                <a:solidFill>
                  <a:srgbClr val="231F20"/>
                </a:solidFill>
                <a:latin typeface="Calibri"/>
              </a:rPr>
              <a:t>Rural sub-Saharan Africa without electricity (millions)</a:t>
            </a:r>
          </a:p>
        </c:rich>
      </c:tx>
      <c:overlay val="0"/>
    </c:title>
    <c:autoTitleDeleted val="0"/>
    <c:plotArea>
      <c:layout/>
      <c:barChart>
        <c:barDir val="col"/>
        <c:grouping val="clustered"/>
        <c:varyColors val="0"/>
        <c:ser>
          <c:idx val="0"/>
          <c:order val="0"/>
          <c:tx>
            <c:strRef>
              <c:f>Sheet1!$B$1</c:f>
              <c:strCache>
                <c:ptCount val="1"/>
                <c:pt idx="0">
                  <c:v>Rural population without electricity (millions)</c:v>
                </c:pt>
              </c:strCache>
            </c:strRef>
          </c:tx>
          <c:spPr>
            <a:solidFill>
              <a:srgbClr val="A9B5B0"/>
            </a:solidFill>
            <a:effectLst/>
          </c:spPr>
          <c:invertIfNegative val="0"/>
          <c:dPt>
            <c:idx val="0"/>
            <c:invertIfNegative val="0"/>
            <c:bubble3D val="0"/>
            <c:extLst>
              <c:ext xmlns:c16="http://schemas.microsoft.com/office/drawing/2014/chart" uri="{C3380CC4-5D6E-409C-BE32-E72D297353CC}">
                <c16:uniqueId val="{00000001-1FDB-4695-AA59-FFAA200C8F31}"/>
              </c:ext>
            </c:extLst>
          </c:dPt>
          <c:dPt>
            <c:idx val="1"/>
            <c:invertIfNegative val="0"/>
            <c:bubble3D val="0"/>
            <c:spPr>
              <a:solidFill>
                <a:srgbClr val="B83B2E"/>
              </a:solidFill>
              <a:effectLst/>
            </c:spPr>
            <c:extLst>
              <c:ext xmlns:c16="http://schemas.microsoft.com/office/drawing/2014/chart" uri="{C3380CC4-5D6E-409C-BE32-E72D297353CC}">
                <c16:uniqueId val="{00000003-1FDB-4695-AA59-FFAA200C8F31}"/>
              </c:ext>
            </c:extLst>
          </c:dPt>
          <c:dLbls>
            <c:numFmt formatCode="#,##0" sourceLinked="0"/>
            <c:spPr>
              <a:noFill/>
              <a:ln>
                <a:noFill/>
              </a:ln>
              <a:effectLst/>
            </c:spPr>
            <c:txPr>
              <a:bodyPr/>
              <a:lstStyle/>
              <a:p>
                <a:pPr>
                  <a:defRPr sz="1100" b="1" i="0" u="none" strike="noStrike">
                    <a:solidFill>
                      <a:srgbClr val="231F2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2010</c:v>
                </c:pt>
                <c:pt idx="1">
                  <c:v>2024</c:v>
                </c:pt>
              </c:strCache>
            </c:strRef>
          </c:cat>
          <c:val>
            <c:numRef>
              <c:f>Sheet1!$B$2:$B$3</c:f>
              <c:numCache>
                <c:formatCode>General</c:formatCode>
                <c:ptCount val="2"/>
                <c:pt idx="0">
                  <c:v>376</c:v>
                </c:pt>
                <c:pt idx="1">
                  <c:v>447</c:v>
                </c:pt>
              </c:numCache>
            </c:numRef>
          </c:val>
          <c:extLst>
            <c:ext xmlns:c16="http://schemas.microsoft.com/office/drawing/2014/chart" uri="{C3380CC4-5D6E-409C-BE32-E72D297353CC}">
              <c16:uniqueId val="{00000004-1FDB-4695-AA59-FFAA200C8F31}"/>
            </c:ext>
          </c:extLst>
        </c:ser>
        <c:dLbls>
          <c:showLegendKey val="0"/>
          <c:showVal val="1"/>
          <c:showCatName val="0"/>
          <c:showSerName val="0"/>
          <c:showPercent val="0"/>
          <c:showBubbleSize val="0"/>
        </c:dLbls>
        <c:gapWidth val="8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964"/>
                </a:solidFill>
                <a:latin typeface="Arial"/>
              </a:defRPr>
            </a:pPr>
            <a:endParaRPr lang="en-US"/>
          </a:p>
        </c:txPr>
        <c:crossAx val="2094734552"/>
        <c:crosses val="autoZero"/>
        <c:auto val="1"/>
        <c:lblAlgn val="ctr"/>
        <c:lblOffset val="100"/>
        <c:noMultiLvlLbl val="1"/>
      </c:catAx>
      <c:valAx>
        <c:axId val="2094734552"/>
        <c:scaling>
          <c:orientation val="minMax"/>
          <c:max val="52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1388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Welcome. Frame the session: this is not a gallery of beautiful images of Africa at night, but a session on a measuring instrument that an NSO can use, test and release. The talk is deliberately short — 30 minutes — because the rest of the time is spent in the data. Opening question to the room: “If you could take only one photo of your country to judge its situation, what would you photograph?” This field’s answer: photograph it at night. Note: slides marked REFERENCE in these notes are for the labs; move through them quickly when presenting live.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 ~5 min] Transition. We start from the physical idea, define the object precisely, then show the chain of assumptions that every study depends 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This is the conceptual pivot of the talk. Almost everything we do after sunset needs light, and some of it escapes upwards. That single fact provides a measure with four properties that no census, survey or register combines at once: globally consistent, continuous in space, politically neutral and freely accessible. The word “betrays” is deliberate: we observe lost light, not the activity itself — sow methodical doubt now. For an NSO, the key comparison is frequency and granularity: a census roughly every ten years, surveys every few years, lights every night for every half-kilometre.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Read the working definition once, then dwell on the right-hand column. The most common mistake is to treat the composite as a photo and reason visually rather than radiometrically. The second is to jump from radiance to population or income without justifying the link. Units matter: nanowatts per square centimetre per steradian — you will find them in the HDF files in the Collect lab.</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Walk the chain in one direction, then the other. The reverse direction is the diagnostic exercise: faced with a dark pixel in your country, list every link that could explain it. The bottom panel gives African examples: load-shedding breaks link 1; low-power solar lanterns may not emit enough upward light to cross the detection threshold; rainy-season clouds and dry-season dust or bush-fire smoke attenuate link 4. Participants should be able to give at least five distinct explanations for darkness. This is exactly the reasoning expected in the validation lab.</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Données : API OpenAlex, /works, regroupement par mot-clé (group_by=keywords.id), 25 octobre 2026.
Filtre 1 (titre ou résumé) : "nighttime light(s)" | "night-time light(s)" | "night lights" | "nightlights" | "night-light".
Filtre 2 (titre ou résumé) : satellite | VIIRS | DMSP | "Black Marble" | "remote sensing" | "Day/Night Band" | imagery | luminosity.
Résultat : 4 450 publications. Le second filtre écarte l'essentiel des études médicales (rythme circadien). Contrôle sur un échantillon aléatoire de 60 titres : 2 hors sujet évidents (série TV, ethnologie), quelques cas douteux ; précision estimée autour de 90 %.
Nettoyage : retrait du terme de recherche « nighttime lights » (3 060 occurrences) et de ses variantes, retrait de « dimethylsulfoniopropionate » (homonyme de DMSP) ; fusion des variantes VIIRS, DMSP-OLS, Landsat, points of interest, COVID-19. 90 termes affichés (les 105 plus fréquents moins ceux qui ne tiennent pas dans le cadre). Taille croissante avec la fréquence mais non proportionnelle (échelle atténuée) ; l'ordre des tailles respecte l'ordre des fréquences.
Lecture : la littérature porte d'abord sur les capteurs (DMSP-OLS, VIIRS) et l'urbanisation ; l'économie (PIB, disparités régionales, pauvreté, électricité) vient ensuite. Forte concentration sur la Chine ; l'Afrique reste peu présente : seul « Africa » figure dans le nuage ; « sub-Saharan Africa » (38), « Nigeria » (25), « South Africa » (22) sont sous le seuil d'affichage.
Chiffres clés : 4 450 = meta.count de la requête. × 5 = 552 (2025) / 110 (2016), années complètes ; 2026 (801 au 25 octobre) est partielle et non comparée. 46 % = 2 047 / 4 450 publications ayant au moins une affiliation en Chine (authorships.countries) ; 768 publications (17 %) n'ont aucun pays d'affiliation, la part réelle est donc plus élevée (56 % parmi celles dont le pays est connu).
Thèmes : classement manuel des mots-clés par règles ; part = somme des fréquences des 90 mots affichés.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 ~4 min] The choice of sensor determines which questions can be answered. Keep the pace brisk.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 historical irony is worth telling: DMSP was designed to see clouds by moonlight for military weather forecasting. City lights were noise; it took two decades to turn them into the signal. Key message on continuity: VIIRS now flies on three satellites (Suomi NPP, NOAA-20, NOAA-21); an NSO investing in NTL methods today is investing in a durable data stream. Black Marble products exist for Suomi NPP (VNP46) and NOAA-20 (VJ146).</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Teaching point: DMSP offers a long history but coarse, saturated, uncalibrated values; VIIRS offers precision, but only since 2012. Any long series for your country needs both, hence an explicit harmonisation step — this is the “sensor discontinuity” artefact we will see later. Mention that the new generation (SDGSAT-1, Luojia, commercial) adds colour, a dimension missing from both legacy sensors.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 clearest analogy: imagine a thermometer that only reads “40 °C or more”. You can still study cold places, but any question about heat becomes a question about your model rather than your data. That is DMSP’s situation for the centres of Lagos, Cairo or Johannesburg. VIIRS was designed around this limit: its Day/Night Band spans about seven orders of magnitude thanks to three gain stages. The chart is schematic — not fitted data. For Africa, the other end of the range matters just as much: most rural settlements are close to the detection threshold, so sensitivity matters more to us than saturation.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 ~7 min] The section closest to the labs. Slides 15 and 17 are the ones participants will come back to during the labs.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Stress step 1 for our continent. Cloud filtering explains why the Congo Basin and the West African coast have far fewer usable observations than the Sahara or the Kalahari — a systematic geographic bias in any cross-country comparison. Question: do fewer observations bias the result, or only widen the uncertainty interval? In the Collect lab, you will see each step as a layer in the file: cloud mask flag, lunar irradiance, snow flag and Mandatory_Quality_Flag, where 0 means high quality. The image is a statistical product, not a snapshot — two products for the same month can legitimately differ.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live — REFERENCE slide for the Collect lab] Four products. A1 is raw top-of-atmosphere radiance: do not use it for statistics without doing the corrections yourself. A2 is the corrected daily product — the basis for everything else. A3 and A4 are the monthly and annual composites built from the daily data. All share a 15 arc-second grid (about 500 m at the equator), 10°×10° tiles, the HDF-EOS5 format and a series starting in January 2012. Practical traps: the radiance layer is stored as unsigned integers with a 0.1 scale factor and a fill value of 65535 — forget either and your numbers are off by a factor of ten or contaminated. The NOAA-20 twins carry the VJ146 prefix. The VNL composites from the Earth Observation Group (Colorado School of Mines) and Google Earth Engine are the two main alternatives.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This slide prevents the most embarrassing class of errors: announcing an economic boom in an oil region when it is the flaring that changed, or a surge of activity in the middle of Lake Victoria that is just a fishing fleet. Only one of these six sources is usually the signal an NSO is looking for. Always look at the map before trusting the number — that is precisely what the Explore lab is for.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Do the toy example live — it is the fastest way to make the three indicators concrete. A district of 4×4 pixels, radiance in nW·cm⁻²·sr⁻¹. The sum of lights adds everything up: 30.1. Lit area counts the pixels above the threshold: with 0.5, we get 8 pixels. The mean radiance of lit pixels is 28.6 / 8 = 3.6. Now raise the threshold to 1.0: lit area falls from 8 to 6 pixels — a 25% change produced by a choice, not by reality. That is why the threshold must be reported and tested. The sum of lights is sensitive to background noise, since every faint pixel contributes. Mean radiance separates a district that brightens from one that spreads. A fourth family — concentration or the Gini of light — serves as an indicator of spatial inequality.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Take your time — this is the slide participants will reuse. The question is typical of what a ministry might ask an NSO. Step 3 matters in rural Africa: averaging over a whole district makes a few newly lit villages disappear into the dark background, so settlement footprints must be used. Step 4 — the control group of comparable villages outside the programme — turns a description into evidence, at almost no cost. Step 6 is the most neglected in published work: try to break your result before someone else does.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 ~6 min] For each application, ask: what would have to be true about lighting behaviour for the inference to hold?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A map of uses, organised by the SDGs an NSO already reports on. The key word is “support”: night-time lights complement official statistics — disaggregation, nowcasting, verification — without ever replacing the survey or the census. Invite everyone to pick the row most relevant to their institute: that is the question to take into the analysis lab.</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The honest version: night-time lights are a poor substitute for good national accounts, but an excellent complement to weak or aggregated ones. Henderson, Storeygard and Weil (2012) showed that lights carry real information about growth. Bruederle and Hodler (2018) linked lights to household development indicators from DHS surveys at the local level in Africa. Martinez (2022) used lights as an independent benchmark for reported GDP growth — a reminder that NTL are also a credibility tool for official statistics. The elasticity of lights to output is neither one nor stable: agriculture and mining produce a lot of value for little light, which applies to most African economies. Lights are most useful where statistics are coarsest: subnational, high-frequency, informal.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The Tracking SDG 7 report published on 24 June 2026 puts the global access gap at 655 million people in 2024, more than 560 million of them in sub-Saharan Africa. The region’s rural gap grew from 376 million in 2010 to 447 million in 2024 — population growth outpaced connections. Mission 300, led by the World Bank Group and the African Development Bank, aims to connect 300 million Africans by 2030; programmes of this size need independent, spatially detailed monitoring. The surprising point: reliability. Official statistics count a household as connected whether it has power four hours or twenty-four hours a day. Night-time VIIRS observations can tell the difference. The HREA dataset (University of Michigan and World Bank) already estimates each settlement’s probability of electrification from daily VIIRS data.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Africa is urbanising fast and cadastral registers rarely keep up. The sprawl/densification diagnosis is the most transferable idea: it needs two indicators, not one — which is exactly why the sum of lights is not enough for urban analysis. The two illustrative cities have the same total light but completely different implications for transport, services and emissions. Always pair lights with population and built-up grids: a bright pixel is not a person, as an empty, lit motorway proves.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The most ethically charged application. Sudan is the African case: after fighting broke out in Khartoum on 15 April 2023, the Earth Observation Group found that by May 2023 the capital’s lights had fallen to noise level, and UNOSAT published an assessment of power outages based on night imagery in June 2023. Syria (Li and Li, 2014) and Puerto Rico after Hurricane Maria (daily Black Marble products) are the reference studies. Night-time lights are used in humanitarian and human-rights reporting: errors have consequences. Insist on triangulation with ground information and an honest statement of uncertainty. For an NSO, the value is getting situational evidence quickly when field collection is impossible.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 ~4 min] The bridge to the labs. Slides 29 to 32 are references for the labs.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 whole pipeline in one picture. Each step has a data source or a tool, and a concrete output that feeds the next step. The Python libraries cited are examples of common open-source options, not requirements. Stress reproducibility: every step ends with a file posted on GitHub, so that another country — or your own institute next year — can run it again.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REFERENCE] The reflex to reach for daily data is almost always a mistake at the start of a project. Annual composites answer most statistical questions for a fraction of the processing effort, and their failures are visible rather than silent. Move to monthly or daily only if you can state the temporal resolution your question needs — for example dating the start of a conflict or measuring supply reliability.</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REFERENCE for the Validate lab] A proposed decision guide, to be adapted to your institute’s quality assurance framework. Three questions. First, set the bar BEFORE looking at the result: what correlation and what stability would you require? Second, have the artefacts been identified and treated? Third — the trap specific to this exercise — is your benchmark independent? WorldPop population models use night-time lights among their covariates: correlating NTL with WorldPop partly means correlating NTL with themselves. Prefer the census or surveys as the benchmark. The outcome is one of three decisions, and the limitations statement on the right is part of the deliverable whatever the decision.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 REFERENCE] Keep this list open during the labs. Item 7 is its practical core: the most credible work identifies effects from changes within the same unit over time rather than from cross-sectional levels, because calibration problems largely cancel out. The golden rule will serve as the test for any result presented.</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End on the last sentence. Extracting the signal is now a largely automated routine; the discipline lies in knowing what that signal is entitled to mean. Then hand over to the Collect lab.</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 to hand out rather than read. The two most confusing terms: composite (often taken for a photo) and digital number (often taken for a physical quantity).</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on screen during questions. For a first five-minute experience, point to the Radiance Light Trends web app or the World Bank’s Open Nighttime Lights tutorials before any heavy processing pipeline.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3593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uage de mots">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42900" y="240030"/>
            <a:ext cx="8455914" cy="514350"/>
          </a:xfrm>
          <a:prstGeom prst="rect">
            <a:avLst/>
          </a:prstGeom>
          <a:noFill/>
          <a:ln/>
        </p:spPr>
        <p:txBody>
          <a:bodyPr wrap="square" rtlCol="0"/>
          <a:lstStyle>
            <a:lvl1pPr marL="0" indent="0" algn="l">
              <a:buNone/>
              <a:defRPr lang="en-US" sz="2700" b="1" dirty="0">
                <a:solidFill>
                  <a:schemeClr val="bg1"/>
                </a:solidFill>
              </a:defRPr>
            </a:lvl1pPr>
          </a:lstStyle>
          <a:p>
            <a:pPr marL="0" indent="0" algn="l">
              <a:buNone/>
            </a:pPr>
            <a:endParaRPr lang="en-US" sz="2700" dirty="0"/>
          </a:p>
        </p:txBody>
      </p:sp>
      <p:sp>
        <p:nvSpPr>
          <p:cNvPr id="3" name="Text 0"/>
          <p:cNvSpPr>
            <a:spLocks noGrp="1"/>
          </p:cNvSpPr>
          <p:nvPr>
            <p:ph type="body" idx="101" hasCustomPrompt="1"/>
          </p:nvPr>
        </p:nvSpPr>
        <p:spPr>
          <a:xfrm>
            <a:off x="342900" y="754380"/>
            <a:ext cx="8455914" cy="274320"/>
          </a:xfrm>
          <a:prstGeom prst="rect">
            <a:avLst/>
          </a:prstGeom>
          <a:noFill/>
          <a:ln/>
        </p:spPr>
        <p:txBody>
          <a:bodyPr wrap="square" rtlCol="0"/>
          <a:lstStyle>
            <a:lvl1pPr marL="0" indent="0">
              <a:buNone/>
              <a:defRPr lang="en-US" sz="1125" dirty="0">
                <a:solidFill>
                  <a:schemeClr val="bg2"/>
                </a:solidFill>
              </a:defRPr>
            </a:lvl1pPr>
          </a:lstStyle>
          <a:p>
            <a:pPr marL="0" indent="0">
              <a:buNone/>
            </a:pPr>
            <a:endParaRPr lang="en-US" sz="1125" dirty="0"/>
          </a:p>
        </p:txBody>
      </p:sp>
      <p:sp>
        <p:nvSpPr>
          <p:cNvPr id="4" name="Text 0"/>
          <p:cNvSpPr>
            <a:spLocks noGrp="1"/>
          </p:cNvSpPr>
          <p:nvPr>
            <p:ph type="body" idx="102" hasCustomPrompt="1"/>
          </p:nvPr>
        </p:nvSpPr>
        <p:spPr>
          <a:xfrm>
            <a:off x="342900" y="4677156"/>
            <a:ext cx="8455914" cy="274320"/>
          </a:xfrm>
          <a:prstGeom prst="rect">
            <a:avLst/>
          </a:prstGeom>
          <a:noFill/>
          <a:ln/>
        </p:spPr>
        <p:txBody>
          <a:bodyPr wrap="square" rtlCol="0"/>
          <a:lstStyle>
            <a:lvl1pPr marL="0" indent="0">
              <a:buNone/>
              <a:defRPr lang="en-US" sz="750" dirty="0">
                <a:solidFill>
                  <a:schemeClr val="bg2"/>
                </a:solidFill>
              </a:defRPr>
            </a:lvl1pPr>
          </a:lstStyle>
          <a:p>
            <a:pPr marL="0" indent="0">
              <a:buNone/>
            </a:pPr>
            <a:endParaRPr lang="en-US" sz="750" dirty="0"/>
          </a:p>
        </p:txBody>
      </p:sp>
    </p:spTree>
    <p:extLst>
      <p:ext uri="{BB962C8B-B14F-4D97-AF65-F5344CB8AC3E}">
        <p14:creationId xmlns:p14="http://schemas.microsoft.com/office/powerpoint/2010/main" val="8865638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3875732"/>
      </p:ext>
    </p:extLst>
  </p:cSld>
  <p:clrMap bg1="lt1" tx1="dk1" bg2="lt2" tx2="dk2" accent1="accent1" accent2="accent2" accent3="accent3" accent4="accent4" accent5="accent5" accent6="accent6" hlink="hlink" folHlink="folHlink"/>
  <p:sldLayoutIdLst>
    <p:sldLayoutId id="2147483651" r:id="rId1"/>
    <p:sldLayoutId id="2147483652" r:id="rId2"/>
  </p:sldLayoutIdLst>
  <p:hf sldNum="0" hdr="0" ftr="0" dt="0"/>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datainnov4africa-web.github.io/DI4A-Website/" TargetMode="Externa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png"/><Relationship Id="rId7"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1.png"/><Relationship Id="rId7"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20.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 Id="rId9" Type="http://schemas.openxmlformats.org/officeDocument/2006/relationships/image" Target="../media/image51.png"/></Relationships>
</file>

<file path=ppt/slides/_rels/slide21.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 Id="rId9" Type="http://schemas.openxmlformats.org/officeDocument/2006/relationships/image" Target="../media/image58.png"/></Relationships>
</file>

<file path=ppt/slides/_rels/slide22.xml.rels><?xml version="1.0" encoding="UTF-8" standalone="yes"?>
<Relationships xmlns="http://schemas.openxmlformats.org/package/2006/relationships"><Relationship Id="rId3" Type="http://schemas.openxmlformats.org/officeDocument/2006/relationships/chart" Target="../charts/chart2.xml"/><Relationship Id="rId7" Type="http://schemas.openxmlformats.org/officeDocument/2006/relationships/image" Target="../media/image6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2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2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70.png"/></Relationships>
</file>

<file path=ppt/slides/_rels/slide26.xml.rels><?xml version="1.0" encoding="UTF-8" standalone="yes"?>
<Relationships xmlns="http://schemas.openxmlformats.org/package/2006/relationships"><Relationship Id="rId3" Type="http://schemas.openxmlformats.org/officeDocument/2006/relationships/image" Target="../media/image71.png"/><Relationship Id="rId7" Type="http://schemas.openxmlformats.org/officeDocument/2006/relationships/image" Target="../media/image75.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2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78.png"/><Relationship Id="rId4" Type="http://schemas.openxmlformats.org/officeDocument/2006/relationships/image" Target="../media/image77.png"/></Relationships>
</file>

<file path=ppt/slides/_rels/slide2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84.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85.png"/></Relationships>
</file>

<file path=ppt/slides/_rels/slide3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9.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88.png"/><Relationship Id="rId5" Type="http://schemas.openxmlformats.org/officeDocument/2006/relationships/image" Target="../media/image20.png"/><Relationship Id="rId4" Type="http://schemas.openxmlformats.org/officeDocument/2006/relationships/image" Target="../media/image8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40080"/>
            <a:ext cx="68580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AfDB · DI4A  ·  AFRICA AT NIGHT</a:t>
            </a:r>
            <a:endParaRPr lang="en-US" sz="1050" dirty="0"/>
          </a:p>
        </p:txBody>
      </p:sp>
      <p:sp>
        <p:nvSpPr>
          <p:cNvPr id="4" name="Text 2"/>
          <p:cNvSpPr txBox="1"/>
          <p:nvPr/>
        </p:nvSpPr>
        <p:spPr>
          <a:xfrm>
            <a:off x="548640" y="1051560"/>
            <a:ext cx="6035040" cy="777240"/>
          </a:xfrm>
          <a:prstGeom prst="rect">
            <a:avLst/>
          </a:prstGeom>
          <a:noFill/>
          <a:ln/>
        </p:spPr>
        <p:txBody>
          <a:bodyPr wrap="square" lIns="0" tIns="0" rIns="0" bIns="0" rtlCol="0" anchor="ctr"/>
          <a:lstStyle/>
          <a:p>
            <a:pPr marL="0" indent="0">
              <a:buNone/>
            </a:pPr>
            <a:r>
              <a:rPr lang="en-US" sz="4600" b="1" dirty="0">
                <a:solidFill>
                  <a:srgbClr val="FFFFFF"/>
                </a:solidFill>
                <a:latin typeface="Calibri" pitchFamily="34" charset="0"/>
                <a:ea typeface="Calibri" pitchFamily="34" charset="-122"/>
                <a:cs typeface="Calibri" pitchFamily="34" charset="-120"/>
              </a:rPr>
              <a:t>Night-time lights</a:t>
            </a:r>
            <a:endParaRPr lang="en-US" sz="4600" dirty="0"/>
          </a:p>
        </p:txBody>
      </p:sp>
      <p:sp>
        <p:nvSpPr>
          <p:cNvPr id="5" name="Text 3"/>
          <p:cNvSpPr txBox="1"/>
          <p:nvPr/>
        </p:nvSpPr>
        <p:spPr>
          <a:xfrm>
            <a:off x="548640" y="1874520"/>
            <a:ext cx="5669280" cy="68580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What darkness tells us — reading Africa’s development from space</a:t>
            </a:r>
            <a:endParaRPr lang="en-US" sz="1800" dirty="0"/>
          </a:p>
        </p:txBody>
      </p:sp>
      <p:sp>
        <p:nvSpPr>
          <p:cNvPr id="6" name="Text 4"/>
          <p:cNvSpPr txBox="1"/>
          <p:nvPr/>
        </p:nvSpPr>
        <p:spPr>
          <a:xfrm>
            <a:off x="548640" y="2697480"/>
            <a:ext cx="5394960" cy="548640"/>
          </a:xfrm>
          <a:prstGeom prst="rect">
            <a:avLst/>
          </a:prstGeom>
          <a:noFill/>
          <a:ln/>
        </p:spPr>
        <p:txBody>
          <a:bodyPr wrap="square" lIns="0" tIns="0" rIns="0" bIns="0" rtlCol="0" anchor="t"/>
          <a:lstStyle/>
          <a:p>
            <a:pPr marL="0" indent="0">
              <a:buNone/>
            </a:pPr>
            <a:r>
              <a:rPr lang="en-US" sz="1250" dirty="0">
                <a:solidFill>
                  <a:srgbClr val="FFFFFF"/>
                </a:solidFill>
                <a:latin typeface="Calibri" pitchFamily="34" charset="0"/>
                <a:ea typeface="Calibri" pitchFamily="34" charset="-122"/>
                <a:cs typeface="Calibri" pitchFamily="34" charset="-120"/>
              </a:rPr>
              <a:t>Concepts, instruments, artefacts and the approach of four hands-on labs: from raw radiance to a validated subnational indicator.</a:t>
            </a:r>
            <a:endParaRPr lang="en-US" sz="1250" dirty="0"/>
          </a:p>
        </p:txBody>
      </p:sp>
      <p:sp>
        <p:nvSpPr>
          <p:cNvPr id="7" name="Shape 5"/>
          <p:cNvSpPr/>
          <p:nvPr/>
        </p:nvSpPr>
        <p:spPr>
          <a:xfrm>
            <a:off x="548640" y="3520440"/>
            <a:ext cx="5120640" cy="0"/>
          </a:xfrm>
          <a:prstGeom prst="line">
            <a:avLst/>
          </a:prstGeom>
          <a:noFill/>
          <a:ln w="9525">
            <a:solidFill>
              <a:srgbClr val="FFFFFF">
                <a:alpha val="40000"/>
              </a:srgbClr>
            </a:solidFill>
            <a:prstDash val="solid"/>
          </a:ln>
        </p:spPr>
      </p:sp>
      <p:sp>
        <p:nvSpPr>
          <p:cNvPr id="10" name="Shape 8"/>
          <p:cNvSpPr/>
          <p:nvPr/>
        </p:nvSpPr>
        <p:spPr>
          <a:xfrm>
            <a:off x="6126480" y="960120"/>
            <a:ext cx="2377440" cy="2377440"/>
          </a:xfrm>
          <a:prstGeom prst="ellipse">
            <a:avLst/>
          </a:prstGeom>
          <a:solidFill>
            <a:srgbClr val="FFFFFF">
              <a:alpha val="10000"/>
            </a:srgbClr>
          </a:solidFill>
          <a:ln w="9525">
            <a:solidFill>
              <a:srgbClr val="FFFFFF">
                <a:alpha val="30000"/>
              </a:srgbClr>
            </a:solidFill>
            <a:prstDash val="solid"/>
          </a:ln>
        </p:spPr>
      </p:sp>
      <p:sp>
        <p:nvSpPr>
          <p:cNvPr id="11" name="Shape 9"/>
          <p:cNvSpPr/>
          <p:nvPr/>
        </p:nvSpPr>
        <p:spPr>
          <a:xfrm>
            <a:off x="6423660" y="1257300"/>
            <a:ext cx="1783080" cy="1783080"/>
          </a:xfrm>
          <a:prstGeom prst="ellipse">
            <a:avLst/>
          </a:prstGeom>
          <a:solidFill>
            <a:srgbClr val="FFFFFF">
              <a:alpha val="13000"/>
            </a:srgbClr>
          </a:solidFill>
          <a:ln w="9525">
            <a:solidFill>
              <a:srgbClr val="FFFFFF">
                <a:alpha val="30000"/>
              </a:srgbClr>
            </a:solidFill>
            <a:prstDash val="solid"/>
          </a:ln>
        </p:spPr>
      </p:sp>
      <p:sp>
        <p:nvSpPr>
          <p:cNvPr id="12" name="Shape 10"/>
          <p:cNvSpPr/>
          <p:nvPr/>
        </p:nvSpPr>
        <p:spPr>
          <a:xfrm>
            <a:off x="6720840" y="1554480"/>
            <a:ext cx="1188720" cy="1188720"/>
          </a:xfrm>
          <a:prstGeom prst="ellipse">
            <a:avLst/>
          </a:prstGeom>
          <a:solidFill>
            <a:srgbClr val="FFFFFF">
              <a:alpha val="16000"/>
            </a:srgbClr>
          </a:solidFill>
          <a:ln w="9525">
            <a:solidFill>
              <a:srgbClr val="FFFFFF">
                <a:alpha val="30000"/>
              </a:srgbClr>
            </a:solidFill>
            <a:prstDash val="solid"/>
          </a:ln>
        </p:spPr>
      </p:sp>
      <p:sp>
        <p:nvSpPr>
          <p:cNvPr id="13" name="Shape 11"/>
          <p:cNvSpPr/>
          <p:nvPr/>
        </p:nvSpPr>
        <p:spPr>
          <a:xfrm>
            <a:off x="6903720" y="1737360"/>
            <a:ext cx="822960" cy="822960"/>
          </a:xfrm>
          <a:prstGeom prst="ellipse">
            <a:avLst/>
          </a:prstGeom>
          <a:solidFill>
            <a:srgbClr val="FFFFFF"/>
          </a:solidFill>
          <a:ln w="12700">
            <a:solidFill>
              <a:srgbClr val="FFFFFF"/>
            </a:solidFill>
            <a:prstDash val="solid"/>
          </a:ln>
        </p:spPr>
      </p:sp>
      <p:pic>
        <p:nvPicPr>
          <p:cNvPr id="14" name="Image 0" descr="preencoded.png"/>
          <p:cNvPicPr>
            <a:picLocks noChangeAspect="1"/>
          </p:cNvPicPr>
          <p:nvPr/>
        </p:nvPicPr>
        <p:blipFill>
          <a:blip r:embed="rId4"/>
          <a:stretch>
            <a:fillRect/>
          </a:stretch>
        </p:blipFill>
        <p:spPr>
          <a:xfrm>
            <a:off x="7095744" y="1929384"/>
            <a:ext cx="438912" cy="438912"/>
          </a:xfrm>
          <a:prstGeom prst="rect">
            <a:avLst/>
          </a:prstGeom>
        </p:spPr>
      </p:pic>
      <p:pic>
        <p:nvPicPr>
          <p:cNvPr id="15" name="Image 1" descr="preencoded.png"/>
          <p:cNvPicPr>
            <a:picLocks noChangeAspect="1"/>
          </p:cNvPicPr>
          <p:nvPr/>
        </p:nvPicPr>
        <p:blipFill>
          <a:blip r:embed="rId5"/>
          <a:stretch>
            <a:fillRect/>
          </a:stretch>
        </p:blipFill>
        <p:spPr>
          <a:xfrm>
            <a:off x="8001000" y="2834640"/>
            <a:ext cx="384048" cy="384048"/>
          </a:xfrm>
          <a:prstGeom prst="rect">
            <a:avLst/>
          </a:prstGeom>
        </p:spPr>
      </p:pic>
      <p:sp>
        <p:nvSpPr>
          <p:cNvPr id="65" name="Logo Pill"/>
          <p:cNvSpPr/>
          <p:nvPr/>
        </p:nvSpPr>
        <p:spPr>
          <a:xfrm>
            <a:off x="548640" y="3703320"/>
            <a:ext cx="2788920" cy="566928"/>
          </a:xfrm>
          <a:prstGeom prst="roundRect">
            <a:avLst>
              <a:gd name="adj" fmla="val 50000"/>
            </a:avLst>
          </a:prstGeom>
          <a:solidFill>
            <a:srgbClr val="FFFFFF"/>
          </a:solidFill>
          <a:ln>
            <a:noFill/>
          </a:ln>
        </p:spPr>
        <p:txBody>
          <a:bodyPr rtlCol="0" anchor="ctr"/>
          <a:lstStyle/>
          <a:p>
            <a:endParaRPr lang="en-US"/>
          </a:p>
        </p:txBody>
      </p:sp>
      <p:pic>
        <p:nvPicPr>
          <p:cNvPr id="66" name="AfDB Logo" descr="African Development Bank Group logo"/>
          <p:cNvPicPr>
            <a:picLocks noChangeAspect="1"/>
          </p:cNvPicPr>
          <p:nvPr/>
        </p:nvPicPr>
        <p:blipFill>
          <a:blip r:embed="rId6"/>
          <a:stretch>
            <a:fillRect/>
          </a:stretch>
        </p:blipFill>
        <p:spPr>
          <a:xfrm>
            <a:off x="749808" y="3822192"/>
            <a:ext cx="1367816" cy="329184"/>
          </a:xfrm>
          <a:prstGeom prst="rect">
            <a:avLst/>
          </a:prstGeom>
        </p:spPr>
      </p:pic>
      <p:sp>
        <p:nvSpPr>
          <p:cNvPr id="67" name="Logo Divider"/>
          <p:cNvSpPr/>
          <p:nvPr/>
        </p:nvSpPr>
        <p:spPr>
          <a:xfrm>
            <a:off x="2300504" y="3813048"/>
            <a:ext cx="9525" cy="347472"/>
          </a:xfrm>
          <a:prstGeom prst="rect">
            <a:avLst/>
          </a:prstGeom>
          <a:solidFill>
            <a:srgbClr val="D5DED9"/>
          </a:solidFill>
          <a:ln>
            <a:noFill/>
          </a:ln>
        </p:spPr>
        <p:txBody>
          <a:bodyPr rtlCol="0" anchor="ctr"/>
          <a:lstStyle/>
          <a:p>
            <a:endParaRPr lang="en-US"/>
          </a:p>
        </p:txBody>
      </p:sp>
      <p:pic>
        <p:nvPicPr>
          <p:cNvPr id="68" name="DI4A Logo" descr="Data Innovation for Africa logo"/>
          <p:cNvPicPr>
            <a:picLocks noChangeAspect="1"/>
          </p:cNvPicPr>
          <p:nvPr/>
        </p:nvPicPr>
        <p:blipFill>
          <a:blip r:embed="rId7"/>
          <a:stretch>
            <a:fillRect/>
          </a:stretch>
        </p:blipFill>
        <p:spPr>
          <a:xfrm>
            <a:off x="2587752" y="3749040"/>
            <a:ext cx="475488" cy="475488"/>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5"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456"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32" name="Rounded Rectangle 31"/>
          <p:cNvSpPr/>
          <p:nvPr/>
        </p:nvSpPr>
        <p:spPr>
          <a:xfrm>
            <a:off x="599378" y="1428006"/>
            <a:ext cx="2496157" cy="3147866"/>
          </a:xfrm>
          <a:prstGeom prst="roundRect">
            <a:avLst>
              <a:gd name="adj" fmla="val 5000"/>
            </a:avLst>
          </a:prstGeom>
          <a:solidFill>
            <a:srgbClr val="E8F5EF"/>
          </a:solidFill>
          <a:ln w="19050">
            <a:solidFill>
              <a:srgbClr val="00A86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350"/>
          </a:p>
        </p:txBody>
      </p:sp>
      <p:sp>
        <p:nvSpPr>
          <p:cNvPr id="33" name="TextBox 32"/>
          <p:cNvSpPr txBox="1"/>
          <p:nvPr/>
        </p:nvSpPr>
        <p:spPr>
          <a:xfrm>
            <a:off x="599378" y="1569540"/>
            <a:ext cx="2496157" cy="113744"/>
          </a:xfrm>
          <a:prstGeom prst="rect">
            <a:avLst/>
          </a:prstGeom>
          <a:noFill/>
        </p:spPr>
        <p:txBody>
          <a:bodyPr wrap="square" lIns="0" tIns="0" rIns="0" bIns="0" anchor="t">
            <a:spAutoFit/>
          </a:bodyPr>
          <a:lstStyle/>
          <a:p>
            <a:pPr algn="ctr"/>
            <a:r>
              <a:rPr sz="750" b="1" spc="150">
                <a:solidFill>
                  <a:srgbClr val="00704A"/>
                </a:solidFill>
                <a:latin typeface="Calibri"/>
              </a:rPr>
              <a:t>SCAN TO VISIT THE WEBSITE</a:t>
            </a:r>
          </a:p>
        </p:txBody>
      </p:sp>
      <p:sp>
        <p:nvSpPr>
          <p:cNvPr id="34" name="Rounded Rectangle 33"/>
          <p:cNvSpPr/>
          <p:nvPr/>
        </p:nvSpPr>
        <p:spPr>
          <a:xfrm>
            <a:off x="946781" y="1826876"/>
            <a:ext cx="1801350" cy="1801350"/>
          </a:xfrm>
          <a:prstGeom prst="roundRect">
            <a:avLst>
              <a:gd name="adj" fmla="val 6000"/>
            </a:avLst>
          </a:prstGeom>
          <a:solidFill>
            <a:srgbClr val="FFFFFF"/>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350"/>
          </a:p>
        </p:txBody>
      </p:sp>
      <p:pic>
        <p:nvPicPr>
          <p:cNvPr id="35" name="Picture 34" descr="QR code to the DI4A website">
            <a:hlinkClick r:id="rId2"/>
          </p:cNvPr>
          <p:cNvPicPr>
            <a:picLocks noChangeAspect="1"/>
          </p:cNvPicPr>
          <p:nvPr/>
        </p:nvPicPr>
        <p:blipFill>
          <a:blip r:embed="rId3"/>
          <a:stretch>
            <a:fillRect/>
          </a:stretch>
        </p:blipFill>
        <p:spPr>
          <a:xfrm>
            <a:off x="1043282" y="1923377"/>
            <a:ext cx="1608348" cy="1608348"/>
          </a:xfrm>
          <a:prstGeom prst="rect">
            <a:avLst/>
          </a:prstGeom>
        </p:spPr>
      </p:pic>
      <p:sp>
        <p:nvSpPr>
          <p:cNvPr id="36" name="TextBox 35"/>
          <p:cNvSpPr txBox="1"/>
          <p:nvPr/>
        </p:nvSpPr>
        <p:spPr>
          <a:xfrm>
            <a:off x="663711" y="3731161"/>
            <a:ext cx="2367489" cy="162405"/>
          </a:xfrm>
          <a:prstGeom prst="rect">
            <a:avLst/>
          </a:prstGeom>
          <a:noFill/>
        </p:spPr>
        <p:txBody>
          <a:bodyPr wrap="square" lIns="0" tIns="0" rIns="0" bIns="0" anchor="t">
            <a:spAutoFit/>
          </a:bodyPr>
          <a:lstStyle/>
          <a:p>
            <a:pPr algn="ctr"/>
            <a:r>
              <a:rPr sz="1050" b="1">
                <a:solidFill>
                  <a:srgbClr val="231F20"/>
                </a:solidFill>
                <a:latin typeface="Calibri"/>
              </a:rPr>
              <a:t>DI4A website</a:t>
            </a:r>
          </a:p>
        </p:txBody>
      </p:sp>
      <p:sp>
        <p:nvSpPr>
          <p:cNvPr id="37" name="TextBox 36"/>
          <p:cNvSpPr txBox="1"/>
          <p:nvPr/>
        </p:nvSpPr>
        <p:spPr>
          <a:xfrm>
            <a:off x="663711" y="3937030"/>
            <a:ext cx="2367489" cy="108270"/>
          </a:xfrm>
          <a:prstGeom prst="rect">
            <a:avLst/>
          </a:prstGeom>
          <a:noFill/>
        </p:spPr>
        <p:txBody>
          <a:bodyPr wrap="square" lIns="0" tIns="0" rIns="0" bIns="0" anchor="t">
            <a:spAutoFit/>
          </a:bodyPr>
          <a:lstStyle/>
          <a:p>
            <a:pPr algn="ctr"/>
            <a:r>
              <a:rPr sz="700" b="1">
                <a:solidFill>
                  <a:srgbClr val="00704A"/>
                </a:solidFill>
                <a:latin typeface="Calibri"/>
                <a:hlinkClick r:id="rId2"/>
              </a:rPr>
              <a:t>datainnov4africa-web.github.io/DI4A-Website</a:t>
            </a:r>
          </a:p>
        </p:txBody>
      </p:sp>
      <p:sp>
        <p:nvSpPr>
          <p:cNvPr id="38" name="TextBox 37"/>
          <p:cNvSpPr txBox="1"/>
          <p:nvPr/>
        </p:nvSpPr>
        <p:spPr>
          <a:xfrm>
            <a:off x="760212" y="4155766"/>
            <a:ext cx="2174487" cy="227487"/>
          </a:xfrm>
          <a:prstGeom prst="rect">
            <a:avLst/>
          </a:prstGeom>
          <a:noFill/>
        </p:spPr>
        <p:txBody>
          <a:bodyPr wrap="square" lIns="0" tIns="0" rIns="0" bIns="0" anchor="t">
            <a:spAutoFit/>
          </a:bodyPr>
          <a:lstStyle/>
          <a:p>
            <a:pPr algn="ctr"/>
            <a:r>
              <a:rPr sz="750">
                <a:solidFill>
                  <a:srgbClr val="5E6964"/>
                </a:solidFill>
                <a:latin typeface="Calibri"/>
              </a:rPr>
              <a:t>The DI4A programme, its Data Innovation Labs, use cases and resources — in one place.</a:t>
            </a:r>
          </a:p>
        </p:txBody>
      </p:sp>
      <p:pic>
        <p:nvPicPr>
          <p:cNvPr id="150" name="Hero Illustration" descr="DI4A robot presenting a data map of Africa"/>
          <p:cNvPicPr>
            <a:picLocks noChangeAspect="1"/>
          </p:cNvPicPr>
          <p:nvPr/>
        </p:nvPicPr>
        <p:blipFill>
          <a:blip r:embed="rId4"/>
          <a:stretch>
            <a:fillRect/>
          </a:stretch>
        </p:blipFill>
        <p:spPr>
          <a:xfrm>
            <a:off x="3333571" y="1280160"/>
            <a:ext cx="5211050" cy="2907766"/>
          </a:xfrm>
          <a:prstGeom prst="rect">
            <a:avLst/>
          </a:prstGeom>
        </p:spPr>
      </p:pic>
      <p:sp>
        <p:nvSpPr>
          <p:cNvPr id="151" name="Logo Pill"/>
          <p:cNvSpPr/>
          <p:nvPr/>
        </p:nvSpPr>
        <p:spPr>
          <a:xfrm>
            <a:off x="4523749" y="4207355"/>
            <a:ext cx="2830694" cy="501804"/>
          </a:xfrm>
          <a:prstGeom prst="roundRect">
            <a:avLst>
              <a:gd name="adj" fmla="val 50000"/>
            </a:avLst>
          </a:prstGeom>
          <a:solidFill>
            <a:srgbClr val="FFFFFF"/>
          </a:solidFill>
          <a:ln w="9525">
            <a:solidFill>
              <a:srgbClr val="D5DED9"/>
            </a:solidFill>
          </a:ln>
          <a:effectLst>
            <a:outerShdw blurRad="152400" dist="38100" dir="5400000" algn="t" rotWithShape="0">
              <a:srgbClr val="0A2E1E">
                <a:alpha val="14000"/>
              </a:srgbClr>
            </a:outerShdw>
          </a:effectLst>
        </p:spPr>
        <p:txBody>
          <a:bodyPr rtlCol="0" anchor="ctr"/>
          <a:lstStyle/>
          <a:p>
            <a:endParaRPr lang="en-US" sz="1350"/>
          </a:p>
        </p:txBody>
      </p:sp>
      <p:pic>
        <p:nvPicPr>
          <p:cNvPr id="152" name="AfDB Logo" descr="African Development Bank Group logo"/>
          <p:cNvPicPr>
            <a:picLocks noChangeAspect="1"/>
          </p:cNvPicPr>
          <p:nvPr/>
        </p:nvPicPr>
        <p:blipFill>
          <a:blip r:embed="rId5"/>
          <a:stretch>
            <a:fillRect/>
          </a:stretch>
        </p:blipFill>
        <p:spPr>
          <a:xfrm>
            <a:off x="4748918" y="4310289"/>
            <a:ext cx="1229666" cy="295936"/>
          </a:xfrm>
          <a:prstGeom prst="rect">
            <a:avLst/>
          </a:prstGeom>
        </p:spPr>
      </p:pic>
      <p:sp>
        <p:nvSpPr>
          <p:cNvPr id="153" name="Logo Divider"/>
          <p:cNvSpPr/>
          <p:nvPr/>
        </p:nvSpPr>
        <p:spPr>
          <a:xfrm>
            <a:off x="6139419" y="4310289"/>
            <a:ext cx="8935" cy="295936"/>
          </a:xfrm>
          <a:prstGeom prst="rect">
            <a:avLst/>
          </a:prstGeom>
          <a:solidFill>
            <a:srgbClr val="D5DED9"/>
          </a:solidFill>
          <a:ln>
            <a:noFill/>
          </a:ln>
        </p:spPr>
        <p:txBody>
          <a:bodyPr rtlCol="0" anchor="ctr"/>
          <a:lstStyle/>
          <a:p>
            <a:endParaRPr lang="en-US" sz="1350"/>
          </a:p>
        </p:txBody>
      </p:sp>
      <p:pic>
        <p:nvPicPr>
          <p:cNvPr id="154" name="DI4A Logo" descr="Data Innovation for Africa logo"/>
          <p:cNvPicPr>
            <a:picLocks noChangeAspect="1"/>
          </p:cNvPicPr>
          <p:nvPr/>
        </p:nvPicPr>
        <p:blipFill>
          <a:blip r:embed="rId6"/>
          <a:stretch>
            <a:fillRect/>
          </a:stretch>
        </p:blipFill>
        <p:spPr>
          <a:xfrm>
            <a:off x="6685370" y="4252388"/>
            <a:ext cx="411737" cy="411737"/>
          </a:xfrm>
          <a:prstGeom prst="rect">
            <a:avLst/>
          </a:prstGeom>
        </p:spPr>
      </p:pic>
      <p:sp>
        <p:nvSpPr>
          <p:cNvPr id="457" name="Shape 2"/>
          <p:cNvSpPr/>
          <p:nvPr/>
        </p:nvSpPr>
        <p:spPr>
          <a:xfrm>
            <a:off x="0" y="0"/>
            <a:ext cx="9144000" cy="54864"/>
          </a:xfrm>
          <a:prstGeom prst="rect">
            <a:avLst/>
          </a:prstGeom>
          <a:solidFill>
            <a:srgbClr val="00A86A"/>
          </a:solidFill>
          <a:ln w="12700">
            <a:solidFill>
              <a:srgbClr val="00A86A"/>
            </a:solidFill>
            <a:prstDash val="solid"/>
          </a:ln>
        </p:spPr>
      </p:sp>
      <p:sp>
        <p:nvSpPr>
          <p:cNvPr id="458" name="Shape 3"/>
          <p:cNvSpPr/>
          <p:nvPr/>
        </p:nvSpPr>
        <p:spPr>
          <a:xfrm>
            <a:off x="0" y="0"/>
            <a:ext cx="1234440" cy="54864"/>
          </a:xfrm>
          <a:prstGeom prst="rect">
            <a:avLst/>
          </a:prstGeom>
          <a:solidFill>
            <a:srgbClr val="F5C242"/>
          </a:solidFill>
          <a:ln w="12700">
            <a:solidFill>
              <a:srgbClr val="F5C242"/>
            </a:solidFill>
            <a:prstDash val="solid"/>
          </a:ln>
        </p:spPr>
      </p:sp>
      <p:sp>
        <p:nvSpPr>
          <p:cNvPr id="459"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DI4A ONLINE · STAY CONNECTED</a:t>
            </a:r>
            <a:endParaRPr lang="en-US" sz="1050" dirty="0"/>
          </a:p>
        </p:txBody>
      </p:sp>
      <p:sp>
        <p:nvSpPr>
          <p:cNvPr id="460"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Explore DI4A online</a:t>
            </a:r>
            <a:endParaRPr lang="en-US" sz="2800" dirty="0"/>
          </a:p>
        </p:txBody>
      </p:sp>
      <p:sp>
        <p:nvSpPr>
          <p:cNvPr id="461"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462"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463"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464"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465"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466"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467"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468"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02</a:t>
            </a:r>
            <a:endParaRPr lang="en-US" sz="85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8580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1</a:t>
            </a:r>
            <a:endParaRPr lang="en-US" sz="1050" dirty="0"/>
          </a:p>
        </p:txBody>
      </p:sp>
      <p:sp>
        <p:nvSpPr>
          <p:cNvPr id="4" name="Text 2"/>
          <p:cNvSpPr txBox="1"/>
          <p:nvPr/>
        </p:nvSpPr>
        <p:spPr>
          <a:xfrm>
            <a:off x="502920" y="91440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01</a:t>
            </a:r>
            <a:endParaRPr lang="en-US" sz="9600" dirty="0"/>
          </a:p>
        </p:txBody>
      </p:sp>
      <p:sp>
        <p:nvSpPr>
          <p:cNvPr id="5" name="Text 3"/>
          <p:cNvSpPr txBox="1"/>
          <p:nvPr/>
        </p:nvSpPr>
        <p:spPr>
          <a:xfrm>
            <a:off x="548640" y="2240280"/>
            <a:ext cx="5486400" cy="6858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Foundations</a:t>
            </a:r>
            <a:endParaRPr lang="en-US" sz="3600" dirty="0"/>
          </a:p>
        </p:txBody>
      </p:sp>
      <p:sp>
        <p:nvSpPr>
          <p:cNvPr id="6" name="Text 4"/>
          <p:cNvSpPr txBox="1"/>
          <p:nvPr/>
        </p:nvSpPr>
        <p:spPr>
          <a:xfrm>
            <a:off x="548640" y="2971800"/>
            <a:ext cx="5120640" cy="59436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Why would a photo of darkness teach us anything?</a:t>
            </a:r>
            <a:endParaRPr lang="en-US" sz="1800" dirty="0"/>
          </a:p>
        </p:txBody>
      </p:sp>
      <p:sp>
        <p:nvSpPr>
          <p:cNvPr id="7" name="Text 5"/>
          <p:cNvSpPr txBox="1"/>
          <p:nvPr/>
        </p:nvSpPr>
        <p:spPr>
          <a:xfrm>
            <a:off x="548640" y="3703320"/>
            <a:ext cx="5303520" cy="274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The core idea  ·  Definitions  ·  The chain of inference</a:t>
            </a:r>
            <a:endParaRPr lang="en-US" sz="1200" dirty="0"/>
          </a:p>
        </p:txBody>
      </p:sp>
      <p:sp>
        <p:nvSpPr>
          <p:cNvPr id="8" name="Shape 6"/>
          <p:cNvSpPr/>
          <p:nvPr/>
        </p:nvSpPr>
        <p:spPr>
          <a:xfrm>
            <a:off x="548640" y="4343400"/>
            <a:ext cx="118872" cy="118872"/>
          </a:xfrm>
          <a:prstGeom prst="ellipse">
            <a:avLst/>
          </a:prstGeom>
          <a:solidFill>
            <a:srgbClr val="F5C242"/>
          </a:solidFill>
          <a:ln w="12700">
            <a:solidFill>
              <a:srgbClr val="FFFFFF">
                <a:alpha val="0"/>
              </a:srgbClr>
            </a:solidFill>
            <a:prstDash val="solid"/>
          </a:ln>
        </p:spPr>
      </p:sp>
      <p:sp>
        <p:nvSpPr>
          <p:cNvPr id="9" name="Shape 7"/>
          <p:cNvSpPr/>
          <p:nvPr/>
        </p:nvSpPr>
        <p:spPr>
          <a:xfrm>
            <a:off x="768096" y="4343400"/>
            <a:ext cx="118872" cy="118872"/>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987552" y="4343400"/>
            <a:ext cx="118872" cy="118872"/>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207008" y="4343400"/>
            <a:ext cx="118872" cy="118872"/>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1426464" y="4343400"/>
            <a:ext cx="118872" cy="118872"/>
          </a:xfrm>
          <a:prstGeom prst="ellipse">
            <a:avLst/>
          </a:prstGeom>
          <a:solidFill>
            <a:srgbClr val="FFFFFF">
              <a:alpha val="40000"/>
            </a:srgbClr>
          </a:solidFill>
          <a:ln w="12700">
            <a:solidFill>
              <a:srgbClr val="FFFFFF">
                <a:alpha val="0"/>
              </a:srgbClr>
            </a:solidFill>
            <a:prstDash val="solid"/>
          </a:ln>
        </p:spPr>
      </p:sp>
      <p:sp>
        <p:nvSpPr>
          <p:cNvPr id="13" name="Shape 11"/>
          <p:cNvSpPr/>
          <p:nvPr/>
        </p:nvSpPr>
        <p:spPr>
          <a:xfrm>
            <a:off x="1645920" y="4343400"/>
            <a:ext cx="118872" cy="118872"/>
          </a:xfrm>
          <a:prstGeom prst="ellipse">
            <a:avLst/>
          </a:prstGeom>
          <a:solidFill>
            <a:srgbClr val="FFFFFF">
              <a:alpha val="40000"/>
            </a:srgbClr>
          </a:solidFill>
          <a:ln w="12700">
            <a:solidFill>
              <a:srgbClr val="FFFFFF">
                <a:alpha val="0"/>
              </a:srgbClr>
            </a:solidFill>
            <a:prstDash val="solid"/>
          </a:ln>
        </p:spPr>
      </p:sp>
      <p:sp>
        <p:nvSpPr>
          <p:cNvPr id="14" name="Shape 12"/>
          <p:cNvSpPr/>
          <p:nvPr/>
        </p:nvSpPr>
        <p:spPr>
          <a:xfrm>
            <a:off x="5760720" y="1188720"/>
            <a:ext cx="2651760" cy="2651760"/>
          </a:xfrm>
          <a:prstGeom prst="ellipse">
            <a:avLst/>
          </a:prstGeom>
          <a:solidFill>
            <a:srgbClr val="FFFFFF">
              <a:alpha val="10000"/>
            </a:srgbClr>
          </a:solidFill>
          <a:ln w="9525">
            <a:solidFill>
              <a:srgbClr val="FFFFFF">
                <a:alpha val="30000"/>
              </a:srgbClr>
            </a:solidFill>
            <a:prstDash val="solid"/>
          </a:ln>
        </p:spPr>
      </p:sp>
      <p:sp>
        <p:nvSpPr>
          <p:cNvPr id="15" name="Shape 13"/>
          <p:cNvSpPr/>
          <p:nvPr/>
        </p:nvSpPr>
        <p:spPr>
          <a:xfrm>
            <a:off x="6080760" y="1508760"/>
            <a:ext cx="2011680" cy="2011680"/>
          </a:xfrm>
          <a:prstGeom prst="ellipse">
            <a:avLst/>
          </a:prstGeom>
          <a:solidFill>
            <a:srgbClr val="FFFFFF">
              <a:alpha val="13000"/>
            </a:srgbClr>
          </a:solidFill>
          <a:ln w="9525">
            <a:solidFill>
              <a:srgbClr val="FFFFFF">
                <a:alpha val="30000"/>
              </a:srgbClr>
            </a:solidFill>
            <a:prstDash val="solid"/>
          </a:ln>
        </p:spPr>
      </p:sp>
      <p:sp>
        <p:nvSpPr>
          <p:cNvPr id="16" name="Shape 14"/>
          <p:cNvSpPr/>
          <p:nvPr/>
        </p:nvSpPr>
        <p:spPr>
          <a:xfrm>
            <a:off x="6400800" y="1828800"/>
            <a:ext cx="1371600" cy="1371600"/>
          </a:xfrm>
          <a:prstGeom prst="ellipse">
            <a:avLst/>
          </a:prstGeom>
          <a:solidFill>
            <a:srgbClr val="FFFFFF">
              <a:alpha val="16000"/>
            </a:srgbClr>
          </a:solidFill>
          <a:ln w="9525">
            <a:solidFill>
              <a:srgbClr val="FFFFFF">
                <a:alpha val="30000"/>
              </a:srgbClr>
            </a:solidFill>
            <a:prstDash val="solid"/>
          </a:ln>
        </p:spPr>
      </p:sp>
      <p:sp>
        <p:nvSpPr>
          <p:cNvPr id="17" name="Shape 15"/>
          <p:cNvSpPr/>
          <p:nvPr/>
        </p:nvSpPr>
        <p:spPr>
          <a:xfrm>
            <a:off x="6629400" y="2057400"/>
            <a:ext cx="914400" cy="914400"/>
          </a:xfrm>
          <a:prstGeom prst="ellipse">
            <a:avLst/>
          </a:prstGeom>
          <a:solidFill>
            <a:srgbClr val="FFFFFF"/>
          </a:solidFill>
          <a:ln w="12700">
            <a:solidFill>
              <a:srgbClr val="FFFFFF"/>
            </a:solidFill>
            <a:prstDash val="solid"/>
          </a:ln>
        </p:spPr>
      </p:sp>
      <p:pic>
        <p:nvPicPr>
          <p:cNvPr id="18" name="Image 0" descr="preencoded.png"/>
          <p:cNvPicPr>
            <a:picLocks noChangeAspect="1"/>
          </p:cNvPicPr>
          <p:nvPr/>
        </p:nvPicPr>
        <p:blipFill>
          <a:blip r:embed="rId4"/>
          <a:stretch>
            <a:fillRect/>
          </a:stretch>
        </p:blipFill>
        <p:spPr>
          <a:xfrm>
            <a:off x="6848856" y="2276856"/>
            <a:ext cx="475488" cy="475488"/>
          </a:xfrm>
          <a:prstGeom prst="rect">
            <a:avLst/>
          </a:prstGeom>
        </p:spPr>
      </p:pic>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FOUNDATIONS · THE CORE IDEA</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Light betrays human activity</a:t>
            </a:r>
            <a:endParaRPr lang="en-US" sz="2800" dirty="0"/>
          </a:p>
        </p:txBody>
      </p:sp>
      <p:sp>
        <p:nvSpPr>
          <p:cNvPr id="8" name="Shape 6"/>
          <p:cNvSpPr/>
          <p:nvPr/>
        </p:nvSpPr>
        <p:spPr>
          <a:xfrm>
            <a:off x="7635240" y="301752"/>
            <a:ext cx="109728" cy="109728"/>
          </a:xfrm>
          <a:prstGeom prst="ellipse">
            <a:avLst/>
          </a:prstGeom>
          <a:solidFill>
            <a:srgbClr val="00A86A"/>
          </a:solidFill>
          <a:ln w="12700">
            <a:solidFill>
              <a:srgbClr val="00A86A"/>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04</a:t>
            </a:r>
            <a:endParaRPr lang="en-US" sz="850" dirty="0"/>
          </a:p>
        </p:txBody>
      </p:sp>
      <p:sp>
        <p:nvSpPr>
          <p:cNvPr id="17" name="Text 14"/>
          <p:cNvSpPr txBox="1"/>
          <p:nvPr/>
        </p:nvSpPr>
        <p:spPr>
          <a:xfrm>
            <a:off x="457200" y="1325880"/>
            <a:ext cx="4754880" cy="713232"/>
          </a:xfrm>
          <a:prstGeom prst="rect">
            <a:avLst/>
          </a:prstGeom>
          <a:noFill/>
          <a:ln/>
        </p:spPr>
        <p:txBody>
          <a:bodyPr wrap="square" lIns="0" tIns="0" rIns="0" bIns="0" rtlCol="0" anchor="t"/>
          <a:lstStyle/>
          <a:p>
            <a:pPr marL="0" indent="0">
              <a:buNone/>
            </a:pPr>
            <a:r>
              <a:rPr lang="en-US" sz="1450" i="1" dirty="0">
                <a:solidFill>
                  <a:srgbClr val="00704A"/>
                </a:solidFill>
                <a:latin typeface="Calibri" pitchFamily="34" charset="0"/>
                <a:ea typeface="Calibri" pitchFamily="34" charset="-122"/>
                <a:cs typeface="Calibri" pitchFamily="34" charset="-120"/>
              </a:rPr>
              <a:t>Almost everything we do after sunset needs light — and some of it escapes upwards, into a satellite’s field of view.</a:t>
            </a:r>
            <a:endParaRPr lang="en-US" sz="1450" dirty="0"/>
          </a:p>
        </p:txBody>
      </p:sp>
      <p:sp>
        <p:nvSpPr>
          <p:cNvPr id="18" name="Text 15"/>
          <p:cNvSpPr txBox="1"/>
          <p:nvPr/>
        </p:nvSpPr>
        <p:spPr>
          <a:xfrm>
            <a:off x="457200" y="2084832"/>
            <a:ext cx="4754880" cy="59436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This physical fact turns the night side of the planet into an observation of human presence that no census, survey or register matches on all four of these properties at once:</a:t>
            </a:r>
            <a:endParaRPr lang="en-US" sz="1050" dirty="0"/>
          </a:p>
        </p:txBody>
      </p:sp>
      <p:sp>
        <p:nvSpPr>
          <p:cNvPr id="19" name="Shape 16"/>
          <p:cNvSpPr/>
          <p:nvPr/>
        </p:nvSpPr>
        <p:spPr>
          <a:xfrm>
            <a:off x="457200" y="2743200"/>
            <a:ext cx="2286000" cy="548640"/>
          </a:xfrm>
          <a:prstGeom prst="roundRect">
            <a:avLst>
              <a:gd name="adj" fmla="val 13333"/>
            </a:avLst>
          </a:prstGeom>
          <a:solidFill>
            <a:srgbClr val="F4F7F5"/>
          </a:solidFill>
          <a:ln w="9525">
            <a:solidFill>
              <a:srgbClr val="D5DED9"/>
            </a:solidFill>
            <a:prstDash val="solid"/>
          </a:ln>
        </p:spPr>
      </p:sp>
      <p:sp>
        <p:nvSpPr>
          <p:cNvPr id="20" name="Shape 17"/>
          <p:cNvSpPr/>
          <p:nvPr/>
        </p:nvSpPr>
        <p:spPr>
          <a:xfrm>
            <a:off x="548640" y="2834640"/>
            <a:ext cx="365760" cy="365760"/>
          </a:xfrm>
          <a:prstGeom prst="ellipse">
            <a:avLst/>
          </a:prstGeom>
          <a:solidFill>
            <a:srgbClr val="00A86A">
              <a:alpha val="22000"/>
            </a:srgbClr>
          </a:solidFill>
          <a:ln w="12700">
            <a:solidFill>
              <a:srgbClr val="00A86A">
                <a:alpha val="0"/>
              </a:srgbClr>
            </a:solidFill>
            <a:prstDash val="solid"/>
          </a:ln>
        </p:spPr>
      </p:sp>
      <p:pic>
        <p:nvPicPr>
          <p:cNvPr id="21" name="Image 0" descr="preencoded.png"/>
          <p:cNvPicPr>
            <a:picLocks noChangeAspect="1"/>
          </p:cNvPicPr>
          <p:nvPr/>
        </p:nvPicPr>
        <p:blipFill>
          <a:blip r:embed="rId3"/>
          <a:stretch>
            <a:fillRect/>
          </a:stretch>
        </p:blipFill>
        <p:spPr>
          <a:xfrm>
            <a:off x="643738" y="2929738"/>
            <a:ext cx="175565" cy="175565"/>
          </a:xfrm>
          <a:prstGeom prst="rect">
            <a:avLst/>
          </a:prstGeom>
        </p:spPr>
      </p:pic>
      <p:sp>
        <p:nvSpPr>
          <p:cNvPr id="22" name="Text 18"/>
          <p:cNvSpPr txBox="1"/>
          <p:nvPr/>
        </p:nvSpPr>
        <p:spPr>
          <a:xfrm>
            <a:off x="1005840" y="2807208"/>
            <a:ext cx="1691640" cy="219456"/>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Consistent everywhere</a:t>
            </a:r>
            <a:endParaRPr lang="en-US" sz="1100" dirty="0"/>
          </a:p>
        </p:txBody>
      </p:sp>
      <p:sp>
        <p:nvSpPr>
          <p:cNvPr id="23" name="Text 19"/>
          <p:cNvSpPr txBox="1"/>
          <p:nvPr/>
        </p:nvSpPr>
        <p:spPr>
          <a:xfrm>
            <a:off x="1005840" y="3035808"/>
            <a:ext cx="1691640" cy="2011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Same method in every country</a:t>
            </a:r>
            <a:endParaRPr lang="en-US" sz="900" dirty="0"/>
          </a:p>
        </p:txBody>
      </p:sp>
      <p:sp>
        <p:nvSpPr>
          <p:cNvPr id="24" name="Shape 20"/>
          <p:cNvSpPr/>
          <p:nvPr/>
        </p:nvSpPr>
        <p:spPr>
          <a:xfrm>
            <a:off x="2880360" y="2743200"/>
            <a:ext cx="2286000" cy="548640"/>
          </a:xfrm>
          <a:prstGeom prst="roundRect">
            <a:avLst>
              <a:gd name="adj" fmla="val 13333"/>
            </a:avLst>
          </a:prstGeom>
          <a:solidFill>
            <a:srgbClr val="F4F7F5"/>
          </a:solidFill>
          <a:ln w="9525">
            <a:solidFill>
              <a:srgbClr val="D5DED9"/>
            </a:solidFill>
            <a:prstDash val="solid"/>
          </a:ln>
        </p:spPr>
      </p:sp>
      <p:sp>
        <p:nvSpPr>
          <p:cNvPr id="25" name="Shape 21"/>
          <p:cNvSpPr/>
          <p:nvPr/>
        </p:nvSpPr>
        <p:spPr>
          <a:xfrm>
            <a:off x="2971800" y="2834640"/>
            <a:ext cx="365760" cy="365760"/>
          </a:xfrm>
          <a:prstGeom prst="ellipse">
            <a:avLst/>
          </a:prstGeom>
          <a:solidFill>
            <a:srgbClr val="00A86A">
              <a:alpha val="22000"/>
            </a:srgbClr>
          </a:solidFill>
          <a:ln w="12700">
            <a:solidFill>
              <a:srgbClr val="00A86A">
                <a:alpha val="0"/>
              </a:srgbClr>
            </a:solidFill>
            <a:prstDash val="solid"/>
          </a:ln>
        </p:spPr>
      </p:sp>
      <p:pic>
        <p:nvPicPr>
          <p:cNvPr id="26" name="Image 1" descr="preencoded.png"/>
          <p:cNvPicPr>
            <a:picLocks noChangeAspect="1"/>
          </p:cNvPicPr>
          <p:nvPr/>
        </p:nvPicPr>
        <p:blipFill>
          <a:blip r:embed="rId4"/>
          <a:stretch>
            <a:fillRect/>
          </a:stretch>
        </p:blipFill>
        <p:spPr>
          <a:xfrm>
            <a:off x="3066898" y="2929738"/>
            <a:ext cx="175565" cy="175565"/>
          </a:xfrm>
          <a:prstGeom prst="rect">
            <a:avLst/>
          </a:prstGeom>
        </p:spPr>
      </p:pic>
      <p:sp>
        <p:nvSpPr>
          <p:cNvPr id="27" name="Text 22"/>
          <p:cNvSpPr txBox="1"/>
          <p:nvPr/>
        </p:nvSpPr>
        <p:spPr>
          <a:xfrm>
            <a:off x="3429000" y="2807208"/>
            <a:ext cx="1691640" cy="219456"/>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Continuous in space</a:t>
            </a:r>
            <a:endParaRPr lang="en-US" sz="1100" dirty="0"/>
          </a:p>
        </p:txBody>
      </p:sp>
      <p:sp>
        <p:nvSpPr>
          <p:cNvPr id="28" name="Text 23"/>
          <p:cNvSpPr txBox="1"/>
          <p:nvPr/>
        </p:nvSpPr>
        <p:spPr>
          <a:xfrm>
            <a:off x="3429000" y="3035808"/>
            <a:ext cx="1691640" cy="2011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Every cell of about 500 m</a:t>
            </a:r>
            <a:endParaRPr lang="en-US" sz="900" dirty="0"/>
          </a:p>
        </p:txBody>
      </p:sp>
      <p:sp>
        <p:nvSpPr>
          <p:cNvPr id="29" name="Shape 24"/>
          <p:cNvSpPr/>
          <p:nvPr/>
        </p:nvSpPr>
        <p:spPr>
          <a:xfrm>
            <a:off x="457200" y="3401568"/>
            <a:ext cx="2286000" cy="548640"/>
          </a:xfrm>
          <a:prstGeom prst="roundRect">
            <a:avLst>
              <a:gd name="adj" fmla="val 13333"/>
            </a:avLst>
          </a:prstGeom>
          <a:solidFill>
            <a:srgbClr val="F4F7F5"/>
          </a:solidFill>
          <a:ln w="9525">
            <a:solidFill>
              <a:srgbClr val="D5DED9"/>
            </a:solidFill>
            <a:prstDash val="solid"/>
          </a:ln>
        </p:spPr>
      </p:sp>
      <p:sp>
        <p:nvSpPr>
          <p:cNvPr id="30" name="Shape 25"/>
          <p:cNvSpPr/>
          <p:nvPr/>
        </p:nvSpPr>
        <p:spPr>
          <a:xfrm>
            <a:off x="548640" y="3493008"/>
            <a:ext cx="365760" cy="365760"/>
          </a:xfrm>
          <a:prstGeom prst="ellipse">
            <a:avLst/>
          </a:prstGeom>
          <a:solidFill>
            <a:srgbClr val="00A86A">
              <a:alpha val="22000"/>
            </a:srgbClr>
          </a:solidFill>
          <a:ln w="12700">
            <a:solidFill>
              <a:srgbClr val="00A86A">
                <a:alpha val="0"/>
              </a:srgbClr>
            </a:solidFill>
            <a:prstDash val="solid"/>
          </a:ln>
        </p:spPr>
      </p:sp>
      <p:pic>
        <p:nvPicPr>
          <p:cNvPr id="31" name="Image 2" descr="preencoded.png"/>
          <p:cNvPicPr>
            <a:picLocks noChangeAspect="1"/>
          </p:cNvPicPr>
          <p:nvPr/>
        </p:nvPicPr>
        <p:blipFill>
          <a:blip r:embed="rId5"/>
          <a:stretch>
            <a:fillRect/>
          </a:stretch>
        </p:blipFill>
        <p:spPr>
          <a:xfrm>
            <a:off x="643738" y="3588106"/>
            <a:ext cx="175565" cy="175565"/>
          </a:xfrm>
          <a:prstGeom prst="rect">
            <a:avLst/>
          </a:prstGeom>
        </p:spPr>
      </p:pic>
      <p:sp>
        <p:nvSpPr>
          <p:cNvPr id="32" name="Text 26"/>
          <p:cNvSpPr txBox="1"/>
          <p:nvPr/>
        </p:nvSpPr>
        <p:spPr>
          <a:xfrm>
            <a:off x="1005840" y="3465576"/>
            <a:ext cx="1691640" cy="219456"/>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Politically neutral</a:t>
            </a:r>
            <a:endParaRPr lang="en-US" sz="1100" dirty="0"/>
          </a:p>
        </p:txBody>
      </p:sp>
      <p:sp>
        <p:nvSpPr>
          <p:cNvPr id="33" name="Text 27"/>
          <p:cNvSpPr txBox="1"/>
          <p:nvPr/>
        </p:nvSpPr>
        <p:spPr>
          <a:xfrm>
            <a:off x="1005840" y="3694176"/>
            <a:ext cx="1691640" cy="2011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Independent of what is reported</a:t>
            </a:r>
            <a:endParaRPr lang="en-US" sz="900" dirty="0"/>
          </a:p>
        </p:txBody>
      </p:sp>
      <p:sp>
        <p:nvSpPr>
          <p:cNvPr id="34" name="Shape 28"/>
          <p:cNvSpPr/>
          <p:nvPr/>
        </p:nvSpPr>
        <p:spPr>
          <a:xfrm>
            <a:off x="2880360" y="3401568"/>
            <a:ext cx="2286000" cy="548640"/>
          </a:xfrm>
          <a:prstGeom prst="roundRect">
            <a:avLst>
              <a:gd name="adj" fmla="val 13333"/>
            </a:avLst>
          </a:prstGeom>
          <a:solidFill>
            <a:srgbClr val="F4F7F5"/>
          </a:solidFill>
          <a:ln w="9525">
            <a:solidFill>
              <a:srgbClr val="D5DED9"/>
            </a:solidFill>
            <a:prstDash val="solid"/>
          </a:ln>
        </p:spPr>
      </p:sp>
      <p:sp>
        <p:nvSpPr>
          <p:cNvPr id="35" name="Shape 29"/>
          <p:cNvSpPr/>
          <p:nvPr/>
        </p:nvSpPr>
        <p:spPr>
          <a:xfrm>
            <a:off x="2971800" y="3493008"/>
            <a:ext cx="365760" cy="365760"/>
          </a:xfrm>
          <a:prstGeom prst="ellipse">
            <a:avLst/>
          </a:prstGeom>
          <a:solidFill>
            <a:srgbClr val="00A86A">
              <a:alpha val="22000"/>
            </a:srgbClr>
          </a:solidFill>
          <a:ln w="12700">
            <a:solidFill>
              <a:srgbClr val="00A86A">
                <a:alpha val="0"/>
              </a:srgbClr>
            </a:solidFill>
            <a:prstDash val="solid"/>
          </a:ln>
        </p:spPr>
      </p:sp>
      <p:pic>
        <p:nvPicPr>
          <p:cNvPr id="36" name="Image 3" descr="preencoded.png"/>
          <p:cNvPicPr>
            <a:picLocks noChangeAspect="1"/>
          </p:cNvPicPr>
          <p:nvPr/>
        </p:nvPicPr>
        <p:blipFill>
          <a:blip r:embed="rId6"/>
          <a:stretch>
            <a:fillRect/>
          </a:stretch>
        </p:blipFill>
        <p:spPr>
          <a:xfrm>
            <a:off x="3066898" y="3588106"/>
            <a:ext cx="175565" cy="175565"/>
          </a:xfrm>
          <a:prstGeom prst="rect">
            <a:avLst/>
          </a:prstGeom>
        </p:spPr>
      </p:pic>
      <p:sp>
        <p:nvSpPr>
          <p:cNvPr id="37" name="Text 30"/>
          <p:cNvSpPr txBox="1"/>
          <p:nvPr/>
        </p:nvSpPr>
        <p:spPr>
          <a:xfrm>
            <a:off x="3429000" y="3465576"/>
            <a:ext cx="1691640" cy="219456"/>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Freely accessible</a:t>
            </a:r>
            <a:endParaRPr lang="en-US" sz="1100" dirty="0"/>
          </a:p>
        </p:txBody>
      </p:sp>
      <p:sp>
        <p:nvSpPr>
          <p:cNvPr id="38" name="Text 31"/>
          <p:cNvSpPr txBox="1"/>
          <p:nvPr/>
        </p:nvSpPr>
        <p:spPr>
          <a:xfrm>
            <a:off x="3429000" y="3694176"/>
            <a:ext cx="1691640" cy="2011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Open NASA / EOG products</a:t>
            </a:r>
            <a:endParaRPr lang="en-US" sz="900" dirty="0"/>
          </a:p>
        </p:txBody>
      </p:sp>
      <p:sp>
        <p:nvSpPr>
          <p:cNvPr id="39" name="Shape 32"/>
          <p:cNvSpPr/>
          <p:nvPr/>
        </p:nvSpPr>
        <p:spPr>
          <a:xfrm>
            <a:off x="5486400" y="1325880"/>
            <a:ext cx="3200400" cy="713232"/>
          </a:xfrm>
          <a:prstGeom prst="roundRect">
            <a:avLst>
              <a:gd name="adj" fmla="val 10256"/>
            </a:avLst>
          </a:prstGeom>
          <a:solidFill>
            <a:srgbClr val="F4F7F5"/>
          </a:solidFill>
          <a:ln w="9525">
            <a:solidFill>
              <a:srgbClr val="D5DED9"/>
            </a:solidFill>
            <a:prstDash val="solid"/>
          </a:ln>
        </p:spPr>
      </p:sp>
      <p:sp>
        <p:nvSpPr>
          <p:cNvPr id="40" name="Text 33"/>
          <p:cNvSpPr txBox="1"/>
          <p:nvPr/>
        </p:nvSpPr>
        <p:spPr>
          <a:xfrm>
            <a:off x="5596128" y="1399032"/>
            <a:ext cx="1371600" cy="566928"/>
          </a:xfrm>
          <a:prstGeom prst="rect">
            <a:avLst/>
          </a:prstGeom>
          <a:noFill/>
          <a:ln/>
        </p:spPr>
        <p:txBody>
          <a:bodyPr wrap="square" lIns="0" tIns="0" rIns="0" bIns="0" rtlCol="0" anchor="ctr"/>
          <a:lstStyle/>
          <a:p>
            <a:pPr marL="0" indent="0">
              <a:buNone/>
            </a:pPr>
            <a:r>
              <a:rPr lang="en-US" sz="3000" b="1" dirty="0">
                <a:solidFill>
                  <a:srgbClr val="00A86A"/>
                </a:solidFill>
                <a:latin typeface="Calibri" pitchFamily="34" charset="0"/>
                <a:ea typeface="Calibri" pitchFamily="34" charset="-122"/>
                <a:cs typeface="Calibri" pitchFamily="34" charset="-120"/>
              </a:rPr>
              <a:t>1992</a:t>
            </a:r>
            <a:endParaRPr lang="en-US" sz="3000" dirty="0"/>
          </a:p>
        </p:txBody>
      </p:sp>
      <p:sp>
        <p:nvSpPr>
          <p:cNvPr id="41" name="Text 34"/>
          <p:cNvSpPr txBox="1"/>
          <p:nvPr/>
        </p:nvSpPr>
        <p:spPr>
          <a:xfrm>
            <a:off x="6967728" y="1380744"/>
            <a:ext cx="1664208" cy="603504"/>
          </a:xfrm>
          <a:prstGeom prst="rect">
            <a:avLst/>
          </a:prstGeom>
          <a:noFill/>
          <a:ln/>
        </p:spPr>
        <p:txBody>
          <a:bodyPr wrap="square" lIns="0" tIns="0" rIns="0" bIns="0" rtlCol="0" anchor="ctr"/>
          <a:lstStyle/>
          <a:p>
            <a:pPr marL="0" indent="0">
              <a:buNone/>
            </a:pPr>
            <a:r>
              <a:rPr lang="en-US" sz="900" dirty="0">
                <a:solidFill>
                  <a:srgbClr val="5E6964"/>
                </a:solidFill>
                <a:latin typeface="Calibri" pitchFamily="34" charset="0"/>
                <a:ea typeface="Calibri" pitchFamily="34" charset="-122"/>
                <a:cs typeface="Calibri" pitchFamily="34" charset="-120"/>
              </a:rPr>
              <a:t>Start of the continuous DMSP digital archive — three decades of history</a:t>
            </a:r>
            <a:endParaRPr lang="en-US" sz="900" dirty="0"/>
          </a:p>
        </p:txBody>
      </p:sp>
      <p:sp>
        <p:nvSpPr>
          <p:cNvPr id="42" name="Shape 35"/>
          <p:cNvSpPr/>
          <p:nvPr/>
        </p:nvSpPr>
        <p:spPr>
          <a:xfrm>
            <a:off x="5486400" y="2148840"/>
            <a:ext cx="3200400" cy="713232"/>
          </a:xfrm>
          <a:prstGeom prst="roundRect">
            <a:avLst>
              <a:gd name="adj" fmla="val 10256"/>
            </a:avLst>
          </a:prstGeom>
          <a:solidFill>
            <a:srgbClr val="F4F7F5"/>
          </a:solidFill>
          <a:ln w="9525">
            <a:solidFill>
              <a:srgbClr val="D5DED9"/>
            </a:solidFill>
            <a:prstDash val="solid"/>
          </a:ln>
        </p:spPr>
      </p:sp>
      <p:sp>
        <p:nvSpPr>
          <p:cNvPr id="43" name="Text 36"/>
          <p:cNvSpPr txBox="1"/>
          <p:nvPr/>
        </p:nvSpPr>
        <p:spPr>
          <a:xfrm>
            <a:off x="5596128" y="2221992"/>
            <a:ext cx="1371600" cy="566928"/>
          </a:xfrm>
          <a:prstGeom prst="rect">
            <a:avLst/>
          </a:prstGeom>
          <a:noFill/>
          <a:ln/>
        </p:spPr>
        <p:txBody>
          <a:bodyPr wrap="square" lIns="0" tIns="0" rIns="0" bIns="0" rtlCol="0" anchor="ctr"/>
          <a:lstStyle/>
          <a:p>
            <a:pPr marL="0" indent="0">
              <a:buNone/>
            </a:pPr>
            <a:r>
              <a:rPr lang="en-US" sz="3000" b="1" dirty="0">
                <a:solidFill>
                  <a:srgbClr val="00704A"/>
                </a:solidFill>
                <a:latin typeface="Calibri" pitchFamily="34" charset="0"/>
                <a:ea typeface="Calibri" pitchFamily="34" charset="-122"/>
                <a:cs typeface="Calibri" pitchFamily="34" charset="-120"/>
              </a:rPr>
              <a:t>500 m</a:t>
            </a:r>
            <a:endParaRPr lang="en-US" sz="3000" dirty="0"/>
          </a:p>
        </p:txBody>
      </p:sp>
      <p:sp>
        <p:nvSpPr>
          <p:cNvPr id="44" name="Text 37"/>
          <p:cNvSpPr txBox="1"/>
          <p:nvPr/>
        </p:nvSpPr>
        <p:spPr>
          <a:xfrm>
            <a:off x="6967728" y="2203704"/>
            <a:ext cx="1664208" cy="603504"/>
          </a:xfrm>
          <a:prstGeom prst="rect">
            <a:avLst/>
          </a:prstGeom>
          <a:noFill/>
          <a:ln/>
        </p:spPr>
        <p:txBody>
          <a:bodyPr wrap="square" lIns="0" tIns="0" rIns="0" bIns="0" rtlCol="0" anchor="ctr"/>
          <a:lstStyle/>
          <a:p>
            <a:pPr marL="0" indent="0">
              <a:buNone/>
            </a:pPr>
            <a:r>
              <a:rPr lang="en-US" sz="900" dirty="0">
                <a:solidFill>
                  <a:srgbClr val="5E6964"/>
                </a:solidFill>
                <a:latin typeface="Calibri" pitchFamily="34" charset="0"/>
                <a:ea typeface="Calibri" pitchFamily="34" charset="-122"/>
                <a:cs typeface="Calibri" pitchFamily="34" charset="-120"/>
              </a:rPr>
              <a:t>VIIRS Day/Night Band pixel, nearly constant across the whole swath, data product</a:t>
            </a:r>
            <a:endParaRPr lang="en-US" sz="900" dirty="0"/>
          </a:p>
        </p:txBody>
      </p:sp>
      <p:sp>
        <p:nvSpPr>
          <p:cNvPr id="45" name="Shape 38"/>
          <p:cNvSpPr/>
          <p:nvPr/>
        </p:nvSpPr>
        <p:spPr>
          <a:xfrm>
            <a:off x="5486400" y="2971800"/>
            <a:ext cx="3200400" cy="713232"/>
          </a:xfrm>
          <a:prstGeom prst="roundRect">
            <a:avLst>
              <a:gd name="adj" fmla="val 10256"/>
            </a:avLst>
          </a:prstGeom>
          <a:solidFill>
            <a:srgbClr val="F4F7F5"/>
          </a:solidFill>
          <a:ln w="9525">
            <a:solidFill>
              <a:srgbClr val="D5DED9"/>
            </a:solidFill>
            <a:prstDash val="solid"/>
          </a:ln>
        </p:spPr>
      </p:sp>
      <p:sp>
        <p:nvSpPr>
          <p:cNvPr id="46" name="Text 39"/>
          <p:cNvSpPr txBox="1"/>
          <p:nvPr/>
        </p:nvSpPr>
        <p:spPr>
          <a:xfrm>
            <a:off x="5596128" y="3044952"/>
            <a:ext cx="1371600" cy="566928"/>
          </a:xfrm>
          <a:prstGeom prst="rect">
            <a:avLst/>
          </a:prstGeom>
          <a:noFill/>
          <a:ln/>
        </p:spPr>
        <p:txBody>
          <a:bodyPr wrap="square" lIns="0" tIns="0" rIns="0" bIns="0" rtlCol="0" anchor="ctr"/>
          <a:lstStyle/>
          <a:p>
            <a:pPr marL="0" indent="0">
              <a:buNone/>
            </a:pPr>
            <a:r>
              <a:rPr lang="en-US" sz="1900" b="1" dirty="0">
                <a:solidFill>
                  <a:srgbClr val="0E7C86"/>
                </a:solidFill>
                <a:latin typeface="Calibri" pitchFamily="34" charset="0"/>
                <a:ea typeface="Calibri" pitchFamily="34" charset="-122"/>
                <a:cs typeface="Calibri" pitchFamily="34" charset="-120"/>
              </a:rPr>
              <a:t>Every night</a:t>
            </a:r>
            <a:endParaRPr lang="en-US" sz="1900" dirty="0"/>
          </a:p>
        </p:txBody>
      </p:sp>
      <p:sp>
        <p:nvSpPr>
          <p:cNvPr id="47" name="Text 40"/>
          <p:cNvSpPr txBox="1"/>
          <p:nvPr/>
        </p:nvSpPr>
        <p:spPr>
          <a:xfrm>
            <a:off x="6967728" y="3026664"/>
            <a:ext cx="1664208" cy="603504"/>
          </a:xfrm>
          <a:prstGeom prst="rect">
            <a:avLst/>
          </a:prstGeom>
          <a:noFill/>
          <a:ln/>
        </p:spPr>
        <p:txBody>
          <a:bodyPr wrap="square" lIns="0" tIns="0" rIns="0" bIns="0" rtlCol="0" anchor="ctr"/>
          <a:lstStyle/>
          <a:p>
            <a:pPr marL="0" indent="0">
              <a:buNone/>
            </a:pPr>
            <a:r>
              <a:rPr lang="en-US" sz="900" dirty="0">
                <a:solidFill>
                  <a:srgbClr val="5E6964"/>
                </a:solidFill>
                <a:latin typeface="Calibri" pitchFamily="34" charset="0"/>
                <a:ea typeface="Calibri" pitchFamily="34" charset="-122"/>
                <a:cs typeface="Calibri" pitchFamily="34" charset="-120"/>
              </a:rPr>
              <a:t>Global VIIRS overpass around 01:30 local time, since 2012</a:t>
            </a:r>
            <a:endParaRPr lang="en-US" sz="900" dirty="0"/>
          </a:p>
        </p:txBody>
      </p:sp>
      <p:sp>
        <p:nvSpPr>
          <p:cNvPr id="48" name="Shape 41"/>
          <p:cNvSpPr/>
          <p:nvPr/>
        </p:nvSpPr>
        <p:spPr>
          <a:xfrm>
            <a:off x="5486400" y="3822192"/>
            <a:ext cx="3200400" cy="713232"/>
          </a:xfrm>
          <a:prstGeom prst="roundRect">
            <a:avLst>
              <a:gd name="adj" fmla="val 10256"/>
            </a:avLst>
          </a:prstGeom>
          <a:solidFill>
            <a:srgbClr val="E8F5EF"/>
          </a:solidFill>
          <a:ln w="15875">
            <a:solidFill>
              <a:srgbClr val="00A86A"/>
            </a:solidFill>
            <a:prstDash val="solid"/>
          </a:ln>
        </p:spPr>
      </p:sp>
      <p:sp>
        <p:nvSpPr>
          <p:cNvPr id="49" name="Text 42"/>
          <p:cNvSpPr txBox="1"/>
          <p:nvPr/>
        </p:nvSpPr>
        <p:spPr>
          <a:xfrm>
            <a:off x="5596128" y="3849624"/>
            <a:ext cx="3017520" cy="658368"/>
          </a:xfrm>
          <a:prstGeom prst="rect">
            <a:avLst/>
          </a:prstGeom>
          <a:noFill/>
          <a:ln/>
        </p:spPr>
        <p:txBody>
          <a:bodyPr wrap="square" lIns="0" tIns="0" rIns="0" bIns="0" rtlCol="0" anchor="ctr"/>
          <a:lstStyle/>
          <a:p>
            <a:pPr marL="0" indent="0">
              <a:buNone/>
            </a:pPr>
            <a:r>
              <a:rPr lang="en-US" sz="1000" b="1" dirty="0">
                <a:solidFill>
                  <a:srgbClr val="00704A"/>
                </a:solidFill>
                <a:latin typeface="Calibri" pitchFamily="34" charset="0"/>
                <a:ea typeface="Calibri" pitchFamily="34" charset="-122"/>
                <a:cs typeface="Calibri" pitchFamily="34" charset="-120"/>
              </a:rPr>
              <a:t>For an NSO:  </a:t>
            </a:r>
            <a:r>
              <a:rPr lang="en-US" sz="1000" dirty="0">
                <a:solidFill>
                  <a:srgbClr val="231F20"/>
                </a:solidFill>
                <a:latin typeface="Calibri" pitchFamily="34" charset="0"/>
                <a:ea typeface="Calibri" pitchFamily="34" charset="-122"/>
                <a:cs typeface="Calibri" pitchFamily="34" charset="-120"/>
              </a:rPr>
              <a:t>a census roughly every ten years, surveys every few years — lights arrive every night, for every district.</a:t>
            </a:r>
            <a:endParaRPr lang="en-US" sz="10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FOUNDATIONS · DEFINITIONS</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What NTL are — and are not</a:t>
            </a:r>
            <a:endParaRPr lang="en-US" sz="2800" dirty="0"/>
          </a:p>
        </p:txBody>
      </p:sp>
      <p:sp>
        <p:nvSpPr>
          <p:cNvPr id="8" name="Shape 6"/>
          <p:cNvSpPr/>
          <p:nvPr/>
        </p:nvSpPr>
        <p:spPr>
          <a:xfrm>
            <a:off x="7635240" y="301752"/>
            <a:ext cx="109728" cy="109728"/>
          </a:xfrm>
          <a:prstGeom prst="ellipse">
            <a:avLst/>
          </a:prstGeom>
          <a:solidFill>
            <a:srgbClr val="00A86A"/>
          </a:solidFill>
          <a:ln w="12700">
            <a:solidFill>
              <a:srgbClr val="00A86A"/>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05</a:t>
            </a:r>
            <a:endParaRPr lang="en-US" sz="850" dirty="0"/>
          </a:p>
        </p:txBody>
      </p:sp>
      <p:sp>
        <p:nvSpPr>
          <p:cNvPr id="17" name="Shape 14"/>
          <p:cNvSpPr/>
          <p:nvPr/>
        </p:nvSpPr>
        <p:spPr>
          <a:xfrm>
            <a:off x="457200" y="1325880"/>
            <a:ext cx="8229600" cy="868680"/>
          </a:xfrm>
          <a:prstGeom prst="roundRect">
            <a:avLst>
              <a:gd name="adj" fmla="val 8421"/>
            </a:avLst>
          </a:prstGeom>
          <a:solidFill>
            <a:srgbClr val="E8F5EF"/>
          </a:solidFill>
          <a:ln w="15875">
            <a:solidFill>
              <a:srgbClr val="00A86A"/>
            </a:solidFill>
            <a:prstDash val="solid"/>
          </a:ln>
        </p:spPr>
      </p:sp>
      <p:sp>
        <p:nvSpPr>
          <p:cNvPr id="18" name="Shape 15"/>
          <p:cNvSpPr/>
          <p:nvPr/>
        </p:nvSpPr>
        <p:spPr>
          <a:xfrm>
            <a:off x="594360" y="1536192"/>
            <a:ext cx="457200" cy="457200"/>
          </a:xfrm>
          <a:prstGeom prst="ellipse">
            <a:avLst/>
          </a:prstGeom>
          <a:solidFill>
            <a:srgbClr val="00A86A">
              <a:alpha val="22000"/>
            </a:srgbClr>
          </a:solidFill>
          <a:ln w="12700">
            <a:solidFill>
              <a:srgbClr val="00A86A">
                <a:alpha val="0"/>
              </a:srgbClr>
            </a:solidFill>
            <a:prstDash val="solid"/>
          </a:ln>
        </p:spPr>
      </p:sp>
      <p:pic>
        <p:nvPicPr>
          <p:cNvPr id="19" name="Image 0" descr="preencoded.png"/>
          <p:cNvPicPr>
            <a:picLocks noChangeAspect="1"/>
          </p:cNvPicPr>
          <p:nvPr/>
        </p:nvPicPr>
        <p:blipFill>
          <a:blip r:embed="rId3"/>
          <a:stretch>
            <a:fillRect/>
          </a:stretch>
        </p:blipFill>
        <p:spPr>
          <a:xfrm>
            <a:off x="713232" y="1655064"/>
            <a:ext cx="219456" cy="219456"/>
          </a:xfrm>
          <a:prstGeom prst="rect">
            <a:avLst/>
          </a:prstGeom>
        </p:spPr>
      </p:pic>
      <p:sp>
        <p:nvSpPr>
          <p:cNvPr id="20" name="Text 16"/>
          <p:cNvSpPr txBox="1"/>
          <p:nvPr/>
        </p:nvSpPr>
        <p:spPr>
          <a:xfrm>
            <a:off x="1188720" y="1417320"/>
            <a:ext cx="3657600" cy="182880"/>
          </a:xfrm>
          <a:prstGeom prst="rect">
            <a:avLst/>
          </a:prstGeom>
          <a:noFill/>
          <a:ln/>
        </p:spPr>
        <p:txBody>
          <a:bodyPr wrap="square" lIns="0" tIns="0" rIns="0" bIns="0" rtlCol="0" anchor="t"/>
          <a:lstStyle/>
          <a:p>
            <a:pPr marL="0" indent="0">
              <a:buNone/>
            </a:pPr>
            <a:r>
              <a:rPr lang="en-US" sz="950" b="1" kern="0" spc="300" dirty="0">
                <a:solidFill>
                  <a:srgbClr val="00704A"/>
                </a:solidFill>
                <a:latin typeface="Calibri" pitchFamily="34" charset="0"/>
                <a:ea typeface="Calibri" pitchFamily="34" charset="-122"/>
                <a:cs typeface="Calibri" pitchFamily="34" charset="-120"/>
              </a:rPr>
              <a:t>WORKING DEFINITION</a:t>
            </a:r>
            <a:endParaRPr lang="en-US" sz="950" dirty="0"/>
          </a:p>
        </p:txBody>
      </p:sp>
      <p:sp>
        <p:nvSpPr>
          <p:cNvPr id="21" name="Text 17"/>
          <p:cNvSpPr txBox="1"/>
          <p:nvPr/>
        </p:nvSpPr>
        <p:spPr>
          <a:xfrm>
            <a:off x="1188720" y="1645920"/>
            <a:ext cx="7360920" cy="512064"/>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Night-time lights (NTL) are measurements of the visible and near-infrared radiance emitted upwards from the Earth’s surface, recorded by a satellite sensor during local night, in the absence of direct sunlight.</a:t>
            </a:r>
            <a:endParaRPr lang="en-US" sz="1150" dirty="0"/>
          </a:p>
        </p:txBody>
      </p:sp>
      <p:sp>
        <p:nvSpPr>
          <p:cNvPr id="22" name="Text 18"/>
          <p:cNvSpPr txBox="1"/>
          <p:nvPr/>
        </p:nvSpPr>
        <p:spPr>
          <a:xfrm>
            <a:off x="457200" y="2331720"/>
            <a:ext cx="4023360" cy="274320"/>
          </a:xfrm>
          <a:prstGeom prst="rect">
            <a:avLst/>
          </a:prstGeom>
          <a:noFill/>
          <a:ln/>
        </p:spPr>
        <p:txBody>
          <a:bodyPr wrap="square" lIns="0" tIns="0" rIns="0" bIns="0" rtlCol="0" anchor="t"/>
          <a:lstStyle/>
          <a:p>
            <a:pPr marL="0" indent="0">
              <a:buNone/>
            </a:pPr>
            <a:r>
              <a:rPr lang="en-US" sz="1400" b="1" dirty="0">
                <a:solidFill>
                  <a:srgbClr val="00A86A"/>
                </a:solidFill>
                <a:latin typeface="Calibri" pitchFamily="34" charset="0"/>
                <a:ea typeface="Calibri" pitchFamily="34" charset="-122"/>
                <a:cs typeface="Calibri" pitchFamily="34" charset="-120"/>
              </a:rPr>
              <a:t>What they are</a:t>
            </a:r>
            <a:endParaRPr lang="en-US" sz="1400" dirty="0"/>
          </a:p>
        </p:txBody>
      </p:sp>
      <p:sp>
        <p:nvSpPr>
          <p:cNvPr id="23" name="Shape 19"/>
          <p:cNvSpPr/>
          <p:nvPr/>
        </p:nvSpPr>
        <p:spPr>
          <a:xfrm>
            <a:off x="457200" y="2670048"/>
            <a:ext cx="4023360" cy="548640"/>
          </a:xfrm>
          <a:prstGeom prst="roundRect">
            <a:avLst>
              <a:gd name="adj" fmla="val 13333"/>
            </a:avLst>
          </a:prstGeom>
          <a:solidFill>
            <a:srgbClr val="F4F7F5"/>
          </a:solidFill>
          <a:ln w="9525">
            <a:solidFill>
              <a:srgbClr val="D5DED9"/>
            </a:solidFill>
            <a:prstDash val="solid"/>
          </a:ln>
        </p:spPr>
      </p:sp>
      <p:sp>
        <p:nvSpPr>
          <p:cNvPr id="24" name="Shape 20"/>
          <p:cNvSpPr/>
          <p:nvPr/>
        </p:nvSpPr>
        <p:spPr>
          <a:xfrm>
            <a:off x="548640" y="2779776"/>
            <a:ext cx="329184" cy="329184"/>
          </a:xfrm>
          <a:prstGeom prst="ellipse">
            <a:avLst/>
          </a:prstGeom>
          <a:solidFill>
            <a:srgbClr val="00A86A">
              <a:alpha val="22000"/>
            </a:srgbClr>
          </a:solidFill>
          <a:ln w="12700">
            <a:solidFill>
              <a:srgbClr val="00A86A">
                <a:alpha val="0"/>
              </a:srgbClr>
            </a:solidFill>
            <a:prstDash val="solid"/>
          </a:ln>
        </p:spPr>
      </p:sp>
      <p:pic>
        <p:nvPicPr>
          <p:cNvPr id="25" name="Image 1" descr="preencoded.png"/>
          <p:cNvPicPr>
            <a:picLocks noChangeAspect="1"/>
          </p:cNvPicPr>
          <p:nvPr/>
        </p:nvPicPr>
        <p:blipFill>
          <a:blip r:embed="rId4"/>
          <a:stretch>
            <a:fillRect/>
          </a:stretch>
        </p:blipFill>
        <p:spPr>
          <a:xfrm>
            <a:off x="634228" y="2865364"/>
            <a:ext cx="158008" cy="158008"/>
          </a:xfrm>
          <a:prstGeom prst="rect">
            <a:avLst/>
          </a:prstGeom>
        </p:spPr>
      </p:pic>
      <p:sp>
        <p:nvSpPr>
          <p:cNvPr id="26" name="Text 21"/>
          <p:cNvSpPr txBox="1"/>
          <p:nvPr/>
        </p:nvSpPr>
        <p:spPr>
          <a:xfrm>
            <a:off x="987552" y="2724912"/>
            <a:ext cx="3429000" cy="20116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A physical measurement</a:t>
            </a:r>
            <a:endParaRPr lang="en-US" sz="1050" dirty="0"/>
          </a:p>
        </p:txBody>
      </p:sp>
      <p:sp>
        <p:nvSpPr>
          <p:cNvPr id="27" name="Text 22"/>
          <p:cNvSpPr txBox="1"/>
          <p:nvPr/>
        </p:nvSpPr>
        <p:spPr>
          <a:xfrm>
            <a:off x="987552" y="2935224"/>
            <a:ext cx="3456432" cy="256032"/>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Radiance in nW·cm⁻²·sr⁻¹ for calibrated sensors (VIIRS).</a:t>
            </a:r>
            <a:endParaRPr lang="en-US" sz="900" dirty="0"/>
          </a:p>
        </p:txBody>
      </p:sp>
      <p:sp>
        <p:nvSpPr>
          <p:cNvPr id="28" name="Shape 23"/>
          <p:cNvSpPr/>
          <p:nvPr/>
        </p:nvSpPr>
        <p:spPr>
          <a:xfrm>
            <a:off x="457200" y="3310128"/>
            <a:ext cx="4023360" cy="548640"/>
          </a:xfrm>
          <a:prstGeom prst="roundRect">
            <a:avLst>
              <a:gd name="adj" fmla="val 13333"/>
            </a:avLst>
          </a:prstGeom>
          <a:solidFill>
            <a:srgbClr val="F4F7F5"/>
          </a:solidFill>
          <a:ln w="9525">
            <a:solidFill>
              <a:srgbClr val="D5DED9"/>
            </a:solidFill>
            <a:prstDash val="solid"/>
          </a:ln>
        </p:spPr>
      </p:sp>
      <p:sp>
        <p:nvSpPr>
          <p:cNvPr id="29" name="Shape 24"/>
          <p:cNvSpPr/>
          <p:nvPr/>
        </p:nvSpPr>
        <p:spPr>
          <a:xfrm>
            <a:off x="548640" y="3419856"/>
            <a:ext cx="329184" cy="329184"/>
          </a:xfrm>
          <a:prstGeom prst="ellipse">
            <a:avLst/>
          </a:prstGeom>
          <a:solidFill>
            <a:srgbClr val="00A86A">
              <a:alpha val="22000"/>
            </a:srgbClr>
          </a:solidFill>
          <a:ln w="12700">
            <a:solidFill>
              <a:srgbClr val="00A86A">
                <a:alpha val="0"/>
              </a:srgbClr>
            </a:solidFill>
            <a:prstDash val="solid"/>
          </a:ln>
        </p:spPr>
      </p:sp>
      <p:pic>
        <p:nvPicPr>
          <p:cNvPr id="30" name="Image 2" descr="preencoded.png"/>
          <p:cNvPicPr>
            <a:picLocks noChangeAspect="1"/>
          </p:cNvPicPr>
          <p:nvPr/>
        </p:nvPicPr>
        <p:blipFill>
          <a:blip r:embed="rId4"/>
          <a:stretch>
            <a:fillRect/>
          </a:stretch>
        </p:blipFill>
        <p:spPr>
          <a:xfrm>
            <a:off x="634228" y="3505444"/>
            <a:ext cx="158008" cy="158008"/>
          </a:xfrm>
          <a:prstGeom prst="rect">
            <a:avLst/>
          </a:prstGeom>
        </p:spPr>
      </p:pic>
      <p:sp>
        <p:nvSpPr>
          <p:cNvPr id="31" name="Text 25"/>
          <p:cNvSpPr txBox="1"/>
          <p:nvPr/>
        </p:nvSpPr>
        <p:spPr>
          <a:xfrm>
            <a:off x="987552" y="3364992"/>
            <a:ext cx="3429000" cy="20116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A consistent grid</a:t>
            </a:r>
            <a:endParaRPr lang="en-US" sz="1050" dirty="0"/>
          </a:p>
        </p:txBody>
      </p:sp>
      <p:sp>
        <p:nvSpPr>
          <p:cNvPr id="32" name="Text 26"/>
          <p:cNvSpPr txBox="1"/>
          <p:nvPr/>
        </p:nvSpPr>
        <p:spPr>
          <a:xfrm>
            <a:off x="987552" y="3575304"/>
            <a:ext cx="3456432" cy="256032"/>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Same method in every country — in Rwanda as in Nigeria.</a:t>
            </a:r>
            <a:endParaRPr lang="en-US" sz="900" dirty="0"/>
          </a:p>
        </p:txBody>
      </p:sp>
      <p:sp>
        <p:nvSpPr>
          <p:cNvPr id="33" name="Shape 27"/>
          <p:cNvSpPr/>
          <p:nvPr/>
        </p:nvSpPr>
        <p:spPr>
          <a:xfrm>
            <a:off x="457200" y="3950208"/>
            <a:ext cx="4023360" cy="548640"/>
          </a:xfrm>
          <a:prstGeom prst="roundRect">
            <a:avLst>
              <a:gd name="adj" fmla="val 13333"/>
            </a:avLst>
          </a:prstGeom>
          <a:solidFill>
            <a:srgbClr val="F4F7F5"/>
          </a:solidFill>
          <a:ln w="9525">
            <a:solidFill>
              <a:srgbClr val="D5DED9"/>
            </a:solidFill>
            <a:prstDash val="solid"/>
          </a:ln>
        </p:spPr>
      </p:sp>
      <p:sp>
        <p:nvSpPr>
          <p:cNvPr id="34" name="Shape 28"/>
          <p:cNvSpPr/>
          <p:nvPr/>
        </p:nvSpPr>
        <p:spPr>
          <a:xfrm>
            <a:off x="548640" y="4059936"/>
            <a:ext cx="329184" cy="329184"/>
          </a:xfrm>
          <a:prstGeom prst="ellipse">
            <a:avLst/>
          </a:prstGeom>
          <a:solidFill>
            <a:srgbClr val="00A86A">
              <a:alpha val="22000"/>
            </a:srgbClr>
          </a:solidFill>
          <a:ln w="12700">
            <a:solidFill>
              <a:srgbClr val="00A86A">
                <a:alpha val="0"/>
              </a:srgbClr>
            </a:solidFill>
            <a:prstDash val="solid"/>
          </a:ln>
        </p:spPr>
      </p:sp>
      <p:pic>
        <p:nvPicPr>
          <p:cNvPr id="35" name="Image 3" descr="preencoded.png"/>
          <p:cNvPicPr>
            <a:picLocks noChangeAspect="1"/>
          </p:cNvPicPr>
          <p:nvPr/>
        </p:nvPicPr>
        <p:blipFill>
          <a:blip r:embed="rId4"/>
          <a:stretch>
            <a:fillRect/>
          </a:stretch>
        </p:blipFill>
        <p:spPr>
          <a:xfrm>
            <a:off x="634228" y="4145524"/>
            <a:ext cx="158008" cy="158008"/>
          </a:xfrm>
          <a:prstGeom prst="rect">
            <a:avLst/>
          </a:prstGeom>
        </p:spPr>
      </p:pic>
      <p:sp>
        <p:nvSpPr>
          <p:cNvPr id="36" name="Text 29"/>
          <p:cNvSpPr txBox="1"/>
          <p:nvPr/>
        </p:nvSpPr>
        <p:spPr>
          <a:xfrm>
            <a:off x="987552" y="4005072"/>
            <a:ext cx="3429000" cy="20116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A near-real-time record</a:t>
            </a:r>
            <a:endParaRPr lang="en-US" sz="1050" dirty="0"/>
          </a:p>
        </p:txBody>
      </p:sp>
      <p:sp>
        <p:nvSpPr>
          <p:cNvPr id="37" name="Text 30"/>
          <p:cNvSpPr txBox="1"/>
          <p:nvPr/>
        </p:nvSpPr>
        <p:spPr>
          <a:xfrm>
            <a:off x="987552" y="4215384"/>
            <a:ext cx="3456432" cy="256032"/>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Daily since 2012; free monthly and annual composites.</a:t>
            </a:r>
            <a:endParaRPr lang="en-US" sz="900" dirty="0"/>
          </a:p>
        </p:txBody>
      </p:sp>
      <p:sp>
        <p:nvSpPr>
          <p:cNvPr id="38" name="Text 31"/>
          <p:cNvSpPr txBox="1"/>
          <p:nvPr/>
        </p:nvSpPr>
        <p:spPr>
          <a:xfrm>
            <a:off x="4663440" y="2331720"/>
            <a:ext cx="4023360" cy="274320"/>
          </a:xfrm>
          <a:prstGeom prst="rect">
            <a:avLst/>
          </a:prstGeom>
          <a:noFill/>
          <a:ln/>
        </p:spPr>
        <p:txBody>
          <a:bodyPr wrap="square" lIns="0" tIns="0" rIns="0" bIns="0" rtlCol="0" anchor="t"/>
          <a:lstStyle/>
          <a:p>
            <a:pPr marL="0" indent="0">
              <a:buNone/>
            </a:pPr>
            <a:r>
              <a:rPr lang="en-US" sz="1400" b="1" dirty="0">
                <a:solidFill>
                  <a:srgbClr val="B83B2E"/>
                </a:solidFill>
                <a:latin typeface="Calibri" pitchFamily="34" charset="0"/>
                <a:ea typeface="Calibri" pitchFamily="34" charset="-122"/>
                <a:cs typeface="Calibri" pitchFamily="34" charset="-120"/>
              </a:rPr>
              <a:t>What they are not</a:t>
            </a:r>
            <a:endParaRPr lang="en-US" sz="1400" dirty="0"/>
          </a:p>
        </p:txBody>
      </p:sp>
      <p:sp>
        <p:nvSpPr>
          <p:cNvPr id="39" name="Shape 32"/>
          <p:cNvSpPr/>
          <p:nvPr/>
        </p:nvSpPr>
        <p:spPr>
          <a:xfrm>
            <a:off x="4663440" y="2670048"/>
            <a:ext cx="4023360" cy="548640"/>
          </a:xfrm>
          <a:prstGeom prst="roundRect">
            <a:avLst>
              <a:gd name="adj" fmla="val 13333"/>
            </a:avLst>
          </a:prstGeom>
          <a:solidFill>
            <a:srgbClr val="F4F7F5"/>
          </a:solidFill>
          <a:ln w="9525">
            <a:solidFill>
              <a:srgbClr val="D5DED9"/>
            </a:solidFill>
            <a:prstDash val="solid"/>
          </a:ln>
        </p:spPr>
      </p:sp>
      <p:sp>
        <p:nvSpPr>
          <p:cNvPr id="40" name="Shape 33"/>
          <p:cNvSpPr/>
          <p:nvPr/>
        </p:nvSpPr>
        <p:spPr>
          <a:xfrm>
            <a:off x="4754880" y="2779776"/>
            <a:ext cx="329184" cy="329184"/>
          </a:xfrm>
          <a:prstGeom prst="ellipse">
            <a:avLst/>
          </a:prstGeom>
          <a:solidFill>
            <a:srgbClr val="B83B2E">
              <a:alpha val="22000"/>
            </a:srgbClr>
          </a:solidFill>
          <a:ln w="12700">
            <a:solidFill>
              <a:srgbClr val="B83B2E">
                <a:alpha val="0"/>
              </a:srgbClr>
            </a:solidFill>
            <a:prstDash val="solid"/>
          </a:ln>
        </p:spPr>
      </p:sp>
      <p:pic>
        <p:nvPicPr>
          <p:cNvPr id="41" name="Image 4" descr="preencoded.png"/>
          <p:cNvPicPr>
            <a:picLocks noChangeAspect="1"/>
          </p:cNvPicPr>
          <p:nvPr/>
        </p:nvPicPr>
        <p:blipFill>
          <a:blip r:embed="rId5"/>
          <a:stretch>
            <a:fillRect/>
          </a:stretch>
        </p:blipFill>
        <p:spPr>
          <a:xfrm>
            <a:off x="4840468" y="2865364"/>
            <a:ext cx="158008" cy="158008"/>
          </a:xfrm>
          <a:prstGeom prst="rect">
            <a:avLst/>
          </a:prstGeom>
        </p:spPr>
      </p:pic>
      <p:sp>
        <p:nvSpPr>
          <p:cNvPr id="42" name="Text 34"/>
          <p:cNvSpPr txBox="1"/>
          <p:nvPr/>
        </p:nvSpPr>
        <p:spPr>
          <a:xfrm>
            <a:off x="5193792" y="2724912"/>
            <a:ext cx="3429000" cy="20116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A photograph</a:t>
            </a:r>
            <a:endParaRPr lang="en-US" sz="1050" dirty="0"/>
          </a:p>
        </p:txBody>
      </p:sp>
      <p:sp>
        <p:nvSpPr>
          <p:cNvPr id="43" name="Text 35"/>
          <p:cNvSpPr txBox="1"/>
          <p:nvPr/>
        </p:nvSpPr>
        <p:spPr>
          <a:xfrm>
            <a:off x="5193792" y="2935224"/>
            <a:ext cx="3456432" cy="256032"/>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“Earth at night” is a statistical composite of many cloud-free nights.</a:t>
            </a:r>
            <a:endParaRPr lang="en-US" sz="900" dirty="0"/>
          </a:p>
        </p:txBody>
      </p:sp>
      <p:sp>
        <p:nvSpPr>
          <p:cNvPr id="44" name="Shape 36"/>
          <p:cNvSpPr/>
          <p:nvPr/>
        </p:nvSpPr>
        <p:spPr>
          <a:xfrm>
            <a:off x="4663440" y="3310128"/>
            <a:ext cx="4023360" cy="548640"/>
          </a:xfrm>
          <a:prstGeom prst="roundRect">
            <a:avLst>
              <a:gd name="adj" fmla="val 13333"/>
            </a:avLst>
          </a:prstGeom>
          <a:solidFill>
            <a:srgbClr val="F4F7F5"/>
          </a:solidFill>
          <a:ln w="9525">
            <a:solidFill>
              <a:srgbClr val="D5DED9"/>
            </a:solidFill>
            <a:prstDash val="solid"/>
          </a:ln>
        </p:spPr>
      </p:sp>
      <p:sp>
        <p:nvSpPr>
          <p:cNvPr id="45" name="Shape 37"/>
          <p:cNvSpPr/>
          <p:nvPr/>
        </p:nvSpPr>
        <p:spPr>
          <a:xfrm>
            <a:off x="4754880" y="3419856"/>
            <a:ext cx="329184" cy="329184"/>
          </a:xfrm>
          <a:prstGeom prst="ellipse">
            <a:avLst/>
          </a:prstGeom>
          <a:solidFill>
            <a:srgbClr val="B83B2E">
              <a:alpha val="22000"/>
            </a:srgbClr>
          </a:solidFill>
          <a:ln w="12700">
            <a:solidFill>
              <a:srgbClr val="B83B2E">
                <a:alpha val="0"/>
              </a:srgbClr>
            </a:solidFill>
            <a:prstDash val="solid"/>
          </a:ln>
        </p:spPr>
      </p:sp>
      <p:pic>
        <p:nvPicPr>
          <p:cNvPr id="46" name="Image 5" descr="preencoded.png"/>
          <p:cNvPicPr>
            <a:picLocks noChangeAspect="1"/>
          </p:cNvPicPr>
          <p:nvPr/>
        </p:nvPicPr>
        <p:blipFill>
          <a:blip r:embed="rId5"/>
          <a:stretch>
            <a:fillRect/>
          </a:stretch>
        </p:blipFill>
        <p:spPr>
          <a:xfrm>
            <a:off x="4840468" y="3505444"/>
            <a:ext cx="158008" cy="158008"/>
          </a:xfrm>
          <a:prstGeom prst="rect">
            <a:avLst/>
          </a:prstGeom>
        </p:spPr>
      </p:pic>
      <p:sp>
        <p:nvSpPr>
          <p:cNvPr id="47" name="Text 38"/>
          <p:cNvSpPr txBox="1"/>
          <p:nvPr/>
        </p:nvSpPr>
        <p:spPr>
          <a:xfrm>
            <a:off x="5193792" y="3364992"/>
            <a:ext cx="3429000" cy="20116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A direct measure of population or income</a:t>
            </a:r>
            <a:endParaRPr lang="en-US" sz="1050" dirty="0"/>
          </a:p>
        </p:txBody>
      </p:sp>
      <p:sp>
        <p:nvSpPr>
          <p:cNvPr id="48" name="Text 39"/>
          <p:cNvSpPr txBox="1"/>
          <p:nvPr/>
        </p:nvSpPr>
        <p:spPr>
          <a:xfrm>
            <a:off x="5193792" y="3575304"/>
            <a:ext cx="3456432" cy="256032"/>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Those are inferences — each one must be justified.</a:t>
            </a:r>
            <a:endParaRPr lang="en-US" sz="900" dirty="0"/>
          </a:p>
        </p:txBody>
      </p:sp>
      <p:sp>
        <p:nvSpPr>
          <p:cNvPr id="49" name="Shape 40"/>
          <p:cNvSpPr/>
          <p:nvPr/>
        </p:nvSpPr>
        <p:spPr>
          <a:xfrm>
            <a:off x="4663440" y="3950208"/>
            <a:ext cx="4023360" cy="548640"/>
          </a:xfrm>
          <a:prstGeom prst="roundRect">
            <a:avLst>
              <a:gd name="adj" fmla="val 13333"/>
            </a:avLst>
          </a:prstGeom>
          <a:solidFill>
            <a:srgbClr val="F4F7F5"/>
          </a:solidFill>
          <a:ln w="9525">
            <a:solidFill>
              <a:srgbClr val="D5DED9"/>
            </a:solidFill>
            <a:prstDash val="solid"/>
          </a:ln>
        </p:spPr>
      </p:sp>
      <p:sp>
        <p:nvSpPr>
          <p:cNvPr id="50" name="Shape 41"/>
          <p:cNvSpPr/>
          <p:nvPr/>
        </p:nvSpPr>
        <p:spPr>
          <a:xfrm>
            <a:off x="4754880" y="4059936"/>
            <a:ext cx="329184" cy="329184"/>
          </a:xfrm>
          <a:prstGeom prst="ellipse">
            <a:avLst/>
          </a:prstGeom>
          <a:solidFill>
            <a:srgbClr val="B83B2E">
              <a:alpha val="22000"/>
            </a:srgbClr>
          </a:solidFill>
          <a:ln w="12700">
            <a:solidFill>
              <a:srgbClr val="B83B2E">
                <a:alpha val="0"/>
              </a:srgbClr>
            </a:solidFill>
            <a:prstDash val="solid"/>
          </a:ln>
        </p:spPr>
      </p:sp>
      <p:pic>
        <p:nvPicPr>
          <p:cNvPr id="51" name="Image 6" descr="preencoded.png"/>
          <p:cNvPicPr>
            <a:picLocks noChangeAspect="1"/>
          </p:cNvPicPr>
          <p:nvPr/>
        </p:nvPicPr>
        <p:blipFill>
          <a:blip r:embed="rId5"/>
          <a:stretch>
            <a:fillRect/>
          </a:stretch>
        </p:blipFill>
        <p:spPr>
          <a:xfrm>
            <a:off x="4840468" y="4145524"/>
            <a:ext cx="158008" cy="158008"/>
          </a:xfrm>
          <a:prstGeom prst="rect">
            <a:avLst/>
          </a:prstGeom>
        </p:spPr>
      </p:pic>
      <p:sp>
        <p:nvSpPr>
          <p:cNvPr id="52" name="Text 42"/>
          <p:cNvSpPr txBox="1"/>
          <p:nvPr/>
        </p:nvSpPr>
        <p:spPr>
          <a:xfrm>
            <a:off x="5193792" y="4005072"/>
            <a:ext cx="3429000" cy="20116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A complete record of lighting</a:t>
            </a:r>
            <a:endParaRPr lang="en-US" sz="1050" dirty="0"/>
          </a:p>
        </p:txBody>
      </p:sp>
      <p:sp>
        <p:nvSpPr>
          <p:cNvPr id="53" name="Text 43"/>
          <p:cNvSpPr txBox="1"/>
          <p:nvPr/>
        </p:nvSpPr>
        <p:spPr>
          <a:xfrm>
            <a:off x="5193792" y="4215384"/>
            <a:ext cx="3456432" cy="256032"/>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Indoor, shielded or sideways light does not reach the sensor.</a:t>
            </a:r>
            <a:endParaRPr lang="en-US" sz="9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FOUNDATIONS · THE CHAIN OF INFERENCE</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From electricity to pixel: five links</a:t>
            </a:r>
            <a:endParaRPr lang="en-US" sz="2800" dirty="0"/>
          </a:p>
        </p:txBody>
      </p:sp>
      <p:sp>
        <p:nvSpPr>
          <p:cNvPr id="8" name="Shape 6"/>
          <p:cNvSpPr/>
          <p:nvPr/>
        </p:nvSpPr>
        <p:spPr>
          <a:xfrm>
            <a:off x="7635240" y="301752"/>
            <a:ext cx="109728" cy="109728"/>
          </a:xfrm>
          <a:prstGeom prst="ellipse">
            <a:avLst/>
          </a:prstGeom>
          <a:solidFill>
            <a:srgbClr val="00A86A"/>
          </a:solidFill>
          <a:ln w="12700">
            <a:solidFill>
              <a:srgbClr val="00A86A"/>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06</a:t>
            </a:r>
            <a:endParaRPr lang="en-US" sz="850" dirty="0"/>
          </a:p>
        </p:txBody>
      </p:sp>
      <p:sp>
        <p:nvSpPr>
          <p:cNvPr id="17" name="Shape 14"/>
          <p:cNvSpPr/>
          <p:nvPr/>
        </p:nvSpPr>
        <p:spPr>
          <a:xfrm>
            <a:off x="457200" y="1325880"/>
            <a:ext cx="1481328" cy="1828800"/>
          </a:xfrm>
          <a:prstGeom prst="roundRect">
            <a:avLst>
              <a:gd name="adj" fmla="val 4938"/>
            </a:avLst>
          </a:prstGeom>
          <a:solidFill>
            <a:srgbClr val="FFFFFF"/>
          </a:solidFill>
          <a:ln w="9525">
            <a:solidFill>
              <a:srgbClr val="00A86A"/>
            </a:solidFill>
            <a:prstDash val="solid"/>
          </a:ln>
        </p:spPr>
      </p:sp>
      <p:sp>
        <p:nvSpPr>
          <p:cNvPr id="18" name="Shape 15"/>
          <p:cNvSpPr/>
          <p:nvPr/>
        </p:nvSpPr>
        <p:spPr>
          <a:xfrm>
            <a:off x="566928" y="1435608"/>
            <a:ext cx="292608" cy="292608"/>
          </a:xfrm>
          <a:prstGeom prst="ellipse">
            <a:avLst/>
          </a:prstGeom>
          <a:solidFill>
            <a:srgbClr val="00704A"/>
          </a:solidFill>
          <a:ln w="12700">
            <a:solidFill>
              <a:srgbClr val="00704A"/>
            </a:solidFill>
            <a:prstDash val="solid"/>
          </a:ln>
        </p:spPr>
      </p:sp>
      <p:sp>
        <p:nvSpPr>
          <p:cNvPr id="19" name="Text 16"/>
          <p:cNvSpPr txBox="1"/>
          <p:nvPr/>
        </p:nvSpPr>
        <p:spPr>
          <a:xfrm>
            <a:off x="566928" y="143560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Shape 17"/>
          <p:cNvSpPr/>
          <p:nvPr/>
        </p:nvSpPr>
        <p:spPr>
          <a:xfrm>
            <a:off x="1481328" y="1417320"/>
            <a:ext cx="347472" cy="347472"/>
          </a:xfrm>
          <a:prstGeom prst="ellipse">
            <a:avLst/>
          </a:prstGeom>
          <a:solidFill>
            <a:srgbClr val="00A86A">
              <a:alpha val="22000"/>
            </a:srgbClr>
          </a:solidFill>
          <a:ln w="12700">
            <a:solidFill>
              <a:srgbClr val="00A86A">
                <a:alpha val="0"/>
              </a:srgbClr>
            </a:solidFill>
            <a:prstDash val="solid"/>
          </a:ln>
        </p:spPr>
      </p:sp>
      <p:pic>
        <p:nvPicPr>
          <p:cNvPr id="21" name="Image 0" descr="preencoded.png"/>
          <p:cNvPicPr>
            <a:picLocks noChangeAspect="1"/>
          </p:cNvPicPr>
          <p:nvPr/>
        </p:nvPicPr>
        <p:blipFill>
          <a:blip r:embed="rId3"/>
          <a:stretch>
            <a:fillRect/>
          </a:stretch>
        </p:blipFill>
        <p:spPr>
          <a:xfrm>
            <a:off x="1571671" y="1507663"/>
            <a:ext cx="166787" cy="166787"/>
          </a:xfrm>
          <a:prstGeom prst="rect">
            <a:avLst/>
          </a:prstGeom>
        </p:spPr>
      </p:pic>
      <p:sp>
        <p:nvSpPr>
          <p:cNvPr id="22" name="Text 18"/>
          <p:cNvSpPr txBox="1"/>
          <p:nvPr/>
        </p:nvSpPr>
        <p:spPr>
          <a:xfrm>
            <a:off x="566928" y="1828800"/>
            <a:ext cx="1261872" cy="41148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Energy and infrastructure</a:t>
            </a:r>
            <a:endParaRPr lang="en-US" sz="1150" dirty="0"/>
          </a:p>
        </p:txBody>
      </p:sp>
      <p:sp>
        <p:nvSpPr>
          <p:cNvPr id="23" name="Text 19"/>
          <p:cNvSpPr txBox="1"/>
          <p:nvPr/>
        </p:nvSpPr>
        <p:spPr>
          <a:xfrm>
            <a:off x="566928" y="2258568"/>
            <a:ext cx="1280160" cy="84124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A grid, a generator or fuel exists and works.</a:t>
            </a:r>
            <a:endParaRPr lang="en-US" sz="900" dirty="0"/>
          </a:p>
        </p:txBody>
      </p:sp>
      <p:sp>
        <p:nvSpPr>
          <p:cNvPr id="24" name="Shape 20"/>
          <p:cNvSpPr/>
          <p:nvPr/>
        </p:nvSpPr>
        <p:spPr>
          <a:xfrm>
            <a:off x="1956816" y="2240280"/>
            <a:ext cx="164592" cy="91"/>
          </a:xfrm>
          <a:prstGeom prst="line">
            <a:avLst/>
          </a:prstGeom>
          <a:noFill/>
          <a:ln w="15875">
            <a:solidFill>
              <a:srgbClr val="5E6964"/>
            </a:solidFill>
            <a:prstDash val="solid"/>
            <a:tailEnd type="triangle"/>
          </a:ln>
        </p:spPr>
      </p:sp>
      <p:sp>
        <p:nvSpPr>
          <p:cNvPr id="25" name="Shape 21"/>
          <p:cNvSpPr/>
          <p:nvPr/>
        </p:nvSpPr>
        <p:spPr>
          <a:xfrm>
            <a:off x="2139696" y="1325880"/>
            <a:ext cx="1481328" cy="1828800"/>
          </a:xfrm>
          <a:prstGeom prst="roundRect">
            <a:avLst>
              <a:gd name="adj" fmla="val 4938"/>
            </a:avLst>
          </a:prstGeom>
          <a:solidFill>
            <a:srgbClr val="FFFFFF"/>
          </a:solidFill>
          <a:ln w="9525">
            <a:solidFill>
              <a:srgbClr val="00704A"/>
            </a:solidFill>
            <a:prstDash val="solid"/>
          </a:ln>
        </p:spPr>
      </p:sp>
      <p:sp>
        <p:nvSpPr>
          <p:cNvPr id="26" name="Shape 22"/>
          <p:cNvSpPr/>
          <p:nvPr/>
        </p:nvSpPr>
        <p:spPr>
          <a:xfrm>
            <a:off x="2249424" y="1435608"/>
            <a:ext cx="292608" cy="292608"/>
          </a:xfrm>
          <a:prstGeom prst="ellipse">
            <a:avLst/>
          </a:prstGeom>
          <a:solidFill>
            <a:srgbClr val="00704A"/>
          </a:solidFill>
          <a:ln w="12700">
            <a:solidFill>
              <a:srgbClr val="00704A"/>
            </a:solidFill>
            <a:prstDash val="solid"/>
          </a:ln>
        </p:spPr>
      </p:sp>
      <p:sp>
        <p:nvSpPr>
          <p:cNvPr id="27" name="Text 23"/>
          <p:cNvSpPr txBox="1"/>
          <p:nvPr/>
        </p:nvSpPr>
        <p:spPr>
          <a:xfrm>
            <a:off x="2249424" y="143560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8" name="Shape 24"/>
          <p:cNvSpPr/>
          <p:nvPr/>
        </p:nvSpPr>
        <p:spPr>
          <a:xfrm>
            <a:off x="3163824" y="1417320"/>
            <a:ext cx="347472" cy="347472"/>
          </a:xfrm>
          <a:prstGeom prst="ellipse">
            <a:avLst/>
          </a:prstGeom>
          <a:solidFill>
            <a:srgbClr val="00A86A">
              <a:alpha val="22000"/>
            </a:srgbClr>
          </a:solidFill>
          <a:ln w="12700">
            <a:solidFill>
              <a:srgbClr val="00A86A">
                <a:alpha val="0"/>
              </a:srgbClr>
            </a:solidFill>
            <a:prstDash val="solid"/>
          </a:ln>
        </p:spPr>
      </p:sp>
      <p:pic>
        <p:nvPicPr>
          <p:cNvPr id="29" name="Image 1" descr="preencoded.png"/>
          <p:cNvPicPr>
            <a:picLocks noChangeAspect="1"/>
          </p:cNvPicPr>
          <p:nvPr/>
        </p:nvPicPr>
        <p:blipFill>
          <a:blip r:embed="rId4"/>
          <a:stretch>
            <a:fillRect/>
          </a:stretch>
        </p:blipFill>
        <p:spPr>
          <a:xfrm>
            <a:off x="3254167" y="1507663"/>
            <a:ext cx="166787" cy="166787"/>
          </a:xfrm>
          <a:prstGeom prst="rect">
            <a:avLst/>
          </a:prstGeom>
        </p:spPr>
      </p:pic>
      <p:sp>
        <p:nvSpPr>
          <p:cNvPr id="30" name="Text 25"/>
          <p:cNvSpPr txBox="1"/>
          <p:nvPr/>
        </p:nvSpPr>
        <p:spPr>
          <a:xfrm>
            <a:off x="2249424" y="1828800"/>
            <a:ext cx="1261872" cy="41148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Activity after dark</a:t>
            </a:r>
            <a:endParaRPr lang="en-US" sz="1150" dirty="0"/>
          </a:p>
        </p:txBody>
      </p:sp>
      <p:sp>
        <p:nvSpPr>
          <p:cNvPr id="31" name="Text 26"/>
          <p:cNvSpPr txBox="1"/>
          <p:nvPr/>
        </p:nvSpPr>
        <p:spPr>
          <a:xfrm>
            <a:off x="2249424" y="2258568"/>
            <a:ext cx="1280160" cy="84124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Energy is used for lighting: streets, homes, markets, industry.</a:t>
            </a:r>
            <a:endParaRPr lang="en-US" sz="900" dirty="0"/>
          </a:p>
        </p:txBody>
      </p:sp>
      <p:sp>
        <p:nvSpPr>
          <p:cNvPr id="32" name="Shape 27"/>
          <p:cNvSpPr/>
          <p:nvPr/>
        </p:nvSpPr>
        <p:spPr>
          <a:xfrm>
            <a:off x="3639312" y="2240280"/>
            <a:ext cx="164592" cy="91"/>
          </a:xfrm>
          <a:prstGeom prst="line">
            <a:avLst/>
          </a:prstGeom>
          <a:noFill/>
          <a:ln w="15875">
            <a:solidFill>
              <a:srgbClr val="5E6964"/>
            </a:solidFill>
            <a:prstDash val="solid"/>
            <a:tailEnd type="triangle"/>
          </a:ln>
        </p:spPr>
      </p:sp>
      <p:sp>
        <p:nvSpPr>
          <p:cNvPr id="33" name="Shape 28"/>
          <p:cNvSpPr/>
          <p:nvPr/>
        </p:nvSpPr>
        <p:spPr>
          <a:xfrm>
            <a:off x="3822192" y="1325880"/>
            <a:ext cx="1481328" cy="1828800"/>
          </a:xfrm>
          <a:prstGeom prst="roundRect">
            <a:avLst>
              <a:gd name="adj" fmla="val 4938"/>
            </a:avLst>
          </a:prstGeom>
          <a:solidFill>
            <a:srgbClr val="FFFFFF"/>
          </a:solidFill>
          <a:ln w="9525">
            <a:solidFill>
              <a:srgbClr val="0E7C86"/>
            </a:solidFill>
            <a:prstDash val="solid"/>
          </a:ln>
        </p:spPr>
      </p:sp>
      <p:sp>
        <p:nvSpPr>
          <p:cNvPr id="34" name="Shape 29"/>
          <p:cNvSpPr/>
          <p:nvPr/>
        </p:nvSpPr>
        <p:spPr>
          <a:xfrm>
            <a:off x="3931920" y="1435608"/>
            <a:ext cx="292608" cy="292608"/>
          </a:xfrm>
          <a:prstGeom prst="ellipse">
            <a:avLst/>
          </a:prstGeom>
          <a:solidFill>
            <a:srgbClr val="00704A"/>
          </a:solidFill>
          <a:ln w="12700">
            <a:solidFill>
              <a:srgbClr val="00704A"/>
            </a:solidFill>
            <a:prstDash val="solid"/>
          </a:ln>
        </p:spPr>
      </p:sp>
      <p:sp>
        <p:nvSpPr>
          <p:cNvPr id="35" name="Text 30"/>
          <p:cNvSpPr txBox="1"/>
          <p:nvPr/>
        </p:nvSpPr>
        <p:spPr>
          <a:xfrm>
            <a:off x="3931920" y="143560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6" name="Shape 31"/>
          <p:cNvSpPr/>
          <p:nvPr/>
        </p:nvSpPr>
        <p:spPr>
          <a:xfrm>
            <a:off x="4846320" y="1417320"/>
            <a:ext cx="347472" cy="347472"/>
          </a:xfrm>
          <a:prstGeom prst="ellipse">
            <a:avLst/>
          </a:prstGeom>
          <a:solidFill>
            <a:srgbClr val="00A86A">
              <a:alpha val="22000"/>
            </a:srgbClr>
          </a:solidFill>
          <a:ln w="12700">
            <a:solidFill>
              <a:srgbClr val="00A86A">
                <a:alpha val="0"/>
              </a:srgbClr>
            </a:solidFill>
            <a:prstDash val="solid"/>
          </a:ln>
        </p:spPr>
      </p:sp>
      <p:pic>
        <p:nvPicPr>
          <p:cNvPr id="37" name="Image 2" descr="preencoded.png"/>
          <p:cNvPicPr>
            <a:picLocks noChangeAspect="1"/>
          </p:cNvPicPr>
          <p:nvPr/>
        </p:nvPicPr>
        <p:blipFill>
          <a:blip r:embed="rId5"/>
          <a:stretch>
            <a:fillRect/>
          </a:stretch>
        </p:blipFill>
        <p:spPr>
          <a:xfrm>
            <a:off x="4936663" y="1507663"/>
            <a:ext cx="166787" cy="166787"/>
          </a:xfrm>
          <a:prstGeom prst="rect">
            <a:avLst/>
          </a:prstGeom>
        </p:spPr>
      </p:pic>
      <p:sp>
        <p:nvSpPr>
          <p:cNvPr id="38" name="Text 32"/>
          <p:cNvSpPr txBox="1"/>
          <p:nvPr/>
        </p:nvSpPr>
        <p:spPr>
          <a:xfrm>
            <a:off x="3931920" y="1828800"/>
            <a:ext cx="1261872" cy="41148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Upward emission</a:t>
            </a:r>
            <a:endParaRPr lang="en-US" sz="1150" dirty="0"/>
          </a:p>
        </p:txBody>
      </p:sp>
      <p:sp>
        <p:nvSpPr>
          <p:cNvPr id="39" name="Text 33"/>
          <p:cNvSpPr txBox="1"/>
          <p:nvPr/>
        </p:nvSpPr>
        <p:spPr>
          <a:xfrm>
            <a:off x="3931920" y="2258568"/>
            <a:ext cx="1280160" cy="84124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Part of the light escapes to the sky instead of being shielded.</a:t>
            </a:r>
            <a:endParaRPr lang="en-US" sz="900" dirty="0"/>
          </a:p>
        </p:txBody>
      </p:sp>
      <p:sp>
        <p:nvSpPr>
          <p:cNvPr id="40" name="Shape 34"/>
          <p:cNvSpPr/>
          <p:nvPr/>
        </p:nvSpPr>
        <p:spPr>
          <a:xfrm>
            <a:off x="5321808" y="2240280"/>
            <a:ext cx="164592" cy="91"/>
          </a:xfrm>
          <a:prstGeom prst="line">
            <a:avLst/>
          </a:prstGeom>
          <a:noFill/>
          <a:ln w="15875">
            <a:solidFill>
              <a:srgbClr val="5E6964"/>
            </a:solidFill>
            <a:prstDash val="solid"/>
            <a:tailEnd type="triangle"/>
          </a:ln>
        </p:spPr>
      </p:sp>
      <p:sp>
        <p:nvSpPr>
          <p:cNvPr id="41" name="Shape 35"/>
          <p:cNvSpPr/>
          <p:nvPr/>
        </p:nvSpPr>
        <p:spPr>
          <a:xfrm>
            <a:off x="5504688" y="1325880"/>
            <a:ext cx="1481328" cy="1828800"/>
          </a:xfrm>
          <a:prstGeom prst="roundRect">
            <a:avLst>
              <a:gd name="adj" fmla="val 4938"/>
            </a:avLst>
          </a:prstGeom>
          <a:solidFill>
            <a:srgbClr val="FFFFFF"/>
          </a:solidFill>
          <a:ln w="9525">
            <a:solidFill>
              <a:srgbClr val="0E7C86"/>
            </a:solidFill>
            <a:prstDash val="solid"/>
          </a:ln>
        </p:spPr>
      </p:sp>
      <p:sp>
        <p:nvSpPr>
          <p:cNvPr id="42" name="Shape 36"/>
          <p:cNvSpPr/>
          <p:nvPr/>
        </p:nvSpPr>
        <p:spPr>
          <a:xfrm>
            <a:off x="5614416" y="1435608"/>
            <a:ext cx="292608" cy="292608"/>
          </a:xfrm>
          <a:prstGeom prst="ellipse">
            <a:avLst/>
          </a:prstGeom>
          <a:solidFill>
            <a:srgbClr val="00704A"/>
          </a:solidFill>
          <a:ln w="12700">
            <a:solidFill>
              <a:srgbClr val="00704A"/>
            </a:solidFill>
            <a:prstDash val="solid"/>
          </a:ln>
        </p:spPr>
      </p:sp>
      <p:sp>
        <p:nvSpPr>
          <p:cNvPr id="43" name="Text 37"/>
          <p:cNvSpPr txBox="1"/>
          <p:nvPr/>
        </p:nvSpPr>
        <p:spPr>
          <a:xfrm>
            <a:off x="5614416" y="143560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4" name="Shape 38"/>
          <p:cNvSpPr/>
          <p:nvPr/>
        </p:nvSpPr>
        <p:spPr>
          <a:xfrm>
            <a:off x="6528816" y="1417320"/>
            <a:ext cx="347472" cy="347472"/>
          </a:xfrm>
          <a:prstGeom prst="ellipse">
            <a:avLst/>
          </a:prstGeom>
          <a:solidFill>
            <a:srgbClr val="00A86A">
              <a:alpha val="22000"/>
            </a:srgbClr>
          </a:solidFill>
          <a:ln w="12700">
            <a:solidFill>
              <a:srgbClr val="00A86A">
                <a:alpha val="0"/>
              </a:srgbClr>
            </a:solidFill>
            <a:prstDash val="solid"/>
          </a:ln>
        </p:spPr>
      </p:sp>
      <p:pic>
        <p:nvPicPr>
          <p:cNvPr id="45" name="Image 3" descr="preencoded.png"/>
          <p:cNvPicPr>
            <a:picLocks noChangeAspect="1"/>
          </p:cNvPicPr>
          <p:nvPr/>
        </p:nvPicPr>
        <p:blipFill>
          <a:blip r:embed="rId6"/>
          <a:stretch>
            <a:fillRect/>
          </a:stretch>
        </p:blipFill>
        <p:spPr>
          <a:xfrm>
            <a:off x="6619159" y="1507663"/>
            <a:ext cx="166787" cy="166787"/>
          </a:xfrm>
          <a:prstGeom prst="rect">
            <a:avLst/>
          </a:prstGeom>
        </p:spPr>
      </p:pic>
      <p:sp>
        <p:nvSpPr>
          <p:cNvPr id="46" name="Text 39"/>
          <p:cNvSpPr txBox="1"/>
          <p:nvPr/>
        </p:nvSpPr>
        <p:spPr>
          <a:xfrm>
            <a:off x="5614416" y="1828800"/>
            <a:ext cx="1261872" cy="41148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Atmospheric transfer</a:t>
            </a:r>
            <a:endParaRPr lang="en-US" sz="1150" dirty="0"/>
          </a:p>
        </p:txBody>
      </p:sp>
      <p:sp>
        <p:nvSpPr>
          <p:cNvPr id="47" name="Text 40"/>
          <p:cNvSpPr txBox="1"/>
          <p:nvPr/>
        </p:nvSpPr>
        <p:spPr>
          <a:xfrm>
            <a:off x="5614416" y="2258568"/>
            <a:ext cx="1280160" cy="84124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Photons cross the atmosphere, attenuated by aerosols, vapour and clouds.</a:t>
            </a:r>
            <a:endParaRPr lang="en-US" sz="900" dirty="0"/>
          </a:p>
        </p:txBody>
      </p:sp>
      <p:sp>
        <p:nvSpPr>
          <p:cNvPr id="48" name="Shape 41"/>
          <p:cNvSpPr/>
          <p:nvPr/>
        </p:nvSpPr>
        <p:spPr>
          <a:xfrm>
            <a:off x="7004304" y="2240280"/>
            <a:ext cx="164592" cy="91"/>
          </a:xfrm>
          <a:prstGeom prst="line">
            <a:avLst/>
          </a:prstGeom>
          <a:noFill/>
          <a:ln w="15875">
            <a:solidFill>
              <a:srgbClr val="5E6964"/>
            </a:solidFill>
            <a:prstDash val="solid"/>
            <a:tailEnd type="triangle"/>
          </a:ln>
        </p:spPr>
      </p:sp>
      <p:sp>
        <p:nvSpPr>
          <p:cNvPr id="49" name="Shape 42"/>
          <p:cNvSpPr/>
          <p:nvPr/>
        </p:nvSpPr>
        <p:spPr>
          <a:xfrm>
            <a:off x="7187184" y="1325880"/>
            <a:ext cx="1481328" cy="1828800"/>
          </a:xfrm>
          <a:prstGeom prst="roundRect">
            <a:avLst>
              <a:gd name="adj" fmla="val 4938"/>
            </a:avLst>
          </a:prstGeom>
          <a:solidFill>
            <a:srgbClr val="FFFFFF"/>
          </a:solidFill>
          <a:ln w="9525">
            <a:solidFill>
              <a:srgbClr val="00704A"/>
            </a:solidFill>
            <a:prstDash val="solid"/>
          </a:ln>
        </p:spPr>
      </p:sp>
      <p:sp>
        <p:nvSpPr>
          <p:cNvPr id="50" name="Shape 43"/>
          <p:cNvSpPr/>
          <p:nvPr/>
        </p:nvSpPr>
        <p:spPr>
          <a:xfrm>
            <a:off x="7296912" y="1435608"/>
            <a:ext cx="292608" cy="292608"/>
          </a:xfrm>
          <a:prstGeom prst="ellipse">
            <a:avLst/>
          </a:prstGeom>
          <a:solidFill>
            <a:srgbClr val="00704A"/>
          </a:solidFill>
          <a:ln w="12700">
            <a:solidFill>
              <a:srgbClr val="00704A"/>
            </a:solidFill>
            <a:prstDash val="solid"/>
          </a:ln>
        </p:spPr>
      </p:sp>
      <p:sp>
        <p:nvSpPr>
          <p:cNvPr id="51" name="Text 44"/>
          <p:cNvSpPr txBox="1"/>
          <p:nvPr/>
        </p:nvSpPr>
        <p:spPr>
          <a:xfrm>
            <a:off x="7296912" y="143560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2" name="Shape 45"/>
          <p:cNvSpPr/>
          <p:nvPr/>
        </p:nvSpPr>
        <p:spPr>
          <a:xfrm>
            <a:off x="8211312" y="1417320"/>
            <a:ext cx="347472" cy="347472"/>
          </a:xfrm>
          <a:prstGeom prst="ellipse">
            <a:avLst/>
          </a:prstGeom>
          <a:solidFill>
            <a:srgbClr val="00A86A">
              <a:alpha val="22000"/>
            </a:srgbClr>
          </a:solidFill>
          <a:ln w="12700">
            <a:solidFill>
              <a:srgbClr val="00A86A">
                <a:alpha val="0"/>
              </a:srgbClr>
            </a:solidFill>
            <a:prstDash val="solid"/>
          </a:ln>
        </p:spPr>
      </p:sp>
      <p:pic>
        <p:nvPicPr>
          <p:cNvPr id="53" name="Image 4" descr="preencoded.png"/>
          <p:cNvPicPr>
            <a:picLocks noChangeAspect="1"/>
          </p:cNvPicPr>
          <p:nvPr/>
        </p:nvPicPr>
        <p:blipFill>
          <a:blip r:embed="rId7"/>
          <a:stretch>
            <a:fillRect/>
          </a:stretch>
        </p:blipFill>
        <p:spPr>
          <a:xfrm>
            <a:off x="8301655" y="1507663"/>
            <a:ext cx="166787" cy="166787"/>
          </a:xfrm>
          <a:prstGeom prst="rect">
            <a:avLst/>
          </a:prstGeom>
        </p:spPr>
      </p:pic>
      <p:sp>
        <p:nvSpPr>
          <p:cNvPr id="54" name="Text 46"/>
          <p:cNvSpPr txBox="1"/>
          <p:nvPr/>
        </p:nvSpPr>
        <p:spPr>
          <a:xfrm>
            <a:off x="7296912" y="1828800"/>
            <a:ext cx="1261872" cy="41148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Sensor response</a:t>
            </a:r>
            <a:endParaRPr lang="en-US" sz="1150" dirty="0"/>
          </a:p>
        </p:txBody>
      </p:sp>
      <p:sp>
        <p:nvSpPr>
          <p:cNvPr id="55" name="Text 47"/>
          <p:cNvSpPr txBox="1"/>
          <p:nvPr/>
        </p:nvSpPr>
        <p:spPr>
          <a:xfrm>
            <a:off x="7296912" y="2258568"/>
            <a:ext cx="1280160" cy="84124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The detector integrates them over its band into a radiance value.</a:t>
            </a:r>
            <a:endParaRPr lang="en-US" sz="900" dirty="0"/>
          </a:p>
        </p:txBody>
      </p:sp>
      <p:sp>
        <p:nvSpPr>
          <p:cNvPr id="56" name="Shape 48"/>
          <p:cNvSpPr/>
          <p:nvPr/>
        </p:nvSpPr>
        <p:spPr>
          <a:xfrm>
            <a:off x="457200" y="3291840"/>
            <a:ext cx="8229600" cy="1234440"/>
          </a:xfrm>
          <a:prstGeom prst="roundRect">
            <a:avLst>
              <a:gd name="adj" fmla="val 5926"/>
            </a:avLst>
          </a:prstGeom>
          <a:solidFill>
            <a:srgbClr val="D49A00">
              <a:alpha val="13000"/>
            </a:srgbClr>
          </a:solidFill>
          <a:ln w="12700">
            <a:solidFill>
              <a:srgbClr val="D49A00"/>
            </a:solidFill>
            <a:prstDash val="solid"/>
          </a:ln>
        </p:spPr>
      </p:sp>
      <p:sp>
        <p:nvSpPr>
          <p:cNvPr id="57" name="Shape 49"/>
          <p:cNvSpPr/>
          <p:nvPr/>
        </p:nvSpPr>
        <p:spPr>
          <a:xfrm>
            <a:off x="594360" y="3401568"/>
            <a:ext cx="384048" cy="384048"/>
          </a:xfrm>
          <a:prstGeom prst="ellipse">
            <a:avLst/>
          </a:prstGeom>
          <a:solidFill>
            <a:srgbClr val="D49A00">
              <a:alpha val="22000"/>
            </a:srgbClr>
          </a:solidFill>
          <a:ln w="12700">
            <a:solidFill>
              <a:srgbClr val="D49A00">
                <a:alpha val="0"/>
              </a:srgbClr>
            </a:solidFill>
            <a:prstDash val="solid"/>
          </a:ln>
        </p:spPr>
      </p:sp>
      <p:pic>
        <p:nvPicPr>
          <p:cNvPr id="58" name="Image 5" descr="preencoded.png"/>
          <p:cNvPicPr>
            <a:picLocks noChangeAspect="1"/>
          </p:cNvPicPr>
          <p:nvPr/>
        </p:nvPicPr>
        <p:blipFill>
          <a:blip r:embed="rId8"/>
          <a:stretch>
            <a:fillRect/>
          </a:stretch>
        </p:blipFill>
        <p:spPr>
          <a:xfrm>
            <a:off x="694212" y="3501420"/>
            <a:ext cx="184343" cy="184343"/>
          </a:xfrm>
          <a:prstGeom prst="rect">
            <a:avLst/>
          </a:prstGeom>
        </p:spPr>
      </p:pic>
      <p:sp>
        <p:nvSpPr>
          <p:cNvPr id="59" name="Text 50"/>
          <p:cNvSpPr txBox="1"/>
          <p:nvPr/>
        </p:nvSpPr>
        <p:spPr>
          <a:xfrm>
            <a:off x="1097280" y="3401568"/>
            <a:ext cx="7406640" cy="256032"/>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Where the chain breaks in an African context — a dark pixel can mean…</a:t>
            </a:r>
            <a:endParaRPr lang="en-US" sz="1250" dirty="0"/>
          </a:p>
        </p:txBody>
      </p:sp>
      <p:sp>
        <p:nvSpPr>
          <p:cNvPr id="60" name="Shape 51"/>
          <p:cNvSpPr/>
          <p:nvPr/>
        </p:nvSpPr>
        <p:spPr>
          <a:xfrm>
            <a:off x="1097280" y="3739896"/>
            <a:ext cx="822960" cy="219456"/>
          </a:xfrm>
          <a:prstGeom prst="roundRect">
            <a:avLst>
              <a:gd name="adj" fmla="val 50000"/>
            </a:avLst>
          </a:prstGeom>
          <a:solidFill>
            <a:srgbClr val="D49A00">
              <a:alpha val="15000"/>
            </a:srgbClr>
          </a:solidFill>
          <a:ln w="9525">
            <a:solidFill>
              <a:srgbClr val="D49A00"/>
            </a:solidFill>
            <a:prstDash val="solid"/>
          </a:ln>
        </p:spPr>
      </p:sp>
      <p:sp>
        <p:nvSpPr>
          <p:cNvPr id="61" name="Text 52"/>
          <p:cNvSpPr txBox="1"/>
          <p:nvPr/>
        </p:nvSpPr>
        <p:spPr>
          <a:xfrm>
            <a:off x="1097280" y="3739896"/>
            <a:ext cx="822960" cy="219456"/>
          </a:xfrm>
          <a:prstGeom prst="rect">
            <a:avLst/>
          </a:prstGeom>
          <a:noFill/>
          <a:ln/>
        </p:spPr>
        <p:txBody>
          <a:bodyPr wrap="square" lIns="0" tIns="0" rIns="0" bIns="0" rtlCol="0" anchor="ctr"/>
          <a:lstStyle/>
          <a:p>
            <a:pPr marL="0" indent="0" algn="ctr">
              <a:buNone/>
            </a:pPr>
            <a:r>
              <a:rPr lang="en-US" sz="800" b="1" dirty="0">
                <a:solidFill>
                  <a:srgbClr val="D49A00"/>
                </a:solidFill>
                <a:latin typeface="Calibri" pitchFamily="34" charset="0"/>
                <a:ea typeface="Calibri" pitchFamily="34" charset="-122"/>
                <a:cs typeface="Calibri" pitchFamily="34" charset="-120"/>
              </a:rPr>
              <a:t>Link 1</a:t>
            </a:r>
            <a:endParaRPr lang="en-US" sz="800" dirty="0"/>
          </a:p>
        </p:txBody>
      </p:sp>
      <p:sp>
        <p:nvSpPr>
          <p:cNvPr id="62" name="Text 53"/>
          <p:cNvSpPr txBox="1"/>
          <p:nvPr/>
        </p:nvSpPr>
        <p:spPr>
          <a:xfrm>
            <a:off x="1993392" y="3721608"/>
            <a:ext cx="2788920" cy="29260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Load-shedding or fuel shortage — the people are there, the power is not</a:t>
            </a:r>
            <a:endParaRPr lang="en-US" sz="950" dirty="0"/>
          </a:p>
        </p:txBody>
      </p:sp>
      <p:sp>
        <p:nvSpPr>
          <p:cNvPr id="63" name="Shape 54"/>
          <p:cNvSpPr/>
          <p:nvPr/>
        </p:nvSpPr>
        <p:spPr>
          <a:xfrm>
            <a:off x="4846320" y="3739896"/>
            <a:ext cx="822960" cy="219456"/>
          </a:xfrm>
          <a:prstGeom prst="roundRect">
            <a:avLst>
              <a:gd name="adj" fmla="val 50000"/>
            </a:avLst>
          </a:prstGeom>
          <a:solidFill>
            <a:srgbClr val="D49A00">
              <a:alpha val="15000"/>
            </a:srgbClr>
          </a:solidFill>
          <a:ln w="9525">
            <a:solidFill>
              <a:srgbClr val="D49A00"/>
            </a:solidFill>
            <a:prstDash val="solid"/>
          </a:ln>
        </p:spPr>
      </p:sp>
      <p:sp>
        <p:nvSpPr>
          <p:cNvPr id="64" name="Text 55"/>
          <p:cNvSpPr txBox="1"/>
          <p:nvPr/>
        </p:nvSpPr>
        <p:spPr>
          <a:xfrm>
            <a:off x="4846320" y="3739896"/>
            <a:ext cx="822960" cy="219456"/>
          </a:xfrm>
          <a:prstGeom prst="rect">
            <a:avLst/>
          </a:prstGeom>
          <a:noFill/>
          <a:ln/>
        </p:spPr>
        <p:txBody>
          <a:bodyPr wrap="square" lIns="0" tIns="0" rIns="0" bIns="0" rtlCol="0" anchor="ctr"/>
          <a:lstStyle/>
          <a:p>
            <a:pPr marL="0" indent="0" algn="ctr">
              <a:buNone/>
            </a:pPr>
            <a:r>
              <a:rPr lang="en-US" sz="800" b="1" dirty="0">
                <a:solidFill>
                  <a:srgbClr val="D49A00"/>
                </a:solidFill>
                <a:latin typeface="Calibri" pitchFamily="34" charset="0"/>
                <a:ea typeface="Calibri" pitchFamily="34" charset="-122"/>
                <a:cs typeface="Calibri" pitchFamily="34" charset="-120"/>
              </a:rPr>
              <a:t>Links 2–3</a:t>
            </a:r>
            <a:endParaRPr lang="en-US" sz="800" dirty="0"/>
          </a:p>
        </p:txBody>
      </p:sp>
      <p:sp>
        <p:nvSpPr>
          <p:cNvPr id="65" name="Text 56"/>
          <p:cNvSpPr txBox="1"/>
          <p:nvPr/>
        </p:nvSpPr>
        <p:spPr>
          <a:xfrm>
            <a:off x="5742432" y="3721608"/>
            <a:ext cx="2788920" cy="29260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Lanterns and small solar kits too dim to be detected</a:t>
            </a:r>
            <a:endParaRPr lang="en-US" sz="950" dirty="0"/>
          </a:p>
        </p:txBody>
      </p:sp>
      <p:sp>
        <p:nvSpPr>
          <p:cNvPr id="66" name="Shape 57"/>
          <p:cNvSpPr/>
          <p:nvPr/>
        </p:nvSpPr>
        <p:spPr>
          <a:xfrm>
            <a:off x="1097280" y="4105656"/>
            <a:ext cx="822960" cy="219456"/>
          </a:xfrm>
          <a:prstGeom prst="roundRect">
            <a:avLst>
              <a:gd name="adj" fmla="val 50000"/>
            </a:avLst>
          </a:prstGeom>
          <a:solidFill>
            <a:srgbClr val="D49A00">
              <a:alpha val="15000"/>
            </a:srgbClr>
          </a:solidFill>
          <a:ln w="9525">
            <a:solidFill>
              <a:srgbClr val="D49A00"/>
            </a:solidFill>
            <a:prstDash val="solid"/>
          </a:ln>
        </p:spPr>
      </p:sp>
      <p:sp>
        <p:nvSpPr>
          <p:cNvPr id="67" name="Text 58"/>
          <p:cNvSpPr txBox="1"/>
          <p:nvPr/>
        </p:nvSpPr>
        <p:spPr>
          <a:xfrm>
            <a:off x="1097280" y="4105656"/>
            <a:ext cx="822960" cy="219456"/>
          </a:xfrm>
          <a:prstGeom prst="rect">
            <a:avLst/>
          </a:prstGeom>
          <a:noFill/>
          <a:ln/>
        </p:spPr>
        <p:txBody>
          <a:bodyPr wrap="square" lIns="0" tIns="0" rIns="0" bIns="0" rtlCol="0" anchor="ctr"/>
          <a:lstStyle/>
          <a:p>
            <a:pPr marL="0" indent="0" algn="ctr">
              <a:buNone/>
            </a:pPr>
            <a:r>
              <a:rPr lang="en-US" sz="800" b="1" dirty="0">
                <a:solidFill>
                  <a:srgbClr val="D49A00"/>
                </a:solidFill>
                <a:latin typeface="Calibri" pitchFamily="34" charset="0"/>
                <a:ea typeface="Calibri" pitchFamily="34" charset="-122"/>
                <a:cs typeface="Calibri" pitchFamily="34" charset="-120"/>
              </a:rPr>
              <a:t>Link 4</a:t>
            </a:r>
            <a:endParaRPr lang="en-US" sz="800" dirty="0"/>
          </a:p>
        </p:txBody>
      </p:sp>
      <p:sp>
        <p:nvSpPr>
          <p:cNvPr id="68" name="Text 59"/>
          <p:cNvSpPr txBox="1"/>
          <p:nvPr/>
        </p:nvSpPr>
        <p:spPr>
          <a:xfrm>
            <a:off x="1993392" y="4087368"/>
            <a:ext cx="2788920" cy="29260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Rainy-season clouds, harmattan, bush-fire smoke</a:t>
            </a:r>
            <a:endParaRPr lang="en-US" sz="950" dirty="0"/>
          </a:p>
        </p:txBody>
      </p:sp>
      <p:sp>
        <p:nvSpPr>
          <p:cNvPr id="69" name="Shape 60"/>
          <p:cNvSpPr/>
          <p:nvPr/>
        </p:nvSpPr>
        <p:spPr>
          <a:xfrm>
            <a:off x="4846320" y="4105656"/>
            <a:ext cx="822960" cy="219456"/>
          </a:xfrm>
          <a:prstGeom prst="roundRect">
            <a:avLst>
              <a:gd name="adj" fmla="val 50000"/>
            </a:avLst>
          </a:prstGeom>
          <a:solidFill>
            <a:srgbClr val="D49A00">
              <a:alpha val="15000"/>
            </a:srgbClr>
          </a:solidFill>
          <a:ln w="9525">
            <a:solidFill>
              <a:srgbClr val="D49A00"/>
            </a:solidFill>
            <a:prstDash val="solid"/>
          </a:ln>
        </p:spPr>
      </p:sp>
      <p:sp>
        <p:nvSpPr>
          <p:cNvPr id="70" name="Text 61"/>
          <p:cNvSpPr txBox="1"/>
          <p:nvPr/>
        </p:nvSpPr>
        <p:spPr>
          <a:xfrm>
            <a:off x="4846320" y="4105656"/>
            <a:ext cx="822960" cy="219456"/>
          </a:xfrm>
          <a:prstGeom prst="rect">
            <a:avLst/>
          </a:prstGeom>
          <a:noFill/>
          <a:ln/>
        </p:spPr>
        <p:txBody>
          <a:bodyPr wrap="square" lIns="0" tIns="0" rIns="0" bIns="0" rtlCol="0" anchor="ctr"/>
          <a:lstStyle/>
          <a:p>
            <a:pPr marL="0" indent="0" algn="ctr">
              <a:buNone/>
            </a:pPr>
            <a:r>
              <a:rPr lang="en-US" sz="800" b="1" dirty="0">
                <a:solidFill>
                  <a:srgbClr val="D49A00"/>
                </a:solidFill>
                <a:latin typeface="Calibri" pitchFamily="34" charset="0"/>
                <a:ea typeface="Calibri" pitchFamily="34" charset="-122"/>
                <a:cs typeface="Calibri" pitchFamily="34" charset="-120"/>
              </a:rPr>
              <a:t>Link 5</a:t>
            </a:r>
            <a:endParaRPr lang="en-US" sz="800" dirty="0"/>
          </a:p>
        </p:txBody>
      </p:sp>
      <p:sp>
        <p:nvSpPr>
          <p:cNvPr id="71" name="Text 62"/>
          <p:cNvSpPr txBox="1"/>
          <p:nvPr/>
        </p:nvSpPr>
        <p:spPr>
          <a:xfrm>
            <a:off x="5742432" y="4087368"/>
            <a:ext cx="2788920" cy="29260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Rural lighting below the sensor’s detection threshold</a:t>
            </a:r>
            <a:endParaRPr lang="en-US" sz="95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a:spLocks noGrp="1"/>
          </p:cNvSpPr>
          <p:nvPr>
            <p:ph type="body" idx="101" hasCustomPrompt="1"/>
          </p:nvPr>
        </p:nvSpPr>
        <p:spPr>
          <a:xfrm>
            <a:off x="342900" y="754380"/>
            <a:ext cx="8455914" cy="274320"/>
          </a:xfrm>
          <a:prstGeom prst="rect">
            <a:avLst/>
          </a:prstGeom>
          <a:noFill/>
          <a:ln/>
        </p:spPr>
        <p:txBody>
          <a:bodyPr wrap="square" lIns="0" tIns="0" rIns="0" bIns="0" rtlCol="0" anchor="t"/>
          <a:lstStyle/>
          <a:p>
            <a:r>
              <a:rPr lang="en-US" dirty="0"/>
              <a:t>Mots-clés de 4 450 publications OpenAlex sur les lumières nocturnes vues par satellite · plus le mot est grand, plus il est fréquent</a:t>
            </a:r>
          </a:p>
        </p:txBody>
      </p:sp>
      <p:pic>
        <p:nvPicPr>
          <p:cNvPr id="4" name="Nuage de mots" descr="Nuage des mots-clés OpenAlex des publications sur les lumières nocturnes : urbanization, DMSP-OLS, VIIRS, satellite remote sensing, urban expansion, China, population density, light pollution, regional disparities, gross domestic product…"/>
          <p:cNvPicPr>
            <a:picLocks noChangeAspect="1"/>
          </p:cNvPicPr>
          <p:nvPr/>
        </p:nvPicPr>
        <p:blipFill>
          <a:blip r:embed="rId3"/>
          <a:stretch>
            <a:fillRect/>
          </a:stretch>
        </p:blipFill>
        <p:spPr>
          <a:xfrm>
            <a:off x="342900" y="1200150"/>
            <a:ext cx="5897880" cy="3401568"/>
          </a:xfrm>
          <a:prstGeom prst="rect">
            <a:avLst/>
          </a:prstGeom>
        </p:spPr>
      </p:pic>
      <p:sp>
        <p:nvSpPr>
          <p:cNvPr id="5" name="Panneau"/>
          <p:cNvSpPr/>
          <p:nvPr/>
        </p:nvSpPr>
        <p:spPr>
          <a:xfrm>
            <a:off x="6515100" y="1200150"/>
            <a:ext cx="2283714" cy="3401568"/>
          </a:xfrm>
          <a:prstGeom prst="roundRect">
            <a:avLst>
              <a:gd name="adj" fmla="val 3604"/>
            </a:avLst>
          </a:prstGeom>
          <a:solidFill>
            <a:schemeClr val="tx2"/>
          </a:solidFill>
          <a:ln/>
        </p:spPr>
      </p:sp>
      <p:sp>
        <p:nvSpPr>
          <p:cNvPr id="6" name="Chiffre 1"/>
          <p:cNvSpPr txBox="1"/>
          <p:nvPr/>
        </p:nvSpPr>
        <p:spPr>
          <a:xfrm>
            <a:off x="6686550" y="1337310"/>
            <a:ext cx="857250" cy="425196"/>
          </a:xfrm>
          <a:prstGeom prst="rect">
            <a:avLst/>
          </a:prstGeom>
          <a:noFill/>
          <a:ln/>
        </p:spPr>
        <p:txBody>
          <a:bodyPr wrap="square" lIns="0" tIns="0" rIns="0" bIns="0" rtlCol="0" anchor="ctr"/>
          <a:lstStyle/>
          <a:p>
            <a:pPr defTabSz="685800"/>
            <a:r>
              <a:rPr lang="en-US" sz="2100" b="1" dirty="0">
                <a:solidFill>
                  <a:srgbClr val="F5B841"/>
                </a:solidFill>
                <a:latin typeface="Cambria" pitchFamily="34" charset="0"/>
                <a:ea typeface="Cambria" pitchFamily="34" charset="-122"/>
                <a:cs typeface="Cambria" pitchFamily="34" charset="-120"/>
              </a:rPr>
              <a:t>4 450</a:t>
            </a:r>
            <a:endParaRPr lang="en-US" sz="2100" dirty="0">
              <a:solidFill>
                <a:srgbClr val="0B1A33"/>
              </a:solidFill>
              <a:latin typeface="Calibri"/>
            </a:endParaRPr>
          </a:p>
        </p:txBody>
      </p:sp>
      <p:sp>
        <p:nvSpPr>
          <p:cNvPr id="7" name="Libellé 1"/>
          <p:cNvSpPr txBox="1"/>
          <p:nvPr/>
        </p:nvSpPr>
        <p:spPr>
          <a:xfrm>
            <a:off x="7578090" y="1337310"/>
            <a:ext cx="1083564" cy="425196"/>
          </a:xfrm>
          <a:prstGeom prst="rect">
            <a:avLst/>
          </a:prstGeom>
          <a:noFill/>
          <a:ln/>
        </p:spPr>
        <p:txBody>
          <a:bodyPr wrap="square" lIns="0" tIns="0" rIns="0" bIns="0" rtlCol="0" anchor="ctr"/>
          <a:lstStyle/>
          <a:p>
            <a:pPr defTabSz="685800"/>
            <a:r>
              <a:rPr lang="en-US" sz="825" dirty="0">
                <a:solidFill>
                  <a:srgbClr val="FFFFFF"/>
                </a:solidFill>
                <a:latin typeface="Calibri"/>
              </a:rPr>
              <a:t>publications trouvées (au 25 oct. 2026)</a:t>
            </a:r>
            <a:endParaRPr lang="en-US" sz="825" dirty="0">
              <a:solidFill>
                <a:srgbClr val="0B1A33"/>
              </a:solidFill>
              <a:latin typeface="Calibri"/>
            </a:endParaRPr>
          </a:p>
        </p:txBody>
      </p:sp>
      <p:sp>
        <p:nvSpPr>
          <p:cNvPr id="8" name="Chiffre 2"/>
          <p:cNvSpPr txBox="1"/>
          <p:nvPr/>
        </p:nvSpPr>
        <p:spPr>
          <a:xfrm>
            <a:off x="6686550" y="1927098"/>
            <a:ext cx="857250" cy="425196"/>
          </a:xfrm>
          <a:prstGeom prst="rect">
            <a:avLst/>
          </a:prstGeom>
          <a:noFill/>
          <a:ln/>
        </p:spPr>
        <p:txBody>
          <a:bodyPr wrap="square" lIns="0" tIns="0" rIns="0" bIns="0" rtlCol="0" anchor="ctr"/>
          <a:lstStyle/>
          <a:p>
            <a:pPr defTabSz="685800"/>
            <a:r>
              <a:rPr lang="en-US" sz="2100" b="1" dirty="0">
                <a:solidFill>
                  <a:srgbClr val="F5B841"/>
                </a:solidFill>
                <a:latin typeface="Cambria" pitchFamily="34" charset="0"/>
                <a:ea typeface="Cambria" pitchFamily="34" charset="-122"/>
                <a:cs typeface="Cambria" pitchFamily="34" charset="-120"/>
              </a:rPr>
              <a:t>× 5</a:t>
            </a:r>
            <a:endParaRPr lang="en-US" sz="2100" dirty="0">
              <a:solidFill>
                <a:srgbClr val="0B1A33"/>
              </a:solidFill>
              <a:latin typeface="Calibri"/>
            </a:endParaRPr>
          </a:p>
        </p:txBody>
      </p:sp>
      <p:sp>
        <p:nvSpPr>
          <p:cNvPr id="9" name="Libellé 2"/>
          <p:cNvSpPr txBox="1"/>
          <p:nvPr/>
        </p:nvSpPr>
        <p:spPr>
          <a:xfrm>
            <a:off x="7578090" y="1927098"/>
            <a:ext cx="1083564" cy="425196"/>
          </a:xfrm>
          <a:prstGeom prst="rect">
            <a:avLst/>
          </a:prstGeom>
          <a:noFill/>
          <a:ln/>
        </p:spPr>
        <p:txBody>
          <a:bodyPr wrap="square" lIns="0" tIns="0" rIns="0" bIns="0" rtlCol="0" anchor="ctr"/>
          <a:lstStyle/>
          <a:p>
            <a:pPr defTabSz="685800"/>
            <a:r>
              <a:rPr lang="en-US" sz="825" dirty="0">
                <a:solidFill>
                  <a:srgbClr val="FFFFFF"/>
                </a:solidFill>
                <a:latin typeface="Calibri"/>
              </a:rPr>
              <a:t>552 publications en 2025, contre 110 en 2016</a:t>
            </a:r>
            <a:endParaRPr lang="en-US" sz="825" dirty="0">
              <a:solidFill>
                <a:srgbClr val="0B1A33"/>
              </a:solidFill>
              <a:latin typeface="Calibri"/>
            </a:endParaRPr>
          </a:p>
        </p:txBody>
      </p:sp>
      <p:sp>
        <p:nvSpPr>
          <p:cNvPr id="10" name="Chiffre 3"/>
          <p:cNvSpPr txBox="1"/>
          <p:nvPr/>
        </p:nvSpPr>
        <p:spPr>
          <a:xfrm>
            <a:off x="6686550" y="2516886"/>
            <a:ext cx="857250" cy="425196"/>
          </a:xfrm>
          <a:prstGeom prst="rect">
            <a:avLst/>
          </a:prstGeom>
          <a:noFill/>
          <a:ln/>
        </p:spPr>
        <p:txBody>
          <a:bodyPr wrap="square" lIns="0" tIns="0" rIns="0" bIns="0" rtlCol="0" anchor="ctr"/>
          <a:lstStyle/>
          <a:p>
            <a:pPr defTabSz="685800"/>
            <a:r>
              <a:rPr lang="en-US" sz="2100" b="1" dirty="0">
                <a:solidFill>
                  <a:srgbClr val="F5B841"/>
                </a:solidFill>
                <a:latin typeface="Cambria" pitchFamily="34" charset="0"/>
                <a:ea typeface="Cambria" pitchFamily="34" charset="-122"/>
                <a:cs typeface="Cambria" pitchFamily="34" charset="-120"/>
              </a:rPr>
              <a:t>46 %</a:t>
            </a:r>
            <a:endParaRPr lang="en-US" sz="2100" dirty="0">
              <a:solidFill>
                <a:srgbClr val="0B1A33"/>
              </a:solidFill>
              <a:latin typeface="Calibri"/>
            </a:endParaRPr>
          </a:p>
        </p:txBody>
      </p:sp>
      <p:sp>
        <p:nvSpPr>
          <p:cNvPr id="11" name="Libellé 3"/>
          <p:cNvSpPr txBox="1"/>
          <p:nvPr/>
        </p:nvSpPr>
        <p:spPr>
          <a:xfrm>
            <a:off x="7578090" y="2516886"/>
            <a:ext cx="1083564" cy="425196"/>
          </a:xfrm>
          <a:prstGeom prst="rect">
            <a:avLst/>
          </a:prstGeom>
          <a:noFill/>
          <a:ln/>
        </p:spPr>
        <p:txBody>
          <a:bodyPr wrap="square" lIns="0" tIns="0" rIns="0" bIns="0" rtlCol="0" anchor="ctr"/>
          <a:lstStyle/>
          <a:p>
            <a:pPr defTabSz="685800"/>
            <a:r>
              <a:rPr lang="en-US" sz="825" dirty="0">
                <a:solidFill>
                  <a:srgbClr val="FFFFFF"/>
                </a:solidFill>
                <a:latin typeface="Calibri"/>
              </a:rPr>
              <a:t>avec un auteur affilié en Chine (17 % sans pays connu)</a:t>
            </a:r>
            <a:endParaRPr lang="en-US" sz="825" dirty="0">
              <a:solidFill>
                <a:srgbClr val="0B1A33"/>
              </a:solidFill>
              <a:latin typeface="Calibri"/>
            </a:endParaRPr>
          </a:p>
        </p:txBody>
      </p:sp>
      <p:sp>
        <p:nvSpPr>
          <p:cNvPr id="12" name="Légende titre"/>
          <p:cNvSpPr txBox="1"/>
          <p:nvPr/>
        </p:nvSpPr>
        <p:spPr>
          <a:xfrm>
            <a:off x="6686550" y="3154680"/>
            <a:ext cx="1940814" cy="205740"/>
          </a:xfrm>
          <a:prstGeom prst="rect">
            <a:avLst/>
          </a:prstGeom>
          <a:noFill/>
          <a:ln/>
        </p:spPr>
        <p:txBody>
          <a:bodyPr wrap="square" lIns="0" tIns="0" rIns="0" bIns="0" rtlCol="0" anchor="ctr"/>
          <a:lstStyle/>
          <a:p>
            <a:pPr defTabSz="685800"/>
            <a:r>
              <a:rPr lang="en-US" sz="900" b="1" dirty="0">
                <a:solidFill>
                  <a:srgbClr val="FFFFFF"/>
                </a:solidFill>
                <a:latin typeface="Calibri"/>
              </a:rPr>
              <a:t>Thèmes (poids dans le nuage)</a:t>
            </a:r>
            <a:endParaRPr lang="en-US" sz="900" dirty="0">
              <a:solidFill>
                <a:srgbClr val="0B1A33"/>
              </a:solidFill>
              <a:latin typeface="Calibri"/>
            </a:endParaRPr>
          </a:p>
        </p:txBody>
      </p:sp>
      <p:sp>
        <p:nvSpPr>
          <p:cNvPr id="13" name="Pastille 1"/>
          <p:cNvSpPr/>
          <p:nvPr/>
        </p:nvSpPr>
        <p:spPr>
          <a:xfrm>
            <a:off x="6700266" y="3456432"/>
            <a:ext cx="89154" cy="89154"/>
          </a:xfrm>
          <a:prstGeom prst="ellipse">
            <a:avLst/>
          </a:prstGeom>
          <a:solidFill>
            <a:schemeClr val="accent2"/>
          </a:solidFill>
          <a:ln/>
        </p:spPr>
      </p:sp>
      <p:sp>
        <p:nvSpPr>
          <p:cNvPr id="14" name="Thème 1"/>
          <p:cNvSpPr txBox="1"/>
          <p:nvPr/>
        </p:nvSpPr>
        <p:spPr>
          <a:xfrm>
            <a:off x="6858000" y="3408426"/>
            <a:ext cx="1371600" cy="185166"/>
          </a:xfrm>
          <a:prstGeom prst="rect">
            <a:avLst/>
          </a:prstGeom>
          <a:noFill/>
          <a:ln/>
        </p:spPr>
        <p:txBody>
          <a:bodyPr wrap="square" lIns="0" tIns="0" rIns="0" bIns="0" rtlCol="0" anchor="ctr"/>
          <a:lstStyle/>
          <a:p>
            <a:pPr defTabSz="685800"/>
            <a:r>
              <a:rPr lang="en-US" sz="825" dirty="0">
                <a:solidFill>
                  <a:srgbClr val="FFFFFF"/>
                </a:solidFill>
                <a:latin typeface="Calibri"/>
              </a:rPr>
              <a:t>Capteurs et données</a:t>
            </a:r>
            <a:endParaRPr lang="en-US" sz="825" dirty="0">
              <a:solidFill>
                <a:srgbClr val="0B1A33"/>
              </a:solidFill>
              <a:latin typeface="Calibri"/>
            </a:endParaRPr>
          </a:p>
        </p:txBody>
      </p:sp>
      <p:sp>
        <p:nvSpPr>
          <p:cNvPr id="15" name="Part 1"/>
          <p:cNvSpPr txBox="1"/>
          <p:nvPr/>
        </p:nvSpPr>
        <p:spPr>
          <a:xfrm>
            <a:off x="8147304" y="3408426"/>
            <a:ext cx="480060" cy="185166"/>
          </a:xfrm>
          <a:prstGeom prst="rect">
            <a:avLst/>
          </a:prstGeom>
          <a:noFill/>
          <a:ln/>
        </p:spPr>
        <p:txBody>
          <a:bodyPr wrap="square" lIns="0" tIns="0" rIns="0" bIns="0" rtlCol="0" anchor="ctr"/>
          <a:lstStyle/>
          <a:p>
            <a:pPr algn="r" defTabSz="685800"/>
            <a:r>
              <a:rPr lang="en-US" sz="825" dirty="0">
                <a:solidFill>
                  <a:srgbClr val="C9D3E3"/>
                </a:solidFill>
                <a:latin typeface="Calibri"/>
              </a:rPr>
              <a:t>30,7 %</a:t>
            </a:r>
            <a:endParaRPr lang="en-US" sz="825" dirty="0">
              <a:solidFill>
                <a:srgbClr val="0B1A33"/>
              </a:solidFill>
              <a:latin typeface="Calibri"/>
            </a:endParaRPr>
          </a:p>
        </p:txBody>
      </p:sp>
      <p:sp>
        <p:nvSpPr>
          <p:cNvPr id="16" name="Pastille 2"/>
          <p:cNvSpPr/>
          <p:nvPr/>
        </p:nvSpPr>
        <p:spPr>
          <a:xfrm>
            <a:off x="6700266" y="3641598"/>
            <a:ext cx="89154" cy="89154"/>
          </a:xfrm>
          <a:prstGeom prst="ellipse">
            <a:avLst/>
          </a:prstGeom>
          <a:solidFill>
            <a:schemeClr val="accent1"/>
          </a:solidFill>
          <a:ln/>
        </p:spPr>
      </p:sp>
      <p:sp>
        <p:nvSpPr>
          <p:cNvPr id="17" name="Thème 2"/>
          <p:cNvSpPr txBox="1"/>
          <p:nvPr/>
        </p:nvSpPr>
        <p:spPr>
          <a:xfrm>
            <a:off x="6858000" y="3593592"/>
            <a:ext cx="1371600" cy="185166"/>
          </a:xfrm>
          <a:prstGeom prst="rect">
            <a:avLst/>
          </a:prstGeom>
          <a:noFill/>
          <a:ln/>
        </p:spPr>
        <p:txBody>
          <a:bodyPr wrap="square" lIns="0" tIns="0" rIns="0" bIns="0" rtlCol="0" anchor="ctr"/>
          <a:lstStyle/>
          <a:p>
            <a:pPr defTabSz="685800"/>
            <a:r>
              <a:rPr lang="en-US" sz="825" dirty="0">
                <a:solidFill>
                  <a:srgbClr val="FFFFFF"/>
                </a:solidFill>
                <a:latin typeface="Calibri"/>
              </a:rPr>
              <a:t>Urbanisation et territoire</a:t>
            </a:r>
            <a:endParaRPr lang="en-US" sz="825" dirty="0">
              <a:solidFill>
                <a:srgbClr val="0B1A33"/>
              </a:solidFill>
              <a:latin typeface="Calibri"/>
            </a:endParaRPr>
          </a:p>
        </p:txBody>
      </p:sp>
      <p:sp>
        <p:nvSpPr>
          <p:cNvPr id="18" name="Part 2"/>
          <p:cNvSpPr txBox="1"/>
          <p:nvPr/>
        </p:nvSpPr>
        <p:spPr>
          <a:xfrm>
            <a:off x="8147304" y="3593592"/>
            <a:ext cx="480060" cy="185166"/>
          </a:xfrm>
          <a:prstGeom prst="rect">
            <a:avLst/>
          </a:prstGeom>
          <a:noFill/>
          <a:ln/>
        </p:spPr>
        <p:txBody>
          <a:bodyPr wrap="square" lIns="0" tIns="0" rIns="0" bIns="0" rtlCol="0" anchor="ctr"/>
          <a:lstStyle/>
          <a:p>
            <a:pPr algn="r" defTabSz="685800"/>
            <a:r>
              <a:rPr lang="en-US" sz="825" dirty="0">
                <a:solidFill>
                  <a:srgbClr val="C9D3E3"/>
                </a:solidFill>
                <a:latin typeface="Calibri"/>
              </a:rPr>
              <a:t>26,8 %</a:t>
            </a:r>
            <a:endParaRPr lang="en-US" sz="825" dirty="0">
              <a:solidFill>
                <a:srgbClr val="0B1A33"/>
              </a:solidFill>
              <a:latin typeface="Calibri"/>
            </a:endParaRPr>
          </a:p>
        </p:txBody>
      </p:sp>
      <p:sp>
        <p:nvSpPr>
          <p:cNvPr id="19" name="Pastille 3"/>
          <p:cNvSpPr/>
          <p:nvPr/>
        </p:nvSpPr>
        <p:spPr>
          <a:xfrm>
            <a:off x="6700266" y="3826764"/>
            <a:ext cx="89154" cy="89154"/>
          </a:xfrm>
          <a:prstGeom prst="ellipse">
            <a:avLst/>
          </a:prstGeom>
          <a:solidFill>
            <a:schemeClr val="accent3"/>
          </a:solidFill>
          <a:ln/>
        </p:spPr>
      </p:sp>
      <p:sp>
        <p:nvSpPr>
          <p:cNvPr id="20" name="Thème 3"/>
          <p:cNvSpPr txBox="1"/>
          <p:nvPr/>
        </p:nvSpPr>
        <p:spPr>
          <a:xfrm>
            <a:off x="6858000" y="3778758"/>
            <a:ext cx="1371600" cy="185166"/>
          </a:xfrm>
          <a:prstGeom prst="rect">
            <a:avLst/>
          </a:prstGeom>
          <a:noFill/>
          <a:ln/>
        </p:spPr>
        <p:txBody>
          <a:bodyPr wrap="square" lIns="0" tIns="0" rIns="0" bIns="0" rtlCol="0" anchor="ctr"/>
          <a:lstStyle/>
          <a:p>
            <a:pPr defTabSz="685800"/>
            <a:r>
              <a:rPr lang="en-US" sz="825" dirty="0">
                <a:solidFill>
                  <a:srgbClr val="FFFFFF"/>
                </a:solidFill>
                <a:latin typeface="Calibri"/>
              </a:rPr>
              <a:t>Économie et développement</a:t>
            </a:r>
            <a:endParaRPr lang="en-US" sz="825" dirty="0">
              <a:solidFill>
                <a:srgbClr val="0B1A33"/>
              </a:solidFill>
              <a:latin typeface="Calibri"/>
            </a:endParaRPr>
          </a:p>
        </p:txBody>
      </p:sp>
      <p:sp>
        <p:nvSpPr>
          <p:cNvPr id="21" name="Part 3"/>
          <p:cNvSpPr txBox="1"/>
          <p:nvPr/>
        </p:nvSpPr>
        <p:spPr>
          <a:xfrm>
            <a:off x="8147304" y="3778758"/>
            <a:ext cx="480060" cy="185166"/>
          </a:xfrm>
          <a:prstGeom prst="rect">
            <a:avLst/>
          </a:prstGeom>
          <a:noFill/>
          <a:ln/>
        </p:spPr>
        <p:txBody>
          <a:bodyPr wrap="square" lIns="0" tIns="0" rIns="0" bIns="0" rtlCol="0" anchor="ctr"/>
          <a:lstStyle/>
          <a:p>
            <a:pPr algn="r" defTabSz="685800"/>
            <a:r>
              <a:rPr lang="en-US" sz="825" dirty="0">
                <a:solidFill>
                  <a:srgbClr val="C9D3E3"/>
                </a:solidFill>
                <a:latin typeface="Calibri"/>
              </a:rPr>
              <a:t>13,9 %</a:t>
            </a:r>
            <a:endParaRPr lang="en-US" sz="825" dirty="0">
              <a:solidFill>
                <a:srgbClr val="0B1A33"/>
              </a:solidFill>
              <a:latin typeface="Calibri"/>
            </a:endParaRPr>
          </a:p>
        </p:txBody>
      </p:sp>
      <p:sp>
        <p:nvSpPr>
          <p:cNvPr id="22" name="Pastille 4"/>
          <p:cNvSpPr/>
          <p:nvPr/>
        </p:nvSpPr>
        <p:spPr>
          <a:xfrm>
            <a:off x="6700266" y="4011930"/>
            <a:ext cx="89154" cy="89154"/>
          </a:xfrm>
          <a:prstGeom prst="ellipse">
            <a:avLst/>
          </a:prstGeom>
          <a:solidFill>
            <a:schemeClr val="accent4"/>
          </a:solidFill>
          <a:ln/>
        </p:spPr>
      </p:sp>
      <p:sp>
        <p:nvSpPr>
          <p:cNvPr id="23" name="Thème 4"/>
          <p:cNvSpPr txBox="1"/>
          <p:nvPr/>
        </p:nvSpPr>
        <p:spPr>
          <a:xfrm>
            <a:off x="6858000" y="3963924"/>
            <a:ext cx="1371600" cy="185166"/>
          </a:xfrm>
          <a:prstGeom prst="rect">
            <a:avLst/>
          </a:prstGeom>
          <a:noFill/>
          <a:ln/>
        </p:spPr>
        <p:txBody>
          <a:bodyPr wrap="square" lIns="0" tIns="0" rIns="0" bIns="0" rtlCol="0" anchor="ctr"/>
          <a:lstStyle/>
          <a:p>
            <a:pPr defTabSz="685800"/>
            <a:r>
              <a:rPr lang="en-US" sz="825" dirty="0">
                <a:solidFill>
                  <a:srgbClr val="FFFFFF"/>
                </a:solidFill>
                <a:latin typeface="Calibri"/>
              </a:rPr>
              <a:t>Environnement et chocs</a:t>
            </a:r>
            <a:endParaRPr lang="en-US" sz="825" dirty="0">
              <a:solidFill>
                <a:srgbClr val="0B1A33"/>
              </a:solidFill>
              <a:latin typeface="Calibri"/>
            </a:endParaRPr>
          </a:p>
        </p:txBody>
      </p:sp>
      <p:sp>
        <p:nvSpPr>
          <p:cNvPr id="24" name="Part 4"/>
          <p:cNvSpPr txBox="1"/>
          <p:nvPr/>
        </p:nvSpPr>
        <p:spPr>
          <a:xfrm>
            <a:off x="8147304" y="3963924"/>
            <a:ext cx="480060" cy="185166"/>
          </a:xfrm>
          <a:prstGeom prst="rect">
            <a:avLst/>
          </a:prstGeom>
          <a:noFill/>
          <a:ln/>
        </p:spPr>
        <p:txBody>
          <a:bodyPr wrap="square" lIns="0" tIns="0" rIns="0" bIns="0" rtlCol="0" anchor="ctr"/>
          <a:lstStyle/>
          <a:p>
            <a:pPr algn="r" defTabSz="685800"/>
            <a:r>
              <a:rPr lang="en-US" sz="825" dirty="0">
                <a:solidFill>
                  <a:srgbClr val="C9D3E3"/>
                </a:solidFill>
                <a:latin typeface="Calibri"/>
              </a:rPr>
              <a:t>11,9 %</a:t>
            </a:r>
            <a:endParaRPr lang="en-US" sz="825" dirty="0">
              <a:solidFill>
                <a:srgbClr val="0B1A33"/>
              </a:solidFill>
              <a:latin typeface="Calibri"/>
            </a:endParaRPr>
          </a:p>
        </p:txBody>
      </p:sp>
      <p:sp>
        <p:nvSpPr>
          <p:cNvPr id="25" name="Pastille 5"/>
          <p:cNvSpPr/>
          <p:nvPr/>
        </p:nvSpPr>
        <p:spPr>
          <a:xfrm>
            <a:off x="6700266" y="4197096"/>
            <a:ext cx="89154" cy="89154"/>
          </a:xfrm>
          <a:prstGeom prst="ellipse">
            <a:avLst/>
          </a:prstGeom>
          <a:solidFill>
            <a:schemeClr val="accent5"/>
          </a:solidFill>
          <a:ln/>
        </p:spPr>
      </p:sp>
      <p:sp>
        <p:nvSpPr>
          <p:cNvPr id="26" name="Thème 5"/>
          <p:cNvSpPr txBox="1"/>
          <p:nvPr/>
        </p:nvSpPr>
        <p:spPr>
          <a:xfrm>
            <a:off x="6858000" y="4149090"/>
            <a:ext cx="1371600" cy="185166"/>
          </a:xfrm>
          <a:prstGeom prst="rect">
            <a:avLst/>
          </a:prstGeom>
          <a:noFill/>
          <a:ln/>
        </p:spPr>
        <p:txBody>
          <a:bodyPr wrap="square" lIns="0" tIns="0" rIns="0" bIns="0" rtlCol="0" anchor="ctr"/>
          <a:lstStyle/>
          <a:p>
            <a:pPr defTabSz="685800"/>
            <a:r>
              <a:rPr lang="en-US" sz="825" dirty="0">
                <a:solidFill>
                  <a:srgbClr val="FFFFFF"/>
                </a:solidFill>
                <a:latin typeface="Calibri"/>
              </a:rPr>
              <a:t>Méthodes d'analyse</a:t>
            </a:r>
            <a:endParaRPr lang="en-US" sz="825" dirty="0">
              <a:solidFill>
                <a:srgbClr val="0B1A33"/>
              </a:solidFill>
              <a:latin typeface="Calibri"/>
            </a:endParaRPr>
          </a:p>
        </p:txBody>
      </p:sp>
      <p:sp>
        <p:nvSpPr>
          <p:cNvPr id="27" name="Part 5"/>
          <p:cNvSpPr txBox="1"/>
          <p:nvPr/>
        </p:nvSpPr>
        <p:spPr>
          <a:xfrm>
            <a:off x="8147304" y="4149090"/>
            <a:ext cx="480060" cy="185166"/>
          </a:xfrm>
          <a:prstGeom prst="rect">
            <a:avLst/>
          </a:prstGeom>
          <a:noFill/>
          <a:ln/>
        </p:spPr>
        <p:txBody>
          <a:bodyPr wrap="square" lIns="0" tIns="0" rIns="0" bIns="0" rtlCol="0" anchor="ctr"/>
          <a:lstStyle/>
          <a:p>
            <a:pPr algn="r" defTabSz="685800"/>
            <a:r>
              <a:rPr lang="en-US" sz="825" dirty="0">
                <a:solidFill>
                  <a:srgbClr val="C9D3E3"/>
                </a:solidFill>
                <a:latin typeface="Calibri"/>
              </a:rPr>
              <a:t>8,7 %</a:t>
            </a:r>
            <a:endParaRPr lang="en-US" sz="825" dirty="0">
              <a:solidFill>
                <a:srgbClr val="0B1A33"/>
              </a:solidFill>
              <a:latin typeface="Calibri"/>
            </a:endParaRPr>
          </a:p>
        </p:txBody>
      </p:sp>
      <p:sp>
        <p:nvSpPr>
          <p:cNvPr id="28" name="Pastille 6"/>
          <p:cNvSpPr/>
          <p:nvPr/>
        </p:nvSpPr>
        <p:spPr>
          <a:xfrm>
            <a:off x="6700266" y="4382262"/>
            <a:ext cx="89154" cy="89154"/>
          </a:xfrm>
          <a:prstGeom prst="ellipse">
            <a:avLst/>
          </a:prstGeom>
          <a:solidFill>
            <a:schemeClr val="accent6"/>
          </a:solidFill>
          <a:ln/>
        </p:spPr>
      </p:sp>
      <p:sp>
        <p:nvSpPr>
          <p:cNvPr id="29" name="Thème 6"/>
          <p:cNvSpPr txBox="1"/>
          <p:nvPr/>
        </p:nvSpPr>
        <p:spPr>
          <a:xfrm>
            <a:off x="6858000" y="4334256"/>
            <a:ext cx="1371600" cy="185166"/>
          </a:xfrm>
          <a:prstGeom prst="rect">
            <a:avLst/>
          </a:prstGeom>
          <a:noFill/>
          <a:ln/>
        </p:spPr>
        <p:txBody>
          <a:bodyPr wrap="square" lIns="0" tIns="0" rIns="0" bIns="0" rtlCol="0" anchor="ctr"/>
          <a:lstStyle/>
          <a:p>
            <a:pPr defTabSz="685800"/>
            <a:r>
              <a:rPr lang="en-US" sz="825" dirty="0">
                <a:solidFill>
                  <a:srgbClr val="FFFFFF"/>
                </a:solidFill>
                <a:latin typeface="Calibri"/>
              </a:rPr>
              <a:t>Lieux étudiés</a:t>
            </a:r>
            <a:endParaRPr lang="en-US" sz="825" dirty="0">
              <a:solidFill>
                <a:srgbClr val="0B1A33"/>
              </a:solidFill>
              <a:latin typeface="Calibri"/>
            </a:endParaRPr>
          </a:p>
        </p:txBody>
      </p:sp>
      <p:sp>
        <p:nvSpPr>
          <p:cNvPr id="30" name="Part 6"/>
          <p:cNvSpPr txBox="1"/>
          <p:nvPr/>
        </p:nvSpPr>
        <p:spPr>
          <a:xfrm>
            <a:off x="8147304" y="4334256"/>
            <a:ext cx="480060" cy="185166"/>
          </a:xfrm>
          <a:prstGeom prst="rect">
            <a:avLst/>
          </a:prstGeom>
          <a:noFill/>
          <a:ln/>
        </p:spPr>
        <p:txBody>
          <a:bodyPr wrap="square" lIns="0" tIns="0" rIns="0" bIns="0" rtlCol="0" anchor="ctr"/>
          <a:lstStyle/>
          <a:p>
            <a:pPr algn="r" defTabSz="685800"/>
            <a:r>
              <a:rPr lang="en-US" sz="825" dirty="0">
                <a:solidFill>
                  <a:srgbClr val="C9D3E3"/>
                </a:solidFill>
                <a:latin typeface="Calibri"/>
              </a:rPr>
              <a:t>8,0 %</a:t>
            </a:r>
            <a:endParaRPr lang="en-US" sz="825" dirty="0">
              <a:solidFill>
                <a:srgbClr val="0B1A33"/>
              </a:solidFill>
              <a:latin typeface="Calibri"/>
            </a:endParaRPr>
          </a:p>
        </p:txBody>
      </p:sp>
      <p:sp>
        <p:nvSpPr>
          <p:cNvPr id="31" name="Text 0"/>
          <p:cNvSpPr>
            <a:spLocks noGrp="1"/>
          </p:cNvSpPr>
          <p:nvPr>
            <p:ph type="body" idx="102" hasCustomPrompt="1"/>
          </p:nvPr>
        </p:nvSpPr>
        <p:spPr>
          <a:xfrm>
            <a:off x="342900" y="4677156"/>
            <a:ext cx="8455914" cy="274320"/>
          </a:xfrm>
          <a:prstGeom prst="rect">
            <a:avLst/>
          </a:prstGeom>
          <a:noFill/>
          <a:ln/>
        </p:spPr>
        <p:txBody>
          <a:bodyPr wrap="square" lIns="0" tIns="0" rIns="0" bIns="0" rtlCol="0" anchor="ctr"/>
          <a:lstStyle/>
          <a:p>
            <a:r>
              <a:rPr lang="en-US" dirty="0"/>
              <a:t>Source : OpenAlex (api.openalex.org), extraction du 25/10/2026. Titre ou résumé contenant « nighttime / night-time light(s) » ou « night lights » et un terme satellitaire (VIIRS, DMSP, Black Marble, remote sensing…). Mots-clés en anglais tels qu'indexés ; terme de recherche retiré, variantes fusionnées.</a:t>
            </a:r>
          </a:p>
        </p:txBody>
      </p:sp>
      <p:sp>
        <p:nvSpPr>
          <p:cNvPr id="34" name="Text 5">
            <a:extLst>
              <a:ext uri="{FF2B5EF4-FFF2-40B4-BE49-F238E27FC236}">
                <a16:creationId xmlns:a16="http://schemas.microsoft.com/office/drawing/2014/main" id="{7C06C876-6437-857A-482A-D505D9A1156E}"/>
              </a:ext>
            </a:extLst>
          </p:cNvPr>
          <p:cNvSpPr txBox="1"/>
          <p:nvPr/>
        </p:nvSpPr>
        <p:spPr>
          <a:xfrm>
            <a:off x="281202" y="123606"/>
            <a:ext cx="7315200" cy="54864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chemeClr val="bg1"/>
                </a:solidFill>
                <a:effectLst/>
                <a:uLnTx/>
                <a:uFillTx/>
                <a:ea typeface="Calibri" pitchFamily="34" charset="-122"/>
                <a:cs typeface="Calibri" pitchFamily="34" charset="-120"/>
              </a:rPr>
              <a:t>Research keywords on night-time lights</a:t>
            </a:r>
            <a:endParaRPr kumimoji="0" lang="en-US" sz="2800" b="0" i="0" u="none" strike="noStrike" kern="0" cap="none" spc="0" normalizeH="0" baseline="0" noProof="0" dirty="0">
              <a:ln>
                <a:noFill/>
              </a:ln>
              <a:solidFill>
                <a:schemeClr val="bg1"/>
              </a:solidFill>
              <a:effectLst/>
              <a:uLnTx/>
              <a:uFillTx/>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27"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1328"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pic>
        <p:nvPicPr>
          <p:cNvPr id="1026" name="Picture 2" descr="NASA's Black Marble nighttime lights product suite - ScienceDirect">
            <a:extLst>
              <a:ext uri="{FF2B5EF4-FFF2-40B4-BE49-F238E27FC236}">
                <a16:creationId xmlns:a16="http://schemas.microsoft.com/office/drawing/2014/main" id="{092641ED-A393-2439-6FAB-A4CEB04C10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9793" y="1280160"/>
            <a:ext cx="6544413" cy="3429000"/>
          </a:xfrm>
          <a:prstGeom prst="rect">
            <a:avLst/>
          </a:prstGeom>
          <a:noFill/>
          <a:extLst>
            <a:ext uri="{909E8E84-426E-40DD-AFC4-6F175D3DCCD1}">
              <a14:hiddenFill xmlns:a14="http://schemas.microsoft.com/office/drawing/2010/main">
                <a:solidFill>
                  <a:srgbClr val="FFFFFF"/>
                </a:solidFill>
              </a14:hiddenFill>
            </a:ext>
          </a:extLst>
        </p:spPr>
      </p:pic>
      <p:sp>
        <p:nvSpPr>
          <p:cNvPr id="1329" name="Shape 2"/>
          <p:cNvSpPr/>
          <p:nvPr/>
        </p:nvSpPr>
        <p:spPr>
          <a:xfrm>
            <a:off x="0" y="0"/>
            <a:ext cx="9144000" cy="54864"/>
          </a:xfrm>
          <a:prstGeom prst="rect">
            <a:avLst/>
          </a:prstGeom>
          <a:solidFill>
            <a:srgbClr val="00A86A"/>
          </a:solidFill>
          <a:ln w="12700">
            <a:solidFill>
              <a:srgbClr val="00A86A"/>
            </a:solidFill>
            <a:prstDash val="solid"/>
          </a:ln>
        </p:spPr>
      </p:sp>
      <p:sp>
        <p:nvSpPr>
          <p:cNvPr id="1330" name="Shape 3"/>
          <p:cNvSpPr/>
          <p:nvPr/>
        </p:nvSpPr>
        <p:spPr>
          <a:xfrm>
            <a:off x="0" y="0"/>
            <a:ext cx="1234440" cy="54864"/>
          </a:xfrm>
          <a:prstGeom prst="rect">
            <a:avLst/>
          </a:prstGeom>
          <a:solidFill>
            <a:srgbClr val="F5C242"/>
          </a:solidFill>
          <a:ln w="12700">
            <a:solidFill>
              <a:srgbClr val="F5C242"/>
            </a:solidFill>
            <a:prstDash val="solid"/>
          </a:ln>
        </p:spPr>
      </p:sp>
      <p:sp>
        <p:nvSpPr>
          <p:cNvPr id="1331"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FOUNDATIONS · THE GLOBAL GRID</a:t>
            </a:r>
            <a:endParaRPr lang="en-US" sz="1050" dirty="0"/>
          </a:p>
        </p:txBody>
      </p:sp>
      <p:sp>
        <p:nvSpPr>
          <p:cNvPr id="1332"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A global grid of 10° × 10° tiles</a:t>
            </a:r>
            <a:endParaRPr lang="en-US" sz="2800" dirty="0"/>
          </a:p>
        </p:txBody>
      </p:sp>
      <p:sp>
        <p:nvSpPr>
          <p:cNvPr id="1333" name="Shape 6"/>
          <p:cNvSpPr/>
          <p:nvPr/>
        </p:nvSpPr>
        <p:spPr>
          <a:xfrm>
            <a:off x="7635240" y="301752"/>
            <a:ext cx="109728" cy="109728"/>
          </a:xfrm>
          <a:prstGeom prst="ellipse">
            <a:avLst/>
          </a:prstGeom>
          <a:solidFill>
            <a:srgbClr val="00A86A"/>
          </a:solidFill>
          <a:ln w="12700">
            <a:solidFill>
              <a:srgbClr val="00A86A"/>
            </a:solidFill>
            <a:prstDash val="solid"/>
          </a:ln>
        </p:spPr>
      </p:sp>
      <p:sp>
        <p:nvSpPr>
          <p:cNvPr id="1334"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335"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336"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337"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38"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339"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340"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08</a:t>
            </a:r>
            <a:endParaRPr lang="en-US" sz="850" dirty="0"/>
          </a:p>
        </p:txBody>
      </p:sp>
    </p:spTree>
    <p:extLst>
      <p:ext uri="{BB962C8B-B14F-4D97-AF65-F5344CB8AC3E}">
        <p14:creationId xmlns:p14="http://schemas.microsoft.com/office/powerpoint/2010/main" val="2411648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8580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2</a:t>
            </a:r>
            <a:endParaRPr lang="en-US" sz="1050" dirty="0"/>
          </a:p>
        </p:txBody>
      </p:sp>
      <p:sp>
        <p:nvSpPr>
          <p:cNvPr id="4" name="Text 2"/>
          <p:cNvSpPr txBox="1"/>
          <p:nvPr/>
        </p:nvSpPr>
        <p:spPr>
          <a:xfrm>
            <a:off x="502920" y="91440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02</a:t>
            </a:r>
            <a:endParaRPr lang="en-US" sz="9600" dirty="0"/>
          </a:p>
        </p:txBody>
      </p:sp>
      <p:sp>
        <p:nvSpPr>
          <p:cNvPr id="5" name="Text 3"/>
          <p:cNvSpPr txBox="1"/>
          <p:nvPr/>
        </p:nvSpPr>
        <p:spPr>
          <a:xfrm>
            <a:off x="548640" y="2240280"/>
            <a:ext cx="5486400" cy="6858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The instruments</a:t>
            </a:r>
            <a:endParaRPr lang="en-US" sz="3600" dirty="0"/>
          </a:p>
        </p:txBody>
      </p:sp>
      <p:sp>
        <p:nvSpPr>
          <p:cNvPr id="6" name="Text 4"/>
          <p:cNvSpPr txBox="1"/>
          <p:nvPr/>
        </p:nvSpPr>
        <p:spPr>
          <a:xfrm>
            <a:off x="548640" y="2971800"/>
            <a:ext cx="5120640" cy="59436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What exactly is measuring, and at what resolution?</a:t>
            </a:r>
            <a:endParaRPr lang="en-US" sz="1800" dirty="0"/>
          </a:p>
        </p:txBody>
      </p:sp>
      <p:sp>
        <p:nvSpPr>
          <p:cNvPr id="7" name="Text 5"/>
          <p:cNvSpPr txBox="1"/>
          <p:nvPr/>
        </p:nvSpPr>
        <p:spPr>
          <a:xfrm>
            <a:off x="548640" y="3703320"/>
            <a:ext cx="5303520" cy="274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History  ·  DMSP or VIIRS  ·  Saturation and dynamic range</a:t>
            </a:r>
            <a:endParaRPr lang="en-US" sz="1200" dirty="0"/>
          </a:p>
        </p:txBody>
      </p:sp>
      <p:sp>
        <p:nvSpPr>
          <p:cNvPr id="8" name="Shape 6"/>
          <p:cNvSpPr/>
          <p:nvPr/>
        </p:nvSpPr>
        <p:spPr>
          <a:xfrm>
            <a:off x="548640" y="4343400"/>
            <a:ext cx="118872" cy="118872"/>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768096" y="4343400"/>
            <a:ext cx="118872" cy="118872"/>
          </a:xfrm>
          <a:prstGeom prst="ellipse">
            <a:avLst/>
          </a:prstGeom>
          <a:solidFill>
            <a:srgbClr val="F5C242"/>
          </a:solidFill>
          <a:ln w="12700">
            <a:solidFill>
              <a:srgbClr val="FFFFFF">
                <a:alpha val="0"/>
              </a:srgbClr>
            </a:solidFill>
            <a:prstDash val="solid"/>
          </a:ln>
        </p:spPr>
      </p:sp>
      <p:sp>
        <p:nvSpPr>
          <p:cNvPr id="10" name="Shape 8"/>
          <p:cNvSpPr/>
          <p:nvPr/>
        </p:nvSpPr>
        <p:spPr>
          <a:xfrm>
            <a:off x="987552" y="4343400"/>
            <a:ext cx="118872" cy="118872"/>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207008" y="4343400"/>
            <a:ext cx="118872" cy="118872"/>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1426464" y="4343400"/>
            <a:ext cx="118872" cy="118872"/>
          </a:xfrm>
          <a:prstGeom prst="ellipse">
            <a:avLst/>
          </a:prstGeom>
          <a:solidFill>
            <a:srgbClr val="FFFFFF">
              <a:alpha val="40000"/>
            </a:srgbClr>
          </a:solidFill>
          <a:ln w="12700">
            <a:solidFill>
              <a:srgbClr val="FFFFFF">
                <a:alpha val="0"/>
              </a:srgbClr>
            </a:solidFill>
            <a:prstDash val="solid"/>
          </a:ln>
        </p:spPr>
      </p:sp>
      <p:sp>
        <p:nvSpPr>
          <p:cNvPr id="13" name="Shape 11"/>
          <p:cNvSpPr/>
          <p:nvPr/>
        </p:nvSpPr>
        <p:spPr>
          <a:xfrm>
            <a:off x="1645920" y="4343400"/>
            <a:ext cx="118872" cy="118872"/>
          </a:xfrm>
          <a:prstGeom prst="ellipse">
            <a:avLst/>
          </a:prstGeom>
          <a:solidFill>
            <a:srgbClr val="FFFFFF">
              <a:alpha val="40000"/>
            </a:srgbClr>
          </a:solidFill>
          <a:ln w="12700">
            <a:solidFill>
              <a:srgbClr val="FFFFFF">
                <a:alpha val="0"/>
              </a:srgbClr>
            </a:solidFill>
            <a:prstDash val="solid"/>
          </a:ln>
        </p:spPr>
      </p:sp>
      <p:sp>
        <p:nvSpPr>
          <p:cNvPr id="14" name="Shape 12"/>
          <p:cNvSpPr/>
          <p:nvPr/>
        </p:nvSpPr>
        <p:spPr>
          <a:xfrm>
            <a:off x="5760720" y="1188720"/>
            <a:ext cx="2651760" cy="2651760"/>
          </a:xfrm>
          <a:prstGeom prst="ellipse">
            <a:avLst/>
          </a:prstGeom>
          <a:solidFill>
            <a:srgbClr val="FFFFFF">
              <a:alpha val="10000"/>
            </a:srgbClr>
          </a:solidFill>
          <a:ln w="9525">
            <a:solidFill>
              <a:srgbClr val="FFFFFF">
                <a:alpha val="30000"/>
              </a:srgbClr>
            </a:solidFill>
            <a:prstDash val="solid"/>
          </a:ln>
        </p:spPr>
      </p:sp>
      <p:sp>
        <p:nvSpPr>
          <p:cNvPr id="15" name="Shape 13"/>
          <p:cNvSpPr/>
          <p:nvPr/>
        </p:nvSpPr>
        <p:spPr>
          <a:xfrm>
            <a:off x="6080760" y="1508760"/>
            <a:ext cx="2011680" cy="2011680"/>
          </a:xfrm>
          <a:prstGeom prst="ellipse">
            <a:avLst/>
          </a:prstGeom>
          <a:solidFill>
            <a:srgbClr val="FFFFFF">
              <a:alpha val="13000"/>
            </a:srgbClr>
          </a:solidFill>
          <a:ln w="9525">
            <a:solidFill>
              <a:srgbClr val="FFFFFF">
                <a:alpha val="30000"/>
              </a:srgbClr>
            </a:solidFill>
            <a:prstDash val="solid"/>
          </a:ln>
        </p:spPr>
      </p:sp>
      <p:sp>
        <p:nvSpPr>
          <p:cNvPr id="16" name="Shape 14"/>
          <p:cNvSpPr/>
          <p:nvPr/>
        </p:nvSpPr>
        <p:spPr>
          <a:xfrm>
            <a:off x="6400800" y="1828800"/>
            <a:ext cx="1371600" cy="1371600"/>
          </a:xfrm>
          <a:prstGeom prst="ellipse">
            <a:avLst/>
          </a:prstGeom>
          <a:solidFill>
            <a:srgbClr val="FFFFFF">
              <a:alpha val="16000"/>
            </a:srgbClr>
          </a:solidFill>
          <a:ln w="9525">
            <a:solidFill>
              <a:srgbClr val="FFFFFF">
                <a:alpha val="30000"/>
              </a:srgbClr>
            </a:solidFill>
            <a:prstDash val="solid"/>
          </a:ln>
        </p:spPr>
      </p:sp>
      <p:sp>
        <p:nvSpPr>
          <p:cNvPr id="17" name="Shape 15"/>
          <p:cNvSpPr/>
          <p:nvPr/>
        </p:nvSpPr>
        <p:spPr>
          <a:xfrm>
            <a:off x="6629400" y="2057400"/>
            <a:ext cx="914400" cy="914400"/>
          </a:xfrm>
          <a:prstGeom prst="ellipse">
            <a:avLst/>
          </a:prstGeom>
          <a:solidFill>
            <a:srgbClr val="FFFFFF"/>
          </a:solidFill>
          <a:ln w="12700">
            <a:solidFill>
              <a:srgbClr val="FFFFFF"/>
            </a:solidFill>
            <a:prstDash val="solid"/>
          </a:ln>
        </p:spPr>
      </p:sp>
      <p:pic>
        <p:nvPicPr>
          <p:cNvPr id="18" name="Image 0" descr="preencoded.png"/>
          <p:cNvPicPr>
            <a:picLocks noChangeAspect="1"/>
          </p:cNvPicPr>
          <p:nvPr/>
        </p:nvPicPr>
        <p:blipFill>
          <a:blip r:embed="rId4"/>
          <a:stretch>
            <a:fillRect/>
          </a:stretch>
        </p:blipFill>
        <p:spPr>
          <a:xfrm>
            <a:off x="6848856" y="2276856"/>
            <a:ext cx="475488" cy="475488"/>
          </a:xfrm>
          <a:prstGeom prst="rect">
            <a:avLst/>
          </a:prstGeom>
        </p:spPr>
      </p:pic>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THE INSTRUMENTS · HISTORY</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Fifty years of watching the dark</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00704A"/>
          </a:solidFill>
          <a:ln w="12700">
            <a:solidFill>
              <a:srgbClr val="00704A"/>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sp>
        <p:nvSpPr>
          <p:cNvPr id="17" name="Shape 14"/>
          <p:cNvSpPr/>
          <p:nvPr/>
        </p:nvSpPr>
        <p:spPr>
          <a:xfrm>
            <a:off x="457200" y="2788920"/>
            <a:ext cx="8229600" cy="0"/>
          </a:xfrm>
          <a:prstGeom prst="line">
            <a:avLst/>
          </a:prstGeom>
          <a:noFill/>
          <a:ln w="25400">
            <a:solidFill>
              <a:srgbClr val="D5DED9"/>
            </a:solidFill>
            <a:prstDash val="solid"/>
          </a:ln>
        </p:spPr>
      </p:sp>
      <p:sp>
        <p:nvSpPr>
          <p:cNvPr id="18" name="Shape 15"/>
          <p:cNvSpPr/>
          <p:nvPr/>
        </p:nvSpPr>
        <p:spPr>
          <a:xfrm>
            <a:off x="1014984" y="2706624"/>
            <a:ext cx="164592" cy="164592"/>
          </a:xfrm>
          <a:prstGeom prst="ellipse">
            <a:avLst/>
          </a:prstGeom>
          <a:solidFill>
            <a:srgbClr val="5E6964"/>
          </a:solidFill>
          <a:ln w="19050">
            <a:solidFill>
              <a:srgbClr val="FFFFFF"/>
            </a:solidFill>
            <a:prstDash val="solid"/>
          </a:ln>
        </p:spPr>
      </p:sp>
      <p:sp>
        <p:nvSpPr>
          <p:cNvPr id="19" name="Shape 16"/>
          <p:cNvSpPr/>
          <p:nvPr/>
        </p:nvSpPr>
        <p:spPr>
          <a:xfrm>
            <a:off x="1097280" y="2423160"/>
            <a:ext cx="0" cy="283464"/>
          </a:xfrm>
          <a:prstGeom prst="line">
            <a:avLst/>
          </a:prstGeom>
          <a:noFill/>
          <a:ln w="9525">
            <a:solidFill>
              <a:srgbClr val="D5DED9"/>
            </a:solidFill>
            <a:prstDash val="solid"/>
          </a:ln>
        </p:spPr>
      </p:sp>
      <p:sp>
        <p:nvSpPr>
          <p:cNvPr id="20" name="Text 17"/>
          <p:cNvSpPr txBox="1"/>
          <p:nvPr/>
        </p:nvSpPr>
        <p:spPr>
          <a:xfrm>
            <a:off x="502920" y="2130552"/>
            <a:ext cx="1188720" cy="274320"/>
          </a:xfrm>
          <a:prstGeom prst="rect">
            <a:avLst/>
          </a:prstGeom>
          <a:noFill/>
          <a:ln/>
        </p:spPr>
        <p:txBody>
          <a:bodyPr wrap="square" lIns="0" tIns="0" rIns="0" bIns="0" rtlCol="0" anchor="ctr"/>
          <a:lstStyle/>
          <a:p>
            <a:pPr marL="0" indent="0" algn="ctr">
              <a:buNone/>
            </a:pPr>
            <a:r>
              <a:rPr lang="en-US" sz="1200" b="1" dirty="0">
                <a:solidFill>
                  <a:srgbClr val="5E6964"/>
                </a:solidFill>
                <a:latin typeface="Calibri" pitchFamily="34" charset="0"/>
                <a:ea typeface="Calibri" pitchFamily="34" charset="-122"/>
                <a:cs typeface="Calibri" pitchFamily="34" charset="-120"/>
              </a:rPr>
              <a:t>1970s</a:t>
            </a:r>
            <a:endParaRPr lang="en-US" sz="1200" dirty="0"/>
          </a:p>
        </p:txBody>
      </p:sp>
      <p:sp>
        <p:nvSpPr>
          <p:cNvPr id="21" name="Text 18"/>
          <p:cNvSpPr txBox="1"/>
          <p:nvPr/>
        </p:nvSpPr>
        <p:spPr>
          <a:xfrm>
            <a:off x="457200" y="1280160"/>
            <a:ext cx="1280160" cy="822960"/>
          </a:xfrm>
          <a:prstGeom prst="rect">
            <a:avLst/>
          </a:prstGeom>
          <a:noFill/>
          <a:ln/>
        </p:spPr>
        <p:txBody>
          <a:bodyPr wrap="square" lIns="0" tIns="0" rIns="0" bIns="0" rtlCol="0" anchor="b"/>
          <a:lstStyle/>
          <a:p>
            <a:pPr marL="0" indent="0" algn="ctr">
              <a:buNone/>
            </a:pPr>
            <a:r>
              <a:rPr lang="en-US" sz="850" dirty="0">
                <a:solidFill>
                  <a:srgbClr val="231F20"/>
                </a:solidFill>
                <a:latin typeface="Calibri" pitchFamily="34" charset="0"/>
                <a:ea typeface="Calibri" pitchFamily="34" charset="-122"/>
                <a:cs typeface="Calibri" pitchFamily="34" charset="-120"/>
              </a:rPr>
              <a:t>DMSP-OLS night imagery (film). City lights spotted while detecting clouds.</a:t>
            </a:r>
            <a:endParaRPr lang="en-US" sz="850" dirty="0"/>
          </a:p>
        </p:txBody>
      </p:sp>
      <p:sp>
        <p:nvSpPr>
          <p:cNvPr id="22" name="Shape 19"/>
          <p:cNvSpPr/>
          <p:nvPr/>
        </p:nvSpPr>
        <p:spPr>
          <a:xfrm>
            <a:off x="2020824" y="2706624"/>
            <a:ext cx="164592" cy="164592"/>
          </a:xfrm>
          <a:prstGeom prst="ellipse">
            <a:avLst/>
          </a:prstGeom>
          <a:solidFill>
            <a:srgbClr val="00704A"/>
          </a:solidFill>
          <a:ln w="19050">
            <a:solidFill>
              <a:srgbClr val="FFFFFF"/>
            </a:solidFill>
            <a:prstDash val="solid"/>
          </a:ln>
        </p:spPr>
      </p:sp>
      <p:sp>
        <p:nvSpPr>
          <p:cNvPr id="23" name="Shape 20"/>
          <p:cNvSpPr/>
          <p:nvPr/>
        </p:nvSpPr>
        <p:spPr>
          <a:xfrm>
            <a:off x="2103120" y="2871216"/>
            <a:ext cx="0" cy="283464"/>
          </a:xfrm>
          <a:prstGeom prst="line">
            <a:avLst/>
          </a:prstGeom>
          <a:noFill/>
          <a:ln w="9525">
            <a:solidFill>
              <a:srgbClr val="D5DED9"/>
            </a:solidFill>
            <a:prstDash val="solid"/>
          </a:ln>
        </p:spPr>
      </p:sp>
      <p:sp>
        <p:nvSpPr>
          <p:cNvPr id="24" name="Text 21"/>
          <p:cNvSpPr txBox="1"/>
          <p:nvPr/>
        </p:nvSpPr>
        <p:spPr>
          <a:xfrm>
            <a:off x="1508760" y="3172968"/>
            <a:ext cx="1188720" cy="274320"/>
          </a:xfrm>
          <a:prstGeom prst="rect">
            <a:avLst/>
          </a:prstGeom>
          <a:noFill/>
          <a:ln/>
        </p:spPr>
        <p:txBody>
          <a:bodyPr wrap="square" lIns="0" tIns="0" rIns="0" bIns="0" rtlCol="0" anchor="ctr"/>
          <a:lstStyle/>
          <a:p>
            <a:pPr marL="0" indent="0" algn="ctr">
              <a:buNone/>
            </a:pPr>
            <a:r>
              <a:rPr lang="en-US" sz="1500" b="1" dirty="0">
                <a:solidFill>
                  <a:srgbClr val="00704A"/>
                </a:solidFill>
                <a:latin typeface="Calibri" pitchFamily="34" charset="0"/>
                <a:ea typeface="Calibri" pitchFamily="34" charset="-122"/>
                <a:cs typeface="Calibri" pitchFamily="34" charset="-120"/>
              </a:rPr>
              <a:t>1992</a:t>
            </a:r>
            <a:endParaRPr lang="en-US" sz="1500" dirty="0"/>
          </a:p>
        </p:txBody>
      </p:sp>
      <p:sp>
        <p:nvSpPr>
          <p:cNvPr id="25" name="Text 22"/>
          <p:cNvSpPr txBox="1"/>
          <p:nvPr/>
        </p:nvSpPr>
        <p:spPr>
          <a:xfrm>
            <a:off x="1463040" y="3474720"/>
            <a:ext cx="1280160" cy="822960"/>
          </a:xfrm>
          <a:prstGeom prst="rect">
            <a:avLst/>
          </a:prstGeom>
          <a:noFill/>
          <a:ln/>
        </p:spPr>
        <p:txBody>
          <a:bodyPr wrap="square" lIns="0" tIns="0" rIns="0" bIns="0" rtlCol="0" anchor="t"/>
          <a:lstStyle/>
          <a:p>
            <a:pPr marL="0" indent="0" algn="ctr">
              <a:buNone/>
            </a:pPr>
            <a:r>
              <a:rPr lang="en-US" sz="850" dirty="0">
                <a:solidFill>
                  <a:srgbClr val="231F20"/>
                </a:solidFill>
                <a:latin typeface="Calibri" pitchFamily="34" charset="0"/>
                <a:ea typeface="Calibri" pitchFamily="34" charset="-122"/>
                <a:cs typeface="Calibri" pitchFamily="34" charset="-120"/>
              </a:rPr>
              <a:t>Start of the DMSP digital archive → annual “stable lights” series until 2013.</a:t>
            </a:r>
            <a:endParaRPr lang="en-US" sz="850" dirty="0"/>
          </a:p>
        </p:txBody>
      </p:sp>
      <p:sp>
        <p:nvSpPr>
          <p:cNvPr id="26" name="Shape 23"/>
          <p:cNvSpPr/>
          <p:nvPr/>
        </p:nvSpPr>
        <p:spPr>
          <a:xfrm>
            <a:off x="3026664" y="2706624"/>
            <a:ext cx="164592" cy="164592"/>
          </a:xfrm>
          <a:prstGeom prst="ellipse">
            <a:avLst/>
          </a:prstGeom>
          <a:solidFill>
            <a:srgbClr val="00A86A"/>
          </a:solidFill>
          <a:ln w="19050">
            <a:solidFill>
              <a:srgbClr val="FFFFFF"/>
            </a:solidFill>
            <a:prstDash val="solid"/>
          </a:ln>
        </p:spPr>
      </p:sp>
      <p:sp>
        <p:nvSpPr>
          <p:cNvPr id="27" name="Shape 24"/>
          <p:cNvSpPr/>
          <p:nvPr/>
        </p:nvSpPr>
        <p:spPr>
          <a:xfrm>
            <a:off x="3108960" y="2423160"/>
            <a:ext cx="0" cy="283464"/>
          </a:xfrm>
          <a:prstGeom prst="line">
            <a:avLst/>
          </a:prstGeom>
          <a:noFill/>
          <a:ln w="9525">
            <a:solidFill>
              <a:srgbClr val="D5DED9"/>
            </a:solidFill>
            <a:prstDash val="solid"/>
          </a:ln>
        </p:spPr>
      </p:sp>
      <p:sp>
        <p:nvSpPr>
          <p:cNvPr id="28" name="Text 25"/>
          <p:cNvSpPr txBox="1"/>
          <p:nvPr/>
        </p:nvSpPr>
        <p:spPr>
          <a:xfrm>
            <a:off x="2514600" y="2130552"/>
            <a:ext cx="1188720" cy="274320"/>
          </a:xfrm>
          <a:prstGeom prst="rect">
            <a:avLst/>
          </a:prstGeom>
          <a:noFill/>
          <a:ln/>
        </p:spPr>
        <p:txBody>
          <a:bodyPr wrap="square" lIns="0" tIns="0" rIns="0" bIns="0" rtlCol="0" anchor="ctr"/>
          <a:lstStyle/>
          <a:p>
            <a:pPr marL="0" indent="0" algn="ctr">
              <a:buNone/>
            </a:pPr>
            <a:r>
              <a:rPr lang="en-US" sz="1500" b="1" dirty="0">
                <a:solidFill>
                  <a:srgbClr val="00A86A"/>
                </a:solidFill>
                <a:latin typeface="Calibri" pitchFamily="34" charset="0"/>
                <a:ea typeface="Calibri" pitchFamily="34" charset="-122"/>
                <a:cs typeface="Calibri" pitchFamily="34" charset="-120"/>
              </a:rPr>
              <a:t>2011</a:t>
            </a:r>
            <a:endParaRPr lang="en-US" sz="1500" dirty="0"/>
          </a:p>
        </p:txBody>
      </p:sp>
      <p:sp>
        <p:nvSpPr>
          <p:cNvPr id="29" name="Text 26"/>
          <p:cNvSpPr txBox="1"/>
          <p:nvPr/>
        </p:nvSpPr>
        <p:spPr>
          <a:xfrm>
            <a:off x="2468880" y="1280160"/>
            <a:ext cx="1280160" cy="822960"/>
          </a:xfrm>
          <a:prstGeom prst="rect">
            <a:avLst/>
          </a:prstGeom>
          <a:noFill/>
          <a:ln/>
        </p:spPr>
        <p:txBody>
          <a:bodyPr wrap="square" lIns="0" tIns="0" rIns="0" bIns="0" rtlCol="0" anchor="b"/>
          <a:lstStyle/>
          <a:p>
            <a:pPr marL="0" indent="0" algn="ctr">
              <a:buNone/>
            </a:pPr>
            <a:r>
              <a:rPr lang="en-US" sz="850" dirty="0">
                <a:solidFill>
                  <a:srgbClr val="231F20"/>
                </a:solidFill>
                <a:latin typeface="Calibri" pitchFamily="34" charset="0"/>
                <a:ea typeface="Calibri" pitchFamily="34" charset="-122"/>
                <a:cs typeface="Calibri" pitchFamily="34" charset="-120"/>
              </a:rPr>
              <a:t>Launch of Suomi NPP with VIIRS: the first sensor calibrated for night-time radiance.</a:t>
            </a:r>
            <a:endParaRPr lang="en-US" sz="850" dirty="0"/>
          </a:p>
        </p:txBody>
      </p:sp>
      <p:sp>
        <p:nvSpPr>
          <p:cNvPr id="30" name="Shape 27"/>
          <p:cNvSpPr/>
          <p:nvPr/>
        </p:nvSpPr>
        <p:spPr>
          <a:xfrm>
            <a:off x="4032504" y="2706624"/>
            <a:ext cx="164592" cy="164592"/>
          </a:xfrm>
          <a:prstGeom prst="ellipse">
            <a:avLst/>
          </a:prstGeom>
          <a:solidFill>
            <a:srgbClr val="00A86A"/>
          </a:solidFill>
          <a:ln w="19050">
            <a:solidFill>
              <a:srgbClr val="FFFFFF"/>
            </a:solidFill>
            <a:prstDash val="solid"/>
          </a:ln>
        </p:spPr>
      </p:sp>
      <p:sp>
        <p:nvSpPr>
          <p:cNvPr id="31" name="Shape 28"/>
          <p:cNvSpPr/>
          <p:nvPr/>
        </p:nvSpPr>
        <p:spPr>
          <a:xfrm>
            <a:off x="4114800" y="2871216"/>
            <a:ext cx="0" cy="283464"/>
          </a:xfrm>
          <a:prstGeom prst="line">
            <a:avLst/>
          </a:prstGeom>
          <a:noFill/>
          <a:ln w="9525">
            <a:solidFill>
              <a:srgbClr val="D5DED9"/>
            </a:solidFill>
            <a:prstDash val="solid"/>
          </a:ln>
        </p:spPr>
      </p:sp>
      <p:sp>
        <p:nvSpPr>
          <p:cNvPr id="32" name="Text 29"/>
          <p:cNvSpPr txBox="1"/>
          <p:nvPr/>
        </p:nvSpPr>
        <p:spPr>
          <a:xfrm>
            <a:off x="3520440" y="3172968"/>
            <a:ext cx="1188720" cy="274320"/>
          </a:xfrm>
          <a:prstGeom prst="rect">
            <a:avLst/>
          </a:prstGeom>
          <a:noFill/>
          <a:ln/>
        </p:spPr>
        <p:txBody>
          <a:bodyPr wrap="square" lIns="0" tIns="0" rIns="0" bIns="0" rtlCol="0" anchor="ctr"/>
          <a:lstStyle/>
          <a:p>
            <a:pPr marL="0" indent="0" algn="ctr">
              <a:buNone/>
            </a:pPr>
            <a:r>
              <a:rPr lang="en-US" sz="1500" b="1" dirty="0">
                <a:solidFill>
                  <a:srgbClr val="00A86A"/>
                </a:solidFill>
                <a:latin typeface="Calibri" pitchFamily="34" charset="0"/>
                <a:ea typeface="Calibri" pitchFamily="34" charset="-122"/>
                <a:cs typeface="Calibri" pitchFamily="34" charset="-120"/>
              </a:rPr>
              <a:t>2012</a:t>
            </a:r>
            <a:endParaRPr lang="en-US" sz="1500" dirty="0"/>
          </a:p>
        </p:txBody>
      </p:sp>
      <p:sp>
        <p:nvSpPr>
          <p:cNvPr id="33" name="Text 30"/>
          <p:cNvSpPr txBox="1"/>
          <p:nvPr/>
        </p:nvSpPr>
        <p:spPr>
          <a:xfrm>
            <a:off x="3474720" y="3474720"/>
            <a:ext cx="1280160" cy="822960"/>
          </a:xfrm>
          <a:prstGeom prst="rect">
            <a:avLst/>
          </a:prstGeom>
          <a:noFill/>
          <a:ln/>
        </p:spPr>
        <p:txBody>
          <a:bodyPr wrap="square" lIns="0" tIns="0" rIns="0" bIns="0" rtlCol="0" anchor="t"/>
          <a:lstStyle/>
          <a:p>
            <a:pPr marL="0" indent="0" algn="ctr">
              <a:buNone/>
            </a:pPr>
            <a:r>
              <a:rPr lang="en-US" sz="850" dirty="0">
                <a:solidFill>
                  <a:srgbClr val="231F20"/>
                </a:solidFill>
                <a:latin typeface="Calibri" pitchFamily="34" charset="0"/>
                <a:ea typeface="Calibri" pitchFamily="34" charset="-122"/>
                <a:cs typeface="Calibri" pitchFamily="34" charset="-120"/>
              </a:rPr>
              <a:t>Cloud-free VIIRS monthly composites; start of the NASA Black Marble series.</a:t>
            </a:r>
            <a:endParaRPr lang="en-US" sz="850" dirty="0"/>
          </a:p>
        </p:txBody>
      </p:sp>
      <p:sp>
        <p:nvSpPr>
          <p:cNvPr id="34" name="Shape 31"/>
          <p:cNvSpPr/>
          <p:nvPr/>
        </p:nvSpPr>
        <p:spPr>
          <a:xfrm>
            <a:off x="5038344" y="2706624"/>
            <a:ext cx="164592" cy="164592"/>
          </a:xfrm>
          <a:prstGeom prst="ellipse">
            <a:avLst/>
          </a:prstGeom>
          <a:solidFill>
            <a:srgbClr val="0E7C86"/>
          </a:solidFill>
          <a:ln w="19050">
            <a:solidFill>
              <a:srgbClr val="FFFFFF"/>
            </a:solidFill>
            <a:prstDash val="solid"/>
          </a:ln>
        </p:spPr>
      </p:sp>
      <p:sp>
        <p:nvSpPr>
          <p:cNvPr id="35" name="Shape 32"/>
          <p:cNvSpPr/>
          <p:nvPr/>
        </p:nvSpPr>
        <p:spPr>
          <a:xfrm>
            <a:off x="5120640" y="2423160"/>
            <a:ext cx="0" cy="283464"/>
          </a:xfrm>
          <a:prstGeom prst="line">
            <a:avLst/>
          </a:prstGeom>
          <a:noFill/>
          <a:ln w="9525">
            <a:solidFill>
              <a:srgbClr val="D5DED9"/>
            </a:solidFill>
            <a:prstDash val="solid"/>
          </a:ln>
        </p:spPr>
      </p:sp>
      <p:sp>
        <p:nvSpPr>
          <p:cNvPr id="36" name="Text 33"/>
          <p:cNvSpPr txBox="1"/>
          <p:nvPr/>
        </p:nvSpPr>
        <p:spPr>
          <a:xfrm>
            <a:off x="4526280" y="2130552"/>
            <a:ext cx="1188720" cy="274320"/>
          </a:xfrm>
          <a:prstGeom prst="rect">
            <a:avLst/>
          </a:prstGeom>
          <a:noFill/>
          <a:ln/>
        </p:spPr>
        <p:txBody>
          <a:bodyPr wrap="square" lIns="0" tIns="0" rIns="0" bIns="0" rtlCol="0" anchor="ctr"/>
          <a:lstStyle/>
          <a:p>
            <a:pPr marL="0" indent="0" algn="ctr">
              <a:buNone/>
            </a:pPr>
            <a:r>
              <a:rPr lang="en-US" sz="1500" b="1" dirty="0">
                <a:solidFill>
                  <a:srgbClr val="0E7C86"/>
                </a:solidFill>
                <a:latin typeface="Calibri" pitchFamily="34" charset="0"/>
                <a:ea typeface="Calibri" pitchFamily="34" charset="-122"/>
                <a:cs typeface="Calibri" pitchFamily="34" charset="-120"/>
              </a:rPr>
              <a:t>2017</a:t>
            </a:r>
            <a:endParaRPr lang="en-US" sz="1500" dirty="0"/>
          </a:p>
        </p:txBody>
      </p:sp>
      <p:sp>
        <p:nvSpPr>
          <p:cNvPr id="37" name="Text 34"/>
          <p:cNvSpPr txBox="1"/>
          <p:nvPr/>
        </p:nvSpPr>
        <p:spPr>
          <a:xfrm>
            <a:off x="4480560" y="1280160"/>
            <a:ext cx="1280160" cy="822960"/>
          </a:xfrm>
          <a:prstGeom prst="rect">
            <a:avLst/>
          </a:prstGeom>
          <a:noFill/>
          <a:ln/>
        </p:spPr>
        <p:txBody>
          <a:bodyPr wrap="square" lIns="0" tIns="0" rIns="0" bIns="0" rtlCol="0" anchor="b"/>
          <a:lstStyle/>
          <a:p>
            <a:pPr marL="0" indent="0" algn="ctr">
              <a:buNone/>
            </a:pPr>
            <a:r>
              <a:rPr lang="en-US" sz="850" dirty="0">
                <a:solidFill>
                  <a:srgbClr val="231F20"/>
                </a:solidFill>
                <a:latin typeface="Calibri" pitchFamily="34" charset="0"/>
                <a:ea typeface="Calibri" pitchFamily="34" charset="-122"/>
                <a:cs typeface="Calibri" pitchFamily="34" charset="-120"/>
              </a:rPr>
              <a:t>Launch of NOAA-20 with a 2nd VIIRS; twin Black Marble products from 2018.</a:t>
            </a:r>
            <a:endParaRPr lang="en-US" sz="850" dirty="0"/>
          </a:p>
        </p:txBody>
      </p:sp>
      <p:sp>
        <p:nvSpPr>
          <p:cNvPr id="38" name="Shape 35"/>
          <p:cNvSpPr/>
          <p:nvPr/>
        </p:nvSpPr>
        <p:spPr>
          <a:xfrm>
            <a:off x="6044184" y="2706624"/>
            <a:ext cx="164592" cy="164592"/>
          </a:xfrm>
          <a:prstGeom prst="ellipse">
            <a:avLst/>
          </a:prstGeom>
          <a:solidFill>
            <a:srgbClr val="D49A00"/>
          </a:solidFill>
          <a:ln w="19050">
            <a:solidFill>
              <a:srgbClr val="FFFFFF"/>
            </a:solidFill>
            <a:prstDash val="solid"/>
          </a:ln>
        </p:spPr>
      </p:sp>
      <p:sp>
        <p:nvSpPr>
          <p:cNvPr id="39" name="Shape 36"/>
          <p:cNvSpPr/>
          <p:nvPr/>
        </p:nvSpPr>
        <p:spPr>
          <a:xfrm>
            <a:off x="6126480" y="2871216"/>
            <a:ext cx="0" cy="283464"/>
          </a:xfrm>
          <a:prstGeom prst="line">
            <a:avLst/>
          </a:prstGeom>
          <a:noFill/>
          <a:ln w="9525">
            <a:solidFill>
              <a:srgbClr val="D5DED9"/>
            </a:solidFill>
            <a:prstDash val="solid"/>
          </a:ln>
        </p:spPr>
      </p:sp>
      <p:sp>
        <p:nvSpPr>
          <p:cNvPr id="40" name="Text 37"/>
          <p:cNvSpPr txBox="1"/>
          <p:nvPr/>
        </p:nvSpPr>
        <p:spPr>
          <a:xfrm>
            <a:off x="5532120" y="3172968"/>
            <a:ext cx="1188720" cy="274320"/>
          </a:xfrm>
          <a:prstGeom prst="rect">
            <a:avLst/>
          </a:prstGeom>
          <a:noFill/>
          <a:ln/>
        </p:spPr>
        <p:txBody>
          <a:bodyPr wrap="square" lIns="0" tIns="0" rIns="0" bIns="0" rtlCol="0" anchor="ctr"/>
          <a:lstStyle/>
          <a:p>
            <a:pPr marL="0" indent="0" algn="ctr">
              <a:buNone/>
            </a:pPr>
            <a:r>
              <a:rPr lang="en-US" sz="1500" b="1" dirty="0">
                <a:solidFill>
                  <a:srgbClr val="D49A00"/>
                </a:solidFill>
                <a:latin typeface="Calibri" pitchFamily="34" charset="0"/>
                <a:ea typeface="Calibri" pitchFamily="34" charset="-122"/>
                <a:cs typeface="Calibri" pitchFamily="34" charset="-120"/>
              </a:rPr>
              <a:t>2018</a:t>
            </a:r>
            <a:endParaRPr lang="en-US" sz="1500" dirty="0"/>
          </a:p>
        </p:txBody>
      </p:sp>
      <p:sp>
        <p:nvSpPr>
          <p:cNvPr id="41" name="Text 38"/>
          <p:cNvSpPr txBox="1"/>
          <p:nvPr/>
        </p:nvSpPr>
        <p:spPr>
          <a:xfrm>
            <a:off x="5486400" y="3474720"/>
            <a:ext cx="1280160" cy="822960"/>
          </a:xfrm>
          <a:prstGeom prst="rect">
            <a:avLst/>
          </a:prstGeom>
          <a:noFill/>
          <a:ln/>
        </p:spPr>
        <p:txBody>
          <a:bodyPr wrap="square" lIns="0" tIns="0" rIns="0" bIns="0" rtlCol="0" anchor="t"/>
          <a:lstStyle/>
          <a:p>
            <a:pPr marL="0" indent="0" algn="ctr">
              <a:buNone/>
            </a:pPr>
            <a:r>
              <a:rPr lang="en-US" sz="850" dirty="0">
                <a:solidFill>
                  <a:srgbClr val="231F20"/>
                </a:solidFill>
                <a:latin typeface="Calibri" pitchFamily="34" charset="0"/>
                <a:ea typeface="Calibri" pitchFamily="34" charset="-122"/>
                <a:cs typeface="Calibri" pitchFamily="34" charset="-120"/>
              </a:rPr>
              <a:t>Luojia-1-01 demonstrates night imaging at ≈ 130 m from a small satellite.</a:t>
            </a:r>
            <a:endParaRPr lang="en-US" sz="850" dirty="0"/>
          </a:p>
        </p:txBody>
      </p:sp>
      <p:sp>
        <p:nvSpPr>
          <p:cNvPr id="42" name="Shape 39"/>
          <p:cNvSpPr/>
          <p:nvPr/>
        </p:nvSpPr>
        <p:spPr>
          <a:xfrm>
            <a:off x="7050024" y="2706624"/>
            <a:ext cx="164592" cy="164592"/>
          </a:xfrm>
          <a:prstGeom prst="ellipse">
            <a:avLst/>
          </a:prstGeom>
          <a:solidFill>
            <a:srgbClr val="D49A00"/>
          </a:solidFill>
          <a:ln w="19050">
            <a:solidFill>
              <a:srgbClr val="FFFFFF"/>
            </a:solidFill>
            <a:prstDash val="solid"/>
          </a:ln>
        </p:spPr>
      </p:sp>
      <p:sp>
        <p:nvSpPr>
          <p:cNvPr id="43" name="Shape 40"/>
          <p:cNvSpPr/>
          <p:nvPr/>
        </p:nvSpPr>
        <p:spPr>
          <a:xfrm>
            <a:off x="7132320" y="2423160"/>
            <a:ext cx="0" cy="283464"/>
          </a:xfrm>
          <a:prstGeom prst="line">
            <a:avLst/>
          </a:prstGeom>
          <a:noFill/>
          <a:ln w="9525">
            <a:solidFill>
              <a:srgbClr val="D5DED9"/>
            </a:solidFill>
            <a:prstDash val="solid"/>
          </a:ln>
        </p:spPr>
      </p:sp>
      <p:sp>
        <p:nvSpPr>
          <p:cNvPr id="44" name="Text 41"/>
          <p:cNvSpPr txBox="1"/>
          <p:nvPr/>
        </p:nvSpPr>
        <p:spPr>
          <a:xfrm>
            <a:off x="6537960" y="2130552"/>
            <a:ext cx="1188720" cy="274320"/>
          </a:xfrm>
          <a:prstGeom prst="rect">
            <a:avLst/>
          </a:prstGeom>
          <a:noFill/>
          <a:ln/>
        </p:spPr>
        <p:txBody>
          <a:bodyPr wrap="square" lIns="0" tIns="0" rIns="0" bIns="0" rtlCol="0" anchor="ctr"/>
          <a:lstStyle/>
          <a:p>
            <a:pPr marL="0" indent="0" algn="ctr">
              <a:buNone/>
            </a:pPr>
            <a:r>
              <a:rPr lang="en-US" sz="1500" b="1" dirty="0">
                <a:solidFill>
                  <a:srgbClr val="D49A00"/>
                </a:solidFill>
                <a:latin typeface="Calibri" pitchFamily="34" charset="0"/>
                <a:ea typeface="Calibri" pitchFamily="34" charset="-122"/>
                <a:cs typeface="Calibri" pitchFamily="34" charset="-120"/>
              </a:rPr>
              <a:t>2021</a:t>
            </a:r>
            <a:endParaRPr lang="en-US" sz="1500" dirty="0"/>
          </a:p>
        </p:txBody>
      </p:sp>
      <p:sp>
        <p:nvSpPr>
          <p:cNvPr id="45" name="Text 42"/>
          <p:cNvSpPr txBox="1"/>
          <p:nvPr/>
        </p:nvSpPr>
        <p:spPr>
          <a:xfrm>
            <a:off x="6492240" y="1280160"/>
            <a:ext cx="1280160" cy="822960"/>
          </a:xfrm>
          <a:prstGeom prst="rect">
            <a:avLst/>
          </a:prstGeom>
          <a:noFill/>
          <a:ln/>
        </p:spPr>
        <p:txBody>
          <a:bodyPr wrap="square" lIns="0" tIns="0" rIns="0" bIns="0" rtlCol="0" anchor="b"/>
          <a:lstStyle/>
          <a:p>
            <a:pPr marL="0" indent="0" algn="ctr">
              <a:buNone/>
            </a:pPr>
            <a:r>
              <a:rPr lang="en-US" sz="850" dirty="0">
                <a:solidFill>
                  <a:srgbClr val="231F20"/>
                </a:solidFill>
                <a:latin typeface="Calibri" pitchFamily="34" charset="0"/>
                <a:ea typeface="Calibri" pitchFamily="34" charset="-122"/>
                <a:cs typeface="Calibri" pitchFamily="34" charset="-120"/>
              </a:rPr>
              <a:t>SDGSAT-1, Glimmer imager: colour night imagery at 10–40 m.</a:t>
            </a:r>
            <a:endParaRPr lang="en-US" sz="850" dirty="0"/>
          </a:p>
        </p:txBody>
      </p:sp>
      <p:sp>
        <p:nvSpPr>
          <p:cNvPr id="46" name="Shape 43"/>
          <p:cNvSpPr/>
          <p:nvPr/>
        </p:nvSpPr>
        <p:spPr>
          <a:xfrm>
            <a:off x="8055864" y="2706624"/>
            <a:ext cx="164592" cy="164592"/>
          </a:xfrm>
          <a:prstGeom prst="ellipse">
            <a:avLst/>
          </a:prstGeom>
          <a:solidFill>
            <a:srgbClr val="0E7C86"/>
          </a:solidFill>
          <a:ln w="19050">
            <a:solidFill>
              <a:srgbClr val="FFFFFF"/>
            </a:solidFill>
            <a:prstDash val="solid"/>
          </a:ln>
        </p:spPr>
      </p:sp>
      <p:sp>
        <p:nvSpPr>
          <p:cNvPr id="47" name="Shape 44"/>
          <p:cNvSpPr/>
          <p:nvPr/>
        </p:nvSpPr>
        <p:spPr>
          <a:xfrm>
            <a:off x="8138160" y="2871216"/>
            <a:ext cx="0" cy="283464"/>
          </a:xfrm>
          <a:prstGeom prst="line">
            <a:avLst/>
          </a:prstGeom>
          <a:noFill/>
          <a:ln w="9525">
            <a:solidFill>
              <a:srgbClr val="D5DED9"/>
            </a:solidFill>
            <a:prstDash val="solid"/>
          </a:ln>
        </p:spPr>
      </p:sp>
      <p:sp>
        <p:nvSpPr>
          <p:cNvPr id="48" name="Text 45"/>
          <p:cNvSpPr txBox="1"/>
          <p:nvPr/>
        </p:nvSpPr>
        <p:spPr>
          <a:xfrm>
            <a:off x="7543800" y="3172968"/>
            <a:ext cx="1188720" cy="274320"/>
          </a:xfrm>
          <a:prstGeom prst="rect">
            <a:avLst/>
          </a:prstGeom>
          <a:noFill/>
          <a:ln/>
        </p:spPr>
        <p:txBody>
          <a:bodyPr wrap="square" lIns="0" tIns="0" rIns="0" bIns="0" rtlCol="0" anchor="ctr"/>
          <a:lstStyle/>
          <a:p>
            <a:pPr marL="0" indent="0" algn="ctr">
              <a:buNone/>
            </a:pPr>
            <a:r>
              <a:rPr lang="en-US" sz="1500" b="1" dirty="0">
                <a:solidFill>
                  <a:srgbClr val="0E7C86"/>
                </a:solidFill>
                <a:latin typeface="Calibri" pitchFamily="34" charset="0"/>
                <a:ea typeface="Calibri" pitchFamily="34" charset="-122"/>
                <a:cs typeface="Calibri" pitchFamily="34" charset="-120"/>
              </a:rPr>
              <a:t>2022</a:t>
            </a:r>
            <a:endParaRPr lang="en-US" sz="1500" dirty="0"/>
          </a:p>
        </p:txBody>
      </p:sp>
      <p:sp>
        <p:nvSpPr>
          <p:cNvPr id="49" name="Text 46"/>
          <p:cNvSpPr txBox="1"/>
          <p:nvPr/>
        </p:nvSpPr>
        <p:spPr>
          <a:xfrm>
            <a:off x="7498080" y="3474720"/>
            <a:ext cx="1280160" cy="822960"/>
          </a:xfrm>
          <a:prstGeom prst="rect">
            <a:avLst/>
          </a:prstGeom>
          <a:noFill/>
          <a:ln/>
        </p:spPr>
        <p:txBody>
          <a:bodyPr wrap="square" lIns="0" tIns="0" rIns="0" bIns="0" rtlCol="0" anchor="t"/>
          <a:lstStyle/>
          <a:p>
            <a:pPr marL="0" indent="0" algn="ctr">
              <a:buNone/>
            </a:pPr>
            <a:r>
              <a:rPr lang="en-US" sz="850" dirty="0">
                <a:solidFill>
                  <a:srgbClr val="231F20"/>
                </a:solidFill>
                <a:latin typeface="Calibri" pitchFamily="34" charset="0"/>
                <a:ea typeface="Calibri" pitchFamily="34" charset="-122"/>
                <a:cs typeface="Calibri" pitchFamily="34" charset="-120"/>
              </a:rPr>
              <a:t>Launch of NOAA-21: a 3rd VIIRS extends the series into the 2030s.</a:t>
            </a:r>
            <a:endParaRPr lang="en-US" sz="850" dirty="0"/>
          </a:p>
        </p:txBody>
      </p:sp>
      <p:sp>
        <p:nvSpPr>
          <p:cNvPr id="50" name="Shape 47"/>
          <p:cNvSpPr/>
          <p:nvPr/>
        </p:nvSpPr>
        <p:spPr>
          <a:xfrm>
            <a:off x="457200" y="4160520"/>
            <a:ext cx="8229600" cy="411480"/>
          </a:xfrm>
          <a:prstGeom prst="roundRect">
            <a:avLst>
              <a:gd name="adj" fmla="val 17778"/>
            </a:avLst>
          </a:prstGeom>
          <a:solidFill>
            <a:srgbClr val="E8F5EF"/>
          </a:solidFill>
          <a:ln w="15875">
            <a:solidFill>
              <a:srgbClr val="00A86A"/>
            </a:solidFill>
            <a:prstDash val="solid"/>
          </a:ln>
        </p:spPr>
      </p:sp>
      <p:sp>
        <p:nvSpPr>
          <p:cNvPr id="51" name="Text 48"/>
          <p:cNvSpPr txBox="1"/>
          <p:nvPr/>
        </p:nvSpPr>
        <p:spPr>
          <a:xfrm>
            <a:off x="594360" y="4178808"/>
            <a:ext cx="7955280" cy="374904"/>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The irony:  </a:t>
            </a:r>
            <a:r>
              <a:rPr lang="en-US" sz="1050" dirty="0">
                <a:solidFill>
                  <a:srgbClr val="231F20"/>
                </a:solidFill>
                <a:latin typeface="Calibri" pitchFamily="34" charset="0"/>
                <a:ea typeface="Calibri" pitchFamily="34" charset="-122"/>
                <a:cs typeface="Calibri" pitchFamily="34" charset="-120"/>
              </a:rPr>
              <a:t>the first instrument was meant to see clouds by moonlight. City lights were noise — it took twenty years to turn them into the signal.</a:t>
            </a:r>
            <a:endParaRPr lang="en-US" sz="105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THE INSTRUMENTS · SENSOR COMPARISON</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Two sensors, two different sciences</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00704A"/>
          </a:solidFill>
          <a:ln w="12700">
            <a:solidFill>
              <a:srgbClr val="00704A"/>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11</a:t>
            </a:r>
            <a:endParaRPr lang="en-US" sz="850" dirty="0"/>
          </a:p>
        </p:txBody>
      </p:sp>
      <p:sp>
        <p:nvSpPr>
          <p:cNvPr id="17" name="Shape 14"/>
          <p:cNvSpPr/>
          <p:nvPr/>
        </p:nvSpPr>
        <p:spPr>
          <a:xfrm>
            <a:off x="2148840" y="1325880"/>
            <a:ext cx="3154680" cy="457200"/>
          </a:xfrm>
          <a:prstGeom prst="roundRect">
            <a:avLst>
              <a:gd name="adj" fmla="val 16000"/>
            </a:avLst>
          </a:prstGeom>
          <a:solidFill>
            <a:srgbClr val="5E6964"/>
          </a:solidFill>
          <a:ln w="9525">
            <a:solidFill>
              <a:srgbClr val="5E6964"/>
            </a:solidFill>
            <a:prstDash val="solid"/>
          </a:ln>
        </p:spPr>
      </p:sp>
      <p:sp>
        <p:nvSpPr>
          <p:cNvPr id="18" name="Shape 15"/>
          <p:cNvSpPr/>
          <p:nvPr/>
        </p:nvSpPr>
        <p:spPr>
          <a:xfrm>
            <a:off x="5440680" y="1325880"/>
            <a:ext cx="3246120" cy="457200"/>
          </a:xfrm>
          <a:prstGeom prst="roundRect">
            <a:avLst>
              <a:gd name="adj" fmla="val 16000"/>
            </a:avLst>
          </a:prstGeom>
          <a:solidFill>
            <a:srgbClr val="00704A"/>
          </a:solidFill>
          <a:ln w="9525">
            <a:solidFill>
              <a:srgbClr val="00704A"/>
            </a:solidFill>
            <a:prstDash val="solid"/>
          </a:ln>
        </p:spPr>
      </p:sp>
      <p:sp>
        <p:nvSpPr>
          <p:cNvPr id="19" name="Text 16"/>
          <p:cNvSpPr txBox="1"/>
          <p:nvPr/>
        </p:nvSpPr>
        <p:spPr>
          <a:xfrm>
            <a:off x="2148840" y="1325880"/>
            <a:ext cx="315468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DMSP-OLS  ·  legacy</a:t>
            </a:r>
            <a:endParaRPr lang="en-US" sz="1300" dirty="0"/>
          </a:p>
        </p:txBody>
      </p:sp>
      <p:sp>
        <p:nvSpPr>
          <p:cNvPr id="20" name="Text 17"/>
          <p:cNvSpPr txBox="1"/>
          <p:nvPr/>
        </p:nvSpPr>
        <p:spPr>
          <a:xfrm>
            <a:off x="5440680" y="1325880"/>
            <a:ext cx="324612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VIIRS Day/Night Band  ·  modern</a:t>
            </a:r>
            <a:endParaRPr lang="en-US" sz="1300" dirty="0"/>
          </a:p>
        </p:txBody>
      </p:sp>
      <p:sp>
        <p:nvSpPr>
          <p:cNvPr id="21" name="Text 18"/>
          <p:cNvSpPr txBox="1"/>
          <p:nvPr/>
        </p:nvSpPr>
        <p:spPr>
          <a:xfrm>
            <a:off x="457200" y="1847088"/>
            <a:ext cx="1600200" cy="31089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Period</a:t>
            </a:r>
            <a:endParaRPr lang="en-US" sz="1100" dirty="0"/>
          </a:p>
        </p:txBody>
      </p:sp>
      <p:sp>
        <p:nvSpPr>
          <p:cNvPr id="22" name="Shape 19"/>
          <p:cNvSpPr/>
          <p:nvPr/>
        </p:nvSpPr>
        <p:spPr>
          <a:xfrm>
            <a:off x="2148840" y="1847088"/>
            <a:ext cx="3154680" cy="310896"/>
          </a:xfrm>
          <a:prstGeom prst="roundRect">
            <a:avLst>
              <a:gd name="adj" fmla="val 14706"/>
            </a:avLst>
          </a:prstGeom>
          <a:solidFill>
            <a:srgbClr val="F4F7F5"/>
          </a:solidFill>
          <a:ln w="9525">
            <a:solidFill>
              <a:srgbClr val="D5DED9"/>
            </a:solidFill>
            <a:prstDash val="solid"/>
          </a:ln>
        </p:spPr>
      </p:sp>
      <p:sp>
        <p:nvSpPr>
          <p:cNvPr id="23" name="Shape 20"/>
          <p:cNvSpPr/>
          <p:nvPr/>
        </p:nvSpPr>
        <p:spPr>
          <a:xfrm>
            <a:off x="5440680" y="1847088"/>
            <a:ext cx="3246120" cy="310896"/>
          </a:xfrm>
          <a:prstGeom prst="roundRect">
            <a:avLst>
              <a:gd name="adj" fmla="val 14706"/>
            </a:avLst>
          </a:prstGeom>
          <a:solidFill>
            <a:srgbClr val="E8F5EF"/>
          </a:solidFill>
          <a:ln w="15875">
            <a:solidFill>
              <a:srgbClr val="00A86A"/>
            </a:solidFill>
            <a:prstDash val="solid"/>
          </a:ln>
        </p:spPr>
      </p:sp>
      <p:sp>
        <p:nvSpPr>
          <p:cNvPr id="24" name="Text 21"/>
          <p:cNvSpPr txBox="1"/>
          <p:nvPr/>
        </p:nvSpPr>
        <p:spPr>
          <a:xfrm>
            <a:off x="2240280" y="1847088"/>
            <a:ext cx="301752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1992 – 2013 (archive)</a:t>
            </a:r>
            <a:endParaRPr lang="en-US" sz="900" dirty="0"/>
          </a:p>
        </p:txBody>
      </p:sp>
      <p:sp>
        <p:nvSpPr>
          <p:cNvPr id="25" name="Text 22"/>
          <p:cNvSpPr txBox="1"/>
          <p:nvPr/>
        </p:nvSpPr>
        <p:spPr>
          <a:xfrm>
            <a:off x="5532120" y="1847088"/>
            <a:ext cx="310896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2012 – today (reference)</a:t>
            </a:r>
            <a:endParaRPr lang="en-US" sz="900" dirty="0"/>
          </a:p>
        </p:txBody>
      </p:sp>
      <p:sp>
        <p:nvSpPr>
          <p:cNvPr id="26" name="Text 23"/>
          <p:cNvSpPr txBox="1"/>
          <p:nvPr/>
        </p:nvSpPr>
        <p:spPr>
          <a:xfrm>
            <a:off x="457200" y="2212848"/>
            <a:ext cx="1600200" cy="31089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Radiometry</a:t>
            </a:r>
            <a:endParaRPr lang="en-US" sz="1100" dirty="0"/>
          </a:p>
        </p:txBody>
      </p:sp>
      <p:sp>
        <p:nvSpPr>
          <p:cNvPr id="27" name="Shape 24"/>
          <p:cNvSpPr/>
          <p:nvPr/>
        </p:nvSpPr>
        <p:spPr>
          <a:xfrm>
            <a:off x="2148840" y="2212848"/>
            <a:ext cx="3154680" cy="310896"/>
          </a:xfrm>
          <a:prstGeom prst="roundRect">
            <a:avLst>
              <a:gd name="adj" fmla="val 14706"/>
            </a:avLst>
          </a:prstGeom>
          <a:solidFill>
            <a:srgbClr val="F4F7F5"/>
          </a:solidFill>
          <a:ln w="9525">
            <a:solidFill>
              <a:srgbClr val="D5DED9"/>
            </a:solidFill>
            <a:prstDash val="solid"/>
          </a:ln>
        </p:spPr>
      </p:sp>
      <p:sp>
        <p:nvSpPr>
          <p:cNvPr id="28" name="Shape 25"/>
          <p:cNvSpPr/>
          <p:nvPr/>
        </p:nvSpPr>
        <p:spPr>
          <a:xfrm>
            <a:off x="5440680" y="2212848"/>
            <a:ext cx="3246120" cy="310896"/>
          </a:xfrm>
          <a:prstGeom prst="roundRect">
            <a:avLst>
              <a:gd name="adj" fmla="val 14706"/>
            </a:avLst>
          </a:prstGeom>
          <a:solidFill>
            <a:srgbClr val="E8F5EF"/>
          </a:solidFill>
          <a:ln w="15875">
            <a:solidFill>
              <a:srgbClr val="00A86A"/>
            </a:solidFill>
            <a:prstDash val="solid"/>
          </a:ln>
        </p:spPr>
      </p:sp>
      <p:sp>
        <p:nvSpPr>
          <p:cNvPr id="29" name="Text 26"/>
          <p:cNvSpPr txBox="1"/>
          <p:nvPr/>
        </p:nvSpPr>
        <p:spPr>
          <a:xfrm>
            <a:off x="2240280" y="2212848"/>
            <a:ext cx="301752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6-bit digital numbers (0–63), no on-board calibration</a:t>
            </a:r>
            <a:endParaRPr lang="en-US" sz="900" dirty="0"/>
          </a:p>
        </p:txBody>
      </p:sp>
      <p:sp>
        <p:nvSpPr>
          <p:cNvPr id="30" name="Text 27"/>
          <p:cNvSpPr txBox="1"/>
          <p:nvPr/>
        </p:nvSpPr>
        <p:spPr>
          <a:xfrm>
            <a:off x="5532120" y="2212848"/>
            <a:ext cx="310896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14-bit, calibrated radiance in nW·cm⁻²·sr⁻¹</a:t>
            </a:r>
            <a:endParaRPr lang="en-US" sz="900" dirty="0"/>
          </a:p>
        </p:txBody>
      </p:sp>
      <p:sp>
        <p:nvSpPr>
          <p:cNvPr id="31" name="Text 28"/>
          <p:cNvSpPr txBox="1"/>
          <p:nvPr/>
        </p:nvSpPr>
        <p:spPr>
          <a:xfrm>
            <a:off x="457200" y="2578608"/>
            <a:ext cx="1600200" cy="31089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Resolution</a:t>
            </a:r>
            <a:endParaRPr lang="en-US" sz="1100" dirty="0"/>
          </a:p>
        </p:txBody>
      </p:sp>
      <p:sp>
        <p:nvSpPr>
          <p:cNvPr id="32" name="Shape 29"/>
          <p:cNvSpPr/>
          <p:nvPr/>
        </p:nvSpPr>
        <p:spPr>
          <a:xfrm>
            <a:off x="2148840" y="2578608"/>
            <a:ext cx="3154680" cy="310896"/>
          </a:xfrm>
          <a:prstGeom prst="roundRect">
            <a:avLst>
              <a:gd name="adj" fmla="val 14706"/>
            </a:avLst>
          </a:prstGeom>
          <a:solidFill>
            <a:srgbClr val="F4F7F5"/>
          </a:solidFill>
          <a:ln w="9525">
            <a:solidFill>
              <a:srgbClr val="D5DED9"/>
            </a:solidFill>
            <a:prstDash val="solid"/>
          </a:ln>
        </p:spPr>
      </p:sp>
      <p:sp>
        <p:nvSpPr>
          <p:cNvPr id="33" name="Shape 30"/>
          <p:cNvSpPr/>
          <p:nvPr/>
        </p:nvSpPr>
        <p:spPr>
          <a:xfrm>
            <a:off x="5440680" y="2578608"/>
            <a:ext cx="3246120" cy="310896"/>
          </a:xfrm>
          <a:prstGeom prst="roundRect">
            <a:avLst>
              <a:gd name="adj" fmla="val 14706"/>
            </a:avLst>
          </a:prstGeom>
          <a:solidFill>
            <a:srgbClr val="E8F5EF"/>
          </a:solidFill>
          <a:ln w="15875">
            <a:solidFill>
              <a:srgbClr val="00A86A"/>
            </a:solidFill>
            <a:prstDash val="solid"/>
          </a:ln>
        </p:spPr>
      </p:sp>
      <p:sp>
        <p:nvSpPr>
          <p:cNvPr id="34" name="Text 31"/>
          <p:cNvSpPr txBox="1"/>
          <p:nvPr/>
        </p:nvSpPr>
        <p:spPr>
          <a:xfrm>
            <a:off x="2240280" y="2578608"/>
            <a:ext cx="301752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 2.7 km, 30 arc-second grid (≈ 1 km)</a:t>
            </a:r>
            <a:endParaRPr lang="en-US" sz="900" dirty="0"/>
          </a:p>
        </p:txBody>
      </p:sp>
      <p:sp>
        <p:nvSpPr>
          <p:cNvPr id="35" name="Text 32"/>
          <p:cNvSpPr txBox="1"/>
          <p:nvPr/>
        </p:nvSpPr>
        <p:spPr>
          <a:xfrm>
            <a:off x="5532120" y="2578608"/>
            <a:ext cx="310896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500 m, nearly constant across the swath</a:t>
            </a:r>
            <a:endParaRPr lang="en-US" sz="900" dirty="0"/>
          </a:p>
        </p:txBody>
      </p:sp>
      <p:sp>
        <p:nvSpPr>
          <p:cNvPr id="36" name="Text 33"/>
          <p:cNvSpPr txBox="1"/>
          <p:nvPr/>
        </p:nvSpPr>
        <p:spPr>
          <a:xfrm>
            <a:off x="457200" y="2944368"/>
            <a:ext cx="1600200" cy="31089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Saturation</a:t>
            </a:r>
            <a:endParaRPr lang="en-US" sz="1100" dirty="0"/>
          </a:p>
        </p:txBody>
      </p:sp>
      <p:sp>
        <p:nvSpPr>
          <p:cNvPr id="37" name="Shape 34"/>
          <p:cNvSpPr/>
          <p:nvPr/>
        </p:nvSpPr>
        <p:spPr>
          <a:xfrm>
            <a:off x="2148840" y="2944368"/>
            <a:ext cx="3154680" cy="310896"/>
          </a:xfrm>
          <a:prstGeom prst="roundRect">
            <a:avLst>
              <a:gd name="adj" fmla="val 14706"/>
            </a:avLst>
          </a:prstGeom>
          <a:solidFill>
            <a:srgbClr val="F4F7F5"/>
          </a:solidFill>
          <a:ln w="9525">
            <a:solidFill>
              <a:srgbClr val="D5DED9"/>
            </a:solidFill>
            <a:prstDash val="solid"/>
          </a:ln>
        </p:spPr>
      </p:sp>
      <p:sp>
        <p:nvSpPr>
          <p:cNvPr id="38" name="Shape 35"/>
          <p:cNvSpPr/>
          <p:nvPr/>
        </p:nvSpPr>
        <p:spPr>
          <a:xfrm>
            <a:off x="5440680" y="2944368"/>
            <a:ext cx="3246120" cy="310896"/>
          </a:xfrm>
          <a:prstGeom prst="roundRect">
            <a:avLst>
              <a:gd name="adj" fmla="val 14706"/>
            </a:avLst>
          </a:prstGeom>
          <a:solidFill>
            <a:srgbClr val="E8F5EF"/>
          </a:solidFill>
          <a:ln w="15875">
            <a:solidFill>
              <a:srgbClr val="00A86A"/>
            </a:solidFill>
            <a:prstDash val="solid"/>
          </a:ln>
        </p:spPr>
      </p:sp>
      <p:sp>
        <p:nvSpPr>
          <p:cNvPr id="39" name="Text 36"/>
          <p:cNvSpPr txBox="1"/>
          <p:nvPr/>
        </p:nvSpPr>
        <p:spPr>
          <a:xfrm>
            <a:off x="2240280" y="2944368"/>
            <a:ext cx="301752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City centres cap at 63</a:t>
            </a:r>
            <a:endParaRPr lang="en-US" sz="900" dirty="0"/>
          </a:p>
        </p:txBody>
      </p:sp>
      <p:sp>
        <p:nvSpPr>
          <p:cNvPr id="40" name="Text 37"/>
          <p:cNvSpPr txBox="1"/>
          <p:nvPr/>
        </p:nvSpPr>
        <p:spPr>
          <a:xfrm>
            <a:off x="5532120" y="2944368"/>
            <a:ext cx="310896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High dynamic range, three gain stages</a:t>
            </a:r>
            <a:endParaRPr lang="en-US" sz="900" dirty="0"/>
          </a:p>
        </p:txBody>
      </p:sp>
      <p:sp>
        <p:nvSpPr>
          <p:cNvPr id="41" name="Text 38"/>
          <p:cNvSpPr txBox="1"/>
          <p:nvPr/>
        </p:nvSpPr>
        <p:spPr>
          <a:xfrm>
            <a:off x="457200" y="3310128"/>
            <a:ext cx="1600200" cy="31089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Sensitivity</a:t>
            </a:r>
            <a:endParaRPr lang="en-US" sz="1100" dirty="0"/>
          </a:p>
        </p:txBody>
      </p:sp>
      <p:sp>
        <p:nvSpPr>
          <p:cNvPr id="42" name="Shape 39"/>
          <p:cNvSpPr/>
          <p:nvPr/>
        </p:nvSpPr>
        <p:spPr>
          <a:xfrm>
            <a:off x="2148840" y="3310128"/>
            <a:ext cx="3154680" cy="310896"/>
          </a:xfrm>
          <a:prstGeom prst="roundRect">
            <a:avLst>
              <a:gd name="adj" fmla="val 14706"/>
            </a:avLst>
          </a:prstGeom>
          <a:solidFill>
            <a:srgbClr val="F4F7F5"/>
          </a:solidFill>
          <a:ln w="9525">
            <a:solidFill>
              <a:srgbClr val="D5DED9"/>
            </a:solidFill>
            <a:prstDash val="solid"/>
          </a:ln>
        </p:spPr>
      </p:sp>
      <p:sp>
        <p:nvSpPr>
          <p:cNvPr id="43" name="Shape 40"/>
          <p:cNvSpPr/>
          <p:nvPr/>
        </p:nvSpPr>
        <p:spPr>
          <a:xfrm>
            <a:off x="5440680" y="3310128"/>
            <a:ext cx="3246120" cy="310896"/>
          </a:xfrm>
          <a:prstGeom prst="roundRect">
            <a:avLst>
              <a:gd name="adj" fmla="val 14706"/>
            </a:avLst>
          </a:prstGeom>
          <a:solidFill>
            <a:srgbClr val="E8F5EF"/>
          </a:solidFill>
          <a:ln w="15875">
            <a:solidFill>
              <a:srgbClr val="00A86A"/>
            </a:solidFill>
            <a:prstDash val="solid"/>
          </a:ln>
        </p:spPr>
      </p:sp>
      <p:sp>
        <p:nvSpPr>
          <p:cNvPr id="44" name="Text 41"/>
          <p:cNvSpPr txBox="1"/>
          <p:nvPr/>
        </p:nvSpPr>
        <p:spPr>
          <a:xfrm>
            <a:off x="2240280" y="3310128"/>
            <a:ext cx="301752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Misses faint rural lighting</a:t>
            </a:r>
            <a:endParaRPr lang="en-US" sz="900" dirty="0"/>
          </a:p>
        </p:txBody>
      </p:sp>
      <p:sp>
        <p:nvSpPr>
          <p:cNvPr id="45" name="Text 42"/>
          <p:cNvSpPr txBox="1"/>
          <p:nvPr/>
        </p:nvSpPr>
        <p:spPr>
          <a:xfrm>
            <a:off x="5532120" y="3310128"/>
            <a:ext cx="310896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Detects much fainter light</a:t>
            </a:r>
            <a:endParaRPr lang="en-US" sz="900" dirty="0"/>
          </a:p>
        </p:txBody>
      </p:sp>
      <p:sp>
        <p:nvSpPr>
          <p:cNvPr id="46" name="Text 43"/>
          <p:cNvSpPr txBox="1"/>
          <p:nvPr/>
        </p:nvSpPr>
        <p:spPr>
          <a:xfrm>
            <a:off x="457200" y="3675888"/>
            <a:ext cx="1600200" cy="31089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Products</a:t>
            </a:r>
            <a:endParaRPr lang="en-US" sz="1100" dirty="0"/>
          </a:p>
        </p:txBody>
      </p:sp>
      <p:sp>
        <p:nvSpPr>
          <p:cNvPr id="47" name="Shape 44"/>
          <p:cNvSpPr/>
          <p:nvPr/>
        </p:nvSpPr>
        <p:spPr>
          <a:xfrm>
            <a:off x="2148840" y="3675888"/>
            <a:ext cx="3154680" cy="310896"/>
          </a:xfrm>
          <a:prstGeom prst="roundRect">
            <a:avLst>
              <a:gd name="adj" fmla="val 14706"/>
            </a:avLst>
          </a:prstGeom>
          <a:solidFill>
            <a:srgbClr val="F4F7F5"/>
          </a:solidFill>
          <a:ln w="9525">
            <a:solidFill>
              <a:srgbClr val="D5DED9"/>
            </a:solidFill>
            <a:prstDash val="solid"/>
          </a:ln>
        </p:spPr>
      </p:sp>
      <p:sp>
        <p:nvSpPr>
          <p:cNvPr id="48" name="Shape 45"/>
          <p:cNvSpPr/>
          <p:nvPr/>
        </p:nvSpPr>
        <p:spPr>
          <a:xfrm>
            <a:off x="5440680" y="3675888"/>
            <a:ext cx="3246120" cy="310896"/>
          </a:xfrm>
          <a:prstGeom prst="roundRect">
            <a:avLst>
              <a:gd name="adj" fmla="val 14706"/>
            </a:avLst>
          </a:prstGeom>
          <a:solidFill>
            <a:srgbClr val="E8F5EF"/>
          </a:solidFill>
          <a:ln w="15875">
            <a:solidFill>
              <a:srgbClr val="00A86A"/>
            </a:solidFill>
            <a:prstDash val="solid"/>
          </a:ln>
        </p:spPr>
      </p:sp>
      <p:sp>
        <p:nvSpPr>
          <p:cNvPr id="49" name="Text 46"/>
          <p:cNvSpPr txBox="1"/>
          <p:nvPr/>
        </p:nvSpPr>
        <p:spPr>
          <a:xfrm>
            <a:off x="2240280" y="3675888"/>
            <a:ext cx="301752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Annual composites only</a:t>
            </a:r>
            <a:endParaRPr lang="en-US" sz="900" dirty="0"/>
          </a:p>
        </p:txBody>
      </p:sp>
      <p:sp>
        <p:nvSpPr>
          <p:cNvPr id="50" name="Text 47"/>
          <p:cNvSpPr txBox="1"/>
          <p:nvPr/>
        </p:nvSpPr>
        <p:spPr>
          <a:xfrm>
            <a:off x="5532120" y="3675888"/>
            <a:ext cx="310896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Daily, monthly, annual — open licence</a:t>
            </a:r>
            <a:endParaRPr lang="en-US" sz="900" dirty="0"/>
          </a:p>
        </p:txBody>
      </p:sp>
      <p:sp>
        <p:nvSpPr>
          <p:cNvPr id="51" name="Shape 48"/>
          <p:cNvSpPr/>
          <p:nvPr/>
        </p:nvSpPr>
        <p:spPr>
          <a:xfrm>
            <a:off x="457200" y="4114800"/>
            <a:ext cx="8229600" cy="457200"/>
          </a:xfrm>
          <a:prstGeom prst="roundRect">
            <a:avLst>
              <a:gd name="adj" fmla="val 16000"/>
            </a:avLst>
          </a:prstGeom>
          <a:solidFill>
            <a:srgbClr val="F4F7F5"/>
          </a:solidFill>
          <a:ln w="9525">
            <a:solidFill>
              <a:srgbClr val="D5DED9"/>
            </a:solidFill>
            <a:prstDash val="solid"/>
          </a:ln>
        </p:spPr>
      </p:sp>
      <p:sp>
        <p:nvSpPr>
          <p:cNvPr id="52" name="Shape 49"/>
          <p:cNvSpPr/>
          <p:nvPr/>
        </p:nvSpPr>
        <p:spPr>
          <a:xfrm>
            <a:off x="548640" y="4169664"/>
            <a:ext cx="347472" cy="347472"/>
          </a:xfrm>
          <a:prstGeom prst="ellipse">
            <a:avLst/>
          </a:prstGeom>
          <a:solidFill>
            <a:srgbClr val="D49A00">
              <a:alpha val="22000"/>
            </a:srgbClr>
          </a:solidFill>
          <a:ln w="12700">
            <a:solidFill>
              <a:srgbClr val="D49A00">
                <a:alpha val="0"/>
              </a:srgbClr>
            </a:solidFill>
            <a:prstDash val="solid"/>
          </a:ln>
        </p:spPr>
      </p:sp>
      <p:pic>
        <p:nvPicPr>
          <p:cNvPr id="53" name="Image 0" descr="preencoded.png"/>
          <p:cNvPicPr>
            <a:picLocks noChangeAspect="1"/>
          </p:cNvPicPr>
          <p:nvPr/>
        </p:nvPicPr>
        <p:blipFill>
          <a:blip r:embed="rId3"/>
          <a:stretch>
            <a:fillRect/>
          </a:stretch>
        </p:blipFill>
        <p:spPr>
          <a:xfrm>
            <a:off x="638983" y="4260007"/>
            <a:ext cx="166787" cy="166787"/>
          </a:xfrm>
          <a:prstGeom prst="rect">
            <a:avLst/>
          </a:prstGeom>
        </p:spPr>
      </p:pic>
      <p:sp>
        <p:nvSpPr>
          <p:cNvPr id="54" name="Text 50"/>
          <p:cNvSpPr txBox="1"/>
          <p:nvPr/>
        </p:nvSpPr>
        <p:spPr>
          <a:xfrm>
            <a:off x="1005840" y="4133088"/>
            <a:ext cx="7589520" cy="420624"/>
          </a:xfrm>
          <a:prstGeom prst="rect">
            <a:avLst/>
          </a:prstGeom>
          <a:noFill/>
          <a:ln/>
        </p:spPr>
        <p:txBody>
          <a:bodyPr wrap="square" lIns="0" tIns="0" rIns="0" bIns="0" rtlCol="0" anchor="ctr"/>
          <a:lstStyle/>
          <a:p>
            <a:pPr marL="0" indent="0">
              <a:buNone/>
            </a:pPr>
            <a:r>
              <a:rPr lang="en-US" sz="950" b="1" dirty="0">
                <a:solidFill>
                  <a:srgbClr val="D49A00"/>
                </a:solidFill>
                <a:latin typeface="Calibri" pitchFamily="34" charset="0"/>
                <a:ea typeface="Calibri" pitchFamily="34" charset="-122"/>
                <a:cs typeface="Calibri" pitchFamily="34" charset="-120"/>
              </a:rPr>
              <a:t>New generation:  </a:t>
            </a:r>
            <a:r>
              <a:rPr lang="en-US" sz="950" dirty="0">
                <a:solidFill>
                  <a:srgbClr val="231F20"/>
                </a:solidFill>
                <a:latin typeface="Calibri" pitchFamily="34" charset="0"/>
                <a:ea typeface="Calibri" pitchFamily="34" charset="-122"/>
                <a:cs typeface="Calibri" pitchFamily="34" charset="-120"/>
              </a:rPr>
              <a:t>Luojia-1-01 (≈ 130 m), SDGSAT-1 Glimmer (10 m panchromatic, 40 m colour) and commercial constellations distinguish streets and lamp types by colour.</a:t>
            </a:r>
            <a:endParaRPr lang="en-US" sz="95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THE INSTRUMENTS · MEASUREMENT RANGE</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The brightest, the least informative</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00704A"/>
          </a:solidFill>
          <a:ln w="12700">
            <a:solidFill>
              <a:srgbClr val="00704A"/>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12</a:t>
            </a:r>
            <a:endParaRPr lang="en-US" sz="850" dirty="0"/>
          </a:p>
        </p:txBody>
      </p:sp>
      <p:sp>
        <p:nvSpPr>
          <p:cNvPr id="17" name="Shape 14"/>
          <p:cNvSpPr/>
          <p:nvPr/>
        </p:nvSpPr>
        <p:spPr>
          <a:xfrm>
            <a:off x="457200" y="1371600"/>
            <a:ext cx="384048" cy="384048"/>
          </a:xfrm>
          <a:prstGeom prst="ellipse">
            <a:avLst/>
          </a:prstGeom>
          <a:solidFill>
            <a:srgbClr val="00704A">
              <a:alpha val="22000"/>
            </a:srgbClr>
          </a:solidFill>
          <a:ln w="12700">
            <a:solidFill>
              <a:srgbClr val="00704A">
                <a:alpha val="0"/>
              </a:srgbClr>
            </a:solidFill>
            <a:prstDash val="solid"/>
          </a:ln>
        </p:spPr>
      </p:sp>
      <p:pic>
        <p:nvPicPr>
          <p:cNvPr id="18" name="Image 0" descr="preencoded.png"/>
          <p:cNvPicPr>
            <a:picLocks noChangeAspect="1"/>
          </p:cNvPicPr>
          <p:nvPr/>
        </p:nvPicPr>
        <p:blipFill>
          <a:blip r:embed="rId3"/>
          <a:stretch>
            <a:fillRect/>
          </a:stretch>
        </p:blipFill>
        <p:spPr>
          <a:xfrm>
            <a:off x="557052" y="1471452"/>
            <a:ext cx="184343" cy="184343"/>
          </a:xfrm>
          <a:prstGeom prst="rect">
            <a:avLst/>
          </a:prstGeom>
        </p:spPr>
      </p:pic>
      <p:sp>
        <p:nvSpPr>
          <p:cNvPr id="19" name="Text 15"/>
          <p:cNvSpPr txBox="1"/>
          <p:nvPr/>
        </p:nvSpPr>
        <p:spPr>
          <a:xfrm>
            <a:off x="960120" y="1316736"/>
            <a:ext cx="3291840" cy="5486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Beyond a certain brightness, DMSP returns 63: suburb and city centre become identical.</a:t>
            </a:r>
            <a:endParaRPr lang="en-US" sz="1000" dirty="0"/>
          </a:p>
        </p:txBody>
      </p:sp>
      <p:sp>
        <p:nvSpPr>
          <p:cNvPr id="20" name="Shape 16"/>
          <p:cNvSpPr/>
          <p:nvPr/>
        </p:nvSpPr>
        <p:spPr>
          <a:xfrm>
            <a:off x="457200" y="2029968"/>
            <a:ext cx="384048" cy="384048"/>
          </a:xfrm>
          <a:prstGeom prst="ellipse">
            <a:avLst/>
          </a:prstGeom>
          <a:solidFill>
            <a:srgbClr val="00704A">
              <a:alpha val="22000"/>
            </a:srgbClr>
          </a:solidFill>
          <a:ln w="12700">
            <a:solidFill>
              <a:srgbClr val="00704A">
                <a:alpha val="0"/>
              </a:srgbClr>
            </a:solidFill>
            <a:prstDash val="solid"/>
          </a:ln>
        </p:spPr>
      </p:sp>
      <p:pic>
        <p:nvPicPr>
          <p:cNvPr id="21" name="Image 1" descr="preencoded.png"/>
          <p:cNvPicPr>
            <a:picLocks noChangeAspect="1"/>
          </p:cNvPicPr>
          <p:nvPr/>
        </p:nvPicPr>
        <p:blipFill>
          <a:blip r:embed="rId4"/>
          <a:stretch>
            <a:fillRect/>
          </a:stretch>
        </p:blipFill>
        <p:spPr>
          <a:xfrm>
            <a:off x="557052" y="2129820"/>
            <a:ext cx="184343" cy="184343"/>
          </a:xfrm>
          <a:prstGeom prst="rect">
            <a:avLst/>
          </a:prstGeom>
        </p:spPr>
      </p:pic>
      <p:sp>
        <p:nvSpPr>
          <p:cNvPr id="22" name="Text 17"/>
          <p:cNvSpPr txBox="1"/>
          <p:nvPr/>
        </p:nvSpPr>
        <p:spPr>
          <a:xfrm>
            <a:off x="960120" y="1975104"/>
            <a:ext cx="3291840" cy="5486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VIIRS spans about seven orders of magnitude, with three switchable gain stages.</a:t>
            </a:r>
            <a:endParaRPr lang="en-US" sz="1000" dirty="0"/>
          </a:p>
        </p:txBody>
      </p:sp>
      <p:sp>
        <p:nvSpPr>
          <p:cNvPr id="23" name="Shape 18"/>
          <p:cNvSpPr/>
          <p:nvPr/>
        </p:nvSpPr>
        <p:spPr>
          <a:xfrm>
            <a:off x="457200" y="2688336"/>
            <a:ext cx="384048" cy="384048"/>
          </a:xfrm>
          <a:prstGeom prst="ellipse">
            <a:avLst/>
          </a:prstGeom>
          <a:solidFill>
            <a:srgbClr val="00704A">
              <a:alpha val="22000"/>
            </a:srgbClr>
          </a:solidFill>
          <a:ln w="12700">
            <a:solidFill>
              <a:srgbClr val="00704A">
                <a:alpha val="0"/>
              </a:srgbClr>
            </a:solidFill>
            <a:prstDash val="solid"/>
          </a:ln>
        </p:spPr>
      </p:sp>
      <p:pic>
        <p:nvPicPr>
          <p:cNvPr id="24" name="Image 2" descr="preencoded.png"/>
          <p:cNvPicPr>
            <a:picLocks noChangeAspect="1"/>
          </p:cNvPicPr>
          <p:nvPr/>
        </p:nvPicPr>
        <p:blipFill>
          <a:blip r:embed="rId5"/>
          <a:stretch>
            <a:fillRect/>
          </a:stretch>
        </p:blipFill>
        <p:spPr>
          <a:xfrm>
            <a:off x="557052" y="2788188"/>
            <a:ext cx="184343" cy="184343"/>
          </a:xfrm>
          <a:prstGeom prst="rect">
            <a:avLst/>
          </a:prstGeom>
        </p:spPr>
      </p:pic>
      <p:sp>
        <p:nvSpPr>
          <p:cNvPr id="25" name="Text 19"/>
          <p:cNvSpPr txBox="1"/>
          <p:nvPr/>
        </p:nvSpPr>
        <p:spPr>
          <a:xfrm>
            <a:off x="960120" y="2633472"/>
            <a:ext cx="3291840" cy="5486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Its low background noise makes a single lit fishing boat visible on a dark lake or ocean.</a:t>
            </a:r>
            <a:endParaRPr lang="en-US" sz="1000" dirty="0"/>
          </a:p>
        </p:txBody>
      </p:sp>
      <p:sp>
        <p:nvSpPr>
          <p:cNvPr id="26" name="Shape 20"/>
          <p:cNvSpPr/>
          <p:nvPr/>
        </p:nvSpPr>
        <p:spPr>
          <a:xfrm>
            <a:off x="457200" y="3429000"/>
            <a:ext cx="3749040" cy="1097280"/>
          </a:xfrm>
          <a:prstGeom prst="roundRect">
            <a:avLst>
              <a:gd name="adj" fmla="val 6667"/>
            </a:avLst>
          </a:prstGeom>
          <a:solidFill>
            <a:srgbClr val="D49A00">
              <a:alpha val="13000"/>
            </a:srgbClr>
          </a:solidFill>
          <a:ln w="12700">
            <a:solidFill>
              <a:srgbClr val="D49A00"/>
            </a:solidFill>
            <a:prstDash val="solid"/>
          </a:ln>
        </p:spPr>
      </p:sp>
      <p:sp>
        <p:nvSpPr>
          <p:cNvPr id="27" name="Shape 21"/>
          <p:cNvSpPr/>
          <p:nvPr/>
        </p:nvSpPr>
        <p:spPr>
          <a:xfrm>
            <a:off x="566928" y="3538728"/>
            <a:ext cx="384048" cy="384048"/>
          </a:xfrm>
          <a:prstGeom prst="ellipse">
            <a:avLst/>
          </a:prstGeom>
          <a:solidFill>
            <a:srgbClr val="D49A00">
              <a:alpha val="22000"/>
            </a:srgbClr>
          </a:solidFill>
          <a:ln w="12700">
            <a:solidFill>
              <a:srgbClr val="D49A00">
                <a:alpha val="0"/>
              </a:srgbClr>
            </a:solidFill>
            <a:prstDash val="solid"/>
          </a:ln>
        </p:spPr>
      </p:sp>
      <p:pic>
        <p:nvPicPr>
          <p:cNvPr id="28" name="Image 3" descr="preencoded.png"/>
          <p:cNvPicPr>
            <a:picLocks noChangeAspect="1"/>
          </p:cNvPicPr>
          <p:nvPr/>
        </p:nvPicPr>
        <p:blipFill>
          <a:blip r:embed="rId6"/>
          <a:stretch>
            <a:fillRect/>
          </a:stretch>
        </p:blipFill>
        <p:spPr>
          <a:xfrm>
            <a:off x="666780" y="3638580"/>
            <a:ext cx="184343" cy="184343"/>
          </a:xfrm>
          <a:prstGeom prst="rect">
            <a:avLst/>
          </a:prstGeom>
        </p:spPr>
      </p:pic>
      <p:sp>
        <p:nvSpPr>
          <p:cNvPr id="29" name="Text 22"/>
          <p:cNvSpPr txBox="1"/>
          <p:nvPr/>
        </p:nvSpPr>
        <p:spPr>
          <a:xfrm>
            <a:off x="1051560" y="3538728"/>
            <a:ext cx="3017520"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Read before any regression</a:t>
            </a:r>
            <a:endParaRPr lang="en-US" sz="1200" dirty="0"/>
          </a:p>
        </p:txBody>
      </p:sp>
      <p:sp>
        <p:nvSpPr>
          <p:cNvPr id="30" name="Text 23"/>
          <p:cNvSpPr txBox="1"/>
          <p:nvPr/>
        </p:nvSpPr>
        <p:spPr>
          <a:xfrm>
            <a:off x="1051560" y="3785616"/>
            <a:ext cx="3090672" cy="71323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Saturation is a ceiling, not noise that averages out. The information was never recorded — correcting it means modelling what the sensor did not see.</a:t>
            </a:r>
            <a:endParaRPr lang="en-US" sz="950" dirty="0"/>
          </a:p>
        </p:txBody>
      </p:sp>
      <p:graphicFrame>
        <p:nvGraphicFramePr>
          <p:cNvPr id="31" name="Chart 0"/>
          <p:cNvGraphicFramePr/>
          <p:nvPr/>
        </p:nvGraphicFramePr>
        <p:xfrm>
          <a:off x="4480560" y="1325880"/>
          <a:ext cx="4206240" cy="3063240"/>
        </p:xfrm>
        <a:graphic>
          <a:graphicData uri="http://schemas.openxmlformats.org/drawingml/2006/chart">
            <c:chart xmlns:c="http://schemas.openxmlformats.org/drawingml/2006/chart" xmlns:r="http://schemas.openxmlformats.org/officeDocument/2006/relationships" r:id="rId7"/>
          </a:graphicData>
        </a:graphic>
      </p:graphicFrame>
      <p:sp>
        <p:nvSpPr>
          <p:cNvPr id="32" name="Text 24"/>
          <p:cNvSpPr txBox="1"/>
          <p:nvPr/>
        </p:nvSpPr>
        <p:spPr>
          <a:xfrm>
            <a:off x="4480560" y="4434840"/>
            <a:ext cx="420624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Schematic illustration — data not fitted. VIIRS range after Elvidge et al. (2017).</a:t>
            </a:r>
            <a:endParaRPr lang="en-US" sz="9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8580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3</a:t>
            </a:r>
            <a:endParaRPr lang="en-US" sz="1050" dirty="0"/>
          </a:p>
        </p:txBody>
      </p:sp>
      <p:sp>
        <p:nvSpPr>
          <p:cNvPr id="4" name="Text 2"/>
          <p:cNvSpPr txBox="1"/>
          <p:nvPr/>
        </p:nvSpPr>
        <p:spPr>
          <a:xfrm>
            <a:off x="502920" y="91440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03</a:t>
            </a:r>
            <a:endParaRPr lang="en-US" sz="9600" dirty="0"/>
          </a:p>
        </p:txBody>
      </p:sp>
      <p:sp>
        <p:nvSpPr>
          <p:cNvPr id="5" name="Text 3"/>
          <p:cNvSpPr txBox="1"/>
          <p:nvPr/>
        </p:nvSpPr>
        <p:spPr>
          <a:xfrm>
            <a:off x="548640" y="2240280"/>
            <a:ext cx="5486400" cy="6858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From photons to data</a:t>
            </a:r>
            <a:endParaRPr lang="en-US" sz="3600" dirty="0"/>
          </a:p>
        </p:txBody>
      </p:sp>
      <p:sp>
        <p:nvSpPr>
          <p:cNvPr id="6" name="Text 4"/>
          <p:cNvSpPr txBox="1"/>
          <p:nvPr/>
        </p:nvSpPr>
        <p:spPr>
          <a:xfrm>
            <a:off x="548640" y="2971800"/>
            <a:ext cx="5120640" cy="59436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How does a night of observations become a publishable number?</a:t>
            </a:r>
            <a:endParaRPr lang="en-US" sz="1800" dirty="0"/>
          </a:p>
        </p:txBody>
      </p:sp>
      <p:sp>
        <p:nvSpPr>
          <p:cNvPr id="7" name="Text 5"/>
          <p:cNvSpPr txBox="1"/>
          <p:nvPr/>
        </p:nvSpPr>
        <p:spPr>
          <a:xfrm>
            <a:off x="548640" y="3703320"/>
            <a:ext cx="5303520" cy="274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Processing  ·  Products  ·  What shines  ·  Indicators  ·  Example</a:t>
            </a:r>
            <a:endParaRPr lang="en-US" sz="1200" dirty="0"/>
          </a:p>
        </p:txBody>
      </p:sp>
      <p:sp>
        <p:nvSpPr>
          <p:cNvPr id="8" name="Shape 6"/>
          <p:cNvSpPr/>
          <p:nvPr/>
        </p:nvSpPr>
        <p:spPr>
          <a:xfrm>
            <a:off x="548640" y="4343400"/>
            <a:ext cx="118872" cy="118872"/>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768096" y="4343400"/>
            <a:ext cx="118872" cy="118872"/>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987552" y="4343400"/>
            <a:ext cx="118872" cy="118872"/>
          </a:xfrm>
          <a:prstGeom prst="ellipse">
            <a:avLst/>
          </a:prstGeom>
          <a:solidFill>
            <a:srgbClr val="F5C242"/>
          </a:solidFill>
          <a:ln w="12700">
            <a:solidFill>
              <a:srgbClr val="FFFFFF">
                <a:alpha val="0"/>
              </a:srgbClr>
            </a:solidFill>
            <a:prstDash val="solid"/>
          </a:ln>
        </p:spPr>
      </p:sp>
      <p:sp>
        <p:nvSpPr>
          <p:cNvPr id="11" name="Shape 9"/>
          <p:cNvSpPr/>
          <p:nvPr/>
        </p:nvSpPr>
        <p:spPr>
          <a:xfrm>
            <a:off x="1207008" y="4343400"/>
            <a:ext cx="118872" cy="118872"/>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1426464" y="4343400"/>
            <a:ext cx="118872" cy="118872"/>
          </a:xfrm>
          <a:prstGeom prst="ellipse">
            <a:avLst/>
          </a:prstGeom>
          <a:solidFill>
            <a:srgbClr val="FFFFFF">
              <a:alpha val="40000"/>
            </a:srgbClr>
          </a:solidFill>
          <a:ln w="12700">
            <a:solidFill>
              <a:srgbClr val="FFFFFF">
                <a:alpha val="0"/>
              </a:srgbClr>
            </a:solidFill>
            <a:prstDash val="solid"/>
          </a:ln>
        </p:spPr>
      </p:sp>
      <p:sp>
        <p:nvSpPr>
          <p:cNvPr id="13" name="Shape 11"/>
          <p:cNvSpPr/>
          <p:nvPr/>
        </p:nvSpPr>
        <p:spPr>
          <a:xfrm>
            <a:off x="1645920" y="4343400"/>
            <a:ext cx="118872" cy="118872"/>
          </a:xfrm>
          <a:prstGeom prst="ellipse">
            <a:avLst/>
          </a:prstGeom>
          <a:solidFill>
            <a:srgbClr val="FFFFFF">
              <a:alpha val="40000"/>
            </a:srgbClr>
          </a:solidFill>
          <a:ln w="12700">
            <a:solidFill>
              <a:srgbClr val="FFFFFF">
                <a:alpha val="0"/>
              </a:srgbClr>
            </a:solidFill>
            <a:prstDash val="solid"/>
          </a:ln>
        </p:spPr>
      </p:sp>
      <p:sp>
        <p:nvSpPr>
          <p:cNvPr id="14" name="Shape 12"/>
          <p:cNvSpPr/>
          <p:nvPr/>
        </p:nvSpPr>
        <p:spPr>
          <a:xfrm>
            <a:off x="5760720" y="1188720"/>
            <a:ext cx="2651760" cy="2651760"/>
          </a:xfrm>
          <a:prstGeom prst="ellipse">
            <a:avLst/>
          </a:prstGeom>
          <a:solidFill>
            <a:srgbClr val="FFFFFF">
              <a:alpha val="10000"/>
            </a:srgbClr>
          </a:solidFill>
          <a:ln w="9525">
            <a:solidFill>
              <a:srgbClr val="FFFFFF">
                <a:alpha val="30000"/>
              </a:srgbClr>
            </a:solidFill>
            <a:prstDash val="solid"/>
          </a:ln>
        </p:spPr>
      </p:sp>
      <p:sp>
        <p:nvSpPr>
          <p:cNvPr id="15" name="Shape 13"/>
          <p:cNvSpPr/>
          <p:nvPr/>
        </p:nvSpPr>
        <p:spPr>
          <a:xfrm>
            <a:off x="6080760" y="1508760"/>
            <a:ext cx="2011680" cy="2011680"/>
          </a:xfrm>
          <a:prstGeom prst="ellipse">
            <a:avLst/>
          </a:prstGeom>
          <a:solidFill>
            <a:srgbClr val="FFFFFF">
              <a:alpha val="13000"/>
            </a:srgbClr>
          </a:solidFill>
          <a:ln w="9525">
            <a:solidFill>
              <a:srgbClr val="FFFFFF">
                <a:alpha val="30000"/>
              </a:srgbClr>
            </a:solidFill>
            <a:prstDash val="solid"/>
          </a:ln>
        </p:spPr>
      </p:sp>
      <p:sp>
        <p:nvSpPr>
          <p:cNvPr id="16" name="Shape 14"/>
          <p:cNvSpPr/>
          <p:nvPr/>
        </p:nvSpPr>
        <p:spPr>
          <a:xfrm>
            <a:off x="6400800" y="1828800"/>
            <a:ext cx="1371600" cy="1371600"/>
          </a:xfrm>
          <a:prstGeom prst="ellipse">
            <a:avLst/>
          </a:prstGeom>
          <a:solidFill>
            <a:srgbClr val="FFFFFF">
              <a:alpha val="16000"/>
            </a:srgbClr>
          </a:solidFill>
          <a:ln w="9525">
            <a:solidFill>
              <a:srgbClr val="FFFFFF">
                <a:alpha val="30000"/>
              </a:srgbClr>
            </a:solidFill>
            <a:prstDash val="solid"/>
          </a:ln>
        </p:spPr>
      </p:sp>
      <p:sp>
        <p:nvSpPr>
          <p:cNvPr id="17" name="Shape 15"/>
          <p:cNvSpPr/>
          <p:nvPr/>
        </p:nvSpPr>
        <p:spPr>
          <a:xfrm>
            <a:off x="6629400" y="2057400"/>
            <a:ext cx="914400" cy="914400"/>
          </a:xfrm>
          <a:prstGeom prst="ellipse">
            <a:avLst/>
          </a:prstGeom>
          <a:solidFill>
            <a:srgbClr val="FFFFFF"/>
          </a:solidFill>
          <a:ln w="12700">
            <a:solidFill>
              <a:srgbClr val="FFFFFF"/>
            </a:solidFill>
            <a:prstDash val="solid"/>
          </a:ln>
        </p:spPr>
      </p:sp>
      <p:pic>
        <p:nvPicPr>
          <p:cNvPr id="18" name="Image 0" descr="preencoded.png"/>
          <p:cNvPicPr>
            <a:picLocks noChangeAspect="1"/>
          </p:cNvPicPr>
          <p:nvPr/>
        </p:nvPicPr>
        <p:blipFill>
          <a:blip r:embed="rId4"/>
          <a:stretch>
            <a:fillRect/>
          </a:stretch>
        </p:blipFill>
        <p:spPr>
          <a:xfrm>
            <a:off x="6848856" y="2276856"/>
            <a:ext cx="475488" cy="475488"/>
          </a:xfrm>
          <a:prstGeom prst="rect">
            <a:avLst/>
          </a:prstGeom>
        </p:spPr>
      </p:pic>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FROM PHOTONS TO DATA · METHOD</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How a night-time image is made</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0E7C86"/>
          </a:solidFill>
          <a:ln w="12700">
            <a:solidFill>
              <a:srgbClr val="0E7C86"/>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14</a:t>
            </a:r>
            <a:endParaRPr lang="en-US" sz="850" dirty="0"/>
          </a:p>
        </p:txBody>
      </p:sp>
      <p:sp>
        <p:nvSpPr>
          <p:cNvPr id="17" name="Shape 14"/>
          <p:cNvSpPr/>
          <p:nvPr/>
        </p:nvSpPr>
        <p:spPr>
          <a:xfrm>
            <a:off x="457200" y="1325880"/>
            <a:ext cx="1481328" cy="1920240"/>
          </a:xfrm>
          <a:prstGeom prst="roundRect">
            <a:avLst>
              <a:gd name="adj" fmla="val 4938"/>
            </a:avLst>
          </a:prstGeom>
          <a:solidFill>
            <a:srgbClr val="F4F7F5"/>
          </a:solidFill>
          <a:ln w="9525">
            <a:solidFill>
              <a:srgbClr val="D5DED9"/>
            </a:solidFill>
            <a:prstDash val="solid"/>
          </a:ln>
        </p:spPr>
      </p:sp>
      <p:sp>
        <p:nvSpPr>
          <p:cNvPr id="18" name="Shape 15"/>
          <p:cNvSpPr/>
          <p:nvPr/>
        </p:nvSpPr>
        <p:spPr>
          <a:xfrm>
            <a:off x="923544" y="1444752"/>
            <a:ext cx="548640" cy="548640"/>
          </a:xfrm>
          <a:prstGeom prst="ellipse">
            <a:avLst/>
          </a:prstGeom>
          <a:solidFill>
            <a:srgbClr val="0E7C86">
              <a:alpha val="22000"/>
            </a:srgbClr>
          </a:solidFill>
          <a:ln w="12700">
            <a:solidFill>
              <a:srgbClr val="0E7C86">
                <a:alpha val="0"/>
              </a:srgbClr>
            </a:solidFill>
            <a:prstDash val="solid"/>
          </a:ln>
        </p:spPr>
      </p:sp>
      <p:pic>
        <p:nvPicPr>
          <p:cNvPr id="19" name="Image 0" descr="preencoded.png"/>
          <p:cNvPicPr>
            <a:picLocks noChangeAspect="1"/>
          </p:cNvPicPr>
          <p:nvPr/>
        </p:nvPicPr>
        <p:blipFill>
          <a:blip r:embed="rId3"/>
          <a:stretch>
            <a:fillRect/>
          </a:stretch>
        </p:blipFill>
        <p:spPr>
          <a:xfrm>
            <a:off x="1066190" y="1587398"/>
            <a:ext cx="263347" cy="263347"/>
          </a:xfrm>
          <a:prstGeom prst="rect">
            <a:avLst/>
          </a:prstGeom>
        </p:spPr>
      </p:pic>
      <p:sp>
        <p:nvSpPr>
          <p:cNvPr id="20" name="Shape 16"/>
          <p:cNvSpPr/>
          <p:nvPr/>
        </p:nvSpPr>
        <p:spPr>
          <a:xfrm>
            <a:off x="548640" y="1417320"/>
            <a:ext cx="256032" cy="256032"/>
          </a:xfrm>
          <a:prstGeom prst="ellipse">
            <a:avLst/>
          </a:prstGeom>
          <a:solidFill>
            <a:srgbClr val="0E7C86"/>
          </a:solidFill>
          <a:ln w="12700">
            <a:solidFill>
              <a:srgbClr val="0E7C86"/>
            </a:solidFill>
            <a:prstDash val="solid"/>
          </a:ln>
        </p:spPr>
      </p:sp>
      <p:sp>
        <p:nvSpPr>
          <p:cNvPr id="21" name="Text 17"/>
          <p:cNvSpPr txBox="1"/>
          <p:nvPr/>
        </p:nvSpPr>
        <p:spPr>
          <a:xfrm>
            <a:off x="548640" y="141732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2" name="Text 18"/>
          <p:cNvSpPr txBox="1"/>
          <p:nvPr/>
        </p:nvSpPr>
        <p:spPr>
          <a:xfrm>
            <a:off x="530352" y="2066544"/>
            <a:ext cx="1335024" cy="256032"/>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Filter out clouds</a:t>
            </a:r>
            <a:endParaRPr lang="en-US" sz="1100" dirty="0"/>
          </a:p>
        </p:txBody>
      </p:sp>
      <p:sp>
        <p:nvSpPr>
          <p:cNvPr id="23" name="Text 19"/>
          <p:cNvSpPr txBox="1"/>
          <p:nvPr/>
        </p:nvSpPr>
        <p:spPr>
          <a:xfrm>
            <a:off x="548640" y="2359152"/>
            <a:ext cx="1298448" cy="859536"/>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Only cloud-free nights enter a composite. In the humid tropics, most can be discarded.</a:t>
            </a:r>
            <a:endParaRPr lang="en-US" sz="900" dirty="0"/>
          </a:p>
        </p:txBody>
      </p:sp>
      <p:sp>
        <p:nvSpPr>
          <p:cNvPr id="24" name="Shape 20"/>
          <p:cNvSpPr/>
          <p:nvPr/>
        </p:nvSpPr>
        <p:spPr>
          <a:xfrm>
            <a:off x="1956816" y="2286000"/>
            <a:ext cx="164592" cy="91"/>
          </a:xfrm>
          <a:prstGeom prst="line">
            <a:avLst/>
          </a:prstGeom>
          <a:noFill/>
          <a:ln w="15875">
            <a:solidFill>
              <a:srgbClr val="5E6964"/>
            </a:solidFill>
            <a:prstDash val="solid"/>
            <a:tailEnd type="triangle"/>
          </a:ln>
        </p:spPr>
      </p:sp>
      <p:sp>
        <p:nvSpPr>
          <p:cNvPr id="25" name="Shape 21"/>
          <p:cNvSpPr/>
          <p:nvPr/>
        </p:nvSpPr>
        <p:spPr>
          <a:xfrm>
            <a:off x="2139696" y="1325880"/>
            <a:ext cx="1481328" cy="1920240"/>
          </a:xfrm>
          <a:prstGeom prst="roundRect">
            <a:avLst>
              <a:gd name="adj" fmla="val 4938"/>
            </a:avLst>
          </a:prstGeom>
          <a:solidFill>
            <a:srgbClr val="F4F7F5"/>
          </a:solidFill>
          <a:ln w="9525">
            <a:solidFill>
              <a:srgbClr val="D5DED9"/>
            </a:solidFill>
            <a:prstDash val="solid"/>
          </a:ln>
        </p:spPr>
      </p:sp>
      <p:sp>
        <p:nvSpPr>
          <p:cNvPr id="26" name="Shape 22"/>
          <p:cNvSpPr/>
          <p:nvPr/>
        </p:nvSpPr>
        <p:spPr>
          <a:xfrm>
            <a:off x="2606040" y="1444752"/>
            <a:ext cx="548640" cy="548640"/>
          </a:xfrm>
          <a:prstGeom prst="ellipse">
            <a:avLst/>
          </a:prstGeom>
          <a:solidFill>
            <a:srgbClr val="0E7C86">
              <a:alpha val="22000"/>
            </a:srgbClr>
          </a:solidFill>
          <a:ln w="12700">
            <a:solidFill>
              <a:srgbClr val="0E7C86">
                <a:alpha val="0"/>
              </a:srgbClr>
            </a:solidFill>
            <a:prstDash val="solid"/>
          </a:ln>
        </p:spPr>
      </p:sp>
      <p:pic>
        <p:nvPicPr>
          <p:cNvPr id="27" name="Image 1" descr="preencoded.png"/>
          <p:cNvPicPr>
            <a:picLocks noChangeAspect="1"/>
          </p:cNvPicPr>
          <p:nvPr/>
        </p:nvPicPr>
        <p:blipFill>
          <a:blip r:embed="rId4"/>
          <a:stretch>
            <a:fillRect/>
          </a:stretch>
        </p:blipFill>
        <p:spPr>
          <a:xfrm>
            <a:off x="2748686" y="1587398"/>
            <a:ext cx="263347" cy="263347"/>
          </a:xfrm>
          <a:prstGeom prst="rect">
            <a:avLst/>
          </a:prstGeom>
        </p:spPr>
      </p:pic>
      <p:sp>
        <p:nvSpPr>
          <p:cNvPr id="28" name="Shape 23"/>
          <p:cNvSpPr/>
          <p:nvPr/>
        </p:nvSpPr>
        <p:spPr>
          <a:xfrm>
            <a:off x="2231136" y="1417320"/>
            <a:ext cx="256032" cy="256032"/>
          </a:xfrm>
          <a:prstGeom prst="ellipse">
            <a:avLst/>
          </a:prstGeom>
          <a:solidFill>
            <a:srgbClr val="0E7C86"/>
          </a:solidFill>
          <a:ln w="12700">
            <a:solidFill>
              <a:srgbClr val="0E7C86"/>
            </a:solidFill>
            <a:prstDash val="solid"/>
          </a:ln>
        </p:spPr>
      </p:sp>
      <p:sp>
        <p:nvSpPr>
          <p:cNvPr id="29" name="Text 24"/>
          <p:cNvSpPr txBox="1"/>
          <p:nvPr/>
        </p:nvSpPr>
        <p:spPr>
          <a:xfrm>
            <a:off x="2231136" y="141732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0" name="Text 25"/>
          <p:cNvSpPr txBox="1"/>
          <p:nvPr/>
        </p:nvSpPr>
        <p:spPr>
          <a:xfrm>
            <a:off x="2212848" y="2066544"/>
            <a:ext cx="1335024" cy="256032"/>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Remove the sun</a:t>
            </a:r>
            <a:endParaRPr lang="en-US" sz="1100" dirty="0"/>
          </a:p>
        </p:txBody>
      </p:sp>
      <p:sp>
        <p:nvSpPr>
          <p:cNvPr id="31" name="Text 26"/>
          <p:cNvSpPr txBox="1"/>
          <p:nvPr/>
        </p:nvSpPr>
        <p:spPr>
          <a:xfrm>
            <a:off x="2231136" y="2359152"/>
            <a:ext cx="1298448" cy="859536"/>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Twilight, glint and instrument stray light are corrected or excluded.</a:t>
            </a:r>
            <a:endParaRPr lang="en-US" sz="900" dirty="0"/>
          </a:p>
        </p:txBody>
      </p:sp>
      <p:sp>
        <p:nvSpPr>
          <p:cNvPr id="32" name="Shape 27"/>
          <p:cNvSpPr/>
          <p:nvPr/>
        </p:nvSpPr>
        <p:spPr>
          <a:xfrm>
            <a:off x="3639312" y="2286000"/>
            <a:ext cx="164592" cy="91"/>
          </a:xfrm>
          <a:prstGeom prst="line">
            <a:avLst/>
          </a:prstGeom>
          <a:noFill/>
          <a:ln w="15875">
            <a:solidFill>
              <a:srgbClr val="5E6964"/>
            </a:solidFill>
            <a:prstDash val="solid"/>
            <a:tailEnd type="triangle"/>
          </a:ln>
        </p:spPr>
      </p:sp>
      <p:sp>
        <p:nvSpPr>
          <p:cNvPr id="33" name="Shape 28"/>
          <p:cNvSpPr/>
          <p:nvPr/>
        </p:nvSpPr>
        <p:spPr>
          <a:xfrm>
            <a:off x="3822192" y="1325880"/>
            <a:ext cx="1481328" cy="1920240"/>
          </a:xfrm>
          <a:prstGeom prst="roundRect">
            <a:avLst>
              <a:gd name="adj" fmla="val 4938"/>
            </a:avLst>
          </a:prstGeom>
          <a:solidFill>
            <a:srgbClr val="F4F7F5"/>
          </a:solidFill>
          <a:ln w="9525">
            <a:solidFill>
              <a:srgbClr val="D5DED9"/>
            </a:solidFill>
            <a:prstDash val="solid"/>
          </a:ln>
        </p:spPr>
      </p:sp>
      <p:sp>
        <p:nvSpPr>
          <p:cNvPr id="34" name="Shape 29"/>
          <p:cNvSpPr/>
          <p:nvPr/>
        </p:nvSpPr>
        <p:spPr>
          <a:xfrm>
            <a:off x="4288536" y="1444752"/>
            <a:ext cx="548640" cy="548640"/>
          </a:xfrm>
          <a:prstGeom prst="ellipse">
            <a:avLst/>
          </a:prstGeom>
          <a:solidFill>
            <a:srgbClr val="0E7C86">
              <a:alpha val="22000"/>
            </a:srgbClr>
          </a:solidFill>
          <a:ln w="12700">
            <a:solidFill>
              <a:srgbClr val="0E7C86">
                <a:alpha val="0"/>
              </a:srgbClr>
            </a:solidFill>
            <a:prstDash val="solid"/>
          </a:ln>
        </p:spPr>
      </p:sp>
      <p:pic>
        <p:nvPicPr>
          <p:cNvPr id="35" name="Image 2" descr="preencoded.png"/>
          <p:cNvPicPr>
            <a:picLocks noChangeAspect="1"/>
          </p:cNvPicPr>
          <p:nvPr/>
        </p:nvPicPr>
        <p:blipFill>
          <a:blip r:embed="rId5"/>
          <a:stretch>
            <a:fillRect/>
          </a:stretch>
        </p:blipFill>
        <p:spPr>
          <a:xfrm>
            <a:off x="4431182" y="1587398"/>
            <a:ext cx="263347" cy="263347"/>
          </a:xfrm>
          <a:prstGeom prst="rect">
            <a:avLst/>
          </a:prstGeom>
        </p:spPr>
      </p:pic>
      <p:sp>
        <p:nvSpPr>
          <p:cNvPr id="36" name="Shape 30"/>
          <p:cNvSpPr/>
          <p:nvPr/>
        </p:nvSpPr>
        <p:spPr>
          <a:xfrm>
            <a:off x="3913632" y="1417320"/>
            <a:ext cx="256032" cy="256032"/>
          </a:xfrm>
          <a:prstGeom prst="ellipse">
            <a:avLst/>
          </a:prstGeom>
          <a:solidFill>
            <a:srgbClr val="0E7C86"/>
          </a:solidFill>
          <a:ln w="12700">
            <a:solidFill>
              <a:srgbClr val="0E7C86"/>
            </a:solidFill>
            <a:prstDash val="solid"/>
          </a:ln>
        </p:spPr>
      </p:sp>
      <p:sp>
        <p:nvSpPr>
          <p:cNvPr id="37" name="Text 31"/>
          <p:cNvSpPr txBox="1"/>
          <p:nvPr/>
        </p:nvSpPr>
        <p:spPr>
          <a:xfrm>
            <a:off x="3913632" y="141732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8" name="Text 32"/>
          <p:cNvSpPr txBox="1"/>
          <p:nvPr/>
        </p:nvSpPr>
        <p:spPr>
          <a:xfrm>
            <a:off x="3895344" y="2066544"/>
            <a:ext cx="1335024" cy="256032"/>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Correct for the Moon</a:t>
            </a:r>
            <a:endParaRPr lang="en-US" sz="1100" dirty="0"/>
          </a:p>
        </p:txBody>
      </p:sp>
      <p:sp>
        <p:nvSpPr>
          <p:cNvPr id="39" name="Text 33"/>
          <p:cNvSpPr txBox="1"/>
          <p:nvPr/>
        </p:nvSpPr>
        <p:spPr>
          <a:xfrm>
            <a:off x="3913632" y="2359152"/>
            <a:ext cx="1298448" cy="859536"/>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Moonlight reflected by the ground mimics emitted light; it is modelled and removed.</a:t>
            </a:r>
            <a:endParaRPr lang="en-US" sz="900" dirty="0"/>
          </a:p>
        </p:txBody>
      </p:sp>
      <p:sp>
        <p:nvSpPr>
          <p:cNvPr id="40" name="Shape 34"/>
          <p:cNvSpPr/>
          <p:nvPr/>
        </p:nvSpPr>
        <p:spPr>
          <a:xfrm>
            <a:off x="5321808" y="2286000"/>
            <a:ext cx="164592" cy="91"/>
          </a:xfrm>
          <a:prstGeom prst="line">
            <a:avLst/>
          </a:prstGeom>
          <a:noFill/>
          <a:ln w="15875">
            <a:solidFill>
              <a:srgbClr val="5E6964"/>
            </a:solidFill>
            <a:prstDash val="solid"/>
            <a:tailEnd type="triangle"/>
          </a:ln>
        </p:spPr>
      </p:sp>
      <p:sp>
        <p:nvSpPr>
          <p:cNvPr id="41" name="Shape 35"/>
          <p:cNvSpPr/>
          <p:nvPr/>
        </p:nvSpPr>
        <p:spPr>
          <a:xfrm>
            <a:off x="5504688" y="1325880"/>
            <a:ext cx="1481328" cy="1920240"/>
          </a:xfrm>
          <a:prstGeom prst="roundRect">
            <a:avLst>
              <a:gd name="adj" fmla="val 4938"/>
            </a:avLst>
          </a:prstGeom>
          <a:solidFill>
            <a:srgbClr val="F4F7F5"/>
          </a:solidFill>
          <a:ln w="9525">
            <a:solidFill>
              <a:srgbClr val="D5DED9"/>
            </a:solidFill>
            <a:prstDash val="solid"/>
          </a:ln>
        </p:spPr>
      </p:sp>
      <p:sp>
        <p:nvSpPr>
          <p:cNvPr id="42" name="Shape 36"/>
          <p:cNvSpPr/>
          <p:nvPr/>
        </p:nvSpPr>
        <p:spPr>
          <a:xfrm>
            <a:off x="5971032" y="1444752"/>
            <a:ext cx="548640" cy="548640"/>
          </a:xfrm>
          <a:prstGeom prst="ellipse">
            <a:avLst/>
          </a:prstGeom>
          <a:solidFill>
            <a:srgbClr val="0E7C86">
              <a:alpha val="22000"/>
            </a:srgbClr>
          </a:solidFill>
          <a:ln w="12700">
            <a:solidFill>
              <a:srgbClr val="0E7C86">
                <a:alpha val="0"/>
              </a:srgbClr>
            </a:solidFill>
            <a:prstDash val="solid"/>
          </a:ln>
        </p:spPr>
      </p:sp>
      <p:pic>
        <p:nvPicPr>
          <p:cNvPr id="43" name="Image 3" descr="preencoded.png"/>
          <p:cNvPicPr>
            <a:picLocks noChangeAspect="1"/>
          </p:cNvPicPr>
          <p:nvPr/>
        </p:nvPicPr>
        <p:blipFill>
          <a:blip r:embed="rId6"/>
          <a:stretch>
            <a:fillRect/>
          </a:stretch>
        </p:blipFill>
        <p:spPr>
          <a:xfrm>
            <a:off x="6113678" y="1587398"/>
            <a:ext cx="263347" cy="263347"/>
          </a:xfrm>
          <a:prstGeom prst="rect">
            <a:avLst/>
          </a:prstGeom>
        </p:spPr>
      </p:pic>
      <p:sp>
        <p:nvSpPr>
          <p:cNvPr id="44" name="Shape 37"/>
          <p:cNvSpPr/>
          <p:nvPr/>
        </p:nvSpPr>
        <p:spPr>
          <a:xfrm>
            <a:off x="5596128" y="1417320"/>
            <a:ext cx="256032" cy="256032"/>
          </a:xfrm>
          <a:prstGeom prst="ellipse">
            <a:avLst/>
          </a:prstGeom>
          <a:solidFill>
            <a:srgbClr val="0E7C86"/>
          </a:solidFill>
          <a:ln w="12700">
            <a:solidFill>
              <a:srgbClr val="0E7C86"/>
            </a:solidFill>
            <a:prstDash val="solid"/>
          </a:ln>
        </p:spPr>
      </p:sp>
      <p:sp>
        <p:nvSpPr>
          <p:cNvPr id="45" name="Text 38"/>
          <p:cNvSpPr txBox="1"/>
          <p:nvPr/>
        </p:nvSpPr>
        <p:spPr>
          <a:xfrm>
            <a:off x="5596128" y="141732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46" name="Text 39"/>
          <p:cNvSpPr txBox="1"/>
          <p:nvPr/>
        </p:nvSpPr>
        <p:spPr>
          <a:xfrm>
            <a:off x="5577840" y="2066544"/>
            <a:ext cx="1335024" cy="256032"/>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Drop the ephemeral</a:t>
            </a:r>
            <a:endParaRPr lang="en-US" sz="1100" dirty="0"/>
          </a:p>
        </p:txBody>
      </p:sp>
      <p:sp>
        <p:nvSpPr>
          <p:cNvPr id="47" name="Text 40"/>
          <p:cNvSpPr txBox="1"/>
          <p:nvPr/>
        </p:nvSpPr>
        <p:spPr>
          <a:xfrm>
            <a:off x="5596128" y="2359152"/>
            <a:ext cx="1298448" cy="859536"/>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Fires, lightning, aurorae and boats are flagged by their instability.</a:t>
            </a:r>
            <a:endParaRPr lang="en-US" sz="900" dirty="0"/>
          </a:p>
        </p:txBody>
      </p:sp>
      <p:sp>
        <p:nvSpPr>
          <p:cNvPr id="48" name="Shape 41"/>
          <p:cNvSpPr/>
          <p:nvPr/>
        </p:nvSpPr>
        <p:spPr>
          <a:xfrm>
            <a:off x="7004304" y="2286000"/>
            <a:ext cx="164592" cy="91"/>
          </a:xfrm>
          <a:prstGeom prst="line">
            <a:avLst/>
          </a:prstGeom>
          <a:noFill/>
          <a:ln w="15875">
            <a:solidFill>
              <a:srgbClr val="5E6964"/>
            </a:solidFill>
            <a:prstDash val="solid"/>
            <a:tailEnd type="triangle"/>
          </a:ln>
        </p:spPr>
      </p:sp>
      <p:sp>
        <p:nvSpPr>
          <p:cNvPr id="49" name="Shape 42"/>
          <p:cNvSpPr/>
          <p:nvPr/>
        </p:nvSpPr>
        <p:spPr>
          <a:xfrm>
            <a:off x="7187184" y="1325880"/>
            <a:ext cx="1481328" cy="1920240"/>
          </a:xfrm>
          <a:prstGeom prst="roundRect">
            <a:avLst>
              <a:gd name="adj" fmla="val 4938"/>
            </a:avLst>
          </a:prstGeom>
          <a:solidFill>
            <a:srgbClr val="F4F7F5"/>
          </a:solidFill>
          <a:ln w="9525">
            <a:solidFill>
              <a:srgbClr val="D5DED9"/>
            </a:solidFill>
            <a:prstDash val="solid"/>
          </a:ln>
        </p:spPr>
      </p:sp>
      <p:sp>
        <p:nvSpPr>
          <p:cNvPr id="50" name="Shape 43"/>
          <p:cNvSpPr/>
          <p:nvPr/>
        </p:nvSpPr>
        <p:spPr>
          <a:xfrm>
            <a:off x="7653528" y="1444752"/>
            <a:ext cx="548640" cy="548640"/>
          </a:xfrm>
          <a:prstGeom prst="ellipse">
            <a:avLst/>
          </a:prstGeom>
          <a:solidFill>
            <a:srgbClr val="0E7C86">
              <a:alpha val="22000"/>
            </a:srgbClr>
          </a:solidFill>
          <a:ln w="12700">
            <a:solidFill>
              <a:srgbClr val="0E7C86">
                <a:alpha val="0"/>
              </a:srgbClr>
            </a:solidFill>
            <a:prstDash val="solid"/>
          </a:ln>
        </p:spPr>
      </p:sp>
      <p:pic>
        <p:nvPicPr>
          <p:cNvPr id="51" name="Image 4" descr="preencoded.png"/>
          <p:cNvPicPr>
            <a:picLocks noChangeAspect="1"/>
          </p:cNvPicPr>
          <p:nvPr/>
        </p:nvPicPr>
        <p:blipFill>
          <a:blip r:embed="rId7"/>
          <a:stretch>
            <a:fillRect/>
          </a:stretch>
        </p:blipFill>
        <p:spPr>
          <a:xfrm>
            <a:off x="7796174" y="1587398"/>
            <a:ext cx="263347" cy="263347"/>
          </a:xfrm>
          <a:prstGeom prst="rect">
            <a:avLst/>
          </a:prstGeom>
        </p:spPr>
      </p:pic>
      <p:sp>
        <p:nvSpPr>
          <p:cNvPr id="52" name="Shape 44"/>
          <p:cNvSpPr/>
          <p:nvPr/>
        </p:nvSpPr>
        <p:spPr>
          <a:xfrm>
            <a:off x="7278624" y="1417320"/>
            <a:ext cx="256032" cy="256032"/>
          </a:xfrm>
          <a:prstGeom prst="ellipse">
            <a:avLst/>
          </a:prstGeom>
          <a:solidFill>
            <a:srgbClr val="0E7C86"/>
          </a:solidFill>
          <a:ln w="12700">
            <a:solidFill>
              <a:srgbClr val="0E7C86"/>
            </a:solidFill>
            <a:prstDash val="solid"/>
          </a:ln>
        </p:spPr>
      </p:sp>
      <p:sp>
        <p:nvSpPr>
          <p:cNvPr id="53" name="Text 45"/>
          <p:cNvSpPr txBox="1"/>
          <p:nvPr/>
        </p:nvSpPr>
        <p:spPr>
          <a:xfrm>
            <a:off x="7278624" y="141732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54" name="Text 46"/>
          <p:cNvSpPr txBox="1"/>
          <p:nvPr/>
        </p:nvSpPr>
        <p:spPr>
          <a:xfrm>
            <a:off x="7260336" y="2066544"/>
            <a:ext cx="1335024" cy="256032"/>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Composite and mosaic</a:t>
            </a:r>
            <a:endParaRPr lang="en-US" sz="1100" dirty="0"/>
          </a:p>
        </p:txBody>
      </p:sp>
      <p:sp>
        <p:nvSpPr>
          <p:cNvPr id="55" name="Text 47"/>
          <p:cNvSpPr txBox="1"/>
          <p:nvPr/>
        </p:nvSpPr>
        <p:spPr>
          <a:xfrm>
            <a:off x="7278624" y="2359152"/>
            <a:ext cx="1298448" cy="859536"/>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The retained nights are averaged into a monthly or annual grid, in tiles.</a:t>
            </a:r>
            <a:endParaRPr lang="en-US" sz="900" dirty="0"/>
          </a:p>
        </p:txBody>
      </p:sp>
      <p:sp>
        <p:nvSpPr>
          <p:cNvPr id="56" name="Shape 48"/>
          <p:cNvSpPr/>
          <p:nvPr/>
        </p:nvSpPr>
        <p:spPr>
          <a:xfrm>
            <a:off x="457200" y="3401568"/>
            <a:ext cx="4937760" cy="1143000"/>
          </a:xfrm>
          <a:prstGeom prst="roundRect">
            <a:avLst>
              <a:gd name="adj" fmla="val 6400"/>
            </a:avLst>
          </a:prstGeom>
          <a:solidFill>
            <a:srgbClr val="E8F5EF"/>
          </a:solidFill>
          <a:ln w="15875">
            <a:solidFill>
              <a:srgbClr val="0E7C86"/>
            </a:solidFill>
            <a:prstDash val="solid"/>
          </a:ln>
        </p:spPr>
      </p:sp>
      <p:sp>
        <p:nvSpPr>
          <p:cNvPr id="57" name="Shape 49"/>
          <p:cNvSpPr/>
          <p:nvPr/>
        </p:nvSpPr>
        <p:spPr>
          <a:xfrm>
            <a:off x="566928" y="3511296"/>
            <a:ext cx="384048" cy="384048"/>
          </a:xfrm>
          <a:prstGeom prst="ellipse">
            <a:avLst/>
          </a:prstGeom>
          <a:solidFill>
            <a:srgbClr val="0E7C86">
              <a:alpha val="22000"/>
            </a:srgbClr>
          </a:solidFill>
          <a:ln w="12700">
            <a:solidFill>
              <a:srgbClr val="0E7C86">
                <a:alpha val="0"/>
              </a:srgbClr>
            </a:solidFill>
            <a:prstDash val="solid"/>
          </a:ln>
        </p:spPr>
      </p:sp>
      <p:pic>
        <p:nvPicPr>
          <p:cNvPr id="58" name="Image 5" descr="preencoded.png"/>
          <p:cNvPicPr>
            <a:picLocks noChangeAspect="1"/>
          </p:cNvPicPr>
          <p:nvPr/>
        </p:nvPicPr>
        <p:blipFill>
          <a:blip r:embed="rId8"/>
          <a:stretch>
            <a:fillRect/>
          </a:stretch>
        </p:blipFill>
        <p:spPr>
          <a:xfrm>
            <a:off x="666780" y="3611148"/>
            <a:ext cx="184343" cy="184343"/>
          </a:xfrm>
          <a:prstGeom prst="rect">
            <a:avLst/>
          </a:prstGeom>
        </p:spPr>
      </p:pic>
      <p:sp>
        <p:nvSpPr>
          <p:cNvPr id="59" name="Text 50"/>
          <p:cNvSpPr txBox="1"/>
          <p:nvPr/>
        </p:nvSpPr>
        <p:spPr>
          <a:xfrm>
            <a:off x="1051560" y="3511296"/>
            <a:ext cx="4251960"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You will see these steps as layers in the Collect lab</a:t>
            </a:r>
            <a:endParaRPr lang="en-US" sz="1200" dirty="0"/>
          </a:p>
        </p:txBody>
      </p:sp>
      <p:sp>
        <p:nvSpPr>
          <p:cNvPr id="60" name="Text 51"/>
          <p:cNvSpPr txBox="1"/>
          <p:nvPr/>
        </p:nvSpPr>
        <p:spPr>
          <a:xfrm>
            <a:off x="1051560" y="3767328"/>
            <a:ext cx="4251960" cy="73152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VNP46A2 contains the corrected radiance and its evidence: cloud mask, lunar irradiance, snow flag and Mandatory_Quality_Flag (0 = high quality; 1–5 = poor, including aurorae and glint).</a:t>
            </a:r>
            <a:endParaRPr lang="en-US" sz="950" dirty="0"/>
          </a:p>
        </p:txBody>
      </p:sp>
      <p:sp>
        <p:nvSpPr>
          <p:cNvPr id="61" name="Shape 52"/>
          <p:cNvSpPr/>
          <p:nvPr/>
        </p:nvSpPr>
        <p:spPr>
          <a:xfrm>
            <a:off x="5577840" y="3401568"/>
            <a:ext cx="3108960" cy="1143000"/>
          </a:xfrm>
          <a:prstGeom prst="roundRect">
            <a:avLst>
              <a:gd name="adj" fmla="val 6400"/>
            </a:avLst>
          </a:prstGeom>
          <a:solidFill>
            <a:srgbClr val="D49A00">
              <a:alpha val="13000"/>
            </a:srgbClr>
          </a:solidFill>
          <a:ln w="12700">
            <a:solidFill>
              <a:srgbClr val="D49A00"/>
            </a:solidFill>
            <a:prstDash val="solid"/>
          </a:ln>
        </p:spPr>
      </p:sp>
      <p:sp>
        <p:nvSpPr>
          <p:cNvPr id="62" name="Shape 53"/>
          <p:cNvSpPr/>
          <p:nvPr/>
        </p:nvSpPr>
        <p:spPr>
          <a:xfrm>
            <a:off x="5687568" y="3511296"/>
            <a:ext cx="365760" cy="365760"/>
          </a:xfrm>
          <a:prstGeom prst="ellipse">
            <a:avLst/>
          </a:prstGeom>
          <a:solidFill>
            <a:srgbClr val="D49A00">
              <a:alpha val="22000"/>
            </a:srgbClr>
          </a:solidFill>
          <a:ln w="12700">
            <a:solidFill>
              <a:srgbClr val="D49A00">
                <a:alpha val="0"/>
              </a:srgbClr>
            </a:solidFill>
            <a:prstDash val="solid"/>
          </a:ln>
        </p:spPr>
      </p:sp>
      <p:pic>
        <p:nvPicPr>
          <p:cNvPr id="63" name="Image 6" descr="preencoded.png"/>
          <p:cNvPicPr>
            <a:picLocks noChangeAspect="1"/>
          </p:cNvPicPr>
          <p:nvPr/>
        </p:nvPicPr>
        <p:blipFill>
          <a:blip r:embed="rId9"/>
          <a:stretch>
            <a:fillRect/>
          </a:stretch>
        </p:blipFill>
        <p:spPr>
          <a:xfrm>
            <a:off x="5782666" y="3606394"/>
            <a:ext cx="175565" cy="175565"/>
          </a:xfrm>
          <a:prstGeom prst="rect">
            <a:avLst/>
          </a:prstGeom>
        </p:spPr>
      </p:pic>
      <p:sp>
        <p:nvSpPr>
          <p:cNvPr id="64" name="Text 54"/>
          <p:cNvSpPr txBox="1"/>
          <p:nvPr/>
        </p:nvSpPr>
        <p:spPr>
          <a:xfrm>
            <a:off x="6144768" y="3511296"/>
            <a:ext cx="2487168"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A product, not a snapshot</a:t>
            </a:r>
            <a:endParaRPr lang="en-US" sz="1200" dirty="0"/>
          </a:p>
        </p:txBody>
      </p:sp>
      <p:sp>
        <p:nvSpPr>
          <p:cNvPr id="65" name="Text 55"/>
          <p:cNvSpPr txBox="1"/>
          <p:nvPr/>
        </p:nvSpPr>
        <p:spPr>
          <a:xfrm>
            <a:off x="6144768" y="3767328"/>
            <a:ext cx="2468880" cy="73152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Two products for the same month can legitimately differ. Always record the product and its version.</a:t>
            </a:r>
            <a:endParaRPr lang="en-US" sz="950" dirty="0"/>
          </a:p>
        </p:txBody>
      </p:sp>
      <p:sp>
        <p:nvSpPr>
          <p:cNvPr id="66" name="Text 56"/>
          <p:cNvSpPr txBox="1"/>
          <p:nvPr/>
        </p:nvSpPr>
        <p:spPr>
          <a:xfrm>
            <a:off x="457200" y="4617720"/>
            <a:ext cx="73152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Sources: Román et al. (2018); NASA LAADS DAAC, VNP46A2 v2 product page.</a:t>
            </a:r>
            <a:endParaRPr lang="en-US" sz="9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FROM PHOTONS TO DATA · PRODUCTS · COLLECT LAB</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The NASA Black Marble product family</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0E7C86"/>
          </a:solidFill>
          <a:ln w="12700">
            <a:solidFill>
              <a:srgbClr val="0E7C86"/>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15</a:t>
            </a:r>
            <a:endParaRPr lang="en-US" sz="850" dirty="0"/>
          </a:p>
        </p:txBody>
      </p:sp>
      <p:sp>
        <p:nvSpPr>
          <p:cNvPr id="17" name="Text 14"/>
          <p:cNvSpPr txBox="1"/>
          <p:nvPr/>
        </p:nvSpPr>
        <p:spPr>
          <a:xfrm>
            <a:off x="457200" y="2103120"/>
            <a:ext cx="1097280" cy="457200"/>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Content</a:t>
            </a:r>
            <a:endParaRPr lang="en-US" sz="1050" dirty="0"/>
          </a:p>
        </p:txBody>
      </p:sp>
      <p:sp>
        <p:nvSpPr>
          <p:cNvPr id="18" name="Text 15"/>
          <p:cNvSpPr txBox="1"/>
          <p:nvPr/>
        </p:nvSpPr>
        <p:spPr>
          <a:xfrm>
            <a:off x="457200" y="2633472"/>
            <a:ext cx="1097280" cy="457200"/>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Corrections</a:t>
            </a:r>
            <a:endParaRPr lang="en-US" sz="1050" dirty="0"/>
          </a:p>
        </p:txBody>
      </p:sp>
      <p:sp>
        <p:nvSpPr>
          <p:cNvPr id="19" name="Text 16"/>
          <p:cNvSpPr txBox="1"/>
          <p:nvPr/>
        </p:nvSpPr>
        <p:spPr>
          <a:xfrm>
            <a:off x="457200" y="3163824"/>
            <a:ext cx="1097280" cy="457200"/>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Typical use</a:t>
            </a:r>
            <a:endParaRPr lang="en-US" sz="1050" dirty="0"/>
          </a:p>
        </p:txBody>
      </p:sp>
      <p:sp>
        <p:nvSpPr>
          <p:cNvPr id="20" name="Shape 17"/>
          <p:cNvSpPr/>
          <p:nvPr/>
        </p:nvSpPr>
        <p:spPr>
          <a:xfrm>
            <a:off x="1600200" y="1325880"/>
            <a:ext cx="1645920" cy="685800"/>
          </a:xfrm>
          <a:prstGeom prst="roundRect">
            <a:avLst>
              <a:gd name="adj" fmla="val 10667"/>
            </a:avLst>
          </a:prstGeom>
          <a:solidFill>
            <a:srgbClr val="5E6964"/>
          </a:solidFill>
          <a:ln w="9525">
            <a:solidFill>
              <a:srgbClr val="5E6964"/>
            </a:solidFill>
            <a:prstDash val="solid"/>
          </a:ln>
        </p:spPr>
      </p:sp>
      <p:sp>
        <p:nvSpPr>
          <p:cNvPr id="21" name="Text 18"/>
          <p:cNvSpPr txBox="1"/>
          <p:nvPr/>
        </p:nvSpPr>
        <p:spPr>
          <a:xfrm>
            <a:off x="1600200" y="1371600"/>
            <a:ext cx="1645920" cy="3200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VNP46A1</a:t>
            </a:r>
            <a:endParaRPr lang="en-US" sz="1600" dirty="0"/>
          </a:p>
        </p:txBody>
      </p:sp>
      <p:sp>
        <p:nvSpPr>
          <p:cNvPr id="22" name="Text 19"/>
          <p:cNvSpPr txBox="1"/>
          <p:nvPr/>
        </p:nvSpPr>
        <p:spPr>
          <a:xfrm>
            <a:off x="1600200" y="1691640"/>
            <a:ext cx="1645920" cy="228600"/>
          </a:xfrm>
          <a:prstGeom prst="rect">
            <a:avLst/>
          </a:prstGeom>
          <a:noFill/>
          <a:ln/>
        </p:spPr>
        <p:txBody>
          <a:bodyPr wrap="square" lIns="0" tIns="0" rIns="0" bIns="0" rtlCol="0" anchor="t"/>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DAILY</a:t>
            </a:r>
            <a:endParaRPr lang="en-US" sz="900" dirty="0"/>
          </a:p>
        </p:txBody>
      </p:sp>
      <p:sp>
        <p:nvSpPr>
          <p:cNvPr id="23" name="Shape 20"/>
          <p:cNvSpPr/>
          <p:nvPr/>
        </p:nvSpPr>
        <p:spPr>
          <a:xfrm>
            <a:off x="1600200" y="2103120"/>
            <a:ext cx="1645920" cy="457200"/>
          </a:xfrm>
          <a:prstGeom prst="roundRect">
            <a:avLst>
              <a:gd name="adj" fmla="val 10000"/>
            </a:avLst>
          </a:prstGeom>
          <a:solidFill>
            <a:srgbClr val="F4F7F5"/>
          </a:solidFill>
          <a:ln w="9525">
            <a:solidFill>
              <a:srgbClr val="D5DED9"/>
            </a:solidFill>
            <a:prstDash val="solid"/>
          </a:ln>
        </p:spPr>
      </p:sp>
      <p:sp>
        <p:nvSpPr>
          <p:cNvPr id="24" name="Text 21"/>
          <p:cNvSpPr txBox="1"/>
          <p:nvPr/>
        </p:nvSpPr>
        <p:spPr>
          <a:xfrm>
            <a:off x="1655064" y="2103120"/>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At-sensor radiance (top of atmosphere)</a:t>
            </a:r>
            <a:endParaRPr lang="en-US" sz="850" dirty="0"/>
          </a:p>
        </p:txBody>
      </p:sp>
      <p:sp>
        <p:nvSpPr>
          <p:cNvPr id="25" name="Shape 22"/>
          <p:cNvSpPr/>
          <p:nvPr/>
        </p:nvSpPr>
        <p:spPr>
          <a:xfrm>
            <a:off x="1600200" y="2633472"/>
            <a:ext cx="1645920" cy="457200"/>
          </a:xfrm>
          <a:prstGeom prst="roundRect">
            <a:avLst>
              <a:gd name="adj" fmla="val 10000"/>
            </a:avLst>
          </a:prstGeom>
          <a:solidFill>
            <a:srgbClr val="F4F7F5"/>
          </a:solidFill>
          <a:ln w="9525">
            <a:solidFill>
              <a:srgbClr val="D5DED9"/>
            </a:solidFill>
            <a:prstDash val="solid"/>
          </a:ln>
        </p:spPr>
      </p:sp>
      <p:sp>
        <p:nvSpPr>
          <p:cNvPr id="26" name="Text 23"/>
          <p:cNvSpPr txBox="1"/>
          <p:nvPr/>
        </p:nvSpPr>
        <p:spPr>
          <a:xfrm>
            <a:off x="1655064" y="2633472"/>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Uncorrected — inputs and geometry</a:t>
            </a:r>
            <a:endParaRPr lang="en-US" sz="850" dirty="0"/>
          </a:p>
        </p:txBody>
      </p:sp>
      <p:sp>
        <p:nvSpPr>
          <p:cNvPr id="27" name="Shape 24"/>
          <p:cNvSpPr/>
          <p:nvPr/>
        </p:nvSpPr>
        <p:spPr>
          <a:xfrm>
            <a:off x="1600200" y="3163824"/>
            <a:ext cx="1645920" cy="457200"/>
          </a:xfrm>
          <a:prstGeom prst="roundRect">
            <a:avLst>
              <a:gd name="adj" fmla="val 10000"/>
            </a:avLst>
          </a:prstGeom>
          <a:solidFill>
            <a:srgbClr val="F4F7F5"/>
          </a:solidFill>
          <a:ln w="9525">
            <a:solidFill>
              <a:srgbClr val="D5DED9"/>
            </a:solidFill>
            <a:prstDash val="solid"/>
          </a:ln>
        </p:spPr>
      </p:sp>
      <p:sp>
        <p:nvSpPr>
          <p:cNvPr id="28" name="Text 25"/>
          <p:cNvSpPr txBox="1"/>
          <p:nvPr/>
        </p:nvSpPr>
        <p:spPr>
          <a:xfrm>
            <a:off x="1655064" y="3163824"/>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Advanced users</a:t>
            </a:r>
            <a:endParaRPr lang="en-US" sz="850" dirty="0"/>
          </a:p>
        </p:txBody>
      </p:sp>
      <p:sp>
        <p:nvSpPr>
          <p:cNvPr id="29" name="Shape 26"/>
          <p:cNvSpPr/>
          <p:nvPr/>
        </p:nvSpPr>
        <p:spPr>
          <a:xfrm>
            <a:off x="3383280" y="1325880"/>
            <a:ext cx="1645920" cy="685800"/>
          </a:xfrm>
          <a:prstGeom prst="roundRect">
            <a:avLst>
              <a:gd name="adj" fmla="val 10667"/>
            </a:avLst>
          </a:prstGeom>
          <a:solidFill>
            <a:srgbClr val="00A86A"/>
          </a:solidFill>
          <a:ln w="9525">
            <a:solidFill>
              <a:srgbClr val="00A86A"/>
            </a:solidFill>
            <a:prstDash val="solid"/>
          </a:ln>
        </p:spPr>
      </p:sp>
      <p:sp>
        <p:nvSpPr>
          <p:cNvPr id="30" name="Text 27"/>
          <p:cNvSpPr txBox="1"/>
          <p:nvPr/>
        </p:nvSpPr>
        <p:spPr>
          <a:xfrm>
            <a:off x="3383280" y="1371600"/>
            <a:ext cx="1645920" cy="3200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VNP46A2</a:t>
            </a:r>
            <a:endParaRPr lang="en-US" sz="1600" dirty="0"/>
          </a:p>
        </p:txBody>
      </p:sp>
      <p:sp>
        <p:nvSpPr>
          <p:cNvPr id="31" name="Text 28"/>
          <p:cNvSpPr txBox="1"/>
          <p:nvPr/>
        </p:nvSpPr>
        <p:spPr>
          <a:xfrm>
            <a:off x="3383280" y="1691640"/>
            <a:ext cx="1645920" cy="228600"/>
          </a:xfrm>
          <a:prstGeom prst="rect">
            <a:avLst/>
          </a:prstGeom>
          <a:noFill/>
          <a:ln/>
        </p:spPr>
        <p:txBody>
          <a:bodyPr wrap="square" lIns="0" tIns="0" rIns="0" bIns="0" rtlCol="0" anchor="t"/>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DAILY</a:t>
            </a:r>
            <a:endParaRPr lang="en-US" sz="900" dirty="0"/>
          </a:p>
        </p:txBody>
      </p:sp>
      <p:sp>
        <p:nvSpPr>
          <p:cNvPr id="32" name="Shape 29"/>
          <p:cNvSpPr/>
          <p:nvPr/>
        </p:nvSpPr>
        <p:spPr>
          <a:xfrm>
            <a:off x="3383280" y="2103120"/>
            <a:ext cx="1645920" cy="457200"/>
          </a:xfrm>
          <a:prstGeom prst="roundRect">
            <a:avLst>
              <a:gd name="adj" fmla="val 10000"/>
            </a:avLst>
          </a:prstGeom>
          <a:solidFill>
            <a:srgbClr val="E8F5EF"/>
          </a:solidFill>
          <a:ln w="15875">
            <a:solidFill>
              <a:srgbClr val="00A86A"/>
            </a:solidFill>
            <a:prstDash val="solid"/>
          </a:ln>
        </p:spPr>
      </p:sp>
      <p:sp>
        <p:nvSpPr>
          <p:cNvPr id="33" name="Text 30"/>
          <p:cNvSpPr txBox="1"/>
          <p:nvPr/>
        </p:nvSpPr>
        <p:spPr>
          <a:xfrm>
            <a:off x="3438144" y="2103120"/>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Moon-corrected NTL, gaps filled</a:t>
            </a:r>
            <a:endParaRPr lang="en-US" sz="850" dirty="0"/>
          </a:p>
        </p:txBody>
      </p:sp>
      <p:sp>
        <p:nvSpPr>
          <p:cNvPr id="34" name="Shape 31"/>
          <p:cNvSpPr/>
          <p:nvPr/>
        </p:nvSpPr>
        <p:spPr>
          <a:xfrm>
            <a:off x="3383280" y="2633472"/>
            <a:ext cx="1645920" cy="457200"/>
          </a:xfrm>
          <a:prstGeom prst="roundRect">
            <a:avLst>
              <a:gd name="adj" fmla="val 10000"/>
            </a:avLst>
          </a:prstGeom>
          <a:solidFill>
            <a:srgbClr val="E8F5EF"/>
          </a:solidFill>
          <a:ln w="15875">
            <a:solidFill>
              <a:srgbClr val="00A86A"/>
            </a:solidFill>
            <a:prstDash val="solid"/>
          </a:ln>
        </p:spPr>
      </p:sp>
      <p:sp>
        <p:nvSpPr>
          <p:cNvPr id="35" name="Text 32"/>
          <p:cNvSpPr txBox="1"/>
          <p:nvPr/>
        </p:nvSpPr>
        <p:spPr>
          <a:xfrm>
            <a:off x="3438144" y="2633472"/>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Clouds, Moon, atmosphere, terrain, stray light</a:t>
            </a:r>
            <a:endParaRPr lang="en-US" sz="850" dirty="0"/>
          </a:p>
        </p:txBody>
      </p:sp>
      <p:sp>
        <p:nvSpPr>
          <p:cNvPr id="36" name="Shape 33"/>
          <p:cNvSpPr/>
          <p:nvPr/>
        </p:nvSpPr>
        <p:spPr>
          <a:xfrm>
            <a:off x="3383280" y="3163824"/>
            <a:ext cx="1645920" cy="457200"/>
          </a:xfrm>
          <a:prstGeom prst="roundRect">
            <a:avLst>
              <a:gd name="adj" fmla="val 10000"/>
            </a:avLst>
          </a:prstGeom>
          <a:solidFill>
            <a:srgbClr val="E8F5EF"/>
          </a:solidFill>
          <a:ln w="15875">
            <a:solidFill>
              <a:srgbClr val="00A86A"/>
            </a:solidFill>
            <a:prstDash val="solid"/>
          </a:ln>
        </p:spPr>
      </p:sp>
      <p:sp>
        <p:nvSpPr>
          <p:cNvPr id="37" name="Text 34"/>
          <p:cNvSpPr txBox="1"/>
          <p:nvPr/>
        </p:nvSpPr>
        <p:spPr>
          <a:xfrm>
            <a:off x="3438144" y="3163824"/>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Outages, reliability, events</a:t>
            </a:r>
            <a:endParaRPr lang="en-US" sz="850" dirty="0"/>
          </a:p>
        </p:txBody>
      </p:sp>
      <p:sp>
        <p:nvSpPr>
          <p:cNvPr id="38" name="Shape 35"/>
          <p:cNvSpPr/>
          <p:nvPr/>
        </p:nvSpPr>
        <p:spPr>
          <a:xfrm>
            <a:off x="5166360" y="1325880"/>
            <a:ext cx="1645920" cy="685800"/>
          </a:xfrm>
          <a:prstGeom prst="roundRect">
            <a:avLst>
              <a:gd name="adj" fmla="val 10667"/>
            </a:avLst>
          </a:prstGeom>
          <a:solidFill>
            <a:srgbClr val="00704A"/>
          </a:solidFill>
          <a:ln w="9525">
            <a:solidFill>
              <a:srgbClr val="00704A"/>
            </a:solidFill>
            <a:prstDash val="solid"/>
          </a:ln>
        </p:spPr>
      </p:sp>
      <p:sp>
        <p:nvSpPr>
          <p:cNvPr id="39" name="Text 36"/>
          <p:cNvSpPr txBox="1"/>
          <p:nvPr/>
        </p:nvSpPr>
        <p:spPr>
          <a:xfrm>
            <a:off x="5166360" y="1371600"/>
            <a:ext cx="1645920" cy="3200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VNP46A3</a:t>
            </a:r>
            <a:endParaRPr lang="en-US" sz="1600" dirty="0"/>
          </a:p>
        </p:txBody>
      </p:sp>
      <p:sp>
        <p:nvSpPr>
          <p:cNvPr id="40" name="Text 37"/>
          <p:cNvSpPr txBox="1"/>
          <p:nvPr/>
        </p:nvSpPr>
        <p:spPr>
          <a:xfrm>
            <a:off x="5166360" y="1691640"/>
            <a:ext cx="1645920" cy="228600"/>
          </a:xfrm>
          <a:prstGeom prst="rect">
            <a:avLst/>
          </a:prstGeom>
          <a:noFill/>
          <a:ln/>
        </p:spPr>
        <p:txBody>
          <a:bodyPr wrap="square" lIns="0" tIns="0" rIns="0" bIns="0" rtlCol="0" anchor="t"/>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MONTHLY</a:t>
            </a:r>
            <a:endParaRPr lang="en-US" sz="900" dirty="0"/>
          </a:p>
        </p:txBody>
      </p:sp>
      <p:sp>
        <p:nvSpPr>
          <p:cNvPr id="41" name="Shape 38"/>
          <p:cNvSpPr/>
          <p:nvPr/>
        </p:nvSpPr>
        <p:spPr>
          <a:xfrm>
            <a:off x="5166360" y="2103120"/>
            <a:ext cx="1645920" cy="457200"/>
          </a:xfrm>
          <a:prstGeom prst="roundRect">
            <a:avLst>
              <a:gd name="adj" fmla="val 10000"/>
            </a:avLst>
          </a:prstGeom>
          <a:solidFill>
            <a:srgbClr val="F4F7F5"/>
          </a:solidFill>
          <a:ln w="9525">
            <a:solidFill>
              <a:srgbClr val="D5DED9"/>
            </a:solidFill>
            <a:prstDash val="solid"/>
          </a:ln>
        </p:spPr>
      </p:sp>
      <p:sp>
        <p:nvSpPr>
          <p:cNvPr id="42" name="Text 39"/>
          <p:cNvSpPr txBox="1"/>
          <p:nvPr/>
        </p:nvSpPr>
        <p:spPr>
          <a:xfrm>
            <a:off x="5221224" y="2103120"/>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Composite of corrected daily NTL</a:t>
            </a:r>
            <a:endParaRPr lang="en-US" sz="850" dirty="0"/>
          </a:p>
        </p:txBody>
      </p:sp>
      <p:sp>
        <p:nvSpPr>
          <p:cNvPr id="43" name="Shape 40"/>
          <p:cNvSpPr/>
          <p:nvPr/>
        </p:nvSpPr>
        <p:spPr>
          <a:xfrm>
            <a:off x="5166360" y="2633472"/>
            <a:ext cx="1645920" cy="457200"/>
          </a:xfrm>
          <a:prstGeom prst="roundRect">
            <a:avLst>
              <a:gd name="adj" fmla="val 10000"/>
            </a:avLst>
          </a:prstGeom>
          <a:solidFill>
            <a:srgbClr val="F4F7F5"/>
          </a:solidFill>
          <a:ln w="9525">
            <a:solidFill>
              <a:srgbClr val="D5DED9"/>
            </a:solidFill>
            <a:prstDash val="solid"/>
          </a:ln>
        </p:spPr>
      </p:sp>
      <p:sp>
        <p:nvSpPr>
          <p:cNvPr id="44" name="Text 41"/>
          <p:cNvSpPr txBox="1"/>
          <p:nvPr/>
        </p:nvSpPr>
        <p:spPr>
          <a:xfrm>
            <a:off x="5221224" y="2633472"/>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As A2 + number of observations and quality</a:t>
            </a:r>
            <a:endParaRPr lang="en-US" sz="850" dirty="0"/>
          </a:p>
        </p:txBody>
      </p:sp>
      <p:sp>
        <p:nvSpPr>
          <p:cNvPr id="45" name="Shape 42"/>
          <p:cNvSpPr/>
          <p:nvPr/>
        </p:nvSpPr>
        <p:spPr>
          <a:xfrm>
            <a:off x="5166360" y="3163824"/>
            <a:ext cx="1645920" cy="457200"/>
          </a:xfrm>
          <a:prstGeom prst="roundRect">
            <a:avLst>
              <a:gd name="adj" fmla="val 10000"/>
            </a:avLst>
          </a:prstGeom>
          <a:solidFill>
            <a:srgbClr val="F4F7F5"/>
          </a:solidFill>
          <a:ln w="9525">
            <a:solidFill>
              <a:srgbClr val="D5DED9"/>
            </a:solidFill>
            <a:prstDash val="solid"/>
          </a:ln>
        </p:spPr>
      </p:sp>
      <p:sp>
        <p:nvSpPr>
          <p:cNvPr id="46" name="Text 43"/>
          <p:cNvSpPr txBox="1"/>
          <p:nvPr/>
        </p:nvSpPr>
        <p:spPr>
          <a:xfrm>
            <a:off x="5221224" y="3163824"/>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Programme evaluation, seasonality</a:t>
            </a:r>
            <a:endParaRPr lang="en-US" sz="850" dirty="0"/>
          </a:p>
        </p:txBody>
      </p:sp>
      <p:sp>
        <p:nvSpPr>
          <p:cNvPr id="47" name="Shape 44"/>
          <p:cNvSpPr/>
          <p:nvPr/>
        </p:nvSpPr>
        <p:spPr>
          <a:xfrm>
            <a:off x="6949440" y="1325880"/>
            <a:ext cx="1645920" cy="685800"/>
          </a:xfrm>
          <a:prstGeom prst="roundRect">
            <a:avLst>
              <a:gd name="adj" fmla="val 10667"/>
            </a:avLst>
          </a:prstGeom>
          <a:solidFill>
            <a:srgbClr val="00553A"/>
          </a:solidFill>
          <a:ln w="9525">
            <a:solidFill>
              <a:srgbClr val="00553A"/>
            </a:solidFill>
            <a:prstDash val="solid"/>
          </a:ln>
        </p:spPr>
      </p:sp>
      <p:sp>
        <p:nvSpPr>
          <p:cNvPr id="48" name="Text 45"/>
          <p:cNvSpPr txBox="1"/>
          <p:nvPr/>
        </p:nvSpPr>
        <p:spPr>
          <a:xfrm>
            <a:off x="6949440" y="1371600"/>
            <a:ext cx="1645920" cy="3200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VNP46A4</a:t>
            </a:r>
            <a:endParaRPr lang="en-US" sz="1600" dirty="0"/>
          </a:p>
        </p:txBody>
      </p:sp>
      <p:sp>
        <p:nvSpPr>
          <p:cNvPr id="49" name="Text 46"/>
          <p:cNvSpPr txBox="1"/>
          <p:nvPr/>
        </p:nvSpPr>
        <p:spPr>
          <a:xfrm>
            <a:off x="6949440" y="1691640"/>
            <a:ext cx="1645920" cy="228600"/>
          </a:xfrm>
          <a:prstGeom prst="rect">
            <a:avLst/>
          </a:prstGeom>
          <a:noFill/>
          <a:ln/>
        </p:spPr>
        <p:txBody>
          <a:bodyPr wrap="square" lIns="0" tIns="0" rIns="0" bIns="0" rtlCol="0" anchor="t"/>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ANNUAL</a:t>
            </a:r>
            <a:endParaRPr lang="en-US" sz="900" dirty="0"/>
          </a:p>
        </p:txBody>
      </p:sp>
      <p:sp>
        <p:nvSpPr>
          <p:cNvPr id="50" name="Shape 47"/>
          <p:cNvSpPr/>
          <p:nvPr/>
        </p:nvSpPr>
        <p:spPr>
          <a:xfrm>
            <a:off x="6949440" y="2103120"/>
            <a:ext cx="1645920" cy="457200"/>
          </a:xfrm>
          <a:prstGeom prst="roundRect">
            <a:avLst>
              <a:gd name="adj" fmla="val 10000"/>
            </a:avLst>
          </a:prstGeom>
          <a:solidFill>
            <a:srgbClr val="F4F7F5"/>
          </a:solidFill>
          <a:ln w="9525">
            <a:solidFill>
              <a:srgbClr val="D5DED9"/>
            </a:solidFill>
            <a:prstDash val="solid"/>
          </a:ln>
        </p:spPr>
      </p:sp>
      <p:sp>
        <p:nvSpPr>
          <p:cNvPr id="51" name="Text 48"/>
          <p:cNvSpPr txBox="1"/>
          <p:nvPr/>
        </p:nvSpPr>
        <p:spPr>
          <a:xfrm>
            <a:off x="7004304" y="2103120"/>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Composite of corrected daily NTL</a:t>
            </a:r>
            <a:endParaRPr lang="en-US" sz="850" dirty="0"/>
          </a:p>
        </p:txBody>
      </p:sp>
      <p:sp>
        <p:nvSpPr>
          <p:cNvPr id="52" name="Shape 49"/>
          <p:cNvSpPr/>
          <p:nvPr/>
        </p:nvSpPr>
        <p:spPr>
          <a:xfrm>
            <a:off x="6949440" y="2633472"/>
            <a:ext cx="1645920" cy="457200"/>
          </a:xfrm>
          <a:prstGeom prst="roundRect">
            <a:avLst>
              <a:gd name="adj" fmla="val 10000"/>
            </a:avLst>
          </a:prstGeom>
          <a:solidFill>
            <a:srgbClr val="F4F7F5"/>
          </a:solidFill>
          <a:ln w="9525">
            <a:solidFill>
              <a:srgbClr val="D5DED9"/>
            </a:solidFill>
            <a:prstDash val="solid"/>
          </a:ln>
        </p:spPr>
      </p:sp>
      <p:sp>
        <p:nvSpPr>
          <p:cNvPr id="53" name="Text 50"/>
          <p:cNvSpPr txBox="1"/>
          <p:nvPr/>
        </p:nvSpPr>
        <p:spPr>
          <a:xfrm>
            <a:off x="7004304" y="2633472"/>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As A2 + number of observations and quality</a:t>
            </a:r>
            <a:endParaRPr lang="en-US" sz="850" dirty="0"/>
          </a:p>
        </p:txBody>
      </p:sp>
      <p:sp>
        <p:nvSpPr>
          <p:cNvPr id="54" name="Shape 51"/>
          <p:cNvSpPr/>
          <p:nvPr/>
        </p:nvSpPr>
        <p:spPr>
          <a:xfrm>
            <a:off x="6949440" y="3163824"/>
            <a:ext cx="1645920" cy="457200"/>
          </a:xfrm>
          <a:prstGeom prst="roundRect">
            <a:avLst>
              <a:gd name="adj" fmla="val 10000"/>
            </a:avLst>
          </a:prstGeom>
          <a:solidFill>
            <a:srgbClr val="F4F7F5"/>
          </a:solidFill>
          <a:ln w="9525">
            <a:solidFill>
              <a:srgbClr val="D5DED9"/>
            </a:solidFill>
            <a:prstDash val="solid"/>
          </a:ln>
        </p:spPr>
      </p:sp>
      <p:sp>
        <p:nvSpPr>
          <p:cNvPr id="55" name="Text 52"/>
          <p:cNvSpPr txBox="1"/>
          <p:nvPr/>
        </p:nvSpPr>
        <p:spPr>
          <a:xfrm>
            <a:off x="7004304" y="3163824"/>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Long-term trends, subnational panels</a:t>
            </a:r>
            <a:endParaRPr lang="en-US" sz="850" dirty="0"/>
          </a:p>
        </p:txBody>
      </p:sp>
      <p:sp>
        <p:nvSpPr>
          <p:cNvPr id="56" name="Shape 53"/>
          <p:cNvSpPr/>
          <p:nvPr/>
        </p:nvSpPr>
        <p:spPr>
          <a:xfrm>
            <a:off x="457200" y="3749040"/>
            <a:ext cx="8229600" cy="804672"/>
          </a:xfrm>
          <a:prstGeom prst="roundRect">
            <a:avLst>
              <a:gd name="adj" fmla="val 9091"/>
            </a:avLst>
          </a:prstGeom>
          <a:solidFill>
            <a:srgbClr val="F4F7F5"/>
          </a:solidFill>
          <a:ln w="9525">
            <a:solidFill>
              <a:srgbClr val="D5DED9"/>
            </a:solidFill>
            <a:prstDash val="solid"/>
          </a:ln>
        </p:spPr>
      </p:sp>
      <p:sp>
        <p:nvSpPr>
          <p:cNvPr id="57" name="Shape 54"/>
          <p:cNvSpPr/>
          <p:nvPr/>
        </p:nvSpPr>
        <p:spPr>
          <a:xfrm>
            <a:off x="566928" y="3931920"/>
            <a:ext cx="402336" cy="402336"/>
          </a:xfrm>
          <a:prstGeom prst="ellipse">
            <a:avLst/>
          </a:prstGeom>
          <a:solidFill>
            <a:srgbClr val="0E7C86">
              <a:alpha val="22000"/>
            </a:srgbClr>
          </a:solidFill>
          <a:ln w="12700">
            <a:solidFill>
              <a:srgbClr val="0E7C86">
                <a:alpha val="0"/>
              </a:srgbClr>
            </a:solidFill>
            <a:prstDash val="solid"/>
          </a:ln>
        </p:spPr>
      </p:sp>
      <p:pic>
        <p:nvPicPr>
          <p:cNvPr id="58" name="Image 0" descr="preencoded.png"/>
          <p:cNvPicPr>
            <a:picLocks noChangeAspect="1"/>
          </p:cNvPicPr>
          <p:nvPr/>
        </p:nvPicPr>
        <p:blipFill>
          <a:blip r:embed="rId3"/>
          <a:stretch>
            <a:fillRect/>
          </a:stretch>
        </p:blipFill>
        <p:spPr>
          <a:xfrm>
            <a:off x="671535" y="4036527"/>
            <a:ext cx="193121" cy="193121"/>
          </a:xfrm>
          <a:prstGeom prst="rect">
            <a:avLst/>
          </a:prstGeom>
        </p:spPr>
      </p:pic>
      <p:sp>
        <p:nvSpPr>
          <p:cNvPr id="59" name="Text 55"/>
          <p:cNvSpPr txBox="1"/>
          <p:nvPr/>
        </p:nvSpPr>
        <p:spPr>
          <a:xfrm>
            <a:off x="1097280" y="3776472"/>
            <a:ext cx="7498080" cy="749808"/>
          </a:xfrm>
          <a:prstGeom prst="rect">
            <a:avLst/>
          </a:prstGeom>
          <a:noFill/>
          <a:ln/>
        </p:spPr>
        <p:txBody>
          <a:bodyPr wrap="square" lIns="0" tIns="0" rIns="0" bIns="0" rtlCol="0" anchor="ctr"/>
          <a:lstStyle/>
          <a:p>
            <a:pPr marL="0" indent="0">
              <a:buNone/>
            </a:pPr>
            <a:r>
              <a:rPr lang="en-US" sz="950" b="1" dirty="0">
                <a:solidFill>
                  <a:srgbClr val="0E7C86"/>
                </a:solidFill>
                <a:latin typeface="Calibri" pitchFamily="34" charset="0"/>
                <a:ea typeface="Calibri" pitchFamily="34" charset="-122"/>
                <a:cs typeface="Calibri" pitchFamily="34" charset="-120"/>
              </a:rPr>
              <a:t>Common to all:  </a:t>
            </a:r>
            <a:r>
              <a:rPr lang="en-US" sz="950" dirty="0">
                <a:solidFill>
                  <a:srgbClr val="231F20"/>
                </a:solidFill>
                <a:latin typeface="Calibri" pitchFamily="34" charset="0"/>
                <a:ea typeface="Calibri" pitchFamily="34" charset="-122"/>
                <a:cs typeface="Calibri" pitchFamily="34" charset="-120"/>
              </a:rPr>
              <a:t>15 arc-second grid (≈ 500 m at the equator) · 10°×10° tiles · HDF-EOS5 · since January 2012 · NOAA-20 twins named VJ146*.</a:t>
            </a:r>
            <a:endParaRPr lang="en-US" sz="950" dirty="0"/>
          </a:p>
          <a:p>
            <a:pPr marL="0" indent="0">
              <a:buNone/>
            </a:pPr>
            <a:r>
              <a:rPr lang="en-US" sz="950" b="1" dirty="0">
                <a:solidFill>
                  <a:srgbClr val="B83B2E"/>
                </a:solidFill>
                <a:latin typeface="Calibri" pitchFamily="34" charset="0"/>
                <a:ea typeface="Calibri" pitchFamily="34" charset="-122"/>
                <a:cs typeface="Calibri" pitchFamily="34" charset="-120"/>
              </a:rPr>
              <a:t>Trap:  </a:t>
            </a:r>
            <a:r>
              <a:rPr lang="en-US" sz="950" dirty="0">
                <a:solidFill>
                  <a:srgbClr val="231F20"/>
                </a:solidFill>
                <a:latin typeface="Calibri" pitchFamily="34" charset="0"/>
                <a:ea typeface="Calibri" pitchFamily="34" charset="-122"/>
                <a:cs typeface="Calibri" pitchFamily="34" charset="-120"/>
              </a:rPr>
              <a:t>radiance stored as integers — multiply by the 0.1 factor and mask the value 65535.  </a:t>
            </a:r>
            <a:r>
              <a:rPr lang="en-US" sz="950" b="1" dirty="0">
                <a:solidFill>
                  <a:srgbClr val="0E7C86"/>
                </a:solidFill>
                <a:latin typeface="Calibri" pitchFamily="34" charset="0"/>
                <a:ea typeface="Calibri" pitchFamily="34" charset="-122"/>
                <a:cs typeface="Calibri" pitchFamily="34" charset="-120"/>
              </a:rPr>
              <a:t>Alternatives:  </a:t>
            </a:r>
            <a:r>
              <a:rPr lang="en-US" sz="950" dirty="0">
                <a:solidFill>
                  <a:srgbClr val="231F20"/>
                </a:solidFill>
                <a:latin typeface="Calibri" pitchFamily="34" charset="0"/>
                <a:ea typeface="Calibri" pitchFamily="34" charset="-122"/>
                <a:cs typeface="Calibri" pitchFamily="34" charset="-120"/>
              </a:rPr>
              <a:t>EOG VNL composites; Google Earth Engine catalogue.</a:t>
            </a:r>
            <a:endParaRPr lang="en-US" sz="95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FROM PHOTONS TO DATA · INTERPRETATION</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What really shines over Africa at night</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0E7C86"/>
          </a:solidFill>
          <a:ln w="12700">
            <a:solidFill>
              <a:srgbClr val="0E7C86"/>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16</a:t>
            </a:r>
            <a:endParaRPr lang="en-US" sz="850" dirty="0"/>
          </a:p>
        </p:txBody>
      </p:sp>
      <p:sp>
        <p:nvSpPr>
          <p:cNvPr id="17" name="Shape 14"/>
          <p:cNvSpPr/>
          <p:nvPr/>
        </p:nvSpPr>
        <p:spPr>
          <a:xfrm>
            <a:off x="457200" y="1325880"/>
            <a:ext cx="2651760" cy="1280160"/>
          </a:xfrm>
          <a:prstGeom prst="roundRect">
            <a:avLst>
              <a:gd name="adj" fmla="val 5714"/>
            </a:avLst>
          </a:prstGeom>
          <a:solidFill>
            <a:srgbClr val="E8F5EF"/>
          </a:solidFill>
          <a:ln w="15875">
            <a:solidFill>
              <a:srgbClr val="00A86A"/>
            </a:solidFill>
            <a:prstDash val="solid"/>
          </a:ln>
        </p:spPr>
      </p:sp>
      <p:sp>
        <p:nvSpPr>
          <p:cNvPr id="18" name="Shape 15"/>
          <p:cNvSpPr/>
          <p:nvPr/>
        </p:nvSpPr>
        <p:spPr>
          <a:xfrm>
            <a:off x="566928" y="1435608"/>
            <a:ext cx="438912" cy="438912"/>
          </a:xfrm>
          <a:prstGeom prst="ellipse">
            <a:avLst/>
          </a:prstGeom>
          <a:solidFill>
            <a:srgbClr val="00A86A">
              <a:alpha val="22000"/>
            </a:srgbClr>
          </a:solidFill>
          <a:ln w="12700">
            <a:solidFill>
              <a:srgbClr val="00A86A">
                <a:alpha val="0"/>
              </a:srgbClr>
            </a:solidFill>
            <a:prstDash val="solid"/>
          </a:ln>
        </p:spPr>
      </p:sp>
      <p:pic>
        <p:nvPicPr>
          <p:cNvPr id="19" name="Image 0" descr="preencoded.png"/>
          <p:cNvPicPr>
            <a:picLocks noChangeAspect="1"/>
          </p:cNvPicPr>
          <p:nvPr/>
        </p:nvPicPr>
        <p:blipFill>
          <a:blip r:embed="rId3"/>
          <a:stretch>
            <a:fillRect/>
          </a:stretch>
        </p:blipFill>
        <p:spPr>
          <a:xfrm>
            <a:off x="681045" y="1549725"/>
            <a:ext cx="210678" cy="210678"/>
          </a:xfrm>
          <a:prstGeom prst="rect">
            <a:avLst/>
          </a:prstGeom>
        </p:spPr>
      </p:pic>
      <p:sp>
        <p:nvSpPr>
          <p:cNvPr id="20" name="Text 16"/>
          <p:cNvSpPr txBox="1"/>
          <p:nvPr/>
        </p:nvSpPr>
        <p:spPr>
          <a:xfrm>
            <a:off x="1097280" y="1435608"/>
            <a:ext cx="1188720" cy="47548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Cities and towns</a:t>
            </a:r>
            <a:endParaRPr lang="en-US" sz="1100" dirty="0"/>
          </a:p>
        </p:txBody>
      </p:sp>
      <p:sp>
        <p:nvSpPr>
          <p:cNvPr id="21" name="Shape 17"/>
          <p:cNvSpPr/>
          <p:nvPr/>
        </p:nvSpPr>
        <p:spPr>
          <a:xfrm>
            <a:off x="2340864" y="1563624"/>
            <a:ext cx="676656" cy="219456"/>
          </a:xfrm>
          <a:prstGeom prst="roundRect">
            <a:avLst>
              <a:gd name="adj" fmla="val 50000"/>
            </a:avLst>
          </a:prstGeom>
          <a:solidFill>
            <a:srgbClr val="00A86A">
              <a:alpha val="15000"/>
            </a:srgbClr>
          </a:solidFill>
          <a:ln w="9525">
            <a:solidFill>
              <a:srgbClr val="00A86A"/>
            </a:solidFill>
            <a:prstDash val="solid"/>
          </a:ln>
        </p:spPr>
      </p:sp>
      <p:sp>
        <p:nvSpPr>
          <p:cNvPr id="22" name="Text 18"/>
          <p:cNvSpPr txBox="1"/>
          <p:nvPr/>
        </p:nvSpPr>
        <p:spPr>
          <a:xfrm>
            <a:off x="2340864" y="1563624"/>
            <a:ext cx="676656" cy="219456"/>
          </a:xfrm>
          <a:prstGeom prst="rect">
            <a:avLst/>
          </a:prstGeom>
          <a:noFill/>
          <a:ln/>
        </p:spPr>
        <p:txBody>
          <a:bodyPr wrap="square" lIns="0" tIns="0" rIns="0" bIns="0" rtlCol="0" anchor="ctr"/>
          <a:lstStyle/>
          <a:p>
            <a:pPr marL="0" indent="0" algn="ctr">
              <a:buNone/>
            </a:pPr>
            <a:r>
              <a:rPr lang="en-US" sz="750" b="1" dirty="0">
                <a:solidFill>
                  <a:srgbClr val="00A86A"/>
                </a:solidFill>
                <a:latin typeface="Calibri" pitchFamily="34" charset="0"/>
                <a:ea typeface="Calibri" pitchFamily="34" charset="-122"/>
                <a:cs typeface="Calibri" pitchFamily="34" charset="-120"/>
              </a:rPr>
              <a:t>SIGNAL</a:t>
            </a:r>
            <a:endParaRPr lang="en-US" sz="750" dirty="0"/>
          </a:p>
        </p:txBody>
      </p:sp>
      <p:sp>
        <p:nvSpPr>
          <p:cNvPr id="23" name="Text 19"/>
          <p:cNvSpPr txBox="1"/>
          <p:nvPr/>
        </p:nvSpPr>
        <p:spPr>
          <a:xfrm>
            <a:off x="585216" y="1965960"/>
            <a:ext cx="2395728" cy="60350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Streets, buildings, markets, vehicles. The dominant and most studied component of the signal.</a:t>
            </a:r>
            <a:endParaRPr lang="en-US" sz="900" dirty="0"/>
          </a:p>
        </p:txBody>
      </p:sp>
      <p:sp>
        <p:nvSpPr>
          <p:cNvPr id="24" name="Shape 20"/>
          <p:cNvSpPr/>
          <p:nvPr/>
        </p:nvSpPr>
        <p:spPr>
          <a:xfrm>
            <a:off x="3246120" y="1325880"/>
            <a:ext cx="2651760" cy="1280160"/>
          </a:xfrm>
          <a:prstGeom prst="roundRect">
            <a:avLst>
              <a:gd name="adj" fmla="val 5714"/>
            </a:avLst>
          </a:prstGeom>
          <a:solidFill>
            <a:srgbClr val="E8F5EF"/>
          </a:solidFill>
          <a:ln w="15875">
            <a:solidFill>
              <a:srgbClr val="00A86A"/>
            </a:solidFill>
            <a:prstDash val="solid"/>
          </a:ln>
        </p:spPr>
      </p:sp>
      <p:sp>
        <p:nvSpPr>
          <p:cNvPr id="25" name="Shape 21"/>
          <p:cNvSpPr/>
          <p:nvPr/>
        </p:nvSpPr>
        <p:spPr>
          <a:xfrm>
            <a:off x="3355848" y="1435608"/>
            <a:ext cx="438912" cy="438912"/>
          </a:xfrm>
          <a:prstGeom prst="ellipse">
            <a:avLst/>
          </a:prstGeom>
          <a:solidFill>
            <a:srgbClr val="00A86A">
              <a:alpha val="22000"/>
            </a:srgbClr>
          </a:solidFill>
          <a:ln w="12700">
            <a:solidFill>
              <a:srgbClr val="00A86A">
                <a:alpha val="0"/>
              </a:srgbClr>
            </a:solidFill>
            <a:prstDash val="solid"/>
          </a:ln>
        </p:spPr>
      </p:sp>
      <p:pic>
        <p:nvPicPr>
          <p:cNvPr id="26" name="Image 1" descr="preencoded.png"/>
          <p:cNvPicPr>
            <a:picLocks noChangeAspect="1"/>
          </p:cNvPicPr>
          <p:nvPr/>
        </p:nvPicPr>
        <p:blipFill>
          <a:blip r:embed="rId4"/>
          <a:stretch>
            <a:fillRect/>
          </a:stretch>
        </p:blipFill>
        <p:spPr>
          <a:xfrm>
            <a:off x="3469965" y="1549725"/>
            <a:ext cx="210678" cy="210678"/>
          </a:xfrm>
          <a:prstGeom prst="rect">
            <a:avLst/>
          </a:prstGeom>
        </p:spPr>
      </p:pic>
      <p:sp>
        <p:nvSpPr>
          <p:cNvPr id="27" name="Text 22"/>
          <p:cNvSpPr txBox="1"/>
          <p:nvPr/>
        </p:nvSpPr>
        <p:spPr>
          <a:xfrm>
            <a:off x="3886200" y="1435608"/>
            <a:ext cx="1188720" cy="47548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Corridors, ports and mines</a:t>
            </a:r>
            <a:endParaRPr lang="en-US" sz="1100" dirty="0"/>
          </a:p>
        </p:txBody>
      </p:sp>
      <p:sp>
        <p:nvSpPr>
          <p:cNvPr id="28" name="Shape 23"/>
          <p:cNvSpPr/>
          <p:nvPr/>
        </p:nvSpPr>
        <p:spPr>
          <a:xfrm>
            <a:off x="5129784" y="1563624"/>
            <a:ext cx="676656" cy="219456"/>
          </a:xfrm>
          <a:prstGeom prst="roundRect">
            <a:avLst>
              <a:gd name="adj" fmla="val 50000"/>
            </a:avLst>
          </a:prstGeom>
          <a:solidFill>
            <a:srgbClr val="00A86A">
              <a:alpha val="15000"/>
            </a:srgbClr>
          </a:solidFill>
          <a:ln w="9525">
            <a:solidFill>
              <a:srgbClr val="00A86A"/>
            </a:solidFill>
            <a:prstDash val="solid"/>
          </a:ln>
        </p:spPr>
      </p:sp>
      <p:sp>
        <p:nvSpPr>
          <p:cNvPr id="29" name="Text 24"/>
          <p:cNvSpPr txBox="1"/>
          <p:nvPr/>
        </p:nvSpPr>
        <p:spPr>
          <a:xfrm>
            <a:off x="5129784" y="1563624"/>
            <a:ext cx="676656" cy="219456"/>
          </a:xfrm>
          <a:prstGeom prst="rect">
            <a:avLst/>
          </a:prstGeom>
          <a:noFill/>
          <a:ln/>
        </p:spPr>
        <p:txBody>
          <a:bodyPr wrap="square" lIns="0" tIns="0" rIns="0" bIns="0" rtlCol="0" anchor="ctr"/>
          <a:lstStyle/>
          <a:p>
            <a:pPr marL="0" indent="0" algn="ctr">
              <a:buNone/>
            </a:pPr>
            <a:r>
              <a:rPr lang="en-US" sz="750" b="1" dirty="0">
                <a:solidFill>
                  <a:srgbClr val="00A86A"/>
                </a:solidFill>
                <a:latin typeface="Calibri" pitchFamily="34" charset="0"/>
                <a:ea typeface="Calibri" pitchFamily="34" charset="-122"/>
                <a:cs typeface="Calibri" pitchFamily="34" charset="-120"/>
              </a:rPr>
              <a:t>SIGNAL</a:t>
            </a:r>
            <a:endParaRPr lang="en-US" sz="750" dirty="0"/>
          </a:p>
        </p:txBody>
      </p:sp>
      <p:sp>
        <p:nvSpPr>
          <p:cNvPr id="30" name="Text 25"/>
          <p:cNvSpPr txBox="1"/>
          <p:nvPr/>
        </p:nvSpPr>
        <p:spPr>
          <a:xfrm>
            <a:off x="3374136" y="1965960"/>
            <a:ext cx="2395728" cy="60350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Roads, ports, airports, mining and industrial sites: the network between the bright spots.</a:t>
            </a:r>
            <a:endParaRPr lang="en-US" sz="900" dirty="0"/>
          </a:p>
        </p:txBody>
      </p:sp>
      <p:sp>
        <p:nvSpPr>
          <p:cNvPr id="31" name="Shape 26"/>
          <p:cNvSpPr/>
          <p:nvPr/>
        </p:nvSpPr>
        <p:spPr>
          <a:xfrm>
            <a:off x="6035040" y="1325880"/>
            <a:ext cx="2651760" cy="1280160"/>
          </a:xfrm>
          <a:prstGeom prst="roundRect">
            <a:avLst>
              <a:gd name="adj" fmla="val 5714"/>
            </a:avLst>
          </a:prstGeom>
          <a:solidFill>
            <a:srgbClr val="F4F7F5"/>
          </a:solidFill>
          <a:ln w="9525">
            <a:solidFill>
              <a:srgbClr val="D5DED9"/>
            </a:solidFill>
            <a:prstDash val="solid"/>
          </a:ln>
        </p:spPr>
      </p:sp>
      <p:sp>
        <p:nvSpPr>
          <p:cNvPr id="32" name="Shape 27"/>
          <p:cNvSpPr/>
          <p:nvPr/>
        </p:nvSpPr>
        <p:spPr>
          <a:xfrm>
            <a:off x="6144768" y="1435608"/>
            <a:ext cx="438912" cy="438912"/>
          </a:xfrm>
          <a:prstGeom prst="ellipse">
            <a:avLst/>
          </a:prstGeom>
          <a:solidFill>
            <a:srgbClr val="B83B2E">
              <a:alpha val="22000"/>
            </a:srgbClr>
          </a:solidFill>
          <a:ln w="12700">
            <a:solidFill>
              <a:srgbClr val="B83B2E">
                <a:alpha val="0"/>
              </a:srgbClr>
            </a:solidFill>
            <a:prstDash val="solid"/>
          </a:ln>
        </p:spPr>
      </p:sp>
      <p:pic>
        <p:nvPicPr>
          <p:cNvPr id="33" name="Image 2" descr="preencoded.png"/>
          <p:cNvPicPr>
            <a:picLocks noChangeAspect="1"/>
          </p:cNvPicPr>
          <p:nvPr/>
        </p:nvPicPr>
        <p:blipFill>
          <a:blip r:embed="rId5"/>
          <a:stretch>
            <a:fillRect/>
          </a:stretch>
        </p:blipFill>
        <p:spPr>
          <a:xfrm>
            <a:off x="6258885" y="1549725"/>
            <a:ext cx="210678" cy="210678"/>
          </a:xfrm>
          <a:prstGeom prst="rect">
            <a:avLst/>
          </a:prstGeom>
        </p:spPr>
      </p:pic>
      <p:sp>
        <p:nvSpPr>
          <p:cNvPr id="34" name="Text 28"/>
          <p:cNvSpPr txBox="1"/>
          <p:nvPr/>
        </p:nvSpPr>
        <p:spPr>
          <a:xfrm>
            <a:off x="6675120" y="1435608"/>
            <a:ext cx="1188720" cy="47548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Gas flares</a:t>
            </a:r>
            <a:endParaRPr lang="en-US" sz="1100" dirty="0"/>
          </a:p>
        </p:txBody>
      </p:sp>
      <p:sp>
        <p:nvSpPr>
          <p:cNvPr id="35" name="Shape 29"/>
          <p:cNvSpPr/>
          <p:nvPr/>
        </p:nvSpPr>
        <p:spPr>
          <a:xfrm>
            <a:off x="7918704" y="1563624"/>
            <a:ext cx="676656" cy="219456"/>
          </a:xfrm>
          <a:prstGeom prst="roundRect">
            <a:avLst>
              <a:gd name="adj" fmla="val 50000"/>
            </a:avLst>
          </a:prstGeom>
          <a:solidFill>
            <a:srgbClr val="B83B2E">
              <a:alpha val="15000"/>
            </a:srgbClr>
          </a:solidFill>
          <a:ln w="9525">
            <a:solidFill>
              <a:srgbClr val="B83B2E"/>
            </a:solidFill>
            <a:prstDash val="solid"/>
          </a:ln>
        </p:spPr>
      </p:sp>
      <p:sp>
        <p:nvSpPr>
          <p:cNvPr id="36" name="Text 30"/>
          <p:cNvSpPr txBox="1"/>
          <p:nvPr/>
        </p:nvSpPr>
        <p:spPr>
          <a:xfrm>
            <a:off x="7918704" y="1563624"/>
            <a:ext cx="676656" cy="219456"/>
          </a:xfrm>
          <a:prstGeom prst="rect">
            <a:avLst/>
          </a:prstGeom>
          <a:noFill/>
          <a:ln/>
        </p:spPr>
        <p:txBody>
          <a:bodyPr wrap="square" lIns="0" tIns="0" rIns="0" bIns="0" rtlCol="0" anchor="ctr"/>
          <a:lstStyle/>
          <a:p>
            <a:pPr marL="0" indent="0" algn="ctr">
              <a:buNone/>
            </a:pPr>
            <a:r>
              <a:rPr lang="en-US" sz="750" b="1" dirty="0">
                <a:solidFill>
                  <a:srgbClr val="B83B2E"/>
                </a:solidFill>
                <a:latin typeface="Calibri" pitchFamily="34" charset="0"/>
                <a:ea typeface="Calibri" pitchFamily="34" charset="-122"/>
                <a:cs typeface="Calibri" pitchFamily="34" charset="-120"/>
              </a:rPr>
              <a:t>MASK</a:t>
            </a:r>
            <a:endParaRPr lang="en-US" sz="750" dirty="0"/>
          </a:p>
        </p:txBody>
      </p:sp>
      <p:sp>
        <p:nvSpPr>
          <p:cNvPr id="37" name="Text 31"/>
          <p:cNvSpPr txBox="1"/>
          <p:nvPr/>
        </p:nvSpPr>
        <p:spPr>
          <a:xfrm>
            <a:off x="6163056" y="1965960"/>
            <a:ext cx="2395728" cy="60350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Very bright isolated points in oil and gas areas — Niger Delta, Algeria, Libya. To be masked.</a:t>
            </a:r>
            <a:endParaRPr lang="en-US" sz="900" dirty="0"/>
          </a:p>
        </p:txBody>
      </p:sp>
      <p:sp>
        <p:nvSpPr>
          <p:cNvPr id="38" name="Shape 32"/>
          <p:cNvSpPr/>
          <p:nvPr/>
        </p:nvSpPr>
        <p:spPr>
          <a:xfrm>
            <a:off x="457200" y="2743200"/>
            <a:ext cx="2651760" cy="1280160"/>
          </a:xfrm>
          <a:prstGeom prst="roundRect">
            <a:avLst>
              <a:gd name="adj" fmla="val 5714"/>
            </a:avLst>
          </a:prstGeom>
          <a:solidFill>
            <a:srgbClr val="F4F7F5"/>
          </a:solidFill>
          <a:ln w="9525">
            <a:solidFill>
              <a:srgbClr val="D5DED9"/>
            </a:solidFill>
            <a:prstDash val="solid"/>
          </a:ln>
        </p:spPr>
      </p:sp>
      <p:sp>
        <p:nvSpPr>
          <p:cNvPr id="39" name="Shape 33"/>
          <p:cNvSpPr/>
          <p:nvPr/>
        </p:nvSpPr>
        <p:spPr>
          <a:xfrm>
            <a:off x="566928" y="2852928"/>
            <a:ext cx="438912" cy="438912"/>
          </a:xfrm>
          <a:prstGeom prst="ellipse">
            <a:avLst/>
          </a:prstGeom>
          <a:solidFill>
            <a:srgbClr val="D49A00">
              <a:alpha val="22000"/>
            </a:srgbClr>
          </a:solidFill>
          <a:ln w="12700">
            <a:solidFill>
              <a:srgbClr val="D49A00">
                <a:alpha val="0"/>
              </a:srgbClr>
            </a:solidFill>
            <a:prstDash val="solid"/>
          </a:ln>
        </p:spPr>
      </p:sp>
      <p:pic>
        <p:nvPicPr>
          <p:cNvPr id="40" name="Image 3" descr="preencoded.png"/>
          <p:cNvPicPr>
            <a:picLocks noChangeAspect="1"/>
          </p:cNvPicPr>
          <p:nvPr/>
        </p:nvPicPr>
        <p:blipFill>
          <a:blip r:embed="rId6"/>
          <a:stretch>
            <a:fillRect/>
          </a:stretch>
        </p:blipFill>
        <p:spPr>
          <a:xfrm>
            <a:off x="681045" y="2967045"/>
            <a:ext cx="210678" cy="210678"/>
          </a:xfrm>
          <a:prstGeom prst="rect">
            <a:avLst/>
          </a:prstGeom>
        </p:spPr>
      </p:pic>
      <p:sp>
        <p:nvSpPr>
          <p:cNvPr id="41" name="Text 34"/>
          <p:cNvSpPr txBox="1"/>
          <p:nvPr/>
        </p:nvSpPr>
        <p:spPr>
          <a:xfrm>
            <a:off x="1097280" y="2852928"/>
            <a:ext cx="1188720" cy="47548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Light-attraction fishing</a:t>
            </a:r>
            <a:endParaRPr lang="en-US" sz="1100" dirty="0"/>
          </a:p>
        </p:txBody>
      </p:sp>
      <p:sp>
        <p:nvSpPr>
          <p:cNvPr id="42" name="Shape 35"/>
          <p:cNvSpPr/>
          <p:nvPr/>
        </p:nvSpPr>
        <p:spPr>
          <a:xfrm>
            <a:off x="2340864" y="2980944"/>
            <a:ext cx="676656" cy="219456"/>
          </a:xfrm>
          <a:prstGeom prst="roundRect">
            <a:avLst>
              <a:gd name="adj" fmla="val 50000"/>
            </a:avLst>
          </a:prstGeom>
          <a:solidFill>
            <a:srgbClr val="D49A00">
              <a:alpha val="15000"/>
            </a:srgbClr>
          </a:solidFill>
          <a:ln w="9525">
            <a:solidFill>
              <a:srgbClr val="D49A00"/>
            </a:solidFill>
            <a:prstDash val="solid"/>
          </a:ln>
        </p:spPr>
      </p:sp>
      <p:sp>
        <p:nvSpPr>
          <p:cNvPr id="43" name="Text 36"/>
          <p:cNvSpPr txBox="1"/>
          <p:nvPr/>
        </p:nvSpPr>
        <p:spPr>
          <a:xfrm>
            <a:off x="2340864" y="2980944"/>
            <a:ext cx="676656" cy="219456"/>
          </a:xfrm>
          <a:prstGeom prst="rect">
            <a:avLst/>
          </a:prstGeom>
          <a:noFill/>
          <a:ln/>
        </p:spPr>
        <p:txBody>
          <a:bodyPr wrap="square" lIns="0" tIns="0" rIns="0" bIns="0" rtlCol="0" anchor="ctr"/>
          <a:lstStyle/>
          <a:p>
            <a:pPr marL="0" indent="0" algn="ctr">
              <a:buNone/>
            </a:pPr>
            <a:r>
              <a:rPr lang="en-US" sz="750" b="1" dirty="0">
                <a:solidFill>
                  <a:srgbClr val="D49A00"/>
                </a:solidFill>
                <a:latin typeface="Calibri" pitchFamily="34" charset="0"/>
                <a:ea typeface="Calibri" pitchFamily="34" charset="-122"/>
                <a:cs typeface="Calibri" pitchFamily="34" charset="-120"/>
              </a:rPr>
              <a:t>CONTEXT</a:t>
            </a:r>
            <a:endParaRPr lang="en-US" sz="750" dirty="0"/>
          </a:p>
        </p:txBody>
      </p:sp>
      <p:sp>
        <p:nvSpPr>
          <p:cNvPr id="44" name="Text 37"/>
          <p:cNvSpPr txBox="1"/>
          <p:nvPr/>
        </p:nvSpPr>
        <p:spPr>
          <a:xfrm>
            <a:off x="585216" y="3383280"/>
            <a:ext cx="2395728" cy="60350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Fishing with lights on Lakes Victoria and Tanganyika; fleets at sea.</a:t>
            </a:r>
            <a:endParaRPr lang="en-US" sz="900" dirty="0"/>
          </a:p>
        </p:txBody>
      </p:sp>
      <p:sp>
        <p:nvSpPr>
          <p:cNvPr id="45" name="Shape 38"/>
          <p:cNvSpPr/>
          <p:nvPr/>
        </p:nvSpPr>
        <p:spPr>
          <a:xfrm>
            <a:off x="3246120" y="2743200"/>
            <a:ext cx="2651760" cy="1280160"/>
          </a:xfrm>
          <a:prstGeom prst="roundRect">
            <a:avLst>
              <a:gd name="adj" fmla="val 5714"/>
            </a:avLst>
          </a:prstGeom>
          <a:solidFill>
            <a:srgbClr val="F4F7F5"/>
          </a:solidFill>
          <a:ln w="9525">
            <a:solidFill>
              <a:srgbClr val="D5DED9"/>
            </a:solidFill>
            <a:prstDash val="solid"/>
          </a:ln>
        </p:spPr>
      </p:sp>
      <p:sp>
        <p:nvSpPr>
          <p:cNvPr id="46" name="Shape 39"/>
          <p:cNvSpPr/>
          <p:nvPr/>
        </p:nvSpPr>
        <p:spPr>
          <a:xfrm>
            <a:off x="3355848" y="2852928"/>
            <a:ext cx="438912" cy="438912"/>
          </a:xfrm>
          <a:prstGeom prst="ellipse">
            <a:avLst/>
          </a:prstGeom>
          <a:solidFill>
            <a:srgbClr val="B83B2E">
              <a:alpha val="22000"/>
            </a:srgbClr>
          </a:solidFill>
          <a:ln w="12700">
            <a:solidFill>
              <a:srgbClr val="B83B2E">
                <a:alpha val="0"/>
              </a:srgbClr>
            </a:solidFill>
            <a:prstDash val="solid"/>
          </a:ln>
        </p:spPr>
      </p:sp>
      <p:pic>
        <p:nvPicPr>
          <p:cNvPr id="47" name="Image 4" descr="preencoded.png"/>
          <p:cNvPicPr>
            <a:picLocks noChangeAspect="1"/>
          </p:cNvPicPr>
          <p:nvPr/>
        </p:nvPicPr>
        <p:blipFill>
          <a:blip r:embed="rId7"/>
          <a:stretch>
            <a:fillRect/>
          </a:stretch>
        </p:blipFill>
        <p:spPr>
          <a:xfrm>
            <a:off x="3469965" y="2967045"/>
            <a:ext cx="210678" cy="210678"/>
          </a:xfrm>
          <a:prstGeom prst="rect">
            <a:avLst/>
          </a:prstGeom>
        </p:spPr>
      </p:pic>
      <p:sp>
        <p:nvSpPr>
          <p:cNvPr id="48" name="Text 40"/>
          <p:cNvSpPr txBox="1"/>
          <p:nvPr/>
        </p:nvSpPr>
        <p:spPr>
          <a:xfrm>
            <a:off x="3886200" y="2852928"/>
            <a:ext cx="1188720" cy="47548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Fires</a:t>
            </a:r>
            <a:endParaRPr lang="en-US" sz="1100" dirty="0"/>
          </a:p>
        </p:txBody>
      </p:sp>
      <p:sp>
        <p:nvSpPr>
          <p:cNvPr id="49" name="Shape 41"/>
          <p:cNvSpPr/>
          <p:nvPr/>
        </p:nvSpPr>
        <p:spPr>
          <a:xfrm>
            <a:off x="5129784" y="2980944"/>
            <a:ext cx="676656" cy="219456"/>
          </a:xfrm>
          <a:prstGeom prst="roundRect">
            <a:avLst>
              <a:gd name="adj" fmla="val 50000"/>
            </a:avLst>
          </a:prstGeom>
          <a:solidFill>
            <a:srgbClr val="B83B2E">
              <a:alpha val="15000"/>
            </a:srgbClr>
          </a:solidFill>
          <a:ln w="9525">
            <a:solidFill>
              <a:srgbClr val="B83B2E"/>
            </a:solidFill>
            <a:prstDash val="solid"/>
          </a:ln>
        </p:spPr>
      </p:sp>
      <p:sp>
        <p:nvSpPr>
          <p:cNvPr id="50" name="Text 42"/>
          <p:cNvSpPr txBox="1"/>
          <p:nvPr/>
        </p:nvSpPr>
        <p:spPr>
          <a:xfrm>
            <a:off x="5129784" y="2980944"/>
            <a:ext cx="676656" cy="219456"/>
          </a:xfrm>
          <a:prstGeom prst="rect">
            <a:avLst/>
          </a:prstGeom>
          <a:noFill/>
          <a:ln/>
        </p:spPr>
        <p:txBody>
          <a:bodyPr wrap="square" lIns="0" tIns="0" rIns="0" bIns="0" rtlCol="0" anchor="ctr"/>
          <a:lstStyle/>
          <a:p>
            <a:pPr marL="0" indent="0" algn="ctr">
              <a:buNone/>
            </a:pPr>
            <a:r>
              <a:rPr lang="en-US" sz="750" b="1" dirty="0">
                <a:solidFill>
                  <a:srgbClr val="B83B2E"/>
                </a:solidFill>
                <a:latin typeface="Calibri" pitchFamily="34" charset="0"/>
                <a:ea typeface="Calibri" pitchFamily="34" charset="-122"/>
                <a:cs typeface="Calibri" pitchFamily="34" charset="-120"/>
              </a:rPr>
              <a:t>MASK</a:t>
            </a:r>
            <a:endParaRPr lang="en-US" sz="750" dirty="0"/>
          </a:p>
        </p:txBody>
      </p:sp>
      <p:sp>
        <p:nvSpPr>
          <p:cNvPr id="51" name="Text 43"/>
          <p:cNvSpPr txBox="1"/>
          <p:nvPr/>
        </p:nvSpPr>
        <p:spPr>
          <a:xfrm>
            <a:off x="3374136" y="3383280"/>
            <a:ext cx="2395728" cy="60350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Bush fires and agricultural burning: intense, brief and highly seasonal.</a:t>
            </a:r>
            <a:endParaRPr lang="en-US" sz="900" dirty="0"/>
          </a:p>
        </p:txBody>
      </p:sp>
      <p:sp>
        <p:nvSpPr>
          <p:cNvPr id="52" name="Shape 44"/>
          <p:cNvSpPr/>
          <p:nvPr/>
        </p:nvSpPr>
        <p:spPr>
          <a:xfrm>
            <a:off x="6035040" y="2743200"/>
            <a:ext cx="2651760" cy="1280160"/>
          </a:xfrm>
          <a:prstGeom prst="roundRect">
            <a:avLst>
              <a:gd name="adj" fmla="val 5714"/>
            </a:avLst>
          </a:prstGeom>
          <a:solidFill>
            <a:srgbClr val="F4F7F5"/>
          </a:solidFill>
          <a:ln w="9525">
            <a:solidFill>
              <a:srgbClr val="D5DED9"/>
            </a:solidFill>
            <a:prstDash val="solid"/>
          </a:ln>
        </p:spPr>
      </p:sp>
      <p:sp>
        <p:nvSpPr>
          <p:cNvPr id="53" name="Shape 45"/>
          <p:cNvSpPr/>
          <p:nvPr/>
        </p:nvSpPr>
        <p:spPr>
          <a:xfrm>
            <a:off x="6144768" y="2852928"/>
            <a:ext cx="438912" cy="438912"/>
          </a:xfrm>
          <a:prstGeom prst="ellipse">
            <a:avLst/>
          </a:prstGeom>
          <a:solidFill>
            <a:srgbClr val="B83B2E">
              <a:alpha val="22000"/>
            </a:srgbClr>
          </a:solidFill>
          <a:ln w="12700">
            <a:solidFill>
              <a:srgbClr val="B83B2E">
                <a:alpha val="0"/>
              </a:srgbClr>
            </a:solidFill>
            <a:prstDash val="solid"/>
          </a:ln>
        </p:spPr>
      </p:sp>
      <p:pic>
        <p:nvPicPr>
          <p:cNvPr id="54" name="Image 5" descr="preencoded.png"/>
          <p:cNvPicPr>
            <a:picLocks noChangeAspect="1"/>
          </p:cNvPicPr>
          <p:nvPr/>
        </p:nvPicPr>
        <p:blipFill>
          <a:blip r:embed="rId8"/>
          <a:stretch>
            <a:fillRect/>
          </a:stretch>
        </p:blipFill>
        <p:spPr>
          <a:xfrm>
            <a:off x="6258885" y="2967045"/>
            <a:ext cx="210678" cy="210678"/>
          </a:xfrm>
          <a:prstGeom prst="rect">
            <a:avLst/>
          </a:prstGeom>
        </p:spPr>
      </p:pic>
      <p:sp>
        <p:nvSpPr>
          <p:cNvPr id="55" name="Text 46"/>
          <p:cNvSpPr txBox="1"/>
          <p:nvPr/>
        </p:nvSpPr>
        <p:spPr>
          <a:xfrm>
            <a:off x="6675120" y="2852928"/>
            <a:ext cx="1188720" cy="47548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Natural or reflected light</a:t>
            </a:r>
            <a:endParaRPr lang="en-US" sz="1100" dirty="0"/>
          </a:p>
        </p:txBody>
      </p:sp>
      <p:sp>
        <p:nvSpPr>
          <p:cNvPr id="56" name="Shape 47"/>
          <p:cNvSpPr/>
          <p:nvPr/>
        </p:nvSpPr>
        <p:spPr>
          <a:xfrm>
            <a:off x="7918704" y="2980944"/>
            <a:ext cx="676656" cy="219456"/>
          </a:xfrm>
          <a:prstGeom prst="roundRect">
            <a:avLst>
              <a:gd name="adj" fmla="val 50000"/>
            </a:avLst>
          </a:prstGeom>
          <a:solidFill>
            <a:srgbClr val="B83B2E">
              <a:alpha val="15000"/>
            </a:srgbClr>
          </a:solidFill>
          <a:ln w="9525">
            <a:solidFill>
              <a:srgbClr val="B83B2E"/>
            </a:solidFill>
            <a:prstDash val="solid"/>
          </a:ln>
        </p:spPr>
      </p:sp>
      <p:sp>
        <p:nvSpPr>
          <p:cNvPr id="57" name="Text 48"/>
          <p:cNvSpPr txBox="1"/>
          <p:nvPr/>
        </p:nvSpPr>
        <p:spPr>
          <a:xfrm>
            <a:off x="7918704" y="2980944"/>
            <a:ext cx="676656" cy="219456"/>
          </a:xfrm>
          <a:prstGeom prst="rect">
            <a:avLst/>
          </a:prstGeom>
          <a:noFill/>
          <a:ln/>
        </p:spPr>
        <p:txBody>
          <a:bodyPr wrap="square" lIns="0" tIns="0" rIns="0" bIns="0" rtlCol="0" anchor="ctr"/>
          <a:lstStyle/>
          <a:p>
            <a:pPr marL="0" indent="0" algn="ctr">
              <a:buNone/>
            </a:pPr>
            <a:r>
              <a:rPr lang="en-US" sz="750" b="1" dirty="0">
                <a:solidFill>
                  <a:srgbClr val="B83B2E"/>
                </a:solidFill>
                <a:latin typeface="Calibri" pitchFamily="34" charset="0"/>
                <a:ea typeface="Calibri" pitchFamily="34" charset="-122"/>
                <a:cs typeface="Calibri" pitchFamily="34" charset="-120"/>
              </a:rPr>
              <a:t>REMOVE</a:t>
            </a:r>
            <a:endParaRPr lang="en-US" sz="750" dirty="0"/>
          </a:p>
        </p:txBody>
      </p:sp>
      <p:sp>
        <p:nvSpPr>
          <p:cNvPr id="58" name="Text 49"/>
          <p:cNvSpPr txBox="1"/>
          <p:nvPr/>
        </p:nvSpPr>
        <p:spPr>
          <a:xfrm>
            <a:off x="6163056" y="3383280"/>
            <a:ext cx="2395728" cy="60350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Moonlight on bright sand or salt pans, airglow. No human signal.</a:t>
            </a:r>
            <a:endParaRPr lang="en-US" sz="900" dirty="0"/>
          </a:p>
        </p:txBody>
      </p:sp>
      <p:sp>
        <p:nvSpPr>
          <p:cNvPr id="59" name="Text 50"/>
          <p:cNvSpPr txBox="1"/>
          <p:nvPr/>
        </p:nvSpPr>
        <p:spPr>
          <a:xfrm>
            <a:off x="457200" y="4224528"/>
            <a:ext cx="73152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Gas flares are catalogued separately by the VIIRS Nightfire product (Earth Observation Group).</a:t>
            </a:r>
            <a:endParaRPr lang="en-US" sz="9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FROM PHOTONS TO DATA · INDICATORS · ANALYSE LAB</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Turning an image into a number</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0E7C86"/>
          </a:solidFill>
          <a:ln w="12700">
            <a:solidFill>
              <a:srgbClr val="0E7C86"/>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17</a:t>
            </a:r>
            <a:endParaRPr lang="en-US" sz="850" dirty="0"/>
          </a:p>
        </p:txBody>
      </p:sp>
      <p:sp>
        <p:nvSpPr>
          <p:cNvPr id="17" name="Text 14"/>
          <p:cNvSpPr txBox="1"/>
          <p:nvPr/>
        </p:nvSpPr>
        <p:spPr>
          <a:xfrm>
            <a:off x="457200" y="1298448"/>
            <a:ext cx="2560320" cy="228600"/>
          </a:xfrm>
          <a:prstGeom prst="rect">
            <a:avLst/>
          </a:prstGeom>
          <a:noFill/>
          <a:ln/>
        </p:spPr>
        <p:txBody>
          <a:bodyPr wrap="square" lIns="0" tIns="0" rIns="0" bIns="0" rtlCol="0" anchor="t"/>
          <a:lstStyle/>
          <a:p>
            <a:pPr marL="0" indent="0">
              <a:buNone/>
            </a:pPr>
            <a:r>
              <a:rPr lang="en-US" sz="1100" b="1" dirty="0">
                <a:solidFill>
                  <a:srgbClr val="00704A"/>
                </a:solidFill>
                <a:latin typeface="Calibri" pitchFamily="34" charset="0"/>
                <a:ea typeface="Calibri" pitchFamily="34" charset="-122"/>
                <a:cs typeface="Calibri" pitchFamily="34" charset="-120"/>
              </a:rPr>
              <a:t>Fictional district · radiance per pixel</a:t>
            </a:r>
            <a:endParaRPr lang="en-US" sz="1100" dirty="0"/>
          </a:p>
        </p:txBody>
      </p:sp>
      <p:sp>
        <p:nvSpPr>
          <p:cNvPr id="18" name="Shape 15"/>
          <p:cNvSpPr/>
          <p:nvPr/>
        </p:nvSpPr>
        <p:spPr>
          <a:xfrm>
            <a:off x="548640" y="1600200"/>
            <a:ext cx="566928" cy="566928"/>
          </a:xfrm>
          <a:prstGeom prst="rect">
            <a:avLst/>
          </a:prstGeom>
          <a:solidFill>
            <a:srgbClr val="F4F7F5"/>
          </a:solidFill>
          <a:ln w="19050">
            <a:solidFill>
              <a:srgbClr val="FFFFFF"/>
            </a:solidFill>
            <a:prstDash val="solid"/>
          </a:ln>
        </p:spPr>
      </p:sp>
      <p:sp>
        <p:nvSpPr>
          <p:cNvPr id="19" name="Text 16"/>
          <p:cNvSpPr txBox="1"/>
          <p:nvPr/>
        </p:nvSpPr>
        <p:spPr>
          <a:xfrm>
            <a:off x="548640" y="1600200"/>
            <a:ext cx="566928" cy="566928"/>
          </a:xfrm>
          <a:prstGeom prst="rect">
            <a:avLst/>
          </a:prstGeom>
          <a:noFill/>
          <a:ln/>
        </p:spPr>
        <p:txBody>
          <a:bodyPr wrap="square" lIns="0" tIns="0" rIns="0" bIns="0" rtlCol="0" anchor="ctr"/>
          <a:lstStyle/>
          <a:p>
            <a:pPr marL="0" indent="0" algn="ctr">
              <a:buNone/>
            </a:pPr>
            <a:r>
              <a:rPr lang="en-US" sz="1100" dirty="0">
                <a:solidFill>
                  <a:srgbClr val="231F20"/>
                </a:solidFill>
                <a:latin typeface="Calibri" pitchFamily="34" charset="0"/>
                <a:ea typeface="Calibri" pitchFamily="34" charset="-122"/>
                <a:cs typeface="Calibri" pitchFamily="34" charset="-120"/>
              </a:rPr>
              <a:t>0.1</a:t>
            </a:r>
            <a:endParaRPr lang="en-US" sz="1100" dirty="0"/>
          </a:p>
        </p:txBody>
      </p:sp>
      <p:sp>
        <p:nvSpPr>
          <p:cNvPr id="20" name="Shape 17"/>
          <p:cNvSpPr/>
          <p:nvPr/>
        </p:nvSpPr>
        <p:spPr>
          <a:xfrm>
            <a:off x="1115568" y="1600200"/>
            <a:ext cx="566928" cy="566928"/>
          </a:xfrm>
          <a:prstGeom prst="rect">
            <a:avLst/>
          </a:prstGeom>
          <a:solidFill>
            <a:srgbClr val="F4F7F5"/>
          </a:solidFill>
          <a:ln w="19050">
            <a:solidFill>
              <a:srgbClr val="FFFFFF"/>
            </a:solidFill>
            <a:prstDash val="solid"/>
          </a:ln>
        </p:spPr>
      </p:sp>
      <p:sp>
        <p:nvSpPr>
          <p:cNvPr id="21" name="Text 18"/>
          <p:cNvSpPr txBox="1"/>
          <p:nvPr/>
        </p:nvSpPr>
        <p:spPr>
          <a:xfrm>
            <a:off x="1115568" y="1600200"/>
            <a:ext cx="566928" cy="566928"/>
          </a:xfrm>
          <a:prstGeom prst="rect">
            <a:avLst/>
          </a:prstGeom>
          <a:noFill/>
          <a:ln/>
        </p:spPr>
        <p:txBody>
          <a:bodyPr wrap="square" lIns="0" tIns="0" rIns="0" bIns="0" rtlCol="0" anchor="ctr"/>
          <a:lstStyle/>
          <a:p>
            <a:pPr marL="0" indent="0" algn="ctr">
              <a:buNone/>
            </a:pPr>
            <a:r>
              <a:rPr lang="en-US" sz="1100" dirty="0">
                <a:solidFill>
                  <a:srgbClr val="231F20"/>
                </a:solidFill>
                <a:latin typeface="Calibri" pitchFamily="34" charset="0"/>
                <a:ea typeface="Calibri" pitchFamily="34" charset="-122"/>
                <a:cs typeface="Calibri" pitchFamily="34" charset="-120"/>
              </a:rPr>
              <a:t>0.3</a:t>
            </a:r>
            <a:endParaRPr lang="en-US" sz="1100" dirty="0"/>
          </a:p>
        </p:txBody>
      </p:sp>
      <p:sp>
        <p:nvSpPr>
          <p:cNvPr id="22" name="Shape 19"/>
          <p:cNvSpPr/>
          <p:nvPr/>
        </p:nvSpPr>
        <p:spPr>
          <a:xfrm>
            <a:off x="1682496" y="1600200"/>
            <a:ext cx="566928" cy="566928"/>
          </a:xfrm>
          <a:prstGeom prst="rect">
            <a:avLst/>
          </a:prstGeom>
          <a:solidFill>
            <a:srgbClr val="F4F7F5"/>
          </a:solidFill>
          <a:ln w="19050">
            <a:solidFill>
              <a:srgbClr val="FFFFFF"/>
            </a:solidFill>
            <a:prstDash val="solid"/>
          </a:ln>
        </p:spPr>
      </p:sp>
      <p:sp>
        <p:nvSpPr>
          <p:cNvPr id="23" name="Text 20"/>
          <p:cNvSpPr txBox="1"/>
          <p:nvPr/>
        </p:nvSpPr>
        <p:spPr>
          <a:xfrm>
            <a:off x="1682496" y="1600200"/>
            <a:ext cx="566928" cy="566928"/>
          </a:xfrm>
          <a:prstGeom prst="rect">
            <a:avLst/>
          </a:prstGeom>
          <a:noFill/>
          <a:ln/>
        </p:spPr>
        <p:txBody>
          <a:bodyPr wrap="square" lIns="0" tIns="0" rIns="0" bIns="0" rtlCol="0" anchor="ctr"/>
          <a:lstStyle/>
          <a:p>
            <a:pPr marL="0" indent="0" algn="ctr">
              <a:buNone/>
            </a:pPr>
            <a:r>
              <a:rPr lang="en-US" sz="1100" dirty="0">
                <a:solidFill>
                  <a:srgbClr val="231F20"/>
                </a:solidFill>
                <a:latin typeface="Calibri" pitchFamily="34" charset="0"/>
                <a:ea typeface="Calibri" pitchFamily="34" charset="-122"/>
                <a:cs typeface="Calibri" pitchFamily="34" charset="-120"/>
              </a:rPr>
              <a:t>0.2</a:t>
            </a:r>
            <a:endParaRPr lang="en-US" sz="1100" dirty="0"/>
          </a:p>
        </p:txBody>
      </p:sp>
      <p:sp>
        <p:nvSpPr>
          <p:cNvPr id="24" name="Shape 21"/>
          <p:cNvSpPr/>
          <p:nvPr/>
        </p:nvSpPr>
        <p:spPr>
          <a:xfrm>
            <a:off x="2249424" y="1600200"/>
            <a:ext cx="566928" cy="566928"/>
          </a:xfrm>
          <a:prstGeom prst="rect">
            <a:avLst/>
          </a:prstGeom>
          <a:solidFill>
            <a:srgbClr val="F4F7F5"/>
          </a:solidFill>
          <a:ln w="19050">
            <a:solidFill>
              <a:srgbClr val="FFFFFF"/>
            </a:solidFill>
            <a:prstDash val="solid"/>
          </a:ln>
        </p:spPr>
      </p:sp>
      <p:sp>
        <p:nvSpPr>
          <p:cNvPr id="25" name="Text 22"/>
          <p:cNvSpPr txBox="1"/>
          <p:nvPr/>
        </p:nvSpPr>
        <p:spPr>
          <a:xfrm>
            <a:off x="2249424" y="1600200"/>
            <a:ext cx="566928" cy="566928"/>
          </a:xfrm>
          <a:prstGeom prst="rect">
            <a:avLst/>
          </a:prstGeom>
          <a:noFill/>
          <a:ln/>
        </p:spPr>
        <p:txBody>
          <a:bodyPr wrap="square" lIns="0" tIns="0" rIns="0" bIns="0" rtlCol="0" anchor="ctr"/>
          <a:lstStyle/>
          <a:p>
            <a:pPr marL="0" indent="0" algn="ctr">
              <a:buNone/>
            </a:pPr>
            <a:r>
              <a:rPr lang="en-US" sz="1100" dirty="0">
                <a:solidFill>
                  <a:srgbClr val="231F20"/>
                </a:solidFill>
                <a:latin typeface="Calibri" pitchFamily="34" charset="0"/>
                <a:ea typeface="Calibri" pitchFamily="34" charset="-122"/>
                <a:cs typeface="Calibri" pitchFamily="34" charset="-120"/>
              </a:rPr>
              <a:t>0.0</a:t>
            </a:r>
            <a:endParaRPr lang="en-US" sz="1100" dirty="0"/>
          </a:p>
        </p:txBody>
      </p:sp>
      <p:sp>
        <p:nvSpPr>
          <p:cNvPr id="26" name="Shape 23"/>
          <p:cNvSpPr/>
          <p:nvPr/>
        </p:nvSpPr>
        <p:spPr>
          <a:xfrm>
            <a:off x="548640" y="2167128"/>
            <a:ext cx="566928" cy="566928"/>
          </a:xfrm>
          <a:prstGeom prst="rect">
            <a:avLst/>
          </a:prstGeom>
          <a:solidFill>
            <a:srgbClr val="F4F7F5"/>
          </a:solidFill>
          <a:ln w="19050">
            <a:solidFill>
              <a:srgbClr val="FFFFFF"/>
            </a:solidFill>
            <a:prstDash val="solid"/>
          </a:ln>
        </p:spPr>
      </p:sp>
      <p:sp>
        <p:nvSpPr>
          <p:cNvPr id="27" name="Text 24"/>
          <p:cNvSpPr txBox="1"/>
          <p:nvPr/>
        </p:nvSpPr>
        <p:spPr>
          <a:xfrm>
            <a:off x="548640" y="2167128"/>
            <a:ext cx="566928" cy="566928"/>
          </a:xfrm>
          <a:prstGeom prst="rect">
            <a:avLst/>
          </a:prstGeom>
          <a:noFill/>
          <a:ln/>
        </p:spPr>
        <p:txBody>
          <a:bodyPr wrap="square" lIns="0" tIns="0" rIns="0" bIns="0" rtlCol="0" anchor="ctr"/>
          <a:lstStyle/>
          <a:p>
            <a:pPr marL="0" indent="0" algn="ctr">
              <a:buNone/>
            </a:pPr>
            <a:r>
              <a:rPr lang="en-US" sz="1100" dirty="0">
                <a:solidFill>
                  <a:srgbClr val="231F20"/>
                </a:solidFill>
                <a:latin typeface="Calibri" pitchFamily="34" charset="0"/>
                <a:ea typeface="Calibri" pitchFamily="34" charset="-122"/>
                <a:cs typeface="Calibri" pitchFamily="34" charset="-120"/>
              </a:rPr>
              <a:t>0.4</a:t>
            </a:r>
            <a:endParaRPr lang="en-US" sz="1100" dirty="0"/>
          </a:p>
        </p:txBody>
      </p:sp>
      <p:sp>
        <p:nvSpPr>
          <p:cNvPr id="28" name="Shape 25"/>
          <p:cNvSpPr/>
          <p:nvPr/>
        </p:nvSpPr>
        <p:spPr>
          <a:xfrm>
            <a:off x="1115568" y="2167128"/>
            <a:ext cx="566928" cy="566928"/>
          </a:xfrm>
          <a:prstGeom prst="rect">
            <a:avLst/>
          </a:prstGeom>
          <a:solidFill>
            <a:srgbClr val="10A06A"/>
          </a:solidFill>
          <a:ln w="19050">
            <a:solidFill>
              <a:srgbClr val="FFFFFF"/>
            </a:solidFill>
            <a:prstDash val="solid"/>
          </a:ln>
        </p:spPr>
      </p:sp>
      <p:sp>
        <p:nvSpPr>
          <p:cNvPr id="29" name="Text 26"/>
          <p:cNvSpPr txBox="1"/>
          <p:nvPr/>
        </p:nvSpPr>
        <p:spPr>
          <a:xfrm>
            <a:off x="1115568" y="2167128"/>
            <a:ext cx="566928"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2.5</a:t>
            </a:r>
            <a:endParaRPr lang="en-US" sz="1100" dirty="0"/>
          </a:p>
        </p:txBody>
      </p:sp>
      <p:sp>
        <p:nvSpPr>
          <p:cNvPr id="30" name="Shape 27"/>
          <p:cNvSpPr/>
          <p:nvPr/>
        </p:nvSpPr>
        <p:spPr>
          <a:xfrm>
            <a:off x="1682496" y="2167128"/>
            <a:ext cx="566928" cy="566928"/>
          </a:xfrm>
          <a:prstGeom prst="rect">
            <a:avLst/>
          </a:prstGeom>
          <a:solidFill>
            <a:srgbClr val="00664A"/>
          </a:solidFill>
          <a:ln w="19050">
            <a:solidFill>
              <a:srgbClr val="FFFFFF"/>
            </a:solidFill>
            <a:prstDash val="solid"/>
          </a:ln>
        </p:spPr>
      </p:sp>
      <p:sp>
        <p:nvSpPr>
          <p:cNvPr id="31" name="Text 28"/>
          <p:cNvSpPr txBox="1"/>
          <p:nvPr/>
        </p:nvSpPr>
        <p:spPr>
          <a:xfrm>
            <a:off x="1682496" y="2167128"/>
            <a:ext cx="566928"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6.0</a:t>
            </a:r>
            <a:endParaRPr lang="en-US" sz="1100" dirty="0"/>
          </a:p>
        </p:txBody>
      </p:sp>
      <p:sp>
        <p:nvSpPr>
          <p:cNvPr id="32" name="Shape 29"/>
          <p:cNvSpPr/>
          <p:nvPr/>
        </p:nvSpPr>
        <p:spPr>
          <a:xfrm>
            <a:off x="2249424" y="2167128"/>
            <a:ext cx="566928" cy="566928"/>
          </a:xfrm>
          <a:prstGeom prst="rect">
            <a:avLst/>
          </a:prstGeom>
          <a:solidFill>
            <a:srgbClr val="7BCBA9"/>
          </a:solidFill>
          <a:ln w="19050">
            <a:solidFill>
              <a:srgbClr val="FFFFFF"/>
            </a:solidFill>
            <a:prstDash val="solid"/>
          </a:ln>
        </p:spPr>
      </p:sp>
      <p:sp>
        <p:nvSpPr>
          <p:cNvPr id="33" name="Text 30"/>
          <p:cNvSpPr txBox="1"/>
          <p:nvPr/>
        </p:nvSpPr>
        <p:spPr>
          <a:xfrm>
            <a:off x="2249424" y="2167128"/>
            <a:ext cx="566928" cy="566928"/>
          </a:xfrm>
          <a:prstGeom prst="rect">
            <a:avLst/>
          </a:prstGeom>
          <a:noFill/>
          <a:ln/>
        </p:spPr>
        <p:txBody>
          <a:bodyPr wrap="square" lIns="0" tIns="0" rIns="0" bIns="0" rtlCol="0" anchor="ctr"/>
          <a:lstStyle/>
          <a:p>
            <a:pPr marL="0" indent="0" algn="ctr">
              <a:buNone/>
            </a:pPr>
            <a:r>
              <a:rPr lang="en-US" sz="1100" b="1" dirty="0">
                <a:solidFill>
                  <a:srgbClr val="231F20"/>
                </a:solidFill>
                <a:latin typeface="Calibri" pitchFamily="34" charset="0"/>
                <a:ea typeface="Calibri" pitchFamily="34" charset="-122"/>
                <a:cs typeface="Calibri" pitchFamily="34" charset="-120"/>
              </a:rPr>
              <a:t>0.6</a:t>
            </a:r>
            <a:endParaRPr lang="en-US" sz="1100" dirty="0"/>
          </a:p>
        </p:txBody>
      </p:sp>
      <p:sp>
        <p:nvSpPr>
          <p:cNvPr id="34" name="Shape 31"/>
          <p:cNvSpPr/>
          <p:nvPr/>
        </p:nvSpPr>
        <p:spPr>
          <a:xfrm>
            <a:off x="548640" y="2734056"/>
            <a:ext cx="566928" cy="566928"/>
          </a:xfrm>
          <a:prstGeom prst="rect">
            <a:avLst/>
          </a:prstGeom>
          <a:solidFill>
            <a:srgbClr val="F4F7F5"/>
          </a:solidFill>
          <a:ln w="19050">
            <a:solidFill>
              <a:srgbClr val="FFFFFF"/>
            </a:solidFill>
            <a:prstDash val="solid"/>
          </a:ln>
        </p:spPr>
      </p:sp>
      <p:sp>
        <p:nvSpPr>
          <p:cNvPr id="35" name="Text 32"/>
          <p:cNvSpPr txBox="1"/>
          <p:nvPr/>
        </p:nvSpPr>
        <p:spPr>
          <a:xfrm>
            <a:off x="548640" y="2734056"/>
            <a:ext cx="566928" cy="566928"/>
          </a:xfrm>
          <a:prstGeom prst="rect">
            <a:avLst/>
          </a:prstGeom>
          <a:noFill/>
          <a:ln/>
        </p:spPr>
        <p:txBody>
          <a:bodyPr wrap="square" lIns="0" tIns="0" rIns="0" bIns="0" rtlCol="0" anchor="ctr"/>
          <a:lstStyle/>
          <a:p>
            <a:pPr marL="0" indent="0" algn="ctr">
              <a:buNone/>
            </a:pPr>
            <a:r>
              <a:rPr lang="en-US" sz="1100" dirty="0">
                <a:solidFill>
                  <a:srgbClr val="231F20"/>
                </a:solidFill>
                <a:latin typeface="Calibri" pitchFamily="34" charset="0"/>
                <a:ea typeface="Calibri" pitchFamily="34" charset="-122"/>
                <a:cs typeface="Calibri" pitchFamily="34" charset="-120"/>
              </a:rPr>
              <a:t>0.2</a:t>
            </a:r>
            <a:endParaRPr lang="en-US" sz="1100" dirty="0"/>
          </a:p>
        </p:txBody>
      </p:sp>
      <p:sp>
        <p:nvSpPr>
          <p:cNvPr id="36" name="Shape 33"/>
          <p:cNvSpPr/>
          <p:nvPr/>
        </p:nvSpPr>
        <p:spPr>
          <a:xfrm>
            <a:off x="1115568" y="2734056"/>
            <a:ext cx="566928" cy="566928"/>
          </a:xfrm>
          <a:prstGeom prst="rect">
            <a:avLst/>
          </a:prstGeom>
          <a:solidFill>
            <a:srgbClr val="10A06A"/>
          </a:solidFill>
          <a:ln w="19050">
            <a:solidFill>
              <a:srgbClr val="FFFFFF"/>
            </a:solidFill>
            <a:prstDash val="solid"/>
          </a:ln>
        </p:spPr>
      </p:sp>
      <p:sp>
        <p:nvSpPr>
          <p:cNvPr id="37" name="Text 34"/>
          <p:cNvSpPr txBox="1"/>
          <p:nvPr/>
        </p:nvSpPr>
        <p:spPr>
          <a:xfrm>
            <a:off x="1115568" y="2734056"/>
            <a:ext cx="566928"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4.0</a:t>
            </a:r>
            <a:endParaRPr lang="en-US" sz="1100" dirty="0"/>
          </a:p>
        </p:txBody>
      </p:sp>
      <p:sp>
        <p:nvSpPr>
          <p:cNvPr id="38" name="Shape 35"/>
          <p:cNvSpPr/>
          <p:nvPr/>
        </p:nvSpPr>
        <p:spPr>
          <a:xfrm>
            <a:off x="1682496" y="2734056"/>
            <a:ext cx="566928" cy="566928"/>
          </a:xfrm>
          <a:prstGeom prst="rect">
            <a:avLst/>
          </a:prstGeom>
          <a:solidFill>
            <a:srgbClr val="00664A"/>
          </a:solidFill>
          <a:ln w="19050">
            <a:solidFill>
              <a:srgbClr val="FFFFFF"/>
            </a:solidFill>
            <a:prstDash val="solid"/>
          </a:ln>
        </p:spPr>
      </p:sp>
      <p:sp>
        <p:nvSpPr>
          <p:cNvPr id="39" name="Text 36"/>
          <p:cNvSpPr txBox="1"/>
          <p:nvPr/>
        </p:nvSpPr>
        <p:spPr>
          <a:xfrm>
            <a:off x="1682496" y="2734056"/>
            <a:ext cx="566928"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12.0</a:t>
            </a:r>
            <a:endParaRPr lang="en-US" sz="1100" dirty="0"/>
          </a:p>
        </p:txBody>
      </p:sp>
      <p:sp>
        <p:nvSpPr>
          <p:cNvPr id="40" name="Shape 37"/>
          <p:cNvSpPr/>
          <p:nvPr/>
        </p:nvSpPr>
        <p:spPr>
          <a:xfrm>
            <a:off x="2249424" y="2734056"/>
            <a:ext cx="566928" cy="566928"/>
          </a:xfrm>
          <a:prstGeom prst="rect">
            <a:avLst/>
          </a:prstGeom>
          <a:solidFill>
            <a:srgbClr val="7BCBA9"/>
          </a:solidFill>
          <a:ln w="19050">
            <a:solidFill>
              <a:srgbClr val="FFFFFF"/>
            </a:solidFill>
            <a:prstDash val="solid"/>
          </a:ln>
        </p:spPr>
      </p:sp>
      <p:sp>
        <p:nvSpPr>
          <p:cNvPr id="41" name="Text 38"/>
          <p:cNvSpPr txBox="1"/>
          <p:nvPr/>
        </p:nvSpPr>
        <p:spPr>
          <a:xfrm>
            <a:off x="2249424" y="2734056"/>
            <a:ext cx="566928" cy="566928"/>
          </a:xfrm>
          <a:prstGeom prst="rect">
            <a:avLst/>
          </a:prstGeom>
          <a:noFill/>
          <a:ln/>
        </p:spPr>
        <p:txBody>
          <a:bodyPr wrap="square" lIns="0" tIns="0" rIns="0" bIns="0" rtlCol="0" anchor="ctr"/>
          <a:lstStyle/>
          <a:p>
            <a:pPr marL="0" indent="0" algn="ctr">
              <a:buNone/>
            </a:pPr>
            <a:r>
              <a:rPr lang="en-US" sz="1100" b="1" dirty="0">
                <a:solidFill>
                  <a:srgbClr val="231F20"/>
                </a:solidFill>
                <a:latin typeface="Calibri" pitchFamily="34" charset="0"/>
                <a:ea typeface="Calibri" pitchFamily="34" charset="-122"/>
                <a:cs typeface="Calibri" pitchFamily="34" charset="-120"/>
              </a:rPr>
              <a:t>1.5</a:t>
            </a:r>
            <a:endParaRPr lang="en-US" sz="1100" dirty="0"/>
          </a:p>
        </p:txBody>
      </p:sp>
      <p:sp>
        <p:nvSpPr>
          <p:cNvPr id="42" name="Shape 39"/>
          <p:cNvSpPr/>
          <p:nvPr/>
        </p:nvSpPr>
        <p:spPr>
          <a:xfrm>
            <a:off x="548640" y="3300984"/>
            <a:ext cx="566928" cy="566928"/>
          </a:xfrm>
          <a:prstGeom prst="rect">
            <a:avLst/>
          </a:prstGeom>
          <a:solidFill>
            <a:srgbClr val="F4F7F5"/>
          </a:solidFill>
          <a:ln w="19050">
            <a:solidFill>
              <a:srgbClr val="FFFFFF"/>
            </a:solidFill>
            <a:prstDash val="solid"/>
          </a:ln>
        </p:spPr>
      </p:sp>
      <p:sp>
        <p:nvSpPr>
          <p:cNvPr id="43" name="Text 40"/>
          <p:cNvSpPr txBox="1"/>
          <p:nvPr/>
        </p:nvSpPr>
        <p:spPr>
          <a:xfrm>
            <a:off x="548640" y="3300984"/>
            <a:ext cx="566928" cy="566928"/>
          </a:xfrm>
          <a:prstGeom prst="rect">
            <a:avLst/>
          </a:prstGeom>
          <a:noFill/>
          <a:ln/>
        </p:spPr>
        <p:txBody>
          <a:bodyPr wrap="square" lIns="0" tIns="0" rIns="0" bIns="0" rtlCol="0" anchor="ctr"/>
          <a:lstStyle/>
          <a:p>
            <a:pPr marL="0" indent="0" algn="ctr">
              <a:buNone/>
            </a:pPr>
            <a:r>
              <a:rPr lang="en-US" sz="1100" dirty="0">
                <a:solidFill>
                  <a:srgbClr val="231F20"/>
                </a:solidFill>
                <a:latin typeface="Calibri" pitchFamily="34" charset="0"/>
                <a:ea typeface="Calibri" pitchFamily="34" charset="-122"/>
                <a:cs typeface="Calibri" pitchFamily="34" charset="-120"/>
              </a:rPr>
              <a:t>0.0</a:t>
            </a:r>
            <a:endParaRPr lang="en-US" sz="1100" dirty="0"/>
          </a:p>
        </p:txBody>
      </p:sp>
      <p:sp>
        <p:nvSpPr>
          <p:cNvPr id="44" name="Shape 41"/>
          <p:cNvSpPr/>
          <p:nvPr/>
        </p:nvSpPr>
        <p:spPr>
          <a:xfrm>
            <a:off x="1115568" y="3300984"/>
            <a:ext cx="566928" cy="566928"/>
          </a:xfrm>
          <a:prstGeom prst="rect">
            <a:avLst/>
          </a:prstGeom>
          <a:solidFill>
            <a:srgbClr val="7BCBA9"/>
          </a:solidFill>
          <a:ln w="19050">
            <a:solidFill>
              <a:srgbClr val="FFFFFF"/>
            </a:solidFill>
            <a:prstDash val="solid"/>
          </a:ln>
        </p:spPr>
      </p:sp>
      <p:sp>
        <p:nvSpPr>
          <p:cNvPr id="45" name="Text 42"/>
          <p:cNvSpPr txBox="1"/>
          <p:nvPr/>
        </p:nvSpPr>
        <p:spPr>
          <a:xfrm>
            <a:off x="1115568" y="3300984"/>
            <a:ext cx="566928" cy="566928"/>
          </a:xfrm>
          <a:prstGeom prst="rect">
            <a:avLst/>
          </a:prstGeom>
          <a:noFill/>
          <a:ln/>
        </p:spPr>
        <p:txBody>
          <a:bodyPr wrap="square" lIns="0" tIns="0" rIns="0" bIns="0" rtlCol="0" anchor="ctr"/>
          <a:lstStyle/>
          <a:p>
            <a:pPr marL="0" indent="0" algn="ctr">
              <a:buNone/>
            </a:pPr>
            <a:r>
              <a:rPr lang="en-US" sz="1100" b="1" dirty="0">
                <a:solidFill>
                  <a:srgbClr val="231F20"/>
                </a:solidFill>
                <a:latin typeface="Calibri" pitchFamily="34" charset="0"/>
                <a:ea typeface="Calibri" pitchFamily="34" charset="-122"/>
                <a:cs typeface="Calibri" pitchFamily="34" charset="-120"/>
              </a:rPr>
              <a:t>0.8</a:t>
            </a:r>
            <a:endParaRPr lang="en-US" sz="1100" dirty="0"/>
          </a:p>
        </p:txBody>
      </p:sp>
      <p:sp>
        <p:nvSpPr>
          <p:cNvPr id="46" name="Shape 43"/>
          <p:cNvSpPr/>
          <p:nvPr/>
        </p:nvSpPr>
        <p:spPr>
          <a:xfrm>
            <a:off x="1682496" y="3300984"/>
            <a:ext cx="566928" cy="566928"/>
          </a:xfrm>
          <a:prstGeom prst="rect">
            <a:avLst/>
          </a:prstGeom>
          <a:solidFill>
            <a:srgbClr val="7BCBA9"/>
          </a:solidFill>
          <a:ln w="19050">
            <a:solidFill>
              <a:srgbClr val="FFFFFF"/>
            </a:solidFill>
            <a:prstDash val="solid"/>
          </a:ln>
        </p:spPr>
      </p:sp>
      <p:sp>
        <p:nvSpPr>
          <p:cNvPr id="47" name="Text 44"/>
          <p:cNvSpPr txBox="1"/>
          <p:nvPr/>
        </p:nvSpPr>
        <p:spPr>
          <a:xfrm>
            <a:off x="1682496" y="3300984"/>
            <a:ext cx="566928" cy="566928"/>
          </a:xfrm>
          <a:prstGeom prst="rect">
            <a:avLst/>
          </a:prstGeom>
          <a:noFill/>
          <a:ln/>
        </p:spPr>
        <p:txBody>
          <a:bodyPr wrap="square" lIns="0" tIns="0" rIns="0" bIns="0" rtlCol="0" anchor="ctr"/>
          <a:lstStyle/>
          <a:p>
            <a:pPr marL="0" indent="0" algn="ctr">
              <a:buNone/>
            </a:pPr>
            <a:r>
              <a:rPr lang="en-US" sz="1100" b="1" dirty="0">
                <a:solidFill>
                  <a:srgbClr val="231F20"/>
                </a:solidFill>
                <a:latin typeface="Calibri" pitchFamily="34" charset="0"/>
                <a:ea typeface="Calibri" pitchFamily="34" charset="-122"/>
                <a:cs typeface="Calibri" pitchFamily="34" charset="-120"/>
              </a:rPr>
              <a:t>1.2</a:t>
            </a:r>
            <a:endParaRPr lang="en-US" sz="1100" dirty="0"/>
          </a:p>
        </p:txBody>
      </p:sp>
      <p:sp>
        <p:nvSpPr>
          <p:cNvPr id="48" name="Shape 45"/>
          <p:cNvSpPr/>
          <p:nvPr/>
        </p:nvSpPr>
        <p:spPr>
          <a:xfrm>
            <a:off x="2249424" y="3300984"/>
            <a:ext cx="566928" cy="566928"/>
          </a:xfrm>
          <a:prstGeom prst="rect">
            <a:avLst/>
          </a:prstGeom>
          <a:solidFill>
            <a:srgbClr val="F4F7F5"/>
          </a:solidFill>
          <a:ln w="19050">
            <a:solidFill>
              <a:srgbClr val="FFFFFF"/>
            </a:solidFill>
            <a:prstDash val="solid"/>
          </a:ln>
        </p:spPr>
      </p:sp>
      <p:sp>
        <p:nvSpPr>
          <p:cNvPr id="49" name="Text 46"/>
          <p:cNvSpPr txBox="1"/>
          <p:nvPr/>
        </p:nvSpPr>
        <p:spPr>
          <a:xfrm>
            <a:off x="2249424" y="3300984"/>
            <a:ext cx="566928" cy="566928"/>
          </a:xfrm>
          <a:prstGeom prst="rect">
            <a:avLst/>
          </a:prstGeom>
          <a:noFill/>
          <a:ln/>
        </p:spPr>
        <p:txBody>
          <a:bodyPr wrap="square" lIns="0" tIns="0" rIns="0" bIns="0" rtlCol="0" anchor="ctr"/>
          <a:lstStyle/>
          <a:p>
            <a:pPr marL="0" indent="0" algn="ctr">
              <a:buNone/>
            </a:pPr>
            <a:r>
              <a:rPr lang="en-US" sz="1100" dirty="0">
                <a:solidFill>
                  <a:srgbClr val="231F20"/>
                </a:solidFill>
                <a:latin typeface="Calibri" pitchFamily="34" charset="0"/>
                <a:ea typeface="Calibri" pitchFamily="34" charset="-122"/>
                <a:cs typeface="Calibri" pitchFamily="34" charset="-120"/>
              </a:rPr>
              <a:t>0.3</a:t>
            </a:r>
            <a:endParaRPr lang="en-US" sz="1100" dirty="0"/>
          </a:p>
        </p:txBody>
      </p:sp>
      <p:sp>
        <p:nvSpPr>
          <p:cNvPr id="50" name="Text 47"/>
          <p:cNvSpPr txBox="1"/>
          <p:nvPr/>
        </p:nvSpPr>
        <p:spPr>
          <a:xfrm>
            <a:off x="457200" y="3931920"/>
            <a:ext cx="2606040" cy="201168"/>
          </a:xfrm>
          <a:prstGeom prst="rect">
            <a:avLst/>
          </a:prstGeom>
          <a:noFill/>
          <a:ln/>
        </p:spPr>
        <p:txBody>
          <a:bodyPr wrap="square" lIns="0" tIns="0" rIns="0" bIns="0" rtlCol="0" anchor="t"/>
          <a:lstStyle/>
          <a:p>
            <a:pPr marL="0" indent="0">
              <a:buNone/>
            </a:pPr>
            <a:r>
              <a:rPr lang="en-US" sz="850" i="1" dirty="0">
                <a:solidFill>
                  <a:srgbClr val="5E6964"/>
                </a:solidFill>
                <a:latin typeface="Calibri" pitchFamily="34" charset="0"/>
                <a:ea typeface="Calibri" pitchFamily="34" charset="-122"/>
                <a:cs typeface="Calibri" pitchFamily="34" charset="-120"/>
              </a:rPr>
              <a:t>Coloured = above the 0.5 nW·cm⁻²·sr⁻¹ threshold</a:t>
            </a:r>
            <a:endParaRPr lang="en-US" sz="850" dirty="0"/>
          </a:p>
        </p:txBody>
      </p:sp>
      <p:sp>
        <p:nvSpPr>
          <p:cNvPr id="51" name="Shape 48"/>
          <p:cNvSpPr/>
          <p:nvPr/>
        </p:nvSpPr>
        <p:spPr>
          <a:xfrm>
            <a:off x="3154680" y="1325880"/>
            <a:ext cx="5532120" cy="749808"/>
          </a:xfrm>
          <a:prstGeom prst="roundRect">
            <a:avLst>
              <a:gd name="adj" fmla="val 9756"/>
            </a:avLst>
          </a:prstGeom>
          <a:solidFill>
            <a:srgbClr val="F4F7F5"/>
          </a:solidFill>
          <a:ln w="9525">
            <a:solidFill>
              <a:srgbClr val="D5DED9"/>
            </a:solidFill>
            <a:prstDash val="solid"/>
          </a:ln>
        </p:spPr>
      </p:sp>
      <p:sp>
        <p:nvSpPr>
          <p:cNvPr id="52" name="Text 49"/>
          <p:cNvSpPr txBox="1"/>
          <p:nvPr/>
        </p:nvSpPr>
        <p:spPr>
          <a:xfrm>
            <a:off x="3246120" y="1399032"/>
            <a:ext cx="1051560" cy="603504"/>
          </a:xfrm>
          <a:prstGeom prst="rect">
            <a:avLst/>
          </a:prstGeom>
          <a:noFill/>
          <a:ln/>
        </p:spPr>
        <p:txBody>
          <a:bodyPr wrap="square" lIns="0" tIns="0" rIns="0" bIns="0" rtlCol="0" anchor="ctr"/>
          <a:lstStyle/>
          <a:p>
            <a:pPr marL="0" indent="0" algn="ctr">
              <a:buNone/>
            </a:pPr>
            <a:r>
              <a:rPr lang="en-US" sz="2800" b="1" dirty="0">
                <a:solidFill>
                  <a:srgbClr val="00A86A"/>
                </a:solidFill>
                <a:latin typeface="Calibri" pitchFamily="34" charset="0"/>
                <a:ea typeface="Calibri" pitchFamily="34" charset="-122"/>
                <a:cs typeface="Calibri" pitchFamily="34" charset="-120"/>
              </a:rPr>
              <a:t>30.1</a:t>
            </a:r>
            <a:endParaRPr lang="en-US" sz="2800" dirty="0"/>
          </a:p>
        </p:txBody>
      </p:sp>
      <p:sp>
        <p:nvSpPr>
          <p:cNvPr id="53" name="Text 50"/>
          <p:cNvSpPr txBox="1"/>
          <p:nvPr/>
        </p:nvSpPr>
        <p:spPr>
          <a:xfrm>
            <a:off x="4389120" y="1399032"/>
            <a:ext cx="4206240" cy="228600"/>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Sum of lights (SOL)</a:t>
            </a:r>
            <a:endParaRPr lang="en-US" sz="1250" dirty="0"/>
          </a:p>
        </p:txBody>
      </p:sp>
      <p:sp>
        <p:nvSpPr>
          <p:cNvPr id="54" name="Text 51"/>
          <p:cNvSpPr txBox="1"/>
          <p:nvPr/>
        </p:nvSpPr>
        <p:spPr>
          <a:xfrm>
            <a:off x="4389120" y="1636776"/>
            <a:ext cx="4206240" cy="411480"/>
          </a:xfrm>
          <a:prstGeom prst="rect">
            <a:avLst/>
          </a:prstGeom>
          <a:noFill/>
          <a:ln/>
        </p:spPr>
        <p:txBody>
          <a:bodyPr wrap="square" lIns="0" tIns="0" rIns="0" bIns="0" rtlCol="0" anchor="t"/>
          <a:lstStyle/>
          <a:p>
            <a:pPr marL="0" indent="0">
              <a:buNone/>
            </a:pPr>
            <a:r>
              <a:rPr lang="en-US" sz="950" b="1" dirty="0">
                <a:solidFill>
                  <a:srgbClr val="231F20"/>
                </a:solidFill>
                <a:latin typeface="Calibri" pitchFamily="34" charset="0"/>
                <a:ea typeface="Calibri" pitchFamily="34" charset="-122"/>
                <a:cs typeface="Calibri" pitchFamily="34" charset="-120"/>
              </a:rPr>
              <a:t>Total radiance within a boundary.  </a:t>
            </a:r>
            <a:r>
              <a:rPr lang="en-US" sz="950" dirty="0">
                <a:solidFill>
                  <a:srgbClr val="5E6964"/>
                </a:solidFill>
                <a:latin typeface="Calibri" pitchFamily="34" charset="0"/>
                <a:ea typeface="Calibri" pitchFamily="34" charset="-122"/>
                <a:cs typeface="Calibri" pitchFamily="34" charset="-120"/>
              </a:rPr>
              <a:t>Flagship indicator in the economics literature; the most sensitive to background noise.</a:t>
            </a:r>
            <a:endParaRPr lang="en-US" sz="950" dirty="0"/>
          </a:p>
        </p:txBody>
      </p:sp>
      <p:sp>
        <p:nvSpPr>
          <p:cNvPr id="55" name="Shape 52"/>
          <p:cNvSpPr/>
          <p:nvPr/>
        </p:nvSpPr>
        <p:spPr>
          <a:xfrm>
            <a:off x="3154680" y="2194560"/>
            <a:ext cx="5532120" cy="749808"/>
          </a:xfrm>
          <a:prstGeom prst="roundRect">
            <a:avLst>
              <a:gd name="adj" fmla="val 9756"/>
            </a:avLst>
          </a:prstGeom>
          <a:solidFill>
            <a:srgbClr val="F4F7F5"/>
          </a:solidFill>
          <a:ln w="9525">
            <a:solidFill>
              <a:srgbClr val="D5DED9"/>
            </a:solidFill>
            <a:prstDash val="solid"/>
          </a:ln>
        </p:spPr>
      </p:sp>
      <p:sp>
        <p:nvSpPr>
          <p:cNvPr id="56" name="Text 53"/>
          <p:cNvSpPr txBox="1"/>
          <p:nvPr/>
        </p:nvSpPr>
        <p:spPr>
          <a:xfrm>
            <a:off x="3246120" y="2267712"/>
            <a:ext cx="1051560" cy="603504"/>
          </a:xfrm>
          <a:prstGeom prst="rect">
            <a:avLst/>
          </a:prstGeom>
          <a:noFill/>
          <a:ln/>
        </p:spPr>
        <p:txBody>
          <a:bodyPr wrap="square" lIns="0" tIns="0" rIns="0" bIns="0" rtlCol="0" anchor="ctr"/>
          <a:lstStyle/>
          <a:p>
            <a:pPr marL="0" indent="0" algn="ctr">
              <a:buNone/>
            </a:pPr>
            <a:r>
              <a:rPr lang="en-US" sz="2800" b="1" dirty="0">
                <a:solidFill>
                  <a:srgbClr val="00704A"/>
                </a:solidFill>
                <a:latin typeface="Calibri" pitchFamily="34" charset="0"/>
                <a:ea typeface="Calibri" pitchFamily="34" charset="-122"/>
                <a:cs typeface="Calibri" pitchFamily="34" charset="-120"/>
              </a:rPr>
              <a:t>8 px</a:t>
            </a:r>
            <a:endParaRPr lang="en-US" sz="2800" dirty="0"/>
          </a:p>
        </p:txBody>
      </p:sp>
      <p:sp>
        <p:nvSpPr>
          <p:cNvPr id="57" name="Text 54"/>
          <p:cNvSpPr txBox="1"/>
          <p:nvPr/>
        </p:nvSpPr>
        <p:spPr>
          <a:xfrm>
            <a:off x="4389120" y="2267712"/>
            <a:ext cx="4206240" cy="228600"/>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Lit area</a:t>
            </a:r>
            <a:endParaRPr lang="en-US" sz="1250" dirty="0"/>
          </a:p>
        </p:txBody>
      </p:sp>
      <p:sp>
        <p:nvSpPr>
          <p:cNvPr id="58" name="Text 55"/>
          <p:cNvSpPr txBox="1"/>
          <p:nvPr/>
        </p:nvSpPr>
        <p:spPr>
          <a:xfrm>
            <a:off x="4389120" y="2505456"/>
            <a:ext cx="4206240" cy="411480"/>
          </a:xfrm>
          <a:prstGeom prst="rect">
            <a:avLst/>
          </a:prstGeom>
          <a:noFill/>
          <a:ln/>
        </p:spPr>
        <p:txBody>
          <a:bodyPr wrap="square" lIns="0" tIns="0" rIns="0" bIns="0" rtlCol="0" anchor="t"/>
          <a:lstStyle/>
          <a:p>
            <a:pPr marL="0" indent="0">
              <a:buNone/>
            </a:pPr>
            <a:r>
              <a:rPr lang="en-US" sz="950" b="1" dirty="0">
                <a:solidFill>
                  <a:srgbClr val="231F20"/>
                </a:solidFill>
                <a:latin typeface="Calibri" pitchFamily="34" charset="0"/>
                <a:ea typeface="Calibri" pitchFamily="34" charset="-122"/>
                <a:cs typeface="Calibri" pitchFamily="34" charset="-120"/>
              </a:rPr>
              <a:t>Pixels above a chosen threshold.  </a:t>
            </a:r>
            <a:r>
              <a:rPr lang="en-US" sz="950" dirty="0">
                <a:solidFill>
                  <a:srgbClr val="5E6964"/>
                </a:solidFill>
                <a:latin typeface="Calibri" pitchFamily="34" charset="0"/>
                <a:ea typeface="Calibri" pitchFamily="34" charset="-122"/>
                <a:cs typeface="Calibri" pitchFamily="34" charset="-120"/>
              </a:rPr>
              <a:t>Intuitive — but the threshold is the analyst’s choice.</a:t>
            </a:r>
            <a:endParaRPr lang="en-US" sz="950" dirty="0"/>
          </a:p>
        </p:txBody>
      </p:sp>
      <p:sp>
        <p:nvSpPr>
          <p:cNvPr id="59" name="Shape 56"/>
          <p:cNvSpPr/>
          <p:nvPr/>
        </p:nvSpPr>
        <p:spPr>
          <a:xfrm>
            <a:off x="3154680" y="3063240"/>
            <a:ext cx="5532120" cy="749808"/>
          </a:xfrm>
          <a:prstGeom prst="roundRect">
            <a:avLst>
              <a:gd name="adj" fmla="val 9756"/>
            </a:avLst>
          </a:prstGeom>
          <a:solidFill>
            <a:srgbClr val="F4F7F5"/>
          </a:solidFill>
          <a:ln w="9525">
            <a:solidFill>
              <a:srgbClr val="D5DED9"/>
            </a:solidFill>
            <a:prstDash val="solid"/>
          </a:ln>
        </p:spPr>
      </p:sp>
      <p:sp>
        <p:nvSpPr>
          <p:cNvPr id="60" name="Text 57"/>
          <p:cNvSpPr txBox="1"/>
          <p:nvPr/>
        </p:nvSpPr>
        <p:spPr>
          <a:xfrm>
            <a:off x="3246120" y="3136392"/>
            <a:ext cx="1051560" cy="603504"/>
          </a:xfrm>
          <a:prstGeom prst="rect">
            <a:avLst/>
          </a:prstGeom>
          <a:noFill/>
          <a:ln/>
        </p:spPr>
        <p:txBody>
          <a:bodyPr wrap="square" lIns="0" tIns="0" rIns="0" bIns="0" rtlCol="0" anchor="ctr"/>
          <a:lstStyle/>
          <a:p>
            <a:pPr marL="0" indent="0" algn="ctr">
              <a:buNone/>
            </a:pPr>
            <a:r>
              <a:rPr lang="en-US" sz="2800" b="1" dirty="0">
                <a:solidFill>
                  <a:srgbClr val="0E7C86"/>
                </a:solidFill>
                <a:latin typeface="Calibri" pitchFamily="34" charset="0"/>
                <a:ea typeface="Calibri" pitchFamily="34" charset="-122"/>
                <a:cs typeface="Calibri" pitchFamily="34" charset="-120"/>
              </a:rPr>
              <a:t>3.6</a:t>
            </a:r>
            <a:endParaRPr lang="en-US" sz="2800" dirty="0"/>
          </a:p>
        </p:txBody>
      </p:sp>
      <p:sp>
        <p:nvSpPr>
          <p:cNvPr id="61" name="Text 58"/>
          <p:cNvSpPr txBox="1"/>
          <p:nvPr/>
        </p:nvSpPr>
        <p:spPr>
          <a:xfrm>
            <a:off x="4389120" y="3136392"/>
            <a:ext cx="4206240" cy="228600"/>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Mean radiance (lit)</a:t>
            </a:r>
            <a:endParaRPr lang="en-US" sz="1250" dirty="0"/>
          </a:p>
        </p:txBody>
      </p:sp>
      <p:sp>
        <p:nvSpPr>
          <p:cNvPr id="62" name="Text 59"/>
          <p:cNvSpPr txBox="1"/>
          <p:nvPr/>
        </p:nvSpPr>
        <p:spPr>
          <a:xfrm>
            <a:off x="4389120" y="3374136"/>
            <a:ext cx="4206240" cy="411480"/>
          </a:xfrm>
          <a:prstGeom prst="rect">
            <a:avLst/>
          </a:prstGeom>
          <a:noFill/>
          <a:ln/>
        </p:spPr>
        <p:txBody>
          <a:bodyPr wrap="square" lIns="0" tIns="0" rIns="0" bIns="0" rtlCol="0" anchor="t"/>
          <a:lstStyle/>
          <a:p>
            <a:pPr marL="0" indent="0">
              <a:buNone/>
            </a:pPr>
            <a:r>
              <a:rPr lang="en-US" sz="950" b="1" dirty="0">
                <a:solidFill>
                  <a:srgbClr val="231F20"/>
                </a:solidFill>
                <a:latin typeface="Calibri" pitchFamily="34" charset="0"/>
                <a:ea typeface="Calibri" pitchFamily="34" charset="-122"/>
                <a:cs typeface="Calibri" pitchFamily="34" charset="-120"/>
              </a:rPr>
              <a:t>Intensity independent of extent.  </a:t>
            </a:r>
            <a:r>
              <a:rPr lang="en-US" sz="950" dirty="0">
                <a:solidFill>
                  <a:srgbClr val="5E6964"/>
                </a:solidFill>
                <a:latin typeface="Calibri" pitchFamily="34" charset="0"/>
                <a:ea typeface="Calibri" pitchFamily="34" charset="-122"/>
                <a:cs typeface="Calibri" pitchFamily="34" charset="-120"/>
              </a:rPr>
              <a:t>Separates a district that brightens from one that spreads.</a:t>
            </a:r>
            <a:endParaRPr lang="en-US" sz="950" dirty="0"/>
          </a:p>
        </p:txBody>
      </p:sp>
      <p:sp>
        <p:nvSpPr>
          <p:cNvPr id="63" name="Shape 60"/>
          <p:cNvSpPr/>
          <p:nvPr/>
        </p:nvSpPr>
        <p:spPr>
          <a:xfrm>
            <a:off x="3154680" y="3977640"/>
            <a:ext cx="5532120" cy="594360"/>
          </a:xfrm>
          <a:prstGeom prst="roundRect">
            <a:avLst>
              <a:gd name="adj" fmla="val 12308"/>
            </a:avLst>
          </a:prstGeom>
          <a:solidFill>
            <a:srgbClr val="D49A00">
              <a:alpha val="13000"/>
            </a:srgbClr>
          </a:solidFill>
          <a:ln w="12700">
            <a:solidFill>
              <a:srgbClr val="D49A00"/>
            </a:solidFill>
            <a:prstDash val="solid"/>
          </a:ln>
        </p:spPr>
      </p:sp>
      <p:sp>
        <p:nvSpPr>
          <p:cNvPr id="64" name="Shape 61"/>
          <p:cNvSpPr/>
          <p:nvPr/>
        </p:nvSpPr>
        <p:spPr>
          <a:xfrm>
            <a:off x="3246120" y="4078224"/>
            <a:ext cx="365760" cy="365760"/>
          </a:xfrm>
          <a:prstGeom prst="ellipse">
            <a:avLst/>
          </a:prstGeom>
          <a:solidFill>
            <a:srgbClr val="D49A00">
              <a:alpha val="22000"/>
            </a:srgbClr>
          </a:solidFill>
          <a:ln w="12700">
            <a:solidFill>
              <a:srgbClr val="D49A00">
                <a:alpha val="0"/>
              </a:srgbClr>
            </a:solidFill>
            <a:prstDash val="solid"/>
          </a:ln>
        </p:spPr>
      </p:sp>
      <p:pic>
        <p:nvPicPr>
          <p:cNvPr id="65" name="Image 0" descr="preencoded.png"/>
          <p:cNvPicPr>
            <a:picLocks noChangeAspect="1"/>
          </p:cNvPicPr>
          <p:nvPr/>
        </p:nvPicPr>
        <p:blipFill>
          <a:blip r:embed="rId3"/>
          <a:stretch>
            <a:fillRect/>
          </a:stretch>
        </p:blipFill>
        <p:spPr>
          <a:xfrm>
            <a:off x="3341218" y="4173322"/>
            <a:ext cx="175565" cy="175565"/>
          </a:xfrm>
          <a:prstGeom prst="rect">
            <a:avLst/>
          </a:prstGeom>
        </p:spPr>
      </p:pic>
      <p:sp>
        <p:nvSpPr>
          <p:cNvPr id="66" name="Text 62"/>
          <p:cNvSpPr txBox="1"/>
          <p:nvPr/>
        </p:nvSpPr>
        <p:spPr>
          <a:xfrm>
            <a:off x="3703320" y="3995928"/>
            <a:ext cx="4919472" cy="557784"/>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Threshold raised to 1.0 → lit area drops from 8 to 6 pixels (−25%).  </a:t>
            </a:r>
            <a:r>
              <a:rPr lang="en-US" sz="950" dirty="0">
                <a:solidFill>
                  <a:srgbClr val="231F20"/>
                </a:solidFill>
                <a:latin typeface="Calibri" pitchFamily="34" charset="0"/>
                <a:ea typeface="Calibri" pitchFamily="34" charset="-122"/>
                <a:cs typeface="Calibri" pitchFamily="34" charset="-120"/>
              </a:rPr>
              <a:t>Always report product, version, boundary, threshold and masks — and test the threshold.</a:t>
            </a:r>
            <a:endParaRPr lang="en-US" sz="950" dirty="0"/>
          </a:p>
        </p:txBody>
      </p:sp>
      <p:sp>
        <p:nvSpPr>
          <p:cNvPr id="67" name="Text 63"/>
          <p:cNvSpPr txBox="1"/>
          <p:nvPr/>
        </p:nvSpPr>
        <p:spPr>
          <a:xfrm>
            <a:off x="457200" y="4617720"/>
            <a:ext cx="73152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Illustrative values. Light concentration (radiance Gini) forms a 4th family, used for spatial inequality.</a:t>
            </a:r>
            <a:endParaRPr lang="en-US" sz="9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FROM PHOTONS TO DATA · WORKED EXAMPLE</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One question, end to end</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0E7C86"/>
          </a:solidFill>
          <a:ln w="12700">
            <a:solidFill>
              <a:srgbClr val="0E7C86"/>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18</a:t>
            </a:r>
            <a:endParaRPr lang="en-US" sz="850" dirty="0"/>
          </a:p>
        </p:txBody>
      </p:sp>
      <p:sp>
        <p:nvSpPr>
          <p:cNvPr id="17" name="Shape 14"/>
          <p:cNvSpPr/>
          <p:nvPr/>
        </p:nvSpPr>
        <p:spPr>
          <a:xfrm>
            <a:off x="457200" y="1298448"/>
            <a:ext cx="8229600" cy="457200"/>
          </a:xfrm>
          <a:prstGeom prst="roundRect">
            <a:avLst>
              <a:gd name="adj" fmla="val 16000"/>
            </a:avLst>
          </a:prstGeom>
          <a:solidFill>
            <a:srgbClr val="E8F5EF"/>
          </a:solidFill>
          <a:ln w="15875">
            <a:solidFill>
              <a:srgbClr val="00A86A"/>
            </a:solidFill>
            <a:prstDash val="solid"/>
          </a:ln>
        </p:spPr>
      </p:sp>
      <p:sp>
        <p:nvSpPr>
          <p:cNvPr id="18" name="Shape 15"/>
          <p:cNvSpPr/>
          <p:nvPr/>
        </p:nvSpPr>
        <p:spPr>
          <a:xfrm>
            <a:off x="548640" y="1344168"/>
            <a:ext cx="365760" cy="365760"/>
          </a:xfrm>
          <a:prstGeom prst="ellipse">
            <a:avLst/>
          </a:prstGeom>
          <a:solidFill>
            <a:srgbClr val="00A86A">
              <a:alpha val="22000"/>
            </a:srgbClr>
          </a:solidFill>
          <a:ln w="12700">
            <a:solidFill>
              <a:srgbClr val="00A86A">
                <a:alpha val="0"/>
              </a:srgbClr>
            </a:solidFill>
            <a:prstDash val="solid"/>
          </a:ln>
        </p:spPr>
      </p:sp>
      <p:pic>
        <p:nvPicPr>
          <p:cNvPr id="19" name="Image 0" descr="preencoded.png"/>
          <p:cNvPicPr>
            <a:picLocks noChangeAspect="1"/>
          </p:cNvPicPr>
          <p:nvPr/>
        </p:nvPicPr>
        <p:blipFill>
          <a:blip r:embed="rId3"/>
          <a:stretch>
            <a:fillRect/>
          </a:stretch>
        </p:blipFill>
        <p:spPr>
          <a:xfrm>
            <a:off x="643738" y="1439266"/>
            <a:ext cx="175565" cy="175565"/>
          </a:xfrm>
          <a:prstGeom prst="rect">
            <a:avLst/>
          </a:prstGeom>
        </p:spPr>
      </p:pic>
      <p:sp>
        <p:nvSpPr>
          <p:cNvPr id="20" name="Text 16"/>
          <p:cNvSpPr txBox="1"/>
          <p:nvPr/>
        </p:nvSpPr>
        <p:spPr>
          <a:xfrm>
            <a:off x="1005840" y="1298448"/>
            <a:ext cx="7589520" cy="457200"/>
          </a:xfrm>
          <a:prstGeom prst="rect">
            <a:avLst/>
          </a:prstGeom>
          <a:noFill/>
          <a:ln/>
        </p:spPr>
        <p:txBody>
          <a:bodyPr wrap="square" lIns="0" tIns="0" rIns="0" bIns="0" rtlCol="0" anchor="ctr"/>
          <a:lstStyle/>
          <a:p>
            <a:pPr marL="0" indent="0">
              <a:buNone/>
            </a:pPr>
            <a:r>
              <a:rPr lang="en-US" sz="1300" b="1" i="1" dirty="0">
                <a:solidFill>
                  <a:srgbClr val="00704A"/>
                </a:solidFill>
                <a:latin typeface="Calibri" pitchFamily="34" charset="0"/>
                <a:ea typeface="Calibri" pitchFamily="34" charset="-122"/>
                <a:cs typeface="Calibri" pitchFamily="34" charset="-120"/>
              </a:rPr>
              <a:t>Did the 2023 mini-grid programme really bring light to the targeted villages?</a:t>
            </a:r>
            <a:endParaRPr lang="en-US" sz="1300" dirty="0"/>
          </a:p>
        </p:txBody>
      </p:sp>
      <p:sp>
        <p:nvSpPr>
          <p:cNvPr id="21" name="Shape 17"/>
          <p:cNvSpPr/>
          <p:nvPr/>
        </p:nvSpPr>
        <p:spPr>
          <a:xfrm>
            <a:off x="457200" y="1892808"/>
            <a:ext cx="2651760" cy="1207008"/>
          </a:xfrm>
          <a:prstGeom prst="roundRect">
            <a:avLst>
              <a:gd name="adj" fmla="val 6061"/>
            </a:avLst>
          </a:prstGeom>
          <a:solidFill>
            <a:srgbClr val="F4F7F5"/>
          </a:solidFill>
          <a:ln w="9525">
            <a:solidFill>
              <a:srgbClr val="D5DED9"/>
            </a:solidFill>
            <a:prstDash val="solid"/>
          </a:ln>
        </p:spPr>
      </p:sp>
      <p:sp>
        <p:nvSpPr>
          <p:cNvPr id="22" name="Shape 18"/>
          <p:cNvSpPr/>
          <p:nvPr/>
        </p:nvSpPr>
        <p:spPr>
          <a:xfrm>
            <a:off x="566928" y="2002536"/>
            <a:ext cx="329184" cy="329184"/>
          </a:xfrm>
          <a:prstGeom prst="ellipse">
            <a:avLst/>
          </a:prstGeom>
          <a:solidFill>
            <a:srgbClr val="0E7C86"/>
          </a:solidFill>
          <a:ln w="12700">
            <a:solidFill>
              <a:srgbClr val="0E7C86"/>
            </a:solidFill>
            <a:prstDash val="solid"/>
          </a:ln>
        </p:spPr>
      </p:sp>
      <p:sp>
        <p:nvSpPr>
          <p:cNvPr id="23" name="Text 19"/>
          <p:cNvSpPr txBox="1"/>
          <p:nvPr/>
        </p:nvSpPr>
        <p:spPr>
          <a:xfrm>
            <a:off x="566928" y="200253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4" name="Text 20"/>
          <p:cNvSpPr txBox="1"/>
          <p:nvPr/>
        </p:nvSpPr>
        <p:spPr>
          <a:xfrm>
            <a:off x="987552" y="2002536"/>
            <a:ext cx="2029968"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Translate the question into light</a:t>
            </a:r>
            <a:endParaRPr lang="en-US" sz="1150" dirty="0"/>
          </a:p>
        </p:txBody>
      </p:sp>
      <p:sp>
        <p:nvSpPr>
          <p:cNvPr id="25" name="Text 21"/>
          <p:cNvSpPr txBox="1"/>
          <p:nvPr/>
        </p:nvSpPr>
        <p:spPr>
          <a:xfrm>
            <a:off x="585216" y="2386584"/>
            <a:ext cx="2414016" cy="68580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Electrified villages should have more nights above their background radiance after commissioning.</a:t>
            </a:r>
            <a:endParaRPr lang="en-US" sz="900" dirty="0"/>
          </a:p>
        </p:txBody>
      </p:sp>
      <p:sp>
        <p:nvSpPr>
          <p:cNvPr id="26" name="Shape 22"/>
          <p:cNvSpPr/>
          <p:nvPr/>
        </p:nvSpPr>
        <p:spPr>
          <a:xfrm>
            <a:off x="3246120" y="1892808"/>
            <a:ext cx="2651760" cy="1207008"/>
          </a:xfrm>
          <a:prstGeom prst="roundRect">
            <a:avLst>
              <a:gd name="adj" fmla="val 6061"/>
            </a:avLst>
          </a:prstGeom>
          <a:solidFill>
            <a:srgbClr val="F4F7F5"/>
          </a:solidFill>
          <a:ln w="9525">
            <a:solidFill>
              <a:srgbClr val="D5DED9"/>
            </a:solidFill>
            <a:prstDash val="solid"/>
          </a:ln>
        </p:spPr>
      </p:sp>
      <p:sp>
        <p:nvSpPr>
          <p:cNvPr id="27" name="Shape 23"/>
          <p:cNvSpPr/>
          <p:nvPr/>
        </p:nvSpPr>
        <p:spPr>
          <a:xfrm>
            <a:off x="3355848" y="2002536"/>
            <a:ext cx="329184" cy="329184"/>
          </a:xfrm>
          <a:prstGeom prst="ellipse">
            <a:avLst/>
          </a:prstGeom>
          <a:solidFill>
            <a:srgbClr val="0E7C86"/>
          </a:solidFill>
          <a:ln w="12700">
            <a:solidFill>
              <a:srgbClr val="0E7C86"/>
            </a:solidFill>
            <a:prstDash val="solid"/>
          </a:ln>
        </p:spPr>
      </p:sp>
      <p:sp>
        <p:nvSpPr>
          <p:cNvPr id="28" name="Text 24"/>
          <p:cNvSpPr txBox="1"/>
          <p:nvPr/>
        </p:nvSpPr>
        <p:spPr>
          <a:xfrm>
            <a:off x="3355848" y="200253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9" name="Text 25"/>
          <p:cNvSpPr txBox="1"/>
          <p:nvPr/>
        </p:nvSpPr>
        <p:spPr>
          <a:xfrm>
            <a:off x="3776472" y="2002536"/>
            <a:ext cx="2029968"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Choose the product</a:t>
            </a:r>
            <a:endParaRPr lang="en-US" sz="1150" dirty="0"/>
          </a:p>
        </p:txBody>
      </p:sp>
      <p:sp>
        <p:nvSpPr>
          <p:cNvPr id="30" name="Text 26"/>
          <p:cNvSpPr txBox="1"/>
          <p:nvPr/>
        </p:nvSpPr>
        <p:spPr>
          <a:xfrm>
            <a:off x="3374136" y="2386584"/>
            <a:ext cx="2414016" cy="68580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VNP46A3 monthly to date the change; VNP46A2 daily for reliability. Record the version.</a:t>
            </a:r>
            <a:endParaRPr lang="en-US" sz="900" dirty="0"/>
          </a:p>
        </p:txBody>
      </p:sp>
      <p:sp>
        <p:nvSpPr>
          <p:cNvPr id="31" name="Shape 27"/>
          <p:cNvSpPr/>
          <p:nvPr/>
        </p:nvSpPr>
        <p:spPr>
          <a:xfrm>
            <a:off x="6035040" y="1892808"/>
            <a:ext cx="2651760" cy="1207008"/>
          </a:xfrm>
          <a:prstGeom prst="roundRect">
            <a:avLst>
              <a:gd name="adj" fmla="val 6061"/>
            </a:avLst>
          </a:prstGeom>
          <a:solidFill>
            <a:srgbClr val="F4F7F5"/>
          </a:solidFill>
          <a:ln w="9525">
            <a:solidFill>
              <a:srgbClr val="D5DED9"/>
            </a:solidFill>
            <a:prstDash val="solid"/>
          </a:ln>
        </p:spPr>
      </p:sp>
      <p:sp>
        <p:nvSpPr>
          <p:cNvPr id="32" name="Shape 28"/>
          <p:cNvSpPr/>
          <p:nvPr/>
        </p:nvSpPr>
        <p:spPr>
          <a:xfrm>
            <a:off x="6144768" y="2002536"/>
            <a:ext cx="329184" cy="329184"/>
          </a:xfrm>
          <a:prstGeom prst="ellipse">
            <a:avLst/>
          </a:prstGeom>
          <a:solidFill>
            <a:srgbClr val="0E7C86"/>
          </a:solidFill>
          <a:ln w="12700">
            <a:solidFill>
              <a:srgbClr val="0E7C86"/>
            </a:solidFill>
            <a:prstDash val="solid"/>
          </a:ln>
        </p:spPr>
      </p:sp>
      <p:sp>
        <p:nvSpPr>
          <p:cNvPr id="33" name="Text 29"/>
          <p:cNvSpPr txBox="1"/>
          <p:nvPr/>
        </p:nvSpPr>
        <p:spPr>
          <a:xfrm>
            <a:off x="6144768" y="200253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Text 30"/>
          <p:cNvSpPr txBox="1"/>
          <p:nvPr/>
        </p:nvSpPr>
        <p:spPr>
          <a:xfrm>
            <a:off x="6565392" y="2002536"/>
            <a:ext cx="2029968"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Define the units</a:t>
            </a:r>
            <a:endParaRPr lang="en-US" sz="1150" dirty="0"/>
          </a:p>
        </p:txBody>
      </p:sp>
      <p:sp>
        <p:nvSpPr>
          <p:cNvPr id="35" name="Text 31"/>
          <p:cNvSpPr txBox="1"/>
          <p:nvPr/>
        </p:nvSpPr>
        <p:spPr>
          <a:xfrm>
            <a:off x="6163056" y="2386584"/>
            <a:ext cx="2414016" cy="68580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Settlement footprints plus a small buffer — not whole districts, where a few lit villages disappear.</a:t>
            </a:r>
            <a:endParaRPr lang="en-US" sz="900" dirty="0"/>
          </a:p>
        </p:txBody>
      </p:sp>
      <p:sp>
        <p:nvSpPr>
          <p:cNvPr id="36" name="Shape 32"/>
          <p:cNvSpPr/>
          <p:nvPr/>
        </p:nvSpPr>
        <p:spPr>
          <a:xfrm>
            <a:off x="457200" y="3236976"/>
            <a:ext cx="2651760" cy="1207008"/>
          </a:xfrm>
          <a:prstGeom prst="roundRect">
            <a:avLst>
              <a:gd name="adj" fmla="val 6061"/>
            </a:avLst>
          </a:prstGeom>
          <a:solidFill>
            <a:srgbClr val="F4F7F5"/>
          </a:solidFill>
          <a:ln w="9525">
            <a:solidFill>
              <a:srgbClr val="D5DED9"/>
            </a:solidFill>
            <a:prstDash val="solid"/>
          </a:ln>
        </p:spPr>
      </p:sp>
      <p:sp>
        <p:nvSpPr>
          <p:cNvPr id="37" name="Shape 33"/>
          <p:cNvSpPr/>
          <p:nvPr/>
        </p:nvSpPr>
        <p:spPr>
          <a:xfrm>
            <a:off x="566928" y="3346704"/>
            <a:ext cx="329184" cy="329184"/>
          </a:xfrm>
          <a:prstGeom prst="ellipse">
            <a:avLst/>
          </a:prstGeom>
          <a:solidFill>
            <a:srgbClr val="0E7C86"/>
          </a:solidFill>
          <a:ln w="12700">
            <a:solidFill>
              <a:srgbClr val="0E7C86"/>
            </a:solidFill>
            <a:prstDash val="solid"/>
          </a:ln>
        </p:spPr>
      </p:sp>
      <p:sp>
        <p:nvSpPr>
          <p:cNvPr id="38" name="Text 34"/>
          <p:cNvSpPr txBox="1"/>
          <p:nvPr/>
        </p:nvSpPr>
        <p:spPr>
          <a:xfrm>
            <a:off x="566928" y="334670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9" name="Text 35"/>
          <p:cNvSpPr txBox="1"/>
          <p:nvPr/>
        </p:nvSpPr>
        <p:spPr>
          <a:xfrm>
            <a:off x="987552" y="3346704"/>
            <a:ext cx="2029968"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Indicator and control</a:t>
            </a:r>
            <a:endParaRPr lang="en-US" sz="1150" dirty="0"/>
          </a:p>
        </p:txBody>
      </p:sp>
      <p:sp>
        <p:nvSpPr>
          <p:cNvPr id="40" name="Text 36"/>
          <p:cNvSpPr txBox="1"/>
          <p:nvPr/>
        </p:nvSpPr>
        <p:spPr>
          <a:xfrm>
            <a:off x="585216" y="3730752"/>
            <a:ext cx="2414016" cy="68580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Mean radiance and share of lit nights; controls = similar villages outside the programme.</a:t>
            </a:r>
            <a:endParaRPr lang="en-US" sz="900" dirty="0"/>
          </a:p>
        </p:txBody>
      </p:sp>
      <p:sp>
        <p:nvSpPr>
          <p:cNvPr id="41" name="Shape 37"/>
          <p:cNvSpPr/>
          <p:nvPr/>
        </p:nvSpPr>
        <p:spPr>
          <a:xfrm>
            <a:off x="3246120" y="3236976"/>
            <a:ext cx="2651760" cy="1207008"/>
          </a:xfrm>
          <a:prstGeom prst="roundRect">
            <a:avLst>
              <a:gd name="adj" fmla="val 6061"/>
            </a:avLst>
          </a:prstGeom>
          <a:solidFill>
            <a:srgbClr val="F4F7F5"/>
          </a:solidFill>
          <a:ln w="9525">
            <a:solidFill>
              <a:srgbClr val="D5DED9"/>
            </a:solidFill>
            <a:prstDash val="solid"/>
          </a:ln>
        </p:spPr>
      </p:sp>
      <p:sp>
        <p:nvSpPr>
          <p:cNvPr id="42" name="Shape 38"/>
          <p:cNvSpPr/>
          <p:nvPr/>
        </p:nvSpPr>
        <p:spPr>
          <a:xfrm>
            <a:off x="3355848" y="3346704"/>
            <a:ext cx="329184" cy="329184"/>
          </a:xfrm>
          <a:prstGeom prst="ellipse">
            <a:avLst/>
          </a:prstGeom>
          <a:solidFill>
            <a:srgbClr val="0E7C86"/>
          </a:solidFill>
          <a:ln w="12700">
            <a:solidFill>
              <a:srgbClr val="0E7C86"/>
            </a:solidFill>
            <a:prstDash val="solid"/>
          </a:ln>
        </p:spPr>
      </p:sp>
      <p:sp>
        <p:nvSpPr>
          <p:cNvPr id="43" name="Text 39"/>
          <p:cNvSpPr txBox="1"/>
          <p:nvPr/>
        </p:nvSpPr>
        <p:spPr>
          <a:xfrm>
            <a:off x="3355848" y="334670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4" name="Text 40"/>
          <p:cNvSpPr txBox="1"/>
          <p:nvPr/>
        </p:nvSpPr>
        <p:spPr>
          <a:xfrm>
            <a:off x="3776472" y="3346704"/>
            <a:ext cx="2029968"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Read the difference</a:t>
            </a:r>
            <a:endParaRPr lang="en-US" sz="1150" dirty="0"/>
          </a:p>
        </p:txBody>
      </p:sp>
      <p:sp>
        <p:nvSpPr>
          <p:cNvPr id="45" name="Text 41"/>
          <p:cNvSpPr txBox="1"/>
          <p:nvPr/>
        </p:nvSpPr>
        <p:spPr>
          <a:xfrm>
            <a:off x="3374136" y="3730752"/>
            <a:ext cx="2414016" cy="68580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A break in programme villages, absent in the controls, is evidence; a common rise is regional.</a:t>
            </a:r>
            <a:endParaRPr lang="en-US" sz="900" dirty="0"/>
          </a:p>
        </p:txBody>
      </p:sp>
      <p:sp>
        <p:nvSpPr>
          <p:cNvPr id="46" name="Shape 42"/>
          <p:cNvSpPr/>
          <p:nvPr/>
        </p:nvSpPr>
        <p:spPr>
          <a:xfrm>
            <a:off x="6035040" y="3236976"/>
            <a:ext cx="2651760" cy="1207008"/>
          </a:xfrm>
          <a:prstGeom prst="roundRect">
            <a:avLst>
              <a:gd name="adj" fmla="val 6061"/>
            </a:avLst>
          </a:prstGeom>
          <a:solidFill>
            <a:srgbClr val="F4F7F5"/>
          </a:solidFill>
          <a:ln w="9525">
            <a:solidFill>
              <a:srgbClr val="D5DED9"/>
            </a:solidFill>
            <a:prstDash val="solid"/>
          </a:ln>
        </p:spPr>
      </p:sp>
      <p:sp>
        <p:nvSpPr>
          <p:cNvPr id="47" name="Shape 43"/>
          <p:cNvSpPr/>
          <p:nvPr/>
        </p:nvSpPr>
        <p:spPr>
          <a:xfrm>
            <a:off x="6144768" y="3346704"/>
            <a:ext cx="329184" cy="329184"/>
          </a:xfrm>
          <a:prstGeom prst="ellipse">
            <a:avLst/>
          </a:prstGeom>
          <a:solidFill>
            <a:srgbClr val="D49A00"/>
          </a:solidFill>
          <a:ln w="12700">
            <a:solidFill>
              <a:srgbClr val="D49A00"/>
            </a:solidFill>
            <a:prstDash val="solid"/>
          </a:ln>
        </p:spPr>
      </p:sp>
      <p:sp>
        <p:nvSpPr>
          <p:cNvPr id="48" name="Text 44"/>
          <p:cNvSpPr txBox="1"/>
          <p:nvPr/>
        </p:nvSpPr>
        <p:spPr>
          <a:xfrm>
            <a:off x="6144768" y="334670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9" name="Text 45"/>
          <p:cNvSpPr txBox="1"/>
          <p:nvPr/>
        </p:nvSpPr>
        <p:spPr>
          <a:xfrm>
            <a:off x="6565392" y="3346704"/>
            <a:ext cx="2029968"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Try to refute it</a:t>
            </a:r>
            <a:endParaRPr lang="en-US" sz="1150" dirty="0"/>
          </a:p>
        </p:txBody>
      </p:sp>
      <p:sp>
        <p:nvSpPr>
          <p:cNvPr id="50" name="Text 46"/>
          <p:cNvSpPr txBox="1"/>
          <p:nvPr/>
        </p:nvSpPr>
        <p:spPr>
          <a:xfrm>
            <a:off x="6163056" y="3730752"/>
            <a:ext cx="2414016" cy="68580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Check fires, flares, Moon and season; compare with the utility’s connections or programme monitoring.</a:t>
            </a:r>
            <a:endParaRPr lang="en-US" sz="9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8580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4</a:t>
            </a:r>
            <a:endParaRPr lang="en-US" sz="1050" dirty="0"/>
          </a:p>
        </p:txBody>
      </p:sp>
      <p:sp>
        <p:nvSpPr>
          <p:cNvPr id="4" name="Text 2"/>
          <p:cNvSpPr txBox="1"/>
          <p:nvPr/>
        </p:nvSpPr>
        <p:spPr>
          <a:xfrm>
            <a:off x="502920" y="91440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04</a:t>
            </a:r>
            <a:endParaRPr lang="en-US" sz="9600" dirty="0"/>
          </a:p>
        </p:txBody>
      </p:sp>
      <p:sp>
        <p:nvSpPr>
          <p:cNvPr id="5" name="Text 3"/>
          <p:cNvSpPr txBox="1"/>
          <p:nvPr/>
        </p:nvSpPr>
        <p:spPr>
          <a:xfrm>
            <a:off x="548640" y="2240280"/>
            <a:ext cx="5486400" cy="6858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Applications</a:t>
            </a:r>
            <a:endParaRPr lang="en-US" sz="3600" dirty="0"/>
          </a:p>
        </p:txBody>
      </p:sp>
      <p:sp>
        <p:nvSpPr>
          <p:cNvPr id="6" name="Text 4"/>
          <p:cNvSpPr txBox="1"/>
          <p:nvPr/>
        </p:nvSpPr>
        <p:spPr>
          <a:xfrm>
            <a:off x="548640" y="2971800"/>
            <a:ext cx="5120640" cy="59436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Which statistical questions can these data really answer?</a:t>
            </a:r>
            <a:endParaRPr lang="en-US" sz="1800" dirty="0"/>
          </a:p>
        </p:txBody>
      </p:sp>
      <p:sp>
        <p:nvSpPr>
          <p:cNvPr id="7" name="Text 5"/>
          <p:cNvSpPr txBox="1"/>
          <p:nvPr/>
        </p:nvSpPr>
        <p:spPr>
          <a:xfrm>
            <a:off x="548640" y="3703320"/>
            <a:ext cx="5303520" cy="274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SDGs  ·  Economy  ·  Energy access  ·  Urbanisation  ·  Crises</a:t>
            </a:r>
            <a:endParaRPr lang="en-US" sz="1200" dirty="0"/>
          </a:p>
        </p:txBody>
      </p:sp>
      <p:sp>
        <p:nvSpPr>
          <p:cNvPr id="8" name="Shape 6"/>
          <p:cNvSpPr/>
          <p:nvPr/>
        </p:nvSpPr>
        <p:spPr>
          <a:xfrm>
            <a:off x="548640" y="4343400"/>
            <a:ext cx="118872" cy="118872"/>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768096" y="4343400"/>
            <a:ext cx="118872" cy="118872"/>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987552" y="4343400"/>
            <a:ext cx="118872" cy="118872"/>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207008" y="4343400"/>
            <a:ext cx="118872" cy="118872"/>
          </a:xfrm>
          <a:prstGeom prst="ellipse">
            <a:avLst/>
          </a:prstGeom>
          <a:solidFill>
            <a:srgbClr val="F5C242"/>
          </a:solidFill>
          <a:ln w="12700">
            <a:solidFill>
              <a:srgbClr val="FFFFFF">
                <a:alpha val="0"/>
              </a:srgbClr>
            </a:solidFill>
            <a:prstDash val="solid"/>
          </a:ln>
        </p:spPr>
      </p:sp>
      <p:sp>
        <p:nvSpPr>
          <p:cNvPr id="12" name="Shape 10"/>
          <p:cNvSpPr/>
          <p:nvPr/>
        </p:nvSpPr>
        <p:spPr>
          <a:xfrm>
            <a:off x="1426464" y="4343400"/>
            <a:ext cx="118872" cy="118872"/>
          </a:xfrm>
          <a:prstGeom prst="ellipse">
            <a:avLst/>
          </a:prstGeom>
          <a:solidFill>
            <a:srgbClr val="FFFFFF">
              <a:alpha val="40000"/>
            </a:srgbClr>
          </a:solidFill>
          <a:ln w="12700">
            <a:solidFill>
              <a:srgbClr val="FFFFFF">
                <a:alpha val="0"/>
              </a:srgbClr>
            </a:solidFill>
            <a:prstDash val="solid"/>
          </a:ln>
        </p:spPr>
      </p:sp>
      <p:sp>
        <p:nvSpPr>
          <p:cNvPr id="13" name="Shape 11"/>
          <p:cNvSpPr/>
          <p:nvPr/>
        </p:nvSpPr>
        <p:spPr>
          <a:xfrm>
            <a:off x="1645920" y="4343400"/>
            <a:ext cx="118872" cy="118872"/>
          </a:xfrm>
          <a:prstGeom prst="ellipse">
            <a:avLst/>
          </a:prstGeom>
          <a:solidFill>
            <a:srgbClr val="FFFFFF">
              <a:alpha val="40000"/>
            </a:srgbClr>
          </a:solidFill>
          <a:ln w="12700">
            <a:solidFill>
              <a:srgbClr val="FFFFFF">
                <a:alpha val="0"/>
              </a:srgbClr>
            </a:solidFill>
            <a:prstDash val="solid"/>
          </a:ln>
        </p:spPr>
      </p:sp>
      <p:sp>
        <p:nvSpPr>
          <p:cNvPr id="14" name="Shape 12"/>
          <p:cNvSpPr/>
          <p:nvPr/>
        </p:nvSpPr>
        <p:spPr>
          <a:xfrm>
            <a:off x="5760720" y="1188720"/>
            <a:ext cx="2651760" cy="2651760"/>
          </a:xfrm>
          <a:prstGeom prst="ellipse">
            <a:avLst/>
          </a:prstGeom>
          <a:solidFill>
            <a:srgbClr val="FFFFFF">
              <a:alpha val="10000"/>
            </a:srgbClr>
          </a:solidFill>
          <a:ln w="9525">
            <a:solidFill>
              <a:srgbClr val="FFFFFF">
                <a:alpha val="30000"/>
              </a:srgbClr>
            </a:solidFill>
            <a:prstDash val="solid"/>
          </a:ln>
        </p:spPr>
      </p:sp>
      <p:sp>
        <p:nvSpPr>
          <p:cNvPr id="15" name="Shape 13"/>
          <p:cNvSpPr/>
          <p:nvPr/>
        </p:nvSpPr>
        <p:spPr>
          <a:xfrm>
            <a:off x="6080760" y="1508760"/>
            <a:ext cx="2011680" cy="2011680"/>
          </a:xfrm>
          <a:prstGeom prst="ellipse">
            <a:avLst/>
          </a:prstGeom>
          <a:solidFill>
            <a:srgbClr val="FFFFFF">
              <a:alpha val="13000"/>
            </a:srgbClr>
          </a:solidFill>
          <a:ln w="9525">
            <a:solidFill>
              <a:srgbClr val="FFFFFF">
                <a:alpha val="30000"/>
              </a:srgbClr>
            </a:solidFill>
            <a:prstDash val="solid"/>
          </a:ln>
        </p:spPr>
      </p:sp>
      <p:sp>
        <p:nvSpPr>
          <p:cNvPr id="16" name="Shape 14"/>
          <p:cNvSpPr/>
          <p:nvPr/>
        </p:nvSpPr>
        <p:spPr>
          <a:xfrm>
            <a:off x="6400800" y="1828800"/>
            <a:ext cx="1371600" cy="1371600"/>
          </a:xfrm>
          <a:prstGeom prst="ellipse">
            <a:avLst/>
          </a:prstGeom>
          <a:solidFill>
            <a:srgbClr val="FFFFFF">
              <a:alpha val="16000"/>
            </a:srgbClr>
          </a:solidFill>
          <a:ln w="9525">
            <a:solidFill>
              <a:srgbClr val="FFFFFF">
                <a:alpha val="30000"/>
              </a:srgbClr>
            </a:solidFill>
            <a:prstDash val="solid"/>
          </a:ln>
        </p:spPr>
      </p:sp>
      <p:sp>
        <p:nvSpPr>
          <p:cNvPr id="17" name="Shape 15"/>
          <p:cNvSpPr/>
          <p:nvPr/>
        </p:nvSpPr>
        <p:spPr>
          <a:xfrm>
            <a:off x="6629400" y="2057400"/>
            <a:ext cx="914400" cy="914400"/>
          </a:xfrm>
          <a:prstGeom prst="ellipse">
            <a:avLst/>
          </a:prstGeom>
          <a:solidFill>
            <a:srgbClr val="FFFFFF"/>
          </a:solidFill>
          <a:ln w="12700">
            <a:solidFill>
              <a:srgbClr val="FFFFFF"/>
            </a:solidFill>
            <a:prstDash val="solid"/>
          </a:ln>
        </p:spPr>
      </p:sp>
      <p:pic>
        <p:nvPicPr>
          <p:cNvPr id="18" name="Image 0" descr="preencoded.png"/>
          <p:cNvPicPr>
            <a:picLocks noChangeAspect="1"/>
          </p:cNvPicPr>
          <p:nvPr/>
        </p:nvPicPr>
        <p:blipFill>
          <a:blip r:embed="rId4"/>
          <a:stretch>
            <a:fillRect/>
          </a:stretch>
        </p:blipFill>
        <p:spPr>
          <a:xfrm>
            <a:off x="6848856" y="2276856"/>
            <a:ext cx="475488" cy="475488"/>
          </a:xfrm>
          <a:prstGeom prst="rect">
            <a:avLst/>
          </a:prstGeom>
        </p:spPr>
      </p:pic>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APPLICATIONS · OVERVIEW</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Where lights support SDG monitoring</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49A00"/>
          </a:solidFill>
          <a:ln w="12700">
            <a:solidFill>
              <a:srgbClr val="D49A00"/>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20</a:t>
            </a:r>
            <a:endParaRPr lang="en-US" sz="850" dirty="0"/>
          </a:p>
        </p:txBody>
      </p:sp>
      <p:sp>
        <p:nvSpPr>
          <p:cNvPr id="17" name="Shape 14"/>
          <p:cNvSpPr/>
          <p:nvPr/>
        </p:nvSpPr>
        <p:spPr>
          <a:xfrm>
            <a:off x="457200" y="1325880"/>
            <a:ext cx="2651760" cy="1143000"/>
          </a:xfrm>
          <a:prstGeom prst="roundRect">
            <a:avLst>
              <a:gd name="adj" fmla="val 6400"/>
            </a:avLst>
          </a:prstGeom>
          <a:solidFill>
            <a:srgbClr val="F4F7F5"/>
          </a:solidFill>
          <a:ln w="9525">
            <a:solidFill>
              <a:srgbClr val="D5DED9"/>
            </a:solidFill>
            <a:prstDash val="solid"/>
          </a:ln>
        </p:spPr>
      </p:sp>
      <p:sp>
        <p:nvSpPr>
          <p:cNvPr id="18" name="Shape 15"/>
          <p:cNvSpPr/>
          <p:nvPr/>
        </p:nvSpPr>
        <p:spPr>
          <a:xfrm>
            <a:off x="566928" y="1453896"/>
            <a:ext cx="457200" cy="457200"/>
          </a:xfrm>
          <a:prstGeom prst="ellipse">
            <a:avLst/>
          </a:prstGeom>
          <a:solidFill>
            <a:srgbClr val="00A86A">
              <a:alpha val="22000"/>
            </a:srgbClr>
          </a:solidFill>
          <a:ln w="12700">
            <a:solidFill>
              <a:srgbClr val="00A86A">
                <a:alpha val="0"/>
              </a:srgbClr>
            </a:solidFill>
            <a:prstDash val="solid"/>
          </a:ln>
        </p:spPr>
      </p:sp>
      <p:pic>
        <p:nvPicPr>
          <p:cNvPr id="19" name="Image 0" descr="preencoded.png"/>
          <p:cNvPicPr>
            <a:picLocks noChangeAspect="1"/>
          </p:cNvPicPr>
          <p:nvPr/>
        </p:nvPicPr>
        <p:blipFill>
          <a:blip r:embed="rId3"/>
          <a:stretch>
            <a:fillRect/>
          </a:stretch>
        </p:blipFill>
        <p:spPr>
          <a:xfrm>
            <a:off x="685800" y="1572768"/>
            <a:ext cx="219456" cy="219456"/>
          </a:xfrm>
          <a:prstGeom prst="rect">
            <a:avLst/>
          </a:prstGeom>
        </p:spPr>
      </p:pic>
      <p:sp>
        <p:nvSpPr>
          <p:cNvPr id="20" name="Shape 16"/>
          <p:cNvSpPr/>
          <p:nvPr/>
        </p:nvSpPr>
        <p:spPr>
          <a:xfrm>
            <a:off x="1143000" y="1453896"/>
            <a:ext cx="685800" cy="219456"/>
          </a:xfrm>
          <a:prstGeom prst="roundRect">
            <a:avLst>
              <a:gd name="adj" fmla="val 50000"/>
            </a:avLst>
          </a:prstGeom>
          <a:solidFill>
            <a:srgbClr val="00A86A">
              <a:alpha val="15000"/>
            </a:srgbClr>
          </a:solidFill>
          <a:ln w="9525">
            <a:solidFill>
              <a:srgbClr val="00A86A"/>
            </a:solidFill>
            <a:prstDash val="solid"/>
          </a:ln>
        </p:spPr>
      </p:sp>
      <p:sp>
        <p:nvSpPr>
          <p:cNvPr id="21" name="Text 17"/>
          <p:cNvSpPr txBox="1"/>
          <p:nvPr/>
        </p:nvSpPr>
        <p:spPr>
          <a:xfrm>
            <a:off x="1143000" y="1453896"/>
            <a:ext cx="685800" cy="219456"/>
          </a:xfrm>
          <a:prstGeom prst="rect">
            <a:avLst/>
          </a:prstGeom>
          <a:noFill/>
          <a:ln/>
        </p:spPr>
        <p:txBody>
          <a:bodyPr wrap="square" lIns="0" tIns="0" rIns="0" bIns="0" rtlCol="0" anchor="ctr"/>
          <a:lstStyle/>
          <a:p>
            <a:pPr marL="0" indent="0" algn="ctr">
              <a:buNone/>
            </a:pPr>
            <a:r>
              <a:rPr lang="en-US" sz="850" b="1" dirty="0">
                <a:solidFill>
                  <a:srgbClr val="00A86A"/>
                </a:solidFill>
                <a:latin typeface="Calibri" pitchFamily="34" charset="0"/>
                <a:ea typeface="Calibri" pitchFamily="34" charset="-122"/>
                <a:cs typeface="Calibri" pitchFamily="34" charset="-120"/>
              </a:rPr>
              <a:t>SDG 1</a:t>
            </a:r>
            <a:endParaRPr lang="en-US" sz="850" dirty="0"/>
          </a:p>
        </p:txBody>
      </p:sp>
      <p:sp>
        <p:nvSpPr>
          <p:cNvPr id="22" name="Text 18"/>
          <p:cNvSpPr txBox="1"/>
          <p:nvPr/>
        </p:nvSpPr>
        <p:spPr>
          <a:xfrm>
            <a:off x="1143000" y="1709928"/>
            <a:ext cx="1901952" cy="256032"/>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Poverty mapping</a:t>
            </a:r>
            <a:endParaRPr lang="en-US" sz="1150" dirty="0"/>
          </a:p>
        </p:txBody>
      </p:sp>
      <p:sp>
        <p:nvSpPr>
          <p:cNvPr id="23" name="Text 19"/>
          <p:cNvSpPr txBox="1"/>
          <p:nvPr/>
        </p:nvSpPr>
        <p:spPr>
          <a:xfrm>
            <a:off x="585216" y="2020824"/>
            <a:ext cx="2395728" cy="4114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Small-area estimates combining lights and surveys</a:t>
            </a:r>
            <a:endParaRPr lang="en-US" sz="900" dirty="0"/>
          </a:p>
        </p:txBody>
      </p:sp>
      <p:sp>
        <p:nvSpPr>
          <p:cNvPr id="24" name="Shape 20"/>
          <p:cNvSpPr/>
          <p:nvPr/>
        </p:nvSpPr>
        <p:spPr>
          <a:xfrm>
            <a:off x="3246120" y="1325880"/>
            <a:ext cx="2651760" cy="1143000"/>
          </a:xfrm>
          <a:prstGeom prst="roundRect">
            <a:avLst>
              <a:gd name="adj" fmla="val 6400"/>
            </a:avLst>
          </a:prstGeom>
          <a:solidFill>
            <a:srgbClr val="F4F7F5"/>
          </a:solidFill>
          <a:ln w="9525">
            <a:solidFill>
              <a:srgbClr val="D5DED9"/>
            </a:solidFill>
            <a:prstDash val="solid"/>
          </a:ln>
        </p:spPr>
      </p:sp>
      <p:sp>
        <p:nvSpPr>
          <p:cNvPr id="25" name="Shape 21"/>
          <p:cNvSpPr/>
          <p:nvPr/>
        </p:nvSpPr>
        <p:spPr>
          <a:xfrm>
            <a:off x="3355848" y="1453896"/>
            <a:ext cx="457200" cy="457200"/>
          </a:xfrm>
          <a:prstGeom prst="ellipse">
            <a:avLst/>
          </a:prstGeom>
          <a:solidFill>
            <a:srgbClr val="00704A">
              <a:alpha val="22000"/>
            </a:srgbClr>
          </a:solidFill>
          <a:ln w="12700">
            <a:solidFill>
              <a:srgbClr val="00704A">
                <a:alpha val="0"/>
              </a:srgbClr>
            </a:solidFill>
            <a:prstDash val="solid"/>
          </a:ln>
        </p:spPr>
      </p:sp>
      <p:pic>
        <p:nvPicPr>
          <p:cNvPr id="26" name="Image 1" descr="preencoded.png"/>
          <p:cNvPicPr>
            <a:picLocks noChangeAspect="1"/>
          </p:cNvPicPr>
          <p:nvPr/>
        </p:nvPicPr>
        <p:blipFill>
          <a:blip r:embed="rId4"/>
          <a:stretch>
            <a:fillRect/>
          </a:stretch>
        </p:blipFill>
        <p:spPr>
          <a:xfrm>
            <a:off x="3474720" y="1572768"/>
            <a:ext cx="219456" cy="219456"/>
          </a:xfrm>
          <a:prstGeom prst="rect">
            <a:avLst/>
          </a:prstGeom>
        </p:spPr>
      </p:pic>
      <p:sp>
        <p:nvSpPr>
          <p:cNvPr id="27" name="Shape 22"/>
          <p:cNvSpPr/>
          <p:nvPr/>
        </p:nvSpPr>
        <p:spPr>
          <a:xfrm>
            <a:off x="3931920" y="1453896"/>
            <a:ext cx="685800" cy="219456"/>
          </a:xfrm>
          <a:prstGeom prst="roundRect">
            <a:avLst>
              <a:gd name="adj" fmla="val 50000"/>
            </a:avLst>
          </a:prstGeom>
          <a:solidFill>
            <a:srgbClr val="00704A">
              <a:alpha val="15000"/>
            </a:srgbClr>
          </a:solidFill>
          <a:ln w="9525">
            <a:solidFill>
              <a:srgbClr val="00704A"/>
            </a:solidFill>
            <a:prstDash val="solid"/>
          </a:ln>
        </p:spPr>
      </p:sp>
      <p:sp>
        <p:nvSpPr>
          <p:cNvPr id="28" name="Text 23"/>
          <p:cNvSpPr txBox="1"/>
          <p:nvPr/>
        </p:nvSpPr>
        <p:spPr>
          <a:xfrm>
            <a:off x="3931920" y="1453896"/>
            <a:ext cx="685800" cy="219456"/>
          </a:xfrm>
          <a:prstGeom prst="rect">
            <a:avLst/>
          </a:prstGeom>
          <a:noFill/>
          <a:ln/>
        </p:spPr>
        <p:txBody>
          <a:bodyPr wrap="square" lIns="0" tIns="0" rIns="0" bIns="0" rtlCol="0" anchor="ctr"/>
          <a:lstStyle/>
          <a:p>
            <a:pPr marL="0" indent="0" algn="ctr">
              <a:buNone/>
            </a:pPr>
            <a:r>
              <a:rPr lang="en-US" sz="850" b="1" dirty="0">
                <a:solidFill>
                  <a:srgbClr val="00704A"/>
                </a:solidFill>
                <a:latin typeface="Calibri" pitchFamily="34" charset="0"/>
                <a:ea typeface="Calibri" pitchFamily="34" charset="-122"/>
                <a:cs typeface="Calibri" pitchFamily="34" charset="-120"/>
              </a:rPr>
              <a:t>SDG 7</a:t>
            </a:r>
            <a:endParaRPr lang="en-US" sz="850" dirty="0"/>
          </a:p>
        </p:txBody>
      </p:sp>
      <p:sp>
        <p:nvSpPr>
          <p:cNvPr id="29" name="Text 24"/>
          <p:cNvSpPr txBox="1"/>
          <p:nvPr/>
        </p:nvSpPr>
        <p:spPr>
          <a:xfrm>
            <a:off x="3931920" y="1709928"/>
            <a:ext cx="1901952" cy="256032"/>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Electricity access and reliability</a:t>
            </a:r>
            <a:endParaRPr lang="en-US" sz="1150" dirty="0"/>
          </a:p>
        </p:txBody>
      </p:sp>
      <p:sp>
        <p:nvSpPr>
          <p:cNvPr id="30" name="Text 25"/>
          <p:cNvSpPr txBox="1"/>
          <p:nvPr/>
        </p:nvSpPr>
        <p:spPr>
          <a:xfrm>
            <a:off x="3374136" y="2020824"/>
            <a:ext cx="2395728" cy="4114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Locate unserved settlements; track lighting frequency</a:t>
            </a:r>
            <a:endParaRPr lang="en-US" sz="900" dirty="0"/>
          </a:p>
        </p:txBody>
      </p:sp>
      <p:sp>
        <p:nvSpPr>
          <p:cNvPr id="31" name="Shape 26"/>
          <p:cNvSpPr/>
          <p:nvPr/>
        </p:nvSpPr>
        <p:spPr>
          <a:xfrm>
            <a:off x="6035040" y="1325880"/>
            <a:ext cx="2651760" cy="1143000"/>
          </a:xfrm>
          <a:prstGeom prst="roundRect">
            <a:avLst>
              <a:gd name="adj" fmla="val 6400"/>
            </a:avLst>
          </a:prstGeom>
          <a:solidFill>
            <a:srgbClr val="F4F7F5"/>
          </a:solidFill>
          <a:ln w="9525">
            <a:solidFill>
              <a:srgbClr val="D5DED9"/>
            </a:solidFill>
            <a:prstDash val="solid"/>
          </a:ln>
        </p:spPr>
      </p:sp>
      <p:sp>
        <p:nvSpPr>
          <p:cNvPr id="32" name="Shape 27"/>
          <p:cNvSpPr/>
          <p:nvPr/>
        </p:nvSpPr>
        <p:spPr>
          <a:xfrm>
            <a:off x="6144768" y="1453896"/>
            <a:ext cx="457200" cy="457200"/>
          </a:xfrm>
          <a:prstGeom prst="ellipse">
            <a:avLst/>
          </a:prstGeom>
          <a:solidFill>
            <a:srgbClr val="0E7C86">
              <a:alpha val="22000"/>
            </a:srgbClr>
          </a:solidFill>
          <a:ln w="12700">
            <a:solidFill>
              <a:srgbClr val="0E7C86">
                <a:alpha val="0"/>
              </a:srgbClr>
            </a:solidFill>
            <a:prstDash val="solid"/>
          </a:ln>
        </p:spPr>
      </p:sp>
      <p:pic>
        <p:nvPicPr>
          <p:cNvPr id="33" name="Image 2" descr="preencoded.png"/>
          <p:cNvPicPr>
            <a:picLocks noChangeAspect="1"/>
          </p:cNvPicPr>
          <p:nvPr/>
        </p:nvPicPr>
        <p:blipFill>
          <a:blip r:embed="rId5"/>
          <a:stretch>
            <a:fillRect/>
          </a:stretch>
        </p:blipFill>
        <p:spPr>
          <a:xfrm>
            <a:off x="6263640" y="1572768"/>
            <a:ext cx="219456" cy="219456"/>
          </a:xfrm>
          <a:prstGeom prst="rect">
            <a:avLst/>
          </a:prstGeom>
        </p:spPr>
      </p:pic>
      <p:sp>
        <p:nvSpPr>
          <p:cNvPr id="34" name="Shape 28"/>
          <p:cNvSpPr/>
          <p:nvPr/>
        </p:nvSpPr>
        <p:spPr>
          <a:xfrm>
            <a:off x="6720840" y="1453896"/>
            <a:ext cx="685800" cy="219456"/>
          </a:xfrm>
          <a:prstGeom prst="roundRect">
            <a:avLst>
              <a:gd name="adj" fmla="val 50000"/>
            </a:avLst>
          </a:prstGeom>
          <a:solidFill>
            <a:srgbClr val="0E7C86">
              <a:alpha val="15000"/>
            </a:srgbClr>
          </a:solidFill>
          <a:ln w="9525">
            <a:solidFill>
              <a:srgbClr val="0E7C86"/>
            </a:solidFill>
            <a:prstDash val="solid"/>
          </a:ln>
        </p:spPr>
      </p:sp>
      <p:sp>
        <p:nvSpPr>
          <p:cNvPr id="35" name="Text 29"/>
          <p:cNvSpPr txBox="1"/>
          <p:nvPr/>
        </p:nvSpPr>
        <p:spPr>
          <a:xfrm>
            <a:off x="6720840" y="1453896"/>
            <a:ext cx="685800" cy="219456"/>
          </a:xfrm>
          <a:prstGeom prst="rect">
            <a:avLst/>
          </a:prstGeom>
          <a:noFill/>
          <a:ln/>
        </p:spPr>
        <p:txBody>
          <a:bodyPr wrap="square" lIns="0" tIns="0" rIns="0" bIns="0" rtlCol="0" anchor="ctr"/>
          <a:lstStyle/>
          <a:p>
            <a:pPr marL="0" indent="0" algn="ctr">
              <a:buNone/>
            </a:pPr>
            <a:r>
              <a:rPr lang="en-US" sz="850" b="1" dirty="0">
                <a:solidFill>
                  <a:srgbClr val="0E7C86"/>
                </a:solidFill>
                <a:latin typeface="Calibri" pitchFamily="34" charset="0"/>
                <a:ea typeface="Calibri" pitchFamily="34" charset="-122"/>
                <a:cs typeface="Calibri" pitchFamily="34" charset="-120"/>
              </a:rPr>
              <a:t>SDG 8</a:t>
            </a:r>
            <a:endParaRPr lang="en-US" sz="850" dirty="0"/>
          </a:p>
        </p:txBody>
      </p:sp>
      <p:sp>
        <p:nvSpPr>
          <p:cNvPr id="36" name="Text 30"/>
          <p:cNvSpPr txBox="1"/>
          <p:nvPr/>
        </p:nvSpPr>
        <p:spPr>
          <a:xfrm>
            <a:off x="6720840" y="1709928"/>
            <a:ext cx="1901952" cy="256032"/>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Economic activity</a:t>
            </a:r>
            <a:endParaRPr lang="en-US" sz="1150" dirty="0"/>
          </a:p>
        </p:txBody>
      </p:sp>
      <p:sp>
        <p:nvSpPr>
          <p:cNvPr id="37" name="Text 31"/>
          <p:cNvSpPr txBox="1"/>
          <p:nvPr/>
        </p:nvSpPr>
        <p:spPr>
          <a:xfrm>
            <a:off x="6163056" y="2020824"/>
            <a:ext cx="2395728" cy="4114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Subnational GDP breakdown; short-term activity signals</a:t>
            </a:r>
            <a:endParaRPr lang="en-US" sz="900" dirty="0"/>
          </a:p>
        </p:txBody>
      </p:sp>
      <p:sp>
        <p:nvSpPr>
          <p:cNvPr id="38" name="Shape 32"/>
          <p:cNvSpPr/>
          <p:nvPr/>
        </p:nvSpPr>
        <p:spPr>
          <a:xfrm>
            <a:off x="457200" y="2606040"/>
            <a:ext cx="2651760" cy="1143000"/>
          </a:xfrm>
          <a:prstGeom prst="roundRect">
            <a:avLst>
              <a:gd name="adj" fmla="val 6400"/>
            </a:avLst>
          </a:prstGeom>
          <a:solidFill>
            <a:srgbClr val="F4F7F5"/>
          </a:solidFill>
          <a:ln w="9525">
            <a:solidFill>
              <a:srgbClr val="D5DED9"/>
            </a:solidFill>
            <a:prstDash val="solid"/>
          </a:ln>
        </p:spPr>
      </p:sp>
      <p:sp>
        <p:nvSpPr>
          <p:cNvPr id="39" name="Shape 33"/>
          <p:cNvSpPr/>
          <p:nvPr/>
        </p:nvSpPr>
        <p:spPr>
          <a:xfrm>
            <a:off x="566928" y="2734056"/>
            <a:ext cx="457200" cy="457200"/>
          </a:xfrm>
          <a:prstGeom prst="ellipse">
            <a:avLst/>
          </a:prstGeom>
          <a:solidFill>
            <a:srgbClr val="D49A00">
              <a:alpha val="22000"/>
            </a:srgbClr>
          </a:solidFill>
          <a:ln w="12700">
            <a:solidFill>
              <a:srgbClr val="D49A00">
                <a:alpha val="0"/>
              </a:srgbClr>
            </a:solidFill>
            <a:prstDash val="solid"/>
          </a:ln>
        </p:spPr>
      </p:sp>
      <p:pic>
        <p:nvPicPr>
          <p:cNvPr id="40" name="Image 3" descr="preencoded.png"/>
          <p:cNvPicPr>
            <a:picLocks noChangeAspect="1"/>
          </p:cNvPicPr>
          <p:nvPr/>
        </p:nvPicPr>
        <p:blipFill>
          <a:blip r:embed="rId6"/>
          <a:stretch>
            <a:fillRect/>
          </a:stretch>
        </p:blipFill>
        <p:spPr>
          <a:xfrm>
            <a:off x="685800" y="2852928"/>
            <a:ext cx="219456" cy="219456"/>
          </a:xfrm>
          <a:prstGeom prst="rect">
            <a:avLst/>
          </a:prstGeom>
        </p:spPr>
      </p:pic>
      <p:sp>
        <p:nvSpPr>
          <p:cNvPr id="41" name="Shape 34"/>
          <p:cNvSpPr/>
          <p:nvPr/>
        </p:nvSpPr>
        <p:spPr>
          <a:xfrm>
            <a:off x="1143000" y="2734056"/>
            <a:ext cx="685800" cy="219456"/>
          </a:xfrm>
          <a:prstGeom prst="roundRect">
            <a:avLst>
              <a:gd name="adj" fmla="val 50000"/>
            </a:avLst>
          </a:prstGeom>
          <a:solidFill>
            <a:srgbClr val="D49A00">
              <a:alpha val="15000"/>
            </a:srgbClr>
          </a:solidFill>
          <a:ln w="9525">
            <a:solidFill>
              <a:srgbClr val="D49A00"/>
            </a:solidFill>
            <a:prstDash val="solid"/>
          </a:ln>
        </p:spPr>
      </p:sp>
      <p:sp>
        <p:nvSpPr>
          <p:cNvPr id="42" name="Text 35"/>
          <p:cNvSpPr txBox="1"/>
          <p:nvPr/>
        </p:nvSpPr>
        <p:spPr>
          <a:xfrm>
            <a:off x="1143000" y="2734056"/>
            <a:ext cx="685800" cy="219456"/>
          </a:xfrm>
          <a:prstGeom prst="rect">
            <a:avLst/>
          </a:prstGeom>
          <a:noFill/>
          <a:ln/>
        </p:spPr>
        <p:txBody>
          <a:bodyPr wrap="square" lIns="0" tIns="0" rIns="0" bIns="0" rtlCol="0" anchor="ctr"/>
          <a:lstStyle/>
          <a:p>
            <a:pPr marL="0" indent="0" algn="ctr">
              <a:buNone/>
            </a:pPr>
            <a:r>
              <a:rPr lang="en-US" sz="850" b="1" dirty="0">
                <a:solidFill>
                  <a:srgbClr val="D49A00"/>
                </a:solidFill>
                <a:latin typeface="Calibri" pitchFamily="34" charset="0"/>
                <a:ea typeface="Calibri" pitchFamily="34" charset="-122"/>
                <a:cs typeface="Calibri" pitchFamily="34" charset="-120"/>
              </a:rPr>
              <a:t>SDG 9</a:t>
            </a:r>
            <a:endParaRPr lang="en-US" sz="850" dirty="0"/>
          </a:p>
        </p:txBody>
      </p:sp>
      <p:sp>
        <p:nvSpPr>
          <p:cNvPr id="43" name="Text 36"/>
          <p:cNvSpPr txBox="1"/>
          <p:nvPr/>
        </p:nvSpPr>
        <p:spPr>
          <a:xfrm>
            <a:off x="1143000" y="2990088"/>
            <a:ext cx="1901952" cy="256032"/>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Infrastructure</a:t>
            </a:r>
            <a:endParaRPr lang="en-US" sz="1150" dirty="0"/>
          </a:p>
        </p:txBody>
      </p:sp>
      <p:sp>
        <p:nvSpPr>
          <p:cNvPr id="44" name="Text 37"/>
          <p:cNvSpPr txBox="1"/>
          <p:nvPr/>
        </p:nvSpPr>
        <p:spPr>
          <a:xfrm>
            <a:off x="585216" y="3300984"/>
            <a:ext cx="2395728" cy="4114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Corridors, ports, industrial zones and special economic zones</a:t>
            </a:r>
            <a:endParaRPr lang="en-US" sz="900" dirty="0"/>
          </a:p>
        </p:txBody>
      </p:sp>
      <p:sp>
        <p:nvSpPr>
          <p:cNvPr id="45" name="Shape 38"/>
          <p:cNvSpPr/>
          <p:nvPr/>
        </p:nvSpPr>
        <p:spPr>
          <a:xfrm>
            <a:off x="3246120" y="2606040"/>
            <a:ext cx="2651760" cy="1143000"/>
          </a:xfrm>
          <a:prstGeom prst="roundRect">
            <a:avLst>
              <a:gd name="adj" fmla="val 6400"/>
            </a:avLst>
          </a:prstGeom>
          <a:solidFill>
            <a:srgbClr val="F4F7F5"/>
          </a:solidFill>
          <a:ln w="9525">
            <a:solidFill>
              <a:srgbClr val="D5DED9"/>
            </a:solidFill>
            <a:prstDash val="solid"/>
          </a:ln>
        </p:spPr>
      </p:sp>
      <p:sp>
        <p:nvSpPr>
          <p:cNvPr id="46" name="Shape 39"/>
          <p:cNvSpPr/>
          <p:nvPr/>
        </p:nvSpPr>
        <p:spPr>
          <a:xfrm>
            <a:off x="3355848" y="2734056"/>
            <a:ext cx="457200" cy="457200"/>
          </a:xfrm>
          <a:prstGeom prst="ellipse">
            <a:avLst/>
          </a:prstGeom>
          <a:solidFill>
            <a:srgbClr val="C4621D">
              <a:alpha val="22000"/>
            </a:srgbClr>
          </a:solidFill>
          <a:ln w="12700">
            <a:solidFill>
              <a:srgbClr val="C4621D">
                <a:alpha val="0"/>
              </a:srgbClr>
            </a:solidFill>
            <a:prstDash val="solid"/>
          </a:ln>
        </p:spPr>
      </p:sp>
      <p:pic>
        <p:nvPicPr>
          <p:cNvPr id="47" name="Image 4" descr="preencoded.png"/>
          <p:cNvPicPr>
            <a:picLocks noChangeAspect="1"/>
          </p:cNvPicPr>
          <p:nvPr/>
        </p:nvPicPr>
        <p:blipFill>
          <a:blip r:embed="rId7"/>
          <a:stretch>
            <a:fillRect/>
          </a:stretch>
        </p:blipFill>
        <p:spPr>
          <a:xfrm>
            <a:off x="3474720" y="2852928"/>
            <a:ext cx="219456" cy="219456"/>
          </a:xfrm>
          <a:prstGeom prst="rect">
            <a:avLst/>
          </a:prstGeom>
        </p:spPr>
      </p:pic>
      <p:sp>
        <p:nvSpPr>
          <p:cNvPr id="48" name="Shape 40"/>
          <p:cNvSpPr/>
          <p:nvPr/>
        </p:nvSpPr>
        <p:spPr>
          <a:xfrm>
            <a:off x="3931920" y="2734056"/>
            <a:ext cx="685800" cy="219456"/>
          </a:xfrm>
          <a:prstGeom prst="roundRect">
            <a:avLst>
              <a:gd name="adj" fmla="val 50000"/>
            </a:avLst>
          </a:prstGeom>
          <a:solidFill>
            <a:srgbClr val="C4621D">
              <a:alpha val="15000"/>
            </a:srgbClr>
          </a:solidFill>
          <a:ln w="9525">
            <a:solidFill>
              <a:srgbClr val="C4621D"/>
            </a:solidFill>
            <a:prstDash val="solid"/>
          </a:ln>
        </p:spPr>
      </p:sp>
      <p:sp>
        <p:nvSpPr>
          <p:cNvPr id="49" name="Text 41"/>
          <p:cNvSpPr txBox="1"/>
          <p:nvPr/>
        </p:nvSpPr>
        <p:spPr>
          <a:xfrm>
            <a:off x="3931920" y="2734056"/>
            <a:ext cx="685800" cy="219456"/>
          </a:xfrm>
          <a:prstGeom prst="rect">
            <a:avLst/>
          </a:prstGeom>
          <a:noFill/>
          <a:ln/>
        </p:spPr>
        <p:txBody>
          <a:bodyPr wrap="square" lIns="0" tIns="0" rIns="0" bIns="0" rtlCol="0" anchor="ctr"/>
          <a:lstStyle/>
          <a:p>
            <a:pPr marL="0" indent="0" algn="ctr">
              <a:buNone/>
            </a:pPr>
            <a:r>
              <a:rPr lang="en-US" sz="850" b="1" dirty="0">
                <a:solidFill>
                  <a:srgbClr val="C4621D"/>
                </a:solidFill>
                <a:latin typeface="Calibri" pitchFamily="34" charset="0"/>
                <a:ea typeface="Calibri" pitchFamily="34" charset="-122"/>
                <a:cs typeface="Calibri" pitchFamily="34" charset="-120"/>
              </a:rPr>
              <a:t>SDG 11</a:t>
            </a:r>
            <a:endParaRPr lang="en-US" sz="850" dirty="0"/>
          </a:p>
        </p:txBody>
      </p:sp>
      <p:sp>
        <p:nvSpPr>
          <p:cNvPr id="50" name="Text 42"/>
          <p:cNvSpPr txBox="1"/>
          <p:nvPr/>
        </p:nvSpPr>
        <p:spPr>
          <a:xfrm>
            <a:off x="3931920" y="2990088"/>
            <a:ext cx="1901952" cy="256032"/>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Urbanisation</a:t>
            </a:r>
            <a:endParaRPr lang="en-US" sz="1150" dirty="0"/>
          </a:p>
        </p:txBody>
      </p:sp>
      <p:sp>
        <p:nvSpPr>
          <p:cNvPr id="51" name="Text 43"/>
          <p:cNvSpPr txBox="1"/>
          <p:nvPr/>
        </p:nvSpPr>
        <p:spPr>
          <a:xfrm>
            <a:off x="3374136" y="3300984"/>
            <a:ext cx="2395728" cy="4114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Urban footprint, sprawl or densification, new cities</a:t>
            </a:r>
            <a:endParaRPr lang="en-US" sz="900" dirty="0"/>
          </a:p>
        </p:txBody>
      </p:sp>
      <p:sp>
        <p:nvSpPr>
          <p:cNvPr id="52" name="Shape 44"/>
          <p:cNvSpPr/>
          <p:nvPr/>
        </p:nvSpPr>
        <p:spPr>
          <a:xfrm>
            <a:off x="6035040" y="2606040"/>
            <a:ext cx="2651760" cy="1143000"/>
          </a:xfrm>
          <a:prstGeom prst="roundRect">
            <a:avLst>
              <a:gd name="adj" fmla="val 6400"/>
            </a:avLst>
          </a:prstGeom>
          <a:solidFill>
            <a:srgbClr val="F4F7F5"/>
          </a:solidFill>
          <a:ln w="9525">
            <a:solidFill>
              <a:srgbClr val="D5DED9"/>
            </a:solidFill>
            <a:prstDash val="solid"/>
          </a:ln>
        </p:spPr>
      </p:sp>
      <p:sp>
        <p:nvSpPr>
          <p:cNvPr id="53" name="Shape 45"/>
          <p:cNvSpPr/>
          <p:nvPr/>
        </p:nvSpPr>
        <p:spPr>
          <a:xfrm>
            <a:off x="6144768" y="2734056"/>
            <a:ext cx="457200" cy="457200"/>
          </a:xfrm>
          <a:prstGeom prst="ellipse">
            <a:avLst/>
          </a:prstGeom>
          <a:solidFill>
            <a:srgbClr val="B83B2E">
              <a:alpha val="22000"/>
            </a:srgbClr>
          </a:solidFill>
          <a:ln w="12700">
            <a:solidFill>
              <a:srgbClr val="B83B2E">
                <a:alpha val="0"/>
              </a:srgbClr>
            </a:solidFill>
            <a:prstDash val="solid"/>
          </a:ln>
        </p:spPr>
      </p:sp>
      <p:pic>
        <p:nvPicPr>
          <p:cNvPr id="54" name="Image 5" descr="preencoded.png"/>
          <p:cNvPicPr>
            <a:picLocks noChangeAspect="1"/>
          </p:cNvPicPr>
          <p:nvPr/>
        </p:nvPicPr>
        <p:blipFill>
          <a:blip r:embed="rId8"/>
          <a:stretch>
            <a:fillRect/>
          </a:stretch>
        </p:blipFill>
        <p:spPr>
          <a:xfrm>
            <a:off x="6263640" y="2852928"/>
            <a:ext cx="219456" cy="219456"/>
          </a:xfrm>
          <a:prstGeom prst="rect">
            <a:avLst/>
          </a:prstGeom>
        </p:spPr>
      </p:pic>
      <p:sp>
        <p:nvSpPr>
          <p:cNvPr id="55" name="Shape 46"/>
          <p:cNvSpPr/>
          <p:nvPr/>
        </p:nvSpPr>
        <p:spPr>
          <a:xfrm>
            <a:off x="6720840" y="2734056"/>
            <a:ext cx="1371600" cy="219456"/>
          </a:xfrm>
          <a:prstGeom prst="roundRect">
            <a:avLst>
              <a:gd name="adj" fmla="val 50000"/>
            </a:avLst>
          </a:prstGeom>
          <a:solidFill>
            <a:srgbClr val="B83B2E">
              <a:alpha val="15000"/>
            </a:srgbClr>
          </a:solidFill>
          <a:ln w="9525">
            <a:solidFill>
              <a:srgbClr val="B83B2E"/>
            </a:solidFill>
            <a:prstDash val="solid"/>
          </a:ln>
        </p:spPr>
      </p:sp>
      <p:sp>
        <p:nvSpPr>
          <p:cNvPr id="56" name="Text 47"/>
          <p:cNvSpPr txBox="1"/>
          <p:nvPr/>
        </p:nvSpPr>
        <p:spPr>
          <a:xfrm>
            <a:off x="6720840" y="2734056"/>
            <a:ext cx="1371600" cy="219456"/>
          </a:xfrm>
          <a:prstGeom prst="rect">
            <a:avLst/>
          </a:prstGeom>
          <a:noFill/>
          <a:ln/>
        </p:spPr>
        <p:txBody>
          <a:bodyPr wrap="square" lIns="0" tIns="0" rIns="0" bIns="0" rtlCol="0" anchor="ctr"/>
          <a:lstStyle/>
          <a:p>
            <a:pPr marL="0" indent="0" algn="ctr">
              <a:buNone/>
            </a:pPr>
            <a:r>
              <a:rPr lang="en-US" sz="850" b="1" dirty="0">
                <a:solidFill>
                  <a:srgbClr val="B83B2E"/>
                </a:solidFill>
                <a:latin typeface="Calibri" pitchFamily="34" charset="0"/>
                <a:ea typeface="Calibri" pitchFamily="34" charset="-122"/>
                <a:cs typeface="Calibri" pitchFamily="34" charset="-120"/>
              </a:rPr>
              <a:t>SDG 16 · humanitarian</a:t>
            </a:r>
            <a:endParaRPr lang="en-US" sz="850" dirty="0"/>
          </a:p>
        </p:txBody>
      </p:sp>
      <p:sp>
        <p:nvSpPr>
          <p:cNvPr id="57" name="Text 48"/>
          <p:cNvSpPr txBox="1"/>
          <p:nvPr/>
        </p:nvSpPr>
        <p:spPr>
          <a:xfrm>
            <a:off x="6720840" y="2990088"/>
            <a:ext cx="1901952" cy="256032"/>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Conflicts and disasters</a:t>
            </a:r>
            <a:endParaRPr lang="en-US" sz="1150" dirty="0"/>
          </a:p>
        </p:txBody>
      </p:sp>
      <p:sp>
        <p:nvSpPr>
          <p:cNvPr id="58" name="Text 49"/>
          <p:cNvSpPr txBox="1"/>
          <p:nvPr/>
        </p:nvSpPr>
        <p:spPr>
          <a:xfrm>
            <a:off x="6163056" y="3300984"/>
            <a:ext cx="2395728" cy="4114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Outages, displacement signals, recovery monitoring</a:t>
            </a:r>
            <a:endParaRPr lang="en-US" sz="900" dirty="0"/>
          </a:p>
        </p:txBody>
      </p:sp>
      <p:sp>
        <p:nvSpPr>
          <p:cNvPr id="59" name="Shape 50"/>
          <p:cNvSpPr/>
          <p:nvPr/>
        </p:nvSpPr>
        <p:spPr>
          <a:xfrm>
            <a:off x="457200" y="3931920"/>
            <a:ext cx="8229600" cy="566928"/>
          </a:xfrm>
          <a:prstGeom prst="roundRect">
            <a:avLst>
              <a:gd name="adj" fmla="val 12903"/>
            </a:avLst>
          </a:prstGeom>
          <a:solidFill>
            <a:srgbClr val="E8F5EF"/>
          </a:solidFill>
          <a:ln w="15875">
            <a:solidFill>
              <a:srgbClr val="00A86A"/>
            </a:solidFill>
            <a:prstDash val="solid"/>
          </a:ln>
        </p:spPr>
      </p:sp>
      <p:sp>
        <p:nvSpPr>
          <p:cNvPr id="60" name="Shape 51"/>
          <p:cNvSpPr/>
          <p:nvPr/>
        </p:nvSpPr>
        <p:spPr>
          <a:xfrm>
            <a:off x="566928" y="4023360"/>
            <a:ext cx="384048" cy="384048"/>
          </a:xfrm>
          <a:prstGeom prst="ellipse">
            <a:avLst/>
          </a:prstGeom>
          <a:solidFill>
            <a:srgbClr val="00A86A">
              <a:alpha val="22000"/>
            </a:srgbClr>
          </a:solidFill>
          <a:ln w="12700">
            <a:solidFill>
              <a:srgbClr val="00A86A">
                <a:alpha val="0"/>
              </a:srgbClr>
            </a:solidFill>
            <a:prstDash val="solid"/>
          </a:ln>
        </p:spPr>
      </p:sp>
      <p:pic>
        <p:nvPicPr>
          <p:cNvPr id="61" name="Image 6" descr="preencoded.png"/>
          <p:cNvPicPr>
            <a:picLocks noChangeAspect="1"/>
          </p:cNvPicPr>
          <p:nvPr/>
        </p:nvPicPr>
        <p:blipFill>
          <a:blip r:embed="rId9"/>
          <a:stretch>
            <a:fillRect/>
          </a:stretch>
        </p:blipFill>
        <p:spPr>
          <a:xfrm>
            <a:off x="666780" y="4123212"/>
            <a:ext cx="184343" cy="184343"/>
          </a:xfrm>
          <a:prstGeom prst="rect">
            <a:avLst/>
          </a:prstGeom>
        </p:spPr>
      </p:pic>
      <p:sp>
        <p:nvSpPr>
          <p:cNvPr id="62" name="Text 52"/>
          <p:cNvSpPr txBox="1"/>
          <p:nvPr/>
        </p:nvSpPr>
        <p:spPr>
          <a:xfrm>
            <a:off x="1051560" y="3959352"/>
            <a:ext cx="7543800" cy="512064"/>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A complement, not a substitute.  </a:t>
            </a:r>
            <a:r>
              <a:rPr lang="en-US" sz="1050" dirty="0">
                <a:solidFill>
                  <a:srgbClr val="231F20"/>
                </a:solidFill>
                <a:latin typeface="Calibri" pitchFamily="34" charset="0"/>
                <a:ea typeface="Calibri" pitchFamily="34" charset="-122"/>
                <a:cs typeface="Calibri" pitchFamily="34" charset="-120"/>
              </a:rPr>
              <a:t>Lights bring spatial detail, frequency and independent verification to official statistics — they replace neither the census nor the survey.</a:t>
            </a:r>
            <a:endParaRPr lang="en-US" sz="105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APPLICATIONS · APPLICATION 01</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Measuring the economy from orbit</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49A00"/>
          </a:solidFill>
          <a:ln w="12700">
            <a:solidFill>
              <a:srgbClr val="D49A00"/>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21</a:t>
            </a:r>
            <a:endParaRPr lang="en-US" sz="850" dirty="0"/>
          </a:p>
        </p:txBody>
      </p:sp>
      <p:sp>
        <p:nvSpPr>
          <p:cNvPr id="17" name="Text 14"/>
          <p:cNvSpPr txBox="1"/>
          <p:nvPr/>
        </p:nvSpPr>
        <p:spPr>
          <a:xfrm>
            <a:off x="457200" y="1298448"/>
            <a:ext cx="4114800" cy="256032"/>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What the research shows</a:t>
            </a:r>
            <a:endParaRPr lang="en-US" sz="1350" dirty="0"/>
          </a:p>
        </p:txBody>
      </p:sp>
      <p:sp>
        <p:nvSpPr>
          <p:cNvPr id="18" name="Shape 15"/>
          <p:cNvSpPr/>
          <p:nvPr/>
        </p:nvSpPr>
        <p:spPr>
          <a:xfrm>
            <a:off x="457200" y="1627632"/>
            <a:ext cx="4206240" cy="868680"/>
          </a:xfrm>
          <a:prstGeom prst="roundRect">
            <a:avLst>
              <a:gd name="adj" fmla="val 8421"/>
            </a:avLst>
          </a:prstGeom>
          <a:solidFill>
            <a:srgbClr val="F4F7F5"/>
          </a:solidFill>
          <a:ln w="9525">
            <a:solidFill>
              <a:srgbClr val="D5DED9"/>
            </a:solidFill>
            <a:prstDash val="solid"/>
          </a:ln>
        </p:spPr>
      </p:sp>
      <p:sp>
        <p:nvSpPr>
          <p:cNvPr id="19" name="Shape 16"/>
          <p:cNvSpPr/>
          <p:nvPr/>
        </p:nvSpPr>
        <p:spPr>
          <a:xfrm>
            <a:off x="566928" y="1828800"/>
            <a:ext cx="457200" cy="457200"/>
          </a:xfrm>
          <a:prstGeom prst="ellipse">
            <a:avLst/>
          </a:prstGeom>
          <a:solidFill>
            <a:srgbClr val="D49A00">
              <a:alpha val="22000"/>
            </a:srgbClr>
          </a:solidFill>
          <a:ln w="12700">
            <a:solidFill>
              <a:srgbClr val="D49A00">
                <a:alpha val="0"/>
              </a:srgbClr>
            </a:solidFill>
            <a:prstDash val="solid"/>
          </a:ln>
        </p:spPr>
      </p:sp>
      <p:pic>
        <p:nvPicPr>
          <p:cNvPr id="20" name="Image 0" descr="preencoded.png"/>
          <p:cNvPicPr>
            <a:picLocks noChangeAspect="1"/>
          </p:cNvPicPr>
          <p:nvPr/>
        </p:nvPicPr>
        <p:blipFill>
          <a:blip r:embed="rId3"/>
          <a:stretch>
            <a:fillRect/>
          </a:stretch>
        </p:blipFill>
        <p:spPr>
          <a:xfrm>
            <a:off x="685800" y="1947672"/>
            <a:ext cx="219456" cy="219456"/>
          </a:xfrm>
          <a:prstGeom prst="rect">
            <a:avLst/>
          </a:prstGeom>
        </p:spPr>
      </p:pic>
      <p:sp>
        <p:nvSpPr>
          <p:cNvPr id="21" name="Text 17"/>
          <p:cNvSpPr txBox="1"/>
          <p:nvPr/>
        </p:nvSpPr>
        <p:spPr>
          <a:xfrm>
            <a:off x="1143000" y="1700784"/>
            <a:ext cx="342900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Henderson, Storeygard and Weil (2012)</a:t>
            </a:r>
            <a:endParaRPr lang="en-US" sz="1100" dirty="0"/>
          </a:p>
        </p:txBody>
      </p:sp>
      <p:sp>
        <p:nvSpPr>
          <p:cNvPr id="22" name="Text 18"/>
          <p:cNvSpPr txBox="1"/>
          <p:nvPr/>
        </p:nvSpPr>
        <p:spPr>
          <a:xfrm>
            <a:off x="1143000" y="1938528"/>
            <a:ext cx="3456432" cy="530352"/>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Lights carry real information about growth and can improve GDP where the accounts are weak.</a:t>
            </a:r>
            <a:endParaRPr lang="en-US" sz="900" dirty="0"/>
          </a:p>
        </p:txBody>
      </p:sp>
      <p:sp>
        <p:nvSpPr>
          <p:cNvPr id="23" name="Shape 19"/>
          <p:cNvSpPr/>
          <p:nvPr/>
        </p:nvSpPr>
        <p:spPr>
          <a:xfrm>
            <a:off x="457200" y="2606040"/>
            <a:ext cx="4206240" cy="868680"/>
          </a:xfrm>
          <a:prstGeom prst="roundRect">
            <a:avLst>
              <a:gd name="adj" fmla="val 8421"/>
            </a:avLst>
          </a:prstGeom>
          <a:solidFill>
            <a:srgbClr val="F4F7F5"/>
          </a:solidFill>
          <a:ln w="9525">
            <a:solidFill>
              <a:srgbClr val="D5DED9"/>
            </a:solidFill>
            <a:prstDash val="solid"/>
          </a:ln>
        </p:spPr>
      </p:sp>
      <p:sp>
        <p:nvSpPr>
          <p:cNvPr id="24" name="Shape 20"/>
          <p:cNvSpPr/>
          <p:nvPr/>
        </p:nvSpPr>
        <p:spPr>
          <a:xfrm>
            <a:off x="566928" y="2807208"/>
            <a:ext cx="457200" cy="457200"/>
          </a:xfrm>
          <a:prstGeom prst="ellipse">
            <a:avLst/>
          </a:prstGeom>
          <a:solidFill>
            <a:srgbClr val="D49A00">
              <a:alpha val="22000"/>
            </a:srgbClr>
          </a:solidFill>
          <a:ln w="12700">
            <a:solidFill>
              <a:srgbClr val="D49A00">
                <a:alpha val="0"/>
              </a:srgbClr>
            </a:solidFill>
            <a:prstDash val="solid"/>
          </a:ln>
        </p:spPr>
      </p:sp>
      <p:pic>
        <p:nvPicPr>
          <p:cNvPr id="25" name="Image 1" descr="preencoded.png"/>
          <p:cNvPicPr>
            <a:picLocks noChangeAspect="1"/>
          </p:cNvPicPr>
          <p:nvPr/>
        </p:nvPicPr>
        <p:blipFill>
          <a:blip r:embed="rId4"/>
          <a:stretch>
            <a:fillRect/>
          </a:stretch>
        </p:blipFill>
        <p:spPr>
          <a:xfrm>
            <a:off x="685800" y="2926080"/>
            <a:ext cx="219456" cy="219456"/>
          </a:xfrm>
          <a:prstGeom prst="rect">
            <a:avLst/>
          </a:prstGeom>
        </p:spPr>
      </p:pic>
      <p:sp>
        <p:nvSpPr>
          <p:cNvPr id="26" name="Text 21"/>
          <p:cNvSpPr txBox="1"/>
          <p:nvPr/>
        </p:nvSpPr>
        <p:spPr>
          <a:xfrm>
            <a:off x="1143000" y="2679192"/>
            <a:ext cx="342900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Bruederle and Hodler (2018)</a:t>
            </a:r>
            <a:endParaRPr lang="en-US" sz="1100" dirty="0"/>
          </a:p>
        </p:txBody>
      </p:sp>
      <p:sp>
        <p:nvSpPr>
          <p:cNvPr id="27" name="Text 22"/>
          <p:cNvSpPr txBox="1"/>
          <p:nvPr/>
        </p:nvSpPr>
        <p:spPr>
          <a:xfrm>
            <a:off x="1143000" y="2916936"/>
            <a:ext cx="3456432" cy="530352"/>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Lights reflect household wealth, education and health at the local level, based on DHS clusters in Africa.</a:t>
            </a:r>
            <a:endParaRPr lang="en-US" sz="900" dirty="0"/>
          </a:p>
        </p:txBody>
      </p:sp>
      <p:sp>
        <p:nvSpPr>
          <p:cNvPr id="28" name="Shape 23"/>
          <p:cNvSpPr/>
          <p:nvPr/>
        </p:nvSpPr>
        <p:spPr>
          <a:xfrm>
            <a:off x="457200" y="3584448"/>
            <a:ext cx="4206240" cy="868680"/>
          </a:xfrm>
          <a:prstGeom prst="roundRect">
            <a:avLst>
              <a:gd name="adj" fmla="val 8421"/>
            </a:avLst>
          </a:prstGeom>
          <a:solidFill>
            <a:srgbClr val="F4F7F5"/>
          </a:solidFill>
          <a:ln w="9525">
            <a:solidFill>
              <a:srgbClr val="D5DED9"/>
            </a:solidFill>
            <a:prstDash val="solid"/>
          </a:ln>
        </p:spPr>
      </p:sp>
      <p:sp>
        <p:nvSpPr>
          <p:cNvPr id="29" name="Shape 24"/>
          <p:cNvSpPr/>
          <p:nvPr/>
        </p:nvSpPr>
        <p:spPr>
          <a:xfrm>
            <a:off x="566928" y="3785616"/>
            <a:ext cx="457200" cy="457200"/>
          </a:xfrm>
          <a:prstGeom prst="ellipse">
            <a:avLst/>
          </a:prstGeom>
          <a:solidFill>
            <a:srgbClr val="D49A00">
              <a:alpha val="22000"/>
            </a:srgbClr>
          </a:solidFill>
          <a:ln w="12700">
            <a:solidFill>
              <a:srgbClr val="D49A00">
                <a:alpha val="0"/>
              </a:srgbClr>
            </a:solidFill>
            <a:prstDash val="solid"/>
          </a:ln>
        </p:spPr>
      </p:sp>
      <p:pic>
        <p:nvPicPr>
          <p:cNvPr id="30" name="Image 2" descr="preencoded.png"/>
          <p:cNvPicPr>
            <a:picLocks noChangeAspect="1"/>
          </p:cNvPicPr>
          <p:nvPr/>
        </p:nvPicPr>
        <p:blipFill>
          <a:blip r:embed="rId5"/>
          <a:stretch>
            <a:fillRect/>
          </a:stretch>
        </p:blipFill>
        <p:spPr>
          <a:xfrm>
            <a:off x="685800" y="3904488"/>
            <a:ext cx="219456" cy="219456"/>
          </a:xfrm>
          <a:prstGeom prst="rect">
            <a:avLst/>
          </a:prstGeom>
        </p:spPr>
      </p:pic>
      <p:sp>
        <p:nvSpPr>
          <p:cNvPr id="31" name="Text 25"/>
          <p:cNvSpPr txBox="1"/>
          <p:nvPr/>
        </p:nvSpPr>
        <p:spPr>
          <a:xfrm>
            <a:off x="1143000" y="3657600"/>
            <a:ext cx="342900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Martinez (2022)</a:t>
            </a:r>
            <a:endParaRPr lang="en-US" sz="1100" dirty="0"/>
          </a:p>
        </p:txBody>
      </p:sp>
      <p:sp>
        <p:nvSpPr>
          <p:cNvPr id="32" name="Text 26"/>
          <p:cNvSpPr txBox="1"/>
          <p:nvPr/>
        </p:nvSpPr>
        <p:spPr>
          <a:xfrm>
            <a:off x="1143000" y="3895344"/>
            <a:ext cx="3456432" cy="530352"/>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Lights serve as an independent benchmark to test the credibility of reported GDP growth.</a:t>
            </a:r>
            <a:endParaRPr lang="en-US" sz="900" dirty="0"/>
          </a:p>
        </p:txBody>
      </p:sp>
      <p:sp>
        <p:nvSpPr>
          <p:cNvPr id="33" name="Text 27"/>
          <p:cNvSpPr txBox="1"/>
          <p:nvPr/>
        </p:nvSpPr>
        <p:spPr>
          <a:xfrm>
            <a:off x="4892040" y="1298448"/>
            <a:ext cx="3840480" cy="256032"/>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Why the light–output link varies</a:t>
            </a:r>
            <a:endParaRPr lang="en-US" sz="1350" dirty="0"/>
          </a:p>
        </p:txBody>
      </p:sp>
      <p:sp>
        <p:nvSpPr>
          <p:cNvPr id="34" name="Shape 28"/>
          <p:cNvSpPr/>
          <p:nvPr/>
        </p:nvSpPr>
        <p:spPr>
          <a:xfrm>
            <a:off x="4892040" y="1627632"/>
            <a:ext cx="3794760" cy="1847088"/>
          </a:xfrm>
          <a:prstGeom prst="roundRect">
            <a:avLst>
              <a:gd name="adj" fmla="val 3960"/>
            </a:avLst>
          </a:prstGeom>
          <a:solidFill>
            <a:srgbClr val="F4F7F5"/>
          </a:solidFill>
          <a:ln w="9525">
            <a:solidFill>
              <a:srgbClr val="D5DED9"/>
            </a:solidFill>
            <a:prstDash val="solid"/>
          </a:ln>
        </p:spPr>
      </p:sp>
      <p:sp>
        <p:nvSpPr>
          <p:cNvPr id="35" name="Shape 29"/>
          <p:cNvSpPr/>
          <p:nvPr/>
        </p:nvSpPr>
        <p:spPr>
          <a:xfrm>
            <a:off x="5001768" y="1737360"/>
            <a:ext cx="329184" cy="329184"/>
          </a:xfrm>
          <a:prstGeom prst="ellipse">
            <a:avLst/>
          </a:prstGeom>
          <a:solidFill>
            <a:srgbClr val="C4621D">
              <a:alpha val="22000"/>
            </a:srgbClr>
          </a:solidFill>
          <a:ln w="12700">
            <a:solidFill>
              <a:srgbClr val="C4621D">
                <a:alpha val="0"/>
              </a:srgbClr>
            </a:solidFill>
            <a:prstDash val="solid"/>
          </a:ln>
        </p:spPr>
      </p:sp>
      <p:pic>
        <p:nvPicPr>
          <p:cNvPr id="36" name="Image 3" descr="preencoded.png"/>
          <p:cNvPicPr>
            <a:picLocks noChangeAspect="1"/>
          </p:cNvPicPr>
          <p:nvPr/>
        </p:nvPicPr>
        <p:blipFill>
          <a:blip r:embed="rId6"/>
          <a:stretch>
            <a:fillRect/>
          </a:stretch>
        </p:blipFill>
        <p:spPr>
          <a:xfrm>
            <a:off x="5087356" y="1822948"/>
            <a:ext cx="158008" cy="158008"/>
          </a:xfrm>
          <a:prstGeom prst="rect">
            <a:avLst/>
          </a:prstGeom>
        </p:spPr>
      </p:pic>
      <p:sp>
        <p:nvSpPr>
          <p:cNvPr id="37" name="Text 30"/>
          <p:cNvSpPr txBox="1"/>
          <p:nvPr/>
        </p:nvSpPr>
        <p:spPr>
          <a:xfrm>
            <a:off x="5440680" y="1700784"/>
            <a:ext cx="3182112"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Sector structure: agriculture and mining create value with little light</a:t>
            </a:r>
            <a:endParaRPr lang="en-US" sz="950" dirty="0"/>
          </a:p>
        </p:txBody>
      </p:sp>
      <p:sp>
        <p:nvSpPr>
          <p:cNvPr id="38" name="Shape 31"/>
          <p:cNvSpPr/>
          <p:nvPr/>
        </p:nvSpPr>
        <p:spPr>
          <a:xfrm>
            <a:off x="5001768" y="2167128"/>
            <a:ext cx="329184" cy="329184"/>
          </a:xfrm>
          <a:prstGeom prst="ellipse">
            <a:avLst/>
          </a:prstGeom>
          <a:solidFill>
            <a:srgbClr val="C4621D">
              <a:alpha val="22000"/>
            </a:srgbClr>
          </a:solidFill>
          <a:ln w="12700">
            <a:solidFill>
              <a:srgbClr val="C4621D">
                <a:alpha val="0"/>
              </a:srgbClr>
            </a:solidFill>
            <a:prstDash val="solid"/>
          </a:ln>
        </p:spPr>
      </p:sp>
      <p:pic>
        <p:nvPicPr>
          <p:cNvPr id="39" name="Image 4" descr="preencoded.png"/>
          <p:cNvPicPr>
            <a:picLocks noChangeAspect="1"/>
          </p:cNvPicPr>
          <p:nvPr/>
        </p:nvPicPr>
        <p:blipFill>
          <a:blip r:embed="rId7"/>
          <a:stretch>
            <a:fillRect/>
          </a:stretch>
        </p:blipFill>
        <p:spPr>
          <a:xfrm>
            <a:off x="5087356" y="2252716"/>
            <a:ext cx="158008" cy="158008"/>
          </a:xfrm>
          <a:prstGeom prst="rect">
            <a:avLst/>
          </a:prstGeom>
        </p:spPr>
      </p:pic>
      <p:sp>
        <p:nvSpPr>
          <p:cNvPr id="40" name="Text 32"/>
          <p:cNvSpPr txBox="1"/>
          <p:nvPr/>
        </p:nvSpPr>
        <p:spPr>
          <a:xfrm>
            <a:off x="5440680" y="2130552"/>
            <a:ext cx="3182112"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Income level: bright centres saturate or plateau</a:t>
            </a:r>
            <a:endParaRPr lang="en-US" sz="950" dirty="0"/>
          </a:p>
        </p:txBody>
      </p:sp>
      <p:sp>
        <p:nvSpPr>
          <p:cNvPr id="41" name="Shape 33"/>
          <p:cNvSpPr/>
          <p:nvPr/>
        </p:nvSpPr>
        <p:spPr>
          <a:xfrm>
            <a:off x="5001768" y="2596896"/>
            <a:ext cx="329184" cy="329184"/>
          </a:xfrm>
          <a:prstGeom prst="ellipse">
            <a:avLst/>
          </a:prstGeom>
          <a:solidFill>
            <a:srgbClr val="C4621D">
              <a:alpha val="22000"/>
            </a:srgbClr>
          </a:solidFill>
          <a:ln w="12700">
            <a:solidFill>
              <a:srgbClr val="C4621D">
                <a:alpha val="0"/>
              </a:srgbClr>
            </a:solidFill>
            <a:prstDash val="solid"/>
          </a:ln>
        </p:spPr>
      </p:sp>
      <p:pic>
        <p:nvPicPr>
          <p:cNvPr id="42" name="Image 5" descr="preencoded.png"/>
          <p:cNvPicPr>
            <a:picLocks noChangeAspect="1"/>
          </p:cNvPicPr>
          <p:nvPr/>
        </p:nvPicPr>
        <p:blipFill>
          <a:blip r:embed="rId8"/>
          <a:stretch>
            <a:fillRect/>
          </a:stretch>
        </p:blipFill>
        <p:spPr>
          <a:xfrm>
            <a:off x="5087356" y="2682484"/>
            <a:ext cx="158008" cy="158008"/>
          </a:xfrm>
          <a:prstGeom prst="rect">
            <a:avLst/>
          </a:prstGeom>
        </p:spPr>
      </p:pic>
      <p:sp>
        <p:nvSpPr>
          <p:cNvPr id="43" name="Text 34"/>
          <p:cNvSpPr txBox="1"/>
          <p:nvPr/>
        </p:nvSpPr>
        <p:spPr>
          <a:xfrm>
            <a:off x="5440680" y="2560320"/>
            <a:ext cx="3182112"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Technology: the switch to LEDs changes light per watt</a:t>
            </a:r>
            <a:endParaRPr lang="en-US" sz="950" dirty="0"/>
          </a:p>
        </p:txBody>
      </p:sp>
      <p:sp>
        <p:nvSpPr>
          <p:cNvPr id="44" name="Shape 35"/>
          <p:cNvSpPr/>
          <p:nvPr/>
        </p:nvSpPr>
        <p:spPr>
          <a:xfrm>
            <a:off x="5001768" y="3026664"/>
            <a:ext cx="329184" cy="329184"/>
          </a:xfrm>
          <a:prstGeom prst="ellipse">
            <a:avLst/>
          </a:prstGeom>
          <a:solidFill>
            <a:srgbClr val="C4621D">
              <a:alpha val="22000"/>
            </a:srgbClr>
          </a:solidFill>
          <a:ln w="12700">
            <a:solidFill>
              <a:srgbClr val="C4621D">
                <a:alpha val="0"/>
              </a:srgbClr>
            </a:solidFill>
            <a:prstDash val="solid"/>
          </a:ln>
        </p:spPr>
      </p:sp>
      <p:pic>
        <p:nvPicPr>
          <p:cNvPr id="45" name="Image 6" descr="preencoded.png"/>
          <p:cNvPicPr>
            <a:picLocks noChangeAspect="1"/>
          </p:cNvPicPr>
          <p:nvPr/>
        </p:nvPicPr>
        <p:blipFill>
          <a:blip r:embed="rId9"/>
          <a:stretch>
            <a:fillRect/>
          </a:stretch>
        </p:blipFill>
        <p:spPr>
          <a:xfrm>
            <a:off x="5087356" y="3112252"/>
            <a:ext cx="158008" cy="158008"/>
          </a:xfrm>
          <a:prstGeom prst="rect">
            <a:avLst/>
          </a:prstGeom>
        </p:spPr>
      </p:pic>
      <p:sp>
        <p:nvSpPr>
          <p:cNvPr id="46" name="Text 36"/>
          <p:cNvSpPr txBox="1"/>
          <p:nvPr/>
        </p:nvSpPr>
        <p:spPr>
          <a:xfrm>
            <a:off x="5440680" y="2990088"/>
            <a:ext cx="3182112"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Supply: load-shedding switches off lights, not output</a:t>
            </a:r>
            <a:endParaRPr lang="en-US" sz="950" dirty="0"/>
          </a:p>
        </p:txBody>
      </p:sp>
      <p:sp>
        <p:nvSpPr>
          <p:cNvPr id="47" name="Shape 37"/>
          <p:cNvSpPr/>
          <p:nvPr/>
        </p:nvSpPr>
        <p:spPr>
          <a:xfrm>
            <a:off x="4892040" y="3584448"/>
            <a:ext cx="3794760" cy="868680"/>
          </a:xfrm>
          <a:prstGeom prst="roundRect">
            <a:avLst>
              <a:gd name="adj" fmla="val 8421"/>
            </a:avLst>
          </a:prstGeom>
          <a:solidFill>
            <a:srgbClr val="E8F5EF"/>
          </a:solidFill>
          <a:ln w="15875">
            <a:solidFill>
              <a:srgbClr val="D49A00"/>
            </a:solidFill>
            <a:prstDash val="solid"/>
          </a:ln>
        </p:spPr>
      </p:sp>
      <p:sp>
        <p:nvSpPr>
          <p:cNvPr id="48" name="Text 38"/>
          <p:cNvSpPr txBox="1"/>
          <p:nvPr/>
        </p:nvSpPr>
        <p:spPr>
          <a:xfrm>
            <a:off x="5029200" y="3657600"/>
            <a:ext cx="3566160" cy="182880"/>
          </a:xfrm>
          <a:prstGeom prst="rect">
            <a:avLst/>
          </a:prstGeom>
          <a:noFill/>
          <a:ln/>
        </p:spPr>
        <p:txBody>
          <a:bodyPr wrap="square" lIns="0" tIns="0" rIns="0" bIns="0" rtlCol="0" anchor="t"/>
          <a:lstStyle/>
          <a:p>
            <a:pPr marL="0" indent="0">
              <a:buNone/>
            </a:pPr>
            <a:r>
              <a:rPr lang="en-US" sz="900" b="1" kern="0" spc="200" dirty="0">
                <a:solidFill>
                  <a:srgbClr val="D49A00"/>
                </a:solidFill>
                <a:latin typeface="Calibri" pitchFamily="34" charset="0"/>
                <a:ea typeface="Calibri" pitchFamily="34" charset="-122"/>
                <a:cs typeface="Calibri" pitchFamily="34" charset="-120"/>
              </a:rPr>
              <a:t>WHERE LIGHTS ARE MOST USEFUL</a:t>
            </a:r>
            <a:endParaRPr lang="en-US" sz="900" dirty="0"/>
          </a:p>
        </p:txBody>
      </p:sp>
      <p:sp>
        <p:nvSpPr>
          <p:cNvPr id="49" name="Shape 39"/>
          <p:cNvSpPr/>
          <p:nvPr/>
        </p:nvSpPr>
        <p:spPr>
          <a:xfrm>
            <a:off x="5001768" y="3977640"/>
            <a:ext cx="1143000" cy="274320"/>
          </a:xfrm>
          <a:prstGeom prst="roundRect">
            <a:avLst>
              <a:gd name="adj" fmla="val 50000"/>
            </a:avLst>
          </a:prstGeom>
          <a:solidFill>
            <a:srgbClr val="00704A">
              <a:alpha val="15000"/>
            </a:srgbClr>
          </a:solidFill>
          <a:ln w="9525">
            <a:solidFill>
              <a:srgbClr val="00704A"/>
            </a:solidFill>
            <a:prstDash val="solid"/>
          </a:ln>
        </p:spPr>
      </p:sp>
      <p:sp>
        <p:nvSpPr>
          <p:cNvPr id="50" name="Text 40"/>
          <p:cNvSpPr txBox="1"/>
          <p:nvPr/>
        </p:nvSpPr>
        <p:spPr>
          <a:xfrm>
            <a:off x="5001768" y="3977640"/>
            <a:ext cx="1143000" cy="274320"/>
          </a:xfrm>
          <a:prstGeom prst="rect">
            <a:avLst/>
          </a:prstGeom>
          <a:noFill/>
          <a:ln/>
        </p:spPr>
        <p:txBody>
          <a:bodyPr wrap="square" lIns="0" tIns="0" rIns="0" bIns="0" rtlCol="0" anchor="ctr"/>
          <a:lstStyle/>
          <a:p>
            <a:pPr marL="0" indent="0" algn="ctr">
              <a:buNone/>
            </a:pPr>
            <a:r>
              <a:rPr lang="en-US" sz="850" b="1" dirty="0">
                <a:solidFill>
                  <a:srgbClr val="00704A"/>
                </a:solidFill>
                <a:latin typeface="Calibri" pitchFamily="34" charset="0"/>
                <a:ea typeface="Calibri" pitchFamily="34" charset="-122"/>
                <a:cs typeface="Calibri" pitchFamily="34" charset="-120"/>
              </a:rPr>
              <a:t>Subnational</a:t>
            </a:r>
            <a:endParaRPr lang="en-US" sz="850" dirty="0"/>
          </a:p>
        </p:txBody>
      </p:sp>
      <p:sp>
        <p:nvSpPr>
          <p:cNvPr id="51" name="Shape 41"/>
          <p:cNvSpPr/>
          <p:nvPr/>
        </p:nvSpPr>
        <p:spPr>
          <a:xfrm>
            <a:off x="6217920" y="3977640"/>
            <a:ext cx="1143000" cy="274320"/>
          </a:xfrm>
          <a:prstGeom prst="roundRect">
            <a:avLst>
              <a:gd name="adj" fmla="val 50000"/>
            </a:avLst>
          </a:prstGeom>
          <a:solidFill>
            <a:srgbClr val="00704A">
              <a:alpha val="15000"/>
            </a:srgbClr>
          </a:solidFill>
          <a:ln w="9525">
            <a:solidFill>
              <a:srgbClr val="00704A"/>
            </a:solidFill>
            <a:prstDash val="solid"/>
          </a:ln>
        </p:spPr>
      </p:sp>
      <p:sp>
        <p:nvSpPr>
          <p:cNvPr id="52" name="Text 42"/>
          <p:cNvSpPr txBox="1"/>
          <p:nvPr/>
        </p:nvSpPr>
        <p:spPr>
          <a:xfrm>
            <a:off x="6217920" y="3977640"/>
            <a:ext cx="1143000" cy="274320"/>
          </a:xfrm>
          <a:prstGeom prst="rect">
            <a:avLst/>
          </a:prstGeom>
          <a:noFill/>
          <a:ln/>
        </p:spPr>
        <p:txBody>
          <a:bodyPr wrap="square" lIns="0" tIns="0" rIns="0" bIns="0" rtlCol="0" anchor="ctr"/>
          <a:lstStyle/>
          <a:p>
            <a:pPr marL="0" indent="0" algn="ctr">
              <a:buNone/>
            </a:pPr>
            <a:r>
              <a:rPr lang="en-US" sz="850" b="1" dirty="0">
                <a:solidFill>
                  <a:srgbClr val="00704A"/>
                </a:solidFill>
                <a:latin typeface="Calibri" pitchFamily="34" charset="0"/>
                <a:ea typeface="Calibri" pitchFamily="34" charset="-122"/>
                <a:cs typeface="Calibri" pitchFamily="34" charset="-120"/>
              </a:rPr>
              <a:t>High frequency</a:t>
            </a:r>
            <a:endParaRPr lang="en-US" sz="850" dirty="0"/>
          </a:p>
        </p:txBody>
      </p:sp>
      <p:sp>
        <p:nvSpPr>
          <p:cNvPr id="53" name="Shape 43"/>
          <p:cNvSpPr/>
          <p:nvPr/>
        </p:nvSpPr>
        <p:spPr>
          <a:xfrm>
            <a:off x="7434072" y="3977640"/>
            <a:ext cx="1143000" cy="274320"/>
          </a:xfrm>
          <a:prstGeom prst="roundRect">
            <a:avLst>
              <a:gd name="adj" fmla="val 50000"/>
            </a:avLst>
          </a:prstGeom>
          <a:solidFill>
            <a:srgbClr val="00704A">
              <a:alpha val="15000"/>
            </a:srgbClr>
          </a:solidFill>
          <a:ln w="9525">
            <a:solidFill>
              <a:srgbClr val="00704A"/>
            </a:solidFill>
            <a:prstDash val="solid"/>
          </a:ln>
        </p:spPr>
      </p:sp>
      <p:sp>
        <p:nvSpPr>
          <p:cNvPr id="54" name="Text 44"/>
          <p:cNvSpPr txBox="1"/>
          <p:nvPr/>
        </p:nvSpPr>
        <p:spPr>
          <a:xfrm>
            <a:off x="7434072" y="3977640"/>
            <a:ext cx="1143000" cy="274320"/>
          </a:xfrm>
          <a:prstGeom prst="rect">
            <a:avLst/>
          </a:prstGeom>
          <a:noFill/>
          <a:ln/>
        </p:spPr>
        <p:txBody>
          <a:bodyPr wrap="square" lIns="0" tIns="0" rIns="0" bIns="0" rtlCol="0" anchor="ctr"/>
          <a:lstStyle/>
          <a:p>
            <a:pPr marL="0" indent="0" algn="ctr">
              <a:buNone/>
            </a:pPr>
            <a:r>
              <a:rPr lang="en-US" sz="850" b="1" dirty="0">
                <a:solidFill>
                  <a:srgbClr val="00704A"/>
                </a:solidFill>
                <a:latin typeface="Calibri" pitchFamily="34" charset="0"/>
                <a:ea typeface="Calibri" pitchFamily="34" charset="-122"/>
                <a:cs typeface="Calibri" pitchFamily="34" charset="-120"/>
              </a:rPr>
              <a:t>Informal economy</a:t>
            </a:r>
            <a:endParaRPr lang="en-US" sz="850" dirty="0"/>
          </a:p>
        </p:txBody>
      </p:sp>
      <p:sp>
        <p:nvSpPr>
          <p:cNvPr id="55" name="Text 45"/>
          <p:cNvSpPr txBox="1"/>
          <p:nvPr/>
        </p:nvSpPr>
        <p:spPr>
          <a:xfrm>
            <a:off x="457200" y="4617720"/>
            <a:ext cx="73152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Sources: Henderson et al. (2012) AER 102(2); Bruederle and Hodler (2018) PLOS ONE 13(9); Martinez (2022) JPE 130(10).</a:t>
            </a:r>
            <a:endParaRPr lang="en-US" sz="9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APPLICATIONS · APPLICATION 02</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Energy access and SDG 7: Africa’s great challenge</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49A00"/>
          </a:solidFill>
          <a:ln w="12700">
            <a:solidFill>
              <a:srgbClr val="D49A00"/>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22</a:t>
            </a:r>
            <a:endParaRPr lang="en-US" sz="850" dirty="0"/>
          </a:p>
        </p:txBody>
      </p:sp>
      <p:sp>
        <p:nvSpPr>
          <p:cNvPr id="17" name="Shape 14"/>
          <p:cNvSpPr/>
          <p:nvPr/>
        </p:nvSpPr>
        <p:spPr>
          <a:xfrm>
            <a:off x="457200" y="1325880"/>
            <a:ext cx="1874520" cy="960120"/>
          </a:xfrm>
          <a:prstGeom prst="roundRect">
            <a:avLst>
              <a:gd name="adj" fmla="val 7619"/>
            </a:avLst>
          </a:prstGeom>
          <a:solidFill>
            <a:srgbClr val="E8F5EF"/>
          </a:solidFill>
          <a:ln w="15875">
            <a:solidFill>
              <a:srgbClr val="00A86A"/>
            </a:solidFill>
            <a:prstDash val="solid"/>
          </a:ln>
        </p:spPr>
      </p:sp>
      <p:sp>
        <p:nvSpPr>
          <p:cNvPr id="18" name="Text 15"/>
          <p:cNvSpPr txBox="1"/>
          <p:nvPr/>
        </p:nvSpPr>
        <p:spPr>
          <a:xfrm>
            <a:off x="502920" y="1344168"/>
            <a:ext cx="1783080" cy="502920"/>
          </a:xfrm>
          <a:prstGeom prst="rect">
            <a:avLst/>
          </a:prstGeom>
          <a:noFill/>
          <a:ln/>
        </p:spPr>
        <p:txBody>
          <a:bodyPr wrap="square" lIns="0" tIns="0" rIns="0" bIns="0" rtlCol="0" anchor="ctr"/>
          <a:lstStyle/>
          <a:p>
            <a:pPr marL="0" indent="0" algn="ctr">
              <a:buNone/>
            </a:pPr>
            <a:r>
              <a:rPr lang="en-US" sz="3200" b="1" dirty="0">
                <a:solidFill>
                  <a:srgbClr val="00704A"/>
                </a:solidFill>
                <a:latin typeface="Calibri" pitchFamily="34" charset="0"/>
                <a:ea typeface="Calibri" pitchFamily="34" charset="-122"/>
                <a:cs typeface="Calibri" pitchFamily="34" charset="-120"/>
              </a:rPr>
              <a:t>655 M</a:t>
            </a:r>
            <a:endParaRPr lang="en-US" sz="3200" dirty="0"/>
          </a:p>
        </p:txBody>
      </p:sp>
      <p:sp>
        <p:nvSpPr>
          <p:cNvPr id="19" name="Text 16"/>
          <p:cNvSpPr txBox="1"/>
          <p:nvPr/>
        </p:nvSpPr>
        <p:spPr>
          <a:xfrm>
            <a:off x="548640" y="1847088"/>
            <a:ext cx="1691640" cy="411480"/>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people without electricity worldwide (2024)</a:t>
            </a:r>
            <a:endParaRPr lang="en-US" sz="900" dirty="0"/>
          </a:p>
        </p:txBody>
      </p:sp>
      <p:sp>
        <p:nvSpPr>
          <p:cNvPr id="20" name="Shape 17"/>
          <p:cNvSpPr/>
          <p:nvPr/>
        </p:nvSpPr>
        <p:spPr>
          <a:xfrm>
            <a:off x="2468880" y="1325880"/>
            <a:ext cx="1874520" cy="960120"/>
          </a:xfrm>
          <a:prstGeom prst="roundRect">
            <a:avLst>
              <a:gd name="adj" fmla="val 7619"/>
            </a:avLst>
          </a:prstGeom>
          <a:solidFill>
            <a:srgbClr val="E8F5EF"/>
          </a:solidFill>
          <a:ln w="15875">
            <a:solidFill>
              <a:srgbClr val="B83B2E"/>
            </a:solidFill>
            <a:prstDash val="solid"/>
          </a:ln>
        </p:spPr>
      </p:sp>
      <p:sp>
        <p:nvSpPr>
          <p:cNvPr id="21" name="Text 18"/>
          <p:cNvSpPr txBox="1"/>
          <p:nvPr/>
        </p:nvSpPr>
        <p:spPr>
          <a:xfrm>
            <a:off x="2514600" y="1344168"/>
            <a:ext cx="1783080" cy="502920"/>
          </a:xfrm>
          <a:prstGeom prst="rect">
            <a:avLst/>
          </a:prstGeom>
          <a:noFill/>
          <a:ln/>
        </p:spPr>
        <p:txBody>
          <a:bodyPr wrap="square" lIns="0" tIns="0" rIns="0" bIns="0" rtlCol="0" anchor="ctr"/>
          <a:lstStyle/>
          <a:p>
            <a:pPr marL="0" indent="0" algn="ctr">
              <a:buNone/>
            </a:pPr>
            <a:r>
              <a:rPr lang="en-US" sz="3200" b="1" dirty="0">
                <a:solidFill>
                  <a:srgbClr val="B83B2E"/>
                </a:solidFill>
                <a:latin typeface="Calibri" pitchFamily="34" charset="0"/>
                <a:ea typeface="Calibri" pitchFamily="34" charset="-122"/>
                <a:cs typeface="Calibri" pitchFamily="34" charset="-120"/>
              </a:rPr>
              <a:t>&gt; 560 M</a:t>
            </a:r>
            <a:endParaRPr lang="en-US" sz="3200" dirty="0"/>
          </a:p>
        </p:txBody>
      </p:sp>
      <p:sp>
        <p:nvSpPr>
          <p:cNvPr id="22" name="Text 19"/>
          <p:cNvSpPr txBox="1"/>
          <p:nvPr/>
        </p:nvSpPr>
        <p:spPr>
          <a:xfrm>
            <a:off x="2560320" y="1847088"/>
            <a:ext cx="1691640" cy="411480"/>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of them in sub-Saharan Africa</a:t>
            </a:r>
            <a:endParaRPr lang="en-US" sz="900" dirty="0"/>
          </a:p>
        </p:txBody>
      </p:sp>
      <p:graphicFrame>
        <p:nvGraphicFramePr>
          <p:cNvPr id="23" name="Chart 0"/>
          <p:cNvGraphicFramePr/>
          <p:nvPr/>
        </p:nvGraphicFramePr>
        <p:xfrm>
          <a:off x="457200" y="2377440"/>
          <a:ext cx="3886200" cy="2011680"/>
        </p:xfrm>
        <a:graphic>
          <a:graphicData uri="http://schemas.openxmlformats.org/drawingml/2006/chart">
            <c:chart xmlns:c="http://schemas.openxmlformats.org/drawingml/2006/chart" xmlns:r="http://schemas.openxmlformats.org/officeDocument/2006/relationships" r:id="rId3"/>
          </a:graphicData>
        </a:graphic>
      </p:graphicFrame>
      <p:sp>
        <p:nvSpPr>
          <p:cNvPr id="24" name="Shape 20"/>
          <p:cNvSpPr/>
          <p:nvPr/>
        </p:nvSpPr>
        <p:spPr>
          <a:xfrm>
            <a:off x="4572000" y="1325880"/>
            <a:ext cx="4114800" cy="585216"/>
          </a:xfrm>
          <a:prstGeom prst="roundRect">
            <a:avLst>
              <a:gd name="adj" fmla="val 12500"/>
            </a:avLst>
          </a:prstGeom>
          <a:solidFill>
            <a:srgbClr val="F4F7F5"/>
          </a:solidFill>
          <a:ln w="9525">
            <a:solidFill>
              <a:srgbClr val="D5DED9"/>
            </a:solidFill>
            <a:prstDash val="solid"/>
          </a:ln>
        </p:spPr>
      </p:sp>
      <p:sp>
        <p:nvSpPr>
          <p:cNvPr id="25" name="Shape 21"/>
          <p:cNvSpPr/>
          <p:nvPr/>
        </p:nvSpPr>
        <p:spPr>
          <a:xfrm>
            <a:off x="4663440" y="1426464"/>
            <a:ext cx="384048" cy="384048"/>
          </a:xfrm>
          <a:prstGeom prst="ellipse">
            <a:avLst/>
          </a:prstGeom>
          <a:solidFill>
            <a:srgbClr val="D49A00">
              <a:alpha val="22000"/>
            </a:srgbClr>
          </a:solidFill>
          <a:ln w="12700">
            <a:solidFill>
              <a:srgbClr val="D49A00">
                <a:alpha val="0"/>
              </a:srgbClr>
            </a:solidFill>
            <a:prstDash val="solid"/>
          </a:ln>
        </p:spPr>
      </p:sp>
      <p:pic>
        <p:nvPicPr>
          <p:cNvPr id="26" name="Image 0" descr="preencoded.png"/>
          <p:cNvPicPr>
            <a:picLocks noChangeAspect="1"/>
          </p:cNvPicPr>
          <p:nvPr/>
        </p:nvPicPr>
        <p:blipFill>
          <a:blip r:embed="rId4"/>
          <a:stretch>
            <a:fillRect/>
          </a:stretch>
        </p:blipFill>
        <p:spPr>
          <a:xfrm>
            <a:off x="4763292" y="1526316"/>
            <a:ext cx="184343" cy="184343"/>
          </a:xfrm>
          <a:prstGeom prst="rect">
            <a:avLst/>
          </a:prstGeom>
        </p:spPr>
      </p:pic>
      <p:sp>
        <p:nvSpPr>
          <p:cNvPr id="27" name="Text 22"/>
          <p:cNvSpPr txBox="1"/>
          <p:nvPr/>
        </p:nvSpPr>
        <p:spPr>
          <a:xfrm>
            <a:off x="5138928" y="1362456"/>
            <a:ext cx="3474720" cy="20116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Locate the unserved</a:t>
            </a:r>
            <a:endParaRPr lang="en-US" sz="1050" dirty="0"/>
          </a:p>
        </p:txBody>
      </p:sp>
      <p:sp>
        <p:nvSpPr>
          <p:cNvPr id="28" name="Text 23"/>
          <p:cNvSpPr txBox="1"/>
          <p:nvPr/>
        </p:nvSpPr>
        <p:spPr>
          <a:xfrm>
            <a:off x="5138928" y="1563624"/>
            <a:ext cx="3493008" cy="329184"/>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Settlements visible by day but dark at night: communities probably not electrified.</a:t>
            </a:r>
            <a:endParaRPr lang="en-US" sz="850" dirty="0"/>
          </a:p>
        </p:txBody>
      </p:sp>
      <p:sp>
        <p:nvSpPr>
          <p:cNvPr id="29" name="Shape 24"/>
          <p:cNvSpPr/>
          <p:nvPr/>
        </p:nvSpPr>
        <p:spPr>
          <a:xfrm>
            <a:off x="4572000" y="1993392"/>
            <a:ext cx="4114800" cy="585216"/>
          </a:xfrm>
          <a:prstGeom prst="roundRect">
            <a:avLst>
              <a:gd name="adj" fmla="val 12500"/>
            </a:avLst>
          </a:prstGeom>
          <a:solidFill>
            <a:srgbClr val="F4F7F5"/>
          </a:solidFill>
          <a:ln w="9525">
            <a:solidFill>
              <a:srgbClr val="D5DED9"/>
            </a:solidFill>
            <a:prstDash val="solid"/>
          </a:ln>
        </p:spPr>
      </p:sp>
      <p:sp>
        <p:nvSpPr>
          <p:cNvPr id="30" name="Shape 25"/>
          <p:cNvSpPr/>
          <p:nvPr/>
        </p:nvSpPr>
        <p:spPr>
          <a:xfrm>
            <a:off x="4663440" y="2093976"/>
            <a:ext cx="384048" cy="384048"/>
          </a:xfrm>
          <a:prstGeom prst="ellipse">
            <a:avLst/>
          </a:prstGeom>
          <a:solidFill>
            <a:srgbClr val="D49A00">
              <a:alpha val="22000"/>
            </a:srgbClr>
          </a:solidFill>
          <a:ln w="12700">
            <a:solidFill>
              <a:srgbClr val="D49A00">
                <a:alpha val="0"/>
              </a:srgbClr>
            </a:solidFill>
            <a:prstDash val="solid"/>
          </a:ln>
        </p:spPr>
      </p:sp>
      <p:pic>
        <p:nvPicPr>
          <p:cNvPr id="31" name="Image 1" descr="preencoded.png"/>
          <p:cNvPicPr>
            <a:picLocks noChangeAspect="1"/>
          </p:cNvPicPr>
          <p:nvPr/>
        </p:nvPicPr>
        <p:blipFill>
          <a:blip r:embed="rId5"/>
          <a:stretch>
            <a:fillRect/>
          </a:stretch>
        </p:blipFill>
        <p:spPr>
          <a:xfrm>
            <a:off x="4763292" y="2193828"/>
            <a:ext cx="184343" cy="184343"/>
          </a:xfrm>
          <a:prstGeom prst="rect">
            <a:avLst/>
          </a:prstGeom>
        </p:spPr>
      </p:pic>
      <p:sp>
        <p:nvSpPr>
          <p:cNvPr id="32" name="Text 26"/>
          <p:cNvSpPr txBox="1"/>
          <p:nvPr/>
        </p:nvSpPr>
        <p:spPr>
          <a:xfrm>
            <a:off x="5138928" y="2029968"/>
            <a:ext cx="3474720" cy="20116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Verify programmes</a:t>
            </a:r>
            <a:endParaRPr lang="en-US" sz="1050" dirty="0"/>
          </a:p>
        </p:txBody>
      </p:sp>
      <p:sp>
        <p:nvSpPr>
          <p:cNvPr id="33" name="Text 27"/>
          <p:cNvSpPr txBox="1"/>
          <p:nvPr/>
        </p:nvSpPr>
        <p:spPr>
          <a:xfrm>
            <a:off x="5138928" y="2231136"/>
            <a:ext cx="3493008" cy="329184"/>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A grid extension that produces no light has, in practice, delivered nothing.</a:t>
            </a:r>
            <a:endParaRPr lang="en-US" sz="850" dirty="0"/>
          </a:p>
        </p:txBody>
      </p:sp>
      <p:sp>
        <p:nvSpPr>
          <p:cNvPr id="34" name="Shape 28"/>
          <p:cNvSpPr/>
          <p:nvPr/>
        </p:nvSpPr>
        <p:spPr>
          <a:xfrm>
            <a:off x="4572000" y="2660904"/>
            <a:ext cx="4114800" cy="585216"/>
          </a:xfrm>
          <a:prstGeom prst="roundRect">
            <a:avLst>
              <a:gd name="adj" fmla="val 12500"/>
            </a:avLst>
          </a:prstGeom>
          <a:solidFill>
            <a:srgbClr val="F4F7F5"/>
          </a:solidFill>
          <a:ln w="9525">
            <a:solidFill>
              <a:srgbClr val="D5DED9"/>
            </a:solidFill>
            <a:prstDash val="solid"/>
          </a:ln>
        </p:spPr>
      </p:sp>
      <p:sp>
        <p:nvSpPr>
          <p:cNvPr id="35" name="Shape 29"/>
          <p:cNvSpPr/>
          <p:nvPr/>
        </p:nvSpPr>
        <p:spPr>
          <a:xfrm>
            <a:off x="4663440" y="2761488"/>
            <a:ext cx="384048" cy="384048"/>
          </a:xfrm>
          <a:prstGeom prst="ellipse">
            <a:avLst/>
          </a:prstGeom>
          <a:solidFill>
            <a:srgbClr val="D49A00">
              <a:alpha val="22000"/>
            </a:srgbClr>
          </a:solidFill>
          <a:ln w="12700">
            <a:solidFill>
              <a:srgbClr val="D49A00">
                <a:alpha val="0"/>
              </a:srgbClr>
            </a:solidFill>
            <a:prstDash val="solid"/>
          </a:ln>
        </p:spPr>
      </p:sp>
      <p:pic>
        <p:nvPicPr>
          <p:cNvPr id="36" name="Image 2" descr="preencoded.png"/>
          <p:cNvPicPr>
            <a:picLocks noChangeAspect="1"/>
          </p:cNvPicPr>
          <p:nvPr/>
        </p:nvPicPr>
        <p:blipFill>
          <a:blip r:embed="rId6"/>
          <a:stretch>
            <a:fillRect/>
          </a:stretch>
        </p:blipFill>
        <p:spPr>
          <a:xfrm>
            <a:off x="4763292" y="2861340"/>
            <a:ext cx="184343" cy="184343"/>
          </a:xfrm>
          <a:prstGeom prst="rect">
            <a:avLst/>
          </a:prstGeom>
        </p:spPr>
      </p:pic>
      <p:sp>
        <p:nvSpPr>
          <p:cNvPr id="37" name="Text 30"/>
          <p:cNvSpPr txBox="1"/>
          <p:nvPr/>
        </p:nvSpPr>
        <p:spPr>
          <a:xfrm>
            <a:off x="5138928" y="2697480"/>
            <a:ext cx="3474720" cy="20116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Measure reliability</a:t>
            </a:r>
            <a:endParaRPr lang="en-US" sz="1050" dirty="0"/>
          </a:p>
        </p:txBody>
      </p:sp>
      <p:sp>
        <p:nvSpPr>
          <p:cNvPr id="38" name="Text 31"/>
          <p:cNvSpPr txBox="1"/>
          <p:nvPr/>
        </p:nvSpPr>
        <p:spPr>
          <a:xfrm>
            <a:off x="5138928" y="2898648"/>
            <a:ext cx="3493008" cy="329184"/>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Daily data show how often lights are on — the load-shedding that a “connected” status hides.</a:t>
            </a:r>
            <a:endParaRPr lang="en-US" sz="850" dirty="0"/>
          </a:p>
        </p:txBody>
      </p:sp>
      <p:sp>
        <p:nvSpPr>
          <p:cNvPr id="39" name="Shape 32"/>
          <p:cNvSpPr/>
          <p:nvPr/>
        </p:nvSpPr>
        <p:spPr>
          <a:xfrm>
            <a:off x="4572000" y="3328416"/>
            <a:ext cx="4114800" cy="585216"/>
          </a:xfrm>
          <a:prstGeom prst="roundRect">
            <a:avLst>
              <a:gd name="adj" fmla="val 12500"/>
            </a:avLst>
          </a:prstGeom>
          <a:solidFill>
            <a:srgbClr val="F4F7F5"/>
          </a:solidFill>
          <a:ln w="9525">
            <a:solidFill>
              <a:srgbClr val="D5DED9"/>
            </a:solidFill>
            <a:prstDash val="solid"/>
          </a:ln>
        </p:spPr>
      </p:sp>
      <p:sp>
        <p:nvSpPr>
          <p:cNvPr id="40" name="Shape 33"/>
          <p:cNvSpPr/>
          <p:nvPr/>
        </p:nvSpPr>
        <p:spPr>
          <a:xfrm>
            <a:off x="4663440" y="3429000"/>
            <a:ext cx="384048" cy="384048"/>
          </a:xfrm>
          <a:prstGeom prst="ellipse">
            <a:avLst/>
          </a:prstGeom>
          <a:solidFill>
            <a:srgbClr val="D49A00">
              <a:alpha val="22000"/>
            </a:srgbClr>
          </a:solidFill>
          <a:ln w="12700">
            <a:solidFill>
              <a:srgbClr val="D49A00">
                <a:alpha val="0"/>
              </a:srgbClr>
            </a:solidFill>
            <a:prstDash val="solid"/>
          </a:ln>
        </p:spPr>
      </p:sp>
      <p:pic>
        <p:nvPicPr>
          <p:cNvPr id="41" name="Image 3" descr="preencoded.png"/>
          <p:cNvPicPr>
            <a:picLocks noChangeAspect="1"/>
          </p:cNvPicPr>
          <p:nvPr/>
        </p:nvPicPr>
        <p:blipFill>
          <a:blip r:embed="rId7"/>
          <a:stretch>
            <a:fillRect/>
          </a:stretch>
        </p:blipFill>
        <p:spPr>
          <a:xfrm>
            <a:off x="4763292" y="3528852"/>
            <a:ext cx="184343" cy="184343"/>
          </a:xfrm>
          <a:prstGeom prst="rect">
            <a:avLst/>
          </a:prstGeom>
        </p:spPr>
      </p:pic>
      <p:sp>
        <p:nvSpPr>
          <p:cNvPr id="42" name="Text 34"/>
          <p:cNvSpPr txBox="1"/>
          <p:nvPr/>
        </p:nvSpPr>
        <p:spPr>
          <a:xfrm>
            <a:off x="5138928" y="3364992"/>
            <a:ext cx="3474720" cy="20116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Plan the last mile</a:t>
            </a:r>
            <a:endParaRPr lang="en-US" sz="1050" dirty="0"/>
          </a:p>
        </p:txBody>
      </p:sp>
      <p:sp>
        <p:nvSpPr>
          <p:cNvPr id="43" name="Text 35"/>
          <p:cNvSpPr txBox="1"/>
          <p:nvPr/>
        </p:nvSpPr>
        <p:spPr>
          <a:xfrm>
            <a:off x="5138928" y="3566160"/>
            <a:ext cx="3493008" cy="329184"/>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Distance to lit corridors guides the choice: grid, mini-grid or stand-alone solar.</a:t>
            </a:r>
            <a:endParaRPr lang="en-US" sz="850" dirty="0"/>
          </a:p>
        </p:txBody>
      </p:sp>
      <p:sp>
        <p:nvSpPr>
          <p:cNvPr id="44" name="Shape 36"/>
          <p:cNvSpPr/>
          <p:nvPr/>
        </p:nvSpPr>
        <p:spPr>
          <a:xfrm>
            <a:off x="4572000" y="4014216"/>
            <a:ext cx="4114800" cy="457200"/>
          </a:xfrm>
          <a:prstGeom prst="roundRect">
            <a:avLst>
              <a:gd name="adj" fmla="val 16000"/>
            </a:avLst>
          </a:prstGeom>
          <a:solidFill>
            <a:srgbClr val="E8F5EF"/>
          </a:solidFill>
          <a:ln w="15875">
            <a:solidFill>
              <a:srgbClr val="00A86A"/>
            </a:solidFill>
            <a:prstDash val="solid"/>
          </a:ln>
        </p:spPr>
      </p:sp>
      <p:sp>
        <p:nvSpPr>
          <p:cNvPr id="45" name="Text 37"/>
          <p:cNvSpPr txBox="1"/>
          <p:nvPr/>
        </p:nvSpPr>
        <p:spPr>
          <a:xfrm>
            <a:off x="4681728" y="4023360"/>
            <a:ext cx="3931920" cy="438912"/>
          </a:xfrm>
          <a:prstGeom prst="rect">
            <a:avLst/>
          </a:prstGeom>
          <a:noFill/>
          <a:ln/>
        </p:spPr>
        <p:txBody>
          <a:bodyPr wrap="square" lIns="0" tIns="0" rIns="0" bIns="0" rtlCol="0" anchor="ctr"/>
          <a:lstStyle/>
          <a:p>
            <a:pPr marL="0" indent="0">
              <a:buNone/>
            </a:pPr>
            <a:r>
              <a:rPr lang="en-US" sz="900" b="1" dirty="0">
                <a:solidFill>
                  <a:srgbClr val="00704A"/>
                </a:solidFill>
                <a:latin typeface="Calibri" pitchFamily="34" charset="0"/>
                <a:ea typeface="Calibri" pitchFamily="34" charset="-122"/>
                <a:cs typeface="Calibri" pitchFamily="34" charset="-120"/>
              </a:rPr>
              <a:t>Mission 300  </a:t>
            </a:r>
            <a:r>
              <a:rPr lang="en-US" sz="900" dirty="0">
                <a:solidFill>
                  <a:srgbClr val="231F20"/>
                </a:solidFill>
                <a:latin typeface="Calibri" pitchFamily="34" charset="0"/>
                <a:ea typeface="Calibri" pitchFamily="34" charset="-122"/>
                <a:cs typeface="Calibri" pitchFamily="34" charset="-120"/>
              </a:rPr>
              <a:t>(World Bank Group and AfDB): 300 M people connected by 2030 — monitoring at that scale needs spatial evidence.</a:t>
            </a:r>
            <a:endParaRPr lang="en-US" sz="900" dirty="0"/>
          </a:p>
        </p:txBody>
      </p:sp>
      <p:sp>
        <p:nvSpPr>
          <p:cNvPr id="46" name="Text 38"/>
          <p:cNvSpPr txBox="1"/>
          <p:nvPr/>
        </p:nvSpPr>
        <p:spPr>
          <a:xfrm>
            <a:off x="457200" y="4590288"/>
            <a:ext cx="73152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Sources: Tracking SDG 7 (IEA, IRENA, UN DESA, World Bank, WHO), 24 June 2026; HREA (Univ. of Michigan).</a:t>
            </a:r>
            <a:endParaRPr lang="en-US" sz="9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APPLICATIONS · APPLICATION 03</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Urbanisation and the shape of cities</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49A00"/>
          </a:solidFill>
          <a:ln w="12700">
            <a:solidFill>
              <a:srgbClr val="D49A00"/>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23</a:t>
            </a:r>
            <a:endParaRPr lang="en-US" sz="850" dirty="0"/>
          </a:p>
        </p:txBody>
      </p:sp>
      <p:sp>
        <p:nvSpPr>
          <p:cNvPr id="17" name="Shape 14"/>
          <p:cNvSpPr/>
          <p:nvPr/>
        </p:nvSpPr>
        <p:spPr>
          <a:xfrm>
            <a:off x="457200" y="1325880"/>
            <a:ext cx="2194560" cy="2743200"/>
          </a:xfrm>
          <a:prstGeom prst="roundRect">
            <a:avLst>
              <a:gd name="adj" fmla="val 3333"/>
            </a:avLst>
          </a:prstGeom>
          <a:solidFill>
            <a:srgbClr val="F4F7F5"/>
          </a:solidFill>
          <a:ln w="9525">
            <a:solidFill>
              <a:srgbClr val="D5DED9"/>
            </a:solidFill>
            <a:prstDash val="solid"/>
          </a:ln>
        </p:spPr>
      </p:sp>
      <p:sp>
        <p:nvSpPr>
          <p:cNvPr id="18" name="Text 15"/>
          <p:cNvSpPr txBox="1"/>
          <p:nvPr/>
        </p:nvSpPr>
        <p:spPr>
          <a:xfrm>
            <a:off x="457200" y="1389888"/>
            <a:ext cx="2194560" cy="274320"/>
          </a:xfrm>
          <a:prstGeom prst="rect">
            <a:avLst/>
          </a:prstGeom>
          <a:noFill/>
          <a:ln/>
        </p:spPr>
        <p:txBody>
          <a:bodyPr wrap="square" lIns="0" tIns="0" rIns="0" bIns="0" rtlCol="0" anchor="t"/>
          <a:lstStyle/>
          <a:p>
            <a:pPr marL="0" indent="0" algn="ctr">
              <a:buNone/>
            </a:pPr>
            <a:r>
              <a:rPr lang="en-US" sz="1400" b="1" dirty="0">
                <a:solidFill>
                  <a:srgbClr val="0E7C86"/>
                </a:solidFill>
                <a:latin typeface="Calibri" pitchFamily="34" charset="0"/>
                <a:ea typeface="Calibri" pitchFamily="34" charset="-122"/>
                <a:cs typeface="Calibri" pitchFamily="34" charset="-120"/>
              </a:rPr>
              <a:t>Sprawl</a:t>
            </a:r>
            <a:endParaRPr lang="en-US" sz="1400" dirty="0"/>
          </a:p>
        </p:txBody>
      </p:sp>
      <p:sp>
        <p:nvSpPr>
          <p:cNvPr id="19" name="Text 16"/>
          <p:cNvSpPr txBox="1"/>
          <p:nvPr/>
        </p:nvSpPr>
        <p:spPr>
          <a:xfrm>
            <a:off x="548640" y="1664208"/>
            <a:ext cx="2011680" cy="365760"/>
          </a:xfrm>
          <a:prstGeom prst="rect">
            <a:avLst/>
          </a:prstGeom>
          <a:noFill/>
          <a:ln/>
        </p:spPr>
        <p:txBody>
          <a:bodyPr wrap="square" lIns="0" tIns="0" rIns="0" bIns="0" rtlCol="0" anchor="t"/>
          <a:lstStyle/>
          <a:p>
            <a:pPr marL="0" indent="0" algn="ctr">
              <a:buNone/>
            </a:pPr>
            <a:r>
              <a:rPr lang="en-US" sz="950" dirty="0">
                <a:solidFill>
                  <a:srgbClr val="5E6964"/>
                </a:solidFill>
                <a:latin typeface="Calibri" pitchFamily="34" charset="0"/>
                <a:ea typeface="Calibri" pitchFamily="34" charset="-122"/>
                <a:cs typeface="Calibri" pitchFamily="34" charset="-120"/>
              </a:rPr>
              <a:t>The footprint spreads outwards at low intensity</a:t>
            </a:r>
            <a:endParaRPr lang="en-US" sz="950" dirty="0"/>
          </a:p>
        </p:txBody>
      </p:sp>
      <p:sp>
        <p:nvSpPr>
          <p:cNvPr id="20" name="Shape 17"/>
          <p:cNvSpPr/>
          <p:nvPr/>
        </p:nvSpPr>
        <p:spPr>
          <a:xfrm>
            <a:off x="502920" y="2123237"/>
            <a:ext cx="2103120" cy="1514246"/>
          </a:xfrm>
          <a:prstGeom prst="ellipse">
            <a:avLst/>
          </a:prstGeom>
          <a:solidFill>
            <a:srgbClr val="0E7C86">
              <a:alpha val="8000"/>
            </a:srgbClr>
          </a:solidFill>
          <a:ln w="9525">
            <a:solidFill>
              <a:srgbClr val="0E7C86">
                <a:alpha val="70000"/>
              </a:srgbClr>
            </a:solidFill>
            <a:prstDash val="solid"/>
          </a:ln>
        </p:spPr>
      </p:sp>
      <p:sp>
        <p:nvSpPr>
          <p:cNvPr id="21" name="Shape 18"/>
          <p:cNvSpPr/>
          <p:nvPr/>
        </p:nvSpPr>
        <p:spPr>
          <a:xfrm>
            <a:off x="777240" y="2320747"/>
            <a:ext cx="1554480" cy="1119226"/>
          </a:xfrm>
          <a:prstGeom prst="ellipse">
            <a:avLst/>
          </a:prstGeom>
          <a:solidFill>
            <a:srgbClr val="0E7C86">
              <a:alpha val="15000"/>
            </a:srgbClr>
          </a:solidFill>
          <a:ln w="9525">
            <a:solidFill>
              <a:srgbClr val="0E7C86">
                <a:alpha val="70000"/>
              </a:srgbClr>
            </a:solidFill>
            <a:prstDash val="solid"/>
          </a:ln>
        </p:spPr>
      </p:sp>
      <p:sp>
        <p:nvSpPr>
          <p:cNvPr id="22" name="Shape 19"/>
          <p:cNvSpPr/>
          <p:nvPr/>
        </p:nvSpPr>
        <p:spPr>
          <a:xfrm>
            <a:off x="1143000" y="2584094"/>
            <a:ext cx="822960" cy="592531"/>
          </a:xfrm>
          <a:prstGeom prst="ellipse">
            <a:avLst/>
          </a:prstGeom>
          <a:solidFill>
            <a:srgbClr val="0E7C86">
              <a:alpha val="55000"/>
            </a:srgbClr>
          </a:solidFill>
          <a:ln w="9525">
            <a:solidFill>
              <a:srgbClr val="0E7C86">
                <a:alpha val="70000"/>
              </a:srgbClr>
            </a:solidFill>
            <a:prstDash val="solid"/>
          </a:ln>
        </p:spPr>
      </p:sp>
      <p:sp>
        <p:nvSpPr>
          <p:cNvPr id="23" name="Shape 20"/>
          <p:cNvSpPr/>
          <p:nvPr/>
        </p:nvSpPr>
        <p:spPr>
          <a:xfrm>
            <a:off x="566928" y="3675888"/>
            <a:ext cx="1975104" cy="274320"/>
          </a:xfrm>
          <a:prstGeom prst="roundRect">
            <a:avLst>
              <a:gd name="adj" fmla="val 50000"/>
            </a:avLst>
          </a:prstGeom>
          <a:solidFill>
            <a:srgbClr val="0E7C86">
              <a:alpha val="15000"/>
            </a:srgbClr>
          </a:solidFill>
          <a:ln w="9525">
            <a:solidFill>
              <a:srgbClr val="0E7C86"/>
            </a:solidFill>
            <a:prstDash val="solid"/>
          </a:ln>
        </p:spPr>
      </p:sp>
      <p:sp>
        <p:nvSpPr>
          <p:cNvPr id="24" name="Text 21"/>
          <p:cNvSpPr txBox="1"/>
          <p:nvPr/>
        </p:nvSpPr>
        <p:spPr>
          <a:xfrm>
            <a:off x="566928" y="3675888"/>
            <a:ext cx="1975104" cy="274320"/>
          </a:xfrm>
          <a:prstGeom prst="rect">
            <a:avLst/>
          </a:prstGeom>
          <a:noFill/>
          <a:ln/>
        </p:spPr>
        <p:txBody>
          <a:bodyPr wrap="square" lIns="0" tIns="0" rIns="0" bIns="0" rtlCol="0" anchor="ctr"/>
          <a:lstStyle/>
          <a:p>
            <a:pPr marL="0" indent="0" algn="ctr">
              <a:buNone/>
            </a:pPr>
            <a:r>
              <a:rPr lang="en-US" sz="900" b="1" dirty="0">
                <a:solidFill>
                  <a:srgbClr val="0E7C86"/>
                </a:solidFill>
                <a:latin typeface="Calibri" pitchFamily="34" charset="0"/>
                <a:ea typeface="Calibri" pitchFamily="34" charset="-122"/>
                <a:cs typeface="Calibri" pitchFamily="34" charset="-120"/>
              </a:rPr>
              <a:t>Area +40%  ·  Radiance +6%</a:t>
            </a:r>
            <a:endParaRPr lang="en-US" sz="900" dirty="0"/>
          </a:p>
        </p:txBody>
      </p:sp>
      <p:sp>
        <p:nvSpPr>
          <p:cNvPr id="25" name="Shape 22"/>
          <p:cNvSpPr/>
          <p:nvPr/>
        </p:nvSpPr>
        <p:spPr>
          <a:xfrm>
            <a:off x="2788920" y="1325880"/>
            <a:ext cx="2194560" cy="2743200"/>
          </a:xfrm>
          <a:prstGeom prst="roundRect">
            <a:avLst>
              <a:gd name="adj" fmla="val 3333"/>
            </a:avLst>
          </a:prstGeom>
          <a:solidFill>
            <a:srgbClr val="F4F7F5"/>
          </a:solidFill>
          <a:ln w="9525">
            <a:solidFill>
              <a:srgbClr val="D5DED9"/>
            </a:solidFill>
            <a:prstDash val="solid"/>
          </a:ln>
        </p:spPr>
      </p:sp>
      <p:sp>
        <p:nvSpPr>
          <p:cNvPr id="26" name="Text 23"/>
          <p:cNvSpPr txBox="1"/>
          <p:nvPr/>
        </p:nvSpPr>
        <p:spPr>
          <a:xfrm>
            <a:off x="2788920" y="1389888"/>
            <a:ext cx="2194560" cy="274320"/>
          </a:xfrm>
          <a:prstGeom prst="rect">
            <a:avLst/>
          </a:prstGeom>
          <a:noFill/>
          <a:ln/>
        </p:spPr>
        <p:txBody>
          <a:bodyPr wrap="square" lIns="0" tIns="0" rIns="0" bIns="0" rtlCol="0" anchor="t"/>
          <a:lstStyle/>
          <a:p>
            <a:pPr marL="0" indent="0" algn="ctr">
              <a:buNone/>
            </a:pPr>
            <a:r>
              <a:rPr lang="en-US" sz="1400" b="1" dirty="0">
                <a:solidFill>
                  <a:srgbClr val="00704A"/>
                </a:solidFill>
                <a:latin typeface="Calibri" pitchFamily="34" charset="0"/>
                <a:ea typeface="Calibri" pitchFamily="34" charset="-122"/>
                <a:cs typeface="Calibri" pitchFamily="34" charset="-120"/>
              </a:rPr>
              <a:t>Densification</a:t>
            </a:r>
            <a:endParaRPr lang="en-US" sz="1400" dirty="0"/>
          </a:p>
        </p:txBody>
      </p:sp>
      <p:sp>
        <p:nvSpPr>
          <p:cNvPr id="27" name="Text 24"/>
          <p:cNvSpPr txBox="1"/>
          <p:nvPr/>
        </p:nvSpPr>
        <p:spPr>
          <a:xfrm>
            <a:off x="2880360" y="1664208"/>
            <a:ext cx="2011680" cy="365760"/>
          </a:xfrm>
          <a:prstGeom prst="rect">
            <a:avLst/>
          </a:prstGeom>
          <a:noFill/>
          <a:ln/>
        </p:spPr>
        <p:txBody>
          <a:bodyPr wrap="square" lIns="0" tIns="0" rIns="0" bIns="0" rtlCol="0" anchor="t"/>
          <a:lstStyle/>
          <a:p>
            <a:pPr marL="0" indent="0" algn="ctr">
              <a:buNone/>
            </a:pPr>
            <a:r>
              <a:rPr lang="en-US" sz="950" dirty="0">
                <a:solidFill>
                  <a:srgbClr val="5E6964"/>
                </a:solidFill>
                <a:latin typeface="Calibri" pitchFamily="34" charset="0"/>
                <a:ea typeface="Calibri" pitchFamily="34" charset="-122"/>
                <a:cs typeface="Calibri" pitchFamily="34" charset="-120"/>
              </a:rPr>
              <a:t>The same footprint intensifies</a:t>
            </a:r>
            <a:endParaRPr lang="en-US" sz="950" dirty="0"/>
          </a:p>
        </p:txBody>
      </p:sp>
      <p:sp>
        <p:nvSpPr>
          <p:cNvPr id="28" name="Shape 25"/>
          <p:cNvSpPr/>
          <p:nvPr/>
        </p:nvSpPr>
        <p:spPr>
          <a:xfrm>
            <a:off x="3223260" y="2403043"/>
            <a:ext cx="1325880" cy="954634"/>
          </a:xfrm>
          <a:prstGeom prst="ellipse">
            <a:avLst/>
          </a:prstGeom>
          <a:solidFill>
            <a:srgbClr val="00704A">
              <a:alpha val="20000"/>
            </a:srgbClr>
          </a:solidFill>
          <a:ln w="9525">
            <a:solidFill>
              <a:srgbClr val="00704A">
                <a:alpha val="70000"/>
              </a:srgbClr>
            </a:solidFill>
            <a:prstDash val="solid"/>
          </a:ln>
        </p:spPr>
      </p:sp>
      <p:sp>
        <p:nvSpPr>
          <p:cNvPr id="29" name="Shape 26"/>
          <p:cNvSpPr/>
          <p:nvPr/>
        </p:nvSpPr>
        <p:spPr>
          <a:xfrm>
            <a:off x="3429000" y="2551176"/>
            <a:ext cx="914400" cy="658368"/>
          </a:xfrm>
          <a:prstGeom prst="ellipse">
            <a:avLst/>
          </a:prstGeom>
          <a:solidFill>
            <a:srgbClr val="00704A">
              <a:alpha val="60000"/>
            </a:srgbClr>
          </a:solidFill>
          <a:ln w="9525">
            <a:solidFill>
              <a:srgbClr val="00704A">
                <a:alpha val="70000"/>
              </a:srgbClr>
            </a:solidFill>
            <a:prstDash val="solid"/>
          </a:ln>
        </p:spPr>
      </p:sp>
      <p:sp>
        <p:nvSpPr>
          <p:cNvPr id="30" name="Shape 27"/>
          <p:cNvSpPr/>
          <p:nvPr/>
        </p:nvSpPr>
        <p:spPr>
          <a:xfrm>
            <a:off x="3634740" y="2699309"/>
            <a:ext cx="502920" cy="362102"/>
          </a:xfrm>
          <a:prstGeom prst="ellipse">
            <a:avLst/>
          </a:prstGeom>
          <a:solidFill>
            <a:srgbClr val="00704A"/>
          </a:solidFill>
          <a:ln w="9525">
            <a:solidFill>
              <a:srgbClr val="00704A">
                <a:alpha val="70000"/>
              </a:srgbClr>
            </a:solidFill>
            <a:prstDash val="solid"/>
          </a:ln>
        </p:spPr>
      </p:sp>
      <p:sp>
        <p:nvSpPr>
          <p:cNvPr id="31" name="Shape 28"/>
          <p:cNvSpPr/>
          <p:nvPr/>
        </p:nvSpPr>
        <p:spPr>
          <a:xfrm>
            <a:off x="2898648" y="3675888"/>
            <a:ext cx="1975104" cy="274320"/>
          </a:xfrm>
          <a:prstGeom prst="roundRect">
            <a:avLst>
              <a:gd name="adj" fmla="val 50000"/>
            </a:avLst>
          </a:prstGeom>
          <a:solidFill>
            <a:srgbClr val="00704A">
              <a:alpha val="15000"/>
            </a:srgbClr>
          </a:solidFill>
          <a:ln w="9525">
            <a:solidFill>
              <a:srgbClr val="00704A"/>
            </a:solidFill>
            <a:prstDash val="solid"/>
          </a:ln>
        </p:spPr>
      </p:sp>
      <p:sp>
        <p:nvSpPr>
          <p:cNvPr id="32" name="Text 29"/>
          <p:cNvSpPr txBox="1"/>
          <p:nvPr/>
        </p:nvSpPr>
        <p:spPr>
          <a:xfrm>
            <a:off x="2898648" y="3675888"/>
            <a:ext cx="1975104" cy="274320"/>
          </a:xfrm>
          <a:prstGeom prst="rect">
            <a:avLst/>
          </a:prstGeom>
          <a:noFill/>
          <a:ln/>
        </p:spPr>
        <p:txBody>
          <a:bodyPr wrap="square" lIns="0" tIns="0" rIns="0" bIns="0" rtlCol="0" anchor="ctr"/>
          <a:lstStyle/>
          <a:p>
            <a:pPr marL="0" indent="0" algn="ctr">
              <a:buNone/>
            </a:pPr>
            <a:r>
              <a:rPr lang="en-US" sz="900" b="1" dirty="0">
                <a:solidFill>
                  <a:srgbClr val="00704A"/>
                </a:solidFill>
                <a:latin typeface="Calibri" pitchFamily="34" charset="0"/>
                <a:ea typeface="Calibri" pitchFamily="34" charset="-122"/>
                <a:cs typeface="Calibri" pitchFamily="34" charset="-120"/>
              </a:rPr>
              <a:t>Area +6%  ·  Radiance +40%</a:t>
            </a:r>
            <a:endParaRPr lang="en-US" sz="900" dirty="0"/>
          </a:p>
        </p:txBody>
      </p:sp>
      <p:sp>
        <p:nvSpPr>
          <p:cNvPr id="33" name="Text 30"/>
          <p:cNvSpPr txBox="1"/>
          <p:nvPr/>
        </p:nvSpPr>
        <p:spPr>
          <a:xfrm>
            <a:off x="457200" y="4160520"/>
            <a:ext cx="4526280" cy="228600"/>
          </a:xfrm>
          <a:prstGeom prst="rect">
            <a:avLst/>
          </a:prstGeom>
          <a:noFill/>
          <a:ln/>
        </p:spPr>
        <p:txBody>
          <a:bodyPr wrap="square" lIns="0" tIns="0" rIns="0" bIns="0" rtlCol="0" anchor="t"/>
          <a:lstStyle/>
          <a:p>
            <a:pPr marL="0" indent="0" algn="ctr">
              <a:buNone/>
            </a:pPr>
            <a:r>
              <a:rPr lang="en-US" sz="1000" i="1" dirty="0">
                <a:solidFill>
                  <a:srgbClr val="5E6964"/>
                </a:solidFill>
                <a:latin typeface="Calibri" pitchFamily="34" charset="0"/>
                <a:ea typeface="Calibri" pitchFamily="34" charset="-122"/>
                <a:cs typeface="Calibri" pitchFamily="34" charset="-120"/>
              </a:rPr>
              <a:t>Same sum of lights — two very different cities (illustrative).</a:t>
            </a:r>
            <a:endParaRPr lang="en-US" sz="1000" dirty="0"/>
          </a:p>
        </p:txBody>
      </p:sp>
      <p:sp>
        <p:nvSpPr>
          <p:cNvPr id="34" name="Shape 31"/>
          <p:cNvSpPr/>
          <p:nvPr/>
        </p:nvSpPr>
        <p:spPr>
          <a:xfrm>
            <a:off x="5257800" y="1371600"/>
            <a:ext cx="420624" cy="420624"/>
          </a:xfrm>
          <a:prstGeom prst="ellipse">
            <a:avLst/>
          </a:prstGeom>
          <a:solidFill>
            <a:srgbClr val="D49A00">
              <a:alpha val="22000"/>
            </a:srgbClr>
          </a:solidFill>
          <a:ln w="12700">
            <a:solidFill>
              <a:srgbClr val="D49A00">
                <a:alpha val="0"/>
              </a:srgbClr>
            </a:solidFill>
            <a:prstDash val="solid"/>
          </a:ln>
        </p:spPr>
      </p:sp>
      <p:pic>
        <p:nvPicPr>
          <p:cNvPr id="35" name="Image 0" descr="preencoded.png"/>
          <p:cNvPicPr>
            <a:picLocks noChangeAspect="1"/>
          </p:cNvPicPr>
          <p:nvPr/>
        </p:nvPicPr>
        <p:blipFill>
          <a:blip r:embed="rId3"/>
          <a:stretch>
            <a:fillRect/>
          </a:stretch>
        </p:blipFill>
        <p:spPr>
          <a:xfrm>
            <a:off x="5367162" y="1480962"/>
            <a:ext cx="201900" cy="201900"/>
          </a:xfrm>
          <a:prstGeom prst="rect">
            <a:avLst/>
          </a:prstGeom>
        </p:spPr>
      </p:pic>
      <p:sp>
        <p:nvSpPr>
          <p:cNvPr id="36" name="Text 32"/>
          <p:cNvSpPr txBox="1"/>
          <p:nvPr/>
        </p:nvSpPr>
        <p:spPr>
          <a:xfrm>
            <a:off x="5806440" y="1325880"/>
            <a:ext cx="2880360" cy="237744"/>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Map where registers are missing</a:t>
            </a:r>
            <a:endParaRPr lang="en-US" sz="1050" dirty="0"/>
          </a:p>
        </p:txBody>
      </p:sp>
      <p:sp>
        <p:nvSpPr>
          <p:cNvPr id="37" name="Text 33"/>
          <p:cNvSpPr txBox="1"/>
          <p:nvPr/>
        </p:nvSpPr>
        <p:spPr>
          <a:xfrm>
            <a:off x="5806440" y="1572768"/>
            <a:ext cx="2880360" cy="45720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Lights reveal the built-up footprint where cadastre and recent maps are lacking.</a:t>
            </a:r>
            <a:endParaRPr lang="en-US" sz="900" dirty="0"/>
          </a:p>
        </p:txBody>
      </p:sp>
      <p:sp>
        <p:nvSpPr>
          <p:cNvPr id="38" name="Shape 34"/>
          <p:cNvSpPr/>
          <p:nvPr/>
        </p:nvSpPr>
        <p:spPr>
          <a:xfrm>
            <a:off x="5257800" y="2130552"/>
            <a:ext cx="420624" cy="420624"/>
          </a:xfrm>
          <a:prstGeom prst="ellipse">
            <a:avLst/>
          </a:prstGeom>
          <a:solidFill>
            <a:srgbClr val="D49A00">
              <a:alpha val="22000"/>
            </a:srgbClr>
          </a:solidFill>
          <a:ln w="12700">
            <a:solidFill>
              <a:srgbClr val="D49A00">
                <a:alpha val="0"/>
              </a:srgbClr>
            </a:solidFill>
            <a:prstDash val="solid"/>
          </a:ln>
        </p:spPr>
      </p:sp>
      <p:pic>
        <p:nvPicPr>
          <p:cNvPr id="39" name="Image 1" descr="preencoded.png"/>
          <p:cNvPicPr>
            <a:picLocks noChangeAspect="1"/>
          </p:cNvPicPr>
          <p:nvPr/>
        </p:nvPicPr>
        <p:blipFill>
          <a:blip r:embed="rId4"/>
          <a:stretch>
            <a:fillRect/>
          </a:stretch>
        </p:blipFill>
        <p:spPr>
          <a:xfrm>
            <a:off x="5367162" y="2239914"/>
            <a:ext cx="201900" cy="201900"/>
          </a:xfrm>
          <a:prstGeom prst="rect">
            <a:avLst/>
          </a:prstGeom>
        </p:spPr>
      </p:pic>
      <p:sp>
        <p:nvSpPr>
          <p:cNvPr id="40" name="Text 35"/>
          <p:cNvSpPr txBox="1"/>
          <p:nvPr/>
        </p:nvSpPr>
        <p:spPr>
          <a:xfrm>
            <a:off x="5806440" y="2084832"/>
            <a:ext cx="2880360" cy="237744"/>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Tell sprawl from densification</a:t>
            </a:r>
            <a:endParaRPr lang="en-US" sz="1050" dirty="0"/>
          </a:p>
        </p:txBody>
      </p:sp>
      <p:sp>
        <p:nvSpPr>
          <p:cNvPr id="41" name="Text 36"/>
          <p:cNvSpPr txBox="1"/>
          <p:nvPr/>
        </p:nvSpPr>
        <p:spPr>
          <a:xfrm>
            <a:off x="5806440" y="2331720"/>
            <a:ext cx="2880360" cy="45720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Compare the growth of lit area with that of radiance — key for transport and services.</a:t>
            </a:r>
            <a:endParaRPr lang="en-US" sz="900" dirty="0"/>
          </a:p>
        </p:txBody>
      </p:sp>
      <p:sp>
        <p:nvSpPr>
          <p:cNvPr id="42" name="Shape 37"/>
          <p:cNvSpPr/>
          <p:nvPr/>
        </p:nvSpPr>
        <p:spPr>
          <a:xfrm>
            <a:off x="5257800" y="2889504"/>
            <a:ext cx="420624" cy="420624"/>
          </a:xfrm>
          <a:prstGeom prst="ellipse">
            <a:avLst/>
          </a:prstGeom>
          <a:solidFill>
            <a:srgbClr val="D49A00">
              <a:alpha val="22000"/>
            </a:srgbClr>
          </a:solidFill>
          <a:ln w="12700">
            <a:solidFill>
              <a:srgbClr val="D49A00">
                <a:alpha val="0"/>
              </a:srgbClr>
            </a:solidFill>
            <a:prstDash val="solid"/>
          </a:ln>
        </p:spPr>
      </p:sp>
      <p:pic>
        <p:nvPicPr>
          <p:cNvPr id="43" name="Image 2" descr="preencoded.png"/>
          <p:cNvPicPr>
            <a:picLocks noChangeAspect="1"/>
          </p:cNvPicPr>
          <p:nvPr/>
        </p:nvPicPr>
        <p:blipFill>
          <a:blip r:embed="rId5"/>
          <a:stretch>
            <a:fillRect/>
          </a:stretch>
        </p:blipFill>
        <p:spPr>
          <a:xfrm>
            <a:off x="5367162" y="2998866"/>
            <a:ext cx="201900" cy="201900"/>
          </a:xfrm>
          <a:prstGeom prst="rect">
            <a:avLst/>
          </a:prstGeom>
        </p:spPr>
      </p:pic>
      <p:sp>
        <p:nvSpPr>
          <p:cNvPr id="44" name="Text 38"/>
          <p:cNvSpPr txBox="1"/>
          <p:nvPr/>
        </p:nvSpPr>
        <p:spPr>
          <a:xfrm>
            <a:off x="5806440" y="2843784"/>
            <a:ext cx="2880360" cy="237744"/>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Spot new towns early</a:t>
            </a:r>
            <a:endParaRPr lang="en-US" sz="1050" dirty="0"/>
          </a:p>
        </p:txBody>
      </p:sp>
      <p:sp>
        <p:nvSpPr>
          <p:cNvPr id="45" name="Text 39"/>
          <p:cNvSpPr txBox="1"/>
          <p:nvPr/>
        </p:nvSpPr>
        <p:spPr>
          <a:xfrm>
            <a:off x="5806440" y="3090672"/>
            <a:ext cx="2880360" cy="45720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Mining towns, economic zones and displacement sites appear before the official geography does.</a:t>
            </a:r>
            <a:endParaRPr lang="en-US" sz="900" dirty="0"/>
          </a:p>
        </p:txBody>
      </p:sp>
      <p:sp>
        <p:nvSpPr>
          <p:cNvPr id="46" name="Shape 40"/>
          <p:cNvSpPr/>
          <p:nvPr/>
        </p:nvSpPr>
        <p:spPr>
          <a:xfrm>
            <a:off x="5257800" y="3648456"/>
            <a:ext cx="420624" cy="420624"/>
          </a:xfrm>
          <a:prstGeom prst="ellipse">
            <a:avLst/>
          </a:prstGeom>
          <a:solidFill>
            <a:srgbClr val="D49A00">
              <a:alpha val="22000"/>
            </a:srgbClr>
          </a:solidFill>
          <a:ln w="12700">
            <a:solidFill>
              <a:srgbClr val="D49A00">
                <a:alpha val="0"/>
              </a:srgbClr>
            </a:solidFill>
            <a:prstDash val="solid"/>
          </a:ln>
        </p:spPr>
      </p:sp>
      <p:pic>
        <p:nvPicPr>
          <p:cNvPr id="47" name="Image 3" descr="preencoded.png"/>
          <p:cNvPicPr>
            <a:picLocks noChangeAspect="1"/>
          </p:cNvPicPr>
          <p:nvPr/>
        </p:nvPicPr>
        <p:blipFill>
          <a:blip r:embed="rId6"/>
          <a:stretch>
            <a:fillRect/>
          </a:stretch>
        </p:blipFill>
        <p:spPr>
          <a:xfrm>
            <a:off x="5367162" y="3757818"/>
            <a:ext cx="201900" cy="201900"/>
          </a:xfrm>
          <a:prstGeom prst="rect">
            <a:avLst/>
          </a:prstGeom>
        </p:spPr>
      </p:pic>
      <p:sp>
        <p:nvSpPr>
          <p:cNvPr id="48" name="Text 41"/>
          <p:cNvSpPr txBox="1"/>
          <p:nvPr/>
        </p:nvSpPr>
        <p:spPr>
          <a:xfrm>
            <a:off x="5806440" y="3602736"/>
            <a:ext cx="2880360" cy="237744"/>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Pair with population grids</a:t>
            </a:r>
            <a:endParaRPr lang="en-US" sz="1050" dirty="0"/>
          </a:p>
        </p:txBody>
      </p:sp>
      <p:sp>
        <p:nvSpPr>
          <p:cNvPr id="49" name="Text 42"/>
          <p:cNvSpPr txBox="1"/>
          <p:nvPr/>
        </p:nvSpPr>
        <p:spPr>
          <a:xfrm>
            <a:off x="5806440" y="3849624"/>
            <a:ext cx="2880360" cy="45720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WorldPop or GHSL — a bright pixel is not a person.</a:t>
            </a:r>
            <a:endParaRPr lang="en-US" sz="9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APPLICATIONS · APPLICATION 04</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Conflicts and disasters: the lights go out</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49A00"/>
          </a:solidFill>
          <a:ln w="12700">
            <a:solidFill>
              <a:srgbClr val="D49A00"/>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24</a:t>
            </a:r>
            <a:endParaRPr lang="en-US" sz="850" dirty="0"/>
          </a:p>
        </p:txBody>
      </p:sp>
      <p:sp>
        <p:nvSpPr>
          <p:cNvPr id="17" name="Shape 14"/>
          <p:cNvSpPr/>
          <p:nvPr/>
        </p:nvSpPr>
        <p:spPr>
          <a:xfrm>
            <a:off x="457200" y="1325880"/>
            <a:ext cx="2651760" cy="1874520"/>
          </a:xfrm>
          <a:prstGeom prst="roundRect">
            <a:avLst>
              <a:gd name="adj" fmla="val 3902"/>
            </a:avLst>
          </a:prstGeom>
          <a:solidFill>
            <a:srgbClr val="E8F5EF"/>
          </a:solidFill>
          <a:ln w="15875">
            <a:solidFill>
              <a:srgbClr val="B83B2E"/>
            </a:solidFill>
            <a:prstDash val="solid"/>
          </a:ln>
        </p:spPr>
      </p:sp>
      <p:sp>
        <p:nvSpPr>
          <p:cNvPr id="18" name="Shape 15"/>
          <p:cNvSpPr/>
          <p:nvPr/>
        </p:nvSpPr>
        <p:spPr>
          <a:xfrm>
            <a:off x="585216" y="1444752"/>
            <a:ext cx="457200" cy="457200"/>
          </a:xfrm>
          <a:prstGeom prst="ellipse">
            <a:avLst/>
          </a:prstGeom>
          <a:solidFill>
            <a:srgbClr val="B83B2E">
              <a:alpha val="22000"/>
            </a:srgbClr>
          </a:solidFill>
          <a:ln w="12700">
            <a:solidFill>
              <a:srgbClr val="B83B2E">
                <a:alpha val="0"/>
              </a:srgbClr>
            </a:solidFill>
            <a:prstDash val="solid"/>
          </a:ln>
        </p:spPr>
      </p:sp>
      <p:pic>
        <p:nvPicPr>
          <p:cNvPr id="19" name="Image 0" descr="preencoded.png"/>
          <p:cNvPicPr>
            <a:picLocks noChangeAspect="1"/>
          </p:cNvPicPr>
          <p:nvPr/>
        </p:nvPicPr>
        <p:blipFill>
          <a:blip r:embed="rId3"/>
          <a:stretch>
            <a:fillRect/>
          </a:stretch>
        </p:blipFill>
        <p:spPr>
          <a:xfrm>
            <a:off x="704088" y="1563624"/>
            <a:ext cx="219456" cy="219456"/>
          </a:xfrm>
          <a:prstGeom prst="rect">
            <a:avLst/>
          </a:prstGeom>
        </p:spPr>
      </p:pic>
      <p:sp>
        <p:nvSpPr>
          <p:cNvPr id="20" name="Text 16"/>
          <p:cNvSpPr txBox="1"/>
          <p:nvPr/>
        </p:nvSpPr>
        <p:spPr>
          <a:xfrm>
            <a:off x="1143000" y="1444752"/>
            <a:ext cx="1874520" cy="45720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Conflict · Sudan, 2023</a:t>
            </a:r>
            <a:endParaRPr lang="en-US" sz="1150" dirty="0"/>
          </a:p>
        </p:txBody>
      </p:sp>
      <p:sp>
        <p:nvSpPr>
          <p:cNvPr id="21" name="Text 17"/>
          <p:cNvSpPr txBox="1"/>
          <p:nvPr/>
        </p:nvSpPr>
        <p:spPr>
          <a:xfrm>
            <a:off x="594360" y="1993392"/>
            <a:ext cx="2377440" cy="117043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After fighting broke out in Khartoum in April 2023, the capital’s lights had fallen to noise level by May (EOG). UNOSAT mapped the outages in June 2023.</a:t>
            </a:r>
            <a:endParaRPr lang="en-US" sz="950" dirty="0"/>
          </a:p>
        </p:txBody>
      </p:sp>
      <p:sp>
        <p:nvSpPr>
          <p:cNvPr id="22" name="Shape 18"/>
          <p:cNvSpPr/>
          <p:nvPr/>
        </p:nvSpPr>
        <p:spPr>
          <a:xfrm>
            <a:off x="3246120" y="1325880"/>
            <a:ext cx="2651760" cy="1874520"/>
          </a:xfrm>
          <a:prstGeom prst="roundRect">
            <a:avLst>
              <a:gd name="adj" fmla="val 3902"/>
            </a:avLst>
          </a:prstGeom>
          <a:solidFill>
            <a:srgbClr val="F4F7F5"/>
          </a:solidFill>
          <a:ln w="9525">
            <a:solidFill>
              <a:srgbClr val="D5DED9"/>
            </a:solidFill>
            <a:prstDash val="solid"/>
          </a:ln>
        </p:spPr>
      </p:sp>
      <p:sp>
        <p:nvSpPr>
          <p:cNvPr id="23" name="Shape 19"/>
          <p:cNvSpPr/>
          <p:nvPr/>
        </p:nvSpPr>
        <p:spPr>
          <a:xfrm>
            <a:off x="3374136" y="1444752"/>
            <a:ext cx="457200" cy="457200"/>
          </a:xfrm>
          <a:prstGeom prst="ellipse">
            <a:avLst/>
          </a:prstGeom>
          <a:solidFill>
            <a:srgbClr val="C4621D">
              <a:alpha val="22000"/>
            </a:srgbClr>
          </a:solidFill>
          <a:ln w="12700">
            <a:solidFill>
              <a:srgbClr val="C4621D">
                <a:alpha val="0"/>
              </a:srgbClr>
            </a:solidFill>
            <a:prstDash val="solid"/>
          </a:ln>
        </p:spPr>
      </p:sp>
      <p:pic>
        <p:nvPicPr>
          <p:cNvPr id="24" name="Image 1" descr="preencoded.png"/>
          <p:cNvPicPr>
            <a:picLocks noChangeAspect="1"/>
          </p:cNvPicPr>
          <p:nvPr/>
        </p:nvPicPr>
        <p:blipFill>
          <a:blip r:embed="rId4"/>
          <a:stretch>
            <a:fillRect/>
          </a:stretch>
        </p:blipFill>
        <p:spPr>
          <a:xfrm>
            <a:off x="3493008" y="1563624"/>
            <a:ext cx="219456" cy="219456"/>
          </a:xfrm>
          <a:prstGeom prst="rect">
            <a:avLst/>
          </a:prstGeom>
        </p:spPr>
      </p:pic>
      <p:sp>
        <p:nvSpPr>
          <p:cNvPr id="25" name="Text 20"/>
          <p:cNvSpPr txBox="1"/>
          <p:nvPr/>
        </p:nvSpPr>
        <p:spPr>
          <a:xfrm>
            <a:off x="3931920" y="1444752"/>
            <a:ext cx="1874520" cy="45720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Conflict · Syria, 2011–2014</a:t>
            </a:r>
            <a:endParaRPr lang="en-US" sz="1150" dirty="0"/>
          </a:p>
        </p:txBody>
      </p:sp>
      <p:sp>
        <p:nvSpPr>
          <p:cNvPr id="26" name="Text 21"/>
          <p:cNvSpPr txBox="1"/>
          <p:nvPr/>
        </p:nvSpPr>
        <p:spPr>
          <a:xfrm>
            <a:off x="3383280" y="1993392"/>
            <a:ext cx="2377440" cy="117043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Li and Li (2014) measured a loss of more than 70% of night-time light nationally, tracking displacement province by province.</a:t>
            </a:r>
            <a:endParaRPr lang="en-US" sz="950" dirty="0"/>
          </a:p>
        </p:txBody>
      </p:sp>
      <p:sp>
        <p:nvSpPr>
          <p:cNvPr id="27" name="Shape 22"/>
          <p:cNvSpPr/>
          <p:nvPr/>
        </p:nvSpPr>
        <p:spPr>
          <a:xfrm>
            <a:off x="6035040" y="1325880"/>
            <a:ext cx="2651760" cy="1874520"/>
          </a:xfrm>
          <a:prstGeom prst="roundRect">
            <a:avLst>
              <a:gd name="adj" fmla="val 3902"/>
            </a:avLst>
          </a:prstGeom>
          <a:solidFill>
            <a:srgbClr val="F4F7F5"/>
          </a:solidFill>
          <a:ln w="9525">
            <a:solidFill>
              <a:srgbClr val="D5DED9"/>
            </a:solidFill>
            <a:prstDash val="solid"/>
          </a:ln>
        </p:spPr>
      </p:sp>
      <p:sp>
        <p:nvSpPr>
          <p:cNvPr id="28" name="Shape 23"/>
          <p:cNvSpPr/>
          <p:nvPr/>
        </p:nvSpPr>
        <p:spPr>
          <a:xfrm>
            <a:off x="6163056" y="1444752"/>
            <a:ext cx="457200" cy="457200"/>
          </a:xfrm>
          <a:prstGeom prst="ellipse">
            <a:avLst/>
          </a:prstGeom>
          <a:solidFill>
            <a:srgbClr val="0E7C86">
              <a:alpha val="22000"/>
            </a:srgbClr>
          </a:solidFill>
          <a:ln w="12700">
            <a:solidFill>
              <a:srgbClr val="0E7C86">
                <a:alpha val="0"/>
              </a:srgbClr>
            </a:solidFill>
            <a:prstDash val="solid"/>
          </a:ln>
        </p:spPr>
      </p:sp>
      <p:pic>
        <p:nvPicPr>
          <p:cNvPr id="29" name="Image 2" descr="preencoded.png"/>
          <p:cNvPicPr>
            <a:picLocks noChangeAspect="1"/>
          </p:cNvPicPr>
          <p:nvPr/>
        </p:nvPicPr>
        <p:blipFill>
          <a:blip r:embed="rId5"/>
          <a:stretch>
            <a:fillRect/>
          </a:stretch>
        </p:blipFill>
        <p:spPr>
          <a:xfrm>
            <a:off x="6281928" y="1563624"/>
            <a:ext cx="219456" cy="219456"/>
          </a:xfrm>
          <a:prstGeom prst="rect">
            <a:avLst/>
          </a:prstGeom>
        </p:spPr>
      </p:pic>
      <p:sp>
        <p:nvSpPr>
          <p:cNvPr id="30" name="Text 24"/>
          <p:cNvSpPr txBox="1"/>
          <p:nvPr/>
        </p:nvSpPr>
        <p:spPr>
          <a:xfrm>
            <a:off x="6720840" y="1444752"/>
            <a:ext cx="1874520" cy="45720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Disaster · Puerto Rico, 2017</a:t>
            </a:r>
            <a:endParaRPr lang="en-US" sz="1150" dirty="0"/>
          </a:p>
        </p:txBody>
      </p:sp>
      <p:sp>
        <p:nvSpPr>
          <p:cNvPr id="31" name="Text 25"/>
          <p:cNvSpPr txBox="1"/>
          <p:nvPr/>
        </p:nvSpPr>
        <p:spPr>
          <a:xfrm>
            <a:off x="6172200" y="1993392"/>
            <a:ext cx="2377440" cy="117043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After Hurricane Maria, daily Black Marble data mapped the outage and tracked recovery neighbourhood by neighbourhood.</a:t>
            </a:r>
            <a:endParaRPr lang="en-US" sz="950" dirty="0"/>
          </a:p>
        </p:txBody>
      </p:sp>
      <p:sp>
        <p:nvSpPr>
          <p:cNvPr id="32" name="Shape 26"/>
          <p:cNvSpPr/>
          <p:nvPr/>
        </p:nvSpPr>
        <p:spPr>
          <a:xfrm>
            <a:off x="457200" y="3337560"/>
            <a:ext cx="8229600" cy="1097280"/>
          </a:xfrm>
          <a:prstGeom prst="roundRect">
            <a:avLst>
              <a:gd name="adj" fmla="val 6667"/>
            </a:avLst>
          </a:prstGeom>
          <a:solidFill>
            <a:srgbClr val="B83B2E">
              <a:alpha val="13000"/>
            </a:srgbClr>
          </a:solidFill>
          <a:ln w="12700">
            <a:solidFill>
              <a:srgbClr val="B83B2E"/>
            </a:solidFill>
            <a:prstDash val="solid"/>
          </a:ln>
        </p:spPr>
      </p:sp>
      <p:sp>
        <p:nvSpPr>
          <p:cNvPr id="33" name="Shape 27"/>
          <p:cNvSpPr/>
          <p:nvPr/>
        </p:nvSpPr>
        <p:spPr>
          <a:xfrm>
            <a:off x="594360" y="3474720"/>
            <a:ext cx="420624" cy="420624"/>
          </a:xfrm>
          <a:prstGeom prst="ellipse">
            <a:avLst/>
          </a:prstGeom>
          <a:solidFill>
            <a:srgbClr val="B83B2E">
              <a:alpha val="22000"/>
            </a:srgbClr>
          </a:solidFill>
          <a:ln w="12700">
            <a:solidFill>
              <a:srgbClr val="B83B2E">
                <a:alpha val="0"/>
              </a:srgbClr>
            </a:solidFill>
            <a:prstDash val="solid"/>
          </a:ln>
        </p:spPr>
      </p:sp>
      <p:pic>
        <p:nvPicPr>
          <p:cNvPr id="34" name="Image 3" descr="preencoded.png"/>
          <p:cNvPicPr>
            <a:picLocks noChangeAspect="1"/>
          </p:cNvPicPr>
          <p:nvPr/>
        </p:nvPicPr>
        <p:blipFill>
          <a:blip r:embed="rId6"/>
          <a:stretch>
            <a:fillRect/>
          </a:stretch>
        </p:blipFill>
        <p:spPr>
          <a:xfrm>
            <a:off x="703722" y="3584082"/>
            <a:ext cx="201900" cy="201900"/>
          </a:xfrm>
          <a:prstGeom prst="rect">
            <a:avLst/>
          </a:prstGeom>
        </p:spPr>
      </p:pic>
      <p:sp>
        <p:nvSpPr>
          <p:cNvPr id="35" name="Text 28"/>
          <p:cNvSpPr txBox="1"/>
          <p:nvPr/>
        </p:nvSpPr>
        <p:spPr>
          <a:xfrm>
            <a:off x="1143000" y="3456432"/>
            <a:ext cx="7452360" cy="256032"/>
          </a:xfrm>
          <a:prstGeom prst="rect">
            <a:avLst/>
          </a:prstGeom>
          <a:noFill/>
          <a:ln/>
        </p:spPr>
        <p:txBody>
          <a:bodyPr wrap="square" lIns="0" tIns="0" rIns="0" bIns="0" rtlCol="0" anchor="t"/>
          <a:lstStyle/>
          <a:p>
            <a:pPr marL="0" indent="0">
              <a:buNone/>
            </a:pPr>
            <a:r>
              <a:rPr lang="en-US" sz="1250" b="1" dirty="0">
                <a:solidFill>
                  <a:srgbClr val="B83B2E"/>
                </a:solidFill>
                <a:latin typeface="Calibri" pitchFamily="34" charset="0"/>
                <a:ea typeface="Calibri" pitchFamily="34" charset="-122"/>
                <a:cs typeface="Calibri" pitchFamily="34" charset="-120"/>
              </a:rPr>
              <a:t>Rule of interpretation: no light does not mean no people</a:t>
            </a:r>
            <a:endParaRPr lang="en-US" sz="1250" dirty="0"/>
          </a:p>
        </p:txBody>
      </p:sp>
      <p:sp>
        <p:nvSpPr>
          <p:cNvPr id="36" name="Text 29"/>
          <p:cNvSpPr txBox="1"/>
          <p:nvPr/>
        </p:nvSpPr>
        <p:spPr>
          <a:xfrm>
            <a:off x="1143000" y="3730752"/>
            <a:ext cx="7452360" cy="676656"/>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Darkness can reflect displacement, destruction, fuel shortage, a curfew, a grid failure — or a decision to switch off street lighting. The satellite does not say which. Ground corroboration is essential and uncertainty must be reported.</a:t>
            </a:r>
            <a:endParaRPr lang="en-US" sz="1000" dirty="0"/>
          </a:p>
        </p:txBody>
      </p:sp>
      <p:sp>
        <p:nvSpPr>
          <p:cNvPr id="37" name="Text 30"/>
          <p:cNvSpPr txBox="1"/>
          <p:nvPr/>
        </p:nvSpPr>
        <p:spPr>
          <a:xfrm>
            <a:off x="457200" y="4553712"/>
            <a:ext cx="73152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Sources: Payne Institute / EOG (Sept. 2024); UNOSAT (June 2023); Li and Li (2014) IJRS 35(18); Román et al. (2019) on Puerto Rico.</a:t>
            </a:r>
            <a:endParaRPr lang="en-US" sz="9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8580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5</a:t>
            </a:r>
            <a:endParaRPr lang="en-US" sz="1050" dirty="0"/>
          </a:p>
        </p:txBody>
      </p:sp>
      <p:sp>
        <p:nvSpPr>
          <p:cNvPr id="4" name="Text 2"/>
          <p:cNvSpPr txBox="1"/>
          <p:nvPr/>
        </p:nvSpPr>
        <p:spPr>
          <a:xfrm>
            <a:off x="502920" y="91440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05</a:t>
            </a:r>
            <a:endParaRPr lang="en-US" sz="9600" dirty="0"/>
          </a:p>
        </p:txBody>
      </p:sp>
      <p:sp>
        <p:nvSpPr>
          <p:cNvPr id="5" name="Text 3"/>
          <p:cNvSpPr txBox="1"/>
          <p:nvPr/>
        </p:nvSpPr>
        <p:spPr>
          <a:xfrm>
            <a:off x="548640" y="2240280"/>
            <a:ext cx="5486400" cy="6858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From lecture to lab</a:t>
            </a:r>
            <a:endParaRPr lang="en-US" sz="3600" dirty="0"/>
          </a:p>
        </p:txBody>
      </p:sp>
      <p:sp>
        <p:nvSpPr>
          <p:cNvPr id="7" name="Text 5"/>
          <p:cNvSpPr txBox="1"/>
          <p:nvPr/>
        </p:nvSpPr>
        <p:spPr>
          <a:xfrm>
            <a:off x="548640" y="3703320"/>
            <a:ext cx="5303520" cy="274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Approach  ·  Choosing a product  ·  Validation  ·  Checklist  ·  Discussion</a:t>
            </a:r>
            <a:endParaRPr lang="en-US" sz="1200" dirty="0"/>
          </a:p>
        </p:txBody>
      </p:sp>
      <p:sp>
        <p:nvSpPr>
          <p:cNvPr id="8" name="Shape 6"/>
          <p:cNvSpPr/>
          <p:nvPr/>
        </p:nvSpPr>
        <p:spPr>
          <a:xfrm>
            <a:off x="548640" y="4343400"/>
            <a:ext cx="118872" cy="118872"/>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768096" y="4343400"/>
            <a:ext cx="118872" cy="118872"/>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987552" y="4343400"/>
            <a:ext cx="118872" cy="118872"/>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207008" y="4343400"/>
            <a:ext cx="118872" cy="118872"/>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1426464" y="4343400"/>
            <a:ext cx="118872" cy="118872"/>
          </a:xfrm>
          <a:prstGeom prst="ellipse">
            <a:avLst/>
          </a:prstGeom>
          <a:solidFill>
            <a:srgbClr val="FFFFFF">
              <a:alpha val="40000"/>
            </a:srgbClr>
          </a:solidFill>
          <a:ln w="12700">
            <a:solidFill>
              <a:srgbClr val="FFFFFF">
                <a:alpha val="0"/>
              </a:srgbClr>
            </a:solidFill>
            <a:prstDash val="solid"/>
          </a:ln>
        </p:spPr>
      </p:sp>
      <p:sp>
        <p:nvSpPr>
          <p:cNvPr id="13" name="Shape 11"/>
          <p:cNvSpPr/>
          <p:nvPr/>
        </p:nvSpPr>
        <p:spPr>
          <a:xfrm>
            <a:off x="1645920" y="4343400"/>
            <a:ext cx="118872" cy="118872"/>
          </a:xfrm>
          <a:prstGeom prst="ellipse">
            <a:avLst/>
          </a:prstGeom>
          <a:solidFill>
            <a:srgbClr val="F5C242"/>
          </a:solidFill>
          <a:ln w="12700">
            <a:solidFill>
              <a:srgbClr val="FFFFFF">
                <a:alpha val="0"/>
              </a:srgbClr>
            </a:solidFill>
            <a:prstDash val="solid"/>
          </a:ln>
        </p:spPr>
      </p:sp>
      <p:sp>
        <p:nvSpPr>
          <p:cNvPr id="14" name="Shape 12"/>
          <p:cNvSpPr/>
          <p:nvPr/>
        </p:nvSpPr>
        <p:spPr>
          <a:xfrm>
            <a:off x="5760720" y="1188720"/>
            <a:ext cx="2651760" cy="2651760"/>
          </a:xfrm>
          <a:prstGeom prst="ellipse">
            <a:avLst/>
          </a:prstGeom>
          <a:solidFill>
            <a:srgbClr val="FFFFFF">
              <a:alpha val="10000"/>
            </a:srgbClr>
          </a:solidFill>
          <a:ln w="9525">
            <a:solidFill>
              <a:srgbClr val="FFFFFF">
                <a:alpha val="30000"/>
              </a:srgbClr>
            </a:solidFill>
            <a:prstDash val="solid"/>
          </a:ln>
        </p:spPr>
      </p:sp>
      <p:sp>
        <p:nvSpPr>
          <p:cNvPr id="15" name="Shape 13"/>
          <p:cNvSpPr/>
          <p:nvPr/>
        </p:nvSpPr>
        <p:spPr>
          <a:xfrm>
            <a:off x="6080760" y="1508760"/>
            <a:ext cx="2011680" cy="2011680"/>
          </a:xfrm>
          <a:prstGeom prst="ellipse">
            <a:avLst/>
          </a:prstGeom>
          <a:solidFill>
            <a:srgbClr val="FFFFFF">
              <a:alpha val="13000"/>
            </a:srgbClr>
          </a:solidFill>
          <a:ln w="9525">
            <a:solidFill>
              <a:srgbClr val="FFFFFF">
                <a:alpha val="30000"/>
              </a:srgbClr>
            </a:solidFill>
            <a:prstDash val="solid"/>
          </a:ln>
        </p:spPr>
      </p:sp>
      <p:sp>
        <p:nvSpPr>
          <p:cNvPr id="16" name="Shape 14"/>
          <p:cNvSpPr/>
          <p:nvPr/>
        </p:nvSpPr>
        <p:spPr>
          <a:xfrm>
            <a:off x="6400800" y="1828800"/>
            <a:ext cx="1371600" cy="1371600"/>
          </a:xfrm>
          <a:prstGeom prst="ellipse">
            <a:avLst/>
          </a:prstGeom>
          <a:solidFill>
            <a:srgbClr val="FFFFFF">
              <a:alpha val="16000"/>
            </a:srgbClr>
          </a:solidFill>
          <a:ln w="9525">
            <a:solidFill>
              <a:srgbClr val="FFFFFF">
                <a:alpha val="30000"/>
              </a:srgbClr>
            </a:solidFill>
            <a:prstDash val="solid"/>
          </a:ln>
        </p:spPr>
      </p:sp>
      <p:sp>
        <p:nvSpPr>
          <p:cNvPr id="17" name="Shape 15"/>
          <p:cNvSpPr/>
          <p:nvPr/>
        </p:nvSpPr>
        <p:spPr>
          <a:xfrm>
            <a:off x="6629400" y="2057400"/>
            <a:ext cx="914400" cy="914400"/>
          </a:xfrm>
          <a:prstGeom prst="ellipse">
            <a:avLst/>
          </a:prstGeom>
          <a:solidFill>
            <a:srgbClr val="FFFFFF"/>
          </a:solidFill>
          <a:ln w="12700">
            <a:solidFill>
              <a:srgbClr val="FFFFFF"/>
            </a:solidFill>
            <a:prstDash val="solid"/>
          </a:ln>
        </p:spPr>
      </p:sp>
      <p:pic>
        <p:nvPicPr>
          <p:cNvPr id="18" name="Image 0" descr="preencoded.png"/>
          <p:cNvPicPr>
            <a:picLocks noChangeAspect="1"/>
          </p:cNvPicPr>
          <p:nvPr/>
        </p:nvPicPr>
        <p:blipFill>
          <a:blip r:embed="rId4"/>
          <a:stretch>
            <a:fillRect/>
          </a:stretch>
        </p:blipFill>
        <p:spPr>
          <a:xfrm>
            <a:off x="6848856" y="2276856"/>
            <a:ext cx="475488" cy="475488"/>
          </a:xfrm>
          <a:prstGeom prst="rect">
            <a:avLst/>
          </a:prstGeom>
        </p:spPr>
      </p:pic>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FROM LECTURE TO LAB · THE APPROACH</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Five steps, one reproducible pipeline</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B83B2E"/>
          </a:solidFill>
          <a:ln w="12700">
            <a:solidFill>
              <a:srgbClr val="B83B2E"/>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26</a:t>
            </a:r>
            <a:endParaRPr lang="en-US" sz="850" dirty="0"/>
          </a:p>
        </p:txBody>
      </p:sp>
      <p:sp>
        <p:nvSpPr>
          <p:cNvPr id="17" name="Shape 14"/>
          <p:cNvSpPr/>
          <p:nvPr/>
        </p:nvSpPr>
        <p:spPr>
          <a:xfrm>
            <a:off x="457200" y="1325880"/>
            <a:ext cx="1481328" cy="658368"/>
          </a:xfrm>
          <a:prstGeom prst="roundRect">
            <a:avLst>
              <a:gd name="adj" fmla="val 11111"/>
            </a:avLst>
          </a:prstGeom>
          <a:solidFill>
            <a:srgbClr val="00704A"/>
          </a:solidFill>
          <a:ln w="9525">
            <a:solidFill>
              <a:srgbClr val="00704A"/>
            </a:solidFill>
            <a:prstDash val="solid"/>
          </a:ln>
        </p:spPr>
      </p:sp>
      <p:pic>
        <p:nvPicPr>
          <p:cNvPr id="18" name="Image 0" descr="preencoded.png"/>
          <p:cNvPicPr>
            <a:picLocks noChangeAspect="1"/>
          </p:cNvPicPr>
          <p:nvPr/>
        </p:nvPicPr>
        <p:blipFill>
          <a:blip r:embed="rId3"/>
          <a:stretch>
            <a:fillRect/>
          </a:stretch>
        </p:blipFill>
        <p:spPr>
          <a:xfrm>
            <a:off x="566928" y="1463040"/>
            <a:ext cx="384048" cy="384048"/>
          </a:xfrm>
          <a:prstGeom prst="rect">
            <a:avLst/>
          </a:prstGeom>
        </p:spPr>
      </p:pic>
      <p:sp>
        <p:nvSpPr>
          <p:cNvPr id="19" name="Text 15"/>
          <p:cNvSpPr txBox="1"/>
          <p:nvPr/>
        </p:nvSpPr>
        <p:spPr>
          <a:xfrm>
            <a:off x="1005840" y="1371600"/>
            <a:ext cx="9144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Collect</a:t>
            </a:r>
            <a:endParaRPr lang="en-US" sz="1300" dirty="0"/>
          </a:p>
        </p:txBody>
      </p:sp>
      <p:sp>
        <p:nvSpPr>
          <p:cNvPr id="20" name="Text 16"/>
          <p:cNvSpPr txBox="1"/>
          <p:nvPr/>
        </p:nvSpPr>
        <p:spPr>
          <a:xfrm>
            <a:off x="1005840" y="1673352"/>
            <a:ext cx="868680" cy="228600"/>
          </a:xfrm>
          <a:prstGeom prst="rect">
            <a:avLst/>
          </a:prstGeom>
          <a:noFill/>
          <a:ln/>
        </p:spPr>
        <p:txBody>
          <a:bodyPr wrap="square" lIns="0" tIns="0" rIns="0" bIns="0" rtlCol="0" anchor="t"/>
          <a:lstStyle/>
          <a:p>
            <a:pPr marL="0" indent="0">
              <a:buNone/>
            </a:pPr>
            <a:endParaRPr lang="en-US" sz="1000" dirty="0"/>
          </a:p>
        </p:txBody>
      </p:sp>
      <p:sp>
        <p:nvSpPr>
          <p:cNvPr id="21" name="Shape 17"/>
          <p:cNvSpPr/>
          <p:nvPr/>
        </p:nvSpPr>
        <p:spPr>
          <a:xfrm>
            <a:off x="457200" y="2103120"/>
            <a:ext cx="1481328" cy="1417320"/>
          </a:xfrm>
          <a:prstGeom prst="roundRect">
            <a:avLst>
              <a:gd name="adj" fmla="val 5161"/>
            </a:avLst>
          </a:prstGeom>
          <a:solidFill>
            <a:srgbClr val="F4F7F5"/>
          </a:solidFill>
          <a:ln w="9525">
            <a:solidFill>
              <a:srgbClr val="D5DED9"/>
            </a:solidFill>
            <a:prstDash val="solid"/>
          </a:ln>
        </p:spPr>
      </p:sp>
      <p:sp>
        <p:nvSpPr>
          <p:cNvPr id="22" name="Text 18"/>
          <p:cNvSpPr txBox="1"/>
          <p:nvPr/>
        </p:nvSpPr>
        <p:spPr>
          <a:xfrm>
            <a:off x="512064" y="2176272"/>
            <a:ext cx="1371600" cy="1298448"/>
          </a:xfrm>
          <a:prstGeom prst="rect">
            <a:avLst/>
          </a:prstGeom>
          <a:noFill/>
          <a:ln/>
        </p:spPr>
        <p:txBody>
          <a:bodyPr wrap="square" lIns="0" tIns="0" rIns="0" bIns="0" rtlCol="0" anchor="t"/>
          <a:lstStyle/>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NASA Earthdata / LAADS DAAC</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EOG VNL · Google Earth Engine</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Bands and quality flags</a:t>
            </a:r>
            <a:endParaRPr lang="en-US" sz="900" dirty="0"/>
          </a:p>
        </p:txBody>
      </p:sp>
      <p:sp>
        <p:nvSpPr>
          <p:cNvPr id="23" name="Shape 19"/>
          <p:cNvSpPr/>
          <p:nvPr/>
        </p:nvSpPr>
        <p:spPr>
          <a:xfrm>
            <a:off x="1197864" y="3547872"/>
            <a:ext cx="91" cy="201168"/>
          </a:xfrm>
          <a:prstGeom prst="line">
            <a:avLst/>
          </a:prstGeom>
          <a:noFill/>
          <a:ln w="15875">
            <a:solidFill>
              <a:srgbClr val="00704A"/>
            </a:solidFill>
            <a:prstDash val="solid"/>
            <a:tailEnd type="triangle"/>
          </a:ln>
        </p:spPr>
      </p:sp>
      <p:sp>
        <p:nvSpPr>
          <p:cNvPr id="24" name="Shape 20"/>
          <p:cNvSpPr/>
          <p:nvPr/>
        </p:nvSpPr>
        <p:spPr>
          <a:xfrm>
            <a:off x="457200" y="3776472"/>
            <a:ext cx="1481328" cy="310896"/>
          </a:xfrm>
          <a:prstGeom prst="roundRect">
            <a:avLst>
              <a:gd name="adj" fmla="val 50000"/>
            </a:avLst>
          </a:prstGeom>
          <a:solidFill>
            <a:srgbClr val="00704A">
              <a:alpha val="15000"/>
            </a:srgbClr>
          </a:solidFill>
          <a:ln w="9525">
            <a:solidFill>
              <a:srgbClr val="00704A"/>
            </a:solidFill>
            <a:prstDash val="solid"/>
          </a:ln>
        </p:spPr>
      </p:sp>
      <p:sp>
        <p:nvSpPr>
          <p:cNvPr id="25" name="Text 21"/>
          <p:cNvSpPr txBox="1"/>
          <p:nvPr/>
        </p:nvSpPr>
        <p:spPr>
          <a:xfrm>
            <a:off x="457200" y="3776472"/>
            <a:ext cx="1481328" cy="310896"/>
          </a:xfrm>
          <a:prstGeom prst="rect">
            <a:avLst/>
          </a:prstGeom>
          <a:noFill/>
          <a:ln/>
        </p:spPr>
        <p:txBody>
          <a:bodyPr wrap="square" lIns="0" tIns="0" rIns="0" bIns="0" rtlCol="0" anchor="ctr"/>
          <a:lstStyle/>
          <a:p>
            <a:pPr marL="0" indent="0" algn="ctr">
              <a:buNone/>
            </a:pPr>
            <a:r>
              <a:rPr lang="en-US" sz="850" b="1" dirty="0">
                <a:solidFill>
                  <a:srgbClr val="00704A"/>
                </a:solidFill>
                <a:latin typeface="Calibri" pitchFamily="34" charset="0"/>
                <a:ea typeface="Calibri" pitchFamily="34" charset="-122"/>
                <a:cs typeface="Calibri" pitchFamily="34" charset="-120"/>
              </a:rPr>
              <a:t>National extract</a:t>
            </a:r>
            <a:endParaRPr lang="en-US" sz="850" dirty="0"/>
          </a:p>
        </p:txBody>
      </p:sp>
      <p:sp>
        <p:nvSpPr>
          <p:cNvPr id="26" name="Shape 22"/>
          <p:cNvSpPr/>
          <p:nvPr/>
        </p:nvSpPr>
        <p:spPr>
          <a:xfrm>
            <a:off x="1956816" y="1655064"/>
            <a:ext cx="164592" cy="91"/>
          </a:xfrm>
          <a:prstGeom prst="line">
            <a:avLst/>
          </a:prstGeom>
          <a:noFill/>
          <a:ln w="15875">
            <a:solidFill>
              <a:srgbClr val="5E6964"/>
            </a:solidFill>
            <a:prstDash val="solid"/>
            <a:tailEnd type="triangle"/>
          </a:ln>
        </p:spPr>
      </p:sp>
      <p:sp>
        <p:nvSpPr>
          <p:cNvPr id="27" name="Shape 23"/>
          <p:cNvSpPr/>
          <p:nvPr/>
        </p:nvSpPr>
        <p:spPr>
          <a:xfrm>
            <a:off x="2139696" y="1325880"/>
            <a:ext cx="1481328" cy="658368"/>
          </a:xfrm>
          <a:prstGeom prst="roundRect">
            <a:avLst>
              <a:gd name="adj" fmla="val 11111"/>
            </a:avLst>
          </a:prstGeom>
          <a:solidFill>
            <a:srgbClr val="0E7C86"/>
          </a:solidFill>
          <a:ln w="9525">
            <a:solidFill>
              <a:srgbClr val="0E7C86"/>
            </a:solidFill>
            <a:prstDash val="solid"/>
          </a:ln>
        </p:spPr>
      </p:sp>
      <p:pic>
        <p:nvPicPr>
          <p:cNvPr id="28" name="Image 1" descr="preencoded.png"/>
          <p:cNvPicPr>
            <a:picLocks noChangeAspect="1"/>
          </p:cNvPicPr>
          <p:nvPr/>
        </p:nvPicPr>
        <p:blipFill>
          <a:blip r:embed="rId4"/>
          <a:stretch>
            <a:fillRect/>
          </a:stretch>
        </p:blipFill>
        <p:spPr>
          <a:xfrm>
            <a:off x="2249424" y="1463040"/>
            <a:ext cx="384048" cy="384048"/>
          </a:xfrm>
          <a:prstGeom prst="rect">
            <a:avLst/>
          </a:prstGeom>
        </p:spPr>
      </p:pic>
      <p:sp>
        <p:nvSpPr>
          <p:cNvPr id="29" name="Text 24"/>
          <p:cNvSpPr txBox="1"/>
          <p:nvPr/>
        </p:nvSpPr>
        <p:spPr>
          <a:xfrm>
            <a:off x="2688336" y="1371600"/>
            <a:ext cx="9144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Explore</a:t>
            </a:r>
            <a:endParaRPr lang="en-US" sz="1300" dirty="0"/>
          </a:p>
        </p:txBody>
      </p:sp>
      <p:sp>
        <p:nvSpPr>
          <p:cNvPr id="30" name="Text 25"/>
          <p:cNvSpPr txBox="1"/>
          <p:nvPr/>
        </p:nvSpPr>
        <p:spPr>
          <a:xfrm>
            <a:off x="2688336" y="1673352"/>
            <a:ext cx="868680" cy="228600"/>
          </a:xfrm>
          <a:prstGeom prst="rect">
            <a:avLst/>
          </a:prstGeom>
          <a:noFill/>
          <a:ln/>
        </p:spPr>
        <p:txBody>
          <a:bodyPr wrap="square" lIns="0" tIns="0" rIns="0" bIns="0" rtlCol="0" anchor="t"/>
          <a:lstStyle/>
          <a:p>
            <a:pPr marL="0" indent="0">
              <a:buNone/>
            </a:pPr>
            <a:endParaRPr lang="en-US" sz="1000" dirty="0"/>
          </a:p>
        </p:txBody>
      </p:sp>
      <p:sp>
        <p:nvSpPr>
          <p:cNvPr id="31" name="Shape 26"/>
          <p:cNvSpPr/>
          <p:nvPr/>
        </p:nvSpPr>
        <p:spPr>
          <a:xfrm>
            <a:off x="2139696" y="2103120"/>
            <a:ext cx="1481328" cy="1417320"/>
          </a:xfrm>
          <a:prstGeom prst="roundRect">
            <a:avLst>
              <a:gd name="adj" fmla="val 5161"/>
            </a:avLst>
          </a:prstGeom>
          <a:solidFill>
            <a:srgbClr val="F4F7F5"/>
          </a:solidFill>
          <a:ln w="9525">
            <a:solidFill>
              <a:srgbClr val="D5DED9"/>
            </a:solidFill>
            <a:prstDash val="solid"/>
          </a:ln>
        </p:spPr>
      </p:sp>
      <p:sp>
        <p:nvSpPr>
          <p:cNvPr id="32" name="Text 27"/>
          <p:cNvSpPr txBox="1"/>
          <p:nvPr/>
        </p:nvSpPr>
        <p:spPr>
          <a:xfrm>
            <a:off x="2194560" y="2176272"/>
            <a:ext cx="1371600" cy="1298448"/>
          </a:xfrm>
          <a:prstGeom prst="rect">
            <a:avLst/>
          </a:prstGeom>
          <a:noFill/>
          <a:ln/>
        </p:spPr>
        <p:txBody>
          <a:bodyPr wrap="square" lIns="0" tIns="0" rIns="0" bIns="0" rtlCol="0" anchor="t"/>
          <a:lstStyle/>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Histograms and maps</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Cloud and quality masks</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Monthly variations</a:t>
            </a:r>
            <a:endParaRPr lang="en-US" sz="900" dirty="0"/>
          </a:p>
        </p:txBody>
      </p:sp>
      <p:sp>
        <p:nvSpPr>
          <p:cNvPr id="33" name="Shape 28"/>
          <p:cNvSpPr/>
          <p:nvPr/>
        </p:nvSpPr>
        <p:spPr>
          <a:xfrm>
            <a:off x="2880360" y="3547872"/>
            <a:ext cx="91" cy="201168"/>
          </a:xfrm>
          <a:prstGeom prst="line">
            <a:avLst/>
          </a:prstGeom>
          <a:noFill/>
          <a:ln w="15875">
            <a:solidFill>
              <a:srgbClr val="0E7C86"/>
            </a:solidFill>
            <a:prstDash val="solid"/>
            <a:tailEnd type="triangle"/>
          </a:ln>
        </p:spPr>
      </p:sp>
      <p:sp>
        <p:nvSpPr>
          <p:cNvPr id="34" name="Shape 29"/>
          <p:cNvSpPr/>
          <p:nvPr/>
        </p:nvSpPr>
        <p:spPr>
          <a:xfrm>
            <a:off x="2139696" y="3776472"/>
            <a:ext cx="1481328" cy="310896"/>
          </a:xfrm>
          <a:prstGeom prst="roundRect">
            <a:avLst>
              <a:gd name="adj" fmla="val 50000"/>
            </a:avLst>
          </a:prstGeom>
          <a:solidFill>
            <a:srgbClr val="0E7C86">
              <a:alpha val="15000"/>
            </a:srgbClr>
          </a:solidFill>
          <a:ln w="9525">
            <a:solidFill>
              <a:srgbClr val="0E7C86"/>
            </a:solidFill>
            <a:prstDash val="solid"/>
          </a:ln>
        </p:spPr>
      </p:sp>
      <p:sp>
        <p:nvSpPr>
          <p:cNvPr id="35" name="Text 30"/>
          <p:cNvSpPr txBox="1"/>
          <p:nvPr/>
        </p:nvSpPr>
        <p:spPr>
          <a:xfrm>
            <a:off x="2139696" y="3776472"/>
            <a:ext cx="1481328" cy="310896"/>
          </a:xfrm>
          <a:prstGeom prst="rect">
            <a:avLst/>
          </a:prstGeom>
          <a:noFill/>
          <a:ln/>
        </p:spPr>
        <p:txBody>
          <a:bodyPr wrap="square" lIns="0" tIns="0" rIns="0" bIns="0" rtlCol="0" anchor="ctr"/>
          <a:lstStyle/>
          <a:p>
            <a:pPr marL="0" indent="0" algn="ctr">
              <a:buNone/>
            </a:pPr>
            <a:r>
              <a:rPr lang="en-US" sz="850" b="1" dirty="0">
                <a:solidFill>
                  <a:srgbClr val="0E7C86"/>
                </a:solidFill>
                <a:latin typeface="Calibri" pitchFamily="34" charset="0"/>
                <a:ea typeface="Calibri" pitchFamily="34" charset="-122"/>
                <a:cs typeface="Calibri" pitchFamily="34" charset="-120"/>
              </a:rPr>
              <a:t>Artefact log</a:t>
            </a:r>
            <a:endParaRPr lang="en-US" sz="850" dirty="0"/>
          </a:p>
        </p:txBody>
      </p:sp>
      <p:sp>
        <p:nvSpPr>
          <p:cNvPr id="36" name="Shape 31"/>
          <p:cNvSpPr/>
          <p:nvPr/>
        </p:nvSpPr>
        <p:spPr>
          <a:xfrm>
            <a:off x="3639312" y="1655064"/>
            <a:ext cx="164592" cy="91"/>
          </a:xfrm>
          <a:prstGeom prst="line">
            <a:avLst/>
          </a:prstGeom>
          <a:noFill/>
          <a:ln w="15875">
            <a:solidFill>
              <a:srgbClr val="5E6964"/>
            </a:solidFill>
            <a:prstDash val="solid"/>
            <a:tailEnd type="triangle"/>
          </a:ln>
        </p:spPr>
      </p:sp>
      <p:sp>
        <p:nvSpPr>
          <p:cNvPr id="37" name="Shape 32"/>
          <p:cNvSpPr/>
          <p:nvPr/>
        </p:nvSpPr>
        <p:spPr>
          <a:xfrm>
            <a:off x="3822192" y="1325880"/>
            <a:ext cx="1481328" cy="658368"/>
          </a:xfrm>
          <a:prstGeom prst="roundRect">
            <a:avLst>
              <a:gd name="adj" fmla="val 11111"/>
            </a:avLst>
          </a:prstGeom>
          <a:solidFill>
            <a:srgbClr val="D49A00"/>
          </a:solidFill>
          <a:ln w="9525">
            <a:solidFill>
              <a:srgbClr val="D49A00"/>
            </a:solidFill>
            <a:prstDash val="solid"/>
          </a:ln>
        </p:spPr>
      </p:sp>
      <p:pic>
        <p:nvPicPr>
          <p:cNvPr id="38" name="Image 2" descr="preencoded.png"/>
          <p:cNvPicPr>
            <a:picLocks noChangeAspect="1"/>
          </p:cNvPicPr>
          <p:nvPr/>
        </p:nvPicPr>
        <p:blipFill>
          <a:blip r:embed="rId5"/>
          <a:stretch>
            <a:fillRect/>
          </a:stretch>
        </p:blipFill>
        <p:spPr>
          <a:xfrm>
            <a:off x="3931920" y="1463040"/>
            <a:ext cx="384048" cy="384048"/>
          </a:xfrm>
          <a:prstGeom prst="rect">
            <a:avLst/>
          </a:prstGeom>
        </p:spPr>
      </p:pic>
      <p:sp>
        <p:nvSpPr>
          <p:cNvPr id="39" name="Text 33"/>
          <p:cNvSpPr txBox="1"/>
          <p:nvPr/>
        </p:nvSpPr>
        <p:spPr>
          <a:xfrm>
            <a:off x="4370832" y="1371600"/>
            <a:ext cx="9144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Analyse</a:t>
            </a:r>
            <a:endParaRPr lang="en-US" sz="1300" dirty="0"/>
          </a:p>
        </p:txBody>
      </p:sp>
      <p:sp>
        <p:nvSpPr>
          <p:cNvPr id="40" name="Text 34"/>
          <p:cNvSpPr txBox="1"/>
          <p:nvPr/>
        </p:nvSpPr>
        <p:spPr>
          <a:xfrm>
            <a:off x="4370832" y="1673352"/>
            <a:ext cx="868680" cy="228600"/>
          </a:xfrm>
          <a:prstGeom prst="rect">
            <a:avLst/>
          </a:prstGeom>
          <a:noFill/>
          <a:ln/>
        </p:spPr>
        <p:txBody>
          <a:bodyPr wrap="square" lIns="0" tIns="0" rIns="0" bIns="0" rtlCol="0" anchor="t"/>
          <a:lstStyle/>
          <a:p>
            <a:pPr marL="0" indent="0">
              <a:buNone/>
            </a:pPr>
            <a:endParaRPr lang="en-US" sz="1000" dirty="0"/>
          </a:p>
        </p:txBody>
      </p:sp>
      <p:sp>
        <p:nvSpPr>
          <p:cNvPr id="41" name="Shape 35"/>
          <p:cNvSpPr/>
          <p:nvPr/>
        </p:nvSpPr>
        <p:spPr>
          <a:xfrm>
            <a:off x="3822192" y="2103120"/>
            <a:ext cx="1481328" cy="1417320"/>
          </a:xfrm>
          <a:prstGeom prst="roundRect">
            <a:avLst>
              <a:gd name="adj" fmla="val 5161"/>
            </a:avLst>
          </a:prstGeom>
          <a:solidFill>
            <a:srgbClr val="F4F7F5"/>
          </a:solidFill>
          <a:ln w="9525">
            <a:solidFill>
              <a:srgbClr val="D5DED9"/>
            </a:solidFill>
            <a:prstDash val="solid"/>
          </a:ln>
        </p:spPr>
      </p:sp>
      <p:sp>
        <p:nvSpPr>
          <p:cNvPr id="42" name="Text 36"/>
          <p:cNvSpPr txBox="1"/>
          <p:nvPr/>
        </p:nvSpPr>
        <p:spPr>
          <a:xfrm>
            <a:off x="3877056" y="2176272"/>
            <a:ext cx="1371600" cy="1298448"/>
          </a:xfrm>
          <a:prstGeom prst="rect">
            <a:avLst/>
          </a:prstGeom>
          <a:noFill/>
          <a:ln/>
        </p:spPr>
        <p:txBody>
          <a:bodyPr wrap="square" lIns="0" tIns="0" rIns="0" bIns="0" rtlCol="0" anchor="t"/>
          <a:lstStyle/>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Zonal stats by admin level</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Annual and monthly series</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Change detection</a:t>
            </a:r>
            <a:endParaRPr lang="en-US" sz="900" dirty="0"/>
          </a:p>
        </p:txBody>
      </p:sp>
      <p:sp>
        <p:nvSpPr>
          <p:cNvPr id="43" name="Shape 37"/>
          <p:cNvSpPr/>
          <p:nvPr/>
        </p:nvSpPr>
        <p:spPr>
          <a:xfrm>
            <a:off x="4562856" y="3547872"/>
            <a:ext cx="91" cy="201168"/>
          </a:xfrm>
          <a:prstGeom prst="line">
            <a:avLst/>
          </a:prstGeom>
          <a:noFill/>
          <a:ln w="15875">
            <a:solidFill>
              <a:srgbClr val="D49A00"/>
            </a:solidFill>
            <a:prstDash val="solid"/>
            <a:tailEnd type="triangle"/>
          </a:ln>
        </p:spPr>
      </p:sp>
      <p:sp>
        <p:nvSpPr>
          <p:cNvPr id="44" name="Shape 38"/>
          <p:cNvSpPr/>
          <p:nvPr/>
        </p:nvSpPr>
        <p:spPr>
          <a:xfrm>
            <a:off x="3822192" y="3776472"/>
            <a:ext cx="1481328" cy="310896"/>
          </a:xfrm>
          <a:prstGeom prst="roundRect">
            <a:avLst>
              <a:gd name="adj" fmla="val 50000"/>
            </a:avLst>
          </a:prstGeom>
          <a:solidFill>
            <a:srgbClr val="D49A00">
              <a:alpha val="15000"/>
            </a:srgbClr>
          </a:solidFill>
          <a:ln w="9525">
            <a:solidFill>
              <a:srgbClr val="D49A00"/>
            </a:solidFill>
            <a:prstDash val="solid"/>
          </a:ln>
        </p:spPr>
      </p:sp>
      <p:sp>
        <p:nvSpPr>
          <p:cNvPr id="45" name="Text 39"/>
          <p:cNvSpPr txBox="1"/>
          <p:nvPr/>
        </p:nvSpPr>
        <p:spPr>
          <a:xfrm>
            <a:off x="3822192" y="3776472"/>
            <a:ext cx="1481328" cy="310896"/>
          </a:xfrm>
          <a:prstGeom prst="rect">
            <a:avLst/>
          </a:prstGeom>
          <a:noFill/>
          <a:ln/>
        </p:spPr>
        <p:txBody>
          <a:bodyPr wrap="square" lIns="0" tIns="0" rIns="0" bIns="0" rtlCol="0" anchor="ctr"/>
          <a:lstStyle/>
          <a:p>
            <a:pPr marL="0" indent="0" algn="ctr">
              <a:buNone/>
            </a:pPr>
            <a:r>
              <a:rPr lang="en-US" sz="850" b="1" dirty="0">
                <a:solidFill>
                  <a:srgbClr val="D49A00"/>
                </a:solidFill>
                <a:latin typeface="Calibri" pitchFamily="34" charset="0"/>
                <a:ea typeface="Calibri" pitchFamily="34" charset="-122"/>
                <a:cs typeface="Calibri" pitchFamily="34" charset="-120"/>
              </a:rPr>
              <a:t>Tables and maps</a:t>
            </a:r>
            <a:endParaRPr lang="en-US" sz="850" dirty="0"/>
          </a:p>
        </p:txBody>
      </p:sp>
      <p:sp>
        <p:nvSpPr>
          <p:cNvPr id="46" name="Shape 40"/>
          <p:cNvSpPr/>
          <p:nvPr/>
        </p:nvSpPr>
        <p:spPr>
          <a:xfrm>
            <a:off x="5321808" y="1655064"/>
            <a:ext cx="164592" cy="91"/>
          </a:xfrm>
          <a:prstGeom prst="line">
            <a:avLst/>
          </a:prstGeom>
          <a:noFill/>
          <a:ln w="15875">
            <a:solidFill>
              <a:srgbClr val="5E6964"/>
            </a:solidFill>
            <a:prstDash val="solid"/>
            <a:tailEnd type="triangle"/>
          </a:ln>
        </p:spPr>
      </p:sp>
      <p:sp>
        <p:nvSpPr>
          <p:cNvPr id="47" name="Shape 41"/>
          <p:cNvSpPr/>
          <p:nvPr/>
        </p:nvSpPr>
        <p:spPr>
          <a:xfrm>
            <a:off x="5504688" y="1325880"/>
            <a:ext cx="1481328" cy="658368"/>
          </a:xfrm>
          <a:prstGeom prst="roundRect">
            <a:avLst>
              <a:gd name="adj" fmla="val 11111"/>
            </a:avLst>
          </a:prstGeom>
          <a:solidFill>
            <a:srgbClr val="C4621D"/>
          </a:solidFill>
          <a:ln w="9525">
            <a:solidFill>
              <a:srgbClr val="C4621D"/>
            </a:solidFill>
            <a:prstDash val="solid"/>
          </a:ln>
        </p:spPr>
      </p:sp>
      <p:pic>
        <p:nvPicPr>
          <p:cNvPr id="48" name="Image 3" descr="preencoded.png"/>
          <p:cNvPicPr>
            <a:picLocks noChangeAspect="1"/>
          </p:cNvPicPr>
          <p:nvPr/>
        </p:nvPicPr>
        <p:blipFill>
          <a:blip r:embed="rId6"/>
          <a:stretch>
            <a:fillRect/>
          </a:stretch>
        </p:blipFill>
        <p:spPr>
          <a:xfrm>
            <a:off x="5614416" y="1463040"/>
            <a:ext cx="384048" cy="384048"/>
          </a:xfrm>
          <a:prstGeom prst="rect">
            <a:avLst/>
          </a:prstGeom>
        </p:spPr>
      </p:pic>
      <p:sp>
        <p:nvSpPr>
          <p:cNvPr id="49" name="Text 42"/>
          <p:cNvSpPr txBox="1"/>
          <p:nvPr/>
        </p:nvSpPr>
        <p:spPr>
          <a:xfrm>
            <a:off x="6053328" y="1371600"/>
            <a:ext cx="9144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Validate</a:t>
            </a:r>
            <a:endParaRPr lang="en-US" sz="1300" dirty="0"/>
          </a:p>
        </p:txBody>
      </p:sp>
      <p:sp>
        <p:nvSpPr>
          <p:cNvPr id="50" name="Text 43"/>
          <p:cNvSpPr txBox="1"/>
          <p:nvPr/>
        </p:nvSpPr>
        <p:spPr>
          <a:xfrm>
            <a:off x="6053328" y="1673352"/>
            <a:ext cx="868680" cy="228600"/>
          </a:xfrm>
          <a:prstGeom prst="rect">
            <a:avLst/>
          </a:prstGeom>
          <a:noFill/>
          <a:ln/>
        </p:spPr>
        <p:txBody>
          <a:bodyPr wrap="square" lIns="0" tIns="0" rIns="0" bIns="0" rtlCol="0" anchor="t"/>
          <a:lstStyle/>
          <a:p>
            <a:pPr marL="0" indent="0">
              <a:buNone/>
            </a:pPr>
            <a:endParaRPr lang="en-US" sz="1000" dirty="0"/>
          </a:p>
        </p:txBody>
      </p:sp>
      <p:sp>
        <p:nvSpPr>
          <p:cNvPr id="51" name="Shape 44"/>
          <p:cNvSpPr/>
          <p:nvPr/>
        </p:nvSpPr>
        <p:spPr>
          <a:xfrm>
            <a:off x="5504688" y="2103120"/>
            <a:ext cx="1481328" cy="1417320"/>
          </a:xfrm>
          <a:prstGeom prst="roundRect">
            <a:avLst>
              <a:gd name="adj" fmla="val 5161"/>
            </a:avLst>
          </a:prstGeom>
          <a:solidFill>
            <a:srgbClr val="F4F7F5"/>
          </a:solidFill>
          <a:ln w="9525">
            <a:solidFill>
              <a:srgbClr val="D5DED9"/>
            </a:solidFill>
            <a:prstDash val="solid"/>
          </a:ln>
        </p:spPr>
      </p:sp>
      <p:sp>
        <p:nvSpPr>
          <p:cNvPr id="52" name="Text 45"/>
          <p:cNvSpPr txBox="1"/>
          <p:nvPr/>
        </p:nvSpPr>
        <p:spPr>
          <a:xfrm>
            <a:off x="5559552" y="2176272"/>
            <a:ext cx="1371600" cy="1298448"/>
          </a:xfrm>
          <a:prstGeom prst="rect">
            <a:avLst/>
          </a:prstGeom>
          <a:noFill/>
          <a:ln/>
        </p:spPr>
        <p:txBody>
          <a:bodyPr wrap="square" lIns="0" tIns="0" rIns="0" bIns="0" rtlCol="0" anchor="t"/>
          <a:lstStyle/>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Official subnational data</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Population, electrification</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Fitness-for-use decision</a:t>
            </a:r>
            <a:endParaRPr lang="en-US" sz="900" dirty="0"/>
          </a:p>
        </p:txBody>
      </p:sp>
      <p:sp>
        <p:nvSpPr>
          <p:cNvPr id="53" name="Shape 46"/>
          <p:cNvSpPr/>
          <p:nvPr/>
        </p:nvSpPr>
        <p:spPr>
          <a:xfrm>
            <a:off x="6245352" y="3547872"/>
            <a:ext cx="91" cy="201168"/>
          </a:xfrm>
          <a:prstGeom prst="line">
            <a:avLst/>
          </a:prstGeom>
          <a:noFill/>
          <a:ln w="15875">
            <a:solidFill>
              <a:srgbClr val="C4621D"/>
            </a:solidFill>
            <a:prstDash val="solid"/>
            <a:tailEnd type="triangle"/>
          </a:ln>
        </p:spPr>
      </p:sp>
      <p:sp>
        <p:nvSpPr>
          <p:cNvPr id="54" name="Shape 47"/>
          <p:cNvSpPr/>
          <p:nvPr/>
        </p:nvSpPr>
        <p:spPr>
          <a:xfrm>
            <a:off x="5504688" y="3776472"/>
            <a:ext cx="1481328" cy="310896"/>
          </a:xfrm>
          <a:prstGeom prst="roundRect">
            <a:avLst>
              <a:gd name="adj" fmla="val 50000"/>
            </a:avLst>
          </a:prstGeom>
          <a:solidFill>
            <a:srgbClr val="C4621D">
              <a:alpha val="15000"/>
            </a:srgbClr>
          </a:solidFill>
          <a:ln w="9525">
            <a:solidFill>
              <a:srgbClr val="C4621D"/>
            </a:solidFill>
            <a:prstDash val="solid"/>
          </a:ln>
        </p:spPr>
      </p:sp>
      <p:sp>
        <p:nvSpPr>
          <p:cNvPr id="55" name="Text 48"/>
          <p:cNvSpPr txBox="1"/>
          <p:nvPr/>
        </p:nvSpPr>
        <p:spPr>
          <a:xfrm>
            <a:off x="5504688" y="3776472"/>
            <a:ext cx="1481328" cy="310896"/>
          </a:xfrm>
          <a:prstGeom prst="rect">
            <a:avLst/>
          </a:prstGeom>
          <a:noFill/>
          <a:ln/>
        </p:spPr>
        <p:txBody>
          <a:bodyPr wrap="square" lIns="0" tIns="0" rIns="0" bIns="0" rtlCol="0" anchor="ctr"/>
          <a:lstStyle/>
          <a:p>
            <a:pPr marL="0" indent="0" algn="ctr">
              <a:buNone/>
            </a:pPr>
            <a:r>
              <a:rPr lang="en-US" sz="850" b="1" dirty="0">
                <a:solidFill>
                  <a:srgbClr val="C4621D"/>
                </a:solidFill>
                <a:latin typeface="Calibri" pitchFamily="34" charset="0"/>
                <a:ea typeface="Calibri" pitchFamily="34" charset="-122"/>
                <a:cs typeface="Calibri" pitchFamily="34" charset="-120"/>
              </a:rPr>
              <a:t>Evidence + decision</a:t>
            </a:r>
            <a:endParaRPr lang="en-US" sz="850" dirty="0"/>
          </a:p>
        </p:txBody>
      </p:sp>
      <p:sp>
        <p:nvSpPr>
          <p:cNvPr id="56" name="Shape 49"/>
          <p:cNvSpPr/>
          <p:nvPr/>
        </p:nvSpPr>
        <p:spPr>
          <a:xfrm>
            <a:off x="7004304" y="1655064"/>
            <a:ext cx="164592" cy="91"/>
          </a:xfrm>
          <a:prstGeom prst="line">
            <a:avLst/>
          </a:prstGeom>
          <a:noFill/>
          <a:ln w="15875">
            <a:solidFill>
              <a:srgbClr val="5E6964"/>
            </a:solidFill>
            <a:prstDash val="solid"/>
            <a:tailEnd type="triangle"/>
          </a:ln>
        </p:spPr>
      </p:sp>
      <p:sp>
        <p:nvSpPr>
          <p:cNvPr id="57" name="Shape 50"/>
          <p:cNvSpPr/>
          <p:nvPr/>
        </p:nvSpPr>
        <p:spPr>
          <a:xfrm>
            <a:off x="7187184" y="1325880"/>
            <a:ext cx="1481328" cy="658368"/>
          </a:xfrm>
          <a:prstGeom prst="roundRect">
            <a:avLst>
              <a:gd name="adj" fmla="val 11111"/>
            </a:avLst>
          </a:prstGeom>
          <a:solidFill>
            <a:srgbClr val="B83B2E"/>
          </a:solidFill>
          <a:ln w="9525">
            <a:solidFill>
              <a:srgbClr val="B83B2E"/>
            </a:solidFill>
            <a:prstDash val="solid"/>
          </a:ln>
        </p:spPr>
      </p:sp>
      <p:pic>
        <p:nvPicPr>
          <p:cNvPr id="58" name="Image 4" descr="preencoded.png"/>
          <p:cNvPicPr>
            <a:picLocks noChangeAspect="1"/>
          </p:cNvPicPr>
          <p:nvPr/>
        </p:nvPicPr>
        <p:blipFill>
          <a:blip r:embed="rId7"/>
          <a:stretch>
            <a:fillRect/>
          </a:stretch>
        </p:blipFill>
        <p:spPr>
          <a:xfrm>
            <a:off x="7296912" y="1463040"/>
            <a:ext cx="384048" cy="384048"/>
          </a:xfrm>
          <a:prstGeom prst="rect">
            <a:avLst/>
          </a:prstGeom>
        </p:spPr>
      </p:pic>
      <p:sp>
        <p:nvSpPr>
          <p:cNvPr id="59" name="Text 51"/>
          <p:cNvSpPr txBox="1"/>
          <p:nvPr/>
        </p:nvSpPr>
        <p:spPr>
          <a:xfrm>
            <a:off x="7735824" y="1371600"/>
            <a:ext cx="9144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Publish</a:t>
            </a:r>
            <a:endParaRPr lang="en-US" sz="1300" dirty="0"/>
          </a:p>
        </p:txBody>
      </p:sp>
      <p:sp>
        <p:nvSpPr>
          <p:cNvPr id="60" name="Text 52"/>
          <p:cNvSpPr txBox="1"/>
          <p:nvPr/>
        </p:nvSpPr>
        <p:spPr>
          <a:xfrm>
            <a:off x="7735824" y="1673352"/>
            <a:ext cx="868680" cy="228600"/>
          </a:xfrm>
          <a:prstGeom prst="rect">
            <a:avLst/>
          </a:prstGeom>
          <a:noFill/>
          <a:ln/>
        </p:spPr>
        <p:txBody>
          <a:bodyPr wrap="square" lIns="0" tIns="0" rIns="0" bIns="0" rtlCol="0" anchor="t"/>
          <a:lstStyle/>
          <a:p>
            <a:pPr marL="0" indent="0">
              <a:buNone/>
            </a:pPr>
            <a:endParaRPr lang="en-US" sz="1000" dirty="0"/>
          </a:p>
        </p:txBody>
      </p:sp>
      <p:sp>
        <p:nvSpPr>
          <p:cNvPr id="61" name="Shape 53"/>
          <p:cNvSpPr/>
          <p:nvPr/>
        </p:nvSpPr>
        <p:spPr>
          <a:xfrm>
            <a:off x="7187184" y="2103120"/>
            <a:ext cx="1481328" cy="1417320"/>
          </a:xfrm>
          <a:prstGeom prst="roundRect">
            <a:avLst>
              <a:gd name="adj" fmla="val 5161"/>
            </a:avLst>
          </a:prstGeom>
          <a:solidFill>
            <a:srgbClr val="F4F7F5"/>
          </a:solidFill>
          <a:ln w="9525">
            <a:solidFill>
              <a:srgbClr val="D5DED9"/>
            </a:solidFill>
            <a:prstDash val="solid"/>
          </a:ln>
        </p:spPr>
      </p:sp>
      <p:sp>
        <p:nvSpPr>
          <p:cNvPr id="62" name="Text 54"/>
          <p:cNvSpPr txBox="1"/>
          <p:nvPr/>
        </p:nvSpPr>
        <p:spPr>
          <a:xfrm>
            <a:off x="7242048" y="2176272"/>
            <a:ext cx="1371600" cy="1298448"/>
          </a:xfrm>
          <a:prstGeom prst="rect">
            <a:avLst/>
          </a:prstGeom>
          <a:noFill/>
          <a:ln/>
        </p:spPr>
        <p:txBody>
          <a:bodyPr wrap="square" lIns="0" tIns="0" rIns="0" bIns="0" rtlCol="0" anchor="t"/>
          <a:lstStyle/>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Notebooks and maps</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Limitations statement</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README: method, sources, licence</a:t>
            </a:r>
            <a:endParaRPr lang="en-US" sz="900" dirty="0"/>
          </a:p>
        </p:txBody>
      </p:sp>
      <p:sp>
        <p:nvSpPr>
          <p:cNvPr id="63" name="Shape 55"/>
          <p:cNvSpPr/>
          <p:nvPr/>
        </p:nvSpPr>
        <p:spPr>
          <a:xfrm>
            <a:off x="7927848" y="3547872"/>
            <a:ext cx="91" cy="201168"/>
          </a:xfrm>
          <a:prstGeom prst="line">
            <a:avLst/>
          </a:prstGeom>
          <a:noFill/>
          <a:ln w="15875">
            <a:solidFill>
              <a:srgbClr val="B83B2E"/>
            </a:solidFill>
            <a:prstDash val="solid"/>
            <a:tailEnd type="triangle"/>
          </a:ln>
        </p:spPr>
      </p:sp>
      <p:sp>
        <p:nvSpPr>
          <p:cNvPr id="64" name="Shape 56"/>
          <p:cNvSpPr/>
          <p:nvPr/>
        </p:nvSpPr>
        <p:spPr>
          <a:xfrm>
            <a:off x="7187184" y="3776472"/>
            <a:ext cx="1481328" cy="310896"/>
          </a:xfrm>
          <a:prstGeom prst="roundRect">
            <a:avLst>
              <a:gd name="adj" fmla="val 50000"/>
            </a:avLst>
          </a:prstGeom>
          <a:solidFill>
            <a:srgbClr val="B83B2E">
              <a:alpha val="15000"/>
            </a:srgbClr>
          </a:solidFill>
          <a:ln w="9525">
            <a:solidFill>
              <a:srgbClr val="B83B2E"/>
            </a:solidFill>
            <a:prstDash val="solid"/>
          </a:ln>
        </p:spPr>
      </p:sp>
      <p:sp>
        <p:nvSpPr>
          <p:cNvPr id="65" name="Text 57"/>
          <p:cNvSpPr txBox="1"/>
          <p:nvPr/>
        </p:nvSpPr>
        <p:spPr>
          <a:xfrm>
            <a:off x="7187184" y="3776472"/>
            <a:ext cx="1481328" cy="310896"/>
          </a:xfrm>
          <a:prstGeom prst="rect">
            <a:avLst/>
          </a:prstGeom>
          <a:noFill/>
          <a:ln/>
        </p:spPr>
        <p:txBody>
          <a:bodyPr wrap="square" lIns="0" tIns="0" rIns="0" bIns="0" rtlCol="0" anchor="ctr"/>
          <a:lstStyle/>
          <a:p>
            <a:pPr marL="0" indent="0" algn="ctr">
              <a:buNone/>
            </a:pPr>
            <a:r>
              <a:rPr lang="en-US" sz="850" b="1" dirty="0">
                <a:solidFill>
                  <a:srgbClr val="B83B2E"/>
                </a:solidFill>
                <a:latin typeface="Calibri" pitchFamily="34" charset="0"/>
                <a:ea typeface="Calibri" pitchFamily="34" charset="-122"/>
                <a:cs typeface="Calibri" pitchFamily="34" charset="-120"/>
              </a:rPr>
              <a:t>Public repository</a:t>
            </a:r>
            <a:endParaRPr lang="en-US" sz="850" dirty="0"/>
          </a:p>
        </p:txBody>
      </p:sp>
      <p:sp>
        <p:nvSpPr>
          <p:cNvPr id="66" name="Text 58"/>
          <p:cNvSpPr txBox="1"/>
          <p:nvPr/>
        </p:nvSpPr>
        <p:spPr>
          <a:xfrm>
            <a:off x="457200" y="4297680"/>
            <a:ext cx="73152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Example open-source tools: rasterio / xarray (reading), geopandas (boundaries), rasterstats or exactextract (zonal statistics), matplotlib (maps).</a:t>
            </a:r>
            <a:endParaRPr lang="en-US" sz="90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FROM LECTURE TO LAB · CHOOSING A PRODUCT</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Which frequency for which question?</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B83B2E"/>
          </a:solidFill>
          <a:ln w="12700">
            <a:solidFill>
              <a:srgbClr val="B83B2E"/>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27</a:t>
            </a:r>
            <a:endParaRPr lang="en-US" sz="850" dirty="0"/>
          </a:p>
        </p:txBody>
      </p:sp>
      <p:sp>
        <p:nvSpPr>
          <p:cNvPr id="17" name="Shape 14"/>
          <p:cNvSpPr/>
          <p:nvPr/>
        </p:nvSpPr>
        <p:spPr>
          <a:xfrm>
            <a:off x="457200" y="1325880"/>
            <a:ext cx="2651760" cy="2743200"/>
          </a:xfrm>
          <a:prstGeom prst="roundRect">
            <a:avLst>
              <a:gd name="adj" fmla="val 2759"/>
            </a:avLst>
          </a:prstGeom>
          <a:solidFill>
            <a:srgbClr val="E8F5EF"/>
          </a:solidFill>
          <a:ln w="15875">
            <a:solidFill>
              <a:srgbClr val="00553A"/>
            </a:solidFill>
            <a:prstDash val="solid"/>
          </a:ln>
        </p:spPr>
      </p:sp>
      <p:sp>
        <p:nvSpPr>
          <p:cNvPr id="18" name="Shape 15"/>
          <p:cNvSpPr/>
          <p:nvPr/>
        </p:nvSpPr>
        <p:spPr>
          <a:xfrm>
            <a:off x="566928" y="1417320"/>
            <a:ext cx="457200" cy="457200"/>
          </a:xfrm>
          <a:prstGeom prst="ellipse">
            <a:avLst/>
          </a:prstGeom>
          <a:solidFill>
            <a:srgbClr val="00553A">
              <a:alpha val="22000"/>
            </a:srgbClr>
          </a:solidFill>
          <a:ln w="12700">
            <a:solidFill>
              <a:srgbClr val="00553A">
                <a:alpha val="0"/>
              </a:srgbClr>
            </a:solidFill>
            <a:prstDash val="solid"/>
          </a:ln>
        </p:spPr>
      </p:sp>
      <p:pic>
        <p:nvPicPr>
          <p:cNvPr id="19" name="Image 0" descr="preencoded.png"/>
          <p:cNvPicPr>
            <a:picLocks noChangeAspect="1"/>
          </p:cNvPicPr>
          <p:nvPr/>
        </p:nvPicPr>
        <p:blipFill>
          <a:blip r:embed="rId3"/>
          <a:stretch>
            <a:fillRect/>
          </a:stretch>
        </p:blipFill>
        <p:spPr>
          <a:xfrm>
            <a:off x="685800" y="1536192"/>
            <a:ext cx="219456" cy="219456"/>
          </a:xfrm>
          <a:prstGeom prst="rect">
            <a:avLst/>
          </a:prstGeom>
        </p:spPr>
      </p:pic>
      <p:sp>
        <p:nvSpPr>
          <p:cNvPr id="20" name="Text 16"/>
          <p:cNvSpPr txBox="1"/>
          <p:nvPr/>
        </p:nvSpPr>
        <p:spPr>
          <a:xfrm>
            <a:off x="1115568" y="1417320"/>
            <a:ext cx="1828800" cy="256032"/>
          </a:xfrm>
          <a:prstGeom prst="rect">
            <a:avLst/>
          </a:prstGeom>
          <a:noFill/>
          <a:ln/>
        </p:spPr>
        <p:txBody>
          <a:bodyPr wrap="square" lIns="0" tIns="0" rIns="0" bIns="0" rtlCol="0" anchor="t"/>
          <a:lstStyle/>
          <a:p>
            <a:pPr marL="0" indent="0">
              <a:buNone/>
            </a:pPr>
            <a:r>
              <a:rPr lang="en-US" sz="1500" b="1" dirty="0">
                <a:solidFill>
                  <a:srgbClr val="00553A"/>
                </a:solidFill>
                <a:latin typeface="Calibri" pitchFamily="34" charset="0"/>
                <a:ea typeface="Calibri" pitchFamily="34" charset="-122"/>
                <a:cs typeface="Calibri" pitchFamily="34" charset="-120"/>
              </a:rPr>
              <a:t>Annual</a:t>
            </a:r>
            <a:endParaRPr lang="en-US" sz="1500" dirty="0"/>
          </a:p>
        </p:txBody>
      </p:sp>
      <p:sp>
        <p:nvSpPr>
          <p:cNvPr id="21" name="Text 17"/>
          <p:cNvSpPr txBox="1"/>
          <p:nvPr/>
        </p:nvSpPr>
        <p:spPr>
          <a:xfrm>
            <a:off x="1115568" y="1673352"/>
            <a:ext cx="1920240" cy="2011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VNP46A4 · EOG VNL annual</a:t>
            </a:r>
            <a:endParaRPr lang="en-US" sz="900" dirty="0"/>
          </a:p>
        </p:txBody>
      </p:sp>
      <p:sp>
        <p:nvSpPr>
          <p:cNvPr id="22" name="Text 18"/>
          <p:cNvSpPr txBox="1"/>
          <p:nvPr/>
        </p:nvSpPr>
        <p:spPr>
          <a:xfrm>
            <a:off x="585216" y="2011680"/>
            <a:ext cx="2423160" cy="164592"/>
          </a:xfrm>
          <a:prstGeom prst="rect">
            <a:avLst/>
          </a:prstGeom>
          <a:noFill/>
          <a:ln/>
        </p:spPr>
        <p:txBody>
          <a:bodyPr wrap="square" lIns="0" tIns="0" rIns="0" bIns="0" rtlCol="0" anchor="t"/>
          <a:lstStyle/>
          <a:p>
            <a:pPr marL="0" indent="0">
              <a:buNone/>
            </a:pPr>
            <a:r>
              <a:rPr lang="en-US" sz="800" b="1" kern="0" spc="200" dirty="0">
                <a:solidFill>
                  <a:srgbClr val="00A86A"/>
                </a:solidFill>
                <a:latin typeface="Calibri" pitchFamily="34" charset="0"/>
                <a:ea typeface="Calibri" pitchFamily="34" charset="-122"/>
                <a:cs typeface="Calibri" pitchFamily="34" charset="-120"/>
              </a:rPr>
              <a:t>STRENGTH</a:t>
            </a:r>
            <a:endParaRPr lang="en-US" sz="800" dirty="0"/>
          </a:p>
        </p:txBody>
      </p:sp>
      <p:sp>
        <p:nvSpPr>
          <p:cNvPr id="23" name="Text 19"/>
          <p:cNvSpPr txBox="1"/>
          <p:nvPr/>
        </p:nvSpPr>
        <p:spPr>
          <a:xfrm>
            <a:off x="585216" y="2194560"/>
            <a:ext cx="2395728" cy="47548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Cleanest series; noise and ephemeral lights largely filtered out.</a:t>
            </a:r>
            <a:endParaRPr lang="en-US" sz="900" dirty="0"/>
          </a:p>
        </p:txBody>
      </p:sp>
      <p:sp>
        <p:nvSpPr>
          <p:cNvPr id="24" name="Text 20"/>
          <p:cNvSpPr txBox="1"/>
          <p:nvPr/>
        </p:nvSpPr>
        <p:spPr>
          <a:xfrm>
            <a:off x="585216" y="2688336"/>
            <a:ext cx="2423160" cy="164592"/>
          </a:xfrm>
          <a:prstGeom prst="rect">
            <a:avLst/>
          </a:prstGeom>
          <a:noFill/>
          <a:ln/>
        </p:spPr>
        <p:txBody>
          <a:bodyPr wrap="square" lIns="0" tIns="0" rIns="0" bIns="0" rtlCol="0" anchor="t"/>
          <a:lstStyle/>
          <a:p>
            <a:pPr marL="0" indent="0">
              <a:buNone/>
            </a:pPr>
            <a:r>
              <a:rPr lang="en-US" sz="800" b="1" kern="0" spc="200" dirty="0">
                <a:solidFill>
                  <a:srgbClr val="D49A00"/>
                </a:solidFill>
                <a:latin typeface="Calibri" pitchFamily="34" charset="0"/>
                <a:ea typeface="Calibri" pitchFamily="34" charset="-122"/>
                <a:cs typeface="Calibri" pitchFamily="34" charset="-120"/>
              </a:rPr>
              <a:t>WATCH OUT</a:t>
            </a:r>
            <a:endParaRPr lang="en-US" sz="800" dirty="0"/>
          </a:p>
        </p:txBody>
      </p:sp>
      <p:sp>
        <p:nvSpPr>
          <p:cNvPr id="25" name="Text 21"/>
          <p:cNvSpPr txBox="1"/>
          <p:nvPr/>
        </p:nvSpPr>
        <p:spPr>
          <a:xfrm>
            <a:off x="585216" y="2871216"/>
            <a:ext cx="2395728" cy="47548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Cannot date a change within the year.</a:t>
            </a:r>
            <a:endParaRPr lang="en-US" sz="900" dirty="0"/>
          </a:p>
        </p:txBody>
      </p:sp>
      <p:sp>
        <p:nvSpPr>
          <p:cNvPr id="26" name="Text 22"/>
          <p:cNvSpPr txBox="1"/>
          <p:nvPr/>
        </p:nvSpPr>
        <p:spPr>
          <a:xfrm>
            <a:off x="585216" y="3364992"/>
            <a:ext cx="2423160" cy="164592"/>
          </a:xfrm>
          <a:prstGeom prst="rect">
            <a:avLst/>
          </a:prstGeom>
          <a:noFill/>
          <a:ln/>
        </p:spPr>
        <p:txBody>
          <a:bodyPr wrap="square" lIns="0" tIns="0" rIns="0" bIns="0" rtlCol="0" anchor="t"/>
          <a:lstStyle/>
          <a:p>
            <a:pPr marL="0" indent="0">
              <a:buNone/>
            </a:pPr>
            <a:r>
              <a:rPr lang="en-US" sz="800" b="1" kern="0" spc="200" dirty="0">
                <a:solidFill>
                  <a:srgbClr val="00704A"/>
                </a:solidFill>
                <a:latin typeface="Calibri" pitchFamily="34" charset="0"/>
                <a:ea typeface="Calibri" pitchFamily="34" charset="-122"/>
                <a:cs typeface="Calibri" pitchFamily="34" charset="-120"/>
              </a:rPr>
              <a:t>TYPICAL NSO USE</a:t>
            </a:r>
            <a:endParaRPr lang="en-US" sz="800" dirty="0"/>
          </a:p>
        </p:txBody>
      </p:sp>
      <p:sp>
        <p:nvSpPr>
          <p:cNvPr id="27" name="Text 23"/>
          <p:cNvSpPr txBox="1"/>
          <p:nvPr/>
        </p:nvSpPr>
        <p:spPr>
          <a:xfrm>
            <a:off x="585216" y="3547872"/>
            <a:ext cx="2395728" cy="47548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Subnational panels, long-term trends, urban expansion, poverty maps.</a:t>
            </a:r>
            <a:endParaRPr lang="en-US" sz="900" dirty="0"/>
          </a:p>
        </p:txBody>
      </p:sp>
      <p:sp>
        <p:nvSpPr>
          <p:cNvPr id="28" name="Shape 24"/>
          <p:cNvSpPr/>
          <p:nvPr/>
        </p:nvSpPr>
        <p:spPr>
          <a:xfrm>
            <a:off x="3246120" y="1325880"/>
            <a:ext cx="2651760" cy="2743200"/>
          </a:xfrm>
          <a:prstGeom prst="roundRect">
            <a:avLst>
              <a:gd name="adj" fmla="val 2759"/>
            </a:avLst>
          </a:prstGeom>
          <a:solidFill>
            <a:srgbClr val="F4F7F5"/>
          </a:solidFill>
          <a:ln w="9525">
            <a:solidFill>
              <a:srgbClr val="D5DED9"/>
            </a:solidFill>
            <a:prstDash val="solid"/>
          </a:ln>
        </p:spPr>
      </p:sp>
      <p:sp>
        <p:nvSpPr>
          <p:cNvPr id="29" name="Shape 25"/>
          <p:cNvSpPr/>
          <p:nvPr/>
        </p:nvSpPr>
        <p:spPr>
          <a:xfrm>
            <a:off x="3355848" y="1417320"/>
            <a:ext cx="457200" cy="457200"/>
          </a:xfrm>
          <a:prstGeom prst="ellipse">
            <a:avLst/>
          </a:prstGeom>
          <a:solidFill>
            <a:srgbClr val="00704A">
              <a:alpha val="22000"/>
            </a:srgbClr>
          </a:solidFill>
          <a:ln w="12700">
            <a:solidFill>
              <a:srgbClr val="00704A">
                <a:alpha val="0"/>
              </a:srgbClr>
            </a:solidFill>
            <a:prstDash val="solid"/>
          </a:ln>
        </p:spPr>
      </p:sp>
      <p:pic>
        <p:nvPicPr>
          <p:cNvPr id="30" name="Image 1" descr="preencoded.png"/>
          <p:cNvPicPr>
            <a:picLocks noChangeAspect="1"/>
          </p:cNvPicPr>
          <p:nvPr/>
        </p:nvPicPr>
        <p:blipFill>
          <a:blip r:embed="rId4"/>
          <a:stretch>
            <a:fillRect/>
          </a:stretch>
        </p:blipFill>
        <p:spPr>
          <a:xfrm>
            <a:off x="3474720" y="1536192"/>
            <a:ext cx="219456" cy="219456"/>
          </a:xfrm>
          <a:prstGeom prst="rect">
            <a:avLst/>
          </a:prstGeom>
        </p:spPr>
      </p:pic>
      <p:sp>
        <p:nvSpPr>
          <p:cNvPr id="31" name="Text 26"/>
          <p:cNvSpPr txBox="1"/>
          <p:nvPr/>
        </p:nvSpPr>
        <p:spPr>
          <a:xfrm>
            <a:off x="3904488" y="1417320"/>
            <a:ext cx="1828800" cy="256032"/>
          </a:xfrm>
          <a:prstGeom prst="rect">
            <a:avLst/>
          </a:prstGeom>
          <a:noFill/>
          <a:ln/>
        </p:spPr>
        <p:txBody>
          <a:bodyPr wrap="square" lIns="0" tIns="0" rIns="0" bIns="0" rtlCol="0" anchor="t"/>
          <a:lstStyle/>
          <a:p>
            <a:pPr marL="0" indent="0">
              <a:buNone/>
            </a:pPr>
            <a:r>
              <a:rPr lang="en-US" sz="1500" b="1" dirty="0">
                <a:solidFill>
                  <a:srgbClr val="00704A"/>
                </a:solidFill>
                <a:latin typeface="Calibri" pitchFamily="34" charset="0"/>
                <a:ea typeface="Calibri" pitchFamily="34" charset="-122"/>
                <a:cs typeface="Calibri" pitchFamily="34" charset="-120"/>
              </a:rPr>
              <a:t>Monthly</a:t>
            </a:r>
            <a:endParaRPr lang="en-US" sz="1500" dirty="0"/>
          </a:p>
        </p:txBody>
      </p:sp>
      <p:sp>
        <p:nvSpPr>
          <p:cNvPr id="32" name="Text 27"/>
          <p:cNvSpPr txBox="1"/>
          <p:nvPr/>
        </p:nvSpPr>
        <p:spPr>
          <a:xfrm>
            <a:off x="3904488" y="1673352"/>
            <a:ext cx="1920240" cy="2011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VNP46A3 · EOG VNL monthly</a:t>
            </a:r>
            <a:endParaRPr lang="en-US" sz="900" dirty="0"/>
          </a:p>
        </p:txBody>
      </p:sp>
      <p:sp>
        <p:nvSpPr>
          <p:cNvPr id="33" name="Text 28"/>
          <p:cNvSpPr txBox="1"/>
          <p:nvPr/>
        </p:nvSpPr>
        <p:spPr>
          <a:xfrm>
            <a:off x="3374136" y="2011680"/>
            <a:ext cx="2423160" cy="164592"/>
          </a:xfrm>
          <a:prstGeom prst="rect">
            <a:avLst/>
          </a:prstGeom>
          <a:noFill/>
          <a:ln/>
        </p:spPr>
        <p:txBody>
          <a:bodyPr wrap="square" lIns="0" tIns="0" rIns="0" bIns="0" rtlCol="0" anchor="t"/>
          <a:lstStyle/>
          <a:p>
            <a:pPr marL="0" indent="0">
              <a:buNone/>
            </a:pPr>
            <a:r>
              <a:rPr lang="en-US" sz="800" b="1" kern="0" spc="200" dirty="0">
                <a:solidFill>
                  <a:srgbClr val="00A86A"/>
                </a:solidFill>
                <a:latin typeface="Calibri" pitchFamily="34" charset="0"/>
                <a:ea typeface="Calibri" pitchFamily="34" charset="-122"/>
                <a:cs typeface="Calibri" pitchFamily="34" charset="-120"/>
              </a:rPr>
              <a:t>STRENGTH</a:t>
            </a:r>
            <a:endParaRPr lang="en-US" sz="800" dirty="0"/>
          </a:p>
        </p:txBody>
      </p:sp>
      <p:sp>
        <p:nvSpPr>
          <p:cNvPr id="34" name="Text 29"/>
          <p:cNvSpPr txBox="1"/>
          <p:nvPr/>
        </p:nvSpPr>
        <p:spPr>
          <a:xfrm>
            <a:off x="3374136" y="2194560"/>
            <a:ext cx="2395728" cy="47548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Dates a change to within a season.</a:t>
            </a:r>
            <a:endParaRPr lang="en-US" sz="900" dirty="0"/>
          </a:p>
        </p:txBody>
      </p:sp>
      <p:sp>
        <p:nvSpPr>
          <p:cNvPr id="35" name="Text 30"/>
          <p:cNvSpPr txBox="1"/>
          <p:nvPr/>
        </p:nvSpPr>
        <p:spPr>
          <a:xfrm>
            <a:off x="3374136" y="2688336"/>
            <a:ext cx="2423160" cy="164592"/>
          </a:xfrm>
          <a:prstGeom prst="rect">
            <a:avLst/>
          </a:prstGeom>
          <a:noFill/>
          <a:ln/>
        </p:spPr>
        <p:txBody>
          <a:bodyPr wrap="square" lIns="0" tIns="0" rIns="0" bIns="0" rtlCol="0" anchor="t"/>
          <a:lstStyle/>
          <a:p>
            <a:pPr marL="0" indent="0">
              <a:buNone/>
            </a:pPr>
            <a:r>
              <a:rPr lang="en-US" sz="800" b="1" kern="0" spc="200" dirty="0">
                <a:solidFill>
                  <a:srgbClr val="D49A00"/>
                </a:solidFill>
                <a:latin typeface="Calibri" pitchFamily="34" charset="0"/>
                <a:ea typeface="Calibri" pitchFamily="34" charset="-122"/>
                <a:cs typeface="Calibri" pitchFamily="34" charset="-120"/>
              </a:rPr>
              <a:t>WATCH OUT</a:t>
            </a:r>
            <a:endParaRPr lang="en-US" sz="800" dirty="0"/>
          </a:p>
        </p:txBody>
      </p:sp>
      <p:sp>
        <p:nvSpPr>
          <p:cNvPr id="36" name="Text 31"/>
          <p:cNvSpPr txBox="1"/>
          <p:nvPr/>
        </p:nvSpPr>
        <p:spPr>
          <a:xfrm>
            <a:off x="3374136" y="2871216"/>
            <a:ext cx="2395728" cy="47548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Rainy months may rest on very few valid nights.</a:t>
            </a:r>
            <a:endParaRPr lang="en-US" sz="900" dirty="0"/>
          </a:p>
        </p:txBody>
      </p:sp>
      <p:sp>
        <p:nvSpPr>
          <p:cNvPr id="37" name="Text 32"/>
          <p:cNvSpPr txBox="1"/>
          <p:nvPr/>
        </p:nvSpPr>
        <p:spPr>
          <a:xfrm>
            <a:off x="3374136" y="3364992"/>
            <a:ext cx="2423160" cy="164592"/>
          </a:xfrm>
          <a:prstGeom prst="rect">
            <a:avLst/>
          </a:prstGeom>
          <a:noFill/>
          <a:ln/>
        </p:spPr>
        <p:txBody>
          <a:bodyPr wrap="square" lIns="0" tIns="0" rIns="0" bIns="0" rtlCol="0" anchor="t"/>
          <a:lstStyle/>
          <a:p>
            <a:pPr marL="0" indent="0">
              <a:buNone/>
            </a:pPr>
            <a:r>
              <a:rPr lang="en-US" sz="800" b="1" kern="0" spc="200" dirty="0">
                <a:solidFill>
                  <a:srgbClr val="00704A"/>
                </a:solidFill>
                <a:latin typeface="Calibri" pitchFamily="34" charset="0"/>
                <a:ea typeface="Calibri" pitchFamily="34" charset="-122"/>
                <a:cs typeface="Calibri" pitchFamily="34" charset="-120"/>
              </a:rPr>
              <a:t>TYPICAL NSO USE</a:t>
            </a:r>
            <a:endParaRPr lang="en-US" sz="800" dirty="0"/>
          </a:p>
        </p:txBody>
      </p:sp>
      <p:sp>
        <p:nvSpPr>
          <p:cNvPr id="38" name="Text 33"/>
          <p:cNvSpPr txBox="1"/>
          <p:nvPr/>
        </p:nvSpPr>
        <p:spPr>
          <a:xfrm>
            <a:off x="3374136" y="3547872"/>
            <a:ext cx="2395728" cy="47548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Programme evaluation, seasonal activity, timelines of conflict and recovery.</a:t>
            </a:r>
            <a:endParaRPr lang="en-US" sz="900" dirty="0"/>
          </a:p>
        </p:txBody>
      </p:sp>
      <p:sp>
        <p:nvSpPr>
          <p:cNvPr id="39" name="Shape 34"/>
          <p:cNvSpPr/>
          <p:nvPr/>
        </p:nvSpPr>
        <p:spPr>
          <a:xfrm>
            <a:off x="6035040" y="1325880"/>
            <a:ext cx="2651760" cy="2743200"/>
          </a:xfrm>
          <a:prstGeom prst="roundRect">
            <a:avLst>
              <a:gd name="adj" fmla="val 2759"/>
            </a:avLst>
          </a:prstGeom>
          <a:solidFill>
            <a:srgbClr val="F4F7F5"/>
          </a:solidFill>
          <a:ln w="9525">
            <a:solidFill>
              <a:srgbClr val="D5DED9"/>
            </a:solidFill>
            <a:prstDash val="solid"/>
          </a:ln>
        </p:spPr>
      </p:sp>
      <p:sp>
        <p:nvSpPr>
          <p:cNvPr id="40" name="Shape 35"/>
          <p:cNvSpPr/>
          <p:nvPr/>
        </p:nvSpPr>
        <p:spPr>
          <a:xfrm>
            <a:off x="6144768" y="1417320"/>
            <a:ext cx="457200" cy="457200"/>
          </a:xfrm>
          <a:prstGeom prst="ellipse">
            <a:avLst/>
          </a:prstGeom>
          <a:solidFill>
            <a:srgbClr val="00A86A">
              <a:alpha val="22000"/>
            </a:srgbClr>
          </a:solidFill>
          <a:ln w="12700">
            <a:solidFill>
              <a:srgbClr val="00A86A">
                <a:alpha val="0"/>
              </a:srgbClr>
            </a:solidFill>
            <a:prstDash val="solid"/>
          </a:ln>
        </p:spPr>
      </p:sp>
      <p:pic>
        <p:nvPicPr>
          <p:cNvPr id="41" name="Image 2" descr="preencoded.png"/>
          <p:cNvPicPr>
            <a:picLocks noChangeAspect="1"/>
          </p:cNvPicPr>
          <p:nvPr/>
        </p:nvPicPr>
        <p:blipFill>
          <a:blip r:embed="rId5"/>
          <a:stretch>
            <a:fillRect/>
          </a:stretch>
        </p:blipFill>
        <p:spPr>
          <a:xfrm>
            <a:off x="6263640" y="1536192"/>
            <a:ext cx="219456" cy="219456"/>
          </a:xfrm>
          <a:prstGeom prst="rect">
            <a:avLst/>
          </a:prstGeom>
        </p:spPr>
      </p:pic>
      <p:sp>
        <p:nvSpPr>
          <p:cNvPr id="42" name="Text 36"/>
          <p:cNvSpPr txBox="1"/>
          <p:nvPr/>
        </p:nvSpPr>
        <p:spPr>
          <a:xfrm>
            <a:off x="6693408" y="1417320"/>
            <a:ext cx="1828800" cy="256032"/>
          </a:xfrm>
          <a:prstGeom prst="rect">
            <a:avLst/>
          </a:prstGeom>
          <a:noFill/>
          <a:ln/>
        </p:spPr>
        <p:txBody>
          <a:bodyPr wrap="square" lIns="0" tIns="0" rIns="0" bIns="0" rtlCol="0" anchor="t"/>
          <a:lstStyle/>
          <a:p>
            <a:pPr marL="0" indent="0">
              <a:buNone/>
            </a:pPr>
            <a:r>
              <a:rPr lang="en-US" sz="1500" b="1" dirty="0">
                <a:solidFill>
                  <a:srgbClr val="00A86A"/>
                </a:solidFill>
                <a:latin typeface="Calibri" pitchFamily="34" charset="0"/>
                <a:ea typeface="Calibri" pitchFamily="34" charset="-122"/>
                <a:cs typeface="Calibri" pitchFamily="34" charset="-120"/>
              </a:rPr>
              <a:t>Daily</a:t>
            </a:r>
            <a:endParaRPr lang="en-US" sz="1500" dirty="0"/>
          </a:p>
        </p:txBody>
      </p:sp>
      <p:sp>
        <p:nvSpPr>
          <p:cNvPr id="43" name="Text 37"/>
          <p:cNvSpPr txBox="1"/>
          <p:nvPr/>
        </p:nvSpPr>
        <p:spPr>
          <a:xfrm>
            <a:off x="6693408" y="1673352"/>
            <a:ext cx="1920240" cy="2011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VNP46A2</a:t>
            </a:r>
            <a:endParaRPr lang="en-US" sz="900" dirty="0"/>
          </a:p>
        </p:txBody>
      </p:sp>
      <p:sp>
        <p:nvSpPr>
          <p:cNvPr id="44" name="Text 38"/>
          <p:cNvSpPr txBox="1"/>
          <p:nvPr/>
        </p:nvSpPr>
        <p:spPr>
          <a:xfrm>
            <a:off x="6163056" y="2011680"/>
            <a:ext cx="2423160" cy="164592"/>
          </a:xfrm>
          <a:prstGeom prst="rect">
            <a:avLst/>
          </a:prstGeom>
          <a:noFill/>
          <a:ln/>
        </p:spPr>
        <p:txBody>
          <a:bodyPr wrap="square" lIns="0" tIns="0" rIns="0" bIns="0" rtlCol="0" anchor="t"/>
          <a:lstStyle/>
          <a:p>
            <a:pPr marL="0" indent="0">
              <a:buNone/>
            </a:pPr>
            <a:r>
              <a:rPr lang="en-US" sz="800" b="1" kern="0" spc="200" dirty="0">
                <a:solidFill>
                  <a:srgbClr val="00A86A"/>
                </a:solidFill>
                <a:latin typeface="Calibri" pitchFamily="34" charset="0"/>
                <a:ea typeface="Calibri" pitchFamily="34" charset="-122"/>
                <a:cs typeface="Calibri" pitchFamily="34" charset="-120"/>
              </a:rPr>
              <a:t>STRENGTH</a:t>
            </a:r>
            <a:endParaRPr lang="en-US" sz="800" dirty="0"/>
          </a:p>
        </p:txBody>
      </p:sp>
      <p:sp>
        <p:nvSpPr>
          <p:cNvPr id="45" name="Text 39"/>
          <p:cNvSpPr txBox="1"/>
          <p:nvPr/>
        </p:nvSpPr>
        <p:spPr>
          <a:xfrm>
            <a:off x="6163056" y="2194560"/>
            <a:ext cx="2395728" cy="47548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Every night, corrected for Moon, atmosphere and terrain.</a:t>
            </a:r>
            <a:endParaRPr lang="en-US" sz="900" dirty="0"/>
          </a:p>
        </p:txBody>
      </p:sp>
      <p:sp>
        <p:nvSpPr>
          <p:cNvPr id="46" name="Text 40"/>
          <p:cNvSpPr txBox="1"/>
          <p:nvPr/>
        </p:nvSpPr>
        <p:spPr>
          <a:xfrm>
            <a:off x="6163056" y="2688336"/>
            <a:ext cx="2423160" cy="164592"/>
          </a:xfrm>
          <a:prstGeom prst="rect">
            <a:avLst/>
          </a:prstGeom>
          <a:noFill/>
          <a:ln/>
        </p:spPr>
        <p:txBody>
          <a:bodyPr wrap="square" lIns="0" tIns="0" rIns="0" bIns="0" rtlCol="0" anchor="t"/>
          <a:lstStyle/>
          <a:p>
            <a:pPr marL="0" indent="0">
              <a:buNone/>
            </a:pPr>
            <a:r>
              <a:rPr lang="en-US" sz="800" b="1" kern="0" spc="200" dirty="0">
                <a:solidFill>
                  <a:srgbClr val="D49A00"/>
                </a:solidFill>
                <a:latin typeface="Calibri" pitchFamily="34" charset="0"/>
                <a:ea typeface="Calibri" pitchFamily="34" charset="-122"/>
                <a:cs typeface="Calibri" pitchFamily="34" charset="-120"/>
              </a:rPr>
              <a:t>WATCH OUT</a:t>
            </a:r>
            <a:endParaRPr lang="en-US" sz="800" dirty="0"/>
          </a:p>
        </p:txBody>
      </p:sp>
      <p:sp>
        <p:nvSpPr>
          <p:cNvPr id="47" name="Text 41"/>
          <p:cNvSpPr txBox="1"/>
          <p:nvPr/>
        </p:nvSpPr>
        <p:spPr>
          <a:xfrm>
            <a:off x="6163056" y="2871216"/>
            <a:ext cx="2395728" cy="47548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Large volumes; a single night is noisy — aggregate first.</a:t>
            </a:r>
            <a:endParaRPr lang="en-US" sz="900" dirty="0"/>
          </a:p>
        </p:txBody>
      </p:sp>
      <p:sp>
        <p:nvSpPr>
          <p:cNvPr id="48" name="Text 42"/>
          <p:cNvSpPr txBox="1"/>
          <p:nvPr/>
        </p:nvSpPr>
        <p:spPr>
          <a:xfrm>
            <a:off x="6163056" y="3364992"/>
            <a:ext cx="2423160" cy="164592"/>
          </a:xfrm>
          <a:prstGeom prst="rect">
            <a:avLst/>
          </a:prstGeom>
          <a:noFill/>
          <a:ln/>
        </p:spPr>
        <p:txBody>
          <a:bodyPr wrap="square" lIns="0" tIns="0" rIns="0" bIns="0" rtlCol="0" anchor="t"/>
          <a:lstStyle/>
          <a:p>
            <a:pPr marL="0" indent="0">
              <a:buNone/>
            </a:pPr>
            <a:r>
              <a:rPr lang="en-US" sz="800" b="1" kern="0" spc="200" dirty="0">
                <a:solidFill>
                  <a:srgbClr val="00704A"/>
                </a:solidFill>
                <a:latin typeface="Calibri" pitchFamily="34" charset="0"/>
                <a:ea typeface="Calibri" pitchFamily="34" charset="-122"/>
                <a:cs typeface="Calibri" pitchFamily="34" charset="-120"/>
              </a:rPr>
              <a:t>TYPICAL NSO USE</a:t>
            </a:r>
            <a:endParaRPr lang="en-US" sz="800" dirty="0"/>
          </a:p>
        </p:txBody>
      </p:sp>
      <p:sp>
        <p:nvSpPr>
          <p:cNvPr id="49" name="Text 43"/>
          <p:cNvSpPr txBox="1"/>
          <p:nvPr/>
        </p:nvSpPr>
        <p:spPr>
          <a:xfrm>
            <a:off x="6163056" y="3547872"/>
            <a:ext cx="2395728" cy="47548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Outages, disaster response, reliability of electricity supply.</a:t>
            </a:r>
            <a:endParaRPr lang="en-US" sz="900" dirty="0"/>
          </a:p>
        </p:txBody>
      </p:sp>
      <p:sp>
        <p:nvSpPr>
          <p:cNvPr id="50" name="Shape 44"/>
          <p:cNvSpPr/>
          <p:nvPr/>
        </p:nvSpPr>
        <p:spPr>
          <a:xfrm>
            <a:off x="457200" y="4178808"/>
            <a:ext cx="8229600" cy="411480"/>
          </a:xfrm>
          <a:prstGeom prst="roundRect">
            <a:avLst>
              <a:gd name="adj" fmla="val 17778"/>
            </a:avLst>
          </a:prstGeom>
          <a:solidFill>
            <a:srgbClr val="E8F5EF"/>
          </a:solidFill>
          <a:ln w="15875">
            <a:solidFill>
              <a:srgbClr val="00A86A"/>
            </a:solidFill>
            <a:prstDash val="solid"/>
          </a:ln>
        </p:spPr>
      </p:sp>
      <p:sp>
        <p:nvSpPr>
          <p:cNvPr id="51" name="Shape 45"/>
          <p:cNvSpPr/>
          <p:nvPr/>
        </p:nvSpPr>
        <p:spPr>
          <a:xfrm>
            <a:off x="530352" y="4206240"/>
            <a:ext cx="347472" cy="347472"/>
          </a:xfrm>
          <a:prstGeom prst="ellipse">
            <a:avLst/>
          </a:prstGeom>
          <a:solidFill>
            <a:srgbClr val="00A86A">
              <a:alpha val="22000"/>
            </a:srgbClr>
          </a:solidFill>
          <a:ln w="12700">
            <a:solidFill>
              <a:srgbClr val="00A86A">
                <a:alpha val="0"/>
              </a:srgbClr>
            </a:solidFill>
            <a:prstDash val="solid"/>
          </a:ln>
        </p:spPr>
      </p:sp>
      <p:pic>
        <p:nvPicPr>
          <p:cNvPr id="52" name="Image 3" descr="preencoded.png"/>
          <p:cNvPicPr>
            <a:picLocks noChangeAspect="1"/>
          </p:cNvPicPr>
          <p:nvPr/>
        </p:nvPicPr>
        <p:blipFill>
          <a:blip r:embed="rId6"/>
          <a:stretch>
            <a:fillRect/>
          </a:stretch>
        </p:blipFill>
        <p:spPr>
          <a:xfrm>
            <a:off x="620695" y="4296583"/>
            <a:ext cx="166787" cy="166787"/>
          </a:xfrm>
          <a:prstGeom prst="rect">
            <a:avLst/>
          </a:prstGeom>
        </p:spPr>
      </p:pic>
      <p:sp>
        <p:nvSpPr>
          <p:cNvPr id="53" name="Text 46"/>
          <p:cNvSpPr txBox="1"/>
          <p:nvPr/>
        </p:nvSpPr>
        <p:spPr>
          <a:xfrm>
            <a:off x="960120" y="4178808"/>
            <a:ext cx="7680960" cy="411480"/>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Rule of thumb:  </a:t>
            </a:r>
            <a:r>
              <a:rPr lang="en-US" sz="1050" dirty="0">
                <a:solidFill>
                  <a:srgbClr val="231F20"/>
                </a:solidFill>
                <a:latin typeface="Calibri" pitchFamily="34" charset="0"/>
                <a:ea typeface="Calibri" pitchFamily="34" charset="-122"/>
                <a:cs typeface="Calibri" pitchFamily="34" charset="-120"/>
              </a:rPr>
              <a:t>start with annual. The finer the frequency, the more you must trust the corrections and manage noise.</a:t>
            </a:r>
            <a:endParaRPr lang="en-US" sz="105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FROM LECTURE TO LAB · VALIDATION · VALIDATE LAB</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Release, or keep as a diagnostic tool?</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B83B2E"/>
          </a:solidFill>
          <a:ln w="12700">
            <a:solidFill>
              <a:srgbClr val="B83B2E"/>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28</a:t>
            </a:r>
            <a:endParaRPr lang="en-US" sz="850" dirty="0"/>
          </a:p>
        </p:txBody>
      </p:sp>
      <p:sp>
        <p:nvSpPr>
          <p:cNvPr id="17" name="Shape 14"/>
          <p:cNvSpPr/>
          <p:nvPr/>
        </p:nvSpPr>
        <p:spPr>
          <a:xfrm>
            <a:off x="457200" y="1325880"/>
            <a:ext cx="3200400" cy="603504"/>
          </a:xfrm>
          <a:prstGeom prst="roundRect">
            <a:avLst>
              <a:gd name="adj" fmla="val 12121"/>
            </a:avLst>
          </a:prstGeom>
          <a:solidFill>
            <a:srgbClr val="FFFFFF"/>
          </a:solidFill>
          <a:ln w="9525">
            <a:solidFill>
              <a:srgbClr val="C4621D"/>
            </a:solidFill>
            <a:prstDash val="solid"/>
          </a:ln>
        </p:spPr>
      </p:sp>
      <p:sp>
        <p:nvSpPr>
          <p:cNvPr id="18" name="Shape 15"/>
          <p:cNvSpPr/>
          <p:nvPr/>
        </p:nvSpPr>
        <p:spPr>
          <a:xfrm>
            <a:off x="548640" y="1463040"/>
            <a:ext cx="329184" cy="329184"/>
          </a:xfrm>
          <a:prstGeom prst="ellipse">
            <a:avLst/>
          </a:prstGeom>
          <a:solidFill>
            <a:srgbClr val="C4621D"/>
          </a:solidFill>
          <a:ln w="12700">
            <a:solidFill>
              <a:srgbClr val="C4621D"/>
            </a:solidFill>
            <a:prstDash val="solid"/>
          </a:ln>
        </p:spPr>
      </p:sp>
      <p:sp>
        <p:nvSpPr>
          <p:cNvPr id="19" name="Text 16"/>
          <p:cNvSpPr txBox="1"/>
          <p:nvPr/>
        </p:nvSpPr>
        <p:spPr>
          <a:xfrm>
            <a:off x="548640" y="1463040"/>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Q1</a:t>
            </a:r>
            <a:endParaRPr lang="en-US" sz="1000" dirty="0"/>
          </a:p>
        </p:txBody>
      </p:sp>
      <p:sp>
        <p:nvSpPr>
          <p:cNvPr id="20" name="Text 17"/>
          <p:cNvSpPr txBox="1"/>
          <p:nvPr/>
        </p:nvSpPr>
        <p:spPr>
          <a:xfrm>
            <a:off x="960120" y="1362456"/>
            <a:ext cx="2651760" cy="347472"/>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Is the relationship strong and stable across units and years?</a:t>
            </a:r>
            <a:endParaRPr lang="en-US" sz="950" dirty="0"/>
          </a:p>
        </p:txBody>
      </p:sp>
      <p:sp>
        <p:nvSpPr>
          <p:cNvPr id="21" name="Text 18"/>
          <p:cNvSpPr txBox="1"/>
          <p:nvPr/>
        </p:nvSpPr>
        <p:spPr>
          <a:xfrm>
            <a:off x="960120" y="1709928"/>
            <a:ext cx="2651760" cy="182880"/>
          </a:xfrm>
          <a:prstGeom prst="rect">
            <a:avLst/>
          </a:prstGeom>
          <a:noFill/>
          <a:ln/>
        </p:spPr>
        <p:txBody>
          <a:bodyPr wrap="square" lIns="0" tIns="0" rIns="0" bIns="0" rtlCol="0" anchor="t"/>
          <a:lstStyle/>
          <a:p>
            <a:pPr marL="0" indent="0">
              <a:buNone/>
            </a:pPr>
            <a:r>
              <a:rPr lang="en-US" sz="850" i="1" dirty="0">
                <a:solidFill>
                  <a:srgbClr val="5E6964"/>
                </a:solidFill>
                <a:latin typeface="Calibri" pitchFamily="34" charset="0"/>
                <a:ea typeface="Calibri" pitchFamily="34" charset="-122"/>
                <a:cs typeface="Calibri" pitchFamily="34" charset="-120"/>
              </a:rPr>
              <a:t>Set the bar before you look.</a:t>
            </a:r>
            <a:endParaRPr lang="en-US" sz="850" dirty="0"/>
          </a:p>
        </p:txBody>
      </p:sp>
      <p:sp>
        <p:nvSpPr>
          <p:cNvPr id="22" name="Shape 19"/>
          <p:cNvSpPr/>
          <p:nvPr/>
        </p:nvSpPr>
        <p:spPr>
          <a:xfrm>
            <a:off x="2057400" y="1929384"/>
            <a:ext cx="91" cy="109728"/>
          </a:xfrm>
          <a:prstGeom prst="line">
            <a:avLst/>
          </a:prstGeom>
          <a:noFill/>
          <a:ln w="15875">
            <a:solidFill>
              <a:srgbClr val="5E6964"/>
            </a:solidFill>
            <a:prstDash val="solid"/>
            <a:tailEnd type="triangle"/>
          </a:ln>
        </p:spPr>
      </p:sp>
      <p:sp>
        <p:nvSpPr>
          <p:cNvPr id="23" name="Shape 20"/>
          <p:cNvSpPr/>
          <p:nvPr/>
        </p:nvSpPr>
        <p:spPr>
          <a:xfrm>
            <a:off x="457200" y="2039112"/>
            <a:ext cx="3200400" cy="603504"/>
          </a:xfrm>
          <a:prstGeom prst="roundRect">
            <a:avLst>
              <a:gd name="adj" fmla="val 12121"/>
            </a:avLst>
          </a:prstGeom>
          <a:solidFill>
            <a:srgbClr val="FFFFFF"/>
          </a:solidFill>
          <a:ln w="9525">
            <a:solidFill>
              <a:srgbClr val="C4621D"/>
            </a:solidFill>
            <a:prstDash val="solid"/>
          </a:ln>
        </p:spPr>
      </p:sp>
      <p:sp>
        <p:nvSpPr>
          <p:cNvPr id="24" name="Shape 21"/>
          <p:cNvSpPr/>
          <p:nvPr/>
        </p:nvSpPr>
        <p:spPr>
          <a:xfrm>
            <a:off x="548640" y="2176272"/>
            <a:ext cx="329184" cy="329184"/>
          </a:xfrm>
          <a:prstGeom prst="ellipse">
            <a:avLst/>
          </a:prstGeom>
          <a:solidFill>
            <a:srgbClr val="C4621D"/>
          </a:solidFill>
          <a:ln w="12700">
            <a:solidFill>
              <a:srgbClr val="C4621D"/>
            </a:solidFill>
            <a:prstDash val="solid"/>
          </a:ln>
        </p:spPr>
      </p:sp>
      <p:sp>
        <p:nvSpPr>
          <p:cNvPr id="25" name="Text 22"/>
          <p:cNvSpPr txBox="1"/>
          <p:nvPr/>
        </p:nvSpPr>
        <p:spPr>
          <a:xfrm>
            <a:off x="548640" y="2176272"/>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Q2</a:t>
            </a:r>
            <a:endParaRPr lang="en-US" sz="1000" dirty="0"/>
          </a:p>
        </p:txBody>
      </p:sp>
      <p:sp>
        <p:nvSpPr>
          <p:cNvPr id="26" name="Text 23"/>
          <p:cNvSpPr txBox="1"/>
          <p:nvPr/>
        </p:nvSpPr>
        <p:spPr>
          <a:xfrm>
            <a:off x="960120" y="2075688"/>
            <a:ext cx="2651760" cy="347472"/>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Have artefacts been identified and treated?</a:t>
            </a:r>
            <a:endParaRPr lang="en-US" sz="950" dirty="0"/>
          </a:p>
        </p:txBody>
      </p:sp>
      <p:sp>
        <p:nvSpPr>
          <p:cNvPr id="27" name="Text 24"/>
          <p:cNvSpPr txBox="1"/>
          <p:nvPr/>
        </p:nvSpPr>
        <p:spPr>
          <a:xfrm>
            <a:off x="960120" y="2423160"/>
            <a:ext cx="2651760" cy="182880"/>
          </a:xfrm>
          <a:prstGeom prst="rect">
            <a:avLst/>
          </a:prstGeom>
          <a:noFill/>
          <a:ln/>
        </p:spPr>
        <p:txBody>
          <a:bodyPr wrap="square" lIns="0" tIns="0" rIns="0" bIns="0" rtlCol="0" anchor="t"/>
          <a:lstStyle/>
          <a:p>
            <a:pPr marL="0" indent="0">
              <a:buNone/>
            </a:pPr>
            <a:r>
              <a:rPr lang="en-US" sz="850" i="1" dirty="0">
                <a:solidFill>
                  <a:srgbClr val="5E6964"/>
                </a:solidFill>
                <a:latin typeface="Calibri" pitchFamily="34" charset="0"/>
                <a:ea typeface="Calibri" pitchFamily="34" charset="-122"/>
                <a:cs typeface="Calibri" pitchFamily="34" charset="-120"/>
              </a:rPr>
              <a:t>Gas flares, blooming, seasonality, noise.</a:t>
            </a:r>
            <a:endParaRPr lang="en-US" sz="850" dirty="0"/>
          </a:p>
        </p:txBody>
      </p:sp>
      <p:sp>
        <p:nvSpPr>
          <p:cNvPr id="28" name="Shape 25"/>
          <p:cNvSpPr/>
          <p:nvPr/>
        </p:nvSpPr>
        <p:spPr>
          <a:xfrm>
            <a:off x="2057400" y="2642616"/>
            <a:ext cx="91" cy="109728"/>
          </a:xfrm>
          <a:prstGeom prst="line">
            <a:avLst/>
          </a:prstGeom>
          <a:noFill/>
          <a:ln w="15875">
            <a:solidFill>
              <a:srgbClr val="5E6964"/>
            </a:solidFill>
            <a:prstDash val="solid"/>
            <a:tailEnd type="triangle"/>
          </a:ln>
        </p:spPr>
      </p:sp>
      <p:sp>
        <p:nvSpPr>
          <p:cNvPr id="29" name="Shape 26"/>
          <p:cNvSpPr/>
          <p:nvPr/>
        </p:nvSpPr>
        <p:spPr>
          <a:xfrm>
            <a:off x="457200" y="2752344"/>
            <a:ext cx="3200400" cy="603504"/>
          </a:xfrm>
          <a:prstGeom prst="roundRect">
            <a:avLst>
              <a:gd name="adj" fmla="val 12121"/>
            </a:avLst>
          </a:prstGeom>
          <a:solidFill>
            <a:srgbClr val="FFFFFF"/>
          </a:solidFill>
          <a:ln w="9525">
            <a:solidFill>
              <a:srgbClr val="C4621D"/>
            </a:solidFill>
            <a:prstDash val="solid"/>
          </a:ln>
        </p:spPr>
      </p:sp>
      <p:sp>
        <p:nvSpPr>
          <p:cNvPr id="30" name="Shape 27"/>
          <p:cNvSpPr/>
          <p:nvPr/>
        </p:nvSpPr>
        <p:spPr>
          <a:xfrm>
            <a:off x="548640" y="2889504"/>
            <a:ext cx="329184" cy="329184"/>
          </a:xfrm>
          <a:prstGeom prst="ellipse">
            <a:avLst/>
          </a:prstGeom>
          <a:solidFill>
            <a:srgbClr val="C4621D"/>
          </a:solidFill>
          <a:ln w="12700">
            <a:solidFill>
              <a:srgbClr val="C4621D"/>
            </a:solidFill>
            <a:prstDash val="solid"/>
          </a:ln>
        </p:spPr>
      </p:sp>
      <p:sp>
        <p:nvSpPr>
          <p:cNvPr id="31" name="Text 28"/>
          <p:cNvSpPr txBox="1"/>
          <p:nvPr/>
        </p:nvSpPr>
        <p:spPr>
          <a:xfrm>
            <a:off x="548640" y="2889504"/>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Q3</a:t>
            </a:r>
            <a:endParaRPr lang="en-US" sz="1000" dirty="0"/>
          </a:p>
        </p:txBody>
      </p:sp>
      <p:sp>
        <p:nvSpPr>
          <p:cNvPr id="32" name="Text 29"/>
          <p:cNvSpPr txBox="1"/>
          <p:nvPr/>
        </p:nvSpPr>
        <p:spPr>
          <a:xfrm>
            <a:off x="960120" y="2788920"/>
            <a:ext cx="2651760" cy="347472"/>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Is the benchmark independent?</a:t>
            </a:r>
            <a:endParaRPr lang="en-US" sz="950" dirty="0"/>
          </a:p>
        </p:txBody>
      </p:sp>
      <p:sp>
        <p:nvSpPr>
          <p:cNvPr id="33" name="Text 30"/>
          <p:cNvSpPr txBox="1"/>
          <p:nvPr/>
        </p:nvSpPr>
        <p:spPr>
          <a:xfrm>
            <a:off x="960120" y="3136392"/>
            <a:ext cx="2651760" cy="182880"/>
          </a:xfrm>
          <a:prstGeom prst="rect">
            <a:avLst/>
          </a:prstGeom>
          <a:noFill/>
          <a:ln/>
        </p:spPr>
        <p:txBody>
          <a:bodyPr wrap="square" lIns="0" tIns="0" rIns="0" bIns="0" rtlCol="0" anchor="t"/>
          <a:lstStyle/>
          <a:p>
            <a:pPr marL="0" indent="0">
              <a:buNone/>
            </a:pPr>
            <a:r>
              <a:rPr lang="en-US" sz="850" i="1" dirty="0">
                <a:solidFill>
                  <a:srgbClr val="5E6964"/>
                </a:solidFill>
                <a:latin typeface="Calibri" pitchFamily="34" charset="0"/>
                <a:ea typeface="Calibri" pitchFamily="34" charset="-122"/>
                <a:cs typeface="Calibri" pitchFamily="34" charset="-120"/>
              </a:rPr>
              <a:t>WorldPop uses NTL as a covariate — circularity.</a:t>
            </a:r>
            <a:endParaRPr lang="en-US" sz="850" dirty="0"/>
          </a:p>
        </p:txBody>
      </p:sp>
      <p:sp>
        <p:nvSpPr>
          <p:cNvPr id="34" name="Shape 31"/>
          <p:cNvSpPr/>
          <p:nvPr/>
        </p:nvSpPr>
        <p:spPr>
          <a:xfrm>
            <a:off x="457200" y="3566160"/>
            <a:ext cx="274320" cy="274320"/>
          </a:xfrm>
          <a:prstGeom prst="ellipse">
            <a:avLst/>
          </a:prstGeom>
          <a:solidFill>
            <a:srgbClr val="00A86A">
              <a:alpha val="22000"/>
            </a:srgbClr>
          </a:solidFill>
          <a:ln w="12700">
            <a:solidFill>
              <a:srgbClr val="00A86A">
                <a:alpha val="0"/>
              </a:srgbClr>
            </a:solidFill>
            <a:prstDash val="solid"/>
          </a:ln>
        </p:spPr>
      </p:sp>
      <p:pic>
        <p:nvPicPr>
          <p:cNvPr id="35" name="Image 0" descr="preencoded.png"/>
          <p:cNvPicPr>
            <a:picLocks noChangeAspect="1"/>
          </p:cNvPicPr>
          <p:nvPr/>
        </p:nvPicPr>
        <p:blipFill>
          <a:blip r:embed="rId3"/>
          <a:stretch>
            <a:fillRect/>
          </a:stretch>
        </p:blipFill>
        <p:spPr>
          <a:xfrm>
            <a:off x="528523" y="3637483"/>
            <a:ext cx="131674" cy="131674"/>
          </a:xfrm>
          <a:prstGeom prst="rect">
            <a:avLst/>
          </a:prstGeom>
        </p:spPr>
      </p:pic>
      <p:sp>
        <p:nvSpPr>
          <p:cNvPr id="36" name="Text 32"/>
          <p:cNvSpPr txBox="1"/>
          <p:nvPr/>
        </p:nvSpPr>
        <p:spPr>
          <a:xfrm>
            <a:off x="804672" y="3566160"/>
            <a:ext cx="3063240" cy="292608"/>
          </a:xfrm>
          <a:prstGeom prst="rect">
            <a:avLst/>
          </a:prstGeom>
          <a:noFill/>
          <a:ln/>
        </p:spPr>
        <p:txBody>
          <a:bodyPr wrap="square" lIns="0" tIns="0" rIns="0" bIns="0" rtlCol="0" anchor="ctr"/>
          <a:lstStyle/>
          <a:p>
            <a:pPr marL="0" indent="0">
              <a:buNone/>
            </a:pPr>
            <a:r>
              <a:rPr lang="en-US" sz="900" b="1" dirty="0">
                <a:solidFill>
                  <a:srgbClr val="00A86A"/>
                </a:solidFill>
                <a:latin typeface="Calibri" pitchFamily="34" charset="0"/>
                <a:ea typeface="Calibri" pitchFamily="34" charset="-122"/>
                <a:cs typeface="Calibri" pitchFamily="34" charset="-120"/>
              </a:rPr>
              <a:t>Yes to all three →  </a:t>
            </a:r>
            <a:r>
              <a:rPr lang="en-US" sz="900" dirty="0">
                <a:solidFill>
                  <a:srgbClr val="231F20"/>
                </a:solidFill>
                <a:latin typeface="Calibri" pitchFamily="34" charset="0"/>
                <a:ea typeface="Calibri" pitchFamily="34" charset="-122"/>
                <a:cs typeface="Calibri" pitchFamily="34" charset="-120"/>
              </a:rPr>
              <a:t>Experimental statistic — release with its limitations</a:t>
            </a:r>
            <a:endParaRPr lang="en-US" sz="900" dirty="0"/>
          </a:p>
        </p:txBody>
      </p:sp>
      <p:sp>
        <p:nvSpPr>
          <p:cNvPr id="37" name="Shape 33"/>
          <p:cNvSpPr/>
          <p:nvPr/>
        </p:nvSpPr>
        <p:spPr>
          <a:xfrm>
            <a:off x="457200" y="3904488"/>
            <a:ext cx="274320" cy="274320"/>
          </a:xfrm>
          <a:prstGeom prst="ellipse">
            <a:avLst/>
          </a:prstGeom>
          <a:solidFill>
            <a:srgbClr val="D49A00">
              <a:alpha val="22000"/>
            </a:srgbClr>
          </a:solidFill>
          <a:ln w="12700">
            <a:solidFill>
              <a:srgbClr val="D49A00">
                <a:alpha val="0"/>
              </a:srgbClr>
            </a:solidFill>
            <a:prstDash val="solid"/>
          </a:ln>
        </p:spPr>
      </p:sp>
      <p:pic>
        <p:nvPicPr>
          <p:cNvPr id="38" name="Image 1" descr="preencoded.png"/>
          <p:cNvPicPr>
            <a:picLocks noChangeAspect="1"/>
          </p:cNvPicPr>
          <p:nvPr/>
        </p:nvPicPr>
        <p:blipFill>
          <a:blip r:embed="rId4"/>
          <a:stretch>
            <a:fillRect/>
          </a:stretch>
        </p:blipFill>
        <p:spPr>
          <a:xfrm>
            <a:off x="528523" y="3975811"/>
            <a:ext cx="131674" cy="131674"/>
          </a:xfrm>
          <a:prstGeom prst="rect">
            <a:avLst/>
          </a:prstGeom>
        </p:spPr>
      </p:pic>
      <p:sp>
        <p:nvSpPr>
          <p:cNvPr id="39" name="Text 34"/>
          <p:cNvSpPr txBox="1"/>
          <p:nvPr/>
        </p:nvSpPr>
        <p:spPr>
          <a:xfrm>
            <a:off x="804672" y="3904488"/>
            <a:ext cx="3063240" cy="292608"/>
          </a:xfrm>
          <a:prstGeom prst="rect">
            <a:avLst/>
          </a:prstGeom>
          <a:noFill/>
          <a:ln/>
        </p:spPr>
        <p:txBody>
          <a:bodyPr wrap="square" lIns="0" tIns="0" rIns="0" bIns="0" rtlCol="0" anchor="ctr"/>
          <a:lstStyle/>
          <a:p>
            <a:pPr marL="0" indent="0">
              <a:buNone/>
            </a:pPr>
            <a:r>
              <a:rPr lang="en-US" sz="900" b="1" dirty="0">
                <a:solidFill>
                  <a:srgbClr val="D49A00"/>
                </a:solidFill>
                <a:latin typeface="Calibri" pitchFamily="34" charset="0"/>
                <a:ea typeface="Calibri" pitchFamily="34" charset="-122"/>
                <a:cs typeface="Calibri" pitchFamily="34" charset="-120"/>
              </a:rPr>
              <a:t>Partly →  </a:t>
            </a:r>
            <a:r>
              <a:rPr lang="en-US" sz="900" dirty="0">
                <a:solidFill>
                  <a:srgbClr val="231F20"/>
                </a:solidFill>
                <a:latin typeface="Calibri" pitchFamily="34" charset="0"/>
                <a:ea typeface="Calibri" pitchFamily="34" charset="-122"/>
                <a:cs typeface="Calibri" pitchFamily="34" charset="-120"/>
              </a:rPr>
              <a:t>Diagnostic tool — internal use only</a:t>
            </a:r>
            <a:endParaRPr lang="en-US" sz="900" dirty="0"/>
          </a:p>
        </p:txBody>
      </p:sp>
      <p:sp>
        <p:nvSpPr>
          <p:cNvPr id="40" name="Shape 35"/>
          <p:cNvSpPr/>
          <p:nvPr/>
        </p:nvSpPr>
        <p:spPr>
          <a:xfrm>
            <a:off x="457200" y="4242816"/>
            <a:ext cx="274320" cy="274320"/>
          </a:xfrm>
          <a:prstGeom prst="ellipse">
            <a:avLst/>
          </a:prstGeom>
          <a:solidFill>
            <a:srgbClr val="B83B2E">
              <a:alpha val="22000"/>
            </a:srgbClr>
          </a:solidFill>
          <a:ln w="12700">
            <a:solidFill>
              <a:srgbClr val="B83B2E">
                <a:alpha val="0"/>
              </a:srgbClr>
            </a:solidFill>
            <a:prstDash val="solid"/>
          </a:ln>
        </p:spPr>
      </p:sp>
      <p:pic>
        <p:nvPicPr>
          <p:cNvPr id="41" name="Image 2" descr="preencoded.png"/>
          <p:cNvPicPr>
            <a:picLocks noChangeAspect="1"/>
          </p:cNvPicPr>
          <p:nvPr/>
        </p:nvPicPr>
        <p:blipFill>
          <a:blip r:embed="rId5"/>
          <a:stretch>
            <a:fillRect/>
          </a:stretch>
        </p:blipFill>
        <p:spPr>
          <a:xfrm>
            <a:off x="528523" y="4314139"/>
            <a:ext cx="131674" cy="131674"/>
          </a:xfrm>
          <a:prstGeom prst="rect">
            <a:avLst/>
          </a:prstGeom>
        </p:spPr>
      </p:pic>
      <p:sp>
        <p:nvSpPr>
          <p:cNvPr id="42" name="Text 36"/>
          <p:cNvSpPr txBox="1"/>
          <p:nvPr/>
        </p:nvSpPr>
        <p:spPr>
          <a:xfrm>
            <a:off x="804672" y="4242816"/>
            <a:ext cx="3063240" cy="292608"/>
          </a:xfrm>
          <a:prstGeom prst="rect">
            <a:avLst/>
          </a:prstGeom>
          <a:noFill/>
          <a:ln/>
        </p:spPr>
        <p:txBody>
          <a:bodyPr wrap="square" lIns="0" tIns="0" rIns="0" bIns="0" rtlCol="0" anchor="ctr"/>
          <a:lstStyle/>
          <a:p>
            <a:pPr marL="0" indent="0">
              <a:buNone/>
            </a:pPr>
            <a:r>
              <a:rPr lang="en-US" sz="900" b="1" dirty="0">
                <a:solidFill>
                  <a:srgbClr val="B83B2E"/>
                </a:solidFill>
                <a:latin typeface="Calibri" pitchFamily="34" charset="0"/>
                <a:ea typeface="Calibri" pitchFamily="34" charset="-122"/>
                <a:cs typeface="Calibri" pitchFamily="34" charset="-120"/>
              </a:rPr>
              <a:t>No →  </a:t>
            </a:r>
            <a:r>
              <a:rPr lang="en-US" sz="900" dirty="0">
                <a:solidFill>
                  <a:srgbClr val="231F20"/>
                </a:solidFill>
                <a:latin typeface="Calibri" pitchFamily="34" charset="0"/>
                <a:ea typeface="Calibri" pitchFamily="34" charset="-122"/>
                <a:cs typeface="Calibri" pitchFamily="34" charset="-120"/>
              </a:rPr>
              <a:t>Not fit for purpose — document why</a:t>
            </a:r>
            <a:endParaRPr lang="en-US" sz="900" dirty="0"/>
          </a:p>
        </p:txBody>
      </p:sp>
      <p:sp>
        <p:nvSpPr>
          <p:cNvPr id="43" name="Shape 37"/>
          <p:cNvSpPr/>
          <p:nvPr/>
        </p:nvSpPr>
        <p:spPr>
          <a:xfrm>
            <a:off x="3931920" y="1325880"/>
            <a:ext cx="4754880" cy="3200400"/>
          </a:xfrm>
          <a:prstGeom prst="roundRect">
            <a:avLst>
              <a:gd name="adj" fmla="val 2286"/>
            </a:avLst>
          </a:prstGeom>
          <a:solidFill>
            <a:srgbClr val="E8F5EF"/>
          </a:solidFill>
          <a:ln w="15875">
            <a:solidFill>
              <a:srgbClr val="00A86A"/>
            </a:solidFill>
            <a:prstDash val="solid"/>
          </a:ln>
        </p:spPr>
      </p:sp>
      <p:sp>
        <p:nvSpPr>
          <p:cNvPr id="44" name="Shape 38"/>
          <p:cNvSpPr/>
          <p:nvPr/>
        </p:nvSpPr>
        <p:spPr>
          <a:xfrm>
            <a:off x="4041648" y="1426464"/>
            <a:ext cx="420624" cy="420624"/>
          </a:xfrm>
          <a:prstGeom prst="ellipse">
            <a:avLst/>
          </a:prstGeom>
          <a:solidFill>
            <a:srgbClr val="00A86A">
              <a:alpha val="22000"/>
            </a:srgbClr>
          </a:solidFill>
          <a:ln w="12700">
            <a:solidFill>
              <a:srgbClr val="00A86A">
                <a:alpha val="0"/>
              </a:srgbClr>
            </a:solidFill>
            <a:prstDash val="solid"/>
          </a:ln>
        </p:spPr>
      </p:sp>
      <p:pic>
        <p:nvPicPr>
          <p:cNvPr id="45" name="Image 3" descr="preencoded.png"/>
          <p:cNvPicPr>
            <a:picLocks noChangeAspect="1"/>
          </p:cNvPicPr>
          <p:nvPr/>
        </p:nvPicPr>
        <p:blipFill>
          <a:blip r:embed="rId6"/>
          <a:stretch>
            <a:fillRect/>
          </a:stretch>
        </p:blipFill>
        <p:spPr>
          <a:xfrm>
            <a:off x="4151010" y="1535826"/>
            <a:ext cx="201900" cy="201900"/>
          </a:xfrm>
          <a:prstGeom prst="rect">
            <a:avLst/>
          </a:prstGeom>
        </p:spPr>
      </p:pic>
      <p:sp>
        <p:nvSpPr>
          <p:cNvPr id="46" name="Text 39"/>
          <p:cNvSpPr txBox="1"/>
          <p:nvPr/>
        </p:nvSpPr>
        <p:spPr>
          <a:xfrm>
            <a:off x="4572000" y="1426464"/>
            <a:ext cx="4023360" cy="274320"/>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Limitations statement — template</a:t>
            </a:r>
            <a:endParaRPr lang="en-US" sz="1350" dirty="0"/>
          </a:p>
        </p:txBody>
      </p:sp>
      <p:sp>
        <p:nvSpPr>
          <p:cNvPr id="47" name="Text 40"/>
          <p:cNvSpPr txBox="1"/>
          <p:nvPr/>
        </p:nvSpPr>
        <p:spPr>
          <a:xfrm>
            <a:off x="4572000" y="1700784"/>
            <a:ext cx="402336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Part of the deliverable, posted on GitHub</a:t>
            </a:r>
            <a:endParaRPr lang="en-US" sz="900" dirty="0"/>
          </a:p>
        </p:txBody>
      </p:sp>
      <p:sp>
        <p:nvSpPr>
          <p:cNvPr id="48" name="Shape 41"/>
          <p:cNvSpPr/>
          <p:nvPr/>
        </p:nvSpPr>
        <p:spPr>
          <a:xfrm>
            <a:off x="4069080" y="2011680"/>
            <a:ext cx="4480560" cy="338328"/>
          </a:xfrm>
          <a:prstGeom prst="roundRect">
            <a:avLst>
              <a:gd name="adj" fmla="val 13514"/>
            </a:avLst>
          </a:prstGeom>
          <a:solidFill>
            <a:srgbClr val="FFFFFF"/>
          </a:solidFill>
          <a:ln w="6350">
            <a:solidFill>
              <a:srgbClr val="D5DED9"/>
            </a:solidFill>
            <a:prstDash val="solid"/>
          </a:ln>
        </p:spPr>
      </p:sp>
      <p:sp>
        <p:nvSpPr>
          <p:cNvPr id="49" name="Text 42"/>
          <p:cNvSpPr txBox="1"/>
          <p:nvPr/>
        </p:nvSpPr>
        <p:spPr>
          <a:xfrm>
            <a:off x="4160520" y="2011680"/>
            <a:ext cx="1371600" cy="338328"/>
          </a:xfrm>
          <a:prstGeom prst="rect">
            <a:avLst/>
          </a:prstGeom>
          <a:noFill/>
          <a:ln/>
        </p:spPr>
        <p:txBody>
          <a:bodyPr wrap="square" lIns="0" tIns="0" rIns="0" bIns="0" rtlCol="0" anchor="ctr"/>
          <a:lstStyle/>
          <a:p>
            <a:pPr marL="0" indent="0">
              <a:buNone/>
            </a:pPr>
            <a:r>
              <a:rPr lang="en-US" sz="900" b="1" dirty="0">
                <a:solidFill>
                  <a:srgbClr val="00704A"/>
                </a:solidFill>
                <a:latin typeface="Calibri" pitchFamily="34" charset="0"/>
                <a:ea typeface="Calibri" pitchFamily="34" charset="-122"/>
                <a:cs typeface="Calibri" pitchFamily="34" charset="-120"/>
              </a:rPr>
              <a:t>Data</a:t>
            </a:r>
            <a:endParaRPr lang="en-US" sz="900" dirty="0"/>
          </a:p>
        </p:txBody>
      </p:sp>
      <p:sp>
        <p:nvSpPr>
          <p:cNvPr id="50" name="Text 43"/>
          <p:cNvSpPr txBox="1"/>
          <p:nvPr/>
        </p:nvSpPr>
        <p:spPr>
          <a:xfrm>
            <a:off x="5532120" y="2011680"/>
            <a:ext cx="2971800" cy="338328"/>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Product, collection version, period, frequency</a:t>
            </a:r>
            <a:endParaRPr lang="en-US" sz="900" dirty="0"/>
          </a:p>
        </p:txBody>
      </p:sp>
      <p:sp>
        <p:nvSpPr>
          <p:cNvPr id="51" name="Shape 44"/>
          <p:cNvSpPr/>
          <p:nvPr/>
        </p:nvSpPr>
        <p:spPr>
          <a:xfrm>
            <a:off x="4069080" y="2414016"/>
            <a:ext cx="4480560" cy="338328"/>
          </a:xfrm>
          <a:prstGeom prst="roundRect">
            <a:avLst>
              <a:gd name="adj" fmla="val 13514"/>
            </a:avLst>
          </a:prstGeom>
          <a:solidFill>
            <a:srgbClr val="FFFFFF"/>
          </a:solidFill>
          <a:ln w="6350">
            <a:solidFill>
              <a:srgbClr val="D5DED9"/>
            </a:solidFill>
            <a:prstDash val="solid"/>
          </a:ln>
        </p:spPr>
      </p:sp>
      <p:sp>
        <p:nvSpPr>
          <p:cNvPr id="52" name="Text 45"/>
          <p:cNvSpPr txBox="1"/>
          <p:nvPr/>
        </p:nvSpPr>
        <p:spPr>
          <a:xfrm>
            <a:off x="4160520" y="2414016"/>
            <a:ext cx="1371600" cy="338328"/>
          </a:xfrm>
          <a:prstGeom prst="rect">
            <a:avLst/>
          </a:prstGeom>
          <a:noFill/>
          <a:ln/>
        </p:spPr>
        <p:txBody>
          <a:bodyPr wrap="square" lIns="0" tIns="0" rIns="0" bIns="0" rtlCol="0" anchor="ctr"/>
          <a:lstStyle/>
          <a:p>
            <a:pPr marL="0" indent="0">
              <a:buNone/>
            </a:pPr>
            <a:r>
              <a:rPr lang="en-US" sz="900" b="1" dirty="0">
                <a:solidFill>
                  <a:srgbClr val="00704A"/>
                </a:solidFill>
                <a:latin typeface="Calibri" pitchFamily="34" charset="0"/>
                <a:ea typeface="Calibri" pitchFamily="34" charset="-122"/>
                <a:cs typeface="Calibri" pitchFamily="34" charset="-120"/>
              </a:rPr>
              <a:t>Choices</a:t>
            </a:r>
            <a:endParaRPr lang="en-US" sz="900" dirty="0"/>
          </a:p>
        </p:txBody>
      </p:sp>
      <p:sp>
        <p:nvSpPr>
          <p:cNvPr id="53" name="Text 46"/>
          <p:cNvSpPr txBox="1"/>
          <p:nvPr/>
        </p:nvSpPr>
        <p:spPr>
          <a:xfrm>
            <a:off x="5532120" y="2414016"/>
            <a:ext cx="2971800" cy="338328"/>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Boundaries, radiance threshold, masks applied</a:t>
            </a:r>
            <a:endParaRPr lang="en-US" sz="900" dirty="0"/>
          </a:p>
        </p:txBody>
      </p:sp>
      <p:sp>
        <p:nvSpPr>
          <p:cNvPr id="54" name="Shape 47"/>
          <p:cNvSpPr/>
          <p:nvPr/>
        </p:nvSpPr>
        <p:spPr>
          <a:xfrm>
            <a:off x="4069080" y="2816352"/>
            <a:ext cx="4480560" cy="338328"/>
          </a:xfrm>
          <a:prstGeom prst="roundRect">
            <a:avLst>
              <a:gd name="adj" fmla="val 13514"/>
            </a:avLst>
          </a:prstGeom>
          <a:solidFill>
            <a:srgbClr val="FFFFFF"/>
          </a:solidFill>
          <a:ln w="6350">
            <a:solidFill>
              <a:srgbClr val="D5DED9"/>
            </a:solidFill>
            <a:prstDash val="solid"/>
          </a:ln>
        </p:spPr>
      </p:sp>
      <p:sp>
        <p:nvSpPr>
          <p:cNvPr id="55" name="Text 48"/>
          <p:cNvSpPr txBox="1"/>
          <p:nvPr/>
        </p:nvSpPr>
        <p:spPr>
          <a:xfrm>
            <a:off x="4160520" y="2816352"/>
            <a:ext cx="1371600" cy="338328"/>
          </a:xfrm>
          <a:prstGeom prst="rect">
            <a:avLst/>
          </a:prstGeom>
          <a:noFill/>
          <a:ln/>
        </p:spPr>
        <p:txBody>
          <a:bodyPr wrap="square" lIns="0" tIns="0" rIns="0" bIns="0" rtlCol="0" anchor="ctr"/>
          <a:lstStyle/>
          <a:p>
            <a:pPr marL="0" indent="0">
              <a:buNone/>
            </a:pPr>
            <a:r>
              <a:rPr lang="en-US" sz="900" b="1" dirty="0">
                <a:solidFill>
                  <a:srgbClr val="00704A"/>
                </a:solidFill>
                <a:latin typeface="Calibri" pitchFamily="34" charset="0"/>
                <a:ea typeface="Calibri" pitchFamily="34" charset="-122"/>
                <a:cs typeface="Calibri" pitchFamily="34" charset="-120"/>
              </a:rPr>
              <a:t>Artefacts</a:t>
            </a:r>
            <a:endParaRPr lang="en-US" sz="900" dirty="0"/>
          </a:p>
        </p:txBody>
      </p:sp>
      <p:sp>
        <p:nvSpPr>
          <p:cNvPr id="56" name="Text 49"/>
          <p:cNvSpPr txBox="1"/>
          <p:nvPr/>
        </p:nvSpPr>
        <p:spPr>
          <a:xfrm>
            <a:off x="5532120" y="2816352"/>
            <a:ext cx="2971800" cy="338328"/>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Which of the six were found, where, what treatment</a:t>
            </a:r>
            <a:endParaRPr lang="en-US" sz="900" dirty="0"/>
          </a:p>
        </p:txBody>
      </p:sp>
      <p:sp>
        <p:nvSpPr>
          <p:cNvPr id="57" name="Shape 50"/>
          <p:cNvSpPr/>
          <p:nvPr/>
        </p:nvSpPr>
        <p:spPr>
          <a:xfrm>
            <a:off x="4069080" y="3218688"/>
            <a:ext cx="4480560" cy="338328"/>
          </a:xfrm>
          <a:prstGeom prst="roundRect">
            <a:avLst>
              <a:gd name="adj" fmla="val 13514"/>
            </a:avLst>
          </a:prstGeom>
          <a:solidFill>
            <a:srgbClr val="FFFFFF"/>
          </a:solidFill>
          <a:ln w="6350">
            <a:solidFill>
              <a:srgbClr val="D5DED9"/>
            </a:solidFill>
            <a:prstDash val="solid"/>
          </a:ln>
        </p:spPr>
      </p:sp>
      <p:sp>
        <p:nvSpPr>
          <p:cNvPr id="58" name="Text 51"/>
          <p:cNvSpPr txBox="1"/>
          <p:nvPr/>
        </p:nvSpPr>
        <p:spPr>
          <a:xfrm>
            <a:off x="4160520" y="3218688"/>
            <a:ext cx="1371600" cy="338328"/>
          </a:xfrm>
          <a:prstGeom prst="rect">
            <a:avLst/>
          </a:prstGeom>
          <a:noFill/>
          <a:ln/>
        </p:spPr>
        <p:txBody>
          <a:bodyPr wrap="square" lIns="0" tIns="0" rIns="0" bIns="0" rtlCol="0" anchor="ctr"/>
          <a:lstStyle/>
          <a:p>
            <a:pPr marL="0" indent="0">
              <a:buNone/>
            </a:pPr>
            <a:r>
              <a:rPr lang="en-US" sz="900" b="1" dirty="0">
                <a:solidFill>
                  <a:srgbClr val="00704A"/>
                </a:solidFill>
                <a:latin typeface="Calibri" pitchFamily="34" charset="0"/>
                <a:ea typeface="Calibri" pitchFamily="34" charset="-122"/>
                <a:cs typeface="Calibri" pitchFamily="34" charset="-120"/>
              </a:rPr>
              <a:t>Validation</a:t>
            </a:r>
            <a:endParaRPr lang="en-US" sz="900" dirty="0"/>
          </a:p>
        </p:txBody>
      </p:sp>
      <p:sp>
        <p:nvSpPr>
          <p:cNvPr id="59" name="Text 52"/>
          <p:cNvSpPr txBox="1"/>
          <p:nvPr/>
        </p:nvSpPr>
        <p:spPr>
          <a:xfrm>
            <a:off x="5532120" y="3218688"/>
            <a:ext cx="2971800" cy="338328"/>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Benchmark, year, number of units, strength of the relationship</a:t>
            </a:r>
            <a:endParaRPr lang="en-US" sz="900" dirty="0"/>
          </a:p>
        </p:txBody>
      </p:sp>
      <p:sp>
        <p:nvSpPr>
          <p:cNvPr id="60" name="Shape 53"/>
          <p:cNvSpPr/>
          <p:nvPr/>
        </p:nvSpPr>
        <p:spPr>
          <a:xfrm>
            <a:off x="4069080" y="3621024"/>
            <a:ext cx="4480560" cy="338328"/>
          </a:xfrm>
          <a:prstGeom prst="roundRect">
            <a:avLst>
              <a:gd name="adj" fmla="val 13514"/>
            </a:avLst>
          </a:prstGeom>
          <a:solidFill>
            <a:srgbClr val="FFFFFF"/>
          </a:solidFill>
          <a:ln w="6350">
            <a:solidFill>
              <a:srgbClr val="D5DED9"/>
            </a:solidFill>
            <a:prstDash val="solid"/>
          </a:ln>
        </p:spPr>
      </p:sp>
      <p:sp>
        <p:nvSpPr>
          <p:cNvPr id="61" name="Text 54"/>
          <p:cNvSpPr txBox="1"/>
          <p:nvPr/>
        </p:nvSpPr>
        <p:spPr>
          <a:xfrm>
            <a:off x="4160520" y="3621024"/>
            <a:ext cx="1371600" cy="338328"/>
          </a:xfrm>
          <a:prstGeom prst="rect">
            <a:avLst/>
          </a:prstGeom>
          <a:noFill/>
          <a:ln/>
        </p:spPr>
        <p:txBody>
          <a:bodyPr wrap="square" lIns="0" tIns="0" rIns="0" bIns="0" rtlCol="0" anchor="ctr"/>
          <a:lstStyle/>
          <a:p>
            <a:pPr marL="0" indent="0">
              <a:buNone/>
            </a:pPr>
            <a:r>
              <a:rPr lang="en-US" sz="900" b="1" dirty="0">
                <a:solidFill>
                  <a:srgbClr val="00704A"/>
                </a:solidFill>
                <a:latin typeface="Calibri" pitchFamily="34" charset="0"/>
                <a:ea typeface="Calibri" pitchFamily="34" charset="-122"/>
                <a:cs typeface="Calibri" pitchFamily="34" charset="-120"/>
              </a:rPr>
              <a:t>Decision</a:t>
            </a:r>
            <a:endParaRPr lang="en-US" sz="900" dirty="0"/>
          </a:p>
        </p:txBody>
      </p:sp>
      <p:sp>
        <p:nvSpPr>
          <p:cNvPr id="62" name="Text 55"/>
          <p:cNvSpPr txBox="1"/>
          <p:nvPr/>
        </p:nvSpPr>
        <p:spPr>
          <a:xfrm>
            <a:off x="5532120" y="3621024"/>
            <a:ext cx="2971800" cy="338328"/>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Experimental, diagnostic or not fit — and why</a:t>
            </a:r>
            <a:endParaRPr lang="en-US" sz="900" dirty="0"/>
          </a:p>
        </p:txBody>
      </p:sp>
      <p:sp>
        <p:nvSpPr>
          <p:cNvPr id="63" name="Shape 56"/>
          <p:cNvSpPr/>
          <p:nvPr/>
        </p:nvSpPr>
        <p:spPr>
          <a:xfrm>
            <a:off x="4069080" y="4023360"/>
            <a:ext cx="4480560" cy="338328"/>
          </a:xfrm>
          <a:prstGeom prst="roundRect">
            <a:avLst>
              <a:gd name="adj" fmla="val 13514"/>
            </a:avLst>
          </a:prstGeom>
          <a:solidFill>
            <a:srgbClr val="FFFFFF"/>
          </a:solidFill>
          <a:ln w="6350">
            <a:solidFill>
              <a:srgbClr val="D5DED9"/>
            </a:solidFill>
            <a:prstDash val="solid"/>
          </a:ln>
        </p:spPr>
      </p:sp>
      <p:sp>
        <p:nvSpPr>
          <p:cNvPr id="64" name="Text 57"/>
          <p:cNvSpPr txBox="1"/>
          <p:nvPr/>
        </p:nvSpPr>
        <p:spPr>
          <a:xfrm>
            <a:off x="4160520" y="4023360"/>
            <a:ext cx="1371600" cy="338328"/>
          </a:xfrm>
          <a:prstGeom prst="rect">
            <a:avLst/>
          </a:prstGeom>
          <a:noFill/>
          <a:ln/>
        </p:spPr>
        <p:txBody>
          <a:bodyPr wrap="square" lIns="0" tIns="0" rIns="0" bIns="0" rtlCol="0" anchor="ctr"/>
          <a:lstStyle/>
          <a:p>
            <a:pPr marL="0" indent="0">
              <a:buNone/>
            </a:pPr>
            <a:r>
              <a:rPr lang="en-US" sz="900" b="1" dirty="0">
                <a:solidFill>
                  <a:srgbClr val="B83B2E"/>
                </a:solidFill>
                <a:latin typeface="Calibri" pitchFamily="34" charset="0"/>
                <a:ea typeface="Calibri" pitchFamily="34" charset="-122"/>
                <a:cs typeface="Calibri" pitchFamily="34" charset="-120"/>
              </a:rPr>
              <a:t>Not to be used for</a:t>
            </a:r>
            <a:endParaRPr lang="en-US" sz="900" dirty="0"/>
          </a:p>
        </p:txBody>
      </p:sp>
      <p:sp>
        <p:nvSpPr>
          <p:cNvPr id="65" name="Text 58"/>
          <p:cNvSpPr txBox="1"/>
          <p:nvPr/>
        </p:nvSpPr>
        <p:spPr>
          <a:xfrm>
            <a:off x="5532120" y="4023360"/>
            <a:ext cx="2971800" cy="338328"/>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e.g. household income, population of small settlements</a:t>
            </a:r>
            <a:endParaRPr lang="en-US" sz="900" dirty="0"/>
          </a:p>
        </p:txBody>
      </p:sp>
      <p:sp>
        <p:nvSpPr>
          <p:cNvPr id="66" name="Text 59"/>
          <p:cNvSpPr txBox="1"/>
          <p:nvPr/>
        </p:nvSpPr>
        <p:spPr>
          <a:xfrm>
            <a:off x="457200" y="4617720"/>
            <a:ext cx="73152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Indicative guide — adapt to your national quality assurance framework. Circularity: see Falchetta et al. (2019), Scientific Data.</a:t>
            </a:r>
            <a:endParaRPr lang="en-US" sz="90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FROM LECTURE TO LAB · GOOD PRACTICE</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Checklist for a sound analysis</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B83B2E"/>
          </a:solidFill>
          <a:ln w="12700">
            <a:solidFill>
              <a:srgbClr val="B83B2E"/>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29</a:t>
            </a:r>
            <a:endParaRPr lang="en-US" sz="850" dirty="0"/>
          </a:p>
        </p:txBody>
      </p:sp>
      <p:sp>
        <p:nvSpPr>
          <p:cNvPr id="17" name="Shape 14"/>
          <p:cNvSpPr/>
          <p:nvPr/>
        </p:nvSpPr>
        <p:spPr>
          <a:xfrm>
            <a:off x="457200" y="1325880"/>
            <a:ext cx="2606040" cy="566928"/>
          </a:xfrm>
          <a:prstGeom prst="roundRect">
            <a:avLst>
              <a:gd name="adj" fmla="val 12903"/>
            </a:avLst>
          </a:prstGeom>
          <a:solidFill>
            <a:srgbClr val="F4F7F5"/>
          </a:solidFill>
          <a:ln w="9525">
            <a:solidFill>
              <a:srgbClr val="D5DED9"/>
            </a:solidFill>
            <a:prstDash val="solid"/>
          </a:ln>
        </p:spPr>
      </p:sp>
      <p:sp>
        <p:nvSpPr>
          <p:cNvPr id="18" name="Shape 15"/>
          <p:cNvSpPr/>
          <p:nvPr/>
        </p:nvSpPr>
        <p:spPr>
          <a:xfrm>
            <a:off x="548640" y="1463040"/>
            <a:ext cx="292608" cy="292608"/>
          </a:xfrm>
          <a:prstGeom prst="ellipse">
            <a:avLst/>
          </a:prstGeom>
          <a:solidFill>
            <a:srgbClr val="B83B2E"/>
          </a:solidFill>
          <a:ln w="12700">
            <a:solidFill>
              <a:srgbClr val="B83B2E"/>
            </a:solidFill>
            <a:prstDash val="solid"/>
          </a:ln>
        </p:spPr>
      </p:sp>
      <p:sp>
        <p:nvSpPr>
          <p:cNvPr id="19" name="Text 16"/>
          <p:cNvSpPr txBox="1"/>
          <p:nvPr/>
        </p:nvSpPr>
        <p:spPr>
          <a:xfrm>
            <a:off x="548640" y="146304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32688" y="1371600"/>
            <a:ext cx="2057400"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Name the product and version</a:t>
            </a:r>
            <a:endParaRPr lang="en-US" sz="1050" dirty="0"/>
          </a:p>
        </p:txBody>
      </p:sp>
      <p:sp>
        <p:nvSpPr>
          <p:cNvPr id="21" name="Text 18"/>
          <p:cNvSpPr txBox="1"/>
          <p:nvPr/>
        </p:nvSpPr>
        <p:spPr>
          <a:xfrm>
            <a:off x="932688" y="1581912"/>
            <a:ext cx="2075688" cy="29260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VNP46A4 v2, VNL V2.x — they are not interchangeable.</a:t>
            </a:r>
            <a:endParaRPr lang="en-US" sz="850" dirty="0"/>
          </a:p>
        </p:txBody>
      </p:sp>
      <p:sp>
        <p:nvSpPr>
          <p:cNvPr id="22" name="Shape 19"/>
          <p:cNvSpPr/>
          <p:nvPr/>
        </p:nvSpPr>
        <p:spPr>
          <a:xfrm>
            <a:off x="3200400" y="1325880"/>
            <a:ext cx="2606040" cy="566928"/>
          </a:xfrm>
          <a:prstGeom prst="roundRect">
            <a:avLst>
              <a:gd name="adj" fmla="val 12903"/>
            </a:avLst>
          </a:prstGeom>
          <a:solidFill>
            <a:srgbClr val="F4F7F5"/>
          </a:solidFill>
          <a:ln w="9525">
            <a:solidFill>
              <a:srgbClr val="D5DED9"/>
            </a:solidFill>
            <a:prstDash val="solid"/>
          </a:ln>
        </p:spPr>
      </p:sp>
      <p:sp>
        <p:nvSpPr>
          <p:cNvPr id="23" name="Shape 20"/>
          <p:cNvSpPr/>
          <p:nvPr/>
        </p:nvSpPr>
        <p:spPr>
          <a:xfrm>
            <a:off x="3291840" y="1463040"/>
            <a:ext cx="292608" cy="292608"/>
          </a:xfrm>
          <a:prstGeom prst="ellipse">
            <a:avLst/>
          </a:prstGeom>
          <a:solidFill>
            <a:srgbClr val="C4621D"/>
          </a:solidFill>
          <a:ln w="12700">
            <a:solidFill>
              <a:srgbClr val="C4621D"/>
            </a:solidFill>
            <a:prstDash val="solid"/>
          </a:ln>
        </p:spPr>
      </p:sp>
      <p:sp>
        <p:nvSpPr>
          <p:cNvPr id="24" name="Text 21"/>
          <p:cNvSpPr txBox="1"/>
          <p:nvPr/>
        </p:nvSpPr>
        <p:spPr>
          <a:xfrm>
            <a:off x="3291840" y="146304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5" name="Text 22"/>
          <p:cNvSpPr txBox="1"/>
          <p:nvPr/>
        </p:nvSpPr>
        <p:spPr>
          <a:xfrm>
            <a:off x="3675888" y="1371600"/>
            <a:ext cx="2057400"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Don’t splice naively</a:t>
            </a:r>
            <a:endParaRPr lang="en-US" sz="1050" dirty="0"/>
          </a:p>
        </p:txBody>
      </p:sp>
      <p:sp>
        <p:nvSpPr>
          <p:cNvPr id="26" name="Text 23"/>
          <p:cNvSpPr txBox="1"/>
          <p:nvPr/>
        </p:nvSpPr>
        <p:spPr>
          <a:xfrm>
            <a:off x="3675888" y="1581912"/>
            <a:ext cx="2075688" cy="29260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Any DMSP–VIIRS series needs a documented harmonisation.</a:t>
            </a:r>
            <a:endParaRPr lang="en-US" sz="850" dirty="0"/>
          </a:p>
        </p:txBody>
      </p:sp>
      <p:sp>
        <p:nvSpPr>
          <p:cNvPr id="27" name="Shape 24"/>
          <p:cNvSpPr/>
          <p:nvPr/>
        </p:nvSpPr>
        <p:spPr>
          <a:xfrm>
            <a:off x="457200" y="1984248"/>
            <a:ext cx="2606040" cy="566928"/>
          </a:xfrm>
          <a:prstGeom prst="roundRect">
            <a:avLst>
              <a:gd name="adj" fmla="val 12903"/>
            </a:avLst>
          </a:prstGeom>
          <a:solidFill>
            <a:srgbClr val="F4F7F5"/>
          </a:solidFill>
          <a:ln w="9525">
            <a:solidFill>
              <a:srgbClr val="D5DED9"/>
            </a:solidFill>
            <a:prstDash val="solid"/>
          </a:ln>
        </p:spPr>
      </p:sp>
      <p:sp>
        <p:nvSpPr>
          <p:cNvPr id="28" name="Shape 25"/>
          <p:cNvSpPr/>
          <p:nvPr/>
        </p:nvSpPr>
        <p:spPr>
          <a:xfrm>
            <a:off x="548640" y="2121408"/>
            <a:ext cx="292608" cy="292608"/>
          </a:xfrm>
          <a:prstGeom prst="ellipse">
            <a:avLst/>
          </a:prstGeom>
          <a:solidFill>
            <a:srgbClr val="B83B2E"/>
          </a:solidFill>
          <a:ln w="12700">
            <a:solidFill>
              <a:srgbClr val="B83B2E"/>
            </a:solidFill>
            <a:prstDash val="solid"/>
          </a:ln>
        </p:spPr>
      </p:sp>
      <p:sp>
        <p:nvSpPr>
          <p:cNvPr id="29" name="Text 26"/>
          <p:cNvSpPr txBox="1"/>
          <p:nvPr/>
        </p:nvSpPr>
        <p:spPr>
          <a:xfrm>
            <a:off x="548640" y="212140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0" name="Text 27"/>
          <p:cNvSpPr txBox="1"/>
          <p:nvPr/>
        </p:nvSpPr>
        <p:spPr>
          <a:xfrm>
            <a:off x="932688" y="2029968"/>
            <a:ext cx="2057400"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State and test the threshold</a:t>
            </a:r>
            <a:endParaRPr lang="en-US" sz="1050" dirty="0"/>
          </a:p>
        </p:txBody>
      </p:sp>
      <p:sp>
        <p:nvSpPr>
          <p:cNvPr id="31" name="Text 28"/>
          <p:cNvSpPr txBox="1"/>
          <p:nvPr/>
        </p:nvSpPr>
        <p:spPr>
          <a:xfrm>
            <a:off x="932688" y="2240280"/>
            <a:ext cx="2075688" cy="29260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Show that the result holds over a reasonable range.</a:t>
            </a:r>
            <a:endParaRPr lang="en-US" sz="850" dirty="0"/>
          </a:p>
        </p:txBody>
      </p:sp>
      <p:sp>
        <p:nvSpPr>
          <p:cNvPr id="32" name="Shape 29"/>
          <p:cNvSpPr/>
          <p:nvPr/>
        </p:nvSpPr>
        <p:spPr>
          <a:xfrm>
            <a:off x="3200400" y="1984248"/>
            <a:ext cx="2606040" cy="566928"/>
          </a:xfrm>
          <a:prstGeom prst="roundRect">
            <a:avLst>
              <a:gd name="adj" fmla="val 12903"/>
            </a:avLst>
          </a:prstGeom>
          <a:solidFill>
            <a:srgbClr val="F4F7F5"/>
          </a:solidFill>
          <a:ln w="9525">
            <a:solidFill>
              <a:srgbClr val="D5DED9"/>
            </a:solidFill>
            <a:prstDash val="solid"/>
          </a:ln>
        </p:spPr>
      </p:sp>
      <p:sp>
        <p:nvSpPr>
          <p:cNvPr id="33" name="Shape 30"/>
          <p:cNvSpPr/>
          <p:nvPr/>
        </p:nvSpPr>
        <p:spPr>
          <a:xfrm>
            <a:off x="3291840" y="2121408"/>
            <a:ext cx="292608" cy="292608"/>
          </a:xfrm>
          <a:prstGeom prst="ellipse">
            <a:avLst/>
          </a:prstGeom>
          <a:solidFill>
            <a:srgbClr val="C4621D"/>
          </a:solidFill>
          <a:ln w="12700">
            <a:solidFill>
              <a:srgbClr val="C4621D"/>
            </a:solidFill>
            <a:prstDash val="solid"/>
          </a:ln>
        </p:spPr>
      </p:sp>
      <p:sp>
        <p:nvSpPr>
          <p:cNvPr id="34" name="Text 31"/>
          <p:cNvSpPr txBox="1"/>
          <p:nvPr/>
        </p:nvSpPr>
        <p:spPr>
          <a:xfrm>
            <a:off x="3291840" y="212140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5" name="Text 32"/>
          <p:cNvSpPr txBox="1"/>
          <p:nvPr/>
        </p:nvSpPr>
        <p:spPr>
          <a:xfrm>
            <a:off x="3675888" y="2029968"/>
            <a:ext cx="2057400"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Mask what you are not studying</a:t>
            </a:r>
            <a:endParaRPr lang="en-US" sz="1050" dirty="0"/>
          </a:p>
        </p:txBody>
      </p:sp>
      <p:sp>
        <p:nvSpPr>
          <p:cNvPr id="36" name="Text 33"/>
          <p:cNvSpPr txBox="1"/>
          <p:nvPr/>
        </p:nvSpPr>
        <p:spPr>
          <a:xfrm>
            <a:off x="3675888" y="2240280"/>
            <a:ext cx="2075688" cy="29260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Background noise, gas flares, light fishing, fires.</a:t>
            </a:r>
            <a:endParaRPr lang="en-US" sz="850" dirty="0"/>
          </a:p>
        </p:txBody>
      </p:sp>
      <p:sp>
        <p:nvSpPr>
          <p:cNvPr id="37" name="Shape 34"/>
          <p:cNvSpPr/>
          <p:nvPr/>
        </p:nvSpPr>
        <p:spPr>
          <a:xfrm>
            <a:off x="457200" y="2642616"/>
            <a:ext cx="2606040" cy="566928"/>
          </a:xfrm>
          <a:prstGeom prst="roundRect">
            <a:avLst>
              <a:gd name="adj" fmla="val 12903"/>
            </a:avLst>
          </a:prstGeom>
          <a:solidFill>
            <a:srgbClr val="F4F7F5"/>
          </a:solidFill>
          <a:ln w="9525">
            <a:solidFill>
              <a:srgbClr val="D5DED9"/>
            </a:solidFill>
            <a:prstDash val="solid"/>
          </a:ln>
        </p:spPr>
      </p:sp>
      <p:sp>
        <p:nvSpPr>
          <p:cNvPr id="38" name="Shape 35"/>
          <p:cNvSpPr/>
          <p:nvPr/>
        </p:nvSpPr>
        <p:spPr>
          <a:xfrm>
            <a:off x="548640" y="2779776"/>
            <a:ext cx="292608" cy="292608"/>
          </a:xfrm>
          <a:prstGeom prst="ellipse">
            <a:avLst/>
          </a:prstGeom>
          <a:solidFill>
            <a:srgbClr val="B83B2E"/>
          </a:solidFill>
          <a:ln w="12700">
            <a:solidFill>
              <a:srgbClr val="B83B2E"/>
            </a:solidFill>
            <a:prstDash val="solid"/>
          </a:ln>
        </p:spPr>
      </p:sp>
      <p:sp>
        <p:nvSpPr>
          <p:cNvPr id="39" name="Text 36"/>
          <p:cNvSpPr txBox="1"/>
          <p:nvPr/>
        </p:nvSpPr>
        <p:spPr>
          <a:xfrm>
            <a:off x="548640" y="277977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0" name="Text 37"/>
          <p:cNvSpPr txBox="1"/>
          <p:nvPr/>
        </p:nvSpPr>
        <p:spPr>
          <a:xfrm>
            <a:off x="932688" y="2688336"/>
            <a:ext cx="2057400"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Normalise on purpose</a:t>
            </a:r>
            <a:endParaRPr lang="en-US" sz="1050" dirty="0"/>
          </a:p>
        </p:txBody>
      </p:sp>
      <p:sp>
        <p:nvSpPr>
          <p:cNvPr id="41" name="Text 38"/>
          <p:cNvSpPr txBox="1"/>
          <p:nvPr/>
        </p:nvSpPr>
        <p:spPr>
          <a:xfrm>
            <a:off x="932688" y="2898648"/>
            <a:ext cx="2075688" cy="29260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Per capita, per km², or not — say so and justify it.</a:t>
            </a:r>
            <a:endParaRPr lang="en-US" sz="850" dirty="0"/>
          </a:p>
        </p:txBody>
      </p:sp>
      <p:sp>
        <p:nvSpPr>
          <p:cNvPr id="42" name="Shape 39"/>
          <p:cNvSpPr/>
          <p:nvPr/>
        </p:nvSpPr>
        <p:spPr>
          <a:xfrm>
            <a:off x="3200400" y="2642616"/>
            <a:ext cx="2606040" cy="566928"/>
          </a:xfrm>
          <a:prstGeom prst="roundRect">
            <a:avLst>
              <a:gd name="adj" fmla="val 12903"/>
            </a:avLst>
          </a:prstGeom>
          <a:solidFill>
            <a:srgbClr val="F4F7F5"/>
          </a:solidFill>
          <a:ln w="9525">
            <a:solidFill>
              <a:srgbClr val="D5DED9"/>
            </a:solidFill>
            <a:prstDash val="solid"/>
          </a:ln>
        </p:spPr>
      </p:sp>
      <p:sp>
        <p:nvSpPr>
          <p:cNvPr id="43" name="Shape 40"/>
          <p:cNvSpPr/>
          <p:nvPr/>
        </p:nvSpPr>
        <p:spPr>
          <a:xfrm>
            <a:off x="3291840" y="2779776"/>
            <a:ext cx="292608" cy="292608"/>
          </a:xfrm>
          <a:prstGeom prst="ellipse">
            <a:avLst/>
          </a:prstGeom>
          <a:solidFill>
            <a:srgbClr val="C4621D"/>
          </a:solidFill>
          <a:ln w="12700">
            <a:solidFill>
              <a:srgbClr val="C4621D"/>
            </a:solidFill>
            <a:prstDash val="solid"/>
          </a:ln>
        </p:spPr>
      </p:sp>
      <p:sp>
        <p:nvSpPr>
          <p:cNvPr id="44" name="Text 41"/>
          <p:cNvSpPr txBox="1"/>
          <p:nvPr/>
        </p:nvSpPr>
        <p:spPr>
          <a:xfrm>
            <a:off x="3291840" y="277977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5" name="Text 42"/>
          <p:cNvSpPr txBox="1"/>
          <p:nvPr/>
        </p:nvSpPr>
        <p:spPr>
          <a:xfrm>
            <a:off x="3675888" y="2688336"/>
            <a:ext cx="2057400"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Validate on the ground</a:t>
            </a:r>
            <a:endParaRPr lang="en-US" sz="1050" dirty="0"/>
          </a:p>
        </p:txBody>
      </p:sp>
      <p:sp>
        <p:nvSpPr>
          <p:cNvPr id="46" name="Text 43"/>
          <p:cNvSpPr txBox="1"/>
          <p:nvPr/>
        </p:nvSpPr>
        <p:spPr>
          <a:xfrm>
            <a:off x="3675888" y="2898648"/>
            <a:ext cx="2075688" cy="29260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Census, surveys, utility data — independent sources.</a:t>
            </a:r>
            <a:endParaRPr lang="en-US" sz="850" dirty="0"/>
          </a:p>
        </p:txBody>
      </p:sp>
      <p:sp>
        <p:nvSpPr>
          <p:cNvPr id="47" name="Shape 44"/>
          <p:cNvSpPr/>
          <p:nvPr/>
        </p:nvSpPr>
        <p:spPr>
          <a:xfrm>
            <a:off x="457200" y="3300984"/>
            <a:ext cx="2606040" cy="566928"/>
          </a:xfrm>
          <a:prstGeom prst="roundRect">
            <a:avLst>
              <a:gd name="adj" fmla="val 12903"/>
            </a:avLst>
          </a:prstGeom>
          <a:solidFill>
            <a:srgbClr val="F4F7F5"/>
          </a:solidFill>
          <a:ln w="9525">
            <a:solidFill>
              <a:srgbClr val="D5DED9"/>
            </a:solidFill>
            <a:prstDash val="solid"/>
          </a:ln>
        </p:spPr>
      </p:sp>
      <p:sp>
        <p:nvSpPr>
          <p:cNvPr id="48" name="Shape 45"/>
          <p:cNvSpPr/>
          <p:nvPr/>
        </p:nvSpPr>
        <p:spPr>
          <a:xfrm>
            <a:off x="548640" y="3438144"/>
            <a:ext cx="292608" cy="292608"/>
          </a:xfrm>
          <a:prstGeom prst="ellipse">
            <a:avLst/>
          </a:prstGeom>
          <a:solidFill>
            <a:srgbClr val="B83B2E"/>
          </a:solidFill>
          <a:ln w="12700">
            <a:solidFill>
              <a:srgbClr val="B83B2E"/>
            </a:solidFill>
            <a:prstDash val="solid"/>
          </a:ln>
        </p:spPr>
      </p:sp>
      <p:sp>
        <p:nvSpPr>
          <p:cNvPr id="49" name="Text 46"/>
          <p:cNvSpPr txBox="1"/>
          <p:nvPr/>
        </p:nvSpPr>
        <p:spPr>
          <a:xfrm>
            <a:off x="548640" y="343814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0" name="Text 47"/>
          <p:cNvSpPr txBox="1"/>
          <p:nvPr/>
        </p:nvSpPr>
        <p:spPr>
          <a:xfrm>
            <a:off x="932688" y="3346704"/>
            <a:ext cx="2057400"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Prefer changes over levels</a:t>
            </a:r>
            <a:endParaRPr lang="en-US" sz="1050" dirty="0"/>
          </a:p>
        </p:txBody>
      </p:sp>
      <p:sp>
        <p:nvSpPr>
          <p:cNvPr id="51" name="Text 48"/>
          <p:cNvSpPr txBox="1"/>
          <p:nvPr/>
        </p:nvSpPr>
        <p:spPr>
          <a:xfrm>
            <a:off x="932688" y="3557016"/>
            <a:ext cx="2075688" cy="29260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Differences cancel out much of the calibration error.</a:t>
            </a:r>
            <a:endParaRPr lang="en-US" sz="850" dirty="0"/>
          </a:p>
        </p:txBody>
      </p:sp>
      <p:sp>
        <p:nvSpPr>
          <p:cNvPr id="52" name="Shape 49"/>
          <p:cNvSpPr/>
          <p:nvPr/>
        </p:nvSpPr>
        <p:spPr>
          <a:xfrm>
            <a:off x="3200400" y="3300984"/>
            <a:ext cx="2606040" cy="566928"/>
          </a:xfrm>
          <a:prstGeom prst="roundRect">
            <a:avLst>
              <a:gd name="adj" fmla="val 12903"/>
            </a:avLst>
          </a:prstGeom>
          <a:solidFill>
            <a:srgbClr val="F4F7F5"/>
          </a:solidFill>
          <a:ln w="9525">
            <a:solidFill>
              <a:srgbClr val="D5DED9"/>
            </a:solidFill>
            <a:prstDash val="solid"/>
          </a:ln>
        </p:spPr>
      </p:sp>
      <p:sp>
        <p:nvSpPr>
          <p:cNvPr id="53" name="Shape 50"/>
          <p:cNvSpPr/>
          <p:nvPr/>
        </p:nvSpPr>
        <p:spPr>
          <a:xfrm>
            <a:off x="3291840" y="3438144"/>
            <a:ext cx="292608" cy="292608"/>
          </a:xfrm>
          <a:prstGeom prst="ellipse">
            <a:avLst/>
          </a:prstGeom>
          <a:solidFill>
            <a:srgbClr val="C4621D"/>
          </a:solidFill>
          <a:ln w="12700">
            <a:solidFill>
              <a:srgbClr val="C4621D"/>
            </a:solidFill>
            <a:prstDash val="solid"/>
          </a:ln>
        </p:spPr>
      </p:sp>
      <p:sp>
        <p:nvSpPr>
          <p:cNvPr id="54" name="Text 51"/>
          <p:cNvSpPr txBox="1"/>
          <p:nvPr/>
        </p:nvSpPr>
        <p:spPr>
          <a:xfrm>
            <a:off x="3291840" y="343814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55" name="Text 52"/>
          <p:cNvSpPr txBox="1"/>
          <p:nvPr/>
        </p:nvSpPr>
        <p:spPr>
          <a:xfrm>
            <a:off x="3675888" y="3346704"/>
            <a:ext cx="2057400"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Publish code and limitations</a:t>
            </a:r>
            <a:endParaRPr lang="en-US" sz="1050" dirty="0"/>
          </a:p>
        </p:txBody>
      </p:sp>
      <p:sp>
        <p:nvSpPr>
          <p:cNvPr id="56" name="Text 53"/>
          <p:cNvSpPr txBox="1"/>
          <p:nvPr/>
        </p:nvSpPr>
        <p:spPr>
          <a:xfrm>
            <a:off x="3675888" y="3557016"/>
            <a:ext cx="2075688" cy="29260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README with method, sources, licence and caveats.</a:t>
            </a:r>
            <a:endParaRPr lang="en-US" sz="850" dirty="0"/>
          </a:p>
        </p:txBody>
      </p:sp>
      <p:sp>
        <p:nvSpPr>
          <p:cNvPr id="57" name="Shape 54"/>
          <p:cNvSpPr/>
          <p:nvPr/>
        </p:nvSpPr>
        <p:spPr>
          <a:xfrm>
            <a:off x="5943600" y="1325880"/>
            <a:ext cx="2743200" cy="2542032"/>
          </a:xfrm>
          <a:prstGeom prst="roundRect">
            <a:avLst>
              <a:gd name="adj" fmla="val 2878"/>
            </a:avLst>
          </a:prstGeom>
          <a:solidFill>
            <a:srgbClr val="00553A"/>
          </a:solidFill>
          <a:ln w="12700">
            <a:solidFill>
              <a:srgbClr val="00553A"/>
            </a:solidFill>
            <a:prstDash val="solid"/>
          </a:ln>
        </p:spPr>
      </p:sp>
      <p:pic>
        <p:nvPicPr>
          <p:cNvPr id="58" name="Image 0" descr="preencoded.png"/>
          <p:cNvPicPr>
            <a:picLocks noChangeAspect="1"/>
          </p:cNvPicPr>
          <p:nvPr/>
        </p:nvPicPr>
        <p:blipFill>
          <a:blip r:embed="rId3"/>
          <a:stretch>
            <a:fillRect/>
          </a:stretch>
        </p:blipFill>
        <p:spPr>
          <a:xfrm>
            <a:off x="6080760" y="1463040"/>
            <a:ext cx="365760" cy="365760"/>
          </a:xfrm>
          <a:prstGeom prst="rect">
            <a:avLst/>
          </a:prstGeom>
        </p:spPr>
      </p:pic>
      <p:sp>
        <p:nvSpPr>
          <p:cNvPr id="59" name="Text 55"/>
          <p:cNvSpPr txBox="1"/>
          <p:nvPr/>
        </p:nvSpPr>
        <p:spPr>
          <a:xfrm>
            <a:off x="6537960" y="1536192"/>
            <a:ext cx="2011680" cy="228600"/>
          </a:xfrm>
          <a:prstGeom prst="rect">
            <a:avLst/>
          </a:prstGeom>
          <a:noFill/>
          <a:ln/>
        </p:spPr>
        <p:txBody>
          <a:bodyPr wrap="square" lIns="0" tIns="0" rIns="0" bIns="0" rtlCol="0" anchor="t"/>
          <a:lstStyle/>
          <a:p>
            <a:pPr marL="0" indent="0">
              <a:buNone/>
            </a:pPr>
            <a:r>
              <a:rPr lang="en-US" sz="1000" b="1" kern="0" spc="200" dirty="0">
                <a:solidFill>
                  <a:srgbClr val="F5C242"/>
                </a:solidFill>
                <a:latin typeface="Calibri" pitchFamily="34" charset="0"/>
                <a:ea typeface="Calibri" pitchFamily="34" charset="-122"/>
                <a:cs typeface="Calibri" pitchFamily="34" charset="-120"/>
              </a:rPr>
              <a:t>THE GOLDEN RULE</a:t>
            </a:r>
            <a:endParaRPr lang="en-US" sz="1000" dirty="0"/>
          </a:p>
        </p:txBody>
      </p:sp>
      <p:sp>
        <p:nvSpPr>
          <p:cNvPr id="60" name="Text 56"/>
          <p:cNvSpPr txBox="1"/>
          <p:nvPr/>
        </p:nvSpPr>
        <p:spPr>
          <a:xfrm>
            <a:off x="6080760" y="1938528"/>
            <a:ext cx="2487168" cy="105156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State in one sentence what must be true about lighting behaviour for your conclusion to hold.</a:t>
            </a:r>
            <a:endParaRPr lang="en-US" sz="1250" dirty="0"/>
          </a:p>
        </p:txBody>
      </p:sp>
      <p:sp>
        <p:nvSpPr>
          <p:cNvPr id="61" name="Text 57"/>
          <p:cNvSpPr txBox="1"/>
          <p:nvPr/>
        </p:nvSpPr>
        <p:spPr>
          <a:xfrm>
            <a:off x="6080760" y="3017520"/>
            <a:ext cx="2468880" cy="731520"/>
          </a:xfrm>
          <a:prstGeom prst="rect">
            <a:avLst/>
          </a:prstGeom>
          <a:noFill/>
          <a:ln/>
        </p:spPr>
        <p:txBody>
          <a:bodyPr wrap="square" lIns="0" tIns="0" rIns="0" bIns="0" rtlCol="0" anchor="t"/>
          <a:lstStyle/>
          <a:p>
            <a:pPr marL="0" indent="0">
              <a:buNone/>
            </a:pPr>
            <a:r>
              <a:rPr lang="en-US" sz="1050" i="1" dirty="0">
                <a:solidFill>
                  <a:srgbClr val="E6F6EE"/>
                </a:solidFill>
                <a:latin typeface="Calibri" pitchFamily="34" charset="0"/>
                <a:ea typeface="Calibri" pitchFamily="34" charset="-122"/>
                <a:cs typeface="Calibri" pitchFamily="34" charset="-120"/>
              </a:rPr>
              <a:t>If you cannot write that sentence, you do not have a result yet.</a:t>
            </a:r>
            <a:endParaRPr lang="en-US" sz="1050" dirty="0"/>
          </a:p>
        </p:txBody>
      </p:sp>
      <p:sp>
        <p:nvSpPr>
          <p:cNvPr id="62" name="Shape 58"/>
          <p:cNvSpPr/>
          <p:nvPr/>
        </p:nvSpPr>
        <p:spPr>
          <a:xfrm>
            <a:off x="457200" y="4023360"/>
            <a:ext cx="8229600" cy="502920"/>
          </a:xfrm>
          <a:prstGeom prst="roundRect">
            <a:avLst>
              <a:gd name="adj" fmla="val 14545"/>
            </a:avLst>
          </a:prstGeom>
          <a:solidFill>
            <a:srgbClr val="E8F5EF"/>
          </a:solidFill>
          <a:ln w="15875">
            <a:solidFill>
              <a:srgbClr val="00A86A"/>
            </a:solidFill>
            <a:prstDash val="solid"/>
          </a:ln>
        </p:spPr>
      </p:sp>
      <p:sp>
        <p:nvSpPr>
          <p:cNvPr id="63" name="Shape 59"/>
          <p:cNvSpPr/>
          <p:nvPr/>
        </p:nvSpPr>
        <p:spPr>
          <a:xfrm>
            <a:off x="548640" y="4078224"/>
            <a:ext cx="384048" cy="384048"/>
          </a:xfrm>
          <a:prstGeom prst="ellipse">
            <a:avLst/>
          </a:prstGeom>
          <a:solidFill>
            <a:srgbClr val="00A86A">
              <a:alpha val="22000"/>
            </a:srgbClr>
          </a:solidFill>
          <a:ln w="12700">
            <a:solidFill>
              <a:srgbClr val="00A86A">
                <a:alpha val="0"/>
              </a:srgbClr>
            </a:solidFill>
            <a:prstDash val="solid"/>
          </a:ln>
        </p:spPr>
      </p:sp>
      <p:pic>
        <p:nvPicPr>
          <p:cNvPr id="64" name="Image 1" descr="preencoded.png"/>
          <p:cNvPicPr>
            <a:picLocks noChangeAspect="1"/>
          </p:cNvPicPr>
          <p:nvPr/>
        </p:nvPicPr>
        <p:blipFill>
          <a:blip r:embed="rId4"/>
          <a:stretch>
            <a:fillRect/>
          </a:stretch>
        </p:blipFill>
        <p:spPr>
          <a:xfrm>
            <a:off x="648492" y="4178076"/>
            <a:ext cx="184343" cy="184343"/>
          </a:xfrm>
          <a:prstGeom prst="rect">
            <a:avLst/>
          </a:prstGeom>
        </p:spPr>
      </p:pic>
      <p:sp>
        <p:nvSpPr>
          <p:cNvPr id="65" name="Text 60"/>
          <p:cNvSpPr txBox="1"/>
          <p:nvPr/>
        </p:nvSpPr>
        <p:spPr>
          <a:xfrm>
            <a:off x="1024128" y="4023360"/>
            <a:ext cx="7589520" cy="502920"/>
          </a:xfrm>
          <a:prstGeom prst="rect">
            <a:avLst/>
          </a:prstGeom>
          <a:noFill/>
          <a:ln/>
        </p:spPr>
        <p:txBody>
          <a:bodyPr wrap="square" lIns="0" tIns="0" rIns="0" bIns="0" rtlCol="0" anchor="ctr"/>
          <a:lstStyle/>
          <a:p>
            <a:pPr marL="0" indent="0">
              <a:buNone/>
            </a:pPr>
            <a:r>
              <a:rPr lang="en-US" sz="1000" b="1" dirty="0">
                <a:solidFill>
                  <a:srgbClr val="00704A"/>
                </a:solidFill>
                <a:latin typeface="Calibri" pitchFamily="34" charset="0"/>
                <a:ea typeface="Calibri" pitchFamily="34" charset="-122"/>
                <a:cs typeface="Calibri" pitchFamily="34" charset="-120"/>
              </a:rPr>
              <a:t>Share:  </a:t>
            </a:r>
            <a:r>
              <a:rPr lang="en-US" sz="1000" dirty="0">
                <a:solidFill>
                  <a:srgbClr val="231F20"/>
                </a:solidFill>
                <a:latin typeface="Calibri" pitchFamily="34" charset="0"/>
                <a:ea typeface="Calibri" pitchFamily="34" charset="-122"/>
                <a:cs typeface="Calibri" pitchFamily="34" charset="-120"/>
              </a:rPr>
              <a:t>a documented, reusable repository is your institute’s contribution to shared methodological guidance on new data sources.</a:t>
            </a:r>
            <a:endParaRPr lang="en-US" sz="100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41148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IN CONCLUSION</a:t>
            </a:r>
            <a:endParaRPr lang="en-US" sz="1050" dirty="0"/>
          </a:p>
        </p:txBody>
      </p:sp>
      <p:sp>
        <p:nvSpPr>
          <p:cNvPr id="4" name="Text 2"/>
          <p:cNvSpPr txBox="1"/>
          <p:nvPr/>
        </p:nvSpPr>
        <p:spPr>
          <a:xfrm>
            <a:off x="548640" y="658368"/>
            <a:ext cx="7315200" cy="54864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Five ideas to take to the lab</a:t>
            </a:r>
            <a:endParaRPr lang="en-US" sz="3200" dirty="0"/>
          </a:p>
        </p:txBody>
      </p:sp>
      <p:sp>
        <p:nvSpPr>
          <p:cNvPr id="5" name="Shape 3"/>
          <p:cNvSpPr/>
          <p:nvPr/>
        </p:nvSpPr>
        <p:spPr>
          <a:xfrm>
            <a:off x="548640" y="1408176"/>
            <a:ext cx="384048" cy="384048"/>
          </a:xfrm>
          <a:prstGeom prst="ellipse">
            <a:avLst/>
          </a:prstGeom>
          <a:solidFill>
            <a:srgbClr val="F5C242"/>
          </a:solidFill>
          <a:ln w="12700">
            <a:solidFill>
              <a:srgbClr val="F5C242"/>
            </a:solidFill>
            <a:prstDash val="solid"/>
          </a:ln>
        </p:spPr>
      </p:sp>
      <p:sp>
        <p:nvSpPr>
          <p:cNvPr id="6" name="Text 4"/>
          <p:cNvSpPr txBox="1"/>
          <p:nvPr/>
        </p:nvSpPr>
        <p:spPr>
          <a:xfrm>
            <a:off x="548640" y="1408176"/>
            <a:ext cx="384048" cy="384048"/>
          </a:xfrm>
          <a:prstGeom prst="rect">
            <a:avLst/>
          </a:prstGeom>
          <a:noFill/>
          <a:ln/>
        </p:spPr>
        <p:txBody>
          <a:bodyPr wrap="square" lIns="0" tIns="0" rIns="0" bIns="0" rtlCol="0" anchor="ctr"/>
          <a:lstStyle/>
          <a:p>
            <a:pPr marL="0" indent="0" algn="ctr">
              <a:buNone/>
            </a:pPr>
            <a:r>
              <a:rPr lang="en-US" sz="1400" b="1" dirty="0">
                <a:solidFill>
                  <a:srgbClr val="00553A"/>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097280" y="1353312"/>
            <a:ext cx="5852160" cy="493776"/>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Night-time lights are a proxy, never the quantity of interest — name the assumption that links them to your question.</a:t>
            </a:r>
            <a:endParaRPr lang="en-US" sz="1200" dirty="0"/>
          </a:p>
        </p:txBody>
      </p:sp>
      <p:sp>
        <p:nvSpPr>
          <p:cNvPr id="8" name="Shape 6"/>
          <p:cNvSpPr/>
          <p:nvPr/>
        </p:nvSpPr>
        <p:spPr>
          <a:xfrm>
            <a:off x="548640" y="1956816"/>
            <a:ext cx="384048" cy="384048"/>
          </a:xfrm>
          <a:prstGeom prst="ellipse">
            <a:avLst/>
          </a:prstGeom>
          <a:solidFill>
            <a:srgbClr val="F5C242"/>
          </a:solidFill>
          <a:ln w="12700">
            <a:solidFill>
              <a:srgbClr val="F5C242"/>
            </a:solidFill>
            <a:prstDash val="solid"/>
          </a:ln>
        </p:spPr>
      </p:sp>
      <p:sp>
        <p:nvSpPr>
          <p:cNvPr id="9" name="Text 7"/>
          <p:cNvSpPr txBox="1"/>
          <p:nvPr/>
        </p:nvSpPr>
        <p:spPr>
          <a:xfrm>
            <a:off x="548640" y="1956816"/>
            <a:ext cx="384048" cy="384048"/>
          </a:xfrm>
          <a:prstGeom prst="rect">
            <a:avLst/>
          </a:prstGeom>
          <a:noFill/>
          <a:ln/>
        </p:spPr>
        <p:txBody>
          <a:bodyPr wrap="square" lIns="0" tIns="0" rIns="0" bIns="0" rtlCol="0" anchor="ctr"/>
          <a:lstStyle/>
          <a:p>
            <a:pPr marL="0" indent="0" algn="ctr">
              <a:buNone/>
            </a:pPr>
            <a:r>
              <a:rPr lang="en-US" sz="1400" b="1" dirty="0">
                <a:solidFill>
                  <a:srgbClr val="00553A"/>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097280" y="1901952"/>
            <a:ext cx="5852160" cy="493776"/>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The instrument defines the science: DMSP saturates, VIIRS is calibrated, and neither sees blue.</a:t>
            </a:r>
            <a:endParaRPr lang="en-US" sz="1200" dirty="0"/>
          </a:p>
        </p:txBody>
      </p:sp>
      <p:sp>
        <p:nvSpPr>
          <p:cNvPr id="11" name="Shape 9"/>
          <p:cNvSpPr/>
          <p:nvPr/>
        </p:nvSpPr>
        <p:spPr>
          <a:xfrm>
            <a:off x="548640" y="2505456"/>
            <a:ext cx="384048" cy="384048"/>
          </a:xfrm>
          <a:prstGeom prst="ellipse">
            <a:avLst/>
          </a:prstGeom>
          <a:solidFill>
            <a:srgbClr val="F5C242"/>
          </a:solidFill>
          <a:ln w="12700">
            <a:solidFill>
              <a:srgbClr val="F5C242"/>
            </a:solidFill>
            <a:prstDash val="solid"/>
          </a:ln>
        </p:spPr>
      </p:sp>
      <p:sp>
        <p:nvSpPr>
          <p:cNvPr id="12" name="Text 10"/>
          <p:cNvSpPr txBox="1"/>
          <p:nvPr/>
        </p:nvSpPr>
        <p:spPr>
          <a:xfrm>
            <a:off x="548640" y="2505456"/>
            <a:ext cx="384048" cy="384048"/>
          </a:xfrm>
          <a:prstGeom prst="rect">
            <a:avLst/>
          </a:prstGeom>
          <a:noFill/>
          <a:ln/>
        </p:spPr>
        <p:txBody>
          <a:bodyPr wrap="square" lIns="0" tIns="0" rIns="0" bIns="0" rtlCol="0" anchor="ctr"/>
          <a:lstStyle/>
          <a:p>
            <a:pPr marL="0" indent="0" algn="ctr">
              <a:buNone/>
            </a:pPr>
            <a:r>
              <a:rPr lang="en-US" sz="1400" b="1" dirty="0">
                <a:solidFill>
                  <a:srgbClr val="00553A"/>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1097280" y="2450592"/>
            <a:ext cx="5852160" cy="493776"/>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The data are worth most where official statistics are thinnest: subnational, high-frequency, crises, informal.</a:t>
            </a:r>
            <a:endParaRPr lang="en-US" sz="1200" dirty="0"/>
          </a:p>
        </p:txBody>
      </p:sp>
      <p:sp>
        <p:nvSpPr>
          <p:cNvPr id="14" name="Shape 12"/>
          <p:cNvSpPr/>
          <p:nvPr/>
        </p:nvSpPr>
        <p:spPr>
          <a:xfrm>
            <a:off x="548640" y="3054096"/>
            <a:ext cx="384048" cy="384048"/>
          </a:xfrm>
          <a:prstGeom prst="ellipse">
            <a:avLst/>
          </a:prstGeom>
          <a:solidFill>
            <a:srgbClr val="F5C242"/>
          </a:solidFill>
          <a:ln w="12700">
            <a:solidFill>
              <a:srgbClr val="F5C242"/>
            </a:solidFill>
            <a:prstDash val="solid"/>
          </a:ln>
        </p:spPr>
      </p:sp>
      <p:sp>
        <p:nvSpPr>
          <p:cNvPr id="15" name="Text 13"/>
          <p:cNvSpPr txBox="1"/>
          <p:nvPr/>
        </p:nvSpPr>
        <p:spPr>
          <a:xfrm>
            <a:off x="548640" y="3054096"/>
            <a:ext cx="384048" cy="384048"/>
          </a:xfrm>
          <a:prstGeom prst="rect">
            <a:avLst/>
          </a:prstGeom>
          <a:noFill/>
          <a:ln/>
        </p:spPr>
        <p:txBody>
          <a:bodyPr wrap="square" lIns="0" tIns="0" rIns="0" bIns="0" rtlCol="0" anchor="ctr"/>
          <a:lstStyle/>
          <a:p>
            <a:pPr marL="0" indent="0" algn="ctr">
              <a:buNone/>
            </a:pPr>
            <a:r>
              <a:rPr lang="en-US" sz="1400" b="1" dirty="0">
                <a:solidFill>
                  <a:srgbClr val="00553A"/>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1097280" y="2999232"/>
            <a:ext cx="5852160" cy="493776"/>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Darkness is not emptiness — off-grid lighting, clouds and load-shedding look alike from above.</a:t>
            </a:r>
            <a:endParaRPr lang="en-US" sz="1200" dirty="0"/>
          </a:p>
        </p:txBody>
      </p:sp>
      <p:sp>
        <p:nvSpPr>
          <p:cNvPr id="17" name="Shape 15"/>
          <p:cNvSpPr/>
          <p:nvPr/>
        </p:nvSpPr>
        <p:spPr>
          <a:xfrm>
            <a:off x="548640" y="3602736"/>
            <a:ext cx="384048" cy="384048"/>
          </a:xfrm>
          <a:prstGeom prst="ellipse">
            <a:avLst/>
          </a:prstGeom>
          <a:solidFill>
            <a:srgbClr val="F5C242"/>
          </a:solidFill>
          <a:ln w="12700">
            <a:solidFill>
              <a:srgbClr val="F5C242"/>
            </a:solidFill>
            <a:prstDash val="solid"/>
          </a:ln>
        </p:spPr>
      </p:sp>
      <p:sp>
        <p:nvSpPr>
          <p:cNvPr id="18" name="Text 16"/>
          <p:cNvSpPr txBox="1"/>
          <p:nvPr/>
        </p:nvSpPr>
        <p:spPr>
          <a:xfrm>
            <a:off x="548640" y="3602736"/>
            <a:ext cx="384048" cy="384048"/>
          </a:xfrm>
          <a:prstGeom prst="rect">
            <a:avLst/>
          </a:prstGeom>
          <a:noFill/>
          <a:ln/>
        </p:spPr>
        <p:txBody>
          <a:bodyPr wrap="square" lIns="0" tIns="0" rIns="0" bIns="0" rtlCol="0" anchor="ctr"/>
          <a:lstStyle/>
          <a:p>
            <a:pPr marL="0" indent="0" algn="ctr">
              <a:buNone/>
            </a:pPr>
            <a:r>
              <a:rPr lang="en-US" sz="1400" b="1" dirty="0">
                <a:solidFill>
                  <a:srgbClr val="00553A"/>
                </a:solidFill>
                <a:latin typeface="Calibri" pitchFamily="34" charset="0"/>
                <a:ea typeface="Calibri" pitchFamily="34" charset="-122"/>
                <a:cs typeface="Calibri" pitchFamily="34" charset="-120"/>
              </a:rPr>
              <a:t>5</a:t>
            </a:r>
            <a:endParaRPr lang="en-US" sz="1400" dirty="0"/>
          </a:p>
        </p:txBody>
      </p:sp>
      <p:sp>
        <p:nvSpPr>
          <p:cNvPr id="19" name="Text 17"/>
          <p:cNvSpPr txBox="1"/>
          <p:nvPr/>
        </p:nvSpPr>
        <p:spPr>
          <a:xfrm>
            <a:off x="1097280" y="3547872"/>
            <a:ext cx="5852160" cy="493776"/>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Validate with independent sources, and publish your limitations with your results.</a:t>
            </a:r>
            <a:endParaRPr lang="en-US" sz="1200" dirty="0"/>
          </a:p>
        </p:txBody>
      </p:sp>
      <p:sp>
        <p:nvSpPr>
          <p:cNvPr id="20" name="Text 18"/>
          <p:cNvSpPr txBox="1"/>
          <p:nvPr/>
        </p:nvSpPr>
        <p:spPr>
          <a:xfrm>
            <a:off x="548640" y="4224528"/>
            <a:ext cx="6949440" cy="457200"/>
          </a:xfrm>
          <a:prstGeom prst="rect">
            <a:avLst/>
          </a:prstGeom>
          <a:noFill/>
          <a:ln/>
        </p:spPr>
        <p:txBody>
          <a:bodyPr wrap="square" lIns="0" tIns="0" rIns="0" bIns="0" rtlCol="0" anchor="t"/>
          <a:lstStyle/>
          <a:p>
            <a:pPr marL="0" indent="0">
              <a:buNone/>
            </a:pPr>
            <a:r>
              <a:rPr lang="en-US" sz="1500" i="1" dirty="0">
                <a:solidFill>
                  <a:srgbClr val="F5C242"/>
                </a:solidFill>
                <a:latin typeface="Calibri" pitchFamily="34" charset="0"/>
                <a:ea typeface="Calibri" pitchFamily="34" charset="-122"/>
                <a:cs typeface="Calibri" pitchFamily="34" charset="-120"/>
              </a:rPr>
              <a:t>Darkness tells us a lot. It does not tell us everything — and it never speaks for itself.</a:t>
            </a:r>
            <a:endParaRPr lang="en-US" sz="1500" dirty="0"/>
          </a:p>
        </p:txBody>
      </p:sp>
      <p:sp>
        <p:nvSpPr>
          <p:cNvPr id="21" name="Shape 19"/>
          <p:cNvSpPr/>
          <p:nvPr/>
        </p:nvSpPr>
        <p:spPr>
          <a:xfrm>
            <a:off x="6995160" y="1325880"/>
            <a:ext cx="1737360" cy="1737360"/>
          </a:xfrm>
          <a:prstGeom prst="ellipse">
            <a:avLst/>
          </a:prstGeom>
          <a:solidFill>
            <a:srgbClr val="FFFFFF">
              <a:alpha val="10000"/>
            </a:srgbClr>
          </a:solidFill>
          <a:ln w="9525">
            <a:solidFill>
              <a:srgbClr val="FFFFFF">
                <a:alpha val="30000"/>
              </a:srgbClr>
            </a:solidFill>
            <a:prstDash val="solid"/>
          </a:ln>
        </p:spPr>
      </p:sp>
      <p:sp>
        <p:nvSpPr>
          <p:cNvPr id="22" name="Shape 20"/>
          <p:cNvSpPr/>
          <p:nvPr/>
        </p:nvSpPr>
        <p:spPr>
          <a:xfrm>
            <a:off x="7269480" y="1600200"/>
            <a:ext cx="1188720" cy="1188720"/>
          </a:xfrm>
          <a:prstGeom prst="ellipse">
            <a:avLst/>
          </a:prstGeom>
          <a:solidFill>
            <a:srgbClr val="FFFFFF">
              <a:alpha val="13000"/>
            </a:srgbClr>
          </a:solidFill>
          <a:ln w="9525">
            <a:solidFill>
              <a:srgbClr val="FFFFFF">
                <a:alpha val="30000"/>
              </a:srgbClr>
            </a:solidFill>
            <a:prstDash val="solid"/>
          </a:ln>
        </p:spPr>
      </p:sp>
      <p:sp>
        <p:nvSpPr>
          <p:cNvPr id="23" name="Shape 21"/>
          <p:cNvSpPr/>
          <p:nvPr/>
        </p:nvSpPr>
        <p:spPr>
          <a:xfrm>
            <a:off x="7498080" y="1828800"/>
            <a:ext cx="731520" cy="731520"/>
          </a:xfrm>
          <a:prstGeom prst="ellipse">
            <a:avLst/>
          </a:prstGeom>
          <a:solidFill>
            <a:srgbClr val="FFFFFF"/>
          </a:solidFill>
          <a:ln w="12700">
            <a:solidFill>
              <a:srgbClr val="FFFFFF"/>
            </a:solidFill>
            <a:prstDash val="solid"/>
          </a:ln>
        </p:spPr>
      </p:sp>
      <p:pic>
        <p:nvPicPr>
          <p:cNvPr id="24" name="Image 0" descr="preencoded.png"/>
          <p:cNvPicPr>
            <a:picLocks noChangeAspect="1"/>
          </p:cNvPicPr>
          <p:nvPr/>
        </p:nvPicPr>
        <p:blipFill>
          <a:blip r:embed="rId4"/>
          <a:stretch>
            <a:fillRect/>
          </a:stretch>
        </p:blipFill>
        <p:spPr>
          <a:xfrm>
            <a:off x="7662672" y="1993392"/>
            <a:ext cx="402336" cy="402336"/>
          </a:xfrm>
          <a:prstGeom prst="rect">
            <a:avLst/>
          </a:prstGeom>
        </p:spPr>
      </p:pic>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APPENDIX · GLOSSARY</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The vocabulary of the labs</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31</a:t>
            </a:r>
            <a:endParaRPr lang="en-US" sz="850" dirty="0"/>
          </a:p>
        </p:txBody>
      </p:sp>
      <p:sp>
        <p:nvSpPr>
          <p:cNvPr id="17" name="Shape 14"/>
          <p:cNvSpPr/>
          <p:nvPr/>
        </p:nvSpPr>
        <p:spPr>
          <a:xfrm>
            <a:off x="457200" y="1325880"/>
            <a:ext cx="4023360" cy="548640"/>
          </a:xfrm>
          <a:prstGeom prst="roundRect">
            <a:avLst>
              <a:gd name="adj" fmla="val 13333"/>
            </a:avLst>
          </a:prstGeom>
          <a:solidFill>
            <a:srgbClr val="F4F7F5"/>
          </a:solidFill>
          <a:ln w="9525">
            <a:solidFill>
              <a:srgbClr val="D5DED9"/>
            </a:solidFill>
            <a:prstDash val="solid"/>
          </a:ln>
        </p:spPr>
      </p:sp>
      <p:sp>
        <p:nvSpPr>
          <p:cNvPr id="18" name="Shape 15"/>
          <p:cNvSpPr/>
          <p:nvPr/>
        </p:nvSpPr>
        <p:spPr>
          <a:xfrm>
            <a:off x="548640" y="1444752"/>
            <a:ext cx="310896" cy="310896"/>
          </a:xfrm>
          <a:prstGeom prst="ellipse">
            <a:avLst/>
          </a:prstGeom>
          <a:solidFill>
            <a:srgbClr val="00704A">
              <a:alpha val="22000"/>
            </a:srgbClr>
          </a:solidFill>
          <a:ln w="12700">
            <a:solidFill>
              <a:srgbClr val="00704A">
                <a:alpha val="0"/>
              </a:srgbClr>
            </a:solidFill>
            <a:prstDash val="solid"/>
          </a:ln>
        </p:spPr>
      </p:sp>
      <p:pic>
        <p:nvPicPr>
          <p:cNvPr id="19" name="Image 0" descr="preencoded.png"/>
          <p:cNvPicPr>
            <a:picLocks noChangeAspect="1"/>
          </p:cNvPicPr>
          <p:nvPr/>
        </p:nvPicPr>
        <p:blipFill>
          <a:blip r:embed="rId3"/>
          <a:stretch>
            <a:fillRect/>
          </a:stretch>
        </p:blipFill>
        <p:spPr>
          <a:xfrm>
            <a:off x="629473" y="1525585"/>
            <a:ext cx="149230" cy="149230"/>
          </a:xfrm>
          <a:prstGeom prst="rect">
            <a:avLst/>
          </a:prstGeom>
        </p:spPr>
      </p:pic>
      <p:sp>
        <p:nvSpPr>
          <p:cNvPr id="20" name="Text 16"/>
          <p:cNvSpPr txBox="1"/>
          <p:nvPr/>
        </p:nvSpPr>
        <p:spPr>
          <a:xfrm>
            <a:off x="960120" y="1362456"/>
            <a:ext cx="3429000" cy="201168"/>
          </a:xfrm>
          <a:prstGeom prst="rect">
            <a:avLst/>
          </a:prstGeom>
          <a:noFill/>
          <a:ln/>
        </p:spPr>
        <p:txBody>
          <a:bodyPr wrap="square" lIns="0" tIns="0" rIns="0" bIns="0" rtlCol="0" anchor="t"/>
          <a:lstStyle/>
          <a:p>
            <a:pPr marL="0" indent="0">
              <a:buNone/>
            </a:pPr>
            <a:r>
              <a:rPr lang="en-US" sz="1050" b="1" dirty="0">
                <a:solidFill>
                  <a:srgbClr val="00704A"/>
                </a:solidFill>
                <a:latin typeface="Calibri" pitchFamily="34" charset="0"/>
                <a:ea typeface="Calibri" pitchFamily="34" charset="-122"/>
                <a:cs typeface="Calibri" pitchFamily="34" charset="-120"/>
              </a:rPr>
              <a:t>Radiance</a:t>
            </a:r>
            <a:endParaRPr lang="en-US" sz="1050" dirty="0"/>
          </a:p>
        </p:txBody>
      </p:sp>
      <p:sp>
        <p:nvSpPr>
          <p:cNvPr id="21" name="Text 17"/>
          <p:cNvSpPr txBox="1"/>
          <p:nvPr/>
        </p:nvSpPr>
        <p:spPr>
          <a:xfrm>
            <a:off x="960120" y="1563624"/>
            <a:ext cx="3474720"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Energy leaving a surface per unit area and solid angle; in nW·cm⁻²·sr⁻¹ for NTL.</a:t>
            </a:r>
            <a:endParaRPr lang="en-US" sz="850" dirty="0"/>
          </a:p>
        </p:txBody>
      </p:sp>
      <p:sp>
        <p:nvSpPr>
          <p:cNvPr id="22" name="Shape 18"/>
          <p:cNvSpPr/>
          <p:nvPr/>
        </p:nvSpPr>
        <p:spPr>
          <a:xfrm>
            <a:off x="4663440" y="1325880"/>
            <a:ext cx="4023360" cy="548640"/>
          </a:xfrm>
          <a:prstGeom prst="roundRect">
            <a:avLst>
              <a:gd name="adj" fmla="val 13333"/>
            </a:avLst>
          </a:prstGeom>
          <a:solidFill>
            <a:srgbClr val="F4F7F5"/>
          </a:solidFill>
          <a:ln w="9525">
            <a:solidFill>
              <a:srgbClr val="D5DED9"/>
            </a:solidFill>
            <a:prstDash val="solid"/>
          </a:ln>
        </p:spPr>
      </p:sp>
      <p:sp>
        <p:nvSpPr>
          <p:cNvPr id="23" name="Shape 19"/>
          <p:cNvSpPr/>
          <p:nvPr/>
        </p:nvSpPr>
        <p:spPr>
          <a:xfrm>
            <a:off x="4754880" y="1444752"/>
            <a:ext cx="310896" cy="310896"/>
          </a:xfrm>
          <a:prstGeom prst="ellipse">
            <a:avLst/>
          </a:prstGeom>
          <a:solidFill>
            <a:srgbClr val="00704A">
              <a:alpha val="22000"/>
            </a:srgbClr>
          </a:solidFill>
          <a:ln w="12700">
            <a:solidFill>
              <a:srgbClr val="00704A">
                <a:alpha val="0"/>
              </a:srgbClr>
            </a:solidFill>
            <a:prstDash val="solid"/>
          </a:ln>
        </p:spPr>
      </p:sp>
      <p:pic>
        <p:nvPicPr>
          <p:cNvPr id="24" name="Image 1" descr="preencoded.png"/>
          <p:cNvPicPr>
            <a:picLocks noChangeAspect="1"/>
          </p:cNvPicPr>
          <p:nvPr/>
        </p:nvPicPr>
        <p:blipFill>
          <a:blip r:embed="rId3"/>
          <a:stretch>
            <a:fillRect/>
          </a:stretch>
        </p:blipFill>
        <p:spPr>
          <a:xfrm>
            <a:off x="4835713" y="1525585"/>
            <a:ext cx="149230" cy="149230"/>
          </a:xfrm>
          <a:prstGeom prst="rect">
            <a:avLst/>
          </a:prstGeom>
        </p:spPr>
      </p:pic>
      <p:sp>
        <p:nvSpPr>
          <p:cNvPr id="25" name="Text 20"/>
          <p:cNvSpPr txBox="1"/>
          <p:nvPr/>
        </p:nvSpPr>
        <p:spPr>
          <a:xfrm>
            <a:off x="5166360" y="1362456"/>
            <a:ext cx="3429000" cy="201168"/>
          </a:xfrm>
          <a:prstGeom prst="rect">
            <a:avLst/>
          </a:prstGeom>
          <a:noFill/>
          <a:ln/>
        </p:spPr>
        <p:txBody>
          <a:bodyPr wrap="square" lIns="0" tIns="0" rIns="0" bIns="0" rtlCol="0" anchor="t"/>
          <a:lstStyle/>
          <a:p>
            <a:pPr marL="0" indent="0">
              <a:buNone/>
            </a:pPr>
            <a:r>
              <a:rPr lang="en-US" sz="1050" b="1" dirty="0">
                <a:solidFill>
                  <a:srgbClr val="00704A"/>
                </a:solidFill>
                <a:latin typeface="Calibri" pitchFamily="34" charset="0"/>
                <a:ea typeface="Calibri" pitchFamily="34" charset="-122"/>
                <a:cs typeface="Calibri" pitchFamily="34" charset="-120"/>
              </a:rPr>
              <a:t>Digital number (DN)</a:t>
            </a:r>
            <a:endParaRPr lang="en-US" sz="1050" dirty="0"/>
          </a:p>
        </p:txBody>
      </p:sp>
      <p:sp>
        <p:nvSpPr>
          <p:cNvPr id="26" name="Text 21"/>
          <p:cNvSpPr txBox="1"/>
          <p:nvPr/>
        </p:nvSpPr>
        <p:spPr>
          <a:xfrm>
            <a:off x="5166360" y="1563624"/>
            <a:ext cx="3474720"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Raw sensor count, with no physical unit; DMSP ranges from 0 to 63.</a:t>
            </a:r>
            <a:endParaRPr lang="en-US" sz="850" dirty="0"/>
          </a:p>
        </p:txBody>
      </p:sp>
      <p:sp>
        <p:nvSpPr>
          <p:cNvPr id="27" name="Shape 22"/>
          <p:cNvSpPr/>
          <p:nvPr/>
        </p:nvSpPr>
        <p:spPr>
          <a:xfrm>
            <a:off x="457200" y="1965960"/>
            <a:ext cx="4023360" cy="548640"/>
          </a:xfrm>
          <a:prstGeom prst="roundRect">
            <a:avLst>
              <a:gd name="adj" fmla="val 13333"/>
            </a:avLst>
          </a:prstGeom>
          <a:solidFill>
            <a:srgbClr val="F4F7F5"/>
          </a:solidFill>
          <a:ln w="9525">
            <a:solidFill>
              <a:srgbClr val="D5DED9"/>
            </a:solidFill>
            <a:prstDash val="solid"/>
          </a:ln>
        </p:spPr>
      </p:sp>
      <p:sp>
        <p:nvSpPr>
          <p:cNvPr id="28" name="Shape 23"/>
          <p:cNvSpPr/>
          <p:nvPr/>
        </p:nvSpPr>
        <p:spPr>
          <a:xfrm>
            <a:off x="548640" y="2084832"/>
            <a:ext cx="310896" cy="310896"/>
          </a:xfrm>
          <a:prstGeom prst="ellipse">
            <a:avLst/>
          </a:prstGeom>
          <a:solidFill>
            <a:srgbClr val="00704A">
              <a:alpha val="22000"/>
            </a:srgbClr>
          </a:solidFill>
          <a:ln w="12700">
            <a:solidFill>
              <a:srgbClr val="00704A">
                <a:alpha val="0"/>
              </a:srgbClr>
            </a:solidFill>
            <a:prstDash val="solid"/>
          </a:ln>
        </p:spPr>
      </p:sp>
      <p:pic>
        <p:nvPicPr>
          <p:cNvPr id="29" name="Image 2" descr="preencoded.png"/>
          <p:cNvPicPr>
            <a:picLocks noChangeAspect="1"/>
          </p:cNvPicPr>
          <p:nvPr/>
        </p:nvPicPr>
        <p:blipFill>
          <a:blip r:embed="rId3"/>
          <a:stretch>
            <a:fillRect/>
          </a:stretch>
        </p:blipFill>
        <p:spPr>
          <a:xfrm>
            <a:off x="629473" y="2165665"/>
            <a:ext cx="149230" cy="149230"/>
          </a:xfrm>
          <a:prstGeom prst="rect">
            <a:avLst/>
          </a:prstGeom>
        </p:spPr>
      </p:pic>
      <p:sp>
        <p:nvSpPr>
          <p:cNvPr id="30" name="Text 24"/>
          <p:cNvSpPr txBox="1"/>
          <p:nvPr/>
        </p:nvSpPr>
        <p:spPr>
          <a:xfrm>
            <a:off x="960120" y="2002536"/>
            <a:ext cx="3429000" cy="201168"/>
          </a:xfrm>
          <a:prstGeom prst="rect">
            <a:avLst/>
          </a:prstGeom>
          <a:noFill/>
          <a:ln/>
        </p:spPr>
        <p:txBody>
          <a:bodyPr wrap="square" lIns="0" tIns="0" rIns="0" bIns="0" rtlCol="0" anchor="t"/>
          <a:lstStyle/>
          <a:p>
            <a:pPr marL="0" indent="0">
              <a:buNone/>
            </a:pPr>
            <a:r>
              <a:rPr lang="en-US" sz="1050" b="1" dirty="0">
                <a:solidFill>
                  <a:srgbClr val="00704A"/>
                </a:solidFill>
                <a:latin typeface="Calibri" pitchFamily="34" charset="0"/>
                <a:ea typeface="Calibri" pitchFamily="34" charset="-122"/>
                <a:cs typeface="Calibri" pitchFamily="34" charset="-120"/>
              </a:rPr>
              <a:t>Composite</a:t>
            </a:r>
            <a:endParaRPr lang="en-US" sz="1050" dirty="0"/>
          </a:p>
        </p:txBody>
      </p:sp>
      <p:sp>
        <p:nvSpPr>
          <p:cNvPr id="31" name="Text 25"/>
          <p:cNvSpPr txBox="1"/>
          <p:nvPr/>
        </p:nvSpPr>
        <p:spPr>
          <a:xfrm>
            <a:off x="960120" y="2203704"/>
            <a:ext cx="3474720"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Grid assembled from many cloud-free nights — not a photo of one night.</a:t>
            </a:r>
            <a:endParaRPr lang="en-US" sz="850" dirty="0"/>
          </a:p>
        </p:txBody>
      </p:sp>
      <p:sp>
        <p:nvSpPr>
          <p:cNvPr id="32" name="Shape 26"/>
          <p:cNvSpPr/>
          <p:nvPr/>
        </p:nvSpPr>
        <p:spPr>
          <a:xfrm>
            <a:off x="4663440" y="1965960"/>
            <a:ext cx="4023360" cy="548640"/>
          </a:xfrm>
          <a:prstGeom prst="roundRect">
            <a:avLst>
              <a:gd name="adj" fmla="val 13333"/>
            </a:avLst>
          </a:prstGeom>
          <a:solidFill>
            <a:srgbClr val="F4F7F5"/>
          </a:solidFill>
          <a:ln w="9525">
            <a:solidFill>
              <a:srgbClr val="D5DED9"/>
            </a:solidFill>
            <a:prstDash val="solid"/>
          </a:ln>
        </p:spPr>
      </p:sp>
      <p:sp>
        <p:nvSpPr>
          <p:cNvPr id="33" name="Shape 27"/>
          <p:cNvSpPr/>
          <p:nvPr/>
        </p:nvSpPr>
        <p:spPr>
          <a:xfrm>
            <a:off x="4754880" y="2084832"/>
            <a:ext cx="310896" cy="310896"/>
          </a:xfrm>
          <a:prstGeom prst="ellipse">
            <a:avLst/>
          </a:prstGeom>
          <a:solidFill>
            <a:srgbClr val="00704A">
              <a:alpha val="22000"/>
            </a:srgbClr>
          </a:solidFill>
          <a:ln w="12700">
            <a:solidFill>
              <a:srgbClr val="00704A">
                <a:alpha val="0"/>
              </a:srgbClr>
            </a:solidFill>
            <a:prstDash val="solid"/>
          </a:ln>
        </p:spPr>
      </p:sp>
      <p:pic>
        <p:nvPicPr>
          <p:cNvPr id="34" name="Image 3" descr="preencoded.png"/>
          <p:cNvPicPr>
            <a:picLocks noChangeAspect="1"/>
          </p:cNvPicPr>
          <p:nvPr/>
        </p:nvPicPr>
        <p:blipFill>
          <a:blip r:embed="rId3"/>
          <a:stretch>
            <a:fillRect/>
          </a:stretch>
        </p:blipFill>
        <p:spPr>
          <a:xfrm>
            <a:off x="4835713" y="2165665"/>
            <a:ext cx="149230" cy="149230"/>
          </a:xfrm>
          <a:prstGeom prst="rect">
            <a:avLst/>
          </a:prstGeom>
        </p:spPr>
      </p:pic>
      <p:sp>
        <p:nvSpPr>
          <p:cNvPr id="35" name="Text 28"/>
          <p:cNvSpPr txBox="1"/>
          <p:nvPr/>
        </p:nvSpPr>
        <p:spPr>
          <a:xfrm>
            <a:off x="5166360" y="2002536"/>
            <a:ext cx="3429000" cy="201168"/>
          </a:xfrm>
          <a:prstGeom prst="rect">
            <a:avLst/>
          </a:prstGeom>
          <a:noFill/>
          <a:ln/>
        </p:spPr>
        <p:txBody>
          <a:bodyPr wrap="square" lIns="0" tIns="0" rIns="0" bIns="0" rtlCol="0" anchor="t"/>
          <a:lstStyle/>
          <a:p>
            <a:pPr marL="0" indent="0">
              <a:buNone/>
            </a:pPr>
            <a:r>
              <a:rPr lang="en-US" sz="1050" b="1" dirty="0">
                <a:solidFill>
                  <a:srgbClr val="00704A"/>
                </a:solidFill>
                <a:latin typeface="Calibri" pitchFamily="34" charset="0"/>
                <a:ea typeface="Calibri" pitchFamily="34" charset="-122"/>
                <a:cs typeface="Calibri" pitchFamily="34" charset="-120"/>
              </a:rPr>
              <a:t>Stable lights</a:t>
            </a:r>
            <a:endParaRPr lang="en-US" sz="1050" dirty="0"/>
          </a:p>
        </p:txBody>
      </p:sp>
      <p:sp>
        <p:nvSpPr>
          <p:cNvPr id="36" name="Text 29"/>
          <p:cNvSpPr txBox="1"/>
          <p:nvPr/>
        </p:nvSpPr>
        <p:spPr>
          <a:xfrm>
            <a:off x="5166360" y="2203704"/>
            <a:ext cx="3474720"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Product from which fires, aurorae and other unstable sources have been removed.</a:t>
            </a:r>
            <a:endParaRPr lang="en-US" sz="850" dirty="0"/>
          </a:p>
        </p:txBody>
      </p:sp>
      <p:sp>
        <p:nvSpPr>
          <p:cNvPr id="37" name="Shape 30"/>
          <p:cNvSpPr/>
          <p:nvPr/>
        </p:nvSpPr>
        <p:spPr>
          <a:xfrm>
            <a:off x="457200" y="2606040"/>
            <a:ext cx="4023360" cy="548640"/>
          </a:xfrm>
          <a:prstGeom prst="roundRect">
            <a:avLst>
              <a:gd name="adj" fmla="val 13333"/>
            </a:avLst>
          </a:prstGeom>
          <a:solidFill>
            <a:srgbClr val="F4F7F5"/>
          </a:solidFill>
          <a:ln w="9525">
            <a:solidFill>
              <a:srgbClr val="D5DED9"/>
            </a:solidFill>
            <a:prstDash val="solid"/>
          </a:ln>
        </p:spPr>
      </p:sp>
      <p:sp>
        <p:nvSpPr>
          <p:cNvPr id="38" name="Shape 31"/>
          <p:cNvSpPr/>
          <p:nvPr/>
        </p:nvSpPr>
        <p:spPr>
          <a:xfrm>
            <a:off x="548640" y="2724912"/>
            <a:ext cx="310896" cy="310896"/>
          </a:xfrm>
          <a:prstGeom prst="ellipse">
            <a:avLst/>
          </a:prstGeom>
          <a:solidFill>
            <a:srgbClr val="00704A">
              <a:alpha val="22000"/>
            </a:srgbClr>
          </a:solidFill>
          <a:ln w="12700">
            <a:solidFill>
              <a:srgbClr val="00704A">
                <a:alpha val="0"/>
              </a:srgbClr>
            </a:solidFill>
            <a:prstDash val="solid"/>
          </a:ln>
        </p:spPr>
      </p:sp>
      <p:pic>
        <p:nvPicPr>
          <p:cNvPr id="39" name="Image 4" descr="preencoded.png"/>
          <p:cNvPicPr>
            <a:picLocks noChangeAspect="1"/>
          </p:cNvPicPr>
          <p:nvPr/>
        </p:nvPicPr>
        <p:blipFill>
          <a:blip r:embed="rId3"/>
          <a:stretch>
            <a:fillRect/>
          </a:stretch>
        </p:blipFill>
        <p:spPr>
          <a:xfrm>
            <a:off x="629473" y="2805745"/>
            <a:ext cx="149230" cy="149230"/>
          </a:xfrm>
          <a:prstGeom prst="rect">
            <a:avLst/>
          </a:prstGeom>
        </p:spPr>
      </p:pic>
      <p:sp>
        <p:nvSpPr>
          <p:cNvPr id="40" name="Text 32"/>
          <p:cNvSpPr txBox="1"/>
          <p:nvPr/>
        </p:nvSpPr>
        <p:spPr>
          <a:xfrm>
            <a:off x="960120" y="2642616"/>
            <a:ext cx="3429000" cy="201168"/>
          </a:xfrm>
          <a:prstGeom prst="rect">
            <a:avLst/>
          </a:prstGeom>
          <a:noFill/>
          <a:ln/>
        </p:spPr>
        <p:txBody>
          <a:bodyPr wrap="square" lIns="0" tIns="0" rIns="0" bIns="0" rtlCol="0" anchor="t"/>
          <a:lstStyle/>
          <a:p>
            <a:pPr marL="0" indent="0">
              <a:buNone/>
            </a:pPr>
            <a:r>
              <a:rPr lang="en-US" sz="1050" b="1" dirty="0">
                <a:solidFill>
                  <a:srgbClr val="00704A"/>
                </a:solidFill>
                <a:latin typeface="Calibri" pitchFamily="34" charset="0"/>
                <a:ea typeface="Calibri" pitchFamily="34" charset="-122"/>
                <a:cs typeface="Calibri" pitchFamily="34" charset="-120"/>
              </a:rPr>
              <a:t>Sum of lights (SOL)</a:t>
            </a:r>
            <a:endParaRPr lang="en-US" sz="1050" dirty="0"/>
          </a:p>
        </p:txBody>
      </p:sp>
      <p:sp>
        <p:nvSpPr>
          <p:cNvPr id="41" name="Text 33"/>
          <p:cNvSpPr txBox="1"/>
          <p:nvPr/>
        </p:nvSpPr>
        <p:spPr>
          <a:xfrm>
            <a:off x="960120" y="2843784"/>
            <a:ext cx="3474720"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Total radiance of all pixels within a boundary.</a:t>
            </a:r>
            <a:endParaRPr lang="en-US" sz="850" dirty="0"/>
          </a:p>
        </p:txBody>
      </p:sp>
      <p:sp>
        <p:nvSpPr>
          <p:cNvPr id="42" name="Shape 34"/>
          <p:cNvSpPr/>
          <p:nvPr/>
        </p:nvSpPr>
        <p:spPr>
          <a:xfrm>
            <a:off x="4663440" y="2606040"/>
            <a:ext cx="4023360" cy="548640"/>
          </a:xfrm>
          <a:prstGeom prst="roundRect">
            <a:avLst>
              <a:gd name="adj" fmla="val 13333"/>
            </a:avLst>
          </a:prstGeom>
          <a:solidFill>
            <a:srgbClr val="F4F7F5"/>
          </a:solidFill>
          <a:ln w="9525">
            <a:solidFill>
              <a:srgbClr val="D5DED9"/>
            </a:solidFill>
            <a:prstDash val="solid"/>
          </a:ln>
        </p:spPr>
      </p:sp>
      <p:sp>
        <p:nvSpPr>
          <p:cNvPr id="43" name="Shape 35"/>
          <p:cNvSpPr/>
          <p:nvPr/>
        </p:nvSpPr>
        <p:spPr>
          <a:xfrm>
            <a:off x="4754880" y="2724912"/>
            <a:ext cx="310896" cy="310896"/>
          </a:xfrm>
          <a:prstGeom prst="ellipse">
            <a:avLst/>
          </a:prstGeom>
          <a:solidFill>
            <a:srgbClr val="00704A">
              <a:alpha val="22000"/>
            </a:srgbClr>
          </a:solidFill>
          <a:ln w="12700">
            <a:solidFill>
              <a:srgbClr val="00704A">
                <a:alpha val="0"/>
              </a:srgbClr>
            </a:solidFill>
            <a:prstDash val="solid"/>
          </a:ln>
        </p:spPr>
      </p:sp>
      <p:pic>
        <p:nvPicPr>
          <p:cNvPr id="44" name="Image 5" descr="preencoded.png"/>
          <p:cNvPicPr>
            <a:picLocks noChangeAspect="1"/>
          </p:cNvPicPr>
          <p:nvPr/>
        </p:nvPicPr>
        <p:blipFill>
          <a:blip r:embed="rId3"/>
          <a:stretch>
            <a:fillRect/>
          </a:stretch>
        </p:blipFill>
        <p:spPr>
          <a:xfrm>
            <a:off x="4835713" y="2805745"/>
            <a:ext cx="149230" cy="149230"/>
          </a:xfrm>
          <a:prstGeom prst="rect">
            <a:avLst/>
          </a:prstGeom>
        </p:spPr>
      </p:pic>
      <p:sp>
        <p:nvSpPr>
          <p:cNvPr id="45" name="Text 36"/>
          <p:cNvSpPr txBox="1"/>
          <p:nvPr/>
        </p:nvSpPr>
        <p:spPr>
          <a:xfrm>
            <a:off x="5166360" y="2642616"/>
            <a:ext cx="3429000" cy="201168"/>
          </a:xfrm>
          <a:prstGeom prst="rect">
            <a:avLst/>
          </a:prstGeom>
          <a:noFill/>
          <a:ln/>
        </p:spPr>
        <p:txBody>
          <a:bodyPr wrap="square" lIns="0" tIns="0" rIns="0" bIns="0" rtlCol="0" anchor="t"/>
          <a:lstStyle/>
          <a:p>
            <a:pPr marL="0" indent="0">
              <a:buNone/>
            </a:pPr>
            <a:r>
              <a:rPr lang="en-US" sz="1050" b="1" dirty="0">
                <a:solidFill>
                  <a:srgbClr val="00704A"/>
                </a:solidFill>
                <a:latin typeface="Calibri" pitchFamily="34" charset="0"/>
                <a:ea typeface="Calibri" pitchFamily="34" charset="-122"/>
                <a:cs typeface="Calibri" pitchFamily="34" charset="-120"/>
              </a:rPr>
              <a:t>Blooming</a:t>
            </a:r>
            <a:endParaRPr lang="en-US" sz="1050" dirty="0"/>
          </a:p>
        </p:txBody>
      </p:sp>
      <p:sp>
        <p:nvSpPr>
          <p:cNvPr id="46" name="Text 37"/>
          <p:cNvSpPr txBox="1"/>
          <p:nvPr/>
        </p:nvSpPr>
        <p:spPr>
          <a:xfrm>
            <a:off x="5166360" y="2843784"/>
            <a:ext cx="3474720"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Apparent spread of light beyond its source (scattering, geolocation).</a:t>
            </a:r>
            <a:endParaRPr lang="en-US" sz="850" dirty="0"/>
          </a:p>
        </p:txBody>
      </p:sp>
      <p:sp>
        <p:nvSpPr>
          <p:cNvPr id="47" name="Shape 38"/>
          <p:cNvSpPr/>
          <p:nvPr/>
        </p:nvSpPr>
        <p:spPr>
          <a:xfrm>
            <a:off x="457200" y="3246120"/>
            <a:ext cx="4023360" cy="548640"/>
          </a:xfrm>
          <a:prstGeom prst="roundRect">
            <a:avLst>
              <a:gd name="adj" fmla="val 13333"/>
            </a:avLst>
          </a:prstGeom>
          <a:solidFill>
            <a:srgbClr val="F4F7F5"/>
          </a:solidFill>
          <a:ln w="9525">
            <a:solidFill>
              <a:srgbClr val="D5DED9"/>
            </a:solidFill>
            <a:prstDash val="solid"/>
          </a:ln>
        </p:spPr>
      </p:sp>
      <p:sp>
        <p:nvSpPr>
          <p:cNvPr id="48" name="Shape 39"/>
          <p:cNvSpPr/>
          <p:nvPr/>
        </p:nvSpPr>
        <p:spPr>
          <a:xfrm>
            <a:off x="548640" y="3364992"/>
            <a:ext cx="310896" cy="310896"/>
          </a:xfrm>
          <a:prstGeom prst="ellipse">
            <a:avLst/>
          </a:prstGeom>
          <a:solidFill>
            <a:srgbClr val="00704A">
              <a:alpha val="22000"/>
            </a:srgbClr>
          </a:solidFill>
          <a:ln w="12700">
            <a:solidFill>
              <a:srgbClr val="00704A">
                <a:alpha val="0"/>
              </a:srgbClr>
            </a:solidFill>
            <a:prstDash val="solid"/>
          </a:ln>
        </p:spPr>
      </p:sp>
      <p:pic>
        <p:nvPicPr>
          <p:cNvPr id="49" name="Image 6" descr="preencoded.png"/>
          <p:cNvPicPr>
            <a:picLocks noChangeAspect="1"/>
          </p:cNvPicPr>
          <p:nvPr/>
        </p:nvPicPr>
        <p:blipFill>
          <a:blip r:embed="rId3"/>
          <a:stretch>
            <a:fillRect/>
          </a:stretch>
        </p:blipFill>
        <p:spPr>
          <a:xfrm>
            <a:off x="629473" y="3445825"/>
            <a:ext cx="149230" cy="149230"/>
          </a:xfrm>
          <a:prstGeom prst="rect">
            <a:avLst/>
          </a:prstGeom>
        </p:spPr>
      </p:pic>
      <p:sp>
        <p:nvSpPr>
          <p:cNvPr id="50" name="Text 40"/>
          <p:cNvSpPr txBox="1"/>
          <p:nvPr/>
        </p:nvSpPr>
        <p:spPr>
          <a:xfrm>
            <a:off x="960120" y="3282696"/>
            <a:ext cx="3429000" cy="201168"/>
          </a:xfrm>
          <a:prstGeom prst="rect">
            <a:avLst/>
          </a:prstGeom>
          <a:noFill/>
          <a:ln/>
        </p:spPr>
        <p:txBody>
          <a:bodyPr wrap="square" lIns="0" tIns="0" rIns="0" bIns="0" rtlCol="0" anchor="t"/>
          <a:lstStyle/>
          <a:p>
            <a:pPr marL="0" indent="0">
              <a:buNone/>
            </a:pPr>
            <a:r>
              <a:rPr lang="en-US" sz="1050" b="1" dirty="0">
                <a:solidFill>
                  <a:srgbClr val="00704A"/>
                </a:solidFill>
                <a:latin typeface="Calibri" pitchFamily="34" charset="0"/>
                <a:ea typeface="Calibri" pitchFamily="34" charset="-122"/>
                <a:cs typeface="Calibri" pitchFamily="34" charset="-120"/>
              </a:rPr>
              <a:t>BRDF correction</a:t>
            </a:r>
            <a:endParaRPr lang="en-US" sz="1050" dirty="0"/>
          </a:p>
        </p:txBody>
      </p:sp>
      <p:sp>
        <p:nvSpPr>
          <p:cNvPr id="51" name="Text 41"/>
          <p:cNvSpPr txBox="1"/>
          <p:nvPr/>
        </p:nvSpPr>
        <p:spPr>
          <a:xfrm>
            <a:off x="960120" y="3483864"/>
            <a:ext cx="3474720"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Adjustment for how reflected (lunar) light varies with viewing and illumination angles.</a:t>
            </a:r>
            <a:endParaRPr lang="en-US" sz="850" dirty="0"/>
          </a:p>
        </p:txBody>
      </p:sp>
      <p:sp>
        <p:nvSpPr>
          <p:cNvPr id="52" name="Shape 42"/>
          <p:cNvSpPr/>
          <p:nvPr/>
        </p:nvSpPr>
        <p:spPr>
          <a:xfrm>
            <a:off x="4663440" y="3246120"/>
            <a:ext cx="4023360" cy="548640"/>
          </a:xfrm>
          <a:prstGeom prst="roundRect">
            <a:avLst>
              <a:gd name="adj" fmla="val 13333"/>
            </a:avLst>
          </a:prstGeom>
          <a:solidFill>
            <a:srgbClr val="F4F7F5"/>
          </a:solidFill>
          <a:ln w="9525">
            <a:solidFill>
              <a:srgbClr val="D5DED9"/>
            </a:solidFill>
            <a:prstDash val="solid"/>
          </a:ln>
        </p:spPr>
      </p:sp>
      <p:sp>
        <p:nvSpPr>
          <p:cNvPr id="53" name="Shape 43"/>
          <p:cNvSpPr/>
          <p:nvPr/>
        </p:nvSpPr>
        <p:spPr>
          <a:xfrm>
            <a:off x="4754880" y="3364992"/>
            <a:ext cx="310896" cy="310896"/>
          </a:xfrm>
          <a:prstGeom prst="ellipse">
            <a:avLst/>
          </a:prstGeom>
          <a:solidFill>
            <a:srgbClr val="00704A">
              <a:alpha val="22000"/>
            </a:srgbClr>
          </a:solidFill>
          <a:ln w="12700">
            <a:solidFill>
              <a:srgbClr val="00704A">
                <a:alpha val="0"/>
              </a:srgbClr>
            </a:solidFill>
            <a:prstDash val="solid"/>
          </a:ln>
        </p:spPr>
      </p:sp>
      <p:pic>
        <p:nvPicPr>
          <p:cNvPr id="54" name="Image 7" descr="preencoded.png"/>
          <p:cNvPicPr>
            <a:picLocks noChangeAspect="1"/>
          </p:cNvPicPr>
          <p:nvPr/>
        </p:nvPicPr>
        <p:blipFill>
          <a:blip r:embed="rId3"/>
          <a:stretch>
            <a:fillRect/>
          </a:stretch>
        </p:blipFill>
        <p:spPr>
          <a:xfrm>
            <a:off x="4835713" y="3445825"/>
            <a:ext cx="149230" cy="149230"/>
          </a:xfrm>
          <a:prstGeom prst="rect">
            <a:avLst/>
          </a:prstGeom>
        </p:spPr>
      </p:pic>
      <p:sp>
        <p:nvSpPr>
          <p:cNvPr id="55" name="Text 44"/>
          <p:cNvSpPr txBox="1"/>
          <p:nvPr/>
        </p:nvSpPr>
        <p:spPr>
          <a:xfrm>
            <a:off x="5166360" y="3282696"/>
            <a:ext cx="3429000" cy="201168"/>
          </a:xfrm>
          <a:prstGeom prst="rect">
            <a:avLst/>
          </a:prstGeom>
          <a:noFill/>
          <a:ln/>
        </p:spPr>
        <p:txBody>
          <a:bodyPr wrap="square" lIns="0" tIns="0" rIns="0" bIns="0" rtlCol="0" anchor="t"/>
          <a:lstStyle/>
          <a:p>
            <a:pPr marL="0" indent="0">
              <a:buNone/>
            </a:pPr>
            <a:r>
              <a:rPr lang="en-US" sz="1050" b="1" dirty="0">
                <a:solidFill>
                  <a:srgbClr val="00704A"/>
                </a:solidFill>
                <a:latin typeface="Calibri" pitchFamily="34" charset="0"/>
                <a:ea typeface="Calibri" pitchFamily="34" charset="-122"/>
                <a:cs typeface="Calibri" pitchFamily="34" charset="-120"/>
              </a:rPr>
              <a:t>Zonal statistics</a:t>
            </a:r>
            <a:endParaRPr lang="en-US" sz="1050" dirty="0"/>
          </a:p>
        </p:txBody>
      </p:sp>
      <p:sp>
        <p:nvSpPr>
          <p:cNvPr id="56" name="Text 45"/>
          <p:cNvSpPr txBox="1"/>
          <p:nvPr/>
        </p:nvSpPr>
        <p:spPr>
          <a:xfrm>
            <a:off x="5166360" y="3483864"/>
            <a:ext cx="3474720"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Summary of a raster’s values (sum, mean, count) within each polygon.</a:t>
            </a:r>
            <a:endParaRPr lang="en-US" sz="850" dirty="0"/>
          </a:p>
        </p:txBody>
      </p:sp>
      <p:sp>
        <p:nvSpPr>
          <p:cNvPr id="57" name="Shape 46"/>
          <p:cNvSpPr/>
          <p:nvPr/>
        </p:nvSpPr>
        <p:spPr>
          <a:xfrm>
            <a:off x="457200" y="3886200"/>
            <a:ext cx="4023360" cy="548640"/>
          </a:xfrm>
          <a:prstGeom prst="roundRect">
            <a:avLst>
              <a:gd name="adj" fmla="val 13333"/>
            </a:avLst>
          </a:prstGeom>
          <a:solidFill>
            <a:srgbClr val="F4F7F5"/>
          </a:solidFill>
          <a:ln w="9525">
            <a:solidFill>
              <a:srgbClr val="D5DED9"/>
            </a:solidFill>
            <a:prstDash val="solid"/>
          </a:ln>
        </p:spPr>
      </p:sp>
      <p:sp>
        <p:nvSpPr>
          <p:cNvPr id="58" name="Shape 47"/>
          <p:cNvSpPr/>
          <p:nvPr/>
        </p:nvSpPr>
        <p:spPr>
          <a:xfrm>
            <a:off x="548640" y="4005072"/>
            <a:ext cx="310896" cy="310896"/>
          </a:xfrm>
          <a:prstGeom prst="ellipse">
            <a:avLst/>
          </a:prstGeom>
          <a:solidFill>
            <a:srgbClr val="00704A">
              <a:alpha val="22000"/>
            </a:srgbClr>
          </a:solidFill>
          <a:ln w="12700">
            <a:solidFill>
              <a:srgbClr val="00704A">
                <a:alpha val="0"/>
              </a:srgbClr>
            </a:solidFill>
            <a:prstDash val="solid"/>
          </a:ln>
        </p:spPr>
      </p:sp>
      <p:pic>
        <p:nvPicPr>
          <p:cNvPr id="59" name="Image 8" descr="preencoded.png"/>
          <p:cNvPicPr>
            <a:picLocks noChangeAspect="1"/>
          </p:cNvPicPr>
          <p:nvPr/>
        </p:nvPicPr>
        <p:blipFill>
          <a:blip r:embed="rId3"/>
          <a:stretch>
            <a:fillRect/>
          </a:stretch>
        </p:blipFill>
        <p:spPr>
          <a:xfrm>
            <a:off x="629473" y="4085905"/>
            <a:ext cx="149230" cy="149230"/>
          </a:xfrm>
          <a:prstGeom prst="rect">
            <a:avLst/>
          </a:prstGeom>
        </p:spPr>
      </p:pic>
      <p:sp>
        <p:nvSpPr>
          <p:cNvPr id="60" name="Text 48"/>
          <p:cNvSpPr txBox="1"/>
          <p:nvPr/>
        </p:nvSpPr>
        <p:spPr>
          <a:xfrm>
            <a:off x="960120" y="3922776"/>
            <a:ext cx="3429000" cy="201168"/>
          </a:xfrm>
          <a:prstGeom prst="rect">
            <a:avLst/>
          </a:prstGeom>
          <a:noFill/>
          <a:ln/>
        </p:spPr>
        <p:txBody>
          <a:bodyPr wrap="square" lIns="0" tIns="0" rIns="0" bIns="0" rtlCol="0" anchor="t"/>
          <a:lstStyle/>
          <a:p>
            <a:pPr marL="0" indent="0">
              <a:buNone/>
            </a:pPr>
            <a:r>
              <a:rPr lang="en-US" sz="1050" b="1" dirty="0">
                <a:solidFill>
                  <a:srgbClr val="00704A"/>
                </a:solidFill>
                <a:latin typeface="Calibri" pitchFamily="34" charset="0"/>
                <a:ea typeface="Calibri" pitchFamily="34" charset="-122"/>
                <a:cs typeface="Calibri" pitchFamily="34" charset="-120"/>
              </a:rPr>
              <a:t>Nadir</a:t>
            </a:r>
            <a:endParaRPr lang="en-US" sz="1050" dirty="0"/>
          </a:p>
        </p:txBody>
      </p:sp>
      <p:sp>
        <p:nvSpPr>
          <p:cNvPr id="61" name="Text 49"/>
          <p:cNvSpPr txBox="1"/>
          <p:nvPr/>
        </p:nvSpPr>
        <p:spPr>
          <a:xfrm>
            <a:off x="960120" y="4123944"/>
            <a:ext cx="3474720"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Point directly beneath the satellite, where the pixel footprint is smallest.</a:t>
            </a:r>
            <a:endParaRPr lang="en-US" sz="850" dirty="0"/>
          </a:p>
        </p:txBody>
      </p:sp>
      <p:sp>
        <p:nvSpPr>
          <p:cNvPr id="62" name="Shape 50"/>
          <p:cNvSpPr/>
          <p:nvPr/>
        </p:nvSpPr>
        <p:spPr>
          <a:xfrm>
            <a:off x="4663440" y="3886200"/>
            <a:ext cx="4023360" cy="548640"/>
          </a:xfrm>
          <a:prstGeom prst="roundRect">
            <a:avLst>
              <a:gd name="adj" fmla="val 13333"/>
            </a:avLst>
          </a:prstGeom>
          <a:solidFill>
            <a:srgbClr val="F4F7F5"/>
          </a:solidFill>
          <a:ln w="9525">
            <a:solidFill>
              <a:srgbClr val="D5DED9"/>
            </a:solidFill>
            <a:prstDash val="solid"/>
          </a:ln>
        </p:spPr>
      </p:sp>
      <p:sp>
        <p:nvSpPr>
          <p:cNvPr id="63" name="Shape 51"/>
          <p:cNvSpPr/>
          <p:nvPr/>
        </p:nvSpPr>
        <p:spPr>
          <a:xfrm>
            <a:off x="4754880" y="4005072"/>
            <a:ext cx="310896" cy="310896"/>
          </a:xfrm>
          <a:prstGeom prst="ellipse">
            <a:avLst/>
          </a:prstGeom>
          <a:solidFill>
            <a:srgbClr val="00704A">
              <a:alpha val="22000"/>
            </a:srgbClr>
          </a:solidFill>
          <a:ln w="12700">
            <a:solidFill>
              <a:srgbClr val="00704A">
                <a:alpha val="0"/>
              </a:srgbClr>
            </a:solidFill>
            <a:prstDash val="solid"/>
          </a:ln>
        </p:spPr>
      </p:sp>
      <p:pic>
        <p:nvPicPr>
          <p:cNvPr id="64" name="Image 9" descr="preencoded.png"/>
          <p:cNvPicPr>
            <a:picLocks noChangeAspect="1"/>
          </p:cNvPicPr>
          <p:nvPr/>
        </p:nvPicPr>
        <p:blipFill>
          <a:blip r:embed="rId3"/>
          <a:stretch>
            <a:fillRect/>
          </a:stretch>
        </p:blipFill>
        <p:spPr>
          <a:xfrm>
            <a:off x="4835713" y="4085905"/>
            <a:ext cx="149230" cy="149230"/>
          </a:xfrm>
          <a:prstGeom prst="rect">
            <a:avLst/>
          </a:prstGeom>
        </p:spPr>
      </p:pic>
      <p:sp>
        <p:nvSpPr>
          <p:cNvPr id="65" name="Text 52"/>
          <p:cNvSpPr txBox="1"/>
          <p:nvPr/>
        </p:nvSpPr>
        <p:spPr>
          <a:xfrm>
            <a:off x="5166360" y="3922776"/>
            <a:ext cx="3429000" cy="201168"/>
          </a:xfrm>
          <a:prstGeom prst="rect">
            <a:avLst/>
          </a:prstGeom>
          <a:noFill/>
          <a:ln/>
        </p:spPr>
        <p:txBody>
          <a:bodyPr wrap="square" lIns="0" tIns="0" rIns="0" bIns="0" rtlCol="0" anchor="t"/>
          <a:lstStyle/>
          <a:p>
            <a:pPr marL="0" indent="0">
              <a:buNone/>
            </a:pPr>
            <a:r>
              <a:rPr lang="en-US" sz="1050" b="1" dirty="0">
                <a:solidFill>
                  <a:srgbClr val="00704A"/>
                </a:solidFill>
                <a:latin typeface="Calibri" pitchFamily="34" charset="0"/>
                <a:ea typeface="Calibri" pitchFamily="34" charset="-122"/>
                <a:cs typeface="Calibri" pitchFamily="34" charset="-120"/>
              </a:rPr>
              <a:t>Skyglow</a:t>
            </a:r>
            <a:endParaRPr lang="en-US" sz="1050" dirty="0"/>
          </a:p>
        </p:txBody>
      </p:sp>
      <p:sp>
        <p:nvSpPr>
          <p:cNvPr id="66" name="Text 53"/>
          <p:cNvSpPr txBox="1"/>
          <p:nvPr/>
        </p:nvSpPr>
        <p:spPr>
          <a:xfrm>
            <a:off x="5166360" y="4123944"/>
            <a:ext cx="3474720"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Diffuse brightening of the night sky by artificial light scattered in the atmosphere.</a:t>
            </a:r>
            <a:endParaRPr lang="en-US" sz="85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APPENDIX · SOURCES</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References and data sources</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Night-time lights  ·  AfDB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32</a:t>
            </a:r>
            <a:endParaRPr lang="en-US" sz="850" dirty="0"/>
          </a:p>
        </p:txBody>
      </p:sp>
      <p:sp>
        <p:nvSpPr>
          <p:cNvPr id="17" name="Text 14"/>
          <p:cNvSpPr txBox="1"/>
          <p:nvPr/>
        </p:nvSpPr>
        <p:spPr>
          <a:xfrm>
            <a:off x="457200" y="1298448"/>
            <a:ext cx="5440680" cy="3291840"/>
          </a:xfrm>
          <a:prstGeom prst="rect">
            <a:avLst/>
          </a:prstGeom>
          <a:noFill/>
          <a:ln/>
        </p:spPr>
        <p:txBody>
          <a:bodyPr wrap="square" lIns="0" tIns="0" rIns="0" bIns="0" rtlCol="0" anchor="t"/>
          <a:lstStyle/>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Bruederle, A. and Hodler, R. (2018). Nighttime lights as a proxy for human development at the local level. PLOS ONE, 13(9).</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Elvidge, C. D. et al. (2017). VIIRS night-time lights. International Journal of Remote Sensing, 38(21).</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Falchetta, G. et al. (2019). A high-resolution gridded dataset to assess electrification in sub-Saharan Africa. Scientific Data, 6.</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Henderson, J. V., Storeygard, A. and Weil, D. N. (2012). Measuring economic growth from outer space. American Economic Review, 102(2).</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Kyba, C. et al. (2017). Artificially lit surface of Earth at night increasing in radiance and extent. Science Advances, 3(11).</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Kyba, C. et al. (2023). Citizen scientists report global rapid reductions in the visibility of stars. Science, 379.</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Li, X. and Li, D. (2014). Can night-time light images play a role in evaluating the Syrian crisis? IJRS, 35(18).</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Li, X. et al. (2020). A harmonized global nighttime light dataset 1992–2018. Scientific Data, 7.</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Martinez, L. R. (2022). How much should we trust the dictator’s GDP growth estimates? Journal of Political Economy, 130(10).</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Román, M. O. et al. (2019). Satellite-based assessment of electricity restoration efforts in Puerto Rico after Hurricane Maria. PLOS ONE, 14(6).</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Román, M. O. et al. (2018). NASA’s Black Marble nighttime lights product suite. Remote Sensing of Environment, 210.</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The rural limits of conflict monitoring using nighttime lights (2025). Humanities and Social Sciences Communications.</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IEA, IRENA, UN DESA, World Bank, WHO (2026). Tracking SDG 7: The Energy Progress Report.</a:t>
            </a:r>
            <a:endParaRPr lang="en-US" sz="850" dirty="0"/>
          </a:p>
        </p:txBody>
      </p:sp>
      <p:sp>
        <p:nvSpPr>
          <p:cNvPr id="18" name="Shape 15"/>
          <p:cNvSpPr/>
          <p:nvPr/>
        </p:nvSpPr>
        <p:spPr>
          <a:xfrm>
            <a:off x="6080760" y="1325880"/>
            <a:ext cx="2606040" cy="3246120"/>
          </a:xfrm>
          <a:prstGeom prst="roundRect">
            <a:avLst>
              <a:gd name="adj" fmla="val 2807"/>
            </a:avLst>
          </a:prstGeom>
          <a:solidFill>
            <a:srgbClr val="E8F5EF"/>
          </a:solidFill>
          <a:ln w="15875">
            <a:solidFill>
              <a:srgbClr val="00A86A"/>
            </a:solidFill>
            <a:prstDash val="solid"/>
          </a:ln>
        </p:spPr>
      </p:sp>
      <p:sp>
        <p:nvSpPr>
          <p:cNvPr id="19" name="Text 16"/>
          <p:cNvSpPr txBox="1"/>
          <p:nvPr/>
        </p:nvSpPr>
        <p:spPr>
          <a:xfrm>
            <a:off x="6217920" y="1417320"/>
            <a:ext cx="2286000" cy="182880"/>
          </a:xfrm>
          <a:prstGeom prst="rect">
            <a:avLst/>
          </a:prstGeom>
          <a:noFill/>
          <a:ln/>
        </p:spPr>
        <p:txBody>
          <a:bodyPr wrap="square" lIns="0" tIns="0" rIns="0" bIns="0" rtlCol="0" anchor="t"/>
          <a:lstStyle/>
          <a:p>
            <a:pPr marL="0" indent="0">
              <a:buNone/>
            </a:pPr>
            <a:r>
              <a:rPr lang="en-US" sz="1000" b="1" kern="0" spc="200" dirty="0">
                <a:solidFill>
                  <a:srgbClr val="00704A"/>
                </a:solidFill>
                <a:latin typeface="Calibri" pitchFamily="34" charset="0"/>
                <a:ea typeface="Calibri" pitchFamily="34" charset="-122"/>
                <a:cs typeface="Calibri" pitchFamily="34" charset="-120"/>
              </a:rPr>
              <a:t>DATA AND TOOLS</a:t>
            </a:r>
            <a:endParaRPr lang="en-US" sz="1000" dirty="0"/>
          </a:p>
        </p:txBody>
      </p:sp>
      <p:sp>
        <p:nvSpPr>
          <p:cNvPr id="20" name="Shape 17"/>
          <p:cNvSpPr/>
          <p:nvPr/>
        </p:nvSpPr>
        <p:spPr>
          <a:xfrm>
            <a:off x="6217920" y="1719072"/>
            <a:ext cx="365760" cy="365760"/>
          </a:xfrm>
          <a:prstGeom prst="ellipse">
            <a:avLst/>
          </a:prstGeom>
          <a:solidFill>
            <a:srgbClr val="00A86A">
              <a:alpha val="22000"/>
            </a:srgbClr>
          </a:solidFill>
          <a:ln w="12700">
            <a:solidFill>
              <a:srgbClr val="00A86A">
                <a:alpha val="0"/>
              </a:srgbClr>
            </a:solidFill>
            <a:prstDash val="solid"/>
          </a:ln>
        </p:spPr>
      </p:sp>
      <p:pic>
        <p:nvPicPr>
          <p:cNvPr id="21" name="Image 0" descr="preencoded.png"/>
          <p:cNvPicPr>
            <a:picLocks noChangeAspect="1"/>
          </p:cNvPicPr>
          <p:nvPr/>
        </p:nvPicPr>
        <p:blipFill>
          <a:blip r:embed="rId3"/>
          <a:stretch>
            <a:fillRect/>
          </a:stretch>
        </p:blipFill>
        <p:spPr>
          <a:xfrm>
            <a:off x="6313018" y="1814170"/>
            <a:ext cx="175565" cy="175565"/>
          </a:xfrm>
          <a:prstGeom prst="rect">
            <a:avLst/>
          </a:prstGeom>
        </p:spPr>
      </p:pic>
      <p:sp>
        <p:nvSpPr>
          <p:cNvPr id="22" name="Text 18"/>
          <p:cNvSpPr txBox="1"/>
          <p:nvPr/>
        </p:nvSpPr>
        <p:spPr>
          <a:xfrm>
            <a:off x="6675120" y="1682496"/>
            <a:ext cx="1965960" cy="237744"/>
          </a:xfrm>
          <a:prstGeom prst="rect">
            <a:avLst/>
          </a:prstGeom>
          <a:noFill/>
          <a:ln/>
        </p:spPr>
        <p:txBody>
          <a:bodyPr wrap="square" lIns="0" tIns="0" rIns="0" bIns="0" rtlCol="0" anchor="t"/>
          <a:lstStyle/>
          <a:p>
            <a:pPr marL="0" indent="0">
              <a:buNone/>
            </a:pPr>
            <a:r>
              <a:rPr lang="en-US" sz="950" b="1" dirty="0">
                <a:solidFill>
                  <a:srgbClr val="231F20"/>
                </a:solidFill>
                <a:latin typeface="Calibri" pitchFamily="34" charset="0"/>
                <a:ea typeface="Calibri" pitchFamily="34" charset="-122"/>
                <a:cs typeface="Calibri" pitchFamily="34" charset="-120"/>
              </a:rPr>
              <a:t>NASA Black Marble</a:t>
            </a:r>
            <a:endParaRPr lang="en-US" sz="950" dirty="0"/>
          </a:p>
        </p:txBody>
      </p:sp>
      <p:sp>
        <p:nvSpPr>
          <p:cNvPr id="23" name="Text 19"/>
          <p:cNvSpPr txBox="1"/>
          <p:nvPr/>
        </p:nvSpPr>
        <p:spPr>
          <a:xfrm>
            <a:off x="6675120" y="1920240"/>
            <a:ext cx="196596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LAADS DAAC · Earthdata</a:t>
            </a:r>
            <a:endParaRPr lang="en-US" sz="850" dirty="0"/>
          </a:p>
        </p:txBody>
      </p:sp>
      <p:sp>
        <p:nvSpPr>
          <p:cNvPr id="24" name="Shape 20"/>
          <p:cNvSpPr/>
          <p:nvPr/>
        </p:nvSpPr>
        <p:spPr>
          <a:xfrm>
            <a:off x="6217920" y="2267712"/>
            <a:ext cx="365760" cy="365760"/>
          </a:xfrm>
          <a:prstGeom prst="ellipse">
            <a:avLst/>
          </a:prstGeom>
          <a:solidFill>
            <a:srgbClr val="00A86A">
              <a:alpha val="22000"/>
            </a:srgbClr>
          </a:solidFill>
          <a:ln w="12700">
            <a:solidFill>
              <a:srgbClr val="00A86A">
                <a:alpha val="0"/>
              </a:srgbClr>
            </a:solidFill>
            <a:prstDash val="solid"/>
          </a:ln>
        </p:spPr>
      </p:sp>
      <p:pic>
        <p:nvPicPr>
          <p:cNvPr id="25" name="Image 1" descr="preencoded.png"/>
          <p:cNvPicPr>
            <a:picLocks noChangeAspect="1"/>
          </p:cNvPicPr>
          <p:nvPr/>
        </p:nvPicPr>
        <p:blipFill>
          <a:blip r:embed="rId4"/>
          <a:stretch>
            <a:fillRect/>
          </a:stretch>
        </p:blipFill>
        <p:spPr>
          <a:xfrm>
            <a:off x="6313018" y="2362810"/>
            <a:ext cx="175565" cy="175565"/>
          </a:xfrm>
          <a:prstGeom prst="rect">
            <a:avLst/>
          </a:prstGeom>
        </p:spPr>
      </p:pic>
      <p:sp>
        <p:nvSpPr>
          <p:cNvPr id="26" name="Text 21"/>
          <p:cNvSpPr txBox="1"/>
          <p:nvPr/>
        </p:nvSpPr>
        <p:spPr>
          <a:xfrm>
            <a:off x="6675120" y="2231136"/>
            <a:ext cx="1965960" cy="237744"/>
          </a:xfrm>
          <a:prstGeom prst="rect">
            <a:avLst/>
          </a:prstGeom>
          <a:noFill/>
          <a:ln/>
        </p:spPr>
        <p:txBody>
          <a:bodyPr wrap="square" lIns="0" tIns="0" rIns="0" bIns="0" rtlCol="0" anchor="t"/>
          <a:lstStyle/>
          <a:p>
            <a:pPr marL="0" indent="0">
              <a:buNone/>
            </a:pPr>
            <a:r>
              <a:rPr lang="en-US" sz="950" b="1" dirty="0">
                <a:solidFill>
                  <a:srgbClr val="231F20"/>
                </a:solidFill>
                <a:latin typeface="Calibri" pitchFamily="34" charset="0"/>
                <a:ea typeface="Calibri" pitchFamily="34" charset="-122"/>
                <a:cs typeface="Calibri" pitchFamily="34" charset="-120"/>
              </a:rPr>
              <a:t>Earth Observation Group</a:t>
            </a:r>
            <a:endParaRPr lang="en-US" sz="950" dirty="0"/>
          </a:p>
        </p:txBody>
      </p:sp>
      <p:sp>
        <p:nvSpPr>
          <p:cNvPr id="27" name="Text 22"/>
          <p:cNvSpPr txBox="1"/>
          <p:nvPr/>
        </p:nvSpPr>
        <p:spPr>
          <a:xfrm>
            <a:off x="6675120" y="2468880"/>
            <a:ext cx="196596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VNL composites, Nightfire</a:t>
            </a:r>
            <a:endParaRPr lang="en-US" sz="850" dirty="0"/>
          </a:p>
        </p:txBody>
      </p:sp>
      <p:sp>
        <p:nvSpPr>
          <p:cNvPr id="28" name="Shape 23"/>
          <p:cNvSpPr/>
          <p:nvPr/>
        </p:nvSpPr>
        <p:spPr>
          <a:xfrm>
            <a:off x="6217920" y="2816352"/>
            <a:ext cx="365760" cy="365760"/>
          </a:xfrm>
          <a:prstGeom prst="ellipse">
            <a:avLst/>
          </a:prstGeom>
          <a:solidFill>
            <a:srgbClr val="00A86A">
              <a:alpha val="22000"/>
            </a:srgbClr>
          </a:solidFill>
          <a:ln w="12700">
            <a:solidFill>
              <a:srgbClr val="00A86A">
                <a:alpha val="0"/>
              </a:srgbClr>
            </a:solidFill>
            <a:prstDash val="solid"/>
          </a:ln>
        </p:spPr>
      </p:sp>
      <p:pic>
        <p:nvPicPr>
          <p:cNvPr id="29" name="Image 2" descr="preencoded.png"/>
          <p:cNvPicPr>
            <a:picLocks noChangeAspect="1"/>
          </p:cNvPicPr>
          <p:nvPr/>
        </p:nvPicPr>
        <p:blipFill>
          <a:blip r:embed="rId5"/>
          <a:stretch>
            <a:fillRect/>
          </a:stretch>
        </p:blipFill>
        <p:spPr>
          <a:xfrm>
            <a:off x="6313018" y="2911450"/>
            <a:ext cx="175565" cy="175565"/>
          </a:xfrm>
          <a:prstGeom prst="rect">
            <a:avLst/>
          </a:prstGeom>
        </p:spPr>
      </p:pic>
      <p:sp>
        <p:nvSpPr>
          <p:cNvPr id="30" name="Text 24"/>
          <p:cNvSpPr txBox="1"/>
          <p:nvPr/>
        </p:nvSpPr>
        <p:spPr>
          <a:xfrm>
            <a:off x="6675120" y="2779776"/>
            <a:ext cx="1965960" cy="237744"/>
          </a:xfrm>
          <a:prstGeom prst="rect">
            <a:avLst/>
          </a:prstGeom>
          <a:noFill/>
          <a:ln/>
        </p:spPr>
        <p:txBody>
          <a:bodyPr wrap="square" lIns="0" tIns="0" rIns="0" bIns="0" rtlCol="0" anchor="t"/>
          <a:lstStyle/>
          <a:p>
            <a:pPr marL="0" indent="0">
              <a:buNone/>
            </a:pPr>
            <a:r>
              <a:rPr lang="en-US" sz="950" b="1" dirty="0">
                <a:solidFill>
                  <a:srgbClr val="231F20"/>
                </a:solidFill>
                <a:latin typeface="Calibri" pitchFamily="34" charset="0"/>
                <a:ea typeface="Calibri" pitchFamily="34" charset="-122"/>
                <a:cs typeface="Calibri" pitchFamily="34" charset="-120"/>
              </a:rPr>
              <a:t>Google Earth Engine</a:t>
            </a:r>
            <a:endParaRPr lang="en-US" sz="950" dirty="0"/>
          </a:p>
        </p:txBody>
      </p:sp>
      <p:sp>
        <p:nvSpPr>
          <p:cNvPr id="31" name="Text 25"/>
          <p:cNvSpPr txBox="1"/>
          <p:nvPr/>
        </p:nvSpPr>
        <p:spPr>
          <a:xfrm>
            <a:off x="6675120" y="3017520"/>
            <a:ext cx="196596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Hosted, analysis-ready archive</a:t>
            </a:r>
            <a:endParaRPr lang="en-US" sz="850" dirty="0"/>
          </a:p>
        </p:txBody>
      </p:sp>
      <p:sp>
        <p:nvSpPr>
          <p:cNvPr id="32" name="Shape 26"/>
          <p:cNvSpPr/>
          <p:nvPr/>
        </p:nvSpPr>
        <p:spPr>
          <a:xfrm>
            <a:off x="6217920" y="3364992"/>
            <a:ext cx="365760" cy="365760"/>
          </a:xfrm>
          <a:prstGeom prst="ellipse">
            <a:avLst/>
          </a:prstGeom>
          <a:solidFill>
            <a:srgbClr val="00A86A">
              <a:alpha val="22000"/>
            </a:srgbClr>
          </a:solidFill>
          <a:ln w="12700">
            <a:solidFill>
              <a:srgbClr val="00A86A">
                <a:alpha val="0"/>
              </a:srgbClr>
            </a:solidFill>
            <a:prstDash val="solid"/>
          </a:ln>
        </p:spPr>
      </p:sp>
      <p:pic>
        <p:nvPicPr>
          <p:cNvPr id="33" name="Image 3" descr="preencoded.png"/>
          <p:cNvPicPr>
            <a:picLocks noChangeAspect="1"/>
          </p:cNvPicPr>
          <p:nvPr/>
        </p:nvPicPr>
        <p:blipFill>
          <a:blip r:embed="rId6"/>
          <a:stretch>
            <a:fillRect/>
          </a:stretch>
        </p:blipFill>
        <p:spPr>
          <a:xfrm>
            <a:off x="6313018" y="3460090"/>
            <a:ext cx="175565" cy="175565"/>
          </a:xfrm>
          <a:prstGeom prst="rect">
            <a:avLst/>
          </a:prstGeom>
        </p:spPr>
      </p:pic>
      <p:sp>
        <p:nvSpPr>
          <p:cNvPr id="34" name="Text 27"/>
          <p:cNvSpPr txBox="1"/>
          <p:nvPr/>
        </p:nvSpPr>
        <p:spPr>
          <a:xfrm>
            <a:off x="6675120" y="3328416"/>
            <a:ext cx="1965960" cy="237744"/>
          </a:xfrm>
          <a:prstGeom prst="rect">
            <a:avLst/>
          </a:prstGeom>
          <a:noFill/>
          <a:ln/>
        </p:spPr>
        <p:txBody>
          <a:bodyPr wrap="square" lIns="0" tIns="0" rIns="0" bIns="0" rtlCol="0" anchor="t"/>
          <a:lstStyle/>
          <a:p>
            <a:pPr marL="0" indent="0">
              <a:buNone/>
            </a:pPr>
            <a:r>
              <a:rPr lang="en-US" sz="950" b="1" dirty="0">
                <a:solidFill>
                  <a:srgbClr val="231F20"/>
                </a:solidFill>
                <a:latin typeface="Calibri" pitchFamily="34" charset="0"/>
                <a:ea typeface="Calibri" pitchFamily="34" charset="-122"/>
                <a:cs typeface="Calibri" pitchFamily="34" charset="-120"/>
              </a:rPr>
              <a:t>HREA</a:t>
            </a:r>
            <a:endParaRPr lang="en-US" sz="950" dirty="0"/>
          </a:p>
        </p:txBody>
      </p:sp>
      <p:sp>
        <p:nvSpPr>
          <p:cNvPr id="35" name="Text 28"/>
          <p:cNvSpPr txBox="1"/>
          <p:nvPr/>
        </p:nvSpPr>
        <p:spPr>
          <a:xfrm>
            <a:off x="6675120" y="3566160"/>
            <a:ext cx="196596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Electricity access by settlement</a:t>
            </a:r>
            <a:endParaRPr lang="en-US" sz="850" dirty="0"/>
          </a:p>
        </p:txBody>
      </p:sp>
      <p:sp>
        <p:nvSpPr>
          <p:cNvPr id="36" name="Shape 29"/>
          <p:cNvSpPr/>
          <p:nvPr/>
        </p:nvSpPr>
        <p:spPr>
          <a:xfrm>
            <a:off x="6217920" y="3913632"/>
            <a:ext cx="365760" cy="365760"/>
          </a:xfrm>
          <a:prstGeom prst="ellipse">
            <a:avLst/>
          </a:prstGeom>
          <a:solidFill>
            <a:srgbClr val="00A86A">
              <a:alpha val="22000"/>
            </a:srgbClr>
          </a:solidFill>
          <a:ln w="12700">
            <a:solidFill>
              <a:srgbClr val="00A86A">
                <a:alpha val="0"/>
              </a:srgbClr>
            </a:solidFill>
            <a:prstDash val="solid"/>
          </a:ln>
        </p:spPr>
      </p:sp>
      <p:pic>
        <p:nvPicPr>
          <p:cNvPr id="37" name="Image 4" descr="preencoded.png"/>
          <p:cNvPicPr>
            <a:picLocks noChangeAspect="1"/>
          </p:cNvPicPr>
          <p:nvPr/>
        </p:nvPicPr>
        <p:blipFill>
          <a:blip r:embed="rId7"/>
          <a:stretch>
            <a:fillRect/>
          </a:stretch>
        </p:blipFill>
        <p:spPr>
          <a:xfrm>
            <a:off x="6313018" y="4008730"/>
            <a:ext cx="175565" cy="175565"/>
          </a:xfrm>
          <a:prstGeom prst="rect">
            <a:avLst/>
          </a:prstGeom>
        </p:spPr>
      </p:pic>
      <p:sp>
        <p:nvSpPr>
          <p:cNvPr id="38" name="Text 30"/>
          <p:cNvSpPr txBox="1"/>
          <p:nvPr/>
        </p:nvSpPr>
        <p:spPr>
          <a:xfrm>
            <a:off x="6675120" y="3877056"/>
            <a:ext cx="1965960" cy="237744"/>
          </a:xfrm>
          <a:prstGeom prst="rect">
            <a:avLst/>
          </a:prstGeom>
          <a:noFill/>
          <a:ln/>
        </p:spPr>
        <p:txBody>
          <a:bodyPr wrap="square" lIns="0" tIns="0" rIns="0" bIns="0" rtlCol="0" anchor="t"/>
          <a:lstStyle/>
          <a:p>
            <a:pPr marL="0" indent="0">
              <a:buNone/>
            </a:pPr>
            <a:r>
              <a:rPr lang="en-US" sz="950" b="1" dirty="0">
                <a:solidFill>
                  <a:srgbClr val="231F20"/>
                </a:solidFill>
                <a:latin typeface="Calibri" pitchFamily="34" charset="0"/>
                <a:ea typeface="Calibri" pitchFamily="34" charset="-122"/>
                <a:cs typeface="Calibri" pitchFamily="34" charset="-120"/>
              </a:rPr>
              <a:t>Open Nighttime Lights</a:t>
            </a:r>
            <a:endParaRPr lang="en-US" sz="950" dirty="0"/>
          </a:p>
        </p:txBody>
      </p:sp>
      <p:sp>
        <p:nvSpPr>
          <p:cNvPr id="39" name="Text 31"/>
          <p:cNvSpPr txBox="1"/>
          <p:nvPr/>
        </p:nvSpPr>
        <p:spPr>
          <a:xfrm>
            <a:off x="6675120" y="4114800"/>
            <a:ext cx="196596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World Bank tutorials</a:t>
            </a:r>
            <a:endParaRPr lang="en-US" sz="85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Nuit urbaine">
  <a:themeElements>
    <a:clrScheme name="Nuit urbaine">
      <a:dk1>
        <a:srgbClr val="0B1A33"/>
      </a:dk1>
      <a:lt1>
        <a:srgbClr val="FFFFFF"/>
      </a:lt1>
      <a:dk2>
        <a:srgbClr val="16294A"/>
      </a:dk2>
      <a:lt2>
        <a:srgbClr val="C9D3E3"/>
      </a:lt2>
      <a:accent1>
        <a:srgbClr val="F5B841"/>
      </a:accent1>
      <a:accent2>
        <a:srgbClr val="6FC8F2"/>
      </a:accent2>
      <a:accent3>
        <a:srgbClr val="FF8A5B"/>
      </a:accent3>
      <a:accent4>
        <a:srgbClr val="86D28E"/>
      </a:accent4>
      <a:accent5>
        <a:srgbClr val="C2A8F7"/>
      </a:accent5>
      <a:accent6>
        <a:srgbClr val="A9B6CC"/>
      </a:accent6>
      <a:hlink>
        <a:srgbClr val="6FC8F2"/>
      </a:hlink>
      <a:folHlink>
        <a:srgbClr val="C2A8F7"/>
      </a:folHlink>
    </a:clrScheme>
    <a:fontScheme name="Nuit urbai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369</TotalTime>
  <Words>7555</Words>
  <Application>Microsoft Office PowerPoint</Application>
  <PresentationFormat>On-screen Show (16:9)</PresentationFormat>
  <Paragraphs>664</Paragraphs>
  <Slides>32</Slides>
  <Notes>30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32</vt:i4>
      </vt:variant>
    </vt:vector>
  </HeadingPairs>
  <TitlesOfParts>
    <vt:vector size="38" baseType="lpstr">
      <vt:lpstr>Aptos</vt:lpstr>
      <vt:lpstr>Arial</vt:lpstr>
      <vt:lpstr>Calibri</vt:lpstr>
      <vt:lpstr>Cambria</vt:lpstr>
      <vt:lpstr>Office Theme</vt:lpstr>
      <vt:lpstr>Nuit urbaine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African Development 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Night-time lights: what darkness tells us — AfDB – Data Innovation for Africa (DI4A)</dc:title>
  <dc:subject>PptxGenJS Presentation</dc:subject>
  <dc:creator>Banque africaine de développement – Data Innovation for Africa (DI4A)</dc:creator>
  <cp:lastModifiedBy>HADJ TAIEB, MOHAMED ALI</cp:lastModifiedBy>
  <cp:revision>17</cp:revision>
  <dcterms:created xsi:type="dcterms:W3CDTF">2026-09-16T15:29:04Z</dcterms:created>
  <dcterms:modified xsi:type="dcterms:W3CDTF">2026-10-27T02:58:31Z</dcterms:modified>
</cp:coreProperties>
</file>