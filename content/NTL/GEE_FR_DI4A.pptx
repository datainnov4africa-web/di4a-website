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9"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3688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Dans ce guide de la Banque africaine de développement – Data Innovation for Africa (DI4A), nous suivons le parcours d’inscription à Google Earth Engine dans la console Google Cloud, jusqu’à l’obtention d’un projet enregistré pour un usage non commercial. Chaque diapositive reprend une capture d’écran réelle. Ce projet vous servira pour les séances sur les lumières nocturnes et les données géospatiales.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formulaire d'inscription se déroule en cinq étapes dans la console, suivies de l'activation de l'API et de la gestion du projet. Nous les regroupons ici en six sections ; chacune garde sa couleur, visible dans les points de progression en haut à droite des diapositives.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s’inscrire dès aujourd’hui : plusieurs séances utilisent des données satellitaires — les lumières nocturnes Black Marble de la NASA, ainsi que les outils géospatiaux pour les statistiques des terres cultivées et la classification de la couverture terrestre. En finalisant l’inscription maintenant, votre projet Earth Engine sera prêt avant ces séances.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 indiquer à Google le type d'organisation qui utilisera Earth Engine. Ce choix oriente la suite du questionnaire.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ouvre la console Google Cloud, rubrique Earth Engine, puis Configuration et Register. La première question porte sur le type d'organisation : dans notre exemple, Nonprofit. On valide avec Next. Le formulaire affiche les cinq étapes : type d'organisation, éligibilité non commerciale, plan, description du travail et récapitulatif.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 le questionnaire d'éligibilité. Les réponses déterminent si le projet peut bénéficier de l'accès non commercial gratuit.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saisit le nom de l'organisation, ici INS_Africa. À la question sur les paiements reçus d'entités commerciales, opérationnelles ou gouvernementales, on répond No ; le formulaire précise que les subventions de recherche ne sont pas concernées. Pour l'usage, on choisit Operational decision making, c'est-à-dire des analyses en appui à l'action publique. Les participants saisissent ici le nom de leur propre institution — institut national de statistique ou banque centrale.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poursuit le questionnaire : nous menons bien de la recherche avec Earth Engine, la portée de l'étude est régionale et la région précisée est Africa. Nous n'avons pas encore publié de travaux sur ce sujet utilisant Earth Engine. On clique ensuite sur Check eligibility.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vérification, la console affiche un message confirmant l'éligibilité à l'usage non commercial d'Earth Engine. Si ce message n'apparaît pas, il faut revoir les réponses précédentes. On clique sur Next pour passer au choix du plan.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 choisir le palier de quota. Deux paliers sont proposés aux projets non commerciaux vérifiés.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paliers sont proposés. Community : 150 EECU-heures par mois, sans compte de facturation, adapté aux usages à faible calcul. Contributor : 1 000 EECU-heures par mois ; un compte de facturation actif est requis, mais l'usage non commercial d'Earth Engine n'est pas facturé. Pour des besoins encore plus importants, les organisations peuvent candidater au palier Partner. Nous retenons Community, puis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 décrire le travail mené avec Earth Engine, à travers des catégories climatiques et des domaines d'usage.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premières étapes sont validées. On indique maintenant si le travail relève de la mitigation, de l'adaptation ou de la protection et conservation. Ici, Adaptation et Protection &amp; conservation sont cochées. Il faut ensuite renseigner obligatoirement le champ sur les domaines d'utilisation.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déroulante propose de nombreux domaines : agriculture, qualité de l'air, urbanisme, intelligence artificielle… Il faut en cocher au moins un, sinon le message This field is required empêche de continuer. Ici, on sélectionne Artificial intelligence and machine learning, puis OK et Next. Vous pouvez aussi cocher les domaines liés à votre travail, par exemple l’agriculture, utile pour le cas d’usage sur les terres cultivées.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étape : relire le récapitulatif, lancer l'inscription et activer l'API Earth Engine.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récapitulatif reprend toutes les réponses : région Africa, pas de publication antérieure, plan Community, catégories Adaptation et Protection &amp; conservation, usage AI/ML. Un encadré rappelle que ces informations servent à vérifier l'éligibilité et à évaluer l'impact d'Earth Engine. Si tout est correct, on clique sur Register.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finaliser l'inscription, la console demande d'activer l'API Google Earth Engine. Le statut indique d'abord Not enabled : on clique sur Enable. Le statut passe alors à In progress et la mention Processing apparaît. Il suffit de patienter quelques instants sans fermer la fenêtre.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section : l'inscription est confirmée ; on voit comment la gérer et, si besoin, créer un nouveau projet.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est désormais enregistré pour un usage non commercial, au palier Community. La page indique aussi la date d'expiration de l'éligibilité — ici le 25 mars 2028 pour ce projet. Continue mène à la page Overview pour accéder à l'API et aux jeux de données. Le bouton Manage registration, encadré, permet de modifier l'inscription.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Manage Registration rappelle toutes les réponses enregistrées. En bas, trois actions : Update answers pour les modifier, Switch to commercial si le projet ne remplit plus les critères non commerciaux, et Register a new project, encadré, pour inscrire un autre projet.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cliquant sur Register a new project, la fenêtre Select a resource s'ouvre. Elle liste les projets récents ; notez que plusieurs portent le nom My First Project, seul l'ID permet de les distinguer. On peut choisir un projet existant ou cliquer sur New project, encadré.</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créer un projet, on renseigne son nom ; la console génère un ID, modifiable avec Edit, mais qui ne pourra plus être changé ensuite. On choisit l'organisation et la ressource parente, également définitives, puis Create. Il faudra ensuite enregistrer ce nouveau projet pour Earth Engine en reprenant les étapes vues précédemment.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captures proviennent de la console Google Cloud. Les informations sur les paliers de quota sont tirées de la documentation officielle Google for Developers. L'interface pouvant évoluer, il est conseillé de se référer à la documentation en cas de différence.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Votre projet Earth Engine est prêt. Gardez l’identifiant du projet à portée de main : vous l’utiliserez lors des séances sur les lumières nocturnes et sur les outils et données géospatiales. Des questions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png"/><Relationship Id="rId7" Type="http://schemas.openxmlformats.org/officeDocument/2006/relationships/hyperlink" Target="https://developers.google.com/earth-engine/guides/access"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hyperlink" Target="https://console.cloud.google.com/earth-engine/configuration" TargetMode="External"/><Relationship Id="rId4" Type="http://schemas.openxmlformats.org/officeDocument/2006/relationships/image" Target="../media/image31.png"/><Relationship Id="rId9" Type="http://schemas.openxmlformats.org/officeDocument/2006/relationships/hyperlink" Target="https://developers.google.com/earth-engine/guides/noncommercial_tiers"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097280"/>
            <a:ext cx="786384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BAD – DATA INNOVATION FOR AFRICA (DI4A)</a:t>
            </a:r>
            <a:endParaRPr lang="en-US" sz="1100" dirty="0"/>
          </a:p>
        </p:txBody>
      </p:sp>
      <p:sp>
        <p:nvSpPr>
          <p:cNvPr id="3" name="Text 1"/>
          <p:cNvSpPr txBox="1"/>
          <p:nvPr/>
        </p:nvSpPr>
        <p:spPr>
          <a:xfrm>
            <a:off x="548640" y="1463040"/>
            <a:ext cx="5760720" cy="1463040"/>
          </a:xfrm>
          <a:prstGeom prst="rect">
            <a:avLst/>
          </a:prstGeom>
          <a:noFill/>
          <a:ln/>
        </p:spPr>
        <p:txBody>
          <a:bodyPr wrap="square" lIns="0" tIns="0" rIns="0" bIns="0" rtlCol="0" anchor="t"/>
          <a:lstStyle/>
          <a:p>
            <a:pPr marL="0" indent="0">
              <a:buNone/>
            </a:pPr>
            <a:r>
              <a:rPr lang="en-US" sz="4600" b="1" dirty="0">
                <a:solidFill>
                  <a:srgbClr val="FFFFFF"/>
                </a:solidFill>
                <a:latin typeface="Calibri" pitchFamily="34" charset="0"/>
                <a:ea typeface="Calibri" pitchFamily="34" charset="-122"/>
                <a:cs typeface="Calibri" pitchFamily="34" charset="-120"/>
              </a:rPr>
              <a:t>S'inscrire à Google Earth Engine</a:t>
            </a:r>
            <a:endParaRPr lang="en-US" sz="4600" dirty="0"/>
          </a:p>
        </p:txBody>
      </p:sp>
      <p:sp>
        <p:nvSpPr>
          <p:cNvPr id="4" name="Text 2"/>
          <p:cNvSpPr txBox="1"/>
          <p:nvPr/>
        </p:nvSpPr>
        <p:spPr>
          <a:xfrm>
            <a:off x="548640" y="3017520"/>
            <a:ext cx="5303520" cy="685800"/>
          </a:xfrm>
          <a:prstGeom prst="rect">
            <a:avLst/>
          </a:prstGeom>
          <a:noFill/>
          <a:ln/>
        </p:spPr>
        <p:txBody>
          <a:bodyPr wrap="square" lIns="0" tIns="0" rIns="0" bIns="0" rtlCol="0" anchor="t"/>
          <a:lstStyle/>
          <a:p>
            <a:pPr marL="0" indent="0">
              <a:buNone/>
            </a:pPr>
            <a:r>
              <a:rPr lang="en-US" sz="1800" i="1" dirty="0">
                <a:solidFill>
                  <a:srgbClr val="E8F4EB"/>
                </a:solidFill>
                <a:latin typeface="Calibri" pitchFamily="34" charset="0"/>
                <a:ea typeface="Calibri" pitchFamily="34" charset="-122"/>
                <a:cs typeface="Calibri" pitchFamily="34" charset="-120"/>
              </a:rPr>
              <a:t>Guide pas à pas pour enregistrer un projet Google Cloud en usage non commercial</a:t>
            </a:r>
            <a:endParaRPr lang="en-US" sz="1800" dirty="0"/>
          </a:p>
        </p:txBody>
      </p:sp>
      <p:sp>
        <p:nvSpPr>
          <p:cNvPr id="5" name="Shape 3"/>
          <p:cNvSpPr/>
          <p:nvPr/>
        </p:nvSpPr>
        <p:spPr>
          <a:xfrm>
            <a:off x="5897880" y="914400"/>
            <a:ext cx="2834640" cy="2834640"/>
          </a:xfrm>
          <a:prstGeom prst="ellipse">
            <a:avLst/>
          </a:prstGeom>
          <a:solidFill>
            <a:srgbClr val="FFFFFF">
              <a:alpha val="12000"/>
            </a:srgbClr>
          </a:solidFill>
          <a:ln w="9525">
            <a:solidFill>
              <a:srgbClr val="FFFFFF">
                <a:alpha val="40000"/>
              </a:srgbClr>
            </a:solidFill>
            <a:prstDash val="solid"/>
          </a:ln>
        </p:spPr>
      </p:sp>
      <p:sp>
        <p:nvSpPr>
          <p:cNvPr id="6" name="Shape 4"/>
          <p:cNvSpPr/>
          <p:nvPr/>
        </p:nvSpPr>
        <p:spPr>
          <a:xfrm>
            <a:off x="6291072" y="1307592"/>
            <a:ext cx="2048256" cy="2048256"/>
          </a:xfrm>
          <a:prstGeom prst="ellipse">
            <a:avLst/>
          </a:prstGeom>
          <a:solidFill>
            <a:srgbClr val="FFFFFF">
              <a:alpha val="22000"/>
            </a:srgbClr>
          </a:solidFill>
          <a:ln w="9525">
            <a:solidFill>
              <a:srgbClr val="FFFFFF">
                <a:alpha val="40000"/>
              </a:srgbClr>
            </a:solidFill>
            <a:prstDash val="solid"/>
          </a:ln>
        </p:spPr>
      </p:sp>
      <p:sp>
        <p:nvSpPr>
          <p:cNvPr id="7" name="Shape 5"/>
          <p:cNvSpPr/>
          <p:nvPr/>
        </p:nvSpPr>
        <p:spPr>
          <a:xfrm>
            <a:off x="6629400" y="1645920"/>
            <a:ext cx="1371600" cy="1371600"/>
          </a:xfrm>
          <a:prstGeom prst="ellipse">
            <a:avLst/>
          </a:prstGeom>
          <a:solidFill>
            <a:srgbClr val="FFFFFF"/>
          </a:solidFill>
          <a:ln/>
        </p:spPr>
      </p:sp>
      <p:pic>
        <p:nvPicPr>
          <p:cNvPr id="8" name="Image 0" descr="preencoded.png"/>
          <p:cNvPicPr>
            <a:picLocks noChangeAspect="1"/>
          </p:cNvPicPr>
          <p:nvPr/>
        </p:nvPicPr>
        <p:blipFill>
          <a:blip r:embed="rId4"/>
          <a:stretch>
            <a:fillRect/>
          </a:stretch>
        </p:blipFill>
        <p:spPr>
          <a:xfrm>
            <a:off x="6931152" y="1947672"/>
            <a:ext cx="768096" cy="768096"/>
          </a:xfrm>
          <a:prstGeom prst="rect">
            <a:avLst/>
          </a:prstGeom>
        </p:spPr>
      </p:pic>
      <p:pic>
        <p:nvPicPr>
          <p:cNvPr id="9" name="AfDB DI4A logo" descr="Logo de la Banque africaine de développement – Data Innovation for Africa (DI4A)"/>
          <p:cNvPicPr>
            <a:picLocks noChangeAspect="1"/>
          </p:cNvPicPr>
          <p:nvPr/>
        </p:nvPicPr>
        <p:blipFill>
          <a:blip r:embed="rId5"/>
          <a:stretch>
            <a:fillRect/>
          </a:stretch>
        </p:blipFill>
        <p:spPr>
          <a:xfrm>
            <a:off x="548640" y="4069080"/>
            <a:ext cx="1980311" cy="566928"/>
          </a:xfrm>
          <a:prstGeom prst="rect">
            <a:avLst/>
          </a:prstGeom>
        </p:spPr>
      </p:pic>
      <p:sp>
        <p:nvSpPr>
          <p:cNvPr id="10" name="AfDB DI4A credit"/>
          <p:cNvSpPr txBox="1"/>
          <p:nvPr/>
        </p:nvSpPr>
        <p:spPr>
          <a:xfrm>
            <a:off x="2757551" y="4069080"/>
            <a:ext cx="5837809" cy="566928"/>
          </a:xfrm>
          <a:prstGeom prst="rect">
            <a:avLst/>
          </a:prstGeom>
          <a:noFill/>
          <a:ln/>
        </p:spPr>
        <p:txBody>
          <a:bodyPr wrap="square" lIns="0" tIns="0" rIns="0" bIns="0" rtlCol="0" anchor="ctr"/>
          <a:lstStyle/>
          <a:p>
            <a:pPr marL="0" indent="0">
              <a:buNone/>
            </a:pPr>
            <a:r>
              <a:rPr lang="fr-FR" sz="1100" b="1" dirty="0">
                <a:solidFill>
                  <a:srgbClr val="FFFFFF"/>
                </a:solidFill>
                <a:latin typeface="Calibri" pitchFamily="34" charset="0"/>
                <a:ea typeface="Calibri" pitchFamily="34" charset="-122"/>
                <a:cs typeface="Calibri" pitchFamily="34" charset="-120"/>
              </a:rPr>
              <a:t>Banque africaine de développement (BAD) · Data Innovation for Africa (DI4A)</a:t>
            </a:r>
          </a:p>
          <a:p>
            <a:pPr marL="0" indent="0">
              <a:spcBef>
                <a:spcPts val="200"/>
              </a:spcBef>
              <a:buNone/>
            </a:pPr>
            <a:r>
              <a:rPr lang="fr-FR" sz="1100" dirty="0">
                <a:solidFill>
                  <a:srgbClr val="E8F4EB"/>
                </a:solidFill>
                <a:latin typeface="Calibri" pitchFamily="34" charset="0"/>
                <a:ea typeface="Calibri" pitchFamily="34" charset="-122"/>
                <a:cs typeface="Calibri" pitchFamily="34" charset="-120"/>
              </a:rPr>
              <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FEUILLE DE ROUTE</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parcours en six étapes</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a:t>
            </a:r>
            <a:endParaRPr lang="en-US" sz="850" dirty="0"/>
          </a:p>
        </p:txBody>
      </p:sp>
      <p:sp>
        <p:nvSpPr>
          <p:cNvPr id="14" name="Shape 12"/>
          <p:cNvSpPr/>
          <p:nvPr/>
        </p:nvSpPr>
        <p:spPr>
          <a:xfrm>
            <a:off x="457200" y="1371600"/>
            <a:ext cx="2590800" cy="1481328"/>
          </a:xfrm>
          <a:prstGeom prst="roundRect">
            <a:avLst>
              <a:gd name="adj" fmla="val 4938"/>
            </a:avLst>
          </a:prstGeom>
          <a:solidFill>
            <a:srgbClr val="F4F8F5"/>
          </a:solidFill>
          <a:ln w="9525">
            <a:solidFill>
              <a:srgbClr val="D3E2D7"/>
            </a:solidFill>
            <a:prstDash val="solid"/>
          </a:ln>
        </p:spPr>
      </p:sp>
      <p:sp>
        <p:nvSpPr>
          <p:cNvPr id="15" name="Shape 13"/>
          <p:cNvSpPr/>
          <p:nvPr/>
        </p:nvSpPr>
        <p:spPr>
          <a:xfrm>
            <a:off x="640080" y="1554480"/>
            <a:ext cx="457200" cy="457200"/>
          </a:xfrm>
          <a:prstGeom prst="ellipse">
            <a:avLst/>
          </a:prstGeom>
          <a:solidFill>
            <a:srgbClr val="2C9045">
              <a:alpha val="22000"/>
            </a:srgbClr>
          </a:solidFill>
          <a:ln/>
        </p:spPr>
      </p:sp>
      <p:pic>
        <p:nvPicPr>
          <p:cNvPr id="16" name="Image 0" descr="preencoded.png"/>
          <p:cNvPicPr>
            <a:picLocks noChangeAspect="1"/>
          </p:cNvPicPr>
          <p:nvPr/>
        </p:nvPicPr>
        <p:blipFill>
          <a:blip r:embed="rId4"/>
          <a:stretch>
            <a:fillRect/>
          </a:stretch>
        </p:blipFill>
        <p:spPr>
          <a:xfrm>
            <a:off x="758952" y="1673352"/>
            <a:ext cx="219456" cy="219456"/>
          </a:xfrm>
          <a:prstGeom prst="rect">
            <a:avLst/>
          </a:prstGeom>
        </p:spPr>
      </p:pic>
      <p:sp>
        <p:nvSpPr>
          <p:cNvPr id="17" name="Text 14"/>
          <p:cNvSpPr txBox="1"/>
          <p:nvPr/>
        </p:nvSpPr>
        <p:spPr>
          <a:xfrm>
            <a:off x="2225040" y="1536192"/>
            <a:ext cx="640080" cy="457200"/>
          </a:xfrm>
          <a:prstGeom prst="rect">
            <a:avLst/>
          </a:prstGeom>
          <a:noFill/>
          <a:ln/>
        </p:spPr>
        <p:txBody>
          <a:bodyPr wrap="square" lIns="0" tIns="0" rIns="0" bIns="0" rtlCol="0" anchor="ctr"/>
          <a:lstStyle/>
          <a:p>
            <a:pPr marL="0" indent="0" algn="r">
              <a:buNone/>
            </a:pPr>
            <a:r>
              <a:rPr lang="en-US" sz="2400" b="1" dirty="0">
                <a:solidFill>
                  <a:srgbClr val="2C9045"/>
                </a:solidFill>
                <a:latin typeface="Calibri" pitchFamily="34" charset="0"/>
                <a:ea typeface="Calibri" pitchFamily="34" charset="-122"/>
                <a:cs typeface="Calibri" pitchFamily="34" charset="-120"/>
              </a:rPr>
              <a:t>01</a:t>
            </a:r>
            <a:endParaRPr lang="en-US" sz="2400" dirty="0"/>
          </a:p>
        </p:txBody>
      </p:sp>
      <p:sp>
        <p:nvSpPr>
          <p:cNvPr id="18" name="Text 15"/>
          <p:cNvSpPr txBox="1"/>
          <p:nvPr/>
        </p:nvSpPr>
        <p:spPr>
          <a:xfrm>
            <a:off x="640080" y="2121408"/>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Type d'organisation</a:t>
            </a:r>
            <a:endParaRPr lang="en-US" sz="1350" dirty="0"/>
          </a:p>
        </p:txBody>
      </p:sp>
      <p:sp>
        <p:nvSpPr>
          <p:cNvPr id="19" name="Text 16"/>
          <p:cNvSpPr txBox="1"/>
          <p:nvPr/>
        </p:nvSpPr>
        <p:spPr>
          <a:xfrm>
            <a:off x="640080" y="2377440"/>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Déclarer la nature de votre structure (ex. Nonprofit).</a:t>
            </a:r>
            <a:endParaRPr lang="en-US" sz="1050" dirty="0"/>
          </a:p>
        </p:txBody>
      </p:sp>
      <p:sp>
        <p:nvSpPr>
          <p:cNvPr id="20" name="Shape 17"/>
          <p:cNvSpPr/>
          <p:nvPr/>
        </p:nvSpPr>
        <p:spPr>
          <a:xfrm>
            <a:off x="3276600" y="1371600"/>
            <a:ext cx="2590800" cy="1481328"/>
          </a:xfrm>
          <a:prstGeom prst="roundRect">
            <a:avLst>
              <a:gd name="adj" fmla="val 4938"/>
            </a:avLst>
          </a:prstGeom>
          <a:solidFill>
            <a:srgbClr val="F4F8F5"/>
          </a:solidFill>
          <a:ln w="9525">
            <a:solidFill>
              <a:srgbClr val="D3E2D7"/>
            </a:solidFill>
            <a:prstDash val="solid"/>
          </a:ln>
        </p:spPr>
      </p:sp>
      <p:sp>
        <p:nvSpPr>
          <p:cNvPr id="21" name="Shape 18"/>
          <p:cNvSpPr/>
          <p:nvPr/>
        </p:nvSpPr>
        <p:spPr>
          <a:xfrm>
            <a:off x="3459480" y="1554480"/>
            <a:ext cx="457200" cy="457200"/>
          </a:xfrm>
          <a:prstGeom prst="ellipse">
            <a:avLst/>
          </a:prstGeom>
          <a:solidFill>
            <a:srgbClr val="0E5A2E">
              <a:alpha val="22000"/>
            </a:srgbClr>
          </a:solidFill>
          <a:ln/>
        </p:spPr>
      </p:sp>
      <p:pic>
        <p:nvPicPr>
          <p:cNvPr id="22" name="Image 1" descr="preencoded.png"/>
          <p:cNvPicPr>
            <a:picLocks noChangeAspect="1"/>
          </p:cNvPicPr>
          <p:nvPr/>
        </p:nvPicPr>
        <p:blipFill>
          <a:blip r:embed="rId5"/>
          <a:stretch>
            <a:fillRect/>
          </a:stretch>
        </p:blipFill>
        <p:spPr>
          <a:xfrm>
            <a:off x="3578352" y="1673352"/>
            <a:ext cx="219456" cy="219456"/>
          </a:xfrm>
          <a:prstGeom prst="rect">
            <a:avLst/>
          </a:prstGeom>
        </p:spPr>
      </p:pic>
      <p:sp>
        <p:nvSpPr>
          <p:cNvPr id="23" name="Text 19"/>
          <p:cNvSpPr txBox="1"/>
          <p:nvPr/>
        </p:nvSpPr>
        <p:spPr>
          <a:xfrm>
            <a:off x="5044440" y="1536192"/>
            <a:ext cx="640080" cy="457200"/>
          </a:xfrm>
          <a:prstGeom prst="rect">
            <a:avLst/>
          </a:prstGeom>
          <a:noFill/>
          <a:ln/>
        </p:spPr>
        <p:txBody>
          <a:bodyPr wrap="square" lIns="0" tIns="0" rIns="0" bIns="0" rtlCol="0" anchor="ctr"/>
          <a:lstStyle/>
          <a:p>
            <a:pPr marL="0" indent="0" algn="r">
              <a:buNone/>
            </a:pPr>
            <a:r>
              <a:rPr lang="en-US" sz="2400" b="1" dirty="0">
                <a:solidFill>
                  <a:srgbClr val="0E5A2E"/>
                </a:solidFill>
                <a:latin typeface="Calibri" pitchFamily="34" charset="0"/>
                <a:ea typeface="Calibri" pitchFamily="34" charset="-122"/>
                <a:cs typeface="Calibri" pitchFamily="34" charset="-120"/>
              </a:rPr>
              <a:t>02</a:t>
            </a:r>
            <a:endParaRPr lang="en-US" sz="2400" dirty="0"/>
          </a:p>
        </p:txBody>
      </p:sp>
      <p:sp>
        <p:nvSpPr>
          <p:cNvPr id="24" name="Text 20"/>
          <p:cNvSpPr txBox="1"/>
          <p:nvPr/>
        </p:nvSpPr>
        <p:spPr>
          <a:xfrm>
            <a:off x="3459480" y="2121408"/>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Éligibilité non commerciale</a:t>
            </a:r>
            <a:endParaRPr lang="en-US" sz="1350" dirty="0"/>
          </a:p>
        </p:txBody>
      </p:sp>
      <p:sp>
        <p:nvSpPr>
          <p:cNvPr id="25" name="Text 21"/>
          <p:cNvSpPr txBox="1"/>
          <p:nvPr/>
        </p:nvSpPr>
        <p:spPr>
          <a:xfrm>
            <a:off x="3459480" y="2377440"/>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Répondre au questionnaire sur l'usage d'Earth Engine.</a:t>
            </a:r>
            <a:endParaRPr lang="en-US" sz="1050" dirty="0"/>
          </a:p>
        </p:txBody>
      </p:sp>
      <p:sp>
        <p:nvSpPr>
          <p:cNvPr id="26" name="Shape 22"/>
          <p:cNvSpPr/>
          <p:nvPr/>
        </p:nvSpPr>
        <p:spPr>
          <a:xfrm>
            <a:off x="6096000" y="1371600"/>
            <a:ext cx="2590800" cy="1481328"/>
          </a:xfrm>
          <a:prstGeom prst="roundRect">
            <a:avLst>
              <a:gd name="adj" fmla="val 4938"/>
            </a:avLst>
          </a:prstGeom>
          <a:solidFill>
            <a:srgbClr val="F4F8F5"/>
          </a:solidFill>
          <a:ln w="9525">
            <a:solidFill>
              <a:srgbClr val="D3E2D7"/>
            </a:solidFill>
            <a:prstDash val="solid"/>
          </a:ln>
        </p:spPr>
      </p:sp>
      <p:sp>
        <p:nvSpPr>
          <p:cNvPr id="27" name="Shape 23"/>
          <p:cNvSpPr/>
          <p:nvPr/>
        </p:nvSpPr>
        <p:spPr>
          <a:xfrm>
            <a:off x="6278880" y="1554480"/>
            <a:ext cx="457200" cy="457200"/>
          </a:xfrm>
          <a:prstGeom prst="ellipse">
            <a:avLst/>
          </a:prstGeom>
          <a:solidFill>
            <a:srgbClr val="0E7C86">
              <a:alpha val="22000"/>
            </a:srgbClr>
          </a:solidFill>
          <a:ln/>
        </p:spPr>
      </p:sp>
      <p:pic>
        <p:nvPicPr>
          <p:cNvPr id="28" name="Image 2" descr="preencoded.png"/>
          <p:cNvPicPr>
            <a:picLocks noChangeAspect="1"/>
          </p:cNvPicPr>
          <p:nvPr/>
        </p:nvPicPr>
        <p:blipFill>
          <a:blip r:embed="rId6"/>
          <a:stretch>
            <a:fillRect/>
          </a:stretch>
        </p:blipFill>
        <p:spPr>
          <a:xfrm>
            <a:off x="6397752" y="1673352"/>
            <a:ext cx="219456" cy="219456"/>
          </a:xfrm>
          <a:prstGeom prst="rect">
            <a:avLst/>
          </a:prstGeom>
        </p:spPr>
      </p:pic>
      <p:sp>
        <p:nvSpPr>
          <p:cNvPr id="29" name="Text 24"/>
          <p:cNvSpPr txBox="1"/>
          <p:nvPr/>
        </p:nvSpPr>
        <p:spPr>
          <a:xfrm>
            <a:off x="7863840" y="1536192"/>
            <a:ext cx="640080" cy="457200"/>
          </a:xfrm>
          <a:prstGeom prst="rect">
            <a:avLst/>
          </a:prstGeom>
          <a:noFill/>
          <a:ln/>
        </p:spPr>
        <p:txBody>
          <a:bodyPr wrap="square" lIns="0" tIns="0" rIns="0" bIns="0" rtlCol="0" anchor="ctr"/>
          <a:lstStyle/>
          <a:p>
            <a:pPr marL="0" indent="0" algn="r">
              <a:buNone/>
            </a:pPr>
            <a:r>
              <a:rPr lang="en-US" sz="2400" b="1" dirty="0">
                <a:solidFill>
                  <a:srgbClr val="0E7C86"/>
                </a:solidFill>
                <a:latin typeface="Calibri" pitchFamily="34" charset="0"/>
                <a:ea typeface="Calibri" pitchFamily="34" charset="-122"/>
                <a:cs typeface="Calibri" pitchFamily="34" charset="-120"/>
              </a:rPr>
              <a:t>03</a:t>
            </a:r>
            <a:endParaRPr lang="en-US" sz="2400" dirty="0"/>
          </a:p>
        </p:txBody>
      </p:sp>
      <p:sp>
        <p:nvSpPr>
          <p:cNvPr id="30" name="Text 25"/>
          <p:cNvSpPr txBox="1"/>
          <p:nvPr/>
        </p:nvSpPr>
        <p:spPr>
          <a:xfrm>
            <a:off x="6278880" y="2121408"/>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Choix du plan</a:t>
            </a:r>
            <a:endParaRPr lang="en-US" sz="1350" dirty="0"/>
          </a:p>
        </p:txBody>
      </p:sp>
      <p:sp>
        <p:nvSpPr>
          <p:cNvPr id="31" name="Text 26"/>
          <p:cNvSpPr txBox="1"/>
          <p:nvPr/>
        </p:nvSpPr>
        <p:spPr>
          <a:xfrm>
            <a:off x="6278880" y="2377440"/>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Sélectionner le palier de quota adapté (Community).</a:t>
            </a:r>
            <a:endParaRPr lang="en-US" sz="1050" dirty="0"/>
          </a:p>
        </p:txBody>
      </p:sp>
      <p:sp>
        <p:nvSpPr>
          <p:cNvPr id="32" name="Shape 27"/>
          <p:cNvSpPr/>
          <p:nvPr/>
        </p:nvSpPr>
        <p:spPr>
          <a:xfrm>
            <a:off x="457200" y="3054096"/>
            <a:ext cx="2590800" cy="1481328"/>
          </a:xfrm>
          <a:prstGeom prst="roundRect">
            <a:avLst>
              <a:gd name="adj" fmla="val 4938"/>
            </a:avLst>
          </a:prstGeom>
          <a:solidFill>
            <a:srgbClr val="F4F8F5"/>
          </a:solidFill>
          <a:ln w="9525">
            <a:solidFill>
              <a:srgbClr val="D3E2D7"/>
            </a:solidFill>
            <a:prstDash val="solid"/>
          </a:ln>
        </p:spPr>
      </p:sp>
      <p:sp>
        <p:nvSpPr>
          <p:cNvPr id="33" name="Shape 28"/>
          <p:cNvSpPr/>
          <p:nvPr/>
        </p:nvSpPr>
        <p:spPr>
          <a:xfrm>
            <a:off x="640080" y="3236976"/>
            <a:ext cx="457200" cy="457200"/>
          </a:xfrm>
          <a:prstGeom prst="ellipse">
            <a:avLst/>
          </a:prstGeom>
          <a:solidFill>
            <a:srgbClr val="D49A00">
              <a:alpha val="22000"/>
            </a:srgbClr>
          </a:solidFill>
          <a:ln/>
        </p:spPr>
      </p:sp>
      <p:pic>
        <p:nvPicPr>
          <p:cNvPr id="34" name="Image 3" descr="preencoded.png"/>
          <p:cNvPicPr>
            <a:picLocks noChangeAspect="1"/>
          </p:cNvPicPr>
          <p:nvPr/>
        </p:nvPicPr>
        <p:blipFill>
          <a:blip r:embed="rId7"/>
          <a:stretch>
            <a:fillRect/>
          </a:stretch>
        </p:blipFill>
        <p:spPr>
          <a:xfrm>
            <a:off x="758952" y="3355848"/>
            <a:ext cx="219456" cy="219456"/>
          </a:xfrm>
          <a:prstGeom prst="rect">
            <a:avLst/>
          </a:prstGeom>
        </p:spPr>
      </p:pic>
      <p:sp>
        <p:nvSpPr>
          <p:cNvPr id="35" name="Text 29"/>
          <p:cNvSpPr txBox="1"/>
          <p:nvPr/>
        </p:nvSpPr>
        <p:spPr>
          <a:xfrm>
            <a:off x="2225040" y="3218688"/>
            <a:ext cx="640080" cy="457200"/>
          </a:xfrm>
          <a:prstGeom prst="rect">
            <a:avLst/>
          </a:prstGeom>
          <a:noFill/>
          <a:ln/>
        </p:spPr>
        <p:txBody>
          <a:bodyPr wrap="square" lIns="0" tIns="0" rIns="0" bIns="0" rtlCol="0" anchor="ctr"/>
          <a:lstStyle/>
          <a:p>
            <a:pPr marL="0" indent="0" algn="r">
              <a:buNone/>
            </a:pPr>
            <a:r>
              <a:rPr lang="en-US" sz="2400" b="1" dirty="0">
                <a:solidFill>
                  <a:srgbClr val="D49A00"/>
                </a:solidFill>
                <a:latin typeface="Calibri" pitchFamily="34" charset="0"/>
                <a:ea typeface="Calibri" pitchFamily="34" charset="-122"/>
                <a:cs typeface="Calibri" pitchFamily="34" charset="-120"/>
              </a:rPr>
              <a:t>04</a:t>
            </a:r>
            <a:endParaRPr lang="en-US" sz="2400" dirty="0"/>
          </a:p>
        </p:txBody>
      </p:sp>
      <p:sp>
        <p:nvSpPr>
          <p:cNvPr id="36" name="Text 30"/>
          <p:cNvSpPr txBox="1"/>
          <p:nvPr/>
        </p:nvSpPr>
        <p:spPr>
          <a:xfrm>
            <a:off x="640080" y="3803904"/>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Description du travail</a:t>
            </a:r>
            <a:endParaRPr lang="en-US" sz="1350" dirty="0"/>
          </a:p>
        </p:txBody>
      </p:sp>
      <p:sp>
        <p:nvSpPr>
          <p:cNvPr id="37" name="Text 31"/>
          <p:cNvSpPr txBox="1"/>
          <p:nvPr/>
        </p:nvSpPr>
        <p:spPr>
          <a:xfrm>
            <a:off x="640080" y="4059936"/>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Indiquer les enjeux climatiques et domaines d'usage.</a:t>
            </a:r>
            <a:endParaRPr lang="en-US" sz="1050" dirty="0"/>
          </a:p>
        </p:txBody>
      </p:sp>
      <p:sp>
        <p:nvSpPr>
          <p:cNvPr id="38" name="Shape 32"/>
          <p:cNvSpPr/>
          <p:nvPr/>
        </p:nvSpPr>
        <p:spPr>
          <a:xfrm>
            <a:off x="3276600" y="3054096"/>
            <a:ext cx="2590800" cy="1481328"/>
          </a:xfrm>
          <a:prstGeom prst="roundRect">
            <a:avLst>
              <a:gd name="adj" fmla="val 4938"/>
            </a:avLst>
          </a:prstGeom>
          <a:solidFill>
            <a:srgbClr val="F4F8F5"/>
          </a:solidFill>
          <a:ln w="9525">
            <a:solidFill>
              <a:srgbClr val="D3E2D7"/>
            </a:solidFill>
            <a:prstDash val="solid"/>
          </a:ln>
        </p:spPr>
      </p:sp>
      <p:sp>
        <p:nvSpPr>
          <p:cNvPr id="39" name="Shape 33"/>
          <p:cNvSpPr/>
          <p:nvPr/>
        </p:nvSpPr>
        <p:spPr>
          <a:xfrm>
            <a:off x="3459480" y="3236976"/>
            <a:ext cx="457200" cy="457200"/>
          </a:xfrm>
          <a:prstGeom prst="ellipse">
            <a:avLst/>
          </a:prstGeom>
          <a:solidFill>
            <a:srgbClr val="C4621D">
              <a:alpha val="22000"/>
            </a:srgbClr>
          </a:solidFill>
          <a:ln/>
        </p:spPr>
      </p:sp>
      <p:pic>
        <p:nvPicPr>
          <p:cNvPr id="40" name="Image 4" descr="preencoded.png"/>
          <p:cNvPicPr>
            <a:picLocks noChangeAspect="1"/>
          </p:cNvPicPr>
          <p:nvPr/>
        </p:nvPicPr>
        <p:blipFill>
          <a:blip r:embed="rId8"/>
          <a:stretch>
            <a:fillRect/>
          </a:stretch>
        </p:blipFill>
        <p:spPr>
          <a:xfrm>
            <a:off x="3578352" y="3355848"/>
            <a:ext cx="219456" cy="219456"/>
          </a:xfrm>
          <a:prstGeom prst="rect">
            <a:avLst/>
          </a:prstGeom>
        </p:spPr>
      </p:pic>
      <p:sp>
        <p:nvSpPr>
          <p:cNvPr id="41" name="Text 34"/>
          <p:cNvSpPr txBox="1"/>
          <p:nvPr/>
        </p:nvSpPr>
        <p:spPr>
          <a:xfrm>
            <a:off x="5044440" y="3218688"/>
            <a:ext cx="640080" cy="457200"/>
          </a:xfrm>
          <a:prstGeom prst="rect">
            <a:avLst/>
          </a:prstGeom>
          <a:noFill/>
          <a:ln/>
        </p:spPr>
        <p:txBody>
          <a:bodyPr wrap="square" lIns="0" tIns="0" rIns="0" bIns="0" rtlCol="0" anchor="ctr"/>
          <a:lstStyle/>
          <a:p>
            <a:pPr marL="0" indent="0" algn="r">
              <a:buNone/>
            </a:pPr>
            <a:r>
              <a:rPr lang="en-US" sz="2400" b="1" dirty="0">
                <a:solidFill>
                  <a:srgbClr val="C4621D"/>
                </a:solidFill>
                <a:latin typeface="Calibri" pitchFamily="34" charset="0"/>
                <a:ea typeface="Calibri" pitchFamily="34" charset="-122"/>
                <a:cs typeface="Calibri" pitchFamily="34" charset="-120"/>
              </a:rPr>
              <a:t>05</a:t>
            </a:r>
            <a:endParaRPr lang="en-US" sz="2400" dirty="0"/>
          </a:p>
        </p:txBody>
      </p:sp>
      <p:sp>
        <p:nvSpPr>
          <p:cNvPr id="42" name="Text 35"/>
          <p:cNvSpPr txBox="1"/>
          <p:nvPr/>
        </p:nvSpPr>
        <p:spPr>
          <a:xfrm>
            <a:off x="3459480" y="3803904"/>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Validation &amp; API</a:t>
            </a:r>
            <a:endParaRPr lang="en-US" sz="1350" dirty="0"/>
          </a:p>
        </p:txBody>
      </p:sp>
      <p:sp>
        <p:nvSpPr>
          <p:cNvPr id="43" name="Text 36"/>
          <p:cNvSpPr txBox="1"/>
          <p:nvPr/>
        </p:nvSpPr>
        <p:spPr>
          <a:xfrm>
            <a:off x="3459480" y="4059936"/>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Vérifier le récapitulatif puis activer l'API.</a:t>
            </a:r>
            <a:endParaRPr lang="en-US" sz="1050" dirty="0"/>
          </a:p>
        </p:txBody>
      </p:sp>
      <p:sp>
        <p:nvSpPr>
          <p:cNvPr id="44" name="Shape 37"/>
          <p:cNvSpPr/>
          <p:nvPr/>
        </p:nvSpPr>
        <p:spPr>
          <a:xfrm>
            <a:off x="6096000" y="3054096"/>
            <a:ext cx="2590800" cy="1481328"/>
          </a:xfrm>
          <a:prstGeom prst="roundRect">
            <a:avLst>
              <a:gd name="adj" fmla="val 4938"/>
            </a:avLst>
          </a:prstGeom>
          <a:solidFill>
            <a:srgbClr val="F4F8F5"/>
          </a:solidFill>
          <a:ln w="9525">
            <a:solidFill>
              <a:srgbClr val="D3E2D7"/>
            </a:solidFill>
            <a:prstDash val="solid"/>
          </a:ln>
        </p:spPr>
      </p:sp>
      <p:sp>
        <p:nvSpPr>
          <p:cNvPr id="45" name="Shape 38"/>
          <p:cNvSpPr/>
          <p:nvPr/>
        </p:nvSpPr>
        <p:spPr>
          <a:xfrm>
            <a:off x="6278880" y="3236976"/>
            <a:ext cx="457200" cy="457200"/>
          </a:xfrm>
          <a:prstGeom prst="ellipse">
            <a:avLst/>
          </a:prstGeom>
          <a:solidFill>
            <a:srgbClr val="B83B2E">
              <a:alpha val="22000"/>
            </a:srgbClr>
          </a:solidFill>
          <a:ln/>
        </p:spPr>
      </p:sp>
      <p:pic>
        <p:nvPicPr>
          <p:cNvPr id="46" name="Image 5" descr="preencoded.png"/>
          <p:cNvPicPr>
            <a:picLocks noChangeAspect="1"/>
          </p:cNvPicPr>
          <p:nvPr/>
        </p:nvPicPr>
        <p:blipFill>
          <a:blip r:embed="rId9"/>
          <a:stretch>
            <a:fillRect/>
          </a:stretch>
        </p:blipFill>
        <p:spPr>
          <a:xfrm>
            <a:off x="6397752" y="3355848"/>
            <a:ext cx="219456" cy="219456"/>
          </a:xfrm>
          <a:prstGeom prst="rect">
            <a:avLst/>
          </a:prstGeom>
        </p:spPr>
      </p:pic>
      <p:sp>
        <p:nvSpPr>
          <p:cNvPr id="47" name="Text 39"/>
          <p:cNvSpPr txBox="1"/>
          <p:nvPr/>
        </p:nvSpPr>
        <p:spPr>
          <a:xfrm>
            <a:off x="7863840" y="3218688"/>
            <a:ext cx="640080" cy="457200"/>
          </a:xfrm>
          <a:prstGeom prst="rect">
            <a:avLst/>
          </a:prstGeom>
          <a:noFill/>
          <a:ln/>
        </p:spPr>
        <p:txBody>
          <a:bodyPr wrap="square" lIns="0" tIns="0" rIns="0" bIns="0" rtlCol="0" anchor="ctr"/>
          <a:lstStyle/>
          <a:p>
            <a:pPr marL="0" indent="0" algn="r">
              <a:buNone/>
            </a:pPr>
            <a:r>
              <a:rPr lang="en-US" sz="2400" b="1" dirty="0">
                <a:solidFill>
                  <a:srgbClr val="B83B2E"/>
                </a:solidFill>
                <a:latin typeface="Calibri" pitchFamily="34" charset="0"/>
                <a:ea typeface="Calibri" pitchFamily="34" charset="-122"/>
                <a:cs typeface="Calibri" pitchFamily="34" charset="-120"/>
              </a:rPr>
              <a:t>06</a:t>
            </a:r>
            <a:endParaRPr lang="en-US" sz="2400" dirty="0"/>
          </a:p>
        </p:txBody>
      </p:sp>
      <p:sp>
        <p:nvSpPr>
          <p:cNvPr id="48" name="Text 40"/>
          <p:cNvSpPr txBox="1"/>
          <p:nvPr/>
        </p:nvSpPr>
        <p:spPr>
          <a:xfrm>
            <a:off x="6278880" y="3803904"/>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Gestion du projet</a:t>
            </a:r>
            <a:endParaRPr lang="en-US" sz="1350" dirty="0"/>
          </a:p>
        </p:txBody>
      </p:sp>
      <p:sp>
        <p:nvSpPr>
          <p:cNvPr id="49" name="Text 41"/>
          <p:cNvSpPr txBox="1"/>
          <p:nvPr/>
        </p:nvSpPr>
        <p:spPr>
          <a:xfrm>
            <a:off x="6278880" y="4059936"/>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Suivre, modifier l'inscription ou créer un projet.</a:t>
            </a:r>
            <a:endParaRPr lang="en-US" sz="10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fr-FR" sz="1050" b="1" kern="0" spc="300" dirty="0">
                <a:solidFill>
                  <a:srgbClr val="0E5A2E"/>
                </a:solidFill>
                <a:latin typeface="Calibri" pitchFamily="34" charset="0"/>
                <a:ea typeface="Calibri" pitchFamily="34" charset="-122"/>
                <a:cs typeface="Calibri" pitchFamily="34" charset="-120"/>
              </a:rPr>
              <a:t>POURQUOI S’INSCRIRE MAINTENANT</a:t>
            </a:r>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fr-FR" sz="2800" b="1" dirty="0">
                <a:solidFill>
                  <a:srgbClr val="231F20"/>
                </a:solidFill>
                <a:latin typeface="Calibri" pitchFamily="34" charset="0"/>
                <a:ea typeface="Calibri" pitchFamily="34" charset="-122"/>
                <a:cs typeface="Calibri" pitchFamily="34" charset="-120"/>
              </a:rPr>
              <a:t>À quoi servira votre projet Earth Engine</a:t>
            </a:r>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3</a:t>
            </a:r>
            <a:endParaRPr lang="en-US" sz="850" dirty="0"/>
          </a:p>
        </p:txBody>
      </p:sp>
      <p:sp>
        <p:nvSpPr>
          <p:cNvPr id="14" name="Shape 12"/>
          <p:cNvSpPr/>
          <p:nvPr/>
        </p:nvSpPr>
        <p:spPr>
          <a:xfrm>
            <a:off x="457200" y="1371600"/>
            <a:ext cx="8229600" cy="868680"/>
          </a:xfrm>
          <a:prstGeom prst="roundRect">
            <a:avLst>
              <a:gd name="adj" fmla="val 8421"/>
            </a:avLst>
          </a:prstGeom>
          <a:solidFill>
            <a:srgbClr val="F4F8F5"/>
          </a:solidFill>
          <a:ln w="9525">
            <a:solidFill>
              <a:srgbClr val="D3E2D7"/>
            </a:solidFill>
            <a:prstDash val="solid"/>
          </a:ln>
        </p:spPr>
      </p:sp>
      <p:sp>
        <p:nvSpPr>
          <p:cNvPr id="15" name="Shape 13"/>
          <p:cNvSpPr/>
          <p:nvPr/>
        </p:nvSpPr>
        <p:spPr>
          <a:xfrm>
            <a:off x="658368" y="1554480"/>
            <a:ext cx="502920" cy="502920"/>
          </a:xfrm>
          <a:prstGeom prst="ellipse">
            <a:avLst/>
          </a:prstGeom>
          <a:solidFill>
            <a:srgbClr val="0E5A2E">
              <a:alpha val="22000"/>
            </a:srgbClr>
          </a:solidFill>
          <a:ln/>
        </p:spPr>
      </p:sp>
      <p:pic>
        <p:nvPicPr>
          <p:cNvPr id="16" name="Image 0"/>
          <p:cNvPicPr>
            <a:picLocks noChangeAspect="1"/>
          </p:cNvPicPr>
          <p:nvPr/>
        </p:nvPicPr>
        <p:blipFill>
          <a:blip r:embed="rId4"/>
          <a:stretch>
            <a:fillRect/>
          </a:stretch>
        </p:blipFill>
        <p:spPr>
          <a:xfrm>
            <a:off x="786384" y="1682496"/>
            <a:ext cx="246888" cy="246888"/>
          </a:xfrm>
          <a:prstGeom prst="rect">
            <a:avLst/>
          </a:prstGeom>
        </p:spPr>
      </p:pic>
      <p:sp>
        <p:nvSpPr>
          <p:cNvPr id="17" name="Text 14"/>
          <p:cNvSpPr txBox="1"/>
          <p:nvPr/>
        </p:nvSpPr>
        <p:spPr>
          <a:xfrm>
            <a:off x="1371600" y="1371600"/>
            <a:ext cx="7132320" cy="86868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Lumières nocturnes : mesurer l’activité depuis l’orbite</a:t>
            </a:r>
            <a:r>
              <a:rPr lang="fr-FR" sz="1100" b="1" dirty="0">
                <a:solidFill>
                  <a:srgbClr val="0E5A2E"/>
                </a:solidFill>
                <a:latin typeface="Calibri" pitchFamily="34" charset="0"/>
                <a:ea typeface="Calibri" pitchFamily="34" charset="-122"/>
                <a:cs typeface="Calibri" pitchFamily="34" charset="-120"/>
              </a:rPr>
              <a:t>   Cas d’usage 1</a:t>
            </a:r>
          </a:p>
          <a:p>
            <a:pPr marL="0" indent="0">
              <a:spcBef>
                <a:spcPts val="300"/>
              </a:spcBef>
              <a:buNone/>
            </a:pPr>
            <a:r>
              <a:rPr lang="fr-FR" sz="1100" dirty="0">
                <a:solidFill>
                  <a:srgbClr val="5A6660"/>
                </a:solidFill>
                <a:latin typeface="Calibri" pitchFamily="34" charset="0"/>
                <a:ea typeface="Calibri" pitchFamily="34" charset="-122"/>
                <a:cs typeface="Calibri" pitchFamily="34" charset="-120"/>
              </a:rPr>
              <a:t>Télécharger et découper les données mensuelles Black Marble de la NASA ; masquer, agréger, comparer les régions, produire une série nationale.</a:t>
            </a:r>
          </a:p>
        </p:txBody>
      </p:sp>
      <p:sp>
        <p:nvSpPr>
          <p:cNvPr id="18" name="Shape 15"/>
          <p:cNvSpPr/>
          <p:nvPr/>
        </p:nvSpPr>
        <p:spPr>
          <a:xfrm>
            <a:off x="457200" y="2395728"/>
            <a:ext cx="8229600" cy="868680"/>
          </a:xfrm>
          <a:prstGeom prst="roundRect">
            <a:avLst>
              <a:gd name="adj" fmla="val 8421"/>
            </a:avLst>
          </a:prstGeom>
          <a:solidFill>
            <a:srgbClr val="F4F8F5"/>
          </a:solidFill>
          <a:ln w="9525">
            <a:solidFill>
              <a:srgbClr val="D3E2D7"/>
            </a:solidFill>
            <a:prstDash val="solid"/>
          </a:ln>
        </p:spPr>
      </p:sp>
      <p:sp>
        <p:nvSpPr>
          <p:cNvPr id="19" name="Shape 16"/>
          <p:cNvSpPr/>
          <p:nvPr/>
        </p:nvSpPr>
        <p:spPr>
          <a:xfrm>
            <a:off x="658368" y="2578608"/>
            <a:ext cx="502920" cy="502920"/>
          </a:xfrm>
          <a:prstGeom prst="ellipse">
            <a:avLst/>
          </a:prstGeom>
          <a:solidFill>
            <a:srgbClr val="0E5A2E">
              <a:alpha val="22000"/>
            </a:srgbClr>
          </a:solidFill>
          <a:ln/>
        </p:spPr>
      </p:sp>
      <p:pic>
        <p:nvPicPr>
          <p:cNvPr id="20" name="Image 1"/>
          <p:cNvPicPr>
            <a:picLocks noChangeAspect="1"/>
          </p:cNvPicPr>
          <p:nvPr/>
        </p:nvPicPr>
        <p:blipFill>
          <a:blip r:embed="rId5"/>
          <a:stretch>
            <a:fillRect/>
          </a:stretch>
        </p:blipFill>
        <p:spPr>
          <a:xfrm>
            <a:off x="786384" y="2706624"/>
            <a:ext cx="246888" cy="246888"/>
          </a:xfrm>
          <a:prstGeom prst="rect">
            <a:avLst/>
          </a:prstGeom>
        </p:spPr>
      </p:pic>
      <p:sp>
        <p:nvSpPr>
          <p:cNvPr id="21" name="Text 17"/>
          <p:cNvSpPr txBox="1"/>
          <p:nvPr/>
        </p:nvSpPr>
        <p:spPr>
          <a:xfrm>
            <a:off x="1371600" y="2395728"/>
            <a:ext cx="7132320" cy="86868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Lumières nocturnes en pratique</a:t>
            </a:r>
            <a:r>
              <a:rPr lang="fr-FR" sz="1100" b="1" dirty="0">
                <a:solidFill>
                  <a:srgbClr val="0E5A2E"/>
                </a:solidFill>
                <a:latin typeface="Calibri" pitchFamily="34" charset="0"/>
                <a:ea typeface="Calibri" pitchFamily="34" charset="-122"/>
                <a:cs typeface="Calibri" pitchFamily="34" charset="-120"/>
              </a:rPr>
              <a:t>   Cas d’usage 2</a:t>
            </a:r>
          </a:p>
          <a:p>
            <a:pPr marL="0" indent="0">
              <a:spcBef>
                <a:spcPts val="300"/>
              </a:spcBef>
              <a:buNone/>
            </a:pPr>
            <a:r>
              <a:rPr lang="fr-FR" sz="1100" dirty="0">
                <a:solidFill>
                  <a:srgbClr val="5A6660"/>
                </a:solidFill>
                <a:latin typeface="Calibri" pitchFamily="34" charset="0"/>
                <a:ea typeface="Calibri" pitchFamily="34" charset="-122"/>
                <a:cs typeface="Calibri" pitchFamily="34" charset="-120"/>
              </a:rPr>
              <a:t>Passer en revue les applications courantes, évaluer la validation des indicateurs indirects, reproduire une application.</a:t>
            </a:r>
          </a:p>
        </p:txBody>
      </p:sp>
      <p:sp>
        <p:nvSpPr>
          <p:cNvPr id="22" name="Shape 18"/>
          <p:cNvSpPr/>
          <p:nvPr/>
        </p:nvSpPr>
        <p:spPr>
          <a:xfrm>
            <a:off x="457200" y="3419856"/>
            <a:ext cx="8229600" cy="868680"/>
          </a:xfrm>
          <a:prstGeom prst="roundRect">
            <a:avLst>
              <a:gd name="adj" fmla="val 8421"/>
            </a:avLst>
          </a:prstGeom>
          <a:solidFill>
            <a:srgbClr val="F4F8F5"/>
          </a:solidFill>
          <a:ln w="9525">
            <a:solidFill>
              <a:srgbClr val="D3E2D7"/>
            </a:solidFill>
            <a:prstDash val="solid"/>
          </a:ln>
        </p:spPr>
      </p:sp>
      <p:sp>
        <p:nvSpPr>
          <p:cNvPr id="23" name="Shape 19"/>
          <p:cNvSpPr/>
          <p:nvPr/>
        </p:nvSpPr>
        <p:spPr>
          <a:xfrm>
            <a:off x="658368" y="3602736"/>
            <a:ext cx="502920" cy="502920"/>
          </a:xfrm>
          <a:prstGeom prst="ellipse">
            <a:avLst/>
          </a:prstGeom>
          <a:solidFill>
            <a:srgbClr val="0E5A2E">
              <a:alpha val="22000"/>
            </a:srgbClr>
          </a:solidFill>
          <a:ln/>
        </p:spPr>
      </p:sp>
      <p:pic>
        <p:nvPicPr>
          <p:cNvPr id="24" name="Image 2"/>
          <p:cNvPicPr>
            <a:picLocks noChangeAspect="1"/>
          </p:cNvPicPr>
          <p:nvPr/>
        </p:nvPicPr>
        <p:blipFill>
          <a:blip r:embed="rId6"/>
          <a:stretch>
            <a:fillRect/>
          </a:stretch>
        </p:blipFill>
        <p:spPr>
          <a:xfrm>
            <a:off x="786384" y="3730752"/>
            <a:ext cx="246888" cy="246888"/>
          </a:xfrm>
          <a:prstGeom prst="rect">
            <a:avLst/>
          </a:prstGeom>
        </p:spPr>
      </p:pic>
      <p:sp>
        <p:nvSpPr>
          <p:cNvPr id="25" name="Text 20"/>
          <p:cNvSpPr txBox="1"/>
          <p:nvPr/>
        </p:nvSpPr>
        <p:spPr>
          <a:xfrm>
            <a:off x="1371600" y="3419856"/>
            <a:ext cx="7132320" cy="868680"/>
          </a:xfrm>
          <a:prstGeom prst="rect">
            <a:avLst/>
          </a:prstGeom>
          <a:noFill/>
          <a:ln/>
        </p:spPr>
        <p:txBody>
          <a:bodyPr wrap="square" lIns="0" tIns="0" rIns="0" bIns="0" rtlCol="0" anchor="ctr"/>
          <a:lstStyle/>
          <a:p>
            <a:pPr marL="0" indent="0">
              <a:buNone/>
            </a:pPr>
            <a:r>
              <a:rPr lang="fr-FR" sz="1300" b="1" dirty="0">
                <a:solidFill>
                  <a:srgbClr val="231F20"/>
                </a:solidFill>
                <a:latin typeface="Calibri" pitchFamily="34" charset="0"/>
                <a:ea typeface="Calibri" pitchFamily="34" charset="-122"/>
                <a:cs typeface="Calibri" pitchFamily="34" charset="-120"/>
              </a:rPr>
              <a:t>Utilisation des outils et données géospatiales</a:t>
            </a:r>
            <a:r>
              <a:rPr lang="fr-FR" sz="1100" b="1" dirty="0">
                <a:solidFill>
                  <a:srgbClr val="0E5A2E"/>
                </a:solidFill>
                <a:latin typeface="Calibri" pitchFamily="34" charset="0"/>
                <a:ea typeface="Calibri" pitchFamily="34" charset="-122"/>
                <a:cs typeface="Calibri" pitchFamily="34" charset="-120"/>
              </a:rPr>
              <a:t>   Cas d’usage 3</a:t>
            </a:r>
          </a:p>
          <a:p>
            <a:pPr marL="0" indent="0">
              <a:spcBef>
                <a:spcPts val="300"/>
              </a:spcBef>
              <a:buNone/>
            </a:pPr>
            <a:r>
              <a:rPr lang="fr-FR" sz="1100" dirty="0">
                <a:solidFill>
                  <a:srgbClr val="5A6660"/>
                </a:solidFill>
                <a:latin typeface="Calibri" pitchFamily="34" charset="0"/>
                <a:ea typeface="Calibri" pitchFamily="34" charset="-122"/>
                <a:cs typeface="Calibri" pitchFamily="34" charset="-120"/>
              </a:rPr>
              <a:t>Statistiques des terres cultivées ; classification de la couverture terrestre et analyse de l’utilisation des sols.</a:t>
            </a:r>
          </a:p>
        </p:txBody>
      </p:sp>
      <p:sp>
        <p:nvSpPr>
          <p:cNvPr id="26" name="Text 21"/>
          <p:cNvSpPr txBox="1"/>
          <p:nvPr/>
        </p:nvSpPr>
        <p:spPr>
          <a:xfrm>
            <a:off x="457200" y="4480560"/>
            <a:ext cx="8229600" cy="182880"/>
          </a:xfrm>
          <a:prstGeom prst="rect">
            <a:avLst/>
          </a:prstGeom>
          <a:noFill/>
          <a:ln/>
        </p:spPr>
        <p:txBody>
          <a:bodyPr wrap="square" lIns="0" tIns="0" rIns="0" bIns="0" rtlCol="0" anchor="ctr"/>
          <a:lstStyle/>
          <a:p>
            <a:pPr marL="0" indent="0">
              <a:buNone/>
            </a:pPr>
            <a:r>
              <a:rPr lang="fr-FR" sz="900" i="1" dirty="0">
                <a:solidFill>
                  <a:srgbClr val="5A6660"/>
                </a:solidFill>
                <a:latin typeface="Calibri" pitchFamily="34" charset="0"/>
                <a:ea typeface="Calibri" pitchFamily="34" charset="-122"/>
                <a:cs typeface="Calibri" pitchFamily="34" charset="-120"/>
              </a:rPr>
              <a:t>Inscrivez-vous à l’avance pour que votre projet Earth Engine soit prêt avant les séances pratiques.</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 · ÉTAPE 1 SUR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01</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Type d'organisation</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Quel type de structure représentez-vous ?</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5C242"/>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01 · TYPE D'ORGANISATION</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Sélectionner le type d'organisation</a:t>
            </a:r>
            <a:endParaRPr lang="en-US" sz="2800" dirty="0"/>
          </a:p>
        </p:txBody>
      </p:sp>
      <p:sp>
        <p:nvSpPr>
          <p:cNvPr id="6" name="Shape 4"/>
          <p:cNvSpPr/>
          <p:nvPr/>
        </p:nvSpPr>
        <p:spPr>
          <a:xfrm>
            <a:off x="7717536" y="338328"/>
            <a:ext cx="100584" cy="100584"/>
          </a:xfrm>
          <a:prstGeom prst="ellipse">
            <a:avLst/>
          </a:prstGeom>
          <a:solidFill>
            <a:srgbClr val="2C9045"/>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5</a:t>
            </a:r>
            <a:endParaRPr lang="en-US" sz="850" dirty="0"/>
          </a:p>
        </p:txBody>
      </p:sp>
      <p:sp>
        <p:nvSpPr>
          <p:cNvPr id="14" name="Shape 12"/>
          <p:cNvSpPr/>
          <p:nvPr/>
        </p:nvSpPr>
        <p:spPr>
          <a:xfrm>
            <a:off x="411480" y="1325880"/>
            <a:ext cx="5760720" cy="3005887"/>
          </a:xfrm>
          <a:prstGeom prst="roundRect">
            <a:avLst>
              <a:gd name="adj" fmla="val 1825"/>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1 de la console Google Cloud"/>
          <p:cNvPicPr>
            <a:picLocks noChangeAspect="1"/>
          </p:cNvPicPr>
          <p:nvPr/>
        </p:nvPicPr>
        <p:blipFill>
          <a:blip r:embed="rId4"/>
          <a:stretch>
            <a:fillRect/>
          </a:stretch>
        </p:blipFill>
        <p:spPr>
          <a:xfrm>
            <a:off x="457200" y="1371600"/>
            <a:ext cx="5669280" cy="2914447"/>
          </a:xfrm>
          <a:prstGeom prst="rect">
            <a:avLst/>
          </a:prstGeom>
        </p:spPr>
      </p:pic>
      <p:sp>
        <p:nvSpPr>
          <p:cNvPr id="16" name="Shape 13"/>
          <p:cNvSpPr/>
          <p:nvPr/>
        </p:nvSpPr>
        <p:spPr>
          <a:xfrm>
            <a:off x="6400800" y="1389888"/>
            <a:ext cx="274320" cy="274320"/>
          </a:xfrm>
          <a:prstGeom prst="ellipse">
            <a:avLst/>
          </a:prstGeom>
          <a:solidFill>
            <a:srgbClr val="2C9045">
              <a:alpha val="22000"/>
            </a:srgbClr>
          </a:solidFill>
          <a:ln/>
        </p:spPr>
      </p:sp>
      <p:sp>
        <p:nvSpPr>
          <p:cNvPr id="17" name="Text 14"/>
          <p:cNvSpPr txBox="1"/>
          <p:nvPr/>
        </p:nvSpPr>
        <p:spPr>
          <a:xfrm>
            <a:off x="6400800" y="1389888"/>
            <a:ext cx="274320" cy="274320"/>
          </a:xfrm>
          <a:prstGeom prst="rect">
            <a:avLst/>
          </a:prstGeom>
          <a:noFill/>
          <a:ln/>
        </p:spPr>
        <p:txBody>
          <a:bodyPr wrap="square" lIns="0" tIns="0" rIns="0" bIns="0" rtlCol="0" anchor="ctr"/>
          <a:lstStyle/>
          <a:p>
            <a:pPr marL="0" indent="0" algn="ctr">
              <a:buNone/>
            </a:pPr>
            <a:r>
              <a:rPr lang="en-US" sz="1100" b="1" dirty="0">
                <a:solidFill>
                  <a:srgbClr val="2C9045"/>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6784848" y="1371600"/>
            <a:ext cx="190195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Dans </a:t>
            </a:r>
            <a:r>
              <a:rPr lang="en-US" sz="1150" b="1" dirty="0">
                <a:solidFill>
                  <a:srgbClr val="231F20"/>
                </a:solidFill>
                <a:latin typeface="Calibri" pitchFamily="34" charset="0"/>
                <a:ea typeface="Calibri" pitchFamily="34" charset="-122"/>
                <a:cs typeface="Calibri" pitchFamily="34" charset="-120"/>
              </a:rPr>
              <a:t>Earth Engine › Configuration</a:t>
            </a:r>
            <a:r>
              <a:rPr lang="en-US" sz="1150" dirty="0">
                <a:solidFill>
                  <a:srgbClr val="231F20"/>
                </a:solidFill>
                <a:latin typeface="Calibri" pitchFamily="34" charset="0"/>
                <a:ea typeface="Calibri" pitchFamily="34" charset="-122"/>
                <a:cs typeface="Calibri" pitchFamily="34" charset="-120"/>
              </a:rPr>
              <a:t>, cliquer sur </a:t>
            </a:r>
            <a:r>
              <a:rPr lang="en-US" sz="1150" b="1" dirty="0">
                <a:solidFill>
                  <a:srgbClr val="231F20"/>
                </a:solidFill>
                <a:latin typeface="Calibri" pitchFamily="34" charset="0"/>
                <a:ea typeface="Calibri" pitchFamily="34" charset="-122"/>
                <a:cs typeface="Calibri" pitchFamily="34" charset="-120"/>
              </a:rPr>
              <a:t>Register</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6400800" y="2084832"/>
            <a:ext cx="274320" cy="274320"/>
          </a:xfrm>
          <a:prstGeom prst="ellipse">
            <a:avLst/>
          </a:prstGeom>
          <a:solidFill>
            <a:srgbClr val="2C9045">
              <a:alpha val="22000"/>
            </a:srgbClr>
          </a:solidFill>
          <a:ln/>
        </p:spPr>
      </p:sp>
      <p:sp>
        <p:nvSpPr>
          <p:cNvPr id="20" name="Text 17"/>
          <p:cNvSpPr txBox="1"/>
          <p:nvPr/>
        </p:nvSpPr>
        <p:spPr>
          <a:xfrm>
            <a:off x="6400800" y="2084832"/>
            <a:ext cx="274320" cy="274320"/>
          </a:xfrm>
          <a:prstGeom prst="rect">
            <a:avLst/>
          </a:prstGeom>
          <a:noFill/>
          <a:ln/>
        </p:spPr>
        <p:txBody>
          <a:bodyPr wrap="square" lIns="0" tIns="0" rIns="0" bIns="0" rtlCol="0" anchor="ctr"/>
          <a:lstStyle/>
          <a:p>
            <a:pPr marL="0" indent="0" algn="ctr">
              <a:buNone/>
            </a:pPr>
            <a:r>
              <a:rPr lang="en-US" sz="1100" b="1" dirty="0">
                <a:solidFill>
                  <a:srgbClr val="2C9045"/>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6784848" y="2066544"/>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Choisir le type dans la liste — ici </a:t>
            </a:r>
            <a:r>
              <a:rPr lang="en-US" sz="1150" b="1" dirty="0">
                <a:solidFill>
                  <a:srgbClr val="231F20"/>
                </a:solidFill>
                <a:latin typeface="Calibri" pitchFamily="34" charset="0"/>
                <a:ea typeface="Calibri" pitchFamily="34" charset="-122"/>
                <a:cs typeface="Calibri" pitchFamily="34" charset="-120"/>
              </a:rPr>
              <a:t>Nonprofit</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6400800" y="2624328"/>
            <a:ext cx="274320" cy="274320"/>
          </a:xfrm>
          <a:prstGeom prst="ellipse">
            <a:avLst/>
          </a:prstGeom>
          <a:solidFill>
            <a:srgbClr val="2C9045">
              <a:alpha val="22000"/>
            </a:srgbClr>
          </a:solidFill>
          <a:ln/>
        </p:spPr>
      </p:sp>
      <p:sp>
        <p:nvSpPr>
          <p:cNvPr id="23" name="Text 20"/>
          <p:cNvSpPr txBox="1"/>
          <p:nvPr/>
        </p:nvSpPr>
        <p:spPr>
          <a:xfrm>
            <a:off x="6400800" y="2624328"/>
            <a:ext cx="274320" cy="274320"/>
          </a:xfrm>
          <a:prstGeom prst="rect">
            <a:avLst/>
          </a:prstGeom>
          <a:noFill/>
          <a:ln/>
        </p:spPr>
        <p:txBody>
          <a:bodyPr wrap="square" lIns="0" tIns="0" rIns="0" bIns="0" rtlCol="0" anchor="ctr"/>
          <a:lstStyle/>
          <a:p>
            <a:pPr marL="0" indent="0" algn="ctr">
              <a:buNone/>
            </a:pPr>
            <a:r>
              <a:rPr lang="en-US" sz="1100" b="1" dirty="0">
                <a:solidFill>
                  <a:srgbClr val="2C9045"/>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6784848" y="260604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Cliquer sur </a:t>
            </a:r>
            <a:r>
              <a:rPr lang="en-US" sz="1150" b="1" dirty="0">
                <a:solidFill>
                  <a:srgbClr val="231F20"/>
                </a:solidFill>
                <a:latin typeface="Calibri" pitchFamily="34" charset="0"/>
                <a:ea typeface="Calibri" pitchFamily="34" charset="-122"/>
                <a:cs typeface="Calibri" pitchFamily="34" charset="-120"/>
              </a:rPr>
              <a:t>Next</a:t>
            </a:r>
            <a:r>
              <a:rPr lang="en-US" sz="1150" dirty="0">
                <a:solidFill>
                  <a:srgbClr val="231F20"/>
                </a:solidFill>
                <a:latin typeface="Calibri" pitchFamily="34" charset="0"/>
                <a:ea typeface="Calibri" pitchFamily="34" charset="-122"/>
                <a:cs typeface="Calibri" pitchFamily="34" charset="-120"/>
              </a:rPr>
              <a:t> pour passer à l'étape 2.</a:t>
            </a:r>
            <a:endParaRPr lang="en-US" sz="1150" dirty="0"/>
          </a:p>
        </p:txBody>
      </p:sp>
      <p:sp>
        <p:nvSpPr>
          <p:cNvPr id="25" name="Shape 22"/>
          <p:cNvSpPr/>
          <p:nvPr/>
        </p:nvSpPr>
        <p:spPr>
          <a:xfrm>
            <a:off x="6400800" y="3520440"/>
            <a:ext cx="2286000" cy="868680"/>
          </a:xfrm>
          <a:prstGeom prst="roundRect">
            <a:avLst>
              <a:gd name="adj" fmla="val 8421"/>
            </a:avLst>
          </a:prstGeom>
          <a:solidFill>
            <a:srgbClr val="E8F4EB"/>
          </a:solidFill>
          <a:ln w="15875">
            <a:solidFill>
              <a:srgbClr val="2C9045"/>
            </a:solidFill>
            <a:prstDash val="solid"/>
          </a:ln>
        </p:spPr>
      </p:sp>
      <p:pic>
        <p:nvPicPr>
          <p:cNvPr id="26" name="Image 1" descr="preencoded.png"/>
          <p:cNvPicPr>
            <a:picLocks noChangeAspect="1"/>
          </p:cNvPicPr>
          <p:nvPr/>
        </p:nvPicPr>
        <p:blipFill>
          <a:blip r:embed="rId5"/>
          <a:stretch>
            <a:fillRect/>
          </a:stretch>
        </p:blipFill>
        <p:spPr>
          <a:xfrm>
            <a:off x="6528816" y="3648456"/>
            <a:ext cx="219456" cy="219456"/>
          </a:xfrm>
          <a:prstGeom prst="rect">
            <a:avLst/>
          </a:prstGeom>
        </p:spPr>
      </p:pic>
      <p:sp>
        <p:nvSpPr>
          <p:cNvPr id="27" name="Text 23"/>
          <p:cNvSpPr txBox="1"/>
          <p:nvPr/>
        </p:nvSpPr>
        <p:spPr>
          <a:xfrm>
            <a:off x="6839712" y="3593592"/>
            <a:ext cx="1737360" cy="72237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Les 5 étapes du formulaire restent visibles : repérez votre progression.</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Earth Engine › Configuration › Register (capture d’écran).</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 · ÉTAPE 2 SUR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02</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Éligibilité non commerciale</a:t>
            </a:r>
            <a:endParaRPr lang="en-US" sz="30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Votre usage d'Earth Engine est-il non commercial ?</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5C242"/>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ÉLIGIBILITÉ NON COMMERCIALE</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Renseigner le questionnaire d'éligibilité</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0E5A2E"/>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7</a:t>
            </a:r>
            <a:endParaRPr lang="en-US" sz="850" dirty="0"/>
          </a:p>
        </p:txBody>
      </p:sp>
      <p:sp>
        <p:nvSpPr>
          <p:cNvPr id="14" name="Shape 12"/>
          <p:cNvSpPr/>
          <p:nvPr/>
        </p:nvSpPr>
        <p:spPr>
          <a:xfrm>
            <a:off x="2971800" y="1325880"/>
            <a:ext cx="5760720" cy="3023622"/>
          </a:xfrm>
          <a:prstGeom prst="roundRect">
            <a:avLst>
              <a:gd name="adj" fmla="val 1815"/>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2 de la console Google Cloud"/>
          <p:cNvPicPr>
            <a:picLocks noChangeAspect="1"/>
          </p:cNvPicPr>
          <p:nvPr/>
        </p:nvPicPr>
        <p:blipFill>
          <a:blip r:embed="rId4"/>
          <a:stretch>
            <a:fillRect/>
          </a:stretch>
        </p:blipFill>
        <p:spPr>
          <a:xfrm>
            <a:off x="3017520" y="1371600"/>
            <a:ext cx="5669280" cy="2932182"/>
          </a:xfrm>
          <a:prstGeom prst="rect">
            <a:avLst/>
          </a:prstGeom>
        </p:spPr>
      </p:pic>
      <p:sp>
        <p:nvSpPr>
          <p:cNvPr id="16" name="Shape 13"/>
          <p:cNvSpPr/>
          <p:nvPr/>
        </p:nvSpPr>
        <p:spPr>
          <a:xfrm>
            <a:off x="457200" y="1389888"/>
            <a:ext cx="274320" cy="274320"/>
          </a:xfrm>
          <a:prstGeom prst="ellipse">
            <a:avLst/>
          </a:prstGeom>
          <a:solidFill>
            <a:srgbClr val="0E5A2E">
              <a:alpha val="22000"/>
            </a:srgbClr>
          </a:solidFill>
          <a:ln/>
        </p:spPr>
      </p:sp>
      <p:sp>
        <p:nvSpPr>
          <p:cNvPr id="17" name="Text 14"/>
          <p:cNvSpPr txBox="1"/>
          <p:nvPr/>
        </p:nvSpPr>
        <p:spPr>
          <a:xfrm>
            <a:off x="457200" y="138988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841248" y="13716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Nom de la structure : </a:t>
            </a:r>
            <a:r>
              <a:rPr lang="en-US" sz="1150" b="1" dirty="0">
                <a:solidFill>
                  <a:srgbClr val="231F20"/>
                </a:solidFill>
                <a:latin typeface="Calibri" pitchFamily="34" charset="0"/>
                <a:ea typeface="Calibri" pitchFamily="34" charset="-122"/>
                <a:cs typeface="Calibri" pitchFamily="34" charset="-120"/>
              </a:rPr>
              <a:t>INS_Africa</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457200" y="1929384"/>
            <a:ext cx="274320" cy="274320"/>
          </a:xfrm>
          <a:prstGeom prst="ellipse">
            <a:avLst/>
          </a:prstGeom>
          <a:solidFill>
            <a:srgbClr val="0E5A2E">
              <a:alpha val="22000"/>
            </a:srgbClr>
          </a:solidFill>
          <a:ln/>
        </p:spPr>
      </p:sp>
      <p:sp>
        <p:nvSpPr>
          <p:cNvPr id="20" name="Text 17"/>
          <p:cNvSpPr txBox="1"/>
          <p:nvPr/>
        </p:nvSpPr>
        <p:spPr>
          <a:xfrm>
            <a:off x="457200" y="1929384"/>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841248" y="1911096"/>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Paiement par des entités commerciales ou publiques ? </a:t>
            </a:r>
            <a:r>
              <a:rPr lang="en-US" sz="1150" b="1" dirty="0">
                <a:solidFill>
                  <a:srgbClr val="231F20"/>
                </a:solidFill>
                <a:latin typeface="Calibri" pitchFamily="34" charset="0"/>
                <a:ea typeface="Calibri" pitchFamily="34" charset="-122"/>
                <a:cs typeface="Calibri" pitchFamily="34" charset="-120"/>
              </a:rPr>
              <a:t>No</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457200" y="2624328"/>
            <a:ext cx="274320" cy="274320"/>
          </a:xfrm>
          <a:prstGeom prst="ellipse">
            <a:avLst/>
          </a:prstGeom>
          <a:solidFill>
            <a:srgbClr val="0E5A2E">
              <a:alpha val="22000"/>
            </a:srgbClr>
          </a:solidFill>
          <a:ln/>
        </p:spPr>
      </p:sp>
      <p:sp>
        <p:nvSpPr>
          <p:cNvPr id="23" name="Text 20"/>
          <p:cNvSpPr txBox="1"/>
          <p:nvPr/>
        </p:nvSpPr>
        <p:spPr>
          <a:xfrm>
            <a:off x="457200" y="262432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841248" y="2606040"/>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Type d'usage : </a:t>
            </a:r>
            <a:r>
              <a:rPr lang="en-US" sz="1150" b="1" dirty="0">
                <a:solidFill>
                  <a:srgbClr val="231F20"/>
                </a:solidFill>
                <a:latin typeface="Calibri" pitchFamily="34" charset="0"/>
                <a:ea typeface="Calibri" pitchFamily="34" charset="-122"/>
                <a:cs typeface="Calibri" pitchFamily="34" charset="-120"/>
              </a:rPr>
              <a:t>Operational decision making</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457200" y="3611880"/>
            <a:ext cx="2331720" cy="777240"/>
          </a:xfrm>
          <a:prstGeom prst="roundRect">
            <a:avLst>
              <a:gd name="adj" fmla="val 9412"/>
            </a:avLst>
          </a:prstGeom>
          <a:solidFill>
            <a:srgbClr val="E8F4EB"/>
          </a:solidFill>
          <a:ln w="15875">
            <a:solidFill>
              <a:srgbClr val="2C9045"/>
            </a:solidFill>
            <a:prstDash val="solid"/>
          </a:ln>
        </p:spPr>
      </p:sp>
      <p:pic>
        <p:nvPicPr>
          <p:cNvPr id="26" name="Image 1" descr="preencoded.png"/>
          <p:cNvPicPr>
            <a:picLocks noChangeAspect="1"/>
          </p:cNvPicPr>
          <p:nvPr/>
        </p:nvPicPr>
        <p:blipFill>
          <a:blip r:embed="rId5"/>
          <a:stretch>
            <a:fillRect/>
          </a:stretch>
        </p:blipFill>
        <p:spPr>
          <a:xfrm>
            <a:off x="585216" y="3739896"/>
            <a:ext cx="219456" cy="219456"/>
          </a:xfrm>
          <a:prstGeom prst="rect">
            <a:avLst/>
          </a:prstGeom>
        </p:spPr>
      </p:pic>
      <p:sp>
        <p:nvSpPr>
          <p:cNvPr id="27" name="Text 23"/>
          <p:cNvSpPr txBox="1"/>
          <p:nvPr/>
        </p:nvSpPr>
        <p:spPr>
          <a:xfrm>
            <a:off x="896112" y="3685032"/>
            <a:ext cx="1783080" cy="6309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Les subventions de recherche ne comptent pas comme paiement.</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étape « Check noncommercial eligibility » (capture d’écran).</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ÉLIGIBILITÉ NON COMMERCIALE</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Préciser la recherche et la portée géographique</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0E5A2E"/>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8</a:t>
            </a:r>
            <a:endParaRPr lang="en-US" sz="850" dirty="0"/>
          </a:p>
        </p:txBody>
      </p:sp>
      <p:sp>
        <p:nvSpPr>
          <p:cNvPr id="14" name="Shape 12"/>
          <p:cNvSpPr/>
          <p:nvPr/>
        </p:nvSpPr>
        <p:spPr>
          <a:xfrm>
            <a:off x="411480" y="1325880"/>
            <a:ext cx="5760720" cy="3040058"/>
          </a:xfrm>
          <a:prstGeom prst="roundRect">
            <a:avLst>
              <a:gd name="adj" fmla="val 1805"/>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3 de la console Google Cloud"/>
          <p:cNvPicPr>
            <a:picLocks noChangeAspect="1"/>
          </p:cNvPicPr>
          <p:nvPr/>
        </p:nvPicPr>
        <p:blipFill>
          <a:blip r:embed="rId4"/>
          <a:stretch>
            <a:fillRect/>
          </a:stretch>
        </p:blipFill>
        <p:spPr>
          <a:xfrm>
            <a:off x="457200" y="1371600"/>
            <a:ext cx="5669280" cy="2948618"/>
          </a:xfrm>
          <a:prstGeom prst="rect">
            <a:avLst/>
          </a:prstGeom>
        </p:spPr>
      </p:pic>
      <p:sp>
        <p:nvSpPr>
          <p:cNvPr id="16" name="Shape 13"/>
          <p:cNvSpPr/>
          <p:nvPr/>
        </p:nvSpPr>
        <p:spPr>
          <a:xfrm>
            <a:off x="6400800" y="1389888"/>
            <a:ext cx="274320" cy="274320"/>
          </a:xfrm>
          <a:prstGeom prst="ellipse">
            <a:avLst/>
          </a:prstGeom>
          <a:solidFill>
            <a:srgbClr val="0E5A2E">
              <a:alpha val="22000"/>
            </a:srgbClr>
          </a:solidFill>
          <a:ln/>
        </p:spPr>
      </p:sp>
      <p:sp>
        <p:nvSpPr>
          <p:cNvPr id="17" name="Text 14"/>
          <p:cNvSpPr txBox="1"/>
          <p:nvPr/>
        </p:nvSpPr>
        <p:spPr>
          <a:xfrm>
            <a:off x="6400800" y="138988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6784848" y="137160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Recherche avec Earth Engine : </a:t>
            </a:r>
            <a:r>
              <a:rPr lang="en-US" sz="1150" b="1" dirty="0">
                <a:solidFill>
                  <a:srgbClr val="231F20"/>
                </a:solidFill>
                <a:latin typeface="Calibri" pitchFamily="34" charset="0"/>
                <a:ea typeface="Calibri" pitchFamily="34" charset="-122"/>
                <a:cs typeface="Calibri" pitchFamily="34" charset="-120"/>
              </a:rPr>
              <a:t>Yes</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6400800" y="1929384"/>
            <a:ext cx="274320" cy="274320"/>
          </a:xfrm>
          <a:prstGeom prst="ellipse">
            <a:avLst/>
          </a:prstGeom>
          <a:solidFill>
            <a:srgbClr val="0E5A2E">
              <a:alpha val="22000"/>
            </a:srgbClr>
          </a:solidFill>
          <a:ln/>
        </p:spPr>
      </p:sp>
      <p:sp>
        <p:nvSpPr>
          <p:cNvPr id="20" name="Text 17"/>
          <p:cNvSpPr txBox="1"/>
          <p:nvPr/>
        </p:nvSpPr>
        <p:spPr>
          <a:xfrm>
            <a:off x="6400800" y="1929384"/>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6784848" y="1911096"/>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Portée : </a:t>
            </a:r>
            <a:r>
              <a:rPr lang="en-US" sz="1150" b="1" dirty="0">
                <a:solidFill>
                  <a:srgbClr val="231F20"/>
                </a:solidFill>
                <a:latin typeface="Calibri" pitchFamily="34" charset="0"/>
                <a:ea typeface="Calibri" pitchFamily="34" charset="-122"/>
                <a:cs typeface="Calibri" pitchFamily="34" charset="-120"/>
              </a:rPr>
              <a:t>Regional</a:t>
            </a:r>
            <a:r>
              <a:rPr lang="en-US" sz="1150" dirty="0">
                <a:solidFill>
                  <a:srgbClr val="231F20"/>
                </a:solidFill>
                <a:latin typeface="Calibri" pitchFamily="34" charset="0"/>
                <a:ea typeface="Calibri" pitchFamily="34" charset="-122"/>
                <a:cs typeface="Calibri" pitchFamily="34" charset="-120"/>
              </a:rPr>
              <a:t>, région </a:t>
            </a:r>
            <a:r>
              <a:rPr lang="en-US" sz="1150" b="1" dirty="0">
                <a:solidFill>
                  <a:srgbClr val="231F20"/>
                </a:solidFill>
                <a:latin typeface="Calibri" pitchFamily="34" charset="0"/>
                <a:ea typeface="Calibri" pitchFamily="34" charset="-122"/>
                <a:cs typeface="Calibri" pitchFamily="34" charset="-120"/>
              </a:rPr>
              <a:t>Africa</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6400800" y="2468880"/>
            <a:ext cx="274320" cy="274320"/>
          </a:xfrm>
          <a:prstGeom prst="ellipse">
            <a:avLst/>
          </a:prstGeom>
          <a:solidFill>
            <a:srgbClr val="0E5A2E">
              <a:alpha val="22000"/>
            </a:srgbClr>
          </a:solidFill>
          <a:ln/>
        </p:spPr>
      </p:sp>
      <p:sp>
        <p:nvSpPr>
          <p:cNvPr id="23" name="Text 20"/>
          <p:cNvSpPr txBox="1"/>
          <p:nvPr/>
        </p:nvSpPr>
        <p:spPr>
          <a:xfrm>
            <a:off x="6400800" y="2468880"/>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6784848" y="2450592"/>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Travaux déjà publiés : </a:t>
            </a:r>
            <a:r>
              <a:rPr lang="en-US" sz="1150" b="1" dirty="0">
                <a:solidFill>
                  <a:srgbClr val="231F20"/>
                </a:solidFill>
                <a:latin typeface="Calibri" pitchFamily="34" charset="0"/>
                <a:ea typeface="Calibri" pitchFamily="34" charset="-122"/>
                <a:cs typeface="Calibri" pitchFamily="34" charset="-120"/>
              </a:rPr>
              <a:t>No</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6400800" y="3008376"/>
            <a:ext cx="274320" cy="274320"/>
          </a:xfrm>
          <a:prstGeom prst="ellipse">
            <a:avLst/>
          </a:prstGeom>
          <a:solidFill>
            <a:srgbClr val="0E5A2E">
              <a:alpha val="22000"/>
            </a:srgbClr>
          </a:solidFill>
          <a:ln/>
        </p:spPr>
      </p:sp>
      <p:sp>
        <p:nvSpPr>
          <p:cNvPr id="26" name="Text 23"/>
          <p:cNvSpPr txBox="1"/>
          <p:nvPr/>
        </p:nvSpPr>
        <p:spPr>
          <a:xfrm>
            <a:off x="6400800" y="3008376"/>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4</a:t>
            </a:r>
            <a:endParaRPr lang="en-US" sz="1100" dirty="0"/>
          </a:p>
        </p:txBody>
      </p:sp>
      <p:sp>
        <p:nvSpPr>
          <p:cNvPr id="27" name="Text 24"/>
          <p:cNvSpPr txBox="1"/>
          <p:nvPr/>
        </p:nvSpPr>
        <p:spPr>
          <a:xfrm>
            <a:off x="6784848" y="2990088"/>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Cliquer sur </a:t>
            </a:r>
            <a:r>
              <a:rPr lang="en-US" sz="1150" b="1" dirty="0">
                <a:solidFill>
                  <a:srgbClr val="231F20"/>
                </a:solidFill>
                <a:latin typeface="Calibri" pitchFamily="34" charset="0"/>
                <a:ea typeface="Calibri" pitchFamily="34" charset="-122"/>
                <a:cs typeface="Calibri" pitchFamily="34" charset="-120"/>
              </a:rPr>
              <a:t>Check eligibility</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étape « Check noncommercial eligibility » (capture d’écran).</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ÉLIGIBILITÉ NON COMMERCIALE</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Confirmer l'éligibilité</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0E5A2E"/>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9</a:t>
            </a:r>
            <a:endParaRPr lang="en-US" sz="850" dirty="0"/>
          </a:p>
        </p:txBody>
      </p:sp>
      <p:sp>
        <p:nvSpPr>
          <p:cNvPr id="14" name="Shape 12"/>
          <p:cNvSpPr/>
          <p:nvPr/>
        </p:nvSpPr>
        <p:spPr>
          <a:xfrm>
            <a:off x="2971800" y="1325880"/>
            <a:ext cx="5760720" cy="3026578"/>
          </a:xfrm>
          <a:prstGeom prst="roundRect">
            <a:avLst>
              <a:gd name="adj" fmla="val 1813"/>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4 de la console Google Cloud"/>
          <p:cNvPicPr>
            <a:picLocks noChangeAspect="1"/>
          </p:cNvPicPr>
          <p:nvPr/>
        </p:nvPicPr>
        <p:blipFill>
          <a:blip r:embed="rId4"/>
          <a:stretch>
            <a:fillRect/>
          </a:stretch>
        </p:blipFill>
        <p:spPr>
          <a:xfrm>
            <a:off x="3017520" y="1371600"/>
            <a:ext cx="5669280" cy="2935138"/>
          </a:xfrm>
          <a:prstGeom prst="rect">
            <a:avLst/>
          </a:prstGeom>
        </p:spPr>
      </p:pic>
      <p:sp>
        <p:nvSpPr>
          <p:cNvPr id="16" name="Shape 13"/>
          <p:cNvSpPr/>
          <p:nvPr/>
        </p:nvSpPr>
        <p:spPr>
          <a:xfrm>
            <a:off x="457200" y="1371600"/>
            <a:ext cx="2331720" cy="1600200"/>
          </a:xfrm>
          <a:prstGeom prst="roundRect">
            <a:avLst>
              <a:gd name="adj" fmla="val 4571"/>
            </a:avLst>
          </a:prstGeom>
          <a:solidFill>
            <a:srgbClr val="E8F4EB"/>
          </a:solidFill>
          <a:ln w="19050">
            <a:solidFill>
              <a:srgbClr val="2C9045"/>
            </a:solidFill>
            <a:prstDash val="solid"/>
          </a:ln>
        </p:spPr>
      </p:sp>
      <p:pic>
        <p:nvPicPr>
          <p:cNvPr id="17" name="Image 1" descr="preencoded.png"/>
          <p:cNvPicPr>
            <a:picLocks noChangeAspect="1"/>
          </p:cNvPicPr>
          <p:nvPr/>
        </p:nvPicPr>
        <p:blipFill>
          <a:blip r:embed="rId5"/>
          <a:stretch>
            <a:fillRect/>
          </a:stretch>
        </p:blipFill>
        <p:spPr>
          <a:xfrm>
            <a:off x="640080" y="1554480"/>
            <a:ext cx="384048" cy="384048"/>
          </a:xfrm>
          <a:prstGeom prst="rect">
            <a:avLst/>
          </a:prstGeom>
        </p:spPr>
      </p:pic>
      <p:sp>
        <p:nvSpPr>
          <p:cNvPr id="18" name="Text 14"/>
          <p:cNvSpPr txBox="1"/>
          <p:nvPr/>
        </p:nvSpPr>
        <p:spPr>
          <a:xfrm>
            <a:off x="1115568" y="1554480"/>
            <a:ext cx="1554480" cy="384048"/>
          </a:xfrm>
          <a:prstGeom prst="rect">
            <a:avLst/>
          </a:prstGeom>
          <a:noFill/>
          <a:ln/>
        </p:spPr>
        <p:txBody>
          <a:bodyPr wrap="square" lIns="0" tIns="0" rIns="0" bIns="0" rtlCol="0" anchor="ctr"/>
          <a:lstStyle/>
          <a:p>
            <a:pPr marL="0" indent="0">
              <a:buNone/>
            </a:pPr>
            <a:r>
              <a:rPr lang="en-US" sz="2200" b="1" dirty="0">
                <a:solidFill>
                  <a:srgbClr val="0E5A2E"/>
                </a:solidFill>
                <a:latin typeface="Calibri" pitchFamily="34" charset="0"/>
                <a:ea typeface="Calibri" pitchFamily="34" charset="-122"/>
                <a:cs typeface="Calibri" pitchFamily="34" charset="-120"/>
              </a:rPr>
              <a:t>Éligible</a:t>
            </a:r>
            <a:endParaRPr lang="en-US" sz="2200" dirty="0"/>
          </a:p>
        </p:txBody>
      </p:sp>
      <p:sp>
        <p:nvSpPr>
          <p:cNvPr id="19" name="Text 15"/>
          <p:cNvSpPr txBox="1"/>
          <p:nvPr/>
        </p:nvSpPr>
        <p:spPr>
          <a:xfrm>
            <a:off x="640080" y="2057400"/>
            <a:ext cx="2011680" cy="777240"/>
          </a:xfrm>
          <a:prstGeom prst="rect">
            <a:avLst/>
          </a:prstGeom>
          <a:noFill/>
          <a:ln/>
        </p:spPr>
        <p:txBody>
          <a:bodyPr wrap="square" lIns="0" tIns="0" rIns="0" bIns="0" rtlCol="0" anchor="t"/>
          <a:lstStyle/>
          <a:p>
            <a:pPr marL="0" indent="0">
              <a:buNone/>
            </a:pPr>
            <a:r>
              <a:rPr lang="en-US" sz="1050" i="1" dirty="0">
                <a:solidFill>
                  <a:srgbClr val="231F20"/>
                </a:solidFill>
                <a:latin typeface="Calibri" pitchFamily="34" charset="0"/>
                <a:ea typeface="Calibri" pitchFamily="34" charset="-122"/>
                <a:cs typeface="Calibri" pitchFamily="34" charset="-120"/>
              </a:rPr>
              <a:t>« Based on your answers, you are eligible for noncommercial Earth Engine use. »</a:t>
            </a:r>
            <a:endParaRPr lang="en-US" sz="1050" dirty="0"/>
          </a:p>
        </p:txBody>
      </p:sp>
      <p:sp>
        <p:nvSpPr>
          <p:cNvPr id="20" name="Shape 16"/>
          <p:cNvSpPr/>
          <p:nvPr/>
        </p:nvSpPr>
        <p:spPr>
          <a:xfrm>
            <a:off x="457200" y="3218688"/>
            <a:ext cx="274320" cy="274320"/>
          </a:xfrm>
          <a:prstGeom prst="ellipse">
            <a:avLst/>
          </a:prstGeom>
          <a:solidFill>
            <a:srgbClr val="0E5A2E">
              <a:alpha val="22000"/>
            </a:srgbClr>
          </a:solidFill>
          <a:ln/>
        </p:spPr>
      </p:sp>
      <p:sp>
        <p:nvSpPr>
          <p:cNvPr id="21" name="Text 17"/>
          <p:cNvSpPr txBox="1"/>
          <p:nvPr/>
        </p:nvSpPr>
        <p:spPr>
          <a:xfrm>
            <a:off x="457200" y="321868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1</a:t>
            </a:r>
            <a:endParaRPr lang="en-US" sz="1100" dirty="0"/>
          </a:p>
        </p:txBody>
      </p:sp>
      <p:sp>
        <p:nvSpPr>
          <p:cNvPr id="22" name="Text 18"/>
          <p:cNvSpPr txBox="1"/>
          <p:nvPr/>
        </p:nvSpPr>
        <p:spPr>
          <a:xfrm>
            <a:off x="841248" y="32004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Lire le message de confirmation.</a:t>
            </a:r>
            <a:endParaRPr lang="en-US" sz="1150" dirty="0"/>
          </a:p>
        </p:txBody>
      </p:sp>
      <p:sp>
        <p:nvSpPr>
          <p:cNvPr id="23" name="Shape 19"/>
          <p:cNvSpPr/>
          <p:nvPr/>
        </p:nvSpPr>
        <p:spPr>
          <a:xfrm>
            <a:off x="457200" y="3739896"/>
            <a:ext cx="274320" cy="274320"/>
          </a:xfrm>
          <a:prstGeom prst="ellipse">
            <a:avLst/>
          </a:prstGeom>
          <a:solidFill>
            <a:srgbClr val="0E5A2E">
              <a:alpha val="22000"/>
            </a:srgbClr>
          </a:solidFill>
          <a:ln/>
        </p:spPr>
      </p:sp>
      <p:sp>
        <p:nvSpPr>
          <p:cNvPr id="24" name="Text 20"/>
          <p:cNvSpPr txBox="1"/>
          <p:nvPr/>
        </p:nvSpPr>
        <p:spPr>
          <a:xfrm>
            <a:off x="457200" y="3739896"/>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2</a:t>
            </a:r>
            <a:endParaRPr lang="en-US" sz="1100" dirty="0"/>
          </a:p>
        </p:txBody>
      </p:sp>
      <p:sp>
        <p:nvSpPr>
          <p:cNvPr id="25" name="Text 21"/>
          <p:cNvSpPr txBox="1"/>
          <p:nvPr/>
        </p:nvSpPr>
        <p:spPr>
          <a:xfrm>
            <a:off x="841248" y="3721608"/>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Cliquer sur </a:t>
            </a:r>
            <a:r>
              <a:rPr lang="en-US" sz="1150" b="1" dirty="0">
                <a:solidFill>
                  <a:srgbClr val="231F20"/>
                </a:solidFill>
                <a:latin typeface="Calibri" pitchFamily="34" charset="0"/>
                <a:ea typeface="Calibri" pitchFamily="34" charset="-122"/>
                <a:cs typeface="Calibri" pitchFamily="34" charset="-120"/>
              </a:rPr>
              <a:t>Next</a:t>
            </a:r>
            <a:r>
              <a:rPr lang="en-US" sz="1150" dirty="0">
                <a:solidFill>
                  <a:srgbClr val="231F20"/>
                </a:solidFill>
                <a:latin typeface="Calibri" pitchFamily="34" charset="0"/>
                <a:ea typeface="Calibri" pitchFamily="34" charset="-122"/>
                <a:cs typeface="Calibri" pitchFamily="34" charset="-120"/>
              </a:rPr>
              <a:t> pour choisir le plan.</a:t>
            </a:r>
            <a:endParaRPr lang="en-US" sz="1150" dirty="0"/>
          </a:p>
        </p:txBody>
      </p:sp>
      <p:sp>
        <p:nvSpPr>
          <p:cNvPr id="26" name="Text 22"/>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message d’éligibilité (capture d’écran).</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 · ÉTAPE 3 SUR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03</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Choix du plan</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De quelle puissance de calcul avez-vous besoin ?</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5C242"/>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03 · CHOIX DU PLAN</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Choisir le palier de quota</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0E7C86"/>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11</a:t>
            </a:r>
            <a:endParaRPr lang="en-US" sz="850" dirty="0"/>
          </a:p>
        </p:txBody>
      </p:sp>
      <p:sp>
        <p:nvSpPr>
          <p:cNvPr id="14" name="Shape 12"/>
          <p:cNvSpPr/>
          <p:nvPr/>
        </p:nvSpPr>
        <p:spPr>
          <a:xfrm>
            <a:off x="3383280" y="1325880"/>
            <a:ext cx="5349240" cy="2815063"/>
          </a:xfrm>
          <a:prstGeom prst="roundRect">
            <a:avLst>
              <a:gd name="adj" fmla="val 194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5 de la console Google Cloud"/>
          <p:cNvPicPr>
            <a:picLocks noChangeAspect="1"/>
          </p:cNvPicPr>
          <p:nvPr/>
        </p:nvPicPr>
        <p:blipFill>
          <a:blip r:embed="rId4"/>
          <a:stretch>
            <a:fillRect/>
          </a:stretch>
        </p:blipFill>
        <p:spPr>
          <a:xfrm>
            <a:off x="3429000" y="1371600"/>
            <a:ext cx="5257800" cy="2723623"/>
          </a:xfrm>
          <a:prstGeom prst="rect">
            <a:avLst/>
          </a:prstGeom>
        </p:spPr>
      </p:pic>
      <p:sp>
        <p:nvSpPr>
          <p:cNvPr id="16" name="Shape 13"/>
          <p:cNvSpPr/>
          <p:nvPr/>
        </p:nvSpPr>
        <p:spPr>
          <a:xfrm>
            <a:off x="457200" y="1371600"/>
            <a:ext cx="2743200" cy="1417320"/>
          </a:xfrm>
          <a:prstGeom prst="roundRect">
            <a:avLst>
              <a:gd name="adj" fmla="val 5161"/>
            </a:avLst>
          </a:prstGeom>
          <a:solidFill>
            <a:srgbClr val="E8F4EB"/>
          </a:solidFill>
          <a:ln w="19050">
            <a:solidFill>
              <a:srgbClr val="0E7C86"/>
            </a:solidFill>
            <a:prstDash val="solid"/>
          </a:ln>
        </p:spPr>
      </p:sp>
      <p:sp>
        <p:nvSpPr>
          <p:cNvPr id="17" name="Text 14"/>
          <p:cNvSpPr txBox="1"/>
          <p:nvPr/>
        </p:nvSpPr>
        <p:spPr>
          <a:xfrm>
            <a:off x="640080" y="1499616"/>
            <a:ext cx="2377440" cy="201168"/>
          </a:xfrm>
          <a:prstGeom prst="rect">
            <a:avLst/>
          </a:prstGeom>
          <a:noFill/>
          <a:ln/>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COMMUNITY</a:t>
            </a:r>
            <a:endParaRPr lang="en-US" sz="1000" dirty="0"/>
          </a:p>
        </p:txBody>
      </p:sp>
      <p:sp>
        <p:nvSpPr>
          <p:cNvPr id="18" name="Text 15"/>
          <p:cNvSpPr txBox="1"/>
          <p:nvPr/>
        </p:nvSpPr>
        <p:spPr>
          <a:xfrm>
            <a:off x="640080" y="1700784"/>
            <a:ext cx="2468880" cy="548640"/>
          </a:xfrm>
          <a:prstGeom prst="rect">
            <a:avLst/>
          </a:prstGeom>
          <a:noFill/>
          <a:ln/>
        </p:spPr>
        <p:txBody>
          <a:bodyPr wrap="square" lIns="0" tIns="0" rIns="0" bIns="0" rtlCol="0" anchor="ctr"/>
          <a:lstStyle/>
          <a:p>
            <a:pPr marL="0" indent="0">
              <a:buNone/>
            </a:pPr>
            <a:r>
              <a:rPr lang="en-US" sz="3400" b="1" dirty="0">
                <a:solidFill>
                  <a:srgbClr val="0E7C86"/>
                </a:solidFill>
                <a:latin typeface="Calibri" pitchFamily="34" charset="0"/>
                <a:ea typeface="Calibri" pitchFamily="34" charset="-122"/>
                <a:cs typeface="Calibri" pitchFamily="34" charset="-120"/>
              </a:rPr>
              <a:t>150</a:t>
            </a:r>
            <a:r>
              <a:rPr lang="en-US" sz="1100" dirty="0">
                <a:solidFill>
                  <a:srgbClr val="5A6660"/>
                </a:solidFill>
                <a:latin typeface="Calibri" pitchFamily="34" charset="0"/>
                <a:ea typeface="Calibri" pitchFamily="34" charset="-122"/>
                <a:cs typeface="Calibri" pitchFamily="34" charset="-120"/>
              </a:rPr>
              <a:t>  EECU-h / mois</a:t>
            </a:r>
            <a:endParaRPr lang="en-US" sz="3400" dirty="0"/>
          </a:p>
        </p:txBody>
      </p:sp>
      <p:sp>
        <p:nvSpPr>
          <p:cNvPr id="19" name="Text 16"/>
          <p:cNvSpPr txBox="1"/>
          <p:nvPr/>
        </p:nvSpPr>
        <p:spPr>
          <a:xfrm>
            <a:off x="640080" y="2267712"/>
            <a:ext cx="242316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Aucun compte de facturation requis. Palier retenu ici.</a:t>
            </a:r>
            <a:endParaRPr lang="en-US" sz="1050" dirty="0"/>
          </a:p>
        </p:txBody>
      </p:sp>
      <p:sp>
        <p:nvSpPr>
          <p:cNvPr id="20" name="Shape 17"/>
          <p:cNvSpPr/>
          <p:nvPr/>
        </p:nvSpPr>
        <p:spPr>
          <a:xfrm>
            <a:off x="457200" y="2944368"/>
            <a:ext cx="2743200" cy="1417320"/>
          </a:xfrm>
          <a:prstGeom prst="roundRect">
            <a:avLst>
              <a:gd name="adj" fmla="val 5161"/>
            </a:avLst>
          </a:prstGeom>
          <a:solidFill>
            <a:srgbClr val="F4F8F5"/>
          </a:solidFill>
          <a:ln w="9525">
            <a:solidFill>
              <a:srgbClr val="D3E2D7"/>
            </a:solidFill>
            <a:prstDash val="solid"/>
          </a:ln>
        </p:spPr>
      </p:sp>
      <p:sp>
        <p:nvSpPr>
          <p:cNvPr id="21" name="Text 18"/>
          <p:cNvSpPr txBox="1"/>
          <p:nvPr/>
        </p:nvSpPr>
        <p:spPr>
          <a:xfrm>
            <a:off x="640080" y="3072384"/>
            <a:ext cx="2377440" cy="201168"/>
          </a:xfrm>
          <a:prstGeom prst="rect">
            <a:avLst/>
          </a:prstGeom>
          <a:noFill/>
          <a:ln/>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CONTRIBUTOR</a:t>
            </a:r>
            <a:endParaRPr lang="en-US" sz="1000" dirty="0"/>
          </a:p>
        </p:txBody>
      </p:sp>
      <p:sp>
        <p:nvSpPr>
          <p:cNvPr id="22" name="Text 19"/>
          <p:cNvSpPr txBox="1"/>
          <p:nvPr/>
        </p:nvSpPr>
        <p:spPr>
          <a:xfrm>
            <a:off x="640080" y="3273552"/>
            <a:ext cx="2468880" cy="548640"/>
          </a:xfrm>
          <a:prstGeom prst="rect">
            <a:avLst/>
          </a:prstGeom>
          <a:noFill/>
          <a:ln/>
        </p:spPr>
        <p:txBody>
          <a:bodyPr wrap="square" lIns="0" tIns="0" rIns="0" bIns="0" rtlCol="0" anchor="ctr"/>
          <a:lstStyle/>
          <a:p>
            <a:pPr marL="0" indent="0">
              <a:buNone/>
            </a:pPr>
            <a:r>
              <a:rPr lang="en-US" sz="3400" b="1" dirty="0">
                <a:solidFill>
                  <a:srgbClr val="5A6660"/>
                </a:solidFill>
                <a:latin typeface="Calibri" pitchFamily="34" charset="0"/>
                <a:ea typeface="Calibri" pitchFamily="34" charset="-122"/>
                <a:cs typeface="Calibri" pitchFamily="34" charset="-120"/>
              </a:rPr>
              <a:t>1 000</a:t>
            </a:r>
            <a:r>
              <a:rPr lang="en-US" sz="1100" dirty="0">
                <a:solidFill>
                  <a:srgbClr val="5A6660"/>
                </a:solidFill>
                <a:latin typeface="Calibri" pitchFamily="34" charset="0"/>
                <a:ea typeface="Calibri" pitchFamily="34" charset="-122"/>
                <a:cs typeface="Calibri" pitchFamily="34" charset="-120"/>
              </a:rPr>
              <a:t>  EECU-h / mois</a:t>
            </a:r>
            <a:endParaRPr lang="en-US" sz="3400" dirty="0"/>
          </a:p>
        </p:txBody>
      </p:sp>
      <p:sp>
        <p:nvSpPr>
          <p:cNvPr id="23" name="Text 20"/>
          <p:cNvSpPr txBox="1"/>
          <p:nvPr/>
        </p:nvSpPr>
        <p:spPr>
          <a:xfrm>
            <a:off x="640080" y="3840480"/>
            <a:ext cx="242316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Facturation active requise, sans frais pour l’usage Earth Engine non commercial.</a:t>
            </a:r>
            <a:endParaRPr lang="en-US" sz="1050" dirty="0"/>
          </a:p>
        </p:txBody>
      </p:sp>
      <p:sp>
        <p:nvSpPr>
          <p:cNvPr id="24" name="Text 21"/>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Google for Developers, « Earth Engine Noncommercial Tiers » ; console Google Cloud (capture d’écran). EECU = unité de calcul Earth Engine.</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 · ÉTAPE 4 SUR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04</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Description du travail</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À quels enjeux climatiques votre travail contribue-t-il ?</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5C242"/>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04 · DESCRIPTION DU TRAVAIL</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Décrire votre travail</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49A00"/>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13</a:t>
            </a:r>
            <a:endParaRPr lang="en-US" sz="850" dirty="0"/>
          </a:p>
        </p:txBody>
      </p:sp>
      <p:sp>
        <p:nvSpPr>
          <p:cNvPr id="14" name="Shape 12"/>
          <p:cNvSpPr/>
          <p:nvPr/>
        </p:nvSpPr>
        <p:spPr>
          <a:xfrm>
            <a:off x="411480" y="1325880"/>
            <a:ext cx="5760720" cy="3008843"/>
          </a:xfrm>
          <a:prstGeom prst="roundRect">
            <a:avLst>
              <a:gd name="adj" fmla="val 1823"/>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6 de la console Google Cloud"/>
          <p:cNvPicPr>
            <a:picLocks noChangeAspect="1"/>
          </p:cNvPicPr>
          <p:nvPr/>
        </p:nvPicPr>
        <p:blipFill>
          <a:blip r:embed="rId4"/>
          <a:stretch>
            <a:fillRect/>
          </a:stretch>
        </p:blipFill>
        <p:spPr>
          <a:xfrm>
            <a:off x="457200" y="1371600"/>
            <a:ext cx="5669280" cy="2917403"/>
          </a:xfrm>
          <a:prstGeom prst="rect">
            <a:avLst/>
          </a:prstGeom>
        </p:spPr>
      </p:pic>
      <p:sp>
        <p:nvSpPr>
          <p:cNvPr id="16" name="Text 13"/>
          <p:cNvSpPr txBox="1"/>
          <p:nvPr/>
        </p:nvSpPr>
        <p:spPr>
          <a:xfrm>
            <a:off x="6400800" y="1371600"/>
            <a:ext cx="2286000" cy="22860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Catégories cochées</a:t>
            </a:r>
            <a:endParaRPr lang="en-US" sz="1100" dirty="0"/>
          </a:p>
        </p:txBody>
      </p:sp>
      <p:sp>
        <p:nvSpPr>
          <p:cNvPr id="17" name="Shape 14"/>
          <p:cNvSpPr/>
          <p:nvPr/>
        </p:nvSpPr>
        <p:spPr>
          <a:xfrm>
            <a:off x="6400800" y="1691640"/>
            <a:ext cx="2286000" cy="292608"/>
          </a:xfrm>
          <a:prstGeom prst="roundRect">
            <a:avLst>
              <a:gd name="adj" fmla="val 50000"/>
            </a:avLst>
          </a:prstGeom>
          <a:solidFill>
            <a:srgbClr val="F4F8F5"/>
          </a:solidFill>
          <a:ln w="9525">
            <a:solidFill>
              <a:srgbClr val="D3E2D7"/>
            </a:solidFill>
            <a:prstDash val="solid"/>
          </a:ln>
        </p:spPr>
      </p:sp>
      <p:sp>
        <p:nvSpPr>
          <p:cNvPr id="18" name="Text 15"/>
          <p:cNvSpPr txBox="1"/>
          <p:nvPr/>
        </p:nvSpPr>
        <p:spPr>
          <a:xfrm>
            <a:off x="6510528" y="1691640"/>
            <a:ext cx="2103120" cy="292608"/>
          </a:xfrm>
          <a:prstGeom prst="rect">
            <a:avLst/>
          </a:prstGeom>
          <a:noFill/>
          <a:ln/>
        </p:spPr>
        <p:txBody>
          <a:bodyPr wrap="square" lIns="0" tIns="0" rIns="0" bIns="0" rtlCol="0" anchor="ctr"/>
          <a:lstStyle/>
          <a:p>
            <a:pPr marL="0" indent="0">
              <a:buNone/>
            </a:pPr>
            <a:r>
              <a:rPr lang="en-US" sz="1050" dirty="0">
                <a:solidFill>
                  <a:srgbClr val="5A6660"/>
                </a:solidFill>
                <a:latin typeface="Calibri" pitchFamily="34" charset="0"/>
                <a:ea typeface="Calibri" pitchFamily="34" charset="-122"/>
                <a:cs typeface="Calibri" pitchFamily="34" charset="-120"/>
              </a:rPr>
              <a:t>–  Mitigation</a:t>
            </a:r>
            <a:endParaRPr lang="en-US" sz="1050" dirty="0"/>
          </a:p>
        </p:txBody>
      </p:sp>
      <p:sp>
        <p:nvSpPr>
          <p:cNvPr id="19" name="Shape 16"/>
          <p:cNvSpPr/>
          <p:nvPr/>
        </p:nvSpPr>
        <p:spPr>
          <a:xfrm>
            <a:off x="6400800" y="2075688"/>
            <a:ext cx="2286000" cy="292608"/>
          </a:xfrm>
          <a:prstGeom prst="roundRect">
            <a:avLst>
              <a:gd name="adj" fmla="val 50000"/>
            </a:avLst>
          </a:prstGeom>
          <a:solidFill>
            <a:srgbClr val="D49A00">
              <a:alpha val="15000"/>
            </a:srgbClr>
          </a:solidFill>
          <a:ln w="9525">
            <a:solidFill>
              <a:srgbClr val="D49A00"/>
            </a:solidFill>
            <a:prstDash val="solid"/>
          </a:ln>
        </p:spPr>
      </p:sp>
      <p:sp>
        <p:nvSpPr>
          <p:cNvPr id="20" name="Text 17"/>
          <p:cNvSpPr txBox="1"/>
          <p:nvPr/>
        </p:nvSpPr>
        <p:spPr>
          <a:xfrm>
            <a:off x="6510528" y="2075688"/>
            <a:ext cx="210312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  Adaptation</a:t>
            </a:r>
            <a:endParaRPr lang="en-US" sz="1050" dirty="0"/>
          </a:p>
        </p:txBody>
      </p:sp>
      <p:sp>
        <p:nvSpPr>
          <p:cNvPr id="21" name="Shape 18"/>
          <p:cNvSpPr/>
          <p:nvPr/>
        </p:nvSpPr>
        <p:spPr>
          <a:xfrm>
            <a:off x="6400800" y="2459736"/>
            <a:ext cx="2286000" cy="292608"/>
          </a:xfrm>
          <a:prstGeom prst="roundRect">
            <a:avLst>
              <a:gd name="adj" fmla="val 50000"/>
            </a:avLst>
          </a:prstGeom>
          <a:solidFill>
            <a:srgbClr val="D49A00">
              <a:alpha val="15000"/>
            </a:srgbClr>
          </a:solidFill>
          <a:ln w="9525">
            <a:solidFill>
              <a:srgbClr val="D49A00"/>
            </a:solidFill>
            <a:prstDash val="solid"/>
          </a:ln>
        </p:spPr>
      </p:sp>
      <p:sp>
        <p:nvSpPr>
          <p:cNvPr id="22" name="Text 19"/>
          <p:cNvSpPr txBox="1"/>
          <p:nvPr/>
        </p:nvSpPr>
        <p:spPr>
          <a:xfrm>
            <a:off x="6510528" y="2459736"/>
            <a:ext cx="210312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  Protection &amp; conservation</a:t>
            </a:r>
            <a:endParaRPr lang="en-US" sz="1050" dirty="0"/>
          </a:p>
        </p:txBody>
      </p:sp>
      <p:sp>
        <p:nvSpPr>
          <p:cNvPr id="23" name="Shape 20"/>
          <p:cNvSpPr/>
          <p:nvPr/>
        </p:nvSpPr>
        <p:spPr>
          <a:xfrm>
            <a:off x="6400800" y="2944368"/>
            <a:ext cx="274320" cy="274320"/>
          </a:xfrm>
          <a:prstGeom prst="ellipse">
            <a:avLst/>
          </a:prstGeom>
          <a:solidFill>
            <a:srgbClr val="D49A00">
              <a:alpha val="22000"/>
            </a:srgbClr>
          </a:solidFill>
          <a:ln/>
        </p:spPr>
      </p:sp>
      <p:sp>
        <p:nvSpPr>
          <p:cNvPr id="24" name="Text 21"/>
          <p:cNvSpPr txBox="1"/>
          <p:nvPr/>
        </p:nvSpPr>
        <p:spPr>
          <a:xfrm>
            <a:off x="6400800" y="2944368"/>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1</a:t>
            </a:r>
            <a:endParaRPr lang="en-US" sz="1100" dirty="0"/>
          </a:p>
        </p:txBody>
      </p:sp>
      <p:sp>
        <p:nvSpPr>
          <p:cNvPr id="25" name="Text 22"/>
          <p:cNvSpPr txBox="1"/>
          <p:nvPr/>
        </p:nvSpPr>
        <p:spPr>
          <a:xfrm>
            <a:off x="6784848" y="292608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Cocher les catégories pertinentes.</a:t>
            </a:r>
            <a:endParaRPr lang="en-US" sz="1150" dirty="0"/>
          </a:p>
        </p:txBody>
      </p:sp>
      <p:sp>
        <p:nvSpPr>
          <p:cNvPr id="26" name="Shape 23"/>
          <p:cNvSpPr/>
          <p:nvPr/>
        </p:nvSpPr>
        <p:spPr>
          <a:xfrm>
            <a:off x="6400800" y="3465576"/>
            <a:ext cx="274320" cy="274320"/>
          </a:xfrm>
          <a:prstGeom prst="ellipse">
            <a:avLst/>
          </a:prstGeom>
          <a:solidFill>
            <a:srgbClr val="D49A00">
              <a:alpha val="22000"/>
            </a:srgbClr>
          </a:solidFill>
          <a:ln/>
        </p:spPr>
      </p:sp>
      <p:sp>
        <p:nvSpPr>
          <p:cNvPr id="27" name="Text 24"/>
          <p:cNvSpPr txBox="1"/>
          <p:nvPr/>
        </p:nvSpPr>
        <p:spPr>
          <a:xfrm>
            <a:off x="6400800" y="3465576"/>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6784848" y="3447288"/>
            <a:ext cx="1901952"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Renseigner le champ </a:t>
            </a:r>
            <a:r>
              <a:rPr lang="en-US" sz="1150" b="1" dirty="0">
                <a:solidFill>
                  <a:srgbClr val="231F20"/>
                </a:solidFill>
                <a:latin typeface="Calibri" pitchFamily="34" charset="0"/>
                <a:ea typeface="Calibri" pitchFamily="34" charset="-122"/>
                <a:cs typeface="Calibri" pitchFamily="34" charset="-120"/>
              </a:rPr>
              <a:t>Will you use Earth Engine for…</a:t>
            </a:r>
            <a:r>
              <a:rPr lang="en-US" sz="1150" dirty="0">
                <a:solidFill>
                  <a:srgbClr val="231F20"/>
                </a:solidFill>
                <a:latin typeface="Calibri" pitchFamily="34" charset="0"/>
                <a:ea typeface="Calibri" pitchFamily="34" charset="-122"/>
                <a:cs typeface="Calibri" pitchFamily="34" charset="-120"/>
              </a:rPr>
              <a:t> (obligatoire).</a:t>
            </a:r>
            <a:endParaRPr lang="en-US" sz="1150" dirty="0"/>
          </a:p>
        </p:txBody>
      </p:sp>
      <p:sp>
        <p:nvSpPr>
          <p:cNvPr id="29" name="Text 26"/>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étape « Describe your work » (capture d’écran).</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04 · DESCRIPTION DU TRAVAIL</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Sélectionner les domaines d'usage</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49A00"/>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14</a:t>
            </a:r>
            <a:endParaRPr lang="en-US" sz="850" dirty="0"/>
          </a:p>
        </p:txBody>
      </p:sp>
      <p:sp>
        <p:nvSpPr>
          <p:cNvPr id="14" name="Shape 12"/>
          <p:cNvSpPr/>
          <p:nvPr/>
        </p:nvSpPr>
        <p:spPr>
          <a:xfrm>
            <a:off x="2971800" y="1325880"/>
            <a:ext cx="5760720" cy="3014755"/>
          </a:xfrm>
          <a:prstGeom prst="roundRect">
            <a:avLst>
              <a:gd name="adj" fmla="val 1820"/>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7 de la console Google Cloud"/>
          <p:cNvPicPr>
            <a:picLocks noChangeAspect="1"/>
          </p:cNvPicPr>
          <p:nvPr/>
        </p:nvPicPr>
        <p:blipFill>
          <a:blip r:embed="rId4"/>
          <a:stretch>
            <a:fillRect/>
          </a:stretch>
        </p:blipFill>
        <p:spPr>
          <a:xfrm>
            <a:off x="3017520" y="1371600"/>
            <a:ext cx="5669280" cy="2923315"/>
          </a:xfrm>
          <a:prstGeom prst="rect">
            <a:avLst/>
          </a:prstGeom>
        </p:spPr>
      </p:pic>
      <p:sp>
        <p:nvSpPr>
          <p:cNvPr id="16" name="Shape 13"/>
          <p:cNvSpPr/>
          <p:nvPr/>
        </p:nvSpPr>
        <p:spPr>
          <a:xfrm>
            <a:off x="457200" y="1389888"/>
            <a:ext cx="274320" cy="274320"/>
          </a:xfrm>
          <a:prstGeom prst="ellipse">
            <a:avLst/>
          </a:prstGeom>
          <a:solidFill>
            <a:srgbClr val="D49A00">
              <a:alpha val="22000"/>
            </a:srgbClr>
          </a:solidFill>
          <a:ln/>
        </p:spPr>
      </p:sp>
      <p:sp>
        <p:nvSpPr>
          <p:cNvPr id="17" name="Text 14"/>
          <p:cNvSpPr txBox="1"/>
          <p:nvPr/>
        </p:nvSpPr>
        <p:spPr>
          <a:xfrm>
            <a:off x="457200" y="1389888"/>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841248" y="13716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Ouvrir la liste déroulante.</a:t>
            </a:r>
            <a:endParaRPr lang="en-US" sz="1150" dirty="0"/>
          </a:p>
        </p:txBody>
      </p:sp>
      <p:sp>
        <p:nvSpPr>
          <p:cNvPr id="19" name="Shape 16"/>
          <p:cNvSpPr/>
          <p:nvPr/>
        </p:nvSpPr>
        <p:spPr>
          <a:xfrm>
            <a:off x="457200" y="1929384"/>
            <a:ext cx="274320" cy="274320"/>
          </a:xfrm>
          <a:prstGeom prst="ellipse">
            <a:avLst/>
          </a:prstGeom>
          <a:solidFill>
            <a:srgbClr val="D49A00">
              <a:alpha val="22000"/>
            </a:srgbClr>
          </a:solidFill>
          <a:ln/>
        </p:spPr>
      </p:sp>
      <p:sp>
        <p:nvSpPr>
          <p:cNvPr id="20" name="Text 17"/>
          <p:cNvSpPr txBox="1"/>
          <p:nvPr/>
        </p:nvSpPr>
        <p:spPr>
          <a:xfrm>
            <a:off x="457200" y="1929384"/>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841248" y="1911096"/>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Cocher au moins un domaine — ici </a:t>
            </a:r>
            <a:r>
              <a:rPr lang="en-US" sz="1150" b="1" dirty="0">
                <a:solidFill>
                  <a:srgbClr val="231F20"/>
                </a:solidFill>
                <a:latin typeface="Calibri" pitchFamily="34" charset="0"/>
                <a:ea typeface="Calibri" pitchFamily="34" charset="-122"/>
                <a:cs typeface="Calibri" pitchFamily="34" charset="-120"/>
              </a:rPr>
              <a:t>AI / ML</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457200" y="2624328"/>
            <a:ext cx="274320" cy="274320"/>
          </a:xfrm>
          <a:prstGeom prst="ellipse">
            <a:avLst/>
          </a:prstGeom>
          <a:solidFill>
            <a:srgbClr val="D49A00">
              <a:alpha val="22000"/>
            </a:srgbClr>
          </a:solidFill>
          <a:ln/>
        </p:spPr>
      </p:sp>
      <p:sp>
        <p:nvSpPr>
          <p:cNvPr id="23" name="Text 20"/>
          <p:cNvSpPr txBox="1"/>
          <p:nvPr/>
        </p:nvSpPr>
        <p:spPr>
          <a:xfrm>
            <a:off x="457200" y="2624328"/>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841248" y="260604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Valider avec </a:t>
            </a:r>
            <a:r>
              <a:rPr lang="en-US" sz="1150" b="1" dirty="0">
                <a:solidFill>
                  <a:srgbClr val="231F20"/>
                </a:solidFill>
                <a:latin typeface="Calibri" pitchFamily="34" charset="0"/>
                <a:ea typeface="Calibri" pitchFamily="34" charset="-122"/>
                <a:cs typeface="Calibri" pitchFamily="34" charset="-120"/>
              </a:rPr>
              <a:t>OK</a:t>
            </a:r>
            <a:r>
              <a:rPr lang="en-US" sz="1150" dirty="0">
                <a:solidFill>
                  <a:srgbClr val="231F20"/>
                </a:solidFill>
                <a:latin typeface="Calibri" pitchFamily="34" charset="0"/>
                <a:ea typeface="Calibri" pitchFamily="34" charset="-122"/>
                <a:cs typeface="Calibri" pitchFamily="34" charset="-120"/>
              </a:rPr>
              <a:t>, puis </a:t>
            </a:r>
            <a:r>
              <a:rPr lang="en-US" sz="1150" b="1" dirty="0">
                <a:solidFill>
                  <a:srgbClr val="231F20"/>
                </a:solidFill>
                <a:latin typeface="Calibri" pitchFamily="34" charset="0"/>
                <a:ea typeface="Calibri" pitchFamily="34" charset="-122"/>
                <a:cs typeface="Calibri" pitchFamily="34" charset="-120"/>
              </a:rPr>
              <a:t>Next</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457200" y="3429000"/>
            <a:ext cx="2331720" cy="960120"/>
          </a:xfrm>
          <a:prstGeom prst="roundRect">
            <a:avLst>
              <a:gd name="adj" fmla="val 7619"/>
            </a:avLst>
          </a:prstGeom>
          <a:solidFill>
            <a:srgbClr val="D49A00">
              <a:alpha val="13000"/>
            </a:srgbClr>
          </a:solidFill>
          <a:ln w="12700">
            <a:solidFill>
              <a:srgbClr val="D49A00"/>
            </a:solidFill>
            <a:prstDash val="solid"/>
          </a:ln>
        </p:spPr>
      </p:sp>
      <p:pic>
        <p:nvPicPr>
          <p:cNvPr id="26" name="Image 1" descr="preencoded.png"/>
          <p:cNvPicPr>
            <a:picLocks noChangeAspect="1"/>
          </p:cNvPicPr>
          <p:nvPr/>
        </p:nvPicPr>
        <p:blipFill>
          <a:blip r:embed="rId5"/>
          <a:stretch>
            <a:fillRect/>
          </a:stretch>
        </p:blipFill>
        <p:spPr>
          <a:xfrm>
            <a:off x="585216" y="3557016"/>
            <a:ext cx="219456" cy="219456"/>
          </a:xfrm>
          <a:prstGeom prst="rect">
            <a:avLst/>
          </a:prstGeom>
        </p:spPr>
      </p:pic>
      <p:sp>
        <p:nvSpPr>
          <p:cNvPr id="27" name="Text 23"/>
          <p:cNvSpPr txBox="1"/>
          <p:nvPr/>
        </p:nvSpPr>
        <p:spPr>
          <a:xfrm>
            <a:off x="896112" y="3502152"/>
            <a:ext cx="1783080" cy="81381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Champ obligatoire : sans sélection, « This field is required » bloque la suite.</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liste des domaines d’usage (capture d’écran).</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 · ÉTAPE 5 SUR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05</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Validation &amp; API</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Tout est-il correct avant de valider ?</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5C242"/>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VALIDATION &amp; API</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Vérifier le récapitulatif</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C4621D"/>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16</a:t>
            </a:r>
            <a:endParaRPr lang="en-US" sz="850" dirty="0"/>
          </a:p>
        </p:txBody>
      </p:sp>
      <p:sp>
        <p:nvSpPr>
          <p:cNvPr id="14" name="Shape 12"/>
          <p:cNvSpPr/>
          <p:nvPr/>
        </p:nvSpPr>
        <p:spPr>
          <a:xfrm>
            <a:off x="411480" y="1325880"/>
            <a:ext cx="5760720" cy="3014755"/>
          </a:xfrm>
          <a:prstGeom prst="roundRect">
            <a:avLst>
              <a:gd name="adj" fmla="val 1820"/>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8 de la console Google Cloud"/>
          <p:cNvPicPr>
            <a:picLocks noChangeAspect="1"/>
          </p:cNvPicPr>
          <p:nvPr/>
        </p:nvPicPr>
        <p:blipFill>
          <a:blip r:embed="rId4"/>
          <a:stretch>
            <a:fillRect/>
          </a:stretch>
        </p:blipFill>
        <p:spPr>
          <a:xfrm>
            <a:off x="457200" y="1371600"/>
            <a:ext cx="5669280" cy="2923315"/>
          </a:xfrm>
          <a:prstGeom prst="rect">
            <a:avLst/>
          </a:prstGeom>
        </p:spPr>
      </p:pic>
      <p:sp>
        <p:nvSpPr>
          <p:cNvPr id="16" name="Shape 13"/>
          <p:cNvSpPr/>
          <p:nvPr/>
        </p:nvSpPr>
        <p:spPr>
          <a:xfrm>
            <a:off x="6400800" y="1371600"/>
            <a:ext cx="2286000" cy="457200"/>
          </a:xfrm>
          <a:prstGeom prst="roundRect">
            <a:avLst>
              <a:gd name="adj" fmla="val 12000"/>
            </a:avLst>
          </a:prstGeom>
          <a:solidFill>
            <a:srgbClr val="F4F8F5"/>
          </a:solidFill>
          <a:ln w="9525">
            <a:solidFill>
              <a:srgbClr val="D3E2D7"/>
            </a:solidFill>
            <a:prstDash val="solid"/>
          </a:ln>
        </p:spPr>
      </p:sp>
      <p:sp>
        <p:nvSpPr>
          <p:cNvPr id="17" name="Text 14"/>
          <p:cNvSpPr txBox="1"/>
          <p:nvPr/>
        </p:nvSpPr>
        <p:spPr>
          <a:xfrm>
            <a:off x="6510528" y="1371600"/>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PLAN
</a:t>
            </a:r>
            <a:r>
              <a:rPr lang="en-US" sz="1050" dirty="0">
                <a:solidFill>
                  <a:srgbClr val="231F20"/>
                </a:solidFill>
                <a:latin typeface="Calibri" pitchFamily="34" charset="0"/>
                <a:ea typeface="Calibri" pitchFamily="34" charset="-122"/>
                <a:cs typeface="Calibri" pitchFamily="34" charset="-120"/>
              </a:rPr>
              <a:t>Community</a:t>
            </a:r>
            <a:endParaRPr lang="en-US" sz="850" dirty="0"/>
          </a:p>
        </p:txBody>
      </p:sp>
      <p:sp>
        <p:nvSpPr>
          <p:cNvPr id="18" name="Shape 15"/>
          <p:cNvSpPr/>
          <p:nvPr/>
        </p:nvSpPr>
        <p:spPr>
          <a:xfrm>
            <a:off x="6400800" y="1901952"/>
            <a:ext cx="2286000" cy="457200"/>
          </a:xfrm>
          <a:prstGeom prst="roundRect">
            <a:avLst>
              <a:gd name="adj" fmla="val 12000"/>
            </a:avLst>
          </a:prstGeom>
          <a:solidFill>
            <a:srgbClr val="F4F8F5"/>
          </a:solidFill>
          <a:ln w="9525">
            <a:solidFill>
              <a:srgbClr val="D3E2D7"/>
            </a:solidFill>
            <a:prstDash val="solid"/>
          </a:ln>
        </p:spPr>
      </p:sp>
      <p:sp>
        <p:nvSpPr>
          <p:cNvPr id="19" name="Text 16"/>
          <p:cNvSpPr txBox="1"/>
          <p:nvPr/>
        </p:nvSpPr>
        <p:spPr>
          <a:xfrm>
            <a:off x="6510528" y="1901952"/>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CATÉGORIES
</a:t>
            </a:r>
            <a:r>
              <a:rPr lang="en-US" sz="1050" dirty="0">
                <a:solidFill>
                  <a:srgbClr val="231F20"/>
                </a:solidFill>
                <a:latin typeface="Calibri" pitchFamily="34" charset="0"/>
                <a:ea typeface="Calibri" pitchFamily="34" charset="-122"/>
                <a:cs typeface="Calibri" pitchFamily="34" charset="-120"/>
              </a:rPr>
              <a:t>Adaptation, Protection &amp; conservation</a:t>
            </a:r>
            <a:endParaRPr lang="en-US" sz="850" dirty="0"/>
          </a:p>
        </p:txBody>
      </p:sp>
      <p:sp>
        <p:nvSpPr>
          <p:cNvPr id="20" name="Shape 17"/>
          <p:cNvSpPr/>
          <p:nvPr/>
        </p:nvSpPr>
        <p:spPr>
          <a:xfrm>
            <a:off x="6400800" y="2432304"/>
            <a:ext cx="2286000" cy="457200"/>
          </a:xfrm>
          <a:prstGeom prst="roundRect">
            <a:avLst>
              <a:gd name="adj" fmla="val 12000"/>
            </a:avLst>
          </a:prstGeom>
          <a:solidFill>
            <a:srgbClr val="F4F8F5"/>
          </a:solidFill>
          <a:ln w="9525">
            <a:solidFill>
              <a:srgbClr val="D3E2D7"/>
            </a:solidFill>
            <a:prstDash val="solid"/>
          </a:ln>
        </p:spPr>
      </p:sp>
      <p:sp>
        <p:nvSpPr>
          <p:cNvPr id="21" name="Text 18"/>
          <p:cNvSpPr txBox="1"/>
          <p:nvPr/>
        </p:nvSpPr>
        <p:spPr>
          <a:xfrm>
            <a:off x="6510528" y="2432304"/>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USAGE
</a:t>
            </a:r>
            <a:r>
              <a:rPr lang="en-US" sz="1050" dirty="0">
                <a:solidFill>
                  <a:srgbClr val="231F20"/>
                </a:solidFill>
                <a:latin typeface="Calibri" pitchFamily="34" charset="0"/>
                <a:ea typeface="Calibri" pitchFamily="34" charset="-122"/>
                <a:cs typeface="Calibri" pitchFamily="34" charset="-120"/>
              </a:rPr>
              <a:t>AI / ML</a:t>
            </a:r>
            <a:endParaRPr lang="en-US" sz="850" dirty="0"/>
          </a:p>
        </p:txBody>
      </p:sp>
      <p:sp>
        <p:nvSpPr>
          <p:cNvPr id="22" name="Shape 19"/>
          <p:cNvSpPr/>
          <p:nvPr/>
        </p:nvSpPr>
        <p:spPr>
          <a:xfrm>
            <a:off x="6400800" y="2962656"/>
            <a:ext cx="2286000" cy="457200"/>
          </a:xfrm>
          <a:prstGeom prst="roundRect">
            <a:avLst>
              <a:gd name="adj" fmla="val 12000"/>
            </a:avLst>
          </a:prstGeom>
          <a:solidFill>
            <a:srgbClr val="F4F8F5"/>
          </a:solidFill>
          <a:ln w="9525">
            <a:solidFill>
              <a:srgbClr val="D3E2D7"/>
            </a:solidFill>
            <a:prstDash val="solid"/>
          </a:ln>
        </p:spPr>
      </p:sp>
      <p:sp>
        <p:nvSpPr>
          <p:cNvPr id="23" name="Text 20"/>
          <p:cNvSpPr txBox="1"/>
          <p:nvPr/>
        </p:nvSpPr>
        <p:spPr>
          <a:xfrm>
            <a:off x="6510528" y="2962656"/>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RÉGION
</a:t>
            </a:r>
            <a:r>
              <a:rPr lang="en-US" sz="1050" dirty="0">
                <a:solidFill>
                  <a:srgbClr val="231F20"/>
                </a:solidFill>
                <a:latin typeface="Calibri" pitchFamily="34" charset="0"/>
                <a:ea typeface="Calibri" pitchFamily="34" charset="-122"/>
                <a:cs typeface="Calibri" pitchFamily="34" charset="-120"/>
              </a:rPr>
              <a:t>Africa</a:t>
            </a:r>
            <a:endParaRPr lang="en-US" sz="850" dirty="0"/>
          </a:p>
        </p:txBody>
      </p:sp>
      <p:sp>
        <p:nvSpPr>
          <p:cNvPr id="24" name="Shape 21"/>
          <p:cNvSpPr/>
          <p:nvPr/>
        </p:nvSpPr>
        <p:spPr>
          <a:xfrm>
            <a:off x="6400800" y="3566160"/>
            <a:ext cx="2286000" cy="822960"/>
          </a:xfrm>
          <a:prstGeom prst="roundRect">
            <a:avLst>
              <a:gd name="adj" fmla="val 8889"/>
            </a:avLst>
          </a:prstGeom>
          <a:solidFill>
            <a:srgbClr val="E8F4EB"/>
          </a:solidFill>
          <a:ln w="15875">
            <a:solidFill>
              <a:srgbClr val="2C9045"/>
            </a:solidFill>
            <a:prstDash val="solid"/>
          </a:ln>
        </p:spPr>
      </p:sp>
      <p:pic>
        <p:nvPicPr>
          <p:cNvPr id="25" name="Image 1" descr="preencoded.png"/>
          <p:cNvPicPr>
            <a:picLocks noChangeAspect="1"/>
          </p:cNvPicPr>
          <p:nvPr/>
        </p:nvPicPr>
        <p:blipFill>
          <a:blip r:embed="rId5"/>
          <a:stretch>
            <a:fillRect/>
          </a:stretch>
        </p:blipFill>
        <p:spPr>
          <a:xfrm>
            <a:off x="6528816" y="3694176"/>
            <a:ext cx="219456" cy="219456"/>
          </a:xfrm>
          <a:prstGeom prst="rect">
            <a:avLst/>
          </a:prstGeom>
        </p:spPr>
      </p:pic>
      <p:sp>
        <p:nvSpPr>
          <p:cNvPr id="26" name="Text 22"/>
          <p:cNvSpPr txBox="1"/>
          <p:nvPr/>
        </p:nvSpPr>
        <p:spPr>
          <a:xfrm>
            <a:off x="6839712" y="3639312"/>
            <a:ext cx="1737360" cy="6766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Tout est correct ? Cliquer sur Register.</a:t>
            </a:r>
            <a:endParaRPr lang="en-US" sz="1050" dirty="0"/>
          </a:p>
        </p:txBody>
      </p:sp>
      <p:sp>
        <p:nvSpPr>
          <p:cNvPr id="27" name="Text 23"/>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étape « Review summary » (capture d’écran).</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VALIDATION &amp; API</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Activer l'API Earth Engine</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C4621D"/>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17</a:t>
            </a:r>
            <a:endParaRPr lang="en-US" sz="850" dirty="0"/>
          </a:p>
        </p:txBody>
      </p:sp>
      <p:sp>
        <p:nvSpPr>
          <p:cNvPr id="14" name="Shape 12"/>
          <p:cNvSpPr/>
          <p:nvPr/>
        </p:nvSpPr>
        <p:spPr>
          <a:xfrm>
            <a:off x="411480" y="1325880"/>
            <a:ext cx="4069080" cy="2161140"/>
          </a:xfrm>
          <a:prstGeom prst="roundRect">
            <a:avLst>
              <a:gd name="adj" fmla="val 253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9 de la console Google Cloud"/>
          <p:cNvPicPr>
            <a:picLocks noChangeAspect="1"/>
          </p:cNvPicPr>
          <p:nvPr/>
        </p:nvPicPr>
        <p:blipFill>
          <a:blip r:embed="rId4"/>
          <a:stretch>
            <a:fillRect/>
          </a:stretch>
        </p:blipFill>
        <p:spPr>
          <a:xfrm>
            <a:off x="457200" y="1371600"/>
            <a:ext cx="3977640" cy="2069700"/>
          </a:xfrm>
          <a:prstGeom prst="rect">
            <a:avLst/>
          </a:prstGeom>
        </p:spPr>
      </p:pic>
      <p:sp>
        <p:nvSpPr>
          <p:cNvPr id="16" name="Shape 13"/>
          <p:cNvSpPr/>
          <p:nvPr/>
        </p:nvSpPr>
        <p:spPr>
          <a:xfrm>
            <a:off x="4663440" y="1325880"/>
            <a:ext cx="4069080" cy="2144751"/>
          </a:xfrm>
          <a:prstGeom prst="roundRect">
            <a:avLst>
              <a:gd name="adj" fmla="val 2558"/>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7" name="Image 1" descr="Capture d'écran 10 de la console Google Cloud"/>
          <p:cNvPicPr>
            <a:picLocks noChangeAspect="1"/>
          </p:cNvPicPr>
          <p:nvPr/>
        </p:nvPicPr>
        <p:blipFill>
          <a:blip r:embed="rId5"/>
          <a:stretch>
            <a:fillRect/>
          </a:stretch>
        </p:blipFill>
        <p:spPr>
          <a:xfrm>
            <a:off x="4709160" y="1371600"/>
            <a:ext cx="3977640" cy="2053311"/>
          </a:xfrm>
          <a:prstGeom prst="rect">
            <a:avLst/>
          </a:prstGeom>
        </p:spPr>
      </p:pic>
      <p:sp>
        <p:nvSpPr>
          <p:cNvPr id="18" name="Shape 14"/>
          <p:cNvSpPr/>
          <p:nvPr/>
        </p:nvSpPr>
        <p:spPr>
          <a:xfrm>
            <a:off x="457200" y="3669900"/>
            <a:ext cx="868680" cy="274320"/>
          </a:xfrm>
          <a:prstGeom prst="roundRect">
            <a:avLst>
              <a:gd name="adj" fmla="val 50000"/>
            </a:avLst>
          </a:prstGeom>
          <a:solidFill>
            <a:srgbClr val="C4621D">
              <a:alpha val="15000"/>
            </a:srgbClr>
          </a:solidFill>
          <a:ln w="9525">
            <a:solidFill>
              <a:srgbClr val="C4621D"/>
            </a:solidFill>
            <a:prstDash val="solid"/>
          </a:ln>
        </p:spPr>
      </p:sp>
      <p:sp>
        <p:nvSpPr>
          <p:cNvPr id="19" name="Text 15"/>
          <p:cNvSpPr txBox="1"/>
          <p:nvPr/>
        </p:nvSpPr>
        <p:spPr>
          <a:xfrm>
            <a:off x="457200" y="3669900"/>
            <a:ext cx="868680" cy="274320"/>
          </a:xfrm>
          <a:prstGeom prst="rect">
            <a:avLst/>
          </a:prstGeom>
          <a:noFill/>
          <a:ln/>
        </p:spPr>
        <p:txBody>
          <a:bodyPr wrap="square" lIns="0" tIns="0" rIns="0" bIns="0" rtlCol="0" anchor="ctr"/>
          <a:lstStyle/>
          <a:p>
            <a:pPr marL="0" indent="0" algn="ctr">
              <a:buNone/>
            </a:pPr>
            <a:r>
              <a:rPr lang="en-US" sz="950" b="1" kern="0" spc="150" dirty="0">
                <a:solidFill>
                  <a:srgbClr val="C4621D"/>
                </a:solidFill>
                <a:latin typeface="Calibri" pitchFamily="34" charset="0"/>
                <a:ea typeface="Calibri" pitchFamily="34" charset="-122"/>
                <a:cs typeface="Calibri" pitchFamily="34" charset="-120"/>
              </a:rPr>
              <a:t>AVANT</a:t>
            </a:r>
            <a:endParaRPr lang="en-US" sz="950" dirty="0"/>
          </a:p>
        </p:txBody>
      </p:sp>
      <p:sp>
        <p:nvSpPr>
          <p:cNvPr id="20" name="Text 16"/>
          <p:cNvSpPr txBox="1"/>
          <p:nvPr/>
        </p:nvSpPr>
        <p:spPr>
          <a:xfrm>
            <a:off x="1463040" y="3624180"/>
            <a:ext cx="297180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Statut « Not enabled » : cliquer sur </a:t>
            </a:r>
            <a:r>
              <a:rPr lang="en-US" sz="1150" b="1" dirty="0">
                <a:solidFill>
                  <a:srgbClr val="231F20"/>
                </a:solidFill>
                <a:latin typeface="Calibri" pitchFamily="34" charset="0"/>
                <a:ea typeface="Calibri" pitchFamily="34" charset="-122"/>
                <a:cs typeface="Calibri" pitchFamily="34" charset="-120"/>
              </a:rPr>
              <a:t>Enable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1" name="Shape 17"/>
          <p:cNvSpPr/>
          <p:nvPr/>
        </p:nvSpPr>
        <p:spPr>
          <a:xfrm>
            <a:off x="4709160" y="3653511"/>
            <a:ext cx="868680" cy="274320"/>
          </a:xfrm>
          <a:prstGeom prst="roundRect">
            <a:avLst>
              <a:gd name="adj" fmla="val 50000"/>
            </a:avLst>
          </a:prstGeom>
          <a:solidFill>
            <a:srgbClr val="C4621D">
              <a:alpha val="15000"/>
            </a:srgbClr>
          </a:solidFill>
          <a:ln w="9525">
            <a:solidFill>
              <a:srgbClr val="C4621D"/>
            </a:solidFill>
            <a:prstDash val="solid"/>
          </a:ln>
        </p:spPr>
      </p:sp>
      <p:sp>
        <p:nvSpPr>
          <p:cNvPr id="22" name="Text 18"/>
          <p:cNvSpPr txBox="1"/>
          <p:nvPr/>
        </p:nvSpPr>
        <p:spPr>
          <a:xfrm>
            <a:off x="4709160" y="3653511"/>
            <a:ext cx="868680" cy="274320"/>
          </a:xfrm>
          <a:prstGeom prst="rect">
            <a:avLst/>
          </a:prstGeom>
          <a:noFill/>
          <a:ln/>
        </p:spPr>
        <p:txBody>
          <a:bodyPr wrap="square" lIns="0" tIns="0" rIns="0" bIns="0" rtlCol="0" anchor="ctr"/>
          <a:lstStyle/>
          <a:p>
            <a:pPr marL="0" indent="0" algn="ctr">
              <a:buNone/>
            </a:pPr>
            <a:r>
              <a:rPr lang="en-US" sz="950" b="1" kern="0" spc="150" dirty="0">
                <a:solidFill>
                  <a:srgbClr val="C4621D"/>
                </a:solidFill>
                <a:latin typeface="Calibri" pitchFamily="34" charset="0"/>
                <a:ea typeface="Calibri" pitchFamily="34" charset="-122"/>
                <a:cs typeface="Calibri" pitchFamily="34" charset="-120"/>
              </a:rPr>
              <a:t>PENDANT</a:t>
            </a:r>
            <a:endParaRPr lang="en-US" sz="950" dirty="0"/>
          </a:p>
        </p:txBody>
      </p:sp>
      <p:sp>
        <p:nvSpPr>
          <p:cNvPr id="23" name="Text 19"/>
          <p:cNvSpPr txBox="1"/>
          <p:nvPr/>
        </p:nvSpPr>
        <p:spPr>
          <a:xfrm>
            <a:off x="5715000" y="3607791"/>
            <a:ext cx="297180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Statut « In progress » : patienter, ne pas fermer la fenêtre.</a:t>
            </a:r>
            <a:endParaRPr lang="en-US" sz="1150" dirty="0"/>
          </a:p>
        </p:txBody>
      </p:sp>
      <p:sp>
        <p:nvSpPr>
          <p:cNvPr id="24" name="Shape 20"/>
          <p:cNvSpPr/>
          <p:nvPr/>
        </p:nvSpPr>
        <p:spPr>
          <a:xfrm>
            <a:off x="4507992" y="2406450"/>
            <a:ext cx="128016" cy="0"/>
          </a:xfrm>
          <a:prstGeom prst="line">
            <a:avLst/>
          </a:prstGeom>
          <a:noFill/>
          <a:ln w="19050">
            <a:solidFill>
              <a:srgbClr val="5A6660"/>
            </a:solidFill>
            <a:prstDash val="solid"/>
            <a:tailEnd type="triangle"/>
          </a:ln>
        </p:spPr>
      </p:sp>
      <p:sp>
        <p:nvSpPr>
          <p:cNvPr id="25" name="Text 21"/>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fenêtre « Enable APIs » (captures d’écran).</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 · ÉTAPE 6 SUR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06</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Gestion du projet</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Comment gérer votre inscription dans la durée ?</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5C242"/>
          </a:solidFill>
          <a:ln/>
        </p:spPr>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GESTION DU PROJET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Inscription confirmée</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19</a:t>
            </a:r>
            <a:endParaRPr lang="en-US" sz="850" dirty="0"/>
          </a:p>
        </p:txBody>
      </p:sp>
      <p:sp>
        <p:nvSpPr>
          <p:cNvPr id="14" name="Shape 12"/>
          <p:cNvSpPr/>
          <p:nvPr/>
        </p:nvSpPr>
        <p:spPr>
          <a:xfrm>
            <a:off x="411480" y="1325880"/>
            <a:ext cx="5760720" cy="3032490"/>
          </a:xfrm>
          <a:prstGeom prst="roundRect">
            <a:avLst>
              <a:gd name="adj" fmla="val 180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11 de la console Google Cloud"/>
          <p:cNvPicPr>
            <a:picLocks noChangeAspect="1"/>
          </p:cNvPicPr>
          <p:nvPr/>
        </p:nvPicPr>
        <p:blipFill>
          <a:blip r:embed="rId4"/>
          <a:stretch>
            <a:fillRect/>
          </a:stretch>
        </p:blipFill>
        <p:spPr>
          <a:xfrm>
            <a:off x="457200" y="1371600"/>
            <a:ext cx="5669280" cy="2941050"/>
          </a:xfrm>
          <a:prstGeom prst="rect">
            <a:avLst/>
          </a:prstGeom>
        </p:spPr>
      </p:pic>
      <p:sp>
        <p:nvSpPr>
          <p:cNvPr id="16" name="Shape 13"/>
          <p:cNvSpPr/>
          <p:nvPr/>
        </p:nvSpPr>
        <p:spPr>
          <a:xfrm>
            <a:off x="1771278" y="3310018"/>
            <a:ext cx="864801" cy="328523"/>
          </a:xfrm>
          <a:prstGeom prst="roundRect">
            <a:avLst>
              <a:gd name="adj" fmla="val 13917"/>
            </a:avLst>
          </a:prstGeom>
          <a:ln w="28575">
            <a:solidFill>
              <a:srgbClr val="D49A00"/>
            </a:solidFill>
            <a:prstDash val="solid"/>
          </a:ln>
        </p:spPr>
      </p:sp>
      <p:sp>
        <p:nvSpPr>
          <p:cNvPr id="17" name="Shape 14"/>
          <p:cNvSpPr/>
          <p:nvPr/>
        </p:nvSpPr>
        <p:spPr>
          <a:xfrm>
            <a:off x="6400800" y="1371600"/>
            <a:ext cx="2286000" cy="1188720"/>
          </a:xfrm>
          <a:prstGeom prst="roundRect">
            <a:avLst>
              <a:gd name="adj" fmla="val 6154"/>
            </a:avLst>
          </a:prstGeom>
          <a:solidFill>
            <a:srgbClr val="E8F4EB"/>
          </a:solidFill>
          <a:ln w="15875">
            <a:solidFill>
              <a:srgbClr val="B83B2E"/>
            </a:solidFill>
            <a:prstDash val="solid"/>
          </a:ln>
        </p:spPr>
      </p:sp>
      <p:sp>
        <p:nvSpPr>
          <p:cNvPr id="18" name="Text 15"/>
          <p:cNvSpPr txBox="1"/>
          <p:nvPr/>
        </p:nvSpPr>
        <p:spPr>
          <a:xfrm>
            <a:off x="6537960" y="1481328"/>
            <a:ext cx="2057400" cy="201168"/>
          </a:xfrm>
          <a:prstGeom prst="rect">
            <a:avLst/>
          </a:prstGeom>
          <a:noFill/>
          <a:ln/>
        </p:spPr>
        <p:txBody>
          <a:bodyPr wrap="square" lIns="0" tIns="0" rIns="0" bIns="0" rtlCol="0" anchor="ctr"/>
          <a:lstStyle/>
          <a:p>
            <a:pPr marL="0" indent="0">
              <a:buNone/>
            </a:pPr>
            <a:r>
              <a:rPr lang="en-US" sz="850" b="1" kern="0" spc="150" dirty="0">
                <a:solidFill>
                  <a:srgbClr val="B83B2E"/>
                </a:solidFill>
                <a:latin typeface="Calibri" pitchFamily="34" charset="0"/>
                <a:ea typeface="Calibri" pitchFamily="34" charset="-122"/>
                <a:cs typeface="Calibri" pitchFamily="34" charset="-120"/>
              </a:rPr>
              <a:t>ÉLIGIBILITÉ VALABLE JUSQU’AU</a:t>
            </a:r>
            <a:endParaRPr lang="en-US" sz="850" dirty="0"/>
          </a:p>
        </p:txBody>
      </p:sp>
      <p:sp>
        <p:nvSpPr>
          <p:cNvPr id="19" name="Text 16"/>
          <p:cNvSpPr txBox="1"/>
          <p:nvPr/>
        </p:nvSpPr>
        <p:spPr>
          <a:xfrm>
            <a:off x="6537960" y="1719072"/>
            <a:ext cx="2057400" cy="457200"/>
          </a:xfrm>
          <a:prstGeom prst="rect">
            <a:avLst/>
          </a:prstGeom>
          <a:noFill/>
          <a:ln/>
        </p:spPr>
        <p:txBody>
          <a:bodyPr wrap="square" lIns="0" tIns="0" rIns="0" bIns="0" rtlCol="0" anchor="ctr"/>
          <a:lstStyle/>
          <a:p>
            <a:pPr marL="0" indent="0">
              <a:buNone/>
            </a:pPr>
            <a:r>
              <a:rPr lang="en-US" sz="2600" b="1" dirty="0">
                <a:solidFill>
                  <a:srgbClr val="B83B2E"/>
                </a:solidFill>
                <a:latin typeface="Calibri" pitchFamily="34" charset="0"/>
                <a:ea typeface="Calibri" pitchFamily="34" charset="-122"/>
                <a:cs typeface="Calibri" pitchFamily="34" charset="-120"/>
              </a:rPr>
              <a:t>25 mars 2028</a:t>
            </a:r>
            <a:endParaRPr lang="en-US" sz="2600" dirty="0"/>
          </a:p>
        </p:txBody>
      </p:sp>
      <p:sp>
        <p:nvSpPr>
          <p:cNvPr id="20" name="Text 17"/>
          <p:cNvSpPr txBox="1"/>
          <p:nvPr/>
        </p:nvSpPr>
        <p:spPr>
          <a:xfrm>
            <a:off x="6537960" y="2194560"/>
            <a:ext cx="2057400" cy="256032"/>
          </a:xfrm>
          <a:prstGeom prst="rect">
            <a:avLst/>
          </a:prstGeom>
          <a:noFill/>
          <a:ln/>
        </p:spPr>
        <p:txBody>
          <a:bodyPr wrap="square" lIns="0" tIns="0" rIns="0" bIns="0" rtlCol="0" anchor="ctr"/>
          <a:lstStyle/>
          <a:p>
            <a:pPr marL="0" indent="0">
              <a:buNone/>
            </a:pPr>
            <a:r>
              <a:rPr lang="en-US" sz="1050" dirty="0">
                <a:solidFill>
                  <a:srgbClr val="5A6660"/>
                </a:solidFill>
                <a:latin typeface="Calibri" pitchFamily="34" charset="0"/>
                <a:ea typeface="Calibri" pitchFamily="34" charset="-122"/>
                <a:cs typeface="Calibri" pitchFamily="34" charset="-120"/>
              </a:rPr>
              <a:t>Palier : Community</a:t>
            </a:r>
            <a:endParaRPr lang="en-US" sz="1050" dirty="0"/>
          </a:p>
        </p:txBody>
      </p:sp>
      <p:sp>
        <p:nvSpPr>
          <p:cNvPr id="21" name="Shape 18"/>
          <p:cNvSpPr/>
          <p:nvPr/>
        </p:nvSpPr>
        <p:spPr>
          <a:xfrm>
            <a:off x="6400800" y="2807208"/>
            <a:ext cx="274320" cy="274320"/>
          </a:xfrm>
          <a:prstGeom prst="ellipse">
            <a:avLst/>
          </a:prstGeom>
          <a:solidFill>
            <a:srgbClr val="B83B2E">
              <a:alpha val="22000"/>
            </a:srgbClr>
          </a:solidFill>
          <a:ln/>
        </p:spPr>
      </p:sp>
      <p:sp>
        <p:nvSpPr>
          <p:cNvPr id="22" name="Text 19"/>
          <p:cNvSpPr txBox="1"/>
          <p:nvPr/>
        </p:nvSpPr>
        <p:spPr>
          <a:xfrm>
            <a:off x="6400800" y="280720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1</a:t>
            </a:r>
            <a:endParaRPr lang="en-US" sz="1100" dirty="0"/>
          </a:p>
        </p:txBody>
      </p:sp>
      <p:sp>
        <p:nvSpPr>
          <p:cNvPr id="23" name="Text 20"/>
          <p:cNvSpPr txBox="1"/>
          <p:nvPr/>
        </p:nvSpPr>
        <p:spPr>
          <a:xfrm>
            <a:off x="6784848" y="2788920"/>
            <a:ext cx="1901952"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Continue</a:t>
            </a:r>
            <a:r>
              <a:rPr lang="en-US" sz="1150" dirty="0">
                <a:solidFill>
                  <a:srgbClr val="231F20"/>
                </a:solidFill>
                <a:latin typeface="Calibri" pitchFamily="34" charset="0"/>
                <a:ea typeface="Calibri" pitchFamily="34" charset="-122"/>
                <a:cs typeface="Calibri" pitchFamily="34" charset="-120"/>
              </a:rPr>
              <a:t> : ouvrir la page Overview.</a:t>
            </a:r>
            <a:endParaRPr lang="en-US" sz="1150" dirty="0"/>
          </a:p>
        </p:txBody>
      </p:sp>
      <p:sp>
        <p:nvSpPr>
          <p:cNvPr id="24" name="Shape 21"/>
          <p:cNvSpPr/>
          <p:nvPr/>
        </p:nvSpPr>
        <p:spPr>
          <a:xfrm>
            <a:off x="6400800" y="3392424"/>
            <a:ext cx="274320" cy="274320"/>
          </a:xfrm>
          <a:prstGeom prst="ellipse">
            <a:avLst/>
          </a:prstGeom>
          <a:solidFill>
            <a:srgbClr val="B83B2E">
              <a:alpha val="22000"/>
            </a:srgbClr>
          </a:solidFill>
          <a:ln/>
        </p:spPr>
      </p:sp>
      <p:sp>
        <p:nvSpPr>
          <p:cNvPr id="25" name="Text 22"/>
          <p:cNvSpPr txBox="1"/>
          <p:nvPr/>
        </p:nvSpPr>
        <p:spPr>
          <a:xfrm>
            <a:off x="6400800" y="3392424"/>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2</a:t>
            </a:r>
            <a:endParaRPr lang="en-US" sz="1100" dirty="0"/>
          </a:p>
        </p:txBody>
      </p:sp>
      <p:sp>
        <p:nvSpPr>
          <p:cNvPr id="26" name="Text 23"/>
          <p:cNvSpPr txBox="1"/>
          <p:nvPr/>
        </p:nvSpPr>
        <p:spPr>
          <a:xfrm>
            <a:off x="6784848" y="3374136"/>
            <a:ext cx="1901952" cy="56692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Manage registration</a:t>
            </a:r>
            <a:r>
              <a:rPr lang="en-US" sz="1150" dirty="0">
                <a:solidFill>
                  <a:srgbClr val="231F20"/>
                </a:solidFill>
                <a:latin typeface="Calibri" pitchFamily="34" charset="0"/>
                <a:ea typeface="Calibri" pitchFamily="34" charset="-122"/>
                <a:cs typeface="Calibri" pitchFamily="34" charset="-120"/>
              </a:rPr>
              <a:t> : modifier l’inscription.</a:t>
            </a:r>
            <a:endParaRPr lang="en-US" sz="1150" dirty="0"/>
          </a:p>
        </p:txBody>
      </p:sp>
      <p:sp>
        <p:nvSpPr>
          <p:cNvPr id="27"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page Configuration (capture d’écran) ; date d’expiration propre à ce projet.</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GESTION DU PROJET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Gérer l'inscription</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20</a:t>
            </a:r>
            <a:endParaRPr lang="en-US" sz="850" dirty="0"/>
          </a:p>
        </p:txBody>
      </p:sp>
      <p:sp>
        <p:nvSpPr>
          <p:cNvPr id="14" name="Shape 12"/>
          <p:cNvSpPr/>
          <p:nvPr/>
        </p:nvSpPr>
        <p:spPr>
          <a:xfrm>
            <a:off x="2971800" y="1325880"/>
            <a:ext cx="5760720" cy="3008843"/>
          </a:xfrm>
          <a:prstGeom prst="roundRect">
            <a:avLst>
              <a:gd name="adj" fmla="val 1823"/>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12 de la console Google Cloud"/>
          <p:cNvPicPr>
            <a:picLocks noChangeAspect="1"/>
          </p:cNvPicPr>
          <p:nvPr/>
        </p:nvPicPr>
        <p:blipFill>
          <a:blip r:embed="rId4"/>
          <a:stretch>
            <a:fillRect/>
          </a:stretch>
        </p:blipFill>
        <p:spPr>
          <a:xfrm>
            <a:off x="3017520" y="1371600"/>
            <a:ext cx="5669280" cy="2917403"/>
          </a:xfrm>
          <a:prstGeom prst="rect">
            <a:avLst/>
          </a:prstGeom>
        </p:spPr>
      </p:pic>
      <p:sp>
        <p:nvSpPr>
          <p:cNvPr id="16" name="Shape 13"/>
          <p:cNvSpPr/>
          <p:nvPr/>
        </p:nvSpPr>
        <p:spPr>
          <a:xfrm>
            <a:off x="5165808" y="4098651"/>
            <a:ext cx="660504" cy="196286"/>
          </a:xfrm>
          <a:prstGeom prst="roundRect">
            <a:avLst>
              <a:gd name="adj" fmla="val 23293"/>
            </a:avLst>
          </a:prstGeom>
          <a:ln w="28575">
            <a:solidFill>
              <a:srgbClr val="D49A00"/>
            </a:solidFill>
            <a:prstDash val="solid"/>
          </a:ln>
        </p:spPr>
      </p:sp>
      <p:sp>
        <p:nvSpPr>
          <p:cNvPr id="17" name="Shape 14"/>
          <p:cNvSpPr/>
          <p:nvPr/>
        </p:nvSpPr>
        <p:spPr>
          <a:xfrm>
            <a:off x="457200" y="1371600"/>
            <a:ext cx="2331720" cy="749808"/>
          </a:xfrm>
          <a:prstGeom prst="roundRect">
            <a:avLst>
              <a:gd name="adj" fmla="val 9756"/>
            </a:avLst>
          </a:prstGeom>
          <a:solidFill>
            <a:srgbClr val="F4F8F5"/>
          </a:solidFill>
          <a:ln w="9525">
            <a:solidFill>
              <a:srgbClr val="D3E2D7"/>
            </a:solidFill>
            <a:prstDash val="solid"/>
          </a:ln>
        </p:spPr>
      </p:sp>
      <p:sp>
        <p:nvSpPr>
          <p:cNvPr id="18" name="Text 15"/>
          <p:cNvSpPr txBox="1"/>
          <p:nvPr/>
        </p:nvSpPr>
        <p:spPr>
          <a:xfrm>
            <a:off x="594360" y="1371600"/>
            <a:ext cx="2103120" cy="749808"/>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Update answers
</a:t>
            </a:r>
            <a:r>
              <a:rPr lang="en-US" sz="1050" dirty="0">
                <a:solidFill>
                  <a:srgbClr val="5A6660"/>
                </a:solidFill>
                <a:latin typeface="Calibri" pitchFamily="34" charset="0"/>
                <a:ea typeface="Calibri" pitchFamily="34" charset="-122"/>
                <a:cs typeface="Calibri" pitchFamily="34" charset="-120"/>
              </a:rPr>
              <a:t>Mettre à jour les réponses.</a:t>
            </a:r>
            <a:endParaRPr lang="en-US" sz="1200" dirty="0"/>
          </a:p>
        </p:txBody>
      </p:sp>
      <p:sp>
        <p:nvSpPr>
          <p:cNvPr id="19" name="Shape 16"/>
          <p:cNvSpPr/>
          <p:nvPr/>
        </p:nvSpPr>
        <p:spPr>
          <a:xfrm>
            <a:off x="457200" y="2240280"/>
            <a:ext cx="2331720" cy="749808"/>
          </a:xfrm>
          <a:prstGeom prst="roundRect">
            <a:avLst>
              <a:gd name="adj" fmla="val 9756"/>
            </a:avLst>
          </a:prstGeom>
          <a:solidFill>
            <a:srgbClr val="F4F8F5"/>
          </a:solidFill>
          <a:ln w="9525">
            <a:solidFill>
              <a:srgbClr val="D3E2D7"/>
            </a:solidFill>
            <a:prstDash val="solid"/>
          </a:ln>
        </p:spPr>
      </p:sp>
      <p:sp>
        <p:nvSpPr>
          <p:cNvPr id="20" name="Text 17"/>
          <p:cNvSpPr txBox="1"/>
          <p:nvPr/>
        </p:nvSpPr>
        <p:spPr>
          <a:xfrm>
            <a:off x="594360" y="2240280"/>
            <a:ext cx="2103120" cy="749808"/>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Switch to commercial
</a:t>
            </a:r>
            <a:r>
              <a:rPr lang="en-US" sz="1050" dirty="0">
                <a:solidFill>
                  <a:srgbClr val="5A6660"/>
                </a:solidFill>
                <a:latin typeface="Calibri" pitchFamily="34" charset="0"/>
                <a:ea typeface="Calibri" pitchFamily="34" charset="-122"/>
                <a:cs typeface="Calibri" pitchFamily="34" charset="-120"/>
              </a:rPr>
              <a:t>Passer à un usage commercial.</a:t>
            </a:r>
            <a:endParaRPr lang="en-US" sz="1200" dirty="0"/>
          </a:p>
        </p:txBody>
      </p:sp>
      <p:sp>
        <p:nvSpPr>
          <p:cNvPr id="21" name="Shape 18"/>
          <p:cNvSpPr/>
          <p:nvPr/>
        </p:nvSpPr>
        <p:spPr>
          <a:xfrm>
            <a:off x="457200" y="3108960"/>
            <a:ext cx="2331720" cy="749808"/>
          </a:xfrm>
          <a:prstGeom prst="roundRect">
            <a:avLst>
              <a:gd name="adj" fmla="val 9756"/>
            </a:avLst>
          </a:prstGeom>
          <a:solidFill>
            <a:srgbClr val="E8F4EB"/>
          </a:solidFill>
          <a:ln w="19050">
            <a:solidFill>
              <a:srgbClr val="B83B2E"/>
            </a:solidFill>
            <a:prstDash val="solid"/>
          </a:ln>
        </p:spPr>
      </p:sp>
      <p:sp>
        <p:nvSpPr>
          <p:cNvPr id="22" name="Text 19"/>
          <p:cNvSpPr txBox="1"/>
          <p:nvPr/>
        </p:nvSpPr>
        <p:spPr>
          <a:xfrm>
            <a:off x="594360" y="3108960"/>
            <a:ext cx="2103120" cy="749808"/>
          </a:xfrm>
          <a:prstGeom prst="rect">
            <a:avLst/>
          </a:prstGeom>
          <a:noFill/>
          <a:ln/>
        </p:spPr>
        <p:txBody>
          <a:bodyPr wrap="square" lIns="0" tIns="0" rIns="0" bIns="0" rtlCol="0" anchor="ctr"/>
          <a:lstStyle/>
          <a:p>
            <a:pPr marL="0" indent="0">
              <a:buNone/>
            </a:pPr>
            <a:r>
              <a:rPr lang="en-US" sz="1200" b="1" dirty="0">
                <a:solidFill>
                  <a:srgbClr val="B83B2E"/>
                </a:solidFill>
                <a:latin typeface="Calibri" pitchFamily="34" charset="0"/>
                <a:ea typeface="Calibri" pitchFamily="34" charset="-122"/>
                <a:cs typeface="Calibri" pitchFamily="34" charset="-120"/>
              </a:rPr>
              <a:t>Register a new project
</a:t>
            </a:r>
            <a:r>
              <a:rPr lang="en-US" sz="1050" dirty="0">
                <a:solidFill>
                  <a:srgbClr val="5A6660"/>
                </a:solidFill>
                <a:latin typeface="Calibri" pitchFamily="34" charset="0"/>
                <a:ea typeface="Calibri" pitchFamily="34" charset="-122"/>
                <a:cs typeface="Calibri" pitchFamily="34" charset="-120"/>
              </a:rPr>
              <a:t>Inscrire un autre projet.</a:t>
            </a:r>
            <a:endParaRPr lang="en-US" sz="1200" dirty="0"/>
          </a:p>
        </p:txBody>
      </p:sp>
      <p:sp>
        <p:nvSpPr>
          <p:cNvPr id="23" name="Text 20"/>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page « Manage Registration » (capture d’écran).</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GESTION DU PROJET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Choisir ou créer un projet</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21</a:t>
            </a:r>
            <a:endParaRPr lang="en-US" sz="850" dirty="0"/>
          </a:p>
        </p:txBody>
      </p:sp>
      <p:sp>
        <p:nvSpPr>
          <p:cNvPr id="14" name="Shape 12"/>
          <p:cNvSpPr/>
          <p:nvPr/>
        </p:nvSpPr>
        <p:spPr>
          <a:xfrm>
            <a:off x="411480" y="1325880"/>
            <a:ext cx="5760720" cy="3054726"/>
          </a:xfrm>
          <a:prstGeom prst="roundRect">
            <a:avLst>
              <a:gd name="adj" fmla="val 1796"/>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13 de la console Google Cloud"/>
          <p:cNvPicPr>
            <a:picLocks noChangeAspect="1"/>
          </p:cNvPicPr>
          <p:nvPr/>
        </p:nvPicPr>
        <p:blipFill>
          <a:blip r:embed="rId4"/>
          <a:stretch>
            <a:fillRect/>
          </a:stretch>
        </p:blipFill>
        <p:spPr>
          <a:xfrm>
            <a:off x="457200" y="1371600"/>
            <a:ext cx="5669280" cy="2963286"/>
          </a:xfrm>
          <a:prstGeom prst="rect">
            <a:avLst/>
          </a:prstGeom>
        </p:spPr>
      </p:pic>
      <p:sp>
        <p:nvSpPr>
          <p:cNvPr id="16" name="Shape 13"/>
          <p:cNvSpPr/>
          <p:nvPr/>
        </p:nvSpPr>
        <p:spPr>
          <a:xfrm>
            <a:off x="4026079" y="1793816"/>
            <a:ext cx="663017" cy="196812"/>
          </a:xfrm>
          <a:prstGeom prst="roundRect">
            <a:avLst>
              <a:gd name="adj" fmla="val 23230"/>
            </a:avLst>
          </a:prstGeom>
          <a:ln w="28575">
            <a:solidFill>
              <a:srgbClr val="D49A00"/>
            </a:solidFill>
            <a:prstDash val="solid"/>
          </a:ln>
        </p:spPr>
      </p:sp>
      <p:sp>
        <p:nvSpPr>
          <p:cNvPr id="17" name="Shape 14"/>
          <p:cNvSpPr/>
          <p:nvPr/>
        </p:nvSpPr>
        <p:spPr>
          <a:xfrm>
            <a:off x="6400800" y="1389888"/>
            <a:ext cx="274320" cy="274320"/>
          </a:xfrm>
          <a:prstGeom prst="ellipse">
            <a:avLst/>
          </a:prstGeom>
          <a:solidFill>
            <a:srgbClr val="B83B2E">
              <a:alpha val="22000"/>
            </a:srgbClr>
          </a:solidFill>
          <a:ln/>
        </p:spPr>
      </p:sp>
      <p:sp>
        <p:nvSpPr>
          <p:cNvPr id="18" name="Text 15"/>
          <p:cNvSpPr txBox="1"/>
          <p:nvPr/>
        </p:nvSpPr>
        <p:spPr>
          <a:xfrm>
            <a:off x="6400800" y="138988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1</a:t>
            </a:r>
            <a:endParaRPr lang="en-US" sz="1100" dirty="0"/>
          </a:p>
        </p:txBody>
      </p:sp>
      <p:sp>
        <p:nvSpPr>
          <p:cNvPr id="19" name="Text 16"/>
          <p:cNvSpPr txBox="1"/>
          <p:nvPr/>
        </p:nvSpPr>
        <p:spPr>
          <a:xfrm>
            <a:off x="6784848" y="1371600"/>
            <a:ext cx="190195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La fenêtre </a:t>
            </a:r>
            <a:r>
              <a:rPr lang="en-US" sz="1150" b="1" dirty="0">
                <a:solidFill>
                  <a:srgbClr val="231F20"/>
                </a:solidFill>
                <a:latin typeface="Calibri" pitchFamily="34" charset="0"/>
                <a:ea typeface="Calibri" pitchFamily="34" charset="-122"/>
                <a:cs typeface="Calibri" pitchFamily="34" charset="-120"/>
              </a:rPr>
              <a:t>Select a resource</a:t>
            </a:r>
            <a:r>
              <a:rPr lang="en-US" sz="1150" dirty="0">
                <a:solidFill>
                  <a:srgbClr val="231F20"/>
                </a:solidFill>
                <a:latin typeface="Calibri" pitchFamily="34" charset="0"/>
                <a:ea typeface="Calibri" pitchFamily="34" charset="-122"/>
                <a:cs typeface="Calibri" pitchFamily="34" charset="-120"/>
              </a:rPr>
              <a:t> liste vos projets.</a:t>
            </a:r>
            <a:endParaRPr lang="en-US" sz="1150" dirty="0"/>
          </a:p>
        </p:txBody>
      </p:sp>
      <p:sp>
        <p:nvSpPr>
          <p:cNvPr id="20" name="Shape 17"/>
          <p:cNvSpPr/>
          <p:nvPr/>
        </p:nvSpPr>
        <p:spPr>
          <a:xfrm>
            <a:off x="6400800" y="2084832"/>
            <a:ext cx="274320" cy="274320"/>
          </a:xfrm>
          <a:prstGeom prst="ellipse">
            <a:avLst/>
          </a:prstGeom>
          <a:solidFill>
            <a:srgbClr val="B83B2E">
              <a:alpha val="22000"/>
            </a:srgbClr>
          </a:solidFill>
          <a:ln/>
        </p:spPr>
      </p:sp>
      <p:sp>
        <p:nvSpPr>
          <p:cNvPr id="21" name="Text 18"/>
          <p:cNvSpPr txBox="1"/>
          <p:nvPr/>
        </p:nvSpPr>
        <p:spPr>
          <a:xfrm>
            <a:off x="6400800" y="2084832"/>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2</a:t>
            </a:r>
            <a:endParaRPr lang="en-US" sz="1100" dirty="0"/>
          </a:p>
        </p:txBody>
      </p:sp>
      <p:sp>
        <p:nvSpPr>
          <p:cNvPr id="22" name="Text 19"/>
          <p:cNvSpPr txBox="1"/>
          <p:nvPr/>
        </p:nvSpPr>
        <p:spPr>
          <a:xfrm>
            <a:off x="6784848" y="2066544"/>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Choisir un projet existant par son ID…</a:t>
            </a:r>
            <a:endParaRPr lang="en-US" sz="1150" dirty="0"/>
          </a:p>
        </p:txBody>
      </p:sp>
      <p:sp>
        <p:nvSpPr>
          <p:cNvPr id="23" name="Shape 20"/>
          <p:cNvSpPr/>
          <p:nvPr/>
        </p:nvSpPr>
        <p:spPr>
          <a:xfrm>
            <a:off x="6400800" y="2624328"/>
            <a:ext cx="274320" cy="274320"/>
          </a:xfrm>
          <a:prstGeom prst="ellipse">
            <a:avLst/>
          </a:prstGeom>
          <a:solidFill>
            <a:srgbClr val="B83B2E">
              <a:alpha val="22000"/>
            </a:srgbClr>
          </a:solidFill>
          <a:ln/>
        </p:spPr>
      </p:sp>
      <p:sp>
        <p:nvSpPr>
          <p:cNvPr id="24" name="Text 21"/>
          <p:cNvSpPr txBox="1"/>
          <p:nvPr/>
        </p:nvSpPr>
        <p:spPr>
          <a:xfrm>
            <a:off x="6400800" y="262432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3</a:t>
            </a:r>
            <a:endParaRPr lang="en-US" sz="1100" dirty="0"/>
          </a:p>
        </p:txBody>
      </p:sp>
      <p:sp>
        <p:nvSpPr>
          <p:cNvPr id="25" name="Text 22"/>
          <p:cNvSpPr txBox="1"/>
          <p:nvPr/>
        </p:nvSpPr>
        <p:spPr>
          <a:xfrm>
            <a:off x="6784848" y="260604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 ou cliquer sur </a:t>
            </a:r>
            <a:r>
              <a:rPr lang="en-US" sz="1150" b="1" dirty="0">
                <a:solidFill>
                  <a:srgbClr val="231F20"/>
                </a:solidFill>
                <a:latin typeface="Calibri" pitchFamily="34" charset="0"/>
                <a:ea typeface="Calibri" pitchFamily="34" charset="-122"/>
                <a:cs typeface="Calibri" pitchFamily="34" charset="-120"/>
              </a:rPr>
              <a:t>New project</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6" name="Shape 23"/>
          <p:cNvSpPr/>
          <p:nvPr/>
        </p:nvSpPr>
        <p:spPr>
          <a:xfrm>
            <a:off x="6400800" y="3520440"/>
            <a:ext cx="2286000" cy="868680"/>
          </a:xfrm>
          <a:prstGeom prst="roundRect">
            <a:avLst>
              <a:gd name="adj" fmla="val 8421"/>
            </a:avLst>
          </a:prstGeom>
          <a:solidFill>
            <a:srgbClr val="E8F4EB"/>
          </a:solidFill>
          <a:ln w="15875">
            <a:solidFill>
              <a:srgbClr val="2C9045"/>
            </a:solidFill>
            <a:prstDash val="solid"/>
          </a:ln>
        </p:spPr>
      </p:sp>
      <p:pic>
        <p:nvPicPr>
          <p:cNvPr id="27" name="Image 1" descr="preencoded.png"/>
          <p:cNvPicPr>
            <a:picLocks noChangeAspect="1"/>
          </p:cNvPicPr>
          <p:nvPr/>
        </p:nvPicPr>
        <p:blipFill>
          <a:blip r:embed="rId5"/>
          <a:stretch>
            <a:fillRect/>
          </a:stretch>
        </p:blipFill>
        <p:spPr>
          <a:xfrm>
            <a:off x="6528816" y="3648456"/>
            <a:ext cx="219456" cy="219456"/>
          </a:xfrm>
          <a:prstGeom prst="rect">
            <a:avLst/>
          </a:prstGeom>
        </p:spPr>
      </p:pic>
      <p:sp>
        <p:nvSpPr>
          <p:cNvPr id="28" name="Text 24"/>
          <p:cNvSpPr txBox="1"/>
          <p:nvPr/>
        </p:nvSpPr>
        <p:spPr>
          <a:xfrm>
            <a:off x="6839712" y="3593592"/>
            <a:ext cx="1737360" cy="72237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Plusieurs projets peuvent porter le même nom : fiez-vous à l’ID.</a:t>
            </a:r>
            <a:endParaRPr lang="en-US" sz="1050" dirty="0"/>
          </a:p>
        </p:txBody>
      </p:sp>
      <p:sp>
        <p:nvSpPr>
          <p:cNvPr id="29" name="Text 25"/>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fenêtre « Select a resource » (capture d’écran).</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GESTION DU PROJET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Créer un nouveau projet</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22</a:t>
            </a:r>
            <a:endParaRPr lang="en-US" sz="850" dirty="0"/>
          </a:p>
        </p:txBody>
      </p:sp>
      <p:sp>
        <p:nvSpPr>
          <p:cNvPr id="14" name="Shape 12"/>
          <p:cNvSpPr/>
          <p:nvPr/>
        </p:nvSpPr>
        <p:spPr>
          <a:xfrm>
            <a:off x="4005914" y="1325880"/>
            <a:ext cx="4726606" cy="3154680"/>
          </a:xfrm>
          <a:prstGeom prst="roundRect">
            <a:avLst>
              <a:gd name="adj" fmla="val 173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Capture d'écran 14 de la console Google Cloud"/>
          <p:cNvPicPr>
            <a:picLocks noChangeAspect="1"/>
          </p:cNvPicPr>
          <p:nvPr/>
        </p:nvPicPr>
        <p:blipFill>
          <a:blip r:embed="rId4"/>
          <a:stretch>
            <a:fillRect/>
          </a:stretch>
        </p:blipFill>
        <p:spPr>
          <a:xfrm>
            <a:off x="4051634" y="1371600"/>
            <a:ext cx="4635166" cy="3063240"/>
          </a:xfrm>
          <a:prstGeom prst="rect">
            <a:avLst/>
          </a:prstGeom>
        </p:spPr>
      </p:pic>
      <p:sp>
        <p:nvSpPr>
          <p:cNvPr id="16" name="Shape 13"/>
          <p:cNvSpPr/>
          <p:nvPr/>
        </p:nvSpPr>
        <p:spPr>
          <a:xfrm>
            <a:off x="457200" y="1389888"/>
            <a:ext cx="274320" cy="274320"/>
          </a:xfrm>
          <a:prstGeom prst="ellipse">
            <a:avLst/>
          </a:prstGeom>
          <a:solidFill>
            <a:srgbClr val="B83B2E">
              <a:alpha val="22000"/>
            </a:srgbClr>
          </a:solidFill>
          <a:ln/>
        </p:spPr>
      </p:sp>
      <p:sp>
        <p:nvSpPr>
          <p:cNvPr id="17" name="Text 14"/>
          <p:cNvSpPr txBox="1"/>
          <p:nvPr/>
        </p:nvSpPr>
        <p:spPr>
          <a:xfrm>
            <a:off x="457200" y="138988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841248" y="13716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Saisir le </a:t>
            </a:r>
            <a:r>
              <a:rPr lang="en-US" sz="1150" b="1" dirty="0">
                <a:solidFill>
                  <a:srgbClr val="231F20"/>
                </a:solidFill>
                <a:latin typeface="Calibri" pitchFamily="34" charset="0"/>
                <a:ea typeface="Calibri" pitchFamily="34" charset="-122"/>
                <a:cs typeface="Calibri" pitchFamily="34" charset="-120"/>
              </a:rPr>
              <a:t>Project name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457200" y="1929384"/>
            <a:ext cx="274320" cy="274320"/>
          </a:xfrm>
          <a:prstGeom prst="ellipse">
            <a:avLst/>
          </a:prstGeom>
          <a:solidFill>
            <a:srgbClr val="B83B2E">
              <a:alpha val="22000"/>
            </a:srgbClr>
          </a:solidFill>
          <a:ln/>
        </p:spPr>
      </p:sp>
      <p:sp>
        <p:nvSpPr>
          <p:cNvPr id="20" name="Text 17"/>
          <p:cNvSpPr txBox="1"/>
          <p:nvPr/>
        </p:nvSpPr>
        <p:spPr>
          <a:xfrm>
            <a:off x="457200" y="1929384"/>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841248" y="1911096"/>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Renseigner </a:t>
            </a:r>
            <a:r>
              <a:rPr lang="en-US" sz="1150" b="1" dirty="0">
                <a:solidFill>
                  <a:srgbClr val="231F20"/>
                </a:solidFill>
                <a:latin typeface="Calibri" pitchFamily="34" charset="0"/>
                <a:ea typeface="Calibri" pitchFamily="34" charset="-122"/>
                <a:cs typeface="Calibri" pitchFamily="34" charset="-120"/>
              </a:rPr>
              <a:t>Organization</a:t>
            </a:r>
            <a:r>
              <a:rPr lang="en-US" sz="1150" dirty="0">
                <a:solidFill>
                  <a:srgbClr val="231F20"/>
                </a:solidFill>
                <a:latin typeface="Calibri" pitchFamily="34" charset="0"/>
                <a:ea typeface="Calibri" pitchFamily="34" charset="-122"/>
                <a:cs typeface="Calibri" pitchFamily="34" charset="-120"/>
              </a:rPr>
              <a:t> et </a:t>
            </a:r>
            <a:r>
              <a:rPr lang="en-US" sz="1150" b="1" dirty="0">
                <a:solidFill>
                  <a:srgbClr val="231F20"/>
                </a:solidFill>
                <a:latin typeface="Calibri" pitchFamily="34" charset="0"/>
                <a:ea typeface="Calibri" pitchFamily="34" charset="-122"/>
                <a:cs typeface="Calibri" pitchFamily="34" charset="-120"/>
              </a:rPr>
              <a:t>Parent resource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457200" y="2624328"/>
            <a:ext cx="274320" cy="274320"/>
          </a:xfrm>
          <a:prstGeom prst="ellipse">
            <a:avLst/>
          </a:prstGeom>
          <a:solidFill>
            <a:srgbClr val="B83B2E">
              <a:alpha val="22000"/>
            </a:srgbClr>
          </a:solidFill>
          <a:ln/>
        </p:spPr>
      </p:sp>
      <p:sp>
        <p:nvSpPr>
          <p:cNvPr id="23" name="Text 20"/>
          <p:cNvSpPr txBox="1"/>
          <p:nvPr/>
        </p:nvSpPr>
        <p:spPr>
          <a:xfrm>
            <a:off x="457200" y="262432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841248" y="260604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Cliquer sur </a:t>
            </a:r>
            <a:r>
              <a:rPr lang="en-US" sz="1150" b="1" dirty="0">
                <a:solidFill>
                  <a:srgbClr val="231F20"/>
                </a:solidFill>
                <a:latin typeface="Calibri" pitchFamily="34" charset="0"/>
                <a:ea typeface="Calibri" pitchFamily="34" charset="-122"/>
                <a:cs typeface="Calibri" pitchFamily="34" charset="-120"/>
              </a:rPr>
              <a:t>Create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457200" y="3337560"/>
            <a:ext cx="2331720" cy="1051560"/>
          </a:xfrm>
          <a:prstGeom prst="roundRect">
            <a:avLst>
              <a:gd name="adj" fmla="val 6957"/>
            </a:avLst>
          </a:prstGeom>
          <a:solidFill>
            <a:srgbClr val="D49A00">
              <a:alpha val="13000"/>
            </a:srgbClr>
          </a:solidFill>
          <a:ln w="12700">
            <a:solidFill>
              <a:srgbClr val="D49A00"/>
            </a:solidFill>
            <a:prstDash val="solid"/>
          </a:ln>
        </p:spPr>
      </p:sp>
      <p:pic>
        <p:nvPicPr>
          <p:cNvPr id="26" name="Image 1" descr="preencoded.png"/>
          <p:cNvPicPr>
            <a:picLocks noChangeAspect="1"/>
          </p:cNvPicPr>
          <p:nvPr/>
        </p:nvPicPr>
        <p:blipFill>
          <a:blip r:embed="rId5"/>
          <a:stretch>
            <a:fillRect/>
          </a:stretch>
        </p:blipFill>
        <p:spPr>
          <a:xfrm>
            <a:off x="585216" y="3465576"/>
            <a:ext cx="219456" cy="219456"/>
          </a:xfrm>
          <a:prstGeom prst="rect">
            <a:avLst/>
          </a:prstGeom>
        </p:spPr>
      </p:pic>
      <p:sp>
        <p:nvSpPr>
          <p:cNvPr id="27" name="Text 23"/>
          <p:cNvSpPr txBox="1"/>
          <p:nvPr/>
        </p:nvSpPr>
        <p:spPr>
          <a:xfrm>
            <a:off x="896112" y="3410712"/>
            <a:ext cx="1783080" cy="9052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L’ID du projet et l’organisation ne peuvent plus être modifiés après création.</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 console Google Cloud, page « New Project » (capture d’écran).</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SOURCES</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et références</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Inscription à Google Earth Engine · BAD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23</a:t>
            </a:r>
            <a:endParaRPr lang="en-US" sz="850" dirty="0"/>
          </a:p>
        </p:txBody>
      </p:sp>
      <p:sp>
        <p:nvSpPr>
          <p:cNvPr id="14" name="Shape 12"/>
          <p:cNvSpPr/>
          <p:nvPr/>
        </p:nvSpPr>
        <p:spPr>
          <a:xfrm>
            <a:off x="457200" y="1371600"/>
            <a:ext cx="8229600" cy="868680"/>
          </a:xfrm>
          <a:prstGeom prst="roundRect">
            <a:avLst>
              <a:gd name="adj" fmla="val 8421"/>
            </a:avLst>
          </a:prstGeom>
          <a:solidFill>
            <a:srgbClr val="F4F8F5"/>
          </a:solidFill>
          <a:ln w="9525">
            <a:solidFill>
              <a:srgbClr val="D3E2D7"/>
            </a:solidFill>
            <a:prstDash val="solid"/>
          </a:ln>
        </p:spPr>
      </p:sp>
      <p:sp>
        <p:nvSpPr>
          <p:cNvPr id="15" name="Shape 13"/>
          <p:cNvSpPr/>
          <p:nvPr/>
        </p:nvSpPr>
        <p:spPr>
          <a:xfrm>
            <a:off x="658368" y="1554480"/>
            <a:ext cx="502920" cy="502920"/>
          </a:xfrm>
          <a:prstGeom prst="ellipse">
            <a:avLst/>
          </a:prstGeom>
          <a:solidFill>
            <a:srgbClr val="0E5A2E">
              <a:alpha val="22000"/>
            </a:srgbClr>
          </a:solidFill>
          <a:ln/>
        </p:spPr>
      </p:sp>
      <p:pic>
        <p:nvPicPr>
          <p:cNvPr id="16" name="Image 0" descr="preencoded.png"/>
          <p:cNvPicPr>
            <a:picLocks noChangeAspect="1"/>
          </p:cNvPicPr>
          <p:nvPr/>
        </p:nvPicPr>
        <p:blipFill>
          <a:blip r:embed="rId4"/>
          <a:stretch>
            <a:fillRect/>
          </a:stretch>
        </p:blipFill>
        <p:spPr>
          <a:xfrm>
            <a:off x="786384" y="1682496"/>
            <a:ext cx="246888" cy="246888"/>
          </a:xfrm>
          <a:prstGeom prst="rect">
            <a:avLst/>
          </a:prstGeom>
        </p:spPr>
      </p:pic>
      <p:sp>
        <p:nvSpPr>
          <p:cNvPr id="17" name="Text 14"/>
          <p:cNvSpPr txBox="1"/>
          <p:nvPr/>
        </p:nvSpPr>
        <p:spPr>
          <a:xfrm>
            <a:off x="1371600" y="1371600"/>
            <a:ext cx="7132320" cy="8686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Captures d’écran — </a:t>
            </a:r>
            <a:r>
              <a:rPr lang="en-US" sz="1200" dirty="0">
                <a:solidFill>
                  <a:srgbClr val="231F20"/>
                </a:solidFill>
                <a:latin typeface="Calibri" pitchFamily="34" charset="0"/>
                <a:ea typeface="Calibri" pitchFamily="34" charset="-122"/>
                <a:cs typeface="Calibri" pitchFamily="34" charset="-120"/>
              </a:rPr>
              <a:t>Console Google Cloud — Earth Engine › Configuration
</a:t>
            </a:r>
            <a:r>
              <a:rPr lang="en-US" sz="1000" i="1" u="sng" dirty="0">
                <a:solidFill>
                  <a:srgbClr val="5A6660"/>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console.cloud.google.com/earth-engine/configuration</a:t>
            </a:r>
            <a:endParaRPr lang="en-US" sz="1200" dirty="0"/>
          </a:p>
        </p:txBody>
      </p:sp>
      <p:sp>
        <p:nvSpPr>
          <p:cNvPr id="18" name="Shape 15"/>
          <p:cNvSpPr/>
          <p:nvPr/>
        </p:nvSpPr>
        <p:spPr>
          <a:xfrm>
            <a:off x="457200" y="2395728"/>
            <a:ext cx="8229600" cy="868680"/>
          </a:xfrm>
          <a:prstGeom prst="roundRect">
            <a:avLst>
              <a:gd name="adj" fmla="val 8421"/>
            </a:avLst>
          </a:prstGeom>
          <a:solidFill>
            <a:srgbClr val="F4F8F5"/>
          </a:solidFill>
          <a:ln w="9525">
            <a:solidFill>
              <a:srgbClr val="D3E2D7"/>
            </a:solidFill>
            <a:prstDash val="solid"/>
          </a:ln>
        </p:spPr>
      </p:sp>
      <p:sp>
        <p:nvSpPr>
          <p:cNvPr id="19" name="Shape 16"/>
          <p:cNvSpPr/>
          <p:nvPr/>
        </p:nvSpPr>
        <p:spPr>
          <a:xfrm>
            <a:off x="658368" y="2578608"/>
            <a:ext cx="502920" cy="502920"/>
          </a:xfrm>
          <a:prstGeom prst="ellipse">
            <a:avLst/>
          </a:prstGeom>
          <a:solidFill>
            <a:srgbClr val="0E5A2E">
              <a:alpha val="22000"/>
            </a:srgbClr>
          </a:solidFill>
          <a:ln/>
        </p:spPr>
      </p:sp>
      <p:pic>
        <p:nvPicPr>
          <p:cNvPr id="20" name="Image 1" descr="preencoded.png"/>
          <p:cNvPicPr>
            <a:picLocks noChangeAspect="1"/>
          </p:cNvPicPr>
          <p:nvPr/>
        </p:nvPicPr>
        <p:blipFill>
          <a:blip r:embed="rId6"/>
          <a:stretch>
            <a:fillRect/>
          </a:stretch>
        </p:blipFill>
        <p:spPr>
          <a:xfrm>
            <a:off x="786384" y="2706624"/>
            <a:ext cx="246888" cy="246888"/>
          </a:xfrm>
          <a:prstGeom prst="rect">
            <a:avLst/>
          </a:prstGeom>
        </p:spPr>
      </p:pic>
      <p:sp>
        <p:nvSpPr>
          <p:cNvPr id="21" name="Text 17"/>
          <p:cNvSpPr txBox="1"/>
          <p:nvPr/>
        </p:nvSpPr>
        <p:spPr>
          <a:xfrm>
            <a:off x="1371600" y="2395728"/>
            <a:ext cx="7132320" cy="8686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Google for Developers — </a:t>
            </a:r>
            <a:r>
              <a:rPr lang="en-US" sz="1200" dirty="0">
                <a:solidFill>
                  <a:srgbClr val="231F20"/>
                </a:solidFill>
                <a:latin typeface="Calibri" pitchFamily="34" charset="0"/>
                <a:ea typeface="Calibri" pitchFamily="34" charset="-122"/>
                <a:cs typeface="Calibri" pitchFamily="34" charset="-120"/>
              </a:rPr>
              <a:t>Earth Engine access — inscription d’un projet Cloud
</a:t>
            </a:r>
            <a:r>
              <a:rPr lang="en-US" sz="1000" i="1" u="sng" dirty="0">
                <a:solidFill>
                  <a:srgbClr val="5A6660"/>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developers.google.com/earth-engine/guides/access</a:t>
            </a:r>
            <a:endParaRPr lang="en-US" sz="1200" dirty="0"/>
          </a:p>
        </p:txBody>
      </p:sp>
      <p:sp>
        <p:nvSpPr>
          <p:cNvPr id="22" name="Shape 18"/>
          <p:cNvSpPr/>
          <p:nvPr/>
        </p:nvSpPr>
        <p:spPr>
          <a:xfrm>
            <a:off x="457200" y="3419856"/>
            <a:ext cx="8229600" cy="868680"/>
          </a:xfrm>
          <a:prstGeom prst="roundRect">
            <a:avLst>
              <a:gd name="adj" fmla="val 8421"/>
            </a:avLst>
          </a:prstGeom>
          <a:solidFill>
            <a:srgbClr val="F4F8F5"/>
          </a:solidFill>
          <a:ln w="9525">
            <a:solidFill>
              <a:srgbClr val="D3E2D7"/>
            </a:solidFill>
            <a:prstDash val="solid"/>
          </a:ln>
        </p:spPr>
      </p:sp>
      <p:sp>
        <p:nvSpPr>
          <p:cNvPr id="23" name="Shape 19"/>
          <p:cNvSpPr/>
          <p:nvPr/>
        </p:nvSpPr>
        <p:spPr>
          <a:xfrm>
            <a:off x="658368" y="3602736"/>
            <a:ext cx="502920" cy="502920"/>
          </a:xfrm>
          <a:prstGeom prst="ellipse">
            <a:avLst/>
          </a:prstGeom>
          <a:solidFill>
            <a:srgbClr val="0E5A2E">
              <a:alpha val="22000"/>
            </a:srgbClr>
          </a:solidFill>
          <a:ln/>
        </p:spPr>
      </p:sp>
      <p:pic>
        <p:nvPicPr>
          <p:cNvPr id="24" name="Image 2" descr="preencoded.png"/>
          <p:cNvPicPr>
            <a:picLocks noChangeAspect="1"/>
          </p:cNvPicPr>
          <p:nvPr/>
        </p:nvPicPr>
        <p:blipFill>
          <a:blip r:embed="rId8"/>
          <a:stretch>
            <a:fillRect/>
          </a:stretch>
        </p:blipFill>
        <p:spPr>
          <a:xfrm>
            <a:off x="786384" y="3730752"/>
            <a:ext cx="246888" cy="246888"/>
          </a:xfrm>
          <a:prstGeom prst="rect">
            <a:avLst/>
          </a:prstGeom>
        </p:spPr>
      </p:pic>
      <p:sp>
        <p:nvSpPr>
          <p:cNvPr id="25" name="Text 20"/>
          <p:cNvSpPr txBox="1"/>
          <p:nvPr/>
        </p:nvSpPr>
        <p:spPr>
          <a:xfrm>
            <a:off x="1371600" y="3419856"/>
            <a:ext cx="7132320" cy="8686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Google for Developers — </a:t>
            </a:r>
            <a:r>
              <a:rPr lang="en-US" sz="1200" dirty="0">
                <a:solidFill>
                  <a:srgbClr val="231F20"/>
                </a:solidFill>
                <a:latin typeface="Calibri" pitchFamily="34" charset="0"/>
                <a:ea typeface="Calibri" pitchFamily="34" charset="-122"/>
                <a:cs typeface="Calibri" pitchFamily="34" charset="-120"/>
              </a:rPr>
              <a:t>Earth Engine Noncommercial Tiers — paliers Community et Contributor
</a:t>
            </a:r>
            <a:r>
              <a:rPr lang="en-US" sz="1000" i="1" u="sng" dirty="0">
                <a:solidFill>
                  <a:srgbClr val="5A6660"/>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developers.google.com/earth-engine/guides/noncommercial_tiers</a:t>
            </a:r>
            <a:endParaRPr lang="en-US" sz="1200" dirty="0"/>
          </a:p>
        </p:txBody>
      </p:sp>
      <p:sp>
        <p:nvSpPr>
          <p:cNvPr id="26" name="Text 21"/>
          <p:cNvSpPr txBox="1"/>
          <p:nvPr/>
        </p:nvSpPr>
        <p:spPr>
          <a:xfrm>
            <a:off x="457200" y="4480560"/>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Captures réalisées lors de l’inscription d’un projet de démonstration ; l’interface de la console peut évoluer.</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804672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BAD – DATA INNOVATION FOR AFRICA (DI4A) · CONCLUSION</a:t>
            </a:r>
            <a:endParaRPr lang="en-US" sz="1100" dirty="0"/>
          </a:p>
        </p:txBody>
      </p:sp>
      <p:sp>
        <p:nvSpPr>
          <p:cNvPr id="3" name="Text 1"/>
          <p:cNvSpPr txBox="1"/>
          <p:nvPr/>
        </p:nvSpPr>
        <p:spPr>
          <a:xfrm>
            <a:off x="548640" y="1143000"/>
            <a:ext cx="73152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Votre projet est prêt</a:t>
            </a:r>
            <a:endParaRPr lang="en-US" sz="4400" dirty="0"/>
          </a:p>
        </p:txBody>
      </p:sp>
      <p:sp>
        <p:nvSpPr>
          <p:cNvPr id="4" name="Next session"/>
          <p:cNvSpPr txBox="1"/>
          <p:nvPr/>
        </p:nvSpPr>
        <p:spPr>
          <a:xfrm>
            <a:off x="548640" y="2057400"/>
            <a:ext cx="6766560" cy="731520"/>
          </a:xfrm>
          <a:prstGeom prst="rect">
            <a:avLst/>
          </a:prstGeom>
          <a:noFill/>
          <a:ln/>
        </p:spPr>
        <p:txBody>
          <a:bodyPr wrap="square" lIns="0" tIns="0" rIns="0" bIns="0" rtlCol="0" anchor="t"/>
          <a:lstStyle/>
          <a:p>
            <a:pPr marL="0" indent="0">
              <a:buNone/>
            </a:pPr>
            <a:r>
              <a:rPr lang="fr-FR" sz="1600" i="1" dirty="0">
                <a:solidFill>
                  <a:srgbClr val="E8F4EB"/>
                </a:solidFill>
                <a:latin typeface="Calibri" pitchFamily="34" charset="0"/>
                <a:ea typeface="Calibri" pitchFamily="34" charset="-122"/>
                <a:cs typeface="Calibri" pitchFamily="34" charset="-120"/>
              </a:rPr>
              <a:t>Vous êtes prêts pour les séances sur les données satellitaires : lumières nocturnes et analyse géospatiale.</a:t>
            </a:r>
            <a:r>
              <a:rPr lang="fr-FR" sz="1600" i="1">
                <a:solidFill>
                  <a:srgbClr val="E8F4EB"/>
                </a:solidFill>
                <a:latin typeface="Calibri" pitchFamily="34" charset="0"/>
                <a:ea typeface="Calibri" pitchFamily="34" charset="-122"/>
                <a:cs typeface="Calibri" pitchFamily="34" charset="-120"/>
              </a:rPr>
              <a:t/>
            </a:r>
            <a:endParaRPr lang="fr-FR" sz="1600" i="1" dirty="0">
              <a:solidFill>
                <a:srgbClr val="E8F4EB"/>
              </a:solidFill>
              <a:latin typeface="Calibri" pitchFamily="34" charset="0"/>
              <a:ea typeface="Calibri" pitchFamily="34" charset="-122"/>
              <a:cs typeface="Calibri" pitchFamily="34" charset="-120"/>
            </a:endParaRPr>
          </a:p>
        </p:txBody>
      </p:sp>
      <p:pic>
        <p:nvPicPr>
          <p:cNvPr id="5" name="AfDB DI4A logo" descr="Logo de la Banque africaine de développement – Data Innovation for Africa (DI4A)"/>
          <p:cNvPicPr>
            <a:picLocks noChangeAspect="1"/>
          </p:cNvPicPr>
          <p:nvPr/>
        </p:nvPicPr>
        <p:blipFill>
          <a:blip r:embed="rId4"/>
          <a:stretch>
            <a:fillRect/>
          </a:stretch>
        </p:blipFill>
        <p:spPr>
          <a:xfrm>
            <a:off x="548640" y="4069080"/>
            <a:ext cx="1980311" cy="566928"/>
          </a:xfrm>
          <a:prstGeom prst="rect">
            <a:avLst/>
          </a:prstGeom>
        </p:spPr>
      </p:pic>
      <p:sp>
        <p:nvSpPr>
          <p:cNvPr id="6" name="AfDB DI4A credit"/>
          <p:cNvSpPr txBox="1"/>
          <p:nvPr/>
        </p:nvSpPr>
        <p:spPr>
          <a:xfrm>
            <a:off x="2757551" y="4069080"/>
            <a:ext cx="5837809" cy="566928"/>
          </a:xfrm>
          <a:prstGeom prst="rect">
            <a:avLst/>
          </a:prstGeom>
          <a:noFill/>
          <a:ln/>
        </p:spPr>
        <p:txBody>
          <a:bodyPr wrap="square" lIns="0" tIns="0" rIns="0" bIns="0" rtlCol="0" anchor="ctr"/>
          <a:lstStyle/>
          <a:p>
            <a:pPr marL="0" indent="0">
              <a:buNone/>
            </a:pPr>
            <a:r>
              <a:rPr lang="fr-FR" sz="1100" b="1" dirty="0">
                <a:solidFill>
                  <a:srgbClr val="FFFFFF"/>
                </a:solidFill>
                <a:latin typeface="Calibri" pitchFamily="34" charset="0"/>
                <a:ea typeface="Calibri" pitchFamily="34" charset="-122"/>
                <a:cs typeface="Calibri" pitchFamily="34" charset="-120"/>
              </a:rPr>
              <a:t>Banque africaine de développement (BAD) · Data Innovation for Africa (DI4A)</a:t>
            </a:r>
          </a:p>
          <a:p>
            <a:pPr marL="0" indent="0">
              <a:spcBef>
                <a:spcPts val="200"/>
              </a:spcBef>
              <a:buNone/>
            </a:pPr>
            <a:r>
              <a:rPr lang="fr-FR" sz="1100" dirty="0">
                <a:solidFill>
                  <a:srgbClr val="E8F4EB"/>
                </a:solidFill>
                <a:latin typeface="Calibri" pitchFamily="34" charset="0"/>
                <a:ea typeface="Calibri" pitchFamily="34" charset="-122"/>
                <a:cs typeface="Calibri" pitchFamily="34" charset="-120"/>
              </a:rPr>
              <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2731</Words>
  <Application>Microsoft Office PowerPoint</Application>
  <PresentationFormat>On-screen Show (16:9)</PresentationFormat>
  <Paragraphs>270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Inscription à Google Earth Engine</dc:title>
  <dc:subject>PptxGenJS Presentation</dc:subject>
  <dc:creator>AfDB – Data Innovation for Africa (DI4A)</dc:creator>
  <cp:lastModifiedBy>HADJ TAIEB, MOHAMED ALI</cp:lastModifiedBy>
  <cp:revision>3</cp:revision>
  <dcterms:created xsi:type="dcterms:W3CDTF">2026-09-30T04:46:06Z</dcterms:created>
  <dcterms:modified xsi:type="dcterms:W3CDTF">2026-10-16T14:02:47Z</dcterms:modified>
</cp:coreProperties>
</file>