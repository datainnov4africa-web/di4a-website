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79"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7177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guide from the African Development Bank – Data Innovation for Africa (DI4A), we walk through the Google Earth Engine registration in the Google Cloud console, all the way to a project registered for noncommercial use. Each slide shows a real screenshot. You will need this project for the night-lights and geospatial sessions.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registration form has five steps in the console, followed by enabling the API and managing the project. We group them here into six sections; each keeps its own colour, shown in the progress dots at the top right of every slide.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register today: several sessions work with satellite data — night lights from NASA Black Marble, and geospatial tools for cropland statistics and land cover classification. Completing the registration now means your Earth Engine project is ready before those sessions start.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tell Google what type of organization will use Earth Engine. This choice shapes the rest of the questionnaire.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Google Cloud console, go to Earth Engine, then Configuration and Register. The first question asks for the organization type: in our example, Nonprofit. Confirm with Next. The form shows all five steps: organization type, noncommercial eligibility, plan, description of your work and review summary.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the eligibility questionnaire. Your answers determine whether the project qualifies for free noncommercial access.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Enter the organization name, here INS_Africa. To the question about payments from commercial, operational or government entities, answer No; the form notes that research-only grants are excluded. For the type of use, choose Operational decision making, meaning analysis that supports government action. Participants should enter their own institution here — their national statistics office or central bank.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Continue the questionnaire: we are conducting research with Earth Engine, the study scope is regional and the region is Africa. We have not yet published work on this topic using Earth Engine. Then click Check eligibility.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check, the console displays a message confirming eligibility for noncommercial Earth Engine use. If this message does not appear, review your previous answers. Click Next to move on to plan selection.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three: choose a quota tier. Two tiers are offered to verified noncommercial projects.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tiers are available. Community: 150 EECU-hours per month, no billing account, suited to low-compute users. Contributor: 1,000 EECU-hours per month; an active billing account is required, but noncommercial Earth Engine use is not charged. For even larger needs, organizations can apply for the Partner tier. We choose Community, then Next.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four: describe the work done with Earth Engine, using climate categories and areas of use.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three steps are complete. Now indicate whether the work relates to mitigation, adaptation, or protection and conservation. Here, Adaptation and Protection &amp; conservation are ticked. Then the areas-of-use field must be completed.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drop-down offers many areas: agriculture, air quality, urban design, artificial intelligence and more. You must tick at least one, otherwise the message This field is required stops you from continuing. Here, select Artificial intelligence and machine learning, then OK and Next. You can also tick areas that match your work, such as agriculture, which is relevant to the cropland use case.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five: review the summary, submit the registration and enable the Earth Engine API.</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summary lists all answers: region Africa, no previous publications, Community plan, Adaptation and Protection &amp; conservation categories, AI/ML use. A notice explains that this information is used to verify eligibility and assess Earth Engine's impact. If everything is correct, click Register.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complete the registration, the console asks you to enable the Google Earth Engine API. The status first shows Not enabled: click Enable. The status then changes to In progress and Processing appears. Just wait a few moments without closing the window.</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section: the registration is confirmed; we look at how to manage it and, if needed, create a new project.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is now registered for noncommercial use, on the Community tier. The page also shows when eligibility expires — here 25 March 2028 for this project. Continue leads to the Overview page to access the API and datasets. The highlighted Manage registration button lets you edit the registration.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Manage Registration page lists all saved answers. At the bottom are three actions: Update answers to change them, Switch to commercial if the project no longer meets the noncommercial criteria, and the highlighted Register a new project to register another project.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Clicking Register a new project opens the Select a resource dialog. It lists recent projects; note that several are named My First Project, and only the ID tells them apart. You can pick an existing project or click the highlighted New project.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create a project, enter its name; the console generates an ID, which you can change with Edit but not after creation. Choose the organization and parent resource, which are also permanent, then Create. You will then need to register this new project for Earth Engine by repeating the steps covered earlier.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screenshots come from the Google Cloud console. Quota tier information is taken from the official Google for Developers documentation. As the interface may change, refer to the documentation if anything looks different.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Earth Engine project is ready. Keep the project ID at hand: you will use it in the night-lights sessions and in the geospatial tools and data sessions. Questions?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3.png"/><Relationship Id="rId7" Type="http://schemas.openxmlformats.org/officeDocument/2006/relationships/hyperlink" Target="https://developers.google.com/earth-engine/guides/access" TargetMode="External"/><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hyperlink" Target="https://console.cloud.google.com/earth-engine/configuration" TargetMode="External"/><Relationship Id="rId4" Type="http://schemas.openxmlformats.org/officeDocument/2006/relationships/image" Target="../media/image30.png"/><Relationship Id="rId9" Type="http://schemas.openxmlformats.org/officeDocument/2006/relationships/hyperlink" Target="https://developers.google.com/earth-engine/guides/noncommercial_tiers"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1097280"/>
            <a:ext cx="7863840" cy="274320"/>
          </a:xfrm>
          <a:prstGeom prst="rect">
            <a:avLst/>
          </a:prstGeom>
          <a:noFill/>
          <a:ln/>
        </p:spPr>
        <p:txBody>
          <a:bodyPr wrap="square" lIns="0" tIns="0" rIns="0" bIns="0" rtlCol="0" anchor="ctr"/>
          <a:lstStyle/>
          <a:p>
            <a:pPr marL="0" indent="0">
              <a:buNone/>
            </a:pPr>
            <a:r>
              <a:rPr lang="en-US" sz="1100" b="1" kern="0" spc="300" dirty="0">
                <a:solidFill>
                  <a:srgbClr val="F5C242"/>
                </a:solidFill>
                <a:latin typeface="Calibri" pitchFamily="34" charset="0"/>
                <a:ea typeface="Calibri" pitchFamily="34" charset="-122"/>
                <a:cs typeface="Calibri" pitchFamily="34" charset="-120"/>
              </a:rPr>
              <a:t>AfDB – Data Innovation for Africa (DI4A)</a:t>
            </a:r>
            <a:endParaRPr lang="en-US" sz="1100" dirty="0"/>
          </a:p>
        </p:txBody>
      </p:sp>
      <p:sp>
        <p:nvSpPr>
          <p:cNvPr id="3" name="Text 1"/>
          <p:cNvSpPr txBox="1"/>
          <p:nvPr/>
        </p:nvSpPr>
        <p:spPr>
          <a:xfrm>
            <a:off x="548640" y="1463040"/>
            <a:ext cx="5212080" cy="1463040"/>
          </a:xfrm>
          <a:prstGeom prst="rect">
            <a:avLst/>
          </a:prstGeom>
          <a:noFill/>
          <a:ln/>
        </p:spPr>
        <p:txBody>
          <a:bodyPr wrap="square" lIns="0" tIns="0" rIns="0" bIns="0" rtlCol="0" anchor="t"/>
          <a:lstStyle/>
          <a:p>
            <a:pPr marL="0" indent="0">
              <a:buNone/>
            </a:pPr>
            <a:r>
              <a:rPr lang="en-US" sz="4200" b="1" dirty="0">
                <a:solidFill>
                  <a:srgbClr val="FFFFFF"/>
                </a:solidFill>
                <a:latin typeface="Calibri" pitchFamily="34" charset="0"/>
                <a:ea typeface="Calibri" pitchFamily="34" charset="-122"/>
                <a:cs typeface="Calibri" pitchFamily="34" charset="-120"/>
              </a:rPr>
              <a:t>Registering for Google Earth Engine</a:t>
            </a:r>
            <a:endParaRPr lang="en-US" sz="4200" dirty="0"/>
          </a:p>
        </p:txBody>
      </p:sp>
      <p:sp>
        <p:nvSpPr>
          <p:cNvPr id="4" name="Text 2"/>
          <p:cNvSpPr txBox="1"/>
          <p:nvPr/>
        </p:nvSpPr>
        <p:spPr>
          <a:xfrm>
            <a:off x="548640" y="3017520"/>
            <a:ext cx="5303520" cy="685800"/>
          </a:xfrm>
          <a:prstGeom prst="rect">
            <a:avLst/>
          </a:prstGeom>
          <a:noFill/>
          <a:ln/>
        </p:spPr>
        <p:txBody>
          <a:bodyPr wrap="square" lIns="0" tIns="0" rIns="0" bIns="0" rtlCol="0" anchor="t"/>
          <a:lstStyle/>
          <a:p>
            <a:pPr marL="0" indent="0">
              <a:buNone/>
            </a:pPr>
            <a:r>
              <a:rPr lang="en-US" sz="1800" i="1" dirty="0">
                <a:solidFill>
                  <a:srgbClr val="E8F4EB"/>
                </a:solidFill>
                <a:latin typeface="Calibri" pitchFamily="34" charset="0"/>
                <a:ea typeface="Calibri" pitchFamily="34" charset="-122"/>
                <a:cs typeface="Calibri" pitchFamily="34" charset="-120"/>
              </a:rPr>
              <a:t>A step-by-step guide to registering a Google Cloud project for noncommercial use</a:t>
            </a:r>
            <a:endParaRPr lang="en-US" sz="1800" dirty="0"/>
          </a:p>
        </p:txBody>
      </p:sp>
      <p:sp>
        <p:nvSpPr>
          <p:cNvPr id="5" name="Shape 3"/>
          <p:cNvSpPr/>
          <p:nvPr/>
        </p:nvSpPr>
        <p:spPr>
          <a:xfrm>
            <a:off x="5897880" y="914400"/>
            <a:ext cx="2834640" cy="2834640"/>
          </a:xfrm>
          <a:prstGeom prst="ellipse">
            <a:avLst/>
          </a:prstGeom>
          <a:solidFill>
            <a:srgbClr val="FFFFFF">
              <a:alpha val="12000"/>
            </a:srgbClr>
          </a:solidFill>
          <a:ln w="9525">
            <a:solidFill>
              <a:srgbClr val="FFFFFF">
                <a:alpha val="40000"/>
              </a:srgbClr>
            </a:solidFill>
            <a:prstDash val="solid"/>
          </a:ln>
        </p:spPr>
      </p:sp>
      <p:sp>
        <p:nvSpPr>
          <p:cNvPr id="6" name="Shape 4"/>
          <p:cNvSpPr/>
          <p:nvPr/>
        </p:nvSpPr>
        <p:spPr>
          <a:xfrm>
            <a:off x="6291072" y="1307592"/>
            <a:ext cx="2048256" cy="2048256"/>
          </a:xfrm>
          <a:prstGeom prst="ellipse">
            <a:avLst/>
          </a:prstGeom>
          <a:solidFill>
            <a:srgbClr val="FFFFFF">
              <a:alpha val="22000"/>
            </a:srgbClr>
          </a:solidFill>
          <a:ln w="9525">
            <a:solidFill>
              <a:srgbClr val="FFFFFF">
                <a:alpha val="40000"/>
              </a:srgbClr>
            </a:solidFill>
            <a:prstDash val="solid"/>
          </a:ln>
        </p:spPr>
      </p:sp>
      <p:sp>
        <p:nvSpPr>
          <p:cNvPr id="7" name="Shape 5"/>
          <p:cNvSpPr/>
          <p:nvPr/>
        </p:nvSpPr>
        <p:spPr>
          <a:xfrm>
            <a:off x="6629400" y="1645920"/>
            <a:ext cx="1371600" cy="1371600"/>
          </a:xfrm>
          <a:prstGeom prst="ellipse">
            <a:avLst/>
          </a:prstGeom>
          <a:solidFill>
            <a:srgbClr val="FFFFFF"/>
          </a:solidFill>
          <a:ln/>
        </p:spPr>
      </p:sp>
      <p:pic>
        <p:nvPicPr>
          <p:cNvPr id="8" name="Image 0" descr="preencoded.png"/>
          <p:cNvPicPr>
            <a:picLocks noChangeAspect="1"/>
          </p:cNvPicPr>
          <p:nvPr/>
        </p:nvPicPr>
        <p:blipFill>
          <a:blip r:embed="rId4"/>
          <a:stretch>
            <a:fillRect/>
          </a:stretch>
        </p:blipFill>
        <p:spPr>
          <a:xfrm>
            <a:off x="6931152" y="1947672"/>
            <a:ext cx="768096" cy="768096"/>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9045"/>
          </a:solidFill>
          <a:ln/>
        </p:spPr>
      </p:sp>
      <p:sp>
        <p:nvSpPr>
          <p:cNvPr id="3" name="Shape 1"/>
          <p:cNvSpPr/>
          <p:nvPr/>
        </p:nvSpPr>
        <p:spPr>
          <a:xfrm>
            <a:off x="0" y="0"/>
            <a:ext cx="1234440" cy="54864"/>
          </a:xfrm>
          <a:prstGeom prst="rect">
            <a:avLst/>
          </a:prstGeom>
          <a:solidFill>
            <a:srgbClr val="F5C242"/>
          </a:solidFill>
          <a:ln/>
        </p:spPr>
      </p:sp>
      <p:sp>
        <p:nvSpPr>
          <p:cNvPr id="4" name="Text 2"/>
          <p:cNvSpPr txBox="1"/>
          <p:nvPr/>
        </p:nvSpPr>
        <p:spPr>
          <a:xfrm>
            <a:off x="457200" y="274320"/>
            <a:ext cx="685800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ROADMAP</a:t>
            </a:r>
            <a:endParaRPr lang="en-US" sz="1050" dirty="0"/>
          </a:p>
        </p:txBody>
      </p:sp>
      <p:sp>
        <p:nvSpPr>
          <p:cNvPr id="5" name="Text 3"/>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The process in six steps</a:t>
            </a:r>
            <a:endParaRPr lang="en-US" sz="2800" dirty="0"/>
          </a:p>
        </p:txBody>
      </p:sp>
      <p:sp>
        <p:nvSpPr>
          <p:cNvPr id="6" name="Shape 4"/>
          <p:cNvSpPr/>
          <p:nvPr/>
        </p:nvSpPr>
        <p:spPr>
          <a:xfrm>
            <a:off x="7717536" y="338328"/>
            <a:ext cx="100584" cy="100584"/>
          </a:xfrm>
          <a:prstGeom prst="ellipse">
            <a:avLst/>
          </a:prstGeom>
          <a:solidFill>
            <a:srgbClr val="D3E2D7"/>
          </a:solidFill>
          <a:ln/>
        </p:spPr>
      </p:sp>
      <p:sp>
        <p:nvSpPr>
          <p:cNvPr id="7" name="Shape 5"/>
          <p:cNvSpPr/>
          <p:nvPr/>
        </p:nvSpPr>
        <p:spPr>
          <a:xfrm>
            <a:off x="7891272" y="338328"/>
            <a:ext cx="100584" cy="100584"/>
          </a:xfrm>
          <a:prstGeom prst="ellipse">
            <a:avLst/>
          </a:prstGeom>
          <a:solidFill>
            <a:srgbClr val="D3E2D7"/>
          </a:solidFill>
          <a:ln/>
        </p:spPr>
      </p:sp>
      <p:sp>
        <p:nvSpPr>
          <p:cNvPr id="8" name="Shape 6"/>
          <p:cNvSpPr/>
          <p:nvPr/>
        </p:nvSpPr>
        <p:spPr>
          <a:xfrm>
            <a:off x="8065008" y="338328"/>
            <a:ext cx="100584" cy="100584"/>
          </a:xfrm>
          <a:prstGeom prst="ellipse">
            <a:avLst/>
          </a:prstGeom>
          <a:solidFill>
            <a:srgbClr val="D3E2D7"/>
          </a:solidFill>
          <a:ln/>
        </p:spPr>
      </p:sp>
      <p:sp>
        <p:nvSpPr>
          <p:cNvPr id="9" name="Shape 7"/>
          <p:cNvSpPr/>
          <p:nvPr/>
        </p:nvSpPr>
        <p:spPr>
          <a:xfrm>
            <a:off x="8238744" y="338328"/>
            <a:ext cx="100584" cy="100584"/>
          </a:xfrm>
          <a:prstGeom prst="ellipse">
            <a:avLst/>
          </a:prstGeom>
          <a:solidFill>
            <a:srgbClr val="D3E2D7"/>
          </a:solidFill>
          <a:ln/>
        </p:spPr>
      </p:sp>
      <p:sp>
        <p:nvSpPr>
          <p:cNvPr id="10" name="Shape 8"/>
          <p:cNvSpPr/>
          <p:nvPr/>
        </p:nvSpPr>
        <p:spPr>
          <a:xfrm>
            <a:off x="8412480" y="338328"/>
            <a:ext cx="100584" cy="100584"/>
          </a:xfrm>
          <a:prstGeom prst="ellipse">
            <a:avLst/>
          </a:prstGeom>
          <a:solidFill>
            <a:srgbClr val="D3E2D7"/>
          </a:solidFill>
          <a:ln/>
        </p:spPr>
      </p:sp>
      <p:sp>
        <p:nvSpPr>
          <p:cNvPr id="11" name="Shape 9"/>
          <p:cNvSpPr/>
          <p:nvPr/>
        </p:nvSpPr>
        <p:spPr>
          <a:xfrm>
            <a:off x="8586216" y="338328"/>
            <a:ext cx="100584" cy="100584"/>
          </a:xfrm>
          <a:prstGeom prst="ellipse">
            <a:avLst/>
          </a:prstGeom>
          <a:solidFill>
            <a:srgbClr val="D3E2D7"/>
          </a:solidFill>
          <a:ln/>
        </p:spPr>
      </p:sp>
      <p:sp>
        <p:nvSpPr>
          <p:cNvPr id="12" name="Text 10"/>
          <p:cNvSpPr txBox="1"/>
          <p:nvPr/>
        </p:nvSpPr>
        <p:spPr>
          <a:xfrm>
            <a:off x="457200" y="4800600"/>
            <a:ext cx="6766560" cy="201168"/>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Registering for Google Earth Engine · AfDB – Data Innovation for Africa (DI4A)</a:t>
            </a:r>
            <a:endParaRPr lang="en-US" sz="850" dirty="0"/>
          </a:p>
        </p:txBody>
      </p:sp>
      <p:sp>
        <p:nvSpPr>
          <p:cNvPr id="13" name="Text 11"/>
          <p:cNvSpPr txBox="1"/>
          <p:nvPr/>
        </p:nvSpPr>
        <p:spPr>
          <a:xfrm>
            <a:off x="7772400" y="4800600"/>
            <a:ext cx="914400" cy="201168"/>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2</a:t>
            </a:r>
            <a:endParaRPr lang="en-US" sz="850" dirty="0"/>
          </a:p>
        </p:txBody>
      </p:sp>
      <p:sp>
        <p:nvSpPr>
          <p:cNvPr id="14" name="Shape 12"/>
          <p:cNvSpPr/>
          <p:nvPr/>
        </p:nvSpPr>
        <p:spPr>
          <a:xfrm>
            <a:off x="457200" y="1371600"/>
            <a:ext cx="2590800" cy="1481328"/>
          </a:xfrm>
          <a:prstGeom prst="roundRect">
            <a:avLst>
              <a:gd name="adj" fmla="val 4938"/>
            </a:avLst>
          </a:prstGeom>
          <a:solidFill>
            <a:srgbClr val="F4F8F5"/>
          </a:solidFill>
          <a:ln w="9525">
            <a:solidFill>
              <a:srgbClr val="D3E2D7"/>
            </a:solidFill>
            <a:prstDash val="solid"/>
          </a:ln>
        </p:spPr>
      </p:sp>
      <p:sp>
        <p:nvSpPr>
          <p:cNvPr id="15" name="Shape 13"/>
          <p:cNvSpPr/>
          <p:nvPr/>
        </p:nvSpPr>
        <p:spPr>
          <a:xfrm>
            <a:off x="640080" y="1554480"/>
            <a:ext cx="457200" cy="457200"/>
          </a:xfrm>
          <a:prstGeom prst="ellipse">
            <a:avLst/>
          </a:prstGeom>
          <a:solidFill>
            <a:srgbClr val="2C9045">
              <a:alpha val="22000"/>
            </a:srgbClr>
          </a:solidFill>
          <a:ln/>
        </p:spPr>
      </p:sp>
      <p:pic>
        <p:nvPicPr>
          <p:cNvPr id="16" name="Image 0" descr="preencoded.png"/>
          <p:cNvPicPr>
            <a:picLocks noChangeAspect="1"/>
          </p:cNvPicPr>
          <p:nvPr/>
        </p:nvPicPr>
        <p:blipFill>
          <a:blip r:embed="rId4"/>
          <a:stretch>
            <a:fillRect/>
          </a:stretch>
        </p:blipFill>
        <p:spPr>
          <a:xfrm>
            <a:off x="758952" y="1673352"/>
            <a:ext cx="219456" cy="219456"/>
          </a:xfrm>
          <a:prstGeom prst="rect">
            <a:avLst/>
          </a:prstGeom>
        </p:spPr>
      </p:pic>
      <p:sp>
        <p:nvSpPr>
          <p:cNvPr id="17" name="Text 14"/>
          <p:cNvSpPr txBox="1"/>
          <p:nvPr/>
        </p:nvSpPr>
        <p:spPr>
          <a:xfrm>
            <a:off x="2225040" y="1536192"/>
            <a:ext cx="640080" cy="457200"/>
          </a:xfrm>
          <a:prstGeom prst="rect">
            <a:avLst/>
          </a:prstGeom>
          <a:noFill/>
          <a:ln/>
        </p:spPr>
        <p:txBody>
          <a:bodyPr wrap="square" lIns="0" tIns="0" rIns="0" bIns="0" rtlCol="0" anchor="ctr"/>
          <a:lstStyle/>
          <a:p>
            <a:pPr marL="0" indent="0" algn="r">
              <a:buNone/>
            </a:pPr>
            <a:r>
              <a:rPr lang="en-US" sz="2400" b="1" dirty="0">
                <a:solidFill>
                  <a:srgbClr val="2C9045"/>
                </a:solidFill>
                <a:latin typeface="Calibri" pitchFamily="34" charset="0"/>
                <a:ea typeface="Calibri" pitchFamily="34" charset="-122"/>
                <a:cs typeface="Calibri" pitchFamily="34" charset="-120"/>
              </a:rPr>
              <a:t>01</a:t>
            </a:r>
            <a:endParaRPr lang="en-US" sz="2400" dirty="0"/>
          </a:p>
        </p:txBody>
      </p:sp>
      <p:sp>
        <p:nvSpPr>
          <p:cNvPr id="18" name="Text 15"/>
          <p:cNvSpPr txBox="1"/>
          <p:nvPr/>
        </p:nvSpPr>
        <p:spPr>
          <a:xfrm>
            <a:off x="640080" y="2121408"/>
            <a:ext cx="2225040" cy="27432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Organization type</a:t>
            </a:r>
            <a:endParaRPr lang="en-US" sz="1350" dirty="0"/>
          </a:p>
        </p:txBody>
      </p:sp>
      <p:sp>
        <p:nvSpPr>
          <p:cNvPr id="19" name="Text 16"/>
          <p:cNvSpPr txBox="1"/>
          <p:nvPr/>
        </p:nvSpPr>
        <p:spPr>
          <a:xfrm>
            <a:off x="640080" y="2377440"/>
            <a:ext cx="2225040" cy="384048"/>
          </a:xfrm>
          <a:prstGeom prst="rect">
            <a:avLst/>
          </a:prstGeom>
          <a:noFill/>
          <a:ln/>
        </p:spPr>
        <p:txBody>
          <a:bodyPr wrap="square" lIns="0" tIns="0" rIns="0" bIns="0" rtlCol="0" anchor="t"/>
          <a:lstStyle/>
          <a:p>
            <a:pPr marL="0" indent="0">
              <a:buNone/>
            </a:pPr>
            <a:r>
              <a:rPr lang="en-US" sz="1050" dirty="0">
                <a:solidFill>
                  <a:srgbClr val="5A6660"/>
                </a:solidFill>
                <a:latin typeface="Calibri" pitchFamily="34" charset="0"/>
                <a:ea typeface="Calibri" pitchFamily="34" charset="-122"/>
                <a:cs typeface="Calibri" pitchFamily="34" charset="-120"/>
              </a:rPr>
              <a:t>State what kind of organization you are (e.g. Nonprofit).</a:t>
            </a:r>
            <a:endParaRPr lang="en-US" sz="1050" dirty="0"/>
          </a:p>
        </p:txBody>
      </p:sp>
      <p:sp>
        <p:nvSpPr>
          <p:cNvPr id="20" name="Shape 17"/>
          <p:cNvSpPr/>
          <p:nvPr/>
        </p:nvSpPr>
        <p:spPr>
          <a:xfrm>
            <a:off x="3276600" y="1371600"/>
            <a:ext cx="2590800" cy="1481328"/>
          </a:xfrm>
          <a:prstGeom prst="roundRect">
            <a:avLst>
              <a:gd name="adj" fmla="val 4938"/>
            </a:avLst>
          </a:prstGeom>
          <a:solidFill>
            <a:srgbClr val="F4F8F5"/>
          </a:solidFill>
          <a:ln w="9525">
            <a:solidFill>
              <a:srgbClr val="D3E2D7"/>
            </a:solidFill>
            <a:prstDash val="solid"/>
          </a:ln>
        </p:spPr>
      </p:sp>
      <p:sp>
        <p:nvSpPr>
          <p:cNvPr id="21" name="Shape 18"/>
          <p:cNvSpPr/>
          <p:nvPr/>
        </p:nvSpPr>
        <p:spPr>
          <a:xfrm>
            <a:off x="3459480" y="1554480"/>
            <a:ext cx="457200" cy="457200"/>
          </a:xfrm>
          <a:prstGeom prst="ellipse">
            <a:avLst/>
          </a:prstGeom>
          <a:solidFill>
            <a:srgbClr val="0E5A2E">
              <a:alpha val="22000"/>
            </a:srgbClr>
          </a:solidFill>
          <a:ln/>
        </p:spPr>
      </p:sp>
      <p:pic>
        <p:nvPicPr>
          <p:cNvPr id="22" name="Image 1" descr="preencoded.png"/>
          <p:cNvPicPr>
            <a:picLocks noChangeAspect="1"/>
          </p:cNvPicPr>
          <p:nvPr/>
        </p:nvPicPr>
        <p:blipFill>
          <a:blip r:embed="rId5"/>
          <a:stretch>
            <a:fillRect/>
          </a:stretch>
        </p:blipFill>
        <p:spPr>
          <a:xfrm>
            <a:off x="3578352" y="1673352"/>
            <a:ext cx="219456" cy="219456"/>
          </a:xfrm>
          <a:prstGeom prst="rect">
            <a:avLst/>
          </a:prstGeom>
        </p:spPr>
      </p:pic>
      <p:sp>
        <p:nvSpPr>
          <p:cNvPr id="23" name="Text 19"/>
          <p:cNvSpPr txBox="1"/>
          <p:nvPr/>
        </p:nvSpPr>
        <p:spPr>
          <a:xfrm>
            <a:off x="5044440" y="1536192"/>
            <a:ext cx="640080" cy="457200"/>
          </a:xfrm>
          <a:prstGeom prst="rect">
            <a:avLst/>
          </a:prstGeom>
          <a:noFill/>
          <a:ln/>
        </p:spPr>
        <p:txBody>
          <a:bodyPr wrap="square" lIns="0" tIns="0" rIns="0" bIns="0" rtlCol="0" anchor="ctr"/>
          <a:lstStyle/>
          <a:p>
            <a:pPr marL="0" indent="0" algn="r">
              <a:buNone/>
            </a:pPr>
            <a:r>
              <a:rPr lang="en-US" sz="2400" b="1" dirty="0">
                <a:solidFill>
                  <a:srgbClr val="0E5A2E"/>
                </a:solidFill>
                <a:latin typeface="Calibri" pitchFamily="34" charset="0"/>
                <a:ea typeface="Calibri" pitchFamily="34" charset="-122"/>
                <a:cs typeface="Calibri" pitchFamily="34" charset="-120"/>
              </a:rPr>
              <a:t>02</a:t>
            </a:r>
            <a:endParaRPr lang="en-US" sz="2400" dirty="0"/>
          </a:p>
        </p:txBody>
      </p:sp>
      <p:sp>
        <p:nvSpPr>
          <p:cNvPr id="24" name="Text 20"/>
          <p:cNvSpPr txBox="1"/>
          <p:nvPr/>
        </p:nvSpPr>
        <p:spPr>
          <a:xfrm>
            <a:off x="3459480" y="2121408"/>
            <a:ext cx="2225040" cy="27432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Noncommercial eligibility</a:t>
            </a:r>
            <a:endParaRPr lang="en-US" sz="1350" dirty="0"/>
          </a:p>
        </p:txBody>
      </p:sp>
      <p:sp>
        <p:nvSpPr>
          <p:cNvPr id="25" name="Text 21"/>
          <p:cNvSpPr txBox="1"/>
          <p:nvPr/>
        </p:nvSpPr>
        <p:spPr>
          <a:xfrm>
            <a:off x="3459480" y="2377440"/>
            <a:ext cx="2225040" cy="384048"/>
          </a:xfrm>
          <a:prstGeom prst="rect">
            <a:avLst/>
          </a:prstGeom>
          <a:noFill/>
          <a:ln/>
        </p:spPr>
        <p:txBody>
          <a:bodyPr wrap="square" lIns="0" tIns="0" rIns="0" bIns="0" rtlCol="0" anchor="t"/>
          <a:lstStyle/>
          <a:p>
            <a:pPr marL="0" indent="0">
              <a:buNone/>
            </a:pPr>
            <a:r>
              <a:rPr lang="en-US" sz="1050" dirty="0">
                <a:solidFill>
                  <a:srgbClr val="5A6660"/>
                </a:solidFill>
                <a:latin typeface="Calibri" pitchFamily="34" charset="0"/>
                <a:ea typeface="Calibri" pitchFamily="34" charset="-122"/>
                <a:cs typeface="Calibri" pitchFamily="34" charset="-120"/>
              </a:rPr>
              <a:t>Answer the questionnaire on how you use Earth Engine.</a:t>
            </a:r>
            <a:endParaRPr lang="en-US" sz="1050" dirty="0"/>
          </a:p>
        </p:txBody>
      </p:sp>
      <p:sp>
        <p:nvSpPr>
          <p:cNvPr id="26" name="Shape 22"/>
          <p:cNvSpPr/>
          <p:nvPr/>
        </p:nvSpPr>
        <p:spPr>
          <a:xfrm>
            <a:off x="6096000" y="1371600"/>
            <a:ext cx="2590800" cy="1481328"/>
          </a:xfrm>
          <a:prstGeom prst="roundRect">
            <a:avLst>
              <a:gd name="adj" fmla="val 4938"/>
            </a:avLst>
          </a:prstGeom>
          <a:solidFill>
            <a:srgbClr val="F4F8F5"/>
          </a:solidFill>
          <a:ln w="9525">
            <a:solidFill>
              <a:srgbClr val="D3E2D7"/>
            </a:solidFill>
            <a:prstDash val="solid"/>
          </a:ln>
        </p:spPr>
      </p:sp>
      <p:sp>
        <p:nvSpPr>
          <p:cNvPr id="27" name="Shape 23"/>
          <p:cNvSpPr/>
          <p:nvPr/>
        </p:nvSpPr>
        <p:spPr>
          <a:xfrm>
            <a:off x="6278880" y="1554480"/>
            <a:ext cx="457200" cy="457200"/>
          </a:xfrm>
          <a:prstGeom prst="ellipse">
            <a:avLst/>
          </a:prstGeom>
          <a:solidFill>
            <a:srgbClr val="0E7C86">
              <a:alpha val="22000"/>
            </a:srgbClr>
          </a:solidFill>
          <a:ln/>
        </p:spPr>
      </p:sp>
      <p:pic>
        <p:nvPicPr>
          <p:cNvPr id="28" name="Image 2" descr="preencoded.png"/>
          <p:cNvPicPr>
            <a:picLocks noChangeAspect="1"/>
          </p:cNvPicPr>
          <p:nvPr/>
        </p:nvPicPr>
        <p:blipFill>
          <a:blip r:embed="rId6"/>
          <a:stretch>
            <a:fillRect/>
          </a:stretch>
        </p:blipFill>
        <p:spPr>
          <a:xfrm>
            <a:off x="6397752" y="1673352"/>
            <a:ext cx="219456" cy="219456"/>
          </a:xfrm>
          <a:prstGeom prst="rect">
            <a:avLst/>
          </a:prstGeom>
        </p:spPr>
      </p:pic>
      <p:sp>
        <p:nvSpPr>
          <p:cNvPr id="29" name="Text 24"/>
          <p:cNvSpPr txBox="1"/>
          <p:nvPr/>
        </p:nvSpPr>
        <p:spPr>
          <a:xfrm>
            <a:off x="7863840" y="1536192"/>
            <a:ext cx="640080" cy="457200"/>
          </a:xfrm>
          <a:prstGeom prst="rect">
            <a:avLst/>
          </a:prstGeom>
          <a:noFill/>
          <a:ln/>
        </p:spPr>
        <p:txBody>
          <a:bodyPr wrap="square" lIns="0" tIns="0" rIns="0" bIns="0" rtlCol="0" anchor="ctr"/>
          <a:lstStyle/>
          <a:p>
            <a:pPr marL="0" indent="0" algn="r">
              <a:buNone/>
            </a:pPr>
            <a:r>
              <a:rPr lang="en-US" sz="2400" b="1" dirty="0">
                <a:solidFill>
                  <a:srgbClr val="0E7C86"/>
                </a:solidFill>
                <a:latin typeface="Calibri" pitchFamily="34" charset="0"/>
                <a:ea typeface="Calibri" pitchFamily="34" charset="-122"/>
                <a:cs typeface="Calibri" pitchFamily="34" charset="-120"/>
              </a:rPr>
              <a:t>03</a:t>
            </a:r>
            <a:endParaRPr lang="en-US" sz="2400" dirty="0"/>
          </a:p>
        </p:txBody>
      </p:sp>
      <p:sp>
        <p:nvSpPr>
          <p:cNvPr id="30" name="Text 25"/>
          <p:cNvSpPr txBox="1"/>
          <p:nvPr/>
        </p:nvSpPr>
        <p:spPr>
          <a:xfrm>
            <a:off x="6278880" y="2121408"/>
            <a:ext cx="2225040" cy="27432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Plan selection</a:t>
            </a:r>
            <a:endParaRPr lang="en-US" sz="1350" dirty="0"/>
          </a:p>
        </p:txBody>
      </p:sp>
      <p:sp>
        <p:nvSpPr>
          <p:cNvPr id="31" name="Text 26"/>
          <p:cNvSpPr txBox="1"/>
          <p:nvPr/>
        </p:nvSpPr>
        <p:spPr>
          <a:xfrm>
            <a:off x="6278880" y="2377440"/>
            <a:ext cx="2225040" cy="384048"/>
          </a:xfrm>
          <a:prstGeom prst="rect">
            <a:avLst/>
          </a:prstGeom>
          <a:noFill/>
          <a:ln/>
        </p:spPr>
        <p:txBody>
          <a:bodyPr wrap="square" lIns="0" tIns="0" rIns="0" bIns="0" rtlCol="0" anchor="t"/>
          <a:lstStyle/>
          <a:p>
            <a:pPr marL="0" indent="0">
              <a:buNone/>
            </a:pPr>
            <a:r>
              <a:rPr lang="en-US" sz="1050" dirty="0">
                <a:solidFill>
                  <a:srgbClr val="5A6660"/>
                </a:solidFill>
                <a:latin typeface="Calibri" pitchFamily="34" charset="0"/>
                <a:ea typeface="Calibri" pitchFamily="34" charset="-122"/>
                <a:cs typeface="Calibri" pitchFamily="34" charset="-120"/>
              </a:rPr>
              <a:t>Select the right quota tier (Community).</a:t>
            </a:r>
            <a:endParaRPr lang="en-US" sz="1050" dirty="0"/>
          </a:p>
        </p:txBody>
      </p:sp>
      <p:sp>
        <p:nvSpPr>
          <p:cNvPr id="32" name="Shape 27"/>
          <p:cNvSpPr/>
          <p:nvPr/>
        </p:nvSpPr>
        <p:spPr>
          <a:xfrm>
            <a:off x="457200" y="3054096"/>
            <a:ext cx="2590800" cy="1481328"/>
          </a:xfrm>
          <a:prstGeom prst="roundRect">
            <a:avLst>
              <a:gd name="adj" fmla="val 4938"/>
            </a:avLst>
          </a:prstGeom>
          <a:solidFill>
            <a:srgbClr val="F4F8F5"/>
          </a:solidFill>
          <a:ln w="9525">
            <a:solidFill>
              <a:srgbClr val="D3E2D7"/>
            </a:solidFill>
            <a:prstDash val="solid"/>
          </a:ln>
        </p:spPr>
      </p:sp>
      <p:sp>
        <p:nvSpPr>
          <p:cNvPr id="33" name="Shape 28"/>
          <p:cNvSpPr/>
          <p:nvPr/>
        </p:nvSpPr>
        <p:spPr>
          <a:xfrm>
            <a:off x="640080" y="3236976"/>
            <a:ext cx="457200" cy="457200"/>
          </a:xfrm>
          <a:prstGeom prst="ellipse">
            <a:avLst/>
          </a:prstGeom>
          <a:solidFill>
            <a:srgbClr val="D49A00">
              <a:alpha val="22000"/>
            </a:srgbClr>
          </a:solidFill>
          <a:ln/>
        </p:spPr>
      </p:sp>
      <p:pic>
        <p:nvPicPr>
          <p:cNvPr id="34" name="Image 3" descr="preencoded.png"/>
          <p:cNvPicPr>
            <a:picLocks noChangeAspect="1"/>
          </p:cNvPicPr>
          <p:nvPr/>
        </p:nvPicPr>
        <p:blipFill>
          <a:blip r:embed="rId7"/>
          <a:stretch>
            <a:fillRect/>
          </a:stretch>
        </p:blipFill>
        <p:spPr>
          <a:xfrm>
            <a:off x="758952" y="3355848"/>
            <a:ext cx="219456" cy="219456"/>
          </a:xfrm>
          <a:prstGeom prst="rect">
            <a:avLst/>
          </a:prstGeom>
        </p:spPr>
      </p:pic>
      <p:sp>
        <p:nvSpPr>
          <p:cNvPr id="35" name="Text 29"/>
          <p:cNvSpPr txBox="1"/>
          <p:nvPr/>
        </p:nvSpPr>
        <p:spPr>
          <a:xfrm>
            <a:off x="2225040" y="3218688"/>
            <a:ext cx="640080" cy="457200"/>
          </a:xfrm>
          <a:prstGeom prst="rect">
            <a:avLst/>
          </a:prstGeom>
          <a:noFill/>
          <a:ln/>
        </p:spPr>
        <p:txBody>
          <a:bodyPr wrap="square" lIns="0" tIns="0" rIns="0" bIns="0" rtlCol="0" anchor="ctr"/>
          <a:lstStyle/>
          <a:p>
            <a:pPr marL="0" indent="0" algn="r">
              <a:buNone/>
            </a:pPr>
            <a:r>
              <a:rPr lang="en-US" sz="2400" b="1" dirty="0">
                <a:solidFill>
                  <a:srgbClr val="D49A00"/>
                </a:solidFill>
                <a:latin typeface="Calibri" pitchFamily="34" charset="0"/>
                <a:ea typeface="Calibri" pitchFamily="34" charset="-122"/>
                <a:cs typeface="Calibri" pitchFamily="34" charset="-120"/>
              </a:rPr>
              <a:t>04</a:t>
            </a:r>
            <a:endParaRPr lang="en-US" sz="2400" dirty="0"/>
          </a:p>
        </p:txBody>
      </p:sp>
      <p:sp>
        <p:nvSpPr>
          <p:cNvPr id="36" name="Text 30"/>
          <p:cNvSpPr txBox="1"/>
          <p:nvPr/>
        </p:nvSpPr>
        <p:spPr>
          <a:xfrm>
            <a:off x="640080" y="3803904"/>
            <a:ext cx="2225040" cy="27432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Describe your work</a:t>
            </a:r>
            <a:endParaRPr lang="en-US" sz="1350" dirty="0"/>
          </a:p>
        </p:txBody>
      </p:sp>
      <p:sp>
        <p:nvSpPr>
          <p:cNvPr id="37" name="Text 31"/>
          <p:cNvSpPr txBox="1"/>
          <p:nvPr/>
        </p:nvSpPr>
        <p:spPr>
          <a:xfrm>
            <a:off x="640080" y="4059936"/>
            <a:ext cx="2225040" cy="384048"/>
          </a:xfrm>
          <a:prstGeom prst="rect">
            <a:avLst/>
          </a:prstGeom>
          <a:noFill/>
          <a:ln/>
        </p:spPr>
        <p:txBody>
          <a:bodyPr wrap="square" lIns="0" tIns="0" rIns="0" bIns="0" rtlCol="0" anchor="t"/>
          <a:lstStyle/>
          <a:p>
            <a:pPr marL="0" indent="0">
              <a:buNone/>
            </a:pPr>
            <a:r>
              <a:rPr lang="en-US" sz="1050" dirty="0">
                <a:solidFill>
                  <a:srgbClr val="5A6660"/>
                </a:solidFill>
                <a:latin typeface="Calibri" pitchFamily="34" charset="0"/>
                <a:ea typeface="Calibri" pitchFamily="34" charset="-122"/>
                <a:cs typeface="Calibri" pitchFamily="34" charset="-120"/>
              </a:rPr>
              <a:t>Indicate climate categories and areas of use.</a:t>
            </a:r>
            <a:endParaRPr lang="en-US" sz="1050" dirty="0"/>
          </a:p>
        </p:txBody>
      </p:sp>
      <p:sp>
        <p:nvSpPr>
          <p:cNvPr id="38" name="Shape 32"/>
          <p:cNvSpPr/>
          <p:nvPr/>
        </p:nvSpPr>
        <p:spPr>
          <a:xfrm>
            <a:off x="3276600" y="3054096"/>
            <a:ext cx="2590800" cy="1481328"/>
          </a:xfrm>
          <a:prstGeom prst="roundRect">
            <a:avLst>
              <a:gd name="adj" fmla="val 4938"/>
            </a:avLst>
          </a:prstGeom>
          <a:solidFill>
            <a:srgbClr val="F4F8F5"/>
          </a:solidFill>
          <a:ln w="9525">
            <a:solidFill>
              <a:srgbClr val="D3E2D7"/>
            </a:solidFill>
            <a:prstDash val="solid"/>
          </a:ln>
        </p:spPr>
      </p:sp>
      <p:sp>
        <p:nvSpPr>
          <p:cNvPr id="39" name="Shape 33"/>
          <p:cNvSpPr/>
          <p:nvPr/>
        </p:nvSpPr>
        <p:spPr>
          <a:xfrm>
            <a:off x="3459480" y="3236976"/>
            <a:ext cx="457200" cy="457200"/>
          </a:xfrm>
          <a:prstGeom prst="ellipse">
            <a:avLst/>
          </a:prstGeom>
          <a:solidFill>
            <a:srgbClr val="C4621D">
              <a:alpha val="22000"/>
            </a:srgbClr>
          </a:solidFill>
          <a:ln/>
        </p:spPr>
      </p:sp>
      <p:pic>
        <p:nvPicPr>
          <p:cNvPr id="40" name="Image 4" descr="preencoded.png"/>
          <p:cNvPicPr>
            <a:picLocks noChangeAspect="1"/>
          </p:cNvPicPr>
          <p:nvPr/>
        </p:nvPicPr>
        <p:blipFill>
          <a:blip r:embed="rId8"/>
          <a:stretch>
            <a:fillRect/>
          </a:stretch>
        </p:blipFill>
        <p:spPr>
          <a:xfrm>
            <a:off x="3578352" y="3355848"/>
            <a:ext cx="219456" cy="219456"/>
          </a:xfrm>
          <a:prstGeom prst="rect">
            <a:avLst/>
          </a:prstGeom>
        </p:spPr>
      </p:pic>
      <p:sp>
        <p:nvSpPr>
          <p:cNvPr id="41" name="Text 34"/>
          <p:cNvSpPr txBox="1"/>
          <p:nvPr/>
        </p:nvSpPr>
        <p:spPr>
          <a:xfrm>
            <a:off x="5044440" y="3218688"/>
            <a:ext cx="640080" cy="457200"/>
          </a:xfrm>
          <a:prstGeom prst="rect">
            <a:avLst/>
          </a:prstGeom>
          <a:noFill/>
          <a:ln/>
        </p:spPr>
        <p:txBody>
          <a:bodyPr wrap="square" lIns="0" tIns="0" rIns="0" bIns="0" rtlCol="0" anchor="ctr"/>
          <a:lstStyle/>
          <a:p>
            <a:pPr marL="0" indent="0" algn="r">
              <a:buNone/>
            </a:pPr>
            <a:r>
              <a:rPr lang="en-US" sz="2400" b="1" dirty="0">
                <a:solidFill>
                  <a:srgbClr val="C4621D"/>
                </a:solidFill>
                <a:latin typeface="Calibri" pitchFamily="34" charset="0"/>
                <a:ea typeface="Calibri" pitchFamily="34" charset="-122"/>
                <a:cs typeface="Calibri" pitchFamily="34" charset="-120"/>
              </a:rPr>
              <a:t>05</a:t>
            </a:r>
            <a:endParaRPr lang="en-US" sz="2400" dirty="0"/>
          </a:p>
        </p:txBody>
      </p:sp>
      <p:sp>
        <p:nvSpPr>
          <p:cNvPr id="42" name="Text 35"/>
          <p:cNvSpPr txBox="1"/>
          <p:nvPr/>
        </p:nvSpPr>
        <p:spPr>
          <a:xfrm>
            <a:off x="3459480" y="3803904"/>
            <a:ext cx="2225040" cy="27432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Review &amp; API</a:t>
            </a:r>
            <a:endParaRPr lang="en-US" sz="1350" dirty="0"/>
          </a:p>
        </p:txBody>
      </p:sp>
      <p:sp>
        <p:nvSpPr>
          <p:cNvPr id="43" name="Text 36"/>
          <p:cNvSpPr txBox="1"/>
          <p:nvPr/>
        </p:nvSpPr>
        <p:spPr>
          <a:xfrm>
            <a:off x="3459480" y="4059936"/>
            <a:ext cx="2225040" cy="384048"/>
          </a:xfrm>
          <a:prstGeom prst="rect">
            <a:avLst/>
          </a:prstGeom>
          <a:noFill/>
          <a:ln/>
        </p:spPr>
        <p:txBody>
          <a:bodyPr wrap="square" lIns="0" tIns="0" rIns="0" bIns="0" rtlCol="0" anchor="t"/>
          <a:lstStyle/>
          <a:p>
            <a:pPr marL="0" indent="0">
              <a:buNone/>
            </a:pPr>
            <a:r>
              <a:rPr lang="en-US" sz="1050" dirty="0">
                <a:solidFill>
                  <a:srgbClr val="5A6660"/>
                </a:solidFill>
                <a:latin typeface="Calibri" pitchFamily="34" charset="0"/>
                <a:ea typeface="Calibri" pitchFamily="34" charset="-122"/>
                <a:cs typeface="Calibri" pitchFamily="34" charset="-120"/>
              </a:rPr>
              <a:t>Check the summary, then enable the API.</a:t>
            </a:r>
            <a:endParaRPr lang="en-US" sz="1050" dirty="0"/>
          </a:p>
        </p:txBody>
      </p:sp>
      <p:sp>
        <p:nvSpPr>
          <p:cNvPr id="44" name="Shape 37"/>
          <p:cNvSpPr/>
          <p:nvPr/>
        </p:nvSpPr>
        <p:spPr>
          <a:xfrm>
            <a:off x="6096000" y="3054096"/>
            <a:ext cx="2590800" cy="1481328"/>
          </a:xfrm>
          <a:prstGeom prst="roundRect">
            <a:avLst>
              <a:gd name="adj" fmla="val 4938"/>
            </a:avLst>
          </a:prstGeom>
          <a:solidFill>
            <a:srgbClr val="F4F8F5"/>
          </a:solidFill>
          <a:ln w="9525">
            <a:solidFill>
              <a:srgbClr val="D3E2D7"/>
            </a:solidFill>
            <a:prstDash val="solid"/>
          </a:ln>
        </p:spPr>
      </p:sp>
      <p:sp>
        <p:nvSpPr>
          <p:cNvPr id="45" name="Shape 38"/>
          <p:cNvSpPr/>
          <p:nvPr/>
        </p:nvSpPr>
        <p:spPr>
          <a:xfrm>
            <a:off x="6278880" y="3236976"/>
            <a:ext cx="457200" cy="457200"/>
          </a:xfrm>
          <a:prstGeom prst="ellipse">
            <a:avLst/>
          </a:prstGeom>
          <a:solidFill>
            <a:srgbClr val="B83B2E">
              <a:alpha val="22000"/>
            </a:srgbClr>
          </a:solidFill>
          <a:ln/>
        </p:spPr>
      </p:sp>
      <p:pic>
        <p:nvPicPr>
          <p:cNvPr id="46" name="Image 5" descr="preencoded.png"/>
          <p:cNvPicPr>
            <a:picLocks noChangeAspect="1"/>
          </p:cNvPicPr>
          <p:nvPr/>
        </p:nvPicPr>
        <p:blipFill>
          <a:blip r:embed="rId9"/>
          <a:stretch>
            <a:fillRect/>
          </a:stretch>
        </p:blipFill>
        <p:spPr>
          <a:xfrm>
            <a:off x="6397752" y="3355848"/>
            <a:ext cx="219456" cy="219456"/>
          </a:xfrm>
          <a:prstGeom prst="rect">
            <a:avLst/>
          </a:prstGeom>
        </p:spPr>
      </p:pic>
      <p:sp>
        <p:nvSpPr>
          <p:cNvPr id="47" name="Text 39"/>
          <p:cNvSpPr txBox="1"/>
          <p:nvPr/>
        </p:nvSpPr>
        <p:spPr>
          <a:xfrm>
            <a:off x="7863840" y="3218688"/>
            <a:ext cx="640080" cy="457200"/>
          </a:xfrm>
          <a:prstGeom prst="rect">
            <a:avLst/>
          </a:prstGeom>
          <a:noFill/>
          <a:ln/>
        </p:spPr>
        <p:txBody>
          <a:bodyPr wrap="square" lIns="0" tIns="0" rIns="0" bIns="0" rtlCol="0" anchor="ctr"/>
          <a:lstStyle/>
          <a:p>
            <a:pPr marL="0" indent="0" algn="r">
              <a:buNone/>
            </a:pPr>
            <a:r>
              <a:rPr lang="en-US" sz="2400" b="1" dirty="0">
                <a:solidFill>
                  <a:srgbClr val="B83B2E"/>
                </a:solidFill>
                <a:latin typeface="Calibri" pitchFamily="34" charset="0"/>
                <a:ea typeface="Calibri" pitchFamily="34" charset="-122"/>
                <a:cs typeface="Calibri" pitchFamily="34" charset="-120"/>
              </a:rPr>
              <a:t>06</a:t>
            </a:r>
            <a:endParaRPr lang="en-US" sz="2400" dirty="0"/>
          </a:p>
        </p:txBody>
      </p:sp>
      <p:sp>
        <p:nvSpPr>
          <p:cNvPr id="48" name="Text 40"/>
          <p:cNvSpPr txBox="1"/>
          <p:nvPr/>
        </p:nvSpPr>
        <p:spPr>
          <a:xfrm>
            <a:off x="6278880" y="3803904"/>
            <a:ext cx="2225040" cy="27432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Project management</a:t>
            </a:r>
            <a:endParaRPr lang="en-US" sz="1350" dirty="0"/>
          </a:p>
        </p:txBody>
      </p:sp>
      <p:sp>
        <p:nvSpPr>
          <p:cNvPr id="49" name="Text 41"/>
          <p:cNvSpPr txBox="1"/>
          <p:nvPr/>
        </p:nvSpPr>
        <p:spPr>
          <a:xfrm>
            <a:off x="6278880" y="4059936"/>
            <a:ext cx="2225040" cy="384048"/>
          </a:xfrm>
          <a:prstGeom prst="rect">
            <a:avLst/>
          </a:prstGeom>
          <a:noFill/>
          <a:ln/>
        </p:spPr>
        <p:txBody>
          <a:bodyPr wrap="square" lIns="0" tIns="0" rIns="0" bIns="0" rtlCol="0" anchor="t"/>
          <a:lstStyle/>
          <a:p>
            <a:pPr marL="0" indent="0">
              <a:buNone/>
            </a:pPr>
            <a:r>
              <a:rPr lang="en-US" sz="1050" dirty="0">
                <a:solidFill>
                  <a:srgbClr val="5A6660"/>
                </a:solidFill>
                <a:latin typeface="Calibri" pitchFamily="34" charset="0"/>
                <a:ea typeface="Calibri" pitchFamily="34" charset="-122"/>
                <a:cs typeface="Calibri" pitchFamily="34" charset="-120"/>
              </a:rPr>
              <a:t>Track or update the registration, or create a project.</a:t>
            </a:r>
            <a:endParaRPr lang="en-US" sz="105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9045"/>
          </a:solidFill>
          <a:ln/>
        </p:spPr>
      </p:sp>
      <p:sp>
        <p:nvSpPr>
          <p:cNvPr id="3" name="Shape 1"/>
          <p:cNvSpPr/>
          <p:nvPr/>
        </p:nvSpPr>
        <p:spPr>
          <a:xfrm>
            <a:off x="0" y="0"/>
            <a:ext cx="1234440" cy="54864"/>
          </a:xfrm>
          <a:prstGeom prst="rect">
            <a:avLst/>
          </a:prstGeom>
          <a:solidFill>
            <a:srgbClr val="F5C242"/>
          </a:solidFill>
          <a:ln/>
        </p:spPr>
      </p:sp>
      <p:sp>
        <p:nvSpPr>
          <p:cNvPr id="4" name="Text 2"/>
          <p:cNvSpPr txBox="1"/>
          <p:nvPr/>
        </p:nvSpPr>
        <p:spPr>
          <a:xfrm>
            <a:off x="457200" y="274320"/>
            <a:ext cx="685800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WHY REGISTER NOW</a:t>
            </a:r>
          </a:p>
        </p:txBody>
      </p:sp>
      <p:sp>
        <p:nvSpPr>
          <p:cNvPr id="5" name="Text 3"/>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What your Earth Engine project will be used for</a:t>
            </a:r>
          </a:p>
        </p:txBody>
      </p:sp>
      <p:sp>
        <p:nvSpPr>
          <p:cNvPr id="6" name="Shape 4"/>
          <p:cNvSpPr/>
          <p:nvPr/>
        </p:nvSpPr>
        <p:spPr>
          <a:xfrm>
            <a:off x="7717536" y="338328"/>
            <a:ext cx="100584" cy="100584"/>
          </a:xfrm>
          <a:prstGeom prst="ellipse">
            <a:avLst/>
          </a:prstGeom>
          <a:solidFill>
            <a:srgbClr val="D3E2D7"/>
          </a:solidFill>
          <a:ln/>
        </p:spPr>
      </p:sp>
      <p:sp>
        <p:nvSpPr>
          <p:cNvPr id="7" name="Shape 5"/>
          <p:cNvSpPr/>
          <p:nvPr/>
        </p:nvSpPr>
        <p:spPr>
          <a:xfrm>
            <a:off x="7891272" y="338328"/>
            <a:ext cx="100584" cy="100584"/>
          </a:xfrm>
          <a:prstGeom prst="ellipse">
            <a:avLst/>
          </a:prstGeom>
          <a:solidFill>
            <a:srgbClr val="D3E2D7"/>
          </a:solidFill>
          <a:ln/>
        </p:spPr>
      </p:sp>
      <p:sp>
        <p:nvSpPr>
          <p:cNvPr id="8" name="Shape 6"/>
          <p:cNvSpPr/>
          <p:nvPr/>
        </p:nvSpPr>
        <p:spPr>
          <a:xfrm>
            <a:off x="8065008" y="338328"/>
            <a:ext cx="100584" cy="100584"/>
          </a:xfrm>
          <a:prstGeom prst="ellipse">
            <a:avLst/>
          </a:prstGeom>
          <a:solidFill>
            <a:srgbClr val="D3E2D7"/>
          </a:solidFill>
          <a:ln/>
        </p:spPr>
      </p:sp>
      <p:sp>
        <p:nvSpPr>
          <p:cNvPr id="9" name="Shape 7"/>
          <p:cNvSpPr/>
          <p:nvPr/>
        </p:nvSpPr>
        <p:spPr>
          <a:xfrm>
            <a:off x="8238744" y="338328"/>
            <a:ext cx="100584" cy="100584"/>
          </a:xfrm>
          <a:prstGeom prst="ellipse">
            <a:avLst/>
          </a:prstGeom>
          <a:solidFill>
            <a:srgbClr val="D3E2D7"/>
          </a:solidFill>
          <a:ln/>
        </p:spPr>
      </p:sp>
      <p:sp>
        <p:nvSpPr>
          <p:cNvPr id="10" name="Shape 8"/>
          <p:cNvSpPr/>
          <p:nvPr/>
        </p:nvSpPr>
        <p:spPr>
          <a:xfrm>
            <a:off x="8412480" y="338328"/>
            <a:ext cx="100584" cy="100584"/>
          </a:xfrm>
          <a:prstGeom prst="ellipse">
            <a:avLst/>
          </a:prstGeom>
          <a:solidFill>
            <a:srgbClr val="D3E2D7"/>
          </a:solidFill>
          <a:ln/>
        </p:spPr>
      </p:sp>
      <p:sp>
        <p:nvSpPr>
          <p:cNvPr id="11" name="Shape 9"/>
          <p:cNvSpPr/>
          <p:nvPr/>
        </p:nvSpPr>
        <p:spPr>
          <a:xfrm>
            <a:off x="8586216" y="338328"/>
            <a:ext cx="100584" cy="100584"/>
          </a:xfrm>
          <a:prstGeom prst="ellipse">
            <a:avLst/>
          </a:prstGeom>
          <a:solidFill>
            <a:srgbClr val="D3E2D7"/>
          </a:solidFill>
          <a:ln/>
        </p:spPr>
      </p:sp>
      <p:sp>
        <p:nvSpPr>
          <p:cNvPr id="12" name="Text 10"/>
          <p:cNvSpPr txBox="1"/>
          <p:nvPr/>
        </p:nvSpPr>
        <p:spPr>
          <a:xfrm>
            <a:off x="457200" y="4800600"/>
            <a:ext cx="6766560" cy="201168"/>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Registering for Google Earth Engine · AfDB – Data Innovation for Africa (DI4A)</a:t>
            </a:r>
            <a:endParaRPr lang="en-US" sz="850" dirty="0"/>
          </a:p>
        </p:txBody>
      </p:sp>
      <p:sp>
        <p:nvSpPr>
          <p:cNvPr id="13" name="Text 11"/>
          <p:cNvSpPr txBox="1"/>
          <p:nvPr/>
        </p:nvSpPr>
        <p:spPr>
          <a:xfrm>
            <a:off x="7772400" y="4800600"/>
            <a:ext cx="914400" cy="201168"/>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3</a:t>
            </a:r>
            <a:endParaRPr lang="en-US" sz="850" dirty="0"/>
          </a:p>
        </p:txBody>
      </p:sp>
      <p:sp>
        <p:nvSpPr>
          <p:cNvPr id="14" name="Shape 12"/>
          <p:cNvSpPr/>
          <p:nvPr/>
        </p:nvSpPr>
        <p:spPr>
          <a:xfrm>
            <a:off x="457200" y="1371600"/>
            <a:ext cx="8229600" cy="868680"/>
          </a:xfrm>
          <a:prstGeom prst="roundRect">
            <a:avLst>
              <a:gd name="adj" fmla="val 8421"/>
            </a:avLst>
          </a:prstGeom>
          <a:solidFill>
            <a:srgbClr val="F4F8F5"/>
          </a:solidFill>
          <a:ln w="9525">
            <a:solidFill>
              <a:srgbClr val="D3E2D7"/>
            </a:solidFill>
            <a:prstDash val="solid"/>
          </a:ln>
        </p:spPr>
      </p:sp>
      <p:sp>
        <p:nvSpPr>
          <p:cNvPr id="15" name="Shape 13"/>
          <p:cNvSpPr/>
          <p:nvPr/>
        </p:nvSpPr>
        <p:spPr>
          <a:xfrm>
            <a:off x="658368" y="1554480"/>
            <a:ext cx="502920" cy="502920"/>
          </a:xfrm>
          <a:prstGeom prst="ellipse">
            <a:avLst/>
          </a:prstGeom>
          <a:solidFill>
            <a:srgbClr val="0E5A2E">
              <a:alpha val="22000"/>
            </a:srgbClr>
          </a:solidFill>
          <a:ln/>
        </p:spPr>
      </p:sp>
      <p:pic>
        <p:nvPicPr>
          <p:cNvPr id="16" name="Image 0"/>
          <p:cNvPicPr>
            <a:picLocks noChangeAspect="1"/>
          </p:cNvPicPr>
          <p:nvPr/>
        </p:nvPicPr>
        <p:blipFill>
          <a:blip r:embed="rId4"/>
          <a:stretch>
            <a:fillRect/>
          </a:stretch>
        </p:blipFill>
        <p:spPr>
          <a:xfrm>
            <a:off x="786384" y="1682496"/>
            <a:ext cx="246888" cy="246888"/>
          </a:xfrm>
          <a:prstGeom prst="rect">
            <a:avLst/>
          </a:prstGeom>
        </p:spPr>
      </p:pic>
      <p:sp>
        <p:nvSpPr>
          <p:cNvPr id="17" name="Text 14"/>
          <p:cNvSpPr txBox="1"/>
          <p:nvPr/>
        </p:nvSpPr>
        <p:spPr>
          <a:xfrm>
            <a:off x="1371600" y="1371600"/>
            <a:ext cx="7132320" cy="86868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Night lights: measuring activity from orbit</a:t>
            </a:r>
            <a:r>
              <a:rPr lang="en-US" sz="1100" b="1" dirty="0">
                <a:solidFill>
                  <a:srgbClr val="0E5A2E"/>
                </a:solidFill>
                <a:latin typeface="Calibri" pitchFamily="34" charset="0"/>
                <a:ea typeface="Calibri" pitchFamily="34" charset="-122"/>
                <a:cs typeface="Calibri" pitchFamily="34" charset="-120"/>
              </a:rPr>
              <a:t>   Use case 1</a:t>
            </a:r>
          </a:p>
          <a:p>
            <a:pPr marL="0" indent="0">
              <a:spcBef>
                <a:spcPts val="300"/>
              </a:spcBef>
              <a:buNone/>
            </a:pPr>
            <a:r>
              <a:rPr lang="en-US" sz="1100" dirty="0">
                <a:solidFill>
                  <a:srgbClr val="5A6660"/>
                </a:solidFill>
                <a:latin typeface="Calibri" pitchFamily="34" charset="0"/>
                <a:ea typeface="Calibri" pitchFamily="34" charset="-122"/>
                <a:cs typeface="Calibri" pitchFamily="34" charset="-120"/>
              </a:rPr>
              <a:t>Download and clip NASA Black Marble monthly data; mask, aggregate, compare regions and build a national series.</a:t>
            </a:r>
          </a:p>
        </p:txBody>
      </p:sp>
      <p:sp>
        <p:nvSpPr>
          <p:cNvPr id="18" name="Shape 15"/>
          <p:cNvSpPr/>
          <p:nvPr/>
        </p:nvSpPr>
        <p:spPr>
          <a:xfrm>
            <a:off x="457200" y="2395728"/>
            <a:ext cx="8229600" cy="868680"/>
          </a:xfrm>
          <a:prstGeom prst="roundRect">
            <a:avLst>
              <a:gd name="adj" fmla="val 8421"/>
            </a:avLst>
          </a:prstGeom>
          <a:solidFill>
            <a:srgbClr val="F4F8F5"/>
          </a:solidFill>
          <a:ln w="9525">
            <a:solidFill>
              <a:srgbClr val="D3E2D7"/>
            </a:solidFill>
            <a:prstDash val="solid"/>
          </a:ln>
        </p:spPr>
      </p:sp>
      <p:sp>
        <p:nvSpPr>
          <p:cNvPr id="19" name="Shape 16"/>
          <p:cNvSpPr/>
          <p:nvPr/>
        </p:nvSpPr>
        <p:spPr>
          <a:xfrm>
            <a:off x="658368" y="2578608"/>
            <a:ext cx="502920" cy="502920"/>
          </a:xfrm>
          <a:prstGeom prst="ellipse">
            <a:avLst/>
          </a:prstGeom>
          <a:solidFill>
            <a:srgbClr val="0E5A2E">
              <a:alpha val="22000"/>
            </a:srgbClr>
          </a:solidFill>
          <a:ln/>
        </p:spPr>
      </p:sp>
      <p:pic>
        <p:nvPicPr>
          <p:cNvPr id="20" name="Image 1"/>
          <p:cNvPicPr>
            <a:picLocks noChangeAspect="1"/>
          </p:cNvPicPr>
          <p:nvPr/>
        </p:nvPicPr>
        <p:blipFill>
          <a:blip r:embed="rId5"/>
          <a:stretch>
            <a:fillRect/>
          </a:stretch>
        </p:blipFill>
        <p:spPr>
          <a:xfrm>
            <a:off x="786384" y="2706624"/>
            <a:ext cx="246888" cy="246888"/>
          </a:xfrm>
          <a:prstGeom prst="rect">
            <a:avLst/>
          </a:prstGeom>
        </p:spPr>
      </p:pic>
      <p:sp>
        <p:nvSpPr>
          <p:cNvPr id="21" name="Text 17"/>
          <p:cNvSpPr txBox="1"/>
          <p:nvPr/>
        </p:nvSpPr>
        <p:spPr>
          <a:xfrm>
            <a:off x="1371600" y="2395728"/>
            <a:ext cx="7132320" cy="86868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Night lights in practice: what they have measured</a:t>
            </a:r>
            <a:r>
              <a:rPr lang="en-US" sz="1100" b="1" dirty="0">
                <a:solidFill>
                  <a:srgbClr val="0E5A2E"/>
                </a:solidFill>
                <a:latin typeface="Calibri" pitchFamily="34" charset="0"/>
                <a:ea typeface="Calibri" pitchFamily="34" charset="-122"/>
                <a:cs typeface="Calibri" pitchFamily="34" charset="-120"/>
              </a:rPr>
              <a:t>   Use case 2</a:t>
            </a:r>
          </a:p>
          <a:p>
            <a:pPr marL="0" indent="0">
              <a:spcBef>
                <a:spcPts val="300"/>
              </a:spcBef>
              <a:buNone/>
            </a:pPr>
            <a:r>
              <a:rPr lang="en-US" sz="1100" dirty="0">
                <a:solidFill>
                  <a:srgbClr val="5A6660"/>
                </a:solidFill>
                <a:latin typeface="Calibri" pitchFamily="34" charset="0"/>
                <a:ea typeface="Calibri" pitchFamily="34" charset="-122"/>
                <a:cs typeface="Calibri" pitchFamily="34" charset="-120"/>
              </a:rPr>
              <a:t>Review common applications, assess how proxy indicators are validated, and replicate one application.</a:t>
            </a:r>
          </a:p>
        </p:txBody>
      </p:sp>
      <p:sp>
        <p:nvSpPr>
          <p:cNvPr id="22" name="Shape 18"/>
          <p:cNvSpPr/>
          <p:nvPr/>
        </p:nvSpPr>
        <p:spPr>
          <a:xfrm>
            <a:off x="457200" y="3419856"/>
            <a:ext cx="8229600" cy="868680"/>
          </a:xfrm>
          <a:prstGeom prst="roundRect">
            <a:avLst>
              <a:gd name="adj" fmla="val 8421"/>
            </a:avLst>
          </a:prstGeom>
          <a:solidFill>
            <a:srgbClr val="F4F8F5"/>
          </a:solidFill>
          <a:ln w="9525">
            <a:solidFill>
              <a:srgbClr val="D3E2D7"/>
            </a:solidFill>
            <a:prstDash val="solid"/>
          </a:ln>
        </p:spPr>
      </p:sp>
      <p:sp>
        <p:nvSpPr>
          <p:cNvPr id="23" name="Shape 19"/>
          <p:cNvSpPr/>
          <p:nvPr/>
        </p:nvSpPr>
        <p:spPr>
          <a:xfrm>
            <a:off x="658368" y="3602736"/>
            <a:ext cx="502920" cy="502920"/>
          </a:xfrm>
          <a:prstGeom prst="ellipse">
            <a:avLst/>
          </a:prstGeom>
          <a:solidFill>
            <a:srgbClr val="0E5A2E">
              <a:alpha val="22000"/>
            </a:srgbClr>
          </a:solidFill>
          <a:ln/>
        </p:spPr>
      </p:sp>
      <p:pic>
        <p:nvPicPr>
          <p:cNvPr id="24" name="Image 2"/>
          <p:cNvPicPr>
            <a:picLocks noChangeAspect="1"/>
          </p:cNvPicPr>
          <p:nvPr/>
        </p:nvPicPr>
        <p:blipFill>
          <a:blip r:embed="rId6"/>
          <a:stretch>
            <a:fillRect/>
          </a:stretch>
        </p:blipFill>
        <p:spPr>
          <a:xfrm>
            <a:off x="786384" y="3730752"/>
            <a:ext cx="246888" cy="246888"/>
          </a:xfrm>
          <a:prstGeom prst="rect">
            <a:avLst/>
          </a:prstGeom>
        </p:spPr>
      </p:pic>
      <p:sp>
        <p:nvSpPr>
          <p:cNvPr id="25" name="Text 20"/>
          <p:cNvSpPr txBox="1"/>
          <p:nvPr/>
        </p:nvSpPr>
        <p:spPr>
          <a:xfrm>
            <a:off x="1371600" y="3419856"/>
            <a:ext cx="7132320" cy="86868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Using geospatial tools and data</a:t>
            </a:r>
            <a:r>
              <a:rPr lang="en-US" sz="1100" b="1" dirty="0">
                <a:solidFill>
                  <a:srgbClr val="0E5A2E"/>
                </a:solidFill>
                <a:latin typeface="Calibri" pitchFamily="34" charset="0"/>
                <a:ea typeface="Calibri" pitchFamily="34" charset="-122"/>
                <a:cs typeface="Calibri" pitchFamily="34" charset="-120"/>
              </a:rPr>
              <a:t>   Use case 3</a:t>
            </a:r>
          </a:p>
          <a:p>
            <a:pPr marL="0" indent="0">
              <a:spcBef>
                <a:spcPts val="300"/>
              </a:spcBef>
              <a:buNone/>
            </a:pPr>
            <a:r>
              <a:rPr lang="en-US" sz="1100" dirty="0">
                <a:solidFill>
                  <a:srgbClr val="5A6660"/>
                </a:solidFill>
                <a:latin typeface="Calibri" pitchFamily="34" charset="0"/>
                <a:ea typeface="Calibri" pitchFamily="34" charset="-122"/>
                <a:cs typeface="Calibri" pitchFamily="34" charset="-120"/>
              </a:rPr>
              <a:t>Cropland statistics for agriculture; land cover classification and land-use analysis.</a:t>
            </a:r>
          </a:p>
        </p:txBody>
      </p:sp>
      <p:sp>
        <p:nvSpPr>
          <p:cNvPr id="26" name="Text 21"/>
          <p:cNvSpPr txBox="1"/>
          <p:nvPr/>
        </p:nvSpPr>
        <p:spPr>
          <a:xfrm>
            <a:off x="457200" y="4480560"/>
            <a:ext cx="8229600" cy="182880"/>
          </a:xfrm>
          <a:prstGeom prst="rect">
            <a:avLst/>
          </a:prstGeom>
          <a:noFill/>
          <a:ln/>
        </p:spPr>
        <p:txBody>
          <a:bodyPr wrap="square" lIns="0" tIns="0" rIns="0" bIns="0" rtlCol="0" anchor="ctr"/>
          <a:lstStyle/>
          <a:p>
            <a:pPr marL="0" indent="0">
              <a:buNone/>
            </a:pPr>
            <a:r>
              <a:rPr lang="en-US" sz="900" i="1" dirty="0">
                <a:solidFill>
                  <a:srgbClr val="5A6660"/>
                </a:solidFill>
                <a:latin typeface="Calibri" pitchFamily="34" charset="0"/>
                <a:ea typeface="Calibri" pitchFamily="34" charset="-122"/>
                <a:cs typeface="Calibri" pitchFamily="34" charset="-120"/>
              </a:rPr>
              <a:t>Register in advance so your Earth Engine project is ready before the hands-on sessions.</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5029200" cy="274320"/>
          </a:xfrm>
          <a:prstGeom prst="rect">
            <a:avLst/>
          </a:prstGeom>
          <a:noFill/>
          <a:ln/>
        </p:spPr>
        <p:txBody>
          <a:bodyPr wrap="square" lIns="0" tIns="0" rIns="0" bIns="0" rtlCol="0" anchor="ctr"/>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01 · STEP 1 OF 6</a:t>
            </a:r>
            <a:endParaRPr lang="en-US" sz="1050" dirty="0"/>
          </a:p>
        </p:txBody>
      </p:sp>
      <p:sp>
        <p:nvSpPr>
          <p:cNvPr id="3" name="Text 1"/>
          <p:cNvSpPr txBox="1"/>
          <p:nvPr/>
        </p:nvSpPr>
        <p:spPr>
          <a:xfrm>
            <a:off x="548640" y="1143000"/>
            <a:ext cx="2743200" cy="1188720"/>
          </a:xfrm>
          <a:prstGeom prst="rect">
            <a:avLst/>
          </a:prstGeom>
          <a:noFill/>
          <a:ln/>
        </p:spPr>
        <p:txBody>
          <a:bodyPr wrap="square" lIns="0" tIns="0" rIns="0" bIns="0" rtlCol="0" anchor="ctr"/>
          <a:lstStyle/>
          <a:p>
            <a:pPr marL="0" indent="0">
              <a:buNone/>
            </a:pPr>
            <a:r>
              <a:rPr lang="en-US" sz="8800" b="1" dirty="0">
                <a:solidFill>
                  <a:srgbClr val="F5C242"/>
                </a:solidFill>
                <a:latin typeface="Calibri" pitchFamily="34" charset="0"/>
                <a:ea typeface="Calibri" pitchFamily="34" charset="-122"/>
                <a:cs typeface="Calibri" pitchFamily="34" charset="-120"/>
              </a:rPr>
              <a:t>01</a:t>
            </a:r>
            <a:endParaRPr lang="en-US" sz="8800" dirty="0"/>
          </a:p>
        </p:txBody>
      </p:sp>
      <p:sp>
        <p:nvSpPr>
          <p:cNvPr id="4" name="Text 2"/>
          <p:cNvSpPr txBox="1"/>
          <p:nvPr/>
        </p:nvSpPr>
        <p:spPr>
          <a:xfrm>
            <a:off x="548640" y="2423160"/>
            <a:ext cx="4937760" cy="6858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Organization type</a:t>
            </a:r>
            <a:endParaRPr lang="en-US" sz="3600" dirty="0"/>
          </a:p>
        </p:txBody>
      </p:sp>
      <p:sp>
        <p:nvSpPr>
          <p:cNvPr id="5" name="Text 3"/>
          <p:cNvSpPr txBox="1"/>
          <p:nvPr/>
        </p:nvSpPr>
        <p:spPr>
          <a:xfrm>
            <a:off x="548640" y="3154680"/>
            <a:ext cx="5120640" cy="457200"/>
          </a:xfrm>
          <a:prstGeom prst="rect">
            <a:avLst/>
          </a:prstGeom>
          <a:noFill/>
          <a:ln/>
        </p:spPr>
        <p:txBody>
          <a:bodyPr wrap="square" lIns="0" tIns="0" rIns="0" bIns="0" rtlCol="0" anchor="t"/>
          <a:lstStyle/>
          <a:p>
            <a:pPr marL="0" indent="0">
              <a:buNone/>
            </a:pPr>
            <a:r>
              <a:rPr lang="en-US" sz="1600" i="1" dirty="0">
                <a:solidFill>
                  <a:srgbClr val="E8F4EB"/>
                </a:solidFill>
                <a:latin typeface="Calibri" pitchFamily="34" charset="0"/>
                <a:ea typeface="Calibri" pitchFamily="34" charset="-122"/>
                <a:cs typeface="Calibri" pitchFamily="34" charset="-120"/>
              </a:rPr>
              <a:t>What kind of organization do you represent?</a:t>
            </a:r>
            <a:endParaRPr lang="en-US" sz="1600" dirty="0"/>
          </a:p>
        </p:txBody>
      </p:sp>
      <p:sp>
        <p:nvSpPr>
          <p:cNvPr id="6" name="Shape 4"/>
          <p:cNvSpPr/>
          <p:nvPr/>
        </p:nvSpPr>
        <p:spPr>
          <a:xfrm>
            <a:off x="5577840" y="868680"/>
            <a:ext cx="3017520" cy="3017520"/>
          </a:xfrm>
          <a:prstGeom prst="ellipse">
            <a:avLst/>
          </a:prstGeom>
          <a:solidFill>
            <a:srgbClr val="FFFFFF">
              <a:alpha val="12000"/>
            </a:srgbClr>
          </a:solidFill>
          <a:ln w="9525">
            <a:solidFill>
              <a:srgbClr val="FFFFFF">
                <a:alpha val="40000"/>
              </a:srgbClr>
            </a:solidFill>
            <a:prstDash val="solid"/>
          </a:ln>
        </p:spPr>
      </p:sp>
      <p:sp>
        <p:nvSpPr>
          <p:cNvPr id="7" name="Shape 5"/>
          <p:cNvSpPr/>
          <p:nvPr/>
        </p:nvSpPr>
        <p:spPr>
          <a:xfrm>
            <a:off x="5989320" y="1280160"/>
            <a:ext cx="2194560" cy="2194560"/>
          </a:xfrm>
          <a:prstGeom prst="ellipse">
            <a:avLst/>
          </a:prstGeom>
          <a:solidFill>
            <a:srgbClr val="FFFFFF">
              <a:alpha val="22000"/>
            </a:srgbClr>
          </a:solidFill>
          <a:ln w="9525">
            <a:solidFill>
              <a:srgbClr val="FFFFFF">
                <a:alpha val="40000"/>
              </a:srgbClr>
            </a:solidFill>
            <a:prstDash val="solid"/>
          </a:ln>
        </p:spPr>
      </p:sp>
      <p:sp>
        <p:nvSpPr>
          <p:cNvPr id="8" name="Shape 6"/>
          <p:cNvSpPr/>
          <p:nvPr/>
        </p:nvSpPr>
        <p:spPr>
          <a:xfrm>
            <a:off x="6373368" y="1664208"/>
            <a:ext cx="1426464" cy="1426464"/>
          </a:xfrm>
          <a:prstGeom prst="ellipse">
            <a:avLst/>
          </a:prstGeom>
          <a:solidFill>
            <a:srgbClr val="FFFFFF"/>
          </a:solidFill>
          <a:ln/>
        </p:spPr>
      </p:sp>
      <p:pic>
        <p:nvPicPr>
          <p:cNvPr id="9" name="Image 0" descr="preencoded.png"/>
          <p:cNvPicPr>
            <a:picLocks noChangeAspect="1"/>
          </p:cNvPicPr>
          <p:nvPr/>
        </p:nvPicPr>
        <p:blipFill>
          <a:blip r:embed="rId4"/>
          <a:stretch>
            <a:fillRect/>
          </a:stretch>
        </p:blipFill>
        <p:spPr>
          <a:xfrm>
            <a:off x="6757416" y="2048256"/>
            <a:ext cx="658368" cy="658368"/>
          </a:xfrm>
          <a:prstGeom prst="rect">
            <a:avLst/>
          </a:prstGeom>
        </p:spPr>
      </p:pic>
      <p:sp>
        <p:nvSpPr>
          <p:cNvPr id="10" name="Shape 7"/>
          <p:cNvSpPr/>
          <p:nvPr/>
        </p:nvSpPr>
        <p:spPr>
          <a:xfrm>
            <a:off x="548640" y="4160520"/>
            <a:ext cx="118872" cy="118872"/>
          </a:xfrm>
          <a:prstGeom prst="ellipse">
            <a:avLst/>
          </a:prstGeom>
          <a:solidFill>
            <a:srgbClr val="F5C242"/>
          </a:solidFill>
          <a:ln/>
        </p:spPr>
      </p:sp>
      <p:sp>
        <p:nvSpPr>
          <p:cNvPr id="11" name="Shape 8"/>
          <p:cNvSpPr/>
          <p:nvPr/>
        </p:nvSpPr>
        <p:spPr>
          <a:xfrm>
            <a:off x="768096" y="4160520"/>
            <a:ext cx="118872" cy="118872"/>
          </a:xfrm>
          <a:prstGeom prst="ellipse">
            <a:avLst/>
          </a:prstGeom>
          <a:solidFill>
            <a:srgbClr val="FFFFFF">
              <a:alpha val="40000"/>
            </a:srgbClr>
          </a:solidFill>
          <a:ln/>
        </p:spPr>
      </p:sp>
      <p:sp>
        <p:nvSpPr>
          <p:cNvPr id="12" name="Shape 9"/>
          <p:cNvSpPr/>
          <p:nvPr/>
        </p:nvSpPr>
        <p:spPr>
          <a:xfrm>
            <a:off x="987552" y="4160520"/>
            <a:ext cx="118872" cy="118872"/>
          </a:xfrm>
          <a:prstGeom prst="ellipse">
            <a:avLst/>
          </a:prstGeom>
          <a:solidFill>
            <a:srgbClr val="FFFFFF">
              <a:alpha val="40000"/>
            </a:srgbClr>
          </a:solidFill>
          <a:ln/>
        </p:spPr>
      </p:sp>
      <p:sp>
        <p:nvSpPr>
          <p:cNvPr id="13" name="Shape 10"/>
          <p:cNvSpPr/>
          <p:nvPr/>
        </p:nvSpPr>
        <p:spPr>
          <a:xfrm>
            <a:off x="1207008" y="4160520"/>
            <a:ext cx="118872" cy="118872"/>
          </a:xfrm>
          <a:prstGeom prst="ellipse">
            <a:avLst/>
          </a:prstGeom>
          <a:solidFill>
            <a:srgbClr val="FFFFFF">
              <a:alpha val="40000"/>
            </a:srgbClr>
          </a:solidFill>
          <a:ln/>
        </p:spPr>
      </p:sp>
      <p:sp>
        <p:nvSpPr>
          <p:cNvPr id="14" name="Shape 11"/>
          <p:cNvSpPr/>
          <p:nvPr/>
        </p:nvSpPr>
        <p:spPr>
          <a:xfrm>
            <a:off x="1426464" y="4160520"/>
            <a:ext cx="118872" cy="118872"/>
          </a:xfrm>
          <a:prstGeom prst="ellipse">
            <a:avLst/>
          </a:prstGeom>
          <a:solidFill>
            <a:srgbClr val="FFFFFF">
              <a:alpha val="40000"/>
            </a:srgbClr>
          </a:solidFill>
          <a:ln/>
        </p:spPr>
      </p:sp>
      <p:sp>
        <p:nvSpPr>
          <p:cNvPr id="15" name="Shape 12"/>
          <p:cNvSpPr/>
          <p:nvPr/>
        </p:nvSpPr>
        <p:spPr>
          <a:xfrm>
            <a:off x="1645920" y="4160520"/>
            <a:ext cx="118872" cy="118872"/>
          </a:xfrm>
          <a:prstGeom prst="ellipse">
            <a:avLst/>
          </a:prstGeom>
          <a:solidFill>
            <a:srgbClr val="FFFFFF">
              <a:alpha val="40000"/>
            </a:srgbClr>
          </a:solidFill>
          <a:ln/>
        </p:spPr>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9045"/>
          </a:solidFill>
          <a:ln/>
        </p:spPr>
      </p:sp>
      <p:sp>
        <p:nvSpPr>
          <p:cNvPr id="3" name="Shape 1"/>
          <p:cNvSpPr/>
          <p:nvPr/>
        </p:nvSpPr>
        <p:spPr>
          <a:xfrm>
            <a:off x="0" y="0"/>
            <a:ext cx="1234440" cy="54864"/>
          </a:xfrm>
          <a:prstGeom prst="rect">
            <a:avLst/>
          </a:prstGeom>
          <a:solidFill>
            <a:srgbClr val="F5C242"/>
          </a:solidFill>
          <a:ln/>
        </p:spPr>
      </p:sp>
      <p:sp>
        <p:nvSpPr>
          <p:cNvPr id="4" name="Text 2"/>
          <p:cNvSpPr txBox="1"/>
          <p:nvPr/>
        </p:nvSpPr>
        <p:spPr>
          <a:xfrm>
            <a:off x="457200" y="274320"/>
            <a:ext cx="685800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01 · ORGANIZATION TYPE</a:t>
            </a:r>
            <a:endParaRPr lang="en-US" sz="1050" dirty="0"/>
          </a:p>
        </p:txBody>
      </p:sp>
      <p:sp>
        <p:nvSpPr>
          <p:cNvPr id="5" name="Text 3"/>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Select your organization type</a:t>
            </a:r>
            <a:endParaRPr lang="en-US" sz="2800" dirty="0"/>
          </a:p>
        </p:txBody>
      </p:sp>
      <p:sp>
        <p:nvSpPr>
          <p:cNvPr id="6" name="Shape 4"/>
          <p:cNvSpPr/>
          <p:nvPr/>
        </p:nvSpPr>
        <p:spPr>
          <a:xfrm>
            <a:off x="7717536" y="338328"/>
            <a:ext cx="100584" cy="100584"/>
          </a:xfrm>
          <a:prstGeom prst="ellipse">
            <a:avLst/>
          </a:prstGeom>
          <a:solidFill>
            <a:srgbClr val="2C9045"/>
          </a:solidFill>
          <a:ln/>
        </p:spPr>
      </p:sp>
      <p:sp>
        <p:nvSpPr>
          <p:cNvPr id="7" name="Shape 5"/>
          <p:cNvSpPr/>
          <p:nvPr/>
        </p:nvSpPr>
        <p:spPr>
          <a:xfrm>
            <a:off x="7891272" y="338328"/>
            <a:ext cx="100584" cy="100584"/>
          </a:xfrm>
          <a:prstGeom prst="ellipse">
            <a:avLst/>
          </a:prstGeom>
          <a:solidFill>
            <a:srgbClr val="D3E2D7"/>
          </a:solidFill>
          <a:ln/>
        </p:spPr>
      </p:sp>
      <p:sp>
        <p:nvSpPr>
          <p:cNvPr id="8" name="Shape 6"/>
          <p:cNvSpPr/>
          <p:nvPr/>
        </p:nvSpPr>
        <p:spPr>
          <a:xfrm>
            <a:off x="8065008" y="338328"/>
            <a:ext cx="100584" cy="100584"/>
          </a:xfrm>
          <a:prstGeom prst="ellipse">
            <a:avLst/>
          </a:prstGeom>
          <a:solidFill>
            <a:srgbClr val="D3E2D7"/>
          </a:solidFill>
          <a:ln/>
        </p:spPr>
      </p:sp>
      <p:sp>
        <p:nvSpPr>
          <p:cNvPr id="9" name="Shape 7"/>
          <p:cNvSpPr/>
          <p:nvPr/>
        </p:nvSpPr>
        <p:spPr>
          <a:xfrm>
            <a:off x="8238744" y="338328"/>
            <a:ext cx="100584" cy="100584"/>
          </a:xfrm>
          <a:prstGeom prst="ellipse">
            <a:avLst/>
          </a:prstGeom>
          <a:solidFill>
            <a:srgbClr val="D3E2D7"/>
          </a:solidFill>
          <a:ln/>
        </p:spPr>
      </p:sp>
      <p:sp>
        <p:nvSpPr>
          <p:cNvPr id="10" name="Shape 8"/>
          <p:cNvSpPr/>
          <p:nvPr/>
        </p:nvSpPr>
        <p:spPr>
          <a:xfrm>
            <a:off x="8412480" y="338328"/>
            <a:ext cx="100584" cy="100584"/>
          </a:xfrm>
          <a:prstGeom prst="ellipse">
            <a:avLst/>
          </a:prstGeom>
          <a:solidFill>
            <a:srgbClr val="D3E2D7"/>
          </a:solidFill>
          <a:ln/>
        </p:spPr>
      </p:sp>
      <p:sp>
        <p:nvSpPr>
          <p:cNvPr id="11" name="Shape 9"/>
          <p:cNvSpPr/>
          <p:nvPr/>
        </p:nvSpPr>
        <p:spPr>
          <a:xfrm>
            <a:off x="8586216" y="338328"/>
            <a:ext cx="100584" cy="100584"/>
          </a:xfrm>
          <a:prstGeom prst="ellipse">
            <a:avLst/>
          </a:prstGeom>
          <a:solidFill>
            <a:srgbClr val="D3E2D7"/>
          </a:solidFill>
          <a:ln/>
        </p:spPr>
      </p:sp>
      <p:sp>
        <p:nvSpPr>
          <p:cNvPr id="12" name="Text 10"/>
          <p:cNvSpPr txBox="1"/>
          <p:nvPr/>
        </p:nvSpPr>
        <p:spPr>
          <a:xfrm>
            <a:off x="457200" y="4800600"/>
            <a:ext cx="6766560" cy="201168"/>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Registering for Google Earth Engine · AfDB – Data Innovation for Africa (DI4A)</a:t>
            </a:r>
            <a:endParaRPr lang="en-US" sz="850" dirty="0"/>
          </a:p>
        </p:txBody>
      </p:sp>
      <p:sp>
        <p:nvSpPr>
          <p:cNvPr id="13" name="Text 11"/>
          <p:cNvSpPr txBox="1"/>
          <p:nvPr/>
        </p:nvSpPr>
        <p:spPr>
          <a:xfrm>
            <a:off x="7772400" y="4800600"/>
            <a:ext cx="914400" cy="201168"/>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5</a:t>
            </a:r>
            <a:endParaRPr lang="en-US" sz="850" dirty="0"/>
          </a:p>
        </p:txBody>
      </p:sp>
      <p:sp>
        <p:nvSpPr>
          <p:cNvPr id="14" name="Shape 12"/>
          <p:cNvSpPr/>
          <p:nvPr/>
        </p:nvSpPr>
        <p:spPr>
          <a:xfrm>
            <a:off x="411480" y="1325880"/>
            <a:ext cx="5760720" cy="3005887"/>
          </a:xfrm>
          <a:prstGeom prst="roundRect">
            <a:avLst>
              <a:gd name="adj" fmla="val 1825"/>
            </a:avLst>
          </a:prstGeom>
          <a:solidFill>
            <a:srgbClr val="FFFFFF"/>
          </a:solidFill>
          <a:ln w="9525">
            <a:solidFill>
              <a:srgbClr val="D3E2D7"/>
            </a:solidFill>
            <a:prstDash val="solid"/>
          </a:ln>
          <a:effectLst>
            <a:outerShdw blurRad="76200" dist="25400" dir="5400000" algn="bl" rotWithShape="0">
              <a:srgbClr val="000000">
                <a:alpha val="12000"/>
              </a:srgbClr>
            </a:outerShdw>
          </a:effectLst>
        </p:spPr>
      </p:sp>
      <p:pic>
        <p:nvPicPr>
          <p:cNvPr id="15" name="Image 0" descr="Google Cloud console screenshot 1"/>
          <p:cNvPicPr>
            <a:picLocks noChangeAspect="1"/>
          </p:cNvPicPr>
          <p:nvPr/>
        </p:nvPicPr>
        <p:blipFill>
          <a:blip r:embed="rId4"/>
          <a:stretch>
            <a:fillRect/>
          </a:stretch>
        </p:blipFill>
        <p:spPr>
          <a:xfrm>
            <a:off x="457200" y="1371600"/>
            <a:ext cx="5669280" cy="2914447"/>
          </a:xfrm>
          <a:prstGeom prst="rect">
            <a:avLst/>
          </a:prstGeom>
        </p:spPr>
      </p:pic>
      <p:sp>
        <p:nvSpPr>
          <p:cNvPr id="16" name="Shape 13"/>
          <p:cNvSpPr/>
          <p:nvPr/>
        </p:nvSpPr>
        <p:spPr>
          <a:xfrm>
            <a:off x="6400800" y="1389888"/>
            <a:ext cx="274320" cy="274320"/>
          </a:xfrm>
          <a:prstGeom prst="ellipse">
            <a:avLst/>
          </a:prstGeom>
          <a:solidFill>
            <a:srgbClr val="2C9045">
              <a:alpha val="22000"/>
            </a:srgbClr>
          </a:solidFill>
          <a:ln/>
        </p:spPr>
      </p:sp>
      <p:sp>
        <p:nvSpPr>
          <p:cNvPr id="17" name="Text 14"/>
          <p:cNvSpPr txBox="1"/>
          <p:nvPr/>
        </p:nvSpPr>
        <p:spPr>
          <a:xfrm>
            <a:off x="6400800" y="1389888"/>
            <a:ext cx="274320" cy="274320"/>
          </a:xfrm>
          <a:prstGeom prst="rect">
            <a:avLst/>
          </a:prstGeom>
          <a:noFill/>
          <a:ln/>
        </p:spPr>
        <p:txBody>
          <a:bodyPr wrap="square" lIns="0" tIns="0" rIns="0" bIns="0" rtlCol="0" anchor="ctr"/>
          <a:lstStyle/>
          <a:p>
            <a:pPr marL="0" indent="0" algn="ctr">
              <a:buNone/>
            </a:pPr>
            <a:r>
              <a:rPr lang="en-US" sz="1100" b="1" dirty="0">
                <a:solidFill>
                  <a:srgbClr val="2C9045"/>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6784848" y="1371600"/>
            <a:ext cx="1901952" cy="566928"/>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In </a:t>
            </a:r>
            <a:r>
              <a:rPr lang="en-US" sz="1150" b="1" dirty="0">
                <a:solidFill>
                  <a:srgbClr val="231F20"/>
                </a:solidFill>
                <a:latin typeface="Calibri" pitchFamily="34" charset="0"/>
                <a:ea typeface="Calibri" pitchFamily="34" charset="-122"/>
                <a:cs typeface="Calibri" pitchFamily="34" charset="-120"/>
              </a:rPr>
              <a:t>Earth Engine › Configuration</a:t>
            </a:r>
            <a:r>
              <a:rPr lang="en-US" sz="1150" dirty="0">
                <a:solidFill>
                  <a:srgbClr val="231F20"/>
                </a:solidFill>
                <a:latin typeface="Calibri" pitchFamily="34" charset="0"/>
                <a:ea typeface="Calibri" pitchFamily="34" charset="-122"/>
                <a:cs typeface="Calibri" pitchFamily="34" charset="-120"/>
              </a:rPr>
              <a:t>, click </a:t>
            </a:r>
            <a:r>
              <a:rPr lang="en-US" sz="1150" b="1" dirty="0">
                <a:solidFill>
                  <a:srgbClr val="231F20"/>
                </a:solidFill>
                <a:latin typeface="Calibri" pitchFamily="34" charset="0"/>
                <a:ea typeface="Calibri" pitchFamily="34" charset="-122"/>
                <a:cs typeface="Calibri" pitchFamily="34" charset="-120"/>
              </a:rPr>
              <a:t>Register</a:t>
            </a:r>
            <a:r>
              <a:rPr lang="en-US" sz="1150" dirty="0">
                <a:solidFill>
                  <a:srgbClr val="231F20"/>
                </a:solidFill>
                <a:latin typeface="Calibri" pitchFamily="34" charset="0"/>
                <a:ea typeface="Calibri" pitchFamily="34" charset="-122"/>
                <a:cs typeface="Calibri" pitchFamily="34" charset="-120"/>
              </a:rPr>
              <a:t>.</a:t>
            </a:r>
            <a:endParaRPr lang="en-US" sz="1150" dirty="0"/>
          </a:p>
        </p:txBody>
      </p:sp>
      <p:sp>
        <p:nvSpPr>
          <p:cNvPr id="19" name="Shape 16"/>
          <p:cNvSpPr/>
          <p:nvPr/>
        </p:nvSpPr>
        <p:spPr>
          <a:xfrm>
            <a:off x="6400800" y="2084832"/>
            <a:ext cx="274320" cy="274320"/>
          </a:xfrm>
          <a:prstGeom prst="ellipse">
            <a:avLst/>
          </a:prstGeom>
          <a:solidFill>
            <a:srgbClr val="2C9045">
              <a:alpha val="22000"/>
            </a:srgbClr>
          </a:solidFill>
          <a:ln/>
        </p:spPr>
      </p:sp>
      <p:sp>
        <p:nvSpPr>
          <p:cNvPr id="20" name="Text 17"/>
          <p:cNvSpPr txBox="1"/>
          <p:nvPr/>
        </p:nvSpPr>
        <p:spPr>
          <a:xfrm>
            <a:off x="6400800" y="2084832"/>
            <a:ext cx="274320" cy="274320"/>
          </a:xfrm>
          <a:prstGeom prst="rect">
            <a:avLst/>
          </a:prstGeom>
          <a:noFill/>
          <a:ln/>
        </p:spPr>
        <p:txBody>
          <a:bodyPr wrap="square" lIns="0" tIns="0" rIns="0" bIns="0" rtlCol="0" anchor="ctr"/>
          <a:lstStyle/>
          <a:p>
            <a:pPr marL="0" indent="0" algn="ctr">
              <a:buNone/>
            </a:pPr>
            <a:r>
              <a:rPr lang="en-US" sz="1100" b="1" dirty="0">
                <a:solidFill>
                  <a:srgbClr val="2C9045"/>
                </a:solidFill>
                <a:latin typeface="Calibri" pitchFamily="34" charset="0"/>
                <a:ea typeface="Calibri" pitchFamily="34" charset="-122"/>
                <a:cs typeface="Calibri" pitchFamily="34" charset="-120"/>
              </a:rPr>
              <a:t>2</a:t>
            </a:r>
            <a:endParaRPr lang="en-US" sz="1100" dirty="0"/>
          </a:p>
        </p:txBody>
      </p:sp>
      <p:sp>
        <p:nvSpPr>
          <p:cNvPr id="21" name="Text 18"/>
          <p:cNvSpPr txBox="1"/>
          <p:nvPr/>
        </p:nvSpPr>
        <p:spPr>
          <a:xfrm>
            <a:off x="6784848" y="2066544"/>
            <a:ext cx="1901952" cy="4114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Pick the type from the list — here </a:t>
            </a:r>
            <a:r>
              <a:rPr lang="en-US" sz="1150" b="1" dirty="0">
                <a:solidFill>
                  <a:srgbClr val="231F20"/>
                </a:solidFill>
                <a:latin typeface="Calibri" pitchFamily="34" charset="0"/>
                <a:ea typeface="Calibri" pitchFamily="34" charset="-122"/>
                <a:cs typeface="Calibri" pitchFamily="34" charset="-120"/>
              </a:rPr>
              <a:t>Nonprofit</a:t>
            </a:r>
            <a:r>
              <a:rPr lang="en-US" sz="1150" dirty="0">
                <a:solidFill>
                  <a:srgbClr val="231F20"/>
                </a:solidFill>
                <a:latin typeface="Calibri" pitchFamily="34" charset="0"/>
                <a:ea typeface="Calibri" pitchFamily="34" charset="-122"/>
                <a:cs typeface="Calibri" pitchFamily="34" charset="-120"/>
              </a:rPr>
              <a:t>.</a:t>
            </a:r>
            <a:endParaRPr lang="en-US" sz="1150" dirty="0"/>
          </a:p>
        </p:txBody>
      </p:sp>
      <p:sp>
        <p:nvSpPr>
          <p:cNvPr id="22" name="Shape 19"/>
          <p:cNvSpPr/>
          <p:nvPr/>
        </p:nvSpPr>
        <p:spPr>
          <a:xfrm>
            <a:off x="6400800" y="2624328"/>
            <a:ext cx="274320" cy="274320"/>
          </a:xfrm>
          <a:prstGeom prst="ellipse">
            <a:avLst/>
          </a:prstGeom>
          <a:solidFill>
            <a:srgbClr val="2C9045">
              <a:alpha val="22000"/>
            </a:srgbClr>
          </a:solidFill>
          <a:ln/>
        </p:spPr>
      </p:sp>
      <p:sp>
        <p:nvSpPr>
          <p:cNvPr id="23" name="Text 20"/>
          <p:cNvSpPr txBox="1"/>
          <p:nvPr/>
        </p:nvSpPr>
        <p:spPr>
          <a:xfrm>
            <a:off x="6400800" y="2624328"/>
            <a:ext cx="274320" cy="274320"/>
          </a:xfrm>
          <a:prstGeom prst="rect">
            <a:avLst/>
          </a:prstGeom>
          <a:noFill/>
          <a:ln/>
        </p:spPr>
        <p:txBody>
          <a:bodyPr wrap="square" lIns="0" tIns="0" rIns="0" bIns="0" rtlCol="0" anchor="ctr"/>
          <a:lstStyle/>
          <a:p>
            <a:pPr marL="0" indent="0" algn="ctr">
              <a:buNone/>
            </a:pPr>
            <a:r>
              <a:rPr lang="en-US" sz="1100" b="1" dirty="0">
                <a:solidFill>
                  <a:srgbClr val="2C9045"/>
                </a:solidFill>
                <a:latin typeface="Calibri" pitchFamily="34" charset="0"/>
                <a:ea typeface="Calibri" pitchFamily="34" charset="-122"/>
                <a:cs typeface="Calibri" pitchFamily="34" charset="-120"/>
              </a:rPr>
              <a:t>3</a:t>
            </a:r>
            <a:endParaRPr lang="en-US" sz="1100" dirty="0"/>
          </a:p>
        </p:txBody>
      </p:sp>
      <p:sp>
        <p:nvSpPr>
          <p:cNvPr id="24" name="Text 21"/>
          <p:cNvSpPr txBox="1"/>
          <p:nvPr/>
        </p:nvSpPr>
        <p:spPr>
          <a:xfrm>
            <a:off x="6784848" y="2606040"/>
            <a:ext cx="1901952" cy="4114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Click </a:t>
            </a:r>
            <a:r>
              <a:rPr lang="en-US" sz="1150" b="1" dirty="0">
                <a:solidFill>
                  <a:srgbClr val="231F20"/>
                </a:solidFill>
                <a:latin typeface="Calibri" pitchFamily="34" charset="0"/>
                <a:ea typeface="Calibri" pitchFamily="34" charset="-122"/>
                <a:cs typeface="Calibri" pitchFamily="34" charset="-120"/>
              </a:rPr>
              <a:t>Next</a:t>
            </a:r>
            <a:r>
              <a:rPr lang="en-US" sz="1150" dirty="0">
                <a:solidFill>
                  <a:srgbClr val="231F20"/>
                </a:solidFill>
                <a:latin typeface="Calibri" pitchFamily="34" charset="0"/>
                <a:ea typeface="Calibri" pitchFamily="34" charset="-122"/>
                <a:cs typeface="Calibri" pitchFamily="34" charset="-120"/>
              </a:rPr>
              <a:t> to move to step 2.</a:t>
            </a:r>
            <a:endParaRPr lang="en-US" sz="1150" dirty="0"/>
          </a:p>
        </p:txBody>
      </p:sp>
      <p:sp>
        <p:nvSpPr>
          <p:cNvPr id="25" name="Shape 22"/>
          <p:cNvSpPr/>
          <p:nvPr/>
        </p:nvSpPr>
        <p:spPr>
          <a:xfrm>
            <a:off x="6400800" y="3520440"/>
            <a:ext cx="2286000" cy="868680"/>
          </a:xfrm>
          <a:prstGeom prst="roundRect">
            <a:avLst>
              <a:gd name="adj" fmla="val 8421"/>
            </a:avLst>
          </a:prstGeom>
          <a:solidFill>
            <a:srgbClr val="E8F4EB"/>
          </a:solidFill>
          <a:ln w="15875">
            <a:solidFill>
              <a:srgbClr val="2C9045"/>
            </a:solidFill>
            <a:prstDash val="solid"/>
          </a:ln>
        </p:spPr>
      </p:sp>
      <p:pic>
        <p:nvPicPr>
          <p:cNvPr id="26" name="Image 1" descr="preencoded.png"/>
          <p:cNvPicPr>
            <a:picLocks noChangeAspect="1"/>
          </p:cNvPicPr>
          <p:nvPr/>
        </p:nvPicPr>
        <p:blipFill>
          <a:blip r:embed="rId5"/>
          <a:stretch>
            <a:fillRect/>
          </a:stretch>
        </p:blipFill>
        <p:spPr>
          <a:xfrm>
            <a:off x="6528816" y="3648456"/>
            <a:ext cx="219456" cy="219456"/>
          </a:xfrm>
          <a:prstGeom prst="rect">
            <a:avLst/>
          </a:prstGeom>
        </p:spPr>
      </p:pic>
      <p:sp>
        <p:nvSpPr>
          <p:cNvPr id="27" name="Text 23"/>
          <p:cNvSpPr txBox="1"/>
          <p:nvPr/>
        </p:nvSpPr>
        <p:spPr>
          <a:xfrm>
            <a:off x="6839712" y="3593592"/>
            <a:ext cx="1737360" cy="72237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All 5 form steps stay visible, so you can track your progress.</a:t>
            </a:r>
            <a:endParaRPr lang="en-US" sz="1050" dirty="0"/>
          </a:p>
        </p:txBody>
      </p:sp>
      <p:sp>
        <p:nvSpPr>
          <p:cNvPr id="28" name="Text 24"/>
          <p:cNvSpPr txBox="1"/>
          <p:nvPr/>
        </p:nvSpPr>
        <p:spPr>
          <a:xfrm>
            <a:off x="457200" y="4553712"/>
            <a:ext cx="8229600" cy="182880"/>
          </a:xfrm>
          <a:prstGeom prst="rect">
            <a:avLst/>
          </a:prstGeom>
          <a:noFill/>
          <a:ln/>
        </p:spPr>
        <p:txBody>
          <a:bodyPr wrap="square" lIns="0" tIns="0" rIns="0" bIns="0" rtlCol="0" anchor="ctr"/>
          <a:lstStyle/>
          <a:p>
            <a:pPr marL="0" indent="0">
              <a:buNone/>
            </a:pPr>
            <a:r>
              <a:rPr lang="en-US" sz="900" i="1" dirty="0">
                <a:solidFill>
                  <a:srgbClr val="5A6660"/>
                </a:solidFill>
                <a:latin typeface="Calibri" pitchFamily="34" charset="0"/>
                <a:ea typeface="Calibri" pitchFamily="34" charset="-122"/>
                <a:cs typeface="Calibri" pitchFamily="34" charset="-120"/>
              </a:rPr>
              <a:t>Source: Google Cloud console, Earth Engine › Configuration › Register (screenshot).</a:t>
            </a:r>
            <a:endParaRPr lang="en-US" sz="9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5029200" cy="274320"/>
          </a:xfrm>
          <a:prstGeom prst="rect">
            <a:avLst/>
          </a:prstGeom>
          <a:noFill/>
          <a:ln/>
        </p:spPr>
        <p:txBody>
          <a:bodyPr wrap="square" lIns="0" tIns="0" rIns="0" bIns="0" rtlCol="0" anchor="ctr"/>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02 · STEP 2 OF 6</a:t>
            </a:r>
            <a:endParaRPr lang="en-US" sz="1050" dirty="0"/>
          </a:p>
        </p:txBody>
      </p:sp>
      <p:sp>
        <p:nvSpPr>
          <p:cNvPr id="3" name="Text 1"/>
          <p:cNvSpPr txBox="1"/>
          <p:nvPr/>
        </p:nvSpPr>
        <p:spPr>
          <a:xfrm>
            <a:off x="548640" y="1143000"/>
            <a:ext cx="2743200" cy="1188720"/>
          </a:xfrm>
          <a:prstGeom prst="rect">
            <a:avLst/>
          </a:prstGeom>
          <a:noFill/>
          <a:ln/>
        </p:spPr>
        <p:txBody>
          <a:bodyPr wrap="square" lIns="0" tIns="0" rIns="0" bIns="0" rtlCol="0" anchor="ctr"/>
          <a:lstStyle/>
          <a:p>
            <a:pPr marL="0" indent="0">
              <a:buNone/>
            </a:pPr>
            <a:r>
              <a:rPr lang="en-US" sz="8800" b="1" dirty="0">
                <a:solidFill>
                  <a:srgbClr val="F5C242"/>
                </a:solidFill>
                <a:latin typeface="Calibri" pitchFamily="34" charset="0"/>
                <a:ea typeface="Calibri" pitchFamily="34" charset="-122"/>
                <a:cs typeface="Calibri" pitchFamily="34" charset="-120"/>
              </a:rPr>
              <a:t>02</a:t>
            </a:r>
            <a:endParaRPr lang="en-US" sz="8800" dirty="0"/>
          </a:p>
        </p:txBody>
      </p:sp>
      <p:sp>
        <p:nvSpPr>
          <p:cNvPr id="4" name="Text 2"/>
          <p:cNvSpPr txBox="1"/>
          <p:nvPr/>
        </p:nvSpPr>
        <p:spPr>
          <a:xfrm>
            <a:off x="548640" y="2423160"/>
            <a:ext cx="4937760" cy="68580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Noncommercial eligibility</a:t>
            </a:r>
            <a:endParaRPr lang="en-US" sz="3000" dirty="0"/>
          </a:p>
        </p:txBody>
      </p:sp>
      <p:sp>
        <p:nvSpPr>
          <p:cNvPr id="5" name="Text 3"/>
          <p:cNvSpPr txBox="1"/>
          <p:nvPr/>
        </p:nvSpPr>
        <p:spPr>
          <a:xfrm>
            <a:off x="548640" y="3154680"/>
            <a:ext cx="5120640" cy="457200"/>
          </a:xfrm>
          <a:prstGeom prst="rect">
            <a:avLst/>
          </a:prstGeom>
          <a:noFill/>
          <a:ln/>
        </p:spPr>
        <p:txBody>
          <a:bodyPr wrap="square" lIns="0" tIns="0" rIns="0" bIns="0" rtlCol="0" anchor="t"/>
          <a:lstStyle/>
          <a:p>
            <a:pPr marL="0" indent="0">
              <a:buNone/>
            </a:pPr>
            <a:r>
              <a:rPr lang="en-US" sz="1600" i="1" dirty="0">
                <a:solidFill>
                  <a:srgbClr val="E8F4EB"/>
                </a:solidFill>
                <a:latin typeface="Calibri" pitchFamily="34" charset="0"/>
                <a:ea typeface="Calibri" pitchFamily="34" charset="-122"/>
                <a:cs typeface="Calibri" pitchFamily="34" charset="-120"/>
              </a:rPr>
              <a:t>Is your use of Earth Engine noncommercial?</a:t>
            </a:r>
            <a:endParaRPr lang="en-US" sz="1600" dirty="0"/>
          </a:p>
        </p:txBody>
      </p:sp>
      <p:sp>
        <p:nvSpPr>
          <p:cNvPr id="6" name="Shape 4"/>
          <p:cNvSpPr/>
          <p:nvPr/>
        </p:nvSpPr>
        <p:spPr>
          <a:xfrm>
            <a:off x="5577840" y="868680"/>
            <a:ext cx="3017520" cy="3017520"/>
          </a:xfrm>
          <a:prstGeom prst="ellipse">
            <a:avLst/>
          </a:prstGeom>
          <a:solidFill>
            <a:srgbClr val="FFFFFF">
              <a:alpha val="12000"/>
            </a:srgbClr>
          </a:solidFill>
          <a:ln w="9525">
            <a:solidFill>
              <a:srgbClr val="FFFFFF">
                <a:alpha val="40000"/>
              </a:srgbClr>
            </a:solidFill>
            <a:prstDash val="solid"/>
          </a:ln>
        </p:spPr>
      </p:sp>
      <p:sp>
        <p:nvSpPr>
          <p:cNvPr id="7" name="Shape 5"/>
          <p:cNvSpPr/>
          <p:nvPr/>
        </p:nvSpPr>
        <p:spPr>
          <a:xfrm>
            <a:off x="5989320" y="1280160"/>
            <a:ext cx="2194560" cy="2194560"/>
          </a:xfrm>
          <a:prstGeom prst="ellipse">
            <a:avLst/>
          </a:prstGeom>
          <a:solidFill>
            <a:srgbClr val="FFFFFF">
              <a:alpha val="22000"/>
            </a:srgbClr>
          </a:solidFill>
          <a:ln w="9525">
            <a:solidFill>
              <a:srgbClr val="FFFFFF">
                <a:alpha val="40000"/>
              </a:srgbClr>
            </a:solidFill>
            <a:prstDash val="solid"/>
          </a:ln>
        </p:spPr>
      </p:sp>
      <p:sp>
        <p:nvSpPr>
          <p:cNvPr id="8" name="Shape 6"/>
          <p:cNvSpPr/>
          <p:nvPr/>
        </p:nvSpPr>
        <p:spPr>
          <a:xfrm>
            <a:off x="6373368" y="1664208"/>
            <a:ext cx="1426464" cy="1426464"/>
          </a:xfrm>
          <a:prstGeom prst="ellipse">
            <a:avLst/>
          </a:prstGeom>
          <a:solidFill>
            <a:srgbClr val="FFFFFF"/>
          </a:solidFill>
          <a:ln/>
        </p:spPr>
      </p:sp>
      <p:pic>
        <p:nvPicPr>
          <p:cNvPr id="9" name="Image 0" descr="preencoded.png"/>
          <p:cNvPicPr>
            <a:picLocks noChangeAspect="1"/>
          </p:cNvPicPr>
          <p:nvPr/>
        </p:nvPicPr>
        <p:blipFill>
          <a:blip r:embed="rId4"/>
          <a:stretch>
            <a:fillRect/>
          </a:stretch>
        </p:blipFill>
        <p:spPr>
          <a:xfrm>
            <a:off x="6757416" y="2048256"/>
            <a:ext cx="658368" cy="658368"/>
          </a:xfrm>
          <a:prstGeom prst="rect">
            <a:avLst/>
          </a:prstGeom>
        </p:spPr>
      </p:pic>
      <p:sp>
        <p:nvSpPr>
          <p:cNvPr id="10" name="Shape 7"/>
          <p:cNvSpPr/>
          <p:nvPr/>
        </p:nvSpPr>
        <p:spPr>
          <a:xfrm>
            <a:off x="548640" y="4160520"/>
            <a:ext cx="118872" cy="118872"/>
          </a:xfrm>
          <a:prstGeom prst="ellipse">
            <a:avLst/>
          </a:prstGeom>
          <a:solidFill>
            <a:srgbClr val="FFFFFF">
              <a:alpha val="40000"/>
            </a:srgbClr>
          </a:solidFill>
          <a:ln/>
        </p:spPr>
      </p:sp>
      <p:sp>
        <p:nvSpPr>
          <p:cNvPr id="11" name="Shape 8"/>
          <p:cNvSpPr/>
          <p:nvPr/>
        </p:nvSpPr>
        <p:spPr>
          <a:xfrm>
            <a:off x="768096" y="4160520"/>
            <a:ext cx="118872" cy="118872"/>
          </a:xfrm>
          <a:prstGeom prst="ellipse">
            <a:avLst/>
          </a:prstGeom>
          <a:solidFill>
            <a:srgbClr val="F5C242"/>
          </a:solidFill>
          <a:ln/>
        </p:spPr>
      </p:sp>
      <p:sp>
        <p:nvSpPr>
          <p:cNvPr id="12" name="Shape 9"/>
          <p:cNvSpPr/>
          <p:nvPr/>
        </p:nvSpPr>
        <p:spPr>
          <a:xfrm>
            <a:off x="987552" y="4160520"/>
            <a:ext cx="118872" cy="118872"/>
          </a:xfrm>
          <a:prstGeom prst="ellipse">
            <a:avLst/>
          </a:prstGeom>
          <a:solidFill>
            <a:srgbClr val="FFFFFF">
              <a:alpha val="40000"/>
            </a:srgbClr>
          </a:solidFill>
          <a:ln/>
        </p:spPr>
      </p:sp>
      <p:sp>
        <p:nvSpPr>
          <p:cNvPr id="13" name="Shape 10"/>
          <p:cNvSpPr/>
          <p:nvPr/>
        </p:nvSpPr>
        <p:spPr>
          <a:xfrm>
            <a:off x="1207008" y="4160520"/>
            <a:ext cx="118872" cy="118872"/>
          </a:xfrm>
          <a:prstGeom prst="ellipse">
            <a:avLst/>
          </a:prstGeom>
          <a:solidFill>
            <a:srgbClr val="FFFFFF">
              <a:alpha val="40000"/>
            </a:srgbClr>
          </a:solidFill>
          <a:ln/>
        </p:spPr>
      </p:sp>
      <p:sp>
        <p:nvSpPr>
          <p:cNvPr id="14" name="Shape 11"/>
          <p:cNvSpPr/>
          <p:nvPr/>
        </p:nvSpPr>
        <p:spPr>
          <a:xfrm>
            <a:off x="1426464" y="4160520"/>
            <a:ext cx="118872" cy="118872"/>
          </a:xfrm>
          <a:prstGeom prst="ellipse">
            <a:avLst/>
          </a:prstGeom>
          <a:solidFill>
            <a:srgbClr val="FFFFFF">
              <a:alpha val="40000"/>
            </a:srgbClr>
          </a:solidFill>
          <a:ln/>
        </p:spPr>
      </p:sp>
      <p:sp>
        <p:nvSpPr>
          <p:cNvPr id="15" name="Shape 12"/>
          <p:cNvSpPr/>
          <p:nvPr/>
        </p:nvSpPr>
        <p:spPr>
          <a:xfrm>
            <a:off x="1645920" y="4160520"/>
            <a:ext cx="118872" cy="118872"/>
          </a:xfrm>
          <a:prstGeom prst="ellipse">
            <a:avLst/>
          </a:prstGeom>
          <a:solidFill>
            <a:srgbClr val="FFFFFF">
              <a:alpha val="40000"/>
            </a:srgbClr>
          </a:solidFill>
          <a:ln/>
        </p:spPr>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9045"/>
          </a:solidFill>
          <a:ln/>
        </p:spPr>
      </p:sp>
      <p:sp>
        <p:nvSpPr>
          <p:cNvPr id="3" name="Shape 1"/>
          <p:cNvSpPr/>
          <p:nvPr/>
        </p:nvSpPr>
        <p:spPr>
          <a:xfrm>
            <a:off x="0" y="0"/>
            <a:ext cx="1234440" cy="54864"/>
          </a:xfrm>
          <a:prstGeom prst="rect">
            <a:avLst/>
          </a:prstGeom>
          <a:solidFill>
            <a:srgbClr val="F5C242"/>
          </a:solidFill>
          <a:ln/>
        </p:spPr>
      </p:sp>
      <p:sp>
        <p:nvSpPr>
          <p:cNvPr id="4" name="Text 2"/>
          <p:cNvSpPr txBox="1"/>
          <p:nvPr/>
        </p:nvSpPr>
        <p:spPr>
          <a:xfrm>
            <a:off x="457200" y="274320"/>
            <a:ext cx="685800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02 · NONCOMMERCIAL ELIGIBILITY</a:t>
            </a:r>
            <a:endParaRPr lang="en-US" sz="1050" dirty="0"/>
          </a:p>
        </p:txBody>
      </p:sp>
      <p:sp>
        <p:nvSpPr>
          <p:cNvPr id="5" name="Text 3"/>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Complete the eligibility questionnaire</a:t>
            </a:r>
            <a:endParaRPr lang="en-US" sz="2800" dirty="0"/>
          </a:p>
        </p:txBody>
      </p:sp>
      <p:sp>
        <p:nvSpPr>
          <p:cNvPr id="6" name="Shape 4"/>
          <p:cNvSpPr/>
          <p:nvPr/>
        </p:nvSpPr>
        <p:spPr>
          <a:xfrm>
            <a:off x="7717536" y="338328"/>
            <a:ext cx="100584" cy="100584"/>
          </a:xfrm>
          <a:prstGeom prst="ellipse">
            <a:avLst/>
          </a:prstGeom>
          <a:solidFill>
            <a:srgbClr val="D3E2D7"/>
          </a:solidFill>
          <a:ln/>
        </p:spPr>
      </p:sp>
      <p:sp>
        <p:nvSpPr>
          <p:cNvPr id="7" name="Shape 5"/>
          <p:cNvSpPr/>
          <p:nvPr/>
        </p:nvSpPr>
        <p:spPr>
          <a:xfrm>
            <a:off x="7891272" y="338328"/>
            <a:ext cx="100584" cy="100584"/>
          </a:xfrm>
          <a:prstGeom prst="ellipse">
            <a:avLst/>
          </a:prstGeom>
          <a:solidFill>
            <a:srgbClr val="0E5A2E"/>
          </a:solidFill>
          <a:ln/>
        </p:spPr>
      </p:sp>
      <p:sp>
        <p:nvSpPr>
          <p:cNvPr id="8" name="Shape 6"/>
          <p:cNvSpPr/>
          <p:nvPr/>
        </p:nvSpPr>
        <p:spPr>
          <a:xfrm>
            <a:off x="8065008" y="338328"/>
            <a:ext cx="100584" cy="100584"/>
          </a:xfrm>
          <a:prstGeom prst="ellipse">
            <a:avLst/>
          </a:prstGeom>
          <a:solidFill>
            <a:srgbClr val="D3E2D7"/>
          </a:solidFill>
          <a:ln/>
        </p:spPr>
      </p:sp>
      <p:sp>
        <p:nvSpPr>
          <p:cNvPr id="9" name="Shape 7"/>
          <p:cNvSpPr/>
          <p:nvPr/>
        </p:nvSpPr>
        <p:spPr>
          <a:xfrm>
            <a:off x="8238744" y="338328"/>
            <a:ext cx="100584" cy="100584"/>
          </a:xfrm>
          <a:prstGeom prst="ellipse">
            <a:avLst/>
          </a:prstGeom>
          <a:solidFill>
            <a:srgbClr val="D3E2D7"/>
          </a:solidFill>
          <a:ln/>
        </p:spPr>
      </p:sp>
      <p:sp>
        <p:nvSpPr>
          <p:cNvPr id="10" name="Shape 8"/>
          <p:cNvSpPr/>
          <p:nvPr/>
        </p:nvSpPr>
        <p:spPr>
          <a:xfrm>
            <a:off x="8412480" y="338328"/>
            <a:ext cx="100584" cy="100584"/>
          </a:xfrm>
          <a:prstGeom prst="ellipse">
            <a:avLst/>
          </a:prstGeom>
          <a:solidFill>
            <a:srgbClr val="D3E2D7"/>
          </a:solidFill>
          <a:ln/>
        </p:spPr>
      </p:sp>
      <p:sp>
        <p:nvSpPr>
          <p:cNvPr id="11" name="Shape 9"/>
          <p:cNvSpPr/>
          <p:nvPr/>
        </p:nvSpPr>
        <p:spPr>
          <a:xfrm>
            <a:off x="8586216" y="338328"/>
            <a:ext cx="100584" cy="100584"/>
          </a:xfrm>
          <a:prstGeom prst="ellipse">
            <a:avLst/>
          </a:prstGeom>
          <a:solidFill>
            <a:srgbClr val="D3E2D7"/>
          </a:solidFill>
          <a:ln/>
        </p:spPr>
      </p:sp>
      <p:sp>
        <p:nvSpPr>
          <p:cNvPr id="12" name="Text 10"/>
          <p:cNvSpPr txBox="1"/>
          <p:nvPr/>
        </p:nvSpPr>
        <p:spPr>
          <a:xfrm>
            <a:off x="457200" y="4800600"/>
            <a:ext cx="6766560" cy="201168"/>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Registering for Google Earth Engine · AfDB – Data Innovation for Africa (DI4A)</a:t>
            </a:r>
            <a:endParaRPr lang="en-US" sz="850" dirty="0"/>
          </a:p>
        </p:txBody>
      </p:sp>
      <p:sp>
        <p:nvSpPr>
          <p:cNvPr id="13" name="Text 11"/>
          <p:cNvSpPr txBox="1"/>
          <p:nvPr/>
        </p:nvSpPr>
        <p:spPr>
          <a:xfrm>
            <a:off x="7772400" y="4800600"/>
            <a:ext cx="914400" cy="201168"/>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7</a:t>
            </a:r>
            <a:endParaRPr lang="en-US" sz="850" dirty="0"/>
          </a:p>
        </p:txBody>
      </p:sp>
      <p:sp>
        <p:nvSpPr>
          <p:cNvPr id="14" name="Shape 12"/>
          <p:cNvSpPr/>
          <p:nvPr/>
        </p:nvSpPr>
        <p:spPr>
          <a:xfrm>
            <a:off x="2971800" y="1325880"/>
            <a:ext cx="5760720" cy="3023622"/>
          </a:xfrm>
          <a:prstGeom prst="roundRect">
            <a:avLst>
              <a:gd name="adj" fmla="val 1815"/>
            </a:avLst>
          </a:prstGeom>
          <a:solidFill>
            <a:srgbClr val="FFFFFF"/>
          </a:solidFill>
          <a:ln w="9525">
            <a:solidFill>
              <a:srgbClr val="D3E2D7"/>
            </a:solidFill>
            <a:prstDash val="solid"/>
          </a:ln>
          <a:effectLst>
            <a:outerShdw blurRad="76200" dist="25400" dir="5400000" algn="bl" rotWithShape="0">
              <a:srgbClr val="000000">
                <a:alpha val="12000"/>
              </a:srgbClr>
            </a:outerShdw>
          </a:effectLst>
        </p:spPr>
      </p:sp>
      <p:pic>
        <p:nvPicPr>
          <p:cNvPr id="15" name="Image 0" descr="Google Cloud console screenshot 2"/>
          <p:cNvPicPr>
            <a:picLocks noChangeAspect="1"/>
          </p:cNvPicPr>
          <p:nvPr/>
        </p:nvPicPr>
        <p:blipFill>
          <a:blip r:embed="rId4"/>
          <a:stretch>
            <a:fillRect/>
          </a:stretch>
        </p:blipFill>
        <p:spPr>
          <a:xfrm>
            <a:off x="3017520" y="1371600"/>
            <a:ext cx="5669280" cy="2932182"/>
          </a:xfrm>
          <a:prstGeom prst="rect">
            <a:avLst/>
          </a:prstGeom>
        </p:spPr>
      </p:pic>
      <p:sp>
        <p:nvSpPr>
          <p:cNvPr id="16" name="Shape 13"/>
          <p:cNvSpPr/>
          <p:nvPr/>
        </p:nvSpPr>
        <p:spPr>
          <a:xfrm>
            <a:off x="457200" y="1389888"/>
            <a:ext cx="274320" cy="274320"/>
          </a:xfrm>
          <a:prstGeom prst="ellipse">
            <a:avLst/>
          </a:prstGeom>
          <a:solidFill>
            <a:srgbClr val="0E5A2E">
              <a:alpha val="22000"/>
            </a:srgbClr>
          </a:solidFill>
          <a:ln/>
        </p:spPr>
      </p:sp>
      <p:sp>
        <p:nvSpPr>
          <p:cNvPr id="17" name="Text 14"/>
          <p:cNvSpPr txBox="1"/>
          <p:nvPr/>
        </p:nvSpPr>
        <p:spPr>
          <a:xfrm>
            <a:off x="457200" y="1389888"/>
            <a:ext cx="274320" cy="274320"/>
          </a:xfrm>
          <a:prstGeom prst="rect">
            <a:avLst/>
          </a:prstGeom>
          <a:noFill/>
          <a:ln/>
        </p:spPr>
        <p:txBody>
          <a:bodyPr wrap="square" lIns="0" tIns="0" rIns="0" bIns="0" rtlCol="0" anchor="ctr"/>
          <a:lstStyle/>
          <a:p>
            <a:pPr marL="0" indent="0" algn="ctr">
              <a:buNone/>
            </a:pPr>
            <a:r>
              <a:rPr lang="en-US" sz="1100" b="1" dirty="0">
                <a:solidFill>
                  <a:srgbClr val="0E5A2E"/>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841248" y="1371600"/>
            <a:ext cx="1947672" cy="4114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Organization name: </a:t>
            </a:r>
            <a:r>
              <a:rPr lang="en-US" sz="1150" b="1" dirty="0">
                <a:solidFill>
                  <a:srgbClr val="231F20"/>
                </a:solidFill>
                <a:latin typeface="Calibri" pitchFamily="34" charset="0"/>
                <a:ea typeface="Calibri" pitchFamily="34" charset="-122"/>
                <a:cs typeface="Calibri" pitchFamily="34" charset="-120"/>
              </a:rPr>
              <a:t>INS_Africa</a:t>
            </a:r>
            <a:r>
              <a:rPr lang="en-US" sz="1150" dirty="0">
                <a:solidFill>
                  <a:srgbClr val="231F20"/>
                </a:solidFill>
                <a:latin typeface="Calibri" pitchFamily="34" charset="0"/>
                <a:ea typeface="Calibri" pitchFamily="34" charset="-122"/>
                <a:cs typeface="Calibri" pitchFamily="34" charset="-120"/>
              </a:rPr>
              <a:t>.</a:t>
            </a:r>
            <a:endParaRPr lang="en-US" sz="1150" dirty="0"/>
          </a:p>
        </p:txBody>
      </p:sp>
      <p:sp>
        <p:nvSpPr>
          <p:cNvPr id="19" name="Shape 16"/>
          <p:cNvSpPr/>
          <p:nvPr/>
        </p:nvSpPr>
        <p:spPr>
          <a:xfrm>
            <a:off x="457200" y="1929384"/>
            <a:ext cx="274320" cy="274320"/>
          </a:xfrm>
          <a:prstGeom prst="ellipse">
            <a:avLst/>
          </a:prstGeom>
          <a:solidFill>
            <a:srgbClr val="0E5A2E">
              <a:alpha val="22000"/>
            </a:srgbClr>
          </a:solidFill>
          <a:ln/>
        </p:spPr>
      </p:sp>
      <p:sp>
        <p:nvSpPr>
          <p:cNvPr id="20" name="Text 17"/>
          <p:cNvSpPr txBox="1"/>
          <p:nvPr/>
        </p:nvSpPr>
        <p:spPr>
          <a:xfrm>
            <a:off x="457200" y="1929384"/>
            <a:ext cx="274320" cy="274320"/>
          </a:xfrm>
          <a:prstGeom prst="rect">
            <a:avLst/>
          </a:prstGeom>
          <a:noFill/>
          <a:ln/>
        </p:spPr>
        <p:txBody>
          <a:bodyPr wrap="square" lIns="0" tIns="0" rIns="0" bIns="0" rtlCol="0" anchor="ctr"/>
          <a:lstStyle/>
          <a:p>
            <a:pPr marL="0" indent="0" algn="ctr">
              <a:buNone/>
            </a:pPr>
            <a:r>
              <a:rPr lang="en-US" sz="1100" b="1" dirty="0">
                <a:solidFill>
                  <a:srgbClr val="0E5A2E"/>
                </a:solidFill>
                <a:latin typeface="Calibri" pitchFamily="34" charset="0"/>
                <a:ea typeface="Calibri" pitchFamily="34" charset="-122"/>
                <a:cs typeface="Calibri" pitchFamily="34" charset="-120"/>
              </a:rPr>
              <a:t>2</a:t>
            </a:r>
            <a:endParaRPr lang="en-US" sz="1100" dirty="0"/>
          </a:p>
        </p:txBody>
      </p:sp>
      <p:sp>
        <p:nvSpPr>
          <p:cNvPr id="21" name="Text 18"/>
          <p:cNvSpPr txBox="1"/>
          <p:nvPr/>
        </p:nvSpPr>
        <p:spPr>
          <a:xfrm>
            <a:off x="841248" y="1911096"/>
            <a:ext cx="1947672" cy="566928"/>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Paid by commercial or government entities? </a:t>
            </a:r>
            <a:r>
              <a:rPr lang="en-US" sz="1150" b="1" dirty="0">
                <a:solidFill>
                  <a:srgbClr val="231F20"/>
                </a:solidFill>
                <a:latin typeface="Calibri" pitchFamily="34" charset="0"/>
                <a:ea typeface="Calibri" pitchFamily="34" charset="-122"/>
                <a:cs typeface="Calibri" pitchFamily="34" charset="-120"/>
              </a:rPr>
              <a:t>No</a:t>
            </a:r>
            <a:r>
              <a:rPr lang="en-US" sz="1150" dirty="0">
                <a:solidFill>
                  <a:srgbClr val="231F20"/>
                </a:solidFill>
                <a:latin typeface="Calibri" pitchFamily="34" charset="0"/>
                <a:ea typeface="Calibri" pitchFamily="34" charset="-122"/>
                <a:cs typeface="Calibri" pitchFamily="34" charset="-120"/>
              </a:rPr>
              <a:t>.</a:t>
            </a:r>
            <a:endParaRPr lang="en-US" sz="1150" dirty="0"/>
          </a:p>
        </p:txBody>
      </p:sp>
      <p:sp>
        <p:nvSpPr>
          <p:cNvPr id="22" name="Shape 19"/>
          <p:cNvSpPr/>
          <p:nvPr/>
        </p:nvSpPr>
        <p:spPr>
          <a:xfrm>
            <a:off x="457200" y="2624328"/>
            <a:ext cx="274320" cy="274320"/>
          </a:xfrm>
          <a:prstGeom prst="ellipse">
            <a:avLst/>
          </a:prstGeom>
          <a:solidFill>
            <a:srgbClr val="0E5A2E">
              <a:alpha val="22000"/>
            </a:srgbClr>
          </a:solidFill>
          <a:ln/>
        </p:spPr>
      </p:sp>
      <p:sp>
        <p:nvSpPr>
          <p:cNvPr id="23" name="Text 20"/>
          <p:cNvSpPr txBox="1"/>
          <p:nvPr/>
        </p:nvSpPr>
        <p:spPr>
          <a:xfrm>
            <a:off x="457200" y="2624328"/>
            <a:ext cx="274320" cy="274320"/>
          </a:xfrm>
          <a:prstGeom prst="rect">
            <a:avLst/>
          </a:prstGeom>
          <a:noFill/>
          <a:ln/>
        </p:spPr>
        <p:txBody>
          <a:bodyPr wrap="square" lIns="0" tIns="0" rIns="0" bIns="0" rtlCol="0" anchor="ctr"/>
          <a:lstStyle/>
          <a:p>
            <a:pPr marL="0" indent="0" algn="ctr">
              <a:buNone/>
            </a:pPr>
            <a:r>
              <a:rPr lang="en-US" sz="1100" b="1" dirty="0">
                <a:solidFill>
                  <a:srgbClr val="0E5A2E"/>
                </a:solidFill>
                <a:latin typeface="Calibri" pitchFamily="34" charset="0"/>
                <a:ea typeface="Calibri" pitchFamily="34" charset="-122"/>
                <a:cs typeface="Calibri" pitchFamily="34" charset="-120"/>
              </a:rPr>
              <a:t>3</a:t>
            </a:r>
            <a:endParaRPr lang="en-US" sz="1100" dirty="0"/>
          </a:p>
        </p:txBody>
      </p:sp>
      <p:sp>
        <p:nvSpPr>
          <p:cNvPr id="24" name="Text 21"/>
          <p:cNvSpPr txBox="1"/>
          <p:nvPr/>
        </p:nvSpPr>
        <p:spPr>
          <a:xfrm>
            <a:off x="841248" y="2606040"/>
            <a:ext cx="1947672" cy="566928"/>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Type of use: </a:t>
            </a:r>
            <a:r>
              <a:rPr lang="en-US" sz="1150" b="1" dirty="0">
                <a:solidFill>
                  <a:srgbClr val="231F20"/>
                </a:solidFill>
                <a:latin typeface="Calibri" pitchFamily="34" charset="0"/>
                <a:ea typeface="Calibri" pitchFamily="34" charset="-122"/>
                <a:cs typeface="Calibri" pitchFamily="34" charset="-120"/>
              </a:rPr>
              <a:t>Operational decision making</a:t>
            </a:r>
            <a:r>
              <a:rPr lang="en-US" sz="1150" dirty="0">
                <a:solidFill>
                  <a:srgbClr val="231F20"/>
                </a:solidFill>
                <a:latin typeface="Calibri" pitchFamily="34" charset="0"/>
                <a:ea typeface="Calibri" pitchFamily="34" charset="-122"/>
                <a:cs typeface="Calibri" pitchFamily="34" charset="-120"/>
              </a:rPr>
              <a:t>.</a:t>
            </a:r>
            <a:endParaRPr lang="en-US" sz="1150" dirty="0"/>
          </a:p>
        </p:txBody>
      </p:sp>
      <p:sp>
        <p:nvSpPr>
          <p:cNvPr id="25" name="Shape 22"/>
          <p:cNvSpPr/>
          <p:nvPr/>
        </p:nvSpPr>
        <p:spPr>
          <a:xfrm>
            <a:off x="457200" y="3611880"/>
            <a:ext cx="2331720" cy="777240"/>
          </a:xfrm>
          <a:prstGeom prst="roundRect">
            <a:avLst>
              <a:gd name="adj" fmla="val 9412"/>
            </a:avLst>
          </a:prstGeom>
          <a:solidFill>
            <a:srgbClr val="E8F4EB"/>
          </a:solidFill>
          <a:ln w="15875">
            <a:solidFill>
              <a:srgbClr val="2C9045"/>
            </a:solidFill>
            <a:prstDash val="solid"/>
          </a:ln>
        </p:spPr>
      </p:sp>
      <p:pic>
        <p:nvPicPr>
          <p:cNvPr id="26" name="Image 1" descr="preencoded.png"/>
          <p:cNvPicPr>
            <a:picLocks noChangeAspect="1"/>
          </p:cNvPicPr>
          <p:nvPr/>
        </p:nvPicPr>
        <p:blipFill>
          <a:blip r:embed="rId5"/>
          <a:stretch>
            <a:fillRect/>
          </a:stretch>
        </p:blipFill>
        <p:spPr>
          <a:xfrm>
            <a:off x="585216" y="3739896"/>
            <a:ext cx="219456" cy="219456"/>
          </a:xfrm>
          <a:prstGeom prst="rect">
            <a:avLst/>
          </a:prstGeom>
        </p:spPr>
      </p:pic>
      <p:sp>
        <p:nvSpPr>
          <p:cNvPr id="27" name="Text 23"/>
          <p:cNvSpPr txBox="1"/>
          <p:nvPr/>
        </p:nvSpPr>
        <p:spPr>
          <a:xfrm>
            <a:off x="896112" y="3685032"/>
            <a:ext cx="1783080" cy="63093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Research-only grants do not count as payment.</a:t>
            </a:r>
            <a:endParaRPr lang="en-US" sz="1050" dirty="0"/>
          </a:p>
        </p:txBody>
      </p:sp>
      <p:sp>
        <p:nvSpPr>
          <p:cNvPr id="28" name="Text 24"/>
          <p:cNvSpPr txBox="1"/>
          <p:nvPr/>
        </p:nvSpPr>
        <p:spPr>
          <a:xfrm>
            <a:off x="457200" y="4553712"/>
            <a:ext cx="8229600" cy="182880"/>
          </a:xfrm>
          <a:prstGeom prst="rect">
            <a:avLst/>
          </a:prstGeom>
          <a:noFill/>
          <a:ln/>
        </p:spPr>
        <p:txBody>
          <a:bodyPr wrap="square" lIns="0" tIns="0" rIns="0" bIns="0" rtlCol="0" anchor="ctr"/>
          <a:lstStyle/>
          <a:p>
            <a:pPr marL="0" indent="0">
              <a:buNone/>
            </a:pPr>
            <a:r>
              <a:rPr lang="en-US" sz="900" i="1" dirty="0">
                <a:solidFill>
                  <a:srgbClr val="5A6660"/>
                </a:solidFill>
                <a:latin typeface="Calibri" pitchFamily="34" charset="0"/>
                <a:ea typeface="Calibri" pitchFamily="34" charset="-122"/>
                <a:cs typeface="Calibri" pitchFamily="34" charset="-120"/>
              </a:rPr>
              <a:t>Source: Google Cloud console, “Check noncommercial eligibility” step (screenshot).</a:t>
            </a:r>
            <a:endParaRPr lang="en-US" sz="9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9045"/>
          </a:solidFill>
          <a:ln/>
        </p:spPr>
      </p:sp>
      <p:sp>
        <p:nvSpPr>
          <p:cNvPr id="3" name="Shape 1"/>
          <p:cNvSpPr/>
          <p:nvPr/>
        </p:nvSpPr>
        <p:spPr>
          <a:xfrm>
            <a:off x="0" y="0"/>
            <a:ext cx="1234440" cy="54864"/>
          </a:xfrm>
          <a:prstGeom prst="rect">
            <a:avLst/>
          </a:prstGeom>
          <a:solidFill>
            <a:srgbClr val="F5C242"/>
          </a:solidFill>
          <a:ln/>
        </p:spPr>
      </p:sp>
      <p:sp>
        <p:nvSpPr>
          <p:cNvPr id="4" name="Text 2"/>
          <p:cNvSpPr txBox="1"/>
          <p:nvPr/>
        </p:nvSpPr>
        <p:spPr>
          <a:xfrm>
            <a:off x="457200" y="274320"/>
            <a:ext cx="685800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02 · NONCOMMERCIAL ELIGIBILITY</a:t>
            </a:r>
            <a:endParaRPr lang="en-US" sz="1050" dirty="0"/>
          </a:p>
        </p:txBody>
      </p:sp>
      <p:sp>
        <p:nvSpPr>
          <p:cNvPr id="5" name="Text 3"/>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Specify research and geographic scope</a:t>
            </a:r>
            <a:endParaRPr lang="en-US" sz="2800" dirty="0"/>
          </a:p>
        </p:txBody>
      </p:sp>
      <p:sp>
        <p:nvSpPr>
          <p:cNvPr id="6" name="Shape 4"/>
          <p:cNvSpPr/>
          <p:nvPr/>
        </p:nvSpPr>
        <p:spPr>
          <a:xfrm>
            <a:off x="7717536" y="338328"/>
            <a:ext cx="100584" cy="100584"/>
          </a:xfrm>
          <a:prstGeom prst="ellipse">
            <a:avLst/>
          </a:prstGeom>
          <a:solidFill>
            <a:srgbClr val="D3E2D7"/>
          </a:solidFill>
          <a:ln/>
        </p:spPr>
      </p:sp>
      <p:sp>
        <p:nvSpPr>
          <p:cNvPr id="7" name="Shape 5"/>
          <p:cNvSpPr/>
          <p:nvPr/>
        </p:nvSpPr>
        <p:spPr>
          <a:xfrm>
            <a:off x="7891272" y="338328"/>
            <a:ext cx="100584" cy="100584"/>
          </a:xfrm>
          <a:prstGeom prst="ellipse">
            <a:avLst/>
          </a:prstGeom>
          <a:solidFill>
            <a:srgbClr val="0E5A2E"/>
          </a:solidFill>
          <a:ln/>
        </p:spPr>
      </p:sp>
      <p:sp>
        <p:nvSpPr>
          <p:cNvPr id="8" name="Shape 6"/>
          <p:cNvSpPr/>
          <p:nvPr/>
        </p:nvSpPr>
        <p:spPr>
          <a:xfrm>
            <a:off x="8065008" y="338328"/>
            <a:ext cx="100584" cy="100584"/>
          </a:xfrm>
          <a:prstGeom prst="ellipse">
            <a:avLst/>
          </a:prstGeom>
          <a:solidFill>
            <a:srgbClr val="D3E2D7"/>
          </a:solidFill>
          <a:ln/>
        </p:spPr>
      </p:sp>
      <p:sp>
        <p:nvSpPr>
          <p:cNvPr id="9" name="Shape 7"/>
          <p:cNvSpPr/>
          <p:nvPr/>
        </p:nvSpPr>
        <p:spPr>
          <a:xfrm>
            <a:off x="8238744" y="338328"/>
            <a:ext cx="100584" cy="100584"/>
          </a:xfrm>
          <a:prstGeom prst="ellipse">
            <a:avLst/>
          </a:prstGeom>
          <a:solidFill>
            <a:srgbClr val="D3E2D7"/>
          </a:solidFill>
          <a:ln/>
        </p:spPr>
      </p:sp>
      <p:sp>
        <p:nvSpPr>
          <p:cNvPr id="10" name="Shape 8"/>
          <p:cNvSpPr/>
          <p:nvPr/>
        </p:nvSpPr>
        <p:spPr>
          <a:xfrm>
            <a:off x="8412480" y="338328"/>
            <a:ext cx="100584" cy="100584"/>
          </a:xfrm>
          <a:prstGeom prst="ellipse">
            <a:avLst/>
          </a:prstGeom>
          <a:solidFill>
            <a:srgbClr val="D3E2D7"/>
          </a:solidFill>
          <a:ln/>
        </p:spPr>
      </p:sp>
      <p:sp>
        <p:nvSpPr>
          <p:cNvPr id="11" name="Shape 9"/>
          <p:cNvSpPr/>
          <p:nvPr/>
        </p:nvSpPr>
        <p:spPr>
          <a:xfrm>
            <a:off x="8586216" y="338328"/>
            <a:ext cx="100584" cy="100584"/>
          </a:xfrm>
          <a:prstGeom prst="ellipse">
            <a:avLst/>
          </a:prstGeom>
          <a:solidFill>
            <a:srgbClr val="D3E2D7"/>
          </a:solidFill>
          <a:ln/>
        </p:spPr>
      </p:sp>
      <p:sp>
        <p:nvSpPr>
          <p:cNvPr id="12" name="Text 10"/>
          <p:cNvSpPr txBox="1"/>
          <p:nvPr/>
        </p:nvSpPr>
        <p:spPr>
          <a:xfrm>
            <a:off x="457200" y="4800600"/>
            <a:ext cx="6766560" cy="201168"/>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Registering for Google Earth Engine · AfDB – Data Innovation for Africa (DI4A)</a:t>
            </a:r>
            <a:endParaRPr lang="en-US" sz="850" dirty="0"/>
          </a:p>
        </p:txBody>
      </p:sp>
      <p:sp>
        <p:nvSpPr>
          <p:cNvPr id="13" name="Text 11"/>
          <p:cNvSpPr txBox="1"/>
          <p:nvPr/>
        </p:nvSpPr>
        <p:spPr>
          <a:xfrm>
            <a:off x="7772400" y="4800600"/>
            <a:ext cx="914400" cy="201168"/>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8</a:t>
            </a:r>
            <a:endParaRPr lang="en-US" sz="850" dirty="0"/>
          </a:p>
        </p:txBody>
      </p:sp>
      <p:sp>
        <p:nvSpPr>
          <p:cNvPr id="14" name="Shape 12"/>
          <p:cNvSpPr/>
          <p:nvPr/>
        </p:nvSpPr>
        <p:spPr>
          <a:xfrm>
            <a:off x="411480" y="1325880"/>
            <a:ext cx="5760720" cy="3040058"/>
          </a:xfrm>
          <a:prstGeom prst="roundRect">
            <a:avLst>
              <a:gd name="adj" fmla="val 1805"/>
            </a:avLst>
          </a:prstGeom>
          <a:solidFill>
            <a:srgbClr val="FFFFFF"/>
          </a:solidFill>
          <a:ln w="9525">
            <a:solidFill>
              <a:srgbClr val="D3E2D7"/>
            </a:solidFill>
            <a:prstDash val="solid"/>
          </a:ln>
          <a:effectLst>
            <a:outerShdw blurRad="76200" dist="25400" dir="5400000" algn="bl" rotWithShape="0">
              <a:srgbClr val="000000">
                <a:alpha val="12000"/>
              </a:srgbClr>
            </a:outerShdw>
          </a:effectLst>
        </p:spPr>
      </p:sp>
      <p:pic>
        <p:nvPicPr>
          <p:cNvPr id="15" name="Image 0" descr="Google Cloud console screenshot 3"/>
          <p:cNvPicPr>
            <a:picLocks noChangeAspect="1"/>
          </p:cNvPicPr>
          <p:nvPr/>
        </p:nvPicPr>
        <p:blipFill>
          <a:blip r:embed="rId4"/>
          <a:stretch>
            <a:fillRect/>
          </a:stretch>
        </p:blipFill>
        <p:spPr>
          <a:xfrm>
            <a:off x="457200" y="1371600"/>
            <a:ext cx="5669280" cy="2948618"/>
          </a:xfrm>
          <a:prstGeom prst="rect">
            <a:avLst/>
          </a:prstGeom>
        </p:spPr>
      </p:pic>
      <p:sp>
        <p:nvSpPr>
          <p:cNvPr id="16" name="Shape 13"/>
          <p:cNvSpPr/>
          <p:nvPr/>
        </p:nvSpPr>
        <p:spPr>
          <a:xfrm>
            <a:off x="6400800" y="1389888"/>
            <a:ext cx="274320" cy="274320"/>
          </a:xfrm>
          <a:prstGeom prst="ellipse">
            <a:avLst/>
          </a:prstGeom>
          <a:solidFill>
            <a:srgbClr val="0E5A2E">
              <a:alpha val="22000"/>
            </a:srgbClr>
          </a:solidFill>
          <a:ln/>
        </p:spPr>
      </p:sp>
      <p:sp>
        <p:nvSpPr>
          <p:cNvPr id="17" name="Text 14"/>
          <p:cNvSpPr txBox="1"/>
          <p:nvPr/>
        </p:nvSpPr>
        <p:spPr>
          <a:xfrm>
            <a:off x="6400800" y="1389888"/>
            <a:ext cx="274320" cy="274320"/>
          </a:xfrm>
          <a:prstGeom prst="rect">
            <a:avLst/>
          </a:prstGeom>
          <a:noFill/>
          <a:ln/>
        </p:spPr>
        <p:txBody>
          <a:bodyPr wrap="square" lIns="0" tIns="0" rIns="0" bIns="0" rtlCol="0" anchor="ctr"/>
          <a:lstStyle/>
          <a:p>
            <a:pPr marL="0" indent="0" algn="ctr">
              <a:buNone/>
            </a:pPr>
            <a:r>
              <a:rPr lang="en-US" sz="1100" b="1" dirty="0">
                <a:solidFill>
                  <a:srgbClr val="0E5A2E"/>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6784848" y="1371600"/>
            <a:ext cx="1901952" cy="4114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Research using Earth Engine: </a:t>
            </a:r>
            <a:r>
              <a:rPr lang="en-US" sz="1150" b="1" dirty="0">
                <a:solidFill>
                  <a:srgbClr val="231F20"/>
                </a:solidFill>
                <a:latin typeface="Calibri" pitchFamily="34" charset="0"/>
                <a:ea typeface="Calibri" pitchFamily="34" charset="-122"/>
                <a:cs typeface="Calibri" pitchFamily="34" charset="-120"/>
              </a:rPr>
              <a:t>Yes</a:t>
            </a:r>
            <a:r>
              <a:rPr lang="en-US" sz="1150" dirty="0">
                <a:solidFill>
                  <a:srgbClr val="231F20"/>
                </a:solidFill>
                <a:latin typeface="Calibri" pitchFamily="34" charset="0"/>
                <a:ea typeface="Calibri" pitchFamily="34" charset="-122"/>
                <a:cs typeface="Calibri" pitchFamily="34" charset="-120"/>
              </a:rPr>
              <a:t>.</a:t>
            </a:r>
            <a:endParaRPr lang="en-US" sz="1150" dirty="0"/>
          </a:p>
        </p:txBody>
      </p:sp>
      <p:sp>
        <p:nvSpPr>
          <p:cNvPr id="19" name="Shape 16"/>
          <p:cNvSpPr/>
          <p:nvPr/>
        </p:nvSpPr>
        <p:spPr>
          <a:xfrm>
            <a:off x="6400800" y="1929384"/>
            <a:ext cx="274320" cy="274320"/>
          </a:xfrm>
          <a:prstGeom prst="ellipse">
            <a:avLst/>
          </a:prstGeom>
          <a:solidFill>
            <a:srgbClr val="0E5A2E">
              <a:alpha val="22000"/>
            </a:srgbClr>
          </a:solidFill>
          <a:ln/>
        </p:spPr>
      </p:sp>
      <p:sp>
        <p:nvSpPr>
          <p:cNvPr id="20" name="Text 17"/>
          <p:cNvSpPr txBox="1"/>
          <p:nvPr/>
        </p:nvSpPr>
        <p:spPr>
          <a:xfrm>
            <a:off x="6400800" y="1929384"/>
            <a:ext cx="274320" cy="274320"/>
          </a:xfrm>
          <a:prstGeom prst="rect">
            <a:avLst/>
          </a:prstGeom>
          <a:noFill/>
          <a:ln/>
        </p:spPr>
        <p:txBody>
          <a:bodyPr wrap="square" lIns="0" tIns="0" rIns="0" bIns="0" rtlCol="0" anchor="ctr"/>
          <a:lstStyle/>
          <a:p>
            <a:pPr marL="0" indent="0" algn="ctr">
              <a:buNone/>
            </a:pPr>
            <a:r>
              <a:rPr lang="en-US" sz="1100" b="1" dirty="0">
                <a:solidFill>
                  <a:srgbClr val="0E5A2E"/>
                </a:solidFill>
                <a:latin typeface="Calibri" pitchFamily="34" charset="0"/>
                <a:ea typeface="Calibri" pitchFamily="34" charset="-122"/>
                <a:cs typeface="Calibri" pitchFamily="34" charset="-120"/>
              </a:rPr>
              <a:t>2</a:t>
            </a:r>
            <a:endParaRPr lang="en-US" sz="1100" dirty="0"/>
          </a:p>
        </p:txBody>
      </p:sp>
      <p:sp>
        <p:nvSpPr>
          <p:cNvPr id="21" name="Text 18"/>
          <p:cNvSpPr txBox="1"/>
          <p:nvPr/>
        </p:nvSpPr>
        <p:spPr>
          <a:xfrm>
            <a:off x="6784848" y="1911096"/>
            <a:ext cx="1901952" cy="4114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Scope: </a:t>
            </a:r>
            <a:r>
              <a:rPr lang="en-US" sz="1150" b="1" dirty="0">
                <a:solidFill>
                  <a:srgbClr val="231F20"/>
                </a:solidFill>
                <a:latin typeface="Calibri" pitchFamily="34" charset="0"/>
                <a:ea typeface="Calibri" pitchFamily="34" charset="-122"/>
                <a:cs typeface="Calibri" pitchFamily="34" charset="-120"/>
              </a:rPr>
              <a:t>Regional</a:t>
            </a:r>
            <a:r>
              <a:rPr lang="en-US" sz="1150" dirty="0">
                <a:solidFill>
                  <a:srgbClr val="231F20"/>
                </a:solidFill>
                <a:latin typeface="Calibri" pitchFamily="34" charset="0"/>
                <a:ea typeface="Calibri" pitchFamily="34" charset="-122"/>
                <a:cs typeface="Calibri" pitchFamily="34" charset="-120"/>
              </a:rPr>
              <a:t>, region </a:t>
            </a:r>
            <a:r>
              <a:rPr lang="en-US" sz="1150" b="1" dirty="0">
                <a:solidFill>
                  <a:srgbClr val="231F20"/>
                </a:solidFill>
                <a:latin typeface="Calibri" pitchFamily="34" charset="0"/>
                <a:ea typeface="Calibri" pitchFamily="34" charset="-122"/>
                <a:cs typeface="Calibri" pitchFamily="34" charset="-120"/>
              </a:rPr>
              <a:t>Africa</a:t>
            </a:r>
            <a:r>
              <a:rPr lang="en-US" sz="1150" dirty="0">
                <a:solidFill>
                  <a:srgbClr val="231F20"/>
                </a:solidFill>
                <a:latin typeface="Calibri" pitchFamily="34" charset="0"/>
                <a:ea typeface="Calibri" pitchFamily="34" charset="-122"/>
                <a:cs typeface="Calibri" pitchFamily="34" charset="-120"/>
              </a:rPr>
              <a:t>.</a:t>
            </a:r>
            <a:endParaRPr lang="en-US" sz="1150" dirty="0"/>
          </a:p>
        </p:txBody>
      </p:sp>
      <p:sp>
        <p:nvSpPr>
          <p:cNvPr id="22" name="Shape 19"/>
          <p:cNvSpPr/>
          <p:nvPr/>
        </p:nvSpPr>
        <p:spPr>
          <a:xfrm>
            <a:off x="6400800" y="2468880"/>
            <a:ext cx="274320" cy="274320"/>
          </a:xfrm>
          <a:prstGeom prst="ellipse">
            <a:avLst/>
          </a:prstGeom>
          <a:solidFill>
            <a:srgbClr val="0E5A2E">
              <a:alpha val="22000"/>
            </a:srgbClr>
          </a:solidFill>
          <a:ln/>
        </p:spPr>
      </p:sp>
      <p:sp>
        <p:nvSpPr>
          <p:cNvPr id="23" name="Text 20"/>
          <p:cNvSpPr txBox="1"/>
          <p:nvPr/>
        </p:nvSpPr>
        <p:spPr>
          <a:xfrm>
            <a:off x="6400800" y="2468880"/>
            <a:ext cx="274320" cy="274320"/>
          </a:xfrm>
          <a:prstGeom prst="rect">
            <a:avLst/>
          </a:prstGeom>
          <a:noFill/>
          <a:ln/>
        </p:spPr>
        <p:txBody>
          <a:bodyPr wrap="square" lIns="0" tIns="0" rIns="0" bIns="0" rtlCol="0" anchor="ctr"/>
          <a:lstStyle/>
          <a:p>
            <a:pPr marL="0" indent="0" algn="ctr">
              <a:buNone/>
            </a:pPr>
            <a:r>
              <a:rPr lang="en-US" sz="1100" b="1" dirty="0">
                <a:solidFill>
                  <a:srgbClr val="0E5A2E"/>
                </a:solidFill>
                <a:latin typeface="Calibri" pitchFamily="34" charset="0"/>
                <a:ea typeface="Calibri" pitchFamily="34" charset="-122"/>
                <a:cs typeface="Calibri" pitchFamily="34" charset="-120"/>
              </a:rPr>
              <a:t>3</a:t>
            </a:r>
            <a:endParaRPr lang="en-US" sz="1100" dirty="0"/>
          </a:p>
        </p:txBody>
      </p:sp>
      <p:sp>
        <p:nvSpPr>
          <p:cNvPr id="24" name="Text 21"/>
          <p:cNvSpPr txBox="1"/>
          <p:nvPr/>
        </p:nvSpPr>
        <p:spPr>
          <a:xfrm>
            <a:off x="6784848" y="2450592"/>
            <a:ext cx="1901952" cy="4114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Previously published work: </a:t>
            </a:r>
            <a:r>
              <a:rPr lang="en-US" sz="1150" b="1" dirty="0">
                <a:solidFill>
                  <a:srgbClr val="231F20"/>
                </a:solidFill>
                <a:latin typeface="Calibri" pitchFamily="34" charset="0"/>
                <a:ea typeface="Calibri" pitchFamily="34" charset="-122"/>
                <a:cs typeface="Calibri" pitchFamily="34" charset="-120"/>
              </a:rPr>
              <a:t>No</a:t>
            </a:r>
            <a:r>
              <a:rPr lang="en-US" sz="1150" dirty="0">
                <a:solidFill>
                  <a:srgbClr val="231F20"/>
                </a:solidFill>
                <a:latin typeface="Calibri" pitchFamily="34" charset="0"/>
                <a:ea typeface="Calibri" pitchFamily="34" charset="-122"/>
                <a:cs typeface="Calibri" pitchFamily="34" charset="-120"/>
              </a:rPr>
              <a:t>.</a:t>
            </a:r>
            <a:endParaRPr lang="en-US" sz="1150" dirty="0"/>
          </a:p>
        </p:txBody>
      </p:sp>
      <p:sp>
        <p:nvSpPr>
          <p:cNvPr id="25" name="Shape 22"/>
          <p:cNvSpPr/>
          <p:nvPr/>
        </p:nvSpPr>
        <p:spPr>
          <a:xfrm>
            <a:off x="6400800" y="3008376"/>
            <a:ext cx="274320" cy="274320"/>
          </a:xfrm>
          <a:prstGeom prst="ellipse">
            <a:avLst/>
          </a:prstGeom>
          <a:solidFill>
            <a:srgbClr val="0E5A2E">
              <a:alpha val="22000"/>
            </a:srgbClr>
          </a:solidFill>
          <a:ln/>
        </p:spPr>
      </p:sp>
      <p:sp>
        <p:nvSpPr>
          <p:cNvPr id="26" name="Text 23"/>
          <p:cNvSpPr txBox="1"/>
          <p:nvPr/>
        </p:nvSpPr>
        <p:spPr>
          <a:xfrm>
            <a:off x="6400800" y="3008376"/>
            <a:ext cx="274320" cy="274320"/>
          </a:xfrm>
          <a:prstGeom prst="rect">
            <a:avLst/>
          </a:prstGeom>
          <a:noFill/>
          <a:ln/>
        </p:spPr>
        <p:txBody>
          <a:bodyPr wrap="square" lIns="0" tIns="0" rIns="0" bIns="0" rtlCol="0" anchor="ctr"/>
          <a:lstStyle/>
          <a:p>
            <a:pPr marL="0" indent="0" algn="ctr">
              <a:buNone/>
            </a:pPr>
            <a:r>
              <a:rPr lang="en-US" sz="1100" b="1" dirty="0">
                <a:solidFill>
                  <a:srgbClr val="0E5A2E"/>
                </a:solidFill>
                <a:latin typeface="Calibri" pitchFamily="34" charset="0"/>
                <a:ea typeface="Calibri" pitchFamily="34" charset="-122"/>
                <a:cs typeface="Calibri" pitchFamily="34" charset="-120"/>
              </a:rPr>
              <a:t>4</a:t>
            </a:r>
            <a:endParaRPr lang="en-US" sz="1100" dirty="0"/>
          </a:p>
        </p:txBody>
      </p:sp>
      <p:sp>
        <p:nvSpPr>
          <p:cNvPr id="27" name="Text 24"/>
          <p:cNvSpPr txBox="1"/>
          <p:nvPr/>
        </p:nvSpPr>
        <p:spPr>
          <a:xfrm>
            <a:off x="6784848" y="2990088"/>
            <a:ext cx="1901952" cy="4114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Click </a:t>
            </a:r>
            <a:r>
              <a:rPr lang="en-US" sz="1150" b="1" dirty="0">
                <a:solidFill>
                  <a:srgbClr val="231F20"/>
                </a:solidFill>
                <a:latin typeface="Calibri" pitchFamily="34" charset="0"/>
                <a:ea typeface="Calibri" pitchFamily="34" charset="-122"/>
                <a:cs typeface="Calibri" pitchFamily="34" charset="-120"/>
              </a:rPr>
              <a:t>Check eligibility</a:t>
            </a:r>
            <a:r>
              <a:rPr lang="en-US" sz="1150" dirty="0">
                <a:solidFill>
                  <a:srgbClr val="231F20"/>
                </a:solidFill>
                <a:latin typeface="Calibri" pitchFamily="34" charset="0"/>
                <a:ea typeface="Calibri" pitchFamily="34" charset="-122"/>
                <a:cs typeface="Calibri" pitchFamily="34" charset="-120"/>
              </a:rPr>
              <a:t>.</a:t>
            </a:r>
            <a:endParaRPr lang="en-US" sz="1150" dirty="0"/>
          </a:p>
        </p:txBody>
      </p:sp>
      <p:sp>
        <p:nvSpPr>
          <p:cNvPr id="28" name="Text 25"/>
          <p:cNvSpPr txBox="1"/>
          <p:nvPr/>
        </p:nvSpPr>
        <p:spPr>
          <a:xfrm>
            <a:off x="457200" y="4553712"/>
            <a:ext cx="8229600" cy="182880"/>
          </a:xfrm>
          <a:prstGeom prst="rect">
            <a:avLst/>
          </a:prstGeom>
          <a:noFill/>
          <a:ln/>
        </p:spPr>
        <p:txBody>
          <a:bodyPr wrap="square" lIns="0" tIns="0" rIns="0" bIns="0" rtlCol="0" anchor="ctr"/>
          <a:lstStyle/>
          <a:p>
            <a:pPr marL="0" indent="0">
              <a:buNone/>
            </a:pPr>
            <a:r>
              <a:rPr lang="en-US" sz="900" i="1" dirty="0">
                <a:solidFill>
                  <a:srgbClr val="5A6660"/>
                </a:solidFill>
                <a:latin typeface="Calibri" pitchFamily="34" charset="0"/>
                <a:ea typeface="Calibri" pitchFamily="34" charset="-122"/>
                <a:cs typeface="Calibri" pitchFamily="34" charset="-120"/>
              </a:rPr>
              <a:t>Source: Google Cloud console, “Check noncommercial eligibility” step (screenshot).</a:t>
            </a:r>
            <a:endParaRPr lang="en-US" sz="9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9045"/>
          </a:solidFill>
          <a:ln/>
        </p:spPr>
      </p:sp>
      <p:sp>
        <p:nvSpPr>
          <p:cNvPr id="3" name="Shape 1"/>
          <p:cNvSpPr/>
          <p:nvPr/>
        </p:nvSpPr>
        <p:spPr>
          <a:xfrm>
            <a:off x="0" y="0"/>
            <a:ext cx="1234440" cy="54864"/>
          </a:xfrm>
          <a:prstGeom prst="rect">
            <a:avLst/>
          </a:prstGeom>
          <a:solidFill>
            <a:srgbClr val="F5C242"/>
          </a:solidFill>
          <a:ln/>
        </p:spPr>
      </p:sp>
      <p:sp>
        <p:nvSpPr>
          <p:cNvPr id="4" name="Text 2"/>
          <p:cNvSpPr txBox="1"/>
          <p:nvPr/>
        </p:nvSpPr>
        <p:spPr>
          <a:xfrm>
            <a:off x="457200" y="274320"/>
            <a:ext cx="685800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02 · NONCOMMERCIAL ELIGIBILITY</a:t>
            </a:r>
            <a:endParaRPr lang="en-US" sz="1050" dirty="0"/>
          </a:p>
        </p:txBody>
      </p:sp>
      <p:sp>
        <p:nvSpPr>
          <p:cNvPr id="5" name="Text 3"/>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Confirm eligibility</a:t>
            </a:r>
            <a:endParaRPr lang="en-US" sz="2800" dirty="0"/>
          </a:p>
        </p:txBody>
      </p:sp>
      <p:sp>
        <p:nvSpPr>
          <p:cNvPr id="6" name="Shape 4"/>
          <p:cNvSpPr/>
          <p:nvPr/>
        </p:nvSpPr>
        <p:spPr>
          <a:xfrm>
            <a:off x="7717536" y="338328"/>
            <a:ext cx="100584" cy="100584"/>
          </a:xfrm>
          <a:prstGeom prst="ellipse">
            <a:avLst/>
          </a:prstGeom>
          <a:solidFill>
            <a:srgbClr val="D3E2D7"/>
          </a:solidFill>
          <a:ln/>
        </p:spPr>
      </p:sp>
      <p:sp>
        <p:nvSpPr>
          <p:cNvPr id="7" name="Shape 5"/>
          <p:cNvSpPr/>
          <p:nvPr/>
        </p:nvSpPr>
        <p:spPr>
          <a:xfrm>
            <a:off x="7891272" y="338328"/>
            <a:ext cx="100584" cy="100584"/>
          </a:xfrm>
          <a:prstGeom prst="ellipse">
            <a:avLst/>
          </a:prstGeom>
          <a:solidFill>
            <a:srgbClr val="0E5A2E"/>
          </a:solidFill>
          <a:ln/>
        </p:spPr>
      </p:sp>
      <p:sp>
        <p:nvSpPr>
          <p:cNvPr id="8" name="Shape 6"/>
          <p:cNvSpPr/>
          <p:nvPr/>
        </p:nvSpPr>
        <p:spPr>
          <a:xfrm>
            <a:off x="8065008" y="338328"/>
            <a:ext cx="100584" cy="100584"/>
          </a:xfrm>
          <a:prstGeom prst="ellipse">
            <a:avLst/>
          </a:prstGeom>
          <a:solidFill>
            <a:srgbClr val="D3E2D7"/>
          </a:solidFill>
          <a:ln/>
        </p:spPr>
      </p:sp>
      <p:sp>
        <p:nvSpPr>
          <p:cNvPr id="9" name="Shape 7"/>
          <p:cNvSpPr/>
          <p:nvPr/>
        </p:nvSpPr>
        <p:spPr>
          <a:xfrm>
            <a:off x="8238744" y="338328"/>
            <a:ext cx="100584" cy="100584"/>
          </a:xfrm>
          <a:prstGeom prst="ellipse">
            <a:avLst/>
          </a:prstGeom>
          <a:solidFill>
            <a:srgbClr val="D3E2D7"/>
          </a:solidFill>
          <a:ln/>
        </p:spPr>
      </p:sp>
      <p:sp>
        <p:nvSpPr>
          <p:cNvPr id="10" name="Shape 8"/>
          <p:cNvSpPr/>
          <p:nvPr/>
        </p:nvSpPr>
        <p:spPr>
          <a:xfrm>
            <a:off x="8412480" y="338328"/>
            <a:ext cx="100584" cy="100584"/>
          </a:xfrm>
          <a:prstGeom prst="ellipse">
            <a:avLst/>
          </a:prstGeom>
          <a:solidFill>
            <a:srgbClr val="D3E2D7"/>
          </a:solidFill>
          <a:ln/>
        </p:spPr>
      </p:sp>
      <p:sp>
        <p:nvSpPr>
          <p:cNvPr id="11" name="Shape 9"/>
          <p:cNvSpPr/>
          <p:nvPr/>
        </p:nvSpPr>
        <p:spPr>
          <a:xfrm>
            <a:off x="8586216" y="338328"/>
            <a:ext cx="100584" cy="100584"/>
          </a:xfrm>
          <a:prstGeom prst="ellipse">
            <a:avLst/>
          </a:prstGeom>
          <a:solidFill>
            <a:srgbClr val="D3E2D7"/>
          </a:solidFill>
          <a:ln/>
        </p:spPr>
      </p:sp>
      <p:sp>
        <p:nvSpPr>
          <p:cNvPr id="12" name="Text 10"/>
          <p:cNvSpPr txBox="1"/>
          <p:nvPr/>
        </p:nvSpPr>
        <p:spPr>
          <a:xfrm>
            <a:off x="457200" y="4800600"/>
            <a:ext cx="6766560" cy="201168"/>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Registering for Google Earth Engine · AfDB – Data Innovation for Africa (DI4A)</a:t>
            </a:r>
            <a:endParaRPr lang="en-US" sz="850" dirty="0"/>
          </a:p>
        </p:txBody>
      </p:sp>
      <p:sp>
        <p:nvSpPr>
          <p:cNvPr id="13" name="Text 11"/>
          <p:cNvSpPr txBox="1"/>
          <p:nvPr/>
        </p:nvSpPr>
        <p:spPr>
          <a:xfrm>
            <a:off x="7772400" y="4800600"/>
            <a:ext cx="914400" cy="201168"/>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9</a:t>
            </a:r>
            <a:endParaRPr lang="en-US" sz="850" dirty="0"/>
          </a:p>
        </p:txBody>
      </p:sp>
      <p:sp>
        <p:nvSpPr>
          <p:cNvPr id="14" name="Shape 12"/>
          <p:cNvSpPr/>
          <p:nvPr/>
        </p:nvSpPr>
        <p:spPr>
          <a:xfrm>
            <a:off x="2971800" y="1325880"/>
            <a:ext cx="5760720" cy="3026578"/>
          </a:xfrm>
          <a:prstGeom prst="roundRect">
            <a:avLst>
              <a:gd name="adj" fmla="val 1813"/>
            </a:avLst>
          </a:prstGeom>
          <a:solidFill>
            <a:srgbClr val="FFFFFF"/>
          </a:solidFill>
          <a:ln w="9525">
            <a:solidFill>
              <a:srgbClr val="D3E2D7"/>
            </a:solidFill>
            <a:prstDash val="solid"/>
          </a:ln>
          <a:effectLst>
            <a:outerShdw blurRad="76200" dist="25400" dir="5400000" algn="bl" rotWithShape="0">
              <a:srgbClr val="000000">
                <a:alpha val="12000"/>
              </a:srgbClr>
            </a:outerShdw>
          </a:effectLst>
        </p:spPr>
      </p:sp>
      <p:pic>
        <p:nvPicPr>
          <p:cNvPr id="15" name="Image 0" descr="Google Cloud console screenshot 4"/>
          <p:cNvPicPr>
            <a:picLocks noChangeAspect="1"/>
          </p:cNvPicPr>
          <p:nvPr/>
        </p:nvPicPr>
        <p:blipFill>
          <a:blip r:embed="rId4"/>
          <a:stretch>
            <a:fillRect/>
          </a:stretch>
        </p:blipFill>
        <p:spPr>
          <a:xfrm>
            <a:off x="3017520" y="1371600"/>
            <a:ext cx="5669280" cy="2935138"/>
          </a:xfrm>
          <a:prstGeom prst="rect">
            <a:avLst/>
          </a:prstGeom>
        </p:spPr>
      </p:pic>
      <p:sp>
        <p:nvSpPr>
          <p:cNvPr id="16" name="Shape 13"/>
          <p:cNvSpPr/>
          <p:nvPr/>
        </p:nvSpPr>
        <p:spPr>
          <a:xfrm>
            <a:off x="457200" y="1371600"/>
            <a:ext cx="2331720" cy="1600200"/>
          </a:xfrm>
          <a:prstGeom prst="roundRect">
            <a:avLst>
              <a:gd name="adj" fmla="val 4571"/>
            </a:avLst>
          </a:prstGeom>
          <a:solidFill>
            <a:srgbClr val="E8F4EB"/>
          </a:solidFill>
          <a:ln w="19050">
            <a:solidFill>
              <a:srgbClr val="2C9045"/>
            </a:solidFill>
            <a:prstDash val="solid"/>
          </a:ln>
        </p:spPr>
      </p:sp>
      <p:pic>
        <p:nvPicPr>
          <p:cNvPr id="17" name="Image 1" descr="preencoded.png"/>
          <p:cNvPicPr>
            <a:picLocks noChangeAspect="1"/>
          </p:cNvPicPr>
          <p:nvPr/>
        </p:nvPicPr>
        <p:blipFill>
          <a:blip r:embed="rId5"/>
          <a:stretch>
            <a:fillRect/>
          </a:stretch>
        </p:blipFill>
        <p:spPr>
          <a:xfrm>
            <a:off x="640080" y="1554480"/>
            <a:ext cx="384048" cy="384048"/>
          </a:xfrm>
          <a:prstGeom prst="rect">
            <a:avLst/>
          </a:prstGeom>
        </p:spPr>
      </p:pic>
      <p:sp>
        <p:nvSpPr>
          <p:cNvPr id="18" name="Text 14"/>
          <p:cNvSpPr txBox="1"/>
          <p:nvPr/>
        </p:nvSpPr>
        <p:spPr>
          <a:xfrm>
            <a:off x="1115568" y="1554480"/>
            <a:ext cx="1554480" cy="384048"/>
          </a:xfrm>
          <a:prstGeom prst="rect">
            <a:avLst/>
          </a:prstGeom>
          <a:noFill/>
          <a:ln/>
        </p:spPr>
        <p:txBody>
          <a:bodyPr wrap="square" lIns="0" tIns="0" rIns="0" bIns="0" rtlCol="0" anchor="ctr"/>
          <a:lstStyle/>
          <a:p>
            <a:pPr marL="0" indent="0">
              <a:buNone/>
            </a:pPr>
            <a:r>
              <a:rPr lang="en-US" sz="2200" b="1" dirty="0">
                <a:solidFill>
                  <a:srgbClr val="0E5A2E"/>
                </a:solidFill>
                <a:latin typeface="Calibri" pitchFamily="34" charset="0"/>
                <a:ea typeface="Calibri" pitchFamily="34" charset="-122"/>
                <a:cs typeface="Calibri" pitchFamily="34" charset="-120"/>
              </a:rPr>
              <a:t>Eligible</a:t>
            </a:r>
            <a:endParaRPr lang="en-US" sz="2200" dirty="0"/>
          </a:p>
        </p:txBody>
      </p:sp>
      <p:sp>
        <p:nvSpPr>
          <p:cNvPr id="19" name="Text 15"/>
          <p:cNvSpPr txBox="1"/>
          <p:nvPr/>
        </p:nvSpPr>
        <p:spPr>
          <a:xfrm>
            <a:off x="640080" y="2057400"/>
            <a:ext cx="2011680" cy="777240"/>
          </a:xfrm>
          <a:prstGeom prst="rect">
            <a:avLst/>
          </a:prstGeom>
          <a:noFill/>
          <a:ln/>
        </p:spPr>
        <p:txBody>
          <a:bodyPr wrap="square" lIns="0" tIns="0" rIns="0" bIns="0" rtlCol="0" anchor="t"/>
          <a:lstStyle/>
          <a:p>
            <a:pPr marL="0" indent="0">
              <a:buNone/>
            </a:pPr>
            <a:r>
              <a:rPr lang="en-US" sz="1050" i="1" dirty="0">
                <a:solidFill>
                  <a:srgbClr val="231F20"/>
                </a:solidFill>
                <a:latin typeface="Calibri" pitchFamily="34" charset="0"/>
                <a:ea typeface="Calibri" pitchFamily="34" charset="-122"/>
                <a:cs typeface="Calibri" pitchFamily="34" charset="-120"/>
              </a:rPr>
              <a:t>“Based on your answers, you are eligible for noncommercial Earth Engine use.”</a:t>
            </a:r>
            <a:endParaRPr lang="en-US" sz="1050" dirty="0"/>
          </a:p>
        </p:txBody>
      </p:sp>
      <p:sp>
        <p:nvSpPr>
          <p:cNvPr id="20" name="Shape 16"/>
          <p:cNvSpPr/>
          <p:nvPr/>
        </p:nvSpPr>
        <p:spPr>
          <a:xfrm>
            <a:off x="457200" y="3218688"/>
            <a:ext cx="274320" cy="274320"/>
          </a:xfrm>
          <a:prstGeom prst="ellipse">
            <a:avLst/>
          </a:prstGeom>
          <a:solidFill>
            <a:srgbClr val="0E5A2E">
              <a:alpha val="22000"/>
            </a:srgbClr>
          </a:solidFill>
          <a:ln/>
        </p:spPr>
      </p:sp>
      <p:sp>
        <p:nvSpPr>
          <p:cNvPr id="21" name="Text 17"/>
          <p:cNvSpPr txBox="1"/>
          <p:nvPr/>
        </p:nvSpPr>
        <p:spPr>
          <a:xfrm>
            <a:off x="457200" y="3218688"/>
            <a:ext cx="274320" cy="274320"/>
          </a:xfrm>
          <a:prstGeom prst="rect">
            <a:avLst/>
          </a:prstGeom>
          <a:noFill/>
          <a:ln/>
        </p:spPr>
        <p:txBody>
          <a:bodyPr wrap="square" lIns="0" tIns="0" rIns="0" bIns="0" rtlCol="0" anchor="ctr"/>
          <a:lstStyle/>
          <a:p>
            <a:pPr marL="0" indent="0" algn="ctr">
              <a:buNone/>
            </a:pPr>
            <a:r>
              <a:rPr lang="en-US" sz="1100" b="1" dirty="0">
                <a:solidFill>
                  <a:srgbClr val="0E5A2E"/>
                </a:solidFill>
                <a:latin typeface="Calibri" pitchFamily="34" charset="0"/>
                <a:ea typeface="Calibri" pitchFamily="34" charset="-122"/>
                <a:cs typeface="Calibri" pitchFamily="34" charset="-120"/>
              </a:rPr>
              <a:t>1</a:t>
            </a:r>
            <a:endParaRPr lang="en-US" sz="1100" dirty="0"/>
          </a:p>
        </p:txBody>
      </p:sp>
      <p:sp>
        <p:nvSpPr>
          <p:cNvPr id="22" name="Text 18"/>
          <p:cNvSpPr txBox="1"/>
          <p:nvPr/>
        </p:nvSpPr>
        <p:spPr>
          <a:xfrm>
            <a:off x="841248" y="3200400"/>
            <a:ext cx="1947672" cy="4114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Read the confirmation message.</a:t>
            </a:r>
            <a:endParaRPr lang="en-US" sz="1150" dirty="0"/>
          </a:p>
        </p:txBody>
      </p:sp>
      <p:sp>
        <p:nvSpPr>
          <p:cNvPr id="23" name="Shape 19"/>
          <p:cNvSpPr/>
          <p:nvPr/>
        </p:nvSpPr>
        <p:spPr>
          <a:xfrm>
            <a:off x="457200" y="3739896"/>
            <a:ext cx="274320" cy="274320"/>
          </a:xfrm>
          <a:prstGeom prst="ellipse">
            <a:avLst/>
          </a:prstGeom>
          <a:solidFill>
            <a:srgbClr val="0E5A2E">
              <a:alpha val="22000"/>
            </a:srgbClr>
          </a:solidFill>
          <a:ln/>
        </p:spPr>
      </p:sp>
      <p:sp>
        <p:nvSpPr>
          <p:cNvPr id="24" name="Text 20"/>
          <p:cNvSpPr txBox="1"/>
          <p:nvPr/>
        </p:nvSpPr>
        <p:spPr>
          <a:xfrm>
            <a:off x="457200" y="3739896"/>
            <a:ext cx="274320" cy="274320"/>
          </a:xfrm>
          <a:prstGeom prst="rect">
            <a:avLst/>
          </a:prstGeom>
          <a:noFill/>
          <a:ln/>
        </p:spPr>
        <p:txBody>
          <a:bodyPr wrap="square" lIns="0" tIns="0" rIns="0" bIns="0" rtlCol="0" anchor="ctr"/>
          <a:lstStyle/>
          <a:p>
            <a:pPr marL="0" indent="0" algn="ctr">
              <a:buNone/>
            </a:pPr>
            <a:r>
              <a:rPr lang="en-US" sz="1100" b="1" dirty="0">
                <a:solidFill>
                  <a:srgbClr val="0E5A2E"/>
                </a:solidFill>
                <a:latin typeface="Calibri" pitchFamily="34" charset="0"/>
                <a:ea typeface="Calibri" pitchFamily="34" charset="-122"/>
                <a:cs typeface="Calibri" pitchFamily="34" charset="-120"/>
              </a:rPr>
              <a:t>2</a:t>
            </a:r>
            <a:endParaRPr lang="en-US" sz="1100" dirty="0"/>
          </a:p>
        </p:txBody>
      </p:sp>
      <p:sp>
        <p:nvSpPr>
          <p:cNvPr id="25" name="Text 21"/>
          <p:cNvSpPr txBox="1"/>
          <p:nvPr/>
        </p:nvSpPr>
        <p:spPr>
          <a:xfrm>
            <a:off x="841248" y="3721608"/>
            <a:ext cx="1947672" cy="4114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Click </a:t>
            </a:r>
            <a:r>
              <a:rPr lang="en-US" sz="1150" b="1" dirty="0">
                <a:solidFill>
                  <a:srgbClr val="231F20"/>
                </a:solidFill>
                <a:latin typeface="Calibri" pitchFamily="34" charset="0"/>
                <a:ea typeface="Calibri" pitchFamily="34" charset="-122"/>
                <a:cs typeface="Calibri" pitchFamily="34" charset="-120"/>
              </a:rPr>
              <a:t>Next</a:t>
            </a:r>
            <a:r>
              <a:rPr lang="en-US" sz="1150" dirty="0">
                <a:solidFill>
                  <a:srgbClr val="231F20"/>
                </a:solidFill>
                <a:latin typeface="Calibri" pitchFamily="34" charset="0"/>
                <a:ea typeface="Calibri" pitchFamily="34" charset="-122"/>
                <a:cs typeface="Calibri" pitchFamily="34" charset="-120"/>
              </a:rPr>
              <a:t> to choose your plan.</a:t>
            </a:r>
            <a:endParaRPr lang="en-US" sz="1150" dirty="0"/>
          </a:p>
        </p:txBody>
      </p:sp>
      <p:sp>
        <p:nvSpPr>
          <p:cNvPr id="26" name="Text 22"/>
          <p:cNvSpPr txBox="1"/>
          <p:nvPr/>
        </p:nvSpPr>
        <p:spPr>
          <a:xfrm>
            <a:off x="457200" y="4553712"/>
            <a:ext cx="8229600" cy="182880"/>
          </a:xfrm>
          <a:prstGeom prst="rect">
            <a:avLst/>
          </a:prstGeom>
          <a:noFill/>
          <a:ln/>
        </p:spPr>
        <p:txBody>
          <a:bodyPr wrap="square" lIns="0" tIns="0" rIns="0" bIns="0" rtlCol="0" anchor="ctr"/>
          <a:lstStyle/>
          <a:p>
            <a:pPr marL="0" indent="0">
              <a:buNone/>
            </a:pPr>
            <a:r>
              <a:rPr lang="en-US" sz="900" i="1" dirty="0">
                <a:solidFill>
                  <a:srgbClr val="5A6660"/>
                </a:solidFill>
                <a:latin typeface="Calibri" pitchFamily="34" charset="0"/>
                <a:ea typeface="Calibri" pitchFamily="34" charset="-122"/>
                <a:cs typeface="Calibri" pitchFamily="34" charset="-120"/>
              </a:rPr>
              <a:t>Source: Google Cloud console, eligibility message (screenshot).</a:t>
            </a:r>
            <a:endParaRPr lang="en-US" sz="9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5029200" cy="274320"/>
          </a:xfrm>
          <a:prstGeom prst="rect">
            <a:avLst/>
          </a:prstGeom>
          <a:noFill/>
          <a:ln/>
        </p:spPr>
        <p:txBody>
          <a:bodyPr wrap="square" lIns="0" tIns="0" rIns="0" bIns="0" rtlCol="0" anchor="ctr"/>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03 · STEP 3 OF 6</a:t>
            </a:r>
            <a:endParaRPr lang="en-US" sz="1050" dirty="0"/>
          </a:p>
        </p:txBody>
      </p:sp>
      <p:sp>
        <p:nvSpPr>
          <p:cNvPr id="3" name="Text 1"/>
          <p:cNvSpPr txBox="1"/>
          <p:nvPr/>
        </p:nvSpPr>
        <p:spPr>
          <a:xfrm>
            <a:off x="548640" y="1143000"/>
            <a:ext cx="2743200" cy="1188720"/>
          </a:xfrm>
          <a:prstGeom prst="rect">
            <a:avLst/>
          </a:prstGeom>
          <a:noFill/>
          <a:ln/>
        </p:spPr>
        <p:txBody>
          <a:bodyPr wrap="square" lIns="0" tIns="0" rIns="0" bIns="0" rtlCol="0" anchor="ctr"/>
          <a:lstStyle/>
          <a:p>
            <a:pPr marL="0" indent="0">
              <a:buNone/>
            </a:pPr>
            <a:r>
              <a:rPr lang="en-US" sz="8800" b="1" dirty="0">
                <a:solidFill>
                  <a:srgbClr val="F5C242"/>
                </a:solidFill>
                <a:latin typeface="Calibri" pitchFamily="34" charset="0"/>
                <a:ea typeface="Calibri" pitchFamily="34" charset="-122"/>
                <a:cs typeface="Calibri" pitchFamily="34" charset="-120"/>
              </a:rPr>
              <a:t>03</a:t>
            </a:r>
            <a:endParaRPr lang="en-US" sz="8800" dirty="0"/>
          </a:p>
        </p:txBody>
      </p:sp>
      <p:sp>
        <p:nvSpPr>
          <p:cNvPr id="4" name="Text 2"/>
          <p:cNvSpPr txBox="1"/>
          <p:nvPr/>
        </p:nvSpPr>
        <p:spPr>
          <a:xfrm>
            <a:off x="548640" y="2423160"/>
            <a:ext cx="4937760" cy="6858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Plan selection</a:t>
            </a:r>
            <a:endParaRPr lang="en-US" sz="3600" dirty="0"/>
          </a:p>
        </p:txBody>
      </p:sp>
      <p:sp>
        <p:nvSpPr>
          <p:cNvPr id="5" name="Text 3"/>
          <p:cNvSpPr txBox="1"/>
          <p:nvPr/>
        </p:nvSpPr>
        <p:spPr>
          <a:xfrm>
            <a:off x="548640" y="3154680"/>
            <a:ext cx="5120640" cy="457200"/>
          </a:xfrm>
          <a:prstGeom prst="rect">
            <a:avLst/>
          </a:prstGeom>
          <a:noFill/>
          <a:ln/>
        </p:spPr>
        <p:txBody>
          <a:bodyPr wrap="square" lIns="0" tIns="0" rIns="0" bIns="0" rtlCol="0" anchor="t"/>
          <a:lstStyle/>
          <a:p>
            <a:pPr marL="0" indent="0">
              <a:buNone/>
            </a:pPr>
            <a:r>
              <a:rPr lang="en-US" sz="1600" i="1" dirty="0">
                <a:solidFill>
                  <a:srgbClr val="E8F4EB"/>
                </a:solidFill>
                <a:latin typeface="Calibri" pitchFamily="34" charset="0"/>
                <a:ea typeface="Calibri" pitchFamily="34" charset="-122"/>
                <a:cs typeface="Calibri" pitchFamily="34" charset="-120"/>
              </a:rPr>
              <a:t>How much computing power do you need?</a:t>
            </a:r>
            <a:endParaRPr lang="en-US" sz="1600" dirty="0"/>
          </a:p>
        </p:txBody>
      </p:sp>
      <p:sp>
        <p:nvSpPr>
          <p:cNvPr id="6" name="Shape 4"/>
          <p:cNvSpPr/>
          <p:nvPr/>
        </p:nvSpPr>
        <p:spPr>
          <a:xfrm>
            <a:off x="5577840" y="868680"/>
            <a:ext cx="3017520" cy="3017520"/>
          </a:xfrm>
          <a:prstGeom prst="ellipse">
            <a:avLst/>
          </a:prstGeom>
          <a:solidFill>
            <a:srgbClr val="FFFFFF">
              <a:alpha val="12000"/>
            </a:srgbClr>
          </a:solidFill>
          <a:ln w="9525">
            <a:solidFill>
              <a:srgbClr val="FFFFFF">
                <a:alpha val="40000"/>
              </a:srgbClr>
            </a:solidFill>
            <a:prstDash val="solid"/>
          </a:ln>
        </p:spPr>
      </p:sp>
      <p:sp>
        <p:nvSpPr>
          <p:cNvPr id="7" name="Shape 5"/>
          <p:cNvSpPr/>
          <p:nvPr/>
        </p:nvSpPr>
        <p:spPr>
          <a:xfrm>
            <a:off x="5989320" y="1280160"/>
            <a:ext cx="2194560" cy="2194560"/>
          </a:xfrm>
          <a:prstGeom prst="ellipse">
            <a:avLst/>
          </a:prstGeom>
          <a:solidFill>
            <a:srgbClr val="FFFFFF">
              <a:alpha val="22000"/>
            </a:srgbClr>
          </a:solidFill>
          <a:ln w="9525">
            <a:solidFill>
              <a:srgbClr val="FFFFFF">
                <a:alpha val="40000"/>
              </a:srgbClr>
            </a:solidFill>
            <a:prstDash val="solid"/>
          </a:ln>
        </p:spPr>
      </p:sp>
      <p:sp>
        <p:nvSpPr>
          <p:cNvPr id="8" name="Shape 6"/>
          <p:cNvSpPr/>
          <p:nvPr/>
        </p:nvSpPr>
        <p:spPr>
          <a:xfrm>
            <a:off x="6373368" y="1664208"/>
            <a:ext cx="1426464" cy="1426464"/>
          </a:xfrm>
          <a:prstGeom prst="ellipse">
            <a:avLst/>
          </a:prstGeom>
          <a:solidFill>
            <a:srgbClr val="FFFFFF"/>
          </a:solidFill>
          <a:ln/>
        </p:spPr>
      </p:sp>
      <p:pic>
        <p:nvPicPr>
          <p:cNvPr id="9" name="Image 0" descr="preencoded.png"/>
          <p:cNvPicPr>
            <a:picLocks noChangeAspect="1"/>
          </p:cNvPicPr>
          <p:nvPr/>
        </p:nvPicPr>
        <p:blipFill>
          <a:blip r:embed="rId4"/>
          <a:stretch>
            <a:fillRect/>
          </a:stretch>
        </p:blipFill>
        <p:spPr>
          <a:xfrm>
            <a:off x="6757416" y="2048256"/>
            <a:ext cx="658368" cy="658368"/>
          </a:xfrm>
          <a:prstGeom prst="rect">
            <a:avLst/>
          </a:prstGeom>
        </p:spPr>
      </p:pic>
      <p:sp>
        <p:nvSpPr>
          <p:cNvPr id="10" name="Shape 7"/>
          <p:cNvSpPr/>
          <p:nvPr/>
        </p:nvSpPr>
        <p:spPr>
          <a:xfrm>
            <a:off x="548640" y="4160520"/>
            <a:ext cx="118872" cy="118872"/>
          </a:xfrm>
          <a:prstGeom prst="ellipse">
            <a:avLst/>
          </a:prstGeom>
          <a:solidFill>
            <a:srgbClr val="FFFFFF">
              <a:alpha val="40000"/>
            </a:srgbClr>
          </a:solidFill>
          <a:ln/>
        </p:spPr>
      </p:sp>
      <p:sp>
        <p:nvSpPr>
          <p:cNvPr id="11" name="Shape 8"/>
          <p:cNvSpPr/>
          <p:nvPr/>
        </p:nvSpPr>
        <p:spPr>
          <a:xfrm>
            <a:off x="768096" y="4160520"/>
            <a:ext cx="118872" cy="118872"/>
          </a:xfrm>
          <a:prstGeom prst="ellipse">
            <a:avLst/>
          </a:prstGeom>
          <a:solidFill>
            <a:srgbClr val="FFFFFF">
              <a:alpha val="40000"/>
            </a:srgbClr>
          </a:solidFill>
          <a:ln/>
        </p:spPr>
      </p:sp>
      <p:sp>
        <p:nvSpPr>
          <p:cNvPr id="12" name="Shape 9"/>
          <p:cNvSpPr/>
          <p:nvPr/>
        </p:nvSpPr>
        <p:spPr>
          <a:xfrm>
            <a:off x="987552" y="4160520"/>
            <a:ext cx="118872" cy="118872"/>
          </a:xfrm>
          <a:prstGeom prst="ellipse">
            <a:avLst/>
          </a:prstGeom>
          <a:solidFill>
            <a:srgbClr val="F5C242"/>
          </a:solidFill>
          <a:ln/>
        </p:spPr>
      </p:sp>
      <p:sp>
        <p:nvSpPr>
          <p:cNvPr id="13" name="Shape 10"/>
          <p:cNvSpPr/>
          <p:nvPr/>
        </p:nvSpPr>
        <p:spPr>
          <a:xfrm>
            <a:off x="1207008" y="4160520"/>
            <a:ext cx="118872" cy="118872"/>
          </a:xfrm>
          <a:prstGeom prst="ellipse">
            <a:avLst/>
          </a:prstGeom>
          <a:solidFill>
            <a:srgbClr val="FFFFFF">
              <a:alpha val="40000"/>
            </a:srgbClr>
          </a:solidFill>
          <a:ln/>
        </p:spPr>
      </p:sp>
      <p:sp>
        <p:nvSpPr>
          <p:cNvPr id="14" name="Shape 11"/>
          <p:cNvSpPr/>
          <p:nvPr/>
        </p:nvSpPr>
        <p:spPr>
          <a:xfrm>
            <a:off x="1426464" y="4160520"/>
            <a:ext cx="118872" cy="118872"/>
          </a:xfrm>
          <a:prstGeom prst="ellipse">
            <a:avLst/>
          </a:prstGeom>
          <a:solidFill>
            <a:srgbClr val="FFFFFF">
              <a:alpha val="40000"/>
            </a:srgbClr>
          </a:solidFill>
          <a:ln/>
        </p:spPr>
      </p:sp>
      <p:sp>
        <p:nvSpPr>
          <p:cNvPr id="15" name="Shape 12"/>
          <p:cNvSpPr/>
          <p:nvPr/>
        </p:nvSpPr>
        <p:spPr>
          <a:xfrm>
            <a:off x="1645920" y="4160520"/>
            <a:ext cx="118872" cy="118872"/>
          </a:xfrm>
          <a:prstGeom prst="ellipse">
            <a:avLst/>
          </a:prstGeom>
          <a:solidFill>
            <a:srgbClr val="FFFFFF">
              <a:alpha val="40000"/>
            </a:srgbClr>
          </a:solidFill>
          <a:ln/>
        </p:spPr>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9045"/>
          </a:solidFill>
          <a:ln/>
        </p:spPr>
      </p:sp>
      <p:sp>
        <p:nvSpPr>
          <p:cNvPr id="3" name="Shape 1"/>
          <p:cNvSpPr/>
          <p:nvPr/>
        </p:nvSpPr>
        <p:spPr>
          <a:xfrm>
            <a:off x="0" y="0"/>
            <a:ext cx="1234440" cy="54864"/>
          </a:xfrm>
          <a:prstGeom prst="rect">
            <a:avLst/>
          </a:prstGeom>
          <a:solidFill>
            <a:srgbClr val="F5C242"/>
          </a:solidFill>
          <a:ln/>
        </p:spPr>
      </p:sp>
      <p:sp>
        <p:nvSpPr>
          <p:cNvPr id="4" name="Text 2"/>
          <p:cNvSpPr txBox="1"/>
          <p:nvPr/>
        </p:nvSpPr>
        <p:spPr>
          <a:xfrm>
            <a:off x="457200" y="274320"/>
            <a:ext cx="685800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03 · PLAN SELECTION</a:t>
            </a:r>
            <a:endParaRPr lang="en-US" sz="1050" dirty="0"/>
          </a:p>
        </p:txBody>
      </p:sp>
      <p:sp>
        <p:nvSpPr>
          <p:cNvPr id="5" name="Text 3"/>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Choose a quota tier</a:t>
            </a:r>
            <a:endParaRPr lang="en-US" sz="2800" dirty="0"/>
          </a:p>
        </p:txBody>
      </p:sp>
      <p:sp>
        <p:nvSpPr>
          <p:cNvPr id="6" name="Shape 4"/>
          <p:cNvSpPr/>
          <p:nvPr/>
        </p:nvSpPr>
        <p:spPr>
          <a:xfrm>
            <a:off x="7717536" y="338328"/>
            <a:ext cx="100584" cy="100584"/>
          </a:xfrm>
          <a:prstGeom prst="ellipse">
            <a:avLst/>
          </a:prstGeom>
          <a:solidFill>
            <a:srgbClr val="D3E2D7"/>
          </a:solidFill>
          <a:ln/>
        </p:spPr>
      </p:sp>
      <p:sp>
        <p:nvSpPr>
          <p:cNvPr id="7" name="Shape 5"/>
          <p:cNvSpPr/>
          <p:nvPr/>
        </p:nvSpPr>
        <p:spPr>
          <a:xfrm>
            <a:off x="7891272" y="338328"/>
            <a:ext cx="100584" cy="100584"/>
          </a:xfrm>
          <a:prstGeom prst="ellipse">
            <a:avLst/>
          </a:prstGeom>
          <a:solidFill>
            <a:srgbClr val="D3E2D7"/>
          </a:solidFill>
          <a:ln/>
        </p:spPr>
      </p:sp>
      <p:sp>
        <p:nvSpPr>
          <p:cNvPr id="8" name="Shape 6"/>
          <p:cNvSpPr/>
          <p:nvPr/>
        </p:nvSpPr>
        <p:spPr>
          <a:xfrm>
            <a:off x="8065008" y="338328"/>
            <a:ext cx="100584" cy="100584"/>
          </a:xfrm>
          <a:prstGeom prst="ellipse">
            <a:avLst/>
          </a:prstGeom>
          <a:solidFill>
            <a:srgbClr val="0E7C86"/>
          </a:solidFill>
          <a:ln/>
        </p:spPr>
      </p:sp>
      <p:sp>
        <p:nvSpPr>
          <p:cNvPr id="9" name="Shape 7"/>
          <p:cNvSpPr/>
          <p:nvPr/>
        </p:nvSpPr>
        <p:spPr>
          <a:xfrm>
            <a:off x="8238744" y="338328"/>
            <a:ext cx="100584" cy="100584"/>
          </a:xfrm>
          <a:prstGeom prst="ellipse">
            <a:avLst/>
          </a:prstGeom>
          <a:solidFill>
            <a:srgbClr val="D3E2D7"/>
          </a:solidFill>
          <a:ln/>
        </p:spPr>
      </p:sp>
      <p:sp>
        <p:nvSpPr>
          <p:cNvPr id="10" name="Shape 8"/>
          <p:cNvSpPr/>
          <p:nvPr/>
        </p:nvSpPr>
        <p:spPr>
          <a:xfrm>
            <a:off x="8412480" y="338328"/>
            <a:ext cx="100584" cy="100584"/>
          </a:xfrm>
          <a:prstGeom prst="ellipse">
            <a:avLst/>
          </a:prstGeom>
          <a:solidFill>
            <a:srgbClr val="D3E2D7"/>
          </a:solidFill>
          <a:ln/>
        </p:spPr>
      </p:sp>
      <p:sp>
        <p:nvSpPr>
          <p:cNvPr id="11" name="Shape 9"/>
          <p:cNvSpPr/>
          <p:nvPr/>
        </p:nvSpPr>
        <p:spPr>
          <a:xfrm>
            <a:off x="8586216" y="338328"/>
            <a:ext cx="100584" cy="100584"/>
          </a:xfrm>
          <a:prstGeom prst="ellipse">
            <a:avLst/>
          </a:prstGeom>
          <a:solidFill>
            <a:srgbClr val="D3E2D7"/>
          </a:solidFill>
          <a:ln/>
        </p:spPr>
      </p:sp>
      <p:sp>
        <p:nvSpPr>
          <p:cNvPr id="12" name="Text 10"/>
          <p:cNvSpPr txBox="1"/>
          <p:nvPr/>
        </p:nvSpPr>
        <p:spPr>
          <a:xfrm>
            <a:off x="457200" y="4800600"/>
            <a:ext cx="6766560" cy="201168"/>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Registering for Google Earth Engine · AfDB – Data Innovation for Africa (DI4A)</a:t>
            </a:r>
            <a:endParaRPr lang="en-US" sz="850" dirty="0"/>
          </a:p>
        </p:txBody>
      </p:sp>
      <p:sp>
        <p:nvSpPr>
          <p:cNvPr id="13" name="Text 11"/>
          <p:cNvSpPr txBox="1"/>
          <p:nvPr/>
        </p:nvSpPr>
        <p:spPr>
          <a:xfrm>
            <a:off x="7772400" y="4800600"/>
            <a:ext cx="914400" cy="201168"/>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11</a:t>
            </a:r>
            <a:endParaRPr lang="en-US" sz="850" dirty="0"/>
          </a:p>
        </p:txBody>
      </p:sp>
      <p:sp>
        <p:nvSpPr>
          <p:cNvPr id="14" name="Shape 12"/>
          <p:cNvSpPr/>
          <p:nvPr/>
        </p:nvSpPr>
        <p:spPr>
          <a:xfrm>
            <a:off x="3383280" y="1325880"/>
            <a:ext cx="5349240" cy="2815063"/>
          </a:xfrm>
          <a:prstGeom prst="roundRect">
            <a:avLst>
              <a:gd name="adj" fmla="val 1949"/>
            </a:avLst>
          </a:prstGeom>
          <a:solidFill>
            <a:srgbClr val="FFFFFF"/>
          </a:solidFill>
          <a:ln w="9525">
            <a:solidFill>
              <a:srgbClr val="D3E2D7"/>
            </a:solidFill>
            <a:prstDash val="solid"/>
          </a:ln>
          <a:effectLst>
            <a:outerShdw blurRad="76200" dist="25400" dir="5400000" algn="bl" rotWithShape="0">
              <a:srgbClr val="000000">
                <a:alpha val="12000"/>
              </a:srgbClr>
            </a:outerShdw>
          </a:effectLst>
        </p:spPr>
      </p:sp>
      <p:pic>
        <p:nvPicPr>
          <p:cNvPr id="15" name="Image 0" descr="Google Cloud console screenshot 5"/>
          <p:cNvPicPr>
            <a:picLocks noChangeAspect="1"/>
          </p:cNvPicPr>
          <p:nvPr/>
        </p:nvPicPr>
        <p:blipFill>
          <a:blip r:embed="rId4"/>
          <a:stretch>
            <a:fillRect/>
          </a:stretch>
        </p:blipFill>
        <p:spPr>
          <a:xfrm>
            <a:off x="3429000" y="1371600"/>
            <a:ext cx="5257800" cy="2723623"/>
          </a:xfrm>
          <a:prstGeom prst="rect">
            <a:avLst/>
          </a:prstGeom>
        </p:spPr>
      </p:pic>
      <p:sp>
        <p:nvSpPr>
          <p:cNvPr id="16" name="Shape 13"/>
          <p:cNvSpPr/>
          <p:nvPr/>
        </p:nvSpPr>
        <p:spPr>
          <a:xfrm>
            <a:off x="457200" y="1371600"/>
            <a:ext cx="2743200" cy="1417320"/>
          </a:xfrm>
          <a:prstGeom prst="roundRect">
            <a:avLst>
              <a:gd name="adj" fmla="val 5161"/>
            </a:avLst>
          </a:prstGeom>
          <a:solidFill>
            <a:srgbClr val="E8F4EB"/>
          </a:solidFill>
          <a:ln w="19050">
            <a:solidFill>
              <a:srgbClr val="0E7C86"/>
            </a:solidFill>
            <a:prstDash val="solid"/>
          </a:ln>
        </p:spPr>
      </p:sp>
      <p:sp>
        <p:nvSpPr>
          <p:cNvPr id="17" name="Text 14"/>
          <p:cNvSpPr txBox="1"/>
          <p:nvPr/>
        </p:nvSpPr>
        <p:spPr>
          <a:xfrm>
            <a:off x="640080" y="1499616"/>
            <a:ext cx="2377440" cy="201168"/>
          </a:xfrm>
          <a:prstGeom prst="rect">
            <a:avLst/>
          </a:prstGeom>
          <a:noFill/>
          <a:ln/>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COMMUNITY</a:t>
            </a:r>
            <a:endParaRPr lang="en-US" sz="1000" dirty="0"/>
          </a:p>
        </p:txBody>
      </p:sp>
      <p:sp>
        <p:nvSpPr>
          <p:cNvPr id="18" name="Text 15"/>
          <p:cNvSpPr txBox="1"/>
          <p:nvPr/>
        </p:nvSpPr>
        <p:spPr>
          <a:xfrm>
            <a:off x="640080" y="1700784"/>
            <a:ext cx="2468880" cy="548640"/>
          </a:xfrm>
          <a:prstGeom prst="rect">
            <a:avLst/>
          </a:prstGeom>
          <a:noFill/>
          <a:ln/>
        </p:spPr>
        <p:txBody>
          <a:bodyPr wrap="square" lIns="0" tIns="0" rIns="0" bIns="0" rtlCol="0" anchor="ctr"/>
          <a:lstStyle/>
          <a:p>
            <a:pPr marL="0" indent="0">
              <a:buNone/>
            </a:pPr>
            <a:r>
              <a:rPr lang="en-US" sz="3400" b="1" dirty="0">
                <a:solidFill>
                  <a:srgbClr val="0E7C86"/>
                </a:solidFill>
                <a:latin typeface="Calibri" pitchFamily="34" charset="0"/>
                <a:ea typeface="Calibri" pitchFamily="34" charset="-122"/>
                <a:cs typeface="Calibri" pitchFamily="34" charset="-120"/>
              </a:rPr>
              <a:t>150</a:t>
            </a:r>
            <a:r>
              <a:rPr lang="en-US" sz="1100" dirty="0">
                <a:solidFill>
                  <a:srgbClr val="5A6660"/>
                </a:solidFill>
                <a:latin typeface="Calibri" pitchFamily="34" charset="0"/>
                <a:ea typeface="Calibri" pitchFamily="34" charset="-122"/>
                <a:cs typeface="Calibri" pitchFamily="34" charset="-120"/>
              </a:rPr>
              <a:t>  EECU-h / month</a:t>
            </a:r>
            <a:endParaRPr lang="en-US" sz="3400" dirty="0"/>
          </a:p>
        </p:txBody>
      </p:sp>
      <p:sp>
        <p:nvSpPr>
          <p:cNvPr id="19" name="Text 16"/>
          <p:cNvSpPr txBox="1"/>
          <p:nvPr/>
        </p:nvSpPr>
        <p:spPr>
          <a:xfrm>
            <a:off x="640080" y="2267712"/>
            <a:ext cx="2423160" cy="45720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No billing account required. Tier selected here.</a:t>
            </a:r>
            <a:endParaRPr lang="en-US" sz="1050" dirty="0"/>
          </a:p>
        </p:txBody>
      </p:sp>
      <p:sp>
        <p:nvSpPr>
          <p:cNvPr id="20" name="Shape 17"/>
          <p:cNvSpPr/>
          <p:nvPr/>
        </p:nvSpPr>
        <p:spPr>
          <a:xfrm>
            <a:off x="457200" y="2944368"/>
            <a:ext cx="2743200" cy="1417320"/>
          </a:xfrm>
          <a:prstGeom prst="roundRect">
            <a:avLst>
              <a:gd name="adj" fmla="val 5161"/>
            </a:avLst>
          </a:prstGeom>
          <a:solidFill>
            <a:srgbClr val="F4F8F5"/>
          </a:solidFill>
          <a:ln w="9525">
            <a:solidFill>
              <a:srgbClr val="D3E2D7"/>
            </a:solidFill>
            <a:prstDash val="solid"/>
          </a:ln>
        </p:spPr>
      </p:sp>
      <p:sp>
        <p:nvSpPr>
          <p:cNvPr id="21" name="Text 18"/>
          <p:cNvSpPr txBox="1"/>
          <p:nvPr/>
        </p:nvSpPr>
        <p:spPr>
          <a:xfrm>
            <a:off x="640080" y="3072384"/>
            <a:ext cx="2377440" cy="201168"/>
          </a:xfrm>
          <a:prstGeom prst="rect">
            <a:avLst/>
          </a:prstGeom>
          <a:noFill/>
          <a:ln/>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CONTRIBUTOR</a:t>
            </a:r>
            <a:endParaRPr lang="en-US" sz="1000" dirty="0"/>
          </a:p>
        </p:txBody>
      </p:sp>
      <p:sp>
        <p:nvSpPr>
          <p:cNvPr id="22" name="Text 19"/>
          <p:cNvSpPr txBox="1"/>
          <p:nvPr/>
        </p:nvSpPr>
        <p:spPr>
          <a:xfrm>
            <a:off x="640080" y="3273552"/>
            <a:ext cx="2468880" cy="548640"/>
          </a:xfrm>
          <a:prstGeom prst="rect">
            <a:avLst/>
          </a:prstGeom>
          <a:noFill/>
          <a:ln/>
        </p:spPr>
        <p:txBody>
          <a:bodyPr wrap="square" lIns="0" tIns="0" rIns="0" bIns="0" rtlCol="0" anchor="ctr"/>
          <a:lstStyle/>
          <a:p>
            <a:pPr marL="0" indent="0">
              <a:buNone/>
            </a:pPr>
            <a:r>
              <a:rPr lang="en-US" sz="3400" b="1" dirty="0">
                <a:solidFill>
                  <a:srgbClr val="5A6660"/>
                </a:solidFill>
                <a:latin typeface="Calibri" pitchFamily="34" charset="0"/>
                <a:ea typeface="Calibri" pitchFamily="34" charset="-122"/>
                <a:cs typeface="Calibri" pitchFamily="34" charset="-120"/>
              </a:rPr>
              <a:t>1,000</a:t>
            </a:r>
            <a:r>
              <a:rPr lang="en-US" sz="1100" dirty="0">
                <a:solidFill>
                  <a:srgbClr val="5A6660"/>
                </a:solidFill>
                <a:latin typeface="Calibri" pitchFamily="34" charset="0"/>
                <a:ea typeface="Calibri" pitchFamily="34" charset="-122"/>
                <a:cs typeface="Calibri" pitchFamily="34" charset="-120"/>
              </a:rPr>
              <a:t>  EECU-h / month</a:t>
            </a:r>
            <a:endParaRPr lang="en-US" sz="3400" dirty="0"/>
          </a:p>
        </p:txBody>
      </p:sp>
      <p:sp>
        <p:nvSpPr>
          <p:cNvPr id="23" name="Text 20"/>
          <p:cNvSpPr txBox="1"/>
          <p:nvPr/>
        </p:nvSpPr>
        <p:spPr>
          <a:xfrm>
            <a:off x="640080" y="3840480"/>
            <a:ext cx="2423160" cy="45720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Active billing account required, but no charge for noncommercial Earth Engine use.</a:t>
            </a:r>
            <a:endParaRPr lang="en-US" sz="1050" dirty="0"/>
          </a:p>
        </p:txBody>
      </p:sp>
      <p:sp>
        <p:nvSpPr>
          <p:cNvPr id="24" name="Text 21"/>
          <p:cNvSpPr txBox="1"/>
          <p:nvPr/>
        </p:nvSpPr>
        <p:spPr>
          <a:xfrm>
            <a:off x="457200" y="4553712"/>
            <a:ext cx="8229600" cy="182880"/>
          </a:xfrm>
          <a:prstGeom prst="rect">
            <a:avLst/>
          </a:prstGeom>
          <a:noFill/>
          <a:ln/>
        </p:spPr>
        <p:txBody>
          <a:bodyPr wrap="square" lIns="0" tIns="0" rIns="0" bIns="0" rtlCol="0" anchor="ctr"/>
          <a:lstStyle/>
          <a:p>
            <a:pPr marL="0" indent="0">
              <a:buNone/>
            </a:pPr>
            <a:r>
              <a:rPr lang="en-US" sz="900" i="1" dirty="0">
                <a:solidFill>
                  <a:srgbClr val="5A6660"/>
                </a:solidFill>
                <a:latin typeface="Calibri" pitchFamily="34" charset="0"/>
                <a:ea typeface="Calibri" pitchFamily="34" charset="-122"/>
                <a:cs typeface="Calibri" pitchFamily="34" charset="-120"/>
              </a:rPr>
              <a:t>Source: Google for Developers, “Earth Engine Noncommercial Tiers”; Google Cloud console (screenshot). EECU = Earth Engine Compute Unit.</a:t>
            </a:r>
            <a:endParaRPr lang="en-US" sz="9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5029200" cy="274320"/>
          </a:xfrm>
          <a:prstGeom prst="rect">
            <a:avLst/>
          </a:prstGeom>
          <a:noFill/>
          <a:ln/>
        </p:spPr>
        <p:txBody>
          <a:bodyPr wrap="square" lIns="0" tIns="0" rIns="0" bIns="0" rtlCol="0" anchor="ctr"/>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04 · STEP 4 OF 6</a:t>
            </a:r>
            <a:endParaRPr lang="en-US" sz="1050" dirty="0"/>
          </a:p>
        </p:txBody>
      </p:sp>
      <p:sp>
        <p:nvSpPr>
          <p:cNvPr id="3" name="Text 1"/>
          <p:cNvSpPr txBox="1"/>
          <p:nvPr/>
        </p:nvSpPr>
        <p:spPr>
          <a:xfrm>
            <a:off x="548640" y="1143000"/>
            <a:ext cx="2743200" cy="1188720"/>
          </a:xfrm>
          <a:prstGeom prst="rect">
            <a:avLst/>
          </a:prstGeom>
          <a:noFill/>
          <a:ln/>
        </p:spPr>
        <p:txBody>
          <a:bodyPr wrap="square" lIns="0" tIns="0" rIns="0" bIns="0" rtlCol="0" anchor="ctr"/>
          <a:lstStyle/>
          <a:p>
            <a:pPr marL="0" indent="0">
              <a:buNone/>
            </a:pPr>
            <a:r>
              <a:rPr lang="en-US" sz="8800" b="1" dirty="0">
                <a:solidFill>
                  <a:srgbClr val="F5C242"/>
                </a:solidFill>
                <a:latin typeface="Calibri" pitchFamily="34" charset="0"/>
                <a:ea typeface="Calibri" pitchFamily="34" charset="-122"/>
                <a:cs typeface="Calibri" pitchFamily="34" charset="-120"/>
              </a:rPr>
              <a:t>04</a:t>
            </a:r>
            <a:endParaRPr lang="en-US" sz="8800" dirty="0"/>
          </a:p>
        </p:txBody>
      </p:sp>
      <p:sp>
        <p:nvSpPr>
          <p:cNvPr id="4" name="Text 2"/>
          <p:cNvSpPr txBox="1"/>
          <p:nvPr/>
        </p:nvSpPr>
        <p:spPr>
          <a:xfrm>
            <a:off x="548640" y="2423160"/>
            <a:ext cx="4937760" cy="6858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Describe your work</a:t>
            </a:r>
            <a:endParaRPr lang="en-US" sz="3600" dirty="0"/>
          </a:p>
        </p:txBody>
      </p:sp>
      <p:sp>
        <p:nvSpPr>
          <p:cNvPr id="5" name="Text 3"/>
          <p:cNvSpPr txBox="1"/>
          <p:nvPr/>
        </p:nvSpPr>
        <p:spPr>
          <a:xfrm>
            <a:off x="548640" y="3154680"/>
            <a:ext cx="5120640" cy="457200"/>
          </a:xfrm>
          <a:prstGeom prst="rect">
            <a:avLst/>
          </a:prstGeom>
          <a:noFill/>
          <a:ln/>
        </p:spPr>
        <p:txBody>
          <a:bodyPr wrap="square" lIns="0" tIns="0" rIns="0" bIns="0" rtlCol="0" anchor="t"/>
          <a:lstStyle/>
          <a:p>
            <a:pPr marL="0" indent="0">
              <a:buNone/>
            </a:pPr>
            <a:r>
              <a:rPr lang="en-US" sz="1600" i="1" dirty="0">
                <a:solidFill>
                  <a:srgbClr val="E8F4EB"/>
                </a:solidFill>
                <a:latin typeface="Calibri" pitchFamily="34" charset="0"/>
                <a:ea typeface="Calibri" pitchFamily="34" charset="-122"/>
                <a:cs typeface="Calibri" pitchFamily="34" charset="-120"/>
              </a:rPr>
              <a:t>Which climate challenges does your work address?</a:t>
            </a:r>
            <a:endParaRPr lang="en-US" sz="1600" dirty="0"/>
          </a:p>
        </p:txBody>
      </p:sp>
      <p:sp>
        <p:nvSpPr>
          <p:cNvPr id="6" name="Shape 4"/>
          <p:cNvSpPr/>
          <p:nvPr/>
        </p:nvSpPr>
        <p:spPr>
          <a:xfrm>
            <a:off x="5577840" y="868680"/>
            <a:ext cx="3017520" cy="3017520"/>
          </a:xfrm>
          <a:prstGeom prst="ellipse">
            <a:avLst/>
          </a:prstGeom>
          <a:solidFill>
            <a:srgbClr val="FFFFFF">
              <a:alpha val="12000"/>
            </a:srgbClr>
          </a:solidFill>
          <a:ln w="9525">
            <a:solidFill>
              <a:srgbClr val="FFFFFF">
                <a:alpha val="40000"/>
              </a:srgbClr>
            </a:solidFill>
            <a:prstDash val="solid"/>
          </a:ln>
        </p:spPr>
      </p:sp>
      <p:sp>
        <p:nvSpPr>
          <p:cNvPr id="7" name="Shape 5"/>
          <p:cNvSpPr/>
          <p:nvPr/>
        </p:nvSpPr>
        <p:spPr>
          <a:xfrm>
            <a:off x="5989320" y="1280160"/>
            <a:ext cx="2194560" cy="2194560"/>
          </a:xfrm>
          <a:prstGeom prst="ellipse">
            <a:avLst/>
          </a:prstGeom>
          <a:solidFill>
            <a:srgbClr val="FFFFFF">
              <a:alpha val="22000"/>
            </a:srgbClr>
          </a:solidFill>
          <a:ln w="9525">
            <a:solidFill>
              <a:srgbClr val="FFFFFF">
                <a:alpha val="40000"/>
              </a:srgbClr>
            </a:solidFill>
            <a:prstDash val="solid"/>
          </a:ln>
        </p:spPr>
      </p:sp>
      <p:sp>
        <p:nvSpPr>
          <p:cNvPr id="8" name="Shape 6"/>
          <p:cNvSpPr/>
          <p:nvPr/>
        </p:nvSpPr>
        <p:spPr>
          <a:xfrm>
            <a:off x="6373368" y="1664208"/>
            <a:ext cx="1426464" cy="1426464"/>
          </a:xfrm>
          <a:prstGeom prst="ellipse">
            <a:avLst/>
          </a:prstGeom>
          <a:solidFill>
            <a:srgbClr val="FFFFFF"/>
          </a:solidFill>
          <a:ln/>
        </p:spPr>
      </p:sp>
      <p:pic>
        <p:nvPicPr>
          <p:cNvPr id="9" name="Image 0" descr="preencoded.png"/>
          <p:cNvPicPr>
            <a:picLocks noChangeAspect="1"/>
          </p:cNvPicPr>
          <p:nvPr/>
        </p:nvPicPr>
        <p:blipFill>
          <a:blip r:embed="rId4"/>
          <a:stretch>
            <a:fillRect/>
          </a:stretch>
        </p:blipFill>
        <p:spPr>
          <a:xfrm>
            <a:off x="6757416" y="2048256"/>
            <a:ext cx="658368" cy="658368"/>
          </a:xfrm>
          <a:prstGeom prst="rect">
            <a:avLst/>
          </a:prstGeom>
        </p:spPr>
      </p:pic>
      <p:sp>
        <p:nvSpPr>
          <p:cNvPr id="10" name="Shape 7"/>
          <p:cNvSpPr/>
          <p:nvPr/>
        </p:nvSpPr>
        <p:spPr>
          <a:xfrm>
            <a:off x="548640" y="4160520"/>
            <a:ext cx="118872" cy="118872"/>
          </a:xfrm>
          <a:prstGeom prst="ellipse">
            <a:avLst/>
          </a:prstGeom>
          <a:solidFill>
            <a:srgbClr val="FFFFFF">
              <a:alpha val="40000"/>
            </a:srgbClr>
          </a:solidFill>
          <a:ln/>
        </p:spPr>
      </p:sp>
      <p:sp>
        <p:nvSpPr>
          <p:cNvPr id="11" name="Shape 8"/>
          <p:cNvSpPr/>
          <p:nvPr/>
        </p:nvSpPr>
        <p:spPr>
          <a:xfrm>
            <a:off x="768096" y="4160520"/>
            <a:ext cx="118872" cy="118872"/>
          </a:xfrm>
          <a:prstGeom prst="ellipse">
            <a:avLst/>
          </a:prstGeom>
          <a:solidFill>
            <a:srgbClr val="FFFFFF">
              <a:alpha val="40000"/>
            </a:srgbClr>
          </a:solidFill>
          <a:ln/>
        </p:spPr>
      </p:sp>
      <p:sp>
        <p:nvSpPr>
          <p:cNvPr id="12" name="Shape 9"/>
          <p:cNvSpPr/>
          <p:nvPr/>
        </p:nvSpPr>
        <p:spPr>
          <a:xfrm>
            <a:off x="987552" y="4160520"/>
            <a:ext cx="118872" cy="118872"/>
          </a:xfrm>
          <a:prstGeom prst="ellipse">
            <a:avLst/>
          </a:prstGeom>
          <a:solidFill>
            <a:srgbClr val="FFFFFF">
              <a:alpha val="40000"/>
            </a:srgbClr>
          </a:solidFill>
          <a:ln/>
        </p:spPr>
      </p:sp>
      <p:sp>
        <p:nvSpPr>
          <p:cNvPr id="13" name="Shape 10"/>
          <p:cNvSpPr/>
          <p:nvPr/>
        </p:nvSpPr>
        <p:spPr>
          <a:xfrm>
            <a:off x="1207008" y="4160520"/>
            <a:ext cx="118872" cy="118872"/>
          </a:xfrm>
          <a:prstGeom prst="ellipse">
            <a:avLst/>
          </a:prstGeom>
          <a:solidFill>
            <a:srgbClr val="F5C242"/>
          </a:solidFill>
          <a:ln/>
        </p:spPr>
      </p:sp>
      <p:sp>
        <p:nvSpPr>
          <p:cNvPr id="14" name="Shape 11"/>
          <p:cNvSpPr/>
          <p:nvPr/>
        </p:nvSpPr>
        <p:spPr>
          <a:xfrm>
            <a:off x="1426464" y="4160520"/>
            <a:ext cx="118872" cy="118872"/>
          </a:xfrm>
          <a:prstGeom prst="ellipse">
            <a:avLst/>
          </a:prstGeom>
          <a:solidFill>
            <a:srgbClr val="FFFFFF">
              <a:alpha val="40000"/>
            </a:srgbClr>
          </a:solidFill>
          <a:ln/>
        </p:spPr>
      </p:sp>
      <p:sp>
        <p:nvSpPr>
          <p:cNvPr id="15" name="Shape 12"/>
          <p:cNvSpPr/>
          <p:nvPr/>
        </p:nvSpPr>
        <p:spPr>
          <a:xfrm>
            <a:off x="1645920" y="4160520"/>
            <a:ext cx="118872" cy="118872"/>
          </a:xfrm>
          <a:prstGeom prst="ellipse">
            <a:avLst/>
          </a:prstGeom>
          <a:solidFill>
            <a:srgbClr val="FFFFFF">
              <a:alpha val="40000"/>
            </a:srgbClr>
          </a:solidFill>
          <a:ln/>
        </p:spPr>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9045"/>
          </a:solidFill>
          <a:ln/>
        </p:spPr>
      </p:sp>
      <p:sp>
        <p:nvSpPr>
          <p:cNvPr id="3" name="Shape 1"/>
          <p:cNvSpPr/>
          <p:nvPr/>
        </p:nvSpPr>
        <p:spPr>
          <a:xfrm>
            <a:off x="0" y="0"/>
            <a:ext cx="1234440" cy="54864"/>
          </a:xfrm>
          <a:prstGeom prst="rect">
            <a:avLst/>
          </a:prstGeom>
          <a:solidFill>
            <a:srgbClr val="F5C242"/>
          </a:solidFill>
          <a:ln/>
        </p:spPr>
      </p:sp>
      <p:sp>
        <p:nvSpPr>
          <p:cNvPr id="4" name="Text 2"/>
          <p:cNvSpPr txBox="1"/>
          <p:nvPr/>
        </p:nvSpPr>
        <p:spPr>
          <a:xfrm>
            <a:off x="457200" y="274320"/>
            <a:ext cx="685800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04 · DESCRIBE YOUR WORK</a:t>
            </a:r>
            <a:endParaRPr lang="en-US" sz="1050" dirty="0"/>
          </a:p>
        </p:txBody>
      </p:sp>
      <p:sp>
        <p:nvSpPr>
          <p:cNvPr id="5" name="Text 3"/>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Describe your work</a:t>
            </a:r>
            <a:endParaRPr lang="en-US" sz="2800" dirty="0"/>
          </a:p>
        </p:txBody>
      </p:sp>
      <p:sp>
        <p:nvSpPr>
          <p:cNvPr id="6" name="Shape 4"/>
          <p:cNvSpPr/>
          <p:nvPr/>
        </p:nvSpPr>
        <p:spPr>
          <a:xfrm>
            <a:off x="7717536" y="338328"/>
            <a:ext cx="100584" cy="100584"/>
          </a:xfrm>
          <a:prstGeom prst="ellipse">
            <a:avLst/>
          </a:prstGeom>
          <a:solidFill>
            <a:srgbClr val="D3E2D7"/>
          </a:solidFill>
          <a:ln/>
        </p:spPr>
      </p:sp>
      <p:sp>
        <p:nvSpPr>
          <p:cNvPr id="7" name="Shape 5"/>
          <p:cNvSpPr/>
          <p:nvPr/>
        </p:nvSpPr>
        <p:spPr>
          <a:xfrm>
            <a:off x="7891272" y="338328"/>
            <a:ext cx="100584" cy="100584"/>
          </a:xfrm>
          <a:prstGeom prst="ellipse">
            <a:avLst/>
          </a:prstGeom>
          <a:solidFill>
            <a:srgbClr val="D3E2D7"/>
          </a:solidFill>
          <a:ln/>
        </p:spPr>
      </p:sp>
      <p:sp>
        <p:nvSpPr>
          <p:cNvPr id="8" name="Shape 6"/>
          <p:cNvSpPr/>
          <p:nvPr/>
        </p:nvSpPr>
        <p:spPr>
          <a:xfrm>
            <a:off x="8065008" y="338328"/>
            <a:ext cx="100584" cy="100584"/>
          </a:xfrm>
          <a:prstGeom prst="ellipse">
            <a:avLst/>
          </a:prstGeom>
          <a:solidFill>
            <a:srgbClr val="D3E2D7"/>
          </a:solidFill>
          <a:ln/>
        </p:spPr>
      </p:sp>
      <p:sp>
        <p:nvSpPr>
          <p:cNvPr id="9" name="Shape 7"/>
          <p:cNvSpPr/>
          <p:nvPr/>
        </p:nvSpPr>
        <p:spPr>
          <a:xfrm>
            <a:off x="8238744" y="338328"/>
            <a:ext cx="100584" cy="100584"/>
          </a:xfrm>
          <a:prstGeom prst="ellipse">
            <a:avLst/>
          </a:prstGeom>
          <a:solidFill>
            <a:srgbClr val="D49A00"/>
          </a:solidFill>
          <a:ln/>
        </p:spPr>
      </p:sp>
      <p:sp>
        <p:nvSpPr>
          <p:cNvPr id="10" name="Shape 8"/>
          <p:cNvSpPr/>
          <p:nvPr/>
        </p:nvSpPr>
        <p:spPr>
          <a:xfrm>
            <a:off x="8412480" y="338328"/>
            <a:ext cx="100584" cy="100584"/>
          </a:xfrm>
          <a:prstGeom prst="ellipse">
            <a:avLst/>
          </a:prstGeom>
          <a:solidFill>
            <a:srgbClr val="D3E2D7"/>
          </a:solidFill>
          <a:ln/>
        </p:spPr>
      </p:sp>
      <p:sp>
        <p:nvSpPr>
          <p:cNvPr id="11" name="Shape 9"/>
          <p:cNvSpPr/>
          <p:nvPr/>
        </p:nvSpPr>
        <p:spPr>
          <a:xfrm>
            <a:off x="8586216" y="338328"/>
            <a:ext cx="100584" cy="100584"/>
          </a:xfrm>
          <a:prstGeom prst="ellipse">
            <a:avLst/>
          </a:prstGeom>
          <a:solidFill>
            <a:srgbClr val="D3E2D7"/>
          </a:solidFill>
          <a:ln/>
        </p:spPr>
      </p:sp>
      <p:sp>
        <p:nvSpPr>
          <p:cNvPr id="12" name="Text 10"/>
          <p:cNvSpPr txBox="1"/>
          <p:nvPr/>
        </p:nvSpPr>
        <p:spPr>
          <a:xfrm>
            <a:off x="457200" y="4800600"/>
            <a:ext cx="6766560" cy="201168"/>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Registering for Google Earth Engine · AfDB – Data Innovation for Africa (DI4A)</a:t>
            </a:r>
            <a:endParaRPr lang="en-US" sz="850" dirty="0"/>
          </a:p>
        </p:txBody>
      </p:sp>
      <p:sp>
        <p:nvSpPr>
          <p:cNvPr id="13" name="Text 11"/>
          <p:cNvSpPr txBox="1"/>
          <p:nvPr/>
        </p:nvSpPr>
        <p:spPr>
          <a:xfrm>
            <a:off x="7772400" y="4800600"/>
            <a:ext cx="914400" cy="201168"/>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13</a:t>
            </a:r>
            <a:endParaRPr lang="en-US" sz="850" dirty="0"/>
          </a:p>
        </p:txBody>
      </p:sp>
      <p:sp>
        <p:nvSpPr>
          <p:cNvPr id="14" name="Shape 12"/>
          <p:cNvSpPr/>
          <p:nvPr/>
        </p:nvSpPr>
        <p:spPr>
          <a:xfrm>
            <a:off x="411480" y="1325880"/>
            <a:ext cx="5760720" cy="3008843"/>
          </a:xfrm>
          <a:prstGeom prst="roundRect">
            <a:avLst>
              <a:gd name="adj" fmla="val 1823"/>
            </a:avLst>
          </a:prstGeom>
          <a:solidFill>
            <a:srgbClr val="FFFFFF"/>
          </a:solidFill>
          <a:ln w="9525">
            <a:solidFill>
              <a:srgbClr val="D3E2D7"/>
            </a:solidFill>
            <a:prstDash val="solid"/>
          </a:ln>
          <a:effectLst>
            <a:outerShdw blurRad="76200" dist="25400" dir="5400000" algn="bl" rotWithShape="0">
              <a:srgbClr val="000000">
                <a:alpha val="12000"/>
              </a:srgbClr>
            </a:outerShdw>
          </a:effectLst>
        </p:spPr>
      </p:sp>
      <p:pic>
        <p:nvPicPr>
          <p:cNvPr id="15" name="Image 0" descr="Google Cloud console screenshot 6"/>
          <p:cNvPicPr>
            <a:picLocks noChangeAspect="1"/>
          </p:cNvPicPr>
          <p:nvPr/>
        </p:nvPicPr>
        <p:blipFill>
          <a:blip r:embed="rId4"/>
          <a:stretch>
            <a:fillRect/>
          </a:stretch>
        </p:blipFill>
        <p:spPr>
          <a:xfrm>
            <a:off x="457200" y="1371600"/>
            <a:ext cx="5669280" cy="2917403"/>
          </a:xfrm>
          <a:prstGeom prst="rect">
            <a:avLst/>
          </a:prstGeom>
        </p:spPr>
      </p:pic>
      <p:sp>
        <p:nvSpPr>
          <p:cNvPr id="16" name="Text 13"/>
          <p:cNvSpPr txBox="1"/>
          <p:nvPr/>
        </p:nvSpPr>
        <p:spPr>
          <a:xfrm>
            <a:off x="6400800" y="1371600"/>
            <a:ext cx="2286000" cy="228600"/>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Selected categories</a:t>
            </a:r>
            <a:endParaRPr lang="en-US" sz="1100" dirty="0"/>
          </a:p>
        </p:txBody>
      </p:sp>
      <p:sp>
        <p:nvSpPr>
          <p:cNvPr id="17" name="Shape 14"/>
          <p:cNvSpPr/>
          <p:nvPr/>
        </p:nvSpPr>
        <p:spPr>
          <a:xfrm>
            <a:off x="6400800" y="1691640"/>
            <a:ext cx="2286000" cy="292608"/>
          </a:xfrm>
          <a:prstGeom prst="roundRect">
            <a:avLst>
              <a:gd name="adj" fmla="val 50000"/>
            </a:avLst>
          </a:prstGeom>
          <a:solidFill>
            <a:srgbClr val="F4F8F5"/>
          </a:solidFill>
          <a:ln w="9525">
            <a:solidFill>
              <a:srgbClr val="D3E2D7"/>
            </a:solidFill>
            <a:prstDash val="solid"/>
          </a:ln>
        </p:spPr>
      </p:sp>
      <p:sp>
        <p:nvSpPr>
          <p:cNvPr id="18" name="Text 15"/>
          <p:cNvSpPr txBox="1"/>
          <p:nvPr/>
        </p:nvSpPr>
        <p:spPr>
          <a:xfrm>
            <a:off x="6510528" y="1691640"/>
            <a:ext cx="2103120" cy="292608"/>
          </a:xfrm>
          <a:prstGeom prst="rect">
            <a:avLst/>
          </a:prstGeom>
          <a:noFill/>
          <a:ln/>
        </p:spPr>
        <p:txBody>
          <a:bodyPr wrap="square" lIns="0" tIns="0" rIns="0" bIns="0" rtlCol="0" anchor="ctr"/>
          <a:lstStyle/>
          <a:p>
            <a:pPr marL="0" indent="0">
              <a:buNone/>
            </a:pPr>
            <a:r>
              <a:rPr lang="en-US" sz="1050" dirty="0">
                <a:solidFill>
                  <a:srgbClr val="5A6660"/>
                </a:solidFill>
                <a:latin typeface="Calibri" pitchFamily="34" charset="0"/>
                <a:ea typeface="Calibri" pitchFamily="34" charset="-122"/>
                <a:cs typeface="Calibri" pitchFamily="34" charset="-120"/>
              </a:rPr>
              <a:t>–  Mitigation</a:t>
            </a:r>
            <a:endParaRPr lang="en-US" sz="1050" dirty="0"/>
          </a:p>
        </p:txBody>
      </p:sp>
      <p:sp>
        <p:nvSpPr>
          <p:cNvPr id="19" name="Shape 16"/>
          <p:cNvSpPr/>
          <p:nvPr/>
        </p:nvSpPr>
        <p:spPr>
          <a:xfrm>
            <a:off x="6400800" y="2075688"/>
            <a:ext cx="2286000" cy="292608"/>
          </a:xfrm>
          <a:prstGeom prst="roundRect">
            <a:avLst>
              <a:gd name="adj" fmla="val 50000"/>
            </a:avLst>
          </a:prstGeom>
          <a:solidFill>
            <a:srgbClr val="D49A00">
              <a:alpha val="15000"/>
            </a:srgbClr>
          </a:solidFill>
          <a:ln w="9525">
            <a:solidFill>
              <a:srgbClr val="D49A00"/>
            </a:solidFill>
            <a:prstDash val="solid"/>
          </a:ln>
        </p:spPr>
      </p:sp>
      <p:sp>
        <p:nvSpPr>
          <p:cNvPr id="20" name="Text 17"/>
          <p:cNvSpPr txBox="1"/>
          <p:nvPr/>
        </p:nvSpPr>
        <p:spPr>
          <a:xfrm>
            <a:off x="6510528" y="2075688"/>
            <a:ext cx="2103120" cy="29260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  Adaptation</a:t>
            </a:r>
            <a:endParaRPr lang="en-US" sz="1050" dirty="0"/>
          </a:p>
        </p:txBody>
      </p:sp>
      <p:sp>
        <p:nvSpPr>
          <p:cNvPr id="21" name="Shape 18"/>
          <p:cNvSpPr/>
          <p:nvPr/>
        </p:nvSpPr>
        <p:spPr>
          <a:xfrm>
            <a:off x="6400800" y="2459736"/>
            <a:ext cx="2286000" cy="292608"/>
          </a:xfrm>
          <a:prstGeom prst="roundRect">
            <a:avLst>
              <a:gd name="adj" fmla="val 50000"/>
            </a:avLst>
          </a:prstGeom>
          <a:solidFill>
            <a:srgbClr val="D49A00">
              <a:alpha val="15000"/>
            </a:srgbClr>
          </a:solidFill>
          <a:ln w="9525">
            <a:solidFill>
              <a:srgbClr val="D49A00"/>
            </a:solidFill>
            <a:prstDash val="solid"/>
          </a:ln>
        </p:spPr>
      </p:sp>
      <p:sp>
        <p:nvSpPr>
          <p:cNvPr id="22" name="Text 19"/>
          <p:cNvSpPr txBox="1"/>
          <p:nvPr/>
        </p:nvSpPr>
        <p:spPr>
          <a:xfrm>
            <a:off x="6510528" y="2459736"/>
            <a:ext cx="2103120" cy="29260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  Protection &amp; conservation</a:t>
            </a:r>
            <a:endParaRPr lang="en-US" sz="1050" dirty="0"/>
          </a:p>
        </p:txBody>
      </p:sp>
      <p:sp>
        <p:nvSpPr>
          <p:cNvPr id="23" name="Shape 20"/>
          <p:cNvSpPr/>
          <p:nvPr/>
        </p:nvSpPr>
        <p:spPr>
          <a:xfrm>
            <a:off x="6400800" y="2944368"/>
            <a:ext cx="274320" cy="274320"/>
          </a:xfrm>
          <a:prstGeom prst="ellipse">
            <a:avLst/>
          </a:prstGeom>
          <a:solidFill>
            <a:srgbClr val="D49A00">
              <a:alpha val="22000"/>
            </a:srgbClr>
          </a:solidFill>
          <a:ln/>
        </p:spPr>
      </p:sp>
      <p:sp>
        <p:nvSpPr>
          <p:cNvPr id="24" name="Text 21"/>
          <p:cNvSpPr txBox="1"/>
          <p:nvPr/>
        </p:nvSpPr>
        <p:spPr>
          <a:xfrm>
            <a:off x="6400800" y="2944368"/>
            <a:ext cx="274320" cy="274320"/>
          </a:xfrm>
          <a:prstGeom prst="rect">
            <a:avLst/>
          </a:prstGeom>
          <a:noFill/>
          <a:ln/>
        </p:spPr>
        <p:txBody>
          <a:bodyPr wrap="square" lIns="0" tIns="0" rIns="0" bIns="0" rtlCol="0" anchor="ctr"/>
          <a:lstStyle/>
          <a:p>
            <a:pPr marL="0" indent="0" algn="ctr">
              <a:buNone/>
            </a:pPr>
            <a:r>
              <a:rPr lang="en-US" sz="1100" b="1" dirty="0">
                <a:solidFill>
                  <a:srgbClr val="D49A00"/>
                </a:solidFill>
                <a:latin typeface="Calibri" pitchFamily="34" charset="0"/>
                <a:ea typeface="Calibri" pitchFamily="34" charset="-122"/>
                <a:cs typeface="Calibri" pitchFamily="34" charset="-120"/>
              </a:rPr>
              <a:t>1</a:t>
            </a:r>
            <a:endParaRPr lang="en-US" sz="1100" dirty="0"/>
          </a:p>
        </p:txBody>
      </p:sp>
      <p:sp>
        <p:nvSpPr>
          <p:cNvPr id="25" name="Text 22"/>
          <p:cNvSpPr txBox="1"/>
          <p:nvPr/>
        </p:nvSpPr>
        <p:spPr>
          <a:xfrm>
            <a:off x="6784848" y="2926080"/>
            <a:ext cx="1901952" cy="4114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Tick the relevant categories.</a:t>
            </a:r>
            <a:endParaRPr lang="en-US" sz="1150" dirty="0"/>
          </a:p>
        </p:txBody>
      </p:sp>
      <p:sp>
        <p:nvSpPr>
          <p:cNvPr id="26" name="Shape 23"/>
          <p:cNvSpPr/>
          <p:nvPr/>
        </p:nvSpPr>
        <p:spPr>
          <a:xfrm>
            <a:off x="6400800" y="3465576"/>
            <a:ext cx="274320" cy="274320"/>
          </a:xfrm>
          <a:prstGeom prst="ellipse">
            <a:avLst/>
          </a:prstGeom>
          <a:solidFill>
            <a:srgbClr val="D49A00">
              <a:alpha val="22000"/>
            </a:srgbClr>
          </a:solidFill>
          <a:ln/>
        </p:spPr>
      </p:sp>
      <p:sp>
        <p:nvSpPr>
          <p:cNvPr id="27" name="Text 24"/>
          <p:cNvSpPr txBox="1"/>
          <p:nvPr/>
        </p:nvSpPr>
        <p:spPr>
          <a:xfrm>
            <a:off x="6400800" y="3465576"/>
            <a:ext cx="274320" cy="274320"/>
          </a:xfrm>
          <a:prstGeom prst="rect">
            <a:avLst/>
          </a:prstGeom>
          <a:noFill/>
          <a:ln/>
        </p:spPr>
        <p:txBody>
          <a:bodyPr wrap="square" lIns="0" tIns="0" rIns="0" bIns="0" rtlCol="0" anchor="ctr"/>
          <a:lstStyle/>
          <a:p>
            <a:pPr marL="0" indent="0" algn="ctr">
              <a:buNone/>
            </a:pPr>
            <a:r>
              <a:rPr lang="en-US" sz="1100" b="1" dirty="0">
                <a:solidFill>
                  <a:srgbClr val="D49A00"/>
                </a:solidFill>
                <a:latin typeface="Calibri" pitchFamily="34" charset="0"/>
                <a:ea typeface="Calibri" pitchFamily="34" charset="-122"/>
                <a:cs typeface="Calibri" pitchFamily="34" charset="-120"/>
              </a:rPr>
              <a:t>2</a:t>
            </a:r>
            <a:endParaRPr lang="en-US" sz="1100" dirty="0"/>
          </a:p>
        </p:txBody>
      </p:sp>
      <p:sp>
        <p:nvSpPr>
          <p:cNvPr id="28" name="Text 25"/>
          <p:cNvSpPr txBox="1"/>
          <p:nvPr/>
        </p:nvSpPr>
        <p:spPr>
          <a:xfrm>
            <a:off x="6784848" y="3447288"/>
            <a:ext cx="1901952" cy="73152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Fill in </a:t>
            </a:r>
            <a:r>
              <a:rPr lang="en-US" sz="1150" b="1" dirty="0">
                <a:solidFill>
                  <a:srgbClr val="231F20"/>
                </a:solidFill>
                <a:latin typeface="Calibri" pitchFamily="34" charset="0"/>
                <a:ea typeface="Calibri" pitchFamily="34" charset="-122"/>
                <a:cs typeface="Calibri" pitchFamily="34" charset="-120"/>
              </a:rPr>
              <a:t>Will you use Earth Engine for…</a:t>
            </a:r>
            <a:r>
              <a:rPr lang="en-US" sz="1150" dirty="0">
                <a:solidFill>
                  <a:srgbClr val="231F20"/>
                </a:solidFill>
                <a:latin typeface="Calibri" pitchFamily="34" charset="0"/>
                <a:ea typeface="Calibri" pitchFamily="34" charset="-122"/>
                <a:cs typeface="Calibri" pitchFamily="34" charset="-120"/>
              </a:rPr>
              <a:t> (required).</a:t>
            </a:r>
            <a:endParaRPr lang="en-US" sz="1150" dirty="0"/>
          </a:p>
        </p:txBody>
      </p:sp>
      <p:sp>
        <p:nvSpPr>
          <p:cNvPr id="29" name="Text 26"/>
          <p:cNvSpPr txBox="1"/>
          <p:nvPr/>
        </p:nvSpPr>
        <p:spPr>
          <a:xfrm>
            <a:off x="457200" y="4553712"/>
            <a:ext cx="8229600" cy="182880"/>
          </a:xfrm>
          <a:prstGeom prst="rect">
            <a:avLst/>
          </a:prstGeom>
          <a:noFill/>
          <a:ln/>
        </p:spPr>
        <p:txBody>
          <a:bodyPr wrap="square" lIns="0" tIns="0" rIns="0" bIns="0" rtlCol="0" anchor="ctr"/>
          <a:lstStyle/>
          <a:p>
            <a:pPr marL="0" indent="0">
              <a:buNone/>
            </a:pPr>
            <a:r>
              <a:rPr lang="en-US" sz="900" i="1" dirty="0">
                <a:solidFill>
                  <a:srgbClr val="5A6660"/>
                </a:solidFill>
                <a:latin typeface="Calibri" pitchFamily="34" charset="0"/>
                <a:ea typeface="Calibri" pitchFamily="34" charset="-122"/>
                <a:cs typeface="Calibri" pitchFamily="34" charset="-120"/>
              </a:rPr>
              <a:t>Source: Google Cloud console, “Describe your work” step (screenshot).</a:t>
            </a:r>
            <a:endParaRPr lang="en-US" sz="9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9045"/>
          </a:solidFill>
          <a:ln/>
        </p:spPr>
      </p:sp>
      <p:sp>
        <p:nvSpPr>
          <p:cNvPr id="3" name="Shape 1"/>
          <p:cNvSpPr/>
          <p:nvPr/>
        </p:nvSpPr>
        <p:spPr>
          <a:xfrm>
            <a:off x="0" y="0"/>
            <a:ext cx="1234440" cy="54864"/>
          </a:xfrm>
          <a:prstGeom prst="rect">
            <a:avLst/>
          </a:prstGeom>
          <a:solidFill>
            <a:srgbClr val="F5C242"/>
          </a:solidFill>
          <a:ln/>
        </p:spPr>
      </p:sp>
      <p:sp>
        <p:nvSpPr>
          <p:cNvPr id="4" name="Text 2"/>
          <p:cNvSpPr txBox="1"/>
          <p:nvPr/>
        </p:nvSpPr>
        <p:spPr>
          <a:xfrm>
            <a:off x="457200" y="274320"/>
            <a:ext cx="685800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04 · DESCRIBE YOUR WORK</a:t>
            </a:r>
            <a:endParaRPr lang="en-US" sz="1050" dirty="0"/>
          </a:p>
        </p:txBody>
      </p:sp>
      <p:sp>
        <p:nvSpPr>
          <p:cNvPr id="5" name="Text 3"/>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Select areas of use</a:t>
            </a:r>
            <a:endParaRPr lang="en-US" sz="2800" dirty="0"/>
          </a:p>
        </p:txBody>
      </p:sp>
      <p:sp>
        <p:nvSpPr>
          <p:cNvPr id="6" name="Shape 4"/>
          <p:cNvSpPr/>
          <p:nvPr/>
        </p:nvSpPr>
        <p:spPr>
          <a:xfrm>
            <a:off x="7717536" y="338328"/>
            <a:ext cx="100584" cy="100584"/>
          </a:xfrm>
          <a:prstGeom prst="ellipse">
            <a:avLst/>
          </a:prstGeom>
          <a:solidFill>
            <a:srgbClr val="D3E2D7"/>
          </a:solidFill>
          <a:ln/>
        </p:spPr>
      </p:sp>
      <p:sp>
        <p:nvSpPr>
          <p:cNvPr id="7" name="Shape 5"/>
          <p:cNvSpPr/>
          <p:nvPr/>
        </p:nvSpPr>
        <p:spPr>
          <a:xfrm>
            <a:off x="7891272" y="338328"/>
            <a:ext cx="100584" cy="100584"/>
          </a:xfrm>
          <a:prstGeom prst="ellipse">
            <a:avLst/>
          </a:prstGeom>
          <a:solidFill>
            <a:srgbClr val="D3E2D7"/>
          </a:solidFill>
          <a:ln/>
        </p:spPr>
      </p:sp>
      <p:sp>
        <p:nvSpPr>
          <p:cNvPr id="8" name="Shape 6"/>
          <p:cNvSpPr/>
          <p:nvPr/>
        </p:nvSpPr>
        <p:spPr>
          <a:xfrm>
            <a:off x="8065008" y="338328"/>
            <a:ext cx="100584" cy="100584"/>
          </a:xfrm>
          <a:prstGeom prst="ellipse">
            <a:avLst/>
          </a:prstGeom>
          <a:solidFill>
            <a:srgbClr val="D3E2D7"/>
          </a:solidFill>
          <a:ln/>
        </p:spPr>
      </p:sp>
      <p:sp>
        <p:nvSpPr>
          <p:cNvPr id="9" name="Shape 7"/>
          <p:cNvSpPr/>
          <p:nvPr/>
        </p:nvSpPr>
        <p:spPr>
          <a:xfrm>
            <a:off x="8238744" y="338328"/>
            <a:ext cx="100584" cy="100584"/>
          </a:xfrm>
          <a:prstGeom prst="ellipse">
            <a:avLst/>
          </a:prstGeom>
          <a:solidFill>
            <a:srgbClr val="D49A00"/>
          </a:solidFill>
          <a:ln/>
        </p:spPr>
      </p:sp>
      <p:sp>
        <p:nvSpPr>
          <p:cNvPr id="10" name="Shape 8"/>
          <p:cNvSpPr/>
          <p:nvPr/>
        </p:nvSpPr>
        <p:spPr>
          <a:xfrm>
            <a:off x="8412480" y="338328"/>
            <a:ext cx="100584" cy="100584"/>
          </a:xfrm>
          <a:prstGeom prst="ellipse">
            <a:avLst/>
          </a:prstGeom>
          <a:solidFill>
            <a:srgbClr val="D3E2D7"/>
          </a:solidFill>
          <a:ln/>
        </p:spPr>
      </p:sp>
      <p:sp>
        <p:nvSpPr>
          <p:cNvPr id="11" name="Shape 9"/>
          <p:cNvSpPr/>
          <p:nvPr/>
        </p:nvSpPr>
        <p:spPr>
          <a:xfrm>
            <a:off x="8586216" y="338328"/>
            <a:ext cx="100584" cy="100584"/>
          </a:xfrm>
          <a:prstGeom prst="ellipse">
            <a:avLst/>
          </a:prstGeom>
          <a:solidFill>
            <a:srgbClr val="D3E2D7"/>
          </a:solidFill>
          <a:ln/>
        </p:spPr>
      </p:sp>
      <p:sp>
        <p:nvSpPr>
          <p:cNvPr id="12" name="Text 10"/>
          <p:cNvSpPr txBox="1"/>
          <p:nvPr/>
        </p:nvSpPr>
        <p:spPr>
          <a:xfrm>
            <a:off x="457200" y="4800600"/>
            <a:ext cx="6766560" cy="201168"/>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Registering for Google Earth Engine · AfDB – Data Innovation for Africa (DI4A)</a:t>
            </a:r>
            <a:endParaRPr lang="en-US" sz="850" dirty="0"/>
          </a:p>
        </p:txBody>
      </p:sp>
      <p:sp>
        <p:nvSpPr>
          <p:cNvPr id="13" name="Text 11"/>
          <p:cNvSpPr txBox="1"/>
          <p:nvPr/>
        </p:nvSpPr>
        <p:spPr>
          <a:xfrm>
            <a:off x="7772400" y="4800600"/>
            <a:ext cx="914400" cy="201168"/>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14</a:t>
            </a:r>
            <a:endParaRPr lang="en-US" sz="850" dirty="0"/>
          </a:p>
        </p:txBody>
      </p:sp>
      <p:sp>
        <p:nvSpPr>
          <p:cNvPr id="14" name="Shape 12"/>
          <p:cNvSpPr/>
          <p:nvPr/>
        </p:nvSpPr>
        <p:spPr>
          <a:xfrm>
            <a:off x="2971800" y="1325880"/>
            <a:ext cx="5760720" cy="3014755"/>
          </a:xfrm>
          <a:prstGeom prst="roundRect">
            <a:avLst>
              <a:gd name="adj" fmla="val 1820"/>
            </a:avLst>
          </a:prstGeom>
          <a:solidFill>
            <a:srgbClr val="FFFFFF"/>
          </a:solidFill>
          <a:ln w="9525">
            <a:solidFill>
              <a:srgbClr val="D3E2D7"/>
            </a:solidFill>
            <a:prstDash val="solid"/>
          </a:ln>
          <a:effectLst>
            <a:outerShdw blurRad="76200" dist="25400" dir="5400000" algn="bl" rotWithShape="0">
              <a:srgbClr val="000000">
                <a:alpha val="12000"/>
              </a:srgbClr>
            </a:outerShdw>
          </a:effectLst>
        </p:spPr>
      </p:sp>
      <p:pic>
        <p:nvPicPr>
          <p:cNvPr id="15" name="Image 0" descr="Google Cloud console screenshot 7"/>
          <p:cNvPicPr>
            <a:picLocks noChangeAspect="1"/>
          </p:cNvPicPr>
          <p:nvPr/>
        </p:nvPicPr>
        <p:blipFill>
          <a:blip r:embed="rId4"/>
          <a:stretch>
            <a:fillRect/>
          </a:stretch>
        </p:blipFill>
        <p:spPr>
          <a:xfrm>
            <a:off x="3017520" y="1371600"/>
            <a:ext cx="5669280" cy="2923315"/>
          </a:xfrm>
          <a:prstGeom prst="rect">
            <a:avLst/>
          </a:prstGeom>
        </p:spPr>
      </p:pic>
      <p:sp>
        <p:nvSpPr>
          <p:cNvPr id="16" name="Shape 13"/>
          <p:cNvSpPr/>
          <p:nvPr/>
        </p:nvSpPr>
        <p:spPr>
          <a:xfrm>
            <a:off x="457200" y="1389888"/>
            <a:ext cx="274320" cy="274320"/>
          </a:xfrm>
          <a:prstGeom prst="ellipse">
            <a:avLst/>
          </a:prstGeom>
          <a:solidFill>
            <a:srgbClr val="D49A00">
              <a:alpha val="22000"/>
            </a:srgbClr>
          </a:solidFill>
          <a:ln/>
        </p:spPr>
      </p:sp>
      <p:sp>
        <p:nvSpPr>
          <p:cNvPr id="17" name="Text 14"/>
          <p:cNvSpPr txBox="1"/>
          <p:nvPr/>
        </p:nvSpPr>
        <p:spPr>
          <a:xfrm>
            <a:off x="457200" y="1389888"/>
            <a:ext cx="274320" cy="274320"/>
          </a:xfrm>
          <a:prstGeom prst="rect">
            <a:avLst/>
          </a:prstGeom>
          <a:noFill/>
          <a:ln/>
        </p:spPr>
        <p:txBody>
          <a:bodyPr wrap="square" lIns="0" tIns="0" rIns="0" bIns="0" rtlCol="0" anchor="ctr"/>
          <a:lstStyle/>
          <a:p>
            <a:pPr marL="0" indent="0" algn="ctr">
              <a:buNone/>
            </a:pPr>
            <a:r>
              <a:rPr lang="en-US" sz="1100" b="1" dirty="0">
                <a:solidFill>
                  <a:srgbClr val="D49A00"/>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841248" y="1371600"/>
            <a:ext cx="1947672" cy="4114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Open the drop-down list.</a:t>
            </a:r>
            <a:endParaRPr lang="en-US" sz="1150" dirty="0"/>
          </a:p>
        </p:txBody>
      </p:sp>
      <p:sp>
        <p:nvSpPr>
          <p:cNvPr id="19" name="Shape 16"/>
          <p:cNvSpPr/>
          <p:nvPr/>
        </p:nvSpPr>
        <p:spPr>
          <a:xfrm>
            <a:off x="457200" y="1929384"/>
            <a:ext cx="274320" cy="274320"/>
          </a:xfrm>
          <a:prstGeom prst="ellipse">
            <a:avLst/>
          </a:prstGeom>
          <a:solidFill>
            <a:srgbClr val="D49A00">
              <a:alpha val="22000"/>
            </a:srgbClr>
          </a:solidFill>
          <a:ln/>
        </p:spPr>
      </p:sp>
      <p:sp>
        <p:nvSpPr>
          <p:cNvPr id="20" name="Text 17"/>
          <p:cNvSpPr txBox="1"/>
          <p:nvPr/>
        </p:nvSpPr>
        <p:spPr>
          <a:xfrm>
            <a:off x="457200" y="1929384"/>
            <a:ext cx="274320" cy="274320"/>
          </a:xfrm>
          <a:prstGeom prst="rect">
            <a:avLst/>
          </a:prstGeom>
          <a:noFill/>
          <a:ln/>
        </p:spPr>
        <p:txBody>
          <a:bodyPr wrap="square" lIns="0" tIns="0" rIns="0" bIns="0" rtlCol="0" anchor="ctr"/>
          <a:lstStyle/>
          <a:p>
            <a:pPr marL="0" indent="0" algn="ctr">
              <a:buNone/>
            </a:pPr>
            <a:r>
              <a:rPr lang="en-US" sz="1100" b="1" dirty="0">
                <a:solidFill>
                  <a:srgbClr val="D49A00"/>
                </a:solidFill>
                <a:latin typeface="Calibri" pitchFamily="34" charset="0"/>
                <a:ea typeface="Calibri" pitchFamily="34" charset="-122"/>
                <a:cs typeface="Calibri" pitchFamily="34" charset="-120"/>
              </a:rPr>
              <a:t>2</a:t>
            </a:r>
            <a:endParaRPr lang="en-US" sz="1100" dirty="0"/>
          </a:p>
        </p:txBody>
      </p:sp>
      <p:sp>
        <p:nvSpPr>
          <p:cNvPr id="21" name="Text 18"/>
          <p:cNvSpPr txBox="1"/>
          <p:nvPr/>
        </p:nvSpPr>
        <p:spPr>
          <a:xfrm>
            <a:off x="841248" y="1911096"/>
            <a:ext cx="1947672" cy="566928"/>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Tick at least one area — here </a:t>
            </a:r>
            <a:r>
              <a:rPr lang="en-US" sz="1150" b="1" dirty="0">
                <a:solidFill>
                  <a:srgbClr val="231F20"/>
                </a:solidFill>
                <a:latin typeface="Calibri" pitchFamily="34" charset="0"/>
                <a:ea typeface="Calibri" pitchFamily="34" charset="-122"/>
                <a:cs typeface="Calibri" pitchFamily="34" charset="-120"/>
              </a:rPr>
              <a:t>AI / ML</a:t>
            </a:r>
            <a:r>
              <a:rPr lang="en-US" sz="1150" dirty="0">
                <a:solidFill>
                  <a:srgbClr val="231F20"/>
                </a:solidFill>
                <a:latin typeface="Calibri" pitchFamily="34" charset="0"/>
                <a:ea typeface="Calibri" pitchFamily="34" charset="-122"/>
                <a:cs typeface="Calibri" pitchFamily="34" charset="-120"/>
              </a:rPr>
              <a:t>.</a:t>
            </a:r>
            <a:endParaRPr lang="en-US" sz="1150" dirty="0"/>
          </a:p>
        </p:txBody>
      </p:sp>
      <p:sp>
        <p:nvSpPr>
          <p:cNvPr id="22" name="Shape 19"/>
          <p:cNvSpPr/>
          <p:nvPr/>
        </p:nvSpPr>
        <p:spPr>
          <a:xfrm>
            <a:off x="457200" y="2624328"/>
            <a:ext cx="274320" cy="274320"/>
          </a:xfrm>
          <a:prstGeom prst="ellipse">
            <a:avLst/>
          </a:prstGeom>
          <a:solidFill>
            <a:srgbClr val="D49A00">
              <a:alpha val="22000"/>
            </a:srgbClr>
          </a:solidFill>
          <a:ln/>
        </p:spPr>
      </p:sp>
      <p:sp>
        <p:nvSpPr>
          <p:cNvPr id="23" name="Text 20"/>
          <p:cNvSpPr txBox="1"/>
          <p:nvPr/>
        </p:nvSpPr>
        <p:spPr>
          <a:xfrm>
            <a:off x="457200" y="2624328"/>
            <a:ext cx="274320" cy="274320"/>
          </a:xfrm>
          <a:prstGeom prst="rect">
            <a:avLst/>
          </a:prstGeom>
          <a:noFill/>
          <a:ln/>
        </p:spPr>
        <p:txBody>
          <a:bodyPr wrap="square" lIns="0" tIns="0" rIns="0" bIns="0" rtlCol="0" anchor="ctr"/>
          <a:lstStyle/>
          <a:p>
            <a:pPr marL="0" indent="0" algn="ctr">
              <a:buNone/>
            </a:pPr>
            <a:r>
              <a:rPr lang="en-US" sz="1100" b="1" dirty="0">
                <a:solidFill>
                  <a:srgbClr val="D49A00"/>
                </a:solidFill>
                <a:latin typeface="Calibri" pitchFamily="34" charset="0"/>
                <a:ea typeface="Calibri" pitchFamily="34" charset="-122"/>
                <a:cs typeface="Calibri" pitchFamily="34" charset="-120"/>
              </a:rPr>
              <a:t>3</a:t>
            </a:r>
            <a:endParaRPr lang="en-US" sz="1100" dirty="0"/>
          </a:p>
        </p:txBody>
      </p:sp>
      <p:sp>
        <p:nvSpPr>
          <p:cNvPr id="24" name="Text 21"/>
          <p:cNvSpPr txBox="1"/>
          <p:nvPr/>
        </p:nvSpPr>
        <p:spPr>
          <a:xfrm>
            <a:off x="841248" y="2606040"/>
            <a:ext cx="1947672" cy="4114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Confirm with </a:t>
            </a:r>
            <a:r>
              <a:rPr lang="en-US" sz="1150" b="1" dirty="0">
                <a:solidFill>
                  <a:srgbClr val="231F20"/>
                </a:solidFill>
                <a:latin typeface="Calibri" pitchFamily="34" charset="0"/>
                <a:ea typeface="Calibri" pitchFamily="34" charset="-122"/>
                <a:cs typeface="Calibri" pitchFamily="34" charset="-120"/>
              </a:rPr>
              <a:t>OK</a:t>
            </a:r>
            <a:r>
              <a:rPr lang="en-US" sz="1150" dirty="0">
                <a:solidFill>
                  <a:srgbClr val="231F20"/>
                </a:solidFill>
                <a:latin typeface="Calibri" pitchFamily="34" charset="0"/>
                <a:ea typeface="Calibri" pitchFamily="34" charset="-122"/>
                <a:cs typeface="Calibri" pitchFamily="34" charset="-120"/>
              </a:rPr>
              <a:t>, then </a:t>
            </a:r>
            <a:r>
              <a:rPr lang="en-US" sz="1150" b="1" dirty="0">
                <a:solidFill>
                  <a:srgbClr val="231F20"/>
                </a:solidFill>
                <a:latin typeface="Calibri" pitchFamily="34" charset="0"/>
                <a:ea typeface="Calibri" pitchFamily="34" charset="-122"/>
                <a:cs typeface="Calibri" pitchFamily="34" charset="-120"/>
              </a:rPr>
              <a:t>Next</a:t>
            </a:r>
            <a:r>
              <a:rPr lang="en-US" sz="1150" dirty="0">
                <a:solidFill>
                  <a:srgbClr val="231F20"/>
                </a:solidFill>
                <a:latin typeface="Calibri" pitchFamily="34" charset="0"/>
                <a:ea typeface="Calibri" pitchFamily="34" charset="-122"/>
                <a:cs typeface="Calibri" pitchFamily="34" charset="-120"/>
              </a:rPr>
              <a:t>.</a:t>
            </a:r>
            <a:endParaRPr lang="en-US" sz="1150" dirty="0"/>
          </a:p>
        </p:txBody>
      </p:sp>
      <p:sp>
        <p:nvSpPr>
          <p:cNvPr id="25" name="Shape 22"/>
          <p:cNvSpPr/>
          <p:nvPr/>
        </p:nvSpPr>
        <p:spPr>
          <a:xfrm>
            <a:off x="457200" y="3429000"/>
            <a:ext cx="2331720" cy="960120"/>
          </a:xfrm>
          <a:prstGeom prst="roundRect">
            <a:avLst>
              <a:gd name="adj" fmla="val 7619"/>
            </a:avLst>
          </a:prstGeom>
          <a:solidFill>
            <a:srgbClr val="D49A00">
              <a:alpha val="13000"/>
            </a:srgbClr>
          </a:solidFill>
          <a:ln w="12700">
            <a:solidFill>
              <a:srgbClr val="D49A00"/>
            </a:solidFill>
            <a:prstDash val="solid"/>
          </a:ln>
        </p:spPr>
      </p:sp>
      <p:pic>
        <p:nvPicPr>
          <p:cNvPr id="26" name="Image 1" descr="preencoded.png"/>
          <p:cNvPicPr>
            <a:picLocks noChangeAspect="1"/>
          </p:cNvPicPr>
          <p:nvPr/>
        </p:nvPicPr>
        <p:blipFill>
          <a:blip r:embed="rId5"/>
          <a:stretch>
            <a:fillRect/>
          </a:stretch>
        </p:blipFill>
        <p:spPr>
          <a:xfrm>
            <a:off x="585216" y="3557016"/>
            <a:ext cx="219456" cy="219456"/>
          </a:xfrm>
          <a:prstGeom prst="rect">
            <a:avLst/>
          </a:prstGeom>
        </p:spPr>
      </p:pic>
      <p:sp>
        <p:nvSpPr>
          <p:cNvPr id="27" name="Text 23"/>
          <p:cNvSpPr txBox="1"/>
          <p:nvPr/>
        </p:nvSpPr>
        <p:spPr>
          <a:xfrm>
            <a:off x="896112" y="3502152"/>
            <a:ext cx="1783080" cy="81381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Required field: with nothing selected, “This field is required” blocks you.</a:t>
            </a:r>
            <a:endParaRPr lang="en-US" sz="1050" dirty="0"/>
          </a:p>
        </p:txBody>
      </p:sp>
      <p:sp>
        <p:nvSpPr>
          <p:cNvPr id="28" name="Text 24"/>
          <p:cNvSpPr txBox="1"/>
          <p:nvPr/>
        </p:nvSpPr>
        <p:spPr>
          <a:xfrm>
            <a:off x="457200" y="4553712"/>
            <a:ext cx="8229600" cy="182880"/>
          </a:xfrm>
          <a:prstGeom prst="rect">
            <a:avLst/>
          </a:prstGeom>
          <a:noFill/>
          <a:ln/>
        </p:spPr>
        <p:txBody>
          <a:bodyPr wrap="square" lIns="0" tIns="0" rIns="0" bIns="0" rtlCol="0" anchor="ctr"/>
          <a:lstStyle/>
          <a:p>
            <a:pPr marL="0" indent="0">
              <a:buNone/>
            </a:pPr>
            <a:r>
              <a:rPr lang="en-US" sz="900" i="1" dirty="0">
                <a:solidFill>
                  <a:srgbClr val="5A6660"/>
                </a:solidFill>
                <a:latin typeface="Calibri" pitchFamily="34" charset="0"/>
                <a:ea typeface="Calibri" pitchFamily="34" charset="-122"/>
                <a:cs typeface="Calibri" pitchFamily="34" charset="-120"/>
              </a:rPr>
              <a:t>Source: Google Cloud console, areas-of-use list (screenshot).</a:t>
            </a:r>
            <a:endParaRPr lang="en-US" sz="9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5029200" cy="274320"/>
          </a:xfrm>
          <a:prstGeom prst="rect">
            <a:avLst/>
          </a:prstGeom>
          <a:noFill/>
          <a:ln/>
        </p:spPr>
        <p:txBody>
          <a:bodyPr wrap="square" lIns="0" tIns="0" rIns="0" bIns="0" rtlCol="0" anchor="ctr"/>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05 · STEP 5 OF 6</a:t>
            </a:r>
            <a:endParaRPr lang="en-US" sz="1050" dirty="0"/>
          </a:p>
        </p:txBody>
      </p:sp>
      <p:sp>
        <p:nvSpPr>
          <p:cNvPr id="3" name="Text 1"/>
          <p:cNvSpPr txBox="1"/>
          <p:nvPr/>
        </p:nvSpPr>
        <p:spPr>
          <a:xfrm>
            <a:off x="548640" y="1143000"/>
            <a:ext cx="2743200" cy="1188720"/>
          </a:xfrm>
          <a:prstGeom prst="rect">
            <a:avLst/>
          </a:prstGeom>
          <a:noFill/>
          <a:ln/>
        </p:spPr>
        <p:txBody>
          <a:bodyPr wrap="square" lIns="0" tIns="0" rIns="0" bIns="0" rtlCol="0" anchor="ctr"/>
          <a:lstStyle/>
          <a:p>
            <a:pPr marL="0" indent="0">
              <a:buNone/>
            </a:pPr>
            <a:r>
              <a:rPr lang="en-US" sz="8800" b="1" dirty="0">
                <a:solidFill>
                  <a:srgbClr val="F5C242"/>
                </a:solidFill>
                <a:latin typeface="Calibri" pitchFamily="34" charset="0"/>
                <a:ea typeface="Calibri" pitchFamily="34" charset="-122"/>
                <a:cs typeface="Calibri" pitchFamily="34" charset="-120"/>
              </a:rPr>
              <a:t>05</a:t>
            </a:r>
            <a:endParaRPr lang="en-US" sz="8800" dirty="0"/>
          </a:p>
        </p:txBody>
      </p:sp>
      <p:sp>
        <p:nvSpPr>
          <p:cNvPr id="4" name="Text 2"/>
          <p:cNvSpPr txBox="1"/>
          <p:nvPr/>
        </p:nvSpPr>
        <p:spPr>
          <a:xfrm>
            <a:off x="548640" y="2423160"/>
            <a:ext cx="4937760" cy="6858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Review &amp; API</a:t>
            </a:r>
            <a:endParaRPr lang="en-US" sz="3600" dirty="0"/>
          </a:p>
        </p:txBody>
      </p:sp>
      <p:sp>
        <p:nvSpPr>
          <p:cNvPr id="5" name="Text 3"/>
          <p:cNvSpPr txBox="1"/>
          <p:nvPr/>
        </p:nvSpPr>
        <p:spPr>
          <a:xfrm>
            <a:off x="548640" y="3154680"/>
            <a:ext cx="5120640" cy="457200"/>
          </a:xfrm>
          <a:prstGeom prst="rect">
            <a:avLst/>
          </a:prstGeom>
          <a:noFill/>
          <a:ln/>
        </p:spPr>
        <p:txBody>
          <a:bodyPr wrap="square" lIns="0" tIns="0" rIns="0" bIns="0" rtlCol="0" anchor="t"/>
          <a:lstStyle/>
          <a:p>
            <a:pPr marL="0" indent="0">
              <a:buNone/>
            </a:pPr>
            <a:r>
              <a:rPr lang="en-US" sz="1600" i="1" dirty="0">
                <a:solidFill>
                  <a:srgbClr val="E8F4EB"/>
                </a:solidFill>
                <a:latin typeface="Calibri" pitchFamily="34" charset="0"/>
                <a:ea typeface="Calibri" pitchFamily="34" charset="-122"/>
                <a:cs typeface="Calibri" pitchFamily="34" charset="-120"/>
              </a:rPr>
              <a:t>Is everything correct before you submit?</a:t>
            </a:r>
            <a:endParaRPr lang="en-US" sz="1600" dirty="0"/>
          </a:p>
        </p:txBody>
      </p:sp>
      <p:sp>
        <p:nvSpPr>
          <p:cNvPr id="6" name="Shape 4"/>
          <p:cNvSpPr/>
          <p:nvPr/>
        </p:nvSpPr>
        <p:spPr>
          <a:xfrm>
            <a:off x="5577840" y="868680"/>
            <a:ext cx="3017520" cy="3017520"/>
          </a:xfrm>
          <a:prstGeom prst="ellipse">
            <a:avLst/>
          </a:prstGeom>
          <a:solidFill>
            <a:srgbClr val="FFFFFF">
              <a:alpha val="12000"/>
            </a:srgbClr>
          </a:solidFill>
          <a:ln w="9525">
            <a:solidFill>
              <a:srgbClr val="FFFFFF">
                <a:alpha val="40000"/>
              </a:srgbClr>
            </a:solidFill>
            <a:prstDash val="solid"/>
          </a:ln>
        </p:spPr>
      </p:sp>
      <p:sp>
        <p:nvSpPr>
          <p:cNvPr id="7" name="Shape 5"/>
          <p:cNvSpPr/>
          <p:nvPr/>
        </p:nvSpPr>
        <p:spPr>
          <a:xfrm>
            <a:off x="5989320" y="1280160"/>
            <a:ext cx="2194560" cy="2194560"/>
          </a:xfrm>
          <a:prstGeom prst="ellipse">
            <a:avLst/>
          </a:prstGeom>
          <a:solidFill>
            <a:srgbClr val="FFFFFF">
              <a:alpha val="22000"/>
            </a:srgbClr>
          </a:solidFill>
          <a:ln w="9525">
            <a:solidFill>
              <a:srgbClr val="FFFFFF">
                <a:alpha val="40000"/>
              </a:srgbClr>
            </a:solidFill>
            <a:prstDash val="solid"/>
          </a:ln>
        </p:spPr>
      </p:sp>
      <p:sp>
        <p:nvSpPr>
          <p:cNvPr id="8" name="Shape 6"/>
          <p:cNvSpPr/>
          <p:nvPr/>
        </p:nvSpPr>
        <p:spPr>
          <a:xfrm>
            <a:off x="6373368" y="1664208"/>
            <a:ext cx="1426464" cy="1426464"/>
          </a:xfrm>
          <a:prstGeom prst="ellipse">
            <a:avLst/>
          </a:prstGeom>
          <a:solidFill>
            <a:srgbClr val="FFFFFF"/>
          </a:solidFill>
          <a:ln/>
        </p:spPr>
      </p:sp>
      <p:pic>
        <p:nvPicPr>
          <p:cNvPr id="9" name="Image 0" descr="preencoded.png"/>
          <p:cNvPicPr>
            <a:picLocks noChangeAspect="1"/>
          </p:cNvPicPr>
          <p:nvPr/>
        </p:nvPicPr>
        <p:blipFill>
          <a:blip r:embed="rId4"/>
          <a:stretch>
            <a:fillRect/>
          </a:stretch>
        </p:blipFill>
        <p:spPr>
          <a:xfrm>
            <a:off x="6757416" y="2048256"/>
            <a:ext cx="658368" cy="658368"/>
          </a:xfrm>
          <a:prstGeom prst="rect">
            <a:avLst/>
          </a:prstGeom>
        </p:spPr>
      </p:pic>
      <p:sp>
        <p:nvSpPr>
          <p:cNvPr id="10" name="Shape 7"/>
          <p:cNvSpPr/>
          <p:nvPr/>
        </p:nvSpPr>
        <p:spPr>
          <a:xfrm>
            <a:off x="548640" y="4160520"/>
            <a:ext cx="118872" cy="118872"/>
          </a:xfrm>
          <a:prstGeom prst="ellipse">
            <a:avLst/>
          </a:prstGeom>
          <a:solidFill>
            <a:srgbClr val="FFFFFF">
              <a:alpha val="40000"/>
            </a:srgbClr>
          </a:solidFill>
          <a:ln/>
        </p:spPr>
      </p:sp>
      <p:sp>
        <p:nvSpPr>
          <p:cNvPr id="11" name="Shape 8"/>
          <p:cNvSpPr/>
          <p:nvPr/>
        </p:nvSpPr>
        <p:spPr>
          <a:xfrm>
            <a:off x="768096" y="4160520"/>
            <a:ext cx="118872" cy="118872"/>
          </a:xfrm>
          <a:prstGeom prst="ellipse">
            <a:avLst/>
          </a:prstGeom>
          <a:solidFill>
            <a:srgbClr val="FFFFFF">
              <a:alpha val="40000"/>
            </a:srgbClr>
          </a:solidFill>
          <a:ln/>
        </p:spPr>
      </p:sp>
      <p:sp>
        <p:nvSpPr>
          <p:cNvPr id="12" name="Shape 9"/>
          <p:cNvSpPr/>
          <p:nvPr/>
        </p:nvSpPr>
        <p:spPr>
          <a:xfrm>
            <a:off x="987552" y="4160520"/>
            <a:ext cx="118872" cy="118872"/>
          </a:xfrm>
          <a:prstGeom prst="ellipse">
            <a:avLst/>
          </a:prstGeom>
          <a:solidFill>
            <a:srgbClr val="FFFFFF">
              <a:alpha val="40000"/>
            </a:srgbClr>
          </a:solidFill>
          <a:ln/>
        </p:spPr>
      </p:sp>
      <p:sp>
        <p:nvSpPr>
          <p:cNvPr id="13" name="Shape 10"/>
          <p:cNvSpPr/>
          <p:nvPr/>
        </p:nvSpPr>
        <p:spPr>
          <a:xfrm>
            <a:off x="1207008" y="4160520"/>
            <a:ext cx="118872" cy="118872"/>
          </a:xfrm>
          <a:prstGeom prst="ellipse">
            <a:avLst/>
          </a:prstGeom>
          <a:solidFill>
            <a:srgbClr val="FFFFFF">
              <a:alpha val="40000"/>
            </a:srgbClr>
          </a:solidFill>
          <a:ln/>
        </p:spPr>
      </p:sp>
      <p:sp>
        <p:nvSpPr>
          <p:cNvPr id="14" name="Shape 11"/>
          <p:cNvSpPr/>
          <p:nvPr/>
        </p:nvSpPr>
        <p:spPr>
          <a:xfrm>
            <a:off x="1426464" y="4160520"/>
            <a:ext cx="118872" cy="118872"/>
          </a:xfrm>
          <a:prstGeom prst="ellipse">
            <a:avLst/>
          </a:prstGeom>
          <a:solidFill>
            <a:srgbClr val="F5C242"/>
          </a:solidFill>
          <a:ln/>
        </p:spPr>
      </p:sp>
      <p:sp>
        <p:nvSpPr>
          <p:cNvPr id="15" name="Shape 12"/>
          <p:cNvSpPr/>
          <p:nvPr/>
        </p:nvSpPr>
        <p:spPr>
          <a:xfrm>
            <a:off x="1645920" y="4160520"/>
            <a:ext cx="118872" cy="118872"/>
          </a:xfrm>
          <a:prstGeom prst="ellipse">
            <a:avLst/>
          </a:prstGeom>
          <a:solidFill>
            <a:srgbClr val="FFFFFF">
              <a:alpha val="40000"/>
            </a:srgbClr>
          </a:solidFill>
          <a:ln/>
        </p:spPr>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9045"/>
          </a:solidFill>
          <a:ln/>
        </p:spPr>
      </p:sp>
      <p:sp>
        <p:nvSpPr>
          <p:cNvPr id="3" name="Shape 1"/>
          <p:cNvSpPr/>
          <p:nvPr/>
        </p:nvSpPr>
        <p:spPr>
          <a:xfrm>
            <a:off x="0" y="0"/>
            <a:ext cx="1234440" cy="54864"/>
          </a:xfrm>
          <a:prstGeom prst="rect">
            <a:avLst/>
          </a:prstGeom>
          <a:solidFill>
            <a:srgbClr val="F5C242"/>
          </a:solidFill>
          <a:ln/>
        </p:spPr>
      </p:sp>
      <p:sp>
        <p:nvSpPr>
          <p:cNvPr id="4" name="Text 2"/>
          <p:cNvSpPr txBox="1"/>
          <p:nvPr/>
        </p:nvSpPr>
        <p:spPr>
          <a:xfrm>
            <a:off x="457200" y="274320"/>
            <a:ext cx="685800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05 · REVIEW &amp; API</a:t>
            </a:r>
            <a:endParaRPr lang="en-US" sz="1050" dirty="0"/>
          </a:p>
        </p:txBody>
      </p:sp>
      <p:sp>
        <p:nvSpPr>
          <p:cNvPr id="5" name="Text 3"/>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Check the summary</a:t>
            </a:r>
            <a:endParaRPr lang="en-US" sz="2800" dirty="0"/>
          </a:p>
        </p:txBody>
      </p:sp>
      <p:sp>
        <p:nvSpPr>
          <p:cNvPr id="6" name="Shape 4"/>
          <p:cNvSpPr/>
          <p:nvPr/>
        </p:nvSpPr>
        <p:spPr>
          <a:xfrm>
            <a:off x="7717536" y="338328"/>
            <a:ext cx="100584" cy="100584"/>
          </a:xfrm>
          <a:prstGeom prst="ellipse">
            <a:avLst/>
          </a:prstGeom>
          <a:solidFill>
            <a:srgbClr val="D3E2D7"/>
          </a:solidFill>
          <a:ln/>
        </p:spPr>
      </p:sp>
      <p:sp>
        <p:nvSpPr>
          <p:cNvPr id="7" name="Shape 5"/>
          <p:cNvSpPr/>
          <p:nvPr/>
        </p:nvSpPr>
        <p:spPr>
          <a:xfrm>
            <a:off x="7891272" y="338328"/>
            <a:ext cx="100584" cy="100584"/>
          </a:xfrm>
          <a:prstGeom prst="ellipse">
            <a:avLst/>
          </a:prstGeom>
          <a:solidFill>
            <a:srgbClr val="D3E2D7"/>
          </a:solidFill>
          <a:ln/>
        </p:spPr>
      </p:sp>
      <p:sp>
        <p:nvSpPr>
          <p:cNvPr id="8" name="Shape 6"/>
          <p:cNvSpPr/>
          <p:nvPr/>
        </p:nvSpPr>
        <p:spPr>
          <a:xfrm>
            <a:off x="8065008" y="338328"/>
            <a:ext cx="100584" cy="100584"/>
          </a:xfrm>
          <a:prstGeom prst="ellipse">
            <a:avLst/>
          </a:prstGeom>
          <a:solidFill>
            <a:srgbClr val="D3E2D7"/>
          </a:solidFill>
          <a:ln/>
        </p:spPr>
      </p:sp>
      <p:sp>
        <p:nvSpPr>
          <p:cNvPr id="9" name="Shape 7"/>
          <p:cNvSpPr/>
          <p:nvPr/>
        </p:nvSpPr>
        <p:spPr>
          <a:xfrm>
            <a:off x="8238744" y="338328"/>
            <a:ext cx="100584" cy="100584"/>
          </a:xfrm>
          <a:prstGeom prst="ellipse">
            <a:avLst/>
          </a:prstGeom>
          <a:solidFill>
            <a:srgbClr val="D3E2D7"/>
          </a:solidFill>
          <a:ln/>
        </p:spPr>
      </p:sp>
      <p:sp>
        <p:nvSpPr>
          <p:cNvPr id="10" name="Shape 8"/>
          <p:cNvSpPr/>
          <p:nvPr/>
        </p:nvSpPr>
        <p:spPr>
          <a:xfrm>
            <a:off x="8412480" y="338328"/>
            <a:ext cx="100584" cy="100584"/>
          </a:xfrm>
          <a:prstGeom prst="ellipse">
            <a:avLst/>
          </a:prstGeom>
          <a:solidFill>
            <a:srgbClr val="C4621D"/>
          </a:solidFill>
          <a:ln/>
        </p:spPr>
      </p:sp>
      <p:sp>
        <p:nvSpPr>
          <p:cNvPr id="11" name="Shape 9"/>
          <p:cNvSpPr/>
          <p:nvPr/>
        </p:nvSpPr>
        <p:spPr>
          <a:xfrm>
            <a:off x="8586216" y="338328"/>
            <a:ext cx="100584" cy="100584"/>
          </a:xfrm>
          <a:prstGeom prst="ellipse">
            <a:avLst/>
          </a:prstGeom>
          <a:solidFill>
            <a:srgbClr val="D3E2D7"/>
          </a:solidFill>
          <a:ln/>
        </p:spPr>
      </p:sp>
      <p:sp>
        <p:nvSpPr>
          <p:cNvPr id="12" name="Text 10"/>
          <p:cNvSpPr txBox="1"/>
          <p:nvPr/>
        </p:nvSpPr>
        <p:spPr>
          <a:xfrm>
            <a:off x="457200" y="4800600"/>
            <a:ext cx="6766560" cy="201168"/>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Registering for Google Earth Engine · AfDB – Data Innovation for Africa (DI4A)</a:t>
            </a:r>
            <a:endParaRPr lang="en-US" sz="850" dirty="0"/>
          </a:p>
        </p:txBody>
      </p:sp>
      <p:sp>
        <p:nvSpPr>
          <p:cNvPr id="13" name="Text 11"/>
          <p:cNvSpPr txBox="1"/>
          <p:nvPr/>
        </p:nvSpPr>
        <p:spPr>
          <a:xfrm>
            <a:off x="7772400" y="4800600"/>
            <a:ext cx="914400" cy="201168"/>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16</a:t>
            </a:r>
            <a:endParaRPr lang="en-US" sz="850" dirty="0"/>
          </a:p>
        </p:txBody>
      </p:sp>
      <p:sp>
        <p:nvSpPr>
          <p:cNvPr id="14" name="Shape 12"/>
          <p:cNvSpPr/>
          <p:nvPr/>
        </p:nvSpPr>
        <p:spPr>
          <a:xfrm>
            <a:off x="411480" y="1325880"/>
            <a:ext cx="5760720" cy="3014755"/>
          </a:xfrm>
          <a:prstGeom prst="roundRect">
            <a:avLst>
              <a:gd name="adj" fmla="val 1820"/>
            </a:avLst>
          </a:prstGeom>
          <a:solidFill>
            <a:srgbClr val="FFFFFF"/>
          </a:solidFill>
          <a:ln w="9525">
            <a:solidFill>
              <a:srgbClr val="D3E2D7"/>
            </a:solidFill>
            <a:prstDash val="solid"/>
          </a:ln>
          <a:effectLst>
            <a:outerShdw blurRad="76200" dist="25400" dir="5400000" algn="bl" rotWithShape="0">
              <a:srgbClr val="000000">
                <a:alpha val="12000"/>
              </a:srgbClr>
            </a:outerShdw>
          </a:effectLst>
        </p:spPr>
      </p:sp>
      <p:pic>
        <p:nvPicPr>
          <p:cNvPr id="15" name="Image 0" descr="Google Cloud console screenshot 8"/>
          <p:cNvPicPr>
            <a:picLocks noChangeAspect="1"/>
          </p:cNvPicPr>
          <p:nvPr/>
        </p:nvPicPr>
        <p:blipFill>
          <a:blip r:embed="rId4"/>
          <a:stretch>
            <a:fillRect/>
          </a:stretch>
        </p:blipFill>
        <p:spPr>
          <a:xfrm>
            <a:off x="457200" y="1371600"/>
            <a:ext cx="5669280" cy="2923315"/>
          </a:xfrm>
          <a:prstGeom prst="rect">
            <a:avLst/>
          </a:prstGeom>
        </p:spPr>
      </p:pic>
      <p:sp>
        <p:nvSpPr>
          <p:cNvPr id="16" name="Shape 13"/>
          <p:cNvSpPr/>
          <p:nvPr/>
        </p:nvSpPr>
        <p:spPr>
          <a:xfrm>
            <a:off x="6400800" y="1371600"/>
            <a:ext cx="2286000" cy="457200"/>
          </a:xfrm>
          <a:prstGeom prst="roundRect">
            <a:avLst>
              <a:gd name="adj" fmla="val 12000"/>
            </a:avLst>
          </a:prstGeom>
          <a:solidFill>
            <a:srgbClr val="F4F8F5"/>
          </a:solidFill>
          <a:ln w="9525">
            <a:solidFill>
              <a:srgbClr val="D3E2D7"/>
            </a:solidFill>
            <a:prstDash val="solid"/>
          </a:ln>
        </p:spPr>
      </p:sp>
      <p:sp>
        <p:nvSpPr>
          <p:cNvPr id="17" name="Text 14"/>
          <p:cNvSpPr txBox="1"/>
          <p:nvPr/>
        </p:nvSpPr>
        <p:spPr>
          <a:xfrm>
            <a:off x="6510528" y="1371600"/>
            <a:ext cx="2103120" cy="457200"/>
          </a:xfrm>
          <a:prstGeom prst="rect">
            <a:avLst/>
          </a:prstGeom>
          <a:noFill/>
          <a:ln/>
        </p:spPr>
        <p:txBody>
          <a:bodyPr wrap="square" lIns="0" tIns="0" rIns="0" bIns="0" rtlCol="0" anchor="ctr"/>
          <a:lstStyle/>
          <a:p>
            <a:pPr marL="0" indent="0">
              <a:buNone/>
            </a:pPr>
            <a:r>
              <a:rPr lang="en-US" sz="850" b="1" kern="0" spc="150" dirty="0">
                <a:solidFill>
                  <a:srgbClr val="C4621D"/>
                </a:solidFill>
                <a:latin typeface="Calibri" pitchFamily="34" charset="0"/>
                <a:ea typeface="Calibri" pitchFamily="34" charset="-122"/>
                <a:cs typeface="Calibri" pitchFamily="34" charset="-120"/>
              </a:rPr>
              <a:t>PLAN
</a:t>
            </a:r>
            <a:r>
              <a:rPr lang="en-US" sz="1050" dirty="0">
                <a:solidFill>
                  <a:srgbClr val="231F20"/>
                </a:solidFill>
                <a:latin typeface="Calibri" pitchFamily="34" charset="0"/>
                <a:ea typeface="Calibri" pitchFamily="34" charset="-122"/>
                <a:cs typeface="Calibri" pitchFamily="34" charset="-120"/>
              </a:rPr>
              <a:t>Community</a:t>
            </a:r>
            <a:endParaRPr lang="en-US" sz="850" dirty="0"/>
          </a:p>
        </p:txBody>
      </p:sp>
      <p:sp>
        <p:nvSpPr>
          <p:cNvPr id="18" name="Shape 15"/>
          <p:cNvSpPr/>
          <p:nvPr/>
        </p:nvSpPr>
        <p:spPr>
          <a:xfrm>
            <a:off x="6400800" y="1901952"/>
            <a:ext cx="2286000" cy="457200"/>
          </a:xfrm>
          <a:prstGeom prst="roundRect">
            <a:avLst>
              <a:gd name="adj" fmla="val 12000"/>
            </a:avLst>
          </a:prstGeom>
          <a:solidFill>
            <a:srgbClr val="F4F8F5"/>
          </a:solidFill>
          <a:ln w="9525">
            <a:solidFill>
              <a:srgbClr val="D3E2D7"/>
            </a:solidFill>
            <a:prstDash val="solid"/>
          </a:ln>
        </p:spPr>
      </p:sp>
      <p:sp>
        <p:nvSpPr>
          <p:cNvPr id="19" name="Text 16"/>
          <p:cNvSpPr txBox="1"/>
          <p:nvPr/>
        </p:nvSpPr>
        <p:spPr>
          <a:xfrm>
            <a:off x="6510528" y="1901952"/>
            <a:ext cx="2103120" cy="457200"/>
          </a:xfrm>
          <a:prstGeom prst="rect">
            <a:avLst/>
          </a:prstGeom>
          <a:noFill/>
          <a:ln/>
        </p:spPr>
        <p:txBody>
          <a:bodyPr wrap="square" lIns="0" tIns="0" rIns="0" bIns="0" rtlCol="0" anchor="ctr"/>
          <a:lstStyle/>
          <a:p>
            <a:pPr marL="0" indent="0">
              <a:buNone/>
            </a:pPr>
            <a:r>
              <a:rPr lang="en-US" sz="850" b="1" kern="0" spc="150" dirty="0">
                <a:solidFill>
                  <a:srgbClr val="C4621D"/>
                </a:solidFill>
                <a:latin typeface="Calibri" pitchFamily="34" charset="0"/>
                <a:ea typeface="Calibri" pitchFamily="34" charset="-122"/>
                <a:cs typeface="Calibri" pitchFamily="34" charset="-120"/>
              </a:rPr>
              <a:t>CATEGORIES
</a:t>
            </a:r>
            <a:r>
              <a:rPr lang="en-US" sz="1050" dirty="0">
                <a:solidFill>
                  <a:srgbClr val="231F20"/>
                </a:solidFill>
                <a:latin typeface="Calibri" pitchFamily="34" charset="0"/>
                <a:ea typeface="Calibri" pitchFamily="34" charset="-122"/>
                <a:cs typeface="Calibri" pitchFamily="34" charset="-120"/>
              </a:rPr>
              <a:t>Adaptation, Protection &amp; conservation</a:t>
            </a:r>
            <a:endParaRPr lang="en-US" sz="850" dirty="0"/>
          </a:p>
        </p:txBody>
      </p:sp>
      <p:sp>
        <p:nvSpPr>
          <p:cNvPr id="20" name="Shape 17"/>
          <p:cNvSpPr/>
          <p:nvPr/>
        </p:nvSpPr>
        <p:spPr>
          <a:xfrm>
            <a:off x="6400800" y="2432304"/>
            <a:ext cx="2286000" cy="457200"/>
          </a:xfrm>
          <a:prstGeom prst="roundRect">
            <a:avLst>
              <a:gd name="adj" fmla="val 12000"/>
            </a:avLst>
          </a:prstGeom>
          <a:solidFill>
            <a:srgbClr val="F4F8F5"/>
          </a:solidFill>
          <a:ln w="9525">
            <a:solidFill>
              <a:srgbClr val="D3E2D7"/>
            </a:solidFill>
            <a:prstDash val="solid"/>
          </a:ln>
        </p:spPr>
      </p:sp>
      <p:sp>
        <p:nvSpPr>
          <p:cNvPr id="21" name="Text 18"/>
          <p:cNvSpPr txBox="1"/>
          <p:nvPr/>
        </p:nvSpPr>
        <p:spPr>
          <a:xfrm>
            <a:off x="6510528" y="2432304"/>
            <a:ext cx="2103120" cy="457200"/>
          </a:xfrm>
          <a:prstGeom prst="rect">
            <a:avLst/>
          </a:prstGeom>
          <a:noFill/>
          <a:ln/>
        </p:spPr>
        <p:txBody>
          <a:bodyPr wrap="square" lIns="0" tIns="0" rIns="0" bIns="0" rtlCol="0" anchor="ctr"/>
          <a:lstStyle/>
          <a:p>
            <a:pPr marL="0" indent="0">
              <a:buNone/>
            </a:pPr>
            <a:r>
              <a:rPr lang="en-US" sz="850" b="1" kern="0" spc="150" dirty="0">
                <a:solidFill>
                  <a:srgbClr val="C4621D"/>
                </a:solidFill>
                <a:latin typeface="Calibri" pitchFamily="34" charset="0"/>
                <a:ea typeface="Calibri" pitchFamily="34" charset="-122"/>
                <a:cs typeface="Calibri" pitchFamily="34" charset="-120"/>
              </a:rPr>
              <a:t>USE
</a:t>
            </a:r>
            <a:r>
              <a:rPr lang="en-US" sz="1050" dirty="0">
                <a:solidFill>
                  <a:srgbClr val="231F20"/>
                </a:solidFill>
                <a:latin typeface="Calibri" pitchFamily="34" charset="0"/>
                <a:ea typeface="Calibri" pitchFamily="34" charset="-122"/>
                <a:cs typeface="Calibri" pitchFamily="34" charset="-120"/>
              </a:rPr>
              <a:t>AI / ML</a:t>
            </a:r>
            <a:endParaRPr lang="en-US" sz="850" dirty="0"/>
          </a:p>
        </p:txBody>
      </p:sp>
      <p:sp>
        <p:nvSpPr>
          <p:cNvPr id="22" name="Shape 19"/>
          <p:cNvSpPr/>
          <p:nvPr/>
        </p:nvSpPr>
        <p:spPr>
          <a:xfrm>
            <a:off x="6400800" y="2962656"/>
            <a:ext cx="2286000" cy="457200"/>
          </a:xfrm>
          <a:prstGeom prst="roundRect">
            <a:avLst>
              <a:gd name="adj" fmla="val 12000"/>
            </a:avLst>
          </a:prstGeom>
          <a:solidFill>
            <a:srgbClr val="F4F8F5"/>
          </a:solidFill>
          <a:ln w="9525">
            <a:solidFill>
              <a:srgbClr val="D3E2D7"/>
            </a:solidFill>
            <a:prstDash val="solid"/>
          </a:ln>
        </p:spPr>
      </p:sp>
      <p:sp>
        <p:nvSpPr>
          <p:cNvPr id="23" name="Text 20"/>
          <p:cNvSpPr txBox="1"/>
          <p:nvPr/>
        </p:nvSpPr>
        <p:spPr>
          <a:xfrm>
            <a:off x="6510528" y="2962656"/>
            <a:ext cx="2103120" cy="457200"/>
          </a:xfrm>
          <a:prstGeom prst="rect">
            <a:avLst/>
          </a:prstGeom>
          <a:noFill/>
          <a:ln/>
        </p:spPr>
        <p:txBody>
          <a:bodyPr wrap="square" lIns="0" tIns="0" rIns="0" bIns="0" rtlCol="0" anchor="ctr"/>
          <a:lstStyle/>
          <a:p>
            <a:pPr marL="0" indent="0">
              <a:buNone/>
            </a:pPr>
            <a:r>
              <a:rPr lang="en-US" sz="850" b="1" kern="0" spc="150" dirty="0">
                <a:solidFill>
                  <a:srgbClr val="C4621D"/>
                </a:solidFill>
                <a:latin typeface="Calibri" pitchFamily="34" charset="0"/>
                <a:ea typeface="Calibri" pitchFamily="34" charset="-122"/>
                <a:cs typeface="Calibri" pitchFamily="34" charset="-120"/>
              </a:rPr>
              <a:t>REGION
</a:t>
            </a:r>
            <a:r>
              <a:rPr lang="en-US" sz="1050" dirty="0">
                <a:solidFill>
                  <a:srgbClr val="231F20"/>
                </a:solidFill>
                <a:latin typeface="Calibri" pitchFamily="34" charset="0"/>
                <a:ea typeface="Calibri" pitchFamily="34" charset="-122"/>
                <a:cs typeface="Calibri" pitchFamily="34" charset="-120"/>
              </a:rPr>
              <a:t>Africa</a:t>
            </a:r>
            <a:endParaRPr lang="en-US" sz="850" dirty="0"/>
          </a:p>
        </p:txBody>
      </p:sp>
      <p:sp>
        <p:nvSpPr>
          <p:cNvPr id="24" name="Shape 21"/>
          <p:cNvSpPr/>
          <p:nvPr/>
        </p:nvSpPr>
        <p:spPr>
          <a:xfrm>
            <a:off x="6400800" y="3566160"/>
            <a:ext cx="2286000" cy="822960"/>
          </a:xfrm>
          <a:prstGeom prst="roundRect">
            <a:avLst>
              <a:gd name="adj" fmla="val 8889"/>
            </a:avLst>
          </a:prstGeom>
          <a:solidFill>
            <a:srgbClr val="E8F4EB"/>
          </a:solidFill>
          <a:ln w="15875">
            <a:solidFill>
              <a:srgbClr val="2C9045"/>
            </a:solidFill>
            <a:prstDash val="solid"/>
          </a:ln>
        </p:spPr>
      </p:sp>
      <p:pic>
        <p:nvPicPr>
          <p:cNvPr id="25" name="Image 1" descr="preencoded.png"/>
          <p:cNvPicPr>
            <a:picLocks noChangeAspect="1"/>
          </p:cNvPicPr>
          <p:nvPr/>
        </p:nvPicPr>
        <p:blipFill>
          <a:blip r:embed="rId5"/>
          <a:stretch>
            <a:fillRect/>
          </a:stretch>
        </p:blipFill>
        <p:spPr>
          <a:xfrm>
            <a:off x="6528816" y="3694176"/>
            <a:ext cx="219456" cy="219456"/>
          </a:xfrm>
          <a:prstGeom prst="rect">
            <a:avLst/>
          </a:prstGeom>
        </p:spPr>
      </p:pic>
      <p:sp>
        <p:nvSpPr>
          <p:cNvPr id="26" name="Text 22"/>
          <p:cNvSpPr txBox="1"/>
          <p:nvPr/>
        </p:nvSpPr>
        <p:spPr>
          <a:xfrm>
            <a:off x="6839712" y="3639312"/>
            <a:ext cx="1737360" cy="67665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All correct? Click Register.</a:t>
            </a:r>
            <a:endParaRPr lang="en-US" sz="1050" dirty="0"/>
          </a:p>
        </p:txBody>
      </p:sp>
      <p:sp>
        <p:nvSpPr>
          <p:cNvPr id="27" name="Text 23"/>
          <p:cNvSpPr txBox="1"/>
          <p:nvPr/>
        </p:nvSpPr>
        <p:spPr>
          <a:xfrm>
            <a:off x="457200" y="4553712"/>
            <a:ext cx="8229600" cy="182880"/>
          </a:xfrm>
          <a:prstGeom prst="rect">
            <a:avLst/>
          </a:prstGeom>
          <a:noFill/>
          <a:ln/>
        </p:spPr>
        <p:txBody>
          <a:bodyPr wrap="square" lIns="0" tIns="0" rIns="0" bIns="0" rtlCol="0" anchor="ctr"/>
          <a:lstStyle/>
          <a:p>
            <a:pPr marL="0" indent="0">
              <a:buNone/>
            </a:pPr>
            <a:r>
              <a:rPr lang="en-US" sz="900" i="1" dirty="0">
                <a:solidFill>
                  <a:srgbClr val="5A6660"/>
                </a:solidFill>
                <a:latin typeface="Calibri" pitchFamily="34" charset="0"/>
                <a:ea typeface="Calibri" pitchFamily="34" charset="-122"/>
                <a:cs typeface="Calibri" pitchFamily="34" charset="-120"/>
              </a:rPr>
              <a:t>Source: Google Cloud console, “Review summary” step (screenshot).</a:t>
            </a:r>
            <a:endParaRPr lang="en-US" sz="9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9045"/>
          </a:solidFill>
          <a:ln/>
        </p:spPr>
      </p:sp>
      <p:sp>
        <p:nvSpPr>
          <p:cNvPr id="3" name="Shape 1"/>
          <p:cNvSpPr/>
          <p:nvPr/>
        </p:nvSpPr>
        <p:spPr>
          <a:xfrm>
            <a:off x="0" y="0"/>
            <a:ext cx="1234440" cy="54864"/>
          </a:xfrm>
          <a:prstGeom prst="rect">
            <a:avLst/>
          </a:prstGeom>
          <a:solidFill>
            <a:srgbClr val="F5C242"/>
          </a:solidFill>
          <a:ln/>
        </p:spPr>
      </p:sp>
      <p:sp>
        <p:nvSpPr>
          <p:cNvPr id="4" name="Text 2"/>
          <p:cNvSpPr txBox="1"/>
          <p:nvPr/>
        </p:nvSpPr>
        <p:spPr>
          <a:xfrm>
            <a:off x="457200" y="274320"/>
            <a:ext cx="685800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05 · REVIEW &amp; API</a:t>
            </a:r>
            <a:endParaRPr lang="en-US" sz="1050" dirty="0"/>
          </a:p>
        </p:txBody>
      </p:sp>
      <p:sp>
        <p:nvSpPr>
          <p:cNvPr id="5" name="Text 3"/>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Enable the Earth Engine API</a:t>
            </a:r>
            <a:endParaRPr lang="en-US" sz="2800" dirty="0"/>
          </a:p>
        </p:txBody>
      </p:sp>
      <p:sp>
        <p:nvSpPr>
          <p:cNvPr id="6" name="Shape 4"/>
          <p:cNvSpPr/>
          <p:nvPr/>
        </p:nvSpPr>
        <p:spPr>
          <a:xfrm>
            <a:off x="7717536" y="338328"/>
            <a:ext cx="100584" cy="100584"/>
          </a:xfrm>
          <a:prstGeom prst="ellipse">
            <a:avLst/>
          </a:prstGeom>
          <a:solidFill>
            <a:srgbClr val="D3E2D7"/>
          </a:solidFill>
          <a:ln/>
        </p:spPr>
      </p:sp>
      <p:sp>
        <p:nvSpPr>
          <p:cNvPr id="7" name="Shape 5"/>
          <p:cNvSpPr/>
          <p:nvPr/>
        </p:nvSpPr>
        <p:spPr>
          <a:xfrm>
            <a:off x="7891272" y="338328"/>
            <a:ext cx="100584" cy="100584"/>
          </a:xfrm>
          <a:prstGeom prst="ellipse">
            <a:avLst/>
          </a:prstGeom>
          <a:solidFill>
            <a:srgbClr val="D3E2D7"/>
          </a:solidFill>
          <a:ln/>
        </p:spPr>
      </p:sp>
      <p:sp>
        <p:nvSpPr>
          <p:cNvPr id="8" name="Shape 6"/>
          <p:cNvSpPr/>
          <p:nvPr/>
        </p:nvSpPr>
        <p:spPr>
          <a:xfrm>
            <a:off x="8065008" y="338328"/>
            <a:ext cx="100584" cy="100584"/>
          </a:xfrm>
          <a:prstGeom prst="ellipse">
            <a:avLst/>
          </a:prstGeom>
          <a:solidFill>
            <a:srgbClr val="D3E2D7"/>
          </a:solidFill>
          <a:ln/>
        </p:spPr>
      </p:sp>
      <p:sp>
        <p:nvSpPr>
          <p:cNvPr id="9" name="Shape 7"/>
          <p:cNvSpPr/>
          <p:nvPr/>
        </p:nvSpPr>
        <p:spPr>
          <a:xfrm>
            <a:off x="8238744" y="338328"/>
            <a:ext cx="100584" cy="100584"/>
          </a:xfrm>
          <a:prstGeom prst="ellipse">
            <a:avLst/>
          </a:prstGeom>
          <a:solidFill>
            <a:srgbClr val="D3E2D7"/>
          </a:solidFill>
          <a:ln/>
        </p:spPr>
      </p:sp>
      <p:sp>
        <p:nvSpPr>
          <p:cNvPr id="10" name="Shape 8"/>
          <p:cNvSpPr/>
          <p:nvPr/>
        </p:nvSpPr>
        <p:spPr>
          <a:xfrm>
            <a:off x="8412480" y="338328"/>
            <a:ext cx="100584" cy="100584"/>
          </a:xfrm>
          <a:prstGeom prst="ellipse">
            <a:avLst/>
          </a:prstGeom>
          <a:solidFill>
            <a:srgbClr val="C4621D"/>
          </a:solidFill>
          <a:ln/>
        </p:spPr>
      </p:sp>
      <p:sp>
        <p:nvSpPr>
          <p:cNvPr id="11" name="Shape 9"/>
          <p:cNvSpPr/>
          <p:nvPr/>
        </p:nvSpPr>
        <p:spPr>
          <a:xfrm>
            <a:off x="8586216" y="338328"/>
            <a:ext cx="100584" cy="100584"/>
          </a:xfrm>
          <a:prstGeom prst="ellipse">
            <a:avLst/>
          </a:prstGeom>
          <a:solidFill>
            <a:srgbClr val="D3E2D7"/>
          </a:solidFill>
          <a:ln/>
        </p:spPr>
      </p:sp>
      <p:sp>
        <p:nvSpPr>
          <p:cNvPr id="12" name="Text 10"/>
          <p:cNvSpPr txBox="1"/>
          <p:nvPr/>
        </p:nvSpPr>
        <p:spPr>
          <a:xfrm>
            <a:off x="457200" y="4800600"/>
            <a:ext cx="6766560" cy="201168"/>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Registering for Google Earth Engine · AfDB – Data Innovation for Africa (DI4A)</a:t>
            </a:r>
            <a:endParaRPr lang="en-US" sz="850" dirty="0"/>
          </a:p>
        </p:txBody>
      </p:sp>
      <p:sp>
        <p:nvSpPr>
          <p:cNvPr id="13" name="Text 11"/>
          <p:cNvSpPr txBox="1"/>
          <p:nvPr/>
        </p:nvSpPr>
        <p:spPr>
          <a:xfrm>
            <a:off x="7772400" y="4800600"/>
            <a:ext cx="914400" cy="201168"/>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17</a:t>
            </a:r>
            <a:endParaRPr lang="en-US" sz="850" dirty="0"/>
          </a:p>
        </p:txBody>
      </p:sp>
      <p:sp>
        <p:nvSpPr>
          <p:cNvPr id="14" name="Shape 12"/>
          <p:cNvSpPr/>
          <p:nvPr/>
        </p:nvSpPr>
        <p:spPr>
          <a:xfrm>
            <a:off x="411480" y="1325880"/>
            <a:ext cx="4069080" cy="2161140"/>
          </a:xfrm>
          <a:prstGeom prst="roundRect">
            <a:avLst>
              <a:gd name="adj" fmla="val 2539"/>
            </a:avLst>
          </a:prstGeom>
          <a:solidFill>
            <a:srgbClr val="FFFFFF"/>
          </a:solidFill>
          <a:ln w="9525">
            <a:solidFill>
              <a:srgbClr val="D3E2D7"/>
            </a:solidFill>
            <a:prstDash val="solid"/>
          </a:ln>
          <a:effectLst>
            <a:outerShdw blurRad="76200" dist="25400" dir="5400000" algn="bl" rotWithShape="0">
              <a:srgbClr val="000000">
                <a:alpha val="12000"/>
              </a:srgbClr>
            </a:outerShdw>
          </a:effectLst>
        </p:spPr>
      </p:sp>
      <p:pic>
        <p:nvPicPr>
          <p:cNvPr id="15" name="Image 0" descr="Google Cloud console screenshot 9"/>
          <p:cNvPicPr>
            <a:picLocks noChangeAspect="1"/>
          </p:cNvPicPr>
          <p:nvPr/>
        </p:nvPicPr>
        <p:blipFill>
          <a:blip r:embed="rId4"/>
          <a:stretch>
            <a:fillRect/>
          </a:stretch>
        </p:blipFill>
        <p:spPr>
          <a:xfrm>
            <a:off x="457200" y="1371600"/>
            <a:ext cx="3977640" cy="2069700"/>
          </a:xfrm>
          <a:prstGeom prst="rect">
            <a:avLst/>
          </a:prstGeom>
        </p:spPr>
      </p:pic>
      <p:sp>
        <p:nvSpPr>
          <p:cNvPr id="16" name="Shape 13"/>
          <p:cNvSpPr/>
          <p:nvPr/>
        </p:nvSpPr>
        <p:spPr>
          <a:xfrm>
            <a:off x="4663440" y="1325880"/>
            <a:ext cx="4069080" cy="2144751"/>
          </a:xfrm>
          <a:prstGeom prst="roundRect">
            <a:avLst>
              <a:gd name="adj" fmla="val 2558"/>
            </a:avLst>
          </a:prstGeom>
          <a:solidFill>
            <a:srgbClr val="FFFFFF"/>
          </a:solidFill>
          <a:ln w="9525">
            <a:solidFill>
              <a:srgbClr val="D3E2D7"/>
            </a:solidFill>
            <a:prstDash val="solid"/>
          </a:ln>
          <a:effectLst>
            <a:outerShdw blurRad="76200" dist="25400" dir="5400000" algn="bl" rotWithShape="0">
              <a:srgbClr val="000000">
                <a:alpha val="12000"/>
              </a:srgbClr>
            </a:outerShdw>
          </a:effectLst>
        </p:spPr>
      </p:sp>
      <p:pic>
        <p:nvPicPr>
          <p:cNvPr id="17" name="Image 1" descr="Google Cloud console screenshot 10"/>
          <p:cNvPicPr>
            <a:picLocks noChangeAspect="1"/>
          </p:cNvPicPr>
          <p:nvPr/>
        </p:nvPicPr>
        <p:blipFill>
          <a:blip r:embed="rId5"/>
          <a:stretch>
            <a:fillRect/>
          </a:stretch>
        </p:blipFill>
        <p:spPr>
          <a:xfrm>
            <a:off x="4709160" y="1371600"/>
            <a:ext cx="3977640" cy="2053311"/>
          </a:xfrm>
          <a:prstGeom prst="rect">
            <a:avLst/>
          </a:prstGeom>
        </p:spPr>
      </p:pic>
      <p:sp>
        <p:nvSpPr>
          <p:cNvPr id="18" name="Shape 14"/>
          <p:cNvSpPr/>
          <p:nvPr/>
        </p:nvSpPr>
        <p:spPr>
          <a:xfrm>
            <a:off x="457200" y="3669900"/>
            <a:ext cx="868680" cy="274320"/>
          </a:xfrm>
          <a:prstGeom prst="roundRect">
            <a:avLst>
              <a:gd name="adj" fmla="val 50000"/>
            </a:avLst>
          </a:prstGeom>
          <a:solidFill>
            <a:srgbClr val="C4621D">
              <a:alpha val="15000"/>
            </a:srgbClr>
          </a:solidFill>
          <a:ln w="9525">
            <a:solidFill>
              <a:srgbClr val="C4621D"/>
            </a:solidFill>
            <a:prstDash val="solid"/>
          </a:ln>
        </p:spPr>
      </p:sp>
      <p:sp>
        <p:nvSpPr>
          <p:cNvPr id="19" name="Text 15"/>
          <p:cNvSpPr txBox="1"/>
          <p:nvPr/>
        </p:nvSpPr>
        <p:spPr>
          <a:xfrm>
            <a:off x="457200" y="3669900"/>
            <a:ext cx="868680" cy="274320"/>
          </a:xfrm>
          <a:prstGeom prst="rect">
            <a:avLst/>
          </a:prstGeom>
          <a:noFill/>
          <a:ln/>
        </p:spPr>
        <p:txBody>
          <a:bodyPr wrap="square" lIns="0" tIns="0" rIns="0" bIns="0" rtlCol="0" anchor="ctr"/>
          <a:lstStyle/>
          <a:p>
            <a:pPr marL="0" indent="0" algn="ctr">
              <a:buNone/>
            </a:pPr>
            <a:r>
              <a:rPr lang="en-US" sz="950" b="1" kern="0" spc="150" dirty="0">
                <a:solidFill>
                  <a:srgbClr val="C4621D"/>
                </a:solidFill>
                <a:latin typeface="Calibri" pitchFamily="34" charset="0"/>
                <a:ea typeface="Calibri" pitchFamily="34" charset="-122"/>
                <a:cs typeface="Calibri" pitchFamily="34" charset="-120"/>
              </a:rPr>
              <a:t>BEFORE</a:t>
            </a:r>
            <a:endParaRPr lang="en-US" sz="950" dirty="0"/>
          </a:p>
        </p:txBody>
      </p:sp>
      <p:sp>
        <p:nvSpPr>
          <p:cNvPr id="20" name="Text 16"/>
          <p:cNvSpPr txBox="1"/>
          <p:nvPr/>
        </p:nvSpPr>
        <p:spPr>
          <a:xfrm>
            <a:off x="1463040" y="3624180"/>
            <a:ext cx="2971800" cy="384048"/>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Status “Not enabled”: click </a:t>
            </a:r>
            <a:r>
              <a:rPr lang="en-US" sz="1150" b="1" dirty="0">
                <a:solidFill>
                  <a:srgbClr val="231F20"/>
                </a:solidFill>
                <a:latin typeface="Calibri" pitchFamily="34" charset="0"/>
                <a:ea typeface="Calibri" pitchFamily="34" charset="-122"/>
                <a:cs typeface="Calibri" pitchFamily="34" charset="-120"/>
              </a:rPr>
              <a:t>Enable</a:t>
            </a:r>
            <a:r>
              <a:rPr lang="en-US" sz="1150" dirty="0">
                <a:solidFill>
                  <a:srgbClr val="231F20"/>
                </a:solidFill>
                <a:latin typeface="Calibri" pitchFamily="34" charset="0"/>
                <a:ea typeface="Calibri" pitchFamily="34" charset="-122"/>
                <a:cs typeface="Calibri" pitchFamily="34" charset="-120"/>
              </a:rPr>
              <a:t>.</a:t>
            </a:r>
            <a:endParaRPr lang="en-US" sz="1150" dirty="0"/>
          </a:p>
        </p:txBody>
      </p:sp>
      <p:sp>
        <p:nvSpPr>
          <p:cNvPr id="21" name="Shape 17"/>
          <p:cNvSpPr/>
          <p:nvPr/>
        </p:nvSpPr>
        <p:spPr>
          <a:xfrm>
            <a:off x="4709160" y="3653511"/>
            <a:ext cx="868680" cy="274320"/>
          </a:xfrm>
          <a:prstGeom prst="roundRect">
            <a:avLst>
              <a:gd name="adj" fmla="val 50000"/>
            </a:avLst>
          </a:prstGeom>
          <a:solidFill>
            <a:srgbClr val="C4621D">
              <a:alpha val="15000"/>
            </a:srgbClr>
          </a:solidFill>
          <a:ln w="9525">
            <a:solidFill>
              <a:srgbClr val="C4621D"/>
            </a:solidFill>
            <a:prstDash val="solid"/>
          </a:ln>
        </p:spPr>
      </p:sp>
      <p:sp>
        <p:nvSpPr>
          <p:cNvPr id="22" name="Text 18"/>
          <p:cNvSpPr txBox="1"/>
          <p:nvPr/>
        </p:nvSpPr>
        <p:spPr>
          <a:xfrm>
            <a:off x="4709160" y="3653511"/>
            <a:ext cx="868680" cy="274320"/>
          </a:xfrm>
          <a:prstGeom prst="rect">
            <a:avLst/>
          </a:prstGeom>
          <a:noFill/>
          <a:ln/>
        </p:spPr>
        <p:txBody>
          <a:bodyPr wrap="square" lIns="0" tIns="0" rIns="0" bIns="0" rtlCol="0" anchor="ctr"/>
          <a:lstStyle/>
          <a:p>
            <a:pPr marL="0" indent="0" algn="ctr">
              <a:buNone/>
            </a:pPr>
            <a:r>
              <a:rPr lang="en-US" sz="950" b="1" kern="0" spc="150" dirty="0">
                <a:solidFill>
                  <a:srgbClr val="C4621D"/>
                </a:solidFill>
                <a:latin typeface="Calibri" pitchFamily="34" charset="0"/>
                <a:ea typeface="Calibri" pitchFamily="34" charset="-122"/>
                <a:cs typeface="Calibri" pitchFamily="34" charset="-120"/>
              </a:rPr>
              <a:t>DURING</a:t>
            </a:r>
            <a:endParaRPr lang="en-US" sz="950" dirty="0"/>
          </a:p>
        </p:txBody>
      </p:sp>
      <p:sp>
        <p:nvSpPr>
          <p:cNvPr id="23" name="Text 19"/>
          <p:cNvSpPr txBox="1"/>
          <p:nvPr/>
        </p:nvSpPr>
        <p:spPr>
          <a:xfrm>
            <a:off x="5715000" y="3607791"/>
            <a:ext cx="2971800" cy="384048"/>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Status “In progress”: wait, do not close the window.</a:t>
            </a:r>
            <a:endParaRPr lang="en-US" sz="1150" dirty="0"/>
          </a:p>
        </p:txBody>
      </p:sp>
      <p:sp>
        <p:nvSpPr>
          <p:cNvPr id="24" name="Shape 20"/>
          <p:cNvSpPr/>
          <p:nvPr/>
        </p:nvSpPr>
        <p:spPr>
          <a:xfrm>
            <a:off x="4507992" y="2406450"/>
            <a:ext cx="128016" cy="0"/>
          </a:xfrm>
          <a:prstGeom prst="line">
            <a:avLst/>
          </a:prstGeom>
          <a:noFill/>
          <a:ln w="19050">
            <a:solidFill>
              <a:srgbClr val="5A6660"/>
            </a:solidFill>
            <a:prstDash val="solid"/>
            <a:tailEnd type="triangle"/>
          </a:ln>
        </p:spPr>
      </p:sp>
      <p:sp>
        <p:nvSpPr>
          <p:cNvPr id="25" name="Text 21"/>
          <p:cNvSpPr txBox="1"/>
          <p:nvPr/>
        </p:nvSpPr>
        <p:spPr>
          <a:xfrm>
            <a:off x="457200" y="4553712"/>
            <a:ext cx="8229600" cy="182880"/>
          </a:xfrm>
          <a:prstGeom prst="rect">
            <a:avLst/>
          </a:prstGeom>
          <a:noFill/>
          <a:ln/>
        </p:spPr>
        <p:txBody>
          <a:bodyPr wrap="square" lIns="0" tIns="0" rIns="0" bIns="0" rtlCol="0" anchor="ctr"/>
          <a:lstStyle/>
          <a:p>
            <a:pPr marL="0" indent="0">
              <a:buNone/>
            </a:pPr>
            <a:r>
              <a:rPr lang="en-US" sz="900" i="1" dirty="0">
                <a:solidFill>
                  <a:srgbClr val="5A6660"/>
                </a:solidFill>
                <a:latin typeface="Calibri" pitchFamily="34" charset="0"/>
                <a:ea typeface="Calibri" pitchFamily="34" charset="-122"/>
                <a:cs typeface="Calibri" pitchFamily="34" charset="-120"/>
              </a:rPr>
              <a:t>Source: Google Cloud console, “Enable APIs” dialog (screenshots).</a:t>
            </a:r>
            <a:endParaRPr lang="en-US" sz="9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5029200" cy="274320"/>
          </a:xfrm>
          <a:prstGeom prst="rect">
            <a:avLst/>
          </a:prstGeom>
          <a:noFill/>
          <a:ln/>
        </p:spPr>
        <p:txBody>
          <a:bodyPr wrap="square" lIns="0" tIns="0" rIns="0" bIns="0" rtlCol="0" anchor="ctr"/>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06 · STEP 6 OF 6</a:t>
            </a:r>
            <a:endParaRPr lang="en-US" sz="1050" dirty="0"/>
          </a:p>
        </p:txBody>
      </p:sp>
      <p:sp>
        <p:nvSpPr>
          <p:cNvPr id="3" name="Text 1"/>
          <p:cNvSpPr txBox="1"/>
          <p:nvPr/>
        </p:nvSpPr>
        <p:spPr>
          <a:xfrm>
            <a:off x="548640" y="1143000"/>
            <a:ext cx="2743200" cy="1188720"/>
          </a:xfrm>
          <a:prstGeom prst="rect">
            <a:avLst/>
          </a:prstGeom>
          <a:noFill/>
          <a:ln/>
        </p:spPr>
        <p:txBody>
          <a:bodyPr wrap="square" lIns="0" tIns="0" rIns="0" bIns="0" rtlCol="0" anchor="ctr"/>
          <a:lstStyle/>
          <a:p>
            <a:pPr marL="0" indent="0">
              <a:buNone/>
            </a:pPr>
            <a:r>
              <a:rPr lang="en-US" sz="8800" b="1" dirty="0">
                <a:solidFill>
                  <a:srgbClr val="F5C242"/>
                </a:solidFill>
                <a:latin typeface="Calibri" pitchFamily="34" charset="0"/>
                <a:ea typeface="Calibri" pitchFamily="34" charset="-122"/>
                <a:cs typeface="Calibri" pitchFamily="34" charset="-120"/>
              </a:rPr>
              <a:t>06</a:t>
            </a:r>
            <a:endParaRPr lang="en-US" sz="8800" dirty="0"/>
          </a:p>
        </p:txBody>
      </p:sp>
      <p:sp>
        <p:nvSpPr>
          <p:cNvPr id="4" name="Text 2"/>
          <p:cNvSpPr txBox="1"/>
          <p:nvPr/>
        </p:nvSpPr>
        <p:spPr>
          <a:xfrm>
            <a:off x="548640" y="2423160"/>
            <a:ext cx="4937760" cy="6858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Project management</a:t>
            </a:r>
            <a:endParaRPr lang="en-US" sz="3600" dirty="0"/>
          </a:p>
        </p:txBody>
      </p:sp>
      <p:sp>
        <p:nvSpPr>
          <p:cNvPr id="5" name="Text 3"/>
          <p:cNvSpPr txBox="1"/>
          <p:nvPr/>
        </p:nvSpPr>
        <p:spPr>
          <a:xfrm>
            <a:off x="548640" y="3154680"/>
            <a:ext cx="5120640" cy="457200"/>
          </a:xfrm>
          <a:prstGeom prst="rect">
            <a:avLst/>
          </a:prstGeom>
          <a:noFill/>
          <a:ln/>
        </p:spPr>
        <p:txBody>
          <a:bodyPr wrap="square" lIns="0" tIns="0" rIns="0" bIns="0" rtlCol="0" anchor="t"/>
          <a:lstStyle/>
          <a:p>
            <a:pPr marL="0" indent="0">
              <a:buNone/>
            </a:pPr>
            <a:r>
              <a:rPr lang="en-US" sz="1600" i="1" dirty="0">
                <a:solidFill>
                  <a:srgbClr val="E8F4EB"/>
                </a:solidFill>
                <a:latin typeface="Calibri" pitchFamily="34" charset="0"/>
                <a:ea typeface="Calibri" pitchFamily="34" charset="-122"/>
                <a:cs typeface="Calibri" pitchFamily="34" charset="-120"/>
              </a:rPr>
              <a:t>How do you manage your registration over time?</a:t>
            </a:r>
            <a:endParaRPr lang="en-US" sz="1600" dirty="0"/>
          </a:p>
        </p:txBody>
      </p:sp>
      <p:sp>
        <p:nvSpPr>
          <p:cNvPr id="6" name="Shape 4"/>
          <p:cNvSpPr/>
          <p:nvPr/>
        </p:nvSpPr>
        <p:spPr>
          <a:xfrm>
            <a:off x="5577840" y="868680"/>
            <a:ext cx="3017520" cy="3017520"/>
          </a:xfrm>
          <a:prstGeom prst="ellipse">
            <a:avLst/>
          </a:prstGeom>
          <a:solidFill>
            <a:srgbClr val="FFFFFF">
              <a:alpha val="12000"/>
            </a:srgbClr>
          </a:solidFill>
          <a:ln w="9525">
            <a:solidFill>
              <a:srgbClr val="FFFFFF">
                <a:alpha val="40000"/>
              </a:srgbClr>
            </a:solidFill>
            <a:prstDash val="solid"/>
          </a:ln>
        </p:spPr>
      </p:sp>
      <p:sp>
        <p:nvSpPr>
          <p:cNvPr id="7" name="Shape 5"/>
          <p:cNvSpPr/>
          <p:nvPr/>
        </p:nvSpPr>
        <p:spPr>
          <a:xfrm>
            <a:off x="5989320" y="1280160"/>
            <a:ext cx="2194560" cy="2194560"/>
          </a:xfrm>
          <a:prstGeom prst="ellipse">
            <a:avLst/>
          </a:prstGeom>
          <a:solidFill>
            <a:srgbClr val="FFFFFF">
              <a:alpha val="22000"/>
            </a:srgbClr>
          </a:solidFill>
          <a:ln w="9525">
            <a:solidFill>
              <a:srgbClr val="FFFFFF">
                <a:alpha val="40000"/>
              </a:srgbClr>
            </a:solidFill>
            <a:prstDash val="solid"/>
          </a:ln>
        </p:spPr>
      </p:sp>
      <p:sp>
        <p:nvSpPr>
          <p:cNvPr id="8" name="Shape 6"/>
          <p:cNvSpPr/>
          <p:nvPr/>
        </p:nvSpPr>
        <p:spPr>
          <a:xfrm>
            <a:off x="6373368" y="1664208"/>
            <a:ext cx="1426464" cy="1426464"/>
          </a:xfrm>
          <a:prstGeom prst="ellipse">
            <a:avLst/>
          </a:prstGeom>
          <a:solidFill>
            <a:srgbClr val="FFFFFF"/>
          </a:solidFill>
          <a:ln/>
        </p:spPr>
      </p:sp>
      <p:pic>
        <p:nvPicPr>
          <p:cNvPr id="9" name="Image 0" descr="preencoded.png"/>
          <p:cNvPicPr>
            <a:picLocks noChangeAspect="1"/>
          </p:cNvPicPr>
          <p:nvPr/>
        </p:nvPicPr>
        <p:blipFill>
          <a:blip r:embed="rId4"/>
          <a:stretch>
            <a:fillRect/>
          </a:stretch>
        </p:blipFill>
        <p:spPr>
          <a:xfrm>
            <a:off x="6757416" y="2048256"/>
            <a:ext cx="658368" cy="658368"/>
          </a:xfrm>
          <a:prstGeom prst="rect">
            <a:avLst/>
          </a:prstGeom>
        </p:spPr>
      </p:pic>
      <p:sp>
        <p:nvSpPr>
          <p:cNvPr id="10" name="Shape 7"/>
          <p:cNvSpPr/>
          <p:nvPr/>
        </p:nvSpPr>
        <p:spPr>
          <a:xfrm>
            <a:off x="548640" y="4160520"/>
            <a:ext cx="118872" cy="118872"/>
          </a:xfrm>
          <a:prstGeom prst="ellipse">
            <a:avLst/>
          </a:prstGeom>
          <a:solidFill>
            <a:srgbClr val="FFFFFF">
              <a:alpha val="40000"/>
            </a:srgbClr>
          </a:solidFill>
          <a:ln/>
        </p:spPr>
      </p:sp>
      <p:sp>
        <p:nvSpPr>
          <p:cNvPr id="11" name="Shape 8"/>
          <p:cNvSpPr/>
          <p:nvPr/>
        </p:nvSpPr>
        <p:spPr>
          <a:xfrm>
            <a:off x="768096" y="4160520"/>
            <a:ext cx="118872" cy="118872"/>
          </a:xfrm>
          <a:prstGeom prst="ellipse">
            <a:avLst/>
          </a:prstGeom>
          <a:solidFill>
            <a:srgbClr val="FFFFFF">
              <a:alpha val="40000"/>
            </a:srgbClr>
          </a:solidFill>
          <a:ln/>
        </p:spPr>
      </p:sp>
      <p:sp>
        <p:nvSpPr>
          <p:cNvPr id="12" name="Shape 9"/>
          <p:cNvSpPr/>
          <p:nvPr/>
        </p:nvSpPr>
        <p:spPr>
          <a:xfrm>
            <a:off x="987552" y="4160520"/>
            <a:ext cx="118872" cy="118872"/>
          </a:xfrm>
          <a:prstGeom prst="ellipse">
            <a:avLst/>
          </a:prstGeom>
          <a:solidFill>
            <a:srgbClr val="FFFFFF">
              <a:alpha val="40000"/>
            </a:srgbClr>
          </a:solidFill>
          <a:ln/>
        </p:spPr>
      </p:sp>
      <p:sp>
        <p:nvSpPr>
          <p:cNvPr id="13" name="Shape 10"/>
          <p:cNvSpPr/>
          <p:nvPr/>
        </p:nvSpPr>
        <p:spPr>
          <a:xfrm>
            <a:off x="1207008" y="4160520"/>
            <a:ext cx="118872" cy="118872"/>
          </a:xfrm>
          <a:prstGeom prst="ellipse">
            <a:avLst/>
          </a:prstGeom>
          <a:solidFill>
            <a:srgbClr val="FFFFFF">
              <a:alpha val="40000"/>
            </a:srgbClr>
          </a:solidFill>
          <a:ln/>
        </p:spPr>
      </p:sp>
      <p:sp>
        <p:nvSpPr>
          <p:cNvPr id="14" name="Shape 11"/>
          <p:cNvSpPr/>
          <p:nvPr/>
        </p:nvSpPr>
        <p:spPr>
          <a:xfrm>
            <a:off x="1426464" y="4160520"/>
            <a:ext cx="118872" cy="118872"/>
          </a:xfrm>
          <a:prstGeom prst="ellipse">
            <a:avLst/>
          </a:prstGeom>
          <a:solidFill>
            <a:srgbClr val="FFFFFF">
              <a:alpha val="40000"/>
            </a:srgbClr>
          </a:solidFill>
          <a:ln/>
        </p:spPr>
      </p:sp>
      <p:sp>
        <p:nvSpPr>
          <p:cNvPr id="15" name="Shape 12"/>
          <p:cNvSpPr/>
          <p:nvPr/>
        </p:nvSpPr>
        <p:spPr>
          <a:xfrm>
            <a:off x="1645920" y="4160520"/>
            <a:ext cx="118872" cy="118872"/>
          </a:xfrm>
          <a:prstGeom prst="ellipse">
            <a:avLst/>
          </a:prstGeom>
          <a:solidFill>
            <a:srgbClr val="F5C242"/>
          </a:solidFill>
          <a:ln/>
        </p:spPr>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9045"/>
          </a:solidFill>
          <a:ln/>
        </p:spPr>
      </p:sp>
      <p:sp>
        <p:nvSpPr>
          <p:cNvPr id="3" name="Shape 1"/>
          <p:cNvSpPr/>
          <p:nvPr/>
        </p:nvSpPr>
        <p:spPr>
          <a:xfrm>
            <a:off x="0" y="0"/>
            <a:ext cx="1234440" cy="54864"/>
          </a:xfrm>
          <a:prstGeom prst="rect">
            <a:avLst/>
          </a:prstGeom>
          <a:solidFill>
            <a:srgbClr val="F5C242"/>
          </a:solidFill>
          <a:ln/>
        </p:spPr>
      </p:sp>
      <p:sp>
        <p:nvSpPr>
          <p:cNvPr id="4" name="Text 2"/>
          <p:cNvSpPr txBox="1"/>
          <p:nvPr/>
        </p:nvSpPr>
        <p:spPr>
          <a:xfrm>
            <a:off x="457200" y="274320"/>
            <a:ext cx="685800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06 · PROJECT MANAGEMENT</a:t>
            </a:r>
            <a:endParaRPr lang="en-US" sz="1050" dirty="0"/>
          </a:p>
        </p:txBody>
      </p:sp>
      <p:sp>
        <p:nvSpPr>
          <p:cNvPr id="5" name="Text 3"/>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Registration confirmed</a:t>
            </a:r>
            <a:endParaRPr lang="en-US" sz="2800" dirty="0"/>
          </a:p>
        </p:txBody>
      </p:sp>
      <p:sp>
        <p:nvSpPr>
          <p:cNvPr id="6" name="Shape 4"/>
          <p:cNvSpPr/>
          <p:nvPr/>
        </p:nvSpPr>
        <p:spPr>
          <a:xfrm>
            <a:off x="7717536" y="338328"/>
            <a:ext cx="100584" cy="100584"/>
          </a:xfrm>
          <a:prstGeom prst="ellipse">
            <a:avLst/>
          </a:prstGeom>
          <a:solidFill>
            <a:srgbClr val="D3E2D7"/>
          </a:solidFill>
          <a:ln/>
        </p:spPr>
      </p:sp>
      <p:sp>
        <p:nvSpPr>
          <p:cNvPr id="7" name="Shape 5"/>
          <p:cNvSpPr/>
          <p:nvPr/>
        </p:nvSpPr>
        <p:spPr>
          <a:xfrm>
            <a:off x="7891272" y="338328"/>
            <a:ext cx="100584" cy="100584"/>
          </a:xfrm>
          <a:prstGeom prst="ellipse">
            <a:avLst/>
          </a:prstGeom>
          <a:solidFill>
            <a:srgbClr val="D3E2D7"/>
          </a:solidFill>
          <a:ln/>
        </p:spPr>
      </p:sp>
      <p:sp>
        <p:nvSpPr>
          <p:cNvPr id="8" name="Shape 6"/>
          <p:cNvSpPr/>
          <p:nvPr/>
        </p:nvSpPr>
        <p:spPr>
          <a:xfrm>
            <a:off x="8065008" y="338328"/>
            <a:ext cx="100584" cy="100584"/>
          </a:xfrm>
          <a:prstGeom prst="ellipse">
            <a:avLst/>
          </a:prstGeom>
          <a:solidFill>
            <a:srgbClr val="D3E2D7"/>
          </a:solidFill>
          <a:ln/>
        </p:spPr>
      </p:sp>
      <p:sp>
        <p:nvSpPr>
          <p:cNvPr id="9" name="Shape 7"/>
          <p:cNvSpPr/>
          <p:nvPr/>
        </p:nvSpPr>
        <p:spPr>
          <a:xfrm>
            <a:off x="8238744" y="338328"/>
            <a:ext cx="100584" cy="100584"/>
          </a:xfrm>
          <a:prstGeom prst="ellipse">
            <a:avLst/>
          </a:prstGeom>
          <a:solidFill>
            <a:srgbClr val="D3E2D7"/>
          </a:solidFill>
          <a:ln/>
        </p:spPr>
      </p:sp>
      <p:sp>
        <p:nvSpPr>
          <p:cNvPr id="10" name="Shape 8"/>
          <p:cNvSpPr/>
          <p:nvPr/>
        </p:nvSpPr>
        <p:spPr>
          <a:xfrm>
            <a:off x="8412480" y="338328"/>
            <a:ext cx="100584" cy="100584"/>
          </a:xfrm>
          <a:prstGeom prst="ellipse">
            <a:avLst/>
          </a:prstGeom>
          <a:solidFill>
            <a:srgbClr val="D3E2D7"/>
          </a:solidFill>
          <a:ln/>
        </p:spPr>
      </p:sp>
      <p:sp>
        <p:nvSpPr>
          <p:cNvPr id="11" name="Shape 9"/>
          <p:cNvSpPr/>
          <p:nvPr/>
        </p:nvSpPr>
        <p:spPr>
          <a:xfrm>
            <a:off x="8586216" y="338328"/>
            <a:ext cx="100584" cy="100584"/>
          </a:xfrm>
          <a:prstGeom prst="ellipse">
            <a:avLst/>
          </a:prstGeom>
          <a:solidFill>
            <a:srgbClr val="B83B2E"/>
          </a:solidFill>
          <a:ln/>
        </p:spPr>
      </p:sp>
      <p:sp>
        <p:nvSpPr>
          <p:cNvPr id="12" name="Text 10"/>
          <p:cNvSpPr txBox="1"/>
          <p:nvPr/>
        </p:nvSpPr>
        <p:spPr>
          <a:xfrm>
            <a:off x="457200" y="4800600"/>
            <a:ext cx="6766560" cy="201168"/>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Registering for Google Earth Engine · AfDB – Data Innovation for Africa (DI4A)</a:t>
            </a:r>
            <a:endParaRPr lang="en-US" sz="850" dirty="0"/>
          </a:p>
        </p:txBody>
      </p:sp>
      <p:sp>
        <p:nvSpPr>
          <p:cNvPr id="13" name="Text 11"/>
          <p:cNvSpPr txBox="1"/>
          <p:nvPr/>
        </p:nvSpPr>
        <p:spPr>
          <a:xfrm>
            <a:off x="7772400" y="4800600"/>
            <a:ext cx="914400" cy="201168"/>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19</a:t>
            </a:r>
            <a:endParaRPr lang="en-US" sz="850" dirty="0"/>
          </a:p>
        </p:txBody>
      </p:sp>
      <p:sp>
        <p:nvSpPr>
          <p:cNvPr id="14" name="Shape 12"/>
          <p:cNvSpPr/>
          <p:nvPr/>
        </p:nvSpPr>
        <p:spPr>
          <a:xfrm>
            <a:off x="411480" y="1325880"/>
            <a:ext cx="5760720" cy="3032490"/>
          </a:xfrm>
          <a:prstGeom prst="roundRect">
            <a:avLst>
              <a:gd name="adj" fmla="val 1809"/>
            </a:avLst>
          </a:prstGeom>
          <a:solidFill>
            <a:srgbClr val="FFFFFF"/>
          </a:solidFill>
          <a:ln w="9525">
            <a:solidFill>
              <a:srgbClr val="D3E2D7"/>
            </a:solidFill>
            <a:prstDash val="solid"/>
          </a:ln>
          <a:effectLst>
            <a:outerShdw blurRad="76200" dist="25400" dir="5400000" algn="bl" rotWithShape="0">
              <a:srgbClr val="000000">
                <a:alpha val="12000"/>
              </a:srgbClr>
            </a:outerShdw>
          </a:effectLst>
        </p:spPr>
      </p:sp>
      <p:pic>
        <p:nvPicPr>
          <p:cNvPr id="15" name="Image 0" descr="Google Cloud console screenshot 11"/>
          <p:cNvPicPr>
            <a:picLocks noChangeAspect="1"/>
          </p:cNvPicPr>
          <p:nvPr/>
        </p:nvPicPr>
        <p:blipFill>
          <a:blip r:embed="rId4"/>
          <a:stretch>
            <a:fillRect/>
          </a:stretch>
        </p:blipFill>
        <p:spPr>
          <a:xfrm>
            <a:off x="457200" y="1371600"/>
            <a:ext cx="5669280" cy="2941050"/>
          </a:xfrm>
          <a:prstGeom prst="rect">
            <a:avLst/>
          </a:prstGeom>
        </p:spPr>
      </p:pic>
      <p:sp>
        <p:nvSpPr>
          <p:cNvPr id="16" name="Shape 13"/>
          <p:cNvSpPr/>
          <p:nvPr/>
        </p:nvSpPr>
        <p:spPr>
          <a:xfrm>
            <a:off x="1771278" y="3310018"/>
            <a:ext cx="864801" cy="328523"/>
          </a:xfrm>
          <a:prstGeom prst="roundRect">
            <a:avLst>
              <a:gd name="adj" fmla="val 13917"/>
            </a:avLst>
          </a:prstGeom>
          <a:ln w="28575">
            <a:solidFill>
              <a:srgbClr val="D49A00"/>
            </a:solidFill>
            <a:prstDash val="solid"/>
          </a:ln>
        </p:spPr>
      </p:sp>
      <p:sp>
        <p:nvSpPr>
          <p:cNvPr id="17" name="Shape 14"/>
          <p:cNvSpPr/>
          <p:nvPr/>
        </p:nvSpPr>
        <p:spPr>
          <a:xfrm>
            <a:off x="6400800" y="1371600"/>
            <a:ext cx="2286000" cy="1188720"/>
          </a:xfrm>
          <a:prstGeom prst="roundRect">
            <a:avLst>
              <a:gd name="adj" fmla="val 6154"/>
            </a:avLst>
          </a:prstGeom>
          <a:solidFill>
            <a:srgbClr val="E8F4EB"/>
          </a:solidFill>
          <a:ln w="15875">
            <a:solidFill>
              <a:srgbClr val="B83B2E"/>
            </a:solidFill>
            <a:prstDash val="solid"/>
          </a:ln>
        </p:spPr>
      </p:sp>
      <p:sp>
        <p:nvSpPr>
          <p:cNvPr id="18" name="Text 15"/>
          <p:cNvSpPr txBox="1"/>
          <p:nvPr/>
        </p:nvSpPr>
        <p:spPr>
          <a:xfrm>
            <a:off x="6537960" y="1481328"/>
            <a:ext cx="2057400" cy="201168"/>
          </a:xfrm>
          <a:prstGeom prst="rect">
            <a:avLst/>
          </a:prstGeom>
          <a:noFill/>
          <a:ln/>
        </p:spPr>
        <p:txBody>
          <a:bodyPr wrap="square" lIns="0" tIns="0" rIns="0" bIns="0" rtlCol="0" anchor="ctr"/>
          <a:lstStyle/>
          <a:p>
            <a:pPr marL="0" indent="0">
              <a:buNone/>
            </a:pPr>
            <a:r>
              <a:rPr lang="en-US" sz="850" b="1" kern="0" spc="150" dirty="0">
                <a:solidFill>
                  <a:srgbClr val="B83B2E"/>
                </a:solidFill>
                <a:latin typeface="Calibri" pitchFamily="34" charset="0"/>
                <a:ea typeface="Calibri" pitchFamily="34" charset="-122"/>
                <a:cs typeface="Calibri" pitchFamily="34" charset="-120"/>
              </a:rPr>
              <a:t>ELIGIBILITY VALID UNTIL</a:t>
            </a:r>
            <a:endParaRPr lang="en-US" sz="850" dirty="0"/>
          </a:p>
        </p:txBody>
      </p:sp>
      <p:sp>
        <p:nvSpPr>
          <p:cNvPr id="19" name="Text 16"/>
          <p:cNvSpPr txBox="1"/>
          <p:nvPr/>
        </p:nvSpPr>
        <p:spPr>
          <a:xfrm>
            <a:off x="6537960" y="1719072"/>
            <a:ext cx="2057400" cy="457200"/>
          </a:xfrm>
          <a:prstGeom prst="rect">
            <a:avLst/>
          </a:prstGeom>
          <a:noFill/>
          <a:ln/>
        </p:spPr>
        <p:txBody>
          <a:bodyPr wrap="square" lIns="0" tIns="0" rIns="0" bIns="0" rtlCol="0" anchor="ctr"/>
          <a:lstStyle/>
          <a:p>
            <a:pPr marL="0" indent="0">
              <a:buNone/>
            </a:pPr>
            <a:r>
              <a:rPr lang="en-US" sz="2600" b="1" dirty="0">
                <a:solidFill>
                  <a:srgbClr val="B83B2E"/>
                </a:solidFill>
                <a:latin typeface="Calibri" pitchFamily="34" charset="0"/>
                <a:ea typeface="Calibri" pitchFamily="34" charset="-122"/>
                <a:cs typeface="Calibri" pitchFamily="34" charset="-120"/>
              </a:rPr>
              <a:t>25 March 2028</a:t>
            </a:r>
            <a:endParaRPr lang="en-US" sz="2600" dirty="0"/>
          </a:p>
        </p:txBody>
      </p:sp>
      <p:sp>
        <p:nvSpPr>
          <p:cNvPr id="20" name="Text 17"/>
          <p:cNvSpPr txBox="1"/>
          <p:nvPr/>
        </p:nvSpPr>
        <p:spPr>
          <a:xfrm>
            <a:off x="6537960" y="2194560"/>
            <a:ext cx="2057400" cy="256032"/>
          </a:xfrm>
          <a:prstGeom prst="rect">
            <a:avLst/>
          </a:prstGeom>
          <a:noFill/>
          <a:ln/>
        </p:spPr>
        <p:txBody>
          <a:bodyPr wrap="square" lIns="0" tIns="0" rIns="0" bIns="0" rtlCol="0" anchor="ctr"/>
          <a:lstStyle/>
          <a:p>
            <a:pPr marL="0" indent="0">
              <a:buNone/>
            </a:pPr>
            <a:r>
              <a:rPr lang="en-US" sz="1050" dirty="0">
                <a:solidFill>
                  <a:srgbClr val="5A6660"/>
                </a:solidFill>
                <a:latin typeface="Calibri" pitchFamily="34" charset="0"/>
                <a:ea typeface="Calibri" pitchFamily="34" charset="-122"/>
                <a:cs typeface="Calibri" pitchFamily="34" charset="-120"/>
              </a:rPr>
              <a:t>Tier: Community</a:t>
            </a:r>
            <a:endParaRPr lang="en-US" sz="1050" dirty="0"/>
          </a:p>
        </p:txBody>
      </p:sp>
      <p:sp>
        <p:nvSpPr>
          <p:cNvPr id="21" name="Shape 18"/>
          <p:cNvSpPr/>
          <p:nvPr/>
        </p:nvSpPr>
        <p:spPr>
          <a:xfrm>
            <a:off x="6400800" y="2807208"/>
            <a:ext cx="274320" cy="274320"/>
          </a:xfrm>
          <a:prstGeom prst="ellipse">
            <a:avLst/>
          </a:prstGeom>
          <a:solidFill>
            <a:srgbClr val="B83B2E">
              <a:alpha val="22000"/>
            </a:srgbClr>
          </a:solidFill>
          <a:ln/>
        </p:spPr>
      </p:sp>
      <p:sp>
        <p:nvSpPr>
          <p:cNvPr id="22" name="Text 19"/>
          <p:cNvSpPr txBox="1"/>
          <p:nvPr/>
        </p:nvSpPr>
        <p:spPr>
          <a:xfrm>
            <a:off x="6400800" y="2807208"/>
            <a:ext cx="274320" cy="274320"/>
          </a:xfrm>
          <a:prstGeom prst="rect">
            <a:avLst/>
          </a:prstGeom>
          <a:noFill/>
          <a:ln/>
        </p:spPr>
        <p:txBody>
          <a:bodyPr wrap="square" lIns="0" tIns="0" rIns="0" bIns="0" rtlCol="0" anchor="ctr"/>
          <a:lstStyle/>
          <a:p>
            <a:pPr marL="0" indent="0" algn="ctr">
              <a:buNone/>
            </a:pPr>
            <a:r>
              <a:rPr lang="en-US" sz="1100" b="1" dirty="0">
                <a:solidFill>
                  <a:srgbClr val="B83B2E"/>
                </a:solidFill>
                <a:latin typeface="Calibri" pitchFamily="34" charset="0"/>
                <a:ea typeface="Calibri" pitchFamily="34" charset="-122"/>
                <a:cs typeface="Calibri" pitchFamily="34" charset="-120"/>
              </a:rPr>
              <a:t>1</a:t>
            </a:r>
            <a:endParaRPr lang="en-US" sz="1100" dirty="0"/>
          </a:p>
        </p:txBody>
      </p:sp>
      <p:sp>
        <p:nvSpPr>
          <p:cNvPr id="23" name="Text 20"/>
          <p:cNvSpPr txBox="1"/>
          <p:nvPr/>
        </p:nvSpPr>
        <p:spPr>
          <a:xfrm>
            <a:off x="6784848" y="2788920"/>
            <a:ext cx="1901952" cy="4572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Continue</a:t>
            </a:r>
            <a:r>
              <a:rPr lang="en-US" sz="1150" dirty="0">
                <a:solidFill>
                  <a:srgbClr val="231F20"/>
                </a:solidFill>
                <a:latin typeface="Calibri" pitchFamily="34" charset="0"/>
                <a:ea typeface="Calibri" pitchFamily="34" charset="-122"/>
                <a:cs typeface="Calibri" pitchFamily="34" charset="-120"/>
              </a:rPr>
              <a:t>: open the Overview page.</a:t>
            </a:r>
            <a:endParaRPr lang="en-US" sz="1150" dirty="0"/>
          </a:p>
        </p:txBody>
      </p:sp>
      <p:sp>
        <p:nvSpPr>
          <p:cNvPr id="24" name="Shape 21"/>
          <p:cNvSpPr/>
          <p:nvPr/>
        </p:nvSpPr>
        <p:spPr>
          <a:xfrm>
            <a:off x="6400800" y="3392424"/>
            <a:ext cx="274320" cy="274320"/>
          </a:xfrm>
          <a:prstGeom prst="ellipse">
            <a:avLst/>
          </a:prstGeom>
          <a:solidFill>
            <a:srgbClr val="B83B2E">
              <a:alpha val="22000"/>
            </a:srgbClr>
          </a:solidFill>
          <a:ln/>
        </p:spPr>
      </p:sp>
      <p:sp>
        <p:nvSpPr>
          <p:cNvPr id="25" name="Text 22"/>
          <p:cNvSpPr txBox="1"/>
          <p:nvPr/>
        </p:nvSpPr>
        <p:spPr>
          <a:xfrm>
            <a:off x="6400800" y="3392424"/>
            <a:ext cx="274320" cy="274320"/>
          </a:xfrm>
          <a:prstGeom prst="rect">
            <a:avLst/>
          </a:prstGeom>
          <a:noFill/>
          <a:ln/>
        </p:spPr>
        <p:txBody>
          <a:bodyPr wrap="square" lIns="0" tIns="0" rIns="0" bIns="0" rtlCol="0" anchor="ctr"/>
          <a:lstStyle/>
          <a:p>
            <a:pPr marL="0" indent="0" algn="ctr">
              <a:buNone/>
            </a:pPr>
            <a:r>
              <a:rPr lang="en-US" sz="1100" b="1" dirty="0">
                <a:solidFill>
                  <a:srgbClr val="B83B2E"/>
                </a:solidFill>
                <a:latin typeface="Calibri" pitchFamily="34" charset="0"/>
                <a:ea typeface="Calibri" pitchFamily="34" charset="-122"/>
                <a:cs typeface="Calibri" pitchFamily="34" charset="-120"/>
              </a:rPr>
              <a:t>2</a:t>
            </a:r>
            <a:endParaRPr lang="en-US" sz="1100" dirty="0"/>
          </a:p>
        </p:txBody>
      </p:sp>
      <p:sp>
        <p:nvSpPr>
          <p:cNvPr id="26" name="Text 23"/>
          <p:cNvSpPr txBox="1"/>
          <p:nvPr/>
        </p:nvSpPr>
        <p:spPr>
          <a:xfrm>
            <a:off x="6784848" y="3374136"/>
            <a:ext cx="1901952" cy="566928"/>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Manage registration</a:t>
            </a:r>
            <a:r>
              <a:rPr lang="en-US" sz="1150" dirty="0">
                <a:solidFill>
                  <a:srgbClr val="231F20"/>
                </a:solidFill>
                <a:latin typeface="Calibri" pitchFamily="34" charset="0"/>
                <a:ea typeface="Calibri" pitchFamily="34" charset="-122"/>
                <a:cs typeface="Calibri" pitchFamily="34" charset="-120"/>
              </a:rPr>
              <a:t>: edit the registration.</a:t>
            </a:r>
            <a:endParaRPr lang="en-US" sz="1150" dirty="0"/>
          </a:p>
        </p:txBody>
      </p:sp>
      <p:sp>
        <p:nvSpPr>
          <p:cNvPr id="27" name="Text 24"/>
          <p:cNvSpPr txBox="1"/>
          <p:nvPr/>
        </p:nvSpPr>
        <p:spPr>
          <a:xfrm>
            <a:off x="457200" y="4553712"/>
            <a:ext cx="8229600" cy="182880"/>
          </a:xfrm>
          <a:prstGeom prst="rect">
            <a:avLst/>
          </a:prstGeom>
          <a:noFill/>
          <a:ln/>
        </p:spPr>
        <p:txBody>
          <a:bodyPr wrap="square" lIns="0" tIns="0" rIns="0" bIns="0" rtlCol="0" anchor="ctr"/>
          <a:lstStyle/>
          <a:p>
            <a:pPr marL="0" indent="0">
              <a:buNone/>
            </a:pPr>
            <a:r>
              <a:rPr lang="en-US" sz="900" i="1" dirty="0">
                <a:solidFill>
                  <a:srgbClr val="5A6660"/>
                </a:solidFill>
                <a:latin typeface="Calibri" pitchFamily="34" charset="0"/>
                <a:ea typeface="Calibri" pitchFamily="34" charset="-122"/>
                <a:cs typeface="Calibri" pitchFamily="34" charset="-120"/>
              </a:rPr>
              <a:t>Source: Google Cloud console, Configuration page (screenshot); expiry date specific to this project.</a:t>
            </a:r>
            <a:endParaRPr lang="en-US" sz="9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9045"/>
          </a:solidFill>
          <a:ln/>
        </p:spPr>
      </p:sp>
      <p:sp>
        <p:nvSpPr>
          <p:cNvPr id="3" name="Shape 1"/>
          <p:cNvSpPr/>
          <p:nvPr/>
        </p:nvSpPr>
        <p:spPr>
          <a:xfrm>
            <a:off x="0" y="0"/>
            <a:ext cx="1234440" cy="54864"/>
          </a:xfrm>
          <a:prstGeom prst="rect">
            <a:avLst/>
          </a:prstGeom>
          <a:solidFill>
            <a:srgbClr val="F5C242"/>
          </a:solidFill>
          <a:ln/>
        </p:spPr>
      </p:sp>
      <p:sp>
        <p:nvSpPr>
          <p:cNvPr id="4" name="Text 2"/>
          <p:cNvSpPr txBox="1"/>
          <p:nvPr/>
        </p:nvSpPr>
        <p:spPr>
          <a:xfrm>
            <a:off x="457200" y="274320"/>
            <a:ext cx="685800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06 · PROJECT MANAGEMENT</a:t>
            </a:r>
            <a:endParaRPr lang="en-US" sz="1050" dirty="0"/>
          </a:p>
        </p:txBody>
      </p:sp>
      <p:sp>
        <p:nvSpPr>
          <p:cNvPr id="5" name="Text 3"/>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Manage the registration</a:t>
            </a:r>
            <a:endParaRPr lang="en-US" sz="2800" dirty="0"/>
          </a:p>
        </p:txBody>
      </p:sp>
      <p:sp>
        <p:nvSpPr>
          <p:cNvPr id="6" name="Shape 4"/>
          <p:cNvSpPr/>
          <p:nvPr/>
        </p:nvSpPr>
        <p:spPr>
          <a:xfrm>
            <a:off x="7717536" y="338328"/>
            <a:ext cx="100584" cy="100584"/>
          </a:xfrm>
          <a:prstGeom prst="ellipse">
            <a:avLst/>
          </a:prstGeom>
          <a:solidFill>
            <a:srgbClr val="D3E2D7"/>
          </a:solidFill>
          <a:ln/>
        </p:spPr>
      </p:sp>
      <p:sp>
        <p:nvSpPr>
          <p:cNvPr id="7" name="Shape 5"/>
          <p:cNvSpPr/>
          <p:nvPr/>
        </p:nvSpPr>
        <p:spPr>
          <a:xfrm>
            <a:off x="7891272" y="338328"/>
            <a:ext cx="100584" cy="100584"/>
          </a:xfrm>
          <a:prstGeom prst="ellipse">
            <a:avLst/>
          </a:prstGeom>
          <a:solidFill>
            <a:srgbClr val="D3E2D7"/>
          </a:solidFill>
          <a:ln/>
        </p:spPr>
      </p:sp>
      <p:sp>
        <p:nvSpPr>
          <p:cNvPr id="8" name="Shape 6"/>
          <p:cNvSpPr/>
          <p:nvPr/>
        </p:nvSpPr>
        <p:spPr>
          <a:xfrm>
            <a:off x="8065008" y="338328"/>
            <a:ext cx="100584" cy="100584"/>
          </a:xfrm>
          <a:prstGeom prst="ellipse">
            <a:avLst/>
          </a:prstGeom>
          <a:solidFill>
            <a:srgbClr val="D3E2D7"/>
          </a:solidFill>
          <a:ln/>
        </p:spPr>
      </p:sp>
      <p:sp>
        <p:nvSpPr>
          <p:cNvPr id="9" name="Shape 7"/>
          <p:cNvSpPr/>
          <p:nvPr/>
        </p:nvSpPr>
        <p:spPr>
          <a:xfrm>
            <a:off x="8238744" y="338328"/>
            <a:ext cx="100584" cy="100584"/>
          </a:xfrm>
          <a:prstGeom prst="ellipse">
            <a:avLst/>
          </a:prstGeom>
          <a:solidFill>
            <a:srgbClr val="D3E2D7"/>
          </a:solidFill>
          <a:ln/>
        </p:spPr>
      </p:sp>
      <p:sp>
        <p:nvSpPr>
          <p:cNvPr id="10" name="Shape 8"/>
          <p:cNvSpPr/>
          <p:nvPr/>
        </p:nvSpPr>
        <p:spPr>
          <a:xfrm>
            <a:off x="8412480" y="338328"/>
            <a:ext cx="100584" cy="100584"/>
          </a:xfrm>
          <a:prstGeom prst="ellipse">
            <a:avLst/>
          </a:prstGeom>
          <a:solidFill>
            <a:srgbClr val="D3E2D7"/>
          </a:solidFill>
          <a:ln/>
        </p:spPr>
      </p:sp>
      <p:sp>
        <p:nvSpPr>
          <p:cNvPr id="11" name="Shape 9"/>
          <p:cNvSpPr/>
          <p:nvPr/>
        </p:nvSpPr>
        <p:spPr>
          <a:xfrm>
            <a:off x="8586216" y="338328"/>
            <a:ext cx="100584" cy="100584"/>
          </a:xfrm>
          <a:prstGeom prst="ellipse">
            <a:avLst/>
          </a:prstGeom>
          <a:solidFill>
            <a:srgbClr val="B83B2E"/>
          </a:solidFill>
          <a:ln/>
        </p:spPr>
      </p:sp>
      <p:sp>
        <p:nvSpPr>
          <p:cNvPr id="12" name="Text 10"/>
          <p:cNvSpPr txBox="1"/>
          <p:nvPr/>
        </p:nvSpPr>
        <p:spPr>
          <a:xfrm>
            <a:off x="457200" y="4800600"/>
            <a:ext cx="6766560" cy="201168"/>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Registering for Google Earth Engine · AfDB – Data Innovation for Africa (DI4A)</a:t>
            </a:r>
            <a:endParaRPr lang="en-US" sz="850" dirty="0"/>
          </a:p>
        </p:txBody>
      </p:sp>
      <p:sp>
        <p:nvSpPr>
          <p:cNvPr id="13" name="Text 11"/>
          <p:cNvSpPr txBox="1"/>
          <p:nvPr/>
        </p:nvSpPr>
        <p:spPr>
          <a:xfrm>
            <a:off x="7772400" y="4800600"/>
            <a:ext cx="914400" cy="201168"/>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20</a:t>
            </a:r>
            <a:endParaRPr lang="en-US" sz="850" dirty="0"/>
          </a:p>
        </p:txBody>
      </p:sp>
      <p:sp>
        <p:nvSpPr>
          <p:cNvPr id="14" name="Shape 12"/>
          <p:cNvSpPr/>
          <p:nvPr/>
        </p:nvSpPr>
        <p:spPr>
          <a:xfrm>
            <a:off x="2971800" y="1325880"/>
            <a:ext cx="5760720" cy="3008843"/>
          </a:xfrm>
          <a:prstGeom prst="roundRect">
            <a:avLst>
              <a:gd name="adj" fmla="val 1823"/>
            </a:avLst>
          </a:prstGeom>
          <a:solidFill>
            <a:srgbClr val="FFFFFF"/>
          </a:solidFill>
          <a:ln w="9525">
            <a:solidFill>
              <a:srgbClr val="D3E2D7"/>
            </a:solidFill>
            <a:prstDash val="solid"/>
          </a:ln>
          <a:effectLst>
            <a:outerShdw blurRad="76200" dist="25400" dir="5400000" algn="bl" rotWithShape="0">
              <a:srgbClr val="000000">
                <a:alpha val="12000"/>
              </a:srgbClr>
            </a:outerShdw>
          </a:effectLst>
        </p:spPr>
      </p:sp>
      <p:pic>
        <p:nvPicPr>
          <p:cNvPr id="15" name="Image 0" descr="Google Cloud console screenshot 12"/>
          <p:cNvPicPr>
            <a:picLocks noChangeAspect="1"/>
          </p:cNvPicPr>
          <p:nvPr/>
        </p:nvPicPr>
        <p:blipFill>
          <a:blip r:embed="rId4"/>
          <a:stretch>
            <a:fillRect/>
          </a:stretch>
        </p:blipFill>
        <p:spPr>
          <a:xfrm>
            <a:off x="3017520" y="1371600"/>
            <a:ext cx="5669280" cy="2917403"/>
          </a:xfrm>
          <a:prstGeom prst="rect">
            <a:avLst/>
          </a:prstGeom>
        </p:spPr>
      </p:pic>
      <p:sp>
        <p:nvSpPr>
          <p:cNvPr id="16" name="Shape 13"/>
          <p:cNvSpPr/>
          <p:nvPr/>
        </p:nvSpPr>
        <p:spPr>
          <a:xfrm>
            <a:off x="5165808" y="4098651"/>
            <a:ext cx="660504" cy="196286"/>
          </a:xfrm>
          <a:prstGeom prst="roundRect">
            <a:avLst>
              <a:gd name="adj" fmla="val 23293"/>
            </a:avLst>
          </a:prstGeom>
          <a:ln w="28575">
            <a:solidFill>
              <a:srgbClr val="D49A00"/>
            </a:solidFill>
            <a:prstDash val="solid"/>
          </a:ln>
        </p:spPr>
      </p:sp>
      <p:sp>
        <p:nvSpPr>
          <p:cNvPr id="17" name="Shape 14"/>
          <p:cNvSpPr/>
          <p:nvPr/>
        </p:nvSpPr>
        <p:spPr>
          <a:xfrm>
            <a:off x="457200" y="1371600"/>
            <a:ext cx="2331720" cy="749808"/>
          </a:xfrm>
          <a:prstGeom prst="roundRect">
            <a:avLst>
              <a:gd name="adj" fmla="val 9756"/>
            </a:avLst>
          </a:prstGeom>
          <a:solidFill>
            <a:srgbClr val="F4F8F5"/>
          </a:solidFill>
          <a:ln w="9525">
            <a:solidFill>
              <a:srgbClr val="D3E2D7"/>
            </a:solidFill>
            <a:prstDash val="solid"/>
          </a:ln>
        </p:spPr>
      </p:sp>
      <p:sp>
        <p:nvSpPr>
          <p:cNvPr id="18" name="Text 15"/>
          <p:cNvSpPr txBox="1"/>
          <p:nvPr/>
        </p:nvSpPr>
        <p:spPr>
          <a:xfrm>
            <a:off x="594360" y="1371600"/>
            <a:ext cx="2103120" cy="749808"/>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Update answers
</a:t>
            </a:r>
            <a:r>
              <a:rPr lang="en-US" sz="1050" dirty="0">
                <a:solidFill>
                  <a:srgbClr val="5A6660"/>
                </a:solidFill>
                <a:latin typeface="Calibri" pitchFamily="34" charset="0"/>
                <a:ea typeface="Calibri" pitchFamily="34" charset="-122"/>
                <a:cs typeface="Calibri" pitchFamily="34" charset="-120"/>
              </a:rPr>
              <a:t>Edit your answers.</a:t>
            </a:r>
            <a:endParaRPr lang="en-US" sz="1200" dirty="0"/>
          </a:p>
        </p:txBody>
      </p:sp>
      <p:sp>
        <p:nvSpPr>
          <p:cNvPr id="19" name="Shape 16"/>
          <p:cNvSpPr/>
          <p:nvPr/>
        </p:nvSpPr>
        <p:spPr>
          <a:xfrm>
            <a:off x="457200" y="2240280"/>
            <a:ext cx="2331720" cy="749808"/>
          </a:xfrm>
          <a:prstGeom prst="roundRect">
            <a:avLst>
              <a:gd name="adj" fmla="val 9756"/>
            </a:avLst>
          </a:prstGeom>
          <a:solidFill>
            <a:srgbClr val="F4F8F5"/>
          </a:solidFill>
          <a:ln w="9525">
            <a:solidFill>
              <a:srgbClr val="D3E2D7"/>
            </a:solidFill>
            <a:prstDash val="solid"/>
          </a:ln>
        </p:spPr>
      </p:sp>
      <p:sp>
        <p:nvSpPr>
          <p:cNvPr id="20" name="Text 17"/>
          <p:cNvSpPr txBox="1"/>
          <p:nvPr/>
        </p:nvSpPr>
        <p:spPr>
          <a:xfrm>
            <a:off x="594360" y="2240280"/>
            <a:ext cx="2103120" cy="749808"/>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Switch to commercial
</a:t>
            </a:r>
            <a:r>
              <a:rPr lang="en-US" sz="1050" dirty="0">
                <a:solidFill>
                  <a:srgbClr val="5A6660"/>
                </a:solidFill>
                <a:latin typeface="Calibri" pitchFamily="34" charset="0"/>
                <a:ea typeface="Calibri" pitchFamily="34" charset="-122"/>
                <a:cs typeface="Calibri" pitchFamily="34" charset="-120"/>
              </a:rPr>
              <a:t>Move to commercial use.</a:t>
            </a:r>
            <a:endParaRPr lang="en-US" sz="1200" dirty="0"/>
          </a:p>
        </p:txBody>
      </p:sp>
      <p:sp>
        <p:nvSpPr>
          <p:cNvPr id="21" name="Shape 18"/>
          <p:cNvSpPr/>
          <p:nvPr/>
        </p:nvSpPr>
        <p:spPr>
          <a:xfrm>
            <a:off x="457200" y="3108960"/>
            <a:ext cx="2331720" cy="749808"/>
          </a:xfrm>
          <a:prstGeom prst="roundRect">
            <a:avLst>
              <a:gd name="adj" fmla="val 9756"/>
            </a:avLst>
          </a:prstGeom>
          <a:solidFill>
            <a:srgbClr val="E8F4EB"/>
          </a:solidFill>
          <a:ln w="19050">
            <a:solidFill>
              <a:srgbClr val="B83B2E"/>
            </a:solidFill>
            <a:prstDash val="solid"/>
          </a:ln>
        </p:spPr>
      </p:sp>
      <p:sp>
        <p:nvSpPr>
          <p:cNvPr id="22" name="Text 19"/>
          <p:cNvSpPr txBox="1"/>
          <p:nvPr/>
        </p:nvSpPr>
        <p:spPr>
          <a:xfrm>
            <a:off x="594360" y="3108960"/>
            <a:ext cx="2103120" cy="749808"/>
          </a:xfrm>
          <a:prstGeom prst="rect">
            <a:avLst/>
          </a:prstGeom>
          <a:noFill/>
          <a:ln/>
        </p:spPr>
        <p:txBody>
          <a:bodyPr wrap="square" lIns="0" tIns="0" rIns="0" bIns="0" rtlCol="0" anchor="ctr"/>
          <a:lstStyle/>
          <a:p>
            <a:pPr marL="0" indent="0">
              <a:buNone/>
            </a:pPr>
            <a:r>
              <a:rPr lang="en-US" sz="1200" b="1" dirty="0">
                <a:solidFill>
                  <a:srgbClr val="B83B2E"/>
                </a:solidFill>
                <a:latin typeface="Calibri" pitchFamily="34" charset="0"/>
                <a:ea typeface="Calibri" pitchFamily="34" charset="-122"/>
                <a:cs typeface="Calibri" pitchFamily="34" charset="-120"/>
              </a:rPr>
              <a:t>Register a new project
</a:t>
            </a:r>
            <a:r>
              <a:rPr lang="en-US" sz="1050" dirty="0">
                <a:solidFill>
                  <a:srgbClr val="5A6660"/>
                </a:solidFill>
                <a:latin typeface="Calibri" pitchFamily="34" charset="0"/>
                <a:ea typeface="Calibri" pitchFamily="34" charset="-122"/>
                <a:cs typeface="Calibri" pitchFamily="34" charset="-120"/>
              </a:rPr>
              <a:t>Register another project.</a:t>
            </a:r>
            <a:endParaRPr lang="en-US" sz="1200" dirty="0"/>
          </a:p>
        </p:txBody>
      </p:sp>
      <p:sp>
        <p:nvSpPr>
          <p:cNvPr id="23" name="Text 20"/>
          <p:cNvSpPr txBox="1"/>
          <p:nvPr/>
        </p:nvSpPr>
        <p:spPr>
          <a:xfrm>
            <a:off x="457200" y="4553712"/>
            <a:ext cx="8229600" cy="182880"/>
          </a:xfrm>
          <a:prstGeom prst="rect">
            <a:avLst/>
          </a:prstGeom>
          <a:noFill/>
          <a:ln/>
        </p:spPr>
        <p:txBody>
          <a:bodyPr wrap="square" lIns="0" tIns="0" rIns="0" bIns="0" rtlCol="0" anchor="ctr"/>
          <a:lstStyle/>
          <a:p>
            <a:pPr marL="0" indent="0">
              <a:buNone/>
            </a:pPr>
            <a:r>
              <a:rPr lang="en-US" sz="900" i="1" dirty="0">
                <a:solidFill>
                  <a:srgbClr val="5A6660"/>
                </a:solidFill>
                <a:latin typeface="Calibri" pitchFamily="34" charset="0"/>
                <a:ea typeface="Calibri" pitchFamily="34" charset="-122"/>
                <a:cs typeface="Calibri" pitchFamily="34" charset="-120"/>
              </a:rPr>
              <a:t>Source: Google Cloud console, “Manage Registration” page (screenshot).</a:t>
            </a:r>
            <a:endParaRPr lang="en-US" sz="9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9045"/>
          </a:solidFill>
          <a:ln/>
        </p:spPr>
      </p:sp>
      <p:sp>
        <p:nvSpPr>
          <p:cNvPr id="3" name="Shape 1"/>
          <p:cNvSpPr/>
          <p:nvPr/>
        </p:nvSpPr>
        <p:spPr>
          <a:xfrm>
            <a:off x="0" y="0"/>
            <a:ext cx="1234440" cy="54864"/>
          </a:xfrm>
          <a:prstGeom prst="rect">
            <a:avLst/>
          </a:prstGeom>
          <a:solidFill>
            <a:srgbClr val="F5C242"/>
          </a:solidFill>
          <a:ln/>
        </p:spPr>
      </p:sp>
      <p:sp>
        <p:nvSpPr>
          <p:cNvPr id="4" name="Text 2"/>
          <p:cNvSpPr txBox="1"/>
          <p:nvPr/>
        </p:nvSpPr>
        <p:spPr>
          <a:xfrm>
            <a:off x="457200" y="274320"/>
            <a:ext cx="685800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06 · PROJECT MANAGEMENT</a:t>
            </a:r>
            <a:endParaRPr lang="en-US" sz="1050" dirty="0"/>
          </a:p>
        </p:txBody>
      </p:sp>
      <p:sp>
        <p:nvSpPr>
          <p:cNvPr id="5" name="Text 3"/>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Select or create a project</a:t>
            </a:r>
            <a:endParaRPr lang="en-US" sz="2800" dirty="0"/>
          </a:p>
        </p:txBody>
      </p:sp>
      <p:sp>
        <p:nvSpPr>
          <p:cNvPr id="6" name="Shape 4"/>
          <p:cNvSpPr/>
          <p:nvPr/>
        </p:nvSpPr>
        <p:spPr>
          <a:xfrm>
            <a:off x="7717536" y="338328"/>
            <a:ext cx="100584" cy="100584"/>
          </a:xfrm>
          <a:prstGeom prst="ellipse">
            <a:avLst/>
          </a:prstGeom>
          <a:solidFill>
            <a:srgbClr val="D3E2D7"/>
          </a:solidFill>
          <a:ln/>
        </p:spPr>
      </p:sp>
      <p:sp>
        <p:nvSpPr>
          <p:cNvPr id="7" name="Shape 5"/>
          <p:cNvSpPr/>
          <p:nvPr/>
        </p:nvSpPr>
        <p:spPr>
          <a:xfrm>
            <a:off x="7891272" y="338328"/>
            <a:ext cx="100584" cy="100584"/>
          </a:xfrm>
          <a:prstGeom prst="ellipse">
            <a:avLst/>
          </a:prstGeom>
          <a:solidFill>
            <a:srgbClr val="D3E2D7"/>
          </a:solidFill>
          <a:ln/>
        </p:spPr>
      </p:sp>
      <p:sp>
        <p:nvSpPr>
          <p:cNvPr id="8" name="Shape 6"/>
          <p:cNvSpPr/>
          <p:nvPr/>
        </p:nvSpPr>
        <p:spPr>
          <a:xfrm>
            <a:off x="8065008" y="338328"/>
            <a:ext cx="100584" cy="100584"/>
          </a:xfrm>
          <a:prstGeom prst="ellipse">
            <a:avLst/>
          </a:prstGeom>
          <a:solidFill>
            <a:srgbClr val="D3E2D7"/>
          </a:solidFill>
          <a:ln/>
        </p:spPr>
      </p:sp>
      <p:sp>
        <p:nvSpPr>
          <p:cNvPr id="9" name="Shape 7"/>
          <p:cNvSpPr/>
          <p:nvPr/>
        </p:nvSpPr>
        <p:spPr>
          <a:xfrm>
            <a:off x="8238744" y="338328"/>
            <a:ext cx="100584" cy="100584"/>
          </a:xfrm>
          <a:prstGeom prst="ellipse">
            <a:avLst/>
          </a:prstGeom>
          <a:solidFill>
            <a:srgbClr val="D3E2D7"/>
          </a:solidFill>
          <a:ln/>
        </p:spPr>
      </p:sp>
      <p:sp>
        <p:nvSpPr>
          <p:cNvPr id="10" name="Shape 8"/>
          <p:cNvSpPr/>
          <p:nvPr/>
        </p:nvSpPr>
        <p:spPr>
          <a:xfrm>
            <a:off x="8412480" y="338328"/>
            <a:ext cx="100584" cy="100584"/>
          </a:xfrm>
          <a:prstGeom prst="ellipse">
            <a:avLst/>
          </a:prstGeom>
          <a:solidFill>
            <a:srgbClr val="D3E2D7"/>
          </a:solidFill>
          <a:ln/>
        </p:spPr>
      </p:sp>
      <p:sp>
        <p:nvSpPr>
          <p:cNvPr id="11" name="Shape 9"/>
          <p:cNvSpPr/>
          <p:nvPr/>
        </p:nvSpPr>
        <p:spPr>
          <a:xfrm>
            <a:off x="8586216" y="338328"/>
            <a:ext cx="100584" cy="100584"/>
          </a:xfrm>
          <a:prstGeom prst="ellipse">
            <a:avLst/>
          </a:prstGeom>
          <a:solidFill>
            <a:srgbClr val="B83B2E"/>
          </a:solidFill>
          <a:ln/>
        </p:spPr>
      </p:sp>
      <p:sp>
        <p:nvSpPr>
          <p:cNvPr id="12" name="Text 10"/>
          <p:cNvSpPr txBox="1"/>
          <p:nvPr/>
        </p:nvSpPr>
        <p:spPr>
          <a:xfrm>
            <a:off x="457200" y="4800600"/>
            <a:ext cx="6766560" cy="201168"/>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Registering for Google Earth Engine · AfDB – Data Innovation for Africa (DI4A)</a:t>
            </a:r>
            <a:endParaRPr lang="en-US" sz="850" dirty="0"/>
          </a:p>
        </p:txBody>
      </p:sp>
      <p:sp>
        <p:nvSpPr>
          <p:cNvPr id="13" name="Text 11"/>
          <p:cNvSpPr txBox="1"/>
          <p:nvPr/>
        </p:nvSpPr>
        <p:spPr>
          <a:xfrm>
            <a:off x="7772400" y="4800600"/>
            <a:ext cx="914400" cy="201168"/>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21</a:t>
            </a:r>
            <a:endParaRPr lang="en-US" sz="850" dirty="0"/>
          </a:p>
        </p:txBody>
      </p:sp>
      <p:sp>
        <p:nvSpPr>
          <p:cNvPr id="14" name="Shape 12"/>
          <p:cNvSpPr/>
          <p:nvPr/>
        </p:nvSpPr>
        <p:spPr>
          <a:xfrm>
            <a:off x="411480" y="1325880"/>
            <a:ext cx="5760720" cy="3054726"/>
          </a:xfrm>
          <a:prstGeom prst="roundRect">
            <a:avLst>
              <a:gd name="adj" fmla="val 1796"/>
            </a:avLst>
          </a:prstGeom>
          <a:solidFill>
            <a:srgbClr val="FFFFFF"/>
          </a:solidFill>
          <a:ln w="9525">
            <a:solidFill>
              <a:srgbClr val="D3E2D7"/>
            </a:solidFill>
            <a:prstDash val="solid"/>
          </a:ln>
          <a:effectLst>
            <a:outerShdw blurRad="76200" dist="25400" dir="5400000" algn="bl" rotWithShape="0">
              <a:srgbClr val="000000">
                <a:alpha val="12000"/>
              </a:srgbClr>
            </a:outerShdw>
          </a:effectLst>
        </p:spPr>
      </p:sp>
      <p:pic>
        <p:nvPicPr>
          <p:cNvPr id="15" name="Image 0" descr="Google Cloud console screenshot 13"/>
          <p:cNvPicPr>
            <a:picLocks noChangeAspect="1"/>
          </p:cNvPicPr>
          <p:nvPr/>
        </p:nvPicPr>
        <p:blipFill>
          <a:blip r:embed="rId4"/>
          <a:stretch>
            <a:fillRect/>
          </a:stretch>
        </p:blipFill>
        <p:spPr>
          <a:xfrm>
            <a:off x="457200" y="1371600"/>
            <a:ext cx="5669280" cy="2963286"/>
          </a:xfrm>
          <a:prstGeom prst="rect">
            <a:avLst/>
          </a:prstGeom>
        </p:spPr>
      </p:pic>
      <p:sp>
        <p:nvSpPr>
          <p:cNvPr id="16" name="Shape 13"/>
          <p:cNvSpPr/>
          <p:nvPr/>
        </p:nvSpPr>
        <p:spPr>
          <a:xfrm>
            <a:off x="4026079" y="1793816"/>
            <a:ext cx="663017" cy="196812"/>
          </a:xfrm>
          <a:prstGeom prst="roundRect">
            <a:avLst>
              <a:gd name="adj" fmla="val 23230"/>
            </a:avLst>
          </a:prstGeom>
          <a:ln w="28575">
            <a:solidFill>
              <a:srgbClr val="D49A00"/>
            </a:solidFill>
            <a:prstDash val="solid"/>
          </a:ln>
        </p:spPr>
      </p:sp>
      <p:sp>
        <p:nvSpPr>
          <p:cNvPr id="17" name="Shape 14"/>
          <p:cNvSpPr/>
          <p:nvPr/>
        </p:nvSpPr>
        <p:spPr>
          <a:xfrm>
            <a:off x="6400800" y="1389888"/>
            <a:ext cx="274320" cy="274320"/>
          </a:xfrm>
          <a:prstGeom prst="ellipse">
            <a:avLst/>
          </a:prstGeom>
          <a:solidFill>
            <a:srgbClr val="B83B2E">
              <a:alpha val="22000"/>
            </a:srgbClr>
          </a:solidFill>
          <a:ln/>
        </p:spPr>
      </p:sp>
      <p:sp>
        <p:nvSpPr>
          <p:cNvPr id="18" name="Text 15"/>
          <p:cNvSpPr txBox="1"/>
          <p:nvPr/>
        </p:nvSpPr>
        <p:spPr>
          <a:xfrm>
            <a:off x="6400800" y="1389888"/>
            <a:ext cx="274320" cy="274320"/>
          </a:xfrm>
          <a:prstGeom prst="rect">
            <a:avLst/>
          </a:prstGeom>
          <a:noFill/>
          <a:ln/>
        </p:spPr>
        <p:txBody>
          <a:bodyPr wrap="square" lIns="0" tIns="0" rIns="0" bIns="0" rtlCol="0" anchor="ctr"/>
          <a:lstStyle/>
          <a:p>
            <a:pPr marL="0" indent="0" algn="ctr">
              <a:buNone/>
            </a:pPr>
            <a:r>
              <a:rPr lang="en-US" sz="1100" b="1" dirty="0">
                <a:solidFill>
                  <a:srgbClr val="B83B2E"/>
                </a:solidFill>
                <a:latin typeface="Calibri" pitchFamily="34" charset="0"/>
                <a:ea typeface="Calibri" pitchFamily="34" charset="-122"/>
                <a:cs typeface="Calibri" pitchFamily="34" charset="-120"/>
              </a:rPr>
              <a:t>1</a:t>
            </a:r>
            <a:endParaRPr lang="en-US" sz="1100" dirty="0"/>
          </a:p>
        </p:txBody>
      </p:sp>
      <p:sp>
        <p:nvSpPr>
          <p:cNvPr id="19" name="Text 16"/>
          <p:cNvSpPr txBox="1"/>
          <p:nvPr/>
        </p:nvSpPr>
        <p:spPr>
          <a:xfrm>
            <a:off x="6784848" y="1371600"/>
            <a:ext cx="1901952" cy="566928"/>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The </a:t>
            </a:r>
            <a:r>
              <a:rPr lang="en-US" sz="1150" b="1" dirty="0">
                <a:solidFill>
                  <a:srgbClr val="231F20"/>
                </a:solidFill>
                <a:latin typeface="Calibri" pitchFamily="34" charset="0"/>
                <a:ea typeface="Calibri" pitchFamily="34" charset="-122"/>
                <a:cs typeface="Calibri" pitchFamily="34" charset="-120"/>
              </a:rPr>
              <a:t>Select a resource</a:t>
            </a:r>
            <a:r>
              <a:rPr lang="en-US" sz="1150" dirty="0">
                <a:solidFill>
                  <a:srgbClr val="231F20"/>
                </a:solidFill>
                <a:latin typeface="Calibri" pitchFamily="34" charset="0"/>
                <a:ea typeface="Calibri" pitchFamily="34" charset="-122"/>
                <a:cs typeface="Calibri" pitchFamily="34" charset="-120"/>
              </a:rPr>
              <a:t> dialog lists your projects.</a:t>
            </a:r>
            <a:endParaRPr lang="en-US" sz="1150" dirty="0"/>
          </a:p>
        </p:txBody>
      </p:sp>
      <p:sp>
        <p:nvSpPr>
          <p:cNvPr id="20" name="Shape 17"/>
          <p:cNvSpPr/>
          <p:nvPr/>
        </p:nvSpPr>
        <p:spPr>
          <a:xfrm>
            <a:off x="6400800" y="2084832"/>
            <a:ext cx="274320" cy="274320"/>
          </a:xfrm>
          <a:prstGeom prst="ellipse">
            <a:avLst/>
          </a:prstGeom>
          <a:solidFill>
            <a:srgbClr val="B83B2E">
              <a:alpha val="22000"/>
            </a:srgbClr>
          </a:solidFill>
          <a:ln/>
        </p:spPr>
      </p:sp>
      <p:sp>
        <p:nvSpPr>
          <p:cNvPr id="21" name="Text 18"/>
          <p:cNvSpPr txBox="1"/>
          <p:nvPr/>
        </p:nvSpPr>
        <p:spPr>
          <a:xfrm>
            <a:off x="6400800" y="2084832"/>
            <a:ext cx="274320" cy="274320"/>
          </a:xfrm>
          <a:prstGeom prst="rect">
            <a:avLst/>
          </a:prstGeom>
          <a:noFill/>
          <a:ln/>
        </p:spPr>
        <p:txBody>
          <a:bodyPr wrap="square" lIns="0" tIns="0" rIns="0" bIns="0" rtlCol="0" anchor="ctr"/>
          <a:lstStyle/>
          <a:p>
            <a:pPr marL="0" indent="0" algn="ctr">
              <a:buNone/>
            </a:pPr>
            <a:r>
              <a:rPr lang="en-US" sz="1100" b="1" dirty="0">
                <a:solidFill>
                  <a:srgbClr val="B83B2E"/>
                </a:solidFill>
                <a:latin typeface="Calibri" pitchFamily="34" charset="0"/>
                <a:ea typeface="Calibri" pitchFamily="34" charset="-122"/>
                <a:cs typeface="Calibri" pitchFamily="34" charset="-120"/>
              </a:rPr>
              <a:t>2</a:t>
            </a:r>
            <a:endParaRPr lang="en-US" sz="1100" dirty="0"/>
          </a:p>
        </p:txBody>
      </p:sp>
      <p:sp>
        <p:nvSpPr>
          <p:cNvPr id="22" name="Text 19"/>
          <p:cNvSpPr txBox="1"/>
          <p:nvPr/>
        </p:nvSpPr>
        <p:spPr>
          <a:xfrm>
            <a:off x="6784848" y="2066544"/>
            <a:ext cx="1901952" cy="4114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Pick an existing project by its ID…</a:t>
            </a:r>
            <a:endParaRPr lang="en-US" sz="1150" dirty="0"/>
          </a:p>
        </p:txBody>
      </p:sp>
      <p:sp>
        <p:nvSpPr>
          <p:cNvPr id="23" name="Shape 20"/>
          <p:cNvSpPr/>
          <p:nvPr/>
        </p:nvSpPr>
        <p:spPr>
          <a:xfrm>
            <a:off x="6400800" y="2624328"/>
            <a:ext cx="274320" cy="274320"/>
          </a:xfrm>
          <a:prstGeom prst="ellipse">
            <a:avLst/>
          </a:prstGeom>
          <a:solidFill>
            <a:srgbClr val="B83B2E">
              <a:alpha val="22000"/>
            </a:srgbClr>
          </a:solidFill>
          <a:ln/>
        </p:spPr>
      </p:sp>
      <p:sp>
        <p:nvSpPr>
          <p:cNvPr id="24" name="Text 21"/>
          <p:cNvSpPr txBox="1"/>
          <p:nvPr/>
        </p:nvSpPr>
        <p:spPr>
          <a:xfrm>
            <a:off x="6400800" y="2624328"/>
            <a:ext cx="274320" cy="274320"/>
          </a:xfrm>
          <a:prstGeom prst="rect">
            <a:avLst/>
          </a:prstGeom>
          <a:noFill/>
          <a:ln/>
        </p:spPr>
        <p:txBody>
          <a:bodyPr wrap="square" lIns="0" tIns="0" rIns="0" bIns="0" rtlCol="0" anchor="ctr"/>
          <a:lstStyle/>
          <a:p>
            <a:pPr marL="0" indent="0" algn="ctr">
              <a:buNone/>
            </a:pPr>
            <a:r>
              <a:rPr lang="en-US" sz="1100" b="1" dirty="0">
                <a:solidFill>
                  <a:srgbClr val="B83B2E"/>
                </a:solidFill>
                <a:latin typeface="Calibri" pitchFamily="34" charset="0"/>
                <a:ea typeface="Calibri" pitchFamily="34" charset="-122"/>
                <a:cs typeface="Calibri" pitchFamily="34" charset="-120"/>
              </a:rPr>
              <a:t>3</a:t>
            </a:r>
            <a:endParaRPr lang="en-US" sz="1100" dirty="0"/>
          </a:p>
        </p:txBody>
      </p:sp>
      <p:sp>
        <p:nvSpPr>
          <p:cNvPr id="25" name="Text 22"/>
          <p:cNvSpPr txBox="1"/>
          <p:nvPr/>
        </p:nvSpPr>
        <p:spPr>
          <a:xfrm>
            <a:off x="6784848" y="2606040"/>
            <a:ext cx="1901952" cy="4114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 or click </a:t>
            </a:r>
            <a:r>
              <a:rPr lang="en-US" sz="1150" b="1" dirty="0">
                <a:solidFill>
                  <a:srgbClr val="231F20"/>
                </a:solidFill>
                <a:latin typeface="Calibri" pitchFamily="34" charset="0"/>
                <a:ea typeface="Calibri" pitchFamily="34" charset="-122"/>
                <a:cs typeface="Calibri" pitchFamily="34" charset="-120"/>
              </a:rPr>
              <a:t>New project</a:t>
            </a:r>
            <a:r>
              <a:rPr lang="en-US" sz="1150" dirty="0">
                <a:solidFill>
                  <a:srgbClr val="231F20"/>
                </a:solidFill>
                <a:latin typeface="Calibri" pitchFamily="34" charset="0"/>
                <a:ea typeface="Calibri" pitchFamily="34" charset="-122"/>
                <a:cs typeface="Calibri" pitchFamily="34" charset="-120"/>
              </a:rPr>
              <a:t>.</a:t>
            </a:r>
            <a:endParaRPr lang="en-US" sz="1150" dirty="0"/>
          </a:p>
        </p:txBody>
      </p:sp>
      <p:sp>
        <p:nvSpPr>
          <p:cNvPr id="26" name="Shape 23"/>
          <p:cNvSpPr/>
          <p:nvPr/>
        </p:nvSpPr>
        <p:spPr>
          <a:xfrm>
            <a:off x="6400800" y="3520440"/>
            <a:ext cx="2286000" cy="868680"/>
          </a:xfrm>
          <a:prstGeom prst="roundRect">
            <a:avLst>
              <a:gd name="adj" fmla="val 8421"/>
            </a:avLst>
          </a:prstGeom>
          <a:solidFill>
            <a:srgbClr val="E8F4EB"/>
          </a:solidFill>
          <a:ln w="15875">
            <a:solidFill>
              <a:srgbClr val="2C9045"/>
            </a:solidFill>
            <a:prstDash val="solid"/>
          </a:ln>
        </p:spPr>
      </p:sp>
      <p:pic>
        <p:nvPicPr>
          <p:cNvPr id="27" name="Image 1" descr="preencoded.png"/>
          <p:cNvPicPr>
            <a:picLocks noChangeAspect="1"/>
          </p:cNvPicPr>
          <p:nvPr/>
        </p:nvPicPr>
        <p:blipFill>
          <a:blip r:embed="rId5"/>
          <a:stretch>
            <a:fillRect/>
          </a:stretch>
        </p:blipFill>
        <p:spPr>
          <a:xfrm>
            <a:off x="6528816" y="3648456"/>
            <a:ext cx="219456" cy="219456"/>
          </a:xfrm>
          <a:prstGeom prst="rect">
            <a:avLst/>
          </a:prstGeom>
        </p:spPr>
      </p:pic>
      <p:sp>
        <p:nvSpPr>
          <p:cNvPr id="28" name="Text 24"/>
          <p:cNvSpPr txBox="1"/>
          <p:nvPr/>
        </p:nvSpPr>
        <p:spPr>
          <a:xfrm>
            <a:off x="6839712" y="3593592"/>
            <a:ext cx="1737360" cy="72237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Several projects can share a name: rely on the ID.</a:t>
            </a:r>
            <a:endParaRPr lang="en-US" sz="1050" dirty="0"/>
          </a:p>
        </p:txBody>
      </p:sp>
      <p:sp>
        <p:nvSpPr>
          <p:cNvPr id="29" name="Text 25"/>
          <p:cNvSpPr txBox="1"/>
          <p:nvPr/>
        </p:nvSpPr>
        <p:spPr>
          <a:xfrm>
            <a:off x="457200" y="4553712"/>
            <a:ext cx="8229600" cy="182880"/>
          </a:xfrm>
          <a:prstGeom prst="rect">
            <a:avLst/>
          </a:prstGeom>
          <a:noFill/>
          <a:ln/>
        </p:spPr>
        <p:txBody>
          <a:bodyPr wrap="square" lIns="0" tIns="0" rIns="0" bIns="0" rtlCol="0" anchor="ctr"/>
          <a:lstStyle/>
          <a:p>
            <a:pPr marL="0" indent="0">
              <a:buNone/>
            </a:pPr>
            <a:r>
              <a:rPr lang="en-US" sz="900" i="1" dirty="0">
                <a:solidFill>
                  <a:srgbClr val="5A6660"/>
                </a:solidFill>
                <a:latin typeface="Calibri" pitchFamily="34" charset="0"/>
                <a:ea typeface="Calibri" pitchFamily="34" charset="-122"/>
                <a:cs typeface="Calibri" pitchFamily="34" charset="-120"/>
              </a:rPr>
              <a:t>Source: Google Cloud console, “Select a resource” dialog (screenshot).</a:t>
            </a:r>
            <a:endParaRPr lang="en-US" sz="9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9045"/>
          </a:solidFill>
          <a:ln/>
        </p:spPr>
      </p:sp>
      <p:sp>
        <p:nvSpPr>
          <p:cNvPr id="3" name="Shape 1"/>
          <p:cNvSpPr/>
          <p:nvPr/>
        </p:nvSpPr>
        <p:spPr>
          <a:xfrm>
            <a:off x="0" y="0"/>
            <a:ext cx="1234440" cy="54864"/>
          </a:xfrm>
          <a:prstGeom prst="rect">
            <a:avLst/>
          </a:prstGeom>
          <a:solidFill>
            <a:srgbClr val="F5C242"/>
          </a:solidFill>
          <a:ln/>
        </p:spPr>
      </p:sp>
      <p:sp>
        <p:nvSpPr>
          <p:cNvPr id="4" name="Text 2"/>
          <p:cNvSpPr txBox="1"/>
          <p:nvPr/>
        </p:nvSpPr>
        <p:spPr>
          <a:xfrm>
            <a:off x="457200" y="274320"/>
            <a:ext cx="685800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06 · PROJECT MANAGEMENT</a:t>
            </a:r>
            <a:endParaRPr lang="en-US" sz="1050" dirty="0"/>
          </a:p>
        </p:txBody>
      </p:sp>
      <p:sp>
        <p:nvSpPr>
          <p:cNvPr id="5" name="Text 3"/>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Create a new project</a:t>
            </a:r>
            <a:endParaRPr lang="en-US" sz="2800" dirty="0"/>
          </a:p>
        </p:txBody>
      </p:sp>
      <p:sp>
        <p:nvSpPr>
          <p:cNvPr id="6" name="Shape 4"/>
          <p:cNvSpPr/>
          <p:nvPr/>
        </p:nvSpPr>
        <p:spPr>
          <a:xfrm>
            <a:off x="7717536" y="338328"/>
            <a:ext cx="100584" cy="100584"/>
          </a:xfrm>
          <a:prstGeom prst="ellipse">
            <a:avLst/>
          </a:prstGeom>
          <a:solidFill>
            <a:srgbClr val="D3E2D7"/>
          </a:solidFill>
          <a:ln/>
        </p:spPr>
      </p:sp>
      <p:sp>
        <p:nvSpPr>
          <p:cNvPr id="7" name="Shape 5"/>
          <p:cNvSpPr/>
          <p:nvPr/>
        </p:nvSpPr>
        <p:spPr>
          <a:xfrm>
            <a:off x="7891272" y="338328"/>
            <a:ext cx="100584" cy="100584"/>
          </a:xfrm>
          <a:prstGeom prst="ellipse">
            <a:avLst/>
          </a:prstGeom>
          <a:solidFill>
            <a:srgbClr val="D3E2D7"/>
          </a:solidFill>
          <a:ln/>
        </p:spPr>
      </p:sp>
      <p:sp>
        <p:nvSpPr>
          <p:cNvPr id="8" name="Shape 6"/>
          <p:cNvSpPr/>
          <p:nvPr/>
        </p:nvSpPr>
        <p:spPr>
          <a:xfrm>
            <a:off x="8065008" y="338328"/>
            <a:ext cx="100584" cy="100584"/>
          </a:xfrm>
          <a:prstGeom prst="ellipse">
            <a:avLst/>
          </a:prstGeom>
          <a:solidFill>
            <a:srgbClr val="D3E2D7"/>
          </a:solidFill>
          <a:ln/>
        </p:spPr>
      </p:sp>
      <p:sp>
        <p:nvSpPr>
          <p:cNvPr id="9" name="Shape 7"/>
          <p:cNvSpPr/>
          <p:nvPr/>
        </p:nvSpPr>
        <p:spPr>
          <a:xfrm>
            <a:off x="8238744" y="338328"/>
            <a:ext cx="100584" cy="100584"/>
          </a:xfrm>
          <a:prstGeom prst="ellipse">
            <a:avLst/>
          </a:prstGeom>
          <a:solidFill>
            <a:srgbClr val="D3E2D7"/>
          </a:solidFill>
          <a:ln/>
        </p:spPr>
      </p:sp>
      <p:sp>
        <p:nvSpPr>
          <p:cNvPr id="10" name="Shape 8"/>
          <p:cNvSpPr/>
          <p:nvPr/>
        </p:nvSpPr>
        <p:spPr>
          <a:xfrm>
            <a:off x="8412480" y="338328"/>
            <a:ext cx="100584" cy="100584"/>
          </a:xfrm>
          <a:prstGeom prst="ellipse">
            <a:avLst/>
          </a:prstGeom>
          <a:solidFill>
            <a:srgbClr val="D3E2D7"/>
          </a:solidFill>
          <a:ln/>
        </p:spPr>
      </p:sp>
      <p:sp>
        <p:nvSpPr>
          <p:cNvPr id="11" name="Shape 9"/>
          <p:cNvSpPr/>
          <p:nvPr/>
        </p:nvSpPr>
        <p:spPr>
          <a:xfrm>
            <a:off x="8586216" y="338328"/>
            <a:ext cx="100584" cy="100584"/>
          </a:xfrm>
          <a:prstGeom prst="ellipse">
            <a:avLst/>
          </a:prstGeom>
          <a:solidFill>
            <a:srgbClr val="B83B2E"/>
          </a:solidFill>
          <a:ln/>
        </p:spPr>
      </p:sp>
      <p:sp>
        <p:nvSpPr>
          <p:cNvPr id="12" name="Text 10"/>
          <p:cNvSpPr txBox="1"/>
          <p:nvPr/>
        </p:nvSpPr>
        <p:spPr>
          <a:xfrm>
            <a:off x="457200" y="4800600"/>
            <a:ext cx="6766560" cy="201168"/>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Registering for Google Earth Engine · AfDB – Data Innovation for Africa (DI4A)</a:t>
            </a:r>
            <a:endParaRPr lang="en-US" sz="850" dirty="0"/>
          </a:p>
        </p:txBody>
      </p:sp>
      <p:sp>
        <p:nvSpPr>
          <p:cNvPr id="13" name="Text 11"/>
          <p:cNvSpPr txBox="1"/>
          <p:nvPr/>
        </p:nvSpPr>
        <p:spPr>
          <a:xfrm>
            <a:off x="7772400" y="4800600"/>
            <a:ext cx="914400" cy="201168"/>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22</a:t>
            </a:r>
            <a:endParaRPr lang="en-US" sz="850" dirty="0"/>
          </a:p>
        </p:txBody>
      </p:sp>
      <p:sp>
        <p:nvSpPr>
          <p:cNvPr id="14" name="Shape 12"/>
          <p:cNvSpPr/>
          <p:nvPr/>
        </p:nvSpPr>
        <p:spPr>
          <a:xfrm>
            <a:off x="4005914" y="1325880"/>
            <a:ext cx="4726606" cy="3154680"/>
          </a:xfrm>
          <a:prstGeom prst="roundRect">
            <a:avLst>
              <a:gd name="adj" fmla="val 1739"/>
            </a:avLst>
          </a:prstGeom>
          <a:solidFill>
            <a:srgbClr val="FFFFFF"/>
          </a:solidFill>
          <a:ln w="9525">
            <a:solidFill>
              <a:srgbClr val="D3E2D7"/>
            </a:solidFill>
            <a:prstDash val="solid"/>
          </a:ln>
          <a:effectLst>
            <a:outerShdw blurRad="76200" dist="25400" dir="5400000" algn="bl" rotWithShape="0">
              <a:srgbClr val="000000">
                <a:alpha val="12000"/>
              </a:srgbClr>
            </a:outerShdw>
          </a:effectLst>
        </p:spPr>
      </p:sp>
      <p:pic>
        <p:nvPicPr>
          <p:cNvPr id="15" name="Image 0" descr="Google Cloud console screenshot 14"/>
          <p:cNvPicPr>
            <a:picLocks noChangeAspect="1"/>
          </p:cNvPicPr>
          <p:nvPr/>
        </p:nvPicPr>
        <p:blipFill>
          <a:blip r:embed="rId4"/>
          <a:stretch>
            <a:fillRect/>
          </a:stretch>
        </p:blipFill>
        <p:spPr>
          <a:xfrm>
            <a:off x="4051634" y="1371600"/>
            <a:ext cx="4635166" cy="3063240"/>
          </a:xfrm>
          <a:prstGeom prst="rect">
            <a:avLst/>
          </a:prstGeom>
        </p:spPr>
      </p:pic>
      <p:sp>
        <p:nvSpPr>
          <p:cNvPr id="16" name="Shape 13"/>
          <p:cNvSpPr/>
          <p:nvPr/>
        </p:nvSpPr>
        <p:spPr>
          <a:xfrm>
            <a:off x="457200" y="1389888"/>
            <a:ext cx="274320" cy="274320"/>
          </a:xfrm>
          <a:prstGeom prst="ellipse">
            <a:avLst/>
          </a:prstGeom>
          <a:solidFill>
            <a:srgbClr val="B83B2E">
              <a:alpha val="22000"/>
            </a:srgbClr>
          </a:solidFill>
          <a:ln/>
        </p:spPr>
      </p:sp>
      <p:sp>
        <p:nvSpPr>
          <p:cNvPr id="17" name="Text 14"/>
          <p:cNvSpPr txBox="1"/>
          <p:nvPr/>
        </p:nvSpPr>
        <p:spPr>
          <a:xfrm>
            <a:off x="457200" y="1389888"/>
            <a:ext cx="274320" cy="274320"/>
          </a:xfrm>
          <a:prstGeom prst="rect">
            <a:avLst/>
          </a:prstGeom>
          <a:noFill/>
          <a:ln/>
        </p:spPr>
        <p:txBody>
          <a:bodyPr wrap="square" lIns="0" tIns="0" rIns="0" bIns="0" rtlCol="0" anchor="ctr"/>
          <a:lstStyle/>
          <a:p>
            <a:pPr marL="0" indent="0" algn="ctr">
              <a:buNone/>
            </a:pPr>
            <a:r>
              <a:rPr lang="en-US" sz="1100" b="1" dirty="0">
                <a:solidFill>
                  <a:srgbClr val="B83B2E"/>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841248" y="1371600"/>
            <a:ext cx="1947672" cy="4114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Enter the </a:t>
            </a:r>
            <a:r>
              <a:rPr lang="en-US" sz="1150" b="1" dirty="0">
                <a:solidFill>
                  <a:srgbClr val="231F20"/>
                </a:solidFill>
                <a:latin typeface="Calibri" pitchFamily="34" charset="0"/>
                <a:ea typeface="Calibri" pitchFamily="34" charset="-122"/>
                <a:cs typeface="Calibri" pitchFamily="34" charset="-120"/>
              </a:rPr>
              <a:t>Project name</a:t>
            </a:r>
            <a:r>
              <a:rPr lang="en-US" sz="1150" dirty="0">
                <a:solidFill>
                  <a:srgbClr val="231F20"/>
                </a:solidFill>
                <a:latin typeface="Calibri" pitchFamily="34" charset="0"/>
                <a:ea typeface="Calibri" pitchFamily="34" charset="-122"/>
                <a:cs typeface="Calibri" pitchFamily="34" charset="-120"/>
              </a:rPr>
              <a:t>.</a:t>
            </a:r>
            <a:endParaRPr lang="en-US" sz="1150" dirty="0"/>
          </a:p>
        </p:txBody>
      </p:sp>
      <p:sp>
        <p:nvSpPr>
          <p:cNvPr id="19" name="Shape 16"/>
          <p:cNvSpPr/>
          <p:nvPr/>
        </p:nvSpPr>
        <p:spPr>
          <a:xfrm>
            <a:off x="457200" y="1929384"/>
            <a:ext cx="274320" cy="274320"/>
          </a:xfrm>
          <a:prstGeom prst="ellipse">
            <a:avLst/>
          </a:prstGeom>
          <a:solidFill>
            <a:srgbClr val="B83B2E">
              <a:alpha val="22000"/>
            </a:srgbClr>
          </a:solidFill>
          <a:ln/>
        </p:spPr>
      </p:sp>
      <p:sp>
        <p:nvSpPr>
          <p:cNvPr id="20" name="Text 17"/>
          <p:cNvSpPr txBox="1"/>
          <p:nvPr/>
        </p:nvSpPr>
        <p:spPr>
          <a:xfrm>
            <a:off x="457200" y="1929384"/>
            <a:ext cx="274320" cy="274320"/>
          </a:xfrm>
          <a:prstGeom prst="rect">
            <a:avLst/>
          </a:prstGeom>
          <a:noFill/>
          <a:ln/>
        </p:spPr>
        <p:txBody>
          <a:bodyPr wrap="square" lIns="0" tIns="0" rIns="0" bIns="0" rtlCol="0" anchor="ctr"/>
          <a:lstStyle/>
          <a:p>
            <a:pPr marL="0" indent="0" algn="ctr">
              <a:buNone/>
            </a:pPr>
            <a:r>
              <a:rPr lang="en-US" sz="1100" b="1" dirty="0">
                <a:solidFill>
                  <a:srgbClr val="B83B2E"/>
                </a:solidFill>
                <a:latin typeface="Calibri" pitchFamily="34" charset="0"/>
                <a:ea typeface="Calibri" pitchFamily="34" charset="-122"/>
                <a:cs typeface="Calibri" pitchFamily="34" charset="-120"/>
              </a:rPr>
              <a:t>2</a:t>
            </a:r>
            <a:endParaRPr lang="en-US" sz="1100" dirty="0"/>
          </a:p>
        </p:txBody>
      </p:sp>
      <p:sp>
        <p:nvSpPr>
          <p:cNvPr id="21" name="Text 18"/>
          <p:cNvSpPr txBox="1"/>
          <p:nvPr/>
        </p:nvSpPr>
        <p:spPr>
          <a:xfrm>
            <a:off x="841248" y="1911096"/>
            <a:ext cx="1947672" cy="566928"/>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Set </a:t>
            </a:r>
            <a:r>
              <a:rPr lang="en-US" sz="1150" b="1" dirty="0">
                <a:solidFill>
                  <a:srgbClr val="231F20"/>
                </a:solidFill>
                <a:latin typeface="Calibri" pitchFamily="34" charset="0"/>
                <a:ea typeface="Calibri" pitchFamily="34" charset="-122"/>
                <a:cs typeface="Calibri" pitchFamily="34" charset="-120"/>
              </a:rPr>
              <a:t>Organization</a:t>
            </a:r>
            <a:r>
              <a:rPr lang="en-US" sz="1150" dirty="0">
                <a:solidFill>
                  <a:srgbClr val="231F20"/>
                </a:solidFill>
                <a:latin typeface="Calibri" pitchFamily="34" charset="0"/>
                <a:ea typeface="Calibri" pitchFamily="34" charset="-122"/>
                <a:cs typeface="Calibri" pitchFamily="34" charset="-120"/>
              </a:rPr>
              <a:t> and </a:t>
            </a:r>
            <a:r>
              <a:rPr lang="en-US" sz="1150" b="1" dirty="0">
                <a:solidFill>
                  <a:srgbClr val="231F20"/>
                </a:solidFill>
                <a:latin typeface="Calibri" pitchFamily="34" charset="0"/>
                <a:ea typeface="Calibri" pitchFamily="34" charset="-122"/>
                <a:cs typeface="Calibri" pitchFamily="34" charset="-120"/>
              </a:rPr>
              <a:t>Parent resource</a:t>
            </a:r>
            <a:r>
              <a:rPr lang="en-US" sz="1150" dirty="0">
                <a:solidFill>
                  <a:srgbClr val="231F20"/>
                </a:solidFill>
                <a:latin typeface="Calibri" pitchFamily="34" charset="0"/>
                <a:ea typeface="Calibri" pitchFamily="34" charset="-122"/>
                <a:cs typeface="Calibri" pitchFamily="34" charset="-120"/>
              </a:rPr>
              <a:t>.</a:t>
            </a:r>
            <a:endParaRPr lang="en-US" sz="1150" dirty="0"/>
          </a:p>
        </p:txBody>
      </p:sp>
      <p:sp>
        <p:nvSpPr>
          <p:cNvPr id="22" name="Shape 19"/>
          <p:cNvSpPr/>
          <p:nvPr/>
        </p:nvSpPr>
        <p:spPr>
          <a:xfrm>
            <a:off x="457200" y="2624328"/>
            <a:ext cx="274320" cy="274320"/>
          </a:xfrm>
          <a:prstGeom prst="ellipse">
            <a:avLst/>
          </a:prstGeom>
          <a:solidFill>
            <a:srgbClr val="B83B2E">
              <a:alpha val="22000"/>
            </a:srgbClr>
          </a:solidFill>
          <a:ln/>
        </p:spPr>
      </p:sp>
      <p:sp>
        <p:nvSpPr>
          <p:cNvPr id="23" name="Text 20"/>
          <p:cNvSpPr txBox="1"/>
          <p:nvPr/>
        </p:nvSpPr>
        <p:spPr>
          <a:xfrm>
            <a:off x="457200" y="2624328"/>
            <a:ext cx="274320" cy="274320"/>
          </a:xfrm>
          <a:prstGeom prst="rect">
            <a:avLst/>
          </a:prstGeom>
          <a:noFill/>
          <a:ln/>
        </p:spPr>
        <p:txBody>
          <a:bodyPr wrap="square" lIns="0" tIns="0" rIns="0" bIns="0" rtlCol="0" anchor="ctr"/>
          <a:lstStyle/>
          <a:p>
            <a:pPr marL="0" indent="0" algn="ctr">
              <a:buNone/>
            </a:pPr>
            <a:r>
              <a:rPr lang="en-US" sz="1100" b="1" dirty="0">
                <a:solidFill>
                  <a:srgbClr val="B83B2E"/>
                </a:solidFill>
                <a:latin typeface="Calibri" pitchFamily="34" charset="0"/>
                <a:ea typeface="Calibri" pitchFamily="34" charset="-122"/>
                <a:cs typeface="Calibri" pitchFamily="34" charset="-120"/>
              </a:rPr>
              <a:t>3</a:t>
            </a:r>
            <a:endParaRPr lang="en-US" sz="1100" dirty="0"/>
          </a:p>
        </p:txBody>
      </p:sp>
      <p:sp>
        <p:nvSpPr>
          <p:cNvPr id="24" name="Text 21"/>
          <p:cNvSpPr txBox="1"/>
          <p:nvPr/>
        </p:nvSpPr>
        <p:spPr>
          <a:xfrm>
            <a:off x="841248" y="2606040"/>
            <a:ext cx="1947672" cy="4114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Click </a:t>
            </a:r>
            <a:r>
              <a:rPr lang="en-US" sz="1150" b="1" dirty="0">
                <a:solidFill>
                  <a:srgbClr val="231F20"/>
                </a:solidFill>
                <a:latin typeface="Calibri" pitchFamily="34" charset="0"/>
                <a:ea typeface="Calibri" pitchFamily="34" charset="-122"/>
                <a:cs typeface="Calibri" pitchFamily="34" charset="-120"/>
              </a:rPr>
              <a:t>Create</a:t>
            </a:r>
            <a:r>
              <a:rPr lang="en-US" sz="1150" dirty="0">
                <a:solidFill>
                  <a:srgbClr val="231F20"/>
                </a:solidFill>
                <a:latin typeface="Calibri" pitchFamily="34" charset="0"/>
                <a:ea typeface="Calibri" pitchFamily="34" charset="-122"/>
                <a:cs typeface="Calibri" pitchFamily="34" charset="-120"/>
              </a:rPr>
              <a:t>.</a:t>
            </a:r>
            <a:endParaRPr lang="en-US" sz="1150" dirty="0"/>
          </a:p>
        </p:txBody>
      </p:sp>
      <p:sp>
        <p:nvSpPr>
          <p:cNvPr id="25" name="Shape 22"/>
          <p:cNvSpPr/>
          <p:nvPr/>
        </p:nvSpPr>
        <p:spPr>
          <a:xfrm>
            <a:off x="457200" y="3337560"/>
            <a:ext cx="2331720" cy="1051560"/>
          </a:xfrm>
          <a:prstGeom prst="roundRect">
            <a:avLst>
              <a:gd name="adj" fmla="val 6957"/>
            </a:avLst>
          </a:prstGeom>
          <a:solidFill>
            <a:srgbClr val="D49A00">
              <a:alpha val="13000"/>
            </a:srgbClr>
          </a:solidFill>
          <a:ln w="12700">
            <a:solidFill>
              <a:srgbClr val="D49A00"/>
            </a:solidFill>
            <a:prstDash val="solid"/>
          </a:ln>
        </p:spPr>
      </p:sp>
      <p:pic>
        <p:nvPicPr>
          <p:cNvPr id="26" name="Image 1" descr="preencoded.png"/>
          <p:cNvPicPr>
            <a:picLocks noChangeAspect="1"/>
          </p:cNvPicPr>
          <p:nvPr/>
        </p:nvPicPr>
        <p:blipFill>
          <a:blip r:embed="rId5"/>
          <a:stretch>
            <a:fillRect/>
          </a:stretch>
        </p:blipFill>
        <p:spPr>
          <a:xfrm>
            <a:off x="585216" y="3465576"/>
            <a:ext cx="219456" cy="219456"/>
          </a:xfrm>
          <a:prstGeom prst="rect">
            <a:avLst/>
          </a:prstGeom>
        </p:spPr>
      </p:pic>
      <p:sp>
        <p:nvSpPr>
          <p:cNvPr id="27" name="Text 23"/>
          <p:cNvSpPr txBox="1"/>
          <p:nvPr/>
        </p:nvSpPr>
        <p:spPr>
          <a:xfrm>
            <a:off x="896112" y="3410712"/>
            <a:ext cx="1783080" cy="90525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The project ID and organization cannot be changed after creation.</a:t>
            </a:r>
            <a:endParaRPr lang="en-US" sz="1050" dirty="0"/>
          </a:p>
        </p:txBody>
      </p:sp>
      <p:sp>
        <p:nvSpPr>
          <p:cNvPr id="28" name="Text 24"/>
          <p:cNvSpPr txBox="1"/>
          <p:nvPr/>
        </p:nvSpPr>
        <p:spPr>
          <a:xfrm>
            <a:off x="457200" y="4553712"/>
            <a:ext cx="8229600" cy="182880"/>
          </a:xfrm>
          <a:prstGeom prst="rect">
            <a:avLst/>
          </a:prstGeom>
          <a:noFill/>
          <a:ln/>
        </p:spPr>
        <p:txBody>
          <a:bodyPr wrap="square" lIns="0" tIns="0" rIns="0" bIns="0" rtlCol="0" anchor="ctr"/>
          <a:lstStyle/>
          <a:p>
            <a:pPr marL="0" indent="0">
              <a:buNone/>
            </a:pPr>
            <a:r>
              <a:rPr lang="en-US" sz="900" i="1" dirty="0">
                <a:solidFill>
                  <a:srgbClr val="5A6660"/>
                </a:solidFill>
                <a:latin typeface="Calibri" pitchFamily="34" charset="0"/>
                <a:ea typeface="Calibri" pitchFamily="34" charset="-122"/>
                <a:cs typeface="Calibri" pitchFamily="34" charset="-120"/>
              </a:rPr>
              <a:t>Source: Google Cloud console, “New Project” page (screenshot).</a:t>
            </a:r>
            <a:endParaRPr lang="en-US" sz="9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9045"/>
          </a:solidFill>
          <a:ln/>
        </p:spPr>
      </p:sp>
      <p:sp>
        <p:nvSpPr>
          <p:cNvPr id="3" name="Shape 1"/>
          <p:cNvSpPr/>
          <p:nvPr/>
        </p:nvSpPr>
        <p:spPr>
          <a:xfrm>
            <a:off x="0" y="0"/>
            <a:ext cx="1234440" cy="54864"/>
          </a:xfrm>
          <a:prstGeom prst="rect">
            <a:avLst/>
          </a:prstGeom>
          <a:solidFill>
            <a:srgbClr val="F5C242"/>
          </a:solidFill>
          <a:ln/>
        </p:spPr>
      </p:sp>
      <p:sp>
        <p:nvSpPr>
          <p:cNvPr id="4" name="Text 2"/>
          <p:cNvSpPr txBox="1"/>
          <p:nvPr/>
        </p:nvSpPr>
        <p:spPr>
          <a:xfrm>
            <a:off x="457200" y="274320"/>
            <a:ext cx="685800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SOURCES</a:t>
            </a:r>
            <a:endParaRPr lang="en-US" sz="1050" dirty="0"/>
          </a:p>
        </p:txBody>
      </p:sp>
      <p:sp>
        <p:nvSpPr>
          <p:cNvPr id="5" name="Text 3"/>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Sources and references</a:t>
            </a:r>
            <a:endParaRPr lang="en-US" sz="2800" dirty="0"/>
          </a:p>
        </p:txBody>
      </p:sp>
      <p:sp>
        <p:nvSpPr>
          <p:cNvPr id="6" name="Shape 4"/>
          <p:cNvSpPr/>
          <p:nvPr/>
        </p:nvSpPr>
        <p:spPr>
          <a:xfrm>
            <a:off x="7717536" y="338328"/>
            <a:ext cx="100584" cy="100584"/>
          </a:xfrm>
          <a:prstGeom prst="ellipse">
            <a:avLst/>
          </a:prstGeom>
          <a:solidFill>
            <a:srgbClr val="D3E2D7"/>
          </a:solidFill>
          <a:ln/>
        </p:spPr>
      </p:sp>
      <p:sp>
        <p:nvSpPr>
          <p:cNvPr id="7" name="Shape 5"/>
          <p:cNvSpPr/>
          <p:nvPr/>
        </p:nvSpPr>
        <p:spPr>
          <a:xfrm>
            <a:off x="7891272" y="338328"/>
            <a:ext cx="100584" cy="100584"/>
          </a:xfrm>
          <a:prstGeom prst="ellipse">
            <a:avLst/>
          </a:prstGeom>
          <a:solidFill>
            <a:srgbClr val="D3E2D7"/>
          </a:solidFill>
          <a:ln/>
        </p:spPr>
      </p:sp>
      <p:sp>
        <p:nvSpPr>
          <p:cNvPr id="8" name="Shape 6"/>
          <p:cNvSpPr/>
          <p:nvPr/>
        </p:nvSpPr>
        <p:spPr>
          <a:xfrm>
            <a:off x="8065008" y="338328"/>
            <a:ext cx="100584" cy="100584"/>
          </a:xfrm>
          <a:prstGeom prst="ellipse">
            <a:avLst/>
          </a:prstGeom>
          <a:solidFill>
            <a:srgbClr val="D3E2D7"/>
          </a:solidFill>
          <a:ln/>
        </p:spPr>
      </p:sp>
      <p:sp>
        <p:nvSpPr>
          <p:cNvPr id="9" name="Shape 7"/>
          <p:cNvSpPr/>
          <p:nvPr/>
        </p:nvSpPr>
        <p:spPr>
          <a:xfrm>
            <a:off x="8238744" y="338328"/>
            <a:ext cx="100584" cy="100584"/>
          </a:xfrm>
          <a:prstGeom prst="ellipse">
            <a:avLst/>
          </a:prstGeom>
          <a:solidFill>
            <a:srgbClr val="D3E2D7"/>
          </a:solidFill>
          <a:ln/>
        </p:spPr>
      </p:sp>
      <p:sp>
        <p:nvSpPr>
          <p:cNvPr id="10" name="Shape 8"/>
          <p:cNvSpPr/>
          <p:nvPr/>
        </p:nvSpPr>
        <p:spPr>
          <a:xfrm>
            <a:off x="8412480" y="338328"/>
            <a:ext cx="100584" cy="100584"/>
          </a:xfrm>
          <a:prstGeom prst="ellipse">
            <a:avLst/>
          </a:prstGeom>
          <a:solidFill>
            <a:srgbClr val="D3E2D7"/>
          </a:solidFill>
          <a:ln/>
        </p:spPr>
      </p:sp>
      <p:sp>
        <p:nvSpPr>
          <p:cNvPr id="11" name="Shape 9"/>
          <p:cNvSpPr/>
          <p:nvPr/>
        </p:nvSpPr>
        <p:spPr>
          <a:xfrm>
            <a:off x="8586216" y="338328"/>
            <a:ext cx="100584" cy="100584"/>
          </a:xfrm>
          <a:prstGeom prst="ellipse">
            <a:avLst/>
          </a:prstGeom>
          <a:solidFill>
            <a:srgbClr val="D3E2D7"/>
          </a:solidFill>
          <a:ln/>
        </p:spPr>
      </p:sp>
      <p:sp>
        <p:nvSpPr>
          <p:cNvPr id="12" name="Text 10"/>
          <p:cNvSpPr txBox="1"/>
          <p:nvPr/>
        </p:nvSpPr>
        <p:spPr>
          <a:xfrm>
            <a:off x="457200" y="4800600"/>
            <a:ext cx="6766560" cy="201168"/>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Registering for Google Earth Engine · AfDB – Data Innovation for Africa (DI4A)</a:t>
            </a:r>
            <a:endParaRPr lang="en-US" sz="850" dirty="0"/>
          </a:p>
        </p:txBody>
      </p:sp>
      <p:sp>
        <p:nvSpPr>
          <p:cNvPr id="13" name="Text 11"/>
          <p:cNvSpPr txBox="1"/>
          <p:nvPr/>
        </p:nvSpPr>
        <p:spPr>
          <a:xfrm>
            <a:off x="7772400" y="4800600"/>
            <a:ext cx="914400" cy="201168"/>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23</a:t>
            </a:r>
            <a:endParaRPr lang="en-US" sz="850" dirty="0"/>
          </a:p>
        </p:txBody>
      </p:sp>
      <p:sp>
        <p:nvSpPr>
          <p:cNvPr id="14" name="Shape 12"/>
          <p:cNvSpPr/>
          <p:nvPr/>
        </p:nvSpPr>
        <p:spPr>
          <a:xfrm>
            <a:off x="457200" y="1371600"/>
            <a:ext cx="8229600" cy="868680"/>
          </a:xfrm>
          <a:prstGeom prst="roundRect">
            <a:avLst>
              <a:gd name="adj" fmla="val 8421"/>
            </a:avLst>
          </a:prstGeom>
          <a:solidFill>
            <a:srgbClr val="F4F8F5"/>
          </a:solidFill>
          <a:ln w="9525">
            <a:solidFill>
              <a:srgbClr val="D3E2D7"/>
            </a:solidFill>
            <a:prstDash val="solid"/>
          </a:ln>
        </p:spPr>
      </p:sp>
      <p:sp>
        <p:nvSpPr>
          <p:cNvPr id="15" name="Shape 13"/>
          <p:cNvSpPr/>
          <p:nvPr/>
        </p:nvSpPr>
        <p:spPr>
          <a:xfrm>
            <a:off x="658368" y="1554480"/>
            <a:ext cx="502920" cy="502920"/>
          </a:xfrm>
          <a:prstGeom prst="ellipse">
            <a:avLst/>
          </a:prstGeom>
          <a:solidFill>
            <a:srgbClr val="0E5A2E">
              <a:alpha val="22000"/>
            </a:srgbClr>
          </a:solidFill>
          <a:ln/>
        </p:spPr>
      </p:sp>
      <p:pic>
        <p:nvPicPr>
          <p:cNvPr id="16" name="Image 0" descr="preencoded.png"/>
          <p:cNvPicPr>
            <a:picLocks noChangeAspect="1"/>
          </p:cNvPicPr>
          <p:nvPr/>
        </p:nvPicPr>
        <p:blipFill>
          <a:blip r:embed="rId4"/>
          <a:stretch>
            <a:fillRect/>
          </a:stretch>
        </p:blipFill>
        <p:spPr>
          <a:xfrm>
            <a:off x="786384" y="1682496"/>
            <a:ext cx="246888" cy="246888"/>
          </a:xfrm>
          <a:prstGeom prst="rect">
            <a:avLst/>
          </a:prstGeom>
        </p:spPr>
      </p:pic>
      <p:sp>
        <p:nvSpPr>
          <p:cNvPr id="17" name="Text 14"/>
          <p:cNvSpPr txBox="1"/>
          <p:nvPr/>
        </p:nvSpPr>
        <p:spPr>
          <a:xfrm>
            <a:off x="1371600" y="1371600"/>
            <a:ext cx="7132320" cy="868680"/>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Screenshots — </a:t>
            </a:r>
            <a:r>
              <a:rPr lang="en-US" sz="1200" dirty="0">
                <a:solidFill>
                  <a:srgbClr val="231F20"/>
                </a:solidFill>
                <a:latin typeface="Calibri" pitchFamily="34" charset="0"/>
                <a:ea typeface="Calibri" pitchFamily="34" charset="-122"/>
                <a:cs typeface="Calibri" pitchFamily="34" charset="-120"/>
              </a:rPr>
              <a:t>Google Cloud console — Earth Engine › Configuration
</a:t>
            </a:r>
            <a:r>
              <a:rPr lang="en-US" sz="1000" i="1" u="sng" dirty="0">
                <a:solidFill>
                  <a:srgbClr val="5A6660"/>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console.cloud.google.com/earth-engine/configuration</a:t>
            </a:r>
            <a:endParaRPr lang="en-US" sz="1200" dirty="0"/>
          </a:p>
        </p:txBody>
      </p:sp>
      <p:sp>
        <p:nvSpPr>
          <p:cNvPr id="18" name="Shape 15"/>
          <p:cNvSpPr/>
          <p:nvPr/>
        </p:nvSpPr>
        <p:spPr>
          <a:xfrm>
            <a:off x="457200" y="2395728"/>
            <a:ext cx="8229600" cy="868680"/>
          </a:xfrm>
          <a:prstGeom prst="roundRect">
            <a:avLst>
              <a:gd name="adj" fmla="val 8421"/>
            </a:avLst>
          </a:prstGeom>
          <a:solidFill>
            <a:srgbClr val="F4F8F5"/>
          </a:solidFill>
          <a:ln w="9525">
            <a:solidFill>
              <a:srgbClr val="D3E2D7"/>
            </a:solidFill>
            <a:prstDash val="solid"/>
          </a:ln>
        </p:spPr>
      </p:sp>
      <p:sp>
        <p:nvSpPr>
          <p:cNvPr id="19" name="Shape 16"/>
          <p:cNvSpPr/>
          <p:nvPr/>
        </p:nvSpPr>
        <p:spPr>
          <a:xfrm>
            <a:off x="658368" y="2578608"/>
            <a:ext cx="502920" cy="502920"/>
          </a:xfrm>
          <a:prstGeom prst="ellipse">
            <a:avLst/>
          </a:prstGeom>
          <a:solidFill>
            <a:srgbClr val="0E5A2E">
              <a:alpha val="22000"/>
            </a:srgbClr>
          </a:solidFill>
          <a:ln/>
        </p:spPr>
      </p:sp>
      <p:pic>
        <p:nvPicPr>
          <p:cNvPr id="20" name="Image 1" descr="preencoded.png"/>
          <p:cNvPicPr>
            <a:picLocks noChangeAspect="1"/>
          </p:cNvPicPr>
          <p:nvPr/>
        </p:nvPicPr>
        <p:blipFill>
          <a:blip r:embed="rId6"/>
          <a:stretch>
            <a:fillRect/>
          </a:stretch>
        </p:blipFill>
        <p:spPr>
          <a:xfrm>
            <a:off x="786384" y="2706624"/>
            <a:ext cx="246888" cy="246888"/>
          </a:xfrm>
          <a:prstGeom prst="rect">
            <a:avLst/>
          </a:prstGeom>
        </p:spPr>
      </p:pic>
      <p:sp>
        <p:nvSpPr>
          <p:cNvPr id="21" name="Text 17"/>
          <p:cNvSpPr txBox="1"/>
          <p:nvPr/>
        </p:nvSpPr>
        <p:spPr>
          <a:xfrm>
            <a:off x="1371600" y="2395728"/>
            <a:ext cx="7132320" cy="868680"/>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Google for Developers — </a:t>
            </a:r>
            <a:r>
              <a:rPr lang="en-US" sz="1200" dirty="0">
                <a:solidFill>
                  <a:srgbClr val="231F20"/>
                </a:solidFill>
                <a:latin typeface="Calibri" pitchFamily="34" charset="0"/>
                <a:ea typeface="Calibri" pitchFamily="34" charset="-122"/>
                <a:cs typeface="Calibri" pitchFamily="34" charset="-120"/>
              </a:rPr>
              <a:t>Earth Engine access — registering a Cloud project
</a:t>
            </a:r>
            <a:r>
              <a:rPr lang="en-US" sz="1000" i="1" u="sng" dirty="0">
                <a:solidFill>
                  <a:srgbClr val="5A6660"/>
                </a:solidFill>
                <a:latin typeface="Calibri" pitchFamily="34" charset="0"/>
                <a:ea typeface="Calibri" pitchFamily="34" charset="-122"/>
                <a:cs typeface="Calibri" pitchFamily="34" charset="-120"/>
                <a:hlinkClick r:id="rId7">
                  <a:extLst>
                    <a:ext uri="{A12FA001-AC4F-418D-AE19-62706E023703}">
                      <ahyp:hlinkClr xmlns:ahyp="http://schemas.microsoft.com/office/drawing/2018/hyperlinkcolor" val="tx"/>
                    </a:ext>
                  </a:extLst>
                </a:hlinkClick>
              </a:rPr>
              <a:t>developers.google.com/earth-engine/guides/access</a:t>
            </a:r>
            <a:endParaRPr lang="en-US" sz="1200" dirty="0"/>
          </a:p>
        </p:txBody>
      </p:sp>
      <p:sp>
        <p:nvSpPr>
          <p:cNvPr id="22" name="Shape 18"/>
          <p:cNvSpPr/>
          <p:nvPr/>
        </p:nvSpPr>
        <p:spPr>
          <a:xfrm>
            <a:off x="457200" y="3419856"/>
            <a:ext cx="8229600" cy="868680"/>
          </a:xfrm>
          <a:prstGeom prst="roundRect">
            <a:avLst>
              <a:gd name="adj" fmla="val 8421"/>
            </a:avLst>
          </a:prstGeom>
          <a:solidFill>
            <a:srgbClr val="F4F8F5"/>
          </a:solidFill>
          <a:ln w="9525">
            <a:solidFill>
              <a:srgbClr val="D3E2D7"/>
            </a:solidFill>
            <a:prstDash val="solid"/>
          </a:ln>
        </p:spPr>
      </p:sp>
      <p:sp>
        <p:nvSpPr>
          <p:cNvPr id="23" name="Shape 19"/>
          <p:cNvSpPr/>
          <p:nvPr/>
        </p:nvSpPr>
        <p:spPr>
          <a:xfrm>
            <a:off x="658368" y="3602736"/>
            <a:ext cx="502920" cy="502920"/>
          </a:xfrm>
          <a:prstGeom prst="ellipse">
            <a:avLst/>
          </a:prstGeom>
          <a:solidFill>
            <a:srgbClr val="0E5A2E">
              <a:alpha val="22000"/>
            </a:srgbClr>
          </a:solidFill>
          <a:ln/>
        </p:spPr>
      </p:sp>
      <p:pic>
        <p:nvPicPr>
          <p:cNvPr id="24" name="Image 2" descr="preencoded.png"/>
          <p:cNvPicPr>
            <a:picLocks noChangeAspect="1"/>
          </p:cNvPicPr>
          <p:nvPr/>
        </p:nvPicPr>
        <p:blipFill>
          <a:blip r:embed="rId8"/>
          <a:stretch>
            <a:fillRect/>
          </a:stretch>
        </p:blipFill>
        <p:spPr>
          <a:xfrm>
            <a:off x="786384" y="3730752"/>
            <a:ext cx="246888" cy="246888"/>
          </a:xfrm>
          <a:prstGeom prst="rect">
            <a:avLst/>
          </a:prstGeom>
        </p:spPr>
      </p:pic>
      <p:sp>
        <p:nvSpPr>
          <p:cNvPr id="25" name="Text 20"/>
          <p:cNvSpPr txBox="1"/>
          <p:nvPr/>
        </p:nvSpPr>
        <p:spPr>
          <a:xfrm>
            <a:off x="1371600" y="3419856"/>
            <a:ext cx="7132320" cy="868680"/>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Google for Developers — </a:t>
            </a:r>
            <a:r>
              <a:rPr lang="en-US" sz="1200" dirty="0">
                <a:solidFill>
                  <a:srgbClr val="231F20"/>
                </a:solidFill>
                <a:latin typeface="Calibri" pitchFamily="34" charset="0"/>
                <a:ea typeface="Calibri" pitchFamily="34" charset="-122"/>
                <a:cs typeface="Calibri" pitchFamily="34" charset="-120"/>
              </a:rPr>
              <a:t>Earth Engine Noncommercial Tiers — Community and Contributor tiers
</a:t>
            </a:r>
            <a:r>
              <a:rPr lang="en-US" sz="1000" i="1" u="sng" dirty="0">
                <a:solidFill>
                  <a:srgbClr val="5A6660"/>
                </a:solidFill>
                <a:latin typeface="Calibri" pitchFamily="34" charset="0"/>
                <a:ea typeface="Calibri" pitchFamily="34" charset="-122"/>
                <a:cs typeface="Calibri" pitchFamily="34" charset="-120"/>
                <a:hlinkClick r:id="rId9">
                  <a:extLst>
                    <a:ext uri="{A12FA001-AC4F-418D-AE19-62706E023703}">
                      <ahyp:hlinkClr xmlns:ahyp="http://schemas.microsoft.com/office/drawing/2018/hyperlinkcolor" val="tx"/>
                    </a:ext>
                  </a:extLst>
                </a:hlinkClick>
              </a:rPr>
              <a:t>developers.google.com/earth-engine/guides/noncommercial_tiers</a:t>
            </a:r>
            <a:endParaRPr lang="en-US" sz="1200" dirty="0"/>
          </a:p>
        </p:txBody>
      </p:sp>
      <p:sp>
        <p:nvSpPr>
          <p:cNvPr id="26" name="Text 21"/>
          <p:cNvSpPr txBox="1"/>
          <p:nvPr/>
        </p:nvSpPr>
        <p:spPr>
          <a:xfrm>
            <a:off x="457200" y="4480560"/>
            <a:ext cx="8229600" cy="182880"/>
          </a:xfrm>
          <a:prstGeom prst="rect">
            <a:avLst/>
          </a:prstGeom>
          <a:noFill/>
          <a:ln/>
        </p:spPr>
        <p:txBody>
          <a:bodyPr wrap="square" lIns="0" tIns="0" rIns="0" bIns="0" rtlCol="0" anchor="ctr"/>
          <a:lstStyle/>
          <a:p>
            <a:pPr marL="0" indent="0">
              <a:buNone/>
            </a:pPr>
            <a:r>
              <a:rPr lang="en-US" sz="900" i="1" dirty="0">
                <a:solidFill>
                  <a:srgbClr val="5A6660"/>
                </a:solidFill>
                <a:latin typeface="Calibri" pitchFamily="34" charset="0"/>
                <a:ea typeface="Calibri" pitchFamily="34" charset="-122"/>
                <a:cs typeface="Calibri" pitchFamily="34" charset="-120"/>
              </a:rPr>
              <a:t>Screenshots taken while registering a demonstration project; the console interface may change.</a:t>
            </a:r>
            <a:endParaRPr lang="en-US" sz="9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8046720" cy="274320"/>
          </a:xfrm>
          <a:prstGeom prst="rect">
            <a:avLst/>
          </a:prstGeom>
          <a:noFill/>
          <a:ln/>
        </p:spPr>
        <p:txBody>
          <a:bodyPr wrap="square" lIns="0" tIns="0" rIns="0" bIns="0" rtlCol="0" anchor="ctr"/>
          <a:lstStyle/>
          <a:p>
            <a:pPr marL="0" indent="0">
              <a:buNone/>
            </a:pPr>
            <a:r>
              <a:rPr lang="en-US" sz="1100" b="1" kern="0" spc="300" dirty="0">
                <a:solidFill>
                  <a:srgbClr val="F5C242"/>
                </a:solidFill>
                <a:latin typeface="Calibri" pitchFamily="34" charset="0"/>
                <a:ea typeface="Calibri" pitchFamily="34" charset="-122"/>
                <a:cs typeface="Calibri" pitchFamily="34" charset="-120"/>
              </a:rPr>
              <a:t>AFDB – DATA INNOVATION FOR AFRICA (DI4A) · CONCLUSION</a:t>
            </a:r>
            <a:endParaRPr lang="en-US" sz="1100" dirty="0"/>
          </a:p>
        </p:txBody>
      </p:sp>
      <p:sp>
        <p:nvSpPr>
          <p:cNvPr id="3" name="Text 1"/>
          <p:cNvSpPr txBox="1"/>
          <p:nvPr/>
        </p:nvSpPr>
        <p:spPr>
          <a:xfrm>
            <a:off x="548640" y="1143000"/>
            <a:ext cx="7315200" cy="82296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Your project is ready</a:t>
            </a:r>
            <a:endParaRPr lang="en-US" sz="4400" dirty="0"/>
          </a:p>
        </p:txBody>
      </p:sp>
      <p:sp>
        <p:nvSpPr>
          <p:cNvPr id="4" name="Next session"/>
          <p:cNvSpPr txBox="1"/>
          <p:nvPr/>
        </p:nvSpPr>
        <p:spPr>
          <a:xfrm>
            <a:off x="548640" y="2057400"/>
            <a:ext cx="6766560" cy="731520"/>
          </a:xfrm>
          <a:prstGeom prst="rect">
            <a:avLst/>
          </a:prstGeom>
          <a:noFill/>
          <a:ln/>
        </p:spPr>
        <p:txBody>
          <a:bodyPr wrap="square" lIns="0" tIns="0" rIns="0" bIns="0" rtlCol="0" anchor="t"/>
          <a:lstStyle/>
          <a:p>
            <a:pPr marL="0" indent="0">
              <a:buNone/>
            </a:pPr>
            <a:r>
              <a:rPr lang="en-US" sz="1600" i="1" dirty="0">
                <a:solidFill>
                  <a:srgbClr val="E8F4EB"/>
                </a:solidFill>
                <a:latin typeface="Calibri" pitchFamily="34" charset="0"/>
                <a:ea typeface="Calibri" pitchFamily="34" charset="-122"/>
                <a:cs typeface="Calibri" pitchFamily="34" charset="-120"/>
              </a:rPr>
              <a:t>You are set for the satellite-data sessions: night-time lights and geospatial analysis.</a:t>
            </a:r>
            <a:r>
              <a:rPr lang="en-US" sz="1600" i="1">
                <a:solidFill>
                  <a:srgbClr val="E8F4EB"/>
                </a:solidFill>
                <a:latin typeface="Calibri" pitchFamily="34" charset="0"/>
                <a:ea typeface="Calibri" pitchFamily="34" charset="-122"/>
                <a:cs typeface="Calibri" pitchFamily="34" charset="-120"/>
              </a:rPr>
              <a:t/>
            </a:r>
            <a:endParaRPr lang="en-US" sz="1600" i="1" dirty="0">
              <a:solidFill>
                <a:srgbClr val="E8F4EB"/>
              </a:solidFill>
              <a:latin typeface="Calibri" pitchFamily="34" charset="0"/>
              <a:ea typeface="Calibri" pitchFamily="34" charset="-122"/>
              <a:cs typeface="Calibri" pitchFamily="34" charset="-120"/>
            </a:endParaRPr>
          </a:p>
        </p:txBody>
      </p:sp>
      <p:pic>
        <p:nvPicPr>
          <p:cNvPr id="5" name="AfDB DI4A logo" descr="African Development Bank – Data Innovation for Africa (DI4A) logo"/>
          <p:cNvPicPr>
            <a:picLocks noChangeAspect="1"/>
          </p:cNvPicPr>
          <p:nvPr/>
        </p:nvPicPr>
        <p:blipFill>
          <a:blip r:embed="rId4"/>
          <a:stretch>
            <a:fillRect/>
          </a:stretch>
        </p:blipFill>
        <p:spPr>
          <a:xfrm>
            <a:off x="548640" y="4069080"/>
            <a:ext cx="1980311" cy="566928"/>
          </a:xfrm>
          <a:prstGeom prst="rect">
            <a:avLst/>
          </a:prstGeom>
        </p:spPr>
      </p:pic>
      <p:sp>
        <p:nvSpPr>
          <p:cNvPr id="6" name="AfDB DI4A credit"/>
          <p:cNvSpPr txBox="1"/>
          <p:nvPr/>
        </p:nvSpPr>
        <p:spPr>
          <a:xfrm>
            <a:off x="2757551" y="4069080"/>
            <a:ext cx="5837809" cy="56692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African Development Bank (AfDB) · Data Innovation for Africa (DI4A)</a:t>
            </a:r>
          </a:p>
          <a:p>
            <a:pPr marL="0" indent="0">
              <a:spcBef>
                <a:spcPts val="200"/>
              </a:spcBef>
              <a:buNone/>
            </a:pPr>
            <a:r>
              <a:rPr lang="en-US" sz="1100" dirty="0">
                <a:solidFill>
                  <a:srgbClr val="E8F4EB"/>
                </a:solidFill>
                <a:latin typeface="Calibri" pitchFamily="34" charset="0"/>
                <a:ea typeface="Calibri" pitchFamily="34" charset="-122"/>
                <a:cs typeface="Calibri" pitchFamily="34" charset="-120"/>
              </a:rPr>
              <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2516</Words>
  <Application>Microsoft Office PowerPoint</Application>
  <PresentationFormat>On-screen Show (16:9)</PresentationFormat>
  <Paragraphs>268</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Registering for Google Earth Engine</dc:title>
  <dc:subject>PptxGenJS Presentation</dc:subject>
  <dc:creator>AfDB – Data Innovation for Africa (DI4A)</dc:creator>
  <cp:lastModifiedBy>HADJ TAIEB, MOHAMED ALI</cp:lastModifiedBy>
  <cp:revision>4</cp:revision>
  <dcterms:created xsi:type="dcterms:W3CDTF">2026-09-30T04:52:46Z</dcterms:created>
  <dcterms:modified xsi:type="dcterms:W3CDTF">2026-10-18T07:08:02Z</dcterms:modified>
</cp:coreProperties>
</file>