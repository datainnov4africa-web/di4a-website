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8" r:id="rId4"/>
    <p:sldId id="269" r:id="rId5"/>
    <p:sldId id="270" r:id="rId6"/>
    <p:sldId id="271" r:id="rId7"/>
    <p:sldId id="272" r:id="rId8"/>
    <p:sldId id="273" r:id="rId9"/>
    <p:sldId id="258" r:id="rId10"/>
    <p:sldId id="259" r:id="rId11"/>
    <p:sldId id="260" r:id="rId12"/>
    <p:sldId id="261" r:id="rId13"/>
    <p:sldId id="262" r:id="rId14"/>
    <p:sldId id="263" r:id="rId15"/>
    <p:sldId id="264" r:id="rId16"/>
    <p:sldId id="265" r:id="rId17"/>
    <p:sldId id="266" r:id="rId18"/>
    <p:sldId id="267"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865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AfDB – Data Innovation for Africa (DI4A) hands-on session. In the next few minutes each participant will create a GitHub personal access token (classic). It lets our scripts and notebooks talk to the GitHub API on your behalf — for the hands-on exercises and for your team’s projects. Make sure you are signed in to GitHub before we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path at a glance: open Settings from the avatar menu, go to Developer settings, choose Tokens (classic), generate a new token, configure it, then copy and store it. Stress the warning: this token grants access like a password.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token matters. GitHub is a core part of the data infrastructure — alongside Cloud and Colab. The token lets your notebooks and scripts read and push to repositories, which helps in hands-on exercises such as GDP nowcasting and for sharing your team’s code and results, from project set-up to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for participants who do not have a GitHub account yet. Everyone else can skip to the token steps. You only need a Gmail address you can open right now — GitHub sends a verification code to it during sign-up.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create the account with Gmail. Option A, Continue with Google, is the quickest: GitHub uses your Google account to sign you in. Option B uses your Gmail address with a new GitHub password. The next two slides walk through option B, which most participants will see by default.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github.com/signup. Enter your Gmail address, then a password: GitHub requires at least 15 characters, or at least 8 characters including a number and a lowercase letter. Choose a username with letters, numbers and single hyphens — it appears in the address of your repositories, so prefer something like firstname-lastname. Select your country or region and continue.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form, GitHub shows a short visual puzzle to confirm you are a person. Then it emails a launch code to your Gmail address. Open Gmail — the message can land in Spam or Promotions — and type the code on the GitHub page. GitHub may then ask a few optional questions; you can skip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account exists. Make sure the email is verified, turn on two-factor authentication as GitHub strongly recommends, and complete your profile with your name and institution so your teammates can find you. The free plan is all you need for this guide. Now everyone can move on to creating the token.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then click your profile picture in the top-right corner. That opens the account menu.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dropdown, click Settings, about two-thirds of the way down the menu.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settings page, scroll the left sidebar to the very bottom and click Developer settings.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Personal access tokens and choose Tokens (classic). Fine-grained tokens also exist, but in this guide we use classic tokens.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Generate new token dropdown and choose Generate new token (classic), the "For general use" option. If GitHub asks for your password or 2FA code, confirm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token a clear note such as DI4A2026, keep a short expiration such as 30 days — enough for the hands-on work and follow-up on your team project — and tick the repo and workflow scopes. Then scroll to the bottom of the page and click Generate token.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token immediately with the copy icon. GitHub shows it only once. Store it in a password manager or environment variable, never in a document or a repository.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habits: never commit a token, always set an expiry, grant only the scopes you need, and revoke immediately if a token is exposed, for example pushed to a public repository.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participants who want the official documentation.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set the token as an environment variable and call the /user endpoint. If you get your profile back as JSON, the token works. You will use it throughout the hands-on exercises and to share your team’s code and results.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23444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DATA INNOVATION FOR AFRICA (DI4A) · HANDS-ON GUIDE</a:t>
            </a:r>
            <a:endParaRPr lang="en-US" sz="1100" dirty="0"/>
          </a:p>
        </p:txBody>
      </p:sp>
      <p:sp>
        <p:nvSpPr>
          <p:cNvPr id="4" name="Text 2"/>
          <p:cNvSpPr txBox="1"/>
          <p:nvPr/>
        </p:nvSpPr>
        <p:spPr>
          <a:xfrm>
            <a:off x="548640" y="1600200"/>
            <a:ext cx="6035040" cy="137160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Generate a GitHub API Key</a:t>
            </a:r>
            <a:endParaRPr lang="en-US" sz="4400" dirty="0"/>
          </a:p>
        </p:txBody>
      </p:sp>
      <p:sp>
        <p:nvSpPr>
          <p:cNvPr id="5" name="Text 3"/>
          <p:cNvSpPr txBox="1"/>
          <p:nvPr/>
        </p:nvSpPr>
        <p:spPr>
          <a:xfrm>
            <a:off x="548640" y="3017520"/>
            <a:ext cx="5852160" cy="457200"/>
          </a:xfrm>
          <a:prstGeom prst="rect">
            <a:avLst/>
          </a:prstGeom>
          <a:noFill/>
          <a:ln/>
        </p:spPr>
        <p:txBody>
          <a:bodyPr wrap="square" lIns="0" tIns="0" rIns="0" bIns="0" rtlCol="0" anchor="ctr"/>
          <a:lstStyle/>
          <a:p>
            <a:pPr marL="0" indent="0">
              <a:buNone/>
            </a:pPr>
            <a:r>
              <a:rPr lang="en-US" sz="1800" i="1" dirty="0">
                <a:solidFill>
                  <a:srgbClr val="E8F4EB"/>
                </a:solidFill>
                <a:latin typeface="Calibri" pitchFamily="34" charset="0"/>
                <a:ea typeface="Calibri" pitchFamily="34" charset="-122"/>
                <a:cs typeface="Calibri" pitchFamily="34" charset="-120"/>
              </a:rPr>
              <a:t>Create a personal access token (classic) in six steps</a:t>
            </a:r>
            <a:endParaRPr lang="en-US" sz="1800" dirty="0"/>
          </a:p>
        </p:txBody>
      </p:sp>
      <p:sp>
        <p:nvSpPr>
          <p:cNvPr id="6" name="Shape 4"/>
          <p:cNvSpPr/>
          <p:nvPr/>
        </p:nvSpPr>
        <p:spPr>
          <a:xfrm>
            <a:off x="6812280" y="1600200"/>
            <a:ext cx="1737360" cy="1737360"/>
          </a:xfrm>
          <a:prstGeom prst="ellipse">
            <a:avLst/>
          </a:prstGeom>
          <a:solidFill>
            <a:srgbClr val="FFFFFF">
              <a:alpha val="90000"/>
            </a:srgbClr>
          </a:solidFill>
          <a:ln/>
        </p:spPr>
      </p:sp>
      <p:pic>
        <p:nvPicPr>
          <p:cNvPr id="7" name="Image 0" descr="preencoded.png"/>
          <p:cNvPicPr>
            <a:picLocks noChangeAspect="1"/>
          </p:cNvPicPr>
          <p:nvPr/>
        </p:nvPicPr>
        <p:blipFill>
          <a:blip r:embed="rId4"/>
          <a:stretch>
            <a:fillRect/>
          </a:stretch>
        </p:blipFill>
        <p:spPr>
          <a:xfrm>
            <a:off x="7251192" y="2039112"/>
            <a:ext cx="859536" cy="859536"/>
          </a:xfrm>
          <a:prstGeom prst="rect">
            <a:avLst/>
          </a:prstGeom>
        </p:spPr>
      </p:pic>
      <p:pic>
        <p:nvPicPr>
          <p:cNvPr id="8" name="AfDB DI4A logo" descr="African Development Bank – Data Innovation for Africa (DI4A) logo"/>
          <p:cNvPicPr>
            <a:picLocks noChangeAspect="1"/>
          </p:cNvPicPr>
          <p:nvPr/>
        </p:nvPicPr>
        <p:blipFill>
          <a:blip r:embed="rId5"/>
          <a:stretch>
            <a:fillRect/>
          </a:stretch>
        </p:blipFill>
        <p:spPr>
          <a:xfrm>
            <a:off x="548640" y="3931920"/>
            <a:ext cx="1980311" cy="566928"/>
          </a:xfrm>
          <a:prstGeom prst="rect">
            <a:avLst/>
          </a:prstGeom>
        </p:spPr>
      </p:pic>
      <p:sp>
        <p:nvSpPr>
          <p:cNvPr id="9" name="AfDB DI4A"/>
          <p:cNvSpPr txBox="1"/>
          <p:nvPr/>
        </p:nvSpPr>
        <p:spPr>
          <a:xfrm>
            <a:off x="2757551" y="3931920"/>
            <a:ext cx="5837809" cy="56692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African Development Bank (AfDB)</a:t>
            </a:r>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OVERVIEW · THE SIX STEPS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your profile to a working token</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2</a:t>
            </a:r>
            <a:endParaRPr lang="en-US" sz="850" dirty="0"/>
          </a:p>
        </p:txBody>
      </p:sp>
      <p:sp>
        <p:nvSpPr>
          <p:cNvPr id="16" name="Shape 14"/>
          <p:cNvSpPr/>
          <p:nvPr/>
        </p:nvSpPr>
        <p:spPr>
          <a:xfrm>
            <a:off x="457200" y="1371600"/>
            <a:ext cx="1234440" cy="2011680"/>
          </a:xfrm>
          <a:prstGeom prst="roundRect">
            <a:avLst>
              <a:gd name="adj" fmla="val 5926"/>
            </a:avLst>
          </a:prstGeom>
          <a:solidFill>
            <a:srgbClr val="F4F8F5"/>
          </a:solidFill>
          <a:ln w="9525">
            <a:solidFill>
              <a:srgbClr val="D3E2D7"/>
            </a:solidFill>
            <a:prstDash val="solid"/>
          </a:ln>
        </p:spPr>
      </p:sp>
      <p:sp>
        <p:nvSpPr>
          <p:cNvPr id="17" name="Shape 15"/>
          <p:cNvSpPr/>
          <p:nvPr/>
        </p:nvSpPr>
        <p:spPr>
          <a:xfrm>
            <a:off x="790956" y="1572768"/>
            <a:ext cx="566928" cy="566928"/>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949696" y="1731508"/>
            <a:ext cx="249448" cy="249448"/>
          </a:xfrm>
          <a:prstGeom prst="rect">
            <a:avLst/>
          </a:prstGeom>
        </p:spPr>
      </p:pic>
      <p:sp>
        <p:nvSpPr>
          <p:cNvPr id="19" name="Text 16"/>
          <p:cNvSpPr txBox="1"/>
          <p:nvPr/>
        </p:nvSpPr>
        <p:spPr>
          <a:xfrm>
            <a:off x="457200" y="2212848"/>
            <a:ext cx="1234440" cy="274320"/>
          </a:xfrm>
          <a:prstGeom prst="rect">
            <a:avLst/>
          </a:prstGeom>
          <a:noFill/>
          <a:ln/>
        </p:spPr>
        <p:txBody>
          <a:bodyPr wrap="square" lIns="0" tIns="0" rIns="0" bIns="0" rtlCol="0" anchor="ctr"/>
          <a:lstStyle/>
          <a:p>
            <a:pPr marL="0" indent="0" algn="ctr">
              <a:buNone/>
            </a:pPr>
            <a:r>
              <a:rPr lang="en-US" sz="1500" b="1" dirty="0">
                <a:solidFill>
                  <a:srgbClr val="2C9045"/>
                </a:solidFill>
                <a:latin typeface="Calibri" pitchFamily="34" charset="0"/>
                <a:ea typeface="Calibri" pitchFamily="34" charset="-122"/>
                <a:cs typeface="Calibri" pitchFamily="34" charset="-120"/>
              </a:rPr>
              <a:t>01</a:t>
            </a:r>
            <a:endParaRPr lang="en-US" sz="1500" dirty="0"/>
          </a:p>
        </p:txBody>
      </p:sp>
      <p:sp>
        <p:nvSpPr>
          <p:cNvPr id="20" name="Text 17"/>
          <p:cNvSpPr txBox="1"/>
          <p:nvPr/>
        </p:nvSpPr>
        <p:spPr>
          <a:xfrm>
            <a:off x="512064"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Open settings</a:t>
            </a:r>
            <a:endParaRPr lang="en-US" sz="1250" dirty="0"/>
          </a:p>
        </p:txBody>
      </p:sp>
      <p:sp>
        <p:nvSpPr>
          <p:cNvPr id="21" name="Text 18"/>
          <p:cNvSpPr txBox="1"/>
          <p:nvPr/>
        </p:nvSpPr>
        <p:spPr>
          <a:xfrm>
            <a:off x="548640"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Avatar menu › Settings</a:t>
            </a:r>
            <a:endParaRPr lang="en-US" sz="1050" dirty="0"/>
          </a:p>
        </p:txBody>
      </p:sp>
      <p:sp>
        <p:nvSpPr>
          <p:cNvPr id="22" name="Text 19"/>
          <p:cNvSpPr txBox="1"/>
          <p:nvPr/>
        </p:nvSpPr>
        <p:spPr>
          <a:xfrm>
            <a:off x="1673352" y="1627632"/>
            <a:ext cx="201168" cy="457200"/>
          </a:xfrm>
          <a:prstGeom prst="rect">
            <a:avLst/>
          </a:prstGeom>
          <a:noFill/>
          <a:ln/>
        </p:spPr>
        <p:txBody>
          <a:bodyPr wrap="square" lIns="0" tIns="0" rIns="0" bIns="0" rtlCol="0" anchor="ctr"/>
          <a:lstStyle/>
          <a:p>
            <a:pPr marL="0" indent="0" algn="ctr">
              <a:buNone/>
            </a:pPr>
            <a:r>
              <a:rPr lang="en-US" sz="2000" b="1" dirty="0">
                <a:solidFill>
                  <a:srgbClr val="5A6660"/>
                </a:solidFill>
                <a:latin typeface="Calibri" pitchFamily="34" charset="0"/>
                <a:ea typeface="Calibri" pitchFamily="34" charset="-122"/>
                <a:cs typeface="Calibri" pitchFamily="34" charset="-120"/>
              </a:rPr>
              <a:t>›</a:t>
            </a:r>
            <a:endParaRPr lang="en-US" sz="2000" dirty="0"/>
          </a:p>
        </p:txBody>
      </p:sp>
      <p:sp>
        <p:nvSpPr>
          <p:cNvPr id="23" name="Shape 20"/>
          <p:cNvSpPr/>
          <p:nvPr/>
        </p:nvSpPr>
        <p:spPr>
          <a:xfrm>
            <a:off x="1856232" y="1371600"/>
            <a:ext cx="1234440" cy="2011680"/>
          </a:xfrm>
          <a:prstGeom prst="roundRect">
            <a:avLst>
              <a:gd name="adj" fmla="val 5926"/>
            </a:avLst>
          </a:prstGeom>
          <a:solidFill>
            <a:srgbClr val="F4F8F5"/>
          </a:solidFill>
          <a:ln w="9525">
            <a:solidFill>
              <a:srgbClr val="D3E2D7"/>
            </a:solidFill>
            <a:prstDash val="solid"/>
          </a:ln>
        </p:spPr>
      </p:sp>
      <p:sp>
        <p:nvSpPr>
          <p:cNvPr id="24" name="Shape 21"/>
          <p:cNvSpPr/>
          <p:nvPr/>
        </p:nvSpPr>
        <p:spPr>
          <a:xfrm>
            <a:off x="2189988" y="1572768"/>
            <a:ext cx="566928" cy="566928"/>
          </a:xfrm>
          <a:prstGeom prst="ellipse">
            <a:avLst/>
          </a:prstGeom>
          <a:solidFill>
            <a:srgbClr val="0E5A2E">
              <a:alpha val="22000"/>
            </a:srgbClr>
          </a:solidFill>
          <a:ln/>
        </p:spPr>
      </p:sp>
      <p:pic>
        <p:nvPicPr>
          <p:cNvPr id="25" name="Image 1" descr="preencoded.png"/>
          <p:cNvPicPr>
            <a:picLocks noChangeAspect="1"/>
          </p:cNvPicPr>
          <p:nvPr/>
        </p:nvPicPr>
        <p:blipFill>
          <a:blip r:embed="rId4"/>
          <a:stretch>
            <a:fillRect/>
          </a:stretch>
        </p:blipFill>
        <p:spPr>
          <a:xfrm>
            <a:off x="2348728" y="1731508"/>
            <a:ext cx="249448" cy="249448"/>
          </a:xfrm>
          <a:prstGeom prst="rect">
            <a:avLst/>
          </a:prstGeom>
        </p:spPr>
      </p:pic>
      <p:sp>
        <p:nvSpPr>
          <p:cNvPr id="26" name="Text 22"/>
          <p:cNvSpPr txBox="1"/>
          <p:nvPr/>
        </p:nvSpPr>
        <p:spPr>
          <a:xfrm>
            <a:off x="1856232" y="2212848"/>
            <a:ext cx="1234440" cy="274320"/>
          </a:xfrm>
          <a:prstGeom prst="rect">
            <a:avLst/>
          </a:prstGeom>
          <a:noFill/>
          <a:ln/>
        </p:spPr>
        <p:txBody>
          <a:bodyPr wrap="square" lIns="0" tIns="0" rIns="0" bIns="0" rtlCol="0" anchor="ctr"/>
          <a:lstStyle/>
          <a:p>
            <a:pPr marL="0" indent="0" algn="ctr">
              <a:buNone/>
            </a:pPr>
            <a:r>
              <a:rPr lang="en-US" sz="1500" b="1" dirty="0">
                <a:solidFill>
                  <a:srgbClr val="0E5A2E"/>
                </a:solidFill>
                <a:latin typeface="Calibri" pitchFamily="34" charset="0"/>
                <a:ea typeface="Calibri" pitchFamily="34" charset="-122"/>
                <a:cs typeface="Calibri" pitchFamily="34" charset="-120"/>
              </a:rPr>
              <a:t>02</a:t>
            </a:r>
            <a:endParaRPr lang="en-US" sz="1500" dirty="0"/>
          </a:p>
        </p:txBody>
      </p:sp>
      <p:sp>
        <p:nvSpPr>
          <p:cNvPr id="27" name="Text 23"/>
          <p:cNvSpPr txBox="1"/>
          <p:nvPr/>
        </p:nvSpPr>
        <p:spPr>
          <a:xfrm>
            <a:off x="1911096"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Developer settings</a:t>
            </a:r>
            <a:endParaRPr lang="en-US" sz="1250" dirty="0"/>
          </a:p>
        </p:txBody>
      </p:sp>
      <p:sp>
        <p:nvSpPr>
          <p:cNvPr id="28" name="Text 24"/>
          <p:cNvSpPr txBox="1"/>
          <p:nvPr/>
        </p:nvSpPr>
        <p:spPr>
          <a:xfrm>
            <a:off x="1947672"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Bottom of the left sidebar</a:t>
            </a:r>
            <a:endParaRPr lang="en-US" sz="1050" dirty="0"/>
          </a:p>
        </p:txBody>
      </p:sp>
      <p:sp>
        <p:nvSpPr>
          <p:cNvPr id="29" name="Text 25"/>
          <p:cNvSpPr txBox="1"/>
          <p:nvPr/>
        </p:nvSpPr>
        <p:spPr>
          <a:xfrm>
            <a:off x="3072384" y="1627632"/>
            <a:ext cx="201168" cy="457200"/>
          </a:xfrm>
          <a:prstGeom prst="rect">
            <a:avLst/>
          </a:prstGeom>
          <a:noFill/>
          <a:ln/>
        </p:spPr>
        <p:txBody>
          <a:bodyPr wrap="square" lIns="0" tIns="0" rIns="0" bIns="0" rtlCol="0" anchor="ctr"/>
          <a:lstStyle/>
          <a:p>
            <a:pPr marL="0" indent="0" algn="ctr">
              <a:buNone/>
            </a:pPr>
            <a:r>
              <a:rPr lang="en-US" sz="2000" b="1" dirty="0">
                <a:solidFill>
                  <a:srgbClr val="5A6660"/>
                </a:solidFill>
                <a:latin typeface="Calibri" pitchFamily="34" charset="0"/>
                <a:ea typeface="Calibri" pitchFamily="34" charset="-122"/>
                <a:cs typeface="Calibri" pitchFamily="34" charset="-120"/>
              </a:rPr>
              <a:t>›</a:t>
            </a:r>
            <a:endParaRPr lang="en-US" sz="2000" dirty="0"/>
          </a:p>
        </p:txBody>
      </p:sp>
      <p:sp>
        <p:nvSpPr>
          <p:cNvPr id="30" name="Shape 26"/>
          <p:cNvSpPr/>
          <p:nvPr/>
        </p:nvSpPr>
        <p:spPr>
          <a:xfrm>
            <a:off x="3255264" y="1371600"/>
            <a:ext cx="1234440" cy="2011680"/>
          </a:xfrm>
          <a:prstGeom prst="roundRect">
            <a:avLst>
              <a:gd name="adj" fmla="val 5926"/>
            </a:avLst>
          </a:prstGeom>
          <a:solidFill>
            <a:srgbClr val="F4F8F5"/>
          </a:solidFill>
          <a:ln w="9525">
            <a:solidFill>
              <a:srgbClr val="D3E2D7"/>
            </a:solidFill>
            <a:prstDash val="solid"/>
          </a:ln>
        </p:spPr>
      </p:sp>
      <p:sp>
        <p:nvSpPr>
          <p:cNvPr id="31" name="Shape 27"/>
          <p:cNvSpPr/>
          <p:nvPr/>
        </p:nvSpPr>
        <p:spPr>
          <a:xfrm>
            <a:off x="3589020" y="1572768"/>
            <a:ext cx="566928" cy="566928"/>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3747760" y="1731508"/>
            <a:ext cx="249448" cy="249448"/>
          </a:xfrm>
          <a:prstGeom prst="rect">
            <a:avLst/>
          </a:prstGeom>
        </p:spPr>
      </p:pic>
      <p:sp>
        <p:nvSpPr>
          <p:cNvPr id="33" name="Text 28"/>
          <p:cNvSpPr txBox="1"/>
          <p:nvPr/>
        </p:nvSpPr>
        <p:spPr>
          <a:xfrm>
            <a:off x="3255264" y="2212848"/>
            <a:ext cx="123444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03</a:t>
            </a:r>
            <a:endParaRPr lang="en-US" sz="1500" dirty="0"/>
          </a:p>
        </p:txBody>
      </p:sp>
      <p:sp>
        <p:nvSpPr>
          <p:cNvPr id="34" name="Text 29"/>
          <p:cNvSpPr txBox="1"/>
          <p:nvPr/>
        </p:nvSpPr>
        <p:spPr>
          <a:xfrm>
            <a:off x="3310128"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Tokens (classic)</a:t>
            </a:r>
            <a:endParaRPr lang="en-US" sz="1250" dirty="0"/>
          </a:p>
        </p:txBody>
      </p:sp>
      <p:sp>
        <p:nvSpPr>
          <p:cNvPr id="35" name="Text 30"/>
          <p:cNvSpPr txBox="1"/>
          <p:nvPr/>
        </p:nvSpPr>
        <p:spPr>
          <a:xfrm>
            <a:off x="3346704"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Under Personal access tokens</a:t>
            </a:r>
            <a:endParaRPr lang="en-US" sz="1050" dirty="0"/>
          </a:p>
        </p:txBody>
      </p:sp>
      <p:sp>
        <p:nvSpPr>
          <p:cNvPr id="36" name="Text 31"/>
          <p:cNvSpPr txBox="1"/>
          <p:nvPr/>
        </p:nvSpPr>
        <p:spPr>
          <a:xfrm>
            <a:off x="4471416" y="1627632"/>
            <a:ext cx="201168" cy="457200"/>
          </a:xfrm>
          <a:prstGeom prst="rect">
            <a:avLst/>
          </a:prstGeom>
          <a:noFill/>
          <a:ln/>
        </p:spPr>
        <p:txBody>
          <a:bodyPr wrap="square" lIns="0" tIns="0" rIns="0" bIns="0" rtlCol="0" anchor="ctr"/>
          <a:lstStyle/>
          <a:p>
            <a:pPr marL="0" indent="0" algn="ctr">
              <a:buNone/>
            </a:pPr>
            <a:r>
              <a:rPr lang="en-US" sz="2000" b="1" dirty="0">
                <a:solidFill>
                  <a:srgbClr val="5A6660"/>
                </a:solidFill>
                <a:latin typeface="Calibri" pitchFamily="34" charset="0"/>
                <a:ea typeface="Calibri" pitchFamily="34" charset="-122"/>
                <a:cs typeface="Calibri" pitchFamily="34" charset="-120"/>
              </a:rPr>
              <a:t>›</a:t>
            </a:r>
            <a:endParaRPr lang="en-US" sz="2000" dirty="0"/>
          </a:p>
        </p:txBody>
      </p:sp>
      <p:sp>
        <p:nvSpPr>
          <p:cNvPr id="37" name="Shape 32"/>
          <p:cNvSpPr/>
          <p:nvPr/>
        </p:nvSpPr>
        <p:spPr>
          <a:xfrm>
            <a:off x="4654296" y="1371600"/>
            <a:ext cx="1234440" cy="2011680"/>
          </a:xfrm>
          <a:prstGeom prst="roundRect">
            <a:avLst>
              <a:gd name="adj" fmla="val 5926"/>
            </a:avLst>
          </a:prstGeom>
          <a:solidFill>
            <a:srgbClr val="F4F8F5"/>
          </a:solidFill>
          <a:ln w="9525">
            <a:solidFill>
              <a:srgbClr val="D3E2D7"/>
            </a:solidFill>
            <a:prstDash val="solid"/>
          </a:ln>
        </p:spPr>
      </p:sp>
      <p:sp>
        <p:nvSpPr>
          <p:cNvPr id="38" name="Shape 33"/>
          <p:cNvSpPr/>
          <p:nvPr/>
        </p:nvSpPr>
        <p:spPr>
          <a:xfrm>
            <a:off x="4988052" y="1572768"/>
            <a:ext cx="566928" cy="566928"/>
          </a:xfrm>
          <a:prstGeom prst="ellipse">
            <a:avLst/>
          </a:prstGeom>
          <a:solidFill>
            <a:srgbClr val="D49A00">
              <a:alpha val="22000"/>
            </a:srgbClr>
          </a:solidFill>
          <a:ln/>
        </p:spPr>
      </p:sp>
      <p:pic>
        <p:nvPicPr>
          <p:cNvPr id="39" name="Image 3" descr="preencoded.png"/>
          <p:cNvPicPr>
            <a:picLocks noChangeAspect="1"/>
          </p:cNvPicPr>
          <p:nvPr/>
        </p:nvPicPr>
        <p:blipFill>
          <a:blip r:embed="rId6"/>
          <a:stretch>
            <a:fillRect/>
          </a:stretch>
        </p:blipFill>
        <p:spPr>
          <a:xfrm>
            <a:off x="5146792" y="1731508"/>
            <a:ext cx="249448" cy="249448"/>
          </a:xfrm>
          <a:prstGeom prst="rect">
            <a:avLst/>
          </a:prstGeom>
        </p:spPr>
      </p:pic>
      <p:sp>
        <p:nvSpPr>
          <p:cNvPr id="40" name="Text 34"/>
          <p:cNvSpPr txBox="1"/>
          <p:nvPr/>
        </p:nvSpPr>
        <p:spPr>
          <a:xfrm>
            <a:off x="4654296" y="2212848"/>
            <a:ext cx="123444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04</a:t>
            </a:r>
            <a:endParaRPr lang="en-US" sz="1500" dirty="0"/>
          </a:p>
        </p:txBody>
      </p:sp>
      <p:sp>
        <p:nvSpPr>
          <p:cNvPr id="41" name="Text 35"/>
          <p:cNvSpPr txBox="1"/>
          <p:nvPr/>
        </p:nvSpPr>
        <p:spPr>
          <a:xfrm>
            <a:off x="4709160"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Generate</a:t>
            </a:r>
            <a:endParaRPr lang="en-US" sz="1250" dirty="0"/>
          </a:p>
        </p:txBody>
      </p:sp>
      <p:sp>
        <p:nvSpPr>
          <p:cNvPr id="42" name="Text 36"/>
          <p:cNvSpPr txBox="1"/>
          <p:nvPr/>
        </p:nvSpPr>
        <p:spPr>
          <a:xfrm>
            <a:off x="4745736"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New token (classic)</a:t>
            </a:r>
            <a:endParaRPr lang="en-US" sz="1050" dirty="0"/>
          </a:p>
        </p:txBody>
      </p:sp>
      <p:sp>
        <p:nvSpPr>
          <p:cNvPr id="43" name="Text 37"/>
          <p:cNvSpPr txBox="1"/>
          <p:nvPr/>
        </p:nvSpPr>
        <p:spPr>
          <a:xfrm>
            <a:off x="5870448" y="1627632"/>
            <a:ext cx="201168" cy="457200"/>
          </a:xfrm>
          <a:prstGeom prst="rect">
            <a:avLst/>
          </a:prstGeom>
          <a:noFill/>
          <a:ln/>
        </p:spPr>
        <p:txBody>
          <a:bodyPr wrap="square" lIns="0" tIns="0" rIns="0" bIns="0" rtlCol="0" anchor="ctr"/>
          <a:lstStyle/>
          <a:p>
            <a:pPr marL="0" indent="0" algn="ctr">
              <a:buNone/>
            </a:pPr>
            <a:r>
              <a:rPr lang="en-US" sz="2000" b="1" dirty="0">
                <a:solidFill>
                  <a:srgbClr val="5A6660"/>
                </a:solidFill>
                <a:latin typeface="Calibri" pitchFamily="34" charset="0"/>
                <a:ea typeface="Calibri" pitchFamily="34" charset="-122"/>
                <a:cs typeface="Calibri" pitchFamily="34" charset="-120"/>
              </a:rPr>
              <a:t>›</a:t>
            </a:r>
            <a:endParaRPr lang="en-US" sz="2000" dirty="0"/>
          </a:p>
        </p:txBody>
      </p:sp>
      <p:sp>
        <p:nvSpPr>
          <p:cNvPr id="44" name="Shape 38"/>
          <p:cNvSpPr/>
          <p:nvPr/>
        </p:nvSpPr>
        <p:spPr>
          <a:xfrm>
            <a:off x="6053328" y="1371600"/>
            <a:ext cx="1234440" cy="2011680"/>
          </a:xfrm>
          <a:prstGeom prst="roundRect">
            <a:avLst>
              <a:gd name="adj" fmla="val 5926"/>
            </a:avLst>
          </a:prstGeom>
          <a:solidFill>
            <a:srgbClr val="F4F8F5"/>
          </a:solidFill>
          <a:ln w="9525">
            <a:solidFill>
              <a:srgbClr val="D3E2D7"/>
            </a:solidFill>
            <a:prstDash val="solid"/>
          </a:ln>
        </p:spPr>
      </p:sp>
      <p:sp>
        <p:nvSpPr>
          <p:cNvPr id="45" name="Shape 39"/>
          <p:cNvSpPr/>
          <p:nvPr/>
        </p:nvSpPr>
        <p:spPr>
          <a:xfrm>
            <a:off x="6387084" y="1572768"/>
            <a:ext cx="566928" cy="566928"/>
          </a:xfrm>
          <a:prstGeom prst="ellipse">
            <a:avLst/>
          </a:prstGeom>
          <a:solidFill>
            <a:srgbClr val="C4621D">
              <a:alpha val="22000"/>
            </a:srgbClr>
          </a:solidFill>
          <a:ln/>
        </p:spPr>
      </p:sp>
      <p:pic>
        <p:nvPicPr>
          <p:cNvPr id="46" name="Image 4" descr="preencoded.png"/>
          <p:cNvPicPr>
            <a:picLocks noChangeAspect="1"/>
          </p:cNvPicPr>
          <p:nvPr/>
        </p:nvPicPr>
        <p:blipFill>
          <a:blip r:embed="rId7"/>
          <a:stretch>
            <a:fillRect/>
          </a:stretch>
        </p:blipFill>
        <p:spPr>
          <a:xfrm>
            <a:off x="6545824" y="1731508"/>
            <a:ext cx="249448" cy="249448"/>
          </a:xfrm>
          <a:prstGeom prst="rect">
            <a:avLst/>
          </a:prstGeom>
        </p:spPr>
      </p:pic>
      <p:sp>
        <p:nvSpPr>
          <p:cNvPr id="47" name="Text 40"/>
          <p:cNvSpPr txBox="1"/>
          <p:nvPr/>
        </p:nvSpPr>
        <p:spPr>
          <a:xfrm>
            <a:off x="6053328" y="2212848"/>
            <a:ext cx="1234440" cy="274320"/>
          </a:xfrm>
          <a:prstGeom prst="rect">
            <a:avLst/>
          </a:prstGeom>
          <a:noFill/>
          <a:ln/>
        </p:spPr>
        <p:txBody>
          <a:bodyPr wrap="square" lIns="0" tIns="0" rIns="0" bIns="0" rtlCol="0" anchor="ctr"/>
          <a:lstStyle/>
          <a:p>
            <a:pPr marL="0" indent="0" algn="ctr">
              <a:buNone/>
            </a:pPr>
            <a:r>
              <a:rPr lang="en-US" sz="1500" b="1" dirty="0">
                <a:solidFill>
                  <a:srgbClr val="C4621D"/>
                </a:solidFill>
                <a:latin typeface="Calibri" pitchFamily="34" charset="0"/>
                <a:ea typeface="Calibri" pitchFamily="34" charset="-122"/>
                <a:cs typeface="Calibri" pitchFamily="34" charset="-120"/>
              </a:rPr>
              <a:t>05</a:t>
            </a:r>
            <a:endParaRPr lang="en-US" sz="1500" dirty="0"/>
          </a:p>
        </p:txBody>
      </p:sp>
      <p:sp>
        <p:nvSpPr>
          <p:cNvPr id="48" name="Text 41"/>
          <p:cNvSpPr txBox="1"/>
          <p:nvPr/>
        </p:nvSpPr>
        <p:spPr>
          <a:xfrm>
            <a:off x="6108192"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Configure</a:t>
            </a:r>
            <a:endParaRPr lang="en-US" sz="1250" dirty="0"/>
          </a:p>
        </p:txBody>
      </p:sp>
      <p:sp>
        <p:nvSpPr>
          <p:cNvPr id="49" name="Text 42"/>
          <p:cNvSpPr txBox="1"/>
          <p:nvPr/>
        </p:nvSpPr>
        <p:spPr>
          <a:xfrm>
            <a:off x="6144768"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Note, expiry, scopes</a:t>
            </a:r>
            <a:endParaRPr lang="en-US" sz="1050" dirty="0"/>
          </a:p>
        </p:txBody>
      </p:sp>
      <p:sp>
        <p:nvSpPr>
          <p:cNvPr id="50" name="Text 43"/>
          <p:cNvSpPr txBox="1"/>
          <p:nvPr/>
        </p:nvSpPr>
        <p:spPr>
          <a:xfrm>
            <a:off x="7269480" y="1627632"/>
            <a:ext cx="201168" cy="457200"/>
          </a:xfrm>
          <a:prstGeom prst="rect">
            <a:avLst/>
          </a:prstGeom>
          <a:noFill/>
          <a:ln/>
        </p:spPr>
        <p:txBody>
          <a:bodyPr wrap="square" lIns="0" tIns="0" rIns="0" bIns="0" rtlCol="0" anchor="ctr"/>
          <a:lstStyle/>
          <a:p>
            <a:pPr marL="0" indent="0" algn="ctr">
              <a:buNone/>
            </a:pPr>
            <a:r>
              <a:rPr lang="en-US" sz="2000" b="1" dirty="0">
                <a:solidFill>
                  <a:srgbClr val="5A6660"/>
                </a:solidFill>
                <a:latin typeface="Calibri" pitchFamily="34" charset="0"/>
                <a:ea typeface="Calibri" pitchFamily="34" charset="-122"/>
                <a:cs typeface="Calibri" pitchFamily="34" charset="-120"/>
              </a:rPr>
              <a:t>›</a:t>
            </a:r>
            <a:endParaRPr lang="en-US" sz="2000" dirty="0"/>
          </a:p>
        </p:txBody>
      </p:sp>
      <p:sp>
        <p:nvSpPr>
          <p:cNvPr id="51" name="Shape 44"/>
          <p:cNvSpPr/>
          <p:nvPr/>
        </p:nvSpPr>
        <p:spPr>
          <a:xfrm>
            <a:off x="7452360" y="1371600"/>
            <a:ext cx="1234440" cy="2011680"/>
          </a:xfrm>
          <a:prstGeom prst="roundRect">
            <a:avLst>
              <a:gd name="adj" fmla="val 5926"/>
            </a:avLst>
          </a:prstGeom>
          <a:solidFill>
            <a:srgbClr val="F4F8F5"/>
          </a:solidFill>
          <a:ln w="9525">
            <a:solidFill>
              <a:srgbClr val="D3E2D7"/>
            </a:solidFill>
            <a:prstDash val="solid"/>
          </a:ln>
        </p:spPr>
      </p:sp>
      <p:sp>
        <p:nvSpPr>
          <p:cNvPr id="52" name="Shape 45"/>
          <p:cNvSpPr/>
          <p:nvPr/>
        </p:nvSpPr>
        <p:spPr>
          <a:xfrm>
            <a:off x="7786116" y="1572768"/>
            <a:ext cx="566928" cy="566928"/>
          </a:xfrm>
          <a:prstGeom prst="ellipse">
            <a:avLst/>
          </a:prstGeom>
          <a:solidFill>
            <a:srgbClr val="B83B2E">
              <a:alpha val="22000"/>
            </a:srgbClr>
          </a:solidFill>
          <a:ln/>
        </p:spPr>
      </p:sp>
      <p:pic>
        <p:nvPicPr>
          <p:cNvPr id="53" name="Image 5" descr="preencoded.png"/>
          <p:cNvPicPr>
            <a:picLocks noChangeAspect="1"/>
          </p:cNvPicPr>
          <p:nvPr/>
        </p:nvPicPr>
        <p:blipFill>
          <a:blip r:embed="rId8"/>
          <a:stretch>
            <a:fillRect/>
          </a:stretch>
        </p:blipFill>
        <p:spPr>
          <a:xfrm>
            <a:off x="7944856" y="1731508"/>
            <a:ext cx="249448" cy="249448"/>
          </a:xfrm>
          <a:prstGeom prst="rect">
            <a:avLst/>
          </a:prstGeom>
        </p:spPr>
      </p:pic>
      <p:sp>
        <p:nvSpPr>
          <p:cNvPr id="54" name="Text 46"/>
          <p:cNvSpPr txBox="1"/>
          <p:nvPr/>
        </p:nvSpPr>
        <p:spPr>
          <a:xfrm>
            <a:off x="7452360" y="2212848"/>
            <a:ext cx="1234440" cy="274320"/>
          </a:xfrm>
          <a:prstGeom prst="rect">
            <a:avLst/>
          </a:prstGeom>
          <a:noFill/>
          <a:ln/>
        </p:spPr>
        <p:txBody>
          <a:bodyPr wrap="square" lIns="0" tIns="0" rIns="0" bIns="0" rtlCol="0" anchor="ctr"/>
          <a:lstStyle/>
          <a:p>
            <a:pPr marL="0" indent="0" algn="ctr">
              <a:buNone/>
            </a:pPr>
            <a:r>
              <a:rPr lang="en-US" sz="1500" b="1" dirty="0">
                <a:solidFill>
                  <a:srgbClr val="B83B2E"/>
                </a:solidFill>
                <a:latin typeface="Calibri" pitchFamily="34" charset="0"/>
                <a:ea typeface="Calibri" pitchFamily="34" charset="-122"/>
                <a:cs typeface="Calibri" pitchFamily="34" charset="-120"/>
              </a:rPr>
              <a:t>06</a:t>
            </a:r>
            <a:endParaRPr lang="en-US" sz="1500" dirty="0"/>
          </a:p>
        </p:txBody>
      </p:sp>
      <p:sp>
        <p:nvSpPr>
          <p:cNvPr id="55" name="Text 47"/>
          <p:cNvSpPr txBox="1"/>
          <p:nvPr/>
        </p:nvSpPr>
        <p:spPr>
          <a:xfrm>
            <a:off x="7507224" y="2450592"/>
            <a:ext cx="1124712" cy="402336"/>
          </a:xfrm>
          <a:prstGeom prst="rect">
            <a:avLst/>
          </a:prstGeom>
          <a:noFill/>
          <a:ln/>
        </p:spPr>
        <p:txBody>
          <a:bodyPr wrap="square" lIns="0" tIns="0" rIns="0" bIns="0" rtlCol="0" anchor="ctr"/>
          <a:lstStyle/>
          <a:p>
            <a:pPr marL="0" indent="0" algn="ctr">
              <a:buNone/>
            </a:pPr>
            <a:r>
              <a:rPr lang="en-US" sz="1250" b="1" dirty="0">
                <a:solidFill>
                  <a:srgbClr val="231F20"/>
                </a:solidFill>
                <a:latin typeface="Calibri" pitchFamily="34" charset="0"/>
                <a:ea typeface="Calibri" pitchFamily="34" charset="-122"/>
                <a:cs typeface="Calibri" pitchFamily="34" charset="-120"/>
              </a:rPr>
              <a:t>Copy &amp; store</a:t>
            </a:r>
            <a:endParaRPr lang="en-US" sz="1250" dirty="0"/>
          </a:p>
        </p:txBody>
      </p:sp>
      <p:sp>
        <p:nvSpPr>
          <p:cNvPr id="56" name="Text 48"/>
          <p:cNvSpPr txBox="1"/>
          <p:nvPr/>
        </p:nvSpPr>
        <p:spPr>
          <a:xfrm>
            <a:off x="7543800" y="2889504"/>
            <a:ext cx="1051560" cy="420624"/>
          </a:xfrm>
          <a:prstGeom prst="rect">
            <a:avLst/>
          </a:prstGeom>
          <a:noFill/>
          <a:ln/>
        </p:spPr>
        <p:txBody>
          <a:bodyPr wrap="square" lIns="0" tIns="0" rIns="0" bIns="0" rtlCol="0" anchor="t"/>
          <a:lstStyle/>
          <a:p>
            <a:pPr marL="0" indent="0" algn="ctr">
              <a:buNone/>
            </a:pPr>
            <a:r>
              <a:rPr lang="en-US" sz="1050" dirty="0">
                <a:solidFill>
                  <a:srgbClr val="5A6660"/>
                </a:solidFill>
                <a:latin typeface="Calibri" pitchFamily="34" charset="0"/>
                <a:ea typeface="Calibri" pitchFamily="34" charset="-122"/>
                <a:cs typeface="Calibri" pitchFamily="34" charset="-120"/>
              </a:rPr>
              <a:t>Shown only once</a:t>
            </a:r>
            <a:endParaRPr lang="en-US" sz="1050" dirty="0"/>
          </a:p>
        </p:txBody>
      </p:sp>
      <p:sp>
        <p:nvSpPr>
          <p:cNvPr id="57" name="Shape 49"/>
          <p:cNvSpPr/>
          <p:nvPr/>
        </p:nvSpPr>
        <p:spPr>
          <a:xfrm>
            <a:off x="457200" y="3703320"/>
            <a:ext cx="8229600" cy="731520"/>
          </a:xfrm>
          <a:prstGeom prst="roundRect">
            <a:avLst>
              <a:gd name="adj" fmla="val 10000"/>
            </a:avLst>
          </a:prstGeom>
          <a:solidFill>
            <a:srgbClr val="D49A00">
              <a:alpha val="13000"/>
            </a:srgbClr>
          </a:solidFill>
          <a:ln w="12700">
            <a:solidFill>
              <a:srgbClr val="D49A00"/>
            </a:solidFill>
            <a:prstDash val="solid"/>
          </a:ln>
        </p:spPr>
      </p:sp>
      <p:sp>
        <p:nvSpPr>
          <p:cNvPr id="58" name="Shape 50"/>
          <p:cNvSpPr/>
          <p:nvPr/>
        </p:nvSpPr>
        <p:spPr>
          <a:xfrm>
            <a:off x="621792" y="3831336"/>
            <a:ext cx="475488" cy="475488"/>
          </a:xfrm>
          <a:prstGeom prst="ellipse">
            <a:avLst/>
          </a:prstGeom>
          <a:solidFill>
            <a:srgbClr val="D49A00">
              <a:alpha val="25000"/>
            </a:srgbClr>
          </a:solidFill>
          <a:ln/>
        </p:spPr>
      </p:sp>
      <p:pic>
        <p:nvPicPr>
          <p:cNvPr id="59" name="Image 6" descr="preencoded.png"/>
          <p:cNvPicPr>
            <a:picLocks noChangeAspect="1"/>
          </p:cNvPicPr>
          <p:nvPr/>
        </p:nvPicPr>
        <p:blipFill>
          <a:blip r:embed="rId9"/>
          <a:stretch>
            <a:fillRect/>
          </a:stretch>
        </p:blipFill>
        <p:spPr>
          <a:xfrm>
            <a:off x="754929" y="3964473"/>
            <a:ext cx="209215" cy="209215"/>
          </a:xfrm>
          <a:prstGeom prst="rect">
            <a:avLst/>
          </a:prstGeom>
        </p:spPr>
      </p:pic>
      <p:sp>
        <p:nvSpPr>
          <p:cNvPr id="60" name="Text 51"/>
          <p:cNvSpPr txBox="1"/>
          <p:nvPr/>
        </p:nvSpPr>
        <p:spPr>
          <a:xfrm>
            <a:off x="1234440" y="3749040"/>
            <a:ext cx="7269480" cy="6400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Treat the token like a password. </a:t>
            </a:r>
            <a:r>
              <a:rPr lang="en-US" sz="1200" dirty="0">
                <a:solidFill>
                  <a:srgbClr val="231F20"/>
                </a:solidFill>
                <a:latin typeface="Calibri" pitchFamily="34" charset="0"/>
                <a:ea typeface="Calibri" pitchFamily="34" charset="-122"/>
                <a:cs typeface="Calibri" pitchFamily="34" charset="-120"/>
              </a:rPr>
              <a:t>A classic token can be used instead of your password for Git over HTTPS and to authenticate to the GitHub API.</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WHY YOU NEED IT · HANDS-ON WORK</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Where GitHub fits in your data work</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5DDEA"/>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3</a:t>
            </a:r>
            <a:endParaRPr lang="en-US" sz="850" dirty="0"/>
          </a:p>
        </p:txBody>
      </p:sp>
      <p:sp>
        <p:nvSpPr>
          <p:cNvPr id="16" name="Shape 14"/>
          <p:cNvSpPr/>
          <p:nvPr/>
        </p:nvSpPr>
        <p:spPr>
          <a:xfrm>
            <a:off x="457200" y="1325880"/>
            <a:ext cx="3977640" cy="1371600"/>
          </a:xfrm>
          <a:prstGeom prst="roundRect">
            <a:avLst>
              <a:gd name="adj" fmla="val 5333"/>
            </a:avLst>
          </a:prstGeom>
          <a:solidFill>
            <a:srgbClr val="F4F8F5"/>
          </a:solidFill>
          <a:ln w="9525">
            <a:solidFill>
              <a:srgbClr val="D3E2D7"/>
            </a:solidFill>
            <a:prstDash val="solid"/>
          </a:ln>
        </p:spPr>
      </p:sp>
      <p:sp>
        <p:nvSpPr>
          <p:cNvPr id="17" name="Shape 15"/>
          <p:cNvSpPr/>
          <p:nvPr/>
        </p:nvSpPr>
        <p:spPr>
          <a:xfrm>
            <a:off x="685800" y="1581912"/>
            <a:ext cx="548640" cy="548640"/>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839419" y="1735531"/>
            <a:ext cx="241402" cy="241402"/>
          </a:xfrm>
          <a:prstGeom prst="rect">
            <a:avLst/>
          </a:prstGeom>
        </p:spPr>
      </p:pic>
      <p:sp>
        <p:nvSpPr>
          <p:cNvPr id="19" name="Text 16"/>
          <p:cNvSpPr txBox="1"/>
          <p:nvPr/>
        </p:nvSpPr>
        <p:spPr>
          <a:xfrm>
            <a:off x="1417320" y="15270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Data infrastructure</a:t>
            </a:r>
          </a:p>
        </p:txBody>
      </p:sp>
      <p:sp>
        <p:nvSpPr>
          <p:cNvPr id="20" name="Text 17"/>
          <p:cNvSpPr txBox="1"/>
          <p:nvPr/>
        </p:nvSpPr>
        <p:spPr>
          <a:xfrm>
            <a:off x="1417320" y="18745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Data access and governance; Cloud, GitHub and Colab working together.</a:t>
            </a:r>
          </a:p>
        </p:txBody>
      </p:sp>
      <p:sp>
        <p:nvSpPr>
          <p:cNvPr id="21" name="Shape 18"/>
          <p:cNvSpPr/>
          <p:nvPr/>
        </p:nvSpPr>
        <p:spPr>
          <a:xfrm>
            <a:off x="4709160" y="1325880"/>
            <a:ext cx="3977640" cy="1371600"/>
          </a:xfrm>
          <a:prstGeom prst="roundRect">
            <a:avLst>
              <a:gd name="adj" fmla="val 5333"/>
            </a:avLst>
          </a:prstGeom>
          <a:solidFill>
            <a:srgbClr val="F4F8F5"/>
          </a:solidFill>
          <a:ln w="9525">
            <a:solidFill>
              <a:srgbClr val="D3E2D7"/>
            </a:solidFill>
            <a:prstDash val="solid"/>
          </a:ln>
        </p:spPr>
      </p:sp>
      <p:sp>
        <p:nvSpPr>
          <p:cNvPr id="22" name="Shape 19"/>
          <p:cNvSpPr/>
          <p:nvPr/>
        </p:nvSpPr>
        <p:spPr>
          <a:xfrm>
            <a:off x="4937760" y="1581912"/>
            <a:ext cx="548640" cy="548640"/>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5091379" y="1735531"/>
            <a:ext cx="241402" cy="241402"/>
          </a:xfrm>
          <a:prstGeom prst="rect">
            <a:avLst/>
          </a:prstGeom>
        </p:spPr>
      </p:pic>
      <p:sp>
        <p:nvSpPr>
          <p:cNvPr id="24" name="Text 20"/>
          <p:cNvSpPr txBox="1"/>
          <p:nvPr/>
        </p:nvSpPr>
        <p:spPr>
          <a:xfrm>
            <a:off x="5669280" y="15270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Team projects</a:t>
            </a:r>
          </a:p>
        </p:txBody>
      </p:sp>
      <p:sp>
        <p:nvSpPr>
          <p:cNvPr id="25" name="Text 21"/>
          <p:cNvSpPr txBox="1"/>
          <p:nvPr/>
        </p:nvSpPr>
        <p:spPr>
          <a:xfrm>
            <a:off x="5669280" y="18745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Shared repositories for code, data and project deliverables.</a:t>
            </a:r>
          </a:p>
        </p:txBody>
      </p:sp>
      <p:sp>
        <p:nvSpPr>
          <p:cNvPr id="26" name="Shape 22"/>
          <p:cNvSpPr/>
          <p:nvPr/>
        </p:nvSpPr>
        <p:spPr>
          <a:xfrm>
            <a:off x="457200" y="2926080"/>
            <a:ext cx="3977640" cy="1371600"/>
          </a:xfrm>
          <a:prstGeom prst="roundRect">
            <a:avLst>
              <a:gd name="adj" fmla="val 5333"/>
            </a:avLst>
          </a:prstGeom>
          <a:solidFill>
            <a:srgbClr val="F4F8F5"/>
          </a:solidFill>
          <a:ln w="9525">
            <a:solidFill>
              <a:srgbClr val="D3E2D7"/>
            </a:solidFill>
            <a:prstDash val="solid"/>
          </a:ln>
        </p:spPr>
      </p:sp>
      <p:sp>
        <p:nvSpPr>
          <p:cNvPr id="27" name="Shape 23"/>
          <p:cNvSpPr/>
          <p:nvPr/>
        </p:nvSpPr>
        <p:spPr>
          <a:xfrm>
            <a:off x="685800" y="3182112"/>
            <a:ext cx="548640" cy="548640"/>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839419" y="3335731"/>
            <a:ext cx="241402" cy="241402"/>
          </a:xfrm>
          <a:prstGeom prst="rect">
            <a:avLst/>
          </a:prstGeom>
        </p:spPr>
      </p:pic>
      <p:sp>
        <p:nvSpPr>
          <p:cNvPr id="29" name="Text 24"/>
          <p:cNvSpPr txBox="1"/>
          <p:nvPr/>
        </p:nvSpPr>
        <p:spPr>
          <a:xfrm>
            <a:off x="1417320" y="31272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Hands-on notebooks</a:t>
            </a:r>
          </a:p>
        </p:txBody>
      </p:sp>
      <p:sp>
        <p:nvSpPr>
          <p:cNvPr id="30" name="Text 25"/>
          <p:cNvSpPr txBox="1"/>
          <p:nvPr/>
        </p:nvSpPr>
        <p:spPr>
          <a:xfrm>
            <a:off x="1417320" y="34747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Machine learning for GDP nowcasting; trade nowcasting with PortWatch.</a:t>
            </a:r>
          </a:p>
        </p:txBody>
      </p:sp>
      <p:sp>
        <p:nvSpPr>
          <p:cNvPr id="31" name="Shape 26"/>
          <p:cNvSpPr/>
          <p:nvPr/>
        </p:nvSpPr>
        <p:spPr>
          <a:xfrm>
            <a:off x="4709160" y="2926080"/>
            <a:ext cx="3977640" cy="1371600"/>
          </a:xfrm>
          <a:prstGeom prst="roundRect">
            <a:avLst>
              <a:gd name="adj" fmla="val 5333"/>
            </a:avLst>
          </a:prstGeom>
          <a:solidFill>
            <a:srgbClr val="F4F8F5"/>
          </a:solidFill>
          <a:ln w="9525">
            <a:solidFill>
              <a:srgbClr val="D3E2D7"/>
            </a:solidFill>
            <a:prstDash val="solid"/>
          </a:ln>
        </p:spPr>
      </p:sp>
      <p:sp>
        <p:nvSpPr>
          <p:cNvPr id="32" name="Shape 27"/>
          <p:cNvSpPr/>
          <p:nvPr/>
        </p:nvSpPr>
        <p:spPr>
          <a:xfrm>
            <a:off x="4937760" y="3182112"/>
            <a:ext cx="548640" cy="548640"/>
          </a:xfrm>
          <a:prstGeom prst="ellipse">
            <a:avLst/>
          </a:prstGeom>
          <a:solidFill>
            <a:srgbClr val="B83B2E">
              <a:alpha val="22000"/>
            </a:srgbClr>
          </a:solidFill>
          <a:ln/>
        </p:spPr>
      </p:sp>
      <p:pic>
        <p:nvPicPr>
          <p:cNvPr id="33" name="Image 3" descr="preencoded.png"/>
          <p:cNvPicPr>
            <a:picLocks noChangeAspect="1"/>
          </p:cNvPicPr>
          <p:nvPr/>
        </p:nvPicPr>
        <p:blipFill>
          <a:blip r:embed="rId6"/>
          <a:stretch>
            <a:fillRect/>
          </a:stretch>
        </p:blipFill>
        <p:spPr>
          <a:xfrm>
            <a:off x="5091379" y="3335731"/>
            <a:ext cx="241402" cy="241402"/>
          </a:xfrm>
          <a:prstGeom prst="rect">
            <a:avLst/>
          </a:prstGeom>
        </p:spPr>
      </p:pic>
      <p:sp>
        <p:nvSpPr>
          <p:cNvPr id="34" name="Text 28"/>
          <p:cNvSpPr txBox="1"/>
          <p:nvPr/>
        </p:nvSpPr>
        <p:spPr>
          <a:xfrm>
            <a:off x="5669280" y="31272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Sharing results</a:t>
            </a:r>
          </a:p>
        </p:txBody>
      </p:sp>
      <p:sp>
        <p:nvSpPr>
          <p:cNvPr id="35" name="Text 29"/>
          <p:cNvSpPr txBox="1"/>
          <p:nvPr/>
        </p:nvSpPr>
        <p:spPr>
          <a:xfrm>
            <a:off x="5669280" y="34747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Version, review and publish your team’s code and results.</a:t>
            </a:r>
          </a:p>
        </p:txBody>
      </p:sp>
      <p:sp>
        <p:nvSpPr>
          <p:cNvPr id="36" name="Text 30"/>
          <p:cNvSpPr txBox="1"/>
          <p:nvPr/>
        </p:nvSpPr>
        <p:spPr>
          <a:xfrm>
            <a:off x="457200" y="4544568"/>
            <a:ext cx="8229600" cy="201168"/>
          </a:xfrm>
          <a:prstGeom prst="rect">
            <a:avLst/>
          </a:prstGeom>
          <a:noFill/>
          <a:ln/>
        </p:spPr>
        <p:txBody>
          <a:bodyPr wrap="square" lIns="0" tIns="0" rIns="0" bIns="0" rtlCol="0" anchor="ctr"/>
          <a:lstStyle/>
          <a:p>
            <a:pPr marL="0" indent="0">
              <a:buNone/>
            </a:pPr>
            <a:r>
              <a:rPr lang="en-US" sz="900" dirty="0">
                <a:solidFill>
                  <a:srgbClr val="5A6660"/>
                </a:solidFill>
                <a:latin typeface="Calibri" pitchFamily="34" charset="0"/>
                <a:ea typeface="Calibri" pitchFamily="34" charset="-122"/>
                <a:cs typeface="Calibri" pitchFamily="34" charset="-120"/>
              </a:rPr>
              <a:t>The token authenticates your scripts and notebooks to the GitHub API.</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09728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BEFORE YOU START · NO GITHUB ACCOUNT YET?</a:t>
            </a:r>
          </a:p>
        </p:txBody>
      </p:sp>
      <p:sp>
        <p:nvSpPr>
          <p:cNvPr id="4" name="Text 2"/>
          <p:cNvSpPr txBox="1"/>
          <p:nvPr/>
        </p:nvSpPr>
        <p:spPr>
          <a:xfrm>
            <a:off x="548640" y="1463040"/>
            <a:ext cx="6035040" cy="128016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Create a GitHub account with your Gmail address</a:t>
            </a:r>
          </a:p>
        </p:txBody>
      </p:sp>
      <p:sp>
        <p:nvSpPr>
          <p:cNvPr id="5" name="Text 5"/>
          <p:cNvSpPr txBox="1"/>
          <p:nvPr/>
        </p:nvSpPr>
        <p:spPr>
          <a:xfrm>
            <a:off x="548640" y="2880360"/>
            <a:ext cx="5852160" cy="73152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About 5 minutes. Keep your Gmail inbox open: GitHub sends you a code to confirm the address.</a:t>
            </a:r>
          </a:p>
        </p:txBody>
      </p:sp>
      <p:sp>
        <p:nvSpPr>
          <p:cNvPr id="6" name="Shape 6"/>
          <p:cNvSpPr/>
          <p:nvPr/>
        </p:nvSpPr>
        <p:spPr>
          <a:xfrm>
            <a:off x="6812280" y="1600200"/>
            <a:ext cx="1737360" cy="1737360"/>
          </a:xfrm>
          <a:prstGeom prst="ellipse">
            <a:avLst/>
          </a:prstGeom>
          <a:solidFill>
            <a:srgbClr val="FFFFFF">
              <a:alpha val="90000"/>
            </a:srgbClr>
          </a:solidFill>
          <a:ln>
            <a:noFill/>
          </a:ln>
        </p:spPr>
      </p:sp>
      <p:pic>
        <p:nvPicPr>
          <p:cNvPr id="7" name="Icon 7" descr="Add user icon"/>
          <p:cNvPicPr>
            <a:picLocks noChangeAspect="1"/>
          </p:cNvPicPr>
          <p:nvPr/>
        </p:nvPicPr>
        <p:blipFill>
          <a:blip r:embed="rId4"/>
          <a:stretch>
            <a:fillRect/>
          </a:stretch>
        </p:blipFill>
        <p:spPr>
          <a:xfrm>
            <a:off x="7251192" y="2039112"/>
            <a:ext cx="859536" cy="859536"/>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00 · CREATE AN ACCOUNT</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ways to sign up with Gmail</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5</a:t>
            </a:r>
            <a:endParaRPr lang="en-US" sz="850" dirty="0"/>
          </a:p>
        </p:txBody>
      </p:sp>
      <p:sp>
        <p:nvSpPr>
          <p:cNvPr id="16" name="Shape 16"/>
          <p:cNvSpPr/>
          <p:nvPr/>
        </p:nvSpPr>
        <p:spPr>
          <a:xfrm>
            <a:off x="457200" y="1280160"/>
            <a:ext cx="3977640" cy="2697480"/>
          </a:xfrm>
          <a:prstGeom prst="roundRect">
            <a:avLst>
              <a:gd name="adj" fmla="val 5000"/>
            </a:avLst>
          </a:prstGeom>
          <a:solidFill>
            <a:srgbClr val="F4F8F5"/>
          </a:solidFill>
          <a:ln w="19050">
            <a:solidFill>
              <a:srgbClr val="2C9045"/>
            </a:solidFill>
          </a:ln>
        </p:spPr>
      </p:sp>
      <p:sp>
        <p:nvSpPr>
          <p:cNvPr id="17" name="Shape 17"/>
          <p:cNvSpPr/>
          <p:nvPr/>
        </p:nvSpPr>
        <p:spPr>
          <a:xfrm>
            <a:off x="685800" y="1508760"/>
            <a:ext cx="548640" cy="548640"/>
          </a:xfrm>
          <a:prstGeom prst="ellipse">
            <a:avLst/>
          </a:prstGeom>
          <a:solidFill>
            <a:srgbClr val="0E5A2E">
              <a:alpha val="18000"/>
            </a:srgbClr>
          </a:solidFill>
          <a:ln>
            <a:noFill/>
          </a:ln>
        </p:spPr>
      </p:sp>
      <p:pic>
        <p:nvPicPr>
          <p:cNvPr id="18" name="Icon 18"/>
          <p:cNvPicPr>
            <a:picLocks noChangeAspect="1"/>
          </p:cNvPicPr>
          <p:nvPr/>
        </p:nvPicPr>
        <p:blipFill>
          <a:blip r:embed="rId3"/>
          <a:stretch>
            <a:fillRect/>
          </a:stretch>
        </p:blipFill>
        <p:spPr>
          <a:xfrm>
            <a:off x="836676" y="1659636"/>
            <a:ext cx="246888" cy="246888"/>
          </a:xfrm>
          <a:prstGeom prst="rect">
            <a:avLst/>
          </a:prstGeom>
        </p:spPr>
      </p:pic>
      <p:sp>
        <p:nvSpPr>
          <p:cNvPr id="19" name="Shape 19"/>
          <p:cNvSpPr/>
          <p:nvPr/>
        </p:nvSpPr>
        <p:spPr>
          <a:xfrm>
            <a:off x="2331720" y="1554480"/>
            <a:ext cx="1874520" cy="274320"/>
          </a:xfrm>
          <a:prstGeom prst="roundRect">
            <a:avLst>
              <a:gd name="adj" fmla="val 50000"/>
            </a:avLst>
          </a:prstGeom>
          <a:solidFill>
            <a:srgbClr val="F5C242"/>
          </a:solidFill>
          <a:ln>
            <a:noFill/>
          </a:ln>
        </p:spPr>
      </p:sp>
      <p:sp>
        <p:nvSpPr>
          <p:cNvPr id="20" name="Text 20"/>
          <p:cNvSpPr txBox="1"/>
          <p:nvPr/>
        </p:nvSpPr>
        <p:spPr>
          <a:xfrm>
            <a:off x="2331720" y="1554480"/>
            <a:ext cx="1874519" cy="274320"/>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FASTEST WITH GMAIL</a:t>
            </a:r>
          </a:p>
        </p:txBody>
      </p:sp>
      <p:sp>
        <p:nvSpPr>
          <p:cNvPr id="21" name="Text 21"/>
          <p:cNvSpPr txBox="1"/>
          <p:nvPr/>
        </p:nvSpPr>
        <p:spPr>
          <a:xfrm>
            <a:off x="1371600" y="1508760"/>
            <a:ext cx="914400" cy="548640"/>
          </a:xfrm>
          <a:prstGeom prst="rect">
            <a:avLst/>
          </a:prstGeom>
          <a:noFill/>
          <a:ln/>
        </p:spPr>
        <p:txBody>
          <a:bodyPr wrap="square" lIns="0" tIns="0" rIns="0" bIns="0" rtlCol="0" anchor="ctr"/>
          <a:lstStyle/>
          <a:p>
            <a:pPr marL="0" indent="0">
              <a:buNone/>
            </a:pPr>
            <a:r>
              <a:rPr lang="en-US" sz="2200" b="1" dirty="0">
                <a:solidFill>
                  <a:srgbClr val="2C9045"/>
                </a:solidFill>
                <a:latin typeface="Calibri" pitchFamily="34" charset="0"/>
                <a:ea typeface="Calibri" pitchFamily="34" charset="-122"/>
                <a:cs typeface="Calibri" pitchFamily="34" charset="-120"/>
              </a:rPr>
              <a:t>A</a:t>
            </a:r>
          </a:p>
        </p:txBody>
      </p:sp>
      <p:sp>
        <p:nvSpPr>
          <p:cNvPr id="22" name="Text 22"/>
          <p:cNvSpPr txBox="1"/>
          <p:nvPr/>
        </p:nvSpPr>
        <p:spPr>
          <a:xfrm>
            <a:off x="685800" y="2176272"/>
            <a:ext cx="3520439" cy="329184"/>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Continue with Google</a:t>
            </a:r>
          </a:p>
        </p:txBody>
      </p:sp>
      <p:sp>
        <p:nvSpPr>
          <p:cNvPr id="23" name="Text 23"/>
          <p:cNvSpPr txBox="1"/>
          <p:nvPr/>
        </p:nvSpPr>
        <p:spPr>
          <a:xfrm>
            <a:off x="685800" y="2523744"/>
            <a:ext cx="3520439" cy="4572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Use your Gmail account to sign in to GitHub. No separate GitHub password to create.</a:t>
            </a:r>
          </a:p>
        </p:txBody>
      </p:sp>
      <p:sp>
        <p:nvSpPr>
          <p:cNvPr id="24" name="Shape 24"/>
          <p:cNvSpPr/>
          <p:nvPr/>
        </p:nvSpPr>
        <p:spPr>
          <a:xfrm>
            <a:off x="685800" y="3063240"/>
            <a:ext cx="219456" cy="219456"/>
          </a:xfrm>
          <a:prstGeom prst="ellipse">
            <a:avLst/>
          </a:prstGeom>
          <a:solidFill>
            <a:srgbClr val="E8F4EB"/>
          </a:solidFill>
          <a:ln w="9525">
            <a:solidFill>
              <a:srgbClr val="D3E2D7"/>
            </a:solidFill>
          </a:ln>
        </p:spPr>
      </p:sp>
      <p:sp>
        <p:nvSpPr>
          <p:cNvPr id="25" name="Text 25"/>
          <p:cNvSpPr txBox="1"/>
          <p:nvPr/>
        </p:nvSpPr>
        <p:spPr>
          <a:xfrm>
            <a:off x="685800" y="3063239"/>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p>
        </p:txBody>
      </p:sp>
      <p:sp>
        <p:nvSpPr>
          <p:cNvPr id="26" name="Text 26"/>
          <p:cNvSpPr txBox="1"/>
          <p:nvPr/>
        </p:nvSpPr>
        <p:spPr>
          <a:xfrm>
            <a:off x="1005840" y="3044951"/>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Open github.com/signup</a:t>
            </a:r>
          </a:p>
        </p:txBody>
      </p:sp>
      <p:sp>
        <p:nvSpPr>
          <p:cNvPr id="27" name="Shape 27"/>
          <p:cNvSpPr/>
          <p:nvPr/>
        </p:nvSpPr>
        <p:spPr>
          <a:xfrm>
            <a:off x="685800" y="3346704"/>
            <a:ext cx="219456" cy="219456"/>
          </a:xfrm>
          <a:prstGeom prst="ellipse">
            <a:avLst/>
          </a:prstGeom>
          <a:solidFill>
            <a:srgbClr val="E8F4EB"/>
          </a:solidFill>
          <a:ln w="9525">
            <a:solidFill>
              <a:srgbClr val="D3E2D7"/>
            </a:solidFill>
          </a:ln>
        </p:spPr>
      </p:sp>
      <p:sp>
        <p:nvSpPr>
          <p:cNvPr id="28" name="Text 28"/>
          <p:cNvSpPr txBox="1"/>
          <p:nvPr/>
        </p:nvSpPr>
        <p:spPr>
          <a:xfrm>
            <a:off x="685800" y="3346703"/>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p>
        </p:txBody>
      </p:sp>
      <p:sp>
        <p:nvSpPr>
          <p:cNvPr id="29" name="Text 29"/>
          <p:cNvSpPr txBox="1"/>
          <p:nvPr/>
        </p:nvSpPr>
        <p:spPr>
          <a:xfrm>
            <a:off x="1005840" y="3328415"/>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Click “Continue with Google”</a:t>
            </a:r>
          </a:p>
        </p:txBody>
      </p:sp>
      <p:sp>
        <p:nvSpPr>
          <p:cNvPr id="30" name="Shape 30"/>
          <p:cNvSpPr/>
          <p:nvPr/>
        </p:nvSpPr>
        <p:spPr>
          <a:xfrm>
            <a:off x="685800" y="3630168"/>
            <a:ext cx="219456" cy="219456"/>
          </a:xfrm>
          <a:prstGeom prst="ellipse">
            <a:avLst/>
          </a:prstGeom>
          <a:solidFill>
            <a:srgbClr val="E8F4EB"/>
          </a:solidFill>
          <a:ln w="9525">
            <a:solidFill>
              <a:srgbClr val="D3E2D7"/>
            </a:solidFill>
          </a:ln>
        </p:spPr>
      </p:sp>
      <p:sp>
        <p:nvSpPr>
          <p:cNvPr id="31" name="Text 31"/>
          <p:cNvSpPr txBox="1"/>
          <p:nvPr/>
        </p:nvSpPr>
        <p:spPr>
          <a:xfrm>
            <a:off x="685800" y="3630168"/>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p>
        </p:txBody>
      </p:sp>
      <p:sp>
        <p:nvSpPr>
          <p:cNvPr id="32" name="Text 32"/>
          <p:cNvSpPr txBox="1"/>
          <p:nvPr/>
        </p:nvSpPr>
        <p:spPr>
          <a:xfrm>
            <a:off x="1005840" y="3611879"/>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Pick your Gmail account, then follow the prompts</a:t>
            </a:r>
          </a:p>
        </p:txBody>
      </p:sp>
      <p:sp>
        <p:nvSpPr>
          <p:cNvPr id="33" name="Shape 33"/>
          <p:cNvSpPr/>
          <p:nvPr/>
        </p:nvSpPr>
        <p:spPr>
          <a:xfrm>
            <a:off x="4709160" y="1280160"/>
            <a:ext cx="3977640" cy="2697480"/>
          </a:xfrm>
          <a:prstGeom prst="roundRect">
            <a:avLst>
              <a:gd name="adj" fmla="val 5000"/>
            </a:avLst>
          </a:prstGeom>
          <a:solidFill>
            <a:srgbClr val="F4F8F5"/>
          </a:solidFill>
          <a:ln w="9525">
            <a:solidFill>
              <a:srgbClr val="D3E2D7"/>
            </a:solidFill>
          </a:ln>
        </p:spPr>
      </p:sp>
      <p:sp>
        <p:nvSpPr>
          <p:cNvPr id="34" name="Shape 34"/>
          <p:cNvSpPr/>
          <p:nvPr/>
        </p:nvSpPr>
        <p:spPr>
          <a:xfrm>
            <a:off x="4937760" y="1508760"/>
            <a:ext cx="548640" cy="548640"/>
          </a:xfrm>
          <a:prstGeom prst="ellipse">
            <a:avLst/>
          </a:prstGeom>
          <a:solidFill>
            <a:srgbClr val="0E5A2E">
              <a:alpha val="18000"/>
            </a:srgbClr>
          </a:solidFill>
          <a:ln>
            <a:noFill/>
          </a:ln>
        </p:spPr>
      </p:sp>
      <p:pic>
        <p:nvPicPr>
          <p:cNvPr id="35" name="Icon 35"/>
          <p:cNvPicPr>
            <a:picLocks noChangeAspect="1"/>
          </p:cNvPicPr>
          <p:nvPr/>
        </p:nvPicPr>
        <p:blipFill>
          <a:blip r:embed="rId4"/>
          <a:stretch>
            <a:fillRect/>
          </a:stretch>
        </p:blipFill>
        <p:spPr>
          <a:xfrm>
            <a:off x="5088636" y="1659636"/>
            <a:ext cx="246888" cy="246888"/>
          </a:xfrm>
          <a:prstGeom prst="rect">
            <a:avLst/>
          </a:prstGeom>
        </p:spPr>
      </p:pic>
      <p:sp>
        <p:nvSpPr>
          <p:cNvPr id="36" name="Text 36"/>
          <p:cNvSpPr txBox="1"/>
          <p:nvPr/>
        </p:nvSpPr>
        <p:spPr>
          <a:xfrm>
            <a:off x="5623560" y="1508760"/>
            <a:ext cx="2834640" cy="548640"/>
          </a:xfrm>
          <a:prstGeom prst="rect">
            <a:avLst/>
          </a:prstGeom>
          <a:noFill/>
          <a:ln/>
        </p:spPr>
        <p:txBody>
          <a:bodyPr wrap="square" lIns="0" tIns="0" rIns="0" bIns="0" rtlCol="0" anchor="ctr"/>
          <a:lstStyle/>
          <a:p>
            <a:pPr marL="0" indent="0">
              <a:buNone/>
            </a:pPr>
            <a:r>
              <a:rPr lang="en-US" sz="2200" b="1" dirty="0">
                <a:solidFill>
                  <a:srgbClr val="2C9045"/>
                </a:solidFill>
                <a:latin typeface="Calibri" pitchFamily="34" charset="0"/>
                <a:ea typeface="Calibri" pitchFamily="34" charset="-122"/>
                <a:cs typeface="Calibri" pitchFamily="34" charset="-120"/>
              </a:rPr>
              <a:t>B</a:t>
            </a:r>
          </a:p>
        </p:txBody>
      </p:sp>
      <p:sp>
        <p:nvSpPr>
          <p:cNvPr id="37" name="Text 37"/>
          <p:cNvSpPr txBox="1"/>
          <p:nvPr/>
        </p:nvSpPr>
        <p:spPr>
          <a:xfrm>
            <a:off x="4937760" y="2176272"/>
            <a:ext cx="3520439" cy="329184"/>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Sign up with your Gmail address</a:t>
            </a:r>
          </a:p>
        </p:txBody>
      </p:sp>
      <p:sp>
        <p:nvSpPr>
          <p:cNvPr id="38" name="Text 38"/>
          <p:cNvSpPr txBox="1"/>
          <p:nvPr/>
        </p:nvSpPr>
        <p:spPr>
          <a:xfrm>
            <a:off x="4937760" y="2523744"/>
            <a:ext cx="3520439" cy="4572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Create a classic GitHub login: your Gmail address plus a new password.</a:t>
            </a:r>
          </a:p>
        </p:txBody>
      </p:sp>
      <p:sp>
        <p:nvSpPr>
          <p:cNvPr id="39" name="Shape 39"/>
          <p:cNvSpPr/>
          <p:nvPr/>
        </p:nvSpPr>
        <p:spPr>
          <a:xfrm>
            <a:off x="4937760" y="3063240"/>
            <a:ext cx="219456" cy="219456"/>
          </a:xfrm>
          <a:prstGeom prst="ellipse">
            <a:avLst/>
          </a:prstGeom>
          <a:solidFill>
            <a:srgbClr val="E8F4EB"/>
          </a:solidFill>
          <a:ln w="9525">
            <a:solidFill>
              <a:srgbClr val="D3E2D7"/>
            </a:solidFill>
          </a:ln>
        </p:spPr>
      </p:sp>
      <p:sp>
        <p:nvSpPr>
          <p:cNvPr id="40" name="Text 40"/>
          <p:cNvSpPr txBox="1"/>
          <p:nvPr/>
        </p:nvSpPr>
        <p:spPr>
          <a:xfrm>
            <a:off x="4937760" y="3063239"/>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p>
        </p:txBody>
      </p:sp>
      <p:sp>
        <p:nvSpPr>
          <p:cNvPr id="41" name="Text 41"/>
          <p:cNvSpPr txBox="1"/>
          <p:nvPr/>
        </p:nvSpPr>
        <p:spPr>
          <a:xfrm>
            <a:off x="5257800" y="3044951"/>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Open github.com/signup</a:t>
            </a:r>
          </a:p>
        </p:txBody>
      </p:sp>
      <p:sp>
        <p:nvSpPr>
          <p:cNvPr id="42" name="Shape 42"/>
          <p:cNvSpPr/>
          <p:nvPr/>
        </p:nvSpPr>
        <p:spPr>
          <a:xfrm>
            <a:off x="4937760" y="3346704"/>
            <a:ext cx="219456" cy="219456"/>
          </a:xfrm>
          <a:prstGeom prst="ellipse">
            <a:avLst/>
          </a:prstGeom>
          <a:solidFill>
            <a:srgbClr val="E8F4EB"/>
          </a:solidFill>
          <a:ln w="9525">
            <a:solidFill>
              <a:srgbClr val="D3E2D7"/>
            </a:solidFill>
          </a:ln>
        </p:spPr>
      </p:sp>
      <p:sp>
        <p:nvSpPr>
          <p:cNvPr id="43" name="Text 43"/>
          <p:cNvSpPr txBox="1"/>
          <p:nvPr/>
        </p:nvSpPr>
        <p:spPr>
          <a:xfrm>
            <a:off x="4937760" y="3346703"/>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p>
        </p:txBody>
      </p:sp>
      <p:sp>
        <p:nvSpPr>
          <p:cNvPr id="44" name="Text 44"/>
          <p:cNvSpPr txBox="1"/>
          <p:nvPr/>
        </p:nvSpPr>
        <p:spPr>
          <a:xfrm>
            <a:off x="5257800" y="3328415"/>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Enter Gmail address, password, username</a:t>
            </a:r>
          </a:p>
        </p:txBody>
      </p:sp>
      <p:sp>
        <p:nvSpPr>
          <p:cNvPr id="45" name="Shape 45"/>
          <p:cNvSpPr/>
          <p:nvPr/>
        </p:nvSpPr>
        <p:spPr>
          <a:xfrm>
            <a:off x="4937760" y="3630168"/>
            <a:ext cx="219456" cy="219456"/>
          </a:xfrm>
          <a:prstGeom prst="ellipse">
            <a:avLst/>
          </a:prstGeom>
          <a:solidFill>
            <a:srgbClr val="E8F4EB"/>
          </a:solidFill>
          <a:ln w="9525">
            <a:solidFill>
              <a:srgbClr val="D3E2D7"/>
            </a:solidFill>
          </a:ln>
        </p:spPr>
      </p:sp>
      <p:sp>
        <p:nvSpPr>
          <p:cNvPr id="46" name="Text 46"/>
          <p:cNvSpPr txBox="1"/>
          <p:nvPr/>
        </p:nvSpPr>
        <p:spPr>
          <a:xfrm>
            <a:off x="4937760" y="3630168"/>
            <a:ext cx="219456" cy="219456"/>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p>
        </p:txBody>
      </p:sp>
      <p:sp>
        <p:nvSpPr>
          <p:cNvPr id="47" name="Text 47"/>
          <p:cNvSpPr txBox="1"/>
          <p:nvPr/>
        </p:nvSpPr>
        <p:spPr>
          <a:xfrm>
            <a:off x="5257800" y="3611879"/>
            <a:ext cx="3200399" cy="25603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Confirm with the code sent to Gmail</a:t>
            </a:r>
          </a:p>
        </p:txBody>
      </p:sp>
      <p:sp>
        <p:nvSpPr>
          <p:cNvPr id="48" name="Shape 48"/>
          <p:cNvSpPr/>
          <p:nvPr/>
        </p:nvSpPr>
        <p:spPr>
          <a:xfrm>
            <a:off x="457200" y="4114800"/>
            <a:ext cx="8229600" cy="457200"/>
          </a:xfrm>
          <a:prstGeom prst="roundRect">
            <a:avLst>
              <a:gd name="adj" fmla="val 10000"/>
            </a:avLst>
          </a:prstGeom>
          <a:solidFill>
            <a:srgbClr val="D49A00">
              <a:alpha val="13000"/>
            </a:srgbClr>
          </a:solidFill>
          <a:ln w="12700">
            <a:solidFill>
              <a:srgbClr val="D49A00"/>
            </a:solidFill>
          </a:ln>
        </p:spPr>
      </p:sp>
      <p:pic>
        <p:nvPicPr>
          <p:cNvPr id="49" name="Icon 49"/>
          <p:cNvPicPr>
            <a:picLocks noChangeAspect="1"/>
          </p:cNvPicPr>
          <p:nvPr/>
        </p:nvPicPr>
        <p:blipFill>
          <a:blip r:embed="rId5"/>
          <a:stretch>
            <a:fillRect/>
          </a:stretch>
        </p:blipFill>
        <p:spPr>
          <a:xfrm>
            <a:off x="621792" y="4206240"/>
            <a:ext cx="274320" cy="274320"/>
          </a:xfrm>
          <a:prstGeom prst="rect">
            <a:avLst/>
          </a:prstGeom>
        </p:spPr>
      </p:pic>
      <p:sp>
        <p:nvSpPr>
          <p:cNvPr id="50" name="Text 50"/>
          <p:cNvSpPr txBox="1"/>
          <p:nvPr/>
        </p:nvSpPr>
        <p:spPr>
          <a:xfrm>
            <a:off x="1024128" y="4114800"/>
            <a:ext cx="7498079" cy="45720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Either way, use an address you check regularly: without a verified email you cannot create repositories.</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00 · CREATE AN ACCOUNT</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Fill in the sign-up form</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6</a:t>
            </a:r>
            <a:endParaRPr lang="en-US" sz="850" dirty="0"/>
          </a:p>
        </p:txBody>
      </p:sp>
      <p:sp>
        <p:nvSpPr>
          <p:cNvPr id="16" name="Shape 16"/>
          <p:cNvSpPr/>
          <p:nvPr/>
        </p:nvSpPr>
        <p:spPr>
          <a:xfrm>
            <a:off x="457200" y="1261872"/>
            <a:ext cx="329184" cy="329184"/>
          </a:xfrm>
          <a:prstGeom prst="ellipse">
            <a:avLst/>
          </a:prstGeom>
          <a:solidFill>
            <a:srgbClr val="E8F4EB"/>
          </a:solidFill>
          <a:ln w="9525">
            <a:solidFill>
              <a:srgbClr val="D3E2D7"/>
            </a:solidFill>
          </a:ln>
        </p:spPr>
      </p:sp>
      <p:sp>
        <p:nvSpPr>
          <p:cNvPr id="17" name="Text 17"/>
          <p:cNvSpPr txBox="1"/>
          <p:nvPr/>
        </p:nvSpPr>
        <p:spPr>
          <a:xfrm>
            <a:off x="457200" y="1261872"/>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p>
        </p:txBody>
      </p:sp>
      <p:sp>
        <p:nvSpPr>
          <p:cNvPr id="18" name="Text 18"/>
          <p:cNvSpPr txBox="1"/>
          <p:nvPr/>
        </p:nvSpPr>
        <p:spPr>
          <a:xfrm>
            <a:off x="914400" y="1234439"/>
            <a:ext cx="3611880" cy="60350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Go to github.com/signup</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Or click Sign up on github.com.</a:t>
            </a:r>
          </a:p>
        </p:txBody>
      </p:sp>
      <p:sp>
        <p:nvSpPr>
          <p:cNvPr id="19" name="Shape 19"/>
          <p:cNvSpPr/>
          <p:nvPr/>
        </p:nvSpPr>
        <p:spPr>
          <a:xfrm>
            <a:off x="457200" y="1883664"/>
            <a:ext cx="329184" cy="329184"/>
          </a:xfrm>
          <a:prstGeom prst="ellipse">
            <a:avLst/>
          </a:prstGeom>
          <a:solidFill>
            <a:srgbClr val="E8F4EB"/>
          </a:solidFill>
          <a:ln w="9525">
            <a:solidFill>
              <a:srgbClr val="D3E2D7"/>
            </a:solidFill>
          </a:ln>
        </p:spPr>
      </p:sp>
      <p:sp>
        <p:nvSpPr>
          <p:cNvPr id="20" name="Text 20"/>
          <p:cNvSpPr txBox="1"/>
          <p:nvPr/>
        </p:nvSpPr>
        <p:spPr>
          <a:xfrm>
            <a:off x="457200" y="188366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p>
        </p:txBody>
      </p:sp>
      <p:sp>
        <p:nvSpPr>
          <p:cNvPr id="21" name="Text 21"/>
          <p:cNvSpPr txBox="1"/>
          <p:nvPr/>
        </p:nvSpPr>
        <p:spPr>
          <a:xfrm>
            <a:off x="914400" y="1856232"/>
            <a:ext cx="3611880" cy="60350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Email</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Your Gmail address, e.g. firstname.lastname@gmail.com.</a:t>
            </a:r>
          </a:p>
        </p:txBody>
      </p:sp>
      <p:sp>
        <p:nvSpPr>
          <p:cNvPr id="22" name="Shape 22"/>
          <p:cNvSpPr/>
          <p:nvPr/>
        </p:nvSpPr>
        <p:spPr>
          <a:xfrm>
            <a:off x="457200" y="2505456"/>
            <a:ext cx="329184" cy="329184"/>
          </a:xfrm>
          <a:prstGeom prst="ellipse">
            <a:avLst/>
          </a:prstGeom>
          <a:solidFill>
            <a:srgbClr val="E8F4EB"/>
          </a:solidFill>
          <a:ln w="9525">
            <a:solidFill>
              <a:srgbClr val="D3E2D7"/>
            </a:solidFill>
          </a:ln>
        </p:spPr>
      </p:sp>
      <p:sp>
        <p:nvSpPr>
          <p:cNvPr id="23" name="Text 23"/>
          <p:cNvSpPr txBox="1"/>
          <p:nvPr/>
        </p:nvSpPr>
        <p:spPr>
          <a:xfrm>
            <a:off x="457200" y="250545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p>
        </p:txBody>
      </p:sp>
      <p:sp>
        <p:nvSpPr>
          <p:cNvPr id="24" name="Text 24"/>
          <p:cNvSpPr txBox="1"/>
          <p:nvPr/>
        </p:nvSpPr>
        <p:spPr>
          <a:xfrm>
            <a:off x="914400" y="2478024"/>
            <a:ext cx="3611880" cy="60350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Password</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At least 15 characters, or at least 8 with a number and a lowercase letter.</a:t>
            </a:r>
          </a:p>
        </p:txBody>
      </p:sp>
      <p:sp>
        <p:nvSpPr>
          <p:cNvPr id="25" name="Shape 25"/>
          <p:cNvSpPr/>
          <p:nvPr/>
        </p:nvSpPr>
        <p:spPr>
          <a:xfrm>
            <a:off x="457200" y="3127248"/>
            <a:ext cx="329184" cy="329184"/>
          </a:xfrm>
          <a:prstGeom prst="ellipse">
            <a:avLst/>
          </a:prstGeom>
          <a:solidFill>
            <a:srgbClr val="E8F4EB"/>
          </a:solidFill>
          <a:ln w="9525">
            <a:solidFill>
              <a:srgbClr val="D3E2D7"/>
            </a:solidFill>
          </a:ln>
        </p:spPr>
      </p:sp>
      <p:sp>
        <p:nvSpPr>
          <p:cNvPr id="26" name="Text 26"/>
          <p:cNvSpPr txBox="1"/>
          <p:nvPr/>
        </p:nvSpPr>
        <p:spPr>
          <a:xfrm>
            <a:off x="457200" y="3127248"/>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4</a:t>
            </a:r>
          </a:p>
        </p:txBody>
      </p:sp>
      <p:sp>
        <p:nvSpPr>
          <p:cNvPr id="27" name="Text 27"/>
          <p:cNvSpPr txBox="1"/>
          <p:nvPr/>
        </p:nvSpPr>
        <p:spPr>
          <a:xfrm>
            <a:off x="914400" y="3099816"/>
            <a:ext cx="3611880" cy="60350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Username</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Letters, numbers and single hyphens. It appears in your URLs: keep it professional.</a:t>
            </a:r>
          </a:p>
        </p:txBody>
      </p:sp>
      <p:sp>
        <p:nvSpPr>
          <p:cNvPr id="28" name="Shape 28"/>
          <p:cNvSpPr/>
          <p:nvPr/>
        </p:nvSpPr>
        <p:spPr>
          <a:xfrm>
            <a:off x="457200" y="3749040"/>
            <a:ext cx="329184" cy="329184"/>
          </a:xfrm>
          <a:prstGeom prst="ellipse">
            <a:avLst/>
          </a:prstGeom>
          <a:solidFill>
            <a:srgbClr val="E8F4EB"/>
          </a:solidFill>
          <a:ln w="9525">
            <a:solidFill>
              <a:srgbClr val="D3E2D7"/>
            </a:solidFill>
          </a:ln>
        </p:spPr>
      </p:sp>
      <p:sp>
        <p:nvSpPr>
          <p:cNvPr id="29" name="Text 29"/>
          <p:cNvSpPr txBox="1"/>
          <p:nvPr/>
        </p:nvSpPr>
        <p:spPr>
          <a:xfrm>
            <a:off x="457200" y="3749039"/>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5</a:t>
            </a:r>
          </a:p>
        </p:txBody>
      </p:sp>
      <p:sp>
        <p:nvSpPr>
          <p:cNvPr id="30" name="Text 30"/>
          <p:cNvSpPr txBox="1"/>
          <p:nvPr/>
        </p:nvSpPr>
        <p:spPr>
          <a:xfrm>
            <a:off x="914400" y="3721607"/>
            <a:ext cx="3611880" cy="60350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Country/Region</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Select it, then click Continue.</a:t>
            </a:r>
          </a:p>
        </p:txBody>
      </p:sp>
      <p:sp>
        <p:nvSpPr>
          <p:cNvPr id="31" name="Shape 31"/>
          <p:cNvSpPr/>
          <p:nvPr/>
        </p:nvSpPr>
        <p:spPr>
          <a:xfrm>
            <a:off x="4892040" y="1188720"/>
            <a:ext cx="3794760" cy="3154680"/>
          </a:xfrm>
          <a:prstGeom prst="roundRect">
            <a:avLst>
              <a:gd name="adj" fmla="val 4000"/>
            </a:avLst>
          </a:prstGeom>
          <a:solidFill>
            <a:srgbClr val="FFFFFF"/>
          </a:solidFill>
          <a:ln w="9525">
            <a:solidFill>
              <a:srgbClr val="D3E2D7"/>
            </a:solidFill>
          </a:ln>
        </p:spPr>
      </p:sp>
      <p:sp>
        <p:nvSpPr>
          <p:cNvPr id="32" name="Shape 32"/>
          <p:cNvSpPr/>
          <p:nvPr/>
        </p:nvSpPr>
        <p:spPr>
          <a:xfrm>
            <a:off x="4892040" y="1188720"/>
            <a:ext cx="3794760" cy="292608"/>
          </a:xfrm>
          <a:prstGeom prst="roundRect">
            <a:avLst>
              <a:gd name="adj" fmla="val 30000"/>
            </a:avLst>
          </a:prstGeom>
          <a:solidFill>
            <a:srgbClr val="F1F3F2"/>
          </a:solidFill>
          <a:ln>
            <a:noFill/>
          </a:ln>
        </p:spPr>
      </p:sp>
      <p:sp>
        <p:nvSpPr>
          <p:cNvPr id="33" name="Text 33"/>
          <p:cNvSpPr txBox="1"/>
          <p:nvPr/>
        </p:nvSpPr>
        <p:spPr>
          <a:xfrm>
            <a:off x="5074920" y="1188720"/>
            <a:ext cx="3429000" cy="292608"/>
          </a:xfrm>
          <a:prstGeom prst="rect">
            <a:avLst/>
          </a:prstGeom>
          <a:noFill/>
          <a:ln/>
        </p:spPr>
        <p:txBody>
          <a:bodyPr wrap="square" lIns="0" tIns="0" rIns="0" bIns="0" rtlCol="0" anchor="ctr"/>
          <a:lstStyle/>
          <a:p>
            <a:pPr marL="0" indent="0">
              <a:buNone/>
            </a:pPr>
            <a:r>
              <a:rPr lang="en-US" sz="900" dirty="0">
                <a:solidFill>
                  <a:srgbClr val="5A6660"/>
                </a:solidFill>
                <a:latin typeface="Calibri" pitchFamily="34" charset="0"/>
                <a:ea typeface="Calibri" pitchFamily="34" charset="-122"/>
                <a:cs typeface="Calibri" pitchFamily="34" charset="-120"/>
              </a:rPr>
              <a:t>github.com/signup</a:t>
            </a:r>
          </a:p>
        </p:txBody>
      </p:sp>
      <p:sp>
        <p:nvSpPr>
          <p:cNvPr id="34" name="Text 34"/>
          <p:cNvSpPr txBox="1"/>
          <p:nvPr/>
        </p:nvSpPr>
        <p:spPr>
          <a:xfrm>
            <a:off x="5166359" y="1572768"/>
            <a:ext cx="3246120" cy="292608"/>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Sign up for GitHub</a:t>
            </a:r>
          </a:p>
        </p:txBody>
      </p:sp>
      <p:sp>
        <p:nvSpPr>
          <p:cNvPr id="35" name="Text 35"/>
          <p:cNvSpPr txBox="1"/>
          <p:nvPr/>
        </p:nvSpPr>
        <p:spPr>
          <a:xfrm>
            <a:off x="5166359" y="1965960"/>
            <a:ext cx="3246120" cy="164592"/>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Email *</a:t>
            </a:r>
          </a:p>
        </p:txBody>
      </p:sp>
      <p:sp>
        <p:nvSpPr>
          <p:cNvPr id="36" name="Shape 36"/>
          <p:cNvSpPr/>
          <p:nvPr/>
        </p:nvSpPr>
        <p:spPr>
          <a:xfrm>
            <a:off x="5166360" y="2148840"/>
            <a:ext cx="3246120" cy="246888"/>
          </a:xfrm>
          <a:prstGeom prst="roundRect">
            <a:avLst>
              <a:gd name="adj" fmla="val 15000"/>
            </a:avLst>
          </a:prstGeom>
          <a:solidFill>
            <a:srgbClr val="FFFFFF"/>
          </a:solidFill>
          <a:ln w="9525">
            <a:solidFill>
              <a:srgbClr val="B7C4BB"/>
            </a:solidFill>
          </a:ln>
        </p:spPr>
      </p:sp>
      <p:sp>
        <p:nvSpPr>
          <p:cNvPr id="37" name="Text 37"/>
          <p:cNvSpPr txBox="1"/>
          <p:nvPr/>
        </p:nvSpPr>
        <p:spPr>
          <a:xfrm>
            <a:off x="5257800" y="2148840"/>
            <a:ext cx="3063240" cy="246888"/>
          </a:xfrm>
          <a:prstGeom prst="rect">
            <a:avLst/>
          </a:prstGeom>
          <a:noFill/>
          <a:ln/>
        </p:spPr>
        <p:txBody>
          <a:bodyPr wrap="square" lIns="0" tIns="0" rIns="0" bIns="0" rtlCol="0" anchor="ctr"/>
          <a:lstStyle/>
          <a:p>
            <a:pPr marL="0" indent="0">
              <a:buNone/>
            </a:pPr>
            <a:r>
              <a:rPr lang="en-US" sz="950" dirty="0">
                <a:solidFill>
                  <a:srgbClr val="5A6660"/>
                </a:solidFill>
                <a:latin typeface="Calibri" pitchFamily="34" charset="0"/>
                <a:ea typeface="Calibri" pitchFamily="34" charset="-122"/>
                <a:cs typeface="Calibri" pitchFamily="34" charset="-120"/>
              </a:rPr>
              <a:t>firstname.lastname@gmail.com</a:t>
            </a:r>
          </a:p>
        </p:txBody>
      </p:sp>
      <p:sp>
        <p:nvSpPr>
          <p:cNvPr id="38" name="Text 38"/>
          <p:cNvSpPr txBox="1"/>
          <p:nvPr/>
        </p:nvSpPr>
        <p:spPr>
          <a:xfrm>
            <a:off x="5166359" y="2441448"/>
            <a:ext cx="3246120" cy="164592"/>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Password *</a:t>
            </a:r>
          </a:p>
        </p:txBody>
      </p:sp>
      <p:sp>
        <p:nvSpPr>
          <p:cNvPr id="39" name="Shape 39"/>
          <p:cNvSpPr/>
          <p:nvPr/>
        </p:nvSpPr>
        <p:spPr>
          <a:xfrm>
            <a:off x="5166360" y="2624328"/>
            <a:ext cx="3246120" cy="246888"/>
          </a:xfrm>
          <a:prstGeom prst="roundRect">
            <a:avLst>
              <a:gd name="adj" fmla="val 15000"/>
            </a:avLst>
          </a:prstGeom>
          <a:solidFill>
            <a:srgbClr val="FFFFFF"/>
          </a:solidFill>
          <a:ln w="9525">
            <a:solidFill>
              <a:srgbClr val="B7C4BB"/>
            </a:solidFill>
          </a:ln>
        </p:spPr>
      </p:sp>
      <p:sp>
        <p:nvSpPr>
          <p:cNvPr id="40" name="Text 40"/>
          <p:cNvSpPr txBox="1"/>
          <p:nvPr/>
        </p:nvSpPr>
        <p:spPr>
          <a:xfrm>
            <a:off x="5257800" y="2624328"/>
            <a:ext cx="3063240" cy="246888"/>
          </a:xfrm>
          <a:prstGeom prst="rect">
            <a:avLst/>
          </a:prstGeom>
          <a:noFill/>
          <a:ln/>
        </p:spPr>
        <p:txBody>
          <a:bodyPr wrap="square" lIns="0" tIns="0" rIns="0" bIns="0" rtlCol="0" anchor="ctr"/>
          <a:lstStyle/>
          <a:p>
            <a:pPr marL="0" indent="0">
              <a:buNone/>
            </a:pPr>
            <a:r>
              <a:rPr lang="en-US" sz="950" dirty="0">
                <a:solidFill>
                  <a:srgbClr val="5A6660"/>
                </a:solidFill>
                <a:latin typeface="Calibri" pitchFamily="34" charset="0"/>
                <a:ea typeface="Calibri" pitchFamily="34" charset="-122"/>
                <a:cs typeface="Calibri" pitchFamily="34" charset="-120"/>
              </a:rPr>
              <a:t>••••••••••••••••</a:t>
            </a:r>
          </a:p>
        </p:txBody>
      </p:sp>
      <p:sp>
        <p:nvSpPr>
          <p:cNvPr id="41" name="Text 41"/>
          <p:cNvSpPr txBox="1"/>
          <p:nvPr/>
        </p:nvSpPr>
        <p:spPr>
          <a:xfrm>
            <a:off x="5166359" y="2916936"/>
            <a:ext cx="3246120" cy="164592"/>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Username *</a:t>
            </a:r>
          </a:p>
        </p:txBody>
      </p:sp>
      <p:sp>
        <p:nvSpPr>
          <p:cNvPr id="42" name="Shape 42"/>
          <p:cNvSpPr/>
          <p:nvPr/>
        </p:nvSpPr>
        <p:spPr>
          <a:xfrm>
            <a:off x="5166360" y="3099816"/>
            <a:ext cx="3246120" cy="246888"/>
          </a:xfrm>
          <a:prstGeom prst="roundRect">
            <a:avLst>
              <a:gd name="adj" fmla="val 15000"/>
            </a:avLst>
          </a:prstGeom>
          <a:solidFill>
            <a:srgbClr val="FFFFFF"/>
          </a:solidFill>
          <a:ln w="9525">
            <a:solidFill>
              <a:srgbClr val="B7C4BB"/>
            </a:solidFill>
          </a:ln>
        </p:spPr>
      </p:sp>
      <p:sp>
        <p:nvSpPr>
          <p:cNvPr id="43" name="Text 43"/>
          <p:cNvSpPr txBox="1"/>
          <p:nvPr/>
        </p:nvSpPr>
        <p:spPr>
          <a:xfrm>
            <a:off x="5257800" y="3099816"/>
            <a:ext cx="3063240" cy="246888"/>
          </a:xfrm>
          <a:prstGeom prst="rect">
            <a:avLst/>
          </a:prstGeom>
          <a:noFill/>
          <a:ln/>
        </p:spPr>
        <p:txBody>
          <a:bodyPr wrap="square" lIns="0" tIns="0" rIns="0" bIns="0" rtlCol="0" anchor="ctr"/>
          <a:lstStyle/>
          <a:p>
            <a:pPr marL="0" indent="0">
              <a:buNone/>
            </a:pPr>
            <a:r>
              <a:rPr lang="en-US" sz="950" dirty="0">
                <a:solidFill>
                  <a:srgbClr val="5A6660"/>
                </a:solidFill>
                <a:latin typeface="Calibri" pitchFamily="34" charset="0"/>
                <a:ea typeface="Calibri" pitchFamily="34" charset="-122"/>
                <a:cs typeface="Calibri" pitchFamily="34" charset="-120"/>
              </a:rPr>
              <a:t>firstname-lastname</a:t>
            </a:r>
          </a:p>
        </p:txBody>
      </p:sp>
      <p:sp>
        <p:nvSpPr>
          <p:cNvPr id="44" name="Text 44"/>
          <p:cNvSpPr txBox="1"/>
          <p:nvPr/>
        </p:nvSpPr>
        <p:spPr>
          <a:xfrm>
            <a:off x="5166359" y="3392424"/>
            <a:ext cx="3246120" cy="164592"/>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Country/Region *</a:t>
            </a:r>
          </a:p>
        </p:txBody>
      </p:sp>
      <p:sp>
        <p:nvSpPr>
          <p:cNvPr id="45" name="Shape 45"/>
          <p:cNvSpPr/>
          <p:nvPr/>
        </p:nvSpPr>
        <p:spPr>
          <a:xfrm>
            <a:off x="5166360" y="3575304"/>
            <a:ext cx="3246120" cy="246888"/>
          </a:xfrm>
          <a:prstGeom prst="roundRect">
            <a:avLst>
              <a:gd name="adj" fmla="val 15000"/>
            </a:avLst>
          </a:prstGeom>
          <a:solidFill>
            <a:srgbClr val="FFFFFF"/>
          </a:solidFill>
          <a:ln w="9525">
            <a:solidFill>
              <a:srgbClr val="B7C4BB"/>
            </a:solidFill>
          </a:ln>
        </p:spPr>
      </p:sp>
      <p:sp>
        <p:nvSpPr>
          <p:cNvPr id="46" name="Text 46"/>
          <p:cNvSpPr txBox="1"/>
          <p:nvPr/>
        </p:nvSpPr>
        <p:spPr>
          <a:xfrm>
            <a:off x="5257800" y="3575304"/>
            <a:ext cx="3063240" cy="246888"/>
          </a:xfrm>
          <a:prstGeom prst="rect">
            <a:avLst/>
          </a:prstGeom>
          <a:noFill/>
          <a:ln/>
        </p:spPr>
        <p:txBody>
          <a:bodyPr wrap="square" lIns="0" tIns="0" rIns="0" bIns="0" rtlCol="0" anchor="ctr"/>
          <a:lstStyle/>
          <a:p>
            <a:pPr marL="0" indent="0">
              <a:buNone/>
            </a:pPr>
            <a:r>
              <a:rPr lang="en-US" sz="950" dirty="0">
                <a:solidFill>
                  <a:srgbClr val="5A6660"/>
                </a:solidFill>
                <a:latin typeface="Calibri" pitchFamily="34" charset="0"/>
                <a:ea typeface="Calibri" pitchFamily="34" charset="-122"/>
                <a:cs typeface="Calibri" pitchFamily="34" charset="-120"/>
              </a:rPr>
              <a:t>Your country</a:t>
            </a:r>
          </a:p>
        </p:txBody>
      </p:sp>
      <p:sp>
        <p:nvSpPr>
          <p:cNvPr id="47" name="Shape 47"/>
          <p:cNvSpPr/>
          <p:nvPr/>
        </p:nvSpPr>
        <p:spPr>
          <a:xfrm>
            <a:off x="5166360" y="3959352"/>
            <a:ext cx="3246120" cy="274320"/>
          </a:xfrm>
          <a:prstGeom prst="roundRect">
            <a:avLst>
              <a:gd name="adj" fmla="val 15000"/>
            </a:avLst>
          </a:prstGeom>
          <a:solidFill>
            <a:srgbClr val="2C9045"/>
          </a:solidFill>
          <a:ln>
            <a:noFill/>
          </a:ln>
        </p:spPr>
      </p:sp>
      <p:sp>
        <p:nvSpPr>
          <p:cNvPr id="48" name="Text 48"/>
          <p:cNvSpPr txBox="1"/>
          <p:nvPr/>
        </p:nvSpPr>
        <p:spPr>
          <a:xfrm>
            <a:off x="5166359" y="3959352"/>
            <a:ext cx="32461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Continue ›</a:t>
            </a:r>
          </a:p>
        </p:txBody>
      </p:sp>
      <p:sp>
        <p:nvSpPr>
          <p:cNvPr id="49" name="Text 49"/>
          <p:cNvSpPr txBox="1"/>
          <p:nvPr/>
        </p:nvSpPr>
        <p:spPr>
          <a:xfrm>
            <a:off x="4892040" y="4416552"/>
            <a:ext cx="3794760" cy="201168"/>
          </a:xfrm>
          <a:prstGeom prst="rect">
            <a:avLst/>
          </a:prstGeom>
          <a:noFill/>
          <a:ln/>
        </p:spPr>
        <p:txBody>
          <a:bodyPr wrap="square" lIns="0" tIns="0" rIns="0" bIns="0" rtlCol="0" anchor="t"/>
          <a:lstStyle/>
          <a:p>
            <a:pPr marL="0" indent="0">
              <a:buNone/>
            </a:pPr>
            <a:r>
              <a:rPr lang="en-US" sz="900" i="1" dirty="0">
                <a:solidFill>
                  <a:srgbClr val="5A6660"/>
                </a:solidFill>
                <a:latin typeface="Calibri" pitchFamily="34" charset="0"/>
                <a:ea typeface="Calibri" pitchFamily="34" charset="-122"/>
                <a:cs typeface="Calibri" pitchFamily="34" charset="-120"/>
              </a:rPr>
              <a:t>Schematic illustration — the live page may look slightly different.</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00 · CREATE AN ACCOUNT</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Prove you are human, then verify your email</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7</a:t>
            </a:r>
            <a:endParaRPr lang="en-US" sz="850" dirty="0"/>
          </a:p>
        </p:txBody>
      </p:sp>
      <p:sp>
        <p:nvSpPr>
          <p:cNvPr id="16" name="Shape 16"/>
          <p:cNvSpPr/>
          <p:nvPr/>
        </p:nvSpPr>
        <p:spPr>
          <a:xfrm>
            <a:off x="457200" y="1280160"/>
            <a:ext cx="329184" cy="329184"/>
          </a:xfrm>
          <a:prstGeom prst="ellipse">
            <a:avLst/>
          </a:prstGeom>
          <a:solidFill>
            <a:srgbClr val="E8F4EB"/>
          </a:solidFill>
          <a:ln w="9525">
            <a:solidFill>
              <a:srgbClr val="D3E2D7"/>
            </a:solidFill>
          </a:ln>
        </p:spPr>
      </p:sp>
      <p:sp>
        <p:nvSpPr>
          <p:cNvPr id="17" name="Text 17"/>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6</a:t>
            </a:r>
          </a:p>
        </p:txBody>
      </p:sp>
      <p:sp>
        <p:nvSpPr>
          <p:cNvPr id="18" name="Text 18"/>
          <p:cNvSpPr txBox="1"/>
          <p:nvPr/>
        </p:nvSpPr>
        <p:spPr>
          <a:xfrm>
            <a:off x="914400" y="1252728"/>
            <a:ext cx="3611880" cy="7132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Solve the visual puzzle</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A short check, e.g. pick or rotate an image. Then click Create account.</a:t>
            </a:r>
          </a:p>
        </p:txBody>
      </p:sp>
      <p:sp>
        <p:nvSpPr>
          <p:cNvPr id="19" name="Shape 19"/>
          <p:cNvSpPr/>
          <p:nvPr/>
        </p:nvSpPr>
        <p:spPr>
          <a:xfrm>
            <a:off x="457200" y="2029968"/>
            <a:ext cx="329184" cy="329184"/>
          </a:xfrm>
          <a:prstGeom prst="ellipse">
            <a:avLst/>
          </a:prstGeom>
          <a:solidFill>
            <a:srgbClr val="E8F4EB"/>
          </a:solidFill>
          <a:ln w="9525">
            <a:solidFill>
              <a:srgbClr val="D3E2D7"/>
            </a:solidFill>
          </a:ln>
        </p:spPr>
      </p:sp>
      <p:sp>
        <p:nvSpPr>
          <p:cNvPr id="20" name="Text 20"/>
          <p:cNvSpPr txBox="1"/>
          <p:nvPr/>
        </p:nvSpPr>
        <p:spPr>
          <a:xfrm>
            <a:off x="457200" y="2029967"/>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7</a:t>
            </a:r>
          </a:p>
        </p:txBody>
      </p:sp>
      <p:sp>
        <p:nvSpPr>
          <p:cNvPr id="21" name="Text 21"/>
          <p:cNvSpPr txBox="1"/>
          <p:nvPr/>
        </p:nvSpPr>
        <p:spPr>
          <a:xfrm>
            <a:off x="914400" y="2002536"/>
            <a:ext cx="3611880" cy="7132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Open your Gmail inbox</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Look for the email from GitHub with your launch code. Check Spam or Promotions.</a:t>
            </a:r>
          </a:p>
        </p:txBody>
      </p:sp>
      <p:sp>
        <p:nvSpPr>
          <p:cNvPr id="22" name="Shape 22"/>
          <p:cNvSpPr/>
          <p:nvPr/>
        </p:nvSpPr>
        <p:spPr>
          <a:xfrm>
            <a:off x="457200" y="2779776"/>
            <a:ext cx="329184" cy="329184"/>
          </a:xfrm>
          <a:prstGeom prst="ellipse">
            <a:avLst/>
          </a:prstGeom>
          <a:solidFill>
            <a:srgbClr val="E8F4EB"/>
          </a:solidFill>
          <a:ln w="9525">
            <a:solidFill>
              <a:srgbClr val="D3E2D7"/>
            </a:solidFill>
          </a:ln>
        </p:spPr>
      </p:sp>
      <p:sp>
        <p:nvSpPr>
          <p:cNvPr id="23" name="Text 23"/>
          <p:cNvSpPr txBox="1"/>
          <p:nvPr/>
        </p:nvSpPr>
        <p:spPr>
          <a:xfrm>
            <a:off x="457200" y="277977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8</a:t>
            </a:r>
          </a:p>
        </p:txBody>
      </p:sp>
      <p:sp>
        <p:nvSpPr>
          <p:cNvPr id="24" name="Text 24"/>
          <p:cNvSpPr txBox="1"/>
          <p:nvPr/>
        </p:nvSpPr>
        <p:spPr>
          <a:xfrm>
            <a:off x="914400" y="2752344"/>
            <a:ext cx="3611880" cy="7132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Enter the code on GitHub</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Type the code in the GitHub page. If it expires, ask for a new one.</a:t>
            </a:r>
          </a:p>
        </p:txBody>
      </p:sp>
      <p:sp>
        <p:nvSpPr>
          <p:cNvPr id="25" name="Shape 25"/>
          <p:cNvSpPr/>
          <p:nvPr/>
        </p:nvSpPr>
        <p:spPr>
          <a:xfrm>
            <a:off x="457200" y="3529584"/>
            <a:ext cx="329184" cy="329184"/>
          </a:xfrm>
          <a:prstGeom prst="ellipse">
            <a:avLst/>
          </a:prstGeom>
          <a:solidFill>
            <a:srgbClr val="E8F4EB"/>
          </a:solidFill>
          <a:ln w="9525">
            <a:solidFill>
              <a:srgbClr val="D3E2D7"/>
            </a:solidFill>
          </a:ln>
        </p:spPr>
      </p:sp>
      <p:sp>
        <p:nvSpPr>
          <p:cNvPr id="26" name="Text 26"/>
          <p:cNvSpPr txBox="1"/>
          <p:nvPr/>
        </p:nvSpPr>
        <p:spPr>
          <a:xfrm>
            <a:off x="457200" y="352958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9</a:t>
            </a:r>
          </a:p>
        </p:txBody>
      </p:sp>
      <p:sp>
        <p:nvSpPr>
          <p:cNvPr id="27" name="Text 27"/>
          <p:cNvSpPr txBox="1"/>
          <p:nvPr/>
        </p:nvSpPr>
        <p:spPr>
          <a:xfrm>
            <a:off x="914400" y="3502152"/>
            <a:ext cx="3611880" cy="7132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Personalise or skip</a:t>
            </a:r>
          </a:p>
          <a:p>
            <a:pPr marL="0" indent="0">
              <a:spcBef>
                <a:spcPts val="100"/>
              </a:spcBef>
              <a:buNone/>
            </a:pPr>
            <a:r>
              <a:rPr lang="en-US" sz="1050" dirty="0">
                <a:solidFill>
                  <a:srgbClr val="5A6660"/>
                </a:solidFill>
                <a:latin typeface="Calibri" pitchFamily="34" charset="0"/>
                <a:ea typeface="Calibri" pitchFamily="34" charset="-122"/>
                <a:cs typeface="Calibri" pitchFamily="34" charset="-120"/>
              </a:rPr>
              <a:t>Answer the short questions or skip them: you reach your dashboard.</a:t>
            </a:r>
          </a:p>
        </p:txBody>
      </p:sp>
      <p:sp>
        <p:nvSpPr>
          <p:cNvPr id="28" name="Shape 28"/>
          <p:cNvSpPr/>
          <p:nvPr/>
        </p:nvSpPr>
        <p:spPr>
          <a:xfrm>
            <a:off x="4892040" y="1234440"/>
            <a:ext cx="3794760" cy="1600200"/>
          </a:xfrm>
          <a:prstGeom prst="roundRect">
            <a:avLst>
              <a:gd name="adj" fmla="val 5000"/>
            </a:avLst>
          </a:prstGeom>
          <a:solidFill>
            <a:srgbClr val="FFFFFF"/>
          </a:solidFill>
          <a:ln w="9525">
            <a:solidFill>
              <a:srgbClr val="D3E2D7"/>
            </a:solidFill>
          </a:ln>
        </p:spPr>
      </p:sp>
      <p:sp>
        <p:nvSpPr>
          <p:cNvPr id="29" name="Shape 29"/>
          <p:cNvSpPr/>
          <p:nvPr/>
        </p:nvSpPr>
        <p:spPr>
          <a:xfrm>
            <a:off x="5074920" y="1417320"/>
            <a:ext cx="457200" cy="457200"/>
          </a:xfrm>
          <a:prstGeom prst="ellipse">
            <a:avLst/>
          </a:prstGeom>
          <a:solidFill>
            <a:srgbClr val="0E5A2E">
              <a:alpha val="18000"/>
            </a:srgbClr>
          </a:solidFill>
          <a:ln>
            <a:noFill/>
          </a:ln>
        </p:spPr>
      </p:sp>
      <p:pic>
        <p:nvPicPr>
          <p:cNvPr id="30" name="Icon 30"/>
          <p:cNvPicPr>
            <a:picLocks noChangeAspect="1"/>
          </p:cNvPicPr>
          <p:nvPr/>
        </p:nvPicPr>
        <p:blipFill>
          <a:blip r:embed="rId3"/>
          <a:stretch>
            <a:fillRect/>
          </a:stretch>
        </p:blipFill>
        <p:spPr>
          <a:xfrm>
            <a:off x="5200650" y="1543050"/>
            <a:ext cx="205740" cy="205740"/>
          </a:xfrm>
          <a:prstGeom prst="rect">
            <a:avLst/>
          </a:prstGeom>
        </p:spPr>
      </p:pic>
      <p:sp>
        <p:nvSpPr>
          <p:cNvPr id="31" name="Text 31"/>
          <p:cNvSpPr txBox="1"/>
          <p:nvPr/>
        </p:nvSpPr>
        <p:spPr>
          <a:xfrm>
            <a:off x="5669279" y="1399032"/>
            <a:ext cx="2880360" cy="50292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GitHub &lt;noreply@github.com&gt;</a:t>
            </a:r>
          </a:p>
          <a:p>
            <a:pPr marL="0" indent="0">
              <a:buNone/>
            </a:pPr>
            <a:r>
              <a:rPr lang="en-US" sz="1050" dirty="0">
                <a:solidFill>
                  <a:srgbClr val="231F20"/>
                </a:solidFill>
                <a:latin typeface="Calibri" pitchFamily="34" charset="0"/>
                <a:ea typeface="Calibri" pitchFamily="34" charset="-122"/>
                <a:cs typeface="Calibri" pitchFamily="34" charset="-120"/>
              </a:rPr>
              <a:t>Your GitHub launch code</a:t>
            </a:r>
          </a:p>
        </p:txBody>
      </p:sp>
      <p:sp>
        <p:nvSpPr>
          <p:cNvPr id="32" name="Text 32"/>
          <p:cNvSpPr txBox="1"/>
          <p:nvPr/>
        </p:nvSpPr>
        <p:spPr>
          <a:xfrm>
            <a:off x="5120640" y="2011680"/>
            <a:ext cx="3337560" cy="2743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Enter this code on GitHub to finish signing up.</a:t>
            </a:r>
          </a:p>
        </p:txBody>
      </p:sp>
      <p:sp>
        <p:nvSpPr>
          <p:cNvPr id="33" name="Shape 33"/>
          <p:cNvSpPr/>
          <p:nvPr/>
        </p:nvSpPr>
        <p:spPr>
          <a:xfrm>
            <a:off x="5120640" y="2331720"/>
            <a:ext cx="3337560" cy="347472"/>
          </a:xfrm>
          <a:prstGeom prst="roundRect">
            <a:avLst>
              <a:gd name="adj" fmla="val 15000"/>
            </a:avLst>
          </a:prstGeom>
          <a:solidFill>
            <a:srgbClr val="E8F4EB"/>
          </a:solidFill>
          <a:ln w="9525">
            <a:solidFill>
              <a:srgbClr val="D3E2D7"/>
            </a:solidFill>
          </a:ln>
        </p:spPr>
      </p:sp>
      <p:sp>
        <p:nvSpPr>
          <p:cNvPr id="34" name="Text 34"/>
          <p:cNvSpPr txBox="1"/>
          <p:nvPr/>
        </p:nvSpPr>
        <p:spPr>
          <a:xfrm>
            <a:off x="5120640" y="2331720"/>
            <a:ext cx="3337560" cy="347472"/>
          </a:xfrm>
          <a:prstGeom prst="rect">
            <a:avLst/>
          </a:prstGeom>
          <a:noFill/>
          <a:ln/>
        </p:spPr>
        <p:txBody>
          <a:bodyPr wrap="square" lIns="0" tIns="0" rIns="0" bIns="0" rtlCol="0" anchor="ctr"/>
          <a:lstStyle/>
          <a:p>
            <a:pPr marL="0" indent="0" algn="ctr">
              <a:buNone/>
            </a:pPr>
            <a:r>
              <a:rPr lang="en-US" sz="1400" b="1" dirty="0">
                <a:solidFill>
                  <a:srgbClr val="0E5A2E"/>
                </a:solidFill>
                <a:latin typeface="Calibri" pitchFamily="34" charset="0"/>
                <a:ea typeface="Calibri" pitchFamily="34" charset="-122"/>
                <a:cs typeface="Calibri" pitchFamily="34" charset="-120"/>
              </a:rPr>
              <a:t>• • • • • • • •</a:t>
            </a:r>
          </a:p>
        </p:txBody>
      </p:sp>
      <p:pic>
        <p:nvPicPr>
          <p:cNvPr id="35" name="Icon 35"/>
          <p:cNvPicPr>
            <a:picLocks noChangeAspect="1"/>
          </p:cNvPicPr>
          <p:nvPr/>
        </p:nvPicPr>
        <p:blipFill>
          <a:blip r:embed="rId4"/>
          <a:stretch>
            <a:fillRect/>
          </a:stretch>
        </p:blipFill>
        <p:spPr>
          <a:xfrm>
            <a:off x="6652259" y="2926080"/>
            <a:ext cx="274320" cy="274320"/>
          </a:xfrm>
          <a:prstGeom prst="rect">
            <a:avLst/>
          </a:prstGeom>
        </p:spPr>
      </p:pic>
      <p:sp>
        <p:nvSpPr>
          <p:cNvPr id="36" name="Shape 36"/>
          <p:cNvSpPr/>
          <p:nvPr/>
        </p:nvSpPr>
        <p:spPr>
          <a:xfrm>
            <a:off x="4892040" y="3291840"/>
            <a:ext cx="3794760" cy="960120"/>
          </a:xfrm>
          <a:prstGeom prst="roundRect">
            <a:avLst>
              <a:gd name="adj" fmla="val 6000"/>
            </a:avLst>
          </a:prstGeom>
          <a:solidFill>
            <a:srgbClr val="FFFFFF"/>
          </a:solidFill>
          <a:ln w="9525">
            <a:solidFill>
              <a:srgbClr val="D3E2D7"/>
            </a:solidFill>
          </a:ln>
        </p:spPr>
      </p:sp>
      <p:sp>
        <p:nvSpPr>
          <p:cNvPr id="37" name="Text 37"/>
          <p:cNvSpPr txBox="1"/>
          <p:nvPr/>
        </p:nvSpPr>
        <p:spPr>
          <a:xfrm>
            <a:off x="5120640" y="3364992"/>
            <a:ext cx="3337560" cy="22860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github.com · Enter code</a:t>
            </a:r>
          </a:p>
        </p:txBody>
      </p:sp>
      <p:sp>
        <p:nvSpPr>
          <p:cNvPr id="38" name="Shape 38"/>
          <p:cNvSpPr/>
          <p:nvPr/>
        </p:nvSpPr>
        <p:spPr>
          <a:xfrm>
            <a:off x="5120640" y="3657600"/>
            <a:ext cx="3337560" cy="347472"/>
          </a:xfrm>
          <a:prstGeom prst="roundRect">
            <a:avLst>
              <a:gd name="adj" fmla="val 15000"/>
            </a:avLst>
          </a:prstGeom>
          <a:solidFill>
            <a:srgbClr val="FFFFFF"/>
          </a:solidFill>
          <a:ln w="15875">
            <a:solidFill>
              <a:srgbClr val="2C9045"/>
            </a:solidFill>
          </a:ln>
        </p:spPr>
      </p:sp>
      <p:sp>
        <p:nvSpPr>
          <p:cNvPr id="39" name="Text 39"/>
          <p:cNvSpPr txBox="1"/>
          <p:nvPr/>
        </p:nvSpPr>
        <p:spPr>
          <a:xfrm>
            <a:off x="5120640" y="3657600"/>
            <a:ext cx="3337560" cy="347472"/>
          </a:xfrm>
          <a:prstGeom prst="rect">
            <a:avLst/>
          </a:prstGeom>
          <a:noFill/>
          <a:ln/>
        </p:spPr>
        <p:txBody>
          <a:bodyPr wrap="square" lIns="0" tIns="0" rIns="0" bIns="0" rtlCol="0" anchor="ctr"/>
          <a:lstStyle/>
          <a:p>
            <a:pPr marL="0" indent="0" algn="ctr">
              <a:buNone/>
            </a:pPr>
            <a:r>
              <a:rPr lang="en-US" sz="1300" dirty="0">
                <a:solidFill>
                  <a:srgbClr val="5A6660"/>
                </a:solidFill>
                <a:latin typeface="Calibri" pitchFamily="34" charset="0"/>
                <a:ea typeface="Calibri" pitchFamily="34" charset="-122"/>
                <a:cs typeface="Calibri" pitchFamily="34" charset="-120"/>
              </a:rPr>
              <a:t>_  _  _  _  _  _  _  _</a:t>
            </a:r>
          </a:p>
        </p:txBody>
      </p:sp>
      <p:sp>
        <p:nvSpPr>
          <p:cNvPr id="40" name="Text 40"/>
          <p:cNvSpPr txBox="1"/>
          <p:nvPr/>
        </p:nvSpPr>
        <p:spPr>
          <a:xfrm>
            <a:off x="4892040" y="4325112"/>
            <a:ext cx="3794760" cy="201168"/>
          </a:xfrm>
          <a:prstGeom prst="rect">
            <a:avLst/>
          </a:prstGeom>
          <a:noFill/>
          <a:ln/>
        </p:spPr>
        <p:txBody>
          <a:bodyPr wrap="square" lIns="0" tIns="0" rIns="0" bIns="0" rtlCol="0" anchor="t"/>
          <a:lstStyle/>
          <a:p>
            <a:pPr marL="0" indent="0">
              <a:buNone/>
            </a:pPr>
            <a:r>
              <a:rPr lang="en-US" sz="900" i="1" dirty="0">
                <a:solidFill>
                  <a:srgbClr val="5A6660"/>
                </a:solidFill>
                <a:latin typeface="Calibri" pitchFamily="34" charset="0"/>
                <a:ea typeface="Calibri" pitchFamily="34" charset="-122"/>
                <a:cs typeface="Calibri" pitchFamily="34" charset="-120"/>
              </a:rPr>
              <a:t>Schematic illustration — the live page may look slightly different.</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00 · CREATE AN ACCOUNT</a:t>
            </a:r>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Your account is ready: secure it</a:t>
            </a:r>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8</a:t>
            </a:r>
            <a:endParaRPr lang="en-US" sz="850" dirty="0"/>
          </a:p>
        </p:txBody>
      </p:sp>
      <p:sp>
        <p:nvSpPr>
          <p:cNvPr id="16" name="Shape 16"/>
          <p:cNvSpPr/>
          <p:nvPr/>
        </p:nvSpPr>
        <p:spPr>
          <a:xfrm>
            <a:off x="457200" y="1280160"/>
            <a:ext cx="3977640" cy="1325880"/>
          </a:xfrm>
          <a:prstGeom prst="roundRect">
            <a:avLst>
              <a:gd name="adj" fmla="val 5000"/>
            </a:avLst>
          </a:prstGeom>
          <a:solidFill>
            <a:srgbClr val="F4F8F5"/>
          </a:solidFill>
          <a:ln w="9525">
            <a:solidFill>
              <a:srgbClr val="D3E2D7"/>
            </a:solidFill>
          </a:ln>
        </p:spPr>
      </p:sp>
      <p:sp>
        <p:nvSpPr>
          <p:cNvPr id="17" name="Shape 17"/>
          <p:cNvSpPr/>
          <p:nvPr/>
        </p:nvSpPr>
        <p:spPr>
          <a:xfrm>
            <a:off x="685800" y="1536192"/>
            <a:ext cx="548640" cy="548640"/>
          </a:xfrm>
          <a:prstGeom prst="ellipse">
            <a:avLst/>
          </a:prstGeom>
          <a:solidFill>
            <a:srgbClr val="2C9045">
              <a:alpha val="20000"/>
            </a:srgbClr>
          </a:solidFill>
          <a:ln>
            <a:noFill/>
          </a:ln>
        </p:spPr>
      </p:sp>
      <p:pic>
        <p:nvPicPr>
          <p:cNvPr id="18" name="Icon 18"/>
          <p:cNvPicPr>
            <a:picLocks noChangeAspect="1"/>
          </p:cNvPicPr>
          <p:nvPr/>
        </p:nvPicPr>
        <p:blipFill>
          <a:blip r:embed="rId3"/>
          <a:stretch>
            <a:fillRect/>
          </a:stretch>
        </p:blipFill>
        <p:spPr>
          <a:xfrm>
            <a:off x="836676" y="1687068"/>
            <a:ext cx="246888" cy="246888"/>
          </a:xfrm>
          <a:prstGeom prst="rect">
            <a:avLst/>
          </a:prstGeom>
        </p:spPr>
      </p:pic>
      <p:sp>
        <p:nvSpPr>
          <p:cNvPr id="19" name="Text 19"/>
          <p:cNvSpPr txBox="1"/>
          <p:nvPr/>
        </p:nvSpPr>
        <p:spPr>
          <a:xfrm>
            <a:off x="1417320" y="148132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Keep your email verified</a:t>
            </a:r>
          </a:p>
        </p:txBody>
      </p:sp>
      <p:sp>
        <p:nvSpPr>
          <p:cNvPr id="20" name="Text 20"/>
          <p:cNvSpPr txBox="1"/>
          <p:nvPr/>
        </p:nvSpPr>
        <p:spPr>
          <a:xfrm>
            <a:off x="1417320" y="1828800"/>
            <a:ext cx="2834640" cy="6858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A verified email is needed for basic tasks such as creating a repository.</a:t>
            </a:r>
          </a:p>
        </p:txBody>
      </p:sp>
      <p:sp>
        <p:nvSpPr>
          <p:cNvPr id="21" name="Shape 21"/>
          <p:cNvSpPr/>
          <p:nvPr/>
        </p:nvSpPr>
        <p:spPr>
          <a:xfrm>
            <a:off x="4709160" y="1280160"/>
            <a:ext cx="3977640" cy="1325880"/>
          </a:xfrm>
          <a:prstGeom prst="roundRect">
            <a:avLst>
              <a:gd name="adj" fmla="val 5000"/>
            </a:avLst>
          </a:prstGeom>
          <a:solidFill>
            <a:srgbClr val="F4F8F5"/>
          </a:solidFill>
          <a:ln w="9525">
            <a:solidFill>
              <a:srgbClr val="D3E2D7"/>
            </a:solidFill>
          </a:ln>
        </p:spPr>
      </p:sp>
      <p:sp>
        <p:nvSpPr>
          <p:cNvPr id="22" name="Shape 22"/>
          <p:cNvSpPr/>
          <p:nvPr/>
        </p:nvSpPr>
        <p:spPr>
          <a:xfrm>
            <a:off x="4937760" y="1536192"/>
            <a:ext cx="548640" cy="548640"/>
          </a:xfrm>
          <a:prstGeom prst="ellipse">
            <a:avLst/>
          </a:prstGeom>
          <a:solidFill>
            <a:srgbClr val="0E7C86">
              <a:alpha val="20000"/>
            </a:srgbClr>
          </a:solidFill>
          <a:ln>
            <a:noFill/>
          </a:ln>
        </p:spPr>
      </p:sp>
      <p:pic>
        <p:nvPicPr>
          <p:cNvPr id="23" name="Icon 23"/>
          <p:cNvPicPr>
            <a:picLocks noChangeAspect="1"/>
          </p:cNvPicPr>
          <p:nvPr/>
        </p:nvPicPr>
        <p:blipFill>
          <a:blip r:embed="rId4"/>
          <a:stretch>
            <a:fillRect/>
          </a:stretch>
        </p:blipFill>
        <p:spPr>
          <a:xfrm>
            <a:off x="5088636" y="1687068"/>
            <a:ext cx="246888" cy="246888"/>
          </a:xfrm>
          <a:prstGeom prst="rect">
            <a:avLst/>
          </a:prstGeom>
        </p:spPr>
      </p:pic>
      <p:sp>
        <p:nvSpPr>
          <p:cNvPr id="24" name="Text 24"/>
          <p:cNvSpPr txBox="1"/>
          <p:nvPr/>
        </p:nvSpPr>
        <p:spPr>
          <a:xfrm>
            <a:off x="5669280" y="148132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Turn on two-factor authentication</a:t>
            </a:r>
          </a:p>
        </p:txBody>
      </p:sp>
      <p:sp>
        <p:nvSpPr>
          <p:cNvPr id="25" name="Text 25"/>
          <p:cNvSpPr txBox="1"/>
          <p:nvPr/>
        </p:nvSpPr>
        <p:spPr>
          <a:xfrm>
            <a:off x="5669280" y="1828800"/>
            <a:ext cx="2834640" cy="6858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Strongly recommended by GitHub: Settings › Password and authentication.</a:t>
            </a:r>
          </a:p>
        </p:txBody>
      </p:sp>
      <p:sp>
        <p:nvSpPr>
          <p:cNvPr id="26" name="Shape 26"/>
          <p:cNvSpPr/>
          <p:nvPr/>
        </p:nvSpPr>
        <p:spPr>
          <a:xfrm>
            <a:off x="457200" y="2788920"/>
            <a:ext cx="3977640" cy="1325880"/>
          </a:xfrm>
          <a:prstGeom prst="roundRect">
            <a:avLst>
              <a:gd name="adj" fmla="val 5000"/>
            </a:avLst>
          </a:prstGeom>
          <a:solidFill>
            <a:srgbClr val="F4F8F5"/>
          </a:solidFill>
          <a:ln w="9525">
            <a:solidFill>
              <a:srgbClr val="D3E2D7"/>
            </a:solidFill>
          </a:ln>
        </p:spPr>
      </p:sp>
      <p:sp>
        <p:nvSpPr>
          <p:cNvPr id="27" name="Shape 27"/>
          <p:cNvSpPr/>
          <p:nvPr/>
        </p:nvSpPr>
        <p:spPr>
          <a:xfrm>
            <a:off x="685800" y="3044952"/>
            <a:ext cx="548640" cy="548640"/>
          </a:xfrm>
          <a:prstGeom prst="ellipse">
            <a:avLst/>
          </a:prstGeom>
          <a:solidFill>
            <a:srgbClr val="D49A00">
              <a:alpha val="20000"/>
            </a:srgbClr>
          </a:solidFill>
          <a:ln>
            <a:noFill/>
          </a:ln>
        </p:spPr>
      </p:sp>
      <p:pic>
        <p:nvPicPr>
          <p:cNvPr id="28" name="Icon 28"/>
          <p:cNvPicPr>
            <a:picLocks noChangeAspect="1"/>
          </p:cNvPicPr>
          <p:nvPr/>
        </p:nvPicPr>
        <p:blipFill>
          <a:blip r:embed="rId5"/>
          <a:stretch>
            <a:fillRect/>
          </a:stretch>
        </p:blipFill>
        <p:spPr>
          <a:xfrm>
            <a:off x="836676" y="3195828"/>
            <a:ext cx="246888" cy="246888"/>
          </a:xfrm>
          <a:prstGeom prst="rect">
            <a:avLst/>
          </a:prstGeom>
        </p:spPr>
      </p:pic>
      <p:sp>
        <p:nvSpPr>
          <p:cNvPr id="29" name="Text 29"/>
          <p:cNvSpPr txBox="1"/>
          <p:nvPr/>
        </p:nvSpPr>
        <p:spPr>
          <a:xfrm>
            <a:off x="1417320" y="299008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Use a professional profile</a:t>
            </a:r>
          </a:p>
        </p:txBody>
      </p:sp>
      <p:sp>
        <p:nvSpPr>
          <p:cNvPr id="30" name="Text 30"/>
          <p:cNvSpPr txBox="1"/>
          <p:nvPr/>
        </p:nvSpPr>
        <p:spPr>
          <a:xfrm>
            <a:off x="1417320" y="3337560"/>
            <a:ext cx="2834640" cy="6858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Add your name and institution so teammates can find you.</a:t>
            </a:r>
          </a:p>
        </p:txBody>
      </p:sp>
      <p:sp>
        <p:nvSpPr>
          <p:cNvPr id="31" name="Shape 31"/>
          <p:cNvSpPr/>
          <p:nvPr/>
        </p:nvSpPr>
        <p:spPr>
          <a:xfrm>
            <a:off x="4709160" y="2788920"/>
            <a:ext cx="3977640" cy="1325880"/>
          </a:xfrm>
          <a:prstGeom prst="roundRect">
            <a:avLst>
              <a:gd name="adj" fmla="val 5000"/>
            </a:avLst>
          </a:prstGeom>
          <a:solidFill>
            <a:srgbClr val="F4F8F5"/>
          </a:solidFill>
          <a:ln w="9525">
            <a:solidFill>
              <a:srgbClr val="D3E2D7"/>
            </a:solidFill>
          </a:ln>
        </p:spPr>
      </p:sp>
      <p:sp>
        <p:nvSpPr>
          <p:cNvPr id="32" name="Shape 32"/>
          <p:cNvSpPr/>
          <p:nvPr/>
        </p:nvSpPr>
        <p:spPr>
          <a:xfrm>
            <a:off x="4937760" y="3044952"/>
            <a:ext cx="548640" cy="548640"/>
          </a:xfrm>
          <a:prstGeom prst="ellipse">
            <a:avLst/>
          </a:prstGeom>
          <a:solidFill>
            <a:srgbClr val="B83B2E">
              <a:alpha val="20000"/>
            </a:srgbClr>
          </a:solidFill>
          <a:ln>
            <a:noFill/>
          </a:ln>
        </p:spPr>
      </p:sp>
      <p:pic>
        <p:nvPicPr>
          <p:cNvPr id="33" name="Icon 33"/>
          <p:cNvPicPr>
            <a:picLocks noChangeAspect="1"/>
          </p:cNvPicPr>
          <p:nvPr/>
        </p:nvPicPr>
        <p:blipFill>
          <a:blip r:embed="rId6"/>
          <a:stretch>
            <a:fillRect/>
          </a:stretch>
        </p:blipFill>
        <p:spPr>
          <a:xfrm>
            <a:off x="5088636" y="3195828"/>
            <a:ext cx="246888" cy="246888"/>
          </a:xfrm>
          <a:prstGeom prst="rect">
            <a:avLst/>
          </a:prstGeom>
        </p:spPr>
      </p:pic>
      <p:sp>
        <p:nvSpPr>
          <p:cNvPr id="34" name="Text 34"/>
          <p:cNvSpPr txBox="1"/>
          <p:nvPr/>
        </p:nvSpPr>
        <p:spPr>
          <a:xfrm>
            <a:off x="5669280" y="299008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The Free plan is enough</a:t>
            </a:r>
          </a:p>
        </p:txBody>
      </p:sp>
      <p:sp>
        <p:nvSpPr>
          <p:cNvPr id="35" name="Text 35"/>
          <p:cNvSpPr txBox="1"/>
          <p:nvPr/>
        </p:nvSpPr>
        <p:spPr>
          <a:xfrm>
            <a:off x="5669280" y="3337560"/>
            <a:ext cx="2834640" cy="685800"/>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Public and private repositories at no cost: no payment details needed.</a:t>
            </a:r>
          </a:p>
        </p:txBody>
      </p:sp>
      <p:sp>
        <p:nvSpPr>
          <p:cNvPr id="36" name="Text 36"/>
          <p:cNvSpPr txBox="1"/>
          <p:nvPr/>
        </p:nvSpPr>
        <p:spPr>
          <a:xfrm>
            <a:off x="457200" y="4206240"/>
            <a:ext cx="6035040" cy="292608"/>
          </a:xfrm>
          <a:prstGeom prst="rect">
            <a:avLst/>
          </a:prstGeom>
          <a:noFill/>
          <a:ln/>
        </p:spPr>
        <p:txBody>
          <a:bodyPr wrap="square" lIns="0" tIns="0" rIns="0" bIns="0" rtlCol="0" anchor="ctr"/>
          <a:lstStyle/>
          <a:p>
            <a:pPr marL="0" indent="0">
              <a:buNone/>
            </a:pPr>
            <a:r>
              <a:rPr lang="en-US" sz="850" i="1" dirty="0">
                <a:solidFill>
                  <a:srgbClr val="5A6660"/>
                </a:solidFill>
                <a:latin typeface="Calibri" pitchFamily="34" charset="0"/>
                <a:ea typeface="Calibri" pitchFamily="34" charset="-122"/>
                <a:cs typeface="Calibri" pitchFamily="34" charset="-120"/>
              </a:rPr>
              <a:t>Sources: GitHub Docs — “Creating an account on GitHub”, “Creating a strong password”, “Verifying your email address”.</a:t>
            </a:r>
          </a:p>
        </p:txBody>
      </p:sp>
      <p:sp>
        <p:nvSpPr>
          <p:cNvPr id="37" name="Shape 37"/>
          <p:cNvSpPr/>
          <p:nvPr/>
        </p:nvSpPr>
        <p:spPr>
          <a:xfrm>
            <a:off x="6629400" y="4206240"/>
            <a:ext cx="2057400" cy="292608"/>
          </a:xfrm>
          <a:prstGeom prst="roundRect">
            <a:avLst>
              <a:gd name="adj" fmla="val 50000"/>
            </a:avLst>
          </a:prstGeom>
          <a:solidFill>
            <a:srgbClr val="2C9045"/>
          </a:solidFill>
          <a:ln>
            <a:noFill/>
          </a:ln>
        </p:spPr>
      </p:sp>
      <p:sp>
        <p:nvSpPr>
          <p:cNvPr id="38" name="Text 38"/>
          <p:cNvSpPr txBox="1"/>
          <p:nvPr/>
        </p:nvSpPr>
        <p:spPr>
          <a:xfrm>
            <a:off x="6629400" y="4206240"/>
            <a:ext cx="20574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Next: generate your API key ›</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OPEN SETTINGS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Open your account menu</a:t>
            </a:r>
            <a:endParaRPr lang="en-US" sz="2800" dirty="0"/>
          </a:p>
        </p:txBody>
      </p:sp>
      <p:sp>
        <p:nvSpPr>
          <p:cNvPr id="8" name="Shape 6"/>
          <p:cNvSpPr/>
          <p:nvPr/>
        </p:nvSpPr>
        <p:spPr>
          <a:xfrm>
            <a:off x="7543800" y="365760"/>
            <a:ext cx="109728" cy="109728"/>
          </a:xfrm>
          <a:prstGeom prst="ellipse">
            <a:avLst/>
          </a:prstGeom>
          <a:solidFill>
            <a:srgbClr val="2C9045"/>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9</a:t>
            </a:r>
            <a:endParaRPr lang="en-US" sz="850" dirty="0"/>
          </a:p>
        </p:txBody>
      </p:sp>
      <p:sp>
        <p:nvSpPr>
          <p:cNvPr id="16" name="Shape 14"/>
          <p:cNvSpPr/>
          <p:nvPr/>
        </p:nvSpPr>
        <p:spPr>
          <a:xfrm>
            <a:off x="457200" y="1371600"/>
            <a:ext cx="457200" cy="457200"/>
          </a:xfrm>
          <a:prstGeom prst="ellipse">
            <a:avLst/>
          </a:prstGeom>
          <a:solidFill>
            <a:srgbClr val="2C9045">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Sign in to GitHub</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Go to github.com and sign in with your GitHub account.</a:t>
            </a:r>
            <a:endParaRPr lang="en-US" sz="1100" dirty="0"/>
          </a:p>
        </p:txBody>
      </p:sp>
      <p:sp>
        <p:nvSpPr>
          <p:cNvPr id="20" name="Shape 17"/>
          <p:cNvSpPr/>
          <p:nvPr/>
        </p:nvSpPr>
        <p:spPr>
          <a:xfrm>
            <a:off x="457200" y="2240280"/>
            <a:ext cx="457200" cy="457200"/>
          </a:xfrm>
          <a:prstGeom prst="ellipse">
            <a:avLst/>
          </a:prstGeom>
          <a:solidFill>
            <a:srgbClr val="2C9045">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Click your avatar</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Top-right corner of any GitHub page. It opens the account menu.</a:t>
            </a:r>
            <a:endParaRPr lang="en-US" sz="1100" dirty="0"/>
          </a:p>
        </p:txBody>
      </p:sp>
      <p:sp>
        <p:nvSpPr>
          <p:cNvPr id="24" name="Shape 20"/>
          <p:cNvSpPr/>
          <p:nvPr/>
        </p:nvSpPr>
        <p:spPr>
          <a:xfrm>
            <a:off x="3785616" y="1271016"/>
            <a:ext cx="4956048" cy="2831981"/>
          </a:xfrm>
          <a:prstGeom prst="roundRect">
            <a:avLst>
              <a:gd name="adj" fmla="val 1937"/>
            </a:avLst>
          </a:prstGeom>
          <a:solidFill>
            <a:srgbClr val="F4F8F5"/>
          </a:solidFill>
          <a:ln w="9525">
            <a:solidFill>
              <a:srgbClr val="D3E2D7"/>
            </a:solidFill>
            <a:prstDash val="solid"/>
          </a:ln>
        </p:spPr>
      </p:sp>
      <p:pic>
        <p:nvPicPr>
          <p:cNvPr id="25" name="Image 2" descr="Screenshot: github.com — your profile page"/>
          <p:cNvPicPr>
            <a:picLocks noChangeAspect="1"/>
          </p:cNvPicPr>
          <p:nvPr/>
        </p:nvPicPr>
        <p:blipFill>
          <a:blip r:embed="rId5"/>
          <a:stretch>
            <a:fillRect/>
          </a:stretch>
        </p:blipFill>
        <p:spPr>
          <a:xfrm>
            <a:off x="3840480" y="1325880"/>
            <a:ext cx="4846320" cy="2722253"/>
          </a:xfrm>
          <a:prstGeom prst="rect">
            <a:avLst/>
          </a:prstGeom>
        </p:spPr>
      </p:pic>
      <p:sp>
        <p:nvSpPr>
          <p:cNvPr id="26" name="Shape 21"/>
          <p:cNvSpPr/>
          <p:nvPr/>
        </p:nvSpPr>
        <p:spPr>
          <a:xfrm>
            <a:off x="8421865" y="1559246"/>
            <a:ext cx="204386" cy="208037"/>
          </a:xfrm>
          <a:prstGeom prst="rect">
            <a:avLst/>
          </a:prstGeom>
          <a:ln w="28575">
            <a:solidFill>
              <a:srgbClr val="D49A00"/>
            </a:solidFill>
            <a:prstDash val="solid"/>
          </a:ln>
        </p:spPr>
      </p:sp>
      <p:sp>
        <p:nvSpPr>
          <p:cNvPr id="27" name="Text 22"/>
          <p:cNvSpPr txBox="1"/>
          <p:nvPr/>
        </p:nvSpPr>
        <p:spPr>
          <a:xfrm>
            <a:off x="3840480" y="4157861"/>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 — your profile page</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OPEN SETTINGS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Go to Settings</a:t>
            </a:r>
            <a:endParaRPr lang="en-US" sz="2800" dirty="0"/>
          </a:p>
        </p:txBody>
      </p:sp>
      <p:sp>
        <p:nvSpPr>
          <p:cNvPr id="8" name="Shape 6"/>
          <p:cNvSpPr/>
          <p:nvPr/>
        </p:nvSpPr>
        <p:spPr>
          <a:xfrm>
            <a:off x="7543800" y="365760"/>
            <a:ext cx="109728" cy="109728"/>
          </a:xfrm>
          <a:prstGeom prst="ellipse">
            <a:avLst/>
          </a:prstGeom>
          <a:solidFill>
            <a:srgbClr val="2C9045"/>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10</a:t>
            </a:r>
            <a:endParaRPr lang="en-US" sz="850" dirty="0"/>
          </a:p>
        </p:txBody>
      </p:sp>
      <p:sp>
        <p:nvSpPr>
          <p:cNvPr id="16" name="Shape 14"/>
          <p:cNvSpPr/>
          <p:nvPr/>
        </p:nvSpPr>
        <p:spPr>
          <a:xfrm>
            <a:off x="457200" y="1371600"/>
            <a:ext cx="457200" cy="457200"/>
          </a:xfrm>
          <a:prstGeom prst="ellipse">
            <a:avLst/>
          </a:prstGeom>
          <a:solidFill>
            <a:srgbClr val="2C9045">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Scan the menu</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It lists Profile, Repositories, Stars, Organizations and more.</a:t>
            </a:r>
            <a:endParaRPr lang="en-US" sz="1100" dirty="0"/>
          </a:p>
        </p:txBody>
      </p:sp>
      <p:sp>
        <p:nvSpPr>
          <p:cNvPr id="20" name="Shape 17"/>
          <p:cNvSpPr/>
          <p:nvPr/>
        </p:nvSpPr>
        <p:spPr>
          <a:xfrm>
            <a:off x="457200" y="2240280"/>
            <a:ext cx="457200" cy="457200"/>
          </a:xfrm>
          <a:prstGeom prst="ellipse">
            <a:avLst/>
          </a:prstGeom>
          <a:solidFill>
            <a:srgbClr val="2C9045">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Choose Settings</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It opens your profile settings at github.com/settings/profile.</a:t>
            </a:r>
            <a:endParaRPr lang="en-US" sz="1100" dirty="0"/>
          </a:p>
        </p:txBody>
      </p:sp>
      <p:sp>
        <p:nvSpPr>
          <p:cNvPr id="24" name="Shape 20"/>
          <p:cNvSpPr/>
          <p:nvPr/>
        </p:nvSpPr>
        <p:spPr>
          <a:xfrm>
            <a:off x="3785616" y="1271016"/>
            <a:ext cx="4956048" cy="2816773"/>
          </a:xfrm>
          <a:prstGeom prst="roundRect">
            <a:avLst>
              <a:gd name="adj" fmla="val 1948"/>
            </a:avLst>
          </a:prstGeom>
          <a:solidFill>
            <a:srgbClr val="F4F8F5"/>
          </a:solidFill>
          <a:ln w="9525">
            <a:solidFill>
              <a:srgbClr val="D3E2D7"/>
            </a:solidFill>
            <a:prstDash val="solid"/>
          </a:ln>
        </p:spPr>
      </p:sp>
      <p:pic>
        <p:nvPicPr>
          <p:cNvPr id="25" name="Image 2" descr="Screenshot: github.com — account menu"/>
          <p:cNvPicPr>
            <a:picLocks noChangeAspect="1"/>
          </p:cNvPicPr>
          <p:nvPr/>
        </p:nvPicPr>
        <p:blipFill>
          <a:blip r:embed="rId5"/>
          <a:stretch>
            <a:fillRect/>
          </a:stretch>
        </p:blipFill>
        <p:spPr>
          <a:xfrm>
            <a:off x="3840480" y="1325880"/>
            <a:ext cx="4846320" cy="2707045"/>
          </a:xfrm>
          <a:prstGeom prst="rect">
            <a:avLst/>
          </a:prstGeom>
        </p:spPr>
      </p:pic>
      <p:sp>
        <p:nvSpPr>
          <p:cNvPr id="26" name="Shape 21"/>
          <p:cNvSpPr/>
          <p:nvPr/>
        </p:nvSpPr>
        <p:spPr>
          <a:xfrm>
            <a:off x="7582422" y="2978685"/>
            <a:ext cx="967184" cy="182489"/>
          </a:xfrm>
          <a:prstGeom prst="rect">
            <a:avLst/>
          </a:prstGeom>
          <a:ln w="28575">
            <a:solidFill>
              <a:srgbClr val="D49A00"/>
            </a:solidFill>
            <a:prstDash val="solid"/>
          </a:ln>
        </p:spPr>
      </p:sp>
      <p:sp>
        <p:nvSpPr>
          <p:cNvPr id="27" name="Text 22"/>
          <p:cNvSpPr txBox="1"/>
          <p:nvPr/>
        </p:nvSpPr>
        <p:spPr>
          <a:xfrm>
            <a:off x="3840480" y="4142653"/>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 — account menu</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DEVELOPER SETTINGS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Open Developer settings</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0E5A2E"/>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11</a:t>
            </a:r>
            <a:endParaRPr lang="en-US" sz="850" dirty="0"/>
          </a:p>
        </p:txBody>
      </p:sp>
      <p:sp>
        <p:nvSpPr>
          <p:cNvPr id="16" name="Shape 14"/>
          <p:cNvSpPr/>
          <p:nvPr/>
        </p:nvSpPr>
        <p:spPr>
          <a:xfrm>
            <a:off x="457200" y="1371600"/>
            <a:ext cx="457200" cy="457200"/>
          </a:xfrm>
          <a:prstGeom prst="ellipse">
            <a:avLst/>
          </a:prstGeom>
          <a:solidFill>
            <a:srgbClr val="0E5A2E">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Scroll the left sidebar</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Go all the way down, below the Archives section.</a:t>
            </a:r>
            <a:endParaRPr lang="en-US" sz="1100" dirty="0"/>
          </a:p>
        </p:txBody>
      </p:sp>
      <p:sp>
        <p:nvSpPr>
          <p:cNvPr id="20" name="Shape 17"/>
          <p:cNvSpPr/>
          <p:nvPr/>
        </p:nvSpPr>
        <p:spPr>
          <a:xfrm>
            <a:off x="457200" y="2240280"/>
            <a:ext cx="457200" cy="457200"/>
          </a:xfrm>
          <a:prstGeom prst="ellipse">
            <a:avLst/>
          </a:prstGeom>
          <a:solidFill>
            <a:srgbClr val="0E5A2E">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Click Developer settings</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This is where GitHub Apps, OAuth Apps and access tokens live.</a:t>
            </a:r>
            <a:endParaRPr lang="en-US" sz="1100" dirty="0"/>
          </a:p>
        </p:txBody>
      </p:sp>
      <p:sp>
        <p:nvSpPr>
          <p:cNvPr id="24" name="Shape 20"/>
          <p:cNvSpPr/>
          <p:nvPr/>
        </p:nvSpPr>
        <p:spPr>
          <a:xfrm>
            <a:off x="3785616" y="1271016"/>
            <a:ext cx="4956048" cy="2810831"/>
          </a:xfrm>
          <a:prstGeom prst="roundRect">
            <a:avLst>
              <a:gd name="adj" fmla="val 1952"/>
            </a:avLst>
          </a:prstGeom>
          <a:solidFill>
            <a:srgbClr val="F4F8F5"/>
          </a:solidFill>
          <a:ln w="9525">
            <a:solidFill>
              <a:srgbClr val="D3E2D7"/>
            </a:solidFill>
            <a:prstDash val="solid"/>
          </a:ln>
        </p:spPr>
      </p:sp>
      <p:pic>
        <p:nvPicPr>
          <p:cNvPr id="25" name="Image 2" descr="Screenshot: github.com/settings/profile"/>
          <p:cNvPicPr>
            <a:picLocks noChangeAspect="1"/>
          </p:cNvPicPr>
          <p:nvPr/>
        </p:nvPicPr>
        <p:blipFill>
          <a:blip r:embed="rId5"/>
          <a:stretch>
            <a:fillRect/>
          </a:stretch>
        </p:blipFill>
        <p:spPr>
          <a:xfrm>
            <a:off x="3840480" y="1325880"/>
            <a:ext cx="4846320" cy="2701103"/>
          </a:xfrm>
          <a:prstGeom prst="rect">
            <a:avLst/>
          </a:prstGeom>
        </p:spPr>
      </p:pic>
      <p:sp>
        <p:nvSpPr>
          <p:cNvPr id="26" name="Shape 21"/>
          <p:cNvSpPr/>
          <p:nvPr/>
        </p:nvSpPr>
        <p:spPr>
          <a:xfrm>
            <a:off x="3899931" y="3160331"/>
            <a:ext cx="964163" cy="185555"/>
          </a:xfrm>
          <a:prstGeom prst="rect">
            <a:avLst/>
          </a:prstGeom>
          <a:ln w="28575">
            <a:solidFill>
              <a:srgbClr val="D49A00"/>
            </a:solidFill>
            <a:prstDash val="solid"/>
          </a:ln>
        </p:spPr>
      </p:sp>
      <p:sp>
        <p:nvSpPr>
          <p:cNvPr id="27" name="Text 22"/>
          <p:cNvSpPr txBox="1"/>
          <p:nvPr/>
        </p:nvSpPr>
        <p:spPr>
          <a:xfrm>
            <a:off x="3840480" y="4136711"/>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github.com/settings/profile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03 · CLASSIC TOKENS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Select Tokens (classic)</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0E7C86"/>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12</a:t>
            </a:r>
            <a:endParaRPr lang="en-US" sz="850" dirty="0"/>
          </a:p>
        </p:txBody>
      </p:sp>
      <p:sp>
        <p:nvSpPr>
          <p:cNvPr id="16" name="Shape 14"/>
          <p:cNvSpPr/>
          <p:nvPr/>
        </p:nvSpPr>
        <p:spPr>
          <a:xfrm>
            <a:off x="457200" y="1371600"/>
            <a:ext cx="457200" cy="457200"/>
          </a:xfrm>
          <a:prstGeom prst="ellipse">
            <a:avLst/>
          </a:prstGeom>
          <a:solidFill>
            <a:srgbClr val="0E7C86">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Expand Personal access tokens</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Two options appear: Fine-grained tokens and Tokens (classic).</a:t>
            </a:r>
            <a:endParaRPr lang="en-US" sz="1100" dirty="0"/>
          </a:p>
        </p:txBody>
      </p:sp>
      <p:sp>
        <p:nvSpPr>
          <p:cNvPr id="20" name="Shape 17"/>
          <p:cNvSpPr/>
          <p:nvPr/>
        </p:nvSpPr>
        <p:spPr>
          <a:xfrm>
            <a:off x="457200" y="2240280"/>
            <a:ext cx="457200" cy="457200"/>
          </a:xfrm>
          <a:prstGeom prst="ellipse">
            <a:avLst/>
          </a:prstGeom>
          <a:solidFill>
            <a:srgbClr val="0E7C86">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Click Tokens (classic)</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The token type used in this guide.</a:t>
            </a:r>
            <a:endParaRPr lang="en-US" sz="1100" dirty="0"/>
          </a:p>
        </p:txBody>
      </p:sp>
      <p:sp>
        <p:nvSpPr>
          <p:cNvPr id="24" name="Shape 20"/>
          <p:cNvSpPr/>
          <p:nvPr/>
        </p:nvSpPr>
        <p:spPr>
          <a:xfrm>
            <a:off x="3785616" y="1271016"/>
            <a:ext cx="4956048" cy="2812240"/>
          </a:xfrm>
          <a:prstGeom prst="roundRect">
            <a:avLst>
              <a:gd name="adj" fmla="val 1951"/>
            </a:avLst>
          </a:prstGeom>
          <a:solidFill>
            <a:srgbClr val="F4F8F5"/>
          </a:solidFill>
          <a:ln w="9525">
            <a:solidFill>
              <a:srgbClr val="D3E2D7"/>
            </a:solidFill>
            <a:prstDash val="solid"/>
          </a:ln>
        </p:spPr>
      </p:sp>
      <p:pic>
        <p:nvPicPr>
          <p:cNvPr id="25" name="Image 2" descr="Screenshot: github.com/settings/apps"/>
          <p:cNvPicPr>
            <a:picLocks noChangeAspect="1"/>
          </p:cNvPicPr>
          <p:nvPr/>
        </p:nvPicPr>
        <p:blipFill>
          <a:blip r:embed="rId5"/>
          <a:stretch>
            <a:fillRect/>
          </a:stretch>
        </p:blipFill>
        <p:spPr>
          <a:xfrm>
            <a:off x="3840480" y="1325880"/>
            <a:ext cx="4846320" cy="2702512"/>
          </a:xfrm>
          <a:prstGeom prst="rect">
            <a:avLst/>
          </a:prstGeom>
        </p:spPr>
      </p:pic>
      <p:sp>
        <p:nvSpPr>
          <p:cNvPr id="26" name="Shape 21"/>
          <p:cNvSpPr/>
          <p:nvPr/>
        </p:nvSpPr>
        <p:spPr>
          <a:xfrm>
            <a:off x="3909608" y="2342234"/>
            <a:ext cx="964663" cy="123768"/>
          </a:xfrm>
          <a:prstGeom prst="rect">
            <a:avLst/>
          </a:prstGeom>
          <a:ln w="28575">
            <a:solidFill>
              <a:srgbClr val="D49A00"/>
            </a:solidFill>
            <a:prstDash val="solid"/>
          </a:ln>
        </p:spPr>
      </p:sp>
      <p:sp>
        <p:nvSpPr>
          <p:cNvPr id="27" name="Text 22"/>
          <p:cNvSpPr txBox="1"/>
          <p:nvPr/>
        </p:nvSpPr>
        <p:spPr>
          <a:xfrm>
            <a:off x="3840480" y="4138120"/>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github.com/settings/apps</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04 · GENERATE</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Generate a new classic token</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49A00"/>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13</a:t>
            </a:r>
            <a:endParaRPr lang="en-US" sz="850" dirty="0"/>
          </a:p>
        </p:txBody>
      </p:sp>
      <p:sp>
        <p:nvSpPr>
          <p:cNvPr id="16" name="Shape 14"/>
          <p:cNvSpPr/>
          <p:nvPr/>
        </p:nvSpPr>
        <p:spPr>
          <a:xfrm>
            <a:off x="457200" y="1371600"/>
            <a:ext cx="457200" cy="457200"/>
          </a:xfrm>
          <a:prstGeom prst="ellipse">
            <a:avLst/>
          </a:prstGeom>
          <a:solidFill>
            <a:srgbClr val="D49A00">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Open "Generate new token"</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The dropdown button above your list of tokens.</a:t>
            </a:r>
            <a:endParaRPr lang="en-US" sz="1100" dirty="0"/>
          </a:p>
        </p:txBody>
      </p:sp>
      <p:sp>
        <p:nvSpPr>
          <p:cNvPr id="20" name="Shape 17"/>
          <p:cNvSpPr/>
          <p:nvPr/>
        </p:nvSpPr>
        <p:spPr>
          <a:xfrm>
            <a:off x="457200" y="2240280"/>
            <a:ext cx="457200" cy="457200"/>
          </a:xfrm>
          <a:prstGeom prst="ellipse">
            <a:avLst/>
          </a:prstGeom>
          <a:solidFill>
            <a:srgbClr val="D49A00">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Pick "Generate new token (classic)"</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Labelled "For general use". GitHub may ask you to confirm your password.</a:t>
            </a:r>
            <a:endParaRPr lang="en-US" sz="1100" dirty="0"/>
          </a:p>
        </p:txBody>
      </p:sp>
      <p:sp>
        <p:nvSpPr>
          <p:cNvPr id="24" name="Shape 20"/>
          <p:cNvSpPr/>
          <p:nvPr/>
        </p:nvSpPr>
        <p:spPr>
          <a:xfrm>
            <a:off x="3785616" y="1271016"/>
            <a:ext cx="4956048" cy="2794544"/>
          </a:xfrm>
          <a:prstGeom prst="roundRect">
            <a:avLst>
              <a:gd name="adj" fmla="val 1963"/>
            </a:avLst>
          </a:prstGeom>
          <a:solidFill>
            <a:srgbClr val="F4F8F5"/>
          </a:solidFill>
          <a:ln w="9525">
            <a:solidFill>
              <a:srgbClr val="D3E2D7"/>
            </a:solidFill>
            <a:prstDash val="solid"/>
          </a:ln>
        </p:spPr>
      </p:sp>
      <p:pic>
        <p:nvPicPr>
          <p:cNvPr id="25" name="Image 2" descr="Screenshot: github.com/settings/tokens"/>
          <p:cNvPicPr>
            <a:picLocks noChangeAspect="1"/>
          </p:cNvPicPr>
          <p:nvPr/>
        </p:nvPicPr>
        <p:blipFill>
          <a:blip r:embed="rId5"/>
          <a:stretch>
            <a:fillRect/>
          </a:stretch>
        </p:blipFill>
        <p:spPr>
          <a:xfrm>
            <a:off x="3840480" y="1325880"/>
            <a:ext cx="4846320" cy="2684816"/>
          </a:xfrm>
          <a:prstGeom prst="rect">
            <a:avLst/>
          </a:prstGeom>
        </p:spPr>
      </p:pic>
      <p:sp>
        <p:nvSpPr>
          <p:cNvPr id="26" name="Shape 21"/>
          <p:cNvSpPr/>
          <p:nvPr/>
        </p:nvSpPr>
        <p:spPr>
          <a:xfrm>
            <a:off x="6869121" y="2165936"/>
            <a:ext cx="964663" cy="247536"/>
          </a:xfrm>
          <a:prstGeom prst="rect">
            <a:avLst/>
          </a:prstGeom>
          <a:ln w="28575">
            <a:solidFill>
              <a:srgbClr val="D49A00"/>
            </a:solidFill>
            <a:prstDash val="solid"/>
          </a:ln>
        </p:spPr>
      </p:sp>
      <p:sp>
        <p:nvSpPr>
          <p:cNvPr id="27" name="Text 22"/>
          <p:cNvSpPr txBox="1"/>
          <p:nvPr/>
        </p:nvSpPr>
        <p:spPr>
          <a:xfrm>
            <a:off x="3840480" y="4120424"/>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github.com/settings/tokens</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CONFIGURE</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Name it, set expiry, pick scopes</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C4621D"/>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14</a:t>
            </a:r>
            <a:endParaRPr lang="en-US" sz="850" dirty="0"/>
          </a:p>
        </p:txBody>
      </p:sp>
      <p:sp>
        <p:nvSpPr>
          <p:cNvPr id="16" name="Shape 14"/>
          <p:cNvSpPr/>
          <p:nvPr/>
        </p:nvSpPr>
        <p:spPr>
          <a:xfrm>
            <a:off x="457200" y="1371600"/>
            <a:ext cx="457200" cy="457200"/>
          </a:xfrm>
          <a:prstGeom prst="ellipse">
            <a:avLst/>
          </a:prstGeom>
          <a:solidFill>
            <a:srgbClr val="C4621D">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Add a note</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A name you will recognise, e.g. DI4A2026.</a:t>
            </a:r>
            <a:endParaRPr lang="en-US" sz="1100" dirty="0"/>
          </a:p>
        </p:txBody>
      </p:sp>
      <p:sp>
        <p:nvSpPr>
          <p:cNvPr id="20" name="Shape 17"/>
          <p:cNvSpPr/>
          <p:nvPr/>
        </p:nvSpPr>
        <p:spPr>
          <a:xfrm>
            <a:off x="457200" y="2103120"/>
            <a:ext cx="457200" cy="457200"/>
          </a:xfrm>
          <a:prstGeom prst="ellipse">
            <a:avLst/>
          </a:prstGeom>
          <a:solidFill>
            <a:srgbClr val="C4621D">
              <a:alpha val="22000"/>
            </a:srgbClr>
          </a:solidFill>
          <a:ln/>
        </p:spPr>
      </p:sp>
      <p:pic>
        <p:nvPicPr>
          <p:cNvPr id="21" name="Image 1" descr="preencoded.png"/>
          <p:cNvPicPr>
            <a:picLocks noChangeAspect="1"/>
          </p:cNvPicPr>
          <p:nvPr/>
        </p:nvPicPr>
        <p:blipFill>
          <a:blip r:embed="rId4"/>
          <a:stretch>
            <a:fillRect/>
          </a:stretch>
        </p:blipFill>
        <p:spPr>
          <a:xfrm>
            <a:off x="585216" y="2231136"/>
            <a:ext cx="201168" cy="201168"/>
          </a:xfrm>
          <a:prstGeom prst="rect">
            <a:avLst/>
          </a:prstGeom>
        </p:spPr>
      </p:pic>
      <p:sp>
        <p:nvSpPr>
          <p:cNvPr id="22" name="Text 18"/>
          <p:cNvSpPr txBox="1"/>
          <p:nvPr/>
        </p:nvSpPr>
        <p:spPr>
          <a:xfrm>
            <a:off x="1024128" y="208483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Set an expiration</a:t>
            </a:r>
            <a:endParaRPr lang="en-US" sz="1300" dirty="0"/>
          </a:p>
        </p:txBody>
      </p:sp>
      <p:sp>
        <p:nvSpPr>
          <p:cNvPr id="23" name="Text 19"/>
          <p:cNvSpPr txBox="1"/>
          <p:nvPr/>
        </p:nvSpPr>
        <p:spPr>
          <a:xfrm>
            <a:off x="1024128" y="235915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30 days covers the hands-on work and follow-up.</a:t>
            </a:r>
            <a:endParaRPr lang="en-US" sz="1100" dirty="0"/>
          </a:p>
        </p:txBody>
      </p:sp>
      <p:sp>
        <p:nvSpPr>
          <p:cNvPr id="24" name="Shape 20"/>
          <p:cNvSpPr/>
          <p:nvPr/>
        </p:nvSpPr>
        <p:spPr>
          <a:xfrm>
            <a:off x="457200" y="2834640"/>
            <a:ext cx="457200" cy="457200"/>
          </a:xfrm>
          <a:prstGeom prst="ellipse">
            <a:avLst/>
          </a:prstGeom>
          <a:solidFill>
            <a:srgbClr val="C4621D">
              <a:alpha val="22000"/>
            </a:srgbClr>
          </a:solidFill>
          <a:ln/>
        </p:spPr>
      </p:sp>
      <p:pic>
        <p:nvPicPr>
          <p:cNvPr id="25" name="Image 2" descr="preencoded.png"/>
          <p:cNvPicPr>
            <a:picLocks noChangeAspect="1"/>
          </p:cNvPicPr>
          <p:nvPr/>
        </p:nvPicPr>
        <p:blipFill>
          <a:blip r:embed="rId5"/>
          <a:stretch>
            <a:fillRect/>
          </a:stretch>
        </p:blipFill>
        <p:spPr>
          <a:xfrm>
            <a:off x="585216" y="2962656"/>
            <a:ext cx="201168" cy="201168"/>
          </a:xfrm>
          <a:prstGeom prst="rect">
            <a:avLst/>
          </a:prstGeom>
        </p:spPr>
      </p:pic>
      <p:sp>
        <p:nvSpPr>
          <p:cNvPr id="26" name="Text 21"/>
          <p:cNvSpPr txBox="1"/>
          <p:nvPr/>
        </p:nvSpPr>
        <p:spPr>
          <a:xfrm>
            <a:off x="1024128" y="281635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Tick repo and workflow</a:t>
            </a:r>
            <a:endParaRPr lang="en-US" sz="1300" dirty="0"/>
          </a:p>
        </p:txBody>
      </p:sp>
      <p:sp>
        <p:nvSpPr>
          <p:cNvPr id="27" name="Text 22"/>
          <p:cNvSpPr txBox="1"/>
          <p:nvPr/>
        </p:nvSpPr>
        <p:spPr>
          <a:xfrm>
            <a:off x="1024128" y="309067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Then scroll down and click "Generate token".</a:t>
            </a:r>
            <a:endParaRPr lang="en-US" sz="1100" dirty="0"/>
          </a:p>
        </p:txBody>
      </p:sp>
      <p:sp>
        <p:nvSpPr>
          <p:cNvPr id="28" name="Shape 23"/>
          <p:cNvSpPr/>
          <p:nvPr/>
        </p:nvSpPr>
        <p:spPr>
          <a:xfrm>
            <a:off x="3785616" y="1271016"/>
            <a:ext cx="4956048" cy="2827409"/>
          </a:xfrm>
          <a:prstGeom prst="roundRect">
            <a:avLst>
              <a:gd name="adj" fmla="val 1940"/>
            </a:avLst>
          </a:prstGeom>
          <a:solidFill>
            <a:srgbClr val="F4F8F5"/>
          </a:solidFill>
          <a:ln w="9525">
            <a:solidFill>
              <a:srgbClr val="D3E2D7"/>
            </a:solidFill>
            <a:prstDash val="solid"/>
          </a:ln>
        </p:spPr>
      </p:sp>
      <p:pic>
        <p:nvPicPr>
          <p:cNvPr id="29" name="Image 3" descr="Screenshot: github.com/settings/tokens/new"/>
          <p:cNvPicPr>
            <a:picLocks noChangeAspect="1"/>
          </p:cNvPicPr>
          <p:nvPr/>
        </p:nvPicPr>
        <p:blipFill>
          <a:blip r:embed="rId6"/>
          <a:stretch>
            <a:fillRect/>
          </a:stretch>
        </p:blipFill>
        <p:spPr>
          <a:xfrm>
            <a:off x="3840480" y="1325880"/>
            <a:ext cx="4846320" cy="2717681"/>
          </a:xfrm>
          <a:prstGeom prst="rect">
            <a:avLst/>
          </a:prstGeom>
        </p:spPr>
      </p:pic>
      <p:sp>
        <p:nvSpPr>
          <p:cNvPr id="30" name="Shape 24"/>
          <p:cNvSpPr/>
          <p:nvPr/>
        </p:nvSpPr>
        <p:spPr>
          <a:xfrm>
            <a:off x="5078124" y="2400255"/>
            <a:ext cx="1732753" cy="141969"/>
          </a:xfrm>
          <a:prstGeom prst="rect">
            <a:avLst/>
          </a:prstGeom>
          <a:ln w="28575">
            <a:solidFill>
              <a:srgbClr val="D49A00"/>
            </a:solidFill>
            <a:prstDash val="solid"/>
          </a:ln>
        </p:spPr>
      </p:sp>
      <p:sp>
        <p:nvSpPr>
          <p:cNvPr id="31" name="Shape 25"/>
          <p:cNvSpPr/>
          <p:nvPr/>
        </p:nvSpPr>
        <p:spPr>
          <a:xfrm>
            <a:off x="5103606" y="3263498"/>
            <a:ext cx="131049" cy="141969"/>
          </a:xfrm>
          <a:prstGeom prst="rect">
            <a:avLst/>
          </a:prstGeom>
          <a:ln w="28575">
            <a:solidFill>
              <a:srgbClr val="D49A00"/>
            </a:solidFill>
            <a:prstDash val="solid"/>
          </a:ln>
        </p:spPr>
      </p:sp>
      <p:sp>
        <p:nvSpPr>
          <p:cNvPr id="32" name="Shape 26"/>
          <p:cNvSpPr/>
          <p:nvPr/>
        </p:nvSpPr>
        <p:spPr>
          <a:xfrm>
            <a:off x="5078124" y="3907817"/>
            <a:ext cx="131049" cy="141969"/>
          </a:xfrm>
          <a:prstGeom prst="rect">
            <a:avLst/>
          </a:prstGeom>
          <a:ln w="28575">
            <a:solidFill>
              <a:srgbClr val="D49A00"/>
            </a:solidFill>
            <a:prstDash val="solid"/>
          </a:ln>
        </p:spPr>
      </p:sp>
      <p:sp>
        <p:nvSpPr>
          <p:cNvPr id="33" name="Text 27"/>
          <p:cNvSpPr txBox="1"/>
          <p:nvPr/>
        </p:nvSpPr>
        <p:spPr>
          <a:xfrm>
            <a:off x="3840480" y="4153289"/>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github.com/settings/tokens/new</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COPY &amp; STORE</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Copy your token now</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B83B2E"/>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15</a:t>
            </a:r>
            <a:endParaRPr lang="en-US" sz="850" dirty="0"/>
          </a:p>
        </p:txBody>
      </p:sp>
      <p:sp>
        <p:nvSpPr>
          <p:cNvPr id="16" name="Shape 14"/>
          <p:cNvSpPr/>
          <p:nvPr/>
        </p:nvSpPr>
        <p:spPr>
          <a:xfrm>
            <a:off x="457200" y="1371600"/>
            <a:ext cx="457200" cy="457200"/>
          </a:xfrm>
          <a:prstGeom prst="ellipse">
            <a:avLst/>
          </a:prstGeom>
          <a:solidFill>
            <a:srgbClr val="B83B2E">
              <a:alpha val="22000"/>
            </a:srgbClr>
          </a:solidFill>
          <a:ln/>
        </p:spPr>
      </p:sp>
      <p:pic>
        <p:nvPicPr>
          <p:cNvPr id="17" name="Image 0" descr="preencoded.png"/>
          <p:cNvPicPr>
            <a:picLocks noChangeAspect="1"/>
          </p:cNvPicPr>
          <p:nvPr/>
        </p:nvPicPr>
        <p:blipFill>
          <a:blip r:embed="rId3"/>
          <a:stretch>
            <a:fillRect/>
          </a:stretch>
        </p:blipFill>
        <p:spPr>
          <a:xfrm>
            <a:off x="585216" y="1499616"/>
            <a:ext cx="201168" cy="201168"/>
          </a:xfrm>
          <a:prstGeom prst="rect">
            <a:avLst/>
          </a:prstGeom>
        </p:spPr>
      </p:pic>
      <p:sp>
        <p:nvSpPr>
          <p:cNvPr id="18" name="Text 15"/>
          <p:cNvSpPr txBox="1"/>
          <p:nvPr/>
        </p:nvSpPr>
        <p:spPr>
          <a:xfrm>
            <a:off x="1024128" y="135331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Click the copy icon</a:t>
            </a:r>
            <a:endParaRPr lang="en-US" sz="1300" dirty="0"/>
          </a:p>
        </p:txBody>
      </p:sp>
      <p:sp>
        <p:nvSpPr>
          <p:cNvPr id="19" name="Text 16"/>
          <p:cNvSpPr txBox="1"/>
          <p:nvPr/>
        </p:nvSpPr>
        <p:spPr>
          <a:xfrm>
            <a:off x="1024128" y="162763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Next to the new token, which starts with ghp_.</a:t>
            </a:r>
            <a:endParaRPr lang="en-US" sz="1100" dirty="0"/>
          </a:p>
        </p:txBody>
      </p:sp>
      <p:sp>
        <p:nvSpPr>
          <p:cNvPr id="20" name="Shape 17"/>
          <p:cNvSpPr/>
          <p:nvPr/>
        </p:nvSpPr>
        <p:spPr>
          <a:xfrm>
            <a:off x="457200" y="2240280"/>
            <a:ext cx="457200" cy="457200"/>
          </a:xfrm>
          <a:prstGeom prst="ellipse">
            <a:avLst/>
          </a:prstGeom>
          <a:solidFill>
            <a:srgbClr val="B83B2E">
              <a:alpha val="22000"/>
            </a:srgbClr>
          </a:solidFill>
          <a:ln/>
        </p:spPr>
      </p:sp>
      <p:pic>
        <p:nvPicPr>
          <p:cNvPr id="21" name="Image 1" descr="preencoded.png"/>
          <p:cNvPicPr>
            <a:picLocks noChangeAspect="1"/>
          </p:cNvPicPr>
          <p:nvPr/>
        </p:nvPicPr>
        <p:blipFill>
          <a:blip r:embed="rId4"/>
          <a:stretch>
            <a:fillRect/>
          </a:stretch>
        </p:blipFill>
        <p:spPr>
          <a:xfrm>
            <a:off x="585216" y="2368296"/>
            <a:ext cx="201168" cy="201168"/>
          </a:xfrm>
          <a:prstGeom prst="rect">
            <a:avLst/>
          </a:prstGeom>
        </p:spPr>
      </p:pic>
      <p:sp>
        <p:nvSpPr>
          <p:cNvPr id="22" name="Text 18"/>
          <p:cNvSpPr txBox="1"/>
          <p:nvPr/>
        </p:nvSpPr>
        <p:spPr>
          <a:xfrm>
            <a:off x="1024128" y="2221992"/>
            <a:ext cx="2514600" cy="27432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Store it safely</a:t>
            </a:r>
            <a:endParaRPr lang="en-US" sz="1300" dirty="0"/>
          </a:p>
        </p:txBody>
      </p:sp>
      <p:sp>
        <p:nvSpPr>
          <p:cNvPr id="23" name="Text 19"/>
          <p:cNvSpPr txBox="1"/>
          <p:nvPr/>
        </p:nvSpPr>
        <p:spPr>
          <a:xfrm>
            <a:off x="1024128" y="2496312"/>
            <a:ext cx="2514600" cy="438912"/>
          </a:xfrm>
          <a:prstGeom prst="rect">
            <a:avLst/>
          </a:prstGeom>
          <a:noFill/>
          <a:ln/>
        </p:spPr>
        <p:txBody>
          <a:bodyPr wrap="square" lIns="0" tIns="0" rIns="0" bIns="0" rtlCol="0" anchor="t"/>
          <a:lstStyle/>
          <a:p>
            <a:pPr marL="0" indent="0">
              <a:buNone/>
            </a:pPr>
            <a:r>
              <a:rPr lang="en-US" sz="1100" dirty="0">
                <a:solidFill>
                  <a:srgbClr val="5A6660"/>
                </a:solidFill>
                <a:latin typeface="Calibri" pitchFamily="34" charset="0"/>
                <a:ea typeface="Calibri" pitchFamily="34" charset="-122"/>
                <a:cs typeface="Calibri" pitchFamily="34" charset="-120"/>
              </a:rPr>
              <a:t>In a password manager or an environment variable.</a:t>
            </a:r>
            <a:endParaRPr lang="en-US" sz="1100" dirty="0"/>
          </a:p>
        </p:txBody>
      </p:sp>
      <p:sp>
        <p:nvSpPr>
          <p:cNvPr id="24" name="Shape 20"/>
          <p:cNvSpPr/>
          <p:nvPr/>
        </p:nvSpPr>
        <p:spPr>
          <a:xfrm>
            <a:off x="457200" y="3200400"/>
            <a:ext cx="3108960" cy="868680"/>
          </a:xfrm>
          <a:prstGeom prst="roundRect">
            <a:avLst>
              <a:gd name="adj" fmla="val 8421"/>
            </a:avLst>
          </a:prstGeom>
          <a:solidFill>
            <a:srgbClr val="D49A00">
              <a:alpha val="13000"/>
            </a:srgbClr>
          </a:solidFill>
          <a:ln w="12700">
            <a:solidFill>
              <a:srgbClr val="D49A00"/>
            </a:solidFill>
            <a:prstDash val="solid"/>
          </a:ln>
        </p:spPr>
      </p:sp>
      <p:sp>
        <p:nvSpPr>
          <p:cNvPr id="25" name="Shape 21"/>
          <p:cNvSpPr/>
          <p:nvPr/>
        </p:nvSpPr>
        <p:spPr>
          <a:xfrm>
            <a:off x="566928" y="3383280"/>
            <a:ext cx="420624" cy="420624"/>
          </a:xfrm>
          <a:prstGeom prst="ellipse">
            <a:avLst/>
          </a:prstGeom>
          <a:solidFill>
            <a:srgbClr val="D49A00">
              <a:alpha val="25000"/>
            </a:srgbClr>
          </a:solidFill>
          <a:ln/>
        </p:spPr>
      </p:sp>
      <p:pic>
        <p:nvPicPr>
          <p:cNvPr id="26" name="Image 2" descr="preencoded.png"/>
          <p:cNvPicPr>
            <a:picLocks noChangeAspect="1"/>
          </p:cNvPicPr>
          <p:nvPr/>
        </p:nvPicPr>
        <p:blipFill>
          <a:blip r:embed="rId5"/>
          <a:stretch>
            <a:fillRect/>
          </a:stretch>
        </p:blipFill>
        <p:spPr>
          <a:xfrm>
            <a:off x="684703" y="3501055"/>
            <a:ext cx="185075" cy="185075"/>
          </a:xfrm>
          <a:prstGeom prst="rect">
            <a:avLst/>
          </a:prstGeom>
        </p:spPr>
      </p:pic>
      <p:sp>
        <p:nvSpPr>
          <p:cNvPr id="27" name="Text 22"/>
          <p:cNvSpPr txBox="1"/>
          <p:nvPr/>
        </p:nvSpPr>
        <p:spPr>
          <a:xfrm>
            <a:off x="1078992" y="3246120"/>
            <a:ext cx="2395728" cy="7772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You won't be able to see it again. If you lose it, generate a new one.</a:t>
            </a:r>
            <a:endParaRPr lang="en-US" sz="1100" dirty="0"/>
          </a:p>
        </p:txBody>
      </p:sp>
      <p:sp>
        <p:nvSpPr>
          <p:cNvPr id="28" name="Shape 23"/>
          <p:cNvSpPr/>
          <p:nvPr/>
        </p:nvSpPr>
        <p:spPr>
          <a:xfrm>
            <a:off x="3785616" y="1271016"/>
            <a:ext cx="4956048" cy="2751400"/>
          </a:xfrm>
          <a:prstGeom prst="roundRect">
            <a:avLst>
              <a:gd name="adj" fmla="val 1994"/>
            </a:avLst>
          </a:prstGeom>
          <a:solidFill>
            <a:srgbClr val="F4F8F5"/>
          </a:solidFill>
          <a:ln w="9525">
            <a:solidFill>
              <a:srgbClr val="D3E2D7"/>
            </a:solidFill>
            <a:prstDash val="solid"/>
          </a:ln>
        </p:spPr>
      </p:sp>
      <p:pic>
        <p:nvPicPr>
          <p:cNvPr id="29" name="Image 3" descr="Screenshot: github.com/settings/tokens — token masked"/>
          <p:cNvPicPr>
            <a:picLocks noChangeAspect="1"/>
          </p:cNvPicPr>
          <p:nvPr/>
        </p:nvPicPr>
        <p:blipFill>
          <a:blip r:embed="rId6"/>
          <a:stretch>
            <a:fillRect/>
          </a:stretch>
        </p:blipFill>
        <p:spPr>
          <a:xfrm>
            <a:off x="3840480" y="1325880"/>
            <a:ext cx="4846320" cy="2641672"/>
          </a:xfrm>
          <a:prstGeom prst="rect">
            <a:avLst/>
          </a:prstGeom>
        </p:spPr>
      </p:pic>
      <p:sp>
        <p:nvSpPr>
          <p:cNvPr id="30" name="Shape 24"/>
          <p:cNvSpPr/>
          <p:nvPr/>
        </p:nvSpPr>
        <p:spPr>
          <a:xfrm>
            <a:off x="6348457" y="2686698"/>
            <a:ext cx="130851" cy="141756"/>
          </a:xfrm>
          <a:prstGeom prst="rect">
            <a:avLst/>
          </a:prstGeom>
          <a:ln w="28575">
            <a:solidFill>
              <a:srgbClr val="D49A00"/>
            </a:solidFill>
            <a:prstDash val="solid"/>
          </a:ln>
        </p:spPr>
      </p:sp>
      <p:sp>
        <p:nvSpPr>
          <p:cNvPr id="31" name="Text 25"/>
          <p:cNvSpPr txBox="1"/>
          <p:nvPr/>
        </p:nvSpPr>
        <p:spPr>
          <a:xfrm>
            <a:off x="3840480" y="4077280"/>
            <a:ext cx="4846320" cy="228600"/>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Screenshot: github.com/settings/tokens — token masked</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COPY &amp; STORE</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Keep your token safe</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B83B2E"/>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16</a:t>
            </a:r>
            <a:endParaRPr lang="en-US" sz="850" dirty="0"/>
          </a:p>
        </p:txBody>
      </p:sp>
      <p:sp>
        <p:nvSpPr>
          <p:cNvPr id="16" name="Shape 14"/>
          <p:cNvSpPr/>
          <p:nvPr/>
        </p:nvSpPr>
        <p:spPr>
          <a:xfrm>
            <a:off x="457200" y="1325880"/>
            <a:ext cx="3977640" cy="1371600"/>
          </a:xfrm>
          <a:prstGeom prst="roundRect">
            <a:avLst>
              <a:gd name="adj" fmla="val 5333"/>
            </a:avLst>
          </a:prstGeom>
          <a:solidFill>
            <a:srgbClr val="F4F8F5"/>
          </a:solidFill>
          <a:ln w="9525">
            <a:solidFill>
              <a:srgbClr val="D3E2D7"/>
            </a:solidFill>
            <a:prstDash val="solid"/>
          </a:ln>
        </p:spPr>
      </p:sp>
      <p:sp>
        <p:nvSpPr>
          <p:cNvPr id="17" name="Shape 15"/>
          <p:cNvSpPr/>
          <p:nvPr/>
        </p:nvSpPr>
        <p:spPr>
          <a:xfrm>
            <a:off x="685800" y="1581912"/>
            <a:ext cx="548640" cy="548640"/>
          </a:xfrm>
          <a:prstGeom prst="ellipse">
            <a:avLst/>
          </a:prstGeom>
          <a:solidFill>
            <a:srgbClr val="2C9045">
              <a:alpha val="22000"/>
            </a:srgbClr>
          </a:solidFill>
          <a:ln/>
        </p:spPr>
      </p:sp>
      <p:pic>
        <p:nvPicPr>
          <p:cNvPr id="18" name="Image 0" descr="preencoded.png"/>
          <p:cNvPicPr>
            <a:picLocks noChangeAspect="1"/>
          </p:cNvPicPr>
          <p:nvPr/>
        </p:nvPicPr>
        <p:blipFill>
          <a:blip r:embed="rId3"/>
          <a:stretch>
            <a:fillRect/>
          </a:stretch>
        </p:blipFill>
        <p:spPr>
          <a:xfrm>
            <a:off x="839419" y="1735531"/>
            <a:ext cx="241402" cy="241402"/>
          </a:xfrm>
          <a:prstGeom prst="rect">
            <a:avLst/>
          </a:prstGeom>
        </p:spPr>
      </p:pic>
      <p:sp>
        <p:nvSpPr>
          <p:cNvPr id="19" name="Text 16"/>
          <p:cNvSpPr txBox="1"/>
          <p:nvPr/>
        </p:nvSpPr>
        <p:spPr>
          <a:xfrm>
            <a:off x="1417320" y="15270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Never commit it</a:t>
            </a:r>
            <a:endParaRPr lang="en-US" sz="1400" dirty="0"/>
          </a:p>
        </p:txBody>
      </p:sp>
      <p:sp>
        <p:nvSpPr>
          <p:cNvPr id="20" name="Text 17"/>
          <p:cNvSpPr txBox="1"/>
          <p:nvPr/>
        </p:nvSpPr>
        <p:spPr>
          <a:xfrm>
            <a:off x="1417320" y="18745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Keep tokens out of code and repositories. Use an environment variable or a GitHub Actions secret.</a:t>
            </a:r>
            <a:endParaRPr lang="en-US" sz="1150" dirty="0"/>
          </a:p>
        </p:txBody>
      </p:sp>
      <p:sp>
        <p:nvSpPr>
          <p:cNvPr id="21" name="Shape 18"/>
          <p:cNvSpPr/>
          <p:nvPr/>
        </p:nvSpPr>
        <p:spPr>
          <a:xfrm>
            <a:off x="4709160" y="1325880"/>
            <a:ext cx="3977640" cy="1371600"/>
          </a:xfrm>
          <a:prstGeom prst="roundRect">
            <a:avLst>
              <a:gd name="adj" fmla="val 5333"/>
            </a:avLst>
          </a:prstGeom>
          <a:solidFill>
            <a:srgbClr val="F4F8F5"/>
          </a:solidFill>
          <a:ln w="9525">
            <a:solidFill>
              <a:srgbClr val="D3E2D7"/>
            </a:solidFill>
            <a:prstDash val="solid"/>
          </a:ln>
        </p:spPr>
      </p:sp>
      <p:sp>
        <p:nvSpPr>
          <p:cNvPr id="22" name="Shape 19"/>
          <p:cNvSpPr/>
          <p:nvPr/>
        </p:nvSpPr>
        <p:spPr>
          <a:xfrm>
            <a:off x="4937760" y="1581912"/>
            <a:ext cx="548640" cy="548640"/>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5091379" y="1735531"/>
            <a:ext cx="241402" cy="241402"/>
          </a:xfrm>
          <a:prstGeom prst="rect">
            <a:avLst/>
          </a:prstGeom>
        </p:spPr>
      </p:pic>
      <p:sp>
        <p:nvSpPr>
          <p:cNvPr id="24" name="Text 20"/>
          <p:cNvSpPr txBox="1"/>
          <p:nvPr/>
        </p:nvSpPr>
        <p:spPr>
          <a:xfrm>
            <a:off x="5669280" y="15270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Always set an expiry</a:t>
            </a:r>
            <a:endParaRPr lang="en-US" sz="1400" dirty="0"/>
          </a:p>
        </p:txBody>
      </p:sp>
      <p:sp>
        <p:nvSpPr>
          <p:cNvPr id="25" name="Text 21"/>
          <p:cNvSpPr txBox="1"/>
          <p:nvPr/>
        </p:nvSpPr>
        <p:spPr>
          <a:xfrm>
            <a:off x="5669280" y="18745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Short-lived tokens limit the damage if one leaks. Regenerate when it expires.</a:t>
            </a:r>
            <a:endParaRPr lang="en-US" sz="1150" dirty="0"/>
          </a:p>
        </p:txBody>
      </p:sp>
      <p:sp>
        <p:nvSpPr>
          <p:cNvPr id="26" name="Shape 22"/>
          <p:cNvSpPr/>
          <p:nvPr/>
        </p:nvSpPr>
        <p:spPr>
          <a:xfrm>
            <a:off x="457200" y="2926080"/>
            <a:ext cx="3977640" cy="1371600"/>
          </a:xfrm>
          <a:prstGeom prst="roundRect">
            <a:avLst>
              <a:gd name="adj" fmla="val 5333"/>
            </a:avLst>
          </a:prstGeom>
          <a:solidFill>
            <a:srgbClr val="F4F8F5"/>
          </a:solidFill>
          <a:ln w="9525">
            <a:solidFill>
              <a:srgbClr val="D3E2D7"/>
            </a:solidFill>
            <a:prstDash val="solid"/>
          </a:ln>
        </p:spPr>
      </p:sp>
      <p:sp>
        <p:nvSpPr>
          <p:cNvPr id="27" name="Shape 23"/>
          <p:cNvSpPr/>
          <p:nvPr/>
        </p:nvSpPr>
        <p:spPr>
          <a:xfrm>
            <a:off x="685800" y="3182112"/>
            <a:ext cx="548640" cy="548640"/>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839419" y="3335731"/>
            <a:ext cx="241402" cy="241402"/>
          </a:xfrm>
          <a:prstGeom prst="rect">
            <a:avLst/>
          </a:prstGeom>
        </p:spPr>
      </p:pic>
      <p:sp>
        <p:nvSpPr>
          <p:cNvPr id="29" name="Text 24"/>
          <p:cNvSpPr txBox="1"/>
          <p:nvPr/>
        </p:nvSpPr>
        <p:spPr>
          <a:xfrm>
            <a:off x="1417320" y="31272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Grant minimum scopes</a:t>
            </a:r>
            <a:endParaRPr lang="en-US" sz="1400" dirty="0"/>
          </a:p>
        </p:txBody>
      </p:sp>
      <p:sp>
        <p:nvSpPr>
          <p:cNvPr id="30" name="Text 25"/>
          <p:cNvSpPr txBox="1"/>
          <p:nvPr/>
        </p:nvSpPr>
        <p:spPr>
          <a:xfrm>
            <a:off x="1417320" y="34747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Tick only the scopes your script needs. For this guide: repo and workflow.</a:t>
            </a:r>
            <a:endParaRPr lang="en-US" sz="1150" dirty="0"/>
          </a:p>
        </p:txBody>
      </p:sp>
      <p:sp>
        <p:nvSpPr>
          <p:cNvPr id="31" name="Shape 26"/>
          <p:cNvSpPr/>
          <p:nvPr/>
        </p:nvSpPr>
        <p:spPr>
          <a:xfrm>
            <a:off x="4709160" y="2926080"/>
            <a:ext cx="3977640" cy="1371600"/>
          </a:xfrm>
          <a:prstGeom prst="roundRect">
            <a:avLst>
              <a:gd name="adj" fmla="val 5333"/>
            </a:avLst>
          </a:prstGeom>
          <a:solidFill>
            <a:srgbClr val="F4F8F5"/>
          </a:solidFill>
          <a:ln w="9525">
            <a:solidFill>
              <a:srgbClr val="D3E2D7"/>
            </a:solidFill>
            <a:prstDash val="solid"/>
          </a:ln>
        </p:spPr>
      </p:sp>
      <p:sp>
        <p:nvSpPr>
          <p:cNvPr id="32" name="Shape 27"/>
          <p:cNvSpPr/>
          <p:nvPr/>
        </p:nvSpPr>
        <p:spPr>
          <a:xfrm>
            <a:off x="4937760" y="3182112"/>
            <a:ext cx="548640" cy="548640"/>
          </a:xfrm>
          <a:prstGeom prst="ellipse">
            <a:avLst/>
          </a:prstGeom>
          <a:solidFill>
            <a:srgbClr val="B83B2E">
              <a:alpha val="22000"/>
            </a:srgbClr>
          </a:solidFill>
          <a:ln/>
        </p:spPr>
      </p:sp>
      <p:pic>
        <p:nvPicPr>
          <p:cNvPr id="33" name="Image 3" descr="preencoded.png"/>
          <p:cNvPicPr>
            <a:picLocks noChangeAspect="1"/>
          </p:cNvPicPr>
          <p:nvPr/>
        </p:nvPicPr>
        <p:blipFill>
          <a:blip r:embed="rId6"/>
          <a:stretch>
            <a:fillRect/>
          </a:stretch>
        </p:blipFill>
        <p:spPr>
          <a:xfrm>
            <a:off x="5091379" y="3335731"/>
            <a:ext cx="241402" cy="241402"/>
          </a:xfrm>
          <a:prstGeom prst="rect">
            <a:avLst/>
          </a:prstGeom>
        </p:spPr>
      </p:pic>
      <p:sp>
        <p:nvSpPr>
          <p:cNvPr id="34" name="Text 28"/>
          <p:cNvSpPr txBox="1"/>
          <p:nvPr/>
        </p:nvSpPr>
        <p:spPr>
          <a:xfrm>
            <a:off x="5669280" y="3127248"/>
            <a:ext cx="2834640" cy="32004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Revoke if exposed</a:t>
            </a:r>
            <a:endParaRPr lang="en-US" sz="1400" dirty="0"/>
          </a:p>
        </p:txBody>
      </p:sp>
      <p:sp>
        <p:nvSpPr>
          <p:cNvPr id="35" name="Text 29"/>
          <p:cNvSpPr txBox="1"/>
          <p:nvPr/>
        </p:nvSpPr>
        <p:spPr>
          <a:xfrm>
            <a:off x="5669280" y="3474720"/>
            <a:ext cx="2834640" cy="685800"/>
          </a:xfrm>
          <a:prstGeom prst="rect">
            <a:avLst/>
          </a:prstGeom>
          <a:noFill/>
          <a:ln/>
        </p:spPr>
        <p:txBody>
          <a:bodyPr wrap="square" lIns="0" tIns="0" rIns="0" bIns="0" rtlCol="0" anchor="t"/>
          <a:lstStyle/>
          <a:p>
            <a:pPr marL="0" indent="0">
              <a:buNone/>
            </a:pPr>
            <a:r>
              <a:rPr lang="en-US" sz="1150" dirty="0">
                <a:solidFill>
                  <a:srgbClr val="5A6660"/>
                </a:solidFill>
                <a:latin typeface="Calibri" pitchFamily="34" charset="0"/>
                <a:ea typeface="Calibri" pitchFamily="34" charset="-122"/>
                <a:cs typeface="Calibri" pitchFamily="34" charset="-120"/>
              </a:rPr>
              <a:t>Developer settings › Tokens (classic) › Delete, then generate a new token.</a:t>
            </a:r>
            <a:endParaRPr lang="en-US" sz="1150" dirty="0"/>
          </a:p>
        </p:txBody>
      </p:sp>
      <p:sp>
        <p:nvSpPr>
          <p:cNvPr id="36" name="Text 30"/>
          <p:cNvSpPr txBox="1"/>
          <p:nvPr/>
        </p:nvSpPr>
        <p:spPr>
          <a:xfrm>
            <a:off x="457200" y="4544568"/>
            <a:ext cx="8229600" cy="201168"/>
          </a:xfrm>
          <a:prstGeom prst="rect">
            <a:avLst/>
          </a:prstGeom>
          <a:noFill/>
          <a:ln/>
        </p:spPr>
        <p:txBody>
          <a:bodyPr wrap="square" lIns="0" tIns="0" rIns="0" bIns="0" rtlCol="0" anchor="ctr"/>
          <a:lstStyle/>
          <a:p>
            <a:pPr marL="0" indent="0">
              <a:buNone/>
            </a:pPr>
            <a:r>
              <a:rPr lang="en-US" sz="900" i="1" dirty="0">
                <a:solidFill>
                  <a:srgbClr val="5A6660"/>
                </a:solidFill>
                <a:latin typeface="Calibri" pitchFamily="34" charset="0"/>
                <a:ea typeface="Calibri" pitchFamily="34" charset="-122"/>
                <a:cs typeface="Calibri" pitchFamily="34" charset="-120"/>
              </a:rPr>
              <a:t>Source: GitHub Docs, "Managing your personal access tokens".</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0" y="3566160"/>
            <a:ext cx="2560320" cy="2560320"/>
          </a:xfrm>
          <a:prstGeom prst="ellipse">
            <a:avLst/>
          </a:prstGeom>
          <a:solidFill>
            <a:srgbClr val="2C9045">
              <a:alpha val="5000"/>
            </a:srgbClr>
          </a:solidFill>
          <a:ln/>
        </p:spPr>
      </p:sp>
      <p:sp>
        <p:nvSpPr>
          <p:cNvPr id="3" name="Shape 1"/>
          <p:cNvSpPr/>
          <p:nvPr/>
        </p:nvSpPr>
        <p:spPr>
          <a:xfrm>
            <a:off x="8001000" y="4069080"/>
            <a:ext cx="1554480" cy="1554480"/>
          </a:xfrm>
          <a:prstGeom prst="ellipse">
            <a:avLst/>
          </a:prstGeom>
          <a:solidFill>
            <a:srgbClr val="2C9045">
              <a:alpha val="5000"/>
            </a:srgbClr>
          </a:solidFill>
          <a:ln/>
        </p:spPr>
      </p:sp>
      <p:sp>
        <p:nvSpPr>
          <p:cNvPr id="4" name="Shape 2"/>
          <p:cNvSpPr/>
          <p:nvPr/>
        </p:nvSpPr>
        <p:spPr>
          <a:xfrm>
            <a:off x="0" y="0"/>
            <a:ext cx="9144000" cy="54864"/>
          </a:xfrm>
          <a:prstGeom prst="rect">
            <a:avLst/>
          </a:prstGeom>
          <a:solidFill>
            <a:srgbClr val="2C9045"/>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858000" cy="27432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a:t>
            </a:r>
            <a:endParaRPr lang="en-US" sz="2800" dirty="0"/>
          </a:p>
        </p:txBody>
      </p:sp>
      <p:sp>
        <p:nvSpPr>
          <p:cNvPr id="8" name="Shape 6"/>
          <p:cNvSpPr/>
          <p:nvPr/>
        </p:nvSpPr>
        <p:spPr>
          <a:xfrm>
            <a:off x="7543800" y="365760"/>
            <a:ext cx="109728" cy="109728"/>
          </a:xfrm>
          <a:prstGeom prst="ellipse">
            <a:avLst/>
          </a:prstGeom>
          <a:solidFill>
            <a:srgbClr val="D3E2D7"/>
          </a:solidFill>
          <a:ln/>
        </p:spPr>
      </p:sp>
      <p:sp>
        <p:nvSpPr>
          <p:cNvPr id="9" name="Shape 7"/>
          <p:cNvSpPr/>
          <p:nvPr/>
        </p:nvSpPr>
        <p:spPr>
          <a:xfrm>
            <a:off x="7735824" y="365760"/>
            <a:ext cx="109728" cy="109728"/>
          </a:xfrm>
          <a:prstGeom prst="ellipse">
            <a:avLst/>
          </a:prstGeom>
          <a:solidFill>
            <a:srgbClr val="D3E2D7"/>
          </a:solidFill>
          <a:ln/>
        </p:spPr>
      </p:sp>
      <p:sp>
        <p:nvSpPr>
          <p:cNvPr id="10" name="Shape 8"/>
          <p:cNvSpPr/>
          <p:nvPr/>
        </p:nvSpPr>
        <p:spPr>
          <a:xfrm>
            <a:off x="7927848" y="365760"/>
            <a:ext cx="109728" cy="109728"/>
          </a:xfrm>
          <a:prstGeom prst="ellipse">
            <a:avLst/>
          </a:prstGeom>
          <a:solidFill>
            <a:srgbClr val="D3E2D7"/>
          </a:solidFill>
          <a:ln/>
        </p:spPr>
      </p:sp>
      <p:sp>
        <p:nvSpPr>
          <p:cNvPr id="11" name="Shape 9"/>
          <p:cNvSpPr/>
          <p:nvPr/>
        </p:nvSpPr>
        <p:spPr>
          <a:xfrm>
            <a:off x="8119872" y="365760"/>
            <a:ext cx="109728" cy="109728"/>
          </a:xfrm>
          <a:prstGeom prst="ellipse">
            <a:avLst/>
          </a:prstGeom>
          <a:solidFill>
            <a:srgbClr val="D3E2D7"/>
          </a:solidFill>
          <a:ln/>
        </p:spPr>
      </p:sp>
      <p:sp>
        <p:nvSpPr>
          <p:cNvPr id="12" name="Shape 10"/>
          <p:cNvSpPr/>
          <p:nvPr/>
        </p:nvSpPr>
        <p:spPr>
          <a:xfrm>
            <a:off x="8311896" y="365760"/>
            <a:ext cx="109728" cy="109728"/>
          </a:xfrm>
          <a:prstGeom prst="ellipse">
            <a:avLst/>
          </a:prstGeom>
          <a:solidFill>
            <a:srgbClr val="D3E2D7"/>
          </a:solidFill>
          <a:ln/>
        </p:spPr>
      </p:sp>
      <p:sp>
        <p:nvSpPr>
          <p:cNvPr id="13" name="Shape 11"/>
          <p:cNvSpPr/>
          <p:nvPr/>
        </p:nvSpPr>
        <p:spPr>
          <a:xfrm>
            <a:off x="8503920" y="365760"/>
            <a:ext cx="109728" cy="109728"/>
          </a:xfrm>
          <a:prstGeom prst="ellipse">
            <a:avLst/>
          </a:prstGeom>
          <a:solidFill>
            <a:srgbClr val="D3E2D7"/>
          </a:solidFill>
          <a:ln/>
        </p:spPr>
      </p:sp>
      <p:sp>
        <p:nvSpPr>
          <p:cNvPr id="14" name="Text 12"/>
          <p:cNvSpPr txBox="1"/>
          <p:nvPr/>
        </p:nvSpPr>
        <p:spPr>
          <a:xfrm>
            <a:off x="457200" y="4800600"/>
            <a:ext cx="6766560" cy="228600"/>
          </a:xfrm>
          <a:prstGeom prst="rect">
            <a:avLst/>
          </a:prstGeom>
          <a:noFill/>
          <a:ln/>
        </p:spPr>
        <p:txBody>
          <a:bodyPr wrap="square" lIns="0" tIns="0" rIns="0" bIns="0" rtlCol="0" anchor="ctr"/>
          <a:lstStyle/>
          <a:p>
            <a:pPr marL="0" indent="0">
              <a:buNone/>
            </a:pPr>
            <a:r>
              <a:rPr lang="en-US" sz="850" dirty="0">
                <a:solidFill>
                  <a:srgbClr val="8A968F"/>
                </a:solidFill>
                <a:latin typeface="Calibri" pitchFamily="34" charset="0"/>
                <a:ea typeface="Calibri" pitchFamily="34" charset="-122"/>
                <a:cs typeface="Calibri" pitchFamily="34" charset="-120"/>
              </a:rPr>
              <a:t>Generate a GitHub API Key · AfDB – Data Innovation for Africa (DI4A)</a:t>
            </a:r>
            <a:endParaRPr lang="en-US" sz="850" dirty="0"/>
          </a:p>
        </p:txBody>
      </p:sp>
      <p:sp>
        <p:nvSpPr>
          <p:cNvPr id="15" name="Text 13"/>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850" dirty="0">
                <a:solidFill>
                  <a:srgbClr val="8A968F"/>
                </a:solidFill>
                <a:latin typeface="Calibri" pitchFamily="34" charset="0"/>
                <a:ea typeface="Calibri" pitchFamily="34" charset="-122"/>
                <a:cs typeface="Calibri" pitchFamily="34" charset="-120"/>
              </a:rPr>
              <a:t>17</a:t>
            </a:r>
            <a:endParaRPr lang="en-US" sz="850" dirty="0"/>
          </a:p>
        </p:txBody>
      </p:sp>
      <p:sp>
        <p:nvSpPr>
          <p:cNvPr id="16" name="Shape 14"/>
          <p:cNvSpPr/>
          <p:nvPr/>
        </p:nvSpPr>
        <p:spPr>
          <a:xfrm>
            <a:off x="457200" y="1325880"/>
            <a:ext cx="8229600" cy="1463040"/>
          </a:xfrm>
          <a:prstGeom prst="roundRect">
            <a:avLst>
              <a:gd name="adj" fmla="val 5000"/>
            </a:avLst>
          </a:prstGeom>
          <a:solidFill>
            <a:srgbClr val="F4F8F5"/>
          </a:solidFill>
          <a:ln w="9525">
            <a:solidFill>
              <a:srgbClr val="D3E2D7"/>
            </a:solidFill>
            <a:prstDash val="solid"/>
          </a:ln>
        </p:spPr>
      </p:sp>
      <p:sp>
        <p:nvSpPr>
          <p:cNvPr id="17" name="Shape 15"/>
          <p:cNvSpPr/>
          <p:nvPr/>
        </p:nvSpPr>
        <p:spPr>
          <a:xfrm>
            <a:off x="685800" y="1572768"/>
            <a:ext cx="548640" cy="548640"/>
          </a:xfrm>
          <a:prstGeom prst="ellipse">
            <a:avLst/>
          </a:prstGeom>
          <a:solidFill>
            <a:srgbClr val="0E5A2E">
              <a:alpha val="22000"/>
            </a:srgbClr>
          </a:solidFill>
          <a:ln/>
        </p:spPr>
      </p:sp>
      <p:pic>
        <p:nvPicPr>
          <p:cNvPr id="18" name="Image 0" descr="preencoded.png"/>
          <p:cNvPicPr>
            <a:picLocks noChangeAspect="1"/>
          </p:cNvPicPr>
          <p:nvPr/>
        </p:nvPicPr>
        <p:blipFill>
          <a:blip r:embed="rId3"/>
          <a:stretch>
            <a:fillRect/>
          </a:stretch>
        </p:blipFill>
        <p:spPr>
          <a:xfrm>
            <a:off x="839419" y="1726387"/>
            <a:ext cx="241402" cy="241402"/>
          </a:xfrm>
          <a:prstGeom prst="rect">
            <a:avLst/>
          </a:prstGeom>
        </p:spPr>
      </p:pic>
      <p:sp>
        <p:nvSpPr>
          <p:cNvPr id="19" name="Text 16"/>
          <p:cNvSpPr txBox="1"/>
          <p:nvPr/>
        </p:nvSpPr>
        <p:spPr>
          <a:xfrm>
            <a:off x="1463040" y="1463040"/>
            <a:ext cx="7040880" cy="1188720"/>
          </a:xfrm>
          <a:prstGeom prst="rect">
            <a:avLst/>
          </a:prstGeom>
          <a:noFill/>
          <a:ln/>
        </p:spPr>
        <p:txBody>
          <a:bodyPr wrap="square" lIns="0" tIns="0" rIns="0" bIns="0" rtlCol="0" anchor="ctr"/>
          <a:lstStyle/>
          <a:p>
            <a:pPr marL="0" indent="0">
              <a:spcAft>
                <a:spcPts val="400"/>
              </a:spcAft>
              <a:buNone/>
            </a:pPr>
            <a:r>
              <a:rPr lang="en-US" sz="1300" b="1" dirty="0">
                <a:solidFill>
                  <a:srgbClr val="231F20"/>
                </a:solidFill>
                <a:latin typeface="Calibri" pitchFamily="34" charset="0"/>
                <a:ea typeface="Calibri" pitchFamily="34" charset="-122"/>
                <a:cs typeface="Calibri" pitchFamily="34" charset="-120"/>
              </a:rPr>
              <a:t>GitHub Docs — Managing your personal access tokens</a:t>
            </a:r>
            <a:endParaRPr lang="en-US" sz="1300" dirty="0"/>
          </a:p>
          <a:p>
            <a:pPr marL="0" indent="0">
              <a:spcAft>
                <a:spcPts val="400"/>
              </a:spcAft>
              <a:buNone/>
            </a:pPr>
            <a:r>
              <a:rPr lang="en-US" sz="1050" dirty="0">
                <a:solidFill>
                  <a:srgbClr val="5A6660"/>
                </a:solidFill>
                <a:latin typeface="Calibri" pitchFamily="34" charset="0"/>
                <a:ea typeface="Calibri" pitchFamily="34" charset="-122"/>
                <a:cs typeface="Calibri" pitchFamily="34" charset="-120"/>
              </a:rPr>
              <a:t>docs.github.com/en/authentication/keeping-your-account-and-data-secure/managing-your-personal-access-tokens</a:t>
            </a:r>
            <a:endParaRPr lang="en-US" sz="1300" dirty="0"/>
          </a:p>
          <a:p>
            <a:pPr marL="0" indent="0">
              <a:spcAft>
                <a:spcPts val="400"/>
              </a:spcAft>
              <a:buNone/>
            </a:pPr>
            <a:r>
              <a:rPr lang="en-US" sz="1050" i="1" dirty="0">
                <a:solidFill>
                  <a:srgbClr val="5A6660"/>
                </a:solidFill>
                <a:latin typeface="Calibri" pitchFamily="34" charset="0"/>
                <a:ea typeface="Calibri" pitchFamily="34" charset="-122"/>
                <a:cs typeface="Calibri" pitchFamily="34" charset="-120"/>
              </a:rPr>
              <a:t>Screenshots: github.com, captured with the datainnov4africa-web demo account (token value masked).</a:t>
            </a:r>
            <a:endParaRPr lang="en-US" sz="13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1097280"/>
            <a:ext cx="640080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YOU ARE READY</a:t>
            </a:r>
            <a:endParaRPr lang="en-US" sz="1100" dirty="0"/>
          </a:p>
        </p:txBody>
      </p:sp>
      <p:sp>
        <p:nvSpPr>
          <p:cNvPr id="4" name="Text 2"/>
          <p:cNvSpPr txBox="1"/>
          <p:nvPr/>
        </p:nvSpPr>
        <p:spPr>
          <a:xfrm>
            <a:off x="548640" y="1463040"/>
            <a:ext cx="603504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Your token unlocks the GitHub API</a:t>
            </a:r>
            <a:endParaRPr lang="en-US" sz="4000" dirty="0"/>
          </a:p>
        </p:txBody>
      </p:sp>
      <p:pic>
        <p:nvPicPr>
          <p:cNvPr id="6" name="AfDB DI4A logo" descr="African Development Bank – Data Innovation for Africa (DI4A) logo"/>
          <p:cNvPicPr>
            <a:picLocks noChangeAspect="1"/>
          </p:cNvPicPr>
          <p:nvPr/>
        </p:nvPicPr>
        <p:blipFill>
          <a:blip r:embed="rId4"/>
          <a:stretch>
            <a:fillRect/>
          </a:stretch>
        </p:blipFill>
        <p:spPr>
          <a:xfrm>
            <a:off x="548640" y="3931920"/>
            <a:ext cx="1980311" cy="566928"/>
          </a:xfrm>
          <a:prstGeom prst="rect">
            <a:avLst/>
          </a:prstGeom>
        </p:spPr>
      </p:pic>
      <p:sp>
        <p:nvSpPr>
          <p:cNvPr id="7" name="AfDB DI4A"/>
          <p:cNvSpPr txBox="1"/>
          <p:nvPr/>
        </p:nvSpPr>
        <p:spPr>
          <a:xfrm>
            <a:off x="2757551" y="3931920"/>
            <a:ext cx="5837809" cy="56692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African Development Bank (AfDB)</a:t>
            </a:r>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2364</Words>
  <Application>Microsoft Office PowerPoint</Application>
  <PresentationFormat>On-screen Show (16:9)</PresentationFormat>
  <Paragraphs>267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 a GitHub API Key</dc:title>
  <dc:subject>PptxGenJS Presentation</dc:subject>
  <dc:creator>PptxGenJS</dc:creator>
  <cp:lastModifiedBy>HADJ TAIEB, MOHAMED ALI</cp:lastModifiedBy>
  <cp:revision>3</cp:revision>
  <dcterms:created xsi:type="dcterms:W3CDTF">2026-09-28T07:54:34Z</dcterms:created>
  <dcterms:modified xsi:type="dcterms:W3CDTF">2026-10-16T15:37:06Z</dcterms:modified>
</cp:coreProperties>
</file>