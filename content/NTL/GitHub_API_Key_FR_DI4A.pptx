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68" r:id="rId4"/>
    <p:sldId id="269" r:id="rId5"/>
    <p:sldId id="270" r:id="rId6"/>
    <p:sldId id="271" r:id="rId7"/>
    <p:sldId id="272" r:id="rId8"/>
    <p:sldId id="273" r:id="rId9"/>
    <p:sldId id="258" r:id="rId10"/>
    <p:sldId id="259" r:id="rId11"/>
    <p:sldId id="260" r:id="rId12"/>
    <p:sldId id="261" r:id="rId13"/>
    <p:sldId id="262" r:id="rId14"/>
    <p:sldId id="263" r:id="rId15"/>
    <p:sldId id="264" r:id="rId16"/>
    <p:sldId id="265" r:id="rId17"/>
    <p:sldId id="266" r:id="rId18"/>
    <p:sldId id="267"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4843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Bienvenue dans cette séance pratique BAD – Data Innovation for Africa (DI4A). Dans les prochaines minutes, chaque participant va créer un jeton d’accès personnel GitHub (classic). Il permettra à nos scripts et notebooks de communiquer avec l’API GitHub en votre nom — pour les exercices pratiques et pour les projets de votre équipe. Assurez-vous d’être connecté à GitHub avant de commencer.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parcours complet : ouvrir Settings depuis le menu de l’avatar, aller dans Developer settings, choisir Tokens (classic), générer un nouveau jeton, le configurer, puis le copier et le conserver. Insistez sur l’avertissement : ce jeton donne accès comme un mot de passe.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ce jeton. GitHub est un élément central de l’infrastructure de données — avec le Cloud et Colab. Le jeton permet à vos notebooks et scripts de lire et de publier dans des dépôts, ce qui est utile pour les exercices pratiques, comme la prévision immédiate du PIB, et pour partager le code et les résultats de votre équipe, du lancement du projet jusqu’à sa présentation finale.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section concerne les participants qui n’ont pas encore de compte GitHub. Les autres peuvent passer directement aux étapes du jeton. Il suffit d’une adresse Gmail que vous pouvez consulter maintenant : GitHub y envoie un code de vérification pendant l’inscription.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y a deux façons de créer le compte avec Gmail. L’option A, Continue with Google, est la plus rapide : GitHub utilise votre compte Google pour vous connecter. L’option B utilise votre adresse Gmail avec un nouveau mot de passe GitHub. Les deux diapositives suivantes détaillent l’option B, celle que la plupart des participants verront par défaut.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Allez sur github.com/signup. Saisissez votre adresse Gmail, puis un mot de passe : GitHub exige au moins 15 caractères, ou au moins 8 caractères avec un chiffre et une lettre minuscule. Choisissez un nom d’utilisateur composé de lettres, de chiffres et de tirets simples — il apparaît dans l’adresse de vos dépôts, préférez donc quelque chose comme prenom-nom. Sélectionnez votre pays ou région et continuez.</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le formulaire, GitHub affiche un court puzzle visuel pour vérifier que vous êtes une personne. Il envoie ensuite un code (launch code) à votre adresse Gmail. Ouvrez Gmail — le message peut arriver dans Spam ou Promotions — et saisissez le code sur la page GitHub. GitHub peut ensuite poser quelques questions facultatives ; vous pouvez les passer.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Votre compte existe. Vérifiez que l’e-mail est confirmé, activez la double authentification comme GitHub le recommande vivement, et complétez votre profil avec votre nom et votre institution pour que votre équipe vous retrouve. Le plan gratuit suffit pour ce guide. Tout le monde peut maintenant passer à la création du jeton.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Connectez-vous, puis cliquez sur votre photo de profil en haut à droite. Le menu du compte s’ouvre.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le menu déroulant, cliquez sur Settings, aux deux tiers environ de la liste.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la page des paramètres, faites défiler la barre latérale gauche jusqu’en bas et cliquez sur Developer settings.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Dépliez Personal access tokens et choisissez Tokens (classic). Les jetons fine-grained existent aussi, mais dans ce guide nous utilisons des jetons classic.</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Cliquez sur le menu Generate new token et choisissez Generate new token (classic), l’option « For general use ». Si GitHub demande votre mot de passe ou un code 2FA, confirmez-le.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Donnez au jeton une note claire comme DI4A2026, gardez une expiration courte, par exemple 30 jours — de quoi couvrir les travaux pratiques et le suivi du projet d’équipe — et cochez les scopes repo et workflow. Descendez ensuite en bas de la page et cliquez sur Generate token.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Copiez le jeton immédiatement avec l’icône de copie : GitHub ne l’affiche qu’une seule fois. Conservez-le dans un gestionnaire de mots de passe ou une variable d’environnement, jamais dans un document ou un dépôt.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réflexes : ne jamais committer un jeton, toujours fixer une expiration, n’accorder que les scopes nécessaires, et révoquer immédiatement un jeton exposé, par exemple publié dans un dépôt public.</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Référence pour les participants qui souhaitent consulter la documentation officielle.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Vérification rapide : définissez le jeton comme variable d’environnement et appelez le point d’accès /user. Si vous recevez votre profil en JSON, le jeton fonctionne. Il vous servira tout au long des exercices pratiques et pour partager le code et les résultats de votre équipe. Des questions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10.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1234440"/>
            <a:ext cx="8046720" cy="274320"/>
          </a:xfrm>
          <a:prstGeom prst="rect">
            <a:avLst/>
          </a:prstGeom>
          <a:noFill/>
          <a:ln/>
        </p:spPr>
        <p:txBody>
          <a:bodyPr wrap="square" lIns="0" tIns="0" rIns="0" bIns="0" rtlCol="0" anchor="ctr"/>
          <a:lstStyle/>
          <a:p>
            <a:pPr marL="0" indent="0">
              <a:buNone/>
            </a:pPr>
            <a:r>
              <a:rPr lang="fr-FR" sz="1100" b="1" kern="0" spc="300" dirty="0">
                <a:solidFill>
                  <a:srgbClr val="F5C242"/>
                </a:solidFill>
                <a:latin typeface="Calibri" pitchFamily="34" charset="0"/>
                <a:ea typeface="Calibri" pitchFamily="34" charset="-122"/>
                <a:cs typeface="Calibri" pitchFamily="34" charset="-120"/>
              </a:rPr>
              <a:t>BAD · DATA INNOVATION FOR AFRICA (DI4A) · GUIDE PRATIQUE</a:t>
            </a:r>
            <a:endParaRPr lang="fr-FR" sz="1100" dirty="0"/>
          </a:p>
        </p:txBody>
      </p:sp>
      <p:sp>
        <p:nvSpPr>
          <p:cNvPr id="4" name="Text 2"/>
          <p:cNvSpPr txBox="1"/>
          <p:nvPr/>
        </p:nvSpPr>
        <p:spPr>
          <a:xfrm>
            <a:off x="548640" y="1600200"/>
            <a:ext cx="6035040" cy="1371600"/>
          </a:xfrm>
          <a:prstGeom prst="rect">
            <a:avLst/>
          </a:prstGeom>
          <a:noFill/>
          <a:ln/>
        </p:spPr>
        <p:txBody>
          <a:bodyPr wrap="square" lIns="0" tIns="0" rIns="0" bIns="0" rtlCol="0" anchor="t"/>
          <a:lstStyle/>
          <a:p>
            <a:pPr marL="0" indent="0">
              <a:buNone/>
            </a:pPr>
            <a:r>
              <a:rPr lang="fr-FR" sz="4400" b="1" dirty="0">
                <a:solidFill>
                  <a:srgbClr val="FFFFFF"/>
                </a:solidFill>
                <a:latin typeface="Calibri" pitchFamily="34" charset="0"/>
                <a:ea typeface="Calibri" pitchFamily="34" charset="-122"/>
                <a:cs typeface="Calibri" pitchFamily="34" charset="-120"/>
              </a:rPr>
              <a:t>Générer une clé API GitHub</a:t>
            </a:r>
            <a:endParaRPr lang="fr-FR" sz="4400" dirty="0"/>
          </a:p>
        </p:txBody>
      </p:sp>
      <p:sp>
        <p:nvSpPr>
          <p:cNvPr id="5" name="Text 3"/>
          <p:cNvSpPr txBox="1"/>
          <p:nvPr/>
        </p:nvSpPr>
        <p:spPr>
          <a:xfrm>
            <a:off x="548640" y="3017520"/>
            <a:ext cx="5852160" cy="457200"/>
          </a:xfrm>
          <a:prstGeom prst="rect">
            <a:avLst/>
          </a:prstGeom>
          <a:noFill/>
          <a:ln/>
        </p:spPr>
        <p:txBody>
          <a:bodyPr wrap="square" lIns="0" tIns="0" rIns="0" bIns="0" rtlCol="0" anchor="ctr"/>
          <a:lstStyle/>
          <a:p>
            <a:pPr marL="0" indent="0">
              <a:buNone/>
            </a:pPr>
            <a:r>
              <a:rPr lang="fr-FR" sz="1800" i="1" dirty="0">
                <a:solidFill>
                  <a:srgbClr val="E8F4EB"/>
                </a:solidFill>
                <a:latin typeface="Calibri" pitchFamily="34" charset="0"/>
                <a:ea typeface="Calibri" pitchFamily="34" charset="-122"/>
                <a:cs typeface="Calibri" pitchFamily="34" charset="-120"/>
              </a:rPr>
              <a:t>Créer un jeton d’accès personnel (classic) en six étapes</a:t>
            </a:r>
            <a:endParaRPr lang="fr-FR" sz="1800" dirty="0"/>
          </a:p>
        </p:txBody>
      </p:sp>
      <p:sp>
        <p:nvSpPr>
          <p:cNvPr id="6" name="Shape 4"/>
          <p:cNvSpPr/>
          <p:nvPr/>
        </p:nvSpPr>
        <p:spPr>
          <a:xfrm>
            <a:off x="6812280" y="1600200"/>
            <a:ext cx="1737360" cy="1737360"/>
          </a:xfrm>
          <a:prstGeom prst="ellipse">
            <a:avLst/>
          </a:prstGeom>
          <a:solidFill>
            <a:srgbClr val="FFFFFF">
              <a:alpha val="90000"/>
            </a:srgbClr>
          </a:solidFill>
          <a:ln/>
        </p:spPr>
      </p:sp>
      <p:pic>
        <p:nvPicPr>
          <p:cNvPr id="7" name="Image 0" descr="preencoded.png"/>
          <p:cNvPicPr>
            <a:picLocks noChangeAspect="1"/>
          </p:cNvPicPr>
          <p:nvPr/>
        </p:nvPicPr>
        <p:blipFill>
          <a:blip r:embed="rId4"/>
          <a:stretch>
            <a:fillRect/>
          </a:stretch>
        </p:blipFill>
        <p:spPr>
          <a:xfrm>
            <a:off x="7251192" y="2039112"/>
            <a:ext cx="859536" cy="859536"/>
          </a:xfrm>
          <a:prstGeom prst="rect">
            <a:avLst/>
          </a:prstGeom>
        </p:spPr>
      </p:pic>
      <p:pic>
        <p:nvPicPr>
          <p:cNvPr id="8" name="AfDB DI4A logo" descr="Logo Banque africaine de développement – Data Innovation for Africa (DI4A)"/>
          <p:cNvPicPr>
            <a:picLocks noChangeAspect="1"/>
          </p:cNvPicPr>
          <p:nvPr/>
        </p:nvPicPr>
        <p:blipFill>
          <a:blip r:embed="rId5"/>
          <a:stretch>
            <a:fillRect/>
          </a:stretch>
        </p:blipFill>
        <p:spPr>
          <a:xfrm>
            <a:off x="548640" y="3931920"/>
            <a:ext cx="1980311" cy="566928"/>
          </a:xfrm>
          <a:prstGeom prst="rect">
            <a:avLst/>
          </a:prstGeom>
        </p:spPr>
      </p:pic>
      <p:sp>
        <p:nvSpPr>
          <p:cNvPr id="9" name="AfDB DI4A"/>
          <p:cNvSpPr txBox="1"/>
          <p:nvPr/>
        </p:nvSpPr>
        <p:spPr>
          <a:xfrm>
            <a:off x="2757551" y="3931920"/>
            <a:ext cx="5837809" cy="566928"/>
          </a:xfrm>
          <a:prstGeom prst="rect">
            <a:avLst/>
          </a:prstGeom>
          <a:noFill/>
          <a:ln/>
        </p:spPr>
        <p:txBody>
          <a:bodyPr wrap="square" lIns="0" tIns="0" rIns="0" bIns="0" rtlCol="0" anchor="ctr"/>
          <a:lstStyle/>
          <a:p>
            <a:pPr marL="0" indent="0">
              <a:buNone/>
            </a:pPr>
            <a:r>
              <a:rPr lang="fr-FR" sz="1100" b="1" dirty="0">
                <a:solidFill>
                  <a:srgbClr val="FFFFFF"/>
                </a:solidFill>
                <a:latin typeface="Calibri" pitchFamily="34" charset="0"/>
                <a:ea typeface="Calibri" pitchFamily="34" charset="-122"/>
                <a:cs typeface="Calibri" pitchFamily="34" charset="-120"/>
              </a:rPr>
              <a:t>Banque africaine de développement (BAD)</a:t>
            </a:r>
          </a:p>
          <a:p>
            <a:pPr marL="0" indent="0">
              <a:spcBef>
                <a:spcPts val="200"/>
              </a:spcBef>
              <a:buNone/>
            </a:pPr>
            <a:r>
              <a:rPr lang="fr-FR" sz="1100" dirty="0">
                <a:solidFill>
                  <a:srgbClr val="E8F4EB"/>
                </a:solidFill>
                <a:latin typeface="Calibri" pitchFamily="34" charset="0"/>
                <a:ea typeface="Calibri" pitchFamily="34" charset="-122"/>
                <a:cs typeface="Calibri" pitchFamily="34" charset="-120"/>
              </a:rPr>
              <a:t>Data Innovation for Africa (DI4A)</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fr-FR" sz="1050" b="1" kern="0" spc="300" dirty="0">
                <a:solidFill>
                  <a:srgbClr val="0E5A2E"/>
                </a:solidFill>
                <a:latin typeface="Calibri" pitchFamily="34" charset="0"/>
                <a:ea typeface="Calibri" pitchFamily="34" charset="-122"/>
                <a:cs typeface="Calibri" pitchFamily="34" charset="-120"/>
              </a:rPr>
              <a:t>APERÇU · LES SIX ÉTAPES</a:t>
            </a:r>
            <a:endParaRPr lang="fr-FR" sz="1050" dirty="0"/>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fr-FR" sz="2800" b="1" dirty="0">
                <a:solidFill>
                  <a:srgbClr val="231F20"/>
                </a:solidFill>
                <a:latin typeface="Calibri" pitchFamily="34" charset="0"/>
                <a:ea typeface="Calibri" pitchFamily="34" charset="-122"/>
                <a:cs typeface="Calibri" pitchFamily="34" charset="-120"/>
              </a:rPr>
              <a:t>De votre profil à un jeton fonctionnel</a:t>
            </a:r>
            <a:endParaRPr lang="fr-FR" sz="2800" dirty="0"/>
          </a:p>
        </p:txBody>
      </p:sp>
      <p:sp>
        <p:nvSpPr>
          <p:cNvPr id="8" name="Shape 6"/>
          <p:cNvSpPr/>
          <p:nvPr/>
        </p:nvSpPr>
        <p:spPr>
          <a:xfrm>
            <a:off x="7543800" y="365760"/>
            <a:ext cx="109728" cy="109728"/>
          </a:xfrm>
          <a:prstGeom prst="ellipse">
            <a:avLst/>
          </a:prstGeom>
          <a:solidFill>
            <a:srgbClr val="D3E2D7"/>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D3E2D7"/>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fr-FR" sz="850" dirty="0">
                <a:solidFill>
                  <a:srgbClr val="8A968F"/>
                </a:solidFill>
                <a:latin typeface="Calibri" pitchFamily="34" charset="0"/>
                <a:ea typeface="Calibri" pitchFamily="34" charset="-122"/>
                <a:cs typeface="Calibri" pitchFamily="34" charset="-120"/>
              </a:rPr>
              <a:t>Générer une clé API GitHub · BAD – Data Innovation for Africa (DI4A)</a:t>
            </a:r>
            <a:endParaRPr lang="fr-FR"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fr-FR" sz="850" dirty="0">
                <a:solidFill>
                  <a:srgbClr val="8A968F"/>
                </a:solidFill>
                <a:latin typeface="Calibri" pitchFamily="34" charset="0"/>
                <a:ea typeface="Calibri" pitchFamily="34" charset="-122"/>
                <a:cs typeface="Calibri" pitchFamily="34" charset="-120"/>
              </a:rPr>
              <a:t>2</a:t>
            </a:r>
            <a:endParaRPr lang="fr-FR" sz="850" dirty="0"/>
          </a:p>
        </p:txBody>
      </p:sp>
      <p:sp>
        <p:nvSpPr>
          <p:cNvPr id="16" name="Shape 14"/>
          <p:cNvSpPr/>
          <p:nvPr/>
        </p:nvSpPr>
        <p:spPr>
          <a:xfrm>
            <a:off x="457200" y="1371600"/>
            <a:ext cx="1234440" cy="2011680"/>
          </a:xfrm>
          <a:prstGeom prst="roundRect">
            <a:avLst>
              <a:gd name="adj" fmla="val 5926"/>
            </a:avLst>
          </a:prstGeom>
          <a:solidFill>
            <a:srgbClr val="F4F8F5"/>
          </a:solidFill>
          <a:ln w="9525">
            <a:solidFill>
              <a:srgbClr val="D3E2D7"/>
            </a:solidFill>
            <a:prstDash val="solid"/>
          </a:ln>
        </p:spPr>
      </p:sp>
      <p:sp>
        <p:nvSpPr>
          <p:cNvPr id="17" name="Shape 15"/>
          <p:cNvSpPr/>
          <p:nvPr/>
        </p:nvSpPr>
        <p:spPr>
          <a:xfrm>
            <a:off x="790956" y="1572768"/>
            <a:ext cx="566928" cy="566928"/>
          </a:xfrm>
          <a:prstGeom prst="ellipse">
            <a:avLst/>
          </a:prstGeom>
          <a:solidFill>
            <a:srgbClr val="2C9045">
              <a:alpha val="22000"/>
            </a:srgbClr>
          </a:solidFill>
          <a:ln/>
        </p:spPr>
      </p:sp>
      <p:pic>
        <p:nvPicPr>
          <p:cNvPr id="18" name="Image 0" descr="preencoded.png"/>
          <p:cNvPicPr>
            <a:picLocks noChangeAspect="1"/>
          </p:cNvPicPr>
          <p:nvPr/>
        </p:nvPicPr>
        <p:blipFill>
          <a:blip r:embed="rId3"/>
          <a:stretch>
            <a:fillRect/>
          </a:stretch>
        </p:blipFill>
        <p:spPr>
          <a:xfrm>
            <a:off x="949696" y="1731508"/>
            <a:ext cx="249448" cy="249448"/>
          </a:xfrm>
          <a:prstGeom prst="rect">
            <a:avLst/>
          </a:prstGeom>
        </p:spPr>
      </p:pic>
      <p:sp>
        <p:nvSpPr>
          <p:cNvPr id="19" name="Text 16"/>
          <p:cNvSpPr txBox="1"/>
          <p:nvPr/>
        </p:nvSpPr>
        <p:spPr>
          <a:xfrm>
            <a:off x="457200" y="2212848"/>
            <a:ext cx="1234440" cy="274320"/>
          </a:xfrm>
          <a:prstGeom prst="rect">
            <a:avLst/>
          </a:prstGeom>
          <a:noFill/>
          <a:ln/>
        </p:spPr>
        <p:txBody>
          <a:bodyPr wrap="square" lIns="0" tIns="0" rIns="0" bIns="0" rtlCol="0" anchor="ctr"/>
          <a:lstStyle/>
          <a:p>
            <a:pPr marL="0" indent="0" algn="ctr">
              <a:buNone/>
            </a:pPr>
            <a:r>
              <a:rPr lang="fr-FR" sz="1500" b="1" dirty="0">
                <a:solidFill>
                  <a:srgbClr val="2C9045"/>
                </a:solidFill>
                <a:latin typeface="Calibri" pitchFamily="34" charset="0"/>
                <a:ea typeface="Calibri" pitchFamily="34" charset="-122"/>
                <a:cs typeface="Calibri" pitchFamily="34" charset="-120"/>
              </a:rPr>
              <a:t>01</a:t>
            </a:r>
            <a:endParaRPr lang="fr-FR" sz="1500" dirty="0"/>
          </a:p>
        </p:txBody>
      </p:sp>
      <p:sp>
        <p:nvSpPr>
          <p:cNvPr id="20" name="Text 17"/>
          <p:cNvSpPr txBox="1"/>
          <p:nvPr/>
        </p:nvSpPr>
        <p:spPr>
          <a:xfrm>
            <a:off x="512064" y="2450592"/>
            <a:ext cx="1124712" cy="402336"/>
          </a:xfrm>
          <a:prstGeom prst="rect">
            <a:avLst/>
          </a:prstGeom>
          <a:noFill/>
          <a:ln/>
        </p:spPr>
        <p:txBody>
          <a:bodyPr wrap="square" lIns="0" tIns="0" rIns="0" bIns="0" rtlCol="0" anchor="ctr"/>
          <a:lstStyle/>
          <a:p>
            <a:pPr marL="0" indent="0" algn="ctr">
              <a:buNone/>
            </a:pPr>
            <a:r>
              <a:rPr lang="fr-FR" sz="1250" b="1" dirty="0">
                <a:solidFill>
                  <a:srgbClr val="231F20"/>
                </a:solidFill>
                <a:latin typeface="Calibri" pitchFamily="34" charset="0"/>
                <a:ea typeface="Calibri" pitchFamily="34" charset="-122"/>
                <a:cs typeface="Calibri" pitchFamily="34" charset="-120"/>
              </a:rPr>
              <a:t>Paramètres</a:t>
            </a:r>
            <a:endParaRPr lang="fr-FR" sz="1250" dirty="0"/>
          </a:p>
        </p:txBody>
      </p:sp>
      <p:sp>
        <p:nvSpPr>
          <p:cNvPr id="21" name="Text 18"/>
          <p:cNvSpPr txBox="1"/>
          <p:nvPr/>
        </p:nvSpPr>
        <p:spPr>
          <a:xfrm>
            <a:off x="548640" y="2889504"/>
            <a:ext cx="1051560" cy="420624"/>
          </a:xfrm>
          <a:prstGeom prst="rect">
            <a:avLst/>
          </a:prstGeom>
          <a:noFill/>
          <a:ln/>
        </p:spPr>
        <p:txBody>
          <a:bodyPr wrap="square" lIns="0" tIns="0" rIns="0" bIns="0" rtlCol="0" anchor="t"/>
          <a:lstStyle/>
          <a:p>
            <a:pPr marL="0" indent="0" algn="ctr">
              <a:buNone/>
            </a:pPr>
            <a:r>
              <a:rPr lang="fr-FR" sz="1050" dirty="0">
                <a:solidFill>
                  <a:srgbClr val="5A6660"/>
                </a:solidFill>
                <a:latin typeface="Calibri" pitchFamily="34" charset="0"/>
                <a:ea typeface="Calibri" pitchFamily="34" charset="-122"/>
                <a:cs typeface="Calibri" pitchFamily="34" charset="-120"/>
              </a:rPr>
              <a:t>Menu avatar › Settings</a:t>
            </a:r>
            <a:endParaRPr lang="fr-FR" sz="1050" dirty="0"/>
          </a:p>
        </p:txBody>
      </p:sp>
      <p:sp>
        <p:nvSpPr>
          <p:cNvPr id="22" name="Text 19"/>
          <p:cNvSpPr txBox="1"/>
          <p:nvPr/>
        </p:nvSpPr>
        <p:spPr>
          <a:xfrm>
            <a:off x="1673352" y="1627632"/>
            <a:ext cx="201168" cy="457200"/>
          </a:xfrm>
          <a:prstGeom prst="rect">
            <a:avLst/>
          </a:prstGeom>
          <a:noFill/>
          <a:ln/>
        </p:spPr>
        <p:txBody>
          <a:bodyPr wrap="square" lIns="0" tIns="0" rIns="0" bIns="0" rtlCol="0" anchor="ctr"/>
          <a:lstStyle/>
          <a:p>
            <a:pPr marL="0" indent="0" algn="ctr">
              <a:buNone/>
            </a:pPr>
            <a:r>
              <a:rPr lang="fr-FR" sz="2000" b="1" dirty="0">
                <a:solidFill>
                  <a:srgbClr val="5A6660"/>
                </a:solidFill>
                <a:latin typeface="Calibri" pitchFamily="34" charset="0"/>
                <a:ea typeface="Calibri" pitchFamily="34" charset="-122"/>
                <a:cs typeface="Calibri" pitchFamily="34" charset="-120"/>
              </a:rPr>
              <a:t>›</a:t>
            </a:r>
            <a:endParaRPr lang="fr-FR" sz="2000" dirty="0"/>
          </a:p>
        </p:txBody>
      </p:sp>
      <p:sp>
        <p:nvSpPr>
          <p:cNvPr id="23" name="Shape 20"/>
          <p:cNvSpPr/>
          <p:nvPr/>
        </p:nvSpPr>
        <p:spPr>
          <a:xfrm>
            <a:off x="1856232" y="1371600"/>
            <a:ext cx="1234440" cy="2011680"/>
          </a:xfrm>
          <a:prstGeom prst="roundRect">
            <a:avLst>
              <a:gd name="adj" fmla="val 5926"/>
            </a:avLst>
          </a:prstGeom>
          <a:solidFill>
            <a:srgbClr val="F4F8F5"/>
          </a:solidFill>
          <a:ln w="9525">
            <a:solidFill>
              <a:srgbClr val="D3E2D7"/>
            </a:solidFill>
            <a:prstDash val="solid"/>
          </a:ln>
        </p:spPr>
      </p:sp>
      <p:sp>
        <p:nvSpPr>
          <p:cNvPr id="24" name="Shape 21"/>
          <p:cNvSpPr/>
          <p:nvPr/>
        </p:nvSpPr>
        <p:spPr>
          <a:xfrm>
            <a:off x="2189988" y="1572768"/>
            <a:ext cx="566928" cy="566928"/>
          </a:xfrm>
          <a:prstGeom prst="ellipse">
            <a:avLst/>
          </a:prstGeom>
          <a:solidFill>
            <a:srgbClr val="0E5A2E">
              <a:alpha val="22000"/>
            </a:srgbClr>
          </a:solidFill>
          <a:ln/>
        </p:spPr>
      </p:sp>
      <p:pic>
        <p:nvPicPr>
          <p:cNvPr id="25" name="Image 1" descr="preencoded.png"/>
          <p:cNvPicPr>
            <a:picLocks noChangeAspect="1"/>
          </p:cNvPicPr>
          <p:nvPr/>
        </p:nvPicPr>
        <p:blipFill>
          <a:blip r:embed="rId4"/>
          <a:stretch>
            <a:fillRect/>
          </a:stretch>
        </p:blipFill>
        <p:spPr>
          <a:xfrm>
            <a:off x="2348728" y="1731508"/>
            <a:ext cx="249448" cy="249448"/>
          </a:xfrm>
          <a:prstGeom prst="rect">
            <a:avLst/>
          </a:prstGeom>
        </p:spPr>
      </p:pic>
      <p:sp>
        <p:nvSpPr>
          <p:cNvPr id="26" name="Text 22"/>
          <p:cNvSpPr txBox="1"/>
          <p:nvPr/>
        </p:nvSpPr>
        <p:spPr>
          <a:xfrm>
            <a:off x="1856232" y="2212848"/>
            <a:ext cx="1234440" cy="274320"/>
          </a:xfrm>
          <a:prstGeom prst="rect">
            <a:avLst/>
          </a:prstGeom>
          <a:noFill/>
          <a:ln/>
        </p:spPr>
        <p:txBody>
          <a:bodyPr wrap="square" lIns="0" tIns="0" rIns="0" bIns="0" rtlCol="0" anchor="ctr"/>
          <a:lstStyle/>
          <a:p>
            <a:pPr marL="0" indent="0" algn="ctr">
              <a:buNone/>
            </a:pPr>
            <a:r>
              <a:rPr lang="fr-FR" sz="1500" b="1" dirty="0">
                <a:solidFill>
                  <a:srgbClr val="0E5A2E"/>
                </a:solidFill>
                <a:latin typeface="Calibri" pitchFamily="34" charset="0"/>
                <a:ea typeface="Calibri" pitchFamily="34" charset="-122"/>
                <a:cs typeface="Calibri" pitchFamily="34" charset="-120"/>
              </a:rPr>
              <a:t>02</a:t>
            </a:r>
            <a:endParaRPr lang="fr-FR" sz="1500" dirty="0"/>
          </a:p>
        </p:txBody>
      </p:sp>
      <p:sp>
        <p:nvSpPr>
          <p:cNvPr id="27" name="Text 23"/>
          <p:cNvSpPr txBox="1"/>
          <p:nvPr/>
        </p:nvSpPr>
        <p:spPr>
          <a:xfrm>
            <a:off x="1911096" y="2450592"/>
            <a:ext cx="1124712" cy="402336"/>
          </a:xfrm>
          <a:prstGeom prst="rect">
            <a:avLst/>
          </a:prstGeom>
          <a:noFill/>
          <a:ln/>
        </p:spPr>
        <p:txBody>
          <a:bodyPr wrap="square" lIns="0" tIns="0" rIns="0" bIns="0" rtlCol="0" anchor="ctr"/>
          <a:lstStyle/>
          <a:p>
            <a:pPr marL="0" indent="0" algn="ctr">
              <a:buNone/>
            </a:pPr>
            <a:r>
              <a:rPr lang="fr-FR" sz="1250" b="1" dirty="0">
                <a:solidFill>
                  <a:srgbClr val="231F20"/>
                </a:solidFill>
                <a:latin typeface="Calibri" pitchFamily="34" charset="0"/>
                <a:ea typeface="Calibri" pitchFamily="34" charset="-122"/>
                <a:cs typeface="Calibri" pitchFamily="34" charset="-120"/>
              </a:rPr>
              <a:t>Developer settings</a:t>
            </a:r>
            <a:endParaRPr lang="fr-FR" sz="1250" dirty="0"/>
          </a:p>
        </p:txBody>
      </p:sp>
      <p:sp>
        <p:nvSpPr>
          <p:cNvPr id="28" name="Text 24"/>
          <p:cNvSpPr txBox="1"/>
          <p:nvPr/>
        </p:nvSpPr>
        <p:spPr>
          <a:xfrm>
            <a:off x="1947672" y="2889504"/>
            <a:ext cx="1051560" cy="420624"/>
          </a:xfrm>
          <a:prstGeom prst="rect">
            <a:avLst/>
          </a:prstGeom>
          <a:noFill/>
          <a:ln/>
        </p:spPr>
        <p:txBody>
          <a:bodyPr wrap="square" lIns="0" tIns="0" rIns="0" bIns="0" rtlCol="0" anchor="t"/>
          <a:lstStyle/>
          <a:p>
            <a:pPr marL="0" indent="0" algn="ctr">
              <a:buNone/>
            </a:pPr>
            <a:r>
              <a:rPr lang="fr-FR" sz="1050" dirty="0">
                <a:solidFill>
                  <a:srgbClr val="5A6660"/>
                </a:solidFill>
                <a:latin typeface="Calibri" pitchFamily="34" charset="0"/>
                <a:ea typeface="Calibri" pitchFamily="34" charset="-122"/>
                <a:cs typeface="Calibri" pitchFamily="34" charset="-120"/>
              </a:rPr>
              <a:t>Bas de la barre latérale</a:t>
            </a:r>
            <a:endParaRPr lang="fr-FR" sz="1050" dirty="0"/>
          </a:p>
        </p:txBody>
      </p:sp>
      <p:sp>
        <p:nvSpPr>
          <p:cNvPr id="29" name="Text 25"/>
          <p:cNvSpPr txBox="1"/>
          <p:nvPr/>
        </p:nvSpPr>
        <p:spPr>
          <a:xfrm>
            <a:off x="3072384" y="1627632"/>
            <a:ext cx="201168" cy="457200"/>
          </a:xfrm>
          <a:prstGeom prst="rect">
            <a:avLst/>
          </a:prstGeom>
          <a:noFill/>
          <a:ln/>
        </p:spPr>
        <p:txBody>
          <a:bodyPr wrap="square" lIns="0" tIns="0" rIns="0" bIns="0" rtlCol="0" anchor="ctr"/>
          <a:lstStyle/>
          <a:p>
            <a:pPr marL="0" indent="0" algn="ctr">
              <a:buNone/>
            </a:pPr>
            <a:r>
              <a:rPr lang="fr-FR" sz="2000" b="1" dirty="0">
                <a:solidFill>
                  <a:srgbClr val="5A6660"/>
                </a:solidFill>
                <a:latin typeface="Calibri" pitchFamily="34" charset="0"/>
                <a:ea typeface="Calibri" pitchFamily="34" charset="-122"/>
                <a:cs typeface="Calibri" pitchFamily="34" charset="-120"/>
              </a:rPr>
              <a:t>›</a:t>
            </a:r>
            <a:endParaRPr lang="fr-FR" sz="2000" dirty="0"/>
          </a:p>
        </p:txBody>
      </p:sp>
      <p:sp>
        <p:nvSpPr>
          <p:cNvPr id="30" name="Shape 26"/>
          <p:cNvSpPr/>
          <p:nvPr/>
        </p:nvSpPr>
        <p:spPr>
          <a:xfrm>
            <a:off x="3255264" y="1371600"/>
            <a:ext cx="1234440" cy="2011680"/>
          </a:xfrm>
          <a:prstGeom prst="roundRect">
            <a:avLst>
              <a:gd name="adj" fmla="val 5926"/>
            </a:avLst>
          </a:prstGeom>
          <a:solidFill>
            <a:srgbClr val="F4F8F5"/>
          </a:solidFill>
          <a:ln w="9525">
            <a:solidFill>
              <a:srgbClr val="D3E2D7"/>
            </a:solidFill>
            <a:prstDash val="solid"/>
          </a:ln>
        </p:spPr>
      </p:sp>
      <p:sp>
        <p:nvSpPr>
          <p:cNvPr id="31" name="Shape 27"/>
          <p:cNvSpPr/>
          <p:nvPr/>
        </p:nvSpPr>
        <p:spPr>
          <a:xfrm>
            <a:off x="3589020" y="1572768"/>
            <a:ext cx="566928" cy="566928"/>
          </a:xfrm>
          <a:prstGeom prst="ellipse">
            <a:avLst/>
          </a:prstGeom>
          <a:solidFill>
            <a:srgbClr val="0E7C86">
              <a:alpha val="22000"/>
            </a:srgbClr>
          </a:solidFill>
          <a:ln/>
        </p:spPr>
      </p:sp>
      <p:pic>
        <p:nvPicPr>
          <p:cNvPr id="32" name="Image 2" descr="preencoded.png"/>
          <p:cNvPicPr>
            <a:picLocks noChangeAspect="1"/>
          </p:cNvPicPr>
          <p:nvPr/>
        </p:nvPicPr>
        <p:blipFill>
          <a:blip r:embed="rId5"/>
          <a:stretch>
            <a:fillRect/>
          </a:stretch>
        </p:blipFill>
        <p:spPr>
          <a:xfrm>
            <a:off x="3747760" y="1731508"/>
            <a:ext cx="249448" cy="249448"/>
          </a:xfrm>
          <a:prstGeom prst="rect">
            <a:avLst/>
          </a:prstGeom>
        </p:spPr>
      </p:pic>
      <p:sp>
        <p:nvSpPr>
          <p:cNvPr id="33" name="Text 28"/>
          <p:cNvSpPr txBox="1"/>
          <p:nvPr/>
        </p:nvSpPr>
        <p:spPr>
          <a:xfrm>
            <a:off x="3255264" y="2212848"/>
            <a:ext cx="1234440" cy="274320"/>
          </a:xfrm>
          <a:prstGeom prst="rect">
            <a:avLst/>
          </a:prstGeom>
          <a:noFill/>
          <a:ln/>
        </p:spPr>
        <p:txBody>
          <a:bodyPr wrap="square" lIns="0" tIns="0" rIns="0" bIns="0" rtlCol="0" anchor="ctr"/>
          <a:lstStyle/>
          <a:p>
            <a:pPr marL="0" indent="0" algn="ctr">
              <a:buNone/>
            </a:pPr>
            <a:r>
              <a:rPr lang="fr-FR" sz="1500" b="1" dirty="0">
                <a:solidFill>
                  <a:srgbClr val="0E7C86"/>
                </a:solidFill>
                <a:latin typeface="Calibri" pitchFamily="34" charset="0"/>
                <a:ea typeface="Calibri" pitchFamily="34" charset="-122"/>
                <a:cs typeface="Calibri" pitchFamily="34" charset="-120"/>
              </a:rPr>
              <a:t>03</a:t>
            </a:r>
            <a:endParaRPr lang="fr-FR" sz="1500" dirty="0"/>
          </a:p>
        </p:txBody>
      </p:sp>
      <p:sp>
        <p:nvSpPr>
          <p:cNvPr id="34" name="Text 29"/>
          <p:cNvSpPr txBox="1"/>
          <p:nvPr/>
        </p:nvSpPr>
        <p:spPr>
          <a:xfrm>
            <a:off x="3310128" y="2450592"/>
            <a:ext cx="1124712" cy="402336"/>
          </a:xfrm>
          <a:prstGeom prst="rect">
            <a:avLst/>
          </a:prstGeom>
          <a:noFill/>
          <a:ln/>
        </p:spPr>
        <p:txBody>
          <a:bodyPr wrap="square" lIns="0" tIns="0" rIns="0" bIns="0" rtlCol="0" anchor="ctr"/>
          <a:lstStyle/>
          <a:p>
            <a:pPr marL="0" indent="0" algn="ctr">
              <a:buNone/>
            </a:pPr>
            <a:r>
              <a:rPr lang="fr-FR" sz="1250" b="1" dirty="0">
                <a:solidFill>
                  <a:srgbClr val="231F20"/>
                </a:solidFill>
                <a:latin typeface="Calibri" pitchFamily="34" charset="0"/>
                <a:ea typeface="Calibri" pitchFamily="34" charset="-122"/>
                <a:cs typeface="Calibri" pitchFamily="34" charset="-120"/>
              </a:rPr>
              <a:t>Tokens (classic)</a:t>
            </a:r>
            <a:endParaRPr lang="fr-FR" sz="1250" dirty="0"/>
          </a:p>
        </p:txBody>
      </p:sp>
      <p:sp>
        <p:nvSpPr>
          <p:cNvPr id="35" name="Text 30"/>
          <p:cNvSpPr txBox="1"/>
          <p:nvPr/>
        </p:nvSpPr>
        <p:spPr>
          <a:xfrm>
            <a:off x="3346704" y="2889504"/>
            <a:ext cx="1051560" cy="420624"/>
          </a:xfrm>
          <a:prstGeom prst="rect">
            <a:avLst/>
          </a:prstGeom>
          <a:noFill/>
          <a:ln/>
        </p:spPr>
        <p:txBody>
          <a:bodyPr wrap="square" lIns="0" tIns="0" rIns="0" bIns="0" rtlCol="0" anchor="t"/>
          <a:lstStyle/>
          <a:p>
            <a:pPr marL="0" indent="0" algn="ctr">
              <a:buNone/>
            </a:pPr>
            <a:r>
              <a:rPr lang="fr-FR" sz="1050" dirty="0">
                <a:solidFill>
                  <a:srgbClr val="5A6660"/>
                </a:solidFill>
                <a:latin typeface="Calibri" pitchFamily="34" charset="0"/>
                <a:ea typeface="Calibri" pitchFamily="34" charset="-122"/>
                <a:cs typeface="Calibri" pitchFamily="34" charset="-120"/>
              </a:rPr>
              <a:t>Sous Personal access tokens</a:t>
            </a:r>
            <a:endParaRPr lang="fr-FR" sz="1050" dirty="0"/>
          </a:p>
        </p:txBody>
      </p:sp>
      <p:sp>
        <p:nvSpPr>
          <p:cNvPr id="36" name="Text 31"/>
          <p:cNvSpPr txBox="1"/>
          <p:nvPr/>
        </p:nvSpPr>
        <p:spPr>
          <a:xfrm>
            <a:off x="4471416" y="1627632"/>
            <a:ext cx="201168" cy="457200"/>
          </a:xfrm>
          <a:prstGeom prst="rect">
            <a:avLst/>
          </a:prstGeom>
          <a:noFill/>
          <a:ln/>
        </p:spPr>
        <p:txBody>
          <a:bodyPr wrap="square" lIns="0" tIns="0" rIns="0" bIns="0" rtlCol="0" anchor="ctr"/>
          <a:lstStyle/>
          <a:p>
            <a:pPr marL="0" indent="0" algn="ctr">
              <a:buNone/>
            </a:pPr>
            <a:r>
              <a:rPr lang="fr-FR" sz="2000" b="1" dirty="0">
                <a:solidFill>
                  <a:srgbClr val="5A6660"/>
                </a:solidFill>
                <a:latin typeface="Calibri" pitchFamily="34" charset="0"/>
                <a:ea typeface="Calibri" pitchFamily="34" charset="-122"/>
                <a:cs typeface="Calibri" pitchFamily="34" charset="-120"/>
              </a:rPr>
              <a:t>›</a:t>
            </a:r>
            <a:endParaRPr lang="fr-FR" sz="2000" dirty="0"/>
          </a:p>
        </p:txBody>
      </p:sp>
      <p:sp>
        <p:nvSpPr>
          <p:cNvPr id="37" name="Shape 32"/>
          <p:cNvSpPr/>
          <p:nvPr/>
        </p:nvSpPr>
        <p:spPr>
          <a:xfrm>
            <a:off x="4654296" y="1371600"/>
            <a:ext cx="1234440" cy="2011680"/>
          </a:xfrm>
          <a:prstGeom prst="roundRect">
            <a:avLst>
              <a:gd name="adj" fmla="val 5926"/>
            </a:avLst>
          </a:prstGeom>
          <a:solidFill>
            <a:srgbClr val="F4F8F5"/>
          </a:solidFill>
          <a:ln w="9525">
            <a:solidFill>
              <a:srgbClr val="D3E2D7"/>
            </a:solidFill>
            <a:prstDash val="solid"/>
          </a:ln>
        </p:spPr>
      </p:sp>
      <p:sp>
        <p:nvSpPr>
          <p:cNvPr id="38" name="Shape 33"/>
          <p:cNvSpPr/>
          <p:nvPr/>
        </p:nvSpPr>
        <p:spPr>
          <a:xfrm>
            <a:off x="4988052" y="1572768"/>
            <a:ext cx="566928" cy="566928"/>
          </a:xfrm>
          <a:prstGeom prst="ellipse">
            <a:avLst/>
          </a:prstGeom>
          <a:solidFill>
            <a:srgbClr val="D49A00">
              <a:alpha val="22000"/>
            </a:srgbClr>
          </a:solidFill>
          <a:ln/>
        </p:spPr>
      </p:sp>
      <p:pic>
        <p:nvPicPr>
          <p:cNvPr id="39" name="Image 3" descr="preencoded.png"/>
          <p:cNvPicPr>
            <a:picLocks noChangeAspect="1"/>
          </p:cNvPicPr>
          <p:nvPr/>
        </p:nvPicPr>
        <p:blipFill>
          <a:blip r:embed="rId6"/>
          <a:stretch>
            <a:fillRect/>
          </a:stretch>
        </p:blipFill>
        <p:spPr>
          <a:xfrm>
            <a:off x="5146792" y="1731508"/>
            <a:ext cx="249448" cy="249448"/>
          </a:xfrm>
          <a:prstGeom prst="rect">
            <a:avLst/>
          </a:prstGeom>
        </p:spPr>
      </p:pic>
      <p:sp>
        <p:nvSpPr>
          <p:cNvPr id="40" name="Text 34"/>
          <p:cNvSpPr txBox="1"/>
          <p:nvPr/>
        </p:nvSpPr>
        <p:spPr>
          <a:xfrm>
            <a:off x="4654296" y="2212848"/>
            <a:ext cx="1234440" cy="274320"/>
          </a:xfrm>
          <a:prstGeom prst="rect">
            <a:avLst/>
          </a:prstGeom>
          <a:noFill/>
          <a:ln/>
        </p:spPr>
        <p:txBody>
          <a:bodyPr wrap="square" lIns="0" tIns="0" rIns="0" bIns="0" rtlCol="0" anchor="ctr"/>
          <a:lstStyle/>
          <a:p>
            <a:pPr marL="0" indent="0" algn="ctr">
              <a:buNone/>
            </a:pPr>
            <a:r>
              <a:rPr lang="fr-FR" sz="1500" b="1" dirty="0">
                <a:solidFill>
                  <a:srgbClr val="D49A00"/>
                </a:solidFill>
                <a:latin typeface="Calibri" pitchFamily="34" charset="0"/>
                <a:ea typeface="Calibri" pitchFamily="34" charset="-122"/>
                <a:cs typeface="Calibri" pitchFamily="34" charset="-120"/>
              </a:rPr>
              <a:t>04</a:t>
            </a:r>
            <a:endParaRPr lang="fr-FR" sz="1500" dirty="0"/>
          </a:p>
        </p:txBody>
      </p:sp>
      <p:sp>
        <p:nvSpPr>
          <p:cNvPr id="41" name="Text 35"/>
          <p:cNvSpPr txBox="1"/>
          <p:nvPr/>
        </p:nvSpPr>
        <p:spPr>
          <a:xfrm>
            <a:off x="4709160" y="2450592"/>
            <a:ext cx="1124712" cy="402336"/>
          </a:xfrm>
          <a:prstGeom prst="rect">
            <a:avLst/>
          </a:prstGeom>
          <a:noFill/>
          <a:ln/>
        </p:spPr>
        <p:txBody>
          <a:bodyPr wrap="square" lIns="0" tIns="0" rIns="0" bIns="0" rtlCol="0" anchor="ctr"/>
          <a:lstStyle/>
          <a:p>
            <a:pPr marL="0" indent="0" algn="ctr">
              <a:buNone/>
            </a:pPr>
            <a:r>
              <a:rPr lang="fr-FR" sz="1250" b="1" dirty="0">
                <a:solidFill>
                  <a:srgbClr val="231F20"/>
                </a:solidFill>
                <a:latin typeface="Calibri" pitchFamily="34" charset="0"/>
                <a:ea typeface="Calibri" pitchFamily="34" charset="-122"/>
                <a:cs typeface="Calibri" pitchFamily="34" charset="-120"/>
              </a:rPr>
              <a:t>Générer</a:t>
            </a:r>
            <a:endParaRPr lang="fr-FR" sz="1250" dirty="0"/>
          </a:p>
        </p:txBody>
      </p:sp>
      <p:sp>
        <p:nvSpPr>
          <p:cNvPr id="42" name="Text 36"/>
          <p:cNvSpPr txBox="1"/>
          <p:nvPr/>
        </p:nvSpPr>
        <p:spPr>
          <a:xfrm>
            <a:off x="4745736" y="2889504"/>
            <a:ext cx="1051560" cy="420624"/>
          </a:xfrm>
          <a:prstGeom prst="rect">
            <a:avLst/>
          </a:prstGeom>
          <a:noFill/>
          <a:ln/>
        </p:spPr>
        <p:txBody>
          <a:bodyPr wrap="square" lIns="0" tIns="0" rIns="0" bIns="0" rtlCol="0" anchor="t"/>
          <a:lstStyle/>
          <a:p>
            <a:pPr marL="0" indent="0" algn="ctr">
              <a:buNone/>
            </a:pPr>
            <a:r>
              <a:rPr lang="fr-FR" sz="1050" dirty="0">
                <a:solidFill>
                  <a:srgbClr val="5A6660"/>
                </a:solidFill>
                <a:latin typeface="Calibri" pitchFamily="34" charset="0"/>
                <a:ea typeface="Calibri" pitchFamily="34" charset="-122"/>
                <a:cs typeface="Calibri" pitchFamily="34" charset="-120"/>
              </a:rPr>
              <a:t>New token (classic)</a:t>
            </a:r>
            <a:endParaRPr lang="fr-FR" sz="1050" dirty="0"/>
          </a:p>
        </p:txBody>
      </p:sp>
      <p:sp>
        <p:nvSpPr>
          <p:cNvPr id="43" name="Text 37"/>
          <p:cNvSpPr txBox="1"/>
          <p:nvPr/>
        </p:nvSpPr>
        <p:spPr>
          <a:xfrm>
            <a:off x="5870448" y="1627632"/>
            <a:ext cx="201168" cy="457200"/>
          </a:xfrm>
          <a:prstGeom prst="rect">
            <a:avLst/>
          </a:prstGeom>
          <a:noFill/>
          <a:ln/>
        </p:spPr>
        <p:txBody>
          <a:bodyPr wrap="square" lIns="0" tIns="0" rIns="0" bIns="0" rtlCol="0" anchor="ctr"/>
          <a:lstStyle/>
          <a:p>
            <a:pPr marL="0" indent="0" algn="ctr">
              <a:buNone/>
            </a:pPr>
            <a:r>
              <a:rPr lang="fr-FR" sz="2000" b="1" dirty="0">
                <a:solidFill>
                  <a:srgbClr val="5A6660"/>
                </a:solidFill>
                <a:latin typeface="Calibri" pitchFamily="34" charset="0"/>
                <a:ea typeface="Calibri" pitchFamily="34" charset="-122"/>
                <a:cs typeface="Calibri" pitchFamily="34" charset="-120"/>
              </a:rPr>
              <a:t>›</a:t>
            </a:r>
            <a:endParaRPr lang="fr-FR" sz="2000" dirty="0"/>
          </a:p>
        </p:txBody>
      </p:sp>
      <p:sp>
        <p:nvSpPr>
          <p:cNvPr id="44" name="Shape 38"/>
          <p:cNvSpPr/>
          <p:nvPr/>
        </p:nvSpPr>
        <p:spPr>
          <a:xfrm>
            <a:off x="6053328" y="1371600"/>
            <a:ext cx="1234440" cy="2011680"/>
          </a:xfrm>
          <a:prstGeom prst="roundRect">
            <a:avLst>
              <a:gd name="adj" fmla="val 5926"/>
            </a:avLst>
          </a:prstGeom>
          <a:solidFill>
            <a:srgbClr val="F4F8F5"/>
          </a:solidFill>
          <a:ln w="9525">
            <a:solidFill>
              <a:srgbClr val="D3E2D7"/>
            </a:solidFill>
            <a:prstDash val="solid"/>
          </a:ln>
        </p:spPr>
      </p:sp>
      <p:sp>
        <p:nvSpPr>
          <p:cNvPr id="45" name="Shape 39"/>
          <p:cNvSpPr/>
          <p:nvPr/>
        </p:nvSpPr>
        <p:spPr>
          <a:xfrm>
            <a:off x="6387084" y="1572768"/>
            <a:ext cx="566928" cy="566928"/>
          </a:xfrm>
          <a:prstGeom prst="ellipse">
            <a:avLst/>
          </a:prstGeom>
          <a:solidFill>
            <a:srgbClr val="C4621D">
              <a:alpha val="22000"/>
            </a:srgbClr>
          </a:solidFill>
          <a:ln/>
        </p:spPr>
      </p:sp>
      <p:pic>
        <p:nvPicPr>
          <p:cNvPr id="46" name="Image 4" descr="preencoded.png"/>
          <p:cNvPicPr>
            <a:picLocks noChangeAspect="1"/>
          </p:cNvPicPr>
          <p:nvPr/>
        </p:nvPicPr>
        <p:blipFill>
          <a:blip r:embed="rId7"/>
          <a:stretch>
            <a:fillRect/>
          </a:stretch>
        </p:blipFill>
        <p:spPr>
          <a:xfrm>
            <a:off x="6545824" y="1731508"/>
            <a:ext cx="249448" cy="249448"/>
          </a:xfrm>
          <a:prstGeom prst="rect">
            <a:avLst/>
          </a:prstGeom>
        </p:spPr>
      </p:pic>
      <p:sp>
        <p:nvSpPr>
          <p:cNvPr id="47" name="Text 40"/>
          <p:cNvSpPr txBox="1"/>
          <p:nvPr/>
        </p:nvSpPr>
        <p:spPr>
          <a:xfrm>
            <a:off x="6053328" y="2212848"/>
            <a:ext cx="1234440" cy="274320"/>
          </a:xfrm>
          <a:prstGeom prst="rect">
            <a:avLst/>
          </a:prstGeom>
          <a:noFill/>
          <a:ln/>
        </p:spPr>
        <p:txBody>
          <a:bodyPr wrap="square" lIns="0" tIns="0" rIns="0" bIns="0" rtlCol="0" anchor="ctr"/>
          <a:lstStyle/>
          <a:p>
            <a:pPr marL="0" indent="0" algn="ctr">
              <a:buNone/>
            </a:pPr>
            <a:r>
              <a:rPr lang="fr-FR" sz="1500" b="1" dirty="0">
                <a:solidFill>
                  <a:srgbClr val="C4621D"/>
                </a:solidFill>
                <a:latin typeface="Calibri" pitchFamily="34" charset="0"/>
                <a:ea typeface="Calibri" pitchFamily="34" charset="-122"/>
                <a:cs typeface="Calibri" pitchFamily="34" charset="-120"/>
              </a:rPr>
              <a:t>05</a:t>
            </a:r>
            <a:endParaRPr lang="fr-FR" sz="1500" dirty="0"/>
          </a:p>
        </p:txBody>
      </p:sp>
      <p:sp>
        <p:nvSpPr>
          <p:cNvPr id="48" name="Text 41"/>
          <p:cNvSpPr txBox="1"/>
          <p:nvPr/>
        </p:nvSpPr>
        <p:spPr>
          <a:xfrm>
            <a:off x="6108192" y="2450592"/>
            <a:ext cx="1124712" cy="402336"/>
          </a:xfrm>
          <a:prstGeom prst="rect">
            <a:avLst/>
          </a:prstGeom>
          <a:noFill/>
          <a:ln/>
        </p:spPr>
        <p:txBody>
          <a:bodyPr wrap="square" lIns="0" tIns="0" rIns="0" bIns="0" rtlCol="0" anchor="ctr"/>
          <a:lstStyle/>
          <a:p>
            <a:pPr marL="0" indent="0" algn="ctr">
              <a:buNone/>
            </a:pPr>
            <a:r>
              <a:rPr lang="fr-FR" sz="1250" b="1" dirty="0">
                <a:solidFill>
                  <a:srgbClr val="231F20"/>
                </a:solidFill>
                <a:latin typeface="Calibri" pitchFamily="34" charset="0"/>
                <a:ea typeface="Calibri" pitchFamily="34" charset="-122"/>
                <a:cs typeface="Calibri" pitchFamily="34" charset="-120"/>
              </a:rPr>
              <a:t>Configurer</a:t>
            </a:r>
            <a:endParaRPr lang="fr-FR" sz="1250" dirty="0"/>
          </a:p>
        </p:txBody>
      </p:sp>
      <p:sp>
        <p:nvSpPr>
          <p:cNvPr id="49" name="Text 42"/>
          <p:cNvSpPr txBox="1"/>
          <p:nvPr/>
        </p:nvSpPr>
        <p:spPr>
          <a:xfrm>
            <a:off x="6144768" y="2889504"/>
            <a:ext cx="1051560" cy="420624"/>
          </a:xfrm>
          <a:prstGeom prst="rect">
            <a:avLst/>
          </a:prstGeom>
          <a:noFill/>
          <a:ln/>
        </p:spPr>
        <p:txBody>
          <a:bodyPr wrap="square" lIns="0" tIns="0" rIns="0" bIns="0" rtlCol="0" anchor="t"/>
          <a:lstStyle/>
          <a:p>
            <a:pPr marL="0" indent="0" algn="ctr">
              <a:buNone/>
            </a:pPr>
            <a:r>
              <a:rPr lang="fr-FR" sz="1050" dirty="0">
                <a:solidFill>
                  <a:srgbClr val="5A6660"/>
                </a:solidFill>
                <a:latin typeface="Calibri" pitchFamily="34" charset="0"/>
                <a:ea typeface="Calibri" pitchFamily="34" charset="-122"/>
                <a:cs typeface="Calibri" pitchFamily="34" charset="-120"/>
              </a:rPr>
              <a:t>Note, expiration, scopes</a:t>
            </a:r>
            <a:endParaRPr lang="fr-FR" sz="1050" dirty="0"/>
          </a:p>
        </p:txBody>
      </p:sp>
      <p:sp>
        <p:nvSpPr>
          <p:cNvPr id="50" name="Text 43"/>
          <p:cNvSpPr txBox="1"/>
          <p:nvPr/>
        </p:nvSpPr>
        <p:spPr>
          <a:xfrm>
            <a:off x="7269480" y="1627632"/>
            <a:ext cx="201168" cy="457200"/>
          </a:xfrm>
          <a:prstGeom prst="rect">
            <a:avLst/>
          </a:prstGeom>
          <a:noFill/>
          <a:ln/>
        </p:spPr>
        <p:txBody>
          <a:bodyPr wrap="square" lIns="0" tIns="0" rIns="0" bIns="0" rtlCol="0" anchor="ctr"/>
          <a:lstStyle/>
          <a:p>
            <a:pPr marL="0" indent="0" algn="ctr">
              <a:buNone/>
            </a:pPr>
            <a:r>
              <a:rPr lang="fr-FR" sz="2000" b="1" dirty="0">
                <a:solidFill>
                  <a:srgbClr val="5A6660"/>
                </a:solidFill>
                <a:latin typeface="Calibri" pitchFamily="34" charset="0"/>
                <a:ea typeface="Calibri" pitchFamily="34" charset="-122"/>
                <a:cs typeface="Calibri" pitchFamily="34" charset="-120"/>
              </a:rPr>
              <a:t>›</a:t>
            </a:r>
            <a:endParaRPr lang="fr-FR" sz="2000" dirty="0"/>
          </a:p>
        </p:txBody>
      </p:sp>
      <p:sp>
        <p:nvSpPr>
          <p:cNvPr id="51" name="Shape 44"/>
          <p:cNvSpPr/>
          <p:nvPr/>
        </p:nvSpPr>
        <p:spPr>
          <a:xfrm>
            <a:off x="7452360" y="1371600"/>
            <a:ext cx="1234440" cy="2011680"/>
          </a:xfrm>
          <a:prstGeom prst="roundRect">
            <a:avLst>
              <a:gd name="adj" fmla="val 5926"/>
            </a:avLst>
          </a:prstGeom>
          <a:solidFill>
            <a:srgbClr val="F4F8F5"/>
          </a:solidFill>
          <a:ln w="9525">
            <a:solidFill>
              <a:srgbClr val="D3E2D7"/>
            </a:solidFill>
            <a:prstDash val="solid"/>
          </a:ln>
        </p:spPr>
      </p:sp>
      <p:sp>
        <p:nvSpPr>
          <p:cNvPr id="52" name="Shape 45"/>
          <p:cNvSpPr/>
          <p:nvPr/>
        </p:nvSpPr>
        <p:spPr>
          <a:xfrm>
            <a:off x="7786116" y="1572768"/>
            <a:ext cx="566928" cy="566928"/>
          </a:xfrm>
          <a:prstGeom prst="ellipse">
            <a:avLst/>
          </a:prstGeom>
          <a:solidFill>
            <a:srgbClr val="B83B2E">
              <a:alpha val="22000"/>
            </a:srgbClr>
          </a:solidFill>
          <a:ln/>
        </p:spPr>
      </p:sp>
      <p:pic>
        <p:nvPicPr>
          <p:cNvPr id="53" name="Image 5" descr="preencoded.png"/>
          <p:cNvPicPr>
            <a:picLocks noChangeAspect="1"/>
          </p:cNvPicPr>
          <p:nvPr/>
        </p:nvPicPr>
        <p:blipFill>
          <a:blip r:embed="rId8"/>
          <a:stretch>
            <a:fillRect/>
          </a:stretch>
        </p:blipFill>
        <p:spPr>
          <a:xfrm>
            <a:off x="7944856" y="1731508"/>
            <a:ext cx="249448" cy="249448"/>
          </a:xfrm>
          <a:prstGeom prst="rect">
            <a:avLst/>
          </a:prstGeom>
        </p:spPr>
      </p:pic>
      <p:sp>
        <p:nvSpPr>
          <p:cNvPr id="54" name="Text 46"/>
          <p:cNvSpPr txBox="1"/>
          <p:nvPr/>
        </p:nvSpPr>
        <p:spPr>
          <a:xfrm>
            <a:off x="7452360" y="2212848"/>
            <a:ext cx="1234440" cy="274320"/>
          </a:xfrm>
          <a:prstGeom prst="rect">
            <a:avLst/>
          </a:prstGeom>
          <a:noFill/>
          <a:ln/>
        </p:spPr>
        <p:txBody>
          <a:bodyPr wrap="square" lIns="0" tIns="0" rIns="0" bIns="0" rtlCol="0" anchor="ctr"/>
          <a:lstStyle/>
          <a:p>
            <a:pPr marL="0" indent="0" algn="ctr">
              <a:buNone/>
            </a:pPr>
            <a:r>
              <a:rPr lang="fr-FR" sz="1500" b="1" dirty="0">
                <a:solidFill>
                  <a:srgbClr val="B83B2E"/>
                </a:solidFill>
                <a:latin typeface="Calibri" pitchFamily="34" charset="0"/>
                <a:ea typeface="Calibri" pitchFamily="34" charset="-122"/>
                <a:cs typeface="Calibri" pitchFamily="34" charset="-120"/>
              </a:rPr>
              <a:t>06</a:t>
            </a:r>
            <a:endParaRPr lang="fr-FR" sz="1500" dirty="0"/>
          </a:p>
        </p:txBody>
      </p:sp>
      <p:sp>
        <p:nvSpPr>
          <p:cNvPr id="55" name="Text 47"/>
          <p:cNvSpPr txBox="1"/>
          <p:nvPr/>
        </p:nvSpPr>
        <p:spPr>
          <a:xfrm>
            <a:off x="7507224" y="2450592"/>
            <a:ext cx="1124712" cy="402336"/>
          </a:xfrm>
          <a:prstGeom prst="rect">
            <a:avLst/>
          </a:prstGeom>
          <a:noFill/>
          <a:ln/>
        </p:spPr>
        <p:txBody>
          <a:bodyPr wrap="square" lIns="0" tIns="0" rIns="0" bIns="0" rtlCol="0" anchor="ctr"/>
          <a:lstStyle/>
          <a:p>
            <a:pPr marL="0" indent="0" algn="ctr">
              <a:buNone/>
            </a:pPr>
            <a:r>
              <a:rPr lang="fr-FR" sz="1250" b="1" dirty="0">
                <a:solidFill>
                  <a:srgbClr val="231F20"/>
                </a:solidFill>
                <a:latin typeface="Calibri" pitchFamily="34" charset="0"/>
                <a:ea typeface="Calibri" pitchFamily="34" charset="-122"/>
                <a:cs typeface="Calibri" pitchFamily="34" charset="-120"/>
              </a:rPr>
              <a:t>Copier &amp; conserver</a:t>
            </a:r>
            <a:endParaRPr lang="fr-FR" sz="1250" dirty="0"/>
          </a:p>
        </p:txBody>
      </p:sp>
      <p:sp>
        <p:nvSpPr>
          <p:cNvPr id="56" name="Text 48"/>
          <p:cNvSpPr txBox="1"/>
          <p:nvPr/>
        </p:nvSpPr>
        <p:spPr>
          <a:xfrm>
            <a:off x="7543800" y="2889504"/>
            <a:ext cx="1051560" cy="420624"/>
          </a:xfrm>
          <a:prstGeom prst="rect">
            <a:avLst/>
          </a:prstGeom>
          <a:noFill/>
          <a:ln/>
        </p:spPr>
        <p:txBody>
          <a:bodyPr wrap="square" lIns="0" tIns="0" rIns="0" bIns="0" rtlCol="0" anchor="t"/>
          <a:lstStyle/>
          <a:p>
            <a:pPr marL="0" indent="0" algn="ctr">
              <a:buNone/>
            </a:pPr>
            <a:r>
              <a:rPr lang="fr-FR" sz="1050" dirty="0">
                <a:solidFill>
                  <a:srgbClr val="5A6660"/>
                </a:solidFill>
                <a:latin typeface="Calibri" pitchFamily="34" charset="0"/>
                <a:ea typeface="Calibri" pitchFamily="34" charset="-122"/>
                <a:cs typeface="Calibri" pitchFamily="34" charset="-120"/>
              </a:rPr>
              <a:t>Affiché une seule fois</a:t>
            </a:r>
            <a:endParaRPr lang="fr-FR" sz="1050" dirty="0"/>
          </a:p>
        </p:txBody>
      </p:sp>
      <p:sp>
        <p:nvSpPr>
          <p:cNvPr id="57" name="Shape 49"/>
          <p:cNvSpPr/>
          <p:nvPr/>
        </p:nvSpPr>
        <p:spPr>
          <a:xfrm>
            <a:off x="457200" y="3703320"/>
            <a:ext cx="8229600" cy="731520"/>
          </a:xfrm>
          <a:prstGeom prst="roundRect">
            <a:avLst>
              <a:gd name="adj" fmla="val 10000"/>
            </a:avLst>
          </a:prstGeom>
          <a:solidFill>
            <a:srgbClr val="D49A00">
              <a:alpha val="13000"/>
            </a:srgbClr>
          </a:solidFill>
          <a:ln w="12700">
            <a:solidFill>
              <a:srgbClr val="D49A00"/>
            </a:solidFill>
            <a:prstDash val="solid"/>
          </a:ln>
        </p:spPr>
      </p:sp>
      <p:sp>
        <p:nvSpPr>
          <p:cNvPr id="58" name="Shape 50"/>
          <p:cNvSpPr/>
          <p:nvPr/>
        </p:nvSpPr>
        <p:spPr>
          <a:xfrm>
            <a:off x="621792" y="3831336"/>
            <a:ext cx="475488" cy="475488"/>
          </a:xfrm>
          <a:prstGeom prst="ellipse">
            <a:avLst/>
          </a:prstGeom>
          <a:solidFill>
            <a:srgbClr val="D49A00">
              <a:alpha val="25000"/>
            </a:srgbClr>
          </a:solidFill>
          <a:ln/>
        </p:spPr>
      </p:sp>
      <p:pic>
        <p:nvPicPr>
          <p:cNvPr id="59" name="Image 6" descr="preencoded.png"/>
          <p:cNvPicPr>
            <a:picLocks noChangeAspect="1"/>
          </p:cNvPicPr>
          <p:nvPr/>
        </p:nvPicPr>
        <p:blipFill>
          <a:blip r:embed="rId9"/>
          <a:stretch>
            <a:fillRect/>
          </a:stretch>
        </p:blipFill>
        <p:spPr>
          <a:xfrm>
            <a:off x="754929" y="3964473"/>
            <a:ext cx="209215" cy="209215"/>
          </a:xfrm>
          <a:prstGeom prst="rect">
            <a:avLst/>
          </a:prstGeom>
        </p:spPr>
      </p:pic>
      <p:sp>
        <p:nvSpPr>
          <p:cNvPr id="60" name="Text 51"/>
          <p:cNvSpPr txBox="1"/>
          <p:nvPr/>
        </p:nvSpPr>
        <p:spPr>
          <a:xfrm>
            <a:off x="1234440" y="3749040"/>
            <a:ext cx="7269480" cy="640080"/>
          </a:xfrm>
          <a:prstGeom prst="rect">
            <a:avLst/>
          </a:prstGeom>
          <a:noFill/>
          <a:ln/>
        </p:spPr>
        <p:txBody>
          <a:bodyPr wrap="square" lIns="0" tIns="0" rIns="0" bIns="0" rtlCol="0" anchor="ctr"/>
          <a:lstStyle/>
          <a:p>
            <a:pPr marL="0" indent="0">
              <a:buNone/>
            </a:pPr>
            <a:r>
              <a:rPr lang="fr-FR" sz="1200" b="1" dirty="0">
                <a:solidFill>
                  <a:srgbClr val="231F20"/>
                </a:solidFill>
                <a:latin typeface="Calibri" pitchFamily="34" charset="0"/>
                <a:ea typeface="Calibri" pitchFamily="34" charset="-122"/>
                <a:cs typeface="Calibri" pitchFamily="34" charset="-120"/>
              </a:rPr>
              <a:t>Traitez le jeton comme un mot de passe. </a:t>
            </a:r>
            <a:r>
              <a:rPr lang="fr-FR" sz="1200" dirty="0">
                <a:solidFill>
                  <a:srgbClr val="231F20"/>
                </a:solidFill>
                <a:latin typeface="Calibri" pitchFamily="34" charset="0"/>
                <a:ea typeface="Calibri" pitchFamily="34" charset="-122"/>
                <a:cs typeface="Calibri" pitchFamily="34" charset="-120"/>
              </a:rPr>
              <a:t>Un jeton classic peut remplacer votre mot de passe pour Git via HTTPS et servir à s’authentifier auprès de l’API GitHub.</a:t>
            </a:r>
            <a:endParaRPr lang="fr-FR" sz="12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fr-FR" sz="1050" b="1" kern="0" spc="300" dirty="0">
                <a:solidFill>
                  <a:srgbClr val="0E5A2E"/>
                </a:solidFill>
                <a:latin typeface="Calibri" pitchFamily="34" charset="0"/>
                <a:ea typeface="Calibri" pitchFamily="34" charset="-122"/>
                <a:cs typeface="Calibri" pitchFamily="34" charset="-120"/>
              </a:rPr>
              <a:t>POURQUOI CE JETON · TRAVAUX PRATIQUES</a:t>
            </a:r>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fr-FR" sz="2800" b="1" dirty="0">
                <a:solidFill>
                  <a:srgbClr val="231F20"/>
                </a:solidFill>
                <a:latin typeface="Calibri" pitchFamily="34" charset="0"/>
                <a:ea typeface="Calibri" pitchFamily="34" charset="-122"/>
                <a:cs typeface="Calibri" pitchFamily="34" charset="-120"/>
              </a:rPr>
              <a:t>La place de GitHub dans vos travaux</a:t>
            </a:r>
          </a:p>
        </p:txBody>
      </p:sp>
      <p:sp>
        <p:nvSpPr>
          <p:cNvPr id="8" name="Shape 6"/>
          <p:cNvSpPr/>
          <p:nvPr/>
        </p:nvSpPr>
        <p:spPr>
          <a:xfrm>
            <a:off x="7543800" y="365760"/>
            <a:ext cx="109728" cy="109728"/>
          </a:xfrm>
          <a:prstGeom prst="ellipse">
            <a:avLst/>
          </a:prstGeom>
          <a:solidFill>
            <a:srgbClr val="D3E2D7"/>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D5DDEA"/>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fr-FR" sz="850" dirty="0">
                <a:solidFill>
                  <a:srgbClr val="8A968F"/>
                </a:solidFill>
                <a:latin typeface="Calibri" pitchFamily="34" charset="0"/>
                <a:ea typeface="Calibri" pitchFamily="34" charset="-122"/>
                <a:cs typeface="Calibri" pitchFamily="34" charset="-120"/>
              </a:rPr>
              <a:t>Générer une clé API GitHub · BAD – Data Innovation for Africa (DI4A)</a:t>
            </a:r>
            <a:endParaRPr lang="fr-FR"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fr-FR" sz="850" dirty="0">
                <a:solidFill>
                  <a:srgbClr val="8A968F"/>
                </a:solidFill>
                <a:latin typeface="Calibri" pitchFamily="34" charset="0"/>
                <a:ea typeface="Calibri" pitchFamily="34" charset="-122"/>
                <a:cs typeface="Calibri" pitchFamily="34" charset="-120"/>
              </a:rPr>
              <a:t>3</a:t>
            </a:r>
            <a:endParaRPr lang="fr-FR" sz="850" dirty="0"/>
          </a:p>
        </p:txBody>
      </p:sp>
      <p:sp>
        <p:nvSpPr>
          <p:cNvPr id="16" name="Shape 14"/>
          <p:cNvSpPr/>
          <p:nvPr/>
        </p:nvSpPr>
        <p:spPr>
          <a:xfrm>
            <a:off x="457200" y="1325880"/>
            <a:ext cx="3977640" cy="1371600"/>
          </a:xfrm>
          <a:prstGeom prst="roundRect">
            <a:avLst>
              <a:gd name="adj" fmla="val 5333"/>
            </a:avLst>
          </a:prstGeom>
          <a:solidFill>
            <a:srgbClr val="F4F8F5"/>
          </a:solidFill>
          <a:ln w="9525">
            <a:solidFill>
              <a:srgbClr val="D3E2D7"/>
            </a:solidFill>
            <a:prstDash val="solid"/>
          </a:ln>
        </p:spPr>
      </p:sp>
      <p:sp>
        <p:nvSpPr>
          <p:cNvPr id="17" name="Shape 15"/>
          <p:cNvSpPr/>
          <p:nvPr/>
        </p:nvSpPr>
        <p:spPr>
          <a:xfrm>
            <a:off x="685800" y="1581912"/>
            <a:ext cx="548640" cy="548640"/>
          </a:xfrm>
          <a:prstGeom prst="ellipse">
            <a:avLst/>
          </a:prstGeom>
          <a:solidFill>
            <a:srgbClr val="2C9045">
              <a:alpha val="22000"/>
            </a:srgbClr>
          </a:solidFill>
          <a:ln/>
        </p:spPr>
      </p:sp>
      <p:pic>
        <p:nvPicPr>
          <p:cNvPr id="18" name="Image 0" descr="preencoded.png"/>
          <p:cNvPicPr>
            <a:picLocks noChangeAspect="1"/>
          </p:cNvPicPr>
          <p:nvPr/>
        </p:nvPicPr>
        <p:blipFill>
          <a:blip r:embed="rId3"/>
          <a:stretch>
            <a:fillRect/>
          </a:stretch>
        </p:blipFill>
        <p:spPr>
          <a:xfrm>
            <a:off x="839419" y="1735531"/>
            <a:ext cx="241402" cy="241402"/>
          </a:xfrm>
          <a:prstGeom prst="rect">
            <a:avLst/>
          </a:prstGeom>
        </p:spPr>
      </p:pic>
      <p:sp>
        <p:nvSpPr>
          <p:cNvPr id="19" name="Text 16"/>
          <p:cNvSpPr txBox="1"/>
          <p:nvPr/>
        </p:nvSpPr>
        <p:spPr>
          <a:xfrm>
            <a:off x="1417320" y="1527048"/>
            <a:ext cx="2834640" cy="320040"/>
          </a:xfrm>
          <a:prstGeom prst="rect">
            <a:avLst/>
          </a:prstGeom>
          <a:noFill/>
          <a:ln/>
        </p:spPr>
        <p:txBody>
          <a:bodyPr wrap="square" lIns="0" tIns="0" rIns="0" bIns="0" rtlCol="0" anchor="ctr"/>
          <a:lstStyle/>
          <a:p>
            <a:pPr marL="0" indent="0">
              <a:buNone/>
            </a:pPr>
            <a:r>
              <a:rPr lang="fr-FR" sz="1400" b="1" dirty="0">
                <a:solidFill>
                  <a:srgbClr val="231F20"/>
                </a:solidFill>
                <a:latin typeface="Calibri" pitchFamily="34" charset="0"/>
                <a:ea typeface="Calibri" pitchFamily="34" charset="-122"/>
                <a:cs typeface="Calibri" pitchFamily="34" charset="-120"/>
              </a:rPr>
              <a:t>Infrastructure de données</a:t>
            </a:r>
          </a:p>
        </p:txBody>
      </p:sp>
      <p:sp>
        <p:nvSpPr>
          <p:cNvPr id="20" name="Text 17"/>
          <p:cNvSpPr txBox="1"/>
          <p:nvPr/>
        </p:nvSpPr>
        <p:spPr>
          <a:xfrm>
            <a:off x="1417320" y="1874520"/>
            <a:ext cx="2834640" cy="685800"/>
          </a:xfrm>
          <a:prstGeom prst="rect">
            <a:avLst/>
          </a:prstGeom>
          <a:noFill/>
          <a:ln/>
        </p:spPr>
        <p:txBody>
          <a:bodyPr wrap="square" lIns="0" tIns="0" rIns="0" bIns="0" rtlCol="0" anchor="t"/>
          <a:lstStyle/>
          <a:p>
            <a:pPr marL="0" indent="0">
              <a:buNone/>
            </a:pPr>
            <a:r>
              <a:rPr lang="fr-FR" sz="1150" dirty="0">
                <a:solidFill>
                  <a:srgbClr val="5A6660"/>
                </a:solidFill>
                <a:latin typeface="Calibri" pitchFamily="34" charset="0"/>
                <a:ea typeface="Calibri" pitchFamily="34" charset="-122"/>
                <a:cs typeface="Calibri" pitchFamily="34" charset="-120"/>
              </a:rPr>
              <a:t>Accès aux données et gouvernance ; Cloud, GitHub et Colab ensemble.</a:t>
            </a:r>
          </a:p>
        </p:txBody>
      </p:sp>
      <p:sp>
        <p:nvSpPr>
          <p:cNvPr id="21" name="Shape 18"/>
          <p:cNvSpPr/>
          <p:nvPr/>
        </p:nvSpPr>
        <p:spPr>
          <a:xfrm>
            <a:off x="4709160" y="1325880"/>
            <a:ext cx="3977640" cy="1371600"/>
          </a:xfrm>
          <a:prstGeom prst="roundRect">
            <a:avLst>
              <a:gd name="adj" fmla="val 5333"/>
            </a:avLst>
          </a:prstGeom>
          <a:solidFill>
            <a:srgbClr val="F4F8F5"/>
          </a:solidFill>
          <a:ln w="9525">
            <a:solidFill>
              <a:srgbClr val="D3E2D7"/>
            </a:solidFill>
            <a:prstDash val="solid"/>
          </a:ln>
        </p:spPr>
      </p:sp>
      <p:sp>
        <p:nvSpPr>
          <p:cNvPr id="22" name="Shape 19"/>
          <p:cNvSpPr/>
          <p:nvPr/>
        </p:nvSpPr>
        <p:spPr>
          <a:xfrm>
            <a:off x="4937760" y="1581912"/>
            <a:ext cx="548640" cy="548640"/>
          </a:xfrm>
          <a:prstGeom prst="ellipse">
            <a:avLst/>
          </a:prstGeom>
          <a:solidFill>
            <a:srgbClr val="0E7C86">
              <a:alpha val="22000"/>
            </a:srgbClr>
          </a:solidFill>
          <a:ln/>
        </p:spPr>
      </p:sp>
      <p:pic>
        <p:nvPicPr>
          <p:cNvPr id="23" name="Image 1" descr="preencoded.png"/>
          <p:cNvPicPr>
            <a:picLocks noChangeAspect="1"/>
          </p:cNvPicPr>
          <p:nvPr/>
        </p:nvPicPr>
        <p:blipFill>
          <a:blip r:embed="rId4"/>
          <a:stretch>
            <a:fillRect/>
          </a:stretch>
        </p:blipFill>
        <p:spPr>
          <a:xfrm>
            <a:off x="5091379" y="1735531"/>
            <a:ext cx="241402" cy="241402"/>
          </a:xfrm>
          <a:prstGeom prst="rect">
            <a:avLst/>
          </a:prstGeom>
        </p:spPr>
      </p:pic>
      <p:sp>
        <p:nvSpPr>
          <p:cNvPr id="24" name="Text 20"/>
          <p:cNvSpPr txBox="1"/>
          <p:nvPr/>
        </p:nvSpPr>
        <p:spPr>
          <a:xfrm>
            <a:off x="5669280" y="1527048"/>
            <a:ext cx="2834640" cy="320040"/>
          </a:xfrm>
          <a:prstGeom prst="rect">
            <a:avLst/>
          </a:prstGeom>
          <a:noFill/>
          <a:ln/>
        </p:spPr>
        <p:txBody>
          <a:bodyPr wrap="square" lIns="0" tIns="0" rIns="0" bIns="0" rtlCol="0" anchor="ctr"/>
          <a:lstStyle/>
          <a:p>
            <a:pPr marL="0" indent="0">
              <a:buNone/>
            </a:pPr>
            <a:r>
              <a:rPr lang="fr-FR" sz="1400" b="1" dirty="0">
                <a:solidFill>
                  <a:srgbClr val="231F20"/>
                </a:solidFill>
                <a:latin typeface="Calibri" pitchFamily="34" charset="0"/>
                <a:ea typeface="Calibri" pitchFamily="34" charset="-122"/>
                <a:cs typeface="Calibri" pitchFamily="34" charset="-120"/>
              </a:rPr>
              <a:t>Projets d’équipe</a:t>
            </a:r>
          </a:p>
        </p:txBody>
      </p:sp>
      <p:sp>
        <p:nvSpPr>
          <p:cNvPr id="25" name="Text 21"/>
          <p:cNvSpPr txBox="1"/>
          <p:nvPr/>
        </p:nvSpPr>
        <p:spPr>
          <a:xfrm>
            <a:off x="5669280" y="1874520"/>
            <a:ext cx="2834640" cy="685800"/>
          </a:xfrm>
          <a:prstGeom prst="rect">
            <a:avLst/>
          </a:prstGeom>
          <a:noFill/>
          <a:ln/>
        </p:spPr>
        <p:txBody>
          <a:bodyPr wrap="square" lIns="0" tIns="0" rIns="0" bIns="0" rtlCol="0" anchor="t"/>
          <a:lstStyle/>
          <a:p>
            <a:pPr marL="0" indent="0">
              <a:buNone/>
            </a:pPr>
            <a:r>
              <a:rPr lang="fr-FR" sz="1150" dirty="0">
                <a:solidFill>
                  <a:srgbClr val="5A6660"/>
                </a:solidFill>
                <a:latin typeface="Calibri" pitchFamily="34" charset="0"/>
                <a:ea typeface="Calibri" pitchFamily="34" charset="-122"/>
                <a:cs typeface="Calibri" pitchFamily="34" charset="-120"/>
              </a:rPr>
              <a:t>Dépôts partagés pour le code, les données et les livrables du projet.</a:t>
            </a:r>
          </a:p>
        </p:txBody>
      </p:sp>
      <p:sp>
        <p:nvSpPr>
          <p:cNvPr id="26" name="Shape 22"/>
          <p:cNvSpPr/>
          <p:nvPr/>
        </p:nvSpPr>
        <p:spPr>
          <a:xfrm>
            <a:off x="457200" y="2926080"/>
            <a:ext cx="3977640" cy="1371600"/>
          </a:xfrm>
          <a:prstGeom prst="roundRect">
            <a:avLst>
              <a:gd name="adj" fmla="val 5333"/>
            </a:avLst>
          </a:prstGeom>
          <a:solidFill>
            <a:srgbClr val="F4F8F5"/>
          </a:solidFill>
          <a:ln w="9525">
            <a:solidFill>
              <a:srgbClr val="D3E2D7"/>
            </a:solidFill>
            <a:prstDash val="solid"/>
          </a:ln>
        </p:spPr>
      </p:sp>
      <p:sp>
        <p:nvSpPr>
          <p:cNvPr id="27" name="Shape 23"/>
          <p:cNvSpPr/>
          <p:nvPr/>
        </p:nvSpPr>
        <p:spPr>
          <a:xfrm>
            <a:off x="685800" y="3182112"/>
            <a:ext cx="548640" cy="548640"/>
          </a:xfrm>
          <a:prstGeom prst="ellipse">
            <a:avLst/>
          </a:prstGeom>
          <a:solidFill>
            <a:srgbClr val="D49A00">
              <a:alpha val="22000"/>
            </a:srgbClr>
          </a:solidFill>
          <a:ln/>
        </p:spPr>
      </p:sp>
      <p:pic>
        <p:nvPicPr>
          <p:cNvPr id="28" name="Image 2" descr="preencoded.png"/>
          <p:cNvPicPr>
            <a:picLocks noChangeAspect="1"/>
          </p:cNvPicPr>
          <p:nvPr/>
        </p:nvPicPr>
        <p:blipFill>
          <a:blip r:embed="rId5"/>
          <a:stretch>
            <a:fillRect/>
          </a:stretch>
        </p:blipFill>
        <p:spPr>
          <a:xfrm>
            <a:off x="839419" y="3335731"/>
            <a:ext cx="241402" cy="241402"/>
          </a:xfrm>
          <a:prstGeom prst="rect">
            <a:avLst/>
          </a:prstGeom>
        </p:spPr>
      </p:pic>
      <p:sp>
        <p:nvSpPr>
          <p:cNvPr id="29" name="Text 24"/>
          <p:cNvSpPr txBox="1"/>
          <p:nvPr/>
        </p:nvSpPr>
        <p:spPr>
          <a:xfrm>
            <a:off x="1417320" y="3127248"/>
            <a:ext cx="2834640" cy="320040"/>
          </a:xfrm>
          <a:prstGeom prst="rect">
            <a:avLst/>
          </a:prstGeom>
          <a:noFill/>
          <a:ln/>
        </p:spPr>
        <p:txBody>
          <a:bodyPr wrap="square" lIns="0" tIns="0" rIns="0" bIns="0" rtlCol="0" anchor="ctr"/>
          <a:lstStyle/>
          <a:p>
            <a:pPr marL="0" indent="0">
              <a:buNone/>
            </a:pPr>
            <a:r>
              <a:rPr lang="fr-FR" sz="1400" b="1" dirty="0">
                <a:solidFill>
                  <a:srgbClr val="231F20"/>
                </a:solidFill>
                <a:latin typeface="Calibri" pitchFamily="34" charset="0"/>
                <a:ea typeface="Calibri" pitchFamily="34" charset="-122"/>
                <a:cs typeface="Calibri" pitchFamily="34" charset="-120"/>
              </a:rPr>
              <a:t>Notebooks pratiques</a:t>
            </a:r>
          </a:p>
        </p:txBody>
      </p:sp>
      <p:sp>
        <p:nvSpPr>
          <p:cNvPr id="30" name="Text 25"/>
          <p:cNvSpPr txBox="1"/>
          <p:nvPr/>
        </p:nvSpPr>
        <p:spPr>
          <a:xfrm>
            <a:off x="1417320" y="3474720"/>
            <a:ext cx="2834640" cy="685800"/>
          </a:xfrm>
          <a:prstGeom prst="rect">
            <a:avLst/>
          </a:prstGeom>
          <a:noFill/>
          <a:ln/>
        </p:spPr>
        <p:txBody>
          <a:bodyPr wrap="square" lIns="0" tIns="0" rIns="0" bIns="0" rtlCol="0" anchor="t"/>
          <a:lstStyle/>
          <a:p>
            <a:pPr marL="0" indent="0">
              <a:buNone/>
            </a:pPr>
            <a:r>
              <a:rPr lang="fr-FR" sz="1150" dirty="0">
                <a:solidFill>
                  <a:srgbClr val="5A6660"/>
                </a:solidFill>
                <a:latin typeface="Calibri" pitchFamily="34" charset="0"/>
                <a:ea typeface="Calibri" pitchFamily="34" charset="-122"/>
                <a:cs typeface="Calibri" pitchFamily="34" charset="-120"/>
              </a:rPr>
              <a:t>Apprentissage automatique pour le PIB ; commerce avec PortWatch.</a:t>
            </a:r>
          </a:p>
        </p:txBody>
      </p:sp>
      <p:sp>
        <p:nvSpPr>
          <p:cNvPr id="31" name="Shape 26"/>
          <p:cNvSpPr/>
          <p:nvPr/>
        </p:nvSpPr>
        <p:spPr>
          <a:xfrm>
            <a:off x="4709160" y="2926080"/>
            <a:ext cx="3977640" cy="1371600"/>
          </a:xfrm>
          <a:prstGeom prst="roundRect">
            <a:avLst>
              <a:gd name="adj" fmla="val 5333"/>
            </a:avLst>
          </a:prstGeom>
          <a:solidFill>
            <a:srgbClr val="F4F8F5"/>
          </a:solidFill>
          <a:ln w="9525">
            <a:solidFill>
              <a:srgbClr val="D3E2D7"/>
            </a:solidFill>
            <a:prstDash val="solid"/>
          </a:ln>
        </p:spPr>
      </p:sp>
      <p:sp>
        <p:nvSpPr>
          <p:cNvPr id="32" name="Shape 27"/>
          <p:cNvSpPr/>
          <p:nvPr/>
        </p:nvSpPr>
        <p:spPr>
          <a:xfrm>
            <a:off x="4937760" y="3182112"/>
            <a:ext cx="548640" cy="548640"/>
          </a:xfrm>
          <a:prstGeom prst="ellipse">
            <a:avLst/>
          </a:prstGeom>
          <a:solidFill>
            <a:srgbClr val="B83B2E">
              <a:alpha val="22000"/>
            </a:srgbClr>
          </a:solidFill>
          <a:ln/>
        </p:spPr>
      </p:sp>
      <p:pic>
        <p:nvPicPr>
          <p:cNvPr id="33" name="Image 3" descr="preencoded.png"/>
          <p:cNvPicPr>
            <a:picLocks noChangeAspect="1"/>
          </p:cNvPicPr>
          <p:nvPr/>
        </p:nvPicPr>
        <p:blipFill>
          <a:blip r:embed="rId6"/>
          <a:stretch>
            <a:fillRect/>
          </a:stretch>
        </p:blipFill>
        <p:spPr>
          <a:xfrm>
            <a:off x="5091379" y="3335731"/>
            <a:ext cx="241402" cy="241402"/>
          </a:xfrm>
          <a:prstGeom prst="rect">
            <a:avLst/>
          </a:prstGeom>
        </p:spPr>
      </p:pic>
      <p:sp>
        <p:nvSpPr>
          <p:cNvPr id="34" name="Text 28"/>
          <p:cNvSpPr txBox="1"/>
          <p:nvPr/>
        </p:nvSpPr>
        <p:spPr>
          <a:xfrm>
            <a:off x="5669280" y="3127248"/>
            <a:ext cx="2834640" cy="320040"/>
          </a:xfrm>
          <a:prstGeom prst="rect">
            <a:avLst/>
          </a:prstGeom>
          <a:noFill/>
          <a:ln/>
        </p:spPr>
        <p:txBody>
          <a:bodyPr wrap="square" lIns="0" tIns="0" rIns="0" bIns="0" rtlCol="0" anchor="ctr"/>
          <a:lstStyle/>
          <a:p>
            <a:pPr marL="0" indent="0">
              <a:buNone/>
            </a:pPr>
            <a:r>
              <a:rPr lang="fr-FR" sz="1400" b="1" dirty="0">
                <a:solidFill>
                  <a:srgbClr val="231F20"/>
                </a:solidFill>
                <a:latin typeface="Calibri" pitchFamily="34" charset="0"/>
                <a:ea typeface="Calibri" pitchFamily="34" charset="-122"/>
                <a:cs typeface="Calibri" pitchFamily="34" charset="-120"/>
              </a:rPr>
              <a:t>Partage des résultats</a:t>
            </a:r>
          </a:p>
        </p:txBody>
      </p:sp>
      <p:sp>
        <p:nvSpPr>
          <p:cNvPr id="35" name="Text 29"/>
          <p:cNvSpPr txBox="1"/>
          <p:nvPr/>
        </p:nvSpPr>
        <p:spPr>
          <a:xfrm>
            <a:off x="5669280" y="3474720"/>
            <a:ext cx="2834640" cy="685800"/>
          </a:xfrm>
          <a:prstGeom prst="rect">
            <a:avLst/>
          </a:prstGeom>
          <a:noFill/>
          <a:ln/>
        </p:spPr>
        <p:txBody>
          <a:bodyPr wrap="square" lIns="0" tIns="0" rIns="0" bIns="0" rtlCol="0" anchor="t"/>
          <a:lstStyle/>
          <a:p>
            <a:pPr marL="0" indent="0">
              <a:buNone/>
            </a:pPr>
            <a:r>
              <a:rPr lang="fr-FR" sz="1150" dirty="0">
                <a:solidFill>
                  <a:srgbClr val="5A6660"/>
                </a:solidFill>
                <a:latin typeface="Calibri" pitchFamily="34" charset="0"/>
                <a:ea typeface="Calibri" pitchFamily="34" charset="-122"/>
                <a:cs typeface="Calibri" pitchFamily="34" charset="-120"/>
              </a:rPr>
              <a:t>Versionner, relire et publier le code et les résultats de l’équipe.</a:t>
            </a:r>
          </a:p>
        </p:txBody>
      </p:sp>
      <p:sp>
        <p:nvSpPr>
          <p:cNvPr id="36" name="Text 30"/>
          <p:cNvSpPr txBox="1"/>
          <p:nvPr/>
        </p:nvSpPr>
        <p:spPr>
          <a:xfrm>
            <a:off x="457200" y="4544568"/>
            <a:ext cx="8229600" cy="201168"/>
          </a:xfrm>
          <a:prstGeom prst="rect">
            <a:avLst/>
          </a:prstGeom>
          <a:noFill/>
          <a:ln/>
        </p:spPr>
        <p:txBody>
          <a:bodyPr wrap="square" lIns="0" tIns="0" rIns="0" bIns="0" rtlCol="0" anchor="ctr"/>
          <a:lstStyle/>
          <a:p>
            <a:pPr marL="0" indent="0">
              <a:buNone/>
            </a:pPr>
            <a:r>
              <a:rPr lang="fr-FR" sz="900" dirty="0">
                <a:solidFill>
                  <a:srgbClr val="5A6660"/>
                </a:solidFill>
                <a:latin typeface="Calibri" pitchFamily="34" charset="0"/>
                <a:ea typeface="Calibri" pitchFamily="34" charset="-122"/>
                <a:cs typeface="Calibri" pitchFamily="34" charset="-120"/>
              </a:rPr>
              <a:t>Le jeton authentifie vos scripts et notebooks auprès de l’API GitHub.</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1097280"/>
            <a:ext cx="8046720" cy="274320"/>
          </a:xfrm>
          <a:prstGeom prst="rect">
            <a:avLst/>
          </a:prstGeom>
          <a:noFill/>
          <a:ln/>
        </p:spPr>
        <p:txBody>
          <a:bodyPr wrap="square" lIns="0" tIns="0" rIns="0" bIns="0" rtlCol="0" anchor="ctr"/>
          <a:lstStyle/>
          <a:p>
            <a:pPr marL="0" indent="0">
              <a:buNone/>
            </a:pPr>
            <a:r>
              <a:rPr lang="fr-FR" sz="1100" b="1" kern="0" spc="300" dirty="0">
                <a:solidFill>
                  <a:srgbClr val="F5C242"/>
                </a:solidFill>
                <a:latin typeface="Calibri" pitchFamily="34" charset="0"/>
                <a:ea typeface="Calibri" pitchFamily="34" charset="-122"/>
                <a:cs typeface="Calibri" pitchFamily="34" charset="-120"/>
              </a:rPr>
              <a:t>AVANT DE COMMENCER · PAS ENCORE DE COMPTE GITHUB ?</a:t>
            </a:r>
          </a:p>
        </p:txBody>
      </p:sp>
      <p:sp>
        <p:nvSpPr>
          <p:cNvPr id="4" name="Text 2"/>
          <p:cNvSpPr txBox="1"/>
          <p:nvPr/>
        </p:nvSpPr>
        <p:spPr>
          <a:xfrm>
            <a:off x="548640" y="1463040"/>
            <a:ext cx="6035040" cy="1280160"/>
          </a:xfrm>
          <a:prstGeom prst="rect">
            <a:avLst/>
          </a:prstGeom>
          <a:noFill/>
          <a:ln/>
        </p:spPr>
        <p:txBody>
          <a:bodyPr wrap="square" lIns="0" tIns="0" rIns="0" bIns="0" rtlCol="0" anchor="t"/>
          <a:lstStyle/>
          <a:p>
            <a:pPr marL="0" indent="0">
              <a:buNone/>
            </a:pPr>
            <a:r>
              <a:rPr lang="fr-FR" sz="3400" b="1" dirty="0">
                <a:solidFill>
                  <a:srgbClr val="FFFFFF"/>
                </a:solidFill>
                <a:latin typeface="Calibri" pitchFamily="34" charset="0"/>
                <a:ea typeface="Calibri" pitchFamily="34" charset="-122"/>
                <a:cs typeface="Calibri" pitchFamily="34" charset="-120"/>
              </a:rPr>
              <a:t>Créer un compte GitHub avec votre adresse Gmail</a:t>
            </a:r>
          </a:p>
        </p:txBody>
      </p:sp>
      <p:sp>
        <p:nvSpPr>
          <p:cNvPr id="5" name="Text 5"/>
          <p:cNvSpPr txBox="1"/>
          <p:nvPr/>
        </p:nvSpPr>
        <p:spPr>
          <a:xfrm>
            <a:off x="548640" y="2880360"/>
            <a:ext cx="5852160" cy="731520"/>
          </a:xfrm>
          <a:prstGeom prst="rect">
            <a:avLst/>
          </a:prstGeom>
          <a:noFill/>
          <a:ln/>
        </p:spPr>
        <p:txBody>
          <a:bodyPr wrap="square" lIns="0" tIns="0" rIns="0" bIns="0" rtlCol="0" anchor="t"/>
          <a:lstStyle/>
          <a:p>
            <a:pPr marL="0" indent="0">
              <a:buNone/>
            </a:pPr>
            <a:r>
              <a:rPr lang="fr-FR" sz="1600" i="1" dirty="0">
                <a:solidFill>
                  <a:srgbClr val="E8F4EB"/>
                </a:solidFill>
                <a:latin typeface="Calibri" pitchFamily="34" charset="0"/>
                <a:ea typeface="Calibri" pitchFamily="34" charset="-122"/>
                <a:cs typeface="Calibri" pitchFamily="34" charset="-120"/>
              </a:rPr>
              <a:t>Environ 5 minutes. Gardez votre boîte Gmail ouverte : GitHub y envoie un code pour confirmer l’adresse.</a:t>
            </a:r>
          </a:p>
        </p:txBody>
      </p:sp>
      <p:sp>
        <p:nvSpPr>
          <p:cNvPr id="6" name="Shape 6"/>
          <p:cNvSpPr/>
          <p:nvPr/>
        </p:nvSpPr>
        <p:spPr>
          <a:xfrm>
            <a:off x="6812280" y="1600200"/>
            <a:ext cx="1737360" cy="1737360"/>
          </a:xfrm>
          <a:prstGeom prst="ellipse">
            <a:avLst/>
          </a:prstGeom>
          <a:solidFill>
            <a:srgbClr val="FFFFFF">
              <a:alpha val="90000"/>
            </a:srgbClr>
          </a:solidFill>
          <a:ln>
            <a:noFill/>
          </a:ln>
        </p:spPr>
      </p:sp>
      <p:pic>
        <p:nvPicPr>
          <p:cNvPr id="7" name="Icon 7" descr="Add user icon"/>
          <p:cNvPicPr>
            <a:picLocks noChangeAspect="1"/>
          </p:cNvPicPr>
          <p:nvPr/>
        </p:nvPicPr>
        <p:blipFill>
          <a:blip r:embed="rId4"/>
          <a:stretch>
            <a:fillRect/>
          </a:stretch>
        </p:blipFill>
        <p:spPr>
          <a:xfrm>
            <a:off x="7251192" y="2039112"/>
            <a:ext cx="859536" cy="859536"/>
          </a:xfrm>
          <a:prstGeom prst="rect">
            <a:avLst/>
          </a:prstGeom>
        </p:spPr>
      </p:pic>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fr-FR" sz="1050" b="1" kern="0" spc="300" dirty="0">
                <a:solidFill>
                  <a:srgbClr val="0E5A2E"/>
                </a:solidFill>
                <a:latin typeface="Calibri" pitchFamily="34" charset="0"/>
                <a:ea typeface="Calibri" pitchFamily="34" charset="-122"/>
                <a:cs typeface="Calibri" pitchFamily="34" charset="-120"/>
              </a:rPr>
              <a:t>00 · CRÉER UN COMPTE</a:t>
            </a:r>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fr-FR" sz="2800" b="1" dirty="0">
                <a:solidFill>
                  <a:srgbClr val="231F20"/>
                </a:solidFill>
                <a:latin typeface="Calibri" pitchFamily="34" charset="0"/>
                <a:ea typeface="Calibri" pitchFamily="34" charset="-122"/>
                <a:cs typeface="Calibri" pitchFamily="34" charset="-120"/>
              </a:rPr>
              <a:t>Deux façons de s’inscrire avec Gmail</a:t>
            </a:r>
          </a:p>
        </p:txBody>
      </p:sp>
      <p:sp>
        <p:nvSpPr>
          <p:cNvPr id="8" name="Shape 6"/>
          <p:cNvSpPr/>
          <p:nvPr/>
        </p:nvSpPr>
        <p:spPr>
          <a:xfrm>
            <a:off x="7543800" y="365760"/>
            <a:ext cx="109728" cy="109728"/>
          </a:xfrm>
          <a:prstGeom prst="ellipse">
            <a:avLst/>
          </a:prstGeom>
          <a:solidFill>
            <a:srgbClr val="D3E2D7"/>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D3E2D7"/>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fr-FR" sz="850" dirty="0">
                <a:solidFill>
                  <a:srgbClr val="8A968F"/>
                </a:solidFill>
                <a:latin typeface="Calibri" pitchFamily="34" charset="0"/>
                <a:ea typeface="Calibri" pitchFamily="34" charset="-122"/>
                <a:cs typeface="Calibri" pitchFamily="34" charset="-120"/>
              </a:rPr>
              <a:t>Générer une clé API GitHub · BAD – Data Innovation for Africa (DI4A)</a:t>
            </a:r>
            <a:endParaRPr lang="fr-FR"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fr-FR" sz="850" dirty="0">
                <a:solidFill>
                  <a:srgbClr val="8A968F"/>
                </a:solidFill>
                <a:latin typeface="Calibri" pitchFamily="34" charset="0"/>
                <a:ea typeface="Calibri" pitchFamily="34" charset="-122"/>
                <a:cs typeface="Calibri" pitchFamily="34" charset="-120"/>
              </a:rPr>
              <a:t>5</a:t>
            </a:r>
            <a:endParaRPr lang="fr-FR" sz="850" dirty="0"/>
          </a:p>
        </p:txBody>
      </p:sp>
      <p:sp>
        <p:nvSpPr>
          <p:cNvPr id="16" name="Shape 16"/>
          <p:cNvSpPr/>
          <p:nvPr/>
        </p:nvSpPr>
        <p:spPr>
          <a:xfrm>
            <a:off x="457200" y="1280160"/>
            <a:ext cx="3977640" cy="2697480"/>
          </a:xfrm>
          <a:prstGeom prst="roundRect">
            <a:avLst>
              <a:gd name="adj" fmla="val 5000"/>
            </a:avLst>
          </a:prstGeom>
          <a:solidFill>
            <a:srgbClr val="F4F8F5"/>
          </a:solidFill>
          <a:ln w="19050">
            <a:solidFill>
              <a:srgbClr val="2C9045"/>
            </a:solidFill>
          </a:ln>
        </p:spPr>
      </p:sp>
      <p:sp>
        <p:nvSpPr>
          <p:cNvPr id="17" name="Shape 17"/>
          <p:cNvSpPr/>
          <p:nvPr/>
        </p:nvSpPr>
        <p:spPr>
          <a:xfrm>
            <a:off x="685800" y="1508760"/>
            <a:ext cx="548640" cy="548640"/>
          </a:xfrm>
          <a:prstGeom prst="ellipse">
            <a:avLst/>
          </a:prstGeom>
          <a:solidFill>
            <a:srgbClr val="0E5A2E">
              <a:alpha val="18000"/>
            </a:srgbClr>
          </a:solidFill>
          <a:ln>
            <a:noFill/>
          </a:ln>
        </p:spPr>
      </p:sp>
      <p:pic>
        <p:nvPicPr>
          <p:cNvPr id="18" name="Icon 18"/>
          <p:cNvPicPr>
            <a:picLocks noChangeAspect="1"/>
          </p:cNvPicPr>
          <p:nvPr/>
        </p:nvPicPr>
        <p:blipFill>
          <a:blip r:embed="rId3"/>
          <a:stretch>
            <a:fillRect/>
          </a:stretch>
        </p:blipFill>
        <p:spPr>
          <a:xfrm>
            <a:off x="836676" y="1659636"/>
            <a:ext cx="246888" cy="246888"/>
          </a:xfrm>
          <a:prstGeom prst="rect">
            <a:avLst/>
          </a:prstGeom>
        </p:spPr>
      </p:pic>
      <p:sp>
        <p:nvSpPr>
          <p:cNvPr id="19" name="Shape 19"/>
          <p:cNvSpPr/>
          <p:nvPr/>
        </p:nvSpPr>
        <p:spPr>
          <a:xfrm>
            <a:off x="2331720" y="1554480"/>
            <a:ext cx="1874520" cy="274320"/>
          </a:xfrm>
          <a:prstGeom prst="roundRect">
            <a:avLst>
              <a:gd name="adj" fmla="val 50000"/>
            </a:avLst>
          </a:prstGeom>
          <a:solidFill>
            <a:srgbClr val="F5C242"/>
          </a:solidFill>
          <a:ln>
            <a:noFill/>
          </a:ln>
        </p:spPr>
      </p:sp>
      <p:sp>
        <p:nvSpPr>
          <p:cNvPr id="20" name="Text 20"/>
          <p:cNvSpPr txBox="1"/>
          <p:nvPr/>
        </p:nvSpPr>
        <p:spPr>
          <a:xfrm>
            <a:off x="2331720" y="1554480"/>
            <a:ext cx="1874519" cy="274320"/>
          </a:xfrm>
          <a:prstGeom prst="rect">
            <a:avLst/>
          </a:prstGeom>
          <a:noFill/>
          <a:ln/>
        </p:spPr>
        <p:txBody>
          <a:bodyPr wrap="square" lIns="0" tIns="0" rIns="0" bIns="0" rtlCol="0" anchor="ctr"/>
          <a:lstStyle/>
          <a:p>
            <a:pPr marL="0" indent="0" algn="ctr">
              <a:buNone/>
            </a:pPr>
            <a:r>
              <a:rPr lang="fr-FR" sz="850" b="1" dirty="0">
                <a:solidFill>
                  <a:srgbClr val="231F20"/>
                </a:solidFill>
                <a:latin typeface="Calibri" pitchFamily="34" charset="0"/>
                <a:ea typeface="Calibri" pitchFamily="34" charset="-122"/>
                <a:cs typeface="Calibri" pitchFamily="34" charset="-120"/>
              </a:rPr>
              <a:t>LE PLUS RAPIDE AVEC GMAIL</a:t>
            </a:r>
          </a:p>
        </p:txBody>
      </p:sp>
      <p:sp>
        <p:nvSpPr>
          <p:cNvPr id="21" name="Text 21"/>
          <p:cNvSpPr txBox="1"/>
          <p:nvPr/>
        </p:nvSpPr>
        <p:spPr>
          <a:xfrm>
            <a:off x="1371600" y="1508760"/>
            <a:ext cx="914400" cy="548640"/>
          </a:xfrm>
          <a:prstGeom prst="rect">
            <a:avLst/>
          </a:prstGeom>
          <a:noFill/>
          <a:ln/>
        </p:spPr>
        <p:txBody>
          <a:bodyPr wrap="square" lIns="0" tIns="0" rIns="0" bIns="0" rtlCol="0" anchor="ctr"/>
          <a:lstStyle/>
          <a:p>
            <a:pPr marL="0" indent="0">
              <a:buNone/>
            </a:pPr>
            <a:r>
              <a:rPr lang="fr-FR" sz="2200" b="1" dirty="0">
                <a:solidFill>
                  <a:srgbClr val="2C9045"/>
                </a:solidFill>
                <a:latin typeface="Calibri" pitchFamily="34" charset="0"/>
                <a:ea typeface="Calibri" pitchFamily="34" charset="-122"/>
                <a:cs typeface="Calibri" pitchFamily="34" charset="-120"/>
              </a:rPr>
              <a:t>A</a:t>
            </a:r>
          </a:p>
        </p:txBody>
      </p:sp>
      <p:sp>
        <p:nvSpPr>
          <p:cNvPr id="22" name="Text 22"/>
          <p:cNvSpPr txBox="1"/>
          <p:nvPr/>
        </p:nvSpPr>
        <p:spPr>
          <a:xfrm>
            <a:off x="685800" y="2176272"/>
            <a:ext cx="3520439" cy="329184"/>
          </a:xfrm>
          <a:prstGeom prst="rect">
            <a:avLst/>
          </a:prstGeom>
          <a:noFill/>
          <a:ln/>
        </p:spPr>
        <p:txBody>
          <a:bodyPr wrap="square" lIns="0" tIns="0" rIns="0" bIns="0" rtlCol="0" anchor="t"/>
          <a:lstStyle/>
          <a:p>
            <a:pPr marL="0" indent="0">
              <a:buNone/>
            </a:pPr>
            <a:r>
              <a:rPr lang="fr-FR" sz="1500" b="1" dirty="0">
                <a:solidFill>
                  <a:srgbClr val="231F20"/>
                </a:solidFill>
                <a:latin typeface="Calibri" pitchFamily="34" charset="0"/>
                <a:ea typeface="Calibri" pitchFamily="34" charset="-122"/>
                <a:cs typeface="Calibri" pitchFamily="34" charset="-120"/>
              </a:rPr>
              <a:t>Continue with Google</a:t>
            </a:r>
          </a:p>
        </p:txBody>
      </p:sp>
      <p:sp>
        <p:nvSpPr>
          <p:cNvPr id="23" name="Text 23"/>
          <p:cNvSpPr txBox="1"/>
          <p:nvPr/>
        </p:nvSpPr>
        <p:spPr>
          <a:xfrm>
            <a:off x="685800" y="2523744"/>
            <a:ext cx="3520439" cy="457200"/>
          </a:xfrm>
          <a:prstGeom prst="rect">
            <a:avLst/>
          </a:prstGeom>
          <a:noFill/>
          <a:ln/>
        </p:spPr>
        <p:txBody>
          <a:bodyPr wrap="square" lIns="0" tIns="0" rIns="0" bIns="0" rtlCol="0" anchor="t"/>
          <a:lstStyle/>
          <a:p>
            <a:pPr marL="0" indent="0">
              <a:buNone/>
            </a:pPr>
            <a:r>
              <a:rPr lang="fr-FR" sz="1100" dirty="0">
                <a:solidFill>
                  <a:srgbClr val="5A6660"/>
                </a:solidFill>
                <a:latin typeface="Calibri" pitchFamily="34" charset="0"/>
                <a:ea typeface="Calibri" pitchFamily="34" charset="-122"/>
                <a:cs typeface="Calibri" pitchFamily="34" charset="-120"/>
              </a:rPr>
              <a:t>Utilisez votre compte Gmail pour vous connecter à GitHub. Pas de mot de passe GitHub à créer.</a:t>
            </a:r>
          </a:p>
        </p:txBody>
      </p:sp>
      <p:sp>
        <p:nvSpPr>
          <p:cNvPr id="24" name="Shape 24"/>
          <p:cNvSpPr/>
          <p:nvPr/>
        </p:nvSpPr>
        <p:spPr>
          <a:xfrm>
            <a:off x="685800" y="3063240"/>
            <a:ext cx="219456" cy="219456"/>
          </a:xfrm>
          <a:prstGeom prst="ellipse">
            <a:avLst/>
          </a:prstGeom>
          <a:solidFill>
            <a:srgbClr val="E8F4EB"/>
          </a:solidFill>
          <a:ln w="9525">
            <a:solidFill>
              <a:srgbClr val="D3E2D7"/>
            </a:solidFill>
          </a:ln>
        </p:spPr>
      </p:sp>
      <p:sp>
        <p:nvSpPr>
          <p:cNvPr id="25" name="Text 25"/>
          <p:cNvSpPr txBox="1"/>
          <p:nvPr/>
        </p:nvSpPr>
        <p:spPr>
          <a:xfrm>
            <a:off x="685800" y="3063239"/>
            <a:ext cx="219456" cy="219456"/>
          </a:xfrm>
          <a:prstGeom prst="rect">
            <a:avLst/>
          </a:prstGeom>
          <a:noFill/>
          <a:ln/>
        </p:spPr>
        <p:txBody>
          <a:bodyPr wrap="square" lIns="0" tIns="0" rIns="0" bIns="0" rtlCol="0" anchor="ctr"/>
          <a:lstStyle/>
          <a:p>
            <a:pPr marL="0" indent="0" algn="ctr">
              <a:buNone/>
            </a:pPr>
            <a:r>
              <a:rPr lang="fr-FR" sz="1150" b="1" dirty="0">
                <a:solidFill>
                  <a:srgbClr val="0E5A2E"/>
                </a:solidFill>
                <a:latin typeface="Calibri" pitchFamily="34" charset="0"/>
                <a:ea typeface="Calibri" pitchFamily="34" charset="-122"/>
                <a:cs typeface="Calibri" pitchFamily="34" charset="-120"/>
              </a:rPr>
              <a:t>1</a:t>
            </a:r>
          </a:p>
        </p:txBody>
      </p:sp>
      <p:sp>
        <p:nvSpPr>
          <p:cNvPr id="26" name="Text 26"/>
          <p:cNvSpPr txBox="1"/>
          <p:nvPr/>
        </p:nvSpPr>
        <p:spPr>
          <a:xfrm>
            <a:off x="1005840" y="3044951"/>
            <a:ext cx="3200399" cy="256032"/>
          </a:xfrm>
          <a:prstGeom prst="rect">
            <a:avLst/>
          </a:prstGeom>
          <a:noFill/>
          <a:ln/>
        </p:spPr>
        <p:txBody>
          <a:bodyPr wrap="square" lIns="0" tIns="0" rIns="0" bIns="0" rtlCol="0" anchor="ctr"/>
          <a:lstStyle/>
          <a:p>
            <a:pPr marL="0" indent="0">
              <a:buNone/>
            </a:pPr>
            <a:r>
              <a:rPr lang="fr-FR" sz="1100" dirty="0">
                <a:solidFill>
                  <a:srgbClr val="231F20"/>
                </a:solidFill>
                <a:latin typeface="Calibri" pitchFamily="34" charset="0"/>
                <a:ea typeface="Calibri" pitchFamily="34" charset="-122"/>
                <a:cs typeface="Calibri" pitchFamily="34" charset="-120"/>
              </a:rPr>
              <a:t>Ouvrir github.com/signup</a:t>
            </a:r>
          </a:p>
        </p:txBody>
      </p:sp>
      <p:sp>
        <p:nvSpPr>
          <p:cNvPr id="27" name="Shape 27"/>
          <p:cNvSpPr/>
          <p:nvPr/>
        </p:nvSpPr>
        <p:spPr>
          <a:xfrm>
            <a:off x="685800" y="3346704"/>
            <a:ext cx="219456" cy="219456"/>
          </a:xfrm>
          <a:prstGeom prst="ellipse">
            <a:avLst/>
          </a:prstGeom>
          <a:solidFill>
            <a:srgbClr val="E8F4EB"/>
          </a:solidFill>
          <a:ln w="9525">
            <a:solidFill>
              <a:srgbClr val="D3E2D7"/>
            </a:solidFill>
          </a:ln>
        </p:spPr>
      </p:sp>
      <p:sp>
        <p:nvSpPr>
          <p:cNvPr id="28" name="Text 28"/>
          <p:cNvSpPr txBox="1"/>
          <p:nvPr/>
        </p:nvSpPr>
        <p:spPr>
          <a:xfrm>
            <a:off x="685800" y="3346703"/>
            <a:ext cx="219456" cy="219456"/>
          </a:xfrm>
          <a:prstGeom prst="rect">
            <a:avLst/>
          </a:prstGeom>
          <a:noFill/>
          <a:ln/>
        </p:spPr>
        <p:txBody>
          <a:bodyPr wrap="square" lIns="0" tIns="0" rIns="0" bIns="0" rtlCol="0" anchor="ctr"/>
          <a:lstStyle/>
          <a:p>
            <a:pPr marL="0" indent="0" algn="ctr">
              <a:buNone/>
            </a:pPr>
            <a:r>
              <a:rPr lang="fr-FR" sz="1150" b="1" dirty="0">
                <a:solidFill>
                  <a:srgbClr val="0E5A2E"/>
                </a:solidFill>
                <a:latin typeface="Calibri" pitchFamily="34" charset="0"/>
                <a:ea typeface="Calibri" pitchFamily="34" charset="-122"/>
                <a:cs typeface="Calibri" pitchFamily="34" charset="-120"/>
              </a:rPr>
              <a:t>2</a:t>
            </a:r>
          </a:p>
        </p:txBody>
      </p:sp>
      <p:sp>
        <p:nvSpPr>
          <p:cNvPr id="29" name="Text 29"/>
          <p:cNvSpPr txBox="1"/>
          <p:nvPr/>
        </p:nvSpPr>
        <p:spPr>
          <a:xfrm>
            <a:off x="1005840" y="3328415"/>
            <a:ext cx="3200399" cy="256032"/>
          </a:xfrm>
          <a:prstGeom prst="rect">
            <a:avLst/>
          </a:prstGeom>
          <a:noFill/>
          <a:ln/>
        </p:spPr>
        <p:txBody>
          <a:bodyPr wrap="square" lIns="0" tIns="0" rIns="0" bIns="0" rtlCol="0" anchor="ctr"/>
          <a:lstStyle/>
          <a:p>
            <a:pPr marL="0" indent="0">
              <a:buNone/>
            </a:pPr>
            <a:r>
              <a:rPr lang="fr-FR" sz="1100" dirty="0">
                <a:solidFill>
                  <a:srgbClr val="231F20"/>
                </a:solidFill>
                <a:latin typeface="Calibri" pitchFamily="34" charset="0"/>
                <a:ea typeface="Calibri" pitchFamily="34" charset="-122"/>
                <a:cs typeface="Calibri" pitchFamily="34" charset="-120"/>
              </a:rPr>
              <a:t>Cliquer sur « Continue with Google »</a:t>
            </a:r>
          </a:p>
        </p:txBody>
      </p:sp>
      <p:sp>
        <p:nvSpPr>
          <p:cNvPr id="30" name="Shape 30"/>
          <p:cNvSpPr/>
          <p:nvPr/>
        </p:nvSpPr>
        <p:spPr>
          <a:xfrm>
            <a:off x="685800" y="3630168"/>
            <a:ext cx="219456" cy="219456"/>
          </a:xfrm>
          <a:prstGeom prst="ellipse">
            <a:avLst/>
          </a:prstGeom>
          <a:solidFill>
            <a:srgbClr val="E8F4EB"/>
          </a:solidFill>
          <a:ln w="9525">
            <a:solidFill>
              <a:srgbClr val="D3E2D7"/>
            </a:solidFill>
          </a:ln>
        </p:spPr>
      </p:sp>
      <p:sp>
        <p:nvSpPr>
          <p:cNvPr id="31" name="Text 31"/>
          <p:cNvSpPr txBox="1"/>
          <p:nvPr/>
        </p:nvSpPr>
        <p:spPr>
          <a:xfrm>
            <a:off x="685800" y="3630168"/>
            <a:ext cx="219456" cy="219456"/>
          </a:xfrm>
          <a:prstGeom prst="rect">
            <a:avLst/>
          </a:prstGeom>
          <a:noFill/>
          <a:ln/>
        </p:spPr>
        <p:txBody>
          <a:bodyPr wrap="square" lIns="0" tIns="0" rIns="0" bIns="0" rtlCol="0" anchor="ctr"/>
          <a:lstStyle/>
          <a:p>
            <a:pPr marL="0" indent="0" algn="ctr">
              <a:buNone/>
            </a:pPr>
            <a:r>
              <a:rPr lang="fr-FR" sz="1150" b="1" dirty="0">
                <a:solidFill>
                  <a:srgbClr val="0E5A2E"/>
                </a:solidFill>
                <a:latin typeface="Calibri" pitchFamily="34" charset="0"/>
                <a:ea typeface="Calibri" pitchFamily="34" charset="-122"/>
                <a:cs typeface="Calibri" pitchFamily="34" charset="-120"/>
              </a:rPr>
              <a:t>3</a:t>
            </a:r>
          </a:p>
        </p:txBody>
      </p:sp>
      <p:sp>
        <p:nvSpPr>
          <p:cNvPr id="32" name="Text 32"/>
          <p:cNvSpPr txBox="1"/>
          <p:nvPr/>
        </p:nvSpPr>
        <p:spPr>
          <a:xfrm>
            <a:off x="1005840" y="3611879"/>
            <a:ext cx="3200399" cy="256032"/>
          </a:xfrm>
          <a:prstGeom prst="rect">
            <a:avLst/>
          </a:prstGeom>
          <a:noFill/>
          <a:ln/>
        </p:spPr>
        <p:txBody>
          <a:bodyPr wrap="square" lIns="0" tIns="0" rIns="0" bIns="0" rtlCol="0" anchor="ctr"/>
          <a:lstStyle/>
          <a:p>
            <a:pPr marL="0" indent="0">
              <a:buNone/>
            </a:pPr>
            <a:r>
              <a:rPr lang="fr-FR" sz="1100" dirty="0">
                <a:solidFill>
                  <a:srgbClr val="231F20"/>
                </a:solidFill>
                <a:latin typeface="Calibri" pitchFamily="34" charset="0"/>
                <a:ea typeface="Calibri" pitchFamily="34" charset="-122"/>
                <a:cs typeface="Calibri" pitchFamily="34" charset="-120"/>
              </a:rPr>
              <a:t>Choisir votre compte Gmail, puis suivre les étapes</a:t>
            </a:r>
          </a:p>
        </p:txBody>
      </p:sp>
      <p:sp>
        <p:nvSpPr>
          <p:cNvPr id="33" name="Shape 33"/>
          <p:cNvSpPr/>
          <p:nvPr/>
        </p:nvSpPr>
        <p:spPr>
          <a:xfrm>
            <a:off x="4709160" y="1280160"/>
            <a:ext cx="3977640" cy="2697480"/>
          </a:xfrm>
          <a:prstGeom prst="roundRect">
            <a:avLst>
              <a:gd name="adj" fmla="val 5000"/>
            </a:avLst>
          </a:prstGeom>
          <a:solidFill>
            <a:srgbClr val="F4F8F5"/>
          </a:solidFill>
          <a:ln w="9525">
            <a:solidFill>
              <a:srgbClr val="D3E2D7"/>
            </a:solidFill>
          </a:ln>
        </p:spPr>
      </p:sp>
      <p:sp>
        <p:nvSpPr>
          <p:cNvPr id="34" name="Shape 34"/>
          <p:cNvSpPr/>
          <p:nvPr/>
        </p:nvSpPr>
        <p:spPr>
          <a:xfrm>
            <a:off x="4937760" y="1508760"/>
            <a:ext cx="548640" cy="548640"/>
          </a:xfrm>
          <a:prstGeom prst="ellipse">
            <a:avLst/>
          </a:prstGeom>
          <a:solidFill>
            <a:srgbClr val="0E5A2E">
              <a:alpha val="18000"/>
            </a:srgbClr>
          </a:solidFill>
          <a:ln>
            <a:noFill/>
          </a:ln>
        </p:spPr>
      </p:sp>
      <p:pic>
        <p:nvPicPr>
          <p:cNvPr id="35" name="Icon 35"/>
          <p:cNvPicPr>
            <a:picLocks noChangeAspect="1"/>
          </p:cNvPicPr>
          <p:nvPr/>
        </p:nvPicPr>
        <p:blipFill>
          <a:blip r:embed="rId4"/>
          <a:stretch>
            <a:fillRect/>
          </a:stretch>
        </p:blipFill>
        <p:spPr>
          <a:xfrm>
            <a:off x="5088636" y="1659636"/>
            <a:ext cx="246888" cy="246888"/>
          </a:xfrm>
          <a:prstGeom prst="rect">
            <a:avLst/>
          </a:prstGeom>
        </p:spPr>
      </p:pic>
      <p:sp>
        <p:nvSpPr>
          <p:cNvPr id="36" name="Text 36"/>
          <p:cNvSpPr txBox="1"/>
          <p:nvPr/>
        </p:nvSpPr>
        <p:spPr>
          <a:xfrm>
            <a:off x="5623560" y="1508760"/>
            <a:ext cx="2834640" cy="548640"/>
          </a:xfrm>
          <a:prstGeom prst="rect">
            <a:avLst/>
          </a:prstGeom>
          <a:noFill/>
          <a:ln/>
        </p:spPr>
        <p:txBody>
          <a:bodyPr wrap="square" lIns="0" tIns="0" rIns="0" bIns="0" rtlCol="0" anchor="ctr"/>
          <a:lstStyle/>
          <a:p>
            <a:pPr marL="0" indent="0">
              <a:buNone/>
            </a:pPr>
            <a:r>
              <a:rPr lang="fr-FR" sz="2200" b="1" dirty="0">
                <a:solidFill>
                  <a:srgbClr val="2C9045"/>
                </a:solidFill>
                <a:latin typeface="Calibri" pitchFamily="34" charset="0"/>
                <a:ea typeface="Calibri" pitchFamily="34" charset="-122"/>
                <a:cs typeface="Calibri" pitchFamily="34" charset="-120"/>
              </a:rPr>
              <a:t>B</a:t>
            </a:r>
          </a:p>
        </p:txBody>
      </p:sp>
      <p:sp>
        <p:nvSpPr>
          <p:cNvPr id="37" name="Text 37"/>
          <p:cNvSpPr txBox="1"/>
          <p:nvPr/>
        </p:nvSpPr>
        <p:spPr>
          <a:xfrm>
            <a:off x="4937760" y="2176272"/>
            <a:ext cx="3520439" cy="329184"/>
          </a:xfrm>
          <a:prstGeom prst="rect">
            <a:avLst/>
          </a:prstGeom>
          <a:noFill/>
          <a:ln/>
        </p:spPr>
        <p:txBody>
          <a:bodyPr wrap="square" lIns="0" tIns="0" rIns="0" bIns="0" rtlCol="0" anchor="t"/>
          <a:lstStyle/>
          <a:p>
            <a:pPr marL="0" indent="0">
              <a:buNone/>
            </a:pPr>
            <a:r>
              <a:rPr lang="fr-FR" sz="1500" b="1" dirty="0">
                <a:solidFill>
                  <a:srgbClr val="231F20"/>
                </a:solidFill>
                <a:latin typeface="Calibri" pitchFamily="34" charset="0"/>
                <a:ea typeface="Calibri" pitchFamily="34" charset="-122"/>
                <a:cs typeface="Calibri" pitchFamily="34" charset="-120"/>
              </a:rPr>
              <a:t>S’inscrire avec votre adresse Gmail</a:t>
            </a:r>
          </a:p>
        </p:txBody>
      </p:sp>
      <p:sp>
        <p:nvSpPr>
          <p:cNvPr id="38" name="Text 38"/>
          <p:cNvSpPr txBox="1"/>
          <p:nvPr/>
        </p:nvSpPr>
        <p:spPr>
          <a:xfrm>
            <a:off x="4937760" y="2523744"/>
            <a:ext cx="3520439" cy="457200"/>
          </a:xfrm>
          <a:prstGeom prst="rect">
            <a:avLst/>
          </a:prstGeom>
          <a:noFill/>
          <a:ln/>
        </p:spPr>
        <p:txBody>
          <a:bodyPr wrap="square" lIns="0" tIns="0" rIns="0" bIns="0" rtlCol="0" anchor="t"/>
          <a:lstStyle/>
          <a:p>
            <a:pPr marL="0" indent="0">
              <a:buNone/>
            </a:pPr>
            <a:r>
              <a:rPr lang="fr-FR" sz="1100" dirty="0">
                <a:solidFill>
                  <a:srgbClr val="5A6660"/>
                </a:solidFill>
                <a:latin typeface="Calibri" pitchFamily="34" charset="0"/>
                <a:ea typeface="Calibri" pitchFamily="34" charset="-122"/>
                <a:cs typeface="Calibri" pitchFamily="34" charset="-120"/>
              </a:rPr>
              <a:t>Créer un identifiant GitHub classique : votre adresse Gmail et un nouveau mot de passe.</a:t>
            </a:r>
          </a:p>
        </p:txBody>
      </p:sp>
      <p:sp>
        <p:nvSpPr>
          <p:cNvPr id="39" name="Shape 39"/>
          <p:cNvSpPr/>
          <p:nvPr/>
        </p:nvSpPr>
        <p:spPr>
          <a:xfrm>
            <a:off x="4937760" y="3063240"/>
            <a:ext cx="219456" cy="219456"/>
          </a:xfrm>
          <a:prstGeom prst="ellipse">
            <a:avLst/>
          </a:prstGeom>
          <a:solidFill>
            <a:srgbClr val="E8F4EB"/>
          </a:solidFill>
          <a:ln w="9525">
            <a:solidFill>
              <a:srgbClr val="D3E2D7"/>
            </a:solidFill>
          </a:ln>
        </p:spPr>
      </p:sp>
      <p:sp>
        <p:nvSpPr>
          <p:cNvPr id="40" name="Text 40"/>
          <p:cNvSpPr txBox="1"/>
          <p:nvPr/>
        </p:nvSpPr>
        <p:spPr>
          <a:xfrm>
            <a:off x="4937760" y="3063239"/>
            <a:ext cx="219456" cy="219456"/>
          </a:xfrm>
          <a:prstGeom prst="rect">
            <a:avLst/>
          </a:prstGeom>
          <a:noFill/>
          <a:ln/>
        </p:spPr>
        <p:txBody>
          <a:bodyPr wrap="square" lIns="0" tIns="0" rIns="0" bIns="0" rtlCol="0" anchor="ctr"/>
          <a:lstStyle/>
          <a:p>
            <a:pPr marL="0" indent="0" algn="ctr">
              <a:buNone/>
            </a:pPr>
            <a:r>
              <a:rPr lang="fr-FR" sz="1150" b="1" dirty="0">
                <a:solidFill>
                  <a:srgbClr val="0E5A2E"/>
                </a:solidFill>
                <a:latin typeface="Calibri" pitchFamily="34" charset="0"/>
                <a:ea typeface="Calibri" pitchFamily="34" charset="-122"/>
                <a:cs typeface="Calibri" pitchFamily="34" charset="-120"/>
              </a:rPr>
              <a:t>1</a:t>
            </a:r>
          </a:p>
        </p:txBody>
      </p:sp>
      <p:sp>
        <p:nvSpPr>
          <p:cNvPr id="41" name="Text 41"/>
          <p:cNvSpPr txBox="1"/>
          <p:nvPr/>
        </p:nvSpPr>
        <p:spPr>
          <a:xfrm>
            <a:off x="5257800" y="3044951"/>
            <a:ext cx="3200399" cy="256032"/>
          </a:xfrm>
          <a:prstGeom prst="rect">
            <a:avLst/>
          </a:prstGeom>
          <a:noFill/>
          <a:ln/>
        </p:spPr>
        <p:txBody>
          <a:bodyPr wrap="square" lIns="0" tIns="0" rIns="0" bIns="0" rtlCol="0" anchor="ctr"/>
          <a:lstStyle/>
          <a:p>
            <a:pPr marL="0" indent="0">
              <a:buNone/>
            </a:pPr>
            <a:r>
              <a:rPr lang="fr-FR" sz="1100" dirty="0">
                <a:solidFill>
                  <a:srgbClr val="231F20"/>
                </a:solidFill>
                <a:latin typeface="Calibri" pitchFamily="34" charset="0"/>
                <a:ea typeface="Calibri" pitchFamily="34" charset="-122"/>
                <a:cs typeface="Calibri" pitchFamily="34" charset="-120"/>
              </a:rPr>
              <a:t>Ouvrir github.com/signup</a:t>
            </a:r>
          </a:p>
        </p:txBody>
      </p:sp>
      <p:sp>
        <p:nvSpPr>
          <p:cNvPr id="42" name="Shape 42"/>
          <p:cNvSpPr/>
          <p:nvPr/>
        </p:nvSpPr>
        <p:spPr>
          <a:xfrm>
            <a:off x="4937760" y="3346704"/>
            <a:ext cx="219456" cy="219456"/>
          </a:xfrm>
          <a:prstGeom prst="ellipse">
            <a:avLst/>
          </a:prstGeom>
          <a:solidFill>
            <a:srgbClr val="E8F4EB"/>
          </a:solidFill>
          <a:ln w="9525">
            <a:solidFill>
              <a:srgbClr val="D3E2D7"/>
            </a:solidFill>
          </a:ln>
        </p:spPr>
      </p:sp>
      <p:sp>
        <p:nvSpPr>
          <p:cNvPr id="43" name="Text 43"/>
          <p:cNvSpPr txBox="1"/>
          <p:nvPr/>
        </p:nvSpPr>
        <p:spPr>
          <a:xfrm>
            <a:off x="4937760" y="3346703"/>
            <a:ext cx="219456" cy="219456"/>
          </a:xfrm>
          <a:prstGeom prst="rect">
            <a:avLst/>
          </a:prstGeom>
          <a:noFill/>
          <a:ln/>
        </p:spPr>
        <p:txBody>
          <a:bodyPr wrap="square" lIns="0" tIns="0" rIns="0" bIns="0" rtlCol="0" anchor="ctr"/>
          <a:lstStyle/>
          <a:p>
            <a:pPr marL="0" indent="0" algn="ctr">
              <a:buNone/>
            </a:pPr>
            <a:r>
              <a:rPr lang="fr-FR" sz="1150" b="1" dirty="0">
                <a:solidFill>
                  <a:srgbClr val="0E5A2E"/>
                </a:solidFill>
                <a:latin typeface="Calibri" pitchFamily="34" charset="0"/>
                <a:ea typeface="Calibri" pitchFamily="34" charset="-122"/>
                <a:cs typeface="Calibri" pitchFamily="34" charset="-120"/>
              </a:rPr>
              <a:t>2</a:t>
            </a:r>
          </a:p>
        </p:txBody>
      </p:sp>
      <p:sp>
        <p:nvSpPr>
          <p:cNvPr id="44" name="Text 44"/>
          <p:cNvSpPr txBox="1"/>
          <p:nvPr/>
        </p:nvSpPr>
        <p:spPr>
          <a:xfrm>
            <a:off x="5257800" y="3328415"/>
            <a:ext cx="3200399" cy="256032"/>
          </a:xfrm>
          <a:prstGeom prst="rect">
            <a:avLst/>
          </a:prstGeom>
          <a:noFill/>
          <a:ln/>
        </p:spPr>
        <p:txBody>
          <a:bodyPr wrap="square" lIns="0" tIns="0" rIns="0" bIns="0" rtlCol="0" anchor="ctr"/>
          <a:lstStyle/>
          <a:p>
            <a:pPr marL="0" indent="0">
              <a:buNone/>
            </a:pPr>
            <a:r>
              <a:rPr lang="fr-FR" sz="1100" dirty="0">
                <a:solidFill>
                  <a:srgbClr val="231F20"/>
                </a:solidFill>
                <a:latin typeface="Calibri" pitchFamily="34" charset="0"/>
                <a:ea typeface="Calibri" pitchFamily="34" charset="-122"/>
                <a:cs typeface="Calibri" pitchFamily="34" charset="-120"/>
              </a:rPr>
              <a:t>Saisir adresse Gmail, mot de passe, nom d’utilisateur</a:t>
            </a:r>
          </a:p>
        </p:txBody>
      </p:sp>
      <p:sp>
        <p:nvSpPr>
          <p:cNvPr id="45" name="Shape 45"/>
          <p:cNvSpPr/>
          <p:nvPr/>
        </p:nvSpPr>
        <p:spPr>
          <a:xfrm>
            <a:off x="4937760" y="3630168"/>
            <a:ext cx="219456" cy="219456"/>
          </a:xfrm>
          <a:prstGeom prst="ellipse">
            <a:avLst/>
          </a:prstGeom>
          <a:solidFill>
            <a:srgbClr val="E8F4EB"/>
          </a:solidFill>
          <a:ln w="9525">
            <a:solidFill>
              <a:srgbClr val="D3E2D7"/>
            </a:solidFill>
          </a:ln>
        </p:spPr>
      </p:sp>
      <p:sp>
        <p:nvSpPr>
          <p:cNvPr id="46" name="Text 46"/>
          <p:cNvSpPr txBox="1"/>
          <p:nvPr/>
        </p:nvSpPr>
        <p:spPr>
          <a:xfrm>
            <a:off x="4937760" y="3630168"/>
            <a:ext cx="219456" cy="219456"/>
          </a:xfrm>
          <a:prstGeom prst="rect">
            <a:avLst/>
          </a:prstGeom>
          <a:noFill/>
          <a:ln/>
        </p:spPr>
        <p:txBody>
          <a:bodyPr wrap="square" lIns="0" tIns="0" rIns="0" bIns="0" rtlCol="0" anchor="ctr"/>
          <a:lstStyle/>
          <a:p>
            <a:pPr marL="0" indent="0" algn="ctr">
              <a:buNone/>
            </a:pPr>
            <a:r>
              <a:rPr lang="fr-FR" sz="1150" b="1" dirty="0">
                <a:solidFill>
                  <a:srgbClr val="0E5A2E"/>
                </a:solidFill>
                <a:latin typeface="Calibri" pitchFamily="34" charset="0"/>
                <a:ea typeface="Calibri" pitchFamily="34" charset="-122"/>
                <a:cs typeface="Calibri" pitchFamily="34" charset="-120"/>
              </a:rPr>
              <a:t>3</a:t>
            </a:r>
          </a:p>
        </p:txBody>
      </p:sp>
      <p:sp>
        <p:nvSpPr>
          <p:cNvPr id="47" name="Text 47"/>
          <p:cNvSpPr txBox="1"/>
          <p:nvPr/>
        </p:nvSpPr>
        <p:spPr>
          <a:xfrm>
            <a:off x="5257800" y="3611879"/>
            <a:ext cx="3200399" cy="256032"/>
          </a:xfrm>
          <a:prstGeom prst="rect">
            <a:avLst/>
          </a:prstGeom>
          <a:noFill/>
          <a:ln/>
        </p:spPr>
        <p:txBody>
          <a:bodyPr wrap="square" lIns="0" tIns="0" rIns="0" bIns="0" rtlCol="0" anchor="ctr"/>
          <a:lstStyle/>
          <a:p>
            <a:pPr marL="0" indent="0">
              <a:buNone/>
            </a:pPr>
            <a:r>
              <a:rPr lang="fr-FR" sz="1100" dirty="0">
                <a:solidFill>
                  <a:srgbClr val="231F20"/>
                </a:solidFill>
                <a:latin typeface="Calibri" pitchFamily="34" charset="0"/>
                <a:ea typeface="Calibri" pitchFamily="34" charset="-122"/>
                <a:cs typeface="Calibri" pitchFamily="34" charset="-120"/>
              </a:rPr>
              <a:t>Confirmer avec le code reçu sur Gmail</a:t>
            </a:r>
          </a:p>
        </p:txBody>
      </p:sp>
      <p:sp>
        <p:nvSpPr>
          <p:cNvPr id="48" name="Shape 48"/>
          <p:cNvSpPr/>
          <p:nvPr/>
        </p:nvSpPr>
        <p:spPr>
          <a:xfrm>
            <a:off x="457200" y="4114800"/>
            <a:ext cx="8229600" cy="457200"/>
          </a:xfrm>
          <a:prstGeom prst="roundRect">
            <a:avLst>
              <a:gd name="adj" fmla="val 10000"/>
            </a:avLst>
          </a:prstGeom>
          <a:solidFill>
            <a:srgbClr val="D49A00">
              <a:alpha val="13000"/>
            </a:srgbClr>
          </a:solidFill>
          <a:ln w="12700">
            <a:solidFill>
              <a:srgbClr val="D49A00"/>
            </a:solidFill>
          </a:ln>
        </p:spPr>
      </p:sp>
      <p:pic>
        <p:nvPicPr>
          <p:cNvPr id="49" name="Icon 49"/>
          <p:cNvPicPr>
            <a:picLocks noChangeAspect="1"/>
          </p:cNvPicPr>
          <p:nvPr/>
        </p:nvPicPr>
        <p:blipFill>
          <a:blip r:embed="rId5"/>
          <a:stretch>
            <a:fillRect/>
          </a:stretch>
        </p:blipFill>
        <p:spPr>
          <a:xfrm>
            <a:off x="621792" y="4206240"/>
            <a:ext cx="274320" cy="274320"/>
          </a:xfrm>
          <a:prstGeom prst="rect">
            <a:avLst/>
          </a:prstGeom>
        </p:spPr>
      </p:pic>
      <p:sp>
        <p:nvSpPr>
          <p:cNvPr id="50" name="Text 50"/>
          <p:cNvSpPr txBox="1"/>
          <p:nvPr/>
        </p:nvSpPr>
        <p:spPr>
          <a:xfrm>
            <a:off x="1024128" y="4114800"/>
            <a:ext cx="7498079" cy="457200"/>
          </a:xfrm>
          <a:prstGeom prst="rect">
            <a:avLst/>
          </a:prstGeom>
          <a:noFill/>
          <a:ln/>
        </p:spPr>
        <p:txBody>
          <a:bodyPr wrap="square" lIns="0" tIns="0" rIns="0" bIns="0" rtlCol="0" anchor="ctr"/>
          <a:lstStyle/>
          <a:p>
            <a:pPr marL="0" indent="0">
              <a:buNone/>
            </a:pPr>
            <a:r>
              <a:rPr lang="fr-FR" sz="1100" dirty="0">
                <a:solidFill>
                  <a:srgbClr val="231F20"/>
                </a:solidFill>
                <a:latin typeface="Calibri" pitchFamily="34" charset="0"/>
                <a:ea typeface="Calibri" pitchFamily="34" charset="-122"/>
                <a:cs typeface="Calibri" pitchFamily="34" charset="-120"/>
              </a:rPr>
              <a:t>Dans les deux cas, utilisez une adresse consultée régulièrement : sans e-mail vérifié, impossible de créer un dépôt.</a:t>
            </a: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fr-FR" sz="1050" b="1" kern="0" spc="300" dirty="0">
                <a:solidFill>
                  <a:srgbClr val="0E5A2E"/>
                </a:solidFill>
                <a:latin typeface="Calibri" pitchFamily="34" charset="0"/>
                <a:ea typeface="Calibri" pitchFamily="34" charset="-122"/>
                <a:cs typeface="Calibri" pitchFamily="34" charset="-120"/>
              </a:rPr>
              <a:t>00 · CRÉER UN COMPTE</a:t>
            </a:r>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fr-FR" sz="2800" b="1" dirty="0">
                <a:solidFill>
                  <a:srgbClr val="231F20"/>
                </a:solidFill>
                <a:latin typeface="Calibri" pitchFamily="34" charset="0"/>
                <a:ea typeface="Calibri" pitchFamily="34" charset="-122"/>
                <a:cs typeface="Calibri" pitchFamily="34" charset="-120"/>
              </a:rPr>
              <a:t>Remplir le formulaire d’inscription</a:t>
            </a:r>
          </a:p>
        </p:txBody>
      </p:sp>
      <p:sp>
        <p:nvSpPr>
          <p:cNvPr id="8" name="Shape 6"/>
          <p:cNvSpPr/>
          <p:nvPr/>
        </p:nvSpPr>
        <p:spPr>
          <a:xfrm>
            <a:off x="7543800" y="365760"/>
            <a:ext cx="109728" cy="109728"/>
          </a:xfrm>
          <a:prstGeom prst="ellipse">
            <a:avLst/>
          </a:prstGeom>
          <a:solidFill>
            <a:srgbClr val="D3E2D7"/>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D3E2D7"/>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fr-FR" sz="850" dirty="0">
                <a:solidFill>
                  <a:srgbClr val="8A968F"/>
                </a:solidFill>
                <a:latin typeface="Calibri" pitchFamily="34" charset="0"/>
                <a:ea typeface="Calibri" pitchFamily="34" charset="-122"/>
                <a:cs typeface="Calibri" pitchFamily="34" charset="-120"/>
              </a:rPr>
              <a:t>Générer une clé API GitHub · BAD – Data Innovation for Africa (DI4A)</a:t>
            </a:r>
            <a:endParaRPr lang="fr-FR"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fr-FR" sz="850" dirty="0">
                <a:solidFill>
                  <a:srgbClr val="8A968F"/>
                </a:solidFill>
                <a:latin typeface="Calibri" pitchFamily="34" charset="0"/>
                <a:ea typeface="Calibri" pitchFamily="34" charset="-122"/>
                <a:cs typeface="Calibri" pitchFamily="34" charset="-120"/>
              </a:rPr>
              <a:t>6</a:t>
            </a:r>
            <a:endParaRPr lang="fr-FR" sz="850" dirty="0"/>
          </a:p>
        </p:txBody>
      </p:sp>
      <p:sp>
        <p:nvSpPr>
          <p:cNvPr id="16" name="Shape 16"/>
          <p:cNvSpPr/>
          <p:nvPr/>
        </p:nvSpPr>
        <p:spPr>
          <a:xfrm>
            <a:off x="457200" y="1261872"/>
            <a:ext cx="329184" cy="329184"/>
          </a:xfrm>
          <a:prstGeom prst="ellipse">
            <a:avLst/>
          </a:prstGeom>
          <a:solidFill>
            <a:srgbClr val="E8F4EB"/>
          </a:solidFill>
          <a:ln w="9525">
            <a:solidFill>
              <a:srgbClr val="D3E2D7"/>
            </a:solidFill>
          </a:ln>
        </p:spPr>
      </p:sp>
      <p:sp>
        <p:nvSpPr>
          <p:cNvPr id="17" name="Text 17"/>
          <p:cNvSpPr txBox="1"/>
          <p:nvPr/>
        </p:nvSpPr>
        <p:spPr>
          <a:xfrm>
            <a:off x="457200" y="1261872"/>
            <a:ext cx="329184" cy="329184"/>
          </a:xfrm>
          <a:prstGeom prst="rect">
            <a:avLst/>
          </a:prstGeom>
          <a:noFill/>
          <a:ln/>
        </p:spPr>
        <p:txBody>
          <a:bodyPr wrap="square" lIns="0" tIns="0" rIns="0" bIns="0" rtlCol="0" anchor="ctr"/>
          <a:lstStyle/>
          <a:p>
            <a:pPr marL="0" indent="0" algn="ctr">
              <a:buNone/>
            </a:pPr>
            <a:r>
              <a:rPr lang="fr-FR" sz="1150" b="1" dirty="0">
                <a:solidFill>
                  <a:srgbClr val="0E5A2E"/>
                </a:solidFill>
                <a:latin typeface="Calibri" pitchFamily="34" charset="0"/>
                <a:ea typeface="Calibri" pitchFamily="34" charset="-122"/>
                <a:cs typeface="Calibri" pitchFamily="34" charset="-120"/>
              </a:rPr>
              <a:t>1</a:t>
            </a:r>
          </a:p>
        </p:txBody>
      </p:sp>
      <p:sp>
        <p:nvSpPr>
          <p:cNvPr id="18" name="Text 18"/>
          <p:cNvSpPr txBox="1"/>
          <p:nvPr/>
        </p:nvSpPr>
        <p:spPr>
          <a:xfrm>
            <a:off x="914400" y="1234439"/>
            <a:ext cx="3611880" cy="603504"/>
          </a:xfrm>
          <a:prstGeom prst="rect">
            <a:avLst/>
          </a:prstGeom>
          <a:noFill/>
          <a:ln/>
        </p:spPr>
        <p:txBody>
          <a:bodyPr wrap="square" lIns="0" tIns="0" rIns="0" bIns="0" rtlCol="0" anchor="t"/>
          <a:lstStyle/>
          <a:p>
            <a:pPr marL="0" indent="0">
              <a:buNone/>
            </a:pPr>
            <a:r>
              <a:rPr lang="fr-FR" sz="1250" b="1" dirty="0">
                <a:solidFill>
                  <a:srgbClr val="231F20"/>
                </a:solidFill>
                <a:latin typeface="Calibri" pitchFamily="34" charset="0"/>
                <a:ea typeface="Calibri" pitchFamily="34" charset="-122"/>
                <a:cs typeface="Calibri" pitchFamily="34" charset="-120"/>
              </a:rPr>
              <a:t>Aller sur github.com/signup</a:t>
            </a:r>
          </a:p>
          <a:p>
            <a:pPr marL="0" indent="0">
              <a:spcBef>
                <a:spcPts val="100"/>
              </a:spcBef>
              <a:buNone/>
            </a:pPr>
            <a:r>
              <a:rPr lang="fr-FR" sz="1050" dirty="0">
                <a:solidFill>
                  <a:srgbClr val="5A6660"/>
                </a:solidFill>
                <a:latin typeface="Calibri" pitchFamily="34" charset="0"/>
                <a:ea typeface="Calibri" pitchFamily="34" charset="-122"/>
                <a:cs typeface="Calibri" pitchFamily="34" charset="-120"/>
              </a:rPr>
              <a:t>Ou cliquer sur Sign up depuis github.com.</a:t>
            </a:r>
          </a:p>
        </p:txBody>
      </p:sp>
      <p:sp>
        <p:nvSpPr>
          <p:cNvPr id="19" name="Shape 19"/>
          <p:cNvSpPr/>
          <p:nvPr/>
        </p:nvSpPr>
        <p:spPr>
          <a:xfrm>
            <a:off x="457200" y="1883664"/>
            <a:ext cx="329184" cy="329184"/>
          </a:xfrm>
          <a:prstGeom prst="ellipse">
            <a:avLst/>
          </a:prstGeom>
          <a:solidFill>
            <a:srgbClr val="E8F4EB"/>
          </a:solidFill>
          <a:ln w="9525">
            <a:solidFill>
              <a:srgbClr val="D3E2D7"/>
            </a:solidFill>
          </a:ln>
        </p:spPr>
      </p:sp>
      <p:sp>
        <p:nvSpPr>
          <p:cNvPr id="20" name="Text 20"/>
          <p:cNvSpPr txBox="1"/>
          <p:nvPr/>
        </p:nvSpPr>
        <p:spPr>
          <a:xfrm>
            <a:off x="457200" y="1883664"/>
            <a:ext cx="329184" cy="329184"/>
          </a:xfrm>
          <a:prstGeom prst="rect">
            <a:avLst/>
          </a:prstGeom>
          <a:noFill/>
          <a:ln/>
        </p:spPr>
        <p:txBody>
          <a:bodyPr wrap="square" lIns="0" tIns="0" rIns="0" bIns="0" rtlCol="0" anchor="ctr"/>
          <a:lstStyle/>
          <a:p>
            <a:pPr marL="0" indent="0" algn="ctr">
              <a:buNone/>
            </a:pPr>
            <a:r>
              <a:rPr lang="fr-FR" sz="1150" b="1" dirty="0">
                <a:solidFill>
                  <a:srgbClr val="0E5A2E"/>
                </a:solidFill>
                <a:latin typeface="Calibri" pitchFamily="34" charset="0"/>
                <a:ea typeface="Calibri" pitchFamily="34" charset="-122"/>
                <a:cs typeface="Calibri" pitchFamily="34" charset="-120"/>
              </a:rPr>
              <a:t>2</a:t>
            </a:r>
          </a:p>
        </p:txBody>
      </p:sp>
      <p:sp>
        <p:nvSpPr>
          <p:cNvPr id="21" name="Text 21"/>
          <p:cNvSpPr txBox="1"/>
          <p:nvPr/>
        </p:nvSpPr>
        <p:spPr>
          <a:xfrm>
            <a:off x="914400" y="1856232"/>
            <a:ext cx="3611880" cy="603504"/>
          </a:xfrm>
          <a:prstGeom prst="rect">
            <a:avLst/>
          </a:prstGeom>
          <a:noFill/>
          <a:ln/>
        </p:spPr>
        <p:txBody>
          <a:bodyPr wrap="square" lIns="0" tIns="0" rIns="0" bIns="0" rtlCol="0" anchor="t"/>
          <a:lstStyle/>
          <a:p>
            <a:pPr marL="0" indent="0">
              <a:buNone/>
            </a:pPr>
            <a:r>
              <a:rPr lang="fr-FR" sz="1250" b="1" dirty="0">
                <a:solidFill>
                  <a:srgbClr val="231F20"/>
                </a:solidFill>
                <a:latin typeface="Calibri" pitchFamily="34" charset="0"/>
                <a:ea typeface="Calibri" pitchFamily="34" charset="-122"/>
                <a:cs typeface="Calibri" pitchFamily="34" charset="-120"/>
              </a:rPr>
              <a:t>Email</a:t>
            </a:r>
          </a:p>
          <a:p>
            <a:pPr marL="0" indent="0">
              <a:spcBef>
                <a:spcPts val="100"/>
              </a:spcBef>
              <a:buNone/>
            </a:pPr>
            <a:r>
              <a:rPr lang="fr-FR" sz="1050" dirty="0">
                <a:solidFill>
                  <a:srgbClr val="5A6660"/>
                </a:solidFill>
                <a:latin typeface="Calibri" pitchFamily="34" charset="0"/>
                <a:ea typeface="Calibri" pitchFamily="34" charset="-122"/>
                <a:cs typeface="Calibri" pitchFamily="34" charset="-120"/>
              </a:rPr>
              <a:t>Votre adresse Gmail, ex. prenom.nom@gmail.com.</a:t>
            </a:r>
          </a:p>
        </p:txBody>
      </p:sp>
      <p:sp>
        <p:nvSpPr>
          <p:cNvPr id="22" name="Shape 22"/>
          <p:cNvSpPr/>
          <p:nvPr/>
        </p:nvSpPr>
        <p:spPr>
          <a:xfrm>
            <a:off x="457200" y="2505456"/>
            <a:ext cx="329184" cy="329184"/>
          </a:xfrm>
          <a:prstGeom prst="ellipse">
            <a:avLst/>
          </a:prstGeom>
          <a:solidFill>
            <a:srgbClr val="E8F4EB"/>
          </a:solidFill>
          <a:ln w="9525">
            <a:solidFill>
              <a:srgbClr val="D3E2D7"/>
            </a:solidFill>
          </a:ln>
        </p:spPr>
      </p:sp>
      <p:sp>
        <p:nvSpPr>
          <p:cNvPr id="23" name="Text 23"/>
          <p:cNvSpPr txBox="1"/>
          <p:nvPr/>
        </p:nvSpPr>
        <p:spPr>
          <a:xfrm>
            <a:off x="457200" y="2505456"/>
            <a:ext cx="329184" cy="329184"/>
          </a:xfrm>
          <a:prstGeom prst="rect">
            <a:avLst/>
          </a:prstGeom>
          <a:noFill/>
          <a:ln/>
        </p:spPr>
        <p:txBody>
          <a:bodyPr wrap="square" lIns="0" tIns="0" rIns="0" bIns="0" rtlCol="0" anchor="ctr"/>
          <a:lstStyle/>
          <a:p>
            <a:pPr marL="0" indent="0" algn="ctr">
              <a:buNone/>
            </a:pPr>
            <a:r>
              <a:rPr lang="fr-FR" sz="1150" b="1" dirty="0">
                <a:solidFill>
                  <a:srgbClr val="0E5A2E"/>
                </a:solidFill>
                <a:latin typeface="Calibri" pitchFamily="34" charset="0"/>
                <a:ea typeface="Calibri" pitchFamily="34" charset="-122"/>
                <a:cs typeface="Calibri" pitchFamily="34" charset="-120"/>
              </a:rPr>
              <a:t>3</a:t>
            </a:r>
          </a:p>
        </p:txBody>
      </p:sp>
      <p:sp>
        <p:nvSpPr>
          <p:cNvPr id="24" name="Text 24"/>
          <p:cNvSpPr txBox="1"/>
          <p:nvPr/>
        </p:nvSpPr>
        <p:spPr>
          <a:xfrm>
            <a:off x="914400" y="2478024"/>
            <a:ext cx="3611880" cy="603504"/>
          </a:xfrm>
          <a:prstGeom prst="rect">
            <a:avLst/>
          </a:prstGeom>
          <a:noFill/>
          <a:ln/>
        </p:spPr>
        <p:txBody>
          <a:bodyPr wrap="square" lIns="0" tIns="0" rIns="0" bIns="0" rtlCol="0" anchor="t"/>
          <a:lstStyle/>
          <a:p>
            <a:pPr marL="0" indent="0">
              <a:buNone/>
            </a:pPr>
            <a:r>
              <a:rPr lang="fr-FR" sz="1250" b="1" dirty="0">
                <a:solidFill>
                  <a:srgbClr val="231F20"/>
                </a:solidFill>
                <a:latin typeface="Calibri" pitchFamily="34" charset="0"/>
                <a:ea typeface="Calibri" pitchFamily="34" charset="-122"/>
                <a:cs typeface="Calibri" pitchFamily="34" charset="-120"/>
              </a:rPr>
              <a:t>Password</a:t>
            </a:r>
          </a:p>
          <a:p>
            <a:pPr marL="0" indent="0">
              <a:spcBef>
                <a:spcPts val="100"/>
              </a:spcBef>
              <a:buNone/>
            </a:pPr>
            <a:r>
              <a:rPr lang="fr-FR" sz="1050" dirty="0">
                <a:solidFill>
                  <a:srgbClr val="5A6660"/>
                </a:solidFill>
                <a:latin typeface="Calibri" pitchFamily="34" charset="0"/>
                <a:ea typeface="Calibri" pitchFamily="34" charset="-122"/>
                <a:cs typeface="Calibri" pitchFamily="34" charset="-120"/>
              </a:rPr>
              <a:t>Au moins 15 caractères, ou au moins 8 avec un chiffre et une minuscule.</a:t>
            </a:r>
          </a:p>
        </p:txBody>
      </p:sp>
      <p:sp>
        <p:nvSpPr>
          <p:cNvPr id="25" name="Shape 25"/>
          <p:cNvSpPr/>
          <p:nvPr/>
        </p:nvSpPr>
        <p:spPr>
          <a:xfrm>
            <a:off x="457200" y="3127248"/>
            <a:ext cx="329184" cy="329184"/>
          </a:xfrm>
          <a:prstGeom prst="ellipse">
            <a:avLst/>
          </a:prstGeom>
          <a:solidFill>
            <a:srgbClr val="E8F4EB"/>
          </a:solidFill>
          <a:ln w="9525">
            <a:solidFill>
              <a:srgbClr val="D3E2D7"/>
            </a:solidFill>
          </a:ln>
        </p:spPr>
      </p:sp>
      <p:sp>
        <p:nvSpPr>
          <p:cNvPr id="26" name="Text 26"/>
          <p:cNvSpPr txBox="1"/>
          <p:nvPr/>
        </p:nvSpPr>
        <p:spPr>
          <a:xfrm>
            <a:off x="457200" y="3127248"/>
            <a:ext cx="329184" cy="329184"/>
          </a:xfrm>
          <a:prstGeom prst="rect">
            <a:avLst/>
          </a:prstGeom>
          <a:noFill/>
          <a:ln/>
        </p:spPr>
        <p:txBody>
          <a:bodyPr wrap="square" lIns="0" tIns="0" rIns="0" bIns="0" rtlCol="0" anchor="ctr"/>
          <a:lstStyle/>
          <a:p>
            <a:pPr marL="0" indent="0" algn="ctr">
              <a:buNone/>
            </a:pPr>
            <a:r>
              <a:rPr lang="fr-FR" sz="1150" b="1" dirty="0">
                <a:solidFill>
                  <a:srgbClr val="0E5A2E"/>
                </a:solidFill>
                <a:latin typeface="Calibri" pitchFamily="34" charset="0"/>
                <a:ea typeface="Calibri" pitchFamily="34" charset="-122"/>
                <a:cs typeface="Calibri" pitchFamily="34" charset="-120"/>
              </a:rPr>
              <a:t>4</a:t>
            </a:r>
          </a:p>
        </p:txBody>
      </p:sp>
      <p:sp>
        <p:nvSpPr>
          <p:cNvPr id="27" name="Text 27"/>
          <p:cNvSpPr txBox="1"/>
          <p:nvPr/>
        </p:nvSpPr>
        <p:spPr>
          <a:xfrm>
            <a:off x="914400" y="3099816"/>
            <a:ext cx="3611880" cy="603504"/>
          </a:xfrm>
          <a:prstGeom prst="rect">
            <a:avLst/>
          </a:prstGeom>
          <a:noFill/>
          <a:ln/>
        </p:spPr>
        <p:txBody>
          <a:bodyPr wrap="square" lIns="0" tIns="0" rIns="0" bIns="0" rtlCol="0" anchor="t"/>
          <a:lstStyle/>
          <a:p>
            <a:pPr marL="0" indent="0">
              <a:buNone/>
            </a:pPr>
            <a:r>
              <a:rPr lang="fr-FR" sz="1250" b="1" dirty="0">
                <a:solidFill>
                  <a:srgbClr val="231F20"/>
                </a:solidFill>
                <a:latin typeface="Calibri" pitchFamily="34" charset="0"/>
                <a:ea typeface="Calibri" pitchFamily="34" charset="-122"/>
                <a:cs typeface="Calibri" pitchFamily="34" charset="-120"/>
              </a:rPr>
              <a:t>Username</a:t>
            </a:r>
          </a:p>
          <a:p>
            <a:pPr marL="0" indent="0">
              <a:spcBef>
                <a:spcPts val="100"/>
              </a:spcBef>
              <a:buNone/>
            </a:pPr>
            <a:r>
              <a:rPr lang="fr-FR" sz="1050" dirty="0">
                <a:solidFill>
                  <a:srgbClr val="5A6660"/>
                </a:solidFill>
                <a:latin typeface="Calibri" pitchFamily="34" charset="0"/>
                <a:ea typeface="Calibri" pitchFamily="34" charset="-122"/>
                <a:cs typeface="Calibri" pitchFamily="34" charset="-120"/>
              </a:rPr>
              <a:t>Lettres, chiffres et tirets simples. Il apparaît dans vos URL : restez professionnel.</a:t>
            </a:r>
          </a:p>
        </p:txBody>
      </p:sp>
      <p:sp>
        <p:nvSpPr>
          <p:cNvPr id="28" name="Shape 28"/>
          <p:cNvSpPr/>
          <p:nvPr/>
        </p:nvSpPr>
        <p:spPr>
          <a:xfrm>
            <a:off x="457200" y="3749040"/>
            <a:ext cx="329184" cy="329184"/>
          </a:xfrm>
          <a:prstGeom prst="ellipse">
            <a:avLst/>
          </a:prstGeom>
          <a:solidFill>
            <a:srgbClr val="E8F4EB"/>
          </a:solidFill>
          <a:ln w="9525">
            <a:solidFill>
              <a:srgbClr val="D3E2D7"/>
            </a:solidFill>
          </a:ln>
        </p:spPr>
      </p:sp>
      <p:sp>
        <p:nvSpPr>
          <p:cNvPr id="29" name="Text 29"/>
          <p:cNvSpPr txBox="1"/>
          <p:nvPr/>
        </p:nvSpPr>
        <p:spPr>
          <a:xfrm>
            <a:off x="457200" y="3749039"/>
            <a:ext cx="329184" cy="329184"/>
          </a:xfrm>
          <a:prstGeom prst="rect">
            <a:avLst/>
          </a:prstGeom>
          <a:noFill/>
          <a:ln/>
        </p:spPr>
        <p:txBody>
          <a:bodyPr wrap="square" lIns="0" tIns="0" rIns="0" bIns="0" rtlCol="0" anchor="ctr"/>
          <a:lstStyle/>
          <a:p>
            <a:pPr marL="0" indent="0" algn="ctr">
              <a:buNone/>
            </a:pPr>
            <a:r>
              <a:rPr lang="fr-FR" sz="1150" b="1" dirty="0">
                <a:solidFill>
                  <a:srgbClr val="0E5A2E"/>
                </a:solidFill>
                <a:latin typeface="Calibri" pitchFamily="34" charset="0"/>
                <a:ea typeface="Calibri" pitchFamily="34" charset="-122"/>
                <a:cs typeface="Calibri" pitchFamily="34" charset="-120"/>
              </a:rPr>
              <a:t>5</a:t>
            </a:r>
          </a:p>
        </p:txBody>
      </p:sp>
      <p:sp>
        <p:nvSpPr>
          <p:cNvPr id="30" name="Text 30"/>
          <p:cNvSpPr txBox="1"/>
          <p:nvPr/>
        </p:nvSpPr>
        <p:spPr>
          <a:xfrm>
            <a:off x="914400" y="3721607"/>
            <a:ext cx="3611880" cy="603504"/>
          </a:xfrm>
          <a:prstGeom prst="rect">
            <a:avLst/>
          </a:prstGeom>
          <a:noFill/>
          <a:ln/>
        </p:spPr>
        <p:txBody>
          <a:bodyPr wrap="square" lIns="0" tIns="0" rIns="0" bIns="0" rtlCol="0" anchor="t"/>
          <a:lstStyle/>
          <a:p>
            <a:pPr marL="0" indent="0">
              <a:buNone/>
            </a:pPr>
            <a:r>
              <a:rPr lang="fr-FR" sz="1250" b="1" dirty="0">
                <a:solidFill>
                  <a:srgbClr val="231F20"/>
                </a:solidFill>
                <a:latin typeface="Calibri" pitchFamily="34" charset="0"/>
                <a:ea typeface="Calibri" pitchFamily="34" charset="-122"/>
                <a:cs typeface="Calibri" pitchFamily="34" charset="-120"/>
              </a:rPr>
              <a:t>Country/Region</a:t>
            </a:r>
          </a:p>
          <a:p>
            <a:pPr marL="0" indent="0">
              <a:spcBef>
                <a:spcPts val="100"/>
              </a:spcBef>
              <a:buNone/>
            </a:pPr>
            <a:r>
              <a:rPr lang="fr-FR" sz="1050" dirty="0">
                <a:solidFill>
                  <a:srgbClr val="5A6660"/>
                </a:solidFill>
                <a:latin typeface="Calibri" pitchFamily="34" charset="0"/>
                <a:ea typeface="Calibri" pitchFamily="34" charset="-122"/>
                <a:cs typeface="Calibri" pitchFamily="34" charset="-120"/>
              </a:rPr>
              <a:t>Sélectionner le pays, puis cliquer sur Continue.</a:t>
            </a:r>
          </a:p>
        </p:txBody>
      </p:sp>
      <p:sp>
        <p:nvSpPr>
          <p:cNvPr id="31" name="Shape 31"/>
          <p:cNvSpPr/>
          <p:nvPr/>
        </p:nvSpPr>
        <p:spPr>
          <a:xfrm>
            <a:off x="4892040" y="1188720"/>
            <a:ext cx="3794760" cy="3154680"/>
          </a:xfrm>
          <a:prstGeom prst="roundRect">
            <a:avLst>
              <a:gd name="adj" fmla="val 4000"/>
            </a:avLst>
          </a:prstGeom>
          <a:solidFill>
            <a:srgbClr val="FFFFFF"/>
          </a:solidFill>
          <a:ln w="9525">
            <a:solidFill>
              <a:srgbClr val="D3E2D7"/>
            </a:solidFill>
          </a:ln>
        </p:spPr>
      </p:sp>
      <p:sp>
        <p:nvSpPr>
          <p:cNvPr id="32" name="Shape 32"/>
          <p:cNvSpPr/>
          <p:nvPr/>
        </p:nvSpPr>
        <p:spPr>
          <a:xfrm>
            <a:off x="4892040" y="1188720"/>
            <a:ext cx="3794760" cy="292608"/>
          </a:xfrm>
          <a:prstGeom prst="roundRect">
            <a:avLst>
              <a:gd name="adj" fmla="val 30000"/>
            </a:avLst>
          </a:prstGeom>
          <a:solidFill>
            <a:srgbClr val="F1F3F2"/>
          </a:solidFill>
          <a:ln>
            <a:noFill/>
          </a:ln>
        </p:spPr>
      </p:sp>
      <p:sp>
        <p:nvSpPr>
          <p:cNvPr id="33" name="Text 33"/>
          <p:cNvSpPr txBox="1"/>
          <p:nvPr/>
        </p:nvSpPr>
        <p:spPr>
          <a:xfrm>
            <a:off x="5074920" y="1188720"/>
            <a:ext cx="3429000" cy="292608"/>
          </a:xfrm>
          <a:prstGeom prst="rect">
            <a:avLst/>
          </a:prstGeom>
          <a:noFill/>
          <a:ln/>
        </p:spPr>
        <p:txBody>
          <a:bodyPr wrap="square" lIns="0" tIns="0" rIns="0" bIns="0" rtlCol="0" anchor="ctr"/>
          <a:lstStyle/>
          <a:p>
            <a:pPr marL="0" indent="0">
              <a:buNone/>
            </a:pPr>
            <a:r>
              <a:rPr lang="fr-FR" sz="900" dirty="0">
                <a:solidFill>
                  <a:srgbClr val="5A6660"/>
                </a:solidFill>
                <a:latin typeface="Calibri" pitchFamily="34" charset="0"/>
                <a:ea typeface="Calibri" pitchFamily="34" charset="-122"/>
                <a:cs typeface="Calibri" pitchFamily="34" charset="-120"/>
              </a:rPr>
              <a:t>github.com/signup</a:t>
            </a:r>
          </a:p>
        </p:txBody>
      </p:sp>
      <p:sp>
        <p:nvSpPr>
          <p:cNvPr id="34" name="Text 34"/>
          <p:cNvSpPr txBox="1"/>
          <p:nvPr/>
        </p:nvSpPr>
        <p:spPr>
          <a:xfrm>
            <a:off x="5166359" y="1572768"/>
            <a:ext cx="3246120" cy="292608"/>
          </a:xfrm>
          <a:prstGeom prst="rect">
            <a:avLst/>
          </a:prstGeom>
          <a:noFill/>
          <a:ln/>
        </p:spPr>
        <p:txBody>
          <a:bodyPr wrap="square" lIns="0" tIns="0" rIns="0" bIns="0" rtlCol="0" anchor="ctr"/>
          <a:lstStyle/>
          <a:p>
            <a:pPr marL="0" indent="0">
              <a:buNone/>
            </a:pPr>
            <a:r>
              <a:rPr lang="fr-FR" sz="1300" b="1" dirty="0">
                <a:solidFill>
                  <a:srgbClr val="231F20"/>
                </a:solidFill>
                <a:latin typeface="Calibri" pitchFamily="34" charset="0"/>
                <a:ea typeface="Calibri" pitchFamily="34" charset="-122"/>
                <a:cs typeface="Calibri" pitchFamily="34" charset="-120"/>
              </a:rPr>
              <a:t>Sign up for GitHub</a:t>
            </a:r>
          </a:p>
        </p:txBody>
      </p:sp>
      <p:sp>
        <p:nvSpPr>
          <p:cNvPr id="35" name="Text 35"/>
          <p:cNvSpPr txBox="1"/>
          <p:nvPr/>
        </p:nvSpPr>
        <p:spPr>
          <a:xfrm>
            <a:off x="5166359" y="1965960"/>
            <a:ext cx="3246120" cy="164592"/>
          </a:xfrm>
          <a:prstGeom prst="rect">
            <a:avLst/>
          </a:prstGeom>
          <a:noFill/>
          <a:ln/>
        </p:spPr>
        <p:txBody>
          <a:bodyPr wrap="square" lIns="0" tIns="0" rIns="0" bIns="0" rtlCol="0" anchor="ctr"/>
          <a:lstStyle/>
          <a:p>
            <a:pPr marL="0" indent="0">
              <a:buNone/>
            </a:pPr>
            <a:r>
              <a:rPr lang="fr-FR" sz="850" b="1" dirty="0">
                <a:solidFill>
                  <a:srgbClr val="231F20"/>
                </a:solidFill>
                <a:latin typeface="Calibri" pitchFamily="34" charset="0"/>
                <a:ea typeface="Calibri" pitchFamily="34" charset="-122"/>
                <a:cs typeface="Calibri" pitchFamily="34" charset="-120"/>
              </a:rPr>
              <a:t>Email *</a:t>
            </a:r>
          </a:p>
        </p:txBody>
      </p:sp>
      <p:sp>
        <p:nvSpPr>
          <p:cNvPr id="36" name="Shape 36"/>
          <p:cNvSpPr/>
          <p:nvPr/>
        </p:nvSpPr>
        <p:spPr>
          <a:xfrm>
            <a:off x="5166360" y="2148840"/>
            <a:ext cx="3246120" cy="246888"/>
          </a:xfrm>
          <a:prstGeom prst="roundRect">
            <a:avLst>
              <a:gd name="adj" fmla="val 15000"/>
            </a:avLst>
          </a:prstGeom>
          <a:solidFill>
            <a:srgbClr val="FFFFFF"/>
          </a:solidFill>
          <a:ln w="9525">
            <a:solidFill>
              <a:srgbClr val="B7C4BB"/>
            </a:solidFill>
          </a:ln>
        </p:spPr>
      </p:sp>
      <p:sp>
        <p:nvSpPr>
          <p:cNvPr id="37" name="Text 37"/>
          <p:cNvSpPr txBox="1"/>
          <p:nvPr/>
        </p:nvSpPr>
        <p:spPr>
          <a:xfrm>
            <a:off x="5257800" y="2148840"/>
            <a:ext cx="3063240" cy="246888"/>
          </a:xfrm>
          <a:prstGeom prst="rect">
            <a:avLst/>
          </a:prstGeom>
          <a:noFill/>
          <a:ln/>
        </p:spPr>
        <p:txBody>
          <a:bodyPr wrap="square" lIns="0" tIns="0" rIns="0" bIns="0" rtlCol="0" anchor="ctr"/>
          <a:lstStyle/>
          <a:p>
            <a:pPr marL="0" indent="0">
              <a:buNone/>
            </a:pPr>
            <a:r>
              <a:rPr lang="fr-FR" sz="950" dirty="0">
                <a:solidFill>
                  <a:srgbClr val="5A6660"/>
                </a:solidFill>
                <a:latin typeface="Calibri" pitchFamily="34" charset="0"/>
                <a:ea typeface="Calibri" pitchFamily="34" charset="-122"/>
                <a:cs typeface="Calibri" pitchFamily="34" charset="-120"/>
              </a:rPr>
              <a:t>prenom.nom@gmail.com</a:t>
            </a:r>
          </a:p>
        </p:txBody>
      </p:sp>
      <p:sp>
        <p:nvSpPr>
          <p:cNvPr id="38" name="Text 38"/>
          <p:cNvSpPr txBox="1"/>
          <p:nvPr/>
        </p:nvSpPr>
        <p:spPr>
          <a:xfrm>
            <a:off x="5166359" y="2441448"/>
            <a:ext cx="3246120" cy="164592"/>
          </a:xfrm>
          <a:prstGeom prst="rect">
            <a:avLst/>
          </a:prstGeom>
          <a:noFill/>
          <a:ln/>
        </p:spPr>
        <p:txBody>
          <a:bodyPr wrap="square" lIns="0" tIns="0" rIns="0" bIns="0" rtlCol="0" anchor="ctr"/>
          <a:lstStyle/>
          <a:p>
            <a:pPr marL="0" indent="0">
              <a:buNone/>
            </a:pPr>
            <a:r>
              <a:rPr lang="fr-FR" sz="850" b="1" dirty="0">
                <a:solidFill>
                  <a:srgbClr val="231F20"/>
                </a:solidFill>
                <a:latin typeface="Calibri" pitchFamily="34" charset="0"/>
                <a:ea typeface="Calibri" pitchFamily="34" charset="-122"/>
                <a:cs typeface="Calibri" pitchFamily="34" charset="-120"/>
              </a:rPr>
              <a:t>Password *</a:t>
            </a:r>
          </a:p>
        </p:txBody>
      </p:sp>
      <p:sp>
        <p:nvSpPr>
          <p:cNvPr id="39" name="Shape 39"/>
          <p:cNvSpPr/>
          <p:nvPr/>
        </p:nvSpPr>
        <p:spPr>
          <a:xfrm>
            <a:off x="5166360" y="2624328"/>
            <a:ext cx="3246120" cy="246888"/>
          </a:xfrm>
          <a:prstGeom prst="roundRect">
            <a:avLst>
              <a:gd name="adj" fmla="val 15000"/>
            </a:avLst>
          </a:prstGeom>
          <a:solidFill>
            <a:srgbClr val="FFFFFF"/>
          </a:solidFill>
          <a:ln w="9525">
            <a:solidFill>
              <a:srgbClr val="B7C4BB"/>
            </a:solidFill>
          </a:ln>
        </p:spPr>
      </p:sp>
      <p:sp>
        <p:nvSpPr>
          <p:cNvPr id="40" name="Text 40"/>
          <p:cNvSpPr txBox="1"/>
          <p:nvPr/>
        </p:nvSpPr>
        <p:spPr>
          <a:xfrm>
            <a:off x="5257800" y="2624328"/>
            <a:ext cx="3063240" cy="246888"/>
          </a:xfrm>
          <a:prstGeom prst="rect">
            <a:avLst/>
          </a:prstGeom>
          <a:noFill/>
          <a:ln/>
        </p:spPr>
        <p:txBody>
          <a:bodyPr wrap="square" lIns="0" tIns="0" rIns="0" bIns="0" rtlCol="0" anchor="ctr"/>
          <a:lstStyle/>
          <a:p>
            <a:pPr marL="0" indent="0">
              <a:buNone/>
            </a:pPr>
            <a:r>
              <a:rPr lang="fr-FR" sz="950" dirty="0">
                <a:solidFill>
                  <a:srgbClr val="5A6660"/>
                </a:solidFill>
                <a:latin typeface="Calibri" pitchFamily="34" charset="0"/>
                <a:ea typeface="Calibri" pitchFamily="34" charset="-122"/>
                <a:cs typeface="Calibri" pitchFamily="34" charset="-120"/>
              </a:rPr>
              <a:t>••••••••••••••••</a:t>
            </a:r>
          </a:p>
        </p:txBody>
      </p:sp>
      <p:sp>
        <p:nvSpPr>
          <p:cNvPr id="41" name="Text 41"/>
          <p:cNvSpPr txBox="1"/>
          <p:nvPr/>
        </p:nvSpPr>
        <p:spPr>
          <a:xfrm>
            <a:off x="5166359" y="2916936"/>
            <a:ext cx="3246120" cy="164592"/>
          </a:xfrm>
          <a:prstGeom prst="rect">
            <a:avLst/>
          </a:prstGeom>
          <a:noFill/>
          <a:ln/>
        </p:spPr>
        <p:txBody>
          <a:bodyPr wrap="square" lIns="0" tIns="0" rIns="0" bIns="0" rtlCol="0" anchor="ctr"/>
          <a:lstStyle/>
          <a:p>
            <a:pPr marL="0" indent="0">
              <a:buNone/>
            </a:pPr>
            <a:r>
              <a:rPr lang="fr-FR" sz="850" b="1" dirty="0">
                <a:solidFill>
                  <a:srgbClr val="231F20"/>
                </a:solidFill>
                <a:latin typeface="Calibri" pitchFamily="34" charset="0"/>
                <a:ea typeface="Calibri" pitchFamily="34" charset="-122"/>
                <a:cs typeface="Calibri" pitchFamily="34" charset="-120"/>
              </a:rPr>
              <a:t>Username *</a:t>
            </a:r>
          </a:p>
        </p:txBody>
      </p:sp>
      <p:sp>
        <p:nvSpPr>
          <p:cNvPr id="42" name="Shape 42"/>
          <p:cNvSpPr/>
          <p:nvPr/>
        </p:nvSpPr>
        <p:spPr>
          <a:xfrm>
            <a:off x="5166360" y="3099816"/>
            <a:ext cx="3246120" cy="246888"/>
          </a:xfrm>
          <a:prstGeom prst="roundRect">
            <a:avLst>
              <a:gd name="adj" fmla="val 15000"/>
            </a:avLst>
          </a:prstGeom>
          <a:solidFill>
            <a:srgbClr val="FFFFFF"/>
          </a:solidFill>
          <a:ln w="9525">
            <a:solidFill>
              <a:srgbClr val="B7C4BB"/>
            </a:solidFill>
          </a:ln>
        </p:spPr>
      </p:sp>
      <p:sp>
        <p:nvSpPr>
          <p:cNvPr id="43" name="Text 43"/>
          <p:cNvSpPr txBox="1"/>
          <p:nvPr/>
        </p:nvSpPr>
        <p:spPr>
          <a:xfrm>
            <a:off x="5257800" y="3099816"/>
            <a:ext cx="3063240" cy="246888"/>
          </a:xfrm>
          <a:prstGeom prst="rect">
            <a:avLst/>
          </a:prstGeom>
          <a:noFill/>
          <a:ln/>
        </p:spPr>
        <p:txBody>
          <a:bodyPr wrap="square" lIns="0" tIns="0" rIns="0" bIns="0" rtlCol="0" anchor="ctr"/>
          <a:lstStyle/>
          <a:p>
            <a:pPr marL="0" indent="0">
              <a:buNone/>
            </a:pPr>
            <a:r>
              <a:rPr lang="fr-FR" sz="950" dirty="0">
                <a:solidFill>
                  <a:srgbClr val="5A6660"/>
                </a:solidFill>
                <a:latin typeface="Calibri" pitchFamily="34" charset="0"/>
                <a:ea typeface="Calibri" pitchFamily="34" charset="-122"/>
                <a:cs typeface="Calibri" pitchFamily="34" charset="-120"/>
              </a:rPr>
              <a:t>prenom-nom</a:t>
            </a:r>
          </a:p>
        </p:txBody>
      </p:sp>
      <p:sp>
        <p:nvSpPr>
          <p:cNvPr id="44" name="Text 44"/>
          <p:cNvSpPr txBox="1"/>
          <p:nvPr/>
        </p:nvSpPr>
        <p:spPr>
          <a:xfrm>
            <a:off x="5166359" y="3392424"/>
            <a:ext cx="3246120" cy="164592"/>
          </a:xfrm>
          <a:prstGeom prst="rect">
            <a:avLst/>
          </a:prstGeom>
          <a:noFill/>
          <a:ln/>
        </p:spPr>
        <p:txBody>
          <a:bodyPr wrap="square" lIns="0" tIns="0" rIns="0" bIns="0" rtlCol="0" anchor="ctr"/>
          <a:lstStyle/>
          <a:p>
            <a:pPr marL="0" indent="0">
              <a:buNone/>
            </a:pPr>
            <a:r>
              <a:rPr lang="fr-FR" sz="850" b="1" dirty="0">
                <a:solidFill>
                  <a:srgbClr val="231F20"/>
                </a:solidFill>
                <a:latin typeface="Calibri" pitchFamily="34" charset="0"/>
                <a:ea typeface="Calibri" pitchFamily="34" charset="-122"/>
                <a:cs typeface="Calibri" pitchFamily="34" charset="-120"/>
              </a:rPr>
              <a:t>Country/Region *</a:t>
            </a:r>
          </a:p>
        </p:txBody>
      </p:sp>
      <p:sp>
        <p:nvSpPr>
          <p:cNvPr id="45" name="Shape 45"/>
          <p:cNvSpPr/>
          <p:nvPr/>
        </p:nvSpPr>
        <p:spPr>
          <a:xfrm>
            <a:off x="5166360" y="3575304"/>
            <a:ext cx="3246120" cy="246888"/>
          </a:xfrm>
          <a:prstGeom prst="roundRect">
            <a:avLst>
              <a:gd name="adj" fmla="val 15000"/>
            </a:avLst>
          </a:prstGeom>
          <a:solidFill>
            <a:srgbClr val="FFFFFF"/>
          </a:solidFill>
          <a:ln w="9525">
            <a:solidFill>
              <a:srgbClr val="B7C4BB"/>
            </a:solidFill>
          </a:ln>
        </p:spPr>
      </p:sp>
      <p:sp>
        <p:nvSpPr>
          <p:cNvPr id="46" name="Text 46"/>
          <p:cNvSpPr txBox="1"/>
          <p:nvPr/>
        </p:nvSpPr>
        <p:spPr>
          <a:xfrm>
            <a:off x="5257800" y="3575304"/>
            <a:ext cx="3063240" cy="246888"/>
          </a:xfrm>
          <a:prstGeom prst="rect">
            <a:avLst/>
          </a:prstGeom>
          <a:noFill/>
          <a:ln/>
        </p:spPr>
        <p:txBody>
          <a:bodyPr wrap="square" lIns="0" tIns="0" rIns="0" bIns="0" rtlCol="0" anchor="ctr"/>
          <a:lstStyle/>
          <a:p>
            <a:pPr marL="0" indent="0">
              <a:buNone/>
            </a:pPr>
            <a:r>
              <a:rPr lang="fr-FR" sz="950" dirty="0">
                <a:solidFill>
                  <a:srgbClr val="5A6660"/>
                </a:solidFill>
                <a:latin typeface="Calibri" pitchFamily="34" charset="0"/>
                <a:ea typeface="Calibri" pitchFamily="34" charset="-122"/>
                <a:cs typeface="Calibri" pitchFamily="34" charset="-120"/>
              </a:rPr>
              <a:t>Votre pays</a:t>
            </a:r>
          </a:p>
        </p:txBody>
      </p:sp>
      <p:sp>
        <p:nvSpPr>
          <p:cNvPr id="47" name="Shape 47"/>
          <p:cNvSpPr/>
          <p:nvPr/>
        </p:nvSpPr>
        <p:spPr>
          <a:xfrm>
            <a:off x="5166360" y="3959352"/>
            <a:ext cx="3246120" cy="274320"/>
          </a:xfrm>
          <a:prstGeom prst="roundRect">
            <a:avLst>
              <a:gd name="adj" fmla="val 15000"/>
            </a:avLst>
          </a:prstGeom>
          <a:solidFill>
            <a:srgbClr val="2C9045"/>
          </a:solidFill>
          <a:ln>
            <a:noFill/>
          </a:ln>
        </p:spPr>
      </p:sp>
      <p:sp>
        <p:nvSpPr>
          <p:cNvPr id="48" name="Text 48"/>
          <p:cNvSpPr txBox="1"/>
          <p:nvPr/>
        </p:nvSpPr>
        <p:spPr>
          <a:xfrm>
            <a:off x="5166359" y="3959352"/>
            <a:ext cx="3246120" cy="274320"/>
          </a:xfrm>
          <a:prstGeom prst="rect">
            <a:avLst/>
          </a:prstGeom>
          <a:noFill/>
          <a:ln/>
        </p:spPr>
        <p:txBody>
          <a:bodyPr wrap="square" lIns="0" tIns="0" rIns="0" bIns="0" rtlCol="0" anchor="ctr"/>
          <a:lstStyle/>
          <a:p>
            <a:pPr marL="0" indent="0" algn="ctr">
              <a:buNone/>
            </a:pPr>
            <a:r>
              <a:rPr lang="fr-FR" sz="1000" b="1" dirty="0">
                <a:solidFill>
                  <a:srgbClr val="FFFFFF"/>
                </a:solidFill>
                <a:latin typeface="Calibri" pitchFamily="34" charset="0"/>
                <a:ea typeface="Calibri" pitchFamily="34" charset="-122"/>
                <a:cs typeface="Calibri" pitchFamily="34" charset="-120"/>
              </a:rPr>
              <a:t>Continue ›</a:t>
            </a:r>
          </a:p>
        </p:txBody>
      </p:sp>
      <p:sp>
        <p:nvSpPr>
          <p:cNvPr id="49" name="Text 49"/>
          <p:cNvSpPr txBox="1"/>
          <p:nvPr/>
        </p:nvSpPr>
        <p:spPr>
          <a:xfrm>
            <a:off x="4892040" y="4416552"/>
            <a:ext cx="3794760" cy="201168"/>
          </a:xfrm>
          <a:prstGeom prst="rect">
            <a:avLst/>
          </a:prstGeom>
          <a:noFill/>
          <a:ln/>
        </p:spPr>
        <p:txBody>
          <a:bodyPr wrap="square" lIns="0" tIns="0" rIns="0" bIns="0" rtlCol="0" anchor="t"/>
          <a:lstStyle/>
          <a:p>
            <a:pPr marL="0" indent="0">
              <a:buNone/>
            </a:pPr>
            <a:r>
              <a:rPr lang="fr-FR" sz="900" i="1" dirty="0">
                <a:solidFill>
                  <a:srgbClr val="5A6660"/>
                </a:solidFill>
                <a:latin typeface="Calibri" pitchFamily="34" charset="0"/>
                <a:ea typeface="Calibri" pitchFamily="34" charset="-122"/>
                <a:cs typeface="Calibri" pitchFamily="34" charset="-120"/>
              </a:rPr>
              <a:t>Illustration schématique — la page réelle peut légèrement différer.</a:t>
            </a: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fr-FR" sz="1050" b="1" kern="0" spc="300" dirty="0">
                <a:solidFill>
                  <a:srgbClr val="0E5A2E"/>
                </a:solidFill>
                <a:latin typeface="Calibri" pitchFamily="34" charset="0"/>
                <a:ea typeface="Calibri" pitchFamily="34" charset="-122"/>
                <a:cs typeface="Calibri" pitchFamily="34" charset="-120"/>
              </a:rPr>
              <a:t>00 · CRÉER UN COMPTE</a:t>
            </a:r>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fr-FR" sz="2800" b="1" dirty="0">
                <a:solidFill>
                  <a:srgbClr val="231F20"/>
                </a:solidFill>
                <a:latin typeface="Calibri" pitchFamily="34" charset="0"/>
                <a:ea typeface="Calibri" pitchFamily="34" charset="-122"/>
                <a:cs typeface="Calibri" pitchFamily="34" charset="-120"/>
              </a:rPr>
              <a:t>Prouver que vous êtes humain, puis vérifier l’e-mail</a:t>
            </a:r>
          </a:p>
        </p:txBody>
      </p:sp>
      <p:sp>
        <p:nvSpPr>
          <p:cNvPr id="8" name="Shape 6"/>
          <p:cNvSpPr/>
          <p:nvPr/>
        </p:nvSpPr>
        <p:spPr>
          <a:xfrm>
            <a:off x="7543800" y="365760"/>
            <a:ext cx="109728" cy="109728"/>
          </a:xfrm>
          <a:prstGeom prst="ellipse">
            <a:avLst/>
          </a:prstGeom>
          <a:solidFill>
            <a:srgbClr val="D3E2D7"/>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D3E2D7"/>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fr-FR" sz="850" dirty="0">
                <a:solidFill>
                  <a:srgbClr val="8A968F"/>
                </a:solidFill>
                <a:latin typeface="Calibri" pitchFamily="34" charset="0"/>
                <a:ea typeface="Calibri" pitchFamily="34" charset="-122"/>
                <a:cs typeface="Calibri" pitchFamily="34" charset="-120"/>
              </a:rPr>
              <a:t>Générer une clé API GitHub · BAD – Data Innovation for Africa (DI4A)</a:t>
            </a:r>
            <a:endParaRPr lang="fr-FR"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fr-FR" sz="850" dirty="0">
                <a:solidFill>
                  <a:srgbClr val="8A968F"/>
                </a:solidFill>
                <a:latin typeface="Calibri" pitchFamily="34" charset="0"/>
                <a:ea typeface="Calibri" pitchFamily="34" charset="-122"/>
                <a:cs typeface="Calibri" pitchFamily="34" charset="-120"/>
              </a:rPr>
              <a:t>7</a:t>
            </a:r>
            <a:endParaRPr lang="fr-FR" sz="850" dirty="0"/>
          </a:p>
        </p:txBody>
      </p:sp>
      <p:sp>
        <p:nvSpPr>
          <p:cNvPr id="16" name="Shape 16"/>
          <p:cNvSpPr/>
          <p:nvPr/>
        </p:nvSpPr>
        <p:spPr>
          <a:xfrm>
            <a:off x="457200" y="1280160"/>
            <a:ext cx="329184" cy="329184"/>
          </a:xfrm>
          <a:prstGeom prst="ellipse">
            <a:avLst/>
          </a:prstGeom>
          <a:solidFill>
            <a:srgbClr val="E8F4EB"/>
          </a:solidFill>
          <a:ln w="9525">
            <a:solidFill>
              <a:srgbClr val="D3E2D7"/>
            </a:solidFill>
          </a:ln>
        </p:spPr>
      </p:sp>
      <p:sp>
        <p:nvSpPr>
          <p:cNvPr id="17" name="Text 17"/>
          <p:cNvSpPr txBox="1"/>
          <p:nvPr/>
        </p:nvSpPr>
        <p:spPr>
          <a:xfrm>
            <a:off x="457200" y="1280160"/>
            <a:ext cx="329184" cy="329184"/>
          </a:xfrm>
          <a:prstGeom prst="rect">
            <a:avLst/>
          </a:prstGeom>
          <a:noFill/>
          <a:ln/>
        </p:spPr>
        <p:txBody>
          <a:bodyPr wrap="square" lIns="0" tIns="0" rIns="0" bIns="0" rtlCol="0" anchor="ctr"/>
          <a:lstStyle/>
          <a:p>
            <a:pPr marL="0" indent="0" algn="ctr">
              <a:buNone/>
            </a:pPr>
            <a:r>
              <a:rPr lang="fr-FR" sz="1150" b="1" dirty="0">
                <a:solidFill>
                  <a:srgbClr val="0E5A2E"/>
                </a:solidFill>
                <a:latin typeface="Calibri" pitchFamily="34" charset="0"/>
                <a:ea typeface="Calibri" pitchFamily="34" charset="-122"/>
                <a:cs typeface="Calibri" pitchFamily="34" charset="-120"/>
              </a:rPr>
              <a:t>6</a:t>
            </a:r>
          </a:p>
        </p:txBody>
      </p:sp>
      <p:sp>
        <p:nvSpPr>
          <p:cNvPr id="18" name="Text 18"/>
          <p:cNvSpPr txBox="1"/>
          <p:nvPr/>
        </p:nvSpPr>
        <p:spPr>
          <a:xfrm>
            <a:off x="914400" y="1252728"/>
            <a:ext cx="3611880" cy="713232"/>
          </a:xfrm>
          <a:prstGeom prst="rect">
            <a:avLst/>
          </a:prstGeom>
          <a:noFill/>
          <a:ln/>
        </p:spPr>
        <p:txBody>
          <a:bodyPr wrap="square" lIns="0" tIns="0" rIns="0" bIns="0" rtlCol="0" anchor="t"/>
          <a:lstStyle/>
          <a:p>
            <a:pPr marL="0" indent="0">
              <a:buNone/>
            </a:pPr>
            <a:r>
              <a:rPr lang="fr-FR" sz="1250" b="1" dirty="0">
                <a:solidFill>
                  <a:srgbClr val="231F20"/>
                </a:solidFill>
                <a:latin typeface="Calibri" pitchFamily="34" charset="0"/>
                <a:ea typeface="Calibri" pitchFamily="34" charset="-122"/>
                <a:cs typeface="Calibri" pitchFamily="34" charset="-120"/>
              </a:rPr>
              <a:t>Résoudre le puzzle visuel</a:t>
            </a:r>
          </a:p>
          <a:p>
            <a:pPr marL="0" indent="0">
              <a:spcBef>
                <a:spcPts val="100"/>
              </a:spcBef>
              <a:buNone/>
            </a:pPr>
            <a:r>
              <a:rPr lang="fr-FR" sz="1050" dirty="0">
                <a:solidFill>
                  <a:srgbClr val="5A6660"/>
                </a:solidFill>
                <a:latin typeface="Calibri" pitchFamily="34" charset="0"/>
                <a:ea typeface="Calibri" pitchFamily="34" charset="-122"/>
                <a:cs typeface="Calibri" pitchFamily="34" charset="-120"/>
              </a:rPr>
              <a:t>Une courte vérification, ex. choisir ou tourner une image. Puis Create account.</a:t>
            </a:r>
          </a:p>
        </p:txBody>
      </p:sp>
      <p:sp>
        <p:nvSpPr>
          <p:cNvPr id="19" name="Shape 19"/>
          <p:cNvSpPr/>
          <p:nvPr/>
        </p:nvSpPr>
        <p:spPr>
          <a:xfrm>
            <a:off x="457200" y="2029968"/>
            <a:ext cx="329184" cy="329184"/>
          </a:xfrm>
          <a:prstGeom prst="ellipse">
            <a:avLst/>
          </a:prstGeom>
          <a:solidFill>
            <a:srgbClr val="E8F4EB"/>
          </a:solidFill>
          <a:ln w="9525">
            <a:solidFill>
              <a:srgbClr val="D3E2D7"/>
            </a:solidFill>
          </a:ln>
        </p:spPr>
      </p:sp>
      <p:sp>
        <p:nvSpPr>
          <p:cNvPr id="20" name="Text 20"/>
          <p:cNvSpPr txBox="1"/>
          <p:nvPr/>
        </p:nvSpPr>
        <p:spPr>
          <a:xfrm>
            <a:off x="457200" y="2029967"/>
            <a:ext cx="329184" cy="329184"/>
          </a:xfrm>
          <a:prstGeom prst="rect">
            <a:avLst/>
          </a:prstGeom>
          <a:noFill/>
          <a:ln/>
        </p:spPr>
        <p:txBody>
          <a:bodyPr wrap="square" lIns="0" tIns="0" rIns="0" bIns="0" rtlCol="0" anchor="ctr"/>
          <a:lstStyle/>
          <a:p>
            <a:pPr marL="0" indent="0" algn="ctr">
              <a:buNone/>
            </a:pPr>
            <a:r>
              <a:rPr lang="fr-FR" sz="1150" b="1" dirty="0">
                <a:solidFill>
                  <a:srgbClr val="0E5A2E"/>
                </a:solidFill>
                <a:latin typeface="Calibri" pitchFamily="34" charset="0"/>
                <a:ea typeface="Calibri" pitchFamily="34" charset="-122"/>
                <a:cs typeface="Calibri" pitchFamily="34" charset="-120"/>
              </a:rPr>
              <a:t>7</a:t>
            </a:r>
          </a:p>
        </p:txBody>
      </p:sp>
      <p:sp>
        <p:nvSpPr>
          <p:cNvPr id="21" name="Text 21"/>
          <p:cNvSpPr txBox="1"/>
          <p:nvPr/>
        </p:nvSpPr>
        <p:spPr>
          <a:xfrm>
            <a:off x="914400" y="2002536"/>
            <a:ext cx="3611880" cy="713232"/>
          </a:xfrm>
          <a:prstGeom prst="rect">
            <a:avLst/>
          </a:prstGeom>
          <a:noFill/>
          <a:ln/>
        </p:spPr>
        <p:txBody>
          <a:bodyPr wrap="square" lIns="0" tIns="0" rIns="0" bIns="0" rtlCol="0" anchor="t"/>
          <a:lstStyle/>
          <a:p>
            <a:pPr marL="0" indent="0">
              <a:buNone/>
            </a:pPr>
            <a:r>
              <a:rPr lang="fr-FR" sz="1250" b="1" dirty="0">
                <a:solidFill>
                  <a:srgbClr val="231F20"/>
                </a:solidFill>
                <a:latin typeface="Calibri" pitchFamily="34" charset="0"/>
                <a:ea typeface="Calibri" pitchFamily="34" charset="-122"/>
                <a:cs typeface="Calibri" pitchFamily="34" charset="-120"/>
              </a:rPr>
              <a:t>Ouvrir votre boîte Gmail</a:t>
            </a:r>
          </a:p>
          <a:p>
            <a:pPr marL="0" indent="0">
              <a:spcBef>
                <a:spcPts val="100"/>
              </a:spcBef>
              <a:buNone/>
            </a:pPr>
            <a:r>
              <a:rPr lang="fr-FR" sz="1050" dirty="0">
                <a:solidFill>
                  <a:srgbClr val="5A6660"/>
                </a:solidFill>
                <a:latin typeface="Calibri" pitchFamily="34" charset="0"/>
                <a:ea typeface="Calibri" pitchFamily="34" charset="-122"/>
                <a:cs typeface="Calibri" pitchFamily="34" charset="-120"/>
              </a:rPr>
              <a:t>Cherchez l’e-mail de GitHub contenant le code. Vérifiez Spam ou Promotions.</a:t>
            </a:r>
          </a:p>
        </p:txBody>
      </p:sp>
      <p:sp>
        <p:nvSpPr>
          <p:cNvPr id="22" name="Shape 22"/>
          <p:cNvSpPr/>
          <p:nvPr/>
        </p:nvSpPr>
        <p:spPr>
          <a:xfrm>
            <a:off x="457200" y="2779776"/>
            <a:ext cx="329184" cy="329184"/>
          </a:xfrm>
          <a:prstGeom prst="ellipse">
            <a:avLst/>
          </a:prstGeom>
          <a:solidFill>
            <a:srgbClr val="E8F4EB"/>
          </a:solidFill>
          <a:ln w="9525">
            <a:solidFill>
              <a:srgbClr val="D3E2D7"/>
            </a:solidFill>
          </a:ln>
        </p:spPr>
      </p:sp>
      <p:sp>
        <p:nvSpPr>
          <p:cNvPr id="23" name="Text 23"/>
          <p:cNvSpPr txBox="1"/>
          <p:nvPr/>
        </p:nvSpPr>
        <p:spPr>
          <a:xfrm>
            <a:off x="457200" y="2779776"/>
            <a:ext cx="329184" cy="329184"/>
          </a:xfrm>
          <a:prstGeom prst="rect">
            <a:avLst/>
          </a:prstGeom>
          <a:noFill/>
          <a:ln/>
        </p:spPr>
        <p:txBody>
          <a:bodyPr wrap="square" lIns="0" tIns="0" rIns="0" bIns="0" rtlCol="0" anchor="ctr"/>
          <a:lstStyle/>
          <a:p>
            <a:pPr marL="0" indent="0" algn="ctr">
              <a:buNone/>
            </a:pPr>
            <a:r>
              <a:rPr lang="fr-FR" sz="1150" b="1" dirty="0">
                <a:solidFill>
                  <a:srgbClr val="0E5A2E"/>
                </a:solidFill>
                <a:latin typeface="Calibri" pitchFamily="34" charset="0"/>
                <a:ea typeface="Calibri" pitchFamily="34" charset="-122"/>
                <a:cs typeface="Calibri" pitchFamily="34" charset="-120"/>
              </a:rPr>
              <a:t>8</a:t>
            </a:r>
          </a:p>
        </p:txBody>
      </p:sp>
      <p:sp>
        <p:nvSpPr>
          <p:cNvPr id="24" name="Text 24"/>
          <p:cNvSpPr txBox="1"/>
          <p:nvPr/>
        </p:nvSpPr>
        <p:spPr>
          <a:xfrm>
            <a:off x="914400" y="2752344"/>
            <a:ext cx="3611880" cy="713232"/>
          </a:xfrm>
          <a:prstGeom prst="rect">
            <a:avLst/>
          </a:prstGeom>
          <a:noFill/>
          <a:ln/>
        </p:spPr>
        <p:txBody>
          <a:bodyPr wrap="square" lIns="0" tIns="0" rIns="0" bIns="0" rtlCol="0" anchor="t"/>
          <a:lstStyle/>
          <a:p>
            <a:pPr marL="0" indent="0">
              <a:buNone/>
            </a:pPr>
            <a:r>
              <a:rPr lang="fr-FR" sz="1250" b="1" dirty="0">
                <a:solidFill>
                  <a:srgbClr val="231F20"/>
                </a:solidFill>
                <a:latin typeface="Calibri" pitchFamily="34" charset="0"/>
                <a:ea typeface="Calibri" pitchFamily="34" charset="-122"/>
                <a:cs typeface="Calibri" pitchFamily="34" charset="-120"/>
              </a:rPr>
              <a:t>Saisir le code sur GitHub</a:t>
            </a:r>
          </a:p>
          <a:p>
            <a:pPr marL="0" indent="0">
              <a:spcBef>
                <a:spcPts val="100"/>
              </a:spcBef>
              <a:buNone/>
            </a:pPr>
            <a:r>
              <a:rPr lang="fr-FR" sz="1050" dirty="0">
                <a:solidFill>
                  <a:srgbClr val="5A6660"/>
                </a:solidFill>
                <a:latin typeface="Calibri" pitchFamily="34" charset="0"/>
                <a:ea typeface="Calibri" pitchFamily="34" charset="-122"/>
                <a:cs typeface="Calibri" pitchFamily="34" charset="-120"/>
              </a:rPr>
              <a:t>Tapez le code sur la page GitHub. S’il expire, demandez-en un nouveau.</a:t>
            </a:r>
          </a:p>
        </p:txBody>
      </p:sp>
      <p:sp>
        <p:nvSpPr>
          <p:cNvPr id="25" name="Shape 25"/>
          <p:cNvSpPr/>
          <p:nvPr/>
        </p:nvSpPr>
        <p:spPr>
          <a:xfrm>
            <a:off x="457200" y="3529584"/>
            <a:ext cx="329184" cy="329184"/>
          </a:xfrm>
          <a:prstGeom prst="ellipse">
            <a:avLst/>
          </a:prstGeom>
          <a:solidFill>
            <a:srgbClr val="E8F4EB"/>
          </a:solidFill>
          <a:ln w="9525">
            <a:solidFill>
              <a:srgbClr val="D3E2D7"/>
            </a:solidFill>
          </a:ln>
        </p:spPr>
      </p:sp>
      <p:sp>
        <p:nvSpPr>
          <p:cNvPr id="26" name="Text 26"/>
          <p:cNvSpPr txBox="1"/>
          <p:nvPr/>
        </p:nvSpPr>
        <p:spPr>
          <a:xfrm>
            <a:off x="457200" y="3529584"/>
            <a:ext cx="329184" cy="329184"/>
          </a:xfrm>
          <a:prstGeom prst="rect">
            <a:avLst/>
          </a:prstGeom>
          <a:noFill/>
          <a:ln/>
        </p:spPr>
        <p:txBody>
          <a:bodyPr wrap="square" lIns="0" tIns="0" rIns="0" bIns="0" rtlCol="0" anchor="ctr"/>
          <a:lstStyle/>
          <a:p>
            <a:pPr marL="0" indent="0" algn="ctr">
              <a:buNone/>
            </a:pPr>
            <a:r>
              <a:rPr lang="fr-FR" sz="1150" b="1" dirty="0">
                <a:solidFill>
                  <a:srgbClr val="0E5A2E"/>
                </a:solidFill>
                <a:latin typeface="Calibri" pitchFamily="34" charset="0"/>
                <a:ea typeface="Calibri" pitchFamily="34" charset="-122"/>
                <a:cs typeface="Calibri" pitchFamily="34" charset="-120"/>
              </a:rPr>
              <a:t>9</a:t>
            </a:r>
          </a:p>
        </p:txBody>
      </p:sp>
      <p:sp>
        <p:nvSpPr>
          <p:cNvPr id="27" name="Text 27"/>
          <p:cNvSpPr txBox="1"/>
          <p:nvPr/>
        </p:nvSpPr>
        <p:spPr>
          <a:xfrm>
            <a:off x="914400" y="3502152"/>
            <a:ext cx="3611880" cy="713232"/>
          </a:xfrm>
          <a:prstGeom prst="rect">
            <a:avLst/>
          </a:prstGeom>
          <a:noFill/>
          <a:ln/>
        </p:spPr>
        <p:txBody>
          <a:bodyPr wrap="square" lIns="0" tIns="0" rIns="0" bIns="0" rtlCol="0" anchor="t"/>
          <a:lstStyle/>
          <a:p>
            <a:pPr marL="0" indent="0">
              <a:buNone/>
            </a:pPr>
            <a:r>
              <a:rPr lang="fr-FR" sz="1250" b="1" dirty="0">
                <a:solidFill>
                  <a:srgbClr val="231F20"/>
                </a:solidFill>
                <a:latin typeface="Calibri" pitchFamily="34" charset="0"/>
                <a:ea typeface="Calibri" pitchFamily="34" charset="-122"/>
                <a:cs typeface="Calibri" pitchFamily="34" charset="-120"/>
              </a:rPr>
              <a:t>Personnaliser ou passer</a:t>
            </a:r>
          </a:p>
          <a:p>
            <a:pPr marL="0" indent="0">
              <a:spcBef>
                <a:spcPts val="100"/>
              </a:spcBef>
              <a:buNone/>
            </a:pPr>
            <a:r>
              <a:rPr lang="fr-FR" sz="1050" dirty="0">
                <a:solidFill>
                  <a:srgbClr val="5A6660"/>
                </a:solidFill>
                <a:latin typeface="Calibri" pitchFamily="34" charset="0"/>
                <a:ea typeface="Calibri" pitchFamily="34" charset="-122"/>
                <a:cs typeface="Calibri" pitchFamily="34" charset="-120"/>
              </a:rPr>
              <a:t>Répondez aux questions ou passez : vous arrivez sur votre tableau de bord.</a:t>
            </a:r>
          </a:p>
        </p:txBody>
      </p:sp>
      <p:sp>
        <p:nvSpPr>
          <p:cNvPr id="28" name="Shape 28"/>
          <p:cNvSpPr/>
          <p:nvPr/>
        </p:nvSpPr>
        <p:spPr>
          <a:xfrm>
            <a:off x="4892040" y="1234440"/>
            <a:ext cx="3794760" cy="1600200"/>
          </a:xfrm>
          <a:prstGeom prst="roundRect">
            <a:avLst>
              <a:gd name="adj" fmla="val 5000"/>
            </a:avLst>
          </a:prstGeom>
          <a:solidFill>
            <a:srgbClr val="FFFFFF"/>
          </a:solidFill>
          <a:ln w="9525">
            <a:solidFill>
              <a:srgbClr val="D3E2D7"/>
            </a:solidFill>
          </a:ln>
        </p:spPr>
      </p:sp>
      <p:sp>
        <p:nvSpPr>
          <p:cNvPr id="29" name="Shape 29"/>
          <p:cNvSpPr/>
          <p:nvPr/>
        </p:nvSpPr>
        <p:spPr>
          <a:xfrm>
            <a:off x="5074920" y="1417320"/>
            <a:ext cx="457200" cy="457200"/>
          </a:xfrm>
          <a:prstGeom prst="ellipse">
            <a:avLst/>
          </a:prstGeom>
          <a:solidFill>
            <a:srgbClr val="0E5A2E">
              <a:alpha val="18000"/>
            </a:srgbClr>
          </a:solidFill>
          <a:ln>
            <a:noFill/>
          </a:ln>
        </p:spPr>
      </p:sp>
      <p:pic>
        <p:nvPicPr>
          <p:cNvPr id="30" name="Icon 30"/>
          <p:cNvPicPr>
            <a:picLocks noChangeAspect="1"/>
          </p:cNvPicPr>
          <p:nvPr/>
        </p:nvPicPr>
        <p:blipFill>
          <a:blip r:embed="rId3"/>
          <a:stretch>
            <a:fillRect/>
          </a:stretch>
        </p:blipFill>
        <p:spPr>
          <a:xfrm>
            <a:off x="5200650" y="1543050"/>
            <a:ext cx="205740" cy="205740"/>
          </a:xfrm>
          <a:prstGeom prst="rect">
            <a:avLst/>
          </a:prstGeom>
        </p:spPr>
      </p:pic>
      <p:sp>
        <p:nvSpPr>
          <p:cNvPr id="31" name="Text 31"/>
          <p:cNvSpPr txBox="1"/>
          <p:nvPr/>
        </p:nvSpPr>
        <p:spPr>
          <a:xfrm>
            <a:off x="5669279" y="1399032"/>
            <a:ext cx="2880360" cy="502920"/>
          </a:xfrm>
          <a:prstGeom prst="rect">
            <a:avLst/>
          </a:prstGeom>
          <a:noFill/>
          <a:ln/>
        </p:spPr>
        <p:txBody>
          <a:bodyPr wrap="square" lIns="0" tIns="0" rIns="0" bIns="0" rtlCol="0" anchor="ctr"/>
          <a:lstStyle/>
          <a:p>
            <a:pPr marL="0" indent="0">
              <a:buNone/>
            </a:pPr>
            <a:r>
              <a:rPr lang="fr-FR" sz="1000" b="1" dirty="0">
                <a:solidFill>
                  <a:srgbClr val="231F20"/>
                </a:solidFill>
                <a:latin typeface="Calibri" pitchFamily="34" charset="0"/>
                <a:ea typeface="Calibri" pitchFamily="34" charset="-122"/>
                <a:cs typeface="Calibri" pitchFamily="34" charset="-120"/>
              </a:rPr>
              <a:t>GitHub &lt;noreply@github.com&gt;</a:t>
            </a:r>
          </a:p>
          <a:p>
            <a:pPr marL="0" indent="0">
              <a:buNone/>
            </a:pPr>
            <a:r>
              <a:rPr lang="fr-FR" sz="1050" dirty="0">
                <a:solidFill>
                  <a:srgbClr val="231F20"/>
                </a:solidFill>
                <a:latin typeface="Calibri" pitchFamily="34" charset="0"/>
                <a:ea typeface="Calibri" pitchFamily="34" charset="-122"/>
                <a:cs typeface="Calibri" pitchFamily="34" charset="-120"/>
              </a:rPr>
              <a:t>Your GitHub launch code</a:t>
            </a:r>
          </a:p>
        </p:txBody>
      </p:sp>
      <p:sp>
        <p:nvSpPr>
          <p:cNvPr id="32" name="Text 32"/>
          <p:cNvSpPr txBox="1"/>
          <p:nvPr/>
        </p:nvSpPr>
        <p:spPr>
          <a:xfrm>
            <a:off x="5120640" y="2011680"/>
            <a:ext cx="3337560" cy="274320"/>
          </a:xfrm>
          <a:prstGeom prst="rect">
            <a:avLst/>
          </a:prstGeom>
          <a:noFill/>
          <a:ln/>
        </p:spPr>
        <p:txBody>
          <a:bodyPr wrap="square" lIns="0" tIns="0" rIns="0" bIns="0" rtlCol="0" anchor="t"/>
          <a:lstStyle/>
          <a:p>
            <a:pPr marL="0" indent="0">
              <a:buNone/>
            </a:pPr>
            <a:r>
              <a:rPr lang="fr-FR" sz="1000" dirty="0">
                <a:solidFill>
                  <a:srgbClr val="5A6660"/>
                </a:solidFill>
                <a:latin typeface="Calibri" pitchFamily="34" charset="0"/>
                <a:ea typeface="Calibri" pitchFamily="34" charset="-122"/>
                <a:cs typeface="Calibri" pitchFamily="34" charset="-120"/>
              </a:rPr>
              <a:t>Code à saisir sur GitHub pour terminer l’inscription.</a:t>
            </a:r>
          </a:p>
        </p:txBody>
      </p:sp>
      <p:sp>
        <p:nvSpPr>
          <p:cNvPr id="33" name="Shape 33"/>
          <p:cNvSpPr/>
          <p:nvPr/>
        </p:nvSpPr>
        <p:spPr>
          <a:xfrm>
            <a:off x="5120640" y="2331720"/>
            <a:ext cx="3337560" cy="347472"/>
          </a:xfrm>
          <a:prstGeom prst="roundRect">
            <a:avLst>
              <a:gd name="adj" fmla="val 15000"/>
            </a:avLst>
          </a:prstGeom>
          <a:solidFill>
            <a:srgbClr val="E8F4EB"/>
          </a:solidFill>
          <a:ln w="9525">
            <a:solidFill>
              <a:srgbClr val="D3E2D7"/>
            </a:solidFill>
          </a:ln>
        </p:spPr>
      </p:sp>
      <p:sp>
        <p:nvSpPr>
          <p:cNvPr id="34" name="Text 34"/>
          <p:cNvSpPr txBox="1"/>
          <p:nvPr/>
        </p:nvSpPr>
        <p:spPr>
          <a:xfrm>
            <a:off x="5120640" y="2331720"/>
            <a:ext cx="3337560" cy="347472"/>
          </a:xfrm>
          <a:prstGeom prst="rect">
            <a:avLst/>
          </a:prstGeom>
          <a:noFill/>
          <a:ln/>
        </p:spPr>
        <p:txBody>
          <a:bodyPr wrap="square" lIns="0" tIns="0" rIns="0" bIns="0" rtlCol="0" anchor="ctr"/>
          <a:lstStyle/>
          <a:p>
            <a:pPr marL="0" indent="0" algn="ctr">
              <a:buNone/>
            </a:pPr>
            <a:r>
              <a:rPr lang="fr-FR" sz="1400" b="1" dirty="0">
                <a:solidFill>
                  <a:srgbClr val="0E5A2E"/>
                </a:solidFill>
                <a:latin typeface="Calibri" pitchFamily="34" charset="0"/>
                <a:ea typeface="Calibri" pitchFamily="34" charset="-122"/>
                <a:cs typeface="Calibri" pitchFamily="34" charset="-120"/>
              </a:rPr>
              <a:t>• • • • • • • •</a:t>
            </a:r>
          </a:p>
        </p:txBody>
      </p:sp>
      <p:pic>
        <p:nvPicPr>
          <p:cNvPr id="35" name="Icon 35"/>
          <p:cNvPicPr>
            <a:picLocks noChangeAspect="1"/>
          </p:cNvPicPr>
          <p:nvPr/>
        </p:nvPicPr>
        <p:blipFill>
          <a:blip r:embed="rId4"/>
          <a:stretch>
            <a:fillRect/>
          </a:stretch>
        </p:blipFill>
        <p:spPr>
          <a:xfrm>
            <a:off x="6652259" y="2926080"/>
            <a:ext cx="274320" cy="274320"/>
          </a:xfrm>
          <a:prstGeom prst="rect">
            <a:avLst/>
          </a:prstGeom>
        </p:spPr>
      </p:pic>
      <p:sp>
        <p:nvSpPr>
          <p:cNvPr id="36" name="Shape 36"/>
          <p:cNvSpPr/>
          <p:nvPr/>
        </p:nvSpPr>
        <p:spPr>
          <a:xfrm>
            <a:off x="4892040" y="3291840"/>
            <a:ext cx="3794760" cy="960120"/>
          </a:xfrm>
          <a:prstGeom prst="roundRect">
            <a:avLst>
              <a:gd name="adj" fmla="val 6000"/>
            </a:avLst>
          </a:prstGeom>
          <a:solidFill>
            <a:srgbClr val="FFFFFF"/>
          </a:solidFill>
          <a:ln w="9525">
            <a:solidFill>
              <a:srgbClr val="D3E2D7"/>
            </a:solidFill>
          </a:ln>
        </p:spPr>
      </p:sp>
      <p:sp>
        <p:nvSpPr>
          <p:cNvPr id="37" name="Text 37"/>
          <p:cNvSpPr txBox="1"/>
          <p:nvPr/>
        </p:nvSpPr>
        <p:spPr>
          <a:xfrm>
            <a:off x="5120640" y="3364992"/>
            <a:ext cx="3337560" cy="228600"/>
          </a:xfrm>
          <a:prstGeom prst="rect">
            <a:avLst/>
          </a:prstGeom>
          <a:noFill/>
          <a:ln/>
        </p:spPr>
        <p:txBody>
          <a:bodyPr wrap="square" lIns="0" tIns="0" rIns="0" bIns="0" rtlCol="0" anchor="ctr"/>
          <a:lstStyle/>
          <a:p>
            <a:pPr marL="0" indent="0">
              <a:buNone/>
            </a:pPr>
            <a:r>
              <a:rPr lang="fr-FR" sz="1000" b="1" dirty="0">
                <a:solidFill>
                  <a:srgbClr val="231F20"/>
                </a:solidFill>
                <a:latin typeface="Calibri" pitchFamily="34" charset="0"/>
                <a:ea typeface="Calibri" pitchFamily="34" charset="-122"/>
                <a:cs typeface="Calibri" pitchFamily="34" charset="-120"/>
              </a:rPr>
              <a:t>github.com · Enter code</a:t>
            </a:r>
          </a:p>
        </p:txBody>
      </p:sp>
      <p:sp>
        <p:nvSpPr>
          <p:cNvPr id="38" name="Shape 38"/>
          <p:cNvSpPr/>
          <p:nvPr/>
        </p:nvSpPr>
        <p:spPr>
          <a:xfrm>
            <a:off x="5120640" y="3657600"/>
            <a:ext cx="3337560" cy="347472"/>
          </a:xfrm>
          <a:prstGeom prst="roundRect">
            <a:avLst>
              <a:gd name="adj" fmla="val 15000"/>
            </a:avLst>
          </a:prstGeom>
          <a:solidFill>
            <a:srgbClr val="FFFFFF"/>
          </a:solidFill>
          <a:ln w="15875">
            <a:solidFill>
              <a:srgbClr val="2C9045"/>
            </a:solidFill>
          </a:ln>
        </p:spPr>
      </p:sp>
      <p:sp>
        <p:nvSpPr>
          <p:cNvPr id="39" name="Text 39"/>
          <p:cNvSpPr txBox="1"/>
          <p:nvPr/>
        </p:nvSpPr>
        <p:spPr>
          <a:xfrm>
            <a:off x="5120640" y="3657600"/>
            <a:ext cx="3337560" cy="347472"/>
          </a:xfrm>
          <a:prstGeom prst="rect">
            <a:avLst/>
          </a:prstGeom>
          <a:noFill/>
          <a:ln/>
        </p:spPr>
        <p:txBody>
          <a:bodyPr wrap="square" lIns="0" tIns="0" rIns="0" bIns="0" rtlCol="0" anchor="ctr"/>
          <a:lstStyle/>
          <a:p>
            <a:pPr marL="0" indent="0" algn="ctr">
              <a:buNone/>
            </a:pPr>
            <a:r>
              <a:rPr lang="fr-FR" sz="1300" dirty="0">
                <a:solidFill>
                  <a:srgbClr val="5A6660"/>
                </a:solidFill>
                <a:latin typeface="Calibri" pitchFamily="34" charset="0"/>
                <a:ea typeface="Calibri" pitchFamily="34" charset="-122"/>
                <a:cs typeface="Calibri" pitchFamily="34" charset="-120"/>
              </a:rPr>
              <a:t>_  _  _  _  _  _  _  _</a:t>
            </a:r>
          </a:p>
        </p:txBody>
      </p:sp>
      <p:sp>
        <p:nvSpPr>
          <p:cNvPr id="40" name="Text 40"/>
          <p:cNvSpPr txBox="1"/>
          <p:nvPr/>
        </p:nvSpPr>
        <p:spPr>
          <a:xfrm>
            <a:off x="4892040" y="4325112"/>
            <a:ext cx="3794760" cy="201168"/>
          </a:xfrm>
          <a:prstGeom prst="rect">
            <a:avLst/>
          </a:prstGeom>
          <a:noFill/>
          <a:ln/>
        </p:spPr>
        <p:txBody>
          <a:bodyPr wrap="square" lIns="0" tIns="0" rIns="0" bIns="0" rtlCol="0" anchor="t"/>
          <a:lstStyle/>
          <a:p>
            <a:pPr marL="0" indent="0">
              <a:buNone/>
            </a:pPr>
            <a:r>
              <a:rPr lang="fr-FR" sz="900" i="1" dirty="0">
                <a:solidFill>
                  <a:srgbClr val="5A6660"/>
                </a:solidFill>
                <a:latin typeface="Calibri" pitchFamily="34" charset="0"/>
                <a:ea typeface="Calibri" pitchFamily="34" charset="-122"/>
                <a:cs typeface="Calibri" pitchFamily="34" charset="-120"/>
              </a:rPr>
              <a:t>Illustration schématique — la page réelle peut légèrement différer.</a:t>
            </a: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fr-FR" sz="1050" b="1" kern="0" spc="300" dirty="0">
                <a:solidFill>
                  <a:srgbClr val="0E5A2E"/>
                </a:solidFill>
                <a:latin typeface="Calibri" pitchFamily="34" charset="0"/>
                <a:ea typeface="Calibri" pitchFamily="34" charset="-122"/>
                <a:cs typeface="Calibri" pitchFamily="34" charset="-120"/>
              </a:rPr>
              <a:t>00 · CRÉER UN COMPTE</a:t>
            </a:r>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fr-FR" sz="2800" b="1" dirty="0">
                <a:solidFill>
                  <a:srgbClr val="231F20"/>
                </a:solidFill>
                <a:latin typeface="Calibri" pitchFamily="34" charset="0"/>
                <a:ea typeface="Calibri" pitchFamily="34" charset="-122"/>
                <a:cs typeface="Calibri" pitchFamily="34" charset="-120"/>
              </a:rPr>
              <a:t>Votre compte est prêt : sécurisez-le</a:t>
            </a:r>
          </a:p>
        </p:txBody>
      </p:sp>
      <p:sp>
        <p:nvSpPr>
          <p:cNvPr id="8" name="Shape 6"/>
          <p:cNvSpPr/>
          <p:nvPr/>
        </p:nvSpPr>
        <p:spPr>
          <a:xfrm>
            <a:off x="7543800" y="365760"/>
            <a:ext cx="109728" cy="109728"/>
          </a:xfrm>
          <a:prstGeom prst="ellipse">
            <a:avLst/>
          </a:prstGeom>
          <a:solidFill>
            <a:srgbClr val="D3E2D7"/>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D3E2D7"/>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fr-FR" sz="850" dirty="0">
                <a:solidFill>
                  <a:srgbClr val="8A968F"/>
                </a:solidFill>
                <a:latin typeface="Calibri" pitchFamily="34" charset="0"/>
                <a:ea typeface="Calibri" pitchFamily="34" charset="-122"/>
                <a:cs typeface="Calibri" pitchFamily="34" charset="-120"/>
              </a:rPr>
              <a:t>Générer une clé API GitHub · BAD – Data Innovation for Africa (DI4A)</a:t>
            </a:r>
            <a:endParaRPr lang="fr-FR"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fr-FR" sz="850" dirty="0">
                <a:solidFill>
                  <a:srgbClr val="8A968F"/>
                </a:solidFill>
                <a:latin typeface="Calibri" pitchFamily="34" charset="0"/>
                <a:ea typeface="Calibri" pitchFamily="34" charset="-122"/>
                <a:cs typeface="Calibri" pitchFamily="34" charset="-120"/>
              </a:rPr>
              <a:t>8</a:t>
            </a:r>
            <a:endParaRPr lang="fr-FR" sz="850" dirty="0"/>
          </a:p>
        </p:txBody>
      </p:sp>
      <p:sp>
        <p:nvSpPr>
          <p:cNvPr id="16" name="Shape 16"/>
          <p:cNvSpPr/>
          <p:nvPr/>
        </p:nvSpPr>
        <p:spPr>
          <a:xfrm>
            <a:off x="457200" y="1280160"/>
            <a:ext cx="3977640" cy="1325880"/>
          </a:xfrm>
          <a:prstGeom prst="roundRect">
            <a:avLst>
              <a:gd name="adj" fmla="val 5000"/>
            </a:avLst>
          </a:prstGeom>
          <a:solidFill>
            <a:srgbClr val="F4F8F5"/>
          </a:solidFill>
          <a:ln w="9525">
            <a:solidFill>
              <a:srgbClr val="D3E2D7"/>
            </a:solidFill>
          </a:ln>
        </p:spPr>
      </p:sp>
      <p:sp>
        <p:nvSpPr>
          <p:cNvPr id="17" name="Shape 17"/>
          <p:cNvSpPr/>
          <p:nvPr/>
        </p:nvSpPr>
        <p:spPr>
          <a:xfrm>
            <a:off x="685800" y="1536192"/>
            <a:ext cx="548640" cy="548640"/>
          </a:xfrm>
          <a:prstGeom prst="ellipse">
            <a:avLst/>
          </a:prstGeom>
          <a:solidFill>
            <a:srgbClr val="2C9045">
              <a:alpha val="20000"/>
            </a:srgbClr>
          </a:solidFill>
          <a:ln>
            <a:noFill/>
          </a:ln>
        </p:spPr>
      </p:sp>
      <p:pic>
        <p:nvPicPr>
          <p:cNvPr id="18" name="Icon 18"/>
          <p:cNvPicPr>
            <a:picLocks noChangeAspect="1"/>
          </p:cNvPicPr>
          <p:nvPr/>
        </p:nvPicPr>
        <p:blipFill>
          <a:blip r:embed="rId3"/>
          <a:stretch>
            <a:fillRect/>
          </a:stretch>
        </p:blipFill>
        <p:spPr>
          <a:xfrm>
            <a:off x="836676" y="1687068"/>
            <a:ext cx="246888" cy="246888"/>
          </a:xfrm>
          <a:prstGeom prst="rect">
            <a:avLst/>
          </a:prstGeom>
        </p:spPr>
      </p:pic>
      <p:sp>
        <p:nvSpPr>
          <p:cNvPr id="19" name="Text 19"/>
          <p:cNvSpPr txBox="1"/>
          <p:nvPr/>
        </p:nvSpPr>
        <p:spPr>
          <a:xfrm>
            <a:off x="1417320" y="1481328"/>
            <a:ext cx="2834640" cy="320040"/>
          </a:xfrm>
          <a:prstGeom prst="rect">
            <a:avLst/>
          </a:prstGeom>
          <a:noFill/>
          <a:ln/>
        </p:spPr>
        <p:txBody>
          <a:bodyPr wrap="square" lIns="0" tIns="0" rIns="0" bIns="0" rtlCol="0" anchor="ctr"/>
          <a:lstStyle/>
          <a:p>
            <a:pPr marL="0" indent="0">
              <a:buNone/>
            </a:pPr>
            <a:r>
              <a:rPr lang="fr-FR" sz="1400" b="1" dirty="0">
                <a:solidFill>
                  <a:srgbClr val="231F20"/>
                </a:solidFill>
                <a:latin typeface="Calibri" pitchFamily="34" charset="0"/>
                <a:ea typeface="Calibri" pitchFamily="34" charset="-122"/>
                <a:cs typeface="Calibri" pitchFamily="34" charset="-120"/>
              </a:rPr>
              <a:t>Garder l’e-mail vérifié</a:t>
            </a:r>
          </a:p>
        </p:txBody>
      </p:sp>
      <p:sp>
        <p:nvSpPr>
          <p:cNvPr id="20" name="Text 20"/>
          <p:cNvSpPr txBox="1"/>
          <p:nvPr/>
        </p:nvSpPr>
        <p:spPr>
          <a:xfrm>
            <a:off x="1417320" y="1828800"/>
            <a:ext cx="2834640" cy="685800"/>
          </a:xfrm>
          <a:prstGeom prst="rect">
            <a:avLst/>
          </a:prstGeom>
          <a:noFill/>
          <a:ln/>
        </p:spPr>
        <p:txBody>
          <a:bodyPr wrap="square" lIns="0" tIns="0" rIns="0" bIns="0" rtlCol="0" anchor="t"/>
          <a:lstStyle/>
          <a:p>
            <a:pPr marL="0" indent="0">
              <a:buNone/>
            </a:pPr>
            <a:r>
              <a:rPr lang="fr-FR" sz="1100" dirty="0">
                <a:solidFill>
                  <a:srgbClr val="5A6660"/>
                </a:solidFill>
                <a:latin typeface="Calibri" pitchFamily="34" charset="0"/>
                <a:ea typeface="Calibri" pitchFamily="34" charset="-122"/>
                <a:cs typeface="Calibri" pitchFamily="34" charset="-120"/>
              </a:rPr>
              <a:t>Un e-mail vérifié est requis pour des tâches de base, comme créer un dépôt.</a:t>
            </a:r>
          </a:p>
        </p:txBody>
      </p:sp>
      <p:sp>
        <p:nvSpPr>
          <p:cNvPr id="21" name="Shape 21"/>
          <p:cNvSpPr/>
          <p:nvPr/>
        </p:nvSpPr>
        <p:spPr>
          <a:xfrm>
            <a:off x="4709160" y="1280160"/>
            <a:ext cx="3977640" cy="1325880"/>
          </a:xfrm>
          <a:prstGeom prst="roundRect">
            <a:avLst>
              <a:gd name="adj" fmla="val 5000"/>
            </a:avLst>
          </a:prstGeom>
          <a:solidFill>
            <a:srgbClr val="F4F8F5"/>
          </a:solidFill>
          <a:ln w="9525">
            <a:solidFill>
              <a:srgbClr val="D3E2D7"/>
            </a:solidFill>
          </a:ln>
        </p:spPr>
      </p:sp>
      <p:sp>
        <p:nvSpPr>
          <p:cNvPr id="22" name="Shape 22"/>
          <p:cNvSpPr/>
          <p:nvPr/>
        </p:nvSpPr>
        <p:spPr>
          <a:xfrm>
            <a:off x="4937760" y="1536192"/>
            <a:ext cx="548640" cy="548640"/>
          </a:xfrm>
          <a:prstGeom prst="ellipse">
            <a:avLst/>
          </a:prstGeom>
          <a:solidFill>
            <a:srgbClr val="0E7C86">
              <a:alpha val="20000"/>
            </a:srgbClr>
          </a:solidFill>
          <a:ln>
            <a:noFill/>
          </a:ln>
        </p:spPr>
      </p:sp>
      <p:pic>
        <p:nvPicPr>
          <p:cNvPr id="23" name="Icon 23"/>
          <p:cNvPicPr>
            <a:picLocks noChangeAspect="1"/>
          </p:cNvPicPr>
          <p:nvPr/>
        </p:nvPicPr>
        <p:blipFill>
          <a:blip r:embed="rId4"/>
          <a:stretch>
            <a:fillRect/>
          </a:stretch>
        </p:blipFill>
        <p:spPr>
          <a:xfrm>
            <a:off x="5088636" y="1687068"/>
            <a:ext cx="246888" cy="246888"/>
          </a:xfrm>
          <a:prstGeom prst="rect">
            <a:avLst/>
          </a:prstGeom>
        </p:spPr>
      </p:pic>
      <p:sp>
        <p:nvSpPr>
          <p:cNvPr id="24" name="Text 24"/>
          <p:cNvSpPr txBox="1"/>
          <p:nvPr/>
        </p:nvSpPr>
        <p:spPr>
          <a:xfrm>
            <a:off x="5669280" y="1481328"/>
            <a:ext cx="2834640" cy="320040"/>
          </a:xfrm>
          <a:prstGeom prst="rect">
            <a:avLst/>
          </a:prstGeom>
          <a:noFill/>
          <a:ln/>
        </p:spPr>
        <p:txBody>
          <a:bodyPr wrap="square" lIns="0" tIns="0" rIns="0" bIns="0" rtlCol="0" anchor="ctr"/>
          <a:lstStyle/>
          <a:p>
            <a:pPr marL="0" indent="0">
              <a:buNone/>
            </a:pPr>
            <a:r>
              <a:rPr lang="fr-FR" sz="1400" b="1" dirty="0">
                <a:solidFill>
                  <a:srgbClr val="231F20"/>
                </a:solidFill>
                <a:latin typeface="Calibri" pitchFamily="34" charset="0"/>
                <a:ea typeface="Calibri" pitchFamily="34" charset="-122"/>
                <a:cs typeface="Calibri" pitchFamily="34" charset="-120"/>
              </a:rPr>
              <a:t>Activer la double authentification</a:t>
            </a:r>
          </a:p>
        </p:txBody>
      </p:sp>
      <p:sp>
        <p:nvSpPr>
          <p:cNvPr id="25" name="Text 25"/>
          <p:cNvSpPr txBox="1"/>
          <p:nvPr/>
        </p:nvSpPr>
        <p:spPr>
          <a:xfrm>
            <a:off x="5669280" y="1828800"/>
            <a:ext cx="2834640" cy="685800"/>
          </a:xfrm>
          <a:prstGeom prst="rect">
            <a:avLst/>
          </a:prstGeom>
          <a:noFill/>
          <a:ln/>
        </p:spPr>
        <p:txBody>
          <a:bodyPr wrap="square" lIns="0" tIns="0" rIns="0" bIns="0" rtlCol="0" anchor="t"/>
          <a:lstStyle/>
          <a:p>
            <a:pPr marL="0" indent="0">
              <a:buNone/>
            </a:pPr>
            <a:r>
              <a:rPr lang="fr-FR" sz="1100" dirty="0">
                <a:solidFill>
                  <a:srgbClr val="5A6660"/>
                </a:solidFill>
                <a:latin typeface="Calibri" pitchFamily="34" charset="0"/>
                <a:ea typeface="Calibri" pitchFamily="34" charset="-122"/>
                <a:cs typeface="Calibri" pitchFamily="34" charset="-120"/>
              </a:rPr>
              <a:t>Vivement recommandée par GitHub : Settings › Password and authentication.</a:t>
            </a:r>
          </a:p>
        </p:txBody>
      </p:sp>
      <p:sp>
        <p:nvSpPr>
          <p:cNvPr id="26" name="Shape 26"/>
          <p:cNvSpPr/>
          <p:nvPr/>
        </p:nvSpPr>
        <p:spPr>
          <a:xfrm>
            <a:off x="457200" y="2788920"/>
            <a:ext cx="3977640" cy="1325880"/>
          </a:xfrm>
          <a:prstGeom prst="roundRect">
            <a:avLst>
              <a:gd name="adj" fmla="val 5000"/>
            </a:avLst>
          </a:prstGeom>
          <a:solidFill>
            <a:srgbClr val="F4F8F5"/>
          </a:solidFill>
          <a:ln w="9525">
            <a:solidFill>
              <a:srgbClr val="D3E2D7"/>
            </a:solidFill>
          </a:ln>
        </p:spPr>
      </p:sp>
      <p:sp>
        <p:nvSpPr>
          <p:cNvPr id="27" name="Shape 27"/>
          <p:cNvSpPr/>
          <p:nvPr/>
        </p:nvSpPr>
        <p:spPr>
          <a:xfrm>
            <a:off x="685800" y="3044952"/>
            <a:ext cx="548640" cy="548640"/>
          </a:xfrm>
          <a:prstGeom prst="ellipse">
            <a:avLst/>
          </a:prstGeom>
          <a:solidFill>
            <a:srgbClr val="D49A00">
              <a:alpha val="20000"/>
            </a:srgbClr>
          </a:solidFill>
          <a:ln>
            <a:noFill/>
          </a:ln>
        </p:spPr>
      </p:sp>
      <p:pic>
        <p:nvPicPr>
          <p:cNvPr id="28" name="Icon 28"/>
          <p:cNvPicPr>
            <a:picLocks noChangeAspect="1"/>
          </p:cNvPicPr>
          <p:nvPr/>
        </p:nvPicPr>
        <p:blipFill>
          <a:blip r:embed="rId5"/>
          <a:stretch>
            <a:fillRect/>
          </a:stretch>
        </p:blipFill>
        <p:spPr>
          <a:xfrm>
            <a:off x="836676" y="3195828"/>
            <a:ext cx="246888" cy="246888"/>
          </a:xfrm>
          <a:prstGeom prst="rect">
            <a:avLst/>
          </a:prstGeom>
        </p:spPr>
      </p:pic>
      <p:sp>
        <p:nvSpPr>
          <p:cNvPr id="29" name="Text 29"/>
          <p:cNvSpPr txBox="1"/>
          <p:nvPr/>
        </p:nvSpPr>
        <p:spPr>
          <a:xfrm>
            <a:off x="1417320" y="2990088"/>
            <a:ext cx="2834640" cy="320040"/>
          </a:xfrm>
          <a:prstGeom prst="rect">
            <a:avLst/>
          </a:prstGeom>
          <a:noFill/>
          <a:ln/>
        </p:spPr>
        <p:txBody>
          <a:bodyPr wrap="square" lIns="0" tIns="0" rIns="0" bIns="0" rtlCol="0" anchor="ctr"/>
          <a:lstStyle/>
          <a:p>
            <a:pPr marL="0" indent="0">
              <a:buNone/>
            </a:pPr>
            <a:r>
              <a:rPr lang="fr-FR" sz="1400" b="1" dirty="0">
                <a:solidFill>
                  <a:srgbClr val="231F20"/>
                </a:solidFill>
                <a:latin typeface="Calibri" pitchFamily="34" charset="0"/>
                <a:ea typeface="Calibri" pitchFamily="34" charset="-122"/>
                <a:cs typeface="Calibri" pitchFamily="34" charset="-120"/>
              </a:rPr>
              <a:t>Soigner votre profil</a:t>
            </a:r>
          </a:p>
        </p:txBody>
      </p:sp>
      <p:sp>
        <p:nvSpPr>
          <p:cNvPr id="30" name="Text 30"/>
          <p:cNvSpPr txBox="1"/>
          <p:nvPr/>
        </p:nvSpPr>
        <p:spPr>
          <a:xfrm>
            <a:off x="1417320" y="3337560"/>
            <a:ext cx="2834640" cy="685800"/>
          </a:xfrm>
          <a:prstGeom prst="rect">
            <a:avLst/>
          </a:prstGeom>
          <a:noFill/>
          <a:ln/>
        </p:spPr>
        <p:txBody>
          <a:bodyPr wrap="square" lIns="0" tIns="0" rIns="0" bIns="0" rtlCol="0" anchor="t"/>
          <a:lstStyle/>
          <a:p>
            <a:pPr marL="0" indent="0">
              <a:buNone/>
            </a:pPr>
            <a:r>
              <a:rPr lang="fr-FR" sz="1100" dirty="0">
                <a:solidFill>
                  <a:srgbClr val="5A6660"/>
                </a:solidFill>
                <a:latin typeface="Calibri" pitchFamily="34" charset="0"/>
                <a:ea typeface="Calibri" pitchFamily="34" charset="-122"/>
                <a:cs typeface="Calibri" pitchFamily="34" charset="-120"/>
              </a:rPr>
              <a:t>Ajoutez nom et institution pour que votre équipe vous retrouve.</a:t>
            </a:r>
          </a:p>
        </p:txBody>
      </p:sp>
      <p:sp>
        <p:nvSpPr>
          <p:cNvPr id="31" name="Shape 31"/>
          <p:cNvSpPr/>
          <p:nvPr/>
        </p:nvSpPr>
        <p:spPr>
          <a:xfrm>
            <a:off x="4709160" y="2788920"/>
            <a:ext cx="3977640" cy="1325880"/>
          </a:xfrm>
          <a:prstGeom prst="roundRect">
            <a:avLst>
              <a:gd name="adj" fmla="val 5000"/>
            </a:avLst>
          </a:prstGeom>
          <a:solidFill>
            <a:srgbClr val="F4F8F5"/>
          </a:solidFill>
          <a:ln w="9525">
            <a:solidFill>
              <a:srgbClr val="D3E2D7"/>
            </a:solidFill>
          </a:ln>
        </p:spPr>
      </p:sp>
      <p:sp>
        <p:nvSpPr>
          <p:cNvPr id="32" name="Shape 32"/>
          <p:cNvSpPr/>
          <p:nvPr/>
        </p:nvSpPr>
        <p:spPr>
          <a:xfrm>
            <a:off x="4937760" y="3044952"/>
            <a:ext cx="548640" cy="548640"/>
          </a:xfrm>
          <a:prstGeom prst="ellipse">
            <a:avLst/>
          </a:prstGeom>
          <a:solidFill>
            <a:srgbClr val="B83B2E">
              <a:alpha val="20000"/>
            </a:srgbClr>
          </a:solidFill>
          <a:ln>
            <a:noFill/>
          </a:ln>
        </p:spPr>
      </p:sp>
      <p:pic>
        <p:nvPicPr>
          <p:cNvPr id="33" name="Icon 33"/>
          <p:cNvPicPr>
            <a:picLocks noChangeAspect="1"/>
          </p:cNvPicPr>
          <p:nvPr/>
        </p:nvPicPr>
        <p:blipFill>
          <a:blip r:embed="rId6"/>
          <a:stretch>
            <a:fillRect/>
          </a:stretch>
        </p:blipFill>
        <p:spPr>
          <a:xfrm>
            <a:off x="5088636" y="3195828"/>
            <a:ext cx="246888" cy="246888"/>
          </a:xfrm>
          <a:prstGeom prst="rect">
            <a:avLst/>
          </a:prstGeom>
        </p:spPr>
      </p:pic>
      <p:sp>
        <p:nvSpPr>
          <p:cNvPr id="34" name="Text 34"/>
          <p:cNvSpPr txBox="1"/>
          <p:nvPr/>
        </p:nvSpPr>
        <p:spPr>
          <a:xfrm>
            <a:off x="5669280" y="2990088"/>
            <a:ext cx="2834640" cy="320040"/>
          </a:xfrm>
          <a:prstGeom prst="rect">
            <a:avLst/>
          </a:prstGeom>
          <a:noFill/>
          <a:ln/>
        </p:spPr>
        <p:txBody>
          <a:bodyPr wrap="square" lIns="0" tIns="0" rIns="0" bIns="0" rtlCol="0" anchor="ctr"/>
          <a:lstStyle/>
          <a:p>
            <a:pPr marL="0" indent="0">
              <a:buNone/>
            </a:pPr>
            <a:r>
              <a:rPr lang="fr-FR" sz="1400" b="1" dirty="0">
                <a:solidFill>
                  <a:srgbClr val="231F20"/>
                </a:solidFill>
                <a:latin typeface="Calibri" pitchFamily="34" charset="0"/>
                <a:ea typeface="Calibri" pitchFamily="34" charset="-122"/>
                <a:cs typeface="Calibri" pitchFamily="34" charset="-120"/>
              </a:rPr>
              <a:t>Le plan gratuit suffit</a:t>
            </a:r>
          </a:p>
        </p:txBody>
      </p:sp>
      <p:sp>
        <p:nvSpPr>
          <p:cNvPr id="35" name="Text 35"/>
          <p:cNvSpPr txBox="1"/>
          <p:nvPr/>
        </p:nvSpPr>
        <p:spPr>
          <a:xfrm>
            <a:off x="5669280" y="3337560"/>
            <a:ext cx="2834640" cy="685800"/>
          </a:xfrm>
          <a:prstGeom prst="rect">
            <a:avLst/>
          </a:prstGeom>
          <a:noFill/>
          <a:ln/>
        </p:spPr>
        <p:txBody>
          <a:bodyPr wrap="square" lIns="0" tIns="0" rIns="0" bIns="0" rtlCol="0" anchor="t"/>
          <a:lstStyle/>
          <a:p>
            <a:pPr marL="0" indent="0">
              <a:buNone/>
            </a:pPr>
            <a:r>
              <a:rPr lang="fr-FR" sz="1100" dirty="0">
                <a:solidFill>
                  <a:srgbClr val="5A6660"/>
                </a:solidFill>
                <a:latin typeface="Calibri" pitchFamily="34" charset="0"/>
                <a:ea typeface="Calibri" pitchFamily="34" charset="-122"/>
                <a:cs typeface="Calibri" pitchFamily="34" charset="-120"/>
              </a:rPr>
              <a:t>Dépôts publics et privés sans frais : aucune donnée de paiement requise.</a:t>
            </a:r>
          </a:p>
        </p:txBody>
      </p:sp>
      <p:sp>
        <p:nvSpPr>
          <p:cNvPr id="36" name="Text 36"/>
          <p:cNvSpPr txBox="1"/>
          <p:nvPr/>
        </p:nvSpPr>
        <p:spPr>
          <a:xfrm>
            <a:off x="457200" y="4206240"/>
            <a:ext cx="6035040" cy="292608"/>
          </a:xfrm>
          <a:prstGeom prst="rect">
            <a:avLst/>
          </a:prstGeom>
          <a:noFill/>
          <a:ln/>
        </p:spPr>
        <p:txBody>
          <a:bodyPr wrap="square" lIns="0" tIns="0" rIns="0" bIns="0" rtlCol="0" anchor="ctr"/>
          <a:lstStyle/>
          <a:p>
            <a:pPr marL="0" indent="0">
              <a:buNone/>
            </a:pPr>
            <a:r>
              <a:rPr lang="fr-FR" sz="850" i="1" dirty="0">
                <a:solidFill>
                  <a:srgbClr val="5A6660"/>
                </a:solidFill>
                <a:latin typeface="Calibri" pitchFamily="34" charset="0"/>
                <a:ea typeface="Calibri" pitchFamily="34" charset="-122"/>
                <a:cs typeface="Calibri" pitchFamily="34" charset="-120"/>
              </a:rPr>
              <a:t>Sources : GitHub Docs — « Creating an account on GitHub », « Creating a strong password », « Verifying your email address ».</a:t>
            </a:r>
          </a:p>
        </p:txBody>
      </p:sp>
      <p:sp>
        <p:nvSpPr>
          <p:cNvPr id="37" name="Shape 37"/>
          <p:cNvSpPr/>
          <p:nvPr/>
        </p:nvSpPr>
        <p:spPr>
          <a:xfrm>
            <a:off x="6629400" y="4206240"/>
            <a:ext cx="2057400" cy="292608"/>
          </a:xfrm>
          <a:prstGeom prst="roundRect">
            <a:avLst>
              <a:gd name="adj" fmla="val 50000"/>
            </a:avLst>
          </a:prstGeom>
          <a:solidFill>
            <a:srgbClr val="2C9045"/>
          </a:solidFill>
          <a:ln>
            <a:noFill/>
          </a:ln>
        </p:spPr>
      </p:sp>
      <p:sp>
        <p:nvSpPr>
          <p:cNvPr id="38" name="Text 38"/>
          <p:cNvSpPr txBox="1"/>
          <p:nvPr/>
        </p:nvSpPr>
        <p:spPr>
          <a:xfrm>
            <a:off x="6629400" y="4206240"/>
            <a:ext cx="2057400" cy="292608"/>
          </a:xfrm>
          <a:prstGeom prst="rect">
            <a:avLst/>
          </a:prstGeom>
          <a:noFill/>
          <a:ln/>
        </p:spPr>
        <p:txBody>
          <a:bodyPr wrap="square" lIns="0" tIns="0" rIns="0" bIns="0" rtlCol="0" anchor="ctr"/>
          <a:lstStyle/>
          <a:p>
            <a:pPr marL="0" indent="0" algn="ctr">
              <a:buNone/>
            </a:pPr>
            <a:r>
              <a:rPr lang="fr-FR" sz="950" b="1" dirty="0">
                <a:solidFill>
                  <a:srgbClr val="FFFFFF"/>
                </a:solidFill>
                <a:latin typeface="Calibri" pitchFamily="34" charset="0"/>
                <a:ea typeface="Calibri" pitchFamily="34" charset="-122"/>
                <a:cs typeface="Calibri" pitchFamily="34" charset="-120"/>
              </a:rPr>
              <a:t>Suite : générer votre clé API ›</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fr-FR" sz="1050" b="1" kern="0" spc="300" dirty="0">
                <a:solidFill>
                  <a:srgbClr val="0E5A2E"/>
                </a:solidFill>
                <a:latin typeface="Calibri" pitchFamily="34" charset="0"/>
                <a:ea typeface="Calibri" pitchFamily="34" charset="-122"/>
                <a:cs typeface="Calibri" pitchFamily="34" charset="-120"/>
              </a:rPr>
              <a:t>01 · PARAMÈTRES</a:t>
            </a:r>
            <a:endParaRPr lang="fr-FR" sz="1050" dirty="0"/>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fr-FR" sz="2800" b="1" dirty="0">
                <a:solidFill>
                  <a:srgbClr val="231F20"/>
                </a:solidFill>
                <a:latin typeface="Calibri" pitchFamily="34" charset="0"/>
                <a:ea typeface="Calibri" pitchFamily="34" charset="-122"/>
                <a:cs typeface="Calibri" pitchFamily="34" charset="-120"/>
              </a:rPr>
              <a:t>Ouvrir le menu du compte</a:t>
            </a:r>
            <a:endParaRPr lang="fr-FR" sz="2800" dirty="0"/>
          </a:p>
        </p:txBody>
      </p:sp>
      <p:sp>
        <p:nvSpPr>
          <p:cNvPr id="8" name="Shape 6"/>
          <p:cNvSpPr/>
          <p:nvPr/>
        </p:nvSpPr>
        <p:spPr>
          <a:xfrm>
            <a:off x="7543800" y="365760"/>
            <a:ext cx="109728" cy="109728"/>
          </a:xfrm>
          <a:prstGeom prst="ellipse">
            <a:avLst/>
          </a:prstGeom>
          <a:solidFill>
            <a:srgbClr val="2C9045"/>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D3E2D7"/>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fr-FR" sz="850" dirty="0">
                <a:solidFill>
                  <a:srgbClr val="8A968F"/>
                </a:solidFill>
                <a:latin typeface="Calibri" pitchFamily="34" charset="0"/>
                <a:ea typeface="Calibri" pitchFamily="34" charset="-122"/>
                <a:cs typeface="Calibri" pitchFamily="34" charset="-120"/>
              </a:rPr>
              <a:t>Générer une clé API GitHub · BAD – Data Innovation for Africa (DI4A)</a:t>
            </a:r>
            <a:endParaRPr lang="fr-FR"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fr-FR" sz="850" dirty="0">
                <a:solidFill>
                  <a:srgbClr val="8A968F"/>
                </a:solidFill>
                <a:latin typeface="Calibri" pitchFamily="34" charset="0"/>
                <a:ea typeface="Calibri" pitchFamily="34" charset="-122"/>
                <a:cs typeface="Calibri" pitchFamily="34" charset="-120"/>
              </a:rPr>
              <a:t>9</a:t>
            </a:r>
            <a:endParaRPr lang="fr-FR" sz="850" dirty="0"/>
          </a:p>
        </p:txBody>
      </p:sp>
      <p:sp>
        <p:nvSpPr>
          <p:cNvPr id="16" name="Shape 14"/>
          <p:cNvSpPr/>
          <p:nvPr/>
        </p:nvSpPr>
        <p:spPr>
          <a:xfrm>
            <a:off x="457200" y="1371600"/>
            <a:ext cx="457200" cy="457200"/>
          </a:xfrm>
          <a:prstGeom prst="ellipse">
            <a:avLst/>
          </a:prstGeom>
          <a:solidFill>
            <a:srgbClr val="2C9045">
              <a:alpha val="22000"/>
            </a:srgbClr>
          </a:solidFill>
          <a:ln/>
        </p:spPr>
      </p:sp>
      <p:pic>
        <p:nvPicPr>
          <p:cNvPr id="17" name="Image 0" descr="preencoded.png"/>
          <p:cNvPicPr>
            <a:picLocks noChangeAspect="1"/>
          </p:cNvPicPr>
          <p:nvPr/>
        </p:nvPicPr>
        <p:blipFill>
          <a:blip r:embed="rId3"/>
          <a:stretch>
            <a:fillRect/>
          </a:stretch>
        </p:blipFill>
        <p:spPr>
          <a:xfrm>
            <a:off x="585216" y="1499616"/>
            <a:ext cx="201168" cy="201168"/>
          </a:xfrm>
          <a:prstGeom prst="rect">
            <a:avLst/>
          </a:prstGeom>
        </p:spPr>
      </p:pic>
      <p:sp>
        <p:nvSpPr>
          <p:cNvPr id="18" name="Text 15"/>
          <p:cNvSpPr txBox="1"/>
          <p:nvPr/>
        </p:nvSpPr>
        <p:spPr>
          <a:xfrm>
            <a:off x="1024128" y="1353312"/>
            <a:ext cx="2514600" cy="274320"/>
          </a:xfrm>
          <a:prstGeom prst="rect">
            <a:avLst/>
          </a:prstGeom>
          <a:noFill/>
          <a:ln/>
        </p:spPr>
        <p:txBody>
          <a:bodyPr wrap="square" lIns="0" tIns="0" rIns="0" bIns="0" rtlCol="0" anchor="ctr"/>
          <a:lstStyle/>
          <a:p>
            <a:pPr marL="0" indent="0">
              <a:buNone/>
            </a:pPr>
            <a:r>
              <a:rPr lang="fr-FR" sz="1300" b="1" dirty="0">
                <a:solidFill>
                  <a:srgbClr val="231F20"/>
                </a:solidFill>
                <a:latin typeface="Calibri" pitchFamily="34" charset="0"/>
                <a:ea typeface="Calibri" pitchFamily="34" charset="-122"/>
                <a:cs typeface="Calibri" pitchFamily="34" charset="-120"/>
              </a:rPr>
              <a:t>Se connecter à GitHub</a:t>
            </a:r>
            <a:endParaRPr lang="fr-FR" sz="1300" dirty="0"/>
          </a:p>
        </p:txBody>
      </p:sp>
      <p:sp>
        <p:nvSpPr>
          <p:cNvPr id="19" name="Text 16"/>
          <p:cNvSpPr txBox="1"/>
          <p:nvPr/>
        </p:nvSpPr>
        <p:spPr>
          <a:xfrm>
            <a:off x="1024128" y="1627632"/>
            <a:ext cx="2514600" cy="438912"/>
          </a:xfrm>
          <a:prstGeom prst="rect">
            <a:avLst/>
          </a:prstGeom>
          <a:noFill/>
          <a:ln/>
        </p:spPr>
        <p:txBody>
          <a:bodyPr wrap="square" lIns="0" tIns="0" rIns="0" bIns="0" rtlCol="0" anchor="t"/>
          <a:lstStyle/>
          <a:p>
            <a:pPr marL="0" indent="0">
              <a:buNone/>
            </a:pPr>
            <a:r>
              <a:rPr lang="fr-FR" sz="1100" dirty="0">
                <a:solidFill>
                  <a:srgbClr val="5A6660"/>
                </a:solidFill>
                <a:latin typeface="Calibri" pitchFamily="34" charset="0"/>
                <a:ea typeface="Calibri" pitchFamily="34" charset="-122"/>
                <a:cs typeface="Calibri" pitchFamily="34" charset="-120"/>
              </a:rPr>
              <a:t>Allez sur github.com et connectez-vous avec votre compte GitHub.</a:t>
            </a:r>
            <a:endParaRPr lang="fr-FR" sz="1100" dirty="0"/>
          </a:p>
        </p:txBody>
      </p:sp>
      <p:sp>
        <p:nvSpPr>
          <p:cNvPr id="20" name="Shape 17"/>
          <p:cNvSpPr/>
          <p:nvPr/>
        </p:nvSpPr>
        <p:spPr>
          <a:xfrm>
            <a:off x="457200" y="2240280"/>
            <a:ext cx="457200" cy="457200"/>
          </a:xfrm>
          <a:prstGeom prst="ellipse">
            <a:avLst/>
          </a:prstGeom>
          <a:solidFill>
            <a:srgbClr val="2C9045">
              <a:alpha val="22000"/>
            </a:srgbClr>
          </a:solidFill>
          <a:ln/>
        </p:spPr>
      </p:sp>
      <p:pic>
        <p:nvPicPr>
          <p:cNvPr id="21" name="Image 1" descr="preencoded.png"/>
          <p:cNvPicPr>
            <a:picLocks noChangeAspect="1"/>
          </p:cNvPicPr>
          <p:nvPr/>
        </p:nvPicPr>
        <p:blipFill>
          <a:blip r:embed="rId4"/>
          <a:stretch>
            <a:fillRect/>
          </a:stretch>
        </p:blipFill>
        <p:spPr>
          <a:xfrm>
            <a:off x="585216" y="2368296"/>
            <a:ext cx="201168" cy="201168"/>
          </a:xfrm>
          <a:prstGeom prst="rect">
            <a:avLst/>
          </a:prstGeom>
        </p:spPr>
      </p:pic>
      <p:sp>
        <p:nvSpPr>
          <p:cNvPr id="22" name="Text 18"/>
          <p:cNvSpPr txBox="1"/>
          <p:nvPr/>
        </p:nvSpPr>
        <p:spPr>
          <a:xfrm>
            <a:off x="1024128" y="2221992"/>
            <a:ext cx="2514600" cy="274320"/>
          </a:xfrm>
          <a:prstGeom prst="rect">
            <a:avLst/>
          </a:prstGeom>
          <a:noFill/>
          <a:ln/>
        </p:spPr>
        <p:txBody>
          <a:bodyPr wrap="square" lIns="0" tIns="0" rIns="0" bIns="0" rtlCol="0" anchor="ctr"/>
          <a:lstStyle/>
          <a:p>
            <a:pPr marL="0" indent="0">
              <a:buNone/>
            </a:pPr>
            <a:r>
              <a:rPr lang="fr-FR" sz="1300" b="1" dirty="0">
                <a:solidFill>
                  <a:srgbClr val="231F20"/>
                </a:solidFill>
                <a:latin typeface="Calibri" pitchFamily="34" charset="0"/>
                <a:ea typeface="Calibri" pitchFamily="34" charset="-122"/>
                <a:cs typeface="Calibri" pitchFamily="34" charset="-120"/>
              </a:rPr>
              <a:t>Cliquer sur l’avatar</a:t>
            </a:r>
            <a:endParaRPr lang="fr-FR" sz="1300" dirty="0"/>
          </a:p>
        </p:txBody>
      </p:sp>
      <p:sp>
        <p:nvSpPr>
          <p:cNvPr id="23" name="Text 19"/>
          <p:cNvSpPr txBox="1"/>
          <p:nvPr/>
        </p:nvSpPr>
        <p:spPr>
          <a:xfrm>
            <a:off x="1024128" y="2496312"/>
            <a:ext cx="2514600" cy="438912"/>
          </a:xfrm>
          <a:prstGeom prst="rect">
            <a:avLst/>
          </a:prstGeom>
          <a:noFill/>
          <a:ln/>
        </p:spPr>
        <p:txBody>
          <a:bodyPr wrap="square" lIns="0" tIns="0" rIns="0" bIns="0" rtlCol="0" anchor="t"/>
          <a:lstStyle/>
          <a:p>
            <a:pPr marL="0" indent="0">
              <a:buNone/>
            </a:pPr>
            <a:r>
              <a:rPr lang="fr-FR" sz="1100" dirty="0">
                <a:solidFill>
                  <a:srgbClr val="5A6660"/>
                </a:solidFill>
                <a:latin typeface="Calibri" pitchFamily="34" charset="0"/>
                <a:ea typeface="Calibri" pitchFamily="34" charset="-122"/>
                <a:cs typeface="Calibri" pitchFamily="34" charset="-120"/>
              </a:rPr>
              <a:t>En haut à droite de n’importe quelle page GitHub : le menu du compte s’ouvre.</a:t>
            </a:r>
            <a:endParaRPr lang="fr-FR" sz="1100" dirty="0"/>
          </a:p>
        </p:txBody>
      </p:sp>
      <p:sp>
        <p:nvSpPr>
          <p:cNvPr id="24" name="Shape 20"/>
          <p:cNvSpPr/>
          <p:nvPr/>
        </p:nvSpPr>
        <p:spPr>
          <a:xfrm>
            <a:off x="3785616" y="1271016"/>
            <a:ext cx="4956048" cy="2831981"/>
          </a:xfrm>
          <a:prstGeom prst="roundRect">
            <a:avLst>
              <a:gd name="adj" fmla="val 1937"/>
            </a:avLst>
          </a:prstGeom>
          <a:solidFill>
            <a:srgbClr val="F4F8F5"/>
          </a:solidFill>
          <a:ln w="9525">
            <a:solidFill>
              <a:srgbClr val="D3E2D7"/>
            </a:solidFill>
            <a:prstDash val="solid"/>
          </a:ln>
        </p:spPr>
      </p:sp>
      <p:pic>
        <p:nvPicPr>
          <p:cNvPr id="25" name="Image 2" descr="Capture d’écran : github.com — votre page de profil"/>
          <p:cNvPicPr>
            <a:picLocks noChangeAspect="1"/>
          </p:cNvPicPr>
          <p:nvPr/>
        </p:nvPicPr>
        <p:blipFill>
          <a:blip r:embed="rId5"/>
          <a:stretch>
            <a:fillRect/>
          </a:stretch>
        </p:blipFill>
        <p:spPr>
          <a:xfrm>
            <a:off x="3840480" y="1325880"/>
            <a:ext cx="4846320" cy="2722253"/>
          </a:xfrm>
          <a:prstGeom prst="rect">
            <a:avLst/>
          </a:prstGeom>
        </p:spPr>
      </p:pic>
      <p:sp>
        <p:nvSpPr>
          <p:cNvPr id="26" name="Shape 21"/>
          <p:cNvSpPr/>
          <p:nvPr/>
        </p:nvSpPr>
        <p:spPr>
          <a:xfrm>
            <a:off x="8421865" y="1559246"/>
            <a:ext cx="204386" cy="208037"/>
          </a:xfrm>
          <a:prstGeom prst="rect">
            <a:avLst/>
          </a:prstGeom>
          <a:ln w="28575">
            <a:solidFill>
              <a:srgbClr val="D49A00"/>
            </a:solidFill>
            <a:prstDash val="solid"/>
          </a:ln>
        </p:spPr>
      </p:sp>
      <p:sp>
        <p:nvSpPr>
          <p:cNvPr id="27" name="Text 22"/>
          <p:cNvSpPr txBox="1"/>
          <p:nvPr/>
        </p:nvSpPr>
        <p:spPr>
          <a:xfrm>
            <a:off x="3840480" y="4157861"/>
            <a:ext cx="4846320" cy="228600"/>
          </a:xfrm>
          <a:prstGeom prst="rect">
            <a:avLst/>
          </a:prstGeom>
          <a:noFill/>
          <a:ln/>
        </p:spPr>
        <p:txBody>
          <a:bodyPr wrap="square" lIns="0" tIns="0" rIns="0" bIns="0" rtlCol="0" anchor="ctr"/>
          <a:lstStyle/>
          <a:p>
            <a:pPr marL="0" indent="0">
              <a:buNone/>
            </a:pPr>
            <a:r>
              <a:rPr lang="fr-FR" sz="900" i="1" dirty="0">
                <a:solidFill>
                  <a:srgbClr val="5A6660"/>
                </a:solidFill>
                <a:latin typeface="Calibri" pitchFamily="34" charset="0"/>
                <a:ea typeface="Calibri" pitchFamily="34" charset="-122"/>
                <a:cs typeface="Calibri" pitchFamily="34" charset="-120"/>
              </a:rPr>
              <a:t>Capture d’écran : github.com — votre page de profil</a:t>
            </a:r>
            <a:endParaRPr lang="fr-FR" sz="9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fr-FR" sz="1050" b="1" kern="0" spc="300" dirty="0">
                <a:solidFill>
                  <a:srgbClr val="0E5A2E"/>
                </a:solidFill>
                <a:latin typeface="Calibri" pitchFamily="34" charset="0"/>
                <a:ea typeface="Calibri" pitchFamily="34" charset="-122"/>
                <a:cs typeface="Calibri" pitchFamily="34" charset="-120"/>
              </a:rPr>
              <a:t>01 · PARAMÈTRES</a:t>
            </a:r>
            <a:endParaRPr lang="fr-FR" sz="1050" dirty="0"/>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fr-FR" sz="2800" b="1" dirty="0">
                <a:solidFill>
                  <a:srgbClr val="231F20"/>
                </a:solidFill>
                <a:latin typeface="Calibri" pitchFamily="34" charset="0"/>
                <a:ea typeface="Calibri" pitchFamily="34" charset="-122"/>
                <a:cs typeface="Calibri" pitchFamily="34" charset="-120"/>
              </a:rPr>
              <a:t>Aller dans « Settings »</a:t>
            </a:r>
            <a:endParaRPr lang="fr-FR" sz="2800" dirty="0"/>
          </a:p>
        </p:txBody>
      </p:sp>
      <p:sp>
        <p:nvSpPr>
          <p:cNvPr id="8" name="Shape 6"/>
          <p:cNvSpPr/>
          <p:nvPr/>
        </p:nvSpPr>
        <p:spPr>
          <a:xfrm>
            <a:off x="7543800" y="365760"/>
            <a:ext cx="109728" cy="109728"/>
          </a:xfrm>
          <a:prstGeom prst="ellipse">
            <a:avLst/>
          </a:prstGeom>
          <a:solidFill>
            <a:srgbClr val="2C9045"/>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D3E2D7"/>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fr-FR" sz="850" dirty="0">
                <a:solidFill>
                  <a:srgbClr val="8A968F"/>
                </a:solidFill>
                <a:latin typeface="Calibri" pitchFamily="34" charset="0"/>
                <a:ea typeface="Calibri" pitchFamily="34" charset="-122"/>
                <a:cs typeface="Calibri" pitchFamily="34" charset="-120"/>
              </a:rPr>
              <a:t>Générer une clé API GitHub · BAD – Data Innovation for Africa (DI4A)</a:t>
            </a:r>
            <a:endParaRPr lang="fr-FR"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fr-FR" sz="850" dirty="0">
                <a:solidFill>
                  <a:srgbClr val="8A968F"/>
                </a:solidFill>
                <a:latin typeface="Calibri" pitchFamily="34" charset="0"/>
                <a:ea typeface="Calibri" pitchFamily="34" charset="-122"/>
                <a:cs typeface="Calibri" pitchFamily="34" charset="-120"/>
              </a:rPr>
              <a:t>10</a:t>
            </a:r>
            <a:endParaRPr lang="fr-FR" sz="850" dirty="0"/>
          </a:p>
        </p:txBody>
      </p:sp>
      <p:sp>
        <p:nvSpPr>
          <p:cNvPr id="16" name="Shape 14"/>
          <p:cNvSpPr/>
          <p:nvPr/>
        </p:nvSpPr>
        <p:spPr>
          <a:xfrm>
            <a:off x="457200" y="1371600"/>
            <a:ext cx="457200" cy="457200"/>
          </a:xfrm>
          <a:prstGeom prst="ellipse">
            <a:avLst/>
          </a:prstGeom>
          <a:solidFill>
            <a:srgbClr val="2C9045">
              <a:alpha val="22000"/>
            </a:srgbClr>
          </a:solidFill>
          <a:ln/>
        </p:spPr>
      </p:sp>
      <p:pic>
        <p:nvPicPr>
          <p:cNvPr id="17" name="Image 0" descr="preencoded.png"/>
          <p:cNvPicPr>
            <a:picLocks noChangeAspect="1"/>
          </p:cNvPicPr>
          <p:nvPr/>
        </p:nvPicPr>
        <p:blipFill>
          <a:blip r:embed="rId3"/>
          <a:stretch>
            <a:fillRect/>
          </a:stretch>
        </p:blipFill>
        <p:spPr>
          <a:xfrm>
            <a:off x="585216" y="1499616"/>
            <a:ext cx="201168" cy="201168"/>
          </a:xfrm>
          <a:prstGeom prst="rect">
            <a:avLst/>
          </a:prstGeom>
        </p:spPr>
      </p:pic>
      <p:sp>
        <p:nvSpPr>
          <p:cNvPr id="18" name="Text 15"/>
          <p:cNvSpPr txBox="1"/>
          <p:nvPr/>
        </p:nvSpPr>
        <p:spPr>
          <a:xfrm>
            <a:off x="1024128" y="1353312"/>
            <a:ext cx="2514600" cy="274320"/>
          </a:xfrm>
          <a:prstGeom prst="rect">
            <a:avLst/>
          </a:prstGeom>
          <a:noFill/>
          <a:ln/>
        </p:spPr>
        <p:txBody>
          <a:bodyPr wrap="square" lIns="0" tIns="0" rIns="0" bIns="0" rtlCol="0" anchor="ctr"/>
          <a:lstStyle/>
          <a:p>
            <a:pPr marL="0" indent="0">
              <a:buNone/>
            </a:pPr>
            <a:r>
              <a:rPr lang="fr-FR" sz="1300" b="1" dirty="0">
                <a:solidFill>
                  <a:srgbClr val="231F20"/>
                </a:solidFill>
                <a:latin typeface="Calibri" pitchFamily="34" charset="0"/>
                <a:ea typeface="Calibri" pitchFamily="34" charset="-122"/>
                <a:cs typeface="Calibri" pitchFamily="34" charset="-120"/>
              </a:rPr>
              <a:t>Parcourir le menu</a:t>
            </a:r>
            <a:endParaRPr lang="fr-FR" sz="1300" dirty="0"/>
          </a:p>
        </p:txBody>
      </p:sp>
      <p:sp>
        <p:nvSpPr>
          <p:cNvPr id="19" name="Text 16"/>
          <p:cNvSpPr txBox="1"/>
          <p:nvPr/>
        </p:nvSpPr>
        <p:spPr>
          <a:xfrm>
            <a:off x="1024128" y="1627632"/>
            <a:ext cx="2514600" cy="438912"/>
          </a:xfrm>
          <a:prstGeom prst="rect">
            <a:avLst/>
          </a:prstGeom>
          <a:noFill/>
          <a:ln/>
        </p:spPr>
        <p:txBody>
          <a:bodyPr wrap="square" lIns="0" tIns="0" rIns="0" bIns="0" rtlCol="0" anchor="t"/>
          <a:lstStyle/>
          <a:p>
            <a:pPr marL="0" indent="0">
              <a:buNone/>
            </a:pPr>
            <a:r>
              <a:rPr lang="fr-FR" sz="1100" dirty="0">
                <a:solidFill>
                  <a:srgbClr val="5A6660"/>
                </a:solidFill>
                <a:latin typeface="Calibri" pitchFamily="34" charset="0"/>
                <a:ea typeface="Calibri" pitchFamily="34" charset="-122"/>
                <a:cs typeface="Calibri" pitchFamily="34" charset="-120"/>
              </a:rPr>
              <a:t>Il liste Profile, Repositories, Stars, Organizations, etc.</a:t>
            </a:r>
            <a:endParaRPr lang="fr-FR" sz="1100" dirty="0"/>
          </a:p>
        </p:txBody>
      </p:sp>
      <p:sp>
        <p:nvSpPr>
          <p:cNvPr id="20" name="Shape 17"/>
          <p:cNvSpPr/>
          <p:nvPr/>
        </p:nvSpPr>
        <p:spPr>
          <a:xfrm>
            <a:off x="457200" y="2240280"/>
            <a:ext cx="457200" cy="457200"/>
          </a:xfrm>
          <a:prstGeom prst="ellipse">
            <a:avLst/>
          </a:prstGeom>
          <a:solidFill>
            <a:srgbClr val="2C9045">
              <a:alpha val="22000"/>
            </a:srgbClr>
          </a:solidFill>
          <a:ln/>
        </p:spPr>
      </p:sp>
      <p:pic>
        <p:nvPicPr>
          <p:cNvPr id="21" name="Image 1" descr="preencoded.png"/>
          <p:cNvPicPr>
            <a:picLocks noChangeAspect="1"/>
          </p:cNvPicPr>
          <p:nvPr/>
        </p:nvPicPr>
        <p:blipFill>
          <a:blip r:embed="rId4"/>
          <a:stretch>
            <a:fillRect/>
          </a:stretch>
        </p:blipFill>
        <p:spPr>
          <a:xfrm>
            <a:off x="585216" y="2368296"/>
            <a:ext cx="201168" cy="201168"/>
          </a:xfrm>
          <a:prstGeom prst="rect">
            <a:avLst/>
          </a:prstGeom>
        </p:spPr>
      </p:pic>
      <p:sp>
        <p:nvSpPr>
          <p:cNvPr id="22" name="Text 18"/>
          <p:cNvSpPr txBox="1"/>
          <p:nvPr/>
        </p:nvSpPr>
        <p:spPr>
          <a:xfrm>
            <a:off x="1024128" y="2221992"/>
            <a:ext cx="2514600" cy="274320"/>
          </a:xfrm>
          <a:prstGeom prst="rect">
            <a:avLst/>
          </a:prstGeom>
          <a:noFill/>
          <a:ln/>
        </p:spPr>
        <p:txBody>
          <a:bodyPr wrap="square" lIns="0" tIns="0" rIns="0" bIns="0" rtlCol="0" anchor="ctr"/>
          <a:lstStyle/>
          <a:p>
            <a:pPr marL="0" indent="0">
              <a:buNone/>
            </a:pPr>
            <a:r>
              <a:rPr lang="fr-FR" sz="1300" b="1" dirty="0">
                <a:solidFill>
                  <a:srgbClr val="231F20"/>
                </a:solidFill>
                <a:latin typeface="Calibri" pitchFamily="34" charset="0"/>
                <a:ea typeface="Calibri" pitchFamily="34" charset="-122"/>
                <a:cs typeface="Calibri" pitchFamily="34" charset="-120"/>
              </a:rPr>
              <a:t>Choisir « Settings »</a:t>
            </a:r>
            <a:endParaRPr lang="fr-FR" sz="1300" dirty="0"/>
          </a:p>
        </p:txBody>
      </p:sp>
      <p:sp>
        <p:nvSpPr>
          <p:cNvPr id="23" name="Text 19"/>
          <p:cNvSpPr txBox="1"/>
          <p:nvPr/>
        </p:nvSpPr>
        <p:spPr>
          <a:xfrm>
            <a:off x="1024128" y="2496312"/>
            <a:ext cx="2514600" cy="438912"/>
          </a:xfrm>
          <a:prstGeom prst="rect">
            <a:avLst/>
          </a:prstGeom>
          <a:noFill/>
          <a:ln/>
        </p:spPr>
        <p:txBody>
          <a:bodyPr wrap="square" lIns="0" tIns="0" rIns="0" bIns="0" rtlCol="0" anchor="t"/>
          <a:lstStyle/>
          <a:p>
            <a:pPr marL="0" indent="0">
              <a:buNone/>
            </a:pPr>
            <a:r>
              <a:rPr lang="fr-FR" sz="1100" dirty="0">
                <a:solidFill>
                  <a:srgbClr val="5A6660"/>
                </a:solidFill>
                <a:latin typeface="Calibri" pitchFamily="34" charset="0"/>
                <a:ea typeface="Calibri" pitchFamily="34" charset="-122"/>
                <a:cs typeface="Calibri" pitchFamily="34" charset="-120"/>
              </a:rPr>
              <a:t>Ouvre les paramètres du profil : github.com/settings/profile.</a:t>
            </a:r>
            <a:endParaRPr lang="fr-FR" sz="1100" dirty="0"/>
          </a:p>
        </p:txBody>
      </p:sp>
      <p:sp>
        <p:nvSpPr>
          <p:cNvPr id="24" name="Shape 20"/>
          <p:cNvSpPr/>
          <p:nvPr/>
        </p:nvSpPr>
        <p:spPr>
          <a:xfrm>
            <a:off x="3785616" y="1271016"/>
            <a:ext cx="4956048" cy="2816773"/>
          </a:xfrm>
          <a:prstGeom prst="roundRect">
            <a:avLst>
              <a:gd name="adj" fmla="val 1948"/>
            </a:avLst>
          </a:prstGeom>
          <a:solidFill>
            <a:srgbClr val="F4F8F5"/>
          </a:solidFill>
          <a:ln w="9525">
            <a:solidFill>
              <a:srgbClr val="D3E2D7"/>
            </a:solidFill>
            <a:prstDash val="solid"/>
          </a:ln>
        </p:spPr>
      </p:sp>
      <p:pic>
        <p:nvPicPr>
          <p:cNvPr id="25" name="Image 2" descr="Capture d’écran : github.com — menu du compte"/>
          <p:cNvPicPr>
            <a:picLocks noChangeAspect="1"/>
          </p:cNvPicPr>
          <p:nvPr/>
        </p:nvPicPr>
        <p:blipFill>
          <a:blip r:embed="rId5"/>
          <a:stretch>
            <a:fillRect/>
          </a:stretch>
        </p:blipFill>
        <p:spPr>
          <a:xfrm>
            <a:off x="3840480" y="1325880"/>
            <a:ext cx="4846320" cy="2707045"/>
          </a:xfrm>
          <a:prstGeom prst="rect">
            <a:avLst/>
          </a:prstGeom>
        </p:spPr>
      </p:pic>
      <p:sp>
        <p:nvSpPr>
          <p:cNvPr id="26" name="Shape 21"/>
          <p:cNvSpPr/>
          <p:nvPr/>
        </p:nvSpPr>
        <p:spPr>
          <a:xfrm>
            <a:off x="7582422" y="2978685"/>
            <a:ext cx="967184" cy="182489"/>
          </a:xfrm>
          <a:prstGeom prst="rect">
            <a:avLst/>
          </a:prstGeom>
          <a:ln w="28575">
            <a:solidFill>
              <a:srgbClr val="D49A00"/>
            </a:solidFill>
            <a:prstDash val="solid"/>
          </a:ln>
        </p:spPr>
      </p:sp>
      <p:sp>
        <p:nvSpPr>
          <p:cNvPr id="27" name="Text 22"/>
          <p:cNvSpPr txBox="1"/>
          <p:nvPr/>
        </p:nvSpPr>
        <p:spPr>
          <a:xfrm>
            <a:off x="3840480" y="4142653"/>
            <a:ext cx="4846320" cy="228600"/>
          </a:xfrm>
          <a:prstGeom prst="rect">
            <a:avLst/>
          </a:prstGeom>
          <a:noFill/>
          <a:ln/>
        </p:spPr>
        <p:txBody>
          <a:bodyPr wrap="square" lIns="0" tIns="0" rIns="0" bIns="0" rtlCol="0" anchor="ctr"/>
          <a:lstStyle/>
          <a:p>
            <a:pPr marL="0" indent="0">
              <a:buNone/>
            </a:pPr>
            <a:r>
              <a:rPr lang="fr-FR" sz="900" i="1" dirty="0">
                <a:solidFill>
                  <a:srgbClr val="5A6660"/>
                </a:solidFill>
                <a:latin typeface="Calibri" pitchFamily="34" charset="0"/>
                <a:ea typeface="Calibri" pitchFamily="34" charset="-122"/>
                <a:cs typeface="Calibri" pitchFamily="34" charset="-120"/>
              </a:rPr>
              <a:t>Capture d’écran : github.com — menu du compte</a:t>
            </a:r>
            <a:endParaRPr lang="fr-FR" sz="9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fr-FR" sz="1050" b="1" kern="0" spc="300" dirty="0">
                <a:solidFill>
                  <a:srgbClr val="0E5A2E"/>
                </a:solidFill>
                <a:latin typeface="Calibri" pitchFamily="34" charset="0"/>
                <a:ea typeface="Calibri" pitchFamily="34" charset="-122"/>
                <a:cs typeface="Calibri" pitchFamily="34" charset="-120"/>
              </a:rPr>
              <a:t>02 · DEVELOPER SETTINGS</a:t>
            </a:r>
            <a:endParaRPr lang="fr-FR" sz="1050" dirty="0"/>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fr-FR" sz="2800" b="1" dirty="0">
                <a:solidFill>
                  <a:srgbClr val="231F20"/>
                </a:solidFill>
                <a:latin typeface="Calibri" pitchFamily="34" charset="0"/>
                <a:ea typeface="Calibri" pitchFamily="34" charset="-122"/>
                <a:cs typeface="Calibri" pitchFamily="34" charset="-120"/>
              </a:rPr>
              <a:t>Ouvrir « Developer settings »</a:t>
            </a:r>
            <a:endParaRPr lang="fr-FR" sz="2800" dirty="0"/>
          </a:p>
        </p:txBody>
      </p:sp>
      <p:sp>
        <p:nvSpPr>
          <p:cNvPr id="8" name="Shape 6"/>
          <p:cNvSpPr/>
          <p:nvPr/>
        </p:nvSpPr>
        <p:spPr>
          <a:xfrm>
            <a:off x="7543800" y="365760"/>
            <a:ext cx="109728" cy="109728"/>
          </a:xfrm>
          <a:prstGeom prst="ellipse">
            <a:avLst/>
          </a:prstGeom>
          <a:solidFill>
            <a:srgbClr val="D3E2D7"/>
          </a:solidFill>
          <a:ln/>
        </p:spPr>
      </p:sp>
      <p:sp>
        <p:nvSpPr>
          <p:cNvPr id="9" name="Shape 7"/>
          <p:cNvSpPr/>
          <p:nvPr/>
        </p:nvSpPr>
        <p:spPr>
          <a:xfrm>
            <a:off x="7735824" y="365760"/>
            <a:ext cx="109728" cy="109728"/>
          </a:xfrm>
          <a:prstGeom prst="ellipse">
            <a:avLst/>
          </a:prstGeom>
          <a:solidFill>
            <a:srgbClr val="0E5A2E"/>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D3E2D7"/>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fr-FR" sz="850" dirty="0">
                <a:solidFill>
                  <a:srgbClr val="8A968F"/>
                </a:solidFill>
                <a:latin typeface="Calibri" pitchFamily="34" charset="0"/>
                <a:ea typeface="Calibri" pitchFamily="34" charset="-122"/>
                <a:cs typeface="Calibri" pitchFamily="34" charset="-120"/>
              </a:rPr>
              <a:t>Générer une clé API GitHub · BAD – Data Innovation for Africa (DI4A)</a:t>
            </a:r>
            <a:endParaRPr lang="fr-FR"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fr-FR" sz="850" dirty="0">
                <a:solidFill>
                  <a:srgbClr val="8A968F"/>
                </a:solidFill>
                <a:latin typeface="Calibri" pitchFamily="34" charset="0"/>
                <a:ea typeface="Calibri" pitchFamily="34" charset="-122"/>
                <a:cs typeface="Calibri" pitchFamily="34" charset="-120"/>
              </a:rPr>
              <a:t>11</a:t>
            </a:r>
            <a:endParaRPr lang="fr-FR" sz="850" dirty="0"/>
          </a:p>
        </p:txBody>
      </p:sp>
      <p:sp>
        <p:nvSpPr>
          <p:cNvPr id="16" name="Shape 14"/>
          <p:cNvSpPr/>
          <p:nvPr/>
        </p:nvSpPr>
        <p:spPr>
          <a:xfrm>
            <a:off x="457200" y="1371600"/>
            <a:ext cx="457200" cy="457200"/>
          </a:xfrm>
          <a:prstGeom prst="ellipse">
            <a:avLst/>
          </a:prstGeom>
          <a:solidFill>
            <a:srgbClr val="0E5A2E">
              <a:alpha val="22000"/>
            </a:srgbClr>
          </a:solidFill>
          <a:ln/>
        </p:spPr>
      </p:sp>
      <p:pic>
        <p:nvPicPr>
          <p:cNvPr id="17" name="Image 0" descr="preencoded.png"/>
          <p:cNvPicPr>
            <a:picLocks noChangeAspect="1"/>
          </p:cNvPicPr>
          <p:nvPr/>
        </p:nvPicPr>
        <p:blipFill>
          <a:blip r:embed="rId3"/>
          <a:stretch>
            <a:fillRect/>
          </a:stretch>
        </p:blipFill>
        <p:spPr>
          <a:xfrm>
            <a:off x="585216" y="1499616"/>
            <a:ext cx="201168" cy="201168"/>
          </a:xfrm>
          <a:prstGeom prst="rect">
            <a:avLst/>
          </a:prstGeom>
        </p:spPr>
      </p:pic>
      <p:sp>
        <p:nvSpPr>
          <p:cNvPr id="18" name="Text 15"/>
          <p:cNvSpPr txBox="1"/>
          <p:nvPr/>
        </p:nvSpPr>
        <p:spPr>
          <a:xfrm>
            <a:off x="1024128" y="1353312"/>
            <a:ext cx="2514600" cy="274320"/>
          </a:xfrm>
          <a:prstGeom prst="rect">
            <a:avLst/>
          </a:prstGeom>
          <a:noFill/>
          <a:ln/>
        </p:spPr>
        <p:txBody>
          <a:bodyPr wrap="square" lIns="0" tIns="0" rIns="0" bIns="0" rtlCol="0" anchor="ctr"/>
          <a:lstStyle/>
          <a:p>
            <a:pPr marL="0" indent="0">
              <a:buNone/>
            </a:pPr>
            <a:r>
              <a:rPr lang="fr-FR" sz="1300" b="1" dirty="0">
                <a:solidFill>
                  <a:srgbClr val="231F20"/>
                </a:solidFill>
                <a:latin typeface="Calibri" pitchFamily="34" charset="0"/>
                <a:ea typeface="Calibri" pitchFamily="34" charset="-122"/>
                <a:cs typeface="Calibri" pitchFamily="34" charset="-120"/>
              </a:rPr>
              <a:t>Faire défiler la barre latérale</a:t>
            </a:r>
            <a:endParaRPr lang="fr-FR" sz="1300" dirty="0"/>
          </a:p>
        </p:txBody>
      </p:sp>
      <p:sp>
        <p:nvSpPr>
          <p:cNvPr id="19" name="Text 16"/>
          <p:cNvSpPr txBox="1"/>
          <p:nvPr/>
        </p:nvSpPr>
        <p:spPr>
          <a:xfrm>
            <a:off x="1024128" y="1627632"/>
            <a:ext cx="2514600" cy="438912"/>
          </a:xfrm>
          <a:prstGeom prst="rect">
            <a:avLst/>
          </a:prstGeom>
          <a:noFill/>
          <a:ln/>
        </p:spPr>
        <p:txBody>
          <a:bodyPr wrap="square" lIns="0" tIns="0" rIns="0" bIns="0" rtlCol="0" anchor="t"/>
          <a:lstStyle/>
          <a:p>
            <a:pPr marL="0" indent="0">
              <a:buNone/>
            </a:pPr>
            <a:r>
              <a:rPr lang="fr-FR" sz="1100" dirty="0">
                <a:solidFill>
                  <a:srgbClr val="5A6660"/>
                </a:solidFill>
                <a:latin typeface="Calibri" pitchFamily="34" charset="0"/>
                <a:ea typeface="Calibri" pitchFamily="34" charset="-122"/>
                <a:cs typeface="Calibri" pitchFamily="34" charset="-120"/>
              </a:rPr>
              <a:t>Descendez tout en bas, sous la section Archives.</a:t>
            </a:r>
            <a:endParaRPr lang="fr-FR" sz="1100" dirty="0"/>
          </a:p>
        </p:txBody>
      </p:sp>
      <p:sp>
        <p:nvSpPr>
          <p:cNvPr id="20" name="Shape 17"/>
          <p:cNvSpPr/>
          <p:nvPr/>
        </p:nvSpPr>
        <p:spPr>
          <a:xfrm>
            <a:off x="457200" y="2240280"/>
            <a:ext cx="457200" cy="457200"/>
          </a:xfrm>
          <a:prstGeom prst="ellipse">
            <a:avLst/>
          </a:prstGeom>
          <a:solidFill>
            <a:srgbClr val="0E5A2E">
              <a:alpha val="22000"/>
            </a:srgbClr>
          </a:solidFill>
          <a:ln/>
        </p:spPr>
      </p:sp>
      <p:pic>
        <p:nvPicPr>
          <p:cNvPr id="21" name="Image 1" descr="preencoded.png"/>
          <p:cNvPicPr>
            <a:picLocks noChangeAspect="1"/>
          </p:cNvPicPr>
          <p:nvPr/>
        </p:nvPicPr>
        <p:blipFill>
          <a:blip r:embed="rId4"/>
          <a:stretch>
            <a:fillRect/>
          </a:stretch>
        </p:blipFill>
        <p:spPr>
          <a:xfrm>
            <a:off x="585216" y="2368296"/>
            <a:ext cx="201168" cy="201168"/>
          </a:xfrm>
          <a:prstGeom prst="rect">
            <a:avLst/>
          </a:prstGeom>
        </p:spPr>
      </p:pic>
      <p:sp>
        <p:nvSpPr>
          <p:cNvPr id="22" name="Text 18"/>
          <p:cNvSpPr txBox="1"/>
          <p:nvPr/>
        </p:nvSpPr>
        <p:spPr>
          <a:xfrm>
            <a:off x="1024128" y="2221992"/>
            <a:ext cx="2514600" cy="274320"/>
          </a:xfrm>
          <a:prstGeom prst="rect">
            <a:avLst/>
          </a:prstGeom>
          <a:noFill/>
          <a:ln/>
        </p:spPr>
        <p:txBody>
          <a:bodyPr wrap="square" lIns="0" tIns="0" rIns="0" bIns="0" rtlCol="0" anchor="ctr"/>
          <a:lstStyle/>
          <a:p>
            <a:pPr marL="0" indent="0">
              <a:buNone/>
            </a:pPr>
            <a:r>
              <a:rPr lang="fr-FR" sz="1300" b="1" dirty="0">
                <a:solidFill>
                  <a:srgbClr val="231F20"/>
                </a:solidFill>
                <a:latin typeface="Calibri" pitchFamily="34" charset="0"/>
                <a:ea typeface="Calibri" pitchFamily="34" charset="-122"/>
                <a:cs typeface="Calibri" pitchFamily="34" charset="-120"/>
              </a:rPr>
              <a:t>Cliquer sur « Developer settings »</a:t>
            </a:r>
            <a:endParaRPr lang="fr-FR" sz="1300" dirty="0"/>
          </a:p>
        </p:txBody>
      </p:sp>
      <p:sp>
        <p:nvSpPr>
          <p:cNvPr id="23" name="Text 19"/>
          <p:cNvSpPr txBox="1"/>
          <p:nvPr/>
        </p:nvSpPr>
        <p:spPr>
          <a:xfrm>
            <a:off x="1024128" y="2496312"/>
            <a:ext cx="2514600" cy="438912"/>
          </a:xfrm>
          <a:prstGeom prst="rect">
            <a:avLst/>
          </a:prstGeom>
          <a:noFill/>
          <a:ln/>
        </p:spPr>
        <p:txBody>
          <a:bodyPr wrap="square" lIns="0" tIns="0" rIns="0" bIns="0" rtlCol="0" anchor="t"/>
          <a:lstStyle/>
          <a:p>
            <a:pPr marL="0" indent="0">
              <a:buNone/>
            </a:pPr>
            <a:r>
              <a:rPr lang="fr-FR" sz="1100" dirty="0">
                <a:solidFill>
                  <a:srgbClr val="5A6660"/>
                </a:solidFill>
                <a:latin typeface="Calibri" pitchFamily="34" charset="0"/>
                <a:ea typeface="Calibri" pitchFamily="34" charset="-122"/>
                <a:cs typeface="Calibri" pitchFamily="34" charset="-120"/>
              </a:rPr>
              <a:t>On y gère les GitHub Apps, OAuth Apps et jetons d’accès.</a:t>
            </a:r>
            <a:endParaRPr lang="fr-FR" sz="1100" dirty="0"/>
          </a:p>
        </p:txBody>
      </p:sp>
      <p:sp>
        <p:nvSpPr>
          <p:cNvPr id="24" name="Shape 20"/>
          <p:cNvSpPr/>
          <p:nvPr/>
        </p:nvSpPr>
        <p:spPr>
          <a:xfrm>
            <a:off x="3785616" y="1271016"/>
            <a:ext cx="4956048" cy="2810831"/>
          </a:xfrm>
          <a:prstGeom prst="roundRect">
            <a:avLst>
              <a:gd name="adj" fmla="val 1952"/>
            </a:avLst>
          </a:prstGeom>
          <a:solidFill>
            <a:srgbClr val="F4F8F5"/>
          </a:solidFill>
          <a:ln w="9525">
            <a:solidFill>
              <a:srgbClr val="D3E2D7"/>
            </a:solidFill>
            <a:prstDash val="solid"/>
          </a:ln>
        </p:spPr>
      </p:sp>
      <p:pic>
        <p:nvPicPr>
          <p:cNvPr id="25" name="Image 2" descr="Capture d’écran : github.com/settings/profile"/>
          <p:cNvPicPr>
            <a:picLocks noChangeAspect="1"/>
          </p:cNvPicPr>
          <p:nvPr/>
        </p:nvPicPr>
        <p:blipFill>
          <a:blip r:embed="rId5"/>
          <a:stretch>
            <a:fillRect/>
          </a:stretch>
        </p:blipFill>
        <p:spPr>
          <a:xfrm>
            <a:off x="3840480" y="1325880"/>
            <a:ext cx="4846320" cy="2701103"/>
          </a:xfrm>
          <a:prstGeom prst="rect">
            <a:avLst/>
          </a:prstGeom>
        </p:spPr>
      </p:pic>
      <p:sp>
        <p:nvSpPr>
          <p:cNvPr id="26" name="Shape 21"/>
          <p:cNvSpPr/>
          <p:nvPr/>
        </p:nvSpPr>
        <p:spPr>
          <a:xfrm>
            <a:off x="3899931" y="3160331"/>
            <a:ext cx="964163" cy="185555"/>
          </a:xfrm>
          <a:prstGeom prst="rect">
            <a:avLst/>
          </a:prstGeom>
          <a:ln w="28575">
            <a:solidFill>
              <a:srgbClr val="D49A00"/>
            </a:solidFill>
            <a:prstDash val="solid"/>
          </a:ln>
        </p:spPr>
      </p:sp>
      <p:sp>
        <p:nvSpPr>
          <p:cNvPr id="27" name="Text 22"/>
          <p:cNvSpPr txBox="1"/>
          <p:nvPr/>
        </p:nvSpPr>
        <p:spPr>
          <a:xfrm>
            <a:off x="3840480" y="4136711"/>
            <a:ext cx="4846320" cy="228600"/>
          </a:xfrm>
          <a:prstGeom prst="rect">
            <a:avLst/>
          </a:prstGeom>
          <a:noFill/>
          <a:ln/>
        </p:spPr>
        <p:txBody>
          <a:bodyPr wrap="square" lIns="0" tIns="0" rIns="0" bIns="0" rtlCol="0" anchor="ctr"/>
          <a:lstStyle/>
          <a:p>
            <a:pPr marL="0" indent="0">
              <a:buNone/>
            </a:pPr>
            <a:r>
              <a:rPr lang="fr-FR" sz="900" i="1" dirty="0">
                <a:solidFill>
                  <a:srgbClr val="5A6660"/>
                </a:solidFill>
                <a:latin typeface="Calibri" pitchFamily="34" charset="0"/>
                <a:ea typeface="Calibri" pitchFamily="34" charset="-122"/>
                <a:cs typeface="Calibri" pitchFamily="34" charset="-120"/>
              </a:rPr>
              <a:t>Capture d’écran : github.com/settings/profile</a:t>
            </a:r>
            <a:endParaRPr lang="fr-FR" sz="9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fr-FR" sz="1050" b="1" kern="0" spc="300" dirty="0">
                <a:solidFill>
                  <a:srgbClr val="0E5A2E"/>
                </a:solidFill>
                <a:latin typeface="Calibri" pitchFamily="34" charset="0"/>
                <a:ea typeface="Calibri" pitchFamily="34" charset="-122"/>
                <a:cs typeface="Calibri" pitchFamily="34" charset="-120"/>
              </a:rPr>
              <a:t>03 · JETONS CLASSIC</a:t>
            </a:r>
            <a:endParaRPr lang="fr-FR" sz="1050" dirty="0"/>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fr-FR" sz="2800" b="1" dirty="0">
                <a:solidFill>
                  <a:srgbClr val="231F20"/>
                </a:solidFill>
                <a:latin typeface="Calibri" pitchFamily="34" charset="0"/>
                <a:ea typeface="Calibri" pitchFamily="34" charset="-122"/>
                <a:cs typeface="Calibri" pitchFamily="34" charset="-120"/>
              </a:rPr>
              <a:t>Sélectionner « Tokens (classic) »</a:t>
            </a:r>
            <a:endParaRPr lang="fr-FR" sz="2800" dirty="0"/>
          </a:p>
        </p:txBody>
      </p:sp>
      <p:sp>
        <p:nvSpPr>
          <p:cNvPr id="8" name="Shape 6"/>
          <p:cNvSpPr/>
          <p:nvPr/>
        </p:nvSpPr>
        <p:spPr>
          <a:xfrm>
            <a:off x="7543800" y="365760"/>
            <a:ext cx="109728" cy="109728"/>
          </a:xfrm>
          <a:prstGeom prst="ellipse">
            <a:avLst/>
          </a:prstGeom>
          <a:solidFill>
            <a:srgbClr val="D3E2D7"/>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0E7C86"/>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D3E2D7"/>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fr-FR" sz="850" dirty="0">
                <a:solidFill>
                  <a:srgbClr val="8A968F"/>
                </a:solidFill>
                <a:latin typeface="Calibri" pitchFamily="34" charset="0"/>
                <a:ea typeface="Calibri" pitchFamily="34" charset="-122"/>
                <a:cs typeface="Calibri" pitchFamily="34" charset="-120"/>
              </a:rPr>
              <a:t>Générer une clé API GitHub · BAD – Data Innovation for Africa (DI4A)</a:t>
            </a:r>
            <a:endParaRPr lang="fr-FR"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fr-FR" sz="850" dirty="0">
                <a:solidFill>
                  <a:srgbClr val="8A968F"/>
                </a:solidFill>
                <a:latin typeface="Calibri" pitchFamily="34" charset="0"/>
                <a:ea typeface="Calibri" pitchFamily="34" charset="-122"/>
                <a:cs typeface="Calibri" pitchFamily="34" charset="-120"/>
              </a:rPr>
              <a:t>12</a:t>
            </a:r>
            <a:endParaRPr lang="fr-FR" sz="850" dirty="0"/>
          </a:p>
        </p:txBody>
      </p:sp>
      <p:sp>
        <p:nvSpPr>
          <p:cNvPr id="16" name="Shape 14"/>
          <p:cNvSpPr/>
          <p:nvPr/>
        </p:nvSpPr>
        <p:spPr>
          <a:xfrm>
            <a:off x="457200" y="1371600"/>
            <a:ext cx="457200" cy="457200"/>
          </a:xfrm>
          <a:prstGeom prst="ellipse">
            <a:avLst/>
          </a:prstGeom>
          <a:solidFill>
            <a:srgbClr val="0E7C86">
              <a:alpha val="22000"/>
            </a:srgbClr>
          </a:solidFill>
          <a:ln/>
        </p:spPr>
      </p:sp>
      <p:pic>
        <p:nvPicPr>
          <p:cNvPr id="17" name="Image 0" descr="preencoded.png"/>
          <p:cNvPicPr>
            <a:picLocks noChangeAspect="1"/>
          </p:cNvPicPr>
          <p:nvPr/>
        </p:nvPicPr>
        <p:blipFill>
          <a:blip r:embed="rId3"/>
          <a:stretch>
            <a:fillRect/>
          </a:stretch>
        </p:blipFill>
        <p:spPr>
          <a:xfrm>
            <a:off x="585216" y="1499616"/>
            <a:ext cx="201168" cy="201168"/>
          </a:xfrm>
          <a:prstGeom prst="rect">
            <a:avLst/>
          </a:prstGeom>
        </p:spPr>
      </p:pic>
      <p:sp>
        <p:nvSpPr>
          <p:cNvPr id="18" name="Text 15"/>
          <p:cNvSpPr txBox="1"/>
          <p:nvPr/>
        </p:nvSpPr>
        <p:spPr>
          <a:xfrm>
            <a:off x="1024128" y="1353312"/>
            <a:ext cx="2514600" cy="274320"/>
          </a:xfrm>
          <a:prstGeom prst="rect">
            <a:avLst/>
          </a:prstGeom>
          <a:noFill/>
          <a:ln/>
        </p:spPr>
        <p:txBody>
          <a:bodyPr wrap="square" lIns="0" tIns="0" rIns="0" bIns="0" rtlCol="0" anchor="ctr"/>
          <a:lstStyle/>
          <a:p>
            <a:pPr marL="0" indent="0">
              <a:buNone/>
            </a:pPr>
            <a:r>
              <a:rPr lang="fr-FR" sz="1300" b="1" dirty="0">
                <a:solidFill>
                  <a:srgbClr val="231F20"/>
                </a:solidFill>
                <a:latin typeface="Calibri" pitchFamily="34" charset="0"/>
                <a:ea typeface="Calibri" pitchFamily="34" charset="-122"/>
                <a:cs typeface="Calibri" pitchFamily="34" charset="-120"/>
              </a:rPr>
              <a:t>Déplier « Personal access tokens »</a:t>
            </a:r>
            <a:endParaRPr lang="fr-FR" sz="1300" dirty="0"/>
          </a:p>
        </p:txBody>
      </p:sp>
      <p:sp>
        <p:nvSpPr>
          <p:cNvPr id="19" name="Text 16"/>
          <p:cNvSpPr txBox="1"/>
          <p:nvPr/>
        </p:nvSpPr>
        <p:spPr>
          <a:xfrm>
            <a:off x="1024128" y="1627632"/>
            <a:ext cx="2514600" cy="438912"/>
          </a:xfrm>
          <a:prstGeom prst="rect">
            <a:avLst/>
          </a:prstGeom>
          <a:noFill/>
          <a:ln/>
        </p:spPr>
        <p:txBody>
          <a:bodyPr wrap="square" lIns="0" tIns="0" rIns="0" bIns="0" rtlCol="0" anchor="t"/>
          <a:lstStyle/>
          <a:p>
            <a:pPr marL="0" indent="0">
              <a:buNone/>
            </a:pPr>
            <a:r>
              <a:rPr lang="fr-FR" sz="1100" dirty="0">
                <a:solidFill>
                  <a:srgbClr val="5A6660"/>
                </a:solidFill>
                <a:latin typeface="Calibri" pitchFamily="34" charset="0"/>
                <a:ea typeface="Calibri" pitchFamily="34" charset="-122"/>
                <a:cs typeface="Calibri" pitchFamily="34" charset="-120"/>
              </a:rPr>
              <a:t>Deux options : Fine-grained tokens et Tokens (classic).</a:t>
            </a:r>
            <a:endParaRPr lang="fr-FR" sz="1100" dirty="0"/>
          </a:p>
        </p:txBody>
      </p:sp>
      <p:sp>
        <p:nvSpPr>
          <p:cNvPr id="20" name="Shape 17"/>
          <p:cNvSpPr/>
          <p:nvPr/>
        </p:nvSpPr>
        <p:spPr>
          <a:xfrm>
            <a:off x="457200" y="2240280"/>
            <a:ext cx="457200" cy="457200"/>
          </a:xfrm>
          <a:prstGeom prst="ellipse">
            <a:avLst/>
          </a:prstGeom>
          <a:solidFill>
            <a:srgbClr val="0E7C86">
              <a:alpha val="22000"/>
            </a:srgbClr>
          </a:solidFill>
          <a:ln/>
        </p:spPr>
      </p:sp>
      <p:pic>
        <p:nvPicPr>
          <p:cNvPr id="21" name="Image 1" descr="preencoded.png"/>
          <p:cNvPicPr>
            <a:picLocks noChangeAspect="1"/>
          </p:cNvPicPr>
          <p:nvPr/>
        </p:nvPicPr>
        <p:blipFill>
          <a:blip r:embed="rId4"/>
          <a:stretch>
            <a:fillRect/>
          </a:stretch>
        </p:blipFill>
        <p:spPr>
          <a:xfrm>
            <a:off x="585216" y="2368296"/>
            <a:ext cx="201168" cy="201168"/>
          </a:xfrm>
          <a:prstGeom prst="rect">
            <a:avLst/>
          </a:prstGeom>
        </p:spPr>
      </p:pic>
      <p:sp>
        <p:nvSpPr>
          <p:cNvPr id="22" name="Text 18"/>
          <p:cNvSpPr txBox="1"/>
          <p:nvPr/>
        </p:nvSpPr>
        <p:spPr>
          <a:xfrm>
            <a:off x="1024128" y="2221992"/>
            <a:ext cx="2514600" cy="274320"/>
          </a:xfrm>
          <a:prstGeom prst="rect">
            <a:avLst/>
          </a:prstGeom>
          <a:noFill/>
          <a:ln/>
        </p:spPr>
        <p:txBody>
          <a:bodyPr wrap="square" lIns="0" tIns="0" rIns="0" bIns="0" rtlCol="0" anchor="ctr"/>
          <a:lstStyle/>
          <a:p>
            <a:pPr marL="0" indent="0">
              <a:buNone/>
            </a:pPr>
            <a:r>
              <a:rPr lang="fr-FR" sz="1300" b="1" dirty="0">
                <a:solidFill>
                  <a:srgbClr val="231F20"/>
                </a:solidFill>
                <a:latin typeface="Calibri" pitchFamily="34" charset="0"/>
                <a:ea typeface="Calibri" pitchFamily="34" charset="-122"/>
                <a:cs typeface="Calibri" pitchFamily="34" charset="-120"/>
              </a:rPr>
              <a:t>Cliquer sur « Tokens (classic) »</a:t>
            </a:r>
            <a:endParaRPr lang="fr-FR" sz="1300" dirty="0"/>
          </a:p>
        </p:txBody>
      </p:sp>
      <p:sp>
        <p:nvSpPr>
          <p:cNvPr id="23" name="Text 19"/>
          <p:cNvSpPr txBox="1"/>
          <p:nvPr/>
        </p:nvSpPr>
        <p:spPr>
          <a:xfrm>
            <a:off x="1024128" y="2496312"/>
            <a:ext cx="2514600" cy="438912"/>
          </a:xfrm>
          <a:prstGeom prst="rect">
            <a:avLst/>
          </a:prstGeom>
          <a:noFill/>
          <a:ln/>
        </p:spPr>
        <p:txBody>
          <a:bodyPr wrap="square" lIns="0" tIns="0" rIns="0" bIns="0" rtlCol="0" anchor="t"/>
          <a:lstStyle/>
          <a:p>
            <a:pPr marL="0" indent="0">
              <a:buNone/>
            </a:pPr>
            <a:r>
              <a:rPr lang="fr-FR" sz="1100" dirty="0">
                <a:solidFill>
                  <a:srgbClr val="5A6660"/>
                </a:solidFill>
                <a:latin typeface="Calibri" pitchFamily="34" charset="0"/>
                <a:ea typeface="Calibri" pitchFamily="34" charset="-122"/>
                <a:cs typeface="Calibri" pitchFamily="34" charset="-120"/>
              </a:rPr>
              <a:t>Le type de jeton utilisé dans ce guide.</a:t>
            </a:r>
            <a:endParaRPr lang="fr-FR" sz="1100" dirty="0"/>
          </a:p>
        </p:txBody>
      </p:sp>
      <p:sp>
        <p:nvSpPr>
          <p:cNvPr id="24" name="Shape 20"/>
          <p:cNvSpPr/>
          <p:nvPr/>
        </p:nvSpPr>
        <p:spPr>
          <a:xfrm>
            <a:off x="3785616" y="1271016"/>
            <a:ext cx="4956048" cy="2812240"/>
          </a:xfrm>
          <a:prstGeom prst="roundRect">
            <a:avLst>
              <a:gd name="adj" fmla="val 1951"/>
            </a:avLst>
          </a:prstGeom>
          <a:solidFill>
            <a:srgbClr val="F4F8F5"/>
          </a:solidFill>
          <a:ln w="9525">
            <a:solidFill>
              <a:srgbClr val="D3E2D7"/>
            </a:solidFill>
            <a:prstDash val="solid"/>
          </a:ln>
        </p:spPr>
      </p:sp>
      <p:pic>
        <p:nvPicPr>
          <p:cNvPr id="25" name="Image 2" descr="Capture d’écran : github.com/settings/apps"/>
          <p:cNvPicPr>
            <a:picLocks noChangeAspect="1"/>
          </p:cNvPicPr>
          <p:nvPr/>
        </p:nvPicPr>
        <p:blipFill>
          <a:blip r:embed="rId5"/>
          <a:stretch>
            <a:fillRect/>
          </a:stretch>
        </p:blipFill>
        <p:spPr>
          <a:xfrm>
            <a:off x="3840480" y="1325880"/>
            <a:ext cx="4846320" cy="2702512"/>
          </a:xfrm>
          <a:prstGeom prst="rect">
            <a:avLst/>
          </a:prstGeom>
        </p:spPr>
      </p:pic>
      <p:sp>
        <p:nvSpPr>
          <p:cNvPr id="26" name="Shape 21"/>
          <p:cNvSpPr/>
          <p:nvPr/>
        </p:nvSpPr>
        <p:spPr>
          <a:xfrm>
            <a:off x="3909608" y="2342234"/>
            <a:ext cx="964663" cy="123768"/>
          </a:xfrm>
          <a:prstGeom prst="rect">
            <a:avLst/>
          </a:prstGeom>
          <a:ln w="28575">
            <a:solidFill>
              <a:srgbClr val="D49A00"/>
            </a:solidFill>
            <a:prstDash val="solid"/>
          </a:ln>
        </p:spPr>
      </p:sp>
      <p:sp>
        <p:nvSpPr>
          <p:cNvPr id="27" name="Text 22"/>
          <p:cNvSpPr txBox="1"/>
          <p:nvPr/>
        </p:nvSpPr>
        <p:spPr>
          <a:xfrm>
            <a:off x="3840480" y="4138120"/>
            <a:ext cx="4846320" cy="228600"/>
          </a:xfrm>
          <a:prstGeom prst="rect">
            <a:avLst/>
          </a:prstGeom>
          <a:noFill/>
          <a:ln/>
        </p:spPr>
        <p:txBody>
          <a:bodyPr wrap="square" lIns="0" tIns="0" rIns="0" bIns="0" rtlCol="0" anchor="ctr"/>
          <a:lstStyle/>
          <a:p>
            <a:pPr marL="0" indent="0">
              <a:buNone/>
            </a:pPr>
            <a:r>
              <a:rPr lang="fr-FR" sz="900" i="1" dirty="0">
                <a:solidFill>
                  <a:srgbClr val="5A6660"/>
                </a:solidFill>
                <a:latin typeface="Calibri" pitchFamily="34" charset="0"/>
                <a:ea typeface="Calibri" pitchFamily="34" charset="-122"/>
                <a:cs typeface="Calibri" pitchFamily="34" charset="-120"/>
              </a:rPr>
              <a:t>Capture d’écran : github.com/settings/apps</a:t>
            </a:r>
            <a:endParaRPr lang="fr-FR" sz="9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fr-FR" sz="1050" b="1" kern="0" spc="300" dirty="0">
                <a:solidFill>
                  <a:srgbClr val="0E5A2E"/>
                </a:solidFill>
                <a:latin typeface="Calibri" pitchFamily="34" charset="0"/>
                <a:ea typeface="Calibri" pitchFamily="34" charset="-122"/>
                <a:cs typeface="Calibri" pitchFamily="34" charset="-120"/>
              </a:rPr>
              <a:t>04 · GÉNÉRER</a:t>
            </a:r>
            <a:endParaRPr lang="fr-FR" sz="1050" dirty="0"/>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fr-FR" sz="2800" b="1" dirty="0">
                <a:solidFill>
                  <a:srgbClr val="231F20"/>
                </a:solidFill>
                <a:latin typeface="Calibri" pitchFamily="34" charset="0"/>
                <a:ea typeface="Calibri" pitchFamily="34" charset="-122"/>
                <a:cs typeface="Calibri" pitchFamily="34" charset="-120"/>
              </a:rPr>
              <a:t>Générer un nouveau jeton classic</a:t>
            </a:r>
            <a:endParaRPr lang="fr-FR" sz="2800" dirty="0"/>
          </a:p>
        </p:txBody>
      </p:sp>
      <p:sp>
        <p:nvSpPr>
          <p:cNvPr id="8" name="Shape 6"/>
          <p:cNvSpPr/>
          <p:nvPr/>
        </p:nvSpPr>
        <p:spPr>
          <a:xfrm>
            <a:off x="7543800" y="365760"/>
            <a:ext cx="109728" cy="109728"/>
          </a:xfrm>
          <a:prstGeom prst="ellipse">
            <a:avLst/>
          </a:prstGeom>
          <a:solidFill>
            <a:srgbClr val="D3E2D7"/>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49A00"/>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D3E2D7"/>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fr-FR" sz="850" dirty="0">
                <a:solidFill>
                  <a:srgbClr val="8A968F"/>
                </a:solidFill>
                <a:latin typeface="Calibri" pitchFamily="34" charset="0"/>
                <a:ea typeface="Calibri" pitchFamily="34" charset="-122"/>
                <a:cs typeface="Calibri" pitchFamily="34" charset="-120"/>
              </a:rPr>
              <a:t>Générer une clé API GitHub · BAD – Data Innovation for Africa (DI4A)</a:t>
            </a:r>
            <a:endParaRPr lang="fr-FR"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fr-FR" sz="850" dirty="0">
                <a:solidFill>
                  <a:srgbClr val="8A968F"/>
                </a:solidFill>
                <a:latin typeface="Calibri" pitchFamily="34" charset="0"/>
                <a:ea typeface="Calibri" pitchFamily="34" charset="-122"/>
                <a:cs typeface="Calibri" pitchFamily="34" charset="-120"/>
              </a:rPr>
              <a:t>13</a:t>
            </a:r>
            <a:endParaRPr lang="fr-FR" sz="850" dirty="0"/>
          </a:p>
        </p:txBody>
      </p:sp>
      <p:sp>
        <p:nvSpPr>
          <p:cNvPr id="16" name="Shape 14"/>
          <p:cNvSpPr/>
          <p:nvPr/>
        </p:nvSpPr>
        <p:spPr>
          <a:xfrm>
            <a:off x="457200" y="1371600"/>
            <a:ext cx="457200" cy="457200"/>
          </a:xfrm>
          <a:prstGeom prst="ellipse">
            <a:avLst/>
          </a:prstGeom>
          <a:solidFill>
            <a:srgbClr val="D49A00">
              <a:alpha val="22000"/>
            </a:srgbClr>
          </a:solidFill>
          <a:ln/>
        </p:spPr>
      </p:sp>
      <p:pic>
        <p:nvPicPr>
          <p:cNvPr id="17" name="Image 0" descr="preencoded.png"/>
          <p:cNvPicPr>
            <a:picLocks noChangeAspect="1"/>
          </p:cNvPicPr>
          <p:nvPr/>
        </p:nvPicPr>
        <p:blipFill>
          <a:blip r:embed="rId3"/>
          <a:stretch>
            <a:fillRect/>
          </a:stretch>
        </p:blipFill>
        <p:spPr>
          <a:xfrm>
            <a:off x="585216" y="1499616"/>
            <a:ext cx="201168" cy="201168"/>
          </a:xfrm>
          <a:prstGeom prst="rect">
            <a:avLst/>
          </a:prstGeom>
        </p:spPr>
      </p:pic>
      <p:sp>
        <p:nvSpPr>
          <p:cNvPr id="18" name="Text 15"/>
          <p:cNvSpPr txBox="1"/>
          <p:nvPr/>
        </p:nvSpPr>
        <p:spPr>
          <a:xfrm>
            <a:off x="1024128" y="1353312"/>
            <a:ext cx="2514600" cy="274320"/>
          </a:xfrm>
          <a:prstGeom prst="rect">
            <a:avLst/>
          </a:prstGeom>
          <a:noFill/>
          <a:ln/>
        </p:spPr>
        <p:txBody>
          <a:bodyPr wrap="square" lIns="0" tIns="0" rIns="0" bIns="0" rtlCol="0" anchor="ctr"/>
          <a:lstStyle/>
          <a:p>
            <a:pPr marL="0" indent="0">
              <a:buNone/>
            </a:pPr>
            <a:r>
              <a:rPr lang="fr-FR" sz="1300" b="1" dirty="0">
                <a:solidFill>
                  <a:srgbClr val="231F20"/>
                </a:solidFill>
                <a:latin typeface="Calibri" pitchFamily="34" charset="0"/>
                <a:ea typeface="Calibri" pitchFamily="34" charset="-122"/>
                <a:cs typeface="Calibri" pitchFamily="34" charset="-120"/>
              </a:rPr>
              <a:t>Ouvrir « Generate new token »</a:t>
            </a:r>
            <a:endParaRPr lang="fr-FR" sz="1300" dirty="0"/>
          </a:p>
        </p:txBody>
      </p:sp>
      <p:sp>
        <p:nvSpPr>
          <p:cNvPr id="19" name="Text 16"/>
          <p:cNvSpPr txBox="1"/>
          <p:nvPr/>
        </p:nvSpPr>
        <p:spPr>
          <a:xfrm>
            <a:off x="1024128" y="1627632"/>
            <a:ext cx="2514600" cy="438912"/>
          </a:xfrm>
          <a:prstGeom prst="rect">
            <a:avLst/>
          </a:prstGeom>
          <a:noFill/>
          <a:ln/>
        </p:spPr>
        <p:txBody>
          <a:bodyPr wrap="square" lIns="0" tIns="0" rIns="0" bIns="0" rtlCol="0" anchor="t"/>
          <a:lstStyle/>
          <a:p>
            <a:pPr marL="0" indent="0">
              <a:buNone/>
            </a:pPr>
            <a:r>
              <a:rPr lang="fr-FR" sz="1100" dirty="0">
                <a:solidFill>
                  <a:srgbClr val="5A6660"/>
                </a:solidFill>
                <a:latin typeface="Calibri" pitchFamily="34" charset="0"/>
                <a:ea typeface="Calibri" pitchFamily="34" charset="-122"/>
                <a:cs typeface="Calibri" pitchFamily="34" charset="-120"/>
              </a:rPr>
              <a:t>Le bouton déroulant au-dessus de la liste des jetons.</a:t>
            </a:r>
            <a:endParaRPr lang="fr-FR" sz="1100" dirty="0"/>
          </a:p>
        </p:txBody>
      </p:sp>
      <p:sp>
        <p:nvSpPr>
          <p:cNvPr id="20" name="Shape 17"/>
          <p:cNvSpPr/>
          <p:nvPr/>
        </p:nvSpPr>
        <p:spPr>
          <a:xfrm>
            <a:off x="457200" y="2240280"/>
            <a:ext cx="457200" cy="457200"/>
          </a:xfrm>
          <a:prstGeom prst="ellipse">
            <a:avLst/>
          </a:prstGeom>
          <a:solidFill>
            <a:srgbClr val="D49A00">
              <a:alpha val="22000"/>
            </a:srgbClr>
          </a:solidFill>
          <a:ln/>
        </p:spPr>
      </p:sp>
      <p:pic>
        <p:nvPicPr>
          <p:cNvPr id="21" name="Image 1" descr="preencoded.png"/>
          <p:cNvPicPr>
            <a:picLocks noChangeAspect="1"/>
          </p:cNvPicPr>
          <p:nvPr/>
        </p:nvPicPr>
        <p:blipFill>
          <a:blip r:embed="rId4"/>
          <a:stretch>
            <a:fillRect/>
          </a:stretch>
        </p:blipFill>
        <p:spPr>
          <a:xfrm>
            <a:off x="585216" y="2368296"/>
            <a:ext cx="201168" cy="201168"/>
          </a:xfrm>
          <a:prstGeom prst="rect">
            <a:avLst/>
          </a:prstGeom>
        </p:spPr>
      </p:pic>
      <p:sp>
        <p:nvSpPr>
          <p:cNvPr id="22" name="Text 18"/>
          <p:cNvSpPr txBox="1"/>
          <p:nvPr/>
        </p:nvSpPr>
        <p:spPr>
          <a:xfrm>
            <a:off x="1024128" y="2221992"/>
            <a:ext cx="2514600" cy="274320"/>
          </a:xfrm>
          <a:prstGeom prst="rect">
            <a:avLst/>
          </a:prstGeom>
          <a:noFill/>
          <a:ln/>
        </p:spPr>
        <p:txBody>
          <a:bodyPr wrap="square" lIns="0" tIns="0" rIns="0" bIns="0" rtlCol="0" anchor="ctr"/>
          <a:lstStyle/>
          <a:p>
            <a:pPr marL="0" indent="0">
              <a:buNone/>
            </a:pPr>
            <a:r>
              <a:rPr lang="fr-FR" sz="1300" b="1" dirty="0">
                <a:solidFill>
                  <a:srgbClr val="231F20"/>
                </a:solidFill>
                <a:latin typeface="Calibri" pitchFamily="34" charset="0"/>
                <a:ea typeface="Calibri" pitchFamily="34" charset="-122"/>
                <a:cs typeface="Calibri" pitchFamily="34" charset="-120"/>
              </a:rPr>
              <a:t>Choisir l’option (classic)</a:t>
            </a:r>
            <a:endParaRPr lang="fr-FR" sz="1300" dirty="0"/>
          </a:p>
        </p:txBody>
      </p:sp>
      <p:sp>
        <p:nvSpPr>
          <p:cNvPr id="23" name="Text 19"/>
          <p:cNvSpPr txBox="1"/>
          <p:nvPr/>
        </p:nvSpPr>
        <p:spPr>
          <a:xfrm>
            <a:off x="1024128" y="2496312"/>
            <a:ext cx="2514600" cy="438912"/>
          </a:xfrm>
          <a:prstGeom prst="rect">
            <a:avLst/>
          </a:prstGeom>
          <a:noFill/>
          <a:ln/>
        </p:spPr>
        <p:txBody>
          <a:bodyPr wrap="square" lIns="0" tIns="0" rIns="0" bIns="0" rtlCol="0" anchor="t"/>
          <a:lstStyle/>
          <a:p>
            <a:pPr marL="0" indent="0">
              <a:buNone/>
            </a:pPr>
            <a:r>
              <a:rPr lang="fr-FR" sz="1100" dirty="0">
                <a:solidFill>
                  <a:srgbClr val="5A6660"/>
                </a:solidFill>
                <a:latin typeface="Calibri" pitchFamily="34" charset="0"/>
                <a:ea typeface="Calibri" pitchFamily="34" charset="-122"/>
                <a:cs typeface="Calibri" pitchFamily="34" charset="-120"/>
              </a:rPr>
              <a:t>« Generate new token (classic) », pour usage général. GitHub peut demander votre mot de passe.</a:t>
            </a:r>
            <a:endParaRPr lang="fr-FR" sz="1100" dirty="0"/>
          </a:p>
        </p:txBody>
      </p:sp>
      <p:sp>
        <p:nvSpPr>
          <p:cNvPr id="24" name="Shape 20"/>
          <p:cNvSpPr/>
          <p:nvPr/>
        </p:nvSpPr>
        <p:spPr>
          <a:xfrm>
            <a:off x="3785616" y="1271016"/>
            <a:ext cx="4956048" cy="2794544"/>
          </a:xfrm>
          <a:prstGeom prst="roundRect">
            <a:avLst>
              <a:gd name="adj" fmla="val 1963"/>
            </a:avLst>
          </a:prstGeom>
          <a:solidFill>
            <a:srgbClr val="F4F8F5"/>
          </a:solidFill>
          <a:ln w="9525">
            <a:solidFill>
              <a:srgbClr val="D3E2D7"/>
            </a:solidFill>
            <a:prstDash val="solid"/>
          </a:ln>
        </p:spPr>
      </p:sp>
      <p:pic>
        <p:nvPicPr>
          <p:cNvPr id="25" name="Image 2" descr="Capture d’écran : github.com/settings/tokens"/>
          <p:cNvPicPr>
            <a:picLocks noChangeAspect="1"/>
          </p:cNvPicPr>
          <p:nvPr/>
        </p:nvPicPr>
        <p:blipFill>
          <a:blip r:embed="rId5"/>
          <a:stretch>
            <a:fillRect/>
          </a:stretch>
        </p:blipFill>
        <p:spPr>
          <a:xfrm>
            <a:off x="3840480" y="1325880"/>
            <a:ext cx="4846320" cy="2684816"/>
          </a:xfrm>
          <a:prstGeom prst="rect">
            <a:avLst/>
          </a:prstGeom>
        </p:spPr>
      </p:pic>
      <p:sp>
        <p:nvSpPr>
          <p:cNvPr id="26" name="Shape 21"/>
          <p:cNvSpPr/>
          <p:nvPr/>
        </p:nvSpPr>
        <p:spPr>
          <a:xfrm>
            <a:off x="6869121" y="2165936"/>
            <a:ext cx="964663" cy="247536"/>
          </a:xfrm>
          <a:prstGeom prst="rect">
            <a:avLst/>
          </a:prstGeom>
          <a:ln w="28575">
            <a:solidFill>
              <a:srgbClr val="D49A00"/>
            </a:solidFill>
            <a:prstDash val="solid"/>
          </a:ln>
        </p:spPr>
      </p:sp>
      <p:sp>
        <p:nvSpPr>
          <p:cNvPr id="27" name="Text 22"/>
          <p:cNvSpPr txBox="1"/>
          <p:nvPr/>
        </p:nvSpPr>
        <p:spPr>
          <a:xfrm>
            <a:off x="3840480" y="4120424"/>
            <a:ext cx="4846320" cy="228600"/>
          </a:xfrm>
          <a:prstGeom prst="rect">
            <a:avLst/>
          </a:prstGeom>
          <a:noFill/>
          <a:ln/>
        </p:spPr>
        <p:txBody>
          <a:bodyPr wrap="square" lIns="0" tIns="0" rIns="0" bIns="0" rtlCol="0" anchor="ctr"/>
          <a:lstStyle/>
          <a:p>
            <a:pPr marL="0" indent="0">
              <a:buNone/>
            </a:pPr>
            <a:r>
              <a:rPr lang="fr-FR" sz="900" i="1" dirty="0">
                <a:solidFill>
                  <a:srgbClr val="5A6660"/>
                </a:solidFill>
                <a:latin typeface="Calibri" pitchFamily="34" charset="0"/>
                <a:ea typeface="Calibri" pitchFamily="34" charset="-122"/>
                <a:cs typeface="Calibri" pitchFamily="34" charset="-120"/>
              </a:rPr>
              <a:t>Capture d’écran : github.com/settings/tokens</a:t>
            </a:r>
            <a:endParaRPr lang="fr-FR" sz="9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fr-FR" sz="1050" b="1" kern="0" spc="300" dirty="0">
                <a:solidFill>
                  <a:srgbClr val="0E5A2E"/>
                </a:solidFill>
                <a:latin typeface="Calibri" pitchFamily="34" charset="0"/>
                <a:ea typeface="Calibri" pitchFamily="34" charset="-122"/>
                <a:cs typeface="Calibri" pitchFamily="34" charset="-120"/>
              </a:rPr>
              <a:t>05 · CONFIGURER</a:t>
            </a:r>
            <a:endParaRPr lang="fr-FR" sz="1050" dirty="0"/>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fr-FR" sz="2800" b="1" dirty="0">
                <a:solidFill>
                  <a:srgbClr val="231F20"/>
                </a:solidFill>
                <a:latin typeface="Calibri" pitchFamily="34" charset="0"/>
                <a:ea typeface="Calibri" pitchFamily="34" charset="-122"/>
                <a:cs typeface="Calibri" pitchFamily="34" charset="-120"/>
              </a:rPr>
              <a:t>Nom, expiration et scopes</a:t>
            </a:r>
            <a:endParaRPr lang="fr-FR" sz="2800" dirty="0"/>
          </a:p>
        </p:txBody>
      </p:sp>
      <p:sp>
        <p:nvSpPr>
          <p:cNvPr id="8" name="Shape 6"/>
          <p:cNvSpPr/>
          <p:nvPr/>
        </p:nvSpPr>
        <p:spPr>
          <a:xfrm>
            <a:off x="7543800" y="365760"/>
            <a:ext cx="109728" cy="109728"/>
          </a:xfrm>
          <a:prstGeom prst="ellipse">
            <a:avLst/>
          </a:prstGeom>
          <a:solidFill>
            <a:srgbClr val="D3E2D7"/>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C4621D"/>
          </a:solidFill>
          <a:ln/>
        </p:spPr>
      </p:sp>
      <p:sp>
        <p:nvSpPr>
          <p:cNvPr id="13" name="Shape 11"/>
          <p:cNvSpPr/>
          <p:nvPr/>
        </p:nvSpPr>
        <p:spPr>
          <a:xfrm>
            <a:off x="8503920" y="365760"/>
            <a:ext cx="109728" cy="109728"/>
          </a:xfrm>
          <a:prstGeom prst="ellipse">
            <a:avLst/>
          </a:prstGeom>
          <a:solidFill>
            <a:srgbClr val="D3E2D7"/>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fr-FR" sz="850" dirty="0">
                <a:solidFill>
                  <a:srgbClr val="8A968F"/>
                </a:solidFill>
                <a:latin typeface="Calibri" pitchFamily="34" charset="0"/>
                <a:ea typeface="Calibri" pitchFamily="34" charset="-122"/>
                <a:cs typeface="Calibri" pitchFamily="34" charset="-120"/>
              </a:rPr>
              <a:t>Générer une clé API GitHub · BAD – Data Innovation for Africa (DI4A)</a:t>
            </a:r>
            <a:endParaRPr lang="fr-FR"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fr-FR" sz="850" dirty="0">
                <a:solidFill>
                  <a:srgbClr val="8A968F"/>
                </a:solidFill>
                <a:latin typeface="Calibri" pitchFamily="34" charset="0"/>
                <a:ea typeface="Calibri" pitchFamily="34" charset="-122"/>
                <a:cs typeface="Calibri" pitchFamily="34" charset="-120"/>
              </a:rPr>
              <a:t>14</a:t>
            </a:r>
            <a:endParaRPr lang="fr-FR" sz="850" dirty="0"/>
          </a:p>
        </p:txBody>
      </p:sp>
      <p:sp>
        <p:nvSpPr>
          <p:cNvPr id="16" name="Shape 14"/>
          <p:cNvSpPr/>
          <p:nvPr/>
        </p:nvSpPr>
        <p:spPr>
          <a:xfrm>
            <a:off x="457200" y="1371600"/>
            <a:ext cx="457200" cy="457200"/>
          </a:xfrm>
          <a:prstGeom prst="ellipse">
            <a:avLst/>
          </a:prstGeom>
          <a:solidFill>
            <a:srgbClr val="C4621D">
              <a:alpha val="22000"/>
            </a:srgbClr>
          </a:solidFill>
          <a:ln/>
        </p:spPr>
      </p:sp>
      <p:pic>
        <p:nvPicPr>
          <p:cNvPr id="17" name="Image 0" descr="preencoded.png"/>
          <p:cNvPicPr>
            <a:picLocks noChangeAspect="1"/>
          </p:cNvPicPr>
          <p:nvPr/>
        </p:nvPicPr>
        <p:blipFill>
          <a:blip r:embed="rId3"/>
          <a:stretch>
            <a:fillRect/>
          </a:stretch>
        </p:blipFill>
        <p:spPr>
          <a:xfrm>
            <a:off x="585216" y="1499616"/>
            <a:ext cx="201168" cy="201168"/>
          </a:xfrm>
          <a:prstGeom prst="rect">
            <a:avLst/>
          </a:prstGeom>
        </p:spPr>
      </p:pic>
      <p:sp>
        <p:nvSpPr>
          <p:cNvPr id="18" name="Text 15"/>
          <p:cNvSpPr txBox="1"/>
          <p:nvPr/>
        </p:nvSpPr>
        <p:spPr>
          <a:xfrm>
            <a:off x="1024128" y="1353312"/>
            <a:ext cx="2514600" cy="274320"/>
          </a:xfrm>
          <a:prstGeom prst="rect">
            <a:avLst/>
          </a:prstGeom>
          <a:noFill/>
          <a:ln/>
        </p:spPr>
        <p:txBody>
          <a:bodyPr wrap="square" lIns="0" tIns="0" rIns="0" bIns="0" rtlCol="0" anchor="ctr"/>
          <a:lstStyle/>
          <a:p>
            <a:pPr marL="0" indent="0">
              <a:buNone/>
            </a:pPr>
            <a:r>
              <a:rPr lang="fr-FR" sz="1300" b="1" dirty="0">
                <a:solidFill>
                  <a:srgbClr val="231F20"/>
                </a:solidFill>
                <a:latin typeface="Calibri" pitchFamily="34" charset="0"/>
                <a:ea typeface="Calibri" pitchFamily="34" charset="-122"/>
                <a:cs typeface="Calibri" pitchFamily="34" charset="-120"/>
              </a:rPr>
              <a:t>Ajouter une note</a:t>
            </a:r>
            <a:endParaRPr lang="fr-FR" sz="1300" dirty="0"/>
          </a:p>
        </p:txBody>
      </p:sp>
      <p:sp>
        <p:nvSpPr>
          <p:cNvPr id="19" name="Text 16"/>
          <p:cNvSpPr txBox="1"/>
          <p:nvPr/>
        </p:nvSpPr>
        <p:spPr>
          <a:xfrm>
            <a:off x="1024128" y="1627632"/>
            <a:ext cx="2514600" cy="438912"/>
          </a:xfrm>
          <a:prstGeom prst="rect">
            <a:avLst/>
          </a:prstGeom>
          <a:noFill/>
          <a:ln/>
        </p:spPr>
        <p:txBody>
          <a:bodyPr wrap="square" lIns="0" tIns="0" rIns="0" bIns="0" rtlCol="0" anchor="t"/>
          <a:lstStyle/>
          <a:p>
            <a:pPr marL="0" indent="0">
              <a:buNone/>
            </a:pPr>
            <a:r>
              <a:rPr lang="fr-FR" sz="1100" dirty="0">
                <a:solidFill>
                  <a:srgbClr val="5A6660"/>
                </a:solidFill>
                <a:latin typeface="Calibri" pitchFamily="34" charset="0"/>
                <a:ea typeface="Calibri" pitchFamily="34" charset="-122"/>
                <a:cs typeface="Calibri" pitchFamily="34" charset="-120"/>
              </a:rPr>
              <a:t>Un nom facile à reconnaître, ex. DI4A2026.</a:t>
            </a:r>
            <a:endParaRPr lang="fr-FR" sz="1100" dirty="0"/>
          </a:p>
        </p:txBody>
      </p:sp>
      <p:sp>
        <p:nvSpPr>
          <p:cNvPr id="20" name="Shape 17"/>
          <p:cNvSpPr/>
          <p:nvPr/>
        </p:nvSpPr>
        <p:spPr>
          <a:xfrm>
            <a:off x="457200" y="2103120"/>
            <a:ext cx="457200" cy="457200"/>
          </a:xfrm>
          <a:prstGeom prst="ellipse">
            <a:avLst/>
          </a:prstGeom>
          <a:solidFill>
            <a:srgbClr val="C4621D">
              <a:alpha val="22000"/>
            </a:srgbClr>
          </a:solidFill>
          <a:ln/>
        </p:spPr>
      </p:sp>
      <p:pic>
        <p:nvPicPr>
          <p:cNvPr id="21" name="Image 1" descr="preencoded.png"/>
          <p:cNvPicPr>
            <a:picLocks noChangeAspect="1"/>
          </p:cNvPicPr>
          <p:nvPr/>
        </p:nvPicPr>
        <p:blipFill>
          <a:blip r:embed="rId4"/>
          <a:stretch>
            <a:fillRect/>
          </a:stretch>
        </p:blipFill>
        <p:spPr>
          <a:xfrm>
            <a:off x="585216" y="2231136"/>
            <a:ext cx="201168" cy="201168"/>
          </a:xfrm>
          <a:prstGeom prst="rect">
            <a:avLst/>
          </a:prstGeom>
        </p:spPr>
      </p:pic>
      <p:sp>
        <p:nvSpPr>
          <p:cNvPr id="22" name="Text 18"/>
          <p:cNvSpPr txBox="1"/>
          <p:nvPr/>
        </p:nvSpPr>
        <p:spPr>
          <a:xfrm>
            <a:off x="1024128" y="2084832"/>
            <a:ext cx="2514600" cy="274320"/>
          </a:xfrm>
          <a:prstGeom prst="rect">
            <a:avLst/>
          </a:prstGeom>
          <a:noFill/>
          <a:ln/>
        </p:spPr>
        <p:txBody>
          <a:bodyPr wrap="square" lIns="0" tIns="0" rIns="0" bIns="0" rtlCol="0" anchor="ctr"/>
          <a:lstStyle/>
          <a:p>
            <a:pPr marL="0" indent="0">
              <a:buNone/>
            </a:pPr>
            <a:r>
              <a:rPr lang="fr-FR" sz="1300" b="1" dirty="0">
                <a:solidFill>
                  <a:srgbClr val="231F20"/>
                </a:solidFill>
                <a:latin typeface="Calibri" pitchFamily="34" charset="0"/>
                <a:ea typeface="Calibri" pitchFamily="34" charset="-122"/>
                <a:cs typeface="Calibri" pitchFamily="34" charset="-120"/>
              </a:rPr>
              <a:t>Définir une expiration</a:t>
            </a:r>
            <a:endParaRPr lang="fr-FR" sz="1300" dirty="0"/>
          </a:p>
        </p:txBody>
      </p:sp>
      <p:sp>
        <p:nvSpPr>
          <p:cNvPr id="23" name="Text 19"/>
          <p:cNvSpPr txBox="1"/>
          <p:nvPr/>
        </p:nvSpPr>
        <p:spPr>
          <a:xfrm>
            <a:off x="1024128" y="2359152"/>
            <a:ext cx="2514600" cy="438912"/>
          </a:xfrm>
          <a:prstGeom prst="rect">
            <a:avLst/>
          </a:prstGeom>
          <a:noFill/>
          <a:ln/>
        </p:spPr>
        <p:txBody>
          <a:bodyPr wrap="square" lIns="0" tIns="0" rIns="0" bIns="0" rtlCol="0" anchor="t"/>
          <a:lstStyle/>
          <a:p>
            <a:pPr marL="0" indent="0">
              <a:buNone/>
            </a:pPr>
            <a:r>
              <a:rPr lang="fr-FR" sz="1100" dirty="0">
                <a:solidFill>
                  <a:srgbClr val="5A6660"/>
                </a:solidFill>
                <a:latin typeface="Calibri" pitchFamily="34" charset="0"/>
                <a:ea typeface="Calibri" pitchFamily="34" charset="-122"/>
                <a:cs typeface="Calibri" pitchFamily="34" charset="-120"/>
              </a:rPr>
              <a:t>30 jours couvrent les travaux pratiques et le suivi.</a:t>
            </a:r>
            <a:endParaRPr lang="fr-FR" sz="1100" dirty="0"/>
          </a:p>
        </p:txBody>
      </p:sp>
      <p:sp>
        <p:nvSpPr>
          <p:cNvPr id="24" name="Shape 20"/>
          <p:cNvSpPr/>
          <p:nvPr/>
        </p:nvSpPr>
        <p:spPr>
          <a:xfrm>
            <a:off x="457200" y="2834640"/>
            <a:ext cx="457200" cy="457200"/>
          </a:xfrm>
          <a:prstGeom prst="ellipse">
            <a:avLst/>
          </a:prstGeom>
          <a:solidFill>
            <a:srgbClr val="C4621D">
              <a:alpha val="22000"/>
            </a:srgbClr>
          </a:solidFill>
          <a:ln/>
        </p:spPr>
      </p:sp>
      <p:pic>
        <p:nvPicPr>
          <p:cNvPr id="25" name="Image 2" descr="preencoded.png"/>
          <p:cNvPicPr>
            <a:picLocks noChangeAspect="1"/>
          </p:cNvPicPr>
          <p:nvPr/>
        </p:nvPicPr>
        <p:blipFill>
          <a:blip r:embed="rId5"/>
          <a:stretch>
            <a:fillRect/>
          </a:stretch>
        </p:blipFill>
        <p:spPr>
          <a:xfrm>
            <a:off x="585216" y="2962656"/>
            <a:ext cx="201168" cy="201168"/>
          </a:xfrm>
          <a:prstGeom prst="rect">
            <a:avLst/>
          </a:prstGeom>
        </p:spPr>
      </p:pic>
      <p:sp>
        <p:nvSpPr>
          <p:cNvPr id="26" name="Text 21"/>
          <p:cNvSpPr txBox="1"/>
          <p:nvPr/>
        </p:nvSpPr>
        <p:spPr>
          <a:xfrm>
            <a:off x="1024128" y="2816352"/>
            <a:ext cx="2514600" cy="274320"/>
          </a:xfrm>
          <a:prstGeom prst="rect">
            <a:avLst/>
          </a:prstGeom>
          <a:noFill/>
          <a:ln/>
        </p:spPr>
        <p:txBody>
          <a:bodyPr wrap="square" lIns="0" tIns="0" rIns="0" bIns="0" rtlCol="0" anchor="ctr"/>
          <a:lstStyle/>
          <a:p>
            <a:pPr marL="0" indent="0">
              <a:buNone/>
            </a:pPr>
            <a:r>
              <a:rPr lang="fr-FR" sz="1300" b="1" dirty="0">
                <a:solidFill>
                  <a:srgbClr val="231F20"/>
                </a:solidFill>
                <a:latin typeface="Calibri" pitchFamily="34" charset="0"/>
                <a:ea typeface="Calibri" pitchFamily="34" charset="-122"/>
                <a:cs typeface="Calibri" pitchFamily="34" charset="-120"/>
              </a:rPr>
              <a:t>Cocher repo et workflow</a:t>
            </a:r>
            <a:endParaRPr lang="fr-FR" sz="1300" dirty="0"/>
          </a:p>
        </p:txBody>
      </p:sp>
      <p:sp>
        <p:nvSpPr>
          <p:cNvPr id="27" name="Text 22"/>
          <p:cNvSpPr txBox="1"/>
          <p:nvPr/>
        </p:nvSpPr>
        <p:spPr>
          <a:xfrm>
            <a:off x="1024128" y="3090672"/>
            <a:ext cx="2514600" cy="438912"/>
          </a:xfrm>
          <a:prstGeom prst="rect">
            <a:avLst/>
          </a:prstGeom>
          <a:noFill/>
          <a:ln/>
        </p:spPr>
        <p:txBody>
          <a:bodyPr wrap="square" lIns="0" tIns="0" rIns="0" bIns="0" rtlCol="0" anchor="t"/>
          <a:lstStyle/>
          <a:p>
            <a:pPr marL="0" indent="0">
              <a:buNone/>
            </a:pPr>
            <a:r>
              <a:rPr lang="fr-FR" sz="1100" dirty="0">
                <a:solidFill>
                  <a:srgbClr val="5A6660"/>
                </a:solidFill>
                <a:latin typeface="Calibri" pitchFamily="34" charset="0"/>
                <a:ea typeface="Calibri" pitchFamily="34" charset="-122"/>
                <a:cs typeface="Calibri" pitchFamily="34" charset="-120"/>
              </a:rPr>
              <a:t>Puis descendez et cliquez sur « Generate token ».</a:t>
            </a:r>
            <a:endParaRPr lang="fr-FR" sz="1100" dirty="0"/>
          </a:p>
        </p:txBody>
      </p:sp>
      <p:sp>
        <p:nvSpPr>
          <p:cNvPr id="28" name="Shape 23"/>
          <p:cNvSpPr/>
          <p:nvPr/>
        </p:nvSpPr>
        <p:spPr>
          <a:xfrm>
            <a:off x="3785616" y="1271016"/>
            <a:ext cx="4956048" cy="2827409"/>
          </a:xfrm>
          <a:prstGeom prst="roundRect">
            <a:avLst>
              <a:gd name="adj" fmla="val 1940"/>
            </a:avLst>
          </a:prstGeom>
          <a:solidFill>
            <a:srgbClr val="F4F8F5"/>
          </a:solidFill>
          <a:ln w="9525">
            <a:solidFill>
              <a:srgbClr val="D3E2D7"/>
            </a:solidFill>
            <a:prstDash val="solid"/>
          </a:ln>
        </p:spPr>
      </p:sp>
      <p:pic>
        <p:nvPicPr>
          <p:cNvPr id="29" name="Image 3" descr="Capture d’écran : github.com/settings/tokens/new"/>
          <p:cNvPicPr>
            <a:picLocks noChangeAspect="1"/>
          </p:cNvPicPr>
          <p:nvPr/>
        </p:nvPicPr>
        <p:blipFill>
          <a:blip r:embed="rId6"/>
          <a:stretch>
            <a:fillRect/>
          </a:stretch>
        </p:blipFill>
        <p:spPr>
          <a:xfrm>
            <a:off x="3840480" y="1325880"/>
            <a:ext cx="4846320" cy="2717681"/>
          </a:xfrm>
          <a:prstGeom prst="rect">
            <a:avLst/>
          </a:prstGeom>
        </p:spPr>
      </p:pic>
      <p:sp>
        <p:nvSpPr>
          <p:cNvPr id="30" name="Shape 24"/>
          <p:cNvSpPr/>
          <p:nvPr/>
        </p:nvSpPr>
        <p:spPr>
          <a:xfrm>
            <a:off x="5078124" y="2400255"/>
            <a:ext cx="1732753" cy="141969"/>
          </a:xfrm>
          <a:prstGeom prst="rect">
            <a:avLst/>
          </a:prstGeom>
          <a:ln w="28575">
            <a:solidFill>
              <a:srgbClr val="D49A00"/>
            </a:solidFill>
            <a:prstDash val="solid"/>
          </a:ln>
        </p:spPr>
      </p:sp>
      <p:sp>
        <p:nvSpPr>
          <p:cNvPr id="31" name="Shape 25"/>
          <p:cNvSpPr/>
          <p:nvPr/>
        </p:nvSpPr>
        <p:spPr>
          <a:xfrm>
            <a:off x="5103606" y="3263498"/>
            <a:ext cx="131049" cy="141969"/>
          </a:xfrm>
          <a:prstGeom prst="rect">
            <a:avLst/>
          </a:prstGeom>
          <a:ln w="28575">
            <a:solidFill>
              <a:srgbClr val="D49A00"/>
            </a:solidFill>
            <a:prstDash val="solid"/>
          </a:ln>
        </p:spPr>
      </p:sp>
      <p:sp>
        <p:nvSpPr>
          <p:cNvPr id="32" name="Shape 26"/>
          <p:cNvSpPr/>
          <p:nvPr/>
        </p:nvSpPr>
        <p:spPr>
          <a:xfrm>
            <a:off x="5078124" y="3907817"/>
            <a:ext cx="131049" cy="141969"/>
          </a:xfrm>
          <a:prstGeom prst="rect">
            <a:avLst/>
          </a:prstGeom>
          <a:ln w="28575">
            <a:solidFill>
              <a:srgbClr val="D49A00"/>
            </a:solidFill>
            <a:prstDash val="solid"/>
          </a:ln>
        </p:spPr>
      </p:sp>
      <p:sp>
        <p:nvSpPr>
          <p:cNvPr id="33" name="Text 27"/>
          <p:cNvSpPr txBox="1"/>
          <p:nvPr/>
        </p:nvSpPr>
        <p:spPr>
          <a:xfrm>
            <a:off x="3840480" y="4153289"/>
            <a:ext cx="4846320" cy="228600"/>
          </a:xfrm>
          <a:prstGeom prst="rect">
            <a:avLst/>
          </a:prstGeom>
          <a:noFill/>
          <a:ln/>
        </p:spPr>
        <p:txBody>
          <a:bodyPr wrap="square" lIns="0" tIns="0" rIns="0" bIns="0" rtlCol="0" anchor="ctr"/>
          <a:lstStyle/>
          <a:p>
            <a:pPr marL="0" indent="0">
              <a:buNone/>
            </a:pPr>
            <a:r>
              <a:rPr lang="fr-FR" sz="900" i="1" dirty="0">
                <a:solidFill>
                  <a:srgbClr val="5A6660"/>
                </a:solidFill>
                <a:latin typeface="Calibri" pitchFamily="34" charset="0"/>
                <a:ea typeface="Calibri" pitchFamily="34" charset="-122"/>
                <a:cs typeface="Calibri" pitchFamily="34" charset="-120"/>
              </a:rPr>
              <a:t>Capture d’écran : github.com/settings/tokens/new</a:t>
            </a:r>
            <a:endParaRPr lang="fr-FR" sz="9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fr-FR" sz="1050" b="1" kern="0" spc="300" dirty="0">
                <a:solidFill>
                  <a:srgbClr val="0E5A2E"/>
                </a:solidFill>
                <a:latin typeface="Calibri" pitchFamily="34" charset="0"/>
                <a:ea typeface="Calibri" pitchFamily="34" charset="-122"/>
                <a:cs typeface="Calibri" pitchFamily="34" charset="-120"/>
              </a:rPr>
              <a:t>06 · COPIER &amp; CONSERVER</a:t>
            </a:r>
            <a:endParaRPr lang="fr-FR" sz="1050" dirty="0"/>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fr-FR" sz="2800" b="1" dirty="0">
                <a:solidFill>
                  <a:srgbClr val="231F20"/>
                </a:solidFill>
                <a:latin typeface="Calibri" pitchFamily="34" charset="0"/>
                <a:ea typeface="Calibri" pitchFamily="34" charset="-122"/>
                <a:cs typeface="Calibri" pitchFamily="34" charset="-120"/>
              </a:rPr>
              <a:t>Copier le jeton immédiatement</a:t>
            </a:r>
            <a:endParaRPr lang="fr-FR" sz="2800" dirty="0"/>
          </a:p>
        </p:txBody>
      </p:sp>
      <p:sp>
        <p:nvSpPr>
          <p:cNvPr id="8" name="Shape 6"/>
          <p:cNvSpPr/>
          <p:nvPr/>
        </p:nvSpPr>
        <p:spPr>
          <a:xfrm>
            <a:off x="7543800" y="365760"/>
            <a:ext cx="109728" cy="109728"/>
          </a:xfrm>
          <a:prstGeom prst="ellipse">
            <a:avLst/>
          </a:prstGeom>
          <a:solidFill>
            <a:srgbClr val="D3E2D7"/>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B83B2E"/>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fr-FR" sz="850" dirty="0">
                <a:solidFill>
                  <a:srgbClr val="8A968F"/>
                </a:solidFill>
                <a:latin typeface="Calibri" pitchFamily="34" charset="0"/>
                <a:ea typeface="Calibri" pitchFamily="34" charset="-122"/>
                <a:cs typeface="Calibri" pitchFamily="34" charset="-120"/>
              </a:rPr>
              <a:t>Générer une clé API GitHub · BAD – Data Innovation for Africa (DI4A)</a:t>
            </a:r>
            <a:endParaRPr lang="fr-FR"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fr-FR" sz="850" dirty="0">
                <a:solidFill>
                  <a:srgbClr val="8A968F"/>
                </a:solidFill>
                <a:latin typeface="Calibri" pitchFamily="34" charset="0"/>
                <a:ea typeface="Calibri" pitchFamily="34" charset="-122"/>
                <a:cs typeface="Calibri" pitchFamily="34" charset="-120"/>
              </a:rPr>
              <a:t>15</a:t>
            </a:r>
            <a:endParaRPr lang="fr-FR" sz="850" dirty="0"/>
          </a:p>
        </p:txBody>
      </p:sp>
      <p:sp>
        <p:nvSpPr>
          <p:cNvPr id="16" name="Shape 14"/>
          <p:cNvSpPr/>
          <p:nvPr/>
        </p:nvSpPr>
        <p:spPr>
          <a:xfrm>
            <a:off x="457200" y="1371600"/>
            <a:ext cx="457200" cy="457200"/>
          </a:xfrm>
          <a:prstGeom prst="ellipse">
            <a:avLst/>
          </a:prstGeom>
          <a:solidFill>
            <a:srgbClr val="B83B2E">
              <a:alpha val="22000"/>
            </a:srgbClr>
          </a:solidFill>
          <a:ln/>
        </p:spPr>
      </p:sp>
      <p:pic>
        <p:nvPicPr>
          <p:cNvPr id="17" name="Image 0" descr="preencoded.png"/>
          <p:cNvPicPr>
            <a:picLocks noChangeAspect="1"/>
          </p:cNvPicPr>
          <p:nvPr/>
        </p:nvPicPr>
        <p:blipFill>
          <a:blip r:embed="rId3"/>
          <a:stretch>
            <a:fillRect/>
          </a:stretch>
        </p:blipFill>
        <p:spPr>
          <a:xfrm>
            <a:off x="585216" y="1499616"/>
            <a:ext cx="201168" cy="201168"/>
          </a:xfrm>
          <a:prstGeom prst="rect">
            <a:avLst/>
          </a:prstGeom>
        </p:spPr>
      </p:pic>
      <p:sp>
        <p:nvSpPr>
          <p:cNvPr id="18" name="Text 15"/>
          <p:cNvSpPr txBox="1"/>
          <p:nvPr/>
        </p:nvSpPr>
        <p:spPr>
          <a:xfrm>
            <a:off x="1024128" y="1353312"/>
            <a:ext cx="2514600" cy="274320"/>
          </a:xfrm>
          <a:prstGeom prst="rect">
            <a:avLst/>
          </a:prstGeom>
          <a:noFill/>
          <a:ln/>
        </p:spPr>
        <p:txBody>
          <a:bodyPr wrap="square" lIns="0" tIns="0" rIns="0" bIns="0" rtlCol="0" anchor="ctr"/>
          <a:lstStyle/>
          <a:p>
            <a:pPr marL="0" indent="0">
              <a:buNone/>
            </a:pPr>
            <a:r>
              <a:rPr lang="fr-FR" sz="1300" b="1" dirty="0">
                <a:solidFill>
                  <a:srgbClr val="231F20"/>
                </a:solidFill>
                <a:latin typeface="Calibri" pitchFamily="34" charset="0"/>
                <a:ea typeface="Calibri" pitchFamily="34" charset="-122"/>
                <a:cs typeface="Calibri" pitchFamily="34" charset="-120"/>
              </a:rPr>
              <a:t>Cliquer sur l’icône de copie</a:t>
            </a:r>
            <a:endParaRPr lang="fr-FR" sz="1300" dirty="0"/>
          </a:p>
        </p:txBody>
      </p:sp>
      <p:sp>
        <p:nvSpPr>
          <p:cNvPr id="19" name="Text 16"/>
          <p:cNvSpPr txBox="1"/>
          <p:nvPr/>
        </p:nvSpPr>
        <p:spPr>
          <a:xfrm>
            <a:off x="1024128" y="1627632"/>
            <a:ext cx="2514600" cy="438912"/>
          </a:xfrm>
          <a:prstGeom prst="rect">
            <a:avLst/>
          </a:prstGeom>
          <a:noFill/>
          <a:ln/>
        </p:spPr>
        <p:txBody>
          <a:bodyPr wrap="square" lIns="0" tIns="0" rIns="0" bIns="0" rtlCol="0" anchor="t"/>
          <a:lstStyle/>
          <a:p>
            <a:pPr marL="0" indent="0">
              <a:buNone/>
            </a:pPr>
            <a:r>
              <a:rPr lang="fr-FR" sz="1100" dirty="0">
                <a:solidFill>
                  <a:srgbClr val="5A6660"/>
                </a:solidFill>
                <a:latin typeface="Calibri" pitchFamily="34" charset="0"/>
                <a:ea typeface="Calibri" pitchFamily="34" charset="-122"/>
                <a:cs typeface="Calibri" pitchFamily="34" charset="-120"/>
              </a:rPr>
              <a:t>À côté du nouveau jeton, qui commence par ghp_.</a:t>
            </a:r>
            <a:endParaRPr lang="fr-FR" sz="1100" dirty="0"/>
          </a:p>
        </p:txBody>
      </p:sp>
      <p:sp>
        <p:nvSpPr>
          <p:cNvPr id="20" name="Shape 17"/>
          <p:cNvSpPr/>
          <p:nvPr/>
        </p:nvSpPr>
        <p:spPr>
          <a:xfrm>
            <a:off x="457200" y="2240280"/>
            <a:ext cx="457200" cy="457200"/>
          </a:xfrm>
          <a:prstGeom prst="ellipse">
            <a:avLst/>
          </a:prstGeom>
          <a:solidFill>
            <a:srgbClr val="B83B2E">
              <a:alpha val="22000"/>
            </a:srgbClr>
          </a:solidFill>
          <a:ln/>
        </p:spPr>
      </p:sp>
      <p:pic>
        <p:nvPicPr>
          <p:cNvPr id="21" name="Image 1" descr="preencoded.png"/>
          <p:cNvPicPr>
            <a:picLocks noChangeAspect="1"/>
          </p:cNvPicPr>
          <p:nvPr/>
        </p:nvPicPr>
        <p:blipFill>
          <a:blip r:embed="rId4"/>
          <a:stretch>
            <a:fillRect/>
          </a:stretch>
        </p:blipFill>
        <p:spPr>
          <a:xfrm>
            <a:off x="585216" y="2368296"/>
            <a:ext cx="201168" cy="201168"/>
          </a:xfrm>
          <a:prstGeom prst="rect">
            <a:avLst/>
          </a:prstGeom>
        </p:spPr>
      </p:pic>
      <p:sp>
        <p:nvSpPr>
          <p:cNvPr id="22" name="Text 18"/>
          <p:cNvSpPr txBox="1"/>
          <p:nvPr/>
        </p:nvSpPr>
        <p:spPr>
          <a:xfrm>
            <a:off x="1024128" y="2221992"/>
            <a:ext cx="2514600" cy="274320"/>
          </a:xfrm>
          <a:prstGeom prst="rect">
            <a:avLst/>
          </a:prstGeom>
          <a:noFill/>
          <a:ln/>
        </p:spPr>
        <p:txBody>
          <a:bodyPr wrap="square" lIns="0" tIns="0" rIns="0" bIns="0" rtlCol="0" anchor="ctr"/>
          <a:lstStyle/>
          <a:p>
            <a:pPr marL="0" indent="0">
              <a:buNone/>
            </a:pPr>
            <a:r>
              <a:rPr lang="fr-FR" sz="1300" b="1" dirty="0">
                <a:solidFill>
                  <a:srgbClr val="231F20"/>
                </a:solidFill>
                <a:latin typeface="Calibri" pitchFamily="34" charset="0"/>
                <a:ea typeface="Calibri" pitchFamily="34" charset="-122"/>
                <a:cs typeface="Calibri" pitchFamily="34" charset="-120"/>
              </a:rPr>
              <a:t>Le conserver en lieu sûr</a:t>
            </a:r>
            <a:endParaRPr lang="fr-FR" sz="1300" dirty="0"/>
          </a:p>
        </p:txBody>
      </p:sp>
      <p:sp>
        <p:nvSpPr>
          <p:cNvPr id="23" name="Text 19"/>
          <p:cNvSpPr txBox="1"/>
          <p:nvPr/>
        </p:nvSpPr>
        <p:spPr>
          <a:xfrm>
            <a:off x="1024128" y="2496312"/>
            <a:ext cx="2514600" cy="438912"/>
          </a:xfrm>
          <a:prstGeom prst="rect">
            <a:avLst/>
          </a:prstGeom>
          <a:noFill/>
          <a:ln/>
        </p:spPr>
        <p:txBody>
          <a:bodyPr wrap="square" lIns="0" tIns="0" rIns="0" bIns="0" rtlCol="0" anchor="t"/>
          <a:lstStyle/>
          <a:p>
            <a:pPr marL="0" indent="0">
              <a:buNone/>
            </a:pPr>
            <a:r>
              <a:rPr lang="fr-FR" sz="1100" dirty="0">
                <a:solidFill>
                  <a:srgbClr val="5A6660"/>
                </a:solidFill>
                <a:latin typeface="Calibri" pitchFamily="34" charset="0"/>
                <a:ea typeface="Calibri" pitchFamily="34" charset="-122"/>
                <a:cs typeface="Calibri" pitchFamily="34" charset="-120"/>
              </a:rPr>
              <a:t>Dans un gestionnaire de mots de passe ou une variable d’environnement.</a:t>
            </a:r>
            <a:endParaRPr lang="fr-FR" sz="1100" dirty="0"/>
          </a:p>
        </p:txBody>
      </p:sp>
      <p:sp>
        <p:nvSpPr>
          <p:cNvPr id="24" name="Shape 20"/>
          <p:cNvSpPr/>
          <p:nvPr/>
        </p:nvSpPr>
        <p:spPr>
          <a:xfrm>
            <a:off x="457200" y="3200400"/>
            <a:ext cx="3108960" cy="868680"/>
          </a:xfrm>
          <a:prstGeom prst="roundRect">
            <a:avLst>
              <a:gd name="adj" fmla="val 8421"/>
            </a:avLst>
          </a:prstGeom>
          <a:solidFill>
            <a:srgbClr val="D49A00">
              <a:alpha val="13000"/>
            </a:srgbClr>
          </a:solidFill>
          <a:ln w="12700">
            <a:solidFill>
              <a:srgbClr val="D49A00"/>
            </a:solidFill>
            <a:prstDash val="solid"/>
          </a:ln>
        </p:spPr>
      </p:sp>
      <p:sp>
        <p:nvSpPr>
          <p:cNvPr id="25" name="Shape 21"/>
          <p:cNvSpPr/>
          <p:nvPr/>
        </p:nvSpPr>
        <p:spPr>
          <a:xfrm>
            <a:off x="566928" y="3383280"/>
            <a:ext cx="420624" cy="420624"/>
          </a:xfrm>
          <a:prstGeom prst="ellipse">
            <a:avLst/>
          </a:prstGeom>
          <a:solidFill>
            <a:srgbClr val="D49A00">
              <a:alpha val="25000"/>
            </a:srgbClr>
          </a:solidFill>
          <a:ln/>
        </p:spPr>
      </p:sp>
      <p:pic>
        <p:nvPicPr>
          <p:cNvPr id="26" name="Image 2" descr="preencoded.png"/>
          <p:cNvPicPr>
            <a:picLocks noChangeAspect="1"/>
          </p:cNvPicPr>
          <p:nvPr/>
        </p:nvPicPr>
        <p:blipFill>
          <a:blip r:embed="rId5"/>
          <a:stretch>
            <a:fillRect/>
          </a:stretch>
        </p:blipFill>
        <p:spPr>
          <a:xfrm>
            <a:off x="684703" y="3501055"/>
            <a:ext cx="185075" cy="185075"/>
          </a:xfrm>
          <a:prstGeom prst="rect">
            <a:avLst/>
          </a:prstGeom>
        </p:spPr>
      </p:pic>
      <p:sp>
        <p:nvSpPr>
          <p:cNvPr id="27" name="Text 22"/>
          <p:cNvSpPr txBox="1"/>
          <p:nvPr/>
        </p:nvSpPr>
        <p:spPr>
          <a:xfrm>
            <a:off x="1078992" y="3246120"/>
            <a:ext cx="2395728" cy="777240"/>
          </a:xfrm>
          <a:prstGeom prst="rect">
            <a:avLst/>
          </a:prstGeom>
          <a:noFill/>
          <a:ln/>
        </p:spPr>
        <p:txBody>
          <a:bodyPr wrap="square" lIns="0" tIns="0" rIns="0" bIns="0" rtlCol="0" anchor="ctr"/>
          <a:lstStyle/>
          <a:p>
            <a:pPr marL="0" indent="0">
              <a:buNone/>
            </a:pPr>
            <a:r>
              <a:rPr lang="fr-FR" sz="1100" b="1" dirty="0">
                <a:solidFill>
                  <a:srgbClr val="231F20"/>
                </a:solidFill>
                <a:latin typeface="Calibri" pitchFamily="34" charset="0"/>
                <a:ea typeface="Calibri" pitchFamily="34" charset="-122"/>
                <a:cs typeface="Calibri" pitchFamily="34" charset="-120"/>
              </a:rPr>
              <a:t>Vous ne pourrez plus le revoir. En cas de perte, générez-en un nouveau.</a:t>
            </a:r>
            <a:endParaRPr lang="fr-FR" sz="1100" dirty="0"/>
          </a:p>
        </p:txBody>
      </p:sp>
      <p:sp>
        <p:nvSpPr>
          <p:cNvPr id="28" name="Shape 23"/>
          <p:cNvSpPr/>
          <p:nvPr/>
        </p:nvSpPr>
        <p:spPr>
          <a:xfrm>
            <a:off x="3785616" y="1271016"/>
            <a:ext cx="4956048" cy="2751400"/>
          </a:xfrm>
          <a:prstGeom prst="roundRect">
            <a:avLst>
              <a:gd name="adj" fmla="val 1994"/>
            </a:avLst>
          </a:prstGeom>
          <a:solidFill>
            <a:srgbClr val="F4F8F5"/>
          </a:solidFill>
          <a:ln w="9525">
            <a:solidFill>
              <a:srgbClr val="D3E2D7"/>
            </a:solidFill>
            <a:prstDash val="solid"/>
          </a:ln>
        </p:spPr>
      </p:sp>
      <p:pic>
        <p:nvPicPr>
          <p:cNvPr id="29" name="Image 3" descr="Capture d’écran : github.com/settings/tokens — jeton masqué"/>
          <p:cNvPicPr>
            <a:picLocks noChangeAspect="1"/>
          </p:cNvPicPr>
          <p:nvPr/>
        </p:nvPicPr>
        <p:blipFill>
          <a:blip r:embed="rId6"/>
          <a:stretch>
            <a:fillRect/>
          </a:stretch>
        </p:blipFill>
        <p:spPr>
          <a:xfrm>
            <a:off x="3840480" y="1325880"/>
            <a:ext cx="4846320" cy="2641672"/>
          </a:xfrm>
          <a:prstGeom prst="rect">
            <a:avLst/>
          </a:prstGeom>
        </p:spPr>
      </p:pic>
      <p:sp>
        <p:nvSpPr>
          <p:cNvPr id="30" name="Shape 24"/>
          <p:cNvSpPr/>
          <p:nvPr/>
        </p:nvSpPr>
        <p:spPr>
          <a:xfrm>
            <a:off x="6348457" y="2686698"/>
            <a:ext cx="130851" cy="141756"/>
          </a:xfrm>
          <a:prstGeom prst="rect">
            <a:avLst/>
          </a:prstGeom>
          <a:ln w="28575">
            <a:solidFill>
              <a:srgbClr val="D49A00"/>
            </a:solidFill>
            <a:prstDash val="solid"/>
          </a:ln>
        </p:spPr>
      </p:sp>
      <p:sp>
        <p:nvSpPr>
          <p:cNvPr id="31" name="Text 25"/>
          <p:cNvSpPr txBox="1"/>
          <p:nvPr/>
        </p:nvSpPr>
        <p:spPr>
          <a:xfrm>
            <a:off x="3840480" y="4077280"/>
            <a:ext cx="4846320" cy="228600"/>
          </a:xfrm>
          <a:prstGeom prst="rect">
            <a:avLst/>
          </a:prstGeom>
          <a:noFill/>
          <a:ln/>
        </p:spPr>
        <p:txBody>
          <a:bodyPr wrap="square" lIns="0" tIns="0" rIns="0" bIns="0" rtlCol="0" anchor="ctr"/>
          <a:lstStyle/>
          <a:p>
            <a:pPr marL="0" indent="0">
              <a:buNone/>
            </a:pPr>
            <a:r>
              <a:rPr lang="fr-FR" sz="900" i="1" dirty="0">
                <a:solidFill>
                  <a:srgbClr val="5A6660"/>
                </a:solidFill>
                <a:latin typeface="Calibri" pitchFamily="34" charset="0"/>
                <a:ea typeface="Calibri" pitchFamily="34" charset="-122"/>
                <a:cs typeface="Calibri" pitchFamily="34" charset="-120"/>
              </a:rPr>
              <a:t>Capture d’écran : github.com/settings/tokens — jeton masqué</a:t>
            </a:r>
            <a:endParaRPr lang="fr-FR" sz="9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fr-FR" sz="1050" b="1" kern="0" spc="300" dirty="0">
                <a:solidFill>
                  <a:srgbClr val="0E5A2E"/>
                </a:solidFill>
                <a:latin typeface="Calibri" pitchFamily="34" charset="0"/>
                <a:ea typeface="Calibri" pitchFamily="34" charset="-122"/>
                <a:cs typeface="Calibri" pitchFamily="34" charset="-120"/>
              </a:rPr>
              <a:t>06 · COPIER &amp; CONSERVER</a:t>
            </a:r>
            <a:endParaRPr lang="fr-FR" sz="1050" dirty="0"/>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fr-FR" sz="2800" b="1" dirty="0">
                <a:solidFill>
                  <a:srgbClr val="231F20"/>
                </a:solidFill>
                <a:latin typeface="Calibri" pitchFamily="34" charset="0"/>
                <a:ea typeface="Calibri" pitchFamily="34" charset="-122"/>
                <a:cs typeface="Calibri" pitchFamily="34" charset="-120"/>
              </a:rPr>
              <a:t>Protéger votre jeton</a:t>
            </a:r>
            <a:endParaRPr lang="fr-FR" sz="2800" dirty="0"/>
          </a:p>
        </p:txBody>
      </p:sp>
      <p:sp>
        <p:nvSpPr>
          <p:cNvPr id="8" name="Shape 6"/>
          <p:cNvSpPr/>
          <p:nvPr/>
        </p:nvSpPr>
        <p:spPr>
          <a:xfrm>
            <a:off x="7543800" y="365760"/>
            <a:ext cx="109728" cy="109728"/>
          </a:xfrm>
          <a:prstGeom prst="ellipse">
            <a:avLst/>
          </a:prstGeom>
          <a:solidFill>
            <a:srgbClr val="D3E2D7"/>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B83B2E"/>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fr-FR" sz="850" dirty="0">
                <a:solidFill>
                  <a:srgbClr val="8A968F"/>
                </a:solidFill>
                <a:latin typeface="Calibri" pitchFamily="34" charset="0"/>
                <a:ea typeface="Calibri" pitchFamily="34" charset="-122"/>
                <a:cs typeface="Calibri" pitchFamily="34" charset="-120"/>
              </a:rPr>
              <a:t>Générer une clé API GitHub · BAD – Data Innovation for Africa (DI4A)</a:t>
            </a:r>
            <a:endParaRPr lang="fr-FR"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fr-FR" sz="850" dirty="0">
                <a:solidFill>
                  <a:srgbClr val="8A968F"/>
                </a:solidFill>
                <a:latin typeface="Calibri" pitchFamily="34" charset="0"/>
                <a:ea typeface="Calibri" pitchFamily="34" charset="-122"/>
                <a:cs typeface="Calibri" pitchFamily="34" charset="-120"/>
              </a:rPr>
              <a:t>16</a:t>
            </a:r>
            <a:endParaRPr lang="fr-FR" sz="850" dirty="0"/>
          </a:p>
        </p:txBody>
      </p:sp>
      <p:sp>
        <p:nvSpPr>
          <p:cNvPr id="16" name="Shape 14"/>
          <p:cNvSpPr/>
          <p:nvPr/>
        </p:nvSpPr>
        <p:spPr>
          <a:xfrm>
            <a:off x="457200" y="1325880"/>
            <a:ext cx="3977640" cy="1371600"/>
          </a:xfrm>
          <a:prstGeom prst="roundRect">
            <a:avLst>
              <a:gd name="adj" fmla="val 5333"/>
            </a:avLst>
          </a:prstGeom>
          <a:solidFill>
            <a:srgbClr val="F4F8F5"/>
          </a:solidFill>
          <a:ln w="9525">
            <a:solidFill>
              <a:srgbClr val="D3E2D7"/>
            </a:solidFill>
            <a:prstDash val="solid"/>
          </a:ln>
        </p:spPr>
      </p:sp>
      <p:sp>
        <p:nvSpPr>
          <p:cNvPr id="17" name="Shape 15"/>
          <p:cNvSpPr/>
          <p:nvPr/>
        </p:nvSpPr>
        <p:spPr>
          <a:xfrm>
            <a:off x="685800" y="1581912"/>
            <a:ext cx="548640" cy="548640"/>
          </a:xfrm>
          <a:prstGeom prst="ellipse">
            <a:avLst/>
          </a:prstGeom>
          <a:solidFill>
            <a:srgbClr val="2C9045">
              <a:alpha val="22000"/>
            </a:srgbClr>
          </a:solidFill>
          <a:ln/>
        </p:spPr>
      </p:sp>
      <p:pic>
        <p:nvPicPr>
          <p:cNvPr id="18" name="Image 0" descr="preencoded.png"/>
          <p:cNvPicPr>
            <a:picLocks noChangeAspect="1"/>
          </p:cNvPicPr>
          <p:nvPr/>
        </p:nvPicPr>
        <p:blipFill>
          <a:blip r:embed="rId3"/>
          <a:stretch>
            <a:fillRect/>
          </a:stretch>
        </p:blipFill>
        <p:spPr>
          <a:xfrm>
            <a:off x="839419" y="1735531"/>
            <a:ext cx="241402" cy="241402"/>
          </a:xfrm>
          <a:prstGeom prst="rect">
            <a:avLst/>
          </a:prstGeom>
        </p:spPr>
      </p:pic>
      <p:sp>
        <p:nvSpPr>
          <p:cNvPr id="19" name="Text 16"/>
          <p:cNvSpPr txBox="1"/>
          <p:nvPr/>
        </p:nvSpPr>
        <p:spPr>
          <a:xfrm>
            <a:off x="1417320" y="1527048"/>
            <a:ext cx="2834640" cy="320040"/>
          </a:xfrm>
          <a:prstGeom prst="rect">
            <a:avLst/>
          </a:prstGeom>
          <a:noFill/>
          <a:ln/>
        </p:spPr>
        <p:txBody>
          <a:bodyPr wrap="square" lIns="0" tIns="0" rIns="0" bIns="0" rtlCol="0" anchor="ctr"/>
          <a:lstStyle/>
          <a:p>
            <a:pPr marL="0" indent="0">
              <a:buNone/>
            </a:pPr>
            <a:r>
              <a:rPr lang="fr-FR" sz="1400" b="1" dirty="0">
                <a:solidFill>
                  <a:srgbClr val="231F20"/>
                </a:solidFill>
                <a:latin typeface="Calibri" pitchFamily="34" charset="0"/>
                <a:ea typeface="Calibri" pitchFamily="34" charset="-122"/>
                <a:cs typeface="Calibri" pitchFamily="34" charset="-120"/>
              </a:rPr>
              <a:t>Ne jamais le committer</a:t>
            </a:r>
            <a:endParaRPr lang="fr-FR" sz="1400" dirty="0"/>
          </a:p>
        </p:txBody>
      </p:sp>
      <p:sp>
        <p:nvSpPr>
          <p:cNvPr id="20" name="Text 17"/>
          <p:cNvSpPr txBox="1"/>
          <p:nvPr/>
        </p:nvSpPr>
        <p:spPr>
          <a:xfrm>
            <a:off x="1417320" y="1874520"/>
            <a:ext cx="2834640" cy="685800"/>
          </a:xfrm>
          <a:prstGeom prst="rect">
            <a:avLst/>
          </a:prstGeom>
          <a:noFill/>
          <a:ln/>
        </p:spPr>
        <p:txBody>
          <a:bodyPr wrap="square" lIns="0" tIns="0" rIns="0" bIns="0" rtlCol="0" anchor="t"/>
          <a:lstStyle/>
          <a:p>
            <a:pPr marL="0" indent="0">
              <a:buNone/>
            </a:pPr>
            <a:r>
              <a:rPr lang="fr-FR" sz="1150" dirty="0">
                <a:solidFill>
                  <a:srgbClr val="5A6660"/>
                </a:solidFill>
                <a:latin typeface="Calibri" pitchFamily="34" charset="0"/>
                <a:ea typeface="Calibri" pitchFamily="34" charset="-122"/>
                <a:cs typeface="Calibri" pitchFamily="34" charset="-120"/>
              </a:rPr>
              <a:t>Gardez les jetons hors du code et des dépôts. Utilisez une variable d’environnement ou un secret GitHub Actions.</a:t>
            </a:r>
            <a:endParaRPr lang="fr-FR" sz="1150" dirty="0"/>
          </a:p>
        </p:txBody>
      </p:sp>
      <p:sp>
        <p:nvSpPr>
          <p:cNvPr id="21" name="Shape 18"/>
          <p:cNvSpPr/>
          <p:nvPr/>
        </p:nvSpPr>
        <p:spPr>
          <a:xfrm>
            <a:off x="4709160" y="1325880"/>
            <a:ext cx="3977640" cy="1371600"/>
          </a:xfrm>
          <a:prstGeom prst="roundRect">
            <a:avLst>
              <a:gd name="adj" fmla="val 5333"/>
            </a:avLst>
          </a:prstGeom>
          <a:solidFill>
            <a:srgbClr val="F4F8F5"/>
          </a:solidFill>
          <a:ln w="9525">
            <a:solidFill>
              <a:srgbClr val="D3E2D7"/>
            </a:solidFill>
            <a:prstDash val="solid"/>
          </a:ln>
        </p:spPr>
      </p:sp>
      <p:sp>
        <p:nvSpPr>
          <p:cNvPr id="22" name="Shape 19"/>
          <p:cNvSpPr/>
          <p:nvPr/>
        </p:nvSpPr>
        <p:spPr>
          <a:xfrm>
            <a:off x="4937760" y="1581912"/>
            <a:ext cx="548640" cy="548640"/>
          </a:xfrm>
          <a:prstGeom prst="ellipse">
            <a:avLst/>
          </a:prstGeom>
          <a:solidFill>
            <a:srgbClr val="0E7C86">
              <a:alpha val="22000"/>
            </a:srgbClr>
          </a:solidFill>
          <a:ln/>
        </p:spPr>
      </p:sp>
      <p:pic>
        <p:nvPicPr>
          <p:cNvPr id="23" name="Image 1" descr="preencoded.png"/>
          <p:cNvPicPr>
            <a:picLocks noChangeAspect="1"/>
          </p:cNvPicPr>
          <p:nvPr/>
        </p:nvPicPr>
        <p:blipFill>
          <a:blip r:embed="rId4"/>
          <a:stretch>
            <a:fillRect/>
          </a:stretch>
        </p:blipFill>
        <p:spPr>
          <a:xfrm>
            <a:off x="5091379" y="1735531"/>
            <a:ext cx="241402" cy="241402"/>
          </a:xfrm>
          <a:prstGeom prst="rect">
            <a:avLst/>
          </a:prstGeom>
        </p:spPr>
      </p:pic>
      <p:sp>
        <p:nvSpPr>
          <p:cNvPr id="24" name="Text 20"/>
          <p:cNvSpPr txBox="1"/>
          <p:nvPr/>
        </p:nvSpPr>
        <p:spPr>
          <a:xfrm>
            <a:off x="5669280" y="1527048"/>
            <a:ext cx="2834640" cy="320040"/>
          </a:xfrm>
          <a:prstGeom prst="rect">
            <a:avLst/>
          </a:prstGeom>
          <a:noFill/>
          <a:ln/>
        </p:spPr>
        <p:txBody>
          <a:bodyPr wrap="square" lIns="0" tIns="0" rIns="0" bIns="0" rtlCol="0" anchor="ctr"/>
          <a:lstStyle/>
          <a:p>
            <a:pPr marL="0" indent="0">
              <a:buNone/>
            </a:pPr>
            <a:r>
              <a:rPr lang="fr-FR" sz="1400" b="1" dirty="0">
                <a:solidFill>
                  <a:srgbClr val="231F20"/>
                </a:solidFill>
                <a:latin typeface="Calibri" pitchFamily="34" charset="0"/>
                <a:ea typeface="Calibri" pitchFamily="34" charset="-122"/>
                <a:cs typeface="Calibri" pitchFamily="34" charset="-120"/>
              </a:rPr>
              <a:t>Toujours fixer une expiration</a:t>
            </a:r>
            <a:endParaRPr lang="fr-FR" sz="1400" dirty="0"/>
          </a:p>
        </p:txBody>
      </p:sp>
      <p:sp>
        <p:nvSpPr>
          <p:cNvPr id="25" name="Text 21"/>
          <p:cNvSpPr txBox="1"/>
          <p:nvPr/>
        </p:nvSpPr>
        <p:spPr>
          <a:xfrm>
            <a:off x="5669280" y="1874520"/>
            <a:ext cx="2834640" cy="685800"/>
          </a:xfrm>
          <a:prstGeom prst="rect">
            <a:avLst/>
          </a:prstGeom>
          <a:noFill/>
          <a:ln/>
        </p:spPr>
        <p:txBody>
          <a:bodyPr wrap="square" lIns="0" tIns="0" rIns="0" bIns="0" rtlCol="0" anchor="t"/>
          <a:lstStyle/>
          <a:p>
            <a:pPr marL="0" indent="0">
              <a:buNone/>
            </a:pPr>
            <a:r>
              <a:rPr lang="fr-FR" sz="1150" dirty="0">
                <a:solidFill>
                  <a:srgbClr val="5A6660"/>
                </a:solidFill>
                <a:latin typeface="Calibri" pitchFamily="34" charset="0"/>
                <a:ea typeface="Calibri" pitchFamily="34" charset="-122"/>
                <a:cs typeface="Calibri" pitchFamily="34" charset="-120"/>
              </a:rPr>
              <a:t>Un jeton de courte durée limite les dégâts en cas de fuite. Régénérez-le à l’expiration.</a:t>
            </a:r>
            <a:endParaRPr lang="fr-FR" sz="1150" dirty="0"/>
          </a:p>
        </p:txBody>
      </p:sp>
      <p:sp>
        <p:nvSpPr>
          <p:cNvPr id="26" name="Shape 22"/>
          <p:cNvSpPr/>
          <p:nvPr/>
        </p:nvSpPr>
        <p:spPr>
          <a:xfrm>
            <a:off x="457200" y="2926080"/>
            <a:ext cx="3977640" cy="1371600"/>
          </a:xfrm>
          <a:prstGeom prst="roundRect">
            <a:avLst>
              <a:gd name="adj" fmla="val 5333"/>
            </a:avLst>
          </a:prstGeom>
          <a:solidFill>
            <a:srgbClr val="F4F8F5"/>
          </a:solidFill>
          <a:ln w="9525">
            <a:solidFill>
              <a:srgbClr val="D3E2D7"/>
            </a:solidFill>
            <a:prstDash val="solid"/>
          </a:ln>
        </p:spPr>
      </p:sp>
      <p:sp>
        <p:nvSpPr>
          <p:cNvPr id="27" name="Shape 23"/>
          <p:cNvSpPr/>
          <p:nvPr/>
        </p:nvSpPr>
        <p:spPr>
          <a:xfrm>
            <a:off x="685800" y="3182112"/>
            <a:ext cx="548640" cy="548640"/>
          </a:xfrm>
          <a:prstGeom prst="ellipse">
            <a:avLst/>
          </a:prstGeom>
          <a:solidFill>
            <a:srgbClr val="D49A00">
              <a:alpha val="22000"/>
            </a:srgbClr>
          </a:solidFill>
          <a:ln/>
        </p:spPr>
      </p:sp>
      <p:pic>
        <p:nvPicPr>
          <p:cNvPr id="28" name="Image 2" descr="preencoded.png"/>
          <p:cNvPicPr>
            <a:picLocks noChangeAspect="1"/>
          </p:cNvPicPr>
          <p:nvPr/>
        </p:nvPicPr>
        <p:blipFill>
          <a:blip r:embed="rId5"/>
          <a:stretch>
            <a:fillRect/>
          </a:stretch>
        </p:blipFill>
        <p:spPr>
          <a:xfrm>
            <a:off x="839419" y="3335731"/>
            <a:ext cx="241402" cy="241402"/>
          </a:xfrm>
          <a:prstGeom prst="rect">
            <a:avLst/>
          </a:prstGeom>
        </p:spPr>
      </p:pic>
      <p:sp>
        <p:nvSpPr>
          <p:cNvPr id="29" name="Text 24"/>
          <p:cNvSpPr txBox="1"/>
          <p:nvPr/>
        </p:nvSpPr>
        <p:spPr>
          <a:xfrm>
            <a:off x="1417320" y="3127248"/>
            <a:ext cx="2834640" cy="320040"/>
          </a:xfrm>
          <a:prstGeom prst="rect">
            <a:avLst/>
          </a:prstGeom>
          <a:noFill/>
          <a:ln/>
        </p:spPr>
        <p:txBody>
          <a:bodyPr wrap="square" lIns="0" tIns="0" rIns="0" bIns="0" rtlCol="0" anchor="ctr"/>
          <a:lstStyle/>
          <a:p>
            <a:pPr marL="0" indent="0">
              <a:buNone/>
            </a:pPr>
            <a:r>
              <a:rPr lang="fr-FR" sz="1400" b="1" dirty="0">
                <a:solidFill>
                  <a:srgbClr val="231F20"/>
                </a:solidFill>
                <a:latin typeface="Calibri" pitchFamily="34" charset="0"/>
                <a:ea typeface="Calibri" pitchFamily="34" charset="-122"/>
                <a:cs typeface="Calibri" pitchFamily="34" charset="-120"/>
              </a:rPr>
              <a:t>Scopes minimaux</a:t>
            </a:r>
            <a:endParaRPr lang="fr-FR" sz="1400" dirty="0"/>
          </a:p>
        </p:txBody>
      </p:sp>
      <p:sp>
        <p:nvSpPr>
          <p:cNvPr id="30" name="Text 25"/>
          <p:cNvSpPr txBox="1"/>
          <p:nvPr/>
        </p:nvSpPr>
        <p:spPr>
          <a:xfrm>
            <a:off x="1417320" y="3474720"/>
            <a:ext cx="2834640" cy="685800"/>
          </a:xfrm>
          <a:prstGeom prst="rect">
            <a:avLst/>
          </a:prstGeom>
          <a:noFill/>
          <a:ln/>
        </p:spPr>
        <p:txBody>
          <a:bodyPr wrap="square" lIns="0" tIns="0" rIns="0" bIns="0" rtlCol="0" anchor="t"/>
          <a:lstStyle/>
          <a:p>
            <a:pPr marL="0" indent="0">
              <a:buNone/>
            </a:pPr>
            <a:r>
              <a:rPr lang="fr-FR" sz="1150" dirty="0">
                <a:solidFill>
                  <a:srgbClr val="5A6660"/>
                </a:solidFill>
                <a:latin typeface="Calibri" pitchFamily="34" charset="0"/>
                <a:ea typeface="Calibri" pitchFamily="34" charset="-122"/>
                <a:cs typeface="Calibri" pitchFamily="34" charset="-120"/>
              </a:rPr>
              <a:t>Cochez uniquement les scopes nécessaires. Pour ce guide : repo et workflow.</a:t>
            </a:r>
            <a:endParaRPr lang="fr-FR" sz="1150" dirty="0"/>
          </a:p>
        </p:txBody>
      </p:sp>
      <p:sp>
        <p:nvSpPr>
          <p:cNvPr id="31" name="Shape 26"/>
          <p:cNvSpPr/>
          <p:nvPr/>
        </p:nvSpPr>
        <p:spPr>
          <a:xfrm>
            <a:off x="4709160" y="2926080"/>
            <a:ext cx="3977640" cy="1371600"/>
          </a:xfrm>
          <a:prstGeom prst="roundRect">
            <a:avLst>
              <a:gd name="adj" fmla="val 5333"/>
            </a:avLst>
          </a:prstGeom>
          <a:solidFill>
            <a:srgbClr val="F4F8F5"/>
          </a:solidFill>
          <a:ln w="9525">
            <a:solidFill>
              <a:srgbClr val="D3E2D7"/>
            </a:solidFill>
            <a:prstDash val="solid"/>
          </a:ln>
        </p:spPr>
      </p:sp>
      <p:sp>
        <p:nvSpPr>
          <p:cNvPr id="32" name="Shape 27"/>
          <p:cNvSpPr/>
          <p:nvPr/>
        </p:nvSpPr>
        <p:spPr>
          <a:xfrm>
            <a:off x="4937760" y="3182112"/>
            <a:ext cx="548640" cy="548640"/>
          </a:xfrm>
          <a:prstGeom prst="ellipse">
            <a:avLst/>
          </a:prstGeom>
          <a:solidFill>
            <a:srgbClr val="B83B2E">
              <a:alpha val="22000"/>
            </a:srgbClr>
          </a:solidFill>
          <a:ln/>
        </p:spPr>
      </p:sp>
      <p:pic>
        <p:nvPicPr>
          <p:cNvPr id="33" name="Image 3" descr="preencoded.png"/>
          <p:cNvPicPr>
            <a:picLocks noChangeAspect="1"/>
          </p:cNvPicPr>
          <p:nvPr/>
        </p:nvPicPr>
        <p:blipFill>
          <a:blip r:embed="rId6"/>
          <a:stretch>
            <a:fillRect/>
          </a:stretch>
        </p:blipFill>
        <p:spPr>
          <a:xfrm>
            <a:off x="5091379" y="3335731"/>
            <a:ext cx="241402" cy="241402"/>
          </a:xfrm>
          <a:prstGeom prst="rect">
            <a:avLst/>
          </a:prstGeom>
        </p:spPr>
      </p:pic>
      <p:sp>
        <p:nvSpPr>
          <p:cNvPr id="34" name="Text 28"/>
          <p:cNvSpPr txBox="1"/>
          <p:nvPr/>
        </p:nvSpPr>
        <p:spPr>
          <a:xfrm>
            <a:off x="5669280" y="3127248"/>
            <a:ext cx="2834640" cy="320040"/>
          </a:xfrm>
          <a:prstGeom prst="rect">
            <a:avLst/>
          </a:prstGeom>
          <a:noFill/>
          <a:ln/>
        </p:spPr>
        <p:txBody>
          <a:bodyPr wrap="square" lIns="0" tIns="0" rIns="0" bIns="0" rtlCol="0" anchor="ctr"/>
          <a:lstStyle/>
          <a:p>
            <a:pPr marL="0" indent="0">
              <a:buNone/>
            </a:pPr>
            <a:r>
              <a:rPr lang="fr-FR" sz="1400" b="1" dirty="0">
                <a:solidFill>
                  <a:srgbClr val="231F20"/>
                </a:solidFill>
                <a:latin typeface="Calibri" pitchFamily="34" charset="0"/>
                <a:ea typeface="Calibri" pitchFamily="34" charset="-122"/>
                <a:cs typeface="Calibri" pitchFamily="34" charset="-120"/>
              </a:rPr>
              <a:t>Révoquer en cas de fuite</a:t>
            </a:r>
            <a:endParaRPr lang="fr-FR" sz="1400" dirty="0"/>
          </a:p>
        </p:txBody>
      </p:sp>
      <p:sp>
        <p:nvSpPr>
          <p:cNvPr id="35" name="Text 29"/>
          <p:cNvSpPr txBox="1"/>
          <p:nvPr/>
        </p:nvSpPr>
        <p:spPr>
          <a:xfrm>
            <a:off x="5669280" y="3474720"/>
            <a:ext cx="2834640" cy="685800"/>
          </a:xfrm>
          <a:prstGeom prst="rect">
            <a:avLst/>
          </a:prstGeom>
          <a:noFill/>
          <a:ln/>
        </p:spPr>
        <p:txBody>
          <a:bodyPr wrap="square" lIns="0" tIns="0" rIns="0" bIns="0" rtlCol="0" anchor="t"/>
          <a:lstStyle/>
          <a:p>
            <a:pPr marL="0" indent="0">
              <a:buNone/>
            </a:pPr>
            <a:r>
              <a:rPr lang="fr-FR" sz="1150" dirty="0">
                <a:solidFill>
                  <a:srgbClr val="5A6660"/>
                </a:solidFill>
                <a:latin typeface="Calibri" pitchFamily="34" charset="0"/>
                <a:ea typeface="Calibri" pitchFamily="34" charset="-122"/>
                <a:cs typeface="Calibri" pitchFamily="34" charset="-120"/>
              </a:rPr>
              <a:t>Developer settings › Tokens (classic) › Delete, puis générez un nouveau jeton.</a:t>
            </a:r>
            <a:endParaRPr lang="fr-FR" sz="1150" dirty="0"/>
          </a:p>
        </p:txBody>
      </p:sp>
      <p:sp>
        <p:nvSpPr>
          <p:cNvPr id="36" name="Text 30"/>
          <p:cNvSpPr txBox="1"/>
          <p:nvPr/>
        </p:nvSpPr>
        <p:spPr>
          <a:xfrm>
            <a:off x="457200" y="4544568"/>
            <a:ext cx="8229600" cy="201168"/>
          </a:xfrm>
          <a:prstGeom prst="rect">
            <a:avLst/>
          </a:prstGeom>
          <a:noFill/>
          <a:ln/>
        </p:spPr>
        <p:txBody>
          <a:bodyPr wrap="square" lIns="0" tIns="0" rIns="0" bIns="0" rtlCol="0" anchor="ctr"/>
          <a:lstStyle/>
          <a:p>
            <a:pPr marL="0" indent="0">
              <a:buNone/>
            </a:pPr>
            <a:r>
              <a:rPr lang="fr-FR" sz="900" i="1" dirty="0">
                <a:solidFill>
                  <a:srgbClr val="5A6660"/>
                </a:solidFill>
                <a:latin typeface="Calibri" pitchFamily="34" charset="0"/>
                <a:ea typeface="Calibri" pitchFamily="34" charset="-122"/>
                <a:cs typeface="Calibri" pitchFamily="34" charset="-120"/>
              </a:rPr>
              <a:t>Source : GitHub Docs, « Managing your personal access tokens ».</a:t>
            </a:r>
            <a:endParaRPr lang="fr-FR" sz="9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fr-FR" sz="1050" b="1" kern="0" spc="300" dirty="0">
                <a:solidFill>
                  <a:srgbClr val="0E5A2E"/>
                </a:solidFill>
                <a:latin typeface="Calibri" pitchFamily="34" charset="0"/>
                <a:ea typeface="Calibri" pitchFamily="34" charset="-122"/>
                <a:cs typeface="Calibri" pitchFamily="34" charset="-120"/>
              </a:rPr>
              <a:t>SOURCES</a:t>
            </a:r>
            <a:endParaRPr lang="fr-FR" sz="1050" dirty="0"/>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fr-FR" sz="2800" b="1" dirty="0">
                <a:solidFill>
                  <a:srgbClr val="231F20"/>
                </a:solidFill>
                <a:latin typeface="Calibri" pitchFamily="34" charset="0"/>
                <a:ea typeface="Calibri" pitchFamily="34" charset="-122"/>
                <a:cs typeface="Calibri" pitchFamily="34" charset="-120"/>
              </a:rPr>
              <a:t>Sources</a:t>
            </a:r>
            <a:endParaRPr lang="fr-FR" sz="2800" dirty="0"/>
          </a:p>
        </p:txBody>
      </p:sp>
      <p:sp>
        <p:nvSpPr>
          <p:cNvPr id="8" name="Shape 6"/>
          <p:cNvSpPr/>
          <p:nvPr/>
        </p:nvSpPr>
        <p:spPr>
          <a:xfrm>
            <a:off x="7543800" y="365760"/>
            <a:ext cx="109728" cy="109728"/>
          </a:xfrm>
          <a:prstGeom prst="ellipse">
            <a:avLst/>
          </a:prstGeom>
          <a:solidFill>
            <a:srgbClr val="D3E2D7"/>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D3E2D7"/>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fr-FR" sz="850" dirty="0">
                <a:solidFill>
                  <a:srgbClr val="8A968F"/>
                </a:solidFill>
                <a:latin typeface="Calibri" pitchFamily="34" charset="0"/>
                <a:ea typeface="Calibri" pitchFamily="34" charset="-122"/>
                <a:cs typeface="Calibri" pitchFamily="34" charset="-120"/>
              </a:rPr>
              <a:t>Générer une clé API GitHub · BAD – Data Innovation for Africa (DI4A)</a:t>
            </a:r>
            <a:endParaRPr lang="fr-FR"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fr-FR" sz="850" dirty="0">
                <a:solidFill>
                  <a:srgbClr val="8A968F"/>
                </a:solidFill>
                <a:latin typeface="Calibri" pitchFamily="34" charset="0"/>
                <a:ea typeface="Calibri" pitchFamily="34" charset="-122"/>
                <a:cs typeface="Calibri" pitchFamily="34" charset="-120"/>
              </a:rPr>
              <a:t>17</a:t>
            </a:r>
            <a:endParaRPr lang="fr-FR" sz="850" dirty="0"/>
          </a:p>
        </p:txBody>
      </p:sp>
      <p:sp>
        <p:nvSpPr>
          <p:cNvPr id="16" name="Shape 14"/>
          <p:cNvSpPr/>
          <p:nvPr/>
        </p:nvSpPr>
        <p:spPr>
          <a:xfrm>
            <a:off x="457200" y="1325880"/>
            <a:ext cx="8229600" cy="1463040"/>
          </a:xfrm>
          <a:prstGeom prst="roundRect">
            <a:avLst>
              <a:gd name="adj" fmla="val 5000"/>
            </a:avLst>
          </a:prstGeom>
          <a:solidFill>
            <a:srgbClr val="F4F8F5"/>
          </a:solidFill>
          <a:ln w="9525">
            <a:solidFill>
              <a:srgbClr val="D3E2D7"/>
            </a:solidFill>
            <a:prstDash val="solid"/>
          </a:ln>
        </p:spPr>
      </p:sp>
      <p:sp>
        <p:nvSpPr>
          <p:cNvPr id="17" name="Shape 15"/>
          <p:cNvSpPr/>
          <p:nvPr/>
        </p:nvSpPr>
        <p:spPr>
          <a:xfrm>
            <a:off x="685800" y="1572768"/>
            <a:ext cx="548640" cy="548640"/>
          </a:xfrm>
          <a:prstGeom prst="ellipse">
            <a:avLst/>
          </a:prstGeom>
          <a:solidFill>
            <a:srgbClr val="0E5A2E">
              <a:alpha val="22000"/>
            </a:srgbClr>
          </a:solidFill>
          <a:ln/>
        </p:spPr>
      </p:sp>
      <p:pic>
        <p:nvPicPr>
          <p:cNvPr id="18" name="Image 0" descr="preencoded.png"/>
          <p:cNvPicPr>
            <a:picLocks noChangeAspect="1"/>
          </p:cNvPicPr>
          <p:nvPr/>
        </p:nvPicPr>
        <p:blipFill>
          <a:blip r:embed="rId3"/>
          <a:stretch>
            <a:fillRect/>
          </a:stretch>
        </p:blipFill>
        <p:spPr>
          <a:xfrm>
            <a:off x="839419" y="1726387"/>
            <a:ext cx="241402" cy="241402"/>
          </a:xfrm>
          <a:prstGeom prst="rect">
            <a:avLst/>
          </a:prstGeom>
        </p:spPr>
      </p:pic>
      <p:sp>
        <p:nvSpPr>
          <p:cNvPr id="19" name="Text 16"/>
          <p:cNvSpPr txBox="1"/>
          <p:nvPr/>
        </p:nvSpPr>
        <p:spPr>
          <a:xfrm>
            <a:off x="1463040" y="1463040"/>
            <a:ext cx="7040880" cy="1188720"/>
          </a:xfrm>
          <a:prstGeom prst="rect">
            <a:avLst/>
          </a:prstGeom>
          <a:noFill/>
          <a:ln/>
        </p:spPr>
        <p:txBody>
          <a:bodyPr wrap="square" lIns="0" tIns="0" rIns="0" bIns="0" rtlCol="0" anchor="ctr"/>
          <a:lstStyle/>
          <a:p>
            <a:pPr marL="0" indent="0">
              <a:spcAft>
                <a:spcPts val="400"/>
              </a:spcAft>
              <a:buNone/>
            </a:pPr>
            <a:r>
              <a:rPr lang="fr-FR" sz="1300" b="1" dirty="0">
                <a:solidFill>
                  <a:srgbClr val="231F20"/>
                </a:solidFill>
                <a:latin typeface="Calibri" pitchFamily="34" charset="0"/>
                <a:ea typeface="Calibri" pitchFamily="34" charset="-122"/>
                <a:cs typeface="Calibri" pitchFamily="34" charset="-120"/>
              </a:rPr>
              <a:t>GitHub Docs — Managing your personal access tokens</a:t>
            </a:r>
            <a:endParaRPr lang="fr-FR" sz="1300" dirty="0"/>
          </a:p>
          <a:p>
            <a:pPr marL="0" indent="0">
              <a:spcAft>
                <a:spcPts val="400"/>
              </a:spcAft>
              <a:buNone/>
            </a:pPr>
            <a:r>
              <a:rPr lang="fr-FR" sz="1050" dirty="0">
                <a:solidFill>
                  <a:srgbClr val="5A6660"/>
                </a:solidFill>
                <a:latin typeface="Calibri" pitchFamily="34" charset="0"/>
                <a:ea typeface="Calibri" pitchFamily="34" charset="-122"/>
                <a:cs typeface="Calibri" pitchFamily="34" charset="-120"/>
              </a:rPr>
              <a:t>docs.github.com/en/authentication/keeping-your-account-and-data-secure/managing-your-personal-access-tokens</a:t>
            </a:r>
            <a:endParaRPr lang="fr-FR" sz="1300" dirty="0"/>
          </a:p>
          <a:p>
            <a:pPr marL="0" indent="0">
              <a:spcAft>
                <a:spcPts val="400"/>
              </a:spcAft>
              <a:buNone/>
            </a:pPr>
            <a:r>
              <a:rPr lang="fr-FR" sz="1050" i="1" dirty="0">
                <a:solidFill>
                  <a:srgbClr val="5A6660"/>
                </a:solidFill>
                <a:latin typeface="Calibri" pitchFamily="34" charset="0"/>
                <a:ea typeface="Calibri" pitchFamily="34" charset="-122"/>
                <a:cs typeface="Calibri" pitchFamily="34" charset="-120"/>
              </a:rPr>
              <a:t>Captures d’écran : github.com, réalisées avec le compte de démonstration datainnov4africa-web (valeur du jeton masquée).</a:t>
            </a:r>
            <a:endParaRPr lang="fr-FR" sz="13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1097280"/>
            <a:ext cx="6400800" cy="274320"/>
          </a:xfrm>
          <a:prstGeom prst="rect">
            <a:avLst/>
          </a:prstGeom>
          <a:noFill/>
          <a:ln/>
        </p:spPr>
        <p:txBody>
          <a:bodyPr wrap="square" lIns="0" tIns="0" rIns="0" bIns="0" rtlCol="0" anchor="ctr"/>
          <a:lstStyle/>
          <a:p>
            <a:pPr marL="0" indent="0">
              <a:buNone/>
            </a:pPr>
            <a:r>
              <a:rPr lang="fr-FR" sz="1100" b="1" kern="0" spc="300" dirty="0">
                <a:solidFill>
                  <a:srgbClr val="F5C242"/>
                </a:solidFill>
                <a:latin typeface="Calibri" pitchFamily="34" charset="0"/>
                <a:ea typeface="Calibri" pitchFamily="34" charset="-122"/>
                <a:cs typeface="Calibri" pitchFamily="34" charset="-120"/>
              </a:rPr>
              <a:t>VOUS ÊTES PRÊTS</a:t>
            </a:r>
            <a:endParaRPr lang="fr-FR" sz="1100" dirty="0"/>
          </a:p>
        </p:txBody>
      </p:sp>
      <p:sp>
        <p:nvSpPr>
          <p:cNvPr id="4" name="Text 2"/>
          <p:cNvSpPr txBox="1"/>
          <p:nvPr/>
        </p:nvSpPr>
        <p:spPr>
          <a:xfrm>
            <a:off x="548640" y="1463040"/>
            <a:ext cx="6035040" cy="1280160"/>
          </a:xfrm>
          <a:prstGeom prst="rect">
            <a:avLst/>
          </a:prstGeom>
          <a:noFill/>
          <a:ln/>
        </p:spPr>
        <p:txBody>
          <a:bodyPr wrap="square" lIns="0" tIns="0" rIns="0" bIns="0" rtlCol="0" anchor="t"/>
          <a:lstStyle/>
          <a:p>
            <a:pPr marL="0" indent="0">
              <a:buNone/>
            </a:pPr>
            <a:r>
              <a:rPr lang="fr-FR" sz="4000" b="1" dirty="0">
                <a:solidFill>
                  <a:srgbClr val="FFFFFF"/>
                </a:solidFill>
                <a:latin typeface="Calibri" pitchFamily="34" charset="0"/>
                <a:ea typeface="Calibri" pitchFamily="34" charset="-122"/>
                <a:cs typeface="Calibri" pitchFamily="34" charset="-120"/>
              </a:rPr>
              <a:t>Votre jeton ouvre l’accès à l’API GitHub</a:t>
            </a:r>
            <a:endParaRPr lang="fr-FR" sz="4000" dirty="0"/>
          </a:p>
        </p:txBody>
      </p:sp>
      <p:pic>
        <p:nvPicPr>
          <p:cNvPr id="6" name="AfDB DI4A logo" descr="Logo Banque africaine de développement – Data Innovation for Africa (DI4A)"/>
          <p:cNvPicPr>
            <a:picLocks noChangeAspect="1"/>
          </p:cNvPicPr>
          <p:nvPr/>
        </p:nvPicPr>
        <p:blipFill>
          <a:blip r:embed="rId4"/>
          <a:stretch>
            <a:fillRect/>
          </a:stretch>
        </p:blipFill>
        <p:spPr>
          <a:xfrm>
            <a:off x="548640" y="3931920"/>
            <a:ext cx="1980311" cy="566928"/>
          </a:xfrm>
          <a:prstGeom prst="rect">
            <a:avLst/>
          </a:prstGeom>
        </p:spPr>
      </p:pic>
      <p:sp>
        <p:nvSpPr>
          <p:cNvPr id="7" name="AfDB DI4A"/>
          <p:cNvSpPr txBox="1"/>
          <p:nvPr/>
        </p:nvSpPr>
        <p:spPr>
          <a:xfrm>
            <a:off x="2757551" y="3931920"/>
            <a:ext cx="5837809" cy="566928"/>
          </a:xfrm>
          <a:prstGeom prst="rect">
            <a:avLst/>
          </a:prstGeom>
          <a:noFill/>
          <a:ln/>
        </p:spPr>
        <p:txBody>
          <a:bodyPr wrap="square" lIns="0" tIns="0" rIns="0" bIns="0" rtlCol="0" anchor="ctr"/>
          <a:lstStyle/>
          <a:p>
            <a:pPr marL="0" indent="0">
              <a:buNone/>
            </a:pPr>
            <a:r>
              <a:rPr lang="fr-FR" sz="1100" b="1" dirty="0">
                <a:solidFill>
                  <a:srgbClr val="FFFFFF"/>
                </a:solidFill>
                <a:latin typeface="Calibri" pitchFamily="34" charset="0"/>
                <a:ea typeface="Calibri" pitchFamily="34" charset="-122"/>
                <a:cs typeface="Calibri" pitchFamily="34" charset="-120"/>
              </a:rPr>
              <a:t>Banque africaine de développement (BAD)</a:t>
            </a:r>
          </a:p>
          <a:p>
            <a:pPr marL="0" indent="0">
              <a:spcBef>
                <a:spcPts val="200"/>
              </a:spcBef>
              <a:buNone/>
            </a:pPr>
            <a:r>
              <a:rPr lang="fr-FR" sz="1100" dirty="0">
                <a:solidFill>
                  <a:srgbClr val="E8F4EB"/>
                </a:solidFill>
                <a:latin typeface="Calibri" pitchFamily="34" charset="0"/>
                <a:ea typeface="Calibri" pitchFamily="34" charset="-122"/>
                <a:cs typeface="Calibri" pitchFamily="34" charset="-120"/>
              </a:rPr>
              <a:t>Data Innovation for Africa (DI4A)</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2460</Words>
  <Application>Microsoft Office PowerPoint</Application>
  <PresentationFormat>On-screen Show (16:9)</PresentationFormat>
  <Paragraphs>267</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Générer une clé API GitHub</dc:title>
  <dc:subject>PptxGenJS Presentation</dc:subject>
  <dc:creator>PptxGenJS</dc:creator>
  <cp:lastModifiedBy>HADJ TAIEB, MOHAMED ALI</cp:lastModifiedBy>
  <cp:revision>3</cp:revision>
  <dcterms:created xsi:type="dcterms:W3CDTF">2026-09-29T04:05:31Z</dcterms:created>
  <dcterms:modified xsi:type="dcterms:W3CDTF">2026-10-16T15:36:19Z</dcterms:modified>
</cp:coreProperties>
</file>