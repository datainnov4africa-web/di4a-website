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charts/chart1.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charts/chart2.xml" ContentType="application/vnd.openxmlformats-officedocument.drawingml.chart+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Lst>
  <p:notesMasterIdLst>
    <p:notesMasterId r:id="rId5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uverture" id="{e2088b43-aaff-1200-bf3c-ae443b271b83}">
          <p14:sldIdLst>
            <p14:sldId id="256"/>
            <p14:sldId id="257"/>
          </p14:sldIdLst>
        </p14:section>
        <p14:section name="La série" id="{66c97d9a-50c6-f94e-6836-e1629bcf7e40}">
          <p14:sldIdLst>
            <p14:sldId id="258"/>
            <p14:sldId id="259"/>
            <p14:sldId id="260"/>
          </p14:sldIdLst>
        </p14:section>
        <p14:section name="Collecter" id="{145acde6-89b8-d5bd-170e-74508466f76a}">
          <p14:sldIdLst>
            <p14:sldId id="261"/>
            <p14:sldId id="262"/>
            <p14:sldId id="263"/>
            <p14:sldId id="264"/>
            <p14:sldId id="265"/>
            <p14:sldId id="266"/>
          </p14:sldIdLst>
        </p14:section>
        <p14:section name="Explorer et comprendre" id="{636577e1-fa39-b86d-4325-c2c64cf58a31}">
          <p14:sldIdLst>
            <p14:sldId id="267"/>
            <p14:sldId id="268"/>
            <p14:sldId id="269"/>
            <p14:sldId id="270"/>
            <p14:sldId id="271"/>
            <p14:sldId id="272"/>
          </p14:sldIdLst>
        </p14:section>
        <p14:section name="Analyser" id="{2c95b8ec-0a9d-7c00-c86d-bdc19bb1c8ec}">
          <p14:sldIdLst>
            <p14:sldId id="273"/>
            <p14:sldId id="274"/>
            <p14:sldId id="275"/>
            <p14:sldId id="276"/>
            <p14:sldId id="277"/>
            <p14:sldId id="278"/>
            <p14:sldId id="279"/>
            <p14:sldId id="280"/>
            <p14:sldId id="281"/>
            <p14:sldId id="282"/>
            <p14:sldId id="283"/>
            <p14:sldId id="284"/>
            <p14:sldId id="285"/>
            <p14:sldId id="286"/>
            <p14:sldId id="287"/>
            <p14:sldId id="288"/>
            <p14:sldId id="289"/>
            <p14:sldId id="290"/>
            <p14:sldId id="291"/>
            <p14:sldId id="292"/>
            <p14:sldId id="293"/>
            <p14:sldId id="294"/>
          </p14:sldIdLst>
        </p14:section>
        <p14:section name="Publier et contrôler" id="{2c6b212c-0465-a87b-7bf1-3593977f6e50}">
          <p14:sldIdLst>
            <p14:sldId id="295"/>
            <p14:sldId id="296"/>
            <p14:sldId id="297"/>
            <p14:sldId id="298"/>
          </p14:sldIdLst>
        </p14:section>
        <p14:section name="À retenir" id="{569d705b-bca7-74a0-8a55-07f8b37d21d2}">
          <p14:sldIdLst>
            <p14:sldId id="299"/>
            <p14:sldId id="300"/>
            <p14:sldId id="301"/>
            <p14:sldId id="302"/>
            <p14:sldId id="30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notesMaster" Target="notesMasters/notesMaster1.xml"/><Relationship Id="rId51" Type="http://schemas.openxmlformats.org/officeDocument/2006/relationships/presProps" Target="presProps.xml"/><Relationship Id="rId52" Type="http://schemas.openxmlformats.org/officeDocument/2006/relationships/viewProps" Target="viewProps.xml"/><Relationship Id="rId53" Type="http://schemas.openxmlformats.org/officeDocument/2006/relationships/theme" Target="theme/theme1.xml"/><Relationship Id="rId5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5E6964"/>
                </a:solidFill>
                <a:latin typeface="+mn-lt"/>
              </a:defRPr>
            </a:pPr>
            <a:r>
              <a:rPr sz="1100" b="0" i="0" u="none" strike="noStrike">
                <a:solidFill>
                  <a:srgbClr val="5E6964"/>
                </a:solidFill>
                <a:latin typeface="+mn-lt"/>
              </a:rPr>
              <a:t>Somme des lumières (indice), données de démonstration</a:t>
            </a:r>
          </a:p>
        </c:rich>
      </c:tx>
      <c:layout/>
      <c:overlay val="0"/>
    </c:title>
    <c:autoTitleDeleted val="0"/>
    <c:plotArea>
      <c:layout/>
      <c:barChart>
        <c:barDir val="bar"/>
        <c:grouping val="clustered"/>
        <c:varyColors val="0"/>
        <c:ser>
          <c:idx val="0"/>
          <c:order val="0"/>
          <c:tx>
            <c:strRef>
              <c:f>Sheet1!$B$1</c:f>
              <c:strCache>
                <c:ptCount val="1"/>
                <c:pt idx="0">
                  <c:v>Somme des lumières</c:v>
                </c:pt>
              </c:strCache>
            </c:strRef>
          </c:tx>
          <c:spPr>
            <a:solidFill>
              <a:srgbClr val="10A06A"/>
            </a:solidFill>
            <a:effectLst/>
          </c:spPr>
          <c:invertIfNegative val="0"/>
          <c:dLbls>
            <c:numFmt formatCode="#,##0" sourceLinked="0"/>
            <c:txPr>
              <a:bodyPr/>
              <a:lstStyle/>
              <a:p>
                <a:pPr>
                  <a:defRPr b="0" i="0" strike="noStrike" sz="1000" u="none">
                    <a:solidFill>
                      <a:srgbClr val="231F20"/>
                    </a:solidFill>
                    <a:latin typeface="+mn-lt"/>
                  </a:defRPr>
                </a:pPr>
              </a:p>
            </c:txPr>
            <c:showLegendKey val="0"/>
            <c:showVal val="1"/>
            <c:showCatName val="0"/>
            <c:showSerName val="0"/>
            <c:showPercent val="0"/>
            <c:showBubbleSize val="0"/>
            <c:showLeaderLines val="0"/>
          </c:dLbls>
          <c:dPt>
            <c:idx val="0"/>
            <c:invertIfNegative val="0"/>
            <c:bubble3D val="0"/>
            <c:spPr>
              <a:solidFill>
                <a:srgbClr val="10A06A"/>
              </a:solidFill>
              <a:effectLst/>
            </c:spPr>
          </c:dPt>
          <c:dPt>
            <c:idx val="1"/>
            <c:invertIfNegative val="0"/>
            <c:bubble3D val="0"/>
            <c:spPr>
              <a:solidFill>
                <a:srgbClr val="33AF7C"/>
              </a:solidFill>
              <a:effectLst/>
            </c:spPr>
          </c:dPt>
          <c:dPt>
            <c:idx val="2"/>
            <c:invertIfNegative val="0"/>
            <c:bubble3D val="0"/>
            <c:spPr>
              <a:solidFill>
                <a:srgbClr val="57BD92"/>
              </a:solidFill>
              <a:effectLst/>
            </c:spPr>
          </c:dPt>
          <c:dPt>
            <c:idx val="3"/>
            <c:invertIfNegative val="0"/>
            <c:bubble3D val="0"/>
            <c:spPr>
              <a:solidFill>
                <a:srgbClr val="A9B5B0"/>
              </a:solidFill>
              <a:effectLst/>
            </c:spPr>
          </c:dPt>
          <c:dPt>
            <c:idx val="4"/>
            <c:invertIfNegative val="0"/>
            <c:bubble3D val="0"/>
            <c:spPr>
              <a:solidFill>
                <a:srgbClr val="00553A"/>
              </a:solidFill>
              <a:effectLst/>
            </c:spPr>
          </c:dPt>
          <c:cat>
            <c:multiLvlStrRef>
              <c:f>Sheet1!$A$2:$A$6</c:f>
              <c:multiLvlStrCache>
                <c:ptCount val="5"/>
                <c:lvl>
                  <c:pt idx="0">
                    <c:v>Remplissage → NaN</c:v>
                  </c:pt>
                  <c:pt idx="1">
                    <c:v>+ filtre qualité</c:v>
                  </c:pt>
                  <c:pt idx="2">
                    <c:v>+ masque eau</c:v>
                  </c:pt>
                  <c:pt idx="3">
                    <c:v>Mosaïque (2 tuiles)</c:v>
                  </c:pt>
                  <c:pt idx="4">
                    <c:v>Découpé sur frontière</c:v>
                  </c:pt>
                </c:lvl>
              </c:multiLvlStrCache>
            </c:multiLvlStrRef>
          </c:cat>
          <c:val>
            <c:numRef>
              <c:f>Sheet1!$B$2:$B$6</c:f>
              <c:numCache>
                <c:formatCode>General</c:formatCode>
                <c:ptCount val="5"/>
                <c:pt idx="0">
                  <c:v>49130</c:v>
                </c:pt>
                <c:pt idx="1">
                  <c:v>46510</c:v>
                </c:pt>
                <c:pt idx="2">
                  <c:v>40369</c:v>
                </c:pt>
                <c:pt idx="3">
                  <c:v>76873</c:v>
                </c:pt>
                <c:pt idx="4">
                  <c:v>22737</c:v>
                </c:pt>
              </c:numCache>
            </c:numRef>
          </c:val>
        </c:ser>
        <c:dLbls>
          <c:numFmt formatCode="#,##0" sourceLinked="0"/>
          <c:txPr>
            <a:bodyPr/>
            <a:lstStyle/>
            <a:p>
              <a:pPr>
                <a:defRPr b="0" i="0" strike="noStrike" sz="1000" u="none">
                  <a:solidFill>
                    <a:srgbClr val="231F20"/>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50" b="0" i="0" u="none" strike="noStrike">
                <a:solidFill>
                  <a:srgbClr val="5E6964"/>
                </a:solidFill>
                <a:latin typeface="+mn-lt"/>
              </a:defRPr>
            </a:pPr>
            <a:endParaRPr lang="en-US"/>
          </a:p>
        </c:txPr>
        <c:crossAx val="2094734552"/>
        <c:crosses val="autoZero"/>
        <c:auto val="1"/>
        <c:lblAlgn val="ctr"/>
        <c:noMultiLvlLbl val="1"/>
      </c:catAx>
      <c:valAx>
        <c:axId val="2094734552"/>
        <c:scaling>
          <c:orientation val="minMax"/>
        </c:scaling>
        <c:delete val="1"/>
        <c:axPos val="b"/>
        <c:majorGridlines>
          <c:spPr>
            <a:ln w="6350" cap="flat">
              <a:solidFill>
                <a:srgbClr val="E1E7E4"/>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5E6964"/>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5E6964"/>
                </a:solidFill>
                <a:latin typeface="+mn-lt"/>
              </a:defRPr>
            </a:pPr>
            <a:r>
              <a:rPr sz="1100" b="0" i="0" u="none" strike="noStrike">
                <a:solidFill>
                  <a:srgbClr val="5E6964"/>
                </a:solidFill>
                <a:latin typeface="+mn-lt"/>
              </a:rPr>
              <a:t>« Convergence » fictive sous bruit pur</a:t>
            </a:r>
          </a:p>
        </c:rich>
      </c:tx>
      <c:layout/>
      <c:overlay val="0"/>
    </c:title>
    <c:autoTitleDeleted val="0"/>
    <c:plotArea>
      <c:layout/>
      <c:barChart>
        <c:barDir val="col"/>
        <c:grouping val="clustered"/>
        <c:varyColors val="0"/>
        <c:ser>
          <c:idx val="0"/>
          <c:order val="0"/>
          <c:tx>
            <c:strRef>
              <c:f>Sheet1!$B$1</c:f>
              <c:strCache>
                <c:ptCount val="1"/>
                <c:pt idx="0">
                  <c:v>Faux positifs</c:v>
                </c:pt>
              </c:strCache>
            </c:strRef>
          </c:tx>
          <c:spPr>
            <a:solidFill>
              <a:srgbClr val="A9B5B0"/>
            </a:solidFill>
            <a:effectLst/>
          </c:spPr>
          <c:invertIfNegative val="0"/>
          <c:dLbls>
            <c:numFmt formatCode="0.0&quot;%&quot;" sourceLinked="0"/>
            <c:txPr>
              <a:bodyPr/>
              <a:lstStyle/>
              <a:p>
                <a:pPr>
                  <a:defRPr b="0" i="0" strike="noStrike" sz="1100" u="none">
                    <a:solidFill>
                      <a:srgbClr val="231F20"/>
                    </a:solidFill>
                    <a:latin typeface="+mn-lt"/>
                  </a:defRPr>
                </a:pPr>
              </a:p>
            </c:txPr>
            <c:showLegendKey val="0"/>
            <c:showVal val="1"/>
            <c:showCatName val="0"/>
            <c:showSerName val="0"/>
            <c:showPercent val="0"/>
            <c:showBubbleSize val="0"/>
            <c:showLeaderLines val="0"/>
          </c:dLbls>
          <c:dPt>
            <c:idx val="0"/>
            <c:invertIfNegative val="0"/>
            <c:bubble3D val="0"/>
            <c:spPr>
              <a:solidFill>
                <a:srgbClr val="A9B5B0"/>
              </a:solidFill>
              <a:effectLst/>
            </c:spPr>
          </c:dPt>
          <c:dPt>
            <c:idx val="1"/>
            <c:invertIfNegative val="0"/>
            <c:bubble3D val="0"/>
            <c:spPr>
              <a:solidFill>
                <a:srgbClr val="00A86A"/>
              </a:solidFill>
              <a:effectLst/>
            </c:spPr>
          </c:dPt>
          <c:cat>
            <c:multiLvlStrRef>
              <c:f>Sheet1!$A$2:$A$3</c:f>
              <c:multiLvlStrCache>
                <c:ptCount val="2"/>
                <c:lvl>
                  <c:pt idx="0">
                    <c:v>Avant</c:v>
                  </c:pt>
                  <c:pt idx="1">
                    <c:v>Après</c:v>
                  </c:pt>
                </c:lvl>
              </c:multiLvlStrCache>
            </c:multiLvlStrRef>
          </c:cat>
          <c:val>
            <c:numRef>
              <c:f>Sheet1!$B$2:$B$3</c:f>
              <c:numCache>
                <c:formatCode>General</c:formatCode>
                <c:ptCount val="2"/>
                <c:pt idx="0">
                  <c:v>13.7</c:v>
                </c:pt>
                <c:pt idx="1">
                  <c:v>0.7</c:v>
                </c:pt>
              </c:numCache>
            </c:numRef>
          </c:val>
        </c:ser>
        <c:dLbls>
          <c:numFmt formatCode="0.0&quot;%&quot;" sourceLinked="0"/>
          <c:txPr>
            <a:bodyPr/>
            <a:lstStyle/>
            <a:p>
              <a:pPr>
                <a:defRPr b="0" i="0" strike="noStrike" sz="1100" u="none">
                  <a:solidFill>
                    <a:srgbClr val="231F20"/>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50" b="0" i="0" u="none" strike="noStrike">
                <a:solidFill>
                  <a:srgbClr val="5E6964"/>
                </a:solidFill>
                <a:latin typeface="+mn-lt"/>
              </a:defRPr>
            </a:pPr>
            <a:endParaRPr lang="en-US"/>
          </a:p>
        </c:txPr>
        <c:crossAx val="2094734552"/>
        <c:crosses val="autoZero"/>
        <c:auto val="1"/>
        <c:lblAlgn val="ctr"/>
        <c:noMultiLvlLbl val="1"/>
      </c:catAx>
      <c:valAx>
        <c:axId val="2094734552"/>
        <c:scaling>
          <c:orientation val="minMax"/>
          <c:max val="16"/>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Bienvenue. Cette présentation parcourt les trois notebooks de la série Lumières nocturnes de l’initiative DI4A de la BAD : collecter les données NASA Black Marble, comprendre ce que contiennent les fichiers, puis transformer la radiance nocturne en indicateurs économiques publiés sur un tableau de bord. Tout est piloté par un seul paramètre, le code ISO3 du pays.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présentation suit six sections, chacune avec sa couleur, reprise dans les points de progression en haut à droite de chaque diapositive. Les sections 2 à 4 correspondent chacune à un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D'abord l'intuition et l'architecture de la série.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Produire, transporter et consommer exige de l'énergie, dont une partie s'échappe la nuit sous forme de lumière. Les satellites la mesurent partout, chaque nuit, avec le même instrument. Les lumières sont donc homogènes entre pays, fines dans l'espace et rapides, là où les comptes nationaux sont annuels, tardifs et rarement régionaux. La littérature (Henderson, Storeygard et Weil 2012 ; Chen et Nordhaus 2011) montre qu'elles apportent le plus là où la statistique est la plus faible.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série est une chaîne. Le notebook 1 collecte les fichiers NASA d'un pays. Le notebook 2 explique, couche par couche, comment les lire correctement. Le notebook 3 passe à l'échelle avec Google Earth Engine pour produire des indicateurs nationaux et régionaux et un tableau de bord public. Dans chaque notebook, on ne modifie qu'une cellule de paramètres, à commencer par le code ISO3 du pays.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Notebook 1 : la collecte. L'objectif est une chaîne d'acquisition reproductible pilotée par un seul code ISO3.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notebook 1 compte neuf étapes. Les étapes 1 à 7 ne demandent aucun compte NASA : la recherche dans le catalogue est publique. Seule l'étape 8, le téléchargement, exige un jeton Earthdata, jamais écrit dans le notebook. Il tourne sur Colab, Kaggle et Jupyter local, et il est idempotent : relancer ignore les fichiers valides et reprend les téléchargements interrompus.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Black Marble est la suite NASA de lumières nocturnes corrigées issues de la bande Jour/Nuit de VIIRS sur Suomi-NPP : les effets de la Lune, de l'atmosphère, des nuages et de la neige sont retirés. Les quatre produits partagent la même grille et la même structure de fichier et ne diffèrent que par l'agrégation temporelle. Nous utilisons la Collection 2 : la NASA a cessé de produire la Collection 1 après janvier 2025, et les deux ne doivent jamais être mélangées dans une série.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globe est découpé en 36 × 18 tuiles fixes de 10 degrés. Les indices de tuile viennent d'une division entière de la longitude et de la latitude, appliquée aux quatre coins de l'emprise du pays. La Côte d'Ivoire demande deux tuiles, le Soudan six. Le notebook vérifie la formule sur des cas connus avant de l'utiliser. Les noms de fichiers ne sont jamais construits à la main car l'horodatage de production est imprévisible : le catalogue renvoie les vrais noms.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Comparer le 15 janvier au 3 août mélange saisonnalité et développement. Le notebook fixe donc la date et ne fait varier que l'année : une fenêtre de nuits autour d'un jour fixé pour les quotidiens, un mois fixé pour le mensuel, l'année entière pour l'annuel. Une nuit ne suffit jamais : le cycle lunaire dure 29,5 jours, si bien qu'une date fixe tombe une année sur une pleine Lune et une autre sur une nouvelle Lune. En Afrique de l'Ouest, janvier apporte aussi l'harmattan et les feux de brousse.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catalogue NASA CMR renvoie chaque granule qui recoupe l'emprise et la fenêtre de temps, avec sa taille. Le notebook envoie une requête étroite par année, pagine, garde une entrée par tuile et par date avec la version la plus haute, et filtre sur la date du nom de fichier. Il compare ensuite granules attendus et trouvés et trace une matrice produit × année. Le téléchargement reprend les fichiers partiels, suit les redirections en n'envoyant le jeton qu'aux serveurs NASA, vérifie la taille et ouvre chaque fichier en HDF5.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Notebook 2 : comprendre le fichier. Aucune des erreurs montrées ici ne produit de message d'erreur.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fichier HDF5 contient des groupes (des intercalaires), des jeux de données (des tableaux de nombres) et des attributs (des notes qui y sont attachées). Le groupe utile est toujours sous HDFEOS/GRIDS/&lt;grille&gt;/Data Fields, mais le nom de la grille change entre le quotidien et les composites. Le notebook le cherche au lieu de le supposer. Cinq familles de couches coexistent : radiance, incertitude, qualité, contexte et coordonnées.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nombre stocké n'est pas toujours la radiance. Les produits quotidiens stockent des entiers pour gagner de la place : radiance = valeur stockée × facteur d'échelle + décalage. La valeur de remplissage signifie « aucune donnée ici » et doit devenir NaN avant tout calcul. Dans les fichiers quotidiens, elle vaut 65535 avec un facteur 0,1 : l'oublier ajoute 6 553,5 par pixel vide, plus que le centre de Lagos. Dans les composites Collection 2, elle vaut −999,9 : l'oublier retranche 999,9 par pixel vide. Dans les deux cas, le chiffre est faux de plusieurs ordres de grandeur sans message d'erreur.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Chaque pixel porte un code qualité dont le sens dépend du produit. Dans les composites mensuels et annuels, 0 = bonne qualité (plus de trois nuits), 1 = qualité médiocre (trois nuits ou moins), 2 = comblé à partir de l'historique. Le notebook lit la légende du fichier et ne garde par défaut que les codes qualifiés de bonne qualité. Les pixels d'océan et de mer sont retirés avec des codes eux aussi lus dans la légende, car le codage change d'une collection à l'autre. Le masque nuage quotidien est un champ de 16 bits lu bit à bit.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 fil rouge du notebook 2, ici sur ses données de démonstration pour la Côte d'Ivoire, qui reproduisent la structure des vrais fichiers Collection 2 avec des valeurs simulées. La somme naïve, où la valeur de remplissage est comptée comme une mesure, vaut environ moins 70,7 millions : impossible pour de la lumière, et pourtant aucune erreur n'apparaît. Mettre le remplissage à NaN donne 49 130. Le filtre qualité, le masque eau, la mosaïque de deux tuiles et le découpage sur la frontière nationale amènent ensuite le chiffre à 22 737. Les valeurs sont simulées : la leçon porte sur l'ordre des opérations, pas sur les chiffres.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Une tuile est un carré arbitraire de 10 degrés ; un pays ne l'est pas. Le notebook colle les tuiles dans une grille commune sans rééchantillonnage, puis ne garde que les pixels à l'intérieur de la frontière par un test point-dans-polygone. La radiance nocturne est extrêmement asymétrique : une poignée de pixels urbains porte l'essentiel de la lumière, d'où l'échelle logarithmique des cartes et la vérification systématique du pixel le plus brillant. Les pixels rétrécissent avec la latitude : une somme pondérée par la surface est proposée pour comparer des pays éloignés. Chaque export s'accompagne d'un fichier de métadonnées avec le journal de traitement.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Notebook 3 : l'analyse. Six scénarios, chacun avec sa question, ses données, sa méthode et ses métriques.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notebook 3 compte quatorze sections. Les sections 02 à 04 préparent les données : paramètres, acquisition et nettoyage sur Earth Engine, puis exploration visuelle. Les sections 05 à 10 sont six scénarios indépendants, chacun répondant à une question de politique publique avec ses propres métriques. La section 11 transforme les résultats en messages clés dotés d'un niveau de confiance, et les sections 12 et 13 exportent et publient le tableau de bord. Tous les scénarios lisent les deux mêmes tables de base : les résultats sont donc cohérents entre eux.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Quatre produits de lumière sont lus dans Earth Engine. Le composite mensuel VIIRS VNL V2, corrigé de la lumière parasite, est la colonne vertébrale des séries : sa bande cf_cvg compte les observations sans nuage de chaque pixel. Les composites annuels VNL, V2.1 jusqu'en 2021 et V2.2 depuis 2022, masquent déjà le bruit de fond et les lumières éphémères : ils donnent les niveaux annuels et servent de masque de fond. Black Marble VNP46A2 est le seul produit quotidien, utilisé pour zoomer sur les chocs. La série harmonisée DMSP–VIIRS de Li et coauteurs prolonge l'analyse jusqu'en 1992, en nombres numériques de type DMSP, à lire seulement comme une 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lumière seule ne distingue pas une ville dense d'une usine. Les couches de population et de bâti du Global Human Settlement Layer du Centre commun de recherche de la Commission européenne y répondent. GHS-POP donne le nombre d'habitants par cellule de 100 m tous les cinq ans ; l'époque la plus proche est utilisée pour chaque année. WorldPop est une source de population alternative pour 2000 à 2020. GHS-SMOD classe chaque kilomètre carré par degré d'urbanisation : les codes 21 et plus sont comptés comme urbains. GHS-BUILT-S donne la surface bâtie et sa part non résidentielle. ESA WorldCover est enregistré et vérifié, et une fonction calcule les parts d'occupation du sol par unité, mais il n'est pas utilisé dans l'exécution par défaut.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Quatre autres sources complètent le tableau. Sentinel-5P mesure le dioxyde d'azote troposphérique, traceur de combustion, depuis juillet 2018 : sa moyenne annuelle par unité est comparée à la lumière et entre dans le score industriel. geoBoundaries fournit les limites nationales, régionales et de districts ; FAO GAUL sert de solution de repli. L'API de la Banque mondiale fournit le PIB officiel en dollars constants de 2015, les taux d'accès à l'électricité et la population. Les polygones industriels d'OpenStreetMap, interrogés via l'API Overpass, ne servent qu'à valider les zones industrielles candidates, jamais à les détecter.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Cette matrice résume où chaque jeu de données est utilisé. Un point plein signifie que la donnée entre dans les métriques du scénario ; un point creux qu'elle sert à un contrôle, une variable de contexte ou une validation. Les limites administratives sont utilisées partout, car chaque chiffre est une somme sur une unité administrative.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Earth Engine somme chaque pixel nettoyé à l'intérieur de chaque unité, à la résolution native de 464 m, et ne renvoie que des tables. La table mensuelle a une ligne par unité et par mois ; la table annuelle une ligne par unité et par année, avec les variables de population et d'accès. Chaque étape est mise en cache par pays avec une signature des paramètres : changer la période ou un seuil force un recalcul au lieu de réutiliser en silence des chiffres périmés. La disponibilité des données est vérifiée d'abord, et l'année de fin est la dernière année complète disponible.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règles de nettoyage s'appliquent dans Earth Engine avant toute somme. Un pixel doit avoir au moins deux observations sans nuage dans le mois ; un pixel nuageux prend sa propre radiance annuelle plutôt que la moyenne de la zone ; une unité-mois n'est gardée que si 80 % de ses pixels sont observés. Les négatifs passent à zéro ; les valeurs au-delà de 1000 nW sont plafonnées et les pics au-delà de cinq fois la médiane annuelle du pixel remplacés par cette médiane. Le fond non éclairé du composite annuel est mis à zéro, en gardant les pixels nouvellement allumés quand l'année n'est pas encore publiée. Les torchères sont détectées comme des pixels très brillants, inhabités et non bâtis, et retirées avec un halo de 2 km.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Cinq métriques de base reviennent dans tous les scénarios. La somme des lumières est un indice, pas une énergie : c'est la somme des radiances sur une unité. La lumière par habitant distingue une région active d'une région seulement peuplée. La part de surface éclairée mesure l'étendue spatiale de la lumière. La part des torchères et la part imputée sont des indicateurs de qualité : si l'une est élevée, les résultats de l'unité sont moins fiables. La section 3.4 lance aussi trois contrôles de cohérence : la population GHSL face à la Banque mondiale, le saut au passage de VNL V2.1 à V2.2, et la jonction DMSP–VIIRS de la série longue.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scénario 1 décrit la trajectoire nationale et régionale. Les sommes mensuelles sont placées sur un calendrier complet, les trous de trois mois au plus étant comblés par interpolation log-linéaire. STL sépare ensuite le logarithme de la série en tendance, saisonnalité et résidu ; elle est robuste, si bien qu'un mois extrême ne déforme pas la saison. La série désaisonnalisée vaut tendance plus résidu. Le glissement annuel compare chaque mois au même mois de l'année précédente. La tendance annuelle est estimée par Theil–Sen sur les composites annuels et testée par Mann–Kendall. La série longue harmonisée met la dernière décennie en perspective des trente dernières années.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taux de croissance est la pente de Theil–Sen du logarithme : la médiane des pentes entre toutes les paires d'années, convertie en pourcentage par an. Elle ignore une année aberrante. Mann–Kendall donne la p-value, qui fixe le niveau de confiance du message clé. Les anomalies utilisent un z-score robuste du résidu STL, fondé sur la médiane et l'écart absolu médian, et exigent à la fois un z de 3,5 et un écart de 5 %, pour que des séries très régulières ne déclenchent pas de fausses alertes. Les ruptures sont trouvées par segmentation binaire en segments linéaires d'au moins 12 mois.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scénario 2 compare régions et districts. Pour chaque unité, la somme annuelle des lumières donne un taux de croissance robuste et une p-value de Mann–Kendall. Comme des centaines de districts sont testés à la fois, les p-values sont ajustées par la procédure de Benjamini–Hochberg, qui contrôle la part de fausses découvertes. Une unité n'est classée Croissance ou Déclin que si sa pente dépasse 1 % par an et que sa p-value ajustée est inférieure à 0,10 ; sinon elle est en Stagnation, ce qui signifie souvent pas assez d'information. On mesure ensuite la concentration et la convergence, et le NO2 est corrélé à la lumière comme signal complémentaire. Le graphique montre pourquoi ces corrections comptent : sous bruit pur, l'ancienne méthode trouvait une convergence dans 13,7 % des simulations.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concentration se lit avec trois nombres : la part de l'unité la plus brillante, la part des 10 % d'unités les plus brillantes, et l'indice de Herfindahl–Hirschman, somme des parts au carré, égal à un si toute la lumière est dans une seule unité. La β-convergence régresse la croissance de la lumière par habitant de chaque unité sur le log de son niveau initial, moyenné sur les trois premières années, avec des erreurs robustes à l'hétéroscédasticité ; un β négatif dont tout l'intervalle est sous zéro signifie un rattrapage, et la demi-vie indique combien d'années il faut pour combler la moitié de l'écart. La σ-convergence suit la dispersion du log de la lumière par habitant entre unités au fil du temps.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scénario 3 vérifie d'abord que les lumières évoluent avec le PIB officiel. Trois régressions sont estimées : niveaux VIIRS annuels, taux de croissance VIIRS annuels, et niveaux sur la série longue harmonisée avec une indicatrice de capteur. Quand la série annuelle mêle VNL V2.1 et V2.2, une indicatrice de version absorbe le changement de traitement. Avec dix à trente points annuels, les résidus sont souvent autocorrélés : on utilise des erreurs de Newey–West, et un second intervalle est calculé par bootstrap des années. Les diagnostics testent l'autocorrélation, l'hétéroscédasticité, la normalité et la forme fonctionnelle. Le niveau de confiance combine taille d'échantillon, p-value, largeur d'intervalle et R².</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Une fois le lien mesuré, on l'utilise là où la statistique manque. La prévision régresse la croissance du PIB sur celle de la lumière sur les années où les deux existent, puis enchaîne l'estimation depuis le dernier PIB officiel pour les années non encore publiées, avec des intervalles à 80 et 95 % dont les variances s'additionnent d'année en année. Pour savoir si les lumières aident vraiment, chaque année passée est prédite avec les seules années antérieures, comme l'aurait fait un prévisionniste à l'époque, et comparée à deux prévisions naïves. L'erreur absolue moyenne est en points de croissance ; une erreur relative inférieure à un signifie que les lumières battent la meilleure prévision naïve. Le PIB régional répartit le PIB national selon la lumière élevée à la puissance γ, avec γ égal à 1 et 0,5 ; l'écart entre les deux mesure l'incertitude de l'hypothèse.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scénario 4 mesure l'impact d'événements datés. Le catalogue réunit la COVID-19, les événements de l'utilisateur avec leurs dates nationales et, en option, les cinq mois les plus graves d'un export ACLED ou EM-DAT. Pour chaque événement, la référence est le niveau désaisonnalisé moyen des douze mois précédents ; le creux est le niveau le plus bas entre le début de l'événement et six mois après sa fin ; l'écart à la tendance compare la période de l'événement à la tendance extrapolée des 24 mois précédents ; la reprise est le premier mois revenu au niveau de référence, dans un délai de 36 mois. Le test placebo calcule la même statistique de creux sur toutes les fenêtres antérieures de même longueur : le creux ne se distingue que s'il est plus profond que 95 % d'entre elles.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données mensuelles lissent les chocs courts : on utilise donc les données quotidiennes Black Marble dans des fenêtres autour des événements. Seules les observations de haute qualité sont gardées : drapeau qualité 0 ou 1, ciel clair d'après les bits 6 et 7 du masque nuage, pas de neige, et seulement les pixels éclairés dans le composite annuel. Un jour compte si au moins la moitié des pixels est observée. L'indice divise une médiane glissante sur 7 jours par les mêmes jours 52 semaines plus tôt, au même jour de la semaine, si bien que saison et rythme hebdomadaire s'annulent ; si l'année précédente n'est pas couverte, on utilise la médiane des 60 premiers jours et la saison n'est pas retirée. Le tableau régional donne le creux de chaque région pour chaque événement ; les ruptures sans événement à six mois près sont listées pour enquête.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scénario 5 mesure l'inégalité spatiale de la lumière par habitant entre les unités les plus fines, généralement les districts, chacune pondérée par sa population. Le coefficient de Gini et la courbe de Lorenz montrent la concentration globale. L'indice de Theil T ajoute une décomposition : la part « entre » est l'inégalité entre régions, la part « intra » l'inégalité entre districts d'une même région. Si l'essentiel de l'inégalité est intra-régionale, les politiques doivent cibler les districts plutôt que des régions entières. La variation du Gini entre la première et la dernière année reçoit un intervalle bootstrap issu de 300 rééchantillonnages appariés des districts. Le ratio urbain–rural compare la lumière par habitant en zones urbaines et rurales au sens du GHSL.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seconde moitié du scénario 5 compte les personnes vivant dans le noir. Un pixel est habité s'il compte au moins cinq personnes sur ses 0,21 km² ; il est sombre si sa radiance annuelle reste sous un seuil de détection. Le seuil compte : on en utilise donc trois, 0,25, 0,5 et 1 nanowatt, calculés sur la radiance non masquée, car le masque de fond de l'EOG les rendrait identiques. Les pixels des halos de torchères sont exclus. La part dans le noir est comparée au taux d'accès de la Banque mondiale : un grand écart peut révéler des raccordements à faible consommation, comme des kits solaires, invisibles de l'espace, ou des limites d'enquête. Le chiffre est toujours publié comme une plage.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L'industrie est la composante du PIB la mieux captée par les lumières nocturnes, et peu de pays disposent d'un registre géolocalisé à jour des zones industrielles. Chaque pixel de 460 mètres reçoit un score issu de quatre signaux, chacun normalisé entre 0 et 1. L'intensité lumineuse utilise la médiane des trois derniers composites annuels en échelle log. La part de bâti non résidentiel vient de GHSL BUILT-S, divisée par 0,6. La faible densité résidentielle vaut un moins le log de la densité rapporté à 5 000 habitants par km². Le NO2 est mis à l'échelle entre la médiane nationale et le 98e centile. Les poids, 35, 30, 20 et 15 %, sont des choix d'experts : modifiez-les et vérifiez que les principales zones subsistent.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pixel devient candidat si sa radiance dépasse 5 nanowatts, qu'au moins 1 % de sa surface est bâtie et que son score dépasse 0,55, ou s'il appartient à une torchère détectée lors du nettoyage. Les candidats voisins, au moins deux pixels, sont regroupés en zones, 250 au plus. Chaque zone reçoit sa lumière, sa part de la lumière nationale, sa tendance de Theil–Sen, sa part non résidentielle, sa densité de population, sa surface et son district. Les zones sont classées sites énergétiques ou extractifs quand les torchères dominent, pôles majeurs quand elles sont parmi les 10 % les plus brillantes ou dépassent 8 km², sinon zones industrielles ou logistiques. Les zones industrielles d'OpenStreetMap donnent la précision, part des zones confirmées, et le rappel, part des zones OSM retrouvées.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section 11 convertit les résultats des six scénarios en cinq à huit messages clés, rédigés en anglais et en français, et remplit le résumé exécutif en tête du notebook. Chaque message porte un niveau de confiance et sa raison, déduits des statistiques sous-jacentes : p-value et nombre d'années pour les tendances ; taille d'échantillon, p-value, largeur d'intervalle et R² pour les élasticités ; test placebo pour les chocs ; intervalle bootstrap pour le Gini ; précision OpenStreetMap pour les zones industrielles. Un message de faible confiance est une piste à creuser, pas une conclusion.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 notebook au tableau de bord public, avec les contrôles qui rendent les chiffres défendables.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notebook 3 écrit des fichiers statiques — GeoJSON simplifié, CSV, JSON et PNG — pour que le site fonctionne sans Earth Engine, dont les tuiles expirent au bout de quelques heures. Le site est bilingue, anglais et français, et plusieurs pays peuvent y coexister. Un manifeste enregistre paramètres, versions des paquets et disponibilité des données, ce qui garantit la reproductibilité. La publication sur GitHub Pages tient en un appel de fonction avec un jeton à durée courte et à droits limités, qui n'apparaît jamais dans le code, les sorties ou l'historique. Les messages clés générés automatiquement portent un niveau de confiance.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trois notebooks ont été revus et corrigés en octobre 2026. Les notebooks 1 et 2 s'exécutent de bout en bout dans les deux langues sans erreur ; le notebook 2 donne des chiffres identiques en anglais et en français. Le réglage d'affichage ne change plus aucun chiffre. Dans le notebook 3, qui demande Earth Engine, les fonctions statistiques ont été testées sur données simulées : sous bruit pur, la convergence fictive passe de 13,7 à 0,7 %, et les classes de croissance parasites de 29 districts sur 300 à zéro avec la correction de Benjamini–Hochberg.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lumières mesurent un rayonnement vers 1 h 30, pas une valeur ajoutée. Six artefacts peuvent tromper : le débordement gonfle les surfaces éclairées ; la saturation masque la croissance des centres urbains les plus brillants ; les torchères peuvent dominer une région sans activité locale ; la saisonnalité des nuages et des feux n'est pas économique ; les changements de capteur, de DMSP à VIIRS ou entre versions de produit, peuvent créer de fausses ruptures ; et près du seuil de détection, le signal est le plus faible précisément là où vivent les ruraux pauvres. Ces limites font partie du livrable, pas d'une annexe.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 qu'un statisticien doit retenir.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Cette liste résume la série. Chaque point correspond à une étape d'un notebook et à une erreur qui ne produit aucun message. Publiez la chaîne de traitement, pas seulement le chiffre : deux équipes partant des mêmes fichiers peuvent publier des chiffres d'un ordre de grandeur différent sans erreur visible.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Trois messages à retenir. D'abord, choisir le produit selon la question : composites annuels pour les tendances, mensuels pour les saisons, quotidiens pour les événements datés. Ensuite, l'ordre des opérations n'est pas négociable : remplissage, qualité, eau, puis mosaïque et découpage. Enfin, les lumières nocturnes complètent puissamment la statistique officielle pour la direction, le calendrier et la géographie, mais elles ne mesurent pas le PIB.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Principales références scientifiques et de données utilisées dans les trois notebooks. Les données tierces restent sous la licence de leurs producteurs et doivent être citées en plus de l’initiative DI4A de la BAD.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Merci. Les trois notebooks tournent sur Colab, Kaggle et Jupyter local. Toute réutilisation des notebooks ou de ce qu'ils produisent doit citer : Source : Banque africaine de développement – Innovation des données pour l’Afrique (AfDB-DI4A).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HERO-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HERO">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5033772"/>
            <a:ext cx="9144000" cy="109728"/>
          </a:xfrm>
          <a:prstGeom prst="rect">
            <a:avLst/>
          </a:prstGeom>
          <a:solidFill>
            <a:srgbClr val="F5C242"/>
          </a:solidFill>
          <a:ln w="12700">
            <a:solidFill>
              <a:srgbClr val="F5C242"/>
            </a:solidFill>
            <a:prstDash val="solid"/>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w="12700">
            <a:solidFill>
              <a:srgbClr val="00A86A"/>
            </a:solidFill>
            <a:prstDash val="solid"/>
          </a:ln>
        </p:spPr>
      </p:sp>
      <p:sp>
        <p:nvSpPr>
          <p:cNvPr id="3" name="Shape 1"/>
          <p:cNvSpPr/>
          <p:nvPr/>
        </p:nvSpPr>
        <p:spPr>
          <a:xfrm>
            <a:off x="0" y="0"/>
            <a:ext cx="1234440" cy="54864"/>
          </a:xfrm>
          <a:prstGeom prst="rect">
            <a:avLst/>
          </a:prstGeom>
          <a:solidFill>
            <a:srgbClr val="F5C242"/>
          </a:solidFill>
          <a:ln w="12700">
            <a:solidFill>
              <a:srgbClr val="F5C242"/>
            </a:solidFill>
            <a:prstDash val="solid"/>
          </a:ln>
        </p:spPr>
      </p:sp>
      <p:sp>
        <p:nvSpPr>
          <p:cNvPr id="4" name="Text 2"/>
          <p:cNvSpPr/>
          <p:nvPr/>
        </p:nvSpPr>
        <p:spPr>
          <a:xfrm>
            <a:off x="457200" y="4818888"/>
            <a:ext cx="5486400" cy="228600"/>
          </a:xfrm>
          <a:prstGeom prst="rect">
            <a:avLst/>
          </a:prstGeom>
          <a:noFill/>
          <a:ln/>
        </p:spPr>
        <p:txBody>
          <a:bodyPr wrap="square" lIns="0" tIns="0" rIns="0" bIns="0" rtlCol="0" anchor="ctr"/>
          <a:lstStyle/>
          <a:p>
            <a:pPr indent="0" marL="0">
              <a:buNone/>
            </a:pPr>
            <a:r>
              <a:rPr lang="en-US" sz="850" dirty="0">
                <a:solidFill>
                  <a:srgbClr val="8A9590"/>
                </a:solidFill>
                <a:latin typeface="Calibri" pitchFamily="34" charset="0"/>
                <a:ea typeface="Calibri" pitchFamily="34" charset="-122"/>
                <a:cs typeface="Calibri" pitchFamily="34" charset="-120"/>
              </a:rPr>
              <a:t>Série Lumières nocturnes · BAD – DI4A</a:t>
            </a:r>
            <a:endParaRPr lang="en-US" sz="850" dirty="0"/>
          </a:p>
        </p:txBody>
      </p:sp>
      <p:sp>
        <p:nvSpPr>
          <p:cNvPr id="5" name="Text 3"/>
          <p:cNvSpPr/>
          <p:nvPr>
            <p:ph idx="105" type="body" hasCustomPrompt="1"/>
          </p:nvPr>
        </p:nvSpPr>
        <p:spPr>
          <a:xfrm>
            <a:off x="457200" y="274320"/>
            <a:ext cx="6217920" cy="256032"/>
          </a:xfrm>
          <a:prstGeom prst="rect">
            <a:avLst/>
          </a:prstGeom>
          <a:noFill/>
          <a:ln/>
        </p:spPr>
        <p:txBody>
          <a:bodyPr wrap="square" rtlCol="0"/>
          <a:lstStyle>
            <a:lvl1pPr algn="l" indent="0" marL="0">
              <a:buNone/>
              <a:defRPr lang="en-US" sz="1050" b="1" spc="300" kern="0" dirty="0">
                <a:solidFill>
                  <a:srgbClr val="00704A"/>
                </a:solidFill>
                <a:latin typeface="Calibri" pitchFamily="34" charset="0"/>
                <a:ea typeface="Calibri" pitchFamily="34" charset="-122"/>
                <a:cs typeface="Calibri" pitchFamily="34" charset="-120"/>
              </a:defRPr>
            </a:lvl1pPr>
          </a:lstStyle>
          <a:p>
            <a:pPr algn="l" indent="0" marL="0">
              <a:buNone/>
            </a:pPr>
            <a:endParaRPr lang="en-US" sz="1050" dirty="0"/>
          </a:p>
        </p:txBody>
      </p:sp>
      <p:sp>
        <p:nvSpPr>
          <p:cNvPr id="6" name="Text 3"/>
          <p:cNvSpPr/>
          <p:nvPr>
            <p:ph idx="106" type="title" hasCustomPrompt="1"/>
          </p:nvPr>
        </p:nvSpPr>
        <p:spPr>
          <a:xfrm>
            <a:off x="457200" y="548640"/>
            <a:ext cx="8229600" cy="566928"/>
          </a:xfrm>
          <a:prstGeom prst="rect">
            <a:avLst/>
          </a:prstGeom>
          <a:noFill/>
          <a:ln/>
        </p:spPr>
        <p:txBody>
          <a:bodyPr wrap="square" rtlCol="0"/>
          <a:lstStyle>
            <a:lvl1pPr algn="l" indent="0" marL="0">
              <a:buNone/>
              <a:defRPr lang="en-US" sz="2800" b="1" dirty="0">
                <a:solidFill>
                  <a:srgbClr val="231F20"/>
                </a:solidFill>
                <a:latin typeface="Calibri" pitchFamily="34" charset="0"/>
                <a:ea typeface="Calibri" pitchFamily="34" charset="-122"/>
                <a:cs typeface="Calibri" pitchFamily="34" charset="-120"/>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8A9590"/>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8A9590"/>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di4a-robot-circle.png"/><Relationship Id="rId4" Type="http://schemas.openxmlformats.org/officeDocument/2006/relationships/image" Target="../media/afdb-logo.png"/><Relationship Id="rId5" Type="http://schemas.openxmlformats.org/officeDocument/2006/relationships/image" Target="../media/di4a-logo.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3.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3.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image" Target="../media/image-7-9.png"/><Relationship Id="rId10" Type="http://schemas.openxmlformats.org/officeDocument/2006/relationships/slideLayout" Target="../slideLayouts/slideLayout3.xml"/><Relationship Id="rId11"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3.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3.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slideLayout" Target="../slideLayouts/slideLayout3.xml"/><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3.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slideLayout" Target="../slideLayouts/slideLayout3.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slideLayout" Target="../slideLayouts/slideLayout3.xml"/><Relationship Id="rId8"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slideLayout" Target="../slideLayouts/slideLayout3.xml"/><Relationship Id="rId6"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slideLayout" Target="../slideLayouts/slideLayout3.xml"/><Relationship Id="rId7"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slideLayout" Target="../slideLayouts/slideLayout3.xml"/><Relationship Id="rId6"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slideLayout" Target="../slideLayouts/slideLayout3.xml"/><Relationship Id="rId5"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image" Target="../media/image-25-5.png"/><Relationship Id="rId6" Type="http://schemas.openxmlformats.org/officeDocument/2006/relationships/image" Target="../media/image-25-6.png"/><Relationship Id="rId7" Type="http://schemas.openxmlformats.org/officeDocument/2006/relationships/slideLayout" Target="../slideLayouts/slideLayout3.xml"/><Relationship Id="rId8"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slideLayout" Target="../slideLayouts/slideLayout3.xml"/><Relationship Id="rId5"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slideLayout" Target="../slideLayouts/slideLayout3.xml"/><Relationship Id="rId5"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4" Type="http://schemas.openxmlformats.org/officeDocument/2006/relationships/chart" Target="/ppt/charts/chart2.xml"/><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5" Type="http://schemas.openxmlformats.org/officeDocument/2006/relationships/slideLayout" Target="../slideLayouts/slideLayout3.xml"/><Relationship Id="rId6"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slideLayout" Target="../slideLayouts/slideLayout3.xml"/><Relationship Id="rId5"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image" Target="../media/image-34-3.png"/><Relationship Id="rId4" Type="http://schemas.openxmlformats.org/officeDocument/2006/relationships/image" Target="../media/image-34-4.png"/><Relationship Id="rId5" Type="http://schemas.openxmlformats.org/officeDocument/2006/relationships/slideLayout" Target="../slideLayouts/slideLayout3.xml"/><Relationship Id="rId6"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image" Target="../media/image-35-3.png"/><Relationship Id="rId4" Type="http://schemas.openxmlformats.org/officeDocument/2006/relationships/slideLayout" Target="../slideLayouts/slideLayout3.xml"/><Relationship Id="rId5"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image" Target="../media/image-41-2.png"/><Relationship Id="rId3" Type="http://schemas.openxmlformats.org/officeDocument/2006/relationships/image" Target="../media/image-41-3.png"/><Relationship Id="rId4" Type="http://schemas.openxmlformats.org/officeDocument/2006/relationships/image" Target="../media/image-41-4.png"/><Relationship Id="rId5" Type="http://schemas.openxmlformats.org/officeDocument/2006/relationships/image" Target="../media/image-41-5.png"/><Relationship Id="rId6" Type="http://schemas.openxmlformats.org/officeDocument/2006/relationships/image" Target="../media/image-41-6.png"/><Relationship Id="rId7" Type="http://schemas.openxmlformats.org/officeDocument/2006/relationships/image" Target="../media/image-41-7.png"/><Relationship Id="rId8" Type="http://schemas.openxmlformats.org/officeDocument/2006/relationships/image" Target="../media/image-41-8.png"/><Relationship Id="rId9" Type="http://schemas.openxmlformats.org/officeDocument/2006/relationships/slideLayout" Target="../slideLayouts/slideLayout3.xml"/><Relationship Id="rId10"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image" Target="../media/image-42-3.png"/><Relationship Id="rId4" Type="http://schemas.openxmlformats.org/officeDocument/2006/relationships/image" Target="../media/image-42-4.png"/><Relationship Id="rId5" Type="http://schemas.openxmlformats.org/officeDocument/2006/relationships/image" Target="../media/image-42-5.png"/><Relationship Id="rId6" Type="http://schemas.openxmlformats.org/officeDocument/2006/relationships/image" Target="../media/image-42-6.png"/><Relationship Id="rId7" Type="http://schemas.openxmlformats.org/officeDocument/2006/relationships/slideLayout" Target="../slideLayouts/slideLayout3.xml"/><Relationship Id="rId8"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image" Target="../media/image-43-2.png"/><Relationship Id="rId3" Type="http://schemas.openxmlformats.org/officeDocument/2006/relationships/image" Target="../media/image-43-3.png"/><Relationship Id="rId4" Type="http://schemas.openxmlformats.org/officeDocument/2006/relationships/image" Target="../media/image-43-4.png"/><Relationship Id="rId5" Type="http://schemas.openxmlformats.org/officeDocument/2006/relationships/image" Target="../media/image-43-5.png"/><Relationship Id="rId6" Type="http://schemas.openxmlformats.org/officeDocument/2006/relationships/image" Target="../media/image-43-6.png"/><Relationship Id="rId7" Type="http://schemas.openxmlformats.org/officeDocument/2006/relationships/slideLayout" Target="../slideLayouts/slideLayout3.xml"/><Relationship Id="rId8"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image" Target="../media/image-46-2.png"/><Relationship Id="rId3" Type="http://schemas.openxmlformats.org/officeDocument/2006/relationships/image" Target="../media/image-46-3.png"/><Relationship Id="rId4" Type="http://schemas.openxmlformats.org/officeDocument/2006/relationships/slideLayout" Target="../slideLayouts/slideLayout3.xml"/><Relationship Id="rId5"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 Id="rId3" Type="http://schemas.openxmlformats.org/officeDocument/2006/relationships/image" Target="../media/di4a-robot-circle.png"/><Relationship Id="rId4" Type="http://schemas.openxmlformats.org/officeDocument/2006/relationships/image" Target="../media/afdb-logo.png"/><Relationship Id="rId5" Type="http://schemas.openxmlformats.org/officeDocument/2006/relationships/image" Target="../media/di4a-logo.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4" name="Text 2"/>
          <p:cNvSpPr txBox="1"/>
          <p:nvPr/>
        </p:nvSpPr>
        <p:spPr>
          <a:xfrm>
            <a:off x="548640" y="1325880"/>
            <a:ext cx="7315200" cy="274320"/>
          </a:xfrm>
          <a:prstGeom prst="rect">
            <a:avLst/>
          </a:prstGeom>
          <a:noFill/>
          <a:ln/>
        </p:spPr>
        <p:txBody>
          <a:bodyPr wrap="square" lIns="0" tIns="0" rIns="0" bIns="0" rtlCol="0" anchor="t"/>
          <a:lstStyle/>
          <a:p>
            <a:pPr indent="0" marL="0">
              <a:buNone/>
            </a:pPr>
            <a:r>
              <a:rPr lang="en-US" sz="1100" b="1" spc="300" kern="0" dirty="0">
                <a:solidFill>
                  <a:srgbClr val="F5C242"/>
                </a:solidFill>
                <a:latin typeface="Calibri" pitchFamily="34" charset="0"/>
                <a:ea typeface="Calibri" pitchFamily="34" charset="-122"/>
                <a:cs typeface="Calibri" pitchFamily="34" charset="-120"/>
              </a:rPr>
              <a:t>SÉRIE LUMIÈRES NOCTURNES · TROIS NOTEBOOKS</a:t>
            </a:r>
            <a:endParaRPr lang="en-US" sz="1100" dirty="0"/>
          </a:p>
        </p:txBody>
      </p:sp>
      <p:sp>
        <p:nvSpPr>
          <p:cNvPr id="5" name="Text 3"/>
          <p:cNvSpPr txBox="1"/>
          <p:nvPr/>
        </p:nvSpPr>
        <p:spPr>
          <a:xfrm>
            <a:off x="548640" y="1645920"/>
            <a:ext cx="6858000" cy="1417320"/>
          </a:xfrm>
          <a:prstGeom prst="rect">
            <a:avLst/>
          </a:prstGeom>
          <a:noFill/>
          <a:ln/>
        </p:spPr>
        <p:txBody>
          <a:bodyPr wrap="square" lIns="0" tIns="0" rIns="0" bIns="0" rtlCol="0" anchor="t"/>
          <a:lstStyle/>
          <a:p>
            <a:pPr indent="0" marL="0">
              <a:buNone/>
            </a:pPr>
            <a:r>
              <a:rPr lang="en-US" sz="4200" b="1" dirty="0">
                <a:solidFill>
                  <a:srgbClr val="FFFFFF"/>
                </a:solidFill>
                <a:latin typeface="Calibri" pitchFamily="34" charset="0"/>
                <a:ea typeface="Calibri" pitchFamily="34" charset="-122"/>
                <a:cs typeface="Calibri" pitchFamily="34" charset="-120"/>
              </a:rPr>
              <a:t>Lumières nocturnes :</a:t>
            </a:r>
            <a:endParaRPr lang="en-US" sz="4200" dirty="0"/>
          </a:p>
          <a:p>
            <a:pPr indent="0" marL="0">
              <a:buNone/>
            </a:pPr>
            <a:r>
              <a:rPr lang="en-US" sz="4200" b="1" dirty="0">
                <a:solidFill>
                  <a:srgbClr val="FFFFFF"/>
                </a:solidFill>
                <a:latin typeface="Calibri" pitchFamily="34" charset="0"/>
                <a:ea typeface="Calibri" pitchFamily="34" charset="-122"/>
                <a:cs typeface="Calibri" pitchFamily="34" charset="-120"/>
              </a:rPr>
              <a:t>du satellite à la statistique</a:t>
            </a:r>
            <a:endParaRPr lang="en-US" sz="4200" dirty="0"/>
          </a:p>
        </p:txBody>
      </p:sp>
      <p:sp>
        <p:nvSpPr>
          <p:cNvPr id="6" name="Text 4"/>
          <p:cNvSpPr txBox="1"/>
          <p:nvPr/>
        </p:nvSpPr>
        <p:spPr>
          <a:xfrm>
            <a:off x="548640" y="3154680"/>
            <a:ext cx="5852160" cy="777240"/>
          </a:xfrm>
          <a:prstGeom prst="rect">
            <a:avLst/>
          </a:prstGeom>
          <a:noFill/>
          <a:ln/>
        </p:spPr>
        <p:txBody>
          <a:bodyPr wrap="square" lIns="0" tIns="0" rIns="0" bIns="0" rtlCol="0" anchor="t"/>
          <a:lstStyle/>
          <a:p>
            <a:pPr indent="0" marL="0">
              <a:buNone/>
            </a:pPr>
            <a:r>
              <a:rPr lang="en-US" sz="1600" i="1" dirty="0">
                <a:solidFill>
                  <a:srgbClr val="E6F6EE"/>
                </a:solidFill>
                <a:latin typeface="Calibri" pitchFamily="34" charset="0"/>
                <a:ea typeface="Calibri" pitchFamily="34" charset="-122"/>
                <a:cs typeface="Calibri" pitchFamily="34" charset="-120"/>
              </a:rPr>
              <a:t>Collecter, comprendre et analyser les données de lumières nocturnes NASA et NOAA pour mesurer l'activité économique — un code ISO3 en entrée, un tableau de bord public en sortie</a:t>
            </a:r>
            <a:endParaRPr lang="en-US" sz="1600" dirty="0"/>
          </a:p>
        </p:txBody>
      </p:sp>
      <p:sp>
        <p:nvSpPr>
          <p:cNvPr id="7" name="Shape 5"/>
          <p:cNvSpPr/>
          <p:nvPr/>
        </p:nvSpPr>
        <p:spPr>
          <a:xfrm>
            <a:off x="548640" y="4114800"/>
            <a:ext cx="1143000" cy="329184"/>
          </a:xfrm>
          <a:prstGeom prst="roundRect">
            <a:avLst>
              <a:gd name="adj" fmla="val 50000"/>
            </a:avLst>
          </a:prstGeom>
          <a:solidFill>
            <a:srgbClr val="F5C242"/>
          </a:solidFill>
          <a:ln w="9525">
            <a:solidFill>
              <a:srgbClr val="F5C242"/>
            </a:solidFill>
            <a:prstDash val="solid"/>
          </a:ln>
        </p:spPr>
      </p:sp>
      <p:sp>
        <p:nvSpPr>
          <p:cNvPr id="8" name="Text 6"/>
          <p:cNvSpPr txBox="1"/>
          <p:nvPr/>
        </p:nvSpPr>
        <p:spPr>
          <a:xfrm>
            <a:off x="548640" y="4114800"/>
            <a:ext cx="1143000" cy="329184"/>
          </a:xfrm>
          <a:prstGeom prst="rect">
            <a:avLst/>
          </a:prstGeom>
          <a:noFill/>
          <a:ln/>
        </p:spPr>
        <p:txBody>
          <a:bodyPr wrap="square" lIns="0" tIns="0" rIns="0" bIns="0" rtlCol="0" anchor="ctr"/>
          <a:lstStyle/>
          <a:p>
            <a:pPr algn="ctr" indent="0" marL="0">
              <a:buNone/>
            </a:pPr>
            <a:r>
              <a:rPr lang="en-US" sz="1100" b="1" dirty="0">
                <a:solidFill>
                  <a:srgbClr val="00553A"/>
                </a:solidFill>
                <a:latin typeface="Calibri" pitchFamily="34" charset="0"/>
                <a:ea typeface="Calibri" pitchFamily="34" charset="-122"/>
                <a:cs typeface="Calibri" pitchFamily="34" charset="-120"/>
              </a:rPr>
              <a:t>01  Collecter</a:t>
            </a:r>
            <a:endParaRPr lang="en-US" sz="1100" dirty="0"/>
          </a:p>
        </p:txBody>
      </p:sp>
      <p:sp>
        <p:nvSpPr>
          <p:cNvPr id="9" name="Shape 7"/>
          <p:cNvSpPr/>
          <p:nvPr/>
        </p:nvSpPr>
        <p:spPr>
          <a:xfrm>
            <a:off x="1920240" y="4114800"/>
            <a:ext cx="1965960" cy="329184"/>
          </a:xfrm>
          <a:prstGeom prst="roundRect">
            <a:avLst>
              <a:gd name="adj" fmla="val 50000"/>
            </a:avLst>
          </a:prstGeom>
          <a:solidFill>
            <a:srgbClr val="FFFFFF">
              <a:alpha val="12000"/>
            </a:srgbClr>
          </a:solidFill>
          <a:ln w="9525">
            <a:solidFill>
              <a:srgbClr val="FFFFFF">
                <a:alpha val="40000"/>
              </a:srgbClr>
            </a:solidFill>
            <a:prstDash val="solid"/>
          </a:ln>
        </p:spPr>
      </p:sp>
      <p:sp>
        <p:nvSpPr>
          <p:cNvPr id="10" name="Text 8"/>
          <p:cNvSpPr txBox="1"/>
          <p:nvPr/>
        </p:nvSpPr>
        <p:spPr>
          <a:xfrm>
            <a:off x="1920240" y="4114800"/>
            <a:ext cx="1965960" cy="329184"/>
          </a:xfrm>
          <a:prstGeom prst="rect">
            <a:avLst/>
          </a:prstGeom>
          <a:noFill/>
          <a:ln/>
        </p:spPr>
        <p:txBody>
          <a:bodyPr wrap="square" lIns="0" tIns="0" rIns="0" bIns="0" rtlCol="0" anchor="ctr"/>
          <a:lstStyle/>
          <a:p>
            <a:pPr algn="ctr" indent="0" marL="0">
              <a:buNone/>
            </a:pPr>
            <a:r>
              <a:rPr lang="en-US" sz="1100" b="1" dirty="0">
                <a:solidFill>
                  <a:srgbClr val="E6F6EE"/>
                </a:solidFill>
                <a:latin typeface="Calibri" pitchFamily="34" charset="0"/>
                <a:ea typeface="Calibri" pitchFamily="34" charset="-122"/>
                <a:cs typeface="Calibri" pitchFamily="34" charset="-120"/>
              </a:rPr>
              <a:t>02  Explorer et comprendre</a:t>
            </a:r>
            <a:endParaRPr lang="en-US" sz="1100" dirty="0"/>
          </a:p>
        </p:txBody>
      </p:sp>
      <p:sp>
        <p:nvSpPr>
          <p:cNvPr id="11" name="Shape 9"/>
          <p:cNvSpPr/>
          <p:nvPr/>
        </p:nvSpPr>
        <p:spPr>
          <a:xfrm>
            <a:off x="4114800" y="4114800"/>
            <a:ext cx="1783080" cy="329184"/>
          </a:xfrm>
          <a:prstGeom prst="roundRect">
            <a:avLst>
              <a:gd name="adj" fmla="val 50000"/>
            </a:avLst>
          </a:prstGeom>
          <a:solidFill>
            <a:srgbClr val="FFFFFF">
              <a:alpha val="12000"/>
            </a:srgbClr>
          </a:solidFill>
          <a:ln w="9525">
            <a:solidFill>
              <a:srgbClr val="FFFFFF">
                <a:alpha val="40000"/>
              </a:srgbClr>
            </a:solidFill>
            <a:prstDash val="solid"/>
          </a:ln>
        </p:spPr>
      </p:sp>
      <p:sp>
        <p:nvSpPr>
          <p:cNvPr id="12" name="Text 10"/>
          <p:cNvSpPr txBox="1"/>
          <p:nvPr/>
        </p:nvSpPr>
        <p:spPr>
          <a:xfrm>
            <a:off x="4114800" y="4114800"/>
            <a:ext cx="1783080" cy="329184"/>
          </a:xfrm>
          <a:prstGeom prst="rect">
            <a:avLst/>
          </a:prstGeom>
          <a:noFill/>
          <a:ln/>
        </p:spPr>
        <p:txBody>
          <a:bodyPr wrap="square" lIns="0" tIns="0" rIns="0" bIns="0" rtlCol="0" anchor="ctr"/>
          <a:lstStyle/>
          <a:p>
            <a:pPr algn="ctr" indent="0" marL="0">
              <a:buNone/>
            </a:pPr>
            <a:r>
              <a:rPr lang="en-US" sz="1100" b="1" dirty="0">
                <a:solidFill>
                  <a:srgbClr val="E6F6EE"/>
                </a:solidFill>
                <a:latin typeface="Calibri" pitchFamily="34" charset="0"/>
                <a:ea typeface="Calibri" pitchFamily="34" charset="-122"/>
                <a:cs typeface="Calibri" pitchFamily="34" charset="-120"/>
              </a:rPr>
              <a:t>03  Analyser et publier</a:t>
            </a:r>
            <a:endParaRPr lang="en-US" sz="1100" dirty="0"/>
          </a:p>
        </p:txBody>
      </p:sp>
      <p:sp>
        <p:nvSpPr>
          <p:cNvPr id="13" name="Text 11"/>
          <p:cNvSpPr txBox="1"/>
          <p:nvPr/>
        </p:nvSpPr>
        <p:spPr>
          <a:xfrm>
            <a:off x="6949440" y="4617720"/>
            <a:ext cx="1828800" cy="274320"/>
          </a:xfrm>
          <a:prstGeom prst="rect">
            <a:avLst/>
          </a:prstGeom>
          <a:noFill/>
          <a:ln/>
        </p:spPr>
        <p:txBody>
          <a:bodyPr wrap="square" lIns="0" tIns="0" rIns="0" bIns="0" rtlCol="0" anchor="t"/>
          <a:lstStyle/>
          <a:p>
            <a:pPr algn="r" indent="0" marL="0">
              <a:buNone/>
            </a:pPr>
            <a:r>
              <a:rPr lang="en-US" sz="900" dirty="0">
                <a:solidFill>
                  <a:srgbClr val="F5C242"/>
                </a:solidFill>
                <a:latin typeface="Calibri" pitchFamily="34" charset="0"/>
                <a:ea typeface="Calibri" pitchFamily="34" charset="-122"/>
                <a:cs typeface="Calibri" pitchFamily="34" charset="-120"/>
              </a:rPr>
              <a:t>© 2026 BAD – DI4A</a:t>
            </a:r>
            <a:endParaRPr lang="en-US" sz="900" dirty="0"/>
          </a:p>
        </p:txBody>
      </p:sp>
      <p:sp>
        <p:nvSpPr>
          <p:cNvPr id="214" name="Logo Pill"/>
          <p:cNvSpPr/>
          <p:nvPr/>
        </p:nvSpPr>
        <p:spPr>
          <a:xfrm>
            <a:off x="548640" y="384048"/>
            <a:ext cx="2788920" cy="566928"/>
          </a:xfrm>
          <a:prstGeom prst="roundRect">
            <a:avLst>
              <a:gd name="adj" fmla="val 50000"/>
            </a:avLst>
          </a:prstGeom>
          <a:solidFill>
            <a:srgbClr val="FFFFFF"/>
          </a:solidFill>
          <a:ln>
            <a:noFill/>
          </a:ln>
        </p:spPr>
        <p:txBody>
          <a:bodyPr rtlCol="0" anchor="ctr"/>
          <a:lstStyle/>
          <a:p>
            <a:endParaRPr lang="en-US"/>
          </a:p>
        </p:txBody>
      </p:sp>
      <p:pic>
        <p:nvPicPr>
          <p:cNvPr id="215" name="AfDB Logo" descr="African Development Bank Group logo"/>
          <p:cNvPicPr>
            <a:picLocks noChangeAspect="1"/>
          </p:cNvPicPr>
          <p:nvPr/>
        </p:nvPicPr>
        <p:blipFill>
          <a:blip r:embed="rId4"/>
          <a:stretch>
            <a:fillRect/>
          </a:stretch>
        </p:blipFill>
        <p:spPr>
          <a:xfrm>
            <a:off x="749808" y="502920"/>
            <a:ext cx="1367816" cy="329184"/>
          </a:xfrm>
          <a:prstGeom prst="rect">
            <a:avLst/>
          </a:prstGeom>
        </p:spPr>
      </p:pic>
      <p:sp>
        <p:nvSpPr>
          <p:cNvPr id="216" name="Logo Divider"/>
          <p:cNvSpPr/>
          <p:nvPr/>
        </p:nvSpPr>
        <p:spPr>
          <a:xfrm>
            <a:off x="2300504" y="493776"/>
            <a:ext cx="9525" cy="347472"/>
          </a:xfrm>
          <a:prstGeom prst="rect">
            <a:avLst/>
          </a:prstGeom>
          <a:solidFill>
            <a:srgbClr val="D5DED9"/>
          </a:solidFill>
          <a:ln>
            <a:noFill/>
          </a:ln>
        </p:spPr>
        <p:txBody>
          <a:bodyPr rtlCol="0" anchor="ctr"/>
          <a:lstStyle/>
          <a:p>
            <a:endParaRPr lang="en-US"/>
          </a:p>
        </p:txBody>
      </p:sp>
      <p:pic>
        <p:nvPicPr>
          <p:cNvPr id="217" name="DI4A Logo" descr="Data Innovation for Africa logo"/>
          <p:cNvPicPr>
            <a:picLocks noChangeAspect="1"/>
          </p:cNvPicPr>
          <p:nvPr/>
        </p:nvPicPr>
        <p:blipFill>
          <a:blip r:embed="rId5"/>
          <a:stretch>
            <a:fillRect/>
          </a:stretch>
        </p:blipFill>
        <p:spPr>
          <a:xfrm>
            <a:off x="2587752" y="429768"/>
            <a:ext cx="475488" cy="475488"/>
          </a:xfrm>
          <a:prstGeom prst="rect">
            <a:avLst/>
          </a:prstGeom>
        </p:spPr>
      </p:pic>
      <p:sp>
        <p:nvSpPr>
          <p:cNvPr id="218" name="Medallion Ring"/>
          <p:cNvSpPr/>
          <p:nvPr/>
        </p:nvSpPr>
        <p:spPr>
          <a:xfrm>
            <a:off x="6359651" y="1284732"/>
            <a:ext cx="2734056" cy="2734056"/>
          </a:xfrm>
          <a:prstGeom prst="ellipse">
            <a:avLst/>
          </a:prstGeom>
          <a:noFill/>
          <a:ln w="9525">
            <a:solidFill>
              <a:srgbClr val="FFFFFF">
                <a:alpha val="15000"/>
              </a:srgbClr>
            </a:solidFill>
          </a:ln>
        </p:spPr>
        <p:txBody>
          <a:bodyPr rtlCol="0" anchor="ctr"/>
          <a:lstStyle/>
          <a:p>
            <a:endParaRPr lang="en-US"/>
          </a:p>
        </p:txBody>
      </p:sp>
      <p:sp>
        <p:nvSpPr>
          <p:cNvPr id="219" name="Medallion Ring"/>
          <p:cNvSpPr/>
          <p:nvPr/>
        </p:nvSpPr>
        <p:spPr>
          <a:xfrm>
            <a:off x="6524243" y="1449324"/>
            <a:ext cx="2404872" cy="2404872"/>
          </a:xfrm>
          <a:prstGeom prst="ellipse">
            <a:avLst/>
          </a:prstGeom>
          <a:noFill/>
          <a:ln w="9525">
            <a:solidFill>
              <a:srgbClr val="FFFFFF">
                <a:alpha val="28000"/>
              </a:srgbClr>
            </a:solidFill>
          </a:ln>
        </p:spPr>
        <p:txBody>
          <a:bodyPr rtlCol="0" anchor="ctr"/>
          <a:lstStyle/>
          <a:p>
            <a:endParaRPr lang="en-US"/>
          </a:p>
        </p:txBody>
      </p:sp>
      <p:sp>
        <p:nvSpPr>
          <p:cNvPr id="220" name="Medallion Ring"/>
          <p:cNvSpPr/>
          <p:nvPr/>
        </p:nvSpPr>
        <p:spPr>
          <a:xfrm>
            <a:off x="6652259" y="1577340"/>
            <a:ext cx="2148840" cy="2148840"/>
          </a:xfrm>
          <a:prstGeom prst="ellipse">
            <a:avLst/>
          </a:prstGeom>
          <a:noFill/>
          <a:ln w="19050">
            <a:solidFill>
              <a:srgbClr val="FFFFFF">
                <a:alpha val="50000"/>
              </a:srgbClr>
            </a:solidFill>
          </a:ln>
        </p:spPr>
        <p:txBody>
          <a:bodyPr rtlCol="0" anchor="ctr"/>
          <a:lstStyle/>
          <a:p>
            <a:endParaRPr lang="en-US"/>
          </a:p>
        </p:txBody>
      </p:sp>
      <p:pic>
        <p:nvPicPr>
          <p:cNvPr id="221" name="Robot Medallion" descr="DI4A robot mascot"/>
          <p:cNvPicPr>
            <a:picLocks noChangeAspect="1"/>
          </p:cNvPicPr>
          <p:nvPr/>
        </p:nvPicPr>
        <p:blipFill>
          <a:blip r:embed="rId3"/>
          <a:stretch>
            <a:fillRect/>
          </a:stretch>
        </p:blipFill>
        <p:spPr>
          <a:xfrm>
            <a:off x="6743699" y="1668780"/>
            <a:ext cx="1965960" cy="19659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3"/>
          <p:cNvSpPr/>
          <p:nvPr>
            <p:ph idx="105" type="body" hasCustomPrompt="1"/>
          </p:nvPr>
        </p:nvSpPr>
        <p:spPr>
          <a:xfrm>
            <a:off x="457200" y="274320"/>
            <a:ext cx="6217920" cy="256032"/>
          </a:xfrm>
          <a:prstGeom prst="rect">
            <a:avLst/>
          </a:prstGeom>
          <a:noFill/>
          <a:ln/>
        </p:spPr>
        <p:txBody>
          <a:bodyPr wrap="square" lIns="0" tIns="0" rIns="0" bIns="0" rtlCol="0" anchor="ctr"/>
          <a:lstStyle/>
          <a:p>
            <a:pPr algn="l" indent="0" marL="0">
              <a:buNone/>
            </a:pPr>
            <a:r>
              <a:rPr lang="en-US" sz="1050" b="1" spc="300" kern="0" dirty="0">
                <a:solidFill>
                  <a:srgbClr val="00704A"/>
                </a:solidFill>
                <a:latin typeface="Calibri" pitchFamily="34" charset="0"/>
                <a:ea typeface="Calibri" pitchFamily="34" charset="-122"/>
                <a:cs typeface="Calibri" pitchFamily="34" charset="-120"/>
              </a:rPr>
              <a:t>PROGRAMME</a:t>
            </a:r>
            <a:endParaRPr lang="en-US" sz="1050" dirty="0"/>
          </a:p>
        </p:txBody>
      </p:sp>
      <p:sp>
        <p:nvSpPr>
          <p:cNvPr id="3" name="Text 3"/>
          <p:cNvSpPr/>
          <p:nvPr>
            <p:ph idx="106" type="title" hasCustomPrompt="1"/>
          </p:nvPr>
        </p:nvSpPr>
        <p:spPr>
          <a:xfrm>
            <a:off x="457200" y="548640"/>
            <a:ext cx="8229600" cy="566928"/>
          </a:xfrm>
          <a:prstGeom prst="rect">
            <a:avLst/>
          </a:prstGeom>
          <a:noFill/>
          <a:ln/>
        </p:spPr>
        <p:txBody>
          <a:bodyPr wrap="square" lIns="0" tIns="0" rIns="0" bIns="0" rtlCol="0" anchor="ctr"/>
          <a:lstStyle/>
          <a:p>
            <a:pPr algn="l" indent="0" marL="0">
              <a:buNone/>
            </a:pPr>
            <a:r>
              <a:rPr lang="en-US" sz="2800" b="1" dirty="0">
                <a:solidFill>
                  <a:srgbClr val="231F20"/>
                </a:solidFill>
                <a:latin typeface="Calibri" pitchFamily="34" charset="0"/>
                <a:ea typeface="Calibri" pitchFamily="34" charset="-122"/>
                <a:cs typeface="Calibri" pitchFamily="34" charset="-120"/>
              </a:rPr>
              <a:t>Six étapes, du ciel nocturne à l'indicateur publié</a:t>
            </a:r>
            <a:endParaRPr lang="en-US" sz="2800" dirty="0"/>
          </a:p>
        </p:txBody>
      </p:sp>
      <p:sp>
        <p:nvSpPr>
          <p:cNvPr id="4" name="Shape 2"/>
          <p:cNvSpPr/>
          <p:nvPr/>
        </p:nvSpPr>
        <p:spPr>
          <a:xfrm>
            <a:off x="457200" y="1371600"/>
            <a:ext cx="2606040" cy="1417320"/>
          </a:xfrm>
          <a:prstGeom prst="roundRect">
            <a:avLst>
              <a:gd name="adj" fmla="val 5161"/>
            </a:avLst>
          </a:prstGeom>
          <a:solidFill>
            <a:srgbClr val="F4F7F5"/>
          </a:solidFill>
          <a:ln w="9525">
            <a:solidFill>
              <a:srgbClr val="D5DED9"/>
            </a:solidFill>
            <a:prstDash val="solid"/>
          </a:ln>
        </p:spPr>
      </p:sp>
      <p:sp>
        <p:nvSpPr>
          <p:cNvPr id="5" name="Text 3"/>
          <p:cNvSpPr txBox="1"/>
          <p:nvPr/>
        </p:nvSpPr>
        <p:spPr>
          <a:xfrm>
            <a:off x="640080" y="1508760"/>
            <a:ext cx="731520" cy="457200"/>
          </a:xfrm>
          <a:prstGeom prst="rect">
            <a:avLst/>
          </a:prstGeom>
          <a:noFill/>
          <a:ln/>
        </p:spPr>
        <p:txBody>
          <a:bodyPr wrap="square" lIns="0" tIns="0" rIns="0" bIns="0" rtlCol="0" anchor="t"/>
          <a:lstStyle/>
          <a:p>
            <a:pPr indent="0" marL="0">
              <a:buNone/>
            </a:pPr>
            <a:r>
              <a:rPr lang="en-US" sz="2600" b="1" dirty="0">
                <a:solidFill>
                  <a:srgbClr val="00A86A"/>
                </a:solidFill>
                <a:latin typeface="Calibri" pitchFamily="34" charset="0"/>
                <a:ea typeface="Calibri" pitchFamily="34" charset="-122"/>
                <a:cs typeface="Calibri" pitchFamily="34" charset="-120"/>
              </a:rPr>
              <a:t>01</a:t>
            </a:r>
            <a:endParaRPr lang="en-US" sz="2600" dirty="0"/>
          </a:p>
        </p:txBody>
      </p:sp>
      <p:sp>
        <p:nvSpPr>
          <p:cNvPr id="6" name="Text 4"/>
          <p:cNvSpPr txBox="1"/>
          <p:nvPr/>
        </p:nvSpPr>
        <p:spPr>
          <a:xfrm>
            <a:off x="640080" y="1938528"/>
            <a:ext cx="2286000" cy="274320"/>
          </a:xfrm>
          <a:prstGeom prst="rect">
            <a:avLst/>
          </a:prstGeom>
          <a:noFill/>
          <a:ln/>
        </p:spPr>
        <p:txBody>
          <a:bodyPr wrap="square" lIns="0" tIns="0" rIns="0" bIns="0" rtlCol="0" anchor="t"/>
          <a:lstStyle/>
          <a:p>
            <a:pPr indent="0" marL="0">
              <a:buNone/>
            </a:pPr>
            <a:r>
              <a:rPr lang="en-US" sz="1300" b="1" dirty="0">
                <a:solidFill>
                  <a:srgbClr val="231F20"/>
                </a:solidFill>
                <a:latin typeface="Calibri" pitchFamily="34" charset="0"/>
                <a:ea typeface="Calibri" pitchFamily="34" charset="-122"/>
                <a:cs typeface="Calibri" pitchFamily="34" charset="-120"/>
              </a:rPr>
              <a:t>La série</a:t>
            </a:r>
            <a:endParaRPr lang="en-US" sz="1300" dirty="0"/>
          </a:p>
        </p:txBody>
      </p:sp>
      <p:sp>
        <p:nvSpPr>
          <p:cNvPr id="7" name="Text 5"/>
          <p:cNvSpPr txBox="1"/>
          <p:nvPr/>
        </p:nvSpPr>
        <p:spPr>
          <a:xfrm>
            <a:off x="640080" y="2212848"/>
            <a:ext cx="2286000" cy="530352"/>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Pourquoi les lumières mesurent l'activité, et comment s'articulent les trois notebooks</a:t>
            </a:r>
            <a:endParaRPr lang="en-US" sz="1050" dirty="0"/>
          </a:p>
        </p:txBody>
      </p:sp>
      <p:sp>
        <p:nvSpPr>
          <p:cNvPr id="8" name="Shape 6"/>
          <p:cNvSpPr/>
          <p:nvPr/>
        </p:nvSpPr>
        <p:spPr>
          <a:xfrm>
            <a:off x="3246120" y="1371600"/>
            <a:ext cx="2606040" cy="1417320"/>
          </a:xfrm>
          <a:prstGeom prst="roundRect">
            <a:avLst>
              <a:gd name="adj" fmla="val 5161"/>
            </a:avLst>
          </a:prstGeom>
          <a:solidFill>
            <a:srgbClr val="F4F7F5"/>
          </a:solidFill>
          <a:ln w="9525">
            <a:solidFill>
              <a:srgbClr val="D5DED9"/>
            </a:solidFill>
            <a:prstDash val="solid"/>
          </a:ln>
        </p:spPr>
      </p:sp>
      <p:sp>
        <p:nvSpPr>
          <p:cNvPr id="9" name="Text 7"/>
          <p:cNvSpPr txBox="1"/>
          <p:nvPr/>
        </p:nvSpPr>
        <p:spPr>
          <a:xfrm>
            <a:off x="3429000" y="1508760"/>
            <a:ext cx="731520" cy="457200"/>
          </a:xfrm>
          <a:prstGeom prst="rect">
            <a:avLst/>
          </a:prstGeom>
          <a:noFill/>
          <a:ln/>
        </p:spPr>
        <p:txBody>
          <a:bodyPr wrap="square" lIns="0" tIns="0" rIns="0" bIns="0" rtlCol="0" anchor="t"/>
          <a:lstStyle/>
          <a:p>
            <a:pPr indent="0" marL="0">
              <a:buNone/>
            </a:pPr>
            <a:r>
              <a:rPr lang="en-US" sz="2600" b="1" dirty="0">
                <a:solidFill>
                  <a:srgbClr val="00704A"/>
                </a:solidFill>
                <a:latin typeface="Calibri" pitchFamily="34" charset="0"/>
                <a:ea typeface="Calibri" pitchFamily="34" charset="-122"/>
                <a:cs typeface="Calibri" pitchFamily="34" charset="-120"/>
              </a:rPr>
              <a:t>02</a:t>
            </a:r>
            <a:endParaRPr lang="en-US" sz="2600" dirty="0"/>
          </a:p>
        </p:txBody>
      </p:sp>
      <p:sp>
        <p:nvSpPr>
          <p:cNvPr id="10" name="Text 8"/>
          <p:cNvSpPr txBox="1"/>
          <p:nvPr/>
        </p:nvSpPr>
        <p:spPr>
          <a:xfrm>
            <a:off x="3429000" y="1938528"/>
            <a:ext cx="2286000" cy="274320"/>
          </a:xfrm>
          <a:prstGeom prst="rect">
            <a:avLst/>
          </a:prstGeom>
          <a:noFill/>
          <a:ln/>
        </p:spPr>
        <p:txBody>
          <a:bodyPr wrap="square" lIns="0" tIns="0" rIns="0" bIns="0" rtlCol="0" anchor="t"/>
          <a:lstStyle/>
          <a:p>
            <a:pPr indent="0" marL="0">
              <a:buNone/>
            </a:pPr>
            <a:r>
              <a:rPr lang="en-US" sz="1300" b="1" dirty="0">
                <a:solidFill>
                  <a:srgbClr val="231F20"/>
                </a:solidFill>
                <a:latin typeface="Calibri" pitchFamily="34" charset="0"/>
                <a:ea typeface="Calibri" pitchFamily="34" charset="-122"/>
                <a:cs typeface="Calibri" pitchFamily="34" charset="-120"/>
              </a:rPr>
              <a:t>Collecter</a:t>
            </a:r>
            <a:endParaRPr lang="en-US" sz="1300" dirty="0"/>
          </a:p>
        </p:txBody>
      </p:sp>
      <p:sp>
        <p:nvSpPr>
          <p:cNvPr id="11" name="Text 9"/>
          <p:cNvSpPr txBox="1"/>
          <p:nvPr/>
        </p:nvSpPr>
        <p:spPr>
          <a:xfrm>
            <a:off x="3429000" y="2212848"/>
            <a:ext cx="2286000" cy="530352"/>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Notebook 1 : trouver, tester et télécharger les bons fichiers NASA Black Marble</a:t>
            </a:r>
            <a:endParaRPr lang="en-US" sz="1050" dirty="0"/>
          </a:p>
        </p:txBody>
      </p:sp>
      <p:sp>
        <p:nvSpPr>
          <p:cNvPr id="12" name="Shape 10"/>
          <p:cNvSpPr/>
          <p:nvPr/>
        </p:nvSpPr>
        <p:spPr>
          <a:xfrm>
            <a:off x="6035040" y="1371600"/>
            <a:ext cx="2606040" cy="1417320"/>
          </a:xfrm>
          <a:prstGeom prst="roundRect">
            <a:avLst>
              <a:gd name="adj" fmla="val 5161"/>
            </a:avLst>
          </a:prstGeom>
          <a:solidFill>
            <a:srgbClr val="F4F7F5"/>
          </a:solidFill>
          <a:ln w="9525">
            <a:solidFill>
              <a:srgbClr val="D5DED9"/>
            </a:solidFill>
            <a:prstDash val="solid"/>
          </a:ln>
        </p:spPr>
      </p:sp>
      <p:sp>
        <p:nvSpPr>
          <p:cNvPr id="13" name="Text 11"/>
          <p:cNvSpPr txBox="1"/>
          <p:nvPr/>
        </p:nvSpPr>
        <p:spPr>
          <a:xfrm>
            <a:off x="6217920" y="1508760"/>
            <a:ext cx="731520" cy="457200"/>
          </a:xfrm>
          <a:prstGeom prst="rect">
            <a:avLst/>
          </a:prstGeom>
          <a:noFill/>
          <a:ln/>
        </p:spPr>
        <p:txBody>
          <a:bodyPr wrap="square" lIns="0" tIns="0" rIns="0" bIns="0" rtlCol="0" anchor="t"/>
          <a:lstStyle/>
          <a:p>
            <a:pPr indent="0" marL="0">
              <a:buNone/>
            </a:pPr>
            <a:r>
              <a:rPr lang="en-US" sz="2600" b="1" dirty="0">
                <a:solidFill>
                  <a:srgbClr val="0E7C86"/>
                </a:solidFill>
                <a:latin typeface="Calibri" pitchFamily="34" charset="0"/>
                <a:ea typeface="Calibri" pitchFamily="34" charset="-122"/>
                <a:cs typeface="Calibri" pitchFamily="34" charset="-120"/>
              </a:rPr>
              <a:t>03</a:t>
            </a:r>
            <a:endParaRPr lang="en-US" sz="2600" dirty="0"/>
          </a:p>
        </p:txBody>
      </p:sp>
      <p:sp>
        <p:nvSpPr>
          <p:cNvPr id="14" name="Text 12"/>
          <p:cNvSpPr txBox="1"/>
          <p:nvPr/>
        </p:nvSpPr>
        <p:spPr>
          <a:xfrm>
            <a:off x="6217920" y="1938528"/>
            <a:ext cx="2286000" cy="274320"/>
          </a:xfrm>
          <a:prstGeom prst="rect">
            <a:avLst/>
          </a:prstGeom>
          <a:noFill/>
          <a:ln/>
        </p:spPr>
        <p:txBody>
          <a:bodyPr wrap="square" lIns="0" tIns="0" rIns="0" bIns="0" rtlCol="0" anchor="t"/>
          <a:lstStyle/>
          <a:p>
            <a:pPr indent="0" marL="0">
              <a:buNone/>
            </a:pPr>
            <a:r>
              <a:rPr lang="en-US" sz="1300" b="1" dirty="0">
                <a:solidFill>
                  <a:srgbClr val="231F20"/>
                </a:solidFill>
                <a:latin typeface="Calibri" pitchFamily="34" charset="0"/>
                <a:ea typeface="Calibri" pitchFamily="34" charset="-122"/>
                <a:cs typeface="Calibri" pitchFamily="34" charset="-120"/>
              </a:rPr>
              <a:t>Explorer et comprendre</a:t>
            </a:r>
            <a:endParaRPr lang="en-US" sz="1300" dirty="0"/>
          </a:p>
        </p:txBody>
      </p:sp>
      <p:sp>
        <p:nvSpPr>
          <p:cNvPr id="15" name="Text 13"/>
          <p:cNvSpPr txBox="1"/>
          <p:nvPr/>
        </p:nvSpPr>
        <p:spPr>
          <a:xfrm>
            <a:off x="6217920" y="2212848"/>
            <a:ext cx="2286000" cy="530352"/>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Notebook 2 : ouvrir le fichier, le décoder, le filtrer, le découper sur le pays</a:t>
            </a:r>
            <a:endParaRPr lang="en-US" sz="1050" dirty="0"/>
          </a:p>
        </p:txBody>
      </p:sp>
      <p:sp>
        <p:nvSpPr>
          <p:cNvPr id="16" name="Shape 14"/>
          <p:cNvSpPr/>
          <p:nvPr/>
        </p:nvSpPr>
        <p:spPr>
          <a:xfrm>
            <a:off x="457200" y="2971800"/>
            <a:ext cx="2606040" cy="1417320"/>
          </a:xfrm>
          <a:prstGeom prst="roundRect">
            <a:avLst>
              <a:gd name="adj" fmla="val 5161"/>
            </a:avLst>
          </a:prstGeom>
          <a:solidFill>
            <a:srgbClr val="F4F7F5"/>
          </a:solidFill>
          <a:ln w="9525">
            <a:solidFill>
              <a:srgbClr val="D5DED9"/>
            </a:solidFill>
            <a:prstDash val="solid"/>
          </a:ln>
        </p:spPr>
      </p:sp>
      <p:sp>
        <p:nvSpPr>
          <p:cNvPr id="17" name="Text 15"/>
          <p:cNvSpPr txBox="1"/>
          <p:nvPr/>
        </p:nvSpPr>
        <p:spPr>
          <a:xfrm>
            <a:off x="640080" y="3108960"/>
            <a:ext cx="731520" cy="457200"/>
          </a:xfrm>
          <a:prstGeom prst="rect">
            <a:avLst/>
          </a:prstGeom>
          <a:noFill/>
          <a:ln/>
        </p:spPr>
        <p:txBody>
          <a:bodyPr wrap="square" lIns="0" tIns="0" rIns="0" bIns="0" rtlCol="0" anchor="t"/>
          <a:lstStyle/>
          <a:p>
            <a:pPr indent="0" marL="0">
              <a:buNone/>
            </a:pPr>
            <a:r>
              <a:rPr lang="en-US" sz="2600" b="1" dirty="0">
                <a:solidFill>
                  <a:srgbClr val="D49A00"/>
                </a:solidFill>
                <a:latin typeface="Calibri" pitchFamily="34" charset="0"/>
                <a:ea typeface="Calibri" pitchFamily="34" charset="-122"/>
                <a:cs typeface="Calibri" pitchFamily="34" charset="-120"/>
              </a:rPr>
              <a:t>04</a:t>
            </a:r>
            <a:endParaRPr lang="en-US" sz="2600" dirty="0"/>
          </a:p>
        </p:txBody>
      </p:sp>
      <p:sp>
        <p:nvSpPr>
          <p:cNvPr id="18" name="Text 16"/>
          <p:cNvSpPr txBox="1"/>
          <p:nvPr/>
        </p:nvSpPr>
        <p:spPr>
          <a:xfrm>
            <a:off x="640080" y="3538728"/>
            <a:ext cx="2286000" cy="274320"/>
          </a:xfrm>
          <a:prstGeom prst="rect">
            <a:avLst/>
          </a:prstGeom>
          <a:noFill/>
          <a:ln/>
        </p:spPr>
        <p:txBody>
          <a:bodyPr wrap="square" lIns="0" tIns="0" rIns="0" bIns="0" rtlCol="0" anchor="t"/>
          <a:lstStyle/>
          <a:p>
            <a:pPr indent="0" marL="0">
              <a:buNone/>
            </a:pPr>
            <a:r>
              <a:rPr lang="en-US" sz="1300" b="1" dirty="0">
                <a:solidFill>
                  <a:srgbClr val="231F20"/>
                </a:solidFill>
                <a:latin typeface="Calibri" pitchFamily="34" charset="0"/>
                <a:ea typeface="Calibri" pitchFamily="34" charset="-122"/>
                <a:cs typeface="Calibri" pitchFamily="34" charset="-120"/>
              </a:rPr>
              <a:t>Analyser</a:t>
            </a:r>
            <a:endParaRPr lang="en-US" sz="1300" dirty="0"/>
          </a:p>
        </p:txBody>
      </p:sp>
      <p:sp>
        <p:nvSpPr>
          <p:cNvPr id="19" name="Text 17"/>
          <p:cNvSpPr txBox="1"/>
          <p:nvPr/>
        </p:nvSpPr>
        <p:spPr>
          <a:xfrm>
            <a:off x="640080" y="3813048"/>
            <a:ext cx="2286000" cy="530352"/>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Notebook 3 : tendances, régions, PIB, chocs, inégalités, zones industrielles</a:t>
            </a:r>
            <a:endParaRPr lang="en-US" sz="1050" dirty="0"/>
          </a:p>
        </p:txBody>
      </p:sp>
      <p:sp>
        <p:nvSpPr>
          <p:cNvPr id="20" name="Shape 18"/>
          <p:cNvSpPr/>
          <p:nvPr/>
        </p:nvSpPr>
        <p:spPr>
          <a:xfrm>
            <a:off x="3246120" y="2971800"/>
            <a:ext cx="2606040" cy="1417320"/>
          </a:xfrm>
          <a:prstGeom prst="roundRect">
            <a:avLst>
              <a:gd name="adj" fmla="val 5161"/>
            </a:avLst>
          </a:prstGeom>
          <a:solidFill>
            <a:srgbClr val="F4F7F5"/>
          </a:solidFill>
          <a:ln w="9525">
            <a:solidFill>
              <a:srgbClr val="D5DED9"/>
            </a:solidFill>
            <a:prstDash val="solid"/>
          </a:ln>
        </p:spPr>
      </p:sp>
      <p:sp>
        <p:nvSpPr>
          <p:cNvPr id="21" name="Text 19"/>
          <p:cNvSpPr txBox="1"/>
          <p:nvPr/>
        </p:nvSpPr>
        <p:spPr>
          <a:xfrm>
            <a:off x="3429000" y="3108960"/>
            <a:ext cx="731520" cy="457200"/>
          </a:xfrm>
          <a:prstGeom prst="rect">
            <a:avLst/>
          </a:prstGeom>
          <a:noFill/>
          <a:ln/>
        </p:spPr>
        <p:txBody>
          <a:bodyPr wrap="square" lIns="0" tIns="0" rIns="0" bIns="0" rtlCol="0" anchor="t"/>
          <a:lstStyle/>
          <a:p>
            <a:pPr indent="0" marL="0">
              <a:buNone/>
            </a:pPr>
            <a:r>
              <a:rPr lang="en-US" sz="2600" b="1" dirty="0">
                <a:solidFill>
                  <a:srgbClr val="C4621D"/>
                </a:solidFill>
                <a:latin typeface="Calibri" pitchFamily="34" charset="0"/>
                <a:ea typeface="Calibri" pitchFamily="34" charset="-122"/>
                <a:cs typeface="Calibri" pitchFamily="34" charset="-120"/>
              </a:rPr>
              <a:t>05</a:t>
            </a:r>
            <a:endParaRPr lang="en-US" sz="2600" dirty="0"/>
          </a:p>
        </p:txBody>
      </p:sp>
      <p:sp>
        <p:nvSpPr>
          <p:cNvPr id="22" name="Text 20"/>
          <p:cNvSpPr txBox="1"/>
          <p:nvPr/>
        </p:nvSpPr>
        <p:spPr>
          <a:xfrm>
            <a:off x="3429000" y="3538728"/>
            <a:ext cx="2286000" cy="274320"/>
          </a:xfrm>
          <a:prstGeom prst="rect">
            <a:avLst/>
          </a:prstGeom>
          <a:noFill/>
          <a:ln/>
        </p:spPr>
        <p:txBody>
          <a:bodyPr wrap="square" lIns="0" tIns="0" rIns="0" bIns="0" rtlCol="0" anchor="t"/>
          <a:lstStyle/>
          <a:p>
            <a:pPr indent="0" marL="0">
              <a:buNone/>
            </a:pPr>
            <a:r>
              <a:rPr lang="en-US" sz="1300" b="1" dirty="0">
                <a:solidFill>
                  <a:srgbClr val="231F20"/>
                </a:solidFill>
                <a:latin typeface="Calibri" pitchFamily="34" charset="0"/>
                <a:ea typeface="Calibri" pitchFamily="34" charset="-122"/>
                <a:cs typeface="Calibri" pitchFamily="34" charset="-120"/>
              </a:rPr>
              <a:t>Publier et contrôler</a:t>
            </a:r>
            <a:endParaRPr lang="en-US" sz="1300" dirty="0"/>
          </a:p>
        </p:txBody>
      </p:sp>
      <p:sp>
        <p:nvSpPr>
          <p:cNvPr id="23" name="Text 21"/>
          <p:cNvSpPr txBox="1"/>
          <p:nvPr/>
        </p:nvSpPr>
        <p:spPr>
          <a:xfrm>
            <a:off x="3429000" y="3813048"/>
            <a:ext cx="2286000" cy="530352"/>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Tableau de bord statique, manifeste de reproductibilité, contrôles et limites</a:t>
            </a:r>
            <a:endParaRPr lang="en-US" sz="1050" dirty="0"/>
          </a:p>
        </p:txBody>
      </p:sp>
      <p:sp>
        <p:nvSpPr>
          <p:cNvPr id="24" name="Shape 22"/>
          <p:cNvSpPr/>
          <p:nvPr/>
        </p:nvSpPr>
        <p:spPr>
          <a:xfrm>
            <a:off x="6035040" y="2971800"/>
            <a:ext cx="2606040" cy="1417320"/>
          </a:xfrm>
          <a:prstGeom prst="roundRect">
            <a:avLst>
              <a:gd name="adj" fmla="val 5161"/>
            </a:avLst>
          </a:prstGeom>
          <a:solidFill>
            <a:srgbClr val="F4F7F5"/>
          </a:solidFill>
          <a:ln w="9525">
            <a:solidFill>
              <a:srgbClr val="D5DED9"/>
            </a:solidFill>
            <a:prstDash val="solid"/>
          </a:ln>
        </p:spPr>
      </p:sp>
      <p:sp>
        <p:nvSpPr>
          <p:cNvPr id="25" name="Text 23"/>
          <p:cNvSpPr txBox="1"/>
          <p:nvPr/>
        </p:nvSpPr>
        <p:spPr>
          <a:xfrm>
            <a:off x="6217920" y="3108960"/>
            <a:ext cx="731520" cy="457200"/>
          </a:xfrm>
          <a:prstGeom prst="rect">
            <a:avLst/>
          </a:prstGeom>
          <a:noFill/>
          <a:ln/>
        </p:spPr>
        <p:txBody>
          <a:bodyPr wrap="square" lIns="0" tIns="0" rIns="0" bIns="0" rtlCol="0" anchor="t"/>
          <a:lstStyle/>
          <a:p>
            <a:pPr indent="0" marL="0">
              <a:buNone/>
            </a:pPr>
            <a:r>
              <a:rPr lang="en-US" sz="2600" b="1" dirty="0">
                <a:solidFill>
                  <a:srgbClr val="B83B2E"/>
                </a:solidFill>
                <a:latin typeface="Calibri" pitchFamily="34" charset="0"/>
                <a:ea typeface="Calibri" pitchFamily="34" charset="-122"/>
                <a:cs typeface="Calibri" pitchFamily="34" charset="-120"/>
              </a:rPr>
              <a:t>06</a:t>
            </a:r>
            <a:endParaRPr lang="en-US" sz="2600" dirty="0"/>
          </a:p>
        </p:txBody>
      </p:sp>
      <p:sp>
        <p:nvSpPr>
          <p:cNvPr id="26" name="Text 24"/>
          <p:cNvSpPr txBox="1"/>
          <p:nvPr/>
        </p:nvSpPr>
        <p:spPr>
          <a:xfrm>
            <a:off x="6217920" y="3538728"/>
            <a:ext cx="2286000" cy="274320"/>
          </a:xfrm>
          <a:prstGeom prst="rect">
            <a:avLst/>
          </a:prstGeom>
          <a:noFill/>
          <a:ln/>
        </p:spPr>
        <p:txBody>
          <a:bodyPr wrap="square" lIns="0" tIns="0" rIns="0" bIns="0" rtlCol="0" anchor="t"/>
          <a:lstStyle/>
          <a:p>
            <a:pPr indent="0" marL="0">
              <a:buNone/>
            </a:pPr>
            <a:r>
              <a:rPr lang="en-US" sz="1300" b="1" dirty="0">
                <a:solidFill>
                  <a:srgbClr val="231F20"/>
                </a:solidFill>
                <a:latin typeface="Calibri" pitchFamily="34" charset="0"/>
                <a:ea typeface="Calibri" pitchFamily="34" charset="-122"/>
                <a:cs typeface="Calibri" pitchFamily="34" charset="-120"/>
              </a:rPr>
              <a:t>À retenir</a:t>
            </a:r>
            <a:endParaRPr lang="en-US" sz="1300" dirty="0"/>
          </a:p>
        </p:txBody>
      </p:sp>
      <p:sp>
        <p:nvSpPr>
          <p:cNvPr id="27" name="Text 25"/>
          <p:cNvSpPr txBox="1"/>
          <p:nvPr/>
        </p:nvSpPr>
        <p:spPr>
          <a:xfrm>
            <a:off x="6217920" y="3813048"/>
            <a:ext cx="2286000" cy="530352"/>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Ce qu'il faut vérifier avant de publier un chiffre</a:t>
            </a:r>
            <a:endParaRPr lang="en-US" sz="1050" dirty="0"/>
          </a:p>
        </p:txBody>
      </p:sp>
      <p:sp>
        <p:nvSpPr>
          <p:cNvPr id="28" name="Shape 26"/>
          <p:cNvSpPr/>
          <p:nvPr/>
        </p:nvSpPr>
        <p:spPr>
          <a:xfrm>
            <a:off x="7644384" y="338328"/>
            <a:ext cx="100584" cy="100584"/>
          </a:xfrm>
          <a:prstGeom prst="ellipse">
            <a:avLst/>
          </a:prstGeom>
          <a:solidFill>
            <a:srgbClr val="00A86A"/>
          </a:solidFill>
          <a:ln w="12700">
            <a:solidFill>
              <a:srgbClr val="00A86A"/>
            </a:solidFill>
            <a:prstDash val="solid"/>
          </a:ln>
        </p:spPr>
      </p:sp>
      <p:sp>
        <p:nvSpPr>
          <p:cNvPr id="29" name="Shape 27"/>
          <p:cNvSpPr/>
          <p:nvPr/>
        </p:nvSpPr>
        <p:spPr>
          <a:xfrm>
            <a:off x="7818120" y="338328"/>
            <a:ext cx="100584" cy="100584"/>
          </a:xfrm>
          <a:prstGeom prst="ellipse">
            <a:avLst/>
          </a:prstGeom>
          <a:solidFill>
            <a:srgbClr val="00704A"/>
          </a:solidFill>
          <a:ln w="12700">
            <a:solidFill>
              <a:srgbClr val="00704A"/>
            </a:solidFill>
            <a:prstDash val="solid"/>
          </a:ln>
        </p:spPr>
      </p:sp>
      <p:sp>
        <p:nvSpPr>
          <p:cNvPr id="30" name="Shape 28"/>
          <p:cNvSpPr/>
          <p:nvPr/>
        </p:nvSpPr>
        <p:spPr>
          <a:xfrm>
            <a:off x="7991856" y="338328"/>
            <a:ext cx="100584" cy="100584"/>
          </a:xfrm>
          <a:prstGeom prst="ellipse">
            <a:avLst/>
          </a:prstGeom>
          <a:solidFill>
            <a:srgbClr val="0E7C86"/>
          </a:solidFill>
          <a:ln w="12700">
            <a:solidFill>
              <a:srgbClr val="0E7C86"/>
            </a:solidFill>
            <a:prstDash val="solid"/>
          </a:ln>
        </p:spPr>
      </p:sp>
      <p:sp>
        <p:nvSpPr>
          <p:cNvPr id="31" name="Shape 29"/>
          <p:cNvSpPr/>
          <p:nvPr/>
        </p:nvSpPr>
        <p:spPr>
          <a:xfrm>
            <a:off x="8165592" y="338328"/>
            <a:ext cx="100584" cy="100584"/>
          </a:xfrm>
          <a:prstGeom prst="ellipse">
            <a:avLst/>
          </a:prstGeom>
          <a:solidFill>
            <a:srgbClr val="D49A00"/>
          </a:solidFill>
          <a:ln w="12700">
            <a:solidFill>
              <a:srgbClr val="D49A00"/>
            </a:solidFill>
            <a:prstDash val="solid"/>
          </a:ln>
        </p:spPr>
      </p:sp>
      <p:sp>
        <p:nvSpPr>
          <p:cNvPr id="32" name="Shape 30"/>
          <p:cNvSpPr/>
          <p:nvPr/>
        </p:nvSpPr>
        <p:spPr>
          <a:xfrm>
            <a:off x="8339328" y="338328"/>
            <a:ext cx="100584" cy="100584"/>
          </a:xfrm>
          <a:prstGeom prst="ellipse">
            <a:avLst/>
          </a:prstGeom>
          <a:solidFill>
            <a:srgbClr val="C4621D"/>
          </a:solidFill>
          <a:ln w="12700">
            <a:solidFill>
              <a:srgbClr val="C4621D"/>
            </a:solidFill>
            <a:prstDash val="solid"/>
          </a:ln>
        </p:spPr>
      </p:sp>
      <p:sp>
        <p:nvSpPr>
          <p:cNvPr id="33" name="Shape 31"/>
          <p:cNvSpPr/>
          <p:nvPr/>
        </p:nvSpPr>
        <p:spPr>
          <a:xfrm>
            <a:off x="8513064" y="338328"/>
            <a:ext cx="100584" cy="100584"/>
          </a:xfrm>
          <a:prstGeom prst="ellipse">
            <a:avLst/>
          </a:prstGeom>
          <a:solidFill>
            <a:srgbClr val="B83B2E"/>
          </a:solidFill>
          <a:ln w="12700">
            <a:solidFill>
              <a:srgbClr val="B83B2E"/>
            </a:solidFill>
            <a:prstDash val="solid"/>
          </a:ln>
        </p:spPr>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8A9590"/>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914400"/>
            <a:ext cx="2743200" cy="274320"/>
          </a:xfrm>
          <a:prstGeom prst="rect">
            <a:avLst/>
          </a:prstGeom>
          <a:noFill/>
          <a:ln/>
        </p:spPr>
        <p:txBody>
          <a:bodyPr wrap="square" lIns="0" tIns="0" rIns="0" bIns="0" rtlCol="0" anchor="t"/>
          <a:lstStyle/>
          <a:p>
            <a:pPr indent="0" marL="0">
              <a:buNone/>
            </a:pPr>
            <a:r>
              <a:rPr lang="en-US" sz="1050" b="1" spc="300" kern="0" dirty="0">
                <a:solidFill>
                  <a:srgbClr val="F5C242"/>
                </a:solidFill>
                <a:latin typeface="Calibri" pitchFamily="34" charset="0"/>
                <a:ea typeface="Calibri" pitchFamily="34" charset="-122"/>
                <a:cs typeface="Calibri" pitchFamily="34" charset="-120"/>
              </a:rPr>
              <a:t>SECTION</a:t>
            </a:r>
            <a:endParaRPr lang="en-US" sz="1050" dirty="0"/>
          </a:p>
        </p:txBody>
      </p:sp>
      <p:sp>
        <p:nvSpPr>
          <p:cNvPr id="3" name="Text 1"/>
          <p:cNvSpPr txBox="1"/>
          <p:nvPr/>
        </p:nvSpPr>
        <p:spPr>
          <a:xfrm>
            <a:off x="548640" y="1143000"/>
            <a:ext cx="2743200" cy="1188720"/>
          </a:xfrm>
          <a:prstGeom prst="rect">
            <a:avLst/>
          </a:prstGeom>
          <a:noFill/>
          <a:ln/>
        </p:spPr>
        <p:txBody>
          <a:bodyPr wrap="square" lIns="0" tIns="0" rIns="0" bIns="0" rtlCol="0" anchor="t"/>
          <a:lstStyle/>
          <a:p>
            <a:pPr indent="0" marL="0">
              <a:buNone/>
            </a:pPr>
            <a:r>
              <a:rPr lang="en-US" sz="8000" b="1" dirty="0">
                <a:solidFill>
                  <a:srgbClr val="F5C242"/>
                </a:solidFill>
                <a:latin typeface="Calibri" pitchFamily="34" charset="0"/>
                <a:ea typeface="Calibri" pitchFamily="34" charset="-122"/>
                <a:cs typeface="Calibri" pitchFamily="34" charset="-120"/>
              </a:rPr>
              <a:t>01</a:t>
            </a:r>
            <a:endParaRPr lang="en-US" sz="8000" dirty="0"/>
          </a:p>
        </p:txBody>
      </p:sp>
      <p:sp>
        <p:nvSpPr>
          <p:cNvPr id="4" name="Text 2"/>
          <p:cNvSpPr txBox="1"/>
          <p:nvPr/>
        </p:nvSpPr>
        <p:spPr>
          <a:xfrm>
            <a:off x="548640" y="2377440"/>
            <a:ext cx="5303520" cy="731520"/>
          </a:xfrm>
          <a:prstGeom prst="rect">
            <a:avLst/>
          </a:prstGeom>
          <a:noFill/>
          <a:ln/>
        </p:spPr>
        <p:txBody>
          <a:bodyPr wrap="square" lIns="0" tIns="0" rIns="0" bIns="0" rtlCol="0" anchor="t"/>
          <a:lstStyle/>
          <a:p>
            <a:pPr indent="0" marL="0">
              <a:buNone/>
            </a:pPr>
            <a:r>
              <a:rPr lang="en-US" sz="4000" b="1" dirty="0">
                <a:solidFill>
                  <a:srgbClr val="FFFFFF"/>
                </a:solidFill>
                <a:latin typeface="Calibri" pitchFamily="34" charset="0"/>
                <a:ea typeface="Calibri" pitchFamily="34" charset="-122"/>
                <a:cs typeface="Calibri" pitchFamily="34" charset="-120"/>
              </a:rPr>
              <a:t>La série</a:t>
            </a:r>
            <a:endParaRPr lang="en-US" sz="4000" dirty="0"/>
          </a:p>
        </p:txBody>
      </p:sp>
      <p:sp>
        <p:nvSpPr>
          <p:cNvPr id="5" name="Text 3"/>
          <p:cNvSpPr txBox="1"/>
          <p:nvPr/>
        </p:nvSpPr>
        <p:spPr>
          <a:xfrm>
            <a:off x="548640" y="3154680"/>
            <a:ext cx="5120640" cy="731520"/>
          </a:xfrm>
          <a:prstGeom prst="rect">
            <a:avLst/>
          </a:prstGeom>
          <a:noFill/>
          <a:ln/>
        </p:spPr>
        <p:txBody>
          <a:bodyPr wrap="square" lIns="0" tIns="0" rIns="0" bIns="0" rtlCol="0" anchor="t"/>
          <a:lstStyle/>
          <a:p>
            <a:pPr indent="0" marL="0">
              <a:buNone/>
            </a:pPr>
            <a:r>
              <a:rPr lang="en-US" sz="1800" i="1" dirty="0">
                <a:solidFill>
                  <a:srgbClr val="E6F6EE"/>
                </a:solidFill>
                <a:latin typeface="Calibri" pitchFamily="34" charset="0"/>
                <a:ea typeface="Calibri" pitchFamily="34" charset="-122"/>
                <a:cs typeface="Calibri" pitchFamily="34" charset="-120"/>
              </a:rPr>
              <a:t>Pourquoi des images satellites de la nuit renseignent-elles sur une économie ?</a:t>
            </a:r>
            <a:endParaRPr lang="en-US" sz="1800" dirty="0"/>
          </a:p>
        </p:txBody>
      </p:sp>
      <p:sp>
        <p:nvSpPr>
          <p:cNvPr id="6" name="Shape 4"/>
          <p:cNvSpPr/>
          <p:nvPr/>
        </p:nvSpPr>
        <p:spPr>
          <a:xfrm>
            <a:off x="6309360" y="1234440"/>
            <a:ext cx="2286000" cy="2286000"/>
          </a:xfrm>
          <a:prstGeom prst="ellipse">
            <a:avLst/>
          </a:prstGeom>
          <a:solidFill>
            <a:srgbClr val="FFFFFF">
              <a:alpha val="8000"/>
            </a:srgbClr>
          </a:solidFill>
          <a:ln w="12700">
            <a:solidFill>
              <a:srgbClr val="FFFFFF">
                <a:alpha val="30000"/>
              </a:srgbClr>
            </a:solidFill>
            <a:prstDash val="solid"/>
          </a:ln>
        </p:spPr>
      </p:sp>
      <p:sp>
        <p:nvSpPr>
          <p:cNvPr id="7" name="Shape 5"/>
          <p:cNvSpPr/>
          <p:nvPr/>
        </p:nvSpPr>
        <p:spPr>
          <a:xfrm>
            <a:off x="6675120" y="1600200"/>
            <a:ext cx="1554480" cy="1554480"/>
          </a:xfrm>
          <a:prstGeom prst="ellipse">
            <a:avLst/>
          </a:prstGeom>
          <a:solidFill>
            <a:srgbClr val="FFFFFF"/>
          </a:solidFill>
          <a:ln w="12700">
            <a:solidFill>
              <a:srgbClr val="FFFFFF"/>
            </a:solidFill>
            <a:prstDash val="solid"/>
          </a:ln>
        </p:spPr>
      </p:sp>
      <p:pic>
        <p:nvPicPr>
          <p:cNvPr id="8" name="Image 0" descr="preencoded.png">    </p:cNvPr>
          <p:cNvPicPr>
            <a:picLocks noChangeAspect="1"/>
          </p:cNvPicPr>
          <p:nvPr/>
        </p:nvPicPr>
        <p:blipFill>
          <a:blip r:embed="rId1"/>
          <a:stretch>
            <a:fillRect/>
          </a:stretch>
        </p:blipFill>
        <p:spPr>
          <a:xfrm>
            <a:off x="7086600" y="2011680"/>
            <a:ext cx="731520" cy="731520"/>
          </a:xfrm>
          <a:prstGeom prst="rect">
            <a:avLst/>
          </a:prstGeom>
        </p:spPr>
      </p:pic>
      <p:sp>
        <p:nvSpPr>
          <p:cNvPr id="9" name="Shape 6"/>
          <p:cNvSpPr/>
          <p:nvPr/>
        </p:nvSpPr>
        <p:spPr>
          <a:xfrm>
            <a:off x="566928" y="4251960"/>
            <a:ext cx="118872" cy="118872"/>
          </a:xfrm>
          <a:prstGeom prst="ellipse">
            <a:avLst/>
          </a:prstGeom>
          <a:solidFill>
            <a:srgbClr val="F5C242"/>
          </a:solidFill>
          <a:ln w="12700">
            <a:solidFill>
              <a:srgbClr val="FFFFFF">
                <a:alpha val="0"/>
              </a:srgbClr>
            </a:solidFill>
            <a:prstDash val="solid"/>
          </a:ln>
        </p:spPr>
      </p:sp>
      <p:sp>
        <p:nvSpPr>
          <p:cNvPr id="10" name="Shape 7"/>
          <p:cNvSpPr/>
          <p:nvPr/>
        </p:nvSpPr>
        <p:spPr>
          <a:xfrm>
            <a:off x="786384" y="4251960"/>
            <a:ext cx="118872" cy="118872"/>
          </a:xfrm>
          <a:prstGeom prst="ellipse">
            <a:avLst/>
          </a:prstGeom>
          <a:solidFill>
            <a:srgbClr val="FFFFFF">
              <a:alpha val="40000"/>
            </a:srgbClr>
          </a:solidFill>
          <a:ln w="12700">
            <a:solidFill>
              <a:srgbClr val="FFFFFF">
                <a:alpha val="0"/>
              </a:srgbClr>
            </a:solidFill>
            <a:prstDash val="solid"/>
          </a:ln>
        </p:spPr>
      </p:sp>
      <p:sp>
        <p:nvSpPr>
          <p:cNvPr id="11" name="Shape 8"/>
          <p:cNvSpPr/>
          <p:nvPr/>
        </p:nvSpPr>
        <p:spPr>
          <a:xfrm>
            <a:off x="1005840" y="4251960"/>
            <a:ext cx="118872" cy="118872"/>
          </a:xfrm>
          <a:prstGeom prst="ellipse">
            <a:avLst/>
          </a:prstGeom>
          <a:solidFill>
            <a:srgbClr val="FFFFFF">
              <a:alpha val="40000"/>
            </a:srgbClr>
          </a:solidFill>
          <a:ln w="12700">
            <a:solidFill>
              <a:srgbClr val="FFFFFF">
                <a:alpha val="0"/>
              </a:srgbClr>
            </a:solidFill>
            <a:prstDash val="solid"/>
          </a:ln>
        </p:spPr>
      </p:sp>
      <p:sp>
        <p:nvSpPr>
          <p:cNvPr id="12" name="Shape 9"/>
          <p:cNvSpPr/>
          <p:nvPr/>
        </p:nvSpPr>
        <p:spPr>
          <a:xfrm>
            <a:off x="1225296" y="4251960"/>
            <a:ext cx="118872" cy="118872"/>
          </a:xfrm>
          <a:prstGeom prst="ellipse">
            <a:avLst/>
          </a:prstGeom>
          <a:solidFill>
            <a:srgbClr val="FFFFFF">
              <a:alpha val="40000"/>
            </a:srgbClr>
          </a:solidFill>
          <a:ln w="12700">
            <a:solidFill>
              <a:srgbClr val="FFFFFF">
                <a:alpha val="0"/>
              </a:srgbClr>
            </a:solidFill>
            <a:prstDash val="solid"/>
          </a:ln>
        </p:spPr>
      </p:sp>
      <p:sp>
        <p:nvSpPr>
          <p:cNvPr id="13" name="Shape 10"/>
          <p:cNvSpPr/>
          <p:nvPr/>
        </p:nvSpPr>
        <p:spPr>
          <a:xfrm>
            <a:off x="1444752" y="4251960"/>
            <a:ext cx="118872" cy="118872"/>
          </a:xfrm>
          <a:prstGeom prst="ellipse">
            <a:avLst/>
          </a:prstGeom>
          <a:solidFill>
            <a:srgbClr val="FFFFFF">
              <a:alpha val="40000"/>
            </a:srgbClr>
          </a:solidFill>
          <a:ln w="12700">
            <a:solidFill>
              <a:srgbClr val="FFFFFF">
                <a:alpha val="0"/>
              </a:srgbClr>
            </a:solidFill>
            <a:prstDash val="solid"/>
          </a:ln>
        </p:spPr>
      </p:sp>
      <p:sp>
        <p:nvSpPr>
          <p:cNvPr id="14" name="Shape 11"/>
          <p:cNvSpPr/>
          <p:nvPr/>
        </p:nvSpPr>
        <p:spPr>
          <a:xfrm>
            <a:off x="1664208" y="4251960"/>
            <a:ext cx="118872" cy="118872"/>
          </a:xfrm>
          <a:prstGeom prst="ellipse">
            <a:avLst/>
          </a:prstGeom>
          <a:solidFill>
            <a:srgbClr val="FFFFFF">
              <a:alpha val="40000"/>
            </a:srgbClr>
          </a:solidFill>
          <a:ln w="12700">
            <a:solidFill>
              <a:srgbClr val="FFFFFF">
                <a:alpha val="0"/>
              </a:srgbClr>
            </a:solidFill>
            <a:prstDash val="solid"/>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3"/>
          <p:cNvSpPr/>
          <p:nvPr>
            <p:ph idx="105" type="body" hasCustomPrompt="1"/>
          </p:nvPr>
        </p:nvSpPr>
        <p:spPr>
          <a:xfrm>
            <a:off x="457200" y="274320"/>
            <a:ext cx="6217920" cy="256032"/>
          </a:xfrm>
          <a:prstGeom prst="rect">
            <a:avLst/>
          </a:prstGeom>
          <a:noFill/>
          <a:ln/>
        </p:spPr>
        <p:txBody>
          <a:bodyPr wrap="square" lIns="0" tIns="0" rIns="0" bIns="0" rtlCol="0" anchor="ctr"/>
          <a:lstStyle/>
          <a:p>
            <a:pPr algn="l" indent="0" marL="0">
              <a:buNone/>
            </a:pPr>
            <a:r>
              <a:rPr lang="en-US" sz="1050" b="1" spc="300" kern="0" dirty="0">
                <a:solidFill>
                  <a:srgbClr val="00704A"/>
                </a:solidFill>
                <a:latin typeface="Calibri" pitchFamily="34" charset="0"/>
                <a:ea typeface="Calibri" pitchFamily="34" charset="-122"/>
                <a:cs typeface="Calibri" pitchFamily="34" charset="-120"/>
              </a:rPr>
              <a:t>01 · LA SÉRIE</a:t>
            </a:r>
            <a:endParaRPr lang="en-US" sz="1050" dirty="0"/>
          </a:p>
        </p:txBody>
      </p:sp>
      <p:sp>
        <p:nvSpPr>
          <p:cNvPr id="3" name="Text 3"/>
          <p:cNvSpPr/>
          <p:nvPr>
            <p:ph idx="106" type="title" hasCustomPrompt="1"/>
          </p:nvPr>
        </p:nvSpPr>
        <p:spPr>
          <a:xfrm>
            <a:off x="457200" y="548640"/>
            <a:ext cx="8229600" cy="566928"/>
          </a:xfrm>
          <a:prstGeom prst="rect">
            <a:avLst/>
          </a:prstGeom>
          <a:noFill/>
          <a:ln/>
        </p:spPr>
        <p:txBody>
          <a:bodyPr wrap="square" lIns="0" tIns="0" rIns="0" bIns="0" rtlCol="0" anchor="ctr"/>
          <a:lstStyle/>
          <a:p>
            <a:pPr algn="l" indent="0" marL="0">
              <a:buNone/>
            </a:pPr>
            <a:r>
              <a:rPr lang="en-US" sz="2800" b="1" dirty="0">
                <a:solidFill>
                  <a:srgbClr val="231F20"/>
                </a:solidFill>
                <a:latin typeface="Calibri" pitchFamily="34" charset="0"/>
                <a:ea typeface="Calibri" pitchFamily="34" charset="-122"/>
                <a:cs typeface="Calibri" pitchFamily="34" charset="-120"/>
              </a:rPr>
              <a:t>La lumière vue de l'espace, trace de l'activité</a:t>
            </a:r>
            <a:endParaRPr lang="en-US" sz="2800" dirty="0"/>
          </a:p>
        </p:txBody>
      </p:sp>
      <p:sp>
        <p:nvSpPr>
          <p:cNvPr id="4" name="dot0"/>
          <p:cNvSpPr/>
          <p:nvPr/>
        </p:nvSpPr>
        <p:spPr>
          <a:xfrm>
            <a:off x="7644384" y="338328"/>
            <a:ext cx="100584" cy="100584"/>
          </a:xfrm>
          <a:prstGeom prst="ellipse">
            <a:avLst/>
          </a:prstGeom>
          <a:solidFill>
            <a:srgbClr val="00A86A"/>
          </a:solidFill>
          <a:ln w="12700">
            <a:solidFill>
              <a:srgbClr val="00A86A"/>
            </a:solidFill>
            <a:prstDash val="solid"/>
          </a:ln>
        </p:spPr>
      </p:sp>
      <p:sp>
        <p:nvSpPr>
          <p:cNvPr id="5" name="dot1"/>
          <p:cNvSpPr/>
          <p:nvPr/>
        </p:nvSpPr>
        <p:spPr>
          <a:xfrm>
            <a:off x="7818120" y="338328"/>
            <a:ext cx="100584" cy="100584"/>
          </a:xfrm>
          <a:prstGeom prst="ellipse">
            <a:avLst/>
          </a:prstGeom>
          <a:solidFill>
            <a:srgbClr val="D5DED9"/>
          </a:solidFill>
          <a:ln w="12700">
            <a:solidFill>
              <a:srgbClr val="D5DED9"/>
            </a:solidFill>
            <a:prstDash val="solid"/>
          </a:ln>
        </p:spPr>
      </p:sp>
      <p:sp>
        <p:nvSpPr>
          <p:cNvPr id="6" name="dot2"/>
          <p:cNvSpPr/>
          <p:nvPr/>
        </p:nvSpPr>
        <p:spPr>
          <a:xfrm>
            <a:off x="7991856" y="338328"/>
            <a:ext cx="100584" cy="100584"/>
          </a:xfrm>
          <a:prstGeom prst="ellipse">
            <a:avLst/>
          </a:prstGeom>
          <a:solidFill>
            <a:srgbClr val="D5DED9"/>
          </a:solidFill>
          <a:ln w="12700">
            <a:solidFill>
              <a:srgbClr val="D5DED9"/>
            </a:solidFill>
            <a:prstDash val="solid"/>
          </a:ln>
        </p:spPr>
      </p:sp>
      <p:sp>
        <p:nvSpPr>
          <p:cNvPr id="7" name="dot3"/>
          <p:cNvSpPr/>
          <p:nvPr/>
        </p:nvSpPr>
        <p:spPr>
          <a:xfrm>
            <a:off x="8165592" y="338328"/>
            <a:ext cx="100584" cy="100584"/>
          </a:xfrm>
          <a:prstGeom prst="ellipse">
            <a:avLst/>
          </a:prstGeom>
          <a:solidFill>
            <a:srgbClr val="D5DED9"/>
          </a:solidFill>
          <a:ln w="12700">
            <a:solidFill>
              <a:srgbClr val="D5DED9"/>
            </a:solidFill>
            <a:prstDash val="solid"/>
          </a:ln>
        </p:spPr>
      </p:sp>
      <p:sp>
        <p:nvSpPr>
          <p:cNvPr id="8" name="dot4"/>
          <p:cNvSpPr/>
          <p:nvPr/>
        </p:nvSpPr>
        <p:spPr>
          <a:xfrm>
            <a:off x="8339328" y="338328"/>
            <a:ext cx="100584" cy="100584"/>
          </a:xfrm>
          <a:prstGeom prst="ellipse">
            <a:avLst/>
          </a:prstGeom>
          <a:solidFill>
            <a:srgbClr val="D5DED9"/>
          </a:solidFill>
          <a:ln w="12700">
            <a:solidFill>
              <a:srgbClr val="D5DED9"/>
            </a:solidFill>
            <a:prstDash val="solid"/>
          </a:ln>
        </p:spPr>
      </p:sp>
      <p:sp>
        <p:nvSpPr>
          <p:cNvPr id="9" name="dot5"/>
          <p:cNvSpPr/>
          <p:nvPr/>
        </p:nvSpPr>
        <p:spPr>
          <a:xfrm>
            <a:off x="8513064" y="338328"/>
            <a:ext cx="100584" cy="100584"/>
          </a:xfrm>
          <a:prstGeom prst="ellipse">
            <a:avLst/>
          </a:prstGeom>
          <a:solidFill>
            <a:srgbClr val="D5DED9"/>
          </a:solidFill>
          <a:ln w="12700">
            <a:solidFill>
              <a:srgbClr val="D5DED9"/>
            </a:solidFill>
            <a:prstDash val="solid"/>
          </a:ln>
        </p:spPr>
      </p:sp>
      <p:sp>
        <p:nvSpPr>
          <p:cNvPr id="11" name="Shape 8"/>
          <p:cNvSpPr/>
          <p:nvPr/>
        </p:nvSpPr>
        <p:spPr>
          <a:xfrm>
            <a:off x="457200" y="1371600"/>
            <a:ext cx="3291840" cy="896112"/>
          </a:xfrm>
          <a:prstGeom prst="roundRect">
            <a:avLst>
              <a:gd name="adj" fmla="val 8163"/>
            </a:avLst>
          </a:prstGeom>
          <a:solidFill>
            <a:srgbClr val="E8F5EF"/>
          </a:solidFill>
          <a:ln w="15875">
            <a:solidFill>
              <a:srgbClr val="00A86A"/>
            </a:solidFill>
            <a:prstDash val="solid"/>
          </a:ln>
        </p:spPr>
      </p:sp>
      <p:sp>
        <p:nvSpPr>
          <p:cNvPr id="12" name="Text 9"/>
          <p:cNvSpPr txBox="1"/>
          <p:nvPr/>
        </p:nvSpPr>
        <p:spPr>
          <a:xfrm>
            <a:off x="640080" y="1463040"/>
            <a:ext cx="3017520" cy="457200"/>
          </a:xfrm>
          <a:prstGeom prst="rect">
            <a:avLst/>
          </a:prstGeom>
          <a:noFill/>
          <a:ln/>
        </p:spPr>
        <p:txBody>
          <a:bodyPr wrap="square" lIns="0" tIns="0" rIns="0" bIns="0" rtlCol="0" anchor="t"/>
          <a:lstStyle/>
          <a:p>
            <a:pPr indent="0" marL="0">
              <a:buNone/>
            </a:pPr>
            <a:r>
              <a:rPr lang="en-US" sz="3000" b="1" dirty="0">
                <a:solidFill>
                  <a:srgbClr val="00A86A"/>
                </a:solidFill>
                <a:latin typeface="Calibri" pitchFamily="34" charset="0"/>
                <a:ea typeface="Calibri" pitchFamily="34" charset="-122"/>
                <a:cs typeface="Calibri" pitchFamily="34" charset="-120"/>
              </a:rPr>
              <a:t>~463 m</a:t>
            </a:r>
            <a:endParaRPr lang="en-US" sz="3000" dirty="0"/>
          </a:p>
        </p:txBody>
      </p:sp>
      <p:sp>
        <p:nvSpPr>
          <p:cNvPr id="13" name="Text 10"/>
          <p:cNvSpPr txBox="1"/>
          <p:nvPr/>
        </p:nvSpPr>
        <p:spPr>
          <a:xfrm>
            <a:off x="640080" y="1920240"/>
            <a:ext cx="3017520" cy="274320"/>
          </a:xfrm>
          <a:prstGeom prst="rect">
            <a:avLst/>
          </a:prstGeom>
          <a:noFill/>
          <a:ln/>
        </p:spPr>
        <p:txBody>
          <a:bodyPr wrap="square" lIns="0" tIns="0" rIns="0" bIns="0" rtlCol="0" anchor="t"/>
          <a:lstStyle/>
          <a:p>
            <a:pPr indent="0" marL="0">
              <a:buNone/>
            </a:pPr>
            <a:r>
              <a:rPr lang="en-US" sz="1100" dirty="0">
                <a:solidFill>
                  <a:srgbClr val="5E6964"/>
                </a:solidFill>
                <a:latin typeface="Calibri" pitchFamily="34" charset="0"/>
                <a:ea typeface="Calibri" pitchFamily="34" charset="-122"/>
                <a:cs typeface="Calibri" pitchFamily="34" charset="-120"/>
              </a:rPr>
              <a:t>taille d'un pixel (15 secondes d'arc)</a:t>
            </a:r>
            <a:endParaRPr lang="en-US" sz="1100" dirty="0"/>
          </a:p>
        </p:txBody>
      </p:sp>
      <p:sp>
        <p:nvSpPr>
          <p:cNvPr id="14" name="Shape 11"/>
          <p:cNvSpPr/>
          <p:nvPr/>
        </p:nvSpPr>
        <p:spPr>
          <a:xfrm>
            <a:off x="457200" y="2395728"/>
            <a:ext cx="3291840" cy="896112"/>
          </a:xfrm>
          <a:prstGeom prst="roundRect">
            <a:avLst>
              <a:gd name="adj" fmla="val 8163"/>
            </a:avLst>
          </a:prstGeom>
          <a:solidFill>
            <a:srgbClr val="F4F7F5"/>
          </a:solidFill>
          <a:ln w="9525">
            <a:solidFill>
              <a:srgbClr val="D5DED9"/>
            </a:solidFill>
            <a:prstDash val="solid"/>
          </a:ln>
        </p:spPr>
      </p:sp>
      <p:sp>
        <p:nvSpPr>
          <p:cNvPr id="15" name="Text 12"/>
          <p:cNvSpPr txBox="1"/>
          <p:nvPr/>
        </p:nvSpPr>
        <p:spPr>
          <a:xfrm>
            <a:off x="640080" y="2487168"/>
            <a:ext cx="3017520" cy="457200"/>
          </a:xfrm>
          <a:prstGeom prst="rect">
            <a:avLst/>
          </a:prstGeom>
          <a:noFill/>
          <a:ln/>
        </p:spPr>
        <p:txBody>
          <a:bodyPr wrap="square" lIns="0" tIns="0" rIns="0" bIns="0" rtlCol="0" anchor="t"/>
          <a:lstStyle/>
          <a:p>
            <a:pPr indent="0" marL="0">
              <a:buNone/>
            </a:pPr>
            <a:r>
              <a:rPr lang="en-US" sz="3000" b="1" dirty="0">
                <a:solidFill>
                  <a:srgbClr val="00704A"/>
                </a:solidFill>
                <a:latin typeface="Calibri" pitchFamily="34" charset="0"/>
                <a:ea typeface="Calibri" pitchFamily="34" charset="-122"/>
                <a:cs typeface="Calibri" pitchFamily="34" charset="-120"/>
              </a:rPr>
              <a:t>Chaque nuit</a:t>
            </a:r>
            <a:endParaRPr lang="en-US" sz="3000" dirty="0"/>
          </a:p>
        </p:txBody>
      </p:sp>
      <p:sp>
        <p:nvSpPr>
          <p:cNvPr id="16" name="Text 13"/>
          <p:cNvSpPr txBox="1"/>
          <p:nvPr/>
        </p:nvSpPr>
        <p:spPr>
          <a:xfrm>
            <a:off x="640080" y="2944368"/>
            <a:ext cx="3017520" cy="274320"/>
          </a:xfrm>
          <a:prstGeom prst="rect">
            <a:avLst/>
          </a:prstGeom>
          <a:noFill/>
          <a:ln/>
        </p:spPr>
        <p:txBody>
          <a:bodyPr wrap="square" lIns="0" tIns="0" rIns="0" bIns="0" rtlCol="0" anchor="t"/>
          <a:lstStyle/>
          <a:p>
            <a:pPr indent="0" marL="0">
              <a:buNone/>
            </a:pPr>
            <a:r>
              <a:rPr lang="en-US" sz="1100" dirty="0">
                <a:solidFill>
                  <a:srgbClr val="5E6964"/>
                </a:solidFill>
                <a:latin typeface="Calibri" pitchFamily="34" charset="0"/>
                <a:ea typeface="Calibri" pitchFamily="34" charset="-122"/>
                <a:cs typeface="Calibri" pitchFamily="34" charset="-120"/>
              </a:rPr>
              <a:t>depuis le 19 janvier 2012 (Black Marble)</a:t>
            </a:r>
            <a:endParaRPr lang="en-US" sz="1100" dirty="0"/>
          </a:p>
        </p:txBody>
      </p:sp>
      <p:sp>
        <p:nvSpPr>
          <p:cNvPr id="17" name="Shape 14"/>
          <p:cNvSpPr/>
          <p:nvPr/>
        </p:nvSpPr>
        <p:spPr>
          <a:xfrm>
            <a:off x="457200" y="3419856"/>
            <a:ext cx="3291840" cy="896112"/>
          </a:xfrm>
          <a:prstGeom prst="roundRect">
            <a:avLst>
              <a:gd name="adj" fmla="val 8163"/>
            </a:avLst>
          </a:prstGeom>
          <a:solidFill>
            <a:srgbClr val="F4F7F5"/>
          </a:solidFill>
          <a:ln w="9525">
            <a:solidFill>
              <a:srgbClr val="D5DED9"/>
            </a:solidFill>
            <a:prstDash val="solid"/>
          </a:ln>
        </p:spPr>
      </p:sp>
      <p:sp>
        <p:nvSpPr>
          <p:cNvPr id="18" name="Text 15"/>
          <p:cNvSpPr txBox="1"/>
          <p:nvPr/>
        </p:nvSpPr>
        <p:spPr>
          <a:xfrm>
            <a:off x="640080" y="3511296"/>
            <a:ext cx="3017520" cy="457200"/>
          </a:xfrm>
          <a:prstGeom prst="rect">
            <a:avLst/>
          </a:prstGeom>
          <a:noFill/>
          <a:ln/>
        </p:spPr>
        <p:txBody>
          <a:bodyPr wrap="square" lIns="0" tIns="0" rIns="0" bIns="0" rtlCol="0" anchor="t"/>
          <a:lstStyle/>
          <a:p>
            <a:pPr indent="0" marL="0">
              <a:buNone/>
            </a:pPr>
            <a:r>
              <a:rPr lang="en-US" sz="3000" b="1" dirty="0">
                <a:solidFill>
                  <a:srgbClr val="0E7C86"/>
                </a:solidFill>
                <a:latin typeface="Calibri" pitchFamily="34" charset="0"/>
                <a:ea typeface="Calibri" pitchFamily="34" charset="-122"/>
                <a:cs typeface="Calibri" pitchFamily="34" charset="-120"/>
              </a:rPr>
              <a:t>01:30</a:t>
            </a:r>
            <a:endParaRPr lang="en-US" sz="3000" dirty="0"/>
          </a:p>
        </p:txBody>
      </p:sp>
      <p:sp>
        <p:nvSpPr>
          <p:cNvPr id="19" name="Text 16"/>
          <p:cNvSpPr txBox="1"/>
          <p:nvPr/>
        </p:nvSpPr>
        <p:spPr>
          <a:xfrm>
            <a:off x="640080" y="3968496"/>
            <a:ext cx="3017520" cy="274320"/>
          </a:xfrm>
          <a:prstGeom prst="rect">
            <a:avLst/>
          </a:prstGeom>
          <a:noFill/>
          <a:ln/>
        </p:spPr>
        <p:txBody>
          <a:bodyPr wrap="square" lIns="0" tIns="0" rIns="0" bIns="0" rtlCol="0" anchor="t"/>
          <a:lstStyle/>
          <a:p>
            <a:pPr indent="0" marL="0">
              <a:buNone/>
            </a:pPr>
            <a:r>
              <a:rPr lang="en-US" sz="1100" dirty="0">
                <a:solidFill>
                  <a:srgbClr val="5E6964"/>
                </a:solidFill>
                <a:latin typeface="Calibri" pitchFamily="34" charset="0"/>
                <a:ea typeface="Calibri" pitchFamily="34" charset="-122"/>
                <a:cs typeface="Calibri" pitchFamily="34" charset="-120"/>
              </a:rPr>
              <a:t>heure locale de passage du satellite</a:t>
            </a:r>
            <a:endParaRPr lang="en-US" sz="1100" dirty="0"/>
          </a:p>
        </p:txBody>
      </p:sp>
      <p:sp>
        <p:nvSpPr>
          <p:cNvPr id="20" name="Shape 17"/>
          <p:cNvSpPr/>
          <p:nvPr/>
        </p:nvSpPr>
        <p:spPr>
          <a:xfrm>
            <a:off x="4114800" y="1481328"/>
            <a:ext cx="566928" cy="566928"/>
          </a:xfrm>
          <a:prstGeom prst="ellipse">
            <a:avLst/>
          </a:prstGeom>
          <a:solidFill>
            <a:srgbClr val="00A86A">
              <a:alpha val="22000"/>
            </a:srgbClr>
          </a:solidFill>
          <a:ln w="12700">
            <a:solidFill>
              <a:srgbClr val="00A86A">
                <a:alpha val="0"/>
              </a:srgbClr>
            </a:solidFill>
            <a:prstDash val="solid"/>
          </a:ln>
        </p:spPr>
      </p:sp>
      <p:pic>
        <p:nvPicPr>
          <p:cNvPr id="21" name="Image 0" descr="preencoded.png">    </p:cNvPr>
          <p:cNvPicPr>
            <a:picLocks noChangeAspect="1"/>
          </p:cNvPicPr>
          <p:nvPr/>
        </p:nvPicPr>
        <p:blipFill>
          <a:blip r:embed="rId1"/>
          <a:stretch>
            <a:fillRect/>
          </a:stretch>
        </p:blipFill>
        <p:spPr>
          <a:xfrm>
            <a:off x="4250863" y="1617391"/>
            <a:ext cx="294803" cy="294803"/>
          </a:xfrm>
          <a:prstGeom prst="rect">
            <a:avLst/>
          </a:prstGeom>
        </p:spPr>
      </p:pic>
      <p:sp>
        <p:nvSpPr>
          <p:cNvPr id="22" name="Text 18"/>
          <p:cNvSpPr txBox="1"/>
          <p:nvPr/>
        </p:nvSpPr>
        <p:spPr>
          <a:xfrm>
            <a:off x="4846320" y="1417320"/>
            <a:ext cx="3840480" cy="274320"/>
          </a:xfrm>
          <a:prstGeom prst="rect">
            <a:avLst/>
          </a:prstGeom>
          <a:noFill/>
          <a:ln/>
        </p:spPr>
        <p:txBody>
          <a:bodyPr wrap="square" lIns="0" tIns="0" rIns="0" bIns="0" rtlCol="0" anchor="t"/>
          <a:lstStyle/>
          <a:p>
            <a:pPr indent="0" marL="0">
              <a:buNone/>
            </a:pPr>
            <a:r>
              <a:rPr lang="en-US" sz="1300" b="1" dirty="0">
                <a:solidFill>
                  <a:srgbClr val="231F20"/>
                </a:solidFill>
                <a:latin typeface="Calibri" pitchFamily="34" charset="0"/>
                <a:ea typeface="Calibri" pitchFamily="34" charset="-122"/>
                <a:cs typeface="Calibri" pitchFamily="34" charset="-120"/>
              </a:rPr>
              <a:t>Ce que les lumières captent bien</a:t>
            </a:r>
            <a:endParaRPr lang="en-US" sz="1300" dirty="0"/>
          </a:p>
        </p:txBody>
      </p:sp>
      <p:sp>
        <p:nvSpPr>
          <p:cNvPr id="23" name="Text 19"/>
          <p:cNvSpPr txBox="1"/>
          <p:nvPr/>
        </p:nvSpPr>
        <p:spPr>
          <a:xfrm>
            <a:off x="4846320" y="1719072"/>
            <a:ext cx="3840480" cy="566928"/>
          </a:xfrm>
          <a:prstGeom prst="rect">
            <a:avLst/>
          </a:prstGeom>
          <a:noFill/>
          <a:ln/>
        </p:spPr>
        <p:txBody>
          <a:bodyPr wrap="square" lIns="0" tIns="0" rIns="0" bIns="0" rtlCol="0" anchor="t"/>
          <a:lstStyle/>
          <a:p>
            <a:pPr indent="0" marL="0">
              <a:buNone/>
            </a:pPr>
            <a:r>
              <a:rPr lang="en-US" sz="1100" dirty="0">
                <a:solidFill>
                  <a:srgbClr val="5E6964"/>
                </a:solidFill>
                <a:latin typeface="Calibri" pitchFamily="34" charset="0"/>
                <a:ea typeface="Calibri" pitchFamily="34" charset="-122"/>
                <a:cs typeface="Calibri" pitchFamily="34" charset="-120"/>
              </a:rPr>
              <a:t>Activité urbaine, industrie qui tourne la nuit, électrification, coupures, déplacements, chocs soudains</a:t>
            </a:r>
            <a:endParaRPr lang="en-US" sz="1100" dirty="0"/>
          </a:p>
        </p:txBody>
      </p:sp>
      <p:sp>
        <p:nvSpPr>
          <p:cNvPr id="24" name="Shape 20"/>
          <p:cNvSpPr/>
          <p:nvPr/>
        </p:nvSpPr>
        <p:spPr>
          <a:xfrm>
            <a:off x="4114800" y="2505456"/>
            <a:ext cx="566928" cy="566928"/>
          </a:xfrm>
          <a:prstGeom prst="ellipse">
            <a:avLst/>
          </a:prstGeom>
          <a:solidFill>
            <a:srgbClr val="00704A">
              <a:alpha val="22000"/>
            </a:srgbClr>
          </a:solidFill>
          <a:ln w="12700">
            <a:solidFill>
              <a:srgbClr val="00704A">
                <a:alpha val="0"/>
              </a:srgbClr>
            </a:solidFill>
            <a:prstDash val="solid"/>
          </a:ln>
        </p:spPr>
      </p:sp>
      <p:pic>
        <p:nvPicPr>
          <p:cNvPr id="25" name="Image 1" descr="preencoded.png">    </p:cNvPr>
          <p:cNvPicPr>
            <a:picLocks noChangeAspect="1"/>
          </p:cNvPicPr>
          <p:nvPr/>
        </p:nvPicPr>
        <p:blipFill>
          <a:blip r:embed="rId2"/>
          <a:stretch>
            <a:fillRect/>
          </a:stretch>
        </p:blipFill>
        <p:spPr>
          <a:xfrm>
            <a:off x="4250863" y="2641519"/>
            <a:ext cx="294803" cy="294803"/>
          </a:xfrm>
          <a:prstGeom prst="rect">
            <a:avLst/>
          </a:prstGeom>
        </p:spPr>
      </p:pic>
      <p:sp>
        <p:nvSpPr>
          <p:cNvPr id="26" name="Text 21"/>
          <p:cNvSpPr txBox="1"/>
          <p:nvPr/>
        </p:nvSpPr>
        <p:spPr>
          <a:xfrm>
            <a:off x="4846320" y="2441448"/>
            <a:ext cx="3840480" cy="274320"/>
          </a:xfrm>
          <a:prstGeom prst="rect">
            <a:avLst/>
          </a:prstGeom>
          <a:noFill/>
          <a:ln/>
        </p:spPr>
        <p:txBody>
          <a:bodyPr wrap="square" lIns="0" tIns="0" rIns="0" bIns="0" rtlCol="0" anchor="t"/>
          <a:lstStyle/>
          <a:p>
            <a:pPr indent="0" marL="0">
              <a:buNone/>
            </a:pPr>
            <a:r>
              <a:rPr lang="en-US" sz="1300" b="1" dirty="0">
                <a:solidFill>
                  <a:srgbClr val="231F20"/>
                </a:solidFill>
                <a:latin typeface="Calibri" pitchFamily="34" charset="0"/>
                <a:ea typeface="Calibri" pitchFamily="34" charset="-122"/>
                <a:cs typeface="Calibri" pitchFamily="34" charset="-120"/>
              </a:rPr>
              <a:t>Ce qu'elles voient mal</a:t>
            </a:r>
            <a:endParaRPr lang="en-US" sz="1300" dirty="0"/>
          </a:p>
        </p:txBody>
      </p:sp>
      <p:sp>
        <p:nvSpPr>
          <p:cNvPr id="27" name="Text 22"/>
          <p:cNvSpPr txBox="1"/>
          <p:nvPr/>
        </p:nvSpPr>
        <p:spPr>
          <a:xfrm>
            <a:off x="4846320" y="2743200"/>
            <a:ext cx="3840480" cy="566928"/>
          </a:xfrm>
          <a:prstGeom prst="rect">
            <a:avLst/>
          </a:prstGeom>
          <a:noFill/>
          <a:ln/>
        </p:spPr>
        <p:txBody>
          <a:bodyPr wrap="square" lIns="0" tIns="0" rIns="0" bIns="0" rtlCol="0" anchor="t"/>
          <a:lstStyle/>
          <a:p>
            <a:pPr indent="0" marL="0">
              <a:buNone/>
            </a:pPr>
            <a:r>
              <a:rPr lang="en-US" sz="1100" dirty="0">
                <a:solidFill>
                  <a:srgbClr val="5E6964"/>
                </a:solidFill>
                <a:latin typeface="Calibri" pitchFamily="34" charset="0"/>
                <a:ea typeface="Calibri" pitchFamily="34" charset="-122"/>
                <a:cs typeface="Calibri" pitchFamily="34" charset="-120"/>
              </a:rPr>
              <a:t>Agriculture, commerce de jour, une grande partie des services et l'économie informelle rurale</a:t>
            </a:r>
            <a:endParaRPr lang="en-US" sz="1100" dirty="0"/>
          </a:p>
        </p:txBody>
      </p:sp>
      <p:sp>
        <p:nvSpPr>
          <p:cNvPr id="28" name="Shape 23"/>
          <p:cNvSpPr/>
          <p:nvPr/>
        </p:nvSpPr>
        <p:spPr>
          <a:xfrm>
            <a:off x="4114800" y="3529584"/>
            <a:ext cx="566928" cy="566928"/>
          </a:xfrm>
          <a:prstGeom prst="ellipse">
            <a:avLst/>
          </a:prstGeom>
          <a:solidFill>
            <a:srgbClr val="0E7C86">
              <a:alpha val="22000"/>
            </a:srgbClr>
          </a:solidFill>
          <a:ln w="12700">
            <a:solidFill>
              <a:srgbClr val="0E7C86">
                <a:alpha val="0"/>
              </a:srgbClr>
            </a:solidFill>
            <a:prstDash val="solid"/>
          </a:ln>
        </p:spPr>
      </p:sp>
      <p:pic>
        <p:nvPicPr>
          <p:cNvPr id="29" name="Image 2" descr="preencoded.png">    </p:cNvPr>
          <p:cNvPicPr>
            <a:picLocks noChangeAspect="1"/>
          </p:cNvPicPr>
          <p:nvPr/>
        </p:nvPicPr>
        <p:blipFill>
          <a:blip r:embed="rId3"/>
          <a:stretch>
            <a:fillRect/>
          </a:stretch>
        </p:blipFill>
        <p:spPr>
          <a:xfrm>
            <a:off x="4250863" y="3665647"/>
            <a:ext cx="294803" cy="294803"/>
          </a:xfrm>
          <a:prstGeom prst="rect">
            <a:avLst/>
          </a:prstGeom>
        </p:spPr>
      </p:pic>
      <p:sp>
        <p:nvSpPr>
          <p:cNvPr id="30" name="Text 24"/>
          <p:cNvSpPr txBox="1"/>
          <p:nvPr/>
        </p:nvSpPr>
        <p:spPr>
          <a:xfrm>
            <a:off x="4846320" y="3465576"/>
            <a:ext cx="3840480" cy="274320"/>
          </a:xfrm>
          <a:prstGeom prst="rect">
            <a:avLst/>
          </a:prstGeom>
          <a:noFill/>
          <a:ln/>
        </p:spPr>
        <p:txBody>
          <a:bodyPr wrap="square" lIns="0" tIns="0" rIns="0" bIns="0" rtlCol="0" anchor="t"/>
          <a:lstStyle/>
          <a:p>
            <a:pPr indent="0" marL="0">
              <a:buNone/>
            </a:pPr>
            <a:r>
              <a:rPr lang="en-US" sz="1300" b="1" dirty="0">
                <a:solidFill>
                  <a:srgbClr val="231F20"/>
                </a:solidFill>
                <a:latin typeface="Calibri" pitchFamily="34" charset="0"/>
                <a:ea typeface="Calibri" pitchFamily="34" charset="-122"/>
                <a:cs typeface="Calibri" pitchFamily="34" charset="-120"/>
              </a:rPr>
              <a:t>Comment les utiliser</a:t>
            </a:r>
            <a:endParaRPr lang="en-US" sz="1300" dirty="0"/>
          </a:p>
        </p:txBody>
      </p:sp>
      <p:sp>
        <p:nvSpPr>
          <p:cNvPr id="31" name="Text 25"/>
          <p:cNvSpPr txBox="1"/>
          <p:nvPr/>
        </p:nvSpPr>
        <p:spPr>
          <a:xfrm>
            <a:off x="4846320" y="3767328"/>
            <a:ext cx="3840480" cy="566928"/>
          </a:xfrm>
          <a:prstGeom prst="rect">
            <a:avLst/>
          </a:prstGeom>
          <a:noFill/>
          <a:ln/>
        </p:spPr>
        <p:txBody>
          <a:bodyPr wrap="square" lIns="0" tIns="0" rIns="0" bIns="0" rtlCol="0" anchor="t"/>
          <a:lstStyle/>
          <a:p>
            <a:pPr indent="0" marL="0">
              <a:buNone/>
            </a:pPr>
            <a:r>
              <a:rPr lang="en-US" sz="1100" dirty="0">
                <a:solidFill>
                  <a:srgbClr val="5E6964"/>
                </a:solidFill>
                <a:latin typeface="Calibri" pitchFamily="34" charset="0"/>
                <a:ea typeface="Calibri" pitchFamily="34" charset="-122"/>
                <a:cs typeface="Calibri" pitchFamily="34" charset="-120"/>
              </a:rPr>
              <a:t>En complément de la statistique officielle : direction, calendrier et géographie de l'activité — pas en remplacement du PIB</a:t>
            </a:r>
            <a:endParaRPr lang="en-US" sz="1100" dirty="0"/>
          </a:p>
        </p:txBody>
      </p:sp>
      <p:sp>
        <p:nvSpPr>
          <p:cNvPr id="32" name="Text 26"/>
          <p:cNvSpPr txBox="1"/>
          <p:nvPr/>
        </p:nvSpPr>
        <p:spPr>
          <a:xfrm>
            <a:off x="457200" y="4553712"/>
            <a:ext cx="7223760" cy="219456"/>
          </a:xfrm>
          <a:prstGeom prst="rect">
            <a:avLst/>
          </a:prstGeom>
          <a:noFill/>
          <a:ln/>
        </p:spPr>
        <p:txBody>
          <a:bodyPr wrap="square" lIns="0" tIns="0" rIns="0" bIns="0" rtlCol="0" anchor="ctr"/>
          <a:lstStyle/>
          <a:p>
            <a:pPr indent="0" marL="0">
              <a:buNone/>
            </a:pPr>
            <a:r>
              <a:rPr lang="en-US" sz="900" i="1" dirty="0">
                <a:solidFill>
                  <a:srgbClr val="5E6964"/>
                </a:solidFill>
                <a:latin typeface="Calibri" pitchFamily="34" charset="0"/>
                <a:ea typeface="Calibri" pitchFamily="34" charset="-122"/>
                <a:cs typeface="Calibri" pitchFamily="34" charset="-120"/>
              </a:rPr>
              <a:t>Sources : Román et al. (2018) ; Henderson, Storeygard &amp; Weil (2012) ; Chen &amp; Nordhaus (2011)</a:t>
            </a:r>
            <a:endParaRPr lang="en-US" sz="9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8A9590"/>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3"/>
          <p:cNvSpPr/>
          <p:nvPr>
            <p:ph idx="105" type="body" hasCustomPrompt="1"/>
          </p:nvPr>
        </p:nvSpPr>
        <p:spPr>
          <a:xfrm>
            <a:off x="457200" y="274320"/>
            <a:ext cx="6217920" cy="256032"/>
          </a:xfrm>
          <a:prstGeom prst="rect">
            <a:avLst/>
          </a:prstGeom>
          <a:noFill/>
          <a:ln/>
        </p:spPr>
        <p:txBody>
          <a:bodyPr wrap="square" lIns="0" tIns="0" rIns="0" bIns="0" rtlCol="0" anchor="ctr"/>
          <a:lstStyle/>
          <a:p>
            <a:pPr algn="l" indent="0" marL="0">
              <a:buNone/>
            </a:pPr>
            <a:r>
              <a:rPr lang="en-US" sz="1050" b="1" spc="300" kern="0" dirty="0">
                <a:solidFill>
                  <a:srgbClr val="00704A"/>
                </a:solidFill>
                <a:latin typeface="Calibri" pitchFamily="34" charset="0"/>
                <a:ea typeface="Calibri" pitchFamily="34" charset="-122"/>
                <a:cs typeface="Calibri" pitchFamily="34" charset="-120"/>
              </a:rPr>
              <a:t>01 · LA SÉRIE</a:t>
            </a:r>
            <a:endParaRPr lang="en-US" sz="1050" dirty="0"/>
          </a:p>
        </p:txBody>
      </p:sp>
      <p:sp>
        <p:nvSpPr>
          <p:cNvPr id="3" name="Text 3"/>
          <p:cNvSpPr/>
          <p:nvPr>
            <p:ph idx="106" type="title" hasCustomPrompt="1"/>
          </p:nvPr>
        </p:nvSpPr>
        <p:spPr>
          <a:xfrm>
            <a:off x="457200" y="548640"/>
            <a:ext cx="8229600" cy="566928"/>
          </a:xfrm>
          <a:prstGeom prst="rect">
            <a:avLst/>
          </a:prstGeom>
          <a:noFill/>
          <a:ln/>
        </p:spPr>
        <p:txBody>
          <a:bodyPr wrap="square" lIns="0" tIns="0" rIns="0" bIns="0" rtlCol="0" anchor="ctr"/>
          <a:lstStyle/>
          <a:p>
            <a:pPr algn="l" indent="0" marL="0">
              <a:buNone/>
            </a:pPr>
            <a:r>
              <a:rPr lang="en-US" sz="2800" b="1" dirty="0">
                <a:solidFill>
                  <a:srgbClr val="231F20"/>
                </a:solidFill>
                <a:latin typeface="Calibri" pitchFamily="34" charset="0"/>
                <a:ea typeface="Calibri" pitchFamily="34" charset="-122"/>
                <a:cs typeface="Calibri" pitchFamily="34" charset="-120"/>
              </a:rPr>
              <a:t>Trois notebooks, une chaîne, un paramètre</a:t>
            </a:r>
            <a:endParaRPr lang="en-US" sz="2800" dirty="0"/>
          </a:p>
        </p:txBody>
      </p:sp>
      <p:sp>
        <p:nvSpPr>
          <p:cNvPr id="4" name="dot0"/>
          <p:cNvSpPr/>
          <p:nvPr/>
        </p:nvSpPr>
        <p:spPr>
          <a:xfrm>
            <a:off x="7644384" y="338328"/>
            <a:ext cx="100584" cy="100584"/>
          </a:xfrm>
          <a:prstGeom prst="ellipse">
            <a:avLst/>
          </a:prstGeom>
          <a:solidFill>
            <a:srgbClr val="00A86A"/>
          </a:solidFill>
          <a:ln w="12700">
            <a:solidFill>
              <a:srgbClr val="00A86A"/>
            </a:solidFill>
            <a:prstDash val="solid"/>
          </a:ln>
        </p:spPr>
      </p:sp>
      <p:sp>
        <p:nvSpPr>
          <p:cNvPr id="5" name="dot1"/>
          <p:cNvSpPr/>
          <p:nvPr/>
        </p:nvSpPr>
        <p:spPr>
          <a:xfrm>
            <a:off x="7818120" y="338328"/>
            <a:ext cx="100584" cy="100584"/>
          </a:xfrm>
          <a:prstGeom prst="ellipse">
            <a:avLst/>
          </a:prstGeom>
          <a:solidFill>
            <a:srgbClr val="D5DED9"/>
          </a:solidFill>
          <a:ln w="12700">
            <a:solidFill>
              <a:srgbClr val="D5DED9"/>
            </a:solidFill>
            <a:prstDash val="solid"/>
          </a:ln>
        </p:spPr>
      </p:sp>
      <p:sp>
        <p:nvSpPr>
          <p:cNvPr id="6" name="dot2"/>
          <p:cNvSpPr/>
          <p:nvPr/>
        </p:nvSpPr>
        <p:spPr>
          <a:xfrm>
            <a:off x="7991856" y="338328"/>
            <a:ext cx="100584" cy="100584"/>
          </a:xfrm>
          <a:prstGeom prst="ellipse">
            <a:avLst/>
          </a:prstGeom>
          <a:solidFill>
            <a:srgbClr val="D5DED9"/>
          </a:solidFill>
          <a:ln w="12700">
            <a:solidFill>
              <a:srgbClr val="D5DED9"/>
            </a:solidFill>
            <a:prstDash val="solid"/>
          </a:ln>
        </p:spPr>
      </p:sp>
      <p:sp>
        <p:nvSpPr>
          <p:cNvPr id="7" name="dot3"/>
          <p:cNvSpPr/>
          <p:nvPr/>
        </p:nvSpPr>
        <p:spPr>
          <a:xfrm>
            <a:off x="8165592" y="338328"/>
            <a:ext cx="100584" cy="100584"/>
          </a:xfrm>
          <a:prstGeom prst="ellipse">
            <a:avLst/>
          </a:prstGeom>
          <a:solidFill>
            <a:srgbClr val="D5DED9"/>
          </a:solidFill>
          <a:ln w="12700">
            <a:solidFill>
              <a:srgbClr val="D5DED9"/>
            </a:solidFill>
            <a:prstDash val="solid"/>
          </a:ln>
        </p:spPr>
      </p:sp>
      <p:sp>
        <p:nvSpPr>
          <p:cNvPr id="8" name="dot4"/>
          <p:cNvSpPr/>
          <p:nvPr/>
        </p:nvSpPr>
        <p:spPr>
          <a:xfrm>
            <a:off x="8339328" y="338328"/>
            <a:ext cx="100584" cy="100584"/>
          </a:xfrm>
          <a:prstGeom prst="ellipse">
            <a:avLst/>
          </a:prstGeom>
          <a:solidFill>
            <a:srgbClr val="D5DED9"/>
          </a:solidFill>
          <a:ln w="12700">
            <a:solidFill>
              <a:srgbClr val="D5DED9"/>
            </a:solidFill>
            <a:prstDash val="solid"/>
          </a:ln>
        </p:spPr>
      </p:sp>
      <p:sp>
        <p:nvSpPr>
          <p:cNvPr id="9" name="dot5"/>
          <p:cNvSpPr/>
          <p:nvPr/>
        </p:nvSpPr>
        <p:spPr>
          <a:xfrm>
            <a:off x="8513064" y="338328"/>
            <a:ext cx="100584" cy="100584"/>
          </a:xfrm>
          <a:prstGeom prst="ellipse">
            <a:avLst/>
          </a:prstGeom>
          <a:solidFill>
            <a:srgbClr val="D5DED9"/>
          </a:solidFill>
          <a:ln w="12700">
            <a:solidFill>
              <a:srgbClr val="D5DED9"/>
            </a:solidFill>
            <a:prstDash val="solid"/>
          </a:ln>
        </p:spPr>
      </p:sp>
      <p:sp>
        <p:nvSpPr>
          <p:cNvPr id="11" name="Shape 8"/>
          <p:cNvSpPr/>
          <p:nvPr/>
        </p:nvSpPr>
        <p:spPr>
          <a:xfrm>
            <a:off x="457200" y="1325880"/>
            <a:ext cx="2560320" cy="3108960"/>
          </a:xfrm>
          <a:prstGeom prst="roundRect">
            <a:avLst>
              <a:gd name="adj" fmla="val 2857"/>
            </a:avLst>
          </a:prstGeom>
          <a:solidFill>
            <a:srgbClr val="E8F5EF"/>
          </a:solidFill>
          <a:ln w="15875">
            <a:solidFill>
              <a:srgbClr val="00704A"/>
            </a:solidFill>
            <a:prstDash val="solid"/>
          </a:ln>
        </p:spPr>
      </p:sp>
      <p:sp>
        <p:nvSpPr>
          <p:cNvPr id="12" name="Shape 9"/>
          <p:cNvSpPr/>
          <p:nvPr/>
        </p:nvSpPr>
        <p:spPr>
          <a:xfrm>
            <a:off x="640080" y="1508760"/>
            <a:ext cx="548640" cy="548640"/>
          </a:xfrm>
          <a:prstGeom prst="ellipse">
            <a:avLst/>
          </a:prstGeom>
          <a:solidFill>
            <a:srgbClr val="00704A">
              <a:alpha val="22000"/>
            </a:srgbClr>
          </a:solidFill>
          <a:ln w="12700">
            <a:solidFill>
              <a:srgbClr val="00704A">
                <a:alpha val="0"/>
              </a:srgbClr>
            </a:solidFill>
            <a:prstDash val="solid"/>
          </a:ln>
        </p:spPr>
      </p:sp>
      <p:pic>
        <p:nvPicPr>
          <p:cNvPr id="13" name="Image 0" descr="preencoded.png">    </p:cNvPr>
          <p:cNvPicPr>
            <a:picLocks noChangeAspect="1"/>
          </p:cNvPicPr>
          <p:nvPr/>
        </p:nvPicPr>
        <p:blipFill>
          <a:blip r:embed="rId1"/>
          <a:stretch>
            <a:fillRect/>
          </a:stretch>
        </p:blipFill>
        <p:spPr>
          <a:xfrm>
            <a:off x="771754" y="1640434"/>
            <a:ext cx="285293" cy="285293"/>
          </a:xfrm>
          <a:prstGeom prst="rect">
            <a:avLst/>
          </a:prstGeom>
        </p:spPr>
      </p:pic>
      <p:sp>
        <p:nvSpPr>
          <p:cNvPr id="14" name="Text 10"/>
          <p:cNvSpPr txBox="1"/>
          <p:nvPr/>
        </p:nvSpPr>
        <p:spPr>
          <a:xfrm>
            <a:off x="1325880" y="1508760"/>
            <a:ext cx="1600200" cy="548640"/>
          </a:xfrm>
          <a:prstGeom prst="rect">
            <a:avLst/>
          </a:prstGeom>
          <a:noFill/>
          <a:ln/>
        </p:spPr>
        <p:txBody>
          <a:bodyPr wrap="square" lIns="0" tIns="0" rIns="0" bIns="0" rtlCol="0" anchor="ctr"/>
          <a:lstStyle/>
          <a:p>
            <a:pPr indent="0" marL="0">
              <a:buNone/>
            </a:pPr>
            <a:r>
              <a:rPr lang="en-US" sz="1300" b="1" dirty="0">
                <a:solidFill>
                  <a:srgbClr val="231F20"/>
                </a:solidFill>
                <a:latin typeface="Calibri" pitchFamily="34" charset="0"/>
                <a:ea typeface="Calibri" pitchFamily="34" charset="-122"/>
                <a:cs typeface="Calibri" pitchFamily="34" charset="-120"/>
              </a:rPr>
              <a:t>Notebook 1 · Collecter</a:t>
            </a:r>
            <a:endParaRPr lang="en-US" sz="1300" dirty="0"/>
          </a:p>
        </p:txBody>
      </p:sp>
      <p:sp>
        <p:nvSpPr>
          <p:cNvPr id="15" name="Text 11"/>
          <p:cNvSpPr txBox="1"/>
          <p:nvPr/>
        </p:nvSpPr>
        <p:spPr>
          <a:xfrm>
            <a:off x="640080" y="2167128"/>
            <a:ext cx="2240280" cy="411480"/>
          </a:xfrm>
          <a:prstGeom prst="rect">
            <a:avLst/>
          </a:prstGeom>
          <a:noFill/>
          <a:ln/>
        </p:spPr>
        <p:txBody>
          <a:bodyPr wrap="square" lIns="0" tIns="0" rIns="0" bIns="0" rtlCol="0" anchor="t"/>
          <a:lstStyle/>
          <a:p>
            <a:pPr indent="0" marL="0">
              <a:buNone/>
            </a:pPr>
            <a:r>
              <a:rPr lang="en-US" sz="1050" i="1" dirty="0">
                <a:solidFill>
                  <a:srgbClr val="00704A"/>
                </a:solidFill>
                <a:latin typeface="Calibri" pitchFamily="34" charset="0"/>
                <a:ea typeface="Calibri" pitchFamily="34" charset="-122"/>
                <a:cs typeface="Calibri" pitchFamily="34" charset="-120"/>
              </a:rPr>
              <a:t>NASA Black Marble (VNP46A1–A4)</a:t>
            </a:r>
            <a:endParaRPr lang="en-US" sz="1050" dirty="0"/>
          </a:p>
        </p:txBody>
      </p:sp>
      <p:sp>
        <p:nvSpPr>
          <p:cNvPr id="16" name="Text 12"/>
          <p:cNvSpPr txBox="1"/>
          <p:nvPr/>
        </p:nvSpPr>
        <p:spPr>
          <a:xfrm>
            <a:off x="640080" y="2624328"/>
            <a:ext cx="2240280" cy="1143000"/>
          </a:xfrm>
          <a:prstGeom prst="rect">
            <a:avLst/>
          </a:prstGeom>
          <a:noFill/>
          <a:ln/>
        </p:spPr>
        <p:txBody>
          <a:bodyPr wrap="square" lIns="0" tIns="0" rIns="0" bIns="0" rtlCol="0" anchor="t"/>
          <a:lstStyle/>
          <a:p>
            <a:pPr marL="171450" indent="-171450">
              <a:spcAft>
                <a:spcPts val="500"/>
              </a:spcAft>
              <a:buSzPct val="100000"/>
              <a:buChar char="•"/>
            </a:pPr>
            <a:r>
              <a:rPr lang="en-US" sz="1100" dirty="0">
                <a:solidFill>
                  <a:srgbClr val="231F20"/>
                </a:solidFill>
                <a:latin typeface="Calibri" pitchFamily="34" charset="0"/>
                <a:ea typeface="Calibri" pitchFamily="34" charset="-122"/>
                <a:cs typeface="Calibri" pitchFamily="34" charset="-120"/>
              </a:rPr>
              <a:t>Emprise du pays et tuiles VIIRS</a:t>
            </a:r>
            <a:endParaRPr lang="en-US" sz="1100" dirty="0"/>
          </a:p>
          <a:p>
            <a:pPr marL="171450" indent="-171450">
              <a:spcAft>
                <a:spcPts val="500"/>
              </a:spcAft>
              <a:buSzPct val="100000"/>
              <a:buChar char="•"/>
            </a:pPr>
            <a:r>
              <a:rPr lang="en-US" sz="1100" dirty="0">
                <a:solidFill>
                  <a:srgbClr val="231F20"/>
                </a:solidFill>
                <a:latin typeface="Calibri" pitchFamily="34" charset="0"/>
                <a:ea typeface="Calibri" pitchFamily="34" charset="-122"/>
                <a:cs typeface="Calibri" pitchFamily="34" charset="-120"/>
              </a:rPr>
              <a:t>Requête au catalogue NASA CMR</a:t>
            </a:r>
            <a:endParaRPr lang="en-US" sz="1100" dirty="0"/>
          </a:p>
          <a:p>
            <a:pPr marL="171450" indent="-171450">
              <a:spcAft>
                <a:spcPts val="500"/>
              </a:spcAft>
              <a:buSzPct val="100000"/>
              <a:buChar char="•"/>
            </a:pPr>
            <a:r>
              <a:rPr lang="en-US" sz="1100" dirty="0">
                <a:solidFill>
                  <a:srgbClr val="231F20"/>
                </a:solidFill>
                <a:latin typeface="Calibri" pitchFamily="34" charset="0"/>
                <a:ea typeface="Calibri" pitchFamily="34" charset="-122"/>
                <a:cs typeface="Calibri" pitchFamily="34" charset="-120"/>
              </a:rPr>
              <a:t>Matrice de disponibilité, téléchargement vérifié</a:t>
            </a:r>
            <a:endParaRPr lang="en-US" sz="1100" dirty="0"/>
          </a:p>
        </p:txBody>
      </p:sp>
      <p:sp>
        <p:nvSpPr>
          <p:cNvPr id="17" name="Text 13"/>
          <p:cNvSpPr txBox="1"/>
          <p:nvPr/>
        </p:nvSpPr>
        <p:spPr>
          <a:xfrm>
            <a:off x="640080" y="3867912"/>
            <a:ext cx="2240280" cy="411480"/>
          </a:xfrm>
          <a:prstGeom prst="rect">
            <a:avLst/>
          </a:prstGeom>
          <a:noFill/>
          <a:ln/>
        </p:spPr>
        <p:txBody>
          <a:bodyPr wrap="square" lIns="0" tIns="0" rIns="0" bIns="0" rtlCol="0" anchor="t"/>
          <a:lstStyle/>
          <a:p>
            <a:pPr indent="0" marL="0">
              <a:buNone/>
            </a:pPr>
            <a:r>
              <a:rPr lang="en-US" sz="1050" b="1" dirty="0">
                <a:solidFill>
                  <a:srgbClr val="5E6964"/>
                </a:solidFill>
                <a:latin typeface="Calibri" pitchFamily="34" charset="0"/>
                <a:ea typeface="Calibri" pitchFamily="34" charset="-122"/>
                <a:cs typeface="Calibri" pitchFamily="34" charset="-120"/>
              </a:rPr>
              <a:t>Sortie : fichiers .h5, inventaire, journal</a:t>
            </a:r>
            <a:endParaRPr lang="en-US" sz="1050" dirty="0"/>
          </a:p>
        </p:txBody>
      </p:sp>
      <p:sp>
        <p:nvSpPr>
          <p:cNvPr id="18" name="Shape 14"/>
          <p:cNvSpPr/>
          <p:nvPr/>
        </p:nvSpPr>
        <p:spPr>
          <a:xfrm>
            <a:off x="3044952" y="2880360"/>
            <a:ext cx="219456" cy="914"/>
          </a:xfrm>
          <a:prstGeom prst="line">
            <a:avLst/>
          </a:prstGeom>
          <a:noFill/>
          <a:ln w="15875">
            <a:solidFill>
              <a:srgbClr val="5E6964"/>
            </a:solidFill>
            <a:prstDash val="solid"/>
            <a:tailEnd type="triangle"/>
          </a:ln>
        </p:spPr>
      </p:sp>
      <p:sp>
        <p:nvSpPr>
          <p:cNvPr id="19" name="Shape 15"/>
          <p:cNvSpPr/>
          <p:nvPr/>
        </p:nvSpPr>
        <p:spPr>
          <a:xfrm>
            <a:off x="3291840" y="1325880"/>
            <a:ext cx="2560320" cy="3108960"/>
          </a:xfrm>
          <a:prstGeom prst="roundRect">
            <a:avLst>
              <a:gd name="adj" fmla="val 2857"/>
            </a:avLst>
          </a:prstGeom>
          <a:solidFill>
            <a:srgbClr val="F4F7F5"/>
          </a:solidFill>
          <a:ln w="9525">
            <a:solidFill>
              <a:srgbClr val="D5DED9"/>
            </a:solidFill>
            <a:prstDash val="solid"/>
          </a:ln>
        </p:spPr>
      </p:sp>
      <p:sp>
        <p:nvSpPr>
          <p:cNvPr id="20" name="Shape 16"/>
          <p:cNvSpPr/>
          <p:nvPr/>
        </p:nvSpPr>
        <p:spPr>
          <a:xfrm>
            <a:off x="3474720" y="1508760"/>
            <a:ext cx="548640" cy="548640"/>
          </a:xfrm>
          <a:prstGeom prst="ellipse">
            <a:avLst/>
          </a:prstGeom>
          <a:solidFill>
            <a:srgbClr val="0E7C86">
              <a:alpha val="22000"/>
            </a:srgbClr>
          </a:solidFill>
          <a:ln w="12700">
            <a:solidFill>
              <a:srgbClr val="0E7C86">
                <a:alpha val="0"/>
              </a:srgbClr>
            </a:solidFill>
            <a:prstDash val="solid"/>
          </a:ln>
        </p:spPr>
      </p:sp>
      <p:pic>
        <p:nvPicPr>
          <p:cNvPr id="21" name="Image 1" descr="preencoded.png">    </p:cNvPr>
          <p:cNvPicPr>
            <a:picLocks noChangeAspect="1"/>
          </p:cNvPicPr>
          <p:nvPr/>
        </p:nvPicPr>
        <p:blipFill>
          <a:blip r:embed="rId2"/>
          <a:stretch>
            <a:fillRect/>
          </a:stretch>
        </p:blipFill>
        <p:spPr>
          <a:xfrm>
            <a:off x="3606394" y="1640434"/>
            <a:ext cx="285293" cy="285293"/>
          </a:xfrm>
          <a:prstGeom prst="rect">
            <a:avLst/>
          </a:prstGeom>
        </p:spPr>
      </p:pic>
      <p:sp>
        <p:nvSpPr>
          <p:cNvPr id="22" name="Text 17"/>
          <p:cNvSpPr txBox="1"/>
          <p:nvPr/>
        </p:nvSpPr>
        <p:spPr>
          <a:xfrm>
            <a:off x="4160520" y="1508760"/>
            <a:ext cx="1600200" cy="548640"/>
          </a:xfrm>
          <a:prstGeom prst="rect">
            <a:avLst/>
          </a:prstGeom>
          <a:noFill/>
          <a:ln/>
        </p:spPr>
        <p:txBody>
          <a:bodyPr wrap="square" lIns="0" tIns="0" rIns="0" bIns="0" rtlCol="0" anchor="ctr"/>
          <a:lstStyle/>
          <a:p>
            <a:pPr indent="0" marL="0">
              <a:buNone/>
            </a:pPr>
            <a:r>
              <a:rPr lang="en-US" sz="1300" b="1" dirty="0">
                <a:solidFill>
                  <a:srgbClr val="231F20"/>
                </a:solidFill>
                <a:latin typeface="Calibri" pitchFamily="34" charset="0"/>
                <a:ea typeface="Calibri" pitchFamily="34" charset="-122"/>
                <a:cs typeface="Calibri" pitchFamily="34" charset="-120"/>
              </a:rPr>
              <a:t>Notebook 2 · Explorer</a:t>
            </a:r>
            <a:endParaRPr lang="en-US" sz="1300" dirty="0"/>
          </a:p>
        </p:txBody>
      </p:sp>
      <p:sp>
        <p:nvSpPr>
          <p:cNvPr id="23" name="Text 18"/>
          <p:cNvSpPr txBox="1"/>
          <p:nvPr/>
        </p:nvSpPr>
        <p:spPr>
          <a:xfrm>
            <a:off x="3474720" y="2167128"/>
            <a:ext cx="2240280" cy="411480"/>
          </a:xfrm>
          <a:prstGeom prst="rect">
            <a:avLst/>
          </a:prstGeom>
          <a:noFill/>
          <a:ln/>
        </p:spPr>
        <p:txBody>
          <a:bodyPr wrap="square" lIns="0" tIns="0" rIns="0" bIns="0" rtlCol="0" anchor="t"/>
          <a:lstStyle/>
          <a:p>
            <a:pPr indent="0" marL="0">
              <a:buNone/>
            </a:pPr>
            <a:r>
              <a:rPr lang="en-US" sz="1050" i="1" dirty="0">
                <a:solidFill>
                  <a:srgbClr val="0E7C86"/>
                </a:solidFill>
                <a:latin typeface="Calibri" pitchFamily="34" charset="0"/>
                <a:ea typeface="Calibri" pitchFamily="34" charset="-122"/>
                <a:cs typeface="Calibri" pitchFamily="34" charset="-120"/>
              </a:rPr>
              <a:t>Anatomie d'un fichier Black Marble</a:t>
            </a:r>
            <a:endParaRPr lang="en-US" sz="1050" dirty="0"/>
          </a:p>
        </p:txBody>
      </p:sp>
      <p:sp>
        <p:nvSpPr>
          <p:cNvPr id="24" name="Text 19"/>
          <p:cNvSpPr txBox="1"/>
          <p:nvPr/>
        </p:nvSpPr>
        <p:spPr>
          <a:xfrm>
            <a:off x="3474720" y="2624328"/>
            <a:ext cx="2240280" cy="1143000"/>
          </a:xfrm>
          <a:prstGeom prst="rect">
            <a:avLst/>
          </a:prstGeom>
          <a:noFill/>
          <a:ln/>
        </p:spPr>
        <p:txBody>
          <a:bodyPr wrap="square" lIns="0" tIns="0" rIns="0" bIns="0" rtlCol="0" anchor="t"/>
          <a:lstStyle/>
          <a:p>
            <a:pPr marL="171450" indent="-171450">
              <a:spcAft>
                <a:spcPts val="500"/>
              </a:spcAft>
              <a:buSzPct val="100000"/>
              <a:buChar char="•"/>
            </a:pPr>
            <a:r>
              <a:rPr lang="en-US" sz="1100" dirty="0">
                <a:solidFill>
                  <a:srgbClr val="231F20"/>
                </a:solidFill>
                <a:latin typeface="Calibri" pitchFamily="34" charset="0"/>
                <a:ea typeface="Calibri" pitchFamily="34" charset="-122"/>
                <a:cs typeface="Calibri" pitchFamily="34" charset="-120"/>
              </a:rPr>
              <a:t>Arbre HDF5, couches, attributs</a:t>
            </a:r>
            <a:endParaRPr lang="en-US" sz="1100" dirty="0"/>
          </a:p>
          <a:p>
            <a:pPr marL="171450" indent="-171450">
              <a:spcAft>
                <a:spcPts val="500"/>
              </a:spcAft>
              <a:buSzPct val="100000"/>
              <a:buChar char="•"/>
            </a:pPr>
            <a:r>
              <a:rPr lang="en-US" sz="1100" dirty="0">
                <a:solidFill>
                  <a:srgbClr val="231F20"/>
                </a:solidFill>
                <a:latin typeface="Calibri" pitchFamily="34" charset="0"/>
                <a:ea typeface="Calibri" pitchFamily="34" charset="-122"/>
                <a:cs typeface="Calibri" pitchFamily="34" charset="-120"/>
              </a:rPr>
              <a:t>Décodage, drapeaux qualité, masques</a:t>
            </a:r>
            <a:endParaRPr lang="en-US" sz="1100" dirty="0"/>
          </a:p>
          <a:p>
            <a:pPr marL="171450" indent="-171450">
              <a:spcAft>
                <a:spcPts val="500"/>
              </a:spcAft>
              <a:buSzPct val="100000"/>
              <a:buChar char="•"/>
            </a:pPr>
            <a:r>
              <a:rPr lang="en-US" sz="1100" dirty="0">
                <a:solidFill>
                  <a:srgbClr val="231F20"/>
                </a:solidFill>
                <a:latin typeface="Calibri" pitchFamily="34" charset="0"/>
                <a:ea typeface="Calibri" pitchFamily="34" charset="-122"/>
                <a:cs typeface="Calibri" pitchFamily="34" charset="-120"/>
              </a:rPr>
              <a:t>Mosaïque, découpage, distribution</a:t>
            </a:r>
            <a:endParaRPr lang="en-US" sz="1100" dirty="0"/>
          </a:p>
        </p:txBody>
      </p:sp>
      <p:sp>
        <p:nvSpPr>
          <p:cNvPr id="25" name="Text 20"/>
          <p:cNvSpPr txBox="1"/>
          <p:nvPr/>
        </p:nvSpPr>
        <p:spPr>
          <a:xfrm>
            <a:off x="3474720" y="3867912"/>
            <a:ext cx="2240280" cy="411480"/>
          </a:xfrm>
          <a:prstGeom prst="rect">
            <a:avLst/>
          </a:prstGeom>
          <a:noFill/>
          <a:ln/>
        </p:spPr>
        <p:txBody>
          <a:bodyPr wrap="square" lIns="0" tIns="0" rIns="0" bIns="0" rtlCol="0" anchor="t"/>
          <a:lstStyle/>
          <a:p>
            <a:pPr indent="0" marL="0">
              <a:buNone/>
            </a:pPr>
            <a:r>
              <a:rPr lang="en-US" sz="1050" b="1" dirty="0">
                <a:solidFill>
                  <a:srgbClr val="5E6964"/>
                </a:solidFill>
                <a:latin typeface="Calibri" pitchFamily="34" charset="0"/>
                <a:ea typeface="Calibri" pitchFamily="34" charset="-122"/>
                <a:cs typeface="Calibri" pitchFamily="34" charset="-120"/>
              </a:rPr>
              <a:t>Sortie : GeoTIFF, CSV, métadonnées JSON</a:t>
            </a:r>
            <a:endParaRPr lang="en-US" sz="1050" dirty="0"/>
          </a:p>
        </p:txBody>
      </p:sp>
      <p:sp>
        <p:nvSpPr>
          <p:cNvPr id="26" name="Shape 21"/>
          <p:cNvSpPr/>
          <p:nvPr/>
        </p:nvSpPr>
        <p:spPr>
          <a:xfrm>
            <a:off x="5879592" y="2880360"/>
            <a:ext cx="219456" cy="914"/>
          </a:xfrm>
          <a:prstGeom prst="line">
            <a:avLst/>
          </a:prstGeom>
          <a:noFill/>
          <a:ln w="15875">
            <a:solidFill>
              <a:srgbClr val="5E6964"/>
            </a:solidFill>
            <a:prstDash val="solid"/>
            <a:tailEnd type="triangle"/>
          </a:ln>
        </p:spPr>
      </p:sp>
      <p:sp>
        <p:nvSpPr>
          <p:cNvPr id="27" name="Shape 22"/>
          <p:cNvSpPr/>
          <p:nvPr/>
        </p:nvSpPr>
        <p:spPr>
          <a:xfrm>
            <a:off x="6126480" y="1325880"/>
            <a:ext cx="2560320" cy="3108960"/>
          </a:xfrm>
          <a:prstGeom prst="roundRect">
            <a:avLst>
              <a:gd name="adj" fmla="val 2857"/>
            </a:avLst>
          </a:prstGeom>
          <a:solidFill>
            <a:srgbClr val="F4F7F5"/>
          </a:solidFill>
          <a:ln w="9525">
            <a:solidFill>
              <a:srgbClr val="D5DED9"/>
            </a:solidFill>
            <a:prstDash val="solid"/>
          </a:ln>
        </p:spPr>
      </p:sp>
      <p:sp>
        <p:nvSpPr>
          <p:cNvPr id="28" name="Shape 23"/>
          <p:cNvSpPr/>
          <p:nvPr/>
        </p:nvSpPr>
        <p:spPr>
          <a:xfrm>
            <a:off x="6309360" y="1508760"/>
            <a:ext cx="548640" cy="548640"/>
          </a:xfrm>
          <a:prstGeom prst="ellipse">
            <a:avLst/>
          </a:prstGeom>
          <a:solidFill>
            <a:srgbClr val="D49A00">
              <a:alpha val="22000"/>
            </a:srgbClr>
          </a:solidFill>
          <a:ln w="12700">
            <a:solidFill>
              <a:srgbClr val="D49A00">
                <a:alpha val="0"/>
              </a:srgbClr>
            </a:solidFill>
            <a:prstDash val="solid"/>
          </a:ln>
        </p:spPr>
      </p:sp>
      <p:pic>
        <p:nvPicPr>
          <p:cNvPr id="29" name="Image 2" descr="preencoded.png">    </p:cNvPr>
          <p:cNvPicPr>
            <a:picLocks noChangeAspect="1"/>
          </p:cNvPicPr>
          <p:nvPr/>
        </p:nvPicPr>
        <p:blipFill>
          <a:blip r:embed="rId3"/>
          <a:stretch>
            <a:fillRect/>
          </a:stretch>
        </p:blipFill>
        <p:spPr>
          <a:xfrm>
            <a:off x="6441034" y="1640434"/>
            <a:ext cx="285293" cy="285293"/>
          </a:xfrm>
          <a:prstGeom prst="rect">
            <a:avLst/>
          </a:prstGeom>
        </p:spPr>
      </p:pic>
      <p:sp>
        <p:nvSpPr>
          <p:cNvPr id="30" name="Text 24"/>
          <p:cNvSpPr txBox="1"/>
          <p:nvPr/>
        </p:nvSpPr>
        <p:spPr>
          <a:xfrm>
            <a:off x="6995160" y="1508760"/>
            <a:ext cx="1600200" cy="548640"/>
          </a:xfrm>
          <a:prstGeom prst="rect">
            <a:avLst/>
          </a:prstGeom>
          <a:noFill/>
          <a:ln/>
        </p:spPr>
        <p:txBody>
          <a:bodyPr wrap="square" lIns="0" tIns="0" rIns="0" bIns="0" rtlCol="0" anchor="ctr"/>
          <a:lstStyle/>
          <a:p>
            <a:pPr indent="0" marL="0">
              <a:buNone/>
            </a:pPr>
            <a:r>
              <a:rPr lang="en-US" sz="1300" b="1" dirty="0">
                <a:solidFill>
                  <a:srgbClr val="231F20"/>
                </a:solidFill>
                <a:latin typeface="Calibri" pitchFamily="34" charset="0"/>
                <a:ea typeface="Calibri" pitchFamily="34" charset="-122"/>
                <a:cs typeface="Calibri" pitchFamily="34" charset="-120"/>
              </a:rPr>
              <a:t>Notebook 3 · Analyser</a:t>
            </a:r>
            <a:endParaRPr lang="en-US" sz="1300" dirty="0"/>
          </a:p>
        </p:txBody>
      </p:sp>
      <p:sp>
        <p:nvSpPr>
          <p:cNvPr id="31" name="Text 25"/>
          <p:cNvSpPr txBox="1"/>
          <p:nvPr/>
        </p:nvSpPr>
        <p:spPr>
          <a:xfrm>
            <a:off x="6309360" y="2167128"/>
            <a:ext cx="2240280" cy="411480"/>
          </a:xfrm>
          <a:prstGeom prst="rect">
            <a:avLst/>
          </a:prstGeom>
          <a:noFill/>
          <a:ln/>
        </p:spPr>
        <p:txBody>
          <a:bodyPr wrap="square" lIns="0" tIns="0" rIns="0" bIns="0" rtlCol="0" anchor="t"/>
          <a:lstStyle/>
          <a:p>
            <a:pPr indent="0" marL="0">
              <a:buNone/>
            </a:pPr>
            <a:r>
              <a:rPr lang="en-US" sz="1050" i="1" dirty="0">
                <a:solidFill>
                  <a:srgbClr val="D49A00"/>
                </a:solidFill>
                <a:latin typeface="Calibri" pitchFamily="34" charset="0"/>
                <a:ea typeface="Calibri" pitchFamily="34" charset="-122"/>
                <a:cs typeface="Calibri" pitchFamily="34" charset="-120"/>
              </a:rPr>
              <a:t>VIIRS VNL V2 + Black Marble sur Earth Engine</a:t>
            </a:r>
            <a:endParaRPr lang="en-US" sz="1050" dirty="0"/>
          </a:p>
        </p:txBody>
      </p:sp>
      <p:sp>
        <p:nvSpPr>
          <p:cNvPr id="32" name="Text 26"/>
          <p:cNvSpPr txBox="1"/>
          <p:nvPr/>
        </p:nvSpPr>
        <p:spPr>
          <a:xfrm>
            <a:off x="6309360" y="2624328"/>
            <a:ext cx="2240280" cy="1143000"/>
          </a:xfrm>
          <a:prstGeom prst="rect">
            <a:avLst/>
          </a:prstGeom>
          <a:noFill/>
          <a:ln/>
        </p:spPr>
        <p:txBody>
          <a:bodyPr wrap="square" lIns="0" tIns="0" rIns="0" bIns="0" rtlCol="0" anchor="t"/>
          <a:lstStyle/>
          <a:p>
            <a:pPr marL="171450" indent="-171450">
              <a:spcAft>
                <a:spcPts val="500"/>
              </a:spcAft>
              <a:buSzPct val="100000"/>
              <a:buChar char="•"/>
            </a:pPr>
            <a:r>
              <a:rPr lang="en-US" sz="1100" dirty="0">
                <a:solidFill>
                  <a:srgbClr val="231F20"/>
                </a:solidFill>
                <a:latin typeface="Calibri" pitchFamily="34" charset="0"/>
                <a:ea typeface="Calibri" pitchFamily="34" charset="-122"/>
                <a:cs typeface="Calibri" pitchFamily="34" charset="-120"/>
              </a:rPr>
              <a:t>Tendances, régions, convergence</a:t>
            </a:r>
            <a:endParaRPr lang="en-US" sz="1100" dirty="0"/>
          </a:p>
          <a:p>
            <a:pPr marL="171450" indent="-171450">
              <a:spcAft>
                <a:spcPts val="500"/>
              </a:spcAft>
              <a:buSzPct val="100000"/>
              <a:buChar char="•"/>
            </a:pPr>
            <a:r>
              <a:rPr lang="en-US" sz="1100" dirty="0">
                <a:solidFill>
                  <a:srgbClr val="231F20"/>
                </a:solidFill>
                <a:latin typeface="Calibri" pitchFamily="34" charset="0"/>
                <a:ea typeface="Calibri" pitchFamily="34" charset="-122"/>
                <a:cs typeface="Calibri" pitchFamily="34" charset="-120"/>
              </a:rPr>
              <a:t>Lien PIB, chocs, inégalités</a:t>
            </a:r>
            <a:endParaRPr lang="en-US" sz="1100" dirty="0"/>
          </a:p>
          <a:p>
            <a:pPr marL="171450" indent="-171450">
              <a:spcAft>
                <a:spcPts val="500"/>
              </a:spcAft>
              <a:buSzPct val="100000"/>
              <a:buChar char="•"/>
            </a:pPr>
            <a:r>
              <a:rPr lang="en-US" sz="1100" dirty="0">
                <a:solidFill>
                  <a:srgbClr val="231F20"/>
                </a:solidFill>
                <a:latin typeface="Calibri" pitchFamily="34" charset="0"/>
                <a:ea typeface="Calibri" pitchFamily="34" charset="-122"/>
                <a:cs typeface="Calibri" pitchFamily="34" charset="-120"/>
              </a:rPr>
              <a:t>Zones industrielles</a:t>
            </a:r>
            <a:endParaRPr lang="en-US" sz="1100" dirty="0"/>
          </a:p>
        </p:txBody>
      </p:sp>
      <p:sp>
        <p:nvSpPr>
          <p:cNvPr id="33" name="Text 27"/>
          <p:cNvSpPr txBox="1"/>
          <p:nvPr/>
        </p:nvSpPr>
        <p:spPr>
          <a:xfrm>
            <a:off x="6309360" y="3867912"/>
            <a:ext cx="2240280" cy="411480"/>
          </a:xfrm>
          <a:prstGeom prst="rect">
            <a:avLst/>
          </a:prstGeom>
          <a:noFill/>
          <a:ln/>
        </p:spPr>
        <p:txBody>
          <a:bodyPr wrap="square" lIns="0" tIns="0" rIns="0" bIns="0" rtlCol="0" anchor="t"/>
          <a:lstStyle/>
          <a:p>
            <a:pPr indent="0" marL="0">
              <a:buNone/>
            </a:pPr>
            <a:r>
              <a:rPr lang="en-US" sz="1050" b="1" dirty="0">
                <a:solidFill>
                  <a:srgbClr val="5E6964"/>
                </a:solidFill>
                <a:latin typeface="Calibri" pitchFamily="34" charset="0"/>
                <a:ea typeface="Calibri" pitchFamily="34" charset="-122"/>
                <a:cs typeface="Calibri" pitchFamily="34" charset="-120"/>
              </a:rPr>
              <a:t>Sortie : tableau de bord GitHub Pages</a:t>
            </a:r>
            <a:endParaRPr lang="en-US" sz="105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8A9590"/>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914400"/>
            <a:ext cx="2743200" cy="274320"/>
          </a:xfrm>
          <a:prstGeom prst="rect">
            <a:avLst/>
          </a:prstGeom>
          <a:noFill/>
          <a:ln/>
        </p:spPr>
        <p:txBody>
          <a:bodyPr wrap="square" lIns="0" tIns="0" rIns="0" bIns="0" rtlCol="0" anchor="t"/>
          <a:lstStyle/>
          <a:p>
            <a:pPr indent="0" marL="0">
              <a:buNone/>
            </a:pPr>
            <a:r>
              <a:rPr lang="en-US" sz="1050" b="1" spc="300" kern="0" dirty="0">
                <a:solidFill>
                  <a:srgbClr val="F5C242"/>
                </a:solidFill>
                <a:latin typeface="Calibri" pitchFamily="34" charset="0"/>
                <a:ea typeface="Calibri" pitchFamily="34" charset="-122"/>
                <a:cs typeface="Calibri" pitchFamily="34" charset="-120"/>
              </a:rPr>
              <a:t>SECTION</a:t>
            </a:r>
            <a:endParaRPr lang="en-US" sz="1050" dirty="0"/>
          </a:p>
        </p:txBody>
      </p:sp>
      <p:sp>
        <p:nvSpPr>
          <p:cNvPr id="3" name="Text 1"/>
          <p:cNvSpPr txBox="1"/>
          <p:nvPr/>
        </p:nvSpPr>
        <p:spPr>
          <a:xfrm>
            <a:off x="548640" y="1143000"/>
            <a:ext cx="2743200" cy="1188720"/>
          </a:xfrm>
          <a:prstGeom prst="rect">
            <a:avLst/>
          </a:prstGeom>
          <a:noFill/>
          <a:ln/>
        </p:spPr>
        <p:txBody>
          <a:bodyPr wrap="square" lIns="0" tIns="0" rIns="0" bIns="0" rtlCol="0" anchor="t"/>
          <a:lstStyle/>
          <a:p>
            <a:pPr indent="0" marL="0">
              <a:buNone/>
            </a:pPr>
            <a:r>
              <a:rPr lang="en-US" sz="8000" b="1" dirty="0">
                <a:solidFill>
                  <a:srgbClr val="F5C242"/>
                </a:solidFill>
                <a:latin typeface="Calibri" pitchFamily="34" charset="0"/>
                <a:ea typeface="Calibri" pitchFamily="34" charset="-122"/>
                <a:cs typeface="Calibri" pitchFamily="34" charset="-120"/>
              </a:rPr>
              <a:t>02</a:t>
            </a:r>
            <a:endParaRPr lang="en-US" sz="8000" dirty="0"/>
          </a:p>
        </p:txBody>
      </p:sp>
      <p:sp>
        <p:nvSpPr>
          <p:cNvPr id="4" name="Text 2"/>
          <p:cNvSpPr txBox="1"/>
          <p:nvPr/>
        </p:nvSpPr>
        <p:spPr>
          <a:xfrm>
            <a:off x="548640" y="2377440"/>
            <a:ext cx="5303520" cy="731520"/>
          </a:xfrm>
          <a:prstGeom prst="rect">
            <a:avLst/>
          </a:prstGeom>
          <a:noFill/>
          <a:ln/>
        </p:spPr>
        <p:txBody>
          <a:bodyPr wrap="square" lIns="0" tIns="0" rIns="0" bIns="0" rtlCol="0" anchor="t"/>
          <a:lstStyle/>
          <a:p>
            <a:pPr indent="0" marL="0">
              <a:buNone/>
            </a:pPr>
            <a:r>
              <a:rPr lang="en-US" sz="4000" b="1" dirty="0">
                <a:solidFill>
                  <a:srgbClr val="FFFFFF"/>
                </a:solidFill>
                <a:latin typeface="Calibri" pitchFamily="34" charset="0"/>
                <a:ea typeface="Calibri" pitchFamily="34" charset="-122"/>
                <a:cs typeface="Calibri" pitchFamily="34" charset="-120"/>
              </a:rPr>
              <a:t>Collecter</a:t>
            </a:r>
            <a:endParaRPr lang="en-US" sz="4000" dirty="0"/>
          </a:p>
        </p:txBody>
      </p:sp>
      <p:sp>
        <p:nvSpPr>
          <p:cNvPr id="5" name="Text 3"/>
          <p:cNvSpPr txBox="1"/>
          <p:nvPr/>
        </p:nvSpPr>
        <p:spPr>
          <a:xfrm>
            <a:off x="548640" y="3154680"/>
            <a:ext cx="5120640" cy="731520"/>
          </a:xfrm>
          <a:prstGeom prst="rect">
            <a:avLst/>
          </a:prstGeom>
          <a:noFill/>
          <a:ln/>
        </p:spPr>
        <p:txBody>
          <a:bodyPr wrap="square" lIns="0" tIns="0" rIns="0" bIns="0" rtlCol="0" anchor="t"/>
          <a:lstStyle/>
          <a:p>
            <a:pPr indent="0" marL="0">
              <a:buNone/>
            </a:pPr>
            <a:r>
              <a:rPr lang="en-US" sz="1800" i="1" dirty="0">
                <a:solidFill>
                  <a:srgbClr val="E6F6EE"/>
                </a:solidFill>
                <a:latin typeface="Calibri" pitchFamily="34" charset="0"/>
                <a:ea typeface="Calibri" pitchFamily="34" charset="-122"/>
                <a:cs typeface="Calibri" pitchFamily="34" charset="-120"/>
              </a:rPr>
              <a:t>Comment obtenir les bons fichiers NASA, et seulement ceux-là ?</a:t>
            </a:r>
            <a:endParaRPr lang="en-US" sz="1800" dirty="0"/>
          </a:p>
        </p:txBody>
      </p:sp>
      <p:sp>
        <p:nvSpPr>
          <p:cNvPr id="6" name="Shape 4"/>
          <p:cNvSpPr/>
          <p:nvPr/>
        </p:nvSpPr>
        <p:spPr>
          <a:xfrm>
            <a:off x="6309360" y="1234440"/>
            <a:ext cx="2286000" cy="2286000"/>
          </a:xfrm>
          <a:prstGeom prst="ellipse">
            <a:avLst/>
          </a:prstGeom>
          <a:solidFill>
            <a:srgbClr val="FFFFFF">
              <a:alpha val="8000"/>
            </a:srgbClr>
          </a:solidFill>
          <a:ln w="12700">
            <a:solidFill>
              <a:srgbClr val="FFFFFF">
                <a:alpha val="30000"/>
              </a:srgbClr>
            </a:solidFill>
            <a:prstDash val="solid"/>
          </a:ln>
        </p:spPr>
      </p:sp>
      <p:sp>
        <p:nvSpPr>
          <p:cNvPr id="7" name="Shape 5"/>
          <p:cNvSpPr/>
          <p:nvPr/>
        </p:nvSpPr>
        <p:spPr>
          <a:xfrm>
            <a:off x="6675120" y="1600200"/>
            <a:ext cx="1554480" cy="1554480"/>
          </a:xfrm>
          <a:prstGeom prst="ellipse">
            <a:avLst/>
          </a:prstGeom>
          <a:solidFill>
            <a:srgbClr val="FFFFFF"/>
          </a:solidFill>
          <a:ln w="12700">
            <a:solidFill>
              <a:srgbClr val="FFFFFF"/>
            </a:solidFill>
            <a:prstDash val="solid"/>
          </a:ln>
        </p:spPr>
      </p:sp>
      <p:pic>
        <p:nvPicPr>
          <p:cNvPr id="8" name="Image 0" descr="preencoded.png">    </p:cNvPr>
          <p:cNvPicPr>
            <a:picLocks noChangeAspect="1"/>
          </p:cNvPicPr>
          <p:nvPr/>
        </p:nvPicPr>
        <p:blipFill>
          <a:blip r:embed="rId1"/>
          <a:stretch>
            <a:fillRect/>
          </a:stretch>
        </p:blipFill>
        <p:spPr>
          <a:xfrm>
            <a:off x="7086600" y="2011680"/>
            <a:ext cx="731520" cy="731520"/>
          </a:xfrm>
          <a:prstGeom prst="rect">
            <a:avLst/>
          </a:prstGeom>
        </p:spPr>
      </p:pic>
      <p:sp>
        <p:nvSpPr>
          <p:cNvPr id="9" name="Shape 6"/>
          <p:cNvSpPr/>
          <p:nvPr/>
        </p:nvSpPr>
        <p:spPr>
          <a:xfrm>
            <a:off x="566928" y="4251960"/>
            <a:ext cx="118872" cy="118872"/>
          </a:xfrm>
          <a:prstGeom prst="ellipse">
            <a:avLst/>
          </a:prstGeom>
          <a:solidFill>
            <a:srgbClr val="FFFFFF">
              <a:alpha val="40000"/>
            </a:srgbClr>
          </a:solidFill>
          <a:ln w="12700">
            <a:solidFill>
              <a:srgbClr val="FFFFFF">
                <a:alpha val="0"/>
              </a:srgbClr>
            </a:solidFill>
            <a:prstDash val="solid"/>
          </a:ln>
        </p:spPr>
      </p:sp>
      <p:sp>
        <p:nvSpPr>
          <p:cNvPr id="10" name="Shape 7"/>
          <p:cNvSpPr/>
          <p:nvPr/>
        </p:nvSpPr>
        <p:spPr>
          <a:xfrm>
            <a:off x="786384" y="4251960"/>
            <a:ext cx="118872" cy="118872"/>
          </a:xfrm>
          <a:prstGeom prst="ellipse">
            <a:avLst/>
          </a:prstGeom>
          <a:solidFill>
            <a:srgbClr val="F5C242"/>
          </a:solidFill>
          <a:ln w="12700">
            <a:solidFill>
              <a:srgbClr val="FFFFFF">
                <a:alpha val="0"/>
              </a:srgbClr>
            </a:solidFill>
            <a:prstDash val="solid"/>
          </a:ln>
        </p:spPr>
      </p:sp>
      <p:sp>
        <p:nvSpPr>
          <p:cNvPr id="11" name="Shape 8"/>
          <p:cNvSpPr/>
          <p:nvPr/>
        </p:nvSpPr>
        <p:spPr>
          <a:xfrm>
            <a:off x="1005840" y="4251960"/>
            <a:ext cx="118872" cy="118872"/>
          </a:xfrm>
          <a:prstGeom prst="ellipse">
            <a:avLst/>
          </a:prstGeom>
          <a:solidFill>
            <a:srgbClr val="FFFFFF">
              <a:alpha val="40000"/>
            </a:srgbClr>
          </a:solidFill>
          <a:ln w="12700">
            <a:solidFill>
              <a:srgbClr val="FFFFFF">
                <a:alpha val="0"/>
              </a:srgbClr>
            </a:solidFill>
            <a:prstDash val="solid"/>
          </a:ln>
        </p:spPr>
      </p:sp>
      <p:sp>
        <p:nvSpPr>
          <p:cNvPr id="12" name="Shape 9"/>
          <p:cNvSpPr/>
          <p:nvPr/>
        </p:nvSpPr>
        <p:spPr>
          <a:xfrm>
            <a:off x="1225296" y="4251960"/>
            <a:ext cx="118872" cy="118872"/>
          </a:xfrm>
          <a:prstGeom prst="ellipse">
            <a:avLst/>
          </a:prstGeom>
          <a:solidFill>
            <a:srgbClr val="FFFFFF">
              <a:alpha val="40000"/>
            </a:srgbClr>
          </a:solidFill>
          <a:ln w="12700">
            <a:solidFill>
              <a:srgbClr val="FFFFFF">
                <a:alpha val="0"/>
              </a:srgbClr>
            </a:solidFill>
            <a:prstDash val="solid"/>
          </a:ln>
        </p:spPr>
      </p:sp>
      <p:sp>
        <p:nvSpPr>
          <p:cNvPr id="13" name="Shape 10"/>
          <p:cNvSpPr/>
          <p:nvPr/>
        </p:nvSpPr>
        <p:spPr>
          <a:xfrm>
            <a:off x="1444752" y="4251960"/>
            <a:ext cx="118872" cy="118872"/>
          </a:xfrm>
          <a:prstGeom prst="ellipse">
            <a:avLst/>
          </a:prstGeom>
          <a:solidFill>
            <a:srgbClr val="FFFFFF">
              <a:alpha val="40000"/>
            </a:srgbClr>
          </a:solidFill>
          <a:ln w="12700">
            <a:solidFill>
              <a:srgbClr val="FFFFFF">
                <a:alpha val="0"/>
              </a:srgbClr>
            </a:solidFill>
            <a:prstDash val="solid"/>
          </a:ln>
        </p:spPr>
      </p:sp>
      <p:sp>
        <p:nvSpPr>
          <p:cNvPr id="14" name="Shape 11"/>
          <p:cNvSpPr/>
          <p:nvPr/>
        </p:nvSpPr>
        <p:spPr>
          <a:xfrm>
            <a:off x="1664208" y="4251960"/>
            <a:ext cx="118872" cy="118872"/>
          </a:xfrm>
          <a:prstGeom prst="ellipse">
            <a:avLst/>
          </a:prstGeom>
          <a:solidFill>
            <a:srgbClr val="FFFFFF">
              <a:alpha val="40000"/>
            </a:srgbClr>
          </a:solidFill>
          <a:ln w="12700">
            <a:solidFill>
              <a:srgbClr val="FFFFFF">
                <a:alpha val="0"/>
              </a:srgbClr>
            </a:solidFill>
            <a:prstDash val="solid"/>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3"/>
          <p:cNvSpPr/>
          <p:nvPr>
            <p:ph idx="105" type="body" hasCustomPrompt="1"/>
          </p:nvPr>
        </p:nvSpPr>
        <p:spPr>
          <a:xfrm>
            <a:off x="457200" y="274320"/>
            <a:ext cx="6217920" cy="256032"/>
          </a:xfrm>
          <a:prstGeom prst="rect">
            <a:avLst/>
          </a:prstGeom>
          <a:noFill/>
          <a:ln/>
        </p:spPr>
        <p:txBody>
          <a:bodyPr wrap="square" lIns="0" tIns="0" rIns="0" bIns="0" rtlCol="0" anchor="ctr"/>
          <a:lstStyle/>
          <a:p>
            <a:pPr algn="l" indent="0" marL="0">
              <a:buNone/>
            </a:pPr>
            <a:r>
              <a:rPr lang="en-US" sz="1050" b="1" spc="300" kern="0" dirty="0">
                <a:solidFill>
                  <a:srgbClr val="00704A"/>
                </a:solidFill>
                <a:latin typeface="Calibri" pitchFamily="34" charset="0"/>
                <a:ea typeface="Calibri" pitchFamily="34" charset="-122"/>
                <a:cs typeface="Calibri" pitchFamily="34" charset="-120"/>
              </a:rPr>
              <a:t>02 · COLLECTER · OBJECTIF</a:t>
            </a:r>
            <a:endParaRPr lang="en-US" sz="1050" dirty="0"/>
          </a:p>
        </p:txBody>
      </p:sp>
      <p:sp>
        <p:nvSpPr>
          <p:cNvPr id="3" name="Text 3"/>
          <p:cNvSpPr/>
          <p:nvPr>
            <p:ph idx="106" type="title" hasCustomPrompt="1"/>
          </p:nvPr>
        </p:nvSpPr>
        <p:spPr>
          <a:xfrm>
            <a:off x="457200" y="548640"/>
            <a:ext cx="8229600" cy="566928"/>
          </a:xfrm>
          <a:prstGeom prst="rect">
            <a:avLst/>
          </a:prstGeom>
          <a:noFill/>
          <a:ln/>
        </p:spPr>
        <p:txBody>
          <a:bodyPr wrap="square" lIns="0" tIns="0" rIns="0" bIns="0" rtlCol="0" anchor="ctr"/>
          <a:lstStyle/>
          <a:p>
            <a:pPr algn="l" indent="0" marL="0">
              <a:buNone/>
            </a:pPr>
            <a:r>
              <a:rPr lang="en-US" sz="2800" b="1" dirty="0">
                <a:solidFill>
                  <a:srgbClr val="231F20"/>
                </a:solidFill>
                <a:latin typeface="Calibri" pitchFamily="34" charset="0"/>
                <a:ea typeface="Calibri" pitchFamily="34" charset="-122"/>
                <a:cs typeface="Calibri" pitchFamily="34" charset="-120"/>
              </a:rPr>
              <a:t>Un code ISO3 en entrée, une collecte vérifiée en sortie</a:t>
            </a:r>
            <a:endParaRPr lang="en-US" sz="2800" dirty="0"/>
          </a:p>
        </p:txBody>
      </p:sp>
      <p:sp>
        <p:nvSpPr>
          <p:cNvPr id="4" name="dot0"/>
          <p:cNvSpPr/>
          <p:nvPr/>
        </p:nvSpPr>
        <p:spPr>
          <a:xfrm>
            <a:off x="7644384" y="338328"/>
            <a:ext cx="100584" cy="100584"/>
          </a:xfrm>
          <a:prstGeom prst="ellipse">
            <a:avLst/>
          </a:prstGeom>
          <a:solidFill>
            <a:srgbClr val="D5DED9"/>
          </a:solidFill>
          <a:ln w="12700">
            <a:solidFill>
              <a:srgbClr val="D5DED9"/>
            </a:solidFill>
            <a:prstDash val="solid"/>
          </a:ln>
        </p:spPr>
      </p:sp>
      <p:sp>
        <p:nvSpPr>
          <p:cNvPr id="5" name="dot1"/>
          <p:cNvSpPr/>
          <p:nvPr/>
        </p:nvSpPr>
        <p:spPr>
          <a:xfrm>
            <a:off x="7818120" y="338328"/>
            <a:ext cx="100584" cy="100584"/>
          </a:xfrm>
          <a:prstGeom prst="ellipse">
            <a:avLst/>
          </a:prstGeom>
          <a:solidFill>
            <a:srgbClr val="00704A"/>
          </a:solidFill>
          <a:ln w="12700">
            <a:solidFill>
              <a:srgbClr val="00704A"/>
            </a:solidFill>
            <a:prstDash val="solid"/>
          </a:ln>
        </p:spPr>
      </p:sp>
      <p:sp>
        <p:nvSpPr>
          <p:cNvPr id="6" name="dot2"/>
          <p:cNvSpPr/>
          <p:nvPr/>
        </p:nvSpPr>
        <p:spPr>
          <a:xfrm>
            <a:off x="7991856" y="338328"/>
            <a:ext cx="100584" cy="100584"/>
          </a:xfrm>
          <a:prstGeom prst="ellipse">
            <a:avLst/>
          </a:prstGeom>
          <a:solidFill>
            <a:srgbClr val="D5DED9"/>
          </a:solidFill>
          <a:ln w="12700">
            <a:solidFill>
              <a:srgbClr val="D5DED9"/>
            </a:solidFill>
            <a:prstDash val="solid"/>
          </a:ln>
        </p:spPr>
      </p:sp>
      <p:sp>
        <p:nvSpPr>
          <p:cNvPr id="7" name="dot3"/>
          <p:cNvSpPr/>
          <p:nvPr/>
        </p:nvSpPr>
        <p:spPr>
          <a:xfrm>
            <a:off x="8165592" y="338328"/>
            <a:ext cx="100584" cy="100584"/>
          </a:xfrm>
          <a:prstGeom prst="ellipse">
            <a:avLst/>
          </a:prstGeom>
          <a:solidFill>
            <a:srgbClr val="D5DED9"/>
          </a:solidFill>
          <a:ln w="12700">
            <a:solidFill>
              <a:srgbClr val="D5DED9"/>
            </a:solidFill>
            <a:prstDash val="solid"/>
          </a:ln>
        </p:spPr>
      </p:sp>
      <p:sp>
        <p:nvSpPr>
          <p:cNvPr id="8" name="dot4"/>
          <p:cNvSpPr/>
          <p:nvPr/>
        </p:nvSpPr>
        <p:spPr>
          <a:xfrm>
            <a:off x="8339328" y="338328"/>
            <a:ext cx="100584" cy="100584"/>
          </a:xfrm>
          <a:prstGeom prst="ellipse">
            <a:avLst/>
          </a:prstGeom>
          <a:solidFill>
            <a:srgbClr val="D5DED9"/>
          </a:solidFill>
          <a:ln w="12700">
            <a:solidFill>
              <a:srgbClr val="D5DED9"/>
            </a:solidFill>
            <a:prstDash val="solid"/>
          </a:ln>
        </p:spPr>
      </p:sp>
      <p:sp>
        <p:nvSpPr>
          <p:cNvPr id="9" name="dot5"/>
          <p:cNvSpPr/>
          <p:nvPr/>
        </p:nvSpPr>
        <p:spPr>
          <a:xfrm>
            <a:off x="8513064" y="338328"/>
            <a:ext cx="100584" cy="100584"/>
          </a:xfrm>
          <a:prstGeom prst="ellipse">
            <a:avLst/>
          </a:prstGeom>
          <a:solidFill>
            <a:srgbClr val="D5DED9"/>
          </a:solidFill>
          <a:ln w="12700">
            <a:solidFill>
              <a:srgbClr val="D5DED9"/>
            </a:solidFill>
            <a:prstDash val="solid"/>
          </a:ln>
        </p:spPr>
      </p:sp>
      <p:sp>
        <p:nvSpPr>
          <p:cNvPr id="11" name="Shape 8"/>
          <p:cNvSpPr/>
          <p:nvPr/>
        </p:nvSpPr>
        <p:spPr>
          <a:xfrm>
            <a:off x="457200" y="1371600"/>
            <a:ext cx="1481328" cy="1115568"/>
          </a:xfrm>
          <a:prstGeom prst="roundRect">
            <a:avLst>
              <a:gd name="adj" fmla="val 6557"/>
            </a:avLst>
          </a:prstGeom>
          <a:solidFill>
            <a:srgbClr val="F4F7F5"/>
          </a:solidFill>
          <a:ln w="9525">
            <a:solidFill>
              <a:srgbClr val="D5DED9"/>
            </a:solidFill>
            <a:prstDash val="solid"/>
          </a:ln>
        </p:spPr>
      </p:sp>
      <p:sp>
        <p:nvSpPr>
          <p:cNvPr id="12" name="Shape 9"/>
          <p:cNvSpPr/>
          <p:nvPr/>
        </p:nvSpPr>
        <p:spPr>
          <a:xfrm>
            <a:off x="960120" y="1490472"/>
            <a:ext cx="475488" cy="475488"/>
          </a:xfrm>
          <a:prstGeom prst="ellipse">
            <a:avLst/>
          </a:prstGeom>
          <a:solidFill>
            <a:srgbClr val="00704A">
              <a:alpha val="22000"/>
            </a:srgbClr>
          </a:solidFill>
          <a:ln w="12700">
            <a:solidFill>
              <a:srgbClr val="00704A">
                <a:alpha val="0"/>
              </a:srgbClr>
            </a:solidFill>
            <a:prstDash val="solid"/>
          </a:ln>
        </p:spPr>
      </p:sp>
      <p:pic>
        <p:nvPicPr>
          <p:cNvPr id="13" name="Image 0" descr="preencoded.png">    </p:cNvPr>
          <p:cNvPicPr>
            <a:picLocks noChangeAspect="1"/>
          </p:cNvPicPr>
          <p:nvPr/>
        </p:nvPicPr>
        <p:blipFill>
          <a:blip r:embed="rId1"/>
          <a:stretch>
            <a:fillRect/>
          </a:stretch>
        </p:blipFill>
        <p:spPr>
          <a:xfrm>
            <a:off x="1074237" y="1604589"/>
            <a:ext cx="247254" cy="247254"/>
          </a:xfrm>
          <a:prstGeom prst="rect">
            <a:avLst/>
          </a:prstGeom>
        </p:spPr>
      </p:pic>
      <p:sp>
        <p:nvSpPr>
          <p:cNvPr id="14" name="Text 10"/>
          <p:cNvSpPr txBox="1"/>
          <p:nvPr/>
        </p:nvSpPr>
        <p:spPr>
          <a:xfrm>
            <a:off x="566928" y="1463040"/>
            <a:ext cx="365760" cy="274320"/>
          </a:xfrm>
          <a:prstGeom prst="rect">
            <a:avLst/>
          </a:prstGeom>
          <a:noFill/>
          <a:ln/>
        </p:spPr>
        <p:txBody>
          <a:bodyPr wrap="square" lIns="0" tIns="0" rIns="0" bIns="0" rtlCol="0" anchor="t"/>
          <a:lstStyle/>
          <a:p>
            <a:pPr indent="0" marL="0">
              <a:buNone/>
            </a:pPr>
            <a:r>
              <a:rPr lang="en-US" sz="1300" b="1" dirty="0">
                <a:solidFill>
                  <a:srgbClr val="F5C242"/>
                </a:solidFill>
                <a:latin typeface="Calibri" pitchFamily="34" charset="0"/>
                <a:ea typeface="Calibri" pitchFamily="34" charset="-122"/>
                <a:cs typeface="Calibri" pitchFamily="34" charset="-120"/>
              </a:rPr>
              <a:t>1</a:t>
            </a:r>
            <a:endParaRPr lang="en-US" sz="1300" dirty="0"/>
          </a:p>
        </p:txBody>
      </p:sp>
      <p:sp>
        <p:nvSpPr>
          <p:cNvPr id="15" name="Text 11"/>
          <p:cNvSpPr txBox="1"/>
          <p:nvPr/>
        </p:nvSpPr>
        <p:spPr>
          <a:xfrm>
            <a:off x="530352" y="2029968"/>
            <a:ext cx="1335024" cy="384048"/>
          </a:xfrm>
          <a:prstGeom prst="rect">
            <a:avLst/>
          </a:prstGeom>
          <a:noFill/>
          <a:ln/>
        </p:spPr>
        <p:txBody>
          <a:bodyPr wrap="square" lIns="0" tIns="0" rIns="0" bIns="0" rtlCol="0" anchor="t"/>
          <a:lstStyle/>
          <a:p>
            <a:pPr algn="ctr" indent="0" marL="0">
              <a:buNone/>
            </a:pPr>
            <a:r>
              <a:rPr lang="en-US" sz="1100" b="1" dirty="0">
                <a:solidFill>
                  <a:srgbClr val="231F20"/>
                </a:solidFill>
                <a:latin typeface="Calibri" pitchFamily="34" charset="0"/>
                <a:ea typeface="Calibri" pitchFamily="34" charset="-122"/>
                <a:cs typeface="Calibri" pitchFamily="34" charset="-120"/>
              </a:rPr>
              <a:t>Environnement</a:t>
            </a:r>
            <a:endParaRPr lang="en-US" sz="1100" dirty="0"/>
          </a:p>
        </p:txBody>
      </p:sp>
      <p:sp>
        <p:nvSpPr>
          <p:cNvPr id="16" name="Shape 12"/>
          <p:cNvSpPr/>
          <p:nvPr/>
        </p:nvSpPr>
        <p:spPr>
          <a:xfrm>
            <a:off x="2121408" y="1371600"/>
            <a:ext cx="1481328" cy="1115568"/>
          </a:xfrm>
          <a:prstGeom prst="roundRect">
            <a:avLst>
              <a:gd name="adj" fmla="val 6557"/>
            </a:avLst>
          </a:prstGeom>
          <a:solidFill>
            <a:srgbClr val="F4F7F5"/>
          </a:solidFill>
          <a:ln w="9525">
            <a:solidFill>
              <a:srgbClr val="D5DED9"/>
            </a:solidFill>
            <a:prstDash val="solid"/>
          </a:ln>
        </p:spPr>
      </p:sp>
      <p:sp>
        <p:nvSpPr>
          <p:cNvPr id="17" name="Shape 13"/>
          <p:cNvSpPr/>
          <p:nvPr/>
        </p:nvSpPr>
        <p:spPr>
          <a:xfrm>
            <a:off x="2624328" y="1490472"/>
            <a:ext cx="475488" cy="475488"/>
          </a:xfrm>
          <a:prstGeom prst="ellipse">
            <a:avLst/>
          </a:prstGeom>
          <a:solidFill>
            <a:srgbClr val="00704A">
              <a:alpha val="22000"/>
            </a:srgbClr>
          </a:solidFill>
          <a:ln w="12700">
            <a:solidFill>
              <a:srgbClr val="00704A">
                <a:alpha val="0"/>
              </a:srgbClr>
            </a:solidFill>
            <a:prstDash val="solid"/>
          </a:ln>
        </p:spPr>
      </p:sp>
      <p:pic>
        <p:nvPicPr>
          <p:cNvPr id="18" name="Image 1" descr="preencoded.png">    </p:cNvPr>
          <p:cNvPicPr>
            <a:picLocks noChangeAspect="1"/>
          </p:cNvPicPr>
          <p:nvPr/>
        </p:nvPicPr>
        <p:blipFill>
          <a:blip r:embed="rId2"/>
          <a:stretch>
            <a:fillRect/>
          </a:stretch>
        </p:blipFill>
        <p:spPr>
          <a:xfrm>
            <a:off x="2738445" y="1604589"/>
            <a:ext cx="247254" cy="247254"/>
          </a:xfrm>
          <a:prstGeom prst="rect">
            <a:avLst/>
          </a:prstGeom>
        </p:spPr>
      </p:pic>
      <p:sp>
        <p:nvSpPr>
          <p:cNvPr id="19" name="Text 14"/>
          <p:cNvSpPr txBox="1"/>
          <p:nvPr/>
        </p:nvSpPr>
        <p:spPr>
          <a:xfrm>
            <a:off x="2231136" y="1463040"/>
            <a:ext cx="365760" cy="274320"/>
          </a:xfrm>
          <a:prstGeom prst="rect">
            <a:avLst/>
          </a:prstGeom>
          <a:noFill/>
          <a:ln/>
        </p:spPr>
        <p:txBody>
          <a:bodyPr wrap="square" lIns="0" tIns="0" rIns="0" bIns="0" rtlCol="0" anchor="t"/>
          <a:lstStyle/>
          <a:p>
            <a:pPr indent="0" marL="0">
              <a:buNone/>
            </a:pPr>
            <a:r>
              <a:rPr lang="en-US" sz="1300" b="1" dirty="0">
                <a:solidFill>
                  <a:srgbClr val="F5C242"/>
                </a:solidFill>
                <a:latin typeface="Calibri" pitchFamily="34" charset="0"/>
                <a:ea typeface="Calibri" pitchFamily="34" charset="-122"/>
                <a:cs typeface="Calibri" pitchFamily="34" charset="-120"/>
              </a:rPr>
              <a:t>2</a:t>
            </a:r>
            <a:endParaRPr lang="en-US" sz="1300" dirty="0"/>
          </a:p>
        </p:txBody>
      </p:sp>
      <p:sp>
        <p:nvSpPr>
          <p:cNvPr id="20" name="Text 15"/>
          <p:cNvSpPr txBox="1"/>
          <p:nvPr/>
        </p:nvSpPr>
        <p:spPr>
          <a:xfrm>
            <a:off x="2194560" y="2029968"/>
            <a:ext cx="1335024" cy="384048"/>
          </a:xfrm>
          <a:prstGeom prst="rect">
            <a:avLst/>
          </a:prstGeom>
          <a:noFill/>
          <a:ln/>
        </p:spPr>
        <p:txBody>
          <a:bodyPr wrap="square" lIns="0" tIns="0" rIns="0" bIns="0" rtlCol="0" anchor="t"/>
          <a:lstStyle/>
          <a:p>
            <a:pPr algn="ctr" indent="0" marL="0">
              <a:buNone/>
            </a:pPr>
            <a:r>
              <a:rPr lang="en-US" sz="1100" b="1" dirty="0">
                <a:solidFill>
                  <a:srgbClr val="231F20"/>
                </a:solidFill>
                <a:latin typeface="Calibri" pitchFamily="34" charset="0"/>
                <a:ea typeface="Calibri" pitchFamily="34" charset="-122"/>
                <a:cs typeface="Calibri" pitchFamily="34" charset="-120"/>
              </a:rPr>
              <a:t>Dépendances</a:t>
            </a:r>
            <a:endParaRPr lang="en-US" sz="1100" dirty="0"/>
          </a:p>
        </p:txBody>
      </p:sp>
      <p:sp>
        <p:nvSpPr>
          <p:cNvPr id="21" name="Shape 16"/>
          <p:cNvSpPr/>
          <p:nvPr/>
        </p:nvSpPr>
        <p:spPr>
          <a:xfrm>
            <a:off x="3785616" y="1371600"/>
            <a:ext cx="1481328" cy="1115568"/>
          </a:xfrm>
          <a:prstGeom prst="roundRect">
            <a:avLst>
              <a:gd name="adj" fmla="val 6557"/>
            </a:avLst>
          </a:prstGeom>
          <a:solidFill>
            <a:srgbClr val="F4F7F5"/>
          </a:solidFill>
          <a:ln w="9525">
            <a:solidFill>
              <a:srgbClr val="D5DED9"/>
            </a:solidFill>
            <a:prstDash val="solid"/>
          </a:ln>
        </p:spPr>
      </p:sp>
      <p:sp>
        <p:nvSpPr>
          <p:cNvPr id="22" name="Shape 17"/>
          <p:cNvSpPr/>
          <p:nvPr/>
        </p:nvSpPr>
        <p:spPr>
          <a:xfrm>
            <a:off x="4288536" y="1490472"/>
            <a:ext cx="475488" cy="475488"/>
          </a:xfrm>
          <a:prstGeom prst="ellipse">
            <a:avLst/>
          </a:prstGeom>
          <a:solidFill>
            <a:srgbClr val="00704A">
              <a:alpha val="22000"/>
            </a:srgbClr>
          </a:solidFill>
          <a:ln w="12700">
            <a:solidFill>
              <a:srgbClr val="00704A">
                <a:alpha val="0"/>
              </a:srgbClr>
            </a:solidFill>
            <a:prstDash val="solid"/>
          </a:ln>
        </p:spPr>
      </p:sp>
      <p:pic>
        <p:nvPicPr>
          <p:cNvPr id="23" name="Image 2" descr="preencoded.png">    </p:cNvPr>
          <p:cNvPicPr>
            <a:picLocks noChangeAspect="1"/>
          </p:cNvPicPr>
          <p:nvPr/>
        </p:nvPicPr>
        <p:blipFill>
          <a:blip r:embed="rId3"/>
          <a:stretch>
            <a:fillRect/>
          </a:stretch>
        </p:blipFill>
        <p:spPr>
          <a:xfrm>
            <a:off x="4402653" y="1604589"/>
            <a:ext cx="247254" cy="247254"/>
          </a:xfrm>
          <a:prstGeom prst="rect">
            <a:avLst/>
          </a:prstGeom>
        </p:spPr>
      </p:pic>
      <p:sp>
        <p:nvSpPr>
          <p:cNvPr id="24" name="Text 18"/>
          <p:cNvSpPr txBox="1"/>
          <p:nvPr/>
        </p:nvSpPr>
        <p:spPr>
          <a:xfrm>
            <a:off x="3895344" y="1463040"/>
            <a:ext cx="365760" cy="274320"/>
          </a:xfrm>
          <a:prstGeom prst="rect">
            <a:avLst/>
          </a:prstGeom>
          <a:noFill/>
          <a:ln/>
        </p:spPr>
        <p:txBody>
          <a:bodyPr wrap="square" lIns="0" tIns="0" rIns="0" bIns="0" rtlCol="0" anchor="t"/>
          <a:lstStyle/>
          <a:p>
            <a:pPr indent="0" marL="0">
              <a:buNone/>
            </a:pPr>
            <a:r>
              <a:rPr lang="en-US" sz="1300" b="1" dirty="0">
                <a:solidFill>
                  <a:srgbClr val="F5C242"/>
                </a:solidFill>
                <a:latin typeface="Calibri" pitchFamily="34" charset="0"/>
                <a:ea typeface="Calibri" pitchFamily="34" charset="-122"/>
                <a:cs typeface="Calibri" pitchFamily="34" charset="-120"/>
              </a:rPr>
              <a:t>3</a:t>
            </a:r>
            <a:endParaRPr lang="en-US" sz="1300" dirty="0"/>
          </a:p>
        </p:txBody>
      </p:sp>
      <p:sp>
        <p:nvSpPr>
          <p:cNvPr id="25" name="Text 19"/>
          <p:cNvSpPr txBox="1"/>
          <p:nvPr/>
        </p:nvSpPr>
        <p:spPr>
          <a:xfrm>
            <a:off x="3858768" y="2029968"/>
            <a:ext cx="1335024" cy="384048"/>
          </a:xfrm>
          <a:prstGeom prst="rect">
            <a:avLst/>
          </a:prstGeom>
          <a:noFill/>
          <a:ln/>
        </p:spPr>
        <p:txBody>
          <a:bodyPr wrap="square" lIns="0" tIns="0" rIns="0" bIns="0" rtlCol="0" anchor="t"/>
          <a:lstStyle/>
          <a:p>
            <a:pPr algn="ctr" indent="0" marL="0">
              <a:buNone/>
            </a:pPr>
            <a:r>
              <a:rPr lang="en-US" sz="1100" b="1" dirty="0">
                <a:solidFill>
                  <a:srgbClr val="231F20"/>
                </a:solidFill>
                <a:latin typeface="Calibri" pitchFamily="34" charset="0"/>
                <a:ea typeface="Calibri" pitchFamily="34" charset="-122"/>
                <a:cs typeface="Calibri" pitchFamily="34" charset="-120"/>
              </a:rPr>
              <a:t>Jeton (4 sources)</a:t>
            </a:r>
            <a:endParaRPr lang="en-US" sz="1100" dirty="0"/>
          </a:p>
        </p:txBody>
      </p:sp>
      <p:sp>
        <p:nvSpPr>
          <p:cNvPr id="26" name="Shape 20"/>
          <p:cNvSpPr/>
          <p:nvPr/>
        </p:nvSpPr>
        <p:spPr>
          <a:xfrm>
            <a:off x="5449824" y="1371600"/>
            <a:ext cx="1481328" cy="1115568"/>
          </a:xfrm>
          <a:prstGeom prst="roundRect">
            <a:avLst>
              <a:gd name="adj" fmla="val 6557"/>
            </a:avLst>
          </a:prstGeom>
          <a:solidFill>
            <a:srgbClr val="E8F5EF"/>
          </a:solidFill>
          <a:ln w="15875">
            <a:solidFill>
              <a:srgbClr val="00704A"/>
            </a:solidFill>
            <a:prstDash val="solid"/>
          </a:ln>
        </p:spPr>
      </p:sp>
      <p:sp>
        <p:nvSpPr>
          <p:cNvPr id="27" name="Shape 21"/>
          <p:cNvSpPr/>
          <p:nvPr/>
        </p:nvSpPr>
        <p:spPr>
          <a:xfrm>
            <a:off x="5952744" y="1490472"/>
            <a:ext cx="475488" cy="475488"/>
          </a:xfrm>
          <a:prstGeom prst="ellipse">
            <a:avLst/>
          </a:prstGeom>
          <a:solidFill>
            <a:srgbClr val="00704A">
              <a:alpha val="22000"/>
            </a:srgbClr>
          </a:solidFill>
          <a:ln w="12700">
            <a:solidFill>
              <a:srgbClr val="00704A">
                <a:alpha val="0"/>
              </a:srgbClr>
            </a:solidFill>
            <a:prstDash val="solid"/>
          </a:ln>
        </p:spPr>
      </p:sp>
      <p:pic>
        <p:nvPicPr>
          <p:cNvPr id="28" name="Image 3" descr="preencoded.png">    </p:cNvPr>
          <p:cNvPicPr>
            <a:picLocks noChangeAspect="1"/>
          </p:cNvPicPr>
          <p:nvPr/>
        </p:nvPicPr>
        <p:blipFill>
          <a:blip r:embed="rId4"/>
          <a:stretch>
            <a:fillRect/>
          </a:stretch>
        </p:blipFill>
        <p:spPr>
          <a:xfrm>
            <a:off x="6066861" y="1604589"/>
            <a:ext cx="247254" cy="247254"/>
          </a:xfrm>
          <a:prstGeom prst="rect">
            <a:avLst/>
          </a:prstGeom>
        </p:spPr>
      </p:pic>
      <p:sp>
        <p:nvSpPr>
          <p:cNvPr id="29" name="Text 22"/>
          <p:cNvSpPr txBox="1"/>
          <p:nvPr/>
        </p:nvSpPr>
        <p:spPr>
          <a:xfrm>
            <a:off x="5559552" y="1463040"/>
            <a:ext cx="365760" cy="274320"/>
          </a:xfrm>
          <a:prstGeom prst="rect">
            <a:avLst/>
          </a:prstGeom>
          <a:noFill/>
          <a:ln/>
        </p:spPr>
        <p:txBody>
          <a:bodyPr wrap="square" lIns="0" tIns="0" rIns="0" bIns="0" rtlCol="0" anchor="t"/>
          <a:lstStyle/>
          <a:p>
            <a:pPr indent="0" marL="0">
              <a:buNone/>
            </a:pPr>
            <a:r>
              <a:rPr lang="en-US" sz="1300" b="1" dirty="0">
                <a:solidFill>
                  <a:srgbClr val="F5C242"/>
                </a:solidFill>
                <a:latin typeface="Calibri" pitchFamily="34" charset="0"/>
                <a:ea typeface="Calibri" pitchFamily="34" charset="-122"/>
                <a:cs typeface="Calibri" pitchFamily="34" charset="-120"/>
              </a:rPr>
              <a:t>4</a:t>
            </a:r>
            <a:endParaRPr lang="en-US" sz="1300" dirty="0"/>
          </a:p>
        </p:txBody>
      </p:sp>
      <p:sp>
        <p:nvSpPr>
          <p:cNvPr id="30" name="Text 23"/>
          <p:cNvSpPr txBox="1"/>
          <p:nvPr/>
        </p:nvSpPr>
        <p:spPr>
          <a:xfrm>
            <a:off x="5522976" y="2029968"/>
            <a:ext cx="1335024" cy="384048"/>
          </a:xfrm>
          <a:prstGeom prst="rect">
            <a:avLst/>
          </a:prstGeom>
          <a:noFill/>
          <a:ln/>
        </p:spPr>
        <p:txBody>
          <a:bodyPr wrap="square" lIns="0" tIns="0" rIns="0" bIns="0" rtlCol="0" anchor="t"/>
          <a:lstStyle/>
          <a:p>
            <a:pPr algn="ctr" indent="0" marL="0">
              <a:buNone/>
            </a:pPr>
            <a:r>
              <a:rPr lang="en-US" sz="1100" b="1" dirty="0">
                <a:solidFill>
                  <a:srgbClr val="231F20"/>
                </a:solidFill>
                <a:latin typeface="Calibri" pitchFamily="34" charset="0"/>
                <a:ea typeface="Calibri" pitchFamily="34" charset="-122"/>
                <a:cs typeface="Calibri" pitchFamily="34" charset="-120"/>
              </a:rPr>
              <a:t>Paramètres</a:t>
            </a:r>
            <a:endParaRPr lang="en-US" sz="1100" dirty="0"/>
          </a:p>
        </p:txBody>
      </p:sp>
      <p:sp>
        <p:nvSpPr>
          <p:cNvPr id="31" name="Shape 24"/>
          <p:cNvSpPr/>
          <p:nvPr/>
        </p:nvSpPr>
        <p:spPr>
          <a:xfrm>
            <a:off x="7114032" y="1371600"/>
            <a:ext cx="1481328" cy="1115568"/>
          </a:xfrm>
          <a:prstGeom prst="roundRect">
            <a:avLst>
              <a:gd name="adj" fmla="val 6557"/>
            </a:avLst>
          </a:prstGeom>
          <a:solidFill>
            <a:srgbClr val="F4F7F5"/>
          </a:solidFill>
          <a:ln w="9525">
            <a:solidFill>
              <a:srgbClr val="D5DED9"/>
            </a:solidFill>
            <a:prstDash val="solid"/>
          </a:ln>
        </p:spPr>
      </p:sp>
      <p:sp>
        <p:nvSpPr>
          <p:cNvPr id="32" name="Shape 25"/>
          <p:cNvSpPr/>
          <p:nvPr/>
        </p:nvSpPr>
        <p:spPr>
          <a:xfrm>
            <a:off x="7616952" y="1490472"/>
            <a:ext cx="475488" cy="475488"/>
          </a:xfrm>
          <a:prstGeom prst="ellipse">
            <a:avLst/>
          </a:prstGeom>
          <a:solidFill>
            <a:srgbClr val="00704A">
              <a:alpha val="22000"/>
            </a:srgbClr>
          </a:solidFill>
          <a:ln w="12700">
            <a:solidFill>
              <a:srgbClr val="00704A">
                <a:alpha val="0"/>
              </a:srgbClr>
            </a:solidFill>
            <a:prstDash val="solid"/>
          </a:ln>
        </p:spPr>
      </p:sp>
      <p:pic>
        <p:nvPicPr>
          <p:cNvPr id="33" name="Image 4" descr="preencoded.png">    </p:cNvPr>
          <p:cNvPicPr>
            <a:picLocks noChangeAspect="1"/>
          </p:cNvPicPr>
          <p:nvPr/>
        </p:nvPicPr>
        <p:blipFill>
          <a:blip r:embed="rId5"/>
          <a:stretch>
            <a:fillRect/>
          </a:stretch>
        </p:blipFill>
        <p:spPr>
          <a:xfrm>
            <a:off x="7731069" y="1604589"/>
            <a:ext cx="247254" cy="247254"/>
          </a:xfrm>
          <a:prstGeom prst="rect">
            <a:avLst/>
          </a:prstGeom>
        </p:spPr>
      </p:pic>
      <p:sp>
        <p:nvSpPr>
          <p:cNvPr id="34" name="Text 26"/>
          <p:cNvSpPr txBox="1"/>
          <p:nvPr/>
        </p:nvSpPr>
        <p:spPr>
          <a:xfrm>
            <a:off x="7223760" y="1463040"/>
            <a:ext cx="365760" cy="274320"/>
          </a:xfrm>
          <a:prstGeom prst="rect">
            <a:avLst/>
          </a:prstGeom>
          <a:noFill/>
          <a:ln/>
        </p:spPr>
        <p:txBody>
          <a:bodyPr wrap="square" lIns="0" tIns="0" rIns="0" bIns="0" rtlCol="0" anchor="t"/>
          <a:lstStyle/>
          <a:p>
            <a:pPr indent="0" marL="0">
              <a:buNone/>
            </a:pPr>
            <a:r>
              <a:rPr lang="en-US" sz="1300" b="1" dirty="0">
                <a:solidFill>
                  <a:srgbClr val="F5C242"/>
                </a:solidFill>
                <a:latin typeface="Calibri" pitchFamily="34" charset="0"/>
                <a:ea typeface="Calibri" pitchFamily="34" charset="-122"/>
                <a:cs typeface="Calibri" pitchFamily="34" charset="-120"/>
              </a:rPr>
              <a:t>5</a:t>
            </a:r>
            <a:endParaRPr lang="en-US" sz="1300" dirty="0"/>
          </a:p>
        </p:txBody>
      </p:sp>
      <p:sp>
        <p:nvSpPr>
          <p:cNvPr id="35" name="Text 27"/>
          <p:cNvSpPr txBox="1"/>
          <p:nvPr/>
        </p:nvSpPr>
        <p:spPr>
          <a:xfrm>
            <a:off x="7187184" y="2029968"/>
            <a:ext cx="1335024" cy="384048"/>
          </a:xfrm>
          <a:prstGeom prst="rect">
            <a:avLst/>
          </a:prstGeom>
          <a:noFill/>
          <a:ln/>
        </p:spPr>
        <p:txBody>
          <a:bodyPr wrap="square" lIns="0" tIns="0" rIns="0" bIns="0" rtlCol="0" anchor="t"/>
          <a:lstStyle/>
          <a:p>
            <a:pPr algn="ctr" indent="0" marL="0">
              <a:buNone/>
            </a:pPr>
            <a:r>
              <a:rPr lang="en-US" sz="1100" b="1" dirty="0">
                <a:solidFill>
                  <a:srgbClr val="231F20"/>
                </a:solidFill>
                <a:latin typeface="Calibri" pitchFamily="34" charset="0"/>
                <a:ea typeface="Calibri" pitchFamily="34" charset="-122"/>
                <a:cs typeface="Calibri" pitchFamily="34" charset="-120"/>
              </a:rPr>
              <a:t>Emprise et tuiles</a:t>
            </a:r>
            <a:endParaRPr lang="en-US" sz="1100" dirty="0"/>
          </a:p>
        </p:txBody>
      </p:sp>
      <p:sp>
        <p:nvSpPr>
          <p:cNvPr id="36" name="Shape 28"/>
          <p:cNvSpPr/>
          <p:nvPr/>
        </p:nvSpPr>
        <p:spPr>
          <a:xfrm>
            <a:off x="1289304" y="2670048"/>
            <a:ext cx="1481328" cy="1115568"/>
          </a:xfrm>
          <a:prstGeom prst="roundRect">
            <a:avLst>
              <a:gd name="adj" fmla="val 6557"/>
            </a:avLst>
          </a:prstGeom>
          <a:solidFill>
            <a:srgbClr val="F4F7F5"/>
          </a:solidFill>
          <a:ln w="9525">
            <a:solidFill>
              <a:srgbClr val="D5DED9"/>
            </a:solidFill>
            <a:prstDash val="solid"/>
          </a:ln>
        </p:spPr>
      </p:sp>
      <p:sp>
        <p:nvSpPr>
          <p:cNvPr id="37" name="Shape 29"/>
          <p:cNvSpPr/>
          <p:nvPr/>
        </p:nvSpPr>
        <p:spPr>
          <a:xfrm>
            <a:off x="1792224" y="2788920"/>
            <a:ext cx="475488" cy="475488"/>
          </a:xfrm>
          <a:prstGeom prst="ellipse">
            <a:avLst/>
          </a:prstGeom>
          <a:solidFill>
            <a:srgbClr val="00704A">
              <a:alpha val="22000"/>
            </a:srgbClr>
          </a:solidFill>
          <a:ln w="12700">
            <a:solidFill>
              <a:srgbClr val="00704A">
                <a:alpha val="0"/>
              </a:srgbClr>
            </a:solidFill>
            <a:prstDash val="solid"/>
          </a:ln>
        </p:spPr>
      </p:sp>
      <p:pic>
        <p:nvPicPr>
          <p:cNvPr id="38" name="Image 5" descr="preencoded.png">    </p:cNvPr>
          <p:cNvPicPr>
            <a:picLocks noChangeAspect="1"/>
          </p:cNvPicPr>
          <p:nvPr/>
        </p:nvPicPr>
        <p:blipFill>
          <a:blip r:embed="rId6"/>
          <a:stretch>
            <a:fillRect/>
          </a:stretch>
        </p:blipFill>
        <p:spPr>
          <a:xfrm>
            <a:off x="1906341" y="2903037"/>
            <a:ext cx="247254" cy="247254"/>
          </a:xfrm>
          <a:prstGeom prst="rect">
            <a:avLst/>
          </a:prstGeom>
        </p:spPr>
      </p:pic>
      <p:sp>
        <p:nvSpPr>
          <p:cNvPr id="39" name="Text 30"/>
          <p:cNvSpPr txBox="1"/>
          <p:nvPr/>
        </p:nvSpPr>
        <p:spPr>
          <a:xfrm>
            <a:off x="1399032" y="2761488"/>
            <a:ext cx="365760" cy="274320"/>
          </a:xfrm>
          <a:prstGeom prst="rect">
            <a:avLst/>
          </a:prstGeom>
          <a:noFill/>
          <a:ln/>
        </p:spPr>
        <p:txBody>
          <a:bodyPr wrap="square" lIns="0" tIns="0" rIns="0" bIns="0" rtlCol="0" anchor="t"/>
          <a:lstStyle/>
          <a:p>
            <a:pPr indent="0" marL="0">
              <a:buNone/>
            </a:pPr>
            <a:r>
              <a:rPr lang="en-US" sz="1300" b="1" dirty="0">
                <a:solidFill>
                  <a:srgbClr val="F5C242"/>
                </a:solidFill>
                <a:latin typeface="Calibri" pitchFamily="34" charset="0"/>
                <a:ea typeface="Calibri" pitchFamily="34" charset="-122"/>
                <a:cs typeface="Calibri" pitchFamily="34" charset="-120"/>
              </a:rPr>
              <a:t>6</a:t>
            </a:r>
            <a:endParaRPr lang="en-US" sz="1300" dirty="0"/>
          </a:p>
        </p:txBody>
      </p:sp>
      <p:sp>
        <p:nvSpPr>
          <p:cNvPr id="40" name="Text 31"/>
          <p:cNvSpPr txBox="1"/>
          <p:nvPr/>
        </p:nvSpPr>
        <p:spPr>
          <a:xfrm>
            <a:off x="1362456" y="3328416"/>
            <a:ext cx="1335024" cy="384048"/>
          </a:xfrm>
          <a:prstGeom prst="rect">
            <a:avLst/>
          </a:prstGeom>
          <a:noFill/>
          <a:ln/>
        </p:spPr>
        <p:txBody>
          <a:bodyPr wrap="square" lIns="0" tIns="0" rIns="0" bIns="0" rtlCol="0" anchor="t"/>
          <a:lstStyle/>
          <a:p>
            <a:pPr algn="ctr" indent="0" marL="0">
              <a:buNone/>
            </a:pPr>
            <a:r>
              <a:rPr lang="en-US" sz="1100" b="1" dirty="0">
                <a:solidFill>
                  <a:srgbClr val="231F20"/>
                </a:solidFill>
                <a:latin typeface="Calibri" pitchFamily="34" charset="0"/>
                <a:ea typeface="Calibri" pitchFamily="34" charset="-122"/>
                <a:cs typeface="Calibri" pitchFamily="34" charset="-120"/>
              </a:rPr>
              <a:t>Requêtes CMR</a:t>
            </a:r>
            <a:endParaRPr lang="en-US" sz="1100" dirty="0"/>
          </a:p>
        </p:txBody>
      </p:sp>
      <p:sp>
        <p:nvSpPr>
          <p:cNvPr id="41" name="Shape 32"/>
          <p:cNvSpPr/>
          <p:nvPr/>
        </p:nvSpPr>
        <p:spPr>
          <a:xfrm>
            <a:off x="2953512" y="2670048"/>
            <a:ext cx="1481328" cy="1115568"/>
          </a:xfrm>
          <a:prstGeom prst="roundRect">
            <a:avLst>
              <a:gd name="adj" fmla="val 6557"/>
            </a:avLst>
          </a:prstGeom>
          <a:solidFill>
            <a:srgbClr val="F4F7F5"/>
          </a:solidFill>
          <a:ln w="9525">
            <a:solidFill>
              <a:srgbClr val="D5DED9"/>
            </a:solidFill>
            <a:prstDash val="solid"/>
          </a:ln>
        </p:spPr>
      </p:sp>
      <p:sp>
        <p:nvSpPr>
          <p:cNvPr id="42" name="Shape 33"/>
          <p:cNvSpPr/>
          <p:nvPr/>
        </p:nvSpPr>
        <p:spPr>
          <a:xfrm>
            <a:off x="3456432" y="2788920"/>
            <a:ext cx="475488" cy="475488"/>
          </a:xfrm>
          <a:prstGeom prst="ellipse">
            <a:avLst/>
          </a:prstGeom>
          <a:solidFill>
            <a:srgbClr val="00704A">
              <a:alpha val="22000"/>
            </a:srgbClr>
          </a:solidFill>
          <a:ln w="12700">
            <a:solidFill>
              <a:srgbClr val="00704A">
                <a:alpha val="0"/>
              </a:srgbClr>
            </a:solidFill>
            <a:prstDash val="solid"/>
          </a:ln>
        </p:spPr>
      </p:sp>
      <p:pic>
        <p:nvPicPr>
          <p:cNvPr id="43" name="Image 6" descr="preencoded.png">    </p:cNvPr>
          <p:cNvPicPr>
            <a:picLocks noChangeAspect="1"/>
          </p:cNvPicPr>
          <p:nvPr/>
        </p:nvPicPr>
        <p:blipFill>
          <a:blip r:embed="rId7"/>
          <a:stretch>
            <a:fillRect/>
          </a:stretch>
        </p:blipFill>
        <p:spPr>
          <a:xfrm>
            <a:off x="3570549" y="2903037"/>
            <a:ext cx="247254" cy="247254"/>
          </a:xfrm>
          <a:prstGeom prst="rect">
            <a:avLst/>
          </a:prstGeom>
        </p:spPr>
      </p:pic>
      <p:sp>
        <p:nvSpPr>
          <p:cNvPr id="44" name="Text 34"/>
          <p:cNvSpPr txBox="1"/>
          <p:nvPr/>
        </p:nvSpPr>
        <p:spPr>
          <a:xfrm>
            <a:off x="3063240" y="2761488"/>
            <a:ext cx="365760" cy="274320"/>
          </a:xfrm>
          <a:prstGeom prst="rect">
            <a:avLst/>
          </a:prstGeom>
          <a:noFill/>
          <a:ln/>
        </p:spPr>
        <p:txBody>
          <a:bodyPr wrap="square" lIns="0" tIns="0" rIns="0" bIns="0" rtlCol="0" anchor="t"/>
          <a:lstStyle/>
          <a:p>
            <a:pPr indent="0" marL="0">
              <a:buNone/>
            </a:pPr>
            <a:r>
              <a:rPr lang="en-US" sz="1300" b="1" dirty="0">
                <a:solidFill>
                  <a:srgbClr val="F5C242"/>
                </a:solidFill>
                <a:latin typeface="Calibri" pitchFamily="34" charset="0"/>
                <a:ea typeface="Calibri" pitchFamily="34" charset="-122"/>
                <a:cs typeface="Calibri" pitchFamily="34" charset="-120"/>
              </a:rPr>
              <a:t>7</a:t>
            </a:r>
            <a:endParaRPr lang="en-US" sz="1300" dirty="0"/>
          </a:p>
        </p:txBody>
      </p:sp>
      <p:sp>
        <p:nvSpPr>
          <p:cNvPr id="45" name="Text 35"/>
          <p:cNvSpPr txBox="1"/>
          <p:nvPr/>
        </p:nvSpPr>
        <p:spPr>
          <a:xfrm>
            <a:off x="3026664" y="3328416"/>
            <a:ext cx="1335024" cy="384048"/>
          </a:xfrm>
          <a:prstGeom prst="rect">
            <a:avLst/>
          </a:prstGeom>
          <a:noFill/>
          <a:ln/>
        </p:spPr>
        <p:txBody>
          <a:bodyPr wrap="square" lIns="0" tIns="0" rIns="0" bIns="0" rtlCol="0" anchor="t"/>
          <a:lstStyle/>
          <a:p>
            <a:pPr algn="ctr" indent="0" marL="0">
              <a:buNone/>
            </a:pPr>
            <a:r>
              <a:rPr lang="en-US" sz="1100" b="1" dirty="0">
                <a:solidFill>
                  <a:srgbClr val="231F20"/>
                </a:solidFill>
                <a:latin typeface="Calibri" pitchFamily="34" charset="0"/>
                <a:ea typeface="Calibri" pitchFamily="34" charset="-122"/>
                <a:cs typeface="Calibri" pitchFamily="34" charset="-120"/>
              </a:rPr>
              <a:t>Test de disponibilité</a:t>
            </a:r>
            <a:endParaRPr lang="en-US" sz="1100" dirty="0"/>
          </a:p>
        </p:txBody>
      </p:sp>
      <p:sp>
        <p:nvSpPr>
          <p:cNvPr id="46" name="Shape 36"/>
          <p:cNvSpPr/>
          <p:nvPr/>
        </p:nvSpPr>
        <p:spPr>
          <a:xfrm>
            <a:off x="4617720" y="2670048"/>
            <a:ext cx="1481328" cy="1115568"/>
          </a:xfrm>
          <a:prstGeom prst="roundRect">
            <a:avLst>
              <a:gd name="adj" fmla="val 6557"/>
            </a:avLst>
          </a:prstGeom>
          <a:solidFill>
            <a:srgbClr val="E8F5EF"/>
          </a:solidFill>
          <a:ln w="15875">
            <a:solidFill>
              <a:srgbClr val="D49A00"/>
            </a:solidFill>
            <a:prstDash val="solid"/>
          </a:ln>
        </p:spPr>
      </p:sp>
      <p:sp>
        <p:nvSpPr>
          <p:cNvPr id="47" name="Shape 37"/>
          <p:cNvSpPr/>
          <p:nvPr/>
        </p:nvSpPr>
        <p:spPr>
          <a:xfrm>
            <a:off x="5120640" y="2788920"/>
            <a:ext cx="475488" cy="475488"/>
          </a:xfrm>
          <a:prstGeom prst="ellipse">
            <a:avLst/>
          </a:prstGeom>
          <a:solidFill>
            <a:srgbClr val="D49A00">
              <a:alpha val="22000"/>
            </a:srgbClr>
          </a:solidFill>
          <a:ln w="12700">
            <a:solidFill>
              <a:srgbClr val="D49A00">
                <a:alpha val="0"/>
              </a:srgbClr>
            </a:solidFill>
            <a:prstDash val="solid"/>
          </a:ln>
        </p:spPr>
      </p:sp>
      <p:pic>
        <p:nvPicPr>
          <p:cNvPr id="48" name="Image 7" descr="preencoded.png">    </p:cNvPr>
          <p:cNvPicPr>
            <a:picLocks noChangeAspect="1"/>
          </p:cNvPicPr>
          <p:nvPr/>
        </p:nvPicPr>
        <p:blipFill>
          <a:blip r:embed="rId8"/>
          <a:stretch>
            <a:fillRect/>
          </a:stretch>
        </p:blipFill>
        <p:spPr>
          <a:xfrm>
            <a:off x="5234757" y="2903037"/>
            <a:ext cx="247254" cy="247254"/>
          </a:xfrm>
          <a:prstGeom prst="rect">
            <a:avLst/>
          </a:prstGeom>
        </p:spPr>
      </p:pic>
      <p:sp>
        <p:nvSpPr>
          <p:cNvPr id="49" name="Text 38"/>
          <p:cNvSpPr txBox="1"/>
          <p:nvPr/>
        </p:nvSpPr>
        <p:spPr>
          <a:xfrm>
            <a:off x="4727448" y="2761488"/>
            <a:ext cx="365760" cy="274320"/>
          </a:xfrm>
          <a:prstGeom prst="rect">
            <a:avLst/>
          </a:prstGeom>
          <a:noFill/>
          <a:ln/>
        </p:spPr>
        <p:txBody>
          <a:bodyPr wrap="square" lIns="0" tIns="0" rIns="0" bIns="0" rtlCol="0" anchor="t"/>
          <a:lstStyle/>
          <a:p>
            <a:pPr indent="0" marL="0">
              <a:buNone/>
            </a:pPr>
            <a:r>
              <a:rPr lang="en-US" sz="1300" b="1" dirty="0">
                <a:solidFill>
                  <a:srgbClr val="F5C242"/>
                </a:solidFill>
                <a:latin typeface="Calibri" pitchFamily="34" charset="0"/>
                <a:ea typeface="Calibri" pitchFamily="34" charset="-122"/>
                <a:cs typeface="Calibri" pitchFamily="34" charset="-120"/>
              </a:rPr>
              <a:t>8</a:t>
            </a:r>
            <a:endParaRPr lang="en-US" sz="1300" dirty="0"/>
          </a:p>
        </p:txBody>
      </p:sp>
      <p:sp>
        <p:nvSpPr>
          <p:cNvPr id="50" name="Text 39"/>
          <p:cNvSpPr txBox="1"/>
          <p:nvPr/>
        </p:nvSpPr>
        <p:spPr>
          <a:xfrm>
            <a:off x="4690872" y="3328416"/>
            <a:ext cx="1335024" cy="384048"/>
          </a:xfrm>
          <a:prstGeom prst="rect">
            <a:avLst/>
          </a:prstGeom>
          <a:noFill/>
          <a:ln/>
        </p:spPr>
        <p:txBody>
          <a:bodyPr wrap="square" lIns="0" tIns="0" rIns="0" bIns="0" rtlCol="0" anchor="t"/>
          <a:lstStyle/>
          <a:p>
            <a:pPr algn="ctr" indent="0" marL="0">
              <a:buNone/>
            </a:pPr>
            <a:r>
              <a:rPr lang="en-US" sz="1100" b="1" dirty="0">
                <a:solidFill>
                  <a:srgbClr val="231F20"/>
                </a:solidFill>
                <a:latin typeface="Calibri" pitchFamily="34" charset="0"/>
                <a:ea typeface="Calibri" pitchFamily="34" charset="-122"/>
                <a:cs typeface="Calibri" pitchFamily="34" charset="-120"/>
              </a:rPr>
              <a:t>Téléchargement vérifié</a:t>
            </a:r>
            <a:endParaRPr lang="en-US" sz="1100" dirty="0"/>
          </a:p>
        </p:txBody>
      </p:sp>
      <p:sp>
        <p:nvSpPr>
          <p:cNvPr id="51" name="Shape 40"/>
          <p:cNvSpPr/>
          <p:nvPr/>
        </p:nvSpPr>
        <p:spPr>
          <a:xfrm>
            <a:off x="6281928" y="2670048"/>
            <a:ext cx="1481328" cy="1115568"/>
          </a:xfrm>
          <a:prstGeom prst="roundRect">
            <a:avLst>
              <a:gd name="adj" fmla="val 6557"/>
            </a:avLst>
          </a:prstGeom>
          <a:solidFill>
            <a:srgbClr val="F4F7F5"/>
          </a:solidFill>
          <a:ln w="9525">
            <a:solidFill>
              <a:srgbClr val="D5DED9"/>
            </a:solidFill>
            <a:prstDash val="solid"/>
          </a:ln>
        </p:spPr>
      </p:sp>
      <p:sp>
        <p:nvSpPr>
          <p:cNvPr id="52" name="Shape 41"/>
          <p:cNvSpPr/>
          <p:nvPr/>
        </p:nvSpPr>
        <p:spPr>
          <a:xfrm>
            <a:off x="6784848" y="2788920"/>
            <a:ext cx="475488" cy="475488"/>
          </a:xfrm>
          <a:prstGeom prst="ellipse">
            <a:avLst/>
          </a:prstGeom>
          <a:solidFill>
            <a:srgbClr val="00704A">
              <a:alpha val="22000"/>
            </a:srgbClr>
          </a:solidFill>
          <a:ln w="12700">
            <a:solidFill>
              <a:srgbClr val="00704A">
                <a:alpha val="0"/>
              </a:srgbClr>
            </a:solidFill>
            <a:prstDash val="solid"/>
          </a:ln>
        </p:spPr>
      </p:sp>
      <p:pic>
        <p:nvPicPr>
          <p:cNvPr id="53" name="Image 8" descr="preencoded.png">    </p:cNvPr>
          <p:cNvPicPr>
            <a:picLocks noChangeAspect="1"/>
          </p:cNvPicPr>
          <p:nvPr/>
        </p:nvPicPr>
        <p:blipFill>
          <a:blip r:embed="rId9"/>
          <a:stretch>
            <a:fillRect/>
          </a:stretch>
        </p:blipFill>
        <p:spPr>
          <a:xfrm>
            <a:off x="6898965" y="2903037"/>
            <a:ext cx="247254" cy="247254"/>
          </a:xfrm>
          <a:prstGeom prst="rect">
            <a:avLst/>
          </a:prstGeom>
        </p:spPr>
      </p:pic>
      <p:sp>
        <p:nvSpPr>
          <p:cNvPr id="54" name="Text 42"/>
          <p:cNvSpPr txBox="1"/>
          <p:nvPr/>
        </p:nvSpPr>
        <p:spPr>
          <a:xfrm>
            <a:off x="6391656" y="2761488"/>
            <a:ext cx="365760" cy="274320"/>
          </a:xfrm>
          <a:prstGeom prst="rect">
            <a:avLst/>
          </a:prstGeom>
          <a:noFill/>
          <a:ln/>
        </p:spPr>
        <p:txBody>
          <a:bodyPr wrap="square" lIns="0" tIns="0" rIns="0" bIns="0" rtlCol="0" anchor="t"/>
          <a:lstStyle/>
          <a:p>
            <a:pPr indent="0" marL="0">
              <a:buNone/>
            </a:pPr>
            <a:r>
              <a:rPr lang="en-US" sz="1300" b="1" dirty="0">
                <a:solidFill>
                  <a:srgbClr val="F5C242"/>
                </a:solidFill>
                <a:latin typeface="Calibri" pitchFamily="34" charset="0"/>
                <a:ea typeface="Calibri" pitchFamily="34" charset="-122"/>
                <a:cs typeface="Calibri" pitchFamily="34" charset="-120"/>
              </a:rPr>
              <a:t>9</a:t>
            </a:r>
            <a:endParaRPr lang="en-US" sz="1300" dirty="0"/>
          </a:p>
        </p:txBody>
      </p:sp>
      <p:sp>
        <p:nvSpPr>
          <p:cNvPr id="55" name="Text 43"/>
          <p:cNvSpPr txBox="1"/>
          <p:nvPr/>
        </p:nvSpPr>
        <p:spPr>
          <a:xfrm>
            <a:off x="6355080" y="3328416"/>
            <a:ext cx="1335024" cy="384048"/>
          </a:xfrm>
          <a:prstGeom prst="rect">
            <a:avLst/>
          </a:prstGeom>
          <a:noFill/>
          <a:ln/>
        </p:spPr>
        <p:txBody>
          <a:bodyPr wrap="square" lIns="0" tIns="0" rIns="0" bIns="0" rtlCol="0" anchor="t"/>
          <a:lstStyle/>
          <a:p>
            <a:pPr algn="ctr" indent="0" marL="0">
              <a:buNone/>
            </a:pPr>
            <a:r>
              <a:rPr lang="en-US" sz="1100" b="1" dirty="0">
                <a:solidFill>
                  <a:srgbClr val="231F20"/>
                </a:solidFill>
                <a:latin typeface="Calibri" pitchFamily="34" charset="0"/>
                <a:ea typeface="Calibri" pitchFamily="34" charset="-122"/>
                <a:cs typeface="Calibri" pitchFamily="34" charset="-120"/>
              </a:rPr>
              <a:t>Contrôle qualité</a:t>
            </a:r>
            <a:endParaRPr lang="en-US" sz="1100" dirty="0"/>
          </a:p>
        </p:txBody>
      </p:sp>
      <p:sp>
        <p:nvSpPr>
          <p:cNvPr id="56" name="Shape 44"/>
          <p:cNvSpPr/>
          <p:nvPr/>
        </p:nvSpPr>
        <p:spPr>
          <a:xfrm>
            <a:off x="457200" y="4069080"/>
            <a:ext cx="2651760" cy="256032"/>
          </a:xfrm>
          <a:prstGeom prst="roundRect">
            <a:avLst>
              <a:gd name="adj" fmla="val 50000"/>
            </a:avLst>
          </a:prstGeom>
          <a:solidFill>
            <a:srgbClr val="00704A">
              <a:alpha val="15000"/>
            </a:srgbClr>
          </a:solidFill>
          <a:ln w="9525">
            <a:solidFill>
              <a:srgbClr val="00704A"/>
            </a:solidFill>
            <a:prstDash val="solid"/>
          </a:ln>
        </p:spPr>
      </p:sp>
      <p:sp>
        <p:nvSpPr>
          <p:cNvPr id="57" name="Text 45"/>
          <p:cNvSpPr txBox="1"/>
          <p:nvPr/>
        </p:nvSpPr>
        <p:spPr>
          <a:xfrm>
            <a:off x="457200" y="4069080"/>
            <a:ext cx="2651760" cy="256032"/>
          </a:xfrm>
          <a:prstGeom prst="rect">
            <a:avLst/>
          </a:prstGeom>
          <a:noFill/>
          <a:ln/>
        </p:spPr>
        <p:txBody>
          <a:bodyPr wrap="square" lIns="0" tIns="0" rIns="0" bIns="0" rtlCol="0" anchor="ctr"/>
          <a:lstStyle/>
          <a:p>
            <a:pPr algn="ctr" indent="0" marL="0">
              <a:buNone/>
            </a:pPr>
            <a:r>
              <a:rPr lang="en-US" sz="1000" b="1" dirty="0">
                <a:solidFill>
                  <a:srgbClr val="00704A"/>
                </a:solidFill>
                <a:latin typeface="Calibri" pitchFamily="34" charset="0"/>
                <a:ea typeface="Calibri" pitchFamily="34" charset="-122"/>
                <a:cs typeface="Calibri" pitchFamily="34" charset="-120"/>
              </a:rPr>
              <a:t>Étapes 1–7 : sans compte</a:t>
            </a:r>
            <a:endParaRPr lang="en-US" sz="1000" dirty="0"/>
          </a:p>
        </p:txBody>
      </p:sp>
      <p:sp>
        <p:nvSpPr>
          <p:cNvPr id="58" name="Shape 46"/>
          <p:cNvSpPr/>
          <p:nvPr/>
        </p:nvSpPr>
        <p:spPr>
          <a:xfrm>
            <a:off x="3291840" y="4069080"/>
            <a:ext cx="2743200" cy="256032"/>
          </a:xfrm>
          <a:prstGeom prst="roundRect">
            <a:avLst>
              <a:gd name="adj" fmla="val 50000"/>
            </a:avLst>
          </a:prstGeom>
          <a:solidFill>
            <a:srgbClr val="D49A00">
              <a:alpha val="15000"/>
            </a:srgbClr>
          </a:solidFill>
          <a:ln w="9525">
            <a:solidFill>
              <a:srgbClr val="D49A00"/>
            </a:solidFill>
            <a:prstDash val="solid"/>
          </a:ln>
        </p:spPr>
      </p:sp>
      <p:sp>
        <p:nvSpPr>
          <p:cNvPr id="59" name="Text 47"/>
          <p:cNvSpPr txBox="1"/>
          <p:nvPr/>
        </p:nvSpPr>
        <p:spPr>
          <a:xfrm>
            <a:off x="3291840" y="4069080"/>
            <a:ext cx="2743200" cy="256032"/>
          </a:xfrm>
          <a:prstGeom prst="rect">
            <a:avLst/>
          </a:prstGeom>
          <a:noFill/>
          <a:ln/>
        </p:spPr>
        <p:txBody>
          <a:bodyPr wrap="square" lIns="0" tIns="0" rIns="0" bIns="0" rtlCol="0" anchor="ctr"/>
          <a:lstStyle/>
          <a:p>
            <a:pPr algn="ctr" indent="0" marL="0">
              <a:buNone/>
            </a:pPr>
            <a:r>
              <a:rPr lang="en-US" sz="1000" b="1" dirty="0">
                <a:solidFill>
                  <a:srgbClr val="D49A00"/>
                </a:solidFill>
                <a:latin typeface="Calibri" pitchFamily="34" charset="0"/>
                <a:ea typeface="Calibri" pitchFamily="34" charset="-122"/>
                <a:cs typeface="Calibri" pitchFamily="34" charset="-120"/>
              </a:rPr>
              <a:t>Étape 8 : jeton Earthdata</a:t>
            </a:r>
            <a:endParaRPr lang="en-US" sz="1000" dirty="0"/>
          </a:p>
        </p:txBody>
      </p:sp>
      <p:sp>
        <p:nvSpPr>
          <p:cNvPr id="60" name="Shape 48"/>
          <p:cNvSpPr/>
          <p:nvPr/>
        </p:nvSpPr>
        <p:spPr>
          <a:xfrm>
            <a:off x="6217920" y="4069080"/>
            <a:ext cx="2468880" cy="256032"/>
          </a:xfrm>
          <a:prstGeom prst="roundRect">
            <a:avLst>
              <a:gd name="adj" fmla="val 50000"/>
            </a:avLst>
          </a:prstGeom>
          <a:solidFill>
            <a:srgbClr val="0E7C86">
              <a:alpha val="15000"/>
            </a:srgbClr>
          </a:solidFill>
          <a:ln w="9525">
            <a:solidFill>
              <a:srgbClr val="0E7C86"/>
            </a:solidFill>
            <a:prstDash val="solid"/>
          </a:ln>
        </p:spPr>
      </p:sp>
      <p:sp>
        <p:nvSpPr>
          <p:cNvPr id="61" name="Text 49"/>
          <p:cNvSpPr txBox="1"/>
          <p:nvPr/>
        </p:nvSpPr>
        <p:spPr>
          <a:xfrm>
            <a:off x="6217920" y="4069080"/>
            <a:ext cx="2468880" cy="256032"/>
          </a:xfrm>
          <a:prstGeom prst="rect">
            <a:avLst/>
          </a:prstGeom>
          <a:noFill/>
          <a:ln/>
        </p:spPr>
        <p:txBody>
          <a:bodyPr wrap="square" lIns="0" tIns="0" rIns="0" bIns="0" rtlCol="0" anchor="ctr"/>
          <a:lstStyle/>
          <a:p>
            <a:pPr algn="ctr" indent="0" marL="0">
              <a:buNone/>
            </a:pPr>
            <a:r>
              <a:rPr lang="en-US" sz="1000" b="1" dirty="0">
                <a:solidFill>
                  <a:srgbClr val="0E7C86"/>
                </a:solidFill>
                <a:latin typeface="Calibri" pitchFamily="34" charset="0"/>
                <a:ea typeface="Calibri" pitchFamily="34" charset="-122"/>
                <a:cs typeface="Calibri" pitchFamily="34" charset="-120"/>
              </a:rPr>
              <a:t>Relance sans risque (idempotent)</a:t>
            </a:r>
            <a:endParaRPr lang="en-US" sz="10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8A9590"/>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3"/>
          <p:cNvSpPr/>
          <p:nvPr>
            <p:ph idx="105" type="body" hasCustomPrompt="1"/>
          </p:nvPr>
        </p:nvSpPr>
        <p:spPr>
          <a:xfrm>
            <a:off x="457200" y="274320"/>
            <a:ext cx="6217920" cy="256032"/>
          </a:xfrm>
          <a:prstGeom prst="rect">
            <a:avLst/>
          </a:prstGeom>
          <a:noFill/>
          <a:ln/>
        </p:spPr>
        <p:txBody>
          <a:bodyPr wrap="square" lIns="0" tIns="0" rIns="0" bIns="0" rtlCol="0" anchor="ctr"/>
          <a:lstStyle/>
          <a:p>
            <a:pPr algn="l" indent="0" marL="0">
              <a:buNone/>
            </a:pPr>
            <a:r>
              <a:rPr lang="en-US" sz="1050" b="1" spc="300" kern="0" dirty="0">
                <a:solidFill>
                  <a:srgbClr val="00704A"/>
                </a:solidFill>
                <a:latin typeface="Calibri" pitchFamily="34" charset="0"/>
                <a:ea typeface="Calibri" pitchFamily="34" charset="-122"/>
                <a:cs typeface="Calibri" pitchFamily="34" charset="-120"/>
              </a:rPr>
              <a:t>02 · COLLECTER · DONNÉES</a:t>
            </a:r>
            <a:endParaRPr lang="en-US" sz="1050" dirty="0"/>
          </a:p>
        </p:txBody>
      </p:sp>
      <p:sp>
        <p:nvSpPr>
          <p:cNvPr id="3" name="Text 3"/>
          <p:cNvSpPr/>
          <p:nvPr>
            <p:ph idx="106" type="title" hasCustomPrompt="1"/>
          </p:nvPr>
        </p:nvSpPr>
        <p:spPr>
          <a:xfrm>
            <a:off x="457200" y="548640"/>
            <a:ext cx="8229600" cy="566928"/>
          </a:xfrm>
          <a:prstGeom prst="rect">
            <a:avLst/>
          </a:prstGeom>
          <a:noFill/>
          <a:ln/>
        </p:spPr>
        <p:txBody>
          <a:bodyPr wrap="square" lIns="0" tIns="0" rIns="0" bIns="0" rtlCol="0" anchor="ctr"/>
          <a:lstStyle/>
          <a:p>
            <a:pPr algn="l" indent="0" marL="0">
              <a:buNone/>
            </a:pPr>
            <a:r>
              <a:rPr lang="en-US" sz="2800" b="1" dirty="0">
                <a:solidFill>
                  <a:srgbClr val="231F20"/>
                </a:solidFill>
                <a:latin typeface="Calibri" pitchFamily="34" charset="0"/>
                <a:ea typeface="Calibri" pitchFamily="34" charset="-122"/>
                <a:cs typeface="Calibri" pitchFamily="34" charset="-120"/>
              </a:rPr>
              <a:t>NASA Black Marble : quatre produits, une grille</a:t>
            </a:r>
            <a:endParaRPr lang="en-US" sz="2800" dirty="0"/>
          </a:p>
        </p:txBody>
      </p:sp>
      <p:sp>
        <p:nvSpPr>
          <p:cNvPr id="4" name="dot0"/>
          <p:cNvSpPr/>
          <p:nvPr/>
        </p:nvSpPr>
        <p:spPr>
          <a:xfrm>
            <a:off x="7644384" y="338328"/>
            <a:ext cx="100584" cy="100584"/>
          </a:xfrm>
          <a:prstGeom prst="ellipse">
            <a:avLst/>
          </a:prstGeom>
          <a:solidFill>
            <a:srgbClr val="D5DED9"/>
          </a:solidFill>
          <a:ln w="12700">
            <a:solidFill>
              <a:srgbClr val="D5DED9"/>
            </a:solidFill>
            <a:prstDash val="solid"/>
          </a:ln>
        </p:spPr>
      </p:sp>
      <p:sp>
        <p:nvSpPr>
          <p:cNvPr id="5" name="dot1"/>
          <p:cNvSpPr/>
          <p:nvPr/>
        </p:nvSpPr>
        <p:spPr>
          <a:xfrm>
            <a:off x="7818120" y="338328"/>
            <a:ext cx="100584" cy="100584"/>
          </a:xfrm>
          <a:prstGeom prst="ellipse">
            <a:avLst/>
          </a:prstGeom>
          <a:solidFill>
            <a:srgbClr val="00704A"/>
          </a:solidFill>
          <a:ln w="12700">
            <a:solidFill>
              <a:srgbClr val="00704A"/>
            </a:solidFill>
            <a:prstDash val="solid"/>
          </a:ln>
        </p:spPr>
      </p:sp>
      <p:sp>
        <p:nvSpPr>
          <p:cNvPr id="6" name="dot2"/>
          <p:cNvSpPr/>
          <p:nvPr/>
        </p:nvSpPr>
        <p:spPr>
          <a:xfrm>
            <a:off x="7991856" y="338328"/>
            <a:ext cx="100584" cy="100584"/>
          </a:xfrm>
          <a:prstGeom prst="ellipse">
            <a:avLst/>
          </a:prstGeom>
          <a:solidFill>
            <a:srgbClr val="D5DED9"/>
          </a:solidFill>
          <a:ln w="12700">
            <a:solidFill>
              <a:srgbClr val="D5DED9"/>
            </a:solidFill>
            <a:prstDash val="solid"/>
          </a:ln>
        </p:spPr>
      </p:sp>
      <p:sp>
        <p:nvSpPr>
          <p:cNvPr id="7" name="dot3"/>
          <p:cNvSpPr/>
          <p:nvPr/>
        </p:nvSpPr>
        <p:spPr>
          <a:xfrm>
            <a:off x="8165592" y="338328"/>
            <a:ext cx="100584" cy="100584"/>
          </a:xfrm>
          <a:prstGeom prst="ellipse">
            <a:avLst/>
          </a:prstGeom>
          <a:solidFill>
            <a:srgbClr val="D5DED9"/>
          </a:solidFill>
          <a:ln w="12700">
            <a:solidFill>
              <a:srgbClr val="D5DED9"/>
            </a:solidFill>
            <a:prstDash val="solid"/>
          </a:ln>
        </p:spPr>
      </p:sp>
      <p:sp>
        <p:nvSpPr>
          <p:cNvPr id="8" name="dot4"/>
          <p:cNvSpPr/>
          <p:nvPr/>
        </p:nvSpPr>
        <p:spPr>
          <a:xfrm>
            <a:off x="8339328" y="338328"/>
            <a:ext cx="100584" cy="100584"/>
          </a:xfrm>
          <a:prstGeom prst="ellipse">
            <a:avLst/>
          </a:prstGeom>
          <a:solidFill>
            <a:srgbClr val="D5DED9"/>
          </a:solidFill>
          <a:ln w="12700">
            <a:solidFill>
              <a:srgbClr val="D5DED9"/>
            </a:solidFill>
            <a:prstDash val="solid"/>
          </a:ln>
        </p:spPr>
      </p:sp>
      <p:sp>
        <p:nvSpPr>
          <p:cNvPr id="9" name="dot5"/>
          <p:cNvSpPr/>
          <p:nvPr/>
        </p:nvSpPr>
        <p:spPr>
          <a:xfrm>
            <a:off x="8513064" y="338328"/>
            <a:ext cx="100584" cy="100584"/>
          </a:xfrm>
          <a:prstGeom prst="ellipse">
            <a:avLst/>
          </a:prstGeom>
          <a:solidFill>
            <a:srgbClr val="D5DED9"/>
          </a:solidFill>
          <a:ln w="12700">
            <a:solidFill>
              <a:srgbClr val="D5DED9"/>
            </a:solidFill>
            <a:prstDash val="solid"/>
          </a:ln>
        </p:spPr>
      </p:sp>
      <p:sp>
        <p:nvSpPr>
          <p:cNvPr id="11" name="Shape 8"/>
          <p:cNvSpPr/>
          <p:nvPr/>
        </p:nvSpPr>
        <p:spPr>
          <a:xfrm>
            <a:off x="457200" y="1371600"/>
            <a:ext cx="1920240" cy="2331720"/>
          </a:xfrm>
          <a:prstGeom prst="roundRect">
            <a:avLst>
              <a:gd name="adj" fmla="val 3810"/>
            </a:avLst>
          </a:prstGeom>
          <a:solidFill>
            <a:srgbClr val="F4F7F5"/>
          </a:solidFill>
          <a:ln w="9525">
            <a:solidFill>
              <a:srgbClr val="D5DED9"/>
            </a:solidFill>
            <a:prstDash val="solid"/>
          </a:ln>
        </p:spPr>
      </p:sp>
      <p:sp>
        <p:nvSpPr>
          <p:cNvPr id="12" name="Text 9"/>
          <p:cNvSpPr txBox="1"/>
          <p:nvPr/>
        </p:nvSpPr>
        <p:spPr>
          <a:xfrm>
            <a:off x="594360" y="1481328"/>
            <a:ext cx="1645920" cy="365760"/>
          </a:xfrm>
          <a:prstGeom prst="rect">
            <a:avLst/>
          </a:prstGeom>
          <a:noFill/>
          <a:ln/>
        </p:spPr>
        <p:txBody>
          <a:bodyPr wrap="square" lIns="0" tIns="0" rIns="0" bIns="0" rtlCol="0" anchor="t"/>
          <a:lstStyle/>
          <a:p>
            <a:pPr indent="0" marL="0">
              <a:buNone/>
            </a:pPr>
            <a:r>
              <a:rPr lang="en-US" sz="1700" b="1" dirty="0">
                <a:solidFill>
                  <a:srgbClr val="5E6964"/>
                </a:solidFill>
                <a:latin typeface="Calibri" pitchFamily="34" charset="0"/>
                <a:ea typeface="Calibri" pitchFamily="34" charset="-122"/>
                <a:cs typeface="Calibri" pitchFamily="34" charset="-120"/>
              </a:rPr>
              <a:t>VNP46A1</a:t>
            </a:r>
            <a:endParaRPr lang="en-US" sz="1700" dirty="0"/>
          </a:p>
        </p:txBody>
      </p:sp>
      <p:sp>
        <p:nvSpPr>
          <p:cNvPr id="13" name="Text 10"/>
          <p:cNvSpPr txBox="1"/>
          <p:nvPr/>
        </p:nvSpPr>
        <p:spPr>
          <a:xfrm>
            <a:off x="594360" y="1847088"/>
            <a:ext cx="1645920" cy="274320"/>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Quotidien · brut</a:t>
            </a:r>
            <a:endParaRPr lang="en-US" sz="1150" dirty="0"/>
          </a:p>
        </p:txBody>
      </p:sp>
      <p:sp>
        <p:nvSpPr>
          <p:cNvPr id="14" name="Text 11"/>
          <p:cNvSpPr txBox="1"/>
          <p:nvPr/>
        </p:nvSpPr>
        <p:spPr>
          <a:xfrm>
            <a:off x="594360" y="2176272"/>
            <a:ext cx="1645920" cy="548640"/>
          </a:xfrm>
          <a:prstGeom prst="rect">
            <a:avLst/>
          </a:prstGeom>
          <a:noFill/>
          <a:ln/>
        </p:spPr>
        <p:txBody>
          <a:bodyPr wrap="square" lIns="0" tIns="0" rIns="0" bIns="0" rtlCol="0" anchor="t"/>
          <a:lstStyle/>
          <a:p>
            <a:pPr indent="0" marL="0">
              <a:buNone/>
            </a:pPr>
            <a:r>
              <a:rPr lang="en-US" sz="1100" dirty="0">
                <a:solidFill>
                  <a:srgbClr val="5E6964"/>
                </a:solidFill>
                <a:latin typeface="Calibri" pitchFamily="34" charset="0"/>
                <a:ea typeface="Calibri" pitchFamily="34" charset="-122"/>
                <a:cs typeface="Calibri" pitchFamily="34" charset="-120"/>
              </a:rPr>
              <a:t>Radiance au capteur, sans correction</a:t>
            </a:r>
            <a:endParaRPr lang="en-US" sz="1100" dirty="0"/>
          </a:p>
        </p:txBody>
      </p:sp>
      <p:sp>
        <p:nvSpPr>
          <p:cNvPr id="15" name="Text 12"/>
          <p:cNvSpPr txBox="1"/>
          <p:nvPr/>
        </p:nvSpPr>
        <p:spPr>
          <a:xfrm>
            <a:off x="594360" y="2788920"/>
            <a:ext cx="1645920" cy="228600"/>
          </a:xfrm>
          <a:prstGeom prst="rect">
            <a:avLst/>
          </a:prstGeom>
          <a:noFill/>
          <a:ln/>
        </p:spPr>
        <p:txBody>
          <a:bodyPr wrap="square" lIns="0" tIns="0" rIns="0" bIns="0" rtlCol="0" anchor="t"/>
          <a:lstStyle/>
          <a:p>
            <a:pPr indent="0" marL="0">
              <a:buNone/>
            </a:pPr>
            <a:r>
              <a:rPr lang="en-US" sz="950" b="1" spc="200" kern="0" dirty="0">
                <a:solidFill>
                  <a:srgbClr val="5E6964"/>
                </a:solidFill>
                <a:latin typeface="Calibri" pitchFamily="34" charset="0"/>
                <a:ea typeface="Calibri" pitchFamily="34" charset="-122"/>
                <a:cs typeface="Calibri" pitchFamily="34" charset="-120"/>
              </a:rPr>
              <a:t>Usage</a:t>
            </a:r>
            <a:endParaRPr lang="en-US" sz="950" dirty="0"/>
          </a:p>
        </p:txBody>
      </p:sp>
      <p:sp>
        <p:nvSpPr>
          <p:cNvPr id="16" name="Text 13"/>
          <p:cNvSpPr txBox="1"/>
          <p:nvPr/>
        </p:nvSpPr>
        <p:spPr>
          <a:xfrm>
            <a:off x="594360" y="3017520"/>
            <a:ext cx="1645920" cy="548640"/>
          </a:xfrm>
          <a:prstGeom prst="rect">
            <a:avLst/>
          </a:prstGeom>
          <a:noFill/>
          <a:ln/>
        </p:spPr>
        <p:txBody>
          <a:bodyPr wrap="square" lIns="0" tIns="0" rIns="0" bIns="0" rtlCol="0" anchor="t"/>
          <a:lstStyle/>
          <a:p>
            <a:pPr indent="0" marL="0">
              <a:buNone/>
            </a:pPr>
            <a:r>
              <a:rPr lang="en-US" sz="1100" dirty="0">
                <a:solidFill>
                  <a:srgbClr val="231F20"/>
                </a:solidFill>
                <a:latin typeface="Calibri" pitchFamily="34" charset="0"/>
                <a:ea typeface="Calibri" pitchFamily="34" charset="-122"/>
                <a:cs typeface="Calibri" pitchFamily="34" charset="-120"/>
              </a:rPr>
              <a:t>Diagnostic</a:t>
            </a:r>
            <a:endParaRPr lang="en-US" sz="1100" dirty="0"/>
          </a:p>
        </p:txBody>
      </p:sp>
      <p:sp>
        <p:nvSpPr>
          <p:cNvPr id="17" name="Shape 14"/>
          <p:cNvSpPr/>
          <p:nvPr/>
        </p:nvSpPr>
        <p:spPr>
          <a:xfrm>
            <a:off x="2532888" y="1371600"/>
            <a:ext cx="1920240" cy="2331720"/>
          </a:xfrm>
          <a:prstGeom prst="roundRect">
            <a:avLst>
              <a:gd name="adj" fmla="val 3810"/>
            </a:avLst>
          </a:prstGeom>
          <a:solidFill>
            <a:srgbClr val="F4F7F5"/>
          </a:solidFill>
          <a:ln w="9525">
            <a:solidFill>
              <a:srgbClr val="D5DED9"/>
            </a:solidFill>
            <a:prstDash val="solid"/>
          </a:ln>
        </p:spPr>
      </p:sp>
      <p:sp>
        <p:nvSpPr>
          <p:cNvPr id="18" name="Text 15"/>
          <p:cNvSpPr txBox="1"/>
          <p:nvPr/>
        </p:nvSpPr>
        <p:spPr>
          <a:xfrm>
            <a:off x="2670048" y="1481328"/>
            <a:ext cx="1645920" cy="365760"/>
          </a:xfrm>
          <a:prstGeom prst="rect">
            <a:avLst/>
          </a:prstGeom>
          <a:noFill/>
          <a:ln/>
        </p:spPr>
        <p:txBody>
          <a:bodyPr wrap="square" lIns="0" tIns="0" rIns="0" bIns="0" rtlCol="0" anchor="t"/>
          <a:lstStyle/>
          <a:p>
            <a:pPr indent="0" marL="0">
              <a:buNone/>
            </a:pPr>
            <a:r>
              <a:rPr lang="en-US" sz="1700" b="1" dirty="0">
                <a:solidFill>
                  <a:srgbClr val="0E7C86"/>
                </a:solidFill>
                <a:latin typeface="Calibri" pitchFamily="34" charset="0"/>
                <a:ea typeface="Calibri" pitchFamily="34" charset="-122"/>
                <a:cs typeface="Calibri" pitchFamily="34" charset="-120"/>
              </a:rPr>
              <a:t>VNP46A2</a:t>
            </a:r>
            <a:endParaRPr lang="en-US" sz="1700" dirty="0"/>
          </a:p>
        </p:txBody>
      </p:sp>
      <p:sp>
        <p:nvSpPr>
          <p:cNvPr id="19" name="Text 16"/>
          <p:cNvSpPr txBox="1"/>
          <p:nvPr/>
        </p:nvSpPr>
        <p:spPr>
          <a:xfrm>
            <a:off x="2670048" y="1847088"/>
            <a:ext cx="1645920" cy="274320"/>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Quotidien · corrigé</a:t>
            </a:r>
            <a:endParaRPr lang="en-US" sz="1150" dirty="0"/>
          </a:p>
        </p:txBody>
      </p:sp>
      <p:sp>
        <p:nvSpPr>
          <p:cNvPr id="20" name="Text 17"/>
          <p:cNvSpPr txBox="1"/>
          <p:nvPr/>
        </p:nvSpPr>
        <p:spPr>
          <a:xfrm>
            <a:off x="2670048" y="2176272"/>
            <a:ext cx="1645920" cy="548640"/>
          </a:xfrm>
          <a:prstGeom prst="rect">
            <a:avLst/>
          </a:prstGeom>
          <a:noFill/>
          <a:ln/>
        </p:spPr>
        <p:txBody>
          <a:bodyPr wrap="square" lIns="0" tIns="0" rIns="0" bIns="0" rtlCol="0" anchor="t"/>
          <a:lstStyle/>
          <a:p>
            <a:pPr indent="0" marL="0">
              <a:buNone/>
            </a:pPr>
            <a:r>
              <a:rPr lang="en-US" sz="1100" dirty="0">
                <a:solidFill>
                  <a:srgbClr val="5E6964"/>
                </a:solidFill>
                <a:latin typeface="Calibri" pitchFamily="34" charset="0"/>
                <a:ea typeface="Calibri" pitchFamily="34" charset="-122"/>
                <a:cs typeface="Calibri" pitchFamily="34" charset="-120"/>
              </a:rPr>
              <a:t>Nuit corrigée BRDF lunaire</a:t>
            </a:r>
            <a:endParaRPr lang="en-US" sz="1100" dirty="0"/>
          </a:p>
        </p:txBody>
      </p:sp>
      <p:sp>
        <p:nvSpPr>
          <p:cNvPr id="21" name="Text 18"/>
          <p:cNvSpPr txBox="1"/>
          <p:nvPr/>
        </p:nvSpPr>
        <p:spPr>
          <a:xfrm>
            <a:off x="2670048" y="2788920"/>
            <a:ext cx="1645920" cy="228600"/>
          </a:xfrm>
          <a:prstGeom prst="rect">
            <a:avLst/>
          </a:prstGeom>
          <a:noFill/>
          <a:ln/>
        </p:spPr>
        <p:txBody>
          <a:bodyPr wrap="square" lIns="0" tIns="0" rIns="0" bIns="0" rtlCol="0" anchor="t"/>
          <a:lstStyle/>
          <a:p>
            <a:pPr indent="0" marL="0">
              <a:buNone/>
            </a:pPr>
            <a:r>
              <a:rPr lang="en-US" sz="950" b="1" spc="200" kern="0" dirty="0">
                <a:solidFill>
                  <a:srgbClr val="0E7C86"/>
                </a:solidFill>
                <a:latin typeface="Calibri" pitchFamily="34" charset="0"/>
                <a:ea typeface="Calibri" pitchFamily="34" charset="-122"/>
                <a:cs typeface="Calibri" pitchFamily="34" charset="-120"/>
              </a:rPr>
              <a:t>Usage</a:t>
            </a:r>
            <a:endParaRPr lang="en-US" sz="950" dirty="0"/>
          </a:p>
        </p:txBody>
      </p:sp>
      <p:sp>
        <p:nvSpPr>
          <p:cNvPr id="22" name="Text 19"/>
          <p:cNvSpPr txBox="1"/>
          <p:nvPr/>
        </p:nvSpPr>
        <p:spPr>
          <a:xfrm>
            <a:off x="2670048" y="3017520"/>
            <a:ext cx="1645920" cy="548640"/>
          </a:xfrm>
          <a:prstGeom prst="rect">
            <a:avLst/>
          </a:prstGeom>
          <a:noFill/>
          <a:ln/>
        </p:spPr>
        <p:txBody>
          <a:bodyPr wrap="square" lIns="0" tIns="0" rIns="0" bIns="0" rtlCol="0" anchor="t"/>
          <a:lstStyle/>
          <a:p>
            <a:pPr indent="0" marL="0">
              <a:buNone/>
            </a:pPr>
            <a:r>
              <a:rPr lang="en-US" sz="1100" dirty="0">
                <a:solidFill>
                  <a:srgbClr val="231F20"/>
                </a:solidFill>
                <a:latin typeface="Calibri" pitchFamily="34" charset="0"/>
                <a:ea typeface="Calibri" pitchFamily="34" charset="-122"/>
                <a:cs typeface="Calibri" pitchFamily="34" charset="-120"/>
              </a:rPr>
              <a:t>Événements datés : coupures, catastrophes</a:t>
            </a:r>
            <a:endParaRPr lang="en-US" sz="1100" dirty="0"/>
          </a:p>
        </p:txBody>
      </p:sp>
      <p:sp>
        <p:nvSpPr>
          <p:cNvPr id="23" name="Shape 20"/>
          <p:cNvSpPr/>
          <p:nvPr/>
        </p:nvSpPr>
        <p:spPr>
          <a:xfrm>
            <a:off x="4608576" y="1371600"/>
            <a:ext cx="1920240" cy="2331720"/>
          </a:xfrm>
          <a:prstGeom prst="roundRect">
            <a:avLst>
              <a:gd name="adj" fmla="val 3810"/>
            </a:avLst>
          </a:prstGeom>
          <a:solidFill>
            <a:srgbClr val="F4F7F5"/>
          </a:solidFill>
          <a:ln w="9525">
            <a:solidFill>
              <a:srgbClr val="D5DED9"/>
            </a:solidFill>
            <a:prstDash val="solid"/>
          </a:ln>
        </p:spPr>
      </p:sp>
      <p:sp>
        <p:nvSpPr>
          <p:cNvPr id="24" name="Text 21"/>
          <p:cNvSpPr txBox="1"/>
          <p:nvPr/>
        </p:nvSpPr>
        <p:spPr>
          <a:xfrm>
            <a:off x="4745736" y="1481328"/>
            <a:ext cx="1645920" cy="365760"/>
          </a:xfrm>
          <a:prstGeom prst="rect">
            <a:avLst/>
          </a:prstGeom>
          <a:noFill/>
          <a:ln/>
        </p:spPr>
        <p:txBody>
          <a:bodyPr wrap="square" lIns="0" tIns="0" rIns="0" bIns="0" rtlCol="0" anchor="t"/>
          <a:lstStyle/>
          <a:p>
            <a:pPr indent="0" marL="0">
              <a:buNone/>
            </a:pPr>
            <a:r>
              <a:rPr lang="en-US" sz="1700" b="1" dirty="0">
                <a:solidFill>
                  <a:srgbClr val="00704A"/>
                </a:solidFill>
                <a:latin typeface="Calibri" pitchFamily="34" charset="0"/>
                <a:ea typeface="Calibri" pitchFamily="34" charset="-122"/>
                <a:cs typeface="Calibri" pitchFamily="34" charset="-120"/>
              </a:rPr>
              <a:t>VNP46A3</a:t>
            </a:r>
            <a:endParaRPr lang="en-US" sz="1700" dirty="0"/>
          </a:p>
        </p:txBody>
      </p:sp>
      <p:sp>
        <p:nvSpPr>
          <p:cNvPr id="25" name="Text 22"/>
          <p:cNvSpPr txBox="1"/>
          <p:nvPr/>
        </p:nvSpPr>
        <p:spPr>
          <a:xfrm>
            <a:off x="4745736" y="1847088"/>
            <a:ext cx="1645920" cy="274320"/>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Composite mensuel</a:t>
            </a:r>
            <a:endParaRPr lang="en-US" sz="1150" dirty="0"/>
          </a:p>
        </p:txBody>
      </p:sp>
      <p:sp>
        <p:nvSpPr>
          <p:cNvPr id="26" name="Text 23"/>
          <p:cNvSpPr txBox="1"/>
          <p:nvPr/>
        </p:nvSpPr>
        <p:spPr>
          <a:xfrm>
            <a:off x="4745736" y="2176272"/>
            <a:ext cx="1645920" cy="548640"/>
          </a:xfrm>
          <a:prstGeom prst="rect">
            <a:avLst/>
          </a:prstGeom>
          <a:noFill/>
          <a:ln/>
        </p:spPr>
        <p:txBody>
          <a:bodyPr wrap="square" lIns="0" tIns="0" rIns="0" bIns="0" rtlCol="0" anchor="t"/>
          <a:lstStyle/>
          <a:p>
            <a:pPr indent="0" marL="0">
              <a:buNone/>
            </a:pPr>
            <a:r>
              <a:rPr lang="en-US" sz="1100" dirty="0">
                <a:solidFill>
                  <a:srgbClr val="5E6964"/>
                </a:solidFill>
                <a:latin typeface="Calibri" pitchFamily="34" charset="0"/>
                <a:ea typeface="Calibri" pitchFamily="34" charset="-122"/>
                <a:cs typeface="Calibri" pitchFamily="34" charset="-120"/>
              </a:rPr>
              <a:t>Nuages et aberrants retirés</a:t>
            </a:r>
            <a:endParaRPr lang="en-US" sz="1100" dirty="0"/>
          </a:p>
        </p:txBody>
      </p:sp>
      <p:sp>
        <p:nvSpPr>
          <p:cNvPr id="27" name="Text 24"/>
          <p:cNvSpPr txBox="1"/>
          <p:nvPr/>
        </p:nvSpPr>
        <p:spPr>
          <a:xfrm>
            <a:off x="4745736" y="2788920"/>
            <a:ext cx="1645920" cy="228600"/>
          </a:xfrm>
          <a:prstGeom prst="rect">
            <a:avLst/>
          </a:prstGeom>
          <a:noFill/>
          <a:ln/>
        </p:spPr>
        <p:txBody>
          <a:bodyPr wrap="square" lIns="0" tIns="0" rIns="0" bIns="0" rtlCol="0" anchor="t"/>
          <a:lstStyle/>
          <a:p>
            <a:pPr indent="0" marL="0">
              <a:buNone/>
            </a:pPr>
            <a:r>
              <a:rPr lang="en-US" sz="950" b="1" spc="200" kern="0" dirty="0">
                <a:solidFill>
                  <a:srgbClr val="00704A"/>
                </a:solidFill>
                <a:latin typeface="Calibri" pitchFamily="34" charset="0"/>
                <a:ea typeface="Calibri" pitchFamily="34" charset="-122"/>
                <a:cs typeface="Calibri" pitchFamily="34" charset="-120"/>
              </a:rPr>
              <a:t>Usage</a:t>
            </a:r>
            <a:endParaRPr lang="en-US" sz="950" dirty="0"/>
          </a:p>
        </p:txBody>
      </p:sp>
      <p:sp>
        <p:nvSpPr>
          <p:cNvPr id="28" name="Text 25"/>
          <p:cNvSpPr txBox="1"/>
          <p:nvPr/>
        </p:nvSpPr>
        <p:spPr>
          <a:xfrm>
            <a:off x="4745736" y="3017520"/>
            <a:ext cx="1645920" cy="548640"/>
          </a:xfrm>
          <a:prstGeom prst="rect">
            <a:avLst/>
          </a:prstGeom>
          <a:noFill/>
          <a:ln/>
        </p:spPr>
        <p:txBody>
          <a:bodyPr wrap="square" lIns="0" tIns="0" rIns="0" bIns="0" rtlCol="0" anchor="t"/>
          <a:lstStyle/>
          <a:p>
            <a:pPr indent="0" marL="0">
              <a:buNone/>
            </a:pPr>
            <a:r>
              <a:rPr lang="en-US" sz="1100" dirty="0">
                <a:solidFill>
                  <a:srgbClr val="231F20"/>
                </a:solidFill>
                <a:latin typeface="Calibri" pitchFamily="34" charset="0"/>
                <a:ea typeface="Calibri" pitchFamily="34" charset="-122"/>
                <a:cs typeface="Calibri" pitchFamily="34" charset="-120"/>
              </a:rPr>
              <a:t>Saisonnalité, séries mensuelles</a:t>
            </a:r>
            <a:endParaRPr lang="en-US" sz="1100" dirty="0"/>
          </a:p>
        </p:txBody>
      </p:sp>
      <p:sp>
        <p:nvSpPr>
          <p:cNvPr id="29" name="Shape 26"/>
          <p:cNvSpPr/>
          <p:nvPr/>
        </p:nvSpPr>
        <p:spPr>
          <a:xfrm>
            <a:off x="6684264" y="1371600"/>
            <a:ext cx="1920240" cy="2331720"/>
          </a:xfrm>
          <a:prstGeom prst="roundRect">
            <a:avLst>
              <a:gd name="adj" fmla="val 3810"/>
            </a:avLst>
          </a:prstGeom>
          <a:solidFill>
            <a:srgbClr val="E8F5EF"/>
          </a:solidFill>
          <a:ln w="15875">
            <a:solidFill>
              <a:srgbClr val="00A86A"/>
            </a:solidFill>
            <a:prstDash val="solid"/>
          </a:ln>
        </p:spPr>
      </p:sp>
      <p:sp>
        <p:nvSpPr>
          <p:cNvPr id="30" name="Text 27"/>
          <p:cNvSpPr txBox="1"/>
          <p:nvPr/>
        </p:nvSpPr>
        <p:spPr>
          <a:xfrm>
            <a:off x="6821424" y="1481328"/>
            <a:ext cx="1645920" cy="365760"/>
          </a:xfrm>
          <a:prstGeom prst="rect">
            <a:avLst/>
          </a:prstGeom>
          <a:noFill/>
          <a:ln/>
        </p:spPr>
        <p:txBody>
          <a:bodyPr wrap="square" lIns="0" tIns="0" rIns="0" bIns="0" rtlCol="0" anchor="t"/>
          <a:lstStyle/>
          <a:p>
            <a:pPr indent="0" marL="0">
              <a:buNone/>
            </a:pPr>
            <a:r>
              <a:rPr lang="en-US" sz="1700" b="1" dirty="0">
                <a:solidFill>
                  <a:srgbClr val="00A86A"/>
                </a:solidFill>
                <a:latin typeface="Calibri" pitchFamily="34" charset="0"/>
                <a:ea typeface="Calibri" pitchFamily="34" charset="-122"/>
                <a:cs typeface="Calibri" pitchFamily="34" charset="-120"/>
              </a:rPr>
              <a:t>VNP46A4</a:t>
            </a:r>
            <a:endParaRPr lang="en-US" sz="1700" dirty="0"/>
          </a:p>
        </p:txBody>
      </p:sp>
      <p:sp>
        <p:nvSpPr>
          <p:cNvPr id="31" name="Text 28"/>
          <p:cNvSpPr txBox="1"/>
          <p:nvPr/>
        </p:nvSpPr>
        <p:spPr>
          <a:xfrm>
            <a:off x="6821424" y="1847088"/>
            <a:ext cx="1645920" cy="274320"/>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Composite annuel</a:t>
            </a:r>
            <a:endParaRPr lang="en-US" sz="1150" dirty="0"/>
          </a:p>
        </p:txBody>
      </p:sp>
      <p:sp>
        <p:nvSpPr>
          <p:cNvPr id="32" name="Text 29"/>
          <p:cNvSpPr txBox="1"/>
          <p:nvPr/>
        </p:nvSpPr>
        <p:spPr>
          <a:xfrm>
            <a:off x="6821424" y="2176272"/>
            <a:ext cx="1645920" cy="548640"/>
          </a:xfrm>
          <a:prstGeom prst="rect">
            <a:avLst/>
          </a:prstGeom>
          <a:noFill/>
          <a:ln/>
        </p:spPr>
        <p:txBody>
          <a:bodyPr wrap="square" lIns="0" tIns="0" rIns="0" bIns="0" rtlCol="0" anchor="t"/>
          <a:lstStyle/>
          <a:p>
            <a:pPr indent="0" marL="0">
              <a:buNone/>
            </a:pPr>
            <a:r>
              <a:rPr lang="en-US" sz="1100" dirty="0">
                <a:solidFill>
                  <a:srgbClr val="5E6964"/>
                </a:solidFill>
                <a:latin typeface="Calibri" pitchFamily="34" charset="0"/>
                <a:ea typeface="Calibri" pitchFamily="34" charset="-122"/>
                <a:cs typeface="Calibri" pitchFamily="34" charset="-120"/>
              </a:rPr>
              <a:t>Le plus stable des quatre</a:t>
            </a:r>
            <a:endParaRPr lang="en-US" sz="1100" dirty="0"/>
          </a:p>
        </p:txBody>
      </p:sp>
      <p:sp>
        <p:nvSpPr>
          <p:cNvPr id="33" name="Text 30"/>
          <p:cNvSpPr txBox="1"/>
          <p:nvPr/>
        </p:nvSpPr>
        <p:spPr>
          <a:xfrm>
            <a:off x="6821424" y="2788920"/>
            <a:ext cx="1645920" cy="228600"/>
          </a:xfrm>
          <a:prstGeom prst="rect">
            <a:avLst/>
          </a:prstGeom>
          <a:noFill/>
          <a:ln/>
        </p:spPr>
        <p:txBody>
          <a:bodyPr wrap="square" lIns="0" tIns="0" rIns="0" bIns="0" rtlCol="0" anchor="t"/>
          <a:lstStyle/>
          <a:p>
            <a:pPr indent="0" marL="0">
              <a:buNone/>
            </a:pPr>
            <a:r>
              <a:rPr lang="en-US" sz="950" b="1" spc="200" kern="0" dirty="0">
                <a:solidFill>
                  <a:srgbClr val="00A86A"/>
                </a:solidFill>
                <a:latin typeface="Calibri" pitchFamily="34" charset="0"/>
                <a:ea typeface="Calibri" pitchFamily="34" charset="-122"/>
                <a:cs typeface="Calibri" pitchFamily="34" charset="-120"/>
              </a:rPr>
              <a:t>Usage</a:t>
            </a:r>
            <a:endParaRPr lang="en-US" sz="950" dirty="0"/>
          </a:p>
        </p:txBody>
      </p:sp>
      <p:sp>
        <p:nvSpPr>
          <p:cNvPr id="34" name="Text 31"/>
          <p:cNvSpPr txBox="1"/>
          <p:nvPr/>
        </p:nvSpPr>
        <p:spPr>
          <a:xfrm>
            <a:off x="6821424" y="3017520"/>
            <a:ext cx="1645920" cy="548640"/>
          </a:xfrm>
          <a:prstGeom prst="rect">
            <a:avLst/>
          </a:prstGeom>
          <a:noFill/>
          <a:ln/>
        </p:spPr>
        <p:txBody>
          <a:bodyPr wrap="square" lIns="0" tIns="0" rIns="0" bIns="0" rtlCol="0" anchor="t"/>
          <a:lstStyle/>
          <a:p>
            <a:pPr indent="0" marL="0">
              <a:buNone/>
            </a:pPr>
            <a:r>
              <a:rPr lang="en-US" sz="1100" dirty="0">
                <a:solidFill>
                  <a:srgbClr val="231F20"/>
                </a:solidFill>
                <a:latin typeface="Calibri" pitchFamily="34" charset="0"/>
                <a:ea typeface="Calibri" pitchFamily="34" charset="-122"/>
                <a:cs typeface="Calibri" pitchFamily="34" charset="-120"/>
              </a:rPr>
              <a:t>Tendances, comparaisons régionales</a:t>
            </a:r>
            <a:endParaRPr lang="en-US" sz="1100" dirty="0"/>
          </a:p>
        </p:txBody>
      </p:sp>
      <p:sp>
        <p:nvSpPr>
          <p:cNvPr id="35" name="Shape 32"/>
          <p:cNvSpPr/>
          <p:nvPr/>
        </p:nvSpPr>
        <p:spPr>
          <a:xfrm>
            <a:off x="457200" y="3931920"/>
            <a:ext cx="1600200" cy="256032"/>
          </a:xfrm>
          <a:prstGeom prst="roundRect">
            <a:avLst>
              <a:gd name="adj" fmla="val 50000"/>
            </a:avLst>
          </a:prstGeom>
          <a:solidFill>
            <a:srgbClr val="00704A">
              <a:alpha val="15000"/>
            </a:srgbClr>
          </a:solidFill>
          <a:ln w="9525">
            <a:solidFill>
              <a:srgbClr val="00704A"/>
            </a:solidFill>
            <a:prstDash val="solid"/>
          </a:ln>
        </p:spPr>
      </p:sp>
      <p:sp>
        <p:nvSpPr>
          <p:cNvPr id="36" name="Text 33"/>
          <p:cNvSpPr txBox="1"/>
          <p:nvPr/>
        </p:nvSpPr>
        <p:spPr>
          <a:xfrm>
            <a:off x="457200" y="3931920"/>
            <a:ext cx="1600200" cy="256032"/>
          </a:xfrm>
          <a:prstGeom prst="rect">
            <a:avLst/>
          </a:prstGeom>
          <a:noFill/>
          <a:ln/>
        </p:spPr>
        <p:txBody>
          <a:bodyPr wrap="square" lIns="0" tIns="0" rIns="0" bIns="0" rtlCol="0" anchor="ctr"/>
          <a:lstStyle/>
          <a:p>
            <a:pPr algn="ctr" indent="0" marL="0">
              <a:buNone/>
            </a:pPr>
            <a:r>
              <a:rPr lang="en-US" sz="1000" b="1" dirty="0">
                <a:solidFill>
                  <a:srgbClr val="00704A"/>
                </a:solidFill>
                <a:latin typeface="Calibri" pitchFamily="34" charset="0"/>
                <a:ea typeface="Calibri" pitchFamily="34" charset="-122"/>
                <a:cs typeface="Calibri" pitchFamily="34" charset="-120"/>
              </a:rPr>
              <a:t>Grille de tuiles 10° × 10°</a:t>
            </a:r>
            <a:endParaRPr lang="en-US" sz="1000" dirty="0"/>
          </a:p>
        </p:txBody>
      </p:sp>
      <p:sp>
        <p:nvSpPr>
          <p:cNvPr id="37" name="Shape 34"/>
          <p:cNvSpPr/>
          <p:nvPr/>
        </p:nvSpPr>
        <p:spPr>
          <a:xfrm>
            <a:off x="2167128" y="3931920"/>
            <a:ext cx="1965960" cy="256032"/>
          </a:xfrm>
          <a:prstGeom prst="roundRect">
            <a:avLst>
              <a:gd name="adj" fmla="val 50000"/>
            </a:avLst>
          </a:prstGeom>
          <a:solidFill>
            <a:srgbClr val="00704A">
              <a:alpha val="15000"/>
            </a:srgbClr>
          </a:solidFill>
          <a:ln w="9525">
            <a:solidFill>
              <a:srgbClr val="00704A"/>
            </a:solidFill>
            <a:prstDash val="solid"/>
          </a:ln>
        </p:spPr>
      </p:sp>
      <p:sp>
        <p:nvSpPr>
          <p:cNvPr id="38" name="Text 35"/>
          <p:cNvSpPr txBox="1"/>
          <p:nvPr/>
        </p:nvSpPr>
        <p:spPr>
          <a:xfrm>
            <a:off x="2167128" y="3931920"/>
            <a:ext cx="1965960" cy="256032"/>
          </a:xfrm>
          <a:prstGeom prst="rect">
            <a:avLst/>
          </a:prstGeom>
          <a:noFill/>
          <a:ln/>
        </p:spPr>
        <p:txBody>
          <a:bodyPr wrap="square" lIns="0" tIns="0" rIns="0" bIns="0" rtlCol="0" anchor="ctr"/>
          <a:lstStyle/>
          <a:p>
            <a:pPr algn="ctr" indent="0" marL="0">
              <a:buNone/>
            </a:pPr>
            <a:r>
              <a:rPr lang="en-US" sz="1000" b="1" dirty="0">
                <a:solidFill>
                  <a:srgbClr val="00704A"/>
                </a:solidFill>
                <a:latin typeface="Calibri" pitchFamily="34" charset="0"/>
                <a:ea typeface="Calibri" pitchFamily="34" charset="-122"/>
                <a:cs typeface="Calibri" pitchFamily="34" charset="-120"/>
              </a:rPr>
              <a:t>2 400 × 2 400 pixels par tuile</a:t>
            </a:r>
            <a:endParaRPr lang="en-US" sz="1000" dirty="0"/>
          </a:p>
        </p:txBody>
      </p:sp>
      <p:sp>
        <p:nvSpPr>
          <p:cNvPr id="39" name="Shape 36"/>
          <p:cNvSpPr/>
          <p:nvPr/>
        </p:nvSpPr>
        <p:spPr>
          <a:xfrm>
            <a:off x="4242816" y="3931920"/>
            <a:ext cx="1188720" cy="256032"/>
          </a:xfrm>
          <a:prstGeom prst="roundRect">
            <a:avLst>
              <a:gd name="adj" fmla="val 50000"/>
            </a:avLst>
          </a:prstGeom>
          <a:solidFill>
            <a:srgbClr val="00704A">
              <a:alpha val="15000"/>
            </a:srgbClr>
          </a:solidFill>
          <a:ln w="9525">
            <a:solidFill>
              <a:srgbClr val="00704A"/>
            </a:solidFill>
            <a:prstDash val="solid"/>
          </a:ln>
        </p:spPr>
      </p:sp>
      <p:sp>
        <p:nvSpPr>
          <p:cNvPr id="40" name="Text 37"/>
          <p:cNvSpPr txBox="1"/>
          <p:nvPr/>
        </p:nvSpPr>
        <p:spPr>
          <a:xfrm>
            <a:off x="4242816" y="3931920"/>
            <a:ext cx="1188720" cy="256032"/>
          </a:xfrm>
          <a:prstGeom prst="rect">
            <a:avLst/>
          </a:prstGeom>
          <a:noFill/>
          <a:ln/>
        </p:spPr>
        <p:txBody>
          <a:bodyPr wrap="square" lIns="0" tIns="0" rIns="0" bIns="0" rtlCol="0" anchor="ctr"/>
          <a:lstStyle/>
          <a:p>
            <a:pPr algn="ctr" indent="0" marL="0">
              <a:buNone/>
            </a:pPr>
            <a:r>
              <a:rPr lang="en-US" sz="1000" b="1" dirty="0">
                <a:solidFill>
                  <a:srgbClr val="00704A"/>
                </a:solidFill>
                <a:latin typeface="Calibri" pitchFamily="34" charset="0"/>
                <a:ea typeface="Calibri" pitchFamily="34" charset="-122"/>
                <a:cs typeface="Calibri" pitchFamily="34" charset="-120"/>
              </a:rPr>
              <a:t>nW·cm⁻²·sr⁻¹</a:t>
            </a:r>
            <a:endParaRPr lang="en-US" sz="1000" dirty="0"/>
          </a:p>
        </p:txBody>
      </p:sp>
      <p:sp>
        <p:nvSpPr>
          <p:cNvPr id="41" name="Shape 38"/>
          <p:cNvSpPr/>
          <p:nvPr/>
        </p:nvSpPr>
        <p:spPr>
          <a:xfrm>
            <a:off x="5541264" y="3931920"/>
            <a:ext cx="1188720" cy="256032"/>
          </a:xfrm>
          <a:prstGeom prst="roundRect">
            <a:avLst>
              <a:gd name="adj" fmla="val 50000"/>
            </a:avLst>
          </a:prstGeom>
          <a:solidFill>
            <a:srgbClr val="00704A">
              <a:alpha val="15000"/>
            </a:srgbClr>
          </a:solidFill>
          <a:ln w="9525">
            <a:solidFill>
              <a:srgbClr val="00704A"/>
            </a:solidFill>
            <a:prstDash val="solid"/>
          </a:ln>
        </p:spPr>
      </p:sp>
      <p:sp>
        <p:nvSpPr>
          <p:cNvPr id="42" name="Text 39"/>
          <p:cNvSpPr txBox="1"/>
          <p:nvPr/>
        </p:nvSpPr>
        <p:spPr>
          <a:xfrm>
            <a:off x="5541264" y="3931920"/>
            <a:ext cx="1188720" cy="256032"/>
          </a:xfrm>
          <a:prstGeom prst="rect">
            <a:avLst/>
          </a:prstGeom>
          <a:noFill/>
          <a:ln/>
        </p:spPr>
        <p:txBody>
          <a:bodyPr wrap="square" lIns="0" tIns="0" rIns="0" bIns="0" rtlCol="0" anchor="ctr"/>
          <a:lstStyle/>
          <a:p>
            <a:pPr algn="ctr" indent="0" marL="0">
              <a:buNone/>
            </a:pPr>
            <a:r>
              <a:rPr lang="en-US" sz="1000" b="1" dirty="0">
                <a:solidFill>
                  <a:srgbClr val="00704A"/>
                </a:solidFill>
                <a:latin typeface="Calibri" pitchFamily="34" charset="0"/>
                <a:ea typeface="Calibri" pitchFamily="34" charset="-122"/>
                <a:cs typeface="Calibri" pitchFamily="34" charset="-120"/>
              </a:rPr>
              <a:t>HDF-EOS5 (.h5)</a:t>
            </a:r>
            <a:endParaRPr lang="en-US" sz="1000" dirty="0"/>
          </a:p>
        </p:txBody>
      </p:sp>
      <p:sp>
        <p:nvSpPr>
          <p:cNvPr id="43" name="Shape 40"/>
          <p:cNvSpPr/>
          <p:nvPr/>
        </p:nvSpPr>
        <p:spPr>
          <a:xfrm>
            <a:off x="6839712" y="3931920"/>
            <a:ext cx="1691640" cy="256032"/>
          </a:xfrm>
          <a:prstGeom prst="roundRect">
            <a:avLst>
              <a:gd name="adj" fmla="val 50000"/>
            </a:avLst>
          </a:prstGeom>
          <a:solidFill>
            <a:srgbClr val="00704A">
              <a:alpha val="15000"/>
            </a:srgbClr>
          </a:solidFill>
          <a:ln w="9525">
            <a:solidFill>
              <a:srgbClr val="00704A"/>
            </a:solidFill>
            <a:prstDash val="solid"/>
          </a:ln>
        </p:spPr>
      </p:sp>
      <p:sp>
        <p:nvSpPr>
          <p:cNvPr id="44" name="Text 41"/>
          <p:cNvSpPr txBox="1"/>
          <p:nvPr/>
        </p:nvSpPr>
        <p:spPr>
          <a:xfrm>
            <a:off x="6839712" y="3931920"/>
            <a:ext cx="1691640" cy="256032"/>
          </a:xfrm>
          <a:prstGeom prst="rect">
            <a:avLst/>
          </a:prstGeom>
          <a:noFill/>
          <a:ln/>
        </p:spPr>
        <p:txBody>
          <a:bodyPr wrap="square" lIns="0" tIns="0" rIns="0" bIns="0" rtlCol="0" anchor="ctr"/>
          <a:lstStyle/>
          <a:p>
            <a:pPr algn="ctr" indent="0" marL="0">
              <a:buNone/>
            </a:pPr>
            <a:r>
              <a:rPr lang="en-US" sz="1000" b="1" dirty="0">
                <a:solidFill>
                  <a:srgbClr val="00704A"/>
                </a:solidFill>
                <a:latin typeface="Calibri" pitchFamily="34" charset="0"/>
                <a:ea typeface="Calibri" pitchFamily="34" charset="-122"/>
                <a:cs typeface="Calibri" pitchFamily="34" charset="-120"/>
              </a:rPr>
              <a:t>Collection 2 (v002)</a:t>
            </a:r>
            <a:endParaRPr lang="en-US" sz="1000" dirty="0"/>
          </a:p>
        </p:txBody>
      </p:sp>
      <p:sp>
        <p:nvSpPr>
          <p:cNvPr id="45" name="Text 42"/>
          <p:cNvSpPr txBox="1"/>
          <p:nvPr/>
        </p:nvSpPr>
        <p:spPr>
          <a:xfrm>
            <a:off x="457200" y="4553712"/>
            <a:ext cx="7223760" cy="219456"/>
          </a:xfrm>
          <a:prstGeom prst="rect">
            <a:avLst/>
          </a:prstGeom>
          <a:noFill/>
          <a:ln/>
        </p:spPr>
        <p:txBody>
          <a:bodyPr wrap="square" lIns="0" tIns="0" rIns="0" bIns="0" rtlCol="0" anchor="ctr"/>
          <a:lstStyle/>
          <a:p>
            <a:pPr indent="0" marL="0">
              <a:buNone/>
            </a:pPr>
            <a:r>
              <a:rPr lang="en-US" sz="900" i="1" dirty="0">
                <a:solidFill>
                  <a:srgbClr val="5E6964"/>
                </a:solidFill>
                <a:latin typeface="Calibri" pitchFamily="34" charset="0"/>
                <a:ea typeface="Calibri" pitchFamily="34" charset="-122"/>
                <a:cs typeface="Calibri" pitchFamily="34" charset="-120"/>
              </a:rPr>
              <a:t>Sources : Román et al. (2018) ; NASA Black Marble User Guide, Collection 2.0 (2025) ; LAADS DAAC</a:t>
            </a:r>
            <a:endParaRPr lang="en-US" sz="9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8A9590"/>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3"/>
          <p:cNvSpPr/>
          <p:nvPr>
            <p:ph idx="105" type="body" hasCustomPrompt="1"/>
          </p:nvPr>
        </p:nvSpPr>
        <p:spPr>
          <a:xfrm>
            <a:off x="457200" y="274320"/>
            <a:ext cx="6217920" cy="256032"/>
          </a:xfrm>
          <a:prstGeom prst="rect">
            <a:avLst/>
          </a:prstGeom>
          <a:noFill/>
          <a:ln/>
        </p:spPr>
        <p:txBody>
          <a:bodyPr wrap="square" lIns="0" tIns="0" rIns="0" bIns="0" rtlCol="0" anchor="ctr"/>
          <a:lstStyle/>
          <a:p>
            <a:pPr algn="l" indent="0" marL="0">
              <a:buNone/>
            </a:pPr>
            <a:r>
              <a:rPr lang="en-US" sz="1050" b="1" spc="300" kern="0" dirty="0">
                <a:solidFill>
                  <a:srgbClr val="00704A"/>
                </a:solidFill>
                <a:latin typeface="Calibri" pitchFamily="34" charset="0"/>
                <a:ea typeface="Calibri" pitchFamily="34" charset="-122"/>
                <a:cs typeface="Calibri" pitchFamily="34" charset="-120"/>
              </a:rPr>
              <a:t>02 · COLLECTER · CALCUL</a:t>
            </a:r>
            <a:endParaRPr lang="en-US" sz="1050" dirty="0"/>
          </a:p>
        </p:txBody>
      </p:sp>
      <p:sp>
        <p:nvSpPr>
          <p:cNvPr id="3" name="Text 3"/>
          <p:cNvSpPr/>
          <p:nvPr>
            <p:ph idx="106" type="title" hasCustomPrompt="1"/>
          </p:nvPr>
        </p:nvSpPr>
        <p:spPr>
          <a:xfrm>
            <a:off x="457200" y="548640"/>
            <a:ext cx="8229600" cy="566928"/>
          </a:xfrm>
          <a:prstGeom prst="rect">
            <a:avLst/>
          </a:prstGeom>
          <a:noFill/>
          <a:ln/>
        </p:spPr>
        <p:txBody>
          <a:bodyPr wrap="square" lIns="0" tIns="0" rIns="0" bIns="0" rtlCol="0" anchor="ctr"/>
          <a:lstStyle/>
          <a:p>
            <a:pPr algn="l" indent="0" marL="0">
              <a:buNone/>
            </a:pPr>
            <a:r>
              <a:rPr lang="en-US" sz="2800" b="1" dirty="0">
                <a:solidFill>
                  <a:srgbClr val="231F20"/>
                </a:solidFill>
                <a:latin typeface="Calibri" pitchFamily="34" charset="0"/>
                <a:ea typeface="Calibri" pitchFamily="34" charset="-122"/>
                <a:cs typeface="Calibri" pitchFamily="34" charset="-120"/>
              </a:rPr>
              <a:t>D'un code pays aux tuiles, par simple arithmétique</a:t>
            </a:r>
            <a:endParaRPr lang="en-US" sz="2800" dirty="0"/>
          </a:p>
        </p:txBody>
      </p:sp>
      <p:sp>
        <p:nvSpPr>
          <p:cNvPr id="4" name="dot0"/>
          <p:cNvSpPr/>
          <p:nvPr/>
        </p:nvSpPr>
        <p:spPr>
          <a:xfrm>
            <a:off x="7644384" y="338328"/>
            <a:ext cx="100584" cy="100584"/>
          </a:xfrm>
          <a:prstGeom prst="ellipse">
            <a:avLst/>
          </a:prstGeom>
          <a:solidFill>
            <a:srgbClr val="D5DED9"/>
          </a:solidFill>
          <a:ln w="12700">
            <a:solidFill>
              <a:srgbClr val="D5DED9"/>
            </a:solidFill>
            <a:prstDash val="solid"/>
          </a:ln>
        </p:spPr>
      </p:sp>
      <p:sp>
        <p:nvSpPr>
          <p:cNvPr id="5" name="dot1"/>
          <p:cNvSpPr/>
          <p:nvPr/>
        </p:nvSpPr>
        <p:spPr>
          <a:xfrm>
            <a:off x="7818120" y="338328"/>
            <a:ext cx="100584" cy="100584"/>
          </a:xfrm>
          <a:prstGeom prst="ellipse">
            <a:avLst/>
          </a:prstGeom>
          <a:solidFill>
            <a:srgbClr val="00704A"/>
          </a:solidFill>
          <a:ln w="12700">
            <a:solidFill>
              <a:srgbClr val="00704A"/>
            </a:solidFill>
            <a:prstDash val="solid"/>
          </a:ln>
        </p:spPr>
      </p:sp>
      <p:sp>
        <p:nvSpPr>
          <p:cNvPr id="6" name="dot2"/>
          <p:cNvSpPr/>
          <p:nvPr/>
        </p:nvSpPr>
        <p:spPr>
          <a:xfrm>
            <a:off x="7991856" y="338328"/>
            <a:ext cx="100584" cy="100584"/>
          </a:xfrm>
          <a:prstGeom prst="ellipse">
            <a:avLst/>
          </a:prstGeom>
          <a:solidFill>
            <a:srgbClr val="D5DED9"/>
          </a:solidFill>
          <a:ln w="12700">
            <a:solidFill>
              <a:srgbClr val="D5DED9"/>
            </a:solidFill>
            <a:prstDash val="solid"/>
          </a:ln>
        </p:spPr>
      </p:sp>
      <p:sp>
        <p:nvSpPr>
          <p:cNvPr id="7" name="dot3"/>
          <p:cNvSpPr/>
          <p:nvPr/>
        </p:nvSpPr>
        <p:spPr>
          <a:xfrm>
            <a:off x="8165592" y="338328"/>
            <a:ext cx="100584" cy="100584"/>
          </a:xfrm>
          <a:prstGeom prst="ellipse">
            <a:avLst/>
          </a:prstGeom>
          <a:solidFill>
            <a:srgbClr val="D5DED9"/>
          </a:solidFill>
          <a:ln w="12700">
            <a:solidFill>
              <a:srgbClr val="D5DED9"/>
            </a:solidFill>
            <a:prstDash val="solid"/>
          </a:ln>
        </p:spPr>
      </p:sp>
      <p:sp>
        <p:nvSpPr>
          <p:cNvPr id="8" name="dot4"/>
          <p:cNvSpPr/>
          <p:nvPr/>
        </p:nvSpPr>
        <p:spPr>
          <a:xfrm>
            <a:off x="8339328" y="338328"/>
            <a:ext cx="100584" cy="100584"/>
          </a:xfrm>
          <a:prstGeom prst="ellipse">
            <a:avLst/>
          </a:prstGeom>
          <a:solidFill>
            <a:srgbClr val="D5DED9"/>
          </a:solidFill>
          <a:ln w="12700">
            <a:solidFill>
              <a:srgbClr val="D5DED9"/>
            </a:solidFill>
            <a:prstDash val="solid"/>
          </a:ln>
        </p:spPr>
      </p:sp>
      <p:sp>
        <p:nvSpPr>
          <p:cNvPr id="9" name="dot5"/>
          <p:cNvSpPr/>
          <p:nvPr/>
        </p:nvSpPr>
        <p:spPr>
          <a:xfrm>
            <a:off x="8513064" y="338328"/>
            <a:ext cx="100584" cy="100584"/>
          </a:xfrm>
          <a:prstGeom prst="ellipse">
            <a:avLst/>
          </a:prstGeom>
          <a:solidFill>
            <a:srgbClr val="D5DED9"/>
          </a:solidFill>
          <a:ln w="12700">
            <a:solidFill>
              <a:srgbClr val="D5DED9"/>
            </a:solidFill>
            <a:prstDash val="solid"/>
          </a:ln>
        </p:spPr>
      </p:sp>
      <p:sp>
        <p:nvSpPr>
          <p:cNvPr id="11" name="Shape 8"/>
          <p:cNvSpPr/>
          <p:nvPr/>
        </p:nvSpPr>
        <p:spPr>
          <a:xfrm>
            <a:off x="457200" y="1371600"/>
            <a:ext cx="3931920" cy="1417320"/>
          </a:xfrm>
          <a:prstGeom prst="roundRect">
            <a:avLst>
              <a:gd name="adj" fmla="val 5161"/>
            </a:avLst>
          </a:prstGeom>
          <a:solidFill>
            <a:srgbClr val="E8F5EF"/>
          </a:solidFill>
          <a:ln w="15875">
            <a:solidFill>
              <a:srgbClr val="00704A"/>
            </a:solidFill>
            <a:prstDash val="solid"/>
          </a:ln>
        </p:spPr>
      </p:sp>
      <p:sp>
        <p:nvSpPr>
          <p:cNvPr id="12" name="Text 9"/>
          <p:cNvSpPr txBox="1"/>
          <p:nvPr/>
        </p:nvSpPr>
        <p:spPr>
          <a:xfrm>
            <a:off x="640080" y="1463040"/>
            <a:ext cx="3566160" cy="274320"/>
          </a:xfrm>
          <a:prstGeom prst="rect">
            <a:avLst/>
          </a:prstGeom>
          <a:noFill/>
          <a:ln/>
        </p:spPr>
        <p:txBody>
          <a:bodyPr wrap="square" lIns="0" tIns="0" rIns="0" bIns="0" rtlCol="0" anchor="t"/>
          <a:lstStyle/>
          <a:p>
            <a:pPr indent="0" marL="0">
              <a:buNone/>
            </a:pPr>
            <a:r>
              <a:rPr lang="en-US" sz="1300" b="1" dirty="0">
                <a:solidFill>
                  <a:srgbClr val="00704A"/>
                </a:solidFill>
                <a:latin typeface="Calibri" pitchFamily="34" charset="0"/>
                <a:ea typeface="Calibri" pitchFamily="34" charset="-122"/>
                <a:cs typeface="Calibri" pitchFamily="34" charset="-120"/>
              </a:rPr>
              <a:t>Indice de tuile</a:t>
            </a:r>
            <a:endParaRPr lang="en-US" sz="1300" dirty="0"/>
          </a:p>
        </p:txBody>
      </p:sp>
      <p:sp>
        <p:nvSpPr>
          <p:cNvPr id="13" name="Text 10"/>
          <p:cNvSpPr txBox="1"/>
          <p:nvPr/>
        </p:nvSpPr>
        <p:spPr>
          <a:xfrm>
            <a:off x="640080" y="1783080"/>
            <a:ext cx="3566160" cy="640080"/>
          </a:xfrm>
          <a:prstGeom prst="rect">
            <a:avLst/>
          </a:prstGeom>
          <a:noFill/>
          <a:ln/>
        </p:spPr>
        <p:txBody>
          <a:bodyPr wrap="square" lIns="0" tIns="0" rIns="0" bIns="0" rtlCol="0" anchor="t"/>
          <a:lstStyle/>
          <a:p>
            <a:pPr indent="0" marL="0">
              <a:buNone/>
            </a:pPr>
            <a:r>
              <a:rPr lang="en-US" sz="1500" b="1" dirty="0">
                <a:solidFill>
                  <a:srgbClr val="231F20"/>
                </a:solidFill>
                <a:latin typeface="Courier New" pitchFamily="34" charset="0"/>
                <a:ea typeface="Courier New" pitchFamily="34" charset="-122"/>
                <a:cs typeface="Courier New" pitchFamily="34" charset="-120"/>
              </a:rPr>
              <a:t>h = ⌊(longitude + 180) / 10⌋</a:t>
            </a:r>
            <a:endParaRPr lang="en-US" sz="1500" dirty="0"/>
          </a:p>
          <a:p>
            <a:pPr indent="0" marL="0">
              <a:buNone/>
            </a:pPr>
            <a:r>
              <a:rPr lang="en-US" sz="1500" b="1" dirty="0">
                <a:solidFill>
                  <a:srgbClr val="231F20"/>
                </a:solidFill>
                <a:latin typeface="Courier New" pitchFamily="34" charset="0"/>
                <a:ea typeface="Courier New" pitchFamily="34" charset="-122"/>
                <a:cs typeface="Courier New" pitchFamily="34" charset="-120"/>
              </a:rPr>
              <a:t>v = ⌊(90 − latitude) / 10⌋</a:t>
            </a:r>
            <a:endParaRPr lang="en-US" sz="1500" dirty="0"/>
          </a:p>
        </p:txBody>
      </p:sp>
      <p:sp>
        <p:nvSpPr>
          <p:cNvPr id="14" name="Text 11"/>
          <p:cNvSpPr txBox="1"/>
          <p:nvPr/>
        </p:nvSpPr>
        <p:spPr>
          <a:xfrm>
            <a:off x="640080" y="2450592"/>
            <a:ext cx="3566160" cy="274320"/>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h : 0 → 35 d'ouest en est · v : 0 → 17 du nord au sud</a:t>
            </a:r>
            <a:endParaRPr lang="en-US" sz="1050" dirty="0"/>
          </a:p>
        </p:txBody>
      </p:sp>
      <p:sp>
        <p:nvSpPr>
          <p:cNvPr id="15" name="Shape 12"/>
          <p:cNvSpPr/>
          <p:nvPr/>
        </p:nvSpPr>
        <p:spPr>
          <a:xfrm>
            <a:off x="548640" y="2971800"/>
            <a:ext cx="868680" cy="658368"/>
          </a:xfrm>
          <a:prstGeom prst="rect">
            <a:avLst/>
          </a:prstGeom>
          <a:solidFill>
            <a:srgbClr val="FFFFFF"/>
          </a:solidFill>
          <a:ln w="9525">
            <a:solidFill>
              <a:srgbClr val="D5DED9"/>
            </a:solidFill>
            <a:prstDash val="solid"/>
          </a:ln>
        </p:spPr>
      </p:sp>
      <p:sp>
        <p:nvSpPr>
          <p:cNvPr id="16" name="Text 13"/>
          <p:cNvSpPr txBox="1"/>
          <p:nvPr/>
        </p:nvSpPr>
        <p:spPr>
          <a:xfrm>
            <a:off x="548640" y="3172968"/>
            <a:ext cx="868680" cy="256032"/>
          </a:xfrm>
          <a:prstGeom prst="rect">
            <a:avLst/>
          </a:prstGeom>
          <a:noFill/>
          <a:ln/>
        </p:spPr>
        <p:txBody>
          <a:bodyPr wrap="square" lIns="0" tIns="0" rIns="0" bIns="0" rtlCol="0" anchor="t"/>
          <a:lstStyle/>
          <a:p>
            <a:pPr algn="ctr" indent="0" marL="0">
              <a:buNone/>
            </a:pPr>
            <a:r>
              <a:rPr lang="en-US" sz="1000" dirty="0">
                <a:solidFill>
                  <a:srgbClr val="A9B5B0"/>
                </a:solidFill>
                <a:latin typeface="Calibri" pitchFamily="34" charset="0"/>
                <a:ea typeface="Calibri" pitchFamily="34" charset="-122"/>
                <a:cs typeface="Calibri" pitchFamily="34" charset="-120"/>
              </a:rPr>
              <a:t>h16v07</a:t>
            </a:r>
            <a:endParaRPr lang="en-US" sz="1000" dirty="0"/>
          </a:p>
        </p:txBody>
      </p:sp>
      <p:sp>
        <p:nvSpPr>
          <p:cNvPr id="17" name="Shape 14"/>
          <p:cNvSpPr/>
          <p:nvPr/>
        </p:nvSpPr>
        <p:spPr>
          <a:xfrm>
            <a:off x="1417320" y="2971800"/>
            <a:ext cx="868680" cy="658368"/>
          </a:xfrm>
          <a:prstGeom prst="rect">
            <a:avLst/>
          </a:prstGeom>
          <a:solidFill>
            <a:srgbClr val="E8F5EF"/>
          </a:solidFill>
          <a:ln w="19050">
            <a:solidFill>
              <a:srgbClr val="00A86A"/>
            </a:solidFill>
            <a:prstDash val="solid"/>
          </a:ln>
        </p:spPr>
      </p:sp>
      <p:sp>
        <p:nvSpPr>
          <p:cNvPr id="18" name="Text 15"/>
          <p:cNvSpPr txBox="1"/>
          <p:nvPr/>
        </p:nvSpPr>
        <p:spPr>
          <a:xfrm>
            <a:off x="1417320" y="3172968"/>
            <a:ext cx="868680" cy="256032"/>
          </a:xfrm>
          <a:prstGeom prst="rect">
            <a:avLst/>
          </a:prstGeom>
          <a:noFill/>
          <a:ln/>
        </p:spPr>
        <p:txBody>
          <a:bodyPr wrap="square" lIns="0" tIns="0" rIns="0" bIns="0" rtlCol="0" anchor="t"/>
          <a:lstStyle/>
          <a:p>
            <a:pPr algn="ctr" indent="0" marL="0">
              <a:buNone/>
            </a:pPr>
            <a:r>
              <a:rPr lang="en-US" sz="1000" b="1" dirty="0">
                <a:solidFill>
                  <a:srgbClr val="00704A"/>
                </a:solidFill>
                <a:latin typeface="Calibri" pitchFamily="34" charset="0"/>
                <a:ea typeface="Calibri" pitchFamily="34" charset="-122"/>
                <a:cs typeface="Calibri" pitchFamily="34" charset="-120"/>
              </a:rPr>
              <a:t>h17v07</a:t>
            </a:r>
            <a:endParaRPr lang="en-US" sz="1000" dirty="0"/>
          </a:p>
        </p:txBody>
      </p:sp>
      <p:sp>
        <p:nvSpPr>
          <p:cNvPr id="19" name="Shape 16"/>
          <p:cNvSpPr/>
          <p:nvPr/>
        </p:nvSpPr>
        <p:spPr>
          <a:xfrm>
            <a:off x="2286000" y="2971800"/>
            <a:ext cx="868680" cy="658368"/>
          </a:xfrm>
          <a:prstGeom prst="rect">
            <a:avLst/>
          </a:prstGeom>
          <a:solidFill>
            <a:srgbClr val="FFFFFF"/>
          </a:solidFill>
          <a:ln w="9525">
            <a:solidFill>
              <a:srgbClr val="D5DED9"/>
            </a:solidFill>
            <a:prstDash val="solid"/>
          </a:ln>
        </p:spPr>
      </p:sp>
      <p:sp>
        <p:nvSpPr>
          <p:cNvPr id="20" name="Text 17"/>
          <p:cNvSpPr txBox="1"/>
          <p:nvPr/>
        </p:nvSpPr>
        <p:spPr>
          <a:xfrm>
            <a:off x="2286000" y="3172968"/>
            <a:ext cx="868680" cy="256032"/>
          </a:xfrm>
          <a:prstGeom prst="rect">
            <a:avLst/>
          </a:prstGeom>
          <a:noFill/>
          <a:ln/>
        </p:spPr>
        <p:txBody>
          <a:bodyPr wrap="square" lIns="0" tIns="0" rIns="0" bIns="0" rtlCol="0" anchor="t"/>
          <a:lstStyle/>
          <a:p>
            <a:pPr algn="ctr" indent="0" marL="0">
              <a:buNone/>
            </a:pPr>
            <a:r>
              <a:rPr lang="en-US" sz="1000" dirty="0">
                <a:solidFill>
                  <a:srgbClr val="A9B5B0"/>
                </a:solidFill>
                <a:latin typeface="Calibri" pitchFamily="34" charset="0"/>
                <a:ea typeface="Calibri" pitchFamily="34" charset="-122"/>
                <a:cs typeface="Calibri" pitchFamily="34" charset="-120"/>
              </a:rPr>
              <a:t>h18v07</a:t>
            </a:r>
            <a:endParaRPr lang="en-US" sz="1000" dirty="0"/>
          </a:p>
        </p:txBody>
      </p:sp>
      <p:sp>
        <p:nvSpPr>
          <p:cNvPr id="21" name="Shape 18"/>
          <p:cNvSpPr/>
          <p:nvPr/>
        </p:nvSpPr>
        <p:spPr>
          <a:xfrm>
            <a:off x="3154680" y="2971800"/>
            <a:ext cx="868680" cy="658368"/>
          </a:xfrm>
          <a:prstGeom prst="rect">
            <a:avLst/>
          </a:prstGeom>
          <a:solidFill>
            <a:srgbClr val="FFFFFF"/>
          </a:solidFill>
          <a:ln w="9525">
            <a:solidFill>
              <a:srgbClr val="D5DED9"/>
            </a:solidFill>
            <a:prstDash val="solid"/>
          </a:ln>
        </p:spPr>
      </p:sp>
      <p:sp>
        <p:nvSpPr>
          <p:cNvPr id="22" name="Text 19"/>
          <p:cNvSpPr txBox="1"/>
          <p:nvPr/>
        </p:nvSpPr>
        <p:spPr>
          <a:xfrm>
            <a:off x="3154680" y="3172968"/>
            <a:ext cx="868680" cy="256032"/>
          </a:xfrm>
          <a:prstGeom prst="rect">
            <a:avLst/>
          </a:prstGeom>
          <a:noFill/>
          <a:ln/>
        </p:spPr>
        <p:txBody>
          <a:bodyPr wrap="square" lIns="0" tIns="0" rIns="0" bIns="0" rtlCol="0" anchor="t"/>
          <a:lstStyle/>
          <a:p>
            <a:pPr algn="ctr" indent="0" marL="0">
              <a:buNone/>
            </a:pPr>
            <a:r>
              <a:rPr lang="en-US" sz="1000" dirty="0">
                <a:solidFill>
                  <a:srgbClr val="A9B5B0"/>
                </a:solidFill>
                <a:latin typeface="Calibri" pitchFamily="34" charset="0"/>
                <a:ea typeface="Calibri" pitchFamily="34" charset="-122"/>
                <a:cs typeface="Calibri" pitchFamily="34" charset="-120"/>
              </a:rPr>
              <a:t>h19v07</a:t>
            </a:r>
            <a:endParaRPr lang="en-US" sz="1000" dirty="0"/>
          </a:p>
        </p:txBody>
      </p:sp>
      <p:sp>
        <p:nvSpPr>
          <p:cNvPr id="23" name="Shape 20"/>
          <p:cNvSpPr/>
          <p:nvPr/>
        </p:nvSpPr>
        <p:spPr>
          <a:xfrm>
            <a:off x="548640" y="3630168"/>
            <a:ext cx="868680" cy="658368"/>
          </a:xfrm>
          <a:prstGeom prst="rect">
            <a:avLst/>
          </a:prstGeom>
          <a:solidFill>
            <a:srgbClr val="FFFFFF"/>
          </a:solidFill>
          <a:ln w="9525">
            <a:solidFill>
              <a:srgbClr val="D5DED9"/>
            </a:solidFill>
            <a:prstDash val="solid"/>
          </a:ln>
        </p:spPr>
      </p:sp>
      <p:sp>
        <p:nvSpPr>
          <p:cNvPr id="24" name="Text 21"/>
          <p:cNvSpPr txBox="1"/>
          <p:nvPr/>
        </p:nvSpPr>
        <p:spPr>
          <a:xfrm>
            <a:off x="548640" y="3831336"/>
            <a:ext cx="868680" cy="256032"/>
          </a:xfrm>
          <a:prstGeom prst="rect">
            <a:avLst/>
          </a:prstGeom>
          <a:noFill/>
          <a:ln/>
        </p:spPr>
        <p:txBody>
          <a:bodyPr wrap="square" lIns="0" tIns="0" rIns="0" bIns="0" rtlCol="0" anchor="t"/>
          <a:lstStyle/>
          <a:p>
            <a:pPr algn="ctr" indent="0" marL="0">
              <a:buNone/>
            </a:pPr>
            <a:r>
              <a:rPr lang="en-US" sz="1000" dirty="0">
                <a:solidFill>
                  <a:srgbClr val="A9B5B0"/>
                </a:solidFill>
                <a:latin typeface="Calibri" pitchFamily="34" charset="0"/>
                <a:ea typeface="Calibri" pitchFamily="34" charset="-122"/>
                <a:cs typeface="Calibri" pitchFamily="34" charset="-120"/>
              </a:rPr>
              <a:t>h16v08</a:t>
            </a:r>
            <a:endParaRPr lang="en-US" sz="1000" dirty="0"/>
          </a:p>
        </p:txBody>
      </p:sp>
      <p:sp>
        <p:nvSpPr>
          <p:cNvPr id="25" name="Shape 22"/>
          <p:cNvSpPr/>
          <p:nvPr/>
        </p:nvSpPr>
        <p:spPr>
          <a:xfrm>
            <a:off x="1417320" y="3630168"/>
            <a:ext cx="868680" cy="658368"/>
          </a:xfrm>
          <a:prstGeom prst="rect">
            <a:avLst/>
          </a:prstGeom>
          <a:solidFill>
            <a:srgbClr val="E8F5EF"/>
          </a:solidFill>
          <a:ln w="19050">
            <a:solidFill>
              <a:srgbClr val="00A86A"/>
            </a:solidFill>
            <a:prstDash val="solid"/>
          </a:ln>
        </p:spPr>
      </p:sp>
      <p:sp>
        <p:nvSpPr>
          <p:cNvPr id="26" name="Text 23"/>
          <p:cNvSpPr txBox="1"/>
          <p:nvPr/>
        </p:nvSpPr>
        <p:spPr>
          <a:xfrm>
            <a:off x="1417320" y="3831336"/>
            <a:ext cx="868680" cy="256032"/>
          </a:xfrm>
          <a:prstGeom prst="rect">
            <a:avLst/>
          </a:prstGeom>
          <a:noFill/>
          <a:ln/>
        </p:spPr>
        <p:txBody>
          <a:bodyPr wrap="square" lIns="0" tIns="0" rIns="0" bIns="0" rtlCol="0" anchor="t"/>
          <a:lstStyle/>
          <a:p>
            <a:pPr algn="ctr" indent="0" marL="0">
              <a:buNone/>
            </a:pPr>
            <a:r>
              <a:rPr lang="en-US" sz="1000" b="1" dirty="0">
                <a:solidFill>
                  <a:srgbClr val="00704A"/>
                </a:solidFill>
                <a:latin typeface="Calibri" pitchFamily="34" charset="0"/>
                <a:ea typeface="Calibri" pitchFamily="34" charset="-122"/>
                <a:cs typeface="Calibri" pitchFamily="34" charset="-120"/>
              </a:rPr>
              <a:t>h17v08</a:t>
            </a:r>
            <a:endParaRPr lang="en-US" sz="1000" dirty="0"/>
          </a:p>
        </p:txBody>
      </p:sp>
      <p:sp>
        <p:nvSpPr>
          <p:cNvPr id="27" name="Shape 24"/>
          <p:cNvSpPr/>
          <p:nvPr/>
        </p:nvSpPr>
        <p:spPr>
          <a:xfrm>
            <a:off x="2286000" y="3630168"/>
            <a:ext cx="868680" cy="658368"/>
          </a:xfrm>
          <a:prstGeom prst="rect">
            <a:avLst/>
          </a:prstGeom>
          <a:solidFill>
            <a:srgbClr val="FFFFFF"/>
          </a:solidFill>
          <a:ln w="9525">
            <a:solidFill>
              <a:srgbClr val="D5DED9"/>
            </a:solidFill>
            <a:prstDash val="solid"/>
          </a:ln>
        </p:spPr>
      </p:sp>
      <p:sp>
        <p:nvSpPr>
          <p:cNvPr id="28" name="Text 25"/>
          <p:cNvSpPr txBox="1"/>
          <p:nvPr/>
        </p:nvSpPr>
        <p:spPr>
          <a:xfrm>
            <a:off x="2286000" y="3831336"/>
            <a:ext cx="868680" cy="256032"/>
          </a:xfrm>
          <a:prstGeom prst="rect">
            <a:avLst/>
          </a:prstGeom>
          <a:noFill/>
          <a:ln/>
        </p:spPr>
        <p:txBody>
          <a:bodyPr wrap="square" lIns="0" tIns="0" rIns="0" bIns="0" rtlCol="0" anchor="t"/>
          <a:lstStyle/>
          <a:p>
            <a:pPr algn="ctr" indent="0" marL="0">
              <a:buNone/>
            </a:pPr>
            <a:r>
              <a:rPr lang="en-US" sz="1000" dirty="0">
                <a:solidFill>
                  <a:srgbClr val="A9B5B0"/>
                </a:solidFill>
                <a:latin typeface="Calibri" pitchFamily="34" charset="0"/>
                <a:ea typeface="Calibri" pitchFamily="34" charset="-122"/>
                <a:cs typeface="Calibri" pitchFamily="34" charset="-120"/>
              </a:rPr>
              <a:t>h18v08</a:t>
            </a:r>
            <a:endParaRPr lang="en-US" sz="1000" dirty="0"/>
          </a:p>
        </p:txBody>
      </p:sp>
      <p:sp>
        <p:nvSpPr>
          <p:cNvPr id="29" name="Shape 26"/>
          <p:cNvSpPr/>
          <p:nvPr/>
        </p:nvSpPr>
        <p:spPr>
          <a:xfrm>
            <a:off x="3154680" y="3630168"/>
            <a:ext cx="868680" cy="658368"/>
          </a:xfrm>
          <a:prstGeom prst="rect">
            <a:avLst/>
          </a:prstGeom>
          <a:solidFill>
            <a:srgbClr val="FFFFFF"/>
          </a:solidFill>
          <a:ln w="9525">
            <a:solidFill>
              <a:srgbClr val="D5DED9"/>
            </a:solidFill>
            <a:prstDash val="solid"/>
          </a:ln>
        </p:spPr>
      </p:sp>
      <p:sp>
        <p:nvSpPr>
          <p:cNvPr id="30" name="Text 27"/>
          <p:cNvSpPr txBox="1"/>
          <p:nvPr/>
        </p:nvSpPr>
        <p:spPr>
          <a:xfrm>
            <a:off x="3154680" y="3831336"/>
            <a:ext cx="868680" cy="256032"/>
          </a:xfrm>
          <a:prstGeom prst="rect">
            <a:avLst/>
          </a:prstGeom>
          <a:noFill/>
          <a:ln/>
        </p:spPr>
        <p:txBody>
          <a:bodyPr wrap="square" lIns="0" tIns="0" rIns="0" bIns="0" rtlCol="0" anchor="t"/>
          <a:lstStyle/>
          <a:p>
            <a:pPr algn="ctr" indent="0" marL="0">
              <a:buNone/>
            </a:pPr>
            <a:r>
              <a:rPr lang="en-US" sz="1000" dirty="0">
                <a:solidFill>
                  <a:srgbClr val="A9B5B0"/>
                </a:solidFill>
                <a:latin typeface="Calibri" pitchFamily="34" charset="0"/>
                <a:ea typeface="Calibri" pitchFamily="34" charset="-122"/>
                <a:cs typeface="Calibri" pitchFamily="34" charset="-120"/>
              </a:rPr>
              <a:t>h19v08</a:t>
            </a:r>
            <a:endParaRPr lang="en-US" sz="1000" dirty="0"/>
          </a:p>
        </p:txBody>
      </p:sp>
      <p:sp>
        <p:nvSpPr>
          <p:cNvPr id="31" name="Shape 28"/>
          <p:cNvSpPr/>
          <p:nvPr/>
        </p:nvSpPr>
        <p:spPr>
          <a:xfrm>
            <a:off x="1481328" y="3291840"/>
            <a:ext cx="530352" cy="868680"/>
          </a:xfrm>
          <a:prstGeom prst="rect">
            <a:avLst/>
          </a:prstGeom>
          <a:solidFill>
            <a:srgbClr val="F5C242">
              <a:alpha val="25000"/>
            </a:srgbClr>
          </a:solidFill>
          <a:ln w="19050">
            <a:solidFill>
              <a:srgbClr val="D49A00"/>
            </a:solidFill>
            <a:prstDash val="dash"/>
          </a:ln>
        </p:spPr>
      </p:sp>
      <p:sp>
        <p:nvSpPr>
          <p:cNvPr id="32" name="Text 29"/>
          <p:cNvSpPr txBox="1"/>
          <p:nvPr/>
        </p:nvSpPr>
        <p:spPr>
          <a:xfrm>
            <a:off x="548640" y="4315968"/>
            <a:ext cx="3566160" cy="228600"/>
          </a:xfrm>
          <a:prstGeom prst="rect">
            <a:avLst/>
          </a:prstGeom>
          <a:noFill/>
          <a:ln/>
        </p:spPr>
        <p:txBody>
          <a:bodyPr wrap="square" lIns="0" tIns="0" rIns="0" bIns="0" rtlCol="0" anchor="t"/>
          <a:lstStyle/>
          <a:p>
            <a:pPr indent="0" marL="0">
              <a:buNone/>
            </a:pPr>
            <a:r>
              <a:rPr lang="en-US" sz="1000" i="1" dirty="0">
                <a:solidFill>
                  <a:srgbClr val="5E6964"/>
                </a:solidFill>
                <a:latin typeface="Calibri" pitchFamily="34" charset="0"/>
                <a:ea typeface="Calibri" pitchFamily="34" charset="-122"/>
                <a:cs typeface="Calibri" pitchFamily="34" charset="-120"/>
              </a:rPr>
              <a:t>Côte d'Ivoire → h17v07 + h17v08</a:t>
            </a:r>
            <a:endParaRPr lang="en-US" sz="1000" dirty="0"/>
          </a:p>
        </p:txBody>
      </p:sp>
      <p:sp>
        <p:nvSpPr>
          <p:cNvPr id="33" name="Text 30"/>
          <p:cNvSpPr txBox="1"/>
          <p:nvPr/>
        </p:nvSpPr>
        <p:spPr>
          <a:xfrm>
            <a:off x="4754880" y="1371600"/>
            <a:ext cx="3931920" cy="274320"/>
          </a:xfrm>
          <a:prstGeom prst="rect">
            <a:avLst/>
          </a:prstGeom>
          <a:noFill/>
          <a:ln/>
        </p:spPr>
        <p:txBody>
          <a:bodyPr wrap="square" lIns="0" tIns="0" rIns="0" bIns="0" rtlCol="0" anchor="t"/>
          <a:lstStyle/>
          <a:p>
            <a:pPr indent="0" marL="0">
              <a:buNone/>
            </a:pPr>
            <a:r>
              <a:rPr lang="en-US" sz="1300" b="1" dirty="0">
                <a:solidFill>
                  <a:srgbClr val="231F20"/>
                </a:solidFill>
                <a:latin typeface="Calibri" pitchFamily="34" charset="0"/>
                <a:ea typeface="Calibri" pitchFamily="34" charset="-122"/>
                <a:cs typeface="Calibri" pitchFamily="34" charset="-120"/>
              </a:rPr>
              <a:t>Anatomie d'un nom de fichier</a:t>
            </a:r>
            <a:endParaRPr lang="en-US" sz="1300" dirty="0"/>
          </a:p>
        </p:txBody>
      </p:sp>
      <p:sp>
        <p:nvSpPr>
          <p:cNvPr id="34" name="Shape 31"/>
          <p:cNvSpPr/>
          <p:nvPr/>
        </p:nvSpPr>
        <p:spPr>
          <a:xfrm>
            <a:off x="4754880" y="1755648"/>
            <a:ext cx="1417320" cy="402336"/>
          </a:xfrm>
          <a:prstGeom prst="roundRect">
            <a:avLst>
              <a:gd name="adj" fmla="val 13636"/>
            </a:avLst>
          </a:prstGeom>
          <a:solidFill>
            <a:srgbClr val="00A86A"/>
          </a:solidFill>
          <a:ln w="12700">
            <a:solidFill>
              <a:srgbClr val="00A86A"/>
            </a:solidFill>
            <a:prstDash val="solid"/>
          </a:ln>
        </p:spPr>
      </p:sp>
      <p:sp>
        <p:nvSpPr>
          <p:cNvPr id="35" name="Text 32"/>
          <p:cNvSpPr txBox="1"/>
          <p:nvPr/>
        </p:nvSpPr>
        <p:spPr>
          <a:xfrm>
            <a:off x="4754880" y="1755648"/>
            <a:ext cx="1417320"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VNP46A4</a:t>
            </a:r>
            <a:endParaRPr lang="en-US" sz="1200" dirty="0"/>
          </a:p>
        </p:txBody>
      </p:sp>
      <p:sp>
        <p:nvSpPr>
          <p:cNvPr id="36" name="Shape 33"/>
          <p:cNvSpPr/>
          <p:nvPr/>
        </p:nvSpPr>
        <p:spPr>
          <a:xfrm>
            <a:off x="6236208" y="1956816"/>
            <a:ext cx="301752" cy="914"/>
          </a:xfrm>
          <a:prstGeom prst="line">
            <a:avLst/>
          </a:prstGeom>
          <a:noFill/>
          <a:ln w="15875">
            <a:solidFill>
              <a:srgbClr val="5E6964"/>
            </a:solidFill>
            <a:prstDash val="solid"/>
            <a:tailEnd type="triangle"/>
          </a:ln>
        </p:spPr>
      </p:sp>
      <p:sp>
        <p:nvSpPr>
          <p:cNvPr id="37" name="Text 34"/>
          <p:cNvSpPr txBox="1"/>
          <p:nvPr/>
        </p:nvSpPr>
        <p:spPr>
          <a:xfrm>
            <a:off x="6629400" y="1755648"/>
            <a:ext cx="2011680" cy="402336"/>
          </a:xfrm>
          <a:prstGeom prst="rect">
            <a:avLst/>
          </a:prstGeom>
          <a:noFill/>
          <a:ln/>
        </p:spPr>
        <p:txBody>
          <a:bodyPr wrap="square" lIns="0" tIns="0" rIns="0" bIns="0" rtlCol="0" anchor="ctr"/>
          <a:lstStyle/>
          <a:p>
            <a:pPr indent="0" marL="0">
              <a:buNone/>
            </a:pPr>
            <a:r>
              <a:rPr lang="en-US" sz="1150" dirty="0">
                <a:solidFill>
                  <a:srgbClr val="231F20"/>
                </a:solidFill>
                <a:latin typeface="Calibri" pitchFamily="34" charset="0"/>
                <a:ea typeface="Calibri" pitchFamily="34" charset="-122"/>
                <a:cs typeface="Calibri" pitchFamily="34" charset="-120"/>
              </a:rPr>
              <a:t>produit</a:t>
            </a:r>
            <a:endParaRPr lang="en-US" sz="1150" dirty="0"/>
          </a:p>
        </p:txBody>
      </p:sp>
      <p:sp>
        <p:nvSpPr>
          <p:cNvPr id="38" name="Shape 35"/>
          <p:cNvSpPr/>
          <p:nvPr/>
        </p:nvSpPr>
        <p:spPr>
          <a:xfrm>
            <a:off x="4754880" y="2304288"/>
            <a:ext cx="1417320" cy="402336"/>
          </a:xfrm>
          <a:prstGeom prst="roundRect">
            <a:avLst>
              <a:gd name="adj" fmla="val 13636"/>
            </a:avLst>
          </a:prstGeom>
          <a:solidFill>
            <a:srgbClr val="D49A00"/>
          </a:solidFill>
          <a:ln w="12700">
            <a:solidFill>
              <a:srgbClr val="D49A00"/>
            </a:solidFill>
            <a:prstDash val="solid"/>
          </a:ln>
        </p:spPr>
      </p:sp>
      <p:sp>
        <p:nvSpPr>
          <p:cNvPr id="39" name="Text 36"/>
          <p:cNvSpPr txBox="1"/>
          <p:nvPr/>
        </p:nvSpPr>
        <p:spPr>
          <a:xfrm>
            <a:off x="4754880" y="2304288"/>
            <a:ext cx="1417320"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A2023001</a:t>
            </a:r>
            <a:endParaRPr lang="en-US" sz="1200" dirty="0"/>
          </a:p>
        </p:txBody>
      </p:sp>
      <p:sp>
        <p:nvSpPr>
          <p:cNvPr id="40" name="Shape 37"/>
          <p:cNvSpPr/>
          <p:nvPr/>
        </p:nvSpPr>
        <p:spPr>
          <a:xfrm>
            <a:off x="6236208" y="2505456"/>
            <a:ext cx="301752" cy="914"/>
          </a:xfrm>
          <a:prstGeom prst="line">
            <a:avLst/>
          </a:prstGeom>
          <a:noFill/>
          <a:ln w="15875">
            <a:solidFill>
              <a:srgbClr val="5E6964"/>
            </a:solidFill>
            <a:prstDash val="solid"/>
            <a:tailEnd type="triangle"/>
          </a:ln>
        </p:spPr>
      </p:sp>
      <p:sp>
        <p:nvSpPr>
          <p:cNvPr id="41" name="Text 38"/>
          <p:cNvSpPr txBox="1"/>
          <p:nvPr/>
        </p:nvSpPr>
        <p:spPr>
          <a:xfrm>
            <a:off x="6629400" y="2304288"/>
            <a:ext cx="2011680" cy="402336"/>
          </a:xfrm>
          <a:prstGeom prst="rect">
            <a:avLst/>
          </a:prstGeom>
          <a:noFill/>
          <a:ln/>
        </p:spPr>
        <p:txBody>
          <a:bodyPr wrap="square" lIns="0" tIns="0" rIns="0" bIns="0" rtlCol="0" anchor="ctr"/>
          <a:lstStyle/>
          <a:p>
            <a:pPr indent="0" marL="0">
              <a:buNone/>
            </a:pPr>
            <a:r>
              <a:rPr lang="en-US" sz="1150" dirty="0">
                <a:solidFill>
                  <a:srgbClr val="231F20"/>
                </a:solidFill>
                <a:latin typeface="Calibri" pitchFamily="34" charset="0"/>
                <a:ea typeface="Calibri" pitchFamily="34" charset="-122"/>
                <a:cs typeface="Calibri" pitchFamily="34" charset="-120"/>
              </a:rPr>
              <a:t>année + jour julien</a:t>
            </a:r>
            <a:endParaRPr lang="en-US" sz="1150" dirty="0"/>
          </a:p>
        </p:txBody>
      </p:sp>
      <p:sp>
        <p:nvSpPr>
          <p:cNvPr id="42" name="Shape 39"/>
          <p:cNvSpPr/>
          <p:nvPr/>
        </p:nvSpPr>
        <p:spPr>
          <a:xfrm>
            <a:off x="4754880" y="2852928"/>
            <a:ext cx="1417320" cy="402336"/>
          </a:xfrm>
          <a:prstGeom prst="roundRect">
            <a:avLst>
              <a:gd name="adj" fmla="val 13636"/>
            </a:avLst>
          </a:prstGeom>
          <a:solidFill>
            <a:srgbClr val="0E7C86"/>
          </a:solidFill>
          <a:ln w="12700">
            <a:solidFill>
              <a:srgbClr val="0E7C86"/>
            </a:solidFill>
            <a:prstDash val="solid"/>
          </a:ln>
        </p:spPr>
      </p:sp>
      <p:sp>
        <p:nvSpPr>
          <p:cNvPr id="43" name="Text 40"/>
          <p:cNvSpPr txBox="1"/>
          <p:nvPr/>
        </p:nvSpPr>
        <p:spPr>
          <a:xfrm>
            <a:off x="4754880" y="2852928"/>
            <a:ext cx="1417320"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h17v08</a:t>
            </a:r>
            <a:endParaRPr lang="en-US" sz="1200" dirty="0"/>
          </a:p>
        </p:txBody>
      </p:sp>
      <p:sp>
        <p:nvSpPr>
          <p:cNvPr id="44" name="Shape 41"/>
          <p:cNvSpPr/>
          <p:nvPr/>
        </p:nvSpPr>
        <p:spPr>
          <a:xfrm>
            <a:off x="6236208" y="3054096"/>
            <a:ext cx="301752" cy="914"/>
          </a:xfrm>
          <a:prstGeom prst="line">
            <a:avLst/>
          </a:prstGeom>
          <a:noFill/>
          <a:ln w="15875">
            <a:solidFill>
              <a:srgbClr val="5E6964"/>
            </a:solidFill>
            <a:prstDash val="solid"/>
            <a:tailEnd type="triangle"/>
          </a:ln>
        </p:spPr>
      </p:sp>
      <p:sp>
        <p:nvSpPr>
          <p:cNvPr id="45" name="Text 42"/>
          <p:cNvSpPr txBox="1"/>
          <p:nvPr/>
        </p:nvSpPr>
        <p:spPr>
          <a:xfrm>
            <a:off x="6629400" y="2852928"/>
            <a:ext cx="2011680" cy="402336"/>
          </a:xfrm>
          <a:prstGeom prst="rect">
            <a:avLst/>
          </a:prstGeom>
          <a:noFill/>
          <a:ln/>
        </p:spPr>
        <p:txBody>
          <a:bodyPr wrap="square" lIns="0" tIns="0" rIns="0" bIns="0" rtlCol="0" anchor="ctr"/>
          <a:lstStyle/>
          <a:p>
            <a:pPr indent="0" marL="0">
              <a:buNone/>
            </a:pPr>
            <a:r>
              <a:rPr lang="en-US" sz="1150" dirty="0">
                <a:solidFill>
                  <a:srgbClr val="231F20"/>
                </a:solidFill>
                <a:latin typeface="Calibri" pitchFamily="34" charset="0"/>
                <a:ea typeface="Calibri" pitchFamily="34" charset="-122"/>
                <a:cs typeface="Calibri" pitchFamily="34" charset="-120"/>
              </a:rPr>
              <a:t>tuile</a:t>
            </a:r>
            <a:endParaRPr lang="en-US" sz="1150" dirty="0"/>
          </a:p>
        </p:txBody>
      </p:sp>
      <p:sp>
        <p:nvSpPr>
          <p:cNvPr id="46" name="Shape 43"/>
          <p:cNvSpPr/>
          <p:nvPr/>
        </p:nvSpPr>
        <p:spPr>
          <a:xfrm>
            <a:off x="4754880" y="3401568"/>
            <a:ext cx="1417320" cy="402336"/>
          </a:xfrm>
          <a:prstGeom prst="roundRect">
            <a:avLst>
              <a:gd name="adj" fmla="val 13636"/>
            </a:avLst>
          </a:prstGeom>
          <a:solidFill>
            <a:srgbClr val="C4621D"/>
          </a:solidFill>
          <a:ln w="12700">
            <a:solidFill>
              <a:srgbClr val="C4621D"/>
            </a:solidFill>
            <a:prstDash val="solid"/>
          </a:ln>
        </p:spPr>
      </p:sp>
      <p:sp>
        <p:nvSpPr>
          <p:cNvPr id="47" name="Text 44"/>
          <p:cNvSpPr txBox="1"/>
          <p:nvPr/>
        </p:nvSpPr>
        <p:spPr>
          <a:xfrm>
            <a:off x="4754880" y="3401568"/>
            <a:ext cx="1417320"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002</a:t>
            </a:r>
            <a:endParaRPr lang="en-US" sz="1200" dirty="0"/>
          </a:p>
        </p:txBody>
      </p:sp>
      <p:sp>
        <p:nvSpPr>
          <p:cNvPr id="48" name="Shape 45"/>
          <p:cNvSpPr/>
          <p:nvPr/>
        </p:nvSpPr>
        <p:spPr>
          <a:xfrm>
            <a:off x="6236208" y="3602736"/>
            <a:ext cx="301752" cy="914"/>
          </a:xfrm>
          <a:prstGeom prst="line">
            <a:avLst/>
          </a:prstGeom>
          <a:noFill/>
          <a:ln w="15875">
            <a:solidFill>
              <a:srgbClr val="5E6964"/>
            </a:solidFill>
            <a:prstDash val="solid"/>
            <a:tailEnd type="triangle"/>
          </a:ln>
        </p:spPr>
      </p:sp>
      <p:sp>
        <p:nvSpPr>
          <p:cNvPr id="49" name="Text 46"/>
          <p:cNvSpPr txBox="1"/>
          <p:nvPr/>
        </p:nvSpPr>
        <p:spPr>
          <a:xfrm>
            <a:off x="6629400" y="3401568"/>
            <a:ext cx="2011680" cy="402336"/>
          </a:xfrm>
          <a:prstGeom prst="rect">
            <a:avLst/>
          </a:prstGeom>
          <a:noFill/>
          <a:ln/>
        </p:spPr>
        <p:txBody>
          <a:bodyPr wrap="square" lIns="0" tIns="0" rIns="0" bIns="0" rtlCol="0" anchor="ctr"/>
          <a:lstStyle/>
          <a:p>
            <a:pPr indent="0" marL="0">
              <a:buNone/>
            </a:pPr>
            <a:r>
              <a:rPr lang="en-US" sz="1150" dirty="0">
                <a:solidFill>
                  <a:srgbClr val="231F20"/>
                </a:solidFill>
                <a:latin typeface="Calibri" pitchFamily="34" charset="0"/>
                <a:ea typeface="Calibri" pitchFamily="34" charset="-122"/>
                <a:cs typeface="Calibri" pitchFamily="34" charset="-120"/>
              </a:rPr>
              <a:t>collection</a:t>
            </a:r>
            <a:endParaRPr lang="en-US" sz="1150" dirty="0"/>
          </a:p>
        </p:txBody>
      </p:sp>
      <p:sp>
        <p:nvSpPr>
          <p:cNvPr id="50" name="Shape 47"/>
          <p:cNvSpPr/>
          <p:nvPr/>
        </p:nvSpPr>
        <p:spPr>
          <a:xfrm>
            <a:off x="4754880" y="3950208"/>
            <a:ext cx="1417320" cy="402336"/>
          </a:xfrm>
          <a:prstGeom prst="roundRect">
            <a:avLst>
              <a:gd name="adj" fmla="val 13636"/>
            </a:avLst>
          </a:prstGeom>
          <a:solidFill>
            <a:srgbClr val="5E6964"/>
          </a:solidFill>
          <a:ln w="12700">
            <a:solidFill>
              <a:srgbClr val="5E6964"/>
            </a:solidFill>
            <a:prstDash val="solid"/>
          </a:ln>
        </p:spPr>
      </p:sp>
      <p:sp>
        <p:nvSpPr>
          <p:cNvPr id="51" name="Text 48"/>
          <p:cNvSpPr txBox="1"/>
          <p:nvPr/>
        </p:nvSpPr>
        <p:spPr>
          <a:xfrm>
            <a:off x="4754880" y="3950208"/>
            <a:ext cx="1417320"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2024…</a:t>
            </a:r>
            <a:endParaRPr lang="en-US" sz="1200" dirty="0"/>
          </a:p>
        </p:txBody>
      </p:sp>
      <p:sp>
        <p:nvSpPr>
          <p:cNvPr id="52" name="Shape 49"/>
          <p:cNvSpPr/>
          <p:nvPr/>
        </p:nvSpPr>
        <p:spPr>
          <a:xfrm>
            <a:off x="6236208" y="4151376"/>
            <a:ext cx="301752" cy="914"/>
          </a:xfrm>
          <a:prstGeom prst="line">
            <a:avLst/>
          </a:prstGeom>
          <a:noFill/>
          <a:ln w="15875">
            <a:solidFill>
              <a:srgbClr val="5E6964"/>
            </a:solidFill>
            <a:prstDash val="solid"/>
            <a:tailEnd type="triangle"/>
          </a:ln>
        </p:spPr>
      </p:sp>
      <p:sp>
        <p:nvSpPr>
          <p:cNvPr id="53" name="Text 50"/>
          <p:cNvSpPr txBox="1"/>
          <p:nvPr/>
        </p:nvSpPr>
        <p:spPr>
          <a:xfrm>
            <a:off x="6629400" y="3950208"/>
            <a:ext cx="2011680" cy="402336"/>
          </a:xfrm>
          <a:prstGeom prst="rect">
            <a:avLst/>
          </a:prstGeom>
          <a:noFill/>
          <a:ln/>
        </p:spPr>
        <p:txBody>
          <a:bodyPr wrap="square" lIns="0" tIns="0" rIns="0" bIns="0" rtlCol="0" anchor="ctr"/>
          <a:lstStyle/>
          <a:p>
            <a:pPr indent="0" marL="0">
              <a:buNone/>
            </a:pPr>
            <a:r>
              <a:rPr lang="en-US" sz="1150" dirty="0">
                <a:solidFill>
                  <a:srgbClr val="231F20"/>
                </a:solidFill>
                <a:latin typeface="Calibri" pitchFamily="34" charset="0"/>
                <a:ea typeface="Calibri" pitchFamily="34" charset="-122"/>
                <a:cs typeface="Calibri" pitchFamily="34" charset="-120"/>
              </a:rPr>
              <a:t>horodatage</a:t>
            </a:r>
            <a:endParaRPr lang="en-US" sz="115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8A9590"/>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3"/>
          <p:cNvSpPr/>
          <p:nvPr>
            <p:ph idx="105" type="body" hasCustomPrompt="1"/>
          </p:nvPr>
        </p:nvSpPr>
        <p:spPr>
          <a:xfrm>
            <a:off x="457200" y="274320"/>
            <a:ext cx="6217920" cy="256032"/>
          </a:xfrm>
          <a:prstGeom prst="rect">
            <a:avLst/>
          </a:prstGeom>
          <a:noFill/>
          <a:ln/>
        </p:spPr>
        <p:txBody>
          <a:bodyPr wrap="square" lIns="0" tIns="0" rIns="0" bIns="0" rtlCol="0" anchor="ctr"/>
          <a:lstStyle/>
          <a:p>
            <a:pPr algn="l" indent="0" marL="0">
              <a:buNone/>
            </a:pPr>
            <a:r>
              <a:rPr lang="en-US" sz="1050" b="1" spc="300" kern="0" dirty="0">
                <a:solidFill>
                  <a:srgbClr val="00704A"/>
                </a:solidFill>
                <a:latin typeface="Calibri" pitchFamily="34" charset="0"/>
                <a:ea typeface="Calibri" pitchFamily="34" charset="-122"/>
                <a:cs typeface="Calibri" pitchFamily="34" charset="-120"/>
              </a:rPr>
              <a:t>02 · COLLECTER · GRILLE TEMPORELLE</a:t>
            </a:r>
            <a:endParaRPr lang="en-US" sz="1050" dirty="0"/>
          </a:p>
        </p:txBody>
      </p:sp>
      <p:sp>
        <p:nvSpPr>
          <p:cNvPr id="3" name="Text 3"/>
          <p:cNvSpPr/>
          <p:nvPr>
            <p:ph idx="106" type="title" hasCustomPrompt="1"/>
          </p:nvPr>
        </p:nvSpPr>
        <p:spPr>
          <a:xfrm>
            <a:off x="457200" y="548640"/>
            <a:ext cx="8229600" cy="566928"/>
          </a:xfrm>
          <a:prstGeom prst="rect">
            <a:avLst/>
          </a:prstGeom>
          <a:noFill/>
          <a:ln/>
        </p:spPr>
        <p:txBody>
          <a:bodyPr wrap="square" lIns="0" tIns="0" rIns="0" bIns="0" rtlCol="0" anchor="ctr"/>
          <a:lstStyle/>
          <a:p>
            <a:pPr algn="l" indent="0" marL="0">
              <a:buNone/>
            </a:pPr>
            <a:r>
              <a:rPr lang="en-US" sz="2800" b="1" dirty="0">
                <a:solidFill>
                  <a:srgbClr val="231F20"/>
                </a:solidFill>
                <a:latin typeface="Calibri" pitchFamily="34" charset="0"/>
                <a:ea typeface="Calibri" pitchFamily="34" charset="-122"/>
                <a:cs typeface="Calibri" pitchFamily="34" charset="-120"/>
              </a:rPr>
              <a:t>Fixer la saison, varier l'année, jamais une seule nuit</a:t>
            </a:r>
            <a:endParaRPr lang="en-US" sz="2800" dirty="0"/>
          </a:p>
        </p:txBody>
      </p:sp>
      <p:sp>
        <p:nvSpPr>
          <p:cNvPr id="4" name="dot0"/>
          <p:cNvSpPr/>
          <p:nvPr/>
        </p:nvSpPr>
        <p:spPr>
          <a:xfrm>
            <a:off x="7644384" y="338328"/>
            <a:ext cx="100584" cy="100584"/>
          </a:xfrm>
          <a:prstGeom prst="ellipse">
            <a:avLst/>
          </a:prstGeom>
          <a:solidFill>
            <a:srgbClr val="D5DED9"/>
          </a:solidFill>
          <a:ln w="12700">
            <a:solidFill>
              <a:srgbClr val="D5DED9"/>
            </a:solidFill>
            <a:prstDash val="solid"/>
          </a:ln>
        </p:spPr>
      </p:sp>
      <p:sp>
        <p:nvSpPr>
          <p:cNvPr id="5" name="dot1"/>
          <p:cNvSpPr/>
          <p:nvPr/>
        </p:nvSpPr>
        <p:spPr>
          <a:xfrm>
            <a:off x="7818120" y="338328"/>
            <a:ext cx="100584" cy="100584"/>
          </a:xfrm>
          <a:prstGeom prst="ellipse">
            <a:avLst/>
          </a:prstGeom>
          <a:solidFill>
            <a:srgbClr val="00704A"/>
          </a:solidFill>
          <a:ln w="12700">
            <a:solidFill>
              <a:srgbClr val="00704A"/>
            </a:solidFill>
            <a:prstDash val="solid"/>
          </a:ln>
        </p:spPr>
      </p:sp>
      <p:sp>
        <p:nvSpPr>
          <p:cNvPr id="6" name="dot2"/>
          <p:cNvSpPr/>
          <p:nvPr/>
        </p:nvSpPr>
        <p:spPr>
          <a:xfrm>
            <a:off x="7991856" y="338328"/>
            <a:ext cx="100584" cy="100584"/>
          </a:xfrm>
          <a:prstGeom prst="ellipse">
            <a:avLst/>
          </a:prstGeom>
          <a:solidFill>
            <a:srgbClr val="D5DED9"/>
          </a:solidFill>
          <a:ln w="12700">
            <a:solidFill>
              <a:srgbClr val="D5DED9"/>
            </a:solidFill>
            <a:prstDash val="solid"/>
          </a:ln>
        </p:spPr>
      </p:sp>
      <p:sp>
        <p:nvSpPr>
          <p:cNvPr id="7" name="dot3"/>
          <p:cNvSpPr/>
          <p:nvPr/>
        </p:nvSpPr>
        <p:spPr>
          <a:xfrm>
            <a:off x="8165592" y="338328"/>
            <a:ext cx="100584" cy="100584"/>
          </a:xfrm>
          <a:prstGeom prst="ellipse">
            <a:avLst/>
          </a:prstGeom>
          <a:solidFill>
            <a:srgbClr val="D5DED9"/>
          </a:solidFill>
          <a:ln w="12700">
            <a:solidFill>
              <a:srgbClr val="D5DED9"/>
            </a:solidFill>
            <a:prstDash val="solid"/>
          </a:ln>
        </p:spPr>
      </p:sp>
      <p:sp>
        <p:nvSpPr>
          <p:cNvPr id="8" name="dot4"/>
          <p:cNvSpPr/>
          <p:nvPr/>
        </p:nvSpPr>
        <p:spPr>
          <a:xfrm>
            <a:off x="8339328" y="338328"/>
            <a:ext cx="100584" cy="100584"/>
          </a:xfrm>
          <a:prstGeom prst="ellipse">
            <a:avLst/>
          </a:prstGeom>
          <a:solidFill>
            <a:srgbClr val="D5DED9"/>
          </a:solidFill>
          <a:ln w="12700">
            <a:solidFill>
              <a:srgbClr val="D5DED9"/>
            </a:solidFill>
            <a:prstDash val="solid"/>
          </a:ln>
        </p:spPr>
      </p:sp>
      <p:sp>
        <p:nvSpPr>
          <p:cNvPr id="9" name="dot5"/>
          <p:cNvSpPr/>
          <p:nvPr/>
        </p:nvSpPr>
        <p:spPr>
          <a:xfrm>
            <a:off x="8513064" y="338328"/>
            <a:ext cx="100584" cy="100584"/>
          </a:xfrm>
          <a:prstGeom prst="ellipse">
            <a:avLst/>
          </a:prstGeom>
          <a:solidFill>
            <a:srgbClr val="D5DED9"/>
          </a:solidFill>
          <a:ln w="12700">
            <a:solidFill>
              <a:srgbClr val="D5DED9"/>
            </a:solidFill>
            <a:prstDash val="solid"/>
          </a:ln>
        </p:spPr>
      </p:sp>
      <p:sp>
        <p:nvSpPr>
          <p:cNvPr id="11" name="Shape 8"/>
          <p:cNvSpPr/>
          <p:nvPr/>
        </p:nvSpPr>
        <p:spPr>
          <a:xfrm>
            <a:off x="640080" y="2011680"/>
            <a:ext cx="7863840" cy="0"/>
          </a:xfrm>
          <a:prstGeom prst="line">
            <a:avLst/>
          </a:prstGeom>
          <a:noFill/>
          <a:ln w="25400">
            <a:solidFill>
              <a:srgbClr val="D5DED9"/>
            </a:solidFill>
            <a:prstDash val="solid"/>
          </a:ln>
        </p:spPr>
      </p:sp>
      <p:sp>
        <p:nvSpPr>
          <p:cNvPr id="12" name="Shape 9"/>
          <p:cNvSpPr/>
          <p:nvPr/>
        </p:nvSpPr>
        <p:spPr>
          <a:xfrm>
            <a:off x="557784" y="1929384"/>
            <a:ext cx="164592" cy="164592"/>
          </a:xfrm>
          <a:prstGeom prst="ellipse">
            <a:avLst/>
          </a:prstGeom>
          <a:solidFill>
            <a:srgbClr val="00A86A"/>
          </a:solidFill>
          <a:ln w="19050">
            <a:solidFill>
              <a:srgbClr val="FFFFFF"/>
            </a:solidFill>
            <a:prstDash val="solid"/>
          </a:ln>
        </p:spPr>
      </p:sp>
      <p:sp>
        <p:nvSpPr>
          <p:cNvPr id="13" name="Text 10"/>
          <p:cNvSpPr txBox="1"/>
          <p:nvPr/>
        </p:nvSpPr>
        <p:spPr>
          <a:xfrm>
            <a:off x="274320" y="1554480"/>
            <a:ext cx="731520" cy="274320"/>
          </a:xfrm>
          <a:prstGeom prst="rect">
            <a:avLst/>
          </a:prstGeom>
          <a:noFill/>
          <a:ln/>
        </p:spPr>
        <p:txBody>
          <a:bodyPr wrap="square" lIns="0" tIns="0" rIns="0" bIns="0" rtlCol="0" anchor="t"/>
          <a:lstStyle/>
          <a:p>
            <a:pPr algn="ctr" indent="0" marL="0">
              <a:buNone/>
            </a:pPr>
            <a:r>
              <a:rPr lang="en-US" sz="1100" b="1" dirty="0">
                <a:solidFill>
                  <a:srgbClr val="231F20"/>
                </a:solidFill>
                <a:latin typeface="Calibri" pitchFamily="34" charset="0"/>
                <a:ea typeface="Calibri" pitchFamily="34" charset="-122"/>
                <a:cs typeface="Calibri" pitchFamily="34" charset="-120"/>
              </a:rPr>
              <a:t>2013</a:t>
            </a:r>
            <a:endParaRPr lang="en-US" sz="1100" dirty="0"/>
          </a:p>
        </p:txBody>
      </p:sp>
      <p:sp>
        <p:nvSpPr>
          <p:cNvPr id="14" name="Text 11"/>
          <p:cNvSpPr txBox="1"/>
          <p:nvPr/>
        </p:nvSpPr>
        <p:spPr>
          <a:xfrm>
            <a:off x="137160" y="2148840"/>
            <a:ext cx="1005840" cy="228600"/>
          </a:xfrm>
          <a:prstGeom prst="rect">
            <a:avLst/>
          </a:prstGeom>
          <a:noFill/>
          <a:ln/>
        </p:spPr>
        <p:txBody>
          <a:bodyPr wrap="square" lIns="0" tIns="0" rIns="0" bIns="0" rtlCol="0" anchor="t"/>
          <a:lstStyle/>
          <a:p>
            <a:pPr algn="ctr" indent="0" marL="0">
              <a:buNone/>
            </a:pPr>
            <a:r>
              <a:rPr lang="en-US" sz="950" dirty="0">
                <a:solidFill>
                  <a:srgbClr val="5E6964"/>
                </a:solidFill>
                <a:latin typeface="Calibri" pitchFamily="34" charset="0"/>
                <a:ea typeface="Calibri" pitchFamily="34" charset="-122"/>
                <a:cs typeface="Calibri" pitchFamily="34" charset="-120"/>
              </a:rPr>
              <a:t>15 janv. ±3</a:t>
            </a:r>
            <a:endParaRPr lang="en-US" sz="950" dirty="0"/>
          </a:p>
        </p:txBody>
      </p:sp>
      <p:sp>
        <p:nvSpPr>
          <p:cNvPr id="15" name="Shape 12"/>
          <p:cNvSpPr/>
          <p:nvPr/>
        </p:nvSpPr>
        <p:spPr>
          <a:xfrm>
            <a:off x="1865376" y="1929384"/>
            <a:ext cx="164592" cy="164592"/>
          </a:xfrm>
          <a:prstGeom prst="ellipse">
            <a:avLst/>
          </a:prstGeom>
          <a:solidFill>
            <a:srgbClr val="00A86A"/>
          </a:solidFill>
          <a:ln w="19050">
            <a:solidFill>
              <a:srgbClr val="FFFFFF"/>
            </a:solidFill>
            <a:prstDash val="solid"/>
          </a:ln>
        </p:spPr>
      </p:sp>
      <p:sp>
        <p:nvSpPr>
          <p:cNvPr id="16" name="Text 13"/>
          <p:cNvSpPr txBox="1"/>
          <p:nvPr/>
        </p:nvSpPr>
        <p:spPr>
          <a:xfrm>
            <a:off x="1581912" y="1554480"/>
            <a:ext cx="731520" cy="274320"/>
          </a:xfrm>
          <a:prstGeom prst="rect">
            <a:avLst/>
          </a:prstGeom>
          <a:noFill/>
          <a:ln/>
        </p:spPr>
        <p:txBody>
          <a:bodyPr wrap="square" lIns="0" tIns="0" rIns="0" bIns="0" rtlCol="0" anchor="t"/>
          <a:lstStyle/>
          <a:p>
            <a:pPr algn="ctr" indent="0" marL="0">
              <a:buNone/>
            </a:pPr>
            <a:r>
              <a:rPr lang="en-US" sz="1100" b="1" dirty="0">
                <a:solidFill>
                  <a:srgbClr val="231F20"/>
                </a:solidFill>
                <a:latin typeface="Calibri" pitchFamily="34" charset="0"/>
                <a:ea typeface="Calibri" pitchFamily="34" charset="-122"/>
                <a:cs typeface="Calibri" pitchFamily="34" charset="-120"/>
              </a:rPr>
              <a:t>2015</a:t>
            </a:r>
            <a:endParaRPr lang="en-US" sz="1100" dirty="0"/>
          </a:p>
        </p:txBody>
      </p:sp>
      <p:sp>
        <p:nvSpPr>
          <p:cNvPr id="17" name="Text 14"/>
          <p:cNvSpPr txBox="1"/>
          <p:nvPr/>
        </p:nvSpPr>
        <p:spPr>
          <a:xfrm>
            <a:off x="1444752" y="2148840"/>
            <a:ext cx="1005840" cy="228600"/>
          </a:xfrm>
          <a:prstGeom prst="rect">
            <a:avLst/>
          </a:prstGeom>
          <a:noFill/>
          <a:ln/>
        </p:spPr>
        <p:txBody>
          <a:bodyPr wrap="square" lIns="0" tIns="0" rIns="0" bIns="0" rtlCol="0" anchor="t"/>
          <a:lstStyle/>
          <a:p>
            <a:pPr algn="ctr" indent="0" marL="0">
              <a:buNone/>
            </a:pPr>
            <a:r>
              <a:rPr lang="en-US" sz="950" dirty="0">
                <a:solidFill>
                  <a:srgbClr val="5E6964"/>
                </a:solidFill>
                <a:latin typeface="Calibri" pitchFamily="34" charset="0"/>
                <a:ea typeface="Calibri" pitchFamily="34" charset="-122"/>
                <a:cs typeface="Calibri" pitchFamily="34" charset="-120"/>
              </a:rPr>
              <a:t>15 janv. ±3</a:t>
            </a:r>
            <a:endParaRPr lang="en-US" sz="950" dirty="0"/>
          </a:p>
        </p:txBody>
      </p:sp>
      <p:sp>
        <p:nvSpPr>
          <p:cNvPr id="18" name="Shape 15"/>
          <p:cNvSpPr/>
          <p:nvPr/>
        </p:nvSpPr>
        <p:spPr>
          <a:xfrm>
            <a:off x="3172968" y="1929384"/>
            <a:ext cx="164592" cy="164592"/>
          </a:xfrm>
          <a:prstGeom prst="ellipse">
            <a:avLst/>
          </a:prstGeom>
          <a:solidFill>
            <a:srgbClr val="00A86A"/>
          </a:solidFill>
          <a:ln w="19050">
            <a:solidFill>
              <a:srgbClr val="FFFFFF"/>
            </a:solidFill>
            <a:prstDash val="solid"/>
          </a:ln>
        </p:spPr>
      </p:sp>
      <p:sp>
        <p:nvSpPr>
          <p:cNvPr id="19" name="Text 16"/>
          <p:cNvSpPr txBox="1"/>
          <p:nvPr/>
        </p:nvSpPr>
        <p:spPr>
          <a:xfrm>
            <a:off x="2889504" y="1554480"/>
            <a:ext cx="731520" cy="274320"/>
          </a:xfrm>
          <a:prstGeom prst="rect">
            <a:avLst/>
          </a:prstGeom>
          <a:noFill/>
          <a:ln/>
        </p:spPr>
        <p:txBody>
          <a:bodyPr wrap="square" lIns="0" tIns="0" rIns="0" bIns="0" rtlCol="0" anchor="t"/>
          <a:lstStyle/>
          <a:p>
            <a:pPr algn="ctr" indent="0" marL="0">
              <a:buNone/>
            </a:pPr>
            <a:r>
              <a:rPr lang="en-US" sz="1100" b="1" dirty="0">
                <a:solidFill>
                  <a:srgbClr val="231F20"/>
                </a:solidFill>
                <a:latin typeface="Calibri" pitchFamily="34" charset="0"/>
                <a:ea typeface="Calibri" pitchFamily="34" charset="-122"/>
                <a:cs typeface="Calibri" pitchFamily="34" charset="-120"/>
              </a:rPr>
              <a:t>2017</a:t>
            </a:r>
            <a:endParaRPr lang="en-US" sz="1100" dirty="0"/>
          </a:p>
        </p:txBody>
      </p:sp>
      <p:sp>
        <p:nvSpPr>
          <p:cNvPr id="20" name="Text 17"/>
          <p:cNvSpPr txBox="1"/>
          <p:nvPr/>
        </p:nvSpPr>
        <p:spPr>
          <a:xfrm>
            <a:off x="2752344" y="2148840"/>
            <a:ext cx="1005840" cy="228600"/>
          </a:xfrm>
          <a:prstGeom prst="rect">
            <a:avLst/>
          </a:prstGeom>
          <a:noFill/>
          <a:ln/>
        </p:spPr>
        <p:txBody>
          <a:bodyPr wrap="square" lIns="0" tIns="0" rIns="0" bIns="0" rtlCol="0" anchor="t"/>
          <a:lstStyle/>
          <a:p>
            <a:pPr algn="ctr" indent="0" marL="0">
              <a:buNone/>
            </a:pPr>
            <a:r>
              <a:rPr lang="en-US" sz="950" dirty="0">
                <a:solidFill>
                  <a:srgbClr val="5E6964"/>
                </a:solidFill>
                <a:latin typeface="Calibri" pitchFamily="34" charset="0"/>
                <a:ea typeface="Calibri" pitchFamily="34" charset="-122"/>
                <a:cs typeface="Calibri" pitchFamily="34" charset="-120"/>
              </a:rPr>
              <a:t>15 janv. ±3</a:t>
            </a:r>
            <a:endParaRPr lang="en-US" sz="950" dirty="0"/>
          </a:p>
        </p:txBody>
      </p:sp>
      <p:sp>
        <p:nvSpPr>
          <p:cNvPr id="21" name="Shape 18"/>
          <p:cNvSpPr/>
          <p:nvPr/>
        </p:nvSpPr>
        <p:spPr>
          <a:xfrm>
            <a:off x="4480560" y="1929384"/>
            <a:ext cx="164592" cy="164592"/>
          </a:xfrm>
          <a:prstGeom prst="ellipse">
            <a:avLst/>
          </a:prstGeom>
          <a:solidFill>
            <a:srgbClr val="00A86A"/>
          </a:solidFill>
          <a:ln w="19050">
            <a:solidFill>
              <a:srgbClr val="FFFFFF"/>
            </a:solidFill>
            <a:prstDash val="solid"/>
          </a:ln>
        </p:spPr>
      </p:sp>
      <p:sp>
        <p:nvSpPr>
          <p:cNvPr id="22" name="Text 19"/>
          <p:cNvSpPr txBox="1"/>
          <p:nvPr/>
        </p:nvSpPr>
        <p:spPr>
          <a:xfrm>
            <a:off x="4197096" y="1554480"/>
            <a:ext cx="731520" cy="274320"/>
          </a:xfrm>
          <a:prstGeom prst="rect">
            <a:avLst/>
          </a:prstGeom>
          <a:noFill/>
          <a:ln/>
        </p:spPr>
        <p:txBody>
          <a:bodyPr wrap="square" lIns="0" tIns="0" rIns="0" bIns="0" rtlCol="0" anchor="t"/>
          <a:lstStyle/>
          <a:p>
            <a:pPr algn="ctr" indent="0" marL="0">
              <a:buNone/>
            </a:pPr>
            <a:r>
              <a:rPr lang="en-US" sz="1100" b="1" dirty="0">
                <a:solidFill>
                  <a:srgbClr val="231F20"/>
                </a:solidFill>
                <a:latin typeface="Calibri" pitchFamily="34" charset="0"/>
                <a:ea typeface="Calibri" pitchFamily="34" charset="-122"/>
                <a:cs typeface="Calibri" pitchFamily="34" charset="-120"/>
              </a:rPr>
              <a:t>2019</a:t>
            </a:r>
            <a:endParaRPr lang="en-US" sz="1100" dirty="0"/>
          </a:p>
        </p:txBody>
      </p:sp>
      <p:sp>
        <p:nvSpPr>
          <p:cNvPr id="23" name="Text 20"/>
          <p:cNvSpPr txBox="1"/>
          <p:nvPr/>
        </p:nvSpPr>
        <p:spPr>
          <a:xfrm>
            <a:off x="4059936" y="2148840"/>
            <a:ext cx="1005840" cy="228600"/>
          </a:xfrm>
          <a:prstGeom prst="rect">
            <a:avLst/>
          </a:prstGeom>
          <a:noFill/>
          <a:ln/>
        </p:spPr>
        <p:txBody>
          <a:bodyPr wrap="square" lIns="0" tIns="0" rIns="0" bIns="0" rtlCol="0" anchor="t"/>
          <a:lstStyle/>
          <a:p>
            <a:pPr algn="ctr" indent="0" marL="0">
              <a:buNone/>
            </a:pPr>
            <a:r>
              <a:rPr lang="en-US" sz="950" dirty="0">
                <a:solidFill>
                  <a:srgbClr val="5E6964"/>
                </a:solidFill>
                <a:latin typeface="Calibri" pitchFamily="34" charset="0"/>
                <a:ea typeface="Calibri" pitchFamily="34" charset="-122"/>
                <a:cs typeface="Calibri" pitchFamily="34" charset="-120"/>
              </a:rPr>
              <a:t>15 janv. ±3</a:t>
            </a:r>
            <a:endParaRPr lang="en-US" sz="950" dirty="0"/>
          </a:p>
        </p:txBody>
      </p:sp>
      <p:sp>
        <p:nvSpPr>
          <p:cNvPr id="24" name="Shape 21"/>
          <p:cNvSpPr/>
          <p:nvPr/>
        </p:nvSpPr>
        <p:spPr>
          <a:xfrm>
            <a:off x="5788152" y="1929384"/>
            <a:ext cx="164592" cy="164592"/>
          </a:xfrm>
          <a:prstGeom prst="ellipse">
            <a:avLst/>
          </a:prstGeom>
          <a:solidFill>
            <a:srgbClr val="00A86A"/>
          </a:solidFill>
          <a:ln w="19050">
            <a:solidFill>
              <a:srgbClr val="FFFFFF"/>
            </a:solidFill>
            <a:prstDash val="solid"/>
          </a:ln>
        </p:spPr>
      </p:sp>
      <p:sp>
        <p:nvSpPr>
          <p:cNvPr id="25" name="Text 22"/>
          <p:cNvSpPr txBox="1"/>
          <p:nvPr/>
        </p:nvSpPr>
        <p:spPr>
          <a:xfrm>
            <a:off x="5504688" y="1554480"/>
            <a:ext cx="731520" cy="274320"/>
          </a:xfrm>
          <a:prstGeom prst="rect">
            <a:avLst/>
          </a:prstGeom>
          <a:noFill/>
          <a:ln/>
        </p:spPr>
        <p:txBody>
          <a:bodyPr wrap="square" lIns="0" tIns="0" rIns="0" bIns="0" rtlCol="0" anchor="t"/>
          <a:lstStyle/>
          <a:p>
            <a:pPr algn="ctr" indent="0" marL="0">
              <a:buNone/>
            </a:pPr>
            <a:r>
              <a:rPr lang="en-US" sz="1100" b="1" dirty="0">
                <a:solidFill>
                  <a:srgbClr val="231F20"/>
                </a:solidFill>
                <a:latin typeface="Calibri" pitchFamily="34" charset="0"/>
                <a:ea typeface="Calibri" pitchFamily="34" charset="-122"/>
                <a:cs typeface="Calibri" pitchFamily="34" charset="-120"/>
              </a:rPr>
              <a:t>2021</a:t>
            </a:r>
            <a:endParaRPr lang="en-US" sz="1100" dirty="0"/>
          </a:p>
        </p:txBody>
      </p:sp>
      <p:sp>
        <p:nvSpPr>
          <p:cNvPr id="26" name="Text 23"/>
          <p:cNvSpPr txBox="1"/>
          <p:nvPr/>
        </p:nvSpPr>
        <p:spPr>
          <a:xfrm>
            <a:off x="5367528" y="2148840"/>
            <a:ext cx="1005840" cy="228600"/>
          </a:xfrm>
          <a:prstGeom prst="rect">
            <a:avLst/>
          </a:prstGeom>
          <a:noFill/>
          <a:ln/>
        </p:spPr>
        <p:txBody>
          <a:bodyPr wrap="square" lIns="0" tIns="0" rIns="0" bIns="0" rtlCol="0" anchor="t"/>
          <a:lstStyle/>
          <a:p>
            <a:pPr algn="ctr" indent="0" marL="0">
              <a:buNone/>
            </a:pPr>
            <a:r>
              <a:rPr lang="en-US" sz="950" dirty="0">
                <a:solidFill>
                  <a:srgbClr val="5E6964"/>
                </a:solidFill>
                <a:latin typeface="Calibri" pitchFamily="34" charset="0"/>
                <a:ea typeface="Calibri" pitchFamily="34" charset="-122"/>
                <a:cs typeface="Calibri" pitchFamily="34" charset="-120"/>
              </a:rPr>
              <a:t>15 janv. ±3</a:t>
            </a:r>
            <a:endParaRPr lang="en-US" sz="950" dirty="0"/>
          </a:p>
        </p:txBody>
      </p:sp>
      <p:sp>
        <p:nvSpPr>
          <p:cNvPr id="27" name="Shape 24"/>
          <p:cNvSpPr/>
          <p:nvPr/>
        </p:nvSpPr>
        <p:spPr>
          <a:xfrm>
            <a:off x="7095744" y="1929384"/>
            <a:ext cx="164592" cy="164592"/>
          </a:xfrm>
          <a:prstGeom prst="ellipse">
            <a:avLst/>
          </a:prstGeom>
          <a:solidFill>
            <a:srgbClr val="00A86A"/>
          </a:solidFill>
          <a:ln w="19050">
            <a:solidFill>
              <a:srgbClr val="FFFFFF"/>
            </a:solidFill>
            <a:prstDash val="solid"/>
          </a:ln>
        </p:spPr>
      </p:sp>
      <p:sp>
        <p:nvSpPr>
          <p:cNvPr id="28" name="Text 25"/>
          <p:cNvSpPr txBox="1"/>
          <p:nvPr/>
        </p:nvSpPr>
        <p:spPr>
          <a:xfrm>
            <a:off x="6812280" y="1554480"/>
            <a:ext cx="731520" cy="274320"/>
          </a:xfrm>
          <a:prstGeom prst="rect">
            <a:avLst/>
          </a:prstGeom>
          <a:noFill/>
          <a:ln/>
        </p:spPr>
        <p:txBody>
          <a:bodyPr wrap="square" lIns="0" tIns="0" rIns="0" bIns="0" rtlCol="0" anchor="t"/>
          <a:lstStyle/>
          <a:p>
            <a:pPr algn="ctr" indent="0" marL="0">
              <a:buNone/>
            </a:pPr>
            <a:r>
              <a:rPr lang="en-US" sz="1100" b="1" dirty="0">
                <a:solidFill>
                  <a:srgbClr val="231F20"/>
                </a:solidFill>
                <a:latin typeface="Calibri" pitchFamily="34" charset="0"/>
                <a:ea typeface="Calibri" pitchFamily="34" charset="-122"/>
                <a:cs typeface="Calibri" pitchFamily="34" charset="-120"/>
              </a:rPr>
              <a:t>2023</a:t>
            </a:r>
            <a:endParaRPr lang="en-US" sz="1100" dirty="0"/>
          </a:p>
        </p:txBody>
      </p:sp>
      <p:sp>
        <p:nvSpPr>
          <p:cNvPr id="29" name="Text 26"/>
          <p:cNvSpPr txBox="1"/>
          <p:nvPr/>
        </p:nvSpPr>
        <p:spPr>
          <a:xfrm>
            <a:off x="6675120" y="2148840"/>
            <a:ext cx="1005840" cy="228600"/>
          </a:xfrm>
          <a:prstGeom prst="rect">
            <a:avLst/>
          </a:prstGeom>
          <a:noFill/>
          <a:ln/>
        </p:spPr>
        <p:txBody>
          <a:bodyPr wrap="square" lIns="0" tIns="0" rIns="0" bIns="0" rtlCol="0" anchor="t"/>
          <a:lstStyle/>
          <a:p>
            <a:pPr algn="ctr" indent="0" marL="0">
              <a:buNone/>
            </a:pPr>
            <a:r>
              <a:rPr lang="en-US" sz="950" dirty="0">
                <a:solidFill>
                  <a:srgbClr val="5E6964"/>
                </a:solidFill>
                <a:latin typeface="Calibri" pitchFamily="34" charset="0"/>
                <a:ea typeface="Calibri" pitchFamily="34" charset="-122"/>
                <a:cs typeface="Calibri" pitchFamily="34" charset="-120"/>
              </a:rPr>
              <a:t>15 janv. ±3</a:t>
            </a:r>
            <a:endParaRPr lang="en-US" sz="950" dirty="0"/>
          </a:p>
        </p:txBody>
      </p:sp>
      <p:sp>
        <p:nvSpPr>
          <p:cNvPr id="30" name="Shape 27"/>
          <p:cNvSpPr/>
          <p:nvPr/>
        </p:nvSpPr>
        <p:spPr>
          <a:xfrm>
            <a:off x="8403336" y="1929384"/>
            <a:ext cx="164592" cy="164592"/>
          </a:xfrm>
          <a:prstGeom prst="ellipse">
            <a:avLst/>
          </a:prstGeom>
          <a:solidFill>
            <a:srgbClr val="00A86A"/>
          </a:solidFill>
          <a:ln w="19050">
            <a:solidFill>
              <a:srgbClr val="FFFFFF"/>
            </a:solidFill>
            <a:prstDash val="solid"/>
          </a:ln>
        </p:spPr>
      </p:sp>
      <p:sp>
        <p:nvSpPr>
          <p:cNvPr id="31" name="Text 28"/>
          <p:cNvSpPr txBox="1"/>
          <p:nvPr/>
        </p:nvSpPr>
        <p:spPr>
          <a:xfrm>
            <a:off x="8119872" y="1554480"/>
            <a:ext cx="731520" cy="274320"/>
          </a:xfrm>
          <a:prstGeom prst="rect">
            <a:avLst/>
          </a:prstGeom>
          <a:noFill/>
          <a:ln/>
        </p:spPr>
        <p:txBody>
          <a:bodyPr wrap="square" lIns="0" tIns="0" rIns="0" bIns="0" rtlCol="0" anchor="t"/>
          <a:lstStyle/>
          <a:p>
            <a:pPr algn="ctr" indent="0" marL="0">
              <a:buNone/>
            </a:pPr>
            <a:r>
              <a:rPr lang="en-US" sz="1100" b="1" dirty="0">
                <a:solidFill>
                  <a:srgbClr val="231F20"/>
                </a:solidFill>
                <a:latin typeface="Calibri" pitchFamily="34" charset="0"/>
                <a:ea typeface="Calibri" pitchFamily="34" charset="-122"/>
                <a:cs typeface="Calibri" pitchFamily="34" charset="-120"/>
              </a:rPr>
              <a:t>2025</a:t>
            </a:r>
            <a:endParaRPr lang="en-US" sz="1100" dirty="0"/>
          </a:p>
        </p:txBody>
      </p:sp>
      <p:sp>
        <p:nvSpPr>
          <p:cNvPr id="32" name="Text 29"/>
          <p:cNvSpPr txBox="1"/>
          <p:nvPr/>
        </p:nvSpPr>
        <p:spPr>
          <a:xfrm>
            <a:off x="7982712" y="2148840"/>
            <a:ext cx="1005840" cy="228600"/>
          </a:xfrm>
          <a:prstGeom prst="rect">
            <a:avLst/>
          </a:prstGeom>
          <a:noFill/>
          <a:ln/>
        </p:spPr>
        <p:txBody>
          <a:bodyPr wrap="square" lIns="0" tIns="0" rIns="0" bIns="0" rtlCol="0" anchor="t"/>
          <a:lstStyle/>
          <a:p>
            <a:pPr algn="ctr" indent="0" marL="0">
              <a:buNone/>
            </a:pPr>
            <a:r>
              <a:rPr lang="en-US" sz="950" dirty="0">
                <a:solidFill>
                  <a:srgbClr val="5E6964"/>
                </a:solidFill>
                <a:latin typeface="Calibri" pitchFamily="34" charset="0"/>
                <a:ea typeface="Calibri" pitchFamily="34" charset="-122"/>
                <a:cs typeface="Calibri" pitchFamily="34" charset="-120"/>
              </a:rPr>
              <a:t>15 janv. ±3</a:t>
            </a:r>
            <a:endParaRPr lang="en-US" sz="950" dirty="0"/>
          </a:p>
        </p:txBody>
      </p:sp>
      <p:sp>
        <p:nvSpPr>
          <p:cNvPr id="33" name="Shape 30"/>
          <p:cNvSpPr/>
          <p:nvPr/>
        </p:nvSpPr>
        <p:spPr>
          <a:xfrm>
            <a:off x="457200" y="2606040"/>
            <a:ext cx="2606040" cy="1417320"/>
          </a:xfrm>
          <a:prstGeom prst="roundRect">
            <a:avLst>
              <a:gd name="adj" fmla="val 5161"/>
            </a:avLst>
          </a:prstGeom>
          <a:solidFill>
            <a:srgbClr val="E8F5EF"/>
          </a:solidFill>
          <a:ln w="15875">
            <a:solidFill>
              <a:srgbClr val="00704A"/>
            </a:solidFill>
            <a:prstDash val="solid"/>
          </a:ln>
        </p:spPr>
      </p:sp>
      <p:sp>
        <p:nvSpPr>
          <p:cNvPr id="34" name="Shape 31"/>
          <p:cNvSpPr/>
          <p:nvPr/>
        </p:nvSpPr>
        <p:spPr>
          <a:xfrm>
            <a:off x="621792" y="2743200"/>
            <a:ext cx="457200" cy="457200"/>
          </a:xfrm>
          <a:prstGeom prst="ellipse">
            <a:avLst/>
          </a:prstGeom>
          <a:solidFill>
            <a:srgbClr val="00704A">
              <a:alpha val="22000"/>
            </a:srgbClr>
          </a:solidFill>
          <a:ln w="12700">
            <a:solidFill>
              <a:srgbClr val="00704A">
                <a:alpha val="0"/>
              </a:srgbClr>
            </a:solidFill>
            <a:prstDash val="solid"/>
          </a:ln>
        </p:spPr>
      </p:sp>
      <p:pic>
        <p:nvPicPr>
          <p:cNvPr id="35" name="Image 0" descr="preencoded.png">    </p:cNvPr>
          <p:cNvPicPr>
            <a:picLocks noChangeAspect="1"/>
          </p:cNvPicPr>
          <p:nvPr/>
        </p:nvPicPr>
        <p:blipFill>
          <a:blip r:embed="rId1"/>
          <a:stretch>
            <a:fillRect/>
          </a:stretch>
        </p:blipFill>
        <p:spPr>
          <a:xfrm>
            <a:off x="731520" y="2852928"/>
            <a:ext cx="237744" cy="237744"/>
          </a:xfrm>
          <a:prstGeom prst="rect">
            <a:avLst/>
          </a:prstGeom>
        </p:spPr>
      </p:pic>
      <p:sp>
        <p:nvSpPr>
          <p:cNvPr id="36" name="Text 32"/>
          <p:cNvSpPr txBox="1"/>
          <p:nvPr/>
        </p:nvSpPr>
        <p:spPr>
          <a:xfrm>
            <a:off x="1188720" y="2743200"/>
            <a:ext cx="1783080" cy="457200"/>
          </a:xfrm>
          <a:prstGeom prst="rect">
            <a:avLst/>
          </a:prstGeom>
          <a:noFill/>
          <a:ln/>
        </p:spPr>
        <p:txBody>
          <a:bodyPr wrap="square" lIns="0" tIns="0" rIns="0" bIns="0" rtlCol="0" anchor="ctr"/>
          <a:lstStyle/>
          <a:p>
            <a:pPr indent="0" marL="0">
              <a:buNone/>
            </a:pPr>
            <a:r>
              <a:rPr lang="en-US" sz="1300" b="1" dirty="0">
                <a:solidFill>
                  <a:srgbClr val="231F20"/>
                </a:solidFill>
                <a:latin typeface="Calibri" pitchFamily="34" charset="0"/>
                <a:ea typeface="Calibri" pitchFamily="34" charset="-122"/>
                <a:cs typeface="Calibri" pitchFamily="34" charset="-120"/>
              </a:rPr>
              <a:t>Quotidien A1 / A2</a:t>
            </a:r>
            <a:endParaRPr lang="en-US" sz="1300" dirty="0"/>
          </a:p>
        </p:txBody>
      </p:sp>
      <p:sp>
        <p:nvSpPr>
          <p:cNvPr id="37" name="Text 33"/>
          <p:cNvSpPr txBox="1"/>
          <p:nvPr/>
        </p:nvSpPr>
        <p:spPr>
          <a:xfrm>
            <a:off x="621792" y="3273552"/>
            <a:ext cx="2286000" cy="713232"/>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Jour fixe ± 3 nuits (7 nuits par an), puis garder les nuits dégagées et de bonne qualité et en prendre la médiane</a:t>
            </a:r>
            <a:endParaRPr lang="en-US" sz="1050" dirty="0"/>
          </a:p>
        </p:txBody>
      </p:sp>
      <p:sp>
        <p:nvSpPr>
          <p:cNvPr id="38" name="Shape 34"/>
          <p:cNvSpPr/>
          <p:nvPr/>
        </p:nvSpPr>
        <p:spPr>
          <a:xfrm>
            <a:off x="3246120" y="2606040"/>
            <a:ext cx="2606040" cy="1417320"/>
          </a:xfrm>
          <a:prstGeom prst="roundRect">
            <a:avLst>
              <a:gd name="adj" fmla="val 5161"/>
            </a:avLst>
          </a:prstGeom>
          <a:solidFill>
            <a:srgbClr val="F4F7F5"/>
          </a:solidFill>
          <a:ln w="9525">
            <a:solidFill>
              <a:srgbClr val="D5DED9"/>
            </a:solidFill>
            <a:prstDash val="solid"/>
          </a:ln>
        </p:spPr>
      </p:sp>
      <p:sp>
        <p:nvSpPr>
          <p:cNvPr id="39" name="Shape 35"/>
          <p:cNvSpPr/>
          <p:nvPr/>
        </p:nvSpPr>
        <p:spPr>
          <a:xfrm>
            <a:off x="3410712" y="2743200"/>
            <a:ext cx="457200" cy="457200"/>
          </a:xfrm>
          <a:prstGeom prst="ellipse">
            <a:avLst/>
          </a:prstGeom>
          <a:solidFill>
            <a:srgbClr val="0E7C86">
              <a:alpha val="22000"/>
            </a:srgbClr>
          </a:solidFill>
          <a:ln w="12700">
            <a:solidFill>
              <a:srgbClr val="0E7C86">
                <a:alpha val="0"/>
              </a:srgbClr>
            </a:solidFill>
            <a:prstDash val="solid"/>
          </a:ln>
        </p:spPr>
      </p:sp>
      <p:pic>
        <p:nvPicPr>
          <p:cNvPr id="40" name="Image 1" descr="preencoded.png">    </p:cNvPr>
          <p:cNvPicPr>
            <a:picLocks noChangeAspect="1"/>
          </p:cNvPicPr>
          <p:nvPr/>
        </p:nvPicPr>
        <p:blipFill>
          <a:blip r:embed="rId2"/>
          <a:stretch>
            <a:fillRect/>
          </a:stretch>
        </p:blipFill>
        <p:spPr>
          <a:xfrm>
            <a:off x="3520440" y="2852928"/>
            <a:ext cx="237744" cy="237744"/>
          </a:xfrm>
          <a:prstGeom prst="rect">
            <a:avLst/>
          </a:prstGeom>
        </p:spPr>
      </p:pic>
      <p:sp>
        <p:nvSpPr>
          <p:cNvPr id="41" name="Text 36"/>
          <p:cNvSpPr txBox="1"/>
          <p:nvPr/>
        </p:nvSpPr>
        <p:spPr>
          <a:xfrm>
            <a:off x="3977640" y="2743200"/>
            <a:ext cx="1783080" cy="457200"/>
          </a:xfrm>
          <a:prstGeom prst="rect">
            <a:avLst/>
          </a:prstGeom>
          <a:noFill/>
          <a:ln/>
        </p:spPr>
        <p:txBody>
          <a:bodyPr wrap="square" lIns="0" tIns="0" rIns="0" bIns="0" rtlCol="0" anchor="ctr"/>
          <a:lstStyle/>
          <a:p>
            <a:pPr indent="0" marL="0">
              <a:buNone/>
            </a:pPr>
            <a:r>
              <a:rPr lang="en-US" sz="1300" b="1" dirty="0">
                <a:solidFill>
                  <a:srgbClr val="231F20"/>
                </a:solidFill>
                <a:latin typeface="Calibri" pitchFamily="34" charset="0"/>
                <a:ea typeface="Calibri" pitchFamily="34" charset="-122"/>
                <a:cs typeface="Calibri" pitchFamily="34" charset="-120"/>
              </a:rPr>
              <a:t>Mensuel A3</a:t>
            </a:r>
            <a:endParaRPr lang="en-US" sz="1300" dirty="0"/>
          </a:p>
        </p:txBody>
      </p:sp>
      <p:sp>
        <p:nvSpPr>
          <p:cNvPr id="42" name="Text 37"/>
          <p:cNvSpPr txBox="1"/>
          <p:nvPr/>
        </p:nvSpPr>
        <p:spPr>
          <a:xfrm>
            <a:off x="3410712" y="3273552"/>
            <a:ext cx="2286000" cy="713232"/>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Le même mois chaque année : le composite absorbe déjà nuages et Lune</a:t>
            </a:r>
            <a:endParaRPr lang="en-US" sz="1050" dirty="0"/>
          </a:p>
        </p:txBody>
      </p:sp>
      <p:sp>
        <p:nvSpPr>
          <p:cNvPr id="43" name="Shape 38"/>
          <p:cNvSpPr/>
          <p:nvPr/>
        </p:nvSpPr>
        <p:spPr>
          <a:xfrm>
            <a:off x="6035040" y="2606040"/>
            <a:ext cx="2606040" cy="1417320"/>
          </a:xfrm>
          <a:prstGeom prst="roundRect">
            <a:avLst>
              <a:gd name="adj" fmla="val 5161"/>
            </a:avLst>
          </a:prstGeom>
          <a:solidFill>
            <a:srgbClr val="F4F7F5"/>
          </a:solidFill>
          <a:ln w="9525">
            <a:solidFill>
              <a:srgbClr val="D5DED9"/>
            </a:solidFill>
            <a:prstDash val="solid"/>
          </a:ln>
        </p:spPr>
      </p:sp>
      <p:sp>
        <p:nvSpPr>
          <p:cNvPr id="44" name="Shape 39"/>
          <p:cNvSpPr/>
          <p:nvPr/>
        </p:nvSpPr>
        <p:spPr>
          <a:xfrm>
            <a:off x="6199632" y="2743200"/>
            <a:ext cx="457200" cy="457200"/>
          </a:xfrm>
          <a:prstGeom prst="ellipse">
            <a:avLst/>
          </a:prstGeom>
          <a:solidFill>
            <a:srgbClr val="00A86A">
              <a:alpha val="22000"/>
            </a:srgbClr>
          </a:solidFill>
          <a:ln w="12700">
            <a:solidFill>
              <a:srgbClr val="00A86A">
                <a:alpha val="0"/>
              </a:srgbClr>
            </a:solidFill>
            <a:prstDash val="solid"/>
          </a:ln>
        </p:spPr>
      </p:sp>
      <p:pic>
        <p:nvPicPr>
          <p:cNvPr id="45" name="Image 2" descr="preencoded.png">    </p:cNvPr>
          <p:cNvPicPr>
            <a:picLocks noChangeAspect="1"/>
          </p:cNvPicPr>
          <p:nvPr/>
        </p:nvPicPr>
        <p:blipFill>
          <a:blip r:embed="rId3"/>
          <a:stretch>
            <a:fillRect/>
          </a:stretch>
        </p:blipFill>
        <p:spPr>
          <a:xfrm>
            <a:off x="6309360" y="2852928"/>
            <a:ext cx="237744" cy="237744"/>
          </a:xfrm>
          <a:prstGeom prst="rect">
            <a:avLst/>
          </a:prstGeom>
        </p:spPr>
      </p:pic>
      <p:sp>
        <p:nvSpPr>
          <p:cNvPr id="46" name="Text 40"/>
          <p:cNvSpPr txBox="1"/>
          <p:nvPr/>
        </p:nvSpPr>
        <p:spPr>
          <a:xfrm>
            <a:off x="6766560" y="2743200"/>
            <a:ext cx="1783080" cy="457200"/>
          </a:xfrm>
          <a:prstGeom prst="rect">
            <a:avLst/>
          </a:prstGeom>
          <a:noFill/>
          <a:ln/>
        </p:spPr>
        <p:txBody>
          <a:bodyPr wrap="square" lIns="0" tIns="0" rIns="0" bIns="0" rtlCol="0" anchor="ctr"/>
          <a:lstStyle/>
          <a:p>
            <a:pPr indent="0" marL="0">
              <a:buNone/>
            </a:pPr>
            <a:r>
              <a:rPr lang="en-US" sz="1300" b="1" dirty="0">
                <a:solidFill>
                  <a:srgbClr val="231F20"/>
                </a:solidFill>
                <a:latin typeface="Calibri" pitchFamily="34" charset="0"/>
                <a:ea typeface="Calibri" pitchFamily="34" charset="-122"/>
                <a:cs typeface="Calibri" pitchFamily="34" charset="-120"/>
              </a:rPr>
              <a:t>Annuel A4</a:t>
            </a:r>
            <a:endParaRPr lang="en-US" sz="1300" dirty="0"/>
          </a:p>
        </p:txBody>
      </p:sp>
      <p:sp>
        <p:nvSpPr>
          <p:cNvPr id="47" name="Text 41"/>
          <p:cNvSpPr txBox="1"/>
          <p:nvPr/>
        </p:nvSpPr>
        <p:spPr>
          <a:xfrm>
            <a:off x="6199632" y="3273552"/>
            <a:ext cx="2286000" cy="713232"/>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L'année entière : le bon produit pour les tendances interannuelles</a:t>
            </a:r>
            <a:endParaRPr lang="en-US" sz="1050" dirty="0"/>
          </a:p>
        </p:txBody>
      </p:sp>
      <p:sp>
        <p:nvSpPr>
          <p:cNvPr id="48" name="Shape 42"/>
          <p:cNvSpPr/>
          <p:nvPr/>
        </p:nvSpPr>
        <p:spPr>
          <a:xfrm>
            <a:off x="457200" y="4114800"/>
            <a:ext cx="8229600" cy="384048"/>
          </a:xfrm>
          <a:prstGeom prst="roundRect">
            <a:avLst>
              <a:gd name="adj" fmla="val 14286"/>
            </a:avLst>
          </a:prstGeom>
          <a:solidFill>
            <a:srgbClr val="D49A00">
              <a:alpha val="13000"/>
            </a:srgbClr>
          </a:solidFill>
          <a:ln w="12700">
            <a:solidFill>
              <a:srgbClr val="D49A00"/>
            </a:solidFill>
            <a:prstDash val="solid"/>
          </a:ln>
        </p:spPr>
      </p:sp>
      <p:pic>
        <p:nvPicPr>
          <p:cNvPr id="49" name="Image 3" descr="preencoded.png">    </p:cNvPr>
          <p:cNvPicPr>
            <a:picLocks noChangeAspect="1"/>
          </p:cNvPicPr>
          <p:nvPr/>
        </p:nvPicPr>
        <p:blipFill>
          <a:blip r:embed="rId4"/>
          <a:stretch>
            <a:fillRect/>
          </a:stretch>
        </p:blipFill>
        <p:spPr>
          <a:xfrm>
            <a:off x="594360" y="4242816"/>
            <a:ext cx="237744" cy="237744"/>
          </a:xfrm>
          <a:prstGeom prst="rect">
            <a:avLst/>
          </a:prstGeom>
        </p:spPr>
      </p:pic>
      <p:sp>
        <p:nvSpPr>
          <p:cNvPr id="50" name="Text 43"/>
          <p:cNvSpPr txBox="1"/>
          <p:nvPr/>
        </p:nvSpPr>
        <p:spPr>
          <a:xfrm>
            <a:off x="932688" y="4206240"/>
            <a:ext cx="7635240" cy="201168"/>
          </a:xfrm>
          <a:prstGeom prst="rect">
            <a:avLst/>
          </a:prstGeom>
          <a:noFill/>
          <a:ln/>
        </p:spPr>
        <p:txBody>
          <a:bodyPr wrap="square" lIns="0" tIns="0" rIns="0" bIns="0" rtlCol="0" anchor="ctr"/>
          <a:lstStyle/>
          <a:p>
            <a:pPr indent="0" marL="0">
              <a:buNone/>
            </a:pPr>
            <a:r>
              <a:rPr lang="en-US" sz="1100" b="1" dirty="0">
                <a:solidFill>
                  <a:srgbClr val="D49A00"/>
                </a:solidFill>
                <a:latin typeface="Calibri" pitchFamily="34" charset="0"/>
                <a:ea typeface="Calibri" pitchFamily="34" charset="-122"/>
                <a:cs typeface="Calibri" pitchFamily="34" charset="-120"/>
              </a:rPr>
              <a:t>Lune :  </a:t>
            </a:r>
            <a:pPr indent="0" marL="0">
              <a:buNone/>
            </a:pPr>
            <a:r>
              <a:rPr lang="en-US" sz="1100" dirty="0">
                <a:solidFill>
                  <a:srgbClr val="231F20"/>
                </a:solidFill>
                <a:latin typeface="Calibri" pitchFamily="34" charset="0"/>
                <a:ea typeface="Calibri" pitchFamily="34" charset="-122"/>
                <a:cs typeface="Calibri" pitchFamily="34" charset="-120"/>
              </a:rPr>
              <a:t>cycle de 29,5 jours — une date fixe ne fixe pas la phase lunaire.</a:t>
            </a:r>
            <a:endParaRPr lang="en-US" sz="11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8A9590"/>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3"/>
          <p:cNvSpPr/>
          <p:nvPr>
            <p:ph idx="105" type="body" hasCustomPrompt="1"/>
          </p:nvPr>
        </p:nvSpPr>
        <p:spPr>
          <a:xfrm>
            <a:off x="457200" y="274320"/>
            <a:ext cx="6217920" cy="256032"/>
          </a:xfrm>
          <a:prstGeom prst="rect">
            <a:avLst/>
          </a:prstGeom>
          <a:noFill/>
          <a:ln/>
        </p:spPr>
        <p:txBody>
          <a:bodyPr wrap="square" lIns="0" tIns="0" rIns="0" bIns="0" rtlCol="0" anchor="ctr"/>
          <a:lstStyle/>
          <a:p>
            <a:pPr algn="l" indent="0" marL="0">
              <a:buNone/>
            </a:pPr>
            <a:r>
              <a:rPr lang="en-US" sz="1050" b="1" spc="300" kern="0" dirty="0">
                <a:solidFill>
                  <a:srgbClr val="00704A"/>
                </a:solidFill>
                <a:latin typeface="Calibri" pitchFamily="34" charset="0"/>
                <a:ea typeface="Calibri" pitchFamily="34" charset="-122"/>
                <a:cs typeface="Calibri" pitchFamily="34" charset="-120"/>
              </a:rPr>
              <a:t>02 · COLLECTER · RÉSULTATS</a:t>
            </a:r>
            <a:endParaRPr lang="en-US" sz="1050" dirty="0"/>
          </a:p>
        </p:txBody>
      </p:sp>
      <p:sp>
        <p:nvSpPr>
          <p:cNvPr id="3" name="Text 3"/>
          <p:cNvSpPr/>
          <p:nvPr>
            <p:ph idx="106" type="title" hasCustomPrompt="1"/>
          </p:nvPr>
        </p:nvSpPr>
        <p:spPr>
          <a:xfrm>
            <a:off x="457200" y="548640"/>
            <a:ext cx="8229600" cy="566928"/>
          </a:xfrm>
          <a:prstGeom prst="rect">
            <a:avLst/>
          </a:prstGeom>
          <a:noFill/>
          <a:ln/>
        </p:spPr>
        <p:txBody>
          <a:bodyPr wrap="square" lIns="0" tIns="0" rIns="0" bIns="0" rtlCol="0" anchor="ctr"/>
          <a:lstStyle/>
          <a:p>
            <a:pPr algn="l" indent="0" marL="0">
              <a:buNone/>
            </a:pPr>
            <a:r>
              <a:rPr lang="en-US" sz="2800" b="1" dirty="0">
                <a:solidFill>
                  <a:srgbClr val="231F20"/>
                </a:solidFill>
                <a:latin typeface="Calibri" pitchFamily="34" charset="0"/>
                <a:ea typeface="Calibri" pitchFamily="34" charset="-122"/>
                <a:cs typeface="Calibri" pitchFamily="34" charset="-120"/>
              </a:rPr>
              <a:t>Interroger, mesurer la disponibilité, télécharger</a:t>
            </a:r>
            <a:endParaRPr lang="en-US" sz="2800" dirty="0"/>
          </a:p>
        </p:txBody>
      </p:sp>
      <p:sp>
        <p:nvSpPr>
          <p:cNvPr id="4" name="dot0"/>
          <p:cNvSpPr/>
          <p:nvPr/>
        </p:nvSpPr>
        <p:spPr>
          <a:xfrm>
            <a:off x="7644384" y="338328"/>
            <a:ext cx="100584" cy="100584"/>
          </a:xfrm>
          <a:prstGeom prst="ellipse">
            <a:avLst/>
          </a:prstGeom>
          <a:solidFill>
            <a:srgbClr val="D5DED9"/>
          </a:solidFill>
          <a:ln w="12700">
            <a:solidFill>
              <a:srgbClr val="D5DED9"/>
            </a:solidFill>
            <a:prstDash val="solid"/>
          </a:ln>
        </p:spPr>
      </p:sp>
      <p:sp>
        <p:nvSpPr>
          <p:cNvPr id="5" name="dot1"/>
          <p:cNvSpPr/>
          <p:nvPr/>
        </p:nvSpPr>
        <p:spPr>
          <a:xfrm>
            <a:off x="7818120" y="338328"/>
            <a:ext cx="100584" cy="100584"/>
          </a:xfrm>
          <a:prstGeom prst="ellipse">
            <a:avLst/>
          </a:prstGeom>
          <a:solidFill>
            <a:srgbClr val="00704A"/>
          </a:solidFill>
          <a:ln w="12700">
            <a:solidFill>
              <a:srgbClr val="00704A"/>
            </a:solidFill>
            <a:prstDash val="solid"/>
          </a:ln>
        </p:spPr>
      </p:sp>
      <p:sp>
        <p:nvSpPr>
          <p:cNvPr id="6" name="dot2"/>
          <p:cNvSpPr/>
          <p:nvPr/>
        </p:nvSpPr>
        <p:spPr>
          <a:xfrm>
            <a:off x="7991856" y="338328"/>
            <a:ext cx="100584" cy="100584"/>
          </a:xfrm>
          <a:prstGeom prst="ellipse">
            <a:avLst/>
          </a:prstGeom>
          <a:solidFill>
            <a:srgbClr val="D5DED9"/>
          </a:solidFill>
          <a:ln w="12700">
            <a:solidFill>
              <a:srgbClr val="D5DED9"/>
            </a:solidFill>
            <a:prstDash val="solid"/>
          </a:ln>
        </p:spPr>
      </p:sp>
      <p:sp>
        <p:nvSpPr>
          <p:cNvPr id="7" name="dot3"/>
          <p:cNvSpPr/>
          <p:nvPr/>
        </p:nvSpPr>
        <p:spPr>
          <a:xfrm>
            <a:off x="8165592" y="338328"/>
            <a:ext cx="100584" cy="100584"/>
          </a:xfrm>
          <a:prstGeom prst="ellipse">
            <a:avLst/>
          </a:prstGeom>
          <a:solidFill>
            <a:srgbClr val="D5DED9"/>
          </a:solidFill>
          <a:ln w="12700">
            <a:solidFill>
              <a:srgbClr val="D5DED9"/>
            </a:solidFill>
            <a:prstDash val="solid"/>
          </a:ln>
        </p:spPr>
      </p:sp>
      <p:sp>
        <p:nvSpPr>
          <p:cNvPr id="8" name="dot4"/>
          <p:cNvSpPr/>
          <p:nvPr/>
        </p:nvSpPr>
        <p:spPr>
          <a:xfrm>
            <a:off x="8339328" y="338328"/>
            <a:ext cx="100584" cy="100584"/>
          </a:xfrm>
          <a:prstGeom prst="ellipse">
            <a:avLst/>
          </a:prstGeom>
          <a:solidFill>
            <a:srgbClr val="D5DED9"/>
          </a:solidFill>
          <a:ln w="12700">
            <a:solidFill>
              <a:srgbClr val="D5DED9"/>
            </a:solidFill>
            <a:prstDash val="solid"/>
          </a:ln>
        </p:spPr>
      </p:sp>
      <p:sp>
        <p:nvSpPr>
          <p:cNvPr id="9" name="dot5"/>
          <p:cNvSpPr/>
          <p:nvPr/>
        </p:nvSpPr>
        <p:spPr>
          <a:xfrm>
            <a:off x="8513064" y="338328"/>
            <a:ext cx="100584" cy="100584"/>
          </a:xfrm>
          <a:prstGeom prst="ellipse">
            <a:avLst/>
          </a:prstGeom>
          <a:solidFill>
            <a:srgbClr val="D5DED9"/>
          </a:solidFill>
          <a:ln w="12700">
            <a:solidFill>
              <a:srgbClr val="D5DED9"/>
            </a:solidFill>
            <a:prstDash val="solid"/>
          </a:ln>
        </p:spPr>
      </p:sp>
      <p:sp>
        <p:nvSpPr>
          <p:cNvPr id="11" name="Shape 8"/>
          <p:cNvSpPr/>
          <p:nvPr/>
        </p:nvSpPr>
        <p:spPr>
          <a:xfrm>
            <a:off x="457200" y="1371600"/>
            <a:ext cx="2514600" cy="1508760"/>
          </a:xfrm>
          <a:prstGeom prst="roundRect">
            <a:avLst>
              <a:gd name="adj" fmla="val 4848"/>
            </a:avLst>
          </a:prstGeom>
          <a:solidFill>
            <a:srgbClr val="F4F7F5"/>
          </a:solidFill>
          <a:ln w="9525">
            <a:solidFill>
              <a:srgbClr val="D5DED9"/>
            </a:solidFill>
            <a:prstDash val="solid"/>
          </a:ln>
        </p:spPr>
      </p:sp>
      <p:sp>
        <p:nvSpPr>
          <p:cNvPr id="12" name="Shape 9"/>
          <p:cNvSpPr/>
          <p:nvPr/>
        </p:nvSpPr>
        <p:spPr>
          <a:xfrm>
            <a:off x="621792" y="1508760"/>
            <a:ext cx="457200" cy="457200"/>
          </a:xfrm>
          <a:prstGeom prst="ellipse">
            <a:avLst/>
          </a:prstGeom>
          <a:solidFill>
            <a:srgbClr val="00704A">
              <a:alpha val="22000"/>
            </a:srgbClr>
          </a:solidFill>
          <a:ln w="12700">
            <a:solidFill>
              <a:srgbClr val="00704A">
                <a:alpha val="0"/>
              </a:srgbClr>
            </a:solidFill>
            <a:prstDash val="solid"/>
          </a:ln>
        </p:spPr>
      </p:sp>
      <p:pic>
        <p:nvPicPr>
          <p:cNvPr id="13" name="Image 0" descr="preencoded.png">    </p:cNvPr>
          <p:cNvPicPr>
            <a:picLocks noChangeAspect="1"/>
          </p:cNvPicPr>
          <p:nvPr/>
        </p:nvPicPr>
        <p:blipFill>
          <a:blip r:embed="rId1"/>
          <a:stretch>
            <a:fillRect/>
          </a:stretch>
        </p:blipFill>
        <p:spPr>
          <a:xfrm>
            <a:off x="731520" y="1618488"/>
            <a:ext cx="237744" cy="237744"/>
          </a:xfrm>
          <a:prstGeom prst="rect">
            <a:avLst/>
          </a:prstGeom>
        </p:spPr>
      </p:pic>
      <p:sp>
        <p:nvSpPr>
          <p:cNvPr id="14" name="Text 10"/>
          <p:cNvSpPr txBox="1"/>
          <p:nvPr/>
        </p:nvSpPr>
        <p:spPr>
          <a:xfrm>
            <a:off x="1188720" y="1508760"/>
            <a:ext cx="1691640" cy="457200"/>
          </a:xfrm>
          <a:prstGeom prst="rect">
            <a:avLst/>
          </a:prstGeom>
          <a:noFill/>
          <a:ln/>
        </p:spPr>
        <p:txBody>
          <a:bodyPr wrap="square" lIns="0" tIns="0" rIns="0" bIns="0" rtlCol="0" anchor="ctr"/>
          <a:lstStyle/>
          <a:p>
            <a:pPr indent="0" marL="0">
              <a:buNone/>
            </a:pPr>
            <a:r>
              <a:rPr lang="en-US" sz="1300" b="1" dirty="0">
                <a:solidFill>
                  <a:srgbClr val="231F20"/>
                </a:solidFill>
                <a:latin typeface="Calibri" pitchFamily="34" charset="0"/>
                <a:ea typeface="Calibri" pitchFamily="34" charset="-122"/>
                <a:cs typeface="Calibri" pitchFamily="34" charset="-120"/>
              </a:rPr>
              <a:t>1 · Interroger</a:t>
            </a:r>
            <a:endParaRPr lang="en-US" sz="1300" dirty="0"/>
          </a:p>
        </p:txBody>
      </p:sp>
      <p:sp>
        <p:nvSpPr>
          <p:cNvPr id="15" name="Text 11"/>
          <p:cNvSpPr txBox="1"/>
          <p:nvPr/>
        </p:nvSpPr>
        <p:spPr>
          <a:xfrm>
            <a:off x="621792" y="2057400"/>
            <a:ext cx="2240280" cy="777240"/>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Une requête par année · pagination (2 000 par page) · dédoublonnage par tuile et date</a:t>
            </a:r>
            <a:endParaRPr lang="en-US" sz="1050" dirty="0"/>
          </a:p>
        </p:txBody>
      </p:sp>
      <p:sp>
        <p:nvSpPr>
          <p:cNvPr id="16" name="Shape 12"/>
          <p:cNvSpPr/>
          <p:nvPr/>
        </p:nvSpPr>
        <p:spPr>
          <a:xfrm>
            <a:off x="2999232" y="2121408"/>
            <a:ext cx="219456" cy="914"/>
          </a:xfrm>
          <a:prstGeom prst="line">
            <a:avLst/>
          </a:prstGeom>
          <a:noFill/>
          <a:ln w="15875">
            <a:solidFill>
              <a:srgbClr val="5E6964"/>
            </a:solidFill>
            <a:prstDash val="solid"/>
            <a:tailEnd type="triangle"/>
          </a:ln>
        </p:spPr>
      </p:sp>
      <p:sp>
        <p:nvSpPr>
          <p:cNvPr id="17" name="Shape 13"/>
          <p:cNvSpPr/>
          <p:nvPr/>
        </p:nvSpPr>
        <p:spPr>
          <a:xfrm>
            <a:off x="3246120" y="1371600"/>
            <a:ext cx="2514600" cy="1508760"/>
          </a:xfrm>
          <a:prstGeom prst="roundRect">
            <a:avLst>
              <a:gd name="adj" fmla="val 4848"/>
            </a:avLst>
          </a:prstGeom>
          <a:solidFill>
            <a:srgbClr val="E8F5EF"/>
          </a:solidFill>
          <a:ln w="15875">
            <a:solidFill>
              <a:srgbClr val="00704A"/>
            </a:solidFill>
            <a:prstDash val="solid"/>
          </a:ln>
        </p:spPr>
      </p:sp>
      <p:sp>
        <p:nvSpPr>
          <p:cNvPr id="18" name="Shape 14"/>
          <p:cNvSpPr/>
          <p:nvPr/>
        </p:nvSpPr>
        <p:spPr>
          <a:xfrm>
            <a:off x="3410712" y="1508760"/>
            <a:ext cx="457200" cy="457200"/>
          </a:xfrm>
          <a:prstGeom prst="ellipse">
            <a:avLst/>
          </a:prstGeom>
          <a:solidFill>
            <a:srgbClr val="00704A">
              <a:alpha val="22000"/>
            </a:srgbClr>
          </a:solidFill>
          <a:ln w="12700">
            <a:solidFill>
              <a:srgbClr val="00704A">
                <a:alpha val="0"/>
              </a:srgbClr>
            </a:solidFill>
            <a:prstDash val="solid"/>
          </a:ln>
        </p:spPr>
      </p:sp>
      <p:pic>
        <p:nvPicPr>
          <p:cNvPr id="19" name="Image 1" descr="preencoded.png">    </p:cNvPr>
          <p:cNvPicPr>
            <a:picLocks noChangeAspect="1"/>
          </p:cNvPicPr>
          <p:nvPr/>
        </p:nvPicPr>
        <p:blipFill>
          <a:blip r:embed="rId2"/>
          <a:stretch>
            <a:fillRect/>
          </a:stretch>
        </p:blipFill>
        <p:spPr>
          <a:xfrm>
            <a:off x="3520440" y="1618488"/>
            <a:ext cx="237744" cy="237744"/>
          </a:xfrm>
          <a:prstGeom prst="rect">
            <a:avLst/>
          </a:prstGeom>
        </p:spPr>
      </p:pic>
      <p:sp>
        <p:nvSpPr>
          <p:cNvPr id="20" name="Text 15"/>
          <p:cNvSpPr txBox="1"/>
          <p:nvPr/>
        </p:nvSpPr>
        <p:spPr>
          <a:xfrm>
            <a:off x="3977640" y="1508760"/>
            <a:ext cx="1691640" cy="457200"/>
          </a:xfrm>
          <a:prstGeom prst="rect">
            <a:avLst/>
          </a:prstGeom>
          <a:noFill/>
          <a:ln/>
        </p:spPr>
        <p:txBody>
          <a:bodyPr wrap="square" lIns="0" tIns="0" rIns="0" bIns="0" rtlCol="0" anchor="ctr"/>
          <a:lstStyle/>
          <a:p>
            <a:pPr indent="0" marL="0">
              <a:buNone/>
            </a:pPr>
            <a:r>
              <a:rPr lang="en-US" sz="1300" b="1" dirty="0">
                <a:solidFill>
                  <a:srgbClr val="231F20"/>
                </a:solidFill>
                <a:latin typeface="Calibri" pitchFamily="34" charset="0"/>
                <a:ea typeface="Calibri" pitchFamily="34" charset="-122"/>
                <a:cs typeface="Calibri" pitchFamily="34" charset="-120"/>
              </a:rPr>
              <a:t>2 · Mesurer</a:t>
            </a:r>
            <a:endParaRPr lang="en-US" sz="1300" dirty="0"/>
          </a:p>
        </p:txBody>
      </p:sp>
      <p:sp>
        <p:nvSpPr>
          <p:cNvPr id="21" name="Text 16"/>
          <p:cNvSpPr txBox="1"/>
          <p:nvPr/>
        </p:nvSpPr>
        <p:spPr>
          <a:xfrm>
            <a:off x="3410712" y="2057400"/>
            <a:ext cx="2240280" cy="777240"/>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Attendu = fenêtres × tuiles × nuits · trouvé · complétude · volume en Go</a:t>
            </a:r>
            <a:endParaRPr lang="en-US" sz="1050" dirty="0"/>
          </a:p>
        </p:txBody>
      </p:sp>
      <p:sp>
        <p:nvSpPr>
          <p:cNvPr id="22" name="Shape 17"/>
          <p:cNvSpPr/>
          <p:nvPr/>
        </p:nvSpPr>
        <p:spPr>
          <a:xfrm>
            <a:off x="5788152" y="2121408"/>
            <a:ext cx="219456" cy="914"/>
          </a:xfrm>
          <a:prstGeom prst="line">
            <a:avLst/>
          </a:prstGeom>
          <a:noFill/>
          <a:ln w="15875">
            <a:solidFill>
              <a:srgbClr val="5E6964"/>
            </a:solidFill>
            <a:prstDash val="solid"/>
            <a:tailEnd type="triangle"/>
          </a:ln>
        </p:spPr>
      </p:sp>
      <p:sp>
        <p:nvSpPr>
          <p:cNvPr id="23" name="Shape 18"/>
          <p:cNvSpPr/>
          <p:nvPr/>
        </p:nvSpPr>
        <p:spPr>
          <a:xfrm>
            <a:off x="6035040" y="1371600"/>
            <a:ext cx="2514600" cy="1508760"/>
          </a:xfrm>
          <a:prstGeom prst="roundRect">
            <a:avLst>
              <a:gd name="adj" fmla="val 4848"/>
            </a:avLst>
          </a:prstGeom>
          <a:solidFill>
            <a:srgbClr val="F4F7F5"/>
          </a:solidFill>
          <a:ln w="9525">
            <a:solidFill>
              <a:srgbClr val="D5DED9"/>
            </a:solidFill>
            <a:prstDash val="solid"/>
          </a:ln>
        </p:spPr>
      </p:sp>
      <p:sp>
        <p:nvSpPr>
          <p:cNvPr id="24" name="Shape 19"/>
          <p:cNvSpPr/>
          <p:nvPr/>
        </p:nvSpPr>
        <p:spPr>
          <a:xfrm>
            <a:off x="6199632" y="1508760"/>
            <a:ext cx="457200" cy="457200"/>
          </a:xfrm>
          <a:prstGeom prst="ellipse">
            <a:avLst/>
          </a:prstGeom>
          <a:solidFill>
            <a:srgbClr val="00704A">
              <a:alpha val="22000"/>
            </a:srgbClr>
          </a:solidFill>
          <a:ln w="12700">
            <a:solidFill>
              <a:srgbClr val="00704A">
                <a:alpha val="0"/>
              </a:srgbClr>
            </a:solidFill>
            <a:prstDash val="solid"/>
          </a:ln>
        </p:spPr>
      </p:sp>
      <p:pic>
        <p:nvPicPr>
          <p:cNvPr id="25" name="Image 2" descr="preencoded.png">    </p:cNvPr>
          <p:cNvPicPr>
            <a:picLocks noChangeAspect="1"/>
          </p:cNvPicPr>
          <p:nvPr/>
        </p:nvPicPr>
        <p:blipFill>
          <a:blip r:embed="rId3"/>
          <a:stretch>
            <a:fillRect/>
          </a:stretch>
        </p:blipFill>
        <p:spPr>
          <a:xfrm>
            <a:off x="6309360" y="1618488"/>
            <a:ext cx="237744" cy="237744"/>
          </a:xfrm>
          <a:prstGeom prst="rect">
            <a:avLst/>
          </a:prstGeom>
        </p:spPr>
      </p:pic>
      <p:sp>
        <p:nvSpPr>
          <p:cNvPr id="26" name="Text 20"/>
          <p:cNvSpPr txBox="1"/>
          <p:nvPr/>
        </p:nvSpPr>
        <p:spPr>
          <a:xfrm>
            <a:off x="6766560" y="1508760"/>
            <a:ext cx="1691640" cy="457200"/>
          </a:xfrm>
          <a:prstGeom prst="rect">
            <a:avLst/>
          </a:prstGeom>
          <a:noFill/>
          <a:ln/>
        </p:spPr>
        <p:txBody>
          <a:bodyPr wrap="square" lIns="0" tIns="0" rIns="0" bIns="0" rtlCol="0" anchor="ctr"/>
          <a:lstStyle/>
          <a:p>
            <a:pPr indent="0" marL="0">
              <a:buNone/>
            </a:pPr>
            <a:r>
              <a:rPr lang="en-US" sz="1300" b="1" dirty="0">
                <a:solidFill>
                  <a:srgbClr val="231F20"/>
                </a:solidFill>
                <a:latin typeface="Calibri" pitchFamily="34" charset="0"/>
                <a:ea typeface="Calibri" pitchFamily="34" charset="-122"/>
                <a:cs typeface="Calibri" pitchFamily="34" charset="-120"/>
              </a:rPr>
              <a:t>3 · Télécharger</a:t>
            </a:r>
            <a:endParaRPr lang="en-US" sz="1300" dirty="0"/>
          </a:p>
        </p:txBody>
      </p:sp>
      <p:sp>
        <p:nvSpPr>
          <p:cNvPr id="27" name="Text 21"/>
          <p:cNvSpPr txBox="1"/>
          <p:nvPr/>
        </p:nvSpPr>
        <p:spPr>
          <a:xfrm>
            <a:off x="6199632" y="2057400"/>
            <a:ext cx="2240280" cy="777240"/>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Reprise · contrôle de taille · ouverture HDF5 · manifeste</a:t>
            </a:r>
            <a:endParaRPr lang="en-US" sz="1050" dirty="0"/>
          </a:p>
        </p:txBody>
      </p:sp>
      <p:sp>
        <p:nvSpPr>
          <p:cNvPr id="28" name="Text 22"/>
          <p:cNvSpPr txBox="1"/>
          <p:nvPr/>
        </p:nvSpPr>
        <p:spPr>
          <a:xfrm>
            <a:off x="457200" y="3063240"/>
            <a:ext cx="3657600" cy="256032"/>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Matrice de couverture (schéma)</a:t>
            </a:r>
            <a:endParaRPr lang="en-US" sz="1150" dirty="0"/>
          </a:p>
        </p:txBody>
      </p:sp>
      <p:sp>
        <p:nvSpPr>
          <p:cNvPr id="29" name="Text 23"/>
          <p:cNvSpPr txBox="1"/>
          <p:nvPr/>
        </p:nvSpPr>
        <p:spPr>
          <a:xfrm>
            <a:off x="457200" y="3364992"/>
            <a:ext cx="365760" cy="228600"/>
          </a:xfrm>
          <a:prstGeom prst="rect">
            <a:avLst/>
          </a:prstGeom>
          <a:noFill/>
          <a:ln/>
        </p:spPr>
        <p:txBody>
          <a:bodyPr wrap="square" lIns="0" tIns="0" rIns="0" bIns="0" rtlCol="0" anchor="ctr"/>
          <a:lstStyle/>
          <a:p>
            <a:pPr indent="0" marL="0">
              <a:buNone/>
            </a:pPr>
            <a:r>
              <a:rPr lang="en-US" sz="1000" b="1" dirty="0">
                <a:solidFill>
                  <a:srgbClr val="231F20"/>
                </a:solidFill>
                <a:latin typeface="Calibri" pitchFamily="34" charset="0"/>
                <a:ea typeface="Calibri" pitchFamily="34" charset="-122"/>
                <a:cs typeface="Calibri" pitchFamily="34" charset="-120"/>
              </a:rPr>
              <a:t>A1</a:t>
            </a:r>
            <a:endParaRPr lang="en-US" sz="1000" dirty="0"/>
          </a:p>
        </p:txBody>
      </p:sp>
      <p:sp>
        <p:nvSpPr>
          <p:cNvPr id="30" name="Shape 24"/>
          <p:cNvSpPr/>
          <p:nvPr/>
        </p:nvSpPr>
        <p:spPr>
          <a:xfrm>
            <a:off x="868680" y="3364992"/>
            <a:ext cx="347472" cy="228600"/>
          </a:xfrm>
          <a:prstGeom prst="rect">
            <a:avLst/>
          </a:prstGeom>
          <a:solidFill>
            <a:srgbClr val="00A86A"/>
          </a:solidFill>
          <a:ln w="12700">
            <a:solidFill>
              <a:srgbClr val="FFFFFF"/>
            </a:solidFill>
            <a:prstDash val="solid"/>
          </a:ln>
        </p:spPr>
      </p:sp>
      <p:sp>
        <p:nvSpPr>
          <p:cNvPr id="31" name="Shape 25"/>
          <p:cNvSpPr/>
          <p:nvPr/>
        </p:nvSpPr>
        <p:spPr>
          <a:xfrm>
            <a:off x="1252728" y="3364992"/>
            <a:ext cx="347472" cy="228600"/>
          </a:xfrm>
          <a:prstGeom prst="rect">
            <a:avLst/>
          </a:prstGeom>
          <a:solidFill>
            <a:srgbClr val="00A86A"/>
          </a:solidFill>
          <a:ln w="12700">
            <a:solidFill>
              <a:srgbClr val="FFFFFF"/>
            </a:solidFill>
            <a:prstDash val="solid"/>
          </a:ln>
        </p:spPr>
      </p:sp>
      <p:sp>
        <p:nvSpPr>
          <p:cNvPr id="32" name="Shape 26"/>
          <p:cNvSpPr/>
          <p:nvPr/>
        </p:nvSpPr>
        <p:spPr>
          <a:xfrm>
            <a:off x="1636776" y="3364992"/>
            <a:ext cx="347472" cy="228600"/>
          </a:xfrm>
          <a:prstGeom prst="rect">
            <a:avLst/>
          </a:prstGeom>
          <a:solidFill>
            <a:srgbClr val="F5C242"/>
          </a:solidFill>
          <a:ln w="12700">
            <a:solidFill>
              <a:srgbClr val="FFFFFF"/>
            </a:solidFill>
            <a:prstDash val="solid"/>
          </a:ln>
        </p:spPr>
      </p:sp>
      <p:sp>
        <p:nvSpPr>
          <p:cNvPr id="33" name="Shape 27"/>
          <p:cNvSpPr/>
          <p:nvPr/>
        </p:nvSpPr>
        <p:spPr>
          <a:xfrm>
            <a:off x="2020824" y="3364992"/>
            <a:ext cx="347472" cy="228600"/>
          </a:xfrm>
          <a:prstGeom prst="rect">
            <a:avLst/>
          </a:prstGeom>
          <a:solidFill>
            <a:srgbClr val="00A86A"/>
          </a:solidFill>
          <a:ln w="12700">
            <a:solidFill>
              <a:srgbClr val="FFFFFF"/>
            </a:solidFill>
            <a:prstDash val="solid"/>
          </a:ln>
        </p:spPr>
      </p:sp>
      <p:sp>
        <p:nvSpPr>
          <p:cNvPr id="34" name="Shape 28"/>
          <p:cNvSpPr/>
          <p:nvPr/>
        </p:nvSpPr>
        <p:spPr>
          <a:xfrm>
            <a:off x="2404872" y="3364992"/>
            <a:ext cx="347472" cy="228600"/>
          </a:xfrm>
          <a:prstGeom prst="rect">
            <a:avLst/>
          </a:prstGeom>
          <a:solidFill>
            <a:srgbClr val="00A86A"/>
          </a:solidFill>
          <a:ln w="12700">
            <a:solidFill>
              <a:srgbClr val="FFFFFF"/>
            </a:solidFill>
            <a:prstDash val="solid"/>
          </a:ln>
        </p:spPr>
      </p:sp>
      <p:sp>
        <p:nvSpPr>
          <p:cNvPr id="35" name="Shape 29"/>
          <p:cNvSpPr/>
          <p:nvPr/>
        </p:nvSpPr>
        <p:spPr>
          <a:xfrm>
            <a:off x="2788920" y="3364992"/>
            <a:ext cx="347472" cy="228600"/>
          </a:xfrm>
          <a:prstGeom prst="rect">
            <a:avLst/>
          </a:prstGeom>
          <a:solidFill>
            <a:srgbClr val="B83B2E"/>
          </a:solidFill>
          <a:ln w="12700">
            <a:solidFill>
              <a:srgbClr val="FFFFFF"/>
            </a:solidFill>
            <a:prstDash val="solid"/>
          </a:ln>
        </p:spPr>
      </p:sp>
      <p:sp>
        <p:nvSpPr>
          <p:cNvPr id="36" name="Shape 30"/>
          <p:cNvSpPr/>
          <p:nvPr/>
        </p:nvSpPr>
        <p:spPr>
          <a:xfrm>
            <a:off x="3172968" y="3364992"/>
            <a:ext cx="347472" cy="228600"/>
          </a:xfrm>
          <a:prstGeom prst="rect">
            <a:avLst/>
          </a:prstGeom>
          <a:solidFill>
            <a:srgbClr val="00A86A"/>
          </a:solidFill>
          <a:ln w="12700">
            <a:solidFill>
              <a:srgbClr val="FFFFFF"/>
            </a:solidFill>
            <a:prstDash val="solid"/>
          </a:ln>
        </p:spPr>
      </p:sp>
      <p:sp>
        <p:nvSpPr>
          <p:cNvPr id="37" name="Text 31"/>
          <p:cNvSpPr txBox="1"/>
          <p:nvPr/>
        </p:nvSpPr>
        <p:spPr>
          <a:xfrm>
            <a:off x="457200" y="3630168"/>
            <a:ext cx="365760" cy="228600"/>
          </a:xfrm>
          <a:prstGeom prst="rect">
            <a:avLst/>
          </a:prstGeom>
          <a:noFill/>
          <a:ln/>
        </p:spPr>
        <p:txBody>
          <a:bodyPr wrap="square" lIns="0" tIns="0" rIns="0" bIns="0" rtlCol="0" anchor="ctr"/>
          <a:lstStyle/>
          <a:p>
            <a:pPr indent="0" marL="0">
              <a:buNone/>
            </a:pPr>
            <a:r>
              <a:rPr lang="en-US" sz="1000" b="1" dirty="0">
                <a:solidFill>
                  <a:srgbClr val="231F20"/>
                </a:solidFill>
                <a:latin typeface="Calibri" pitchFamily="34" charset="0"/>
                <a:ea typeface="Calibri" pitchFamily="34" charset="-122"/>
                <a:cs typeface="Calibri" pitchFamily="34" charset="-120"/>
              </a:rPr>
              <a:t>A2</a:t>
            </a:r>
            <a:endParaRPr lang="en-US" sz="1000" dirty="0"/>
          </a:p>
        </p:txBody>
      </p:sp>
      <p:sp>
        <p:nvSpPr>
          <p:cNvPr id="38" name="Shape 32"/>
          <p:cNvSpPr/>
          <p:nvPr/>
        </p:nvSpPr>
        <p:spPr>
          <a:xfrm>
            <a:off x="868680" y="3630168"/>
            <a:ext cx="347472" cy="228600"/>
          </a:xfrm>
          <a:prstGeom prst="rect">
            <a:avLst/>
          </a:prstGeom>
          <a:solidFill>
            <a:srgbClr val="00A86A"/>
          </a:solidFill>
          <a:ln w="12700">
            <a:solidFill>
              <a:srgbClr val="FFFFFF"/>
            </a:solidFill>
            <a:prstDash val="solid"/>
          </a:ln>
        </p:spPr>
      </p:sp>
      <p:sp>
        <p:nvSpPr>
          <p:cNvPr id="39" name="Shape 33"/>
          <p:cNvSpPr/>
          <p:nvPr/>
        </p:nvSpPr>
        <p:spPr>
          <a:xfrm>
            <a:off x="1252728" y="3630168"/>
            <a:ext cx="347472" cy="228600"/>
          </a:xfrm>
          <a:prstGeom prst="rect">
            <a:avLst/>
          </a:prstGeom>
          <a:solidFill>
            <a:srgbClr val="00A86A"/>
          </a:solidFill>
          <a:ln w="12700">
            <a:solidFill>
              <a:srgbClr val="FFFFFF"/>
            </a:solidFill>
            <a:prstDash val="solid"/>
          </a:ln>
        </p:spPr>
      </p:sp>
      <p:sp>
        <p:nvSpPr>
          <p:cNvPr id="40" name="Shape 34"/>
          <p:cNvSpPr/>
          <p:nvPr/>
        </p:nvSpPr>
        <p:spPr>
          <a:xfrm>
            <a:off x="1636776" y="3630168"/>
            <a:ext cx="347472" cy="228600"/>
          </a:xfrm>
          <a:prstGeom prst="rect">
            <a:avLst/>
          </a:prstGeom>
          <a:solidFill>
            <a:srgbClr val="00A86A"/>
          </a:solidFill>
          <a:ln w="12700">
            <a:solidFill>
              <a:srgbClr val="FFFFFF"/>
            </a:solidFill>
            <a:prstDash val="solid"/>
          </a:ln>
        </p:spPr>
      </p:sp>
      <p:sp>
        <p:nvSpPr>
          <p:cNvPr id="41" name="Shape 35"/>
          <p:cNvSpPr/>
          <p:nvPr/>
        </p:nvSpPr>
        <p:spPr>
          <a:xfrm>
            <a:off x="2020824" y="3630168"/>
            <a:ext cx="347472" cy="228600"/>
          </a:xfrm>
          <a:prstGeom prst="rect">
            <a:avLst/>
          </a:prstGeom>
          <a:solidFill>
            <a:srgbClr val="F5C242"/>
          </a:solidFill>
          <a:ln w="12700">
            <a:solidFill>
              <a:srgbClr val="FFFFFF"/>
            </a:solidFill>
            <a:prstDash val="solid"/>
          </a:ln>
        </p:spPr>
      </p:sp>
      <p:sp>
        <p:nvSpPr>
          <p:cNvPr id="42" name="Shape 36"/>
          <p:cNvSpPr/>
          <p:nvPr/>
        </p:nvSpPr>
        <p:spPr>
          <a:xfrm>
            <a:off x="2404872" y="3630168"/>
            <a:ext cx="347472" cy="228600"/>
          </a:xfrm>
          <a:prstGeom prst="rect">
            <a:avLst/>
          </a:prstGeom>
          <a:solidFill>
            <a:srgbClr val="00A86A"/>
          </a:solidFill>
          <a:ln w="12700">
            <a:solidFill>
              <a:srgbClr val="FFFFFF"/>
            </a:solidFill>
            <a:prstDash val="solid"/>
          </a:ln>
        </p:spPr>
      </p:sp>
      <p:sp>
        <p:nvSpPr>
          <p:cNvPr id="43" name="Shape 37"/>
          <p:cNvSpPr/>
          <p:nvPr/>
        </p:nvSpPr>
        <p:spPr>
          <a:xfrm>
            <a:off x="2788920" y="3630168"/>
            <a:ext cx="347472" cy="228600"/>
          </a:xfrm>
          <a:prstGeom prst="rect">
            <a:avLst/>
          </a:prstGeom>
          <a:solidFill>
            <a:srgbClr val="00A86A"/>
          </a:solidFill>
          <a:ln w="12700">
            <a:solidFill>
              <a:srgbClr val="FFFFFF"/>
            </a:solidFill>
            <a:prstDash val="solid"/>
          </a:ln>
        </p:spPr>
      </p:sp>
      <p:sp>
        <p:nvSpPr>
          <p:cNvPr id="44" name="Shape 38"/>
          <p:cNvSpPr/>
          <p:nvPr/>
        </p:nvSpPr>
        <p:spPr>
          <a:xfrm>
            <a:off x="3172968" y="3630168"/>
            <a:ext cx="347472" cy="228600"/>
          </a:xfrm>
          <a:prstGeom prst="rect">
            <a:avLst/>
          </a:prstGeom>
          <a:solidFill>
            <a:srgbClr val="00A86A"/>
          </a:solidFill>
          <a:ln w="12700">
            <a:solidFill>
              <a:srgbClr val="FFFFFF"/>
            </a:solidFill>
            <a:prstDash val="solid"/>
          </a:ln>
        </p:spPr>
      </p:sp>
      <p:sp>
        <p:nvSpPr>
          <p:cNvPr id="45" name="Text 39"/>
          <p:cNvSpPr txBox="1"/>
          <p:nvPr/>
        </p:nvSpPr>
        <p:spPr>
          <a:xfrm>
            <a:off x="457200" y="3895344"/>
            <a:ext cx="365760" cy="228600"/>
          </a:xfrm>
          <a:prstGeom prst="rect">
            <a:avLst/>
          </a:prstGeom>
          <a:noFill/>
          <a:ln/>
        </p:spPr>
        <p:txBody>
          <a:bodyPr wrap="square" lIns="0" tIns="0" rIns="0" bIns="0" rtlCol="0" anchor="ctr"/>
          <a:lstStyle/>
          <a:p>
            <a:pPr indent="0" marL="0">
              <a:buNone/>
            </a:pPr>
            <a:r>
              <a:rPr lang="en-US" sz="1000" b="1" dirty="0">
                <a:solidFill>
                  <a:srgbClr val="231F20"/>
                </a:solidFill>
                <a:latin typeface="Calibri" pitchFamily="34" charset="0"/>
                <a:ea typeface="Calibri" pitchFamily="34" charset="-122"/>
                <a:cs typeface="Calibri" pitchFamily="34" charset="-120"/>
              </a:rPr>
              <a:t>A3</a:t>
            </a:r>
            <a:endParaRPr lang="en-US" sz="1000" dirty="0"/>
          </a:p>
        </p:txBody>
      </p:sp>
      <p:sp>
        <p:nvSpPr>
          <p:cNvPr id="46" name="Shape 40"/>
          <p:cNvSpPr/>
          <p:nvPr/>
        </p:nvSpPr>
        <p:spPr>
          <a:xfrm>
            <a:off x="868680" y="3895344"/>
            <a:ext cx="347472" cy="228600"/>
          </a:xfrm>
          <a:prstGeom prst="rect">
            <a:avLst/>
          </a:prstGeom>
          <a:solidFill>
            <a:srgbClr val="00A86A"/>
          </a:solidFill>
          <a:ln w="12700">
            <a:solidFill>
              <a:srgbClr val="FFFFFF"/>
            </a:solidFill>
            <a:prstDash val="solid"/>
          </a:ln>
        </p:spPr>
      </p:sp>
      <p:sp>
        <p:nvSpPr>
          <p:cNvPr id="47" name="Shape 41"/>
          <p:cNvSpPr/>
          <p:nvPr/>
        </p:nvSpPr>
        <p:spPr>
          <a:xfrm>
            <a:off x="1252728" y="3895344"/>
            <a:ext cx="347472" cy="228600"/>
          </a:xfrm>
          <a:prstGeom prst="rect">
            <a:avLst/>
          </a:prstGeom>
          <a:solidFill>
            <a:srgbClr val="00A86A"/>
          </a:solidFill>
          <a:ln w="12700">
            <a:solidFill>
              <a:srgbClr val="FFFFFF"/>
            </a:solidFill>
            <a:prstDash val="solid"/>
          </a:ln>
        </p:spPr>
      </p:sp>
      <p:sp>
        <p:nvSpPr>
          <p:cNvPr id="48" name="Shape 42"/>
          <p:cNvSpPr/>
          <p:nvPr/>
        </p:nvSpPr>
        <p:spPr>
          <a:xfrm>
            <a:off x="1636776" y="3895344"/>
            <a:ext cx="347472" cy="228600"/>
          </a:xfrm>
          <a:prstGeom prst="rect">
            <a:avLst/>
          </a:prstGeom>
          <a:solidFill>
            <a:srgbClr val="00A86A"/>
          </a:solidFill>
          <a:ln w="12700">
            <a:solidFill>
              <a:srgbClr val="FFFFFF"/>
            </a:solidFill>
            <a:prstDash val="solid"/>
          </a:ln>
        </p:spPr>
      </p:sp>
      <p:sp>
        <p:nvSpPr>
          <p:cNvPr id="49" name="Shape 43"/>
          <p:cNvSpPr/>
          <p:nvPr/>
        </p:nvSpPr>
        <p:spPr>
          <a:xfrm>
            <a:off x="2020824" y="3895344"/>
            <a:ext cx="347472" cy="228600"/>
          </a:xfrm>
          <a:prstGeom prst="rect">
            <a:avLst/>
          </a:prstGeom>
          <a:solidFill>
            <a:srgbClr val="00A86A"/>
          </a:solidFill>
          <a:ln w="12700">
            <a:solidFill>
              <a:srgbClr val="FFFFFF"/>
            </a:solidFill>
            <a:prstDash val="solid"/>
          </a:ln>
        </p:spPr>
      </p:sp>
      <p:sp>
        <p:nvSpPr>
          <p:cNvPr id="50" name="Shape 44"/>
          <p:cNvSpPr/>
          <p:nvPr/>
        </p:nvSpPr>
        <p:spPr>
          <a:xfrm>
            <a:off x="2404872" y="3895344"/>
            <a:ext cx="347472" cy="228600"/>
          </a:xfrm>
          <a:prstGeom prst="rect">
            <a:avLst/>
          </a:prstGeom>
          <a:solidFill>
            <a:srgbClr val="00A86A"/>
          </a:solidFill>
          <a:ln w="12700">
            <a:solidFill>
              <a:srgbClr val="FFFFFF"/>
            </a:solidFill>
            <a:prstDash val="solid"/>
          </a:ln>
        </p:spPr>
      </p:sp>
      <p:sp>
        <p:nvSpPr>
          <p:cNvPr id="51" name="Shape 45"/>
          <p:cNvSpPr/>
          <p:nvPr/>
        </p:nvSpPr>
        <p:spPr>
          <a:xfrm>
            <a:off x="2788920" y="3895344"/>
            <a:ext cx="347472" cy="228600"/>
          </a:xfrm>
          <a:prstGeom prst="rect">
            <a:avLst/>
          </a:prstGeom>
          <a:solidFill>
            <a:srgbClr val="00A86A"/>
          </a:solidFill>
          <a:ln w="12700">
            <a:solidFill>
              <a:srgbClr val="FFFFFF"/>
            </a:solidFill>
            <a:prstDash val="solid"/>
          </a:ln>
        </p:spPr>
      </p:sp>
      <p:sp>
        <p:nvSpPr>
          <p:cNvPr id="52" name="Shape 46"/>
          <p:cNvSpPr/>
          <p:nvPr/>
        </p:nvSpPr>
        <p:spPr>
          <a:xfrm>
            <a:off x="3172968" y="3895344"/>
            <a:ext cx="347472" cy="228600"/>
          </a:xfrm>
          <a:prstGeom prst="rect">
            <a:avLst/>
          </a:prstGeom>
          <a:solidFill>
            <a:srgbClr val="00A86A"/>
          </a:solidFill>
          <a:ln w="12700">
            <a:solidFill>
              <a:srgbClr val="FFFFFF"/>
            </a:solidFill>
            <a:prstDash val="solid"/>
          </a:ln>
        </p:spPr>
      </p:sp>
      <p:sp>
        <p:nvSpPr>
          <p:cNvPr id="53" name="Text 47"/>
          <p:cNvSpPr txBox="1"/>
          <p:nvPr/>
        </p:nvSpPr>
        <p:spPr>
          <a:xfrm>
            <a:off x="457200" y="4160520"/>
            <a:ext cx="365760" cy="228600"/>
          </a:xfrm>
          <a:prstGeom prst="rect">
            <a:avLst/>
          </a:prstGeom>
          <a:noFill/>
          <a:ln/>
        </p:spPr>
        <p:txBody>
          <a:bodyPr wrap="square" lIns="0" tIns="0" rIns="0" bIns="0" rtlCol="0" anchor="ctr"/>
          <a:lstStyle/>
          <a:p>
            <a:pPr indent="0" marL="0">
              <a:buNone/>
            </a:pPr>
            <a:r>
              <a:rPr lang="en-US" sz="1000" b="1" dirty="0">
                <a:solidFill>
                  <a:srgbClr val="231F20"/>
                </a:solidFill>
                <a:latin typeface="Calibri" pitchFamily="34" charset="0"/>
                <a:ea typeface="Calibri" pitchFamily="34" charset="-122"/>
                <a:cs typeface="Calibri" pitchFamily="34" charset="-120"/>
              </a:rPr>
              <a:t>A4</a:t>
            </a:r>
            <a:endParaRPr lang="en-US" sz="1000" dirty="0"/>
          </a:p>
        </p:txBody>
      </p:sp>
      <p:sp>
        <p:nvSpPr>
          <p:cNvPr id="54" name="Shape 48"/>
          <p:cNvSpPr/>
          <p:nvPr/>
        </p:nvSpPr>
        <p:spPr>
          <a:xfrm>
            <a:off x="868680" y="4160520"/>
            <a:ext cx="347472" cy="228600"/>
          </a:xfrm>
          <a:prstGeom prst="rect">
            <a:avLst/>
          </a:prstGeom>
          <a:solidFill>
            <a:srgbClr val="00A86A"/>
          </a:solidFill>
          <a:ln w="12700">
            <a:solidFill>
              <a:srgbClr val="FFFFFF"/>
            </a:solidFill>
            <a:prstDash val="solid"/>
          </a:ln>
        </p:spPr>
      </p:sp>
      <p:sp>
        <p:nvSpPr>
          <p:cNvPr id="55" name="Shape 49"/>
          <p:cNvSpPr/>
          <p:nvPr/>
        </p:nvSpPr>
        <p:spPr>
          <a:xfrm>
            <a:off x="1252728" y="4160520"/>
            <a:ext cx="347472" cy="228600"/>
          </a:xfrm>
          <a:prstGeom prst="rect">
            <a:avLst/>
          </a:prstGeom>
          <a:solidFill>
            <a:srgbClr val="00A86A"/>
          </a:solidFill>
          <a:ln w="12700">
            <a:solidFill>
              <a:srgbClr val="FFFFFF"/>
            </a:solidFill>
            <a:prstDash val="solid"/>
          </a:ln>
        </p:spPr>
      </p:sp>
      <p:sp>
        <p:nvSpPr>
          <p:cNvPr id="56" name="Shape 50"/>
          <p:cNvSpPr/>
          <p:nvPr/>
        </p:nvSpPr>
        <p:spPr>
          <a:xfrm>
            <a:off x="1636776" y="4160520"/>
            <a:ext cx="347472" cy="228600"/>
          </a:xfrm>
          <a:prstGeom prst="rect">
            <a:avLst/>
          </a:prstGeom>
          <a:solidFill>
            <a:srgbClr val="00A86A"/>
          </a:solidFill>
          <a:ln w="12700">
            <a:solidFill>
              <a:srgbClr val="FFFFFF"/>
            </a:solidFill>
            <a:prstDash val="solid"/>
          </a:ln>
        </p:spPr>
      </p:sp>
      <p:sp>
        <p:nvSpPr>
          <p:cNvPr id="57" name="Shape 51"/>
          <p:cNvSpPr/>
          <p:nvPr/>
        </p:nvSpPr>
        <p:spPr>
          <a:xfrm>
            <a:off x="2020824" y="4160520"/>
            <a:ext cx="347472" cy="228600"/>
          </a:xfrm>
          <a:prstGeom prst="rect">
            <a:avLst/>
          </a:prstGeom>
          <a:solidFill>
            <a:srgbClr val="00A86A"/>
          </a:solidFill>
          <a:ln w="12700">
            <a:solidFill>
              <a:srgbClr val="FFFFFF"/>
            </a:solidFill>
            <a:prstDash val="solid"/>
          </a:ln>
        </p:spPr>
      </p:sp>
      <p:sp>
        <p:nvSpPr>
          <p:cNvPr id="58" name="Shape 52"/>
          <p:cNvSpPr/>
          <p:nvPr/>
        </p:nvSpPr>
        <p:spPr>
          <a:xfrm>
            <a:off x="2404872" y="4160520"/>
            <a:ext cx="347472" cy="228600"/>
          </a:xfrm>
          <a:prstGeom prst="rect">
            <a:avLst/>
          </a:prstGeom>
          <a:solidFill>
            <a:srgbClr val="00A86A"/>
          </a:solidFill>
          <a:ln w="12700">
            <a:solidFill>
              <a:srgbClr val="FFFFFF"/>
            </a:solidFill>
            <a:prstDash val="solid"/>
          </a:ln>
        </p:spPr>
      </p:sp>
      <p:sp>
        <p:nvSpPr>
          <p:cNvPr id="59" name="Shape 53"/>
          <p:cNvSpPr/>
          <p:nvPr/>
        </p:nvSpPr>
        <p:spPr>
          <a:xfrm>
            <a:off x="2788920" y="4160520"/>
            <a:ext cx="347472" cy="228600"/>
          </a:xfrm>
          <a:prstGeom prst="rect">
            <a:avLst/>
          </a:prstGeom>
          <a:solidFill>
            <a:srgbClr val="00A86A"/>
          </a:solidFill>
          <a:ln w="12700">
            <a:solidFill>
              <a:srgbClr val="FFFFFF"/>
            </a:solidFill>
            <a:prstDash val="solid"/>
          </a:ln>
        </p:spPr>
      </p:sp>
      <p:sp>
        <p:nvSpPr>
          <p:cNvPr id="60" name="Shape 54"/>
          <p:cNvSpPr/>
          <p:nvPr/>
        </p:nvSpPr>
        <p:spPr>
          <a:xfrm>
            <a:off x="3172968" y="4160520"/>
            <a:ext cx="347472" cy="228600"/>
          </a:xfrm>
          <a:prstGeom prst="rect">
            <a:avLst/>
          </a:prstGeom>
          <a:solidFill>
            <a:srgbClr val="B83B2E"/>
          </a:solidFill>
          <a:ln w="12700">
            <a:solidFill>
              <a:srgbClr val="FFFFFF"/>
            </a:solidFill>
            <a:prstDash val="solid"/>
          </a:ln>
        </p:spPr>
      </p:sp>
      <p:sp>
        <p:nvSpPr>
          <p:cNvPr id="61" name="Shape 55"/>
          <p:cNvSpPr/>
          <p:nvPr/>
        </p:nvSpPr>
        <p:spPr>
          <a:xfrm>
            <a:off x="3749040" y="3401568"/>
            <a:ext cx="182880" cy="164592"/>
          </a:xfrm>
          <a:prstGeom prst="rect">
            <a:avLst/>
          </a:prstGeom>
          <a:solidFill>
            <a:srgbClr val="00A86A"/>
          </a:solidFill>
          <a:ln w="12700">
            <a:solidFill>
              <a:srgbClr val="00A86A"/>
            </a:solidFill>
            <a:prstDash val="solid"/>
          </a:ln>
        </p:spPr>
      </p:sp>
      <p:sp>
        <p:nvSpPr>
          <p:cNvPr id="62" name="Text 56"/>
          <p:cNvSpPr txBox="1"/>
          <p:nvPr/>
        </p:nvSpPr>
        <p:spPr>
          <a:xfrm>
            <a:off x="4005072" y="3364992"/>
            <a:ext cx="1097280" cy="237744"/>
          </a:xfrm>
          <a:prstGeom prst="rect">
            <a:avLst/>
          </a:prstGeom>
          <a:noFill/>
          <a:ln/>
        </p:spPr>
        <p:txBody>
          <a:bodyPr wrap="square" lIns="0" tIns="0" rIns="0" bIns="0" rtlCol="0" anchor="ctr"/>
          <a:lstStyle/>
          <a:p>
            <a:pPr indent="0" marL="0">
              <a:buNone/>
            </a:pPr>
            <a:r>
              <a:rPr lang="en-US" sz="1000" dirty="0">
                <a:solidFill>
                  <a:srgbClr val="5E6964"/>
                </a:solidFill>
                <a:latin typeface="Calibri" pitchFamily="34" charset="0"/>
                <a:ea typeface="Calibri" pitchFamily="34" charset="-122"/>
                <a:cs typeface="Calibri" pitchFamily="34" charset="-120"/>
              </a:rPr>
              <a:t>complète</a:t>
            </a:r>
            <a:endParaRPr lang="en-US" sz="1000" dirty="0"/>
          </a:p>
        </p:txBody>
      </p:sp>
      <p:sp>
        <p:nvSpPr>
          <p:cNvPr id="63" name="Shape 57"/>
          <p:cNvSpPr/>
          <p:nvPr/>
        </p:nvSpPr>
        <p:spPr>
          <a:xfrm>
            <a:off x="3749040" y="3675888"/>
            <a:ext cx="182880" cy="164592"/>
          </a:xfrm>
          <a:prstGeom prst="rect">
            <a:avLst/>
          </a:prstGeom>
          <a:solidFill>
            <a:srgbClr val="F5C242"/>
          </a:solidFill>
          <a:ln w="12700">
            <a:solidFill>
              <a:srgbClr val="F5C242"/>
            </a:solidFill>
            <a:prstDash val="solid"/>
          </a:ln>
        </p:spPr>
      </p:sp>
      <p:sp>
        <p:nvSpPr>
          <p:cNvPr id="64" name="Text 58"/>
          <p:cNvSpPr txBox="1"/>
          <p:nvPr/>
        </p:nvSpPr>
        <p:spPr>
          <a:xfrm>
            <a:off x="4005072" y="3639312"/>
            <a:ext cx="1097280" cy="237744"/>
          </a:xfrm>
          <a:prstGeom prst="rect">
            <a:avLst/>
          </a:prstGeom>
          <a:noFill/>
          <a:ln/>
        </p:spPr>
        <p:txBody>
          <a:bodyPr wrap="square" lIns="0" tIns="0" rIns="0" bIns="0" rtlCol="0" anchor="ctr"/>
          <a:lstStyle/>
          <a:p>
            <a:pPr indent="0" marL="0">
              <a:buNone/>
            </a:pPr>
            <a:r>
              <a:rPr lang="en-US" sz="1000" dirty="0">
                <a:solidFill>
                  <a:srgbClr val="5E6964"/>
                </a:solidFill>
                <a:latin typeface="Calibri" pitchFamily="34" charset="0"/>
                <a:ea typeface="Calibri" pitchFamily="34" charset="-122"/>
                <a:cs typeface="Calibri" pitchFamily="34" charset="-120"/>
              </a:rPr>
              <a:t>partielle</a:t>
            </a:r>
            <a:endParaRPr lang="en-US" sz="1000" dirty="0"/>
          </a:p>
        </p:txBody>
      </p:sp>
      <p:sp>
        <p:nvSpPr>
          <p:cNvPr id="65" name="Shape 59"/>
          <p:cNvSpPr/>
          <p:nvPr/>
        </p:nvSpPr>
        <p:spPr>
          <a:xfrm>
            <a:off x="3749040" y="3950208"/>
            <a:ext cx="182880" cy="164592"/>
          </a:xfrm>
          <a:prstGeom prst="rect">
            <a:avLst/>
          </a:prstGeom>
          <a:solidFill>
            <a:srgbClr val="B83B2E"/>
          </a:solidFill>
          <a:ln w="12700">
            <a:solidFill>
              <a:srgbClr val="B83B2E"/>
            </a:solidFill>
            <a:prstDash val="solid"/>
          </a:ln>
        </p:spPr>
      </p:sp>
      <p:sp>
        <p:nvSpPr>
          <p:cNvPr id="66" name="Text 60"/>
          <p:cNvSpPr txBox="1"/>
          <p:nvPr/>
        </p:nvSpPr>
        <p:spPr>
          <a:xfrm>
            <a:off x="4005072" y="3913632"/>
            <a:ext cx="1097280" cy="237744"/>
          </a:xfrm>
          <a:prstGeom prst="rect">
            <a:avLst/>
          </a:prstGeom>
          <a:noFill/>
          <a:ln/>
        </p:spPr>
        <p:txBody>
          <a:bodyPr wrap="square" lIns="0" tIns="0" rIns="0" bIns="0" rtlCol="0" anchor="ctr"/>
          <a:lstStyle/>
          <a:p>
            <a:pPr indent="0" marL="0">
              <a:buNone/>
            </a:pPr>
            <a:r>
              <a:rPr lang="en-US" sz="1000" dirty="0">
                <a:solidFill>
                  <a:srgbClr val="5E6964"/>
                </a:solidFill>
                <a:latin typeface="Calibri" pitchFamily="34" charset="0"/>
                <a:ea typeface="Calibri" pitchFamily="34" charset="-122"/>
                <a:cs typeface="Calibri" pitchFamily="34" charset="-120"/>
              </a:rPr>
              <a:t>absente</a:t>
            </a:r>
            <a:endParaRPr lang="en-US" sz="1000" dirty="0"/>
          </a:p>
        </p:txBody>
      </p:sp>
      <p:sp>
        <p:nvSpPr>
          <p:cNvPr id="67" name="Shape 61"/>
          <p:cNvSpPr/>
          <p:nvPr/>
        </p:nvSpPr>
        <p:spPr>
          <a:xfrm>
            <a:off x="5212080" y="3108960"/>
            <a:ext cx="3474720" cy="1353312"/>
          </a:xfrm>
          <a:prstGeom prst="roundRect">
            <a:avLst>
              <a:gd name="adj" fmla="val 5405"/>
            </a:avLst>
          </a:prstGeom>
          <a:solidFill>
            <a:srgbClr val="E8F5EF"/>
          </a:solidFill>
          <a:ln w="15875">
            <a:solidFill>
              <a:srgbClr val="00A86A"/>
            </a:solidFill>
            <a:prstDash val="solid"/>
          </a:ln>
        </p:spPr>
      </p:sp>
      <p:sp>
        <p:nvSpPr>
          <p:cNvPr id="68" name="Shape 62"/>
          <p:cNvSpPr/>
          <p:nvPr/>
        </p:nvSpPr>
        <p:spPr>
          <a:xfrm>
            <a:off x="5349240" y="3246120"/>
            <a:ext cx="457200" cy="457200"/>
          </a:xfrm>
          <a:prstGeom prst="ellipse">
            <a:avLst/>
          </a:prstGeom>
          <a:solidFill>
            <a:srgbClr val="00A86A">
              <a:alpha val="22000"/>
            </a:srgbClr>
          </a:solidFill>
          <a:ln w="12700">
            <a:solidFill>
              <a:srgbClr val="00A86A">
                <a:alpha val="0"/>
              </a:srgbClr>
            </a:solidFill>
            <a:prstDash val="solid"/>
          </a:ln>
        </p:spPr>
      </p:sp>
      <p:pic>
        <p:nvPicPr>
          <p:cNvPr id="69" name="Image 3" descr="preencoded.png">    </p:cNvPr>
          <p:cNvPicPr>
            <a:picLocks noChangeAspect="1"/>
          </p:cNvPicPr>
          <p:nvPr/>
        </p:nvPicPr>
        <p:blipFill>
          <a:blip r:embed="rId4"/>
          <a:stretch>
            <a:fillRect/>
          </a:stretch>
        </p:blipFill>
        <p:spPr>
          <a:xfrm>
            <a:off x="5458968" y="3355848"/>
            <a:ext cx="237744" cy="237744"/>
          </a:xfrm>
          <a:prstGeom prst="rect">
            <a:avLst/>
          </a:prstGeom>
        </p:spPr>
      </p:pic>
      <p:sp>
        <p:nvSpPr>
          <p:cNvPr id="70" name="Text 63"/>
          <p:cNvSpPr txBox="1"/>
          <p:nvPr/>
        </p:nvSpPr>
        <p:spPr>
          <a:xfrm>
            <a:off x="5897880" y="3246120"/>
            <a:ext cx="2697480" cy="457200"/>
          </a:xfrm>
          <a:prstGeom prst="rect">
            <a:avLst/>
          </a:prstGeom>
          <a:noFill/>
          <a:ln/>
        </p:spPr>
        <p:txBody>
          <a:bodyPr wrap="square" lIns="0" tIns="0" rIns="0" bIns="0" rtlCol="0" anchor="ctr"/>
          <a:lstStyle/>
          <a:p>
            <a:pPr indent="0" marL="0">
              <a:buNone/>
            </a:pPr>
            <a:r>
              <a:rPr lang="en-US" sz="1300" b="1" dirty="0">
                <a:solidFill>
                  <a:srgbClr val="231F20"/>
                </a:solidFill>
                <a:latin typeface="Calibri" pitchFamily="34" charset="0"/>
                <a:ea typeface="Calibri" pitchFamily="34" charset="-122"/>
                <a:cs typeface="Calibri" pitchFamily="34" charset="-120"/>
              </a:rPr>
              <a:t>Sécurité dès la conception</a:t>
            </a:r>
            <a:endParaRPr lang="en-US" sz="1300" dirty="0"/>
          </a:p>
        </p:txBody>
      </p:sp>
      <p:sp>
        <p:nvSpPr>
          <p:cNvPr id="71" name="Text 64"/>
          <p:cNvSpPr txBox="1"/>
          <p:nvPr/>
        </p:nvSpPr>
        <p:spPr>
          <a:xfrm>
            <a:off x="5349240" y="3749040"/>
            <a:ext cx="3200400" cy="685800"/>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Le jeton vient d'une variable d'environnement, d'un fichier .env, des secrets Colab ou Kaggle, ou d'une saisie masquée — et n'est envoyé qu'à *.earthdata.nasa.gov et *.eosdis.nasa.gov.</a:t>
            </a:r>
            <a:endParaRPr lang="en-US" sz="105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8A9590"/>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914400"/>
            <a:ext cx="2743200" cy="274320"/>
          </a:xfrm>
          <a:prstGeom prst="rect">
            <a:avLst/>
          </a:prstGeom>
          <a:noFill/>
          <a:ln/>
        </p:spPr>
        <p:txBody>
          <a:bodyPr wrap="square" lIns="0" tIns="0" rIns="0" bIns="0" rtlCol="0" anchor="t"/>
          <a:lstStyle/>
          <a:p>
            <a:pPr indent="0" marL="0">
              <a:buNone/>
            </a:pPr>
            <a:r>
              <a:rPr lang="en-US" sz="1050" b="1" spc="300" kern="0" dirty="0">
                <a:solidFill>
                  <a:srgbClr val="F5C242"/>
                </a:solidFill>
                <a:latin typeface="Calibri" pitchFamily="34" charset="0"/>
                <a:ea typeface="Calibri" pitchFamily="34" charset="-122"/>
                <a:cs typeface="Calibri" pitchFamily="34" charset="-120"/>
              </a:rPr>
              <a:t>SECTION</a:t>
            </a:r>
            <a:endParaRPr lang="en-US" sz="1050" dirty="0"/>
          </a:p>
        </p:txBody>
      </p:sp>
      <p:sp>
        <p:nvSpPr>
          <p:cNvPr id="3" name="Text 1"/>
          <p:cNvSpPr txBox="1"/>
          <p:nvPr/>
        </p:nvSpPr>
        <p:spPr>
          <a:xfrm>
            <a:off x="548640" y="1143000"/>
            <a:ext cx="2743200" cy="1188720"/>
          </a:xfrm>
          <a:prstGeom prst="rect">
            <a:avLst/>
          </a:prstGeom>
          <a:noFill/>
          <a:ln/>
        </p:spPr>
        <p:txBody>
          <a:bodyPr wrap="square" lIns="0" tIns="0" rIns="0" bIns="0" rtlCol="0" anchor="t"/>
          <a:lstStyle/>
          <a:p>
            <a:pPr indent="0" marL="0">
              <a:buNone/>
            </a:pPr>
            <a:r>
              <a:rPr lang="en-US" sz="8000" b="1" dirty="0">
                <a:solidFill>
                  <a:srgbClr val="F5C242"/>
                </a:solidFill>
                <a:latin typeface="Calibri" pitchFamily="34" charset="0"/>
                <a:ea typeface="Calibri" pitchFamily="34" charset="-122"/>
                <a:cs typeface="Calibri" pitchFamily="34" charset="-120"/>
              </a:rPr>
              <a:t>03</a:t>
            </a:r>
            <a:endParaRPr lang="en-US" sz="8000" dirty="0"/>
          </a:p>
        </p:txBody>
      </p:sp>
      <p:sp>
        <p:nvSpPr>
          <p:cNvPr id="4" name="Text 2"/>
          <p:cNvSpPr txBox="1"/>
          <p:nvPr/>
        </p:nvSpPr>
        <p:spPr>
          <a:xfrm>
            <a:off x="548640" y="2377440"/>
            <a:ext cx="5303520" cy="731520"/>
          </a:xfrm>
          <a:prstGeom prst="rect">
            <a:avLst/>
          </a:prstGeom>
          <a:noFill/>
          <a:ln/>
        </p:spPr>
        <p:txBody>
          <a:bodyPr wrap="square" lIns="0" tIns="0" rIns="0" bIns="0" rtlCol="0" anchor="t"/>
          <a:lstStyle/>
          <a:p>
            <a:pPr indent="0" marL="0">
              <a:buNone/>
            </a:pPr>
            <a:r>
              <a:rPr lang="en-US" sz="4000" b="1" dirty="0">
                <a:solidFill>
                  <a:srgbClr val="FFFFFF"/>
                </a:solidFill>
                <a:latin typeface="Calibri" pitchFamily="34" charset="0"/>
                <a:ea typeface="Calibri" pitchFamily="34" charset="-122"/>
                <a:cs typeface="Calibri" pitchFamily="34" charset="-120"/>
              </a:rPr>
              <a:t>Explorer et comprendre</a:t>
            </a:r>
            <a:endParaRPr lang="en-US" sz="4000" dirty="0"/>
          </a:p>
        </p:txBody>
      </p:sp>
      <p:sp>
        <p:nvSpPr>
          <p:cNvPr id="5" name="Text 3"/>
          <p:cNvSpPr txBox="1"/>
          <p:nvPr/>
        </p:nvSpPr>
        <p:spPr>
          <a:xfrm>
            <a:off x="548640" y="3154680"/>
            <a:ext cx="5120640" cy="731520"/>
          </a:xfrm>
          <a:prstGeom prst="rect">
            <a:avLst/>
          </a:prstGeom>
          <a:noFill/>
          <a:ln/>
        </p:spPr>
        <p:txBody>
          <a:bodyPr wrap="square" lIns="0" tIns="0" rIns="0" bIns="0" rtlCol="0" anchor="t"/>
          <a:lstStyle/>
          <a:p>
            <a:pPr indent="0" marL="0">
              <a:buNone/>
            </a:pPr>
            <a:r>
              <a:rPr lang="en-US" sz="1800" i="1" dirty="0">
                <a:solidFill>
                  <a:srgbClr val="E6F6EE"/>
                </a:solidFill>
                <a:latin typeface="Calibri" pitchFamily="34" charset="0"/>
                <a:ea typeface="Calibri" pitchFamily="34" charset="-122"/>
                <a:cs typeface="Calibri" pitchFamily="34" charset="-120"/>
              </a:rPr>
              <a:t>Qu'y a-t-il vraiment dans un fichier Black Marble ?</a:t>
            </a:r>
            <a:endParaRPr lang="en-US" sz="1800" dirty="0"/>
          </a:p>
        </p:txBody>
      </p:sp>
      <p:sp>
        <p:nvSpPr>
          <p:cNvPr id="6" name="Shape 4"/>
          <p:cNvSpPr/>
          <p:nvPr/>
        </p:nvSpPr>
        <p:spPr>
          <a:xfrm>
            <a:off x="6309360" y="1234440"/>
            <a:ext cx="2286000" cy="2286000"/>
          </a:xfrm>
          <a:prstGeom prst="ellipse">
            <a:avLst/>
          </a:prstGeom>
          <a:solidFill>
            <a:srgbClr val="FFFFFF">
              <a:alpha val="8000"/>
            </a:srgbClr>
          </a:solidFill>
          <a:ln w="12700">
            <a:solidFill>
              <a:srgbClr val="FFFFFF">
                <a:alpha val="30000"/>
              </a:srgbClr>
            </a:solidFill>
            <a:prstDash val="solid"/>
          </a:ln>
        </p:spPr>
      </p:sp>
      <p:sp>
        <p:nvSpPr>
          <p:cNvPr id="7" name="Shape 5"/>
          <p:cNvSpPr/>
          <p:nvPr/>
        </p:nvSpPr>
        <p:spPr>
          <a:xfrm>
            <a:off x="6675120" y="1600200"/>
            <a:ext cx="1554480" cy="1554480"/>
          </a:xfrm>
          <a:prstGeom prst="ellipse">
            <a:avLst/>
          </a:prstGeom>
          <a:solidFill>
            <a:srgbClr val="FFFFFF"/>
          </a:solidFill>
          <a:ln w="12700">
            <a:solidFill>
              <a:srgbClr val="FFFFFF"/>
            </a:solidFill>
            <a:prstDash val="solid"/>
          </a:ln>
        </p:spPr>
      </p:sp>
      <p:pic>
        <p:nvPicPr>
          <p:cNvPr id="8" name="Image 0" descr="preencoded.png">    </p:cNvPr>
          <p:cNvPicPr>
            <a:picLocks noChangeAspect="1"/>
          </p:cNvPicPr>
          <p:nvPr/>
        </p:nvPicPr>
        <p:blipFill>
          <a:blip r:embed="rId1"/>
          <a:stretch>
            <a:fillRect/>
          </a:stretch>
        </p:blipFill>
        <p:spPr>
          <a:xfrm>
            <a:off x="7086600" y="2011680"/>
            <a:ext cx="731520" cy="731520"/>
          </a:xfrm>
          <a:prstGeom prst="rect">
            <a:avLst/>
          </a:prstGeom>
        </p:spPr>
      </p:pic>
      <p:sp>
        <p:nvSpPr>
          <p:cNvPr id="9" name="Shape 6"/>
          <p:cNvSpPr/>
          <p:nvPr/>
        </p:nvSpPr>
        <p:spPr>
          <a:xfrm>
            <a:off x="566928" y="4251960"/>
            <a:ext cx="118872" cy="118872"/>
          </a:xfrm>
          <a:prstGeom prst="ellipse">
            <a:avLst/>
          </a:prstGeom>
          <a:solidFill>
            <a:srgbClr val="FFFFFF">
              <a:alpha val="40000"/>
            </a:srgbClr>
          </a:solidFill>
          <a:ln w="12700">
            <a:solidFill>
              <a:srgbClr val="FFFFFF">
                <a:alpha val="0"/>
              </a:srgbClr>
            </a:solidFill>
            <a:prstDash val="solid"/>
          </a:ln>
        </p:spPr>
      </p:sp>
      <p:sp>
        <p:nvSpPr>
          <p:cNvPr id="10" name="Shape 7"/>
          <p:cNvSpPr/>
          <p:nvPr/>
        </p:nvSpPr>
        <p:spPr>
          <a:xfrm>
            <a:off x="786384" y="4251960"/>
            <a:ext cx="118872" cy="118872"/>
          </a:xfrm>
          <a:prstGeom prst="ellipse">
            <a:avLst/>
          </a:prstGeom>
          <a:solidFill>
            <a:srgbClr val="FFFFFF">
              <a:alpha val="40000"/>
            </a:srgbClr>
          </a:solidFill>
          <a:ln w="12700">
            <a:solidFill>
              <a:srgbClr val="FFFFFF">
                <a:alpha val="0"/>
              </a:srgbClr>
            </a:solidFill>
            <a:prstDash val="solid"/>
          </a:ln>
        </p:spPr>
      </p:sp>
      <p:sp>
        <p:nvSpPr>
          <p:cNvPr id="11" name="Shape 8"/>
          <p:cNvSpPr/>
          <p:nvPr/>
        </p:nvSpPr>
        <p:spPr>
          <a:xfrm>
            <a:off x="1005840" y="4251960"/>
            <a:ext cx="118872" cy="118872"/>
          </a:xfrm>
          <a:prstGeom prst="ellipse">
            <a:avLst/>
          </a:prstGeom>
          <a:solidFill>
            <a:srgbClr val="F5C242"/>
          </a:solidFill>
          <a:ln w="12700">
            <a:solidFill>
              <a:srgbClr val="FFFFFF">
                <a:alpha val="0"/>
              </a:srgbClr>
            </a:solidFill>
            <a:prstDash val="solid"/>
          </a:ln>
        </p:spPr>
      </p:sp>
      <p:sp>
        <p:nvSpPr>
          <p:cNvPr id="12" name="Shape 9"/>
          <p:cNvSpPr/>
          <p:nvPr/>
        </p:nvSpPr>
        <p:spPr>
          <a:xfrm>
            <a:off x="1225296" y="4251960"/>
            <a:ext cx="118872" cy="118872"/>
          </a:xfrm>
          <a:prstGeom prst="ellipse">
            <a:avLst/>
          </a:prstGeom>
          <a:solidFill>
            <a:srgbClr val="FFFFFF">
              <a:alpha val="40000"/>
            </a:srgbClr>
          </a:solidFill>
          <a:ln w="12700">
            <a:solidFill>
              <a:srgbClr val="FFFFFF">
                <a:alpha val="0"/>
              </a:srgbClr>
            </a:solidFill>
            <a:prstDash val="solid"/>
          </a:ln>
        </p:spPr>
      </p:sp>
      <p:sp>
        <p:nvSpPr>
          <p:cNvPr id="13" name="Shape 10"/>
          <p:cNvSpPr/>
          <p:nvPr/>
        </p:nvSpPr>
        <p:spPr>
          <a:xfrm>
            <a:off x="1444752" y="4251960"/>
            <a:ext cx="118872" cy="118872"/>
          </a:xfrm>
          <a:prstGeom prst="ellipse">
            <a:avLst/>
          </a:prstGeom>
          <a:solidFill>
            <a:srgbClr val="FFFFFF">
              <a:alpha val="40000"/>
            </a:srgbClr>
          </a:solidFill>
          <a:ln w="12700">
            <a:solidFill>
              <a:srgbClr val="FFFFFF">
                <a:alpha val="0"/>
              </a:srgbClr>
            </a:solidFill>
            <a:prstDash val="solid"/>
          </a:ln>
        </p:spPr>
      </p:sp>
      <p:sp>
        <p:nvSpPr>
          <p:cNvPr id="14" name="Shape 11"/>
          <p:cNvSpPr/>
          <p:nvPr/>
        </p:nvSpPr>
        <p:spPr>
          <a:xfrm>
            <a:off x="1664208" y="4251960"/>
            <a:ext cx="118872" cy="118872"/>
          </a:xfrm>
          <a:prstGeom prst="ellipse">
            <a:avLst/>
          </a:prstGeom>
          <a:solidFill>
            <a:srgbClr val="FFFFFF">
              <a:alpha val="40000"/>
            </a:srgbClr>
          </a:solidFill>
          <a:ln w="12700">
            <a:solidFill>
              <a:srgbClr val="FFFFFF">
                <a:alpha val="0"/>
              </a:srgbClr>
            </a:solidFill>
            <a:prstDash val="solid"/>
          </a:ln>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3"/>
          <p:cNvSpPr/>
          <p:nvPr>
            <p:ph idx="105" type="body" hasCustomPrompt="1"/>
          </p:nvPr>
        </p:nvSpPr>
        <p:spPr>
          <a:xfrm>
            <a:off x="457200" y="274320"/>
            <a:ext cx="6217920" cy="256032"/>
          </a:xfrm>
          <a:prstGeom prst="rect">
            <a:avLst/>
          </a:prstGeom>
          <a:noFill/>
          <a:ln/>
        </p:spPr>
        <p:txBody>
          <a:bodyPr wrap="square" lIns="0" tIns="0" rIns="0" bIns="0" rtlCol="0" anchor="ctr"/>
          <a:lstStyle/>
          <a:p>
            <a:pPr algn="l" indent="0" marL="0">
              <a:buNone/>
            </a:pPr>
            <a:r>
              <a:rPr lang="en-US" sz="1050" b="1" spc="300" kern="0" dirty="0">
                <a:solidFill>
                  <a:srgbClr val="00704A"/>
                </a:solidFill>
                <a:latin typeface="Calibri" pitchFamily="34" charset="0"/>
                <a:ea typeface="Calibri" pitchFamily="34" charset="-122"/>
                <a:cs typeface="Calibri" pitchFamily="34" charset="-120"/>
              </a:rPr>
              <a:t>03 · EXPLORER · STRUCTURE</a:t>
            </a:r>
            <a:endParaRPr lang="en-US" sz="1050" dirty="0"/>
          </a:p>
        </p:txBody>
      </p:sp>
      <p:sp>
        <p:nvSpPr>
          <p:cNvPr id="3" name="Text 3"/>
          <p:cNvSpPr/>
          <p:nvPr>
            <p:ph idx="106" type="title" hasCustomPrompt="1"/>
          </p:nvPr>
        </p:nvSpPr>
        <p:spPr>
          <a:xfrm>
            <a:off x="457200" y="548640"/>
            <a:ext cx="8229600" cy="566928"/>
          </a:xfrm>
          <a:prstGeom prst="rect">
            <a:avLst/>
          </a:prstGeom>
          <a:noFill/>
          <a:ln/>
        </p:spPr>
        <p:txBody>
          <a:bodyPr wrap="square" lIns="0" tIns="0" rIns="0" bIns="0" rtlCol="0" anchor="ctr"/>
          <a:lstStyle/>
          <a:p>
            <a:pPr algn="l" indent="0" marL="0">
              <a:buNone/>
            </a:pPr>
            <a:r>
              <a:rPr lang="en-US" sz="2800" b="1" dirty="0">
                <a:solidFill>
                  <a:srgbClr val="231F20"/>
                </a:solidFill>
                <a:latin typeface="Calibri" pitchFamily="34" charset="0"/>
                <a:ea typeface="Calibri" pitchFamily="34" charset="-122"/>
                <a:cs typeface="Calibri" pitchFamily="34" charset="-120"/>
              </a:rPr>
              <a:t>Un fichier Black Marble est un classeur, pas une image</a:t>
            </a:r>
            <a:endParaRPr lang="en-US" sz="2800" dirty="0"/>
          </a:p>
        </p:txBody>
      </p:sp>
      <p:sp>
        <p:nvSpPr>
          <p:cNvPr id="4" name="dot0"/>
          <p:cNvSpPr/>
          <p:nvPr/>
        </p:nvSpPr>
        <p:spPr>
          <a:xfrm>
            <a:off x="7644384" y="338328"/>
            <a:ext cx="100584" cy="100584"/>
          </a:xfrm>
          <a:prstGeom prst="ellipse">
            <a:avLst/>
          </a:prstGeom>
          <a:solidFill>
            <a:srgbClr val="D5DED9"/>
          </a:solidFill>
          <a:ln w="12700">
            <a:solidFill>
              <a:srgbClr val="D5DED9"/>
            </a:solidFill>
            <a:prstDash val="solid"/>
          </a:ln>
        </p:spPr>
      </p:sp>
      <p:sp>
        <p:nvSpPr>
          <p:cNvPr id="5" name="dot1"/>
          <p:cNvSpPr/>
          <p:nvPr/>
        </p:nvSpPr>
        <p:spPr>
          <a:xfrm>
            <a:off x="7818120" y="338328"/>
            <a:ext cx="100584" cy="100584"/>
          </a:xfrm>
          <a:prstGeom prst="ellipse">
            <a:avLst/>
          </a:prstGeom>
          <a:solidFill>
            <a:srgbClr val="D5DED9"/>
          </a:solidFill>
          <a:ln w="12700">
            <a:solidFill>
              <a:srgbClr val="D5DED9"/>
            </a:solidFill>
            <a:prstDash val="solid"/>
          </a:ln>
        </p:spPr>
      </p:sp>
      <p:sp>
        <p:nvSpPr>
          <p:cNvPr id="6" name="dot2"/>
          <p:cNvSpPr/>
          <p:nvPr/>
        </p:nvSpPr>
        <p:spPr>
          <a:xfrm>
            <a:off x="7991856" y="338328"/>
            <a:ext cx="100584" cy="100584"/>
          </a:xfrm>
          <a:prstGeom prst="ellipse">
            <a:avLst/>
          </a:prstGeom>
          <a:solidFill>
            <a:srgbClr val="0E7C86"/>
          </a:solidFill>
          <a:ln w="12700">
            <a:solidFill>
              <a:srgbClr val="0E7C86"/>
            </a:solidFill>
            <a:prstDash val="solid"/>
          </a:ln>
        </p:spPr>
      </p:sp>
      <p:sp>
        <p:nvSpPr>
          <p:cNvPr id="7" name="dot3"/>
          <p:cNvSpPr/>
          <p:nvPr/>
        </p:nvSpPr>
        <p:spPr>
          <a:xfrm>
            <a:off x="8165592" y="338328"/>
            <a:ext cx="100584" cy="100584"/>
          </a:xfrm>
          <a:prstGeom prst="ellipse">
            <a:avLst/>
          </a:prstGeom>
          <a:solidFill>
            <a:srgbClr val="D5DED9"/>
          </a:solidFill>
          <a:ln w="12700">
            <a:solidFill>
              <a:srgbClr val="D5DED9"/>
            </a:solidFill>
            <a:prstDash val="solid"/>
          </a:ln>
        </p:spPr>
      </p:sp>
      <p:sp>
        <p:nvSpPr>
          <p:cNvPr id="8" name="dot4"/>
          <p:cNvSpPr/>
          <p:nvPr/>
        </p:nvSpPr>
        <p:spPr>
          <a:xfrm>
            <a:off x="8339328" y="338328"/>
            <a:ext cx="100584" cy="100584"/>
          </a:xfrm>
          <a:prstGeom prst="ellipse">
            <a:avLst/>
          </a:prstGeom>
          <a:solidFill>
            <a:srgbClr val="D5DED9"/>
          </a:solidFill>
          <a:ln w="12700">
            <a:solidFill>
              <a:srgbClr val="D5DED9"/>
            </a:solidFill>
            <a:prstDash val="solid"/>
          </a:ln>
        </p:spPr>
      </p:sp>
      <p:sp>
        <p:nvSpPr>
          <p:cNvPr id="9" name="dot5"/>
          <p:cNvSpPr/>
          <p:nvPr/>
        </p:nvSpPr>
        <p:spPr>
          <a:xfrm>
            <a:off x="8513064" y="338328"/>
            <a:ext cx="100584" cy="100584"/>
          </a:xfrm>
          <a:prstGeom prst="ellipse">
            <a:avLst/>
          </a:prstGeom>
          <a:solidFill>
            <a:srgbClr val="D5DED9"/>
          </a:solidFill>
          <a:ln w="12700">
            <a:solidFill>
              <a:srgbClr val="D5DED9"/>
            </a:solidFill>
            <a:prstDash val="solid"/>
          </a:ln>
        </p:spPr>
      </p:sp>
      <p:sp>
        <p:nvSpPr>
          <p:cNvPr id="11" name="Shape 8"/>
          <p:cNvSpPr/>
          <p:nvPr/>
        </p:nvSpPr>
        <p:spPr>
          <a:xfrm>
            <a:off x="457200" y="1371600"/>
            <a:ext cx="3657600" cy="420624"/>
          </a:xfrm>
          <a:prstGeom prst="roundRect">
            <a:avLst>
              <a:gd name="adj" fmla="val 10870"/>
            </a:avLst>
          </a:prstGeom>
          <a:solidFill>
            <a:srgbClr val="00553A"/>
          </a:solidFill>
          <a:ln w="12700">
            <a:solidFill>
              <a:srgbClr val="00553A"/>
            </a:solidFill>
            <a:prstDash val="solid"/>
          </a:ln>
        </p:spPr>
      </p:sp>
      <p:sp>
        <p:nvSpPr>
          <p:cNvPr id="12" name="Text 9"/>
          <p:cNvSpPr txBox="1"/>
          <p:nvPr/>
        </p:nvSpPr>
        <p:spPr>
          <a:xfrm>
            <a:off x="594360" y="1371600"/>
            <a:ext cx="3474720" cy="42062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FICHIER  VNP46A4 … .h5</a:t>
            </a:r>
            <a:endParaRPr lang="en-US" sz="1150" dirty="0"/>
          </a:p>
        </p:txBody>
      </p:sp>
      <p:sp>
        <p:nvSpPr>
          <p:cNvPr id="13" name="Text 10"/>
          <p:cNvSpPr txBox="1"/>
          <p:nvPr/>
        </p:nvSpPr>
        <p:spPr>
          <a:xfrm>
            <a:off x="4297680" y="1371600"/>
            <a:ext cx="4389120" cy="420624"/>
          </a:xfrm>
          <a:prstGeom prst="rect">
            <a:avLst/>
          </a:prstGeom>
          <a:noFill/>
          <a:ln/>
        </p:spPr>
        <p:txBody>
          <a:bodyPr wrap="square" lIns="0" tIns="0" rIns="0" bIns="0" rtlCol="0" anchor="ctr"/>
          <a:lstStyle/>
          <a:p>
            <a:pPr indent="0" marL="0">
              <a:buNone/>
            </a:pPr>
            <a:r>
              <a:rPr lang="en-US" sz="1050" i="1" dirty="0">
                <a:solidFill>
                  <a:srgbClr val="5E6964"/>
                </a:solidFill>
                <a:latin typeface="Calibri" pitchFamily="34" charset="0"/>
                <a:ea typeface="Calibri" pitchFamily="34" charset="-122"/>
                <a:cs typeface="Calibri" pitchFamily="34" charset="-120"/>
              </a:rPr>
              <a:t>attributs globaux : capteur, emprise, date de production</a:t>
            </a:r>
            <a:endParaRPr lang="en-US" sz="1050" dirty="0"/>
          </a:p>
        </p:txBody>
      </p:sp>
      <p:sp>
        <p:nvSpPr>
          <p:cNvPr id="14" name="Shape 11"/>
          <p:cNvSpPr/>
          <p:nvPr/>
        </p:nvSpPr>
        <p:spPr>
          <a:xfrm>
            <a:off x="777240" y="1938528"/>
            <a:ext cx="3337560" cy="420624"/>
          </a:xfrm>
          <a:prstGeom prst="roundRect">
            <a:avLst>
              <a:gd name="adj" fmla="val 10870"/>
            </a:avLst>
          </a:prstGeom>
          <a:solidFill>
            <a:srgbClr val="00704A"/>
          </a:solidFill>
          <a:ln w="12700">
            <a:solidFill>
              <a:srgbClr val="00704A"/>
            </a:solidFill>
            <a:prstDash val="solid"/>
          </a:ln>
        </p:spPr>
      </p:sp>
      <p:sp>
        <p:nvSpPr>
          <p:cNvPr id="15" name="Text 12"/>
          <p:cNvSpPr txBox="1"/>
          <p:nvPr/>
        </p:nvSpPr>
        <p:spPr>
          <a:xfrm>
            <a:off x="914400" y="1938528"/>
            <a:ext cx="3154680" cy="42062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HDFEOS / GRIDS / &lt;grid&gt;</a:t>
            </a:r>
            <a:endParaRPr lang="en-US" sz="1150" dirty="0"/>
          </a:p>
        </p:txBody>
      </p:sp>
      <p:sp>
        <p:nvSpPr>
          <p:cNvPr id="16" name="Text 13"/>
          <p:cNvSpPr txBox="1"/>
          <p:nvPr/>
        </p:nvSpPr>
        <p:spPr>
          <a:xfrm>
            <a:off x="4297680" y="1938528"/>
            <a:ext cx="4389120" cy="420624"/>
          </a:xfrm>
          <a:prstGeom prst="rect">
            <a:avLst/>
          </a:prstGeom>
          <a:noFill/>
          <a:ln/>
        </p:spPr>
        <p:txBody>
          <a:bodyPr wrap="square" lIns="0" tIns="0" rIns="0" bIns="0" rtlCol="0" anchor="ctr"/>
          <a:lstStyle/>
          <a:p>
            <a:pPr indent="0" marL="0">
              <a:buNone/>
            </a:pPr>
            <a:r>
              <a:rPr lang="en-US" sz="1050" i="1" dirty="0">
                <a:solidFill>
                  <a:srgbClr val="5E6964"/>
                </a:solidFill>
                <a:latin typeface="Calibri" pitchFamily="34" charset="0"/>
                <a:ea typeface="Calibri" pitchFamily="34" charset="-122"/>
                <a:cs typeface="Calibri" pitchFamily="34" charset="-120"/>
              </a:rPr>
              <a:t>le nom de grille dépend du produit — ne jamais le figer</a:t>
            </a:r>
            <a:endParaRPr lang="en-US" sz="1050" dirty="0"/>
          </a:p>
        </p:txBody>
      </p:sp>
      <p:sp>
        <p:nvSpPr>
          <p:cNvPr id="17" name="Shape 14"/>
          <p:cNvSpPr/>
          <p:nvPr/>
        </p:nvSpPr>
        <p:spPr>
          <a:xfrm>
            <a:off x="1097280" y="2505456"/>
            <a:ext cx="3017520" cy="420624"/>
          </a:xfrm>
          <a:prstGeom prst="roundRect">
            <a:avLst>
              <a:gd name="adj" fmla="val 10870"/>
            </a:avLst>
          </a:prstGeom>
          <a:solidFill>
            <a:srgbClr val="00A86A"/>
          </a:solidFill>
          <a:ln w="12700">
            <a:solidFill>
              <a:srgbClr val="00A86A"/>
            </a:solidFill>
            <a:prstDash val="solid"/>
          </a:ln>
        </p:spPr>
      </p:sp>
      <p:sp>
        <p:nvSpPr>
          <p:cNvPr id="18" name="Text 15"/>
          <p:cNvSpPr txBox="1"/>
          <p:nvPr/>
        </p:nvSpPr>
        <p:spPr>
          <a:xfrm>
            <a:off x="1234440" y="2505456"/>
            <a:ext cx="2834640" cy="42062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Data Fields</a:t>
            </a:r>
            <a:endParaRPr lang="en-US" sz="1150" dirty="0"/>
          </a:p>
        </p:txBody>
      </p:sp>
      <p:sp>
        <p:nvSpPr>
          <p:cNvPr id="19" name="Text 16"/>
          <p:cNvSpPr txBox="1"/>
          <p:nvPr/>
        </p:nvSpPr>
        <p:spPr>
          <a:xfrm>
            <a:off x="4297680" y="2505456"/>
            <a:ext cx="4389120" cy="420624"/>
          </a:xfrm>
          <a:prstGeom prst="rect">
            <a:avLst/>
          </a:prstGeom>
          <a:noFill/>
          <a:ln/>
        </p:spPr>
        <p:txBody>
          <a:bodyPr wrap="square" lIns="0" tIns="0" rIns="0" bIns="0" rtlCol="0" anchor="ctr"/>
          <a:lstStyle/>
          <a:p>
            <a:pPr indent="0" marL="0">
              <a:buNone/>
            </a:pPr>
            <a:r>
              <a:rPr lang="en-US" sz="1050" i="1" dirty="0">
                <a:solidFill>
                  <a:srgbClr val="5E6964"/>
                </a:solidFill>
                <a:latin typeface="Calibri" pitchFamily="34" charset="0"/>
                <a:ea typeface="Calibri" pitchFamily="34" charset="-122"/>
                <a:cs typeface="Calibri" pitchFamily="34" charset="-120"/>
              </a:rPr>
              <a:t>toutes les couches utiles sont ici</a:t>
            </a:r>
            <a:endParaRPr lang="en-US" sz="1050" dirty="0"/>
          </a:p>
        </p:txBody>
      </p:sp>
      <p:sp>
        <p:nvSpPr>
          <p:cNvPr id="20" name="Shape 17"/>
          <p:cNvSpPr/>
          <p:nvPr/>
        </p:nvSpPr>
        <p:spPr>
          <a:xfrm>
            <a:off x="457200" y="3200400"/>
            <a:ext cx="1536192" cy="1261872"/>
          </a:xfrm>
          <a:prstGeom prst="roundRect">
            <a:avLst>
              <a:gd name="adj" fmla="val 5797"/>
            </a:avLst>
          </a:prstGeom>
          <a:solidFill>
            <a:srgbClr val="F4F7F5"/>
          </a:solidFill>
          <a:ln w="9525">
            <a:solidFill>
              <a:srgbClr val="D5DED9"/>
            </a:solidFill>
            <a:prstDash val="solid"/>
          </a:ln>
        </p:spPr>
      </p:sp>
      <p:sp>
        <p:nvSpPr>
          <p:cNvPr id="21" name="Shape 18"/>
          <p:cNvSpPr/>
          <p:nvPr/>
        </p:nvSpPr>
        <p:spPr>
          <a:xfrm>
            <a:off x="987552" y="3291840"/>
            <a:ext cx="475488" cy="475488"/>
          </a:xfrm>
          <a:prstGeom prst="ellipse">
            <a:avLst/>
          </a:prstGeom>
          <a:solidFill>
            <a:srgbClr val="F5C242">
              <a:alpha val="22000"/>
            </a:srgbClr>
          </a:solidFill>
          <a:ln w="12700">
            <a:solidFill>
              <a:srgbClr val="F5C242">
                <a:alpha val="0"/>
              </a:srgbClr>
            </a:solidFill>
            <a:prstDash val="solid"/>
          </a:ln>
        </p:spPr>
      </p:sp>
      <p:pic>
        <p:nvPicPr>
          <p:cNvPr id="22" name="Image 0" descr="preencoded.png">    </p:cNvPr>
          <p:cNvPicPr>
            <a:picLocks noChangeAspect="1"/>
          </p:cNvPicPr>
          <p:nvPr/>
        </p:nvPicPr>
        <p:blipFill>
          <a:blip r:embed="rId1"/>
          <a:stretch>
            <a:fillRect/>
          </a:stretch>
        </p:blipFill>
        <p:spPr>
          <a:xfrm>
            <a:off x="1101669" y="3405957"/>
            <a:ext cx="247254" cy="247254"/>
          </a:xfrm>
          <a:prstGeom prst="rect">
            <a:avLst/>
          </a:prstGeom>
        </p:spPr>
      </p:pic>
      <p:sp>
        <p:nvSpPr>
          <p:cNvPr id="23" name="Text 19"/>
          <p:cNvSpPr txBox="1"/>
          <p:nvPr/>
        </p:nvSpPr>
        <p:spPr>
          <a:xfrm>
            <a:off x="530352" y="3813048"/>
            <a:ext cx="1389888" cy="256032"/>
          </a:xfrm>
          <a:prstGeom prst="rect">
            <a:avLst/>
          </a:prstGeom>
          <a:noFill/>
          <a:ln/>
        </p:spPr>
        <p:txBody>
          <a:bodyPr wrap="square" lIns="0" tIns="0" rIns="0" bIns="0" rtlCol="0" anchor="t"/>
          <a:lstStyle/>
          <a:p>
            <a:pPr algn="ctr" indent="0" marL="0">
              <a:buNone/>
            </a:pPr>
            <a:r>
              <a:rPr lang="en-US" sz="1200" b="1" dirty="0">
                <a:solidFill>
                  <a:srgbClr val="231F20"/>
                </a:solidFill>
                <a:latin typeface="Calibri" pitchFamily="34" charset="0"/>
                <a:ea typeface="Calibri" pitchFamily="34" charset="-122"/>
                <a:cs typeface="Calibri" pitchFamily="34" charset="-120"/>
              </a:rPr>
              <a:t>Radiance</a:t>
            </a:r>
            <a:endParaRPr lang="en-US" sz="1200" dirty="0"/>
          </a:p>
        </p:txBody>
      </p:sp>
      <p:sp>
        <p:nvSpPr>
          <p:cNvPr id="24" name="Text 20"/>
          <p:cNvSpPr txBox="1"/>
          <p:nvPr/>
        </p:nvSpPr>
        <p:spPr>
          <a:xfrm>
            <a:off x="530352" y="4069080"/>
            <a:ext cx="1389888" cy="365760"/>
          </a:xfrm>
          <a:prstGeom prst="rect">
            <a:avLst/>
          </a:prstGeom>
          <a:noFill/>
          <a:ln/>
        </p:spPr>
        <p:txBody>
          <a:bodyPr wrap="square" lIns="0" tIns="0" rIns="0" bIns="0" rtlCol="0" anchor="t"/>
          <a:lstStyle/>
          <a:p>
            <a:pPr algn="ctr" indent="0" marL="0">
              <a:buNone/>
            </a:pPr>
            <a:r>
              <a:rPr lang="en-US" sz="750" dirty="0">
                <a:solidFill>
                  <a:srgbClr val="5E6964"/>
                </a:solidFill>
                <a:latin typeface="Courier New" pitchFamily="34" charset="0"/>
                <a:ea typeface="Courier New" pitchFamily="34" charset="-122"/>
                <a:cs typeface="Courier New" pitchFamily="34" charset="-120"/>
              </a:rPr>
              <a:t>AllAngle_Composite_Snow_Free</a:t>
            </a:r>
            <a:endParaRPr lang="en-US" sz="750" dirty="0"/>
          </a:p>
        </p:txBody>
      </p:sp>
      <p:sp>
        <p:nvSpPr>
          <p:cNvPr id="25" name="Shape 21"/>
          <p:cNvSpPr/>
          <p:nvPr/>
        </p:nvSpPr>
        <p:spPr>
          <a:xfrm>
            <a:off x="2121408" y="3200400"/>
            <a:ext cx="1536192" cy="1261872"/>
          </a:xfrm>
          <a:prstGeom prst="roundRect">
            <a:avLst>
              <a:gd name="adj" fmla="val 5797"/>
            </a:avLst>
          </a:prstGeom>
          <a:solidFill>
            <a:srgbClr val="F4F7F5"/>
          </a:solidFill>
          <a:ln w="9525">
            <a:solidFill>
              <a:srgbClr val="D5DED9"/>
            </a:solidFill>
            <a:prstDash val="solid"/>
          </a:ln>
        </p:spPr>
      </p:sp>
      <p:sp>
        <p:nvSpPr>
          <p:cNvPr id="26" name="Shape 22"/>
          <p:cNvSpPr/>
          <p:nvPr/>
        </p:nvSpPr>
        <p:spPr>
          <a:xfrm>
            <a:off x="2651760" y="3291840"/>
            <a:ext cx="475488" cy="475488"/>
          </a:xfrm>
          <a:prstGeom prst="ellipse">
            <a:avLst/>
          </a:prstGeom>
          <a:solidFill>
            <a:srgbClr val="0E7C86">
              <a:alpha val="22000"/>
            </a:srgbClr>
          </a:solidFill>
          <a:ln w="12700">
            <a:solidFill>
              <a:srgbClr val="0E7C86">
                <a:alpha val="0"/>
              </a:srgbClr>
            </a:solidFill>
            <a:prstDash val="solid"/>
          </a:ln>
        </p:spPr>
      </p:sp>
      <p:pic>
        <p:nvPicPr>
          <p:cNvPr id="27" name="Image 1" descr="preencoded.png">    </p:cNvPr>
          <p:cNvPicPr>
            <a:picLocks noChangeAspect="1"/>
          </p:cNvPicPr>
          <p:nvPr/>
        </p:nvPicPr>
        <p:blipFill>
          <a:blip r:embed="rId2"/>
          <a:stretch>
            <a:fillRect/>
          </a:stretch>
        </p:blipFill>
        <p:spPr>
          <a:xfrm>
            <a:off x="2765877" y="3405957"/>
            <a:ext cx="247254" cy="247254"/>
          </a:xfrm>
          <a:prstGeom prst="rect">
            <a:avLst/>
          </a:prstGeom>
        </p:spPr>
      </p:pic>
      <p:sp>
        <p:nvSpPr>
          <p:cNvPr id="28" name="Text 23"/>
          <p:cNvSpPr txBox="1"/>
          <p:nvPr/>
        </p:nvSpPr>
        <p:spPr>
          <a:xfrm>
            <a:off x="2194560" y="3813048"/>
            <a:ext cx="1389888" cy="256032"/>
          </a:xfrm>
          <a:prstGeom prst="rect">
            <a:avLst/>
          </a:prstGeom>
          <a:noFill/>
          <a:ln/>
        </p:spPr>
        <p:txBody>
          <a:bodyPr wrap="square" lIns="0" tIns="0" rIns="0" bIns="0" rtlCol="0" anchor="t"/>
          <a:lstStyle/>
          <a:p>
            <a:pPr algn="ctr" indent="0" marL="0">
              <a:buNone/>
            </a:pPr>
            <a:r>
              <a:rPr lang="en-US" sz="1200" b="1" dirty="0">
                <a:solidFill>
                  <a:srgbClr val="231F20"/>
                </a:solidFill>
                <a:latin typeface="Calibri" pitchFamily="34" charset="0"/>
                <a:ea typeface="Calibri" pitchFamily="34" charset="-122"/>
                <a:cs typeface="Calibri" pitchFamily="34" charset="-120"/>
              </a:rPr>
              <a:t>Incertitude</a:t>
            </a:r>
            <a:endParaRPr lang="en-US" sz="1200" dirty="0"/>
          </a:p>
        </p:txBody>
      </p:sp>
      <p:sp>
        <p:nvSpPr>
          <p:cNvPr id="29" name="Text 24"/>
          <p:cNvSpPr txBox="1"/>
          <p:nvPr/>
        </p:nvSpPr>
        <p:spPr>
          <a:xfrm>
            <a:off x="2194560" y="4069080"/>
            <a:ext cx="1389888" cy="365760"/>
          </a:xfrm>
          <a:prstGeom prst="rect">
            <a:avLst/>
          </a:prstGeom>
          <a:noFill/>
          <a:ln/>
        </p:spPr>
        <p:txBody>
          <a:bodyPr wrap="square" lIns="0" tIns="0" rIns="0" bIns="0" rtlCol="0" anchor="t"/>
          <a:lstStyle/>
          <a:p>
            <a:pPr algn="ctr" indent="0" marL="0">
              <a:buNone/>
            </a:pPr>
            <a:r>
              <a:rPr lang="en-US" sz="750" dirty="0">
                <a:solidFill>
                  <a:srgbClr val="5E6964"/>
                </a:solidFill>
                <a:latin typeface="Courier New" pitchFamily="34" charset="0"/>
                <a:ea typeface="Courier New" pitchFamily="34" charset="-122"/>
                <a:cs typeface="Courier New" pitchFamily="34" charset="-120"/>
              </a:rPr>
              <a:t>…_Num · …_Std</a:t>
            </a:r>
            <a:endParaRPr lang="en-US" sz="750" dirty="0"/>
          </a:p>
        </p:txBody>
      </p:sp>
      <p:sp>
        <p:nvSpPr>
          <p:cNvPr id="30" name="Shape 25"/>
          <p:cNvSpPr/>
          <p:nvPr/>
        </p:nvSpPr>
        <p:spPr>
          <a:xfrm>
            <a:off x="3785616" y="3200400"/>
            <a:ext cx="1536192" cy="1261872"/>
          </a:xfrm>
          <a:prstGeom prst="roundRect">
            <a:avLst>
              <a:gd name="adj" fmla="val 5797"/>
            </a:avLst>
          </a:prstGeom>
          <a:solidFill>
            <a:srgbClr val="F4F7F5"/>
          </a:solidFill>
          <a:ln w="9525">
            <a:solidFill>
              <a:srgbClr val="D5DED9"/>
            </a:solidFill>
            <a:prstDash val="solid"/>
          </a:ln>
        </p:spPr>
      </p:sp>
      <p:sp>
        <p:nvSpPr>
          <p:cNvPr id="31" name="Shape 26"/>
          <p:cNvSpPr/>
          <p:nvPr/>
        </p:nvSpPr>
        <p:spPr>
          <a:xfrm>
            <a:off x="4315968" y="3291840"/>
            <a:ext cx="475488" cy="475488"/>
          </a:xfrm>
          <a:prstGeom prst="ellipse">
            <a:avLst/>
          </a:prstGeom>
          <a:solidFill>
            <a:srgbClr val="C4621D">
              <a:alpha val="22000"/>
            </a:srgbClr>
          </a:solidFill>
          <a:ln w="12700">
            <a:solidFill>
              <a:srgbClr val="C4621D">
                <a:alpha val="0"/>
              </a:srgbClr>
            </a:solidFill>
            <a:prstDash val="solid"/>
          </a:ln>
        </p:spPr>
      </p:sp>
      <p:pic>
        <p:nvPicPr>
          <p:cNvPr id="32" name="Image 2" descr="preencoded.png">    </p:cNvPr>
          <p:cNvPicPr>
            <a:picLocks noChangeAspect="1"/>
          </p:cNvPicPr>
          <p:nvPr/>
        </p:nvPicPr>
        <p:blipFill>
          <a:blip r:embed="rId3"/>
          <a:stretch>
            <a:fillRect/>
          </a:stretch>
        </p:blipFill>
        <p:spPr>
          <a:xfrm>
            <a:off x="4430085" y="3405957"/>
            <a:ext cx="247254" cy="247254"/>
          </a:xfrm>
          <a:prstGeom prst="rect">
            <a:avLst/>
          </a:prstGeom>
        </p:spPr>
      </p:pic>
      <p:sp>
        <p:nvSpPr>
          <p:cNvPr id="33" name="Text 27"/>
          <p:cNvSpPr txBox="1"/>
          <p:nvPr/>
        </p:nvSpPr>
        <p:spPr>
          <a:xfrm>
            <a:off x="3858768" y="3813048"/>
            <a:ext cx="1389888" cy="256032"/>
          </a:xfrm>
          <a:prstGeom prst="rect">
            <a:avLst/>
          </a:prstGeom>
          <a:noFill/>
          <a:ln/>
        </p:spPr>
        <p:txBody>
          <a:bodyPr wrap="square" lIns="0" tIns="0" rIns="0" bIns="0" rtlCol="0" anchor="t"/>
          <a:lstStyle/>
          <a:p>
            <a:pPr algn="ctr" indent="0" marL="0">
              <a:buNone/>
            </a:pPr>
            <a:r>
              <a:rPr lang="en-US" sz="1200" b="1" dirty="0">
                <a:solidFill>
                  <a:srgbClr val="231F20"/>
                </a:solidFill>
                <a:latin typeface="Calibri" pitchFamily="34" charset="0"/>
                <a:ea typeface="Calibri" pitchFamily="34" charset="-122"/>
                <a:cs typeface="Calibri" pitchFamily="34" charset="-120"/>
              </a:rPr>
              <a:t>Qualité</a:t>
            </a:r>
            <a:endParaRPr lang="en-US" sz="1200" dirty="0"/>
          </a:p>
        </p:txBody>
      </p:sp>
      <p:sp>
        <p:nvSpPr>
          <p:cNvPr id="34" name="Text 28"/>
          <p:cNvSpPr txBox="1"/>
          <p:nvPr/>
        </p:nvSpPr>
        <p:spPr>
          <a:xfrm>
            <a:off x="3858768" y="4069080"/>
            <a:ext cx="1389888" cy="365760"/>
          </a:xfrm>
          <a:prstGeom prst="rect">
            <a:avLst/>
          </a:prstGeom>
          <a:noFill/>
          <a:ln/>
        </p:spPr>
        <p:txBody>
          <a:bodyPr wrap="square" lIns="0" tIns="0" rIns="0" bIns="0" rtlCol="0" anchor="t"/>
          <a:lstStyle/>
          <a:p>
            <a:pPr algn="ctr" indent="0" marL="0">
              <a:buNone/>
            </a:pPr>
            <a:r>
              <a:rPr lang="en-US" sz="750" dirty="0">
                <a:solidFill>
                  <a:srgbClr val="5E6964"/>
                </a:solidFill>
                <a:latin typeface="Courier New" pitchFamily="34" charset="0"/>
                <a:ea typeface="Courier New" pitchFamily="34" charset="-122"/>
                <a:cs typeface="Courier New" pitchFamily="34" charset="-120"/>
              </a:rPr>
              <a:t>…_Quality · Mandatory_Quality_Flag</a:t>
            </a:r>
            <a:endParaRPr lang="en-US" sz="750" dirty="0"/>
          </a:p>
        </p:txBody>
      </p:sp>
      <p:sp>
        <p:nvSpPr>
          <p:cNvPr id="35" name="Shape 29"/>
          <p:cNvSpPr/>
          <p:nvPr/>
        </p:nvSpPr>
        <p:spPr>
          <a:xfrm>
            <a:off x="5449824" y="3200400"/>
            <a:ext cx="1536192" cy="1261872"/>
          </a:xfrm>
          <a:prstGeom prst="roundRect">
            <a:avLst>
              <a:gd name="adj" fmla="val 5797"/>
            </a:avLst>
          </a:prstGeom>
          <a:solidFill>
            <a:srgbClr val="F4F7F5"/>
          </a:solidFill>
          <a:ln w="9525">
            <a:solidFill>
              <a:srgbClr val="D5DED9"/>
            </a:solidFill>
            <a:prstDash val="solid"/>
          </a:ln>
        </p:spPr>
      </p:sp>
      <p:sp>
        <p:nvSpPr>
          <p:cNvPr id="36" name="Shape 30"/>
          <p:cNvSpPr/>
          <p:nvPr/>
        </p:nvSpPr>
        <p:spPr>
          <a:xfrm>
            <a:off x="5980176" y="3291840"/>
            <a:ext cx="475488" cy="475488"/>
          </a:xfrm>
          <a:prstGeom prst="ellipse">
            <a:avLst/>
          </a:prstGeom>
          <a:solidFill>
            <a:srgbClr val="5E6964">
              <a:alpha val="22000"/>
            </a:srgbClr>
          </a:solidFill>
          <a:ln w="12700">
            <a:solidFill>
              <a:srgbClr val="5E6964">
                <a:alpha val="0"/>
              </a:srgbClr>
            </a:solidFill>
            <a:prstDash val="solid"/>
          </a:ln>
        </p:spPr>
      </p:sp>
      <p:pic>
        <p:nvPicPr>
          <p:cNvPr id="37" name="Image 3" descr="preencoded.png">    </p:cNvPr>
          <p:cNvPicPr>
            <a:picLocks noChangeAspect="1"/>
          </p:cNvPicPr>
          <p:nvPr/>
        </p:nvPicPr>
        <p:blipFill>
          <a:blip r:embed="rId4"/>
          <a:stretch>
            <a:fillRect/>
          </a:stretch>
        </p:blipFill>
        <p:spPr>
          <a:xfrm>
            <a:off x="6094293" y="3405957"/>
            <a:ext cx="247254" cy="247254"/>
          </a:xfrm>
          <a:prstGeom prst="rect">
            <a:avLst/>
          </a:prstGeom>
        </p:spPr>
      </p:pic>
      <p:sp>
        <p:nvSpPr>
          <p:cNvPr id="38" name="Text 31"/>
          <p:cNvSpPr txBox="1"/>
          <p:nvPr/>
        </p:nvSpPr>
        <p:spPr>
          <a:xfrm>
            <a:off x="5522976" y="3813048"/>
            <a:ext cx="1389888" cy="256032"/>
          </a:xfrm>
          <a:prstGeom prst="rect">
            <a:avLst/>
          </a:prstGeom>
          <a:noFill/>
          <a:ln/>
        </p:spPr>
        <p:txBody>
          <a:bodyPr wrap="square" lIns="0" tIns="0" rIns="0" bIns="0" rtlCol="0" anchor="t"/>
          <a:lstStyle/>
          <a:p>
            <a:pPr algn="ctr" indent="0" marL="0">
              <a:buNone/>
            </a:pPr>
            <a:r>
              <a:rPr lang="en-US" sz="1200" b="1" dirty="0">
                <a:solidFill>
                  <a:srgbClr val="231F20"/>
                </a:solidFill>
                <a:latin typeface="Calibri" pitchFamily="34" charset="0"/>
                <a:ea typeface="Calibri" pitchFamily="34" charset="-122"/>
                <a:cs typeface="Calibri" pitchFamily="34" charset="-120"/>
              </a:rPr>
              <a:t>Contexte</a:t>
            </a:r>
            <a:endParaRPr lang="en-US" sz="1200" dirty="0"/>
          </a:p>
        </p:txBody>
      </p:sp>
      <p:sp>
        <p:nvSpPr>
          <p:cNvPr id="39" name="Text 32"/>
          <p:cNvSpPr txBox="1"/>
          <p:nvPr/>
        </p:nvSpPr>
        <p:spPr>
          <a:xfrm>
            <a:off x="5522976" y="4069080"/>
            <a:ext cx="1389888" cy="365760"/>
          </a:xfrm>
          <a:prstGeom prst="rect">
            <a:avLst/>
          </a:prstGeom>
          <a:noFill/>
          <a:ln/>
        </p:spPr>
        <p:txBody>
          <a:bodyPr wrap="square" lIns="0" tIns="0" rIns="0" bIns="0" rtlCol="0" anchor="t"/>
          <a:lstStyle/>
          <a:p>
            <a:pPr algn="ctr" indent="0" marL="0">
              <a:buNone/>
            </a:pPr>
            <a:r>
              <a:rPr lang="en-US" sz="750" dirty="0">
                <a:solidFill>
                  <a:srgbClr val="5E6964"/>
                </a:solidFill>
                <a:latin typeface="Courier New" pitchFamily="34" charset="0"/>
                <a:ea typeface="Courier New" pitchFamily="34" charset="-122"/>
                <a:cs typeface="Courier New" pitchFamily="34" charset="-120"/>
              </a:rPr>
              <a:t>Land_Water_Mask · DNB_Platform</a:t>
            </a:r>
            <a:endParaRPr lang="en-US" sz="750" dirty="0"/>
          </a:p>
        </p:txBody>
      </p:sp>
      <p:sp>
        <p:nvSpPr>
          <p:cNvPr id="40" name="Shape 33"/>
          <p:cNvSpPr/>
          <p:nvPr/>
        </p:nvSpPr>
        <p:spPr>
          <a:xfrm>
            <a:off x="7114032" y="3200400"/>
            <a:ext cx="1536192" cy="1261872"/>
          </a:xfrm>
          <a:prstGeom prst="roundRect">
            <a:avLst>
              <a:gd name="adj" fmla="val 5797"/>
            </a:avLst>
          </a:prstGeom>
          <a:solidFill>
            <a:srgbClr val="F4F7F5"/>
          </a:solidFill>
          <a:ln w="9525">
            <a:solidFill>
              <a:srgbClr val="D5DED9"/>
            </a:solidFill>
            <a:prstDash val="solid"/>
          </a:ln>
        </p:spPr>
      </p:sp>
      <p:sp>
        <p:nvSpPr>
          <p:cNvPr id="41" name="Shape 34"/>
          <p:cNvSpPr/>
          <p:nvPr/>
        </p:nvSpPr>
        <p:spPr>
          <a:xfrm>
            <a:off x="7644384" y="3291840"/>
            <a:ext cx="475488" cy="475488"/>
          </a:xfrm>
          <a:prstGeom prst="ellipse">
            <a:avLst/>
          </a:prstGeom>
          <a:solidFill>
            <a:srgbClr val="00704A">
              <a:alpha val="22000"/>
            </a:srgbClr>
          </a:solidFill>
          <a:ln w="12700">
            <a:solidFill>
              <a:srgbClr val="00704A">
                <a:alpha val="0"/>
              </a:srgbClr>
            </a:solidFill>
            <a:prstDash val="solid"/>
          </a:ln>
        </p:spPr>
      </p:sp>
      <p:pic>
        <p:nvPicPr>
          <p:cNvPr id="42" name="Image 4" descr="preencoded.png">    </p:cNvPr>
          <p:cNvPicPr>
            <a:picLocks noChangeAspect="1"/>
          </p:cNvPicPr>
          <p:nvPr/>
        </p:nvPicPr>
        <p:blipFill>
          <a:blip r:embed="rId5"/>
          <a:stretch>
            <a:fillRect/>
          </a:stretch>
        </p:blipFill>
        <p:spPr>
          <a:xfrm>
            <a:off x="7758501" y="3405957"/>
            <a:ext cx="247254" cy="247254"/>
          </a:xfrm>
          <a:prstGeom prst="rect">
            <a:avLst/>
          </a:prstGeom>
        </p:spPr>
      </p:pic>
      <p:sp>
        <p:nvSpPr>
          <p:cNvPr id="43" name="Text 35"/>
          <p:cNvSpPr txBox="1"/>
          <p:nvPr/>
        </p:nvSpPr>
        <p:spPr>
          <a:xfrm>
            <a:off x="7187184" y="3813048"/>
            <a:ext cx="1389888" cy="256032"/>
          </a:xfrm>
          <a:prstGeom prst="rect">
            <a:avLst/>
          </a:prstGeom>
          <a:noFill/>
          <a:ln/>
        </p:spPr>
        <p:txBody>
          <a:bodyPr wrap="square" lIns="0" tIns="0" rIns="0" bIns="0" rtlCol="0" anchor="t"/>
          <a:lstStyle/>
          <a:p>
            <a:pPr algn="ctr" indent="0" marL="0">
              <a:buNone/>
            </a:pPr>
            <a:r>
              <a:rPr lang="en-US" sz="1200" b="1" dirty="0">
                <a:solidFill>
                  <a:srgbClr val="231F20"/>
                </a:solidFill>
                <a:latin typeface="Calibri" pitchFamily="34" charset="0"/>
                <a:ea typeface="Calibri" pitchFamily="34" charset="-122"/>
                <a:cs typeface="Calibri" pitchFamily="34" charset="-120"/>
              </a:rPr>
              <a:t>Coordonnées</a:t>
            </a:r>
            <a:endParaRPr lang="en-US" sz="1200" dirty="0"/>
          </a:p>
        </p:txBody>
      </p:sp>
      <p:sp>
        <p:nvSpPr>
          <p:cNvPr id="44" name="Text 36"/>
          <p:cNvSpPr txBox="1"/>
          <p:nvPr/>
        </p:nvSpPr>
        <p:spPr>
          <a:xfrm>
            <a:off x="7187184" y="4069080"/>
            <a:ext cx="1389888" cy="365760"/>
          </a:xfrm>
          <a:prstGeom prst="rect">
            <a:avLst/>
          </a:prstGeom>
          <a:noFill/>
          <a:ln/>
        </p:spPr>
        <p:txBody>
          <a:bodyPr wrap="square" lIns="0" tIns="0" rIns="0" bIns="0" rtlCol="0" anchor="t"/>
          <a:lstStyle/>
          <a:p>
            <a:pPr algn="ctr" indent="0" marL="0">
              <a:buNone/>
            </a:pPr>
            <a:r>
              <a:rPr lang="en-US" sz="750" dirty="0">
                <a:solidFill>
                  <a:srgbClr val="5E6964"/>
                </a:solidFill>
                <a:latin typeface="Courier New" pitchFamily="34" charset="0"/>
                <a:ea typeface="Courier New" pitchFamily="34" charset="-122"/>
                <a:cs typeface="Courier New" pitchFamily="34" charset="-120"/>
              </a:rPr>
              <a:t>lat · lon</a:t>
            </a:r>
            <a:endParaRPr lang="en-US" sz="75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8A9590"/>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3"/>
          <p:cNvSpPr/>
          <p:nvPr>
            <p:ph idx="105" type="body" hasCustomPrompt="1"/>
          </p:nvPr>
        </p:nvSpPr>
        <p:spPr>
          <a:xfrm>
            <a:off x="457200" y="274320"/>
            <a:ext cx="6217920" cy="256032"/>
          </a:xfrm>
          <a:prstGeom prst="rect">
            <a:avLst/>
          </a:prstGeom>
          <a:noFill/>
          <a:ln/>
        </p:spPr>
        <p:txBody>
          <a:bodyPr wrap="square" lIns="0" tIns="0" rIns="0" bIns="0" rtlCol="0" anchor="ctr"/>
          <a:lstStyle/>
          <a:p>
            <a:pPr algn="l" indent="0" marL="0">
              <a:buNone/>
            </a:pPr>
            <a:r>
              <a:rPr lang="en-US" sz="1050" b="1" spc="300" kern="0" dirty="0">
                <a:solidFill>
                  <a:srgbClr val="00704A"/>
                </a:solidFill>
                <a:latin typeface="Calibri" pitchFamily="34" charset="0"/>
                <a:ea typeface="Calibri" pitchFamily="34" charset="-122"/>
                <a:cs typeface="Calibri" pitchFamily="34" charset="-120"/>
              </a:rPr>
              <a:t>03 · EXPLORER · CALCUL</a:t>
            </a:r>
            <a:endParaRPr lang="en-US" sz="1050" dirty="0"/>
          </a:p>
        </p:txBody>
      </p:sp>
      <p:sp>
        <p:nvSpPr>
          <p:cNvPr id="3" name="Text 3"/>
          <p:cNvSpPr/>
          <p:nvPr>
            <p:ph idx="106" type="title" hasCustomPrompt="1"/>
          </p:nvPr>
        </p:nvSpPr>
        <p:spPr>
          <a:xfrm>
            <a:off x="457200" y="548640"/>
            <a:ext cx="8229600" cy="566928"/>
          </a:xfrm>
          <a:prstGeom prst="rect">
            <a:avLst/>
          </a:prstGeom>
          <a:noFill/>
          <a:ln/>
        </p:spPr>
        <p:txBody>
          <a:bodyPr wrap="square" lIns="0" tIns="0" rIns="0" bIns="0" rtlCol="0" anchor="ctr"/>
          <a:lstStyle/>
          <a:p>
            <a:pPr algn="l" indent="0" marL="0">
              <a:buNone/>
            </a:pPr>
            <a:r>
              <a:rPr lang="en-US" sz="2800" b="1" dirty="0">
                <a:solidFill>
                  <a:srgbClr val="231F20"/>
                </a:solidFill>
                <a:latin typeface="Calibri" pitchFamily="34" charset="0"/>
                <a:ea typeface="Calibri" pitchFamily="34" charset="-122"/>
                <a:cs typeface="Calibri" pitchFamily="34" charset="-120"/>
              </a:rPr>
              <a:t>Décoder : une équation et un piège</a:t>
            </a:r>
            <a:endParaRPr lang="en-US" sz="2800" dirty="0"/>
          </a:p>
        </p:txBody>
      </p:sp>
      <p:sp>
        <p:nvSpPr>
          <p:cNvPr id="4" name="dot0"/>
          <p:cNvSpPr/>
          <p:nvPr/>
        </p:nvSpPr>
        <p:spPr>
          <a:xfrm>
            <a:off x="7644384" y="338328"/>
            <a:ext cx="100584" cy="100584"/>
          </a:xfrm>
          <a:prstGeom prst="ellipse">
            <a:avLst/>
          </a:prstGeom>
          <a:solidFill>
            <a:srgbClr val="D5DED9"/>
          </a:solidFill>
          <a:ln w="12700">
            <a:solidFill>
              <a:srgbClr val="D5DED9"/>
            </a:solidFill>
            <a:prstDash val="solid"/>
          </a:ln>
        </p:spPr>
      </p:sp>
      <p:sp>
        <p:nvSpPr>
          <p:cNvPr id="5" name="dot1"/>
          <p:cNvSpPr/>
          <p:nvPr/>
        </p:nvSpPr>
        <p:spPr>
          <a:xfrm>
            <a:off x="7818120" y="338328"/>
            <a:ext cx="100584" cy="100584"/>
          </a:xfrm>
          <a:prstGeom prst="ellipse">
            <a:avLst/>
          </a:prstGeom>
          <a:solidFill>
            <a:srgbClr val="D5DED9"/>
          </a:solidFill>
          <a:ln w="12700">
            <a:solidFill>
              <a:srgbClr val="D5DED9"/>
            </a:solidFill>
            <a:prstDash val="solid"/>
          </a:ln>
        </p:spPr>
      </p:sp>
      <p:sp>
        <p:nvSpPr>
          <p:cNvPr id="6" name="dot2"/>
          <p:cNvSpPr/>
          <p:nvPr/>
        </p:nvSpPr>
        <p:spPr>
          <a:xfrm>
            <a:off x="7991856" y="338328"/>
            <a:ext cx="100584" cy="100584"/>
          </a:xfrm>
          <a:prstGeom prst="ellipse">
            <a:avLst/>
          </a:prstGeom>
          <a:solidFill>
            <a:srgbClr val="0E7C86"/>
          </a:solidFill>
          <a:ln w="12700">
            <a:solidFill>
              <a:srgbClr val="0E7C86"/>
            </a:solidFill>
            <a:prstDash val="solid"/>
          </a:ln>
        </p:spPr>
      </p:sp>
      <p:sp>
        <p:nvSpPr>
          <p:cNvPr id="7" name="dot3"/>
          <p:cNvSpPr/>
          <p:nvPr/>
        </p:nvSpPr>
        <p:spPr>
          <a:xfrm>
            <a:off x="8165592" y="338328"/>
            <a:ext cx="100584" cy="100584"/>
          </a:xfrm>
          <a:prstGeom prst="ellipse">
            <a:avLst/>
          </a:prstGeom>
          <a:solidFill>
            <a:srgbClr val="D5DED9"/>
          </a:solidFill>
          <a:ln w="12700">
            <a:solidFill>
              <a:srgbClr val="D5DED9"/>
            </a:solidFill>
            <a:prstDash val="solid"/>
          </a:ln>
        </p:spPr>
      </p:sp>
      <p:sp>
        <p:nvSpPr>
          <p:cNvPr id="8" name="dot4"/>
          <p:cNvSpPr/>
          <p:nvPr/>
        </p:nvSpPr>
        <p:spPr>
          <a:xfrm>
            <a:off x="8339328" y="338328"/>
            <a:ext cx="100584" cy="100584"/>
          </a:xfrm>
          <a:prstGeom prst="ellipse">
            <a:avLst/>
          </a:prstGeom>
          <a:solidFill>
            <a:srgbClr val="D5DED9"/>
          </a:solidFill>
          <a:ln w="12700">
            <a:solidFill>
              <a:srgbClr val="D5DED9"/>
            </a:solidFill>
            <a:prstDash val="solid"/>
          </a:ln>
        </p:spPr>
      </p:sp>
      <p:sp>
        <p:nvSpPr>
          <p:cNvPr id="9" name="dot5"/>
          <p:cNvSpPr/>
          <p:nvPr/>
        </p:nvSpPr>
        <p:spPr>
          <a:xfrm>
            <a:off x="8513064" y="338328"/>
            <a:ext cx="100584" cy="100584"/>
          </a:xfrm>
          <a:prstGeom prst="ellipse">
            <a:avLst/>
          </a:prstGeom>
          <a:solidFill>
            <a:srgbClr val="D5DED9"/>
          </a:solidFill>
          <a:ln w="12700">
            <a:solidFill>
              <a:srgbClr val="D5DED9"/>
            </a:solidFill>
            <a:prstDash val="solid"/>
          </a:ln>
        </p:spPr>
      </p:sp>
      <p:sp>
        <p:nvSpPr>
          <p:cNvPr id="11" name="Shape 8"/>
          <p:cNvSpPr/>
          <p:nvPr/>
        </p:nvSpPr>
        <p:spPr>
          <a:xfrm>
            <a:off x="457200" y="1371600"/>
            <a:ext cx="8229600" cy="914400"/>
          </a:xfrm>
          <a:prstGeom prst="roundRect">
            <a:avLst>
              <a:gd name="adj" fmla="val 8000"/>
            </a:avLst>
          </a:prstGeom>
          <a:solidFill>
            <a:srgbClr val="E8F5EF"/>
          </a:solidFill>
          <a:ln w="15875">
            <a:solidFill>
              <a:srgbClr val="0E7C86"/>
            </a:solidFill>
            <a:prstDash val="solid"/>
          </a:ln>
        </p:spPr>
      </p:sp>
      <p:sp>
        <p:nvSpPr>
          <p:cNvPr id="12" name="Text 9"/>
          <p:cNvSpPr txBox="1"/>
          <p:nvPr/>
        </p:nvSpPr>
        <p:spPr>
          <a:xfrm>
            <a:off x="640080" y="1481328"/>
            <a:ext cx="7863840" cy="411480"/>
          </a:xfrm>
          <a:prstGeom prst="rect">
            <a:avLst/>
          </a:prstGeom>
          <a:noFill/>
          <a:ln/>
        </p:spPr>
        <p:txBody>
          <a:bodyPr wrap="square" lIns="0" tIns="0" rIns="0" bIns="0" rtlCol="0" anchor="t"/>
          <a:lstStyle/>
          <a:p>
            <a:pPr algn="ctr" indent="0" marL="0">
              <a:buNone/>
            </a:pPr>
            <a:r>
              <a:rPr lang="en-US" sz="2000" b="1" dirty="0">
                <a:solidFill>
                  <a:srgbClr val="0E7C86"/>
                </a:solidFill>
                <a:latin typeface="Calibri" pitchFamily="34" charset="0"/>
                <a:ea typeface="Calibri" pitchFamily="34" charset="-122"/>
                <a:cs typeface="Calibri" pitchFamily="34" charset="-120"/>
              </a:rPr>
              <a:t>radiance = valeur stockée × scale_factor + add_offset</a:t>
            </a:r>
            <a:endParaRPr lang="en-US" sz="2000" dirty="0"/>
          </a:p>
        </p:txBody>
      </p:sp>
      <p:sp>
        <p:nvSpPr>
          <p:cNvPr id="13" name="Text 10"/>
          <p:cNvSpPr txBox="1"/>
          <p:nvPr/>
        </p:nvSpPr>
        <p:spPr>
          <a:xfrm>
            <a:off x="640080" y="1892808"/>
            <a:ext cx="7863840" cy="292608"/>
          </a:xfrm>
          <a:prstGeom prst="rect">
            <a:avLst/>
          </a:prstGeom>
          <a:noFill/>
          <a:ln/>
        </p:spPr>
        <p:txBody>
          <a:bodyPr wrap="square" lIns="0" tIns="0" rIns="0" bIns="0" rtlCol="0" anchor="t"/>
          <a:lstStyle/>
          <a:p>
            <a:pPr algn="ctr" indent="0" marL="0">
              <a:buNone/>
            </a:pPr>
            <a:r>
              <a:rPr lang="en-US" sz="1150" i="1" dirty="0">
                <a:solidFill>
                  <a:srgbClr val="5E6964"/>
                </a:solidFill>
                <a:latin typeface="Calibri" pitchFamily="34" charset="0"/>
                <a:ea typeface="Calibri" pitchFamily="34" charset="-122"/>
                <a:cs typeface="Calibri" pitchFamily="34" charset="-120"/>
              </a:rPr>
              <a:t>…après avoir mis chaque pixel _FillValue à NaN — attributs toujours lus dans le fichier</a:t>
            </a:r>
            <a:endParaRPr lang="en-US" sz="1150" dirty="0"/>
          </a:p>
        </p:txBody>
      </p:sp>
      <p:sp>
        <p:nvSpPr>
          <p:cNvPr id="14" name="Shape 11"/>
          <p:cNvSpPr/>
          <p:nvPr/>
        </p:nvSpPr>
        <p:spPr>
          <a:xfrm>
            <a:off x="457200" y="2514600"/>
            <a:ext cx="4023360" cy="1463040"/>
          </a:xfrm>
          <a:prstGeom prst="roundRect">
            <a:avLst>
              <a:gd name="adj" fmla="val 5000"/>
            </a:avLst>
          </a:prstGeom>
          <a:solidFill>
            <a:srgbClr val="F4F7F5"/>
          </a:solidFill>
          <a:ln w="9525">
            <a:solidFill>
              <a:srgbClr val="D5DED9"/>
            </a:solidFill>
            <a:prstDash val="solid"/>
          </a:ln>
        </p:spPr>
      </p:sp>
      <p:sp>
        <p:nvSpPr>
          <p:cNvPr id="15" name="Text 12"/>
          <p:cNvSpPr txBox="1"/>
          <p:nvPr/>
        </p:nvSpPr>
        <p:spPr>
          <a:xfrm>
            <a:off x="640080" y="2606040"/>
            <a:ext cx="3657600" cy="274320"/>
          </a:xfrm>
          <a:prstGeom prst="rect">
            <a:avLst/>
          </a:prstGeom>
          <a:noFill/>
          <a:ln/>
        </p:spPr>
        <p:txBody>
          <a:bodyPr wrap="square" lIns="0" tIns="0" rIns="0" bIns="0" rtlCol="0" anchor="t"/>
          <a:lstStyle/>
          <a:p>
            <a:pPr indent="0" marL="0">
              <a:buNone/>
            </a:pPr>
            <a:r>
              <a:rPr lang="en-US" sz="1300" b="1" dirty="0">
                <a:solidFill>
                  <a:srgbClr val="231F20"/>
                </a:solidFill>
                <a:latin typeface="Calibri" pitchFamily="34" charset="0"/>
                <a:ea typeface="Calibri" pitchFamily="34" charset="-122"/>
                <a:cs typeface="Calibri" pitchFamily="34" charset="-120"/>
              </a:rPr>
              <a:t>Couche quotidienne (A2)</a:t>
            </a:r>
            <a:endParaRPr lang="en-US" sz="1300" dirty="0"/>
          </a:p>
        </p:txBody>
      </p:sp>
      <p:sp>
        <p:nvSpPr>
          <p:cNvPr id="16" name="Text 13"/>
          <p:cNvSpPr txBox="1"/>
          <p:nvPr/>
        </p:nvSpPr>
        <p:spPr>
          <a:xfrm>
            <a:off x="640080" y="2907792"/>
            <a:ext cx="3657600" cy="256032"/>
          </a:xfrm>
          <a:prstGeom prst="rect">
            <a:avLst/>
          </a:prstGeom>
          <a:noFill/>
          <a:ln/>
        </p:spPr>
        <p:txBody>
          <a:bodyPr wrap="square" lIns="0" tIns="0" rIns="0" bIns="0" rtlCol="0" anchor="t"/>
          <a:lstStyle/>
          <a:p>
            <a:pPr indent="0" marL="0">
              <a:buNone/>
            </a:pPr>
            <a:r>
              <a:rPr lang="en-US" sz="1100" dirty="0">
                <a:solidFill>
                  <a:srgbClr val="5E6964"/>
                </a:solidFill>
                <a:latin typeface="Courier New" pitchFamily="34" charset="0"/>
                <a:ea typeface="Courier New" pitchFamily="34" charset="-122"/>
                <a:cs typeface="Courier New" pitchFamily="34" charset="-120"/>
              </a:rPr>
              <a:t>uint16 · × 0.1 · fill 65535</a:t>
            </a:r>
            <a:endParaRPr lang="en-US" sz="1100" dirty="0"/>
          </a:p>
        </p:txBody>
      </p:sp>
      <p:sp>
        <p:nvSpPr>
          <p:cNvPr id="17" name="Text 14"/>
          <p:cNvSpPr txBox="1"/>
          <p:nvPr/>
        </p:nvSpPr>
        <p:spPr>
          <a:xfrm>
            <a:off x="640080" y="3200400"/>
            <a:ext cx="1828800" cy="274320"/>
          </a:xfrm>
          <a:prstGeom prst="rect">
            <a:avLst/>
          </a:prstGeom>
          <a:noFill/>
          <a:ln/>
        </p:spPr>
        <p:txBody>
          <a:bodyPr wrap="square" lIns="0" tIns="0" rIns="0" bIns="0" rtlCol="0" anchor="t"/>
          <a:lstStyle/>
          <a:p>
            <a:pPr indent="0" marL="0">
              <a:buNone/>
            </a:pPr>
            <a:r>
              <a:rPr lang="en-US" sz="1200" b="1" dirty="0">
                <a:solidFill>
                  <a:srgbClr val="00704A"/>
                </a:solidFill>
                <a:latin typeface="Calibri" pitchFamily="34" charset="0"/>
                <a:ea typeface="Calibri" pitchFamily="34" charset="-122"/>
                <a:cs typeface="Calibri" pitchFamily="34" charset="-120"/>
              </a:rPr>
              <a:t>1247 → 124.7 nW</a:t>
            </a:r>
            <a:endParaRPr lang="en-US" sz="1200" dirty="0"/>
          </a:p>
        </p:txBody>
      </p:sp>
      <p:sp>
        <p:nvSpPr>
          <p:cNvPr id="18" name="Text 15"/>
          <p:cNvSpPr txBox="1"/>
          <p:nvPr/>
        </p:nvSpPr>
        <p:spPr>
          <a:xfrm>
            <a:off x="2514600" y="3127248"/>
            <a:ext cx="1828800" cy="457200"/>
          </a:xfrm>
          <a:prstGeom prst="rect">
            <a:avLst/>
          </a:prstGeom>
          <a:noFill/>
          <a:ln/>
        </p:spPr>
        <p:txBody>
          <a:bodyPr wrap="square" lIns="0" tIns="0" rIns="0" bIns="0" rtlCol="0" anchor="t"/>
          <a:lstStyle/>
          <a:p>
            <a:pPr algn="r" indent="0" marL="0">
              <a:buNone/>
            </a:pPr>
            <a:r>
              <a:rPr lang="en-US" sz="2600" b="1" dirty="0">
                <a:solidFill>
                  <a:srgbClr val="B83B2E"/>
                </a:solidFill>
                <a:latin typeface="Calibri" pitchFamily="34" charset="0"/>
                <a:ea typeface="Calibri" pitchFamily="34" charset="-122"/>
                <a:cs typeface="Calibri" pitchFamily="34" charset="-120"/>
              </a:rPr>
              <a:t>+6 553,5</a:t>
            </a:r>
            <a:endParaRPr lang="en-US" sz="2600" dirty="0"/>
          </a:p>
        </p:txBody>
      </p:sp>
      <p:sp>
        <p:nvSpPr>
          <p:cNvPr id="19" name="Text 16"/>
          <p:cNvSpPr txBox="1"/>
          <p:nvPr/>
        </p:nvSpPr>
        <p:spPr>
          <a:xfrm>
            <a:off x="640080" y="3566160"/>
            <a:ext cx="3657600" cy="320040"/>
          </a:xfrm>
          <a:prstGeom prst="rect">
            <a:avLst/>
          </a:prstGeom>
          <a:noFill/>
          <a:ln/>
        </p:spPr>
        <p:txBody>
          <a:bodyPr wrap="square" lIns="0" tIns="0" rIns="0" bIns="0" rtlCol="0" anchor="t"/>
          <a:lstStyle/>
          <a:p>
            <a:pPr indent="0" marL="0">
              <a:buNone/>
            </a:pPr>
            <a:r>
              <a:rPr lang="en-US" sz="1050" i="1" dirty="0">
                <a:solidFill>
                  <a:srgbClr val="5E6964"/>
                </a:solidFill>
                <a:latin typeface="Calibri" pitchFamily="34" charset="0"/>
                <a:ea typeface="Calibri" pitchFamily="34" charset="-122"/>
                <a:cs typeface="Calibri" pitchFamily="34" charset="-120"/>
              </a:rPr>
              <a:t>par pixel vide si le remplissage est ignoré</a:t>
            </a:r>
            <a:endParaRPr lang="en-US" sz="1050" dirty="0"/>
          </a:p>
        </p:txBody>
      </p:sp>
      <p:sp>
        <p:nvSpPr>
          <p:cNvPr id="20" name="Shape 17"/>
          <p:cNvSpPr/>
          <p:nvPr/>
        </p:nvSpPr>
        <p:spPr>
          <a:xfrm>
            <a:off x="4663440" y="2514600"/>
            <a:ext cx="4023360" cy="1463040"/>
          </a:xfrm>
          <a:prstGeom prst="roundRect">
            <a:avLst>
              <a:gd name="adj" fmla="val 5000"/>
            </a:avLst>
          </a:prstGeom>
          <a:solidFill>
            <a:srgbClr val="F4F7F5"/>
          </a:solidFill>
          <a:ln w="9525">
            <a:solidFill>
              <a:srgbClr val="D5DED9"/>
            </a:solidFill>
            <a:prstDash val="solid"/>
          </a:ln>
        </p:spPr>
      </p:sp>
      <p:sp>
        <p:nvSpPr>
          <p:cNvPr id="21" name="Text 18"/>
          <p:cNvSpPr txBox="1"/>
          <p:nvPr/>
        </p:nvSpPr>
        <p:spPr>
          <a:xfrm>
            <a:off x="4846320" y="2606040"/>
            <a:ext cx="3657600" cy="274320"/>
          </a:xfrm>
          <a:prstGeom prst="rect">
            <a:avLst/>
          </a:prstGeom>
          <a:noFill/>
          <a:ln/>
        </p:spPr>
        <p:txBody>
          <a:bodyPr wrap="square" lIns="0" tIns="0" rIns="0" bIns="0" rtlCol="0" anchor="t"/>
          <a:lstStyle/>
          <a:p>
            <a:pPr indent="0" marL="0">
              <a:buNone/>
            </a:pPr>
            <a:r>
              <a:rPr lang="en-US" sz="1300" b="1" dirty="0">
                <a:solidFill>
                  <a:srgbClr val="231F20"/>
                </a:solidFill>
                <a:latin typeface="Calibri" pitchFamily="34" charset="0"/>
                <a:ea typeface="Calibri" pitchFamily="34" charset="-122"/>
                <a:cs typeface="Calibri" pitchFamily="34" charset="-120"/>
              </a:rPr>
              <a:t>Composite (A3 / A4, Collection 2)</a:t>
            </a:r>
            <a:endParaRPr lang="en-US" sz="1300" dirty="0"/>
          </a:p>
        </p:txBody>
      </p:sp>
      <p:sp>
        <p:nvSpPr>
          <p:cNvPr id="22" name="Text 19"/>
          <p:cNvSpPr txBox="1"/>
          <p:nvPr/>
        </p:nvSpPr>
        <p:spPr>
          <a:xfrm>
            <a:off x="4846320" y="2907792"/>
            <a:ext cx="3657600" cy="256032"/>
          </a:xfrm>
          <a:prstGeom prst="rect">
            <a:avLst/>
          </a:prstGeom>
          <a:noFill/>
          <a:ln/>
        </p:spPr>
        <p:txBody>
          <a:bodyPr wrap="square" lIns="0" tIns="0" rIns="0" bIns="0" rtlCol="0" anchor="t"/>
          <a:lstStyle/>
          <a:p>
            <a:pPr indent="0" marL="0">
              <a:buNone/>
            </a:pPr>
            <a:r>
              <a:rPr lang="en-US" sz="1100" dirty="0">
                <a:solidFill>
                  <a:srgbClr val="5E6964"/>
                </a:solidFill>
                <a:latin typeface="Courier New" pitchFamily="34" charset="0"/>
                <a:ea typeface="Courier New" pitchFamily="34" charset="-122"/>
                <a:cs typeface="Courier New" pitchFamily="34" charset="-120"/>
              </a:rPr>
              <a:t>float32 · × 1 · fill −999.9</a:t>
            </a:r>
            <a:endParaRPr lang="en-US" sz="1100" dirty="0"/>
          </a:p>
        </p:txBody>
      </p:sp>
      <p:sp>
        <p:nvSpPr>
          <p:cNvPr id="23" name="Text 20"/>
          <p:cNvSpPr txBox="1"/>
          <p:nvPr/>
        </p:nvSpPr>
        <p:spPr>
          <a:xfrm>
            <a:off x="4846320" y="3200400"/>
            <a:ext cx="1828800" cy="274320"/>
          </a:xfrm>
          <a:prstGeom prst="rect">
            <a:avLst/>
          </a:prstGeom>
          <a:noFill/>
          <a:ln/>
        </p:spPr>
        <p:txBody>
          <a:bodyPr wrap="square" lIns="0" tIns="0" rIns="0" bIns="0" rtlCol="0" anchor="t"/>
          <a:lstStyle/>
          <a:p>
            <a:pPr indent="0" marL="0">
              <a:buNone/>
            </a:pPr>
            <a:r>
              <a:rPr lang="en-US" sz="1200" b="1" dirty="0">
                <a:solidFill>
                  <a:srgbClr val="00704A"/>
                </a:solidFill>
                <a:latin typeface="Calibri" pitchFamily="34" charset="0"/>
                <a:ea typeface="Calibri" pitchFamily="34" charset="-122"/>
                <a:cs typeface="Calibri" pitchFamily="34" charset="-120"/>
              </a:rPr>
              <a:t>124.7 → 124.7 nW</a:t>
            </a:r>
            <a:endParaRPr lang="en-US" sz="1200" dirty="0"/>
          </a:p>
        </p:txBody>
      </p:sp>
      <p:sp>
        <p:nvSpPr>
          <p:cNvPr id="24" name="Text 21"/>
          <p:cNvSpPr txBox="1"/>
          <p:nvPr/>
        </p:nvSpPr>
        <p:spPr>
          <a:xfrm>
            <a:off x="6720840" y="3127248"/>
            <a:ext cx="1828800" cy="457200"/>
          </a:xfrm>
          <a:prstGeom prst="rect">
            <a:avLst/>
          </a:prstGeom>
          <a:noFill/>
          <a:ln/>
        </p:spPr>
        <p:txBody>
          <a:bodyPr wrap="square" lIns="0" tIns="0" rIns="0" bIns="0" rtlCol="0" anchor="t"/>
          <a:lstStyle/>
          <a:p>
            <a:pPr algn="r" indent="0" marL="0">
              <a:buNone/>
            </a:pPr>
            <a:r>
              <a:rPr lang="en-US" sz="2600" b="1" dirty="0">
                <a:solidFill>
                  <a:srgbClr val="B83B2E"/>
                </a:solidFill>
                <a:latin typeface="Calibri" pitchFamily="34" charset="0"/>
                <a:ea typeface="Calibri" pitchFamily="34" charset="-122"/>
                <a:cs typeface="Calibri" pitchFamily="34" charset="-120"/>
              </a:rPr>
              <a:t>−999,9</a:t>
            </a:r>
            <a:endParaRPr lang="en-US" sz="2600" dirty="0"/>
          </a:p>
        </p:txBody>
      </p:sp>
      <p:sp>
        <p:nvSpPr>
          <p:cNvPr id="25" name="Text 22"/>
          <p:cNvSpPr txBox="1"/>
          <p:nvPr/>
        </p:nvSpPr>
        <p:spPr>
          <a:xfrm>
            <a:off x="4846320" y="3566160"/>
            <a:ext cx="3657600" cy="320040"/>
          </a:xfrm>
          <a:prstGeom prst="rect">
            <a:avLst/>
          </a:prstGeom>
          <a:noFill/>
          <a:ln/>
        </p:spPr>
        <p:txBody>
          <a:bodyPr wrap="square" lIns="0" tIns="0" rIns="0" bIns="0" rtlCol="0" anchor="t"/>
          <a:lstStyle/>
          <a:p>
            <a:pPr indent="0" marL="0">
              <a:buNone/>
            </a:pPr>
            <a:r>
              <a:rPr lang="en-US" sz="1050" i="1" dirty="0">
                <a:solidFill>
                  <a:srgbClr val="5E6964"/>
                </a:solidFill>
                <a:latin typeface="Calibri" pitchFamily="34" charset="0"/>
                <a:ea typeface="Calibri" pitchFamily="34" charset="-122"/>
                <a:cs typeface="Calibri" pitchFamily="34" charset="-120"/>
              </a:rPr>
              <a:t>par pixel vide si le remplissage est ignoré</a:t>
            </a:r>
            <a:endParaRPr lang="en-US" sz="1050" dirty="0"/>
          </a:p>
        </p:txBody>
      </p:sp>
      <p:sp>
        <p:nvSpPr>
          <p:cNvPr id="26" name="Shape 23"/>
          <p:cNvSpPr/>
          <p:nvPr/>
        </p:nvSpPr>
        <p:spPr>
          <a:xfrm>
            <a:off x="457200" y="4114800"/>
            <a:ext cx="8229600" cy="384048"/>
          </a:xfrm>
          <a:prstGeom prst="roundRect">
            <a:avLst>
              <a:gd name="adj" fmla="val 14286"/>
            </a:avLst>
          </a:prstGeom>
          <a:solidFill>
            <a:srgbClr val="D49A00">
              <a:alpha val="13000"/>
            </a:srgbClr>
          </a:solidFill>
          <a:ln w="12700">
            <a:solidFill>
              <a:srgbClr val="D49A00"/>
            </a:solidFill>
            <a:prstDash val="solid"/>
          </a:ln>
        </p:spPr>
      </p:sp>
      <p:pic>
        <p:nvPicPr>
          <p:cNvPr id="27" name="Image 0" descr="preencoded.png">    </p:cNvPr>
          <p:cNvPicPr>
            <a:picLocks noChangeAspect="1"/>
          </p:cNvPicPr>
          <p:nvPr/>
        </p:nvPicPr>
        <p:blipFill>
          <a:blip r:embed="rId1"/>
          <a:stretch>
            <a:fillRect/>
          </a:stretch>
        </p:blipFill>
        <p:spPr>
          <a:xfrm>
            <a:off x="594360" y="4242816"/>
            <a:ext cx="237744" cy="237744"/>
          </a:xfrm>
          <a:prstGeom prst="rect">
            <a:avLst/>
          </a:prstGeom>
        </p:spPr>
      </p:pic>
      <p:sp>
        <p:nvSpPr>
          <p:cNvPr id="28" name="Text 24"/>
          <p:cNvSpPr txBox="1"/>
          <p:nvPr/>
        </p:nvSpPr>
        <p:spPr>
          <a:xfrm>
            <a:off x="932688" y="4206240"/>
            <a:ext cx="7635240" cy="201168"/>
          </a:xfrm>
          <a:prstGeom prst="rect">
            <a:avLst/>
          </a:prstGeom>
          <a:noFill/>
          <a:ln/>
        </p:spPr>
        <p:txBody>
          <a:bodyPr wrap="square" lIns="0" tIns="0" rIns="0" bIns="0" rtlCol="0" anchor="ctr"/>
          <a:lstStyle/>
          <a:p>
            <a:pPr indent="0" marL="0">
              <a:buNone/>
            </a:pPr>
            <a:r>
              <a:rPr lang="en-US" sz="1100" b="1" dirty="0">
                <a:solidFill>
                  <a:srgbClr val="D49A00"/>
                </a:solidFill>
                <a:latin typeface="Calibri" pitchFamily="34" charset="0"/>
                <a:ea typeface="Calibri" pitchFamily="34" charset="-122"/>
                <a:cs typeface="Calibri" pitchFamily="34" charset="-120"/>
              </a:rPr>
              <a:t>Règle :  </a:t>
            </a:r>
            <a:pPr indent="0" marL="0">
              <a:buNone/>
            </a:pPr>
            <a:r>
              <a:rPr lang="en-US" sz="1100" dirty="0">
                <a:solidFill>
                  <a:srgbClr val="231F20"/>
                </a:solidFill>
                <a:latin typeface="Calibri" pitchFamily="34" charset="0"/>
                <a:ea typeface="Calibri" pitchFamily="34" charset="-122"/>
                <a:cs typeface="Calibri" pitchFamily="34" charset="-120"/>
              </a:rPr>
              <a:t>la valeur de remplissage n'est pas un zéro, et encore moins une mesure.</a:t>
            </a:r>
            <a:endParaRPr lang="en-US" sz="11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8A9590"/>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3"/>
          <p:cNvSpPr/>
          <p:nvPr>
            <p:ph idx="105" type="body" hasCustomPrompt="1"/>
          </p:nvPr>
        </p:nvSpPr>
        <p:spPr>
          <a:xfrm>
            <a:off x="457200" y="274320"/>
            <a:ext cx="6217920" cy="256032"/>
          </a:xfrm>
          <a:prstGeom prst="rect">
            <a:avLst/>
          </a:prstGeom>
          <a:noFill/>
          <a:ln/>
        </p:spPr>
        <p:txBody>
          <a:bodyPr wrap="square" lIns="0" tIns="0" rIns="0" bIns="0" rtlCol="0" anchor="ctr"/>
          <a:lstStyle/>
          <a:p>
            <a:pPr algn="l" indent="0" marL="0">
              <a:buNone/>
            </a:pPr>
            <a:r>
              <a:rPr lang="en-US" sz="1050" b="1" spc="300" kern="0" dirty="0">
                <a:solidFill>
                  <a:srgbClr val="00704A"/>
                </a:solidFill>
                <a:latin typeface="Calibri" pitchFamily="34" charset="0"/>
                <a:ea typeface="Calibri" pitchFamily="34" charset="-122"/>
                <a:cs typeface="Calibri" pitchFamily="34" charset="-120"/>
              </a:rPr>
              <a:t>03 · EXPLORER · FILTRAGE</a:t>
            </a:r>
            <a:endParaRPr lang="en-US" sz="1050" dirty="0"/>
          </a:p>
        </p:txBody>
      </p:sp>
      <p:sp>
        <p:nvSpPr>
          <p:cNvPr id="3" name="Text 3"/>
          <p:cNvSpPr/>
          <p:nvPr>
            <p:ph idx="106" type="title" hasCustomPrompt="1"/>
          </p:nvPr>
        </p:nvSpPr>
        <p:spPr>
          <a:xfrm>
            <a:off x="457200" y="548640"/>
            <a:ext cx="8229600" cy="566928"/>
          </a:xfrm>
          <a:prstGeom prst="rect">
            <a:avLst/>
          </a:prstGeom>
          <a:noFill/>
          <a:ln/>
        </p:spPr>
        <p:txBody>
          <a:bodyPr wrap="square" lIns="0" tIns="0" rIns="0" bIns="0" rtlCol="0" anchor="ctr"/>
          <a:lstStyle/>
          <a:p>
            <a:pPr algn="l" indent="0" marL="0">
              <a:buNone/>
            </a:pPr>
            <a:r>
              <a:rPr lang="en-US" sz="2800" b="1" dirty="0">
                <a:solidFill>
                  <a:srgbClr val="231F20"/>
                </a:solidFill>
                <a:latin typeface="Calibri" pitchFamily="34" charset="0"/>
                <a:ea typeface="Calibri" pitchFamily="34" charset="-122"/>
                <a:cs typeface="Calibri" pitchFamily="34" charset="-120"/>
              </a:rPr>
              <a:t>À quels pixels se fier ? Drapeaux qualité et masques</a:t>
            </a:r>
            <a:endParaRPr lang="en-US" sz="2800" dirty="0"/>
          </a:p>
        </p:txBody>
      </p:sp>
      <p:sp>
        <p:nvSpPr>
          <p:cNvPr id="4" name="dot0"/>
          <p:cNvSpPr/>
          <p:nvPr/>
        </p:nvSpPr>
        <p:spPr>
          <a:xfrm>
            <a:off x="7644384" y="338328"/>
            <a:ext cx="100584" cy="100584"/>
          </a:xfrm>
          <a:prstGeom prst="ellipse">
            <a:avLst/>
          </a:prstGeom>
          <a:solidFill>
            <a:srgbClr val="D5DED9"/>
          </a:solidFill>
          <a:ln w="12700">
            <a:solidFill>
              <a:srgbClr val="D5DED9"/>
            </a:solidFill>
            <a:prstDash val="solid"/>
          </a:ln>
        </p:spPr>
      </p:sp>
      <p:sp>
        <p:nvSpPr>
          <p:cNvPr id="5" name="dot1"/>
          <p:cNvSpPr/>
          <p:nvPr/>
        </p:nvSpPr>
        <p:spPr>
          <a:xfrm>
            <a:off x="7818120" y="338328"/>
            <a:ext cx="100584" cy="100584"/>
          </a:xfrm>
          <a:prstGeom prst="ellipse">
            <a:avLst/>
          </a:prstGeom>
          <a:solidFill>
            <a:srgbClr val="D5DED9"/>
          </a:solidFill>
          <a:ln w="12700">
            <a:solidFill>
              <a:srgbClr val="D5DED9"/>
            </a:solidFill>
            <a:prstDash val="solid"/>
          </a:ln>
        </p:spPr>
      </p:sp>
      <p:sp>
        <p:nvSpPr>
          <p:cNvPr id="6" name="dot2"/>
          <p:cNvSpPr/>
          <p:nvPr/>
        </p:nvSpPr>
        <p:spPr>
          <a:xfrm>
            <a:off x="7991856" y="338328"/>
            <a:ext cx="100584" cy="100584"/>
          </a:xfrm>
          <a:prstGeom prst="ellipse">
            <a:avLst/>
          </a:prstGeom>
          <a:solidFill>
            <a:srgbClr val="0E7C86"/>
          </a:solidFill>
          <a:ln w="12700">
            <a:solidFill>
              <a:srgbClr val="0E7C86"/>
            </a:solidFill>
            <a:prstDash val="solid"/>
          </a:ln>
        </p:spPr>
      </p:sp>
      <p:sp>
        <p:nvSpPr>
          <p:cNvPr id="7" name="dot3"/>
          <p:cNvSpPr/>
          <p:nvPr/>
        </p:nvSpPr>
        <p:spPr>
          <a:xfrm>
            <a:off x="8165592" y="338328"/>
            <a:ext cx="100584" cy="100584"/>
          </a:xfrm>
          <a:prstGeom prst="ellipse">
            <a:avLst/>
          </a:prstGeom>
          <a:solidFill>
            <a:srgbClr val="D5DED9"/>
          </a:solidFill>
          <a:ln w="12700">
            <a:solidFill>
              <a:srgbClr val="D5DED9"/>
            </a:solidFill>
            <a:prstDash val="solid"/>
          </a:ln>
        </p:spPr>
      </p:sp>
      <p:sp>
        <p:nvSpPr>
          <p:cNvPr id="8" name="dot4"/>
          <p:cNvSpPr/>
          <p:nvPr/>
        </p:nvSpPr>
        <p:spPr>
          <a:xfrm>
            <a:off x="8339328" y="338328"/>
            <a:ext cx="100584" cy="100584"/>
          </a:xfrm>
          <a:prstGeom prst="ellipse">
            <a:avLst/>
          </a:prstGeom>
          <a:solidFill>
            <a:srgbClr val="D5DED9"/>
          </a:solidFill>
          <a:ln w="12700">
            <a:solidFill>
              <a:srgbClr val="D5DED9"/>
            </a:solidFill>
            <a:prstDash val="solid"/>
          </a:ln>
        </p:spPr>
      </p:sp>
      <p:sp>
        <p:nvSpPr>
          <p:cNvPr id="9" name="dot5"/>
          <p:cNvSpPr/>
          <p:nvPr/>
        </p:nvSpPr>
        <p:spPr>
          <a:xfrm>
            <a:off x="8513064" y="338328"/>
            <a:ext cx="100584" cy="100584"/>
          </a:xfrm>
          <a:prstGeom prst="ellipse">
            <a:avLst/>
          </a:prstGeom>
          <a:solidFill>
            <a:srgbClr val="D5DED9"/>
          </a:solidFill>
          <a:ln w="12700">
            <a:solidFill>
              <a:srgbClr val="D5DED9"/>
            </a:solidFill>
            <a:prstDash val="solid"/>
          </a:ln>
        </p:spPr>
      </p:sp>
      <p:sp>
        <p:nvSpPr>
          <p:cNvPr id="11" name="Text 8"/>
          <p:cNvSpPr txBox="1"/>
          <p:nvPr/>
        </p:nvSpPr>
        <p:spPr>
          <a:xfrm>
            <a:off x="457200" y="1353312"/>
            <a:ext cx="4023360" cy="274320"/>
          </a:xfrm>
          <a:prstGeom prst="rect">
            <a:avLst/>
          </a:prstGeom>
          <a:noFill/>
          <a:ln/>
        </p:spPr>
        <p:txBody>
          <a:bodyPr wrap="square" lIns="0" tIns="0" rIns="0" bIns="0" rtlCol="0" anchor="t"/>
          <a:lstStyle/>
          <a:p>
            <a:pPr indent="0" marL="0">
              <a:buNone/>
            </a:pPr>
            <a:r>
              <a:rPr lang="en-US" sz="1300" b="1" dirty="0">
                <a:solidFill>
                  <a:srgbClr val="231F20"/>
                </a:solidFill>
                <a:latin typeface="Calibri" pitchFamily="34" charset="0"/>
                <a:ea typeface="Calibri" pitchFamily="34" charset="-122"/>
                <a:cs typeface="Calibri" pitchFamily="34" charset="-120"/>
              </a:rPr>
              <a:t>Codes qualité des composites (A3 / A4)</a:t>
            </a:r>
            <a:endParaRPr lang="en-US" sz="1300" dirty="0"/>
          </a:p>
        </p:txBody>
      </p:sp>
      <p:sp>
        <p:nvSpPr>
          <p:cNvPr id="12" name="Shape 9"/>
          <p:cNvSpPr/>
          <p:nvPr/>
        </p:nvSpPr>
        <p:spPr>
          <a:xfrm>
            <a:off x="457200" y="1691640"/>
            <a:ext cx="594360" cy="365760"/>
          </a:xfrm>
          <a:prstGeom prst="roundRect">
            <a:avLst>
              <a:gd name="adj" fmla="val 15000"/>
            </a:avLst>
          </a:prstGeom>
          <a:solidFill>
            <a:srgbClr val="00A86A"/>
          </a:solidFill>
          <a:ln w="12700">
            <a:solidFill>
              <a:srgbClr val="00A86A"/>
            </a:solidFill>
            <a:prstDash val="solid"/>
          </a:ln>
        </p:spPr>
      </p:sp>
      <p:sp>
        <p:nvSpPr>
          <p:cNvPr id="13" name="Text 10"/>
          <p:cNvSpPr txBox="1"/>
          <p:nvPr/>
        </p:nvSpPr>
        <p:spPr>
          <a:xfrm>
            <a:off x="457200" y="1691640"/>
            <a:ext cx="5943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a:t>
            </a:r>
            <a:endParaRPr lang="en-US" sz="1300" dirty="0"/>
          </a:p>
        </p:txBody>
      </p:sp>
      <p:sp>
        <p:nvSpPr>
          <p:cNvPr id="14" name="Text 11"/>
          <p:cNvSpPr txBox="1"/>
          <p:nvPr/>
        </p:nvSpPr>
        <p:spPr>
          <a:xfrm>
            <a:off x="1170432" y="1691640"/>
            <a:ext cx="2286000" cy="365760"/>
          </a:xfrm>
          <a:prstGeom prst="rect">
            <a:avLst/>
          </a:prstGeom>
          <a:noFill/>
          <a:ln/>
        </p:spPr>
        <p:txBody>
          <a:bodyPr wrap="square" lIns="0" tIns="0" rIns="0" bIns="0" rtlCol="0" anchor="ctr"/>
          <a:lstStyle/>
          <a:p>
            <a:pPr indent="0" marL="0">
              <a:buNone/>
            </a:pPr>
            <a:r>
              <a:rPr lang="en-US" sz="1150" dirty="0">
                <a:solidFill>
                  <a:srgbClr val="231F20"/>
                </a:solidFill>
                <a:latin typeface="Calibri" pitchFamily="34" charset="0"/>
                <a:ea typeface="Calibri" pitchFamily="34" charset="-122"/>
                <a:cs typeface="Calibri" pitchFamily="34" charset="-120"/>
              </a:rPr>
              <a:t>Bonne qualité · &gt; 3 nuits</a:t>
            </a:r>
            <a:endParaRPr lang="en-US" sz="1150" dirty="0"/>
          </a:p>
        </p:txBody>
      </p:sp>
      <p:sp>
        <p:nvSpPr>
          <p:cNvPr id="15" name="Text 12"/>
          <p:cNvSpPr txBox="1"/>
          <p:nvPr/>
        </p:nvSpPr>
        <p:spPr>
          <a:xfrm>
            <a:off x="3474720" y="1691640"/>
            <a:ext cx="914400" cy="365760"/>
          </a:xfrm>
          <a:prstGeom prst="rect">
            <a:avLst/>
          </a:prstGeom>
          <a:noFill/>
          <a:ln/>
        </p:spPr>
        <p:txBody>
          <a:bodyPr wrap="square" lIns="0" tIns="0" rIns="0" bIns="0" rtlCol="0" anchor="ctr"/>
          <a:lstStyle/>
          <a:p>
            <a:pPr indent="0" marL="0">
              <a:buNone/>
            </a:pPr>
            <a:r>
              <a:rPr lang="en-US" sz="1050" b="1" dirty="0">
                <a:solidFill>
                  <a:srgbClr val="00A86A"/>
                </a:solidFill>
                <a:latin typeface="Calibri" pitchFamily="34" charset="0"/>
                <a:ea typeface="Calibri" pitchFamily="34" charset="-122"/>
                <a:cs typeface="Calibri" pitchFamily="34" charset="-120"/>
              </a:rPr>
              <a:t>gardé</a:t>
            </a:r>
            <a:endParaRPr lang="en-US" sz="1050" dirty="0"/>
          </a:p>
        </p:txBody>
      </p:sp>
      <p:sp>
        <p:nvSpPr>
          <p:cNvPr id="16" name="Shape 13"/>
          <p:cNvSpPr/>
          <p:nvPr/>
        </p:nvSpPr>
        <p:spPr>
          <a:xfrm>
            <a:off x="457200" y="2148840"/>
            <a:ext cx="594360" cy="365760"/>
          </a:xfrm>
          <a:prstGeom prst="roundRect">
            <a:avLst>
              <a:gd name="adj" fmla="val 15000"/>
            </a:avLst>
          </a:prstGeom>
          <a:solidFill>
            <a:srgbClr val="F5C242"/>
          </a:solidFill>
          <a:ln w="12700">
            <a:solidFill>
              <a:srgbClr val="F5C242"/>
            </a:solidFill>
            <a:prstDash val="solid"/>
          </a:ln>
        </p:spPr>
      </p:sp>
      <p:sp>
        <p:nvSpPr>
          <p:cNvPr id="17" name="Text 14"/>
          <p:cNvSpPr txBox="1"/>
          <p:nvPr/>
        </p:nvSpPr>
        <p:spPr>
          <a:xfrm>
            <a:off x="457200" y="2148840"/>
            <a:ext cx="5943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8" name="Text 15"/>
          <p:cNvSpPr txBox="1"/>
          <p:nvPr/>
        </p:nvSpPr>
        <p:spPr>
          <a:xfrm>
            <a:off x="1170432" y="2148840"/>
            <a:ext cx="2286000" cy="365760"/>
          </a:xfrm>
          <a:prstGeom prst="rect">
            <a:avLst/>
          </a:prstGeom>
          <a:noFill/>
          <a:ln/>
        </p:spPr>
        <p:txBody>
          <a:bodyPr wrap="square" lIns="0" tIns="0" rIns="0" bIns="0" rtlCol="0" anchor="ctr"/>
          <a:lstStyle/>
          <a:p>
            <a:pPr indent="0" marL="0">
              <a:buNone/>
            </a:pPr>
            <a:r>
              <a:rPr lang="en-US" sz="1150" dirty="0">
                <a:solidFill>
                  <a:srgbClr val="231F20"/>
                </a:solidFill>
                <a:latin typeface="Calibri" pitchFamily="34" charset="0"/>
                <a:ea typeface="Calibri" pitchFamily="34" charset="-122"/>
                <a:cs typeface="Calibri" pitchFamily="34" charset="-120"/>
              </a:rPr>
              <a:t>Qualité médiocre · ≤ 3 nuits</a:t>
            </a:r>
            <a:endParaRPr lang="en-US" sz="1150" dirty="0"/>
          </a:p>
        </p:txBody>
      </p:sp>
      <p:sp>
        <p:nvSpPr>
          <p:cNvPr id="19" name="Text 16"/>
          <p:cNvSpPr txBox="1"/>
          <p:nvPr/>
        </p:nvSpPr>
        <p:spPr>
          <a:xfrm>
            <a:off x="3474720" y="2148840"/>
            <a:ext cx="914400" cy="365760"/>
          </a:xfrm>
          <a:prstGeom prst="rect">
            <a:avLst/>
          </a:prstGeom>
          <a:noFill/>
          <a:ln/>
        </p:spPr>
        <p:txBody>
          <a:bodyPr wrap="square" lIns="0" tIns="0" rIns="0" bIns="0" rtlCol="0" anchor="ctr"/>
          <a:lstStyle/>
          <a:p>
            <a:pPr indent="0" marL="0">
              <a:buNone/>
            </a:pPr>
            <a:r>
              <a:rPr lang="en-US" sz="1050" b="1" dirty="0">
                <a:solidFill>
                  <a:srgbClr val="5E6964"/>
                </a:solidFill>
                <a:latin typeface="Calibri" pitchFamily="34" charset="0"/>
                <a:ea typeface="Calibri" pitchFamily="34" charset="-122"/>
                <a:cs typeface="Calibri" pitchFamily="34" charset="-120"/>
              </a:rPr>
              <a:t>écarté</a:t>
            </a:r>
            <a:endParaRPr lang="en-US" sz="1050" dirty="0"/>
          </a:p>
        </p:txBody>
      </p:sp>
      <p:sp>
        <p:nvSpPr>
          <p:cNvPr id="20" name="Shape 17"/>
          <p:cNvSpPr/>
          <p:nvPr/>
        </p:nvSpPr>
        <p:spPr>
          <a:xfrm>
            <a:off x="457200" y="2606040"/>
            <a:ext cx="594360" cy="365760"/>
          </a:xfrm>
          <a:prstGeom prst="roundRect">
            <a:avLst>
              <a:gd name="adj" fmla="val 15000"/>
            </a:avLst>
          </a:prstGeom>
          <a:solidFill>
            <a:srgbClr val="C4621D"/>
          </a:solidFill>
          <a:ln w="12700">
            <a:solidFill>
              <a:srgbClr val="C4621D"/>
            </a:solidFill>
            <a:prstDash val="solid"/>
          </a:ln>
        </p:spPr>
      </p:sp>
      <p:sp>
        <p:nvSpPr>
          <p:cNvPr id="21" name="Text 18"/>
          <p:cNvSpPr txBox="1"/>
          <p:nvPr/>
        </p:nvSpPr>
        <p:spPr>
          <a:xfrm>
            <a:off x="457200" y="2606040"/>
            <a:ext cx="5943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2" name="Text 19"/>
          <p:cNvSpPr txBox="1"/>
          <p:nvPr/>
        </p:nvSpPr>
        <p:spPr>
          <a:xfrm>
            <a:off x="1170432" y="2606040"/>
            <a:ext cx="2286000" cy="365760"/>
          </a:xfrm>
          <a:prstGeom prst="rect">
            <a:avLst/>
          </a:prstGeom>
          <a:noFill/>
          <a:ln/>
        </p:spPr>
        <p:txBody>
          <a:bodyPr wrap="square" lIns="0" tIns="0" rIns="0" bIns="0" rtlCol="0" anchor="ctr"/>
          <a:lstStyle/>
          <a:p>
            <a:pPr indent="0" marL="0">
              <a:buNone/>
            </a:pPr>
            <a:r>
              <a:rPr lang="en-US" sz="1150" dirty="0">
                <a:solidFill>
                  <a:srgbClr val="231F20"/>
                </a:solidFill>
                <a:latin typeface="Calibri" pitchFamily="34" charset="0"/>
                <a:ea typeface="Calibri" pitchFamily="34" charset="-122"/>
                <a:cs typeface="Calibri" pitchFamily="34" charset="-120"/>
              </a:rPr>
              <a:t>Comblé par l'historique</a:t>
            </a:r>
            <a:endParaRPr lang="en-US" sz="1150" dirty="0"/>
          </a:p>
        </p:txBody>
      </p:sp>
      <p:sp>
        <p:nvSpPr>
          <p:cNvPr id="23" name="Text 20"/>
          <p:cNvSpPr txBox="1"/>
          <p:nvPr/>
        </p:nvSpPr>
        <p:spPr>
          <a:xfrm>
            <a:off x="3474720" y="2606040"/>
            <a:ext cx="914400" cy="365760"/>
          </a:xfrm>
          <a:prstGeom prst="rect">
            <a:avLst/>
          </a:prstGeom>
          <a:noFill/>
          <a:ln/>
        </p:spPr>
        <p:txBody>
          <a:bodyPr wrap="square" lIns="0" tIns="0" rIns="0" bIns="0" rtlCol="0" anchor="ctr"/>
          <a:lstStyle/>
          <a:p>
            <a:pPr indent="0" marL="0">
              <a:buNone/>
            </a:pPr>
            <a:r>
              <a:rPr lang="en-US" sz="1050" b="1" dirty="0">
                <a:solidFill>
                  <a:srgbClr val="5E6964"/>
                </a:solidFill>
                <a:latin typeface="Calibri" pitchFamily="34" charset="0"/>
                <a:ea typeface="Calibri" pitchFamily="34" charset="-122"/>
                <a:cs typeface="Calibri" pitchFamily="34" charset="-120"/>
              </a:rPr>
              <a:t>écarté</a:t>
            </a:r>
            <a:endParaRPr lang="en-US" sz="1050" dirty="0"/>
          </a:p>
        </p:txBody>
      </p:sp>
      <p:sp>
        <p:nvSpPr>
          <p:cNvPr id="24" name="Shape 21"/>
          <p:cNvSpPr/>
          <p:nvPr/>
        </p:nvSpPr>
        <p:spPr>
          <a:xfrm>
            <a:off x="457200" y="3063240"/>
            <a:ext cx="594360" cy="365760"/>
          </a:xfrm>
          <a:prstGeom prst="roundRect">
            <a:avLst>
              <a:gd name="adj" fmla="val 15000"/>
            </a:avLst>
          </a:prstGeom>
          <a:solidFill>
            <a:srgbClr val="A9B5B0"/>
          </a:solidFill>
          <a:ln w="12700">
            <a:solidFill>
              <a:srgbClr val="A9B5B0"/>
            </a:solidFill>
            <a:prstDash val="solid"/>
          </a:ln>
        </p:spPr>
      </p:sp>
      <p:sp>
        <p:nvSpPr>
          <p:cNvPr id="25" name="Text 22"/>
          <p:cNvSpPr txBox="1"/>
          <p:nvPr/>
        </p:nvSpPr>
        <p:spPr>
          <a:xfrm>
            <a:off x="457200" y="3063240"/>
            <a:ext cx="5943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255</a:t>
            </a:r>
            <a:endParaRPr lang="en-US" sz="1300" dirty="0"/>
          </a:p>
        </p:txBody>
      </p:sp>
      <p:sp>
        <p:nvSpPr>
          <p:cNvPr id="26" name="Text 23"/>
          <p:cNvSpPr txBox="1"/>
          <p:nvPr/>
        </p:nvSpPr>
        <p:spPr>
          <a:xfrm>
            <a:off x="1170432" y="3063240"/>
            <a:ext cx="2286000" cy="365760"/>
          </a:xfrm>
          <a:prstGeom prst="rect">
            <a:avLst/>
          </a:prstGeom>
          <a:noFill/>
          <a:ln/>
        </p:spPr>
        <p:txBody>
          <a:bodyPr wrap="square" lIns="0" tIns="0" rIns="0" bIns="0" rtlCol="0" anchor="ctr"/>
          <a:lstStyle/>
          <a:p>
            <a:pPr indent="0" marL="0">
              <a:buNone/>
            </a:pPr>
            <a:r>
              <a:rPr lang="en-US" sz="1150" dirty="0">
                <a:solidFill>
                  <a:srgbClr val="231F20"/>
                </a:solidFill>
                <a:latin typeface="Calibri" pitchFamily="34" charset="0"/>
                <a:ea typeface="Calibri" pitchFamily="34" charset="-122"/>
                <a:cs typeface="Calibri" pitchFamily="34" charset="-120"/>
              </a:rPr>
              <a:t>Valeur de remplissage</a:t>
            </a:r>
            <a:endParaRPr lang="en-US" sz="1150" dirty="0"/>
          </a:p>
        </p:txBody>
      </p:sp>
      <p:sp>
        <p:nvSpPr>
          <p:cNvPr id="27" name="Text 24"/>
          <p:cNvSpPr txBox="1"/>
          <p:nvPr/>
        </p:nvSpPr>
        <p:spPr>
          <a:xfrm>
            <a:off x="3474720" y="3063240"/>
            <a:ext cx="914400" cy="365760"/>
          </a:xfrm>
          <a:prstGeom prst="rect">
            <a:avLst/>
          </a:prstGeom>
          <a:noFill/>
          <a:ln/>
        </p:spPr>
        <p:txBody>
          <a:bodyPr wrap="square" lIns="0" tIns="0" rIns="0" bIns="0" rtlCol="0" anchor="ctr"/>
          <a:lstStyle/>
          <a:p>
            <a:pPr indent="0" marL="0">
              <a:buNone/>
            </a:pPr>
            <a:r>
              <a:rPr lang="en-US" sz="1050" b="1" dirty="0">
                <a:solidFill>
                  <a:srgbClr val="5E6964"/>
                </a:solidFill>
                <a:latin typeface="Calibri" pitchFamily="34" charset="0"/>
                <a:ea typeface="Calibri" pitchFamily="34" charset="-122"/>
                <a:cs typeface="Calibri" pitchFamily="34" charset="-120"/>
              </a:rPr>
              <a:t>écarté</a:t>
            </a:r>
            <a:endParaRPr lang="en-US" sz="1050" dirty="0"/>
          </a:p>
        </p:txBody>
      </p:sp>
      <p:sp>
        <p:nvSpPr>
          <p:cNvPr id="28" name="Text 25"/>
          <p:cNvSpPr txBox="1"/>
          <p:nvPr/>
        </p:nvSpPr>
        <p:spPr>
          <a:xfrm>
            <a:off x="457200" y="3566160"/>
            <a:ext cx="4023360" cy="274320"/>
          </a:xfrm>
          <a:prstGeom prst="rect">
            <a:avLst/>
          </a:prstGeom>
          <a:noFill/>
          <a:ln/>
        </p:spPr>
        <p:txBody>
          <a:bodyPr wrap="square" lIns="0" tIns="0" rIns="0" bIns="0" rtlCol="0" anchor="t"/>
          <a:lstStyle/>
          <a:p>
            <a:pPr indent="0" marL="0">
              <a:buNone/>
            </a:pPr>
            <a:r>
              <a:rPr lang="en-US" sz="1050" i="1" dirty="0">
                <a:solidFill>
                  <a:srgbClr val="5E6964"/>
                </a:solidFill>
                <a:latin typeface="Calibri" pitchFamily="34" charset="0"/>
                <a:ea typeface="Calibri" pitchFamily="34" charset="-122"/>
                <a:cs typeface="Calibri" pitchFamily="34" charset="-120"/>
              </a:rPr>
              <a:t>QA_MAX = "auto" lit cette légende dans le fichier</a:t>
            </a:r>
            <a:endParaRPr lang="en-US" sz="1050" dirty="0"/>
          </a:p>
        </p:txBody>
      </p:sp>
      <p:sp>
        <p:nvSpPr>
          <p:cNvPr id="29" name="Shape 26"/>
          <p:cNvSpPr/>
          <p:nvPr/>
        </p:nvSpPr>
        <p:spPr>
          <a:xfrm>
            <a:off x="4754880" y="1444752"/>
            <a:ext cx="502920" cy="502920"/>
          </a:xfrm>
          <a:prstGeom prst="ellipse">
            <a:avLst/>
          </a:prstGeom>
          <a:solidFill>
            <a:srgbClr val="0E7C86">
              <a:alpha val="22000"/>
            </a:srgbClr>
          </a:solidFill>
          <a:ln w="12700">
            <a:solidFill>
              <a:srgbClr val="0E7C86">
                <a:alpha val="0"/>
              </a:srgbClr>
            </a:solidFill>
            <a:prstDash val="solid"/>
          </a:ln>
        </p:spPr>
      </p:sp>
      <p:pic>
        <p:nvPicPr>
          <p:cNvPr id="30" name="Image 0" descr="preencoded.png">    </p:cNvPr>
          <p:cNvPicPr>
            <a:picLocks noChangeAspect="1"/>
          </p:cNvPicPr>
          <p:nvPr/>
        </p:nvPicPr>
        <p:blipFill>
          <a:blip r:embed="rId1"/>
          <a:stretch>
            <a:fillRect/>
          </a:stretch>
        </p:blipFill>
        <p:spPr>
          <a:xfrm>
            <a:off x="4875581" y="1565453"/>
            <a:ext cx="261518" cy="261518"/>
          </a:xfrm>
          <a:prstGeom prst="rect">
            <a:avLst/>
          </a:prstGeom>
        </p:spPr>
      </p:pic>
      <p:sp>
        <p:nvSpPr>
          <p:cNvPr id="31" name="Text 27"/>
          <p:cNvSpPr txBox="1"/>
          <p:nvPr/>
        </p:nvSpPr>
        <p:spPr>
          <a:xfrm>
            <a:off x="5394960" y="1371600"/>
            <a:ext cx="3291840" cy="274320"/>
          </a:xfrm>
          <a:prstGeom prst="rect">
            <a:avLst/>
          </a:prstGeom>
          <a:noFill/>
          <a:ln/>
        </p:spPr>
        <p:txBody>
          <a:bodyPr wrap="square" lIns="0" tIns="0" rIns="0" bIns="0" rtlCol="0" anchor="t"/>
          <a:lstStyle/>
          <a:p>
            <a:pPr indent="0" marL="0">
              <a:buNone/>
            </a:pPr>
            <a:r>
              <a:rPr lang="en-US" sz="1300" b="1" dirty="0">
                <a:solidFill>
                  <a:srgbClr val="231F20"/>
                </a:solidFill>
                <a:latin typeface="Calibri" pitchFamily="34" charset="0"/>
                <a:ea typeface="Calibri" pitchFamily="34" charset="-122"/>
                <a:cs typeface="Calibri" pitchFamily="34" charset="-120"/>
              </a:rPr>
              <a:t>Masque terre / eau</a:t>
            </a:r>
            <a:endParaRPr lang="en-US" sz="1300" dirty="0"/>
          </a:p>
        </p:txBody>
      </p:sp>
      <p:sp>
        <p:nvSpPr>
          <p:cNvPr id="32" name="Text 28"/>
          <p:cNvSpPr txBox="1"/>
          <p:nvPr/>
        </p:nvSpPr>
        <p:spPr>
          <a:xfrm>
            <a:off x="5394960" y="1664208"/>
            <a:ext cx="3291840" cy="658368"/>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Océan et mer retirés : reflets de Lune, navires et pêcheries ne sont pas noirs. Sans lui, pays côtiers et enclavés ne sont pas comparables.</a:t>
            </a:r>
            <a:endParaRPr lang="en-US" sz="1050" dirty="0"/>
          </a:p>
        </p:txBody>
      </p:sp>
      <p:sp>
        <p:nvSpPr>
          <p:cNvPr id="33" name="Shape 29"/>
          <p:cNvSpPr/>
          <p:nvPr/>
        </p:nvSpPr>
        <p:spPr>
          <a:xfrm>
            <a:off x="4754880" y="2468880"/>
            <a:ext cx="502920" cy="502920"/>
          </a:xfrm>
          <a:prstGeom prst="ellipse">
            <a:avLst/>
          </a:prstGeom>
          <a:solidFill>
            <a:srgbClr val="00704A">
              <a:alpha val="22000"/>
            </a:srgbClr>
          </a:solidFill>
          <a:ln w="12700">
            <a:solidFill>
              <a:srgbClr val="00704A">
                <a:alpha val="0"/>
              </a:srgbClr>
            </a:solidFill>
            <a:prstDash val="solid"/>
          </a:ln>
        </p:spPr>
      </p:sp>
      <p:pic>
        <p:nvPicPr>
          <p:cNvPr id="34" name="Image 1" descr="preencoded.png">    </p:cNvPr>
          <p:cNvPicPr>
            <a:picLocks noChangeAspect="1"/>
          </p:cNvPicPr>
          <p:nvPr/>
        </p:nvPicPr>
        <p:blipFill>
          <a:blip r:embed="rId2"/>
          <a:stretch>
            <a:fillRect/>
          </a:stretch>
        </p:blipFill>
        <p:spPr>
          <a:xfrm>
            <a:off x="4875581" y="2589581"/>
            <a:ext cx="261518" cy="261518"/>
          </a:xfrm>
          <a:prstGeom prst="rect">
            <a:avLst/>
          </a:prstGeom>
        </p:spPr>
      </p:pic>
      <p:sp>
        <p:nvSpPr>
          <p:cNvPr id="35" name="Text 30"/>
          <p:cNvSpPr txBox="1"/>
          <p:nvPr/>
        </p:nvSpPr>
        <p:spPr>
          <a:xfrm>
            <a:off x="5394960" y="2395728"/>
            <a:ext cx="3291840" cy="274320"/>
          </a:xfrm>
          <a:prstGeom prst="rect">
            <a:avLst/>
          </a:prstGeom>
          <a:noFill/>
          <a:ln/>
        </p:spPr>
        <p:txBody>
          <a:bodyPr wrap="square" lIns="0" tIns="0" rIns="0" bIns="0" rtlCol="0" anchor="t"/>
          <a:lstStyle/>
          <a:p>
            <a:pPr indent="0" marL="0">
              <a:buNone/>
            </a:pPr>
            <a:r>
              <a:rPr lang="en-US" sz="1300" b="1" dirty="0">
                <a:solidFill>
                  <a:srgbClr val="231F20"/>
                </a:solidFill>
                <a:latin typeface="Calibri" pitchFamily="34" charset="0"/>
                <a:ea typeface="Calibri" pitchFamily="34" charset="-122"/>
                <a:cs typeface="Calibri" pitchFamily="34" charset="-120"/>
              </a:rPr>
              <a:t>Masque nuage (quotidien)</a:t>
            </a:r>
            <a:endParaRPr lang="en-US" sz="1300" dirty="0"/>
          </a:p>
        </p:txBody>
      </p:sp>
      <p:sp>
        <p:nvSpPr>
          <p:cNvPr id="36" name="Text 31"/>
          <p:cNvSpPr txBox="1"/>
          <p:nvPr/>
        </p:nvSpPr>
        <p:spPr>
          <a:xfrm>
            <a:off x="5394960" y="2688336"/>
            <a:ext cx="3291840" cy="658368"/>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Bits 6–7 : clair certain → nuageux certain. Valeur = (entier &gt;&gt; 6) &amp; 3.</a:t>
            </a:r>
            <a:endParaRPr lang="en-US" sz="1050" dirty="0"/>
          </a:p>
        </p:txBody>
      </p:sp>
      <p:sp>
        <p:nvSpPr>
          <p:cNvPr id="37" name="Shape 32"/>
          <p:cNvSpPr/>
          <p:nvPr/>
        </p:nvSpPr>
        <p:spPr>
          <a:xfrm>
            <a:off x="4754880" y="3493008"/>
            <a:ext cx="502920" cy="502920"/>
          </a:xfrm>
          <a:prstGeom prst="ellipse">
            <a:avLst/>
          </a:prstGeom>
          <a:solidFill>
            <a:srgbClr val="00A86A">
              <a:alpha val="22000"/>
            </a:srgbClr>
          </a:solidFill>
          <a:ln w="12700">
            <a:solidFill>
              <a:srgbClr val="00A86A">
                <a:alpha val="0"/>
              </a:srgbClr>
            </a:solidFill>
            <a:prstDash val="solid"/>
          </a:ln>
        </p:spPr>
      </p:sp>
      <p:pic>
        <p:nvPicPr>
          <p:cNvPr id="38" name="Image 2" descr="preencoded.png">    </p:cNvPr>
          <p:cNvPicPr>
            <a:picLocks noChangeAspect="1"/>
          </p:cNvPicPr>
          <p:nvPr/>
        </p:nvPicPr>
        <p:blipFill>
          <a:blip r:embed="rId3"/>
          <a:stretch>
            <a:fillRect/>
          </a:stretch>
        </p:blipFill>
        <p:spPr>
          <a:xfrm>
            <a:off x="4875581" y="3613709"/>
            <a:ext cx="261518" cy="261518"/>
          </a:xfrm>
          <a:prstGeom prst="rect">
            <a:avLst/>
          </a:prstGeom>
        </p:spPr>
      </p:pic>
      <p:sp>
        <p:nvSpPr>
          <p:cNvPr id="39" name="Text 33"/>
          <p:cNvSpPr txBox="1"/>
          <p:nvPr/>
        </p:nvSpPr>
        <p:spPr>
          <a:xfrm>
            <a:off x="5394960" y="3419856"/>
            <a:ext cx="3291840" cy="274320"/>
          </a:xfrm>
          <a:prstGeom prst="rect">
            <a:avLst/>
          </a:prstGeom>
          <a:noFill/>
          <a:ln/>
        </p:spPr>
        <p:txBody>
          <a:bodyPr wrap="square" lIns="0" tIns="0" rIns="0" bIns="0" rtlCol="0" anchor="t"/>
          <a:lstStyle/>
          <a:p>
            <a:pPr indent="0" marL="0">
              <a:buNone/>
            </a:pPr>
            <a:r>
              <a:rPr lang="en-US" sz="1300" b="1" dirty="0">
                <a:solidFill>
                  <a:srgbClr val="231F20"/>
                </a:solidFill>
                <a:latin typeface="Calibri" pitchFamily="34" charset="0"/>
                <a:ea typeface="Calibri" pitchFamily="34" charset="-122"/>
                <a:cs typeface="Calibri" pitchFamily="34" charset="-120"/>
              </a:rPr>
              <a:t>Nombre de nuits</a:t>
            </a:r>
            <a:endParaRPr lang="en-US" sz="1300" dirty="0"/>
          </a:p>
        </p:txBody>
      </p:sp>
      <p:sp>
        <p:nvSpPr>
          <p:cNvPr id="40" name="Text 34"/>
          <p:cNvSpPr txBox="1"/>
          <p:nvPr/>
        </p:nvSpPr>
        <p:spPr>
          <a:xfrm>
            <a:off x="5394960" y="3712464"/>
            <a:ext cx="3291840" cy="658368"/>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…_Num indique combien de nuits soutiennent chaque pixel : cartographiez-le à côté de la radiance.</a:t>
            </a:r>
            <a:endParaRPr lang="en-US" sz="1050" dirty="0"/>
          </a:p>
        </p:txBody>
      </p:sp>
      <p:sp>
        <p:nvSpPr>
          <p:cNvPr id="41" name="Text 35"/>
          <p:cNvSpPr txBox="1"/>
          <p:nvPr/>
        </p:nvSpPr>
        <p:spPr>
          <a:xfrm>
            <a:off x="457200" y="4553712"/>
            <a:ext cx="7223760" cy="219456"/>
          </a:xfrm>
          <a:prstGeom prst="rect">
            <a:avLst/>
          </a:prstGeom>
          <a:noFill/>
          <a:ln/>
        </p:spPr>
        <p:txBody>
          <a:bodyPr wrap="square" lIns="0" tIns="0" rIns="0" bIns="0" rtlCol="0" anchor="ctr"/>
          <a:lstStyle/>
          <a:p>
            <a:pPr indent="0" marL="0">
              <a:buNone/>
            </a:pPr>
            <a:r>
              <a:rPr lang="en-US" sz="900" i="1" dirty="0">
                <a:solidFill>
                  <a:srgbClr val="5E6964"/>
                </a:solidFill>
                <a:latin typeface="Calibri" pitchFamily="34" charset="0"/>
                <a:ea typeface="Calibri" pitchFamily="34" charset="-122"/>
                <a:cs typeface="Calibri" pitchFamily="34" charset="-120"/>
              </a:rPr>
              <a:t>Source : NASA Black Marble User Guide, Collection 2.0 (2025)</a:t>
            </a:r>
            <a:endParaRPr lang="en-US" sz="9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8A9590"/>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3"/>
          <p:cNvSpPr/>
          <p:nvPr>
            <p:ph idx="105" type="body" hasCustomPrompt="1"/>
          </p:nvPr>
        </p:nvSpPr>
        <p:spPr>
          <a:xfrm>
            <a:off x="457200" y="274320"/>
            <a:ext cx="6217920" cy="256032"/>
          </a:xfrm>
          <a:prstGeom prst="rect">
            <a:avLst/>
          </a:prstGeom>
          <a:noFill/>
          <a:ln/>
        </p:spPr>
        <p:txBody>
          <a:bodyPr wrap="square" lIns="0" tIns="0" rIns="0" bIns="0" rtlCol="0" anchor="ctr"/>
          <a:lstStyle/>
          <a:p>
            <a:pPr algn="l" indent="0" marL="0">
              <a:buNone/>
            </a:pPr>
            <a:r>
              <a:rPr lang="en-US" sz="1050" b="1" spc="300" kern="0" dirty="0">
                <a:solidFill>
                  <a:srgbClr val="00704A"/>
                </a:solidFill>
                <a:latin typeface="Calibri" pitchFamily="34" charset="0"/>
                <a:ea typeface="Calibri" pitchFamily="34" charset="-122"/>
                <a:cs typeface="Calibri" pitchFamily="34" charset="-120"/>
              </a:rPr>
              <a:t>03 · EXPLORER · RÉSULTATS</a:t>
            </a:r>
            <a:endParaRPr lang="en-US" sz="1050" dirty="0"/>
          </a:p>
        </p:txBody>
      </p:sp>
      <p:sp>
        <p:nvSpPr>
          <p:cNvPr id="3" name="Text 3"/>
          <p:cNvSpPr/>
          <p:nvPr>
            <p:ph idx="106" type="title" hasCustomPrompt="1"/>
          </p:nvPr>
        </p:nvSpPr>
        <p:spPr>
          <a:xfrm>
            <a:off x="457200" y="548640"/>
            <a:ext cx="8229600" cy="566928"/>
          </a:xfrm>
          <a:prstGeom prst="rect">
            <a:avLst/>
          </a:prstGeom>
          <a:noFill/>
          <a:ln/>
        </p:spPr>
        <p:txBody>
          <a:bodyPr wrap="square" lIns="0" tIns="0" rIns="0" bIns="0" rtlCol="0" anchor="ctr"/>
          <a:lstStyle/>
          <a:p>
            <a:pPr algn="l" indent="0" marL="0">
              <a:buNone/>
            </a:pPr>
            <a:r>
              <a:rPr lang="en-US" sz="2800" b="1" dirty="0">
                <a:solidFill>
                  <a:srgbClr val="231F20"/>
                </a:solidFill>
                <a:latin typeface="Calibri" pitchFamily="34" charset="0"/>
                <a:ea typeface="Calibri" pitchFamily="34" charset="-122"/>
                <a:cs typeface="Calibri" pitchFamily="34" charset="-120"/>
              </a:rPr>
              <a:t>La somme des lumières, corrigée pas à pas</a:t>
            </a:r>
            <a:endParaRPr lang="en-US" sz="2800" dirty="0"/>
          </a:p>
        </p:txBody>
      </p:sp>
      <p:sp>
        <p:nvSpPr>
          <p:cNvPr id="4" name="dot0"/>
          <p:cNvSpPr/>
          <p:nvPr/>
        </p:nvSpPr>
        <p:spPr>
          <a:xfrm>
            <a:off x="7644384" y="338328"/>
            <a:ext cx="100584" cy="100584"/>
          </a:xfrm>
          <a:prstGeom prst="ellipse">
            <a:avLst/>
          </a:prstGeom>
          <a:solidFill>
            <a:srgbClr val="D5DED9"/>
          </a:solidFill>
          <a:ln w="12700">
            <a:solidFill>
              <a:srgbClr val="D5DED9"/>
            </a:solidFill>
            <a:prstDash val="solid"/>
          </a:ln>
        </p:spPr>
      </p:sp>
      <p:sp>
        <p:nvSpPr>
          <p:cNvPr id="5" name="dot1"/>
          <p:cNvSpPr/>
          <p:nvPr/>
        </p:nvSpPr>
        <p:spPr>
          <a:xfrm>
            <a:off x="7818120" y="338328"/>
            <a:ext cx="100584" cy="100584"/>
          </a:xfrm>
          <a:prstGeom prst="ellipse">
            <a:avLst/>
          </a:prstGeom>
          <a:solidFill>
            <a:srgbClr val="D5DED9"/>
          </a:solidFill>
          <a:ln w="12700">
            <a:solidFill>
              <a:srgbClr val="D5DED9"/>
            </a:solidFill>
            <a:prstDash val="solid"/>
          </a:ln>
        </p:spPr>
      </p:sp>
      <p:sp>
        <p:nvSpPr>
          <p:cNvPr id="6" name="dot2"/>
          <p:cNvSpPr/>
          <p:nvPr/>
        </p:nvSpPr>
        <p:spPr>
          <a:xfrm>
            <a:off x="7991856" y="338328"/>
            <a:ext cx="100584" cy="100584"/>
          </a:xfrm>
          <a:prstGeom prst="ellipse">
            <a:avLst/>
          </a:prstGeom>
          <a:solidFill>
            <a:srgbClr val="0E7C86"/>
          </a:solidFill>
          <a:ln w="12700">
            <a:solidFill>
              <a:srgbClr val="0E7C86"/>
            </a:solidFill>
            <a:prstDash val="solid"/>
          </a:ln>
        </p:spPr>
      </p:sp>
      <p:sp>
        <p:nvSpPr>
          <p:cNvPr id="7" name="dot3"/>
          <p:cNvSpPr/>
          <p:nvPr/>
        </p:nvSpPr>
        <p:spPr>
          <a:xfrm>
            <a:off x="8165592" y="338328"/>
            <a:ext cx="100584" cy="100584"/>
          </a:xfrm>
          <a:prstGeom prst="ellipse">
            <a:avLst/>
          </a:prstGeom>
          <a:solidFill>
            <a:srgbClr val="D5DED9"/>
          </a:solidFill>
          <a:ln w="12700">
            <a:solidFill>
              <a:srgbClr val="D5DED9"/>
            </a:solidFill>
            <a:prstDash val="solid"/>
          </a:ln>
        </p:spPr>
      </p:sp>
      <p:sp>
        <p:nvSpPr>
          <p:cNvPr id="8" name="dot4"/>
          <p:cNvSpPr/>
          <p:nvPr/>
        </p:nvSpPr>
        <p:spPr>
          <a:xfrm>
            <a:off x="8339328" y="338328"/>
            <a:ext cx="100584" cy="100584"/>
          </a:xfrm>
          <a:prstGeom prst="ellipse">
            <a:avLst/>
          </a:prstGeom>
          <a:solidFill>
            <a:srgbClr val="D5DED9"/>
          </a:solidFill>
          <a:ln w="12700">
            <a:solidFill>
              <a:srgbClr val="D5DED9"/>
            </a:solidFill>
            <a:prstDash val="solid"/>
          </a:ln>
        </p:spPr>
      </p:sp>
      <p:sp>
        <p:nvSpPr>
          <p:cNvPr id="9" name="dot5"/>
          <p:cNvSpPr/>
          <p:nvPr/>
        </p:nvSpPr>
        <p:spPr>
          <a:xfrm>
            <a:off x="8513064" y="338328"/>
            <a:ext cx="100584" cy="100584"/>
          </a:xfrm>
          <a:prstGeom prst="ellipse">
            <a:avLst/>
          </a:prstGeom>
          <a:solidFill>
            <a:srgbClr val="D5DED9"/>
          </a:solidFill>
          <a:ln w="12700">
            <a:solidFill>
              <a:srgbClr val="D5DED9"/>
            </a:solidFill>
            <a:prstDash val="solid"/>
          </a:ln>
        </p:spPr>
      </p:sp>
      <p:graphicFrame>
        <p:nvGraphicFramePr>
          <p:cNvPr id="11" name="Chart 0" descr=""/>
          <p:cNvGraphicFramePr/>
          <p:nvPr/>
        </p:nvGraphicFramePr>
        <p:xfrm>
          <a:off x="365760" y="1280160"/>
          <a:ext cx="5394960" cy="3246120"/>
        </p:xfrm>
        <a:graphic xmlns:a="http://schemas.openxmlformats.org/drawingml/2006/main">
          <a:graphicData uri="http://schemas.openxmlformats.org/drawingml/2006/chart">
            <c:chart xmlns:c="http://schemas.openxmlformats.org/drawingml/2006/chart" r:id="rId1"/>
          </a:graphicData>
        </a:graphic>
      </p:graphicFrame>
      <p:sp>
        <p:nvSpPr>
          <p:cNvPr id="12" name="Shape 8"/>
          <p:cNvSpPr/>
          <p:nvPr/>
        </p:nvSpPr>
        <p:spPr>
          <a:xfrm>
            <a:off x="6035040" y="1371600"/>
            <a:ext cx="2651760" cy="1371600"/>
          </a:xfrm>
          <a:prstGeom prst="roundRect">
            <a:avLst>
              <a:gd name="adj" fmla="val 5333"/>
            </a:avLst>
          </a:prstGeom>
          <a:solidFill>
            <a:srgbClr val="E8F5EF"/>
          </a:solidFill>
          <a:ln w="15875">
            <a:solidFill>
              <a:srgbClr val="B83B2E"/>
            </a:solidFill>
            <a:prstDash val="solid"/>
          </a:ln>
        </p:spPr>
      </p:sp>
      <p:sp>
        <p:nvSpPr>
          <p:cNvPr id="13" name="Text 9"/>
          <p:cNvSpPr txBox="1"/>
          <p:nvPr/>
        </p:nvSpPr>
        <p:spPr>
          <a:xfrm>
            <a:off x="6217920" y="1463040"/>
            <a:ext cx="2286000" cy="274320"/>
          </a:xfrm>
          <a:prstGeom prst="rect">
            <a:avLst/>
          </a:prstGeom>
          <a:noFill/>
          <a:ln/>
        </p:spPr>
        <p:txBody>
          <a:bodyPr wrap="square" lIns="0" tIns="0" rIns="0" bIns="0" rtlCol="0" anchor="t"/>
          <a:lstStyle/>
          <a:p>
            <a:pPr indent="0" marL="0">
              <a:buNone/>
            </a:pPr>
            <a:r>
              <a:rPr lang="en-US" sz="1200" b="1" dirty="0">
                <a:solidFill>
                  <a:srgbClr val="B83B2E"/>
                </a:solidFill>
                <a:latin typeface="Calibri" pitchFamily="34" charset="0"/>
                <a:ea typeface="Calibri" pitchFamily="34" charset="-122"/>
                <a:cs typeface="Calibri" pitchFamily="34" charset="-120"/>
              </a:rPr>
              <a:t>Aucune précaution</a:t>
            </a:r>
            <a:endParaRPr lang="en-US" sz="1200" dirty="0"/>
          </a:p>
        </p:txBody>
      </p:sp>
      <p:sp>
        <p:nvSpPr>
          <p:cNvPr id="14" name="Text 10"/>
          <p:cNvSpPr txBox="1"/>
          <p:nvPr/>
        </p:nvSpPr>
        <p:spPr>
          <a:xfrm>
            <a:off x="6217920" y="1737360"/>
            <a:ext cx="2286000" cy="548640"/>
          </a:xfrm>
          <a:prstGeom prst="rect">
            <a:avLst/>
          </a:prstGeom>
          <a:noFill/>
          <a:ln/>
        </p:spPr>
        <p:txBody>
          <a:bodyPr wrap="square" lIns="0" tIns="0" rIns="0" bIns="0" rtlCol="0" anchor="t"/>
          <a:lstStyle/>
          <a:p>
            <a:pPr indent="0" marL="0">
              <a:buNone/>
            </a:pPr>
            <a:r>
              <a:rPr lang="en-US" sz="3400" b="1" dirty="0">
                <a:solidFill>
                  <a:srgbClr val="B83B2E"/>
                </a:solidFill>
                <a:latin typeface="Calibri" pitchFamily="34" charset="0"/>
                <a:ea typeface="Calibri" pitchFamily="34" charset="-122"/>
                <a:cs typeface="Calibri" pitchFamily="34" charset="-120"/>
              </a:rPr>
              <a:t>−70,7 M</a:t>
            </a:r>
            <a:endParaRPr lang="en-US" sz="3400" dirty="0"/>
          </a:p>
        </p:txBody>
      </p:sp>
      <p:sp>
        <p:nvSpPr>
          <p:cNvPr id="15" name="Text 11"/>
          <p:cNvSpPr txBox="1"/>
          <p:nvPr/>
        </p:nvSpPr>
        <p:spPr>
          <a:xfrm>
            <a:off x="6217920" y="2286000"/>
            <a:ext cx="2286000" cy="365760"/>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remplissage −999,9 sommé comme de la lumière</a:t>
            </a:r>
            <a:endParaRPr lang="en-US" sz="1050" dirty="0"/>
          </a:p>
        </p:txBody>
      </p:sp>
      <p:sp>
        <p:nvSpPr>
          <p:cNvPr id="16" name="Shape 12"/>
          <p:cNvSpPr/>
          <p:nvPr/>
        </p:nvSpPr>
        <p:spPr>
          <a:xfrm>
            <a:off x="6035040" y="2880360"/>
            <a:ext cx="2651760" cy="1554480"/>
          </a:xfrm>
          <a:prstGeom prst="roundRect">
            <a:avLst>
              <a:gd name="adj" fmla="val 4706"/>
            </a:avLst>
          </a:prstGeom>
          <a:solidFill>
            <a:srgbClr val="F4F7F5"/>
          </a:solidFill>
          <a:ln w="9525">
            <a:solidFill>
              <a:srgbClr val="D5DED9"/>
            </a:solidFill>
            <a:prstDash val="solid"/>
          </a:ln>
        </p:spPr>
      </p:sp>
      <p:sp>
        <p:nvSpPr>
          <p:cNvPr id="17" name="Text 13"/>
          <p:cNvSpPr txBox="1"/>
          <p:nvPr/>
        </p:nvSpPr>
        <p:spPr>
          <a:xfrm>
            <a:off x="6217920" y="2971800"/>
            <a:ext cx="2286000" cy="274320"/>
          </a:xfrm>
          <a:prstGeom prst="rect">
            <a:avLst/>
          </a:prstGeom>
          <a:noFill/>
          <a:ln/>
        </p:spPr>
        <p:txBody>
          <a:bodyPr wrap="square" lIns="0" tIns="0" rIns="0" bIns="0" rtlCol="0" anchor="t"/>
          <a:lstStyle/>
          <a:p>
            <a:pPr indent="0" marL="0">
              <a:buNone/>
            </a:pPr>
            <a:r>
              <a:rPr lang="en-US" sz="1200" b="1" dirty="0">
                <a:solidFill>
                  <a:srgbClr val="00553A"/>
                </a:solidFill>
                <a:latin typeface="Calibri" pitchFamily="34" charset="0"/>
                <a:ea typeface="Calibri" pitchFamily="34" charset="-122"/>
                <a:cs typeface="Calibri" pitchFamily="34" charset="-120"/>
              </a:rPr>
              <a:t>Réponse finale</a:t>
            </a:r>
            <a:endParaRPr lang="en-US" sz="1200" dirty="0"/>
          </a:p>
        </p:txBody>
      </p:sp>
      <p:sp>
        <p:nvSpPr>
          <p:cNvPr id="18" name="Text 14"/>
          <p:cNvSpPr txBox="1"/>
          <p:nvPr/>
        </p:nvSpPr>
        <p:spPr>
          <a:xfrm>
            <a:off x="6217920" y="3246120"/>
            <a:ext cx="2286000" cy="548640"/>
          </a:xfrm>
          <a:prstGeom prst="rect">
            <a:avLst/>
          </a:prstGeom>
          <a:noFill/>
          <a:ln/>
        </p:spPr>
        <p:txBody>
          <a:bodyPr wrap="square" lIns="0" tIns="0" rIns="0" bIns="0" rtlCol="0" anchor="t"/>
          <a:lstStyle/>
          <a:p>
            <a:pPr indent="0" marL="0">
              <a:buNone/>
            </a:pPr>
            <a:r>
              <a:rPr lang="en-US" sz="3400" b="1" dirty="0">
                <a:solidFill>
                  <a:srgbClr val="00553A"/>
                </a:solidFill>
                <a:latin typeface="Calibri" pitchFamily="34" charset="0"/>
                <a:ea typeface="Calibri" pitchFamily="34" charset="-122"/>
                <a:cs typeface="Calibri" pitchFamily="34" charset="-120"/>
              </a:rPr>
              <a:t>22 737</a:t>
            </a:r>
            <a:endParaRPr lang="en-US" sz="3400" dirty="0"/>
          </a:p>
        </p:txBody>
      </p:sp>
      <p:sp>
        <p:nvSpPr>
          <p:cNvPr id="19" name="Text 15"/>
          <p:cNvSpPr txBox="1"/>
          <p:nvPr/>
        </p:nvSpPr>
        <p:spPr>
          <a:xfrm>
            <a:off x="6217920" y="3794760"/>
            <a:ext cx="2286000" cy="548640"/>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territoire national, filtré, eau masquée</a:t>
            </a:r>
            <a:endParaRPr lang="en-US" sz="1050" dirty="0"/>
          </a:p>
        </p:txBody>
      </p:sp>
      <p:sp>
        <p:nvSpPr>
          <p:cNvPr id="20" name="Text 16"/>
          <p:cNvSpPr txBox="1"/>
          <p:nvPr/>
        </p:nvSpPr>
        <p:spPr>
          <a:xfrm>
            <a:off x="457200" y="4553712"/>
            <a:ext cx="7223760" cy="219456"/>
          </a:xfrm>
          <a:prstGeom prst="rect">
            <a:avLst/>
          </a:prstGeom>
          <a:noFill/>
          <a:ln/>
        </p:spPr>
        <p:txBody>
          <a:bodyPr wrap="square" lIns="0" tIns="0" rIns="0" bIns="0" rtlCol="0" anchor="ctr"/>
          <a:lstStyle/>
          <a:p>
            <a:pPr indent="0" marL="0">
              <a:buNone/>
            </a:pPr>
            <a:r>
              <a:rPr lang="en-US" sz="900" i="1" dirty="0">
                <a:solidFill>
                  <a:srgbClr val="5E6964"/>
                </a:solidFill>
                <a:latin typeface="Calibri" pitchFamily="34" charset="0"/>
                <a:ea typeface="Calibri" pitchFamily="34" charset="-122"/>
                <a:cs typeface="Calibri" pitchFamily="34" charset="-120"/>
              </a:rPr>
              <a:t>Jeu de démonstration du notebook 2 (valeurs simulées, Côte d'Ivoire, structure Collection 2)</a:t>
            </a:r>
            <a:endParaRPr lang="en-US" sz="9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8A9590"/>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3"/>
          <p:cNvSpPr/>
          <p:nvPr>
            <p:ph idx="105" type="body" hasCustomPrompt="1"/>
          </p:nvPr>
        </p:nvSpPr>
        <p:spPr>
          <a:xfrm>
            <a:off x="457200" y="274320"/>
            <a:ext cx="6217920" cy="256032"/>
          </a:xfrm>
          <a:prstGeom prst="rect">
            <a:avLst/>
          </a:prstGeom>
          <a:noFill/>
          <a:ln/>
        </p:spPr>
        <p:txBody>
          <a:bodyPr wrap="square" lIns="0" tIns="0" rIns="0" bIns="0" rtlCol="0" anchor="ctr"/>
          <a:lstStyle/>
          <a:p>
            <a:pPr algn="l" indent="0" marL="0">
              <a:buNone/>
            </a:pPr>
            <a:r>
              <a:rPr lang="en-US" sz="1050" b="1" spc="300" kern="0" dirty="0">
                <a:solidFill>
                  <a:srgbClr val="00704A"/>
                </a:solidFill>
                <a:latin typeface="Calibri" pitchFamily="34" charset="0"/>
                <a:ea typeface="Calibri" pitchFamily="34" charset="-122"/>
                <a:cs typeface="Calibri" pitchFamily="34" charset="-120"/>
              </a:rPr>
              <a:t>03 · EXPLORER · DE LA TUILE AU PAYS</a:t>
            </a:r>
            <a:endParaRPr lang="en-US" sz="1050" dirty="0"/>
          </a:p>
        </p:txBody>
      </p:sp>
      <p:sp>
        <p:nvSpPr>
          <p:cNvPr id="3" name="Text 3"/>
          <p:cNvSpPr/>
          <p:nvPr>
            <p:ph idx="106" type="title" hasCustomPrompt="1"/>
          </p:nvPr>
        </p:nvSpPr>
        <p:spPr>
          <a:xfrm>
            <a:off x="457200" y="548640"/>
            <a:ext cx="8229600" cy="566928"/>
          </a:xfrm>
          <a:prstGeom prst="rect">
            <a:avLst/>
          </a:prstGeom>
          <a:noFill/>
          <a:ln/>
        </p:spPr>
        <p:txBody>
          <a:bodyPr wrap="square" lIns="0" tIns="0" rIns="0" bIns="0" rtlCol="0" anchor="ctr"/>
          <a:lstStyle/>
          <a:p>
            <a:pPr algn="l" indent="0" marL="0">
              <a:buNone/>
            </a:pPr>
            <a:r>
              <a:rPr lang="en-US" sz="2800" b="1" dirty="0">
                <a:solidFill>
                  <a:srgbClr val="231F20"/>
                </a:solidFill>
                <a:latin typeface="Calibri" pitchFamily="34" charset="0"/>
                <a:ea typeface="Calibri" pitchFamily="34" charset="-122"/>
                <a:cs typeface="Calibri" pitchFamily="34" charset="-120"/>
              </a:rPr>
              <a:t>Mosaïque, découpage et distribution asymétrique</a:t>
            </a:r>
            <a:endParaRPr lang="en-US" sz="2800" dirty="0"/>
          </a:p>
        </p:txBody>
      </p:sp>
      <p:sp>
        <p:nvSpPr>
          <p:cNvPr id="4" name="dot0"/>
          <p:cNvSpPr/>
          <p:nvPr/>
        </p:nvSpPr>
        <p:spPr>
          <a:xfrm>
            <a:off x="7644384" y="338328"/>
            <a:ext cx="100584" cy="100584"/>
          </a:xfrm>
          <a:prstGeom prst="ellipse">
            <a:avLst/>
          </a:prstGeom>
          <a:solidFill>
            <a:srgbClr val="D5DED9"/>
          </a:solidFill>
          <a:ln w="12700">
            <a:solidFill>
              <a:srgbClr val="D5DED9"/>
            </a:solidFill>
            <a:prstDash val="solid"/>
          </a:ln>
        </p:spPr>
      </p:sp>
      <p:sp>
        <p:nvSpPr>
          <p:cNvPr id="5" name="dot1"/>
          <p:cNvSpPr/>
          <p:nvPr/>
        </p:nvSpPr>
        <p:spPr>
          <a:xfrm>
            <a:off x="7818120" y="338328"/>
            <a:ext cx="100584" cy="100584"/>
          </a:xfrm>
          <a:prstGeom prst="ellipse">
            <a:avLst/>
          </a:prstGeom>
          <a:solidFill>
            <a:srgbClr val="D5DED9"/>
          </a:solidFill>
          <a:ln w="12700">
            <a:solidFill>
              <a:srgbClr val="D5DED9"/>
            </a:solidFill>
            <a:prstDash val="solid"/>
          </a:ln>
        </p:spPr>
      </p:sp>
      <p:sp>
        <p:nvSpPr>
          <p:cNvPr id="6" name="dot2"/>
          <p:cNvSpPr/>
          <p:nvPr/>
        </p:nvSpPr>
        <p:spPr>
          <a:xfrm>
            <a:off x="7991856" y="338328"/>
            <a:ext cx="100584" cy="100584"/>
          </a:xfrm>
          <a:prstGeom prst="ellipse">
            <a:avLst/>
          </a:prstGeom>
          <a:solidFill>
            <a:srgbClr val="0E7C86"/>
          </a:solidFill>
          <a:ln w="12700">
            <a:solidFill>
              <a:srgbClr val="0E7C86"/>
            </a:solidFill>
            <a:prstDash val="solid"/>
          </a:ln>
        </p:spPr>
      </p:sp>
      <p:sp>
        <p:nvSpPr>
          <p:cNvPr id="7" name="dot3"/>
          <p:cNvSpPr/>
          <p:nvPr/>
        </p:nvSpPr>
        <p:spPr>
          <a:xfrm>
            <a:off x="8165592" y="338328"/>
            <a:ext cx="100584" cy="100584"/>
          </a:xfrm>
          <a:prstGeom prst="ellipse">
            <a:avLst/>
          </a:prstGeom>
          <a:solidFill>
            <a:srgbClr val="D5DED9"/>
          </a:solidFill>
          <a:ln w="12700">
            <a:solidFill>
              <a:srgbClr val="D5DED9"/>
            </a:solidFill>
            <a:prstDash val="solid"/>
          </a:ln>
        </p:spPr>
      </p:sp>
      <p:sp>
        <p:nvSpPr>
          <p:cNvPr id="8" name="dot4"/>
          <p:cNvSpPr/>
          <p:nvPr/>
        </p:nvSpPr>
        <p:spPr>
          <a:xfrm>
            <a:off x="8339328" y="338328"/>
            <a:ext cx="100584" cy="100584"/>
          </a:xfrm>
          <a:prstGeom prst="ellipse">
            <a:avLst/>
          </a:prstGeom>
          <a:solidFill>
            <a:srgbClr val="D5DED9"/>
          </a:solidFill>
          <a:ln w="12700">
            <a:solidFill>
              <a:srgbClr val="D5DED9"/>
            </a:solidFill>
            <a:prstDash val="solid"/>
          </a:ln>
        </p:spPr>
      </p:sp>
      <p:sp>
        <p:nvSpPr>
          <p:cNvPr id="9" name="dot5"/>
          <p:cNvSpPr/>
          <p:nvPr/>
        </p:nvSpPr>
        <p:spPr>
          <a:xfrm>
            <a:off x="8513064" y="338328"/>
            <a:ext cx="100584" cy="100584"/>
          </a:xfrm>
          <a:prstGeom prst="ellipse">
            <a:avLst/>
          </a:prstGeom>
          <a:solidFill>
            <a:srgbClr val="D5DED9"/>
          </a:solidFill>
          <a:ln w="12700">
            <a:solidFill>
              <a:srgbClr val="D5DED9"/>
            </a:solidFill>
            <a:prstDash val="solid"/>
          </a:ln>
        </p:spPr>
      </p:sp>
      <p:sp>
        <p:nvSpPr>
          <p:cNvPr id="11" name="Shape 8"/>
          <p:cNvSpPr/>
          <p:nvPr/>
        </p:nvSpPr>
        <p:spPr>
          <a:xfrm>
            <a:off x="457200" y="1371600"/>
            <a:ext cx="4023360" cy="1115568"/>
          </a:xfrm>
          <a:prstGeom prst="roundRect">
            <a:avLst>
              <a:gd name="adj" fmla="val 6557"/>
            </a:avLst>
          </a:prstGeom>
          <a:solidFill>
            <a:srgbClr val="F4F7F5"/>
          </a:solidFill>
          <a:ln w="9525">
            <a:solidFill>
              <a:srgbClr val="D5DED9"/>
            </a:solidFill>
            <a:prstDash val="solid"/>
          </a:ln>
        </p:spPr>
      </p:sp>
      <p:sp>
        <p:nvSpPr>
          <p:cNvPr id="12" name="Shape 9"/>
          <p:cNvSpPr/>
          <p:nvPr/>
        </p:nvSpPr>
        <p:spPr>
          <a:xfrm>
            <a:off x="621792" y="1536192"/>
            <a:ext cx="502920" cy="502920"/>
          </a:xfrm>
          <a:prstGeom prst="ellipse">
            <a:avLst/>
          </a:prstGeom>
          <a:solidFill>
            <a:srgbClr val="0E7C86">
              <a:alpha val="22000"/>
            </a:srgbClr>
          </a:solidFill>
          <a:ln w="12700">
            <a:solidFill>
              <a:srgbClr val="0E7C86">
                <a:alpha val="0"/>
              </a:srgbClr>
            </a:solidFill>
            <a:prstDash val="solid"/>
          </a:ln>
        </p:spPr>
      </p:sp>
      <p:pic>
        <p:nvPicPr>
          <p:cNvPr id="13" name="Image 0" descr="preencoded.png">    </p:cNvPr>
          <p:cNvPicPr>
            <a:picLocks noChangeAspect="1"/>
          </p:cNvPicPr>
          <p:nvPr/>
        </p:nvPicPr>
        <p:blipFill>
          <a:blip r:embed="rId1"/>
          <a:stretch>
            <a:fillRect/>
          </a:stretch>
        </p:blipFill>
        <p:spPr>
          <a:xfrm>
            <a:off x="742493" y="1656893"/>
            <a:ext cx="261518" cy="261518"/>
          </a:xfrm>
          <a:prstGeom prst="rect">
            <a:avLst/>
          </a:prstGeom>
        </p:spPr>
      </p:pic>
      <p:sp>
        <p:nvSpPr>
          <p:cNvPr id="14" name="Text 10"/>
          <p:cNvSpPr txBox="1"/>
          <p:nvPr/>
        </p:nvSpPr>
        <p:spPr>
          <a:xfrm>
            <a:off x="1280160" y="1508760"/>
            <a:ext cx="3063240" cy="274320"/>
          </a:xfrm>
          <a:prstGeom prst="rect">
            <a:avLst/>
          </a:prstGeom>
          <a:noFill/>
          <a:ln/>
        </p:spPr>
        <p:txBody>
          <a:bodyPr wrap="square" lIns="0" tIns="0" rIns="0" bIns="0" rtlCol="0" anchor="t"/>
          <a:lstStyle/>
          <a:p>
            <a:pPr indent="0" marL="0">
              <a:buNone/>
            </a:pPr>
            <a:r>
              <a:rPr lang="en-US" sz="1300" b="1" dirty="0">
                <a:solidFill>
                  <a:srgbClr val="231F20"/>
                </a:solidFill>
                <a:latin typeface="Calibri" pitchFamily="34" charset="0"/>
                <a:ea typeface="Calibri" pitchFamily="34" charset="-122"/>
                <a:cs typeface="Calibri" pitchFamily="34" charset="-120"/>
              </a:rPr>
              <a:t>Mosaïque</a:t>
            </a:r>
            <a:endParaRPr lang="en-US" sz="1300" dirty="0"/>
          </a:p>
        </p:txBody>
      </p:sp>
      <p:sp>
        <p:nvSpPr>
          <p:cNvPr id="15" name="Text 11"/>
          <p:cNvSpPr txBox="1"/>
          <p:nvPr/>
        </p:nvSpPr>
        <p:spPr>
          <a:xfrm>
            <a:off x="1280160" y="1801368"/>
            <a:ext cx="3063240" cy="640080"/>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Même grille, même résolution : tuiles collées par indice, sans distorsion</a:t>
            </a:r>
            <a:endParaRPr lang="en-US" sz="1050" dirty="0"/>
          </a:p>
        </p:txBody>
      </p:sp>
      <p:sp>
        <p:nvSpPr>
          <p:cNvPr id="16" name="Shape 12"/>
          <p:cNvSpPr/>
          <p:nvPr/>
        </p:nvSpPr>
        <p:spPr>
          <a:xfrm>
            <a:off x="4663440" y="1371600"/>
            <a:ext cx="4023360" cy="1115568"/>
          </a:xfrm>
          <a:prstGeom prst="roundRect">
            <a:avLst>
              <a:gd name="adj" fmla="val 6557"/>
            </a:avLst>
          </a:prstGeom>
          <a:solidFill>
            <a:srgbClr val="F4F7F5"/>
          </a:solidFill>
          <a:ln w="9525">
            <a:solidFill>
              <a:srgbClr val="D5DED9"/>
            </a:solidFill>
            <a:prstDash val="solid"/>
          </a:ln>
        </p:spPr>
      </p:sp>
      <p:sp>
        <p:nvSpPr>
          <p:cNvPr id="17" name="Shape 13"/>
          <p:cNvSpPr/>
          <p:nvPr/>
        </p:nvSpPr>
        <p:spPr>
          <a:xfrm>
            <a:off x="4828032" y="1536192"/>
            <a:ext cx="502920" cy="502920"/>
          </a:xfrm>
          <a:prstGeom prst="ellipse">
            <a:avLst/>
          </a:prstGeom>
          <a:solidFill>
            <a:srgbClr val="0E7C86">
              <a:alpha val="22000"/>
            </a:srgbClr>
          </a:solidFill>
          <a:ln w="12700">
            <a:solidFill>
              <a:srgbClr val="0E7C86">
                <a:alpha val="0"/>
              </a:srgbClr>
            </a:solidFill>
            <a:prstDash val="solid"/>
          </a:ln>
        </p:spPr>
      </p:sp>
      <p:pic>
        <p:nvPicPr>
          <p:cNvPr id="18" name="Image 1" descr="preencoded.png">    </p:cNvPr>
          <p:cNvPicPr>
            <a:picLocks noChangeAspect="1"/>
          </p:cNvPicPr>
          <p:nvPr/>
        </p:nvPicPr>
        <p:blipFill>
          <a:blip r:embed="rId2"/>
          <a:stretch>
            <a:fillRect/>
          </a:stretch>
        </p:blipFill>
        <p:spPr>
          <a:xfrm>
            <a:off x="4948733" y="1656893"/>
            <a:ext cx="261518" cy="261518"/>
          </a:xfrm>
          <a:prstGeom prst="rect">
            <a:avLst/>
          </a:prstGeom>
        </p:spPr>
      </p:pic>
      <p:sp>
        <p:nvSpPr>
          <p:cNvPr id="19" name="Text 14"/>
          <p:cNvSpPr txBox="1"/>
          <p:nvPr/>
        </p:nvSpPr>
        <p:spPr>
          <a:xfrm>
            <a:off x="5486400" y="1508760"/>
            <a:ext cx="3063240" cy="274320"/>
          </a:xfrm>
          <a:prstGeom prst="rect">
            <a:avLst/>
          </a:prstGeom>
          <a:noFill/>
          <a:ln/>
        </p:spPr>
        <p:txBody>
          <a:bodyPr wrap="square" lIns="0" tIns="0" rIns="0" bIns="0" rtlCol="0" anchor="t"/>
          <a:lstStyle/>
          <a:p>
            <a:pPr indent="0" marL="0">
              <a:buNone/>
            </a:pPr>
            <a:r>
              <a:rPr lang="en-US" sz="1300" b="1" dirty="0">
                <a:solidFill>
                  <a:srgbClr val="231F20"/>
                </a:solidFill>
                <a:latin typeface="Calibri" pitchFamily="34" charset="0"/>
                <a:ea typeface="Calibri" pitchFamily="34" charset="-122"/>
                <a:cs typeface="Calibri" pitchFamily="34" charset="-120"/>
              </a:rPr>
              <a:t>Découpage</a:t>
            </a:r>
            <a:endParaRPr lang="en-US" sz="1300" dirty="0"/>
          </a:p>
        </p:txBody>
      </p:sp>
      <p:sp>
        <p:nvSpPr>
          <p:cNvPr id="20" name="Text 15"/>
          <p:cNvSpPr txBox="1"/>
          <p:nvPr/>
        </p:nvSpPr>
        <p:spPr>
          <a:xfrm>
            <a:off x="5486400" y="1801368"/>
            <a:ext cx="3063240" cy="640080"/>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Point-dans-polygone sur la frontière nationale (les limites officielles peuvent remplacer celles intégrées)</a:t>
            </a:r>
            <a:endParaRPr lang="en-US" sz="1050" dirty="0"/>
          </a:p>
        </p:txBody>
      </p:sp>
      <p:sp>
        <p:nvSpPr>
          <p:cNvPr id="21" name="Shape 16"/>
          <p:cNvSpPr/>
          <p:nvPr/>
        </p:nvSpPr>
        <p:spPr>
          <a:xfrm>
            <a:off x="457200" y="2651760"/>
            <a:ext cx="4023360" cy="1115568"/>
          </a:xfrm>
          <a:prstGeom prst="roundRect">
            <a:avLst>
              <a:gd name="adj" fmla="val 6557"/>
            </a:avLst>
          </a:prstGeom>
          <a:solidFill>
            <a:srgbClr val="F4F7F5"/>
          </a:solidFill>
          <a:ln w="9525">
            <a:solidFill>
              <a:srgbClr val="D5DED9"/>
            </a:solidFill>
            <a:prstDash val="solid"/>
          </a:ln>
        </p:spPr>
      </p:sp>
      <p:sp>
        <p:nvSpPr>
          <p:cNvPr id="22" name="Shape 17"/>
          <p:cNvSpPr/>
          <p:nvPr/>
        </p:nvSpPr>
        <p:spPr>
          <a:xfrm>
            <a:off x="621792" y="2816352"/>
            <a:ext cx="502920" cy="502920"/>
          </a:xfrm>
          <a:prstGeom prst="ellipse">
            <a:avLst/>
          </a:prstGeom>
          <a:solidFill>
            <a:srgbClr val="0E7C86">
              <a:alpha val="22000"/>
            </a:srgbClr>
          </a:solidFill>
          <a:ln w="12700">
            <a:solidFill>
              <a:srgbClr val="0E7C86">
                <a:alpha val="0"/>
              </a:srgbClr>
            </a:solidFill>
            <a:prstDash val="solid"/>
          </a:ln>
        </p:spPr>
      </p:sp>
      <p:pic>
        <p:nvPicPr>
          <p:cNvPr id="23" name="Image 2" descr="preencoded.png">    </p:cNvPr>
          <p:cNvPicPr>
            <a:picLocks noChangeAspect="1"/>
          </p:cNvPicPr>
          <p:nvPr/>
        </p:nvPicPr>
        <p:blipFill>
          <a:blip r:embed="rId3"/>
          <a:stretch>
            <a:fillRect/>
          </a:stretch>
        </p:blipFill>
        <p:spPr>
          <a:xfrm>
            <a:off x="742493" y="2937053"/>
            <a:ext cx="261518" cy="261518"/>
          </a:xfrm>
          <a:prstGeom prst="rect">
            <a:avLst/>
          </a:prstGeom>
        </p:spPr>
      </p:pic>
      <p:sp>
        <p:nvSpPr>
          <p:cNvPr id="24" name="Text 18"/>
          <p:cNvSpPr txBox="1"/>
          <p:nvPr/>
        </p:nvSpPr>
        <p:spPr>
          <a:xfrm>
            <a:off x="1280160" y="2788920"/>
            <a:ext cx="3063240" cy="274320"/>
          </a:xfrm>
          <a:prstGeom prst="rect">
            <a:avLst/>
          </a:prstGeom>
          <a:noFill/>
          <a:ln/>
        </p:spPr>
        <p:txBody>
          <a:bodyPr wrap="square" lIns="0" tIns="0" rIns="0" bIns="0" rtlCol="0" anchor="t"/>
          <a:lstStyle/>
          <a:p>
            <a:pPr indent="0" marL="0">
              <a:buNone/>
            </a:pPr>
            <a:r>
              <a:rPr lang="en-US" sz="1300" b="1" dirty="0">
                <a:solidFill>
                  <a:srgbClr val="231F20"/>
                </a:solidFill>
                <a:latin typeface="Calibri" pitchFamily="34" charset="0"/>
                <a:ea typeface="Calibri" pitchFamily="34" charset="-122"/>
                <a:cs typeface="Calibri" pitchFamily="34" charset="-120"/>
              </a:rPr>
              <a:t>Distribution</a:t>
            </a:r>
            <a:endParaRPr lang="en-US" sz="1300" dirty="0"/>
          </a:p>
        </p:txBody>
      </p:sp>
      <p:sp>
        <p:nvSpPr>
          <p:cNvPr id="25" name="Text 19"/>
          <p:cNvSpPr txBox="1"/>
          <p:nvPr/>
        </p:nvSpPr>
        <p:spPr>
          <a:xfrm>
            <a:off x="1280160" y="3081528"/>
            <a:ext cx="3063240" cy="640080"/>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Échelle log ; médiane et somme disent des choses différentes ; vérifier les pixels extrêmes</a:t>
            </a:r>
            <a:endParaRPr lang="en-US" sz="1050" dirty="0"/>
          </a:p>
        </p:txBody>
      </p:sp>
      <p:sp>
        <p:nvSpPr>
          <p:cNvPr id="26" name="Shape 20"/>
          <p:cNvSpPr/>
          <p:nvPr/>
        </p:nvSpPr>
        <p:spPr>
          <a:xfrm>
            <a:off x="4663440" y="2651760"/>
            <a:ext cx="4023360" cy="1115568"/>
          </a:xfrm>
          <a:prstGeom prst="roundRect">
            <a:avLst>
              <a:gd name="adj" fmla="val 6557"/>
            </a:avLst>
          </a:prstGeom>
          <a:solidFill>
            <a:srgbClr val="F4F7F5"/>
          </a:solidFill>
          <a:ln w="9525">
            <a:solidFill>
              <a:srgbClr val="D5DED9"/>
            </a:solidFill>
            <a:prstDash val="solid"/>
          </a:ln>
        </p:spPr>
      </p:sp>
      <p:sp>
        <p:nvSpPr>
          <p:cNvPr id="27" name="Shape 21"/>
          <p:cNvSpPr/>
          <p:nvPr/>
        </p:nvSpPr>
        <p:spPr>
          <a:xfrm>
            <a:off x="4828032" y="2816352"/>
            <a:ext cx="502920" cy="502920"/>
          </a:xfrm>
          <a:prstGeom prst="ellipse">
            <a:avLst/>
          </a:prstGeom>
          <a:solidFill>
            <a:srgbClr val="0E7C86">
              <a:alpha val="22000"/>
            </a:srgbClr>
          </a:solidFill>
          <a:ln w="12700">
            <a:solidFill>
              <a:srgbClr val="0E7C86">
                <a:alpha val="0"/>
              </a:srgbClr>
            </a:solidFill>
            <a:prstDash val="solid"/>
          </a:ln>
        </p:spPr>
      </p:sp>
      <p:pic>
        <p:nvPicPr>
          <p:cNvPr id="28" name="Image 3" descr="preencoded.png">    </p:cNvPr>
          <p:cNvPicPr>
            <a:picLocks noChangeAspect="1"/>
          </p:cNvPicPr>
          <p:nvPr/>
        </p:nvPicPr>
        <p:blipFill>
          <a:blip r:embed="rId4"/>
          <a:stretch>
            <a:fillRect/>
          </a:stretch>
        </p:blipFill>
        <p:spPr>
          <a:xfrm>
            <a:off x="4948733" y="2937053"/>
            <a:ext cx="261518" cy="261518"/>
          </a:xfrm>
          <a:prstGeom prst="rect">
            <a:avLst/>
          </a:prstGeom>
        </p:spPr>
      </p:pic>
      <p:sp>
        <p:nvSpPr>
          <p:cNvPr id="29" name="Text 22"/>
          <p:cNvSpPr txBox="1"/>
          <p:nvPr/>
        </p:nvSpPr>
        <p:spPr>
          <a:xfrm>
            <a:off x="5486400" y="2788920"/>
            <a:ext cx="3063240" cy="274320"/>
          </a:xfrm>
          <a:prstGeom prst="rect">
            <a:avLst/>
          </a:prstGeom>
          <a:noFill/>
          <a:ln/>
        </p:spPr>
        <p:txBody>
          <a:bodyPr wrap="square" lIns="0" tIns="0" rIns="0" bIns="0" rtlCol="0" anchor="t"/>
          <a:lstStyle/>
          <a:p>
            <a:pPr indent="0" marL="0">
              <a:buNone/>
            </a:pPr>
            <a:r>
              <a:rPr lang="en-US" sz="1300" b="1" dirty="0">
                <a:solidFill>
                  <a:srgbClr val="231F20"/>
                </a:solidFill>
                <a:latin typeface="Calibri" pitchFamily="34" charset="0"/>
                <a:ea typeface="Calibri" pitchFamily="34" charset="-122"/>
                <a:cs typeface="Calibri" pitchFamily="34" charset="-120"/>
              </a:rPr>
              <a:t>Pondération par surface</a:t>
            </a:r>
            <a:endParaRPr lang="en-US" sz="1300" dirty="0"/>
          </a:p>
        </p:txBody>
      </p:sp>
      <p:sp>
        <p:nvSpPr>
          <p:cNvPr id="30" name="Text 23"/>
          <p:cNvSpPr txBox="1"/>
          <p:nvPr/>
        </p:nvSpPr>
        <p:spPr>
          <a:xfrm>
            <a:off x="5486400" y="3081528"/>
            <a:ext cx="3063240" cy="640080"/>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Surface du pixel ∝ cos(latitude) : −13 % à 30°, −20 % à 37°</a:t>
            </a:r>
            <a:endParaRPr lang="en-US" sz="1050" dirty="0"/>
          </a:p>
        </p:txBody>
      </p:sp>
      <p:sp>
        <p:nvSpPr>
          <p:cNvPr id="31" name="Text 24"/>
          <p:cNvSpPr txBox="1"/>
          <p:nvPr/>
        </p:nvSpPr>
        <p:spPr>
          <a:xfrm>
            <a:off x="457200" y="4023360"/>
            <a:ext cx="914400" cy="256032"/>
          </a:xfrm>
          <a:prstGeom prst="rect">
            <a:avLst/>
          </a:prstGeom>
          <a:noFill/>
          <a:ln/>
        </p:spPr>
        <p:txBody>
          <a:bodyPr wrap="square" lIns="0" tIns="0" rIns="0" bIns="0" rtlCol="0" anchor="ctr"/>
          <a:lstStyle/>
          <a:p>
            <a:pPr indent="0" marL="0">
              <a:buNone/>
            </a:pPr>
            <a:r>
              <a:rPr lang="en-US" sz="1100" b="1" dirty="0">
                <a:solidFill>
                  <a:srgbClr val="231F20"/>
                </a:solidFill>
                <a:latin typeface="Calibri" pitchFamily="34" charset="0"/>
                <a:ea typeface="Calibri" pitchFamily="34" charset="-122"/>
                <a:cs typeface="Calibri" pitchFamily="34" charset="-120"/>
              </a:rPr>
              <a:t>Exports</a:t>
            </a:r>
            <a:endParaRPr lang="en-US" sz="1100" dirty="0"/>
          </a:p>
        </p:txBody>
      </p:sp>
      <p:sp>
        <p:nvSpPr>
          <p:cNvPr id="32" name="Shape 25"/>
          <p:cNvSpPr/>
          <p:nvPr/>
        </p:nvSpPr>
        <p:spPr>
          <a:xfrm>
            <a:off x="1280160" y="4023360"/>
            <a:ext cx="914400" cy="256032"/>
          </a:xfrm>
          <a:prstGeom prst="roundRect">
            <a:avLst>
              <a:gd name="adj" fmla="val 50000"/>
            </a:avLst>
          </a:prstGeom>
          <a:solidFill>
            <a:srgbClr val="0E7C86">
              <a:alpha val="15000"/>
            </a:srgbClr>
          </a:solidFill>
          <a:ln w="9525">
            <a:solidFill>
              <a:srgbClr val="0E7C86"/>
            </a:solidFill>
            <a:prstDash val="solid"/>
          </a:ln>
        </p:spPr>
      </p:sp>
      <p:sp>
        <p:nvSpPr>
          <p:cNvPr id="33" name="Text 26"/>
          <p:cNvSpPr txBox="1"/>
          <p:nvPr/>
        </p:nvSpPr>
        <p:spPr>
          <a:xfrm>
            <a:off x="1280160" y="4023360"/>
            <a:ext cx="914400" cy="256032"/>
          </a:xfrm>
          <a:prstGeom prst="rect">
            <a:avLst/>
          </a:prstGeom>
          <a:noFill/>
          <a:ln/>
        </p:spPr>
        <p:txBody>
          <a:bodyPr wrap="square" lIns="0" tIns="0" rIns="0" bIns="0" rtlCol="0" anchor="ctr"/>
          <a:lstStyle/>
          <a:p>
            <a:pPr algn="ctr" indent="0" marL="0">
              <a:buNone/>
            </a:pPr>
            <a:r>
              <a:rPr lang="en-US" sz="1000" b="1" dirty="0">
                <a:solidFill>
                  <a:srgbClr val="0E7C86"/>
                </a:solidFill>
                <a:latin typeface="Calibri" pitchFamily="34" charset="0"/>
                <a:ea typeface="Calibri" pitchFamily="34" charset="-122"/>
                <a:cs typeface="Calibri" pitchFamily="34" charset="-120"/>
              </a:rPr>
              <a:t>GeoTIFF</a:t>
            </a:r>
            <a:endParaRPr lang="en-US" sz="1000" dirty="0"/>
          </a:p>
        </p:txBody>
      </p:sp>
      <p:sp>
        <p:nvSpPr>
          <p:cNvPr id="34" name="Shape 27"/>
          <p:cNvSpPr/>
          <p:nvPr/>
        </p:nvSpPr>
        <p:spPr>
          <a:xfrm>
            <a:off x="2304288" y="4023360"/>
            <a:ext cx="640080" cy="256032"/>
          </a:xfrm>
          <a:prstGeom prst="roundRect">
            <a:avLst>
              <a:gd name="adj" fmla="val 50000"/>
            </a:avLst>
          </a:prstGeom>
          <a:solidFill>
            <a:srgbClr val="0E7C86">
              <a:alpha val="15000"/>
            </a:srgbClr>
          </a:solidFill>
          <a:ln w="9525">
            <a:solidFill>
              <a:srgbClr val="0E7C86"/>
            </a:solidFill>
            <a:prstDash val="solid"/>
          </a:ln>
        </p:spPr>
      </p:sp>
      <p:sp>
        <p:nvSpPr>
          <p:cNvPr id="35" name="Text 28"/>
          <p:cNvSpPr txBox="1"/>
          <p:nvPr/>
        </p:nvSpPr>
        <p:spPr>
          <a:xfrm>
            <a:off x="2304288" y="4023360"/>
            <a:ext cx="640080" cy="256032"/>
          </a:xfrm>
          <a:prstGeom prst="rect">
            <a:avLst/>
          </a:prstGeom>
          <a:noFill/>
          <a:ln/>
        </p:spPr>
        <p:txBody>
          <a:bodyPr wrap="square" lIns="0" tIns="0" rIns="0" bIns="0" rtlCol="0" anchor="ctr"/>
          <a:lstStyle/>
          <a:p>
            <a:pPr algn="ctr" indent="0" marL="0">
              <a:buNone/>
            </a:pPr>
            <a:r>
              <a:rPr lang="en-US" sz="1000" b="1" dirty="0">
                <a:solidFill>
                  <a:srgbClr val="0E7C86"/>
                </a:solidFill>
                <a:latin typeface="Calibri" pitchFamily="34" charset="0"/>
                <a:ea typeface="Calibri" pitchFamily="34" charset="-122"/>
                <a:cs typeface="Calibri" pitchFamily="34" charset="-120"/>
              </a:rPr>
              <a:t>CSV</a:t>
            </a:r>
            <a:endParaRPr lang="en-US" sz="1000" dirty="0"/>
          </a:p>
        </p:txBody>
      </p:sp>
      <p:sp>
        <p:nvSpPr>
          <p:cNvPr id="36" name="Shape 29"/>
          <p:cNvSpPr/>
          <p:nvPr/>
        </p:nvSpPr>
        <p:spPr>
          <a:xfrm>
            <a:off x="3054096" y="4023360"/>
            <a:ext cx="640080" cy="256032"/>
          </a:xfrm>
          <a:prstGeom prst="roundRect">
            <a:avLst>
              <a:gd name="adj" fmla="val 50000"/>
            </a:avLst>
          </a:prstGeom>
          <a:solidFill>
            <a:srgbClr val="0E7C86">
              <a:alpha val="15000"/>
            </a:srgbClr>
          </a:solidFill>
          <a:ln w="9525">
            <a:solidFill>
              <a:srgbClr val="0E7C86"/>
            </a:solidFill>
            <a:prstDash val="solid"/>
          </a:ln>
        </p:spPr>
      </p:sp>
      <p:sp>
        <p:nvSpPr>
          <p:cNvPr id="37" name="Text 30"/>
          <p:cNvSpPr txBox="1"/>
          <p:nvPr/>
        </p:nvSpPr>
        <p:spPr>
          <a:xfrm>
            <a:off x="3054096" y="4023360"/>
            <a:ext cx="640080" cy="256032"/>
          </a:xfrm>
          <a:prstGeom prst="rect">
            <a:avLst/>
          </a:prstGeom>
          <a:noFill/>
          <a:ln/>
        </p:spPr>
        <p:txBody>
          <a:bodyPr wrap="square" lIns="0" tIns="0" rIns="0" bIns="0" rtlCol="0" anchor="ctr"/>
          <a:lstStyle/>
          <a:p>
            <a:pPr algn="ctr" indent="0" marL="0">
              <a:buNone/>
            </a:pPr>
            <a:r>
              <a:rPr lang="en-US" sz="1000" b="1" dirty="0">
                <a:solidFill>
                  <a:srgbClr val="0E7C86"/>
                </a:solidFill>
                <a:latin typeface="Calibri" pitchFamily="34" charset="0"/>
                <a:ea typeface="Calibri" pitchFamily="34" charset="-122"/>
                <a:cs typeface="Calibri" pitchFamily="34" charset="-120"/>
              </a:rPr>
              <a:t>NPZ</a:t>
            </a:r>
            <a:endParaRPr lang="en-US" sz="1000" dirty="0"/>
          </a:p>
        </p:txBody>
      </p:sp>
      <p:sp>
        <p:nvSpPr>
          <p:cNvPr id="38" name="Shape 31"/>
          <p:cNvSpPr/>
          <p:nvPr/>
        </p:nvSpPr>
        <p:spPr>
          <a:xfrm>
            <a:off x="3803904" y="4023360"/>
            <a:ext cx="1417320" cy="256032"/>
          </a:xfrm>
          <a:prstGeom prst="roundRect">
            <a:avLst>
              <a:gd name="adj" fmla="val 50000"/>
            </a:avLst>
          </a:prstGeom>
          <a:solidFill>
            <a:srgbClr val="0E7C86">
              <a:alpha val="15000"/>
            </a:srgbClr>
          </a:solidFill>
          <a:ln w="9525">
            <a:solidFill>
              <a:srgbClr val="0E7C86"/>
            </a:solidFill>
            <a:prstDash val="solid"/>
          </a:ln>
        </p:spPr>
      </p:sp>
      <p:sp>
        <p:nvSpPr>
          <p:cNvPr id="39" name="Text 32"/>
          <p:cNvSpPr txBox="1"/>
          <p:nvPr/>
        </p:nvSpPr>
        <p:spPr>
          <a:xfrm>
            <a:off x="3803904" y="4023360"/>
            <a:ext cx="1417320" cy="256032"/>
          </a:xfrm>
          <a:prstGeom prst="rect">
            <a:avLst/>
          </a:prstGeom>
          <a:noFill/>
          <a:ln/>
        </p:spPr>
        <p:txBody>
          <a:bodyPr wrap="square" lIns="0" tIns="0" rIns="0" bIns="0" rtlCol="0" anchor="ctr"/>
          <a:lstStyle/>
          <a:p>
            <a:pPr algn="ctr" indent="0" marL="0">
              <a:buNone/>
            </a:pPr>
            <a:r>
              <a:rPr lang="en-US" sz="1000" b="1" dirty="0">
                <a:solidFill>
                  <a:srgbClr val="0E7C86"/>
                </a:solidFill>
                <a:latin typeface="Calibri" pitchFamily="34" charset="0"/>
                <a:ea typeface="Calibri" pitchFamily="34" charset="-122"/>
                <a:cs typeface="Calibri" pitchFamily="34" charset="-120"/>
              </a:rPr>
              <a:t>métadonnées JSON</a:t>
            </a:r>
            <a:endParaRPr lang="en-US" sz="1000" dirty="0"/>
          </a:p>
        </p:txBody>
      </p:sp>
      <p:sp>
        <p:nvSpPr>
          <p:cNvPr id="40" name="Shape 33"/>
          <p:cNvSpPr/>
          <p:nvPr/>
        </p:nvSpPr>
        <p:spPr>
          <a:xfrm>
            <a:off x="5330952" y="4023360"/>
            <a:ext cx="1645920" cy="256032"/>
          </a:xfrm>
          <a:prstGeom prst="roundRect">
            <a:avLst>
              <a:gd name="adj" fmla="val 50000"/>
            </a:avLst>
          </a:prstGeom>
          <a:solidFill>
            <a:srgbClr val="0E7C86">
              <a:alpha val="15000"/>
            </a:srgbClr>
          </a:solidFill>
          <a:ln w="9525">
            <a:solidFill>
              <a:srgbClr val="0E7C86"/>
            </a:solidFill>
            <a:prstDash val="solid"/>
          </a:ln>
        </p:spPr>
      </p:sp>
      <p:sp>
        <p:nvSpPr>
          <p:cNvPr id="41" name="Text 34"/>
          <p:cNvSpPr txBox="1"/>
          <p:nvPr/>
        </p:nvSpPr>
        <p:spPr>
          <a:xfrm>
            <a:off x="5330952" y="4023360"/>
            <a:ext cx="1645920" cy="256032"/>
          </a:xfrm>
          <a:prstGeom prst="rect">
            <a:avLst/>
          </a:prstGeom>
          <a:noFill/>
          <a:ln/>
        </p:spPr>
        <p:txBody>
          <a:bodyPr wrap="square" lIns="0" tIns="0" rIns="0" bIns="0" rtlCol="0" anchor="ctr"/>
          <a:lstStyle/>
          <a:p>
            <a:pPr algn="ctr" indent="0" marL="0">
              <a:buNone/>
            </a:pPr>
            <a:r>
              <a:rPr lang="en-US" sz="1000" b="1" dirty="0">
                <a:solidFill>
                  <a:srgbClr val="0E7C86"/>
                </a:solidFill>
                <a:latin typeface="Calibri" pitchFamily="34" charset="0"/>
                <a:ea typeface="Calibri" pitchFamily="34" charset="-122"/>
                <a:cs typeface="Calibri" pitchFamily="34" charset="-120"/>
              </a:rPr>
              <a:t>journal de traitement</a:t>
            </a:r>
            <a:endParaRPr lang="en-US" sz="10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8A9590"/>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48640" y="914400"/>
            <a:ext cx="2743200" cy="274320"/>
          </a:xfrm>
          <a:prstGeom prst="rect">
            <a:avLst/>
          </a:prstGeom>
          <a:noFill/>
          <a:ln/>
        </p:spPr>
        <p:txBody>
          <a:bodyPr wrap="square" lIns="0" tIns="0" rIns="0" bIns="0" rtlCol="0" anchor="t"/>
          <a:lstStyle/>
          <a:p>
            <a:pPr indent="0" marL="0">
              <a:buNone/>
            </a:pPr>
            <a:r>
              <a:rPr lang="en-US" sz="1050" b="1" spc="300" kern="0" dirty="0">
                <a:solidFill>
                  <a:srgbClr val="F5C242"/>
                </a:solidFill>
                <a:latin typeface="Calibri" pitchFamily="34" charset="0"/>
                <a:ea typeface="Calibri" pitchFamily="34" charset="-122"/>
                <a:cs typeface="Calibri" pitchFamily="34" charset="-120"/>
              </a:rPr>
              <a:t>SECTION</a:t>
            </a:r>
            <a:endParaRPr lang="en-US" sz="1050" dirty="0"/>
          </a:p>
        </p:txBody>
      </p:sp>
      <p:sp>
        <p:nvSpPr>
          <p:cNvPr id="3" name="Text 1"/>
          <p:cNvSpPr txBox="1"/>
          <p:nvPr/>
        </p:nvSpPr>
        <p:spPr>
          <a:xfrm>
            <a:off x="548640" y="1143000"/>
            <a:ext cx="2743200" cy="1188720"/>
          </a:xfrm>
          <a:prstGeom prst="rect">
            <a:avLst/>
          </a:prstGeom>
          <a:noFill/>
          <a:ln/>
        </p:spPr>
        <p:txBody>
          <a:bodyPr wrap="square" lIns="0" tIns="0" rIns="0" bIns="0" rtlCol="0" anchor="t"/>
          <a:lstStyle/>
          <a:p>
            <a:pPr indent="0" marL="0">
              <a:buNone/>
            </a:pPr>
            <a:r>
              <a:rPr lang="en-US" sz="8000" b="1" dirty="0">
                <a:solidFill>
                  <a:srgbClr val="F5C242"/>
                </a:solidFill>
                <a:latin typeface="Calibri" pitchFamily="34" charset="0"/>
                <a:ea typeface="Calibri" pitchFamily="34" charset="-122"/>
                <a:cs typeface="Calibri" pitchFamily="34" charset="-120"/>
              </a:rPr>
              <a:t>04</a:t>
            </a:r>
            <a:endParaRPr lang="en-US" sz="8000" dirty="0"/>
          </a:p>
        </p:txBody>
      </p:sp>
      <p:sp>
        <p:nvSpPr>
          <p:cNvPr id="4" name="Text 2"/>
          <p:cNvSpPr txBox="1"/>
          <p:nvPr/>
        </p:nvSpPr>
        <p:spPr>
          <a:xfrm>
            <a:off x="548640" y="2377440"/>
            <a:ext cx="5303520" cy="731520"/>
          </a:xfrm>
          <a:prstGeom prst="rect">
            <a:avLst/>
          </a:prstGeom>
          <a:noFill/>
          <a:ln/>
        </p:spPr>
        <p:txBody>
          <a:bodyPr wrap="square" lIns="0" tIns="0" rIns="0" bIns="0" rtlCol="0" anchor="t"/>
          <a:lstStyle/>
          <a:p>
            <a:pPr indent="0" marL="0">
              <a:buNone/>
            </a:pPr>
            <a:r>
              <a:rPr lang="en-US" sz="4000" b="1" dirty="0">
                <a:solidFill>
                  <a:srgbClr val="FFFFFF"/>
                </a:solidFill>
                <a:latin typeface="Calibri" pitchFamily="34" charset="0"/>
                <a:ea typeface="Calibri" pitchFamily="34" charset="-122"/>
                <a:cs typeface="Calibri" pitchFamily="34" charset="-120"/>
              </a:rPr>
              <a:t>Analyser</a:t>
            </a:r>
            <a:endParaRPr lang="en-US" sz="4000" dirty="0"/>
          </a:p>
        </p:txBody>
      </p:sp>
      <p:sp>
        <p:nvSpPr>
          <p:cNvPr id="5" name="Text 3"/>
          <p:cNvSpPr txBox="1"/>
          <p:nvPr/>
        </p:nvSpPr>
        <p:spPr>
          <a:xfrm>
            <a:off x="548640" y="3154680"/>
            <a:ext cx="5120640" cy="731520"/>
          </a:xfrm>
          <a:prstGeom prst="rect">
            <a:avLst/>
          </a:prstGeom>
          <a:noFill/>
          <a:ln/>
        </p:spPr>
        <p:txBody>
          <a:bodyPr wrap="square" lIns="0" tIns="0" rIns="0" bIns="0" rtlCol="0" anchor="t"/>
          <a:lstStyle/>
          <a:p>
            <a:pPr indent="0" marL="0">
              <a:buNone/>
            </a:pPr>
            <a:r>
              <a:rPr lang="en-US" sz="1800" i="1" dirty="0">
                <a:solidFill>
                  <a:srgbClr val="E6F6EE"/>
                </a:solidFill>
                <a:latin typeface="Calibri" pitchFamily="34" charset="0"/>
                <a:ea typeface="Calibri" pitchFamily="34" charset="-122"/>
                <a:cs typeface="Calibri" pitchFamily="34" charset="-120"/>
              </a:rPr>
              <a:t>Comment transformer une radiance en indicateurs économiques ?</a:t>
            </a:r>
            <a:endParaRPr lang="en-US" sz="1800" dirty="0"/>
          </a:p>
        </p:txBody>
      </p:sp>
      <p:sp>
        <p:nvSpPr>
          <p:cNvPr id="6" name="Shape 4"/>
          <p:cNvSpPr/>
          <p:nvPr/>
        </p:nvSpPr>
        <p:spPr>
          <a:xfrm>
            <a:off x="6309360" y="1234440"/>
            <a:ext cx="2286000" cy="2286000"/>
          </a:xfrm>
          <a:prstGeom prst="ellipse">
            <a:avLst/>
          </a:prstGeom>
          <a:solidFill>
            <a:srgbClr val="FFFFFF">
              <a:alpha val="8000"/>
            </a:srgbClr>
          </a:solidFill>
          <a:ln w="12700">
            <a:solidFill>
              <a:srgbClr val="FFFFFF">
                <a:alpha val="30000"/>
              </a:srgbClr>
            </a:solidFill>
            <a:prstDash val="solid"/>
          </a:ln>
        </p:spPr>
      </p:sp>
      <p:sp>
        <p:nvSpPr>
          <p:cNvPr id="7" name="Shape 5"/>
          <p:cNvSpPr/>
          <p:nvPr/>
        </p:nvSpPr>
        <p:spPr>
          <a:xfrm>
            <a:off x="6675120" y="1600200"/>
            <a:ext cx="1554480" cy="1554480"/>
          </a:xfrm>
          <a:prstGeom prst="ellipse">
            <a:avLst/>
          </a:prstGeom>
          <a:solidFill>
            <a:srgbClr val="FFFFFF"/>
          </a:solidFill>
          <a:ln w="12700">
            <a:solidFill>
              <a:srgbClr val="FFFFFF"/>
            </a:solidFill>
            <a:prstDash val="solid"/>
          </a:ln>
        </p:spPr>
      </p:sp>
      <p:pic>
        <p:nvPicPr>
          <p:cNvPr id="8" name="Image 0" descr="preencoded.png">    </p:cNvPr>
          <p:cNvPicPr>
            <a:picLocks noChangeAspect="1"/>
          </p:cNvPicPr>
          <p:nvPr/>
        </p:nvPicPr>
        <p:blipFill>
          <a:blip r:embed="rId1"/>
          <a:stretch>
            <a:fillRect/>
          </a:stretch>
        </p:blipFill>
        <p:spPr>
          <a:xfrm>
            <a:off x="7086600" y="2011680"/>
            <a:ext cx="731520" cy="731520"/>
          </a:xfrm>
          <a:prstGeom prst="rect">
            <a:avLst/>
          </a:prstGeom>
        </p:spPr>
      </p:pic>
      <p:sp>
        <p:nvSpPr>
          <p:cNvPr id="9" name="Shape 6"/>
          <p:cNvSpPr/>
          <p:nvPr/>
        </p:nvSpPr>
        <p:spPr>
          <a:xfrm>
            <a:off x="566928" y="4251960"/>
            <a:ext cx="118872" cy="118872"/>
          </a:xfrm>
          <a:prstGeom prst="ellipse">
            <a:avLst/>
          </a:prstGeom>
          <a:solidFill>
            <a:srgbClr val="FFFFFF">
              <a:alpha val="40000"/>
            </a:srgbClr>
          </a:solidFill>
          <a:ln w="12700">
            <a:solidFill>
              <a:srgbClr val="FFFFFF">
                <a:alpha val="0"/>
              </a:srgbClr>
            </a:solidFill>
            <a:prstDash val="solid"/>
          </a:ln>
        </p:spPr>
      </p:sp>
      <p:sp>
        <p:nvSpPr>
          <p:cNvPr id="10" name="Shape 7"/>
          <p:cNvSpPr/>
          <p:nvPr/>
        </p:nvSpPr>
        <p:spPr>
          <a:xfrm>
            <a:off x="786384" y="4251960"/>
            <a:ext cx="118872" cy="118872"/>
          </a:xfrm>
          <a:prstGeom prst="ellipse">
            <a:avLst/>
          </a:prstGeom>
          <a:solidFill>
            <a:srgbClr val="FFFFFF">
              <a:alpha val="40000"/>
            </a:srgbClr>
          </a:solidFill>
          <a:ln w="12700">
            <a:solidFill>
              <a:srgbClr val="FFFFFF">
                <a:alpha val="0"/>
              </a:srgbClr>
            </a:solidFill>
            <a:prstDash val="solid"/>
          </a:ln>
        </p:spPr>
      </p:sp>
      <p:sp>
        <p:nvSpPr>
          <p:cNvPr id="11" name="Shape 8"/>
          <p:cNvSpPr/>
          <p:nvPr/>
        </p:nvSpPr>
        <p:spPr>
          <a:xfrm>
            <a:off x="1005840" y="4251960"/>
            <a:ext cx="118872" cy="118872"/>
          </a:xfrm>
          <a:prstGeom prst="ellipse">
            <a:avLst/>
          </a:prstGeom>
          <a:solidFill>
            <a:srgbClr val="FFFFFF">
              <a:alpha val="40000"/>
            </a:srgbClr>
          </a:solidFill>
          <a:ln w="12700">
            <a:solidFill>
              <a:srgbClr val="FFFFFF">
                <a:alpha val="0"/>
              </a:srgbClr>
            </a:solidFill>
            <a:prstDash val="solid"/>
          </a:ln>
        </p:spPr>
      </p:sp>
      <p:sp>
        <p:nvSpPr>
          <p:cNvPr id="12" name="Shape 9"/>
          <p:cNvSpPr/>
          <p:nvPr/>
        </p:nvSpPr>
        <p:spPr>
          <a:xfrm>
            <a:off x="1225296" y="4251960"/>
            <a:ext cx="118872" cy="118872"/>
          </a:xfrm>
          <a:prstGeom prst="ellipse">
            <a:avLst/>
          </a:prstGeom>
          <a:solidFill>
            <a:srgbClr val="F5C242"/>
          </a:solidFill>
          <a:ln w="12700">
            <a:solidFill>
              <a:srgbClr val="FFFFFF">
                <a:alpha val="0"/>
              </a:srgbClr>
            </a:solidFill>
            <a:prstDash val="solid"/>
          </a:ln>
        </p:spPr>
      </p:sp>
      <p:sp>
        <p:nvSpPr>
          <p:cNvPr id="13" name="Shape 10"/>
          <p:cNvSpPr/>
          <p:nvPr/>
        </p:nvSpPr>
        <p:spPr>
          <a:xfrm>
            <a:off x="1444752" y="4251960"/>
            <a:ext cx="118872" cy="118872"/>
          </a:xfrm>
          <a:prstGeom prst="ellipse">
            <a:avLst/>
          </a:prstGeom>
          <a:solidFill>
            <a:srgbClr val="FFFFFF">
              <a:alpha val="40000"/>
            </a:srgbClr>
          </a:solidFill>
          <a:ln w="12700">
            <a:solidFill>
              <a:srgbClr val="FFFFFF">
                <a:alpha val="0"/>
              </a:srgbClr>
            </a:solidFill>
            <a:prstDash val="solid"/>
          </a:ln>
        </p:spPr>
      </p:sp>
      <p:sp>
        <p:nvSpPr>
          <p:cNvPr id="14" name="Shape 11"/>
          <p:cNvSpPr/>
          <p:nvPr/>
        </p:nvSpPr>
        <p:spPr>
          <a:xfrm>
            <a:off x="1664208" y="4251960"/>
            <a:ext cx="118872" cy="118872"/>
          </a:xfrm>
          <a:prstGeom prst="ellipse">
            <a:avLst/>
          </a:prstGeom>
          <a:solidFill>
            <a:srgbClr val="FFFFFF">
              <a:alpha val="40000"/>
            </a:srgbClr>
          </a:solidFill>
          <a:ln w="12700">
            <a:solidFill>
              <a:srgbClr val="FFFFFF">
                <a:alpha val="0"/>
              </a:srgbClr>
            </a:solidFill>
            <a:prstDash val="solid"/>
          </a:ln>
        </p:spPr>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3"/>
          <p:cNvSpPr/>
          <p:nvPr>
            <p:ph idx="105" type="body" hasCustomPrompt="1"/>
          </p:nvPr>
        </p:nvSpPr>
        <p:spPr>
          <a:xfrm>
            <a:off x="457200" y="274320"/>
            <a:ext cx="6217920" cy="256032"/>
          </a:xfrm>
          <a:prstGeom prst="rect">
            <a:avLst/>
          </a:prstGeom>
          <a:noFill/>
          <a:ln/>
        </p:spPr>
        <p:txBody>
          <a:bodyPr wrap="square" lIns="0" tIns="0" rIns="0" bIns="0" rtlCol="0" anchor="ctr"/>
          <a:lstStyle/>
          <a:p>
            <a:pPr algn="l" indent="0" marL="0">
              <a:buNone/>
            </a:pPr>
            <a:r>
              <a:rPr lang="en-US" sz="1050" b="1" spc="300" kern="0" dirty="0">
                <a:solidFill>
                  <a:srgbClr val="00704A"/>
                </a:solidFill>
                <a:latin typeface="Calibri" pitchFamily="34" charset="0"/>
                <a:ea typeface="Calibri" pitchFamily="34" charset="-122"/>
                <a:cs typeface="Calibri" pitchFamily="34" charset="-120"/>
              </a:rPr>
              <a:t>04 · ANALYSER · VUE D'ENSEMBLE</a:t>
            </a:r>
            <a:endParaRPr lang="en-US" sz="1050" dirty="0"/>
          </a:p>
        </p:txBody>
      </p:sp>
      <p:sp>
        <p:nvSpPr>
          <p:cNvPr id="3" name="Text 3"/>
          <p:cNvSpPr/>
          <p:nvPr>
            <p:ph idx="106" type="title" hasCustomPrompt="1"/>
          </p:nvPr>
        </p:nvSpPr>
        <p:spPr>
          <a:xfrm>
            <a:off x="457200" y="548640"/>
            <a:ext cx="8229600" cy="566928"/>
          </a:xfrm>
          <a:prstGeom prst="rect">
            <a:avLst/>
          </a:prstGeom>
          <a:noFill/>
          <a:ln/>
        </p:spPr>
        <p:txBody>
          <a:bodyPr wrap="square" lIns="0" tIns="0" rIns="0" bIns="0" rtlCol="0" anchor="ctr"/>
          <a:lstStyle/>
          <a:p>
            <a:pPr algn="l" indent="0" marL="0">
              <a:buNone/>
            </a:pPr>
            <a:r>
              <a:rPr lang="en-US" sz="2800" b="1" dirty="0">
                <a:solidFill>
                  <a:srgbClr val="231F20"/>
                </a:solidFill>
                <a:latin typeface="Calibri" pitchFamily="34" charset="0"/>
                <a:ea typeface="Calibri" pitchFamily="34" charset="-122"/>
                <a:cs typeface="Calibri" pitchFamily="34" charset="-120"/>
              </a:rPr>
              <a:t>Une chaîne, six scénarios d'analyse</a:t>
            </a:r>
            <a:endParaRPr lang="en-US" sz="2800" dirty="0"/>
          </a:p>
        </p:txBody>
      </p:sp>
      <p:sp>
        <p:nvSpPr>
          <p:cNvPr id="4" name="dot0"/>
          <p:cNvSpPr/>
          <p:nvPr/>
        </p:nvSpPr>
        <p:spPr>
          <a:xfrm>
            <a:off x="7644384" y="338328"/>
            <a:ext cx="100584" cy="100584"/>
          </a:xfrm>
          <a:prstGeom prst="ellipse">
            <a:avLst/>
          </a:prstGeom>
          <a:solidFill>
            <a:srgbClr val="D5DED9"/>
          </a:solidFill>
          <a:ln w="12700">
            <a:solidFill>
              <a:srgbClr val="D5DED9"/>
            </a:solidFill>
            <a:prstDash val="solid"/>
          </a:ln>
        </p:spPr>
      </p:sp>
      <p:sp>
        <p:nvSpPr>
          <p:cNvPr id="5" name="dot1"/>
          <p:cNvSpPr/>
          <p:nvPr/>
        </p:nvSpPr>
        <p:spPr>
          <a:xfrm>
            <a:off x="7818120" y="338328"/>
            <a:ext cx="100584" cy="100584"/>
          </a:xfrm>
          <a:prstGeom prst="ellipse">
            <a:avLst/>
          </a:prstGeom>
          <a:solidFill>
            <a:srgbClr val="D5DED9"/>
          </a:solidFill>
          <a:ln w="12700">
            <a:solidFill>
              <a:srgbClr val="D5DED9"/>
            </a:solidFill>
            <a:prstDash val="solid"/>
          </a:ln>
        </p:spPr>
      </p:sp>
      <p:sp>
        <p:nvSpPr>
          <p:cNvPr id="6" name="dot2"/>
          <p:cNvSpPr/>
          <p:nvPr/>
        </p:nvSpPr>
        <p:spPr>
          <a:xfrm>
            <a:off x="7991856" y="338328"/>
            <a:ext cx="100584" cy="100584"/>
          </a:xfrm>
          <a:prstGeom prst="ellipse">
            <a:avLst/>
          </a:prstGeom>
          <a:solidFill>
            <a:srgbClr val="D5DED9"/>
          </a:solidFill>
          <a:ln w="12700">
            <a:solidFill>
              <a:srgbClr val="D5DED9"/>
            </a:solidFill>
            <a:prstDash val="solid"/>
          </a:ln>
        </p:spPr>
      </p:sp>
      <p:sp>
        <p:nvSpPr>
          <p:cNvPr id="7" name="dot3"/>
          <p:cNvSpPr/>
          <p:nvPr/>
        </p:nvSpPr>
        <p:spPr>
          <a:xfrm>
            <a:off x="8165592" y="338328"/>
            <a:ext cx="100584" cy="100584"/>
          </a:xfrm>
          <a:prstGeom prst="ellipse">
            <a:avLst/>
          </a:prstGeom>
          <a:solidFill>
            <a:srgbClr val="D49A00"/>
          </a:solidFill>
          <a:ln w="12700">
            <a:solidFill>
              <a:srgbClr val="D49A00"/>
            </a:solidFill>
            <a:prstDash val="solid"/>
          </a:ln>
        </p:spPr>
      </p:sp>
      <p:sp>
        <p:nvSpPr>
          <p:cNvPr id="8" name="dot4"/>
          <p:cNvSpPr/>
          <p:nvPr/>
        </p:nvSpPr>
        <p:spPr>
          <a:xfrm>
            <a:off x="8339328" y="338328"/>
            <a:ext cx="100584" cy="100584"/>
          </a:xfrm>
          <a:prstGeom prst="ellipse">
            <a:avLst/>
          </a:prstGeom>
          <a:solidFill>
            <a:srgbClr val="D5DED9"/>
          </a:solidFill>
          <a:ln w="12700">
            <a:solidFill>
              <a:srgbClr val="D5DED9"/>
            </a:solidFill>
            <a:prstDash val="solid"/>
          </a:ln>
        </p:spPr>
      </p:sp>
      <p:sp>
        <p:nvSpPr>
          <p:cNvPr id="9" name="dot5"/>
          <p:cNvSpPr/>
          <p:nvPr/>
        </p:nvSpPr>
        <p:spPr>
          <a:xfrm>
            <a:off x="8513064" y="338328"/>
            <a:ext cx="100584" cy="100584"/>
          </a:xfrm>
          <a:prstGeom prst="ellipse">
            <a:avLst/>
          </a:prstGeom>
          <a:solidFill>
            <a:srgbClr val="D5DED9"/>
          </a:solidFill>
          <a:ln w="12700">
            <a:solidFill>
              <a:srgbClr val="D5DED9"/>
            </a:solidFill>
            <a:prstDash val="solid"/>
          </a:ln>
        </p:spPr>
      </p:sp>
      <p:sp>
        <p:nvSpPr>
          <p:cNvPr id="11" name="Shape 8"/>
          <p:cNvSpPr/>
          <p:nvPr/>
        </p:nvSpPr>
        <p:spPr>
          <a:xfrm>
            <a:off x="457200" y="1325880"/>
            <a:ext cx="1234440" cy="457200"/>
          </a:xfrm>
          <a:prstGeom prst="roundRect">
            <a:avLst>
              <a:gd name="adj" fmla="val 16000"/>
            </a:avLst>
          </a:prstGeom>
          <a:solidFill>
            <a:srgbClr val="E8F5EF"/>
          </a:solidFill>
          <a:ln w="12700">
            <a:solidFill>
              <a:srgbClr val="00A86A"/>
            </a:solidFill>
            <a:prstDash val="solid"/>
          </a:ln>
        </p:spPr>
      </p:sp>
      <p:sp>
        <p:nvSpPr>
          <p:cNvPr id="12" name="Text 9"/>
          <p:cNvSpPr txBox="1"/>
          <p:nvPr/>
        </p:nvSpPr>
        <p:spPr>
          <a:xfrm>
            <a:off x="457200" y="1325880"/>
            <a:ext cx="1234440" cy="457200"/>
          </a:xfrm>
          <a:prstGeom prst="rect">
            <a:avLst/>
          </a:prstGeom>
          <a:noFill/>
          <a:ln/>
        </p:spPr>
        <p:txBody>
          <a:bodyPr wrap="square" lIns="0" tIns="0" rIns="0" bIns="0" rtlCol="0" anchor="ctr"/>
          <a:lstStyle/>
          <a:p>
            <a:pPr algn="ctr" indent="0" marL="0">
              <a:buNone/>
            </a:pPr>
            <a:r>
              <a:rPr lang="en-US" sz="950" b="1" dirty="0">
                <a:solidFill>
                  <a:srgbClr val="00704A"/>
                </a:solidFill>
                <a:latin typeface="Calibri" pitchFamily="34" charset="0"/>
                <a:ea typeface="Calibri" pitchFamily="34" charset="-122"/>
                <a:cs typeface="Calibri" pitchFamily="34" charset="-120"/>
              </a:rPr>
              <a:t>02  </a:t>
            </a:r>
            <a:pPr algn="ctr" indent="0" marL="0">
              <a:buNone/>
            </a:pPr>
            <a:r>
              <a:rPr lang="en-US" sz="950" dirty="0">
                <a:solidFill>
                  <a:srgbClr val="231F20"/>
                </a:solidFill>
                <a:latin typeface="Calibri" pitchFamily="34" charset="0"/>
                <a:ea typeface="Calibri" pitchFamily="34" charset="-122"/>
                <a:cs typeface="Calibri" pitchFamily="34" charset="-120"/>
              </a:rPr>
              <a:t>Paramètres</a:t>
            </a:r>
            <a:endParaRPr lang="en-US" sz="950" dirty="0"/>
          </a:p>
        </p:txBody>
      </p:sp>
      <p:sp>
        <p:nvSpPr>
          <p:cNvPr id="13" name="Shape 10"/>
          <p:cNvSpPr/>
          <p:nvPr/>
        </p:nvSpPr>
        <p:spPr>
          <a:xfrm>
            <a:off x="1700784" y="1554480"/>
            <a:ext cx="146304" cy="914"/>
          </a:xfrm>
          <a:prstGeom prst="line">
            <a:avLst/>
          </a:prstGeom>
          <a:noFill/>
          <a:ln w="15875">
            <a:solidFill>
              <a:srgbClr val="5E6964"/>
            </a:solidFill>
            <a:prstDash val="solid"/>
            <a:tailEnd type="triangle"/>
          </a:ln>
        </p:spPr>
      </p:sp>
      <p:sp>
        <p:nvSpPr>
          <p:cNvPr id="14" name="Shape 11"/>
          <p:cNvSpPr/>
          <p:nvPr/>
        </p:nvSpPr>
        <p:spPr>
          <a:xfrm>
            <a:off x="1856232" y="1325880"/>
            <a:ext cx="1234440" cy="457200"/>
          </a:xfrm>
          <a:prstGeom prst="roundRect">
            <a:avLst>
              <a:gd name="adj" fmla="val 16000"/>
            </a:avLst>
          </a:prstGeom>
          <a:solidFill>
            <a:srgbClr val="E8F5EF"/>
          </a:solidFill>
          <a:ln w="12700">
            <a:solidFill>
              <a:srgbClr val="00A86A"/>
            </a:solidFill>
            <a:prstDash val="solid"/>
          </a:ln>
        </p:spPr>
      </p:sp>
      <p:sp>
        <p:nvSpPr>
          <p:cNvPr id="15" name="Text 12"/>
          <p:cNvSpPr txBox="1"/>
          <p:nvPr/>
        </p:nvSpPr>
        <p:spPr>
          <a:xfrm>
            <a:off x="1856232" y="1325880"/>
            <a:ext cx="1234440" cy="457200"/>
          </a:xfrm>
          <a:prstGeom prst="rect">
            <a:avLst/>
          </a:prstGeom>
          <a:noFill/>
          <a:ln/>
        </p:spPr>
        <p:txBody>
          <a:bodyPr wrap="square" lIns="0" tIns="0" rIns="0" bIns="0" rtlCol="0" anchor="ctr"/>
          <a:lstStyle/>
          <a:p>
            <a:pPr algn="ctr" indent="0" marL="0">
              <a:buNone/>
            </a:pPr>
            <a:r>
              <a:rPr lang="en-US" sz="950" b="1" dirty="0">
                <a:solidFill>
                  <a:srgbClr val="00704A"/>
                </a:solidFill>
                <a:latin typeface="Calibri" pitchFamily="34" charset="0"/>
                <a:ea typeface="Calibri" pitchFamily="34" charset="-122"/>
                <a:cs typeface="Calibri" pitchFamily="34" charset="-120"/>
              </a:rPr>
              <a:t>03  </a:t>
            </a:r>
            <a:pPr algn="ctr" indent="0" marL="0">
              <a:buNone/>
            </a:pPr>
            <a:r>
              <a:rPr lang="en-US" sz="950" dirty="0">
                <a:solidFill>
                  <a:srgbClr val="231F20"/>
                </a:solidFill>
                <a:latin typeface="Calibri" pitchFamily="34" charset="0"/>
                <a:ea typeface="Calibri" pitchFamily="34" charset="-122"/>
                <a:cs typeface="Calibri" pitchFamily="34" charset="-120"/>
              </a:rPr>
              <a:t>Acquérir et nettoyer</a:t>
            </a:r>
            <a:endParaRPr lang="en-US" sz="950" dirty="0"/>
          </a:p>
        </p:txBody>
      </p:sp>
      <p:sp>
        <p:nvSpPr>
          <p:cNvPr id="16" name="Shape 13"/>
          <p:cNvSpPr/>
          <p:nvPr/>
        </p:nvSpPr>
        <p:spPr>
          <a:xfrm>
            <a:off x="3099816" y="1554480"/>
            <a:ext cx="146304" cy="914"/>
          </a:xfrm>
          <a:prstGeom prst="line">
            <a:avLst/>
          </a:prstGeom>
          <a:noFill/>
          <a:ln w="15875">
            <a:solidFill>
              <a:srgbClr val="5E6964"/>
            </a:solidFill>
            <a:prstDash val="solid"/>
            <a:tailEnd type="triangle"/>
          </a:ln>
        </p:spPr>
      </p:sp>
      <p:sp>
        <p:nvSpPr>
          <p:cNvPr id="17" name="Shape 14"/>
          <p:cNvSpPr/>
          <p:nvPr/>
        </p:nvSpPr>
        <p:spPr>
          <a:xfrm>
            <a:off x="3255264" y="1325880"/>
            <a:ext cx="1234440" cy="457200"/>
          </a:xfrm>
          <a:prstGeom prst="roundRect">
            <a:avLst>
              <a:gd name="adj" fmla="val 16000"/>
            </a:avLst>
          </a:prstGeom>
          <a:solidFill>
            <a:srgbClr val="E8F5EF"/>
          </a:solidFill>
          <a:ln w="12700">
            <a:solidFill>
              <a:srgbClr val="00A86A"/>
            </a:solidFill>
            <a:prstDash val="solid"/>
          </a:ln>
        </p:spPr>
      </p:sp>
      <p:sp>
        <p:nvSpPr>
          <p:cNvPr id="18" name="Text 15"/>
          <p:cNvSpPr txBox="1"/>
          <p:nvPr/>
        </p:nvSpPr>
        <p:spPr>
          <a:xfrm>
            <a:off x="3255264" y="1325880"/>
            <a:ext cx="1234440" cy="457200"/>
          </a:xfrm>
          <a:prstGeom prst="rect">
            <a:avLst/>
          </a:prstGeom>
          <a:noFill/>
          <a:ln/>
        </p:spPr>
        <p:txBody>
          <a:bodyPr wrap="square" lIns="0" tIns="0" rIns="0" bIns="0" rtlCol="0" anchor="ctr"/>
          <a:lstStyle/>
          <a:p>
            <a:pPr algn="ctr" indent="0" marL="0">
              <a:buNone/>
            </a:pPr>
            <a:r>
              <a:rPr lang="en-US" sz="950" b="1" dirty="0">
                <a:solidFill>
                  <a:srgbClr val="00704A"/>
                </a:solidFill>
                <a:latin typeface="Calibri" pitchFamily="34" charset="0"/>
                <a:ea typeface="Calibri" pitchFamily="34" charset="-122"/>
                <a:cs typeface="Calibri" pitchFamily="34" charset="-120"/>
              </a:rPr>
              <a:t>04  </a:t>
            </a:r>
            <a:pPr algn="ctr" indent="0" marL="0">
              <a:buNone/>
            </a:pPr>
            <a:r>
              <a:rPr lang="en-US" sz="950" dirty="0">
                <a:solidFill>
                  <a:srgbClr val="231F20"/>
                </a:solidFill>
                <a:latin typeface="Calibri" pitchFamily="34" charset="0"/>
                <a:ea typeface="Calibri" pitchFamily="34" charset="-122"/>
                <a:cs typeface="Calibri" pitchFamily="34" charset="-120"/>
              </a:rPr>
              <a:t>Explorer</a:t>
            </a:r>
            <a:endParaRPr lang="en-US" sz="950" dirty="0"/>
          </a:p>
        </p:txBody>
      </p:sp>
      <p:sp>
        <p:nvSpPr>
          <p:cNvPr id="19" name="Shape 16"/>
          <p:cNvSpPr/>
          <p:nvPr/>
        </p:nvSpPr>
        <p:spPr>
          <a:xfrm>
            <a:off x="4498848" y="1554480"/>
            <a:ext cx="146304" cy="914"/>
          </a:xfrm>
          <a:prstGeom prst="line">
            <a:avLst/>
          </a:prstGeom>
          <a:noFill/>
          <a:ln w="15875">
            <a:solidFill>
              <a:srgbClr val="5E6964"/>
            </a:solidFill>
            <a:prstDash val="solid"/>
            <a:tailEnd type="triangle"/>
          </a:ln>
        </p:spPr>
      </p:sp>
      <p:sp>
        <p:nvSpPr>
          <p:cNvPr id="20" name="Shape 17"/>
          <p:cNvSpPr/>
          <p:nvPr/>
        </p:nvSpPr>
        <p:spPr>
          <a:xfrm>
            <a:off x="4654296" y="1325880"/>
            <a:ext cx="1234440" cy="457200"/>
          </a:xfrm>
          <a:prstGeom prst="roundRect">
            <a:avLst>
              <a:gd name="adj" fmla="val 16000"/>
            </a:avLst>
          </a:prstGeom>
          <a:solidFill>
            <a:srgbClr val="D49A00"/>
          </a:solidFill>
          <a:ln w="12700">
            <a:solidFill>
              <a:srgbClr val="D49A00"/>
            </a:solidFill>
            <a:prstDash val="solid"/>
          </a:ln>
        </p:spPr>
      </p:sp>
      <p:sp>
        <p:nvSpPr>
          <p:cNvPr id="21" name="Text 18"/>
          <p:cNvSpPr txBox="1"/>
          <p:nvPr/>
        </p:nvSpPr>
        <p:spPr>
          <a:xfrm>
            <a:off x="4654296" y="1325880"/>
            <a:ext cx="1234440" cy="45720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05–10  </a:t>
            </a:r>
            <a:pPr algn="ctr" indent="0" marL="0">
              <a:buNone/>
            </a:pPr>
            <a:r>
              <a:rPr lang="en-US" sz="950" dirty="0">
                <a:solidFill>
                  <a:srgbClr val="FFFFFF"/>
                </a:solidFill>
                <a:latin typeface="Calibri" pitchFamily="34" charset="0"/>
                <a:ea typeface="Calibri" pitchFamily="34" charset="-122"/>
                <a:cs typeface="Calibri" pitchFamily="34" charset="-120"/>
              </a:rPr>
              <a:t>6 scénarios</a:t>
            </a:r>
            <a:endParaRPr lang="en-US" sz="950" dirty="0"/>
          </a:p>
        </p:txBody>
      </p:sp>
      <p:sp>
        <p:nvSpPr>
          <p:cNvPr id="22" name="Shape 19"/>
          <p:cNvSpPr/>
          <p:nvPr/>
        </p:nvSpPr>
        <p:spPr>
          <a:xfrm>
            <a:off x="5897880" y="1554480"/>
            <a:ext cx="146304" cy="914"/>
          </a:xfrm>
          <a:prstGeom prst="line">
            <a:avLst/>
          </a:prstGeom>
          <a:noFill/>
          <a:ln w="15875">
            <a:solidFill>
              <a:srgbClr val="5E6964"/>
            </a:solidFill>
            <a:prstDash val="solid"/>
            <a:tailEnd type="triangle"/>
          </a:ln>
        </p:spPr>
      </p:sp>
      <p:sp>
        <p:nvSpPr>
          <p:cNvPr id="23" name="Shape 20"/>
          <p:cNvSpPr/>
          <p:nvPr/>
        </p:nvSpPr>
        <p:spPr>
          <a:xfrm>
            <a:off x="6053328" y="1325880"/>
            <a:ext cx="1234440" cy="457200"/>
          </a:xfrm>
          <a:prstGeom prst="roundRect">
            <a:avLst>
              <a:gd name="adj" fmla="val 16000"/>
            </a:avLst>
          </a:prstGeom>
          <a:solidFill>
            <a:srgbClr val="E8F5EF"/>
          </a:solidFill>
          <a:ln w="12700">
            <a:solidFill>
              <a:srgbClr val="00A86A"/>
            </a:solidFill>
            <a:prstDash val="solid"/>
          </a:ln>
        </p:spPr>
      </p:sp>
      <p:sp>
        <p:nvSpPr>
          <p:cNvPr id="24" name="Text 21"/>
          <p:cNvSpPr txBox="1"/>
          <p:nvPr/>
        </p:nvSpPr>
        <p:spPr>
          <a:xfrm>
            <a:off x="6053328" y="1325880"/>
            <a:ext cx="1234440" cy="457200"/>
          </a:xfrm>
          <a:prstGeom prst="rect">
            <a:avLst/>
          </a:prstGeom>
          <a:noFill/>
          <a:ln/>
        </p:spPr>
        <p:txBody>
          <a:bodyPr wrap="square" lIns="0" tIns="0" rIns="0" bIns="0" rtlCol="0" anchor="ctr"/>
          <a:lstStyle/>
          <a:p>
            <a:pPr algn="ctr" indent="0" marL="0">
              <a:buNone/>
            </a:pPr>
            <a:r>
              <a:rPr lang="en-US" sz="950" b="1" dirty="0">
                <a:solidFill>
                  <a:srgbClr val="00704A"/>
                </a:solidFill>
                <a:latin typeface="Calibri" pitchFamily="34" charset="0"/>
                <a:ea typeface="Calibri" pitchFamily="34" charset="-122"/>
                <a:cs typeface="Calibri" pitchFamily="34" charset="-120"/>
              </a:rPr>
              <a:t>11  </a:t>
            </a:r>
            <a:pPr algn="ctr" indent="0" marL="0">
              <a:buNone/>
            </a:pPr>
            <a:r>
              <a:rPr lang="en-US" sz="950" dirty="0">
                <a:solidFill>
                  <a:srgbClr val="231F20"/>
                </a:solidFill>
                <a:latin typeface="Calibri" pitchFamily="34" charset="0"/>
                <a:ea typeface="Calibri" pitchFamily="34" charset="-122"/>
                <a:cs typeface="Calibri" pitchFamily="34" charset="-120"/>
              </a:rPr>
              <a:t>Messages clés</a:t>
            </a:r>
            <a:endParaRPr lang="en-US" sz="950" dirty="0"/>
          </a:p>
        </p:txBody>
      </p:sp>
      <p:sp>
        <p:nvSpPr>
          <p:cNvPr id="25" name="Shape 22"/>
          <p:cNvSpPr/>
          <p:nvPr/>
        </p:nvSpPr>
        <p:spPr>
          <a:xfrm>
            <a:off x="7296912" y="1554480"/>
            <a:ext cx="146304" cy="914"/>
          </a:xfrm>
          <a:prstGeom prst="line">
            <a:avLst/>
          </a:prstGeom>
          <a:noFill/>
          <a:ln w="15875">
            <a:solidFill>
              <a:srgbClr val="5E6964"/>
            </a:solidFill>
            <a:prstDash val="solid"/>
            <a:tailEnd type="triangle"/>
          </a:ln>
        </p:spPr>
      </p:sp>
      <p:sp>
        <p:nvSpPr>
          <p:cNvPr id="26" name="Shape 23"/>
          <p:cNvSpPr/>
          <p:nvPr/>
        </p:nvSpPr>
        <p:spPr>
          <a:xfrm>
            <a:off x="7452360" y="1325880"/>
            <a:ext cx="1234440" cy="457200"/>
          </a:xfrm>
          <a:prstGeom prst="roundRect">
            <a:avLst>
              <a:gd name="adj" fmla="val 16000"/>
            </a:avLst>
          </a:prstGeom>
          <a:solidFill>
            <a:srgbClr val="E8F5EF"/>
          </a:solidFill>
          <a:ln w="12700">
            <a:solidFill>
              <a:srgbClr val="00A86A"/>
            </a:solidFill>
            <a:prstDash val="solid"/>
          </a:ln>
        </p:spPr>
      </p:sp>
      <p:sp>
        <p:nvSpPr>
          <p:cNvPr id="27" name="Text 24"/>
          <p:cNvSpPr txBox="1"/>
          <p:nvPr/>
        </p:nvSpPr>
        <p:spPr>
          <a:xfrm>
            <a:off x="7452360" y="1325880"/>
            <a:ext cx="1234440" cy="457200"/>
          </a:xfrm>
          <a:prstGeom prst="rect">
            <a:avLst/>
          </a:prstGeom>
          <a:noFill/>
          <a:ln/>
        </p:spPr>
        <p:txBody>
          <a:bodyPr wrap="square" lIns="0" tIns="0" rIns="0" bIns="0" rtlCol="0" anchor="ctr"/>
          <a:lstStyle/>
          <a:p>
            <a:pPr algn="ctr" indent="0" marL="0">
              <a:buNone/>
            </a:pPr>
            <a:r>
              <a:rPr lang="en-US" sz="950" b="1" dirty="0">
                <a:solidFill>
                  <a:srgbClr val="00704A"/>
                </a:solidFill>
                <a:latin typeface="Calibri" pitchFamily="34" charset="0"/>
                <a:ea typeface="Calibri" pitchFamily="34" charset="-122"/>
                <a:cs typeface="Calibri" pitchFamily="34" charset="-120"/>
              </a:rPr>
              <a:t>12–13  </a:t>
            </a:r>
            <a:pPr algn="ctr" indent="0" marL="0">
              <a:buNone/>
            </a:pPr>
            <a:r>
              <a:rPr lang="en-US" sz="950" dirty="0">
                <a:solidFill>
                  <a:srgbClr val="231F20"/>
                </a:solidFill>
                <a:latin typeface="Calibri" pitchFamily="34" charset="0"/>
                <a:ea typeface="Calibri" pitchFamily="34" charset="-122"/>
                <a:cs typeface="Calibri" pitchFamily="34" charset="-120"/>
              </a:rPr>
              <a:t>Exporter et publier</a:t>
            </a:r>
            <a:endParaRPr lang="en-US" sz="950" dirty="0"/>
          </a:p>
        </p:txBody>
      </p:sp>
      <p:sp>
        <p:nvSpPr>
          <p:cNvPr id="28" name="Shape 25"/>
          <p:cNvSpPr/>
          <p:nvPr/>
        </p:nvSpPr>
        <p:spPr>
          <a:xfrm>
            <a:off x="457200" y="1965960"/>
            <a:ext cx="2606040" cy="1188720"/>
          </a:xfrm>
          <a:prstGeom prst="roundRect">
            <a:avLst>
              <a:gd name="adj" fmla="val 6154"/>
            </a:avLst>
          </a:prstGeom>
          <a:solidFill>
            <a:srgbClr val="F4F7F5"/>
          </a:solidFill>
          <a:ln w="9525">
            <a:solidFill>
              <a:srgbClr val="D5DED9"/>
            </a:solidFill>
            <a:prstDash val="solid"/>
          </a:ln>
        </p:spPr>
      </p:sp>
      <p:sp>
        <p:nvSpPr>
          <p:cNvPr id="29" name="Shape 26"/>
          <p:cNvSpPr/>
          <p:nvPr/>
        </p:nvSpPr>
        <p:spPr>
          <a:xfrm>
            <a:off x="585216" y="2093976"/>
            <a:ext cx="420624" cy="420624"/>
          </a:xfrm>
          <a:prstGeom prst="ellipse">
            <a:avLst/>
          </a:prstGeom>
          <a:solidFill>
            <a:srgbClr val="D49A00">
              <a:alpha val="22000"/>
            </a:srgbClr>
          </a:solidFill>
          <a:ln w="12700">
            <a:solidFill>
              <a:srgbClr val="D49A00">
                <a:alpha val="0"/>
              </a:srgbClr>
            </a:solidFill>
            <a:prstDash val="solid"/>
          </a:ln>
        </p:spPr>
      </p:sp>
      <p:pic>
        <p:nvPicPr>
          <p:cNvPr id="30" name="Image 0" descr="preencoded.png">    </p:cNvPr>
          <p:cNvPicPr>
            <a:picLocks noChangeAspect="1"/>
          </p:cNvPicPr>
          <p:nvPr/>
        </p:nvPicPr>
        <p:blipFill>
          <a:blip r:embed="rId1"/>
          <a:stretch>
            <a:fillRect/>
          </a:stretch>
        </p:blipFill>
        <p:spPr>
          <a:xfrm>
            <a:off x="686166" y="2194926"/>
            <a:ext cx="218724" cy="218724"/>
          </a:xfrm>
          <a:prstGeom prst="rect">
            <a:avLst/>
          </a:prstGeom>
        </p:spPr>
      </p:pic>
      <p:sp>
        <p:nvSpPr>
          <p:cNvPr id="31" name="Text 27"/>
          <p:cNvSpPr txBox="1"/>
          <p:nvPr/>
        </p:nvSpPr>
        <p:spPr>
          <a:xfrm>
            <a:off x="1097280" y="2075688"/>
            <a:ext cx="1920240" cy="228600"/>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S1 · Dynamique temporelle</a:t>
            </a:r>
            <a:endParaRPr lang="en-US" sz="1150" dirty="0"/>
          </a:p>
        </p:txBody>
      </p:sp>
      <p:sp>
        <p:nvSpPr>
          <p:cNvPr id="32" name="Text 28"/>
          <p:cNvSpPr txBox="1"/>
          <p:nvPr/>
        </p:nvSpPr>
        <p:spPr>
          <a:xfrm>
            <a:off x="1097280" y="2295144"/>
            <a:ext cx="1920240" cy="329184"/>
          </a:xfrm>
          <a:prstGeom prst="rect">
            <a:avLst/>
          </a:prstGeom>
          <a:noFill/>
          <a:ln/>
        </p:spPr>
        <p:txBody>
          <a:bodyPr wrap="square" lIns="0" tIns="0" rIns="0" bIns="0" rtlCol="0" anchor="t"/>
          <a:lstStyle/>
          <a:p>
            <a:pPr indent="0" marL="0">
              <a:buNone/>
            </a:pPr>
            <a:r>
              <a:rPr lang="en-US" sz="950" i="1" dirty="0">
                <a:solidFill>
                  <a:srgbClr val="D49A00"/>
                </a:solidFill>
                <a:latin typeface="Calibri" pitchFamily="34" charset="0"/>
                <a:ea typeface="Calibri" pitchFamily="34" charset="-122"/>
                <a:cs typeface="Calibri" pitchFamily="34" charset="-120"/>
              </a:rPr>
              <a:t>L'activité progresse-t-elle, et à quel rythme ?</a:t>
            </a:r>
            <a:endParaRPr lang="en-US" sz="950" dirty="0"/>
          </a:p>
        </p:txBody>
      </p:sp>
      <p:sp>
        <p:nvSpPr>
          <p:cNvPr id="33" name="Text 29"/>
          <p:cNvSpPr txBox="1"/>
          <p:nvPr/>
        </p:nvSpPr>
        <p:spPr>
          <a:xfrm>
            <a:off x="585216" y="2660904"/>
            <a:ext cx="2377440" cy="457200"/>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Série désaisonnalisée · glissement annuel · tendance %/an · anomalies · ruptures</a:t>
            </a:r>
            <a:endParaRPr lang="en-US" sz="900" dirty="0"/>
          </a:p>
        </p:txBody>
      </p:sp>
      <p:sp>
        <p:nvSpPr>
          <p:cNvPr id="34" name="Shape 30"/>
          <p:cNvSpPr/>
          <p:nvPr/>
        </p:nvSpPr>
        <p:spPr>
          <a:xfrm>
            <a:off x="3246120" y="1965960"/>
            <a:ext cx="2606040" cy="1188720"/>
          </a:xfrm>
          <a:prstGeom prst="roundRect">
            <a:avLst>
              <a:gd name="adj" fmla="val 6154"/>
            </a:avLst>
          </a:prstGeom>
          <a:solidFill>
            <a:srgbClr val="F4F7F5"/>
          </a:solidFill>
          <a:ln w="9525">
            <a:solidFill>
              <a:srgbClr val="D5DED9"/>
            </a:solidFill>
            <a:prstDash val="solid"/>
          </a:ln>
        </p:spPr>
      </p:sp>
      <p:sp>
        <p:nvSpPr>
          <p:cNvPr id="35" name="Shape 31"/>
          <p:cNvSpPr/>
          <p:nvPr/>
        </p:nvSpPr>
        <p:spPr>
          <a:xfrm>
            <a:off x="3374136" y="2093976"/>
            <a:ext cx="420624" cy="420624"/>
          </a:xfrm>
          <a:prstGeom prst="ellipse">
            <a:avLst/>
          </a:prstGeom>
          <a:solidFill>
            <a:srgbClr val="D49A00">
              <a:alpha val="22000"/>
            </a:srgbClr>
          </a:solidFill>
          <a:ln w="12700">
            <a:solidFill>
              <a:srgbClr val="D49A00">
                <a:alpha val="0"/>
              </a:srgbClr>
            </a:solidFill>
            <a:prstDash val="solid"/>
          </a:ln>
        </p:spPr>
      </p:sp>
      <p:pic>
        <p:nvPicPr>
          <p:cNvPr id="36" name="Image 1" descr="preencoded.png">    </p:cNvPr>
          <p:cNvPicPr>
            <a:picLocks noChangeAspect="1"/>
          </p:cNvPicPr>
          <p:nvPr/>
        </p:nvPicPr>
        <p:blipFill>
          <a:blip r:embed="rId2"/>
          <a:stretch>
            <a:fillRect/>
          </a:stretch>
        </p:blipFill>
        <p:spPr>
          <a:xfrm>
            <a:off x="3475086" y="2194926"/>
            <a:ext cx="218724" cy="218724"/>
          </a:xfrm>
          <a:prstGeom prst="rect">
            <a:avLst/>
          </a:prstGeom>
        </p:spPr>
      </p:pic>
      <p:sp>
        <p:nvSpPr>
          <p:cNvPr id="37" name="Text 32"/>
          <p:cNvSpPr txBox="1"/>
          <p:nvPr/>
        </p:nvSpPr>
        <p:spPr>
          <a:xfrm>
            <a:off x="3886200" y="2075688"/>
            <a:ext cx="1920240" cy="228600"/>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S2 · Croissance régionale</a:t>
            </a:r>
            <a:endParaRPr lang="en-US" sz="1150" dirty="0"/>
          </a:p>
        </p:txBody>
      </p:sp>
      <p:sp>
        <p:nvSpPr>
          <p:cNvPr id="38" name="Text 33"/>
          <p:cNvSpPr txBox="1"/>
          <p:nvPr/>
        </p:nvSpPr>
        <p:spPr>
          <a:xfrm>
            <a:off x="3886200" y="2295144"/>
            <a:ext cx="1920240" cy="329184"/>
          </a:xfrm>
          <a:prstGeom prst="rect">
            <a:avLst/>
          </a:prstGeom>
          <a:noFill/>
          <a:ln/>
        </p:spPr>
        <p:txBody>
          <a:bodyPr wrap="square" lIns="0" tIns="0" rIns="0" bIns="0" rtlCol="0" anchor="t"/>
          <a:lstStyle/>
          <a:p>
            <a:pPr indent="0" marL="0">
              <a:buNone/>
            </a:pPr>
            <a:r>
              <a:rPr lang="en-US" sz="950" i="1" dirty="0">
                <a:solidFill>
                  <a:srgbClr val="D49A00"/>
                </a:solidFill>
                <a:latin typeface="Calibri" pitchFamily="34" charset="0"/>
                <a:ea typeface="Calibri" pitchFamily="34" charset="-122"/>
                <a:cs typeface="Calibri" pitchFamily="34" charset="-120"/>
              </a:rPr>
              <a:t>Quelles régions croissent, et convergent-elles ?</a:t>
            </a:r>
            <a:endParaRPr lang="en-US" sz="950" dirty="0"/>
          </a:p>
        </p:txBody>
      </p:sp>
      <p:sp>
        <p:nvSpPr>
          <p:cNvPr id="39" name="Text 34"/>
          <p:cNvSpPr txBox="1"/>
          <p:nvPr/>
        </p:nvSpPr>
        <p:spPr>
          <a:xfrm>
            <a:off x="3374136" y="2660904"/>
            <a:ext cx="2377440" cy="457200"/>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Classe de croissance · parts top 1 / top 10 % · HHI · convergence β et σ</a:t>
            </a:r>
            <a:endParaRPr lang="en-US" sz="900" dirty="0"/>
          </a:p>
        </p:txBody>
      </p:sp>
      <p:sp>
        <p:nvSpPr>
          <p:cNvPr id="40" name="Shape 35"/>
          <p:cNvSpPr/>
          <p:nvPr/>
        </p:nvSpPr>
        <p:spPr>
          <a:xfrm>
            <a:off x="6035040" y="1965960"/>
            <a:ext cx="2606040" cy="1188720"/>
          </a:xfrm>
          <a:prstGeom prst="roundRect">
            <a:avLst>
              <a:gd name="adj" fmla="val 6154"/>
            </a:avLst>
          </a:prstGeom>
          <a:solidFill>
            <a:srgbClr val="F4F7F5"/>
          </a:solidFill>
          <a:ln w="9525">
            <a:solidFill>
              <a:srgbClr val="D5DED9"/>
            </a:solidFill>
            <a:prstDash val="solid"/>
          </a:ln>
        </p:spPr>
      </p:sp>
      <p:sp>
        <p:nvSpPr>
          <p:cNvPr id="41" name="Shape 36"/>
          <p:cNvSpPr/>
          <p:nvPr/>
        </p:nvSpPr>
        <p:spPr>
          <a:xfrm>
            <a:off x="6163056" y="2093976"/>
            <a:ext cx="420624" cy="420624"/>
          </a:xfrm>
          <a:prstGeom prst="ellipse">
            <a:avLst/>
          </a:prstGeom>
          <a:solidFill>
            <a:srgbClr val="D49A00">
              <a:alpha val="22000"/>
            </a:srgbClr>
          </a:solidFill>
          <a:ln w="12700">
            <a:solidFill>
              <a:srgbClr val="D49A00">
                <a:alpha val="0"/>
              </a:srgbClr>
            </a:solidFill>
            <a:prstDash val="solid"/>
          </a:ln>
        </p:spPr>
      </p:sp>
      <p:pic>
        <p:nvPicPr>
          <p:cNvPr id="42" name="Image 2" descr="preencoded.png">    </p:cNvPr>
          <p:cNvPicPr>
            <a:picLocks noChangeAspect="1"/>
          </p:cNvPicPr>
          <p:nvPr/>
        </p:nvPicPr>
        <p:blipFill>
          <a:blip r:embed="rId3"/>
          <a:stretch>
            <a:fillRect/>
          </a:stretch>
        </p:blipFill>
        <p:spPr>
          <a:xfrm>
            <a:off x="6264006" y="2194926"/>
            <a:ext cx="218724" cy="218724"/>
          </a:xfrm>
          <a:prstGeom prst="rect">
            <a:avLst/>
          </a:prstGeom>
        </p:spPr>
      </p:pic>
      <p:sp>
        <p:nvSpPr>
          <p:cNvPr id="43" name="Text 37"/>
          <p:cNvSpPr txBox="1"/>
          <p:nvPr/>
        </p:nvSpPr>
        <p:spPr>
          <a:xfrm>
            <a:off x="6675120" y="2075688"/>
            <a:ext cx="1920240" cy="228600"/>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S3 · Lumières et PIB</a:t>
            </a:r>
            <a:endParaRPr lang="en-US" sz="1150" dirty="0"/>
          </a:p>
        </p:txBody>
      </p:sp>
      <p:sp>
        <p:nvSpPr>
          <p:cNvPr id="44" name="Text 38"/>
          <p:cNvSpPr txBox="1"/>
          <p:nvPr/>
        </p:nvSpPr>
        <p:spPr>
          <a:xfrm>
            <a:off x="6675120" y="2295144"/>
            <a:ext cx="1920240" cy="329184"/>
          </a:xfrm>
          <a:prstGeom prst="rect">
            <a:avLst/>
          </a:prstGeom>
          <a:noFill/>
          <a:ln/>
        </p:spPr>
        <p:txBody>
          <a:bodyPr wrap="square" lIns="0" tIns="0" rIns="0" bIns="0" rtlCol="0" anchor="t"/>
          <a:lstStyle/>
          <a:p>
            <a:pPr indent="0" marL="0">
              <a:buNone/>
            </a:pPr>
            <a:r>
              <a:rPr lang="en-US" sz="950" i="1" dirty="0">
                <a:solidFill>
                  <a:srgbClr val="D49A00"/>
                </a:solidFill>
                <a:latin typeface="Calibri" pitchFamily="34" charset="0"/>
                <a:ea typeface="Calibri" pitchFamily="34" charset="-122"/>
                <a:cs typeface="Calibri" pitchFamily="34" charset="-120"/>
              </a:rPr>
              <a:t>Les lumières suivent-elles le PIB, et comblent-elles les manques ?</a:t>
            </a:r>
            <a:endParaRPr lang="en-US" sz="950" dirty="0"/>
          </a:p>
        </p:txBody>
      </p:sp>
      <p:sp>
        <p:nvSpPr>
          <p:cNvPr id="45" name="Text 39"/>
          <p:cNvSpPr txBox="1"/>
          <p:nvPr/>
        </p:nvSpPr>
        <p:spPr>
          <a:xfrm>
            <a:off x="6163056" y="2660904"/>
            <a:ext cx="2377440" cy="457200"/>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Élasticité β · prévision · MAE vs naïf · PIB régional</a:t>
            </a:r>
            <a:endParaRPr lang="en-US" sz="900" dirty="0"/>
          </a:p>
        </p:txBody>
      </p:sp>
      <p:sp>
        <p:nvSpPr>
          <p:cNvPr id="46" name="Shape 40"/>
          <p:cNvSpPr/>
          <p:nvPr/>
        </p:nvSpPr>
        <p:spPr>
          <a:xfrm>
            <a:off x="457200" y="3264408"/>
            <a:ext cx="2606040" cy="1188720"/>
          </a:xfrm>
          <a:prstGeom prst="roundRect">
            <a:avLst>
              <a:gd name="adj" fmla="val 6154"/>
            </a:avLst>
          </a:prstGeom>
          <a:solidFill>
            <a:srgbClr val="F4F7F5"/>
          </a:solidFill>
          <a:ln w="9525">
            <a:solidFill>
              <a:srgbClr val="D5DED9"/>
            </a:solidFill>
            <a:prstDash val="solid"/>
          </a:ln>
        </p:spPr>
      </p:sp>
      <p:sp>
        <p:nvSpPr>
          <p:cNvPr id="47" name="Shape 41"/>
          <p:cNvSpPr/>
          <p:nvPr/>
        </p:nvSpPr>
        <p:spPr>
          <a:xfrm>
            <a:off x="585216" y="3392424"/>
            <a:ext cx="420624" cy="420624"/>
          </a:xfrm>
          <a:prstGeom prst="ellipse">
            <a:avLst/>
          </a:prstGeom>
          <a:solidFill>
            <a:srgbClr val="D49A00">
              <a:alpha val="22000"/>
            </a:srgbClr>
          </a:solidFill>
          <a:ln w="12700">
            <a:solidFill>
              <a:srgbClr val="D49A00">
                <a:alpha val="0"/>
              </a:srgbClr>
            </a:solidFill>
            <a:prstDash val="solid"/>
          </a:ln>
        </p:spPr>
      </p:sp>
      <p:pic>
        <p:nvPicPr>
          <p:cNvPr id="48" name="Image 3" descr="preencoded.png">    </p:cNvPr>
          <p:cNvPicPr>
            <a:picLocks noChangeAspect="1"/>
          </p:cNvPicPr>
          <p:nvPr/>
        </p:nvPicPr>
        <p:blipFill>
          <a:blip r:embed="rId4"/>
          <a:stretch>
            <a:fillRect/>
          </a:stretch>
        </p:blipFill>
        <p:spPr>
          <a:xfrm>
            <a:off x="686166" y="3493374"/>
            <a:ext cx="218724" cy="218724"/>
          </a:xfrm>
          <a:prstGeom prst="rect">
            <a:avLst/>
          </a:prstGeom>
        </p:spPr>
      </p:pic>
      <p:sp>
        <p:nvSpPr>
          <p:cNvPr id="49" name="Text 42"/>
          <p:cNvSpPr txBox="1"/>
          <p:nvPr/>
        </p:nvSpPr>
        <p:spPr>
          <a:xfrm>
            <a:off x="1097280" y="3374136"/>
            <a:ext cx="1920240" cy="228600"/>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S4 · Chocs</a:t>
            </a:r>
            <a:endParaRPr lang="en-US" sz="1150" dirty="0"/>
          </a:p>
        </p:txBody>
      </p:sp>
      <p:sp>
        <p:nvSpPr>
          <p:cNvPr id="50" name="Text 43"/>
          <p:cNvSpPr txBox="1"/>
          <p:nvPr/>
        </p:nvSpPr>
        <p:spPr>
          <a:xfrm>
            <a:off x="1097280" y="3593592"/>
            <a:ext cx="1920240" cy="329184"/>
          </a:xfrm>
          <a:prstGeom prst="rect">
            <a:avLst/>
          </a:prstGeom>
          <a:noFill/>
          <a:ln/>
        </p:spPr>
        <p:txBody>
          <a:bodyPr wrap="square" lIns="0" tIns="0" rIns="0" bIns="0" rtlCol="0" anchor="t"/>
          <a:lstStyle/>
          <a:p>
            <a:pPr indent="0" marL="0">
              <a:buNone/>
            </a:pPr>
            <a:r>
              <a:rPr lang="en-US" sz="950" i="1" dirty="0">
                <a:solidFill>
                  <a:srgbClr val="D49A00"/>
                </a:solidFill>
                <a:latin typeface="Calibri" pitchFamily="34" charset="0"/>
                <a:ea typeface="Calibri" pitchFamily="34" charset="-122"/>
                <a:cs typeface="Calibri" pitchFamily="34" charset="-120"/>
              </a:rPr>
              <a:t>Quelle profondeur du choc, quelle vitesse de reprise ?</a:t>
            </a:r>
            <a:endParaRPr lang="en-US" sz="950" dirty="0"/>
          </a:p>
        </p:txBody>
      </p:sp>
      <p:sp>
        <p:nvSpPr>
          <p:cNvPr id="51" name="Text 44"/>
          <p:cNvSpPr txBox="1"/>
          <p:nvPr/>
        </p:nvSpPr>
        <p:spPr>
          <a:xfrm>
            <a:off x="585216" y="3959352"/>
            <a:ext cx="2377440" cy="457200"/>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Creux % · écart à la tendance · mois de reprise · placebo · indice quotidien</a:t>
            </a:r>
            <a:endParaRPr lang="en-US" sz="900" dirty="0"/>
          </a:p>
        </p:txBody>
      </p:sp>
      <p:sp>
        <p:nvSpPr>
          <p:cNvPr id="52" name="Shape 45"/>
          <p:cNvSpPr/>
          <p:nvPr/>
        </p:nvSpPr>
        <p:spPr>
          <a:xfrm>
            <a:off x="3246120" y="3264408"/>
            <a:ext cx="2606040" cy="1188720"/>
          </a:xfrm>
          <a:prstGeom prst="roundRect">
            <a:avLst>
              <a:gd name="adj" fmla="val 6154"/>
            </a:avLst>
          </a:prstGeom>
          <a:solidFill>
            <a:srgbClr val="F4F7F5"/>
          </a:solidFill>
          <a:ln w="9525">
            <a:solidFill>
              <a:srgbClr val="D5DED9"/>
            </a:solidFill>
            <a:prstDash val="solid"/>
          </a:ln>
        </p:spPr>
      </p:sp>
      <p:sp>
        <p:nvSpPr>
          <p:cNvPr id="53" name="Shape 46"/>
          <p:cNvSpPr/>
          <p:nvPr/>
        </p:nvSpPr>
        <p:spPr>
          <a:xfrm>
            <a:off x="3374136" y="3392424"/>
            <a:ext cx="420624" cy="420624"/>
          </a:xfrm>
          <a:prstGeom prst="ellipse">
            <a:avLst/>
          </a:prstGeom>
          <a:solidFill>
            <a:srgbClr val="D49A00">
              <a:alpha val="22000"/>
            </a:srgbClr>
          </a:solidFill>
          <a:ln w="12700">
            <a:solidFill>
              <a:srgbClr val="D49A00">
                <a:alpha val="0"/>
              </a:srgbClr>
            </a:solidFill>
            <a:prstDash val="solid"/>
          </a:ln>
        </p:spPr>
      </p:sp>
      <p:pic>
        <p:nvPicPr>
          <p:cNvPr id="54" name="Image 4" descr="preencoded.png">    </p:cNvPr>
          <p:cNvPicPr>
            <a:picLocks noChangeAspect="1"/>
          </p:cNvPicPr>
          <p:nvPr/>
        </p:nvPicPr>
        <p:blipFill>
          <a:blip r:embed="rId5"/>
          <a:stretch>
            <a:fillRect/>
          </a:stretch>
        </p:blipFill>
        <p:spPr>
          <a:xfrm>
            <a:off x="3475086" y="3493374"/>
            <a:ext cx="218724" cy="218724"/>
          </a:xfrm>
          <a:prstGeom prst="rect">
            <a:avLst/>
          </a:prstGeom>
        </p:spPr>
      </p:pic>
      <p:sp>
        <p:nvSpPr>
          <p:cNvPr id="55" name="Text 47"/>
          <p:cNvSpPr txBox="1"/>
          <p:nvPr/>
        </p:nvSpPr>
        <p:spPr>
          <a:xfrm>
            <a:off x="3886200" y="3374136"/>
            <a:ext cx="1920240" cy="228600"/>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S5 · Inégalités et accès</a:t>
            </a:r>
            <a:endParaRPr lang="en-US" sz="1150" dirty="0"/>
          </a:p>
        </p:txBody>
      </p:sp>
      <p:sp>
        <p:nvSpPr>
          <p:cNvPr id="56" name="Text 48"/>
          <p:cNvSpPr txBox="1"/>
          <p:nvPr/>
        </p:nvSpPr>
        <p:spPr>
          <a:xfrm>
            <a:off x="3886200" y="3593592"/>
            <a:ext cx="1920240" cy="329184"/>
          </a:xfrm>
          <a:prstGeom prst="rect">
            <a:avLst/>
          </a:prstGeom>
          <a:noFill/>
          <a:ln/>
        </p:spPr>
        <p:txBody>
          <a:bodyPr wrap="square" lIns="0" tIns="0" rIns="0" bIns="0" rtlCol="0" anchor="t"/>
          <a:lstStyle/>
          <a:p>
            <a:pPr indent="0" marL="0">
              <a:buNone/>
            </a:pPr>
            <a:r>
              <a:rPr lang="en-US" sz="950" i="1" dirty="0">
                <a:solidFill>
                  <a:srgbClr val="D49A00"/>
                </a:solidFill>
                <a:latin typeface="Calibri" pitchFamily="34" charset="0"/>
                <a:ea typeface="Calibri" pitchFamily="34" charset="-122"/>
                <a:cs typeface="Calibri" pitchFamily="34" charset="-120"/>
              </a:rPr>
              <a:t>Quelle inégalité de lumière, et qui vit dans le noir ?</a:t>
            </a:r>
            <a:endParaRPr lang="en-US" sz="950" dirty="0"/>
          </a:p>
        </p:txBody>
      </p:sp>
      <p:sp>
        <p:nvSpPr>
          <p:cNvPr id="57" name="Text 49"/>
          <p:cNvSpPr txBox="1"/>
          <p:nvPr/>
        </p:nvSpPr>
        <p:spPr>
          <a:xfrm>
            <a:off x="3374136" y="3959352"/>
            <a:ext cx="2377440" cy="457200"/>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Gini · Lorenz · Theil T · ratio urbain/rural · population dans le noir</a:t>
            </a:r>
            <a:endParaRPr lang="en-US" sz="900" dirty="0"/>
          </a:p>
        </p:txBody>
      </p:sp>
      <p:sp>
        <p:nvSpPr>
          <p:cNvPr id="58" name="Shape 50"/>
          <p:cNvSpPr/>
          <p:nvPr/>
        </p:nvSpPr>
        <p:spPr>
          <a:xfrm>
            <a:off x="6035040" y="3264408"/>
            <a:ext cx="2606040" cy="1188720"/>
          </a:xfrm>
          <a:prstGeom prst="roundRect">
            <a:avLst>
              <a:gd name="adj" fmla="val 6154"/>
            </a:avLst>
          </a:prstGeom>
          <a:solidFill>
            <a:srgbClr val="F4F7F5"/>
          </a:solidFill>
          <a:ln w="9525">
            <a:solidFill>
              <a:srgbClr val="D5DED9"/>
            </a:solidFill>
            <a:prstDash val="solid"/>
          </a:ln>
        </p:spPr>
      </p:sp>
      <p:sp>
        <p:nvSpPr>
          <p:cNvPr id="59" name="Shape 51"/>
          <p:cNvSpPr/>
          <p:nvPr/>
        </p:nvSpPr>
        <p:spPr>
          <a:xfrm>
            <a:off x="6163056" y="3392424"/>
            <a:ext cx="420624" cy="420624"/>
          </a:xfrm>
          <a:prstGeom prst="ellipse">
            <a:avLst/>
          </a:prstGeom>
          <a:solidFill>
            <a:srgbClr val="D49A00">
              <a:alpha val="22000"/>
            </a:srgbClr>
          </a:solidFill>
          <a:ln w="12700">
            <a:solidFill>
              <a:srgbClr val="D49A00">
                <a:alpha val="0"/>
              </a:srgbClr>
            </a:solidFill>
            <a:prstDash val="solid"/>
          </a:ln>
        </p:spPr>
      </p:sp>
      <p:pic>
        <p:nvPicPr>
          <p:cNvPr id="60" name="Image 5" descr="preencoded.png">    </p:cNvPr>
          <p:cNvPicPr>
            <a:picLocks noChangeAspect="1"/>
          </p:cNvPicPr>
          <p:nvPr/>
        </p:nvPicPr>
        <p:blipFill>
          <a:blip r:embed="rId6"/>
          <a:stretch>
            <a:fillRect/>
          </a:stretch>
        </p:blipFill>
        <p:spPr>
          <a:xfrm>
            <a:off x="6264006" y="3493374"/>
            <a:ext cx="218724" cy="218724"/>
          </a:xfrm>
          <a:prstGeom prst="rect">
            <a:avLst/>
          </a:prstGeom>
        </p:spPr>
      </p:pic>
      <p:sp>
        <p:nvSpPr>
          <p:cNvPr id="61" name="Text 52"/>
          <p:cNvSpPr txBox="1"/>
          <p:nvPr/>
        </p:nvSpPr>
        <p:spPr>
          <a:xfrm>
            <a:off x="6675120" y="3374136"/>
            <a:ext cx="1920240" cy="228600"/>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S6 · Zones industrielles</a:t>
            </a:r>
            <a:endParaRPr lang="en-US" sz="1150" dirty="0"/>
          </a:p>
        </p:txBody>
      </p:sp>
      <p:sp>
        <p:nvSpPr>
          <p:cNvPr id="62" name="Text 53"/>
          <p:cNvSpPr txBox="1"/>
          <p:nvPr/>
        </p:nvSpPr>
        <p:spPr>
          <a:xfrm>
            <a:off x="6675120" y="3593592"/>
            <a:ext cx="1920240" cy="329184"/>
          </a:xfrm>
          <a:prstGeom prst="rect">
            <a:avLst/>
          </a:prstGeom>
          <a:noFill/>
          <a:ln/>
        </p:spPr>
        <p:txBody>
          <a:bodyPr wrap="square" lIns="0" tIns="0" rIns="0" bIns="0" rtlCol="0" anchor="t"/>
          <a:lstStyle/>
          <a:p>
            <a:pPr indent="0" marL="0">
              <a:buNone/>
            </a:pPr>
            <a:r>
              <a:rPr lang="en-US" sz="950" i="1" dirty="0">
                <a:solidFill>
                  <a:srgbClr val="D49A00"/>
                </a:solidFill>
                <a:latin typeface="Calibri" pitchFamily="34" charset="0"/>
                <a:ea typeface="Calibri" pitchFamily="34" charset="-122"/>
                <a:cs typeface="Calibri" pitchFamily="34" charset="-120"/>
              </a:rPr>
              <a:t>Où le pays produit-il ?</a:t>
            </a:r>
            <a:endParaRPr lang="en-US" sz="950" dirty="0"/>
          </a:p>
        </p:txBody>
      </p:sp>
      <p:sp>
        <p:nvSpPr>
          <p:cNvPr id="63" name="Text 54"/>
          <p:cNvSpPr txBox="1"/>
          <p:nvPr/>
        </p:nvSpPr>
        <p:spPr>
          <a:xfrm>
            <a:off x="6163056" y="3959352"/>
            <a:ext cx="2377440" cy="457200"/>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Score industriel · part et tendance des zones · précision / rappel vs OSM</a:t>
            </a:r>
            <a:endParaRPr lang="en-US" sz="9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8A9590"/>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3"/>
          <p:cNvSpPr/>
          <p:nvPr>
            <p:ph idx="105" type="body" hasCustomPrompt="1"/>
          </p:nvPr>
        </p:nvSpPr>
        <p:spPr>
          <a:xfrm>
            <a:off x="457200" y="274320"/>
            <a:ext cx="6217920" cy="256032"/>
          </a:xfrm>
          <a:prstGeom prst="rect">
            <a:avLst/>
          </a:prstGeom>
          <a:noFill/>
          <a:ln/>
        </p:spPr>
        <p:txBody>
          <a:bodyPr wrap="square" lIns="0" tIns="0" rIns="0" bIns="0" rtlCol="0" anchor="ctr"/>
          <a:lstStyle/>
          <a:p>
            <a:pPr algn="l" indent="0" marL="0">
              <a:buNone/>
            </a:pPr>
            <a:r>
              <a:rPr lang="en-US" sz="1050" b="1" spc="300" kern="0" dirty="0">
                <a:solidFill>
                  <a:srgbClr val="00704A"/>
                </a:solidFill>
                <a:latin typeface="Calibri" pitchFamily="34" charset="0"/>
                <a:ea typeface="Calibri" pitchFamily="34" charset="-122"/>
                <a:cs typeface="Calibri" pitchFamily="34" charset="-120"/>
              </a:rPr>
              <a:t>04 · ANALYSER · DONNÉES (1/3)</a:t>
            </a:r>
            <a:endParaRPr lang="en-US" sz="1050" dirty="0"/>
          </a:p>
        </p:txBody>
      </p:sp>
      <p:sp>
        <p:nvSpPr>
          <p:cNvPr id="3" name="Text 3"/>
          <p:cNvSpPr/>
          <p:nvPr>
            <p:ph idx="106" type="title" hasCustomPrompt="1"/>
          </p:nvPr>
        </p:nvSpPr>
        <p:spPr>
          <a:xfrm>
            <a:off x="457200" y="548640"/>
            <a:ext cx="8229600" cy="566928"/>
          </a:xfrm>
          <a:prstGeom prst="rect">
            <a:avLst/>
          </a:prstGeom>
          <a:noFill/>
          <a:ln/>
        </p:spPr>
        <p:txBody>
          <a:bodyPr wrap="square" lIns="0" tIns="0" rIns="0" bIns="0" rtlCol="0" anchor="ctr"/>
          <a:lstStyle/>
          <a:p>
            <a:pPr algn="l" indent="0" marL="0">
              <a:buNone/>
            </a:pPr>
            <a:r>
              <a:rPr lang="en-US" sz="2800" b="1" dirty="0">
                <a:solidFill>
                  <a:srgbClr val="231F20"/>
                </a:solidFill>
                <a:latin typeface="Calibri" pitchFamily="34" charset="0"/>
                <a:ea typeface="Calibri" pitchFamily="34" charset="-122"/>
                <a:cs typeface="Calibri" pitchFamily="34" charset="-120"/>
              </a:rPr>
              <a:t>Données de lumière : quatre produits, quatre rôles</a:t>
            </a:r>
            <a:endParaRPr lang="en-US" sz="2800" dirty="0"/>
          </a:p>
        </p:txBody>
      </p:sp>
      <p:sp>
        <p:nvSpPr>
          <p:cNvPr id="4" name="dot0"/>
          <p:cNvSpPr/>
          <p:nvPr/>
        </p:nvSpPr>
        <p:spPr>
          <a:xfrm>
            <a:off x="7644384" y="338328"/>
            <a:ext cx="100584" cy="100584"/>
          </a:xfrm>
          <a:prstGeom prst="ellipse">
            <a:avLst/>
          </a:prstGeom>
          <a:solidFill>
            <a:srgbClr val="D5DED9"/>
          </a:solidFill>
          <a:ln w="12700">
            <a:solidFill>
              <a:srgbClr val="D5DED9"/>
            </a:solidFill>
            <a:prstDash val="solid"/>
          </a:ln>
        </p:spPr>
      </p:sp>
      <p:sp>
        <p:nvSpPr>
          <p:cNvPr id="5" name="dot1"/>
          <p:cNvSpPr/>
          <p:nvPr/>
        </p:nvSpPr>
        <p:spPr>
          <a:xfrm>
            <a:off x="7818120" y="338328"/>
            <a:ext cx="100584" cy="100584"/>
          </a:xfrm>
          <a:prstGeom prst="ellipse">
            <a:avLst/>
          </a:prstGeom>
          <a:solidFill>
            <a:srgbClr val="D5DED9"/>
          </a:solidFill>
          <a:ln w="12700">
            <a:solidFill>
              <a:srgbClr val="D5DED9"/>
            </a:solidFill>
            <a:prstDash val="solid"/>
          </a:ln>
        </p:spPr>
      </p:sp>
      <p:sp>
        <p:nvSpPr>
          <p:cNvPr id="6" name="dot2"/>
          <p:cNvSpPr/>
          <p:nvPr/>
        </p:nvSpPr>
        <p:spPr>
          <a:xfrm>
            <a:off x="7991856" y="338328"/>
            <a:ext cx="100584" cy="100584"/>
          </a:xfrm>
          <a:prstGeom prst="ellipse">
            <a:avLst/>
          </a:prstGeom>
          <a:solidFill>
            <a:srgbClr val="D5DED9"/>
          </a:solidFill>
          <a:ln w="12700">
            <a:solidFill>
              <a:srgbClr val="D5DED9"/>
            </a:solidFill>
            <a:prstDash val="solid"/>
          </a:ln>
        </p:spPr>
      </p:sp>
      <p:sp>
        <p:nvSpPr>
          <p:cNvPr id="7" name="dot3"/>
          <p:cNvSpPr/>
          <p:nvPr/>
        </p:nvSpPr>
        <p:spPr>
          <a:xfrm>
            <a:off x="8165592" y="338328"/>
            <a:ext cx="100584" cy="100584"/>
          </a:xfrm>
          <a:prstGeom prst="ellipse">
            <a:avLst/>
          </a:prstGeom>
          <a:solidFill>
            <a:srgbClr val="D49A00"/>
          </a:solidFill>
          <a:ln w="12700">
            <a:solidFill>
              <a:srgbClr val="D49A00"/>
            </a:solidFill>
            <a:prstDash val="solid"/>
          </a:ln>
        </p:spPr>
      </p:sp>
      <p:sp>
        <p:nvSpPr>
          <p:cNvPr id="8" name="dot4"/>
          <p:cNvSpPr/>
          <p:nvPr/>
        </p:nvSpPr>
        <p:spPr>
          <a:xfrm>
            <a:off x="8339328" y="338328"/>
            <a:ext cx="100584" cy="100584"/>
          </a:xfrm>
          <a:prstGeom prst="ellipse">
            <a:avLst/>
          </a:prstGeom>
          <a:solidFill>
            <a:srgbClr val="D5DED9"/>
          </a:solidFill>
          <a:ln w="12700">
            <a:solidFill>
              <a:srgbClr val="D5DED9"/>
            </a:solidFill>
            <a:prstDash val="solid"/>
          </a:ln>
        </p:spPr>
      </p:sp>
      <p:sp>
        <p:nvSpPr>
          <p:cNvPr id="9" name="dot5"/>
          <p:cNvSpPr/>
          <p:nvPr/>
        </p:nvSpPr>
        <p:spPr>
          <a:xfrm>
            <a:off x="8513064" y="338328"/>
            <a:ext cx="100584" cy="100584"/>
          </a:xfrm>
          <a:prstGeom prst="ellipse">
            <a:avLst/>
          </a:prstGeom>
          <a:solidFill>
            <a:srgbClr val="D5DED9"/>
          </a:solidFill>
          <a:ln w="12700">
            <a:solidFill>
              <a:srgbClr val="D5DED9"/>
            </a:solidFill>
            <a:prstDash val="solid"/>
          </a:ln>
        </p:spPr>
      </p:sp>
      <p:sp>
        <p:nvSpPr>
          <p:cNvPr id="11" name="Shape 8"/>
          <p:cNvSpPr/>
          <p:nvPr/>
        </p:nvSpPr>
        <p:spPr>
          <a:xfrm>
            <a:off x="457200" y="1325880"/>
            <a:ext cx="4023360" cy="1463040"/>
          </a:xfrm>
          <a:prstGeom prst="roundRect">
            <a:avLst>
              <a:gd name="adj" fmla="val 5000"/>
            </a:avLst>
          </a:prstGeom>
          <a:solidFill>
            <a:srgbClr val="E8F5EF"/>
          </a:solidFill>
          <a:ln w="15875">
            <a:solidFill>
              <a:srgbClr val="00A86A"/>
            </a:solidFill>
            <a:prstDash val="solid"/>
          </a:ln>
        </p:spPr>
      </p:sp>
      <p:sp>
        <p:nvSpPr>
          <p:cNvPr id="12" name="Shape 9"/>
          <p:cNvSpPr/>
          <p:nvPr/>
        </p:nvSpPr>
        <p:spPr>
          <a:xfrm>
            <a:off x="585216" y="1453896"/>
            <a:ext cx="457200" cy="457200"/>
          </a:xfrm>
          <a:prstGeom prst="ellipse">
            <a:avLst/>
          </a:prstGeom>
          <a:solidFill>
            <a:srgbClr val="00A86A">
              <a:alpha val="22000"/>
            </a:srgbClr>
          </a:solidFill>
          <a:ln w="12700">
            <a:solidFill>
              <a:srgbClr val="00A86A">
                <a:alpha val="0"/>
              </a:srgbClr>
            </a:solidFill>
            <a:prstDash val="solid"/>
          </a:ln>
        </p:spPr>
      </p:sp>
      <p:pic>
        <p:nvPicPr>
          <p:cNvPr id="13" name="Image 0" descr="preencoded.png">    </p:cNvPr>
          <p:cNvPicPr>
            <a:picLocks noChangeAspect="1"/>
          </p:cNvPicPr>
          <p:nvPr/>
        </p:nvPicPr>
        <p:blipFill>
          <a:blip r:embed="rId1"/>
          <a:stretch>
            <a:fillRect/>
          </a:stretch>
        </p:blipFill>
        <p:spPr>
          <a:xfrm>
            <a:off x="694944" y="1563624"/>
            <a:ext cx="237744" cy="237744"/>
          </a:xfrm>
          <a:prstGeom prst="rect">
            <a:avLst/>
          </a:prstGeom>
        </p:spPr>
      </p:pic>
      <p:sp>
        <p:nvSpPr>
          <p:cNvPr id="14" name="Text 10"/>
          <p:cNvSpPr txBox="1"/>
          <p:nvPr/>
        </p:nvSpPr>
        <p:spPr>
          <a:xfrm>
            <a:off x="1143000" y="1417320"/>
            <a:ext cx="3246120" cy="256032"/>
          </a:xfrm>
          <a:prstGeom prst="rect">
            <a:avLst/>
          </a:prstGeom>
          <a:noFill/>
          <a:ln/>
        </p:spPr>
        <p:txBody>
          <a:bodyPr wrap="square" lIns="0" tIns="0" rIns="0" bIns="0" rtlCol="0" anchor="t"/>
          <a:lstStyle/>
          <a:p>
            <a:pPr indent="0" marL="0">
              <a:buNone/>
            </a:pPr>
            <a:r>
              <a:rPr lang="en-US" sz="1200" b="1" dirty="0">
                <a:solidFill>
                  <a:srgbClr val="231F20"/>
                </a:solidFill>
                <a:latin typeface="Calibri" pitchFamily="34" charset="0"/>
                <a:ea typeface="Calibri" pitchFamily="34" charset="-122"/>
                <a:cs typeface="Calibri" pitchFamily="34" charset="-120"/>
              </a:rPr>
              <a:t>VIIRS VNL V2 · mensuel</a:t>
            </a:r>
            <a:endParaRPr lang="en-US" sz="1200" dirty="0"/>
          </a:p>
        </p:txBody>
      </p:sp>
      <p:sp>
        <p:nvSpPr>
          <p:cNvPr id="15" name="Text 11"/>
          <p:cNvSpPr txBox="1"/>
          <p:nvPr/>
        </p:nvSpPr>
        <p:spPr>
          <a:xfrm>
            <a:off x="1143000" y="1673352"/>
            <a:ext cx="3246120" cy="201168"/>
          </a:xfrm>
          <a:prstGeom prst="rect">
            <a:avLst/>
          </a:prstGeom>
          <a:noFill/>
          <a:ln/>
        </p:spPr>
        <p:txBody>
          <a:bodyPr wrap="square" lIns="0" tIns="0" rIns="0" bIns="0" rtlCol="0" anchor="t"/>
          <a:lstStyle/>
          <a:p>
            <a:pPr indent="0" marL="0">
              <a:buNone/>
            </a:pPr>
            <a:r>
              <a:rPr lang="en-US" sz="850" dirty="0">
                <a:solidFill>
                  <a:srgbClr val="00704A"/>
                </a:solidFill>
                <a:latin typeface="Courier New" pitchFamily="34" charset="0"/>
                <a:ea typeface="Courier New" pitchFamily="34" charset="-122"/>
                <a:cs typeface="Courier New" pitchFamily="34" charset="-120"/>
              </a:rPr>
              <a:t>NOAA/VIIRS/DNB/MONTHLY_V1/VCMSLCFG</a:t>
            </a:r>
            <a:endParaRPr lang="en-US" sz="850" dirty="0"/>
          </a:p>
        </p:txBody>
      </p:sp>
      <p:sp>
        <p:nvSpPr>
          <p:cNvPr id="16" name="Text 12"/>
          <p:cNvSpPr txBox="1"/>
          <p:nvPr/>
        </p:nvSpPr>
        <p:spPr>
          <a:xfrm>
            <a:off x="585216" y="1984248"/>
            <a:ext cx="3749040" cy="201168"/>
          </a:xfrm>
          <a:prstGeom prst="rect">
            <a:avLst/>
          </a:prstGeom>
          <a:noFill/>
          <a:ln/>
        </p:spPr>
        <p:txBody>
          <a:bodyPr wrap="square" lIns="0" tIns="0" rIns="0" bIns="0" rtlCol="0" anchor="t"/>
          <a:lstStyle/>
          <a:p>
            <a:pPr indent="0" marL="0">
              <a:buNone/>
            </a:pPr>
            <a:r>
              <a:rPr lang="en-US" sz="950" b="1" dirty="0">
                <a:solidFill>
                  <a:srgbClr val="5E6964"/>
                </a:solidFill>
                <a:latin typeface="Calibri" pitchFamily="34" charset="0"/>
                <a:ea typeface="Calibri" pitchFamily="34" charset="-122"/>
                <a:cs typeface="Calibri" pitchFamily="34" charset="-120"/>
              </a:rPr>
              <a:t>2014 → · ~464 m · avg_rad (nW·cm⁻²·sr⁻¹) + cf_cvg</a:t>
            </a:r>
            <a:endParaRPr lang="en-US" sz="950" dirty="0"/>
          </a:p>
        </p:txBody>
      </p:sp>
      <p:sp>
        <p:nvSpPr>
          <p:cNvPr id="17" name="Text 13"/>
          <p:cNvSpPr txBox="1"/>
          <p:nvPr/>
        </p:nvSpPr>
        <p:spPr>
          <a:xfrm>
            <a:off x="585216" y="2194560"/>
            <a:ext cx="3749040" cy="274320"/>
          </a:xfrm>
          <a:prstGeom prst="rect">
            <a:avLst/>
          </a:prstGeom>
          <a:noFill/>
          <a:ln/>
        </p:spPr>
        <p:txBody>
          <a:bodyPr wrap="square" lIns="0" tIns="0" rIns="0" bIns="0" rtlCol="0" anchor="t"/>
          <a:lstStyle/>
          <a:p>
            <a:pPr indent="0" marL="0">
              <a:buNone/>
            </a:pPr>
            <a:r>
              <a:rPr lang="en-US" sz="950" dirty="0">
                <a:solidFill>
                  <a:srgbClr val="231F20"/>
                </a:solidFill>
                <a:latin typeface="Calibri" pitchFamily="34" charset="0"/>
                <a:ea typeface="Calibri" pitchFamily="34" charset="-122"/>
                <a:cs typeface="Calibri" pitchFamily="34" charset="-120"/>
              </a:rPr>
              <a:t>Radiance mensuelle corrigée de la lumière parasite ; cf_cvg = nuits claires</a:t>
            </a:r>
            <a:endParaRPr lang="en-US" sz="950" dirty="0"/>
          </a:p>
        </p:txBody>
      </p:sp>
      <p:sp>
        <p:nvSpPr>
          <p:cNvPr id="18" name="Text 14"/>
          <p:cNvSpPr txBox="1"/>
          <p:nvPr/>
        </p:nvSpPr>
        <p:spPr>
          <a:xfrm>
            <a:off x="585216" y="2468880"/>
            <a:ext cx="3749040" cy="256032"/>
          </a:xfrm>
          <a:prstGeom prst="rect">
            <a:avLst/>
          </a:prstGeom>
          <a:noFill/>
          <a:ln/>
        </p:spPr>
        <p:txBody>
          <a:bodyPr wrap="square" lIns="0" tIns="0" rIns="0" bIns="0" rtlCol="0" anchor="t"/>
          <a:lstStyle/>
          <a:p>
            <a:pPr indent="0" marL="0">
              <a:buNone/>
            </a:pPr>
            <a:r>
              <a:rPr lang="en-US" sz="950" b="1" dirty="0">
                <a:solidFill>
                  <a:srgbClr val="D49A00"/>
                </a:solidFill>
                <a:latin typeface="Calibri" pitchFamily="34" charset="0"/>
                <a:ea typeface="Calibri" pitchFamily="34" charset="-122"/>
                <a:cs typeface="Calibri" pitchFamily="34" charset="-120"/>
              </a:rPr>
              <a:t>Rôle : </a:t>
            </a:r>
            <a:pPr indent="0" marL="0">
              <a:buNone/>
            </a:pPr>
            <a:r>
              <a:rPr lang="en-US" sz="950" dirty="0">
                <a:solidFill>
                  <a:srgbClr val="231F20"/>
                </a:solidFill>
                <a:latin typeface="Calibri" pitchFamily="34" charset="0"/>
                <a:ea typeface="Calibri" pitchFamily="34" charset="-122"/>
                <a:cs typeface="Calibri" pitchFamily="34" charset="-120"/>
              </a:rPr>
              <a:t>S1 saisonnalité, S3 prévision, S4 chocs</a:t>
            </a:r>
            <a:endParaRPr lang="en-US" sz="950" dirty="0"/>
          </a:p>
        </p:txBody>
      </p:sp>
      <p:sp>
        <p:nvSpPr>
          <p:cNvPr id="19" name="Shape 15"/>
          <p:cNvSpPr/>
          <p:nvPr/>
        </p:nvSpPr>
        <p:spPr>
          <a:xfrm>
            <a:off x="4663440" y="1325880"/>
            <a:ext cx="4023360" cy="1463040"/>
          </a:xfrm>
          <a:prstGeom prst="roundRect">
            <a:avLst>
              <a:gd name="adj" fmla="val 5000"/>
            </a:avLst>
          </a:prstGeom>
          <a:solidFill>
            <a:srgbClr val="F4F7F5"/>
          </a:solidFill>
          <a:ln w="9525">
            <a:solidFill>
              <a:srgbClr val="D5DED9"/>
            </a:solidFill>
            <a:prstDash val="solid"/>
          </a:ln>
        </p:spPr>
      </p:sp>
      <p:sp>
        <p:nvSpPr>
          <p:cNvPr id="20" name="Shape 16"/>
          <p:cNvSpPr/>
          <p:nvPr/>
        </p:nvSpPr>
        <p:spPr>
          <a:xfrm>
            <a:off x="4791456" y="1453896"/>
            <a:ext cx="457200" cy="457200"/>
          </a:xfrm>
          <a:prstGeom prst="ellipse">
            <a:avLst/>
          </a:prstGeom>
          <a:solidFill>
            <a:srgbClr val="00A86A">
              <a:alpha val="22000"/>
            </a:srgbClr>
          </a:solidFill>
          <a:ln w="12700">
            <a:solidFill>
              <a:srgbClr val="00A86A">
                <a:alpha val="0"/>
              </a:srgbClr>
            </a:solidFill>
            <a:prstDash val="solid"/>
          </a:ln>
        </p:spPr>
      </p:sp>
      <p:pic>
        <p:nvPicPr>
          <p:cNvPr id="21" name="Image 1" descr="preencoded.png">    </p:cNvPr>
          <p:cNvPicPr>
            <a:picLocks noChangeAspect="1"/>
          </p:cNvPicPr>
          <p:nvPr/>
        </p:nvPicPr>
        <p:blipFill>
          <a:blip r:embed="rId2"/>
          <a:stretch>
            <a:fillRect/>
          </a:stretch>
        </p:blipFill>
        <p:spPr>
          <a:xfrm>
            <a:off x="4901184" y="1563624"/>
            <a:ext cx="237744" cy="237744"/>
          </a:xfrm>
          <a:prstGeom prst="rect">
            <a:avLst/>
          </a:prstGeom>
        </p:spPr>
      </p:pic>
      <p:sp>
        <p:nvSpPr>
          <p:cNvPr id="22" name="Text 17"/>
          <p:cNvSpPr txBox="1"/>
          <p:nvPr/>
        </p:nvSpPr>
        <p:spPr>
          <a:xfrm>
            <a:off x="5349240" y="1417320"/>
            <a:ext cx="3246120" cy="256032"/>
          </a:xfrm>
          <a:prstGeom prst="rect">
            <a:avLst/>
          </a:prstGeom>
          <a:noFill/>
          <a:ln/>
        </p:spPr>
        <p:txBody>
          <a:bodyPr wrap="square" lIns="0" tIns="0" rIns="0" bIns="0" rtlCol="0" anchor="t"/>
          <a:lstStyle/>
          <a:p>
            <a:pPr indent="0" marL="0">
              <a:buNone/>
            </a:pPr>
            <a:r>
              <a:rPr lang="en-US" sz="1200" b="1" dirty="0">
                <a:solidFill>
                  <a:srgbClr val="231F20"/>
                </a:solidFill>
                <a:latin typeface="Calibri" pitchFamily="34" charset="0"/>
                <a:ea typeface="Calibri" pitchFamily="34" charset="-122"/>
                <a:cs typeface="Calibri" pitchFamily="34" charset="-120"/>
              </a:rPr>
              <a:t>VIIRS VNL V2.1 / V2.2 · annuel</a:t>
            </a:r>
            <a:endParaRPr lang="en-US" sz="1200" dirty="0"/>
          </a:p>
        </p:txBody>
      </p:sp>
      <p:sp>
        <p:nvSpPr>
          <p:cNvPr id="23" name="Text 18"/>
          <p:cNvSpPr txBox="1"/>
          <p:nvPr/>
        </p:nvSpPr>
        <p:spPr>
          <a:xfrm>
            <a:off x="5349240" y="1673352"/>
            <a:ext cx="3246120" cy="201168"/>
          </a:xfrm>
          <a:prstGeom prst="rect">
            <a:avLst/>
          </a:prstGeom>
          <a:noFill/>
          <a:ln/>
        </p:spPr>
        <p:txBody>
          <a:bodyPr wrap="square" lIns="0" tIns="0" rIns="0" bIns="0" rtlCol="0" anchor="t"/>
          <a:lstStyle/>
          <a:p>
            <a:pPr indent="0" marL="0">
              <a:buNone/>
            </a:pPr>
            <a:r>
              <a:rPr lang="en-US" sz="850" dirty="0">
                <a:solidFill>
                  <a:srgbClr val="00704A"/>
                </a:solidFill>
                <a:latin typeface="Courier New" pitchFamily="34" charset="0"/>
                <a:ea typeface="Courier New" pitchFamily="34" charset="-122"/>
                <a:cs typeface="Courier New" pitchFamily="34" charset="-120"/>
              </a:rPr>
              <a:t>NOAA/VIIRS/DNB/ANNUAL_V21 · _V22</a:t>
            </a:r>
            <a:endParaRPr lang="en-US" sz="850" dirty="0"/>
          </a:p>
        </p:txBody>
      </p:sp>
      <p:sp>
        <p:nvSpPr>
          <p:cNvPr id="24" name="Text 19"/>
          <p:cNvSpPr txBox="1"/>
          <p:nvPr/>
        </p:nvSpPr>
        <p:spPr>
          <a:xfrm>
            <a:off x="4791456" y="1984248"/>
            <a:ext cx="3749040" cy="201168"/>
          </a:xfrm>
          <a:prstGeom prst="rect">
            <a:avLst/>
          </a:prstGeom>
          <a:noFill/>
          <a:ln/>
        </p:spPr>
        <p:txBody>
          <a:bodyPr wrap="square" lIns="0" tIns="0" rIns="0" bIns="0" rtlCol="0" anchor="t"/>
          <a:lstStyle/>
          <a:p>
            <a:pPr indent="0" marL="0">
              <a:buNone/>
            </a:pPr>
            <a:r>
              <a:rPr lang="en-US" sz="950" b="1" dirty="0">
                <a:solidFill>
                  <a:srgbClr val="5E6964"/>
                </a:solidFill>
                <a:latin typeface="Calibri" pitchFamily="34" charset="0"/>
                <a:ea typeface="Calibri" pitchFamily="34" charset="-122"/>
                <a:cs typeface="Calibri" pitchFamily="34" charset="-120"/>
              </a:rPr>
              <a:t>2013–2021 / 2022 → · ~464 m · average_masked</a:t>
            </a:r>
            <a:endParaRPr lang="en-US" sz="950" dirty="0"/>
          </a:p>
        </p:txBody>
      </p:sp>
      <p:sp>
        <p:nvSpPr>
          <p:cNvPr id="25" name="Text 20"/>
          <p:cNvSpPr txBox="1"/>
          <p:nvPr/>
        </p:nvSpPr>
        <p:spPr>
          <a:xfrm>
            <a:off x="4791456" y="2194560"/>
            <a:ext cx="3749040" cy="274320"/>
          </a:xfrm>
          <a:prstGeom prst="rect">
            <a:avLst/>
          </a:prstGeom>
          <a:noFill/>
          <a:ln/>
        </p:spPr>
        <p:txBody>
          <a:bodyPr wrap="square" lIns="0" tIns="0" rIns="0" bIns="0" rtlCol="0" anchor="t"/>
          <a:lstStyle/>
          <a:p>
            <a:pPr indent="0" marL="0">
              <a:buNone/>
            </a:pPr>
            <a:r>
              <a:rPr lang="en-US" sz="950" dirty="0">
                <a:solidFill>
                  <a:srgbClr val="231F20"/>
                </a:solidFill>
                <a:latin typeface="Calibri" pitchFamily="34" charset="0"/>
                <a:ea typeface="Calibri" pitchFamily="34" charset="-122"/>
                <a:cs typeface="Calibri" pitchFamily="34" charset="-120"/>
              </a:rPr>
              <a:t>Radiance annuelle, fond et lumières éphémères masqués par l'EOG</a:t>
            </a:r>
            <a:endParaRPr lang="en-US" sz="950" dirty="0"/>
          </a:p>
        </p:txBody>
      </p:sp>
      <p:sp>
        <p:nvSpPr>
          <p:cNvPr id="26" name="Text 21"/>
          <p:cNvSpPr txBox="1"/>
          <p:nvPr/>
        </p:nvSpPr>
        <p:spPr>
          <a:xfrm>
            <a:off x="4791456" y="2468880"/>
            <a:ext cx="3749040" cy="256032"/>
          </a:xfrm>
          <a:prstGeom prst="rect">
            <a:avLst/>
          </a:prstGeom>
          <a:noFill/>
          <a:ln/>
        </p:spPr>
        <p:txBody>
          <a:bodyPr wrap="square" lIns="0" tIns="0" rIns="0" bIns="0" rtlCol="0" anchor="t"/>
          <a:lstStyle/>
          <a:p>
            <a:pPr indent="0" marL="0">
              <a:buNone/>
            </a:pPr>
            <a:r>
              <a:rPr lang="en-US" sz="950" b="1" dirty="0">
                <a:solidFill>
                  <a:srgbClr val="D49A00"/>
                </a:solidFill>
                <a:latin typeface="Calibri" pitchFamily="34" charset="0"/>
                <a:ea typeface="Calibri" pitchFamily="34" charset="-122"/>
                <a:cs typeface="Calibri" pitchFamily="34" charset="-120"/>
              </a:rPr>
              <a:t>Rôle : </a:t>
            </a:r>
            <a:pPr indent="0" marL="0">
              <a:buNone/>
            </a:pPr>
            <a:r>
              <a:rPr lang="en-US" sz="950" dirty="0">
                <a:solidFill>
                  <a:srgbClr val="231F20"/>
                </a:solidFill>
                <a:latin typeface="Calibri" pitchFamily="34" charset="0"/>
                <a:ea typeface="Calibri" pitchFamily="34" charset="-122"/>
                <a:cs typeface="Calibri" pitchFamily="34" charset="-120"/>
              </a:rPr>
              <a:t>Niveaux annuels de S1–S3, S5, S6 ; masque de fond</a:t>
            </a:r>
            <a:endParaRPr lang="en-US" sz="950" dirty="0"/>
          </a:p>
        </p:txBody>
      </p:sp>
      <p:sp>
        <p:nvSpPr>
          <p:cNvPr id="27" name="Shape 22"/>
          <p:cNvSpPr/>
          <p:nvPr/>
        </p:nvSpPr>
        <p:spPr>
          <a:xfrm>
            <a:off x="457200" y="2926080"/>
            <a:ext cx="4023360" cy="1463040"/>
          </a:xfrm>
          <a:prstGeom prst="roundRect">
            <a:avLst>
              <a:gd name="adj" fmla="val 5000"/>
            </a:avLst>
          </a:prstGeom>
          <a:solidFill>
            <a:srgbClr val="F4F7F5"/>
          </a:solidFill>
          <a:ln w="9525">
            <a:solidFill>
              <a:srgbClr val="D5DED9"/>
            </a:solidFill>
            <a:prstDash val="solid"/>
          </a:ln>
        </p:spPr>
      </p:sp>
      <p:sp>
        <p:nvSpPr>
          <p:cNvPr id="28" name="Shape 23"/>
          <p:cNvSpPr/>
          <p:nvPr/>
        </p:nvSpPr>
        <p:spPr>
          <a:xfrm>
            <a:off x="585216" y="3054096"/>
            <a:ext cx="457200" cy="457200"/>
          </a:xfrm>
          <a:prstGeom prst="ellipse">
            <a:avLst/>
          </a:prstGeom>
          <a:solidFill>
            <a:srgbClr val="00A86A">
              <a:alpha val="22000"/>
            </a:srgbClr>
          </a:solidFill>
          <a:ln w="12700">
            <a:solidFill>
              <a:srgbClr val="00A86A">
                <a:alpha val="0"/>
              </a:srgbClr>
            </a:solidFill>
            <a:prstDash val="solid"/>
          </a:ln>
        </p:spPr>
      </p:sp>
      <p:pic>
        <p:nvPicPr>
          <p:cNvPr id="29" name="Image 2" descr="preencoded.png">    </p:cNvPr>
          <p:cNvPicPr>
            <a:picLocks noChangeAspect="1"/>
          </p:cNvPicPr>
          <p:nvPr/>
        </p:nvPicPr>
        <p:blipFill>
          <a:blip r:embed="rId3"/>
          <a:stretch>
            <a:fillRect/>
          </a:stretch>
        </p:blipFill>
        <p:spPr>
          <a:xfrm>
            <a:off x="694944" y="3163824"/>
            <a:ext cx="237744" cy="237744"/>
          </a:xfrm>
          <a:prstGeom prst="rect">
            <a:avLst/>
          </a:prstGeom>
        </p:spPr>
      </p:pic>
      <p:sp>
        <p:nvSpPr>
          <p:cNvPr id="30" name="Text 24"/>
          <p:cNvSpPr txBox="1"/>
          <p:nvPr/>
        </p:nvSpPr>
        <p:spPr>
          <a:xfrm>
            <a:off x="1143000" y="3017520"/>
            <a:ext cx="3246120" cy="256032"/>
          </a:xfrm>
          <a:prstGeom prst="rect">
            <a:avLst/>
          </a:prstGeom>
          <a:noFill/>
          <a:ln/>
        </p:spPr>
        <p:txBody>
          <a:bodyPr wrap="square" lIns="0" tIns="0" rIns="0" bIns="0" rtlCol="0" anchor="t"/>
          <a:lstStyle/>
          <a:p>
            <a:pPr indent="0" marL="0">
              <a:buNone/>
            </a:pPr>
            <a:r>
              <a:rPr lang="en-US" sz="1200" b="1" dirty="0">
                <a:solidFill>
                  <a:srgbClr val="231F20"/>
                </a:solidFill>
                <a:latin typeface="Calibri" pitchFamily="34" charset="0"/>
                <a:ea typeface="Calibri" pitchFamily="34" charset="-122"/>
                <a:cs typeface="Calibri" pitchFamily="34" charset="-120"/>
              </a:rPr>
              <a:t>Black Marble VNP46A2 · quotidien</a:t>
            </a:r>
            <a:endParaRPr lang="en-US" sz="1200" dirty="0"/>
          </a:p>
        </p:txBody>
      </p:sp>
      <p:sp>
        <p:nvSpPr>
          <p:cNvPr id="31" name="Text 25"/>
          <p:cNvSpPr txBox="1"/>
          <p:nvPr/>
        </p:nvSpPr>
        <p:spPr>
          <a:xfrm>
            <a:off x="1143000" y="3273552"/>
            <a:ext cx="3246120" cy="201168"/>
          </a:xfrm>
          <a:prstGeom prst="rect">
            <a:avLst/>
          </a:prstGeom>
          <a:noFill/>
          <a:ln/>
        </p:spPr>
        <p:txBody>
          <a:bodyPr wrap="square" lIns="0" tIns="0" rIns="0" bIns="0" rtlCol="0" anchor="t"/>
          <a:lstStyle/>
          <a:p>
            <a:pPr indent="0" marL="0">
              <a:buNone/>
            </a:pPr>
            <a:r>
              <a:rPr lang="en-US" sz="850" dirty="0">
                <a:solidFill>
                  <a:srgbClr val="00704A"/>
                </a:solidFill>
                <a:latin typeface="Courier New" pitchFamily="34" charset="0"/>
                <a:ea typeface="Courier New" pitchFamily="34" charset="-122"/>
                <a:cs typeface="Courier New" pitchFamily="34" charset="-120"/>
              </a:rPr>
              <a:t>NASA/VIIRS/002/VNP46A2</a:t>
            </a:r>
            <a:endParaRPr lang="en-US" sz="850" dirty="0"/>
          </a:p>
        </p:txBody>
      </p:sp>
      <p:sp>
        <p:nvSpPr>
          <p:cNvPr id="32" name="Text 26"/>
          <p:cNvSpPr txBox="1"/>
          <p:nvPr/>
        </p:nvSpPr>
        <p:spPr>
          <a:xfrm>
            <a:off x="585216" y="3584448"/>
            <a:ext cx="3749040" cy="201168"/>
          </a:xfrm>
          <a:prstGeom prst="rect">
            <a:avLst/>
          </a:prstGeom>
          <a:noFill/>
          <a:ln/>
        </p:spPr>
        <p:txBody>
          <a:bodyPr wrap="square" lIns="0" tIns="0" rIns="0" bIns="0" rtlCol="0" anchor="t"/>
          <a:lstStyle/>
          <a:p>
            <a:pPr indent="0" marL="0">
              <a:buNone/>
            </a:pPr>
            <a:r>
              <a:rPr lang="en-US" sz="950" b="1" dirty="0">
                <a:solidFill>
                  <a:srgbClr val="5E6964"/>
                </a:solidFill>
                <a:latin typeface="Calibri" pitchFamily="34" charset="0"/>
                <a:ea typeface="Calibri" pitchFamily="34" charset="-122"/>
                <a:cs typeface="Calibri" pitchFamily="34" charset="-120"/>
              </a:rPr>
              <a:t>2012 → · ~500 m · correction BRDF / Lune</a:t>
            </a:r>
            <a:endParaRPr lang="en-US" sz="950" dirty="0"/>
          </a:p>
        </p:txBody>
      </p:sp>
      <p:sp>
        <p:nvSpPr>
          <p:cNvPr id="33" name="Text 27"/>
          <p:cNvSpPr txBox="1"/>
          <p:nvPr/>
        </p:nvSpPr>
        <p:spPr>
          <a:xfrm>
            <a:off x="585216" y="3794760"/>
            <a:ext cx="3749040" cy="274320"/>
          </a:xfrm>
          <a:prstGeom prst="rect">
            <a:avLst/>
          </a:prstGeom>
          <a:noFill/>
          <a:ln/>
        </p:spPr>
        <p:txBody>
          <a:bodyPr wrap="square" lIns="0" tIns="0" rIns="0" bIns="0" rtlCol="0" anchor="t"/>
          <a:lstStyle/>
          <a:p>
            <a:pPr indent="0" marL="0">
              <a:buNone/>
            </a:pPr>
            <a:r>
              <a:rPr lang="en-US" sz="950" dirty="0">
                <a:solidFill>
                  <a:srgbClr val="231F20"/>
                </a:solidFill>
                <a:latin typeface="Calibri" pitchFamily="34" charset="0"/>
                <a:ea typeface="Calibri" pitchFamily="34" charset="-122"/>
                <a:cs typeface="Calibri" pitchFamily="34" charset="-120"/>
              </a:rPr>
              <a:t>Radiance de chaque nuit ; drapeau qualité 0–1, ciel clair, sans neige</a:t>
            </a:r>
            <a:endParaRPr lang="en-US" sz="950" dirty="0"/>
          </a:p>
        </p:txBody>
      </p:sp>
      <p:sp>
        <p:nvSpPr>
          <p:cNvPr id="34" name="Text 28"/>
          <p:cNvSpPr txBox="1"/>
          <p:nvPr/>
        </p:nvSpPr>
        <p:spPr>
          <a:xfrm>
            <a:off x="585216" y="4069080"/>
            <a:ext cx="3749040" cy="256032"/>
          </a:xfrm>
          <a:prstGeom prst="rect">
            <a:avLst/>
          </a:prstGeom>
          <a:noFill/>
          <a:ln/>
        </p:spPr>
        <p:txBody>
          <a:bodyPr wrap="square" lIns="0" tIns="0" rIns="0" bIns="0" rtlCol="0" anchor="t"/>
          <a:lstStyle/>
          <a:p>
            <a:pPr indent="0" marL="0">
              <a:buNone/>
            </a:pPr>
            <a:r>
              <a:rPr lang="en-US" sz="950" b="1" dirty="0">
                <a:solidFill>
                  <a:srgbClr val="D49A00"/>
                </a:solidFill>
                <a:latin typeface="Calibri" pitchFamily="34" charset="0"/>
                <a:ea typeface="Calibri" pitchFamily="34" charset="-122"/>
                <a:cs typeface="Calibri" pitchFamily="34" charset="-120"/>
              </a:rPr>
              <a:t>Rôle : </a:t>
            </a:r>
            <a:pPr indent="0" marL="0">
              <a:buNone/>
            </a:pPr>
            <a:r>
              <a:rPr lang="en-US" sz="950" dirty="0">
                <a:solidFill>
                  <a:srgbClr val="231F20"/>
                </a:solidFill>
                <a:latin typeface="Calibri" pitchFamily="34" charset="0"/>
                <a:ea typeface="Calibri" pitchFamily="34" charset="-122"/>
                <a:cs typeface="Calibri" pitchFamily="34" charset="-120"/>
              </a:rPr>
              <a:t>S4 indice quotidien autour des événements</a:t>
            </a:r>
            <a:endParaRPr lang="en-US" sz="950" dirty="0"/>
          </a:p>
        </p:txBody>
      </p:sp>
      <p:sp>
        <p:nvSpPr>
          <p:cNvPr id="35" name="Shape 29"/>
          <p:cNvSpPr/>
          <p:nvPr/>
        </p:nvSpPr>
        <p:spPr>
          <a:xfrm>
            <a:off x="4663440" y="2926080"/>
            <a:ext cx="4023360" cy="1463040"/>
          </a:xfrm>
          <a:prstGeom prst="roundRect">
            <a:avLst>
              <a:gd name="adj" fmla="val 5000"/>
            </a:avLst>
          </a:prstGeom>
          <a:solidFill>
            <a:srgbClr val="F4F7F5"/>
          </a:solidFill>
          <a:ln w="9525">
            <a:solidFill>
              <a:srgbClr val="D5DED9"/>
            </a:solidFill>
            <a:prstDash val="solid"/>
          </a:ln>
        </p:spPr>
      </p:sp>
      <p:sp>
        <p:nvSpPr>
          <p:cNvPr id="36" name="Shape 30"/>
          <p:cNvSpPr/>
          <p:nvPr/>
        </p:nvSpPr>
        <p:spPr>
          <a:xfrm>
            <a:off x="4791456" y="3054096"/>
            <a:ext cx="457200" cy="457200"/>
          </a:xfrm>
          <a:prstGeom prst="ellipse">
            <a:avLst/>
          </a:prstGeom>
          <a:solidFill>
            <a:srgbClr val="00A86A">
              <a:alpha val="22000"/>
            </a:srgbClr>
          </a:solidFill>
          <a:ln w="12700">
            <a:solidFill>
              <a:srgbClr val="00A86A">
                <a:alpha val="0"/>
              </a:srgbClr>
            </a:solidFill>
            <a:prstDash val="solid"/>
          </a:ln>
        </p:spPr>
      </p:sp>
      <p:pic>
        <p:nvPicPr>
          <p:cNvPr id="37" name="Image 3" descr="preencoded.png">    </p:cNvPr>
          <p:cNvPicPr>
            <a:picLocks noChangeAspect="1"/>
          </p:cNvPicPr>
          <p:nvPr/>
        </p:nvPicPr>
        <p:blipFill>
          <a:blip r:embed="rId4"/>
          <a:stretch>
            <a:fillRect/>
          </a:stretch>
        </p:blipFill>
        <p:spPr>
          <a:xfrm>
            <a:off x="4901184" y="3163824"/>
            <a:ext cx="237744" cy="237744"/>
          </a:xfrm>
          <a:prstGeom prst="rect">
            <a:avLst/>
          </a:prstGeom>
        </p:spPr>
      </p:pic>
      <p:sp>
        <p:nvSpPr>
          <p:cNvPr id="38" name="Text 31"/>
          <p:cNvSpPr txBox="1"/>
          <p:nvPr/>
        </p:nvSpPr>
        <p:spPr>
          <a:xfrm>
            <a:off x="5349240" y="3017520"/>
            <a:ext cx="3246120" cy="256032"/>
          </a:xfrm>
          <a:prstGeom prst="rect">
            <a:avLst/>
          </a:prstGeom>
          <a:noFill/>
          <a:ln/>
        </p:spPr>
        <p:txBody>
          <a:bodyPr wrap="square" lIns="0" tIns="0" rIns="0" bIns="0" rtlCol="0" anchor="t"/>
          <a:lstStyle/>
          <a:p>
            <a:pPr indent="0" marL="0">
              <a:buNone/>
            </a:pPr>
            <a:r>
              <a:rPr lang="en-US" sz="1200" b="1" dirty="0">
                <a:solidFill>
                  <a:srgbClr val="231F20"/>
                </a:solidFill>
                <a:latin typeface="Calibri" pitchFamily="34" charset="0"/>
                <a:ea typeface="Calibri" pitchFamily="34" charset="-122"/>
                <a:cs typeface="Calibri" pitchFamily="34" charset="-120"/>
              </a:rPr>
              <a:t>DMSP-OLS · harmonisé</a:t>
            </a:r>
            <a:endParaRPr lang="en-US" sz="1200" dirty="0"/>
          </a:p>
        </p:txBody>
      </p:sp>
      <p:sp>
        <p:nvSpPr>
          <p:cNvPr id="39" name="Text 32"/>
          <p:cNvSpPr txBox="1"/>
          <p:nvPr/>
        </p:nvSpPr>
        <p:spPr>
          <a:xfrm>
            <a:off x="5349240" y="3273552"/>
            <a:ext cx="3246120" cy="201168"/>
          </a:xfrm>
          <a:prstGeom prst="rect">
            <a:avLst/>
          </a:prstGeom>
          <a:noFill/>
          <a:ln/>
        </p:spPr>
        <p:txBody>
          <a:bodyPr wrap="square" lIns="0" tIns="0" rIns="0" bIns="0" rtlCol="0" anchor="t"/>
          <a:lstStyle/>
          <a:p>
            <a:pPr indent="0" marL="0">
              <a:buNone/>
            </a:pPr>
            <a:r>
              <a:rPr lang="en-US" sz="850" dirty="0">
                <a:solidFill>
                  <a:srgbClr val="00704A"/>
                </a:solidFill>
                <a:latin typeface="Courier New" pitchFamily="34" charset="0"/>
                <a:ea typeface="Courier New" pitchFamily="34" charset="-122"/>
                <a:cs typeface="Courier New" pitchFamily="34" charset="-120"/>
              </a:rPr>
              <a:t>NOAA/DMSP-OLS · sat-io Harmonized_NTL</a:t>
            </a:r>
            <a:endParaRPr lang="en-US" sz="850" dirty="0"/>
          </a:p>
        </p:txBody>
      </p:sp>
      <p:sp>
        <p:nvSpPr>
          <p:cNvPr id="40" name="Text 33"/>
          <p:cNvSpPr txBox="1"/>
          <p:nvPr/>
        </p:nvSpPr>
        <p:spPr>
          <a:xfrm>
            <a:off x="4791456" y="3584448"/>
            <a:ext cx="3749040" cy="201168"/>
          </a:xfrm>
          <a:prstGeom prst="rect">
            <a:avLst/>
          </a:prstGeom>
          <a:noFill/>
          <a:ln/>
        </p:spPr>
        <p:txBody>
          <a:bodyPr wrap="square" lIns="0" tIns="0" rIns="0" bIns="0" rtlCol="0" anchor="t"/>
          <a:lstStyle/>
          <a:p>
            <a:pPr indent="0" marL="0">
              <a:buNone/>
            </a:pPr>
            <a:r>
              <a:rPr lang="en-US" sz="950" b="1" dirty="0">
                <a:solidFill>
                  <a:srgbClr val="5E6964"/>
                </a:solidFill>
                <a:latin typeface="Calibri" pitchFamily="34" charset="0"/>
                <a:ea typeface="Calibri" pitchFamily="34" charset="-122"/>
                <a:cs typeface="Calibri" pitchFamily="34" charset="-120"/>
              </a:rPr>
              <a:t>1992–2013 (+ VIIRS type DMSP) · ~1 km · DN 0–63</a:t>
            </a:r>
            <a:endParaRPr lang="en-US" sz="950" dirty="0"/>
          </a:p>
        </p:txBody>
      </p:sp>
      <p:sp>
        <p:nvSpPr>
          <p:cNvPr id="41" name="Text 34"/>
          <p:cNvSpPr txBox="1"/>
          <p:nvPr/>
        </p:nvSpPr>
        <p:spPr>
          <a:xfrm>
            <a:off x="4791456" y="3794760"/>
            <a:ext cx="3749040" cy="274320"/>
          </a:xfrm>
          <a:prstGeom prst="rect">
            <a:avLst/>
          </a:prstGeom>
          <a:noFill/>
          <a:ln/>
        </p:spPr>
        <p:txBody>
          <a:bodyPr wrap="square" lIns="0" tIns="0" rIns="0" bIns="0" rtlCol="0" anchor="t"/>
          <a:lstStyle/>
          <a:p>
            <a:pPr indent="0" marL="0">
              <a:buNone/>
            </a:pPr>
            <a:r>
              <a:rPr lang="en-US" sz="950" dirty="0">
                <a:solidFill>
                  <a:srgbClr val="231F20"/>
                </a:solidFill>
                <a:latin typeface="Calibri" pitchFamily="34" charset="0"/>
                <a:ea typeface="Calibri" pitchFamily="34" charset="-122"/>
                <a:cs typeface="Calibri" pitchFamily="34" charset="-120"/>
              </a:rPr>
              <a:t>Nombres numériques, saturés à 63 en centre-ville ; DN &gt; 7 gardés</a:t>
            </a:r>
            <a:endParaRPr lang="en-US" sz="950" dirty="0"/>
          </a:p>
        </p:txBody>
      </p:sp>
      <p:sp>
        <p:nvSpPr>
          <p:cNvPr id="42" name="Text 35"/>
          <p:cNvSpPr txBox="1"/>
          <p:nvPr/>
        </p:nvSpPr>
        <p:spPr>
          <a:xfrm>
            <a:off x="4791456" y="4069080"/>
            <a:ext cx="3749040" cy="256032"/>
          </a:xfrm>
          <a:prstGeom prst="rect">
            <a:avLst/>
          </a:prstGeom>
          <a:noFill/>
          <a:ln/>
        </p:spPr>
        <p:txBody>
          <a:bodyPr wrap="square" lIns="0" tIns="0" rIns="0" bIns="0" rtlCol="0" anchor="t"/>
          <a:lstStyle/>
          <a:p>
            <a:pPr indent="0" marL="0">
              <a:buNone/>
            </a:pPr>
            <a:r>
              <a:rPr lang="en-US" sz="950" b="1" dirty="0">
                <a:solidFill>
                  <a:srgbClr val="D49A00"/>
                </a:solidFill>
                <a:latin typeface="Calibri" pitchFamily="34" charset="0"/>
                <a:ea typeface="Calibri" pitchFamily="34" charset="-122"/>
                <a:cs typeface="Calibri" pitchFamily="34" charset="-120"/>
              </a:rPr>
              <a:t>Rôle : </a:t>
            </a:r>
            <a:pPr indent="0" marL="0">
              <a:buNone/>
            </a:pPr>
            <a:r>
              <a:rPr lang="en-US" sz="950" dirty="0">
                <a:solidFill>
                  <a:srgbClr val="231F20"/>
                </a:solidFill>
                <a:latin typeface="Calibri" pitchFamily="34" charset="0"/>
                <a:ea typeface="Calibri" pitchFamily="34" charset="-122"/>
                <a:cs typeface="Calibri" pitchFamily="34" charset="-120"/>
              </a:rPr>
              <a:t>S1 série longue, S3 élasticité longue</a:t>
            </a:r>
            <a:endParaRPr lang="en-US" sz="950" dirty="0"/>
          </a:p>
        </p:txBody>
      </p:sp>
      <p:sp>
        <p:nvSpPr>
          <p:cNvPr id="43" name="Text 36"/>
          <p:cNvSpPr txBox="1"/>
          <p:nvPr/>
        </p:nvSpPr>
        <p:spPr>
          <a:xfrm>
            <a:off x="457200" y="4553712"/>
            <a:ext cx="7223760" cy="219456"/>
          </a:xfrm>
          <a:prstGeom prst="rect">
            <a:avLst/>
          </a:prstGeom>
          <a:noFill/>
          <a:ln/>
        </p:spPr>
        <p:txBody>
          <a:bodyPr wrap="square" lIns="0" tIns="0" rIns="0" bIns="0" rtlCol="0" anchor="ctr"/>
          <a:lstStyle/>
          <a:p>
            <a:pPr indent="0" marL="0">
              <a:buNone/>
            </a:pPr>
            <a:r>
              <a:rPr lang="en-US" sz="900" i="1" dirty="0">
                <a:solidFill>
                  <a:srgbClr val="5E6964"/>
                </a:solidFill>
                <a:latin typeface="Calibri" pitchFamily="34" charset="0"/>
                <a:ea typeface="Calibri" pitchFamily="34" charset="-122"/>
                <a:cs typeface="Calibri" pitchFamily="34" charset="-120"/>
              </a:rPr>
              <a:t>Sources : Elvidge et al. (2017, 2021) ; Román et al. (2018) ; Li et al. (2020) · identifiants vérifiés dans le catalogue Earth Engine à chaque exécution</a:t>
            </a:r>
            <a:endParaRPr lang="en-US" sz="9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8A9590"/>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3"/>
          <p:cNvSpPr/>
          <p:nvPr>
            <p:ph idx="105" type="body" hasCustomPrompt="1"/>
          </p:nvPr>
        </p:nvSpPr>
        <p:spPr>
          <a:xfrm>
            <a:off x="457200" y="274320"/>
            <a:ext cx="6217920" cy="256032"/>
          </a:xfrm>
          <a:prstGeom prst="rect">
            <a:avLst/>
          </a:prstGeom>
          <a:noFill/>
          <a:ln/>
        </p:spPr>
        <p:txBody>
          <a:bodyPr wrap="square" lIns="0" tIns="0" rIns="0" bIns="0" rtlCol="0" anchor="ctr"/>
          <a:lstStyle/>
          <a:p>
            <a:pPr algn="l" indent="0" marL="0">
              <a:buNone/>
            </a:pPr>
            <a:r>
              <a:rPr lang="en-US" sz="1050" b="1" spc="300" kern="0" dirty="0">
                <a:solidFill>
                  <a:srgbClr val="00704A"/>
                </a:solidFill>
                <a:latin typeface="Calibri" pitchFamily="34" charset="0"/>
                <a:ea typeface="Calibri" pitchFamily="34" charset="-122"/>
                <a:cs typeface="Calibri" pitchFamily="34" charset="-120"/>
              </a:rPr>
              <a:t>04 · ANALYSER · DONNÉES (2/3)</a:t>
            </a:r>
            <a:endParaRPr lang="en-US" sz="1050" dirty="0"/>
          </a:p>
        </p:txBody>
      </p:sp>
      <p:sp>
        <p:nvSpPr>
          <p:cNvPr id="3" name="Text 3"/>
          <p:cNvSpPr/>
          <p:nvPr>
            <p:ph idx="106" type="title" hasCustomPrompt="1"/>
          </p:nvPr>
        </p:nvSpPr>
        <p:spPr>
          <a:xfrm>
            <a:off x="457200" y="548640"/>
            <a:ext cx="8229600" cy="566928"/>
          </a:xfrm>
          <a:prstGeom prst="rect">
            <a:avLst/>
          </a:prstGeom>
          <a:noFill/>
          <a:ln/>
        </p:spPr>
        <p:txBody>
          <a:bodyPr wrap="square" lIns="0" tIns="0" rIns="0" bIns="0" rtlCol="0" anchor="ctr"/>
          <a:lstStyle/>
          <a:p>
            <a:pPr algn="l" indent="0" marL="0">
              <a:buNone/>
            </a:pPr>
            <a:r>
              <a:rPr lang="en-US" sz="2800" b="1" dirty="0">
                <a:solidFill>
                  <a:srgbClr val="231F20"/>
                </a:solidFill>
                <a:latin typeface="Calibri" pitchFamily="34" charset="0"/>
                <a:ea typeface="Calibri" pitchFamily="34" charset="-122"/>
                <a:cs typeface="Calibri" pitchFamily="34" charset="-120"/>
              </a:rPr>
              <a:t>Qui y vit, et qu'y a-t-on construit ?</a:t>
            </a:r>
            <a:endParaRPr lang="en-US" sz="2800" dirty="0"/>
          </a:p>
        </p:txBody>
      </p:sp>
      <p:sp>
        <p:nvSpPr>
          <p:cNvPr id="4" name="dot0"/>
          <p:cNvSpPr/>
          <p:nvPr/>
        </p:nvSpPr>
        <p:spPr>
          <a:xfrm>
            <a:off x="7644384" y="338328"/>
            <a:ext cx="100584" cy="100584"/>
          </a:xfrm>
          <a:prstGeom prst="ellipse">
            <a:avLst/>
          </a:prstGeom>
          <a:solidFill>
            <a:srgbClr val="D5DED9"/>
          </a:solidFill>
          <a:ln w="12700">
            <a:solidFill>
              <a:srgbClr val="D5DED9"/>
            </a:solidFill>
            <a:prstDash val="solid"/>
          </a:ln>
        </p:spPr>
      </p:sp>
      <p:sp>
        <p:nvSpPr>
          <p:cNvPr id="5" name="dot1"/>
          <p:cNvSpPr/>
          <p:nvPr/>
        </p:nvSpPr>
        <p:spPr>
          <a:xfrm>
            <a:off x="7818120" y="338328"/>
            <a:ext cx="100584" cy="100584"/>
          </a:xfrm>
          <a:prstGeom prst="ellipse">
            <a:avLst/>
          </a:prstGeom>
          <a:solidFill>
            <a:srgbClr val="D5DED9"/>
          </a:solidFill>
          <a:ln w="12700">
            <a:solidFill>
              <a:srgbClr val="D5DED9"/>
            </a:solidFill>
            <a:prstDash val="solid"/>
          </a:ln>
        </p:spPr>
      </p:sp>
      <p:sp>
        <p:nvSpPr>
          <p:cNvPr id="6" name="dot2"/>
          <p:cNvSpPr/>
          <p:nvPr/>
        </p:nvSpPr>
        <p:spPr>
          <a:xfrm>
            <a:off x="7991856" y="338328"/>
            <a:ext cx="100584" cy="100584"/>
          </a:xfrm>
          <a:prstGeom prst="ellipse">
            <a:avLst/>
          </a:prstGeom>
          <a:solidFill>
            <a:srgbClr val="D5DED9"/>
          </a:solidFill>
          <a:ln w="12700">
            <a:solidFill>
              <a:srgbClr val="D5DED9"/>
            </a:solidFill>
            <a:prstDash val="solid"/>
          </a:ln>
        </p:spPr>
      </p:sp>
      <p:sp>
        <p:nvSpPr>
          <p:cNvPr id="7" name="dot3"/>
          <p:cNvSpPr/>
          <p:nvPr/>
        </p:nvSpPr>
        <p:spPr>
          <a:xfrm>
            <a:off x="8165592" y="338328"/>
            <a:ext cx="100584" cy="100584"/>
          </a:xfrm>
          <a:prstGeom prst="ellipse">
            <a:avLst/>
          </a:prstGeom>
          <a:solidFill>
            <a:srgbClr val="D49A00"/>
          </a:solidFill>
          <a:ln w="12700">
            <a:solidFill>
              <a:srgbClr val="D49A00"/>
            </a:solidFill>
            <a:prstDash val="solid"/>
          </a:ln>
        </p:spPr>
      </p:sp>
      <p:sp>
        <p:nvSpPr>
          <p:cNvPr id="8" name="dot4"/>
          <p:cNvSpPr/>
          <p:nvPr/>
        </p:nvSpPr>
        <p:spPr>
          <a:xfrm>
            <a:off x="8339328" y="338328"/>
            <a:ext cx="100584" cy="100584"/>
          </a:xfrm>
          <a:prstGeom prst="ellipse">
            <a:avLst/>
          </a:prstGeom>
          <a:solidFill>
            <a:srgbClr val="D5DED9"/>
          </a:solidFill>
          <a:ln w="12700">
            <a:solidFill>
              <a:srgbClr val="D5DED9"/>
            </a:solidFill>
            <a:prstDash val="solid"/>
          </a:ln>
        </p:spPr>
      </p:sp>
      <p:sp>
        <p:nvSpPr>
          <p:cNvPr id="9" name="dot5"/>
          <p:cNvSpPr/>
          <p:nvPr/>
        </p:nvSpPr>
        <p:spPr>
          <a:xfrm>
            <a:off x="8513064" y="338328"/>
            <a:ext cx="100584" cy="100584"/>
          </a:xfrm>
          <a:prstGeom prst="ellipse">
            <a:avLst/>
          </a:prstGeom>
          <a:solidFill>
            <a:srgbClr val="D5DED9"/>
          </a:solidFill>
          <a:ln w="12700">
            <a:solidFill>
              <a:srgbClr val="D5DED9"/>
            </a:solidFill>
            <a:prstDash val="solid"/>
          </a:ln>
        </p:spPr>
      </p:sp>
      <p:sp>
        <p:nvSpPr>
          <p:cNvPr id="11" name="Shape 8"/>
          <p:cNvSpPr/>
          <p:nvPr/>
        </p:nvSpPr>
        <p:spPr>
          <a:xfrm>
            <a:off x="457200" y="1325880"/>
            <a:ext cx="8229600" cy="566928"/>
          </a:xfrm>
          <a:prstGeom prst="roundRect">
            <a:avLst>
              <a:gd name="adj" fmla="val 9677"/>
            </a:avLst>
          </a:prstGeom>
          <a:solidFill>
            <a:srgbClr val="F4F7F5"/>
          </a:solidFill>
          <a:ln w="9525">
            <a:solidFill>
              <a:srgbClr val="D5DED9"/>
            </a:solidFill>
            <a:prstDash val="solid"/>
          </a:ln>
        </p:spPr>
      </p:sp>
      <p:sp>
        <p:nvSpPr>
          <p:cNvPr id="12" name="Shape 9"/>
          <p:cNvSpPr/>
          <p:nvPr/>
        </p:nvSpPr>
        <p:spPr>
          <a:xfrm>
            <a:off x="566928" y="1417320"/>
            <a:ext cx="384048" cy="384048"/>
          </a:xfrm>
          <a:prstGeom prst="ellipse">
            <a:avLst/>
          </a:prstGeom>
          <a:solidFill>
            <a:srgbClr val="0E7C86">
              <a:alpha val="22000"/>
            </a:srgbClr>
          </a:solidFill>
          <a:ln w="12700">
            <a:solidFill>
              <a:srgbClr val="0E7C86">
                <a:alpha val="0"/>
              </a:srgbClr>
            </a:solidFill>
            <a:prstDash val="solid"/>
          </a:ln>
        </p:spPr>
      </p:sp>
      <p:pic>
        <p:nvPicPr>
          <p:cNvPr id="13" name="Image 0" descr="preencoded.png">    </p:cNvPr>
          <p:cNvPicPr>
            <a:picLocks noChangeAspect="1"/>
          </p:cNvPicPr>
          <p:nvPr/>
        </p:nvPicPr>
        <p:blipFill>
          <a:blip r:embed="rId1"/>
          <a:stretch>
            <a:fillRect/>
          </a:stretch>
        </p:blipFill>
        <p:spPr>
          <a:xfrm>
            <a:off x="659100" y="1509492"/>
            <a:ext cx="199705" cy="199705"/>
          </a:xfrm>
          <a:prstGeom prst="rect">
            <a:avLst/>
          </a:prstGeom>
        </p:spPr>
      </p:pic>
      <p:sp>
        <p:nvSpPr>
          <p:cNvPr id="14" name="Text 10"/>
          <p:cNvSpPr txBox="1"/>
          <p:nvPr/>
        </p:nvSpPr>
        <p:spPr>
          <a:xfrm>
            <a:off x="1051560" y="1380744"/>
            <a:ext cx="2743200" cy="237744"/>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GHSL GHS-POP R2023A</a:t>
            </a:r>
            <a:endParaRPr lang="en-US" sz="1150" dirty="0"/>
          </a:p>
        </p:txBody>
      </p:sp>
      <p:sp>
        <p:nvSpPr>
          <p:cNvPr id="15" name="Text 11"/>
          <p:cNvSpPr txBox="1"/>
          <p:nvPr/>
        </p:nvSpPr>
        <p:spPr>
          <a:xfrm>
            <a:off x="1051560" y="1627632"/>
            <a:ext cx="2743200" cy="201168"/>
          </a:xfrm>
          <a:prstGeom prst="rect">
            <a:avLst/>
          </a:prstGeom>
          <a:noFill/>
          <a:ln/>
        </p:spPr>
        <p:txBody>
          <a:bodyPr wrap="square" lIns="0" tIns="0" rIns="0" bIns="0" rtlCol="0" anchor="t"/>
          <a:lstStyle/>
          <a:p>
            <a:pPr indent="0" marL="0">
              <a:buNone/>
            </a:pPr>
            <a:r>
              <a:rPr lang="en-US" sz="800" dirty="0">
                <a:solidFill>
                  <a:srgbClr val="00704A"/>
                </a:solidFill>
                <a:latin typeface="Courier New" pitchFamily="34" charset="0"/>
                <a:ea typeface="Courier New" pitchFamily="34" charset="-122"/>
                <a:cs typeface="Courier New" pitchFamily="34" charset="-120"/>
              </a:rPr>
              <a:t>JRC/GHSL/P2023A/GHS_POP</a:t>
            </a:r>
            <a:endParaRPr lang="en-US" sz="800" dirty="0"/>
          </a:p>
        </p:txBody>
      </p:sp>
      <p:sp>
        <p:nvSpPr>
          <p:cNvPr id="16" name="Text 12"/>
          <p:cNvSpPr txBox="1"/>
          <p:nvPr/>
        </p:nvSpPr>
        <p:spPr>
          <a:xfrm>
            <a:off x="3840480" y="1380744"/>
            <a:ext cx="4754880" cy="219456"/>
          </a:xfrm>
          <a:prstGeom prst="rect">
            <a:avLst/>
          </a:prstGeom>
          <a:noFill/>
          <a:ln/>
        </p:spPr>
        <p:txBody>
          <a:bodyPr wrap="square" lIns="0" tIns="0" rIns="0" bIns="0" rtlCol="0" anchor="t"/>
          <a:lstStyle/>
          <a:p>
            <a:pPr indent="0" marL="0">
              <a:buNone/>
            </a:pPr>
            <a:r>
              <a:rPr lang="en-US" sz="950" b="1" dirty="0">
                <a:solidFill>
                  <a:srgbClr val="5E6964"/>
                </a:solidFill>
                <a:latin typeface="Calibri" pitchFamily="34" charset="0"/>
                <a:ea typeface="Calibri" pitchFamily="34" charset="-122"/>
                <a:cs typeface="Calibri" pitchFamily="34" charset="-120"/>
              </a:rPr>
              <a:t>100 m · 1975–2030, époques de 5 ans · population_count</a:t>
            </a:r>
            <a:endParaRPr lang="en-US" sz="950" dirty="0"/>
          </a:p>
        </p:txBody>
      </p:sp>
      <p:sp>
        <p:nvSpPr>
          <p:cNvPr id="17" name="Text 13"/>
          <p:cNvSpPr txBox="1"/>
          <p:nvPr/>
        </p:nvSpPr>
        <p:spPr>
          <a:xfrm>
            <a:off x="3840480" y="1600200"/>
            <a:ext cx="4754880" cy="274320"/>
          </a:xfrm>
          <a:prstGeom prst="rect">
            <a:avLst/>
          </a:prstGeom>
          <a:noFill/>
          <a:ln/>
        </p:spPr>
        <p:txBody>
          <a:bodyPr wrap="square" lIns="0" tIns="0" rIns="0" bIns="0" rtlCol="0" anchor="t"/>
          <a:lstStyle/>
          <a:p>
            <a:pPr indent="0" marL="0">
              <a:buNone/>
            </a:pPr>
            <a:r>
              <a:rPr lang="en-US" sz="950" dirty="0">
                <a:solidFill>
                  <a:srgbClr val="231F20"/>
                </a:solidFill>
                <a:latin typeface="Calibri" pitchFamily="34" charset="0"/>
                <a:ea typeface="Calibri" pitchFamily="34" charset="-122"/>
                <a:cs typeface="Calibri" pitchFamily="34" charset="-120"/>
              </a:rPr>
              <a:t>Lumière par habitant (S2, S5), pixels habités ≥ 5 personnes, population dans le noir, test torchère</a:t>
            </a:r>
            <a:endParaRPr lang="en-US" sz="950" dirty="0"/>
          </a:p>
        </p:txBody>
      </p:sp>
      <p:sp>
        <p:nvSpPr>
          <p:cNvPr id="18" name="Shape 14"/>
          <p:cNvSpPr/>
          <p:nvPr/>
        </p:nvSpPr>
        <p:spPr>
          <a:xfrm>
            <a:off x="457200" y="1965960"/>
            <a:ext cx="8229600" cy="566928"/>
          </a:xfrm>
          <a:prstGeom prst="roundRect">
            <a:avLst>
              <a:gd name="adj" fmla="val 9677"/>
            </a:avLst>
          </a:prstGeom>
          <a:solidFill>
            <a:srgbClr val="F4F7F5"/>
          </a:solidFill>
          <a:ln w="9525">
            <a:solidFill>
              <a:srgbClr val="D5DED9"/>
            </a:solidFill>
            <a:prstDash val="solid"/>
          </a:ln>
        </p:spPr>
      </p:sp>
      <p:sp>
        <p:nvSpPr>
          <p:cNvPr id="19" name="Shape 15"/>
          <p:cNvSpPr/>
          <p:nvPr/>
        </p:nvSpPr>
        <p:spPr>
          <a:xfrm>
            <a:off x="566928" y="2057400"/>
            <a:ext cx="384048" cy="384048"/>
          </a:xfrm>
          <a:prstGeom prst="ellipse">
            <a:avLst/>
          </a:prstGeom>
          <a:solidFill>
            <a:srgbClr val="0E7C86">
              <a:alpha val="22000"/>
            </a:srgbClr>
          </a:solidFill>
          <a:ln w="12700">
            <a:solidFill>
              <a:srgbClr val="0E7C86">
                <a:alpha val="0"/>
              </a:srgbClr>
            </a:solidFill>
            <a:prstDash val="solid"/>
          </a:ln>
        </p:spPr>
      </p:sp>
      <p:pic>
        <p:nvPicPr>
          <p:cNvPr id="20" name="Image 1" descr="preencoded.png">    </p:cNvPr>
          <p:cNvPicPr>
            <a:picLocks noChangeAspect="1"/>
          </p:cNvPicPr>
          <p:nvPr/>
        </p:nvPicPr>
        <p:blipFill>
          <a:blip r:embed="rId2"/>
          <a:stretch>
            <a:fillRect/>
          </a:stretch>
        </p:blipFill>
        <p:spPr>
          <a:xfrm>
            <a:off x="659100" y="2149572"/>
            <a:ext cx="199705" cy="199705"/>
          </a:xfrm>
          <a:prstGeom prst="rect">
            <a:avLst/>
          </a:prstGeom>
        </p:spPr>
      </p:pic>
      <p:sp>
        <p:nvSpPr>
          <p:cNvPr id="21" name="Text 16"/>
          <p:cNvSpPr txBox="1"/>
          <p:nvPr/>
        </p:nvSpPr>
        <p:spPr>
          <a:xfrm>
            <a:off x="1051560" y="2020824"/>
            <a:ext cx="2743200" cy="237744"/>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WorldPop</a:t>
            </a:r>
            <a:endParaRPr lang="en-US" sz="1150" dirty="0"/>
          </a:p>
        </p:txBody>
      </p:sp>
      <p:sp>
        <p:nvSpPr>
          <p:cNvPr id="22" name="Text 17"/>
          <p:cNvSpPr txBox="1"/>
          <p:nvPr/>
        </p:nvSpPr>
        <p:spPr>
          <a:xfrm>
            <a:off x="1051560" y="2267712"/>
            <a:ext cx="2743200" cy="201168"/>
          </a:xfrm>
          <a:prstGeom prst="rect">
            <a:avLst/>
          </a:prstGeom>
          <a:noFill/>
          <a:ln/>
        </p:spPr>
        <p:txBody>
          <a:bodyPr wrap="square" lIns="0" tIns="0" rIns="0" bIns="0" rtlCol="0" anchor="t"/>
          <a:lstStyle/>
          <a:p>
            <a:pPr indent="0" marL="0">
              <a:buNone/>
            </a:pPr>
            <a:r>
              <a:rPr lang="en-US" sz="800" dirty="0">
                <a:solidFill>
                  <a:srgbClr val="00704A"/>
                </a:solidFill>
                <a:latin typeface="Courier New" pitchFamily="34" charset="0"/>
                <a:ea typeface="Courier New" pitchFamily="34" charset="-122"/>
                <a:cs typeface="Courier New" pitchFamily="34" charset="-120"/>
              </a:rPr>
              <a:t>WorldPop/GP/100m/pop</a:t>
            </a:r>
            <a:endParaRPr lang="en-US" sz="800" dirty="0"/>
          </a:p>
        </p:txBody>
      </p:sp>
      <p:sp>
        <p:nvSpPr>
          <p:cNvPr id="23" name="Text 18"/>
          <p:cNvSpPr txBox="1"/>
          <p:nvPr/>
        </p:nvSpPr>
        <p:spPr>
          <a:xfrm>
            <a:off x="3840480" y="2020824"/>
            <a:ext cx="4754880" cy="219456"/>
          </a:xfrm>
          <a:prstGeom prst="rect">
            <a:avLst/>
          </a:prstGeom>
          <a:noFill/>
          <a:ln/>
        </p:spPr>
        <p:txBody>
          <a:bodyPr wrap="square" lIns="0" tIns="0" rIns="0" bIns="0" rtlCol="0" anchor="t"/>
          <a:lstStyle/>
          <a:p>
            <a:pPr indent="0" marL="0">
              <a:buNone/>
            </a:pPr>
            <a:r>
              <a:rPr lang="en-US" sz="950" b="1" dirty="0">
                <a:solidFill>
                  <a:srgbClr val="5E6964"/>
                </a:solidFill>
                <a:latin typeface="Calibri" pitchFamily="34" charset="0"/>
                <a:ea typeface="Calibri" pitchFamily="34" charset="-122"/>
                <a:cs typeface="Calibri" pitchFamily="34" charset="-120"/>
              </a:rPr>
              <a:t>~100 m · 2000–2020 · population</a:t>
            </a:r>
            <a:endParaRPr lang="en-US" sz="950" dirty="0"/>
          </a:p>
        </p:txBody>
      </p:sp>
      <p:sp>
        <p:nvSpPr>
          <p:cNvPr id="24" name="Text 19"/>
          <p:cNvSpPr txBox="1"/>
          <p:nvPr/>
        </p:nvSpPr>
        <p:spPr>
          <a:xfrm>
            <a:off x="3840480" y="2240280"/>
            <a:ext cx="4754880" cy="274320"/>
          </a:xfrm>
          <a:prstGeom prst="rect">
            <a:avLst/>
          </a:prstGeom>
          <a:noFill/>
          <a:ln/>
        </p:spPr>
        <p:txBody>
          <a:bodyPr wrap="square" lIns="0" tIns="0" rIns="0" bIns="0" rtlCol="0" anchor="t"/>
          <a:lstStyle/>
          <a:p>
            <a:pPr indent="0" marL="0">
              <a:buNone/>
            </a:pPr>
            <a:r>
              <a:rPr lang="en-US" sz="950" dirty="0">
                <a:solidFill>
                  <a:srgbClr val="231F20"/>
                </a:solidFill>
                <a:latin typeface="Calibri" pitchFamily="34" charset="0"/>
                <a:ea typeface="Calibri" pitchFamily="34" charset="-122"/>
                <a:cs typeface="Calibri" pitchFamily="34" charset="-120"/>
              </a:rPr>
              <a:t>Source de population alternative (pop_source = "worldpop")</a:t>
            </a:r>
            <a:endParaRPr lang="en-US" sz="950" dirty="0"/>
          </a:p>
        </p:txBody>
      </p:sp>
      <p:sp>
        <p:nvSpPr>
          <p:cNvPr id="25" name="Shape 20"/>
          <p:cNvSpPr/>
          <p:nvPr/>
        </p:nvSpPr>
        <p:spPr>
          <a:xfrm>
            <a:off x="457200" y="2606040"/>
            <a:ext cx="8229600" cy="566928"/>
          </a:xfrm>
          <a:prstGeom prst="roundRect">
            <a:avLst>
              <a:gd name="adj" fmla="val 9677"/>
            </a:avLst>
          </a:prstGeom>
          <a:solidFill>
            <a:srgbClr val="F4F7F5"/>
          </a:solidFill>
          <a:ln w="9525">
            <a:solidFill>
              <a:srgbClr val="D5DED9"/>
            </a:solidFill>
            <a:prstDash val="solid"/>
          </a:ln>
        </p:spPr>
      </p:sp>
      <p:sp>
        <p:nvSpPr>
          <p:cNvPr id="26" name="Shape 21"/>
          <p:cNvSpPr/>
          <p:nvPr/>
        </p:nvSpPr>
        <p:spPr>
          <a:xfrm>
            <a:off x="566928" y="2697480"/>
            <a:ext cx="384048" cy="384048"/>
          </a:xfrm>
          <a:prstGeom prst="ellipse">
            <a:avLst/>
          </a:prstGeom>
          <a:solidFill>
            <a:srgbClr val="0E7C86">
              <a:alpha val="22000"/>
            </a:srgbClr>
          </a:solidFill>
          <a:ln w="12700">
            <a:solidFill>
              <a:srgbClr val="0E7C86">
                <a:alpha val="0"/>
              </a:srgbClr>
            </a:solidFill>
            <a:prstDash val="solid"/>
          </a:ln>
        </p:spPr>
      </p:sp>
      <p:pic>
        <p:nvPicPr>
          <p:cNvPr id="27" name="Image 2" descr="preencoded.png">    </p:cNvPr>
          <p:cNvPicPr>
            <a:picLocks noChangeAspect="1"/>
          </p:cNvPicPr>
          <p:nvPr/>
        </p:nvPicPr>
        <p:blipFill>
          <a:blip r:embed="rId3"/>
          <a:stretch>
            <a:fillRect/>
          </a:stretch>
        </p:blipFill>
        <p:spPr>
          <a:xfrm>
            <a:off x="659100" y="2789652"/>
            <a:ext cx="199705" cy="199705"/>
          </a:xfrm>
          <a:prstGeom prst="rect">
            <a:avLst/>
          </a:prstGeom>
        </p:spPr>
      </p:pic>
      <p:sp>
        <p:nvSpPr>
          <p:cNvPr id="28" name="Text 22"/>
          <p:cNvSpPr txBox="1"/>
          <p:nvPr/>
        </p:nvSpPr>
        <p:spPr>
          <a:xfrm>
            <a:off x="1051560" y="2660904"/>
            <a:ext cx="2743200" cy="237744"/>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GHSL GHS-SMOD R2023A</a:t>
            </a:r>
            <a:endParaRPr lang="en-US" sz="1150" dirty="0"/>
          </a:p>
        </p:txBody>
      </p:sp>
      <p:sp>
        <p:nvSpPr>
          <p:cNvPr id="29" name="Text 23"/>
          <p:cNvSpPr txBox="1"/>
          <p:nvPr/>
        </p:nvSpPr>
        <p:spPr>
          <a:xfrm>
            <a:off x="1051560" y="2907792"/>
            <a:ext cx="2743200" cy="201168"/>
          </a:xfrm>
          <a:prstGeom prst="rect">
            <a:avLst/>
          </a:prstGeom>
          <a:noFill/>
          <a:ln/>
        </p:spPr>
        <p:txBody>
          <a:bodyPr wrap="square" lIns="0" tIns="0" rIns="0" bIns="0" rtlCol="0" anchor="t"/>
          <a:lstStyle/>
          <a:p>
            <a:pPr indent="0" marL="0">
              <a:buNone/>
            </a:pPr>
            <a:r>
              <a:rPr lang="en-US" sz="800" dirty="0">
                <a:solidFill>
                  <a:srgbClr val="00704A"/>
                </a:solidFill>
                <a:latin typeface="Courier New" pitchFamily="34" charset="0"/>
                <a:ea typeface="Courier New" pitchFamily="34" charset="-122"/>
                <a:cs typeface="Courier New" pitchFamily="34" charset="-120"/>
              </a:rPr>
              <a:t>JRC/GHSL/P2023A/GHS_SMOD_V2-0</a:t>
            </a:r>
            <a:endParaRPr lang="en-US" sz="800" dirty="0"/>
          </a:p>
        </p:txBody>
      </p:sp>
      <p:sp>
        <p:nvSpPr>
          <p:cNvPr id="30" name="Text 24"/>
          <p:cNvSpPr txBox="1"/>
          <p:nvPr/>
        </p:nvSpPr>
        <p:spPr>
          <a:xfrm>
            <a:off x="3840480" y="2660904"/>
            <a:ext cx="4754880" cy="219456"/>
          </a:xfrm>
          <a:prstGeom prst="rect">
            <a:avLst/>
          </a:prstGeom>
          <a:noFill/>
          <a:ln/>
        </p:spPr>
        <p:txBody>
          <a:bodyPr wrap="square" lIns="0" tIns="0" rIns="0" bIns="0" rtlCol="0" anchor="t"/>
          <a:lstStyle/>
          <a:p>
            <a:pPr indent="0" marL="0">
              <a:buNone/>
            </a:pPr>
            <a:r>
              <a:rPr lang="en-US" sz="950" b="1" dirty="0">
                <a:solidFill>
                  <a:srgbClr val="5E6964"/>
                </a:solidFill>
                <a:latin typeface="Calibri" pitchFamily="34" charset="0"/>
                <a:ea typeface="Calibri" pitchFamily="34" charset="-122"/>
                <a:cs typeface="Calibri" pitchFamily="34" charset="-120"/>
              </a:rPr>
              <a:t>1 km · époques de 5 ans · smod_code (degré d'urbanisation)</a:t>
            </a:r>
            <a:endParaRPr lang="en-US" sz="950" dirty="0"/>
          </a:p>
        </p:txBody>
      </p:sp>
      <p:sp>
        <p:nvSpPr>
          <p:cNvPr id="31" name="Text 25"/>
          <p:cNvSpPr txBox="1"/>
          <p:nvPr/>
        </p:nvSpPr>
        <p:spPr>
          <a:xfrm>
            <a:off x="3840480" y="2880360"/>
            <a:ext cx="4754880" cy="274320"/>
          </a:xfrm>
          <a:prstGeom prst="rect">
            <a:avLst/>
          </a:prstGeom>
          <a:noFill/>
          <a:ln/>
        </p:spPr>
        <p:txBody>
          <a:bodyPr wrap="square" lIns="0" tIns="0" rIns="0" bIns="0" rtlCol="0" anchor="t"/>
          <a:lstStyle/>
          <a:p>
            <a:pPr indent="0" marL="0">
              <a:buNone/>
            </a:pPr>
            <a:r>
              <a:rPr lang="en-US" sz="950" dirty="0">
                <a:solidFill>
                  <a:srgbClr val="231F20"/>
                </a:solidFill>
                <a:latin typeface="Calibri" pitchFamily="34" charset="0"/>
                <a:ea typeface="Calibri" pitchFamily="34" charset="-122"/>
                <a:cs typeface="Calibri" pitchFamily="34" charset="-120"/>
              </a:rPr>
              <a:t>Urbain si code ≥ 21 → partage urbain / rural de la lumière et de la population dans le noir (S5)</a:t>
            </a:r>
            <a:endParaRPr lang="en-US" sz="950" dirty="0"/>
          </a:p>
        </p:txBody>
      </p:sp>
      <p:sp>
        <p:nvSpPr>
          <p:cNvPr id="32" name="Shape 26"/>
          <p:cNvSpPr/>
          <p:nvPr/>
        </p:nvSpPr>
        <p:spPr>
          <a:xfrm>
            <a:off x="457200" y="3246120"/>
            <a:ext cx="8229600" cy="566928"/>
          </a:xfrm>
          <a:prstGeom prst="roundRect">
            <a:avLst>
              <a:gd name="adj" fmla="val 9677"/>
            </a:avLst>
          </a:prstGeom>
          <a:solidFill>
            <a:srgbClr val="F4F7F5"/>
          </a:solidFill>
          <a:ln w="9525">
            <a:solidFill>
              <a:srgbClr val="D5DED9"/>
            </a:solidFill>
            <a:prstDash val="solid"/>
          </a:ln>
        </p:spPr>
      </p:sp>
      <p:sp>
        <p:nvSpPr>
          <p:cNvPr id="33" name="Shape 27"/>
          <p:cNvSpPr/>
          <p:nvPr/>
        </p:nvSpPr>
        <p:spPr>
          <a:xfrm>
            <a:off x="566928" y="3337560"/>
            <a:ext cx="384048" cy="384048"/>
          </a:xfrm>
          <a:prstGeom prst="ellipse">
            <a:avLst/>
          </a:prstGeom>
          <a:solidFill>
            <a:srgbClr val="0E7C86">
              <a:alpha val="22000"/>
            </a:srgbClr>
          </a:solidFill>
          <a:ln w="12700">
            <a:solidFill>
              <a:srgbClr val="0E7C86">
                <a:alpha val="0"/>
              </a:srgbClr>
            </a:solidFill>
            <a:prstDash val="solid"/>
          </a:ln>
        </p:spPr>
      </p:sp>
      <p:pic>
        <p:nvPicPr>
          <p:cNvPr id="34" name="Image 3" descr="preencoded.png">    </p:cNvPr>
          <p:cNvPicPr>
            <a:picLocks noChangeAspect="1"/>
          </p:cNvPicPr>
          <p:nvPr/>
        </p:nvPicPr>
        <p:blipFill>
          <a:blip r:embed="rId4"/>
          <a:stretch>
            <a:fillRect/>
          </a:stretch>
        </p:blipFill>
        <p:spPr>
          <a:xfrm>
            <a:off x="659100" y="3429732"/>
            <a:ext cx="199705" cy="199705"/>
          </a:xfrm>
          <a:prstGeom prst="rect">
            <a:avLst/>
          </a:prstGeom>
        </p:spPr>
      </p:pic>
      <p:sp>
        <p:nvSpPr>
          <p:cNvPr id="35" name="Text 28"/>
          <p:cNvSpPr txBox="1"/>
          <p:nvPr/>
        </p:nvSpPr>
        <p:spPr>
          <a:xfrm>
            <a:off x="1051560" y="3300984"/>
            <a:ext cx="2743200" cy="237744"/>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GHSL GHS-BUILT-S R2023A</a:t>
            </a:r>
            <a:endParaRPr lang="en-US" sz="1150" dirty="0"/>
          </a:p>
        </p:txBody>
      </p:sp>
      <p:sp>
        <p:nvSpPr>
          <p:cNvPr id="36" name="Text 29"/>
          <p:cNvSpPr txBox="1"/>
          <p:nvPr/>
        </p:nvSpPr>
        <p:spPr>
          <a:xfrm>
            <a:off x="1051560" y="3547872"/>
            <a:ext cx="2743200" cy="201168"/>
          </a:xfrm>
          <a:prstGeom prst="rect">
            <a:avLst/>
          </a:prstGeom>
          <a:noFill/>
          <a:ln/>
        </p:spPr>
        <p:txBody>
          <a:bodyPr wrap="square" lIns="0" tIns="0" rIns="0" bIns="0" rtlCol="0" anchor="t"/>
          <a:lstStyle/>
          <a:p>
            <a:pPr indent="0" marL="0">
              <a:buNone/>
            </a:pPr>
            <a:r>
              <a:rPr lang="en-US" sz="800" dirty="0">
                <a:solidFill>
                  <a:srgbClr val="00704A"/>
                </a:solidFill>
                <a:latin typeface="Courier New" pitchFamily="34" charset="0"/>
                <a:ea typeface="Courier New" pitchFamily="34" charset="-122"/>
                <a:cs typeface="Courier New" pitchFamily="34" charset="-120"/>
              </a:rPr>
              <a:t>JRC/GHSL/P2023A/GHS_BUILT_S</a:t>
            </a:r>
            <a:endParaRPr lang="en-US" sz="800" dirty="0"/>
          </a:p>
        </p:txBody>
      </p:sp>
      <p:sp>
        <p:nvSpPr>
          <p:cNvPr id="37" name="Text 30"/>
          <p:cNvSpPr txBox="1"/>
          <p:nvPr/>
        </p:nvSpPr>
        <p:spPr>
          <a:xfrm>
            <a:off x="3840480" y="3300984"/>
            <a:ext cx="4754880" cy="219456"/>
          </a:xfrm>
          <a:prstGeom prst="rect">
            <a:avLst/>
          </a:prstGeom>
          <a:noFill/>
          <a:ln/>
        </p:spPr>
        <p:txBody>
          <a:bodyPr wrap="square" lIns="0" tIns="0" rIns="0" bIns="0" rtlCol="0" anchor="t"/>
          <a:lstStyle/>
          <a:p>
            <a:pPr indent="0" marL="0">
              <a:buNone/>
            </a:pPr>
            <a:r>
              <a:rPr lang="en-US" sz="950" b="1" dirty="0">
                <a:solidFill>
                  <a:srgbClr val="5E6964"/>
                </a:solidFill>
                <a:latin typeface="Calibri" pitchFamily="34" charset="0"/>
                <a:ea typeface="Calibri" pitchFamily="34" charset="-122"/>
                <a:cs typeface="Calibri" pitchFamily="34" charset="-120"/>
              </a:rPr>
              <a:t>100 m (issu du 10 m) · built_surface, built_surface_nres</a:t>
            </a:r>
            <a:endParaRPr lang="en-US" sz="950" dirty="0"/>
          </a:p>
        </p:txBody>
      </p:sp>
      <p:sp>
        <p:nvSpPr>
          <p:cNvPr id="38" name="Text 31"/>
          <p:cNvSpPr txBox="1"/>
          <p:nvPr/>
        </p:nvSpPr>
        <p:spPr>
          <a:xfrm>
            <a:off x="3840480" y="3520440"/>
            <a:ext cx="4754880" cy="274320"/>
          </a:xfrm>
          <a:prstGeom prst="rect">
            <a:avLst/>
          </a:prstGeom>
          <a:noFill/>
          <a:ln/>
        </p:spPr>
        <p:txBody>
          <a:bodyPr wrap="square" lIns="0" tIns="0" rIns="0" bIns="0" rtlCol="0" anchor="t"/>
          <a:lstStyle/>
          <a:p>
            <a:pPr indent="0" marL="0">
              <a:buNone/>
            </a:pPr>
            <a:r>
              <a:rPr lang="en-US" sz="950" dirty="0">
                <a:solidFill>
                  <a:srgbClr val="231F20"/>
                </a:solidFill>
                <a:latin typeface="Calibri" pitchFamily="34" charset="0"/>
                <a:ea typeface="Calibri" pitchFamily="34" charset="-122"/>
                <a:cs typeface="Calibri" pitchFamily="34" charset="-120"/>
              </a:rPr>
              <a:t>Part non résidentielle du score industriel (S6) ; test « non bâti » des torchères</a:t>
            </a:r>
            <a:endParaRPr lang="en-US" sz="950" dirty="0"/>
          </a:p>
        </p:txBody>
      </p:sp>
      <p:sp>
        <p:nvSpPr>
          <p:cNvPr id="39" name="Shape 32"/>
          <p:cNvSpPr/>
          <p:nvPr/>
        </p:nvSpPr>
        <p:spPr>
          <a:xfrm>
            <a:off x="457200" y="3886200"/>
            <a:ext cx="8229600" cy="566928"/>
          </a:xfrm>
          <a:prstGeom prst="roundRect">
            <a:avLst>
              <a:gd name="adj" fmla="val 9677"/>
            </a:avLst>
          </a:prstGeom>
          <a:solidFill>
            <a:srgbClr val="FFFFFF"/>
          </a:solidFill>
          <a:ln w="9525">
            <a:solidFill>
              <a:srgbClr val="D5DED9"/>
            </a:solidFill>
            <a:prstDash val="dash"/>
          </a:ln>
        </p:spPr>
      </p:sp>
      <p:sp>
        <p:nvSpPr>
          <p:cNvPr id="40" name="Shape 33"/>
          <p:cNvSpPr/>
          <p:nvPr/>
        </p:nvSpPr>
        <p:spPr>
          <a:xfrm>
            <a:off x="566928" y="3977640"/>
            <a:ext cx="384048" cy="384048"/>
          </a:xfrm>
          <a:prstGeom prst="ellipse">
            <a:avLst/>
          </a:prstGeom>
          <a:solidFill>
            <a:srgbClr val="A9B5B0">
              <a:alpha val="22000"/>
            </a:srgbClr>
          </a:solidFill>
          <a:ln w="12700">
            <a:solidFill>
              <a:srgbClr val="A9B5B0">
                <a:alpha val="0"/>
              </a:srgbClr>
            </a:solidFill>
            <a:prstDash val="solid"/>
          </a:ln>
        </p:spPr>
      </p:sp>
      <p:pic>
        <p:nvPicPr>
          <p:cNvPr id="41" name="Image 4" descr="preencoded.png">    </p:cNvPr>
          <p:cNvPicPr>
            <a:picLocks noChangeAspect="1"/>
          </p:cNvPicPr>
          <p:nvPr/>
        </p:nvPicPr>
        <p:blipFill>
          <a:blip r:embed="rId5"/>
          <a:stretch>
            <a:fillRect/>
          </a:stretch>
        </p:blipFill>
        <p:spPr>
          <a:xfrm>
            <a:off x="659100" y="4069812"/>
            <a:ext cx="199705" cy="199705"/>
          </a:xfrm>
          <a:prstGeom prst="rect">
            <a:avLst/>
          </a:prstGeom>
        </p:spPr>
      </p:pic>
      <p:sp>
        <p:nvSpPr>
          <p:cNvPr id="42" name="Text 34"/>
          <p:cNvSpPr txBox="1"/>
          <p:nvPr/>
        </p:nvSpPr>
        <p:spPr>
          <a:xfrm>
            <a:off x="1051560" y="3941064"/>
            <a:ext cx="2743200" cy="237744"/>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ESA WorldCover v200</a:t>
            </a:r>
            <a:endParaRPr lang="en-US" sz="1150" dirty="0"/>
          </a:p>
        </p:txBody>
      </p:sp>
      <p:sp>
        <p:nvSpPr>
          <p:cNvPr id="43" name="Text 35"/>
          <p:cNvSpPr txBox="1"/>
          <p:nvPr/>
        </p:nvSpPr>
        <p:spPr>
          <a:xfrm>
            <a:off x="1051560" y="4187952"/>
            <a:ext cx="2743200" cy="201168"/>
          </a:xfrm>
          <a:prstGeom prst="rect">
            <a:avLst/>
          </a:prstGeom>
          <a:noFill/>
          <a:ln/>
        </p:spPr>
        <p:txBody>
          <a:bodyPr wrap="square" lIns="0" tIns="0" rIns="0" bIns="0" rtlCol="0" anchor="t"/>
          <a:lstStyle/>
          <a:p>
            <a:pPr indent="0" marL="0">
              <a:buNone/>
            </a:pPr>
            <a:r>
              <a:rPr lang="en-US" sz="800" dirty="0">
                <a:solidFill>
                  <a:srgbClr val="00704A"/>
                </a:solidFill>
                <a:latin typeface="Courier New" pitchFamily="34" charset="0"/>
                <a:ea typeface="Courier New" pitchFamily="34" charset="-122"/>
                <a:cs typeface="Courier New" pitchFamily="34" charset="-120"/>
              </a:rPr>
              <a:t>ESA/WorldCover/v200</a:t>
            </a:r>
            <a:endParaRPr lang="en-US" sz="800" dirty="0"/>
          </a:p>
        </p:txBody>
      </p:sp>
      <p:sp>
        <p:nvSpPr>
          <p:cNvPr id="44" name="Text 36"/>
          <p:cNvSpPr txBox="1"/>
          <p:nvPr/>
        </p:nvSpPr>
        <p:spPr>
          <a:xfrm>
            <a:off x="3840480" y="3941064"/>
            <a:ext cx="4754880" cy="219456"/>
          </a:xfrm>
          <a:prstGeom prst="rect">
            <a:avLst/>
          </a:prstGeom>
          <a:noFill/>
          <a:ln/>
        </p:spPr>
        <p:txBody>
          <a:bodyPr wrap="square" lIns="0" tIns="0" rIns="0" bIns="0" rtlCol="0" anchor="t"/>
          <a:lstStyle/>
          <a:p>
            <a:pPr indent="0" marL="0">
              <a:buNone/>
            </a:pPr>
            <a:r>
              <a:rPr lang="en-US" sz="950" b="1" dirty="0">
                <a:solidFill>
                  <a:srgbClr val="5E6964"/>
                </a:solidFill>
                <a:latin typeface="Calibri" pitchFamily="34" charset="0"/>
                <a:ea typeface="Calibri" pitchFamily="34" charset="-122"/>
                <a:cs typeface="Calibri" pitchFamily="34" charset="-120"/>
              </a:rPr>
              <a:t>10 m · 2021 · 11 classes d'occupation du sol</a:t>
            </a:r>
            <a:endParaRPr lang="en-US" sz="950" dirty="0"/>
          </a:p>
        </p:txBody>
      </p:sp>
      <p:sp>
        <p:nvSpPr>
          <p:cNvPr id="45" name="Text 37"/>
          <p:cNvSpPr txBox="1"/>
          <p:nvPr/>
        </p:nvSpPr>
        <p:spPr>
          <a:xfrm>
            <a:off x="3840480" y="4160520"/>
            <a:ext cx="4754880" cy="274320"/>
          </a:xfrm>
          <a:prstGeom prst="rect">
            <a:avLst/>
          </a:prstGeom>
          <a:noFill/>
          <a:ln/>
        </p:spPr>
        <p:txBody>
          <a:bodyPr wrap="square" lIns="0" tIns="0" rIns="0" bIns="0" rtlCol="0" anchor="t"/>
          <a:lstStyle/>
          <a:p>
            <a:pPr indent="0" marL="0">
              <a:buNone/>
            </a:pPr>
            <a:r>
              <a:rPr lang="en-US" sz="950" dirty="0">
                <a:solidFill>
                  <a:srgbClr val="231F20"/>
                </a:solidFill>
                <a:latin typeface="Calibri" pitchFamily="34" charset="0"/>
                <a:ea typeface="Calibri" pitchFamily="34" charset="-122"/>
                <a:cs typeface="Calibri" pitchFamily="34" charset="-120"/>
              </a:rPr>
              <a:t>Optionnel : parts arbres, cultures, bâti, sol nu, eau par unité — non utilisé par défaut</a:t>
            </a:r>
            <a:endParaRPr lang="en-US" sz="950" dirty="0"/>
          </a:p>
        </p:txBody>
      </p:sp>
      <p:sp>
        <p:nvSpPr>
          <p:cNvPr id="46" name="Text 38"/>
          <p:cNvSpPr txBox="1"/>
          <p:nvPr/>
        </p:nvSpPr>
        <p:spPr>
          <a:xfrm>
            <a:off x="457200" y="4553712"/>
            <a:ext cx="7223760" cy="219456"/>
          </a:xfrm>
          <a:prstGeom prst="rect">
            <a:avLst/>
          </a:prstGeom>
          <a:noFill/>
          <a:ln/>
        </p:spPr>
        <p:txBody>
          <a:bodyPr wrap="square" lIns="0" tIns="0" rIns="0" bIns="0" rtlCol="0" anchor="ctr"/>
          <a:lstStyle/>
          <a:p>
            <a:pPr indent="0" marL="0">
              <a:buNone/>
            </a:pPr>
            <a:r>
              <a:rPr lang="en-US" sz="900" i="1" dirty="0">
                <a:solidFill>
                  <a:srgbClr val="5E6964"/>
                </a:solidFill>
                <a:latin typeface="Calibri" pitchFamily="34" charset="0"/>
                <a:ea typeface="Calibri" pitchFamily="34" charset="-122"/>
                <a:cs typeface="Calibri" pitchFamily="34" charset="-120"/>
              </a:rPr>
              <a:t>Sources : Schiavina et al. (2023) ; Pesaresi et al. (2023), JRC GHSL R2023A ; WorldPop (2018) ; Zanaga et al. (2022)</a:t>
            </a:r>
            <a:endParaRPr lang="en-US" sz="9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8A9590"/>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3"/>
          <p:cNvSpPr/>
          <p:nvPr>
            <p:ph idx="105" type="body" hasCustomPrompt="1"/>
          </p:nvPr>
        </p:nvSpPr>
        <p:spPr>
          <a:xfrm>
            <a:off x="457200" y="274320"/>
            <a:ext cx="6217920" cy="256032"/>
          </a:xfrm>
          <a:prstGeom prst="rect">
            <a:avLst/>
          </a:prstGeom>
          <a:noFill/>
          <a:ln/>
        </p:spPr>
        <p:txBody>
          <a:bodyPr wrap="square" lIns="0" tIns="0" rIns="0" bIns="0" rtlCol="0" anchor="ctr"/>
          <a:lstStyle/>
          <a:p>
            <a:pPr algn="l" indent="0" marL="0">
              <a:buNone/>
            </a:pPr>
            <a:r>
              <a:rPr lang="en-US" sz="1050" b="1" spc="300" kern="0" dirty="0">
                <a:solidFill>
                  <a:srgbClr val="00704A"/>
                </a:solidFill>
                <a:latin typeface="Calibri" pitchFamily="34" charset="0"/>
                <a:ea typeface="Calibri" pitchFamily="34" charset="-122"/>
                <a:cs typeface="Calibri" pitchFamily="34" charset="-120"/>
              </a:rPr>
              <a:t>04 · ANALYSER · DONNÉES (3/3)</a:t>
            </a:r>
            <a:endParaRPr lang="en-US" sz="1050" dirty="0"/>
          </a:p>
        </p:txBody>
      </p:sp>
      <p:sp>
        <p:nvSpPr>
          <p:cNvPr id="3" name="Text 3"/>
          <p:cNvSpPr/>
          <p:nvPr>
            <p:ph idx="106" type="title" hasCustomPrompt="1"/>
          </p:nvPr>
        </p:nvSpPr>
        <p:spPr>
          <a:xfrm>
            <a:off x="457200" y="548640"/>
            <a:ext cx="8229600" cy="566928"/>
          </a:xfrm>
          <a:prstGeom prst="rect">
            <a:avLst/>
          </a:prstGeom>
          <a:noFill/>
          <a:ln/>
        </p:spPr>
        <p:txBody>
          <a:bodyPr wrap="square" lIns="0" tIns="0" rIns="0" bIns="0" rtlCol="0" anchor="ctr"/>
          <a:lstStyle/>
          <a:p>
            <a:pPr algn="l" indent="0" marL="0">
              <a:buNone/>
            </a:pPr>
            <a:r>
              <a:rPr lang="en-US" sz="2800" b="1" dirty="0">
                <a:solidFill>
                  <a:srgbClr val="231F20"/>
                </a:solidFill>
                <a:latin typeface="Calibri" pitchFamily="34" charset="0"/>
                <a:ea typeface="Calibri" pitchFamily="34" charset="-122"/>
                <a:cs typeface="Calibri" pitchFamily="34" charset="-120"/>
              </a:rPr>
              <a:t>Limites, statistiques officielles et données de validation</a:t>
            </a:r>
            <a:endParaRPr lang="en-US" sz="2800" dirty="0"/>
          </a:p>
        </p:txBody>
      </p:sp>
      <p:sp>
        <p:nvSpPr>
          <p:cNvPr id="4" name="dot0"/>
          <p:cNvSpPr/>
          <p:nvPr/>
        </p:nvSpPr>
        <p:spPr>
          <a:xfrm>
            <a:off x="7644384" y="338328"/>
            <a:ext cx="100584" cy="100584"/>
          </a:xfrm>
          <a:prstGeom prst="ellipse">
            <a:avLst/>
          </a:prstGeom>
          <a:solidFill>
            <a:srgbClr val="D5DED9"/>
          </a:solidFill>
          <a:ln w="12700">
            <a:solidFill>
              <a:srgbClr val="D5DED9"/>
            </a:solidFill>
            <a:prstDash val="solid"/>
          </a:ln>
        </p:spPr>
      </p:sp>
      <p:sp>
        <p:nvSpPr>
          <p:cNvPr id="5" name="dot1"/>
          <p:cNvSpPr/>
          <p:nvPr/>
        </p:nvSpPr>
        <p:spPr>
          <a:xfrm>
            <a:off x="7818120" y="338328"/>
            <a:ext cx="100584" cy="100584"/>
          </a:xfrm>
          <a:prstGeom prst="ellipse">
            <a:avLst/>
          </a:prstGeom>
          <a:solidFill>
            <a:srgbClr val="D5DED9"/>
          </a:solidFill>
          <a:ln w="12700">
            <a:solidFill>
              <a:srgbClr val="D5DED9"/>
            </a:solidFill>
            <a:prstDash val="solid"/>
          </a:ln>
        </p:spPr>
      </p:sp>
      <p:sp>
        <p:nvSpPr>
          <p:cNvPr id="6" name="dot2"/>
          <p:cNvSpPr/>
          <p:nvPr/>
        </p:nvSpPr>
        <p:spPr>
          <a:xfrm>
            <a:off x="7991856" y="338328"/>
            <a:ext cx="100584" cy="100584"/>
          </a:xfrm>
          <a:prstGeom prst="ellipse">
            <a:avLst/>
          </a:prstGeom>
          <a:solidFill>
            <a:srgbClr val="D5DED9"/>
          </a:solidFill>
          <a:ln w="12700">
            <a:solidFill>
              <a:srgbClr val="D5DED9"/>
            </a:solidFill>
            <a:prstDash val="solid"/>
          </a:ln>
        </p:spPr>
      </p:sp>
      <p:sp>
        <p:nvSpPr>
          <p:cNvPr id="7" name="dot3"/>
          <p:cNvSpPr/>
          <p:nvPr/>
        </p:nvSpPr>
        <p:spPr>
          <a:xfrm>
            <a:off x="8165592" y="338328"/>
            <a:ext cx="100584" cy="100584"/>
          </a:xfrm>
          <a:prstGeom prst="ellipse">
            <a:avLst/>
          </a:prstGeom>
          <a:solidFill>
            <a:srgbClr val="D49A00"/>
          </a:solidFill>
          <a:ln w="12700">
            <a:solidFill>
              <a:srgbClr val="D49A00"/>
            </a:solidFill>
            <a:prstDash val="solid"/>
          </a:ln>
        </p:spPr>
      </p:sp>
      <p:sp>
        <p:nvSpPr>
          <p:cNvPr id="8" name="dot4"/>
          <p:cNvSpPr/>
          <p:nvPr/>
        </p:nvSpPr>
        <p:spPr>
          <a:xfrm>
            <a:off x="8339328" y="338328"/>
            <a:ext cx="100584" cy="100584"/>
          </a:xfrm>
          <a:prstGeom prst="ellipse">
            <a:avLst/>
          </a:prstGeom>
          <a:solidFill>
            <a:srgbClr val="D5DED9"/>
          </a:solidFill>
          <a:ln w="12700">
            <a:solidFill>
              <a:srgbClr val="D5DED9"/>
            </a:solidFill>
            <a:prstDash val="solid"/>
          </a:ln>
        </p:spPr>
      </p:sp>
      <p:sp>
        <p:nvSpPr>
          <p:cNvPr id="9" name="dot5"/>
          <p:cNvSpPr/>
          <p:nvPr/>
        </p:nvSpPr>
        <p:spPr>
          <a:xfrm>
            <a:off x="8513064" y="338328"/>
            <a:ext cx="100584" cy="100584"/>
          </a:xfrm>
          <a:prstGeom prst="ellipse">
            <a:avLst/>
          </a:prstGeom>
          <a:solidFill>
            <a:srgbClr val="D5DED9"/>
          </a:solidFill>
          <a:ln w="12700">
            <a:solidFill>
              <a:srgbClr val="D5DED9"/>
            </a:solidFill>
            <a:prstDash val="solid"/>
          </a:ln>
        </p:spPr>
      </p:sp>
      <p:sp>
        <p:nvSpPr>
          <p:cNvPr id="11" name="Shape 8"/>
          <p:cNvSpPr/>
          <p:nvPr/>
        </p:nvSpPr>
        <p:spPr>
          <a:xfrm>
            <a:off x="457200" y="1325880"/>
            <a:ext cx="4023360" cy="1463040"/>
          </a:xfrm>
          <a:prstGeom prst="roundRect">
            <a:avLst>
              <a:gd name="adj" fmla="val 5000"/>
            </a:avLst>
          </a:prstGeom>
          <a:solidFill>
            <a:srgbClr val="F4F7F5"/>
          </a:solidFill>
          <a:ln w="9525">
            <a:solidFill>
              <a:srgbClr val="D5DED9"/>
            </a:solidFill>
            <a:prstDash val="solid"/>
          </a:ln>
        </p:spPr>
      </p:sp>
      <p:sp>
        <p:nvSpPr>
          <p:cNvPr id="12" name="Shape 9"/>
          <p:cNvSpPr/>
          <p:nvPr/>
        </p:nvSpPr>
        <p:spPr>
          <a:xfrm>
            <a:off x="585216" y="1453896"/>
            <a:ext cx="457200" cy="457200"/>
          </a:xfrm>
          <a:prstGeom prst="ellipse">
            <a:avLst/>
          </a:prstGeom>
          <a:solidFill>
            <a:srgbClr val="C4621D">
              <a:alpha val="22000"/>
            </a:srgbClr>
          </a:solidFill>
          <a:ln w="12700">
            <a:solidFill>
              <a:srgbClr val="C4621D">
                <a:alpha val="0"/>
              </a:srgbClr>
            </a:solidFill>
            <a:prstDash val="solid"/>
          </a:ln>
        </p:spPr>
      </p:sp>
      <p:pic>
        <p:nvPicPr>
          <p:cNvPr id="13" name="Image 0" descr="preencoded.png">    </p:cNvPr>
          <p:cNvPicPr>
            <a:picLocks noChangeAspect="1"/>
          </p:cNvPicPr>
          <p:nvPr/>
        </p:nvPicPr>
        <p:blipFill>
          <a:blip r:embed="rId1"/>
          <a:stretch>
            <a:fillRect/>
          </a:stretch>
        </p:blipFill>
        <p:spPr>
          <a:xfrm>
            <a:off x="694944" y="1563624"/>
            <a:ext cx="237744" cy="237744"/>
          </a:xfrm>
          <a:prstGeom prst="rect">
            <a:avLst/>
          </a:prstGeom>
        </p:spPr>
      </p:pic>
      <p:sp>
        <p:nvSpPr>
          <p:cNvPr id="14" name="Text 10"/>
          <p:cNvSpPr txBox="1"/>
          <p:nvPr/>
        </p:nvSpPr>
        <p:spPr>
          <a:xfrm>
            <a:off x="1143000" y="1417320"/>
            <a:ext cx="3246120" cy="256032"/>
          </a:xfrm>
          <a:prstGeom prst="rect">
            <a:avLst/>
          </a:prstGeom>
          <a:noFill/>
          <a:ln/>
        </p:spPr>
        <p:txBody>
          <a:bodyPr wrap="square" lIns="0" tIns="0" rIns="0" bIns="0" rtlCol="0" anchor="t"/>
          <a:lstStyle/>
          <a:p>
            <a:pPr indent="0" marL="0">
              <a:buNone/>
            </a:pPr>
            <a:r>
              <a:rPr lang="en-US" sz="1200" b="1" dirty="0">
                <a:solidFill>
                  <a:srgbClr val="231F20"/>
                </a:solidFill>
                <a:latin typeface="Calibri" pitchFamily="34" charset="0"/>
                <a:ea typeface="Calibri" pitchFamily="34" charset="-122"/>
                <a:cs typeface="Calibri" pitchFamily="34" charset="-120"/>
              </a:rPr>
              <a:t>Sentinel-5P TROPOMI NO₂</a:t>
            </a:r>
            <a:endParaRPr lang="en-US" sz="1200" dirty="0"/>
          </a:p>
        </p:txBody>
      </p:sp>
      <p:sp>
        <p:nvSpPr>
          <p:cNvPr id="15" name="Text 11"/>
          <p:cNvSpPr txBox="1"/>
          <p:nvPr/>
        </p:nvSpPr>
        <p:spPr>
          <a:xfrm>
            <a:off x="1143000" y="1673352"/>
            <a:ext cx="3246120" cy="201168"/>
          </a:xfrm>
          <a:prstGeom prst="rect">
            <a:avLst/>
          </a:prstGeom>
          <a:noFill/>
          <a:ln/>
        </p:spPr>
        <p:txBody>
          <a:bodyPr wrap="square" lIns="0" tIns="0" rIns="0" bIns="0" rtlCol="0" anchor="t"/>
          <a:lstStyle/>
          <a:p>
            <a:pPr indent="0" marL="0">
              <a:buNone/>
            </a:pPr>
            <a:r>
              <a:rPr lang="en-US" sz="850" dirty="0">
                <a:solidFill>
                  <a:srgbClr val="00704A"/>
                </a:solidFill>
                <a:latin typeface="Courier New" pitchFamily="34" charset="0"/>
                <a:ea typeface="Courier New" pitchFamily="34" charset="-122"/>
                <a:cs typeface="Courier New" pitchFamily="34" charset="-120"/>
              </a:rPr>
              <a:t>COPERNICUS/S5P/OFFL/L3_NO2</a:t>
            </a:r>
            <a:endParaRPr lang="en-US" sz="850" dirty="0"/>
          </a:p>
        </p:txBody>
      </p:sp>
      <p:sp>
        <p:nvSpPr>
          <p:cNvPr id="16" name="Text 12"/>
          <p:cNvSpPr txBox="1"/>
          <p:nvPr/>
        </p:nvSpPr>
        <p:spPr>
          <a:xfrm>
            <a:off x="585216" y="2011680"/>
            <a:ext cx="3749040" cy="228600"/>
          </a:xfrm>
          <a:prstGeom prst="rect">
            <a:avLst/>
          </a:prstGeom>
          <a:noFill/>
          <a:ln/>
        </p:spPr>
        <p:txBody>
          <a:bodyPr wrap="square" lIns="0" tIns="0" rIns="0" bIns="0" rtlCol="0" anchor="t"/>
          <a:lstStyle/>
          <a:p>
            <a:pPr indent="0" marL="0">
              <a:buNone/>
            </a:pPr>
            <a:r>
              <a:rPr lang="en-US" sz="950" b="1" dirty="0">
                <a:solidFill>
                  <a:srgbClr val="5E6964"/>
                </a:solidFill>
                <a:latin typeface="Calibri" pitchFamily="34" charset="0"/>
                <a:ea typeface="Calibri" pitchFamily="34" charset="-122"/>
                <a:cs typeface="Calibri" pitchFamily="34" charset="-120"/>
              </a:rPr>
              <a:t>2018-07 → · grille ~1,1 km · colonne troposphérique (mol/m²)</a:t>
            </a:r>
            <a:endParaRPr lang="en-US" sz="950" dirty="0"/>
          </a:p>
        </p:txBody>
      </p:sp>
      <p:sp>
        <p:nvSpPr>
          <p:cNvPr id="17" name="Text 13"/>
          <p:cNvSpPr txBox="1"/>
          <p:nvPr/>
        </p:nvSpPr>
        <p:spPr>
          <a:xfrm>
            <a:off x="585216" y="2258568"/>
            <a:ext cx="3749040" cy="457200"/>
          </a:xfrm>
          <a:prstGeom prst="rect">
            <a:avLst/>
          </a:prstGeom>
          <a:noFill/>
          <a:ln/>
        </p:spPr>
        <p:txBody>
          <a:bodyPr wrap="square" lIns="0" tIns="0" rIns="0" bIns="0" rtlCol="0" anchor="t"/>
          <a:lstStyle/>
          <a:p>
            <a:pPr indent="0" marL="0">
              <a:buNone/>
            </a:pPr>
            <a:r>
              <a:rPr lang="en-US" sz="950" b="1" dirty="0">
                <a:solidFill>
                  <a:srgbClr val="D49A00"/>
                </a:solidFill>
                <a:latin typeface="Calibri" pitchFamily="34" charset="0"/>
                <a:ea typeface="Calibri" pitchFamily="34" charset="-122"/>
                <a:cs typeface="Calibri" pitchFamily="34" charset="-120"/>
              </a:rPr>
              <a:t>Rôle : </a:t>
            </a:r>
            <a:pPr indent="0" marL="0">
              <a:buNone/>
            </a:pPr>
            <a:r>
              <a:rPr lang="en-US" sz="950" dirty="0">
                <a:solidFill>
                  <a:srgbClr val="231F20"/>
                </a:solidFill>
                <a:latin typeface="Calibri" pitchFamily="34" charset="0"/>
                <a:ea typeface="Calibri" pitchFamily="34" charset="-122"/>
                <a:cs typeface="Calibri" pitchFamily="34" charset="-120"/>
              </a:rPr>
              <a:t>Moyenne annuelle par unité ; ρ de Spearman avec la lumière (S2) ; 20 % du score industriel (S6)</a:t>
            </a:r>
            <a:endParaRPr lang="en-US" sz="950" dirty="0"/>
          </a:p>
        </p:txBody>
      </p:sp>
      <p:sp>
        <p:nvSpPr>
          <p:cNvPr id="18" name="Shape 14"/>
          <p:cNvSpPr/>
          <p:nvPr/>
        </p:nvSpPr>
        <p:spPr>
          <a:xfrm>
            <a:off x="4663440" y="1325880"/>
            <a:ext cx="4023360" cy="1463040"/>
          </a:xfrm>
          <a:prstGeom prst="roundRect">
            <a:avLst>
              <a:gd name="adj" fmla="val 5000"/>
            </a:avLst>
          </a:prstGeom>
          <a:solidFill>
            <a:srgbClr val="F4F7F5"/>
          </a:solidFill>
          <a:ln w="9525">
            <a:solidFill>
              <a:srgbClr val="D5DED9"/>
            </a:solidFill>
            <a:prstDash val="solid"/>
          </a:ln>
        </p:spPr>
      </p:sp>
      <p:sp>
        <p:nvSpPr>
          <p:cNvPr id="19" name="Shape 15"/>
          <p:cNvSpPr/>
          <p:nvPr/>
        </p:nvSpPr>
        <p:spPr>
          <a:xfrm>
            <a:off x="4791456" y="1453896"/>
            <a:ext cx="457200" cy="457200"/>
          </a:xfrm>
          <a:prstGeom prst="ellipse">
            <a:avLst/>
          </a:prstGeom>
          <a:solidFill>
            <a:srgbClr val="C4621D">
              <a:alpha val="22000"/>
            </a:srgbClr>
          </a:solidFill>
          <a:ln w="12700">
            <a:solidFill>
              <a:srgbClr val="C4621D">
                <a:alpha val="0"/>
              </a:srgbClr>
            </a:solidFill>
            <a:prstDash val="solid"/>
          </a:ln>
        </p:spPr>
      </p:sp>
      <p:pic>
        <p:nvPicPr>
          <p:cNvPr id="20" name="Image 1" descr="preencoded.png">    </p:cNvPr>
          <p:cNvPicPr>
            <a:picLocks noChangeAspect="1"/>
          </p:cNvPicPr>
          <p:nvPr/>
        </p:nvPicPr>
        <p:blipFill>
          <a:blip r:embed="rId2"/>
          <a:stretch>
            <a:fillRect/>
          </a:stretch>
        </p:blipFill>
        <p:spPr>
          <a:xfrm>
            <a:off x="4901184" y="1563624"/>
            <a:ext cx="237744" cy="237744"/>
          </a:xfrm>
          <a:prstGeom prst="rect">
            <a:avLst/>
          </a:prstGeom>
        </p:spPr>
      </p:pic>
      <p:sp>
        <p:nvSpPr>
          <p:cNvPr id="21" name="Text 16"/>
          <p:cNvSpPr txBox="1"/>
          <p:nvPr/>
        </p:nvSpPr>
        <p:spPr>
          <a:xfrm>
            <a:off x="5349240" y="1417320"/>
            <a:ext cx="3246120" cy="256032"/>
          </a:xfrm>
          <a:prstGeom prst="rect">
            <a:avLst/>
          </a:prstGeom>
          <a:noFill/>
          <a:ln/>
        </p:spPr>
        <p:txBody>
          <a:bodyPr wrap="square" lIns="0" tIns="0" rIns="0" bIns="0" rtlCol="0" anchor="t"/>
          <a:lstStyle/>
          <a:p>
            <a:pPr indent="0" marL="0">
              <a:buNone/>
            </a:pPr>
            <a:r>
              <a:rPr lang="en-US" sz="1200" b="1" dirty="0">
                <a:solidFill>
                  <a:srgbClr val="231F20"/>
                </a:solidFill>
                <a:latin typeface="Calibri" pitchFamily="34" charset="0"/>
                <a:ea typeface="Calibri" pitchFamily="34" charset="-122"/>
                <a:cs typeface="Calibri" pitchFamily="34" charset="-120"/>
              </a:rPr>
              <a:t>geoBoundaries CGAZ · FAO GAUL</a:t>
            </a:r>
            <a:endParaRPr lang="en-US" sz="1200" dirty="0"/>
          </a:p>
        </p:txBody>
      </p:sp>
      <p:sp>
        <p:nvSpPr>
          <p:cNvPr id="22" name="Text 17"/>
          <p:cNvSpPr txBox="1"/>
          <p:nvPr/>
        </p:nvSpPr>
        <p:spPr>
          <a:xfrm>
            <a:off x="5349240" y="1673352"/>
            <a:ext cx="3246120" cy="201168"/>
          </a:xfrm>
          <a:prstGeom prst="rect">
            <a:avLst/>
          </a:prstGeom>
          <a:noFill/>
          <a:ln/>
        </p:spPr>
        <p:txBody>
          <a:bodyPr wrap="square" lIns="0" tIns="0" rIns="0" bIns="0" rtlCol="0" anchor="t"/>
          <a:lstStyle/>
          <a:p>
            <a:pPr indent="0" marL="0">
              <a:buNone/>
            </a:pPr>
            <a:r>
              <a:rPr lang="en-US" sz="850" dirty="0">
                <a:solidFill>
                  <a:srgbClr val="00704A"/>
                </a:solidFill>
                <a:latin typeface="Courier New" pitchFamily="34" charset="0"/>
                <a:ea typeface="Courier New" pitchFamily="34" charset="-122"/>
                <a:cs typeface="Courier New" pitchFamily="34" charset="-120"/>
              </a:rPr>
              <a:t>WM/geoLab/geoBoundaries/600 · FAO/GAUL/2025</a:t>
            </a:r>
            <a:endParaRPr lang="en-US" sz="850" dirty="0"/>
          </a:p>
        </p:txBody>
      </p:sp>
      <p:sp>
        <p:nvSpPr>
          <p:cNvPr id="23" name="Text 18"/>
          <p:cNvSpPr txBox="1"/>
          <p:nvPr/>
        </p:nvSpPr>
        <p:spPr>
          <a:xfrm>
            <a:off x="4791456" y="2011680"/>
            <a:ext cx="3749040" cy="228600"/>
          </a:xfrm>
          <a:prstGeom prst="rect">
            <a:avLst/>
          </a:prstGeom>
          <a:noFill/>
          <a:ln/>
        </p:spPr>
        <p:txBody>
          <a:bodyPr wrap="square" lIns="0" tIns="0" rIns="0" bIns="0" rtlCol="0" anchor="t"/>
          <a:lstStyle/>
          <a:p>
            <a:pPr indent="0" marL="0">
              <a:buNone/>
            </a:pPr>
            <a:r>
              <a:rPr lang="en-US" sz="950" b="1" dirty="0">
                <a:solidFill>
                  <a:srgbClr val="5E6964"/>
                </a:solidFill>
                <a:latin typeface="Calibri" pitchFamily="34" charset="0"/>
                <a:ea typeface="Calibri" pitchFamily="34" charset="-122"/>
                <a:cs typeface="Calibri" pitchFamily="34" charset="-120"/>
              </a:rPr>
              <a:t>ADM0 pays · ADM1 régions · ADM2 districts</a:t>
            </a:r>
            <a:endParaRPr lang="en-US" sz="950" dirty="0"/>
          </a:p>
        </p:txBody>
      </p:sp>
      <p:sp>
        <p:nvSpPr>
          <p:cNvPr id="24" name="Text 19"/>
          <p:cNvSpPr txBox="1"/>
          <p:nvPr/>
        </p:nvSpPr>
        <p:spPr>
          <a:xfrm>
            <a:off x="4791456" y="2258568"/>
            <a:ext cx="3749040" cy="457200"/>
          </a:xfrm>
          <a:prstGeom prst="rect">
            <a:avLst/>
          </a:prstGeom>
          <a:noFill/>
          <a:ln/>
        </p:spPr>
        <p:txBody>
          <a:bodyPr wrap="square" lIns="0" tIns="0" rIns="0" bIns="0" rtlCol="0" anchor="t"/>
          <a:lstStyle/>
          <a:p>
            <a:pPr indent="0" marL="0">
              <a:buNone/>
            </a:pPr>
            <a:r>
              <a:rPr lang="en-US" sz="950" b="1" dirty="0">
                <a:solidFill>
                  <a:srgbClr val="D49A00"/>
                </a:solidFill>
                <a:latin typeface="Calibri" pitchFamily="34" charset="0"/>
                <a:ea typeface="Calibri" pitchFamily="34" charset="-122"/>
                <a:cs typeface="Calibri" pitchFamily="34" charset="-120"/>
              </a:rPr>
              <a:t>Rôle : </a:t>
            </a:r>
            <a:pPr indent="0" marL="0">
              <a:buNone/>
            </a:pPr>
            <a:r>
              <a:rPr lang="en-US" sz="950" dirty="0">
                <a:solidFill>
                  <a:srgbClr val="231F20"/>
                </a:solidFill>
                <a:latin typeface="Calibri" pitchFamily="34" charset="0"/>
                <a:ea typeface="Calibri" pitchFamily="34" charset="-122"/>
                <a:cs typeface="Calibri" pitchFamily="34" charset="-120"/>
              </a:rPr>
              <a:t>Unités sur lesquelles chaque pixel est sommé ; GAUL 2025 puis 2015 si geoBoundaries échoue</a:t>
            </a:r>
            <a:endParaRPr lang="en-US" sz="950" dirty="0"/>
          </a:p>
        </p:txBody>
      </p:sp>
      <p:sp>
        <p:nvSpPr>
          <p:cNvPr id="25" name="Shape 20"/>
          <p:cNvSpPr/>
          <p:nvPr/>
        </p:nvSpPr>
        <p:spPr>
          <a:xfrm>
            <a:off x="457200" y="2926080"/>
            <a:ext cx="4023360" cy="1463040"/>
          </a:xfrm>
          <a:prstGeom prst="roundRect">
            <a:avLst>
              <a:gd name="adj" fmla="val 5000"/>
            </a:avLst>
          </a:prstGeom>
          <a:solidFill>
            <a:srgbClr val="F4F7F5"/>
          </a:solidFill>
          <a:ln w="9525">
            <a:solidFill>
              <a:srgbClr val="D5DED9"/>
            </a:solidFill>
            <a:prstDash val="solid"/>
          </a:ln>
        </p:spPr>
      </p:sp>
      <p:sp>
        <p:nvSpPr>
          <p:cNvPr id="26" name="Shape 21"/>
          <p:cNvSpPr/>
          <p:nvPr/>
        </p:nvSpPr>
        <p:spPr>
          <a:xfrm>
            <a:off x="585216" y="3054096"/>
            <a:ext cx="457200" cy="457200"/>
          </a:xfrm>
          <a:prstGeom prst="ellipse">
            <a:avLst/>
          </a:prstGeom>
          <a:solidFill>
            <a:srgbClr val="C4621D">
              <a:alpha val="22000"/>
            </a:srgbClr>
          </a:solidFill>
          <a:ln w="12700">
            <a:solidFill>
              <a:srgbClr val="C4621D">
                <a:alpha val="0"/>
              </a:srgbClr>
            </a:solidFill>
            <a:prstDash val="solid"/>
          </a:ln>
        </p:spPr>
      </p:sp>
      <p:pic>
        <p:nvPicPr>
          <p:cNvPr id="27" name="Image 2" descr="preencoded.png">    </p:cNvPr>
          <p:cNvPicPr>
            <a:picLocks noChangeAspect="1"/>
          </p:cNvPicPr>
          <p:nvPr/>
        </p:nvPicPr>
        <p:blipFill>
          <a:blip r:embed="rId3"/>
          <a:stretch>
            <a:fillRect/>
          </a:stretch>
        </p:blipFill>
        <p:spPr>
          <a:xfrm>
            <a:off x="694944" y="3163824"/>
            <a:ext cx="237744" cy="237744"/>
          </a:xfrm>
          <a:prstGeom prst="rect">
            <a:avLst/>
          </a:prstGeom>
        </p:spPr>
      </p:pic>
      <p:sp>
        <p:nvSpPr>
          <p:cNvPr id="28" name="Text 22"/>
          <p:cNvSpPr txBox="1"/>
          <p:nvPr/>
        </p:nvSpPr>
        <p:spPr>
          <a:xfrm>
            <a:off x="1143000" y="3017520"/>
            <a:ext cx="3246120" cy="256032"/>
          </a:xfrm>
          <a:prstGeom prst="rect">
            <a:avLst/>
          </a:prstGeom>
          <a:noFill/>
          <a:ln/>
        </p:spPr>
        <p:txBody>
          <a:bodyPr wrap="square" lIns="0" tIns="0" rIns="0" bIns="0" rtlCol="0" anchor="t"/>
          <a:lstStyle/>
          <a:p>
            <a:pPr indent="0" marL="0">
              <a:buNone/>
            </a:pPr>
            <a:r>
              <a:rPr lang="en-US" sz="1200" b="1" dirty="0">
                <a:solidFill>
                  <a:srgbClr val="231F20"/>
                </a:solidFill>
                <a:latin typeface="Calibri" pitchFamily="34" charset="0"/>
                <a:ea typeface="Calibri" pitchFamily="34" charset="-122"/>
                <a:cs typeface="Calibri" pitchFamily="34" charset="-120"/>
              </a:rPr>
              <a:t>Banque mondiale WDI (API)</a:t>
            </a:r>
            <a:endParaRPr lang="en-US" sz="1200" dirty="0"/>
          </a:p>
        </p:txBody>
      </p:sp>
      <p:sp>
        <p:nvSpPr>
          <p:cNvPr id="29" name="Text 23"/>
          <p:cNvSpPr txBox="1"/>
          <p:nvPr/>
        </p:nvSpPr>
        <p:spPr>
          <a:xfrm>
            <a:off x="1143000" y="3273552"/>
            <a:ext cx="3246120" cy="201168"/>
          </a:xfrm>
          <a:prstGeom prst="rect">
            <a:avLst/>
          </a:prstGeom>
          <a:noFill/>
          <a:ln/>
        </p:spPr>
        <p:txBody>
          <a:bodyPr wrap="square" lIns="0" tIns="0" rIns="0" bIns="0" rtlCol="0" anchor="t"/>
          <a:lstStyle/>
          <a:p>
            <a:pPr indent="0" marL="0">
              <a:buNone/>
            </a:pPr>
            <a:r>
              <a:rPr lang="en-US" sz="850" dirty="0">
                <a:solidFill>
                  <a:srgbClr val="00704A"/>
                </a:solidFill>
                <a:latin typeface="Courier New" pitchFamily="34" charset="0"/>
                <a:ea typeface="Courier New" pitchFamily="34" charset="-122"/>
                <a:cs typeface="Courier New" pitchFamily="34" charset="-120"/>
              </a:rPr>
              <a:t>NY.GDP.MKTP.KD · EG.ELC.ACCS.ZS · SP.POP.TOTL …</a:t>
            </a:r>
            <a:endParaRPr lang="en-US" sz="850" dirty="0"/>
          </a:p>
        </p:txBody>
      </p:sp>
      <p:sp>
        <p:nvSpPr>
          <p:cNvPr id="30" name="Text 24"/>
          <p:cNvSpPr txBox="1"/>
          <p:nvPr/>
        </p:nvSpPr>
        <p:spPr>
          <a:xfrm>
            <a:off x="585216" y="3611880"/>
            <a:ext cx="3749040" cy="228600"/>
          </a:xfrm>
          <a:prstGeom prst="rect">
            <a:avLst/>
          </a:prstGeom>
          <a:noFill/>
          <a:ln/>
        </p:spPr>
        <p:txBody>
          <a:bodyPr wrap="square" lIns="0" tIns="0" rIns="0" bIns="0" rtlCol="0" anchor="t"/>
          <a:lstStyle/>
          <a:p>
            <a:pPr indent="0" marL="0">
              <a:buNone/>
            </a:pPr>
            <a:r>
              <a:rPr lang="en-US" sz="950" b="1" dirty="0">
                <a:solidFill>
                  <a:srgbClr val="5E6964"/>
                </a:solidFill>
                <a:latin typeface="Calibri" pitchFamily="34" charset="0"/>
                <a:ea typeface="Calibri" pitchFamily="34" charset="-122"/>
                <a:cs typeface="Calibri" pitchFamily="34" charset="-120"/>
              </a:rPr>
              <a:t>8 indicateurs · annuels · national</a:t>
            </a:r>
            <a:endParaRPr lang="en-US" sz="950" dirty="0"/>
          </a:p>
        </p:txBody>
      </p:sp>
      <p:sp>
        <p:nvSpPr>
          <p:cNvPr id="31" name="Text 25"/>
          <p:cNvSpPr txBox="1"/>
          <p:nvPr/>
        </p:nvSpPr>
        <p:spPr>
          <a:xfrm>
            <a:off x="585216" y="3858768"/>
            <a:ext cx="3749040" cy="457200"/>
          </a:xfrm>
          <a:prstGeom prst="rect">
            <a:avLst/>
          </a:prstGeom>
          <a:noFill/>
          <a:ln/>
        </p:spPr>
        <p:txBody>
          <a:bodyPr wrap="square" lIns="0" tIns="0" rIns="0" bIns="0" rtlCol="0" anchor="t"/>
          <a:lstStyle/>
          <a:p>
            <a:pPr indent="0" marL="0">
              <a:buNone/>
            </a:pPr>
            <a:r>
              <a:rPr lang="en-US" sz="950" b="1" dirty="0">
                <a:solidFill>
                  <a:srgbClr val="D49A00"/>
                </a:solidFill>
                <a:latin typeface="Calibri" pitchFamily="34" charset="0"/>
                <a:ea typeface="Calibri" pitchFamily="34" charset="-122"/>
                <a:cs typeface="Calibri" pitchFamily="34" charset="-120"/>
              </a:rPr>
              <a:t>Rôle : </a:t>
            </a:r>
            <a:pPr indent="0" marL="0">
              <a:buNone/>
            </a:pPr>
            <a:r>
              <a:rPr lang="en-US" sz="950" dirty="0">
                <a:solidFill>
                  <a:srgbClr val="231F20"/>
                </a:solidFill>
                <a:latin typeface="Calibri" pitchFamily="34" charset="0"/>
                <a:ea typeface="Calibri" pitchFamily="34" charset="-122"/>
                <a:cs typeface="Calibri" pitchFamily="34" charset="-120"/>
              </a:rPr>
              <a:t>PIB réel (S3), accès à l'électricité total / urbain / rural (S5), contrôle de population (±30 %)</a:t>
            </a:r>
            <a:endParaRPr lang="en-US" sz="950" dirty="0"/>
          </a:p>
        </p:txBody>
      </p:sp>
      <p:sp>
        <p:nvSpPr>
          <p:cNvPr id="32" name="Shape 26"/>
          <p:cNvSpPr/>
          <p:nvPr/>
        </p:nvSpPr>
        <p:spPr>
          <a:xfrm>
            <a:off x="4663440" y="2926080"/>
            <a:ext cx="4023360" cy="1463040"/>
          </a:xfrm>
          <a:prstGeom prst="roundRect">
            <a:avLst>
              <a:gd name="adj" fmla="val 5000"/>
            </a:avLst>
          </a:prstGeom>
          <a:solidFill>
            <a:srgbClr val="F4F7F5"/>
          </a:solidFill>
          <a:ln w="9525">
            <a:solidFill>
              <a:srgbClr val="D5DED9"/>
            </a:solidFill>
            <a:prstDash val="solid"/>
          </a:ln>
        </p:spPr>
      </p:sp>
      <p:sp>
        <p:nvSpPr>
          <p:cNvPr id="33" name="Shape 27"/>
          <p:cNvSpPr/>
          <p:nvPr/>
        </p:nvSpPr>
        <p:spPr>
          <a:xfrm>
            <a:off x="4791456" y="3054096"/>
            <a:ext cx="457200" cy="457200"/>
          </a:xfrm>
          <a:prstGeom prst="ellipse">
            <a:avLst/>
          </a:prstGeom>
          <a:solidFill>
            <a:srgbClr val="C4621D">
              <a:alpha val="22000"/>
            </a:srgbClr>
          </a:solidFill>
          <a:ln w="12700">
            <a:solidFill>
              <a:srgbClr val="C4621D">
                <a:alpha val="0"/>
              </a:srgbClr>
            </a:solidFill>
            <a:prstDash val="solid"/>
          </a:ln>
        </p:spPr>
      </p:sp>
      <p:pic>
        <p:nvPicPr>
          <p:cNvPr id="34" name="Image 3" descr="preencoded.png">    </p:cNvPr>
          <p:cNvPicPr>
            <a:picLocks noChangeAspect="1"/>
          </p:cNvPicPr>
          <p:nvPr/>
        </p:nvPicPr>
        <p:blipFill>
          <a:blip r:embed="rId4"/>
          <a:stretch>
            <a:fillRect/>
          </a:stretch>
        </p:blipFill>
        <p:spPr>
          <a:xfrm>
            <a:off x="4901184" y="3163824"/>
            <a:ext cx="237744" cy="237744"/>
          </a:xfrm>
          <a:prstGeom prst="rect">
            <a:avLst/>
          </a:prstGeom>
        </p:spPr>
      </p:pic>
      <p:sp>
        <p:nvSpPr>
          <p:cNvPr id="35" name="Text 28"/>
          <p:cNvSpPr txBox="1"/>
          <p:nvPr/>
        </p:nvSpPr>
        <p:spPr>
          <a:xfrm>
            <a:off x="5349240" y="3017520"/>
            <a:ext cx="3246120" cy="256032"/>
          </a:xfrm>
          <a:prstGeom prst="rect">
            <a:avLst/>
          </a:prstGeom>
          <a:noFill/>
          <a:ln/>
        </p:spPr>
        <p:txBody>
          <a:bodyPr wrap="square" lIns="0" tIns="0" rIns="0" bIns="0" rtlCol="0" anchor="t"/>
          <a:lstStyle/>
          <a:p>
            <a:pPr indent="0" marL="0">
              <a:buNone/>
            </a:pPr>
            <a:r>
              <a:rPr lang="en-US" sz="1200" b="1" dirty="0">
                <a:solidFill>
                  <a:srgbClr val="231F20"/>
                </a:solidFill>
                <a:latin typeface="Calibri" pitchFamily="34" charset="0"/>
                <a:ea typeface="Calibri" pitchFamily="34" charset="-122"/>
                <a:cs typeface="Calibri" pitchFamily="34" charset="-120"/>
              </a:rPr>
              <a:t>OpenStreetMap (Overpass)</a:t>
            </a:r>
            <a:endParaRPr lang="en-US" sz="1200" dirty="0"/>
          </a:p>
        </p:txBody>
      </p:sp>
      <p:sp>
        <p:nvSpPr>
          <p:cNvPr id="36" name="Text 29"/>
          <p:cNvSpPr txBox="1"/>
          <p:nvPr/>
        </p:nvSpPr>
        <p:spPr>
          <a:xfrm>
            <a:off x="5349240" y="3273552"/>
            <a:ext cx="3246120" cy="201168"/>
          </a:xfrm>
          <a:prstGeom prst="rect">
            <a:avLst/>
          </a:prstGeom>
          <a:noFill/>
          <a:ln/>
        </p:spPr>
        <p:txBody>
          <a:bodyPr wrap="square" lIns="0" tIns="0" rIns="0" bIns="0" rtlCol="0" anchor="t"/>
          <a:lstStyle/>
          <a:p>
            <a:pPr indent="0" marL="0">
              <a:buNone/>
            </a:pPr>
            <a:r>
              <a:rPr lang="en-US" sz="850" dirty="0">
                <a:solidFill>
                  <a:srgbClr val="00704A"/>
                </a:solidFill>
                <a:latin typeface="Courier New" pitchFamily="34" charset="0"/>
                <a:ea typeface="Courier New" pitchFamily="34" charset="-122"/>
                <a:cs typeface="Courier New" pitchFamily="34" charset="-120"/>
              </a:rPr>
              <a:t>landuse = industrial</a:t>
            </a:r>
            <a:endParaRPr lang="en-US" sz="850" dirty="0"/>
          </a:p>
        </p:txBody>
      </p:sp>
      <p:sp>
        <p:nvSpPr>
          <p:cNvPr id="37" name="Text 30"/>
          <p:cNvSpPr txBox="1"/>
          <p:nvPr/>
        </p:nvSpPr>
        <p:spPr>
          <a:xfrm>
            <a:off x="4791456" y="3611880"/>
            <a:ext cx="3749040" cy="228600"/>
          </a:xfrm>
          <a:prstGeom prst="rect">
            <a:avLst/>
          </a:prstGeom>
          <a:noFill/>
          <a:ln/>
        </p:spPr>
        <p:txBody>
          <a:bodyPr wrap="square" lIns="0" tIns="0" rIns="0" bIns="0" rtlCol="0" anchor="t"/>
          <a:lstStyle/>
          <a:p>
            <a:pPr indent="0" marL="0">
              <a:buNone/>
            </a:pPr>
            <a:r>
              <a:rPr lang="en-US" sz="950" b="1" dirty="0">
                <a:solidFill>
                  <a:srgbClr val="5E6964"/>
                </a:solidFill>
                <a:latin typeface="Calibri" pitchFamily="34" charset="0"/>
                <a:ea typeface="Calibri" pitchFamily="34" charset="-122"/>
                <a:cs typeface="Calibri" pitchFamily="34" charset="-120"/>
              </a:rPr>
              <a:t>Polygones contributifs · complétude variable selon les pays</a:t>
            </a:r>
            <a:endParaRPr lang="en-US" sz="950" dirty="0"/>
          </a:p>
        </p:txBody>
      </p:sp>
      <p:sp>
        <p:nvSpPr>
          <p:cNvPr id="38" name="Text 31"/>
          <p:cNvSpPr txBox="1"/>
          <p:nvPr/>
        </p:nvSpPr>
        <p:spPr>
          <a:xfrm>
            <a:off x="4791456" y="3858768"/>
            <a:ext cx="3749040" cy="457200"/>
          </a:xfrm>
          <a:prstGeom prst="rect">
            <a:avLst/>
          </a:prstGeom>
          <a:noFill/>
          <a:ln/>
        </p:spPr>
        <p:txBody>
          <a:bodyPr wrap="square" lIns="0" tIns="0" rIns="0" bIns="0" rtlCol="0" anchor="t"/>
          <a:lstStyle/>
          <a:p>
            <a:pPr indent="0" marL="0">
              <a:buNone/>
            </a:pPr>
            <a:r>
              <a:rPr lang="en-US" sz="950" b="1" dirty="0">
                <a:solidFill>
                  <a:srgbClr val="D49A00"/>
                </a:solidFill>
                <a:latin typeface="Calibri" pitchFamily="34" charset="0"/>
                <a:ea typeface="Calibri" pitchFamily="34" charset="-122"/>
                <a:cs typeface="Calibri" pitchFamily="34" charset="-120"/>
              </a:rPr>
              <a:t>Rôle : </a:t>
            </a:r>
            <a:pPr indent="0" marL="0">
              <a:buNone/>
            </a:pPr>
            <a:r>
              <a:rPr lang="en-US" sz="950" dirty="0">
                <a:solidFill>
                  <a:srgbClr val="231F20"/>
                </a:solidFill>
                <a:latin typeface="Calibri" pitchFamily="34" charset="0"/>
                <a:ea typeface="Calibri" pitchFamily="34" charset="-122"/>
                <a:cs typeface="Calibri" pitchFamily="34" charset="-120"/>
              </a:rPr>
              <a:t>Validation uniquement : précision et rappel des zones candidates (S6)</a:t>
            </a:r>
            <a:endParaRPr lang="en-US" sz="950" dirty="0"/>
          </a:p>
        </p:txBody>
      </p:sp>
      <p:sp>
        <p:nvSpPr>
          <p:cNvPr id="39" name="Text 32"/>
          <p:cNvSpPr txBox="1"/>
          <p:nvPr/>
        </p:nvSpPr>
        <p:spPr>
          <a:xfrm>
            <a:off x="457200" y="4553712"/>
            <a:ext cx="7223760" cy="219456"/>
          </a:xfrm>
          <a:prstGeom prst="rect">
            <a:avLst/>
          </a:prstGeom>
          <a:noFill/>
          <a:ln/>
        </p:spPr>
        <p:txBody>
          <a:bodyPr wrap="square" lIns="0" tIns="0" rIns="0" bIns="0" rtlCol="0" anchor="ctr"/>
          <a:lstStyle/>
          <a:p>
            <a:pPr indent="0" marL="0">
              <a:buNone/>
            </a:pPr>
            <a:r>
              <a:rPr lang="en-US" sz="900" i="1" dirty="0">
                <a:solidFill>
                  <a:srgbClr val="5E6964"/>
                </a:solidFill>
                <a:latin typeface="Calibri" pitchFamily="34" charset="0"/>
                <a:ea typeface="Calibri" pitchFamily="34" charset="-122"/>
                <a:cs typeface="Calibri" pitchFamily="34" charset="-120"/>
              </a:rPr>
              <a:t>Sources : Copernicus Sentinel-5P (ESA) ; Runfola et al. (2020) ; FAO GAUL 2025 ; Banque mondiale WDI ; © contributeurs OpenStreetMap (ODbL)</a:t>
            </a:r>
            <a:endParaRPr lang="en-US" sz="9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8A9590"/>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3"/>
          <p:cNvSpPr/>
          <p:nvPr>
            <p:ph idx="105" type="body" hasCustomPrompt="1"/>
          </p:nvPr>
        </p:nvSpPr>
        <p:spPr>
          <a:xfrm>
            <a:off x="457200" y="274320"/>
            <a:ext cx="6217920" cy="256032"/>
          </a:xfrm>
          <a:prstGeom prst="rect">
            <a:avLst/>
          </a:prstGeom>
          <a:noFill/>
          <a:ln/>
        </p:spPr>
        <p:txBody>
          <a:bodyPr wrap="square" lIns="0" tIns="0" rIns="0" bIns="0" rtlCol="0" anchor="ctr"/>
          <a:lstStyle/>
          <a:p>
            <a:pPr algn="l" indent="0" marL="0">
              <a:buNone/>
            </a:pPr>
            <a:r>
              <a:rPr lang="en-US" sz="1050" b="1" spc="300" kern="0" dirty="0">
                <a:solidFill>
                  <a:srgbClr val="00704A"/>
                </a:solidFill>
                <a:latin typeface="Calibri" pitchFamily="34" charset="0"/>
                <a:ea typeface="Calibri" pitchFamily="34" charset="-122"/>
                <a:cs typeface="Calibri" pitchFamily="34" charset="-120"/>
              </a:rPr>
              <a:t>04 · ANALYSER · CARTE DES DONNÉES</a:t>
            </a:r>
            <a:endParaRPr lang="en-US" sz="1050" dirty="0"/>
          </a:p>
        </p:txBody>
      </p:sp>
      <p:sp>
        <p:nvSpPr>
          <p:cNvPr id="3" name="Text 3"/>
          <p:cNvSpPr/>
          <p:nvPr>
            <p:ph idx="106" type="title" hasCustomPrompt="1"/>
          </p:nvPr>
        </p:nvSpPr>
        <p:spPr>
          <a:xfrm>
            <a:off x="457200" y="548640"/>
            <a:ext cx="8229600" cy="566928"/>
          </a:xfrm>
          <a:prstGeom prst="rect">
            <a:avLst/>
          </a:prstGeom>
          <a:noFill/>
          <a:ln/>
        </p:spPr>
        <p:txBody>
          <a:bodyPr wrap="square" lIns="0" tIns="0" rIns="0" bIns="0" rtlCol="0" anchor="ctr"/>
          <a:lstStyle/>
          <a:p>
            <a:pPr algn="l" indent="0" marL="0">
              <a:buNone/>
            </a:pPr>
            <a:r>
              <a:rPr lang="en-US" sz="2800" b="1" dirty="0">
                <a:solidFill>
                  <a:srgbClr val="231F20"/>
                </a:solidFill>
                <a:latin typeface="Calibri" pitchFamily="34" charset="0"/>
                <a:ea typeface="Calibri" pitchFamily="34" charset="-122"/>
                <a:cs typeface="Calibri" pitchFamily="34" charset="-120"/>
              </a:rPr>
              <a:t>Quelle donnée alimente quel scénario ?</a:t>
            </a:r>
            <a:endParaRPr lang="en-US" sz="2800" dirty="0"/>
          </a:p>
        </p:txBody>
      </p:sp>
      <p:sp>
        <p:nvSpPr>
          <p:cNvPr id="4" name="dot0"/>
          <p:cNvSpPr/>
          <p:nvPr/>
        </p:nvSpPr>
        <p:spPr>
          <a:xfrm>
            <a:off x="7644384" y="338328"/>
            <a:ext cx="100584" cy="100584"/>
          </a:xfrm>
          <a:prstGeom prst="ellipse">
            <a:avLst/>
          </a:prstGeom>
          <a:solidFill>
            <a:srgbClr val="D5DED9"/>
          </a:solidFill>
          <a:ln w="12700">
            <a:solidFill>
              <a:srgbClr val="D5DED9"/>
            </a:solidFill>
            <a:prstDash val="solid"/>
          </a:ln>
        </p:spPr>
      </p:sp>
      <p:sp>
        <p:nvSpPr>
          <p:cNvPr id="5" name="dot1"/>
          <p:cNvSpPr/>
          <p:nvPr/>
        </p:nvSpPr>
        <p:spPr>
          <a:xfrm>
            <a:off x="7818120" y="338328"/>
            <a:ext cx="100584" cy="100584"/>
          </a:xfrm>
          <a:prstGeom prst="ellipse">
            <a:avLst/>
          </a:prstGeom>
          <a:solidFill>
            <a:srgbClr val="D5DED9"/>
          </a:solidFill>
          <a:ln w="12700">
            <a:solidFill>
              <a:srgbClr val="D5DED9"/>
            </a:solidFill>
            <a:prstDash val="solid"/>
          </a:ln>
        </p:spPr>
      </p:sp>
      <p:sp>
        <p:nvSpPr>
          <p:cNvPr id="6" name="dot2"/>
          <p:cNvSpPr/>
          <p:nvPr/>
        </p:nvSpPr>
        <p:spPr>
          <a:xfrm>
            <a:off x="7991856" y="338328"/>
            <a:ext cx="100584" cy="100584"/>
          </a:xfrm>
          <a:prstGeom prst="ellipse">
            <a:avLst/>
          </a:prstGeom>
          <a:solidFill>
            <a:srgbClr val="D5DED9"/>
          </a:solidFill>
          <a:ln w="12700">
            <a:solidFill>
              <a:srgbClr val="D5DED9"/>
            </a:solidFill>
            <a:prstDash val="solid"/>
          </a:ln>
        </p:spPr>
      </p:sp>
      <p:sp>
        <p:nvSpPr>
          <p:cNvPr id="7" name="dot3"/>
          <p:cNvSpPr/>
          <p:nvPr/>
        </p:nvSpPr>
        <p:spPr>
          <a:xfrm>
            <a:off x="8165592" y="338328"/>
            <a:ext cx="100584" cy="100584"/>
          </a:xfrm>
          <a:prstGeom prst="ellipse">
            <a:avLst/>
          </a:prstGeom>
          <a:solidFill>
            <a:srgbClr val="D49A00"/>
          </a:solidFill>
          <a:ln w="12700">
            <a:solidFill>
              <a:srgbClr val="D49A00"/>
            </a:solidFill>
            <a:prstDash val="solid"/>
          </a:ln>
        </p:spPr>
      </p:sp>
      <p:sp>
        <p:nvSpPr>
          <p:cNvPr id="8" name="dot4"/>
          <p:cNvSpPr/>
          <p:nvPr/>
        </p:nvSpPr>
        <p:spPr>
          <a:xfrm>
            <a:off x="8339328" y="338328"/>
            <a:ext cx="100584" cy="100584"/>
          </a:xfrm>
          <a:prstGeom prst="ellipse">
            <a:avLst/>
          </a:prstGeom>
          <a:solidFill>
            <a:srgbClr val="D5DED9"/>
          </a:solidFill>
          <a:ln w="12700">
            <a:solidFill>
              <a:srgbClr val="D5DED9"/>
            </a:solidFill>
            <a:prstDash val="solid"/>
          </a:ln>
        </p:spPr>
      </p:sp>
      <p:sp>
        <p:nvSpPr>
          <p:cNvPr id="9" name="dot5"/>
          <p:cNvSpPr/>
          <p:nvPr/>
        </p:nvSpPr>
        <p:spPr>
          <a:xfrm>
            <a:off x="8513064" y="338328"/>
            <a:ext cx="100584" cy="100584"/>
          </a:xfrm>
          <a:prstGeom prst="ellipse">
            <a:avLst/>
          </a:prstGeom>
          <a:solidFill>
            <a:srgbClr val="D5DED9"/>
          </a:solidFill>
          <a:ln w="12700">
            <a:solidFill>
              <a:srgbClr val="D5DED9"/>
            </a:solidFill>
            <a:prstDash val="solid"/>
          </a:ln>
        </p:spPr>
      </p:sp>
      <p:sp>
        <p:nvSpPr>
          <p:cNvPr id="11" name="Text 8"/>
          <p:cNvSpPr txBox="1"/>
          <p:nvPr/>
        </p:nvSpPr>
        <p:spPr>
          <a:xfrm>
            <a:off x="3017520" y="1325880"/>
            <a:ext cx="804672" cy="237744"/>
          </a:xfrm>
          <a:prstGeom prst="rect">
            <a:avLst/>
          </a:prstGeom>
          <a:noFill/>
          <a:ln/>
        </p:spPr>
        <p:txBody>
          <a:bodyPr wrap="square" lIns="0" tIns="0" rIns="0" bIns="0" rtlCol="0" anchor="ctr"/>
          <a:lstStyle/>
          <a:p>
            <a:pPr algn="ctr" indent="0" marL="0">
              <a:buNone/>
            </a:pPr>
            <a:r>
              <a:rPr lang="en-US" sz="1000" b="1" dirty="0">
                <a:solidFill>
                  <a:srgbClr val="00704A"/>
                </a:solidFill>
                <a:latin typeface="Calibri" pitchFamily="34" charset="0"/>
                <a:ea typeface="Calibri" pitchFamily="34" charset="-122"/>
                <a:cs typeface="Calibri" pitchFamily="34" charset="-120"/>
              </a:rPr>
              <a:t>Nettoyage</a:t>
            </a:r>
            <a:endParaRPr lang="en-US" sz="1000" dirty="0"/>
          </a:p>
        </p:txBody>
      </p:sp>
      <p:sp>
        <p:nvSpPr>
          <p:cNvPr id="12" name="Text 9"/>
          <p:cNvSpPr txBox="1"/>
          <p:nvPr/>
        </p:nvSpPr>
        <p:spPr>
          <a:xfrm>
            <a:off x="3822192" y="1325880"/>
            <a:ext cx="804672" cy="237744"/>
          </a:xfrm>
          <a:prstGeom prst="rect">
            <a:avLst/>
          </a:prstGeom>
          <a:noFill/>
          <a:ln/>
        </p:spPr>
        <p:txBody>
          <a:bodyPr wrap="square" lIns="0" tIns="0" rIns="0" bIns="0" rtlCol="0" anchor="ctr"/>
          <a:lstStyle/>
          <a:p>
            <a:pPr algn="ctr" indent="0" marL="0">
              <a:buNone/>
            </a:pPr>
            <a:r>
              <a:rPr lang="en-US" sz="1000" b="1" dirty="0">
                <a:solidFill>
                  <a:srgbClr val="D49A00"/>
                </a:solidFill>
                <a:latin typeface="Calibri" pitchFamily="34" charset="0"/>
                <a:ea typeface="Calibri" pitchFamily="34" charset="-122"/>
                <a:cs typeface="Calibri" pitchFamily="34" charset="-120"/>
              </a:rPr>
              <a:t>S1</a:t>
            </a:r>
            <a:endParaRPr lang="en-US" sz="1000" dirty="0"/>
          </a:p>
        </p:txBody>
      </p:sp>
      <p:sp>
        <p:nvSpPr>
          <p:cNvPr id="13" name="Text 10"/>
          <p:cNvSpPr txBox="1"/>
          <p:nvPr/>
        </p:nvSpPr>
        <p:spPr>
          <a:xfrm>
            <a:off x="4626864" y="1325880"/>
            <a:ext cx="804672" cy="237744"/>
          </a:xfrm>
          <a:prstGeom prst="rect">
            <a:avLst/>
          </a:prstGeom>
          <a:noFill/>
          <a:ln/>
        </p:spPr>
        <p:txBody>
          <a:bodyPr wrap="square" lIns="0" tIns="0" rIns="0" bIns="0" rtlCol="0" anchor="ctr"/>
          <a:lstStyle/>
          <a:p>
            <a:pPr algn="ctr" indent="0" marL="0">
              <a:buNone/>
            </a:pPr>
            <a:r>
              <a:rPr lang="en-US" sz="1000" b="1" dirty="0">
                <a:solidFill>
                  <a:srgbClr val="D49A00"/>
                </a:solidFill>
                <a:latin typeface="Calibri" pitchFamily="34" charset="0"/>
                <a:ea typeface="Calibri" pitchFamily="34" charset="-122"/>
                <a:cs typeface="Calibri" pitchFamily="34" charset="-120"/>
              </a:rPr>
              <a:t>S2</a:t>
            </a:r>
            <a:endParaRPr lang="en-US" sz="1000" dirty="0"/>
          </a:p>
        </p:txBody>
      </p:sp>
      <p:sp>
        <p:nvSpPr>
          <p:cNvPr id="14" name="Text 11"/>
          <p:cNvSpPr txBox="1"/>
          <p:nvPr/>
        </p:nvSpPr>
        <p:spPr>
          <a:xfrm>
            <a:off x="5431536" y="1325880"/>
            <a:ext cx="804672" cy="237744"/>
          </a:xfrm>
          <a:prstGeom prst="rect">
            <a:avLst/>
          </a:prstGeom>
          <a:noFill/>
          <a:ln/>
        </p:spPr>
        <p:txBody>
          <a:bodyPr wrap="square" lIns="0" tIns="0" rIns="0" bIns="0" rtlCol="0" anchor="ctr"/>
          <a:lstStyle/>
          <a:p>
            <a:pPr algn="ctr" indent="0" marL="0">
              <a:buNone/>
            </a:pPr>
            <a:r>
              <a:rPr lang="en-US" sz="1000" b="1" dirty="0">
                <a:solidFill>
                  <a:srgbClr val="D49A00"/>
                </a:solidFill>
                <a:latin typeface="Calibri" pitchFamily="34" charset="0"/>
                <a:ea typeface="Calibri" pitchFamily="34" charset="-122"/>
                <a:cs typeface="Calibri" pitchFamily="34" charset="-120"/>
              </a:rPr>
              <a:t>S3</a:t>
            </a:r>
            <a:endParaRPr lang="en-US" sz="1000" dirty="0"/>
          </a:p>
        </p:txBody>
      </p:sp>
      <p:sp>
        <p:nvSpPr>
          <p:cNvPr id="15" name="Text 12"/>
          <p:cNvSpPr txBox="1"/>
          <p:nvPr/>
        </p:nvSpPr>
        <p:spPr>
          <a:xfrm>
            <a:off x="6236208" y="1325880"/>
            <a:ext cx="804672" cy="237744"/>
          </a:xfrm>
          <a:prstGeom prst="rect">
            <a:avLst/>
          </a:prstGeom>
          <a:noFill/>
          <a:ln/>
        </p:spPr>
        <p:txBody>
          <a:bodyPr wrap="square" lIns="0" tIns="0" rIns="0" bIns="0" rtlCol="0" anchor="ctr"/>
          <a:lstStyle/>
          <a:p>
            <a:pPr algn="ctr" indent="0" marL="0">
              <a:buNone/>
            </a:pPr>
            <a:r>
              <a:rPr lang="en-US" sz="1000" b="1" dirty="0">
                <a:solidFill>
                  <a:srgbClr val="D49A00"/>
                </a:solidFill>
                <a:latin typeface="Calibri" pitchFamily="34" charset="0"/>
                <a:ea typeface="Calibri" pitchFamily="34" charset="-122"/>
                <a:cs typeface="Calibri" pitchFamily="34" charset="-120"/>
              </a:rPr>
              <a:t>S4</a:t>
            </a:r>
            <a:endParaRPr lang="en-US" sz="1000" dirty="0"/>
          </a:p>
        </p:txBody>
      </p:sp>
      <p:sp>
        <p:nvSpPr>
          <p:cNvPr id="16" name="Text 13"/>
          <p:cNvSpPr txBox="1"/>
          <p:nvPr/>
        </p:nvSpPr>
        <p:spPr>
          <a:xfrm>
            <a:off x="7040880" y="1325880"/>
            <a:ext cx="804672" cy="237744"/>
          </a:xfrm>
          <a:prstGeom prst="rect">
            <a:avLst/>
          </a:prstGeom>
          <a:noFill/>
          <a:ln/>
        </p:spPr>
        <p:txBody>
          <a:bodyPr wrap="square" lIns="0" tIns="0" rIns="0" bIns="0" rtlCol="0" anchor="ctr"/>
          <a:lstStyle/>
          <a:p>
            <a:pPr algn="ctr" indent="0" marL="0">
              <a:buNone/>
            </a:pPr>
            <a:r>
              <a:rPr lang="en-US" sz="1000" b="1" dirty="0">
                <a:solidFill>
                  <a:srgbClr val="D49A00"/>
                </a:solidFill>
                <a:latin typeface="Calibri" pitchFamily="34" charset="0"/>
                <a:ea typeface="Calibri" pitchFamily="34" charset="-122"/>
                <a:cs typeface="Calibri" pitchFamily="34" charset="-120"/>
              </a:rPr>
              <a:t>S5</a:t>
            </a:r>
            <a:endParaRPr lang="en-US" sz="1000" dirty="0"/>
          </a:p>
        </p:txBody>
      </p:sp>
      <p:sp>
        <p:nvSpPr>
          <p:cNvPr id="17" name="Text 14"/>
          <p:cNvSpPr txBox="1"/>
          <p:nvPr/>
        </p:nvSpPr>
        <p:spPr>
          <a:xfrm>
            <a:off x="7845552" y="1325880"/>
            <a:ext cx="804672" cy="237744"/>
          </a:xfrm>
          <a:prstGeom prst="rect">
            <a:avLst/>
          </a:prstGeom>
          <a:noFill/>
          <a:ln/>
        </p:spPr>
        <p:txBody>
          <a:bodyPr wrap="square" lIns="0" tIns="0" rIns="0" bIns="0" rtlCol="0" anchor="ctr"/>
          <a:lstStyle/>
          <a:p>
            <a:pPr algn="ctr" indent="0" marL="0">
              <a:buNone/>
            </a:pPr>
            <a:r>
              <a:rPr lang="en-US" sz="1000" b="1" dirty="0">
                <a:solidFill>
                  <a:srgbClr val="D49A00"/>
                </a:solidFill>
                <a:latin typeface="Calibri" pitchFamily="34" charset="0"/>
                <a:ea typeface="Calibri" pitchFamily="34" charset="-122"/>
                <a:cs typeface="Calibri" pitchFamily="34" charset="-120"/>
              </a:rPr>
              <a:t>S6</a:t>
            </a:r>
            <a:endParaRPr lang="en-US" sz="1000" dirty="0"/>
          </a:p>
        </p:txBody>
      </p:sp>
      <p:sp>
        <p:nvSpPr>
          <p:cNvPr id="18" name="Shape 15"/>
          <p:cNvSpPr/>
          <p:nvPr/>
        </p:nvSpPr>
        <p:spPr>
          <a:xfrm>
            <a:off x="457200" y="1600200"/>
            <a:ext cx="8193024" cy="265176"/>
          </a:xfrm>
          <a:prstGeom prst="rect">
            <a:avLst/>
          </a:prstGeom>
          <a:solidFill>
            <a:srgbClr val="F4F7F5"/>
          </a:solidFill>
          <a:ln w="12700">
            <a:solidFill>
              <a:srgbClr val="F4F7F5"/>
            </a:solidFill>
            <a:prstDash val="solid"/>
          </a:ln>
        </p:spPr>
      </p:sp>
      <p:sp>
        <p:nvSpPr>
          <p:cNvPr id="19" name="Text 16"/>
          <p:cNvSpPr txBox="1"/>
          <p:nvPr/>
        </p:nvSpPr>
        <p:spPr>
          <a:xfrm>
            <a:off x="548640" y="1600200"/>
            <a:ext cx="2423160" cy="265176"/>
          </a:xfrm>
          <a:prstGeom prst="rect">
            <a:avLst/>
          </a:prstGeom>
          <a:noFill/>
          <a:ln/>
        </p:spPr>
        <p:txBody>
          <a:bodyPr wrap="square" lIns="0" tIns="0" rIns="0" bIns="0" rtlCol="0" anchor="ctr"/>
          <a:lstStyle/>
          <a:p>
            <a:pPr indent="0" marL="0">
              <a:buNone/>
            </a:pPr>
            <a:r>
              <a:rPr lang="en-US" sz="1000" dirty="0">
                <a:solidFill>
                  <a:srgbClr val="231F20"/>
                </a:solidFill>
                <a:latin typeface="Calibri" pitchFamily="34" charset="0"/>
                <a:ea typeface="Calibri" pitchFamily="34" charset="-122"/>
                <a:cs typeface="Calibri" pitchFamily="34" charset="-120"/>
              </a:rPr>
              <a:t>VIIRS VNL mensuel</a:t>
            </a:r>
            <a:endParaRPr lang="en-US" sz="1000" dirty="0"/>
          </a:p>
        </p:txBody>
      </p:sp>
      <p:sp>
        <p:nvSpPr>
          <p:cNvPr id="20" name="Shape 17"/>
          <p:cNvSpPr/>
          <p:nvPr/>
        </p:nvSpPr>
        <p:spPr>
          <a:xfrm>
            <a:off x="3351276" y="1664208"/>
            <a:ext cx="137160" cy="137160"/>
          </a:xfrm>
          <a:prstGeom prst="ellipse">
            <a:avLst/>
          </a:prstGeom>
          <a:solidFill>
            <a:srgbClr val="D49A00"/>
          </a:solidFill>
          <a:ln w="15875">
            <a:solidFill>
              <a:srgbClr val="D49A00"/>
            </a:solidFill>
            <a:prstDash val="solid"/>
          </a:ln>
        </p:spPr>
      </p:sp>
      <p:sp>
        <p:nvSpPr>
          <p:cNvPr id="21" name="Shape 18"/>
          <p:cNvSpPr/>
          <p:nvPr/>
        </p:nvSpPr>
        <p:spPr>
          <a:xfrm>
            <a:off x="4155948" y="1664208"/>
            <a:ext cx="137160" cy="137160"/>
          </a:xfrm>
          <a:prstGeom prst="ellipse">
            <a:avLst/>
          </a:prstGeom>
          <a:solidFill>
            <a:srgbClr val="D49A00"/>
          </a:solidFill>
          <a:ln w="15875">
            <a:solidFill>
              <a:srgbClr val="D49A00"/>
            </a:solidFill>
            <a:prstDash val="solid"/>
          </a:ln>
        </p:spPr>
      </p:sp>
      <p:sp>
        <p:nvSpPr>
          <p:cNvPr id="22" name="Shape 19"/>
          <p:cNvSpPr/>
          <p:nvPr/>
        </p:nvSpPr>
        <p:spPr>
          <a:xfrm>
            <a:off x="5765292" y="1664208"/>
            <a:ext cx="137160" cy="137160"/>
          </a:xfrm>
          <a:prstGeom prst="ellipse">
            <a:avLst/>
          </a:prstGeom>
          <a:solidFill>
            <a:srgbClr val="D49A00"/>
          </a:solidFill>
          <a:ln w="15875">
            <a:solidFill>
              <a:srgbClr val="D49A00"/>
            </a:solidFill>
            <a:prstDash val="solid"/>
          </a:ln>
        </p:spPr>
      </p:sp>
      <p:sp>
        <p:nvSpPr>
          <p:cNvPr id="23" name="Shape 20"/>
          <p:cNvSpPr/>
          <p:nvPr/>
        </p:nvSpPr>
        <p:spPr>
          <a:xfrm>
            <a:off x="6569964" y="1664208"/>
            <a:ext cx="137160" cy="137160"/>
          </a:xfrm>
          <a:prstGeom prst="ellipse">
            <a:avLst/>
          </a:prstGeom>
          <a:solidFill>
            <a:srgbClr val="D49A00"/>
          </a:solidFill>
          <a:ln w="15875">
            <a:solidFill>
              <a:srgbClr val="D49A00"/>
            </a:solidFill>
            <a:prstDash val="solid"/>
          </a:ln>
        </p:spPr>
      </p:sp>
      <p:sp>
        <p:nvSpPr>
          <p:cNvPr id="24" name="Text 21"/>
          <p:cNvSpPr txBox="1"/>
          <p:nvPr/>
        </p:nvSpPr>
        <p:spPr>
          <a:xfrm>
            <a:off x="548640" y="1865376"/>
            <a:ext cx="2423160" cy="265176"/>
          </a:xfrm>
          <a:prstGeom prst="rect">
            <a:avLst/>
          </a:prstGeom>
          <a:noFill/>
          <a:ln/>
        </p:spPr>
        <p:txBody>
          <a:bodyPr wrap="square" lIns="0" tIns="0" rIns="0" bIns="0" rtlCol="0" anchor="ctr"/>
          <a:lstStyle/>
          <a:p>
            <a:pPr indent="0" marL="0">
              <a:buNone/>
            </a:pPr>
            <a:r>
              <a:rPr lang="en-US" sz="1000" dirty="0">
                <a:solidFill>
                  <a:srgbClr val="231F20"/>
                </a:solidFill>
                <a:latin typeface="Calibri" pitchFamily="34" charset="0"/>
                <a:ea typeface="Calibri" pitchFamily="34" charset="-122"/>
                <a:cs typeface="Calibri" pitchFamily="34" charset="-120"/>
              </a:rPr>
              <a:t>VIIRS VNL annuel</a:t>
            </a:r>
            <a:endParaRPr lang="en-US" sz="1000" dirty="0"/>
          </a:p>
        </p:txBody>
      </p:sp>
      <p:sp>
        <p:nvSpPr>
          <p:cNvPr id="25" name="Shape 22"/>
          <p:cNvSpPr/>
          <p:nvPr/>
        </p:nvSpPr>
        <p:spPr>
          <a:xfrm>
            <a:off x="3351276" y="1929384"/>
            <a:ext cx="137160" cy="137160"/>
          </a:xfrm>
          <a:prstGeom prst="ellipse">
            <a:avLst/>
          </a:prstGeom>
          <a:solidFill>
            <a:srgbClr val="D49A00"/>
          </a:solidFill>
          <a:ln w="15875">
            <a:solidFill>
              <a:srgbClr val="D49A00"/>
            </a:solidFill>
            <a:prstDash val="solid"/>
          </a:ln>
        </p:spPr>
      </p:sp>
      <p:sp>
        <p:nvSpPr>
          <p:cNvPr id="26" name="Shape 23"/>
          <p:cNvSpPr/>
          <p:nvPr/>
        </p:nvSpPr>
        <p:spPr>
          <a:xfrm>
            <a:off x="4155948" y="1929384"/>
            <a:ext cx="137160" cy="137160"/>
          </a:xfrm>
          <a:prstGeom prst="ellipse">
            <a:avLst/>
          </a:prstGeom>
          <a:solidFill>
            <a:srgbClr val="D49A00"/>
          </a:solidFill>
          <a:ln w="15875">
            <a:solidFill>
              <a:srgbClr val="D49A00"/>
            </a:solidFill>
            <a:prstDash val="solid"/>
          </a:ln>
        </p:spPr>
      </p:sp>
      <p:sp>
        <p:nvSpPr>
          <p:cNvPr id="27" name="Shape 24"/>
          <p:cNvSpPr/>
          <p:nvPr/>
        </p:nvSpPr>
        <p:spPr>
          <a:xfrm>
            <a:off x="4960620" y="1929384"/>
            <a:ext cx="137160" cy="137160"/>
          </a:xfrm>
          <a:prstGeom prst="ellipse">
            <a:avLst/>
          </a:prstGeom>
          <a:solidFill>
            <a:srgbClr val="D49A00"/>
          </a:solidFill>
          <a:ln w="15875">
            <a:solidFill>
              <a:srgbClr val="D49A00"/>
            </a:solidFill>
            <a:prstDash val="solid"/>
          </a:ln>
        </p:spPr>
      </p:sp>
      <p:sp>
        <p:nvSpPr>
          <p:cNvPr id="28" name="Shape 25"/>
          <p:cNvSpPr/>
          <p:nvPr/>
        </p:nvSpPr>
        <p:spPr>
          <a:xfrm>
            <a:off x="5765292" y="1929384"/>
            <a:ext cx="137160" cy="137160"/>
          </a:xfrm>
          <a:prstGeom prst="ellipse">
            <a:avLst/>
          </a:prstGeom>
          <a:solidFill>
            <a:srgbClr val="D49A00"/>
          </a:solidFill>
          <a:ln w="15875">
            <a:solidFill>
              <a:srgbClr val="D49A00"/>
            </a:solidFill>
            <a:prstDash val="solid"/>
          </a:ln>
        </p:spPr>
      </p:sp>
      <p:sp>
        <p:nvSpPr>
          <p:cNvPr id="29" name="Shape 26"/>
          <p:cNvSpPr/>
          <p:nvPr/>
        </p:nvSpPr>
        <p:spPr>
          <a:xfrm>
            <a:off x="7374636" y="1929384"/>
            <a:ext cx="137160" cy="137160"/>
          </a:xfrm>
          <a:prstGeom prst="ellipse">
            <a:avLst/>
          </a:prstGeom>
          <a:solidFill>
            <a:srgbClr val="D49A00"/>
          </a:solidFill>
          <a:ln w="15875">
            <a:solidFill>
              <a:srgbClr val="D49A00"/>
            </a:solidFill>
            <a:prstDash val="solid"/>
          </a:ln>
        </p:spPr>
      </p:sp>
      <p:sp>
        <p:nvSpPr>
          <p:cNvPr id="30" name="Shape 27"/>
          <p:cNvSpPr/>
          <p:nvPr/>
        </p:nvSpPr>
        <p:spPr>
          <a:xfrm>
            <a:off x="8179308" y="1929384"/>
            <a:ext cx="137160" cy="137160"/>
          </a:xfrm>
          <a:prstGeom prst="ellipse">
            <a:avLst/>
          </a:prstGeom>
          <a:solidFill>
            <a:srgbClr val="D49A00"/>
          </a:solidFill>
          <a:ln w="15875">
            <a:solidFill>
              <a:srgbClr val="D49A00"/>
            </a:solidFill>
            <a:prstDash val="solid"/>
          </a:ln>
        </p:spPr>
      </p:sp>
      <p:sp>
        <p:nvSpPr>
          <p:cNvPr id="31" name="Shape 28"/>
          <p:cNvSpPr/>
          <p:nvPr/>
        </p:nvSpPr>
        <p:spPr>
          <a:xfrm>
            <a:off x="457200" y="2130552"/>
            <a:ext cx="8193024" cy="265176"/>
          </a:xfrm>
          <a:prstGeom prst="rect">
            <a:avLst/>
          </a:prstGeom>
          <a:solidFill>
            <a:srgbClr val="F4F7F5"/>
          </a:solidFill>
          <a:ln w="12700">
            <a:solidFill>
              <a:srgbClr val="F4F7F5"/>
            </a:solidFill>
            <a:prstDash val="solid"/>
          </a:ln>
        </p:spPr>
      </p:sp>
      <p:sp>
        <p:nvSpPr>
          <p:cNvPr id="32" name="Text 29"/>
          <p:cNvSpPr txBox="1"/>
          <p:nvPr/>
        </p:nvSpPr>
        <p:spPr>
          <a:xfrm>
            <a:off x="548640" y="2130552"/>
            <a:ext cx="2423160" cy="265176"/>
          </a:xfrm>
          <a:prstGeom prst="rect">
            <a:avLst/>
          </a:prstGeom>
          <a:noFill/>
          <a:ln/>
        </p:spPr>
        <p:txBody>
          <a:bodyPr wrap="square" lIns="0" tIns="0" rIns="0" bIns="0" rtlCol="0" anchor="ctr"/>
          <a:lstStyle/>
          <a:p>
            <a:pPr indent="0" marL="0">
              <a:buNone/>
            </a:pPr>
            <a:r>
              <a:rPr lang="en-US" sz="1000" dirty="0">
                <a:solidFill>
                  <a:srgbClr val="231F20"/>
                </a:solidFill>
                <a:latin typeface="Calibri" pitchFamily="34" charset="0"/>
                <a:ea typeface="Calibri" pitchFamily="34" charset="-122"/>
                <a:cs typeface="Calibri" pitchFamily="34" charset="-120"/>
              </a:rPr>
              <a:t>Black Marble VNP46A2</a:t>
            </a:r>
            <a:endParaRPr lang="en-US" sz="1000" dirty="0"/>
          </a:p>
        </p:txBody>
      </p:sp>
      <p:sp>
        <p:nvSpPr>
          <p:cNvPr id="33" name="Shape 30"/>
          <p:cNvSpPr/>
          <p:nvPr/>
        </p:nvSpPr>
        <p:spPr>
          <a:xfrm>
            <a:off x="6569964" y="2194560"/>
            <a:ext cx="137160" cy="137160"/>
          </a:xfrm>
          <a:prstGeom prst="ellipse">
            <a:avLst/>
          </a:prstGeom>
          <a:solidFill>
            <a:srgbClr val="D49A00"/>
          </a:solidFill>
          <a:ln w="15875">
            <a:solidFill>
              <a:srgbClr val="D49A00"/>
            </a:solidFill>
            <a:prstDash val="solid"/>
          </a:ln>
        </p:spPr>
      </p:sp>
      <p:sp>
        <p:nvSpPr>
          <p:cNvPr id="34" name="Text 31"/>
          <p:cNvSpPr txBox="1"/>
          <p:nvPr/>
        </p:nvSpPr>
        <p:spPr>
          <a:xfrm>
            <a:off x="548640" y="2395728"/>
            <a:ext cx="2423160" cy="265176"/>
          </a:xfrm>
          <a:prstGeom prst="rect">
            <a:avLst/>
          </a:prstGeom>
          <a:noFill/>
          <a:ln/>
        </p:spPr>
        <p:txBody>
          <a:bodyPr wrap="square" lIns="0" tIns="0" rIns="0" bIns="0" rtlCol="0" anchor="ctr"/>
          <a:lstStyle/>
          <a:p>
            <a:pPr indent="0" marL="0">
              <a:buNone/>
            </a:pPr>
            <a:r>
              <a:rPr lang="en-US" sz="1000" dirty="0">
                <a:solidFill>
                  <a:srgbClr val="231F20"/>
                </a:solidFill>
                <a:latin typeface="Calibri" pitchFamily="34" charset="0"/>
                <a:ea typeface="Calibri" pitchFamily="34" charset="-122"/>
                <a:cs typeface="Calibri" pitchFamily="34" charset="-120"/>
              </a:rPr>
              <a:t>DMSP harmonisé</a:t>
            </a:r>
            <a:endParaRPr lang="en-US" sz="1000" dirty="0"/>
          </a:p>
        </p:txBody>
      </p:sp>
      <p:sp>
        <p:nvSpPr>
          <p:cNvPr id="35" name="Shape 32"/>
          <p:cNvSpPr/>
          <p:nvPr/>
        </p:nvSpPr>
        <p:spPr>
          <a:xfrm>
            <a:off x="3351276" y="2459736"/>
            <a:ext cx="137160" cy="137160"/>
          </a:xfrm>
          <a:prstGeom prst="ellipse">
            <a:avLst/>
          </a:prstGeom>
          <a:solidFill>
            <a:srgbClr val="FFFFFF"/>
          </a:solidFill>
          <a:ln w="15875">
            <a:solidFill>
              <a:srgbClr val="D49A00"/>
            </a:solidFill>
            <a:prstDash val="solid"/>
          </a:ln>
        </p:spPr>
      </p:sp>
      <p:sp>
        <p:nvSpPr>
          <p:cNvPr id="36" name="Shape 33"/>
          <p:cNvSpPr/>
          <p:nvPr/>
        </p:nvSpPr>
        <p:spPr>
          <a:xfrm>
            <a:off x="4155948" y="2459736"/>
            <a:ext cx="137160" cy="137160"/>
          </a:xfrm>
          <a:prstGeom prst="ellipse">
            <a:avLst/>
          </a:prstGeom>
          <a:solidFill>
            <a:srgbClr val="D49A00"/>
          </a:solidFill>
          <a:ln w="15875">
            <a:solidFill>
              <a:srgbClr val="D49A00"/>
            </a:solidFill>
            <a:prstDash val="solid"/>
          </a:ln>
        </p:spPr>
      </p:sp>
      <p:sp>
        <p:nvSpPr>
          <p:cNvPr id="37" name="Shape 34"/>
          <p:cNvSpPr/>
          <p:nvPr/>
        </p:nvSpPr>
        <p:spPr>
          <a:xfrm>
            <a:off x="5765292" y="2459736"/>
            <a:ext cx="137160" cy="137160"/>
          </a:xfrm>
          <a:prstGeom prst="ellipse">
            <a:avLst/>
          </a:prstGeom>
          <a:solidFill>
            <a:srgbClr val="D49A00"/>
          </a:solidFill>
          <a:ln w="15875">
            <a:solidFill>
              <a:srgbClr val="D49A00"/>
            </a:solidFill>
            <a:prstDash val="solid"/>
          </a:ln>
        </p:spPr>
      </p:sp>
      <p:sp>
        <p:nvSpPr>
          <p:cNvPr id="38" name="Shape 35"/>
          <p:cNvSpPr/>
          <p:nvPr/>
        </p:nvSpPr>
        <p:spPr>
          <a:xfrm>
            <a:off x="457200" y="2660904"/>
            <a:ext cx="8193024" cy="265176"/>
          </a:xfrm>
          <a:prstGeom prst="rect">
            <a:avLst/>
          </a:prstGeom>
          <a:solidFill>
            <a:srgbClr val="F4F7F5"/>
          </a:solidFill>
          <a:ln w="12700">
            <a:solidFill>
              <a:srgbClr val="F4F7F5"/>
            </a:solidFill>
            <a:prstDash val="solid"/>
          </a:ln>
        </p:spPr>
      </p:sp>
      <p:sp>
        <p:nvSpPr>
          <p:cNvPr id="39" name="Text 36"/>
          <p:cNvSpPr txBox="1"/>
          <p:nvPr/>
        </p:nvSpPr>
        <p:spPr>
          <a:xfrm>
            <a:off x="548640" y="2660904"/>
            <a:ext cx="2423160" cy="265176"/>
          </a:xfrm>
          <a:prstGeom prst="rect">
            <a:avLst/>
          </a:prstGeom>
          <a:noFill/>
          <a:ln/>
        </p:spPr>
        <p:txBody>
          <a:bodyPr wrap="square" lIns="0" tIns="0" rIns="0" bIns="0" rtlCol="0" anchor="ctr"/>
          <a:lstStyle/>
          <a:p>
            <a:pPr indent="0" marL="0">
              <a:buNone/>
            </a:pPr>
            <a:r>
              <a:rPr lang="en-US" sz="1000" dirty="0">
                <a:solidFill>
                  <a:srgbClr val="231F20"/>
                </a:solidFill>
                <a:latin typeface="Calibri" pitchFamily="34" charset="0"/>
                <a:ea typeface="Calibri" pitchFamily="34" charset="-122"/>
                <a:cs typeface="Calibri" pitchFamily="34" charset="-120"/>
              </a:rPr>
              <a:t>GHS-POP / WorldPop</a:t>
            </a:r>
            <a:endParaRPr lang="en-US" sz="1000" dirty="0"/>
          </a:p>
        </p:txBody>
      </p:sp>
      <p:sp>
        <p:nvSpPr>
          <p:cNvPr id="40" name="Shape 37"/>
          <p:cNvSpPr/>
          <p:nvPr/>
        </p:nvSpPr>
        <p:spPr>
          <a:xfrm>
            <a:off x="3351276" y="2724912"/>
            <a:ext cx="137160" cy="137160"/>
          </a:xfrm>
          <a:prstGeom prst="ellipse">
            <a:avLst/>
          </a:prstGeom>
          <a:solidFill>
            <a:srgbClr val="D49A00"/>
          </a:solidFill>
          <a:ln w="15875">
            <a:solidFill>
              <a:srgbClr val="D49A00"/>
            </a:solidFill>
            <a:prstDash val="solid"/>
          </a:ln>
        </p:spPr>
      </p:sp>
      <p:sp>
        <p:nvSpPr>
          <p:cNvPr id="41" name="Shape 38"/>
          <p:cNvSpPr/>
          <p:nvPr/>
        </p:nvSpPr>
        <p:spPr>
          <a:xfrm>
            <a:off x="4960620" y="2724912"/>
            <a:ext cx="137160" cy="137160"/>
          </a:xfrm>
          <a:prstGeom prst="ellipse">
            <a:avLst/>
          </a:prstGeom>
          <a:solidFill>
            <a:srgbClr val="D49A00"/>
          </a:solidFill>
          <a:ln w="15875">
            <a:solidFill>
              <a:srgbClr val="D49A00"/>
            </a:solidFill>
            <a:prstDash val="solid"/>
          </a:ln>
        </p:spPr>
      </p:sp>
      <p:sp>
        <p:nvSpPr>
          <p:cNvPr id="42" name="Shape 39"/>
          <p:cNvSpPr/>
          <p:nvPr/>
        </p:nvSpPr>
        <p:spPr>
          <a:xfrm>
            <a:off x="7374636" y="2724912"/>
            <a:ext cx="137160" cy="137160"/>
          </a:xfrm>
          <a:prstGeom prst="ellipse">
            <a:avLst/>
          </a:prstGeom>
          <a:solidFill>
            <a:srgbClr val="D49A00"/>
          </a:solidFill>
          <a:ln w="15875">
            <a:solidFill>
              <a:srgbClr val="D49A00"/>
            </a:solidFill>
            <a:prstDash val="solid"/>
          </a:ln>
        </p:spPr>
      </p:sp>
      <p:sp>
        <p:nvSpPr>
          <p:cNvPr id="43" name="Shape 40"/>
          <p:cNvSpPr/>
          <p:nvPr/>
        </p:nvSpPr>
        <p:spPr>
          <a:xfrm>
            <a:off x="8179308" y="2724912"/>
            <a:ext cx="137160" cy="137160"/>
          </a:xfrm>
          <a:prstGeom prst="ellipse">
            <a:avLst/>
          </a:prstGeom>
          <a:solidFill>
            <a:srgbClr val="D49A00"/>
          </a:solidFill>
          <a:ln w="15875">
            <a:solidFill>
              <a:srgbClr val="D49A00"/>
            </a:solidFill>
            <a:prstDash val="solid"/>
          </a:ln>
        </p:spPr>
      </p:sp>
      <p:sp>
        <p:nvSpPr>
          <p:cNvPr id="44" name="Text 41"/>
          <p:cNvSpPr txBox="1"/>
          <p:nvPr/>
        </p:nvSpPr>
        <p:spPr>
          <a:xfrm>
            <a:off x="548640" y="2926080"/>
            <a:ext cx="2423160" cy="265176"/>
          </a:xfrm>
          <a:prstGeom prst="rect">
            <a:avLst/>
          </a:prstGeom>
          <a:noFill/>
          <a:ln/>
        </p:spPr>
        <p:txBody>
          <a:bodyPr wrap="square" lIns="0" tIns="0" rIns="0" bIns="0" rtlCol="0" anchor="ctr"/>
          <a:lstStyle/>
          <a:p>
            <a:pPr indent="0" marL="0">
              <a:buNone/>
            </a:pPr>
            <a:r>
              <a:rPr lang="en-US" sz="1000" dirty="0">
                <a:solidFill>
                  <a:srgbClr val="231F20"/>
                </a:solidFill>
                <a:latin typeface="Calibri" pitchFamily="34" charset="0"/>
                <a:ea typeface="Calibri" pitchFamily="34" charset="-122"/>
                <a:cs typeface="Calibri" pitchFamily="34" charset="-120"/>
              </a:rPr>
              <a:t>GHS-SMOD</a:t>
            </a:r>
            <a:endParaRPr lang="en-US" sz="1000" dirty="0"/>
          </a:p>
        </p:txBody>
      </p:sp>
      <p:sp>
        <p:nvSpPr>
          <p:cNvPr id="45" name="Shape 42"/>
          <p:cNvSpPr/>
          <p:nvPr/>
        </p:nvSpPr>
        <p:spPr>
          <a:xfrm>
            <a:off x="7374636" y="2990088"/>
            <a:ext cx="137160" cy="137160"/>
          </a:xfrm>
          <a:prstGeom prst="ellipse">
            <a:avLst/>
          </a:prstGeom>
          <a:solidFill>
            <a:srgbClr val="D49A00"/>
          </a:solidFill>
          <a:ln w="15875">
            <a:solidFill>
              <a:srgbClr val="D49A00"/>
            </a:solidFill>
            <a:prstDash val="solid"/>
          </a:ln>
        </p:spPr>
      </p:sp>
      <p:sp>
        <p:nvSpPr>
          <p:cNvPr id="46" name="Shape 43"/>
          <p:cNvSpPr/>
          <p:nvPr/>
        </p:nvSpPr>
        <p:spPr>
          <a:xfrm>
            <a:off x="457200" y="3191256"/>
            <a:ext cx="8193024" cy="265176"/>
          </a:xfrm>
          <a:prstGeom prst="rect">
            <a:avLst/>
          </a:prstGeom>
          <a:solidFill>
            <a:srgbClr val="F4F7F5"/>
          </a:solidFill>
          <a:ln w="12700">
            <a:solidFill>
              <a:srgbClr val="F4F7F5"/>
            </a:solidFill>
            <a:prstDash val="solid"/>
          </a:ln>
        </p:spPr>
      </p:sp>
      <p:sp>
        <p:nvSpPr>
          <p:cNvPr id="47" name="Text 44"/>
          <p:cNvSpPr txBox="1"/>
          <p:nvPr/>
        </p:nvSpPr>
        <p:spPr>
          <a:xfrm>
            <a:off x="548640" y="3191256"/>
            <a:ext cx="2423160" cy="265176"/>
          </a:xfrm>
          <a:prstGeom prst="rect">
            <a:avLst/>
          </a:prstGeom>
          <a:noFill/>
          <a:ln/>
        </p:spPr>
        <p:txBody>
          <a:bodyPr wrap="square" lIns="0" tIns="0" rIns="0" bIns="0" rtlCol="0" anchor="ctr"/>
          <a:lstStyle/>
          <a:p>
            <a:pPr indent="0" marL="0">
              <a:buNone/>
            </a:pPr>
            <a:r>
              <a:rPr lang="en-US" sz="1000" dirty="0">
                <a:solidFill>
                  <a:srgbClr val="231F20"/>
                </a:solidFill>
                <a:latin typeface="Calibri" pitchFamily="34" charset="0"/>
                <a:ea typeface="Calibri" pitchFamily="34" charset="-122"/>
                <a:cs typeface="Calibri" pitchFamily="34" charset="-120"/>
              </a:rPr>
              <a:t>GHS-BUILT-S</a:t>
            </a:r>
            <a:endParaRPr lang="en-US" sz="1000" dirty="0"/>
          </a:p>
        </p:txBody>
      </p:sp>
      <p:sp>
        <p:nvSpPr>
          <p:cNvPr id="48" name="Shape 45"/>
          <p:cNvSpPr/>
          <p:nvPr/>
        </p:nvSpPr>
        <p:spPr>
          <a:xfrm>
            <a:off x="3351276" y="3255264"/>
            <a:ext cx="137160" cy="137160"/>
          </a:xfrm>
          <a:prstGeom prst="ellipse">
            <a:avLst/>
          </a:prstGeom>
          <a:solidFill>
            <a:srgbClr val="D49A00"/>
          </a:solidFill>
          <a:ln w="15875">
            <a:solidFill>
              <a:srgbClr val="D49A00"/>
            </a:solidFill>
            <a:prstDash val="solid"/>
          </a:ln>
        </p:spPr>
      </p:sp>
      <p:sp>
        <p:nvSpPr>
          <p:cNvPr id="49" name="Shape 46"/>
          <p:cNvSpPr/>
          <p:nvPr/>
        </p:nvSpPr>
        <p:spPr>
          <a:xfrm>
            <a:off x="8179308" y="3255264"/>
            <a:ext cx="137160" cy="137160"/>
          </a:xfrm>
          <a:prstGeom prst="ellipse">
            <a:avLst/>
          </a:prstGeom>
          <a:solidFill>
            <a:srgbClr val="D49A00"/>
          </a:solidFill>
          <a:ln w="15875">
            <a:solidFill>
              <a:srgbClr val="D49A00"/>
            </a:solidFill>
            <a:prstDash val="solid"/>
          </a:ln>
        </p:spPr>
      </p:sp>
      <p:sp>
        <p:nvSpPr>
          <p:cNvPr id="50" name="Text 47"/>
          <p:cNvSpPr txBox="1"/>
          <p:nvPr/>
        </p:nvSpPr>
        <p:spPr>
          <a:xfrm>
            <a:off x="548640" y="3456432"/>
            <a:ext cx="2423160" cy="265176"/>
          </a:xfrm>
          <a:prstGeom prst="rect">
            <a:avLst/>
          </a:prstGeom>
          <a:noFill/>
          <a:ln/>
        </p:spPr>
        <p:txBody>
          <a:bodyPr wrap="square" lIns="0" tIns="0" rIns="0" bIns="0" rtlCol="0" anchor="ctr"/>
          <a:lstStyle/>
          <a:p>
            <a:pPr indent="0" marL="0">
              <a:buNone/>
            </a:pPr>
            <a:r>
              <a:rPr lang="en-US" sz="1000" dirty="0">
                <a:solidFill>
                  <a:srgbClr val="231F20"/>
                </a:solidFill>
                <a:latin typeface="Calibri" pitchFamily="34" charset="0"/>
                <a:ea typeface="Calibri" pitchFamily="34" charset="-122"/>
                <a:cs typeface="Calibri" pitchFamily="34" charset="-120"/>
              </a:rPr>
              <a:t>Sentinel-5P NO₂</a:t>
            </a:r>
            <a:endParaRPr lang="en-US" sz="1000" dirty="0"/>
          </a:p>
        </p:txBody>
      </p:sp>
      <p:sp>
        <p:nvSpPr>
          <p:cNvPr id="51" name="Shape 48"/>
          <p:cNvSpPr/>
          <p:nvPr/>
        </p:nvSpPr>
        <p:spPr>
          <a:xfrm>
            <a:off x="4960620" y="3520440"/>
            <a:ext cx="137160" cy="137160"/>
          </a:xfrm>
          <a:prstGeom prst="ellipse">
            <a:avLst/>
          </a:prstGeom>
          <a:solidFill>
            <a:srgbClr val="FFFFFF"/>
          </a:solidFill>
          <a:ln w="15875">
            <a:solidFill>
              <a:srgbClr val="D49A00"/>
            </a:solidFill>
            <a:prstDash val="solid"/>
          </a:ln>
        </p:spPr>
      </p:sp>
      <p:sp>
        <p:nvSpPr>
          <p:cNvPr id="52" name="Shape 49"/>
          <p:cNvSpPr/>
          <p:nvPr/>
        </p:nvSpPr>
        <p:spPr>
          <a:xfrm>
            <a:off x="8179308" y="3520440"/>
            <a:ext cx="137160" cy="137160"/>
          </a:xfrm>
          <a:prstGeom prst="ellipse">
            <a:avLst/>
          </a:prstGeom>
          <a:solidFill>
            <a:srgbClr val="D49A00"/>
          </a:solidFill>
          <a:ln w="15875">
            <a:solidFill>
              <a:srgbClr val="D49A00"/>
            </a:solidFill>
            <a:prstDash val="solid"/>
          </a:ln>
        </p:spPr>
      </p:sp>
      <p:sp>
        <p:nvSpPr>
          <p:cNvPr id="53" name="Shape 50"/>
          <p:cNvSpPr/>
          <p:nvPr/>
        </p:nvSpPr>
        <p:spPr>
          <a:xfrm>
            <a:off x="457200" y="3721608"/>
            <a:ext cx="8193024" cy="265176"/>
          </a:xfrm>
          <a:prstGeom prst="rect">
            <a:avLst/>
          </a:prstGeom>
          <a:solidFill>
            <a:srgbClr val="F4F7F5"/>
          </a:solidFill>
          <a:ln w="12700">
            <a:solidFill>
              <a:srgbClr val="F4F7F5"/>
            </a:solidFill>
            <a:prstDash val="solid"/>
          </a:ln>
        </p:spPr>
      </p:sp>
      <p:sp>
        <p:nvSpPr>
          <p:cNvPr id="54" name="Text 51"/>
          <p:cNvSpPr txBox="1"/>
          <p:nvPr/>
        </p:nvSpPr>
        <p:spPr>
          <a:xfrm>
            <a:off x="548640" y="3721608"/>
            <a:ext cx="2423160" cy="265176"/>
          </a:xfrm>
          <a:prstGeom prst="rect">
            <a:avLst/>
          </a:prstGeom>
          <a:noFill/>
          <a:ln/>
        </p:spPr>
        <p:txBody>
          <a:bodyPr wrap="square" lIns="0" tIns="0" rIns="0" bIns="0" rtlCol="0" anchor="ctr"/>
          <a:lstStyle/>
          <a:p>
            <a:pPr indent="0" marL="0">
              <a:buNone/>
            </a:pPr>
            <a:r>
              <a:rPr lang="en-US" sz="1000" dirty="0">
                <a:solidFill>
                  <a:srgbClr val="231F20"/>
                </a:solidFill>
                <a:latin typeface="Calibri" pitchFamily="34" charset="0"/>
                <a:ea typeface="Calibri" pitchFamily="34" charset="-122"/>
                <a:cs typeface="Calibri" pitchFamily="34" charset="-120"/>
              </a:rPr>
              <a:t>geoBoundaries / GAUL</a:t>
            </a:r>
            <a:endParaRPr lang="en-US" sz="1000" dirty="0"/>
          </a:p>
        </p:txBody>
      </p:sp>
      <p:sp>
        <p:nvSpPr>
          <p:cNvPr id="55" name="Shape 52"/>
          <p:cNvSpPr/>
          <p:nvPr/>
        </p:nvSpPr>
        <p:spPr>
          <a:xfrm>
            <a:off x="3351276" y="3785616"/>
            <a:ext cx="137160" cy="137160"/>
          </a:xfrm>
          <a:prstGeom prst="ellipse">
            <a:avLst/>
          </a:prstGeom>
          <a:solidFill>
            <a:srgbClr val="D49A00"/>
          </a:solidFill>
          <a:ln w="15875">
            <a:solidFill>
              <a:srgbClr val="D49A00"/>
            </a:solidFill>
            <a:prstDash val="solid"/>
          </a:ln>
        </p:spPr>
      </p:sp>
      <p:sp>
        <p:nvSpPr>
          <p:cNvPr id="56" name="Shape 53"/>
          <p:cNvSpPr/>
          <p:nvPr/>
        </p:nvSpPr>
        <p:spPr>
          <a:xfrm>
            <a:off x="4155948" y="3785616"/>
            <a:ext cx="137160" cy="137160"/>
          </a:xfrm>
          <a:prstGeom prst="ellipse">
            <a:avLst/>
          </a:prstGeom>
          <a:solidFill>
            <a:srgbClr val="D49A00"/>
          </a:solidFill>
          <a:ln w="15875">
            <a:solidFill>
              <a:srgbClr val="D49A00"/>
            </a:solidFill>
            <a:prstDash val="solid"/>
          </a:ln>
        </p:spPr>
      </p:sp>
      <p:sp>
        <p:nvSpPr>
          <p:cNvPr id="57" name="Shape 54"/>
          <p:cNvSpPr/>
          <p:nvPr/>
        </p:nvSpPr>
        <p:spPr>
          <a:xfrm>
            <a:off x="4960620" y="3785616"/>
            <a:ext cx="137160" cy="137160"/>
          </a:xfrm>
          <a:prstGeom prst="ellipse">
            <a:avLst/>
          </a:prstGeom>
          <a:solidFill>
            <a:srgbClr val="D49A00"/>
          </a:solidFill>
          <a:ln w="15875">
            <a:solidFill>
              <a:srgbClr val="D49A00"/>
            </a:solidFill>
            <a:prstDash val="solid"/>
          </a:ln>
        </p:spPr>
      </p:sp>
      <p:sp>
        <p:nvSpPr>
          <p:cNvPr id="58" name="Shape 55"/>
          <p:cNvSpPr/>
          <p:nvPr/>
        </p:nvSpPr>
        <p:spPr>
          <a:xfrm>
            <a:off x="5765292" y="3785616"/>
            <a:ext cx="137160" cy="137160"/>
          </a:xfrm>
          <a:prstGeom prst="ellipse">
            <a:avLst/>
          </a:prstGeom>
          <a:solidFill>
            <a:srgbClr val="D49A00"/>
          </a:solidFill>
          <a:ln w="15875">
            <a:solidFill>
              <a:srgbClr val="D49A00"/>
            </a:solidFill>
            <a:prstDash val="solid"/>
          </a:ln>
        </p:spPr>
      </p:sp>
      <p:sp>
        <p:nvSpPr>
          <p:cNvPr id="59" name="Shape 56"/>
          <p:cNvSpPr/>
          <p:nvPr/>
        </p:nvSpPr>
        <p:spPr>
          <a:xfrm>
            <a:off x="6569964" y="3785616"/>
            <a:ext cx="137160" cy="137160"/>
          </a:xfrm>
          <a:prstGeom prst="ellipse">
            <a:avLst/>
          </a:prstGeom>
          <a:solidFill>
            <a:srgbClr val="D49A00"/>
          </a:solidFill>
          <a:ln w="15875">
            <a:solidFill>
              <a:srgbClr val="D49A00"/>
            </a:solidFill>
            <a:prstDash val="solid"/>
          </a:ln>
        </p:spPr>
      </p:sp>
      <p:sp>
        <p:nvSpPr>
          <p:cNvPr id="60" name="Shape 57"/>
          <p:cNvSpPr/>
          <p:nvPr/>
        </p:nvSpPr>
        <p:spPr>
          <a:xfrm>
            <a:off x="7374636" y="3785616"/>
            <a:ext cx="137160" cy="137160"/>
          </a:xfrm>
          <a:prstGeom prst="ellipse">
            <a:avLst/>
          </a:prstGeom>
          <a:solidFill>
            <a:srgbClr val="D49A00"/>
          </a:solidFill>
          <a:ln w="15875">
            <a:solidFill>
              <a:srgbClr val="D49A00"/>
            </a:solidFill>
            <a:prstDash val="solid"/>
          </a:ln>
        </p:spPr>
      </p:sp>
      <p:sp>
        <p:nvSpPr>
          <p:cNvPr id="61" name="Shape 58"/>
          <p:cNvSpPr/>
          <p:nvPr/>
        </p:nvSpPr>
        <p:spPr>
          <a:xfrm>
            <a:off x="8179308" y="3785616"/>
            <a:ext cx="137160" cy="137160"/>
          </a:xfrm>
          <a:prstGeom prst="ellipse">
            <a:avLst/>
          </a:prstGeom>
          <a:solidFill>
            <a:srgbClr val="D49A00"/>
          </a:solidFill>
          <a:ln w="15875">
            <a:solidFill>
              <a:srgbClr val="D49A00"/>
            </a:solidFill>
            <a:prstDash val="solid"/>
          </a:ln>
        </p:spPr>
      </p:sp>
      <p:sp>
        <p:nvSpPr>
          <p:cNvPr id="62" name="Text 59"/>
          <p:cNvSpPr txBox="1"/>
          <p:nvPr/>
        </p:nvSpPr>
        <p:spPr>
          <a:xfrm>
            <a:off x="548640" y="3986784"/>
            <a:ext cx="2423160" cy="265176"/>
          </a:xfrm>
          <a:prstGeom prst="rect">
            <a:avLst/>
          </a:prstGeom>
          <a:noFill/>
          <a:ln/>
        </p:spPr>
        <p:txBody>
          <a:bodyPr wrap="square" lIns="0" tIns="0" rIns="0" bIns="0" rtlCol="0" anchor="ctr"/>
          <a:lstStyle/>
          <a:p>
            <a:pPr indent="0" marL="0">
              <a:buNone/>
            </a:pPr>
            <a:r>
              <a:rPr lang="en-US" sz="1000" dirty="0">
                <a:solidFill>
                  <a:srgbClr val="231F20"/>
                </a:solidFill>
                <a:latin typeface="Calibri" pitchFamily="34" charset="0"/>
                <a:ea typeface="Calibri" pitchFamily="34" charset="-122"/>
                <a:cs typeface="Calibri" pitchFamily="34" charset="-120"/>
              </a:rPr>
              <a:t>Banque mondiale WDI</a:t>
            </a:r>
            <a:endParaRPr lang="en-US" sz="1000" dirty="0"/>
          </a:p>
        </p:txBody>
      </p:sp>
      <p:sp>
        <p:nvSpPr>
          <p:cNvPr id="63" name="Shape 60"/>
          <p:cNvSpPr/>
          <p:nvPr/>
        </p:nvSpPr>
        <p:spPr>
          <a:xfrm>
            <a:off x="3351276" y="4050792"/>
            <a:ext cx="137160" cy="137160"/>
          </a:xfrm>
          <a:prstGeom prst="ellipse">
            <a:avLst/>
          </a:prstGeom>
          <a:solidFill>
            <a:srgbClr val="FFFFFF"/>
          </a:solidFill>
          <a:ln w="15875">
            <a:solidFill>
              <a:srgbClr val="D49A00"/>
            </a:solidFill>
            <a:prstDash val="solid"/>
          </a:ln>
        </p:spPr>
      </p:sp>
      <p:sp>
        <p:nvSpPr>
          <p:cNvPr id="64" name="Shape 61"/>
          <p:cNvSpPr/>
          <p:nvPr/>
        </p:nvSpPr>
        <p:spPr>
          <a:xfrm>
            <a:off x="5765292" y="4050792"/>
            <a:ext cx="137160" cy="137160"/>
          </a:xfrm>
          <a:prstGeom prst="ellipse">
            <a:avLst/>
          </a:prstGeom>
          <a:solidFill>
            <a:srgbClr val="D49A00"/>
          </a:solidFill>
          <a:ln w="15875">
            <a:solidFill>
              <a:srgbClr val="D49A00"/>
            </a:solidFill>
            <a:prstDash val="solid"/>
          </a:ln>
        </p:spPr>
      </p:sp>
      <p:sp>
        <p:nvSpPr>
          <p:cNvPr id="65" name="Shape 62"/>
          <p:cNvSpPr/>
          <p:nvPr/>
        </p:nvSpPr>
        <p:spPr>
          <a:xfrm>
            <a:off x="7374636" y="4050792"/>
            <a:ext cx="137160" cy="137160"/>
          </a:xfrm>
          <a:prstGeom prst="ellipse">
            <a:avLst/>
          </a:prstGeom>
          <a:solidFill>
            <a:srgbClr val="FFFFFF"/>
          </a:solidFill>
          <a:ln w="15875">
            <a:solidFill>
              <a:srgbClr val="D49A00"/>
            </a:solidFill>
            <a:prstDash val="solid"/>
          </a:ln>
        </p:spPr>
      </p:sp>
      <p:sp>
        <p:nvSpPr>
          <p:cNvPr id="66" name="Shape 63"/>
          <p:cNvSpPr/>
          <p:nvPr/>
        </p:nvSpPr>
        <p:spPr>
          <a:xfrm>
            <a:off x="457200" y="4251960"/>
            <a:ext cx="8193024" cy="265176"/>
          </a:xfrm>
          <a:prstGeom prst="rect">
            <a:avLst/>
          </a:prstGeom>
          <a:solidFill>
            <a:srgbClr val="F4F7F5"/>
          </a:solidFill>
          <a:ln w="12700">
            <a:solidFill>
              <a:srgbClr val="F4F7F5"/>
            </a:solidFill>
            <a:prstDash val="solid"/>
          </a:ln>
        </p:spPr>
      </p:sp>
      <p:sp>
        <p:nvSpPr>
          <p:cNvPr id="67" name="Text 64"/>
          <p:cNvSpPr txBox="1"/>
          <p:nvPr/>
        </p:nvSpPr>
        <p:spPr>
          <a:xfrm>
            <a:off x="548640" y="4251960"/>
            <a:ext cx="2423160" cy="265176"/>
          </a:xfrm>
          <a:prstGeom prst="rect">
            <a:avLst/>
          </a:prstGeom>
          <a:noFill/>
          <a:ln/>
        </p:spPr>
        <p:txBody>
          <a:bodyPr wrap="square" lIns="0" tIns="0" rIns="0" bIns="0" rtlCol="0" anchor="ctr"/>
          <a:lstStyle/>
          <a:p>
            <a:pPr indent="0" marL="0">
              <a:buNone/>
            </a:pPr>
            <a:r>
              <a:rPr lang="en-US" sz="1000" dirty="0">
                <a:solidFill>
                  <a:srgbClr val="231F20"/>
                </a:solidFill>
                <a:latin typeface="Calibri" pitchFamily="34" charset="0"/>
                <a:ea typeface="Calibri" pitchFamily="34" charset="-122"/>
                <a:cs typeface="Calibri" pitchFamily="34" charset="-120"/>
              </a:rPr>
              <a:t>OpenStreetMap</a:t>
            </a:r>
            <a:endParaRPr lang="en-US" sz="1000" dirty="0"/>
          </a:p>
        </p:txBody>
      </p:sp>
      <p:sp>
        <p:nvSpPr>
          <p:cNvPr id="68" name="Shape 65"/>
          <p:cNvSpPr/>
          <p:nvPr/>
        </p:nvSpPr>
        <p:spPr>
          <a:xfrm>
            <a:off x="8179308" y="4315968"/>
            <a:ext cx="137160" cy="137160"/>
          </a:xfrm>
          <a:prstGeom prst="ellipse">
            <a:avLst/>
          </a:prstGeom>
          <a:solidFill>
            <a:srgbClr val="FFFFFF"/>
          </a:solidFill>
          <a:ln w="15875">
            <a:solidFill>
              <a:srgbClr val="D49A00"/>
            </a:solidFill>
            <a:prstDash val="solid"/>
          </a:ln>
        </p:spPr>
      </p:sp>
      <p:sp>
        <p:nvSpPr>
          <p:cNvPr id="69" name="Shape 66"/>
          <p:cNvSpPr/>
          <p:nvPr/>
        </p:nvSpPr>
        <p:spPr>
          <a:xfrm>
            <a:off x="3108960" y="4617720"/>
            <a:ext cx="137160" cy="137160"/>
          </a:xfrm>
          <a:prstGeom prst="ellipse">
            <a:avLst/>
          </a:prstGeom>
          <a:solidFill>
            <a:srgbClr val="D49A00"/>
          </a:solidFill>
          <a:ln w="15875">
            <a:solidFill>
              <a:srgbClr val="D49A00"/>
            </a:solidFill>
            <a:prstDash val="solid"/>
          </a:ln>
        </p:spPr>
      </p:sp>
      <p:sp>
        <p:nvSpPr>
          <p:cNvPr id="70" name="Text 67"/>
          <p:cNvSpPr txBox="1"/>
          <p:nvPr/>
        </p:nvSpPr>
        <p:spPr>
          <a:xfrm>
            <a:off x="3310128" y="4572000"/>
            <a:ext cx="1828800" cy="228600"/>
          </a:xfrm>
          <a:prstGeom prst="rect">
            <a:avLst/>
          </a:prstGeom>
          <a:noFill/>
          <a:ln/>
        </p:spPr>
        <p:txBody>
          <a:bodyPr wrap="square" lIns="0" tIns="0" rIns="0" bIns="0" rtlCol="0" anchor="ctr"/>
          <a:lstStyle/>
          <a:p>
            <a:pPr indent="0" marL="0">
              <a:buNone/>
            </a:pPr>
            <a:r>
              <a:rPr lang="en-US" sz="950" dirty="0">
                <a:solidFill>
                  <a:srgbClr val="5E6964"/>
                </a:solidFill>
                <a:latin typeface="Calibri" pitchFamily="34" charset="0"/>
                <a:ea typeface="Calibri" pitchFamily="34" charset="-122"/>
                <a:cs typeface="Calibri" pitchFamily="34" charset="-120"/>
              </a:rPr>
              <a:t>entrée des métriques</a:t>
            </a:r>
            <a:endParaRPr lang="en-US" sz="950" dirty="0"/>
          </a:p>
        </p:txBody>
      </p:sp>
      <p:sp>
        <p:nvSpPr>
          <p:cNvPr id="71" name="Shape 68"/>
          <p:cNvSpPr/>
          <p:nvPr/>
        </p:nvSpPr>
        <p:spPr>
          <a:xfrm>
            <a:off x="5120640" y="4617720"/>
            <a:ext cx="137160" cy="137160"/>
          </a:xfrm>
          <a:prstGeom prst="ellipse">
            <a:avLst/>
          </a:prstGeom>
          <a:solidFill>
            <a:srgbClr val="FFFFFF"/>
          </a:solidFill>
          <a:ln w="15875">
            <a:solidFill>
              <a:srgbClr val="D49A00"/>
            </a:solidFill>
            <a:prstDash val="solid"/>
          </a:ln>
        </p:spPr>
      </p:sp>
      <p:sp>
        <p:nvSpPr>
          <p:cNvPr id="72" name="Text 69"/>
          <p:cNvSpPr txBox="1"/>
          <p:nvPr/>
        </p:nvSpPr>
        <p:spPr>
          <a:xfrm>
            <a:off x="5321808" y="4572000"/>
            <a:ext cx="2560320" cy="228600"/>
          </a:xfrm>
          <a:prstGeom prst="rect">
            <a:avLst/>
          </a:prstGeom>
          <a:noFill/>
          <a:ln/>
        </p:spPr>
        <p:txBody>
          <a:bodyPr wrap="square" lIns="0" tIns="0" rIns="0" bIns="0" rtlCol="0" anchor="ctr"/>
          <a:lstStyle/>
          <a:p>
            <a:pPr indent="0" marL="0">
              <a:buNone/>
            </a:pPr>
            <a:r>
              <a:rPr lang="en-US" sz="950" dirty="0">
                <a:solidFill>
                  <a:srgbClr val="5E6964"/>
                </a:solidFill>
                <a:latin typeface="Calibri" pitchFamily="34" charset="0"/>
                <a:ea typeface="Calibri" pitchFamily="34" charset="-122"/>
                <a:cs typeface="Calibri" pitchFamily="34" charset="-120"/>
              </a:rPr>
              <a:t>contrôle, contexte ou validation</a:t>
            </a:r>
            <a:endParaRPr lang="en-US" sz="95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8A9590"/>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3"/>
          <p:cNvSpPr/>
          <p:nvPr>
            <p:ph idx="105" type="body" hasCustomPrompt="1"/>
          </p:nvPr>
        </p:nvSpPr>
        <p:spPr>
          <a:xfrm>
            <a:off x="457200" y="274320"/>
            <a:ext cx="6217920" cy="256032"/>
          </a:xfrm>
          <a:prstGeom prst="rect">
            <a:avLst/>
          </a:prstGeom>
          <a:noFill/>
          <a:ln/>
        </p:spPr>
        <p:txBody>
          <a:bodyPr wrap="square" lIns="0" tIns="0" rIns="0" bIns="0" rtlCol="0" anchor="ctr"/>
          <a:lstStyle/>
          <a:p>
            <a:pPr algn="l" indent="0" marL="0">
              <a:buNone/>
            </a:pPr>
            <a:r>
              <a:rPr lang="en-US" sz="1050" b="1" spc="300" kern="0" dirty="0">
                <a:solidFill>
                  <a:srgbClr val="00704A"/>
                </a:solidFill>
                <a:latin typeface="Calibri" pitchFamily="34" charset="0"/>
                <a:ea typeface="Calibri" pitchFamily="34" charset="-122"/>
                <a:cs typeface="Calibri" pitchFamily="34" charset="-120"/>
              </a:rPr>
              <a:t>04 · ANALYSER · TABLES DE BASE</a:t>
            </a:r>
            <a:endParaRPr lang="en-US" sz="1050" dirty="0"/>
          </a:p>
        </p:txBody>
      </p:sp>
      <p:sp>
        <p:nvSpPr>
          <p:cNvPr id="3" name="Text 3"/>
          <p:cNvSpPr/>
          <p:nvPr>
            <p:ph idx="106" type="title" hasCustomPrompt="1"/>
          </p:nvPr>
        </p:nvSpPr>
        <p:spPr>
          <a:xfrm>
            <a:off x="457200" y="548640"/>
            <a:ext cx="8229600" cy="566928"/>
          </a:xfrm>
          <a:prstGeom prst="rect">
            <a:avLst/>
          </a:prstGeom>
          <a:noFill/>
          <a:ln/>
        </p:spPr>
        <p:txBody>
          <a:bodyPr wrap="square" lIns="0" tIns="0" rIns="0" bIns="0" rtlCol="0" anchor="ctr"/>
          <a:lstStyle/>
          <a:p>
            <a:pPr algn="l" indent="0" marL="0">
              <a:buNone/>
            </a:pPr>
            <a:r>
              <a:rPr lang="en-US" sz="2800" b="1" dirty="0">
                <a:solidFill>
                  <a:srgbClr val="231F20"/>
                </a:solidFill>
                <a:latin typeface="Calibri" pitchFamily="34" charset="0"/>
                <a:ea typeface="Calibri" pitchFamily="34" charset="-122"/>
                <a:cs typeface="Calibri" pitchFamily="34" charset="-120"/>
              </a:rPr>
              <a:t>De milliards de pixels à deux tables</a:t>
            </a:r>
            <a:endParaRPr lang="en-US" sz="2800" dirty="0"/>
          </a:p>
        </p:txBody>
      </p:sp>
      <p:sp>
        <p:nvSpPr>
          <p:cNvPr id="4" name="dot0"/>
          <p:cNvSpPr/>
          <p:nvPr/>
        </p:nvSpPr>
        <p:spPr>
          <a:xfrm>
            <a:off x="7644384" y="338328"/>
            <a:ext cx="100584" cy="100584"/>
          </a:xfrm>
          <a:prstGeom prst="ellipse">
            <a:avLst/>
          </a:prstGeom>
          <a:solidFill>
            <a:srgbClr val="D5DED9"/>
          </a:solidFill>
          <a:ln w="12700">
            <a:solidFill>
              <a:srgbClr val="D5DED9"/>
            </a:solidFill>
            <a:prstDash val="solid"/>
          </a:ln>
        </p:spPr>
      </p:sp>
      <p:sp>
        <p:nvSpPr>
          <p:cNvPr id="5" name="dot1"/>
          <p:cNvSpPr/>
          <p:nvPr/>
        </p:nvSpPr>
        <p:spPr>
          <a:xfrm>
            <a:off x="7818120" y="338328"/>
            <a:ext cx="100584" cy="100584"/>
          </a:xfrm>
          <a:prstGeom prst="ellipse">
            <a:avLst/>
          </a:prstGeom>
          <a:solidFill>
            <a:srgbClr val="D5DED9"/>
          </a:solidFill>
          <a:ln w="12700">
            <a:solidFill>
              <a:srgbClr val="D5DED9"/>
            </a:solidFill>
            <a:prstDash val="solid"/>
          </a:ln>
        </p:spPr>
      </p:sp>
      <p:sp>
        <p:nvSpPr>
          <p:cNvPr id="6" name="dot2"/>
          <p:cNvSpPr/>
          <p:nvPr/>
        </p:nvSpPr>
        <p:spPr>
          <a:xfrm>
            <a:off x="7991856" y="338328"/>
            <a:ext cx="100584" cy="100584"/>
          </a:xfrm>
          <a:prstGeom prst="ellipse">
            <a:avLst/>
          </a:prstGeom>
          <a:solidFill>
            <a:srgbClr val="D5DED9"/>
          </a:solidFill>
          <a:ln w="12700">
            <a:solidFill>
              <a:srgbClr val="D5DED9"/>
            </a:solidFill>
            <a:prstDash val="solid"/>
          </a:ln>
        </p:spPr>
      </p:sp>
      <p:sp>
        <p:nvSpPr>
          <p:cNvPr id="7" name="dot3"/>
          <p:cNvSpPr/>
          <p:nvPr/>
        </p:nvSpPr>
        <p:spPr>
          <a:xfrm>
            <a:off x="8165592" y="338328"/>
            <a:ext cx="100584" cy="100584"/>
          </a:xfrm>
          <a:prstGeom prst="ellipse">
            <a:avLst/>
          </a:prstGeom>
          <a:solidFill>
            <a:srgbClr val="D49A00"/>
          </a:solidFill>
          <a:ln w="12700">
            <a:solidFill>
              <a:srgbClr val="D49A00"/>
            </a:solidFill>
            <a:prstDash val="solid"/>
          </a:ln>
        </p:spPr>
      </p:sp>
      <p:sp>
        <p:nvSpPr>
          <p:cNvPr id="8" name="dot4"/>
          <p:cNvSpPr/>
          <p:nvPr/>
        </p:nvSpPr>
        <p:spPr>
          <a:xfrm>
            <a:off x="8339328" y="338328"/>
            <a:ext cx="100584" cy="100584"/>
          </a:xfrm>
          <a:prstGeom prst="ellipse">
            <a:avLst/>
          </a:prstGeom>
          <a:solidFill>
            <a:srgbClr val="D5DED9"/>
          </a:solidFill>
          <a:ln w="12700">
            <a:solidFill>
              <a:srgbClr val="D5DED9"/>
            </a:solidFill>
            <a:prstDash val="solid"/>
          </a:ln>
        </p:spPr>
      </p:sp>
      <p:sp>
        <p:nvSpPr>
          <p:cNvPr id="9" name="dot5"/>
          <p:cNvSpPr/>
          <p:nvPr/>
        </p:nvSpPr>
        <p:spPr>
          <a:xfrm>
            <a:off x="8513064" y="338328"/>
            <a:ext cx="100584" cy="100584"/>
          </a:xfrm>
          <a:prstGeom prst="ellipse">
            <a:avLst/>
          </a:prstGeom>
          <a:solidFill>
            <a:srgbClr val="D5DED9"/>
          </a:solidFill>
          <a:ln w="12700">
            <a:solidFill>
              <a:srgbClr val="D5DED9"/>
            </a:solidFill>
            <a:prstDash val="solid"/>
          </a:ln>
        </p:spPr>
      </p:sp>
      <p:sp>
        <p:nvSpPr>
          <p:cNvPr id="11" name="Shape 8"/>
          <p:cNvSpPr/>
          <p:nvPr/>
        </p:nvSpPr>
        <p:spPr>
          <a:xfrm>
            <a:off x="457200" y="1371600"/>
            <a:ext cx="2377440" cy="841248"/>
          </a:xfrm>
          <a:prstGeom prst="roundRect">
            <a:avLst>
              <a:gd name="adj" fmla="val 8696"/>
            </a:avLst>
          </a:prstGeom>
          <a:solidFill>
            <a:srgbClr val="F4F7F5"/>
          </a:solidFill>
          <a:ln w="9525">
            <a:solidFill>
              <a:srgbClr val="D5DED9"/>
            </a:solidFill>
            <a:prstDash val="solid"/>
          </a:ln>
        </p:spPr>
      </p:sp>
      <p:sp>
        <p:nvSpPr>
          <p:cNvPr id="12" name="Shape 9"/>
          <p:cNvSpPr/>
          <p:nvPr/>
        </p:nvSpPr>
        <p:spPr>
          <a:xfrm>
            <a:off x="585216" y="1554480"/>
            <a:ext cx="457200" cy="457200"/>
          </a:xfrm>
          <a:prstGeom prst="ellipse">
            <a:avLst/>
          </a:prstGeom>
          <a:solidFill>
            <a:srgbClr val="D49A00">
              <a:alpha val="22000"/>
            </a:srgbClr>
          </a:solidFill>
          <a:ln w="12700">
            <a:solidFill>
              <a:srgbClr val="D49A00">
                <a:alpha val="0"/>
              </a:srgbClr>
            </a:solidFill>
            <a:prstDash val="solid"/>
          </a:ln>
        </p:spPr>
      </p:sp>
      <p:pic>
        <p:nvPicPr>
          <p:cNvPr id="13" name="Image 0" descr="preencoded.png">    </p:cNvPr>
          <p:cNvPicPr>
            <a:picLocks noChangeAspect="1"/>
          </p:cNvPicPr>
          <p:nvPr/>
        </p:nvPicPr>
        <p:blipFill>
          <a:blip r:embed="rId1"/>
          <a:stretch>
            <a:fillRect/>
          </a:stretch>
        </p:blipFill>
        <p:spPr>
          <a:xfrm>
            <a:off x="694944" y="1664208"/>
            <a:ext cx="237744" cy="237744"/>
          </a:xfrm>
          <a:prstGeom prst="rect">
            <a:avLst/>
          </a:prstGeom>
        </p:spPr>
      </p:pic>
      <p:sp>
        <p:nvSpPr>
          <p:cNvPr id="14" name="Text 10"/>
          <p:cNvSpPr txBox="1"/>
          <p:nvPr/>
        </p:nvSpPr>
        <p:spPr>
          <a:xfrm>
            <a:off x="1143000" y="1517904"/>
            <a:ext cx="1645920" cy="274320"/>
          </a:xfrm>
          <a:prstGeom prst="rect">
            <a:avLst/>
          </a:prstGeom>
          <a:noFill/>
          <a:ln/>
        </p:spPr>
        <p:txBody>
          <a:bodyPr wrap="square" lIns="0" tIns="0" rIns="0" bIns="0" rtlCol="0" anchor="t"/>
          <a:lstStyle/>
          <a:p>
            <a:pPr indent="0" marL="0">
              <a:buNone/>
            </a:pPr>
            <a:r>
              <a:rPr lang="en-US" sz="1200" b="1" dirty="0">
                <a:solidFill>
                  <a:srgbClr val="231F20"/>
                </a:solidFill>
                <a:latin typeface="Calibri" pitchFamily="34" charset="0"/>
                <a:ea typeface="Calibri" pitchFamily="34" charset="-122"/>
                <a:cs typeface="Calibri" pitchFamily="34" charset="-120"/>
              </a:rPr>
              <a:t>Pixels nettoyés</a:t>
            </a:r>
            <a:endParaRPr lang="en-US" sz="1200" dirty="0"/>
          </a:p>
        </p:txBody>
      </p:sp>
      <p:sp>
        <p:nvSpPr>
          <p:cNvPr id="15" name="Text 11"/>
          <p:cNvSpPr txBox="1"/>
          <p:nvPr/>
        </p:nvSpPr>
        <p:spPr>
          <a:xfrm>
            <a:off x="1143000" y="1801368"/>
            <a:ext cx="1645920" cy="274320"/>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~464 m</a:t>
            </a:r>
            <a:endParaRPr lang="en-US" sz="950" dirty="0"/>
          </a:p>
        </p:txBody>
      </p:sp>
      <p:sp>
        <p:nvSpPr>
          <p:cNvPr id="16" name="Shape 12"/>
          <p:cNvSpPr/>
          <p:nvPr/>
        </p:nvSpPr>
        <p:spPr>
          <a:xfrm>
            <a:off x="1645920" y="2231136"/>
            <a:ext cx="914" cy="146304"/>
          </a:xfrm>
          <a:prstGeom prst="line">
            <a:avLst/>
          </a:prstGeom>
          <a:noFill/>
          <a:ln w="15875">
            <a:solidFill>
              <a:srgbClr val="5E6964"/>
            </a:solidFill>
            <a:prstDash val="solid"/>
            <a:tailEnd type="triangle"/>
          </a:ln>
        </p:spPr>
      </p:sp>
      <p:sp>
        <p:nvSpPr>
          <p:cNvPr id="17" name="Shape 13"/>
          <p:cNvSpPr/>
          <p:nvPr/>
        </p:nvSpPr>
        <p:spPr>
          <a:xfrm>
            <a:off x="457200" y="2395728"/>
            <a:ext cx="2377440" cy="841248"/>
          </a:xfrm>
          <a:prstGeom prst="roundRect">
            <a:avLst>
              <a:gd name="adj" fmla="val 8696"/>
            </a:avLst>
          </a:prstGeom>
          <a:solidFill>
            <a:srgbClr val="F4F7F5"/>
          </a:solidFill>
          <a:ln w="9525">
            <a:solidFill>
              <a:srgbClr val="D5DED9"/>
            </a:solidFill>
            <a:prstDash val="solid"/>
          </a:ln>
        </p:spPr>
      </p:sp>
      <p:sp>
        <p:nvSpPr>
          <p:cNvPr id="18" name="Shape 14"/>
          <p:cNvSpPr/>
          <p:nvPr/>
        </p:nvSpPr>
        <p:spPr>
          <a:xfrm>
            <a:off x="585216" y="2578608"/>
            <a:ext cx="457200" cy="457200"/>
          </a:xfrm>
          <a:prstGeom prst="ellipse">
            <a:avLst/>
          </a:prstGeom>
          <a:solidFill>
            <a:srgbClr val="D49A00">
              <a:alpha val="22000"/>
            </a:srgbClr>
          </a:solidFill>
          <a:ln w="12700">
            <a:solidFill>
              <a:srgbClr val="D49A00">
                <a:alpha val="0"/>
              </a:srgbClr>
            </a:solidFill>
            <a:prstDash val="solid"/>
          </a:ln>
        </p:spPr>
      </p:sp>
      <p:pic>
        <p:nvPicPr>
          <p:cNvPr id="19" name="Image 1" descr="preencoded.png">    </p:cNvPr>
          <p:cNvPicPr>
            <a:picLocks noChangeAspect="1"/>
          </p:cNvPicPr>
          <p:nvPr/>
        </p:nvPicPr>
        <p:blipFill>
          <a:blip r:embed="rId2"/>
          <a:stretch>
            <a:fillRect/>
          </a:stretch>
        </p:blipFill>
        <p:spPr>
          <a:xfrm>
            <a:off x="694944" y="2688336"/>
            <a:ext cx="237744" cy="237744"/>
          </a:xfrm>
          <a:prstGeom prst="rect">
            <a:avLst/>
          </a:prstGeom>
        </p:spPr>
      </p:pic>
      <p:sp>
        <p:nvSpPr>
          <p:cNvPr id="20" name="Text 15"/>
          <p:cNvSpPr txBox="1"/>
          <p:nvPr/>
        </p:nvSpPr>
        <p:spPr>
          <a:xfrm>
            <a:off x="1143000" y="2542032"/>
            <a:ext cx="1645920" cy="274320"/>
          </a:xfrm>
          <a:prstGeom prst="rect">
            <a:avLst/>
          </a:prstGeom>
          <a:noFill/>
          <a:ln/>
        </p:spPr>
        <p:txBody>
          <a:bodyPr wrap="square" lIns="0" tIns="0" rIns="0" bIns="0" rtlCol="0" anchor="t"/>
          <a:lstStyle/>
          <a:p>
            <a:pPr indent="0" marL="0">
              <a:buNone/>
            </a:pPr>
            <a:r>
              <a:rPr lang="en-US" sz="1200" b="1" dirty="0">
                <a:solidFill>
                  <a:srgbClr val="231F20"/>
                </a:solidFill>
                <a:latin typeface="Calibri" pitchFamily="34" charset="0"/>
                <a:ea typeface="Calibri" pitchFamily="34" charset="-122"/>
                <a:cs typeface="Calibri" pitchFamily="34" charset="-120"/>
              </a:rPr>
              <a:t>Somme par unité</a:t>
            </a:r>
            <a:endParaRPr lang="en-US" sz="1200" dirty="0"/>
          </a:p>
        </p:txBody>
      </p:sp>
      <p:sp>
        <p:nvSpPr>
          <p:cNvPr id="21" name="Text 16"/>
          <p:cNvSpPr txBox="1"/>
          <p:nvPr/>
        </p:nvSpPr>
        <p:spPr>
          <a:xfrm>
            <a:off x="1143000" y="2825496"/>
            <a:ext cx="1645920" cy="274320"/>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ADM0 · ADM1 · ADM2</a:t>
            </a:r>
            <a:endParaRPr lang="en-US" sz="950" dirty="0"/>
          </a:p>
        </p:txBody>
      </p:sp>
      <p:sp>
        <p:nvSpPr>
          <p:cNvPr id="22" name="Shape 17"/>
          <p:cNvSpPr/>
          <p:nvPr/>
        </p:nvSpPr>
        <p:spPr>
          <a:xfrm>
            <a:off x="1645920" y="3255264"/>
            <a:ext cx="914" cy="146304"/>
          </a:xfrm>
          <a:prstGeom prst="line">
            <a:avLst/>
          </a:prstGeom>
          <a:noFill/>
          <a:ln w="15875">
            <a:solidFill>
              <a:srgbClr val="5E6964"/>
            </a:solidFill>
            <a:prstDash val="solid"/>
            <a:tailEnd type="triangle"/>
          </a:ln>
        </p:spPr>
      </p:sp>
      <p:sp>
        <p:nvSpPr>
          <p:cNvPr id="23" name="Shape 18"/>
          <p:cNvSpPr/>
          <p:nvPr/>
        </p:nvSpPr>
        <p:spPr>
          <a:xfrm>
            <a:off x="457200" y="3419856"/>
            <a:ext cx="2377440" cy="841248"/>
          </a:xfrm>
          <a:prstGeom prst="roundRect">
            <a:avLst>
              <a:gd name="adj" fmla="val 8696"/>
            </a:avLst>
          </a:prstGeom>
          <a:solidFill>
            <a:srgbClr val="E8F5EF"/>
          </a:solidFill>
          <a:ln w="15875">
            <a:solidFill>
              <a:srgbClr val="D49A00"/>
            </a:solidFill>
            <a:prstDash val="solid"/>
          </a:ln>
        </p:spPr>
      </p:sp>
      <p:sp>
        <p:nvSpPr>
          <p:cNvPr id="24" name="Shape 19"/>
          <p:cNvSpPr/>
          <p:nvPr/>
        </p:nvSpPr>
        <p:spPr>
          <a:xfrm>
            <a:off x="585216" y="3602736"/>
            <a:ext cx="457200" cy="457200"/>
          </a:xfrm>
          <a:prstGeom prst="ellipse">
            <a:avLst/>
          </a:prstGeom>
          <a:solidFill>
            <a:srgbClr val="D49A00">
              <a:alpha val="22000"/>
            </a:srgbClr>
          </a:solidFill>
          <a:ln w="12700">
            <a:solidFill>
              <a:srgbClr val="D49A00">
                <a:alpha val="0"/>
              </a:srgbClr>
            </a:solidFill>
            <a:prstDash val="solid"/>
          </a:ln>
        </p:spPr>
      </p:sp>
      <p:pic>
        <p:nvPicPr>
          <p:cNvPr id="25" name="Image 2" descr="preencoded.png">    </p:cNvPr>
          <p:cNvPicPr>
            <a:picLocks noChangeAspect="1"/>
          </p:cNvPicPr>
          <p:nvPr/>
        </p:nvPicPr>
        <p:blipFill>
          <a:blip r:embed="rId3"/>
          <a:stretch>
            <a:fillRect/>
          </a:stretch>
        </p:blipFill>
        <p:spPr>
          <a:xfrm>
            <a:off x="694944" y="3712464"/>
            <a:ext cx="237744" cy="237744"/>
          </a:xfrm>
          <a:prstGeom prst="rect">
            <a:avLst/>
          </a:prstGeom>
        </p:spPr>
      </p:pic>
      <p:sp>
        <p:nvSpPr>
          <p:cNvPr id="26" name="Text 20"/>
          <p:cNvSpPr txBox="1"/>
          <p:nvPr/>
        </p:nvSpPr>
        <p:spPr>
          <a:xfrm>
            <a:off x="1143000" y="3566160"/>
            <a:ext cx="1645920" cy="274320"/>
          </a:xfrm>
          <a:prstGeom prst="rect">
            <a:avLst/>
          </a:prstGeom>
          <a:noFill/>
          <a:ln/>
        </p:spPr>
        <p:txBody>
          <a:bodyPr wrap="square" lIns="0" tIns="0" rIns="0" bIns="0" rtlCol="0" anchor="t"/>
          <a:lstStyle/>
          <a:p>
            <a:pPr indent="0" marL="0">
              <a:buNone/>
            </a:pPr>
            <a:r>
              <a:rPr lang="en-US" sz="1200" b="1" dirty="0">
                <a:solidFill>
                  <a:srgbClr val="231F20"/>
                </a:solidFill>
                <a:latin typeface="Calibri" pitchFamily="34" charset="0"/>
                <a:ea typeface="Calibri" pitchFamily="34" charset="-122"/>
                <a:cs typeface="Calibri" pitchFamily="34" charset="-120"/>
              </a:rPr>
              <a:t>Tables en cache</a:t>
            </a:r>
            <a:endParaRPr lang="en-US" sz="1200" dirty="0"/>
          </a:p>
        </p:txBody>
      </p:sp>
      <p:sp>
        <p:nvSpPr>
          <p:cNvPr id="27" name="Text 21"/>
          <p:cNvSpPr txBox="1"/>
          <p:nvPr/>
        </p:nvSpPr>
        <p:spPr>
          <a:xfrm>
            <a:off x="1143000" y="3849624"/>
            <a:ext cx="1645920" cy="274320"/>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 signature des paramètres</a:t>
            </a:r>
            <a:endParaRPr lang="en-US" sz="950" dirty="0"/>
          </a:p>
        </p:txBody>
      </p:sp>
      <p:sp>
        <p:nvSpPr>
          <p:cNvPr id="28" name="Shape 22"/>
          <p:cNvSpPr/>
          <p:nvPr/>
        </p:nvSpPr>
        <p:spPr>
          <a:xfrm>
            <a:off x="3108960" y="1371600"/>
            <a:ext cx="2697480" cy="3063240"/>
          </a:xfrm>
          <a:prstGeom prst="roundRect">
            <a:avLst>
              <a:gd name="adj" fmla="val 2712"/>
            </a:avLst>
          </a:prstGeom>
          <a:solidFill>
            <a:srgbClr val="F4F7F5"/>
          </a:solidFill>
          <a:ln w="9525">
            <a:solidFill>
              <a:srgbClr val="D5DED9"/>
            </a:solidFill>
            <a:prstDash val="solid"/>
          </a:ln>
        </p:spPr>
      </p:sp>
      <p:sp>
        <p:nvSpPr>
          <p:cNvPr id="29" name="Text 23"/>
          <p:cNvSpPr txBox="1"/>
          <p:nvPr/>
        </p:nvSpPr>
        <p:spPr>
          <a:xfrm>
            <a:off x="3246120" y="1444752"/>
            <a:ext cx="2423160" cy="274320"/>
          </a:xfrm>
          <a:prstGeom prst="rect">
            <a:avLst/>
          </a:prstGeom>
          <a:noFill/>
          <a:ln/>
        </p:spPr>
        <p:txBody>
          <a:bodyPr wrap="square" lIns="0" tIns="0" rIns="0" bIns="0" rtlCol="0" anchor="t"/>
          <a:lstStyle/>
          <a:p>
            <a:pPr indent="0" marL="0">
              <a:buNone/>
            </a:pPr>
            <a:r>
              <a:rPr lang="en-US" sz="1150" b="1" dirty="0">
                <a:solidFill>
                  <a:srgbClr val="00553A"/>
                </a:solidFill>
                <a:latin typeface="Calibri" pitchFamily="34" charset="0"/>
                <a:ea typeface="Calibri" pitchFamily="34" charset="-122"/>
                <a:cs typeface="Calibri" pitchFamily="34" charset="-120"/>
              </a:rPr>
              <a:t>Table mensuelle · unité × mois</a:t>
            </a:r>
            <a:endParaRPr lang="en-US" sz="1150" dirty="0"/>
          </a:p>
        </p:txBody>
      </p:sp>
      <p:sp>
        <p:nvSpPr>
          <p:cNvPr id="30" name="Text 24"/>
          <p:cNvSpPr txBox="1"/>
          <p:nvPr/>
        </p:nvSpPr>
        <p:spPr>
          <a:xfrm>
            <a:off x="3246120" y="1783080"/>
            <a:ext cx="2423160" cy="182880"/>
          </a:xfrm>
          <a:prstGeom prst="rect">
            <a:avLst/>
          </a:prstGeom>
          <a:noFill/>
          <a:ln/>
        </p:spPr>
        <p:txBody>
          <a:bodyPr wrap="square" lIns="0" tIns="0" rIns="0" bIns="0" rtlCol="0" anchor="t"/>
          <a:lstStyle/>
          <a:p>
            <a:pPr indent="0" marL="0">
              <a:buNone/>
            </a:pPr>
            <a:r>
              <a:rPr lang="en-US" sz="900" b="1" dirty="0">
                <a:solidFill>
                  <a:srgbClr val="00704A"/>
                </a:solidFill>
                <a:latin typeface="Courier New" pitchFamily="34" charset="0"/>
                <a:ea typeface="Courier New" pitchFamily="34" charset="-122"/>
                <a:cs typeface="Courier New" pitchFamily="34" charset="-120"/>
              </a:rPr>
              <a:t>sol</a:t>
            </a:r>
            <a:endParaRPr lang="en-US" sz="900" dirty="0"/>
          </a:p>
        </p:txBody>
      </p:sp>
      <p:sp>
        <p:nvSpPr>
          <p:cNvPr id="31" name="Text 25"/>
          <p:cNvSpPr txBox="1"/>
          <p:nvPr/>
        </p:nvSpPr>
        <p:spPr>
          <a:xfrm>
            <a:off x="3246120" y="1965960"/>
            <a:ext cx="2423160" cy="219456"/>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somme des lumières (observée + imputée)</a:t>
            </a:r>
            <a:endParaRPr lang="en-US" sz="900" dirty="0"/>
          </a:p>
        </p:txBody>
      </p:sp>
      <p:sp>
        <p:nvSpPr>
          <p:cNvPr id="32" name="Text 26"/>
          <p:cNvSpPr txBox="1"/>
          <p:nvPr/>
        </p:nvSpPr>
        <p:spPr>
          <a:xfrm>
            <a:off x="3246120" y="2212848"/>
            <a:ext cx="2423160" cy="182880"/>
          </a:xfrm>
          <a:prstGeom prst="rect">
            <a:avLst/>
          </a:prstGeom>
          <a:noFill/>
          <a:ln/>
        </p:spPr>
        <p:txBody>
          <a:bodyPr wrap="square" lIns="0" tIns="0" rIns="0" bIns="0" rtlCol="0" anchor="t"/>
          <a:lstStyle/>
          <a:p>
            <a:pPr indent="0" marL="0">
              <a:buNone/>
            </a:pPr>
            <a:r>
              <a:rPr lang="en-US" sz="900" b="1" dirty="0">
                <a:solidFill>
                  <a:srgbClr val="00704A"/>
                </a:solidFill>
                <a:latin typeface="Courier New" pitchFamily="34" charset="0"/>
                <a:ea typeface="Courier New" pitchFamily="34" charset="-122"/>
                <a:cs typeface="Courier New" pitchFamily="34" charset="-120"/>
              </a:rPr>
              <a:t>valid_frac</a:t>
            </a:r>
            <a:endParaRPr lang="en-US" sz="900" dirty="0"/>
          </a:p>
        </p:txBody>
      </p:sp>
      <p:sp>
        <p:nvSpPr>
          <p:cNvPr id="33" name="Text 27"/>
          <p:cNvSpPr txBox="1"/>
          <p:nvPr/>
        </p:nvSpPr>
        <p:spPr>
          <a:xfrm>
            <a:off x="3246120" y="2395728"/>
            <a:ext cx="2423160" cy="219456"/>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part des pixels de l'unité observés</a:t>
            </a:r>
            <a:endParaRPr lang="en-US" sz="900" dirty="0"/>
          </a:p>
        </p:txBody>
      </p:sp>
      <p:sp>
        <p:nvSpPr>
          <p:cNvPr id="34" name="Text 28"/>
          <p:cNvSpPr txBox="1"/>
          <p:nvPr/>
        </p:nvSpPr>
        <p:spPr>
          <a:xfrm>
            <a:off x="3246120" y="2642616"/>
            <a:ext cx="2423160" cy="182880"/>
          </a:xfrm>
          <a:prstGeom prst="rect">
            <a:avLst/>
          </a:prstGeom>
          <a:noFill/>
          <a:ln/>
        </p:spPr>
        <p:txBody>
          <a:bodyPr wrap="square" lIns="0" tIns="0" rIns="0" bIns="0" rtlCol="0" anchor="t"/>
          <a:lstStyle/>
          <a:p>
            <a:pPr indent="0" marL="0">
              <a:buNone/>
            </a:pPr>
            <a:r>
              <a:rPr lang="en-US" sz="900" b="1" dirty="0">
                <a:solidFill>
                  <a:srgbClr val="00704A"/>
                </a:solidFill>
                <a:latin typeface="Courier New" pitchFamily="34" charset="0"/>
                <a:ea typeface="Courier New" pitchFamily="34" charset="-122"/>
                <a:cs typeface="Courier New" pitchFamily="34" charset="-120"/>
              </a:rPr>
              <a:t>sol_adj</a:t>
            </a:r>
            <a:endParaRPr lang="en-US" sz="900" dirty="0"/>
          </a:p>
        </p:txBody>
      </p:sp>
      <p:sp>
        <p:nvSpPr>
          <p:cNvPr id="35" name="Text 29"/>
          <p:cNvSpPr txBox="1"/>
          <p:nvPr/>
        </p:nvSpPr>
        <p:spPr>
          <a:xfrm>
            <a:off x="3246120" y="2825496"/>
            <a:ext cx="2423160" cy="219456"/>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sol si valid_frac ≥ 0,8, sinon manquant</a:t>
            </a:r>
            <a:endParaRPr lang="en-US" sz="900" dirty="0"/>
          </a:p>
        </p:txBody>
      </p:sp>
      <p:sp>
        <p:nvSpPr>
          <p:cNvPr id="36" name="Text 30"/>
          <p:cNvSpPr txBox="1"/>
          <p:nvPr/>
        </p:nvSpPr>
        <p:spPr>
          <a:xfrm>
            <a:off x="3246120" y="3072384"/>
            <a:ext cx="2423160" cy="182880"/>
          </a:xfrm>
          <a:prstGeom prst="rect">
            <a:avLst/>
          </a:prstGeom>
          <a:noFill/>
          <a:ln/>
        </p:spPr>
        <p:txBody>
          <a:bodyPr wrap="square" lIns="0" tIns="0" rIns="0" bIns="0" rtlCol="0" anchor="t"/>
          <a:lstStyle/>
          <a:p>
            <a:pPr indent="0" marL="0">
              <a:buNone/>
            </a:pPr>
            <a:r>
              <a:rPr lang="en-US" sz="900" b="1" dirty="0">
                <a:solidFill>
                  <a:srgbClr val="00704A"/>
                </a:solidFill>
                <a:latin typeface="Courier New" pitchFamily="34" charset="0"/>
                <a:ea typeface="Courier New" pitchFamily="34" charset="-122"/>
                <a:cs typeface="Courier New" pitchFamily="34" charset="-120"/>
              </a:rPr>
              <a:t>imputed_share</a:t>
            </a:r>
            <a:endParaRPr lang="en-US" sz="900" dirty="0"/>
          </a:p>
        </p:txBody>
      </p:sp>
      <p:sp>
        <p:nvSpPr>
          <p:cNvPr id="37" name="Text 31"/>
          <p:cNvSpPr txBox="1"/>
          <p:nvPr/>
        </p:nvSpPr>
        <p:spPr>
          <a:xfrm>
            <a:off x="3246120" y="3255264"/>
            <a:ext cx="2423160" cy="219456"/>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part de lumière imputée (nuages)</a:t>
            </a:r>
            <a:endParaRPr lang="en-US" sz="900" dirty="0"/>
          </a:p>
        </p:txBody>
      </p:sp>
      <p:sp>
        <p:nvSpPr>
          <p:cNvPr id="38" name="Shape 32"/>
          <p:cNvSpPr/>
          <p:nvPr/>
        </p:nvSpPr>
        <p:spPr>
          <a:xfrm>
            <a:off x="5943600" y="1371600"/>
            <a:ext cx="2697480" cy="3063240"/>
          </a:xfrm>
          <a:prstGeom prst="roundRect">
            <a:avLst>
              <a:gd name="adj" fmla="val 2712"/>
            </a:avLst>
          </a:prstGeom>
          <a:solidFill>
            <a:srgbClr val="F4F7F5"/>
          </a:solidFill>
          <a:ln w="9525">
            <a:solidFill>
              <a:srgbClr val="D5DED9"/>
            </a:solidFill>
            <a:prstDash val="solid"/>
          </a:ln>
        </p:spPr>
      </p:sp>
      <p:sp>
        <p:nvSpPr>
          <p:cNvPr id="39" name="Text 33"/>
          <p:cNvSpPr txBox="1"/>
          <p:nvPr/>
        </p:nvSpPr>
        <p:spPr>
          <a:xfrm>
            <a:off x="6080760" y="1444752"/>
            <a:ext cx="2423160" cy="274320"/>
          </a:xfrm>
          <a:prstGeom prst="rect">
            <a:avLst/>
          </a:prstGeom>
          <a:noFill/>
          <a:ln/>
        </p:spPr>
        <p:txBody>
          <a:bodyPr wrap="square" lIns="0" tIns="0" rIns="0" bIns="0" rtlCol="0" anchor="t"/>
          <a:lstStyle/>
          <a:p>
            <a:pPr indent="0" marL="0">
              <a:buNone/>
            </a:pPr>
            <a:r>
              <a:rPr lang="en-US" sz="1150" b="1" dirty="0">
                <a:solidFill>
                  <a:srgbClr val="00553A"/>
                </a:solidFill>
                <a:latin typeface="Calibri" pitchFamily="34" charset="0"/>
                <a:ea typeface="Calibri" pitchFamily="34" charset="-122"/>
                <a:cs typeface="Calibri" pitchFamily="34" charset="-120"/>
              </a:rPr>
              <a:t>Table annuelle · unité × année</a:t>
            </a:r>
            <a:endParaRPr lang="en-US" sz="1150" dirty="0"/>
          </a:p>
        </p:txBody>
      </p:sp>
      <p:sp>
        <p:nvSpPr>
          <p:cNvPr id="40" name="Text 34"/>
          <p:cNvSpPr txBox="1"/>
          <p:nvPr/>
        </p:nvSpPr>
        <p:spPr>
          <a:xfrm>
            <a:off x="6080760" y="1783080"/>
            <a:ext cx="2423160" cy="182880"/>
          </a:xfrm>
          <a:prstGeom prst="rect">
            <a:avLst/>
          </a:prstGeom>
          <a:noFill/>
          <a:ln/>
        </p:spPr>
        <p:txBody>
          <a:bodyPr wrap="square" lIns="0" tIns="0" rIns="0" bIns="0" rtlCol="0" anchor="t"/>
          <a:lstStyle/>
          <a:p>
            <a:pPr indent="0" marL="0">
              <a:buNone/>
            </a:pPr>
            <a:r>
              <a:rPr lang="en-US" sz="900" b="1" dirty="0">
                <a:solidFill>
                  <a:srgbClr val="00704A"/>
                </a:solidFill>
                <a:latin typeface="Courier New" pitchFamily="34" charset="0"/>
                <a:ea typeface="Courier New" pitchFamily="34" charset="-122"/>
                <a:cs typeface="Courier New" pitchFamily="34" charset="-120"/>
              </a:rPr>
              <a:t>sol · sol_raw</a:t>
            </a:r>
            <a:endParaRPr lang="en-US" sz="900" dirty="0"/>
          </a:p>
        </p:txBody>
      </p:sp>
      <p:sp>
        <p:nvSpPr>
          <p:cNvPr id="41" name="Text 35"/>
          <p:cNvSpPr txBox="1"/>
          <p:nvPr/>
        </p:nvSpPr>
        <p:spPr>
          <a:xfrm>
            <a:off x="6080760" y="1965960"/>
            <a:ext cx="2423160" cy="219456"/>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lumière nettoyée · avant masque torchères</a:t>
            </a:r>
            <a:endParaRPr lang="en-US" sz="900" dirty="0"/>
          </a:p>
        </p:txBody>
      </p:sp>
      <p:sp>
        <p:nvSpPr>
          <p:cNvPr id="42" name="Text 36"/>
          <p:cNvSpPr txBox="1"/>
          <p:nvPr/>
        </p:nvSpPr>
        <p:spPr>
          <a:xfrm>
            <a:off x="6080760" y="2212848"/>
            <a:ext cx="2423160" cy="182880"/>
          </a:xfrm>
          <a:prstGeom prst="rect">
            <a:avLst/>
          </a:prstGeom>
          <a:noFill/>
          <a:ln/>
        </p:spPr>
        <p:txBody>
          <a:bodyPr wrap="square" lIns="0" tIns="0" rIns="0" bIns="0" rtlCol="0" anchor="t"/>
          <a:lstStyle/>
          <a:p>
            <a:pPr indent="0" marL="0">
              <a:buNone/>
            </a:pPr>
            <a:r>
              <a:rPr lang="en-US" sz="900" b="1" dirty="0">
                <a:solidFill>
                  <a:srgbClr val="00704A"/>
                </a:solidFill>
                <a:latin typeface="Courier New" pitchFamily="34" charset="0"/>
                <a:ea typeface="Courier New" pitchFamily="34" charset="-122"/>
                <a:cs typeface="Courier New" pitchFamily="34" charset="-120"/>
              </a:rPr>
              <a:t>lit_km2 · area_km2</a:t>
            </a:r>
            <a:endParaRPr lang="en-US" sz="900" dirty="0"/>
          </a:p>
        </p:txBody>
      </p:sp>
      <p:sp>
        <p:nvSpPr>
          <p:cNvPr id="43" name="Text 37"/>
          <p:cNvSpPr txBox="1"/>
          <p:nvPr/>
        </p:nvSpPr>
        <p:spPr>
          <a:xfrm>
            <a:off x="6080760" y="2395728"/>
            <a:ext cx="2423160" cy="219456"/>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surface ≥ 0,5 nW · surface totale</a:t>
            </a:r>
            <a:endParaRPr lang="en-US" sz="900" dirty="0"/>
          </a:p>
        </p:txBody>
      </p:sp>
      <p:sp>
        <p:nvSpPr>
          <p:cNvPr id="44" name="Text 38"/>
          <p:cNvSpPr txBox="1"/>
          <p:nvPr/>
        </p:nvSpPr>
        <p:spPr>
          <a:xfrm>
            <a:off x="6080760" y="2642616"/>
            <a:ext cx="2423160" cy="182880"/>
          </a:xfrm>
          <a:prstGeom prst="rect">
            <a:avLst/>
          </a:prstGeom>
          <a:noFill/>
          <a:ln/>
        </p:spPr>
        <p:txBody>
          <a:bodyPr wrap="square" lIns="0" tIns="0" rIns="0" bIns="0" rtlCol="0" anchor="t"/>
          <a:lstStyle/>
          <a:p>
            <a:pPr indent="0" marL="0">
              <a:buNone/>
            </a:pPr>
            <a:r>
              <a:rPr lang="en-US" sz="900" b="1" dirty="0">
                <a:solidFill>
                  <a:srgbClr val="00704A"/>
                </a:solidFill>
                <a:latin typeface="Courier New" pitchFamily="34" charset="0"/>
                <a:ea typeface="Courier New" pitchFamily="34" charset="-122"/>
                <a:cs typeface="Courier New" pitchFamily="34" charset="-120"/>
              </a:rPr>
              <a:t>pop · pop_inhabited</a:t>
            </a:r>
            <a:endParaRPr lang="en-US" sz="900" dirty="0"/>
          </a:p>
        </p:txBody>
      </p:sp>
      <p:sp>
        <p:nvSpPr>
          <p:cNvPr id="45" name="Text 39"/>
          <p:cNvSpPr txBox="1"/>
          <p:nvPr/>
        </p:nvSpPr>
        <p:spPr>
          <a:xfrm>
            <a:off x="6080760" y="2825496"/>
            <a:ext cx="2423160" cy="219456"/>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population · dans pixels ≥ 5 personnes</a:t>
            </a:r>
            <a:endParaRPr lang="en-US" sz="900" dirty="0"/>
          </a:p>
        </p:txBody>
      </p:sp>
      <p:sp>
        <p:nvSpPr>
          <p:cNvPr id="46" name="Text 40"/>
          <p:cNvSpPr txBox="1"/>
          <p:nvPr/>
        </p:nvSpPr>
        <p:spPr>
          <a:xfrm>
            <a:off x="6080760" y="3072384"/>
            <a:ext cx="2423160" cy="182880"/>
          </a:xfrm>
          <a:prstGeom prst="rect">
            <a:avLst/>
          </a:prstGeom>
          <a:noFill/>
          <a:ln/>
        </p:spPr>
        <p:txBody>
          <a:bodyPr wrap="square" lIns="0" tIns="0" rIns="0" bIns="0" rtlCol="0" anchor="t"/>
          <a:lstStyle/>
          <a:p>
            <a:pPr indent="0" marL="0">
              <a:buNone/>
            </a:pPr>
            <a:r>
              <a:rPr lang="en-US" sz="900" b="1" dirty="0">
                <a:solidFill>
                  <a:srgbClr val="00704A"/>
                </a:solidFill>
                <a:latin typeface="Courier New" pitchFamily="34" charset="0"/>
                <a:ea typeface="Courier New" pitchFamily="34" charset="-122"/>
                <a:cs typeface="Courier New" pitchFamily="34" charset="-120"/>
              </a:rPr>
              <a:t>pop_dark_&lt;t&gt;</a:t>
            </a:r>
            <a:endParaRPr lang="en-US" sz="900" dirty="0"/>
          </a:p>
        </p:txBody>
      </p:sp>
      <p:sp>
        <p:nvSpPr>
          <p:cNvPr id="47" name="Text 41"/>
          <p:cNvSpPr txBox="1"/>
          <p:nvPr/>
        </p:nvSpPr>
        <p:spPr>
          <a:xfrm>
            <a:off x="6080760" y="3255264"/>
            <a:ext cx="2423160" cy="219456"/>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habités, radiance &lt; seuil t</a:t>
            </a:r>
            <a:endParaRPr lang="en-US" sz="900" dirty="0"/>
          </a:p>
        </p:txBody>
      </p:sp>
      <p:sp>
        <p:nvSpPr>
          <p:cNvPr id="48" name="Text 42"/>
          <p:cNvSpPr txBox="1"/>
          <p:nvPr/>
        </p:nvSpPr>
        <p:spPr>
          <a:xfrm>
            <a:off x="6080760" y="3502152"/>
            <a:ext cx="2423160" cy="182880"/>
          </a:xfrm>
          <a:prstGeom prst="rect">
            <a:avLst/>
          </a:prstGeom>
          <a:noFill/>
          <a:ln/>
        </p:spPr>
        <p:txBody>
          <a:bodyPr wrap="square" lIns="0" tIns="0" rIns="0" bIns="0" rtlCol="0" anchor="t"/>
          <a:lstStyle/>
          <a:p>
            <a:pPr indent="0" marL="0">
              <a:buNone/>
            </a:pPr>
            <a:r>
              <a:rPr lang="en-US" sz="900" b="1" dirty="0">
                <a:solidFill>
                  <a:srgbClr val="00704A"/>
                </a:solidFill>
                <a:latin typeface="Courier New" pitchFamily="34" charset="0"/>
                <a:ea typeface="Courier New" pitchFamily="34" charset="-122"/>
                <a:cs typeface="Courier New" pitchFamily="34" charset="-120"/>
              </a:rPr>
              <a:t>pop_urban · sol_urban</a:t>
            </a:r>
            <a:endParaRPr lang="en-US" sz="900" dirty="0"/>
          </a:p>
        </p:txBody>
      </p:sp>
      <p:sp>
        <p:nvSpPr>
          <p:cNvPr id="49" name="Text 43"/>
          <p:cNvSpPr txBox="1"/>
          <p:nvPr/>
        </p:nvSpPr>
        <p:spPr>
          <a:xfrm>
            <a:off x="6080760" y="3685032"/>
            <a:ext cx="2423160" cy="219456"/>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population et lumière où SMOD ≥ 21</a:t>
            </a:r>
            <a:endParaRPr lang="en-US" sz="900" dirty="0"/>
          </a:p>
        </p:txBody>
      </p:sp>
      <p:sp>
        <p:nvSpPr>
          <p:cNvPr id="50" name="Text 44"/>
          <p:cNvSpPr txBox="1"/>
          <p:nvPr/>
        </p:nvSpPr>
        <p:spPr>
          <a:xfrm>
            <a:off x="6080760" y="3931920"/>
            <a:ext cx="2423160" cy="182880"/>
          </a:xfrm>
          <a:prstGeom prst="rect">
            <a:avLst/>
          </a:prstGeom>
          <a:noFill/>
          <a:ln/>
        </p:spPr>
        <p:txBody>
          <a:bodyPr wrap="square" lIns="0" tIns="0" rIns="0" bIns="0" rtlCol="0" anchor="t"/>
          <a:lstStyle/>
          <a:p>
            <a:pPr indent="0" marL="0">
              <a:buNone/>
            </a:pPr>
            <a:r>
              <a:rPr lang="en-US" sz="900" b="1" dirty="0">
                <a:solidFill>
                  <a:srgbClr val="00704A"/>
                </a:solidFill>
                <a:latin typeface="Courier New" pitchFamily="34" charset="0"/>
                <a:ea typeface="Courier New" pitchFamily="34" charset="-122"/>
                <a:cs typeface="Courier New" pitchFamily="34" charset="-120"/>
              </a:rPr>
              <a:t>flare_sol</a:t>
            </a:r>
            <a:endParaRPr lang="en-US" sz="900" dirty="0"/>
          </a:p>
        </p:txBody>
      </p:sp>
      <p:sp>
        <p:nvSpPr>
          <p:cNvPr id="51" name="Text 45"/>
          <p:cNvSpPr txBox="1"/>
          <p:nvPr/>
        </p:nvSpPr>
        <p:spPr>
          <a:xfrm>
            <a:off x="6080760" y="4114800"/>
            <a:ext cx="2423160" cy="219456"/>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lumière retirée comme torchère</a:t>
            </a:r>
            <a:endParaRPr lang="en-US" sz="9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8A9590"/>
                </a:solidFill>
                <a:latin typeface="Calibri"/>
                <a:ea typeface="Calibri"/>
                <a:cs typeface="Calibri"/>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3"/>
          <p:cNvSpPr/>
          <p:nvPr>
            <p:ph idx="105" type="body" hasCustomPrompt="1"/>
          </p:nvPr>
        </p:nvSpPr>
        <p:spPr>
          <a:xfrm>
            <a:off x="457200" y="274320"/>
            <a:ext cx="6217920" cy="256032"/>
          </a:xfrm>
          <a:prstGeom prst="rect">
            <a:avLst/>
          </a:prstGeom>
          <a:noFill/>
          <a:ln/>
        </p:spPr>
        <p:txBody>
          <a:bodyPr wrap="square" lIns="0" tIns="0" rIns="0" bIns="0" rtlCol="0" anchor="ctr"/>
          <a:lstStyle/>
          <a:p>
            <a:pPr algn="l" indent="0" marL="0">
              <a:buNone/>
            </a:pPr>
            <a:r>
              <a:rPr lang="en-US" sz="1050" b="1" spc="300" kern="0" dirty="0">
                <a:solidFill>
                  <a:srgbClr val="00704A"/>
                </a:solidFill>
                <a:latin typeface="Calibri" pitchFamily="34" charset="0"/>
                <a:ea typeface="Calibri" pitchFamily="34" charset="-122"/>
                <a:cs typeface="Calibri" pitchFamily="34" charset="-120"/>
              </a:rPr>
              <a:t>04 · ANALYSER · NETTOYAGE</a:t>
            </a:r>
            <a:endParaRPr lang="en-US" sz="1050" dirty="0"/>
          </a:p>
        </p:txBody>
      </p:sp>
      <p:sp>
        <p:nvSpPr>
          <p:cNvPr id="3" name="Text 3"/>
          <p:cNvSpPr/>
          <p:nvPr>
            <p:ph idx="106" type="title" hasCustomPrompt="1"/>
          </p:nvPr>
        </p:nvSpPr>
        <p:spPr>
          <a:xfrm>
            <a:off x="457200" y="548640"/>
            <a:ext cx="8229600" cy="566928"/>
          </a:xfrm>
          <a:prstGeom prst="rect">
            <a:avLst/>
          </a:prstGeom>
          <a:noFill/>
          <a:ln/>
        </p:spPr>
        <p:txBody>
          <a:bodyPr wrap="square" lIns="0" tIns="0" rIns="0" bIns="0" rtlCol="0" anchor="ctr"/>
          <a:lstStyle/>
          <a:p>
            <a:pPr algn="l" indent="0" marL="0">
              <a:buNone/>
            </a:pPr>
            <a:r>
              <a:rPr lang="en-US" sz="2800" b="1" dirty="0">
                <a:solidFill>
                  <a:srgbClr val="231F20"/>
                </a:solidFill>
                <a:latin typeface="Calibri" pitchFamily="34" charset="0"/>
                <a:ea typeface="Calibri" pitchFamily="34" charset="-122"/>
                <a:cs typeface="Calibri" pitchFamily="34" charset="-120"/>
              </a:rPr>
              <a:t>Retirer tout ce qui n'est pas de l'activité humaine</a:t>
            </a:r>
            <a:endParaRPr lang="en-US" sz="2800" dirty="0"/>
          </a:p>
        </p:txBody>
      </p:sp>
      <p:sp>
        <p:nvSpPr>
          <p:cNvPr id="4" name="dot0"/>
          <p:cNvSpPr/>
          <p:nvPr/>
        </p:nvSpPr>
        <p:spPr>
          <a:xfrm>
            <a:off x="7644384" y="338328"/>
            <a:ext cx="100584" cy="100584"/>
          </a:xfrm>
          <a:prstGeom prst="ellipse">
            <a:avLst/>
          </a:prstGeom>
          <a:solidFill>
            <a:srgbClr val="D5DED9"/>
          </a:solidFill>
          <a:ln w="12700">
            <a:solidFill>
              <a:srgbClr val="D5DED9"/>
            </a:solidFill>
            <a:prstDash val="solid"/>
          </a:ln>
        </p:spPr>
      </p:sp>
      <p:sp>
        <p:nvSpPr>
          <p:cNvPr id="5" name="dot1"/>
          <p:cNvSpPr/>
          <p:nvPr/>
        </p:nvSpPr>
        <p:spPr>
          <a:xfrm>
            <a:off x="7818120" y="338328"/>
            <a:ext cx="100584" cy="100584"/>
          </a:xfrm>
          <a:prstGeom prst="ellipse">
            <a:avLst/>
          </a:prstGeom>
          <a:solidFill>
            <a:srgbClr val="D5DED9"/>
          </a:solidFill>
          <a:ln w="12700">
            <a:solidFill>
              <a:srgbClr val="D5DED9"/>
            </a:solidFill>
            <a:prstDash val="solid"/>
          </a:ln>
        </p:spPr>
      </p:sp>
      <p:sp>
        <p:nvSpPr>
          <p:cNvPr id="6" name="dot2"/>
          <p:cNvSpPr/>
          <p:nvPr/>
        </p:nvSpPr>
        <p:spPr>
          <a:xfrm>
            <a:off x="7991856" y="338328"/>
            <a:ext cx="100584" cy="100584"/>
          </a:xfrm>
          <a:prstGeom prst="ellipse">
            <a:avLst/>
          </a:prstGeom>
          <a:solidFill>
            <a:srgbClr val="D5DED9"/>
          </a:solidFill>
          <a:ln w="12700">
            <a:solidFill>
              <a:srgbClr val="D5DED9"/>
            </a:solidFill>
            <a:prstDash val="solid"/>
          </a:ln>
        </p:spPr>
      </p:sp>
      <p:sp>
        <p:nvSpPr>
          <p:cNvPr id="7" name="dot3"/>
          <p:cNvSpPr/>
          <p:nvPr/>
        </p:nvSpPr>
        <p:spPr>
          <a:xfrm>
            <a:off x="8165592" y="338328"/>
            <a:ext cx="100584" cy="100584"/>
          </a:xfrm>
          <a:prstGeom prst="ellipse">
            <a:avLst/>
          </a:prstGeom>
          <a:solidFill>
            <a:srgbClr val="D49A00"/>
          </a:solidFill>
          <a:ln w="12700">
            <a:solidFill>
              <a:srgbClr val="D49A00"/>
            </a:solidFill>
            <a:prstDash val="solid"/>
          </a:ln>
        </p:spPr>
      </p:sp>
      <p:sp>
        <p:nvSpPr>
          <p:cNvPr id="8" name="dot4"/>
          <p:cNvSpPr/>
          <p:nvPr/>
        </p:nvSpPr>
        <p:spPr>
          <a:xfrm>
            <a:off x="8339328" y="338328"/>
            <a:ext cx="100584" cy="100584"/>
          </a:xfrm>
          <a:prstGeom prst="ellipse">
            <a:avLst/>
          </a:prstGeom>
          <a:solidFill>
            <a:srgbClr val="D5DED9"/>
          </a:solidFill>
          <a:ln w="12700">
            <a:solidFill>
              <a:srgbClr val="D5DED9"/>
            </a:solidFill>
            <a:prstDash val="solid"/>
          </a:ln>
        </p:spPr>
      </p:sp>
      <p:sp>
        <p:nvSpPr>
          <p:cNvPr id="9" name="dot5"/>
          <p:cNvSpPr/>
          <p:nvPr/>
        </p:nvSpPr>
        <p:spPr>
          <a:xfrm>
            <a:off x="8513064" y="338328"/>
            <a:ext cx="100584" cy="100584"/>
          </a:xfrm>
          <a:prstGeom prst="ellipse">
            <a:avLst/>
          </a:prstGeom>
          <a:solidFill>
            <a:srgbClr val="D5DED9"/>
          </a:solidFill>
          <a:ln w="12700">
            <a:solidFill>
              <a:srgbClr val="D5DED9"/>
            </a:solidFill>
            <a:prstDash val="solid"/>
          </a:ln>
        </p:spPr>
      </p:sp>
      <p:sp>
        <p:nvSpPr>
          <p:cNvPr id="11" name="Shape 8"/>
          <p:cNvSpPr/>
          <p:nvPr/>
        </p:nvSpPr>
        <p:spPr>
          <a:xfrm>
            <a:off x="457200" y="1371600"/>
            <a:ext cx="2606040" cy="1298448"/>
          </a:xfrm>
          <a:prstGeom prst="roundRect">
            <a:avLst>
              <a:gd name="adj" fmla="val 5634"/>
            </a:avLst>
          </a:prstGeom>
          <a:solidFill>
            <a:srgbClr val="E8F5EF"/>
          </a:solidFill>
          <a:ln w="15875">
            <a:solidFill>
              <a:srgbClr val="D49A00"/>
            </a:solidFill>
            <a:prstDash val="solid"/>
          </a:ln>
        </p:spPr>
      </p:sp>
      <p:sp>
        <p:nvSpPr>
          <p:cNvPr id="12" name="Shape 9"/>
          <p:cNvSpPr/>
          <p:nvPr/>
        </p:nvSpPr>
        <p:spPr>
          <a:xfrm>
            <a:off x="603504" y="1517904"/>
            <a:ext cx="457200" cy="457200"/>
          </a:xfrm>
          <a:prstGeom prst="ellipse">
            <a:avLst/>
          </a:prstGeom>
          <a:solidFill>
            <a:srgbClr val="D49A00">
              <a:alpha val="22000"/>
            </a:srgbClr>
          </a:solidFill>
          <a:ln w="12700">
            <a:solidFill>
              <a:srgbClr val="D49A00">
                <a:alpha val="0"/>
              </a:srgbClr>
            </a:solidFill>
            <a:prstDash val="solid"/>
          </a:ln>
        </p:spPr>
      </p:sp>
      <p:pic>
        <p:nvPicPr>
          <p:cNvPr id="13" name="Image 0" descr="preencoded.png">    </p:cNvPr>
          <p:cNvPicPr>
            <a:picLocks noChangeAspect="1"/>
          </p:cNvPicPr>
          <p:nvPr/>
        </p:nvPicPr>
        <p:blipFill>
          <a:blip r:embed="rId1"/>
          <a:stretch>
            <a:fillRect/>
          </a:stretch>
        </p:blipFill>
        <p:spPr>
          <a:xfrm>
            <a:off x="713232" y="1627632"/>
            <a:ext cx="237744" cy="237744"/>
          </a:xfrm>
          <a:prstGeom prst="rect">
            <a:avLst/>
          </a:prstGeom>
        </p:spPr>
      </p:pic>
      <p:sp>
        <p:nvSpPr>
          <p:cNvPr id="14" name="Text 10"/>
          <p:cNvSpPr txBox="1"/>
          <p:nvPr/>
        </p:nvSpPr>
        <p:spPr>
          <a:xfrm>
            <a:off x="1170432" y="1517904"/>
            <a:ext cx="1783080" cy="457200"/>
          </a:xfrm>
          <a:prstGeom prst="rect">
            <a:avLst/>
          </a:prstGeom>
          <a:noFill/>
          <a:ln/>
        </p:spPr>
        <p:txBody>
          <a:bodyPr wrap="square" lIns="0" tIns="0" rIns="0" bIns="0" rtlCol="0" anchor="ctr"/>
          <a:lstStyle/>
          <a:p>
            <a:pPr indent="0" marL="0">
              <a:buNone/>
            </a:pPr>
            <a:r>
              <a:rPr lang="en-US" sz="1300" b="1" dirty="0">
                <a:solidFill>
                  <a:srgbClr val="231F20"/>
                </a:solidFill>
                <a:latin typeface="Calibri" pitchFamily="34" charset="0"/>
                <a:ea typeface="Calibri" pitchFamily="34" charset="-122"/>
                <a:cs typeface="Calibri" pitchFamily="34" charset="-120"/>
              </a:rPr>
              <a:t>1 · Nuages</a:t>
            </a:r>
            <a:endParaRPr lang="en-US" sz="1300" dirty="0"/>
          </a:p>
        </p:txBody>
      </p:sp>
      <p:sp>
        <p:nvSpPr>
          <p:cNvPr id="15" name="Text 11"/>
          <p:cNvSpPr txBox="1"/>
          <p:nvPr/>
        </p:nvSpPr>
        <p:spPr>
          <a:xfrm>
            <a:off x="603504" y="2048256"/>
            <a:ext cx="2331720" cy="566928"/>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cf_cvg ≥ 2 · pixel nuageux = sa valeur annuelle · unité-mois gardée si ≥ 80 % observée</a:t>
            </a:r>
            <a:endParaRPr lang="en-US" sz="1050" dirty="0"/>
          </a:p>
        </p:txBody>
      </p:sp>
      <p:sp>
        <p:nvSpPr>
          <p:cNvPr id="16" name="Shape 12"/>
          <p:cNvSpPr/>
          <p:nvPr/>
        </p:nvSpPr>
        <p:spPr>
          <a:xfrm>
            <a:off x="3246120" y="1371600"/>
            <a:ext cx="2606040" cy="1298448"/>
          </a:xfrm>
          <a:prstGeom prst="roundRect">
            <a:avLst>
              <a:gd name="adj" fmla="val 5634"/>
            </a:avLst>
          </a:prstGeom>
          <a:solidFill>
            <a:srgbClr val="F4F7F5"/>
          </a:solidFill>
          <a:ln w="9525">
            <a:solidFill>
              <a:srgbClr val="D5DED9"/>
            </a:solidFill>
            <a:prstDash val="solid"/>
          </a:ln>
        </p:spPr>
      </p:sp>
      <p:sp>
        <p:nvSpPr>
          <p:cNvPr id="17" name="Shape 13"/>
          <p:cNvSpPr/>
          <p:nvPr/>
        </p:nvSpPr>
        <p:spPr>
          <a:xfrm>
            <a:off x="3392424" y="1517904"/>
            <a:ext cx="457200" cy="457200"/>
          </a:xfrm>
          <a:prstGeom prst="ellipse">
            <a:avLst/>
          </a:prstGeom>
          <a:solidFill>
            <a:srgbClr val="D49A00">
              <a:alpha val="22000"/>
            </a:srgbClr>
          </a:solidFill>
          <a:ln w="12700">
            <a:solidFill>
              <a:srgbClr val="D49A00">
                <a:alpha val="0"/>
              </a:srgbClr>
            </a:solidFill>
            <a:prstDash val="solid"/>
          </a:ln>
        </p:spPr>
      </p:sp>
      <p:pic>
        <p:nvPicPr>
          <p:cNvPr id="18" name="Image 1" descr="preencoded.png">    </p:cNvPr>
          <p:cNvPicPr>
            <a:picLocks noChangeAspect="1"/>
          </p:cNvPicPr>
          <p:nvPr/>
        </p:nvPicPr>
        <p:blipFill>
          <a:blip r:embed="rId2"/>
          <a:stretch>
            <a:fillRect/>
          </a:stretch>
        </p:blipFill>
        <p:spPr>
          <a:xfrm>
            <a:off x="3502152" y="1627632"/>
            <a:ext cx="237744" cy="237744"/>
          </a:xfrm>
          <a:prstGeom prst="rect">
            <a:avLst/>
          </a:prstGeom>
        </p:spPr>
      </p:pic>
      <p:sp>
        <p:nvSpPr>
          <p:cNvPr id="19" name="Text 14"/>
          <p:cNvSpPr txBox="1"/>
          <p:nvPr/>
        </p:nvSpPr>
        <p:spPr>
          <a:xfrm>
            <a:off x="3959352" y="1517904"/>
            <a:ext cx="1783080" cy="457200"/>
          </a:xfrm>
          <a:prstGeom prst="rect">
            <a:avLst/>
          </a:prstGeom>
          <a:noFill/>
          <a:ln/>
        </p:spPr>
        <p:txBody>
          <a:bodyPr wrap="square" lIns="0" tIns="0" rIns="0" bIns="0" rtlCol="0" anchor="ctr"/>
          <a:lstStyle/>
          <a:p>
            <a:pPr indent="0" marL="0">
              <a:buNone/>
            </a:pPr>
            <a:r>
              <a:rPr lang="en-US" sz="1300" b="1" dirty="0">
                <a:solidFill>
                  <a:srgbClr val="231F20"/>
                </a:solidFill>
                <a:latin typeface="Calibri" pitchFamily="34" charset="0"/>
                <a:ea typeface="Calibri" pitchFamily="34" charset="-122"/>
                <a:cs typeface="Calibri" pitchFamily="34" charset="-120"/>
              </a:rPr>
              <a:t>2 · Négatifs</a:t>
            </a:r>
            <a:endParaRPr lang="en-US" sz="1300" dirty="0"/>
          </a:p>
        </p:txBody>
      </p:sp>
      <p:sp>
        <p:nvSpPr>
          <p:cNvPr id="20" name="Text 15"/>
          <p:cNvSpPr txBox="1"/>
          <p:nvPr/>
        </p:nvSpPr>
        <p:spPr>
          <a:xfrm>
            <a:off x="3392424" y="2048256"/>
            <a:ext cx="2331720" cy="566928"/>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Mis à 0 : bruit de calibration sur zones sombres</a:t>
            </a:r>
            <a:endParaRPr lang="en-US" sz="1050" dirty="0"/>
          </a:p>
        </p:txBody>
      </p:sp>
      <p:sp>
        <p:nvSpPr>
          <p:cNvPr id="21" name="Shape 16"/>
          <p:cNvSpPr/>
          <p:nvPr/>
        </p:nvSpPr>
        <p:spPr>
          <a:xfrm>
            <a:off x="6035040" y="1371600"/>
            <a:ext cx="2606040" cy="1298448"/>
          </a:xfrm>
          <a:prstGeom prst="roundRect">
            <a:avLst>
              <a:gd name="adj" fmla="val 5634"/>
            </a:avLst>
          </a:prstGeom>
          <a:solidFill>
            <a:srgbClr val="F4F7F5"/>
          </a:solidFill>
          <a:ln w="9525">
            <a:solidFill>
              <a:srgbClr val="D5DED9"/>
            </a:solidFill>
            <a:prstDash val="solid"/>
          </a:ln>
        </p:spPr>
      </p:sp>
      <p:sp>
        <p:nvSpPr>
          <p:cNvPr id="22" name="Shape 17"/>
          <p:cNvSpPr/>
          <p:nvPr/>
        </p:nvSpPr>
        <p:spPr>
          <a:xfrm>
            <a:off x="6181344" y="1517904"/>
            <a:ext cx="457200" cy="457200"/>
          </a:xfrm>
          <a:prstGeom prst="ellipse">
            <a:avLst/>
          </a:prstGeom>
          <a:solidFill>
            <a:srgbClr val="D49A00">
              <a:alpha val="22000"/>
            </a:srgbClr>
          </a:solidFill>
          <a:ln w="12700">
            <a:solidFill>
              <a:srgbClr val="D49A00">
                <a:alpha val="0"/>
              </a:srgbClr>
            </a:solidFill>
            <a:prstDash val="solid"/>
          </a:ln>
        </p:spPr>
      </p:sp>
      <p:pic>
        <p:nvPicPr>
          <p:cNvPr id="23" name="Image 2" descr="preencoded.png">    </p:cNvPr>
          <p:cNvPicPr>
            <a:picLocks noChangeAspect="1"/>
          </p:cNvPicPr>
          <p:nvPr/>
        </p:nvPicPr>
        <p:blipFill>
          <a:blip r:embed="rId3"/>
          <a:stretch>
            <a:fillRect/>
          </a:stretch>
        </p:blipFill>
        <p:spPr>
          <a:xfrm>
            <a:off x="6291072" y="1627632"/>
            <a:ext cx="237744" cy="237744"/>
          </a:xfrm>
          <a:prstGeom prst="rect">
            <a:avLst/>
          </a:prstGeom>
        </p:spPr>
      </p:pic>
      <p:sp>
        <p:nvSpPr>
          <p:cNvPr id="24" name="Text 18"/>
          <p:cNvSpPr txBox="1"/>
          <p:nvPr/>
        </p:nvSpPr>
        <p:spPr>
          <a:xfrm>
            <a:off x="6748272" y="1517904"/>
            <a:ext cx="1783080" cy="457200"/>
          </a:xfrm>
          <a:prstGeom prst="rect">
            <a:avLst/>
          </a:prstGeom>
          <a:noFill/>
          <a:ln/>
        </p:spPr>
        <p:txBody>
          <a:bodyPr wrap="square" lIns="0" tIns="0" rIns="0" bIns="0" rtlCol="0" anchor="ctr"/>
          <a:lstStyle/>
          <a:p>
            <a:pPr indent="0" marL="0">
              <a:buNone/>
            </a:pPr>
            <a:r>
              <a:rPr lang="en-US" sz="1300" b="1" dirty="0">
                <a:solidFill>
                  <a:srgbClr val="231F20"/>
                </a:solidFill>
                <a:latin typeface="Calibri" pitchFamily="34" charset="0"/>
                <a:ea typeface="Calibri" pitchFamily="34" charset="-122"/>
                <a:cs typeface="Calibri" pitchFamily="34" charset="-120"/>
              </a:rPr>
              <a:t>3 · Aberrants</a:t>
            </a:r>
            <a:endParaRPr lang="en-US" sz="1300" dirty="0"/>
          </a:p>
        </p:txBody>
      </p:sp>
      <p:sp>
        <p:nvSpPr>
          <p:cNvPr id="25" name="Text 19"/>
          <p:cNvSpPr txBox="1"/>
          <p:nvPr/>
        </p:nvSpPr>
        <p:spPr>
          <a:xfrm>
            <a:off x="6181344" y="2048256"/>
            <a:ext cx="2331720" cy="566928"/>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Plafond 1000 nW · &gt; 5 × médiane annuelle → médiane (feux, éclairs, reflets)</a:t>
            </a:r>
            <a:endParaRPr lang="en-US" sz="1050" dirty="0"/>
          </a:p>
        </p:txBody>
      </p:sp>
      <p:sp>
        <p:nvSpPr>
          <p:cNvPr id="26" name="Shape 20"/>
          <p:cNvSpPr/>
          <p:nvPr/>
        </p:nvSpPr>
        <p:spPr>
          <a:xfrm>
            <a:off x="457200" y="2834640"/>
            <a:ext cx="2606040" cy="1298448"/>
          </a:xfrm>
          <a:prstGeom prst="roundRect">
            <a:avLst>
              <a:gd name="adj" fmla="val 5634"/>
            </a:avLst>
          </a:prstGeom>
          <a:solidFill>
            <a:srgbClr val="F4F7F5"/>
          </a:solidFill>
          <a:ln w="9525">
            <a:solidFill>
              <a:srgbClr val="D5DED9"/>
            </a:solidFill>
            <a:prstDash val="solid"/>
          </a:ln>
        </p:spPr>
      </p:sp>
      <p:sp>
        <p:nvSpPr>
          <p:cNvPr id="27" name="Shape 21"/>
          <p:cNvSpPr/>
          <p:nvPr/>
        </p:nvSpPr>
        <p:spPr>
          <a:xfrm>
            <a:off x="603504" y="2980944"/>
            <a:ext cx="457200" cy="457200"/>
          </a:xfrm>
          <a:prstGeom prst="ellipse">
            <a:avLst/>
          </a:prstGeom>
          <a:solidFill>
            <a:srgbClr val="D49A00">
              <a:alpha val="22000"/>
            </a:srgbClr>
          </a:solidFill>
          <a:ln w="12700">
            <a:solidFill>
              <a:srgbClr val="D49A00">
                <a:alpha val="0"/>
              </a:srgbClr>
            </a:solidFill>
            <a:prstDash val="solid"/>
          </a:ln>
        </p:spPr>
      </p:sp>
      <p:pic>
        <p:nvPicPr>
          <p:cNvPr id="28" name="Image 3" descr="preencoded.png">    </p:cNvPr>
          <p:cNvPicPr>
            <a:picLocks noChangeAspect="1"/>
          </p:cNvPicPr>
          <p:nvPr/>
        </p:nvPicPr>
        <p:blipFill>
          <a:blip r:embed="rId4"/>
          <a:stretch>
            <a:fillRect/>
          </a:stretch>
        </p:blipFill>
        <p:spPr>
          <a:xfrm>
            <a:off x="713232" y="3090672"/>
            <a:ext cx="237744" cy="237744"/>
          </a:xfrm>
          <a:prstGeom prst="rect">
            <a:avLst/>
          </a:prstGeom>
        </p:spPr>
      </p:pic>
      <p:sp>
        <p:nvSpPr>
          <p:cNvPr id="29" name="Text 22"/>
          <p:cNvSpPr txBox="1"/>
          <p:nvPr/>
        </p:nvSpPr>
        <p:spPr>
          <a:xfrm>
            <a:off x="1170432" y="2980944"/>
            <a:ext cx="1783080" cy="457200"/>
          </a:xfrm>
          <a:prstGeom prst="rect">
            <a:avLst/>
          </a:prstGeom>
          <a:noFill/>
          <a:ln/>
        </p:spPr>
        <p:txBody>
          <a:bodyPr wrap="square" lIns="0" tIns="0" rIns="0" bIns="0" rtlCol="0" anchor="ctr"/>
          <a:lstStyle/>
          <a:p>
            <a:pPr indent="0" marL="0">
              <a:buNone/>
            </a:pPr>
            <a:r>
              <a:rPr lang="en-US" sz="1300" b="1" dirty="0">
                <a:solidFill>
                  <a:srgbClr val="231F20"/>
                </a:solidFill>
                <a:latin typeface="Calibri" pitchFamily="34" charset="0"/>
                <a:ea typeface="Calibri" pitchFamily="34" charset="-122"/>
                <a:cs typeface="Calibri" pitchFamily="34" charset="-120"/>
              </a:rPr>
              <a:t>4 · Fond</a:t>
            </a:r>
            <a:endParaRPr lang="en-US" sz="1300" dirty="0"/>
          </a:p>
        </p:txBody>
      </p:sp>
      <p:sp>
        <p:nvSpPr>
          <p:cNvPr id="30" name="Text 23"/>
          <p:cNvSpPr txBox="1"/>
          <p:nvPr/>
        </p:nvSpPr>
        <p:spPr>
          <a:xfrm>
            <a:off x="603504" y="3511296"/>
            <a:ext cx="2331720" cy="566928"/>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Non éclairé dans l'annuel → 0 ; pixels nouvellement allumés gardés si année non publiée</a:t>
            </a:r>
            <a:endParaRPr lang="en-US" sz="1050" dirty="0"/>
          </a:p>
        </p:txBody>
      </p:sp>
      <p:sp>
        <p:nvSpPr>
          <p:cNvPr id="31" name="Shape 24"/>
          <p:cNvSpPr/>
          <p:nvPr/>
        </p:nvSpPr>
        <p:spPr>
          <a:xfrm>
            <a:off x="3246120" y="2834640"/>
            <a:ext cx="2606040" cy="1298448"/>
          </a:xfrm>
          <a:prstGeom prst="roundRect">
            <a:avLst>
              <a:gd name="adj" fmla="val 5634"/>
            </a:avLst>
          </a:prstGeom>
          <a:solidFill>
            <a:srgbClr val="F4F7F5"/>
          </a:solidFill>
          <a:ln w="9525">
            <a:solidFill>
              <a:srgbClr val="D5DED9"/>
            </a:solidFill>
            <a:prstDash val="solid"/>
          </a:ln>
        </p:spPr>
      </p:sp>
      <p:sp>
        <p:nvSpPr>
          <p:cNvPr id="32" name="Shape 25"/>
          <p:cNvSpPr/>
          <p:nvPr/>
        </p:nvSpPr>
        <p:spPr>
          <a:xfrm>
            <a:off x="3392424" y="2980944"/>
            <a:ext cx="457200" cy="457200"/>
          </a:xfrm>
          <a:prstGeom prst="ellipse">
            <a:avLst/>
          </a:prstGeom>
          <a:solidFill>
            <a:srgbClr val="D49A00">
              <a:alpha val="22000"/>
            </a:srgbClr>
          </a:solidFill>
          <a:ln w="12700">
            <a:solidFill>
              <a:srgbClr val="D49A00">
                <a:alpha val="0"/>
              </a:srgbClr>
            </a:solidFill>
            <a:prstDash val="solid"/>
          </a:ln>
        </p:spPr>
      </p:sp>
      <p:pic>
        <p:nvPicPr>
          <p:cNvPr id="33" name="Image 4" descr="preencoded.png">    </p:cNvPr>
          <p:cNvPicPr>
            <a:picLocks noChangeAspect="1"/>
          </p:cNvPicPr>
          <p:nvPr/>
        </p:nvPicPr>
        <p:blipFill>
          <a:blip r:embed="rId5"/>
          <a:stretch>
            <a:fillRect/>
          </a:stretch>
        </p:blipFill>
        <p:spPr>
          <a:xfrm>
            <a:off x="3502152" y="3090672"/>
            <a:ext cx="237744" cy="237744"/>
          </a:xfrm>
          <a:prstGeom prst="rect">
            <a:avLst/>
          </a:prstGeom>
        </p:spPr>
      </p:pic>
      <p:sp>
        <p:nvSpPr>
          <p:cNvPr id="34" name="Text 26"/>
          <p:cNvSpPr txBox="1"/>
          <p:nvPr/>
        </p:nvSpPr>
        <p:spPr>
          <a:xfrm>
            <a:off x="3959352" y="2980944"/>
            <a:ext cx="1783080" cy="457200"/>
          </a:xfrm>
          <a:prstGeom prst="rect">
            <a:avLst/>
          </a:prstGeom>
          <a:noFill/>
          <a:ln/>
        </p:spPr>
        <p:txBody>
          <a:bodyPr wrap="square" lIns="0" tIns="0" rIns="0" bIns="0" rtlCol="0" anchor="ctr"/>
          <a:lstStyle/>
          <a:p>
            <a:pPr indent="0" marL="0">
              <a:buNone/>
            </a:pPr>
            <a:r>
              <a:rPr lang="en-US" sz="1300" b="1" dirty="0">
                <a:solidFill>
                  <a:srgbClr val="231F20"/>
                </a:solidFill>
                <a:latin typeface="Calibri" pitchFamily="34" charset="0"/>
                <a:ea typeface="Calibri" pitchFamily="34" charset="-122"/>
                <a:cs typeface="Calibri" pitchFamily="34" charset="-120"/>
              </a:rPr>
              <a:t>5 · Torchères</a:t>
            </a:r>
            <a:endParaRPr lang="en-US" sz="1300" dirty="0"/>
          </a:p>
        </p:txBody>
      </p:sp>
      <p:sp>
        <p:nvSpPr>
          <p:cNvPr id="35" name="Text 27"/>
          <p:cNvSpPr txBox="1"/>
          <p:nvPr/>
        </p:nvSpPr>
        <p:spPr>
          <a:xfrm>
            <a:off x="3392424" y="3511296"/>
            <a:ext cx="2331720" cy="566928"/>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 50 nW, &lt; 5 habitants, non bâti → retirés avec un halo de 2 km</a:t>
            </a:r>
            <a:endParaRPr lang="en-US" sz="1050" dirty="0"/>
          </a:p>
        </p:txBody>
      </p:sp>
      <p:sp>
        <p:nvSpPr>
          <p:cNvPr id="36" name="Shape 28"/>
          <p:cNvSpPr/>
          <p:nvPr/>
        </p:nvSpPr>
        <p:spPr>
          <a:xfrm>
            <a:off x="6035040" y="2834640"/>
            <a:ext cx="2606040" cy="1298448"/>
          </a:xfrm>
          <a:prstGeom prst="roundRect">
            <a:avLst>
              <a:gd name="adj" fmla="val 5634"/>
            </a:avLst>
          </a:prstGeom>
          <a:solidFill>
            <a:srgbClr val="F4F7F5"/>
          </a:solidFill>
          <a:ln w="9525">
            <a:solidFill>
              <a:srgbClr val="D5DED9"/>
            </a:solidFill>
            <a:prstDash val="solid"/>
          </a:ln>
        </p:spPr>
      </p:sp>
      <p:sp>
        <p:nvSpPr>
          <p:cNvPr id="37" name="Shape 29"/>
          <p:cNvSpPr/>
          <p:nvPr/>
        </p:nvSpPr>
        <p:spPr>
          <a:xfrm>
            <a:off x="6181344" y="2980944"/>
            <a:ext cx="457200" cy="457200"/>
          </a:xfrm>
          <a:prstGeom prst="ellipse">
            <a:avLst/>
          </a:prstGeom>
          <a:solidFill>
            <a:srgbClr val="D49A00">
              <a:alpha val="22000"/>
            </a:srgbClr>
          </a:solidFill>
          <a:ln w="12700">
            <a:solidFill>
              <a:srgbClr val="D49A00">
                <a:alpha val="0"/>
              </a:srgbClr>
            </a:solidFill>
            <a:prstDash val="solid"/>
          </a:ln>
        </p:spPr>
      </p:sp>
      <p:pic>
        <p:nvPicPr>
          <p:cNvPr id="38" name="Image 5" descr="preencoded.png">    </p:cNvPr>
          <p:cNvPicPr>
            <a:picLocks noChangeAspect="1"/>
          </p:cNvPicPr>
          <p:nvPr/>
        </p:nvPicPr>
        <p:blipFill>
          <a:blip r:embed="rId6"/>
          <a:stretch>
            <a:fillRect/>
          </a:stretch>
        </p:blipFill>
        <p:spPr>
          <a:xfrm>
            <a:off x="6291072" y="3090672"/>
            <a:ext cx="237744" cy="237744"/>
          </a:xfrm>
          <a:prstGeom prst="rect">
            <a:avLst/>
          </a:prstGeom>
        </p:spPr>
      </p:pic>
      <p:sp>
        <p:nvSpPr>
          <p:cNvPr id="39" name="Text 30"/>
          <p:cNvSpPr txBox="1"/>
          <p:nvPr/>
        </p:nvSpPr>
        <p:spPr>
          <a:xfrm>
            <a:off x="6748272" y="2980944"/>
            <a:ext cx="1783080" cy="457200"/>
          </a:xfrm>
          <a:prstGeom prst="rect">
            <a:avLst/>
          </a:prstGeom>
          <a:noFill/>
          <a:ln/>
        </p:spPr>
        <p:txBody>
          <a:bodyPr wrap="square" lIns="0" tIns="0" rIns="0" bIns="0" rtlCol="0" anchor="ctr"/>
          <a:lstStyle/>
          <a:p>
            <a:pPr indent="0" marL="0">
              <a:buNone/>
            </a:pPr>
            <a:r>
              <a:rPr lang="en-US" sz="1300" b="1" dirty="0">
                <a:solidFill>
                  <a:srgbClr val="231F20"/>
                </a:solidFill>
                <a:latin typeface="Calibri" pitchFamily="34" charset="0"/>
                <a:ea typeface="Calibri" pitchFamily="34" charset="-122"/>
                <a:cs typeface="Calibri" pitchFamily="34" charset="-120"/>
              </a:rPr>
              <a:t>6 · DMSP</a:t>
            </a:r>
            <a:endParaRPr lang="en-US" sz="1300" dirty="0"/>
          </a:p>
        </p:txBody>
      </p:sp>
      <p:sp>
        <p:nvSpPr>
          <p:cNvPr id="40" name="Text 31"/>
          <p:cNvSpPr txBox="1"/>
          <p:nvPr/>
        </p:nvSpPr>
        <p:spPr>
          <a:xfrm>
            <a:off x="6181344" y="3511296"/>
            <a:ext cx="2331720" cy="566928"/>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Saturation (DN 63) mesurée ; série harmonisée seuillée à DN &gt; 7</a:t>
            </a:r>
            <a:endParaRPr lang="en-US" sz="1050" dirty="0"/>
          </a:p>
        </p:txBody>
      </p:sp>
      <p:sp>
        <p:nvSpPr>
          <p:cNvPr id="41" name="Text 32"/>
          <p:cNvSpPr txBox="1"/>
          <p:nvPr/>
        </p:nvSpPr>
        <p:spPr>
          <a:xfrm>
            <a:off x="457200" y="4553712"/>
            <a:ext cx="7223760" cy="219456"/>
          </a:xfrm>
          <a:prstGeom prst="rect">
            <a:avLst/>
          </a:prstGeom>
          <a:noFill/>
          <a:ln/>
        </p:spPr>
        <p:txBody>
          <a:bodyPr wrap="square" lIns="0" tIns="0" rIns="0" bIns="0" rtlCol="0" anchor="ctr"/>
          <a:lstStyle/>
          <a:p>
            <a:pPr indent="0" marL="0">
              <a:buNone/>
            </a:pPr>
            <a:r>
              <a:rPr lang="en-US" sz="900" i="1" dirty="0">
                <a:solidFill>
                  <a:srgbClr val="5E6964"/>
                </a:solidFill>
                <a:latin typeface="Calibri" pitchFamily="34" charset="0"/>
                <a:ea typeface="Calibri" pitchFamily="34" charset="-122"/>
                <a:cs typeface="Calibri" pitchFamily="34" charset="-120"/>
              </a:rPr>
              <a:t>Source : Li et al. (2020) pour le seuil DMSP · tous les seuils sont des paramètres de NTLConfig</a:t>
            </a:r>
            <a:endParaRPr lang="en-US" sz="9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8A9590"/>
                </a:solidFill>
                <a:latin typeface="Calibri"/>
                <a:ea typeface="Calibri"/>
                <a:cs typeface="Calibri"/>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3"/>
          <p:cNvSpPr/>
          <p:nvPr>
            <p:ph idx="105" type="body" hasCustomPrompt="1"/>
          </p:nvPr>
        </p:nvSpPr>
        <p:spPr>
          <a:xfrm>
            <a:off x="457200" y="274320"/>
            <a:ext cx="6217920" cy="256032"/>
          </a:xfrm>
          <a:prstGeom prst="rect">
            <a:avLst/>
          </a:prstGeom>
          <a:noFill/>
          <a:ln/>
        </p:spPr>
        <p:txBody>
          <a:bodyPr wrap="square" lIns="0" tIns="0" rIns="0" bIns="0" rtlCol="0" anchor="ctr"/>
          <a:lstStyle/>
          <a:p>
            <a:pPr algn="l" indent="0" marL="0">
              <a:buNone/>
            </a:pPr>
            <a:r>
              <a:rPr lang="en-US" sz="1050" b="1" spc="300" kern="0" dirty="0">
                <a:solidFill>
                  <a:srgbClr val="00704A"/>
                </a:solidFill>
                <a:latin typeface="Calibri" pitchFamily="34" charset="0"/>
                <a:ea typeface="Calibri" pitchFamily="34" charset="-122"/>
                <a:cs typeface="Calibri" pitchFamily="34" charset="-120"/>
              </a:rPr>
              <a:t>04 · ANALYSER · MÉTRIQUES DE BASE</a:t>
            </a:r>
            <a:endParaRPr lang="en-US" sz="1050" dirty="0"/>
          </a:p>
        </p:txBody>
      </p:sp>
      <p:sp>
        <p:nvSpPr>
          <p:cNvPr id="3" name="Text 3"/>
          <p:cNvSpPr/>
          <p:nvPr>
            <p:ph idx="106" type="title" hasCustomPrompt="1"/>
          </p:nvPr>
        </p:nvSpPr>
        <p:spPr>
          <a:xfrm>
            <a:off x="457200" y="548640"/>
            <a:ext cx="8229600" cy="566928"/>
          </a:xfrm>
          <a:prstGeom prst="rect">
            <a:avLst/>
          </a:prstGeom>
          <a:noFill/>
          <a:ln/>
        </p:spPr>
        <p:txBody>
          <a:bodyPr wrap="square" lIns="0" tIns="0" rIns="0" bIns="0" rtlCol="0" anchor="ctr"/>
          <a:lstStyle/>
          <a:p>
            <a:pPr algn="l" indent="0" marL="0">
              <a:buNone/>
            </a:pPr>
            <a:r>
              <a:rPr lang="en-US" sz="2800" b="1" dirty="0">
                <a:solidFill>
                  <a:srgbClr val="231F20"/>
                </a:solidFill>
                <a:latin typeface="Calibri" pitchFamily="34" charset="0"/>
                <a:ea typeface="Calibri" pitchFamily="34" charset="-122"/>
                <a:cs typeface="Calibri" pitchFamily="34" charset="-120"/>
              </a:rPr>
              <a:t>Métriques de base et contrôles, utilisés partout</a:t>
            </a:r>
            <a:endParaRPr lang="en-US" sz="2800" dirty="0"/>
          </a:p>
        </p:txBody>
      </p:sp>
      <p:sp>
        <p:nvSpPr>
          <p:cNvPr id="4" name="dot0"/>
          <p:cNvSpPr/>
          <p:nvPr/>
        </p:nvSpPr>
        <p:spPr>
          <a:xfrm>
            <a:off x="7644384" y="338328"/>
            <a:ext cx="100584" cy="100584"/>
          </a:xfrm>
          <a:prstGeom prst="ellipse">
            <a:avLst/>
          </a:prstGeom>
          <a:solidFill>
            <a:srgbClr val="D5DED9"/>
          </a:solidFill>
          <a:ln w="12700">
            <a:solidFill>
              <a:srgbClr val="D5DED9"/>
            </a:solidFill>
            <a:prstDash val="solid"/>
          </a:ln>
        </p:spPr>
      </p:sp>
      <p:sp>
        <p:nvSpPr>
          <p:cNvPr id="5" name="dot1"/>
          <p:cNvSpPr/>
          <p:nvPr/>
        </p:nvSpPr>
        <p:spPr>
          <a:xfrm>
            <a:off x="7818120" y="338328"/>
            <a:ext cx="100584" cy="100584"/>
          </a:xfrm>
          <a:prstGeom prst="ellipse">
            <a:avLst/>
          </a:prstGeom>
          <a:solidFill>
            <a:srgbClr val="D5DED9"/>
          </a:solidFill>
          <a:ln w="12700">
            <a:solidFill>
              <a:srgbClr val="D5DED9"/>
            </a:solidFill>
            <a:prstDash val="solid"/>
          </a:ln>
        </p:spPr>
      </p:sp>
      <p:sp>
        <p:nvSpPr>
          <p:cNvPr id="6" name="dot2"/>
          <p:cNvSpPr/>
          <p:nvPr/>
        </p:nvSpPr>
        <p:spPr>
          <a:xfrm>
            <a:off x="7991856" y="338328"/>
            <a:ext cx="100584" cy="100584"/>
          </a:xfrm>
          <a:prstGeom prst="ellipse">
            <a:avLst/>
          </a:prstGeom>
          <a:solidFill>
            <a:srgbClr val="D5DED9"/>
          </a:solidFill>
          <a:ln w="12700">
            <a:solidFill>
              <a:srgbClr val="D5DED9"/>
            </a:solidFill>
            <a:prstDash val="solid"/>
          </a:ln>
        </p:spPr>
      </p:sp>
      <p:sp>
        <p:nvSpPr>
          <p:cNvPr id="7" name="dot3"/>
          <p:cNvSpPr/>
          <p:nvPr/>
        </p:nvSpPr>
        <p:spPr>
          <a:xfrm>
            <a:off x="8165592" y="338328"/>
            <a:ext cx="100584" cy="100584"/>
          </a:xfrm>
          <a:prstGeom prst="ellipse">
            <a:avLst/>
          </a:prstGeom>
          <a:solidFill>
            <a:srgbClr val="D49A00"/>
          </a:solidFill>
          <a:ln w="12700">
            <a:solidFill>
              <a:srgbClr val="D49A00"/>
            </a:solidFill>
            <a:prstDash val="solid"/>
          </a:ln>
        </p:spPr>
      </p:sp>
      <p:sp>
        <p:nvSpPr>
          <p:cNvPr id="8" name="dot4"/>
          <p:cNvSpPr/>
          <p:nvPr/>
        </p:nvSpPr>
        <p:spPr>
          <a:xfrm>
            <a:off x="8339328" y="338328"/>
            <a:ext cx="100584" cy="100584"/>
          </a:xfrm>
          <a:prstGeom prst="ellipse">
            <a:avLst/>
          </a:prstGeom>
          <a:solidFill>
            <a:srgbClr val="D5DED9"/>
          </a:solidFill>
          <a:ln w="12700">
            <a:solidFill>
              <a:srgbClr val="D5DED9"/>
            </a:solidFill>
            <a:prstDash val="solid"/>
          </a:ln>
        </p:spPr>
      </p:sp>
      <p:sp>
        <p:nvSpPr>
          <p:cNvPr id="9" name="dot5"/>
          <p:cNvSpPr/>
          <p:nvPr/>
        </p:nvSpPr>
        <p:spPr>
          <a:xfrm>
            <a:off x="8513064" y="338328"/>
            <a:ext cx="100584" cy="100584"/>
          </a:xfrm>
          <a:prstGeom prst="ellipse">
            <a:avLst/>
          </a:prstGeom>
          <a:solidFill>
            <a:srgbClr val="D5DED9"/>
          </a:solidFill>
          <a:ln w="12700">
            <a:solidFill>
              <a:srgbClr val="D5DED9"/>
            </a:solidFill>
            <a:prstDash val="solid"/>
          </a:ln>
        </p:spPr>
      </p:sp>
      <p:sp>
        <p:nvSpPr>
          <p:cNvPr id="11" name="Text 8"/>
          <p:cNvSpPr txBox="1"/>
          <p:nvPr/>
        </p:nvSpPr>
        <p:spPr>
          <a:xfrm>
            <a:off x="548640" y="1353312"/>
            <a:ext cx="1783080" cy="219456"/>
          </a:xfrm>
          <a:prstGeom prst="rect">
            <a:avLst/>
          </a:prstGeom>
          <a:noFill/>
          <a:ln/>
        </p:spPr>
        <p:txBody>
          <a:bodyPr wrap="square" lIns="0" tIns="0" rIns="0" bIns="0" rtlCol="0" anchor="ctr"/>
          <a:lstStyle/>
          <a:p>
            <a:pPr indent="0" marL="0">
              <a:buNone/>
            </a:pPr>
            <a:r>
              <a:rPr lang="en-US" sz="900" b="1" spc="200" kern="0" dirty="0">
                <a:solidFill>
                  <a:srgbClr val="D49A00"/>
                </a:solidFill>
                <a:latin typeface="Calibri" pitchFamily="34" charset="0"/>
                <a:ea typeface="Calibri" pitchFamily="34" charset="-122"/>
                <a:cs typeface="Calibri" pitchFamily="34" charset="-120"/>
              </a:rPr>
              <a:t>MÉTRIQUE</a:t>
            </a:r>
            <a:endParaRPr lang="en-US" sz="900" dirty="0"/>
          </a:p>
        </p:txBody>
      </p:sp>
      <p:sp>
        <p:nvSpPr>
          <p:cNvPr id="12" name="Text 9"/>
          <p:cNvSpPr txBox="1"/>
          <p:nvPr/>
        </p:nvSpPr>
        <p:spPr>
          <a:xfrm>
            <a:off x="2423160" y="1353312"/>
            <a:ext cx="2971800" cy="219456"/>
          </a:xfrm>
          <a:prstGeom prst="rect">
            <a:avLst/>
          </a:prstGeom>
          <a:noFill/>
          <a:ln/>
        </p:spPr>
        <p:txBody>
          <a:bodyPr wrap="square" lIns="0" tIns="0" rIns="0" bIns="0" rtlCol="0" anchor="ctr"/>
          <a:lstStyle/>
          <a:p>
            <a:pPr indent="0" marL="0">
              <a:buNone/>
            </a:pPr>
            <a:r>
              <a:rPr lang="en-US" sz="900" b="1" spc="200" kern="0" dirty="0">
                <a:solidFill>
                  <a:srgbClr val="D49A00"/>
                </a:solidFill>
                <a:latin typeface="Calibri" pitchFamily="34" charset="0"/>
                <a:ea typeface="Calibri" pitchFamily="34" charset="-122"/>
                <a:cs typeface="Calibri" pitchFamily="34" charset="-120"/>
              </a:rPr>
              <a:t>DÉFINITION / FORMULE</a:t>
            </a:r>
            <a:endParaRPr lang="en-US" sz="900" dirty="0"/>
          </a:p>
        </p:txBody>
      </p:sp>
      <p:sp>
        <p:nvSpPr>
          <p:cNvPr id="13" name="Text 10"/>
          <p:cNvSpPr txBox="1"/>
          <p:nvPr/>
        </p:nvSpPr>
        <p:spPr>
          <a:xfrm>
            <a:off x="5486400" y="1353312"/>
            <a:ext cx="3200400" cy="219456"/>
          </a:xfrm>
          <a:prstGeom prst="rect">
            <a:avLst/>
          </a:prstGeom>
          <a:noFill/>
          <a:ln/>
        </p:spPr>
        <p:txBody>
          <a:bodyPr wrap="square" lIns="0" tIns="0" rIns="0" bIns="0" rtlCol="0" anchor="ctr"/>
          <a:lstStyle/>
          <a:p>
            <a:pPr indent="0" marL="0">
              <a:buNone/>
            </a:pPr>
            <a:r>
              <a:rPr lang="en-US" sz="900" b="1" spc="200" kern="0" dirty="0">
                <a:solidFill>
                  <a:srgbClr val="D49A00"/>
                </a:solidFill>
                <a:latin typeface="Calibri" pitchFamily="34" charset="0"/>
                <a:ea typeface="Calibri" pitchFamily="34" charset="-122"/>
                <a:cs typeface="Calibri" pitchFamily="34" charset="-120"/>
              </a:rPr>
              <a:t>COMMENT LA LIRE</a:t>
            </a:r>
            <a:endParaRPr lang="en-US" sz="900" dirty="0"/>
          </a:p>
        </p:txBody>
      </p:sp>
      <p:sp>
        <p:nvSpPr>
          <p:cNvPr id="14" name="Shape 11"/>
          <p:cNvSpPr/>
          <p:nvPr/>
        </p:nvSpPr>
        <p:spPr>
          <a:xfrm>
            <a:off x="457200" y="1609344"/>
            <a:ext cx="8229600" cy="384048"/>
          </a:xfrm>
          <a:prstGeom prst="roundRect">
            <a:avLst>
              <a:gd name="adj" fmla="val 11905"/>
            </a:avLst>
          </a:prstGeom>
          <a:solidFill>
            <a:srgbClr val="F4F7F5"/>
          </a:solidFill>
          <a:ln w="6350">
            <a:solidFill>
              <a:srgbClr val="D5DED9"/>
            </a:solidFill>
            <a:prstDash val="solid"/>
          </a:ln>
        </p:spPr>
      </p:sp>
      <p:sp>
        <p:nvSpPr>
          <p:cNvPr id="15" name="Text 12"/>
          <p:cNvSpPr txBox="1"/>
          <p:nvPr/>
        </p:nvSpPr>
        <p:spPr>
          <a:xfrm>
            <a:off x="548640" y="1609344"/>
            <a:ext cx="1737360" cy="384048"/>
          </a:xfrm>
          <a:prstGeom prst="rect">
            <a:avLst/>
          </a:prstGeom>
          <a:noFill/>
          <a:ln/>
        </p:spPr>
        <p:txBody>
          <a:bodyPr wrap="square" lIns="0" tIns="0" rIns="0" bIns="0" rtlCol="0" anchor="ctr"/>
          <a:lstStyle/>
          <a:p>
            <a:pPr indent="0" marL="0">
              <a:buNone/>
            </a:pPr>
            <a:r>
              <a:rPr lang="en-US" sz="1050" b="1" dirty="0">
                <a:solidFill>
                  <a:srgbClr val="231F20"/>
                </a:solidFill>
                <a:latin typeface="Calibri" pitchFamily="34" charset="0"/>
                <a:ea typeface="Calibri" pitchFamily="34" charset="-122"/>
                <a:cs typeface="Calibri" pitchFamily="34" charset="-120"/>
              </a:rPr>
              <a:t>Somme des lumières (SoL)</a:t>
            </a:r>
            <a:endParaRPr lang="en-US" sz="1050" dirty="0"/>
          </a:p>
        </p:txBody>
      </p:sp>
      <p:sp>
        <p:nvSpPr>
          <p:cNvPr id="16" name="Text 13"/>
          <p:cNvSpPr txBox="1"/>
          <p:nvPr/>
        </p:nvSpPr>
        <p:spPr>
          <a:xfrm>
            <a:off x="2331720" y="1609344"/>
            <a:ext cx="2971800" cy="384048"/>
          </a:xfrm>
          <a:prstGeom prst="rect">
            <a:avLst/>
          </a:prstGeom>
          <a:noFill/>
          <a:ln/>
        </p:spPr>
        <p:txBody>
          <a:bodyPr wrap="square" lIns="0" tIns="0" rIns="0" bIns="0" rtlCol="0" anchor="ctr"/>
          <a:lstStyle/>
          <a:p>
            <a:pPr indent="0" marL="0">
              <a:buNone/>
            </a:pPr>
            <a:r>
              <a:rPr lang="en-US" sz="1000" dirty="0">
                <a:solidFill>
                  <a:srgbClr val="0E7C86"/>
                </a:solidFill>
                <a:latin typeface="Calibri" pitchFamily="34" charset="0"/>
                <a:ea typeface="Calibri" pitchFamily="34" charset="-122"/>
                <a:cs typeface="Calibri" pitchFamily="34" charset="-120"/>
              </a:rPr>
              <a:t>Σ radiance des pixels nettoyés de l'unité</a:t>
            </a:r>
            <a:endParaRPr lang="en-US" sz="1000" dirty="0"/>
          </a:p>
        </p:txBody>
      </p:sp>
      <p:sp>
        <p:nvSpPr>
          <p:cNvPr id="17" name="Text 14"/>
          <p:cNvSpPr txBox="1"/>
          <p:nvPr/>
        </p:nvSpPr>
        <p:spPr>
          <a:xfrm>
            <a:off x="5394960" y="1609344"/>
            <a:ext cx="3200400" cy="384048"/>
          </a:xfrm>
          <a:prstGeom prst="rect">
            <a:avLst/>
          </a:prstGeom>
          <a:noFill/>
          <a:ln/>
        </p:spPr>
        <p:txBody>
          <a:bodyPr wrap="square" lIns="0" tIns="0" rIns="0" bIns="0" rtlCol="0" anchor="ctr"/>
          <a:lstStyle/>
          <a:p>
            <a:pPr indent="0" marL="0">
              <a:buNone/>
            </a:pPr>
            <a:r>
              <a:rPr lang="en-US" sz="950" dirty="0">
                <a:solidFill>
                  <a:srgbClr val="5E6964"/>
                </a:solidFill>
                <a:latin typeface="Calibri" pitchFamily="34" charset="0"/>
                <a:ea typeface="Calibri" pitchFamily="34" charset="-122"/>
                <a:cs typeface="Calibri" pitchFamily="34" charset="-120"/>
              </a:rPr>
              <a:t>Indice d'activité ; comparer dans le temps, avec prudence entre latitudes</a:t>
            </a:r>
            <a:endParaRPr lang="en-US" sz="950" dirty="0"/>
          </a:p>
        </p:txBody>
      </p:sp>
      <p:sp>
        <p:nvSpPr>
          <p:cNvPr id="18" name="Shape 15"/>
          <p:cNvSpPr/>
          <p:nvPr/>
        </p:nvSpPr>
        <p:spPr>
          <a:xfrm>
            <a:off x="457200" y="2048256"/>
            <a:ext cx="8229600" cy="384048"/>
          </a:xfrm>
          <a:prstGeom prst="roundRect">
            <a:avLst>
              <a:gd name="adj" fmla="val 11905"/>
            </a:avLst>
          </a:prstGeom>
          <a:solidFill>
            <a:srgbClr val="FFFFFF"/>
          </a:solidFill>
          <a:ln w="6350">
            <a:solidFill>
              <a:srgbClr val="D5DED9"/>
            </a:solidFill>
            <a:prstDash val="solid"/>
          </a:ln>
        </p:spPr>
      </p:sp>
      <p:sp>
        <p:nvSpPr>
          <p:cNvPr id="19" name="Text 16"/>
          <p:cNvSpPr txBox="1"/>
          <p:nvPr/>
        </p:nvSpPr>
        <p:spPr>
          <a:xfrm>
            <a:off x="548640" y="2048256"/>
            <a:ext cx="1737360" cy="384048"/>
          </a:xfrm>
          <a:prstGeom prst="rect">
            <a:avLst/>
          </a:prstGeom>
          <a:noFill/>
          <a:ln/>
        </p:spPr>
        <p:txBody>
          <a:bodyPr wrap="square" lIns="0" tIns="0" rIns="0" bIns="0" rtlCol="0" anchor="ctr"/>
          <a:lstStyle/>
          <a:p>
            <a:pPr indent="0" marL="0">
              <a:buNone/>
            </a:pPr>
            <a:r>
              <a:rPr lang="en-US" sz="1050" b="1" dirty="0">
                <a:solidFill>
                  <a:srgbClr val="231F20"/>
                </a:solidFill>
                <a:latin typeface="Calibri" pitchFamily="34" charset="0"/>
                <a:ea typeface="Calibri" pitchFamily="34" charset="-122"/>
                <a:cs typeface="Calibri" pitchFamily="34" charset="-120"/>
              </a:rPr>
              <a:t>Lumière par habitant</a:t>
            </a:r>
            <a:endParaRPr lang="en-US" sz="1050" dirty="0"/>
          </a:p>
        </p:txBody>
      </p:sp>
      <p:sp>
        <p:nvSpPr>
          <p:cNvPr id="20" name="Text 17"/>
          <p:cNvSpPr txBox="1"/>
          <p:nvPr/>
        </p:nvSpPr>
        <p:spPr>
          <a:xfrm>
            <a:off x="2331720" y="2048256"/>
            <a:ext cx="2971800" cy="384048"/>
          </a:xfrm>
          <a:prstGeom prst="rect">
            <a:avLst/>
          </a:prstGeom>
          <a:noFill/>
          <a:ln/>
        </p:spPr>
        <p:txBody>
          <a:bodyPr wrap="square" lIns="0" tIns="0" rIns="0" bIns="0" rtlCol="0" anchor="ctr"/>
          <a:lstStyle/>
          <a:p>
            <a:pPr indent="0" marL="0">
              <a:buNone/>
            </a:pPr>
            <a:r>
              <a:rPr lang="en-US" sz="1000" dirty="0">
                <a:solidFill>
                  <a:srgbClr val="0E7C86"/>
                </a:solidFill>
                <a:latin typeface="Calibri" pitchFamily="34" charset="0"/>
                <a:ea typeface="Calibri" pitchFamily="34" charset="-122"/>
                <a:cs typeface="Calibri" pitchFamily="34" charset="-120"/>
              </a:rPr>
              <a:t>SoL / population</a:t>
            </a:r>
            <a:endParaRPr lang="en-US" sz="1000" dirty="0"/>
          </a:p>
        </p:txBody>
      </p:sp>
      <p:sp>
        <p:nvSpPr>
          <p:cNvPr id="21" name="Text 18"/>
          <p:cNvSpPr txBox="1"/>
          <p:nvPr/>
        </p:nvSpPr>
        <p:spPr>
          <a:xfrm>
            <a:off x="5394960" y="2048256"/>
            <a:ext cx="3200400" cy="384048"/>
          </a:xfrm>
          <a:prstGeom prst="rect">
            <a:avLst/>
          </a:prstGeom>
          <a:noFill/>
          <a:ln/>
        </p:spPr>
        <p:txBody>
          <a:bodyPr wrap="square" lIns="0" tIns="0" rIns="0" bIns="0" rtlCol="0" anchor="ctr"/>
          <a:lstStyle/>
          <a:p>
            <a:pPr indent="0" marL="0">
              <a:buNone/>
            </a:pPr>
            <a:r>
              <a:rPr lang="en-US" sz="950" dirty="0">
                <a:solidFill>
                  <a:srgbClr val="5E6964"/>
                </a:solidFill>
                <a:latin typeface="Calibri" pitchFamily="34" charset="0"/>
                <a:ea typeface="Calibri" pitchFamily="34" charset="-122"/>
                <a:cs typeface="Calibri" pitchFamily="34" charset="-120"/>
              </a:rPr>
              <a:t>Zone active vs simplement peuplée</a:t>
            </a:r>
            <a:endParaRPr lang="en-US" sz="950" dirty="0"/>
          </a:p>
        </p:txBody>
      </p:sp>
      <p:sp>
        <p:nvSpPr>
          <p:cNvPr id="22" name="Shape 19"/>
          <p:cNvSpPr/>
          <p:nvPr/>
        </p:nvSpPr>
        <p:spPr>
          <a:xfrm>
            <a:off x="457200" y="2487168"/>
            <a:ext cx="8229600" cy="384048"/>
          </a:xfrm>
          <a:prstGeom prst="roundRect">
            <a:avLst>
              <a:gd name="adj" fmla="val 11905"/>
            </a:avLst>
          </a:prstGeom>
          <a:solidFill>
            <a:srgbClr val="F4F7F5"/>
          </a:solidFill>
          <a:ln w="6350">
            <a:solidFill>
              <a:srgbClr val="D5DED9"/>
            </a:solidFill>
            <a:prstDash val="solid"/>
          </a:ln>
        </p:spPr>
      </p:sp>
      <p:sp>
        <p:nvSpPr>
          <p:cNvPr id="23" name="Text 20"/>
          <p:cNvSpPr txBox="1"/>
          <p:nvPr/>
        </p:nvSpPr>
        <p:spPr>
          <a:xfrm>
            <a:off x="548640" y="2487168"/>
            <a:ext cx="1737360" cy="384048"/>
          </a:xfrm>
          <a:prstGeom prst="rect">
            <a:avLst/>
          </a:prstGeom>
          <a:noFill/>
          <a:ln/>
        </p:spPr>
        <p:txBody>
          <a:bodyPr wrap="square" lIns="0" tIns="0" rIns="0" bIns="0" rtlCol="0" anchor="ctr"/>
          <a:lstStyle/>
          <a:p>
            <a:pPr indent="0" marL="0">
              <a:buNone/>
            </a:pPr>
            <a:r>
              <a:rPr lang="en-US" sz="1050" b="1" dirty="0">
                <a:solidFill>
                  <a:srgbClr val="231F20"/>
                </a:solidFill>
                <a:latin typeface="Calibri" pitchFamily="34" charset="0"/>
                <a:ea typeface="Calibri" pitchFamily="34" charset="-122"/>
                <a:cs typeface="Calibri" pitchFamily="34" charset="-120"/>
              </a:rPr>
              <a:t>Part de surface éclairée</a:t>
            </a:r>
            <a:endParaRPr lang="en-US" sz="1050" dirty="0"/>
          </a:p>
        </p:txBody>
      </p:sp>
      <p:sp>
        <p:nvSpPr>
          <p:cNvPr id="24" name="Text 21"/>
          <p:cNvSpPr txBox="1"/>
          <p:nvPr/>
        </p:nvSpPr>
        <p:spPr>
          <a:xfrm>
            <a:off x="2331720" y="2487168"/>
            <a:ext cx="2971800" cy="384048"/>
          </a:xfrm>
          <a:prstGeom prst="rect">
            <a:avLst/>
          </a:prstGeom>
          <a:noFill/>
          <a:ln/>
        </p:spPr>
        <p:txBody>
          <a:bodyPr wrap="square" lIns="0" tIns="0" rIns="0" bIns="0" rtlCol="0" anchor="ctr"/>
          <a:lstStyle/>
          <a:p>
            <a:pPr indent="0" marL="0">
              <a:buNone/>
            </a:pPr>
            <a:r>
              <a:rPr lang="en-US" sz="1000" dirty="0">
                <a:solidFill>
                  <a:srgbClr val="0E7C86"/>
                </a:solidFill>
                <a:latin typeface="Calibri" pitchFamily="34" charset="0"/>
                <a:ea typeface="Calibri" pitchFamily="34" charset="-122"/>
                <a:cs typeface="Calibri" pitchFamily="34" charset="-120"/>
              </a:rPr>
              <a:t>surface à radiance ≥ 0,5 nW / surface de l'unité</a:t>
            </a:r>
            <a:endParaRPr lang="en-US" sz="1000" dirty="0"/>
          </a:p>
        </p:txBody>
      </p:sp>
      <p:sp>
        <p:nvSpPr>
          <p:cNvPr id="25" name="Text 22"/>
          <p:cNvSpPr txBox="1"/>
          <p:nvPr/>
        </p:nvSpPr>
        <p:spPr>
          <a:xfrm>
            <a:off x="5394960" y="2487168"/>
            <a:ext cx="3200400" cy="384048"/>
          </a:xfrm>
          <a:prstGeom prst="rect">
            <a:avLst/>
          </a:prstGeom>
          <a:noFill/>
          <a:ln/>
        </p:spPr>
        <p:txBody>
          <a:bodyPr wrap="square" lIns="0" tIns="0" rIns="0" bIns="0" rtlCol="0" anchor="ctr"/>
          <a:lstStyle/>
          <a:p>
            <a:pPr indent="0" marL="0">
              <a:buNone/>
            </a:pPr>
            <a:r>
              <a:rPr lang="en-US" sz="950" dirty="0">
                <a:solidFill>
                  <a:srgbClr val="5E6964"/>
                </a:solidFill>
                <a:latin typeface="Calibri" pitchFamily="34" charset="0"/>
                <a:ea typeface="Calibri" pitchFamily="34" charset="-122"/>
                <a:cs typeface="Calibri" pitchFamily="34" charset="-120"/>
              </a:rPr>
              <a:t>Étendue spatiale de l'électrification et du peuplement</a:t>
            </a:r>
            <a:endParaRPr lang="en-US" sz="950" dirty="0"/>
          </a:p>
        </p:txBody>
      </p:sp>
      <p:sp>
        <p:nvSpPr>
          <p:cNvPr id="26" name="Shape 23"/>
          <p:cNvSpPr/>
          <p:nvPr/>
        </p:nvSpPr>
        <p:spPr>
          <a:xfrm>
            <a:off x="457200" y="2926080"/>
            <a:ext cx="8229600" cy="384048"/>
          </a:xfrm>
          <a:prstGeom prst="roundRect">
            <a:avLst>
              <a:gd name="adj" fmla="val 11905"/>
            </a:avLst>
          </a:prstGeom>
          <a:solidFill>
            <a:srgbClr val="FFFFFF"/>
          </a:solidFill>
          <a:ln w="6350">
            <a:solidFill>
              <a:srgbClr val="D5DED9"/>
            </a:solidFill>
            <a:prstDash val="solid"/>
          </a:ln>
        </p:spPr>
      </p:sp>
      <p:sp>
        <p:nvSpPr>
          <p:cNvPr id="27" name="Text 24"/>
          <p:cNvSpPr txBox="1"/>
          <p:nvPr/>
        </p:nvSpPr>
        <p:spPr>
          <a:xfrm>
            <a:off x="548640" y="2926080"/>
            <a:ext cx="1737360" cy="384048"/>
          </a:xfrm>
          <a:prstGeom prst="rect">
            <a:avLst/>
          </a:prstGeom>
          <a:noFill/>
          <a:ln/>
        </p:spPr>
        <p:txBody>
          <a:bodyPr wrap="square" lIns="0" tIns="0" rIns="0" bIns="0" rtlCol="0" anchor="ctr"/>
          <a:lstStyle/>
          <a:p>
            <a:pPr indent="0" marL="0">
              <a:buNone/>
            </a:pPr>
            <a:r>
              <a:rPr lang="en-US" sz="1050" b="1" dirty="0">
                <a:solidFill>
                  <a:srgbClr val="231F20"/>
                </a:solidFill>
                <a:latin typeface="Calibri" pitchFamily="34" charset="0"/>
                <a:ea typeface="Calibri" pitchFamily="34" charset="-122"/>
                <a:cs typeface="Calibri" pitchFamily="34" charset="-120"/>
              </a:rPr>
              <a:t>Part des torchères</a:t>
            </a:r>
            <a:endParaRPr lang="en-US" sz="1050" dirty="0"/>
          </a:p>
        </p:txBody>
      </p:sp>
      <p:sp>
        <p:nvSpPr>
          <p:cNvPr id="28" name="Text 25"/>
          <p:cNvSpPr txBox="1"/>
          <p:nvPr/>
        </p:nvSpPr>
        <p:spPr>
          <a:xfrm>
            <a:off x="2331720" y="2926080"/>
            <a:ext cx="2971800" cy="384048"/>
          </a:xfrm>
          <a:prstGeom prst="rect">
            <a:avLst/>
          </a:prstGeom>
          <a:noFill/>
          <a:ln/>
        </p:spPr>
        <p:txBody>
          <a:bodyPr wrap="square" lIns="0" tIns="0" rIns="0" bIns="0" rtlCol="0" anchor="ctr"/>
          <a:lstStyle/>
          <a:p>
            <a:pPr indent="0" marL="0">
              <a:buNone/>
            </a:pPr>
            <a:r>
              <a:rPr lang="en-US" sz="1000" dirty="0">
                <a:solidFill>
                  <a:srgbClr val="0E7C86"/>
                </a:solidFill>
                <a:latin typeface="Calibri" pitchFamily="34" charset="0"/>
                <a:ea typeface="Calibri" pitchFamily="34" charset="-122"/>
                <a:cs typeface="Calibri" pitchFamily="34" charset="-120"/>
              </a:rPr>
              <a:t>flare_sol / sol_raw</a:t>
            </a:r>
            <a:endParaRPr lang="en-US" sz="1000" dirty="0"/>
          </a:p>
        </p:txBody>
      </p:sp>
      <p:sp>
        <p:nvSpPr>
          <p:cNvPr id="29" name="Text 26"/>
          <p:cNvSpPr txBox="1"/>
          <p:nvPr/>
        </p:nvSpPr>
        <p:spPr>
          <a:xfrm>
            <a:off x="5394960" y="2926080"/>
            <a:ext cx="3200400" cy="384048"/>
          </a:xfrm>
          <a:prstGeom prst="rect">
            <a:avLst/>
          </a:prstGeom>
          <a:noFill/>
          <a:ln/>
        </p:spPr>
        <p:txBody>
          <a:bodyPr wrap="square" lIns="0" tIns="0" rIns="0" bIns="0" rtlCol="0" anchor="ctr"/>
          <a:lstStyle/>
          <a:p>
            <a:pPr indent="0" marL="0">
              <a:buNone/>
            </a:pPr>
            <a:r>
              <a:rPr lang="en-US" sz="950" dirty="0">
                <a:solidFill>
                  <a:srgbClr val="5E6964"/>
                </a:solidFill>
                <a:latin typeface="Calibri" pitchFamily="34" charset="0"/>
                <a:ea typeface="Calibri" pitchFamily="34" charset="-122"/>
                <a:cs typeface="Calibri" pitchFamily="34" charset="-120"/>
              </a:rPr>
              <a:t>Élevée → la lumière pétrolière domine ; résultats moins fiables</a:t>
            </a:r>
            <a:endParaRPr lang="en-US" sz="950" dirty="0"/>
          </a:p>
        </p:txBody>
      </p:sp>
      <p:sp>
        <p:nvSpPr>
          <p:cNvPr id="30" name="Shape 27"/>
          <p:cNvSpPr/>
          <p:nvPr/>
        </p:nvSpPr>
        <p:spPr>
          <a:xfrm>
            <a:off x="457200" y="3364992"/>
            <a:ext cx="8229600" cy="384048"/>
          </a:xfrm>
          <a:prstGeom prst="roundRect">
            <a:avLst>
              <a:gd name="adj" fmla="val 11905"/>
            </a:avLst>
          </a:prstGeom>
          <a:solidFill>
            <a:srgbClr val="F4F7F5"/>
          </a:solidFill>
          <a:ln w="6350">
            <a:solidFill>
              <a:srgbClr val="D5DED9"/>
            </a:solidFill>
            <a:prstDash val="solid"/>
          </a:ln>
        </p:spPr>
      </p:sp>
      <p:sp>
        <p:nvSpPr>
          <p:cNvPr id="31" name="Text 28"/>
          <p:cNvSpPr txBox="1"/>
          <p:nvPr/>
        </p:nvSpPr>
        <p:spPr>
          <a:xfrm>
            <a:off x="548640" y="3364992"/>
            <a:ext cx="1737360" cy="384048"/>
          </a:xfrm>
          <a:prstGeom prst="rect">
            <a:avLst/>
          </a:prstGeom>
          <a:noFill/>
          <a:ln/>
        </p:spPr>
        <p:txBody>
          <a:bodyPr wrap="square" lIns="0" tIns="0" rIns="0" bIns="0" rtlCol="0" anchor="ctr"/>
          <a:lstStyle/>
          <a:p>
            <a:pPr indent="0" marL="0">
              <a:buNone/>
            </a:pPr>
            <a:r>
              <a:rPr lang="en-US" sz="1050" b="1" dirty="0">
                <a:solidFill>
                  <a:srgbClr val="231F20"/>
                </a:solidFill>
                <a:latin typeface="Calibri" pitchFamily="34" charset="0"/>
                <a:ea typeface="Calibri" pitchFamily="34" charset="-122"/>
                <a:cs typeface="Calibri" pitchFamily="34" charset="-120"/>
              </a:rPr>
              <a:t>Part imputée</a:t>
            </a:r>
            <a:endParaRPr lang="en-US" sz="1050" dirty="0"/>
          </a:p>
        </p:txBody>
      </p:sp>
      <p:sp>
        <p:nvSpPr>
          <p:cNvPr id="32" name="Text 29"/>
          <p:cNvSpPr txBox="1"/>
          <p:nvPr/>
        </p:nvSpPr>
        <p:spPr>
          <a:xfrm>
            <a:off x="2331720" y="3364992"/>
            <a:ext cx="2971800" cy="384048"/>
          </a:xfrm>
          <a:prstGeom prst="rect">
            <a:avLst/>
          </a:prstGeom>
          <a:noFill/>
          <a:ln/>
        </p:spPr>
        <p:txBody>
          <a:bodyPr wrap="square" lIns="0" tIns="0" rIns="0" bIns="0" rtlCol="0" anchor="ctr"/>
          <a:lstStyle/>
          <a:p>
            <a:pPr indent="0" marL="0">
              <a:buNone/>
            </a:pPr>
            <a:r>
              <a:rPr lang="en-US" sz="1000" dirty="0">
                <a:solidFill>
                  <a:srgbClr val="0E7C86"/>
                </a:solidFill>
                <a:latin typeface="Calibri" pitchFamily="34" charset="0"/>
                <a:ea typeface="Calibri" pitchFamily="34" charset="-122"/>
                <a:cs typeface="Calibri" pitchFamily="34" charset="-120"/>
              </a:rPr>
              <a:t>lumière imputée (pixels nuageux) / SoL</a:t>
            </a:r>
            <a:endParaRPr lang="en-US" sz="1000" dirty="0"/>
          </a:p>
        </p:txBody>
      </p:sp>
      <p:sp>
        <p:nvSpPr>
          <p:cNvPr id="33" name="Text 30"/>
          <p:cNvSpPr txBox="1"/>
          <p:nvPr/>
        </p:nvSpPr>
        <p:spPr>
          <a:xfrm>
            <a:off x="5394960" y="3364992"/>
            <a:ext cx="3200400" cy="384048"/>
          </a:xfrm>
          <a:prstGeom prst="rect">
            <a:avLst/>
          </a:prstGeom>
          <a:noFill/>
          <a:ln/>
        </p:spPr>
        <p:txBody>
          <a:bodyPr wrap="square" lIns="0" tIns="0" rIns="0" bIns="0" rtlCol="0" anchor="ctr"/>
          <a:lstStyle/>
          <a:p>
            <a:pPr indent="0" marL="0">
              <a:buNone/>
            </a:pPr>
            <a:r>
              <a:rPr lang="en-US" sz="950" dirty="0">
                <a:solidFill>
                  <a:srgbClr val="5E6964"/>
                </a:solidFill>
                <a:latin typeface="Calibri" pitchFamily="34" charset="0"/>
                <a:ea typeface="Calibri" pitchFamily="34" charset="-122"/>
                <a:cs typeface="Calibri" pitchFamily="34" charset="-120"/>
              </a:rPr>
              <a:t>Élevée → le mois repose sur des valeurs annuelles</a:t>
            </a:r>
            <a:endParaRPr lang="en-US" sz="950" dirty="0"/>
          </a:p>
        </p:txBody>
      </p:sp>
      <p:pic>
        <p:nvPicPr>
          <p:cNvPr id="34" name="Image 0" descr="preencoded.png">    </p:cNvPr>
          <p:cNvPicPr>
            <a:picLocks noChangeAspect="1"/>
          </p:cNvPicPr>
          <p:nvPr/>
        </p:nvPicPr>
        <p:blipFill>
          <a:blip r:embed="rId1"/>
          <a:stretch>
            <a:fillRect/>
          </a:stretch>
        </p:blipFill>
        <p:spPr>
          <a:xfrm>
            <a:off x="457200" y="4206240"/>
            <a:ext cx="201168" cy="201168"/>
          </a:xfrm>
          <a:prstGeom prst="rect">
            <a:avLst/>
          </a:prstGeom>
        </p:spPr>
      </p:pic>
      <p:sp>
        <p:nvSpPr>
          <p:cNvPr id="35" name="Text 31"/>
          <p:cNvSpPr txBox="1"/>
          <p:nvPr/>
        </p:nvSpPr>
        <p:spPr>
          <a:xfrm>
            <a:off x="731520" y="4160520"/>
            <a:ext cx="2468880" cy="310896"/>
          </a:xfrm>
          <a:prstGeom prst="rect">
            <a:avLst/>
          </a:prstGeom>
          <a:noFill/>
          <a:ln/>
        </p:spPr>
        <p:txBody>
          <a:bodyPr wrap="square" lIns="0" tIns="0" rIns="0" bIns="0" rtlCol="0" anchor="ctr"/>
          <a:lstStyle/>
          <a:p>
            <a:pPr indent="0" marL="0">
              <a:buNone/>
            </a:pPr>
            <a:r>
              <a:rPr lang="en-US" sz="950" dirty="0">
                <a:solidFill>
                  <a:srgbClr val="231F20"/>
                </a:solidFill>
                <a:latin typeface="Calibri" pitchFamily="34" charset="0"/>
                <a:ea typeface="Calibri" pitchFamily="34" charset="-122"/>
                <a:cs typeface="Calibri" pitchFamily="34" charset="-120"/>
              </a:rPr>
              <a:t>Population GHSL / Banque mondiale dans [0,7 ; 1,3]</a:t>
            </a:r>
            <a:endParaRPr lang="en-US" sz="950" dirty="0"/>
          </a:p>
        </p:txBody>
      </p:sp>
      <p:pic>
        <p:nvPicPr>
          <p:cNvPr id="36" name="Image 1" descr="preencoded.png">    </p:cNvPr>
          <p:cNvPicPr>
            <a:picLocks noChangeAspect="1"/>
          </p:cNvPicPr>
          <p:nvPr/>
        </p:nvPicPr>
        <p:blipFill>
          <a:blip r:embed="rId2"/>
          <a:stretch>
            <a:fillRect/>
          </a:stretch>
        </p:blipFill>
        <p:spPr>
          <a:xfrm>
            <a:off x="3246120" y="4206240"/>
            <a:ext cx="201168" cy="201168"/>
          </a:xfrm>
          <a:prstGeom prst="rect">
            <a:avLst/>
          </a:prstGeom>
        </p:spPr>
      </p:pic>
      <p:sp>
        <p:nvSpPr>
          <p:cNvPr id="37" name="Text 32"/>
          <p:cNvSpPr txBox="1"/>
          <p:nvPr/>
        </p:nvSpPr>
        <p:spPr>
          <a:xfrm>
            <a:off x="3520440" y="4160520"/>
            <a:ext cx="2468880" cy="310896"/>
          </a:xfrm>
          <a:prstGeom prst="rect">
            <a:avLst/>
          </a:prstGeom>
          <a:noFill/>
          <a:ln/>
        </p:spPr>
        <p:txBody>
          <a:bodyPr wrap="square" lIns="0" tIns="0" rIns="0" bIns="0" rtlCol="0" anchor="ctr"/>
          <a:lstStyle/>
          <a:p>
            <a:pPr indent="0" marL="0">
              <a:buNone/>
            </a:pPr>
            <a:r>
              <a:rPr lang="en-US" sz="950" dirty="0">
                <a:solidFill>
                  <a:srgbClr val="231F20"/>
                </a:solidFill>
                <a:latin typeface="Calibri" pitchFamily="34" charset="0"/>
                <a:ea typeface="Calibri" pitchFamily="34" charset="-122"/>
                <a:cs typeface="Calibri" pitchFamily="34" charset="-120"/>
              </a:rPr>
              <a:t>Saut VNL V2.1 → V2.2 vs années voisines</a:t>
            </a:r>
            <a:endParaRPr lang="en-US" sz="950" dirty="0"/>
          </a:p>
        </p:txBody>
      </p:sp>
      <p:pic>
        <p:nvPicPr>
          <p:cNvPr id="38" name="Image 2" descr="preencoded.png">    </p:cNvPr>
          <p:cNvPicPr>
            <a:picLocks noChangeAspect="1"/>
          </p:cNvPicPr>
          <p:nvPr/>
        </p:nvPicPr>
        <p:blipFill>
          <a:blip r:embed="rId3"/>
          <a:stretch>
            <a:fillRect/>
          </a:stretch>
        </p:blipFill>
        <p:spPr>
          <a:xfrm>
            <a:off x="6035040" y="4206240"/>
            <a:ext cx="201168" cy="201168"/>
          </a:xfrm>
          <a:prstGeom prst="rect">
            <a:avLst/>
          </a:prstGeom>
        </p:spPr>
      </p:pic>
      <p:sp>
        <p:nvSpPr>
          <p:cNvPr id="39" name="Text 33"/>
          <p:cNvSpPr txBox="1"/>
          <p:nvPr/>
        </p:nvSpPr>
        <p:spPr>
          <a:xfrm>
            <a:off x="6309360" y="4160520"/>
            <a:ext cx="2468880" cy="310896"/>
          </a:xfrm>
          <a:prstGeom prst="rect">
            <a:avLst/>
          </a:prstGeom>
          <a:noFill/>
          <a:ln/>
        </p:spPr>
        <p:txBody>
          <a:bodyPr wrap="square" lIns="0" tIns="0" rIns="0" bIns="0" rtlCol="0" anchor="ctr"/>
          <a:lstStyle/>
          <a:p>
            <a:pPr indent="0" marL="0">
              <a:buNone/>
            </a:pPr>
            <a:r>
              <a:rPr lang="en-US" sz="950" dirty="0">
                <a:solidFill>
                  <a:srgbClr val="231F20"/>
                </a:solidFill>
                <a:latin typeface="Calibri" pitchFamily="34" charset="0"/>
                <a:ea typeface="Calibri" pitchFamily="34" charset="-122"/>
                <a:cs typeface="Calibri" pitchFamily="34" charset="-120"/>
              </a:rPr>
              <a:t>Saut DMSP → VIIRS (2013 → 2014)</a:t>
            </a:r>
            <a:endParaRPr lang="en-US" sz="95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8A9590"/>
                </a:solidFill>
                <a:latin typeface="Calibri"/>
                <a:ea typeface="Calibri"/>
                <a:cs typeface="Calibri"/>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3"/>
          <p:cNvSpPr/>
          <p:nvPr>
            <p:ph idx="105" type="body" hasCustomPrompt="1"/>
          </p:nvPr>
        </p:nvSpPr>
        <p:spPr>
          <a:xfrm>
            <a:off x="457200" y="274320"/>
            <a:ext cx="6217920" cy="256032"/>
          </a:xfrm>
          <a:prstGeom prst="rect">
            <a:avLst/>
          </a:prstGeom>
          <a:noFill/>
          <a:ln/>
        </p:spPr>
        <p:txBody>
          <a:bodyPr wrap="square" lIns="0" tIns="0" rIns="0" bIns="0" rtlCol="0" anchor="ctr"/>
          <a:lstStyle/>
          <a:p>
            <a:pPr algn="l" indent="0" marL="0">
              <a:buNone/>
            </a:pPr>
            <a:r>
              <a:rPr lang="en-US" sz="1050" b="1" spc="300" kern="0" dirty="0">
                <a:solidFill>
                  <a:srgbClr val="00704A"/>
                </a:solidFill>
                <a:latin typeface="Calibri" pitchFamily="34" charset="0"/>
                <a:ea typeface="Calibri" pitchFamily="34" charset="-122"/>
                <a:cs typeface="Calibri" pitchFamily="34" charset="-120"/>
              </a:rPr>
              <a:t>04 · ANALYSER · SCÉNARIO 1</a:t>
            </a:r>
            <a:endParaRPr lang="en-US" sz="1050" dirty="0"/>
          </a:p>
        </p:txBody>
      </p:sp>
      <p:sp>
        <p:nvSpPr>
          <p:cNvPr id="3" name="Text 3"/>
          <p:cNvSpPr/>
          <p:nvPr>
            <p:ph idx="106" type="title" hasCustomPrompt="1"/>
          </p:nvPr>
        </p:nvSpPr>
        <p:spPr>
          <a:xfrm>
            <a:off x="457200" y="548640"/>
            <a:ext cx="8229600" cy="566928"/>
          </a:xfrm>
          <a:prstGeom prst="rect">
            <a:avLst/>
          </a:prstGeom>
          <a:noFill/>
          <a:ln/>
        </p:spPr>
        <p:txBody>
          <a:bodyPr wrap="square" lIns="0" tIns="0" rIns="0" bIns="0" rtlCol="0" anchor="ctr"/>
          <a:lstStyle/>
          <a:p>
            <a:pPr algn="l" indent="0" marL="0">
              <a:buNone/>
            </a:pPr>
            <a:r>
              <a:rPr lang="en-US" sz="2800" b="1" dirty="0">
                <a:solidFill>
                  <a:srgbClr val="231F20"/>
                </a:solidFill>
                <a:latin typeface="Calibri" pitchFamily="34" charset="0"/>
                <a:ea typeface="Calibri" pitchFamily="34" charset="-122"/>
                <a:cs typeface="Calibri" pitchFamily="34" charset="-120"/>
              </a:rPr>
              <a:t>Dynamique : l'activité progresse-t-elle ?</a:t>
            </a:r>
            <a:endParaRPr lang="en-US" sz="2800" dirty="0"/>
          </a:p>
        </p:txBody>
      </p:sp>
      <p:sp>
        <p:nvSpPr>
          <p:cNvPr id="4" name="dot0"/>
          <p:cNvSpPr/>
          <p:nvPr/>
        </p:nvSpPr>
        <p:spPr>
          <a:xfrm>
            <a:off x="7644384" y="338328"/>
            <a:ext cx="100584" cy="100584"/>
          </a:xfrm>
          <a:prstGeom prst="ellipse">
            <a:avLst/>
          </a:prstGeom>
          <a:solidFill>
            <a:srgbClr val="D5DED9"/>
          </a:solidFill>
          <a:ln w="12700">
            <a:solidFill>
              <a:srgbClr val="D5DED9"/>
            </a:solidFill>
            <a:prstDash val="solid"/>
          </a:ln>
        </p:spPr>
      </p:sp>
      <p:sp>
        <p:nvSpPr>
          <p:cNvPr id="5" name="dot1"/>
          <p:cNvSpPr/>
          <p:nvPr/>
        </p:nvSpPr>
        <p:spPr>
          <a:xfrm>
            <a:off x="7818120" y="338328"/>
            <a:ext cx="100584" cy="100584"/>
          </a:xfrm>
          <a:prstGeom prst="ellipse">
            <a:avLst/>
          </a:prstGeom>
          <a:solidFill>
            <a:srgbClr val="D5DED9"/>
          </a:solidFill>
          <a:ln w="12700">
            <a:solidFill>
              <a:srgbClr val="D5DED9"/>
            </a:solidFill>
            <a:prstDash val="solid"/>
          </a:ln>
        </p:spPr>
      </p:sp>
      <p:sp>
        <p:nvSpPr>
          <p:cNvPr id="6" name="dot2"/>
          <p:cNvSpPr/>
          <p:nvPr/>
        </p:nvSpPr>
        <p:spPr>
          <a:xfrm>
            <a:off x="7991856" y="338328"/>
            <a:ext cx="100584" cy="100584"/>
          </a:xfrm>
          <a:prstGeom prst="ellipse">
            <a:avLst/>
          </a:prstGeom>
          <a:solidFill>
            <a:srgbClr val="D5DED9"/>
          </a:solidFill>
          <a:ln w="12700">
            <a:solidFill>
              <a:srgbClr val="D5DED9"/>
            </a:solidFill>
            <a:prstDash val="solid"/>
          </a:ln>
        </p:spPr>
      </p:sp>
      <p:sp>
        <p:nvSpPr>
          <p:cNvPr id="7" name="dot3"/>
          <p:cNvSpPr/>
          <p:nvPr/>
        </p:nvSpPr>
        <p:spPr>
          <a:xfrm>
            <a:off x="8165592" y="338328"/>
            <a:ext cx="100584" cy="100584"/>
          </a:xfrm>
          <a:prstGeom prst="ellipse">
            <a:avLst/>
          </a:prstGeom>
          <a:solidFill>
            <a:srgbClr val="D49A00"/>
          </a:solidFill>
          <a:ln w="12700">
            <a:solidFill>
              <a:srgbClr val="D49A00"/>
            </a:solidFill>
            <a:prstDash val="solid"/>
          </a:ln>
        </p:spPr>
      </p:sp>
      <p:sp>
        <p:nvSpPr>
          <p:cNvPr id="8" name="dot4"/>
          <p:cNvSpPr/>
          <p:nvPr/>
        </p:nvSpPr>
        <p:spPr>
          <a:xfrm>
            <a:off x="8339328" y="338328"/>
            <a:ext cx="100584" cy="100584"/>
          </a:xfrm>
          <a:prstGeom prst="ellipse">
            <a:avLst/>
          </a:prstGeom>
          <a:solidFill>
            <a:srgbClr val="D5DED9"/>
          </a:solidFill>
          <a:ln w="12700">
            <a:solidFill>
              <a:srgbClr val="D5DED9"/>
            </a:solidFill>
            <a:prstDash val="solid"/>
          </a:ln>
        </p:spPr>
      </p:sp>
      <p:sp>
        <p:nvSpPr>
          <p:cNvPr id="9" name="dot5"/>
          <p:cNvSpPr/>
          <p:nvPr/>
        </p:nvSpPr>
        <p:spPr>
          <a:xfrm>
            <a:off x="8513064" y="338328"/>
            <a:ext cx="100584" cy="100584"/>
          </a:xfrm>
          <a:prstGeom prst="ellipse">
            <a:avLst/>
          </a:prstGeom>
          <a:solidFill>
            <a:srgbClr val="D5DED9"/>
          </a:solidFill>
          <a:ln w="12700">
            <a:solidFill>
              <a:srgbClr val="D5DED9"/>
            </a:solidFill>
            <a:prstDash val="solid"/>
          </a:ln>
        </p:spPr>
      </p:sp>
      <p:sp>
        <p:nvSpPr>
          <p:cNvPr id="11" name="Shape 8"/>
          <p:cNvSpPr/>
          <p:nvPr/>
        </p:nvSpPr>
        <p:spPr>
          <a:xfrm>
            <a:off x="457200" y="1325880"/>
            <a:ext cx="3429000" cy="960120"/>
          </a:xfrm>
          <a:prstGeom prst="roundRect">
            <a:avLst>
              <a:gd name="adj" fmla="val 7619"/>
            </a:avLst>
          </a:prstGeom>
          <a:solidFill>
            <a:srgbClr val="E8F5EF"/>
          </a:solidFill>
          <a:ln w="15875">
            <a:solidFill>
              <a:srgbClr val="D49A00"/>
            </a:solidFill>
            <a:prstDash val="solid"/>
          </a:ln>
        </p:spPr>
      </p:sp>
      <p:sp>
        <p:nvSpPr>
          <p:cNvPr id="12" name="Text 9"/>
          <p:cNvSpPr txBox="1"/>
          <p:nvPr/>
        </p:nvSpPr>
        <p:spPr>
          <a:xfrm>
            <a:off x="621792" y="1399032"/>
            <a:ext cx="3108960" cy="219456"/>
          </a:xfrm>
          <a:prstGeom prst="rect">
            <a:avLst/>
          </a:prstGeom>
          <a:noFill/>
          <a:ln/>
        </p:spPr>
        <p:txBody>
          <a:bodyPr wrap="square" lIns="0" tIns="0" rIns="0" bIns="0" rtlCol="0" anchor="ctr"/>
          <a:lstStyle/>
          <a:p>
            <a:pPr indent="0" marL="0">
              <a:buNone/>
            </a:pPr>
            <a:r>
              <a:rPr lang="en-US" sz="900" b="1" spc="200" kern="0" dirty="0">
                <a:solidFill>
                  <a:srgbClr val="D49A00"/>
                </a:solidFill>
                <a:latin typeface="Calibri" pitchFamily="34" charset="0"/>
                <a:ea typeface="Calibri" pitchFamily="34" charset="-122"/>
                <a:cs typeface="Calibri" pitchFamily="34" charset="-120"/>
              </a:rPr>
              <a:t>QUESTION</a:t>
            </a:r>
            <a:endParaRPr lang="en-US" sz="900" dirty="0"/>
          </a:p>
        </p:txBody>
      </p:sp>
      <p:sp>
        <p:nvSpPr>
          <p:cNvPr id="13" name="Text 10"/>
          <p:cNvSpPr txBox="1"/>
          <p:nvPr/>
        </p:nvSpPr>
        <p:spPr>
          <a:xfrm>
            <a:off x="621792" y="1627632"/>
            <a:ext cx="3154680" cy="621792"/>
          </a:xfrm>
          <a:prstGeom prst="rect">
            <a:avLst/>
          </a:prstGeom>
          <a:noFill/>
          <a:ln/>
        </p:spPr>
        <p:txBody>
          <a:bodyPr wrap="square" lIns="0" tIns="0" rIns="0" bIns="0" rtlCol="0" anchor="ctr"/>
          <a:lstStyle/>
          <a:p>
            <a:pPr indent="0" marL="0">
              <a:buNone/>
            </a:pPr>
            <a:r>
              <a:rPr lang="en-US" sz="1250" b="1" i="1" dirty="0">
                <a:solidFill>
                  <a:srgbClr val="231F20"/>
                </a:solidFill>
                <a:latin typeface="Calibri" pitchFamily="34" charset="0"/>
                <a:ea typeface="Calibri" pitchFamily="34" charset="-122"/>
                <a:cs typeface="Calibri" pitchFamily="34" charset="-120"/>
              </a:rPr>
              <a:t>La lumière progresse-t-elle, recule-t-elle ou stagne-t-elle — et un mouvement récent est-il réel ou saisonnier ?</a:t>
            </a:r>
            <a:endParaRPr lang="en-US" sz="1250" dirty="0"/>
          </a:p>
        </p:txBody>
      </p:sp>
      <p:sp>
        <p:nvSpPr>
          <p:cNvPr id="14" name="Text 11"/>
          <p:cNvSpPr txBox="1"/>
          <p:nvPr/>
        </p:nvSpPr>
        <p:spPr>
          <a:xfrm>
            <a:off x="457200" y="2395728"/>
            <a:ext cx="3383280" cy="219456"/>
          </a:xfrm>
          <a:prstGeom prst="rect">
            <a:avLst/>
          </a:prstGeom>
          <a:noFill/>
          <a:ln/>
        </p:spPr>
        <p:txBody>
          <a:bodyPr wrap="square" lIns="0" tIns="0" rIns="0" bIns="0" rtlCol="0" anchor="ctr"/>
          <a:lstStyle/>
          <a:p>
            <a:pPr indent="0" marL="0">
              <a:buNone/>
            </a:pPr>
            <a:r>
              <a:rPr lang="en-US" sz="900" b="1" spc="200" kern="0" dirty="0">
                <a:solidFill>
                  <a:srgbClr val="00704A"/>
                </a:solidFill>
                <a:latin typeface="Calibri" pitchFamily="34" charset="0"/>
                <a:ea typeface="Calibri" pitchFamily="34" charset="-122"/>
                <a:cs typeface="Calibri" pitchFamily="34" charset="-120"/>
              </a:rPr>
              <a:t>DONNÉES UTILISÉES</a:t>
            </a:r>
            <a:endParaRPr lang="en-US" sz="900" dirty="0"/>
          </a:p>
        </p:txBody>
      </p:sp>
      <p:sp>
        <p:nvSpPr>
          <p:cNvPr id="15" name="Shape 12"/>
          <p:cNvSpPr/>
          <p:nvPr/>
        </p:nvSpPr>
        <p:spPr>
          <a:xfrm>
            <a:off x="457200" y="2670048"/>
            <a:ext cx="347472" cy="347472"/>
          </a:xfrm>
          <a:prstGeom prst="ellipse">
            <a:avLst/>
          </a:prstGeom>
          <a:solidFill>
            <a:srgbClr val="D49A00">
              <a:alpha val="22000"/>
            </a:srgbClr>
          </a:solidFill>
          <a:ln w="12700">
            <a:solidFill>
              <a:srgbClr val="D49A00">
                <a:alpha val="0"/>
              </a:srgbClr>
            </a:solidFill>
            <a:prstDash val="solid"/>
          </a:ln>
        </p:spPr>
      </p:sp>
      <p:pic>
        <p:nvPicPr>
          <p:cNvPr id="16" name="Image 0" descr="preencoded.png">    </p:cNvPr>
          <p:cNvPicPr>
            <a:picLocks noChangeAspect="1"/>
          </p:cNvPicPr>
          <p:nvPr/>
        </p:nvPicPr>
        <p:blipFill>
          <a:blip r:embed="rId1"/>
          <a:stretch>
            <a:fillRect/>
          </a:stretch>
        </p:blipFill>
        <p:spPr>
          <a:xfrm>
            <a:off x="540593" y="2753441"/>
            <a:ext cx="180685" cy="180685"/>
          </a:xfrm>
          <a:prstGeom prst="rect">
            <a:avLst/>
          </a:prstGeom>
        </p:spPr>
      </p:pic>
      <p:sp>
        <p:nvSpPr>
          <p:cNvPr id="17" name="Text 13"/>
          <p:cNvSpPr txBox="1"/>
          <p:nvPr/>
        </p:nvSpPr>
        <p:spPr>
          <a:xfrm>
            <a:off x="896112" y="2651760"/>
            <a:ext cx="2971800" cy="201168"/>
          </a:xfrm>
          <a:prstGeom prst="rect">
            <a:avLst/>
          </a:prstGeom>
          <a:noFill/>
          <a:ln/>
        </p:spPr>
        <p:txBody>
          <a:bodyPr wrap="square" lIns="0" tIns="0" rIns="0" bIns="0" rtlCol="0" anchor="t"/>
          <a:lstStyle/>
          <a:p>
            <a:pPr indent="0" marL="0">
              <a:buNone/>
            </a:pPr>
            <a:r>
              <a:rPr lang="en-US" sz="1050" b="1" dirty="0">
                <a:solidFill>
                  <a:srgbClr val="231F20"/>
                </a:solidFill>
                <a:latin typeface="Calibri" pitchFamily="34" charset="0"/>
                <a:ea typeface="Calibri" pitchFamily="34" charset="-122"/>
                <a:cs typeface="Calibri" pitchFamily="34" charset="-120"/>
              </a:rPr>
              <a:t>VIIRS VNL mensuel</a:t>
            </a:r>
            <a:endParaRPr lang="en-US" sz="1050" dirty="0"/>
          </a:p>
        </p:txBody>
      </p:sp>
      <p:sp>
        <p:nvSpPr>
          <p:cNvPr id="18" name="Text 14"/>
          <p:cNvSpPr txBox="1"/>
          <p:nvPr/>
        </p:nvSpPr>
        <p:spPr>
          <a:xfrm>
            <a:off x="896112" y="2843784"/>
            <a:ext cx="2971800" cy="228600"/>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sol_adj par unité et par mois, 2014 →</a:t>
            </a:r>
            <a:endParaRPr lang="en-US" sz="900" dirty="0"/>
          </a:p>
        </p:txBody>
      </p:sp>
      <p:sp>
        <p:nvSpPr>
          <p:cNvPr id="19" name="Shape 15"/>
          <p:cNvSpPr/>
          <p:nvPr/>
        </p:nvSpPr>
        <p:spPr>
          <a:xfrm>
            <a:off x="457200" y="3127248"/>
            <a:ext cx="347472" cy="347472"/>
          </a:xfrm>
          <a:prstGeom prst="ellipse">
            <a:avLst/>
          </a:prstGeom>
          <a:solidFill>
            <a:srgbClr val="D49A00">
              <a:alpha val="22000"/>
            </a:srgbClr>
          </a:solidFill>
          <a:ln w="12700">
            <a:solidFill>
              <a:srgbClr val="D49A00">
                <a:alpha val="0"/>
              </a:srgbClr>
            </a:solidFill>
            <a:prstDash val="solid"/>
          </a:ln>
        </p:spPr>
      </p:sp>
      <p:pic>
        <p:nvPicPr>
          <p:cNvPr id="20" name="Image 1" descr="preencoded.png">    </p:cNvPr>
          <p:cNvPicPr>
            <a:picLocks noChangeAspect="1"/>
          </p:cNvPicPr>
          <p:nvPr/>
        </p:nvPicPr>
        <p:blipFill>
          <a:blip r:embed="rId2"/>
          <a:stretch>
            <a:fillRect/>
          </a:stretch>
        </p:blipFill>
        <p:spPr>
          <a:xfrm>
            <a:off x="540593" y="3210641"/>
            <a:ext cx="180685" cy="180685"/>
          </a:xfrm>
          <a:prstGeom prst="rect">
            <a:avLst/>
          </a:prstGeom>
        </p:spPr>
      </p:pic>
      <p:sp>
        <p:nvSpPr>
          <p:cNvPr id="21" name="Text 16"/>
          <p:cNvSpPr txBox="1"/>
          <p:nvPr/>
        </p:nvSpPr>
        <p:spPr>
          <a:xfrm>
            <a:off x="896112" y="3108960"/>
            <a:ext cx="2971800" cy="201168"/>
          </a:xfrm>
          <a:prstGeom prst="rect">
            <a:avLst/>
          </a:prstGeom>
          <a:noFill/>
          <a:ln/>
        </p:spPr>
        <p:txBody>
          <a:bodyPr wrap="square" lIns="0" tIns="0" rIns="0" bIns="0" rtlCol="0" anchor="t"/>
          <a:lstStyle/>
          <a:p>
            <a:pPr indent="0" marL="0">
              <a:buNone/>
            </a:pPr>
            <a:r>
              <a:rPr lang="en-US" sz="1050" b="1" dirty="0">
                <a:solidFill>
                  <a:srgbClr val="231F20"/>
                </a:solidFill>
                <a:latin typeface="Calibri" pitchFamily="34" charset="0"/>
                <a:ea typeface="Calibri" pitchFamily="34" charset="-122"/>
                <a:cs typeface="Calibri" pitchFamily="34" charset="-120"/>
              </a:rPr>
              <a:t>VIIRS VNL annuel</a:t>
            </a:r>
            <a:endParaRPr lang="en-US" sz="1050" dirty="0"/>
          </a:p>
        </p:txBody>
      </p:sp>
      <p:sp>
        <p:nvSpPr>
          <p:cNvPr id="22" name="Text 17"/>
          <p:cNvSpPr txBox="1"/>
          <p:nvPr/>
        </p:nvSpPr>
        <p:spPr>
          <a:xfrm>
            <a:off x="896112" y="3300984"/>
            <a:ext cx="2971800" cy="228600"/>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sol par unité et par année</a:t>
            </a:r>
            <a:endParaRPr lang="en-US" sz="900" dirty="0"/>
          </a:p>
        </p:txBody>
      </p:sp>
      <p:sp>
        <p:nvSpPr>
          <p:cNvPr id="23" name="Shape 18"/>
          <p:cNvSpPr/>
          <p:nvPr/>
        </p:nvSpPr>
        <p:spPr>
          <a:xfrm>
            <a:off x="457200" y="3584448"/>
            <a:ext cx="347472" cy="347472"/>
          </a:xfrm>
          <a:prstGeom prst="ellipse">
            <a:avLst/>
          </a:prstGeom>
          <a:solidFill>
            <a:srgbClr val="D49A00">
              <a:alpha val="22000"/>
            </a:srgbClr>
          </a:solidFill>
          <a:ln w="12700">
            <a:solidFill>
              <a:srgbClr val="D49A00">
                <a:alpha val="0"/>
              </a:srgbClr>
            </a:solidFill>
            <a:prstDash val="solid"/>
          </a:ln>
        </p:spPr>
      </p:sp>
      <p:pic>
        <p:nvPicPr>
          <p:cNvPr id="24" name="Image 2" descr="preencoded.png">    </p:cNvPr>
          <p:cNvPicPr>
            <a:picLocks noChangeAspect="1"/>
          </p:cNvPicPr>
          <p:nvPr/>
        </p:nvPicPr>
        <p:blipFill>
          <a:blip r:embed="rId3"/>
          <a:stretch>
            <a:fillRect/>
          </a:stretch>
        </p:blipFill>
        <p:spPr>
          <a:xfrm>
            <a:off x="540593" y="3667841"/>
            <a:ext cx="180685" cy="180685"/>
          </a:xfrm>
          <a:prstGeom prst="rect">
            <a:avLst/>
          </a:prstGeom>
        </p:spPr>
      </p:pic>
      <p:sp>
        <p:nvSpPr>
          <p:cNvPr id="25" name="Text 19"/>
          <p:cNvSpPr txBox="1"/>
          <p:nvPr/>
        </p:nvSpPr>
        <p:spPr>
          <a:xfrm>
            <a:off x="896112" y="3566160"/>
            <a:ext cx="2971800" cy="201168"/>
          </a:xfrm>
          <a:prstGeom prst="rect">
            <a:avLst/>
          </a:prstGeom>
          <a:noFill/>
          <a:ln/>
        </p:spPr>
        <p:txBody>
          <a:bodyPr wrap="square" lIns="0" tIns="0" rIns="0" bIns="0" rtlCol="0" anchor="t"/>
          <a:lstStyle/>
          <a:p>
            <a:pPr indent="0" marL="0">
              <a:buNone/>
            </a:pPr>
            <a:r>
              <a:rPr lang="en-US" sz="1050" b="1" dirty="0">
                <a:solidFill>
                  <a:srgbClr val="231F20"/>
                </a:solidFill>
                <a:latin typeface="Calibri" pitchFamily="34" charset="0"/>
                <a:ea typeface="Calibri" pitchFamily="34" charset="-122"/>
                <a:cs typeface="Calibri" pitchFamily="34" charset="-120"/>
              </a:rPr>
              <a:t>DMSP–VIIRS harmonisé</a:t>
            </a:r>
            <a:endParaRPr lang="en-US" sz="1050" dirty="0"/>
          </a:p>
        </p:txBody>
      </p:sp>
      <p:sp>
        <p:nvSpPr>
          <p:cNvPr id="26" name="Text 20"/>
          <p:cNvSpPr txBox="1"/>
          <p:nvPr/>
        </p:nvSpPr>
        <p:spPr>
          <a:xfrm>
            <a:off x="896112" y="3758184"/>
            <a:ext cx="2971800" cy="228600"/>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1992 →, à lire comme une tendance</a:t>
            </a:r>
            <a:endParaRPr lang="en-US" sz="900" dirty="0"/>
          </a:p>
        </p:txBody>
      </p:sp>
      <p:sp>
        <p:nvSpPr>
          <p:cNvPr id="27" name="Text 21"/>
          <p:cNvSpPr txBox="1"/>
          <p:nvPr/>
        </p:nvSpPr>
        <p:spPr>
          <a:xfrm>
            <a:off x="4206240" y="1325880"/>
            <a:ext cx="4480560" cy="219456"/>
          </a:xfrm>
          <a:prstGeom prst="rect">
            <a:avLst/>
          </a:prstGeom>
          <a:noFill/>
          <a:ln/>
        </p:spPr>
        <p:txBody>
          <a:bodyPr wrap="square" lIns="0" tIns="0" rIns="0" bIns="0" rtlCol="0" anchor="ctr"/>
          <a:lstStyle/>
          <a:p>
            <a:pPr indent="0" marL="0">
              <a:buNone/>
            </a:pPr>
            <a:r>
              <a:rPr lang="en-US" sz="900" b="1" spc="200" kern="0" dirty="0">
                <a:solidFill>
                  <a:srgbClr val="00704A"/>
                </a:solidFill>
                <a:latin typeface="Calibri" pitchFamily="34" charset="0"/>
                <a:ea typeface="Calibri" pitchFamily="34" charset="-122"/>
                <a:cs typeface="Calibri" pitchFamily="34" charset="-120"/>
              </a:rPr>
              <a:t>MÉTHODE, PAS À PAS</a:t>
            </a:r>
            <a:endParaRPr lang="en-US" sz="900" dirty="0"/>
          </a:p>
        </p:txBody>
      </p:sp>
      <p:sp>
        <p:nvSpPr>
          <p:cNvPr id="28" name="Shape 22"/>
          <p:cNvSpPr/>
          <p:nvPr/>
        </p:nvSpPr>
        <p:spPr>
          <a:xfrm>
            <a:off x="4206240" y="1645920"/>
            <a:ext cx="329184" cy="329184"/>
          </a:xfrm>
          <a:prstGeom prst="ellipse">
            <a:avLst/>
          </a:prstGeom>
          <a:solidFill>
            <a:srgbClr val="D49A00"/>
          </a:solidFill>
          <a:ln w="12700">
            <a:solidFill>
              <a:srgbClr val="D49A00"/>
            </a:solidFill>
            <a:prstDash val="solid"/>
          </a:ln>
        </p:spPr>
      </p:sp>
      <p:sp>
        <p:nvSpPr>
          <p:cNvPr id="29" name="Text 23"/>
          <p:cNvSpPr txBox="1"/>
          <p:nvPr/>
        </p:nvSpPr>
        <p:spPr>
          <a:xfrm>
            <a:off x="4206240" y="1645920"/>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30" name="Shape 24"/>
          <p:cNvSpPr/>
          <p:nvPr/>
        </p:nvSpPr>
        <p:spPr>
          <a:xfrm>
            <a:off x="4370832" y="1993392"/>
            <a:ext cx="0" cy="237744"/>
          </a:xfrm>
          <a:prstGeom prst="line">
            <a:avLst/>
          </a:prstGeom>
          <a:noFill/>
          <a:ln w="15875">
            <a:solidFill>
              <a:srgbClr val="D5DED9"/>
            </a:solidFill>
            <a:prstDash val="solid"/>
          </a:ln>
        </p:spPr>
      </p:sp>
      <p:sp>
        <p:nvSpPr>
          <p:cNvPr id="31" name="Text 25"/>
          <p:cNvSpPr txBox="1"/>
          <p:nvPr/>
        </p:nvSpPr>
        <p:spPr>
          <a:xfrm>
            <a:off x="4663440" y="1627632"/>
            <a:ext cx="4023360" cy="219456"/>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Régulariser</a:t>
            </a:r>
            <a:endParaRPr lang="en-US" sz="1150" dirty="0"/>
          </a:p>
        </p:txBody>
      </p:sp>
      <p:sp>
        <p:nvSpPr>
          <p:cNvPr id="32" name="Text 26"/>
          <p:cNvSpPr txBox="1"/>
          <p:nvPr/>
        </p:nvSpPr>
        <p:spPr>
          <a:xfrm>
            <a:off x="4663440" y="1847088"/>
            <a:ext cx="4023360" cy="365760"/>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Calendrier mensuel complet ; trous ≤ 3 mois comblés en log-linéaire</a:t>
            </a:r>
            <a:endParaRPr lang="en-US" sz="950" dirty="0"/>
          </a:p>
        </p:txBody>
      </p:sp>
      <p:sp>
        <p:nvSpPr>
          <p:cNvPr id="33" name="Shape 27"/>
          <p:cNvSpPr/>
          <p:nvPr/>
        </p:nvSpPr>
        <p:spPr>
          <a:xfrm>
            <a:off x="4206240" y="2249424"/>
            <a:ext cx="329184" cy="329184"/>
          </a:xfrm>
          <a:prstGeom prst="ellipse">
            <a:avLst/>
          </a:prstGeom>
          <a:solidFill>
            <a:srgbClr val="D49A00"/>
          </a:solidFill>
          <a:ln w="12700">
            <a:solidFill>
              <a:srgbClr val="D49A00"/>
            </a:solidFill>
            <a:prstDash val="solid"/>
          </a:ln>
        </p:spPr>
      </p:sp>
      <p:sp>
        <p:nvSpPr>
          <p:cNvPr id="34" name="Text 28"/>
          <p:cNvSpPr txBox="1"/>
          <p:nvPr/>
        </p:nvSpPr>
        <p:spPr>
          <a:xfrm>
            <a:off x="4206240" y="2249424"/>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5" name="Shape 29"/>
          <p:cNvSpPr/>
          <p:nvPr/>
        </p:nvSpPr>
        <p:spPr>
          <a:xfrm>
            <a:off x="4370832" y="2596896"/>
            <a:ext cx="0" cy="237744"/>
          </a:xfrm>
          <a:prstGeom prst="line">
            <a:avLst/>
          </a:prstGeom>
          <a:noFill/>
          <a:ln w="15875">
            <a:solidFill>
              <a:srgbClr val="D5DED9"/>
            </a:solidFill>
            <a:prstDash val="solid"/>
          </a:ln>
        </p:spPr>
      </p:sp>
      <p:sp>
        <p:nvSpPr>
          <p:cNvPr id="36" name="Text 30"/>
          <p:cNvSpPr txBox="1"/>
          <p:nvPr/>
        </p:nvSpPr>
        <p:spPr>
          <a:xfrm>
            <a:off x="4663440" y="2231136"/>
            <a:ext cx="4023360" cy="219456"/>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Décomposer (STL robuste)</a:t>
            </a:r>
            <a:endParaRPr lang="en-US" sz="1150" dirty="0"/>
          </a:p>
        </p:txBody>
      </p:sp>
      <p:sp>
        <p:nvSpPr>
          <p:cNvPr id="37" name="Text 31"/>
          <p:cNvSpPr txBox="1"/>
          <p:nvPr/>
        </p:nvSpPr>
        <p:spPr>
          <a:xfrm>
            <a:off x="4663440" y="2450592"/>
            <a:ext cx="4023360" cy="365760"/>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log(SoL) = tendance + saison (période 12) + résidu</a:t>
            </a:r>
            <a:endParaRPr lang="en-US" sz="950" dirty="0"/>
          </a:p>
        </p:txBody>
      </p:sp>
      <p:sp>
        <p:nvSpPr>
          <p:cNvPr id="38" name="Shape 32"/>
          <p:cNvSpPr/>
          <p:nvPr/>
        </p:nvSpPr>
        <p:spPr>
          <a:xfrm>
            <a:off x="4206240" y="2852928"/>
            <a:ext cx="329184" cy="329184"/>
          </a:xfrm>
          <a:prstGeom prst="ellipse">
            <a:avLst/>
          </a:prstGeom>
          <a:solidFill>
            <a:srgbClr val="D49A00"/>
          </a:solidFill>
          <a:ln w="12700">
            <a:solidFill>
              <a:srgbClr val="D49A00"/>
            </a:solidFill>
            <a:prstDash val="solid"/>
          </a:ln>
        </p:spPr>
      </p:sp>
      <p:sp>
        <p:nvSpPr>
          <p:cNvPr id="39" name="Text 33"/>
          <p:cNvSpPr txBox="1"/>
          <p:nvPr/>
        </p:nvSpPr>
        <p:spPr>
          <a:xfrm>
            <a:off x="4206240" y="285292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0" name="Shape 34"/>
          <p:cNvSpPr/>
          <p:nvPr/>
        </p:nvSpPr>
        <p:spPr>
          <a:xfrm>
            <a:off x="4370832" y="3200400"/>
            <a:ext cx="0" cy="237744"/>
          </a:xfrm>
          <a:prstGeom prst="line">
            <a:avLst/>
          </a:prstGeom>
          <a:noFill/>
          <a:ln w="15875">
            <a:solidFill>
              <a:srgbClr val="D5DED9"/>
            </a:solidFill>
            <a:prstDash val="solid"/>
          </a:ln>
        </p:spPr>
      </p:sp>
      <p:sp>
        <p:nvSpPr>
          <p:cNvPr id="41" name="Text 35"/>
          <p:cNvSpPr txBox="1"/>
          <p:nvPr/>
        </p:nvSpPr>
        <p:spPr>
          <a:xfrm>
            <a:off x="4663440" y="2834640"/>
            <a:ext cx="4023360" cy="219456"/>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Désaisonnaliser</a:t>
            </a:r>
            <a:endParaRPr lang="en-US" sz="1150" dirty="0"/>
          </a:p>
        </p:txBody>
      </p:sp>
      <p:sp>
        <p:nvSpPr>
          <p:cNvPr id="42" name="Text 36"/>
          <p:cNvSpPr txBox="1"/>
          <p:nvPr/>
        </p:nvSpPr>
        <p:spPr>
          <a:xfrm>
            <a:off x="4663440" y="3054096"/>
            <a:ext cx="4023360" cy="365760"/>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SA = exp(tendance + résidu) : la courbe à lire</a:t>
            </a:r>
            <a:endParaRPr lang="en-US" sz="950" dirty="0"/>
          </a:p>
        </p:txBody>
      </p:sp>
      <p:sp>
        <p:nvSpPr>
          <p:cNvPr id="43" name="Shape 37"/>
          <p:cNvSpPr/>
          <p:nvPr/>
        </p:nvSpPr>
        <p:spPr>
          <a:xfrm>
            <a:off x="4206240" y="3456432"/>
            <a:ext cx="329184" cy="329184"/>
          </a:xfrm>
          <a:prstGeom prst="ellipse">
            <a:avLst/>
          </a:prstGeom>
          <a:solidFill>
            <a:srgbClr val="D49A00"/>
          </a:solidFill>
          <a:ln w="12700">
            <a:solidFill>
              <a:srgbClr val="D49A00"/>
            </a:solidFill>
            <a:prstDash val="solid"/>
          </a:ln>
        </p:spPr>
      </p:sp>
      <p:sp>
        <p:nvSpPr>
          <p:cNvPr id="44" name="Text 38"/>
          <p:cNvSpPr txBox="1"/>
          <p:nvPr/>
        </p:nvSpPr>
        <p:spPr>
          <a:xfrm>
            <a:off x="4206240" y="3456432"/>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45" name="Shape 39"/>
          <p:cNvSpPr/>
          <p:nvPr/>
        </p:nvSpPr>
        <p:spPr>
          <a:xfrm>
            <a:off x="4370832" y="3803904"/>
            <a:ext cx="0" cy="237744"/>
          </a:xfrm>
          <a:prstGeom prst="line">
            <a:avLst/>
          </a:prstGeom>
          <a:noFill/>
          <a:ln w="15875">
            <a:solidFill>
              <a:srgbClr val="D5DED9"/>
            </a:solidFill>
            <a:prstDash val="solid"/>
          </a:ln>
        </p:spPr>
      </p:sp>
      <p:sp>
        <p:nvSpPr>
          <p:cNvPr id="46" name="Text 40"/>
          <p:cNvSpPr txBox="1"/>
          <p:nvPr/>
        </p:nvSpPr>
        <p:spPr>
          <a:xfrm>
            <a:off x="4663440" y="3438144"/>
            <a:ext cx="4023360" cy="219456"/>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Comparer en glissement annuel</a:t>
            </a:r>
            <a:endParaRPr lang="en-US" sz="1150" dirty="0"/>
          </a:p>
        </p:txBody>
      </p:sp>
      <p:sp>
        <p:nvSpPr>
          <p:cNvPr id="47" name="Text 41"/>
          <p:cNvSpPr txBox="1"/>
          <p:nvPr/>
        </p:nvSpPr>
        <p:spPr>
          <a:xfrm>
            <a:off x="4663440" y="3657600"/>
            <a:ext cx="4023360" cy="365760"/>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Chaque mois vs le même mois un an plus tôt</a:t>
            </a:r>
            <a:endParaRPr lang="en-US" sz="950" dirty="0"/>
          </a:p>
        </p:txBody>
      </p:sp>
      <p:sp>
        <p:nvSpPr>
          <p:cNvPr id="48" name="Shape 42"/>
          <p:cNvSpPr/>
          <p:nvPr/>
        </p:nvSpPr>
        <p:spPr>
          <a:xfrm>
            <a:off x="4206240" y="4059936"/>
            <a:ext cx="329184" cy="329184"/>
          </a:xfrm>
          <a:prstGeom prst="ellipse">
            <a:avLst/>
          </a:prstGeom>
          <a:solidFill>
            <a:srgbClr val="D49A00"/>
          </a:solidFill>
          <a:ln w="12700">
            <a:solidFill>
              <a:srgbClr val="D49A00"/>
            </a:solidFill>
            <a:prstDash val="solid"/>
          </a:ln>
        </p:spPr>
      </p:sp>
      <p:sp>
        <p:nvSpPr>
          <p:cNvPr id="49" name="Text 43"/>
          <p:cNvSpPr txBox="1"/>
          <p:nvPr/>
        </p:nvSpPr>
        <p:spPr>
          <a:xfrm>
            <a:off x="4206240" y="405993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50" name="Text 44"/>
          <p:cNvSpPr txBox="1"/>
          <p:nvPr/>
        </p:nvSpPr>
        <p:spPr>
          <a:xfrm>
            <a:off x="4663440" y="4041648"/>
            <a:ext cx="4023360" cy="219456"/>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Estimer la tendance annuelle</a:t>
            </a:r>
            <a:endParaRPr lang="en-US" sz="1150" dirty="0"/>
          </a:p>
        </p:txBody>
      </p:sp>
      <p:sp>
        <p:nvSpPr>
          <p:cNvPr id="51" name="Text 45"/>
          <p:cNvSpPr txBox="1"/>
          <p:nvPr/>
        </p:nvSpPr>
        <p:spPr>
          <a:xfrm>
            <a:off x="4663440" y="4261104"/>
            <a:ext cx="4023360" cy="365760"/>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Theil–Sen + Mann–Kendall sur les composites annuels ; séries régionales (ADM1)</a:t>
            </a:r>
            <a:endParaRPr lang="en-US" sz="95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8A9590"/>
                </a:solidFill>
                <a:latin typeface="Calibri"/>
                <a:ea typeface="Calibri"/>
                <a:cs typeface="Calibri"/>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3"/>
          <p:cNvSpPr/>
          <p:nvPr>
            <p:ph idx="105" type="body" hasCustomPrompt="1"/>
          </p:nvPr>
        </p:nvSpPr>
        <p:spPr>
          <a:xfrm>
            <a:off x="457200" y="274320"/>
            <a:ext cx="6217920" cy="256032"/>
          </a:xfrm>
          <a:prstGeom prst="rect">
            <a:avLst/>
          </a:prstGeom>
          <a:noFill/>
          <a:ln/>
        </p:spPr>
        <p:txBody>
          <a:bodyPr wrap="square" lIns="0" tIns="0" rIns="0" bIns="0" rtlCol="0" anchor="ctr"/>
          <a:lstStyle/>
          <a:p>
            <a:pPr algn="l" indent="0" marL="0">
              <a:buNone/>
            </a:pPr>
            <a:r>
              <a:rPr lang="en-US" sz="1050" b="1" spc="300" kern="0" dirty="0">
                <a:solidFill>
                  <a:srgbClr val="00704A"/>
                </a:solidFill>
                <a:latin typeface="Calibri" pitchFamily="34" charset="0"/>
                <a:ea typeface="Calibri" pitchFamily="34" charset="-122"/>
                <a:cs typeface="Calibri" pitchFamily="34" charset="-120"/>
              </a:rPr>
              <a:t>04 · ANALYSER · SCÉNARIO 1</a:t>
            </a:r>
            <a:endParaRPr lang="en-US" sz="1050" dirty="0"/>
          </a:p>
        </p:txBody>
      </p:sp>
      <p:sp>
        <p:nvSpPr>
          <p:cNvPr id="3" name="Text 3"/>
          <p:cNvSpPr/>
          <p:nvPr>
            <p:ph idx="106" type="title" hasCustomPrompt="1"/>
          </p:nvPr>
        </p:nvSpPr>
        <p:spPr>
          <a:xfrm>
            <a:off x="457200" y="548640"/>
            <a:ext cx="8229600" cy="566928"/>
          </a:xfrm>
          <a:prstGeom prst="rect">
            <a:avLst/>
          </a:prstGeom>
          <a:noFill/>
          <a:ln/>
        </p:spPr>
        <p:txBody>
          <a:bodyPr wrap="square" lIns="0" tIns="0" rIns="0" bIns="0" rtlCol="0" anchor="ctr"/>
          <a:lstStyle/>
          <a:p>
            <a:pPr algn="l" indent="0" marL="0">
              <a:buNone/>
            </a:pPr>
            <a:r>
              <a:rPr lang="en-US" sz="2800" b="1" dirty="0">
                <a:solidFill>
                  <a:srgbClr val="231F20"/>
                </a:solidFill>
                <a:latin typeface="Calibri" pitchFamily="34" charset="0"/>
                <a:ea typeface="Calibri" pitchFamily="34" charset="-122"/>
                <a:cs typeface="Calibri" pitchFamily="34" charset="-120"/>
              </a:rPr>
              <a:t>Dynamique : les métriques</a:t>
            </a:r>
            <a:endParaRPr lang="en-US" sz="2800" dirty="0"/>
          </a:p>
        </p:txBody>
      </p:sp>
      <p:sp>
        <p:nvSpPr>
          <p:cNvPr id="4" name="dot0"/>
          <p:cNvSpPr/>
          <p:nvPr/>
        </p:nvSpPr>
        <p:spPr>
          <a:xfrm>
            <a:off x="7644384" y="338328"/>
            <a:ext cx="100584" cy="100584"/>
          </a:xfrm>
          <a:prstGeom prst="ellipse">
            <a:avLst/>
          </a:prstGeom>
          <a:solidFill>
            <a:srgbClr val="D5DED9"/>
          </a:solidFill>
          <a:ln w="12700">
            <a:solidFill>
              <a:srgbClr val="D5DED9"/>
            </a:solidFill>
            <a:prstDash val="solid"/>
          </a:ln>
        </p:spPr>
      </p:sp>
      <p:sp>
        <p:nvSpPr>
          <p:cNvPr id="5" name="dot1"/>
          <p:cNvSpPr/>
          <p:nvPr/>
        </p:nvSpPr>
        <p:spPr>
          <a:xfrm>
            <a:off x="7818120" y="338328"/>
            <a:ext cx="100584" cy="100584"/>
          </a:xfrm>
          <a:prstGeom prst="ellipse">
            <a:avLst/>
          </a:prstGeom>
          <a:solidFill>
            <a:srgbClr val="D5DED9"/>
          </a:solidFill>
          <a:ln w="12700">
            <a:solidFill>
              <a:srgbClr val="D5DED9"/>
            </a:solidFill>
            <a:prstDash val="solid"/>
          </a:ln>
        </p:spPr>
      </p:sp>
      <p:sp>
        <p:nvSpPr>
          <p:cNvPr id="6" name="dot2"/>
          <p:cNvSpPr/>
          <p:nvPr/>
        </p:nvSpPr>
        <p:spPr>
          <a:xfrm>
            <a:off x="7991856" y="338328"/>
            <a:ext cx="100584" cy="100584"/>
          </a:xfrm>
          <a:prstGeom prst="ellipse">
            <a:avLst/>
          </a:prstGeom>
          <a:solidFill>
            <a:srgbClr val="D5DED9"/>
          </a:solidFill>
          <a:ln w="12700">
            <a:solidFill>
              <a:srgbClr val="D5DED9"/>
            </a:solidFill>
            <a:prstDash val="solid"/>
          </a:ln>
        </p:spPr>
      </p:sp>
      <p:sp>
        <p:nvSpPr>
          <p:cNvPr id="7" name="dot3"/>
          <p:cNvSpPr/>
          <p:nvPr/>
        </p:nvSpPr>
        <p:spPr>
          <a:xfrm>
            <a:off x="8165592" y="338328"/>
            <a:ext cx="100584" cy="100584"/>
          </a:xfrm>
          <a:prstGeom prst="ellipse">
            <a:avLst/>
          </a:prstGeom>
          <a:solidFill>
            <a:srgbClr val="D49A00"/>
          </a:solidFill>
          <a:ln w="12700">
            <a:solidFill>
              <a:srgbClr val="D49A00"/>
            </a:solidFill>
            <a:prstDash val="solid"/>
          </a:ln>
        </p:spPr>
      </p:sp>
      <p:sp>
        <p:nvSpPr>
          <p:cNvPr id="8" name="dot4"/>
          <p:cNvSpPr/>
          <p:nvPr/>
        </p:nvSpPr>
        <p:spPr>
          <a:xfrm>
            <a:off x="8339328" y="338328"/>
            <a:ext cx="100584" cy="100584"/>
          </a:xfrm>
          <a:prstGeom prst="ellipse">
            <a:avLst/>
          </a:prstGeom>
          <a:solidFill>
            <a:srgbClr val="D5DED9"/>
          </a:solidFill>
          <a:ln w="12700">
            <a:solidFill>
              <a:srgbClr val="D5DED9"/>
            </a:solidFill>
            <a:prstDash val="solid"/>
          </a:ln>
        </p:spPr>
      </p:sp>
      <p:sp>
        <p:nvSpPr>
          <p:cNvPr id="9" name="dot5"/>
          <p:cNvSpPr/>
          <p:nvPr/>
        </p:nvSpPr>
        <p:spPr>
          <a:xfrm>
            <a:off x="8513064" y="338328"/>
            <a:ext cx="100584" cy="100584"/>
          </a:xfrm>
          <a:prstGeom prst="ellipse">
            <a:avLst/>
          </a:prstGeom>
          <a:solidFill>
            <a:srgbClr val="D5DED9"/>
          </a:solidFill>
          <a:ln w="12700">
            <a:solidFill>
              <a:srgbClr val="D5DED9"/>
            </a:solidFill>
            <a:prstDash val="solid"/>
          </a:ln>
        </p:spPr>
      </p:sp>
      <p:sp>
        <p:nvSpPr>
          <p:cNvPr id="11" name="Text 8"/>
          <p:cNvSpPr txBox="1"/>
          <p:nvPr/>
        </p:nvSpPr>
        <p:spPr>
          <a:xfrm>
            <a:off x="548640" y="1353312"/>
            <a:ext cx="1783080" cy="219456"/>
          </a:xfrm>
          <a:prstGeom prst="rect">
            <a:avLst/>
          </a:prstGeom>
          <a:noFill/>
          <a:ln/>
        </p:spPr>
        <p:txBody>
          <a:bodyPr wrap="square" lIns="0" tIns="0" rIns="0" bIns="0" rtlCol="0" anchor="ctr"/>
          <a:lstStyle/>
          <a:p>
            <a:pPr indent="0" marL="0">
              <a:buNone/>
            </a:pPr>
            <a:r>
              <a:rPr lang="en-US" sz="900" b="1" spc="200" kern="0" dirty="0">
                <a:solidFill>
                  <a:srgbClr val="D49A00"/>
                </a:solidFill>
                <a:latin typeface="Calibri" pitchFamily="34" charset="0"/>
                <a:ea typeface="Calibri" pitchFamily="34" charset="-122"/>
                <a:cs typeface="Calibri" pitchFamily="34" charset="-120"/>
              </a:rPr>
              <a:t>MÉTRIQUE</a:t>
            </a:r>
            <a:endParaRPr lang="en-US" sz="900" dirty="0"/>
          </a:p>
        </p:txBody>
      </p:sp>
      <p:sp>
        <p:nvSpPr>
          <p:cNvPr id="12" name="Text 9"/>
          <p:cNvSpPr txBox="1"/>
          <p:nvPr/>
        </p:nvSpPr>
        <p:spPr>
          <a:xfrm>
            <a:off x="2423160" y="1353312"/>
            <a:ext cx="2971800" cy="219456"/>
          </a:xfrm>
          <a:prstGeom prst="rect">
            <a:avLst/>
          </a:prstGeom>
          <a:noFill/>
          <a:ln/>
        </p:spPr>
        <p:txBody>
          <a:bodyPr wrap="square" lIns="0" tIns="0" rIns="0" bIns="0" rtlCol="0" anchor="ctr"/>
          <a:lstStyle/>
          <a:p>
            <a:pPr indent="0" marL="0">
              <a:buNone/>
            </a:pPr>
            <a:r>
              <a:rPr lang="en-US" sz="900" b="1" spc="200" kern="0" dirty="0">
                <a:solidFill>
                  <a:srgbClr val="D49A00"/>
                </a:solidFill>
                <a:latin typeface="Calibri" pitchFamily="34" charset="0"/>
                <a:ea typeface="Calibri" pitchFamily="34" charset="-122"/>
                <a:cs typeface="Calibri" pitchFamily="34" charset="-120"/>
              </a:rPr>
              <a:t>DÉFINITION / FORMULE</a:t>
            </a:r>
            <a:endParaRPr lang="en-US" sz="900" dirty="0"/>
          </a:p>
        </p:txBody>
      </p:sp>
      <p:sp>
        <p:nvSpPr>
          <p:cNvPr id="13" name="Text 10"/>
          <p:cNvSpPr txBox="1"/>
          <p:nvPr/>
        </p:nvSpPr>
        <p:spPr>
          <a:xfrm>
            <a:off x="5486400" y="1353312"/>
            <a:ext cx="3200400" cy="219456"/>
          </a:xfrm>
          <a:prstGeom prst="rect">
            <a:avLst/>
          </a:prstGeom>
          <a:noFill/>
          <a:ln/>
        </p:spPr>
        <p:txBody>
          <a:bodyPr wrap="square" lIns="0" tIns="0" rIns="0" bIns="0" rtlCol="0" anchor="ctr"/>
          <a:lstStyle/>
          <a:p>
            <a:pPr indent="0" marL="0">
              <a:buNone/>
            </a:pPr>
            <a:r>
              <a:rPr lang="en-US" sz="900" b="1" spc="200" kern="0" dirty="0">
                <a:solidFill>
                  <a:srgbClr val="D49A00"/>
                </a:solidFill>
                <a:latin typeface="Calibri" pitchFamily="34" charset="0"/>
                <a:ea typeface="Calibri" pitchFamily="34" charset="-122"/>
                <a:cs typeface="Calibri" pitchFamily="34" charset="-120"/>
              </a:rPr>
              <a:t>COMMENT LA LIRE</a:t>
            </a:r>
            <a:endParaRPr lang="en-US" sz="900" dirty="0"/>
          </a:p>
        </p:txBody>
      </p:sp>
      <p:sp>
        <p:nvSpPr>
          <p:cNvPr id="14" name="Shape 11"/>
          <p:cNvSpPr/>
          <p:nvPr/>
        </p:nvSpPr>
        <p:spPr>
          <a:xfrm>
            <a:off x="457200" y="1609344"/>
            <a:ext cx="8229600" cy="429768"/>
          </a:xfrm>
          <a:prstGeom prst="roundRect">
            <a:avLst>
              <a:gd name="adj" fmla="val 10638"/>
            </a:avLst>
          </a:prstGeom>
          <a:solidFill>
            <a:srgbClr val="F4F7F5"/>
          </a:solidFill>
          <a:ln w="6350">
            <a:solidFill>
              <a:srgbClr val="D5DED9"/>
            </a:solidFill>
            <a:prstDash val="solid"/>
          </a:ln>
        </p:spPr>
      </p:sp>
      <p:sp>
        <p:nvSpPr>
          <p:cNvPr id="15" name="Text 12"/>
          <p:cNvSpPr txBox="1"/>
          <p:nvPr/>
        </p:nvSpPr>
        <p:spPr>
          <a:xfrm>
            <a:off x="548640" y="1609344"/>
            <a:ext cx="1737360" cy="429768"/>
          </a:xfrm>
          <a:prstGeom prst="rect">
            <a:avLst/>
          </a:prstGeom>
          <a:noFill/>
          <a:ln/>
        </p:spPr>
        <p:txBody>
          <a:bodyPr wrap="square" lIns="0" tIns="0" rIns="0" bIns="0" rtlCol="0" anchor="ctr"/>
          <a:lstStyle/>
          <a:p>
            <a:pPr indent="0" marL="0">
              <a:buNone/>
            </a:pPr>
            <a:r>
              <a:rPr lang="en-US" sz="1050" b="1" dirty="0">
                <a:solidFill>
                  <a:srgbClr val="231F20"/>
                </a:solidFill>
                <a:latin typeface="Calibri" pitchFamily="34" charset="0"/>
                <a:ea typeface="Calibri" pitchFamily="34" charset="-122"/>
                <a:cs typeface="Calibri" pitchFamily="34" charset="-120"/>
              </a:rPr>
              <a:t>SoL désaisonnalisée</a:t>
            </a:r>
            <a:endParaRPr lang="en-US" sz="1050" dirty="0"/>
          </a:p>
        </p:txBody>
      </p:sp>
      <p:sp>
        <p:nvSpPr>
          <p:cNvPr id="16" name="Text 13"/>
          <p:cNvSpPr txBox="1"/>
          <p:nvPr/>
        </p:nvSpPr>
        <p:spPr>
          <a:xfrm>
            <a:off x="2331720" y="1609344"/>
            <a:ext cx="2971800" cy="429768"/>
          </a:xfrm>
          <a:prstGeom prst="rect">
            <a:avLst/>
          </a:prstGeom>
          <a:noFill/>
          <a:ln/>
        </p:spPr>
        <p:txBody>
          <a:bodyPr wrap="square" lIns="0" tIns="0" rIns="0" bIns="0" rtlCol="0" anchor="ctr"/>
          <a:lstStyle/>
          <a:p>
            <a:pPr indent="0" marL="0">
              <a:buNone/>
            </a:pPr>
            <a:r>
              <a:rPr lang="en-US" sz="1000" dirty="0">
                <a:solidFill>
                  <a:srgbClr val="0E7C86"/>
                </a:solidFill>
                <a:latin typeface="Calibri" pitchFamily="34" charset="0"/>
                <a:ea typeface="Calibri" pitchFamily="34" charset="-122"/>
                <a:cs typeface="Calibri" pitchFamily="34" charset="-120"/>
              </a:rPr>
              <a:t>exp(trend + remainder)</a:t>
            </a:r>
            <a:endParaRPr lang="en-US" sz="1000" dirty="0"/>
          </a:p>
        </p:txBody>
      </p:sp>
      <p:sp>
        <p:nvSpPr>
          <p:cNvPr id="17" name="Text 14"/>
          <p:cNvSpPr txBox="1"/>
          <p:nvPr/>
        </p:nvSpPr>
        <p:spPr>
          <a:xfrm>
            <a:off x="5394960" y="1609344"/>
            <a:ext cx="3200400" cy="429768"/>
          </a:xfrm>
          <a:prstGeom prst="rect">
            <a:avLst/>
          </a:prstGeom>
          <a:noFill/>
          <a:ln/>
        </p:spPr>
        <p:txBody>
          <a:bodyPr wrap="square" lIns="0" tIns="0" rIns="0" bIns="0" rtlCol="0" anchor="ctr"/>
          <a:lstStyle/>
          <a:p>
            <a:pPr indent="0" marL="0">
              <a:buNone/>
            </a:pPr>
            <a:r>
              <a:rPr lang="en-US" sz="950" dirty="0">
                <a:solidFill>
                  <a:srgbClr val="5E6964"/>
                </a:solidFill>
                <a:latin typeface="Calibri" pitchFamily="34" charset="0"/>
                <a:ea typeface="Calibri" pitchFamily="34" charset="-122"/>
                <a:cs typeface="Calibri" pitchFamily="34" charset="-120"/>
              </a:rPr>
              <a:t>Le niveau net du profil saisonnier habituel</a:t>
            </a:r>
            <a:endParaRPr lang="en-US" sz="950" dirty="0"/>
          </a:p>
        </p:txBody>
      </p:sp>
      <p:sp>
        <p:nvSpPr>
          <p:cNvPr id="18" name="Shape 15"/>
          <p:cNvSpPr/>
          <p:nvPr/>
        </p:nvSpPr>
        <p:spPr>
          <a:xfrm>
            <a:off x="457200" y="2093976"/>
            <a:ext cx="8229600" cy="429768"/>
          </a:xfrm>
          <a:prstGeom prst="roundRect">
            <a:avLst>
              <a:gd name="adj" fmla="val 10638"/>
            </a:avLst>
          </a:prstGeom>
          <a:solidFill>
            <a:srgbClr val="FFFFFF"/>
          </a:solidFill>
          <a:ln w="6350">
            <a:solidFill>
              <a:srgbClr val="D5DED9"/>
            </a:solidFill>
            <a:prstDash val="solid"/>
          </a:ln>
        </p:spPr>
      </p:sp>
      <p:sp>
        <p:nvSpPr>
          <p:cNvPr id="19" name="Text 16"/>
          <p:cNvSpPr txBox="1"/>
          <p:nvPr/>
        </p:nvSpPr>
        <p:spPr>
          <a:xfrm>
            <a:off x="548640" y="2093976"/>
            <a:ext cx="1737360" cy="429768"/>
          </a:xfrm>
          <a:prstGeom prst="rect">
            <a:avLst/>
          </a:prstGeom>
          <a:noFill/>
          <a:ln/>
        </p:spPr>
        <p:txBody>
          <a:bodyPr wrap="square" lIns="0" tIns="0" rIns="0" bIns="0" rtlCol="0" anchor="ctr"/>
          <a:lstStyle/>
          <a:p>
            <a:pPr indent="0" marL="0">
              <a:buNone/>
            </a:pPr>
            <a:r>
              <a:rPr lang="en-US" sz="1050" b="1" dirty="0">
                <a:solidFill>
                  <a:srgbClr val="231F20"/>
                </a:solidFill>
                <a:latin typeface="Calibri" pitchFamily="34" charset="0"/>
                <a:ea typeface="Calibri" pitchFamily="34" charset="-122"/>
                <a:cs typeface="Calibri" pitchFamily="34" charset="-120"/>
              </a:rPr>
              <a:t>Glissement annuel</a:t>
            </a:r>
            <a:endParaRPr lang="en-US" sz="1050" dirty="0"/>
          </a:p>
        </p:txBody>
      </p:sp>
      <p:sp>
        <p:nvSpPr>
          <p:cNvPr id="20" name="Text 17"/>
          <p:cNvSpPr txBox="1"/>
          <p:nvPr/>
        </p:nvSpPr>
        <p:spPr>
          <a:xfrm>
            <a:off x="2331720" y="2093976"/>
            <a:ext cx="2971800" cy="429768"/>
          </a:xfrm>
          <a:prstGeom prst="rect">
            <a:avLst/>
          </a:prstGeom>
          <a:noFill/>
          <a:ln/>
        </p:spPr>
        <p:txBody>
          <a:bodyPr wrap="square" lIns="0" tIns="0" rIns="0" bIns="0" rtlCol="0" anchor="ctr"/>
          <a:lstStyle/>
          <a:p>
            <a:pPr indent="0" marL="0">
              <a:buNone/>
            </a:pPr>
            <a:r>
              <a:rPr lang="en-US" sz="1000" dirty="0">
                <a:solidFill>
                  <a:srgbClr val="0E7C86"/>
                </a:solidFill>
                <a:latin typeface="Calibri" pitchFamily="34" charset="0"/>
                <a:ea typeface="Calibri" pitchFamily="34" charset="-122"/>
                <a:cs typeface="Calibri" pitchFamily="34" charset="-120"/>
              </a:rPr>
              <a:t>SoLₘ / SoLₘ₋₁₂ − 1</a:t>
            </a:r>
            <a:endParaRPr lang="en-US" sz="1000" dirty="0"/>
          </a:p>
        </p:txBody>
      </p:sp>
      <p:sp>
        <p:nvSpPr>
          <p:cNvPr id="21" name="Text 18"/>
          <p:cNvSpPr txBox="1"/>
          <p:nvPr/>
        </p:nvSpPr>
        <p:spPr>
          <a:xfrm>
            <a:off x="5394960" y="2093976"/>
            <a:ext cx="3200400" cy="429768"/>
          </a:xfrm>
          <a:prstGeom prst="rect">
            <a:avLst/>
          </a:prstGeom>
          <a:noFill/>
          <a:ln/>
        </p:spPr>
        <p:txBody>
          <a:bodyPr wrap="square" lIns="0" tIns="0" rIns="0" bIns="0" rtlCol="0" anchor="ctr"/>
          <a:lstStyle/>
          <a:p>
            <a:pPr indent="0" marL="0">
              <a:buNone/>
            </a:pPr>
            <a:r>
              <a:rPr lang="en-US" sz="950" dirty="0">
                <a:solidFill>
                  <a:srgbClr val="5E6964"/>
                </a:solidFill>
                <a:latin typeface="Calibri" pitchFamily="34" charset="0"/>
                <a:ea typeface="Calibri" pitchFamily="34" charset="-122"/>
                <a:cs typeface="Calibri" pitchFamily="34" charset="-120"/>
              </a:rPr>
              <a:t>La saison s'annule ; bruité d'un mois à l'autre</a:t>
            </a:r>
            <a:endParaRPr lang="en-US" sz="950" dirty="0"/>
          </a:p>
        </p:txBody>
      </p:sp>
      <p:sp>
        <p:nvSpPr>
          <p:cNvPr id="22" name="Shape 19"/>
          <p:cNvSpPr/>
          <p:nvPr/>
        </p:nvSpPr>
        <p:spPr>
          <a:xfrm>
            <a:off x="457200" y="2578608"/>
            <a:ext cx="8229600" cy="429768"/>
          </a:xfrm>
          <a:prstGeom prst="roundRect">
            <a:avLst>
              <a:gd name="adj" fmla="val 10638"/>
            </a:avLst>
          </a:prstGeom>
          <a:solidFill>
            <a:srgbClr val="F4F7F5"/>
          </a:solidFill>
          <a:ln w="6350">
            <a:solidFill>
              <a:srgbClr val="D5DED9"/>
            </a:solidFill>
            <a:prstDash val="solid"/>
          </a:ln>
        </p:spPr>
      </p:sp>
      <p:sp>
        <p:nvSpPr>
          <p:cNvPr id="23" name="Text 20"/>
          <p:cNvSpPr txBox="1"/>
          <p:nvPr/>
        </p:nvSpPr>
        <p:spPr>
          <a:xfrm>
            <a:off x="548640" y="2578608"/>
            <a:ext cx="1737360" cy="429768"/>
          </a:xfrm>
          <a:prstGeom prst="rect">
            <a:avLst/>
          </a:prstGeom>
          <a:noFill/>
          <a:ln/>
        </p:spPr>
        <p:txBody>
          <a:bodyPr wrap="square" lIns="0" tIns="0" rIns="0" bIns="0" rtlCol="0" anchor="ctr"/>
          <a:lstStyle/>
          <a:p>
            <a:pPr indent="0" marL="0">
              <a:buNone/>
            </a:pPr>
            <a:r>
              <a:rPr lang="en-US" sz="1050" b="1" dirty="0">
                <a:solidFill>
                  <a:srgbClr val="231F20"/>
                </a:solidFill>
                <a:latin typeface="Calibri" pitchFamily="34" charset="0"/>
                <a:ea typeface="Calibri" pitchFamily="34" charset="-122"/>
                <a:cs typeface="Calibri" pitchFamily="34" charset="-120"/>
              </a:rPr>
              <a:t>Croissance annuelle (%/an)</a:t>
            </a:r>
            <a:endParaRPr lang="en-US" sz="1050" dirty="0"/>
          </a:p>
        </p:txBody>
      </p:sp>
      <p:sp>
        <p:nvSpPr>
          <p:cNvPr id="24" name="Text 21"/>
          <p:cNvSpPr txBox="1"/>
          <p:nvPr/>
        </p:nvSpPr>
        <p:spPr>
          <a:xfrm>
            <a:off x="2331720" y="2578608"/>
            <a:ext cx="2971800" cy="429768"/>
          </a:xfrm>
          <a:prstGeom prst="rect">
            <a:avLst/>
          </a:prstGeom>
          <a:noFill/>
          <a:ln/>
        </p:spPr>
        <p:txBody>
          <a:bodyPr wrap="square" lIns="0" tIns="0" rIns="0" bIns="0" rtlCol="0" anchor="ctr"/>
          <a:lstStyle/>
          <a:p>
            <a:pPr indent="0" marL="0">
              <a:buNone/>
            </a:pPr>
            <a:r>
              <a:rPr lang="en-US" sz="1000" dirty="0">
                <a:solidFill>
                  <a:srgbClr val="0E7C86"/>
                </a:solidFill>
                <a:latin typeface="Calibri" pitchFamily="34" charset="0"/>
                <a:ea typeface="Calibri" pitchFamily="34" charset="-122"/>
                <a:cs typeface="Calibri" pitchFamily="34" charset="-120"/>
              </a:rPr>
              <a:t>exp(pente de Theil–Sen du log SoL) − 1, IC 95 %</a:t>
            </a:r>
            <a:endParaRPr lang="en-US" sz="1000" dirty="0"/>
          </a:p>
        </p:txBody>
      </p:sp>
      <p:sp>
        <p:nvSpPr>
          <p:cNvPr id="25" name="Text 22"/>
          <p:cNvSpPr txBox="1"/>
          <p:nvPr/>
        </p:nvSpPr>
        <p:spPr>
          <a:xfrm>
            <a:off x="5394960" y="2578608"/>
            <a:ext cx="3200400" cy="429768"/>
          </a:xfrm>
          <a:prstGeom prst="rect">
            <a:avLst/>
          </a:prstGeom>
          <a:noFill/>
          <a:ln/>
        </p:spPr>
        <p:txBody>
          <a:bodyPr wrap="square" lIns="0" tIns="0" rIns="0" bIns="0" rtlCol="0" anchor="ctr"/>
          <a:lstStyle/>
          <a:p>
            <a:pPr indent="0" marL="0">
              <a:buNone/>
            </a:pPr>
            <a:r>
              <a:rPr lang="en-US" sz="950" dirty="0">
                <a:solidFill>
                  <a:srgbClr val="5E6964"/>
                </a:solidFill>
                <a:latin typeface="Calibri" pitchFamily="34" charset="0"/>
                <a:ea typeface="Calibri" pitchFamily="34" charset="-122"/>
                <a:cs typeface="Calibri" pitchFamily="34" charset="-120"/>
              </a:rPr>
              <a:t>Tendance robuste ; lire l'intervalle, pas seulement le point</a:t>
            </a:r>
            <a:endParaRPr lang="en-US" sz="950" dirty="0"/>
          </a:p>
        </p:txBody>
      </p:sp>
      <p:sp>
        <p:nvSpPr>
          <p:cNvPr id="26" name="Shape 23"/>
          <p:cNvSpPr/>
          <p:nvPr/>
        </p:nvSpPr>
        <p:spPr>
          <a:xfrm>
            <a:off x="457200" y="3063240"/>
            <a:ext cx="8229600" cy="429768"/>
          </a:xfrm>
          <a:prstGeom prst="roundRect">
            <a:avLst>
              <a:gd name="adj" fmla="val 10638"/>
            </a:avLst>
          </a:prstGeom>
          <a:solidFill>
            <a:srgbClr val="FFFFFF"/>
          </a:solidFill>
          <a:ln w="6350">
            <a:solidFill>
              <a:srgbClr val="D5DED9"/>
            </a:solidFill>
            <a:prstDash val="solid"/>
          </a:ln>
        </p:spPr>
      </p:sp>
      <p:sp>
        <p:nvSpPr>
          <p:cNvPr id="27" name="Text 24"/>
          <p:cNvSpPr txBox="1"/>
          <p:nvPr/>
        </p:nvSpPr>
        <p:spPr>
          <a:xfrm>
            <a:off x="548640" y="3063240"/>
            <a:ext cx="1737360" cy="429768"/>
          </a:xfrm>
          <a:prstGeom prst="rect">
            <a:avLst/>
          </a:prstGeom>
          <a:noFill/>
          <a:ln/>
        </p:spPr>
        <p:txBody>
          <a:bodyPr wrap="square" lIns="0" tIns="0" rIns="0" bIns="0" rtlCol="0" anchor="ctr"/>
          <a:lstStyle/>
          <a:p>
            <a:pPr indent="0" marL="0">
              <a:buNone/>
            </a:pPr>
            <a:r>
              <a:rPr lang="en-US" sz="1050" b="1" dirty="0">
                <a:solidFill>
                  <a:srgbClr val="231F20"/>
                </a:solidFill>
                <a:latin typeface="Calibri" pitchFamily="34" charset="0"/>
                <a:ea typeface="Calibri" pitchFamily="34" charset="-122"/>
                <a:cs typeface="Calibri" pitchFamily="34" charset="-120"/>
              </a:rPr>
              <a:t>p-value de Mann–Kendall</a:t>
            </a:r>
            <a:endParaRPr lang="en-US" sz="1050" dirty="0"/>
          </a:p>
        </p:txBody>
      </p:sp>
      <p:sp>
        <p:nvSpPr>
          <p:cNvPr id="28" name="Text 25"/>
          <p:cNvSpPr txBox="1"/>
          <p:nvPr/>
        </p:nvSpPr>
        <p:spPr>
          <a:xfrm>
            <a:off x="2331720" y="3063240"/>
            <a:ext cx="2971800" cy="429768"/>
          </a:xfrm>
          <a:prstGeom prst="rect">
            <a:avLst/>
          </a:prstGeom>
          <a:noFill/>
          <a:ln/>
        </p:spPr>
        <p:txBody>
          <a:bodyPr wrap="square" lIns="0" tIns="0" rIns="0" bIns="0" rtlCol="0" anchor="ctr"/>
          <a:lstStyle/>
          <a:p>
            <a:pPr indent="0" marL="0">
              <a:buNone/>
            </a:pPr>
            <a:r>
              <a:rPr lang="en-US" sz="1000" dirty="0">
                <a:solidFill>
                  <a:srgbClr val="0E7C86"/>
                </a:solidFill>
                <a:latin typeface="Calibri" pitchFamily="34" charset="0"/>
                <a:ea typeface="Calibri" pitchFamily="34" charset="-122"/>
                <a:cs typeface="Calibri" pitchFamily="34" charset="-120"/>
              </a:rPr>
              <a:t>Test d'une tendance monotone</a:t>
            </a:r>
            <a:endParaRPr lang="en-US" sz="1000" dirty="0"/>
          </a:p>
        </p:txBody>
      </p:sp>
      <p:sp>
        <p:nvSpPr>
          <p:cNvPr id="29" name="Text 26"/>
          <p:cNvSpPr txBox="1"/>
          <p:nvPr/>
        </p:nvSpPr>
        <p:spPr>
          <a:xfrm>
            <a:off x="5394960" y="3063240"/>
            <a:ext cx="3200400" cy="429768"/>
          </a:xfrm>
          <a:prstGeom prst="rect">
            <a:avLst/>
          </a:prstGeom>
          <a:noFill/>
          <a:ln/>
        </p:spPr>
        <p:txBody>
          <a:bodyPr wrap="square" lIns="0" tIns="0" rIns="0" bIns="0" rtlCol="0" anchor="ctr"/>
          <a:lstStyle/>
          <a:p>
            <a:pPr indent="0" marL="0">
              <a:buNone/>
            </a:pPr>
            <a:r>
              <a:rPr lang="en-US" sz="950" dirty="0">
                <a:solidFill>
                  <a:srgbClr val="5E6964"/>
                </a:solidFill>
                <a:latin typeface="Calibri" pitchFamily="34" charset="0"/>
                <a:ea typeface="Calibri" pitchFamily="34" charset="-122"/>
                <a:cs typeface="Calibri" pitchFamily="34" charset="-120"/>
              </a:rPr>
              <a:t>Confiance : élevée p &lt; 0,01 · moyenne p &lt; 0,10 · faible sinon ou n &lt; 6</a:t>
            </a:r>
            <a:endParaRPr lang="en-US" sz="950" dirty="0"/>
          </a:p>
        </p:txBody>
      </p:sp>
      <p:sp>
        <p:nvSpPr>
          <p:cNvPr id="30" name="Shape 27"/>
          <p:cNvSpPr/>
          <p:nvPr/>
        </p:nvSpPr>
        <p:spPr>
          <a:xfrm>
            <a:off x="457200" y="3547872"/>
            <a:ext cx="8229600" cy="429768"/>
          </a:xfrm>
          <a:prstGeom prst="roundRect">
            <a:avLst>
              <a:gd name="adj" fmla="val 10638"/>
            </a:avLst>
          </a:prstGeom>
          <a:solidFill>
            <a:srgbClr val="F4F7F5"/>
          </a:solidFill>
          <a:ln w="6350">
            <a:solidFill>
              <a:srgbClr val="D5DED9"/>
            </a:solidFill>
            <a:prstDash val="solid"/>
          </a:ln>
        </p:spPr>
      </p:sp>
      <p:sp>
        <p:nvSpPr>
          <p:cNvPr id="31" name="Text 28"/>
          <p:cNvSpPr txBox="1"/>
          <p:nvPr/>
        </p:nvSpPr>
        <p:spPr>
          <a:xfrm>
            <a:off x="548640" y="3547872"/>
            <a:ext cx="1737360" cy="429768"/>
          </a:xfrm>
          <a:prstGeom prst="rect">
            <a:avLst/>
          </a:prstGeom>
          <a:noFill/>
          <a:ln/>
        </p:spPr>
        <p:txBody>
          <a:bodyPr wrap="square" lIns="0" tIns="0" rIns="0" bIns="0" rtlCol="0" anchor="ctr"/>
          <a:lstStyle/>
          <a:p>
            <a:pPr indent="0" marL="0">
              <a:buNone/>
            </a:pPr>
            <a:r>
              <a:rPr lang="en-US" sz="1050" b="1" dirty="0">
                <a:solidFill>
                  <a:srgbClr val="231F20"/>
                </a:solidFill>
                <a:latin typeface="Calibri" pitchFamily="34" charset="0"/>
                <a:ea typeface="Calibri" pitchFamily="34" charset="-122"/>
                <a:cs typeface="Calibri" pitchFamily="34" charset="-120"/>
              </a:rPr>
              <a:t>Anomalie</a:t>
            </a:r>
            <a:endParaRPr lang="en-US" sz="1050" dirty="0"/>
          </a:p>
        </p:txBody>
      </p:sp>
      <p:sp>
        <p:nvSpPr>
          <p:cNvPr id="32" name="Text 29"/>
          <p:cNvSpPr txBox="1"/>
          <p:nvPr/>
        </p:nvSpPr>
        <p:spPr>
          <a:xfrm>
            <a:off x="2331720" y="3547872"/>
            <a:ext cx="2971800" cy="429768"/>
          </a:xfrm>
          <a:prstGeom prst="rect">
            <a:avLst/>
          </a:prstGeom>
          <a:noFill/>
          <a:ln/>
        </p:spPr>
        <p:txBody>
          <a:bodyPr wrap="square" lIns="0" tIns="0" rIns="0" bIns="0" rtlCol="0" anchor="ctr"/>
          <a:lstStyle/>
          <a:p>
            <a:pPr indent="0" marL="0">
              <a:buNone/>
            </a:pPr>
            <a:r>
              <a:rPr lang="en-US" sz="1000" dirty="0">
                <a:solidFill>
                  <a:srgbClr val="0E7C86"/>
                </a:solidFill>
                <a:latin typeface="Calibri" pitchFamily="34" charset="0"/>
                <a:ea typeface="Calibri" pitchFamily="34" charset="-122"/>
                <a:cs typeface="Calibri" pitchFamily="34" charset="-120"/>
              </a:rPr>
              <a:t>|r − méd(r)| / (1,4826·MAD) ≥ 3,5 et |écart| ≥ 5 %</a:t>
            </a:r>
            <a:endParaRPr lang="en-US" sz="1000" dirty="0"/>
          </a:p>
        </p:txBody>
      </p:sp>
      <p:sp>
        <p:nvSpPr>
          <p:cNvPr id="33" name="Text 30"/>
          <p:cNvSpPr txBox="1"/>
          <p:nvPr/>
        </p:nvSpPr>
        <p:spPr>
          <a:xfrm>
            <a:off x="5394960" y="3547872"/>
            <a:ext cx="3200400" cy="429768"/>
          </a:xfrm>
          <a:prstGeom prst="rect">
            <a:avLst/>
          </a:prstGeom>
          <a:noFill/>
          <a:ln/>
        </p:spPr>
        <p:txBody>
          <a:bodyPr wrap="square" lIns="0" tIns="0" rIns="0" bIns="0" rtlCol="0" anchor="ctr"/>
          <a:lstStyle/>
          <a:p>
            <a:pPr indent="0" marL="0">
              <a:buNone/>
            </a:pPr>
            <a:r>
              <a:rPr lang="en-US" sz="950" dirty="0">
                <a:solidFill>
                  <a:srgbClr val="5E6964"/>
                </a:solidFill>
                <a:latin typeface="Calibri" pitchFamily="34" charset="0"/>
                <a:ea typeface="Calibri" pitchFamily="34" charset="-122"/>
                <a:cs typeface="Calibri" pitchFamily="34" charset="-120"/>
              </a:rPr>
              <a:t>Un mois hors norme, à expliquer</a:t>
            </a:r>
            <a:endParaRPr lang="en-US" sz="950" dirty="0"/>
          </a:p>
        </p:txBody>
      </p:sp>
      <p:sp>
        <p:nvSpPr>
          <p:cNvPr id="34" name="Shape 31"/>
          <p:cNvSpPr/>
          <p:nvPr/>
        </p:nvSpPr>
        <p:spPr>
          <a:xfrm>
            <a:off x="457200" y="4032504"/>
            <a:ext cx="8229600" cy="429768"/>
          </a:xfrm>
          <a:prstGeom prst="roundRect">
            <a:avLst>
              <a:gd name="adj" fmla="val 10638"/>
            </a:avLst>
          </a:prstGeom>
          <a:solidFill>
            <a:srgbClr val="FFFFFF"/>
          </a:solidFill>
          <a:ln w="6350">
            <a:solidFill>
              <a:srgbClr val="D5DED9"/>
            </a:solidFill>
            <a:prstDash val="solid"/>
          </a:ln>
        </p:spPr>
      </p:sp>
      <p:sp>
        <p:nvSpPr>
          <p:cNvPr id="35" name="Text 32"/>
          <p:cNvSpPr txBox="1"/>
          <p:nvPr/>
        </p:nvSpPr>
        <p:spPr>
          <a:xfrm>
            <a:off x="548640" y="4032504"/>
            <a:ext cx="1737360" cy="429768"/>
          </a:xfrm>
          <a:prstGeom prst="rect">
            <a:avLst/>
          </a:prstGeom>
          <a:noFill/>
          <a:ln/>
        </p:spPr>
        <p:txBody>
          <a:bodyPr wrap="square" lIns="0" tIns="0" rIns="0" bIns="0" rtlCol="0" anchor="ctr"/>
          <a:lstStyle/>
          <a:p>
            <a:pPr indent="0" marL="0">
              <a:buNone/>
            </a:pPr>
            <a:r>
              <a:rPr lang="en-US" sz="1050" b="1" dirty="0">
                <a:solidFill>
                  <a:srgbClr val="231F20"/>
                </a:solidFill>
                <a:latin typeface="Calibri" pitchFamily="34" charset="0"/>
                <a:ea typeface="Calibri" pitchFamily="34" charset="-122"/>
                <a:cs typeface="Calibri" pitchFamily="34" charset="-120"/>
              </a:rPr>
              <a:t>Rupture structurelle</a:t>
            </a:r>
            <a:endParaRPr lang="en-US" sz="1050" dirty="0"/>
          </a:p>
        </p:txBody>
      </p:sp>
      <p:sp>
        <p:nvSpPr>
          <p:cNvPr id="36" name="Text 33"/>
          <p:cNvSpPr txBox="1"/>
          <p:nvPr/>
        </p:nvSpPr>
        <p:spPr>
          <a:xfrm>
            <a:off x="2331720" y="4032504"/>
            <a:ext cx="2971800" cy="429768"/>
          </a:xfrm>
          <a:prstGeom prst="rect">
            <a:avLst/>
          </a:prstGeom>
          <a:noFill/>
          <a:ln/>
        </p:spPr>
        <p:txBody>
          <a:bodyPr wrap="square" lIns="0" tIns="0" rIns="0" bIns="0" rtlCol="0" anchor="ctr"/>
          <a:lstStyle/>
          <a:p>
            <a:pPr indent="0" marL="0">
              <a:buNone/>
            </a:pPr>
            <a:r>
              <a:rPr lang="en-US" sz="1000" dirty="0">
                <a:solidFill>
                  <a:srgbClr val="0E7C86"/>
                </a:solidFill>
                <a:latin typeface="Calibri" pitchFamily="34" charset="0"/>
                <a:ea typeface="Calibri" pitchFamily="34" charset="-122"/>
                <a:cs typeface="Calibri" pitchFamily="34" charset="-120"/>
              </a:rPr>
              <a:t>Segmentation binaire, segments linéaires ≥ 12 mois, pénalité type BIC</a:t>
            </a:r>
            <a:endParaRPr lang="en-US" sz="1000" dirty="0"/>
          </a:p>
        </p:txBody>
      </p:sp>
      <p:sp>
        <p:nvSpPr>
          <p:cNvPr id="37" name="Text 34"/>
          <p:cNvSpPr txBox="1"/>
          <p:nvPr/>
        </p:nvSpPr>
        <p:spPr>
          <a:xfrm>
            <a:off x="5394960" y="4032504"/>
            <a:ext cx="3200400" cy="429768"/>
          </a:xfrm>
          <a:prstGeom prst="rect">
            <a:avLst/>
          </a:prstGeom>
          <a:noFill/>
          <a:ln/>
        </p:spPr>
        <p:txBody>
          <a:bodyPr wrap="square" lIns="0" tIns="0" rIns="0" bIns="0" rtlCol="0" anchor="ctr"/>
          <a:lstStyle/>
          <a:p>
            <a:pPr indent="0" marL="0">
              <a:buNone/>
            </a:pPr>
            <a:r>
              <a:rPr lang="en-US" sz="950" dirty="0">
                <a:solidFill>
                  <a:srgbClr val="5E6964"/>
                </a:solidFill>
                <a:latin typeface="Calibri" pitchFamily="34" charset="0"/>
                <a:ea typeface="Calibri" pitchFamily="34" charset="-122"/>
                <a:cs typeface="Calibri" pitchFamily="34" charset="-120"/>
              </a:rPr>
              <a:t>Changement durable de niveau ou de pente</a:t>
            </a:r>
            <a:endParaRPr lang="en-US" sz="950" dirty="0"/>
          </a:p>
        </p:txBody>
      </p:sp>
      <p:sp>
        <p:nvSpPr>
          <p:cNvPr id="38" name="Text 35"/>
          <p:cNvSpPr txBox="1"/>
          <p:nvPr/>
        </p:nvSpPr>
        <p:spPr>
          <a:xfrm>
            <a:off x="457200" y="4553712"/>
            <a:ext cx="7223760" cy="219456"/>
          </a:xfrm>
          <a:prstGeom prst="rect">
            <a:avLst/>
          </a:prstGeom>
          <a:noFill/>
          <a:ln/>
        </p:spPr>
        <p:txBody>
          <a:bodyPr wrap="square" lIns="0" tIns="0" rIns="0" bIns="0" rtlCol="0" anchor="ctr"/>
          <a:lstStyle/>
          <a:p>
            <a:pPr indent="0" marL="0">
              <a:buNone/>
            </a:pPr>
            <a:r>
              <a:rPr lang="en-US" sz="900" i="1" dirty="0">
                <a:solidFill>
                  <a:srgbClr val="5E6964"/>
                </a:solidFill>
                <a:latin typeface="Calibri" pitchFamily="34" charset="0"/>
                <a:ea typeface="Calibri" pitchFamily="34" charset="-122"/>
                <a:cs typeface="Calibri" pitchFamily="34" charset="-120"/>
              </a:rPr>
              <a:t>Sources : Cleveland et al. (1990) STL ; Sen (1968) ; Mann (1945), Kendall (1975)</a:t>
            </a:r>
            <a:endParaRPr lang="en-US" sz="9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8A9590"/>
                </a:solidFill>
                <a:latin typeface="Calibri"/>
                <a:ea typeface="Calibri"/>
                <a:cs typeface="Calibri"/>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3"/>
          <p:cNvSpPr/>
          <p:nvPr>
            <p:ph idx="105" type="body" hasCustomPrompt="1"/>
          </p:nvPr>
        </p:nvSpPr>
        <p:spPr>
          <a:xfrm>
            <a:off x="457200" y="274320"/>
            <a:ext cx="6217920" cy="256032"/>
          </a:xfrm>
          <a:prstGeom prst="rect">
            <a:avLst/>
          </a:prstGeom>
          <a:noFill/>
          <a:ln/>
        </p:spPr>
        <p:txBody>
          <a:bodyPr wrap="square" lIns="0" tIns="0" rIns="0" bIns="0" rtlCol="0" anchor="ctr"/>
          <a:lstStyle/>
          <a:p>
            <a:pPr algn="l" indent="0" marL="0">
              <a:buNone/>
            </a:pPr>
            <a:r>
              <a:rPr lang="en-US" sz="1050" b="1" spc="300" kern="0" dirty="0">
                <a:solidFill>
                  <a:srgbClr val="00704A"/>
                </a:solidFill>
                <a:latin typeface="Calibri" pitchFamily="34" charset="0"/>
                <a:ea typeface="Calibri" pitchFamily="34" charset="-122"/>
                <a:cs typeface="Calibri" pitchFamily="34" charset="-120"/>
              </a:rPr>
              <a:t>04 · ANALYSER · SCÉNARIO 2</a:t>
            </a:r>
            <a:endParaRPr lang="en-US" sz="1050" dirty="0"/>
          </a:p>
        </p:txBody>
      </p:sp>
      <p:sp>
        <p:nvSpPr>
          <p:cNvPr id="3" name="Text 3"/>
          <p:cNvSpPr/>
          <p:nvPr>
            <p:ph idx="106" type="title" hasCustomPrompt="1"/>
          </p:nvPr>
        </p:nvSpPr>
        <p:spPr>
          <a:xfrm>
            <a:off x="457200" y="548640"/>
            <a:ext cx="8229600" cy="566928"/>
          </a:xfrm>
          <a:prstGeom prst="rect">
            <a:avLst/>
          </a:prstGeom>
          <a:noFill/>
          <a:ln/>
        </p:spPr>
        <p:txBody>
          <a:bodyPr wrap="square" lIns="0" tIns="0" rIns="0" bIns="0" rtlCol="0" anchor="ctr"/>
          <a:lstStyle/>
          <a:p>
            <a:pPr algn="l" indent="0" marL="0">
              <a:buNone/>
            </a:pPr>
            <a:r>
              <a:rPr lang="en-US" sz="2800" b="1" dirty="0">
                <a:solidFill>
                  <a:srgbClr val="231F20"/>
                </a:solidFill>
                <a:latin typeface="Calibri" pitchFamily="34" charset="0"/>
                <a:ea typeface="Calibri" pitchFamily="34" charset="-122"/>
                <a:cs typeface="Calibri" pitchFamily="34" charset="-120"/>
              </a:rPr>
              <a:t>Régions : qui croît, et convergent-elles ?</a:t>
            </a:r>
            <a:endParaRPr lang="en-US" sz="2800" dirty="0"/>
          </a:p>
        </p:txBody>
      </p:sp>
      <p:sp>
        <p:nvSpPr>
          <p:cNvPr id="4" name="dot0"/>
          <p:cNvSpPr/>
          <p:nvPr/>
        </p:nvSpPr>
        <p:spPr>
          <a:xfrm>
            <a:off x="7644384" y="338328"/>
            <a:ext cx="100584" cy="100584"/>
          </a:xfrm>
          <a:prstGeom prst="ellipse">
            <a:avLst/>
          </a:prstGeom>
          <a:solidFill>
            <a:srgbClr val="D5DED9"/>
          </a:solidFill>
          <a:ln w="12700">
            <a:solidFill>
              <a:srgbClr val="D5DED9"/>
            </a:solidFill>
            <a:prstDash val="solid"/>
          </a:ln>
        </p:spPr>
      </p:sp>
      <p:sp>
        <p:nvSpPr>
          <p:cNvPr id="5" name="dot1"/>
          <p:cNvSpPr/>
          <p:nvPr/>
        </p:nvSpPr>
        <p:spPr>
          <a:xfrm>
            <a:off x="7818120" y="338328"/>
            <a:ext cx="100584" cy="100584"/>
          </a:xfrm>
          <a:prstGeom prst="ellipse">
            <a:avLst/>
          </a:prstGeom>
          <a:solidFill>
            <a:srgbClr val="D5DED9"/>
          </a:solidFill>
          <a:ln w="12700">
            <a:solidFill>
              <a:srgbClr val="D5DED9"/>
            </a:solidFill>
            <a:prstDash val="solid"/>
          </a:ln>
        </p:spPr>
      </p:sp>
      <p:sp>
        <p:nvSpPr>
          <p:cNvPr id="6" name="dot2"/>
          <p:cNvSpPr/>
          <p:nvPr/>
        </p:nvSpPr>
        <p:spPr>
          <a:xfrm>
            <a:off x="7991856" y="338328"/>
            <a:ext cx="100584" cy="100584"/>
          </a:xfrm>
          <a:prstGeom prst="ellipse">
            <a:avLst/>
          </a:prstGeom>
          <a:solidFill>
            <a:srgbClr val="D5DED9"/>
          </a:solidFill>
          <a:ln w="12700">
            <a:solidFill>
              <a:srgbClr val="D5DED9"/>
            </a:solidFill>
            <a:prstDash val="solid"/>
          </a:ln>
        </p:spPr>
      </p:sp>
      <p:sp>
        <p:nvSpPr>
          <p:cNvPr id="7" name="dot3"/>
          <p:cNvSpPr/>
          <p:nvPr/>
        </p:nvSpPr>
        <p:spPr>
          <a:xfrm>
            <a:off x="8165592" y="338328"/>
            <a:ext cx="100584" cy="100584"/>
          </a:xfrm>
          <a:prstGeom prst="ellipse">
            <a:avLst/>
          </a:prstGeom>
          <a:solidFill>
            <a:srgbClr val="D49A00"/>
          </a:solidFill>
          <a:ln w="12700">
            <a:solidFill>
              <a:srgbClr val="D49A00"/>
            </a:solidFill>
            <a:prstDash val="solid"/>
          </a:ln>
        </p:spPr>
      </p:sp>
      <p:sp>
        <p:nvSpPr>
          <p:cNvPr id="8" name="dot4"/>
          <p:cNvSpPr/>
          <p:nvPr/>
        </p:nvSpPr>
        <p:spPr>
          <a:xfrm>
            <a:off x="8339328" y="338328"/>
            <a:ext cx="100584" cy="100584"/>
          </a:xfrm>
          <a:prstGeom prst="ellipse">
            <a:avLst/>
          </a:prstGeom>
          <a:solidFill>
            <a:srgbClr val="D5DED9"/>
          </a:solidFill>
          <a:ln w="12700">
            <a:solidFill>
              <a:srgbClr val="D5DED9"/>
            </a:solidFill>
            <a:prstDash val="solid"/>
          </a:ln>
        </p:spPr>
      </p:sp>
      <p:sp>
        <p:nvSpPr>
          <p:cNvPr id="9" name="dot5"/>
          <p:cNvSpPr/>
          <p:nvPr/>
        </p:nvSpPr>
        <p:spPr>
          <a:xfrm>
            <a:off x="8513064" y="338328"/>
            <a:ext cx="100584" cy="100584"/>
          </a:xfrm>
          <a:prstGeom prst="ellipse">
            <a:avLst/>
          </a:prstGeom>
          <a:solidFill>
            <a:srgbClr val="D5DED9"/>
          </a:solidFill>
          <a:ln w="12700">
            <a:solidFill>
              <a:srgbClr val="D5DED9"/>
            </a:solidFill>
            <a:prstDash val="solid"/>
          </a:ln>
        </p:spPr>
      </p:sp>
      <p:sp>
        <p:nvSpPr>
          <p:cNvPr id="11" name="Text 8"/>
          <p:cNvSpPr txBox="1"/>
          <p:nvPr/>
        </p:nvSpPr>
        <p:spPr>
          <a:xfrm>
            <a:off x="457200" y="1325880"/>
            <a:ext cx="4754880" cy="219456"/>
          </a:xfrm>
          <a:prstGeom prst="rect">
            <a:avLst/>
          </a:prstGeom>
          <a:noFill/>
          <a:ln/>
        </p:spPr>
        <p:txBody>
          <a:bodyPr wrap="square" lIns="0" tIns="0" rIns="0" bIns="0" rtlCol="0" anchor="ctr"/>
          <a:lstStyle/>
          <a:p>
            <a:pPr indent="0" marL="0">
              <a:buNone/>
            </a:pPr>
            <a:r>
              <a:rPr lang="en-US" sz="900" b="1" spc="200" kern="0" dirty="0">
                <a:solidFill>
                  <a:srgbClr val="00704A"/>
                </a:solidFill>
                <a:latin typeface="Calibri" pitchFamily="34" charset="0"/>
                <a:ea typeface="Calibri" pitchFamily="34" charset="-122"/>
                <a:cs typeface="Calibri" pitchFamily="34" charset="-120"/>
              </a:rPr>
              <a:t>DONNÉES UTILISÉES</a:t>
            </a:r>
            <a:endParaRPr lang="en-US" sz="900" dirty="0"/>
          </a:p>
        </p:txBody>
      </p:sp>
      <p:sp>
        <p:nvSpPr>
          <p:cNvPr id="12" name="Shape 9"/>
          <p:cNvSpPr/>
          <p:nvPr/>
        </p:nvSpPr>
        <p:spPr>
          <a:xfrm>
            <a:off x="457200" y="1600200"/>
            <a:ext cx="329184" cy="329184"/>
          </a:xfrm>
          <a:prstGeom prst="ellipse">
            <a:avLst/>
          </a:prstGeom>
          <a:solidFill>
            <a:srgbClr val="D49A00">
              <a:alpha val="22000"/>
            </a:srgbClr>
          </a:solidFill>
          <a:ln w="12700">
            <a:solidFill>
              <a:srgbClr val="D49A00">
                <a:alpha val="0"/>
              </a:srgbClr>
            </a:solidFill>
            <a:prstDash val="solid"/>
          </a:ln>
        </p:spPr>
      </p:sp>
      <p:pic>
        <p:nvPicPr>
          <p:cNvPr id="13" name="Image 0" descr="preencoded.png">    </p:cNvPr>
          <p:cNvPicPr>
            <a:picLocks noChangeAspect="1"/>
          </p:cNvPicPr>
          <p:nvPr/>
        </p:nvPicPr>
        <p:blipFill>
          <a:blip r:embed="rId1"/>
          <a:stretch>
            <a:fillRect/>
          </a:stretch>
        </p:blipFill>
        <p:spPr>
          <a:xfrm>
            <a:off x="536204" y="1679204"/>
            <a:ext cx="171176" cy="171176"/>
          </a:xfrm>
          <a:prstGeom prst="rect">
            <a:avLst/>
          </a:prstGeom>
        </p:spPr>
      </p:pic>
      <p:sp>
        <p:nvSpPr>
          <p:cNvPr id="14" name="Text 10"/>
          <p:cNvSpPr txBox="1"/>
          <p:nvPr/>
        </p:nvSpPr>
        <p:spPr>
          <a:xfrm>
            <a:off x="841248" y="1572768"/>
            <a:ext cx="1216152" cy="411480"/>
          </a:xfrm>
          <a:prstGeom prst="rect">
            <a:avLst/>
          </a:prstGeom>
          <a:noFill/>
          <a:ln/>
        </p:spPr>
        <p:txBody>
          <a:bodyPr wrap="square" lIns="0" tIns="0" rIns="0" bIns="0" rtlCol="0" anchor="ctr"/>
          <a:lstStyle/>
          <a:p>
            <a:pPr indent="0" marL="0">
              <a:buNone/>
            </a:pPr>
            <a:r>
              <a:rPr lang="en-US" sz="900" dirty="0">
                <a:solidFill>
                  <a:srgbClr val="231F20"/>
                </a:solidFill>
                <a:latin typeface="Calibri" pitchFamily="34" charset="0"/>
                <a:ea typeface="Calibri" pitchFamily="34" charset="-122"/>
                <a:cs typeface="Calibri" pitchFamily="34" charset="-120"/>
              </a:rPr>
              <a:t>SoL annuelle VNL par ADM1 / ADM2</a:t>
            </a:r>
            <a:endParaRPr lang="en-US" sz="900" dirty="0"/>
          </a:p>
        </p:txBody>
      </p:sp>
      <p:sp>
        <p:nvSpPr>
          <p:cNvPr id="15" name="Shape 11"/>
          <p:cNvSpPr/>
          <p:nvPr/>
        </p:nvSpPr>
        <p:spPr>
          <a:xfrm>
            <a:off x="2103120" y="1600200"/>
            <a:ext cx="329184" cy="329184"/>
          </a:xfrm>
          <a:prstGeom prst="ellipse">
            <a:avLst/>
          </a:prstGeom>
          <a:solidFill>
            <a:srgbClr val="D49A00">
              <a:alpha val="22000"/>
            </a:srgbClr>
          </a:solidFill>
          <a:ln w="12700">
            <a:solidFill>
              <a:srgbClr val="D49A00">
                <a:alpha val="0"/>
              </a:srgbClr>
            </a:solidFill>
            <a:prstDash val="solid"/>
          </a:ln>
        </p:spPr>
      </p:sp>
      <p:pic>
        <p:nvPicPr>
          <p:cNvPr id="16" name="Image 1" descr="preencoded.png">    </p:cNvPr>
          <p:cNvPicPr>
            <a:picLocks noChangeAspect="1"/>
          </p:cNvPicPr>
          <p:nvPr/>
        </p:nvPicPr>
        <p:blipFill>
          <a:blip r:embed="rId2"/>
          <a:stretch>
            <a:fillRect/>
          </a:stretch>
        </p:blipFill>
        <p:spPr>
          <a:xfrm>
            <a:off x="2182124" y="1679204"/>
            <a:ext cx="171176" cy="171176"/>
          </a:xfrm>
          <a:prstGeom prst="rect">
            <a:avLst/>
          </a:prstGeom>
        </p:spPr>
      </p:pic>
      <p:sp>
        <p:nvSpPr>
          <p:cNvPr id="17" name="Text 12"/>
          <p:cNvSpPr txBox="1"/>
          <p:nvPr/>
        </p:nvSpPr>
        <p:spPr>
          <a:xfrm>
            <a:off x="2487168" y="1572768"/>
            <a:ext cx="1216152" cy="411480"/>
          </a:xfrm>
          <a:prstGeom prst="rect">
            <a:avLst/>
          </a:prstGeom>
          <a:noFill/>
          <a:ln/>
        </p:spPr>
        <p:txBody>
          <a:bodyPr wrap="square" lIns="0" tIns="0" rIns="0" bIns="0" rtlCol="0" anchor="ctr"/>
          <a:lstStyle/>
          <a:p>
            <a:pPr indent="0" marL="0">
              <a:buNone/>
            </a:pPr>
            <a:r>
              <a:rPr lang="en-US" sz="900" dirty="0">
                <a:solidFill>
                  <a:srgbClr val="231F20"/>
                </a:solidFill>
                <a:latin typeface="Calibri" pitchFamily="34" charset="0"/>
                <a:ea typeface="Calibri" pitchFamily="34" charset="-122"/>
                <a:cs typeface="Calibri" pitchFamily="34" charset="-120"/>
              </a:rPr>
              <a:t>GHS-POP → lumière par habitant</a:t>
            </a:r>
            <a:endParaRPr lang="en-US" sz="900" dirty="0"/>
          </a:p>
        </p:txBody>
      </p:sp>
      <p:sp>
        <p:nvSpPr>
          <p:cNvPr id="18" name="Shape 13"/>
          <p:cNvSpPr/>
          <p:nvPr/>
        </p:nvSpPr>
        <p:spPr>
          <a:xfrm>
            <a:off x="3749040" y="1600200"/>
            <a:ext cx="329184" cy="329184"/>
          </a:xfrm>
          <a:prstGeom prst="ellipse">
            <a:avLst/>
          </a:prstGeom>
          <a:solidFill>
            <a:srgbClr val="D49A00">
              <a:alpha val="22000"/>
            </a:srgbClr>
          </a:solidFill>
          <a:ln w="12700">
            <a:solidFill>
              <a:srgbClr val="D49A00">
                <a:alpha val="0"/>
              </a:srgbClr>
            </a:solidFill>
            <a:prstDash val="solid"/>
          </a:ln>
        </p:spPr>
      </p:sp>
      <p:pic>
        <p:nvPicPr>
          <p:cNvPr id="19" name="Image 2" descr="preencoded.png">    </p:cNvPr>
          <p:cNvPicPr>
            <a:picLocks noChangeAspect="1"/>
          </p:cNvPicPr>
          <p:nvPr/>
        </p:nvPicPr>
        <p:blipFill>
          <a:blip r:embed="rId3"/>
          <a:stretch>
            <a:fillRect/>
          </a:stretch>
        </p:blipFill>
        <p:spPr>
          <a:xfrm>
            <a:off x="3828044" y="1679204"/>
            <a:ext cx="171176" cy="171176"/>
          </a:xfrm>
          <a:prstGeom prst="rect">
            <a:avLst/>
          </a:prstGeom>
        </p:spPr>
      </p:pic>
      <p:sp>
        <p:nvSpPr>
          <p:cNvPr id="20" name="Text 14"/>
          <p:cNvSpPr txBox="1"/>
          <p:nvPr/>
        </p:nvSpPr>
        <p:spPr>
          <a:xfrm>
            <a:off x="4133088" y="1572768"/>
            <a:ext cx="1216152" cy="411480"/>
          </a:xfrm>
          <a:prstGeom prst="rect">
            <a:avLst/>
          </a:prstGeom>
          <a:noFill/>
          <a:ln/>
        </p:spPr>
        <p:txBody>
          <a:bodyPr wrap="square" lIns="0" tIns="0" rIns="0" bIns="0" rtlCol="0" anchor="ctr"/>
          <a:lstStyle/>
          <a:p>
            <a:pPr indent="0" marL="0">
              <a:buNone/>
            </a:pPr>
            <a:r>
              <a:rPr lang="en-US" sz="900" dirty="0">
                <a:solidFill>
                  <a:srgbClr val="231F20"/>
                </a:solidFill>
                <a:latin typeface="Calibri" pitchFamily="34" charset="0"/>
                <a:ea typeface="Calibri" pitchFamily="34" charset="-122"/>
                <a:cs typeface="Calibri" pitchFamily="34" charset="-120"/>
              </a:rPr>
              <a:t>NO₂ Sentinel-5P, dernière année</a:t>
            </a:r>
            <a:endParaRPr lang="en-US" sz="900" dirty="0"/>
          </a:p>
        </p:txBody>
      </p:sp>
      <p:sp>
        <p:nvSpPr>
          <p:cNvPr id="21" name="Text 15"/>
          <p:cNvSpPr txBox="1"/>
          <p:nvPr/>
        </p:nvSpPr>
        <p:spPr>
          <a:xfrm>
            <a:off x="457200" y="2148840"/>
            <a:ext cx="4754880" cy="219456"/>
          </a:xfrm>
          <a:prstGeom prst="rect">
            <a:avLst/>
          </a:prstGeom>
          <a:noFill/>
          <a:ln/>
        </p:spPr>
        <p:txBody>
          <a:bodyPr wrap="square" lIns="0" tIns="0" rIns="0" bIns="0" rtlCol="0" anchor="ctr"/>
          <a:lstStyle/>
          <a:p>
            <a:pPr indent="0" marL="0">
              <a:buNone/>
            </a:pPr>
            <a:r>
              <a:rPr lang="en-US" sz="900" b="1" spc="200" kern="0" dirty="0">
                <a:solidFill>
                  <a:srgbClr val="00704A"/>
                </a:solidFill>
                <a:latin typeface="Calibri" pitchFamily="34" charset="0"/>
                <a:ea typeface="Calibri" pitchFamily="34" charset="-122"/>
                <a:cs typeface="Calibri" pitchFamily="34" charset="-120"/>
              </a:rPr>
              <a:t>MÉTHODE, PAS À PAS</a:t>
            </a:r>
            <a:endParaRPr lang="en-US" sz="900" dirty="0"/>
          </a:p>
        </p:txBody>
      </p:sp>
      <p:sp>
        <p:nvSpPr>
          <p:cNvPr id="22" name="Shape 16"/>
          <p:cNvSpPr/>
          <p:nvPr/>
        </p:nvSpPr>
        <p:spPr>
          <a:xfrm>
            <a:off x="457200" y="2450592"/>
            <a:ext cx="310896" cy="310896"/>
          </a:xfrm>
          <a:prstGeom prst="ellipse">
            <a:avLst/>
          </a:prstGeom>
          <a:solidFill>
            <a:srgbClr val="D49A00"/>
          </a:solidFill>
          <a:ln w="12700">
            <a:solidFill>
              <a:srgbClr val="D49A00"/>
            </a:solidFill>
            <a:prstDash val="solid"/>
          </a:ln>
        </p:spPr>
      </p:sp>
      <p:sp>
        <p:nvSpPr>
          <p:cNvPr id="23" name="Text 17"/>
          <p:cNvSpPr txBox="1"/>
          <p:nvPr/>
        </p:nvSpPr>
        <p:spPr>
          <a:xfrm>
            <a:off x="457200" y="245059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24" name="Text 18"/>
          <p:cNvSpPr txBox="1"/>
          <p:nvPr/>
        </p:nvSpPr>
        <p:spPr>
          <a:xfrm>
            <a:off x="896112" y="2423160"/>
            <a:ext cx="4297680" cy="219456"/>
          </a:xfrm>
          <a:prstGeom prst="rect">
            <a:avLst/>
          </a:prstGeom>
          <a:noFill/>
          <a:ln/>
        </p:spPr>
        <p:txBody>
          <a:bodyPr wrap="square" lIns="0" tIns="0" rIns="0" bIns="0" rtlCol="0" anchor="t"/>
          <a:lstStyle/>
          <a:p>
            <a:pPr indent="0" marL="0">
              <a:buNone/>
            </a:pPr>
            <a:r>
              <a:rPr lang="en-US" sz="1100" b="1" dirty="0">
                <a:solidFill>
                  <a:srgbClr val="231F20"/>
                </a:solidFill>
                <a:latin typeface="Calibri" pitchFamily="34" charset="0"/>
                <a:ea typeface="Calibri" pitchFamily="34" charset="-122"/>
                <a:cs typeface="Calibri" pitchFamily="34" charset="-120"/>
              </a:rPr>
              <a:t>Croissance robuste par unité</a:t>
            </a:r>
            <a:endParaRPr lang="en-US" sz="1100" dirty="0"/>
          </a:p>
        </p:txBody>
      </p:sp>
      <p:sp>
        <p:nvSpPr>
          <p:cNvPr id="25" name="Text 19"/>
          <p:cNvSpPr txBox="1"/>
          <p:nvPr/>
        </p:nvSpPr>
        <p:spPr>
          <a:xfrm>
            <a:off x="896112" y="2642616"/>
            <a:ext cx="4297680" cy="256032"/>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Pente de Theil–Sen du log SoL, p de Mann–Kendall</a:t>
            </a:r>
            <a:endParaRPr lang="en-US" sz="950" dirty="0"/>
          </a:p>
        </p:txBody>
      </p:sp>
      <p:sp>
        <p:nvSpPr>
          <p:cNvPr id="26" name="Shape 20"/>
          <p:cNvSpPr/>
          <p:nvPr/>
        </p:nvSpPr>
        <p:spPr>
          <a:xfrm>
            <a:off x="457200" y="2962656"/>
            <a:ext cx="310896" cy="310896"/>
          </a:xfrm>
          <a:prstGeom prst="ellipse">
            <a:avLst/>
          </a:prstGeom>
          <a:solidFill>
            <a:srgbClr val="D49A00"/>
          </a:solidFill>
          <a:ln w="12700">
            <a:solidFill>
              <a:srgbClr val="D49A00"/>
            </a:solidFill>
            <a:prstDash val="solid"/>
          </a:ln>
        </p:spPr>
      </p:sp>
      <p:sp>
        <p:nvSpPr>
          <p:cNvPr id="27" name="Text 21"/>
          <p:cNvSpPr txBox="1"/>
          <p:nvPr/>
        </p:nvSpPr>
        <p:spPr>
          <a:xfrm>
            <a:off x="457200" y="296265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28" name="Text 22"/>
          <p:cNvSpPr txBox="1"/>
          <p:nvPr/>
        </p:nvSpPr>
        <p:spPr>
          <a:xfrm>
            <a:off x="896112" y="2935224"/>
            <a:ext cx="4297680" cy="219456"/>
          </a:xfrm>
          <a:prstGeom prst="rect">
            <a:avLst/>
          </a:prstGeom>
          <a:noFill/>
          <a:ln/>
        </p:spPr>
        <p:txBody>
          <a:bodyPr wrap="square" lIns="0" tIns="0" rIns="0" bIns="0" rtlCol="0" anchor="t"/>
          <a:lstStyle/>
          <a:p>
            <a:pPr indent="0" marL="0">
              <a:buNone/>
            </a:pPr>
            <a:r>
              <a:rPr lang="en-US" sz="1100" b="1" dirty="0">
                <a:solidFill>
                  <a:srgbClr val="231F20"/>
                </a:solidFill>
                <a:latin typeface="Calibri" pitchFamily="34" charset="0"/>
                <a:ea typeface="Calibri" pitchFamily="34" charset="-122"/>
                <a:cs typeface="Calibri" pitchFamily="34" charset="-120"/>
              </a:rPr>
              <a:t>Corriger les tests multiples</a:t>
            </a:r>
            <a:endParaRPr lang="en-US" sz="1100" dirty="0"/>
          </a:p>
        </p:txBody>
      </p:sp>
      <p:sp>
        <p:nvSpPr>
          <p:cNvPr id="29" name="Text 23"/>
          <p:cNvSpPr txBox="1"/>
          <p:nvPr/>
        </p:nvSpPr>
        <p:spPr>
          <a:xfrm>
            <a:off x="896112" y="3154680"/>
            <a:ext cx="4297680" cy="256032"/>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p ajustée de Benjamini–Hochberg (taux de fausses découvertes)</a:t>
            </a:r>
            <a:endParaRPr lang="en-US" sz="950" dirty="0"/>
          </a:p>
        </p:txBody>
      </p:sp>
      <p:sp>
        <p:nvSpPr>
          <p:cNvPr id="30" name="Shape 24"/>
          <p:cNvSpPr/>
          <p:nvPr/>
        </p:nvSpPr>
        <p:spPr>
          <a:xfrm>
            <a:off x="457200" y="3474720"/>
            <a:ext cx="310896" cy="310896"/>
          </a:xfrm>
          <a:prstGeom prst="ellipse">
            <a:avLst/>
          </a:prstGeom>
          <a:solidFill>
            <a:srgbClr val="D49A00"/>
          </a:solidFill>
          <a:ln w="12700">
            <a:solidFill>
              <a:srgbClr val="D49A00"/>
            </a:solidFill>
            <a:prstDash val="solid"/>
          </a:ln>
        </p:spPr>
      </p:sp>
      <p:sp>
        <p:nvSpPr>
          <p:cNvPr id="31" name="Text 25"/>
          <p:cNvSpPr txBox="1"/>
          <p:nvPr/>
        </p:nvSpPr>
        <p:spPr>
          <a:xfrm>
            <a:off x="457200" y="3474720"/>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32" name="Text 26"/>
          <p:cNvSpPr txBox="1"/>
          <p:nvPr/>
        </p:nvSpPr>
        <p:spPr>
          <a:xfrm>
            <a:off x="896112" y="3447288"/>
            <a:ext cx="4297680" cy="219456"/>
          </a:xfrm>
          <a:prstGeom prst="rect">
            <a:avLst/>
          </a:prstGeom>
          <a:noFill/>
          <a:ln/>
        </p:spPr>
        <p:txBody>
          <a:bodyPr wrap="square" lIns="0" tIns="0" rIns="0" bIns="0" rtlCol="0" anchor="t"/>
          <a:lstStyle/>
          <a:p>
            <a:pPr indent="0" marL="0">
              <a:buNone/>
            </a:pPr>
            <a:r>
              <a:rPr lang="en-US" sz="1100" b="1" dirty="0">
                <a:solidFill>
                  <a:srgbClr val="231F20"/>
                </a:solidFill>
                <a:latin typeface="Calibri" pitchFamily="34" charset="0"/>
                <a:ea typeface="Calibri" pitchFamily="34" charset="-122"/>
                <a:cs typeface="Calibri" pitchFamily="34" charset="-120"/>
              </a:rPr>
              <a:t>Classer</a:t>
            </a:r>
            <a:endParaRPr lang="en-US" sz="1100" dirty="0"/>
          </a:p>
        </p:txBody>
      </p:sp>
      <p:sp>
        <p:nvSpPr>
          <p:cNvPr id="33" name="Text 27"/>
          <p:cNvSpPr txBox="1"/>
          <p:nvPr/>
        </p:nvSpPr>
        <p:spPr>
          <a:xfrm>
            <a:off x="896112" y="3666744"/>
            <a:ext cx="4297680" cy="256032"/>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Croissance / Déclin si |pente| ≥ 1 %/an et p_ajustée &lt; 0,10, sinon Stagnation</a:t>
            </a:r>
            <a:endParaRPr lang="en-US" sz="950" dirty="0"/>
          </a:p>
        </p:txBody>
      </p:sp>
      <p:sp>
        <p:nvSpPr>
          <p:cNvPr id="34" name="Shape 28"/>
          <p:cNvSpPr/>
          <p:nvPr/>
        </p:nvSpPr>
        <p:spPr>
          <a:xfrm>
            <a:off x="457200" y="3986784"/>
            <a:ext cx="310896" cy="310896"/>
          </a:xfrm>
          <a:prstGeom prst="ellipse">
            <a:avLst/>
          </a:prstGeom>
          <a:solidFill>
            <a:srgbClr val="D49A00"/>
          </a:solidFill>
          <a:ln w="12700">
            <a:solidFill>
              <a:srgbClr val="D49A00"/>
            </a:solidFill>
            <a:prstDash val="solid"/>
          </a:ln>
        </p:spPr>
      </p:sp>
      <p:sp>
        <p:nvSpPr>
          <p:cNvPr id="35" name="Text 29"/>
          <p:cNvSpPr txBox="1"/>
          <p:nvPr/>
        </p:nvSpPr>
        <p:spPr>
          <a:xfrm>
            <a:off x="457200" y="3986784"/>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36" name="Text 30"/>
          <p:cNvSpPr txBox="1"/>
          <p:nvPr/>
        </p:nvSpPr>
        <p:spPr>
          <a:xfrm>
            <a:off x="896112" y="3959352"/>
            <a:ext cx="4297680" cy="219456"/>
          </a:xfrm>
          <a:prstGeom prst="rect">
            <a:avLst/>
          </a:prstGeom>
          <a:noFill/>
          <a:ln/>
        </p:spPr>
        <p:txBody>
          <a:bodyPr wrap="square" lIns="0" tIns="0" rIns="0" bIns="0" rtlCol="0" anchor="t"/>
          <a:lstStyle/>
          <a:p>
            <a:pPr indent="0" marL="0">
              <a:buNone/>
            </a:pPr>
            <a:r>
              <a:rPr lang="en-US" sz="1100" b="1" dirty="0">
                <a:solidFill>
                  <a:srgbClr val="231F20"/>
                </a:solidFill>
                <a:latin typeface="Calibri" pitchFamily="34" charset="0"/>
                <a:ea typeface="Calibri" pitchFamily="34" charset="-122"/>
                <a:cs typeface="Calibri" pitchFamily="34" charset="-120"/>
              </a:rPr>
              <a:t>Concentration et convergence</a:t>
            </a:r>
            <a:endParaRPr lang="en-US" sz="1100" dirty="0"/>
          </a:p>
        </p:txBody>
      </p:sp>
      <p:sp>
        <p:nvSpPr>
          <p:cNvPr id="37" name="Text 31"/>
          <p:cNvSpPr txBox="1"/>
          <p:nvPr/>
        </p:nvSpPr>
        <p:spPr>
          <a:xfrm>
            <a:off x="896112" y="4178808"/>
            <a:ext cx="4297680" cy="256032"/>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Parts du sommet, HHI, β (moyenne initiale sur 3 ans), σ ; corrélation NO₂</a:t>
            </a:r>
            <a:endParaRPr lang="en-US" sz="950" dirty="0"/>
          </a:p>
        </p:txBody>
      </p:sp>
      <p:graphicFrame>
        <p:nvGraphicFramePr>
          <p:cNvPr id="38" name="Chart 0" descr=""/>
          <p:cNvGraphicFramePr/>
          <p:nvPr/>
        </p:nvGraphicFramePr>
        <p:xfrm>
          <a:off x="5532120" y="1280160"/>
          <a:ext cx="3200400" cy="2514600"/>
        </p:xfrm>
        <a:graphic xmlns:a="http://schemas.openxmlformats.org/drawingml/2006/main">
          <a:graphicData uri="http://schemas.openxmlformats.org/drawingml/2006/chart">
            <c:chart xmlns:c="http://schemas.openxmlformats.org/drawingml/2006/chart" r:id="rId4"/>
          </a:graphicData>
        </a:graphic>
      </p:graphicFrame>
      <p:sp>
        <p:nvSpPr>
          <p:cNvPr id="39" name="Text 32"/>
          <p:cNvSpPr txBox="1"/>
          <p:nvPr/>
        </p:nvSpPr>
        <p:spPr>
          <a:xfrm>
            <a:off x="5577840" y="3840480"/>
            <a:ext cx="3108960" cy="594360"/>
          </a:xfrm>
          <a:prstGeom prst="rect">
            <a:avLst/>
          </a:prstGeom>
          <a:noFill/>
          <a:ln/>
        </p:spPr>
        <p:txBody>
          <a:bodyPr wrap="square" lIns="0" tIns="0" rIns="0" bIns="0" rtlCol="0" anchor="t"/>
          <a:lstStyle/>
          <a:p>
            <a:pPr indent="0" marL="0">
              <a:buNone/>
            </a:pPr>
            <a:r>
              <a:rPr lang="en-US" sz="950" i="1" dirty="0">
                <a:solidFill>
                  <a:srgbClr val="5E6964"/>
                </a:solidFill>
                <a:latin typeface="Calibri" pitchFamily="34" charset="0"/>
                <a:ea typeface="Calibri" pitchFamily="34" charset="-122"/>
                <a:cs typeface="Calibri" pitchFamily="34" charset="-120"/>
              </a:rPr>
              <a:t>Simulation : 60 unités, 12 ans, bruit de 25 %, aucune convergence réelle — part des tirages faussement significatifs à 95 %</a:t>
            </a:r>
            <a:endParaRPr lang="en-US" sz="95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8A9590"/>
                </a:solidFill>
                <a:latin typeface="Calibri"/>
                <a:ea typeface="Calibri"/>
                <a:cs typeface="Calibri"/>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3"/>
          <p:cNvSpPr/>
          <p:nvPr>
            <p:ph idx="105" type="body" hasCustomPrompt="1"/>
          </p:nvPr>
        </p:nvSpPr>
        <p:spPr>
          <a:xfrm>
            <a:off x="457200" y="274320"/>
            <a:ext cx="6217920" cy="256032"/>
          </a:xfrm>
          <a:prstGeom prst="rect">
            <a:avLst/>
          </a:prstGeom>
          <a:noFill/>
          <a:ln/>
        </p:spPr>
        <p:txBody>
          <a:bodyPr wrap="square" lIns="0" tIns="0" rIns="0" bIns="0" rtlCol="0" anchor="ctr"/>
          <a:lstStyle/>
          <a:p>
            <a:pPr algn="l" indent="0" marL="0">
              <a:buNone/>
            </a:pPr>
            <a:r>
              <a:rPr lang="en-US" sz="1050" b="1" spc="300" kern="0" dirty="0">
                <a:solidFill>
                  <a:srgbClr val="00704A"/>
                </a:solidFill>
                <a:latin typeface="Calibri" pitchFamily="34" charset="0"/>
                <a:ea typeface="Calibri" pitchFamily="34" charset="-122"/>
                <a:cs typeface="Calibri" pitchFamily="34" charset="-120"/>
              </a:rPr>
              <a:t>04 · ANALYSER · SCÉNARIO 2</a:t>
            </a:r>
            <a:endParaRPr lang="en-US" sz="1050" dirty="0"/>
          </a:p>
        </p:txBody>
      </p:sp>
      <p:sp>
        <p:nvSpPr>
          <p:cNvPr id="3" name="Text 3"/>
          <p:cNvSpPr/>
          <p:nvPr>
            <p:ph idx="106" type="title" hasCustomPrompt="1"/>
          </p:nvPr>
        </p:nvSpPr>
        <p:spPr>
          <a:xfrm>
            <a:off x="457200" y="548640"/>
            <a:ext cx="8229600" cy="566928"/>
          </a:xfrm>
          <a:prstGeom prst="rect">
            <a:avLst/>
          </a:prstGeom>
          <a:noFill/>
          <a:ln/>
        </p:spPr>
        <p:txBody>
          <a:bodyPr wrap="square" lIns="0" tIns="0" rIns="0" bIns="0" rtlCol="0" anchor="ctr"/>
          <a:lstStyle/>
          <a:p>
            <a:pPr algn="l" indent="0" marL="0">
              <a:buNone/>
            </a:pPr>
            <a:r>
              <a:rPr lang="en-US" sz="2800" b="1" dirty="0">
                <a:solidFill>
                  <a:srgbClr val="231F20"/>
                </a:solidFill>
                <a:latin typeface="Calibri" pitchFamily="34" charset="0"/>
                <a:ea typeface="Calibri" pitchFamily="34" charset="-122"/>
                <a:cs typeface="Calibri" pitchFamily="34" charset="-120"/>
              </a:rPr>
              <a:t>Croissance régionale : les métriques</a:t>
            </a:r>
            <a:endParaRPr lang="en-US" sz="2800" dirty="0"/>
          </a:p>
        </p:txBody>
      </p:sp>
      <p:sp>
        <p:nvSpPr>
          <p:cNvPr id="4" name="dot0"/>
          <p:cNvSpPr/>
          <p:nvPr/>
        </p:nvSpPr>
        <p:spPr>
          <a:xfrm>
            <a:off x="7644384" y="338328"/>
            <a:ext cx="100584" cy="100584"/>
          </a:xfrm>
          <a:prstGeom prst="ellipse">
            <a:avLst/>
          </a:prstGeom>
          <a:solidFill>
            <a:srgbClr val="D5DED9"/>
          </a:solidFill>
          <a:ln w="12700">
            <a:solidFill>
              <a:srgbClr val="D5DED9"/>
            </a:solidFill>
            <a:prstDash val="solid"/>
          </a:ln>
        </p:spPr>
      </p:sp>
      <p:sp>
        <p:nvSpPr>
          <p:cNvPr id="5" name="dot1"/>
          <p:cNvSpPr/>
          <p:nvPr/>
        </p:nvSpPr>
        <p:spPr>
          <a:xfrm>
            <a:off x="7818120" y="338328"/>
            <a:ext cx="100584" cy="100584"/>
          </a:xfrm>
          <a:prstGeom prst="ellipse">
            <a:avLst/>
          </a:prstGeom>
          <a:solidFill>
            <a:srgbClr val="D5DED9"/>
          </a:solidFill>
          <a:ln w="12700">
            <a:solidFill>
              <a:srgbClr val="D5DED9"/>
            </a:solidFill>
            <a:prstDash val="solid"/>
          </a:ln>
        </p:spPr>
      </p:sp>
      <p:sp>
        <p:nvSpPr>
          <p:cNvPr id="6" name="dot2"/>
          <p:cNvSpPr/>
          <p:nvPr/>
        </p:nvSpPr>
        <p:spPr>
          <a:xfrm>
            <a:off x="7991856" y="338328"/>
            <a:ext cx="100584" cy="100584"/>
          </a:xfrm>
          <a:prstGeom prst="ellipse">
            <a:avLst/>
          </a:prstGeom>
          <a:solidFill>
            <a:srgbClr val="D5DED9"/>
          </a:solidFill>
          <a:ln w="12700">
            <a:solidFill>
              <a:srgbClr val="D5DED9"/>
            </a:solidFill>
            <a:prstDash val="solid"/>
          </a:ln>
        </p:spPr>
      </p:sp>
      <p:sp>
        <p:nvSpPr>
          <p:cNvPr id="7" name="dot3"/>
          <p:cNvSpPr/>
          <p:nvPr/>
        </p:nvSpPr>
        <p:spPr>
          <a:xfrm>
            <a:off x="8165592" y="338328"/>
            <a:ext cx="100584" cy="100584"/>
          </a:xfrm>
          <a:prstGeom prst="ellipse">
            <a:avLst/>
          </a:prstGeom>
          <a:solidFill>
            <a:srgbClr val="D49A00"/>
          </a:solidFill>
          <a:ln w="12700">
            <a:solidFill>
              <a:srgbClr val="D49A00"/>
            </a:solidFill>
            <a:prstDash val="solid"/>
          </a:ln>
        </p:spPr>
      </p:sp>
      <p:sp>
        <p:nvSpPr>
          <p:cNvPr id="8" name="dot4"/>
          <p:cNvSpPr/>
          <p:nvPr/>
        </p:nvSpPr>
        <p:spPr>
          <a:xfrm>
            <a:off x="8339328" y="338328"/>
            <a:ext cx="100584" cy="100584"/>
          </a:xfrm>
          <a:prstGeom prst="ellipse">
            <a:avLst/>
          </a:prstGeom>
          <a:solidFill>
            <a:srgbClr val="D5DED9"/>
          </a:solidFill>
          <a:ln w="12700">
            <a:solidFill>
              <a:srgbClr val="D5DED9"/>
            </a:solidFill>
            <a:prstDash val="solid"/>
          </a:ln>
        </p:spPr>
      </p:sp>
      <p:sp>
        <p:nvSpPr>
          <p:cNvPr id="9" name="dot5"/>
          <p:cNvSpPr/>
          <p:nvPr/>
        </p:nvSpPr>
        <p:spPr>
          <a:xfrm>
            <a:off x="8513064" y="338328"/>
            <a:ext cx="100584" cy="100584"/>
          </a:xfrm>
          <a:prstGeom prst="ellipse">
            <a:avLst/>
          </a:prstGeom>
          <a:solidFill>
            <a:srgbClr val="D5DED9"/>
          </a:solidFill>
          <a:ln w="12700">
            <a:solidFill>
              <a:srgbClr val="D5DED9"/>
            </a:solidFill>
            <a:prstDash val="solid"/>
          </a:ln>
        </p:spPr>
      </p:sp>
      <p:sp>
        <p:nvSpPr>
          <p:cNvPr id="11" name="Text 8"/>
          <p:cNvSpPr txBox="1"/>
          <p:nvPr/>
        </p:nvSpPr>
        <p:spPr>
          <a:xfrm>
            <a:off x="548640" y="1353312"/>
            <a:ext cx="1783080" cy="219456"/>
          </a:xfrm>
          <a:prstGeom prst="rect">
            <a:avLst/>
          </a:prstGeom>
          <a:noFill/>
          <a:ln/>
        </p:spPr>
        <p:txBody>
          <a:bodyPr wrap="square" lIns="0" tIns="0" rIns="0" bIns="0" rtlCol="0" anchor="ctr"/>
          <a:lstStyle/>
          <a:p>
            <a:pPr indent="0" marL="0">
              <a:buNone/>
            </a:pPr>
            <a:r>
              <a:rPr lang="en-US" sz="900" b="1" spc="200" kern="0" dirty="0">
                <a:solidFill>
                  <a:srgbClr val="D49A00"/>
                </a:solidFill>
                <a:latin typeface="Calibri" pitchFamily="34" charset="0"/>
                <a:ea typeface="Calibri" pitchFamily="34" charset="-122"/>
                <a:cs typeface="Calibri" pitchFamily="34" charset="-120"/>
              </a:rPr>
              <a:t>MÉTRIQUE</a:t>
            </a:r>
            <a:endParaRPr lang="en-US" sz="900" dirty="0"/>
          </a:p>
        </p:txBody>
      </p:sp>
      <p:sp>
        <p:nvSpPr>
          <p:cNvPr id="12" name="Text 9"/>
          <p:cNvSpPr txBox="1"/>
          <p:nvPr/>
        </p:nvSpPr>
        <p:spPr>
          <a:xfrm>
            <a:off x="2423160" y="1353312"/>
            <a:ext cx="2971800" cy="219456"/>
          </a:xfrm>
          <a:prstGeom prst="rect">
            <a:avLst/>
          </a:prstGeom>
          <a:noFill/>
          <a:ln/>
        </p:spPr>
        <p:txBody>
          <a:bodyPr wrap="square" lIns="0" tIns="0" rIns="0" bIns="0" rtlCol="0" anchor="ctr"/>
          <a:lstStyle/>
          <a:p>
            <a:pPr indent="0" marL="0">
              <a:buNone/>
            </a:pPr>
            <a:r>
              <a:rPr lang="en-US" sz="900" b="1" spc="200" kern="0" dirty="0">
                <a:solidFill>
                  <a:srgbClr val="D49A00"/>
                </a:solidFill>
                <a:latin typeface="Calibri" pitchFamily="34" charset="0"/>
                <a:ea typeface="Calibri" pitchFamily="34" charset="-122"/>
                <a:cs typeface="Calibri" pitchFamily="34" charset="-120"/>
              </a:rPr>
              <a:t>DÉFINITION / FORMULE</a:t>
            </a:r>
            <a:endParaRPr lang="en-US" sz="900" dirty="0"/>
          </a:p>
        </p:txBody>
      </p:sp>
      <p:sp>
        <p:nvSpPr>
          <p:cNvPr id="13" name="Text 10"/>
          <p:cNvSpPr txBox="1"/>
          <p:nvPr/>
        </p:nvSpPr>
        <p:spPr>
          <a:xfrm>
            <a:off x="5486400" y="1353312"/>
            <a:ext cx="3200400" cy="219456"/>
          </a:xfrm>
          <a:prstGeom prst="rect">
            <a:avLst/>
          </a:prstGeom>
          <a:noFill/>
          <a:ln/>
        </p:spPr>
        <p:txBody>
          <a:bodyPr wrap="square" lIns="0" tIns="0" rIns="0" bIns="0" rtlCol="0" anchor="ctr"/>
          <a:lstStyle/>
          <a:p>
            <a:pPr indent="0" marL="0">
              <a:buNone/>
            </a:pPr>
            <a:r>
              <a:rPr lang="en-US" sz="900" b="1" spc="200" kern="0" dirty="0">
                <a:solidFill>
                  <a:srgbClr val="D49A00"/>
                </a:solidFill>
                <a:latin typeface="Calibri" pitchFamily="34" charset="0"/>
                <a:ea typeface="Calibri" pitchFamily="34" charset="-122"/>
                <a:cs typeface="Calibri" pitchFamily="34" charset="-120"/>
              </a:rPr>
              <a:t>COMMENT LA LIRE</a:t>
            </a:r>
            <a:endParaRPr lang="en-US" sz="900" dirty="0"/>
          </a:p>
        </p:txBody>
      </p:sp>
      <p:sp>
        <p:nvSpPr>
          <p:cNvPr id="14" name="Shape 11"/>
          <p:cNvSpPr/>
          <p:nvPr/>
        </p:nvSpPr>
        <p:spPr>
          <a:xfrm>
            <a:off x="457200" y="1609344"/>
            <a:ext cx="8229600" cy="365760"/>
          </a:xfrm>
          <a:prstGeom prst="roundRect">
            <a:avLst>
              <a:gd name="adj" fmla="val 12500"/>
            </a:avLst>
          </a:prstGeom>
          <a:solidFill>
            <a:srgbClr val="F4F7F5"/>
          </a:solidFill>
          <a:ln w="6350">
            <a:solidFill>
              <a:srgbClr val="D5DED9"/>
            </a:solidFill>
            <a:prstDash val="solid"/>
          </a:ln>
        </p:spPr>
      </p:sp>
      <p:sp>
        <p:nvSpPr>
          <p:cNvPr id="15" name="Text 12"/>
          <p:cNvSpPr txBox="1"/>
          <p:nvPr/>
        </p:nvSpPr>
        <p:spPr>
          <a:xfrm>
            <a:off x="548640" y="1609344"/>
            <a:ext cx="1737360" cy="365760"/>
          </a:xfrm>
          <a:prstGeom prst="rect">
            <a:avLst/>
          </a:prstGeom>
          <a:noFill/>
          <a:ln/>
        </p:spPr>
        <p:txBody>
          <a:bodyPr wrap="square" lIns="0" tIns="0" rIns="0" bIns="0" rtlCol="0" anchor="ctr"/>
          <a:lstStyle/>
          <a:p>
            <a:pPr indent="0" marL="0">
              <a:buNone/>
            </a:pPr>
            <a:r>
              <a:rPr lang="en-US" sz="1050" b="1" dirty="0">
                <a:solidFill>
                  <a:srgbClr val="231F20"/>
                </a:solidFill>
                <a:latin typeface="Calibri" pitchFamily="34" charset="0"/>
                <a:ea typeface="Calibri" pitchFamily="34" charset="-122"/>
                <a:cs typeface="Calibri" pitchFamily="34" charset="-120"/>
              </a:rPr>
              <a:t>Classe de croissance</a:t>
            </a:r>
            <a:endParaRPr lang="en-US" sz="1050" dirty="0"/>
          </a:p>
        </p:txBody>
      </p:sp>
      <p:sp>
        <p:nvSpPr>
          <p:cNvPr id="16" name="Text 13"/>
          <p:cNvSpPr txBox="1"/>
          <p:nvPr/>
        </p:nvSpPr>
        <p:spPr>
          <a:xfrm>
            <a:off x="2331720" y="1609344"/>
            <a:ext cx="2971800" cy="365760"/>
          </a:xfrm>
          <a:prstGeom prst="rect">
            <a:avLst/>
          </a:prstGeom>
          <a:noFill/>
          <a:ln/>
        </p:spPr>
        <p:txBody>
          <a:bodyPr wrap="square" lIns="0" tIns="0" rIns="0" bIns="0" rtlCol="0" anchor="ctr"/>
          <a:lstStyle/>
          <a:p>
            <a:pPr indent="0" marL="0">
              <a:buNone/>
            </a:pPr>
            <a:r>
              <a:rPr lang="en-US" sz="1000" dirty="0">
                <a:solidFill>
                  <a:srgbClr val="0E7C86"/>
                </a:solidFill>
                <a:latin typeface="Calibri" pitchFamily="34" charset="0"/>
                <a:ea typeface="Calibri" pitchFamily="34" charset="-122"/>
                <a:cs typeface="Calibri" pitchFamily="34" charset="-120"/>
              </a:rPr>
              <a:t>|g| ≥ 1 %/an et p ajustée BH &lt; 0,10</a:t>
            </a:r>
            <a:endParaRPr lang="en-US" sz="1000" dirty="0"/>
          </a:p>
        </p:txBody>
      </p:sp>
      <p:sp>
        <p:nvSpPr>
          <p:cNvPr id="17" name="Text 14"/>
          <p:cNvSpPr txBox="1"/>
          <p:nvPr/>
        </p:nvSpPr>
        <p:spPr>
          <a:xfrm>
            <a:off x="5394960" y="1609344"/>
            <a:ext cx="3200400" cy="365760"/>
          </a:xfrm>
          <a:prstGeom prst="rect">
            <a:avLst/>
          </a:prstGeom>
          <a:noFill/>
          <a:ln/>
        </p:spPr>
        <p:txBody>
          <a:bodyPr wrap="square" lIns="0" tIns="0" rIns="0" bIns="0" rtlCol="0" anchor="ctr"/>
          <a:lstStyle/>
          <a:p>
            <a:pPr indent="0" marL="0">
              <a:buNone/>
            </a:pPr>
            <a:r>
              <a:rPr lang="en-US" sz="950" dirty="0">
                <a:solidFill>
                  <a:srgbClr val="5E6964"/>
                </a:solidFill>
                <a:latin typeface="Calibri" pitchFamily="34" charset="0"/>
                <a:ea typeface="Calibri" pitchFamily="34" charset="-122"/>
                <a:cs typeface="Calibri" pitchFamily="34" charset="-120"/>
              </a:rPr>
              <a:t>Croissance / Déclin / Stagnation (= non établie)</a:t>
            </a:r>
            <a:endParaRPr lang="en-US" sz="950" dirty="0"/>
          </a:p>
        </p:txBody>
      </p:sp>
      <p:sp>
        <p:nvSpPr>
          <p:cNvPr id="18" name="Shape 15"/>
          <p:cNvSpPr/>
          <p:nvPr/>
        </p:nvSpPr>
        <p:spPr>
          <a:xfrm>
            <a:off x="457200" y="2029968"/>
            <a:ext cx="8229600" cy="365760"/>
          </a:xfrm>
          <a:prstGeom prst="roundRect">
            <a:avLst>
              <a:gd name="adj" fmla="val 12500"/>
            </a:avLst>
          </a:prstGeom>
          <a:solidFill>
            <a:srgbClr val="FFFFFF"/>
          </a:solidFill>
          <a:ln w="6350">
            <a:solidFill>
              <a:srgbClr val="D5DED9"/>
            </a:solidFill>
            <a:prstDash val="solid"/>
          </a:ln>
        </p:spPr>
      </p:sp>
      <p:sp>
        <p:nvSpPr>
          <p:cNvPr id="19" name="Text 16"/>
          <p:cNvSpPr txBox="1"/>
          <p:nvPr/>
        </p:nvSpPr>
        <p:spPr>
          <a:xfrm>
            <a:off x="548640" y="2029968"/>
            <a:ext cx="1737360" cy="365760"/>
          </a:xfrm>
          <a:prstGeom prst="rect">
            <a:avLst/>
          </a:prstGeom>
          <a:noFill/>
          <a:ln/>
        </p:spPr>
        <p:txBody>
          <a:bodyPr wrap="square" lIns="0" tIns="0" rIns="0" bIns="0" rtlCol="0" anchor="ctr"/>
          <a:lstStyle/>
          <a:p>
            <a:pPr indent="0" marL="0">
              <a:buNone/>
            </a:pPr>
            <a:r>
              <a:rPr lang="en-US" sz="1050" b="1" dirty="0">
                <a:solidFill>
                  <a:srgbClr val="231F20"/>
                </a:solidFill>
                <a:latin typeface="Calibri" pitchFamily="34" charset="0"/>
                <a:ea typeface="Calibri" pitchFamily="34" charset="-122"/>
                <a:cs typeface="Calibri" pitchFamily="34" charset="-120"/>
              </a:rPr>
              <a:t>Parts top 1 et top 10 %</a:t>
            </a:r>
            <a:endParaRPr lang="en-US" sz="1050" dirty="0"/>
          </a:p>
        </p:txBody>
      </p:sp>
      <p:sp>
        <p:nvSpPr>
          <p:cNvPr id="20" name="Text 17"/>
          <p:cNvSpPr txBox="1"/>
          <p:nvPr/>
        </p:nvSpPr>
        <p:spPr>
          <a:xfrm>
            <a:off x="2331720" y="2029968"/>
            <a:ext cx="2971800" cy="365760"/>
          </a:xfrm>
          <a:prstGeom prst="rect">
            <a:avLst/>
          </a:prstGeom>
          <a:noFill/>
          <a:ln/>
        </p:spPr>
        <p:txBody>
          <a:bodyPr wrap="square" lIns="0" tIns="0" rIns="0" bIns="0" rtlCol="0" anchor="ctr"/>
          <a:lstStyle/>
          <a:p>
            <a:pPr indent="0" marL="0">
              <a:buNone/>
            </a:pPr>
            <a:r>
              <a:rPr lang="en-US" sz="1000" dirty="0">
                <a:solidFill>
                  <a:srgbClr val="0E7C86"/>
                </a:solidFill>
                <a:latin typeface="Calibri" pitchFamily="34" charset="0"/>
                <a:ea typeface="Calibri" pitchFamily="34" charset="-122"/>
                <a:cs typeface="Calibri" pitchFamily="34" charset="-120"/>
              </a:rPr>
              <a:t>SoL de(s) unité(s) la/les plus brillante(s) / SoL totale</a:t>
            </a:r>
            <a:endParaRPr lang="en-US" sz="1000" dirty="0"/>
          </a:p>
        </p:txBody>
      </p:sp>
      <p:sp>
        <p:nvSpPr>
          <p:cNvPr id="21" name="Text 18"/>
          <p:cNvSpPr txBox="1"/>
          <p:nvPr/>
        </p:nvSpPr>
        <p:spPr>
          <a:xfrm>
            <a:off x="5394960" y="2029968"/>
            <a:ext cx="3200400" cy="365760"/>
          </a:xfrm>
          <a:prstGeom prst="rect">
            <a:avLst/>
          </a:prstGeom>
          <a:noFill/>
          <a:ln/>
        </p:spPr>
        <p:txBody>
          <a:bodyPr wrap="square" lIns="0" tIns="0" rIns="0" bIns="0" rtlCol="0" anchor="ctr"/>
          <a:lstStyle/>
          <a:p>
            <a:pPr indent="0" marL="0">
              <a:buNone/>
            </a:pPr>
            <a:r>
              <a:rPr lang="en-US" sz="950" dirty="0">
                <a:solidFill>
                  <a:srgbClr val="5E6964"/>
                </a:solidFill>
                <a:latin typeface="Calibri" pitchFamily="34" charset="0"/>
                <a:ea typeface="Calibri" pitchFamily="34" charset="-122"/>
                <a:cs typeface="Calibri" pitchFamily="34" charset="-120"/>
              </a:rPr>
              <a:t>Poids de la capitale ou du pôle principal</a:t>
            </a:r>
            <a:endParaRPr lang="en-US" sz="950" dirty="0"/>
          </a:p>
        </p:txBody>
      </p:sp>
      <p:sp>
        <p:nvSpPr>
          <p:cNvPr id="22" name="Shape 19"/>
          <p:cNvSpPr/>
          <p:nvPr/>
        </p:nvSpPr>
        <p:spPr>
          <a:xfrm>
            <a:off x="457200" y="2450592"/>
            <a:ext cx="8229600" cy="365760"/>
          </a:xfrm>
          <a:prstGeom prst="roundRect">
            <a:avLst>
              <a:gd name="adj" fmla="val 12500"/>
            </a:avLst>
          </a:prstGeom>
          <a:solidFill>
            <a:srgbClr val="F4F7F5"/>
          </a:solidFill>
          <a:ln w="6350">
            <a:solidFill>
              <a:srgbClr val="D5DED9"/>
            </a:solidFill>
            <a:prstDash val="solid"/>
          </a:ln>
        </p:spPr>
      </p:sp>
      <p:sp>
        <p:nvSpPr>
          <p:cNvPr id="23" name="Text 20"/>
          <p:cNvSpPr txBox="1"/>
          <p:nvPr/>
        </p:nvSpPr>
        <p:spPr>
          <a:xfrm>
            <a:off x="548640" y="2450592"/>
            <a:ext cx="1737360" cy="365760"/>
          </a:xfrm>
          <a:prstGeom prst="rect">
            <a:avLst/>
          </a:prstGeom>
          <a:noFill/>
          <a:ln/>
        </p:spPr>
        <p:txBody>
          <a:bodyPr wrap="square" lIns="0" tIns="0" rIns="0" bIns="0" rtlCol="0" anchor="ctr"/>
          <a:lstStyle/>
          <a:p>
            <a:pPr indent="0" marL="0">
              <a:buNone/>
            </a:pPr>
            <a:r>
              <a:rPr lang="en-US" sz="1050" b="1" dirty="0">
                <a:solidFill>
                  <a:srgbClr val="231F20"/>
                </a:solidFill>
                <a:latin typeface="Calibri" pitchFamily="34" charset="0"/>
                <a:ea typeface="Calibri" pitchFamily="34" charset="-122"/>
                <a:cs typeface="Calibri" pitchFamily="34" charset="-120"/>
              </a:rPr>
              <a:t>Indice de Herfindahl (HHI)</a:t>
            </a:r>
            <a:endParaRPr lang="en-US" sz="1050" dirty="0"/>
          </a:p>
        </p:txBody>
      </p:sp>
      <p:sp>
        <p:nvSpPr>
          <p:cNvPr id="24" name="Text 21"/>
          <p:cNvSpPr txBox="1"/>
          <p:nvPr/>
        </p:nvSpPr>
        <p:spPr>
          <a:xfrm>
            <a:off x="2331720" y="2450592"/>
            <a:ext cx="2971800" cy="365760"/>
          </a:xfrm>
          <a:prstGeom prst="rect">
            <a:avLst/>
          </a:prstGeom>
          <a:noFill/>
          <a:ln/>
        </p:spPr>
        <p:txBody>
          <a:bodyPr wrap="square" lIns="0" tIns="0" rIns="0" bIns="0" rtlCol="0" anchor="ctr"/>
          <a:lstStyle/>
          <a:p>
            <a:pPr indent="0" marL="0">
              <a:buNone/>
            </a:pPr>
            <a:r>
              <a:rPr lang="en-US" sz="1000" dirty="0">
                <a:solidFill>
                  <a:srgbClr val="0E7C86"/>
                </a:solidFill>
                <a:latin typeface="Calibri" pitchFamily="34" charset="0"/>
                <a:ea typeface="Calibri" pitchFamily="34" charset="-122"/>
                <a:cs typeface="Calibri" pitchFamily="34" charset="-120"/>
              </a:rPr>
              <a:t>Σ sᵢ²  (sᵢ = SoLᵢ / Σ SoL)</a:t>
            </a:r>
            <a:endParaRPr lang="en-US" sz="1000" dirty="0"/>
          </a:p>
        </p:txBody>
      </p:sp>
      <p:sp>
        <p:nvSpPr>
          <p:cNvPr id="25" name="Text 22"/>
          <p:cNvSpPr txBox="1"/>
          <p:nvPr/>
        </p:nvSpPr>
        <p:spPr>
          <a:xfrm>
            <a:off x="5394960" y="2450592"/>
            <a:ext cx="3200400" cy="365760"/>
          </a:xfrm>
          <a:prstGeom prst="rect">
            <a:avLst/>
          </a:prstGeom>
          <a:noFill/>
          <a:ln/>
        </p:spPr>
        <p:txBody>
          <a:bodyPr wrap="square" lIns="0" tIns="0" rIns="0" bIns="0" rtlCol="0" anchor="ctr"/>
          <a:lstStyle/>
          <a:p>
            <a:pPr indent="0" marL="0">
              <a:buNone/>
            </a:pPr>
            <a:r>
              <a:rPr lang="en-US" sz="950" dirty="0">
                <a:solidFill>
                  <a:srgbClr val="5E6964"/>
                </a:solidFill>
                <a:latin typeface="Calibri" pitchFamily="34" charset="0"/>
                <a:ea typeface="Calibri" pitchFamily="34" charset="-122"/>
                <a:cs typeface="Calibri" pitchFamily="34" charset="-120"/>
              </a:rPr>
              <a:t>0 → dispersée · 1 → toute la lumière dans une unité</a:t>
            </a:r>
            <a:endParaRPr lang="en-US" sz="950" dirty="0"/>
          </a:p>
        </p:txBody>
      </p:sp>
      <p:sp>
        <p:nvSpPr>
          <p:cNvPr id="26" name="Shape 23"/>
          <p:cNvSpPr/>
          <p:nvPr/>
        </p:nvSpPr>
        <p:spPr>
          <a:xfrm>
            <a:off x="457200" y="2871216"/>
            <a:ext cx="8229600" cy="365760"/>
          </a:xfrm>
          <a:prstGeom prst="roundRect">
            <a:avLst>
              <a:gd name="adj" fmla="val 12500"/>
            </a:avLst>
          </a:prstGeom>
          <a:solidFill>
            <a:srgbClr val="FFFFFF"/>
          </a:solidFill>
          <a:ln w="6350">
            <a:solidFill>
              <a:srgbClr val="D5DED9"/>
            </a:solidFill>
            <a:prstDash val="solid"/>
          </a:ln>
        </p:spPr>
      </p:sp>
      <p:sp>
        <p:nvSpPr>
          <p:cNvPr id="27" name="Text 24"/>
          <p:cNvSpPr txBox="1"/>
          <p:nvPr/>
        </p:nvSpPr>
        <p:spPr>
          <a:xfrm>
            <a:off x="548640" y="2871216"/>
            <a:ext cx="1737360" cy="365760"/>
          </a:xfrm>
          <a:prstGeom prst="rect">
            <a:avLst/>
          </a:prstGeom>
          <a:noFill/>
          <a:ln/>
        </p:spPr>
        <p:txBody>
          <a:bodyPr wrap="square" lIns="0" tIns="0" rIns="0" bIns="0" rtlCol="0" anchor="ctr"/>
          <a:lstStyle/>
          <a:p>
            <a:pPr indent="0" marL="0">
              <a:buNone/>
            </a:pPr>
            <a:r>
              <a:rPr lang="en-US" sz="1050" b="1" dirty="0">
                <a:solidFill>
                  <a:srgbClr val="231F20"/>
                </a:solidFill>
                <a:latin typeface="Calibri" pitchFamily="34" charset="0"/>
                <a:ea typeface="Calibri" pitchFamily="34" charset="-122"/>
                <a:cs typeface="Calibri" pitchFamily="34" charset="-120"/>
              </a:rPr>
              <a:t>β-convergence</a:t>
            </a:r>
            <a:endParaRPr lang="en-US" sz="1050" dirty="0"/>
          </a:p>
        </p:txBody>
      </p:sp>
      <p:sp>
        <p:nvSpPr>
          <p:cNvPr id="28" name="Text 25"/>
          <p:cNvSpPr txBox="1"/>
          <p:nvPr/>
        </p:nvSpPr>
        <p:spPr>
          <a:xfrm>
            <a:off x="2331720" y="2871216"/>
            <a:ext cx="2971800" cy="365760"/>
          </a:xfrm>
          <a:prstGeom prst="rect">
            <a:avLst/>
          </a:prstGeom>
          <a:noFill/>
          <a:ln/>
        </p:spPr>
        <p:txBody>
          <a:bodyPr wrap="square" lIns="0" tIns="0" rIns="0" bIns="0" rtlCol="0" anchor="ctr"/>
          <a:lstStyle/>
          <a:p>
            <a:pPr indent="0" marL="0">
              <a:buNone/>
            </a:pPr>
            <a:r>
              <a:rPr lang="en-US" sz="1000" dirty="0">
                <a:solidFill>
                  <a:srgbClr val="0E7C86"/>
                </a:solidFill>
                <a:latin typeface="Calibri" pitchFamily="34" charset="0"/>
                <a:ea typeface="Calibri" pitchFamily="34" charset="-122"/>
                <a:cs typeface="Calibri" pitchFamily="34" charset="-120"/>
              </a:rPr>
              <a:t>gᵢ = a + β·log(lumière/hab. initialeᵢ) + ε, erreurs HC1</a:t>
            </a:r>
            <a:endParaRPr lang="en-US" sz="1000" dirty="0"/>
          </a:p>
        </p:txBody>
      </p:sp>
      <p:sp>
        <p:nvSpPr>
          <p:cNvPr id="29" name="Text 26"/>
          <p:cNvSpPr txBox="1"/>
          <p:nvPr/>
        </p:nvSpPr>
        <p:spPr>
          <a:xfrm>
            <a:off x="5394960" y="2871216"/>
            <a:ext cx="3200400" cy="365760"/>
          </a:xfrm>
          <a:prstGeom prst="rect">
            <a:avLst/>
          </a:prstGeom>
          <a:noFill/>
          <a:ln/>
        </p:spPr>
        <p:txBody>
          <a:bodyPr wrap="square" lIns="0" tIns="0" rIns="0" bIns="0" rtlCol="0" anchor="ctr"/>
          <a:lstStyle/>
          <a:p>
            <a:pPr indent="0" marL="0">
              <a:buNone/>
            </a:pPr>
            <a:r>
              <a:rPr lang="en-US" sz="950" dirty="0">
                <a:solidFill>
                  <a:srgbClr val="5E6964"/>
                </a:solidFill>
                <a:latin typeface="Calibri" pitchFamily="34" charset="0"/>
                <a:ea typeface="Calibri" pitchFamily="34" charset="-122"/>
                <a:cs typeface="Calibri" pitchFamily="34" charset="-120"/>
              </a:rPr>
              <a:t>β &lt; 0 avec IC &lt; 0 → les unités en retard rattrapent</a:t>
            </a:r>
            <a:endParaRPr lang="en-US" sz="950" dirty="0"/>
          </a:p>
        </p:txBody>
      </p:sp>
      <p:sp>
        <p:nvSpPr>
          <p:cNvPr id="30" name="Shape 27"/>
          <p:cNvSpPr/>
          <p:nvPr/>
        </p:nvSpPr>
        <p:spPr>
          <a:xfrm>
            <a:off x="457200" y="3291840"/>
            <a:ext cx="8229600" cy="365760"/>
          </a:xfrm>
          <a:prstGeom prst="roundRect">
            <a:avLst>
              <a:gd name="adj" fmla="val 12500"/>
            </a:avLst>
          </a:prstGeom>
          <a:solidFill>
            <a:srgbClr val="F4F7F5"/>
          </a:solidFill>
          <a:ln w="6350">
            <a:solidFill>
              <a:srgbClr val="D5DED9"/>
            </a:solidFill>
            <a:prstDash val="solid"/>
          </a:ln>
        </p:spPr>
      </p:sp>
      <p:sp>
        <p:nvSpPr>
          <p:cNvPr id="31" name="Text 28"/>
          <p:cNvSpPr txBox="1"/>
          <p:nvPr/>
        </p:nvSpPr>
        <p:spPr>
          <a:xfrm>
            <a:off x="548640" y="3291840"/>
            <a:ext cx="1737360" cy="365760"/>
          </a:xfrm>
          <a:prstGeom prst="rect">
            <a:avLst/>
          </a:prstGeom>
          <a:noFill/>
          <a:ln/>
        </p:spPr>
        <p:txBody>
          <a:bodyPr wrap="square" lIns="0" tIns="0" rIns="0" bIns="0" rtlCol="0" anchor="ctr"/>
          <a:lstStyle/>
          <a:p>
            <a:pPr indent="0" marL="0">
              <a:buNone/>
            </a:pPr>
            <a:r>
              <a:rPr lang="en-US" sz="1050" b="1" dirty="0">
                <a:solidFill>
                  <a:srgbClr val="231F20"/>
                </a:solidFill>
                <a:latin typeface="Calibri" pitchFamily="34" charset="0"/>
                <a:ea typeface="Calibri" pitchFamily="34" charset="-122"/>
                <a:cs typeface="Calibri" pitchFamily="34" charset="-120"/>
              </a:rPr>
              <a:t>Demi-vie</a:t>
            </a:r>
            <a:endParaRPr lang="en-US" sz="1050" dirty="0"/>
          </a:p>
        </p:txBody>
      </p:sp>
      <p:sp>
        <p:nvSpPr>
          <p:cNvPr id="32" name="Text 29"/>
          <p:cNvSpPr txBox="1"/>
          <p:nvPr/>
        </p:nvSpPr>
        <p:spPr>
          <a:xfrm>
            <a:off x="2331720" y="3291840"/>
            <a:ext cx="2971800" cy="365760"/>
          </a:xfrm>
          <a:prstGeom prst="rect">
            <a:avLst/>
          </a:prstGeom>
          <a:noFill/>
          <a:ln/>
        </p:spPr>
        <p:txBody>
          <a:bodyPr wrap="square" lIns="0" tIns="0" rIns="0" bIns="0" rtlCol="0" anchor="ctr"/>
          <a:lstStyle/>
          <a:p>
            <a:pPr indent="0" marL="0">
              <a:buNone/>
            </a:pPr>
            <a:r>
              <a:rPr lang="en-US" sz="1000" dirty="0">
                <a:solidFill>
                  <a:srgbClr val="0E7C86"/>
                </a:solidFill>
                <a:latin typeface="Calibri" pitchFamily="34" charset="0"/>
                <a:ea typeface="Calibri" pitchFamily="34" charset="-122"/>
                <a:cs typeface="Calibri" pitchFamily="34" charset="-120"/>
              </a:rPr>
              <a:t>ln 2 / −ln(1 + β)</a:t>
            </a:r>
            <a:endParaRPr lang="en-US" sz="1000" dirty="0"/>
          </a:p>
        </p:txBody>
      </p:sp>
      <p:sp>
        <p:nvSpPr>
          <p:cNvPr id="33" name="Text 30"/>
          <p:cNvSpPr txBox="1"/>
          <p:nvPr/>
        </p:nvSpPr>
        <p:spPr>
          <a:xfrm>
            <a:off x="5394960" y="3291840"/>
            <a:ext cx="3200400" cy="365760"/>
          </a:xfrm>
          <a:prstGeom prst="rect">
            <a:avLst/>
          </a:prstGeom>
          <a:noFill/>
          <a:ln/>
        </p:spPr>
        <p:txBody>
          <a:bodyPr wrap="square" lIns="0" tIns="0" rIns="0" bIns="0" rtlCol="0" anchor="ctr"/>
          <a:lstStyle/>
          <a:p>
            <a:pPr indent="0" marL="0">
              <a:buNone/>
            </a:pPr>
            <a:r>
              <a:rPr lang="en-US" sz="950" dirty="0">
                <a:solidFill>
                  <a:srgbClr val="5E6964"/>
                </a:solidFill>
                <a:latin typeface="Calibri" pitchFamily="34" charset="0"/>
                <a:ea typeface="Calibri" pitchFamily="34" charset="-122"/>
                <a:cs typeface="Calibri" pitchFamily="34" charset="-120"/>
              </a:rPr>
              <a:t>Années pour combler la moitié de l'écart</a:t>
            </a:r>
            <a:endParaRPr lang="en-US" sz="950" dirty="0"/>
          </a:p>
        </p:txBody>
      </p:sp>
      <p:sp>
        <p:nvSpPr>
          <p:cNvPr id="34" name="Shape 31"/>
          <p:cNvSpPr/>
          <p:nvPr/>
        </p:nvSpPr>
        <p:spPr>
          <a:xfrm>
            <a:off x="457200" y="3712464"/>
            <a:ext cx="8229600" cy="365760"/>
          </a:xfrm>
          <a:prstGeom prst="roundRect">
            <a:avLst>
              <a:gd name="adj" fmla="val 12500"/>
            </a:avLst>
          </a:prstGeom>
          <a:solidFill>
            <a:srgbClr val="FFFFFF"/>
          </a:solidFill>
          <a:ln w="6350">
            <a:solidFill>
              <a:srgbClr val="D5DED9"/>
            </a:solidFill>
            <a:prstDash val="solid"/>
          </a:ln>
        </p:spPr>
      </p:sp>
      <p:sp>
        <p:nvSpPr>
          <p:cNvPr id="35" name="Text 32"/>
          <p:cNvSpPr txBox="1"/>
          <p:nvPr/>
        </p:nvSpPr>
        <p:spPr>
          <a:xfrm>
            <a:off x="548640" y="3712464"/>
            <a:ext cx="1737360" cy="365760"/>
          </a:xfrm>
          <a:prstGeom prst="rect">
            <a:avLst/>
          </a:prstGeom>
          <a:noFill/>
          <a:ln/>
        </p:spPr>
        <p:txBody>
          <a:bodyPr wrap="square" lIns="0" tIns="0" rIns="0" bIns="0" rtlCol="0" anchor="ctr"/>
          <a:lstStyle/>
          <a:p>
            <a:pPr indent="0" marL="0">
              <a:buNone/>
            </a:pPr>
            <a:r>
              <a:rPr lang="en-US" sz="1050" b="1" dirty="0">
                <a:solidFill>
                  <a:srgbClr val="231F20"/>
                </a:solidFill>
                <a:latin typeface="Calibri" pitchFamily="34" charset="0"/>
                <a:ea typeface="Calibri" pitchFamily="34" charset="-122"/>
                <a:cs typeface="Calibri" pitchFamily="34" charset="-120"/>
              </a:rPr>
              <a:t>σ-convergence</a:t>
            </a:r>
            <a:endParaRPr lang="en-US" sz="1050" dirty="0"/>
          </a:p>
        </p:txBody>
      </p:sp>
      <p:sp>
        <p:nvSpPr>
          <p:cNvPr id="36" name="Text 33"/>
          <p:cNvSpPr txBox="1"/>
          <p:nvPr/>
        </p:nvSpPr>
        <p:spPr>
          <a:xfrm>
            <a:off x="2331720" y="3712464"/>
            <a:ext cx="2971800" cy="365760"/>
          </a:xfrm>
          <a:prstGeom prst="rect">
            <a:avLst/>
          </a:prstGeom>
          <a:noFill/>
          <a:ln/>
        </p:spPr>
        <p:txBody>
          <a:bodyPr wrap="square" lIns="0" tIns="0" rIns="0" bIns="0" rtlCol="0" anchor="ctr"/>
          <a:lstStyle/>
          <a:p>
            <a:pPr indent="0" marL="0">
              <a:buNone/>
            </a:pPr>
            <a:r>
              <a:rPr lang="en-US" sz="1000" dirty="0">
                <a:solidFill>
                  <a:srgbClr val="0E7C86"/>
                </a:solidFill>
                <a:latin typeface="Calibri" pitchFamily="34" charset="0"/>
                <a:ea typeface="Calibri" pitchFamily="34" charset="-122"/>
                <a:cs typeface="Calibri" pitchFamily="34" charset="-120"/>
              </a:rPr>
              <a:t>écart-type du log(lumière/hab.) entre unités, par an</a:t>
            </a:r>
            <a:endParaRPr lang="en-US" sz="1000" dirty="0"/>
          </a:p>
        </p:txBody>
      </p:sp>
      <p:sp>
        <p:nvSpPr>
          <p:cNvPr id="37" name="Text 34"/>
          <p:cNvSpPr txBox="1"/>
          <p:nvPr/>
        </p:nvSpPr>
        <p:spPr>
          <a:xfrm>
            <a:off x="5394960" y="3712464"/>
            <a:ext cx="3200400" cy="365760"/>
          </a:xfrm>
          <a:prstGeom prst="rect">
            <a:avLst/>
          </a:prstGeom>
          <a:noFill/>
          <a:ln/>
        </p:spPr>
        <p:txBody>
          <a:bodyPr wrap="square" lIns="0" tIns="0" rIns="0" bIns="0" rtlCol="0" anchor="ctr"/>
          <a:lstStyle/>
          <a:p>
            <a:pPr indent="0" marL="0">
              <a:buNone/>
            </a:pPr>
            <a:r>
              <a:rPr lang="en-US" sz="950" dirty="0">
                <a:solidFill>
                  <a:srgbClr val="5E6964"/>
                </a:solidFill>
                <a:latin typeface="Calibri" pitchFamily="34" charset="0"/>
                <a:ea typeface="Calibri" pitchFamily="34" charset="-122"/>
                <a:cs typeface="Calibri" pitchFamily="34" charset="-120"/>
              </a:rPr>
              <a:t>σ en baisse → les régions se ressemblent davantage</a:t>
            </a:r>
            <a:endParaRPr lang="en-US" sz="950" dirty="0"/>
          </a:p>
        </p:txBody>
      </p:sp>
      <p:sp>
        <p:nvSpPr>
          <p:cNvPr id="38" name="Shape 35"/>
          <p:cNvSpPr/>
          <p:nvPr/>
        </p:nvSpPr>
        <p:spPr>
          <a:xfrm>
            <a:off x="457200" y="4133088"/>
            <a:ext cx="8229600" cy="365760"/>
          </a:xfrm>
          <a:prstGeom prst="roundRect">
            <a:avLst>
              <a:gd name="adj" fmla="val 12500"/>
            </a:avLst>
          </a:prstGeom>
          <a:solidFill>
            <a:srgbClr val="F4F7F5"/>
          </a:solidFill>
          <a:ln w="6350">
            <a:solidFill>
              <a:srgbClr val="D5DED9"/>
            </a:solidFill>
            <a:prstDash val="solid"/>
          </a:ln>
        </p:spPr>
      </p:sp>
      <p:sp>
        <p:nvSpPr>
          <p:cNvPr id="39" name="Text 36"/>
          <p:cNvSpPr txBox="1"/>
          <p:nvPr/>
        </p:nvSpPr>
        <p:spPr>
          <a:xfrm>
            <a:off x="548640" y="4133088"/>
            <a:ext cx="1737360" cy="365760"/>
          </a:xfrm>
          <a:prstGeom prst="rect">
            <a:avLst/>
          </a:prstGeom>
          <a:noFill/>
          <a:ln/>
        </p:spPr>
        <p:txBody>
          <a:bodyPr wrap="square" lIns="0" tIns="0" rIns="0" bIns="0" rtlCol="0" anchor="ctr"/>
          <a:lstStyle/>
          <a:p>
            <a:pPr indent="0" marL="0">
              <a:buNone/>
            </a:pPr>
            <a:r>
              <a:rPr lang="en-US" sz="1050" b="1" dirty="0">
                <a:solidFill>
                  <a:srgbClr val="231F20"/>
                </a:solidFill>
                <a:latin typeface="Calibri" pitchFamily="34" charset="0"/>
                <a:ea typeface="Calibri" pitchFamily="34" charset="-122"/>
                <a:cs typeface="Calibri" pitchFamily="34" charset="-120"/>
              </a:rPr>
              <a:t>Corrélation NO₂</a:t>
            </a:r>
            <a:endParaRPr lang="en-US" sz="1050" dirty="0"/>
          </a:p>
        </p:txBody>
      </p:sp>
      <p:sp>
        <p:nvSpPr>
          <p:cNvPr id="40" name="Text 37"/>
          <p:cNvSpPr txBox="1"/>
          <p:nvPr/>
        </p:nvSpPr>
        <p:spPr>
          <a:xfrm>
            <a:off x="2331720" y="4133088"/>
            <a:ext cx="2971800" cy="365760"/>
          </a:xfrm>
          <a:prstGeom prst="rect">
            <a:avLst/>
          </a:prstGeom>
          <a:noFill/>
          <a:ln/>
        </p:spPr>
        <p:txBody>
          <a:bodyPr wrap="square" lIns="0" tIns="0" rIns="0" bIns="0" rtlCol="0" anchor="ctr"/>
          <a:lstStyle/>
          <a:p>
            <a:pPr indent="0" marL="0">
              <a:buNone/>
            </a:pPr>
            <a:r>
              <a:rPr lang="en-US" sz="1000" dirty="0">
                <a:solidFill>
                  <a:srgbClr val="0E7C86"/>
                </a:solidFill>
                <a:latin typeface="Calibri" pitchFamily="34" charset="0"/>
                <a:ea typeface="Calibri" pitchFamily="34" charset="-122"/>
                <a:cs typeface="Calibri" pitchFamily="34" charset="-120"/>
              </a:rPr>
              <a:t>ρ de Spearman (NO₂ moyen, SoL) entre unités</a:t>
            </a:r>
            <a:endParaRPr lang="en-US" sz="1000" dirty="0"/>
          </a:p>
        </p:txBody>
      </p:sp>
      <p:sp>
        <p:nvSpPr>
          <p:cNvPr id="41" name="Text 38"/>
          <p:cNvSpPr txBox="1"/>
          <p:nvPr/>
        </p:nvSpPr>
        <p:spPr>
          <a:xfrm>
            <a:off x="5394960" y="4133088"/>
            <a:ext cx="3200400" cy="365760"/>
          </a:xfrm>
          <a:prstGeom prst="rect">
            <a:avLst/>
          </a:prstGeom>
          <a:noFill/>
          <a:ln/>
        </p:spPr>
        <p:txBody>
          <a:bodyPr wrap="square" lIns="0" tIns="0" rIns="0" bIns="0" rtlCol="0" anchor="ctr"/>
          <a:lstStyle/>
          <a:p>
            <a:pPr indent="0" marL="0">
              <a:buNone/>
            </a:pPr>
            <a:r>
              <a:rPr lang="en-US" sz="950" dirty="0">
                <a:solidFill>
                  <a:srgbClr val="5E6964"/>
                </a:solidFill>
                <a:latin typeface="Calibri" pitchFamily="34" charset="0"/>
                <a:ea typeface="Calibri" pitchFamily="34" charset="-122"/>
                <a:cs typeface="Calibri" pitchFamily="34" charset="-120"/>
              </a:rPr>
              <a:t>ρ élevé → la lumière reflète l'activité de combustion</a:t>
            </a:r>
            <a:endParaRPr lang="en-US" sz="950" dirty="0"/>
          </a:p>
        </p:txBody>
      </p:sp>
      <p:sp>
        <p:nvSpPr>
          <p:cNvPr id="42" name="Text 39"/>
          <p:cNvSpPr txBox="1"/>
          <p:nvPr/>
        </p:nvSpPr>
        <p:spPr>
          <a:xfrm>
            <a:off x="457200" y="4553712"/>
            <a:ext cx="7223760" cy="219456"/>
          </a:xfrm>
          <a:prstGeom prst="rect">
            <a:avLst/>
          </a:prstGeom>
          <a:noFill/>
          <a:ln/>
        </p:spPr>
        <p:txBody>
          <a:bodyPr wrap="square" lIns="0" tIns="0" rIns="0" bIns="0" rtlCol="0" anchor="ctr"/>
          <a:lstStyle/>
          <a:p>
            <a:pPr indent="0" marL="0">
              <a:buNone/>
            </a:pPr>
            <a:r>
              <a:rPr lang="en-US" sz="900" i="1" dirty="0">
                <a:solidFill>
                  <a:srgbClr val="5E6964"/>
                </a:solidFill>
                <a:latin typeface="Calibri" pitchFamily="34" charset="0"/>
                <a:ea typeface="Calibri" pitchFamily="34" charset="-122"/>
                <a:cs typeface="Calibri" pitchFamily="34" charset="-120"/>
              </a:rPr>
              <a:t>Sources : Benjamini &amp; Hochberg (1995) ; Barro &amp; Sala-i-Martin (1992) ; Herfindahl (1950)</a:t>
            </a:r>
            <a:endParaRPr lang="en-US" sz="9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8A9590"/>
                </a:solidFill>
                <a:latin typeface="Calibri"/>
                <a:ea typeface="Calibri"/>
                <a:cs typeface="Calibri"/>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3"/>
          <p:cNvSpPr/>
          <p:nvPr>
            <p:ph idx="105" type="body" hasCustomPrompt="1"/>
          </p:nvPr>
        </p:nvSpPr>
        <p:spPr>
          <a:xfrm>
            <a:off x="457200" y="274320"/>
            <a:ext cx="6217920" cy="256032"/>
          </a:xfrm>
          <a:prstGeom prst="rect">
            <a:avLst/>
          </a:prstGeom>
          <a:noFill/>
          <a:ln/>
        </p:spPr>
        <p:txBody>
          <a:bodyPr wrap="square" lIns="0" tIns="0" rIns="0" bIns="0" rtlCol="0" anchor="ctr"/>
          <a:lstStyle/>
          <a:p>
            <a:pPr algn="l" indent="0" marL="0">
              <a:buNone/>
            </a:pPr>
            <a:r>
              <a:rPr lang="en-US" sz="1050" b="1" spc="300" kern="0" dirty="0">
                <a:solidFill>
                  <a:srgbClr val="00704A"/>
                </a:solidFill>
                <a:latin typeface="Calibri" pitchFamily="34" charset="0"/>
                <a:ea typeface="Calibri" pitchFamily="34" charset="-122"/>
                <a:cs typeface="Calibri" pitchFamily="34" charset="-120"/>
              </a:rPr>
              <a:t>04 · ANALYSER · SCÉNARIO 3</a:t>
            </a:r>
            <a:endParaRPr lang="en-US" sz="1050" dirty="0"/>
          </a:p>
        </p:txBody>
      </p:sp>
      <p:sp>
        <p:nvSpPr>
          <p:cNvPr id="3" name="Text 3"/>
          <p:cNvSpPr/>
          <p:nvPr>
            <p:ph idx="106" type="title" hasCustomPrompt="1"/>
          </p:nvPr>
        </p:nvSpPr>
        <p:spPr>
          <a:xfrm>
            <a:off x="457200" y="548640"/>
            <a:ext cx="8229600" cy="566928"/>
          </a:xfrm>
          <a:prstGeom prst="rect">
            <a:avLst/>
          </a:prstGeom>
          <a:noFill/>
          <a:ln/>
        </p:spPr>
        <p:txBody>
          <a:bodyPr wrap="square" lIns="0" tIns="0" rIns="0" bIns="0" rtlCol="0" anchor="ctr"/>
          <a:lstStyle/>
          <a:p>
            <a:pPr algn="l" indent="0" marL="0">
              <a:buNone/>
            </a:pPr>
            <a:r>
              <a:rPr lang="en-US" sz="2800" b="1" dirty="0">
                <a:solidFill>
                  <a:srgbClr val="231F20"/>
                </a:solidFill>
                <a:latin typeface="Calibri" pitchFamily="34" charset="0"/>
                <a:ea typeface="Calibri" pitchFamily="34" charset="-122"/>
                <a:cs typeface="Calibri" pitchFamily="34" charset="-120"/>
              </a:rPr>
              <a:t>Lumières et PIB : mesurer l'élasticité</a:t>
            </a:r>
            <a:endParaRPr lang="en-US" sz="2800" dirty="0"/>
          </a:p>
        </p:txBody>
      </p:sp>
      <p:sp>
        <p:nvSpPr>
          <p:cNvPr id="4" name="dot0"/>
          <p:cNvSpPr/>
          <p:nvPr/>
        </p:nvSpPr>
        <p:spPr>
          <a:xfrm>
            <a:off x="7644384" y="338328"/>
            <a:ext cx="100584" cy="100584"/>
          </a:xfrm>
          <a:prstGeom prst="ellipse">
            <a:avLst/>
          </a:prstGeom>
          <a:solidFill>
            <a:srgbClr val="D5DED9"/>
          </a:solidFill>
          <a:ln w="12700">
            <a:solidFill>
              <a:srgbClr val="D5DED9"/>
            </a:solidFill>
            <a:prstDash val="solid"/>
          </a:ln>
        </p:spPr>
      </p:sp>
      <p:sp>
        <p:nvSpPr>
          <p:cNvPr id="5" name="dot1"/>
          <p:cNvSpPr/>
          <p:nvPr/>
        </p:nvSpPr>
        <p:spPr>
          <a:xfrm>
            <a:off x="7818120" y="338328"/>
            <a:ext cx="100584" cy="100584"/>
          </a:xfrm>
          <a:prstGeom prst="ellipse">
            <a:avLst/>
          </a:prstGeom>
          <a:solidFill>
            <a:srgbClr val="D5DED9"/>
          </a:solidFill>
          <a:ln w="12700">
            <a:solidFill>
              <a:srgbClr val="D5DED9"/>
            </a:solidFill>
            <a:prstDash val="solid"/>
          </a:ln>
        </p:spPr>
      </p:sp>
      <p:sp>
        <p:nvSpPr>
          <p:cNvPr id="6" name="dot2"/>
          <p:cNvSpPr/>
          <p:nvPr/>
        </p:nvSpPr>
        <p:spPr>
          <a:xfrm>
            <a:off x="7991856" y="338328"/>
            <a:ext cx="100584" cy="100584"/>
          </a:xfrm>
          <a:prstGeom prst="ellipse">
            <a:avLst/>
          </a:prstGeom>
          <a:solidFill>
            <a:srgbClr val="D5DED9"/>
          </a:solidFill>
          <a:ln w="12700">
            <a:solidFill>
              <a:srgbClr val="D5DED9"/>
            </a:solidFill>
            <a:prstDash val="solid"/>
          </a:ln>
        </p:spPr>
      </p:sp>
      <p:sp>
        <p:nvSpPr>
          <p:cNvPr id="7" name="dot3"/>
          <p:cNvSpPr/>
          <p:nvPr/>
        </p:nvSpPr>
        <p:spPr>
          <a:xfrm>
            <a:off x="8165592" y="338328"/>
            <a:ext cx="100584" cy="100584"/>
          </a:xfrm>
          <a:prstGeom prst="ellipse">
            <a:avLst/>
          </a:prstGeom>
          <a:solidFill>
            <a:srgbClr val="D49A00"/>
          </a:solidFill>
          <a:ln w="12700">
            <a:solidFill>
              <a:srgbClr val="D49A00"/>
            </a:solidFill>
            <a:prstDash val="solid"/>
          </a:ln>
        </p:spPr>
      </p:sp>
      <p:sp>
        <p:nvSpPr>
          <p:cNvPr id="8" name="dot4"/>
          <p:cNvSpPr/>
          <p:nvPr/>
        </p:nvSpPr>
        <p:spPr>
          <a:xfrm>
            <a:off x="8339328" y="338328"/>
            <a:ext cx="100584" cy="100584"/>
          </a:xfrm>
          <a:prstGeom prst="ellipse">
            <a:avLst/>
          </a:prstGeom>
          <a:solidFill>
            <a:srgbClr val="D5DED9"/>
          </a:solidFill>
          <a:ln w="12700">
            <a:solidFill>
              <a:srgbClr val="D5DED9"/>
            </a:solidFill>
            <a:prstDash val="solid"/>
          </a:ln>
        </p:spPr>
      </p:sp>
      <p:sp>
        <p:nvSpPr>
          <p:cNvPr id="9" name="dot5"/>
          <p:cNvSpPr/>
          <p:nvPr/>
        </p:nvSpPr>
        <p:spPr>
          <a:xfrm>
            <a:off x="8513064" y="338328"/>
            <a:ext cx="100584" cy="100584"/>
          </a:xfrm>
          <a:prstGeom prst="ellipse">
            <a:avLst/>
          </a:prstGeom>
          <a:solidFill>
            <a:srgbClr val="D5DED9"/>
          </a:solidFill>
          <a:ln w="12700">
            <a:solidFill>
              <a:srgbClr val="D5DED9"/>
            </a:solidFill>
            <a:prstDash val="solid"/>
          </a:ln>
        </p:spPr>
      </p:sp>
      <p:sp>
        <p:nvSpPr>
          <p:cNvPr id="11" name="Shape 8"/>
          <p:cNvSpPr/>
          <p:nvPr/>
        </p:nvSpPr>
        <p:spPr>
          <a:xfrm>
            <a:off x="457200" y="1325880"/>
            <a:ext cx="3429000" cy="960120"/>
          </a:xfrm>
          <a:prstGeom prst="roundRect">
            <a:avLst>
              <a:gd name="adj" fmla="val 7619"/>
            </a:avLst>
          </a:prstGeom>
          <a:solidFill>
            <a:srgbClr val="E8F5EF"/>
          </a:solidFill>
          <a:ln w="15875">
            <a:solidFill>
              <a:srgbClr val="D49A00"/>
            </a:solidFill>
            <a:prstDash val="solid"/>
          </a:ln>
        </p:spPr>
      </p:sp>
      <p:sp>
        <p:nvSpPr>
          <p:cNvPr id="12" name="Text 9"/>
          <p:cNvSpPr txBox="1"/>
          <p:nvPr/>
        </p:nvSpPr>
        <p:spPr>
          <a:xfrm>
            <a:off x="621792" y="1399032"/>
            <a:ext cx="3108960" cy="219456"/>
          </a:xfrm>
          <a:prstGeom prst="rect">
            <a:avLst/>
          </a:prstGeom>
          <a:noFill/>
          <a:ln/>
        </p:spPr>
        <p:txBody>
          <a:bodyPr wrap="square" lIns="0" tIns="0" rIns="0" bIns="0" rtlCol="0" anchor="ctr"/>
          <a:lstStyle/>
          <a:p>
            <a:pPr indent="0" marL="0">
              <a:buNone/>
            </a:pPr>
            <a:r>
              <a:rPr lang="en-US" sz="900" b="1" spc="200" kern="0" dirty="0">
                <a:solidFill>
                  <a:srgbClr val="D49A00"/>
                </a:solidFill>
                <a:latin typeface="Calibri" pitchFamily="34" charset="0"/>
                <a:ea typeface="Calibri" pitchFamily="34" charset="-122"/>
                <a:cs typeface="Calibri" pitchFamily="34" charset="-120"/>
              </a:rPr>
              <a:t>QUESTION</a:t>
            </a:r>
            <a:endParaRPr lang="en-US" sz="900" dirty="0"/>
          </a:p>
        </p:txBody>
      </p:sp>
      <p:sp>
        <p:nvSpPr>
          <p:cNvPr id="13" name="Text 10"/>
          <p:cNvSpPr txBox="1"/>
          <p:nvPr/>
        </p:nvSpPr>
        <p:spPr>
          <a:xfrm>
            <a:off x="621792" y="1627632"/>
            <a:ext cx="3154680" cy="621792"/>
          </a:xfrm>
          <a:prstGeom prst="rect">
            <a:avLst/>
          </a:prstGeom>
          <a:noFill/>
          <a:ln/>
        </p:spPr>
        <p:txBody>
          <a:bodyPr wrap="square" lIns="0" tIns="0" rIns="0" bIns="0" rtlCol="0" anchor="ctr"/>
          <a:lstStyle/>
          <a:p>
            <a:pPr indent="0" marL="0">
              <a:buNone/>
            </a:pPr>
            <a:r>
              <a:rPr lang="en-US" sz="1250" b="1" i="1" dirty="0">
                <a:solidFill>
                  <a:srgbClr val="231F20"/>
                </a:solidFill>
                <a:latin typeface="Calibri" pitchFamily="34" charset="0"/>
                <a:ea typeface="Calibri" pitchFamily="34" charset="-122"/>
                <a:cs typeface="Calibri" pitchFamily="34" charset="-120"/>
              </a:rPr>
              <a:t>La lumière suit-elle le PIB officiel, et de combien bouge-t-elle quand le PIB bouge de 1 % ?</a:t>
            </a:r>
            <a:endParaRPr lang="en-US" sz="1250" dirty="0"/>
          </a:p>
        </p:txBody>
      </p:sp>
      <p:sp>
        <p:nvSpPr>
          <p:cNvPr id="14" name="Text 11"/>
          <p:cNvSpPr txBox="1"/>
          <p:nvPr/>
        </p:nvSpPr>
        <p:spPr>
          <a:xfrm>
            <a:off x="457200" y="2395728"/>
            <a:ext cx="3383280" cy="219456"/>
          </a:xfrm>
          <a:prstGeom prst="rect">
            <a:avLst/>
          </a:prstGeom>
          <a:noFill/>
          <a:ln/>
        </p:spPr>
        <p:txBody>
          <a:bodyPr wrap="square" lIns="0" tIns="0" rIns="0" bIns="0" rtlCol="0" anchor="ctr"/>
          <a:lstStyle/>
          <a:p>
            <a:pPr indent="0" marL="0">
              <a:buNone/>
            </a:pPr>
            <a:r>
              <a:rPr lang="en-US" sz="900" b="1" spc="200" kern="0" dirty="0">
                <a:solidFill>
                  <a:srgbClr val="00704A"/>
                </a:solidFill>
                <a:latin typeface="Calibri" pitchFamily="34" charset="0"/>
                <a:ea typeface="Calibri" pitchFamily="34" charset="-122"/>
                <a:cs typeface="Calibri" pitchFamily="34" charset="-120"/>
              </a:rPr>
              <a:t>DONNÉES UTILISÉES</a:t>
            </a:r>
            <a:endParaRPr lang="en-US" sz="900" dirty="0"/>
          </a:p>
        </p:txBody>
      </p:sp>
      <p:sp>
        <p:nvSpPr>
          <p:cNvPr id="15" name="Shape 12"/>
          <p:cNvSpPr/>
          <p:nvPr/>
        </p:nvSpPr>
        <p:spPr>
          <a:xfrm>
            <a:off x="457200" y="2670048"/>
            <a:ext cx="347472" cy="347472"/>
          </a:xfrm>
          <a:prstGeom prst="ellipse">
            <a:avLst/>
          </a:prstGeom>
          <a:solidFill>
            <a:srgbClr val="D49A00">
              <a:alpha val="22000"/>
            </a:srgbClr>
          </a:solidFill>
          <a:ln w="12700">
            <a:solidFill>
              <a:srgbClr val="D49A00">
                <a:alpha val="0"/>
              </a:srgbClr>
            </a:solidFill>
            <a:prstDash val="solid"/>
          </a:ln>
        </p:spPr>
      </p:sp>
      <p:pic>
        <p:nvPicPr>
          <p:cNvPr id="16" name="Image 0" descr="preencoded.png">    </p:cNvPr>
          <p:cNvPicPr>
            <a:picLocks noChangeAspect="1"/>
          </p:cNvPicPr>
          <p:nvPr/>
        </p:nvPicPr>
        <p:blipFill>
          <a:blip r:embed="rId1"/>
          <a:stretch>
            <a:fillRect/>
          </a:stretch>
        </p:blipFill>
        <p:spPr>
          <a:xfrm>
            <a:off x="540593" y="2753441"/>
            <a:ext cx="180685" cy="180685"/>
          </a:xfrm>
          <a:prstGeom prst="rect">
            <a:avLst/>
          </a:prstGeom>
        </p:spPr>
      </p:pic>
      <p:sp>
        <p:nvSpPr>
          <p:cNvPr id="17" name="Text 13"/>
          <p:cNvSpPr txBox="1"/>
          <p:nvPr/>
        </p:nvSpPr>
        <p:spPr>
          <a:xfrm>
            <a:off x="896112" y="2651760"/>
            <a:ext cx="2971800" cy="201168"/>
          </a:xfrm>
          <a:prstGeom prst="rect">
            <a:avLst/>
          </a:prstGeom>
          <a:noFill/>
          <a:ln/>
        </p:spPr>
        <p:txBody>
          <a:bodyPr wrap="square" lIns="0" tIns="0" rIns="0" bIns="0" rtlCol="0" anchor="t"/>
          <a:lstStyle/>
          <a:p>
            <a:pPr indent="0" marL="0">
              <a:buNone/>
            </a:pPr>
            <a:r>
              <a:rPr lang="en-US" sz="1050" b="1" dirty="0">
                <a:solidFill>
                  <a:srgbClr val="231F20"/>
                </a:solidFill>
                <a:latin typeface="Calibri" pitchFamily="34" charset="0"/>
                <a:ea typeface="Calibri" pitchFamily="34" charset="-122"/>
                <a:cs typeface="Calibri" pitchFamily="34" charset="-120"/>
              </a:rPr>
              <a:t>VIIRS VNL annuel, national</a:t>
            </a:r>
            <a:endParaRPr lang="en-US" sz="1050" dirty="0"/>
          </a:p>
        </p:txBody>
      </p:sp>
      <p:sp>
        <p:nvSpPr>
          <p:cNvPr id="18" name="Text 14"/>
          <p:cNvSpPr txBox="1"/>
          <p:nvPr/>
        </p:nvSpPr>
        <p:spPr>
          <a:xfrm>
            <a:off x="896112" y="2843784"/>
            <a:ext cx="2971800" cy="228600"/>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SoL par an (+ indicateur V2.1 / V2.2)</a:t>
            </a:r>
            <a:endParaRPr lang="en-US" sz="900" dirty="0"/>
          </a:p>
        </p:txBody>
      </p:sp>
      <p:sp>
        <p:nvSpPr>
          <p:cNvPr id="19" name="Shape 15"/>
          <p:cNvSpPr/>
          <p:nvPr/>
        </p:nvSpPr>
        <p:spPr>
          <a:xfrm>
            <a:off x="457200" y="3127248"/>
            <a:ext cx="347472" cy="347472"/>
          </a:xfrm>
          <a:prstGeom prst="ellipse">
            <a:avLst/>
          </a:prstGeom>
          <a:solidFill>
            <a:srgbClr val="D49A00">
              <a:alpha val="22000"/>
            </a:srgbClr>
          </a:solidFill>
          <a:ln w="12700">
            <a:solidFill>
              <a:srgbClr val="D49A00">
                <a:alpha val="0"/>
              </a:srgbClr>
            </a:solidFill>
            <a:prstDash val="solid"/>
          </a:ln>
        </p:spPr>
      </p:sp>
      <p:pic>
        <p:nvPicPr>
          <p:cNvPr id="20" name="Image 1" descr="preencoded.png">    </p:cNvPr>
          <p:cNvPicPr>
            <a:picLocks noChangeAspect="1"/>
          </p:cNvPicPr>
          <p:nvPr/>
        </p:nvPicPr>
        <p:blipFill>
          <a:blip r:embed="rId2"/>
          <a:stretch>
            <a:fillRect/>
          </a:stretch>
        </p:blipFill>
        <p:spPr>
          <a:xfrm>
            <a:off x="540593" y="3210641"/>
            <a:ext cx="180685" cy="180685"/>
          </a:xfrm>
          <a:prstGeom prst="rect">
            <a:avLst/>
          </a:prstGeom>
        </p:spPr>
      </p:pic>
      <p:sp>
        <p:nvSpPr>
          <p:cNvPr id="21" name="Text 16"/>
          <p:cNvSpPr txBox="1"/>
          <p:nvPr/>
        </p:nvSpPr>
        <p:spPr>
          <a:xfrm>
            <a:off x="896112" y="3108960"/>
            <a:ext cx="2971800" cy="201168"/>
          </a:xfrm>
          <a:prstGeom prst="rect">
            <a:avLst/>
          </a:prstGeom>
          <a:noFill/>
          <a:ln/>
        </p:spPr>
        <p:txBody>
          <a:bodyPr wrap="square" lIns="0" tIns="0" rIns="0" bIns="0" rtlCol="0" anchor="t"/>
          <a:lstStyle/>
          <a:p>
            <a:pPr indent="0" marL="0">
              <a:buNone/>
            </a:pPr>
            <a:r>
              <a:rPr lang="en-US" sz="1050" b="1" dirty="0">
                <a:solidFill>
                  <a:srgbClr val="231F20"/>
                </a:solidFill>
                <a:latin typeface="Calibri" pitchFamily="34" charset="0"/>
                <a:ea typeface="Calibri" pitchFamily="34" charset="-122"/>
                <a:cs typeface="Calibri" pitchFamily="34" charset="-120"/>
              </a:rPr>
              <a:t>Série longue harmonisée</a:t>
            </a:r>
            <a:endParaRPr lang="en-US" sz="1050" dirty="0"/>
          </a:p>
        </p:txBody>
      </p:sp>
      <p:sp>
        <p:nvSpPr>
          <p:cNvPr id="22" name="Text 17"/>
          <p:cNvSpPr txBox="1"/>
          <p:nvPr/>
        </p:nvSpPr>
        <p:spPr>
          <a:xfrm>
            <a:off x="896112" y="3300984"/>
            <a:ext cx="2971800" cy="228600"/>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1992 →, indicatrice de capteur</a:t>
            </a:r>
            <a:endParaRPr lang="en-US" sz="900" dirty="0"/>
          </a:p>
        </p:txBody>
      </p:sp>
      <p:sp>
        <p:nvSpPr>
          <p:cNvPr id="23" name="Shape 18"/>
          <p:cNvSpPr/>
          <p:nvPr/>
        </p:nvSpPr>
        <p:spPr>
          <a:xfrm>
            <a:off x="457200" y="3584448"/>
            <a:ext cx="347472" cy="347472"/>
          </a:xfrm>
          <a:prstGeom prst="ellipse">
            <a:avLst/>
          </a:prstGeom>
          <a:solidFill>
            <a:srgbClr val="D49A00">
              <a:alpha val="22000"/>
            </a:srgbClr>
          </a:solidFill>
          <a:ln w="12700">
            <a:solidFill>
              <a:srgbClr val="D49A00">
                <a:alpha val="0"/>
              </a:srgbClr>
            </a:solidFill>
            <a:prstDash val="solid"/>
          </a:ln>
        </p:spPr>
      </p:sp>
      <p:pic>
        <p:nvPicPr>
          <p:cNvPr id="24" name="Image 2" descr="preencoded.png">    </p:cNvPr>
          <p:cNvPicPr>
            <a:picLocks noChangeAspect="1"/>
          </p:cNvPicPr>
          <p:nvPr/>
        </p:nvPicPr>
        <p:blipFill>
          <a:blip r:embed="rId3"/>
          <a:stretch>
            <a:fillRect/>
          </a:stretch>
        </p:blipFill>
        <p:spPr>
          <a:xfrm>
            <a:off x="540593" y="3667841"/>
            <a:ext cx="180685" cy="180685"/>
          </a:xfrm>
          <a:prstGeom prst="rect">
            <a:avLst/>
          </a:prstGeom>
        </p:spPr>
      </p:pic>
      <p:sp>
        <p:nvSpPr>
          <p:cNvPr id="25" name="Text 19"/>
          <p:cNvSpPr txBox="1"/>
          <p:nvPr/>
        </p:nvSpPr>
        <p:spPr>
          <a:xfrm>
            <a:off x="896112" y="3566160"/>
            <a:ext cx="2971800" cy="201168"/>
          </a:xfrm>
          <a:prstGeom prst="rect">
            <a:avLst/>
          </a:prstGeom>
          <a:noFill/>
          <a:ln/>
        </p:spPr>
        <p:txBody>
          <a:bodyPr wrap="square" lIns="0" tIns="0" rIns="0" bIns="0" rtlCol="0" anchor="t"/>
          <a:lstStyle/>
          <a:p>
            <a:pPr indent="0" marL="0">
              <a:buNone/>
            </a:pPr>
            <a:r>
              <a:rPr lang="en-US" sz="1050" b="1" dirty="0">
                <a:solidFill>
                  <a:srgbClr val="231F20"/>
                </a:solidFill>
                <a:latin typeface="Calibri" pitchFamily="34" charset="0"/>
                <a:ea typeface="Calibri" pitchFamily="34" charset="-122"/>
                <a:cs typeface="Calibri" pitchFamily="34" charset="-120"/>
              </a:rPr>
              <a:t>World Bank NY.GDP.MKTP.KD</a:t>
            </a:r>
            <a:endParaRPr lang="en-US" sz="1050" dirty="0"/>
          </a:p>
        </p:txBody>
      </p:sp>
      <p:sp>
        <p:nvSpPr>
          <p:cNvPr id="26" name="Text 20"/>
          <p:cNvSpPr txBox="1"/>
          <p:nvPr/>
        </p:nvSpPr>
        <p:spPr>
          <a:xfrm>
            <a:off x="896112" y="3758184"/>
            <a:ext cx="2971800" cy="228600"/>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PIB réel, USD constants 2015</a:t>
            </a:r>
            <a:endParaRPr lang="en-US" sz="900" dirty="0"/>
          </a:p>
        </p:txBody>
      </p:sp>
      <p:sp>
        <p:nvSpPr>
          <p:cNvPr id="27" name="Text 21"/>
          <p:cNvSpPr txBox="1"/>
          <p:nvPr/>
        </p:nvSpPr>
        <p:spPr>
          <a:xfrm>
            <a:off x="4206240" y="1325880"/>
            <a:ext cx="4480560" cy="219456"/>
          </a:xfrm>
          <a:prstGeom prst="rect">
            <a:avLst/>
          </a:prstGeom>
          <a:noFill/>
          <a:ln/>
        </p:spPr>
        <p:txBody>
          <a:bodyPr wrap="square" lIns="0" tIns="0" rIns="0" bIns="0" rtlCol="0" anchor="ctr"/>
          <a:lstStyle/>
          <a:p>
            <a:pPr indent="0" marL="0">
              <a:buNone/>
            </a:pPr>
            <a:r>
              <a:rPr lang="en-US" sz="900" b="1" spc="200" kern="0" dirty="0">
                <a:solidFill>
                  <a:srgbClr val="00704A"/>
                </a:solidFill>
                <a:latin typeface="Calibri" pitchFamily="34" charset="0"/>
                <a:ea typeface="Calibri" pitchFamily="34" charset="-122"/>
                <a:cs typeface="Calibri" pitchFamily="34" charset="-120"/>
              </a:rPr>
              <a:t>MÉTHODE, PAS À PAS</a:t>
            </a:r>
            <a:endParaRPr lang="en-US" sz="900" dirty="0"/>
          </a:p>
        </p:txBody>
      </p:sp>
      <p:sp>
        <p:nvSpPr>
          <p:cNvPr id="28" name="Shape 22"/>
          <p:cNvSpPr/>
          <p:nvPr/>
        </p:nvSpPr>
        <p:spPr>
          <a:xfrm>
            <a:off x="4206240" y="1645920"/>
            <a:ext cx="329184" cy="329184"/>
          </a:xfrm>
          <a:prstGeom prst="ellipse">
            <a:avLst/>
          </a:prstGeom>
          <a:solidFill>
            <a:srgbClr val="D49A00"/>
          </a:solidFill>
          <a:ln w="12700">
            <a:solidFill>
              <a:srgbClr val="D49A00"/>
            </a:solidFill>
            <a:prstDash val="solid"/>
          </a:ln>
        </p:spPr>
      </p:sp>
      <p:sp>
        <p:nvSpPr>
          <p:cNvPr id="29" name="Text 23"/>
          <p:cNvSpPr txBox="1"/>
          <p:nvPr/>
        </p:nvSpPr>
        <p:spPr>
          <a:xfrm>
            <a:off x="4206240" y="1645920"/>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30" name="Shape 24"/>
          <p:cNvSpPr/>
          <p:nvPr/>
        </p:nvSpPr>
        <p:spPr>
          <a:xfrm>
            <a:off x="4370832" y="1993392"/>
            <a:ext cx="0" cy="237744"/>
          </a:xfrm>
          <a:prstGeom prst="line">
            <a:avLst/>
          </a:prstGeom>
          <a:noFill/>
          <a:ln w="15875">
            <a:solidFill>
              <a:srgbClr val="D5DED9"/>
            </a:solidFill>
            <a:prstDash val="solid"/>
          </a:ln>
        </p:spPr>
      </p:sp>
      <p:sp>
        <p:nvSpPr>
          <p:cNvPr id="31" name="Text 25"/>
          <p:cNvSpPr txBox="1"/>
          <p:nvPr/>
        </p:nvSpPr>
        <p:spPr>
          <a:xfrm>
            <a:off x="4663440" y="1627632"/>
            <a:ext cx="4023360" cy="219456"/>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Niveaux</a:t>
            </a:r>
            <a:endParaRPr lang="en-US" sz="1150" dirty="0"/>
          </a:p>
        </p:txBody>
      </p:sp>
      <p:sp>
        <p:nvSpPr>
          <p:cNvPr id="32" name="Text 26"/>
          <p:cNvSpPr txBox="1"/>
          <p:nvPr/>
        </p:nvSpPr>
        <p:spPr>
          <a:xfrm>
            <a:off x="4663440" y="1847088"/>
            <a:ext cx="4023360" cy="365760"/>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log(SoLₜ) = α + β·log(GDPₜ) [+ δ·V22ₜ] + εₜ</a:t>
            </a:r>
            <a:endParaRPr lang="en-US" sz="950" dirty="0"/>
          </a:p>
        </p:txBody>
      </p:sp>
      <p:sp>
        <p:nvSpPr>
          <p:cNvPr id="33" name="Shape 27"/>
          <p:cNvSpPr/>
          <p:nvPr/>
        </p:nvSpPr>
        <p:spPr>
          <a:xfrm>
            <a:off x="4206240" y="2249424"/>
            <a:ext cx="329184" cy="329184"/>
          </a:xfrm>
          <a:prstGeom prst="ellipse">
            <a:avLst/>
          </a:prstGeom>
          <a:solidFill>
            <a:srgbClr val="D49A00"/>
          </a:solidFill>
          <a:ln w="12700">
            <a:solidFill>
              <a:srgbClr val="D49A00"/>
            </a:solidFill>
            <a:prstDash val="solid"/>
          </a:ln>
        </p:spPr>
      </p:sp>
      <p:sp>
        <p:nvSpPr>
          <p:cNvPr id="34" name="Text 28"/>
          <p:cNvSpPr txBox="1"/>
          <p:nvPr/>
        </p:nvSpPr>
        <p:spPr>
          <a:xfrm>
            <a:off x="4206240" y="2249424"/>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5" name="Shape 29"/>
          <p:cNvSpPr/>
          <p:nvPr/>
        </p:nvSpPr>
        <p:spPr>
          <a:xfrm>
            <a:off x="4370832" y="2596896"/>
            <a:ext cx="0" cy="237744"/>
          </a:xfrm>
          <a:prstGeom prst="line">
            <a:avLst/>
          </a:prstGeom>
          <a:noFill/>
          <a:ln w="15875">
            <a:solidFill>
              <a:srgbClr val="D5DED9"/>
            </a:solidFill>
            <a:prstDash val="solid"/>
          </a:ln>
        </p:spPr>
      </p:sp>
      <p:sp>
        <p:nvSpPr>
          <p:cNvPr id="36" name="Text 30"/>
          <p:cNvSpPr txBox="1"/>
          <p:nvPr/>
        </p:nvSpPr>
        <p:spPr>
          <a:xfrm>
            <a:off x="4663440" y="2231136"/>
            <a:ext cx="4023360" cy="219456"/>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Taux de croissance</a:t>
            </a:r>
            <a:endParaRPr lang="en-US" sz="1150" dirty="0"/>
          </a:p>
        </p:txBody>
      </p:sp>
      <p:sp>
        <p:nvSpPr>
          <p:cNvPr id="37" name="Text 31"/>
          <p:cNvSpPr txBox="1"/>
          <p:nvPr/>
        </p:nvSpPr>
        <p:spPr>
          <a:xfrm>
            <a:off x="4663440" y="2450592"/>
            <a:ext cx="4023360" cy="365760"/>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Δlog(SoL) = α + β·Δlog(PIB) : insensible aux tendances communes</a:t>
            </a:r>
            <a:endParaRPr lang="en-US" sz="950" dirty="0"/>
          </a:p>
        </p:txBody>
      </p:sp>
      <p:sp>
        <p:nvSpPr>
          <p:cNvPr id="38" name="Shape 32"/>
          <p:cNvSpPr/>
          <p:nvPr/>
        </p:nvSpPr>
        <p:spPr>
          <a:xfrm>
            <a:off x="4206240" y="2852928"/>
            <a:ext cx="329184" cy="329184"/>
          </a:xfrm>
          <a:prstGeom prst="ellipse">
            <a:avLst/>
          </a:prstGeom>
          <a:solidFill>
            <a:srgbClr val="D49A00"/>
          </a:solidFill>
          <a:ln w="12700">
            <a:solidFill>
              <a:srgbClr val="D49A00"/>
            </a:solidFill>
            <a:prstDash val="solid"/>
          </a:ln>
        </p:spPr>
      </p:sp>
      <p:sp>
        <p:nvSpPr>
          <p:cNvPr id="39" name="Text 33"/>
          <p:cNvSpPr txBox="1"/>
          <p:nvPr/>
        </p:nvSpPr>
        <p:spPr>
          <a:xfrm>
            <a:off x="4206240" y="285292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0" name="Shape 34"/>
          <p:cNvSpPr/>
          <p:nvPr/>
        </p:nvSpPr>
        <p:spPr>
          <a:xfrm>
            <a:off x="4370832" y="3200400"/>
            <a:ext cx="0" cy="237744"/>
          </a:xfrm>
          <a:prstGeom prst="line">
            <a:avLst/>
          </a:prstGeom>
          <a:noFill/>
          <a:ln w="15875">
            <a:solidFill>
              <a:srgbClr val="D5DED9"/>
            </a:solidFill>
            <a:prstDash val="solid"/>
          </a:ln>
        </p:spPr>
      </p:sp>
      <p:sp>
        <p:nvSpPr>
          <p:cNvPr id="41" name="Text 35"/>
          <p:cNvSpPr txBox="1"/>
          <p:nvPr/>
        </p:nvSpPr>
        <p:spPr>
          <a:xfrm>
            <a:off x="4663440" y="2834640"/>
            <a:ext cx="4023360" cy="219456"/>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Série longue</a:t>
            </a:r>
            <a:endParaRPr lang="en-US" sz="1150" dirty="0"/>
          </a:p>
        </p:txBody>
      </p:sp>
      <p:sp>
        <p:nvSpPr>
          <p:cNvPr id="42" name="Text 36"/>
          <p:cNvSpPr txBox="1"/>
          <p:nvPr/>
        </p:nvSpPr>
        <p:spPr>
          <a:xfrm>
            <a:off x="4663440" y="3054096"/>
            <a:ext cx="4023360" cy="365760"/>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Niveaux sur 1992 → avec indicatrice DMSP / VIIRS</a:t>
            </a:r>
            <a:endParaRPr lang="en-US" sz="950" dirty="0"/>
          </a:p>
        </p:txBody>
      </p:sp>
      <p:sp>
        <p:nvSpPr>
          <p:cNvPr id="43" name="Shape 37"/>
          <p:cNvSpPr/>
          <p:nvPr/>
        </p:nvSpPr>
        <p:spPr>
          <a:xfrm>
            <a:off x="4206240" y="3456432"/>
            <a:ext cx="329184" cy="329184"/>
          </a:xfrm>
          <a:prstGeom prst="ellipse">
            <a:avLst/>
          </a:prstGeom>
          <a:solidFill>
            <a:srgbClr val="D49A00"/>
          </a:solidFill>
          <a:ln w="12700">
            <a:solidFill>
              <a:srgbClr val="D49A00"/>
            </a:solidFill>
            <a:prstDash val="solid"/>
          </a:ln>
        </p:spPr>
      </p:sp>
      <p:sp>
        <p:nvSpPr>
          <p:cNvPr id="44" name="Text 38"/>
          <p:cNvSpPr txBox="1"/>
          <p:nvPr/>
        </p:nvSpPr>
        <p:spPr>
          <a:xfrm>
            <a:off x="4206240" y="3456432"/>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45" name="Shape 39"/>
          <p:cNvSpPr/>
          <p:nvPr/>
        </p:nvSpPr>
        <p:spPr>
          <a:xfrm>
            <a:off x="4370832" y="3803904"/>
            <a:ext cx="0" cy="237744"/>
          </a:xfrm>
          <a:prstGeom prst="line">
            <a:avLst/>
          </a:prstGeom>
          <a:noFill/>
          <a:ln w="15875">
            <a:solidFill>
              <a:srgbClr val="D5DED9"/>
            </a:solidFill>
            <a:prstDash val="solid"/>
          </a:ln>
        </p:spPr>
      </p:sp>
      <p:sp>
        <p:nvSpPr>
          <p:cNvPr id="46" name="Text 40"/>
          <p:cNvSpPr txBox="1"/>
          <p:nvPr/>
        </p:nvSpPr>
        <p:spPr>
          <a:xfrm>
            <a:off x="4663440" y="3438144"/>
            <a:ext cx="4023360" cy="219456"/>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Incertitude</a:t>
            </a:r>
            <a:endParaRPr lang="en-US" sz="1150" dirty="0"/>
          </a:p>
        </p:txBody>
      </p:sp>
      <p:sp>
        <p:nvSpPr>
          <p:cNvPr id="47" name="Text 41"/>
          <p:cNvSpPr txBox="1"/>
          <p:nvPr/>
        </p:nvSpPr>
        <p:spPr>
          <a:xfrm>
            <a:off x="4663440" y="3657600"/>
            <a:ext cx="4023360" cy="365760"/>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IC 95 % Newey–West (HAC) + IC bootstrap par paires (999 tirages)</a:t>
            </a:r>
            <a:endParaRPr lang="en-US" sz="950" dirty="0"/>
          </a:p>
        </p:txBody>
      </p:sp>
      <p:sp>
        <p:nvSpPr>
          <p:cNvPr id="48" name="Shape 42"/>
          <p:cNvSpPr/>
          <p:nvPr/>
        </p:nvSpPr>
        <p:spPr>
          <a:xfrm>
            <a:off x="4206240" y="4059936"/>
            <a:ext cx="329184" cy="329184"/>
          </a:xfrm>
          <a:prstGeom prst="ellipse">
            <a:avLst/>
          </a:prstGeom>
          <a:solidFill>
            <a:srgbClr val="D49A00"/>
          </a:solidFill>
          <a:ln w="12700">
            <a:solidFill>
              <a:srgbClr val="D49A00"/>
            </a:solidFill>
            <a:prstDash val="solid"/>
          </a:ln>
        </p:spPr>
      </p:sp>
      <p:sp>
        <p:nvSpPr>
          <p:cNvPr id="49" name="Text 43"/>
          <p:cNvSpPr txBox="1"/>
          <p:nvPr/>
        </p:nvSpPr>
        <p:spPr>
          <a:xfrm>
            <a:off x="4206240" y="405993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50" name="Text 44"/>
          <p:cNvSpPr txBox="1"/>
          <p:nvPr/>
        </p:nvSpPr>
        <p:spPr>
          <a:xfrm>
            <a:off x="4663440" y="4041648"/>
            <a:ext cx="4023360" cy="219456"/>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Diagnostics</a:t>
            </a:r>
            <a:endParaRPr lang="en-US" sz="1150" dirty="0"/>
          </a:p>
        </p:txBody>
      </p:sp>
      <p:sp>
        <p:nvSpPr>
          <p:cNvPr id="51" name="Text 45"/>
          <p:cNvSpPr txBox="1"/>
          <p:nvPr/>
        </p:nvSpPr>
        <p:spPr>
          <a:xfrm>
            <a:off x="4663440" y="4261104"/>
            <a:ext cx="4023360" cy="365760"/>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Durbin–Watson · Breusch–Pagan · Jarque–Bera · Ramsey RESET (n ≥ 12)</a:t>
            </a:r>
            <a:endParaRPr lang="en-US" sz="95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8A9590"/>
                </a:solidFill>
                <a:latin typeface="Calibri"/>
                <a:ea typeface="Calibri"/>
                <a:cs typeface="Calibri"/>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3"/>
          <p:cNvSpPr/>
          <p:nvPr>
            <p:ph idx="105" type="body" hasCustomPrompt="1"/>
          </p:nvPr>
        </p:nvSpPr>
        <p:spPr>
          <a:xfrm>
            <a:off x="457200" y="274320"/>
            <a:ext cx="6217920" cy="256032"/>
          </a:xfrm>
          <a:prstGeom prst="rect">
            <a:avLst/>
          </a:prstGeom>
          <a:noFill/>
          <a:ln/>
        </p:spPr>
        <p:txBody>
          <a:bodyPr wrap="square" lIns="0" tIns="0" rIns="0" bIns="0" rtlCol="0" anchor="ctr"/>
          <a:lstStyle/>
          <a:p>
            <a:pPr algn="l" indent="0" marL="0">
              <a:buNone/>
            </a:pPr>
            <a:r>
              <a:rPr lang="en-US" sz="1050" b="1" spc="300" kern="0" dirty="0">
                <a:solidFill>
                  <a:srgbClr val="00704A"/>
                </a:solidFill>
                <a:latin typeface="Calibri" pitchFamily="34" charset="0"/>
                <a:ea typeface="Calibri" pitchFamily="34" charset="-122"/>
                <a:cs typeface="Calibri" pitchFamily="34" charset="-120"/>
              </a:rPr>
              <a:t>04 · ANALYSER · SCÉNARIO 3</a:t>
            </a:r>
            <a:endParaRPr lang="en-US" sz="1050" dirty="0"/>
          </a:p>
        </p:txBody>
      </p:sp>
      <p:sp>
        <p:nvSpPr>
          <p:cNvPr id="3" name="Text 3"/>
          <p:cNvSpPr/>
          <p:nvPr>
            <p:ph idx="106" type="title" hasCustomPrompt="1"/>
          </p:nvPr>
        </p:nvSpPr>
        <p:spPr>
          <a:xfrm>
            <a:off x="457200" y="548640"/>
            <a:ext cx="8229600" cy="566928"/>
          </a:xfrm>
          <a:prstGeom prst="rect">
            <a:avLst/>
          </a:prstGeom>
          <a:noFill/>
          <a:ln/>
        </p:spPr>
        <p:txBody>
          <a:bodyPr wrap="square" lIns="0" tIns="0" rIns="0" bIns="0" rtlCol="0" anchor="ctr"/>
          <a:lstStyle/>
          <a:p>
            <a:pPr algn="l" indent="0" marL="0">
              <a:buNone/>
            </a:pPr>
            <a:r>
              <a:rPr lang="en-US" sz="2800" b="1" dirty="0">
                <a:solidFill>
                  <a:srgbClr val="231F20"/>
                </a:solidFill>
                <a:latin typeface="Calibri" pitchFamily="34" charset="0"/>
                <a:ea typeface="Calibri" pitchFamily="34" charset="-122"/>
                <a:cs typeface="Calibri" pitchFamily="34" charset="-120"/>
              </a:rPr>
              <a:t>Lumières et PIB : prévision et estimation régionale</a:t>
            </a:r>
            <a:endParaRPr lang="en-US" sz="2800" dirty="0"/>
          </a:p>
        </p:txBody>
      </p:sp>
      <p:sp>
        <p:nvSpPr>
          <p:cNvPr id="4" name="dot0"/>
          <p:cNvSpPr/>
          <p:nvPr/>
        </p:nvSpPr>
        <p:spPr>
          <a:xfrm>
            <a:off x="7644384" y="338328"/>
            <a:ext cx="100584" cy="100584"/>
          </a:xfrm>
          <a:prstGeom prst="ellipse">
            <a:avLst/>
          </a:prstGeom>
          <a:solidFill>
            <a:srgbClr val="D5DED9"/>
          </a:solidFill>
          <a:ln w="12700">
            <a:solidFill>
              <a:srgbClr val="D5DED9"/>
            </a:solidFill>
            <a:prstDash val="solid"/>
          </a:ln>
        </p:spPr>
      </p:sp>
      <p:sp>
        <p:nvSpPr>
          <p:cNvPr id="5" name="dot1"/>
          <p:cNvSpPr/>
          <p:nvPr/>
        </p:nvSpPr>
        <p:spPr>
          <a:xfrm>
            <a:off x="7818120" y="338328"/>
            <a:ext cx="100584" cy="100584"/>
          </a:xfrm>
          <a:prstGeom prst="ellipse">
            <a:avLst/>
          </a:prstGeom>
          <a:solidFill>
            <a:srgbClr val="D5DED9"/>
          </a:solidFill>
          <a:ln w="12700">
            <a:solidFill>
              <a:srgbClr val="D5DED9"/>
            </a:solidFill>
            <a:prstDash val="solid"/>
          </a:ln>
        </p:spPr>
      </p:sp>
      <p:sp>
        <p:nvSpPr>
          <p:cNvPr id="6" name="dot2"/>
          <p:cNvSpPr/>
          <p:nvPr/>
        </p:nvSpPr>
        <p:spPr>
          <a:xfrm>
            <a:off x="7991856" y="338328"/>
            <a:ext cx="100584" cy="100584"/>
          </a:xfrm>
          <a:prstGeom prst="ellipse">
            <a:avLst/>
          </a:prstGeom>
          <a:solidFill>
            <a:srgbClr val="D5DED9"/>
          </a:solidFill>
          <a:ln w="12700">
            <a:solidFill>
              <a:srgbClr val="D5DED9"/>
            </a:solidFill>
            <a:prstDash val="solid"/>
          </a:ln>
        </p:spPr>
      </p:sp>
      <p:sp>
        <p:nvSpPr>
          <p:cNvPr id="7" name="dot3"/>
          <p:cNvSpPr/>
          <p:nvPr/>
        </p:nvSpPr>
        <p:spPr>
          <a:xfrm>
            <a:off x="8165592" y="338328"/>
            <a:ext cx="100584" cy="100584"/>
          </a:xfrm>
          <a:prstGeom prst="ellipse">
            <a:avLst/>
          </a:prstGeom>
          <a:solidFill>
            <a:srgbClr val="D49A00"/>
          </a:solidFill>
          <a:ln w="12700">
            <a:solidFill>
              <a:srgbClr val="D49A00"/>
            </a:solidFill>
            <a:prstDash val="solid"/>
          </a:ln>
        </p:spPr>
      </p:sp>
      <p:sp>
        <p:nvSpPr>
          <p:cNvPr id="8" name="dot4"/>
          <p:cNvSpPr/>
          <p:nvPr/>
        </p:nvSpPr>
        <p:spPr>
          <a:xfrm>
            <a:off x="8339328" y="338328"/>
            <a:ext cx="100584" cy="100584"/>
          </a:xfrm>
          <a:prstGeom prst="ellipse">
            <a:avLst/>
          </a:prstGeom>
          <a:solidFill>
            <a:srgbClr val="D5DED9"/>
          </a:solidFill>
          <a:ln w="12700">
            <a:solidFill>
              <a:srgbClr val="D5DED9"/>
            </a:solidFill>
            <a:prstDash val="solid"/>
          </a:ln>
        </p:spPr>
      </p:sp>
      <p:sp>
        <p:nvSpPr>
          <p:cNvPr id="9" name="dot5"/>
          <p:cNvSpPr/>
          <p:nvPr/>
        </p:nvSpPr>
        <p:spPr>
          <a:xfrm>
            <a:off x="8513064" y="338328"/>
            <a:ext cx="100584" cy="100584"/>
          </a:xfrm>
          <a:prstGeom prst="ellipse">
            <a:avLst/>
          </a:prstGeom>
          <a:solidFill>
            <a:srgbClr val="D5DED9"/>
          </a:solidFill>
          <a:ln w="12700">
            <a:solidFill>
              <a:srgbClr val="D5DED9"/>
            </a:solidFill>
            <a:prstDash val="solid"/>
          </a:ln>
        </p:spPr>
      </p:sp>
      <p:sp>
        <p:nvSpPr>
          <p:cNvPr id="11" name="Text 8"/>
          <p:cNvSpPr txBox="1"/>
          <p:nvPr/>
        </p:nvSpPr>
        <p:spPr>
          <a:xfrm>
            <a:off x="548640" y="1353312"/>
            <a:ext cx="1783080" cy="219456"/>
          </a:xfrm>
          <a:prstGeom prst="rect">
            <a:avLst/>
          </a:prstGeom>
          <a:noFill/>
          <a:ln/>
        </p:spPr>
        <p:txBody>
          <a:bodyPr wrap="square" lIns="0" tIns="0" rIns="0" bIns="0" rtlCol="0" anchor="ctr"/>
          <a:lstStyle/>
          <a:p>
            <a:pPr indent="0" marL="0">
              <a:buNone/>
            </a:pPr>
            <a:r>
              <a:rPr lang="en-US" sz="900" b="1" spc="200" kern="0" dirty="0">
                <a:solidFill>
                  <a:srgbClr val="D49A00"/>
                </a:solidFill>
                <a:latin typeface="Calibri" pitchFamily="34" charset="0"/>
                <a:ea typeface="Calibri" pitchFamily="34" charset="-122"/>
                <a:cs typeface="Calibri" pitchFamily="34" charset="-120"/>
              </a:rPr>
              <a:t>MÉTRIQUE</a:t>
            </a:r>
            <a:endParaRPr lang="en-US" sz="900" dirty="0"/>
          </a:p>
        </p:txBody>
      </p:sp>
      <p:sp>
        <p:nvSpPr>
          <p:cNvPr id="12" name="Text 9"/>
          <p:cNvSpPr txBox="1"/>
          <p:nvPr/>
        </p:nvSpPr>
        <p:spPr>
          <a:xfrm>
            <a:off x="2423160" y="1353312"/>
            <a:ext cx="2971800" cy="219456"/>
          </a:xfrm>
          <a:prstGeom prst="rect">
            <a:avLst/>
          </a:prstGeom>
          <a:noFill/>
          <a:ln/>
        </p:spPr>
        <p:txBody>
          <a:bodyPr wrap="square" lIns="0" tIns="0" rIns="0" bIns="0" rtlCol="0" anchor="ctr"/>
          <a:lstStyle/>
          <a:p>
            <a:pPr indent="0" marL="0">
              <a:buNone/>
            </a:pPr>
            <a:r>
              <a:rPr lang="en-US" sz="900" b="1" spc="200" kern="0" dirty="0">
                <a:solidFill>
                  <a:srgbClr val="D49A00"/>
                </a:solidFill>
                <a:latin typeface="Calibri" pitchFamily="34" charset="0"/>
                <a:ea typeface="Calibri" pitchFamily="34" charset="-122"/>
                <a:cs typeface="Calibri" pitchFamily="34" charset="-120"/>
              </a:rPr>
              <a:t>DÉFINITION / FORMULE</a:t>
            </a:r>
            <a:endParaRPr lang="en-US" sz="900" dirty="0"/>
          </a:p>
        </p:txBody>
      </p:sp>
      <p:sp>
        <p:nvSpPr>
          <p:cNvPr id="13" name="Text 10"/>
          <p:cNvSpPr txBox="1"/>
          <p:nvPr/>
        </p:nvSpPr>
        <p:spPr>
          <a:xfrm>
            <a:off x="5486400" y="1353312"/>
            <a:ext cx="3200400" cy="219456"/>
          </a:xfrm>
          <a:prstGeom prst="rect">
            <a:avLst/>
          </a:prstGeom>
          <a:noFill/>
          <a:ln/>
        </p:spPr>
        <p:txBody>
          <a:bodyPr wrap="square" lIns="0" tIns="0" rIns="0" bIns="0" rtlCol="0" anchor="ctr"/>
          <a:lstStyle/>
          <a:p>
            <a:pPr indent="0" marL="0">
              <a:buNone/>
            </a:pPr>
            <a:r>
              <a:rPr lang="en-US" sz="900" b="1" spc="200" kern="0" dirty="0">
                <a:solidFill>
                  <a:srgbClr val="D49A00"/>
                </a:solidFill>
                <a:latin typeface="Calibri" pitchFamily="34" charset="0"/>
                <a:ea typeface="Calibri" pitchFamily="34" charset="-122"/>
                <a:cs typeface="Calibri" pitchFamily="34" charset="-120"/>
              </a:rPr>
              <a:t>COMMENT LA LIRE</a:t>
            </a:r>
            <a:endParaRPr lang="en-US" sz="900" dirty="0"/>
          </a:p>
        </p:txBody>
      </p:sp>
      <p:sp>
        <p:nvSpPr>
          <p:cNvPr id="14" name="Shape 11"/>
          <p:cNvSpPr/>
          <p:nvPr/>
        </p:nvSpPr>
        <p:spPr>
          <a:xfrm>
            <a:off x="457200" y="1609344"/>
            <a:ext cx="8229600" cy="429768"/>
          </a:xfrm>
          <a:prstGeom prst="roundRect">
            <a:avLst>
              <a:gd name="adj" fmla="val 10638"/>
            </a:avLst>
          </a:prstGeom>
          <a:solidFill>
            <a:srgbClr val="F4F7F5"/>
          </a:solidFill>
          <a:ln w="6350">
            <a:solidFill>
              <a:srgbClr val="D5DED9"/>
            </a:solidFill>
            <a:prstDash val="solid"/>
          </a:ln>
        </p:spPr>
      </p:sp>
      <p:sp>
        <p:nvSpPr>
          <p:cNvPr id="15" name="Text 12"/>
          <p:cNvSpPr txBox="1"/>
          <p:nvPr/>
        </p:nvSpPr>
        <p:spPr>
          <a:xfrm>
            <a:off x="548640" y="1609344"/>
            <a:ext cx="1737360" cy="429768"/>
          </a:xfrm>
          <a:prstGeom prst="rect">
            <a:avLst/>
          </a:prstGeom>
          <a:noFill/>
          <a:ln/>
        </p:spPr>
        <p:txBody>
          <a:bodyPr wrap="square" lIns="0" tIns="0" rIns="0" bIns="0" rtlCol="0" anchor="ctr"/>
          <a:lstStyle/>
          <a:p>
            <a:pPr indent="0" marL="0">
              <a:buNone/>
            </a:pPr>
            <a:r>
              <a:rPr lang="en-US" sz="1050" b="1" dirty="0">
                <a:solidFill>
                  <a:srgbClr val="231F20"/>
                </a:solidFill>
                <a:latin typeface="Calibri" pitchFamily="34" charset="0"/>
                <a:ea typeface="Calibri" pitchFamily="34" charset="-122"/>
                <a:cs typeface="Calibri" pitchFamily="34" charset="-120"/>
              </a:rPr>
              <a:t>Élasticité β</a:t>
            </a:r>
            <a:endParaRPr lang="en-US" sz="1050" dirty="0"/>
          </a:p>
        </p:txBody>
      </p:sp>
      <p:sp>
        <p:nvSpPr>
          <p:cNvPr id="16" name="Text 13"/>
          <p:cNvSpPr txBox="1"/>
          <p:nvPr/>
        </p:nvSpPr>
        <p:spPr>
          <a:xfrm>
            <a:off x="2331720" y="1609344"/>
            <a:ext cx="2971800" cy="429768"/>
          </a:xfrm>
          <a:prstGeom prst="rect">
            <a:avLst/>
          </a:prstGeom>
          <a:noFill/>
          <a:ln/>
        </p:spPr>
        <p:txBody>
          <a:bodyPr wrap="square" lIns="0" tIns="0" rIns="0" bIns="0" rtlCol="0" anchor="ctr"/>
          <a:lstStyle/>
          <a:p>
            <a:pPr indent="0" marL="0">
              <a:buNone/>
            </a:pPr>
            <a:r>
              <a:rPr lang="en-US" sz="1000" dirty="0">
                <a:solidFill>
                  <a:srgbClr val="0E7C86"/>
                </a:solidFill>
                <a:latin typeface="Calibri" pitchFamily="34" charset="0"/>
                <a:ea typeface="Calibri" pitchFamily="34" charset="-122"/>
                <a:cs typeface="Calibri" pitchFamily="34" charset="-120"/>
              </a:rPr>
              <a:t>pente du log SoL sur le log PIB (ou des taux)</a:t>
            </a:r>
            <a:endParaRPr lang="en-US" sz="1000" dirty="0"/>
          </a:p>
        </p:txBody>
      </p:sp>
      <p:sp>
        <p:nvSpPr>
          <p:cNvPr id="17" name="Text 14"/>
          <p:cNvSpPr txBox="1"/>
          <p:nvPr/>
        </p:nvSpPr>
        <p:spPr>
          <a:xfrm>
            <a:off x="5394960" y="1609344"/>
            <a:ext cx="3200400" cy="429768"/>
          </a:xfrm>
          <a:prstGeom prst="rect">
            <a:avLst/>
          </a:prstGeom>
          <a:noFill/>
          <a:ln/>
        </p:spPr>
        <p:txBody>
          <a:bodyPr wrap="square" lIns="0" tIns="0" rIns="0" bIns="0" rtlCol="0" anchor="ctr"/>
          <a:lstStyle/>
          <a:p>
            <a:pPr indent="0" marL="0">
              <a:buNone/>
            </a:pPr>
            <a:r>
              <a:rPr lang="en-US" sz="950" dirty="0">
                <a:solidFill>
                  <a:srgbClr val="5E6964"/>
                </a:solidFill>
                <a:latin typeface="Calibri" pitchFamily="34" charset="0"/>
                <a:ea typeface="Calibri" pitchFamily="34" charset="-122"/>
                <a:cs typeface="Calibri" pitchFamily="34" charset="-120"/>
              </a:rPr>
              <a:t>+1 % PIB ↔ +β % lumière ; le 0,3 de Henderson ≈ 1/β</a:t>
            </a:r>
            <a:endParaRPr lang="en-US" sz="950" dirty="0"/>
          </a:p>
        </p:txBody>
      </p:sp>
      <p:sp>
        <p:nvSpPr>
          <p:cNvPr id="18" name="Shape 15"/>
          <p:cNvSpPr/>
          <p:nvPr/>
        </p:nvSpPr>
        <p:spPr>
          <a:xfrm>
            <a:off x="457200" y="2093976"/>
            <a:ext cx="8229600" cy="429768"/>
          </a:xfrm>
          <a:prstGeom prst="roundRect">
            <a:avLst>
              <a:gd name="adj" fmla="val 10638"/>
            </a:avLst>
          </a:prstGeom>
          <a:solidFill>
            <a:srgbClr val="FFFFFF"/>
          </a:solidFill>
          <a:ln w="6350">
            <a:solidFill>
              <a:srgbClr val="D5DED9"/>
            </a:solidFill>
            <a:prstDash val="solid"/>
          </a:ln>
        </p:spPr>
      </p:sp>
      <p:sp>
        <p:nvSpPr>
          <p:cNvPr id="19" name="Text 16"/>
          <p:cNvSpPr txBox="1"/>
          <p:nvPr/>
        </p:nvSpPr>
        <p:spPr>
          <a:xfrm>
            <a:off x="548640" y="2093976"/>
            <a:ext cx="1737360" cy="429768"/>
          </a:xfrm>
          <a:prstGeom prst="rect">
            <a:avLst/>
          </a:prstGeom>
          <a:noFill/>
          <a:ln/>
        </p:spPr>
        <p:txBody>
          <a:bodyPr wrap="square" lIns="0" tIns="0" rIns="0" bIns="0" rtlCol="0" anchor="ctr"/>
          <a:lstStyle/>
          <a:p>
            <a:pPr indent="0" marL="0">
              <a:buNone/>
            </a:pPr>
            <a:r>
              <a:rPr lang="en-US" sz="1050" b="1" dirty="0">
                <a:solidFill>
                  <a:srgbClr val="231F20"/>
                </a:solidFill>
                <a:latin typeface="Calibri" pitchFamily="34" charset="0"/>
                <a:ea typeface="Calibri" pitchFamily="34" charset="-122"/>
                <a:cs typeface="Calibri" pitchFamily="34" charset="-120"/>
              </a:rPr>
              <a:t>Confiance de β</a:t>
            </a:r>
            <a:endParaRPr lang="en-US" sz="1050" dirty="0"/>
          </a:p>
        </p:txBody>
      </p:sp>
      <p:sp>
        <p:nvSpPr>
          <p:cNvPr id="20" name="Text 17"/>
          <p:cNvSpPr txBox="1"/>
          <p:nvPr/>
        </p:nvSpPr>
        <p:spPr>
          <a:xfrm>
            <a:off x="2331720" y="2093976"/>
            <a:ext cx="2971800" cy="429768"/>
          </a:xfrm>
          <a:prstGeom prst="rect">
            <a:avLst/>
          </a:prstGeom>
          <a:noFill/>
          <a:ln/>
        </p:spPr>
        <p:txBody>
          <a:bodyPr wrap="square" lIns="0" tIns="0" rIns="0" bIns="0" rtlCol="0" anchor="ctr"/>
          <a:lstStyle/>
          <a:p>
            <a:pPr indent="0" marL="0">
              <a:buNone/>
            </a:pPr>
            <a:r>
              <a:rPr lang="en-US" sz="1000" dirty="0">
                <a:solidFill>
                  <a:srgbClr val="0E7C86"/>
                </a:solidFill>
                <a:latin typeface="Calibri" pitchFamily="34" charset="0"/>
                <a:ea typeface="Calibri" pitchFamily="34" charset="-122"/>
                <a:cs typeface="Calibri" pitchFamily="34" charset="-120"/>
              </a:rPr>
              <a:t>élevée : n ≥ 15, p &lt; 0,01, largeur IC &lt; 1, R² ≥ 0,6</a:t>
            </a:r>
            <a:endParaRPr lang="en-US" sz="1000" dirty="0"/>
          </a:p>
        </p:txBody>
      </p:sp>
      <p:sp>
        <p:nvSpPr>
          <p:cNvPr id="21" name="Text 18"/>
          <p:cNvSpPr txBox="1"/>
          <p:nvPr/>
        </p:nvSpPr>
        <p:spPr>
          <a:xfrm>
            <a:off x="5394960" y="2093976"/>
            <a:ext cx="3200400" cy="429768"/>
          </a:xfrm>
          <a:prstGeom prst="rect">
            <a:avLst/>
          </a:prstGeom>
          <a:noFill/>
          <a:ln/>
        </p:spPr>
        <p:txBody>
          <a:bodyPr wrap="square" lIns="0" tIns="0" rIns="0" bIns="0" rtlCol="0" anchor="ctr"/>
          <a:lstStyle/>
          <a:p>
            <a:pPr indent="0" marL="0">
              <a:buNone/>
            </a:pPr>
            <a:r>
              <a:rPr lang="en-US" sz="950" dirty="0">
                <a:solidFill>
                  <a:srgbClr val="5E6964"/>
                </a:solidFill>
                <a:latin typeface="Calibri" pitchFamily="34" charset="0"/>
                <a:ea typeface="Calibri" pitchFamily="34" charset="-122"/>
                <a:cs typeface="Calibri" pitchFamily="34" charset="-120"/>
              </a:rPr>
              <a:t>moyenne si p &lt; 0,10 · faible si n &lt; 8 ou non significatif</a:t>
            </a:r>
            <a:endParaRPr lang="en-US" sz="950" dirty="0"/>
          </a:p>
        </p:txBody>
      </p:sp>
      <p:sp>
        <p:nvSpPr>
          <p:cNvPr id="22" name="Shape 19"/>
          <p:cNvSpPr/>
          <p:nvPr/>
        </p:nvSpPr>
        <p:spPr>
          <a:xfrm>
            <a:off x="457200" y="2578608"/>
            <a:ext cx="8229600" cy="429768"/>
          </a:xfrm>
          <a:prstGeom prst="roundRect">
            <a:avLst>
              <a:gd name="adj" fmla="val 10638"/>
            </a:avLst>
          </a:prstGeom>
          <a:solidFill>
            <a:srgbClr val="F4F7F5"/>
          </a:solidFill>
          <a:ln w="6350">
            <a:solidFill>
              <a:srgbClr val="D5DED9"/>
            </a:solidFill>
            <a:prstDash val="solid"/>
          </a:ln>
        </p:spPr>
      </p:sp>
      <p:sp>
        <p:nvSpPr>
          <p:cNvPr id="23" name="Text 20"/>
          <p:cNvSpPr txBox="1"/>
          <p:nvPr/>
        </p:nvSpPr>
        <p:spPr>
          <a:xfrm>
            <a:off x="548640" y="2578608"/>
            <a:ext cx="1737360" cy="429768"/>
          </a:xfrm>
          <a:prstGeom prst="rect">
            <a:avLst/>
          </a:prstGeom>
          <a:noFill/>
          <a:ln/>
        </p:spPr>
        <p:txBody>
          <a:bodyPr wrap="square" lIns="0" tIns="0" rIns="0" bIns="0" rtlCol="0" anchor="ctr"/>
          <a:lstStyle/>
          <a:p>
            <a:pPr indent="0" marL="0">
              <a:buNone/>
            </a:pPr>
            <a:r>
              <a:rPr lang="en-US" sz="1050" b="1" dirty="0">
                <a:solidFill>
                  <a:srgbClr val="231F20"/>
                </a:solidFill>
                <a:latin typeface="Calibri" pitchFamily="34" charset="0"/>
                <a:ea typeface="Calibri" pitchFamily="34" charset="-122"/>
                <a:cs typeface="Calibri" pitchFamily="34" charset="-120"/>
              </a:rPr>
              <a:t>Prévision immédiate</a:t>
            </a:r>
            <a:endParaRPr lang="en-US" sz="1050" dirty="0"/>
          </a:p>
        </p:txBody>
      </p:sp>
      <p:sp>
        <p:nvSpPr>
          <p:cNvPr id="24" name="Text 21"/>
          <p:cNvSpPr txBox="1"/>
          <p:nvPr/>
        </p:nvSpPr>
        <p:spPr>
          <a:xfrm>
            <a:off x="2331720" y="2578608"/>
            <a:ext cx="2971800" cy="429768"/>
          </a:xfrm>
          <a:prstGeom prst="rect">
            <a:avLst/>
          </a:prstGeom>
          <a:noFill/>
          <a:ln/>
        </p:spPr>
        <p:txBody>
          <a:bodyPr wrap="square" lIns="0" tIns="0" rIns="0" bIns="0" rtlCol="0" anchor="ctr"/>
          <a:lstStyle/>
          <a:p>
            <a:pPr indent="0" marL="0">
              <a:buNone/>
            </a:pPr>
            <a:r>
              <a:rPr lang="en-US" sz="1000" dirty="0">
                <a:solidFill>
                  <a:srgbClr val="0E7C86"/>
                </a:solidFill>
                <a:latin typeface="Calibri" pitchFamily="34" charset="0"/>
                <a:ea typeface="Calibri" pitchFamily="34" charset="-122"/>
                <a:cs typeface="Calibri" pitchFamily="34" charset="-120"/>
              </a:rPr>
              <a:t>Δlog PIB = a + γ·Δlog SoL, enchaîné depuis la dernière année officielle</a:t>
            </a:r>
            <a:endParaRPr lang="en-US" sz="1000" dirty="0"/>
          </a:p>
        </p:txBody>
      </p:sp>
      <p:sp>
        <p:nvSpPr>
          <p:cNvPr id="25" name="Text 22"/>
          <p:cNvSpPr txBox="1"/>
          <p:nvPr/>
        </p:nvSpPr>
        <p:spPr>
          <a:xfrm>
            <a:off x="5394960" y="2578608"/>
            <a:ext cx="3200400" cy="429768"/>
          </a:xfrm>
          <a:prstGeom prst="rect">
            <a:avLst/>
          </a:prstGeom>
          <a:noFill/>
          <a:ln/>
        </p:spPr>
        <p:txBody>
          <a:bodyPr wrap="square" lIns="0" tIns="0" rIns="0" bIns="0" rtlCol="0" anchor="ctr"/>
          <a:lstStyle/>
          <a:p>
            <a:pPr indent="0" marL="0">
              <a:buNone/>
            </a:pPr>
            <a:r>
              <a:rPr lang="en-US" sz="950" dirty="0">
                <a:solidFill>
                  <a:srgbClr val="5E6964"/>
                </a:solidFill>
                <a:latin typeface="Calibri" pitchFamily="34" charset="0"/>
                <a:ea typeface="Calibri" pitchFamily="34" charset="-122"/>
                <a:cs typeface="Calibri" pitchFamily="34" charset="-120"/>
              </a:rPr>
              <a:t>Estimation des années non publiées, bandes 80 / 95 %</a:t>
            </a:r>
            <a:endParaRPr lang="en-US" sz="950" dirty="0"/>
          </a:p>
        </p:txBody>
      </p:sp>
      <p:sp>
        <p:nvSpPr>
          <p:cNvPr id="26" name="Shape 23"/>
          <p:cNvSpPr/>
          <p:nvPr/>
        </p:nvSpPr>
        <p:spPr>
          <a:xfrm>
            <a:off x="457200" y="3063240"/>
            <a:ext cx="8229600" cy="429768"/>
          </a:xfrm>
          <a:prstGeom prst="roundRect">
            <a:avLst>
              <a:gd name="adj" fmla="val 10638"/>
            </a:avLst>
          </a:prstGeom>
          <a:solidFill>
            <a:srgbClr val="FFFFFF"/>
          </a:solidFill>
          <a:ln w="6350">
            <a:solidFill>
              <a:srgbClr val="D5DED9"/>
            </a:solidFill>
            <a:prstDash val="solid"/>
          </a:ln>
        </p:spPr>
      </p:sp>
      <p:sp>
        <p:nvSpPr>
          <p:cNvPr id="27" name="Text 24"/>
          <p:cNvSpPr txBox="1"/>
          <p:nvPr/>
        </p:nvSpPr>
        <p:spPr>
          <a:xfrm>
            <a:off x="548640" y="3063240"/>
            <a:ext cx="1737360" cy="429768"/>
          </a:xfrm>
          <a:prstGeom prst="rect">
            <a:avLst/>
          </a:prstGeom>
          <a:noFill/>
          <a:ln/>
        </p:spPr>
        <p:txBody>
          <a:bodyPr wrap="square" lIns="0" tIns="0" rIns="0" bIns="0" rtlCol="0" anchor="ctr"/>
          <a:lstStyle/>
          <a:p>
            <a:pPr indent="0" marL="0">
              <a:buNone/>
            </a:pPr>
            <a:r>
              <a:rPr lang="en-US" sz="1050" b="1" dirty="0">
                <a:solidFill>
                  <a:srgbClr val="231F20"/>
                </a:solidFill>
                <a:latin typeface="Calibri" pitchFamily="34" charset="0"/>
                <a:ea typeface="Calibri" pitchFamily="34" charset="-122"/>
                <a:cs typeface="Calibri" pitchFamily="34" charset="-120"/>
              </a:rPr>
              <a:t>MAE en pseudo temps réel</a:t>
            </a:r>
            <a:endParaRPr lang="en-US" sz="1050" dirty="0"/>
          </a:p>
        </p:txBody>
      </p:sp>
      <p:sp>
        <p:nvSpPr>
          <p:cNvPr id="28" name="Text 25"/>
          <p:cNvSpPr txBox="1"/>
          <p:nvPr/>
        </p:nvSpPr>
        <p:spPr>
          <a:xfrm>
            <a:off x="2331720" y="3063240"/>
            <a:ext cx="2971800" cy="429768"/>
          </a:xfrm>
          <a:prstGeom prst="rect">
            <a:avLst/>
          </a:prstGeom>
          <a:noFill/>
          <a:ln/>
        </p:spPr>
        <p:txBody>
          <a:bodyPr wrap="square" lIns="0" tIns="0" rIns="0" bIns="0" rtlCol="0" anchor="ctr"/>
          <a:lstStyle/>
          <a:p>
            <a:pPr indent="0" marL="0">
              <a:buNone/>
            </a:pPr>
            <a:r>
              <a:rPr lang="en-US" sz="1000" dirty="0">
                <a:solidFill>
                  <a:srgbClr val="0E7C86"/>
                </a:solidFill>
                <a:latin typeface="Calibri" pitchFamily="34" charset="0"/>
                <a:ea typeface="Calibri" pitchFamily="34" charset="-122"/>
                <a:cs typeface="Calibri" pitchFamily="34" charset="-120"/>
              </a:rPr>
              <a:t>moyenne |réel − prédit| de croissance, en points ; fenêtre croissante ≥ 5 ans</a:t>
            </a:r>
            <a:endParaRPr lang="en-US" sz="1000" dirty="0"/>
          </a:p>
        </p:txBody>
      </p:sp>
      <p:sp>
        <p:nvSpPr>
          <p:cNvPr id="29" name="Text 26"/>
          <p:cNvSpPr txBox="1"/>
          <p:nvPr/>
        </p:nvSpPr>
        <p:spPr>
          <a:xfrm>
            <a:off x="5394960" y="3063240"/>
            <a:ext cx="3200400" cy="429768"/>
          </a:xfrm>
          <a:prstGeom prst="rect">
            <a:avLst/>
          </a:prstGeom>
          <a:noFill/>
          <a:ln/>
        </p:spPr>
        <p:txBody>
          <a:bodyPr wrap="square" lIns="0" tIns="0" rIns="0" bIns="0" rtlCol="0" anchor="ctr"/>
          <a:lstStyle/>
          <a:p>
            <a:pPr indent="0" marL="0">
              <a:buNone/>
            </a:pPr>
            <a:r>
              <a:rPr lang="en-US" sz="950" dirty="0">
                <a:solidFill>
                  <a:srgbClr val="5E6964"/>
                </a:solidFill>
                <a:latin typeface="Calibri" pitchFamily="34" charset="0"/>
                <a:ea typeface="Calibri" pitchFamily="34" charset="-122"/>
                <a:cs typeface="Calibri" pitchFamily="34" charset="-120"/>
              </a:rPr>
              <a:t>Erreur typique d'un prévisionniste utilisant la lumière</a:t>
            </a:r>
            <a:endParaRPr lang="en-US" sz="950" dirty="0"/>
          </a:p>
        </p:txBody>
      </p:sp>
      <p:sp>
        <p:nvSpPr>
          <p:cNvPr id="30" name="Shape 27"/>
          <p:cNvSpPr/>
          <p:nvPr/>
        </p:nvSpPr>
        <p:spPr>
          <a:xfrm>
            <a:off x="457200" y="3547872"/>
            <a:ext cx="8229600" cy="429768"/>
          </a:xfrm>
          <a:prstGeom prst="roundRect">
            <a:avLst>
              <a:gd name="adj" fmla="val 10638"/>
            </a:avLst>
          </a:prstGeom>
          <a:solidFill>
            <a:srgbClr val="F4F7F5"/>
          </a:solidFill>
          <a:ln w="6350">
            <a:solidFill>
              <a:srgbClr val="D5DED9"/>
            </a:solidFill>
            <a:prstDash val="solid"/>
          </a:ln>
        </p:spPr>
      </p:sp>
      <p:sp>
        <p:nvSpPr>
          <p:cNvPr id="31" name="Text 28"/>
          <p:cNvSpPr txBox="1"/>
          <p:nvPr/>
        </p:nvSpPr>
        <p:spPr>
          <a:xfrm>
            <a:off x="548640" y="3547872"/>
            <a:ext cx="1737360" cy="429768"/>
          </a:xfrm>
          <a:prstGeom prst="rect">
            <a:avLst/>
          </a:prstGeom>
          <a:noFill/>
          <a:ln/>
        </p:spPr>
        <p:txBody>
          <a:bodyPr wrap="square" lIns="0" tIns="0" rIns="0" bIns="0" rtlCol="0" anchor="ctr"/>
          <a:lstStyle/>
          <a:p>
            <a:pPr indent="0" marL="0">
              <a:buNone/>
            </a:pPr>
            <a:r>
              <a:rPr lang="en-US" sz="1050" b="1" dirty="0">
                <a:solidFill>
                  <a:srgbClr val="231F20"/>
                </a:solidFill>
                <a:latin typeface="Calibri" pitchFamily="34" charset="0"/>
                <a:ea typeface="Calibri" pitchFamily="34" charset="-122"/>
                <a:cs typeface="Calibri" pitchFamily="34" charset="-120"/>
              </a:rPr>
              <a:t>MAE relative</a:t>
            </a:r>
            <a:endParaRPr lang="en-US" sz="1050" dirty="0"/>
          </a:p>
        </p:txBody>
      </p:sp>
      <p:sp>
        <p:nvSpPr>
          <p:cNvPr id="32" name="Text 29"/>
          <p:cNvSpPr txBox="1"/>
          <p:nvPr/>
        </p:nvSpPr>
        <p:spPr>
          <a:xfrm>
            <a:off x="2331720" y="3547872"/>
            <a:ext cx="2971800" cy="429768"/>
          </a:xfrm>
          <a:prstGeom prst="rect">
            <a:avLst/>
          </a:prstGeom>
          <a:noFill/>
          <a:ln/>
        </p:spPr>
        <p:txBody>
          <a:bodyPr wrap="square" lIns="0" tIns="0" rIns="0" bIns="0" rtlCol="0" anchor="ctr"/>
          <a:lstStyle/>
          <a:p>
            <a:pPr indent="0" marL="0">
              <a:buNone/>
            </a:pPr>
            <a:r>
              <a:rPr lang="en-US" sz="1000" dirty="0">
                <a:solidFill>
                  <a:srgbClr val="0E7C86"/>
                </a:solidFill>
                <a:latin typeface="Calibri" pitchFamily="34" charset="0"/>
                <a:ea typeface="Calibri" pitchFamily="34" charset="-122"/>
                <a:cs typeface="Calibri" pitchFamily="34" charset="-120"/>
              </a:rPr>
              <a:t>MAE lumières / min(MAE an passé, MAE moyenne passée)</a:t>
            </a:r>
            <a:endParaRPr lang="en-US" sz="1000" dirty="0"/>
          </a:p>
        </p:txBody>
      </p:sp>
      <p:sp>
        <p:nvSpPr>
          <p:cNvPr id="33" name="Text 30"/>
          <p:cNvSpPr txBox="1"/>
          <p:nvPr/>
        </p:nvSpPr>
        <p:spPr>
          <a:xfrm>
            <a:off x="5394960" y="3547872"/>
            <a:ext cx="3200400" cy="429768"/>
          </a:xfrm>
          <a:prstGeom prst="rect">
            <a:avLst/>
          </a:prstGeom>
          <a:noFill/>
          <a:ln/>
        </p:spPr>
        <p:txBody>
          <a:bodyPr wrap="square" lIns="0" tIns="0" rIns="0" bIns="0" rtlCol="0" anchor="ctr"/>
          <a:lstStyle/>
          <a:p>
            <a:pPr indent="0" marL="0">
              <a:buNone/>
            </a:pPr>
            <a:r>
              <a:rPr lang="en-US" sz="950" dirty="0">
                <a:solidFill>
                  <a:srgbClr val="5E6964"/>
                </a:solidFill>
                <a:latin typeface="Calibri" pitchFamily="34" charset="0"/>
                <a:ea typeface="Calibri" pitchFamily="34" charset="-122"/>
                <a:cs typeface="Calibri" pitchFamily="34" charset="-120"/>
              </a:rPr>
              <a:t>&lt; 1 → les lumières apportent plus que les règles naïves</a:t>
            </a:r>
            <a:endParaRPr lang="en-US" sz="950" dirty="0"/>
          </a:p>
        </p:txBody>
      </p:sp>
      <p:sp>
        <p:nvSpPr>
          <p:cNvPr id="34" name="Shape 31"/>
          <p:cNvSpPr/>
          <p:nvPr/>
        </p:nvSpPr>
        <p:spPr>
          <a:xfrm>
            <a:off x="457200" y="4032504"/>
            <a:ext cx="8229600" cy="429768"/>
          </a:xfrm>
          <a:prstGeom prst="roundRect">
            <a:avLst>
              <a:gd name="adj" fmla="val 10638"/>
            </a:avLst>
          </a:prstGeom>
          <a:solidFill>
            <a:srgbClr val="FFFFFF"/>
          </a:solidFill>
          <a:ln w="6350">
            <a:solidFill>
              <a:srgbClr val="D5DED9"/>
            </a:solidFill>
            <a:prstDash val="solid"/>
          </a:ln>
        </p:spPr>
      </p:sp>
      <p:sp>
        <p:nvSpPr>
          <p:cNvPr id="35" name="Text 32"/>
          <p:cNvSpPr txBox="1"/>
          <p:nvPr/>
        </p:nvSpPr>
        <p:spPr>
          <a:xfrm>
            <a:off x="548640" y="4032504"/>
            <a:ext cx="1737360" cy="429768"/>
          </a:xfrm>
          <a:prstGeom prst="rect">
            <a:avLst/>
          </a:prstGeom>
          <a:noFill/>
          <a:ln/>
        </p:spPr>
        <p:txBody>
          <a:bodyPr wrap="square" lIns="0" tIns="0" rIns="0" bIns="0" rtlCol="0" anchor="ctr"/>
          <a:lstStyle/>
          <a:p>
            <a:pPr indent="0" marL="0">
              <a:buNone/>
            </a:pPr>
            <a:r>
              <a:rPr lang="en-US" sz="1050" b="1" dirty="0">
                <a:solidFill>
                  <a:srgbClr val="231F20"/>
                </a:solidFill>
                <a:latin typeface="Calibri" pitchFamily="34" charset="0"/>
                <a:ea typeface="Calibri" pitchFamily="34" charset="-122"/>
                <a:cs typeface="Calibri" pitchFamily="34" charset="-120"/>
              </a:rPr>
              <a:t>PIB régional (expérimental)</a:t>
            </a:r>
            <a:endParaRPr lang="en-US" sz="1050" dirty="0"/>
          </a:p>
        </p:txBody>
      </p:sp>
      <p:sp>
        <p:nvSpPr>
          <p:cNvPr id="36" name="Text 33"/>
          <p:cNvSpPr txBox="1"/>
          <p:nvPr/>
        </p:nvSpPr>
        <p:spPr>
          <a:xfrm>
            <a:off x="2331720" y="4032504"/>
            <a:ext cx="2971800" cy="429768"/>
          </a:xfrm>
          <a:prstGeom prst="rect">
            <a:avLst/>
          </a:prstGeom>
          <a:noFill/>
          <a:ln/>
        </p:spPr>
        <p:txBody>
          <a:bodyPr wrap="square" lIns="0" tIns="0" rIns="0" bIns="0" rtlCol="0" anchor="ctr"/>
          <a:lstStyle/>
          <a:p>
            <a:pPr indent="0" marL="0">
              <a:buNone/>
            </a:pPr>
            <a:r>
              <a:rPr lang="en-US" sz="1000" dirty="0">
                <a:solidFill>
                  <a:srgbClr val="0E7C86"/>
                </a:solidFill>
                <a:latin typeface="Calibri" pitchFamily="34" charset="0"/>
                <a:ea typeface="Calibri" pitchFamily="34" charset="-122"/>
                <a:cs typeface="Calibri" pitchFamily="34" charset="-120"/>
              </a:rPr>
              <a:t>GDPᵢ = GDP · SoLᵢ^γ / Σ SoLⱼ^γ, γ = 1 ; 0.5</a:t>
            </a:r>
            <a:endParaRPr lang="en-US" sz="1000" dirty="0"/>
          </a:p>
        </p:txBody>
      </p:sp>
      <p:sp>
        <p:nvSpPr>
          <p:cNvPr id="37" name="Text 34"/>
          <p:cNvSpPr txBox="1"/>
          <p:nvPr/>
        </p:nvSpPr>
        <p:spPr>
          <a:xfrm>
            <a:off x="5394960" y="4032504"/>
            <a:ext cx="3200400" cy="429768"/>
          </a:xfrm>
          <a:prstGeom prst="rect">
            <a:avLst/>
          </a:prstGeom>
          <a:noFill/>
          <a:ln/>
        </p:spPr>
        <p:txBody>
          <a:bodyPr wrap="square" lIns="0" tIns="0" rIns="0" bIns="0" rtlCol="0" anchor="ctr"/>
          <a:lstStyle/>
          <a:p>
            <a:pPr indent="0" marL="0">
              <a:buNone/>
            </a:pPr>
            <a:r>
              <a:rPr lang="en-US" sz="950" dirty="0">
                <a:solidFill>
                  <a:srgbClr val="5E6964"/>
                </a:solidFill>
                <a:latin typeface="Calibri" pitchFamily="34" charset="0"/>
                <a:ea typeface="Calibri" pitchFamily="34" charset="-122"/>
                <a:cs typeface="Calibri" pitchFamily="34" charset="-120"/>
              </a:rPr>
              <a:t>Somme = PIB national ; écart γ=1 vs 0,5 = incertitude</a:t>
            </a:r>
            <a:endParaRPr lang="en-US" sz="950" dirty="0"/>
          </a:p>
        </p:txBody>
      </p:sp>
      <p:sp>
        <p:nvSpPr>
          <p:cNvPr id="38" name="Text 35"/>
          <p:cNvSpPr txBox="1"/>
          <p:nvPr/>
        </p:nvSpPr>
        <p:spPr>
          <a:xfrm>
            <a:off x="457200" y="4553712"/>
            <a:ext cx="7223760" cy="219456"/>
          </a:xfrm>
          <a:prstGeom prst="rect">
            <a:avLst/>
          </a:prstGeom>
          <a:noFill/>
          <a:ln/>
        </p:spPr>
        <p:txBody>
          <a:bodyPr wrap="square" lIns="0" tIns="0" rIns="0" bIns="0" rtlCol="0" anchor="ctr"/>
          <a:lstStyle/>
          <a:p>
            <a:pPr indent="0" marL="0">
              <a:buNone/>
            </a:pPr>
            <a:r>
              <a:rPr lang="en-US" sz="900" i="1" dirty="0">
                <a:solidFill>
                  <a:srgbClr val="5E6964"/>
                </a:solidFill>
                <a:latin typeface="Calibri" pitchFamily="34" charset="0"/>
                <a:ea typeface="Calibri" pitchFamily="34" charset="-122"/>
                <a:cs typeface="Calibri" pitchFamily="34" charset="-120"/>
              </a:rPr>
              <a:t>Sources : Henderson, Storeygard &amp; Weil (2012) ; Newey &amp; West (1987) · le PIB régional est étiqueté expérimental partout</a:t>
            </a:r>
            <a:endParaRPr lang="en-US" sz="9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8A9590"/>
                </a:solidFill>
                <a:latin typeface="Calibri"/>
                <a:ea typeface="Calibri"/>
                <a:cs typeface="Calibri"/>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3"/>
          <p:cNvSpPr/>
          <p:nvPr>
            <p:ph idx="105" type="body" hasCustomPrompt="1"/>
          </p:nvPr>
        </p:nvSpPr>
        <p:spPr>
          <a:xfrm>
            <a:off x="457200" y="274320"/>
            <a:ext cx="6217920" cy="256032"/>
          </a:xfrm>
          <a:prstGeom prst="rect">
            <a:avLst/>
          </a:prstGeom>
          <a:noFill/>
          <a:ln/>
        </p:spPr>
        <p:txBody>
          <a:bodyPr wrap="square" lIns="0" tIns="0" rIns="0" bIns="0" rtlCol="0" anchor="ctr"/>
          <a:lstStyle/>
          <a:p>
            <a:pPr algn="l" indent="0" marL="0">
              <a:buNone/>
            </a:pPr>
            <a:r>
              <a:rPr lang="en-US" sz="1050" b="1" spc="300" kern="0" dirty="0">
                <a:solidFill>
                  <a:srgbClr val="00704A"/>
                </a:solidFill>
                <a:latin typeface="Calibri" pitchFamily="34" charset="0"/>
                <a:ea typeface="Calibri" pitchFamily="34" charset="-122"/>
                <a:cs typeface="Calibri" pitchFamily="34" charset="-120"/>
              </a:rPr>
              <a:t>04 · ANALYSER · SCÉNARIO 4</a:t>
            </a:r>
            <a:endParaRPr lang="en-US" sz="1050" dirty="0"/>
          </a:p>
        </p:txBody>
      </p:sp>
      <p:sp>
        <p:nvSpPr>
          <p:cNvPr id="3" name="Text 3"/>
          <p:cNvSpPr/>
          <p:nvPr>
            <p:ph idx="106" type="title" hasCustomPrompt="1"/>
          </p:nvPr>
        </p:nvSpPr>
        <p:spPr>
          <a:xfrm>
            <a:off x="457200" y="548640"/>
            <a:ext cx="8229600" cy="566928"/>
          </a:xfrm>
          <a:prstGeom prst="rect">
            <a:avLst/>
          </a:prstGeom>
          <a:noFill/>
          <a:ln/>
        </p:spPr>
        <p:txBody>
          <a:bodyPr wrap="square" lIns="0" tIns="0" rIns="0" bIns="0" rtlCol="0" anchor="ctr"/>
          <a:lstStyle/>
          <a:p>
            <a:pPr algn="l" indent="0" marL="0">
              <a:buNone/>
            </a:pPr>
            <a:r>
              <a:rPr lang="en-US" sz="2800" b="1" dirty="0">
                <a:solidFill>
                  <a:srgbClr val="231F20"/>
                </a:solidFill>
                <a:latin typeface="Calibri" pitchFamily="34" charset="0"/>
                <a:ea typeface="Calibri" pitchFamily="34" charset="-122"/>
                <a:cs typeface="Calibri" pitchFamily="34" charset="-120"/>
              </a:rPr>
              <a:t>Chocs : quelle profondeur, quelle durée, et est-ce réel ?</a:t>
            </a:r>
            <a:endParaRPr lang="en-US" sz="2800" dirty="0"/>
          </a:p>
        </p:txBody>
      </p:sp>
      <p:sp>
        <p:nvSpPr>
          <p:cNvPr id="4" name="dot0"/>
          <p:cNvSpPr/>
          <p:nvPr/>
        </p:nvSpPr>
        <p:spPr>
          <a:xfrm>
            <a:off x="7644384" y="338328"/>
            <a:ext cx="100584" cy="100584"/>
          </a:xfrm>
          <a:prstGeom prst="ellipse">
            <a:avLst/>
          </a:prstGeom>
          <a:solidFill>
            <a:srgbClr val="D5DED9"/>
          </a:solidFill>
          <a:ln w="12700">
            <a:solidFill>
              <a:srgbClr val="D5DED9"/>
            </a:solidFill>
            <a:prstDash val="solid"/>
          </a:ln>
        </p:spPr>
      </p:sp>
      <p:sp>
        <p:nvSpPr>
          <p:cNvPr id="5" name="dot1"/>
          <p:cNvSpPr/>
          <p:nvPr/>
        </p:nvSpPr>
        <p:spPr>
          <a:xfrm>
            <a:off x="7818120" y="338328"/>
            <a:ext cx="100584" cy="100584"/>
          </a:xfrm>
          <a:prstGeom prst="ellipse">
            <a:avLst/>
          </a:prstGeom>
          <a:solidFill>
            <a:srgbClr val="D5DED9"/>
          </a:solidFill>
          <a:ln w="12700">
            <a:solidFill>
              <a:srgbClr val="D5DED9"/>
            </a:solidFill>
            <a:prstDash val="solid"/>
          </a:ln>
        </p:spPr>
      </p:sp>
      <p:sp>
        <p:nvSpPr>
          <p:cNvPr id="6" name="dot2"/>
          <p:cNvSpPr/>
          <p:nvPr/>
        </p:nvSpPr>
        <p:spPr>
          <a:xfrm>
            <a:off x="7991856" y="338328"/>
            <a:ext cx="100584" cy="100584"/>
          </a:xfrm>
          <a:prstGeom prst="ellipse">
            <a:avLst/>
          </a:prstGeom>
          <a:solidFill>
            <a:srgbClr val="D5DED9"/>
          </a:solidFill>
          <a:ln w="12700">
            <a:solidFill>
              <a:srgbClr val="D5DED9"/>
            </a:solidFill>
            <a:prstDash val="solid"/>
          </a:ln>
        </p:spPr>
      </p:sp>
      <p:sp>
        <p:nvSpPr>
          <p:cNvPr id="7" name="dot3"/>
          <p:cNvSpPr/>
          <p:nvPr/>
        </p:nvSpPr>
        <p:spPr>
          <a:xfrm>
            <a:off x="8165592" y="338328"/>
            <a:ext cx="100584" cy="100584"/>
          </a:xfrm>
          <a:prstGeom prst="ellipse">
            <a:avLst/>
          </a:prstGeom>
          <a:solidFill>
            <a:srgbClr val="D49A00"/>
          </a:solidFill>
          <a:ln w="12700">
            <a:solidFill>
              <a:srgbClr val="D49A00"/>
            </a:solidFill>
            <a:prstDash val="solid"/>
          </a:ln>
        </p:spPr>
      </p:sp>
      <p:sp>
        <p:nvSpPr>
          <p:cNvPr id="8" name="dot4"/>
          <p:cNvSpPr/>
          <p:nvPr/>
        </p:nvSpPr>
        <p:spPr>
          <a:xfrm>
            <a:off x="8339328" y="338328"/>
            <a:ext cx="100584" cy="100584"/>
          </a:xfrm>
          <a:prstGeom prst="ellipse">
            <a:avLst/>
          </a:prstGeom>
          <a:solidFill>
            <a:srgbClr val="D5DED9"/>
          </a:solidFill>
          <a:ln w="12700">
            <a:solidFill>
              <a:srgbClr val="D5DED9"/>
            </a:solidFill>
            <a:prstDash val="solid"/>
          </a:ln>
        </p:spPr>
      </p:sp>
      <p:sp>
        <p:nvSpPr>
          <p:cNvPr id="9" name="dot5"/>
          <p:cNvSpPr/>
          <p:nvPr/>
        </p:nvSpPr>
        <p:spPr>
          <a:xfrm>
            <a:off x="8513064" y="338328"/>
            <a:ext cx="100584" cy="100584"/>
          </a:xfrm>
          <a:prstGeom prst="ellipse">
            <a:avLst/>
          </a:prstGeom>
          <a:solidFill>
            <a:srgbClr val="D5DED9"/>
          </a:solidFill>
          <a:ln w="12700">
            <a:solidFill>
              <a:srgbClr val="D5DED9"/>
            </a:solidFill>
            <a:prstDash val="solid"/>
          </a:ln>
        </p:spPr>
      </p:sp>
      <p:sp>
        <p:nvSpPr>
          <p:cNvPr id="11" name="Shape 8"/>
          <p:cNvSpPr/>
          <p:nvPr/>
        </p:nvSpPr>
        <p:spPr>
          <a:xfrm>
            <a:off x="1828800" y="1417320"/>
            <a:ext cx="1143000" cy="2103120"/>
          </a:xfrm>
          <a:prstGeom prst="rect">
            <a:avLst/>
          </a:prstGeom>
          <a:solidFill>
            <a:srgbClr val="D49A00">
              <a:alpha val="15000"/>
            </a:srgbClr>
          </a:solidFill>
          <a:ln w="12700">
            <a:solidFill>
              <a:srgbClr val="D49A00">
                <a:alpha val="0"/>
              </a:srgbClr>
            </a:solidFill>
            <a:prstDash val="solid"/>
          </a:ln>
        </p:spPr>
      </p:sp>
      <p:sp>
        <p:nvSpPr>
          <p:cNvPr id="12" name="Shape 9"/>
          <p:cNvSpPr/>
          <p:nvPr/>
        </p:nvSpPr>
        <p:spPr>
          <a:xfrm flipV="1">
            <a:off x="548640" y="2011680"/>
            <a:ext cx="548640" cy="91440"/>
          </a:xfrm>
          <a:prstGeom prst="line">
            <a:avLst/>
          </a:prstGeom>
          <a:noFill/>
          <a:ln w="31750">
            <a:solidFill>
              <a:srgbClr val="00553A"/>
            </a:solidFill>
            <a:prstDash val="solid"/>
          </a:ln>
        </p:spPr>
      </p:sp>
      <p:sp>
        <p:nvSpPr>
          <p:cNvPr id="13" name="Shape 10"/>
          <p:cNvSpPr/>
          <p:nvPr/>
        </p:nvSpPr>
        <p:spPr>
          <a:xfrm flipV="1">
            <a:off x="1097280" y="1965960"/>
            <a:ext cx="548640" cy="45720"/>
          </a:xfrm>
          <a:prstGeom prst="line">
            <a:avLst/>
          </a:prstGeom>
          <a:noFill/>
          <a:ln w="31750">
            <a:solidFill>
              <a:srgbClr val="00553A"/>
            </a:solidFill>
            <a:prstDash val="solid"/>
          </a:ln>
        </p:spPr>
      </p:sp>
      <p:sp>
        <p:nvSpPr>
          <p:cNvPr id="14" name="Shape 11"/>
          <p:cNvSpPr/>
          <p:nvPr/>
        </p:nvSpPr>
        <p:spPr>
          <a:xfrm>
            <a:off x="1645920" y="1965960"/>
            <a:ext cx="457200" cy="960120"/>
          </a:xfrm>
          <a:prstGeom prst="line">
            <a:avLst/>
          </a:prstGeom>
          <a:noFill/>
          <a:ln w="31750">
            <a:solidFill>
              <a:srgbClr val="00553A"/>
            </a:solidFill>
            <a:prstDash val="solid"/>
          </a:ln>
        </p:spPr>
      </p:sp>
      <p:sp>
        <p:nvSpPr>
          <p:cNvPr id="15" name="Shape 12"/>
          <p:cNvSpPr/>
          <p:nvPr/>
        </p:nvSpPr>
        <p:spPr>
          <a:xfrm>
            <a:off x="2103120" y="2926080"/>
            <a:ext cx="457200" cy="228600"/>
          </a:xfrm>
          <a:prstGeom prst="line">
            <a:avLst/>
          </a:prstGeom>
          <a:noFill/>
          <a:ln w="31750">
            <a:solidFill>
              <a:srgbClr val="00553A"/>
            </a:solidFill>
            <a:prstDash val="solid"/>
          </a:ln>
        </p:spPr>
      </p:sp>
      <p:sp>
        <p:nvSpPr>
          <p:cNvPr id="16" name="Shape 13"/>
          <p:cNvSpPr/>
          <p:nvPr/>
        </p:nvSpPr>
        <p:spPr>
          <a:xfrm flipV="1">
            <a:off x="2560320" y="2651760"/>
            <a:ext cx="548640" cy="502920"/>
          </a:xfrm>
          <a:prstGeom prst="line">
            <a:avLst/>
          </a:prstGeom>
          <a:noFill/>
          <a:ln w="31750">
            <a:solidFill>
              <a:srgbClr val="00553A"/>
            </a:solidFill>
            <a:prstDash val="solid"/>
          </a:ln>
        </p:spPr>
      </p:sp>
      <p:sp>
        <p:nvSpPr>
          <p:cNvPr id="17" name="Shape 14"/>
          <p:cNvSpPr/>
          <p:nvPr/>
        </p:nvSpPr>
        <p:spPr>
          <a:xfrm flipV="1">
            <a:off x="3108960" y="2148840"/>
            <a:ext cx="548640" cy="502920"/>
          </a:xfrm>
          <a:prstGeom prst="line">
            <a:avLst/>
          </a:prstGeom>
          <a:noFill/>
          <a:ln w="31750">
            <a:solidFill>
              <a:srgbClr val="00553A"/>
            </a:solidFill>
            <a:prstDash val="solid"/>
          </a:ln>
        </p:spPr>
      </p:sp>
      <p:sp>
        <p:nvSpPr>
          <p:cNvPr id="18" name="Shape 15"/>
          <p:cNvSpPr/>
          <p:nvPr/>
        </p:nvSpPr>
        <p:spPr>
          <a:xfrm flipV="1">
            <a:off x="3657600" y="1965960"/>
            <a:ext cx="548640" cy="182880"/>
          </a:xfrm>
          <a:prstGeom prst="line">
            <a:avLst/>
          </a:prstGeom>
          <a:noFill/>
          <a:ln w="31750">
            <a:solidFill>
              <a:srgbClr val="00553A"/>
            </a:solidFill>
            <a:prstDash val="solid"/>
          </a:ln>
        </p:spPr>
      </p:sp>
      <p:sp>
        <p:nvSpPr>
          <p:cNvPr id="19" name="Shape 16"/>
          <p:cNvSpPr/>
          <p:nvPr/>
        </p:nvSpPr>
        <p:spPr>
          <a:xfrm>
            <a:off x="548640" y="2011680"/>
            <a:ext cx="3749040" cy="0"/>
          </a:xfrm>
          <a:prstGeom prst="line">
            <a:avLst/>
          </a:prstGeom>
          <a:noFill/>
          <a:ln w="12700">
            <a:solidFill>
              <a:srgbClr val="5E6964"/>
            </a:solidFill>
            <a:prstDash val="dash"/>
          </a:ln>
        </p:spPr>
      </p:sp>
      <p:sp>
        <p:nvSpPr>
          <p:cNvPr id="20" name="Shape 17"/>
          <p:cNvSpPr/>
          <p:nvPr/>
        </p:nvSpPr>
        <p:spPr>
          <a:xfrm>
            <a:off x="1828800" y="1965960"/>
            <a:ext cx="1143000" cy="109728"/>
          </a:xfrm>
          <a:prstGeom prst="line">
            <a:avLst/>
          </a:prstGeom>
          <a:noFill/>
          <a:ln w="12700">
            <a:solidFill>
              <a:srgbClr val="0E7C86"/>
            </a:solidFill>
            <a:prstDash val="sysDot"/>
          </a:ln>
        </p:spPr>
      </p:sp>
      <p:sp>
        <p:nvSpPr>
          <p:cNvPr id="21" name="Text 18"/>
          <p:cNvSpPr txBox="1"/>
          <p:nvPr/>
        </p:nvSpPr>
        <p:spPr>
          <a:xfrm>
            <a:off x="548640" y="1691640"/>
            <a:ext cx="1828800" cy="256032"/>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référence (12 mois avant)</a:t>
            </a:r>
            <a:endParaRPr lang="en-US" sz="950" dirty="0"/>
          </a:p>
        </p:txBody>
      </p:sp>
      <p:sp>
        <p:nvSpPr>
          <p:cNvPr id="22" name="Text 19"/>
          <p:cNvSpPr txBox="1"/>
          <p:nvPr/>
        </p:nvSpPr>
        <p:spPr>
          <a:xfrm>
            <a:off x="2331720" y="3200400"/>
            <a:ext cx="731520" cy="256032"/>
          </a:xfrm>
          <a:prstGeom prst="rect">
            <a:avLst/>
          </a:prstGeom>
          <a:noFill/>
          <a:ln/>
        </p:spPr>
        <p:txBody>
          <a:bodyPr wrap="square" lIns="0" tIns="0" rIns="0" bIns="0" rtlCol="0" anchor="t"/>
          <a:lstStyle/>
          <a:p>
            <a:pPr indent="0" marL="0">
              <a:buNone/>
            </a:pPr>
            <a:r>
              <a:rPr lang="en-US" sz="1000" b="1" dirty="0">
                <a:solidFill>
                  <a:srgbClr val="B83B2E"/>
                </a:solidFill>
                <a:latin typeface="Calibri" pitchFamily="34" charset="0"/>
                <a:ea typeface="Calibri" pitchFamily="34" charset="-122"/>
                <a:cs typeface="Calibri" pitchFamily="34" charset="-120"/>
              </a:rPr>
              <a:t>creux</a:t>
            </a:r>
            <a:endParaRPr lang="en-US" sz="1000" dirty="0"/>
          </a:p>
        </p:txBody>
      </p:sp>
      <p:sp>
        <p:nvSpPr>
          <p:cNvPr id="23" name="Text 20"/>
          <p:cNvSpPr txBox="1"/>
          <p:nvPr/>
        </p:nvSpPr>
        <p:spPr>
          <a:xfrm>
            <a:off x="3429000" y="2194560"/>
            <a:ext cx="1005840" cy="256032"/>
          </a:xfrm>
          <a:prstGeom prst="rect">
            <a:avLst/>
          </a:prstGeom>
          <a:noFill/>
          <a:ln/>
        </p:spPr>
        <p:txBody>
          <a:bodyPr wrap="square" lIns="0" tIns="0" rIns="0" bIns="0" rtlCol="0" anchor="t"/>
          <a:lstStyle/>
          <a:p>
            <a:pPr indent="0" marL="0">
              <a:buNone/>
            </a:pPr>
            <a:r>
              <a:rPr lang="en-US" sz="1000" b="1" dirty="0">
                <a:solidFill>
                  <a:srgbClr val="00A86A"/>
                </a:solidFill>
                <a:latin typeface="Calibri" pitchFamily="34" charset="0"/>
                <a:ea typeface="Calibri" pitchFamily="34" charset="-122"/>
                <a:cs typeface="Calibri" pitchFamily="34" charset="-120"/>
              </a:rPr>
              <a:t>reprise</a:t>
            </a:r>
            <a:endParaRPr lang="en-US" sz="1000" dirty="0"/>
          </a:p>
        </p:txBody>
      </p:sp>
      <p:sp>
        <p:nvSpPr>
          <p:cNvPr id="24" name="Text 21"/>
          <p:cNvSpPr txBox="1"/>
          <p:nvPr/>
        </p:nvSpPr>
        <p:spPr>
          <a:xfrm>
            <a:off x="1828800" y="1463040"/>
            <a:ext cx="1143000" cy="256032"/>
          </a:xfrm>
          <a:prstGeom prst="rect">
            <a:avLst/>
          </a:prstGeom>
          <a:noFill/>
          <a:ln/>
        </p:spPr>
        <p:txBody>
          <a:bodyPr wrap="square" lIns="0" tIns="0" rIns="0" bIns="0" rtlCol="0" anchor="t"/>
          <a:lstStyle/>
          <a:p>
            <a:pPr algn="ctr" indent="0" marL="0">
              <a:buNone/>
            </a:pPr>
            <a:r>
              <a:rPr lang="en-US" sz="1000" b="1" dirty="0">
                <a:solidFill>
                  <a:srgbClr val="D49A00"/>
                </a:solidFill>
                <a:latin typeface="Calibri" pitchFamily="34" charset="0"/>
                <a:ea typeface="Calibri" pitchFamily="34" charset="-122"/>
                <a:cs typeface="Calibri" pitchFamily="34" charset="-120"/>
              </a:rPr>
              <a:t>événement</a:t>
            </a:r>
            <a:endParaRPr lang="en-US" sz="1000" dirty="0"/>
          </a:p>
        </p:txBody>
      </p:sp>
      <p:sp>
        <p:nvSpPr>
          <p:cNvPr id="25" name="Text 22"/>
          <p:cNvSpPr txBox="1"/>
          <p:nvPr/>
        </p:nvSpPr>
        <p:spPr>
          <a:xfrm>
            <a:off x="548640" y="3657600"/>
            <a:ext cx="3840480" cy="274320"/>
          </a:xfrm>
          <a:prstGeom prst="rect">
            <a:avLst/>
          </a:prstGeom>
          <a:noFill/>
          <a:ln/>
        </p:spPr>
        <p:txBody>
          <a:bodyPr wrap="square" lIns="0" tIns="0" rIns="0" bIns="0" rtlCol="0" anchor="t"/>
          <a:lstStyle/>
          <a:p>
            <a:pPr indent="0" marL="0">
              <a:buNone/>
            </a:pPr>
            <a:r>
              <a:rPr lang="en-US" sz="950" i="1" dirty="0">
                <a:solidFill>
                  <a:srgbClr val="5E6964"/>
                </a:solidFill>
                <a:latin typeface="Calibri" pitchFamily="34" charset="0"/>
                <a:ea typeface="Calibri" pitchFamily="34" charset="-122"/>
                <a:cs typeface="Calibri" pitchFamily="34" charset="-120"/>
              </a:rPr>
              <a:t>Schéma : série désaisonnalisée autour d'un événement</a:t>
            </a:r>
            <a:endParaRPr lang="en-US" sz="950" dirty="0"/>
          </a:p>
        </p:txBody>
      </p:sp>
      <p:sp>
        <p:nvSpPr>
          <p:cNvPr id="26" name="Text 23"/>
          <p:cNvSpPr txBox="1"/>
          <p:nvPr/>
        </p:nvSpPr>
        <p:spPr>
          <a:xfrm>
            <a:off x="548640" y="3977640"/>
            <a:ext cx="3840480" cy="219456"/>
          </a:xfrm>
          <a:prstGeom prst="rect">
            <a:avLst/>
          </a:prstGeom>
          <a:noFill/>
          <a:ln/>
        </p:spPr>
        <p:txBody>
          <a:bodyPr wrap="square" lIns="0" tIns="0" rIns="0" bIns="0" rtlCol="0" anchor="ctr"/>
          <a:lstStyle/>
          <a:p>
            <a:pPr indent="0" marL="0">
              <a:buNone/>
            </a:pPr>
            <a:r>
              <a:rPr lang="en-US" sz="900" b="1" spc="200" kern="0" dirty="0">
                <a:solidFill>
                  <a:srgbClr val="00704A"/>
                </a:solidFill>
                <a:latin typeface="Calibri" pitchFamily="34" charset="0"/>
                <a:ea typeface="Calibri" pitchFamily="34" charset="-122"/>
                <a:cs typeface="Calibri" pitchFamily="34" charset="-120"/>
              </a:rPr>
              <a:t>DONNÉES UTILISÉES</a:t>
            </a:r>
            <a:endParaRPr lang="en-US" sz="900" dirty="0"/>
          </a:p>
        </p:txBody>
      </p:sp>
      <p:sp>
        <p:nvSpPr>
          <p:cNvPr id="27" name="Text 24"/>
          <p:cNvSpPr txBox="1"/>
          <p:nvPr/>
        </p:nvSpPr>
        <p:spPr>
          <a:xfrm>
            <a:off x="548640" y="4206240"/>
            <a:ext cx="3931920" cy="411480"/>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VNL mensuel désaisonnalisé (S1) · Black Marble VNP46A2 quotidien · catalogue : COVID-19, CUSTOM_EVENTS, ACLED / EM-DAT</a:t>
            </a:r>
            <a:endParaRPr lang="en-US" sz="950" dirty="0"/>
          </a:p>
        </p:txBody>
      </p:sp>
      <p:sp>
        <p:nvSpPr>
          <p:cNvPr id="28" name="Text 25"/>
          <p:cNvSpPr txBox="1"/>
          <p:nvPr/>
        </p:nvSpPr>
        <p:spPr>
          <a:xfrm>
            <a:off x="4663440" y="1325880"/>
            <a:ext cx="1097280" cy="219456"/>
          </a:xfrm>
          <a:prstGeom prst="rect">
            <a:avLst/>
          </a:prstGeom>
          <a:noFill/>
          <a:ln/>
        </p:spPr>
        <p:txBody>
          <a:bodyPr wrap="square" lIns="0" tIns="0" rIns="0" bIns="0" rtlCol="0" anchor="ctr"/>
          <a:lstStyle/>
          <a:p>
            <a:pPr indent="0" marL="0">
              <a:buNone/>
            </a:pPr>
            <a:r>
              <a:rPr lang="en-US" sz="900" b="1" spc="200" kern="0" dirty="0">
                <a:solidFill>
                  <a:srgbClr val="D49A00"/>
                </a:solidFill>
                <a:latin typeface="Calibri" pitchFamily="34" charset="0"/>
                <a:ea typeface="Calibri" pitchFamily="34" charset="-122"/>
                <a:cs typeface="Calibri" pitchFamily="34" charset="-120"/>
              </a:rPr>
              <a:t>MÉTRIQUE</a:t>
            </a:r>
            <a:endParaRPr lang="en-US" sz="900" dirty="0"/>
          </a:p>
        </p:txBody>
      </p:sp>
      <p:sp>
        <p:nvSpPr>
          <p:cNvPr id="29" name="Text 26"/>
          <p:cNvSpPr txBox="1"/>
          <p:nvPr/>
        </p:nvSpPr>
        <p:spPr>
          <a:xfrm>
            <a:off x="5852160" y="1325880"/>
            <a:ext cx="1600200" cy="219456"/>
          </a:xfrm>
          <a:prstGeom prst="rect">
            <a:avLst/>
          </a:prstGeom>
          <a:noFill/>
          <a:ln/>
        </p:spPr>
        <p:txBody>
          <a:bodyPr wrap="square" lIns="0" tIns="0" rIns="0" bIns="0" rtlCol="0" anchor="ctr"/>
          <a:lstStyle/>
          <a:p>
            <a:pPr indent="0" marL="0">
              <a:buNone/>
            </a:pPr>
            <a:r>
              <a:rPr lang="en-US" sz="900" b="1" spc="200" kern="0" dirty="0">
                <a:solidFill>
                  <a:srgbClr val="D49A00"/>
                </a:solidFill>
                <a:latin typeface="Calibri" pitchFamily="34" charset="0"/>
                <a:ea typeface="Calibri" pitchFamily="34" charset="-122"/>
                <a:cs typeface="Calibri" pitchFamily="34" charset="-120"/>
              </a:rPr>
              <a:t>FORMULE</a:t>
            </a:r>
            <a:endParaRPr lang="en-US" sz="900" dirty="0"/>
          </a:p>
        </p:txBody>
      </p:sp>
      <p:sp>
        <p:nvSpPr>
          <p:cNvPr id="30" name="Text 27"/>
          <p:cNvSpPr txBox="1"/>
          <p:nvPr/>
        </p:nvSpPr>
        <p:spPr>
          <a:xfrm>
            <a:off x="7543800" y="1325880"/>
            <a:ext cx="1143000" cy="219456"/>
          </a:xfrm>
          <a:prstGeom prst="rect">
            <a:avLst/>
          </a:prstGeom>
          <a:noFill/>
          <a:ln/>
        </p:spPr>
        <p:txBody>
          <a:bodyPr wrap="square" lIns="0" tIns="0" rIns="0" bIns="0" rtlCol="0" anchor="ctr"/>
          <a:lstStyle/>
          <a:p>
            <a:pPr indent="0" marL="0">
              <a:buNone/>
            </a:pPr>
            <a:r>
              <a:rPr lang="en-US" sz="900" b="1" spc="200" kern="0" dirty="0">
                <a:solidFill>
                  <a:srgbClr val="D49A00"/>
                </a:solidFill>
                <a:latin typeface="Calibri" pitchFamily="34" charset="0"/>
                <a:ea typeface="Calibri" pitchFamily="34" charset="-122"/>
                <a:cs typeface="Calibri" pitchFamily="34" charset="-120"/>
              </a:rPr>
              <a:t>LECTURE</a:t>
            </a:r>
            <a:endParaRPr lang="en-US" sz="900" dirty="0"/>
          </a:p>
        </p:txBody>
      </p:sp>
      <p:sp>
        <p:nvSpPr>
          <p:cNvPr id="31" name="Shape 28"/>
          <p:cNvSpPr/>
          <p:nvPr/>
        </p:nvSpPr>
        <p:spPr>
          <a:xfrm>
            <a:off x="4572000" y="1581912"/>
            <a:ext cx="4114800" cy="603504"/>
          </a:xfrm>
          <a:prstGeom prst="roundRect">
            <a:avLst>
              <a:gd name="adj" fmla="val 7576"/>
            </a:avLst>
          </a:prstGeom>
          <a:solidFill>
            <a:srgbClr val="F4F7F5"/>
          </a:solidFill>
          <a:ln w="6350">
            <a:solidFill>
              <a:srgbClr val="D5DED9"/>
            </a:solidFill>
            <a:prstDash val="solid"/>
          </a:ln>
        </p:spPr>
      </p:sp>
      <p:sp>
        <p:nvSpPr>
          <p:cNvPr id="32" name="Text 29"/>
          <p:cNvSpPr txBox="1"/>
          <p:nvPr/>
        </p:nvSpPr>
        <p:spPr>
          <a:xfrm>
            <a:off x="4663440" y="1581912"/>
            <a:ext cx="1051560" cy="603504"/>
          </a:xfrm>
          <a:prstGeom prst="rect">
            <a:avLst/>
          </a:prstGeom>
          <a:noFill/>
          <a:ln/>
        </p:spPr>
        <p:txBody>
          <a:bodyPr wrap="square" lIns="0" tIns="0" rIns="0" bIns="0" rtlCol="0" anchor="ctr"/>
          <a:lstStyle/>
          <a:p>
            <a:pPr indent="0" marL="0">
              <a:buNone/>
            </a:pPr>
            <a:r>
              <a:rPr lang="en-US" sz="950" b="1" dirty="0">
                <a:solidFill>
                  <a:srgbClr val="231F20"/>
                </a:solidFill>
                <a:latin typeface="Calibri" pitchFamily="34" charset="0"/>
                <a:ea typeface="Calibri" pitchFamily="34" charset="-122"/>
                <a:cs typeface="Calibri" pitchFamily="34" charset="-120"/>
              </a:rPr>
              <a:t>Creux %</a:t>
            </a:r>
            <a:endParaRPr lang="en-US" sz="950" dirty="0"/>
          </a:p>
        </p:txBody>
      </p:sp>
      <p:sp>
        <p:nvSpPr>
          <p:cNvPr id="33" name="Text 30"/>
          <p:cNvSpPr txBox="1"/>
          <p:nvPr/>
        </p:nvSpPr>
        <p:spPr>
          <a:xfrm>
            <a:off x="5760720" y="1581912"/>
            <a:ext cx="1600200" cy="603504"/>
          </a:xfrm>
          <a:prstGeom prst="rect">
            <a:avLst/>
          </a:prstGeom>
          <a:noFill/>
          <a:ln/>
        </p:spPr>
        <p:txBody>
          <a:bodyPr wrap="square" lIns="0" tIns="0" rIns="0" bIns="0" rtlCol="0" anchor="ctr"/>
          <a:lstStyle/>
          <a:p>
            <a:pPr indent="0" marL="0">
              <a:buNone/>
            </a:pPr>
            <a:r>
              <a:rPr lang="en-US" sz="900" dirty="0">
                <a:solidFill>
                  <a:srgbClr val="0E7C86"/>
                </a:solidFill>
                <a:latin typeface="Calibri" pitchFamily="34" charset="0"/>
                <a:ea typeface="Calibri" pitchFamily="34" charset="-122"/>
                <a:cs typeface="Calibri" pitchFamily="34" charset="-120"/>
              </a:rPr>
              <a:t>100·(exp(min SA − référence) − 1)</a:t>
            </a:r>
            <a:endParaRPr lang="en-US" sz="900" dirty="0"/>
          </a:p>
        </p:txBody>
      </p:sp>
      <p:sp>
        <p:nvSpPr>
          <p:cNvPr id="34" name="Text 31"/>
          <p:cNvSpPr txBox="1"/>
          <p:nvPr/>
        </p:nvSpPr>
        <p:spPr>
          <a:xfrm>
            <a:off x="7452360" y="1581912"/>
            <a:ext cx="1143000" cy="603504"/>
          </a:xfrm>
          <a:prstGeom prst="rect">
            <a:avLst/>
          </a:prstGeom>
          <a:noFill/>
          <a:ln/>
        </p:spPr>
        <p:txBody>
          <a:bodyPr wrap="square" lIns="0" tIns="0" rIns="0" bIns="0" rtlCol="0" anchor="ctr"/>
          <a:lstStyle/>
          <a:p>
            <a:pPr indent="0" marL="0">
              <a:buNone/>
            </a:pPr>
            <a:r>
              <a:rPr lang="en-US" sz="850" dirty="0">
                <a:solidFill>
                  <a:srgbClr val="5E6964"/>
                </a:solidFill>
                <a:latin typeface="Calibri" pitchFamily="34" charset="0"/>
                <a:ea typeface="Calibri" pitchFamily="34" charset="-122"/>
                <a:cs typeface="Calibri" pitchFamily="34" charset="-120"/>
              </a:rPr>
              <a:t>Profondeur de la chute</a:t>
            </a:r>
            <a:endParaRPr lang="en-US" sz="850" dirty="0"/>
          </a:p>
        </p:txBody>
      </p:sp>
      <p:sp>
        <p:nvSpPr>
          <p:cNvPr id="35" name="Shape 32"/>
          <p:cNvSpPr/>
          <p:nvPr/>
        </p:nvSpPr>
        <p:spPr>
          <a:xfrm>
            <a:off x="4572000" y="2240280"/>
            <a:ext cx="4114800" cy="603504"/>
          </a:xfrm>
          <a:prstGeom prst="roundRect">
            <a:avLst>
              <a:gd name="adj" fmla="val 7576"/>
            </a:avLst>
          </a:prstGeom>
          <a:solidFill>
            <a:srgbClr val="FFFFFF"/>
          </a:solidFill>
          <a:ln w="6350">
            <a:solidFill>
              <a:srgbClr val="D5DED9"/>
            </a:solidFill>
            <a:prstDash val="solid"/>
          </a:ln>
        </p:spPr>
      </p:sp>
      <p:sp>
        <p:nvSpPr>
          <p:cNvPr id="36" name="Text 33"/>
          <p:cNvSpPr txBox="1"/>
          <p:nvPr/>
        </p:nvSpPr>
        <p:spPr>
          <a:xfrm>
            <a:off x="4663440" y="2240280"/>
            <a:ext cx="1051560" cy="603504"/>
          </a:xfrm>
          <a:prstGeom prst="rect">
            <a:avLst/>
          </a:prstGeom>
          <a:noFill/>
          <a:ln/>
        </p:spPr>
        <p:txBody>
          <a:bodyPr wrap="square" lIns="0" tIns="0" rIns="0" bIns="0" rtlCol="0" anchor="ctr"/>
          <a:lstStyle/>
          <a:p>
            <a:pPr indent="0" marL="0">
              <a:buNone/>
            </a:pPr>
            <a:r>
              <a:rPr lang="en-US" sz="950" b="1" dirty="0">
                <a:solidFill>
                  <a:srgbClr val="231F20"/>
                </a:solidFill>
                <a:latin typeface="Calibri" pitchFamily="34" charset="0"/>
                <a:ea typeface="Calibri" pitchFamily="34" charset="-122"/>
                <a:cs typeface="Calibri" pitchFamily="34" charset="-120"/>
              </a:rPr>
              <a:t>Écart à la tendance %</a:t>
            </a:r>
            <a:endParaRPr lang="en-US" sz="950" dirty="0"/>
          </a:p>
        </p:txBody>
      </p:sp>
      <p:sp>
        <p:nvSpPr>
          <p:cNvPr id="37" name="Text 34"/>
          <p:cNvSpPr txBox="1"/>
          <p:nvPr/>
        </p:nvSpPr>
        <p:spPr>
          <a:xfrm>
            <a:off x="5760720" y="2240280"/>
            <a:ext cx="1600200" cy="603504"/>
          </a:xfrm>
          <a:prstGeom prst="rect">
            <a:avLst/>
          </a:prstGeom>
          <a:noFill/>
          <a:ln/>
        </p:spPr>
        <p:txBody>
          <a:bodyPr wrap="square" lIns="0" tIns="0" rIns="0" bIns="0" rtlCol="0" anchor="ctr"/>
          <a:lstStyle/>
          <a:p>
            <a:pPr indent="0" marL="0">
              <a:buNone/>
            </a:pPr>
            <a:r>
              <a:rPr lang="en-US" sz="900" dirty="0">
                <a:solidFill>
                  <a:srgbClr val="0E7C86"/>
                </a:solidFill>
                <a:latin typeface="Calibri" pitchFamily="34" charset="0"/>
                <a:ea typeface="Calibri" pitchFamily="34" charset="-122"/>
                <a:cs typeface="Calibri" pitchFamily="34" charset="-120"/>
              </a:rPr>
              <a:t>écart moyen à la tendance des 24 mois avant</a:t>
            </a:r>
            <a:endParaRPr lang="en-US" sz="900" dirty="0"/>
          </a:p>
        </p:txBody>
      </p:sp>
      <p:sp>
        <p:nvSpPr>
          <p:cNvPr id="38" name="Text 35"/>
          <p:cNvSpPr txBox="1"/>
          <p:nvPr/>
        </p:nvSpPr>
        <p:spPr>
          <a:xfrm>
            <a:off x="7452360" y="2240280"/>
            <a:ext cx="1143000" cy="603504"/>
          </a:xfrm>
          <a:prstGeom prst="rect">
            <a:avLst/>
          </a:prstGeom>
          <a:noFill/>
          <a:ln/>
        </p:spPr>
        <p:txBody>
          <a:bodyPr wrap="square" lIns="0" tIns="0" rIns="0" bIns="0" rtlCol="0" anchor="ctr"/>
          <a:lstStyle/>
          <a:p>
            <a:pPr indent="0" marL="0">
              <a:buNone/>
            </a:pPr>
            <a:r>
              <a:rPr lang="en-US" sz="850" dirty="0">
                <a:solidFill>
                  <a:srgbClr val="5E6964"/>
                </a:solidFill>
                <a:latin typeface="Calibri" pitchFamily="34" charset="0"/>
                <a:ea typeface="Calibri" pitchFamily="34" charset="-122"/>
                <a:cs typeface="Calibri" pitchFamily="34" charset="-120"/>
              </a:rPr>
              <a:t>Perte vs la trajectoire attendue</a:t>
            </a:r>
            <a:endParaRPr lang="en-US" sz="850" dirty="0"/>
          </a:p>
        </p:txBody>
      </p:sp>
      <p:sp>
        <p:nvSpPr>
          <p:cNvPr id="39" name="Shape 36"/>
          <p:cNvSpPr/>
          <p:nvPr/>
        </p:nvSpPr>
        <p:spPr>
          <a:xfrm>
            <a:off x="4572000" y="2898648"/>
            <a:ext cx="4114800" cy="603504"/>
          </a:xfrm>
          <a:prstGeom prst="roundRect">
            <a:avLst>
              <a:gd name="adj" fmla="val 7576"/>
            </a:avLst>
          </a:prstGeom>
          <a:solidFill>
            <a:srgbClr val="F4F7F5"/>
          </a:solidFill>
          <a:ln w="6350">
            <a:solidFill>
              <a:srgbClr val="D5DED9"/>
            </a:solidFill>
            <a:prstDash val="solid"/>
          </a:ln>
        </p:spPr>
      </p:sp>
      <p:sp>
        <p:nvSpPr>
          <p:cNvPr id="40" name="Text 37"/>
          <p:cNvSpPr txBox="1"/>
          <p:nvPr/>
        </p:nvSpPr>
        <p:spPr>
          <a:xfrm>
            <a:off x="4663440" y="2898648"/>
            <a:ext cx="1051560" cy="603504"/>
          </a:xfrm>
          <a:prstGeom prst="rect">
            <a:avLst/>
          </a:prstGeom>
          <a:noFill/>
          <a:ln/>
        </p:spPr>
        <p:txBody>
          <a:bodyPr wrap="square" lIns="0" tIns="0" rIns="0" bIns="0" rtlCol="0" anchor="ctr"/>
          <a:lstStyle/>
          <a:p>
            <a:pPr indent="0" marL="0">
              <a:buNone/>
            </a:pPr>
            <a:r>
              <a:rPr lang="en-US" sz="950" b="1" dirty="0">
                <a:solidFill>
                  <a:srgbClr val="231F20"/>
                </a:solidFill>
                <a:latin typeface="Calibri" pitchFamily="34" charset="0"/>
                <a:ea typeface="Calibri" pitchFamily="34" charset="-122"/>
                <a:cs typeface="Calibri" pitchFamily="34" charset="-120"/>
              </a:rPr>
              <a:t>Mois de reprise</a:t>
            </a:r>
            <a:endParaRPr lang="en-US" sz="950" dirty="0"/>
          </a:p>
        </p:txBody>
      </p:sp>
      <p:sp>
        <p:nvSpPr>
          <p:cNvPr id="41" name="Text 38"/>
          <p:cNvSpPr txBox="1"/>
          <p:nvPr/>
        </p:nvSpPr>
        <p:spPr>
          <a:xfrm>
            <a:off x="5760720" y="2898648"/>
            <a:ext cx="1600200" cy="603504"/>
          </a:xfrm>
          <a:prstGeom prst="rect">
            <a:avLst/>
          </a:prstGeom>
          <a:noFill/>
          <a:ln/>
        </p:spPr>
        <p:txBody>
          <a:bodyPr wrap="square" lIns="0" tIns="0" rIns="0" bIns="0" rtlCol="0" anchor="ctr"/>
          <a:lstStyle/>
          <a:p>
            <a:pPr indent="0" marL="0">
              <a:buNone/>
            </a:pPr>
            <a:r>
              <a:rPr lang="en-US" sz="900" dirty="0">
                <a:solidFill>
                  <a:srgbClr val="0E7C86"/>
                </a:solidFill>
                <a:latin typeface="Calibri" pitchFamily="34" charset="0"/>
                <a:ea typeface="Calibri" pitchFamily="34" charset="-122"/>
                <a:cs typeface="Calibri" pitchFamily="34" charset="-120"/>
              </a:rPr>
              <a:t>premier mois SA ≥ référence (≤ 36)</a:t>
            </a:r>
            <a:endParaRPr lang="en-US" sz="900" dirty="0"/>
          </a:p>
        </p:txBody>
      </p:sp>
      <p:sp>
        <p:nvSpPr>
          <p:cNvPr id="42" name="Text 39"/>
          <p:cNvSpPr txBox="1"/>
          <p:nvPr/>
        </p:nvSpPr>
        <p:spPr>
          <a:xfrm>
            <a:off x="7452360" y="2898648"/>
            <a:ext cx="1143000" cy="603504"/>
          </a:xfrm>
          <a:prstGeom prst="rect">
            <a:avLst/>
          </a:prstGeom>
          <a:noFill/>
          <a:ln/>
        </p:spPr>
        <p:txBody>
          <a:bodyPr wrap="square" lIns="0" tIns="0" rIns="0" bIns="0" rtlCol="0" anchor="ctr"/>
          <a:lstStyle/>
          <a:p>
            <a:pPr indent="0" marL="0">
              <a:buNone/>
            </a:pPr>
            <a:r>
              <a:rPr lang="en-US" sz="850" dirty="0">
                <a:solidFill>
                  <a:srgbClr val="5E6964"/>
                </a:solidFill>
                <a:latin typeface="Calibri" pitchFamily="34" charset="0"/>
                <a:ea typeface="Calibri" pitchFamily="34" charset="-122"/>
                <a:cs typeface="Calibri" pitchFamily="34" charset="-120"/>
              </a:rPr>
              <a:t>Vitesse de reprise ; aucun = non rétabli</a:t>
            </a:r>
            <a:endParaRPr lang="en-US" sz="850" dirty="0"/>
          </a:p>
        </p:txBody>
      </p:sp>
      <p:sp>
        <p:nvSpPr>
          <p:cNvPr id="43" name="Shape 40"/>
          <p:cNvSpPr/>
          <p:nvPr/>
        </p:nvSpPr>
        <p:spPr>
          <a:xfrm>
            <a:off x="4572000" y="3557016"/>
            <a:ext cx="4114800" cy="603504"/>
          </a:xfrm>
          <a:prstGeom prst="roundRect">
            <a:avLst>
              <a:gd name="adj" fmla="val 7576"/>
            </a:avLst>
          </a:prstGeom>
          <a:solidFill>
            <a:srgbClr val="FFFFFF"/>
          </a:solidFill>
          <a:ln w="6350">
            <a:solidFill>
              <a:srgbClr val="D5DED9"/>
            </a:solidFill>
            <a:prstDash val="solid"/>
          </a:ln>
        </p:spPr>
      </p:sp>
      <p:sp>
        <p:nvSpPr>
          <p:cNvPr id="44" name="Text 41"/>
          <p:cNvSpPr txBox="1"/>
          <p:nvPr/>
        </p:nvSpPr>
        <p:spPr>
          <a:xfrm>
            <a:off x="4663440" y="3557016"/>
            <a:ext cx="1051560" cy="603504"/>
          </a:xfrm>
          <a:prstGeom prst="rect">
            <a:avLst/>
          </a:prstGeom>
          <a:noFill/>
          <a:ln/>
        </p:spPr>
        <p:txBody>
          <a:bodyPr wrap="square" lIns="0" tIns="0" rIns="0" bIns="0" rtlCol="0" anchor="ctr"/>
          <a:lstStyle/>
          <a:p>
            <a:pPr indent="0" marL="0">
              <a:buNone/>
            </a:pPr>
            <a:r>
              <a:rPr lang="en-US" sz="950" b="1" dirty="0">
                <a:solidFill>
                  <a:srgbClr val="231F20"/>
                </a:solidFill>
                <a:latin typeface="Calibri" pitchFamily="34" charset="0"/>
                <a:ea typeface="Calibri" pitchFamily="34" charset="-122"/>
                <a:cs typeface="Calibri" pitchFamily="34" charset="-120"/>
              </a:rPr>
              <a:t>Test placebo</a:t>
            </a:r>
            <a:endParaRPr lang="en-US" sz="950" dirty="0"/>
          </a:p>
        </p:txBody>
      </p:sp>
      <p:sp>
        <p:nvSpPr>
          <p:cNvPr id="45" name="Text 42"/>
          <p:cNvSpPr txBox="1"/>
          <p:nvPr/>
        </p:nvSpPr>
        <p:spPr>
          <a:xfrm>
            <a:off x="5760720" y="3557016"/>
            <a:ext cx="1600200" cy="603504"/>
          </a:xfrm>
          <a:prstGeom prst="rect">
            <a:avLst/>
          </a:prstGeom>
          <a:noFill/>
          <a:ln/>
        </p:spPr>
        <p:txBody>
          <a:bodyPr wrap="square" lIns="0" tIns="0" rIns="0" bIns="0" rtlCol="0" anchor="ctr"/>
          <a:lstStyle/>
          <a:p>
            <a:pPr indent="0" marL="0">
              <a:buNone/>
            </a:pPr>
            <a:r>
              <a:rPr lang="en-US" sz="900" dirty="0">
                <a:solidFill>
                  <a:srgbClr val="0E7C86"/>
                </a:solidFill>
                <a:latin typeface="Calibri" pitchFamily="34" charset="0"/>
                <a:ea typeface="Calibri" pitchFamily="34" charset="-122"/>
                <a:cs typeface="Calibri" pitchFamily="34" charset="-120"/>
              </a:rPr>
              <a:t>creux &lt; 5e centile des fenêtres antérieures</a:t>
            </a:r>
            <a:endParaRPr lang="en-US" sz="900" dirty="0"/>
          </a:p>
        </p:txBody>
      </p:sp>
      <p:sp>
        <p:nvSpPr>
          <p:cNvPr id="46" name="Text 43"/>
          <p:cNvSpPr txBox="1"/>
          <p:nvPr/>
        </p:nvSpPr>
        <p:spPr>
          <a:xfrm>
            <a:off x="7452360" y="3557016"/>
            <a:ext cx="1143000" cy="603504"/>
          </a:xfrm>
          <a:prstGeom prst="rect">
            <a:avLst/>
          </a:prstGeom>
          <a:noFill/>
          <a:ln/>
        </p:spPr>
        <p:txBody>
          <a:bodyPr wrap="square" lIns="0" tIns="0" rIns="0" bIns="0" rtlCol="0" anchor="ctr"/>
          <a:lstStyle/>
          <a:p>
            <a:pPr indent="0" marL="0">
              <a:buNone/>
            </a:pPr>
            <a:r>
              <a:rPr lang="en-US" sz="850" dirty="0">
                <a:solidFill>
                  <a:srgbClr val="5E6964"/>
                </a:solidFill>
                <a:latin typeface="Calibri" pitchFamily="34" charset="0"/>
                <a:ea typeface="Calibri" pitchFamily="34" charset="-122"/>
                <a:cs typeface="Calibri" pitchFamily="34" charset="-120"/>
              </a:rPr>
              <a:t>Se distingue du bruit ordinaire</a:t>
            </a:r>
            <a:endParaRPr lang="en-US" sz="85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8A9590"/>
                </a:solidFill>
                <a:latin typeface="Calibri"/>
                <a:ea typeface="Calibri"/>
                <a:cs typeface="Calibri"/>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3"/>
          <p:cNvSpPr/>
          <p:nvPr>
            <p:ph idx="105" type="body" hasCustomPrompt="1"/>
          </p:nvPr>
        </p:nvSpPr>
        <p:spPr>
          <a:xfrm>
            <a:off x="457200" y="274320"/>
            <a:ext cx="6217920" cy="256032"/>
          </a:xfrm>
          <a:prstGeom prst="rect">
            <a:avLst/>
          </a:prstGeom>
          <a:noFill/>
          <a:ln/>
        </p:spPr>
        <p:txBody>
          <a:bodyPr wrap="square" lIns="0" tIns="0" rIns="0" bIns="0" rtlCol="0" anchor="ctr"/>
          <a:lstStyle/>
          <a:p>
            <a:pPr algn="l" indent="0" marL="0">
              <a:buNone/>
            </a:pPr>
            <a:r>
              <a:rPr lang="en-US" sz="1050" b="1" spc="300" kern="0" dirty="0">
                <a:solidFill>
                  <a:srgbClr val="00704A"/>
                </a:solidFill>
                <a:latin typeface="Calibri" pitchFamily="34" charset="0"/>
                <a:ea typeface="Calibri" pitchFamily="34" charset="-122"/>
                <a:cs typeface="Calibri" pitchFamily="34" charset="-120"/>
              </a:rPr>
              <a:t>04 · ANALYSER · SCÉNARIO 4</a:t>
            </a:r>
            <a:endParaRPr lang="en-US" sz="1050" dirty="0"/>
          </a:p>
        </p:txBody>
      </p:sp>
      <p:sp>
        <p:nvSpPr>
          <p:cNvPr id="3" name="Text 3"/>
          <p:cNvSpPr/>
          <p:nvPr>
            <p:ph idx="106" type="title" hasCustomPrompt="1"/>
          </p:nvPr>
        </p:nvSpPr>
        <p:spPr>
          <a:xfrm>
            <a:off x="457200" y="548640"/>
            <a:ext cx="8229600" cy="566928"/>
          </a:xfrm>
          <a:prstGeom prst="rect">
            <a:avLst/>
          </a:prstGeom>
          <a:noFill/>
          <a:ln/>
        </p:spPr>
        <p:txBody>
          <a:bodyPr wrap="square" lIns="0" tIns="0" rIns="0" bIns="0" rtlCol="0" anchor="ctr"/>
          <a:lstStyle/>
          <a:p>
            <a:pPr algn="l" indent="0" marL="0">
              <a:buNone/>
            </a:pPr>
            <a:r>
              <a:rPr lang="en-US" sz="2800" b="1" dirty="0">
                <a:solidFill>
                  <a:srgbClr val="231F20"/>
                </a:solidFill>
                <a:latin typeface="Calibri" pitchFamily="34" charset="0"/>
                <a:ea typeface="Calibri" pitchFamily="34" charset="-122"/>
                <a:cs typeface="Calibri" pitchFamily="34" charset="-120"/>
              </a:rPr>
              <a:t>Chocs : zoom quotidien et impact régional</a:t>
            </a:r>
            <a:endParaRPr lang="en-US" sz="2800" dirty="0"/>
          </a:p>
        </p:txBody>
      </p:sp>
      <p:sp>
        <p:nvSpPr>
          <p:cNvPr id="4" name="dot0"/>
          <p:cNvSpPr/>
          <p:nvPr/>
        </p:nvSpPr>
        <p:spPr>
          <a:xfrm>
            <a:off x="7644384" y="338328"/>
            <a:ext cx="100584" cy="100584"/>
          </a:xfrm>
          <a:prstGeom prst="ellipse">
            <a:avLst/>
          </a:prstGeom>
          <a:solidFill>
            <a:srgbClr val="D5DED9"/>
          </a:solidFill>
          <a:ln w="12700">
            <a:solidFill>
              <a:srgbClr val="D5DED9"/>
            </a:solidFill>
            <a:prstDash val="solid"/>
          </a:ln>
        </p:spPr>
      </p:sp>
      <p:sp>
        <p:nvSpPr>
          <p:cNvPr id="5" name="dot1"/>
          <p:cNvSpPr/>
          <p:nvPr/>
        </p:nvSpPr>
        <p:spPr>
          <a:xfrm>
            <a:off x="7818120" y="338328"/>
            <a:ext cx="100584" cy="100584"/>
          </a:xfrm>
          <a:prstGeom prst="ellipse">
            <a:avLst/>
          </a:prstGeom>
          <a:solidFill>
            <a:srgbClr val="D5DED9"/>
          </a:solidFill>
          <a:ln w="12700">
            <a:solidFill>
              <a:srgbClr val="D5DED9"/>
            </a:solidFill>
            <a:prstDash val="solid"/>
          </a:ln>
        </p:spPr>
      </p:sp>
      <p:sp>
        <p:nvSpPr>
          <p:cNvPr id="6" name="dot2"/>
          <p:cNvSpPr/>
          <p:nvPr/>
        </p:nvSpPr>
        <p:spPr>
          <a:xfrm>
            <a:off x="7991856" y="338328"/>
            <a:ext cx="100584" cy="100584"/>
          </a:xfrm>
          <a:prstGeom prst="ellipse">
            <a:avLst/>
          </a:prstGeom>
          <a:solidFill>
            <a:srgbClr val="D5DED9"/>
          </a:solidFill>
          <a:ln w="12700">
            <a:solidFill>
              <a:srgbClr val="D5DED9"/>
            </a:solidFill>
            <a:prstDash val="solid"/>
          </a:ln>
        </p:spPr>
      </p:sp>
      <p:sp>
        <p:nvSpPr>
          <p:cNvPr id="7" name="dot3"/>
          <p:cNvSpPr/>
          <p:nvPr/>
        </p:nvSpPr>
        <p:spPr>
          <a:xfrm>
            <a:off x="8165592" y="338328"/>
            <a:ext cx="100584" cy="100584"/>
          </a:xfrm>
          <a:prstGeom prst="ellipse">
            <a:avLst/>
          </a:prstGeom>
          <a:solidFill>
            <a:srgbClr val="D49A00"/>
          </a:solidFill>
          <a:ln w="12700">
            <a:solidFill>
              <a:srgbClr val="D49A00"/>
            </a:solidFill>
            <a:prstDash val="solid"/>
          </a:ln>
        </p:spPr>
      </p:sp>
      <p:sp>
        <p:nvSpPr>
          <p:cNvPr id="8" name="dot4"/>
          <p:cNvSpPr/>
          <p:nvPr/>
        </p:nvSpPr>
        <p:spPr>
          <a:xfrm>
            <a:off x="8339328" y="338328"/>
            <a:ext cx="100584" cy="100584"/>
          </a:xfrm>
          <a:prstGeom prst="ellipse">
            <a:avLst/>
          </a:prstGeom>
          <a:solidFill>
            <a:srgbClr val="D5DED9"/>
          </a:solidFill>
          <a:ln w="12700">
            <a:solidFill>
              <a:srgbClr val="D5DED9"/>
            </a:solidFill>
            <a:prstDash val="solid"/>
          </a:ln>
        </p:spPr>
      </p:sp>
      <p:sp>
        <p:nvSpPr>
          <p:cNvPr id="9" name="dot5"/>
          <p:cNvSpPr/>
          <p:nvPr/>
        </p:nvSpPr>
        <p:spPr>
          <a:xfrm>
            <a:off x="8513064" y="338328"/>
            <a:ext cx="100584" cy="100584"/>
          </a:xfrm>
          <a:prstGeom prst="ellipse">
            <a:avLst/>
          </a:prstGeom>
          <a:solidFill>
            <a:srgbClr val="D5DED9"/>
          </a:solidFill>
          <a:ln w="12700">
            <a:solidFill>
              <a:srgbClr val="D5DED9"/>
            </a:solidFill>
            <a:prstDash val="solid"/>
          </a:ln>
        </p:spPr>
      </p:sp>
      <p:sp>
        <p:nvSpPr>
          <p:cNvPr id="11" name="Shape 8"/>
          <p:cNvSpPr/>
          <p:nvPr/>
        </p:nvSpPr>
        <p:spPr>
          <a:xfrm>
            <a:off x="457200" y="1408176"/>
            <a:ext cx="457200" cy="457200"/>
          </a:xfrm>
          <a:prstGeom prst="ellipse">
            <a:avLst/>
          </a:prstGeom>
          <a:solidFill>
            <a:srgbClr val="D49A00">
              <a:alpha val="22000"/>
            </a:srgbClr>
          </a:solidFill>
          <a:ln w="12700">
            <a:solidFill>
              <a:srgbClr val="D49A00">
                <a:alpha val="0"/>
              </a:srgbClr>
            </a:solidFill>
            <a:prstDash val="solid"/>
          </a:ln>
        </p:spPr>
      </p:sp>
      <p:pic>
        <p:nvPicPr>
          <p:cNvPr id="12" name="Image 0" descr="preencoded.png">    </p:cNvPr>
          <p:cNvPicPr>
            <a:picLocks noChangeAspect="1"/>
          </p:cNvPicPr>
          <p:nvPr/>
        </p:nvPicPr>
        <p:blipFill>
          <a:blip r:embed="rId1"/>
          <a:stretch>
            <a:fillRect/>
          </a:stretch>
        </p:blipFill>
        <p:spPr>
          <a:xfrm>
            <a:off x="566928" y="1517904"/>
            <a:ext cx="237744" cy="237744"/>
          </a:xfrm>
          <a:prstGeom prst="rect">
            <a:avLst/>
          </a:prstGeom>
        </p:spPr>
      </p:pic>
      <p:sp>
        <p:nvSpPr>
          <p:cNvPr id="13" name="Text 9"/>
          <p:cNvSpPr txBox="1"/>
          <p:nvPr/>
        </p:nvSpPr>
        <p:spPr>
          <a:xfrm>
            <a:off x="1024128" y="1371600"/>
            <a:ext cx="3200400" cy="256032"/>
          </a:xfrm>
          <a:prstGeom prst="rect">
            <a:avLst/>
          </a:prstGeom>
          <a:noFill/>
          <a:ln/>
        </p:spPr>
        <p:txBody>
          <a:bodyPr wrap="square" lIns="0" tIns="0" rIns="0" bIns="0" rtlCol="0" anchor="t"/>
          <a:lstStyle/>
          <a:p>
            <a:pPr indent="0" marL="0">
              <a:buNone/>
            </a:pPr>
            <a:r>
              <a:rPr lang="en-US" sz="1200" b="1" dirty="0">
                <a:solidFill>
                  <a:srgbClr val="231F20"/>
                </a:solidFill>
                <a:latin typeface="Calibri" pitchFamily="34" charset="0"/>
                <a:ea typeface="Calibri" pitchFamily="34" charset="-122"/>
                <a:cs typeface="Calibri" pitchFamily="34" charset="-120"/>
              </a:rPr>
              <a:t>Garder les bonnes nuits</a:t>
            </a:r>
            <a:endParaRPr lang="en-US" sz="1200" dirty="0"/>
          </a:p>
        </p:txBody>
      </p:sp>
      <p:sp>
        <p:nvSpPr>
          <p:cNvPr id="14" name="Text 10"/>
          <p:cNvSpPr txBox="1"/>
          <p:nvPr/>
        </p:nvSpPr>
        <p:spPr>
          <a:xfrm>
            <a:off x="1024128" y="1645920"/>
            <a:ext cx="3200400" cy="438912"/>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Drapeau qualité ∈ {0, 1} · bits nuage 6–7 ≤ 1 · sans neige · pixel éclairé dans l'annuel</a:t>
            </a:r>
            <a:endParaRPr lang="en-US" sz="950" dirty="0"/>
          </a:p>
        </p:txBody>
      </p:sp>
      <p:sp>
        <p:nvSpPr>
          <p:cNvPr id="15" name="Shape 11"/>
          <p:cNvSpPr/>
          <p:nvPr/>
        </p:nvSpPr>
        <p:spPr>
          <a:xfrm>
            <a:off x="457200" y="2176272"/>
            <a:ext cx="457200" cy="457200"/>
          </a:xfrm>
          <a:prstGeom prst="ellipse">
            <a:avLst/>
          </a:prstGeom>
          <a:solidFill>
            <a:srgbClr val="D49A00">
              <a:alpha val="22000"/>
            </a:srgbClr>
          </a:solidFill>
          <a:ln w="12700">
            <a:solidFill>
              <a:srgbClr val="D49A00">
                <a:alpha val="0"/>
              </a:srgbClr>
            </a:solidFill>
            <a:prstDash val="solid"/>
          </a:ln>
        </p:spPr>
      </p:sp>
      <p:pic>
        <p:nvPicPr>
          <p:cNvPr id="16" name="Image 1" descr="preencoded.png">    </p:cNvPr>
          <p:cNvPicPr>
            <a:picLocks noChangeAspect="1"/>
          </p:cNvPicPr>
          <p:nvPr/>
        </p:nvPicPr>
        <p:blipFill>
          <a:blip r:embed="rId2"/>
          <a:stretch>
            <a:fillRect/>
          </a:stretch>
        </p:blipFill>
        <p:spPr>
          <a:xfrm>
            <a:off x="566928" y="2286000"/>
            <a:ext cx="237744" cy="237744"/>
          </a:xfrm>
          <a:prstGeom prst="rect">
            <a:avLst/>
          </a:prstGeom>
        </p:spPr>
      </p:pic>
      <p:sp>
        <p:nvSpPr>
          <p:cNvPr id="17" name="Text 12"/>
          <p:cNvSpPr txBox="1"/>
          <p:nvPr/>
        </p:nvSpPr>
        <p:spPr>
          <a:xfrm>
            <a:off x="1024128" y="2139696"/>
            <a:ext cx="3200400" cy="256032"/>
          </a:xfrm>
          <a:prstGeom prst="rect">
            <a:avLst/>
          </a:prstGeom>
          <a:noFill/>
          <a:ln/>
        </p:spPr>
        <p:txBody>
          <a:bodyPr wrap="square" lIns="0" tIns="0" rIns="0" bIns="0" rtlCol="0" anchor="t"/>
          <a:lstStyle/>
          <a:p>
            <a:pPr indent="0" marL="0">
              <a:buNone/>
            </a:pPr>
            <a:r>
              <a:rPr lang="en-US" sz="1200" b="1" dirty="0">
                <a:solidFill>
                  <a:srgbClr val="231F20"/>
                </a:solidFill>
                <a:latin typeface="Calibri" pitchFamily="34" charset="0"/>
                <a:ea typeface="Calibri" pitchFamily="34" charset="-122"/>
                <a:cs typeface="Calibri" pitchFamily="34" charset="-120"/>
              </a:rPr>
              <a:t>Somme quotidienne</a:t>
            </a:r>
            <a:endParaRPr lang="en-US" sz="1200" dirty="0"/>
          </a:p>
        </p:txBody>
      </p:sp>
      <p:sp>
        <p:nvSpPr>
          <p:cNvPr id="18" name="Text 13"/>
          <p:cNvSpPr txBox="1"/>
          <p:nvPr/>
        </p:nvSpPr>
        <p:spPr>
          <a:xfrm>
            <a:off x="1024128" y="2414016"/>
            <a:ext cx="3200400" cy="438912"/>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Jour gardé si ≥ 50 % des pixels observés ; SoL rapportée à la part observée</a:t>
            </a:r>
            <a:endParaRPr lang="en-US" sz="950" dirty="0"/>
          </a:p>
        </p:txBody>
      </p:sp>
      <p:sp>
        <p:nvSpPr>
          <p:cNvPr id="19" name="Shape 14"/>
          <p:cNvSpPr/>
          <p:nvPr/>
        </p:nvSpPr>
        <p:spPr>
          <a:xfrm>
            <a:off x="457200" y="2944368"/>
            <a:ext cx="457200" cy="457200"/>
          </a:xfrm>
          <a:prstGeom prst="ellipse">
            <a:avLst/>
          </a:prstGeom>
          <a:solidFill>
            <a:srgbClr val="D49A00">
              <a:alpha val="22000"/>
            </a:srgbClr>
          </a:solidFill>
          <a:ln w="12700">
            <a:solidFill>
              <a:srgbClr val="D49A00">
                <a:alpha val="0"/>
              </a:srgbClr>
            </a:solidFill>
            <a:prstDash val="solid"/>
          </a:ln>
        </p:spPr>
      </p:sp>
      <p:pic>
        <p:nvPicPr>
          <p:cNvPr id="20" name="Image 2" descr="preencoded.png">    </p:cNvPr>
          <p:cNvPicPr>
            <a:picLocks noChangeAspect="1"/>
          </p:cNvPicPr>
          <p:nvPr/>
        </p:nvPicPr>
        <p:blipFill>
          <a:blip r:embed="rId3"/>
          <a:stretch>
            <a:fillRect/>
          </a:stretch>
        </p:blipFill>
        <p:spPr>
          <a:xfrm>
            <a:off x="566928" y="3054096"/>
            <a:ext cx="237744" cy="237744"/>
          </a:xfrm>
          <a:prstGeom prst="rect">
            <a:avLst/>
          </a:prstGeom>
        </p:spPr>
      </p:pic>
      <p:sp>
        <p:nvSpPr>
          <p:cNvPr id="21" name="Text 15"/>
          <p:cNvSpPr txBox="1"/>
          <p:nvPr/>
        </p:nvSpPr>
        <p:spPr>
          <a:xfrm>
            <a:off x="1024128" y="2907792"/>
            <a:ext cx="3200400" cy="256032"/>
          </a:xfrm>
          <a:prstGeom prst="rect">
            <a:avLst/>
          </a:prstGeom>
          <a:noFill/>
          <a:ln/>
        </p:spPr>
        <p:txBody>
          <a:bodyPr wrap="square" lIns="0" tIns="0" rIns="0" bIns="0" rtlCol="0" anchor="t"/>
          <a:lstStyle/>
          <a:p>
            <a:pPr indent="0" marL="0">
              <a:buNone/>
            </a:pPr>
            <a:r>
              <a:rPr lang="en-US" sz="1200" b="1" dirty="0">
                <a:solidFill>
                  <a:srgbClr val="231F20"/>
                </a:solidFill>
                <a:latin typeface="Calibri" pitchFamily="34" charset="0"/>
                <a:ea typeface="Calibri" pitchFamily="34" charset="-122"/>
                <a:cs typeface="Calibri" pitchFamily="34" charset="-120"/>
              </a:rPr>
              <a:t>Lisser</a:t>
            </a:r>
            <a:endParaRPr lang="en-US" sz="1200" dirty="0"/>
          </a:p>
        </p:txBody>
      </p:sp>
      <p:sp>
        <p:nvSpPr>
          <p:cNvPr id="22" name="Text 16"/>
          <p:cNvSpPr txBox="1"/>
          <p:nvPr/>
        </p:nvSpPr>
        <p:spPr>
          <a:xfrm>
            <a:off x="1024128" y="3182112"/>
            <a:ext cx="3200400" cy="438912"/>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Médiane glissante 7 jours : absorbe résidus lunaires et jours nuageux</a:t>
            </a:r>
            <a:endParaRPr lang="en-US" sz="950" dirty="0"/>
          </a:p>
        </p:txBody>
      </p:sp>
      <p:sp>
        <p:nvSpPr>
          <p:cNvPr id="23" name="Shape 17"/>
          <p:cNvSpPr/>
          <p:nvPr/>
        </p:nvSpPr>
        <p:spPr>
          <a:xfrm>
            <a:off x="457200" y="3712464"/>
            <a:ext cx="457200" cy="457200"/>
          </a:xfrm>
          <a:prstGeom prst="ellipse">
            <a:avLst/>
          </a:prstGeom>
          <a:solidFill>
            <a:srgbClr val="D49A00">
              <a:alpha val="22000"/>
            </a:srgbClr>
          </a:solidFill>
          <a:ln w="12700">
            <a:solidFill>
              <a:srgbClr val="D49A00">
                <a:alpha val="0"/>
              </a:srgbClr>
            </a:solidFill>
            <a:prstDash val="solid"/>
          </a:ln>
        </p:spPr>
      </p:sp>
      <p:pic>
        <p:nvPicPr>
          <p:cNvPr id="24" name="Image 3" descr="preencoded.png">    </p:cNvPr>
          <p:cNvPicPr>
            <a:picLocks noChangeAspect="1"/>
          </p:cNvPicPr>
          <p:nvPr/>
        </p:nvPicPr>
        <p:blipFill>
          <a:blip r:embed="rId4"/>
          <a:stretch>
            <a:fillRect/>
          </a:stretch>
        </p:blipFill>
        <p:spPr>
          <a:xfrm>
            <a:off x="566928" y="3822192"/>
            <a:ext cx="237744" cy="237744"/>
          </a:xfrm>
          <a:prstGeom prst="rect">
            <a:avLst/>
          </a:prstGeom>
        </p:spPr>
      </p:pic>
      <p:sp>
        <p:nvSpPr>
          <p:cNvPr id="25" name="Text 18"/>
          <p:cNvSpPr txBox="1"/>
          <p:nvPr/>
        </p:nvSpPr>
        <p:spPr>
          <a:xfrm>
            <a:off x="1024128" y="3675888"/>
            <a:ext cx="3200400" cy="256032"/>
          </a:xfrm>
          <a:prstGeom prst="rect">
            <a:avLst/>
          </a:prstGeom>
          <a:noFill/>
          <a:ln/>
        </p:spPr>
        <p:txBody>
          <a:bodyPr wrap="square" lIns="0" tIns="0" rIns="0" bIns="0" rtlCol="0" anchor="t"/>
          <a:lstStyle/>
          <a:p>
            <a:pPr indent="0" marL="0">
              <a:buNone/>
            </a:pPr>
            <a:r>
              <a:rPr lang="en-US" sz="1200" b="1" dirty="0">
                <a:solidFill>
                  <a:srgbClr val="231F20"/>
                </a:solidFill>
                <a:latin typeface="Calibri" pitchFamily="34" charset="0"/>
                <a:ea typeface="Calibri" pitchFamily="34" charset="-122"/>
                <a:cs typeface="Calibri" pitchFamily="34" charset="-120"/>
              </a:rPr>
              <a:t>Indice</a:t>
            </a:r>
            <a:endParaRPr lang="en-US" sz="1200" dirty="0"/>
          </a:p>
        </p:txBody>
      </p:sp>
      <p:sp>
        <p:nvSpPr>
          <p:cNvPr id="26" name="Text 19"/>
          <p:cNvSpPr txBox="1"/>
          <p:nvPr/>
        </p:nvSpPr>
        <p:spPr>
          <a:xfrm>
            <a:off x="1024128" y="3950208"/>
            <a:ext cx="3200400" cy="438912"/>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100 × SoL / mêmes jours 364 jours plus tôt (même jour de semaine)</a:t>
            </a:r>
            <a:endParaRPr lang="en-US" sz="950" dirty="0"/>
          </a:p>
        </p:txBody>
      </p:sp>
      <p:sp>
        <p:nvSpPr>
          <p:cNvPr id="27" name="Shape 20"/>
          <p:cNvSpPr/>
          <p:nvPr/>
        </p:nvSpPr>
        <p:spPr>
          <a:xfrm>
            <a:off x="4526280" y="1371600"/>
            <a:ext cx="4160520" cy="1600200"/>
          </a:xfrm>
          <a:prstGeom prst="roundRect">
            <a:avLst>
              <a:gd name="adj" fmla="val 4571"/>
            </a:avLst>
          </a:prstGeom>
          <a:solidFill>
            <a:srgbClr val="E8F5EF"/>
          </a:solidFill>
          <a:ln w="15875">
            <a:solidFill>
              <a:srgbClr val="D49A00"/>
            </a:solidFill>
            <a:prstDash val="solid"/>
          </a:ln>
        </p:spPr>
      </p:sp>
      <p:sp>
        <p:nvSpPr>
          <p:cNvPr id="28" name="Text 21"/>
          <p:cNvSpPr txBox="1"/>
          <p:nvPr/>
        </p:nvSpPr>
        <p:spPr>
          <a:xfrm>
            <a:off x="4681728" y="1444752"/>
            <a:ext cx="3840480" cy="256032"/>
          </a:xfrm>
          <a:prstGeom prst="rect">
            <a:avLst/>
          </a:prstGeom>
          <a:noFill/>
          <a:ln/>
        </p:spPr>
        <p:txBody>
          <a:bodyPr wrap="square" lIns="0" tIns="0" rIns="0" bIns="0" rtlCol="0" anchor="t"/>
          <a:lstStyle/>
          <a:p>
            <a:pPr indent="0" marL="0">
              <a:buNone/>
            </a:pPr>
            <a:r>
              <a:rPr lang="en-US" sz="1200" b="1" dirty="0">
                <a:solidFill>
                  <a:srgbClr val="D49A00"/>
                </a:solidFill>
                <a:latin typeface="Calibri" pitchFamily="34" charset="0"/>
                <a:ea typeface="Calibri" pitchFamily="34" charset="-122"/>
                <a:cs typeface="Calibri" pitchFamily="34" charset="-120"/>
              </a:rPr>
              <a:t>Lire l'indice quotidien</a:t>
            </a:r>
            <a:endParaRPr lang="en-US" sz="1200" dirty="0"/>
          </a:p>
        </p:txBody>
      </p:sp>
      <p:sp>
        <p:nvSpPr>
          <p:cNvPr id="29" name="Text 22"/>
          <p:cNvSpPr txBox="1"/>
          <p:nvPr/>
        </p:nvSpPr>
        <p:spPr>
          <a:xfrm>
            <a:off x="4681728" y="1755648"/>
            <a:ext cx="731520" cy="329184"/>
          </a:xfrm>
          <a:prstGeom prst="rect">
            <a:avLst/>
          </a:prstGeom>
          <a:noFill/>
          <a:ln/>
        </p:spPr>
        <p:txBody>
          <a:bodyPr wrap="square" lIns="0" tIns="0" rIns="0" bIns="0" rtlCol="0" anchor="ctr"/>
          <a:lstStyle/>
          <a:p>
            <a:pPr indent="0" marL="0">
              <a:buNone/>
            </a:pPr>
            <a:r>
              <a:rPr lang="en-US" sz="1500" b="1" dirty="0">
                <a:solidFill>
                  <a:srgbClr val="5E6964"/>
                </a:solidFill>
                <a:latin typeface="Calibri" pitchFamily="34" charset="0"/>
                <a:ea typeface="Calibri" pitchFamily="34" charset="-122"/>
                <a:cs typeface="Calibri" pitchFamily="34" charset="-120"/>
              </a:rPr>
              <a:t>100</a:t>
            </a:r>
            <a:endParaRPr lang="en-US" sz="1500" dirty="0"/>
          </a:p>
        </p:txBody>
      </p:sp>
      <p:sp>
        <p:nvSpPr>
          <p:cNvPr id="30" name="Text 23"/>
          <p:cNvSpPr txBox="1"/>
          <p:nvPr/>
        </p:nvSpPr>
        <p:spPr>
          <a:xfrm>
            <a:off x="5440680" y="1755648"/>
            <a:ext cx="3154680" cy="329184"/>
          </a:xfrm>
          <a:prstGeom prst="rect">
            <a:avLst/>
          </a:prstGeom>
          <a:noFill/>
          <a:ln/>
        </p:spPr>
        <p:txBody>
          <a:bodyPr wrap="square" lIns="0" tIns="0" rIns="0" bIns="0" rtlCol="0" anchor="ctr"/>
          <a:lstStyle/>
          <a:p>
            <a:pPr indent="0" marL="0">
              <a:buNone/>
            </a:pPr>
            <a:r>
              <a:rPr lang="en-US" sz="1000" dirty="0">
                <a:solidFill>
                  <a:srgbClr val="231F20"/>
                </a:solidFill>
                <a:latin typeface="Calibri" pitchFamily="34" charset="0"/>
                <a:ea typeface="Calibri" pitchFamily="34" charset="-122"/>
                <a:cs typeface="Calibri" pitchFamily="34" charset="-120"/>
              </a:rPr>
              <a:t>même activité qu'un an plus tôt</a:t>
            </a:r>
            <a:endParaRPr lang="en-US" sz="1000" dirty="0"/>
          </a:p>
        </p:txBody>
      </p:sp>
      <p:sp>
        <p:nvSpPr>
          <p:cNvPr id="31" name="Text 24"/>
          <p:cNvSpPr txBox="1"/>
          <p:nvPr/>
        </p:nvSpPr>
        <p:spPr>
          <a:xfrm>
            <a:off x="4681728" y="2139696"/>
            <a:ext cx="731520" cy="329184"/>
          </a:xfrm>
          <a:prstGeom prst="rect">
            <a:avLst/>
          </a:prstGeom>
          <a:noFill/>
          <a:ln/>
        </p:spPr>
        <p:txBody>
          <a:bodyPr wrap="square" lIns="0" tIns="0" rIns="0" bIns="0" rtlCol="0" anchor="ctr"/>
          <a:lstStyle/>
          <a:p>
            <a:pPr indent="0" marL="0">
              <a:buNone/>
            </a:pPr>
            <a:r>
              <a:rPr lang="en-US" sz="1500" b="1" dirty="0">
                <a:solidFill>
                  <a:srgbClr val="B83B2E"/>
                </a:solidFill>
                <a:latin typeface="Calibri" pitchFamily="34" charset="0"/>
                <a:ea typeface="Calibri" pitchFamily="34" charset="-122"/>
                <a:cs typeface="Calibri" pitchFamily="34" charset="-120"/>
              </a:rPr>
              <a:t>&lt; 100</a:t>
            </a:r>
            <a:endParaRPr lang="en-US" sz="1500" dirty="0"/>
          </a:p>
        </p:txBody>
      </p:sp>
      <p:sp>
        <p:nvSpPr>
          <p:cNvPr id="32" name="Text 25"/>
          <p:cNvSpPr txBox="1"/>
          <p:nvPr/>
        </p:nvSpPr>
        <p:spPr>
          <a:xfrm>
            <a:off x="5440680" y="2139696"/>
            <a:ext cx="3154680" cy="329184"/>
          </a:xfrm>
          <a:prstGeom prst="rect">
            <a:avLst/>
          </a:prstGeom>
          <a:noFill/>
          <a:ln/>
        </p:spPr>
        <p:txBody>
          <a:bodyPr wrap="square" lIns="0" tIns="0" rIns="0" bIns="0" rtlCol="0" anchor="ctr"/>
          <a:lstStyle/>
          <a:p>
            <a:pPr indent="0" marL="0">
              <a:buNone/>
            </a:pPr>
            <a:r>
              <a:rPr lang="en-US" sz="1000" dirty="0">
                <a:solidFill>
                  <a:srgbClr val="231F20"/>
                </a:solidFill>
                <a:latin typeface="Calibri" pitchFamily="34" charset="0"/>
                <a:ea typeface="Calibri" pitchFamily="34" charset="-122"/>
                <a:cs typeface="Calibri" pitchFamily="34" charset="-120"/>
              </a:rPr>
              <a:t>activité inférieure à l'an passé (coupure, confinement, conflit)</a:t>
            </a:r>
            <a:endParaRPr lang="en-US" sz="1000" dirty="0"/>
          </a:p>
        </p:txBody>
      </p:sp>
      <p:sp>
        <p:nvSpPr>
          <p:cNvPr id="33" name="Text 26"/>
          <p:cNvSpPr txBox="1"/>
          <p:nvPr/>
        </p:nvSpPr>
        <p:spPr>
          <a:xfrm>
            <a:off x="4681728" y="2523744"/>
            <a:ext cx="731520" cy="329184"/>
          </a:xfrm>
          <a:prstGeom prst="rect">
            <a:avLst/>
          </a:prstGeom>
          <a:noFill/>
          <a:ln/>
        </p:spPr>
        <p:txBody>
          <a:bodyPr wrap="square" lIns="0" tIns="0" rIns="0" bIns="0" rtlCol="0" anchor="ctr"/>
          <a:lstStyle/>
          <a:p>
            <a:pPr indent="0" marL="0">
              <a:buNone/>
            </a:pPr>
            <a:r>
              <a:rPr lang="en-US" sz="1500" b="1" dirty="0">
                <a:solidFill>
                  <a:srgbClr val="00A86A"/>
                </a:solidFill>
                <a:latin typeface="Calibri" pitchFamily="34" charset="0"/>
                <a:ea typeface="Calibri" pitchFamily="34" charset="-122"/>
                <a:cs typeface="Calibri" pitchFamily="34" charset="-120"/>
              </a:rPr>
              <a:t>&gt; 100</a:t>
            </a:r>
            <a:endParaRPr lang="en-US" sz="1500" dirty="0"/>
          </a:p>
        </p:txBody>
      </p:sp>
      <p:sp>
        <p:nvSpPr>
          <p:cNvPr id="34" name="Text 27"/>
          <p:cNvSpPr txBox="1"/>
          <p:nvPr/>
        </p:nvSpPr>
        <p:spPr>
          <a:xfrm>
            <a:off x="5440680" y="2523744"/>
            <a:ext cx="3154680" cy="329184"/>
          </a:xfrm>
          <a:prstGeom prst="rect">
            <a:avLst/>
          </a:prstGeom>
          <a:noFill/>
          <a:ln/>
        </p:spPr>
        <p:txBody>
          <a:bodyPr wrap="square" lIns="0" tIns="0" rIns="0" bIns="0" rtlCol="0" anchor="ctr"/>
          <a:lstStyle/>
          <a:p>
            <a:pPr indent="0" marL="0">
              <a:buNone/>
            </a:pPr>
            <a:r>
              <a:rPr lang="en-US" sz="1000" dirty="0">
                <a:solidFill>
                  <a:srgbClr val="231F20"/>
                </a:solidFill>
                <a:latin typeface="Calibri" pitchFamily="34" charset="0"/>
                <a:ea typeface="Calibri" pitchFamily="34" charset="-122"/>
                <a:cs typeface="Calibri" pitchFamily="34" charset="-120"/>
              </a:rPr>
              <a:t>activité supérieure à l'an passé (reprise, électrification)</a:t>
            </a:r>
            <a:endParaRPr lang="en-US" sz="1000" dirty="0"/>
          </a:p>
        </p:txBody>
      </p:sp>
      <p:sp>
        <p:nvSpPr>
          <p:cNvPr id="35" name="Shape 28"/>
          <p:cNvSpPr/>
          <p:nvPr/>
        </p:nvSpPr>
        <p:spPr>
          <a:xfrm>
            <a:off x="4526280" y="3108960"/>
            <a:ext cx="4160520" cy="1325880"/>
          </a:xfrm>
          <a:prstGeom prst="roundRect">
            <a:avLst>
              <a:gd name="adj" fmla="val 5517"/>
            </a:avLst>
          </a:prstGeom>
          <a:solidFill>
            <a:srgbClr val="F4F7F5"/>
          </a:solidFill>
          <a:ln w="9525">
            <a:solidFill>
              <a:srgbClr val="D5DED9"/>
            </a:solidFill>
            <a:prstDash val="solid"/>
          </a:ln>
        </p:spPr>
      </p:sp>
      <p:sp>
        <p:nvSpPr>
          <p:cNvPr id="36" name="Text 29"/>
          <p:cNvSpPr txBox="1"/>
          <p:nvPr/>
        </p:nvSpPr>
        <p:spPr>
          <a:xfrm>
            <a:off x="4681728" y="3182112"/>
            <a:ext cx="3840480" cy="256032"/>
          </a:xfrm>
          <a:prstGeom prst="rect">
            <a:avLst/>
          </a:prstGeom>
          <a:noFill/>
          <a:ln/>
        </p:spPr>
        <p:txBody>
          <a:bodyPr wrap="square" lIns="0" tIns="0" rIns="0" bIns="0" rtlCol="0" anchor="t"/>
          <a:lstStyle/>
          <a:p>
            <a:pPr indent="0" marL="0">
              <a:buNone/>
            </a:pPr>
            <a:r>
              <a:rPr lang="en-US" sz="1200" b="1" dirty="0">
                <a:solidFill>
                  <a:srgbClr val="231F20"/>
                </a:solidFill>
                <a:latin typeface="Calibri" pitchFamily="34" charset="0"/>
                <a:ea typeface="Calibri" pitchFamily="34" charset="-122"/>
                <a:cs typeface="Calibri" pitchFamily="34" charset="-120"/>
              </a:rPr>
              <a:t>Impact régional et ruptures inexpliquées</a:t>
            </a:r>
            <a:endParaRPr lang="en-US" sz="1200" dirty="0"/>
          </a:p>
        </p:txBody>
      </p:sp>
      <p:sp>
        <p:nvSpPr>
          <p:cNvPr id="37" name="Text 30"/>
          <p:cNvSpPr txBox="1"/>
          <p:nvPr/>
        </p:nvSpPr>
        <p:spPr>
          <a:xfrm>
            <a:off x="4681728" y="3474720"/>
            <a:ext cx="3886200" cy="914400"/>
          </a:xfrm>
          <a:prstGeom prst="rect">
            <a:avLst/>
          </a:prstGeom>
          <a:noFill/>
          <a:ln/>
        </p:spPr>
        <p:txBody>
          <a:bodyPr wrap="square" lIns="0" tIns="0" rIns="0" bIns="0" rtlCol="0" anchor="t"/>
          <a:lstStyle/>
          <a:p>
            <a:pPr marL="171450" indent="-171450">
              <a:spcAft>
                <a:spcPts val="400"/>
              </a:spcAft>
              <a:buSzPct val="100000"/>
              <a:buChar char="•"/>
            </a:pPr>
            <a:r>
              <a:rPr lang="en-US" sz="1000" dirty="0">
                <a:solidFill>
                  <a:srgbClr val="5E6964"/>
                </a:solidFill>
                <a:latin typeface="Calibri" pitchFamily="34" charset="0"/>
                <a:ea typeface="Calibri" pitchFamily="34" charset="-122"/>
                <a:cs typeface="Calibri" pitchFamily="34" charset="-120"/>
              </a:rPr>
              <a:t>Tableau de chaleur : creux % par ADM1 × événement (−30 % → +30 %).</a:t>
            </a:r>
            <a:endParaRPr lang="en-US" sz="1000" dirty="0"/>
          </a:p>
          <a:p>
            <a:pPr marL="171450" indent="-171450">
              <a:spcAft>
                <a:spcPts val="400"/>
              </a:spcAft>
              <a:buSzPct val="100000"/>
              <a:buChar char="•"/>
            </a:pPr>
            <a:r>
              <a:rPr lang="en-US" sz="1000" dirty="0">
                <a:solidFill>
                  <a:srgbClr val="5E6964"/>
                </a:solidFill>
                <a:latin typeface="Calibri" pitchFamily="34" charset="0"/>
                <a:ea typeface="Calibri" pitchFamily="34" charset="-122"/>
                <a:cs typeface="Calibri" pitchFamily="34" charset="-120"/>
              </a:rPr>
              <a:t>Ruptures sans événement catalogué à ±6 mois → documenter avant d'interpréter.</a:t>
            </a:r>
            <a:endParaRPr lang="en-US" sz="10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8A9590"/>
                </a:solidFill>
                <a:latin typeface="Calibri"/>
                <a:ea typeface="Calibri"/>
                <a:cs typeface="Calibri"/>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3"/>
          <p:cNvSpPr/>
          <p:nvPr>
            <p:ph idx="105" type="body" hasCustomPrompt="1"/>
          </p:nvPr>
        </p:nvSpPr>
        <p:spPr>
          <a:xfrm>
            <a:off x="457200" y="274320"/>
            <a:ext cx="6217920" cy="256032"/>
          </a:xfrm>
          <a:prstGeom prst="rect">
            <a:avLst/>
          </a:prstGeom>
          <a:noFill/>
          <a:ln/>
        </p:spPr>
        <p:txBody>
          <a:bodyPr wrap="square" lIns="0" tIns="0" rIns="0" bIns="0" rtlCol="0" anchor="ctr"/>
          <a:lstStyle/>
          <a:p>
            <a:pPr algn="l" indent="0" marL="0">
              <a:buNone/>
            </a:pPr>
            <a:r>
              <a:rPr lang="en-US" sz="1050" b="1" spc="300" kern="0" dirty="0">
                <a:solidFill>
                  <a:srgbClr val="00704A"/>
                </a:solidFill>
                <a:latin typeface="Calibri" pitchFamily="34" charset="0"/>
                <a:ea typeface="Calibri" pitchFamily="34" charset="-122"/>
                <a:cs typeface="Calibri" pitchFamily="34" charset="-120"/>
              </a:rPr>
              <a:t>04 · ANALYSER · SCÉNARIO 5</a:t>
            </a:r>
            <a:endParaRPr lang="en-US" sz="1050" dirty="0"/>
          </a:p>
        </p:txBody>
      </p:sp>
      <p:sp>
        <p:nvSpPr>
          <p:cNvPr id="3" name="Text 3"/>
          <p:cNvSpPr/>
          <p:nvPr>
            <p:ph idx="106" type="title" hasCustomPrompt="1"/>
          </p:nvPr>
        </p:nvSpPr>
        <p:spPr>
          <a:xfrm>
            <a:off x="457200" y="548640"/>
            <a:ext cx="8229600" cy="566928"/>
          </a:xfrm>
          <a:prstGeom prst="rect">
            <a:avLst/>
          </a:prstGeom>
          <a:noFill/>
          <a:ln/>
        </p:spPr>
        <p:txBody>
          <a:bodyPr wrap="square" lIns="0" tIns="0" rIns="0" bIns="0" rtlCol="0" anchor="ctr"/>
          <a:lstStyle/>
          <a:p>
            <a:pPr algn="l" indent="0" marL="0">
              <a:buNone/>
            </a:pPr>
            <a:r>
              <a:rPr lang="en-US" sz="2800" b="1" dirty="0">
                <a:solidFill>
                  <a:srgbClr val="231F20"/>
                </a:solidFill>
                <a:latin typeface="Calibri" pitchFamily="34" charset="0"/>
                <a:ea typeface="Calibri" pitchFamily="34" charset="-122"/>
                <a:cs typeface="Calibri" pitchFamily="34" charset="-120"/>
              </a:rPr>
              <a:t>Inégalités : la lumière est-elle inégalement répartie ?</a:t>
            </a:r>
            <a:endParaRPr lang="en-US" sz="2800" dirty="0"/>
          </a:p>
        </p:txBody>
      </p:sp>
      <p:sp>
        <p:nvSpPr>
          <p:cNvPr id="4" name="dot0"/>
          <p:cNvSpPr/>
          <p:nvPr/>
        </p:nvSpPr>
        <p:spPr>
          <a:xfrm>
            <a:off x="7644384" y="338328"/>
            <a:ext cx="100584" cy="100584"/>
          </a:xfrm>
          <a:prstGeom prst="ellipse">
            <a:avLst/>
          </a:prstGeom>
          <a:solidFill>
            <a:srgbClr val="D5DED9"/>
          </a:solidFill>
          <a:ln w="12700">
            <a:solidFill>
              <a:srgbClr val="D5DED9"/>
            </a:solidFill>
            <a:prstDash val="solid"/>
          </a:ln>
        </p:spPr>
      </p:sp>
      <p:sp>
        <p:nvSpPr>
          <p:cNvPr id="5" name="dot1"/>
          <p:cNvSpPr/>
          <p:nvPr/>
        </p:nvSpPr>
        <p:spPr>
          <a:xfrm>
            <a:off x="7818120" y="338328"/>
            <a:ext cx="100584" cy="100584"/>
          </a:xfrm>
          <a:prstGeom prst="ellipse">
            <a:avLst/>
          </a:prstGeom>
          <a:solidFill>
            <a:srgbClr val="D5DED9"/>
          </a:solidFill>
          <a:ln w="12700">
            <a:solidFill>
              <a:srgbClr val="D5DED9"/>
            </a:solidFill>
            <a:prstDash val="solid"/>
          </a:ln>
        </p:spPr>
      </p:sp>
      <p:sp>
        <p:nvSpPr>
          <p:cNvPr id="6" name="dot2"/>
          <p:cNvSpPr/>
          <p:nvPr/>
        </p:nvSpPr>
        <p:spPr>
          <a:xfrm>
            <a:off x="7991856" y="338328"/>
            <a:ext cx="100584" cy="100584"/>
          </a:xfrm>
          <a:prstGeom prst="ellipse">
            <a:avLst/>
          </a:prstGeom>
          <a:solidFill>
            <a:srgbClr val="D5DED9"/>
          </a:solidFill>
          <a:ln w="12700">
            <a:solidFill>
              <a:srgbClr val="D5DED9"/>
            </a:solidFill>
            <a:prstDash val="solid"/>
          </a:ln>
        </p:spPr>
      </p:sp>
      <p:sp>
        <p:nvSpPr>
          <p:cNvPr id="7" name="dot3"/>
          <p:cNvSpPr/>
          <p:nvPr/>
        </p:nvSpPr>
        <p:spPr>
          <a:xfrm>
            <a:off x="8165592" y="338328"/>
            <a:ext cx="100584" cy="100584"/>
          </a:xfrm>
          <a:prstGeom prst="ellipse">
            <a:avLst/>
          </a:prstGeom>
          <a:solidFill>
            <a:srgbClr val="D49A00"/>
          </a:solidFill>
          <a:ln w="12700">
            <a:solidFill>
              <a:srgbClr val="D49A00"/>
            </a:solidFill>
            <a:prstDash val="solid"/>
          </a:ln>
        </p:spPr>
      </p:sp>
      <p:sp>
        <p:nvSpPr>
          <p:cNvPr id="8" name="dot4"/>
          <p:cNvSpPr/>
          <p:nvPr/>
        </p:nvSpPr>
        <p:spPr>
          <a:xfrm>
            <a:off x="8339328" y="338328"/>
            <a:ext cx="100584" cy="100584"/>
          </a:xfrm>
          <a:prstGeom prst="ellipse">
            <a:avLst/>
          </a:prstGeom>
          <a:solidFill>
            <a:srgbClr val="D5DED9"/>
          </a:solidFill>
          <a:ln w="12700">
            <a:solidFill>
              <a:srgbClr val="D5DED9"/>
            </a:solidFill>
            <a:prstDash val="solid"/>
          </a:ln>
        </p:spPr>
      </p:sp>
      <p:sp>
        <p:nvSpPr>
          <p:cNvPr id="9" name="dot5"/>
          <p:cNvSpPr/>
          <p:nvPr/>
        </p:nvSpPr>
        <p:spPr>
          <a:xfrm>
            <a:off x="8513064" y="338328"/>
            <a:ext cx="100584" cy="100584"/>
          </a:xfrm>
          <a:prstGeom prst="ellipse">
            <a:avLst/>
          </a:prstGeom>
          <a:solidFill>
            <a:srgbClr val="D5DED9"/>
          </a:solidFill>
          <a:ln w="12700">
            <a:solidFill>
              <a:srgbClr val="D5DED9"/>
            </a:solidFill>
            <a:prstDash val="solid"/>
          </a:ln>
        </p:spPr>
      </p:sp>
      <p:sp>
        <p:nvSpPr>
          <p:cNvPr id="11" name="Shape 8"/>
          <p:cNvSpPr/>
          <p:nvPr/>
        </p:nvSpPr>
        <p:spPr>
          <a:xfrm>
            <a:off x="457200" y="1325880"/>
            <a:ext cx="3429000" cy="960120"/>
          </a:xfrm>
          <a:prstGeom prst="roundRect">
            <a:avLst>
              <a:gd name="adj" fmla="val 7619"/>
            </a:avLst>
          </a:prstGeom>
          <a:solidFill>
            <a:srgbClr val="E8F5EF"/>
          </a:solidFill>
          <a:ln w="15875">
            <a:solidFill>
              <a:srgbClr val="D49A00"/>
            </a:solidFill>
            <a:prstDash val="solid"/>
          </a:ln>
        </p:spPr>
      </p:sp>
      <p:sp>
        <p:nvSpPr>
          <p:cNvPr id="12" name="Text 9"/>
          <p:cNvSpPr txBox="1"/>
          <p:nvPr/>
        </p:nvSpPr>
        <p:spPr>
          <a:xfrm>
            <a:off x="621792" y="1399032"/>
            <a:ext cx="3108960" cy="219456"/>
          </a:xfrm>
          <a:prstGeom prst="rect">
            <a:avLst/>
          </a:prstGeom>
          <a:noFill/>
          <a:ln/>
        </p:spPr>
        <p:txBody>
          <a:bodyPr wrap="square" lIns="0" tIns="0" rIns="0" bIns="0" rtlCol="0" anchor="ctr"/>
          <a:lstStyle/>
          <a:p>
            <a:pPr indent="0" marL="0">
              <a:buNone/>
            </a:pPr>
            <a:r>
              <a:rPr lang="en-US" sz="900" b="1" spc="200" kern="0" dirty="0">
                <a:solidFill>
                  <a:srgbClr val="D49A00"/>
                </a:solidFill>
                <a:latin typeface="Calibri" pitchFamily="34" charset="0"/>
                <a:ea typeface="Calibri" pitchFamily="34" charset="-122"/>
                <a:cs typeface="Calibri" pitchFamily="34" charset="-120"/>
              </a:rPr>
              <a:t>QUESTION</a:t>
            </a:r>
            <a:endParaRPr lang="en-US" sz="900" dirty="0"/>
          </a:p>
        </p:txBody>
      </p:sp>
      <p:sp>
        <p:nvSpPr>
          <p:cNvPr id="13" name="Text 10"/>
          <p:cNvSpPr txBox="1"/>
          <p:nvPr/>
        </p:nvSpPr>
        <p:spPr>
          <a:xfrm>
            <a:off x="621792" y="1627632"/>
            <a:ext cx="3154680" cy="621792"/>
          </a:xfrm>
          <a:prstGeom prst="rect">
            <a:avLst/>
          </a:prstGeom>
          <a:noFill/>
          <a:ln/>
        </p:spPr>
        <p:txBody>
          <a:bodyPr wrap="square" lIns="0" tIns="0" rIns="0" bIns="0" rtlCol="0" anchor="ctr"/>
          <a:lstStyle/>
          <a:p>
            <a:pPr indent="0" marL="0">
              <a:buNone/>
            </a:pPr>
            <a:r>
              <a:rPr lang="en-US" sz="1250" b="1" i="1" dirty="0">
                <a:solidFill>
                  <a:srgbClr val="231F20"/>
                </a:solidFill>
                <a:latin typeface="Calibri" pitchFamily="34" charset="0"/>
                <a:ea typeface="Calibri" pitchFamily="34" charset="-122"/>
                <a:cs typeface="Calibri" pitchFamily="34" charset="-120"/>
              </a:rPr>
              <a:t>La lumière par habitant est-elle concentrée en quelques lieux, et à quel niveau agir ?</a:t>
            </a:r>
            <a:endParaRPr lang="en-US" sz="1250" dirty="0"/>
          </a:p>
        </p:txBody>
      </p:sp>
      <p:sp>
        <p:nvSpPr>
          <p:cNvPr id="14" name="Text 11"/>
          <p:cNvSpPr txBox="1"/>
          <p:nvPr/>
        </p:nvSpPr>
        <p:spPr>
          <a:xfrm>
            <a:off x="457200" y="2395728"/>
            <a:ext cx="3383280" cy="219456"/>
          </a:xfrm>
          <a:prstGeom prst="rect">
            <a:avLst/>
          </a:prstGeom>
          <a:noFill/>
          <a:ln/>
        </p:spPr>
        <p:txBody>
          <a:bodyPr wrap="square" lIns="0" tIns="0" rIns="0" bIns="0" rtlCol="0" anchor="ctr"/>
          <a:lstStyle/>
          <a:p>
            <a:pPr indent="0" marL="0">
              <a:buNone/>
            </a:pPr>
            <a:r>
              <a:rPr lang="en-US" sz="900" b="1" spc="200" kern="0" dirty="0">
                <a:solidFill>
                  <a:srgbClr val="00704A"/>
                </a:solidFill>
                <a:latin typeface="Calibri" pitchFamily="34" charset="0"/>
                <a:ea typeface="Calibri" pitchFamily="34" charset="-122"/>
                <a:cs typeface="Calibri" pitchFamily="34" charset="-120"/>
              </a:rPr>
              <a:t>DONNÉES UTILISÉES</a:t>
            </a:r>
            <a:endParaRPr lang="en-US" sz="900" dirty="0"/>
          </a:p>
        </p:txBody>
      </p:sp>
      <p:sp>
        <p:nvSpPr>
          <p:cNvPr id="15" name="Shape 12"/>
          <p:cNvSpPr/>
          <p:nvPr/>
        </p:nvSpPr>
        <p:spPr>
          <a:xfrm>
            <a:off x="457200" y="2670048"/>
            <a:ext cx="347472" cy="347472"/>
          </a:xfrm>
          <a:prstGeom prst="ellipse">
            <a:avLst/>
          </a:prstGeom>
          <a:solidFill>
            <a:srgbClr val="D49A00">
              <a:alpha val="22000"/>
            </a:srgbClr>
          </a:solidFill>
          <a:ln w="12700">
            <a:solidFill>
              <a:srgbClr val="D49A00">
                <a:alpha val="0"/>
              </a:srgbClr>
            </a:solidFill>
            <a:prstDash val="solid"/>
          </a:ln>
        </p:spPr>
      </p:sp>
      <p:pic>
        <p:nvPicPr>
          <p:cNvPr id="16" name="Image 0" descr="preencoded.png">    </p:cNvPr>
          <p:cNvPicPr>
            <a:picLocks noChangeAspect="1"/>
          </p:cNvPicPr>
          <p:nvPr/>
        </p:nvPicPr>
        <p:blipFill>
          <a:blip r:embed="rId1"/>
          <a:stretch>
            <a:fillRect/>
          </a:stretch>
        </p:blipFill>
        <p:spPr>
          <a:xfrm>
            <a:off x="540593" y="2753441"/>
            <a:ext cx="180685" cy="180685"/>
          </a:xfrm>
          <a:prstGeom prst="rect">
            <a:avLst/>
          </a:prstGeom>
        </p:spPr>
      </p:pic>
      <p:sp>
        <p:nvSpPr>
          <p:cNvPr id="17" name="Text 13"/>
          <p:cNvSpPr txBox="1"/>
          <p:nvPr/>
        </p:nvSpPr>
        <p:spPr>
          <a:xfrm>
            <a:off x="896112" y="2651760"/>
            <a:ext cx="2971800" cy="201168"/>
          </a:xfrm>
          <a:prstGeom prst="rect">
            <a:avLst/>
          </a:prstGeom>
          <a:noFill/>
          <a:ln/>
        </p:spPr>
        <p:txBody>
          <a:bodyPr wrap="square" lIns="0" tIns="0" rIns="0" bIns="0" rtlCol="0" anchor="t"/>
          <a:lstStyle/>
          <a:p>
            <a:pPr indent="0" marL="0">
              <a:buNone/>
            </a:pPr>
            <a:r>
              <a:rPr lang="en-US" sz="1050" b="1" dirty="0">
                <a:solidFill>
                  <a:srgbClr val="231F20"/>
                </a:solidFill>
                <a:latin typeface="Calibri" pitchFamily="34" charset="0"/>
                <a:ea typeface="Calibri" pitchFamily="34" charset="-122"/>
                <a:cs typeface="Calibri" pitchFamily="34" charset="-120"/>
              </a:rPr>
              <a:t>VIIRS VNL annuel</a:t>
            </a:r>
            <a:endParaRPr lang="en-US" sz="1050" dirty="0"/>
          </a:p>
        </p:txBody>
      </p:sp>
      <p:sp>
        <p:nvSpPr>
          <p:cNvPr id="18" name="Text 14"/>
          <p:cNvSpPr txBox="1"/>
          <p:nvPr/>
        </p:nvSpPr>
        <p:spPr>
          <a:xfrm>
            <a:off x="896112" y="2843784"/>
            <a:ext cx="2971800" cy="228600"/>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SoL par district (niveau le plus fin)</a:t>
            </a:r>
            <a:endParaRPr lang="en-US" sz="900" dirty="0"/>
          </a:p>
        </p:txBody>
      </p:sp>
      <p:sp>
        <p:nvSpPr>
          <p:cNvPr id="19" name="Shape 15"/>
          <p:cNvSpPr/>
          <p:nvPr/>
        </p:nvSpPr>
        <p:spPr>
          <a:xfrm>
            <a:off x="457200" y="3127248"/>
            <a:ext cx="347472" cy="347472"/>
          </a:xfrm>
          <a:prstGeom prst="ellipse">
            <a:avLst/>
          </a:prstGeom>
          <a:solidFill>
            <a:srgbClr val="D49A00">
              <a:alpha val="22000"/>
            </a:srgbClr>
          </a:solidFill>
          <a:ln w="12700">
            <a:solidFill>
              <a:srgbClr val="D49A00">
                <a:alpha val="0"/>
              </a:srgbClr>
            </a:solidFill>
            <a:prstDash val="solid"/>
          </a:ln>
        </p:spPr>
      </p:sp>
      <p:pic>
        <p:nvPicPr>
          <p:cNvPr id="20" name="Image 1" descr="preencoded.png">    </p:cNvPr>
          <p:cNvPicPr>
            <a:picLocks noChangeAspect="1"/>
          </p:cNvPicPr>
          <p:nvPr/>
        </p:nvPicPr>
        <p:blipFill>
          <a:blip r:embed="rId2"/>
          <a:stretch>
            <a:fillRect/>
          </a:stretch>
        </p:blipFill>
        <p:spPr>
          <a:xfrm>
            <a:off x="540593" y="3210641"/>
            <a:ext cx="180685" cy="180685"/>
          </a:xfrm>
          <a:prstGeom prst="rect">
            <a:avLst/>
          </a:prstGeom>
        </p:spPr>
      </p:pic>
      <p:sp>
        <p:nvSpPr>
          <p:cNvPr id="21" name="Text 16"/>
          <p:cNvSpPr txBox="1"/>
          <p:nvPr/>
        </p:nvSpPr>
        <p:spPr>
          <a:xfrm>
            <a:off x="896112" y="3108960"/>
            <a:ext cx="2971800" cy="201168"/>
          </a:xfrm>
          <a:prstGeom prst="rect">
            <a:avLst/>
          </a:prstGeom>
          <a:noFill/>
          <a:ln/>
        </p:spPr>
        <p:txBody>
          <a:bodyPr wrap="square" lIns="0" tIns="0" rIns="0" bIns="0" rtlCol="0" anchor="t"/>
          <a:lstStyle/>
          <a:p>
            <a:pPr indent="0" marL="0">
              <a:buNone/>
            </a:pPr>
            <a:r>
              <a:rPr lang="en-US" sz="1050" b="1" dirty="0">
                <a:solidFill>
                  <a:srgbClr val="231F20"/>
                </a:solidFill>
                <a:latin typeface="Calibri" pitchFamily="34" charset="0"/>
                <a:ea typeface="Calibri" pitchFamily="34" charset="-122"/>
                <a:cs typeface="Calibri" pitchFamily="34" charset="-120"/>
              </a:rPr>
              <a:t>GHS-POP</a:t>
            </a:r>
            <a:endParaRPr lang="en-US" sz="1050" dirty="0"/>
          </a:p>
        </p:txBody>
      </p:sp>
      <p:sp>
        <p:nvSpPr>
          <p:cNvPr id="22" name="Text 17"/>
          <p:cNvSpPr txBox="1"/>
          <p:nvPr/>
        </p:nvSpPr>
        <p:spPr>
          <a:xfrm>
            <a:off x="896112" y="3300984"/>
            <a:ext cx="2971800" cy="228600"/>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poids de population, lumière par habitant</a:t>
            </a:r>
            <a:endParaRPr lang="en-US" sz="900" dirty="0"/>
          </a:p>
        </p:txBody>
      </p:sp>
      <p:sp>
        <p:nvSpPr>
          <p:cNvPr id="23" name="Shape 18"/>
          <p:cNvSpPr/>
          <p:nvPr/>
        </p:nvSpPr>
        <p:spPr>
          <a:xfrm>
            <a:off x="457200" y="3584448"/>
            <a:ext cx="347472" cy="347472"/>
          </a:xfrm>
          <a:prstGeom prst="ellipse">
            <a:avLst/>
          </a:prstGeom>
          <a:solidFill>
            <a:srgbClr val="D49A00">
              <a:alpha val="22000"/>
            </a:srgbClr>
          </a:solidFill>
          <a:ln w="12700">
            <a:solidFill>
              <a:srgbClr val="D49A00">
                <a:alpha val="0"/>
              </a:srgbClr>
            </a:solidFill>
            <a:prstDash val="solid"/>
          </a:ln>
        </p:spPr>
      </p:sp>
      <p:pic>
        <p:nvPicPr>
          <p:cNvPr id="24" name="Image 2" descr="preencoded.png">    </p:cNvPr>
          <p:cNvPicPr>
            <a:picLocks noChangeAspect="1"/>
          </p:cNvPicPr>
          <p:nvPr/>
        </p:nvPicPr>
        <p:blipFill>
          <a:blip r:embed="rId3"/>
          <a:stretch>
            <a:fillRect/>
          </a:stretch>
        </p:blipFill>
        <p:spPr>
          <a:xfrm>
            <a:off x="540593" y="3667841"/>
            <a:ext cx="180685" cy="180685"/>
          </a:xfrm>
          <a:prstGeom prst="rect">
            <a:avLst/>
          </a:prstGeom>
        </p:spPr>
      </p:pic>
      <p:sp>
        <p:nvSpPr>
          <p:cNvPr id="25" name="Text 19"/>
          <p:cNvSpPr txBox="1"/>
          <p:nvPr/>
        </p:nvSpPr>
        <p:spPr>
          <a:xfrm>
            <a:off x="896112" y="3566160"/>
            <a:ext cx="2971800" cy="201168"/>
          </a:xfrm>
          <a:prstGeom prst="rect">
            <a:avLst/>
          </a:prstGeom>
          <a:noFill/>
          <a:ln/>
        </p:spPr>
        <p:txBody>
          <a:bodyPr wrap="square" lIns="0" tIns="0" rIns="0" bIns="0" rtlCol="0" anchor="t"/>
          <a:lstStyle/>
          <a:p>
            <a:pPr indent="0" marL="0">
              <a:buNone/>
            </a:pPr>
            <a:r>
              <a:rPr lang="en-US" sz="1050" b="1" dirty="0">
                <a:solidFill>
                  <a:srgbClr val="231F20"/>
                </a:solidFill>
                <a:latin typeface="Calibri" pitchFamily="34" charset="0"/>
                <a:ea typeface="Calibri" pitchFamily="34" charset="-122"/>
                <a:cs typeface="Calibri" pitchFamily="34" charset="-120"/>
              </a:rPr>
              <a:t>GHS-SMOD</a:t>
            </a:r>
            <a:endParaRPr lang="en-US" sz="1050" dirty="0"/>
          </a:p>
        </p:txBody>
      </p:sp>
      <p:sp>
        <p:nvSpPr>
          <p:cNvPr id="26" name="Text 20"/>
          <p:cNvSpPr txBox="1"/>
          <p:nvPr/>
        </p:nvSpPr>
        <p:spPr>
          <a:xfrm>
            <a:off x="896112" y="3758184"/>
            <a:ext cx="2971800" cy="228600"/>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urbain si code ≥ 21</a:t>
            </a:r>
            <a:endParaRPr lang="en-US" sz="900" dirty="0"/>
          </a:p>
        </p:txBody>
      </p:sp>
      <p:sp>
        <p:nvSpPr>
          <p:cNvPr id="27" name="Text 21"/>
          <p:cNvSpPr txBox="1"/>
          <p:nvPr/>
        </p:nvSpPr>
        <p:spPr>
          <a:xfrm>
            <a:off x="4206240" y="1325880"/>
            <a:ext cx="4480560" cy="219456"/>
          </a:xfrm>
          <a:prstGeom prst="rect">
            <a:avLst/>
          </a:prstGeom>
          <a:noFill/>
          <a:ln/>
        </p:spPr>
        <p:txBody>
          <a:bodyPr wrap="square" lIns="0" tIns="0" rIns="0" bIns="0" rtlCol="0" anchor="ctr"/>
          <a:lstStyle/>
          <a:p>
            <a:pPr indent="0" marL="0">
              <a:buNone/>
            </a:pPr>
            <a:r>
              <a:rPr lang="en-US" sz="900" b="1" spc="200" kern="0" dirty="0">
                <a:solidFill>
                  <a:srgbClr val="00704A"/>
                </a:solidFill>
                <a:latin typeface="Calibri" pitchFamily="34" charset="0"/>
                <a:ea typeface="Calibri" pitchFamily="34" charset="-122"/>
                <a:cs typeface="Calibri" pitchFamily="34" charset="-120"/>
              </a:rPr>
              <a:t>MÉTHODE, PAS À PAS</a:t>
            </a:r>
            <a:endParaRPr lang="en-US" sz="900" dirty="0"/>
          </a:p>
        </p:txBody>
      </p:sp>
      <p:sp>
        <p:nvSpPr>
          <p:cNvPr id="28" name="Shape 22"/>
          <p:cNvSpPr/>
          <p:nvPr/>
        </p:nvSpPr>
        <p:spPr>
          <a:xfrm>
            <a:off x="4206240" y="1645920"/>
            <a:ext cx="329184" cy="329184"/>
          </a:xfrm>
          <a:prstGeom prst="ellipse">
            <a:avLst/>
          </a:prstGeom>
          <a:solidFill>
            <a:srgbClr val="D49A00"/>
          </a:solidFill>
          <a:ln w="12700">
            <a:solidFill>
              <a:srgbClr val="D49A00"/>
            </a:solidFill>
            <a:prstDash val="solid"/>
          </a:ln>
        </p:spPr>
      </p:sp>
      <p:sp>
        <p:nvSpPr>
          <p:cNvPr id="29" name="Text 23"/>
          <p:cNvSpPr txBox="1"/>
          <p:nvPr/>
        </p:nvSpPr>
        <p:spPr>
          <a:xfrm>
            <a:off x="4206240" y="1645920"/>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30" name="Shape 24"/>
          <p:cNvSpPr/>
          <p:nvPr/>
        </p:nvSpPr>
        <p:spPr>
          <a:xfrm>
            <a:off x="4370832" y="1993392"/>
            <a:ext cx="0" cy="237744"/>
          </a:xfrm>
          <a:prstGeom prst="line">
            <a:avLst/>
          </a:prstGeom>
          <a:noFill/>
          <a:ln w="15875">
            <a:solidFill>
              <a:srgbClr val="D5DED9"/>
            </a:solidFill>
            <a:prstDash val="solid"/>
          </a:ln>
        </p:spPr>
      </p:sp>
      <p:sp>
        <p:nvSpPr>
          <p:cNvPr id="31" name="Text 25"/>
          <p:cNvSpPr txBox="1"/>
          <p:nvPr/>
        </p:nvSpPr>
        <p:spPr>
          <a:xfrm>
            <a:off x="4663440" y="1627632"/>
            <a:ext cx="4023360" cy="219456"/>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Lumière par habitant par district</a:t>
            </a:r>
            <a:endParaRPr lang="en-US" sz="1150" dirty="0"/>
          </a:p>
        </p:txBody>
      </p:sp>
      <p:sp>
        <p:nvSpPr>
          <p:cNvPr id="32" name="Text 26"/>
          <p:cNvSpPr txBox="1"/>
          <p:nvPr/>
        </p:nvSpPr>
        <p:spPr>
          <a:xfrm>
            <a:off x="4663440" y="1847088"/>
            <a:ext cx="4023360" cy="365760"/>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xᵢ = SoLᵢ / popᵢ, poids wᵢ = popᵢ</a:t>
            </a:r>
            <a:endParaRPr lang="en-US" sz="950" dirty="0"/>
          </a:p>
        </p:txBody>
      </p:sp>
      <p:sp>
        <p:nvSpPr>
          <p:cNvPr id="33" name="Shape 27"/>
          <p:cNvSpPr/>
          <p:nvPr/>
        </p:nvSpPr>
        <p:spPr>
          <a:xfrm>
            <a:off x="4206240" y="2249424"/>
            <a:ext cx="329184" cy="329184"/>
          </a:xfrm>
          <a:prstGeom prst="ellipse">
            <a:avLst/>
          </a:prstGeom>
          <a:solidFill>
            <a:srgbClr val="D49A00"/>
          </a:solidFill>
          <a:ln w="12700">
            <a:solidFill>
              <a:srgbClr val="D49A00"/>
            </a:solidFill>
            <a:prstDash val="solid"/>
          </a:ln>
        </p:spPr>
      </p:sp>
      <p:sp>
        <p:nvSpPr>
          <p:cNvPr id="34" name="Text 28"/>
          <p:cNvSpPr txBox="1"/>
          <p:nvPr/>
        </p:nvSpPr>
        <p:spPr>
          <a:xfrm>
            <a:off x="4206240" y="2249424"/>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5" name="Shape 29"/>
          <p:cNvSpPr/>
          <p:nvPr/>
        </p:nvSpPr>
        <p:spPr>
          <a:xfrm>
            <a:off x="4370832" y="2596896"/>
            <a:ext cx="0" cy="237744"/>
          </a:xfrm>
          <a:prstGeom prst="line">
            <a:avLst/>
          </a:prstGeom>
          <a:noFill/>
          <a:ln w="15875">
            <a:solidFill>
              <a:srgbClr val="D5DED9"/>
            </a:solidFill>
            <a:prstDash val="solid"/>
          </a:ln>
        </p:spPr>
      </p:sp>
      <p:sp>
        <p:nvSpPr>
          <p:cNvPr id="36" name="Text 30"/>
          <p:cNvSpPr txBox="1"/>
          <p:nvPr/>
        </p:nvSpPr>
        <p:spPr>
          <a:xfrm>
            <a:off x="4663440" y="2231136"/>
            <a:ext cx="4023360" cy="219456"/>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Gini et courbe de Lorenz</a:t>
            </a:r>
            <a:endParaRPr lang="en-US" sz="1150" dirty="0"/>
          </a:p>
        </p:txBody>
      </p:sp>
      <p:sp>
        <p:nvSpPr>
          <p:cNvPr id="37" name="Text 31"/>
          <p:cNvSpPr txBox="1"/>
          <p:nvPr/>
        </p:nvSpPr>
        <p:spPr>
          <a:xfrm>
            <a:off x="4663440" y="2450592"/>
            <a:ext cx="4023360" cy="365760"/>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Part cumulée de population vs part cumulée de lumière</a:t>
            </a:r>
            <a:endParaRPr lang="en-US" sz="950" dirty="0"/>
          </a:p>
        </p:txBody>
      </p:sp>
      <p:sp>
        <p:nvSpPr>
          <p:cNvPr id="38" name="Shape 32"/>
          <p:cNvSpPr/>
          <p:nvPr/>
        </p:nvSpPr>
        <p:spPr>
          <a:xfrm>
            <a:off x="4206240" y="2852928"/>
            <a:ext cx="329184" cy="329184"/>
          </a:xfrm>
          <a:prstGeom prst="ellipse">
            <a:avLst/>
          </a:prstGeom>
          <a:solidFill>
            <a:srgbClr val="D49A00"/>
          </a:solidFill>
          <a:ln w="12700">
            <a:solidFill>
              <a:srgbClr val="D49A00"/>
            </a:solidFill>
            <a:prstDash val="solid"/>
          </a:ln>
        </p:spPr>
      </p:sp>
      <p:sp>
        <p:nvSpPr>
          <p:cNvPr id="39" name="Text 33"/>
          <p:cNvSpPr txBox="1"/>
          <p:nvPr/>
        </p:nvSpPr>
        <p:spPr>
          <a:xfrm>
            <a:off x="4206240" y="285292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0" name="Shape 34"/>
          <p:cNvSpPr/>
          <p:nvPr/>
        </p:nvSpPr>
        <p:spPr>
          <a:xfrm>
            <a:off x="4370832" y="3200400"/>
            <a:ext cx="0" cy="237744"/>
          </a:xfrm>
          <a:prstGeom prst="line">
            <a:avLst/>
          </a:prstGeom>
          <a:noFill/>
          <a:ln w="15875">
            <a:solidFill>
              <a:srgbClr val="D5DED9"/>
            </a:solidFill>
            <a:prstDash val="solid"/>
          </a:ln>
        </p:spPr>
      </p:sp>
      <p:sp>
        <p:nvSpPr>
          <p:cNvPr id="41" name="Text 35"/>
          <p:cNvSpPr txBox="1"/>
          <p:nvPr/>
        </p:nvSpPr>
        <p:spPr>
          <a:xfrm>
            <a:off x="4663440" y="2834640"/>
            <a:ext cx="4023360" cy="219456"/>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Theil T et sa décomposition</a:t>
            </a:r>
            <a:endParaRPr lang="en-US" sz="1150" dirty="0"/>
          </a:p>
        </p:txBody>
      </p:sp>
      <p:sp>
        <p:nvSpPr>
          <p:cNvPr id="42" name="Text 36"/>
          <p:cNvSpPr txBox="1"/>
          <p:nvPr/>
        </p:nvSpPr>
        <p:spPr>
          <a:xfrm>
            <a:off x="4663440" y="3054096"/>
            <a:ext cx="4023360" cy="365760"/>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T = entre régions (ADM1) + intra-régions</a:t>
            </a:r>
            <a:endParaRPr lang="en-US" sz="950" dirty="0"/>
          </a:p>
        </p:txBody>
      </p:sp>
      <p:sp>
        <p:nvSpPr>
          <p:cNvPr id="43" name="Shape 37"/>
          <p:cNvSpPr/>
          <p:nvPr/>
        </p:nvSpPr>
        <p:spPr>
          <a:xfrm>
            <a:off x="4206240" y="3456432"/>
            <a:ext cx="329184" cy="329184"/>
          </a:xfrm>
          <a:prstGeom prst="ellipse">
            <a:avLst/>
          </a:prstGeom>
          <a:solidFill>
            <a:srgbClr val="D49A00"/>
          </a:solidFill>
          <a:ln w="12700">
            <a:solidFill>
              <a:srgbClr val="D49A00"/>
            </a:solidFill>
            <a:prstDash val="solid"/>
          </a:ln>
        </p:spPr>
      </p:sp>
      <p:sp>
        <p:nvSpPr>
          <p:cNvPr id="44" name="Text 38"/>
          <p:cNvSpPr txBox="1"/>
          <p:nvPr/>
        </p:nvSpPr>
        <p:spPr>
          <a:xfrm>
            <a:off x="4206240" y="3456432"/>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45" name="Shape 39"/>
          <p:cNvSpPr/>
          <p:nvPr/>
        </p:nvSpPr>
        <p:spPr>
          <a:xfrm>
            <a:off x="4370832" y="3803904"/>
            <a:ext cx="0" cy="237744"/>
          </a:xfrm>
          <a:prstGeom prst="line">
            <a:avLst/>
          </a:prstGeom>
          <a:noFill/>
          <a:ln w="15875">
            <a:solidFill>
              <a:srgbClr val="D5DED9"/>
            </a:solidFill>
            <a:prstDash val="solid"/>
          </a:ln>
        </p:spPr>
      </p:sp>
      <p:sp>
        <p:nvSpPr>
          <p:cNvPr id="46" name="Text 40"/>
          <p:cNvSpPr txBox="1"/>
          <p:nvPr/>
        </p:nvSpPr>
        <p:spPr>
          <a:xfrm>
            <a:off x="4663440" y="3438144"/>
            <a:ext cx="4023360" cy="219456"/>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Variation et son incertitude</a:t>
            </a:r>
            <a:endParaRPr lang="en-US" sz="1150" dirty="0"/>
          </a:p>
        </p:txBody>
      </p:sp>
      <p:sp>
        <p:nvSpPr>
          <p:cNvPr id="47" name="Text 41"/>
          <p:cNvSpPr txBox="1"/>
          <p:nvPr/>
        </p:nvSpPr>
        <p:spPr>
          <a:xfrm>
            <a:off x="4663440" y="3657600"/>
            <a:ext cx="4023360" cy="365760"/>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ΔGini première → dernière année, bootstrap 300 tirages appariés, IC 95 %</a:t>
            </a:r>
            <a:endParaRPr lang="en-US" sz="950" dirty="0"/>
          </a:p>
        </p:txBody>
      </p:sp>
      <p:sp>
        <p:nvSpPr>
          <p:cNvPr id="48" name="Shape 42"/>
          <p:cNvSpPr/>
          <p:nvPr/>
        </p:nvSpPr>
        <p:spPr>
          <a:xfrm>
            <a:off x="4206240" y="4059936"/>
            <a:ext cx="329184" cy="329184"/>
          </a:xfrm>
          <a:prstGeom prst="ellipse">
            <a:avLst/>
          </a:prstGeom>
          <a:solidFill>
            <a:srgbClr val="D49A00"/>
          </a:solidFill>
          <a:ln w="12700">
            <a:solidFill>
              <a:srgbClr val="D49A00"/>
            </a:solidFill>
            <a:prstDash val="solid"/>
          </a:ln>
        </p:spPr>
      </p:sp>
      <p:sp>
        <p:nvSpPr>
          <p:cNvPr id="49" name="Text 43"/>
          <p:cNvSpPr txBox="1"/>
          <p:nvPr/>
        </p:nvSpPr>
        <p:spPr>
          <a:xfrm>
            <a:off x="4206240" y="405993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50" name="Text 44"/>
          <p:cNvSpPr txBox="1"/>
          <p:nvPr/>
        </p:nvSpPr>
        <p:spPr>
          <a:xfrm>
            <a:off x="4663440" y="4041648"/>
            <a:ext cx="4023360" cy="219456"/>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Écart urbain / rural</a:t>
            </a:r>
            <a:endParaRPr lang="en-US" sz="1150" dirty="0"/>
          </a:p>
        </p:txBody>
      </p:sp>
      <p:sp>
        <p:nvSpPr>
          <p:cNvPr id="51" name="Text 45"/>
          <p:cNvSpPr txBox="1"/>
          <p:nvPr/>
        </p:nvSpPr>
        <p:spPr>
          <a:xfrm>
            <a:off x="4663440" y="4261104"/>
            <a:ext cx="4023360" cy="365760"/>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Lumière par habitant urbaine / rurale</a:t>
            </a:r>
            <a:endParaRPr lang="en-US" sz="95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8A9590"/>
                </a:solidFill>
                <a:latin typeface="Calibri"/>
                <a:ea typeface="Calibri"/>
                <a:cs typeface="Calibri"/>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3"/>
          <p:cNvSpPr/>
          <p:nvPr>
            <p:ph idx="105" type="body" hasCustomPrompt="1"/>
          </p:nvPr>
        </p:nvSpPr>
        <p:spPr>
          <a:xfrm>
            <a:off x="457200" y="274320"/>
            <a:ext cx="6217920" cy="256032"/>
          </a:xfrm>
          <a:prstGeom prst="rect">
            <a:avLst/>
          </a:prstGeom>
          <a:noFill/>
          <a:ln/>
        </p:spPr>
        <p:txBody>
          <a:bodyPr wrap="square" lIns="0" tIns="0" rIns="0" bIns="0" rtlCol="0" anchor="ctr"/>
          <a:lstStyle/>
          <a:p>
            <a:pPr algn="l" indent="0" marL="0">
              <a:buNone/>
            </a:pPr>
            <a:r>
              <a:rPr lang="en-US" sz="1050" b="1" spc="300" kern="0" dirty="0">
                <a:solidFill>
                  <a:srgbClr val="00704A"/>
                </a:solidFill>
                <a:latin typeface="Calibri" pitchFamily="34" charset="0"/>
                <a:ea typeface="Calibri" pitchFamily="34" charset="-122"/>
                <a:cs typeface="Calibri" pitchFamily="34" charset="-120"/>
              </a:rPr>
              <a:t>04 · ANALYSER · SCÉNARIO 5</a:t>
            </a:r>
            <a:endParaRPr lang="en-US" sz="1050" dirty="0"/>
          </a:p>
        </p:txBody>
      </p:sp>
      <p:sp>
        <p:nvSpPr>
          <p:cNvPr id="3" name="Text 3"/>
          <p:cNvSpPr/>
          <p:nvPr>
            <p:ph idx="106" type="title" hasCustomPrompt="1"/>
          </p:nvPr>
        </p:nvSpPr>
        <p:spPr>
          <a:xfrm>
            <a:off x="457200" y="548640"/>
            <a:ext cx="8229600" cy="566928"/>
          </a:xfrm>
          <a:prstGeom prst="rect">
            <a:avLst/>
          </a:prstGeom>
          <a:noFill/>
          <a:ln/>
        </p:spPr>
        <p:txBody>
          <a:bodyPr wrap="square" lIns="0" tIns="0" rIns="0" bIns="0" rtlCol="0" anchor="ctr"/>
          <a:lstStyle/>
          <a:p>
            <a:pPr algn="l" indent="0" marL="0">
              <a:buNone/>
            </a:pPr>
            <a:r>
              <a:rPr lang="en-US" sz="2800" b="1" dirty="0">
                <a:solidFill>
                  <a:srgbClr val="231F20"/>
                </a:solidFill>
                <a:latin typeface="Calibri" pitchFamily="34" charset="0"/>
                <a:ea typeface="Calibri" pitchFamily="34" charset="-122"/>
                <a:cs typeface="Calibri" pitchFamily="34" charset="-120"/>
              </a:rPr>
              <a:t>Population dans le noir et accès à l'électricité</a:t>
            </a:r>
            <a:endParaRPr lang="en-US" sz="2800" dirty="0"/>
          </a:p>
        </p:txBody>
      </p:sp>
      <p:sp>
        <p:nvSpPr>
          <p:cNvPr id="4" name="dot0"/>
          <p:cNvSpPr/>
          <p:nvPr/>
        </p:nvSpPr>
        <p:spPr>
          <a:xfrm>
            <a:off x="7644384" y="338328"/>
            <a:ext cx="100584" cy="100584"/>
          </a:xfrm>
          <a:prstGeom prst="ellipse">
            <a:avLst/>
          </a:prstGeom>
          <a:solidFill>
            <a:srgbClr val="D5DED9"/>
          </a:solidFill>
          <a:ln w="12700">
            <a:solidFill>
              <a:srgbClr val="D5DED9"/>
            </a:solidFill>
            <a:prstDash val="solid"/>
          </a:ln>
        </p:spPr>
      </p:sp>
      <p:sp>
        <p:nvSpPr>
          <p:cNvPr id="5" name="dot1"/>
          <p:cNvSpPr/>
          <p:nvPr/>
        </p:nvSpPr>
        <p:spPr>
          <a:xfrm>
            <a:off x="7818120" y="338328"/>
            <a:ext cx="100584" cy="100584"/>
          </a:xfrm>
          <a:prstGeom prst="ellipse">
            <a:avLst/>
          </a:prstGeom>
          <a:solidFill>
            <a:srgbClr val="D5DED9"/>
          </a:solidFill>
          <a:ln w="12700">
            <a:solidFill>
              <a:srgbClr val="D5DED9"/>
            </a:solidFill>
            <a:prstDash val="solid"/>
          </a:ln>
        </p:spPr>
      </p:sp>
      <p:sp>
        <p:nvSpPr>
          <p:cNvPr id="6" name="dot2"/>
          <p:cNvSpPr/>
          <p:nvPr/>
        </p:nvSpPr>
        <p:spPr>
          <a:xfrm>
            <a:off x="7991856" y="338328"/>
            <a:ext cx="100584" cy="100584"/>
          </a:xfrm>
          <a:prstGeom prst="ellipse">
            <a:avLst/>
          </a:prstGeom>
          <a:solidFill>
            <a:srgbClr val="D5DED9"/>
          </a:solidFill>
          <a:ln w="12700">
            <a:solidFill>
              <a:srgbClr val="D5DED9"/>
            </a:solidFill>
            <a:prstDash val="solid"/>
          </a:ln>
        </p:spPr>
      </p:sp>
      <p:sp>
        <p:nvSpPr>
          <p:cNvPr id="7" name="dot3"/>
          <p:cNvSpPr/>
          <p:nvPr/>
        </p:nvSpPr>
        <p:spPr>
          <a:xfrm>
            <a:off x="8165592" y="338328"/>
            <a:ext cx="100584" cy="100584"/>
          </a:xfrm>
          <a:prstGeom prst="ellipse">
            <a:avLst/>
          </a:prstGeom>
          <a:solidFill>
            <a:srgbClr val="D49A00"/>
          </a:solidFill>
          <a:ln w="12700">
            <a:solidFill>
              <a:srgbClr val="D49A00"/>
            </a:solidFill>
            <a:prstDash val="solid"/>
          </a:ln>
        </p:spPr>
      </p:sp>
      <p:sp>
        <p:nvSpPr>
          <p:cNvPr id="8" name="dot4"/>
          <p:cNvSpPr/>
          <p:nvPr/>
        </p:nvSpPr>
        <p:spPr>
          <a:xfrm>
            <a:off x="8339328" y="338328"/>
            <a:ext cx="100584" cy="100584"/>
          </a:xfrm>
          <a:prstGeom prst="ellipse">
            <a:avLst/>
          </a:prstGeom>
          <a:solidFill>
            <a:srgbClr val="D5DED9"/>
          </a:solidFill>
          <a:ln w="12700">
            <a:solidFill>
              <a:srgbClr val="D5DED9"/>
            </a:solidFill>
            <a:prstDash val="solid"/>
          </a:ln>
        </p:spPr>
      </p:sp>
      <p:sp>
        <p:nvSpPr>
          <p:cNvPr id="9" name="dot5"/>
          <p:cNvSpPr/>
          <p:nvPr/>
        </p:nvSpPr>
        <p:spPr>
          <a:xfrm>
            <a:off x="8513064" y="338328"/>
            <a:ext cx="100584" cy="100584"/>
          </a:xfrm>
          <a:prstGeom prst="ellipse">
            <a:avLst/>
          </a:prstGeom>
          <a:solidFill>
            <a:srgbClr val="D5DED9"/>
          </a:solidFill>
          <a:ln w="12700">
            <a:solidFill>
              <a:srgbClr val="D5DED9"/>
            </a:solidFill>
            <a:prstDash val="solid"/>
          </a:ln>
        </p:spPr>
      </p:sp>
      <p:sp>
        <p:nvSpPr>
          <p:cNvPr id="11" name="Text 8"/>
          <p:cNvSpPr txBox="1"/>
          <p:nvPr/>
        </p:nvSpPr>
        <p:spPr>
          <a:xfrm>
            <a:off x="548640" y="1353312"/>
            <a:ext cx="1783080" cy="219456"/>
          </a:xfrm>
          <a:prstGeom prst="rect">
            <a:avLst/>
          </a:prstGeom>
          <a:noFill/>
          <a:ln/>
        </p:spPr>
        <p:txBody>
          <a:bodyPr wrap="square" lIns="0" tIns="0" rIns="0" bIns="0" rtlCol="0" anchor="ctr"/>
          <a:lstStyle/>
          <a:p>
            <a:pPr indent="0" marL="0">
              <a:buNone/>
            </a:pPr>
            <a:r>
              <a:rPr lang="en-US" sz="900" b="1" spc="200" kern="0" dirty="0">
                <a:solidFill>
                  <a:srgbClr val="D49A00"/>
                </a:solidFill>
                <a:latin typeface="Calibri" pitchFamily="34" charset="0"/>
                <a:ea typeface="Calibri" pitchFamily="34" charset="-122"/>
                <a:cs typeface="Calibri" pitchFamily="34" charset="-120"/>
              </a:rPr>
              <a:t>MÉTRIQUE</a:t>
            </a:r>
            <a:endParaRPr lang="en-US" sz="900" dirty="0"/>
          </a:p>
        </p:txBody>
      </p:sp>
      <p:sp>
        <p:nvSpPr>
          <p:cNvPr id="12" name="Text 9"/>
          <p:cNvSpPr txBox="1"/>
          <p:nvPr/>
        </p:nvSpPr>
        <p:spPr>
          <a:xfrm>
            <a:off x="2423160" y="1353312"/>
            <a:ext cx="2971800" cy="219456"/>
          </a:xfrm>
          <a:prstGeom prst="rect">
            <a:avLst/>
          </a:prstGeom>
          <a:noFill/>
          <a:ln/>
        </p:spPr>
        <p:txBody>
          <a:bodyPr wrap="square" lIns="0" tIns="0" rIns="0" bIns="0" rtlCol="0" anchor="ctr"/>
          <a:lstStyle/>
          <a:p>
            <a:pPr indent="0" marL="0">
              <a:buNone/>
            </a:pPr>
            <a:r>
              <a:rPr lang="en-US" sz="900" b="1" spc="200" kern="0" dirty="0">
                <a:solidFill>
                  <a:srgbClr val="D49A00"/>
                </a:solidFill>
                <a:latin typeface="Calibri" pitchFamily="34" charset="0"/>
                <a:ea typeface="Calibri" pitchFamily="34" charset="-122"/>
                <a:cs typeface="Calibri" pitchFamily="34" charset="-120"/>
              </a:rPr>
              <a:t>DÉFINITION / FORMULE</a:t>
            </a:r>
            <a:endParaRPr lang="en-US" sz="900" dirty="0"/>
          </a:p>
        </p:txBody>
      </p:sp>
      <p:sp>
        <p:nvSpPr>
          <p:cNvPr id="13" name="Text 10"/>
          <p:cNvSpPr txBox="1"/>
          <p:nvPr/>
        </p:nvSpPr>
        <p:spPr>
          <a:xfrm>
            <a:off x="5486400" y="1353312"/>
            <a:ext cx="3200400" cy="219456"/>
          </a:xfrm>
          <a:prstGeom prst="rect">
            <a:avLst/>
          </a:prstGeom>
          <a:noFill/>
          <a:ln/>
        </p:spPr>
        <p:txBody>
          <a:bodyPr wrap="square" lIns="0" tIns="0" rIns="0" bIns="0" rtlCol="0" anchor="ctr"/>
          <a:lstStyle/>
          <a:p>
            <a:pPr indent="0" marL="0">
              <a:buNone/>
            </a:pPr>
            <a:r>
              <a:rPr lang="en-US" sz="900" b="1" spc="200" kern="0" dirty="0">
                <a:solidFill>
                  <a:srgbClr val="D49A00"/>
                </a:solidFill>
                <a:latin typeface="Calibri" pitchFamily="34" charset="0"/>
                <a:ea typeface="Calibri" pitchFamily="34" charset="-122"/>
                <a:cs typeface="Calibri" pitchFamily="34" charset="-120"/>
              </a:rPr>
              <a:t>COMMENT LA LIRE</a:t>
            </a:r>
            <a:endParaRPr lang="en-US" sz="900" dirty="0"/>
          </a:p>
        </p:txBody>
      </p:sp>
      <p:sp>
        <p:nvSpPr>
          <p:cNvPr id="14" name="Shape 11"/>
          <p:cNvSpPr/>
          <p:nvPr/>
        </p:nvSpPr>
        <p:spPr>
          <a:xfrm>
            <a:off x="457200" y="1609344"/>
            <a:ext cx="8229600" cy="429768"/>
          </a:xfrm>
          <a:prstGeom prst="roundRect">
            <a:avLst>
              <a:gd name="adj" fmla="val 10638"/>
            </a:avLst>
          </a:prstGeom>
          <a:solidFill>
            <a:srgbClr val="F4F7F5"/>
          </a:solidFill>
          <a:ln w="6350">
            <a:solidFill>
              <a:srgbClr val="D5DED9"/>
            </a:solidFill>
            <a:prstDash val="solid"/>
          </a:ln>
        </p:spPr>
      </p:sp>
      <p:sp>
        <p:nvSpPr>
          <p:cNvPr id="15" name="Text 12"/>
          <p:cNvSpPr txBox="1"/>
          <p:nvPr/>
        </p:nvSpPr>
        <p:spPr>
          <a:xfrm>
            <a:off x="548640" y="1609344"/>
            <a:ext cx="1737360" cy="429768"/>
          </a:xfrm>
          <a:prstGeom prst="rect">
            <a:avLst/>
          </a:prstGeom>
          <a:noFill/>
          <a:ln/>
        </p:spPr>
        <p:txBody>
          <a:bodyPr wrap="square" lIns="0" tIns="0" rIns="0" bIns="0" rtlCol="0" anchor="ctr"/>
          <a:lstStyle/>
          <a:p>
            <a:pPr indent="0" marL="0">
              <a:buNone/>
            </a:pPr>
            <a:r>
              <a:rPr lang="en-US" sz="1050" b="1" dirty="0">
                <a:solidFill>
                  <a:srgbClr val="231F20"/>
                </a:solidFill>
                <a:latin typeface="Calibri" pitchFamily="34" charset="0"/>
                <a:ea typeface="Calibri" pitchFamily="34" charset="-122"/>
                <a:cs typeface="Calibri" pitchFamily="34" charset="-120"/>
              </a:rPr>
              <a:t>Gini</a:t>
            </a:r>
            <a:endParaRPr lang="en-US" sz="1050" dirty="0"/>
          </a:p>
        </p:txBody>
      </p:sp>
      <p:sp>
        <p:nvSpPr>
          <p:cNvPr id="16" name="Text 13"/>
          <p:cNvSpPr txBox="1"/>
          <p:nvPr/>
        </p:nvSpPr>
        <p:spPr>
          <a:xfrm>
            <a:off x="2331720" y="1609344"/>
            <a:ext cx="2971800" cy="429768"/>
          </a:xfrm>
          <a:prstGeom prst="rect">
            <a:avLst/>
          </a:prstGeom>
          <a:noFill/>
          <a:ln/>
        </p:spPr>
        <p:txBody>
          <a:bodyPr wrap="square" lIns="0" tIns="0" rIns="0" bIns="0" rtlCol="0" anchor="ctr"/>
          <a:lstStyle/>
          <a:p>
            <a:pPr indent="0" marL="0">
              <a:buNone/>
            </a:pPr>
            <a:r>
              <a:rPr lang="en-US" sz="1000" dirty="0">
                <a:solidFill>
                  <a:srgbClr val="0E7C86"/>
                </a:solidFill>
                <a:latin typeface="Calibri" pitchFamily="34" charset="0"/>
                <a:ea typeface="Calibri" pitchFamily="34" charset="-122"/>
                <a:cs typeface="Calibri" pitchFamily="34" charset="-120"/>
              </a:rPr>
              <a:t>pondéré ; 0 = égalité, 1 = toute la lumière dans une unité</a:t>
            </a:r>
            <a:endParaRPr lang="en-US" sz="1000" dirty="0"/>
          </a:p>
        </p:txBody>
      </p:sp>
      <p:sp>
        <p:nvSpPr>
          <p:cNvPr id="17" name="Text 14"/>
          <p:cNvSpPr txBox="1"/>
          <p:nvPr/>
        </p:nvSpPr>
        <p:spPr>
          <a:xfrm>
            <a:off x="5394960" y="1609344"/>
            <a:ext cx="3200400" cy="429768"/>
          </a:xfrm>
          <a:prstGeom prst="rect">
            <a:avLst/>
          </a:prstGeom>
          <a:noFill/>
          <a:ln/>
        </p:spPr>
        <p:txBody>
          <a:bodyPr wrap="square" lIns="0" tIns="0" rIns="0" bIns="0" rtlCol="0" anchor="ctr"/>
          <a:lstStyle/>
          <a:p>
            <a:pPr indent="0" marL="0">
              <a:buNone/>
            </a:pPr>
            <a:r>
              <a:rPr lang="en-US" sz="950" dirty="0">
                <a:solidFill>
                  <a:srgbClr val="5E6964"/>
                </a:solidFill>
                <a:latin typeface="Calibri" pitchFamily="34" charset="0"/>
                <a:ea typeface="Calibri" pitchFamily="34" charset="-122"/>
                <a:cs typeface="Calibri" pitchFamily="34" charset="-120"/>
              </a:rPr>
              <a:t>Concentration globale de la lumière par habitant</a:t>
            </a:r>
            <a:endParaRPr lang="en-US" sz="950" dirty="0"/>
          </a:p>
        </p:txBody>
      </p:sp>
      <p:sp>
        <p:nvSpPr>
          <p:cNvPr id="18" name="Shape 15"/>
          <p:cNvSpPr/>
          <p:nvPr/>
        </p:nvSpPr>
        <p:spPr>
          <a:xfrm>
            <a:off x="457200" y="2093976"/>
            <a:ext cx="8229600" cy="429768"/>
          </a:xfrm>
          <a:prstGeom prst="roundRect">
            <a:avLst>
              <a:gd name="adj" fmla="val 10638"/>
            </a:avLst>
          </a:prstGeom>
          <a:solidFill>
            <a:srgbClr val="FFFFFF"/>
          </a:solidFill>
          <a:ln w="6350">
            <a:solidFill>
              <a:srgbClr val="D5DED9"/>
            </a:solidFill>
            <a:prstDash val="solid"/>
          </a:ln>
        </p:spPr>
      </p:sp>
      <p:sp>
        <p:nvSpPr>
          <p:cNvPr id="19" name="Text 16"/>
          <p:cNvSpPr txBox="1"/>
          <p:nvPr/>
        </p:nvSpPr>
        <p:spPr>
          <a:xfrm>
            <a:off x="548640" y="2093976"/>
            <a:ext cx="1737360" cy="429768"/>
          </a:xfrm>
          <a:prstGeom prst="rect">
            <a:avLst/>
          </a:prstGeom>
          <a:noFill/>
          <a:ln/>
        </p:spPr>
        <p:txBody>
          <a:bodyPr wrap="square" lIns="0" tIns="0" rIns="0" bIns="0" rtlCol="0" anchor="ctr"/>
          <a:lstStyle/>
          <a:p>
            <a:pPr indent="0" marL="0">
              <a:buNone/>
            </a:pPr>
            <a:r>
              <a:rPr lang="en-US" sz="1050" b="1" dirty="0">
                <a:solidFill>
                  <a:srgbClr val="231F20"/>
                </a:solidFill>
                <a:latin typeface="Calibri" pitchFamily="34" charset="0"/>
                <a:ea typeface="Calibri" pitchFamily="34" charset="-122"/>
                <a:cs typeface="Calibri" pitchFamily="34" charset="-120"/>
              </a:rPr>
              <a:t>Theil T</a:t>
            </a:r>
            <a:endParaRPr lang="en-US" sz="1050" dirty="0"/>
          </a:p>
        </p:txBody>
      </p:sp>
      <p:sp>
        <p:nvSpPr>
          <p:cNvPr id="20" name="Text 17"/>
          <p:cNvSpPr txBox="1"/>
          <p:nvPr/>
        </p:nvSpPr>
        <p:spPr>
          <a:xfrm>
            <a:off x="2331720" y="2093976"/>
            <a:ext cx="2971800" cy="429768"/>
          </a:xfrm>
          <a:prstGeom prst="rect">
            <a:avLst/>
          </a:prstGeom>
          <a:noFill/>
          <a:ln/>
        </p:spPr>
        <p:txBody>
          <a:bodyPr wrap="square" lIns="0" tIns="0" rIns="0" bIns="0" rtlCol="0" anchor="ctr"/>
          <a:lstStyle/>
          <a:p>
            <a:pPr indent="0" marL="0">
              <a:buNone/>
            </a:pPr>
            <a:r>
              <a:rPr lang="en-US" sz="1000" dirty="0">
                <a:solidFill>
                  <a:srgbClr val="0E7C86"/>
                </a:solidFill>
                <a:latin typeface="Calibri" pitchFamily="34" charset="0"/>
                <a:ea typeface="Calibri" pitchFamily="34" charset="-122"/>
                <a:cs typeface="Calibri" pitchFamily="34" charset="-120"/>
              </a:rPr>
              <a:t>Σ wᵢ (xᵢ/μ) ln(xᵢ/μ), wᵢ parts de population</a:t>
            </a:r>
            <a:endParaRPr lang="en-US" sz="1000" dirty="0"/>
          </a:p>
        </p:txBody>
      </p:sp>
      <p:sp>
        <p:nvSpPr>
          <p:cNvPr id="21" name="Text 18"/>
          <p:cNvSpPr txBox="1"/>
          <p:nvPr/>
        </p:nvSpPr>
        <p:spPr>
          <a:xfrm>
            <a:off x="5394960" y="2093976"/>
            <a:ext cx="3200400" cy="429768"/>
          </a:xfrm>
          <a:prstGeom prst="rect">
            <a:avLst/>
          </a:prstGeom>
          <a:noFill/>
          <a:ln/>
        </p:spPr>
        <p:txBody>
          <a:bodyPr wrap="square" lIns="0" tIns="0" rIns="0" bIns="0" rtlCol="0" anchor="ctr"/>
          <a:lstStyle/>
          <a:p>
            <a:pPr indent="0" marL="0">
              <a:buNone/>
            </a:pPr>
            <a:r>
              <a:rPr lang="en-US" sz="950" dirty="0">
                <a:solidFill>
                  <a:srgbClr val="5E6964"/>
                </a:solidFill>
                <a:latin typeface="Calibri" pitchFamily="34" charset="0"/>
                <a:ea typeface="Calibri" pitchFamily="34" charset="-122"/>
                <a:cs typeface="Calibri" pitchFamily="34" charset="-120"/>
              </a:rPr>
              <a:t>Se décompose entre et intra-régions</a:t>
            </a:r>
            <a:endParaRPr lang="en-US" sz="950" dirty="0"/>
          </a:p>
        </p:txBody>
      </p:sp>
      <p:sp>
        <p:nvSpPr>
          <p:cNvPr id="22" name="Shape 19"/>
          <p:cNvSpPr/>
          <p:nvPr/>
        </p:nvSpPr>
        <p:spPr>
          <a:xfrm>
            <a:off x="457200" y="2578608"/>
            <a:ext cx="8229600" cy="429768"/>
          </a:xfrm>
          <a:prstGeom prst="roundRect">
            <a:avLst>
              <a:gd name="adj" fmla="val 10638"/>
            </a:avLst>
          </a:prstGeom>
          <a:solidFill>
            <a:srgbClr val="F4F7F5"/>
          </a:solidFill>
          <a:ln w="6350">
            <a:solidFill>
              <a:srgbClr val="D5DED9"/>
            </a:solidFill>
            <a:prstDash val="solid"/>
          </a:ln>
        </p:spPr>
      </p:sp>
      <p:sp>
        <p:nvSpPr>
          <p:cNvPr id="23" name="Text 20"/>
          <p:cNvSpPr txBox="1"/>
          <p:nvPr/>
        </p:nvSpPr>
        <p:spPr>
          <a:xfrm>
            <a:off x="548640" y="2578608"/>
            <a:ext cx="1737360" cy="429768"/>
          </a:xfrm>
          <a:prstGeom prst="rect">
            <a:avLst/>
          </a:prstGeom>
          <a:noFill/>
          <a:ln/>
        </p:spPr>
        <p:txBody>
          <a:bodyPr wrap="square" lIns="0" tIns="0" rIns="0" bIns="0" rtlCol="0" anchor="ctr"/>
          <a:lstStyle/>
          <a:p>
            <a:pPr indent="0" marL="0">
              <a:buNone/>
            </a:pPr>
            <a:r>
              <a:rPr lang="en-US" sz="1050" b="1" dirty="0">
                <a:solidFill>
                  <a:srgbClr val="231F20"/>
                </a:solidFill>
                <a:latin typeface="Calibri" pitchFamily="34" charset="0"/>
                <a:ea typeface="Calibri" pitchFamily="34" charset="-122"/>
                <a:cs typeface="Calibri" pitchFamily="34" charset="-120"/>
              </a:rPr>
              <a:t>Ratio urbain / rural</a:t>
            </a:r>
            <a:endParaRPr lang="en-US" sz="1050" dirty="0"/>
          </a:p>
        </p:txBody>
      </p:sp>
      <p:sp>
        <p:nvSpPr>
          <p:cNvPr id="24" name="Text 21"/>
          <p:cNvSpPr txBox="1"/>
          <p:nvPr/>
        </p:nvSpPr>
        <p:spPr>
          <a:xfrm>
            <a:off x="2331720" y="2578608"/>
            <a:ext cx="2971800" cy="429768"/>
          </a:xfrm>
          <a:prstGeom prst="rect">
            <a:avLst/>
          </a:prstGeom>
          <a:noFill/>
          <a:ln/>
        </p:spPr>
        <p:txBody>
          <a:bodyPr wrap="square" lIns="0" tIns="0" rIns="0" bIns="0" rtlCol="0" anchor="ctr"/>
          <a:lstStyle/>
          <a:p>
            <a:pPr indent="0" marL="0">
              <a:buNone/>
            </a:pPr>
            <a:r>
              <a:rPr lang="en-US" sz="1000" dirty="0">
                <a:solidFill>
                  <a:srgbClr val="0E7C86"/>
                </a:solidFill>
                <a:latin typeface="Calibri" pitchFamily="34" charset="0"/>
                <a:ea typeface="Calibri" pitchFamily="34" charset="-122"/>
                <a:cs typeface="Calibri" pitchFamily="34" charset="-120"/>
              </a:rPr>
              <a:t>lumière/hab. où SMOD ≥ 21 ÷ ailleurs</a:t>
            </a:r>
            <a:endParaRPr lang="en-US" sz="1000" dirty="0"/>
          </a:p>
        </p:txBody>
      </p:sp>
      <p:sp>
        <p:nvSpPr>
          <p:cNvPr id="25" name="Text 22"/>
          <p:cNvSpPr txBox="1"/>
          <p:nvPr/>
        </p:nvSpPr>
        <p:spPr>
          <a:xfrm>
            <a:off x="5394960" y="2578608"/>
            <a:ext cx="3200400" cy="429768"/>
          </a:xfrm>
          <a:prstGeom prst="rect">
            <a:avLst/>
          </a:prstGeom>
          <a:noFill/>
          <a:ln/>
        </p:spPr>
        <p:txBody>
          <a:bodyPr wrap="square" lIns="0" tIns="0" rIns="0" bIns="0" rtlCol="0" anchor="ctr"/>
          <a:lstStyle/>
          <a:p>
            <a:pPr indent="0" marL="0">
              <a:buNone/>
            </a:pPr>
            <a:r>
              <a:rPr lang="en-US" sz="950" dirty="0">
                <a:solidFill>
                  <a:srgbClr val="5E6964"/>
                </a:solidFill>
                <a:latin typeface="Calibri" pitchFamily="34" charset="0"/>
                <a:ea typeface="Calibri" pitchFamily="34" charset="-122"/>
                <a:cs typeface="Calibri" pitchFamily="34" charset="-120"/>
              </a:rPr>
              <a:t>Combien de lumière en plus pour un urbain</a:t>
            </a:r>
            <a:endParaRPr lang="en-US" sz="950" dirty="0"/>
          </a:p>
        </p:txBody>
      </p:sp>
      <p:sp>
        <p:nvSpPr>
          <p:cNvPr id="26" name="Shape 23"/>
          <p:cNvSpPr/>
          <p:nvPr/>
        </p:nvSpPr>
        <p:spPr>
          <a:xfrm>
            <a:off x="457200" y="3063240"/>
            <a:ext cx="8229600" cy="429768"/>
          </a:xfrm>
          <a:prstGeom prst="roundRect">
            <a:avLst>
              <a:gd name="adj" fmla="val 10638"/>
            </a:avLst>
          </a:prstGeom>
          <a:solidFill>
            <a:srgbClr val="FFFFFF"/>
          </a:solidFill>
          <a:ln w="6350">
            <a:solidFill>
              <a:srgbClr val="D5DED9"/>
            </a:solidFill>
            <a:prstDash val="solid"/>
          </a:ln>
        </p:spPr>
      </p:sp>
      <p:sp>
        <p:nvSpPr>
          <p:cNvPr id="27" name="Text 24"/>
          <p:cNvSpPr txBox="1"/>
          <p:nvPr/>
        </p:nvSpPr>
        <p:spPr>
          <a:xfrm>
            <a:off x="548640" y="3063240"/>
            <a:ext cx="1737360" cy="429768"/>
          </a:xfrm>
          <a:prstGeom prst="rect">
            <a:avLst/>
          </a:prstGeom>
          <a:noFill/>
          <a:ln/>
        </p:spPr>
        <p:txBody>
          <a:bodyPr wrap="square" lIns="0" tIns="0" rIns="0" bIns="0" rtlCol="0" anchor="ctr"/>
          <a:lstStyle/>
          <a:p>
            <a:pPr indent="0" marL="0">
              <a:buNone/>
            </a:pPr>
            <a:r>
              <a:rPr lang="en-US" sz="1050" b="1" dirty="0">
                <a:solidFill>
                  <a:srgbClr val="231F20"/>
                </a:solidFill>
                <a:latin typeface="Calibri" pitchFamily="34" charset="0"/>
                <a:ea typeface="Calibri" pitchFamily="34" charset="-122"/>
                <a:cs typeface="Calibri" pitchFamily="34" charset="-120"/>
              </a:rPr>
              <a:t>Population dans le noir</a:t>
            </a:r>
            <a:endParaRPr lang="en-US" sz="1050" dirty="0"/>
          </a:p>
        </p:txBody>
      </p:sp>
      <p:sp>
        <p:nvSpPr>
          <p:cNvPr id="28" name="Text 25"/>
          <p:cNvSpPr txBox="1"/>
          <p:nvPr/>
        </p:nvSpPr>
        <p:spPr>
          <a:xfrm>
            <a:off x="2331720" y="3063240"/>
            <a:ext cx="2971800" cy="429768"/>
          </a:xfrm>
          <a:prstGeom prst="rect">
            <a:avLst/>
          </a:prstGeom>
          <a:noFill/>
          <a:ln/>
        </p:spPr>
        <p:txBody>
          <a:bodyPr wrap="square" lIns="0" tIns="0" rIns="0" bIns="0" rtlCol="0" anchor="ctr"/>
          <a:lstStyle/>
          <a:p>
            <a:pPr indent="0" marL="0">
              <a:buNone/>
            </a:pPr>
            <a:r>
              <a:rPr lang="en-US" sz="1000" dirty="0">
                <a:solidFill>
                  <a:srgbClr val="0E7C86"/>
                </a:solidFill>
                <a:latin typeface="Calibri" pitchFamily="34" charset="0"/>
                <a:ea typeface="Calibri" pitchFamily="34" charset="-122"/>
                <a:cs typeface="Calibri" pitchFamily="34" charset="-120"/>
              </a:rPr>
              <a:t>Σ pop des pixels ≥ 5 personnes et radiance &lt; t</a:t>
            </a:r>
            <a:endParaRPr lang="en-US" sz="1000" dirty="0"/>
          </a:p>
        </p:txBody>
      </p:sp>
      <p:sp>
        <p:nvSpPr>
          <p:cNvPr id="29" name="Text 26"/>
          <p:cNvSpPr txBox="1"/>
          <p:nvPr/>
        </p:nvSpPr>
        <p:spPr>
          <a:xfrm>
            <a:off x="5394960" y="3063240"/>
            <a:ext cx="3200400" cy="429768"/>
          </a:xfrm>
          <a:prstGeom prst="rect">
            <a:avLst/>
          </a:prstGeom>
          <a:noFill/>
          <a:ln/>
        </p:spPr>
        <p:txBody>
          <a:bodyPr wrap="square" lIns="0" tIns="0" rIns="0" bIns="0" rtlCol="0" anchor="ctr"/>
          <a:lstStyle/>
          <a:p>
            <a:pPr indent="0" marL="0">
              <a:buNone/>
            </a:pPr>
            <a:r>
              <a:rPr lang="en-US" sz="950" dirty="0">
                <a:solidFill>
                  <a:srgbClr val="5E6964"/>
                </a:solidFill>
                <a:latin typeface="Calibri" pitchFamily="34" charset="0"/>
                <a:ea typeface="Calibri" pitchFamily="34" charset="-122"/>
                <a:cs typeface="Calibri" pitchFamily="34" charset="-120"/>
              </a:rPr>
              <a:t>Publiée pour t = 0,25 · 0,5 · 1 nW : une plage</a:t>
            </a:r>
            <a:endParaRPr lang="en-US" sz="950" dirty="0"/>
          </a:p>
        </p:txBody>
      </p:sp>
      <p:sp>
        <p:nvSpPr>
          <p:cNvPr id="30" name="Shape 27"/>
          <p:cNvSpPr/>
          <p:nvPr/>
        </p:nvSpPr>
        <p:spPr>
          <a:xfrm>
            <a:off x="457200" y="3547872"/>
            <a:ext cx="8229600" cy="429768"/>
          </a:xfrm>
          <a:prstGeom prst="roundRect">
            <a:avLst>
              <a:gd name="adj" fmla="val 10638"/>
            </a:avLst>
          </a:prstGeom>
          <a:solidFill>
            <a:srgbClr val="F4F7F5"/>
          </a:solidFill>
          <a:ln w="6350">
            <a:solidFill>
              <a:srgbClr val="D5DED9"/>
            </a:solidFill>
            <a:prstDash val="solid"/>
          </a:ln>
        </p:spPr>
      </p:sp>
      <p:sp>
        <p:nvSpPr>
          <p:cNvPr id="31" name="Text 28"/>
          <p:cNvSpPr txBox="1"/>
          <p:nvPr/>
        </p:nvSpPr>
        <p:spPr>
          <a:xfrm>
            <a:off x="548640" y="3547872"/>
            <a:ext cx="1737360" cy="429768"/>
          </a:xfrm>
          <a:prstGeom prst="rect">
            <a:avLst/>
          </a:prstGeom>
          <a:noFill/>
          <a:ln/>
        </p:spPr>
        <p:txBody>
          <a:bodyPr wrap="square" lIns="0" tIns="0" rIns="0" bIns="0" rtlCol="0" anchor="ctr"/>
          <a:lstStyle/>
          <a:p>
            <a:pPr indent="0" marL="0">
              <a:buNone/>
            </a:pPr>
            <a:r>
              <a:rPr lang="en-US" sz="1050" b="1" dirty="0">
                <a:solidFill>
                  <a:srgbClr val="231F20"/>
                </a:solidFill>
                <a:latin typeface="Calibri" pitchFamily="34" charset="0"/>
                <a:ea typeface="Calibri" pitchFamily="34" charset="-122"/>
                <a:cs typeface="Calibri" pitchFamily="34" charset="-120"/>
              </a:rPr>
              <a:t>Part dans le noir</a:t>
            </a:r>
            <a:endParaRPr lang="en-US" sz="1050" dirty="0"/>
          </a:p>
        </p:txBody>
      </p:sp>
      <p:sp>
        <p:nvSpPr>
          <p:cNvPr id="32" name="Text 29"/>
          <p:cNvSpPr txBox="1"/>
          <p:nvPr/>
        </p:nvSpPr>
        <p:spPr>
          <a:xfrm>
            <a:off x="2331720" y="3547872"/>
            <a:ext cx="2971800" cy="429768"/>
          </a:xfrm>
          <a:prstGeom prst="rect">
            <a:avLst/>
          </a:prstGeom>
          <a:noFill/>
          <a:ln/>
        </p:spPr>
        <p:txBody>
          <a:bodyPr wrap="square" lIns="0" tIns="0" rIns="0" bIns="0" rtlCol="0" anchor="ctr"/>
          <a:lstStyle/>
          <a:p>
            <a:pPr indent="0" marL="0">
              <a:buNone/>
            </a:pPr>
            <a:r>
              <a:rPr lang="en-US" sz="1000" dirty="0">
                <a:solidFill>
                  <a:srgbClr val="0E7C86"/>
                </a:solidFill>
                <a:latin typeface="Calibri" pitchFamily="34" charset="0"/>
                <a:ea typeface="Calibri" pitchFamily="34" charset="-122"/>
                <a:cs typeface="Calibri" pitchFamily="34" charset="-120"/>
              </a:rPr>
              <a:t>pop dans le noir / population habitée</a:t>
            </a:r>
            <a:endParaRPr lang="en-US" sz="1000" dirty="0"/>
          </a:p>
        </p:txBody>
      </p:sp>
      <p:sp>
        <p:nvSpPr>
          <p:cNvPr id="33" name="Text 30"/>
          <p:cNvSpPr txBox="1"/>
          <p:nvPr/>
        </p:nvSpPr>
        <p:spPr>
          <a:xfrm>
            <a:off x="5394960" y="3547872"/>
            <a:ext cx="3200400" cy="429768"/>
          </a:xfrm>
          <a:prstGeom prst="rect">
            <a:avLst/>
          </a:prstGeom>
          <a:noFill/>
          <a:ln/>
        </p:spPr>
        <p:txBody>
          <a:bodyPr wrap="square" lIns="0" tIns="0" rIns="0" bIns="0" rtlCol="0" anchor="ctr"/>
          <a:lstStyle/>
          <a:p>
            <a:pPr indent="0" marL="0">
              <a:buNone/>
            </a:pPr>
            <a:r>
              <a:rPr lang="en-US" sz="950" dirty="0">
                <a:solidFill>
                  <a:srgbClr val="5E6964"/>
                </a:solidFill>
                <a:latin typeface="Calibri" pitchFamily="34" charset="0"/>
                <a:ea typeface="Calibri" pitchFamily="34" charset="-122"/>
                <a:cs typeface="Calibri" pitchFamily="34" charset="-120"/>
              </a:rPr>
              <a:t>Proxy de la part sans électricité</a:t>
            </a:r>
            <a:endParaRPr lang="en-US" sz="950" dirty="0"/>
          </a:p>
        </p:txBody>
      </p:sp>
      <p:sp>
        <p:nvSpPr>
          <p:cNvPr id="34" name="Shape 31"/>
          <p:cNvSpPr/>
          <p:nvPr/>
        </p:nvSpPr>
        <p:spPr>
          <a:xfrm>
            <a:off x="457200" y="4032504"/>
            <a:ext cx="8229600" cy="429768"/>
          </a:xfrm>
          <a:prstGeom prst="roundRect">
            <a:avLst>
              <a:gd name="adj" fmla="val 10638"/>
            </a:avLst>
          </a:prstGeom>
          <a:solidFill>
            <a:srgbClr val="FFFFFF"/>
          </a:solidFill>
          <a:ln w="6350">
            <a:solidFill>
              <a:srgbClr val="D5DED9"/>
            </a:solidFill>
            <a:prstDash val="solid"/>
          </a:ln>
        </p:spPr>
      </p:sp>
      <p:sp>
        <p:nvSpPr>
          <p:cNvPr id="35" name="Text 32"/>
          <p:cNvSpPr txBox="1"/>
          <p:nvPr/>
        </p:nvSpPr>
        <p:spPr>
          <a:xfrm>
            <a:off x="548640" y="4032504"/>
            <a:ext cx="1737360" cy="429768"/>
          </a:xfrm>
          <a:prstGeom prst="rect">
            <a:avLst/>
          </a:prstGeom>
          <a:noFill/>
          <a:ln/>
        </p:spPr>
        <p:txBody>
          <a:bodyPr wrap="square" lIns="0" tIns="0" rIns="0" bIns="0" rtlCol="0" anchor="ctr"/>
          <a:lstStyle/>
          <a:p>
            <a:pPr indent="0" marL="0">
              <a:buNone/>
            </a:pPr>
            <a:r>
              <a:rPr lang="en-US" sz="1050" b="1" dirty="0">
                <a:solidFill>
                  <a:srgbClr val="231F20"/>
                </a:solidFill>
                <a:latin typeface="Calibri" pitchFamily="34" charset="0"/>
                <a:ea typeface="Calibri" pitchFamily="34" charset="-122"/>
                <a:cs typeface="Calibri" pitchFamily="34" charset="-120"/>
              </a:rPr>
              <a:t>Écart aux enquêtes (pts)</a:t>
            </a:r>
            <a:endParaRPr lang="en-US" sz="1050" dirty="0"/>
          </a:p>
        </p:txBody>
      </p:sp>
      <p:sp>
        <p:nvSpPr>
          <p:cNvPr id="36" name="Text 33"/>
          <p:cNvSpPr txBox="1"/>
          <p:nvPr/>
        </p:nvSpPr>
        <p:spPr>
          <a:xfrm>
            <a:off x="2331720" y="4032504"/>
            <a:ext cx="2971800" cy="429768"/>
          </a:xfrm>
          <a:prstGeom prst="rect">
            <a:avLst/>
          </a:prstGeom>
          <a:noFill/>
          <a:ln/>
        </p:spPr>
        <p:txBody>
          <a:bodyPr wrap="square" lIns="0" tIns="0" rIns="0" bIns="0" rtlCol="0" anchor="ctr"/>
          <a:lstStyle/>
          <a:p>
            <a:pPr indent="0" marL="0">
              <a:buNone/>
            </a:pPr>
            <a:r>
              <a:rPr lang="en-US" sz="1000" dirty="0">
                <a:solidFill>
                  <a:srgbClr val="0E7C86"/>
                </a:solidFill>
                <a:latin typeface="Calibri" pitchFamily="34" charset="0"/>
                <a:ea typeface="Calibri" pitchFamily="34" charset="-122"/>
                <a:cs typeface="Calibri" pitchFamily="34" charset="-120"/>
              </a:rPr>
              <a:t>(1 − part dans le noir) − taux d'accès WDI EG.ELC.ACCS.ZS</a:t>
            </a:r>
            <a:endParaRPr lang="en-US" sz="1000" dirty="0"/>
          </a:p>
        </p:txBody>
      </p:sp>
      <p:sp>
        <p:nvSpPr>
          <p:cNvPr id="37" name="Text 34"/>
          <p:cNvSpPr txBox="1"/>
          <p:nvPr/>
        </p:nvSpPr>
        <p:spPr>
          <a:xfrm>
            <a:off x="5394960" y="4032504"/>
            <a:ext cx="3200400" cy="429768"/>
          </a:xfrm>
          <a:prstGeom prst="rect">
            <a:avLst/>
          </a:prstGeom>
          <a:noFill/>
          <a:ln/>
        </p:spPr>
        <p:txBody>
          <a:bodyPr wrap="square" lIns="0" tIns="0" rIns="0" bIns="0" rtlCol="0" anchor="ctr"/>
          <a:lstStyle/>
          <a:p>
            <a:pPr indent="0" marL="0">
              <a:buNone/>
            </a:pPr>
            <a:r>
              <a:rPr lang="en-US" sz="950" dirty="0">
                <a:solidFill>
                  <a:srgbClr val="5E6964"/>
                </a:solidFill>
                <a:latin typeface="Calibri" pitchFamily="34" charset="0"/>
                <a:ea typeface="Calibri" pitchFamily="34" charset="-122"/>
                <a:cs typeface="Calibri" pitchFamily="34" charset="-120"/>
              </a:rPr>
              <a:t>Grand écart → accès à faible consommation ou problème de données</a:t>
            </a:r>
            <a:endParaRPr lang="en-US" sz="950" dirty="0"/>
          </a:p>
        </p:txBody>
      </p:sp>
      <p:sp>
        <p:nvSpPr>
          <p:cNvPr id="38" name="Text 35"/>
          <p:cNvSpPr txBox="1"/>
          <p:nvPr/>
        </p:nvSpPr>
        <p:spPr>
          <a:xfrm>
            <a:off x="457200" y="4553712"/>
            <a:ext cx="7223760" cy="219456"/>
          </a:xfrm>
          <a:prstGeom prst="rect">
            <a:avLst/>
          </a:prstGeom>
          <a:noFill/>
          <a:ln/>
        </p:spPr>
        <p:txBody>
          <a:bodyPr wrap="square" lIns="0" tIns="0" rIns="0" bIns="0" rtlCol="0" anchor="ctr"/>
          <a:lstStyle/>
          <a:p>
            <a:pPr indent="0" marL="0">
              <a:buNone/>
            </a:pPr>
            <a:r>
              <a:rPr lang="en-US" sz="900" i="1" dirty="0">
                <a:solidFill>
                  <a:srgbClr val="5E6964"/>
                </a:solidFill>
                <a:latin typeface="Calibri" pitchFamily="34" charset="0"/>
                <a:ea typeface="Calibri" pitchFamily="34" charset="-122"/>
                <a:cs typeface="Calibri" pitchFamily="34" charset="-120"/>
              </a:rPr>
              <a:t>Sources : Theil (1967) ; Schiavina et al. (2023) GHSL ; Banque mondiale WDI · halos de torchères exclus du décompte</a:t>
            </a:r>
            <a:endParaRPr lang="en-US" sz="9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8A9590"/>
                </a:solidFill>
                <a:latin typeface="Calibri"/>
                <a:ea typeface="Calibri"/>
                <a:cs typeface="Calibri"/>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3"/>
          <p:cNvSpPr/>
          <p:nvPr>
            <p:ph idx="105" type="body" hasCustomPrompt="1"/>
          </p:nvPr>
        </p:nvSpPr>
        <p:spPr>
          <a:xfrm>
            <a:off x="457200" y="274320"/>
            <a:ext cx="6217920" cy="256032"/>
          </a:xfrm>
          <a:prstGeom prst="rect">
            <a:avLst/>
          </a:prstGeom>
          <a:noFill/>
          <a:ln/>
        </p:spPr>
        <p:txBody>
          <a:bodyPr wrap="square" lIns="0" tIns="0" rIns="0" bIns="0" rtlCol="0" anchor="ctr"/>
          <a:lstStyle/>
          <a:p>
            <a:pPr algn="l" indent="0" marL="0">
              <a:buNone/>
            </a:pPr>
            <a:r>
              <a:rPr lang="en-US" sz="1050" b="1" spc="300" kern="0" dirty="0">
                <a:solidFill>
                  <a:srgbClr val="00704A"/>
                </a:solidFill>
                <a:latin typeface="Calibri" pitchFamily="34" charset="0"/>
                <a:ea typeface="Calibri" pitchFamily="34" charset="-122"/>
                <a:cs typeface="Calibri" pitchFamily="34" charset="-120"/>
              </a:rPr>
              <a:t>04 · ANALYSER · SCÉNARIO 6</a:t>
            </a:r>
            <a:endParaRPr lang="en-US" sz="1050" dirty="0"/>
          </a:p>
        </p:txBody>
      </p:sp>
      <p:sp>
        <p:nvSpPr>
          <p:cNvPr id="3" name="Text 3"/>
          <p:cNvSpPr/>
          <p:nvPr>
            <p:ph idx="106" type="title" hasCustomPrompt="1"/>
          </p:nvPr>
        </p:nvSpPr>
        <p:spPr>
          <a:xfrm>
            <a:off x="457200" y="548640"/>
            <a:ext cx="8229600" cy="566928"/>
          </a:xfrm>
          <a:prstGeom prst="rect">
            <a:avLst/>
          </a:prstGeom>
          <a:noFill/>
          <a:ln/>
        </p:spPr>
        <p:txBody>
          <a:bodyPr wrap="square" lIns="0" tIns="0" rIns="0" bIns="0" rtlCol="0" anchor="ctr"/>
          <a:lstStyle/>
          <a:p>
            <a:pPr algn="l" indent="0" marL="0">
              <a:buNone/>
            </a:pPr>
            <a:r>
              <a:rPr lang="en-US" sz="2800" b="1" dirty="0">
                <a:solidFill>
                  <a:srgbClr val="231F20"/>
                </a:solidFill>
                <a:latin typeface="Calibri" pitchFamily="34" charset="0"/>
                <a:ea typeface="Calibri" pitchFamily="34" charset="-122"/>
                <a:cs typeface="Calibri" pitchFamily="34" charset="-120"/>
              </a:rPr>
              <a:t>Zones industrielles : quatre signaux, un score par pixel</a:t>
            </a:r>
            <a:endParaRPr lang="en-US" sz="2800" dirty="0"/>
          </a:p>
        </p:txBody>
      </p:sp>
      <p:sp>
        <p:nvSpPr>
          <p:cNvPr id="4" name="dot0"/>
          <p:cNvSpPr/>
          <p:nvPr/>
        </p:nvSpPr>
        <p:spPr>
          <a:xfrm>
            <a:off x="7644384" y="338328"/>
            <a:ext cx="100584" cy="100584"/>
          </a:xfrm>
          <a:prstGeom prst="ellipse">
            <a:avLst/>
          </a:prstGeom>
          <a:solidFill>
            <a:srgbClr val="D5DED9"/>
          </a:solidFill>
          <a:ln w="12700">
            <a:solidFill>
              <a:srgbClr val="D5DED9"/>
            </a:solidFill>
            <a:prstDash val="solid"/>
          </a:ln>
        </p:spPr>
      </p:sp>
      <p:sp>
        <p:nvSpPr>
          <p:cNvPr id="5" name="dot1"/>
          <p:cNvSpPr/>
          <p:nvPr/>
        </p:nvSpPr>
        <p:spPr>
          <a:xfrm>
            <a:off x="7818120" y="338328"/>
            <a:ext cx="100584" cy="100584"/>
          </a:xfrm>
          <a:prstGeom prst="ellipse">
            <a:avLst/>
          </a:prstGeom>
          <a:solidFill>
            <a:srgbClr val="D5DED9"/>
          </a:solidFill>
          <a:ln w="12700">
            <a:solidFill>
              <a:srgbClr val="D5DED9"/>
            </a:solidFill>
            <a:prstDash val="solid"/>
          </a:ln>
        </p:spPr>
      </p:sp>
      <p:sp>
        <p:nvSpPr>
          <p:cNvPr id="6" name="dot2"/>
          <p:cNvSpPr/>
          <p:nvPr/>
        </p:nvSpPr>
        <p:spPr>
          <a:xfrm>
            <a:off x="7991856" y="338328"/>
            <a:ext cx="100584" cy="100584"/>
          </a:xfrm>
          <a:prstGeom prst="ellipse">
            <a:avLst/>
          </a:prstGeom>
          <a:solidFill>
            <a:srgbClr val="D5DED9"/>
          </a:solidFill>
          <a:ln w="12700">
            <a:solidFill>
              <a:srgbClr val="D5DED9"/>
            </a:solidFill>
            <a:prstDash val="solid"/>
          </a:ln>
        </p:spPr>
      </p:sp>
      <p:sp>
        <p:nvSpPr>
          <p:cNvPr id="7" name="dot3"/>
          <p:cNvSpPr/>
          <p:nvPr/>
        </p:nvSpPr>
        <p:spPr>
          <a:xfrm>
            <a:off x="8165592" y="338328"/>
            <a:ext cx="100584" cy="100584"/>
          </a:xfrm>
          <a:prstGeom prst="ellipse">
            <a:avLst/>
          </a:prstGeom>
          <a:solidFill>
            <a:srgbClr val="D49A00"/>
          </a:solidFill>
          <a:ln w="12700">
            <a:solidFill>
              <a:srgbClr val="D49A00"/>
            </a:solidFill>
            <a:prstDash val="solid"/>
          </a:ln>
        </p:spPr>
      </p:sp>
      <p:sp>
        <p:nvSpPr>
          <p:cNvPr id="8" name="dot4"/>
          <p:cNvSpPr/>
          <p:nvPr/>
        </p:nvSpPr>
        <p:spPr>
          <a:xfrm>
            <a:off x="8339328" y="338328"/>
            <a:ext cx="100584" cy="100584"/>
          </a:xfrm>
          <a:prstGeom prst="ellipse">
            <a:avLst/>
          </a:prstGeom>
          <a:solidFill>
            <a:srgbClr val="D5DED9"/>
          </a:solidFill>
          <a:ln w="12700">
            <a:solidFill>
              <a:srgbClr val="D5DED9"/>
            </a:solidFill>
            <a:prstDash val="solid"/>
          </a:ln>
        </p:spPr>
      </p:sp>
      <p:sp>
        <p:nvSpPr>
          <p:cNvPr id="9" name="dot5"/>
          <p:cNvSpPr/>
          <p:nvPr/>
        </p:nvSpPr>
        <p:spPr>
          <a:xfrm>
            <a:off x="8513064" y="338328"/>
            <a:ext cx="100584" cy="100584"/>
          </a:xfrm>
          <a:prstGeom prst="ellipse">
            <a:avLst/>
          </a:prstGeom>
          <a:solidFill>
            <a:srgbClr val="D5DED9"/>
          </a:solidFill>
          <a:ln w="12700">
            <a:solidFill>
              <a:srgbClr val="D5DED9"/>
            </a:solidFill>
            <a:prstDash val="solid"/>
          </a:ln>
        </p:spPr>
      </p:sp>
      <p:sp>
        <p:nvSpPr>
          <p:cNvPr id="11" name="Text 8"/>
          <p:cNvSpPr txBox="1"/>
          <p:nvPr/>
        </p:nvSpPr>
        <p:spPr>
          <a:xfrm>
            <a:off x="548640" y="1325880"/>
            <a:ext cx="2011680" cy="219456"/>
          </a:xfrm>
          <a:prstGeom prst="rect">
            <a:avLst/>
          </a:prstGeom>
          <a:noFill/>
          <a:ln/>
        </p:spPr>
        <p:txBody>
          <a:bodyPr wrap="square" lIns="0" tIns="0" rIns="0" bIns="0" rtlCol="0" anchor="ctr"/>
          <a:lstStyle/>
          <a:p>
            <a:pPr indent="0" marL="0">
              <a:buNone/>
            </a:pPr>
            <a:r>
              <a:rPr lang="en-US" sz="900" b="1" spc="200" kern="0" dirty="0">
                <a:solidFill>
                  <a:srgbClr val="D49A00"/>
                </a:solidFill>
                <a:latin typeface="Calibri" pitchFamily="34" charset="0"/>
                <a:ea typeface="Calibri" pitchFamily="34" charset="-122"/>
                <a:cs typeface="Calibri" pitchFamily="34" charset="-120"/>
              </a:rPr>
              <a:t>SIGNAL</a:t>
            </a:r>
            <a:endParaRPr lang="en-US" sz="900" dirty="0"/>
          </a:p>
        </p:txBody>
      </p:sp>
      <p:sp>
        <p:nvSpPr>
          <p:cNvPr id="12" name="Text 9"/>
          <p:cNvSpPr txBox="1"/>
          <p:nvPr/>
        </p:nvSpPr>
        <p:spPr>
          <a:xfrm>
            <a:off x="2560320" y="1325880"/>
            <a:ext cx="1828800" cy="219456"/>
          </a:xfrm>
          <a:prstGeom prst="rect">
            <a:avLst/>
          </a:prstGeom>
          <a:noFill/>
          <a:ln/>
        </p:spPr>
        <p:txBody>
          <a:bodyPr wrap="square" lIns="0" tIns="0" rIns="0" bIns="0" rtlCol="0" anchor="ctr"/>
          <a:lstStyle/>
          <a:p>
            <a:pPr indent="0" marL="0">
              <a:buNone/>
            </a:pPr>
            <a:r>
              <a:rPr lang="en-US" sz="900" b="1" spc="200" kern="0" dirty="0">
                <a:solidFill>
                  <a:srgbClr val="D49A00"/>
                </a:solidFill>
                <a:latin typeface="Calibri" pitchFamily="34" charset="0"/>
                <a:ea typeface="Calibri" pitchFamily="34" charset="-122"/>
                <a:cs typeface="Calibri" pitchFamily="34" charset="-120"/>
              </a:rPr>
              <a:t>DONNÉE</a:t>
            </a:r>
            <a:endParaRPr lang="en-US" sz="900" dirty="0"/>
          </a:p>
        </p:txBody>
      </p:sp>
      <p:sp>
        <p:nvSpPr>
          <p:cNvPr id="13" name="Text 10"/>
          <p:cNvSpPr txBox="1"/>
          <p:nvPr/>
        </p:nvSpPr>
        <p:spPr>
          <a:xfrm>
            <a:off x="4389120" y="1325880"/>
            <a:ext cx="2514600" cy="219456"/>
          </a:xfrm>
          <a:prstGeom prst="rect">
            <a:avLst/>
          </a:prstGeom>
          <a:noFill/>
          <a:ln/>
        </p:spPr>
        <p:txBody>
          <a:bodyPr wrap="square" lIns="0" tIns="0" rIns="0" bIns="0" rtlCol="0" anchor="ctr"/>
          <a:lstStyle/>
          <a:p>
            <a:pPr indent="0" marL="0">
              <a:buNone/>
            </a:pPr>
            <a:r>
              <a:rPr lang="en-US" sz="900" b="1" spc="200" kern="0" dirty="0">
                <a:solidFill>
                  <a:srgbClr val="D49A00"/>
                </a:solidFill>
                <a:latin typeface="Calibri" pitchFamily="34" charset="0"/>
                <a:ea typeface="Calibri" pitchFamily="34" charset="-122"/>
                <a:cs typeface="Calibri" pitchFamily="34" charset="-120"/>
              </a:rPr>
              <a:t>NORMALISATION (0–1)</a:t>
            </a:r>
            <a:endParaRPr lang="en-US" sz="900" dirty="0"/>
          </a:p>
        </p:txBody>
      </p:sp>
      <p:sp>
        <p:nvSpPr>
          <p:cNvPr id="14" name="Text 11"/>
          <p:cNvSpPr txBox="1"/>
          <p:nvPr/>
        </p:nvSpPr>
        <p:spPr>
          <a:xfrm>
            <a:off x="6903720" y="1325880"/>
            <a:ext cx="685800" cy="219456"/>
          </a:xfrm>
          <a:prstGeom prst="rect">
            <a:avLst/>
          </a:prstGeom>
          <a:noFill/>
          <a:ln/>
        </p:spPr>
        <p:txBody>
          <a:bodyPr wrap="square" lIns="0" tIns="0" rIns="0" bIns="0" rtlCol="0" anchor="ctr"/>
          <a:lstStyle/>
          <a:p>
            <a:pPr indent="0" marL="0">
              <a:buNone/>
            </a:pPr>
            <a:r>
              <a:rPr lang="en-US" sz="900" b="1" spc="200" kern="0" dirty="0">
                <a:solidFill>
                  <a:srgbClr val="D49A00"/>
                </a:solidFill>
                <a:latin typeface="Calibri" pitchFamily="34" charset="0"/>
                <a:ea typeface="Calibri" pitchFamily="34" charset="-122"/>
                <a:cs typeface="Calibri" pitchFamily="34" charset="-120"/>
              </a:rPr>
              <a:t>POIDS</a:t>
            </a:r>
            <a:endParaRPr lang="en-US" sz="900" dirty="0"/>
          </a:p>
        </p:txBody>
      </p:sp>
      <p:sp>
        <p:nvSpPr>
          <p:cNvPr id="15" name="Shape 12"/>
          <p:cNvSpPr/>
          <p:nvPr/>
        </p:nvSpPr>
        <p:spPr>
          <a:xfrm>
            <a:off x="457200" y="1600200"/>
            <a:ext cx="7132320" cy="411480"/>
          </a:xfrm>
          <a:prstGeom prst="roundRect">
            <a:avLst>
              <a:gd name="adj" fmla="val 11111"/>
            </a:avLst>
          </a:prstGeom>
          <a:solidFill>
            <a:srgbClr val="F4F7F5"/>
          </a:solidFill>
          <a:ln w="6350">
            <a:solidFill>
              <a:srgbClr val="D5DED9"/>
            </a:solidFill>
            <a:prstDash val="solid"/>
          </a:ln>
        </p:spPr>
      </p:sp>
      <p:sp>
        <p:nvSpPr>
          <p:cNvPr id="16" name="Text 13"/>
          <p:cNvSpPr txBox="1"/>
          <p:nvPr/>
        </p:nvSpPr>
        <p:spPr>
          <a:xfrm>
            <a:off x="548640" y="1600200"/>
            <a:ext cx="1920240" cy="411480"/>
          </a:xfrm>
          <a:prstGeom prst="rect">
            <a:avLst/>
          </a:prstGeom>
          <a:noFill/>
          <a:ln/>
        </p:spPr>
        <p:txBody>
          <a:bodyPr wrap="square" lIns="0" tIns="0" rIns="0" bIns="0" rtlCol="0" anchor="ctr"/>
          <a:lstStyle/>
          <a:p>
            <a:pPr algn="l" indent="0" marL="0">
              <a:buNone/>
            </a:pPr>
            <a:r>
              <a:rPr lang="en-US" sz="1000" b="1" dirty="0">
                <a:solidFill>
                  <a:srgbClr val="231F20"/>
                </a:solidFill>
                <a:latin typeface="Calibri" pitchFamily="34" charset="0"/>
                <a:ea typeface="Calibri" pitchFamily="34" charset="-122"/>
                <a:cs typeface="Calibri" pitchFamily="34" charset="-120"/>
              </a:rPr>
              <a:t>Bâti non résidentiel</a:t>
            </a:r>
            <a:endParaRPr lang="en-US" sz="1000" dirty="0"/>
          </a:p>
        </p:txBody>
      </p:sp>
      <p:sp>
        <p:nvSpPr>
          <p:cNvPr id="17" name="Text 14"/>
          <p:cNvSpPr txBox="1"/>
          <p:nvPr/>
        </p:nvSpPr>
        <p:spPr>
          <a:xfrm>
            <a:off x="2560320" y="1600200"/>
            <a:ext cx="1737360" cy="411480"/>
          </a:xfrm>
          <a:prstGeom prst="rect">
            <a:avLst/>
          </a:prstGeom>
          <a:noFill/>
          <a:ln/>
        </p:spPr>
        <p:txBody>
          <a:bodyPr wrap="square" lIns="0" tIns="0" rIns="0" bIns="0" rtlCol="0" anchor="ctr"/>
          <a:lstStyle/>
          <a:p>
            <a:pPr algn="l" indent="0" marL="0">
              <a:buNone/>
            </a:pPr>
            <a:r>
              <a:rPr lang="en-US" sz="1000" dirty="0">
                <a:solidFill>
                  <a:srgbClr val="231F20"/>
                </a:solidFill>
                <a:latin typeface="Calibri" pitchFamily="34" charset="0"/>
                <a:ea typeface="Calibri" pitchFamily="34" charset="-122"/>
                <a:cs typeface="Calibri" pitchFamily="34" charset="-120"/>
              </a:rPr>
              <a:t>GHSL BUILT-S</a:t>
            </a:r>
            <a:endParaRPr lang="en-US" sz="1000" dirty="0"/>
          </a:p>
        </p:txBody>
      </p:sp>
      <p:sp>
        <p:nvSpPr>
          <p:cNvPr id="18" name="Text 15"/>
          <p:cNvSpPr txBox="1"/>
          <p:nvPr/>
        </p:nvSpPr>
        <p:spPr>
          <a:xfrm>
            <a:off x="4389120" y="1600200"/>
            <a:ext cx="2423160" cy="411480"/>
          </a:xfrm>
          <a:prstGeom prst="rect">
            <a:avLst/>
          </a:prstGeom>
          <a:noFill/>
          <a:ln/>
        </p:spPr>
        <p:txBody>
          <a:bodyPr wrap="square" lIns="0" tIns="0" rIns="0" bIns="0" rtlCol="0" anchor="ctr"/>
          <a:lstStyle/>
          <a:p>
            <a:pPr algn="l" indent="0" marL="0">
              <a:buNone/>
            </a:pPr>
            <a:r>
              <a:rPr lang="en-US" sz="1000" dirty="0">
                <a:solidFill>
                  <a:srgbClr val="0E7C86"/>
                </a:solidFill>
                <a:latin typeface="Calibri" pitchFamily="34" charset="0"/>
                <a:ea typeface="Calibri" pitchFamily="34" charset="-122"/>
                <a:cs typeface="Calibri" pitchFamily="34" charset="-120"/>
              </a:rPr>
              <a:t>part nres / 0,6</a:t>
            </a:r>
            <a:endParaRPr lang="en-US" sz="1000" dirty="0"/>
          </a:p>
        </p:txBody>
      </p:sp>
      <p:sp>
        <p:nvSpPr>
          <p:cNvPr id="19" name="Text 16"/>
          <p:cNvSpPr txBox="1"/>
          <p:nvPr/>
        </p:nvSpPr>
        <p:spPr>
          <a:xfrm>
            <a:off x="6903720" y="1600200"/>
            <a:ext cx="594360" cy="411480"/>
          </a:xfrm>
          <a:prstGeom prst="rect">
            <a:avLst/>
          </a:prstGeom>
          <a:noFill/>
          <a:ln/>
        </p:spPr>
        <p:txBody>
          <a:bodyPr wrap="square" lIns="0" tIns="0" rIns="0" bIns="0" rtlCol="0" anchor="ctr"/>
          <a:lstStyle/>
          <a:p>
            <a:pPr algn="ctr" indent="0" marL="0">
              <a:buNone/>
            </a:pPr>
            <a:r>
              <a:rPr lang="en-US" sz="1300" b="1" dirty="0">
                <a:solidFill>
                  <a:srgbClr val="00664A"/>
                </a:solidFill>
                <a:latin typeface="Calibri" pitchFamily="34" charset="0"/>
                <a:ea typeface="Calibri" pitchFamily="34" charset="-122"/>
                <a:cs typeface="Calibri" pitchFamily="34" charset="-120"/>
              </a:rPr>
              <a:t>35 %</a:t>
            </a:r>
            <a:endParaRPr lang="en-US" sz="1300" dirty="0"/>
          </a:p>
        </p:txBody>
      </p:sp>
      <p:sp>
        <p:nvSpPr>
          <p:cNvPr id="20" name="Shape 17"/>
          <p:cNvSpPr/>
          <p:nvPr/>
        </p:nvSpPr>
        <p:spPr>
          <a:xfrm>
            <a:off x="7726680" y="1691640"/>
            <a:ext cx="960120" cy="228600"/>
          </a:xfrm>
          <a:prstGeom prst="rect">
            <a:avLst/>
          </a:prstGeom>
          <a:solidFill>
            <a:srgbClr val="00664A"/>
          </a:solidFill>
          <a:ln w="12700">
            <a:solidFill>
              <a:srgbClr val="00664A"/>
            </a:solidFill>
            <a:prstDash val="solid"/>
          </a:ln>
        </p:spPr>
      </p:sp>
      <p:sp>
        <p:nvSpPr>
          <p:cNvPr id="21" name="Shape 18"/>
          <p:cNvSpPr/>
          <p:nvPr/>
        </p:nvSpPr>
        <p:spPr>
          <a:xfrm>
            <a:off x="457200" y="2075688"/>
            <a:ext cx="7132320" cy="411480"/>
          </a:xfrm>
          <a:prstGeom prst="roundRect">
            <a:avLst>
              <a:gd name="adj" fmla="val 11111"/>
            </a:avLst>
          </a:prstGeom>
          <a:solidFill>
            <a:srgbClr val="FFFFFF"/>
          </a:solidFill>
          <a:ln w="6350">
            <a:solidFill>
              <a:srgbClr val="D5DED9"/>
            </a:solidFill>
            <a:prstDash val="solid"/>
          </a:ln>
        </p:spPr>
      </p:sp>
      <p:sp>
        <p:nvSpPr>
          <p:cNvPr id="22" name="Text 19"/>
          <p:cNvSpPr txBox="1"/>
          <p:nvPr/>
        </p:nvSpPr>
        <p:spPr>
          <a:xfrm>
            <a:off x="548640" y="2075688"/>
            <a:ext cx="1920240" cy="411480"/>
          </a:xfrm>
          <a:prstGeom prst="rect">
            <a:avLst/>
          </a:prstGeom>
          <a:noFill/>
          <a:ln/>
        </p:spPr>
        <p:txBody>
          <a:bodyPr wrap="square" lIns="0" tIns="0" rIns="0" bIns="0" rtlCol="0" anchor="ctr"/>
          <a:lstStyle/>
          <a:p>
            <a:pPr algn="l" indent="0" marL="0">
              <a:buNone/>
            </a:pPr>
            <a:r>
              <a:rPr lang="en-US" sz="1000" b="1" dirty="0">
                <a:solidFill>
                  <a:srgbClr val="231F20"/>
                </a:solidFill>
                <a:latin typeface="Calibri" pitchFamily="34" charset="0"/>
                <a:ea typeface="Calibri" pitchFamily="34" charset="-122"/>
                <a:cs typeface="Calibri" pitchFamily="34" charset="-120"/>
              </a:rPr>
              <a:t>Intensité lumineuse</a:t>
            </a:r>
            <a:endParaRPr lang="en-US" sz="1000" dirty="0"/>
          </a:p>
        </p:txBody>
      </p:sp>
      <p:sp>
        <p:nvSpPr>
          <p:cNvPr id="23" name="Text 20"/>
          <p:cNvSpPr txBox="1"/>
          <p:nvPr/>
        </p:nvSpPr>
        <p:spPr>
          <a:xfrm>
            <a:off x="2560320" y="2075688"/>
            <a:ext cx="1737360" cy="411480"/>
          </a:xfrm>
          <a:prstGeom prst="rect">
            <a:avLst/>
          </a:prstGeom>
          <a:noFill/>
          <a:ln/>
        </p:spPr>
        <p:txBody>
          <a:bodyPr wrap="square" lIns="0" tIns="0" rIns="0" bIns="0" rtlCol="0" anchor="ctr"/>
          <a:lstStyle/>
          <a:p>
            <a:pPr algn="l" indent="0" marL="0">
              <a:buNone/>
            </a:pPr>
            <a:r>
              <a:rPr lang="en-US" sz="1000" dirty="0">
                <a:solidFill>
                  <a:srgbClr val="231F20"/>
                </a:solidFill>
                <a:latin typeface="Calibri" pitchFamily="34" charset="0"/>
                <a:ea typeface="Calibri" pitchFamily="34" charset="-122"/>
                <a:cs typeface="Calibri" pitchFamily="34" charset="-120"/>
              </a:rPr>
              <a:t>VNL, médiane 3 dern. ans</a:t>
            </a:r>
            <a:endParaRPr lang="en-US" sz="1000" dirty="0"/>
          </a:p>
        </p:txBody>
      </p:sp>
      <p:sp>
        <p:nvSpPr>
          <p:cNvPr id="24" name="Text 21"/>
          <p:cNvSpPr txBox="1"/>
          <p:nvPr/>
        </p:nvSpPr>
        <p:spPr>
          <a:xfrm>
            <a:off x="4389120" y="2075688"/>
            <a:ext cx="2423160" cy="411480"/>
          </a:xfrm>
          <a:prstGeom prst="rect">
            <a:avLst/>
          </a:prstGeom>
          <a:noFill/>
          <a:ln/>
        </p:spPr>
        <p:txBody>
          <a:bodyPr wrap="square" lIns="0" tIns="0" rIns="0" bIns="0" rtlCol="0" anchor="ctr"/>
          <a:lstStyle/>
          <a:p>
            <a:pPr algn="l" indent="0" marL="0">
              <a:buNone/>
            </a:pPr>
            <a:r>
              <a:rPr lang="en-US" sz="1000" dirty="0">
                <a:solidFill>
                  <a:srgbClr val="0E7C86"/>
                </a:solidFill>
                <a:latin typeface="Calibri" pitchFamily="34" charset="0"/>
                <a:ea typeface="Calibri" pitchFamily="34" charset="-122"/>
                <a:cs typeface="Calibri" pitchFamily="34" charset="-120"/>
              </a:rPr>
              <a:t>log₁₀(radiance) / 2</a:t>
            </a:r>
            <a:endParaRPr lang="en-US" sz="1000" dirty="0"/>
          </a:p>
        </p:txBody>
      </p:sp>
      <p:sp>
        <p:nvSpPr>
          <p:cNvPr id="25" name="Text 22"/>
          <p:cNvSpPr txBox="1"/>
          <p:nvPr/>
        </p:nvSpPr>
        <p:spPr>
          <a:xfrm>
            <a:off x="6903720" y="2075688"/>
            <a:ext cx="594360" cy="411480"/>
          </a:xfrm>
          <a:prstGeom prst="rect">
            <a:avLst/>
          </a:prstGeom>
          <a:noFill/>
          <a:ln/>
        </p:spPr>
        <p:txBody>
          <a:bodyPr wrap="square" lIns="0" tIns="0" rIns="0" bIns="0" rtlCol="0" anchor="ctr"/>
          <a:lstStyle/>
          <a:p>
            <a:pPr algn="ctr" indent="0" marL="0">
              <a:buNone/>
            </a:pPr>
            <a:r>
              <a:rPr lang="en-US" sz="1300" b="1" dirty="0">
                <a:solidFill>
                  <a:srgbClr val="10A06A"/>
                </a:solidFill>
                <a:latin typeface="Calibri" pitchFamily="34" charset="0"/>
                <a:ea typeface="Calibri" pitchFamily="34" charset="-122"/>
                <a:cs typeface="Calibri" pitchFamily="34" charset="-120"/>
              </a:rPr>
              <a:t>30 %</a:t>
            </a:r>
            <a:endParaRPr lang="en-US" sz="1300" dirty="0"/>
          </a:p>
        </p:txBody>
      </p:sp>
      <p:sp>
        <p:nvSpPr>
          <p:cNvPr id="26" name="Shape 23"/>
          <p:cNvSpPr/>
          <p:nvPr/>
        </p:nvSpPr>
        <p:spPr>
          <a:xfrm>
            <a:off x="7726680" y="2167128"/>
            <a:ext cx="822960" cy="228600"/>
          </a:xfrm>
          <a:prstGeom prst="rect">
            <a:avLst/>
          </a:prstGeom>
          <a:solidFill>
            <a:srgbClr val="10A06A"/>
          </a:solidFill>
          <a:ln w="12700">
            <a:solidFill>
              <a:srgbClr val="10A06A"/>
            </a:solidFill>
            <a:prstDash val="solid"/>
          </a:ln>
        </p:spPr>
      </p:sp>
      <p:sp>
        <p:nvSpPr>
          <p:cNvPr id="27" name="Shape 24"/>
          <p:cNvSpPr/>
          <p:nvPr/>
        </p:nvSpPr>
        <p:spPr>
          <a:xfrm>
            <a:off x="457200" y="2551176"/>
            <a:ext cx="7132320" cy="411480"/>
          </a:xfrm>
          <a:prstGeom prst="roundRect">
            <a:avLst>
              <a:gd name="adj" fmla="val 11111"/>
            </a:avLst>
          </a:prstGeom>
          <a:solidFill>
            <a:srgbClr val="F4F7F5"/>
          </a:solidFill>
          <a:ln w="6350">
            <a:solidFill>
              <a:srgbClr val="D5DED9"/>
            </a:solidFill>
            <a:prstDash val="solid"/>
          </a:ln>
        </p:spPr>
      </p:sp>
      <p:sp>
        <p:nvSpPr>
          <p:cNvPr id="28" name="Text 25"/>
          <p:cNvSpPr txBox="1"/>
          <p:nvPr/>
        </p:nvSpPr>
        <p:spPr>
          <a:xfrm>
            <a:off x="548640" y="2551176"/>
            <a:ext cx="1920240" cy="411480"/>
          </a:xfrm>
          <a:prstGeom prst="rect">
            <a:avLst/>
          </a:prstGeom>
          <a:noFill/>
          <a:ln/>
        </p:spPr>
        <p:txBody>
          <a:bodyPr wrap="square" lIns="0" tIns="0" rIns="0" bIns="0" rtlCol="0" anchor="ctr"/>
          <a:lstStyle/>
          <a:p>
            <a:pPr algn="l" indent="0" marL="0">
              <a:buNone/>
            </a:pPr>
            <a:r>
              <a:rPr lang="en-US" sz="1000" b="1" dirty="0">
                <a:solidFill>
                  <a:srgbClr val="231F20"/>
                </a:solidFill>
                <a:latin typeface="Calibri" pitchFamily="34" charset="0"/>
                <a:ea typeface="Calibri" pitchFamily="34" charset="-122"/>
                <a:cs typeface="Calibri" pitchFamily="34" charset="-120"/>
              </a:rPr>
              <a:t>Émissions de NO₂</a:t>
            </a:r>
            <a:endParaRPr lang="en-US" sz="1000" dirty="0"/>
          </a:p>
        </p:txBody>
      </p:sp>
      <p:sp>
        <p:nvSpPr>
          <p:cNvPr id="29" name="Text 26"/>
          <p:cNvSpPr txBox="1"/>
          <p:nvPr/>
        </p:nvSpPr>
        <p:spPr>
          <a:xfrm>
            <a:off x="2560320" y="2551176"/>
            <a:ext cx="1737360" cy="411480"/>
          </a:xfrm>
          <a:prstGeom prst="rect">
            <a:avLst/>
          </a:prstGeom>
          <a:noFill/>
          <a:ln/>
        </p:spPr>
        <p:txBody>
          <a:bodyPr wrap="square" lIns="0" tIns="0" rIns="0" bIns="0" rtlCol="0" anchor="ctr"/>
          <a:lstStyle/>
          <a:p>
            <a:pPr algn="l" indent="0" marL="0">
              <a:buNone/>
            </a:pPr>
            <a:r>
              <a:rPr lang="en-US" sz="1000" dirty="0">
                <a:solidFill>
                  <a:srgbClr val="231F20"/>
                </a:solidFill>
                <a:latin typeface="Calibri" pitchFamily="34" charset="0"/>
                <a:ea typeface="Calibri" pitchFamily="34" charset="-122"/>
                <a:cs typeface="Calibri" pitchFamily="34" charset="-120"/>
              </a:rPr>
              <a:t>Sentinel-5P, moyenne annuelle</a:t>
            </a:r>
            <a:endParaRPr lang="en-US" sz="1000" dirty="0"/>
          </a:p>
        </p:txBody>
      </p:sp>
      <p:sp>
        <p:nvSpPr>
          <p:cNvPr id="30" name="Text 27"/>
          <p:cNvSpPr txBox="1"/>
          <p:nvPr/>
        </p:nvSpPr>
        <p:spPr>
          <a:xfrm>
            <a:off x="4389120" y="2551176"/>
            <a:ext cx="2423160" cy="411480"/>
          </a:xfrm>
          <a:prstGeom prst="rect">
            <a:avLst/>
          </a:prstGeom>
          <a:noFill/>
          <a:ln/>
        </p:spPr>
        <p:txBody>
          <a:bodyPr wrap="square" lIns="0" tIns="0" rIns="0" bIns="0" rtlCol="0" anchor="ctr"/>
          <a:lstStyle/>
          <a:p>
            <a:pPr algn="l" indent="0" marL="0">
              <a:buNone/>
            </a:pPr>
            <a:r>
              <a:rPr lang="en-US" sz="1000" dirty="0">
                <a:solidFill>
                  <a:srgbClr val="0E7C86"/>
                </a:solidFill>
                <a:latin typeface="Calibri" pitchFamily="34" charset="0"/>
                <a:ea typeface="Calibri" pitchFamily="34" charset="-122"/>
                <a:cs typeface="Calibri" pitchFamily="34" charset="-120"/>
              </a:rPr>
              <a:t>(NO₂ − med) / (p98 − med)</a:t>
            </a:r>
            <a:endParaRPr lang="en-US" sz="1000" dirty="0"/>
          </a:p>
        </p:txBody>
      </p:sp>
      <p:sp>
        <p:nvSpPr>
          <p:cNvPr id="31" name="Text 28"/>
          <p:cNvSpPr txBox="1"/>
          <p:nvPr/>
        </p:nvSpPr>
        <p:spPr>
          <a:xfrm>
            <a:off x="6903720" y="2551176"/>
            <a:ext cx="594360" cy="411480"/>
          </a:xfrm>
          <a:prstGeom prst="rect">
            <a:avLst/>
          </a:prstGeom>
          <a:noFill/>
          <a:ln/>
        </p:spPr>
        <p:txBody>
          <a:bodyPr wrap="square" lIns="0" tIns="0" rIns="0" bIns="0" rtlCol="0" anchor="ctr"/>
          <a:lstStyle/>
          <a:p>
            <a:pPr algn="ctr" indent="0" marL="0">
              <a:buNone/>
            </a:pPr>
            <a:r>
              <a:rPr lang="en-US" sz="1300" b="1" dirty="0">
                <a:solidFill>
                  <a:srgbClr val="57BD92"/>
                </a:solidFill>
                <a:latin typeface="Calibri" pitchFamily="34" charset="0"/>
                <a:ea typeface="Calibri" pitchFamily="34" charset="-122"/>
                <a:cs typeface="Calibri" pitchFamily="34" charset="-120"/>
              </a:rPr>
              <a:t>20 %</a:t>
            </a:r>
            <a:endParaRPr lang="en-US" sz="1300" dirty="0"/>
          </a:p>
        </p:txBody>
      </p:sp>
      <p:sp>
        <p:nvSpPr>
          <p:cNvPr id="32" name="Shape 29"/>
          <p:cNvSpPr/>
          <p:nvPr/>
        </p:nvSpPr>
        <p:spPr>
          <a:xfrm>
            <a:off x="7726680" y="2642616"/>
            <a:ext cx="548640" cy="228600"/>
          </a:xfrm>
          <a:prstGeom prst="rect">
            <a:avLst/>
          </a:prstGeom>
          <a:solidFill>
            <a:srgbClr val="57BD92"/>
          </a:solidFill>
          <a:ln w="12700">
            <a:solidFill>
              <a:srgbClr val="57BD92"/>
            </a:solidFill>
            <a:prstDash val="solid"/>
          </a:ln>
        </p:spPr>
      </p:sp>
      <p:sp>
        <p:nvSpPr>
          <p:cNvPr id="33" name="Shape 30"/>
          <p:cNvSpPr/>
          <p:nvPr/>
        </p:nvSpPr>
        <p:spPr>
          <a:xfrm>
            <a:off x="457200" y="3026664"/>
            <a:ext cx="7132320" cy="411480"/>
          </a:xfrm>
          <a:prstGeom prst="roundRect">
            <a:avLst>
              <a:gd name="adj" fmla="val 11111"/>
            </a:avLst>
          </a:prstGeom>
          <a:solidFill>
            <a:srgbClr val="FFFFFF"/>
          </a:solidFill>
          <a:ln w="6350">
            <a:solidFill>
              <a:srgbClr val="D5DED9"/>
            </a:solidFill>
            <a:prstDash val="solid"/>
          </a:ln>
        </p:spPr>
      </p:sp>
      <p:sp>
        <p:nvSpPr>
          <p:cNvPr id="34" name="Text 31"/>
          <p:cNvSpPr txBox="1"/>
          <p:nvPr/>
        </p:nvSpPr>
        <p:spPr>
          <a:xfrm>
            <a:off x="548640" y="3026664"/>
            <a:ext cx="1920240" cy="411480"/>
          </a:xfrm>
          <a:prstGeom prst="rect">
            <a:avLst/>
          </a:prstGeom>
          <a:noFill/>
          <a:ln/>
        </p:spPr>
        <p:txBody>
          <a:bodyPr wrap="square" lIns="0" tIns="0" rIns="0" bIns="0" rtlCol="0" anchor="ctr"/>
          <a:lstStyle/>
          <a:p>
            <a:pPr algn="l" indent="0" marL="0">
              <a:buNone/>
            </a:pPr>
            <a:r>
              <a:rPr lang="en-US" sz="1000" b="1" dirty="0">
                <a:solidFill>
                  <a:srgbClr val="231F20"/>
                </a:solidFill>
                <a:latin typeface="Calibri" pitchFamily="34" charset="0"/>
                <a:ea typeface="Calibri" pitchFamily="34" charset="-122"/>
                <a:cs typeface="Calibri" pitchFamily="34" charset="-120"/>
              </a:rPr>
              <a:t>Peu de résidents</a:t>
            </a:r>
            <a:endParaRPr lang="en-US" sz="1000" dirty="0"/>
          </a:p>
        </p:txBody>
      </p:sp>
      <p:sp>
        <p:nvSpPr>
          <p:cNvPr id="35" name="Text 32"/>
          <p:cNvSpPr txBox="1"/>
          <p:nvPr/>
        </p:nvSpPr>
        <p:spPr>
          <a:xfrm>
            <a:off x="2560320" y="3026664"/>
            <a:ext cx="1737360" cy="411480"/>
          </a:xfrm>
          <a:prstGeom prst="rect">
            <a:avLst/>
          </a:prstGeom>
          <a:noFill/>
          <a:ln/>
        </p:spPr>
        <p:txBody>
          <a:bodyPr wrap="square" lIns="0" tIns="0" rIns="0" bIns="0" rtlCol="0" anchor="ctr"/>
          <a:lstStyle/>
          <a:p>
            <a:pPr algn="l" indent="0" marL="0">
              <a:buNone/>
            </a:pPr>
            <a:r>
              <a:rPr lang="en-US" sz="1000" dirty="0">
                <a:solidFill>
                  <a:srgbClr val="231F20"/>
                </a:solidFill>
                <a:latin typeface="Calibri" pitchFamily="34" charset="0"/>
                <a:ea typeface="Calibri" pitchFamily="34" charset="-122"/>
                <a:cs typeface="Calibri" pitchFamily="34" charset="-120"/>
              </a:rPr>
              <a:t>GHSL GHS-POP</a:t>
            </a:r>
            <a:endParaRPr lang="en-US" sz="1000" dirty="0"/>
          </a:p>
        </p:txBody>
      </p:sp>
      <p:sp>
        <p:nvSpPr>
          <p:cNvPr id="36" name="Text 33"/>
          <p:cNvSpPr txBox="1"/>
          <p:nvPr/>
        </p:nvSpPr>
        <p:spPr>
          <a:xfrm>
            <a:off x="4389120" y="3026664"/>
            <a:ext cx="2423160" cy="411480"/>
          </a:xfrm>
          <a:prstGeom prst="rect">
            <a:avLst/>
          </a:prstGeom>
          <a:noFill/>
          <a:ln/>
        </p:spPr>
        <p:txBody>
          <a:bodyPr wrap="square" lIns="0" tIns="0" rIns="0" bIns="0" rtlCol="0" anchor="ctr"/>
          <a:lstStyle/>
          <a:p>
            <a:pPr algn="l" indent="0" marL="0">
              <a:buNone/>
            </a:pPr>
            <a:r>
              <a:rPr lang="en-US" sz="1000" dirty="0">
                <a:solidFill>
                  <a:srgbClr val="0E7C86"/>
                </a:solidFill>
                <a:latin typeface="Calibri" pitchFamily="34" charset="0"/>
                <a:ea typeface="Calibri" pitchFamily="34" charset="-122"/>
                <a:cs typeface="Calibri" pitchFamily="34" charset="-120"/>
              </a:rPr>
              <a:t>1 − log₁₀(1 + hab/km²) / log₁₀(5000)</a:t>
            </a:r>
            <a:endParaRPr lang="en-US" sz="1000" dirty="0"/>
          </a:p>
        </p:txBody>
      </p:sp>
      <p:sp>
        <p:nvSpPr>
          <p:cNvPr id="37" name="Text 34"/>
          <p:cNvSpPr txBox="1"/>
          <p:nvPr/>
        </p:nvSpPr>
        <p:spPr>
          <a:xfrm>
            <a:off x="6903720" y="3026664"/>
            <a:ext cx="594360" cy="411480"/>
          </a:xfrm>
          <a:prstGeom prst="rect">
            <a:avLst/>
          </a:prstGeom>
          <a:noFill/>
          <a:ln/>
        </p:spPr>
        <p:txBody>
          <a:bodyPr wrap="square" lIns="0" tIns="0" rIns="0" bIns="0" rtlCol="0" anchor="ctr"/>
          <a:lstStyle/>
          <a:p>
            <a:pPr algn="ctr" indent="0" marL="0">
              <a:buNone/>
            </a:pPr>
            <a:r>
              <a:rPr lang="en-US" sz="1300" b="1" dirty="0">
                <a:solidFill>
                  <a:srgbClr val="9ED9C0"/>
                </a:solidFill>
                <a:latin typeface="Calibri" pitchFamily="34" charset="0"/>
                <a:ea typeface="Calibri" pitchFamily="34" charset="-122"/>
                <a:cs typeface="Calibri" pitchFamily="34" charset="-120"/>
              </a:rPr>
              <a:t>15 %</a:t>
            </a:r>
            <a:endParaRPr lang="en-US" sz="1300" dirty="0"/>
          </a:p>
        </p:txBody>
      </p:sp>
      <p:sp>
        <p:nvSpPr>
          <p:cNvPr id="38" name="Shape 35"/>
          <p:cNvSpPr/>
          <p:nvPr/>
        </p:nvSpPr>
        <p:spPr>
          <a:xfrm>
            <a:off x="7726680" y="3118104"/>
            <a:ext cx="411480" cy="228600"/>
          </a:xfrm>
          <a:prstGeom prst="rect">
            <a:avLst/>
          </a:prstGeom>
          <a:solidFill>
            <a:srgbClr val="9ED9C0"/>
          </a:solidFill>
          <a:ln w="12700">
            <a:solidFill>
              <a:srgbClr val="9ED9C0"/>
            </a:solidFill>
            <a:prstDash val="solid"/>
          </a:ln>
        </p:spPr>
      </p:sp>
      <p:sp>
        <p:nvSpPr>
          <p:cNvPr id="39" name="Shape 36"/>
          <p:cNvSpPr/>
          <p:nvPr/>
        </p:nvSpPr>
        <p:spPr>
          <a:xfrm>
            <a:off x="457200" y="3611880"/>
            <a:ext cx="8229600" cy="822960"/>
          </a:xfrm>
          <a:prstGeom prst="roundRect">
            <a:avLst>
              <a:gd name="adj" fmla="val 8889"/>
            </a:avLst>
          </a:prstGeom>
          <a:solidFill>
            <a:srgbClr val="E8F5EF"/>
          </a:solidFill>
          <a:ln w="15875">
            <a:solidFill>
              <a:srgbClr val="D49A00"/>
            </a:solidFill>
            <a:prstDash val="solid"/>
          </a:ln>
        </p:spPr>
      </p:sp>
      <p:sp>
        <p:nvSpPr>
          <p:cNvPr id="40" name="Text 37"/>
          <p:cNvSpPr txBox="1"/>
          <p:nvPr/>
        </p:nvSpPr>
        <p:spPr>
          <a:xfrm>
            <a:off x="640080" y="3657600"/>
            <a:ext cx="2194560" cy="274320"/>
          </a:xfrm>
          <a:prstGeom prst="rect">
            <a:avLst/>
          </a:prstGeom>
          <a:noFill/>
          <a:ln/>
        </p:spPr>
        <p:txBody>
          <a:bodyPr wrap="square" lIns="0" tIns="0" rIns="0" bIns="0" rtlCol="0" anchor="t"/>
          <a:lstStyle/>
          <a:p>
            <a:pPr indent="0" marL="0">
              <a:buNone/>
            </a:pPr>
            <a:r>
              <a:rPr lang="en-US" sz="1200" b="1" dirty="0">
                <a:solidFill>
                  <a:srgbClr val="D49A00"/>
                </a:solidFill>
                <a:latin typeface="Calibri" pitchFamily="34" charset="0"/>
                <a:ea typeface="Calibri" pitchFamily="34" charset="-122"/>
                <a:cs typeface="Calibri" pitchFamily="34" charset="-120"/>
              </a:rPr>
              <a:t>Score industriel</a:t>
            </a:r>
            <a:endParaRPr lang="en-US" sz="1200" dirty="0"/>
          </a:p>
        </p:txBody>
      </p:sp>
      <p:sp>
        <p:nvSpPr>
          <p:cNvPr id="41" name="Text 38"/>
          <p:cNvSpPr txBox="1"/>
          <p:nvPr/>
        </p:nvSpPr>
        <p:spPr>
          <a:xfrm>
            <a:off x="640080" y="3931920"/>
            <a:ext cx="7863840" cy="411480"/>
          </a:xfrm>
          <a:prstGeom prst="rect">
            <a:avLst/>
          </a:prstGeom>
          <a:noFill/>
          <a:ln/>
        </p:spPr>
        <p:txBody>
          <a:bodyPr wrap="square" lIns="0" tIns="0" rIns="0" bIns="0" rtlCol="0" anchor="ctr"/>
          <a:lstStyle/>
          <a:p>
            <a:pPr indent="0" marL="0">
              <a:buNone/>
            </a:pPr>
            <a:r>
              <a:rPr lang="en-US" sz="1300" b="1" dirty="0">
                <a:solidFill>
                  <a:srgbClr val="231F20"/>
                </a:solidFill>
                <a:latin typeface="Calibri" pitchFamily="34" charset="0"/>
                <a:ea typeface="Calibri" pitchFamily="34" charset="-122"/>
                <a:cs typeface="Calibri" pitchFamily="34" charset="-120"/>
              </a:rPr>
              <a:t>S = 0,35·bâti_nres + 0,30·lumière + 0,20·NO₂ + 0,15·peu_résidents   (chaque signal borné à 0–1)</a:t>
            </a:r>
            <a:endParaRPr lang="en-US" sz="1300" dirty="0"/>
          </a:p>
        </p:txBody>
      </p:sp>
      <p:sp>
        <p:nvSpPr>
          <p:cNvPr id="42" name="Text 39"/>
          <p:cNvSpPr txBox="1"/>
          <p:nvPr/>
        </p:nvSpPr>
        <p:spPr>
          <a:xfrm>
            <a:off x="457200" y="4553712"/>
            <a:ext cx="7223760" cy="219456"/>
          </a:xfrm>
          <a:prstGeom prst="rect">
            <a:avLst/>
          </a:prstGeom>
          <a:noFill/>
          <a:ln/>
        </p:spPr>
        <p:txBody>
          <a:bodyPr wrap="square" lIns="0" tIns="0" rIns="0" bIns="0" rtlCol="0" anchor="ctr"/>
          <a:lstStyle/>
          <a:p>
            <a:pPr indent="0" marL="0">
              <a:buNone/>
            </a:pPr>
            <a:r>
              <a:rPr lang="en-US" sz="900" i="1" dirty="0">
                <a:solidFill>
                  <a:srgbClr val="5E6964"/>
                </a:solidFill>
                <a:latin typeface="Calibri" pitchFamily="34" charset="0"/>
                <a:ea typeface="Calibri" pitchFamily="34" charset="-122"/>
                <a:cs typeface="Calibri" pitchFamily="34" charset="-120"/>
              </a:rPr>
              <a:t>Poids et seuils : choix d'experts dans IND.PARAMS, à tester · Sources : Pesaresi et al. (2023) ; Copernicus Sentinel-5P</a:t>
            </a:r>
            <a:endParaRPr lang="en-US" sz="9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8A9590"/>
                </a:solidFill>
                <a:latin typeface="Calibri"/>
                <a:ea typeface="Calibri"/>
                <a:cs typeface="Calibri"/>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3"/>
          <p:cNvSpPr/>
          <p:nvPr>
            <p:ph idx="105" type="body" hasCustomPrompt="1"/>
          </p:nvPr>
        </p:nvSpPr>
        <p:spPr>
          <a:xfrm>
            <a:off x="457200" y="274320"/>
            <a:ext cx="6217920" cy="256032"/>
          </a:xfrm>
          <a:prstGeom prst="rect">
            <a:avLst/>
          </a:prstGeom>
          <a:noFill/>
          <a:ln/>
        </p:spPr>
        <p:txBody>
          <a:bodyPr wrap="square" lIns="0" tIns="0" rIns="0" bIns="0" rtlCol="0" anchor="ctr"/>
          <a:lstStyle/>
          <a:p>
            <a:pPr algn="l" indent="0" marL="0">
              <a:buNone/>
            </a:pPr>
            <a:r>
              <a:rPr lang="en-US" sz="1050" b="1" spc="300" kern="0" dirty="0">
                <a:solidFill>
                  <a:srgbClr val="00704A"/>
                </a:solidFill>
                <a:latin typeface="Calibri" pitchFamily="34" charset="0"/>
                <a:ea typeface="Calibri" pitchFamily="34" charset="-122"/>
                <a:cs typeface="Calibri" pitchFamily="34" charset="-120"/>
              </a:rPr>
              <a:t>04 · ANALYSER · SCÉNARIO 6</a:t>
            </a:r>
            <a:endParaRPr lang="en-US" sz="1050" dirty="0"/>
          </a:p>
        </p:txBody>
      </p:sp>
      <p:sp>
        <p:nvSpPr>
          <p:cNvPr id="3" name="Text 3"/>
          <p:cNvSpPr/>
          <p:nvPr>
            <p:ph idx="106" type="title" hasCustomPrompt="1"/>
          </p:nvPr>
        </p:nvSpPr>
        <p:spPr>
          <a:xfrm>
            <a:off x="457200" y="548640"/>
            <a:ext cx="8229600" cy="566928"/>
          </a:xfrm>
          <a:prstGeom prst="rect">
            <a:avLst/>
          </a:prstGeom>
          <a:noFill/>
          <a:ln/>
        </p:spPr>
        <p:txBody>
          <a:bodyPr wrap="square" lIns="0" tIns="0" rIns="0" bIns="0" rtlCol="0" anchor="ctr"/>
          <a:lstStyle/>
          <a:p>
            <a:pPr algn="l" indent="0" marL="0">
              <a:buNone/>
            </a:pPr>
            <a:r>
              <a:rPr lang="en-US" sz="2800" b="1" dirty="0">
                <a:solidFill>
                  <a:srgbClr val="231F20"/>
                </a:solidFill>
                <a:latin typeface="Calibri" pitchFamily="34" charset="0"/>
                <a:ea typeface="Calibri" pitchFamily="34" charset="-122"/>
                <a:cs typeface="Calibri" pitchFamily="34" charset="-120"/>
              </a:rPr>
              <a:t>Zones industrielles : des pixels aux candidates validées</a:t>
            </a:r>
            <a:endParaRPr lang="en-US" sz="2800" dirty="0"/>
          </a:p>
        </p:txBody>
      </p:sp>
      <p:sp>
        <p:nvSpPr>
          <p:cNvPr id="4" name="dot0"/>
          <p:cNvSpPr/>
          <p:nvPr/>
        </p:nvSpPr>
        <p:spPr>
          <a:xfrm>
            <a:off x="7644384" y="338328"/>
            <a:ext cx="100584" cy="100584"/>
          </a:xfrm>
          <a:prstGeom prst="ellipse">
            <a:avLst/>
          </a:prstGeom>
          <a:solidFill>
            <a:srgbClr val="D5DED9"/>
          </a:solidFill>
          <a:ln w="12700">
            <a:solidFill>
              <a:srgbClr val="D5DED9"/>
            </a:solidFill>
            <a:prstDash val="solid"/>
          </a:ln>
        </p:spPr>
      </p:sp>
      <p:sp>
        <p:nvSpPr>
          <p:cNvPr id="5" name="dot1"/>
          <p:cNvSpPr/>
          <p:nvPr/>
        </p:nvSpPr>
        <p:spPr>
          <a:xfrm>
            <a:off x="7818120" y="338328"/>
            <a:ext cx="100584" cy="100584"/>
          </a:xfrm>
          <a:prstGeom prst="ellipse">
            <a:avLst/>
          </a:prstGeom>
          <a:solidFill>
            <a:srgbClr val="D5DED9"/>
          </a:solidFill>
          <a:ln w="12700">
            <a:solidFill>
              <a:srgbClr val="D5DED9"/>
            </a:solidFill>
            <a:prstDash val="solid"/>
          </a:ln>
        </p:spPr>
      </p:sp>
      <p:sp>
        <p:nvSpPr>
          <p:cNvPr id="6" name="dot2"/>
          <p:cNvSpPr/>
          <p:nvPr/>
        </p:nvSpPr>
        <p:spPr>
          <a:xfrm>
            <a:off x="7991856" y="338328"/>
            <a:ext cx="100584" cy="100584"/>
          </a:xfrm>
          <a:prstGeom prst="ellipse">
            <a:avLst/>
          </a:prstGeom>
          <a:solidFill>
            <a:srgbClr val="D5DED9"/>
          </a:solidFill>
          <a:ln w="12700">
            <a:solidFill>
              <a:srgbClr val="D5DED9"/>
            </a:solidFill>
            <a:prstDash val="solid"/>
          </a:ln>
        </p:spPr>
      </p:sp>
      <p:sp>
        <p:nvSpPr>
          <p:cNvPr id="7" name="dot3"/>
          <p:cNvSpPr/>
          <p:nvPr/>
        </p:nvSpPr>
        <p:spPr>
          <a:xfrm>
            <a:off x="8165592" y="338328"/>
            <a:ext cx="100584" cy="100584"/>
          </a:xfrm>
          <a:prstGeom prst="ellipse">
            <a:avLst/>
          </a:prstGeom>
          <a:solidFill>
            <a:srgbClr val="D49A00"/>
          </a:solidFill>
          <a:ln w="12700">
            <a:solidFill>
              <a:srgbClr val="D49A00"/>
            </a:solidFill>
            <a:prstDash val="solid"/>
          </a:ln>
        </p:spPr>
      </p:sp>
      <p:sp>
        <p:nvSpPr>
          <p:cNvPr id="8" name="dot4"/>
          <p:cNvSpPr/>
          <p:nvPr/>
        </p:nvSpPr>
        <p:spPr>
          <a:xfrm>
            <a:off x="8339328" y="338328"/>
            <a:ext cx="100584" cy="100584"/>
          </a:xfrm>
          <a:prstGeom prst="ellipse">
            <a:avLst/>
          </a:prstGeom>
          <a:solidFill>
            <a:srgbClr val="D5DED9"/>
          </a:solidFill>
          <a:ln w="12700">
            <a:solidFill>
              <a:srgbClr val="D5DED9"/>
            </a:solidFill>
            <a:prstDash val="solid"/>
          </a:ln>
        </p:spPr>
      </p:sp>
      <p:sp>
        <p:nvSpPr>
          <p:cNvPr id="9" name="dot5"/>
          <p:cNvSpPr/>
          <p:nvPr/>
        </p:nvSpPr>
        <p:spPr>
          <a:xfrm>
            <a:off x="8513064" y="338328"/>
            <a:ext cx="100584" cy="100584"/>
          </a:xfrm>
          <a:prstGeom prst="ellipse">
            <a:avLst/>
          </a:prstGeom>
          <a:solidFill>
            <a:srgbClr val="D5DED9"/>
          </a:solidFill>
          <a:ln w="12700">
            <a:solidFill>
              <a:srgbClr val="D5DED9"/>
            </a:solidFill>
            <a:prstDash val="solid"/>
          </a:ln>
        </p:spPr>
      </p:sp>
      <p:sp>
        <p:nvSpPr>
          <p:cNvPr id="11" name="Text 8"/>
          <p:cNvSpPr txBox="1"/>
          <p:nvPr/>
        </p:nvSpPr>
        <p:spPr>
          <a:xfrm>
            <a:off x="548640" y="1353312"/>
            <a:ext cx="1783080" cy="219456"/>
          </a:xfrm>
          <a:prstGeom prst="rect">
            <a:avLst/>
          </a:prstGeom>
          <a:noFill/>
          <a:ln/>
        </p:spPr>
        <p:txBody>
          <a:bodyPr wrap="square" lIns="0" tIns="0" rIns="0" bIns="0" rtlCol="0" anchor="ctr"/>
          <a:lstStyle/>
          <a:p>
            <a:pPr indent="0" marL="0">
              <a:buNone/>
            </a:pPr>
            <a:r>
              <a:rPr lang="en-US" sz="900" b="1" spc="200" kern="0" dirty="0">
                <a:solidFill>
                  <a:srgbClr val="D49A00"/>
                </a:solidFill>
                <a:latin typeface="Calibri" pitchFamily="34" charset="0"/>
                <a:ea typeface="Calibri" pitchFamily="34" charset="-122"/>
                <a:cs typeface="Calibri" pitchFamily="34" charset="-120"/>
              </a:rPr>
              <a:t>MÉTRIQUE</a:t>
            </a:r>
            <a:endParaRPr lang="en-US" sz="900" dirty="0"/>
          </a:p>
        </p:txBody>
      </p:sp>
      <p:sp>
        <p:nvSpPr>
          <p:cNvPr id="12" name="Text 9"/>
          <p:cNvSpPr txBox="1"/>
          <p:nvPr/>
        </p:nvSpPr>
        <p:spPr>
          <a:xfrm>
            <a:off x="2423160" y="1353312"/>
            <a:ext cx="2971800" cy="219456"/>
          </a:xfrm>
          <a:prstGeom prst="rect">
            <a:avLst/>
          </a:prstGeom>
          <a:noFill/>
          <a:ln/>
        </p:spPr>
        <p:txBody>
          <a:bodyPr wrap="square" lIns="0" tIns="0" rIns="0" bIns="0" rtlCol="0" anchor="ctr"/>
          <a:lstStyle/>
          <a:p>
            <a:pPr indent="0" marL="0">
              <a:buNone/>
            </a:pPr>
            <a:r>
              <a:rPr lang="en-US" sz="900" b="1" spc="200" kern="0" dirty="0">
                <a:solidFill>
                  <a:srgbClr val="D49A00"/>
                </a:solidFill>
                <a:latin typeface="Calibri" pitchFamily="34" charset="0"/>
                <a:ea typeface="Calibri" pitchFamily="34" charset="-122"/>
                <a:cs typeface="Calibri" pitchFamily="34" charset="-120"/>
              </a:rPr>
              <a:t>DÉFINITION / FORMULE</a:t>
            </a:r>
            <a:endParaRPr lang="en-US" sz="900" dirty="0"/>
          </a:p>
        </p:txBody>
      </p:sp>
      <p:sp>
        <p:nvSpPr>
          <p:cNvPr id="13" name="Text 10"/>
          <p:cNvSpPr txBox="1"/>
          <p:nvPr/>
        </p:nvSpPr>
        <p:spPr>
          <a:xfrm>
            <a:off x="5486400" y="1353312"/>
            <a:ext cx="3200400" cy="219456"/>
          </a:xfrm>
          <a:prstGeom prst="rect">
            <a:avLst/>
          </a:prstGeom>
          <a:noFill/>
          <a:ln/>
        </p:spPr>
        <p:txBody>
          <a:bodyPr wrap="square" lIns="0" tIns="0" rIns="0" bIns="0" rtlCol="0" anchor="ctr"/>
          <a:lstStyle/>
          <a:p>
            <a:pPr indent="0" marL="0">
              <a:buNone/>
            </a:pPr>
            <a:r>
              <a:rPr lang="en-US" sz="900" b="1" spc="200" kern="0" dirty="0">
                <a:solidFill>
                  <a:srgbClr val="D49A00"/>
                </a:solidFill>
                <a:latin typeface="Calibri" pitchFamily="34" charset="0"/>
                <a:ea typeface="Calibri" pitchFamily="34" charset="-122"/>
                <a:cs typeface="Calibri" pitchFamily="34" charset="-120"/>
              </a:rPr>
              <a:t>COMMENT LA LIRE</a:t>
            </a:r>
            <a:endParaRPr lang="en-US" sz="900" dirty="0"/>
          </a:p>
        </p:txBody>
      </p:sp>
      <p:sp>
        <p:nvSpPr>
          <p:cNvPr id="14" name="Shape 11"/>
          <p:cNvSpPr/>
          <p:nvPr/>
        </p:nvSpPr>
        <p:spPr>
          <a:xfrm>
            <a:off x="457200" y="1609344"/>
            <a:ext cx="8229600" cy="365760"/>
          </a:xfrm>
          <a:prstGeom prst="roundRect">
            <a:avLst>
              <a:gd name="adj" fmla="val 12500"/>
            </a:avLst>
          </a:prstGeom>
          <a:solidFill>
            <a:srgbClr val="F4F7F5"/>
          </a:solidFill>
          <a:ln w="6350">
            <a:solidFill>
              <a:srgbClr val="D5DED9"/>
            </a:solidFill>
            <a:prstDash val="solid"/>
          </a:ln>
        </p:spPr>
      </p:sp>
      <p:sp>
        <p:nvSpPr>
          <p:cNvPr id="15" name="Text 12"/>
          <p:cNvSpPr txBox="1"/>
          <p:nvPr/>
        </p:nvSpPr>
        <p:spPr>
          <a:xfrm>
            <a:off x="548640" y="1609344"/>
            <a:ext cx="1737360" cy="365760"/>
          </a:xfrm>
          <a:prstGeom prst="rect">
            <a:avLst/>
          </a:prstGeom>
          <a:noFill/>
          <a:ln/>
        </p:spPr>
        <p:txBody>
          <a:bodyPr wrap="square" lIns="0" tIns="0" rIns="0" bIns="0" rtlCol="0" anchor="ctr"/>
          <a:lstStyle/>
          <a:p>
            <a:pPr indent="0" marL="0">
              <a:buNone/>
            </a:pPr>
            <a:r>
              <a:rPr lang="en-US" sz="1050" b="1" dirty="0">
                <a:solidFill>
                  <a:srgbClr val="231F20"/>
                </a:solidFill>
                <a:latin typeface="Calibri" pitchFamily="34" charset="0"/>
                <a:ea typeface="Calibri" pitchFamily="34" charset="-122"/>
                <a:cs typeface="Calibri" pitchFamily="34" charset="-120"/>
              </a:rPr>
              <a:t>Pixel candidat</a:t>
            </a:r>
            <a:endParaRPr lang="en-US" sz="1050" dirty="0"/>
          </a:p>
        </p:txBody>
      </p:sp>
      <p:sp>
        <p:nvSpPr>
          <p:cNvPr id="16" name="Text 13"/>
          <p:cNvSpPr txBox="1"/>
          <p:nvPr/>
        </p:nvSpPr>
        <p:spPr>
          <a:xfrm>
            <a:off x="2331720" y="1609344"/>
            <a:ext cx="2971800" cy="365760"/>
          </a:xfrm>
          <a:prstGeom prst="rect">
            <a:avLst/>
          </a:prstGeom>
          <a:noFill/>
          <a:ln/>
        </p:spPr>
        <p:txBody>
          <a:bodyPr wrap="square" lIns="0" tIns="0" rIns="0" bIns="0" rtlCol="0" anchor="ctr"/>
          <a:lstStyle/>
          <a:p>
            <a:pPr indent="0" marL="0">
              <a:buNone/>
            </a:pPr>
            <a:r>
              <a:rPr lang="en-US" sz="1000" dirty="0">
                <a:solidFill>
                  <a:srgbClr val="0E7C86"/>
                </a:solidFill>
                <a:latin typeface="Calibri" pitchFamily="34" charset="0"/>
                <a:ea typeface="Calibri" pitchFamily="34" charset="-122"/>
                <a:cs typeface="Calibri" pitchFamily="34" charset="-120"/>
              </a:rPr>
              <a:t>radiance ≥ 5 nW, bâti ≥ 1 %, S ≥ 0,55 — ou torchère</a:t>
            </a:r>
            <a:endParaRPr lang="en-US" sz="1000" dirty="0"/>
          </a:p>
        </p:txBody>
      </p:sp>
      <p:sp>
        <p:nvSpPr>
          <p:cNvPr id="17" name="Text 14"/>
          <p:cNvSpPr txBox="1"/>
          <p:nvPr/>
        </p:nvSpPr>
        <p:spPr>
          <a:xfrm>
            <a:off x="5394960" y="1609344"/>
            <a:ext cx="3200400" cy="365760"/>
          </a:xfrm>
          <a:prstGeom prst="rect">
            <a:avLst/>
          </a:prstGeom>
          <a:noFill/>
          <a:ln/>
        </p:spPr>
        <p:txBody>
          <a:bodyPr wrap="square" lIns="0" tIns="0" rIns="0" bIns="0" rtlCol="0" anchor="ctr"/>
          <a:lstStyle/>
          <a:p>
            <a:pPr indent="0" marL="0">
              <a:buNone/>
            </a:pPr>
            <a:r>
              <a:rPr lang="en-US" sz="950" dirty="0">
                <a:solidFill>
                  <a:srgbClr val="5E6964"/>
                </a:solidFill>
                <a:latin typeface="Calibri" pitchFamily="34" charset="0"/>
                <a:ea typeface="Calibri" pitchFamily="34" charset="-122"/>
                <a:cs typeface="Calibri" pitchFamily="34" charset="-120"/>
              </a:rPr>
              <a:t>Voisins (≥ 2 pixels) → zone ; 250 zones max</a:t>
            </a:r>
            <a:endParaRPr lang="en-US" sz="950" dirty="0"/>
          </a:p>
        </p:txBody>
      </p:sp>
      <p:sp>
        <p:nvSpPr>
          <p:cNvPr id="18" name="Shape 15"/>
          <p:cNvSpPr/>
          <p:nvPr/>
        </p:nvSpPr>
        <p:spPr>
          <a:xfrm>
            <a:off x="457200" y="2029968"/>
            <a:ext cx="8229600" cy="365760"/>
          </a:xfrm>
          <a:prstGeom prst="roundRect">
            <a:avLst>
              <a:gd name="adj" fmla="val 12500"/>
            </a:avLst>
          </a:prstGeom>
          <a:solidFill>
            <a:srgbClr val="FFFFFF"/>
          </a:solidFill>
          <a:ln w="6350">
            <a:solidFill>
              <a:srgbClr val="D5DED9"/>
            </a:solidFill>
            <a:prstDash val="solid"/>
          </a:ln>
        </p:spPr>
      </p:sp>
      <p:sp>
        <p:nvSpPr>
          <p:cNvPr id="19" name="Text 16"/>
          <p:cNvSpPr txBox="1"/>
          <p:nvPr/>
        </p:nvSpPr>
        <p:spPr>
          <a:xfrm>
            <a:off x="548640" y="2029968"/>
            <a:ext cx="1737360" cy="365760"/>
          </a:xfrm>
          <a:prstGeom prst="rect">
            <a:avLst/>
          </a:prstGeom>
          <a:noFill/>
          <a:ln/>
        </p:spPr>
        <p:txBody>
          <a:bodyPr wrap="square" lIns="0" tIns="0" rIns="0" bIns="0" rtlCol="0" anchor="ctr"/>
          <a:lstStyle/>
          <a:p>
            <a:pPr indent="0" marL="0">
              <a:buNone/>
            </a:pPr>
            <a:r>
              <a:rPr lang="en-US" sz="1050" b="1" dirty="0">
                <a:solidFill>
                  <a:srgbClr val="231F20"/>
                </a:solidFill>
                <a:latin typeface="Calibri" pitchFamily="34" charset="0"/>
                <a:ea typeface="Calibri" pitchFamily="34" charset="-122"/>
                <a:cs typeface="Calibri" pitchFamily="34" charset="-120"/>
              </a:rPr>
              <a:t>Part de la lumière nationale</a:t>
            </a:r>
            <a:endParaRPr lang="en-US" sz="1050" dirty="0"/>
          </a:p>
        </p:txBody>
      </p:sp>
      <p:sp>
        <p:nvSpPr>
          <p:cNvPr id="20" name="Text 17"/>
          <p:cNvSpPr txBox="1"/>
          <p:nvPr/>
        </p:nvSpPr>
        <p:spPr>
          <a:xfrm>
            <a:off x="2331720" y="2029968"/>
            <a:ext cx="2971800" cy="365760"/>
          </a:xfrm>
          <a:prstGeom prst="rect">
            <a:avLst/>
          </a:prstGeom>
          <a:noFill/>
          <a:ln/>
        </p:spPr>
        <p:txBody>
          <a:bodyPr wrap="square" lIns="0" tIns="0" rIns="0" bIns="0" rtlCol="0" anchor="ctr"/>
          <a:lstStyle/>
          <a:p>
            <a:pPr indent="0" marL="0">
              <a:buNone/>
            </a:pPr>
            <a:r>
              <a:rPr lang="en-US" sz="1000" dirty="0">
                <a:solidFill>
                  <a:srgbClr val="0E7C86"/>
                </a:solidFill>
                <a:latin typeface="Calibri" pitchFamily="34" charset="0"/>
                <a:ea typeface="Calibri" pitchFamily="34" charset="-122"/>
                <a:cs typeface="Calibri" pitchFamily="34" charset="-120"/>
              </a:rPr>
              <a:t>SoL de la zone / SoL nationale (dernière année)</a:t>
            </a:r>
            <a:endParaRPr lang="en-US" sz="1000" dirty="0"/>
          </a:p>
        </p:txBody>
      </p:sp>
      <p:sp>
        <p:nvSpPr>
          <p:cNvPr id="21" name="Text 18"/>
          <p:cNvSpPr txBox="1"/>
          <p:nvPr/>
        </p:nvSpPr>
        <p:spPr>
          <a:xfrm>
            <a:off x="5394960" y="2029968"/>
            <a:ext cx="3200400" cy="365760"/>
          </a:xfrm>
          <a:prstGeom prst="rect">
            <a:avLst/>
          </a:prstGeom>
          <a:noFill/>
          <a:ln/>
        </p:spPr>
        <p:txBody>
          <a:bodyPr wrap="square" lIns="0" tIns="0" rIns="0" bIns="0" rtlCol="0" anchor="ctr"/>
          <a:lstStyle/>
          <a:p>
            <a:pPr indent="0" marL="0">
              <a:buNone/>
            </a:pPr>
            <a:r>
              <a:rPr lang="en-US" sz="950" dirty="0">
                <a:solidFill>
                  <a:srgbClr val="5E6964"/>
                </a:solidFill>
                <a:latin typeface="Calibri" pitchFamily="34" charset="0"/>
                <a:ea typeface="Calibri" pitchFamily="34" charset="-122"/>
                <a:cs typeface="Calibri" pitchFamily="34" charset="-120"/>
              </a:rPr>
              <a:t>Poids économique de la zone</a:t>
            </a:r>
            <a:endParaRPr lang="en-US" sz="950" dirty="0"/>
          </a:p>
        </p:txBody>
      </p:sp>
      <p:sp>
        <p:nvSpPr>
          <p:cNvPr id="22" name="Shape 19"/>
          <p:cNvSpPr/>
          <p:nvPr/>
        </p:nvSpPr>
        <p:spPr>
          <a:xfrm>
            <a:off x="457200" y="2450592"/>
            <a:ext cx="8229600" cy="365760"/>
          </a:xfrm>
          <a:prstGeom prst="roundRect">
            <a:avLst>
              <a:gd name="adj" fmla="val 12500"/>
            </a:avLst>
          </a:prstGeom>
          <a:solidFill>
            <a:srgbClr val="F4F7F5"/>
          </a:solidFill>
          <a:ln w="6350">
            <a:solidFill>
              <a:srgbClr val="D5DED9"/>
            </a:solidFill>
            <a:prstDash val="solid"/>
          </a:ln>
        </p:spPr>
      </p:sp>
      <p:sp>
        <p:nvSpPr>
          <p:cNvPr id="23" name="Text 20"/>
          <p:cNvSpPr txBox="1"/>
          <p:nvPr/>
        </p:nvSpPr>
        <p:spPr>
          <a:xfrm>
            <a:off x="548640" y="2450592"/>
            <a:ext cx="1737360" cy="365760"/>
          </a:xfrm>
          <a:prstGeom prst="rect">
            <a:avLst/>
          </a:prstGeom>
          <a:noFill/>
          <a:ln/>
        </p:spPr>
        <p:txBody>
          <a:bodyPr wrap="square" lIns="0" tIns="0" rIns="0" bIns="0" rtlCol="0" anchor="ctr"/>
          <a:lstStyle/>
          <a:p>
            <a:pPr indent="0" marL="0">
              <a:buNone/>
            </a:pPr>
            <a:r>
              <a:rPr lang="en-US" sz="1050" b="1" dirty="0">
                <a:solidFill>
                  <a:srgbClr val="231F20"/>
                </a:solidFill>
                <a:latin typeface="Calibri" pitchFamily="34" charset="0"/>
                <a:ea typeface="Calibri" pitchFamily="34" charset="-122"/>
                <a:cs typeface="Calibri" pitchFamily="34" charset="-120"/>
              </a:rPr>
              <a:t>Dynamique de la zone</a:t>
            </a:r>
            <a:endParaRPr lang="en-US" sz="1050" dirty="0"/>
          </a:p>
        </p:txBody>
      </p:sp>
      <p:sp>
        <p:nvSpPr>
          <p:cNvPr id="24" name="Text 21"/>
          <p:cNvSpPr txBox="1"/>
          <p:nvPr/>
        </p:nvSpPr>
        <p:spPr>
          <a:xfrm>
            <a:off x="2331720" y="2450592"/>
            <a:ext cx="2971800" cy="365760"/>
          </a:xfrm>
          <a:prstGeom prst="rect">
            <a:avLst/>
          </a:prstGeom>
          <a:noFill/>
          <a:ln/>
        </p:spPr>
        <p:txBody>
          <a:bodyPr wrap="square" lIns="0" tIns="0" rIns="0" bIns="0" rtlCol="0" anchor="ctr"/>
          <a:lstStyle/>
          <a:p>
            <a:pPr indent="0" marL="0">
              <a:buNone/>
            </a:pPr>
            <a:r>
              <a:rPr lang="en-US" sz="1000" dirty="0">
                <a:solidFill>
                  <a:srgbClr val="0E7C86"/>
                </a:solidFill>
                <a:latin typeface="Calibri" pitchFamily="34" charset="0"/>
                <a:ea typeface="Calibri" pitchFamily="34" charset="-122"/>
                <a:cs typeface="Calibri" pitchFamily="34" charset="-120"/>
              </a:rPr>
              <a:t>Croissance Theil–Sen : &gt; +5 %/an expansion, &lt; −3 % recul</a:t>
            </a:r>
            <a:endParaRPr lang="en-US" sz="1000" dirty="0"/>
          </a:p>
        </p:txBody>
      </p:sp>
      <p:sp>
        <p:nvSpPr>
          <p:cNvPr id="25" name="Text 22"/>
          <p:cNvSpPr txBox="1"/>
          <p:nvPr/>
        </p:nvSpPr>
        <p:spPr>
          <a:xfrm>
            <a:off x="5394960" y="2450592"/>
            <a:ext cx="3200400" cy="365760"/>
          </a:xfrm>
          <a:prstGeom prst="rect">
            <a:avLst/>
          </a:prstGeom>
          <a:noFill/>
          <a:ln/>
        </p:spPr>
        <p:txBody>
          <a:bodyPr wrap="square" lIns="0" tIns="0" rIns="0" bIns="0" rtlCol="0" anchor="ctr"/>
          <a:lstStyle/>
          <a:p>
            <a:pPr indent="0" marL="0">
              <a:buNone/>
            </a:pPr>
            <a:r>
              <a:rPr lang="en-US" sz="950" dirty="0">
                <a:solidFill>
                  <a:srgbClr val="5E6964"/>
                </a:solidFill>
                <a:latin typeface="Calibri" pitchFamily="34" charset="0"/>
                <a:ea typeface="Calibri" pitchFamily="34" charset="-122"/>
                <a:cs typeface="Calibri" pitchFamily="34" charset="-120"/>
              </a:rPr>
              <a:t>Signal d'ouverture, d'expansion ou de ralentissement</a:t>
            </a:r>
            <a:endParaRPr lang="en-US" sz="950" dirty="0"/>
          </a:p>
        </p:txBody>
      </p:sp>
      <p:sp>
        <p:nvSpPr>
          <p:cNvPr id="26" name="Shape 23"/>
          <p:cNvSpPr/>
          <p:nvPr/>
        </p:nvSpPr>
        <p:spPr>
          <a:xfrm>
            <a:off x="457200" y="2871216"/>
            <a:ext cx="8229600" cy="365760"/>
          </a:xfrm>
          <a:prstGeom prst="roundRect">
            <a:avLst>
              <a:gd name="adj" fmla="val 12500"/>
            </a:avLst>
          </a:prstGeom>
          <a:solidFill>
            <a:srgbClr val="FFFFFF"/>
          </a:solidFill>
          <a:ln w="6350">
            <a:solidFill>
              <a:srgbClr val="D5DED9"/>
            </a:solidFill>
            <a:prstDash val="solid"/>
          </a:ln>
        </p:spPr>
      </p:sp>
      <p:sp>
        <p:nvSpPr>
          <p:cNvPr id="27" name="Text 24"/>
          <p:cNvSpPr txBox="1"/>
          <p:nvPr/>
        </p:nvSpPr>
        <p:spPr>
          <a:xfrm>
            <a:off x="548640" y="2871216"/>
            <a:ext cx="1737360" cy="365760"/>
          </a:xfrm>
          <a:prstGeom prst="rect">
            <a:avLst/>
          </a:prstGeom>
          <a:noFill/>
          <a:ln/>
        </p:spPr>
        <p:txBody>
          <a:bodyPr wrap="square" lIns="0" tIns="0" rIns="0" bIns="0" rtlCol="0" anchor="ctr"/>
          <a:lstStyle/>
          <a:p>
            <a:pPr indent="0" marL="0">
              <a:buNone/>
            </a:pPr>
            <a:r>
              <a:rPr lang="en-US" sz="1050" b="1" dirty="0">
                <a:solidFill>
                  <a:srgbClr val="231F20"/>
                </a:solidFill>
                <a:latin typeface="Calibri" pitchFamily="34" charset="0"/>
                <a:ea typeface="Calibri" pitchFamily="34" charset="-122"/>
                <a:cs typeface="Calibri" pitchFamily="34" charset="-120"/>
              </a:rPr>
              <a:t>Classe</a:t>
            </a:r>
            <a:endParaRPr lang="en-US" sz="1050" dirty="0"/>
          </a:p>
        </p:txBody>
      </p:sp>
      <p:sp>
        <p:nvSpPr>
          <p:cNvPr id="28" name="Text 25"/>
          <p:cNvSpPr txBox="1"/>
          <p:nvPr/>
        </p:nvSpPr>
        <p:spPr>
          <a:xfrm>
            <a:off x="2331720" y="2871216"/>
            <a:ext cx="2971800" cy="365760"/>
          </a:xfrm>
          <a:prstGeom prst="rect">
            <a:avLst/>
          </a:prstGeom>
          <a:noFill/>
          <a:ln/>
        </p:spPr>
        <p:txBody>
          <a:bodyPr wrap="square" lIns="0" tIns="0" rIns="0" bIns="0" rtlCol="0" anchor="ctr"/>
          <a:lstStyle/>
          <a:p>
            <a:pPr indent="0" marL="0">
              <a:buNone/>
            </a:pPr>
            <a:r>
              <a:rPr lang="en-US" sz="1000" dirty="0">
                <a:solidFill>
                  <a:srgbClr val="0E7C86"/>
                </a:solidFill>
                <a:latin typeface="Calibri" pitchFamily="34" charset="0"/>
                <a:ea typeface="Calibri" pitchFamily="34" charset="-122"/>
                <a:cs typeface="Calibri" pitchFamily="34" charset="-120"/>
              </a:rPr>
              <a:t>énergie : part torchère &gt; 0,3 et nres &lt; 0,3 · majeur : top 10 % SoL ou ≥ 8 km²</a:t>
            </a:r>
            <a:endParaRPr lang="en-US" sz="1000" dirty="0"/>
          </a:p>
        </p:txBody>
      </p:sp>
      <p:sp>
        <p:nvSpPr>
          <p:cNvPr id="29" name="Text 26"/>
          <p:cNvSpPr txBox="1"/>
          <p:nvPr/>
        </p:nvSpPr>
        <p:spPr>
          <a:xfrm>
            <a:off x="5394960" y="2871216"/>
            <a:ext cx="3200400" cy="365760"/>
          </a:xfrm>
          <a:prstGeom prst="rect">
            <a:avLst/>
          </a:prstGeom>
          <a:noFill/>
          <a:ln/>
        </p:spPr>
        <p:txBody>
          <a:bodyPr wrap="square" lIns="0" tIns="0" rIns="0" bIns="0" rtlCol="0" anchor="ctr"/>
          <a:lstStyle/>
          <a:p>
            <a:pPr indent="0" marL="0">
              <a:buNone/>
            </a:pPr>
            <a:r>
              <a:rPr lang="en-US" sz="950" dirty="0">
                <a:solidFill>
                  <a:srgbClr val="5E6964"/>
                </a:solidFill>
                <a:latin typeface="Calibri" pitchFamily="34" charset="0"/>
                <a:ea typeface="Calibri" pitchFamily="34" charset="-122"/>
                <a:cs typeface="Calibri" pitchFamily="34" charset="-120"/>
              </a:rPr>
              <a:t>Site énergétique · pôle majeur · zone industrielle / logistique</a:t>
            </a:r>
            <a:endParaRPr lang="en-US" sz="950" dirty="0"/>
          </a:p>
        </p:txBody>
      </p:sp>
      <p:sp>
        <p:nvSpPr>
          <p:cNvPr id="30" name="Shape 27"/>
          <p:cNvSpPr/>
          <p:nvPr/>
        </p:nvSpPr>
        <p:spPr>
          <a:xfrm>
            <a:off x="457200" y="3291840"/>
            <a:ext cx="8229600" cy="365760"/>
          </a:xfrm>
          <a:prstGeom prst="roundRect">
            <a:avLst>
              <a:gd name="adj" fmla="val 12500"/>
            </a:avLst>
          </a:prstGeom>
          <a:solidFill>
            <a:srgbClr val="F4F7F5"/>
          </a:solidFill>
          <a:ln w="6350">
            <a:solidFill>
              <a:srgbClr val="D5DED9"/>
            </a:solidFill>
            <a:prstDash val="solid"/>
          </a:ln>
        </p:spPr>
      </p:sp>
      <p:sp>
        <p:nvSpPr>
          <p:cNvPr id="31" name="Text 28"/>
          <p:cNvSpPr txBox="1"/>
          <p:nvPr/>
        </p:nvSpPr>
        <p:spPr>
          <a:xfrm>
            <a:off x="548640" y="3291840"/>
            <a:ext cx="1737360" cy="365760"/>
          </a:xfrm>
          <a:prstGeom prst="rect">
            <a:avLst/>
          </a:prstGeom>
          <a:noFill/>
          <a:ln/>
        </p:spPr>
        <p:txBody>
          <a:bodyPr wrap="square" lIns="0" tIns="0" rIns="0" bIns="0" rtlCol="0" anchor="ctr"/>
          <a:lstStyle/>
          <a:p>
            <a:pPr indent="0" marL="0">
              <a:buNone/>
            </a:pPr>
            <a:r>
              <a:rPr lang="en-US" sz="1050" b="1" dirty="0">
                <a:solidFill>
                  <a:srgbClr val="231F20"/>
                </a:solidFill>
                <a:latin typeface="Calibri" pitchFamily="34" charset="0"/>
                <a:ea typeface="Calibri" pitchFamily="34" charset="-122"/>
                <a:cs typeface="Calibri" pitchFamily="34" charset="-120"/>
              </a:rPr>
              <a:t>Précision</a:t>
            </a:r>
            <a:endParaRPr lang="en-US" sz="1050" dirty="0"/>
          </a:p>
        </p:txBody>
      </p:sp>
      <p:sp>
        <p:nvSpPr>
          <p:cNvPr id="32" name="Text 29"/>
          <p:cNvSpPr txBox="1"/>
          <p:nvPr/>
        </p:nvSpPr>
        <p:spPr>
          <a:xfrm>
            <a:off x="2331720" y="3291840"/>
            <a:ext cx="2971800" cy="365760"/>
          </a:xfrm>
          <a:prstGeom prst="rect">
            <a:avLst/>
          </a:prstGeom>
          <a:noFill/>
          <a:ln/>
        </p:spPr>
        <p:txBody>
          <a:bodyPr wrap="square" lIns="0" tIns="0" rIns="0" bIns="0" rtlCol="0" anchor="ctr"/>
          <a:lstStyle/>
          <a:p>
            <a:pPr indent="0" marL="0">
              <a:buNone/>
            </a:pPr>
            <a:r>
              <a:rPr lang="en-US" sz="1000" dirty="0">
                <a:solidFill>
                  <a:srgbClr val="0E7C86"/>
                </a:solidFill>
                <a:latin typeface="Calibri" pitchFamily="34" charset="0"/>
                <a:ea typeface="Calibri" pitchFamily="34" charset="-122"/>
                <a:cs typeface="Calibri" pitchFamily="34" charset="-120"/>
              </a:rPr>
              <a:t>zones recoupant une zone OSM industrielle / zones</a:t>
            </a:r>
            <a:endParaRPr lang="en-US" sz="1000" dirty="0"/>
          </a:p>
        </p:txBody>
      </p:sp>
      <p:sp>
        <p:nvSpPr>
          <p:cNvPr id="33" name="Text 30"/>
          <p:cNvSpPr txBox="1"/>
          <p:nvPr/>
        </p:nvSpPr>
        <p:spPr>
          <a:xfrm>
            <a:off x="5394960" y="3291840"/>
            <a:ext cx="3200400" cy="365760"/>
          </a:xfrm>
          <a:prstGeom prst="rect">
            <a:avLst/>
          </a:prstGeom>
          <a:noFill/>
          <a:ln/>
        </p:spPr>
        <p:txBody>
          <a:bodyPr wrap="square" lIns="0" tIns="0" rIns="0" bIns="0" rtlCol="0" anchor="ctr"/>
          <a:lstStyle/>
          <a:p>
            <a:pPr indent="0" marL="0">
              <a:buNone/>
            </a:pPr>
            <a:r>
              <a:rPr lang="en-US" sz="950" dirty="0">
                <a:solidFill>
                  <a:srgbClr val="5E6964"/>
                </a:solidFill>
                <a:latin typeface="Calibri" pitchFamily="34" charset="0"/>
                <a:ea typeface="Calibri" pitchFamily="34" charset="-122"/>
                <a:cs typeface="Calibri" pitchFamily="34" charset="-120"/>
              </a:rPr>
              <a:t>≥ 0,5 → confiance moyenne, sinon faible</a:t>
            </a:r>
            <a:endParaRPr lang="en-US" sz="950" dirty="0"/>
          </a:p>
        </p:txBody>
      </p:sp>
      <p:sp>
        <p:nvSpPr>
          <p:cNvPr id="34" name="Shape 31"/>
          <p:cNvSpPr/>
          <p:nvPr/>
        </p:nvSpPr>
        <p:spPr>
          <a:xfrm>
            <a:off x="457200" y="3712464"/>
            <a:ext cx="8229600" cy="365760"/>
          </a:xfrm>
          <a:prstGeom prst="roundRect">
            <a:avLst>
              <a:gd name="adj" fmla="val 12500"/>
            </a:avLst>
          </a:prstGeom>
          <a:solidFill>
            <a:srgbClr val="FFFFFF"/>
          </a:solidFill>
          <a:ln w="6350">
            <a:solidFill>
              <a:srgbClr val="D5DED9"/>
            </a:solidFill>
            <a:prstDash val="solid"/>
          </a:ln>
        </p:spPr>
      </p:sp>
      <p:sp>
        <p:nvSpPr>
          <p:cNvPr id="35" name="Text 32"/>
          <p:cNvSpPr txBox="1"/>
          <p:nvPr/>
        </p:nvSpPr>
        <p:spPr>
          <a:xfrm>
            <a:off x="548640" y="3712464"/>
            <a:ext cx="1737360" cy="365760"/>
          </a:xfrm>
          <a:prstGeom prst="rect">
            <a:avLst/>
          </a:prstGeom>
          <a:noFill/>
          <a:ln/>
        </p:spPr>
        <p:txBody>
          <a:bodyPr wrap="square" lIns="0" tIns="0" rIns="0" bIns="0" rtlCol="0" anchor="ctr"/>
          <a:lstStyle/>
          <a:p>
            <a:pPr indent="0" marL="0">
              <a:buNone/>
            </a:pPr>
            <a:r>
              <a:rPr lang="en-US" sz="1050" b="1" dirty="0">
                <a:solidFill>
                  <a:srgbClr val="231F20"/>
                </a:solidFill>
                <a:latin typeface="Calibri" pitchFamily="34" charset="0"/>
                <a:ea typeface="Calibri" pitchFamily="34" charset="-122"/>
                <a:cs typeface="Calibri" pitchFamily="34" charset="-120"/>
              </a:rPr>
              <a:t>Rappel</a:t>
            </a:r>
            <a:endParaRPr lang="en-US" sz="1050" dirty="0"/>
          </a:p>
        </p:txBody>
      </p:sp>
      <p:sp>
        <p:nvSpPr>
          <p:cNvPr id="36" name="Text 33"/>
          <p:cNvSpPr txBox="1"/>
          <p:nvPr/>
        </p:nvSpPr>
        <p:spPr>
          <a:xfrm>
            <a:off x="2331720" y="3712464"/>
            <a:ext cx="2971800" cy="365760"/>
          </a:xfrm>
          <a:prstGeom prst="rect">
            <a:avLst/>
          </a:prstGeom>
          <a:noFill/>
          <a:ln/>
        </p:spPr>
        <p:txBody>
          <a:bodyPr wrap="square" lIns="0" tIns="0" rIns="0" bIns="0" rtlCol="0" anchor="ctr"/>
          <a:lstStyle/>
          <a:p>
            <a:pPr indent="0" marL="0">
              <a:buNone/>
            </a:pPr>
            <a:r>
              <a:rPr lang="en-US" sz="1000" dirty="0">
                <a:solidFill>
                  <a:srgbClr val="0E7C86"/>
                </a:solidFill>
                <a:latin typeface="Calibri" pitchFamily="34" charset="0"/>
                <a:ea typeface="Calibri" pitchFamily="34" charset="-122"/>
                <a:cs typeface="Calibri" pitchFamily="34" charset="-120"/>
              </a:rPr>
              <a:t>zones OSM industrielles retrouvées / zones OSM</a:t>
            </a:r>
            <a:endParaRPr lang="en-US" sz="1000" dirty="0"/>
          </a:p>
        </p:txBody>
      </p:sp>
      <p:sp>
        <p:nvSpPr>
          <p:cNvPr id="37" name="Text 34"/>
          <p:cNvSpPr txBox="1"/>
          <p:nvPr/>
        </p:nvSpPr>
        <p:spPr>
          <a:xfrm>
            <a:off x="5394960" y="3712464"/>
            <a:ext cx="3200400" cy="365760"/>
          </a:xfrm>
          <a:prstGeom prst="rect">
            <a:avLst/>
          </a:prstGeom>
          <a:noFill/>
          <a:ln/>
        </p:spPr>
        <p:txBody>
          <a:bodyPr wrap="square" lIns="0" tIns="0" rIns="0" bIns="0" rtlCol="0" anchor="ctr"/>
          <a:lstStyle/>
          <a:p>
            <a:pPr indent="0" marL="0">
              <a:buNone/>
            </a:pPr>
            <a:r>
              <a:rPr lang="en-US" sz="950" dirty="0">
                <a:solidFill>
                  <a:srgbClr val="5E6964"/>
                </a:solidFill>
                <a:latin typeface="Calibri" pitchFamily="34" charset="0"/>
                <a:ea typeface="Calibri" pitchFamily="34" charset="-122"/>
                <a:cs typeface="Calibri" pitchFamily="34" charset="-120"/>
              </a:rPr>
              <a:t>Couverture ; dépend de la complétude d'OSM</a:t>
            </a:r>
            <a:endParaRPr lang="en-US" sz="950" dirty="0"/>
          </a:p>
        </p:txBody>
      </p:sp>
      <p:sp>
        <p:nvSpPr>
          <p:cNvPr id="38" name="Shape 35"/>
          <p:cNvSpPr/>
          <p:nvPr/>
        </p:nvSpPr>
        <p:spPr>
          <a:xfrm>
            <a:off x="457200" y="4133088"/>
            <a:ext cx="8229600" cy="365760"/>
          </a:xfrm>
          <a:prstGeom prst="roundRect">
            <a:avLst>
              <a:gd name="adj" fmla="val 12500"/>
            </a:avLst>
          </a:prstGeom>
          <a:solidFill>
            <a:srgbClr val="F4F7F5"/>
          </a:solidFill>
          <a:ln w="6350">
            <a:solidFill>
              <a:srgbClr val="D5DED9"/>
            </a:solidFill>
            <a:prstDash val="solid"/>
          </a:ln>
        </p:spPr>
      </p:sp>
      <p:sp>
        <p:nvSpPr>
          <p:cNvPr id="39" name="Text 36"/>
          <p:cNvSpPr txBox="1"/>
          <p:nvPr/>
        </p:nvSpPr>
        <p:spPr>
          <a:xfrm>
            <a:off x="548640" y="4133088"/>
            <a:ext cx="1737360" cy="365760"/>
          </a:xfrm>
          <a:prstGeom prst="rect">
            <a:avLst/>
          </a:prstGeom>
          <a:noFill/>
          <a:ln/>
        </p:spPr>
        <p:txBody>
          <a:bodyPr wrap="square" lIns="0" tIns="0" rIns="0" bIns="0" rtlCol="0" anchor="ctr"/>
          <a:lstStyle/>
          <a:p>
            <a:pPr indent="0" marL="0">
              <a:buNone/>
            </a:pPr>
            <a:r>
              <a:rPr lang="en-US" sz="1050" b="1" dirty="0">
                <a:solidFill>
                  <a:srgbClr val="231F20"/>
                </a:solidFill>
                <a:latin typeface="Calibri" pitchFamily="34" charset="0"/>
                <a:ea typeface="Calibri" pitchFamily="34" charset="-122"/>
                <a:cs typeface="Calibri" pitchFamily="34" charset="-120"/>
              </a:rPr>
              <a:t>Précision pondérée</a:t>
            </a:r>
            <a:endParaRPr lang="en-US" sz="1050" dirty="0"/>
          </a:p>
        </p:txBody>
      </p:sp>
      <p:sp>
        <p:nvSpPr>
          <p:cNvPr id="40" name="Text 37"/>
          <p:cNvSpPr txBox="1"/>
          <p:nvPr/>
        </p:nvSpPr>
        <p:spPr>
          <a:xfrm>
            <a:off x="2331720" y="4133088"/>
            <a:ext cx="2971800" cy="365760"/>
          </a:xfrm>
          <a:prstGeom prst="rect">
            <a:avLst/>
          </a:prstGeom>
          <a:noFill/>
          <a:ln/>
        </p:spPr>
        <p:txBody>
          <a:bodyPr wrap="square" lIns="0" tIns="0" rIns="0" bIns="0" rtlCol="0" anchor="ctr"/>
          <a:lstStyle/>
          <a:p>
            <a:pPr indent="0" marL="0">
              <a:buNone/>
            </a:pPr>
            <a:r>
              <a:rPr lang="en-US" sz="1000" dirty="0">
                <a:solidFill>
                  <a:srgbClr val="0E7C86"/>
                </a:solidFill>
                <a:latin typeface="Calibri" pitchFamily="34" charset="0"/>
                <a:ea typeface="Calibri" pitchFamily="34" charset="-122"/>
                <a:cs typeface="Calibri" pitchFamily="34" charset="-120"/>
              </a:rPr>
              <a:t>SoL des zones confirmées / SoL de toutes les zones</a:t>
            </a:r>
            <a:endParaRPr lang="en-US" sz="1000" dirty="0"/>
          </a:p>
        </p:txBody>
      </p:sp>
      <p:sp>
        <p:nvSpPr>
          <p:cNvPr id="41" name="Text 38"/>
          <p:cNvSpPr txBox="1"/>
          <p:nvPr/>
        </p:nvSpPr>
        <p:spPr>
          <a:xfrm>
            <a:off x="5394960" y="4133088"/>
            <a:ext cx="3200400" cy="365760"/>
          </a:xfrm>
          <a:prstGeom prst="rect">
            <a:avLst/>
          </a:prstGeom>
          <a:noFill/>
          <a:ln/>
        </p:spPr>
        <p:txBody>
          <a:bodyPr wrap="square" lIns="0" tIns="0" rIns="0" bIns="0" rtlCol="0" anchor="ctr"/>
          <a:lstStyle/>
          <a:p>
            <a:pPr indent="0" marL="0">
              <a:buNone/>
            </a:pPr>
            <a:r>
              <a:rPr lang="en-US" sz="950" dirty="0">
                <a:solidFill>
                  <a:srgbClr val="5E6964"/>
                </a:solidFill>
                <a:latin typeface="Calibri" pitchFamily="34" charset="0"/>
                <a:ea typeface="Calibri" pitchFamily="34" charset="-122"/>
                <a:cs typeface="Calibri" pitchFamily="34" charset="-120"/>
              </a:rPr>
              <a:t>L'essentiel de la lumière industrielle est-il confirmé ?</a:t>
            </a:r>
            <a:endParaRPr lang="en-US" sz="95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8A9590"/>
                </a:solidFill>
                <a:latin typeface="Calibri"/>
                <a:ea typeface="Calibri"/>
                <a:cs typeface="Calibri"/>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3"/>
          <p:cNvSpPr/>
          <p:nvPr>
            <p:ph idx="105" type="body" hasCustomPrompt="1"/>
          </p:nvPr>
        </p:nvSpPr>
        <p:spPr>
          <a:xfrm>
            <a:off x="457200" y="274320"/>
            <a:ext cx="6217920" cy="256032"/>
          </a:xfrm>
          <a:prstGeom prst="rect">
            <a:avLst/>
          </a:prstGeom>
          <a:noFill/>
          <a:ln/>
        </p:spPr>
        <p:txBody>
          <a:bodyPr wrap="square" lIns="0" tIns="0" rIns="0" bIns="0" rtlCol="0" anchor="ctr"/>
          <a:lstStyle/>
          <a:p>
            <a:pPr algn="l" indent="0" marL="0">
              <a:buNone/>
            </a:pPr>
            <a:r>
              <a:rPr lang="en-US" sz="1050" b="1" spc="300" kern="0" dirty="0">
                <a:solidFill>
                  <a:srgbClr val="00704A"/>
                </a:solidFill>
                <a:latin typeface="Calibri" pitchFamily="34" charset="0"/>
                <a:ea typeface="Calibri" pitchFamily="34" charset="-122"/>
                <a:cs typeface="Calibri" pitchFamily="34" charset="-120"/>
              </a:rPr>
              <a:t>04 · ANALYSER · SYNTHÈSE</a:t>
            </a:r>
            <a:endParaRPr lang="en-US" sz="1050" dirty="0"/>
          </a:p>
        </p:txBody>
      </p:sp>
      <p:sp>
        <p:nvSpPr>
          <p:cNvPr id="3" name="Text 3"/>
          <p:cNvSpPr/>
          <p:nvPr>
            <p:ph idx="106" type="title" hasCustomPrompt="1"/>
          </p:nvPr>
        </p:nvSpPr>
        <p:spPr>
          <a:xfrm>
            <a:off x="457200" y="548640"/>
            <a:ext cx="8229600" cy="566928"/>
          </a:xfrm>
          <a:prstGeom prst="rect">
            <a:avLst/>
          </a:prstGeom>
          <a:noFill/>
          <a:ln/>
        </p:spPr>
        <p:txBody>
          <a:bodyPr wrap="square" lIns="0" tIns="0" rIns="0" bIns="0" rtlCol="0" anchor="ctr"/>
          <a:lstStyle/>
          <a:p>
            <a:pPr algn="l" indent="0" marL="0">
              <a:buNone/>
            </a:pPr>
            <a:r>
              <a:rPr lang="en-US" sz="2800" b="1" dirty="0">
                <a:solidFill>
                  <a:srgbClr val="231F20"/>
                </a:solidFill>
                <a:latin typeface="Calibri" pitchFamily="34" charset="0"/>
                <a:ea typeface="Calibri" pitchFamily="34" charset="-122"/>
                <a:cs typeface="Calibri" pitchFamily="34" charset="-120"/>
              </a:rPr>
              <a:t>Des métriques aux messages clés</a:t>
            </a:r>
            <a:endParaRPr lang="en-US" sz="2800" dirty="0"/>
          </a:p>
        </p:txBody>
      </p:sp>
      <p:sp>
        <p:nvSpPr>
          <p:cNvPr id="4" name="dot0"/>
          <p:cNvSpPr/>
          <p:nvPr/>
        </p:nvSpPr>
        <p:spPr>
          <a:xfrm>
            <a:off x="7644384" y="338328"/>
            <a:ext cx="100584" cy="100584"/>
          </a:xfrm>
          <a:prstGeom prst="ellipse">
            <a:avLst/>
          </a:prstGeom>
          <a:solidFill>
            <a:srgbClr val="D5DED9"/>
          </a:solidFill>
          <a:ln w="12700">
            <a:solidFill>
              <a:srgbClr val="D5DED9"/>
            </a:solidFill>
            <a:prstDash val="solid"/>
          </a:ln>
        </p:spPr>
      </p:sp>
      <p:sp>
        <p:nvSpPr>
          <p:cNvPr id="5" name="dot1"/>
          <p:cNvSpPr/>
          <p:nvPr/>
        </p:nvSpPr>
        <p:spPr>
          <a:xfrm>
            <a:off x="7818120" y="338328"/>
            <a:ext cx="100584" cy="100584"/>
          </a:xfrm>
          <a:prstGeom prst="ellipse">
            <a:avLst/>
          </a:prstGeom>
          <a:solidFill>
            <a:srgbClr val="D5DED9"/>
          </a:solidFill>
          <a:ln w="12700">
            <a:solidFill>
              <a:srgbClr val="D5DED9"/>
            </a:solidFill>
            <a:prstDash val="solid"/>
          </a:ln>
        </p:spPr>
      </p:sp>
      <p:sp>
        <p:nvSpPr>
          <p:cNvPr id="6" name="dot2"/>
          <p:cNvSpPr/>
          <p:nvPr/>
        </p:nvSpPr>
        <p:spPr>
          <a:xfrm>
            <a:off x="7991856" y="338328"/>
            <a:ext cx="100584" cy="100584"/>
          </a:xfrm>
          <a:prstGeom prst="ellipse">
            <a:avLst/>
          </a:prstGeom>
          <a:solidFill>
            <a:srgbClr val="D5DED9"/>
          </a:solidFill>
          <a:ln w="12700">
            <a:solidFill>
              <a:srgbClr val="D5DED9"/>
            </a:solidFill>
            <a:prstDash val="solid"/>
          </a:ln>
        </p:spPr>
      </p:sp>
      <p:sp>
        <p:nvSpPr>
          <p:cNvPr id="7" name="dot3"/>
          <p:cNvSpPr/>
          <p:nvPr/>
        </p:nvSpPr>
        <p:spPr>
          <a:xfrm>
            <a:off x="8165592" y="338328"/>
            <a:ext cx="100584" cy="100584"/>
          </a:xfrm>
          <a:prstGeom prst="ellipse">
            <a:avLst/>
          </a:prstGeom>
          <a:solidFill>
            <a:srgbClr val="D49A00"/>
          </a:solidFill>
          <a:ln w="12700">
            <a:solidFill>
              <a:srgbClr val="D49A00"/>
            </a:solidFill>
            <a:prstDash val="solid"/>
          </a:ln>
        </p:spPr>
      </p:sp>
      <p:sp>
        <p:nvSpPr>
          <p:cNvPr id="8" name="dot4"/>
          <p:cNvSpPr/>
          <p:nvPr/>
        </p:nvSpPr>
        <p:spPr>
          <a:xfrm>
            <a:off x="8339328" y="338328"/>
            <a:ext cx="100584" cy="100584"/>
          </a:xfrm>
          <a:prstGeom prst="ellipse">
            <a:avLst/>
          </a:prstGeom>
          <a:solidFill>
            <a:srgbClr val="D5DED9"/>
          </a:solidFill>
          <a:ln w="12700">
            <a:solidFill>
              <a:srgbClr val="D5DED9"/>
            </a:solidFill>
            <a:prstDash val="solid"/>
          </a:ln>
        </p:spPr>
      </p:sp>
      <p:sp>
        <p:nvSpPr>
          <p:cNvPr id="9" name="dot5"/>
          <p:cNvSpPr/>
          <p:nvPr/>
        </p:nvSpPr>
        <p:spPr>
          <a:xfrm>
            <a:off x="8513064" y="338328"/>
            <a:ext cx="100584" cy="100584"/>
          </a:xfrm>
          <a:prstGeom prst="ellipse">
            <a:avLst/>
          </a:prstGeom>
          <a:solidFill>
            <a:srgbClr val="D5DED9"/>
          </a:solidFill>
          <a:ln w="12700">
            <a:solidFill>
              <a:srgbClr val="D5DED9"/>
            </a:solidFill>
            <a:prstDash val="solid"/>
          </a:ln>
        </p:spPr>
      </p:sp>
      <p:sp>
        <p:nvSpPr>
          <p:cNvPr id="11" name="Shape 8"/>
          <p:cNvSpPr/>
          <p:nvPr/>
        </p:nvSpPr>
        <p:spPr>
          <a:xfrm>
            <a:off x="457200" y="1444752"/>
            <a:ext cx="411480" cy="411480"/>
          </a:xfrm>
          <a:prstGeom prst="ellipse">
            <a:avLst/>
          </a:prstGeom>
          <a:solidFill>
            <a:srgbClr val="00A86A"/>
          </a:solidFill>
          <a:ln w="12700">
            <a:solidFill>
              <a:srgbClr val="00A86A"/>
            </a:solidFill>
            <a:prstDash val="solid"/>
          </a:ln>
        </p:spPr>
      </p:sp>
      <p:sp>
        <p:nvSpPr>
          <p:cNvPr id="12" name="Text 9"/>
          <p:cNvSpPr txBox="1"/>
          <p:nvPr/>
        </p:nvSpPr>
        <p:spPr>
          <a:xfrm>
            <a:off x="1005840" y="1371600"/>
            <a:ext cx="1280160" cy="548640"/>
          </a:xfrm>
          <a:prstGeom prst="rect">
            <a:avLst/>
          </a:prstGeom>
          <a:noFill/>
          <a:ln/>
        </p:spPr>
        <p:txBody>
          <a:bodyPr wrap="square" lIns="0" tIns="0" rIns="0" bIns="0" rtlCol="0" anchor="ctr"/>
          <a:lstStyle/>
          <a:p>
            <a:pPr indent="0" marL="0">
              <a:buNone/>
            </a:pPr>
            <a:r>
              <a:rPr lang="en-US" sz="1500" b="1" dirty="0">
                <a:solidFill>
                  <a:srgbClr val="00A86A"/>
                </a:solidFill>
                <a:latin typeface="Calibri" pitchFamily="34" charset="0"/>
                <a:ea typeface="Calibri" pitchFamily="34" charset="-122"/>
                <a:cs typeface="Calibri" pitchFamily="34" charset="-120"/>
              </a:rPr>
              <a:t>Élevée</a:t>
            </a:r>
            <a:endParaRPr lang="en-US" sz="1500" dirty="0"/>
          </a:p>
        </p:txBody>
      </p:sp>
      <p:sp>
        <p:nvSpPr>
          <p:cNvPr id="13" name="Text 10"/>
          <p:cNvSpPr txBox="1"/>
          <p:nvPr/>
        </p:nvSpPr>
        <p:spPr>
          <a:xfrm>
            <a:off x="2194560" y="1371600"/>
            <a:ext cx="2011680" cy="548640"/>
          </a:xfrm>
          <a:prstGeom prst="rect">
            <a:avLst/>
          </a:prstGeom>
          <a:noFill/>
          <a:ln/>
        </p:spPr>
        <p:txBody>
          <a:bodyPr wrap="square" lIns="0" tIns="0" rIns="0" bIns="0" rtlCol="0" anchor="ctr"/>
          <a:lstStyle/>
          <a:p>
            <a:pPr indent="0" marL="0">
              <a:buNone/>
            </a:pPr>
            <a:r>
              <a:rPr lang="en-US" sz="1000" dirty="0">
                <a:solidFill>
                  <a:srgbClr val="5E6964"/>
                </a:solidFill>
                <a:latin typeface="Calibri" pitchFamily="34" charset="0"/>
                <a:ea typeface="Calibri" pitchFamily="34" charset="-122"/>
                <a:cs typeface="Calibri" pitchFamily="34" charset="-120"/>
              </a:rPr>
              <a:t>Résultat établi : citable avec son intervalle</a:t>
            </a:r>
            <a:endParaRPr lang="en-US" sz="1000" dirty="0"/>
          </a:p>
        </p:txBody>
      </p:sp>
      <p:sp>
        <p:nvSpPr>
          <p:cNvPr id="14" name="Shape 11"/>
          <p:cNvSpPr/>
          <p:nvPr/>
        </p:nvSpPr>
        <p:spPr>
          <a:xfrm>
            <a:off x="457200" y="2130552"/>
            <a:ext cx="411480" cy="411480"/>
          </a:xfrm>
          <a:prstGeom prst="ellipse">
            <a:avLst/>
          </a:prstGeom>
          <a:solidFill>
            <a:srgbClr val="D49A00"/>
          </a:solidFill>
          <a:ln w="12700">
            <a:solidFill>
              <a:srgbClr val="D49A00"/>
            </a:solidFill>
            <a:prstDash val="solid"/>
          </a:ln>
        </p:spPr>
      </p:sp>
      <p:sp>
        <p:nvSpPr>
          <p:cNvPr id="15" name="Text 12"/>
          <p:cNvSpPr txBox="1"/>
          <p:nvPr/>
        </p:nvSpPr>
        <p:spPr>
          <a:xfrm>
            <a:off x="1005840" y="2057400"/>
            <a:ext cx="1280160" cy="548640"/>
          </a:xfrm>
          <a:prstGeom prst="rect">
            <a:avLst/>
          </a:prstGeom>
          <a:noFill/>
          <a:ln/>
        </p:spPr>
        <p:txBody>
          <a:bodyPr wrap="square" lIns="0" tIns="0" rIns="0" bIns="0" rtlCol="0" anchor="ctr"/>
          <a:lstStyle/>
          <a:p>
            <a:pPr indent="0" marL="0">
              <a:buNone/>
            </a:pPr>
            <a:r>
              <a:rPr lang="en-US" sz="1500" b="1" dirty="0">
                <a:solidFill>
                  <a:srgbClr val="D49A00"/>
                </a:solidFill>
                <a:latin typeface="Calibri" pitchFamily="34" charset="0"/>
                <a:ea typeface="Calibri" pitchFamily="34" charset="-122"/>
                <a:cs typeface="Calibri" pitchFamily="34" charset="-120"/>
              </a:rPr>
              <a:t>Moyenne</a:t>
            </a:r>
            <a:endParaRPr lang="en-US" sz="1500" dirty="0"/>
          </a:p>
        </p:txBody>
      </p:sp>
      <p:sp>
        <p:nvSpPr>
          <p:cNvPr id="16" name="Text 13"/>
          <p:cNvSpPr txBox="1"/>
          <p:nvPr/>
        </p:nvSpPr>
        <p:spPr>
          <a:xfrm>
            <a:off x="2194560" y="2057400"/>
            <a:ext cx="2011680" cy="548640"/>
          </a:xfrm>
          <a:prstGeom prst="rect">
            <a:avLst/>
          </a:prstGeom>
          <a:noFill/>
          <a:ln/>
        </p:spPr>
        <p:txBody>
          <a:bodyPr wrap="square" lIns="0" tIns="0" rIns="0" bIns="0" rtlCol="0" anchor="ctr"/>
          <a:lstStyle/>
          <a:p>
            <a:pPr indent="0" marL="0">
              <a:buNone/>
            </a:pPr>
            <a:r>
              <a:rPr lang="en-US" sz="1000" dirty="0">
                <a:solidFill>
                  <a:srgbClr val="5E6964"/>
                </a:solidFill>
                <a:latin typeface="Calibri" pitchFamily="34" charset="0"/>
                <a:ea typeface="Calibri" pitchFamily="34" charset="-122"/>
                <a:cs typeface="Calibri" pitchFamily="34" charset="-120"/>
              </a:rPr>
              <a:t>Résultat plausible : citer avec prudence et contexte</a:t>
            </a:r>
            <a:endParaRPr lang="en-US" sz="1000" dirty="0"/>
          </a:p>
        </p:txBody>
      </p:sp>
      <p:sp>
        <p:nvSpPr>
          <p:cNvPr id="17" name="Shape 14"/>
          <p:cNvSpPr/>
          <p:nvPr/>
        </p:nvSpPr>
        <p:spPr>
          <a:xfrm>
            <a:off x="457200" y="2816352"/>
            <a:ext cx="411480" cy="411480"/>
          </a:xfrm>
          <a:prstGeom prst="ellipse">
            <a:avLst/>
          </a:prstGeom>
          <a:solidFill>
            <a:srgbClr val="B83B2E"/>
          </a:solidFill>
          <a:ln w="12700">
            <a:solidFill>
              <a:srgbClr val="B83B2E"/>
            </a:solidFill>
            <a:prstDash val="solid"/>
          </a:ln>
        </p:spPr>
      </p:sp>
      <p:sp>
        <p:nvSpPr>
          <p:cNvPr id="18" name="Text 15"/>
          <p:cNvSpPr txBox="1"/>
          <p:nvPr/>
        </p:nvSpPr>
        <p:spPr>
          <a:xfrm>
            <a:off x="1005840" y="2743200"/>
            <a:ext cx="1280160" cy="548640"/>
          </a:xfrm>
          <a:prstGeom prst="rect">
            <a:avLst/>
          </a:prstGeom>
          <a:noFill/>
          <a:ln/>
        </p:spPr>
        <p:txBody>
          <a:bodyPr wrap="square" lIns="0" tIns="0" rIns="0" bIns="0" rtlCol="0" anchor="ctr"/>
          <a:lstStyle/>
          <a:p>
            <a:pPr indent="0" marL="0">
              <a:buNone/>
            </a:pPr>
            <a:r>
              <a:rPr lang="en-US" sz="1500" b="1" dirty="0">
                <a:solidFill>
                  <a:srgbClr val="B83B2E"/>
                </a:solidFill>
                <a:latin typeface="Calibri" pitchFamily="34" charset="0"/>
                <a:ea typeface="Calibri" pitchFamily="34" charset="-122"/>
                <a:cs typeface="Calibri" pitchFamily="34" charset="-120"/>
              </a:rPr>
              <a:t>Faible</a:t>
            </a:r>
            <a:endParaRPr lang="en-US" sz="1500" dirty="0"/>
          </a:p>
        </p:txBody>
      </p:sp>
      <p:sp>
        <p:nvSpPr>
          <p:cNvPr id="19" name="Text 16"/>
          <p:cNvSpPr txBox="1"/>
          <p:nvPr/>
        </p:nvSpPr>
        <p:spPr>
          <a:xfrm>
            <a:off x="2194560" y="2743200"/>
            <a:ext cx="2011680" cy="548640"/>
          </a:xfrm>
          <a:prstGeom prst="rect">
            <a:avLst/>
          </a:prstGeom>
          <a:noFill/>
          <a:ln/>
        </p:spPr>
        <p:txBody>
          <a:bodyPr wrap="square" lIns="0" tIns="0" rIns="0" bIns="0" rtlCol="0" anchor="ctr"/>
          <a:lstStyle/>
          <a:p>
            <a:pPr indent="0" marL="0">
              <a:buNone/>
            </a:pPr>
            <a:r>
              <a:rPr lang="en-US" sz="1000" dirty="0">
                <a:solidFill>
                  <a:srgbClr val="5E6964"/>
                </a:solidFill>
                <a:latin typeface="Calibri" pitchFamily="34" charset="0"/>
                <a:ea typeface="Calibri" pitchFamily="34" charset="-122"/>
                <a:cs typeface="Calibri" pitchFamily="34" charset="-120"/>
              </a:rPr>
              <a:t>Une piste, pas une conclusion : vérifier avant usage</a:t>
            </a:r>
            <a:endParaRPr lang="en-US" sz="1000" dirty="0"/>
          </a:p>
        </p:txBody>
      </p:sp>
      <p:sp>
        <p:nvSpPr>
          <p:cNvPr id="20" name="Shape 17"/>
          <p:cNvSpPr/>
          <p:nvPr/>
        </p:nvSpPr>
        <p:spPr>
          <a:xfrm>
            <a:off x="4480560" y="1325880"/>
            <a:ext cx="4206240" cy="3108960"/>
          </a:xfrm>
          <a:prstGeom prst="roundRect">
            <a:avLst>
              <a:gd name="adj" fmla="val 2353"/>
            </a:avLst>
          </a:prstGeom>
          <a:solidFill>
            <a:srgbClr val="F4F7F5"/>
          </a:solidFill>
          <a:ln w="9525">
            <a:solidFill>
              <a:srgbClr val="D5DED9"/>
            </a:solidFill>
            <a:prstDash val="solid"/>
          </a:ln>
        </p:spPr>
      </p:sp>
      <p:sp>
        <p:nvSpPr>
          <p:cNvPr id="21" name="Text 18"/>
          <p:cNvSpPr txBox="1"/>
          <p:nvPr/>
        </p:nvSpPr>
        <p:spPr>
          <a:xfrm>
            <a:off x="4645152" y="1417320"/>
            <a:ext cx="3840480" cy="219456"/>
          </a:xfrm>
          <a:prstGeom prst="rect">
            <a:avLst/>
          </a:prstGeom>
          <a:noFill/>
          <a:ln/>
        </p:spPr>
        <p:txBody>
          <a:bodyPr wrap="square" lIns="0" tIns="0" rIns="0" bIns="0" rtlCol="0" anchor="ctr"/>
          <a:lstStyle/>
          <a:p>
            <a:pPr indent="0" marL="0">
              <a:buNone/>
            </a:pPr>
            <a:r>
              <a:rPr lang="en-US" sz="900" b="1" spc="200" kern="0" dirty="0">
                <a:solidFill>
                  <a:srgbClr val="D49A00"/>
                </a:solidFill>
                <a:latin typeface="Calibri" pitchFamily="34" charset="0"/>
                <a:ea typeface="Calibri" pitchFamily="34" charset="-122"/>
                <a:cs typeface="Calibri" pitchFamily="34" charset="-120"/>
              </a:rPr>
              <a:t>D'OÙ VIENT LA CONFIANCE</a:t>
            </a:r>
            <a:endParaRPr lang="en-US" sz="900" dirty="0"/>
          </a:p>
        </p:txBody>
      </p:sp>
      <p:sp>
        <p:nvSpPr>
          <p:cNvPr id="22" name="Text 19"/>
          <p:cNvSpPr txBox="1"/>
          <p:nvPr/>
        </p:nvSpPr>
        <p:spPr>
          <a:xfrm>
            <a:off x="4645152" y="1737360"/>
            <a:ext cx="3840480" cy="228600"/>
          </a:xfrm>
          <a:prstGeom prst="rect">
            <a:avLst/>
          </a:prstGeom>
          <a:noFill/>
          <a:ln/>
        </p:spPr>
        <p:txBody>
          <a:bodyPr wrap="square" lIns="0" tIns="0" rIns="0" bIns="0" rtlCol="0" anchor="t"/>
          <a:lstStyle/>
          <a:p>
            <a:pPr indent="0" marL="0">
              <a:buNone/>
            </a:pPr>
            <a:r>
              <a:rPr lang="en-US" sz="1100" b="1" dirty="0">
                <a:solidFill>
                  <a:srgbClr val="231F20"/>
                </a:solidFill>
                <a:latin typeface="Calibri" pitchFamily="34" charset="0"/>
                <a:ea typeface="Calibri" pitchFamily="34" charset="-122"/>
                <a:cs typeface="Calibri" pitchFamily="34" charset="-120"/>
              </a:rPr>
              <a:t>Tendance (S1, S2)</a:t>
            </a:r>
            <a:endParaRPr lang="en-US" sz="1100" dirty="0"/>
          </a:p>
        </p:txBody>
      </p:sp>
      <p:sp>
        <p:nvSpPr>
          <p:cNvPr id="23" name="Text 20"/>
          <p:cNvSpPr txBox="1"/>
          <p:nvPr/>
        </p:nvSpPr>
        <p:spPr>
          <a:xfrm>
            <a:off x="4645152" y="1965960"/>
            <a:ext cx="3840480" cy="256032"/>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élevée p &lt; 0,01 · moyenne p &lt; 0,10 · faible si n &lt; 6</a:t>
            </a:r>
            <a:endParaRPr lang="en-US" sz="950" dirty="0"/>
          </a:p>
        </p:txBody>
      </p:sp>
      <p:sp>
        <p:nvSpPr>
          <p:cNvPr id="24" name="Text 21"/>
          <p:cNvSpPr txBox="1"/>
          <p:nvPr/>
        </p:nvSpPr>
        <p:spPr>
          <a:xfrm>
            <a:off x="4645152" y="2267712"/>
            <a:ext cx="3840480" cy="228600"/>
          </a:xfrm>
          <a:prstGeom prst="rect">
            <a:avLst/>
          </a:prstGeom>
          <a:noFill/>
          <a:ln/>
        </p:spPr>
        <p:txBody>
          <a:bodyPr wrap="square" lIns="0" tIns="0" rIns="0" bIns="0" rtlCol="0" anchor="t"/>
          <a:lstStyle/>
          <a:p>
            <a:pPr indent="0" marL="0">
              <a:buNone/>
            </a:pPr>
            <a:r>
              <a:rPr lang="en-US" sz="1100" b="1" dirty="0">
                <a:solidFill>
                  <a:srgbClr val="231F20"/>
                </a:solidFill>
                <a:latin typeface="Calibri" pitchFamily="34" charset="0"/>
                <a:ea typeface="Calibri" pitchFamily="34" charset="-122"/>
                <a:cs typeface="Calibri" pitchFamily="34" charset="-120"/>
              </a:rPr>
              <a:t>Élasticité (S3)</a:t>
            </a:r>
            <a:endParaRPr lang="en-US" sz="1100" dirty="0"/>
          </a:p>
        </p:txBody>
      </p:sp>
      <p:sp>
        <p:nvSpPr>
          <p:cNvPr id="25" name="Text 22"/>
          <p:cNvSpPr txBox="1"/>
          <p:nvPr/>
        </p:nvSpPr>
        <p:spPr>
          <a:xfrm>
            <a:off x="4645152" y="2496312"/>
            <a:ext cx="3840480" cy="256032"/>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n, p, largeur d'IC, R² (voir S3)</a:t>
            </a:r>
            <a:endParaRPr lang="en-US" sz="950" dirty="0"/>
          </a:p>
        </p:txBody>
      </p:sp>
      <p:sp>
        <p:nvSpPr>
          <p:cNvPr id="26" name="Text 23"/>
          <p:cNvSpPr txBox="1"/>
          <p:nvPr/>
        </p:nvSpPr>
        <p:spPr>
          <a:xfrm>
            <a:off x="4645152" y="2798064"/>
            <a:ext cx="3840480" cy="228600"/>
          </a:xfrm>
          <a:prstGeom prst="rect">
            <a:avLst/>
          </a:prstGeom>
          <a:noFill/>
          <a:ln/>
        </p:spPr>
        <p:txBody>
          <a:bodyPr wrap="square" lIns="0" tIns="0" rIns="0" bIns="0" rtlCol="0" anchor="t"/>
          <a:lstStyle/>
          <a:p>
            <a:pPr indent="0" marL="0">
              <a:buNone/>
            </a:pPr>
            <a:r>
              <a:rPr lang="en-US" sz="1100" b="1" dirty="0">
                <a:solidFill>
                  <a:srgbClr val="231F20"/>
                </a:solidFill>
                <a:latin typeface="Calibri" pitchFamily="34" charset="0"/>
                <a:ea typeface="Calibri" pitchFamily="34" charset="-122"/>
                <a:cs typeface="Calibri" pitchFamily="34" charset="-120"/>
              </a:rPr>
              <a:t>Choc (S4)</a:t>
            </a:r>
            <a:endParaRPr lang="en-US" sz="1100" dirty="0"/>
          </a:p>
        </p:txBody>
      </p:sp>
      <p:sp>
        <p:nvSpPr>
          <p:cNvPr id="27" name="Text 24"/>
          <p:cNvSpPr txBox="1"/>
          <p:nvPr/>
        </p:nvSpPr>
        <p:spPr>
          <a:xfrm>
            <a:off x="4645152" y="3026664"/>
            <a:ext cx="3840480" cy="256032"/>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test placebo réussi ou non</a:t>
            </a:r>
            <a:endParaRPr lang="en-US" sz="950" dirty="0"/>
          </a:p>
        </p:txBody>
      </p:sp>
      <p:sp>
        <p:nvSpPr>
          <p:cNvPr id="28" name="Text 25"/>
          <p:cNvSpPr txBox="1"/>
          <p:nvPr/>
        </p:nvSpPr>
        <p:spPr>
          <a:xfrm>
            <a:off x="4645152" y="3328416"/>
            <a:ext cx="3840480" cy="228600"/>
          </a:xfrm>
          <a:prstGeom prst="rect">
            <a:avLst/>
          </a:prstGeom>
          <a:noFill/>
          <a:ln/>
        </p:spPr>
        <p:txBody>
          <a:bodyPr wrap="square" lIns="0" tIns="0" rIns="0" bIns="0" rtlCol="0" anchor="t"/>
          <a:lstStyle/>
          <a:p>
            <a:pPr indent="0" marL="0">
              <a:buNone/>
            </a:pPr>
            <a:r>
              <a:rPr lang="en-US" sz="1100" b="1" dirty="0">
                <a:solidFill>
                  <a:srgbClr val="231F20"/>
                </a:solidFill>
                <a:latin typeface="Calibri" pitchFamily="34" charset="0"/>
                <a:ea typeface="Calibri" pitchFamily="34" charset="-122"/>
                <a:cs typeface="Calibri" pitchFamily="34" charset="-120"/>
              </a:rPr>
              <a:t>Inégalités (S5)</a:t>
            </a:r>
            <a:endParaRPr lang="en-US" sz="1100" dirty="0"/>
          </a:p>
        </p:txBody>
      </p:sp>
      <p:sp>
        <p:nvSpPr>
          <p:cNvPr id="29" name="Text 26"/>
          <p:cNvSpPr txBox="1"/>
          <p:nvPr/>
        </p:nvSpPr>
        <p:spPr>
          <a:xfrm>
            <a:off x="4645152" y="3557016"/>
            <a:ext cx="3840480" cy="256032"/>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l'IC bootstrap de ΔGini exclut 0</a:t>
            </a:r>
            <a:endParaRPr lang="en-US" sz="950" dirty="0"/>
          </a:p>
        </p:txBody>
      </p:sp>
      <p:sp>
        <p:nvSpPr>
          <p:cNvPr id="30" name="Text 27"/>
          <p:cNvSpPr txBox="1"/>
          <p:nvPr/>
        </p:nvSpPr>
        <p:spPr>
          <a:xfrm>
            <a:off x="4645152" y="3858768"/>
            <a:ext cx="3840480" cy="228600"/>
          </a:xfrm>
          <a:prstGeom prst="rect">
            <a:avLst/>
          </a:prstGeom>
          <a:noFill/>
          <a:ln/>
        </p:spPr>
        <p:txBody>
          <a:bodyPr wrap="square" lIns="0" tIns="0" rIns="0" bIns="0" rtlCol="0" anchor="t"/>
          <a:lstStyle/>
          <a:p>
            <a:pPr indent="0" marL="0">
              <a:buNone/>
            </a:pPr>
            <a:r>
              <a:rPr lang="en-US" sz="1100" b="1" dirty="0">
                <a:solidFill>
                  <a:srgbClr val="231F20"/>
                </a:solidFill>
                <a:latin typeface="Calibri" pitchFamily="34" charset="0"/>
                <a:ea typeface="Calibri" pitchFamily="34" charset="-122"/>
                <a:cs typeface="Calibri" pitchFamily="34" charset="-120"/>
              </a:rPr>
              <a:t>Industrie (S6)</a:t>
            </a:r>
            <a:endParaRPr lang="en-US" sz="1100" dirty="0"/>
          </a:p>
        </p:txBody>
      </p:sp>
      <p:sp>
        <p:nvSpPr>
          <p:cNvPr id="31" name="Text 28"/>
          <p:cNvSpPr txBox="1"/>
          <p:nvPr/>
        </p:nvSpPr>
        <p:spPr>
          <a:xfrm>
            <a:off x="4645152" y="4087368"/>
            <a:ext cx="3840480" cy="256032"/>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précision OSM ≥ 0,5 → moyenne, sinon faible</a:t>
            </a:r>
            <a:endParaRPr lang="en-US" sz="950" dirty="0"/>
          </a:p>
        </p:txBody>
      </p:sp>
      <p:sp>
        <p:nvSpPr>
          <p:cNvPr id="32" name="Text 29"/>
          <p:cNvSpPr txBox="1"/>
          <p:nvPr/>
        </p:nvSpPr>
        <p:spPr>
          <a:xfrm>
            <a:off x="457200" y="3611880"/>
            <a:ext cx="3749040" cy="548640"/>
          </a:xfrm>
          <a:prstGeom prst="rect">
            <a:avLst/>
          </a:prstGeom>
          <a:noFill/>
          <a:ln/>
        </p:spPr>
        <p:txBody>
          <a:bodyPr wrap="square" lIns="0" tIns="0" rIns="0" bIns="0" rtlCol="0" anchor="t"/>
          <a:lstStyle/>
          <a:p>
            <a:pPr indent="0" marL="0">
              <a:buNone/>
            </a:pPr>
            <a:r>
              <a:rPr lang="en-US" sz="1000" i="1" dirty="0">
                <a:solidFill>
                  <a:srgbClr val="5E6964"/>
                </a:solidFill>
                <a:latin typeface="Calibri" pitchFamily="34" charset="0"/>
                <a:ea typeface="Calibri" pitchFamily="34" charset="-122"/>
                <a:cs typeface="Calibri" pitchFamily="34" charset="-120"/>
              </a:rPr>
              <a:t>Les messages sont générés en EN et FR et remplissent le résumé exécutif du notebook (section 00)</a:t>
            </a:r>
            <a:endParaRPr lang="en-US" sz="10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8A9590"/>
                </a:solidFill>
                <a:latin typeface="Calibri"/>
                <a:ea typeface="Calibri"/>
                <a:cs typeface="Calibri"/>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txBox="1"/>
          <p:nvPr/>
        </p:nvSpPr>
        <p:spPr>
          <a:xfrm>
            <a:off x="548640" y="914400"/>
            <a:ext cx="2743200" cy="274320"/>
          </a:xfrm>
          <a:prstGeom prst="rect">
            <a:avLst/>
          </a:prstGeom>
          <a:noFill/>
          <a:ln/>
        </p:spPr>
        <p:txBody>
          <a:bodyPr wrap="square" lIns="0" tIns="0" rIns="0" bIns="0" rtlCol="0" anchor="t"/>
          <a:lstStyle/>
          <a:p>
            <a:pPr indent="0" marL="0">
              <a:buNone/>
            </a:pPr>
            <a:r>
              <a:rPr lang="en-US" sz="1050" b="1" spc="300" kern="0" dirty="0">
                <a:solidFill>
                  <a:srgbClr val="F5C242"/>
                </a:solidFill>
                <a:latin typeface="Calibri" pitchFamily="34" charset="0"/>
                <a:ea typeface="Calibri" pitchFamily="34" charset="-122"/>
                <a:cs typeface="Calibri" pitchFamily="34" charset="-120"/>
              </a:rPr>
              <a:t>SECTION</a:t>
            </a:r>
            <a:endParaRPr lang="en-US" sz="1050" dirty="0"/>
          </a:p>
        </p:txBody>
      </p:sp>
      <p:sp>
        <p:nvSpPr>
          <p:cNvPr id="3" name="Text 1"/>
          <p:cNvSpPr txBox="1"/>
          <p:nvPr/>
        </p:nvSpPr>
        <p:spPr>
          <a:xfrm>
            <a:off x="548640" y="1143000"/>
            <a:ext cx="2743200" cy="1188720"/>
          </a:xfrm>
          <a:prstGeom prst="rect">
            <a:avLst/>
          </a:prstGeom>
          <a:noFill/>
          <a:ln/>
        </p:spPr>
        <p:txBody>
          <a:bodyPr wrap="square" lIns="0" tIns="0" rIns="0" bIns="0" rtlCol="0" anchor="t"/>
          <a:lstStyle/>
          <a:p>
            <a:pPr indent="0" marL="0">
              <a:buNone/>
            </a:pPr>
            <a:r>
              <a:rPr lang="en-US" sz="8000" b="1" dirty="0">
                <a:solidFill>
                  <a:srgbClr val="F5C242"/>
                </a:solidFill>
                <a:latin typeface="Calibri" pitchFamily="34" charset="0"/>
                <a:ea typeface="Calibri" pitchFamily="34" charset="-122"/>
                <a:cs typeface="Calibri" pitchFamily="34" charset="-120"/>
              </a:rPr>
              <a:t>05</a:t>
            </a:r>
            <a:endParaRPr lang="en-US" sz="8000" dirty="0"/>
          </a:p>
        </p:txBody>
      </p:sp>
      <p:sp>
        <p:nvSpPr>
          <p:cNvPr id="4" name="Text 2"/>
          <p:cNvSpPr txBox="1"/>
          <p:nvPr/>
        </p:nvSpPr>
        <p:spPr>
          <a:xfrm>
            <a:off x="548640" y="2377440"/>
            <a:ext cx="5303520" cy="731520"/>
          </a:xfrm>
          <a:prstGeom prst="rect">
            <a:avLst/>
          </a:prstGeom>
          <a:noFill/>
          <a:ln/>
        </p:spPr>
        <p:txBody>
          <a:bodyPr wrap="square" lIns="0" tIns="0" rIns="0" bIns="0" rtlCol="0" anchor="t"/>
          <a:lstStyle/>
          <a:p>
            <a:pPr indent="0" marL="0">
              <a:buNone/>
            </a:pPr>
            <a:r>
              <a:rPr lang="en-US" sz="4000" b="1" dirty="0">
                <a:solidFill>
                  <a:srgbClr val="FFFFFF"/>
                </a:solidFill>
                <a:latin typeface="Calibri" pitchFamily="34" charset="0"/>
                <a:ea typeface="Calibri" pitchFamily="34" charset="-122"/>
                <a:cs typeface="Calibri" pitchFamily="34" charset="-120"/>
              </a:rPr>
              <a:t>Publier et contrôler</a:t>
            </a:r>
            <a:endParaRPr lang="en-US" sz="4000" dirty="0"/>
          </a:p>
        </p:txBody>
      </p:sp>
      <p:sp>
        <p:nvSpPr>
          <p:cNvPr id="5" name="Text 3"/>
          <p:cNvSpPr txBox="1"/>
          <p:nvPr/>
        </p:nvSpPr>
        <p:spPr>
          <a:xfrm>
            <a:off x="548640" y="3154680"/>
            <a:ext cx="5120640" cy="731520"/>
          </a:xfrm>
          <a:prstGeom prst="rect">
            <a:avLst/>
          </a:prstGeom>
          <a:noFill/>
          <a:ln/>
        </p:spPr>
        <p:txBody>
          <a:bodyPr wrap="square" lIns="0" tIns="0" rIns="0" bIns="0" rtlCol="0" anchor="t"/>
          <a:lstStyle/>
          <a:p>
            <a:pPr indent="0" marL="0">
              <a:buNone/>
            </a:pPr>
            <a:r>
              <a:rPr lang="en-US" sz="1800" i="1" dirty="0">
                <a:solidFill>
                  <a:srgbClr val="E6F6EE"/>
                </a:solidFill>
                <a:latin typeface="Calibri" pitchFamily="34" charset="0"/>
                <a:ea typeface="Calibri" pitchFamily="34" charset="-122"/>
                <a:cs typeface="Calibri" pitchFamily="34" charset="-120"/>
              </a:rPr>
              <a:t>Comment les résultats arrivent-ils aux utilisateurs, et jusqu'où s'y fier ?</a:t>
            </a:r>
            <a:endParaRPr lang="en-US" sz="1800" dirty="0"/>
          </a:p>
        </p:txBody>
      </p:sp>
      <p:sp>
        <p:nvSpPr>
          <p:cNvPr id="6" name="Shape 4"/>
          <p:cNvSpPr/>
          <p:nvPr/>
        </p:nvSpPr>
        <p:spPr>
          <a:xfrm>
            <a:off x="6309360" y="1234440"/>
            <a:ext cx="2286000" cy="2286000"/>
          </a:xfrm>
          <a:prstGeom prst="ellipse">
            <a:avLst/>
          </a:prstGeom>
          <a:solidFill>
            <a:srgbClr val="FFFFFF">
              <a:alpha val="8000"/>
            </a:srgbClr>
          </a:solidFill>
          <a:ln w="12700">
            <a:solidFill>
              <a:srgbClr val="FFFFFF">
                <a:alpha val="30000"/>
              </a:srgbClr>
            </a:solidFill>
            <a:prstDash val="solid"/>
          </a:ln>
        </p:spPr>
      </p:sp>
      <p:sp>
        <p:nvSpPr>
          <p:cNvPr id="7" name="Shape 5"/>
          <p:cNvSpPr/>
          <p:nvPr/>
        </p:nvSpPr>
        <p:spPr>
          <a:xfrm>
            <a:off x="6675120" y="1600200"/>
            <a:ext cx="1554480" cy="1554480"/>
          </a:xfrm>
          <a:prstGeom prst="ellipse">
            <a:avLst/>
          </a:prstGeom>
          <a:solidFill>
            <a:srgbClr val="FFFFFF"/>
          </a:solidFill>
          <a:ln w="12700">
            <a:solidFill>
              <a:srgbClr val="FFFFFF"/>
            </a:solidFill>
            <a:prstDash val="solid"/>
          </a:ln>
        </p:spPr>
      </p:sp>
      <p:pic>
        <p:nvPicPr>
          <p:cNvPr id="8" name="Image 0" descr="preencoded.png">    </p:cNvPr>
          <p:cNvPicPr>
            <a:picLocks noChangeAspect="1"/>
          </p:cNvPicPr>
          <p:nvPr/>
        </p:nvPicPr>
        <p:blipFill>
          <a:blip r:embed="rId1"/>
          <a:stretch>
            <a:fillRect/>
          </a:stretch>
        </p:blipFill>
        <p:spPr>
          <a:xfrm>
            <a:off x="7086600" y="2011680"/>
            <a:ext cx="731520" cy="731520"/>
          </a:xfrm>
          <a:prstGeom prst="rect">
            <a:avLst/>
          </a:prstGeom>
        </p:spPr>
      </p:pic>
      <p:sp>
        <p:nvSpPr>
          <p:cNvPr id="9" name="Shape 6"/>
          <p:cNvSpPr/>
          <p:nvPr/>
        </p:nvSpPr>
        <p:spPr>
          <a:xfrm>
            <a:off x="566928" y="4251960"/>
            <a:ext cx="118872" cy="118872"/>
          </a:xfrm>
          <a:prstGeom prst="ellipse">
            <a:avLst/>
          </a:prstGeom>
          <a:solidFill>
            <a:srgbClr val="FFFFFF">
              <a:alpha val="40000"/>
            </a:srgbClr>
          </a:solidFill>
          <a:ln w="12700">
            <a:solidFill>
              <a:srgbClr val="FFFFFF">
                <a:alpha val="0"/>
              </a:srgbClr>
            </a:solidFill>
            <a:prstDash val="solid"/>
          </a:ln>
        </p:spPr>
      </p:sp>
      <p:sp>
        <p:nvSpPr>
          <p:cNvPr id="10" name="Shape 7"/>
          <p:cNvSpPr/>
          <p:nvPr/>
        </p:nvSpPr>
        <p:spPr>
          <a:xfrm>
            <a:off x="786384" y="4251960"/>
            <a:ext cx="118872" cy="118872"/>
          </a:xfrm>
          <a:prstGeom prst="ellipse">
            <a:avLst/>
          </a:prstGeom>
          <a:solidFill>
            <a:srgbClr val="FFFFFF">
              <a:alpha val="40000"/>
            </a:srgbClr>
          </a:solidFill>
          <a:ln w="12700">
            <a:solidFill>
              <a:srgbClr val="FFFFFF">
                <a:alpha val="0"/>
              </a:srgbClr>
            </a:solidFill>
            <a:prstDash val="solid"/>
          </a:ln>
        </p:spPr>
      </p:sp>
      <p:sp>
        <p:nvSpPr>
          <p:cNvPr id="11" name="Shape 8"/>
          <p:cNvSpPr/>
          <p:nvPr/>
        </p:nvSpPr>
        <p:spPr>
          <a:xfrm>
            <a:off x="1005840" y="4251960"/>
            <a:ext cx="118872" cy="118872"/>
          </a:xfrm>
          <a:prstGeom prst="ellipse">
            <a:avLst/>
          </a:prstGeom>
          <a:solidFill>
            <a:srgbClr val="FFFFFF">
              <a:alpha val="40000"/>
            </a:srgbClr>
          </a:solidFill>
          <a:ln w="12700">
            <a:solidFill>
              <a:srgbClr val="FFFFFF">
                <a:alpha val="0"/>
              </a:srgbClr>
            </a:solidFill>
            <a:prstDash val="solid"/>
          </a:ln>
        </p:spPr>
      </p:sp>
      <p:sp>
        <p:nvSpPr>
          <p:cNvPr id="12" name="Shape 9"/>
          <p:cNvSpPr/>
          <p:nvPr/>
        </p:nvSpPr>
        <p:spPr>
          <a:xfrm>
            <a:off x="1225296" y="4251960"/>
            <a:ext cx="118872" cy="118872"/>
          </a:xfrm>
          <a:prstGeom prst="ellipse">
            <a:avLst/>
          </a:prstGeom>
          <a:solidFill>
            <a:srgbClr val="FFFFFF">
              <a:alpha val="40000"/>
            </a:srgbClr>
          </a:solidFill>
          <a:ln w="12700">
            <a:solidFill>
              <a:srgbClr val="FFFFFF">
                <a:alpha val="0"/>
              </a:srgbClr>
            </a:solidFill>
            <a:prstDash val="solid"/>
          </a:ln>
        </p:spPr>
      </p:sp>
      <p:sp>
        <p:nvSpPr>
          <p:cNvPr id="13" name="Shape 10"/>
          <p:cNvSpPr/>
          <p:nvPr/>
        </p:nvSpPr>
        <p:spPr>
          <a:xfrm>
            <a:off x="1444752" y="4251960"/>
            <a:ext cx="118872" cy="118872"/>
          </a:xfrm>
          <a:prstGeom prst="ellipse">
            <a:avLst/>
          </a:prstGeom>
          <a:solidFill>
            <a:srgbClr val="F5C242"/>
          </a:solidFill>
          <a:ln w="12700">
            <a:solidFill>
              <a:srgbClr val="FFFFFF">
                <a:alpha val="0"/>
              </a:srgbClr>
            </a:solidFill>
            <a:prstDash val="solid"/>
          </a:ln>
        </p:spPr>
      </p:sp>
      <p:sp>
        <p:nvSpPr>
          <p:cNvPr id="14" name="Shape 11"/>
          <p:cNvSpPr/>
          <p:nvPr/>
        </p:nvSpPr>
        <p:spPr>
          <a:xfrm>
            <a:off x="1664208" y="4251960"/>
            <a:ext cx="118872" cy="118872"/>
          </a:xfrm>
          <a:prstGeom prst="ellipse">
            <a:avLst/>
          </a:prstGeom>
          <a:solidFill>
            <a:srgbClr val="FFFFFF">
              <a:alpha val="40000"/>
            </a:srgbClr>
          </a:solidFill>
          <a:ln w="12700">
            <a:solidFill>
              <a:srgbClr val="FFFFFF">
                <a:alpha val="0"/>
              </a:srgbClr>
            </a:solidFill>
            <a:prstDash val="solid"/>
          </a:ln>
        </p:spPr>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3"/>
          <p:cNvSpPr/>
          <p:nvPr>
            <p:ph idx="105" type="body" hasCustomPrompt="1"/>
          </p:nvPr>
        </p:nvSpPr>
        <p:spPr>
          <a:xfrm>
            <a:off x="457200" y="274320"/>
            <a:ext cx="6217920" cy="256032"/>
          </a:xfrm>
          <a:prstGeom prst="rect">
            <a:avLst/>
          </a:prstGeom>
          <a:noFill/>
          <a:ln/>
        </p:spPr>
        <p:txBody>
          <a:bodyPr wrap="square" lIns="0" tIns="0" rIns="0" bIns="0" rtlCol="0" anchor="ctr"/>
          <a:lstStyle/>
          <a:p>
            <a:pPr algn="l" indent="0" marL="0">
              <a:buNone/>
            </a:pPr>
            <a:r>
              <a:rPr lang="en-US" sz="1050" b="1" spc="300" kern="0" dirty="0">
                <a:solidFill>
                  <a:srgbClr val="00704A"/>
                </a:solidFill>
                <a:latin typeface="Calibri" pitchFamily="34" charset="0"/>
                <a:ea typeface="Calibri" pitchFamily="34" charset="-122"/>
                <a:cs typeface="Calibri" pitchFamily="34" charset="-120"/>
              </a:rPr>
              <a:t>05 · PUBLIER · SORTIES</a:t>
            </a:r>
            <a:endParaRPr lang="en-US" sz="1050" dirty="0"/>
          </a:p>
        </p:txBody>
      </p:sp>
      <p:sp>
        <p:nvSpPr>
          <p:cNvPr id="3" name="Text 3"/>
          <p:cNvSpPr/>
          <p:nvPr>
            <p:ph idx="106" type="title" hasCustomPrompt="1"/>
          </p:nvPr>
        </p:nvSpPr>
        <p:spPr>
          <a:xfrm>
            <a:off x="457200" y="548640"/>
            <a:ext cx="8229600" cy="566928"/>
          </a:xfrm>
          <a:prstGeom prst="rect">
            <a:avLst/>
          </a:prstGeom>
          <a:noFill/>
          <a:ln/>
        </p:spPr>
        <p:txBody>
          <a:bodyPr wrap="square" lIns="0" tIns="0" rIns="0" bIns="0" rtlCol="0" anchor="ctr"/>
          <a:lstStyle/>
          <a:p>
            <a:pPr algn="l" indent="0" marL="0">
              <a:buNone/>
            </a:pPr>
            <a:r>
              <a:rPr lang="en-US" sz="2800" b="1" dirty="0">
                <a:solidFill>
                  <a:srgbClr val="231F20"/>
                </a:solidFill>
                <a:latin typeface="Calibri" pitchFamily="34" charset="0"/>
                <a:ea typeface="Calibri" pitchFamily="34" charset="-122"/>
                <a:cs typeface="Calibri" pitchFamily="34" charset="-120"/>
              </a:rPr>
              <a:t>Un tableau de bord statique, bilingue, en un appel</a:t>
            </a:r>
            <a:endParaRPr lang="en-US" sz="2800" dirty="0"/>
          </a:p>
        </p:txBody>
      </p:sp>
      <p:sp>
        <p:nvSpPr>
          <p:cNvPr id="4" name="dot0"/>
          <p:cNvSpPr/>
          <p:nvPr/>
        </p:nvSpPr>
        <p:spPr>
          <a:xfrm>
            <a:off x="7644384" y="338328"/>
            <a:ext cx="100584" cy="100584"/>
          </a:xfrm>
          <a:prstGeom prst="ellipse">
            <a:avLst/>
          </a:prstGeom>
          <a:solidFill>
            <a:srgbClr val="D5DED9"/>
          </a:solidFill>
          <a:ln w="12700">
            <a:solidFill>
              <a:srgbClr val="D5DED9"/>
            </a:solidFill>
            <a:prstDash val="solid"/>
          </a:ln>
        </p:spPr>
      </p:sp>
      <p:sp>
        <p:nvSpPr>
          <p:cNvPr id="5" name="dot1"/>
          <p:cNvSpPr/>
          <p:nvPr/>
        </p:nvSpPr>
        <p:spPr>
          <a:xfrm>
            <a:off x="7818120" y="338328"/>
            <a:ext cx="100584" cy="100584"/>
          </a:xfrm>
          <a:prstGeom prst="ellipse">
            <a:avLst/>
          </a:prstGeom>
          <a:solidFill>
            <a:srgbClr val="D5DED9"/>
          </a:solidFill>
          <a:ln w="12700">
            <a:solidFill>
              <a:srgbClr val="D5DED9"/>
            </a:solidFill>
            <a:prstDash val="solid"/>
          </a:ln>
        </p:spPr>
      </p:sp>
      <p:sp>
        <p:nvSpPr>
          <p:cNvPr id="6" name="dot2"/>
          <p:cNvSpPr/>
          <p:nvPr/>
        </p:nvSpPr>
        <p:spPr>
          <a:xfrm>
            <a:off x="7991856" y="338328"/>
            <a:ext cx="100584" cy="100584"/>
          </a:xfrm>
          <a:prstGeom prst="ellipse">
            <a:avLst/>
          </a:prstGeom>
          <a:solidFill>
            <a:srgbClr val="D5DED9"/>
          </a:solidFill>
          <a:ln w="12700">
            <a:solidFill>
              <a:srgbClr val="D5DED9"/>
            </a:solidFill>
            <a:prstDash val="solid"/>
          </a:ln>
        </p:spPr>
      </p:sp>
      <p:sp>
        <p:nvSpPr>
          <p:cNvPr id="7" name="dot3"/>
          <p:cNvSpPr/>
          <p:nvPr/>
        </p:nvSpPr>
        <p:spPr>
          <a:xfrm>
            <a:off x="8165592" y="338328"/>
            <a:ext cx="100584" cy="100584"/>
          </a:xfrm>
          <a:prstGeom prst="ellipse">
            <a:avLst/>
          </a:prstGeom>
          <a:solidFill>
            <a:srgbClr val="D5DED9"/>
          </a:solidFill>
          <a:ln w="12700">
            <a:solidFill>
              <a:srgbClr val="D5DED9"/>
            </a:solidFill>
            <a:prstDash val="solid"/>
          </a:ln>
        </p:spPr>
      </p:sp>
      <p:sp>
        <p:nvSpPr>
          <p:cNvPr id="8" name="dot4"/>
          <p:cNvSpPr/>
          <p:nvPr/>
        </p:nvSpPr>
        <p:spPr>
          <a:xfrm>
            <a:off x="8339328" y="338328"/>
            <a:ext cx="100584" cy="100584"/>
          </a:xfrm>
          <a:prstGeom prst="ellipse">
            <a:avLst/>
          </a:prstGeom>
          <a:solidFill>
            <a:srgbClr val="C4621D"/>
          </a:solidFill>
          <a:ln w="12700">
            <a:solidFill>
              <a:srgbClr val="C4621D"/>
            </a:solidFill>
            <a:prstDash val="solid"/>
          </a:ln>
        </p:spPr>
      </p:sp>
      <p:sp>
        <p:nvSpPr>
          <p:cNvPr id="9" name="dot5"/>
          <p:cNvSpPr/>
          <p:nvPr/>
        </p:nvSpPr>
        <p:spPr>
          <a:xfrm>
            <a:off x="8513064" y="338328"/>
            <a:ext cx="100584" cy="100584"/>
          </a:xfrm>
          <a:prstGeom prst="ellipse">
            <a:avLst/>
          </a:prstGeom>
          <a:solidFill>
            <a:srgbClr val="D5DED9"/>
          </a:solidFill>
          <a:ln w="12700">
            <a:solidFill>
              <a:srgbClr val="D5DED9"/>
            </a:solidFill>
            <a:prstDash val="solid"/>
          </a:ln>
        </p:spPr>
      </p:sp>
      <p:sp>
        <p:nvSpPr>
          <p:cNvPr id="11" name="Shape 8"/>
          <p:cNvSpPr/>
          <p:nvPr/>
        </p:nvSpPr>
        <p:spPr>
          <a:xfrm>
            <a:off x="457200" y="1371600"/>
            <a:ext cx="1463040" cy="1371600"/>
          </a:xfrm>
          <a:prstGeom prst="roundRect">
            <a:avLst>
              <a:gd name="adj" fmla="val 5333"/>
            </a:avLst>
          </a:prstGeom>
          <a:solidFill>
            <a:srgbClr val="F4F7F5"/>
          </a:solidFill>
          <a:ln w="9525">
            <a:solidFill>
              <a:srgbClr val="D5DED9"/>
            </a:solidFill>
            <a:prstDash val="solid"/>
          </a:ln>
        </p:spPr>
      </p:sp>
      <p:sp>
        <p:nvSpPr>
          <p:cNvPr id="12" name="Shape 9"/>
          <p:cNvSpPr/>
          <p:nvPr/>
        </p:nvSpPr>
        <p:spPr>
          <a:xfrm>
            <a:off x="932688" y="1481328"/>
            <a:ext cx="502920" cy="502920"/>
          </a:xfrm>
          <a:prstGeom prst="ellipse">
            <a:avLst/>
          </a:prstGeom>
          <a:solidFill>
            <a:srgbClr val="C4621D">
              <a:alpha val="22000"/>
            </a:srgbClr>
          </a:solidFill>
          <a:ln w="12700">
            <a:solidFill>
              <a:srgbClr val="C4621D">
                <a:alpha val="0"/>
              </a:srgbClr>
            </a:solidFill>
            <a:prstDash val="solid"/>
          </a:ln>
        </p:spPr>
      </p:sp>
      <p:pic>
        <p:nvPicPr>
          <p:cNvPr id="13" name="Image 0" descr="preencoded.png">    </p:cNvPr>
          <p:cNvPicPr>
            <a:picLocks noChangeAspect="1"/>
          </p:cNvPicPr>
          <p:nvPr/>
        </p:nvPicPr>
        <p:blipFill>
          <a:blip r:embed="rId1"/>
          <a:stretch>
            <a:fillRect/>
          </a:stretch>
        </p:blipFill>
        <p:spPr>
          <a:xfrm>
            <a:off x="1053389" y="1602029"/>
            <a:ext cx="261518" cy="261518"/>
          </a:xfrm>
          <a:prstGeom prst="rect">
            <a:avLst/>
          </a:prstGeom>
        </p:spPr>
      </p:pic>
      <p:sp>
        <p:nvSpPr>
          <p:cNvPr id="14" name="Text 10"/>
          <p:cNvSpPr txBox="1"/>
          <p:nvPr/>
        </p:nvSpPr>
        <p:spPr>
          <a:xfrm>
            <a:off x="502920" y="2029968"/>
            <a:ext cx="1371600" cy="274320"/>
          </a:xfrm>
          <a:prstGeom prst="rect">
            <a:avLst/>
          </a:prstGeom>
          <a:noFill/>
          <a:ln/>
        </p:spPr>
        <p:txBody>
          <a:bodyPr wrap="square" lIns="0" tIns="0" rIns="0" bIns="0" rtlCol="0" anchor="t"/>
          <a:lstStyle/>
          <a:p>
            <a:pPr algn="ctr" indent="0" marL="0">
              <a:buNone/>
            </a:pPr>
            <a:r>
              <a:rPr lang="en-US" sz="1150" b="1" dirty="0">
                <a:solidFill>
                  <a:srgbClr val="231F20"/>
                </a:solidFill>
                <a:latin typeface="Calibri" pitchFamily="34" charset="0"/>
                <a:ea typeface="Calibri" pitchFamily="34" charset="-122"/>
                <a:cs typeface="Calibri" pitchFamily="34" charset="-120"/>
              </a:rPr>
              <a:t>Earth Engine</a:t>
            </a:r>
            <a:endParaRPr lang="en-US" sz="1150" dirty="0"/>
          </a:p>
        </p:txBody>
      </p:sp>
      <p:sp>
        <p:nvSpPr>
          <p:cNvPr id="15" name="Text 11"/>
          <p:cNvSpPr txBox="1"/>
          <p:nvPr/>
        </p:nvSpPr>
        <p:spPr>
          <a:xfrm>
            <a:off x="502920" y="2304288"/>
            <a:ext cx="1371600" cy="384048"/>
          </a:xfrm>
          <a:prstGeom prst="rect">
            <a:avLst/>
          </a:prstGeom>
          <a:noFill/>
          <a:ln/>
        </p:spPr>
        <p:txBody>
          <a:bodyPr wrap="square" lIns="0" tIns="0" rIns="0" bIns="0" rtlCol="0" anchor="t"/>
          <a:lstStyle/>
          <a:p>
            <a:pPr algn="ctr" indent="0" marL="0">
              <a:buNone/>
            </a:pPr>
            <a:r>
              <a:rPr lang="en-US" sz="950" dirty="0">
                <a:solidFill>
                  <a:srgbClr val="5E6964"/>
                </a:solidFill>
                <a:latin typeface="Calibri" pitchFamily="34" charset="0"/>
                <a:ea typeface="Calibri" pitchFamily="34" charset="-122"/>
                <a:cs typeface="Calibri" pitchFamily="34" charset="-120"/>
              </a:rPr>
              <a:t>statistiques zonales</a:t>
            </a:r>
            <a:endParaRPr lang="en-US" sz="950" dirty="0"/>
          </a:p>
        </p:txBody>
      </p:sp>
      <p:sp>
        <p:nvSpPr>
          <p:cNvPr id="16" name="Shape 12"/>
          <p:cNvSpPr/>
          <p:nvPr/>
        </p:nvSpPr>
        <p:spPr>
          <a:xfrm>
            <a:off x="1938528" y="2057400"/>
            <a:ext cx="173736" cy="914"/>
          </a:xfrm>
          <a:prstGeom prst="line">
            <a:avLst/>
          </a:prstGeom>
          <a:noFill/>
          <a:ln w="15875">
            <a:solidFill>
              <a:srgbClr val="5E6964"/>
            </a:solidFill>
            <a:prstDash val="solid"/>
            <a:tailEnd type="triangle"/>
          </a:ln>
        </p:spPr>
      </p:sp>
      <p:sp>
        <p:nvSpPr>
          <p:cNvPr id="17" name="Shape 13"/>
          <p:cNvSpPr/>
          <p:nvPr/>
        </p:nvSpPr>
        <p:spPr>
          <a:xfrm>
            <a:off x="2130552" y="1371600"/>
            <a:ext cx="1463040" cy="1371600"/>
          </a:xfrm>
          <a:prstGeom prst="roundRect">
            <a:avLst>
              <a:gd name="adj" fmla="val 5333"/>
            </a:avLst>
          </a:prstGeom>
          <a:solidFill>
            <a:srgbClr val="F4F7F5"/>
          </a:solidFill>
          <a:ln w="9525">
            <a:solidFill>
              <a:srgbClr val="D5DED9"/>
            </a:solidFill>
            <a:prstDash val="solid"/>
          </a:ln>
        </p:spPr>
      </p:sp>
      <p:sp>
        <p:nvSpPr>
          <p:cNvPr id="18" name="Shape 14"/>
          <p:cNvSpPr/>
          <p:nvPr/>
        </p:nvSpPr>
        <p:spPr>
          <a:xfrm>
            <a:off x="2606040" y="1481328"/>
            <a:ext cx="502920" cy="502920"/>
          </a:xfrm>
          <a:prstGeom prst="ellipse">
            <a:avLst/>
          </a:prstGeom>
          <a:solidFill>
            <a:srgbClr val="C4621D">
              <a:alpha val="22000"/>
            </a:srgbClr>
          </a:solidFill>
          <a:ln w="12700">
            <a:solidFill>
              <a:srgbClr val="C4621D">
                <a:alpha val="0"/>
              </a:srgbClr>
            </a:solidFill>
            <a:prstDash val="solid"/>
          </a:ln>
        </p:spPr>
      </p:sp>
      <p:pic>
        <p:nvPicPr>
          <p:cNvPr id="19" name="Image 1" descr="preencoded.png">    </p:cNvPr>
          <p:cNvPicPr>
            <a:picLocks noChangeAspect="1"/>
          </p:cNvPicPr>
          <p:nvPr/>
        </p:nvPicPr>
        <p:blipFill>
          <a:blip r:embed="rId2"/>
          <a:stretch>
            <a:fillRect/>
          </a:stretch>
        </p:blipFill>
        <p:spPr>
          <a:xfrm>
            <a:off x="2726741" y="1602029"/>
            <a:ext cx="261518" cy="261518"/>
          </a:xfrm>
          <a:prstGeom prst="rect">
            <a:avLst/>
          </a:prstGeom>
        </p:spPr>
      </p:pic>
      <p:sp>
        <p:nvSpPr>
          <p:cNvPr id="20" name="Text 15"/>
          <p:cNvSpPr txBox="1"/>
          <p:nvPr/>
        </p:nvSpPr>
        <p:spPr>
          <a:xfrm>
            <a:off x="2176272" y="2029968"/>
            <a:ext cx="1371600" cy="274320"/>
          </a:xfrm>
          <a:prstGeom prst="rect">
            <a:avLst/>
          </a:prstGeom>
          <a:noFill/>
          <a:ln/>
        </p:spPr>
        <p:txBody>
          <a:bodyPr wrap="square" lIns="0" tIns="0" rIns="0" bIns="0" rtlCol="0" anchor="t"/>
          <a:lstStyle/>
          <a:p>
            <a:pPr algn="ctr" indent="0" marL="0">
              <a:buNone/>
            </a:pPr>
            <a:r>
              <a:rPr lang="en-US" sz="1150" b="1" dirty="0">
                <a:solidFill>
                  <a:srgbClr val="231F20"/>
                </a:solidFill>
                <a:latin typeface="Calibri" pitchFamily="34" charset="0"/>
                <a:ea typeface="Calibri" pitchFamily="34" charset="-122"/>
                <a:cs typeface="Calibri" pitchFamily="34" charset="-120"/>
              </a:rPr>
              <a:t>Cache local</a:t>
            </a:r>
            <a:endParaRPr lang="en-US" sz="1150" dirty="0"/>
          </a:p>
        </p:txBody>
      </p:sp>
      <p:sp>
        <p:nvSpPr>
          <p:cNvPr id="21" name="Text 16"/>
          <p:cNvSpPr txBox="1"/>
          <p:nvPr/>
        </p:nvSpPr>
        <p:spPr>
          <a:xfrm>
            <a:off x="2176272" y="2304288"/>
            <a:ext cx="1371600" cy="384048"/>
          </a:xfrm>
          <a:prstGeom prst="rect">
            <a:avLst/>
          </a:prstGeom>
          <a:noFill/>
          <a:ln/>
        </p:spPr>
        <p:txBody>
          <a:bodyPr wrap="square" lIns="0" tIns="0" rIns="0" bIns="0" rtlCol="0" anchor="t"/>
          <a:lstStyle/>
          <a:p>
            <a:pPr algn="ctr" indent="0" marL="0">
              <a:buNone/>
            </a:pPr>
            <a:r>
              <a:rPr lang="en-US" sz="950" dirty="0">
                <a:solidFill>
                  <a:srgbClr val="5E6964"/>
                </a:solidFill>
                <a:latin typeface="Calibri" pitchFamily="34" charset="0"/>
                <a:ea typeface="Calibri" pitchFamily="34" charset="-122"/>
                <a:cs typeface="Calibri" pitchFamily="34" charset="-120"/>
              </a:rPr>
              <a:t>pas de nouvelle requête</a:t>
            </a:r>
            <a:endParaRPr lang="en-US" sz="950" dirty="0"/>
          </a:p>
        </p:txBody>
      </p:sp>
      <p:sp>
        <p:nvSpPr>
          <p:cNvPr id="22" name="Shape 17"/>
          <p:cNvSpPr/>
          <p:nvPr/>
        </p:nvSpPr>
        <p:spPr>
          <a:xfrm>
            <a:off x="3611880" y="2057400"/>
            <a:ext cx="173736" cy="914"/>
          </a:xfrm>
          <a:prstGeom prst="line">
            <a:avLst/>
          </a:prstGeom>
          <a:noFill/>
          <a:ln w="15875">
            <a:solidFill>
              <a:srgbClr val="5E6964"/>
            </a:solidFill>
            <a:prstDash val="solid"/>
            <a:tailEnd type="triangle"/>
          </a:ln>
        </p:spPr>
      </p:sp>
      <p:sp>
        <p:nvSpPr>
          <p:cNvPr id="23" name="Shape 18"/>
          <p:cNvSpPr/>
          <p:nvPr/>
        </p:nvSpPr>
        <p:spPr>
          <a:xfrm>
            <a:off x="3803904" y="1371600"/>
            <a:ext cx="1463040" cy="1371600"/>
          </a:xfrm>
          <a:prstGeom prst="roundRect">
            <a:avLst>
              <a:gd name="adj" fmla="val 5333"/>
            </a:avLst>
          </a:prstGeom>
          <a:solidFill>
            <a:srgbClr val="F4F7F5"/>
          </a:solidFill>
          <a:ln w="9525">
            <a:solidFill>
              <a:srgbClr val="D5DED9"/>
            </a:solidFill>
            <a:prstDash val="solid"/>
          </a:ln>
        </p:spPr>
      </p:sp>
      <p:sp>
        <p:nvSpPr>
          <p:cNvPr id="24" name="Shape 19"/>
          <p:cNvSpPr/>
          <p:nvPr/>
        </p:nvSpPr>
        <p:spPr>
          <a:xfrm>
            <a:off x="4279392" y="1481328"/>
            <a:ext cx="502920" cy="502920"/>
          </a:xfrm>
          <a:prstGeom prst="ellipse">
            <a:avLst/>
          </a:prstGeom>
          <a:solidFill>
            <a:srgbClr val="C4621D">
              <a:alpha val="22000"/>
            </a:srgbClr>
          </a:solidFill>
          <a:ln w="12700">
            <a:solidFill>
              <a:srgbClr val="C4621D">
                <a:alpha val="0"/>
              </a:srgbClr>
            </a:solidFill>
            <a:prstDash val="solid"/>
          </a:ln>
        </p:spPr>
      </p:sp>
      <p:pic>
        <p:nvPicPr>
          <p:cNvPr id="25" name="Image 2" descr="preencoded.png">    </p:cNvPr>
          <p:cNvPicPr>
            <a:picLocks noChangeAspect="1"/>
          </p:cNvPicPr>
          <p:nvPr/>
        </p:nvPicPr>
        <p:blipFill>
          <a:blip r:embed="rId3"/>
          <a:stretch>
            <a:fillRect/>
          </a:stretch>
        </p:blipFill>
        <p:spPr>
          <a:xfrm>
            <a:off x="4400093" y="1602029"/>
            <a:ext cx="261518" cy="261518"/>
          </a:xfrm>
          <a:prstGeom prst="rect">
            <a:avLst/>
          </a:prstGeom>
        </p:spPr>
      </p:pic>
      <p:sp>
        <p:nvSpPr>
          <p:cNvPr id="26" name="Text 20"/>
          <p:cNvSpPr txBox="1"/>
          <p:nvPr/>
        </p:nvSpPr>
        <p:spPr>
          <a:xfrm>
            <a:off x="3849624" y="2029968"/>
            <a:ext cx="1371600" cy="274320"/>
          </a:xfrm>
          <a:prstGeom prst="rect">
            <a:avLst/>
          </a:prstGeom>
          <a:noFill/>
          <a:ln/>
        </p:spPr>
        <p:txBody>
          <a:bodyPr wrap="square" lIns="0" tIns="0" rIns="0" bIns="0" rtlCol="0" anchor="t"/>
          <a:lstStyle/>
          <a:p>
            <a:pPr algn="ctr" indent="0" marL="0">
              <a:buNone/>
            </a:pPr>
            <a:r>
              <a:rPr lang="en-US" sz="1150" b="1" dirty="0">
                <a:solidFill>
                  <a:srgbClr val="231F20"/>
                </a:solidFill>
                <a:latin typeface="Calibri" pitchFamily="34" charset="0"/>
                <a:ea typeface="Calibri" pitchFamily="34" charset="-122"/>
                <a:cs typeface="Calibri" pitchFamily="34" charset="-120"/>
              </a:rPr>
              <a:t>Analyses</a:t>
            </a:r>
            <a:endParaRPr lang="en-US" sz="1150" dirty="0"/>
          </a:p>
        </p:txBody>
      </p:sp>
      <p:sp>
        <p:nvSpPr>
          <p:cNvPr id="27" name="Text 21"/>
          <p:cNvSpPr txBox="1"/>
          <p:nvPr/>
        </p:nvSpPr>
        <p:spPr>
          <a:xfrm>
            <a:off x="3849624" y="2304288"/>
            <a:ext cx="1371600" cy="384048"/>
          </a:xfrm>
          <a:prstGeom prst="rect">
            <a:avLst/>
          </a:prstGeom>
          <a:noFill/>
          <a:ln/>
        </p:spPr>
        <p:txBody>
          <a:bodyPr wrap="square" lIns="0" tIns="0" rIns="0" bIns="0" rtlCol="0" anchor="t"/>
          <a:lstStyle/>
          <a:p>
            <a:pPr algn="ctr" indent="0" marL="0">
              <a:buNone/>
            </a:pPr>
            <a:r>
              <a:rPr lang="en-US" sz="950" dirty="0">
                <a:solidFill>
                  <a:srgbClr val="5E6964"/>
                </a:solidFill>
                <a:latin typeface="Calibri" pitchFamily="34" charset="0"/>
                <a:ea typeface="Calibri" pitchFamily="34" charset="-122"/>
                <a:cs typeface="Calibri" pitchFamily="34" charset="-120"/>
              </a:rPr>
              <a:t>pandas · statsmodels</a:t>
            </a:r>
            <a:endParaRPr lang="en-US" sz="950" dirty="0"/>
          </a:p>
        </p:txBody>
      </p:sp>
      <p:sp>
        <p:nvSpPr>
          <p:cNvPr id="28" name="Shape 22"/>
          <p:cNvSpPr/>
          <p:nvPr/>
        </p:nvSpPr>
        <p:spPr>
          <a:xfrm>
            <a:off x="5285232" y="2057400"/>
            <a:ext cx="173736" cy="914"/>
          </a:xfrm>
          <a:prstGeom prst="line">
            <a:avLst/>
          </a:prstGeom>
          <a:noFill/>
          <a:ln w="15875">
            <a:solidFill>
              <a:srgbClr val="5E6964"/>
            </a:solidFill>
            <a:prstDash val="solid"/>
            <a:tailEnd type="triangle"/>
          </a:ln>
        </p:spPr>
      </p:sp>
      <p:sp>
        <p:nvSpPr>
          <p:cNvPr id="29" name="Shape 23"/>
          <p:cNvSpPr/>
          <p:nvPr/>
        </p:nvSpPr>
        <p:spPr>
          <a:xfrm>
            <a:off x="5477256" y="1371600"/>
            <a:ext cx="1463040" cy="1371600"/>
          </a:xfrm>
          <a:prstGeom prst="roundRect">
            <a:avLst>
              <a:gd name="adj" fmla="val 5333"/>
            </a:avLst>
          </a:prstGeom>
          <a:solidFill>
            <a:srgbClr val="F4F7F5"/>
          </a:solidFill>
          <a:ln w="9525">
            <a:solidFill>
              <a:srgbClr val="D5DED9"/>
            </a:solidFill>
            <a:prstDash val="solid"/>
          </a:ln>
        </p:spPr>
      </p:sp>
      <p:sp>
        <p:nvSpPr>
          <p:cNvPr id="30" name="Shape 24"/>
          <p:cNvSpPr/>
          <p:nvPr/>
        </p:nvSpPr>
        <p:spPr>
          <a:xfrm>
            <a:off x="5952744" y="1481328"/>
            <a:ext cx="502920" cy="502920"/>
          </a:xfrm>
          <a:prstGeom prst="ellipse">
            <a:avLst/>
          </a:prstGeom>
          <a:solidFill>
            <a:srgbClr val="C4621D">
              <a:alpha val="22000"/>
            </a:srgbClr>
          </a:solidFill>
          <a:ln w="12700">
            <a:solidFill>
              <a:srgbClr val="C4621D">
                <a:alpha val="0"/>
              </a:srgbClr>
            </a:solidFill>
            <a:prstDash val="solid"/>
          </a:ln>
        </p:spPr>
      </p:sp>
      <p:pic>
        <p:nvPicPr>
          <p:cNvPr id="31" name="Image 3" descr="preencoded.png">    </p:cNvPr>
          <p:cNvPicPr>
            <a:picLocks noChangeAspect="1"/>
          </p:cNvPicPr>
          <p:nvPr/>
        </p:nvPicPr>
        <p:blipFill>
          <a:blip r:embed="rId4"/>
          <a:stretch>
            <a:fillRect/>
          </a:stretch>
        </p:blipFill>
        <p:spPr>
          <a:xfrm>
            <a:off x="6073445" y="1602029"/>
            <a:ext cx="261518" cy="261518"/>
          </a:xfrm>
          <a:prstGeom prst="rect">
            <a:avLst/>
          </a:prstGeom>
        </p:spPr>
      </p:pic>
      <p:sp>
        <p:nvSpPr>
          <p:cNvPr id="32" name="Text 25"/>
          <p:cNvSpPr txBox="1"/>
          <p:nvPr/>
        </p:nvSpPr>
        <p:spPr>
          <a:xfrm>
            <a:off x="5522976" y="2029968"/>
            <a:ext cx="1371600" cy="274320"/>
          </a:xfrm>
          <a:prstGeom prst="rect">
            <a:avLst/>
          </a:prstGeom>
          <a:noFill/>
          <a:ln/>
        </p:spPr>
        <p:txBody>
          <a:bodyPr wrap="square" lIns="0" tIns="0" rIns="0" bIns="0" rtlCol="0" anchor="t"/>
          <a:lstStyle/>
          <a:p>
            <a:pPr algn="ctr" indent="0" marL="0">
              <a:buNone/>
            </a:pPr>
            <a:r>
              <a:rPr lang="en-US" sz="1150" b="1" dirty="0">
                <a:solidFill>
                  <a:srgbClr val="231F20"/>
                </a:solidFill>
                <a:latin typeface="Calibri" pitchFamily="34" charset="0"/>
                <a:ea typeface="Calibri" pitchFamily="34" charset="-122"/>
                <a:cs typeface="Calibri" pitchFamily="34" charset="-120"/>
              </a:rPr>
              <a:t>Fichiers statiques</a:t>
            </a:r>
            <a:endParaRPr lang="en-US" sz="1150" dirty="0"/>
          </a:p>
        </p:txBody>
      </p:sp>
      <p:sp>
        <p:nvSpPr>
          <p:cNvPr id="33" name="Text 26"/>
          <p:cNvSpPr txBox="1"/>
          <p:nvPr/>
        </p:nvSpPr>
        <p:spPr>
          <a:xfrm>
            <a:off x="5522976" y="2304288"/>
            <a:ext cx="1371600" cy="384048"/>
          </a:xfrm>
          <a:prstGeom prst="rect">
            <a:avLst/>
          </a:prstGeom>
          <a:noFill/>
          <a:ln/>
        </p:spPr>
        <p:txBody>
          <a:bodyPr wrap="square" lIns="0" tIns="0" rIns="0" bIns="0" rtlCol="0" anchor="t"/>
          <a:lstStyle/>
          <a:p>
            <a:pPr algn="ctr" indent="0" marL="0">
              <a:buNone/>
            </a:pPr>
            <a:r>
              <a:rPr lang="en-US" sz="950" dirty="0">
                <a:solidFill>
                  <a:srgbClr val="5E6964"/>
                </a:solidFill>
                <a:latin typeface="Calibri" pitchFamily="34" charset="0"/>
                <a:ea typeface="Calibri" pitchFamily="34" charset="-122"/>
                <a:cs typeface="Calibri" pitchFamily="34" charset="-120"/>
              </a:rPr>
              <a:t>GeoJSON · CSV · JSON · PNG</a:t>
            </a:r>
            <a:endParaRPr lang="en-US" sz="950" dirty="0"/>
          </a:p>
        </p:txBody>
      </p:sp>
      <p:sp>
        <p:nvSpPr>
          <p:cNvPr id="34" name="Shape 27"/>
          <p:cNvSpPr/>
          <p:nvPr/>
        </p:nvSpPr>
        <p:spPr>
          <a:xfrm>
            <a:off x="6958584" y="2057400"/>
            <a:ext cx="173736" cy="914"/>
          </a:xfrm>
          <a:prstGeom prst="line">
            <a:avLst/>
          </a:prstGeom>
          <a:noFill/>
          <a:ln w="15875">
            <a:solidFill>
              <a:srgbClr val="5E6964"/>
            </a:solidFill>
            <a:prstDash val="solid"/>
            <a:tailEnd type="triangle"/>
          </a:ln>
        </p:spPr>
      </p:sp>
      <p:sp>
        <p:nvSpPr>
          <p:cNvPr id="35" name="Shape 28"/>
          <p:cNvSpPr/>
          <p:nvPr/>
        </p:nvSpPr>
        <p:spPr>
          <a:xfrm>
            <a:off x="7150608" y="1371600"/>
            <a:ext cx="1463040" cy="1371600"/>
          </a:xfrm>
          <a:prstGeom prst="roundRect">
            <a:avLst>
              <a:gd name="adj" fmla="val 5333"/>
            </a:avLst>
          </a:prstGeom>
          <a:solidFill>
            <a:srgbClr val="E8F5EF"/>
          </a:solidFill>
          <a:ln w="15875">
            <a:solidFill>
              <a:srgbClr val="C4621D"/>
            </a:solidFill>
            <a:prstDash val="solid"/>
          </a:ln>
        </p:spPr>
      </p:sp>
      <p:sp>
        <p:nvSpPr>
          <p:cNvPr id="36" name="Shape 29"/>
          <p:cNvSpPr/>
          <p:nvPr/>
        </p:nvSpPr>
        <p:spPr>
          <a:xfrm>
            <a:off x="7626096" y="1481328"/>
            <a:ext cx="502920" cy="502920"/>
          </a:xfrm>
          <a:prstGeom prst="ellipse">
            <a:avLst/>
          </a:prstGeom>
          <a:solidFill>
            <a:srgbClr val="C4621D">
              <a:alpha val="22000"/>
            </a:srgbClr>
          </a:solidFill>
          <a:ln w="12700">
            <a:solidFill>
              <a:srgbClr val="C4621D">
                <a:alpha val="0"/>
              </a:srgbClr>
            </a:solidFill>
            <a:prstDash val="solid"/>
          </a:ln>
        </p:spPr>
      </p:sp>
      <p:pic>
        <p:nvPicPr>
          <p:cNvPr id="37" name="Image 4" descr="preencoded.png">    </p:cNvPr>
          <p:cNvPicPr>
            <a:picLocks noChangeAspect="1"/>
          </p:cNvPicPr>
          <p:nvPr/>
        </p:nvPicPr>
        <p:blipFill>
          <a:blip r:embed="rId5"/>
          <a:stretch>
            <a:fillRect/>
          </a:stretch>
        </p:blipFill>
        <p:spPr>
          <a:xfrm>
            <a:off x="7746797" y="1602029"/>
            <a:ext cx="261518" cy="261518"/>
          </a:xfrm>
          <a:prstGeom prst="rect">
            <a:avLst/>
          </a:prstGeom>
        </p:spPr>
      </p:pic>
      <p:sp>
        <p:nvSpPr>
          <p:cNvPr id="38" name="Text 30"/>
          <p:cNvSpPr txBox="1"/>
          <p:nvPr/>
        </p:nvSpPr>
        <p:spPr>
          <a:xfrm>
            <a:off x="7196328" y="2029968"/>
            <a:ext cx="1371600" cy="274320"/>
          </a:xfrm>
          <a:prstGeom prst="rect">
            <a:avLst/>
          </a:prstGeom>
          <a:noFill/>
          <a:ln/>
        </p:spPr>
        <p:txBody>
          <a:bodyPr wrap="square" lIns="0" tIns="0" rIns="0" bIns="0" rtlCol="0" anchor="t"/>
          <a:lstStyle/>
          <a:p>
            <a:pPr algn="ctr" indent="0" marL="0">
              <a:buNone/>
            </a:pPr>
            <a:r>
              <a:rPr lang="en-US" sz="1150" b="1" dirty="0">
                <a:solidFill>
                  <a:srgbClr val="231F20"/>
                </a:solidFill>
                <a:latin typeface="Calibri" pitchFamily="34" charset="0"/>
                <a:ea typeface="Calibri" pitchFamily="34" charset="-122"/>
                <a:cs typeface="Calibri" pitchFamily="34" charset="-120"/>
              </a:rPr>
              <a:t>GitHub Pages</a:t>
            </a:r>
            <a:endParaRPr lang="en-US" sz="1150" dirty="0"/>
          </a:p>
        </p:txBody>
      </p:sp>
      <p:sp>
        <p:nvSpPr>
          <p:cNvPr id="39" name="Text 31"/>
          <p:cNvSpPr txBox="1"/>
          <p:nvPr/>
        </p:nvSpPr>
        <p:spPr>
          <a:xfrm>
            <a:off x="7196328" y="2304288"/>
            <a:ext cx="1371600" cy="384048"/>
          </a:xfrm>
          <a:prstGeom prst="rect">
            <a:avLst/>
          </a:prstGeom>
          <a:noFill/>
          <a:ln/>
        </p:spPr>
        <p:txBody>
          <a:bodyPr wrap="square" lIns="0" tIns="0" rIns="0" bIns="0" rtlCol="0" anchor="t"/>
          <a:lstStyle/>
          <a:p>
            <a:pPr algn="ctr" indent="0" marL="0">
              <a:buNone/>
            </a:pPr>
            <a:r>
              <a:rPr lang="en-US" sz="950" dirty="0">
                <a:solidFill>
                  <a:srgbClr val="5E6964"/>
                </a:solidFill>
                <a:latin typeface="Calibri" pitchFamily="34" charset="0"/>
                <a:ea typeface="Calibri" pitchFamily="34" charset="-122"/>
                <a:cs typeface="Calibri" pitchFamily="34" charset="-120"/>
              </a:rPr>
              <a:t>tableau de bord public</a:t>
            </a:r>
            <a:endParaRPr lang="en-US" sz="950" dirty="0"/>
          </a:p>
        </p:txBody>
      </p:sp>
      <p:sp>
        <p:nvSpPr>
          <p:cNvPr id="40" name="Shape 32"/>
          <p:cNvSpPr/>
          <p:nvPr/>
        </p:nvSpPr>
        <p:spPr>
          <a:xfrm>
            <a:off x="457200" y="3063240"/>
            <a:ext cx="457200" cy="457200"/>
          </a:xfrm>
          <a:prstGeom prst="ellipse">
            <a:avLst/>
          </a:prstGeom>
          <a:solidFill>
            <a:srgbClr val="C4621D">
              <a:alpha val="22000"/>
            </a:srgbClr>
          </a:solidFill>
          <a:ln w="12700">
            <a:solidFill>
              <a:srgbClr val="C4621D">
                <a:alpha val="0"/>
              </a:srgbClr>
            </a:solidFill>
            <a:prstDash val="solid"/>
          </a:ln>
        </p:spPr>
      </p:sp>
      <p:pic>
        <p:nvPicPr>
          <p:cNvPr id="41" name="Image 5" descr="preencoded.png">    </p:cNvPr>
          <p:cNvPicPr>
            <a:picLocks noChangeAspect="1"/>
          </p:cNvPicPr>
          <p:nvPr/>
        </p:nvPicPr>
        <p:blipFill>
          <a:blip r:embed="rId6"/>
          <a:stretch>
            <a:fillRect/>
          </a:stretch>
        </p:blipFill>
        <p:spPr>
          <a:xfrm>
            <a:off x="566928" y="3172968"/>
            <a:ext cx="237744" cy="237744"/>
          </a:xfrm>
          <a:prstGeom prst="rect">
            <a:avLst/>
          </a:prstGeom>
        </p:spPr>
      </p:pic>
      <p:sp>
        <p:nvSpPr>
          <p:cNvPr id="42" name="Text 33"/>
          <p:cNvSpPr txBox="1"/>
          <p:nvPr/>
        </p:nvSpPr>
        <p:spPr>
          <a:xfrm>
            <a:off x="1024128" y="3035808"/>
            <a:ext cx="2103120" cy="274320"/>
          </a:xfrm>
          <a:prstGeom prst="rect">
            <a:avLst/>
          </a:prstGeom>
          <a:noFill/>
          <a:ln/>
        </p:spPr>
        <p:txBody>
          <a:bodyPr wrap="square" lIns="0" tIns="0" rIns="0" bIns="0" rtlCol="0" anchor="t"/>
          <a:lstStyle/>
          <a:p>
            <a:pPr indent="0" marL="0">
              <a:buNone/>
            </a:pPr>
            <a:r>
              <a:rPr lang="en-US" sz="1200" b="1" dirty="0">
                <a:solidFill>
                  <a:srgbClr val="231F20"/>
                </a:solidFill>
                <a:latin typeface="Calibri" pitchFamily="34" charset="0"/>
                <a:ea typeface="Calibri" pitchFamily="34" charset="-122"/>
                <a:cs typeface="Calibri" pitchFamily="34" charset="-120"/>
              </a:rPr>
              <a:t>Bilingue EN / FR</a:t>
            </a:r>
            <a:endParaRPr lang="en-US" sz="1200" dirty="0"/>
          </a:p>
        </p:txBody>
      </p:sp>
      <p:sp>
        <p:nvSpPr>
          <p:cNvPr id="43" name="Text 34"/>
          <p:cNvSpPr txBox="1"/>
          <p:nvPr/>
        </p:nvSpPr>
        <p:spPr>
          <a:xfrm>
            <a:off x="1024128" y="3328416"/>
            <a:ext cx="2103120" cy="548640"/>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Mêmes chiffres, textes générés dans chaque langue</a:t>
            </a:r>
            <a:endParaRPr lang="en-US" sz="1050" dirty="0"/>
          </a:p>
        </p:txBody>
      </p:sp>
      <p:sp>
        <p:nvSpPr>
          <p:cNvPr id="44" name="Shape 35"/>
          <p:cNvSpPr/>
          <p:nvPr/>
        </p:nvSpPr>
        <p:spPr>
          <a:xfrm>
            <a:off x="3246120" y="3063240"/>
            <a:ext cx="457200" cy="457200"/>
          </a:xfrm>
          <a:prstGeom prst="ellipse">
            <a:avLst/>
          </a:prstGeom>
          <a:solidFill>
            <a:srgbClr val="C4621D">
              <a:alpha val="22000"/>
            </a:srgbClr>
          </a:solidFill>
          <a:ln w="12700">
            <a:solidFill>
              <a:srgbClr val="C4621D">
                <a:alpha val="0"/>
              </a:srgbClr>
            </a:solidFill>
            <a:prstDash val="solid"/>
          </a:ln>
        </p:spPr>
      </p:sp>
      <p:pic>
        <p:nvPicPr>
          <p:cNvPr id="45" name="Image 6" descr="preencoded.png">    </p:cNvPr>
          <p:cNvPicPr>
            <a:picLocks noChangeAspect="1"/>
          </p:cNvPicPr>
          <p:nvPr/>
        </p:nvPicPr>
        <p:blipFill>
          <a:blip r:embed="rId7"/>
          <a:stretch>
            <a:fillRect/>
          </a:stretch>
        </p:blipFill>
        <p:spPr>
          <a:xfrm>
            <a:off x="3355848" y="3172968"/>
            <a:ext cx="237744" cy="237744"/>
          </a:xfrm>
          <a:prstGeom prst="rect">
            <a:avLst/>
          </a:prstGeom>
        </p:spPr>
      </p:pic>
      <p:sp>
        <p:nvSpPr>
          <p:cNvPr id="46" name="Text 36"/>
          <p:cNvSpPr txBox="1"/>
          <p:nvPr/>
        </p:nvSpPr>
        <p:spPr>
          <a:xfrm>
            <a:off x="3813048" y="3035808"/>
            <a:ext cx="2103120" cy="274320"/>
          </a:xfrm>
          <a:prstGeom prst="rect">
            <a:avLst/>
          </a:prstGeom>
          <a:noFill/>
          <a:ln/>
        </p:spPr>
        <p:txBody>
          <a:bodyPr wrap="square" lIns="0" tIns="0" rIns="0" bIns="0" rtlCol="0" anchor="t"/>
          <a:lstStyle/>
          <a:p>
            <a:pPr indent="0" marL="0">
              <a:buNone/>
            </a:pPr>
            <a:r>
              <a:rPr lang="en-US" sz="1200" b="1" dirty="0">
                <a:solidFill>
                  <a:srgbClr val="231F20"/>
                </a:solidFill>
                <a:latin typeface="Calibri" pitchFamily="34" charset="0"/>
                <a:ea typeface="Calibri" pitchFamily="34" charset="-122"/>
                <a:cs typeface="Calibri" pitchFamily="34" charset="-120"/>
              </a:rPr>
              <a:t>Manifeste de reproductibilité</a:t>
            </a:r>
            <a:endParaRPr lang="en-US" sz="1200" dirty="0"/>
          </a:p>
        </p:txBody>
      </p:sp>
      <p:sp>
        <p:nvSpPr>
          <p:cNvPr id="47" name="Text 37"/>
          <p:cNvSpPr txBox="1"/>
          <p:nvPr/>
        </p:nvSpPr>
        <p:spPr>
          <a:xfrm>
            <a:off x="3813048" y="3328416"/>
            <a:ext cx="2103120" cy="548640"/>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Paramètres, versions, disponibilité des données</a:t>
            </a:r>
            <a:endParaRPr lang="en-US" sz="1050" dirty="0"/>
          </a:p>
        </p:txBody>
      </p:sp>
      <p:sp>
        <p:nvSpPr>
          <p:cNvPr id="48" name="Shape 38"/>
          <p:cNvSpPr/>
          <p:nvPr/>
        </p:nvSpPr>
        <p:spPr>
          <a:xfrm>
            <a:off x="6035040" y="3063240"/>
            <a:ext cx="457200" cy="457200"/>
          </a:xfrm>
          <a:prstGeom prst="ellipse">
            <a:avLst/>
          </a:prstGeom>
          <a:solidFill>
            <a:srgbClr val="C4621D">
              <a:alpha val="22000"/>
            </a:srgbClr>
          </a:solidFill>
          <a:ln w="12700">
            <a:solidFill>
              <a:srgbClr val="C4621D">
                <a:alpha val="0"/>
              </a:srgbClr>
            </a:solidFill>
            <a:prstDash val="solid"/>
          </a:ln>
        </p:spPr>
      </p:sp>
      <p:pic>
        <p:nvPicPr>
          <p:cNvPr id="49" name="Image 7" descr="preencoded.png">    </p:cNvPr>
          <p:cNvPicPr>
            <a:picLocks noChangeAspect="1"/>
          </p:cNvPicPr>
          <p:nvPr/>
        </p:nvPicPr>
        <p:blipFill>
          <a:blip r:embed="rId8"/>
          <a:stretch>
            <a:fillRect/>
          </a:stretch>
        </p:blipFill>
        <p:spPr>
          <a:xfrm>
            <a:off x="6144768" y="3172968"/>
            <a:ext cx="237744" cy="237744"/>
          </a:xfrm>
          <a:prstGeom prst="rect">
            <a:avLst/>
          </a:prstGeom>
        </p:spPr>
      </p:pic>
      <p:sp>
        <p:nvSpPr>
          <p:cNvPr id="50" name="Text 39"/>
          <p:cNvSpPr txBox="1"/>
          <p:nvPr/>
        </p:nvSpPr>
        <p:spPr>
          <a:xfrm>
            <a:off x="6601968" y="3035808"/>
            <a:ext cx="2103120" cy="274320"/>
          </a:xfrm>
          <a:prstGeom prst="rect">
            <a:avLst/>
          </a:prstGeom>
          <a:noFill/>
          <a:ln/>
        </p:spPr>
        <p:txBody>
          <a:bodyPr wrap="square" lIns="0" tIns="0" rIns="0" bIns="0" rtlCol="0" anchor="t"/>
          <a:lstStyle/>
          <a:p>
            <a:pPr indent="0" marL="0">
              <a:buNone/>
            </a:pPr>
            <a:r>
              <a:rPr lang="en-US" sz="1200" b="1" dirty="0">
                <a:solidFill>
                  <a:srgbClr val="231F20"/>
                </a:solidFill>
                <a:latin typeface="Calibri" pitchFamily="34" charset="0"/>
                <a:ea typeface="Calibri" pitchFamily="34" charset="-122"/>
                <a:cs typeface="Calibri" pitchFamily="34" charset="-120"/>
              </a:rPr>
              <a:t>Publication sécurisée</a:t>
            </a:r>
            <a:endParaRPr lang="en-US" sz="1200" dirty="0"/>
          </a:p>
        </p:txBody>
      </p:sp>
      <p:sp>
        <p:nvSpPr>
          <p:cNvPr id="51" name="Text 40"/>
          <p:cNvSpPr txBox="1"/>
          <p:nvPr/>
        </p:nvSpPr>
        <p:spPr>
          <a:xfrm>
            <a:off x="6601968" y="3328416"/>
            <a:ext cx="2103120" cy="548640"/>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Jeton à droits limités, 7–30 jours, écrit nulle part</a:t>
            </a:r>
            <a:endParaRPr lang="en-US" sz="1050" dirty="0"/>
          </a:p>
        </p:txBody>
      </p:sp>
      <p:sp>
        <p:nvSpPr>
          <p:cNvPr id="52" name="Shape 41"/>
          <p:cNvSpPr/>
          <p:nvPr/>
        </p:nvSpPr>
        <p:spPr>
          <a:xfrm>
            <a:off x="457200" y="4069080"/>
            <a:ext cx="3931920" cy="256032"/>
          </a:xfrm>
          <a:prstGeom prst="roundRect">
            <a:avLst>
              <a:gd name="adj" fmla="val 50000"/>
            </a:avLst>
          </a:prstGeom>
          <a:solidFill>
            <a:srgbClr val="C4621D">
              <a:alpha val="15000"/>
            </a:srgbClr>
          </a:solidFill>
          <a:ln w="9525">
            <a:solidFill>
              <a:srgbClr val="C4621D"/>
            </a:solidFill>
            <a:prstDash val="solid"/>
          </a:ln>
        </p:spPr>
      </p:sp>
      <p:sp>
        <p:nvSpPr>
          <p:cNvPr id="53" name="Text 42"/>
          <p:cNvSpPr txBox="1"/>
          <p:nvPr/>
        </p:nvSpPr>
        <p:spPr>
          <a:xfrm>
            <a:off x="457200" y="4069080"/>
            <a:ext cx="3931920" cy="256032"/>
          </a:xfrm>
          <a:prstGeom prst="rect">
            <a:avLst/>
          </a:prstGeom>
          <a:noFill/>
          <a:ln/>
        </p:spPr>
        <p:txBody>
          <a:bodyPr wrap="square" lIns="0" tIns="0" rIns="0" bIns="0" rtlCol="0" anchor="ctr"/>
          <a:lstStyle/>
          <a:p>
            <a:pPr algn="ctr" indent="0" marL="0">
              <a:buNone/>
            </a:pPr>
            <a:r>
              <a:rPr lang="en-US" sz="1000" b="1" dirty="0">
                <a:solidFill>
                  <a:srgbClr val="C4621D"/>
                </a:solidFill>
                <a:latin typeface="Calibri" pitchFamily="34" charset="0"/>
                <a:ea typeface="Calibri" pitchFamily="34" charset="-122"/>
                <a:cs typeface="Calibri" pitchFamily="34" charset="-120"/>
              </a:rPr>
              <a:t>Messages clés avec confiance : élevée · moyenne · faible</a:t>
            </a:r>
            <a:endParaRPr lang="en-US" sz="1000" dirty="0"/>
          </a:p>
        </p:txBody>
      </p:sp>
      <p:sp>
        <p:nvSpPr>
          <p:cNvPr id="54" name="Shape 43"/>
          <p:cNvSpPr/>
          <p:nvPr/>
        </p:nvSpPr>
        <p:spPr>
          <a:xfrm>
            <a:off x="4572000" y="4069080"/>
            <a:ext cx="4114800" cy="256032"/>
          </a:xfrm>
          <a:prstGeom prst="roundRect">
            <a:avLst>
              <a:gd name="adj" fmla="val 50000"/>
            </a:avLst>
          </a:prstGeom>
          <a:solidFill>
            <a:srgbClr val="5E6964">
              <a:alpha val="15000"/>
            </a:srgbClr>
          </a:solidFill>
          <a:ln w="9525">
            <a:solidFill>
              <a:srgbClr val="5E6964"/>
            </a:solidFill>
            <a:prstDash val="solid"/>
          </a:ln>
        </p:spPr>
      </p:sp>
      <p:sp>
        <p:nvSpPr>
          <p:cNvPr id="55" name="Text 44"/>
          <p:cNvSpPr txBox="1"/>
          <p:nvPr/>
        </p:nvSpPr>
        <p:spPr>
          <a:xfrm>
            <a:off x="4572000" y="4069080"/>
            <a:ext cx="4114800" cy="256032"/>
          </a:xfrm>
          <a:prstGeom prst="rect">
            <a:avLst/>
          </a:prstGeom>
          <a:noFill/>
          <a:ln/>
        </p:spPr>
        <p:txBody>
          <a:bodyPr wrap="square" lIns="0" tIns="0" rIns="0" bIns="0" rtlCol="0" anchor="ctr"/>
          <a:lstStyle/>
          <a:p>
            <a:pPr algn="ctr" indent="0" marL="0">
              <a:buNone/>
            </a:pPr>
            <a:r>
              <a:rPr lang="en-US" sz="1000" b="1" dirty="0">
                <a:solidFill>
                  <a:srgbClr val="5E6964"/>
                </a:solidFill>
                <a:latin typeface="Calibri" pitchFamily="34" charset="0"/>
                <a:ea typeface="Calibri" pitchFamily="34" charset="-122"/>
                <a:cs typeface="Calibri" pitchFamily="34" charset="-120"/>
              </a:rPr>
              <a:t>Pays test synthétique « XTS » : publication publique refusée</a:t>
            </a:r>
            <a:endParaRPr lang="en-US" sz="10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8A9590"/>
                </a:solidFill>
                <a:latin typeface="Calibri"/>
                <a:ea typeface="Calibri"/>
                <a:cs typeface="Calibri"/>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3"/>
          <p:cNvSpPr/>
          <p:nvPr>
            <p:ph idx="105" type="body" hasCustomPrompt="1"/>
          </p:nvPr>
        </p:nvSpPr>
        <p:spPr>
          <a:xfrm>
            <a:off x="457200" y="274320"/>
            <a:ext cx="6217920" cy="256032"/>
          </a:xfrm>
          <a:prstGeom prst="rect">
            <a:avLst/>
          </a:prstGeom>
          <a:noFill/>
          <a:ln/>
        </p:spPr>
        <p:txBody>
          <a:bodyPr wrap="square" lIns="0" tIns="0" rIns="0" bIns="0" rtlCol="0" anchor="ctr"/>
          <a:lstStyle/>
          <a:p>
            <a:pPr algn="l" indent="0" marL="0">
              <a:buNone/>
            </a:pPr>
            <a:r>
              <a:rPr lang="en-US" sz="1050" b="1" spc="300" kern="0" dirty="0">
                <a:solidFill>
                  <a:srgbClr val="00704A"/>
                </a:solidFill>
                <a:latin typeface="Calibri" pitchFamily="34" charset="0"/>
                <a:ea typeface="Calibri" pitchFamily="34" charset="-122"/>
                <a:cs typeface="Calibri" pitchFamily="34" charset="-120"/>
              </a:rPr>
              <a:t>05 · PUBLIER · QUALITÉ</a:t>
            </a:r>
            <a:endParaRPr lang="en-US" sz="1050" dirty="0"/>
          </a:p>
        </p:txBody>
      </p:sp>
      <p:sp>
        <p:nvSpPr>
          <p:cNvPr id="3" name="Text 3"/>
          <p:cNvSpPr/>
          <p:nvPr>
            <p:ph idx="106" type="title" hasCustomPrompt="1"/>
          </p:nvPr>
        </p:nvSpPr>
        <p:spPr>
          <a:xfrm>
            <a:off x="457200" y="548640"/>
            <a:ext cx="8229600" cy="566928"/>
          </a:xfrm>
          <a:prstGeom prst="rect">
            <a:avLst/>
          </a:prstGeom>
          <a:noFill/>
          <a:ln/>
        </p:spPr>
        <p:txBody>
          <a:bodyPr wrap="square" lIns="0" tIns="0" rIns="0" bIns="0" rtlCol="0" anchor="ctr"/>
          <a:lstStyle/>
          <a:p>
            <a:pPr algn="l" indent="0" marL="0">
              <a:buNone/>
            </a:pPr>
            <a:r>
              <a:rPr lang="en-US" sz="2800" b="1" dirty="0">
                <a:solidFill>
                  <a:srgbClr val="231F20"/>
                </a:solidFill>
                <a:latin typeface="Calibri" pitchFamily="34" charset="0"/>
                <a:ea typeface="Calibri" pitchFamily="34" charset="-122"/>
                <a:cs typeface="Calibri" pitchFamily="34" charset="-120"/>
              </a:rPr>
              <a:t>Vérifié avant diffusion</a:t>
            </a:r>
            <a:endParaRPr lang="en-US" sz="2800" dirty="0"/>
          </a:p>
        </p:txBody>
      </p:sp>
      <p:sp>
        <p:nvSpPr>
          <p:cNvPr id="4" name="dot0"/>
          <p:cNvSpPr/>
          <p:nvPr/>
        </p:nvSpPr>
        <p:spPr>
          <a:xfrm>
            <a:off x="7644384" y="338328"/>
            <a:ext cx="100584" cy="100584"/>
          </a:xfrm>
          <a:prstGeom prst="ellipse">
            <a:avLst/>
          </a:prstGeom>
          <a:solidFill>
            <a:srgbClr val="D5DED9"/>
          </a:solidFill>
          <a:ln w="12700">
            <a:solidFill>
              <a:srgbClr val="D5DED9"/>
            </a:solidFill>
            <a:prstDash val="solid"/>
          </a:ln>
        </p:spPr>
      </p:sp>
      <p:sp>
        <p:nvSpPr>
          <p:cNvPr id="5" name="dot1"/>
          <p:cNvSpPr/>
          <p:nvPr/>
        </p:nvSpPr>
        <p:spPr>
          <a:xfrm>
            <a:off x="7818120" y="338328"/>
            <a:ext cx="100584" cy="100584"/>
          </a:xfrm>
          <a:prstGeom prst="ellipse">
            <a:avLst/>
          </a:prstGeom>
          <a:solidFill>
            <a:srgbClr val="D5DED9"/>
          </a:solidFill>
          <a:ln w="12700">
            <a:solidFill>
              <a:srgbClr val="D5DED9"/>
            </a:solidFill>
            <a:prstDash val="solid"/>
          </a:ln>
        </p:spPr>
      </p:sp>
      <p:sp>
        <p:nvSpPr>
          <p:cNvPr id="6" name="dot2"/>
          <p:cNvSpPr/>
          <p:nvPr/>
        </p:nvSpPr>
        <p:spPr>
          <a:xfrm>
            <a:off x="7991856" y="338328"/>
            <a:ext cx="100584" cy="100584"/>
          </a:xfrm>
          <a:prstGeom prst="ellipse">
            <a:avLst/>
          </a:prstGeom>
          <a:solidFill>
            <a:srgbClr val="D5DED9"/>
          </a:solidFill>
          <a:ln w="12700">
            <a:solidFill>
              <a:srgbClr val="D5DED9"/>
            </a:solidFill>
            <a:prstDash val="solid"/>
          </a:ln>
        </p:spPr>
      </p:sp>
      <p:sp>
        <p:nvSpPr>
          <p:cNvPr id="7" name="dot3"/>
          <p:cNvSpPr/>
          <p:nvPr/>
        </p:nvSpPr>
        <p:spPr>
          <a:xfrm>
            <a:off x="8165592" y="338328"/>
            <a:ext cx="100584" cy="100584"/>
          </a:xfrm>
          <a:prstGeom prst="ellipse">
            <a:avLst/>
          </a:prstGeom>
          <a:solidFill>
            <a:srgbClr val="D5DED9"/>
          </a:solidFill>
          <a:ln w="12700">
            <a:solidFill>
              <a:srgbClr val="D5DED9"/>
            </a:solidFill>
            <a:prstDash val="solid"/>
          </a:ln>
        </p:spPr>
      </p:sp>
      <p:sp>
        <p:nvSpPr>
          <p:cNvPr id="8" name="dot4"/>
          <p:cNvSpPr/>
          <p:nvPr/>
        </p:nvSpPr>
        <p:spPr>
          <a:xfrm>
            <a:off x="8339328" y="338328"/>
            <a:ext cx="100584" cy="100584"/>
          </a:xfrm>
          <a:prstGeom prst="ellipse">
            <a:avLst/>
          </a:prstGeom>
          <a:solidFill>
            <a:srgbClr val="C4621D"/>
          </a:solidFill>
          <a:ln w="12700">
            <a:solidFill>
              <a:srgbClr val="C4621D"/>
            </a:solidFill>
            <a:prstDash val="solid"/>
          </a:ln>
        </p:spPr>
      </p:sp>
      <p:sp>
        <p:nvSpPr>
          <p:cNvPr id="9" name="dot5"/>
          <p:cNvSpPr/>
          <p:nvPr/>
        </p:nvSpPr>
        <p:spPr>
          <a:xfrm>
            <a:off x="8513064" y="338328"/>
            <a:ext cx="100584" cy="100584"/>
          </a:xfrm>
          <a:prstGeom prst="ellipse">
            <a:avLst/>
          </a:prstGeom>
          <a:solidFill>
            <a:srgbClr val="D5DED9"/>
          </a:solidFill>
          <a:ln w="12700">
            <a:solidFill>
              <a:srgbClr val="D5DED9"/>
            </a:solidFill>
            <a:prstDash val="solid"/>
          </a:ln>
        </p:spPr>
      </p:sp>
      <p:sp>
        <p:nvSpPr>
          <p:cNvPr id="11" name="Shape 8"/>
          <p:cNvSpPr/>
          <p:nvPr/>
        </p:nvSpPr>
        <p:spPr>
          <a:xfrm>
            <a:off x="457200" y="1371600"/>
            <a:ext cx="2606040" cy="1463040"/>
          </a:xfrm>
          <a:prstGeom prst="roundRect">
            <a:avLst>
              <a:gd name="adj" fmla="val 5000"/>
            </a:avLst>
          </a:prstGeom>
          <a:solidFill>
            <a:srgbClr val="E8F5EF"/>
          </a:solidFill>
          <a:ln w="15875">
            <a:solidFill>
              <a:srgbClr val="00A86A"/>
            </a:solidFill>
            <a:prstDash val="solid"/>
          </a:ln>
        </p:spPr>
      </p:sp>
      <p:sp>
        <p:nvSpPr>
          <p:cNvPr id="12" name="Text 9"/>
          <p:cNvSpPr txBox="1"/>
          <p:nvPr/>
        </p:nvSpPr>
        <p:spPr>
          <a:xfrm>
            <a:off x="640080" y="1463040"/>
            <a:ext cx="2286000" cy="685800"/>
          </a:xfrm>
          <a:prstGeom prst="rect">
            <a:avLst/>
          </a:prstGeom>
          <a:noFill/>
          <a:ln/>
        </p:spPr>
        <p:txBody>
          <a:bodyPr wrap="square" lIns="0" tIns="0" rIns="0" bIns="0" rtlCol="0" anchor="t"/>
          <a:lstStyle/>
          <a:p>
            <a:pPr indent="0" marL="0">
              <a:buNone/>
            </a:pPr>
            <a:r>
              <a:rPr lang="en-US" sz="3000" b="1" dirty="0">
                <a:solidFill>
                  <a:srgbClr val="00A86A"/>
                </a:solidFill>
                <a:latin typeface="Calibri" pitchFamily="34" charset="0"/>
                <a:ea typeface="Calibri" pitchFamily="34" charset="-122"/>
                <a:cs typeface="Calibri" pitchFamily="34" charset="-120"/>
              </a:rPr>
              <a:t>0</a:t>
            </a:r>
            <a:endParaRPr lang="en-US" sz="3000" dirty="0"/>
          </a:p>
        </p:txBody>
      </p:sp>
      <p:sp>
        <p:nvSpPr>
          <p:cNvPr id="13" name="Text 10"/>
          <p:cNvSpPr txBox="1"/>
          <p:nvPr/>
        </p:nvSpPr>
        <p:spPr>
          <a:xfrm>
            <a:off x="640080" y="2176272"/>
            <a:ext cx="2286000" cy="594360"/>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erreur d'exécution, notebooks 1 et 2, EN et FR</a:t>
            </a:r>
            <a:endParaRPr lang="en-US" sz="1050" dirty="0"/>
          </a:p>
        </p:txBody>
      </p:sp>
      <p:sp>
        <p:nvSpPr>
          <p:cNvPr id="14" name="Shape 11"/>
          <p:cNvSpPr/>
          <p:nvPr/>
        </p:nvSpPr>
        <p:spPr>
          <a:xfrm>
            <a:off x="3246120" y="1371600"/>
            <a:ext cx="2606040" cy="1463040"/>
          </a:xfrm>
          <a:prstGeom prst="roundRect">
            <a:avLst>
              <a:gd name="adj" fmla="val 5000"/>
            </a:avLst>
          </a:prstGeom>
          <a:solidFill>
            <a:srgbClr val="F4F7F5"/>
          </a:solidFill>
          <a:ln w="9525">
            <a:solidFill>
              <a:srgbClr val="D5DED9"/>
            </a:solidFill>
            <a:prstDash val="solid"/>
          </a:ln>
        </p:spPr>
      </p:sp>
      <p:sp>
        <p:nvSpPr>
          <p:cNvPr id="15" name="Text 12"/>
          <p:cNvSpPr txBox="1"/>
          <p:nvPr/>
        </p:nvSpPr>
        <p:spPr>
          <a:xfrm>
            <a:off x="3429000" y="1463040"/>
            <a:ext cx="2286000" cy="685800"/>
          </a:xfrm>
          <a:prstGeom prst="rect">
            <a:avLst/>
          </a:prstGeom>
          <a:noFill/>
          <a:ln/>
        </p:spPr>
        <p:txBody>
          <a:bodyPr wrap="square" lIns="0" tIns="0" rIns="0" bIns="0" rtlCol="0" anchor="t"/>
          <a:lstStyle/>
          <a:p>
            <a:pPr indent="0" marL="0">
              <a:buNone/>
            </a:pPr>
            <a:r>
              <a:rPr lang="en-US" sz="3000" b="1" dirty="0">
                <a:solidFill>
                  <a:srgbClr val="C4621D"/>
                </a:solidFill>
                <a:latin typeface="Calibri" pitchFamily="34" charset="0"/>
                <a:ea typeface="Calibri" pitchFamily="34" charset="-122"/>
                <a:cs typeface="Calibri" pitchFamily="34" charset="-120"/>
              </a:rPr>
              <a:t>13,7%→0,7%</a:t>
            </a:r>
            <a:endParaRPr lang="en-US" sz="3000" dirty="0"/>
          </a:p>
        </p:txBody>
      </p:sp>
      <p:sp>
        <p:nvSpPr>
          <p:cNvPr id="16" name="Text 13"/>
          <p:cNvSpPr txBox="1"/>
          <p:nvPr/>
        </p:nvSpPr>
        <p:spPr>
          <a:xfrm>
            <a:off x="3429000" y="2176272"/>
            <a:ext cx="2286000" cy="594360"/>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β-convergence fictive sous bruit pur (simulation)</a:t>
            </a:r>
            <a:endParaRPr lang="en-US" sz="1050" dirty="0"/>
          </a:p>
        </p:txBody>
      </p:sp>
      <p:sp>
        <p:nvSpPr>
          <p:cNvPr id="17" name="Shape 14"/>
          <p:cNvSpPr/>
          <p:nvPr/>
        </p:nvSpPr>
        <p:spPr>
          <a:xfrm>
            <a:off x="6035040" y="1371600"/>
            <a:ext cx="2606040" cy="1463040"/>
          </a:xfrm>
          <a:prstGeom prst="roundRect">
            <a:avLst>
              <a:gd name="adj" fmla="val 5000"/>
            </a:avLst>
          </a:prstGeom>
          <a:solidFill>
            <a:srgbClr val="F4F7F5"/>
          </a:solidFill>
          <a:ln w="9525">
            <a:solidFill>
              <a:srgbClr val="D5DED9"/>
            </a:solidFill>
            <a:prstDash val="solid"/>
          </a:ln>
        </p:spPr>
      </p:sp>
      <p:sp>
        <p:nvSpPr>
          <p:cNvPr id="18" name="Text 15"/>
          <p:cNvSpPr txBox="1"/>
          <p:nvPr/>
        </p:nvSpPr>
        <p:spPr>
          <a:xfrm>
            <a:off x="6217920" y="1463040"/>
            <a:ext cx="2286000" cy="685800"/>
          </a:xfrm>
          <a:prstGeom prst="rect">
            <a:avLst/>
          </a:prstGeom>
          <a:noFill/>
          <a:ln/>
        </p:spPr>
        <p:txBody>
          <a:bodyPr wrap="square" lIns="0" tIns="0" rIns="0" bIns="0" rtlCol="0" anchor="t"/>
          <a:lstStyle/>
          <a:p>
            <a:pPr indent="0" marL="0">
              <a:buNone/>
            </a:pPr>
            <a:r>
              <a:rPr lang="en-US" sz="3000" b="1" dirty="0">
                <a:solidFill>
                  <a:srgbClr val="0E7C86"/>
                </a:solidFill>
                <a:latin typeface="Calibri" pitchFamily="34" charset="0"/>
                <a:ea typeface="Calibri" pitchFamily="34" charset="-122"/>
                <a:cs typeface="Calibri" pitchFamily="34" charset="-120"/>
              </a:rPr>
              <a:t>29 → 0</a:t>
            </a:r>
            <a:endParaRPr lang="en-US" sz="3000" dirty="0"/>
          </a:p>
        </p:txBody>
      </p:sp>
      <p:sp>
        <p:nvSpPr>
          <p:cNvPr id="19" name="Text 16"/>
          <p:cNvSpPr txBox="1"/>
          <p:nvPr/>
        </p:nvSpPr>
        <p:spPr>
          <a:xfrm>
            <a:off x="6217920" y="2176272"/>
            <a:ext cx="2286000" cy="594360"/>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classes de croissance parasites sur 300 districts nuls</a:t>
            </a:r>
            <a:endParaRPr lang="en-US" sz="1050" dirty="0"/>
          </a:p>
        </p:txBody>
      </p:sp>
      <p:pic>
        <p:nvPicPr>
          <p:cNvPr id="20" name="Image 0" descr="preencoded.png">    </p:cNvPr>
          <p:cNvPicPr>
            <a:picLocks noChangeAspect="1"/>
          </p:cNvPicPr>
          <p:nvPr/>
        </p:nvPicPr>
        <p:blipFill>
          <a:blip r:embed="rId1"/>
          <a:stretch>
            <a:fillRect/>
          </a:stretch>
        </p:blipFill>
        <p:spPr>
          <a:xfrm>
            <a:off x="457200" y="3118104"/>
            <a:ext cx="219456" cy="219456"/>
          </a:xfrm>
          <a:prstGeom prst="rect">
            <a:avLst/>
          </a:prstGeom>
        </p:spPr>
      </p:pic>
      <p:sp>
        <p:nvSpPr>
          <p:cNvPr id="21" name="Text 17"/>
          <p:cNvSpPr txBox="1"/>
          <p:nvPr/>
        </p:nvSpPr>
        <p:spPr>
          <a:xfrm>
            <a:off x="777240" y="3063240"/>
            <a:ext cx="3794760" cy="329184"/>
          </a:xfrm>
          <a:prstGeom prst="rect">
            <a:avLst/>
          </a:prstGeom>
          <a:noFill/>
          <a:ln/>
        </p:spPr>
        <p:txBody>
          <a:bodyPr wrap="square" lIns="0" tIns="0" rIns="0" bIns="0" rtlCol="0" anchor="ctr"/>
          <a:lstStyle/>
          <a:p>
            <a:pPr indent="0" marL="0">
              <a:buNone/>
            </a:pPr>
            <a:r>
              <a:rPr lang="en-US" sz="1100" dirty="0">
                <a:solidFill>
                  <a:srgbClr val="231F20"/>
                </a:solidFill>
                <a:latin typeface="Calibri" pitchFamily="34" charset="0"/>
                <a:ea typeface="Calibri" pitchFamily="34" charset="-122"/>
                <a:cs typeface="Calibri" pitchFamily="34" charset="-120"/>
              </a:rPr>
              <a:t>Attributs et remplissage lus dans chaque fichier</a:t>
            </a:r>
            <a:endParaRPr lang="en-US" sz="1100" dirty="0"/>
          </a:p>
        </p:txBody>
      </p:sp>
      <p:pic>
        <p:nvPicPr>
          <p:cNvPr id="22" name="Image 1" descr="preencoded.png">    </p:cNvPr>
          <p:cNvPicPr>
            <a:picLocks noChangeAspect="1"/>
          </p:cNvPicPr>
          <p:nvPr/>
        </p:nvPicPr>
        <p:blipFill>
          <a:blip r:embed="rId2"/>
          <a:stretch>
            <a:fillRect/>
          </a:stretch>
        </p:blipFill>
        <p:spPr>
          <a:xfrm>
            <a:off x="4663440" y="3118104"/>
            <a:ext cx="219456" cy="219456"/>
          </a:xfrm>
          <a:prstGeom prst="rect">
            <a:avLst/>
          </a:prstGeom>
        </p:spPr>
      </p:pic>
      <p:sp>
        <p:nvSpPr>
          <p:cNvPr id="23" name="Text 18"/>
          <p:cNvSpPr txBox="1"/>
          <p:nvPr/>
        </p:nvSpPr>
        <p:spPr>
          <a:xfrm>
            <a:off x="4983480" y="3063240"/>
            <a:ext cx="3794760" cy="329184"/>
          </a:xfrm>
          <a:prstGeom prst="rect">
            <a:avLst/>
          </a:prstGeom>
          <a:noFill/>
          <a:ln/>
        </p:spPr>
        <p:txBody>
          <a:bodyPr wrap="square" lIns="0" tIns="0" rIns="0" bIns="0" rtlCol="0" anchor="ctr"/>
          <a:lstStyle/>
          <a:p>
            <a:pPr indent="0" marL="0">
              <a:buNone/>
            </a:pPr>
            <a:r>
              <a:rPr lang="en-US" sz="1100" dirty="0">
                <a:solidFill>
                  <a:srgbClr val="231F20"/>
                </a:solidFill>
                <a:latin typeface="Calibri" pitchFamily="34" charset="0"/>
                <a:ea typeface="Calibri" pitchFamily="34" charset="-122"/>
                <a:cs typeface="Calibri" pitchFamily="34" charset="-120"/>
              </a:rPr>
              <a:t>Légende qualité et codes eau lus, pas supposés</a:t>
            </a:r>
            <a:endParaRPr lang="en-US" sz="1100" dirty="0"/>
          </a:p>
        </p:txBody>
      </p:sp>
      <p:pic>
        <p:nvPicPr>
          <p:cNvPr id="24" name="Image 2" descr="preencoded.png">    </p:cNvPr>
          <p:cNvPicPr>
            <a:picLocks noChangeAspect="1"/>
          </p:cNvPicPr>
          <p:nvPr/>
        </p:nvPicPr>
        <p:blipFill>
          <a:blip r:embed="rId3"/>
          <a:stretch>
            <a:fillRect/>
          </a:stretch>
        </p:blipFill>
        <p:spPr>
          <a:xfrm>
            <a:off x="457200" y="3575304"/>
            <a:ext cx="219456" cy="219456"/>
          </a:xfrm>
          <a:prstGeom prst="rect">
            <a:avLst/>
          </a:prstGeom>
        </p:spPr>
      </p:pic>
      <p:sp>
        <p:nvSpPr>
          <p:cNvPr id="25" name="Text 19"/>
          <p:cNvSpPr txBox="1"/>
          <p:nvPr/>
        </p:nvSpPr>
        <p:spPr>
          <a:xfrm>
            <a:off x="777240" y="3520440"/>
            <a:ext cx="3794760" cy="329184"/>
          </a:xfrm>
          <a:prstGeom prst="rect">
            <a:avLst/>
          </a:prstGeom>
          <a:noFill/>
          <a:ln/>
        </p:spPr>
        <p:txBody>
          <a:bodyPr wrap="square" lIns="0" tIns="0" rIns="0" bIns="0" rtlCol="0" anchor="ctr"/>
          <a:lstStyle/>
          <a:p>
            <a:pPr indent="0" marL="0">
              <a:buNone/>
            </a:pPr>
            <a:r>
              <a:rPr lang="en-US" sz="1100" dirty="0">
                <a:solidFill>
                  <a:srgbClr val="231F20"/>
                </a:solidFill>
                <a:latin typeface="Calibri" pitchFamily="34" charset="0"/>
                <a:ea typeface="Calibri" pitchFamily="34" charset="-122"/>
                <a:cs typeface="Calibri" pitchFamily="34" charset="-120"/>
              </a:rPr>
              <a:t>Paramètres et version de code invalident un cache périmé</a:t>
            </a:r>
            <a:endParaRPr lang="en-US" sz="1100" dirty="0"/>
          </a:p>
        </p:txBody>
      </p:sp>
      <p:pic>
        <p:nvPicPr>
          <p:cNvPr id="26" name="Image 3" descr="preencoded.png">    </p:cNvPr>
          <p:cNvPicPr>
            <a:picLocks noChangeAspect="1"/>
          </p:cNvPicPr>
          <p:nvPr/>
        </p:nvPicPr>
        <p:blipFill>
          <a:blip r:embed="rId4"/>
          <a:stretch>
            <a:fillRect/>
          </a:stretch>
        </p:blipFill>
        <p:spPr>
          <a:xfrm>
            <a:off x="4663440" y="3575304"/>
            <a:ext cx="219456" cy="219456"/>
          </a:xfrm>
          <a:prstGeom prst="rect">
            <a:avLst/>
          </a:prstGeom>
        </p:spPr>
      </p:pic>
      <p:sp>
        <p:nvSpPr>
          <p:cNvPr id="27" name="Text 20"/>
          <p:cNvSpPr txBox="1"/>
          <p:nvPr/>
        </p:nvSpPr>
        <p:spPr>
          <a:xfrm>
            <a:off x="4983480" y="3520440"/>
            <a:ext cx="3794760" cy="329184"/>
          </a:xfrm>
          <a:prstGeom prst="rect">
            <a:avLst/>
          </a:prstGeom>
          <a:noFill/>
          <a:ln/>
        </p:spPr>
        <p:txBody>
          <a:bodyPr wrap="square" lIns="0" tIns="0" rIns="0" bIns="0" rtlCol="0" anchor="ctr"/>
          <a:lstStyle/>
          <a:p>
            <a:pPr indent="0" marL="0">
              <a:buNone/>
            </a:pPr>
            <a:r>
              <a:rPr lang="en-US" sz="1100" dirty="0">
                <a:solidFill>
                  <a:srgbClr val="231F20"/>
                </a:solidFill>
                <a:latin typeface="Calibri" pitchFamily="34" charset="0"/>
                <a:ea typeface="Calibri" pitchFamily="34" charset="-122"/>
                <a:cs typeface="Calibri" pitchFamily="34" charset="-120"/>
              </a:rPr>
              <a:t>Population GHSL vérifiée face à la Banque mondiale (±30 %)</a:t>
            </a:r>
            <a:endParaRPr lang="en-US" sz="1100" dirty="0"/>
          </a:p>
        </p:txBody>
      </p:sp>
      <p:pic>
        <p:nvPicPr>
          <p:cNvPr id="28" name="Image 4" descr="preencoded.png">    </p:cNvPr>
          <p:cNvPicPr>
            <a:picLocks noChangeAspect="1"/>
          </p:cNvPicPr>
          <p:nvPr/>
        </p:nvPicPr>
        <p:blipFill>
          <a:blip r:embed="rId5"/>
          <a:stretch>
            <a:fillRect/>
          </a:stretch>
        </p:blipFill>
        <p:spPr>
          <a:xfrm>
            <a:off x="457200" y="4032504"/>
            <a:ext cx="219456" cy="219456"/>
          </a:xfrm>
          <a:prstGeom prst="rect">
            <a:avLst/>
          </a:prstGeom>
        </p:spPr>
      </p:pic>
      <p:sp>
        <p:nvSpPr>
          <p:cNvPr id="29" name="Text 21"/>
          <p:cNvSpPr txBox="1"/>
          <p:nvPr/>
        </p:nvSpPr>
        <p:spPr>
          <a:xfrm>
            <a:off x="777240" y="3977640"/>
            <a:ext cx="3794760" cy="329184"/>
          </a:xfrm>
          <a:prstGeom prst="rect">
            <a:avLst/>
          </a:prstGeom>
          <a:noFill/>
          <a:ln/>
        </p:spPr>
        <p:txBody>
          <a:bodyPr wrap="square" lIns="0" tIns="0" rIns="0" bIns="0" rtlCol="0" anchor="ctr"/>
          <a:lstStyle/>
          <a:p>
            <a:pPr indent="0" marL="0">
              <a:buNone/>
            </a:pPr>
            <a:r>
              <a:rPr lang="en-US" sz="1100" dirty="0">
                <a:solidFill>
                  <a:srgbClr val="231F20"/>
                </a:solidFill>
                <a:latin typeface="Calibri" pitchFamily="34" charset="0"/>
                <a:ea typeface="Calibri" pitchFamily="34" charset="-122"/>
                <a:cs typeface="Calibri" pitchFamily="34" charset="-120"/>
              </a:rPr>
              <a:t>Chaque export voyage avec ses métadonnées et son journal</a:t>
            </a:r>
            <a:endParaRPr lang="en-US" sz="1100" dirty="0"/>
          </a:p>
        </p:txBody>
      </p:sp>
      <p:pic>
        <p:nvPicPr>
          <p:cNvPr id="30" name="Image 5" descr="preencoded.png">    </p:cNvPr>
          <p:cNvPicPr>
            <a:picLocks noChangeAspect="1"/>
          </p:cNvPicPr>
          <p:nvPr/>
        </p:nvPicPr>
        <p:blipFill>
          <a:blip r:embed="rId6"/>
          <a:stretch>
            <a:fillRect/>
          </a:stretch>
        </p:blipFill>
        <p:spPr>
          <a:xfrm>
            <a:off x="4663440" y="4032504"/>
            <a:ext cx="219456" cy="219456"/>
          </a:xfrm>
          <a:prstGeom prst="rect">
            <a:avLst/>
          </a:prstGeom>
        </p:spPr>
      </p:pic>
      <p:sp>
        <p:nvSpPr>
          <p:cNvPr id="31" name="Text 22"/>
          <p:cNvSpPr txBox="1"/>
          <p:nvPr/>
        </p:nvSpPr>
        <p:spPr>
          <a:xfrm>
            <a:off x="4983480" y="3977640"/>
            <a:ext cx="3794760" cy="329184"/>
          </a:xfrm>
          <a:prstGeom prst="rect">
            <a:avLst/>
          </a:prstGeom>
          <a:noFill/>
          <a:ln/>
        </p:spPr>
        <p:txBody>
          <a:bodyPr wrap="square" lIns="0" tIns="0" rIns="0" bIns="0" rtlCol="0" anchor="ctr"/>
          <a:lstStyle/>
          <a:p>
            <a:pPr indent="0" marL="0">
              <a:buNone/>
            </a:pPr>
            <a:r>
              <a:rPr lang="en-US" sz="1100" dirty="0">
                <a:solidFill>
                  <a:srgbClr val="231F20"/>
                </a:solidFill>
                <a:latin typeface="Calibri" pitchFamily="34" charset="0"/>
                <a:ea typeface="Calibri" pitchFamily="34" charset="-122"/>
                <a:cs typeface="Calibri" pitchFamily="34" charset="-120"/>
              </a:rPr>
              <a:t>Valeurs simulées toujours signalées comme telles</a:t>
            </a:r>
            <a:endParaRPr lang="en-US" sz="11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8A9590"/>
                </a:solidFill>
                <a:latin typeface="Calibri"/>
                <a:ea typeface="Calibri"/>
                <a:cs typeface="Calibri"/>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3"/>
          <p:cNvSpPr/>
          <p:nvPr>
            <p:ph idx="105" type="body" hasCustomPrompt="1"/>
          </p:nvPr>
        </p:nvSpPr>
        <p:spPr>
          <a:xfrm>
            <a:off x="457200" y="274320"/>
            <a:ext cx="6217920" cy="256032"/>
          </a:xfrm>
          <a:prstGeom prst="rect">
            <a:avLst/>
          </a:prstGeom>
          <a:noFill/>
          <a:ln/>
        </p:spPr>
        <p:txBody>
          <a:bodyPr wrap="square" lIns="0" tIns="0" rIns="0" bIns="0" rtlCol="0" anchor="ctr"/>
          <a:lstStyle/>
          <a:p>
            <a:pPr algn="l" indent="0" marL="0">
              <a:buNone/>
            </a:pPr>
            <a:r>
              <a:rPr lang="en-US" sz="1050" b="1" spc="300" kern="0" dirty="0">
                <a:solidFill>
                  <a:srgbClr val="00704A"/>
                </a:solidFill>
                <a:latin typeface="Calibri" pitchFamily="34" charset="0"/>
                <a:ea typeface="Calibri" pitchFamily="34" charset="-122"/>
                <a:cs typeface="Calibri" pitchFamily="34" charset="-120"/>
              </a:rPr>
              <a:t>05 · PUBLIER · LIMITES</a:t>
            </a:r>
            <a:endParaRPr lang="en-US" sz="1050" dirty="0"/>
          </a:p>
        </p:txBody>
      </p:sp>
      <p:sp>
        <p:nvSpPr>
          <p:cNvPr id="3" name="Text 3"/>
          <p:cNvSpPr/>
          <p:nvPr>
            <p:ph idx="106" type="title" hasCustomPrompt="1"/>
          </p:nvPr>
        </p:nvSpPr>
        <p:spPr>
          <a:xfrm>
            <a:off x="457200" y="548640"/>
            <a:ext cx="8229600" cy="566928"/>
          </a:xfrm>
          <a:prstGeom prst="rect">
            <a:avLst/>
          </a:prstGeom>
          <a:noFill/>
          <a:ln/>
        </p:spPr>
        <p:txBody>
          <a:bodyPr wrap="square" lIns="0" tIns="0" rIns="0" bIns="0" rtlCol="0" anchor="ctr"/>
          <a:lstStyle/>
          <a:p>
            <a:pPr algn="l" indent="0" marL="0">
              <a:buNone/>
            </a:pPr>
            <a:r>
              <a:rPr lang="en-US" sz="2800" b="1" dirty="0">
                <a:solidFill>
                  <a:srgbClr val="231F20"/>
                </a:solidFill>
                <a:latin typeface="Calibri" pitchFamily="34" charset="0"/>
                <a:ea typeface="Calibri" pitchFamily="34" charset="-122"/>
                <a:cs typeface="Calibri" pitchFamily="34" charset="-120"/>
              </a:rPr>
              <a:t>Six artefacts à connaître avant de conclure</a:t>
            </a:r>
            <a:endParaRPr lang="en-US" sz="2800" dirty="0"/>
          </a:p>
        </p:txBody>
      </p:sp>
      <p:sp>
        <p:nvSpPr>
          <p:cNvPr id="4" name="dot0"/>
          <p:cNvSpPr/>
          <p:nvPr/>
        </p:nvSpPr>
        <p:spPr>
          <a:xfrm>
            <a:off x="7644384" y="338328"/>
            <a:ext cx="100584" cy="100584"/>
          </a:xfrm>
          <a:prstGeom prst="ellipse">
            <a:avLst/>
          </a:prstGeom>
          <a:solidFill>
            <a:srgbClr val="D5DED9"/>
          </a:solidFill>
          <a:ln w="12700">
            <a:solidFill>
              <a:srgbClr val="D5DED9"/>
            </a:solidFill>
            <a:prstDash val="solid"/>
          </a:ln>
        </p:spPr>
      </p:sp>
      <p:sp>
        <p:nvSpPr>
          <p:cNvPr id="5" name="dot1"/>
          <p:cNvSpPr/>
          <p:nvPr/>
        </p:nvSpPr>
        <p:spPr>
          <a:xfrm>
            <a:off x="7818120" y="338328"/>
            <a:ext cx="100584" cy="100584"/>
          </a:xfrm>
          <a:prstGeom prst="ellipse">
            <a:avLst/>
          </a:prstGeom>
          <a:solidFill>
            <a:srgbClr val="D5DED9"/>
          </a:solidFill>
          <a:ln w="12700">
            <a:solidFill>
              <a:srgbClr val="D5DED9"/>
            </a:solidFill>
            <a:prstDash val="solid"/>
          </a:ln>
        </p:spPr>
      </p:sp>
      <p:sp>
        <p:nvSpPr>
          <p:cNvPr id="6" name="dot2"/>
          <p:cNvSpPr/>
          <p:nvPr/>
        </p:nvSpPr>
        <p:spPr>
          <a:xfrm>
            <a:off x="7991856" y="338328"/>
            <a:ext cx="100584" cy="100584"/>
          </a:xfrm>
          <a:prstGeom prst="ellipse">
            <a:avLst/>
          </a:prstGeom>
          <a:solidFill>
            <a:srgbClr val="D5DED9"/>
          </a:solidFill>
          <a:ln w="12700">
            <a:solidFill>
              <a:srgbClr val="D5DED9"/>
            </a:solidFill>
            <a:prstDash val="solid"/>
          </a:ln>
        </p:spPr>
      </p:sp>
      <p:sp>
        <p:nvSpPr>
          <p:cNvPr id="7" name="dot3"/>
          <p:cNvSpPr/>
          <p:nvPr/>
        </p:nvSpPr>
        <p:spPr>
          <a:xfrm>
            <a:off x="8165592" y="338328"/>
            <a:ext cx="100584" cy="100584"/>
          </a:xfrm>
          <a:prstGeom prst="ellipse">
            <a:avLst/>
          </a:prstGeom>
          <a:solidFill>
            <a:srgbClr val="D5DED9"/>
          </a:solidFill>
          <a:ln w="12700">
            <a:solidFill>
              <a:srgbClr val="D5DED9"/>
            </a:solidFill>
            <a:prstDash val="solid"/>
          </a:ln>
        </p:spPr>
      </p:sp>
      <p:sp>
        <p:nvSpPr>
          <p:cNvPr id="8" name="dot4"/>
          <p:cNvSpPr/>
          <p:nvPr/>
        </p:nvSpPr>
        <p:spPr>
          <a:xfrm>
            <a:off x="8339328" y="338328"/>
            <a:ext cx="100584" cy="100584"/>
          </a:xfrm>
          <a:prstGeom prst="ellipse">
            <a:avLst/>
          </a:prstGeom>
          <a:solidFill>
            <a:srgbClr val="C4621D"/>
          </a:solidFill>
          <a:ln w="12700">
            <a:solidFill>
              <a:srgbClr val="C4621D"/>
            </a:solidFill>
            <a:prstDash val="solid"/>
          </a:ln>
        </p:spPr>
      </p:sp>
      <p:sp>
        <p:nvSpPr>
          <p:cNvPr id="9" name="dot5"/>
          <p:cNvSpPr/>
          <p:nvPr/>
        </p:nvSpPr>
        <p:spPr>
          <a:xfrm>
            <a:off x="8513064" y="338328"/>
            <a:ext cx="100584" cy="100584"/>
          </a:xfrm>
          <a:prstGeom prst="ellipse">
            <a:avLst/>
          </a:prstGeom>
          <a:solidFill>
            <a:srgbClr val="D5DED9"/>
          </a:solidFill>
          <a:ln w="12700">
            <a:solidFill>
              <a:srgbClr val="D5DED9"/>
            </a:solidFill>
            <a:prstDash val="solid"/>
          </a:ln>
        </p:spPr>
      </p:sp>
      <p:sp>
        <p:nvSpPr>
          <p:cNvPr id="11" name="Shape 8"/>
          <p:cNvSpPr/>
          <p:nvPr/>
        </p:nvSpPr>
        <p:spPr>
          <a:xfrm>
            <a:off x="457200" y="1371600"/>
            <a:ext cx="2606040" cy="1207008"/>
          </a:xfrm>
          <a:prstGeom prst="roundRect">
            <a:avLst>
              <a:gd name="adj" fmla="val 6061"/>
            </a:avLst>
          </a:prstGeom>
          <a:solidFill>
            <a:srgbClr val="F4F7F5"/>
          </a:solidFill>
          <a:ln w="9525">
            <a:solidFill>
              <a:srgbClr val="D5DED9"/>
            </a:solidFill>
            <a:prstDash val="solid"/>
          </a:ln>
        </p:spPr>
      </p:sp>
      <p:sp>
        <p:nvSpPr>
          <p:cNvPr id="12" name="Shape 9"/>
          <p:cNvSpPr/>
          <p:nvPr/>
        </p:nvSpPr>
        <p:spPr>
          <a:xfrm>
            <a:off x="603504" y="1517904"/>
            <a:ext cx="457200" cy="457200"/>
          </a:xfrm>
          <a:prstGeom prst="ellipse">
            <a:avLst/>
          </a:prstGeom>
          <a:solidFill>
            <a:srgbClr val="B83B2E">
              <a:alpha val="22000"/>
            </a:srgbClr>
          </a:solidFill>
          <a:ln w="12700">
            <a:solidFill>
              <a:srgbClr val="B83B2E">
                <a:alpha val="0"/>
              </a:srgbClr>
            </a:solidFill>
            <a:prstDash val="solid"/>
          </a:ln>
        </p:spPr>
      </p:sp>
      <p:pic>
        <p:nvPicPr>
          <p:cNvPr id="13" name="Image 0" descr="preencoded.png">    </p:cNvPr>
          <p:cNvPicPr>
            <a:picLocks noChangeAspect="1"/>
          </p:cNvPicPr>
          <p:nvPr/>
        </p:nvPicPr>
        <p:blipFill>
          <a:blip r:embed="rId1"/>
          <a:stretch>
            <a:fillRect/>
          </a:stretch>
        </p:blipFill>
        <p:spPr>
          <a:xfrm>
            <a:off x="713232" y="1627632"/>
            <a:ext cx="237744" cy="237744"/>
          </a:xfrm>
          <a:prstGeom prst="rect">
            <a:avLst/>
          </a:prstGeom>
        </p:spPr>
      </p:pic>
      <p:sp>
        <p:nvSpPr>
          <p:cNvPr id="14" name="Text 10"/>
          <p:cNvSpPr txBox="1"/>
          <p:nvPr/>
        </p:nvSpPr>
        <p:spPr>
          <a:xfrm>
            <a:off x="1170432" y="1517904"/>
            <a:ext cx="1783080" cy="457200"/>
          </a:xfrm>
          <a:prstGeom prst="rect">
            <a:avLst/>
          </a:prstGeom>
          <a:noFill/>
          <a:ln/>
        </p:spPr>
        <p:txBody>
          <a:bodyPr wrap="square" lIns="0" tIns="0" rIns="0" bIns="0" rtlCol="0" anchor="ctr"/>
          <a:lstStyle/>
          <a:p>
            <a:pPr indent="0" marL="0">
              <a:buNone/>
            </a:pPr>
            <a:r>
              <a:rPr lang="en-US" sz="1300" b="1" dirty="0">
                <a:solidFill>
                  <a:srgbClr val="231F20"/>
                </a:solidFill>
                <a:latin typeface="Calibri" pitchFamily="34" charset="0"/>
                <a:ea typeface="Calibri" pitchFamily="34" charset="-122"/>
                <a:cs typeface="Calibri" pitchFamily="34" charset="-120"/>
              </a:rPr>
              <a:t>Débordement</a:t>
            </a:r>
            <a:endParaRPr lang="en-US" sz="1300" dirty="0"/>
          </a:p>
        </p:txBody>
      </p:sp>
      <p:sp>
        <p:nvSpPr>
          <p:cNvPr id="15" name="Text 11"/>
          <p:cNvSpPr txBox="1"/>
          <p:nvPr/>
        </p:nvSpPr>
        <p:spPr>
          <a:xfrm>
            <a:off x="603504" y="2048256"/>
            <a:ext cx="2331720" cy="475488"/>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La lumière déborde du bâti</a:t>
            </a:r>
            <a:endParaRPr lang="en-US" sz="1050" dirty="0"/>
          </a:p>
        </p:txBody>
      </p:sp>
      <p:sp>
        <p:nvSpPr>
          <p:cNvPr id="16" name="Shape 12"/>
          <p:cNvSpPr/>
          <p:nvPr/>
        </p:nvSpPr>
        <p:spPr>
          <a:xfrm>
            <a:off x="3246120" y="1371600"/>
            <a:ext cx="2606040" cy="1207008"/>
          </a:xfrm>
          <a:prstGeom prst="roundRect">
            <a:avLst>
              <a:gd name="adj" fmla="val 6061"/>
            </a:avLst>
          </a:prstGeom>
          <a:solidFill>
            <a:srgbClr val="F4F7F5"/>
          </a:solidFill>
          <a:ln w="9525">
            <a:solidFill>
              <a:srgbClr val="D5DED9"/>
            </a:solidFill>
            <a:prstDash val="solid"/>
          </a:ln>
        </p:spPr>
      </p:sp>
      <p:sp>
        <p:nvSpPr>
          <p:cNvPr id="17" name="Shape 13"/>
          <p:cNvSpPr/>
          <p:nvPr/>
        </p:nvSpPr>
        <p:spPr>
          <a:xfrm>
            <a:off x="3392424" y="1517904"/>
            <a:ext cx="457200" cy="457200"/>
          </a:xfrm>
          <a:prstGeom prst="ellipse">
            <a:avLst/>
          </a:prstGeom>
          <a:solidFill>
            <a:srgbClr val="B83B2E">
              <a:alpha val="22000"/>
            </a:srgbClr>
          </a:solidFill>
          <a:ln w="12700">
            <a:solidFill>
              <a:srgbClr val="B83B2E">
                <a:alpha val="0"/>
              </a:srgbClr>
            </a:solidFill>
            <a:prstDash val="solid"/>
          </a:ln>
        </p:spPr>
      </p:sp>
      <p:pic>
        <p:nvPicPr>
          <p:cNvPr id="18" name="Image 1" descr="preencoded.png">    </p:cNvPr>
          <p:cNvPicPr>
            <a:picLocks noChangeAspect="1"/>
          </p:cNvPicPr>
          <p:nvPr/>
        </p:nvPicPr>
        <p:blipFill>
          <a:blip r:embed="rId2"/>
          <a:stretch>
            <a:fillRect/>
          </a:stretch>
        </p:blipFill>
        <p:spPr>
          <a:xfrm>
            <a:off x="3502152" y="1627632"/>
            <a:ext cx="237744" cy="237744"/>
          </a:xfrm>
          <a:prstGeom prst="rect">
            <a:avLst/>
          </a:prstGeom>
        </p:spPr>
      </p:pic>
      <p:sp>
        <p:nvSpPr>
          <p:cNvPr id="19" name="Text 14"/>
          <p:cNvSpPr txBox="1"/>
          <p:nvPr/>
        </p:nvSpPr>
        <p:spPr>
          <a:xfrm>
            <a:off x="3959352" y="1517904"/>
            <a:ext cx="1783080" cy="457200"/>
          </a:xfrm>
          <a:prstGeom prst="rect">
            <a:avLst/>
          </a:prstGeom>
          <a:noFill/>
          <a:ln/>
        </p:spPr>
        <p:txBody>
          <a:bodyPr wrap="square" lIns="0" tIns="0" rIns="0" bIns="0" rtlCol="0" anchor="ctr"/>
          <a:lstStyle/>
          <a:p>
            <a:pPr indent="0" marL="0">
              <a:buNone/>
            </a:pPr>
            <a:r>
              <a:rPr lang="en-US" sz="1300" b="1" dirty="0">
                <a:solidFill>
                  <a:srgbClr val="231F20"/>
                </a:solidFill>
                <a:latin typeface="Calibri" pitchFamily="34" charset="0"/>
                <a:ea typeface="Calibri" pitchFamily="34" charset="-122"/>
                <a:cs typeface="Calibri" pitchFamily="34" charset="-120"/>
              </a:rPr>
              <a:t>Saturation</a:t>
            </a:r>
            <a:endParaRPr lang="en-US" sz="1300" dirty="0"/>
          </a:p>
        </p:txBody>
      </p:sp>
      <p:sp>
        <p:nvSpPr>
          <p:cNvPr id="20" name="Text 15"/>
          <p:cNvSpPr txBox="1"/>
          <p:nvPr/>
        </p:nvSpPr>
        <p:spPr>
          <a:xfrm>
            <a:off x="3392424" y="2048256"/>
            <a:ext cx="2331720" cy="475488"/>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Les centres les plus brillants plafonnent ; DMSP sature à 63</a:t>
            </a:r>
            <a:endParaRPr lang="en-US" sz="1050" dirty="0"/>
          </a:p>
        </p:txBody>
      </p:sp>
      <p:sp>
        <p:nvSpPr>
          <p:cNvPr id="21" name="Shape 16"/>
          <p:cNvSpPr/>
          <p:nvPr/>
        </p:nvSpPr>
        <p:spPr>
          <a:xfrm>
            <a:off x="6035040" y="1371600"/>
            <a:ext cx="2606040" cy="1207008"/>
          </a:xfrm>
          <a:prstGeom prst="roundRect">
            <a:avLst>
              <a:gd name="adj" fmla="val 6061"/>
            </a:avLst>
          </a:prstGeom>
          <a:solidFill>
            <a:srgbClr val="F4F7F5"/>
          </a:solidFill>
          <a:ln w="9525">
            <a:solidFill>
              <a:srgbClr val="D5DED9"/>
            </a:solidFill>
            <a:prstDash val="solid"/>
          </a:ln>
        </p:spPr>
      </p:sp>
      <p:sp>
        <p:nvSpPr>
          <p:cNvPr id="22" name="Shape 17"/>
          <p:cNvSpPr/>
          <p:nvPr/>
        </p:nvSpPr>
        <p:spPr>
          <a:xfrm>
            <a:off x="6181344" y="1517904"/>
            <a:ext cx="457200" cy="457200"/>
          </a:xfrm>
          <a:prstGeom prst="ellipse">
            <a:avLst/>
          </a:prstGeom>
          <a:solidFill>
            <a:srgbClr val="B83B2E">
              <a:alpha val="22000"/>
            </a:srgbClr>
          </a:solidFill>
          <a:ln w="12700">
            <a:solidFill>
              <a:srgbClr val="B83B2E">
                <a:alpha val="0"/>
              </a:srgbClr>
            </a:solidFill>
            <a:prstDash val="solid"/>
          </a:ln>
        </p:spPr>
      </p:sp>
      <p:pic>
        <p:nvPicPr>
          <p:cNvPr id="23" name="Image 2" descr="preencoded.png">    </p:cNvPr>
          <p:cNvPicPr>
            <a:picLocks noChangeAspect="1"/>
          </p:cNvPicPr>
          <p:nvPr/>
        </p:nvPicPr>
        <p:blipFill>
          <a:blip r:embed="rId3"/>
          <a:stretch>
            <a:fillRect/>
          </a:stretch>
        </p:blipFill>
        <p:spPr>
          <a:xfrm>
            <a:off x="6291072" y="1627632"/>
            <a:ext cx="237744" cy="237744"/>
          </a:xfrm>
          <a:prstGeom prst="rect">
            <a:avLst/>
          </a:prstGeom>
        </p:spPr>
      </p:pic>
      <p:sp>
        <p:nvSpPr>
          <p:cNvPr id="24" name="Text 18"/>
          <p:cNvSpPr txBox="1"/>
          <p:nvPr/>
        </p:nvSpPr>
        <p:spPr>
          <a:xfrm>
            <a:off x="6748272" y="1517904"/>
            <a:ext cx="1783080" cy="457200"/>
          </a:xfrm>
          <a:prstGeom prst="rect">
            <a:avLst/>
          </a:prstGeom>
          <a:noFill/>
          <a:ln/>
        </p:spPr>
        <p:txBody>
          <a:bodyPr wrap="square" lIns="0" tIns="0" rIns="0" bIns="0" rtlCol="0" anchor="ctr"/>
          <a:lstStyle/>
          <a:p>
            <a:pPr indent="0" marL="0">
              <a:buNone/>
            </a:pPr>
            <a:r>
              <a:rPr lang="en-US" sz="1300" b="1" dirty="0">
                <a:solidFill>
                  <a:srgbClr val="231F20"/>
                </a:solidFill>
                <a:latin typeface="Calibri" pitchFamily="34" charset="0"/>
                <a:ea typeface="Calibri" pitchFamily="34" charset="-122"/>
                <a:cs typeface="Calibri" pitchFamily="34" charset="-120"/>
              </a:rPr>
              <a:t>Torchères</a:t>
            </a:r>
            <a:endParaRPr lang="en-US" sz="1300" dirty="0"/>
          </a:p>
        </p:txBody>
      </p:sp>
      <p:sp>
        <p:nvSpPr>
          <p:cNvPr id="25" name="Text 19"/>
          <p:cNvSpPr txBox="1"/>
          <p:nvPr/>
        </p:nvSpPr>
        <p:spPr>
          <a:xfrm>
            <a:off x="6181344" y="2048256"/>
            <a:ext cx="2331720" cy="475488"/>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Brillantes sans activité économique locale</a:t>
            </a:r>
            <a:endParaRPr lang="en-US" sz="1050" dirty="0"/>
          </a:p>
        </p:txBody>
      </p:sp>
      <p:sp>
        <p:nvSpPr>
          <p:cNvPr id="26" name="Shape 20"/>
          <p:cNvSpPr/>
          <p:nvPr/>
        </p:nvSpPr>
        <p:spPr>
          <a:xfrm>
            <a:off x="457200" y="2743200"/>
            <a:ext cx="2606040" cy="1207008"/>
          </a:xfrm>
          <a:prstGeom prst="roundRect">
            <a:avLst>
              <a:gd name="adj" fmla="val 6061"/>
            </a:avLst>
          </a:prstGeom>
          <a:solidFill>
            <a:srgbClr val="F4F7F5"/>
          </a:solidFill>
          <a:ln w="9525">
            <a:solidFill>
              <a:srgbClr val="D5DED9"/>
            </a:solidFill>
            <a:prstDash val="solid"/>
          </a:ln>
        </p:spPr>
      </p:sp>
      <p:sp>
        <p:nvSpPr>
          <p:cNvPr id="27" name="Shape 21"/>
          <p:cNvSpPr/>
          <p:nvPr/>
        </p:nvSpPr>
        <p:spPr>
          <a:xfrm>
            <a:off x="603504" y="2889504"/>
            <a:ext cx="457200" cy="457200"/>
          </a:xfrm>
          <a:prstGeom prst="ellipse">
            <a:avLst/>
          </a:prstGeom>
          <a:solidFill>
            <a:srgbClr val="B83B2E">
              <a:alpha val="22000"/>
            </a:srgbClr>
          </a:solidFill>
          <a:ln w="12700">
            <a:solidFill>
              <a:srgbClr val="B83B2E">
                <a:alpha val="0"/>
              </a:srgbClr>
            </a:solidFill>
            <a:prstDash val="solid"/>
          </a:ln>
        </p:spPr>
      </p:sp>
      <p:pic>
        <p:nvPicPr>
          <p:cNvPr id="28" name="Image 3" descr="preencoded.png">    </p:cNvPr>
          <p:cNvPicPr>
            <a:picLocks noChangeAspect="1"/>
          </p:cNvPicPr>
          <p:nvPr/>
        </p:nvPicPr>
        <p:blipFill>
          <a:blip r:embed="rId4"/>
          <a:stretch>
            <a:fillRect/>
          </a:stretch>
        </p:blipFill>
        <p:spPr>
          <a:xfrm>
            <a:off x="713232" y="2999232"/>
            <a:ext cx="237744" cy="237744"/>
          </a:xfrm>
          <a:prstGeom prst="rect">
            <a:avLst/>
          </a:prstGeom>
        </p:spPr>
      </p:pic>
      <p:sp>
        <p:nvSpPr>
          <p:cNvPr id="29" name="Text 22"/>
          <p:cNvSpPr txBox="1"/>
          <p:nvPr/>
        </p:nvSpPr>
        <p:spPr>
          <a:xfrm>
            <a:off x="1170432" y="2889504"/>
            <a:ext cx="1783080" cy="457200"/>
          </a:xfrm>
          <a:prstGeom prst="rect">
            <a:avLst/>
          </a:prstGeom>
          <a:noFill/>
          <a:ln/>
        </p:spPr>
        <p:txBody>
          <a:bodyPr wrap="square" lIns="0" tIns="0" rIns="0" bIns="0" rtlCol="0" anchor="ctr"/>
          <a:lstStyle/>
          <a:p>
            <a:pPr indent="0" marL="0">
              <a:buNone/>
            </a:pPr>
            <a:r>
              <a:rPr lang="en-US" sz="1300" b="1" dirty="0">
                <a:solidFill>
                  <a:srgbClr val="231F20"/>
                </a:solidFill>
                <a:latin typeface="Calibri" pitchFamily="34" charset="0"/>
                <a:ea typeface="Calibri" pitchFamily="34" charset="-122"/>
                <a:cs typeface="Calibri" pitchFamily="34" charset="-120"/>
              </a:rPr>
              <a:t>Saisonnalité</a:t>
            </a:r>
            <a:endParaRPr lang="en-US" sz="1300" dirty="0"/>
          </a:p>
        </p:txBody>
      </p:sp>
      <p:sp>
        <p:nvSpPr>
          <p:cNvPr id="30" name="Text 23"/>
          <p:cNvSpPr txBox="1"/>
          <p:nvPr/>
        </p:nvSpPr>
        <p:spPr>
          <a:xfrm>
            <a:off x="603504" y="3419856"/>
            <a:ext cx="2331720" cy="475488"/>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Nuages et feux créent des cycles non économiques</a:t>
            </a:r>
            <a:endParaRPr lang="en-US" sz="1050" dirty="0"/>
          </a:p>
        </p:txBody>
      </p:sp>
      <p:sp>
        <p:nvSpPr>
          <p:cNvPr id="31" name="Shape 24"/>
          <p:cNvSpPr/>
          <p:nvPr/>
        </p:nvSpPr>
        <p:spPr>
          <a:xfrm>
            <a:off x="3246120" y="2743200"/>
            <a:ext cx="2606040" cy="1207008"/>
          </a:xfrm>
          <a:prstGeom prst="roundRect">
            <a:avLst>
              <a:gd name="adj" fmla="val 6061"/>
            </a:avLst>
          </a:prstGeom>
          <a:solidFill>
            <a:srgbClr val="F4F7F5"/>
          </a:solidFill>
          <a:ln w="9525">
            <a:solidFill>
              <a:srgbClr val="D5DED9"/>
            </a:solidFill>
            <a:prstDash val="solid"/>
          </a:ln>
        </p:spPr>
      </p:sp>
      <p:sp>
        <p:nvSpPr>
          <p:cNvPr id="32" name="Shape 25"/>
          <p:cNvSpPr/>
          <p:nvPr/>
        </p:nvSpPr>
        <p:spPr>
          <a:xfrm>
            <a:off x="3392424" y="2889504"/>
            <a:ext cx="457200" cy="457200"/>
          </a:xfrm>
          <a:prstGeom prst="ellipse">
            <a:avLst/>
          </a:prstGeom>
          <a:solidFill>
            <a:srgbClr val="B83B2E">
              <a:alpha val="22000"/>
            </a:srgbClr>
          </a:solidFill>
          <a:ln w="12700">
            <a:solidFill>
              <a:srgbClr val="B83B2E">
                <a:alpha val="0"/>
              </a:srgbClr>
            </a:solidFill>
            <a:prstDash val="solid"/>
          </a:ln>
        </p:spPr>
      </p:sp>
      <p:pic>
        <p:nvPicPr>
          <p:cNvPr id="33" name="Image 4" descr="preencoded.png">    </p:cNvPr>
          <p:cNvPicPr>
            <a:picLocks noChangeAspect="1"/>
          </p:cNvPicPr>
          <p:nvPr/>
        </p:nvPicPr>
        <p:blipFill>
          <a:blip r:embed="rId5"/>
          <a:stretch>
            <a:fillRect/>
          </a:stretch>
        </p:blipFill>
        <p:spPr>
          <a:xfrm>
            <a:off x="3502152" y="2999232"/>
            <a:ext cx="237744" cy="237744"/>
          </a:xfrm>
          <a:prstGeom prst="rect">
            <a:avLst/>
          </a:prstGeom>
        </p:spPr>
      </p:pic>
      <p:sp>
        <p:nvSpPr>
          <p:cNvPr id="34" name="Text 26"/>
          <p:cNvSpPr txBox="1"/>
          <p:nvPr/>
        </p:nvSpPr>
        <p:spPr>
          <a:xfrm>
            <a:off x="3959352" y="2889504"/>
            <a:ext cx="1783080" cy="457200"/>
          </a:xfrm>
          <a:prstGeom prst="rect">
            <a:avLst/>
          </a:prstGeom>
          <a:noFill/>
          <a:ln/>
        </p:spPr>
        <p:txBody>
          <a:bodyPr wrap="square" lIns="0" tIns="0" rIns="0" bIns="0" rtlCol="0" anchor="ctr"/>
          <a:lstStyle/>
          <a:p>
            <a:pPr indent="0" marL="0">
              <a:buNone/>
            </a:pPr>
            <a:r>
              <a:rPr lang="en-US" sz="1300" b="1" dirty="0">
                <a:solidFill>
                  <a:srgbClr val="231F20"/>
                </a:solidFill>
                <a:latin typeface="Calibri" pitchFamily="34" charset="0"/>
                <a:ea typeface="Calibri" pitchFamily="34" charset="-122"/>
                <a:cs typeface="Calibri" pitchFamily="34" charset="-120"/>
              </a:rPr>
              <a:t>Ruptures de capteur</a:t>
            </a:r>
            <a:endParaRPr lang="en-US" sz="1300" dirty="0"/>
          </a:p>
        </p:txBody>
      </p:sp>
      <p:sp>
        <p:nvSpPr>
          <p:cNvPr id="35" name="Text 27"/>
          <p:cNvSpPr txBox="1"/>
          <p:nvPr/>
        </p:nvSpPr>
        <p:spPr>
          <a:xfrm>
            <a:off x="3392424" y="3419856"/>
            <a:ext cx="2331720" cy="475488"/>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DMSP → VIIRS, VNL V2.1 → V2.2, collections</a:t>
            </a:r>
            <a:endParaRPr lang="en-US" sz="1050" dirty="0"/>
          </a:p>
        </p:txBody>
      </p:sp>
      <p:sp>
        <p:nvSpPr>
          <p:cNvPr id="36" name="Shape 28"/>
          <p:cNvSpPr/>
          <p:nvPr/>
        </p:nvSpPr>
        <p:spPr>
          <a:xfrm>
            <a:off x="6035040" y="2743200"/>
            <a:ext cx="2606040" cy="1207008"/>
          </a:xfrm>
          <a:prstGeom prst="roundRect">
            <a:avLst>
              <a:gd name="adj" fmla="val 6061"/>
            </a:avLst>
          </a:prstGeom>
          <a:solidFill>
            <a:srgbClr val="F4F7F5"/>
          </a:solidFill>
          <a:ln w="9525">
            <a:solidFill>
              <a:srgbClr val="D5DED9"/>
            </a:solidFill>
            <a:prstDash val="solid"/>
          </a:ln>
        </p:spPr>
      </p:sp>
      <p:sp>
        <p:nvSpPr>
          <p:cNvPr id="37" name="Shape 29"/>
          <p:cNvSpPr/>
          <p:nvPr/>
        </p:nvSpPr>
        <p:spPr>
          <a:xfrm>
            <a:off x="6181344" y="2889504"/>
            <a:ext cx="457200" cy="457200"/>
          </a:xfrm>
          <a:prstGeom prst="ellipse">
            <a:avLst/>
          </a:prstGeom>
          <a:solidFill>
            <a:srgbClr val="B83B2E">
              <a:alpha val="22000"/>
            </a:srgbClr>
          </a:solidFill>
          <a:ln w="12700">
            <a:solidFill>
              <a:srgbClr val="B83B2E">
                <a:alpha val="0"/>
              </a:srgbClr>
            </a:solidFill>
            <a:prstDash val="solid"/>
          </a:ln>
        </p:spPr>
      </p:sp>
      <p:pic>
        <p:nvPicPr>
          <p:cNvPr id="38" name="Image 5" descr="preencoded.png">    </p:cNvPr>
          <p:cNvPicPr>
            <a:picLocks noChangeAspect="1"/>
          </p:cNvPicPr>
          <p:nvPr/>
        </p:nvPicPr>
        <p:blipFill>
          <a:blip r:embed="rId6"/>
          <a:stretch>
            <a:fillRect/>
          </a:stretch>
        </p:blipFill>
        <p:spPr>
          <a:xfrm>
            <a:off x="6291072" y="2999232"/>
            <a:ext cx="237744" cy="237744"/>
          </a:xfrm>
          <a:prstGeom prst="rect">
            <a:avLst/>
          </a:prstGeom>
        </p:spPr>
      </p:pic>
      <p:sp>
        <p:nvSpPr>
          <p:cNvPr id="39" name="Text 30"/>
          <p:cNvSpPr txBox="1"/>
          <p:nvPr/>
        </p:nvSpPr>
        <p:spPr>
          <a:xfrm>
            <a:off x="6748272" y="2889504"/>
            <a:ext cx="1783080" cy="457200"/>
          </a:xfrm>
          <a:prstGeom prst="rect">
            <a:avLst/>
          </a:prstGeom>
          <a:noFill/>
          <a:ln/>
        </p:spPr>
        <p:txBody>
          <a:bodyPr wrap="square" lIns="0" tIns="0" rIns="0" bIns="0" rtlCol="0" anchor="ctr"/>
          <a:lstStyle/>
          <a:p>
            <a:pPr indent="0" marL="0">
              <a:buNone/>
            </a:pPr>
            <a:r>
              <a:rPr lang="en-US" sz="1300" b="1" dirty="0">
                <a:solidFill>
                  <a:srgbClr val="231F20"/>
                </a:solidFill>
                <a:latin typeface="Calibri" pitchFamily="34" charset="0"/>
                <a:ea typeface="Calibri" pitchFamily="34" charset="-122"/>
                <a:cs typeface="Calibri" pitchFamily="34" charset="-120"/>
              </a:rPr>
              <a:t>Bruit rural</a:t>
            </a:r>
            <a:endParaRPr lang="en-US" sz="1300" dirty="0"/>
          </a:p>
        </p:txBody>
      </p:sp>
      <p:sp>
        <p:nvSpPr>
          <p:cNvPr id="40" name="Text 31"/>
          <p:cNvSpPr txBox="1"/>
          <p:nvPr/>
        </p:nvSpPr>
        <p:spPr>
          <a:xfrm>
            <a:off x="6181344" y="3419856"/>
            <a:ext cx="2331720" cy="475488"/>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Signal le plus faible là où vivent les ruraux pauvres</a:t>
            </a:r>
            <a:endParaRPr lang="en-US" sz="1050" dirty="0"/>
          </a:p>
        </p:txBody>
      </p:sp>
      <p:sp>
        <p:nvSpPr>
          <p:cNvPr id="41" name="Text 32"/>
          <p:cNvSpPr txBox="1"/>
          <p:nvPr/>
        </p:nvSpPr>
        <p:spPr>
          <a:xfrm>
            <a:off x="457200" y="4553712"/>
            <a:ext cx="7223760" cy="219456"/>
          </a:xfrm>
          <a:prstGeom prst="rect">
            <a:avLst/>
          </a:prstGeom>
          <a:noFill/>
          <a:ln/>
        </p:spPr>
        <p:txBody>
          <a:bodyPr wrap="square" lIns="0" tIns="0" rIns="0" bIns="0" rtlCol="0" anchor="ctr"/>
          <a:lstStyle/>
          <a:p>
            <a:pPr indent="0" marL="0">
              <a:buNone/>
            </a:pPr>
            <a:r>
              <a:rPr lang="en-US" sz="900" i="1" dirty="0">
                <a:solidFill>
                  <a:srgbClr val="5E6964"/>
                </a:solidFill>
                <a:latin typeface="Calibri" pitchFamily="34" charset="0"/>
                <a:ea typeface="Calibri" pitchFamily="34" charset="-122"/>
                <a:cs typeface="Calibri" pitchFamily="34" charset="-120"/>
              </a:rPr>
              <a:t>Sources : Gibson et al. (2021) ; Elvidge et al. (2021) ; Li et al. (2020)</a:t>
            </a:r>
            <a:endParaRPr lang="en-US" sz="9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8A9590"/>
                </a:solidFill>
                <a:latin typeface="Calibri"/>
                <a:ea typeface="Calibri"/>
                <a:cs typeface="Calibri"/>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txBox="1"/>
          <p:nvPr/>
        </p:nvSpPr>
        <p:spPr>
          <a:xfrm>
            <a:off x="548640" y="914400"/>
            <a:ext cx="2743200" cy="274320"/>
          </a:xfrm>
          <a:prstGeom prst="rect">
            <a:avLst/>
          </a:prstGeom>
          <a:noFill/>
          <a:ln/>
        </p:spPr>
        <p:txBody>
          <a:bodyPr wrap="square" lIns="0" tIns="0" rIns="0" bIns="0" rtlCol="0" anchor="t"/>
          <a:lstStyle/>
          <a:p>
            <a:pPr indent="0" marL="0">
              <a:buNone/>
            </a:pPr>
            <a:r>
              <a:rPr lang="en-US" sz="1050" b="1" spc="300" kern="0" dirty="0">
                <a:solidFill>
                  <a:srgbClr val="F5C242"/>
                </a:solidFill>
                <a:latin typeface="Calibri" pitchFamily="34" charset="0"/>
                <a:ea typeface="Calibri" pitchFamily="34" charset="-122"/>
                <a:cs typeface="Calibri" pitchFamily="34" charset="-120"/>
              </a:rPr>
              <a:t>SECTION</a:t>
            </a:r>
            <a:endParaRPr lang="en-US" sz="1050" dirty="0"/>
          </a:p>
        </p:txBody>
      </p:sp>
      <p:sp>
        <p:nvSpPr>
          <p:cNvPr id="3" name="Text 1"/>
          <p:cNvSpPr txBox="1"/>
          <p:nvPr/>
        </p:nvSpPr>
        <p:spPr>
          <a:xfrm>
            <a:off x="548640" y="1143000"/>
            <a:ext cx="2743200" cy="1188720"/>
          </a:xfrm>
          <a:prstGeom prst="rect">
            <a:avLst/>
          </a:prstGeom>
          <a:noFill/>
          <a:ln/>
        </p:spPr>
        <p:txBody>
          <a:bodyPr wrap="square" lIns="0" tIns="0" rIns="0" bIns="0" rtlCol="0" anchor="t"/>
          <a:lstStyle/>
          <a:p>
            <a:pPr indent="0" marL="0">
              <a:buNone/>
            </a:pPr>
            <a:r>
              <a:rPr lang="en-US" sz="8000" b="1" dirty="0">
                <a:solidFill>
                  <a:srgbClr val="F5C242"/>
                </a:solidFill>
                <a:latin typeface="Calibri" pitchFamily="34" charset="0"/>
                <a:ea typeface="Calibri" pitchFamily="34" charset="-122"/>
                <a:cs typeface="Calibri" pitchFamily="34" charset="-120"/>
              </a:rPr>
              <a:t>06</a:t>
            </a:r>
            <a:endParaRPr lang="en-US" sz="8000" dirty="0"/>
          </a:p>
        </p:txBody>
      </p:sp>
      <p:sp>
        <p:nvSpPr>
          <p:cNvPr id="4" name="Text 2"/>
          <p:cNvSpPr txBox="1"/>
          <p:nvPr/>
        </p:nvSpPr>
        <p:spPr>
          <a:xfrm>
            <a:off x="548640" y="2377440"/>
            <a:ext cx="5303520" cy="731520"/>
          </a:xfrm>
          <a:prstGeom prst="rect">
            <a:avLst/>
          </a:prstGeom>
          <a:noFill/>
          <a:ln/>
        </p:spPr>
        <p:txBody>
          <a:bodyPr wrap="square" lIns="0" tIns="0" rIns="0" bIns="0" rtlCol="0" anchor="t"/>
          <a:lstStyle/>
          <a:p>
            <a:pPr indent="0" marL="0">
              <a:buNone/>
            </a:pPr>
            <a:r>
              <a:rPr lang="en-US" sz="4000" b="1" dirty="0">
                <a:solidFill>
                  <a:srgbClr val="FFFFFF"/>
                </a:solidFill>
                <a:latin typeface="Calibri" pitchFamily="34" charset="0"/>
                <a:ea typeface="Calibri" pitchFamily="34" charset="-122"/>
                <a:cs typeface="Calibri" pitchFamily="34" charset="-120"/>
              </a:rPr>
              <a:t>À retenir</a:t>
            </a:r>
            <a:endParaRPr lang="en-US" sz="4000" dirty="0"/>
          </a:p>
        </p:txBody>
      </p:sp>
      <p:sp>
        <p:nvSpPr>
          <p:cNvPr id="5" name="Text 3"/>
          <p:cNvSpPr txBox="1"/>
          <p:nvPr/>
        </p:nvSpPr>
        <p:spPr>
          <a:xfrm>
            <a:off x="548640" y="3154680"/>
            <a:ext cx="5120640" cy="731520"/>
          </a:xfrm>
          <a:prstGeom prst="rect">
            <a:avLst/>
          </a:prstGeom>
          <a:noFill/>
          <a:ln/>
        </p:spPr>
        <p:txBody>
          <a:bodyPr wrap="square" lIns="0" tIns="0" rIns="0" bIns="0" rtlCol="0" anchor="t"/>
          <a:lstStyle/>
          <a:p>
            <a:pPr indent="0" marL="0">
              <a:buNone/>
            </a:pPr>
            <a:r>
              <a:rPr lang="en-US" sz="1800" i="1" dirty="0">
                <a:solidFill>
                  <a:srgbClr val="E6F6EE"/>
                </a:solidFill>
                <a:latin typeface="Calibri" pitchFamily="34" charset="0"/>
                <a:ea typeface="Calibri" pitchFamily="34" charset="-122"/>
                <a:cs typeface="Calibri" pitchFamily="34" charset="-120"/>
              </a:rPr>
              <a:t>Que doit retenir un statisticien ?</a:t>
            </a:r>
            <a:endParaRPr lang="en-US" sz="1800" dirty="0"/>
          </a:p>
        </p:txBody>
      </p:sp>
      <p:sp>
        <p:nvSpPr>
          <p:cNvPr id="6" name="Shape 4"/>
          <p:cNvSpPr/>
          <p:nvPr/>
        </p:nvSpPr>
        <p:spPr>
          <a:xfrm>
            <a:off x="6309360" y="1234440"/>
            <a:ext cx="2286000" cy="2286000"/>
          </a:xfrm>
          <a:prstGeom prst="ellipse">
            <a:avLst/>
          </a:prstGeom>
          <a:solidFill>
            <a:srgbClr val="FFFFFF">
              <a:alpha val="8000"/>
            </a:srgbClr>
          </a:solidFill>
          <a:ln w="12700">
            <a:solidFill>
              <a:srgbClr val="FFFFFF">
                <a:alpha val="30000"/>
              </a:srgbClr>
            </a:solidFill>
            <a:prstDash val="solid"/>
          </a:ln>
        </p:spPr>
      </p:sp>
      <p:sp>
        <p:nvSpPr>
          <p:cNvPr id="7" name="Shape 5"/>
          <p:cNvSpPr/>
          <p:nvPr/>
        </p:nvSpPr>
        <p:spPr>
          <a:xfrm>
            <a:off x="6675120" y="1600200"/>
            <a:ext cx="1554480" cy="1554480"/>
          </a:xfrm>
          <a:prstGeom prst="ellipse">
            <a:avLst/>
          </a:prstGeom>
          <a:solidFill>
            <a:srgbClr val="FFFFFF"/>
          </a:solidFill>
          <a:ln w="12700">
            <a:solidFill>
              <a:srgbClr val="FFFFFF"/>
            </a:solidFill>
            <a:prstDash val="solid"/>
          </a:ln>
        </p:spPr>
      </p:sp>
      <p:pic>
        <p:nvPicPr>
          <p:cNvPr id="8" name="Image 0" descr="preencoded.png">    </p:cNvPr>
          <p:cNvPicPr>
            <a:picLocks noChangeAspect="1"/>
          </p:cNvPicPr>
          <p:nvPr/>
        </p:nvPicPr>
        <p:blipFill>
          <a:blip r:embed="rId1"/>
          <a:stretch>
            <a:fillRect/>
          </a:stretch>
        </p:blipFill>
        <p:spPr>
          <a:xfrm>
            <a:off x="7086600" y="2011680"/>
            <a:ext cx="731520" cy="731520"/>
          </a:xfrm>
          <a:prstGeom prst="rect">
            <a:avLst/>
          </a:prstGeom>
        </p:spPr>
      </p:pic>
      <p:sp>
        <p:nvSpPr>
          <p:cNvPr id="9" name="Shape 6"/>
          <p:cNvSpPr/>
          <p:nvPr/>
        </p:nvSpPr>
        <p:spPr>
          <a:xfrm>
            <a:off x="566928" y="4251960"/>
            <a:ext cx="118872" cy="118872"/>
          </a:xfrm>
          <a:prstGeom prst="ellipse">
            <a:avLst/>
          </a:prstGeom>
          <a:solidFill>
            <a:srgbClr val="FFFFFF">
              <a:alpha val="40000"/>
            </a:srgbClr>
          </a:solidFill>
          <a:ln w="12700">
            <a:solidFill>
              <a:srgbClr val="FFFFFF">
                <a:alpha val="0"/>
              </a:srgbClr>
            </a:solidFill>
            <a:prstDash val="solid"/>
          </a:ln>
        </p:spPr>
      </p:sp>
      <p:sp>
        <p:nvSpPr>
          <p:cNvPr id="10" name="Shape 7"/>
          <p:cNvSpPr/>
          <p:nvPr/>
        </p:nvSpPr>
        <p:spPr>
          <a:xfrm>
            <a:off x="786384" y="4251960"/>
            <a:ext cx="118872" cy="118872"/>
          </a:xfrm>
          <a:prstGeom prst="ellipse">
            <a:avLst/>
          </a:prstGeom>
          <a:solidFill>
            <a:srgbClr val="FFFFFF">
              <a:alpha val="40000"/>
            </a:srgbClr>
          </a:solidFill>
          <a:ln w="12700">
            <a:solidFill>
              <a:srgbClr val="FFFFFF">
                <a:alpha val="0"/>
              </a:srgbClr>
            </a:solidFill>
            <a:prstDash val="solid"/>
          </a:ln>
        </p:spPr>
      </p:sp>
      <p:sp>
        <p:nvSpPr>
          <p:cNvPr id="11" name="Shape 8"/>
          <p:cNvSpPr/>
          <p:nvPr/>
        </p:nvSpPr>
        <p:spPr>
          <a:xfrm>
            <a:off x="1005840" y="4251960"/>
            <a:ext cx="118872" cy="118872"/>
          </a:xfrm>
          <a:prstGeom prst="ellipse">
            <a:avLst/>
          </a:prstGeom>
          <a:solidFill>
            <a:srgbClr val="FFFFFF">
              <a:alpha val="40000"/>
            </a:srgbClr>
          </a:solidFill>
          <a:ln w="12700">
            <a:solidFill>
              <a:srgbClr val="FFFFFF">
                <a:alpha val="0"/>
              </a:srgbClr>
            </a:solidFill>
            <a:prstDash val="solid"/>
          </a:ln>
        </p:spPr>
      </p:sp>
      <p:sp>
        <p:nvSpPr>
          <p:cNvPr id="12" name="Shape 9"/>
          <p:cNvSpPr/>
          <p:nvPr/>
        </p:nvSpPr>
        <p:spPr>
          <a:xfrm>
            <a:off x="1225296" y="4251960"/>
            <a:ext cx="118872" cy="118872"/>
          </a:xfrm>
          <a:prstGeom prst="ellipse">
            <a:avLst/>
          </a:prstGeom>
          <a:solidFill>
            <a:srgbClr val="FFFFFF">
              <a:alpha val="40000"/>
            </a:srgbClr>
          </a:solidFill>
          <a:ln w="12700">
            <a:solidFill>
              <a:srgbClr val="FFFFFF">
                <a:alpha val="0"/>
              </a:srgbClr>
            </a:solidFill>
            <a:prstDash val="solid"/>
          </a:ln>
        </p:spPr>
      </p:sp>
      <p:sp>
        <p:nvSpPr>
          <p:cNvPr id="13" name="Shape 10"/>
          <p:cNvSpPr/>
          <p:nvPr/>
        </p:nvSpPr>
        <p:spPr>
          <a:xfrm>
            <a:off x="1444752" y="4251960"/>
            <a:ext cx="118872" cy="118872"/>
          </a:xfrm>
          <a:prstGeom prst="ellipse">
            <a:avLst/>
          </a:prstGeom>
          <a:solidFill>
            <a:srgbClr val="FFFFFF">
              <a:alpha val="40000"/>
            </a:srgbClr>
          </a:solidFill>
          <a:ln w="12700">
            <a:solidFill>
              <a:srgbClr val="FFFFFF">
                <a:alpha val="0"/>
              </a:srgbClr>
            </a:solidFill>
            <a:prstDash val="solid"/>
          </a:ln>
        </p:spPr>
      </p:sp>
      <p:sp>
        <p:nvSpPr>
          <p:cNvPr id="14" name="Shape 11"/>
          <p:cNvSpPr/>
          <p:nvPr/>
        </p:nvSpPr>
        <p:spPr>
          <a:xfrm>
            <a:off x="1664208" y="4251960"/>
            <a:ext cx="118872" cy="118872"/>
          </a:xfrm>
          <a:prstGeom prst="ellipse">
            <a:avLst/>
          </a:prstGeom>
          <a:solidFill>
            <a:srgbClr val="F5C242"/>
          </a:solidFill>
          <a:ln w="12700">
            <a:solidFill>
              <a:srgbClr val="FFFFFF">
                <a:alpha val="0"/>
              </a:srgbClr>
            </a:solidFill>
            <a:prstDash val="solid"/>
          </a:ln>
        </p:spPr>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3"/>
          <p:cNvSpPr/>
          <p:nvPr>
            <p:ph idx="105" type="body" hasCustomPrompt="1"/>
          </p:nvPr>
        </p:nvSpPr>
        <p:spPr>
          <a:xfrm>
            <a:off x="457200" y="274320"/>
            <a:ext cx="6217920" cy="256032"/>
          </a:xfrm>
          <a:prstGeom prst="rect">
            <a:avLst/>
          </a:prstGeom>
          <a:noFill/>
          <a:ln/>
        </p:spPr>
        <p:txBody>
          <a:bodyPr wrap="square" lIns="0" tIns="0" rIns="0" bIns="0" rtlCol="0" anchor="ctr"/>
          <a:lstStyle/>
          <a:p>
            <a:pPr algn="l" indent="0" marL="0">
              <a:buNone/>
            </a:pPr>
            <a:r>
              <a:rPr lang="en-US" sz="1050" b="1" spc="300" kern="0" dirty="0">
                <a:solidFill>
                  <a:srgbClr val="00704A"/>
                </a:solidFill>
                <a:latin typeface="Calibri" pitchFamily="34" charset="0"/>
                <a:ea typeface="Calibri" pitchFamily="34" charset="-122"/>
                <a:cs typeface="Calibri" pitchFamily="34" charset="-120"/>
              </a:rPr>
              <a:t>06 · À RETENIR</a:t>
            </a:r>
            <a:endParaRPr lang="en-US" sz="1050" dirty="0"/>
          </a:p>
        </p:txBody>
      </p:sp>
      <p:sp>
        <p:nvSpPr>
          <p:cNvPr id="3" name="Text 3"/>
          <p:cNvSpPr/>
          <p:nvPr>
            <p:ph idx="106" type="title" hasCustomPrompt="1"/>
          </p:nvPr>
        </p:nvSpPr>
        <p:spPr>
          <a:xfrm>
            <a:off x="457200" y="548640"/>
            <a:ext cx="8229600" cy="566928"/>
          </a:xfrm>
          <a:prstGeom prst="rect">
            <a:avLst/>
          </a:prstGeom>
          <a:noFill/>
          <a:ln/>
        </p:spPr>
        <p:txBody>
          <a:bodyPr wrap="square" lIns="0" tIns="0" rIns="0" bIns="0" rtlCol="0" anchor="ctr"/>
          <a:lstStyle/>
          <a:p>
            <a:pPr algn="l" indent="0" marL="0">
              <a:buNone/>
            </a:pPr>
            <a:r>
              <a:rPr lang="en-US" sz="2800" b="1" dirty="0">
                <a:solidFill>
                  <a:srgbClr val="231F20"/>
                </a:solidFill>
                <a:latin typeface="Calibri" pitchFamily="34" charset="0"/>
                <a:ea typeface="Calibri" pitchFamily="34" charset="-122"/>
                <a:cs typeface="Calibri" pitchFamily="34" charset="-120"/>
              </a:rPr>
              <a:t>Douze vérifications avant de publier un chiffre</a:t>
            </a:r>
            <a:endParaRPr lang="en-US" sz="2800" dirty="0"/>
          </a:p>
        </p:txBody>
      </p:sp>
      <p:sp>
        <p:nvSpPr>
          <p:cNvPr id="4" name="dot0"/>
          <p:cNvSpPr/>
          <p:nvPr/>
        </p:nvSpPr>
        <p:spPr>
          <a:xfrm>
            <a:off x="7644384" y="338328"/>
            <a:ext cx="100584" cy="100584"/>
          </a:xfrm>
          <a:prstGeom prst="ellipse">
            <a:avLst/>
          </a:prstGeom>
          <a:solidFill>
            <a:srgbClr val="D5DED9"/>
          </a:solidFill>
          <a:ln w="12700">
            <a:solidFill>
              <a:srgbClr val="D5DED9"/>
            </a:solidFill>
            <a:prstDash val="solid"/>
          </a:ln>
        </p:spPr>
      </p:sp>
      <p:sp>
        <p:nvSpPr>
          <p:cNvPr id="5" name="dot1"/>
          <p:cNvSpPr/>
          <p:nvPr/>
        </p:nvSpPr>
        <p:spPr>
          <a:xfrm>
            <a:off x="7818120" y="338328"/>
            <a:ext cx="100584" cy="100584"/>
          </a:xfrm>
          <a:prstGeom prst="ellipse">
            <a:avLst/>
          </a:prstGeom>
          <a:solidFill>
            <a:srgbClr val="D5DED9"/>
          </a:solidFill>
          <a:ln w="12700">
            <a:solidFill>
              <a:srgbClr val="D5DED9"/>
            </a:solidFill>
            <a:prstDash val="solid"/>
          </a:ln>
        </p:spPr>
      </p:sp>
      <p:sp>
        <p:nvSpPr>
          <p:cNvPr id="6" name="dot2"/>
          <p:cNvSpPr/>
          <p:nvPr/>
        </p:nvSpPr>
        <p:spPr>
          <a:xfrm>
            <a:off x="7991856" y="338328"/>
            <a:ext cx="100584" cy="100584"/>
          </a:xfrm>
          <a:prstGeom prst="ellipse">
            <a:avLst/>
          </a:prstGeom>
          <a:solidFill>
            <a:srgbClr val="D5DED9"/>
          </a:solidFill>
          <a:ln w="12700">
            <a:solidFill>
              <a:srgbClr val="D5DED9"/>
            </a:solidFill>
            <a:prstDash val="solid"/>
          </a:ln>
        </p:spPr>
      </p:sp>
      <p:sp>
        <p:nvSpPr>
          <p:cNvPr id="7" name="dot3"/>
          <p:cNvSpPr/>
          <p:nvPr/>
        </p:nvSpPr>
        <p:spPr>
          <a:xfrm>
            <a:off x="8165592" y="338328"/>
            <a:ext cx="100584" cy="100584"/>
          </a:xfrm>
          <a:prstGeom prst="ellipse">
            <a:avLst/>
          </a:prstGeom>
          <a:solidFill>
            <a:srgbClr val="D5DED9"/>
          </a:solidFill>
          <a:ln w="12700">
            <a:solidFill>
              <a:srgbClr val="D5DED9"/>
            </a:solidFill>
            <a:prstDash val="solid"/>
          </a:ln>
        </p:spPr>
      </p:sp>
      <p:sp>
        <p:nvSpPr>
          <p:cNvPr id="8" name="dot4"/>
          <p:cNvSpPr/>
          <p:nvPr/>
        </p:nvSpPr>
        <p:spPr>
          <a:xfrm>
            <a:off x="8339328" y="338328"/>
            <a:ext cx="100584" cy="100584"/>
          </a:xfrm>
          <a:prstGeom prst="ellipse">
            <a:avLst/>
          </a:prstGeom>
          <a:solidFill>
            <a:srgbClr val="D5DED9"/>
          </a:solidFill>
          <a:ln w="12700">
            <a:solidFill>
              <a:srgbClr val="D5DED9"/>
            </a:solidFill>
            <a:prstDash val="solid"/>
          </a:ln>
        </p:spPr>
      </p:sp>
      <p:sp>
        <p:nvSpPr>
          <p:cNvPr id="9" name="dot5"/>
          <p:cNvSpPr/>
          <p:nvPr/>
        </p:nvSpPr>
        <p:spPr>
          <a:xfrm>
            <a:off x="8513064" y="338328"/>
            <a:ext cx="100584" cy="100584"/>
          </a:xfrm>
          <a:prstGeom prst="ellipse">
            <a:avLst/>
          </a:prstGeom>
          <a:solidFill>
            <a:srgbClr val="B83B2E"/>
          </a:solidFill>
          <a:ln w="12700">
            <a:solidFill>
              <a:srgbClr val="B83B2E"/>
            </a:solidFill>
            <a:prstDash val="solid"/>
          </a:ln>
        </p:spPr>
      </p:sp>
      <p:sp>
        <p:nvSpPr>
          <p:cNvPr id="11" name="Shape 8"/>
          <p:cNvSpPr/>
          <p:nvPr/>
        </p:nvSpPr>
        <p:spPr>
          <a:xfrm>
            <a:off x="457200" y="1353312"/>
            <a:ext cx="2606040" cy="658368"/>
          </a:xfrm>
          <a:prstGeom prst="roundRect">
            <a:avLst>
              <a:gd name="adj" fmla="val 11111"/>
            </a:avLst>
          </a:prstGeom>
          <a:solidFill>
            <a:srgbClr val="F4F7F5"/>
          </a:solidFill>
          <a:ln w="9525">
            <a:solidFill>
              <a:srgbClr val="D5DED9"/>
            </a:solidFill>
            <a:prstDash val="solid"/>
          </a:ln>
        </p:spPr>
      </p:sp>
      <p:sp>
        <p:nvSpPr>
          <p:cNvPr id="12" name="Shape 9"/>
          <p:cNvSpPr/>
          <p:nvPr/>
        </p:nvSpPr>
        <p:spPr>
          <a:xfrm>
            <a:off x="576072" y="1508760"/>
            <a:ext cx="347472" cy="347472"/>
          </a:xfrm>
          <a:prstGeom prst="ellipse">
            <a:avLst/>
          </a:prstGeom>
          <a:solidFill>
            <a:srgbClr val="00A86A"/>
          </a:solidFill>
          <a:ln w="12700">
            <a:solidFill>
              <a:srgbClr val="00A86A"/>
            </a:solidFill>
            <a:prstDash val="solid"/>
          </a:ln>
        </p:spPr>
      </p:sp>
      <p:sp>
        <p:nvSpPr>
          <p:cNvPr id="13" name="Text 10"/>
          <p:cNvSpPr txBox="1"/>
          <p:nvPr/>
        </p:nvSpPr>
        <p:spPr>
          <a:xfrm>
            <a:off x="576072" y="1508760"/>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4" name="Text 11"/>
          <p:cNvSpPr txBox="1"/>
          <p:nvPr/>
        </p:nvSpPr>
        <p:spPr>
          <a:xfrm>
            <a:off x="1024128" y="1408176"/>
            <a:ext cx="1965960" cy="548640"/>
          </a:xfrm>
          <a:prstGeom prst="rect">
            <a:avLst/>
          </a:prstGeom>
          <a:noFill/>
          <a:ln/>
        </p:spPr>
        <p:txBody>
          <a:bodyPr wrap="square" lIns="0" tIns="0" rIns="0" bIns="0" rtlCol="0" anchor="ctr"/>
          <a:lstStyle/>
          <a:p>
            <a:pPr indent="0" marL="0">
              <a:buNone/>
            </a:pPr>
            <a:r>
              <a:rPr lang="en-US" sz="1100" dirty="0">
                <a:solidFill>
                  <a:srgbClr val="231F20"/>
                </a:solidFill>
                <a:latin typeface="Calibri" pitchFamily="34" charset="0"/>
                <a:ea typeface="Calibri" pitchFamily="34" charset="-122"/>
                <a:cs typeface="Calibri" pitchFamily="34" charset="-120"/>
              </a:rPr>
              <a:t>Noms de fichiers intacts ; année lue dans le nom</a:t>
            </a:r>
            <a:endParaRPr lang="en-US" sz="1100" dirty="0"/>
          </a:p>
        </p:txBody>
      </p:sp>
      <p:sp>
        <p:nvSpPr>
          <p:cNvPr id="15" name="Shape 12"/>
          <p:cNvSpPr/>
          <p:nvPr/>
        </p:nvSpPr>
        <p:spPr>
          <a:xfrm>
            <a:off x="3246120" y="1353312"/>
            <a:ext cx="2606040" cy="658368"/>
          </a:xfrm>
          <a:prstGeom prst="roundRect">
            <a:avLst>
              <a:gd name="adj" fmla="val 11111"/>
            </a:avLst>
          </a:prstGeom>
          <a:solidFill>
            <a:srgbClr val="F4F7F5"/>
          </a:solidFill>
          <a:ln w="9525">
            <a:solidFill>
              <a:srgbClr val="D5DED9"/>
            </a:solidFill>
            <a:prstDash val="solid"/>
          </a:ln>
        </p:spPr>
      </p:sp>
      <p:sp>
        <p:nvSpPr>
          <p:cNvPr id="16" name="Shape 13"/>
          <p:cNvSpPr/>
          <p:nvPr/>
        </p:nvSpPr>
        <p:spPr>
          <a:xfrm>
            <a:off x="3364992" y="1508760"/>
            <a:ext cx="347472" cy="347472"/>
          </a:xfrm>
          <a:prstGeom prst="ellipse">
            <a:avLst/>
          </a:prstGeom>
          <a:solidFill>
            <a:srgbClr val="00A86A"/>
          </a:solidFill>
          <a:ln w="12700">
            <a:solidFill>
              <a:srgbClr val="00A86A"/>
            </a:solidFill>
            <a:prstDash val="solid"/>
          </a:ln>
        </p:spPr>
      </p:sp>
      <p:sp>
        <p:nvSpPr>
          <p:cNvPr id="17" name="Text 14"/>
          <p:cNvSpPr txBox="1"/>
          <p:nvPr/>
        </p:nvSpPr>
        <p:spPr>
          <a:xfrm>
            <a:off x="3364992" y="1508760"/>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8" name="Text 15"/>
          <p:cNvSpPr txBox="1"/>
          <p:nvPr/>
        </p:nvSpPr>
        <p:spPr>
          <a:xfrm>
            <a:off x="3813048" y="1408176"/>
            <a:ext cx="1965960" cy="548640"/>
          </a:xfrm>
          <a:prstGeom prst="rect">
            <a:avLst/>
          </a:prstGeom>
          <a:noFill/>
          <a:ln/>
        </p:spPr>
        <p:txBody>
          <a:bodyPr wrap="square" lIns="0" tIns="0" rIns="0" bIns="0" rtlCol="0" anchor="ctr"/>
          <a:lstStyle/>
          <a:p>
            <a:pPr indent="0" marL="0">
              <a:buNone/>
            </a:pPr>
            <a:r>
              <a:rPr lang="en-US" sz="1100" dirty="0">
                <a:solidFill>
                  <a:srgbClr val="231F20"/>
                </a:solidFill>
                <a:latin typeface="Calibri" pitchFamily="34" charset="0"/>
                <a:ea typeface="Calibri" pitchFamily="34" charset="-122"/>
                <a:cs typeface="Calibri" pitchFamily="34" charset="-120"/>
              </a:rPr>
              <a:t>Groupe de données cherché, pas supposé</a:t>
            </a:r>
            <a:endParaRPr lang="en-US" sz="1100" dirty="0"/>
          </a:p>
        </p:txBody>
      </p:sp>
      <p:sp>
        <p:nvSpPr>
          <p:cNvPr id="19" name="Shape 16"/>
          <p:cNvSpPr/>
          <p:nvPr/>
        </p:nvSpPr>
        <p:spPr>
          <a:xfrm>
            <a:off x="6035040" y="1353312"/>
            <a:ext cx="2606040" cy="658368"/>
          </a:xfrm>
          <a:prstGeom prst="roundRect">
            <a:avLst>
              <a:gd name="adj" fmla="val 11111"/>
            </a:avLst>
          </a:prstGeom>
          <a:solidFill>
            <a:srgbClr val="F4F7F5"/>
          </a:solidFill>
          <a:ln w="9525">
            <a:solidFill>
              <a:srgbClr val="D5DED9"/>
            </a:solidFill>
            <a:prstDash val="solid"/>
          </a:ln>
        </p:spPr>
      </p:sp>
      <p:sp>
        <p:nvSpPr>
          <p:cNvPr id="20" name="Shape 17"/>
          <p:cNvSpPr/>
          <p:nvPr/>
        </p:nvSpPr>
        <p:spPr>
          <a:xfrm>
            <a:off x="6153912" y="1508760"/>
            <a:ext cx="347472" cy="347472"/>
          </a:xfrm>
          <a:prstGeom prst="ellipse">
            <a:avLst/>
          </a:prstGeom>
          <a:solidFill>
            <a:srgbClr val="00704A"/>
          </a:solidFill>
          <a:ln w="12700">
            <a:solidFill>
              <a:srgbClr val="00704A"/>
            </a:solidFill>
            <a:prstDash val="solid"/>
          </a:ln>
        </p:spPr>
      </p:sp>
      <p:sp>
        <p:nvSpPr>
          <p:cNvPr id="21" name="Text 18"/>
          <p:cNvSpPr txBox="1"/>
          <p:nvPr/>
        </p:nvSpPr>
        <p:spPr>
          <a:xfrm>
            <a:off x="6153912" y="1508760"/>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2" name="Text 19"/>
          <p:cNvSpPr txBox="1"/>
          <p:nvPr/>
        </p:nvSpPr>
        <p:spPr>
          <a:xfrm>
            <a:off x="6601968" y="1408176"/>
            <a:ext cx="1965960" cy="548640"/>
          </a:xfrm>
          <a:prstGeom prst="rect">
            <a:avLst/>
          </a:prstGeom>
          <a:noFill/>
          <a:ln/>
        </p:spPr>
        <p:txBody>
          <a:bodyPr wrap="square" lIns="0" tIns="0" rIns="0" bIns="0" rtlCol="0" anchor="ctr"/>
          <a:lstStyle/>
          <a:p>
            <a:pPr indent="0" marL="0">
              <a:buNone/>
            </a:pPr>
            <a:r>
              <a:rPr lang="en-US" sz="1100" dirty="0">
                <a:solidFill>
                  <a:srgbClr val="231F20"/>
                </a:solidFill>
                <a:latin typeface="Calibri" pitchFamily="34" charset="0"/>
                <a:ea typeface="Calibri" pitchFamily="34" charset="-122"/>
                <a:cs typeface="Calibri" pitchFamily="34" charset="-120"/>
              </a:rPr>
              <a:t>Échelle, décalage et remplissage lus dans le fichier</a:t>
            </a:r>
            <a:endParaRPr lang="en-US" sz="1100" dirty="0"/>
          </a:p>
        </p:txBody>
      </p:sp>
      <p:sp>
        <p:nvSpPr>
          <p:cNvPr id="23" name="Shape 20"/>
          <p:cNvSpPr/>
          <p:nvPr/>
        </p:nvSpPr>
        <p:spPr>
          <a:xfrm>
            <a:off x="457200" y="2139696"/>
            <a:ext cx="2606040" cy="658368"/>
          </a:xfrm>
          <a:prstGeom prst="roundRect">
            <a:avLst>
              <a:gd name="adj" fmla="val 11111"/>
            </a:avLst>
          </a:prstGeom>
          <a:solidFill>
            <a:srgbClr val="E8F5EF"/>
          </a:solidFill>
          <a:ln w="15875">
            <a:solidFill>
              <a:srgbClr val="B83B2E"/>
            </a:solidFill>
            <a:prstDash val="solid"/>
          </a:ln>
        </p:spPr>
      </p:sp>
      <p:sp>
        <p:nvSpPr>
          <p:cNvPr id="24" name="Shape 21"/>
          <p:cNvSpPr/>
          <p:nvPr/>
        </p:nvSpPr>
        <p:spPr>
          <a:xfrm>
            <a:off x="576072" y="2295144"/>
            <a:ext cx="347472" cy="347472"/>
          </a:xfrm>
          <a:prstGeom prst="ellipse">
            <a:avLst/>
          </a:prstGeom>
          <a:solidFill>
            <a:srgbClr val="00704A"/>
          </a:solidFill>
          <a:ln w="12700">
            <a:solidFill>
              <a:srgbClr val="00704A"/>
            </a:solidFill>
            <a:prstDash val="solid"/>
          </a:ln>
        </p:spPr>
      </p:sp>
      <p:sp>
        <p:nvSpPr>
          <p:cNvPr id="25" name="Text 22"/>
          <p:cNvSpPr txBox="1"/>
          <p:nvPr/>
        </p:nvSpPr>
        <p:spPr>
          <a:xfrm>
            <a:off x="576072" y="2295144"/>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6" name="Text 23"/>
          <p:cNvSpPr txBox="1"/>
          <p:nvPr/>
        </p:nvSpPr>
        <p:spPr>
          <a:xfrm>
            <a:off x="1024128" y="2194560"/>
            <a:ext cx="1965960" cy="548640"/>
          </a:xfrm>
          <a:prstGeom prst="rect">
            <a:avLst/>
          </a:prstGeom>
          <a:noFill/>
          <a:ln/>
        </p:spPr>
        <p:txBody>
          <a:bodyPr wrap="square" lIns="0" tIns="0" rIns="0" bIns="0" rtlCol="0" anchor="ctr"/>
          <a:lstStyle/>
          <a:p>
            <a:pPr indent="0" marL="0">
              <a:buNone/>
            </a:pPr>
            <a:r>
              <a:rPr lang="en-US" sz="1100" dirty="0">
                <a:solidFill>
                  <a:srgbClr val="231F20"/>
                </a:solidFill>
                <a:latin typeface="Calibri" pitchFamily="34" charset="0"/>
                <a:ea typeface="Calibri" pitchFamily="34" charset="-122"/>
                <a:cs typeface="Calibri" pitchFamily="34" charset="-120"/>
              </a:rPr>
              <a:t>Remplissage mis à NaN d'abord</a:t>
            </a:r>
            <a:endParaRPr lang="en-US" sz="1100" dirty="0"/>
          </a:p>
        </p:txBody>
      </p:sp>
      <p:sp>
        <p:nvSpPr>
          <p:cNvPr id="27" name="Shape 24"/>
          <p:cNvSpPr/>
          <p:nvPr/>
        </p:nvSpPr>
        <p:spPr>
          <a:xfrm>
            <a:off x="3246120" y="2139696"/>
            <a:ext cx="2606040" cy="658368"/>
          </a:xfrm>
          <a:prstGeom prst="roundRect">
            <a:avLst>
              <a:gd name="adj" fmla="val 11111"/>
            </a:avLst>
          </a:prstGeom>
          <a:solidFill>
            <a:srgbClr val="F4F7F5"/>
          </a:solidFill>
          <a:ln w="9525">
            <a:solidFill>
              <a:srgbClr val="D5DED9"/>
            </a:solidFill>
            <a:prstDash val="solid"/>
          </a:ln>
        </p:spPr>
      </p:sp>
      <p:sp>
        <p:nvSpPr>
          <p:cNvPr id="28" name="Shape 25"/>
          <p:cNvSpPr/>
          <p:nvPr/>
        </p:nvSpPr>
        <p:spPr>
          <a:xfrm>
            <a:off x="3364992" y="2295144"/>
            <a:ext cx="347472" cy="347472"/>
          </a:xfrm>
          <a:prstGeom prst="ellipse">
            <a:avLst/>
          </a:prstGeom>
          <a:solidFill>
            <a:srgbClr val="0E7C86"/>
          </a:solidFill>
          <a:ln w="12700">
            <a:solidFill>
              <a:srgbClr val="0E7C86"/>
            </a:solidFill>
            <a:prstDash val="solid"/>
          </a:ln>
        </p:spPr>
      </p:sp>
      <p:sp>
        <p:nvSpPr>
          <p:cNvPr id="29" name="Text 26"/>
          <p:cNvSpPr txBox="1"/>
          <p:nvPr/>
        </p:nvSpPr>
        <p:spPr>
          <a:xfrm>
            <a:off x="3364992" y="2295144"/>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30" name="Text 27"/>
          <p:cNvSpPr txBox="1"/>
          <p:nvPr/>
        </p:nvSpPr>
        <p:spPr>
          <a:xfrm>
            <a:off x="3813048" y="2194560"/>
            <a:ext cx="1965960" cy="548640"/>
          </a:xfrm>
          <a:prstGeom prst="rect">
            <a:avLst/>
          </a:prstGeom>
          <a:noFill/>
          <a:ln/>
        </p:spPr>
        <p:txBody>
          <a:bodyPr wrap="square" lIns="0" tIns="0" rIns="0" bIns="0" rtlCol="0" anchor="ctr"/>
          <a:lstStyle/>
          <a:p>
            <a:pPr indent="0" marL="0">
              <a:buNone/>
            </a:pPr>
            <a:r>
              <a:rPr lang="en-US" sz="1100" dirty="0">
                <a:solidFill>
                  <a:srgbClr val="231F20"/>
                </a:solidFill>
                <a:latin typeface="Calibri" pitchFamily="34" charset="0"/>
                <a:ea typeface="Calibri" pitchFamily="34" charset="-122"/>
                <a:cs typeface="Calibri" pitchFamily="34" charset="-120"/>
              </a:rPr>
              <a:t>Le nord en haut : la ligne 0 est la plus au nord</a:t>
            </a:r>
            <a:endParaRPr lang="en-US" sz="1100" dirty="0"/>
          </a:p>
        </p:txBody>
      </p:sp>
      <p:sp>
        <p:nvSpPr>
          <p:cNvPr id="31" name="Shape 28"/>
          <p:cNvSpPr/>
          <p:nvPr/>
        </p:nvSpPr>
        <p:spPr>
          <a:xfrm>
            <a:off x="6035040" y="2139696"/>
            <a:ext cx="2606040" cy="658368"/>
          </a:xfrm>
          <a:prstGeom prst="roundRect">
            <a:avLst>
              <a:gd name="adj" fmla="val 11111"/>
            </a:avLst>
          </a:prstGeom>
          <a:solidFill>
            <a:srgbClr val="F4F7F5"/>
          </a:solidFill>
          <a:ln w="9525">
            <a:solidFill>
              <a:srgbClr val="D5DED9"/>
            </a:solidFill>
            <a:prstDash val="solid"/>
          </a:ln>
        </p:spPr>
      </p:sp>
      <p:sp>
        <p:nvSpPr>
          <p:cNvPr id="32" name="Shape 29"/>
          <p:cNvSpPr/>
          <p:nvPr/>
        </p:nvSpPr>
        <p:spPr>
          <a:xfrm>
            <a:off x="6153912" y="2295144"/>
            <a:ext cx="347472" cy="347472"/>
          </a:xfrm>
          <a:prstGeom prst="ellipse">
            <a:avLst/>
          </a:prstGeom>
          <a:solidFill>
            <a:srgbClr val="0E7C86"/>
          </a:solidFill>
          <a:ln w="12700">
            <a:solidFill>
              <a:srgbClr val="0E7C86"/>
            </a:solidFill>
            <a:prstDash val="solid"/>
          </a:ln>
        </p:spPr>
      </p:sp>
      <p:sp>
        <p:nvSpPr>
          <p:cNvPr id="33" name="Text 30"/>
          <p:cNvSpPr txBox="1"/>
          <p:nvPr/>
        </p:nvSpPr>
        <p:spPr>
          <a:xfrm>
            <a:off x="6153912" y="2295144"/>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34" name="Text 31"/>
          <p:cNvSpPr txBox="1"/>
          <p:nvPr/>
        </p:nvSpPr>
        <p:spPr>
          <a:xfrm>
            <a:off x="6601968" y="2194560"/>
            <a:ext cx="1965960" cy="548640"/>
          </a:xfrm>
          <a:prstGeom prst="rect">
            <a:avLst/>
          </a:prstGeom>
          <a:noFill/>
          <a:ln/>
        </p:spPr>
        <p:txBody>
          <a:bodyPr wrap="square" lIns="0" tIns="0" rIns="0" bIns="0" rtlCol="0" anchor="ctr"/>
          <a:lstStyle/>
          <a:p>
            <a:pPr indent="0" marL="0">
              <a:buNone/>
            </a:pPr>
            <a:r>
              <a:rPr lang="en-US" sz="1100" dirty="0">
                <a:solidFill>
                  <a:srgbClr val="231F20"/>
                </a:solidFill>
                <a:latin typeface="Calibri" pitchFamily="34" charset="0"/>
                <a:ea typeface="Calibri" pitchFamily="34" charset="-122"/>
                <a:cs typeface="Calibri" pitchFamily="34" charset="-120"/>
              </a:rPr>
              <a:t>Seuil qualité documenté</a:t>
            </a:r>
            <a:endParaRPr lang="en-US" sz="1100" dirty="0"/>
          </a:p>
        </p:txBody>
      </p:sp>
      <p:sp>
        <p:nvSpPr>
          <p:cNvPr id="35" name="Shape 32"/>
          <p:cNvSpPr/>
          <p:nvPr/>
        </p:nvSpPr>
        <p:spPr>
          <a:xfrm>
            <a:off x="457200" y="2926080"/>
            <a:ext cx="2606040" cy="658368"/>
          </a:xfrm>
          <a:prstGeom prst="roundRect">
            <a:avLst>
              <a:gd name="adj" fmla="val 11111"/>
            </a:avLst>
          </a:prstGeom>
          <a:solidFill>
            <a:srgbClr val="F4F7F5"/>
          </a:solidFill>
          <a:ln w="9525">
            <a:solidFill>
              <a:srgbClr val="D5DED9"/>
            </a:solidFill>
            <a:prstDash val="solid"/>
          </a:ln>
        </p:spPr>
      </p:sp>
      <p:sp>
        <p:nvSpPr>
          <p:cNvPr id="36" name="Shape 33"/>
          <p:cNvSpPr/>
          <p:nvPr/>
        </p:nvSpPr>
        <p:spPr>
          <a:xfrm>
            <a:off x="576072" y="3081528"/>
            <a:ext cx="347472" cy="347472"/>
          </a:xfrm>
          <a:prstGeom prst="ellipse">
            <a:avLst/>
          </a:prstGeom>
          <a:solidFill>
            <a:srgbClr val="D49A00"/>
          </a:solidFill>
          <a:ln w="12700">
            <a:solidFill>
              <a:srgbClr val="D49A00"/>
            </a:solidFill>
            <a:prstDash val="solid"/>
          </a:ln>
        </p:spPr>
      </p:sp>
      <p:sp>
        <p:nvSpPr>
          <p:cNvPr id="37" name="Text 34"/>
          <p:cNvSpPr txBox="1"/>
          <p:nvPr/>
        </p:nvSpPr>
        <p:spPr>
          <a:xfrm>
            <a:off x="576072" y="3081528"/>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38" name="Text 35"/>
          <p:cNvSpPr txBox="1"/>
          <p:nvPr/>
        </p:nvSpPr>
        <p:spPr>
          <a:xfrm>
            <a:off x="1024128" y="2980944"/>
            <a:ext cx="1965960" cy="548640"/>
          </a:xfrm>
          <a:prstGeom prst="rect">
            <a:avLst/>
          </a:prstGeom>
          <a:noFill/>
          <a:ln/>
        </p:spPr>
        <p:txBody>
          <a:bodyPr wrap="square" lIns="0" tIns="0" rIns="0" bIns="0" rtlCol="0" anchor="ctr"/>
          <a:lstStyle/>
          <a:p>
            <a:pPr indent="0" marL="0">
              <a:buNone/>
            </a:pPr>
            <a:r>
              <a:rPr lang="en-US" sz="1100" dirty="0">
                <a:solidFill>
                  <a:srgbClr val="231F20"/>
                </a:solidFill>
                <a:latin typeface="Calibri" pitchFamily="34" charset="0"/>
                <a:ea typeface="Calibri" pitchFamily="34" charset="-122"/>
                <a:cs typeface="Calibri" pitchFamily="34" charset="-120"/>
              </a:rPr>
              <a:t>Océan et mer masqués</a:t>
            </a:r>
            <a:endParaRPr lang="en-US" sz="1100" dirty="0"/>
          </a:p>
        </p:txBody>
      </p:sp>
      <p:sp>
        <p:nvSpPr>
          <p:cNvPr id="39" name="Shape 36"/>
          <p:cNvSpPr/>
          <p:nvPr/>
        </p:nvSpPr>
        <p:spPr>
          <a:xfrm>
            <a:off x="3246120" y="2926080"/>
            <a:ext cx="2606040" cy="658368"/>
          </a:xfrm>
          <a:prstGeom prst="roundRect">
            <a:avLst>
              <a:gd name="adj" fmla="val 11111"/>
            </a:avLst>
          </a:prstGeom>
          <a:solidFill>
            <a:srgbClr val="F4F7F5"/>
          </a:solidFill>
          <a:ln w="9525">
            <a:solidFill>
              <a:srgbClr val="D5DED9"/>
            </a:solidFill>
            <a:prstDash val="solid"/>
          </a:ln>
        </p:spPr>
      </p:sp>
      <p:sp>
        <p:nvSpPr>
          <p:cNvPr id="40" name="Shape 37"/>
          <p:cNvSpPr/>
          <p:nvPr/>
        </p:nvSpPr>
        <p:spPr>
          <a:xfrm>
            <a:off x="3364992" y="3081528"/>
            <a:ext cx="347472" cy="347472"/>
          </a:xfrm>
          <a:prstGeom prst="ellipse">
            <a:avLst/>
          </a:prstGeom>
          <a:solidFill>
            <a:srgbClr val="D49A00"/>
          </a:solidFill>
          <a:ln w="12700">
            <a:solidFill>
              <a:srgbClr val="D49A00"/>
            </a:solidFill>
            <a:prstDash val="solid"/>
          </a:ln>
        </p:spPr>
      </p:sp>
      <p:sp>
        <p:nvSpPr>
          <p:cNvPr id="41" name="Text 38"/>
          <p:cNvSpPr txBox="1"/>
          <p:nvPr/>
        </p:nvSpPr>
        <p:spPr>
          <a:xfrm>
            <a:off x="3364992" y="3081528"/>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sp>
        <p:nvSpPr>
          <p:cNvPr id="42" name="Text 39"/>
          <p:cNvSpPr txBox="1"/>
          <p:nvPr/>
        </p:nvSpPr>
        <p:spPr>
          <a:xfrm>
            <a:off x="3813048" y="2980944"/>
            <a:ext cx="1965960" cy="548640"/>
          </a:xfrm>
          <a:prstGeom prst="rect">
            <a:avLst/>
          </a:prstGeom>
          <a:noFill/>
          <a:ln/>
        </p:spPr>
        <p:txBody>
          <a:bodyPr wrap="square" lIns="0" tIns="0" rIns="0" bIns="0" rtlCol="0" anchor="ctr"/>
          <a:lstStyle/>
          <a:p>
            <a:pPr indent="0" marL="0">
              <a:buNone/>
            </a:pPr>
            <a:r>
              <a:rPr lang="en-US" sz="1100" dirty="0">
                <a:solidFill>
                  <a:srgbClr val="231F20"/>
                </a:solidFill>
                <a:latin typeface="Calibri" pitchFamily="34" charset="0"/>
                <a:ea typeface="Calibri" pitchFamily="34" charset="-122"/>
                <a:cs typeface="Calibri" pitchFamily="34" charset="-120"/>
              </a:rPr>
              <a:t>Nombre de nuits examiné</a:t>
            </a:r>
            <a:endParaRPr lang="en-US" sz="1100" dirty="0"/>
          </a:p>
        </p:txBody>
      </p:sp>
      <p:sp>
        <p:nvSpPr>
          <p:cNvPr id="43" name="Shape 40"/>
          <p:cNvSpPr/>
          <p:nvPr/>
        </p:nvSpPr>
        <p:spPr>
          <a:xfrm>
            <a:off x="6035040" y="2926080"/>
            <a:ext cx="2606040" cy="658368"/>
          </a:xfrm>
          <a:prstGeom prst="roundRect">
            <a:avLst>
              <a:gd name="adj" fmla="val 11111"/>
            </a:avLst>
          </a:prstGeom>
          <a:solidFill>
            <a:srgbClr val="F4F7F5"/>
          </a:solidFill>
          <a:ln w="9525">
            <a:solidFill>
              <a:srgbClr val="D5DED9"/>
            </a:solidFill>
            <a:prstDash val="solid"/>
          </a:ln>
        </p:spPr>
      </p:sp>
      <p:sp>
        <p:nvSpPr>
          <p:cNvPr id="44" name="Shape 41"/>
          <p:cNvSpPr/>
          <p:nvPr/>
        </p:nvSpPr>
        <p:spPr>
          <a:xfrm>
            <a:off x="6153912" y="3081528"/>
            <a:ext cx="347472" cy="347472"/>
          </a:xfrm>
          <a:prstGeom prst="ellipse">
            <a:avLst/>
          </a:prstGeom>
          <a:solidFill>
            <a:srgbClr val="C4621D"/>
          </a:solidFill>
          <a:ln w="12700">
            <a:solidFill>
              <a:srgbClr val="C4621D"/>
            </a:solidFill>
            <a:prstDash val="solid"/>
          </a:ln>
        </p:spPr>
      </p:sp>
      <p:sp>
        <p:nvSpPr>
          <p:cNvPr id="45" name="Text 42"/>
          <p:cNvSpPr txBox="1"/>
          <p:nvPr/>
        </p:nvSpPr>
        <p:spPr>
          <a:xfrm>
            <a:off x="6153912" y="3081528"/>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9</a:t>
            </a:r>
            <a:endParaRPr lang="en-US" sz="1100" dirty="0"/>
          </a:p>
        </p:txBody>
      </p:sp>
      <p:sp>
        <p:nvSpPr>
          <p:cNvPr id="46" name="Text 43"/>
          <p:cNvSpPr txBox="1"/>
          <p:nvPr/>
        </p:nvSpPr>
        <p:spPr>
          <a:xfrm>
            <a:off x="6601968" y="2980944"/>
            <a:ext cx="1965960" cy="548640"/>
          </a:xfrm>
          <a:prstGeom prst="rect">
            <a:avLst/>
          </a:prstGeom>
          <a:noFill/>
          <a:ln/>
        </p:spPr>
        <p:txBody>
          <a:bodyPr wrap="square" lIns="0" tIns="0" rIns="0" bIns="0" rtlCol="0" anchor="ctr"/>
          <a:lstStyle/>
          <a:p>
            <a:pPr indent="0" marL="0">
              <a:buNone/>
            </a:pPr>
            <a:r>
              <a:rPr lang="en-US" sz="1100" dirty="0">
                <a:solidFill>
                  <a:srgbClr val="231F20"/>
                </a:solidFill>
                <a:latin typeface="Calibri" pitchFamily="34" charset="0"/>
                <a:ea typeface="Calibri" pitchFamily="34" charset="-122"/>
                <a:cs typeface="Calibri" pitchFamily="34" charset="-120"/>
              </a:rPr>
              <a:t>Pixel le plus brillant plausible</a:t>
            </a:r>
            <a:endParaRPr lang="en-US" sz="1100" dirty="0"/>
          </a:p>
        </p:txBody>
      </p:sp>
      <p:sp>
        <p:nvSpPr>
          <p:cNvPr id="47" name="Shape 44"/>
          <p:cNvSpPr/>
          <p:nvPr/>
        </p:nvSpPr>
        <p:spPr>
          <a:xfrm>
            <a:off x="457200" y="3712464"/>
            <a:ext cx="2606040" cy="658368"/>
          </a:xfrm>
          <a:prstGeom prst="roundRect">
            <a:avLst>
              <a:gd name="adj" fmla="val 11111"/>
            </a:avLst>
          </a:prstGeom>
          <a:solidFill>
            <a:srgbClr val="F4F7F5"/>
          </a:solidFill>
          <a:ln w="9525">
            <a:solidFill>
              <a:srgbClr val="D5DED9"/>
            </a:solidFill>
            <a:prstDash val="solid"/>
          </a:ln>
        </p:spPr>
      </p:sp>
      <p:sp>
        <p:nvSpPr>
          <p:cNvPr id="48" name="Shape 45"/>
          <p:cNvSpPr/>
          <p:nvPr/>
        </p:nvSpPr>
        <p:spPr>
          <a:xfrm>
            <a:off x="576072" y="3867912"/>
            <a:ext cx="347472" cy="347472"/>
          </a:xfrm>
          <a:prstGeom prst="ellipse">
            <a:avLst/>
          </a:prstGeom>
          <a:solidFill>
            <a:srgbClr val="C4621D"/>
          </a:solidFill>
          <a:ln w="12700">
            <a:solidFill>
              <a:srgbClr val="C4621D"/>
            </a:solidFill>
            <a:prstDash val="solid"/>
          </a:ln>
        </p:spPr>
      </p:sp>
      <p:sp>
        <p:nvSpPr>
          <p:cNvPr id="49" name="Text 46"/>
          <p:cNvSpPr txBox="1"/>
          <p:nvPr/>
        </p:nvSpPr>
        <p:spPr>
          <a:xfrm>
            <a:off x="576072" y="3867912"/>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10</a:t>
            </a:r>
            <a:endParaRPr lang="en-US" sz="1100" dirty="0"/>
          </a:p>
        </p:txBody>
      </p:sp>
      <p:sp>
        <p:nvSpPr>
          <p:cNvPr id="50" name="Text 47"/>
          <p:cNvSpPr txBox="1"/>
          <p:nvPr/>
        </p:nvSpPr>
        <p:spPr>
          <a:xfrm>
            <a:off x="1024128" y="3767328"/>
            <a:ext cx="1965960" cy="548640"/>
          </a:xfrm>
          <a:prstGeom prst="rect">
            <a:avLst/>
          </a:prstGeom>
          <a:noFill/>
          <a:ln/>
        </p:spPr>
        <p:txBody>
          <a:bodyPr wrap="square" lIns="0" tIns="0" rIns="0" bIns="0" rtlCol="0" anchor="ctr"/>
          <a:lstStyle/>
          <a:p>
            <a:pPr indent="0" marL="0">
              <a:buNone/>
            </a:pPr>
            <a:r>
              <a:rPr lang="en-US" sz="1100" dirty="0">
                <a:solidFill>
                  <a:srgbClr val="231F20"/>
                </a:solidFill>
                <a:latin typeface="Calibri" pitchFamily="34" charset="0"/>
                <a:ea typeface="Calibri" pitchFamily="34" charset="-122"/>
                <a:cs typeface="Calibri" pitchFamily="34" charset="-120"/>
              </a:rPr>
              <a:t>Même couche et même version sur toute la série</a:t>
            </a:r>
            <a:endParaRPr lang="en-US" sz="1100" dirty="0"/>
          </a:p>
        </p:txBody>
      </p:sp>
      <p:sp>
        <p:nvSpPr>
          <p:cNvPr id="51" name="Shape 48"/>
          <p:cNvSpPr/>
          <p:nvPr/>
        </p:nvSpPr>
        <p:spPr>
          <a:xfrm>
            <a:off x="3246120" y="3712464"/>
            <a:ext cx="2606040" cy="658368"/>
          </a:xfrm>
          <a:prstGeom prst="roundRect">
            <a:avLst>
              <a:gd name="adj" fmla="val 11111"/>
            </a:avLst>
          </a:prstGeom>
          <a:solidFill>
            <a:srgbClr val="F4F7F5"/>
          </a:solidFill>
          <a:ln w="9525">
            <a:solidFill>
              <a:srgbClr val="D5DED9"/>
            </a:solidFill>
            <a:prstDash val="solid"/>
          </a:ln>
        </p:spPr>
      </p:sp>
      <p:sp>
        <p:nvSpPr>
          <p:cNvPr id="52" name="Shape 49"/>
          <p:cNvSpPr/>
          <p:nvPr/>
        </p:nvSpPr>
        <p:spPr>
          <a:xfrm>
            <a:off x="3364992" y="3867912"/>
            <a:ext cx="347472" cy="347472"/>
          </a:xfrm>
          <a:prstGeom prst="ellipse">
            <a:avLst/>
          </a:prstGeom>
          <a:solidFill>
            <a:srgbClr val="B83B2E"/>
          </a:solidFill>
          <a:ln w="12700">
            <a:solidFill>
              <a:srgbClr val="B83B2E"/>
            </a:solidFill>
            <a:prstDash val="solid"/>
          </a:ln>
        </p:spPr>
      </p:sp>
      <p:sp>
        <p:nvSpPr>
          <p:cNvPr id="53" name="Text 50"/>
          <p:cNvSpPr txBox="1"/>
          <p:nvPr/>
        </p:nvSpPr>
        <p:spPr>
          <a:xfrm>
            <a:off x="3364992" y="3867912"/>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11</a:t>
            </a:r>
            <a:endParaRPr lang="en-US" sz="1100" dirty="0"/>
          </a:p>
        </p:txBody>
      </p:sp>
      <p:sp>
        <p:nvSpPr>
          <p:cNvPr id="54" name="Text 51"/>
          <p:cNvSpPr txBox="1"/>
          <p:nvPr/>
        </p:nvSpPr>
        <p:spPr>
          <a:xfrm>
            <a:off x="3813048" y="3767328"/>
            <a:ext cx="1965960" cy="548640"/>
          </a:xfrm>
          <a:prstGeom prst="rect">
            <a:avLst/>
          </a:prstGeom>
          <a:noFill/>
          <a:ln/>
        </p:spPr>
        <p:txBody>
          <a:bodyPr wrap="square" lIns="0" tIns="0" rIns="0" bIns="0" rtlCol="0" anchor="ctr"/>
          <a:lstStyle/>
          <a:p>
            <a:pPr indent="0" marL="0">
              <a:buNone/>
            </a:pPr>
            <a:r>
              <a:rPr lang="en-US" sz="1100" dirty="0">
                <a:solidFill>
                  <a:srgbClr val="231F20"/>
                </a:solidFill>
                <a:latin typeface="Calibri" pitchFamily="34" charset="0"/>
                <a:ea typeface="Calibri" pitchFamily="34" charset="-122"/>
                <a:cs typeface="Calibri" pitchFamily="34" charset="-120"/>
              </a:rPr>
              <a:t>Le bon produit pour la question</a:t>
            </a:r>
            <a:endParaRPr lang="en-US" sz="1100" dirty="0"/>
          </a:p>
        </p:txBody>
      </p:sp>
      <p:sp>
        <p:nvSpPr>
          <p:cNvPr id="55" name="Shape 52"/>
          <p:cNvSpPr/>
          <p:nvPr/>
        </p:nvSpPr>
        <p:spPr>
          <a:xfrm>
            <a:off x="6035040" y="3712464"/>
            <a:ext cx="2606040" cy="658368"/>
          </a:xfrm>
          <a:prstGeom prst="roundRect">
            <a:avLst>
              <a:gd name="adj" fmla="val 11111"/>
            </a:avLst>
          </a:prstGeom>
          <a:solidFill>
            <a:srgbClr val="F4F7F5"/>
          </a:solidFill>
          <a:ln w="9525">
            <a:solidFill>
              <a:srgbClr val="D5DED9"/>
            </a:solidFill>
            <a:prstDash val="solid"/>
          </a:ln>
        </p:spPr>
      </p:sp>
      <p:sp>
        <p:nvSpPr>
          <p:cNvPr id="56" name="Shape 53"/>
          <p:cNvSpPr/>
          <p:nvPr/>
        </p:nvSpPr>
        <p:spPr>
          <a:xfrm>
            <a:off x="6153912" y="3867912"/>
            <a:ext cx="347472" cy="347472"/>
          </a:xfrm>
          <a:prstGeom prst="ellipse">
            <a:avLst/>
          </a:prstGeom>
          <a:solidFill>
            <a:srgbClr val="B83B2E"/>
          </a:solidFill>
          <a:ln w="12700">
            <a:solidFill>
              <a:srgbClr val="B83B2E"/>
            </a:solidFill>
            <a:prstDash val="solid"/>
          </a:ln>
        </p:spPr>
      </p:sp>
      <p:sp>
        <p:nvSpPr>
          <p:cNvPr id="57" name="Text 54"/>
          <p:cNvSpPr txBox="1"/>
          <p:nvPr/>
        </p:nvSpPr>
        <p:spPr>
          <a:xfrm>
            <a:off x="6153912" y="3867912"/>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12</a:t>
            </a:r>
            <a:endParaRPr lang="en-US" sz="1100" dirty="0"/>
          </a:p>
        </p:txBody>
      </p:sp>
      <p:sp>
        <p:nvSpPr>
          <p:cNvPr id="58" name="Text 55"/>
          <p:cNvSpPr txBox="1"/>
          <p:nvPr/>
        </p:nvSpPr>
        <p:spPr>
          <a:xfrm>
            <a:off x="6601968" y="3767328"/>
            <a:ext cx="1965960" cy="548640"/>
          </a:xfrm>
          <a:prstGeom prst="rect">
            <a:avLst/>
          </a:prstGeom>
          <a:noFill/>
          <a:ln/>
        </p:spPr>
        <p:txBody>
          <a:bodyPr wrap="square" lIns="0" tIns="0" rIns="0" bIns="0" rtlCol="0" anchor="ctr"/>
          <a:lstStyle/>
          <a:p>
            <a:pPr indent="0" marL="0">
              <a:buNone/>
            </a:pPr>
            <a:r>
              <a:rPr lang="en-US" sz="1100" dirty="0">
                <a:solidFill>
                  <a:srgbClr val="231F20"/>
                </a:solidFill>
                <a:latin typeface="Calibri" pitchFamily="34" charset="0"/>
                <a:ea typeface="Calibri" pitchFamily="34" charset="-122"/>
                <a:cs typeface="Calibri" pitchFamily="34" charset="-120"/>
              </a:rPr>
              <a:t>Limites écrites</a:t>
            </a:r>
            <a:endParaRPr lang="en-US" sz="11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8A9590"/>
                </a:solidFill>
                <a:latin typeface="Calibri"/>
                <a:ea typeface="Calibri"/>
                <a:cs typeface="Calibri"/>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3"/>
          <p:cNvSpPr/>
          <p:nvPr>
            <p:ph idx="105" type="body" hasCustomPrompt="1"/>
          </p:nvPr>
        </p:nvSpPr>
        <p:spPr>
          <a:xfrm>
            <a:off x="457200" y="274320"/>
            <a:ext cx="6217920" cy="256032"/>
          </a:xfrm>
          <a:prstGeom prst="rect">
            <a:avLst/>
          </a:prstGeom>
          <a:noFill/>
          <a:ln/>
        </p:spPr>
        <p:txBody>
          <a:bodyPr wrap="square" lIns="0" tIns="0" rIns="0" bIns="0" rtlCol="0" anchor="ctr"/>
          <a:lstStyle/>
          <a:p>
            <a:pPr algn="l" indent="0" marL="0">
              <a:buNone/>
            </a:pPr>
            <a:r>
              <a:rPr lang="en-US" sz="1050" b="1" spc="300" kern="0" dirty="0">
                <a:solidFill>
                  <a:srgbClr val="00704A"/>
                </a:solidFill>
                <a:latin typeface="Calibri" pitchFamily="34" charset="0"/>
                <a:ea typeface="Calibri" pitchFamily="34" charset="-122"/>
                <a:cs typeface="Calibri" pitchFamily="34" charset="-120"/>
              </a:rPr>
              <a:t>06 · À RETENIR</a:t>
            </a:r>
            <a:endParaRPr lang="en-US" sz="1050" dirty="0"/>
          </a:p>
        </p:txBody>
      </p:sp>
      <p:sp>
        <p:nvSpPr>
          <p:cNvPr id="3" name="Text 3"/>
          <p:cNvSpPr/>
          <p:nvPr>
            <p:ph idx="106" type="title" hasCustomPrompt="1"/>
          </p:nvPr>
        </p:nvSpPr>
        <p:spPr>
          <a:xfrm>
            <a:off x="457200" y="548640"/>
            <a:ext cx="8229600" cy="566928"/>
          </a:xfrm>
          <a:prstGeom prst="rect">
            <a:avLst/>
          </a:prstGeom>
          <a:noFill/>
          <a:ln/>
        </p:spPr>
        <p:txBody>
          <a:bodyPr wrap="square" lIns="0" tIns="0" rIns="0" bIns="0" rtlCol="0" anchor="ctr"/>
          <a:lstStyle/>
          <a:p>
            <a:pPr algn="l" indent="0" marL="0">
              <a:buNone/>
            </a:pPr>
            <a:r>
              <a:rPr lang="en-US" sz="2800" b="1" dirty="0">
                <a:solidFill>
                  <a:srgbClr val="231F20"/>
                </a:solidFill>
                <a:latin typeface="Calibri" pitchFamily="34" charset="0"/>
                <a:ea typeface="Calibri" pitchFamily="34" charset="-122"/>
                <a:cs typeface="Calibri" pitchFamily="34" charset="-120"/>
              </a:rPr>
              <a:t>Tendance sur A4, saison sur A3, événement sur A2</a:t>
            </a:r>
            <a:endParaRPr lang="en-US" sz="2800" dirty="0"/>
          </a:p>
        </p:txBody>
      </p:sp>
      <p:sp>
        <p:nvSpPr>
          <p:cNvPr id="4" name="dot0"/>
          <p:cNvSpPr/>
          <p:nvPr/>
        </p:nvSpPr>
        <p:spPr>
          <a:xfrm>
            <a:off x="7644384" y="338328"/>
            <a:ext cx="100584" cy="100584"/>
          </a:xfrm>
          <a:prstGeom prst="ellipse">
            <a:avLst/>
          </a:prstGeom>
          <a:solidFill>
            <a:srgbClr val="D5DED9"/>
          </a:solidFill>
          <a:ln w="12700">
            <a:solidFill>
              <a:srgbClr val="D5DED9"/>
            </a:solidFill>
            <a:prstDash val="solid"/>
          </a:ln>
        </p:spPr>
      </p:sp>
      <p:sp>
        <p:nvSpPr>
          <p:cNvPr id="5" name="dot1"/>
          <p:cNvSpPr/>
          <p:nvPr/>
        </p:nvSpPr>
        <p:spPr>
          <a:xfrm>
            <a:off x="7818120" y="338328"/>
            <a:ext cx="100584" cy="100584"/>
          </a:xfrm>
          <a:prstGeom prst="ellipse">
            <a:avLst/>
          </a:prstGeom>
          <a:solidFill>
            <a:srgbClr val="D5DED9"/>
          </a:solidFill>
          <a:ln w="12700">
            <a:solidFill>
              <a:srgbClr val="D5DED9"/>
            </a:solidFill>
            <a:prstDash val="solid"/>
          </a:ln>
        </p:spPr>
      </p:sp>
      <p:sp>
        <p:nvSpPr>
          <p:cNvPr id="6" name="dot2"/>
          <p:cNvSpPr/>
          <p:nvPr/>
        </p:nvSpPr>
        <p:spPr>
          <a:xfrm>
            <a:off x="7991856" y="338328"/>
            <a:ext cx="100584" cy="100584"/>
          </a:xfrm>
          <a:prstGeom prst="ellipse">
            <a:avLst/>
          </a:prstGeom>
          <a:solidFill>
            <a:srgbClr val="D5DED9"/>
          </a:solidFill>
          <a:ln w="12700">
            <a:solidFill>
              <a:srgbClr val="D5DED9"/>
            </a:solidFill>
            <a:prstDash val="solid"/>
          </a:ln>
        </p:spPr>
      </p:sp>
      <p:sp>
        <p:nvSpPr>
          <p:cNvPr id="7" name="dot3"/>
          <p:cNvSpPr/>
          <p:nvPr/>
        </p:nvSpPr>
        <p:spPr>
          <a:xfrm>
            <a:off x="8165592" y="338328"/>
            <a:ext cx="100584" cy="100584"/>
          </a:xfrm>
          <a:prstGeom prst="ellipse">
            <a:avLst/>
          </a:prstGeom>
          <a:solidFill>
            <a:srgbClr val="D5DED9"/>
          </a:solidFill>
          <a:ln w="12700">
            <a:solidFill>
              <a:srgbClr val="D5DED9"/>
            </a:solidFill>
            <a:prstDash val="solid"/>
          </a:ln>
        </p:spPr>
      </p:sp>
      <p:sp>
        <p:nvSpPr>
          <p:cNvPr id="8" name="dot4"/>
          <p:cNvSpPr/>
          <p:nvPr/>
        </p:nvSpPr>
        <p:spPr>
          <a:xfrm>
            <a:off x="8339328" y="338328"/>
            <a:ext cx="100584" cy="100584"/>
          </a:xfrm>
          <a:prstGeom prst="ellipse">
            <a:avLst/>
          </a:prstGeom>
          <a:solidFill>
            <a:srgbClr val="D5DED9"/>
          </a:solidFill>
          <a:ln w="12700">
            <a:solidFill>
              <a:srgbClr val="D5DED9"/>
            </a:solidFill>
            <a:prstDash val="solid"/>
          </a:ln>
        </p:spPr>
      </p:sp>
      <p:sp>
        <p:nvSpPr>
          <p:cNvPr id="9" name="dot5"/>
          <p:cNvSpPr/>
          <p:nvPr/>
        </p:nvSpPr>
        <p:spPr>
          <a:xfrm>
            <a:off x="8513064" y="338328"/>
            <a:ext cx="100584" cy="100584"/>
          </a:xfrm>
          <a:prstGeom prst="ellipse">
            <a:avLst/>
          </a:prstGeom>
          <a:solidFill>
            <a:srgbClr val="B83B2E"/>
          </a:solidFill>
          <a:ln w="12700">
            <a:solidFill>
              <a:srgbClr val="B83B2E"/>
            </a:solidFill>
            <a:prstDash val="solid"/>
          </a:ln>
        </p:spPr>
      </p:sp>
      <p:sp>
        <p:nvSpPr>
          <p:cNvPr id="11" name="Shape 8"/>
          <p:cNvSpPr/>
          <p:nvPr/>
        </p:nvSpPr>
        <p:spPr>
          <a:xfrm>
            <a:off x="457200" y="1371600"/>
            <a:ext cx="2606040" cy="3063240"/>
          </a:xfrm>
          <a:prstGeom prst="roundRect">
            <a:avLst>
              <a:gd name="adj" fmla="val 2807"/>
            </a:avLst>
          </a:prstGeom>
          <a:solidFill>
            <a:srgbClr val="E8F5EF"/>
          </a:solidFill>
          <a:ln w="15875">
            <a:solidFill>
              <a:srgbClr val="00A86A"/>
            </a:solidFill>
            <a:prstDash val="solid"/>
          </a:ln>
        </p:spPr>
      </p:sp>
      <p:sp>
        <p:nvSpPr>
          <p:cNvPr id="12" name="Shape 9"/>
          <p:cNvSpPr/>
          <p:nvPr/>
        </p:nvSpPr>
        <p:spPr>
          <a:xfrm>
            <a:off x="1325880" y="1600200"/>
            <a:ext cx="868680" cy="868680"/>
          </a:xfrm>
          <a:prstGeom prst="ellipse">
            <a:avLst/>
          </a:prstGeom>
          <a:solidFill>
            <a:srgbClr val="00A86A">
              <a:alpha val="22000"/>
            </a:srgbClr>
          </a:solidFill>
          <a:ln w="12700">
            <a:solidFill>
              <a:srgbClr val="00A86A">
                <a:alpha val="0"/>
              </a:srgbClr>
            </a:solidFill>
            <a:prstDash val="solid"/>
          </a:ln>
        </p:spPr>
      </p:sp>
      <p:pic>
        <p:nvPicPr>
          <p:cNvPr id="13" name="Image 0" descr="preencoded.png">    </p:cNvPr>
          <p:cNvPicPr>
            <a:picLocks noChangeAspect="1"/>
          </p:cNvPicPr>
          <p:nvPr/>
        </p:nvPicPr>
        <p:blipFill>
          <a:blip r:embed="rId1"/>
          <a:stretch>
            <a:fillRect/>
          </a:stretch>
        </p:blipFill>
        <p:spPr>
          <a:xfrm>
            <a:off x="1534363" y="1808683"/>
            <a:ext cx="451714" cy="451714"/>
          </a:xfrm>
          <a:prstGeom prst="rect">
            <a:avLst/>
          </a:prstGeom>
        </p:spPr>
      </p:pic>
      <p:sp>
        <p:nvSpPr>
          <p:cNvPr id="14" name="Text 10"/>
          <p:cNvSpPr txBox="1"/>
          <p:nvPr/>
        </p:nvSpPr>
        <p:spPr>
          <a:xfrm>
            <a:off x="640080" y="2651760"/>
            <a:ext cx="2240280" cy="365760"/>
          </a:xfrm>
          <a:prstGeom prst="rect">
            <a:avLst/>
          </a:prstGeom>
          <a:noFill/>
          <a:ln/>
        </p:spPr>
        <p:txBody>
          <a:bodyPr wrap="square" lIns="0" tIns="0" rIns="0" bIns="0" rtlCol="0" anchor="t"/>
          <a:lstStyle/>
          <a:p>
            <a:pPr algn="ctr" indent="0" marL="0">
              <a:buNone/>
            </a:pPr>
            <a:r>
              <a:rPr lang="en-US" sz="1500" b="1" dirty="0">
                <a:solidFill>
                  <a:srgbClr val="231F20"/>
                </a:solidFill>
                <a:latin typeface="Calibri" pitchFamily="34" charset="0"/>
                <a:ea typeface="Calibri" pitchFamily="34" charset="-122"/>
                <a:cs typeface="Calibri" pitchFamily="34" charset="-120"/>
              </a:rPr>
              <a:t>Choisir le produit</a:t>
            </a:r>
            <a:endParaRPr lang="en-US" sz="1500" dirty="0"/>
          </a:p>
        </p:txBody>
      </p:sp>
      <p:sp>
        <p:nvSpPr>
          <p:cNvPr id="15" name="Text 11"/>
          <p:cNvSpPr txBox="1"/>
          <p:nvPr/>
        </p:nvSpPr>
        <p:spPr>
          <a:xfrm>
            <a:off x="658368" y="3108960"/>
            <a:ext cx="2203704" cy="1188720"/>
          </a:xfrm>
          <a:prstGeom prst="rect">
            <a:avLst/>
          </a:prstGeom>
          <a:noFill/>
          <a:ln/>
        </p:spPr>
        <p:txBody>
          <a:bodyPr wrap="square" lIns="0" tIns="0" rIns="0" bIns="0" rtlCol="0" anchor="t"/>
          <a:lstStyle/>
          <a:p>
            <a:pPr indent="0" marL="0">
              <a:buNone/>
            </a:pPr>
            <a:r>
              <a:rPr lang="en-US" sz="1150" dirty="0">
                <a:solidFill>
                  <a:srgbClr val="5E6964"/>
                </a:solidFill>
                <a:latin typeface="Calibri" pitchFamily="34" charset="0"/>
                <a:ea typeface="Calibri" pitchFamily="34" charset="-122"/>
                <a:cs typeface="Calibri" pitchFamily="34" charset="-120"/>
              </a:rPr>
              <a:t>Tendance → annuel A4 · saison → mensuel A3 · événement daté → quotidien A2. Jamais l'inverse.</a:t>
            </a:r>
            <a:endParaRPr lang="en-US" sz="1150" dirty="0"/>
          </a:p>
        </p:txBody>
      </p:sp>
      <p:sp>
        <p:nvSpPr>
          <p:cNvPr id="16" name="Shape 12"/>
          <p:cNvSpPr/>
          <p:nvPr/>
        </p:nvSpPr>
        <p:spPr>
          <a:xfrm>
            <a:off x="3246120" y="1371600"/>
            <a:ext cx="2606040" cy="3063240"/>
          </a:xfrm>
          <a:prstGeom prst="roundRect">
            <a:avLst>
              <a:gd name="adj" fmla="val 2807"/>
            </a:avLst>
          </a:prstGeom>
          <a:solidFill>
            <a:srgbClr val="F4F7F5"/>
          </a:solidFill>
          <a:ln w="9525">
            <a:solidFill>
              <a:srgbClr val="D5DED9"/>
            </a:solidFill>
            <a:prstDash val="solid"/>
          </a:ln>
        </p:spPr>
      </p:sp>
      <p:sp>
        <p:nvSpPr>
          <p:cNvPr id="17" name="Shape 13"/>
          <p:cNvSpPr/>
          <p:nvPr/>
        </p:nvSpPr>
        <p:spPr>
          <a:xfrm>
            <a:off x="4114800" y="1600200"/>
            <a:ext cx="868680" cy="868680"/>
          </a:xfrm>
          <a:prstGeom prst="ellipse">
            <a:avLst/>
          </a:prstGeom>
          <a:solidFill>
            <a:srgbClr val="00704A">
              <a:alpha val="22000"/>
            </a:srgbClr>
          </a:solidFill>
          <a:ln w="12700">
            <a:solidFill>
              <a:srgbClr val="00704A">
                <a:alpha val="0"/>
              </a:srgbClr>
            </a:solidFill>
            <a:prstDash val="solid"/>
          </a:ln>
        </p:spPr>
      </p:sp>
      <p:pic>
        <p:nvPicPr>
          <p:cNvPr id="18" name="Image 1" descr="preencoded.png">    </p:cNvPr>
          <p:cNvPicPr>
            <a:picLocks noChangeAspect="1"/>
          </p:cNvPicPr>
          <p:nvPr/>
        </p:nvPicPr>
        <p:blipFill>
          <a:blip r:embed="rId2"/>
          <a:stretch>
            <a:fillRect/>
          </a:stretch>
        </p:blipFill>
        <p:spPr>
          <a:xfrm>
            <a:off x="4323283" y="1808683"/>
            <a:ext cx="451714" cy="451714"/>
          </a:xfrm>
          <a:prstGeom prst="rect">
            <a:avLst/>
          </a:prstGeom>
        </p:spPr>
      </p:pic>
      <p:sp>
        <p:nvSpPr>
          <p:cNvPr id="19" name="Text 14"/>
          <p:cNvSpPr txBox="1"/>
          <p:nvPr/>
        </p:nvSpPr>
        <p:spPr>
          <a:xfrm>
            <a:off x="3429000" y="2651760"/>
            <a:ext cx="2240280" cy="365760"/>
          </a:xfrm>
          <a:prstGeom prst="rect">
            <a:avLst/>
          </a:prstGeom>
          <a:noFill/>
          <a:ln/>
        </p:spPr>
        <p:txBody>
          <a:bodyPr wrap="square" lIns="0" tIns="0" rIns="0" bIns="0" rtlCol="0" anchor="t"/>
          <a:lstStyle/>
          <a:p>
            <a:pPr algn="ctr" indent="0" marL="0">
              <a:buNone/>
            </a:pPr>
            <a:r>
              <a:rPr lang="en-US" sz="1500" b="1" dirty="0">
                <a:solidFill>
                  <a:srgbClr val="231F20"/>
                </a:solidFill>
                <a:latin typeface="Calibri" pitchFamily="34" charset="0"/>
                <a:ea typeface="Calibri" pitchFamily="34" charset="-122"/>
                <a:cs typeface="Calibri" pitchFamily="34" charset="-120"/>
              </a:rPr>
              <a:t>Respecter l'ordre</a:t>
            </a:r>
            <a:endParaRPr lang="en-US" sz="1500" dirty="0"/>
          </a:p>
        </p:txBody>
      </p:sp>
      <p:sp>
        <p:nvSpPr>
          <p:cNvPr id="20" name="Text 15"/>
          <p:cNvSpPr txBox="1"/>
          <p:nvPr/>
        </p:nvSpPr>
        <p:spPr>
          <a:xfrm>
            <a:off x="3447288" y="3108960"/>
            <a:ext cx="2203704" cy="1188720"/>
          </a:xfrm>
          <a:prstGeom prst="rect">
            <a:avLst/>
          </a:prstGeom>
          <a:noFill/>
          <a:ln/>
        </p:spPr>
        <p:txBody>
          <a:bodyPr wrap="square" lIns="0" tIns="0" rIns="0" bIns="0" rtlCol="0" anchor="t"/>
          <a:lstStyle/>
          <a:p>
            <a:pPr indent="0" marL="0">
              <a:buNone/>
            </a:pPr>
            <a:r>
              <a:rPr lang="en-US" sz="1150" dirty="0">
                <a:solidFill>
                  <a:srgbClr val="5E6964"/>
                </a:solidFill>
                <a:latin typeface="Calibri" pitchFamily="34" charset="0"/>
                <a:ea typeface="Calibri" pitchFamily="34" charset="-122"/>
                <a:cs typeface="Calibri" pitchFamily="34" charset="-120"/>
              </a:rPr>
              <a:t>Remplissage → NaN, qualité, eau, mosaïque, découpage. Chaque étape sautée change le chiffre en silence.</a:t>
            </a:r>
            <a:endParaRPr lang="en-US" sz="1150" dirty="0"/>
          </a:p>
        </p:txBody>
      </p:sp>
      <p:sp>
        <p:nvSpPr>
          <p:cNvPr id="21" name="Shape 16"/>
          <p:cNvSpPr/>
          <p:nvPr/>
        </p:nvSpPr>
        <p:spPr>
          <a:xfrm>
            <a:off x="6035040" y="1371600"/>
            <a:ext cx="2606040" cy="3063240"/>
          </a:xfrm>
          <a:prstGeom prst="roundRect">
            <a:avLst>
              <a:gd name="adj" fmla="val 2807"/>
            </a:avLst>
          </a:prstGeom>
          <a:solidFill>
            <a:srgbClr val="F4F7F5"/>
          </a:solidFill>
          <a:ln w="9525">
            <a:solidFill>
              <a:srgbClr val="D5DED9"/>
            </a:solidFill>
            <a:prstDash val="solid"/>
          </a:ln>
        </p:spPr>
      </p:sp>
      <p:sp>
        <p:nvSpPr>
          <p:cNvPr id="22" name="Shape 17"/>
          <p:cNvSpPr/>
          <p:nvPr/>
        </p:nvSpPr>
        <p:spPr>
          <a:xfrm>
            <a:off x="6903720" y="1600200"/>
            <a:ext cx="868680" cy="868680"/>
          </a:xfrm>
          <a:prstGeom prst="ellipse">
            <a:avLst/>
          </a:prstGeom>
          <a:solidFill>
            <a:srgbClr val="0E7C86">
              <a:alpha val="22000"/>
            </a:srgbClr>
          </a:solidFill>
          <a:ln w="12700">
            <a:solidFill>
              <a:srgbClr val="0E7C86">
                <a:alpha val="0"/>
              </a:srgbClr>
            </a:solidFill>
            <a:prstDash val="solid"/>
          </a:ln>
        </p:spPr>
      </p:sp>
      <p:pic>
        <p:nvPicPr>
          <p:cNvPr id="23" name="Image 2" descr="preencoded.png">    </p:cNvPr>
          <p:cNvPicPr>
            <a:picLocks noChangeAspect="1"/>
          </p:cNvPicPr>
          <p:nvPr/>
        </p:nvPicPr>
        <p:blipFill>
          <a:blip r:embed="rId3"/>
          <a:stretch>
            <a:fillRect/>
          </a:stretch>
        </p:blipFill>
        <p:spPr>
          <a:xfrm>
            <a:off x="7112203" y="1808683"/>
            <a:ext cx="451714" cy="451714"/>
          </a:xfrm>
          <a:prstGeom prst="rect">
            <a:avLst/>
          </a:prstGeom>
        </p:spPr>
      </p:pic>
      <p:sp>
        <p:nvSpPr>
          <p:cNvPr id="24" name="Text 18"/>
          <p:cNvSpPr txBox="1"/>
          <p:nvPr/>
        </p:nvSpPr>
        <p:spPr>
          <a:xfrm>
            <a:off x="6217920" y="2651760"/>
            <a:ext cx="2240280" cy="365760"/>
          </a:xfrm>
          <a:prstGeom prst="rect">
            <a:avLst/>
          </a:prstGeom>
          <a:noFill/>
          <a:ln/>
        </p:spPr>
        <p:txBody>
          <a:bodyPr wrap="square" lIns="0" tIns="0" rIns="0" bIns="0" rtlCol="0" anchor="t"/>
          <a:lstStyle/>
          <a:p>
            <a:pPr algn="ctr" indent="0" marL="0">
              <a:buNone/>
            </a:pPr>
            <a:r>
              <a:rPr lang="en-US" sz="1500" b="1" dirty="0">
                <a:solidFill>
                  <a:srgbClr val="231F20"/>
                </a:solidFill>
                <a:latin typeface="Calibri" pitchFamily="34" charset="0"/>
                <a:ea typeface="Calibri" pitchFamily="34" charset="-122"/>
                <a:cs typeface="Calibri" pitchFamily="34" charset="-120"/>
              </a:rPr>
              <a:t>Compléter, pas remplacer</a:t>
            </a:r>
            <a:endParaRPr lang="en-US" sz="1500" dirty="0"/>
          </a:p>
        </p:txBody>
      </p:sp>
      <p:sp>
        <p:nvSpPr>
          <p:cNvPr id="25" name="Text 19"/>
          <p:cNvSpPr txBox="1"/>
          <p:nvPr/>
        </p:nvSpPr>
        <p:spPr>
          <a:xfrm>
            <a:off x="6236208" y="3108960"/>
            <a:ext cx="2203704" cy="1188720"/>
          </a:xfrm>
          <a:prstGeom prst="rect">
            <a:avLst/>
          </a:prstGeom>
          <a:noFill/>
          <a:ln/>
        </p:spPr>
        <p:txBody>
          <a:bodyPr wrap="square" lIns="0" tIns="0" rIns="0" bIns="0" rtlCol="0" anchor="t"/>
          <a:lstStyle/>
          <a:p>
            <a:pPr indent="0" marL="0">
              <a:buNone/>
            </a:pPr>
            <a:r>
              <a:rPr lang="en-US" sz="1150" dirty="0">
                <a:solidFill>
                  <a:srgbClr val="5E6964"/>
                </a:solidFill>
                <a:latin typeface="Calibri" pitchFamily="34" charset="0"/>
                <a:ea typeface="Calibri" pitchFamily="34" charset="-122"/>
                <a:cs typeface="Calibri" pitchFamily="34" charset="-120"/>
              </a:rPr>
              <a:t>Direction, calendrier et géographie de l'activité — toujours avec la statistique officielle et des limites documentées.</a:t>
            </a:r>
            <a:endParaRPr lang="en-US" sz="115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8A9590"/>
                </a:solidFill>
                <a:latin typeface="Calibri"/>
                <a:ea typeface="Calibri"/>
                <a:cs typeface="Calibri"/>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3"/>
          <p:cNvSpPr/>
          <p:nvPr>
            <p:ph idx="105" type="body" hasCustomPrompt="1"/>
          </p:nvPr>
        </p:nvSpPr>
        <p:spPr>
          <a:xfrm>
            <a:off x="457200" y="274320"/>
            <a:ext cx="6217920" cy="256032"/>
          </a:xfrm>
          <a:prstGeom prst="rect">
            <a:avLst/>
          </a:prstGeom>
          <a:noFill/>
          <a:ln/>
        </p:spPr>
        <p:txBody>
          <a:bodyPr wrap="square" lIns="0" tIns="0" rIns="0" bIns="0" rtlCol="0" anchor="ctr"/>
          <a:lstStyle/>
          <a:p>
            <a:pPr algn="l" indent="0" marL="0">
              <a:buNone/>
            </a:pPr>
            <a:r>
              <a:rPr lang="en-US" sz="1050" b="1" spc="300" kern="0" dirty="0">
                <a:solidFill>
                  <a:srgbClr val="00704A"/>
                </a:solidFill>
                <a:latin typeface="Calibri" pitchFamily="34" charset="0"/>
                <a:ea typeface="Calibri" pitchFamily="34" charset="-122"/>
                <a:cs typeface="Calibri" pitchFamily="34" charset="-120"/>
              </a:rPr>
              <a:t>06 · SOURCES</a:t>
            </a:r>
            <a:endParaRPr lang="en-US" sz="1050" dirty="0"/>
          </a:p>
        </p:txBody>
      </p:sp>
      <p:sp>
        <p:nvSpPr>
          <p:cNvPr id="3" name="Text 3"/>
          <p:cNvSpPr/>
          <p:nvPr>
            <p:ph idx="106" type="title" hasCustomPrompt="1"/>
          </p:nvPr>
        </p:nvSpPr>
        <p:spPr>
          <a:xfrm>
            <a:off x="457200" y="548640"/>
            <a:ext cx="8229600" cy="566928"/>
          </a:xfrm>
          <a:prstGeom prst="rect">
            <a:avLst/>
          </a:prstGeom>
          <a:noFill/>
          <a:ln/>
        </p:spPr>
        <p:txBody>
          <a:bodyPr wrap="square" lIns="0" tIns="0" rIns="0" bIns="0" rtlCol="0" anchor="ctr"/>
          <a:lstStyle/>
          <a:p>
            <a:pPr algn="l" indent="0" marL="0">
              <a:buNone/>
            </a:pPr>
            <a:r>
              <a:rPr lang="en-US" sz="2800" b="1" dirty="0">
                <a:solidFill>
                  <a:srgbClr val="231F20"/>
                </a:solidFill>
                <a:latin typeface="Calibri" pitchFamily="34" charset="0"/>
                <a:ea typeface="Calibri" pitchFamily="34" charset="-122"/>
                <a:cs typeface="Calibri" pitchFamily="34" charset="-120"/>
              </a:rPr>
              <a:t>Sources et références</a:t>
            </a:r>
            <a:endParaRPr lang="en-US" sz="2800" dirty="0"/>
          </a:p>
        </p:txBody>
      </p:sp>
      <p:sp>
        <p:nvSpPr>
          <p:cNvPr id="4" name="dot0"/>
          <p:cNvSpPr/>
          <p:nvPr/>
        </p:nvSpPr>
        <p:spPr>
          <a:xfrm>
            <a:off x="7644384" y="338328"/>
            <a:ext cx="100584" cy="100584"/>
          </a:xfrm>
          <a:prstGeom prst="ellipse">
            <a:avLst/>
          </a:prstGeom>
          <a:solidFill>
            <a:srgbClr val="D5DED9"/>
          </a:solidFill>
          <a:ln w="12700">
            <a:solidFill>
              <a:srgbClr val="D5DED9"/>
            </a:solidFill>
            <a:prstDash val="solid"/>
          </a:ln>
        </p:spPr>
      </p:sp>
      <p:sp>
        <p:nvSpPr>
          <p:cNvPr id="5" name="dot1"/>
          <p:cNvSpPr/>
          <p:nvPr/>
        </p:nvSpPr>
        <p:spPr>
          <a:xfrm>
            <a:off x="7818120" y="338328"/>
            <a:ext cx="100584" cy="100584"/>
          </a:xfrm>
          <a:prstGeom prst="ellipse">
            <a:avLst/>
          </a:prstGeom>
          <a:solidFill>
            <a:srgbClr val="D5DED9"/>
          </a:solidFill>
          <a:ln w="12700">
            <a:solidFill>
              <a:srgbClr val="D5DED9"/>
            </a:solidFill>
            <a:prstDash val="solid"/>
          </a:ln>
        </p:spPr>
      </p:sp>
      <p:sp>
        <p:nvSpPr>
          <p:cNvPr id="6" name="dot2"/>
          <p:cNvSpPr/>
          <p:nvPr/>
        </p:nvSpPr>
        <p:spPr>
          <a:xfrm>
            <a:off x="7991856" y="338328"/>
            <a:ext cx="100584" cy="100584"/>
          </a:xfrm>
          <a:prstGeom prst="ellipse">
            <a:avLst/>
          </a:prstGeom>
          <a:solidFill>
            <a:srgbClr val="D5DED9"/>
          </a:solidFill>
          <a:ln w="12700">
            <a:solidFill>
              <a:srgbClr val="D5DED9"/>
            </a:solidFill>
            <a:prstDash val="solid"/>
          </a:ln>
        </p:spPr>
      </p:sp>
      <p:sp>
        <p:nvSpPr>
          <p:cNvPr id="7" name="dot3"/>
          <p:cNvSpPr/>
          <p:nvPr/>
        </p:nvSpPr>
        <p:spPr>
          <a:xfrm>
            <a:off x="8165592" y="338328"/>
            <a:ext cx="100584" cy="100584"/>
          </a:xfrm>
          <a:prstGeom prst="ellipse">
            <a:avLst/>
          </a:prstGeom>
          <a:solidFill>
            <a:srgbClr val="D5DED9"/>
          </a:solidFill>
          <a:ln w="12700">
            <a:solidFill>
              <a:srgbClr val="D5DED9"/>
            </a:solidFill>
            <a:prstDash val="solid"/>
          </a:ln>
        </p:spPr>
      </p:sp>
      <p:sp>
        <p:nvSpPr>
          <p:cNvPr id="8" name="dot4"/>
          <p:cNvSpPr/>
          <p:nvPr/>
        </p:nvSpPr>
        <p:spPr>
          <a:xfrm>
            <a:off x="8339328" y="338328"/>
            <a:ext cx="100584" cy="100584"/>
          </a:xfrm>
          <a:prstGeom prst="ellipse">
            <a:avLst/>
          </a:prstGeom>
          <a:solidFill>
            <a:srgbClr val="D5DED9"/>
          </a:solidFill>
          <a:ln w="12700">
            <a:solidFill>
              <a:srgbClr val="D5DED9"/>
            </a:solidFill>
            <a:prstDash val="solid"/>
          </a:ln>
        </p:spPr>
      </p:sp>
      <p:sp>
        <p:nvSpPr>
          <p:cNvPr id="9" name="dot5"/>
          <p:cNvSpPr/>
          <p:nvPr/>
        </p:nvSpPr>
        <p:spPr>
          <a:xfrm>
            <a:off x="8513064" y="338328"/>
            <a:ext cx="100584" cy="100584"/>
          </a:xfrm>
          <a:prstGeom prst="ellipse">
            <a:avLst/>
          </a:prstGeom>
          <a:solidFill>
            <a:srgbClr val="B83B2E"/>
          </a:solidFill>
          <a:ln w="12700">
            <a:solidFill>
              <a:srgbClr val="B83B2E"/>
            </a:solidFill>
            <a:prstDash val="solid"/>
          </a:ln>
        </p:spPr>
      </p:sp>
      <p:sp>
        <p:nvSpPr>
          <p:cNvPr id="11" name="Shape 8"/>
          <p:cNvSpPr/>
          <p:nvPr/>
        </p:nvSpPr>
        <p:spPr>
          <a:xfrm>
            <a:off x="457200" y="1371600"/>
            <a:ext cx="4023360" cy="3108960"/>
          </a:xfrm>
          <a:prstGeom prst="roundRect">
            <a:avLst>
              <a:gd name="adj" fmla="val 2353"/>
            </a:avLst>
          </a:prstGeom>
          <a:solidFill>
            <a:srgbClr val="F4F7F5"/>
          </a:solidFill>
          <a:ln w="9525">
            <a:solidFill>
              <a:srgbClr val="D5DED9"/>
            </a:solidFill>
            <a:prstDash val="solid"/>
          </a:ln>
        </p:spPr>
      </p:sp>
      <p:sp>
        <p:nvSpPr>
          <p:cNvPr id="12" name="Text 9"/>
          <p:cNvSpPr txBox="1"/>
          <p:nvPr/>
        </p:nvSpPr>
        <p:spPr>
          <a:xfrm>
            <a:off x="621792" y="1481328"/>
            <a:ext cx="3703320" cy="2926080"/>
          </a:xfrm>
          <a:prstGeom prst="rect">
            <a:avLst/>
          </a:prstGeom>
          <a:noFill/>
          <a:ln/>
        </p:spPr>
        <p:txBody>
          <a:bodyPr wrap="square" lIns="0" tIns="0" rIns="0" bIns="0" rtlCol="0" anchor="t"/>
          <a:lstStyle/>
          <a:p>
            <a:pPr marL="171450" indent="-171450">
              <a:spcAft>
                <a:spcPts val="500"/>
              </a:spcAft>
              <a:buSzPct val="100000"/>
              <a:buChar char="•"/>
            </a:pPr>
            <a:r>
              <a:rPr lang="en-US" sz="950" dirty="0">
                <a:solidFill>
                  <a:srgbClr val="231F20"/>
                </a:solidFill>
                <a:latin typeface="Calibri" pitchFamily="34" charset="0"/>
                <a:ea typeface="Calibri" pitchFamily="34" charset="-122"/>
                <a:cs typeface="Calibri" pitchFamily="34" charset="-120"/>
              </a:rPr>
              <a:t>Román, M. O. et al. (2018). NASA's Black Marble nighttime lights product suite. Remote Sensing of Environment 210, 113–143.</a:t>
            </a:r>
            <a:endParaRPr lang="en-US" sz="950" dirty="0"/>
          </a:p>
          <a:p>
            <a:pPr marL="171450" indent="-171450">
              <a:spcAft>
                <a:spcPts val="500"/>
              </a:spcAft>
              <a:buSzPct val="100000"/>
              <a:buChar char="•"/>
            </a:pPr>
            <a:r>
              <a:rPr lang="en-US" sz="950" dirty="0">
                <a:solidFill>
                  <a:srgbClr val="231F20"/>
                </a:solidFill>
                <a:latin typeface="Calibri" pitchFamily="34" charset="0"/>
                <a:ea typeface="Calibri" pitchFamily="34" charset="-122"/>
                <a:cs typeface="Calibri" pitchFamily="34" charset="-120"/>
              </a:rPr>
              <a:t>NASA (2025). Black Marble User Guide, Collection 2.0. LAADS DAAC / Earthdata.</a:t>
            </a:r>
            <a:endParaRPr lang="en-US" sz="950" dirty="0"/>
          </a:p>
          <a:p>
            <a:pPr marL="171450" indent="-171450">
              <a:spcAft>
                <a:spcPts val="500"/>
              </a:spcAft>
              <a:buSzPct val="100000"/>
              <a:buChar char="•"/>
            </a:pPr>
            <a:r>
              <a:rPr lang="en-US" sz="950" dirty="0">
                <a:solidFill>
                  <a:srgbClr val="231F20"/>
                </a:solidFill>
                <a:latin typeface="Calibri" pitchFamily="34" charset="0"/>
                <a:ea typeface="Calibri" pitchFamily="34" charset="-122"/>
                <a:cs typeface="Calibri" pitchFamily="34" charset="-120"/>
              </a:rPr>
              <a:t>Elvidge, C. D. et al. (2017). VIIRS night-time lights. Int. J. Remote Sensing 38(21).</a:t>
            </a:r>
            <a:endParaRPr lang="en-US" sz="950" dirty="0"/>
          </a:p>
          <a:p>
            <a:pPr marL="171450" indent="-171450">
              <a:spcAft>
                <a:spcPts val="500"/>
              </a:spcAft>
              <a:buSzPct val="100000"/>
              <a:buChar char="•"/>
            </a:pPr>
            <a:r>
              <a:rPr lang="en-US" sz="950" dirty="0">
                <a:solidFill>
                  <a:srgbClr val="231F20"/>
                </a:solidFill>
                <a:latin typeface="Calibri" pitchFamily="34" charset="0"/>
                <a:ea typeface="Calibri" pitchFamily="34" charset="-122"/>
                <a:cs typeface="Calibri" pitchFamily="34" charset="-120"/>
              </a:rPr>
              <a:t>Elvidge, C. D. et al. (2021). Annual time series of global VIIRS nighttime lights. Remote Sensing 13(5).</a:t>
            </a:r>
            <a:endParaRPr lang="en-US" sz="950" dirty="0"/>
          </a:p>
          <a:p>
            <a:pPr marL="171450" indent="-171450">
              <a:spcAft>
                <a:spcPts val="500"/>
              </a:spcAft>
              <a:buSzPct val="100000"/>
              <a:buChar char="•"/>
            </a:pPr>
            <a:r>
              <a:rPr lang="en-US" sz="950" dirty="0">
                <a:solidFill>
                  <a:srgbClr val="231F20"/>
                </a:solidFill>
                <a:latin typeface="Calibri" pitchFamily="34" charset="0"/>
                <a:ea typeface="Calibri" pitchFamily="34" charset="-122"/>
                <a:cs typeface="Calibri" pitchFamily="34" charset="-120"/>
              </a:rPr>
              <a:t>Li, X. et al. (2020). A harmonized global nighttime light dataset 1992–2018. Scientific Data 7.</a:t>
            </a:r>
            <a:endParaRPr lang="en-US" sz="950" dirty="0"/>
          </a:p>
          <a:p>
            <a:pPr marL="171450" indent="-171450">
              <a:spcAft>
                <a:spcPts val="500"/>
              </a:spcAft>
              <a:buSzPct val="100000"/>
              <a:buChar char="•"/>
            </a:pPr>
            <a:r>
              <a:rPr lang="en-US" sz="950" dirty="0">
                <a:solidFill>
                  <a:srgbClr val="231F20"/>
                </a:solidFill>
                <a:latin typeface="Calibri" pitchFamily="34" charset="0"/>
                <a:ea typeface="Calibri" pitchFamily="34" charset="-122"/>
                <a:cs typeface="Calibri" pitchFamily="34" charset="-120"/>
              </a:rPr>
              <a:t>Henderson, J. V., Storeygard, A., Weil, D. N. (2012). Measuring economic growth from outer space. AER 102(2).</a:t>
            </a:r>
            <a:endParaRPr lang="en-US" sz="950" dirty="0"/>
          </a:p>
        </p:txBody>
      </p:sp>
      <p:sp>
        <p:nvSpPr>
          <p:cNvPr id="13" name="Shape 10"/>
          <p:cNvSpPr/>
          <p:nvPr/>
        </p:nvSpPr>
        <p:spPr>
          <a:xfrm>
            <a:off x="4663440" y="1371600"/>
            <a:ext cx="4023360" cy="3108960"/>
          </a:xfrm>
          <a:prstGeom prst="roundRect">
            <a:avLst>
              <a:gd name="adj" fmla="val 2353"/>
            </a:avLst>
          </a:prstGeom>
          <a:solidFill>
            <a:srgbClr val="F4F7F5"/>
          </a:solidFill>
          <a:ln w="9525">
            <a:solidFill>
              <a:srgbClr val="D5DED9"/>
            </a:solidFill>
            <a:prstDash val="solid"/>
          </a:ln>
        </p:spPr>
      </p:sp>
      <p:sp>
        <p:nvSpPr>
          <p:cNvPr id="14" name="Text 11"/>
          <p:cNvSpPr txBox="1"/>
          <p:nvPr/>
        </p:nvSpPr>
        <p:spPr>
          <a:xfrm>
            <a:off x="4828032" y="1481328"/>
            <a:ext cx="3703320" cy="2926080"/>
          </a:xfrm>
          <a:prstGeom prst="rect">
            <a:avLst/>
          </a:prstGeom>
          <a:noFill/>
          <a:ln/>
        </p:spPr>
        <p:txBody>
          <a:bodyPr wrap="square" lIns="0" tIns="0" rIns="0" bIns="0" rtlCol="0" anchor="t"/>
          <a:lstStyle/>
          <a:p>
            <a:pPr marL="171450" indent="-171450">
              <a:spcAft>
                <a:spcPts val="500"/>
              </a:spcAft>
              <a:buSzPct val="100000"/>
              <a:buChar char="•"/>
            </a:pPr>
            <a:r>
              <a:rPr lang="en-US" sz="950" dirty="0">
                <a:solidFill>
                  <a:srgbClr val="231F20"/>
                </a:solidFill>
                <a:latin typeface="Calibri" pitchFamily="34" charset="0"/>
                <a:ea typeface="Calibri" pitchFamily="34" charset="-122"/>
                <a:cs typeface="Calibri" pitchFamily="34" charset="-120"/>
              </a:rPr>
              <a:t>Chen, X., Nordhaus, W. D. (2011). Using luminosity data as a proxy for economic statistics. PNAS 108(21).</a:t>
            </a:r>
            <a:endParaRPr lang="en-US" sz="950" dirty="0"/>
          </a:p>
          <a:p>
            <a:pPr marL="171450" indent="-171450">
              <a:spcAft>
                <a:spcPts val="500"/>
              </a:spcAft>
              <a:buSzPct val="100000"/>
              <a:buChar char="•"/>
            </a:pPr>
            <a:r>
              <a:rPr lang="en-US" sz="950" dirty="0">
                <a:solidFill>
                  <a:srgbClr val="231F20"/>
                </a:solidFill>
                <a:latin typeface="Calibri" pitchFamily="34" charset="0"/>
                <a:ea typeface="Calibri" pitchFamily="34" charset="-122"/>
                <a:cs typeface="Calibri" pitchFamily="34" charset="-120"/>
              </a:rPr>
              <a:t>Gibson, J. et al. (2021). Which night lights data should we use in economics, and where? JDE 149.</a:t>
            </a:r>
            <a:endParaRPr lang="en-US" sz="950" dirty="0"/>
          </a:p>
          <a:p>
            <a:pPr marL="171450" indent="-171450">
              <a:spcAft>
                <a:spcPts val="500"/>
              </a:spcAft>
              <a:buSzPct val="100000"/>
              <a:buChar char="•"/>
            </a:pPr>
            <a:r>
              <a:rPr lang="en-US" sz="950" dirty="0">
                <a:solidFill>
                  <a:srgbClr val="231F20"/>
                </a:solidFill>
                <a:latin typeface="Calibri" pitchFamily="34" charset="0"/>
                <a:ea typeface="Calibri" pitchFamily="34" charset="-122"/>
                <a:cs typeface="Calibri" pitchFamily="34" charset="-120"/>
              </a:rPr>
              <a:t>Cleveland, R. B. et al. (1990). STL: a seasonal-trend decomposition procedure based on Loess. JOS 6(1).</a:t>
            </a:r>
            <a:endParaRPr lang="en-US" sz="950" dirty="0"/>
          </a:p>
          <a:p>
            <a:pPr marL="171450" indent="-171450">
              <a:spcAft>
                <a:spcPts val="500"/>
              </a:spcAft>
              <a:buSzPct val="100000"/>
              <a:buChar char="•"/>
            </a:pPr>
            <a:r>
              <a:rPr lang="en-US" sz="950" dirty="0">
                <a:solidFill>
                  <a:srgbClr val="231F20"/>
                </a:solidFill>
                <a:latin typeface="Calibri" pitchFamily="34" charset="0"/>
                <a:ea typeface="Calibri" pitchFamily="34" charset="-122"/>
                <a:cs typeface="Calibri" pitchFamily="34" charset="-120"/>
              </a:rPr>
              <a:t>Schiavina, M. et al. (2023). GHS-POP R2023A; Pesaresi, M. et al. (2023). GHS-BUILT-S R2023A. JRC.</a:t>
            </a:r>
            <a:endParaRPr lang="en-US" sz="950" dirty="0"/>
          </a:p>
          <a:p>
            <a:pPr marL="171450" indent="-171450">
              <a:spcAft>
                <a:spcPts val="500"/>
              </a:spcAft>
              <a:buSzPct val="100000"/>
              <a:buChar char="•"/>
            </a:pPr>
            <a:r>
              <a:rPr lang="en-US" sz="950" dirty="0">
                <a:solidFill>
                  <a:srgbClr val="231F20"/>
                </a:solidFill>
                <a:latin typeface="Calibri" pitchFamily="34" charset="0"/>
                <a:ea typeface="Calibri" pitchFamily="34" charset="-122"/>
                <a:cs typeface="Calibri" pitchFamily="34" charset="-120"/>
              </a:rPr>
              <a:t>Runfola, D. et al. (2020). geoBoundaries. PLoS ONE 15(4) · Natural Earth (public domain).</a:t>
            </a:r>
            <a:endParaRPr lang="en-US" sz="950" dirty="0"/>
          </a:p>
          <a:p>
            <a:pPr marL="171450" indent="-171450">
              <a:spcAft>
                <a:spcPts val="500"/>
              </a:spcAft>
              <a:buSzPct val="100000"/>
              <a:buChar char="•"/>
            </a:pPr>
            <a:r>
              <a:rPr lang="en-US" sz="950" dirty="0">
                <a:solidFill>
                  <a:srgbClr val="231F20"/>
                </a:solidFill>
                <a:latin typeface="Calibri" pitchFamily="34" charset="0"/>
                <a:ea typeface="Calibri" pitchFamily="34" charset="-122"/>
                <a:cs typeface="Calibri" pitchFamily="34" charset="-120"/>
              </a:rPr>
              <a:t>Banque mondiale, World Development Indicators · ESA WorldCover 2021 · Copernicus Sentinel-5P · contributeurs OpenStreetMap.</a:t>
            </a:r>
            <a:endParaRPr lang="en-US" sz="950" dirty="0"/>
          </a:p>
        </p:txBody>
      </p:sp>
      <p:sp>
        <p:nvSpPr>
          <p:cNvPr id="15" name="Text 12"/>
          <p:cNvSpPr txBox="1"/>
          <p:nvPr/>
        </p:nvSpPr>
        <p:spPr>
          <a:xfrm>
            <a:off x="457200" y="4553712"/>
            <a:ext cx="7223760" cy="219456"/>
          </a:xfrm>
          <a:prstGeom prst="rect">
            <a:avLst/>
          </a:prstGeom>
          <a:noFill/>
          <a:ln/>
        </p:spPr>
        <p:txBody>
          <a:bodyPr wrap="square" lIns="0" tIns="0" rIns="0" bIns="0" rtlCol="0" anchor="ctr"/>
          <a:lstStyle/>
          <a:p>
            <a:pPr indent="0" marL="0">
              <a:buNone/>
            </a:pPr>
            <a:r>
              <a:rPr lang="en-US" sz="900" i="1" dirty="0">
                <a:solidFill>
                  <a:srgbClr val="5E6964"/>
                </a:solidFill>
                <a:latin typeface="Calibri" pitchFamily="34" charset="0"/>
                <a:ea typeface="Calibri" pitchFamily="34" charset="-122"/>
                <a:cs typeface="Calibri" pitchFamily="34" charset="-120"/>
              </a:rPr>
              <a:t>Contenu : CC BY 4.0 · Code : MIT · Toute réutilisation doit citer « Source : AfDB-DI4A »</a:t>
            </a:r>
            <a:endParaRPr lang="en-US" sz="9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8A9590"/>
                </a:solidFill>
                <a:latin typeface="Calibri"/>
                <a:ea typeface="Calibri"/>
                <a:cs typeface="Calibri"/>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txBox="1"/>
          <p:nvPr/>
        </p:nvSpPr>
        <p:spPr>
          <a:xfrm>
            <a:off x="548640" y="1005840"/>
            <a:ext cx="8046720" cy="274320"/>
          </a:xfrm>
          <a:prstGeom prst="rect">
            <a:avLst/>
          </a:prstGeom>
          <a:noFill/>
          <a:ln/>
        </p:spPr>
        <p:txBody>
          <a:bodyPr wrap="square" lIns="0" tIns="0" rIns="0" bIns="0" rtlCol="0" anchor="t"/>
          <a:lstStyle/>
          <a:p>
            <a:pPr indent="0" marL="0">
              <a:buNone/>
            </a:pPr>
            <a:r>
              <a:rPr lang="en-US" sz="1100" b="1" spc="300" kern="0" dirty="0">
                <a:solidFill>
                  <a:srgbClr val="F5C242"/>
                </a:solidFill>
                <a:latin typeface="Calibri" pitchFamily="34" charset="0"/>
                <a:ea typeface="Calibri" pitchFamily="34" charset="-122"/>
                <a:cs typeface="Calibri" pitchFamily="34" charset="-120"/>
              </a:rPr>
              <a:t>BAD  ×  INNOVATION DES DONNÉES POUR L’AFRIQUE (DI4A)</a:t>
            </a:r>
            <a:endParaRPr lang="en-US" sz="1100" dirty="0"/>
          </a:p>
        </p:txBody>
      </p:sp>
      <p:sp>
        <p:nvSpPr>
          <p:cNvPr id="3" name="Text 1"/>
          <p:cNvSpPr txBox="1"/>
          <p:nvPr/>
        </p:nvSpPr>
        <p:spPr>
          <a:xfrm>
            <a:off x="548640" y="1417320"/>
            <a:ext cx="8046720" cy="1371600"/>
          </a:xfrm>
          <a:prstGeom prst="rect">
            <a:avLst/>
          </a:prstGeom>
          <a:noFill/>
          <a:ln/>
        </p:spPr>
        <p:txBody>
          <a:bodyPr wrap="square" lIns="0" tIns="0" rIns="0" bIns="0" rtlCol="0" anchor="t"/>
          <a:lstStyle/>
          <a:p>
            <a:pPr indent="0" marL="0">
              <a:buNone/>
            </a:pPr>
            <a:r>
              <a:rPr lang="en-US" sz="4000" b="1" dirty="0">
                <a:solidFill>
                  <a:srgbClr val="FFFFFF"/>
                </a:solidFill>
                <a:latin typeface="Calibri" pitchFamily="34" charset="0"/>
                <a:ea typeface="Calibri" pitchFamily="34" charset="-122"/>
                <a:cs typeface="Calibri" pitchFamily="34" charset="-120"/>
              </a:rPr>
              <a:t>Un code ISO3 en entrée,</a:t>
            </a:r>
            <a:endParaRPr lang="en-US" sz="4000" dirty="0"/>
          </a:p>
          <a:p>
            <a:pPr indent="0" marL="0">
              <a:buNone/>
            </a:pPr>
            <a:r>
              <a:rPr lang="en-US" sz="4000" b="1" dirty="0">
                <a:solidFill>
                  <a:srgbClr val="FFFFFF"/>
                </a:solidFill>
                <a:latin typeface="Calibri" pitchFamily="34" charset="0"/>
                <a:ea typeface="Calibri" pitchFamily="34" charset="-122"/>
                <a:cs typeface="Calibri" pitchFamily="34" charset="-120"/>
              </a:rPr>
              <a:t>un tableau de bord en sortie</a:t>
            </a:r>
            <a:endParaRPr lang="en-US" sz="4000" dirty="0"/>
          </a:p>
        </p:txBody>
      </p:sp>
      <p:sp>
        <p:nvSpPr>
          <p:cNvPr id="4" name="Text 2"/>
          <p:cNvSpPr txBox="1"/>
          <p:nvPr/>
        </p:nvSpPr>
        <p:spPr>
          <a:xfrm>
            <a:off x="548640" y="2880360"/>
            <a:ext cx="6400800" cy="411480"/>
          </a:xfrm>
          <a:prstGeom prst="rect">
            <a:avLst/>
          </a:prstGeom>
          <a:noFill/>
          <a:ln/>
        </p:spPr>
        <p:txBody>
          <a:bodyPr wrap="square" lIns="0" tIns="0" rIns="0" bIns="0" rtlCol="0" anchor="t"/>
          <a:lstStyle/>
          <a:p>
            <a:pPr indent="0" marL="0">
              <a:buNone/>
            </a:pPr>
            <a:r>
              <a:rPr lang="en-US" sz="1800" i="1" dirty="0">
                <a:solidFill>
                  <a:srgbClr val="E6F6EE"/>
                </a:solidFill>
                <a:latin typeface="Calibri" pitchFamily="34" charset="0"/>
                <a:ea typeface="Calibri" pitchFamily="34" charset="-122"/>
                <a:cs typeface="Calibri" pitchFamily="34" charset="-120"/>
              </a:rPr>
              <a:t>Collecter · Explorer et comprendre · Analyser et publier</a:t>
            </a:r>
            <a:endParaRPr lang="en-US" sz="1800" dirty="0"/>
          </a:p>
        </p:txBody>
      </p:sp>
      <p:sp>
        <p:nvSpPr>
          <p:cNvPr id="5" name="Text 3"/>
          <p:cNvSpPr txBox="1"/>
          <p:nvPr/>
        </p:nvSpPr>
        <p:spPr>
          <a:xfrm>
            <a:off x="548640" y="4206240"/>
            <a:ext cx="8046720" cy="274320"/>
          </a:xfrm>
          <a:prstGeom prst="rect">
            <a:avLst/>
          </a:prstGeom>
          <a:noFill/>
          <a:ln/>
        </p:spPr>
        <p:txBody>
          <a:bodyPr wrap="square" lIns="0" tIns="0" rIns="0" bIns="0" rtlCol="0" anchor="t"/>
          <a:lstStyle/>
          <a:p>
            <a:pPr indent="0" marL="0">
              <a:buNone/>
            </a:pPr>
            <a:r>
              <a:rPr lang="en-US" sz="1000" dirty="0">
                <a:solidFill>
                  <a:srgbClr val="F5C242"/>
                </a:solidFill>
                <a:latin typeface="Calibri" pitchFamily="34" charset="0"/>
                <a:ea typeface="Calibri" pitchFamily="34" charset="-122"/>
                <a:cs typeface="Calibri" pitchFamily="34" charset="-120"/>
              </a:rPr>
              <a:t>© 2026 BAD – DI4A · CC BY 4.0 (contenu) · MIT (code) · Toute réutilisation doit citer « Source : AfDB-DI4A »</a:t>
            </a:r>
            <a:endParaRPr lang="en-US" sz="1000" dirty="0"/>
          </a:p>
        </p:txBody>
      </p:sp>
      <p:sp>
        <p:nvSpPr>
          <p:cNvPr id="206" name="Logo Pill"/>
          <p:cNvSpPr/>
          <p:nvPr/>
        </p:nvSpPr>
        <p:spPr>
          <a:xfrm>
            <a:off x="548640" y="3520440"/>
            <a:ext cx="2788920" cy="566928"/>
          </a:xfrm>
          <a:prstGeom prst="roundRect">
            <a:avLst>
              <a:gd name="adj" fmla="val 50000"/>
            </a:avLst>
          </a:prstGeom>
          <a:solidFill>
            <a:srgbClr val="FFFFFF"/>
          </a:solidFill>
          <a:ln>
            <a:noFill/>
          </a:ln>
        </p:spPr>
        <p:txBody>
          <a:bodyPr rtlCol="0" anchor="ctr"/>
          <a:lstStyle/>
          <a:p>
            <a:endParaRPr lang="en-US"/>
          </a:p>
        </p:txBody>
      </p:sp>
      <p:pic>
        <p:nvPicPr>
          <p:cNvPr id="207" name="AfDB Logo" descr="African Development Bank Group logo"/>
          <p:cNvPicPr>
            <a:picLocks noChangeAspect="1"/>
          </p:cNvPicPr>
          <p:nvPr/>
        </p:nvPicPr>
        <p:blipFill>
          <a:blip r:embed="rId4"/>
          <a:stretch>
            <a:fillRect/>
          </a:stretch>
        </p:blipFill>
        <p:spPr>
          <a:xfrm>
            <a:off x="749808" y="3639312"/>
            <a:ext cx="1367816" cy="329184"/>
          </a:xfrm>
          <a:prstGeom prst="rect">
            <a:avLst/>
          </a:prstGeom>
        </p:spPr>
      </p:pic>
      <p:sp>
        <p:nvSpPr>
          <p:cNvPr id="208" name="Logo Divider"/>
          <p:cNvSpPr/>
          <p:nvPr/>
        </p:nvSpPr>
        <p:spPr>
          <a:xfrm>
            <a:off x="2300504" y="3630168"/>
            <a:ext cx="9525" cy="347472"/>
          </a:xfrm>
          <a:prstGeom prst="rect">
            <a:avLst/>
          </a:prstGeom>
          <a:solidFill>
            <a:srgbClr val="D5DED9"/>
          </a:solidFill>
          <a:ln>
            <a:noFill/>
          </a:ln>
        </p:spPr>
        <p:txBody>
          <a:bodyPr rtlCol="0" anchor="ctr"/>
          <a:lstStyle/>
          <a:p>
            <a:endParaRPr lang="en-US"/>
          </a:p>
        </p:txBody>
      </p:sp>
      <p:pic>
        <p:nvPicPr>
          <p:cNvPr id="209" name="DI4A Logo" descr="Data Innovation for Africa logo"/>
          <p:cNvPicPr>
            <a:picLocks noChangeAspect="1"/>
          </p:cNvPicPr>
          <p:nvPr/>
        </p:nvPicPr>
        <p:blipFill>
          <a:blip r:embed="rId5"/>
          <a:stretch>
            <a:fillRect/>
          </a:stretch>
        </p:blipFill>
        <p:spPr>
          <a:xfrm>
            <a:off x="2587752" y="3566160"/>
            <a:ext cx="475488" cy="475488"/>
          </a:xfrm>
          <a:prstGeom prst="rect">
            <a:avLst/>
          </a:prstGeom>
        </p:spPr>
      </p:pic>
      <p:sp>
        <p:nvSpPr>
          <p:cNvPr id="211" name="Medallion Ring"/>
          <p:cNvSpPr/>
          <p:nvPr/>
        </p:nvSpPr>
        <p:spPr>
          <a:xfrm>
            <a:off x="6839711" y="2157984"/>
            <a:ext cx="2084832" cy="2084832"/>
          </a:xfrm>
          <a:prstGeom prst="ellipse">
            <a:avLst/>
          </a:prstGeom>
          <a:noFill/>
          <a:ln w="9525">
            <a:solidFill>
              <a:srgbClr val="FFFFFF">
                <a:alpha val="28000"/>
              </a:srgbClr>
            </a:solidFill>
          </a:ln>
        </p:spPr>
        <p:txBody>
          <a:bodyPr rtlCol="0" anchor="ctr"/>
          <a:lstStyle/>
          <a:p>
            <a:endParaRPr lang="en-US"/>
          </a:p>
        </p:txBody>
      </p:sp>
      <p:sp>
        <p:nvSpPr>
          <p:cNvPr id="212" name="Medallion Ring"/>
          <p:cNvSpPr/>
          <p:nvPr/>
        </p:nvSpPr>
        <p:spPr>
          <a:xfrm>
            <a:off x="6967727" y="2286000"/>
            <a:ext cx="1828800" cy="1828800"/>
          </a:xfrm>
          <a:prstGeom prst="ellipse">
            <a:avLst/>
          </a:prstGeom>
          <a:noFill/>
          <a:ln w="19050">
            <a:solidFill>
              <a:srgbClr val="FFFFFF">
                <a:alpha val="50000"/>
              </a:srgbClr>
            </a:solidFill>
          </a:ln>
        </p:spPr>
        <p:txBody>
          <a:bodyPr rtlCol="0" anchor="ctr"/>
          <a:lstStyle/>
          <a:p>
            <a:endParaRPr lang="en-US"/>
          </a:p>
        </p:txBody>
      </p:sp>
      <p:pic>
        <p:nvPicPr>
          <p:cNvPr id="213" name="Robot Medallion" descr="DI4A robot mascot"/>
          <p:cNvPicPr>
            <a:picLocks noChangeAspect="1"/>
          </p:cNvPicPr>
          <p:nvPr/>
        </p:nvPicPr>
        <p:blipFill>
          <a:blip r:embed="rId3"/>
          <a:stretch>
            <a:fillRect/>
          </a:stretch>
        </p:blipFill>
        <p:spPr>
          <a:xfrm>
            <a:off x="7059167" y="2377440"/>
            <a:ext cx="1645920" cy="1645920"/>
          </a:xfrm>
          <a:prstGeom prst="rect">
            <a:avLst/>
          </a:prstGeom>
        </p:spPr>
      </p:pic>
    </p:spTree>
  </p:cSld>
  <p:clrMapOvr>
    <a:masterClrMapping/>
  </p:clrMapOvr>
</p:sld>
</file>

<file path=ppt/theme/theme1.xml><?xml version="1.0" encoding="utf-8"?>
<a:theme xmlns:a="http://schemas.openxmlformats.org/drawingml/2006/main" name="AfDB DI4A Night-time lights">
  <a:themeElements>
    <a:clrScheme name="AfDB DI4A Night-time lights">
      <a:dk1>
        <a:srgbClr val="231F20"/>
      </a:dk1>
      <a:lt1>
        <a:srgbClr val="FFFFFF"/>
      </a:lt1>
      <a:dk2>
        <a:srgbClr val="00553A"/>
      </a:dk2>
      <a:lt2>
        <a:srgbClr val="F4F7F5"/>
      </a:lt2>
      <a:accent1>
        <a:srgbClr val="00A86A"/>
      </a:accent1>
      <a:accent2>
        <a:srgbClr val="00704A"/>
      </a:accent2>
      <a:accent3>
        <a:srgbClr val="0E7C86"/>
      </a:accent3>
      <a:accent4>
        <a:srgbClr val="D49A00"/>
      </a:accent4>
      <a:accent5>
        <a:srgbClr val="C4621D"/>
      </a:accent5>
      <a:accent6>
        <a:srgbClr val="B83B2E"/>
      </a:accent6>
      <a:hlink>
        <a:srgbClr val="00704A"/>
      </a:hlink>
      <a:folHlink>
        <a:srgbClr val="0E7C86"/>
      </a:folHlink>
    </a:clrScheme>
    <a:fontScheme name="AfDB DI4A Night-time lights">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48</Slides>
  <Notes>48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48</vt:i4>
      </vt:variant>
    </vt:vector>
  </HeadingPairs>
  <TitlesOfParts>
    <vt:vector size="5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vector>
  </TitlesOfParts>
  <Company>AfDB-DI4A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Lumières nocturnes : du satellite à la statistique</dc:title>
  <dc:subject>PptxGenJS Presentation</dc:subject>
  <dc:creator>AfDB-DI4A</dc:creator>
  <cp:lastModifiedBy>AfDB-DI4A</cp:lastModifiedBy>
  <cp:revision>1</cp:revision>
  <dcterms:created xsi:type="dcterms:W3CDTF">2026-10-26T03:13:03Z</dcterms:created>
  <dcterms:modified xsi:type="dcterms:W3CDTF">2026-10-26T03:13:03Z</dcterms:modified>
</cp:coreProperties>
</file>