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3" r:id="rId23"/>
    <p:sldId id="284" r:id="rId24"/>
    <p:sldId id="285" r:id="rId25"/>
    <p:sldId id="286" r:id="rId26"/>
    <p:sldId id="287" r:id="rId27"/>
    <p:sldId id="289" r:id="rId28"/>
    <p:sldId id="290" r:id="rId29"/>
    <p:sldId id="291"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0900" autoAdjust="0"/>
  </p:normalViewPr>
  <p:slideViewPr>
    <p:cSldViewPr snapToGrid="0" snapToObjects="1">
      <p:cViewPr varScale="1">
        <p:scale>
          <a:sx n="79" d="100"/>
          <a:sy n="79" d="100"/>
        </p:scale>
        <p:origin x="92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Sensor response as surface brightness rises (schematic)</a:t>
            </a:r>
          </a:p>
        </c:rich>
      </c:tx>
      <c:overlay val="0"/>
    </c:title>
    <c:autoTitleDeleted val="0"/>
    <c:plotArea>
      <c:layout/>
      <c:lineChart>
        <c:grouping val="standard"/>
        <c:varyColors val="0"/>
        <c:ser>
          <c:idx val="0"/>
          <c:order val="0"/>
          <c:tx>
            <c:strRef>
              <c:f>Sheet1!$B$1</c:f>
              <c:strCache>
                <c:ptCount val="1"/>
                <c:pt idx="0">
                  <c:v>DMSP-OLS (6-bit)</c:v>
                </c:pt>
              </c:strCache>
            </c:strRef>
          </c:tx>
          <c:spPr>
            <a:ln w="31750" cap="flat">
              <a:solidFill>
                <a:srgbClr val="A9B5B0"/>
              </a:solidFill>
              <a:prstDash val="solid"/>
              <a:round/>
            </a:ln>
            <a:effectLst/>
          </c:spPr>
          <c:marker>
            <c:symbol val="none"/>
          </c:marke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Sheet1!$B$2:$B$15</c:f>
              <c:numCache>
                <c:formatCode>General</c:formatCode>
                <c:ptCount val="14"/>
                <c:pt idx="0">
                  <c:v>18</c:v>
                </c:pt>
                <c:pt idx="1">
                  <c:v>36</c:v>
                </c:pt>
                <c:pt idx="2">
                  <c:v>55</c:v>
                </c:pt>
                <c:pt idx="3">
                  <c:v>73</c:v>
                </c:pt>
                <c:pt idx="4">
                  <c:v>91</c:v>
                </c:pt>
                <c:pt idx="5">
                  <c:v>100</c:v>
                </c:pt>
                <c:pt idx="6">
                  <c:v>100</c:v>
                </c:pt>
                <c:pt idx="7">
                  <c:v>100</c:v>
                </c:pt>
                <c:pt idx="8">
                  <c:v>100</c:v>
                </c:pt>
                <c:pt idx="9">
                  <c:v>100</c:v>
                </c:pt>
                <c:pt idx="10">
                  <c:v>100</c:v>
                </c:pt>
                <c:pt idx="11">
                  <c:v>100</c:v>
                </c:pt>
                <c:pt idx="12">
                  <c:v>100</c:v>
                </c:pt>
                <c:pt idx="13">
                  <c:v>100</c:v>
                </c:pt>
              </c:numCache>
            </c:numRef>
          </c:val>
          <c:smooth val="0"/>
          <c:extLst>
            <c:ext xmlns:c16="http://schemas.microsoft.com/office/drawing/2014/chart" uri="{C3380CC4-5D6E-409C-BE32-E72D297353CC}">
              <c16:uniqueId val="{00000000-BC27-401D-8C3A-33D7B0998C20}"/>
            </c:ext>
          </c:extLst>
        </c:ser>
        <c:ser>
          <c:idx val="1"/>
          <c:order val="1"/>
          <c:tx>
            <c:strRef>
              <c:f>Sheet1!$C$1</c:f>
              <c:strCache>
                <c:ptCount val="1"/>
                <c:pt idx="0">
                  <c:v>VIIRS DNB (14-bit)</c:v>
                </c:pt>
              </c:strCache>
            </c:strRef>
          </c:tx>
          <c:spPr>
            <a:ln w="31750" cap="flat">
              <a:solidFill>
                <a:srgbClr val="00A86A"/>
              </a:solidFill>
              <a:prstDash val="solid"/>
              <a:round/>
            </a:ln>
            <a:effectLst/>
          </c:spPr>
          <c:marker>
            <c:symbol val="none"/>
          </c:marke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Sheet1!$C$2:$C$15</c:f>
              <c:numCache>
                <c:formatCode>General</c:formatCode>
                <c:ptCount val="14"/>
                <c:pt idx="0">
                  <c:v>7</c:v>
                </c:pt>
                <c:pt idx="1">
                  <c:v>14</c:v>
                </c:pt>
                <c:pt idx="2">
                  <c:v>21</c:v>
                </c:pt>
                <c:pt idx="3">
                  <c:v>29</c:v>
                </c:pt>
                <c:pt idx="4">
                  <c:v>36</c:v>
                </c:pt>
                <c:pt idx="5">
                  <c:v>43</c:v>
                </c:pt>
                <c:pt idx="6">
                  <c:v>50</c:v>
                </c:pt>
                <c:pt idx="7">
                  <c:v>57</c:v>
                </c:pt>
                <c:pt idx="8">
                  <c:v>64</c:v>
                </c:pt>
                <c:pt idx="9">
                  <c:v>71</c:v>
                </c:pt>
                <c:pt idx="10">
                  <c:v>79</c:v>
                </c:pt>
                <c:pt idx="11">
                  <c:v>86</c:v>
                </c:pt>
                <c:pt idx="12">
                  <c:v>93</c:v>
                </c:pt>
                <c:pt idx="13">
                  <c:v>100</c:v>
                </c:pt>
              </c:numCache>
            </c:numRef>
          </c:val>
          <c:smooth val="0"/>
          <c:extLst>
            <c:ext xmlns:c16="http://schemas.microsoft.com/office/drawing/2014/chart" uri="{C3380CC4-5D6E-409C-BE32-E72D297353CC}">
              <c16:uniqueId val="{00000001-BC27-401D-8C3A-33D7B0998C2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5E6964"/>
                    </a:solidFill>
                    <a:latin typeface="Arial"/>
                  </a:defRPr>
                </a:pPr>
                <a:r>
                  <a:rPr sz="900" b="0" i="0" u="none" strike="noStrike">
                    <a:solidFill>
                      <a:srgbClr val="5E6964"/>
                    </a:solidFill>
                    <a:latin typeface="Arial"/>
                  </a:rPr>
                  <a:t>Surface brightness (relative)</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E6964"/>
                </a:solidFill>
                <a:latin typeface="Arial"/>
              </a:defRPr>
            </a:pPr>
            <a:endParaRPr lang="en-US"/>
          </a:p>
        </c:txPr>
        <c:crossAx val="2094734552"/>
        <c:crosses val="autoZero"/>
        <c:auto val="1"/>
        <c:lblAlgn val="ctr"/>
        <c:lblOffset val="100"/>
        <c:noMultiLvlLbl val="1"/>
      </c:catAx>
      <c:valAx>
        <c:axId val="2094734552"/>
        <c:scaling>
          <c:orientation val="minMax"/>
          <c:max val="110"/>
          <c:min val="0"/>
        </c:scaling>
        <c:delete val="0"/>
        <c:axPos val="l"/>
        <c:majorGridlines>
          <c:spPr>
            <a:ln w="6350" cap="flat">
              <a:solidFill>
                <a:srgbClr val="E1E7E4"/>
              </a:solidFill>
              <a:prstDash val="solid"/>
              <a:round/>
            </a:ln>
          </c:spPr>
        </c:majorGridlines>
        <c:title>
          <c:tx>
            <c:rich>
              <a:bodyPr/>
              <a:lstStyle/>
              <a:p>
                <a:pPr>
                  <a:defRPr sz="900" b="0" i="0" u="none" strike="noStrike">
                    <a:solidFill>
                      <a:srgbClr val="5E6964"/>
                    </a:solidFill>
                    <a:latin typeface="Arial"/>
                  </a:defRPr>
                </a:pPr>
                <a:r>
                  <a:rPr sz="900" b="0" i="0" u="none" strike="noStrike">
                    <a:solidFill>
                      <a:srgbClr val="5E6964"/>
                    </a:solidFill>
                    <a:latin typeface="Arial"/>
                  </a:rPr>
                  <a:t>Recorded value (% of max)</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E696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50" b="0" i="0" u="none" strike="noStrike">
                <a:solidFill>
                  <a:srgbClr val="231F20"/>
                </a:solidFill>
                <a:latin typeface="Calibri"/>
              </a:defRPr>
            </a:pPr>
            <a:r>
              <a:rPr sz="1050" b="0" i="0" u="none" strike="noStrike">
                <a:solidFill>
                  <a:srgbClr val="231F20"/>
                </a:solidFill>
                <a:latin typeface="Calibri"/>
              </a:rPr>
              <a:t>Rural sub-Saharan Africa without electricity (millions)</a:t>
            </a:r>
          </a:p>
        </c:rich>
      </c:tx>
      <c:overlay val="0"/>
    </c:title>
    <c:autoTitleDeleted val="0"/>
    <c:plotArea>
      <c:layout/>
      <c:barChart>
        <c:barDir val="col"/>
        <c:grouping val="clustered"/>
        <c:varyColors val="0"/>
        <c:ser>
          <c:idx val="0"/>
          <c:order val="0"/>
          <c:tx>
            <c:strRef>
              <c:f>Sheet1!$B$1</c:f>
              <c:strCache>
                <c:ptCount val="1"/>
                <c:pt idx="0">
                  <c:v>Rural SSA without electricity (millions)</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FBE8-4DCE-83F1-873A5DFA3930}"/>
              </c:ext>
            </c:extLst>
          </c:dPt>
          <c:dPt>
            <c:idx val="1"/>
            <c:invertIfNegative val="0"/>
            <c:bubble3D val="0"/>
            <c:spPr>
              <a:solidFill>
                <a:srgbClr val="B83B2E"/>
              </a:solidFill>
              <a:effectLst/>
            </c:spPr>
            <c:extLst>
              <c:ext xmlns:c16="http://schemas.microsoft.com/office/drawing/2014/chart" uri="{C3380CC4-5D6E-409C-BE32-E72D297353CC}">
                <c16:uniqueId val="{00000003-FBE8-4DCE-83F1-873A5DFA3930}"/>
              </c:ext>
            </c:extLst>
          </c:dPt>
          <c:dLbls>
            <c:numFmt formatCode="#,##0" sourceLinked="0"/>
            <c:spPr>
              <a:noFill/>
              <a:ln>
                <a:noFill/>
              </a:ln>
              <a:effectLst/>
            </c:spPr>
            <c:txPr>
              <a:bodyPr/>
              <a:lstStyle/>
              <a:p>
                <a:pPr>
                  <a:defRPr sz="1100" b="1"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2010</c:v>
                </c:pt>
                <c:pt idx="1">
                  <c:v>2024</c:v>
                </c:pt>
              </c:strCache>
            </c:strRef>
          </c:cat>
          <c:val>
            <c:numRef>
              <c:f>Sheet1!$B$2:$B$3</c:f>
              <c:numCache>
                <c:formatCode>General</c:formatCode>
                <c:ptCount val="2"/>
                <c:pt idx="0">
                  <c:v>376</c:v>
                </c:pt>
                <c:pt idx="1">
                  <c:v>447</c:v>
                </c:pt>
              </c:numCache>
            </c:numRef>
          </c:val>
          <c:extLst>
            <c:ext xmlns:c16="http://schemas.microsoft.com/office/drawing/2014/chart" uri="{C3380CC4-5D6E-409C-BE32-E72D297353CC}">
              <c16:uniqueId val="{00000004-FBE8-4DCE-83F1-873A5DFA3930}"/>
            </c:ext>
          </c:extLst>
        </c:ser>
        <c:dLbls>
          <c:showLegendKey val="0"/>
          <c:showVal val="1"/>
          <c:showCatName val="0"/>
          <c:showSerName val="0"/>
          <c:showPercent val="0"/>
          <c:showBubbleSize val="0"/>
        </c:dLbls>
        <c:gapWidth val="8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964"/>
                </a:solidFill>
                <a:latin typeface="Arial"/>
              </a:defRPr>
            </a:pPr>
            <a:endParaRPr lang="en-US"/>
          </a:p>
        </c:txPr>
        <c:crossAx val="2094734552"/>
        <c:crosses val="autoZero"/>
        <c:auto val="1"/>
        <c:lblAlgn val="ctr"/>
        <c:lblOffset val="100"/>
        <c:noMultiLvlLbl val="1"/>
      </c:catAx>
      <c:valAx>
        <c:axId val="2094734552"/>
        <c:scaling>
          <c:orientation val="minMax"/>
          <c:max val="52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9127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Welcome. Frame the session: this is not a gallery of beautiful pictures of Africa at night. It is a session about a measurement instrument that an NSO can use, test and publish from. This talk is deliberately short — 30 minutes — because the rest of the time is spent in the data. Opening question to the room: "If you could take only one photograph of your country to judge how it is doing, what would you photograph?" The answer this field gives is: photograph it at night. Note: slides marked REFERENCE in these notes are there for the laboratories; skim them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 ~5 min] Transition. We start with the physical idea, then define the object precisely, then show the chain of assumptions that every study depends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DMSP = </a:t>
            </a:r>
            <a:r>
              <a:rPr lang="fr-FR" i="1" dirty="0" err="1"/>
              <a:t>Defense</a:t>
            </a:r>
            <a:r>
              <a:rPr lang="fr-FR" i="1" dirty="0"/>
              <a:t> </a:t>
            </a:r>
            <a:r>
              <a:rPr lang="fr-FR" i="1" dirty="0" err="1"/>
              <a:t>Meteorological</a:t>
            </a:r>
            <a:r>
              <a:rPr lang="fr-FR" i="1" dirty="0"/>
              <a:t> Satellite Program</a:t>
            </a:r>
            <a:r>
              <a:rPr lang="fr-FR" dirty="0"/>
              <a:t>, le programme de satellites météorologiques du département de la Défense des États-Unis, lancé dans les années 1960.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the working definition once. Then dwell on the right-hand column. The most common error in applied work is treating the composite as a picture and reasoning about it visually rather than radiometrically. The second is jumping from radiance to population or income without justifying the link. Units matter: nanowatts per square centimetre per steradian — you will see them in the HDF files during the Collect lab.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Walk the chain forwards, then backwards. Backwards is the diagnostic exercise: given a dark pixel in your country, list every link that could have produced it. The bottom panel gives African-context examples for each link: load-shedding breaks link 1; low-power solar lanterns may not produce enough upward light to cross the detection floor; rainy-season cloud and dry-season dust or biomass-burning smoke attenuate link 4. Participants should be able to generate at least five distinct explanations for darkness. This is exactly the reasoning required in the validation lab.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 ~4 min] The choice of sensor determines which questions are answerable. Keep this section brisk.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historical irony is worth saying aloud: DMSP was built to see clouds by moonlight for military weather forecasting. City lights were noise; it took two decades before anyone treated that noise as the signal. Key message for continuity: VIIRS now flies on three satellites (Suomi NPP, NOAA-20, NOAA-21), so an NSO investing in NTL methods today is investing in a data stream with a future. Black Marble products are produced for both Suomi NPP (VNP46) and NOAA-20 (VJ146).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Teaching point: DMSP gives a long history but crude, saturated, uncalibrated values; VIIRS gives precision but only since 2012. Any long-run series for your country needs both, and therefore an explicit harmonisation step — this is the "sensor discontinuity" artefact you will meet later. Mention that the next generation (SDGSAT-1, Luojia, commercial) adds colour, the dimension both legacy sensors lack.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clearest analogy: imagine a thermometer that only reads "40°C or more". You can still study cold places with it, but every question about heat becomes a question about your model rather than your data. That is DMSP for city centres such as Lagos, Cairo or Johannesburg. VIIRS was designed around that limit: its Day/Night Band spans about seven orders of magnitude using three gain stages. The chart is schematic — not fitted data. For Africa, the opposite end of the range matters just as much: most rural settlements sit near the detection floor, which is why sensitivity matters more to us than saturation.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 ~7 min] This is the section closest to the laboratories. Slides 15 and 17 are the ones participants will return to during the laboratories.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Stress step 1 for our continent. Cloud screening is why the Congo Basin and coastal West Africa have far fewer usable observations than the Sahara or the Kalahari — a systematic geographic bias in any cross-country comparison. Ask: does fewer observations bias the result, or merely widen the error bars? In the Collect lab you will see each of these steps as a layer in the file: the cloud mask flag, the lunar irradiance, the snow flag and the Mandatory_Quality_Flag, where 0 means high quality. The image is a statistical product, not a snapshot — two products for the same month can legitimately differ.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live — REFERENCE slide for the Collect lab] Four products. A1 is uncorrected top-of-atmosphere radiance: do not use it for statistics without doing the corrections yourself. A2 is the daily corrected product — the basis of everything else. A3 and A4 are monthly and annual composites built from the daily inputs. All share a 15 arc-second grid (about 500 m at the equator), 10°×10° tiles, HDF-EOS5 format, and a record from January 2012. Practical gotchas for the lab: the radiance layer is stored as an unsigned integer with a scale factor of 0.1 and a fill value of 65535 — forget either and your numbers are wrong by a factor of ten or contaminated by fill values. NOAA-20 twins carry the VJ146 prefix. Earth Observation Group (Colorado School of Mines) VNL annual and monthly composites and Google Earth Engine are the two main alternatives.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This slide prevents the most embarrassing class of error: reporting a booming economy in an oil-producing region when what changed was flaring, or a surge of activity in the middle of Lake Victoria that is actually a fishing fleet. Only one of these six sources is usually the signal an NSO wants. Always look at the map before trusting the number — which is exactly what the Explore lab is for.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Work the toy example live — it is the fastest way to make the three indicators concrete. A 4×4 district of pixels, radiance in nW·cm⁻²·sr⁻¹. Sum of Lights adds everything: 30.1. Lit area counts pixels above the threshold: with 0.5 we get 8 pixels. Mean radiance over lit pixels is 28.6 / 8 = 3.6. Now raise the threshold to 1.0: lit area drops from 8 to 6 pixels — a 25% change produced by a choice, not by the world. That is why the threshold must be reported and tested. Sum of Lights is sensitive to background noise because every faint pixel contributes. Mean radiance separates a district getting brighter from one getting bigger. A fourth family — concentration or Gini of light — is used as a spatial inequality proxy.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Walk this slowly — it is the slide people will reuse. The question is typical of what a ministry might ask an NSO. Step 3 matters in rural Africa: if you average over a whole district, a few newly lit villages disappear into the dark background, so use settlement footprints. Step 4 — the control group of comparable villages outside the programme — is what turns a description into evidence, and it costs almost nothing. Step 6 is where most published work is thinnest: try to break your own result before someone else does.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 ~6 min] For each application, keep asking: what would have to be true about lighting behaviour for this inference to hold?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 map of uses, framed by the SDGs an NSO already reports on. The key phrase is "support": night lights are a complement to official statistics, useful for disaggregation, nowcasting and verification, never a replacement for the survey or the census. Invite participants to pick the one row most relevant to their office — that is the question to carry into the analysis lab.</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honest version: night lights are a poor substitute for good national accounts and an excellent complement to weak or coarse ones. Henderson, Storeygard and Weil (2012) showed lights carry real information on growth. Bruederle and Hodler (2018) linked lights to household-level development indicators from DHS surveys at the local level in Africa. Martinez (2022) used lights as an independent benchmark for reported GDP growth — a reminder that NTL is also a credibility tool for official statistics. The elasticity of lights to output is neither one nor stable: agriculture and mining generate much value with little light, which matters for most African economies. Lights help most where statistics are coarsest: subnational, high-frequency and informal.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Tracking SDG 7 report released on 24 June 2026 puts the global access deficit at 655 million people in 2024, with more than 560 million in sub-Saharan Africa. The rural deficit in the region grew from 376 million in 2010 to 447 million in 2024 — population growth has outpaced connections. Mission 300, led by the World Bank Group and the African Development Bank, aims to connect 300 million Africans by 2030; programmes of that scale need independent, spatially detailed monitoring. The surprising point: reliability. Official statistics record a household as connected whether it has power four hours a day or twenty-four. Nightly VIIRS observations can tell the difference. The High Resolution Electricity Access (HREA) dataset from the University of Michigan and the World Bank already estimates settlement-level electrification likelihood from nightly VIIRS data.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Africa is urbanising fast, and cadastral records rarely keep up. The sprawl-versus-densification diagnostic is the most transferable idea here: it needs two indicators, not one — which is exactly why Sum of Lights alone is insufficient for urban work. The two illustrative cities have the same total light but completely different policy implications for transport, services and emissions. Always pair lights with population and built-up grids: bright pixels are not people, and an empty lit highway proves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most ethically loaded application in the deck. Sudan is the African case: after fighting broke out in Khartoum on 15 April 2023, the Earth Observation Group reported that by May 2023 the capital's lights had dimmed to the noise level, and UNOSAT published a power-outage assessment from night-time imagery in June 2023. Syria (Li and Li, 2014) and Puerto Rico after Hurricane Maria (Black Marble daily products) are the reference studies. Night lights are used in humanitarian and human-rights reporting, so errors have consequences: insist on triangulation with ground information and honest statements of uncertainty. For NSOs, the value is rapid situational evidence when field collection is impossible.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 ~4 min] The bridge to the laboratories. Slides 29–32 are reference material for the laboratories.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full pipeline in one picture. Each stage has a data source or tool and a concrete output that feeds the next. The Python libraries listed are examples of common open-source options, not requirements. Emphasise reproducibility: every stage ends in a file committed to GitHub, so that another country — or your own office next year — can re-run 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REFERENCE] The instinct to reach for daily data is almost always wrong at the start of a project. Annual composites answer most statistical questions with a fraction of the processing burden, and they fail loudly rather than quietly. Move to monthly or daily only when you can say precisely what temporal resolution your question needs — for example, dating the start of a conflict, or measuring reliability of supply.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REFERENCE for the validation lab] A suggested decision guide, to be adapted to your office's own quality assurance framework. Three questions. First, set the bar BEFORE you look at the result: what correlation and stability would you require? Second, have the artefacts been identified and treated? Third — the trap specific to this exercise — is your benchmark independent? WorldPop population models use night-time lights as one of their covariates, so correlating NTL with WorldPop partly correlates NTL with itself. Prefer census or survey benchmarks for validation. The outcome is one of three decisions, and the limitations statement on the right is part of the deliverable whichever you choose.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 REFERENCE] Keep this open during the labs. Item 7 is the practical heart of the list: most credible work identifies effects from changes within the same unit over time rather than from cross-sectional levels, because calibration problems largely cancel out. The golden rule is the test for any result you present.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Land on the last line. Extracting the signal is now routine and largely automated; the discipline is in knowing what the signal is entitled to mean. Then hand over to the Collect laboratory.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 hand out rather than read. The two terms that cause most confusion in practice: composite (people keep treating it as a photograph) and digital number (people keep treating it as a physical quantity).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on screen during questions. For a five-minute first experiment, point people to the Radiance Light Trends web application or the World Bank Open Nighttime Lights tutorials before any heavy pipeline.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18.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52.png"/></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23.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72.png"/><Relationship Id="rId4" Type="http://schemas.openxmlformats.org/officeDocument/2006/relationships/image" Target="../media/image71.png"/></Relationships>
</file>

<file path=ppt/slides/_rels/slide2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7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79.png"/></Relationships>
</file>

<file path=ppt/slides/_rels/slide2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16.png"/><Relationship Id="rId4"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40080"/>
            <a:ext cx="6858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AFDB · DATA INNOVATION FOR AFRICA (DI4A)  ·  AFRICA AFTER DARK</a:t>
            </a:r>
            <a:endParaRPr lang="en-US" sz="1050" dirty="0"/>
          </a:p>
        </p:txBody>
      </p:sp>
      <p:sp>
        <p:nvSpPr>
          <p:cNvPr id="4" name="Text 2"/>
          <p:cNvSpPr txBox="1"/>
          <p:nvPr/>
        </p:nvSpPr>
        <p:spPr>
          <a:xfrm>
            <a:off x="548640" y="1051560"/>
            <a:ext cx="6035040" cy="77724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Night-Time Lights</a:t>
            </a:r>
            <a:endParaRPr lang="en-US" sz="4800" dirty="0"/>
          </a:p>
        </p:txBody>
      </p:sp>
      <p:sp>
        <p:nvSpPr>
          <p:cNvPr id="5" name="Text 3"/>
          <p:cNvSpPr txBox="1"/>
          <p:nvPr/>
        </p:nvSpPr>
        <p:spPr>
          <a:xfrm>
            <a:off x="548640" y="1874520"/>
            <a:ext cx="5669280" cy="68580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What the darkness tells us — reading Africa’s development from space</a:t>
            </a:r>
            <a:endParaRPr lang="en-US" sz="1800" dirty="0"/>
          </a:p>
        </p:txBody>
      </p:sp>
      <p:sp>
        <p:nvSpPr>
          <p:cNvPr id="6" name="Text 4"/>
          <p:cNvSpPr txBox="1"/>
          <p:nvPr/>
        </p:nvSpPr>
        <p:spPr>
          <a:xfrm>
            <a:off x="548640" y="2697480"/>
            <a:ext cx="5303520" cy="54864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Concepts, instruments, artefacts and the workflow behind four hands-on laboratories: from raw radiance to a validated subnational indicator.</a:t>
            </a:r>
            <a:endParaRPr lang="en-US" sz="1250" dirty="0"/>
          </a:p>
        </p:txBody>
      </p:sp>
      <p:sp>
        <p:nvSpPr>
          <p:cNvPr id="7" name="Shape 5"/>
          <p:cNvSpPr/>
          <p:nvPr/>
        </p:nvSpPr>
        <p:spPr>
          <a:xfrm>
            <a:off x="548640" y="3520440"/>
            <a:ext cx="5120640" cy="0"/>
          </a:xfrm>
          <a:prstGeom prst="line">
            <a:avLst/>
          </a:prstGeom>
          <a:noFill/>
          <a:ln w="9525">
            <a:solidFill>
              <a:srgbClr val="FFFFFF">
                <a:alpha val="40000"/>
              </a:srgbClr>
            </a:solidFill>
            <a:prstDash val="solid"/>
          </a:ln>
        </p:spPr>
      </p:sp>
      <p:sp>
        <p:nvSpPr>
          <p:cNvPr id="8" name="Text 6"/>
          <p:cNvSpPr txBox="1"/>
          <p:nvPr/>
        </p:nvSpPr>
        <p:spPr>
          <a:xfrm>
            <a:off x="548640" y="3657600"/>
            <a:ext cx="5852160" cy="22860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Data Innovation For Africa (DI4A) - AfDB </a:t>
            </a:r>
            <a:endParaRPr lang="en-US" sz="1100" dirty="0"/>
          </a:p>
        </p:txBody>
      </p:sp>
      <p:sp>
        <p:nvSpPr>
          <p:cNvPr id="10" name="Shape 8"/>
          <p:cNvSpPr/>
          <p:nvPr/>
        </p:nvSpPr>
        <p:spPr>
          <a:xfrm>
            <a:off x="6126480" y="960120"/>
            <a:ext cx="2377440" cy="2377440"/>
          </a:xfrm>
          <a:prstGeom prst="ellipse">
            <a:avLst/>
          </a:prstGeom>
          <a:solidFill>
            <a:srgbClr val="FFFFFF">
              <a:alpha val="10000"/>
            </a:srgbClr>
          </a:solidFill>
          <a:ln w="9525">
            <a:solidFill>
              <a:srgbClr val="FFFFFF">
                <a:alpha val="30000"/>
              </a:srgbClr>
            </a:solidFill>
            <a:prstDash val="solid"/>
          </a:ln>
        </p:spPr>
      </p:sp>
      <p:sp>
        <p:nvSpPr>
          <p:cNvPr id="11" name="Shape 9"/>
          <p:cNvSpPr/>
          <p:nvPr/>
        </p:nvSpPr>
        <p:spPr>
          <a:xfrm>
            <a:off x="6423660" y="1257300"/>
            <a:ext cx="1783080" cy="1783080"/>
          </a:xfrm>
          <a:prstGeom prst="ellipse">
            <a:avLst/>
          </a:prstGeom>
          <a:solidFill>
            <a:srgbClr val="FFFFFF">
              <a:alpha val="13000"/>
            </a:srgbClr>
          </a:solidFill>
          <a:ln w="9525">
            <a:solidFill>
              <a:srgbClr val="FFFFFF">
                <a:alpha val="30000"/>
              </a:srgbClr>
            </a:solidFill>
            <a:prstDash val="solid"/>
          </a:ln>
        </p:spPr>
      </p:sp>
      <p:sp>
        <p:nvSpPr>
          <p:cNvPr id="12" name="Shape 10"/>
          <p:cNvSpPr/>
          <p:nvPr/>
        </p:nvSpPr>
        <p:spPr>
          <a:xfrm>
            <a:off x="6720840" y="1554480"/>
            <a:ext cx="1188720" cy="1188720"/>
          </a:xfrm>
          <a:prstGeom prst="ellipse">
            <a:avLst/>
          </a:prstGeom>
          <a:solidFill>
            <a:srgbClr val="FFFFFF">
              <a:alpha val="16000"/>
            </a:srgbClr>
          </a:solidFill>
          <a:ln w="9525">
            <a:solidFill>
              <a:srgbClr val="FFFFFF">
                <a:alpha val="30000"/>
              </a:srgbClr>
            </a:solidFill>
            <a:prstDash val="solid"/>
          </a:ln>
        </p:spPr>
      </p:sp>
      <p:sp>
        <p:nvSpPr>
          <p:cNvPr id="13" name="Shape 11"/>
          <p:cNvSpPr/>
          <p:nvPr/>
        </p:nvSpPr>
        <p:spPr>
          <a:xfrm>
            <a:off x="6903720" y="1737360"/>
            <a:ext cx="822960" cy="822960"/>
          </a:xfrm>
          <a:prstGeom prst="ellipse">
            <a:avLst/>
          </a:prstGeom>
          <a:solidFill>
            <a:srgbClr val="FFFFFF"/>
          </a:solidFill>
          <a:ln w="12700">
            <a:solidFill>
              <a:srgbClr val="FFFFFF"/>
            </a:solidFill>
            <a:prstDash val="solid"/>
          </a:ln>
        </p:spPr>
      </p:sp>
      <p:pic>
        <p:nvPicPr>
          <p:cNvPr id="14" name="Image 0" descr="preencoded.png"/>
          <p:cNvPicPr>
            <a:picLocks noChangeAspect="1"/>
          </p:cNvPicPr>
          <p:nvPr/>
        </p:nvPicPr>
        <p:blipFill>
          <a:blip r:embed="rId4"/>
          <a:stretch>
            <a:fillRect/>
          </a:stretch>
        </p:blipFill>
        <p:spPr>
          <a:xfrm>
            <a:off x="7095744" y="1929384"/>
            <a:ext cx="438912" cy="438912"/>
          </a:xfrm>
          <a:prstGeom prst="rect">
            <a:avLst/>
          </a:prstGeom>
        </p:spPr>
      </p:pic>
      <p:pic>
        <p:nvPicPr>
          <p:cNvPr id="15" name="Image 1" descr="preencoded.png"/>
          <p:cNvPicPr>
            <a:picLocks noChangeAspect="1"/>
          </p:cNvPicPr>
          <p:nvPr/>
        </p:nvPicPr>
        <p:blipFill>
          <a:blip r:embed="rId5"/>
          <a:stretch>
            <a:fillRect/>
          </a:stretch>
        </p:blipFill>
        <p:spPr>
          <a:xfrm>
            <a:off x="8001000" y="2834640"/>
            <a:ext cx="384048" cy="384048"/>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1</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3"/>
          <p:cNvSpPr txBox="1"/>
          <p:nvPr/>
        </p:nvSpPr>
        <p:spPr>
          <a:xfrm>
            <a:off x="548640" y="224028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Foundations</a:t>
            </a:r>
            <a:endParaRPr lang="en-US" sz="4000" dirty="0"/>
          </a:p>
        </p:txBody>
      </p:sp>
      <p:sp>
        <p:nvSpPr>
          <p:cNvPr id="6" name="Text 4"/>
          <p:cNvSpPr txBox="1"/>
          <p:nvPr/>
        </p:nvSpPr>
        <p:spPr>
          <a:xfrm>
            <a:off x="548640" y="2971800"/>
            <a:ext cx="493776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Why should a photograph of the dark tell us anything at all?</a:t>
            </a:r>
            <a:endParaRPr lang="en-US" sz="1800" dirty="0"/>
          </a:p>
        </p:txBody>
      </p:sp>
      <p:sp>
        <p:nvSpPr>
          <p:cNvPr id="7" name="Text 5"/>
          <p:cNvSpPr txBox="1"/>
          <p:nvPr/>
        </p:nvSpPr>
        <p:spPr>
          <a:xfrm>
            <a:off x="548640" y="3703320"/>
            <a:ext cx="512064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The core idea  ·  Definitions  ·  The inferential chain</a:t>
            </a:r>
            <a:endParaRPr lang="en-US" sz="1200" dirty="0"/>
          </a:p>
        </p:txBody>
      </p:sp>
      <p:sp>
        <p:nvSpPr>
          <p:cNvPr id="8" name="Shape 6"/>
          <p:cNvSpPr/>
          <p:nvPr/>
        </p:nvSpPr>
        <p:spPr>
          <a:xfrm>
            <a:off x="548640" y="4343400"/>
            <a:ext cx="118872" cy="118872"/>
          </a:xfrm>
          <a:prstGeom prst="ellipse">
            <a:avLst/>
          </a:prstGeom>
          <a:solidFill>
            <a:srgbClr val="F5C242"/>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FOUNDATIONS · THE CORE IDEA</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Light is what human activity leaks</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06</a:t>
            </a:r>
            <a:endParaRPr lang="en-US" sz="850" dirty="0"/>
          </a:p>
        </p:txBody>
      </p:sp>
      <p:sp>
        <p:nvSpPr>
          <p:cNvPr id="17" name="Text 14"/>
          <p:cNvSpPr txBox="1"/>
          <p:nvPr/>
        </p:nvSpPr>
        <p:spPr>
          <a:xfrm>
            <a:off x="457200" y="1325880"/>
            <a:ext cx="4754880" cy="685800"/>
          </a:xfrm>
          <a:prstGeom prst="rect">
            <a:avLst/>
          </a:prstGeom>
          <a:noFill/>
          <a:ln/>
        </p:spPr>
        <p:txBody>
          <a:bodyPr wrap="square" lIns="0" tIns="0" rIns="0" bIns="0" rtlCol="0" anchor="t"/>
          <a:lstStyle/>
          <a:p>
            <a:pPr marL="0" indent="0">
              <a:buNone/>
            </a:pPr>
            <a:r>
              <a:rPr lang="en-US" sz="1500" i="1" dirty="0">
                <a:solidFill>
                  <a:srgbClr val="00704A"/>
                </a:solidFill>
                <a:latin typeface="Calibri" pitchFamily="34" charset="0"/>
                <a:ea typeface="Calibri" pitchFamily="34" charset="-122"/>
                <a:cs typeface="Calibri" pitchFamily="34" charset="-120"/>
              </a:rPr>
              <a:t>Almost everything people do after sunset requires light — and part of that light escapes upward, into the field of view of a satellite.</a:t>
            </a:r>
            <a:endParaRPr lang="en-US" sz="1500" dirty="0"/>
          </a:p>
        </p:txBody>
      </p:sp>
      <p:sp>
        <p:nvSpPr>
          <p:cNvPr id="18" name="Text 15"/>
          <p:cNvSpPr txBox="1"/>
          <p:nvPr/>
        </p:nvSpPr>
        <p:spPr>
          <a:xfrm>
            <a:off x="457200" y="2084832"/>
            <a:ext cx="4754880" cy="54864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That physical fact turns the night side of the planet into an observation of human presence that no census, survey or administrative register can match on all four properties at once:</a:t>
            </a:r>
            <a:endParaRPr lang="en-US" sz="1100" dirty="0"/>
          </a:p>
        </p:txBody>
      </p:sp>
      <p:sp>
        <p:nvSpPr>
          <p:cNvPr id="19" name="Shape 16"/>
          <p:cNvSpPr/>
          <p:nvPr/>
        </p:nvSpPr>
        <p:spPr>
          <a:xfrm>
            <a:off x="457200" y="2743200"/>
            <a:ext cx="2286000" cy="548640"/>
          </a:xfrm>
          <a:prstGeom prst="roundRect">
            <a:avLst>
              <a:gd name="adj" fmla="val 13333"/>
            </a:avLst>
          </a:prstGeom>
          <a:solidFill>
            <a:srgbClr val="F4F7F5"/>
          </a:solidFill>
          <a:ln w="9525">
            <a:solidFill>
              <a:srgbClr val="D5DED9"/>
            </a:solidFill>
            <a:prstDash val="solid"/>
          </a:ln>
        </p:spPr>
      </p:sp>
      <p:sp>
        <p:nvSpPr>
          <p:cNvPr id="20" name="Shape 17"/>
          <p:cNvSpPr/>
          <p:nvPr/>
        </p:nvSpPr>
        <p:spPr>
          <a:xfrm>
            <a:off x="548640" y="2834640"/>
            <a:ext cx="365760" cy="365760"/>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icPr>
            <a:picLocks noChangeAspect="1"/>
          </p:cNvPicPr>
          <p:nvPr/>
        </p:nvPicPr>
        <p:blipFill>
          <a:blip r:embed="rId3"/>
          <a:stretch>
            <a:fillRect/>
          </a:stretch>
        </p:blipFill>
        <p:spPr>
          <a:xfrm>
            <a:off x="643738" y="2929738"/>
            <a:ext cx="175565" cy="175565"/>
          </a:xfrm>
          <a:prstGeom prst="rect">
            <a:avLst/>
          </a:prstGeom>
        </p:spPr>
      </p:pic>
      <p:sp>
        <p:nvSpPr>
          <p:cNvPr id="22" name="Text 18"/>
          <p:cNvSpPr txBox="1"/>
          <p:nvPr/>
        </p:nvSpPr>
        <p:spPr>
          <a:xfrm>
            <a:off x="1005840" y="2807208"/>
            <a:ext cx="1691640" cy="219456"/>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Globally consistent</a:t>
            </a:r>
            <a:endParaRPr lang="en-US" sz="1150" dirty="0"/>
          </a:p>
        </p:txBody>
      </p:sp>
      <p:sp>
        <p:nvSpPr>
          <p:cNvPr id="23" name="Text 19"/>
          <p:cNvSpPr txBox="1"/>
          <p:nvPr/>
        </p:nvSpPr>
        <p:spPr>
          <a:xfrm>
            <a:off x="1005840" y="3035808"/>
            <a:ext cx="1691640" cy="2011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Same method in every country</a:t>
            </a:r>
            <a:endParaRPr lang="en-US" sz="950" dirty="0"/>
          </a:p>
        </p:txBody>
      </p:sp>
      <p:sp>
        <p:nvSpPr>
          <p:cNvPr id="24" name="Shape 20"/>
          <p:cNvSpPr/>
          <p:nvPr/>
        </p:nvSpPr>
        <p:spPr>
          <a:xfrm>
            <a:off x="2880360" y="2743200"/>
            <a:ext cx="2286000" cy="548640"/>
          </a:xfrm>
          <a:prstGeom prst="roundRect">
            <a:avLst>
              <a:gd name="adj" fmla="val 13333"/>
            </a:avLst>
          </a:prstGeom>
          <a:solidFill>
            <a:srgbClr val="F4F7F5"/>
          </a:solidFill>
          <a:ln w="9525">
            <a:solidFill>
              <a:srgbClr val="D5DED9"/>
            </a:solidFill>
            <a:prstDash val="solid"/>
          </a:ln>
        </p:spPr>
      </p:sp>
      <p:sp>
        <p:nvSpPr>
          <p:cNvPr id="25" name="Shape 21"/>
          <p:cNvSpPr/>
          <p:nvPr/>
        </p:nvSpPr>
        <p:spPr>
          <a:xfrm>
            <a:off x="2971800" y="2834640"/>
            <a:ext cx="365760" cy="365760"/>
          </a:xfrm>
          <a:prstGeom prst="ellipse">
            <a:avLst/>
          </a:prstGeom>
          <a:solidFill>
            <a:srgbClr val="00A86A">
              <a:alpha val="22000"/>
            </a:srgbClr>
          </a:solidFill>
          <a:ln w="12700">
            <a:solidFill>
              <a:srgbClr val="00A86A">
                <a:alpha val="0"/>
              </a:srgbClr>
            </a:solidFill>
            <a:prstDash val="solid"/>
          </a:ln>
        </p:spPr>
      </p:sp>
      <p:pic>
        <p:nvPicPr>
          <p:cNvPr id="26" name="Image 1" descr="preencoded.png"/>
          <p:cNvPicPr>
            <a:picLocks noChangeAspect="1"/>
          </p:cNvPicPr>
          <p:nvPr/>
        </p:nvPicPr>
        <p:blipFill>
          <a:blip r:embed="rId4"/>
          <a:stretch>
            <a:fillRect/>
          </a:stretch>
        </p:blipFill>
        <p:spPr>
          <a:xfrm>
            <a:off x="3066898" y="2929738"/>
            <a:ext cx="175565" cy="175565"/>
          </a:xfrm>
          <a:prstGeom prst="rect">
            <a:avLst/>
          </a:prstGeom>
        </p:spPr>
      </p:pic>
      <p:sp>
        <p:nvSpPr>
          <p:cNvPr id="27" name="Text 22"/>
          <p:cNvSpPr txBox="1"/>
          <p:nvPr/>
        </p:nvSpPr>
        <p:spPr>
          <a:xfrm>
            <a:off x="3429000" y="2807208"/>
            <a:ext cx="1691640" cy="219456"/>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Spatially continuous</a:t>
            </a:r>
            <a:endParaRPr lang="en-US" sz="1150" dirty="0"/>
          </a:p>
        </p:txBody>
      </p:sp>
      <p:sp>
        <p:nvSpPr>
          <p:cNvPr id="28" name="Text 23"/>
          <p:cNvSpPr txBox="1"/>
          <p:nvPr/>
        </p:nvSpPr>
        <p:spPr>
          <a:xfrm>
            <a:off x="3429000" y="3035808"/>
            <a:ext cx="1691640" cy="2011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Every ≈500 m grid cell</a:t>
            </a:r>
            <a:endParaRPr lang="en-US" sz="950" dirty="0"/>
          </a:p>
        </p:txBody>
      </p:sp>
      <p:sp>
        <p:nvSpPr>
          <p:cNvPr id="29" name="Shape 24"/>
          <p:cNvSpPr/>
          <p:nvPr/>
        </p:nvSpPr>
        <p:spPr>
          <a:xfrm>
            <a:off x="457200" y="3401568"/>
            <a:ext cx="2286000" cy="548640"/>
          </a:xfrm>
          <a:prstGeom prst="roundRect">
            <a:avLst>
              <a:gd name="adj" fmla="val 13333"/>
            </a:avLst>
          </a:prstGeom>
          <a:solidFill>
            <a:srgbClr val="F4F7F5"/>
          </a:solidFill>
          <a:ln w="9525">
            <a:solidFill>
              <a:srgbClr val="D5DED9"/>
            </a:solidFill>
            <a:prstDash val="solid"/>
          </a:ln>
        </p:spPr>
      </p:sp>
      <p:sp>
        <p:nvSpPr>
          <p:cNvPr id="30" name="Shape 25"/>
          <p:cNvSpPr/>
          <p:nvPr/>
        </p:nvSpPr>
        <p:spPr>
          <a:xfrm>
            <a:off x="548640" y="3493008"/>
            <a:ext cx="365760" cy="365760"/>
          </a:xfrm>
          <a:prstGeom prst="ellipse">
            <a:avLst/>
          </a:prstGeom>
          <a:solidFill>
            <a:srgbClr val="00A86A">
              <a:alpha val="22000"/>
            </a:srgbClr>
          </a:solidFill>
          <a:ln w="12700">
            <a:solidFill>
              <a:srgbClr val="00A86A">
                <a:alpha val="0"/>
              </a:srgbClr>
            </a:solidFill>
            <a:prstDash val="solid"/>
          </a:ln>
        </p:spPr>
      </p:sp>
      <p:pic>
        <p:nvPicPr>
          <p:cNvPr id="31" name="Image 2" descr="preencoded.png"/>
          <p:cNvPicPr>
            <a:picLocks noChangeAspect="1"/>
          </p:cNvPicPr>
          <p:nvPr/>
        </p:nvPicPr>
        <p:blipFill>
          <a:blip r:embed="rId5"/>
          <a:stretch>
            <a:fillRect/>
          </a:stretch>
        </p:blipFill>
        <p:spPr>
          <a:xfrm>
            <a:off x="643738" y="3588106"/>
            <a:ext cx="175565" cy="175565"/>
          </a:xfrm>
          <a:prstGeom prst="rect">
            <a:avLst/>
          </a:prstGeom>
        </p:spPr>
      </p:pic>
      <p:sp>
        <p:nvSpPr>
          <p:cNvPr id="32" name="Text 26"/>
          <p:cNvSpPr txBox="1"/>
          <p:nvPr/>
        </p:nvSpPr>
        <p:spPr>
          <a:xfrm>
            <a:off x="1005840" y="3465576"/>
            <a:ext cx="1691640" cy="219456"/>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Politically neutral</a:t>
            </a:r>
            <a:endParaRPr lang="en-US" sz="1150" dirty="0"/>
          </a:p>
        </p:txBody>
      </p:sp>
      <p:sp>
        <p:nvSpPr>
          <p:cNvPr id="33" name="Text 27"/>
          <p:cNvSpPr txBox="1"/>
          <p:nvPr/>
        </p:nvSpPr>
        <p:spPr>
          <a:xfrm>
            <a:off x="1005840" y="3694176"/>
            <a:ext cx="1691640" cy="2011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Independent of reporting</a:t>
            </a:r>
            <a:endParaRPr lang="en-US" sz="950" dirty="0"/>
          </a:p>
        </p:txBody>
      </p:sp>
      <p:sp>
        <p:nvSpPr>
          <p:cNvPr id="34" name="Shape 28"/>
          <p:cNvSpPr/>
          <p:nvPr/>
        </p:nvSpPr>
        <p:spPr>
          <a:xfrm>
            <a:off x="2880360" y="3401568"/>
            <a:ext cx="2286000" cy="548640"/>
          </a:xfrm>
          <a:prstGeom prst="roundRect">
            <a:avLst>
              <a:gd name="adj" fmla="val 13333"/>
            </a:avLst>
          </a:prstGeom>
          <a:solidFill>
            <a:srgbClr val="F4F7F5"/>
          </a:solidFill>
          <a:ln w="9525">
            <a:solidFill>
              <a:srgbClr val="D5DED9"/>
            </a:solidFill>
            <a:prstDash val="solid"/>
          </a:ln>
        </p:spPr>
      </p:sp>
      <p:sp>
        <p:nvSpPr>
          <p:cNvPr id="35" name="Shape 29"/>
          <p:cNvSpPr/>
          <p:nvPr/>
        </p:nvSpPr>
        <p:spPr>
          <a:xfrm>
            <a:off x="2971800" y="3493008"/>
            <a:ext cx="365760" cy="365760"/>
          </a:xfrm>
          <a:prstGeom prst="ellipse">
            <a:avLst/>
          </a:prstGeom>
          <a:solidFill>
            <a:srgbClr val="00A86A">
              <a:alpha val="22000"/>
            </a:srgbClr>
          </a:solidFill>
          <a:ln w="12700">
            <a:solidFill>
              <a:srgbClr val="00A86A">
                <a:alpha val="0"/>
              </a:srgbClr>
            </a:solidFill>
            <a:prstDash val="solid"/>
          </a:ln>
        </p:spPr>
      </p:sp>
      <p:pic>
        <p:nvPicPr>
          <p:cNvPr id="36" name="Image 3" descr="preencoded.png"/>
          <p:cNvPicPr>
            <a:picLocks noChangeAspect="1"/>
          </p:cNvPicPr>
          <p:nvPr/>
        </p:nvPicPr>
        <p:blipFill>
          <a:blip r:embed="rId6"/>
          <a:stretch>
            <a:fillRect/>
          </a:stretch>
        </p:blipFill>
        <p:spPr>
          <a:xfrm>
            <a:off x="3066898" y="3588106"/>
            <a:ext cx="175565" cy="175565"/>
          </a:xfrm>
          <a:prstGeom prst="rect">
            <a:avLst/>
          </a:prstGeom>
        </p:spPr>
      </p:pic>
      <p:sp>
        <p:nvSpPr>
          <p:cNvPr id="37" name="Text 30"/>
          <p:cNvSpPr txBox="1"/>
          <p:nvPr/>
        </p:nvSpPr>
        <p:spPr>
          <a:xfrm>
            <a:off x="3429000" y="3465576"/>
            <a:ext cx="1691640" cy="219456"/>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Freely available</a:t>
            </a:r>
            <a:endParaRPr lang="en-US" sz="1150" dirty="0"/>
          </a:p>
        </p:txBody>
      </p:sp>
      <p:sp>
        <p:nvSpPr>
          <p:cNvPr id="38" name="Text 31"/>
          <p:cNvSpPr txBox="1"/>
          <p:nvPr/>
        </p:nvSpPr>
        <p:spPr>
          <a:xfrm>
            <a:off x="3429000" y="3694176"/>
            <a:ext cx="1691640" cy="2011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Open NASA / EOG products</a:t>
            </a:r>
            <a:endParaRPr lang="en-US" sz="950" dirty="0"/>
          </a:p>
        </p:txBody>
      </p:sp>
      <p:sp>
        <p:nvSpPr>
          <p:cNvPr id="39" name="Shape 32"/>
          <p:cNvSpPr/>
          <p:nvPr/>
        </p:nvSpPr>
        <p:spPr>
          <a:xfrm>
            <a:off x="5486400" y="1325880"/>
            <a:ext cx="3200400" cy="713232"/>
          </a:xfrm>
          <a:prstGeom prst="roundRect">
            <a:avLst>
              <a:gd name="adj" fmla="val 10256"/>
            </a:avLst>
          </a:prstGeom>
          <a:solidFill>
            <a:srgbClr val="F4F7F5"/>
          </a:solidFill>
          <a:ln w="9525">
            <a:solidFill>
              <a:srgbClr val="D5DED9"/>
            </a:solidFill>
            <a:prstDash val="solid"/>
          </a:ln>
        </p:spPr>
      </p:sp>
      <p:sp>
        <p:nvSpPr>
          <p:cNvPr id="40" name="Text 33"/>
          <p:cNvSpPr txBox="1"/>
          <p:nvPr/>
        </p:nvSpPr>
        <p:spPr>
          <a:xfrm>
            <a:off x="5623560" y="1399032"/>
            <a:ext cx="1280160" cy="566928"/>
          </a:xfrm>
          <a:prstGeom prst="rect">
            <a:avLst/>
          </a:prstGeom>
          <a:noFill/>
          <a:ln/>
        </p:spPr>
        <p:txBody>
          <a:bodyPr wrap="square" lIns="0" tIns="0" rIns="0" bIns="0" rtlCol="0" anchor="ctr"/>
          <a:lstStyle/>
          <a:p>
            <a:pPr marL="0" indent="0">
              <a:buNone/>
            </a:pPr>
            <a:r>
              <a:rPr lang="en-US" sz="3000" b="1" dirty="0">
                <a:solidFill>
                  <a:srgbClr val="00A86A"/>
                </a:solidFill>
                <a:latin typeface="Calibri" pitchFamily="34" charset="0"/>
                <a:ea typeface="Calibri" pitchFamily="34" charset="-122"/>
                <a:cs typeface="Calibri" pitchFamily="34" charset="-120"/>
              </a:rPr>
              <a:t>1992</a:t>
            </a:r>
            <a:endParaRPr lang="en-US" sz="3000" dirty="0"/>
          </a:p>
        </p:txBody>
      </p:sp>
      <p:sp>
        <p:nvSpPr>
          <p:cNvPr id="41" name="Text 34"/>
          <p:cNvSpPr txBox="1"/>
          <p:nvPr/>
        </p:nvSpPr>
        <p:spPr>
          <a:xfrm>
            <a:off x="6903720" y="1399032"/>
            <a:ext cx="1691640" cy="566928"/>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Start of the continuous digital DMSP record — three decades of history</a:t>
            </a:r>
            <a:endParaRPr lang="en-US" sz="950" dirty="0"/>
          </a:p>
        </p:txBody>
      </p:sp>
      <p:sp>
        <p:nvSpPr>
          <p:cNvPr id="42" name="Shape 35"/>
          <p:cNvSpPr/>
          <p:nvPr/>
        </p:nvSpPr>
        <p:spPr>
          <a:xfrm>
            <a:off x="5486400" y="2148840"/>
            <a:ext cx="3200400" cy="713232"/>
          </a:xfrm>
          <a:prstGeom prst="roundRect">
            <a:avLst>
              <a:gd name="adj" fmla="val 10256"/>
            </a:avLst>
          </a:prstGeom>
          <a:solidFill>
            <a:srgbClr val="F4F7F5"/>
          </a:solidFill>
          <a:ln w="9525">
            <a:solidFill>
              <a:srgbClr val="D5DED9"/>
            </a:solidFill>
            <a:prstDash val="solid"/>
          </a:ln>
        </p:spPr>
      </p:sp>
      <p:sp>
        <p:nvSpPr>
          <p:cNvPr id="43" name="Text 36"/>
          <p:cNvSpPr txBox="1"/>
          <p:nvPr/>
        </p:nvSpPr>
        <p:spPr>
          <a:xfrm>
            <a:off x="5623560" y="2221992"/>
            <a:ext cx="1280160" cy="566928"/>
          </a:xfrm>
          <a:prstGeom prst="rect">
            <a:avLst/>
          </a:prstGeom>
          <a:noFill/>
          <a:ln/>
        </p:spPr>
        <p:txBody>
          <a:bodyPr wrap="square" lIns="0" tIns="0" rIns="0" bIns="0" rtlCol="0" anchor="ctr"/>
          <a:lstStyle/>
          <a:p>
            <a:pPr marL="0" indent="0">
              <a:buNone/>
            </a:pPr>
            <a:r>
              <a:rPr lang="en-US" sz="3000" b="1" dirty="0">
                <a:solidFill>
                  <a:srgbClr val="00704A"/>
                </a:solidFill>
                <a:latin typeface="Calibri" pitchFamily="34" charset="0"/>
                <a:ea typeface="Calibri" pitchFamily="34" charset="-122"/>
                <a:cs typeface="Calibri" pitchFamily="34" charset="-120"/>
              </a:rPr>
              <a:t>500 m</a:t>
            </a:r>
            <a:endParaRPr lang="en-US" sz="3000" dirty="0"/>
          </a:p>
        </p:txBody>
      </p:sp>
      <p:sp>
        <p:nvSpPr>
          <p:cNvPr id="44" name="Text 37"/>
          <p:cNvSpPr txBox="1"/>
          <p:nvPr/>
        </p:nvSpPr>
        <p:spPr>
          <a:xfrm>
            <a:off x="6903720" y="2221992"/>
            <a:ext cx="1691640" cy="566928"/>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VIIRS Day/Night Band pixel, nearly constant across the swath, data product</a:t>
            </a:r>
            <a:endParaRPr lang="en-US" sz="950" dirty="0"/>
          </a:p>
        </p:txBody>
      </p:sp>
      <p:sp>
        <p:nvSpPr>
          <p:cNvPr id="45" name="Shape 38"/>
          <p:cNvSpPr/>
          <p:nvPr/>
        </p:nvSpPr>
        <p:spPr>
          <a:xfrm>
            <a:off x="5486400" y="2971800"/>
            <a:ext cx="3200400" cy="713232"/>
          </a:xfrm>
          <a:prstGeom prst="roundRect">
            <a:avLst>
              <a:gd name="adj" fmla="val 10256"/>
            </a:avLst>
          </a:prstGeom>
          <a:solidFill>
            <a:srgbClr val="F4F7F5"/>
          </a:solidFill>
          <a:ln w="9525">
            <a:solidFill>
              <a:srgbClr val="D5DED9"/>
            </a:solidFill>
            <a:prstDash val="solid"/>
          </a:ln>
        </p:spPr>
      </p:sp>
      <p:sp>
        <p:nvSpPr>
          <p:cNvPr id="46" name="Text 39"/>
          <p:cNvSpPr txBox="1"/>
          <p:nvPr/>
        </p:nvSpPr>
        <p:spPr>
          <a:xfrm>
            <a:off x="5623560" y="3044952"/>
            <a:ext cx="1280160" cy="566928"/>
          </a:xfrm>
          <a:prstGeom prst="rect">
            <a:avLst/>
          </a:prstGeom>
          <a:noFill/>
          <a:ln/>
        </p:spPr>
        <p:txBody>
          <a:bodyPr wrap="square" lIns="0" tIns="0" rIns="0" bIns="0" rtlCol="0" anchor="ctr"/>
          <a:lstStyle/>
          <a:p>
            <a:pPr marL="0" indent="0">
              <a:buNone/>
            </a:pPr>
            <a:r>
              <a:rPr lang="en-US" sz="3000" b="1" dirty="0">
                <a:solidFill>
                  <a:srgbClr val="0E7C86"/>
                </a:solidFill>
                <a:latin typeface="Calibri" pitchFamily="34" charset="0"/>
                <a:ea typeface="Calibri" pitchFamily="34" charset="-122"/>
                <a:cs typeface="Calibri" pitchFamily="34" charset="-120"/>
              </a:rPr>
              <a:t>Nightly</a:t>
            </a:r>
            <a:endParaRPr lang="en-US" sz="3000" dirty="0"/>
          </a:p>
        </p:txBody>
      </p:sp>
      <p:sp>
        <p:nvSpPr>
          <p:cNvPr id="47" name="Text 40"/>
          <p:cNvSpPr txBox="1"/>
          <p:nvPr/>
        </p:nvSpPr>
        <p:spPr>
          <a:xfrm>
            <a:off x="6903720" y="3044952"/>
            <a:ext cx="1691640" cy="566928"/>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Global VIIRS overpass around 01:30 local time, since 2012</a:t>
            </a:r>
            <a:endParaRPr lang="en-US" sz="950" dirty="0"/>
          </a:p>
        </p:txBody>
      </p:sp>
      <p:sp>
        <p:nvSpPr>
          <p:cNvPr id="48" name="Shape 41"/>
          <p:cNvSpPr/>
          <p:nvPr/>
        </p:nvSpPr>
        <p:spPr>
          <a:xfrm>
            <a:off x="5486400" y="3822192"/>
            <a:ext cx="3200400" cy="713232"/>
          </a:xfrm>
          <a:prstGeom prst="roundRect">
            <a:avLst>
              <a:gd name="adj" fmla="val 10256"/>
            </a:avLst>
          </a:prstGeom>
          <a:solidFill>
            <a:srgbClr val="E8F5EF"/>
          </a:solidFill>
          <a:ln w="15875">
            <a:solidFill>
              <a:srgbClr val="00A86A"/>
            </a:solidFill>
            <a:prstDash val="solid"/>
          </a:ln>
        </p:spPr>
      </p:sp>
      <p:sp>
        <p:nvSpPr>
          <p:cNvPr id="49" name="Text 42"/>
          <p:cNvSpPr txBox="1"/>
          <p:nvPr/>
        </p:nvSpPr>
        <p:spPr>
          <a:xfrm>
            <a:off x="5623560" y="3858768"/>
            <a:ext cx="2971800" cy="64008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For an NSO: </a:t>
            </a:r>
            <a:r>
              <a:rPr lang="en-US" sz="1050" dirty="0">
                <a:solidFill>
                  <a:srgbClr val="231F20"/>
                </a:solidFill>
                <a:latin typeface="Calibri" pitchFamily="34" charset="0"/>
                <a:ea typeface="Calibri" pitchFamily="34" charset="-122"/>
                <a:cs typeface="Calibri" pitchFamily="34" charset="-120"/>
              </a:rPr>
              <a:t>censuses come roughly once a decade, surveys every few years — lights arrive every night, for every district.</a:t>
            </a:r>
            <a:endParaRPr lang="en-US" sz="10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FOUNDATIONS · DEFINITIONS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What night-time lights are — and are not</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07</a:t>
            </a:r>
            <a:endParaRPr lang="en-US" sz="850" dirty="0"/>
          </a:p>
        </p:txBody>
      </p:sp>
      <p:sp>
        <p:nvSpPr>
          <p:cNvPr id="17" name="Shape 14"/>
          <p:cNvSpPr/>
          <p:nvPr/>
        </p:nvSpPr>
        <p:spPr>
          <a:xfrm>
            <a:off x="457200" y="1325880"/>
            <a:ext cx="8229600" cy="868680"/>
          </a:xfrm>
          <a:prstGeom prst="roundRect">
            <a:avLst>
              <a:gd name="adj" fmla="val 8421"/>
            </a:avLst>
          </a:prstGeom>
          <a:solidFill>
            <a:srgbClr val="E8F5EF"/>
          </a:solidFill>
          <a:ln w="15875">
            <a:solidFill>
              <a:srgbClr val="00A86A"/>
            </a:solidFill>
            <a:prstDash val="solid"/>
          </a:ln>
        </p:spPr>
      </p:sp>
      <p:sp>
        <p:nvSpPr>
          <p:cNvPr id="18" name="Shape 15"/>
          <p:cNvSpPr/>
          <p:nvPr/>
        </p:nvSpPr>
        <p:spPr>
          <a:xfrm>
            <a:off x="594360" y="1536192"/>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713232" y="1655064"/>
            <a:ext cx="219456" cy="219456"/>
          </a:xfrm>
          <a:prstGeom prst="rect">
            <a:avLst/>
          </a:prstGeom>
        </p:spPr>
      </p:pic>
      <p:sp>
        <p:nvSpPr>
          <p:cNvPr id="20" name="Text 16"/>
          <p:cNvSpPr txBox="1"/>
          <p:nvPr/>
        </p:nvSpPr>
        <p:spPr>
          <a:xfrm>
            <a:off x="1188720" y="1417320"/>
            <a:ext cx="3657600" cy="182880"/>
          </a:xfrm>
          <a:prstGeom prst="rect">
            <a:avLst/>
          </a:prstGeom>
          <a:noFill/>
          <a:ln/>
        </p:spPr>
        <p:txBody>
          <a:bodyPr wrap="square" lIns="0" tIns="0" rIns="0" bIns="0" rtlCol="0" anchor="t"/>
          <a:lstStyle/>
          <a:p>
            <a:pPr marL="0" indent="0">
              <a:buNone/>
            </a:pPr>
            <a:r>
              <a:rPr lang="en-US" sz="950" b="1" kern="0" spc="300" dirty="0">
                <a:solidFill>
                  <a:srgbClr val="00704A"/>
                </a:solidFill>
                <a:latin typeface="Calibri" pitchFamily="34" charset="0"/>
                <a:ea typeface="Calibri" pitchFamily="34" charset="-122"/>
                <a:cs typeface="Calibri" pitchFamily="34" charset="-120"/>
              </a:rPr>
              <a:t>WORKING DEFINITION</a:t>
            </a:r>
            <a:endParaRPr lang="en-US" sz="950" dirty="0"/>
          </a:p>
        </p:txBody>
      </p:sp>
      <p:sp>
        <p:nvSpPr>
          <p:cNvPr id="21" name="Text 17"/>
          <p:cNvSpPr txBox="1"/>
          <p:nvPr/>
        </p:nvSpPr>
        <p:spPr>
          <a:xfrm>
            <a:off x="1188720" y="1645920"/>
            <a:ext cx="7315200" cy="502920"/>
          </a:xfrm>
          <a:prstGeom prst="rect">
            <a:avLst/>
          </a:prstGeom>
          <a:noFill/>
          <a:ln/>
        </p:spPr>
        <p:txBody>
          <a:bodyPr wrap="square" lIns="0" tIns="0" rIns="0" bIns="0" rtlCol="0" anchor="t"/>
          <a:lstStyle/>
          <a:p>
            <a:pPr marL="0" indent="0">
              <a:buNone/>
            </a:pPr>
            <a:r>
              <a:rPr lang="en-US" sz="1200" dirty="0">
                <a:solidFill>
                  <a:srgbClr val="231F20"/>
                </a:solidFill>
                <a:latin typeface="Calibri" pitchFamily="34" charset="0"/>
                <a:ea typeface="Calibri" pitchFamily="34" charset="-122"/>
                <a:cs typeface="Calibri" pitchFamily="34" charset="-120"/>
              </a:rPr>
              <a:t>Night-time lights (NTL) are measurements of visible and near-infrared radiance travelling upward from the Earth’s surface, recorded by a satellite sensor during local night, when the scene is free of direct sunlight.</a:t>
            </a:r>
            <a:endParaRPr lang="en-US" sz="1200" dirty="0"/>
          </a:p>
        </p:txBody>
      </p:sp>
      <p:sp>
        <p:nvSpPr>
          <p:cNvPr id="22" name="Text 18"/>
          <p:cNvSpPr txBox="1"/>
          <p:nvPr/>
        </p:nvSpPr>
        <p:spPr>
          <a:xfrm>
            <a:off x="457200" y="2331720"/>
            <a:ext cx="4023360" cy="274320"/>
          </a:xfrm>
          <a:prstGeom prst="rect">
            <a:avLst/>
          </a:prstGeom>
          <a:noFill/>
          <a:ln/>
        </p:spPr>
        <p:txBody>
          <a:bodyPr wrap="square" lIns="0" tIns="0" rIns="0" bIns="0" rtlCol="0" anchor="t"/>
          <a:lstStyle/>
          <a:p>
            <a:pPr marL="0" indent="0">
              <a:buNone/>
            </a:pPr>
            <a:r>
              <a:rPr lang="en-US" sz="1400" b="1" dirty="0">
                <a:solidFill>
                  <a:srgbClr val="00A86A"/>
                </a:solidFill>
                <a:latin typeface="Calibri" pitchFamily="34" charset="0"/>
                <a:ea typeface="Calibri" pitchFamily="34" charset="-122"/>
                <a:cs typeface="Calibri" pitchFamily="34" charset="-120"/>
              </a:rPr>
              <a:t>What it is</a:t>
            </a:r>
            <a:endParaRPr lang="en-US" sz="1400" dirty="0"/>
          </a:p>
        </p:txBody>
      </p:sp>
      <p:sp>
        <p:nvSpPr>
          <p:cNvPr id="23" name="Shape 19"/>
          <p:cNvSpPr/>
          <p:nvPr/>
        </p:nvSpPr>
        <p:spPr>
          <a:xfrm>
            <a:off x="457200" y="2670048"/>
            <a:ext cx="4023360" cy="548640"/>
          </a:xfrm>
          <a:prstGeom prst="roundRect">
            <a:avLst>
              <a:gd name="adj" fmla="val 13333"/>
            </a:avLst>
          </a:prstGeom>
          <a:solidFill>
            <a:srgbClr val="F4F7F5"/>
          </a:solidFill>
          <a:ln w="9525">
            <a:solidFill>
              <a:srgbClr val="D5DED9"/>
            </a:solidFill>
            <a:prstDash val="solid"/>
          </a:ln>
        </p:spPr>
      </p:sp>
      <p:sp>
        <p:nvSpPr>
          <p:cNvPr id="24" name="Shape 20"/>
          <p:cNvSpPr/>
          <p:nvPr/>
        </p:nvSpPr>
        <p:spPr>
          <a:xfrm>
            <a:off x="548640" y="2779776"/>
            <a:ext cx="329184" cy="329184"/>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icPr>
            <a:picLocks noChangeAspect="1"/>
          </p:cNvPicPr>
          <p:nvPr/>
        </p:nvPicPr>
        <p:blipFill>
          <a:blip r:embed="rId4"/>
          <a:stretch>
            <a:fillRect/>
          </a:stretch>
        </p:blipFill>
        <p:spPr>
          <a:xfrm>
            <a:off x="634228" y="2865364"/>
            <a:ext cx="158008" cy="158008"/>
          </a:xfrm>
          <a:prstGeom prst="rect">
            <a:avLst/>
          </a:prstGeom>
        </p:spPr>
      </p:pic>
      <p:sp>
        <p:nvSpPr>
          <p:cNvPr id="26" name="Text 21"/>
          <p:cNvSpPr txBox="1"/>
          <p:nvPr/>
        </p:nvSpPr>
        <p:spPr>
          <a:xfrm>
            <a:off x="987552" y="2724912"/>
            <a:ext cx="3383280" cy="201168"/>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A physical measurement</a:t>
            </a:r>
            <a:endParaRPr lang="en-US" sz="1100" dirty="0"/>
          </a:p>
        </p:txBody>
      </p:sp>
      <p:sp>
        <p:nvSpPr>
          <p:cNvPr id="27" name="Text 22"/>
          <p:cNvSpPr txBox="1"/>
          <p:nvPr/>
        </p:nvSpPr>
        <p:spPr>
          <a:xfrm>
            <a:off x="987552" y="2935224"/>
            <a:ext cx="3429000" cy="25603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Radiance in nW·cm⁻²·sr⁻¹ for calibrated sensors (VIIRS).</a:t>
            </a:r>
            <a:endParaRPr lang="en-US" sz="950" dirty="0"/>
          </a:p>
        </p:txBody>
      </p:sp>
      <p:sp>
        <p:nvSpPr>
          <p:cNvPr id="28" name="Shape 23"/>
          <p:cNvSpPr/>
          <p:nvPr/>
        </p:nvSpPr>
        <p:spPr>
          <a:xfrm>
            <a:off x="457200" y="3310128"/>
            <a:ext cx="4023360" cy="548640"/>
          </a:xfrm>
          <a:prstGeom prst="roundRect">
            <a:avLst>
              <a:gd name="adj" fmla="val 13333"/>
            </a:avLst>
          </a:prstGeom>
          <a:solidFill>
            <a:srgbClr val="F4F7F5"/>
          </a:solidFill>
          <a:ln w="9525">
            <a:solidFill>
              <a:srgbClr val="D5DED9"/>
            </a:solidFill>
            <a:prstDash val="solid"/>
          </a:ln>
        </p:spPr>
      </p:sp>
      <p:sp>
        <p:nvSpPr>
          <p:cNvPr id="29" name="Shape 24"/>
          <p:cNvSpPr/>
          <p:nvPr/>
        </p:nvSpPr>
        <p:spPr>
          <a:xfrm>
            <a:off x="548640" y="3419856"/>
            <a:ext cx="329184" cy="329184"/>
          </a:xfrm>
          <a:prstGeom prst="ellipse">
            <a:avLst/>
          </a:prstGeom>
          <a:solidFill>
            <a:srgbClr val="00A86A">
              <a:alpha val="22000"/>
            </a:srgbClr>
          </a:solidFill>
          <a:ln w="12700">
            <a:solidFill>
              <a:srgbClr val="00A86A">
                <a:alpha val="0"/>
              </a:srgbClr>
            </a:solidFill>
            <a:prstDash val="solid"/>
          </a:ln>
        </p:spPr>
      </p:sp>
      <p:pic>
        <p:nvPicPr>
          <p:cNvPr id="30" name="Image 2" descr="preencoded.png"/>
          <p:cNvPicPr>
            <a:picLocks noChangeAspect="1"/>
          </p:cNvPicPr>
          <p:nvPr/>
        </p:nvPicPr>
        <p:blipFill>
          <a:blip r:embed="rId4"/>
          <a:stretch>
            <a:fillRect/>
          </a:stretch>
        </p:blipFill>
        <p:spPr>
          <a:xfrm>
            <a:off x="634228" y="3505444"/>
            <a:ext cx="158008" cy="158008"/>
          </a:xfrm>
          <a:prstGeom prst="rect">
            <a:avLst/>
          </a:prstGeom>
        </p:spPr>
      </p:pic>
      <p:sp>
        <p:nvSpPr>
          <p:cNvPr id="31" name="Text 25"/>
          <p:cNvSpPr txBox="1"/>
          <p:nvPr/>
        </p:nvSpPr>
        <p:spPr>
          <a:xfrm>
            <a:off x="987552" y="3364992"/>
            <a:ext cx="3383280" cy="201168"/>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A consistent grid</a:t>
            </a:r>
            <a:endParaRPr lang="en-US" sz="1100" dirty="0"/>
          </a:p>
        </p:txBody>
      </p:sp>
      <p:sp>
        <p:nvSpPr>
          <p:cNvPr id="32" name="Text 26"/>
          <p:cNvSpPr txBox="1"/>
          <p:nvPr/>
        </p:nvSpPr>
        <p:spPr>
          <a:xfrm>
            <a:off x="987552" y="3575304"/>
            <a:ext cx="3429000" cy="25603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Same method over every country — Rwanda and Nigeria alike.</a:t>
            </a:r>
            <a:endParaRPr lang="en-US" sz="950" dirty="0"/>
          </a:p>
        </p:txBody>
      </p:sp>
      <p:sp>
        <p:nvSpPr>
          <p:cNvPr id="33" name="Shape 27"/>
          <p:cNvSpPr/>
          <p:nvPr/>
        </p:nvSpPr>
        <p:spPr>
          <a:xfrm>
            <a:off x="457200" y="3950208"/>
            <a:ext cx="4023360" cy="548640"/>
          </a:xfrm>
          <a:prstGeom prst="roundRect">
            <a:avLst>
              <a:gd name="adj" fmla="val 13333"/>
            </a:avLst>
          </a:prstGeom>
          <a:solidFill>
            <a:srgbClr val="F4F7F5"/>
          </a:solidFill>
          <a:ln w="9525">
            <a:solidFill>
              <a:srgbClr val="D5DED9"/>
            </a:solidFill>
            <a:prstDash val="solid"/>
          </a:ln>
        </p:spPr>
      </p:sp>
      <p:sp>
        <p:nvSpPr>
          <p:cNvPr id="34" name="Shape 28"/>
          <p:cNvSpPr/>
          <p:nvPr/>
        </p:nvSpPr>
        <p:spPr>
          <a:xfrm>
            <a:off x="548640" y="4059936"/>
            <a:ext cx="329184" cy="329184"/>
          </a:xfrm>
          <a:prstGeom prst="ellipse">
            <a:avLst/>
          </a:prstGeom>
          <a:solidFill>
            <a:srgbClr val="00A86A">
              <a:alpha val="22000"/>
            </a:srgbClr>
          </a:solidFill>
          <a:ln w="12700">
            <a:solidFill>
              <a:srgbClr val="00A86A">
                <a:alpha val="0"/>
              </a:srgbClr>
            </a:solidFill>
            <a:prstDash val="solid"/>
          </a:ln>
        </p:spPr>
      </p:sp>
      <p:pic>
        <p:nvPicPr>
          <p:cNvPr id="35" name="Image 3" descr="preencoded.png"/>
          <p:cNvPicPr>
            <a:picLocks noChangeAspect="1"/>
          </p:cNvPicPr>
          <p:nvPr/>
        </p:nvPicPr>
        <p:blipFill>
          <a:blip r:embed="rId4"/>
          <a:stretch>
            <a:fillRect/>
          </a:stretch>
        </p:blipFill>
        <p:spPr>
          <a:xfrm>
            <a:off x="634228" y="4145524"/>
            <a:ext cx="158008" cy="158008"/>
          </a:xfrm>
          <a:prstGeom prst="rect">
            <a:avLst/>
          </a:prstGeom>
        </p:spPr>
      </p:pic>
      <p:sp>
        <p:nvSpPr>
          <p:cNvPr id="36" name="Text 29"/>
          <p:cNvSpPr txBox="1"/>
          <p:nvPr/>
        </p:nvSpPr>
        <p:spPr>
          <a:xfrm>
            <a:off x="987552" y="4005072"/>
            <a:ext cx="3383280" cy="201168"/>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A near-real-time record</a:t>
            </a:r>
            <a:endParaRPr lang="en-US" sz="1100" dirty="0"/>
          </a:p>
        </p:txBody>
      </p:sp>
      <p:sp>
        <p:nvSpPr>
          <p:cNvPr id="37" name="Text 30"/>
          <p:cNvSpPr txBox="1"/>
          <p:nvPr/>
        </p:nvSpPr>
        <p:spPr>
          <a:xfrm>
            <a:off x="987552" y="4215384"/>
            <a:ext cx="3429000" cy="25603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Daily since 2012; monthly and annual composites, free of charge.</a:t>
            </a:r>
            <a:endParaRPr lang="en-US" sz="950" dirty="0"/>
          </a:p>
        </p:txBody>
      </p:sp>
      <p:sp>
        <p:nvSpPr>
          <p:cNvPr id="38" name="Text 31"/>
          <p:cNvSpPr txBox="1"/>
          <p:nvPr/>
        </p:nvSpPr>
        <p:spPr>
          <a:xfrm>
            <a:off x="4663440" y="2331720"/>
            <a:ext cx="4023360" cy="274320"/>
          </a:xfrm>
          <a:prstGeom prst="rect">
            <a:avLst/>
          </a:prstGeom>
          <a:noFill/>
          <a:ln/>
        </p:spPr>
        <p:txBody>
          <a:bodyPr wrap="square" lIns="0" tIns="0" rIns="0" bIns="0" rtlCol="0" anchor="t"/>
          <a:lstStyle/>
          <a:p>
            <a:pPr marL="0" indent="0">
              <a:buNone/>
            </a:pPr>
            <a:r>
              <a:rPr lang="en-US" sz="1400" b="1" dirty="0">
                <a:solidFill>
                  <a:srgbClr val="B83B2E"/>
                </a:solidFill>
                <a:latin typeface="Calibri" pitchFamily="34" charset="0"/>
                <a:ea typeface="Calibri" pitchFamily="34" charset="-122"/>
                <a:cs typeface="Calibri" pitchFamily="34" charset="-120"/>
              </a:rPr>
              <a:t>What it is not</a:t>
            </a:r>
            <a:endParaRPr lang="en-US" sz="1400" dirty="0"/>
          </a:p>
        </p:txBody>
      </p:sp>
      <p:sp>
        <p:nvSpPr>
          <p:cNvPr id="39" name="Shape 32"/>
          <p:cNvSpPr/>
          <p:nvPr/>
        </p:nvSpPr>
        <p:spPr>
          <a:xfrm>
            <a:off x="4663440" y="2670048"/>
            <a:ext cx="4023360" cy="548640"/>
          </a:xfrm>
          <a:prstGeom prst="roundRect">
            <a:avLst>
              <a:gd name="adj" fmla="val 13333"/>
            </a:avLst>
          </a:prstGeom>
          <a:solidFill>
            <a:srgbClr val="F4F7F5"/>
          </a:solidFill>
          <a:ln w="9525">
            <a:solidFill>
              <a:srgbClr val="D5DED9"/>
            </a:solidFill>
            <a:prstDash val="solid"/>
          </a:ln>
        </p:spPr>
      </p:sp>
      <p:sp>
        <p:nvSpPr>
          <p:cNvPr id="40" name="Shape 33"/>
          <p:cNvSpPr/>
          <p:nvPr/>
        </p:nvSpPr>
        <p:spPr>
          <a:xfrm>
            <a:off x="4754880" y="2779776"/>
            <a:ext cx="329184" cy="329184"/>
          </a:xfrm>
          <a:prstGeom prst="ellipse">
            <a:avLst/>
          </a:prstGeom>
          <a:solidFill>
            <a:srgbClr val="B83B2E">
              <a:alpha val="22000"/>
            </a:srgbClr>
          </a:solidFill>
          <a:ln w="12700">
            <a:solidFill>
              <a:srgbClr val="B83B2E">
                <a:alpha val="0"/>
              </a:srgbClr>
            </a:solidFill>
            <a:prstDash val="solid"/>
          </a:ln>
        </p:spPr>
      </p:sp>
      <p:pic>
        <p:nvPicPr>
          <p:cNvPr id="41" name="Image 4" descr="preencoded.png"/>
          <p:cNvPicPr>
            <a:picLocks noChangeAspect="1"/>
          </p:cNvPicPr>
          <p:nvPr/>
        </p:nvPicPr>
        <p:blipFill>
          <a:blip r:embed="rId5"/>
          <a:stretch>
            <a:fillRect/>
          </a:stretch>
        </p:blipFill>
        <p:spPr>
          <a:xfrm>
            <a:off x="4840468" y="2865364"/>
            <a:ext cx="158008" cy="158008"/>
          </a:xfrm>
          <a:prstGeom prst="rect">
            <a:avLst/>
          </a:prstGeom>
        </p:spPr>
      </p:pic>
      <p:sp>
        <p:nvSpPr>
          <p:cNvPr id="42" name="Text 34"/>
          <p:cNvSpPr txBox="1"/>
          <p:nvPr/>
        </p:nvSpPr>
        <p:spPr>
          <a:xfrm>
            <a:off x="5193792" y="2724912"/>
            <a:ext cx="3383280" cy="201168"/>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A photograph</a:t>
            </a:r>
            <a:endParaRPr lang="en-US" sz="1100" dirty="0"/>
          </a:p>
        </p:txBody>
      </p:sp>
      <p:sp>
        <p:nvSpPr>
          <p:cNvPr id="43" name="Text 35"/>
          <p:cNvSpPr txBox="1"/>
          <p:nvPr/>
        </p:nvSpPr>
        <p:spPr>
          <a:xfrm>
            <a:off x="5193792" y="2935224"/>
            <a:ext cx="3429000" cy="25603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The familiar “Earth at night” is a statistical composite of many cloud-free nights.</a:t>
            </a:r>
            <a:endParaRPr lang="en-US" sz="950" dirty="0"/>
          </a:p>
        </p:txBody>
      </p:sp>
      <p:sp>
        <p:nvSpPr>
          <p:cNvPr id="44" name="Shape 36"/>
          <p:cNvSpPr/>
          <p:nvPr/>
        </p:nvSpPr>
        <p:spPr>
          <a:xfrm>
            <a:off x="4663440" y="3310128"/>
            <a:ext cx="4023360" cy="548640"/>
          </a:xfrm>
          <a:prstGeom prst="roundRect">
            <a:avLst>
              <a:gd name="adj" fmla="val 13333"/>
            </a:avLst>
          </a:prstGeom>
          <a:solidFill>
            <a:srgbClr val="F4F7F5"/>
          </a:solidFill>
          <a:ln w="9525">
            <a:solidFill>
              <a:srgbClr val="D5DED9"/>
            </a:solidFill>
            <a:prstDash val="solid"/>
          </a:ln>
        </p:spPr>
      </p:sp>
      <p:sp>
        <p:nvSpPr>
          <p:cNvPr id="45" name="Shape 37"/>
          <p:cNvSpPr/>
          <p:nvPr/>
        </p:nvSpPr>
        <p:spPr>
          <a:xfrm>
            <a:off x="4754880" y="3419856"/>
            <a:ext cx="329184" cy="329184"/>
          </a:xfrm>
          <a:prstGeom prst="ellipse">
            <a:avLst/>
          </a:prstGeom>
          <a:solidFill>
            <a:srgbClr val="B83B2E">
              <a:alpha val="22000"/>
            </a:srgbClr>
          </a:solidFill>
          <a:ln w="12700">
            <a:solidFill>
              <a:srgbClr val="B83B2E">
                <a:alpha val="0"/>
              </a:srgbClr>
            </a:solidFill>
            <a:prstDash val="solid"/>
          </a:ln>
        </p:spPr>
      </p:sp>
      <p:pic>
        <p:nvPicPr>
          <p:cNvPr id="46" name="Image 5" descr="preencoded.png"/>
          <p:cNvPicPr>
            <a:picLocks noChangeAspect="1"/>
          </p:cNvPicPr>
          <p:nvPr/>
        </p:nvPicPr>
        <p:blipFill>
          <a:blip r:embed="rId5"/>
          <a:stretch>
            <a:fillRect/>
          </a:stretch>
        </p:blipFill>
        <p:spPr>
          <a:xfrm>
            <a:off x="4840468" y="3505444"/>
            <a:ext cx="158008" cy="158008"/>
          </a:xfrm>
          <a:prstGeom prst="rect">
            <a:avLst/>
          </a:prstGeom>
        </p:spPr>
      </p:pic>
      <p:sp>
        <p:nvSpPr>
          <p:cNvPr id="47" name="Text 38"/>
          <p:cNvSpPr txBox="1"/>
          <p:nvPr/>
        </p:nvSpPr>
        <p:spPr>
          <a:xfrm>
            <a:off x="5193792" y="3364992"/>
            <a:ext cx="3383280" cy="201168"/>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A direct measure of people or income</a:t>
            </a:r>
            <a:endParaRPr lang="en-US" sz="1100" dirty="0"/>
          </a:p>
        </p:txBody>
      </p:sp>
      <p:sp>
        <p:nvSpPr>
          <p:cNvPr id="48" name="Text 39"/>
          <p:cNvSpPr txBox="1"/>
          <p:nvPr/>
        </p:nvSpPr>
        <p:spPr>
          <a:xfrm>
            <a:off x="5193792" y="3575304"/>
            <a:ext cx="3429000" cy="25603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Those are inferences — each needs its own justification.</a:t>
            </a:r>
            <a:endParaRPr lang="en-US" sz="950" dirty="0"/>
          </a:p>
        </p:txBody>
      </p:sp>
      <p:sp>
        <p:nvSpPr>
          <p:cNvPr id="49" name="Shape 40"/>
          <p:cNvSpPr/>
          <p:nvPr/>
        </p:nvSpPr>
        <p:spPr>
          <a:xfrm>
            <a:off x="4663440" y="3950208"/>
            <a:ext cx="4023360" cy="548640"/>
          </a:xfrm>
          <a:prstGeom prst="roundRect">
            <a:avLst>
              <a:gd name="adj" fmla="val 13333"/>
            </a:avLst>
          </a:prstGeom>
          <a:solidFill>
            <a:srgbClr val="F4F7F5"/>
          </a:solidFill>
          <a:ln w="9525">
            <a:solidFill>
              <a:srgbClr val="D5DED9"/>
            </a:solidFill>
            <a:prstDash val="solid"/>
          </a:ln>
        </p:spPr>
      </p:sp>
      <p:sp>
        <p:nvSpPr>
          <p:cNvPr id="50" name="Shape 41"/>
          <p:cNvSpPr/>
          <p:nvPr/>
        </p:nvSpPr>
        <p:spPr>
          <a:xfrm>
            <a:off x="4754880" y="4059936"/>
            <a:ext cx="329184" cy="329184"/>
          </a:xfrm>
          <a:prstGeom prst="ellipse">
            <a:avLst/>
          </a:prstGeom>
          <a:solidFill>
            <a:srgbClr val="B83B2E">
              <a:alpha val="22000"/>
            </a:srgbClr>
          </a:solidFill>
          <a:ln w="12700">
            <a:solidFill>
              <a:srgbClr val="B83B2E">
                <a:alpha val="0"/>
              </a:srgbClr>
            </a:solidFill>
            <a:prstDash val="solid"/>
          </a:ln>
        </p:spPr>
      </p:sp>
      <p:pic>
        <p:nvPicPr>
          <p:cNvPr id="51" name="Image 6" descr="preencoded.png"/>
          <p:cNvPicPr>
            <a:picLocks noChangeAspect="1"/>
          </p:cNvPicPr>
          <p:nvPr/>
        </p:nvPicPr>
        <p:blipFill>
          <a:blip r:embed="rId5"/>
          <a:stretch>
            <a:fillRect/>
          </a:stretch>
        </p:blipFill>
        <p:spPr>
          <a:xfrm>
            <a:off x="4840468" y="4145524"/>
            <a:ext cx="158008" cy="158008"/>
          </a:xfrm>
          <a:prstGeom prst="rect">
            <a:avLst/>
          </a:prstGeom>
        </p:spPr>
      </p:pic>
      <p:sp>
        <p:nvSpPr>
          <p:cNvPr id="52" name="Text 42"/>
          <p:cNvSpPr txBox="1"/>
          <p:nvPr/>
        </p:nvSpPr>
        <p:spPr>
          <a:xfrm>
            <a:off x="5193792" y="4005072"/>
            <a:ext cx="3383280" cy="201168"/>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A complete record of lighting</a:t>
            </a:r>
            <a:endParaRPr lang="en-US" sz="1100" dirty="0"/>
          </a:p>
        </p:txBody>
      </p:sp>
      <p:sp>
        <p:nvSpPr>
          <p:cNvPr id="53" name="Text 43"/>
          <p:cNvSpPr txBox="1"/>
          <p:nvPr/>
        </p:nvSpPr>
        <p:spPr>
          <a:xfrm>
            <a:off x="5193792" y="4215384"/>
            <a:ext cx="3429000" cy="25603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Indoor, shielded and sideways light never reaches the sensor.</a:t>
            </a:r>
            <a:endParaRPr lang="en-US" sz="9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FOUNDATIONS · THE INFERENTIAL CHAIN</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From electricity to a pixel value: five links</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08</a:t>
            </a:r>
            <a:endParaRPr lang="en-US" sz="850" dirty="0"/>
          </a:p>
        </p:txBody>
      </p:sp>
      <p:sp>
        <p:nvSpPr>
          <p:cNvPr id="17" name="Shape 14"/>
          <p:cNvSpPr/>
          <p:nvPr/>
        </p:nvSpPr>
        <p:spPr>
          <a:xfrm>
            <a:off x="457200" y="1325880"/>
            <a:ext cx="1481328" cy="1828800"/>
          </a:xfrm>
          <a:prstGeom prst="roundRect">
            <a:avLst>
              <a:gd name="adj" fmla="val 4938"/>
            </a:avLst>
          </a:prstGeom>
          <a:solidFill>
            <a:srgbClr val="FFFFFF"/>
          </a:solidFill>
          <a:ln w="9525">
            <a:solidFill>
              <a:srgbClr val="00A86A"/>
            </a:solidFill>
            <a:prstDash val="solid"/>
          </a:ln>
        </p:spPr>
      </p:sp>
      <p:sp>
        <p:nvSpPr>
          <p:cNvPr id="18" name="Shape 15"/>
          <p:cNvSpPr/>
          <p:nvPr/>
        </p:nvSpPr>
        <p:spPr>
          <a:xfrm>
            <a:off x="566928" y="1435608"/>
            <a:ext cx="292608" cy="292608"/>
          </a:xfrm>
          <a:prstGeom prst="ellipse">
            <a:avLst/>
          </a:prstGeom>
          <a:solidFill>
            <a:srgbClr val="00704A"/>
          </a:solidFill>
          <a:ln w="12700">
            <a:solidFill>
              <a:srgbClr val="00704A"/>
            </a:solidFill>
            <a:prstDash val="solid"/>
          </a:ln>
        </p:spPr>
      </p:sp>
      <p:sp>
        <p:nvSpPr>
          <p:cNvPr id="19" name="Text 16"/>
          <p:cNvSpPr txBox="1"/>
          <p:nvPr/>
        </p:nvSpPr>
        <p:spPr>
          <a:xfrm>
            <a:off x="566928"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Shape 17"/>
          <p:cNvSpPr/>
          <p:nvPr/>
        </p:nvSpPr>
        <p:spPr>
          <a:xfrm>
            <a:off x="1481328" y="1417320"/>
            <a:ext cx="347472" cy="347472"/>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icPr>
            <a:picLocks noChangeAspect="1"/>
          </p:cNvPicPr>
          <p:nvPr/>
        </p:nvPicPr>
        <p:blipFill>
          <a:blip r:embed="rId3"/>
          <a:stretch>
            <a:fillRect/>
          </a:stretch>
        </p:blipFill>
        <p:spPr>
          <a:xfrm>
            <a:off x="1571671" y="1507663"/>
            <a:ext cx="166787" cy="166787"/>
          </a:xfrm>
          <a:prstGeom prst="rect">
            <a:avLst/>
          </a:prstGeom>
        </p:spPr>
      </p:pic>
      <p:sp>
        <p:nvSpPr>
          <p:cNvPr id="22" name="Text 18"/>
          <p:cNvSpPr txBox="1"/>
          <p:nvPr/>
        </p:nvSpPr>
        <p:spPr>
          <a:xfrm>
            <a:off x="566928" y="1828800"/>
            <a:ext cx="1261872" cy="41148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Energy &amp; infrastructure</a:t>
            </a:r>
            <a:endParaRPr lang="en-US" sz="1200" dirty="0"/>
          </a:p>
        </p:txBody>
      </p:sp>
      <p:sp>
        <p:nvSpPr>
          <p:cNvPr id="23" name="Text 19"/>
          <p:cNvSpPr txBox="1"/>
          <p:nvPr/>
        </p:nvSpPr>
        <p:spPr>
          <a:xfrm>
            <a:off x="566928" y="2258568"/>
            <a:ext cx="1280160" cy="8229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grid, generator or fuel supply exists and is operating.</a:t>
            </a:r>
            <a:endParaRPr lang="en-US" sz="950" dirty="0"/>
          </a:p>
        </p:txBody>
      </p:sp>
      <p:sp>
        <p:nvSpPr>
          <p:cNvPr id="24" name="Shape 20"/>
          <p:cNvSpPr/>
          <p:nvPr/>
        </p:nvSpPr>
        <p:spPr>
          <a:xfrm>
            <a:off x="1956816" y="2240280"/>
            <a:ext cx="164592" cy="91"/>
          </a:xfrm>
          <a:prstGeom prst="line">
            <a:avLst/>
          </a:prstGeom>
          <a:noFill/>
          <a:ln w="15875">
            <a:solidFill>
              <a:srgbClr val="5E6964"/>
            </a:solidFill>
            <a:prstDash val="solid"/>
            <a:tailEnd type="triangle"/>
          </a:ln>
        </p:spPr>
      </p:sp>
      <p:sp>
        <p:nvSpPr>
          <p:cNvPr id="25" name="Shape 21"/>
          <p:cNvSpPr/>
          <p:nvPr/>
        </p:nvSpPr>
        <p:spPr>
          <a:xfrm>
            <a:off x="2139696" y="1325880"/>
            <a:ext cx="1481328" cy="1828800"/>
          </a:xfrm>
          <a:prstGeom prst="roundRect">
            <a:avLst>
              <a:gd name="adj" fmla="val 4938"/>
            </a:avLst>
          </a:prstGeom>
          <a:solidFill>
            <a:srgbClr val="FFFFFF"/>
          </a:solidFill>
          <a:ln w="9525">
            <a:solidFill>
              <a:srgbClr val="00704A"/>
            </a:solidFill>
            <a:prstDash val="solid"/>
          </a:ln>
        </p:spPr>
      </p:sp>
      <p:sp>
        <p:nvSpPr>
          <p:cNvPr id="26" name="Shape 22"/>
          <p:cNvSpPr/>
          <p:nvPr/>
        </p:nvSpPr>
        <p:spPr>
          <a:xfrm>
            <a:off x="2249424" y="1435608"/>
            <a:ext cx="292608" cy="292608"/>
          </a:xfrm>
          <a:prstGeom prst="ellipse">
            <a:avLst/>
          </a:prstGeom>
          <a:solidFill>
            <a:srgbClr val="00704A"/>
          </a:solidFill>
          <a:ln w="12700">
            <a:solidFill>
              <a:srgbClr val="00704A"/>
            </a:solidFill>
            <a:prstDash val="solid"/>
          </a:ln>
        </p:spPr>
      </p:sp>
      <p:sp>
        <p:nvSpPr>
          <p:cNvPr id="27" name="Text 23"/>
          <p:cNvSpPr txBox="1"/>
          <p:nvPr/>
        </p:nvSpPr>
        <p:spPr>
          <a:xfrm>
            <a:off x="2249424"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Shape 24"/>
          <p:cNvSpPr/>
          <p:nvPr/>
        </p:nvSpPr>
        <p:spPr>
          <a:xfrm>
            <a:off x="3163824" y="1417320"/>
            <a:ext cx="347472" cy="347472"/>
          </a:xfrm>
          <a:prstGeom prst="ellipse">
            <a:avLst/>
          </a:prstGeom>
          <a:solidFill>
            <a:srgbClr val="00A86A">
              <a:alpha val="22000"/>
            </a:srgbClr>
          </a:solidFill>
          <a:ln w="12700">
            <a:solidFill>
              <a:srgbClr val="00A86A">
                <a:alpha val="0"/>
              </a:srgbClr>
            </a:solidFill>
            <a:prstDash val="solid"/>
          </a:ln>
        </p:spPr>
      </p:sp>
      <p:pic>
        <p:nvPicPr>
          <p:cNvPr id="29" name="Image 1" descr="preencoded.png"/>
          <p:cNvPicPr>
            <a:picLocks noChangeAspect="1"/>
          </p:cNvPicPr>
          <p:nvPr/>
        </p:nvPicPr>
        <p:blipFill>
          <a:blip r:embed="rId4"/>
          <a:stretch>
            <a:fillRect/>
          </a:stretch>
        </p:blipFill>
        <p:spPr>
          <a:xfrm>
            <a:off x="3254167" y="1507663"/>
            <a:ext cx="166787" cy="166787"/>
          </a:xfrm>
          <a:prstGeom prst="rect">
            <a:avLst/>
          </a:prstGeom>
        </p:spPr>
      </p:pic>
      <p:sp>
        <p:nvSpPr>
          <p:cNvPr id="30" name="Text 25"/>
          <p:cNvSpPr txBox="1"/>
          <p:nvPr/>
        </p:nvSpPr>
        <p:spPr>
          <a:xfrm>
            <a:off x="2249424" y="1828800"/>
            <a:ext cx="1261872" cy="41148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Activity after dark</a:t>
            </a:r>
            <a:endParaRPr lang="en-US" sz="1200" dirty="0"/>
          </a:p>
        </p:txBody>
      </p:sp>
      <p:sp>
        <p:nvSpPr>
          <p:cNvPr id="31" name="Text 26"/>
          <p:cNvSpPr txBox="1"/>
          <p:nvPr/>
        </p:nvSpPr>
        <p:spPr>
          <a:xfrm>
            <a:off x="2249424" y="2258568"/>
            <a:ext cx="1280160" cy="8229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People use that energy for lighting: streets, homes, markets, industry.</a:t>
            </a:r>
            <a:endParaRPr lang="en-US" sz="950" dirty="0"/>
          </a:p>
        </p:txBody>
      </p:sp>
      <p:sp>
        <p:nvSpPr>
          <p:cNvPr id="32" name="Shape 27"/>
          <p:cNvSpPr/>
          <p:nvPr/>
        </p:nvSpPr>
        <p:spPr>
          <a:xfrm>
            <a:off x="3639312" y="2240280"/>
            <a:ext cx="164592" cy="91"/>
          </a:xfrm>
          <a:prstGeom prst="line">
            <a:avLst/>
          </a:prstGeom>
          <a:noFill/>
          <a:ln w="15875">
            <a:solidFill>
              <a:srgbClr val="5E6964"/>
            </a:solidFill>
            <a:prstDash val="solid"/>
            <a:tailEnd type="triangle"/>
          </a:ln>
        </p:spPr>
      </p:sp>
      <p:sp>
        <p:nvSpPr>
          <p:cNvPr id="33" name="Shape 28"/>
          <p:cNvSpPr/>
          <p:nvPr/>
        </p:nvSpPr>
        <p:spPr>
          <a:xfrm>
            <a:off x="3822192" y="1325880"/>
            <a:ext cx="1481328" cy="1828800"/>
          </a:xfrm>
          <a:prstGeom prst="roundRect">
            <a:avLst>
              <a:gd name="adj" fmla="val 4938"/>
            </a:avLst>
          </a:prstGeom>
          <a:solidFill>
            <a:srgbClr val="FFFFFF"/>
          </a:solidFill>
          <a:ln w="9525">
            <a:solidFill>
              <a:srgbClr val="0E7C86"/>
            </a:solidFill>
            <a:prstDash val="solid"/>
          </a:ln>
        </p:spPr>
      </p:sp>
      <p:sp>
        <p:nvSpPr>
          <p:cNvPr id="34" name="Shape 29"/>
          <p:cNvSpPr/>
          <p:nvPr/>
        </p:nvSpPr>
        <p:spPr>
          <a:xfrm>
            <a:off x="3931920" y="1435608"/>
            <a:ext cx="292608" cy="292608"/>
          </a:xfrm>
          <a:prstGeom prst="ellipse">
            <a:avLst/>
          </a:prstGeom>
          <a:solidFill>
            <a:srgbClr val="00704A"/>
          </a:solidFill>
          <a:ln w="12700">
            <a:solidFill>
              <a:srgbClr val="00704A"/>
            </a:solidFill>
            <a:prstDash val="solid"/>
          </a:ln>
        </p:spPr>
      </p:sp>
      <p:sp>
        <p:nvSpPr>
          <p:cNvPr id="35" name="Text 30"/>
          <p:cNvSpPr txBox="1"/>
          <p:nvPr/>
        </p:nvSpPr>
        <p:spPr>
          <a:xfrm>
            <a:off x="3931920"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6" name="Shape 31"/>
          <p:cNvSpPr/>
          <p:nvPr/>
        </p:nvSpPr>
        <p:spPr>
          <a:xfrm>
            <a:off x="4846320" y="1417320"/>
            <a:ext cx="347472" cy="347472"/>
          </a:xfrm>
          <a:prstGeom prst="ellipse">
            <a:avLst/>
          </a:prstGeom>
          <a:solidFill>
            <a:srgbClr val="00A86A">
              <a:alpha val="22000"/>
            </a:srgbClr>
          </a:solidFill>
          <a:ln w="12700">
            <a:solidFill>
              <a:srgbClr val="00A86A">
                <a:alpha val="0"/>
              </a:srgbClr>
            </a:solidFill>
            <a:prstDash val="solid"/>
          </a:ln>
        </p:spPr>
      </p:sp>
      <p:pic>
        <p:nvPicPr>
          <p:cNvPr id="37" name="Image 2" descr="preencoded.png"/>
          <p:cNvPicPr>
            <a:picLocks noChangeAspect="1"/>
          </p:cNvPicPr>
          <p:nvPr/>
        </p:nvPicPr>
        <p:blipFill>
          <a:blip r:embed="rId5"/>
          <a:stretch>
            <a:fillRect/>
          </a:stretch>
        </p:blipFill>
        <p:spPr>
          <a:xfrm>
            <a:off x="4936663" y="1507663"/>
            <a:ext cx="166787" cy="166787"/>
          </a:xfrm>
          <a:prstGeom prst="rect">
            <a:avLst/>
          </a:prstGeom>
        </p:spPr>
      </p:pic>
      <p:sp>
        <p:nvSpPr>
          <p:cNvPr id="38" name="Text 32"/>
          <p:cNvSpPr txBox="1"/>
          <p:nvPr/>
        </p:nvSpPr>
        <p:spPr>
          <a:xfrm>
            <a:off x="3931920" y="1828800"/>
            <a:ext cx="1261872" cy="41148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Upward emission</a:t>
            </a:r>
            <a:endParaRPr lang="en-US" sz="1200" dirty="0"/>
          </a:p>
        </p:txBody>
      </p:sp>
      <p:sp>
        <p:nvSpPr>
          <p:cNvPr id="39" name="Text 33"/>
          <p:cNvSpPr txBox="1"/>
          <p:nvPr/>
        </p:nvSpPr>
        <p:spPr>
          <a:xfrm>
            <a:off x="3931920" y="2258568"/>
            <a:ext cx="1280160" cy="8229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fraction of the light escapes upward rather than being shielded.</a:t>
            </a:r>
            <a:endParaRPr lang="en-US" sz="950" dirty="0"/>
          </a:p>
        </p:txBody>
      </p:sp>
      <p:sp>
        <p:nvSpPr>
          <p:cNvPr id="40" name="Shape 34"/>
          <p:cNvSpPr/>
          <p:nvPr/>
        </p:nvSpPr>
        <p:spPr>
          <a:xfrm>
            <a:off x="5321808" y="2240280"/>
            <a:ext cx="164592" cy="91"/>
          </a:xfrm>
          <a:prstGeom prst="line">
            <a:avLst/>
          </a:prstGeom>
          <a:noFill/>
          <a:ln w="15875">
            <a:solidFill>
              <a:srgbClr val="5E6964"/>
            </a:solidFill>
            <a:prstDash val="solid"/>
            <a:tailEnd type="triangle"/>
          </a:ln>
        </p:spPr>
      </p:sp>
      <p:sp>
        <p:nvSpPr>
          <p:cNvPr id="41" name="Shape 35"/>
          <p:cNvSpPr/>
          <p:nvPr/>
        </p:nvSpPr>
        <p:spPr>
          <a:xfrm>
            <a:off x="5504688" y="1325880"/>
            <a:ext cx="1481328" cy="1828800"/>
          </a:xfrm>
          <a:prstGeom prst="roundRect">
            <a:avLst>
              <a:gd name="adj" fmla="val 4938"/>
            </a:avLst>
          </a:prstGeom>
          <a:solidFill>
            <a:srgbClr val="FFFFFF"/>
          </a:solidFill>
          <a:ln w="9525">
            <a:solidFill>
              <a:srgbClr val="0E7C86"/>
            </a:solidFill>
            <a:prstDash val="solid"/>
          </a:ln>
        </p:spPr>
      </p:sp>
      <p:sp>
        <p:nvSpPr>
          <p:cNvPr id="42" name="Shape 36"/>
          <p:cNvSpPr/>
          <p:nvPr/>
        </p:nvSpPr>
        <p:spPr>
          <a:xfrm>
            <a:off x="5614416" y="1435608"/>
            <a:ext cx="292608" cy="292608"/>
          </a:xfrm>
          <a:prstGeom prst="ellipse">
            <a:avLst/>
          </a:prstGeom>
          <a:solidFill>
            <a:srgbClr val="00704A"/>
          </a:solidFill>
          <a:ln w="12700">
            <a:solidFill>
              <a:srgbClr val="00704A"/>
            </a:solidFill>
            <a:prstDash val="solid"/>
          </a:ln>
        </p:spPr>
      </p:sp>
      <p:sp>
        <p:nvSpPr>
          <p:cNvPr id="43" name="Text 37"/>
          <p:cNvSpPr txBox="1"/>
          <p:nvPr/>
        </p:nvSpPr>
        <p:spPr>
          <a:xfrm>
            <a:off x="5614416"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Shape 38"/>
          <p:cNvSpPr/>
          <p:nvPr/>
        </p:nvSpPr>
        <p:spPr>
          <a:xfrm>
            <a:off x="6528816" y="1417320"/>
            <a:ext cx="347472" cy="347472"/>
          </a:xfrm>
          <a:prstGeom prst="ellipse">
            <a:avLst/>
          </a:prstGeom>
          <a:solidFill>
            <a:srgbClr val="00A86A">
              <a:alpha val="22000"/>
            </a:srgbClr>
          </a:solidFill>
          <a:ln w="12700">
            <a:solidFill>
              <a:srgbClr val="00A86A">
                <a:alpha val="0"/>
              </a:srgbClr>
            </a:solidFill>
            <a:prstDash val="solid"/>
          </a:ln>
        </p:spPr>
      </p:sp>
      <p:pic>
        <p:nvPicPr>
          <p:cNvPr id="45" name="Image 3" descr="preencoded.png"/>
          <p:cNvPicPr>
            <a:picLocks noChangeAspect="1"/>
          </p:cNvPicPr>
          <p:nvPr/>
        </p:nvPicPr>
        <p:blipFill>
          <a:blip r:embed="rId6"/>
          <a:stretch>
            <a:fillRect/>
          </a:stretch>
        </p:blipFill>
        <p:spPr>
          <a:xfrm>
            <a:off x="6619159" y="1507663"/>
            <a:ext cx="166787" cy="166787"/>
          </a:xfrm>
          <a:prstGeom prst="rect">
            <a:avLst/>
          </a:prstGeom>
        </p:spPr>
      </p:pic>
      <p:sp>
        <p:nvSpPr>
          <p:cNvPr id="46" name="Text 39"/>
          <p:cNvSpPr txBox="1"/>
          <p:nvPr/>
        </p:nvSpPr>
        <p:spPr>
          <a:xfrm>
            <a:off x="5614416" y="1828800"/>
            <a:ext cx="1261872" cy="41148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Atmospheric transfer</a:t>
            </a:r>
            <a:endParaRPr lang="en-US" sz="1200" dirty="0"/>
          </a:p>
        </p:txBody>
      </p:sp>
      <p:sp>
        <p:nvSpPr>
          <p:cNvPr id="47" name="Text 40"/>
          <p:cNvSpPr txBox="1"/>
          <p:nvPr/>
        </p:nvSpPr>
        <p:spPr>
          <a:xfrm>
            <a:off x="5614416" y="2258568"/>
            <a:ext cx="1280160" cy="8229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Photons cross the atmosphere, attenuated by aerosols, vapour and cloud.</a:t>
            </a:r>
            <a:endParaRPr lang="en-US" sz="950" dirty="0"/>
          </a:p>
        </p:txBody>
      </p:sp>
      <p:sp>
        <p:nvSpPr>
          <p:cNvPr id="48" name="Shape 41"/>
          <p:cNvSpPr/>
          <p:nvPr/>
        </p:nvSpPr>
        <p:spPr>
          <a:xfrm>
            <a:off x="7004304" y="2240280"/>
            <a:ext cx="164592" cy="91"/>
          </a:xfrm>
          <a:prstGeom prst="line">
            <a:avLst/>
          </a:prstGeom>
          <a:noFill/>
          <a:ln w="15875">
            <a:solidFill>
              <a:srgbClr val="5E6964"/>
            </a:solidFill>
            <a:prstDash val="solid"/>
            <a:tailEnd type="triangle"/>
          </a:ln>
        </p:spPr>
      </p:sp>
      <p:sp>
        <p:nvSpPr>
          <p:cNvPr id="49" name="Shape 42"/>
          <p:cNvSpPr/>
          <p:nvPr/>
        </p:nvSpPr>
        <p:spPr>
          <a:xfrm>
            <a:off x="7187184" y="1325880"/>
            <a:ext cx="1481328" cy="1828800"/>
          </a:xfrm>
          <a:prstGeom prst="roundRect">
            <a:avLst>
              <a:gd name="adj" fmla="val 4938"/>
            </a:avLst>
          </a:prstGeom>
          <a:solidFill>
            <a:srgbClr val="FFFFFF"/>
          </a:solidFill>
          <a:ln w="9525">
            <a:solidFill>
              <a:srgbClr val="00704A"/>
            </a:solidFill>
            <a:prstDash val="solid"/>
          </a:ln>
        </p:spPr>
      </p:sp>
      <p:sp>
        <p:nvSpPr>
          <p:cNvPr id="50" name="Shape 43"/>
          <p:cNvSpPr/>
          <p:nvPr/>
        </p:nvSpPr>
        <p:spPr>
          <a:xfrm>
            <a:off x="7296912" y="1435608"/>
            <a:ext cx="292608" cy="292608"/>
          </a:xfrm>
          <a:prstGeom prst="ellipse">
            <a:avLst/>
          </a:prstGeom>
          <a:solidFill>
            <a:srgbClr val="00704A"/>
          </a:solidFill>
          <a:ln w="12700">
            <a:solidFill>
              <a:srgbClr val="00704A"/>
            </a:solidFill>
            <a:prstDash val="solid"/>
          </a:ln>
        </p:spPr>
      </p:sp>
      <p:sp>
        <p:nvSpPr>
          <p:cNvPr id="51" name="Text 44"/>
          <p:cNvSpPr txBox="1"/>
          <p:nvPr/>
        </p:nvSpPr>
        <p:spPr>
          <a:xfrm>
            <a:off x="7296912"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2" name="Shape 45"/>
          <p:cNvSpPr/>
          <p:nvPr/>
        </p:nvSpPr>
        <p:spPr>
          <a:xfrm>
            <a:off x="8211312" y="1417320"/>
            <a:ext cx="347472" cy="347472"/>
          </a:xfrm>
          <a:prstGeom prst="ellipse">
            <a:avLst/>
          </a:prstGeom>
          <a:solidFill>
            <a:srgbClr val="00A86A">
              <a:alpha val="22000"/>
            </a:srgbClr>
          </a:solidFill>
          <a:ln w="12700">
            <a:solidFill>
              <a:srgbClr val="00A86A">
                <a:alpha val="0"/>
              </a:srgbClr>
            </a:solidFill>
            <a:prstDash val="solid"/>
          </a:ln>
        </p:spPr>
      </p:sp>
      <p:pic>
        <p:nvPicPr>
          <p:cNvPr id="53" name="Image 4" descr="preencoded.png"/>
          <p:cNvPicPr>
            <a:picLocks noChangeAspect="1"/>
          </p:cNvPicPr>
          <p:nvPr/>
        </p:nvPicPr>
        <p:blipFill>
          <a:blip r:embed="rId7"/>
          <a:stretch>
            <a:fillRect/>
          </a:stretch>
        </p:blipFill>
        <p:spPr>
          <a:xfrm>
            <a:off x="8301655" y="1507663"/>
            <a:ext cx="166787" cy="166787"/>
          </a:xfrm>
          <a:prstGeom prst="rect">
            <a:avLst/>
          </a:prstGeom>
        </p:spPr>
      </p:pic>
      <p:sp>
        <p:nvSpPr>
          <p:cNvPr id="54" name="Text 46"/>
          <p:cNvSpPr txBox="1"/>
          <p:nvPr/>
        </p:nvSpPr>
        <p:spPr>
          <a:xfrm>
            <a:off x="7296912" y="1828800"/>
            <a:ext cx="1261872" cy="41148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Sensor response</a:t>
            </a:r>
            <a:endParaRPr lang="en-US" sz="1200" dirty="0"/>
          </a:p>
        </p:txBody>
      </p:sp>
      <p:sp>
        <p:nvSpPr>
          <p:cNvPr id="55" name="Text 47"/>
          <p:cNvSpPr txBox="1"/>
          <p:nvPr/>
        </p:nvSpPr>
        <p:spPr>
          <a:xfrm>
            <a:off x="7296912" y="2258568"/>
            <a:ext cx="1280160" cy="8229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The detector integrates them over its band into a radiance value.</a:t>
            </a:r>
            <a:endParaRPr lang="en-US" sz="950" dirty="0"/>
          </a:p>
        </p:txBody>
      </p:sp>
      <p:sp>
        <p:nvSpPr>
          <p:cNvPr id="56" name="Shape 48"/>
          <p:cNvSpPr/>
          <p:nvPr/>
        </p:nvSpPr>
        <p:spPr>
          <a:xfrm>
            <a:off x="457200" y="3291840"/>
            <a:ext cx="8229600" cy="1234440"/>
          </a:xfrm>
          <a:prstGeom prst="roundRect">
            <a:avLst>
              <a:gd name="adj" fmla="val 5926"/>
            </a:avLst>
          </a:prstGeom>
          <a:solidFill>
            <a:srgbClr val="D49A00">
              <a:alpha val="13000"/>
            </a:srgbClr>
          </a:solidFill>
          <a:ln w="12700">
            <a:solidFill>
              <a:srgbClr val="D49A00"/>
            </a:solidFill>
            <a:prstDash val="solid"/>
          </a:ln>
        </p:spPr>
      </p:sp>
      <p:sp>
        <p:nvSpPr>
          <p:cNvPr id="57" name="Shape 49"/>
          <p:cNvSpPr/>
          <p:nvPr/>
        </p:nvSpPr>
        <p:spPr>
          <a:xfrm>
            <a:off x="594360" y="3401568"/>
            <a:ext cx="384048" cy="384048"/>
          </a:xfrm>
          <a:prstGeom prst="ellipse">
            <a:avLst/>
          </a:prstGeom>
          <a:solidFill>
            <a:srgbClr val="D49A00">
              <a:alpha val="22000"/>
            </a:srgbClr>
          </a:solidFill>
          <a:ln w="12700">
            <a:solidFill>
              <a:srgbClr val="D49A00">
                <a:alpha val="0"/>
              </a:srgbClr>
            </a:solidFill>
            <a:prstDash val="solid"/>
          </a:ln>
        </p:spPr>
      </p:sp>
      <p:pic>
        <p:nvPicPr>
          <p:cNvPr id="58" name="Image 5" descr="preencoded.png"/>
          <p:cNvPicPr>
            <a:picLocks noChangeAspect="1"/>
          </p:cNvPicPr>
          <p:nvPr/>
        </p:nvPicPr>
        <p:blipFill>
          <a:blip r:embed="rId8"/>
          <a:stretch>
            <a:fillRect/>
          </a:stretch>
        </p:blipFill>
        <p:spPr>
          <a:xfrm>
            <a:off x="694212" y="3501420"/>
            <a:ext cx="184343" cy="184343"/>
          </a:xfrm>
          <a:prstGeom prst="rect">
            <a:avLst/>
          </a:prstGeom>
        </p:spPr>
      </p:pic>
      <p:sp>
        <p:nvSpPr>
          <p:cNvPr id="59" name="Text 50"/>
          <p:cNvSpPr txBox="1"/>
          <p:nvPr/>
        </p:nvSpPr>
        <p:spPr>
          <a:xfrm>
            <a:off x="1097280" y="3401568"/>
            <a:ext cx="731520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Where the chain breaks in African contexts — a dark pixel can mean …</a:t>
            </a:r>
            <a:endParaRPr lang="en-US" sz="1250" dirty="0"/>
          </a:p>
        </p:txBody>
      </p:sp>
      <p:sp>
        <p:nvSpPr>
          <p:cNvPr id="60" name="Shape 51"/>
          <p:cNvSpPr/>
          <p:nvPr/>
        </p:nvSpPr>
        <p:spPr>
          <a:xfrm>
            <a:off x="1097280" y="3739896"/>
            <a:ext cx="685800" cy="219456"/>
          </a:xfrm>
          <a:prstGeom prst="roundRect">
            <a:avLst>
              <a:gd name="adj" fmla="val 50000"/>
            </a:avLst>
          </a:prstGeom>
          <a:solidFill>
            <a:srgbClr val="D49A00">
              <a:alpha val="15000"/>
            </a:srgbClr>
          </a:solidFill>
          <a:ln w="9525">
            <a:solidFill>
              <a:srgbClr val="D49A00"/>
            </a:solidFill>
            <a:prstDash val="solid"/>
          </a:ln>
        </p:spPr>
      </p:sp>
      <p:sp>
        <p:nvSpPr>
          <p:cNvPr id="61" name="Text 52"/>
          <p:cNvSpPr txBox="1"/>
          <p:nvPr/>
        </p:nvSpPr>
        <p:spPr>
          <a:xfrm>
            <a:off x="1097280" y="3739896"/>
            <a:ext cx="68580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Link 1</a:t>
            </a:r>
            <a:endParaRPr lang="en-US" sz="850" dirty="0"/>
          </a:p>
        </p:txBody>
      </p:sp>
      <p:sp>
        <p:nvSpPr>
          <p:cNvPr id="62" name="Text 53"/>
          <p:cNvSpPr txBox="1"/>
          <p:nvPr/>
        </p:nvSpPr>
        <p:spPr>
          <a:xfrm>
            <a:off x="1874520" y="3721608"/>
            <a:ext cx="2926080" cy="27432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Load-shedding or fuel shortage — people are there, power is not</a:t>
            </a:r>
            <a:endParaRPr lang="en-US" sz="1000" dirty="0"/>
          </a:p>
        </p:txBody>
      </p:sp>
      <p:sp>
        <p:nvSpPr>
          <p:cNvPr id="63" name="Shape 54"/>
          <p:cNvSpPr/>
          <p:nvPr/>
        </p:nvSpPr>
        <p:spPr>
          <a:xfrm>
            <a:off x="4846320" y="3739896"/>
            <a:ext cx="685800" cy="219456"/>
          </a:xfrm>
          <a:prstGeom prst="roundRect">
            <a:avLst>
              <a:gd name="adj" fmla="val 50000"/>
            </a:avLst>
          </a:prstGeom>
          <a:solidFill>
            <a:srgbClr val="D49A00">
              <a:alpha val="15000"/>
            </a:srgbClr>
          </a:solidFill>
          <a:ln w="9525">
            <a:solidFill>
              <a:srgbClr val="D49A00"/>
            </a:solidFill>
            <a:prstDash val="solid"/>
          </a:ln>
        </p:spPr>
      </p:sp>
      <p:sp>
        <p:nvSpPr>
          <p:cNvPr id="64" name="Text 55"/>
          <p:cNvSpPr txBox="1"/>
          <p:nvPr/>
        </p:nvSpPr>
        <p:spPr>
          <a:xfrm>
            <a:off x="4846320" y="3739896"/>
            <a:ext cx="68580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Link 2–3</a:t>
            </a:r>
            <a:endParaRPr lang="en-US" sz="850" dirty="0"/>
          </a:p>
        </p:txBody>
      </p:sp>
      <p:sp>
        <p:nvSpPr>
          <p:cNvPr id="65" name="Text 56"/>
          <p:cNvSpPr txBox="1"/>
          <p:nvPr/>
        </p:nvSpPr>
        <p:spPr>
          <a:xfrm>
            <a:off x="5623560" y="3721608"/>
            <a:ext cx="2926080" cy="27432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Solar lanterns and small home systems too faint to detect</a:t>
            </a:r>
            <a:endParaRPr lang="en-US" sz="1000" dirty="0"/>
          </a:p>
        </p:txBody>
      </p:sp>
      <p:sp>
        <p:nvSpPr>
          <p:cNvPr id="66" name="Shape 57"/>
          <p:cNvSpPr/>
          <p:nvPr/>
        </p:nvSpPr>
        <p:spPr>
          <a:xfrm>
            <a:off x="1097280" y="4105656"/>
            <a:ext cx="685800" cy="219456"/>
          </a:xfrm>
          <a:prstGeom prst="roundRect">
            <a:avLst>
              <a:gd name="adj" fmla="val 50000"/>
            </a:avLst>
          </a:prstGeom>
          <a:solidFill>
            <a:srgbClr val="D49A00">
              <a:alpha val="15000"/>
            </a:srgbClr>
          </a:solidFill>
          <a:ln w="9525">
            <a:solidFill>
              <a:srgbClr val="D49A00"/>
            </a:solidFill>
            <a:prstDash val="solid"/>
          </a:ln>
        </p:spPr>
      </p:sp>
      <p:sp>
        <p:nvSpPr>
          <p:cNvPr id="67" name="Text 58"/>
          <p:cNvSpPr txBox="1"/>
          <p:nvPr/>
        </p:nvSpPr>
        <p:spPr>
          <a:xfrm>
            <a:off x="1097280" y="4105656"/>
            <a:ext cx="68580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Link 4</a:t>
            </a:r>
            <a:endParaRPr lang="en-US" sz="850" dirty="0"/>
          </a:p>
        </p:txBody>
      </p:sp>
      <p:sp>
        <p:nvSpPr>
          <p:cNvPr id="68" name="Text 59"/>
          <p:cNvSpPr txBox="1"/>
          <p:nvPr/>
        </p:nvSpPr>
        <p:spPr>
          <a:xfrm>
            <a:off x="1874520" y="4087368"/>
            <a:ext cx="2926080" cy="27432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Rainy-season cloud, harmattan dust, biomass-burning smoke</a:t>
            </a:r>
            <a:endParaRPr lang="en-US" sz="1000" dirty="0"/>
          </a:p>
        </p:txBody>
      </p:sp>
      <p:sp>
        <p:nvSpPr>
          <p:cNvPr id="69" name="Shape 60"/>
          <p:cNvSpPr/>
          <p:nvPr/>
        </p:nvSpPr>
        <p:spPr>
          <a:xfrm>
            <a:off x="4846320" y="4105656"/>
            <a:ext cx="685800" cy="219456"/>
          </a:xfrm>
          <a:prstGeom prst="roundRect">
            <a:avLst>
              <a:gd name="adj" fmla="val 50000"/>
            </a:avLst>
          </a:prstGeom>
          <a:solidFill>
            <a:srgbClr val="D49A00">
              <a:alpha val="15000"/>
            </a:srgbClr>
          </a:solidFill>
          <a:ln w="9525">
            <a:solidFill>
              <a:srgbClr val="D49A00"/>
            </a:solidFill>
            <a:prstDash val="solid"/>
          </a:ln>
        </p:spPr>
      </p:sp>
      <p:sp>
        <p:nvSpPr>
          <p:cNvPr id="70" name="Text 61"/>
          <p:cNvSpPr txBox="1"/>
          <p:nvPr/>
        </p:nvSpPr>
        <p:spPr>
          <a:xfrm>
            <a:off x="4846320" y="4105656"/>
            <a:ext cx="68580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Link 5</a:t>
            </a:r>
            <a:endParaRPr lang="en-US" sz="850" dirty="0"/>
          </a:p>
        </p:txBody>
      </p:sp>
      <p:sp>
        <p:nvSpPr>
          <p:cNvPr id="71" name="Text 62"/>
          <p:cNvSpPr txBox="1"/>
          <p:nvPr/>
        </p:nvSpPr>
        <p:spPr>
          <a:xfrm>
            <a:off x="5623560" y="4087368"/>
            <a:ext cx="2926080" cy="27432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Rural light below the sensor’s detection floor</a:t>
            </a:r>
            <a:endParaRPr lang="en-US" sz="10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2</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3"/>
          <p:cNvSpPr txBox="1"/>
          <p:nvPr/>
        </p:nvSpPr>
        <p:spPr>
          <a:xfrm>
            <a:off x="548640" y="224028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The instruments</a:t>
            </a:r>
            <a:endParaRPr lang="en-US" sz="4000" dirty="0"/>
          </a:p>
        </p:txBody>
      </p:sp>
      <p:sp>
        <p:nvSpPr>
          <p:cNvPr id="6" name="Text 4"/>
          <p:cNvSpPr txBox="1"/>
          <p:nvPr/>
        </p:nvSpPr>
        <p:spPr>
          <a:xfrm>
            <a:off x="548640" y="2971800"/>
            <a:ext cx="493776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What exactly is doing the measuring, and what can it resolve?</a:t>
            </a:r>
            <a:endParaRPr lang="en-US" sz="1800" dirty="0"/>
          </a:p>
        </p:txBody>
      </p:sp>
      <p:sp>
        <p:nvSpPr>
          <p:cNvPr id="7" name="Text 5"/>
          <p:cNvSpPr txBox="1"/>
          <p:nvPr/>
        </p:nvSpPr>
        <p:spPr>
          <a:xfrm>
            <a:off x="548640" y="3703320"/>
            <a:ext cx="512064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History  ·  DMSP versus VIIRS  ·  Saturation and dynamic range</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5C242"/>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THE INSTRUMENTS · HISTORY</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Fifty years of looking down at the dark</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2788920"/>
            <a:ext cx="8229600" cy="0"/>
          </a:xfrm>
          <a:prstGeom prst="line">
            <a:avLst/>
          </a:prstGeom>
          <a:noFill/>
          <a:ln w="25400">
            <a:solidFill>
              <a:srgbClr val="D5DED9"/>
            </a:solidFill>
            <a:prstDash val="solid"/>
          </a:ln>
        </p:spPr>
      </p:sp>
      <p:sp>
        <p:nvSpPr>
          <p:cNvPr id="18" name="Shape 15"/>
          <p:cNvSpPr/>
          <p:nvPr/>
        </p:nvSpPr>
        <p:spPr>
          <a:xfrm>
            <a:off x="1014984" y="2706624"/>
            <a:ext cx="164592" cy="164592"/>
          </a:xfrm>
          <a:prstGeom prst="ellipse">
            <a:avLst/>
          </a:prstGeom>
          <a:solidFill>
            <a:srgbClr val="5E6964"/>
          </a:solidFill>
          <a:ln w="19050">
            <a:solidFill>
              <a:srgbClr val="FFFFFF"/>
            </a:solidFill>
            <a:prstDash val="solid"/>
          </a:ln>
        </p:spPr>
      </p:sp>
      <p:sp>
        <p:nvSpPr>
          <p:cNvPr id="19" name="Shape 16"/>
          <p:cNvSpPr/>
          <p:nvPr/>
        </p:nvSpPr>
        <p:spPr>
          <a:xfrm>
            <a:off x="1097280" y="2423160"/>
            <a:ext cx="0" cy="283464"/>
          </a:xfrm>
          <a:prstGeom prst="line">
            <a:avLst/>
          </a:prstGeom>
          <a:noFill/>
          <a:ln w="9525">
            <a:solidFill>
              <a:srgbClr val="D5DED9"/>
            </a:solidFill>
            <a:prstDash val="solid"/>
          </a:ln>
        </p:spPr>
      </p:sp>
      <p:sp>
        <p:nvSpPr>
          <p:cNvPr id="20" name="Text 17"/>
          <p:cNvSpPr txBox="1"/>
          <p:nvPr/>
        </p:nvSpPr>
        <p:spPr>
          <a:xfrm>
            <a:off x="548640" y="2130552"/>
            <a:ext cx="1097280" cy="274320"/>
          </a:xfrm>
          <a:prstGeom prst="rect">
            <a:avLst/>
          </a:prstGeom>
          <a:noFill/>
          <a:ln/>
        </p:spPr>
        <p:txBody>
          <a:bodyPr wrap="square" lIns="0" tIns="0" rIns="0" bIns="0" rtlCol="0" anchor="t"/>
          <a:lstStyle/>
          <a:p>
            <a:pPr marL="0" indent="0" algn="ctr">
              <a:buNone/>
            </a:pPr>
            <a:r>
              <a:rPr lang="en-US" sz="1500" b="1" dirty="0">
                <a:solidFill>
                  <a:srgbClr val="5E6964"/>
                </a:solidFill>
                <a:latin typeface="Calibri" pitchFamily="34" charset="0"/>
                <a:ea typeface="Calibri" pitchFamily="34" charset="-122"/>
                <a:cs typeface="Calibri" pitchFamily="34" charset="-120"/>
              </a:rPr>
              <a:t>1970s</a:t>
            </a:r>
            <a:endParaRPr lang="en-US" sz="1500" dirty="0"/>
          </a:p>
        </p:txBody>
      </p:sp>
      <p:sp>
        <p:nvSpPr>
          <p:cNvPr id="21" name="Text 18"/>
          <p:cNvSpPr txBox="1"/>
          <p:nvPr/>
        </p:nvSpPr>
        <p:spPr>
          <a:xfrm>
            <a:off x="457200" y="1325880"/>
            <a:ext cx="1280160" cy="777240"/>
          </a:xfrm>
          <a:prstGeom prst="rect">
            <a:avLst/>
          </a:prstGeom>
          <a:noFill/>
          <a:ln/>
        </p:spPr>
        <p:txBody>
          <a:bodyPr wrap="square" lIns="0" tIns="0" rIns="0" bIns="0" rtlCol="0" anchor="b"/>
          <a:lstStyle/>
          <a:p>
            <a:pPr marL="0" indent="0" algn="ctr">
              <a:buNone/>
            </a:pPr>
            <a:r>
              <a:rPr lang="en-US" sz="900" dirty="0">
                <a:solidFill>
                  <a:srgbClr val="231F20"/>
                </a:solidFill>
                <a:latin typeface="Calibri" pitchFamily="34" charset="0"/>
                <a:ea typeface="Calibri" pitchFamily="34" charset="-122"/>
                <a:cs typeface="Calibri" pitchFamily="34" charset="-120"/>
              </a:rPr>
              <a:t>DMSP-OLS night imagery (film). City lights noticed as a by-product of cloud detection.</a:t>
            </a:r>
            <a:endParaRPr lang="en-US" sz="900" dirty="0"/>
          </a:p>
        </p:txBody>
      </p:sp>
      <p:sp>
        <p:nvSpPr>
          <p:cNvPr id="22" name="Shape 19"/>
          <p:cNvSpPr/>
          <p:nvPr/>
        </p:nvSpPr>
        <p:spPr>
          <a:xfrm>
            <a:off x="2020824" y="2706624"/>
            <a:ext cx="164592" cy="164592"/>
          </a:xfrm>
          <a:prstGeom prst="ellipse">
            <a:avLst/>
          </a:prstGeom>
          <a:solidFill>
            <a:srgbClr val="00704A"/>
          </a:solidFill>
          <a:ln w="19050">
            <a:solidFill>
              <a:srgbClr val="FFFFFF"/>
            </a:solidFill>
            <a:prstDash val="solid"/>
          </a:ln>
        </p:spPr>
      </p:sp>
      <p:sp>
        <p:nvSpPr>
          <p:cNvPr id="23" name="Shape 20"/>
          <p:cNvSpPr/>
          <p:nvPr/>
        </p:nvSpPr>
        <p:spPr>
          <a:xfrm>
            <a:off x="2103120" y="2871216"/>
            <a:ext cx="0" cy="283464"/>
          </a:xfrm>
          <a:prstGeom prst="line">
            <a:avLst/>
          </a:prstGeom>
          <a:noFill/>
          <a:ln w="9525">
            <a:solidFill>
              <a:srgbClr val="D5DED9"/>
            </a:solidFill>
            <a:prstDash val="solid"/>
          </a:ln>
        </p:spPr>
      </p:sp>
      <p:sp>
        <p:nvSpPr>
          <p:cNvPr id="24" name="Text 21"/>
          <p:cNvSpPr txBox="1"/>
          <p:nvPr/>
        </p:nvSpPr>
        <p:spPr>
          <a:xfrm>
            <a:off x="1554480" y="3172968"/>
            <a:ext cx="1097280" cy="274320"/>
          </a:xfrm>
          <a:prstGeom prst="rect">
            <a:avLst/>
          </a:prstGeom>
          <a:noFill/>
          <a:ln/>
        </p:spPr>
        <p:txBody>
          <a:bodyPr wrap="square" lIns="0" tIns="0" rIns="0" bIns="0" rtlCol="0" anchor="t"/>
          <a:lstStyle/>
          <a:p>
            <a:pPr marL="0" indent="0" algn="ctr">
              <a:buNone/>
            </a:pPr>
            <a:r>
              <a:rPr lang="en-US" sz="1500" b="1" dirty="0">
                <a:solidFill>
                  <a:srgbClr val="00704A"/>
                </a:solidFill>
                <a:latin typeface="Calibri" pitchFamily="34" charset="0"/>
                <a:ea typeface="Calibri" pitchFamily="34" charset="-122"/>
                <a:cs typeface="Calibri" pitchFamily="34" charset="-120"/>
              </a:rPr>
              <a:t>1992</a:t>
            </a:r>
            <a:endParaRPr lang="en-US" sz="1500" dirty="0"/>
          </a:p>
        </p:txBody>
      </p:sp>
      <p:sp>
        <p:nvSpPr>
          <p:cNvPr id="25" name="Text 22"/>
          <p:cNvSpPr txBox="1"/>
          <p:nvPr/>
        </p:nvSpPr>
        <p:spPr>
          <a:xfrm>
            <a:off x="1463040" y="3474720"/>
            <a:ext cx="1280160" cy="777240"/>
          </a:xfrm>
          <a:prstGeom prst="rect">
            <a:avLst/>
          </a:prstGeom>
          <a:noFill/>
          <a:ln/>
        </p:spPr>
        <p:txBody>
          <a:bodyPr wrap="square" lIns="0" tIns="0" rIns="0" bIns="0" rtlCol="0" anchor="t"/>
          <a:lstStyle/>
          <a:p>
            <a:pPr marL="0" indent="0" algn="ctr">
              <a:buNone/>
            </a:pPr>
            <a:r>
              <a:rPr lang="en-US" sz="900" dirty="0">
                <a:solidFill>
                  <a:srgbClr val="231F20"/>
                </a:solidFill>
                <a:latin typeface="Calibri" pitchFamily="34" charset="0"/>
                <a:ea typeface="Calibri" pitchFamily="34" charset="-122"/>
                <a:cs typeface="Calibri" pitchFamily="34" charset="-120"/>
              </a:rPr>
              <a:t>Start of the digital DMSP archive → “stable lights” annual series to 2013.</a:t>
            </a:r>
            <a:endParaRPr lang="en-US" sz="900" dirty="0"/>
          </a:p>
        </p:txBody>
      </p:sp>
      <p:sp>
        <p:nvSpPr>
          <p:cNvPr id="26" name="Shape 23"/>
          <p:cNvSpPr/>
          <p:nvPr/>
        </p:nvSpPr>
        <p:spPr>
          <a:xfrm>
            <a:off x="3026664" y="2706624"/>
            <a:ext cx="164592" cy="164592"/>
          </a:xfrm>
          <a:prstGeom prst="ellipse">
            <a:avLst/>
          </a:prstGeom>
          <a:solidFill>
            <a:srgbClr val="00A86A"/>
          </a:solidFill>
          <a:ln w="19050">
            <a:solidFill>
              <a:srgbClr val="FFFFFF"/>
            </a:solidFill>
            <a:prstDash val="solid"/>
          </a:ln>
        </p:spPr>
      </p:sp>
      <p:sp>
        <p:nvSpPr>
          <p:cNvPr id="27" name="Shape 24"/>
          <p:cNvSpPr/>
          <p:nvPr/>
        </p:nvSpPr>
        <p:spPr>
          <a:xfrm>
            <a:off x="3108960" y="2423160"/>
            <a:ext cx="0" cy="283464"/>
          </a:xfrm>
          <a:prstGeom prst="line">
            <a:avLst/>
          </a:prstGeom>
          <a:noFill/>
          <a:ln w="9525">
            <a:solidFill>
              <a:srgbClr val="D5DED9"/>
            </a:solidFill>
            <a:prstDash val="solid"/>
          </a:ln>
        </p:spPr>
      </p:sp>
      <p:sp>
        <p:nvSpPr>
          <p:cNvPr id="28" name="Text 25"/>
          <p:cNvSpPr txBox="1"/>
          <p:nvPr/>
        </p:nvSpPr>
        <p:spPr>
          <a:xfrm>
            <a:off x="2560320" y="2130552"/>
            <a:ext cx="1097280" cy="274320"/>
          </a:xfrm>
          <a:prstGeom prst="rect">
            <a:avLst/>
          </a:prstGeom>
          <a:noFill/>
          <a:ln/>
        </p:spPr>
        <p:txBody>
          <a:bodyPr wrap="square" lIns="0" tIns="0" rIns="0" bIns="0" rtlCol="0" anchor="t"/>
          <a:lstStyle/>
          <a:p>
            <a:pPr marL="0" indent="0" algn="ctr">
              <a:buNone/>
            </a:pPr>
            <a:r>
              <a:rPr lang="en-US" sz="1500" b="1" dirty="0">
                <a:solidFill>
                  <a:srgbClr val="00A86A"/>
                </a:solidFill>
                <a:latin typeface="Calibri" pitchFamily="34" charset="0"/>
                <a:ea typeface="Calibri" pitchFamily="34" charset="-122"/>
                <a:cs typeface="Calibri" pitchFamily="34" charset="-120"/>
              </a:rPr>
              <a:t>2011</a:t>
            </a:r>
            <a:endParaRPr lang="en-US" sz="1500" dirty="0"/>
          </a:p>
        </p:txBody>
      </p:sp>
      <p:sp>
        <p:nvSpPr>
          <p:cNvPr id="29" name="Text 26"/>
          <p:cNvSpPr txBox="1"/>
          <p:nvPr/>
        </p:nvSpPr>
        <p:spPr>
          <a:xfrm>
            <a:off x="2468880" y="1325880"/>
            <a:ext cx="1280160" cy="777240"/>
          </a:xfrm>
          <a:prstGeom prst="rect">
            <a:avLst/>
          </a:prstGeom>
          <a:noFill/>
          <a:ln/>
        </p:spPr>
        <p:txBody>
          <a:bodyPr wrap="square" lIns="0" tIns="0" rIns="0" bIns="0" rtlCol="0" anchor="b"/>
          <a:lstStyle/>
          <a:p>
            <a:pPr marL="0" indent="0" algn="ctr">
              <a:buNone/>
            </a:pPr>
            <a:r>
              <a:rPr lang="en-US" sz="900" dirty="0">
                <a:solidFill>
                  <a:srgbClr val="231F20"/>
                </a:solidFill>
                <a:latin typeface="Calibri" pitchFamily="34" charset="0"/>
                <a:ea typeface="Calibri" pitchFamily="34" charset="-122"/>
                <a:cs typeface="Calibri" pitchFamily="34" charset="-120"/>
              </a:rPr>
              <a:t>Suomi NPP launched with VIIRS: first sensor calibrated for night-time radiance.</a:t>
            </a:r>
            <a:endParaRPr lang="en-US" sz="900" dirty="0"/>
          </a:p>
        </p:txBody>
      </p:sp>
      <p:sp>
        <p:nvSpPr>
          <p:cNvPr id="30" name="Shape 27"/>
          <p:cNvSpPr/>
          <p:nvPr/>
        </p:nvSpPr>
        <p:spPr>
          <a:xfrm>
            <a:off x="4032504" y="2706624"/>
            <a:ext cx="164592" cy="164592"/>
          </a:xfrm>
          <a:prstGeom prst="ellipse">
            <a:avLst/>
          </a:prstGeom>
          <a:solidFill>
            <a:srgbClr val="00A86A"/>
          </a:solidFill>
          <a:ln w="19050">
            <a:solidFill>
              <a:srgbClr val="FFFFFF"/>
            </a:solidFill>
            <a:prstDash val="solid"/>
          </a:ln>
        </p:spPr>
      </p:sp>
      <p:sp>
        <p:nvSpPr>
          <p:cNvPr id="31" name="Shape 28"/>
          <p:cNvSpPr/>
          <p:nvPr/>
        </p:nvSpPr>
        <p:spPr>
          <a:xfrm>
            <a:off x="4114800" y="2871216"/>
            <a:ext cx="0" cy="283464"/>
          </a:xfrm>
          <a:prstGeom prst="line">
            <a:avLst/>
          </a:prstGeom>
          <a:noFill/>
          <a:ln w="9525">
            <a:solidFill>
              <a:srgbClr val="D5DED9"/>
            </a:solidFill>
            <a:prstDash val="solid"/>
          </a:ln>
        </p:spPr>
      </p:sp>
      <p:sp>
        <p:nvSpPr>
          <p:cNvPr id="32" name="Text 29"/>
          <p:cNvSpPr txBox="1"/>
          <p:nvPr/>
        </p:nvSpPr>
        <p:spPr>
          <a:xfrm>
            <a:off x="3566160" y="3172968"/>
            <a:ext cx="1097280" cy="274320"/>
          </a:xfrm>
          <a:prstGeom prst="rect">
            <a:avLst/>
          </a:prstGeom>
          <a:noFill/>
          <a:ln/>
        </p:spPr>
        <p:txBody>
          <a:bodyPr wrap="square" lIns="0" tIns="0" rIns="0" bIns="0" rtlCol="0" anchor="t"/>
          <a:lstStyle/>
          <a:p>
            <a:pPr marL="0" indent="0" algn="ctr">
              <a:buNone/>
            </a:pPr>
            <a:r>
              <a:rPr lang="en-US" sz="1500" b="1" dirty="0">
                <a:solidFill>
                  <a:srgbClr val="00A86A"/>
                </a:solidFill>
                <a:latin typeface="Calibri" pitchFamily="34" charset="0"/>
                <a:ea typeface="Calibri" pitchFamily="34" charset="-122"/>
                <a:cs typeface="Calibri" pitchFamily="34" charset="-120"/>
              </a:rPr>
              <a:t>2012</a:t>
            </a:r>
            <a:endParaRPr lang="en-US" sz="1500" dirty="0"/>
          </a:p>
        </p:txBody>
      </p:sp>
      <p:sp>
        <p:nvSpPr>
          <p:cNvPr id="33" name="Text 30"/>
          <p:cNvSpPr txBox="1"/>
          <p:nvPr/>
        </p:nvSpPr>
        <p:spPr>
          <a:xfrm>
            <a:off x="3474720" y="3474720"/>
            <a:ext cx="1280160" cy="777240"/>
          </a:xfrm>
          <a:prstGeom prst="rect">
            <a:avLst/>
          </a:prstGeom>
          <a:noFill/>
          <a:ln/>
        </p:spPr>
        <p:txBody>
          <a:bodyPr wrap="square" lIns="0" tIns="0" rIns="0" bIns="0" rtlCol="0" anchor="t"/>
          <a:lstStyle/>
          <a:p>
            <a:pPr marL="0" indent="0" algn="ctr">
              <a:buNone/>
            </a:pPr>
            <a:r>
              <a:rPr lang="en-US" sz="900" dirty="0">
                <a:solidFill>
                  <a:srgbClr val="231F20"/>
                </a:solidFill>
                <a:latin typeface="Calibri" pitchFamily="34" charset="0"/>
                <a:ea typeface="Calibri" pitchFamily="34" charset="-122"/>
                <a:cs typeface="Calibri" pitchFamily="34" charset="-120"/>
              </a:rPr>
              <a:t>VIIRS monthly cloud-free composites; NASA Black Marble record begins (Jan 2012).</a:t>
            </a:r>
            <a:endParaRPr lang="en-US" sz="900" dirty="0"/>
          </a:p>
        </p:txBody>
      </p:sp>
      <p:sp>
        <p:nvSpPr>
          <p:cNvPr id="34" name="Shape 31"/>
          <p:cNvSpPr/>
          <p:nvPr/>
        </p:nvSpPr>
        <p:spPr>
          <a:xfrm>
            <a:off x="5038344" y="2706624"/>
            <a:ext cx="164592" cy="164592"/>
          </a:xfrm>
          <a:prstGeom prst="ellipse">
            <a:avLst/>
          </a:prstGeom>
          <a:solidFill>
            <a:srgbClr val="0E7C86"/>
          </a:solidFill>
          <a:ln w="19050">
            <a:solidFill>
              <a:srgbClr val="FFFFFF"/>
            </a:solidFill>
            <a:prstDash val="solid"/>
          </a:ln>
        </p:spPr>
      </p:sp>
      <p:sp>
        <p:nvSpPr>
          <p:cNvPr id="35" name="Shape 32"/>
          <p:cNvSpPr/>
          <p:nvPr/>
        </p:nvSpPr>
        <p:spPr>
          <a:xfrm>
            <a:off x="5120640" y="2423160"/>
            <a:ext cx="0" cy="283464"/>
          </a:xfrm>
          <a:prstGeom prst="line">
            <a:avLst/>
          </a:prstGeom>
          <a:noFill/>
          <a:ln w="9525">
            <a:solidFill>
              <a:srgbClr val="D5DED9"/>
            </a:solidFill>
            <a:prstDash val="solid"/>
          </a:ln>
        </p:spPr>
      </p:sp>
      <p:sp>
        <p:nvSpPr>
          <p:cNvPr id="36" name="Text 33"/>
          <p:cNvSpPr txBox="1"/>
          <p:nvPr/>
        </p:nvSpPr>
        <p:spPr>
          <a:xfrm>
            <a:off x="4572000" y="2130552"/>
            <a:ext cx="1097280" cy="274320"/>
          </a:xfrm>
          <a:prstGeom prst="rect">
            <a:avLst/>
          </a:prstGeom>
          <a:noFill/>
          <a:ln/>
        </p:spPr>
        <p:txBody>
          <a:bodyPr wrap="square" lIns="0" tIns="0" rIns="0" bIns="0" rtlCol="0" anchor="t"/>
          <a:lstStyle/>
          <a:p>
            <a:pPr marL="0" indent="0" algn="ctr">
              <a:buNone/>
            </a:pPr>
            <a:r>
              <a:rPr lang="en-US" sz="1500" b="1" dirty="0">
                <a:solidFill>
                  <a:srgbClr val="0E7C86"/>
                </a:solidFill>
                <a:latin typeface="Calibri" pitchFamily="34" charset="0"/>
                <a:ea typeface="Calibri" pitchFamily="34" charset="-122"/>
                <a:cs typeface="Calibri" pitchFamily="34" charset="-120"/>
              </a:rPr>
              <a:t>2017</a:t>
            </a:r>
            <a:endParaRPr lang="en-US" sz="1500" dirty="0"/>
          </a:p>
        </p:txBody>
      </p:sp>
      <p:sp>
        <p:nvSpPr>
          <p:cNvPr id="37" name="Text 34"/>
          <p:cNvSpPr txBox="1"/>
          <p:nvPr/>
        </p:nvSpPr>
        <p:spPr>
          <a:xfrm>
            <a:off x="4480560" y="1325880"/>
            <a:ext cx="1280160" cy="777240"/>
          </a:xfrm>
          <a:prstGeom prst="rect">
            <a:avLst/>
          </a:prstGeom>
          <a:noFill/>
          <a:ln/>
        </p:spPr>
        <p:txBody>
          <a:bodyPr wrap="square" lIns="0" tIns="0" rIns="0" bIns="0" rtlCol="0" anchor="b"/>
          <a:lstStyle/>
          <a:p>
            <a:pPr marL="0" indent="0" algn="ctr">
              <a:buNone/>
            </a:pPr>
            <a:r>
              <a:rPr lang="en-US" sz="900" dirty="0">
                <a:solidFill>
                  <a:srgbClr val="231F20"/>
                </a:solidFill>
                <a:latin typeface="Calibri" pitchFamily="34" charset="0"/>
                <a:ea typeface="Calibri" pitchFamily="34" charset="-122"/>
                <a:cs typeface="Calibri" pitchFamily="34" charset="-120"/>
              </a:rPr>
              <a:t>NOAA-20 launched with a second VIIRS; Black Marble twin products from 2018.</a:t>
            </a:r>
            <a:endParaRPr lang="en-US" sz="900" dirty="0"/>
          </a:p>
        </p:txBody>
      </p:sp>
      <p:sp>
        <p:nvSpPr>
          <p:cNvPr id="38" name="Shape 35"/>
          <p:cNvSpPr/>
          <p:nvPr/>
        </p:nvSpPr>
        <p:spPr>
          <a:xfrm>
            <a:off x="6044184" y="2706624"/>
            <a:ext cx="164592" cy="164592"/>
          </a:xfrm>
          <a:prstGeom prst="ellipse">
            <a:avLst/>
          </a:prstGeom>
          <a:solidFill>
            <a:srgbClr val="D49A00"/>
          </a:solidFill>
          <a:ln w="19050">
            <a:solidFill>
              <a:srgbClr val="FFFFFF"/>
            </a:solidFill>
            <a:prstDash val="solid"/>
          </a:ln>
        </p:spPr>
      </p:sp>
      <p:sp>
        <p:nvSpPr>
          <p:cNvPr id="39" name="Shape 36"/>
          <p:cNvSpPr/>
          <p:nvPr/>
        </p:nvSpPr>
        <p:spPr>
          <a:xfrm>
            <a:off x="6126480" y="2871216"/>
            <a:ext cx="0" cy="283464"/>
          </a:xfrm>
          <a:prstGeom prst="line">
            <a:avLst/>
          </a:prstGeom>
          <a:noFill/>
          <a:ln w="9525">
            <a:solidFill>
              <a:srgbClr val="D5DED9"/>
            </a:solidFill>
            <a:prstDash val="solid"/>
          </a:ln>
        </p:spPr>
      </p:sp>
      <p:sp>
        <p:nvSpPr>
          <p:cNvPr id="40" name="Text 37"/>
          <p:cNvSpPr txBox="1"/>
          <p:nvPr/>
        </p:nvSpPr>
        <p:spPr>
          <a:xfrm>
            <a:off x="5577840" y="3172968"/>
            <a:ext cx="1097280" cy="274320"/>
          </a:xfrm>
          <a:prstGeom prst="rect">
            <a:avLst/>
          </a:prstGeom>
          <a:noFill/>
          <a:ln/>
        </p:spPr>
        <p:txBody>
          <a:bodyPr wrap="square" lIns="0" tIns="0" rIns="0" bIns="0" rtlCol="0" anchor="t"/>
          <a:lstStyle/>
          <a:p>
            <a:pPr marL="0" indent="0" algn="ctr">
              <a:buNone/>
            </a:pPr>
            <a:r>
              <a:rPr lang="en-US" sz="1500" b="1" dirty="0">
                <a:solidFill>
                  <a:srgbClr val="D49A00"/>
                </a:solidFill>
                <a:latin typeface="Calibri" pitchFamily="34" charset="0"/>
                <a:ea typeface="Calibri" pitchFamily="34" charset="-122"/>
                <a:cs typeface="Calibri" pitchFamily="34" charset="-120"/>
              </a:rPr>
              <a:t>2018</a:t>
            </a:r>
            <a:endParaRPr lang="en-US" sz="1500" dirty="0"/>
          </a:p>
        </p:txBody>
      </p:sp>
      <p:sp>
        <p:nvSpPr>
          <p:cNvPr id="41" name="Text 38"/>
          <p:cNvSpPr txBox="1"/>
          <p:nvPr/>
        </p:nvSpPr>
        <p:spPr>
          <a:xfrm>
            <a:off x="5486400" y="3474720"/>
            <a:ext cx="1280160" cy="777240"/>
          </a:xfrm>
          <a:prstGeom prst="rect">
            <a:avLst/>
          </a:prstGeom>
          <a:noFill/>
          <a:ln/>
        </p:spPr>
        <p:txBody>
          <a:bodyPr wrap="square" lIns="0" tIns="0" rIns="0" bIns="0" rtlCol="0" anchor="t"/>
          <a:lstStyle/>
          <a:p>
            <a:pPr marL="0" indent="0" algn="ctr">
              <a:buNone/>
            </a:pPr>
            <a:r>
              <a:rPr lang="en-US" sz="900" dirty="0">
                <a:solidFill>
                  <a:srgbClr val="231F20"/>
                </a:solidFill>
                <a:latin typeface="Calibri" pitchFamily="34" charset="0"/>
                <a:ea typeface="Calibri" pitchFamily="34" charset="-122"/>
                <a:cs typeface="Calibri" pitchFamily="34" charset="-120"/>
              </a:rPr>
              <a:t>Luojia-1-01 demonstrates ≈130 m night imaging from a small satellite.</a:t>
            </a:r>
            <a:endParaRPr lang="en-US" sz="900" dirty="0"/>
          </a:p>
        </p:txBody>
      </p:sp>
      <p:sp>
        <p:nvSpPr>
          <p:cNvPr id="42" name="Shape 39"/>
          <p:cNvSpPr/>
          <p:nvPr/>
        </p:nvSpPr>
        <p:spPr>
          <a:xfrm>
            <a:off x="7050024" y="2706624"/>
            <a:ext cx="164592" cy="164592"/>
          </a:xfrm>
          <a:prstGeom prst="ellipse">
            <a:avLst/>
          </a:prstGeom>
          <a:solidFill>
            <a:srgbClr val="D49A00"/>
          </a:solidFill>
          <a:ln w="19050">
            <a:solidFill>
              <a:srgbClr val="FFFFFF"/>
            </a:solidFill>
            <a:prstDash val="solid"/>
          </a:ln>
        </p:spPr>
      </p:sp>
      <p:sp>
        <p:nvSpPr>
          <p:cNvPr id="43" name="Shape 40"/>
          <p:cNvSpPr/>
          <p:nvPr/>
        </p:nvSpPr>
        <p:spPr>
          <a:xfrm>
            <a:off x="7132320" y="2423160"/>
            <a:ext cx="0" cy="283464"/>
          </a:xfrm>
          <a:prstGeom prst="line">
            <a:avLst/>
          </a:prstGeom>
          <a:noFill/>
          <a:ln w="9525">
            <a:solidFill>
              <a:srgbClr val="D5DED9"/>
            </a:solidFill>
            <a:prstDash val="solid"/>
          </a:ln>
        </p:spPr>
      </p:sp>
      <p:sp>
        <p:nvSpPr>
          <p:cNvPr id="44" name="Text 41"/>
          <p:cNvSpPr txBox="1"/>
          <p:nvPr/>
        </p:nvSpPr>
        <p:spPr>
          <a:xfrm>
            <a:off x="6583680" y="2130552"/>
            <a:ext cx="1097280" cy="274320"/>
          </a:xfrm>
          <a:prstGeom prst="rect">
            <a:avLst/>
          </a:prstGeom>
          <a:noFill/>
          <a:ln/>
        </p:spPr>
        <p:txBody>
          <a:bodyPr wrap="square" lIns="0" tIns="0" rIns="0" bIns="0" rtlCol="0" anchor="t"/>
          <a:lstStyle/>
          <a:p>
            <a:pPr marL="0" indent="0" algn="ctr">
              <a:buNone/>
            </a:pPr>
            <a:r>
              <a:rPr lang="en-US" sz="1500" b="1" dirty="0">
                <a:solidFill>
                  <a:srgbClr val="D49A00"/>
                </a:solidFill>
                <a:latin typeface="Calibri" pitchFamily="34" charset="0"/>
                <a:ea typeface="Calibri" pitchFamily="34" charset="-122"/>
                <a:cs typeface="Calibri" pitchFamily="34" charset="-120"/>
              </a:rPr>
              <a:t>2021</a:t>
            </a:r>
            <a:endParaRPr lang="en-US" sz="1500" dirty="0"/>
          </a:p>
        </p:txBody>
      </p:sp>
      <p:sp>
        <p:nvSpPr>
          <p:cNvPr id="45" name="Text 42"/>
          <p:cNvSpPr txBox="1"/>
          <p:nvPr/>
        </p:nvSpPr>
        <p:spPr>
          <a:xfrm>
            <a:off x="6492240" y="1325880"/>
            <a:ext cx="1280160" cy="777240"/>
          </a:xfrm>
          <a:prstGeom prst="rect">
            <a:avLst/>
          </a:prstGeom>
          <a:noFill/>
          <a:ln/>
        </p:spPr>
        <p:txBody>
          <a:bodyPr wrap="square" lIns="0" tIns="0" rIns="0" bIns="0" rtlCol="0" anchor="b"/>
          <a:lstStyle/>
          <a:p>
            <a:pPr marL="0" indent="0" algn="ctr">
              <a:buNone/>
            </a:pPr>
            <a:r>
              <a:rPr lang="en-US" sz="900" dirty="0">
                <a:solidFill>
                  <a:srgbClr val="231F20"/>
                </a:solidFill>
                <a:latin typeface="Calibri" pitchFamily="34" charset="0"/>
                <a:ea typeface="Calibri" pitchFamily="34" charset="-122"/>
                <a:cs typeface="Calibri" pitchFamily="34" charset="-120"/>
              </a:rPr>
              <a:t>SDGSAT-1 Glimmer imager: colour night imagery at 10–40 m.</a:t>
            </a:r>
            <a:endParaRPr lang="en-US" sz="900" dirty="0"/>
          </a:p>
        </p:txBody>
      </p:sp>
      <p:sp>
        <p:nvSpPr>
          <p:cNvPr id="46" name="Shape 43"/>
          <p:cNvSpPr/>
          <p:nvPr/>
        </p:nvSpPr>
        <p:spPr>
          <a:xfrm>
            <a:off x="8055864" y="2706624"/>
            <a:ext cx="164592" cy="164592"/>
          </a:xfrm>
          <a:prstGeom prst="ellipse">
            <a:avLst/>
          </a:prstGeom>
          <a:solidFill>
            <a:srgbClr val="0E7C86"/>
          </a:solidFill>
          <a:ln w="19050">
            <a:solidFill>
              <a:srgbClr val="FFFFFF"/>
            </a:solidFill>
            <a:prstDash val="solid"/>
          </a:ln>
        </p:spPr>
      </p:sp>
      <p:sp>
        <p:nvSpPr>
          <p:cNvPr id="47" name="Shape 44"/>
          <p:cNvSpPr/>
          <p:nvPr/>
        </p:nvSpPr>
        <p:spPr>
          <a:xfrm>
            <a:off x="8138160" y="2871216"/>
            <a:ext cx="0" cy="283464"/>
          </a:xfrm>
          <a:prstGeom prst="line">
            <a:avLst/>
          </a:prstGeom>
          <a:noFill/>
          <a:ln w="9525">
            <a:solidFill>
              <a:srgbClr val="D5DED9"/>
            </a:solidFill>
            <a:prstDash val="solid"/>
          </a:ln>
        </p:spPr>
      </p:sp>
      <p:sp>
        <p:nvSpPr>
          <p:cNvPr id="48" name="Text 45"/>
          <p:cNvSpPr txBox="1"/>
          <p:nvPr/>
        </p:nvSpPr>
        <p:spPr>
          <a:xfrm>
            <a:off x="7589520" y="3172968"/>
            <a:ext cx="1097280" cy="274320"/>
          </a:xfrm>
          <a:prstGeom prst="rect">
            <a:avLst/>
          </a:prstGeom>
          <a:noFill/>
          <a:ln/>
        </p:spPr>
        <p:txBody>
          <a:bodyPr wrap="square" lIns="0" tIns="0" rIns="0" bIns="0" rtlCol="0" anchor="t"/>
          <a:lstStyle/>
          <a:p>
            <a:pPr marL="0" indent="0" algn="ctr">
              <a:buNone/>
            </a:pPr>
            <a:r>
              <a:rPr lang="en-US" sz="1500" b="1" dirty="0">
                <a:solidFill>
                  <a:srgbClr val="0E7C86"/>
                </a:solidFill>
                <a:latin typeface="Calibri" pitchFamily="34" charset="0"/>
                <a:ea typeface="Calibri" pitchFamily="34" charset="-122"/>
                <a:cs typeface="Calibri" pitchFamily="34" charset="-120"/>
              </a:rPr>
              <a:t>2022</a:t>
            </a:r>
            <a:endParaRPr lang="en-US" sz="1500" dirty="0"/>
          </a:p>
        </p:txBody>
      </p:sp>
      <p:sp>
        <p:nvSpPr>
          <p:cNvPr id="49" name="Text 46"/>
          <p:cNvSpPr txBox="1"/>
          <p:nvPr/>
        </p:nvSpPr>
        <p:spPr>
          <a:xfrm>
            <a:off x="7498080" y="3474720"/>
            <a:ext cx="1280160" cy="777240"/>
          </a:xfrm>
          <a:prstGeom prst="rect">
            <a:avLst/>
          </a:prstGeom>
          <a:noFill/>
          <a:ln/>
        </p:spPr>
        <p:txBody>
          <a:bodyPr wrap="square" lIns="0" tIns="0" rIns="0" bIns="0" rtlCol="0" anchor="t"/>
          <a:lstStyle/>
          <a:p>
            <a:pPr marL="0" indent="0" algn="ctr">
              <a:buNone/>
            </a:pPr>
            <a:r>
              <a:rPr lang="en-US" sz="900" dirty="0">
                <a:solidFill>
                  <a:srgbClr val="231F20"/>
                </a:solidFill>
                <a:latin typeface="Calibri" pitchFamily="34" charset="0"/>
                <a:ea typeface="Calibri" pitchFamily="34" charset="-122"/>
                <a:cs typeface="Calibri" pitchFamily="34" charset="-120"/>
              </a:rPr>
              <a:t>NOAA-21 launched: a third VIIRS extends the record into the 2030s.</a:t>
            </a:r>
            <a:endParaRPr lang="en-US" sz="900" dirty="0"/>
          </a:p>
        </p:txBody>
      </p:sp>
      <p:sp>
        <p:nvSpPr>
          <p:cNvPr id="50" name="Shape 47"/>
          <p:cNvSpPr/>
          <p:nvPr/>
        </p:nvSpPr>
        <p:spPr>
          <a:xfrm>
            <a:off x="457200" y="4160520"/>
            <a:ext cx="8229600" cy="411480"/>
          </a:xfrm>
          <a:prstGeom prst="roundRect">
            <a:avLst>
              <a:gd name="adj" fmla="val 17778"/>
            </a:avLst>
          </a:prstGeom>
          <a:solidFill>
            <a:srgbClr val="E8F5EF"/>
          </a:solidFill>
          <a:ln w="15875">
            <a:solidFill>
              <a:srgbClr val="00A86A"/>
            </a:solidFill>
            <a:prstDash val="solid"/>
          </a:ln>
        </p:spPr>
      </p:sp>
      <p:sp>
        <p:nvSpPr>
          <p:cNvPr id="51" name="Text 48"/>
          <p:cNvSpPr txBox="1"/>
          <p:nvPr/>
        </p:nvSpPr>
        <p:spPr>
          <a:xfrm>
            <a:off x="594360" y="4178808"/>
            <a:ext cx="7955280" cy="37490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The irony: </a:t>
            </a:r>
            <a:r>
              <a:rPr lang="en-US" sz="1050" dirty="0">
                <a:solidFill>
                  <a:srgbClr val="231F20"/>
                </a:solidFill>
                <a:latin typeface="Calibri" pitchFamily="34" charset="0"/>
                <a:ea typeface="Calibri" pitchFamily="34" charset="-122"/>
                <a:cs typeface="Calibri" pitchFamily="34" charset="-120"/>
              </a:rPr>
              <a:t>the first instrument was built to see moonlit clouds. City lights were noise — it took two decades for anyone to treat the noise as the signal.</a:t>
            </a:r>
            <a:endParaRPr lang="en-US" sz="10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THE INSTRUMENTS · SENSOR COMPARISON</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Two sensors, two different sciences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2148840" y="1325880"/>
            <a:ext cx="3154680" cy="457200"/>
          </a:xfrm>
          <a:prstGeom prst="roundRect">
            <a:avLst>
              <a:gd name="adj" fmla="val 16000"/>
            </a:avLst>
          </a:prstGeom>
          <a:solidFill>
            <a:srgbClr val="5E6964"/>
          </a:solidFill>
          <a:ln w="9525">
            <a:solidFill>
              <a:srgbClr val="5E6964"/>
            </a:solidFill>
            <a:prstDash val="solid"/>
          </a:ln>
        </p:spPr>
      </p:sp>
      <p:sp>
        <p:nvSpPr>
          <p:cNvPr id="18" name="Shape 15"/>
          <p:cNvSpPr/>
          <p:nvPr/>
        </p:nvSpPr>
        <p:spPr>
          <a:xfrm>
            <a:off x="5440680" y="1325880"/>
            <a:ext cx="3246120" cy="457200"/>
          </a:xfrm>
          <a:prstGeom prst="roundRect">
            <a:avLst>
              <a:gd name="adj" fmla="val 16000"/>
            </a:avLst>
          </a:prstGeom>
          <a:solidFill>
            <a:srgbClr val="00704A"/>
          </a:solidFill>
          <a:ln w="9525">
            <a:solidFill>
              <a:srgbClr val="00704A"/>
            </a:solidFill>
            <a:prstDash val="solid"/>
          </a:ln>
        </p:spPr>
      </p:sp>
      <p:sp>
        <p:nvSpPr>
          <p:cNvPr id="19" name="Text 16"/>
          <p:cNvSpPr txBox="1"/>
          <p:nvPr/>
        </p:nvSpPr>
        <p:spPr>
          <a:xfrm>
            <a:off x="2148840" y="1325880"/>
            <a:ext cx="31546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DMSP-OLS  ·  historical</a:t>
            </a:r>
            <a:endParaRPr lang="en-US" sz="1300" dirty="0"/>
          </a:p>
        </p:txBody>
      </p:sp>
      <p:sp>
        <p:nvSpPr>
          <p:cNvPr id="20" name="Text 17"/>
          <p:cNvSpPr txBox="1"/>
          <p:nvPr/>
        </p:nvSpPr>
        <p:spPr>
          <a:xfrm>
            <a:off x="5440680" y="1325880"/>
            <a:ext cx="32461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VIIRS Day/Night Band  ·  modern</a:t>
            </a:r>
            <a:endParaRPr lang="en-US" sz="1300" dirty="0"/>
          </a:p>
        </p:txBody>
      </p:sp>
      <p:sp>
        <p:nvSpPr>
          <p:cNvPr id="21" name="Text 18"/>
          <p:cNvSpPr txBox="1"/>
          <p:nvPr/>
        </p:nvSpPr>
        <p:spPr>
          <a:xfrm>
            <a:off x="457200" y="184708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Period</a:t>
            </a:r>
            <a:endParaRPr lang="en-US" sz="1100" dirty="0"/>
          </a:p>
        </p:txBody>
      </p:sp>
      <p:sp>
        <p:nvSpPr>
          <p:cNvPr id="22" name="Shape 19"/>
          <p:cNvSpPr/>
          <p:nvPr/>
        </p:nvSpPr>
        <p:spPr>
          <a:xfrm>
            <a:off x="2148840" y="1847088"/>
            <a:ext cx="3154680" cy="310896"/>
          </a:xfrm>
          <a:prstGeom prst="roundRect">
            <a:avLst>
              <a:gd name="adj" fmla="val 14706"/>
            </a:avLst>
          </a:prstGeom>
          <a:solidFill>
            <a:srgbClr val="F4F7F5"/>
          </a:solidFill>
          <a:ln w="9525">
            <a:solidFill>
              <a:srgbClr val="D5DED9"/>
            </a:solidFill>
            <a:prstDash val="solid"/>
          </a:ln>
        </p:spPr>
      </p:sp>
      <p:sp>
        <p:nvSpPr>
          <p:cNvPr id="23" name="Shape 20"/>
          <p:cNvSpPr/>
          <p:nvPr/>
        </p:nvSpPr>
        <p:spPr>
          <a:xfrm>
            <a:off x="5440680" y="1847088"/>
            <a:ext cx="3246120" cy="310896"/>
          </a:xfrm>
          <a:prstGeom prst="roundRect">
            <a:avLst>
              <a:gd name="adj" fmla="val 14706"/>
            </a:avLst>
          </a:prstGeom>
          <a:solidFill>
            <a:srgbClr val="E8F5EF"/>
          </a:solidFill>
          <a:ln w="15875">
            <a:solidFill>
              <a:srgbClr val="00A86A"/>
            </a:solidFill>
            <a:prstDash val="solid"/>
          </a:ln>
        </p:spPr>
      </p:sp>
      <p:sp>
        <p:nvSpPr>
          <p:cNvPr id="24" name="Text 21"/>
          <p:cNvSpPr txBox="1"/>
          <p:nvPr/>
        </p:nvSpPr>
        <p:spPr>
          <a:xfrm>
            <a:off x="2240280" y="1847088"/>
            <a:ext cx="3017520" cy="31089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1992 – 2013 (archive)</a:t>
            </a:r>
            <a:endParaRPr lang="en-US" sz="950" dirty="0"/>
          </a:p>
        </p:txBody>
      </p:sp>
      <p:sp>
        <p:nvSpPr>
          <p:cNvPr id="25" name="Text 22"/>
          <p:cNvSpPr txBox="1"/>
          <p:nvPr/>
        </p:nvSpPr>
        <p:spPr>
          <a:xfrm>
            <a:off x="5532120" y="1847088"/>
            <a:ext cx="3108960" cy="31089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2012 – present (standard)</a:t>
            </a:r>
            <a:endParaRPr lang="en-US" sz="950" dirty="0"/>
          </a:p>
        </p:txBody>
      </p:sp>
      <p:sp>
        <p:nvSpPr>
          <p:cNvPr id="26" name="Text 23"/>
          <p:cNvSpPr txBox="1"/>
          <p:nvPr/>
        </p:nvSpPr>
        <p:spPr>
          <a:xfrm>
            <a:off x="457200" y="221284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Radiometry</a:t>
            </a:r>
            <a:endParaRPr lang="en-US" sz="1100" dirty="0"/>
          </a:p>
        </p:txBody>
      </p:sp>
      <p:sp>
        <p:nvSpPr>
          <p:cNvPr id="27" name="Shape 24"/>
          <p:cNvSpPr/>
          <p:nvPr/>
        </p:nvSpPr>
        <p:spPr>
          <a:xfrm>
            <a:off x="2148840" y="2212848"/>
            <a:ext cx="3154680" cy="310896"/>
          </a:xfrm>
          <a:prstGeom prst="roundRect">
            <a:avLst>
              <a:gd name="adj" fmla="val 14706"/>
            </a:avLst>
          </a:prstGeom>
          <a:solidFill>
            <a:srgbClr val="F4F7F5"/>
          </a:solidFill>
          <a:ln w="9525">
            <a:solidFill>
              <a:srgbClr val="D5DED9"/>
            </a:solidFill>
            <a:prstDash val="solid"/>
          </a:ln>
        </p:spPr>
      </p:sp>
      <p:sp>
        <p:nvSpPr>
          <p:cNvPr id="28" name="Shape 25"/>
          <p:cNvSpPr/>
          <p:nvPr/>
        </p:nvSpPr>
        <p:spPr>
          <a:xfrm>
            <a:off x="5440680" y="2212848"/>
            <a:ext cx="3246120" cy="310896"/>
          </a:xfrm>
          <a:prstGeom prst="roundRect">
            <a:avLst>
              <a:gd name="adj" fmla="val 14706"/>
            </a:avLst>
          </a:prstGeom>
          <a:solidFill>
            <a:srgbClr val="E8F5EF"/>
          </a:solidFill>
          <a:ln w="15875">
            <a:solidFill>
              <a:srgbClr val="00A86A"/>
            </a:solidFill>
            <a:prstDash val="solid"/>
          </a:ln>
        </p:spPr>
      </p:sp>
      <p:sp>
        <p:nvSpPr>
          <p:cNvPr id="29" name="Text 26"/>
          <p:cNvSpPr txBox="1"/>
          <p:nvPr/>
        </p:nvSpPr>
        <p:spPr>
          <a:xfrm>
            <a:off x="2240280" y="2212848"/>
            <a:ext cx="3017520" cy="31089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6-bit digital numbers 0–63, no on-board calibration</a:t>
            </a:r>
            <a:endParaRPr lang="en-US" sz="950" dirty="0"/>
          </a:p>
        </p:txBody>
      </p:sp>
      <p:sp>
        <p:nvSpPr>
          <p:cNvPr id="30" name="Text 27"/>
          <p:cNvSpPr txBox="1"/>
          <p:nvPr/>
        </p:nvSpPr>
        <p:spPr>
          <a:xfrm>
            <a:off x="5532120" y="2212848"/>
            <a:ext cx="3108960" cy="31089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14-bit, calibrated radiance in nW·cm⁻²·sr⁻¹</a:t>
            </a:r>
            <a:endParaRPr lang="en-US" sz="950" dirty="0"/>
          </a:p>
        </p:txBody>
      </p:sp>
      <p:sp>
        <p:nvSpPr>
          <p:cNvPr id="31" name="Text 28"/>
          <p:cNvSpPr txBox="1"/>
          <p:nvPr/>
        </p:nvSpPr>
        <p:spPr>
          <a:xfrm>
            <a:off x="457200" y="257860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Resolution</a:t>
            </a:r>
            <a:endParaRPr lang="en-US" sz="1100" dirty="0"/>
          </a:p>
        </p:txBody>
      </p:sp>
      <p:sp>
        <p:nvSpPr>
          <p:cNvPr id="32" name="Shape 29"/>
          <p:cNvSpPr/>
          <p:nvPr/>
        </p:nvSpPr>
        <p:spPr>
          <a:xfrm>
            <a:off x="2148840" y="2578608"/>
            <a:ext cx="3154680" cy="310896"/>
          </a:xfrm>
          <a:prstGeom prst="roundRect">
            <a:avLst>
              <a:gd name="adj" fmla="val 14706"/>
            </a:avLst>
          </a:prstGeom>
          <a:solidFill>
            <a:srgbClr val="F4F7F5"/>
          </a:solidFill>
          <a:ln w="9525">
            <a:solidFill>
              <a:srgbClr val="D5DED9"/>
            </a:solidFill>
            <a:prstDash val="solid"/>
          </a:ln>
        </p:spPr>
      </p:sp>
      <p:sp>
        <p:nvSpPr>
          <p:cNvPr id="33" name="Shape 30"/>
          <p:cNvSpPr/>
          <p:nvPr/>
        </p:nvSpPr>
        <p:spPr>
          <a:xfrm>
            <a:off x="5440680" y="2578608"/>
            <a:ext cx="3246120" cy="310896"/>
          </a:xfrm>
          <a:prstGeom prst="roundRect">
            <a:avLst>
              <a:gd name="adj" fmla="val 14706"/>
            </a:avLst>
          </a:prstGeom>
          <a:solidFill>
            <a:srgbClr val="E8F5EF"/>
          </a:solidFill>
          <a:ln w="15875">
            <a:solidFill>
              <a:srgbClr val="00A86A"/>
            </a:solidFill>
            <a:prstDash val="solid"/>
          </a:ln>
        </p:spPr>
      </p:sp>
      <p:sp>
        <p:nvSpPr>
          <p:cNvPr id="34" name="Text 31"/>
          <p:cNvSpPr txBox="1"/>
          <p:nvPr/>
        </p:nvSpPr>
        <p:spPr>
          <a:xfrm>
            <a:off x="2240280" y="2578608"/>
            <a:ext cx="3017520" cy="31089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≈2.7 km, gridded at 30 arc-seconds (≈1 km)</a:t>
            </a:r>
            <a:endParaRPr lang="en-US" sz="950" dirty="0"/>
          </a:p>
        </p:txBody>
      </p:sp>
      <p:sp>
        <p:nvSpPr>
          <p:cNvPr id="35" name="Text 32"/>
          <p:cNvSpPr txBox="1"/>
          <p:nvPr/>
        </p:nvSpPr>
        <p:spPr>
          <a:xfrm>
            <a:off x="5532120" y="2578608"/>
            <a:ext cx="3108960" cy="31089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500 m, nearly constant across the swath</a:t>
            </a:r>
            <a:endParaRPr lang="en-US" sz="950" dirty="0"/>
          </a:p>
        </p:txBody>
      </p:sp>
      <p:sp>
        <p:nvSpPr>
          <p:cNvPr id="36" name="Text 33"/>
          <p:cNvSpPr txBox="1"/>
          <p:nvPr/>
        </p:nvSpPr>
        <p:spPr>
          <a:xfrm>
            <a:off x="457200" y="294436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Saturation</a:t>
            </a:r>
            <a:endParaRPr lang="en-US" sz="1100" dirty="0"/>
          </a:p>
        </p:txBody>
      </p:sp>
      <p:sp>
        <p:nvSpPr>
          <p:cNvPr id="37" name="Shape 34"/>
          <p:cNvSpPr/>
          <p:nvPr/>
        </p:nvSpPr>
        <p:spPr>
          <a:xfrm>
            <a:off x="2148840" y="2944368"/>
            <a:ext cx="3154680" cy="310896"/>
          </a:xfrm>
          <a:prstGeom prst="roundRect">
            <a:avLst>
              <a:gd name="adj" fmla="val 14706"/>
            </a:avLst>
          </a:prstGeom>
          <a:solidFill>
            <a:srgbClr val="F4F7F5"/>
          </a:solidFill>
          <a:ln w="9525">
            <a:solidFill>
              <a:srgbClr val="D5DED9"/>
            </a:solidFill>
            <a:prstDash val="solid"/>
          </a:ln>
        </p:spPr>
      </p:sp>
      <p:sp>
        <p:nvSpPr>
          <p:cNvPr id="38" name="Shape 35"/>
          <p:cNvSpPr/>
          <p:nvPr/>
        </p:nvSpPr>
        <p:spPr>
          <a:xfrm>
            <a:off x="5440680" y="2944368"/>
            <a:ext cx="3246120" cy="310896"/>
          </a:xfrm>
          <a:prstGeom prst="roundRect">
            <a:avLst>
              <a:gd name="adj" fmla="val 14706"/>
            </a:avLst>
          </a:prstGeom>
          <a:solidFill>
            <a:srgbClr val="E8F5EF"/>
          </a:solidFill>
          <a:ln w="15875">
            <a:solidFill>
              <a:srgbClr val="00A86A"/>
            </a:solidFill>
            <a:prstDash val="solid"/>
          </a:ln>
        </p:spPr>
      </p:sp>
      <p:sp>
        <p:nvSpPr>
          <p:cNvPr id="39" name="Text 36"/>
          <p:cNvSpPr txBox="1"/>
          <p:nvPr/>
        </p:nvSpPr>
        <p:spPr>
          <a:xfrm>
            <a:off x="2240280" y="2944368"/>
            <a:ext cx="3017520" cy="31089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City cores clip at 63</a:t>
            </a:r>
            <a:endParaRPr lang="en-US" sz="950" dirty="0"/>
          </a:p>
        </p:txBody>
      </p:sp>
      <p:sp>
        <p:nvSpPr>
          <p:cNvPr id="40" name="Text 37"/>
          <p:cNvSpPr txBox="1"/>
          <p:nvPr/>
        </p:nvSpPr>
        <p:spPr>
          <a:xfrm>
            <a:off x="5532120" y="2944368"/>
            <a:ext cx="3108960" cy="31089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Wide dynamic range, three gain stages</a:t>
            </a:r>
            <a:endParaRPr lang="en-US" sz="950" dirty="0"/>
          </a:p>
        </p:txBody>
      </p:sp>
      <p:sp>
        <p:nvSpPr>
          <p:cNvPr id="41" name="Text 38"/>
          <p:cNvSpPr txBox="1"/>
          <p:nvPr/>
        </p:nvSpPr>
        <p:spPr>
          <a:xfrm>
            <a:off x="457200" y="331012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Sensitivity</a:t>
            </a:r>
            <a:endParaRPr lang="en-US" sz="1100" dirty="0"/>
          </a:p>
        </p:txBody>
      </p:sp>
      <p:sp>
        <p:nvSpPr>
          <p:cNvPr id="42" name="Shape 39"/>
          <p:cNvSpPr/>
          <p:nvPr/>
        </p:nvSpPr>
        <p:spPr>
          <a:xfrm>
            <a:off x="2148840" y="3310128"/>
            <a:ext cx="3154680" cy="310896"/>
          </a:xfrm>
          <a:prstGeom prst="roundRect">
            <a:avLst>
              <a:gd name="adj" fmla="val 14706"/>
            </a:avLst>
          </a:prstGeom>
          <a:solidFill>
            <a:srgbClr val="F4F7F5"/>
          </a:solidFill>
          <a:ln w="9525">
            <a:solidFill>
              <a:srgbClr val="D5DED9"/>
            </a:solidFill>
            <a:prstDash val="solid"/>
          </a:ln>
        </p:spPr>
      </p:sp>
      <p:sp>
        <p:nvSpPr>
          <p:cNvPr id="43" name="Shape 40"/>
          <p:cNvSpPr/>
          <p:nvPr/>
        </p:nvSpPr>
        <p:spPr>
          <a:xfrm>
            <a:off x="5440680" y="3310128"/>
            <a:ext cx="3246120" cy="310896"/>
          </a:xfrm>
          <a:prstGeom prst="roundRect">
            <a:avLst>
              <a:gd name="adj" fmla="val 14706"/>
            </a:avLst>
          </a:prstGeom>
          <a:solidFill>
            <a:srgbClr val="E8F5EF"/>
          </a:solidFill>
          <a:ln w="15875">
            <a:solidFill>
              <a:srgbClr val="00A86A"/>
            </a:solidFill>
            <a:prstDash val="solid"/>
          </a:ln>
        </p:spPr>
      </p:sp>
      <p:sp>
        <p:nvSpPr>
          <p:cNvPr id="44" name="Text 41"/>
          <p:cNvSpPr txBox="1"/>
          <p:nvPr/>
        </p:nvSpPr>
        <p:spPr>
          <a:xfrm>
            <a:off x="2240280" y="3310128"/>
            <a:ext cx="3017520" cy="31089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Misses faint, rural lighting</a:t>
            </a:r>
            <a:endParaRPr lang="en-US" sz="950" dirty="0"/>
          </a:p>
        </p:txBody>
      </p:sp>
      <p:sp>
        <p:nvSpPr>
          <p:cNvPr id="45" name="Text 42"/>
          <p:cNvSpPr txBox="1"/>
          <p:nvPr/>
        </p:nvSpPr>
        <p:spPr>
          <a:xfrm>
            <a:off x="5532120" y="3310128"/>
            <a:ext cx="3108960" cy="31089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Detects far fainter light than DMSP</a:t>
            </a:r>
            <a:endParaRPr lang="en-US" sz="950" dirty="0"/>
          </a:p>
        </p:txBody>
      </p:sp>
      <p:sp>
        <p:nvSpPr>
          <p:cNvPr id="46" name="Text 43"/>
          <p:cNvSpPr txBox="1"/>
          <p:nvPr/>
        </p:nvSpPr>
        <p:spPr>
          <a:xfrm>
            <a:off x="457200" y="367588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Products</a:t>
            </a:r>
            <a:endParaRPr lang="en-US" sz="1100" dirty="0"/>
          </a:p>
        </p:txBody>
      </p:sp>
      <p:sp>
        <p:nvSpPr>
          <p:cNvPr id="47" name="Shape 44"/>
          <p:cNvSpPr/>
          <p:nvPr/>
        </p:nvSpPr>
        <p:spPr>
          <a:xfrm>
            <a:off x="2148840" y="3675888"/>
            <a:ext cx="3154680" cy="310896"/>
          </a:xfrm>
          <a:prstGeom prst="roundRect">
            <a:avLst>
              <a:gd name="adj" fmla="val 14706"/>
            </a:avLst>
          </a:prstGeom>
          <a:solidFill>
            <a:srgbClr val="F4F7F5"/>
          </a:solidFill>
          <a:ln w="9525">
            <a:solidFill>
              <a:srgbClr val="D5DED9"/>
            </a:solidFill>
            <a:prstDash val="solid"/>
          </a:ln>
        </p:spPr>
      </p:sp>
      <p:sp>
        <p:nvSpPr>
          <p:cNvPr id="48" name="Shape 45"/>
          <p:cNvSpPr/>
          <p:nvPr/>
        </p:nvSpPr>
        <p:spPr>
          <a:xfrm>
            <a:off x="5440680" y="3675888"/>
            <a:ext cx="3246120" cy="310896"/>
          </a:xfrm>
          <a:prstGeom prst="roundRect">
            <a:avLst>
              <a:gd name="adj" fmla="val 14706"/>
            </a:avLst>
          </a:prstGeom>
          <a:solidFill>
            <a:srgbClr val="E8F5EF"/>
          </a:solidFill>
          <a:ln w="15875">
            <a:solidFill>
              <a:srgbClr val="00A86A"/>
            </a:solidFill>
            <a:prstDash val="solid"/>
          </a:ln>
        </p:spPr>
      </p:sp>
      <p:sp>
        <p:nvSpPr>
          <p:cNvPr id="49" name="Text 46"/>
          <p:cNvSpPr txBox="1"/>
          <p:nvPr/>
        </p:nvSpPr>
        <p:spPr>
          <a:xfrm>
            <a:off x="2240280" y="3675888"/>
            <a:ext cx="3017520" cy="31089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Annual composites only</a:t>
            </a:r>
            <a:endParaRPr lang="en-US" sz="950" dirty="0"/>
          </a:p>
        </p:txBody>
      </p:sp>
      <p:sp>
        <p:nvSpPr>
          <p:cNvPr id="50" name="Text 47"/>
          <p:cNvSpPr txBox="1"/>
          <p:nvPr/>
        </p:nvSpPr>
        <p:spPr>
          <a:xfrm>
            <a:off x="5532120" y="3675888"/>
            <a:ext cx="3108960" cy="31089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Daily, monthly and annual — open licence</a:t>
            </a:r>
            <a:endParaRPr lang="en-US" sz="950" dirty="0"/>
          </a:p>
        </p:txBody>
      </p:sp>
      <p:sp>
        <p:nvSpPr>
          <p:cNvPr id="51" name="Shape 48"/>
          <p:cNvSpPr/>
          <p:nvPr/>
        </p:nvSpPr>
        <p:spPr>
          <a:xfrm>
            <a:off x="457200" y="4114800"/>
            <a:ext cx="8229600" cy="457200"/>
          </a:xfrm>
          <a:prstGeom prst="roundRect">
            <a:avLst>
              <a:gd name="adj" fmla="val 16000"/>
            </a:avLst>
          </a:prstGeom>
          <a:solidFill>
            <a:srgbClr val="F4F7F5"/>
          </a:solidFill>
          <a:ln w="9525">
            <a:solidFill>
              <a:srgbClr val="D5DED9"/>
            </a:solidFill>
            <a:prstDash val="solid"/>
          </a:ln>
        </p:spPr>
      </p:sp>
      <p:sp>
        <p:nvSpPr>
          <p:cNvPr id="52" name="Shape 49"/>
          <p:cNvSpPr/>
          <p:nvPr/>
        </p:nvSpPr>
        <p:spPr>
          <a:xfrm>
            <a:off x="548640" y="4169664"/>
            <a:ext cx="347472" cy="347472"/>
          </a:xfrm>
          <a:prstGeom prst="ellipse">
            <a:avLst/>
          </a:prstGeom>
          <a:solidFill>
            <a:srgbClr val="D49A00">
              <a:alpha val="22000"/>
            </a:srgbClr>
          </a:solidFill>
          <a:ln w="12700">
            <a:solidFill>
              <a:srgbClr val="D49A00">
                <a:alpha val="0"/>
              </a:srgbClr>
            </a:solidFill>
            <a:prstDash val="solid"/>
          </a:ln>
        </p:spPr>
      </p:sp>
      <p:pic>
        <p:nvPicPr>
          <p:cNvPr id="53" name="Image 0" descr="preencoded.png"/>
          <p:cNvPicPr>
            <a:picLocks noChangeAspect="1"/>
          </p:cNvPicPr>
          <p:nvPr/>
        </p:nvPicPr>
        <p:blipFill>
          <a:blip r:embed="rId3"/>
          <a:stretch>
            <a:fillRect/>
          </a:stretch>
        </p:blipFill>
        <p:spPr>
          <a:xfrm>
            <a:off x="638983" y="4260007"/>
            <a:ext cx="166787" cy="166787"/>
          </a:xfrm>
          <a:prstGeom prst="rect">
            <a:avLst/>
          </a:prstGeom>
        </p:spPr>
      </p:pic>
      <p:sp>
        <p:nvSpPr>
          <p:cNvPr id="54" name="Text 50"/>
          <p:cNvSpPr txBox="1"/>
          <p:nvPr/>
        </p:nvSpPr>
        <p:spPr>
          <a:xfrm>
            <a:off x="1005840" y="4133088"/>
            <a:ext cx="7589520" cy="420624"/>
          </a:xfrm>
          <a:prstGeom prst="rect">
            <a:avLst/>
          </a:prstGeom>
          <a:noFill/>
          <a:ln/>
        </p:spPr>
        <p:txBody>
          <a:bodyPr wrap="square" lIns="0" tIns="0" rIns="0" bIns="0" rtlCol="0" anchor="ctr"/>
          <a:lstStyle/>
          <a:p>
            <a:pPr marL="0" indent="0">
              <a:buNone/>
            </a:pPr>
            <a:r>
              <a:rPr lang="en-US" sz="1000" b="1" dirty="0">
                <a:solidFill>
                  <a:srgbClr val="D49A00"/>
                </a:solidFill>
                <a:latin typeface="Calibri" pitchFamily="34" charset="0"/>
                <a:ea typeface="Calibri" pitchFamily="34" charset="-122"/>
                <a:cs typeface="Calibri" pitchFamily="34" charset="-120"/>
              </a:rPr>
              <a:t>Next generation: </a:t>
            </a:r>
            <a:r>
              <a:rPr lang="en-US" sz="1000" dirty="0">
                <a:solidFill>
                  <a:srgbClr val="231F20"/>
                </a:solidFill>
                <a:latin typeface="Calibri" pitchFamily="34" charset="0"/>
                <a:ea typeface="Calibri" pitchFamily="34" charset="-122"/>
                <a:cs typeface="Calibri" pitchFamily="34" charset="-120"/>
              </a:rPr>
              <a:t>Luojia-1-01 (≈130 m), SDGSAT-1 Glimmer (10 m panchromatic, 40 m colour) and commercial constellations resolve streets and distinguish lamp types by colour.</a:t>
            </a:r>
            <a:endParaRPr lang="en-US" sz="10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THE INSTRUMENTS · DYNAMIC RANGE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Why the brightest places say the least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371600"/>
            <a:ext cx="384048" cy="384048"/>
          </a:xfrm>
          <a:prstGeom prst="ellipse">
            <a:avLst/>
          </a:prstGeom>
          <a:solidFill>
            <a:srgbClr val="00704A">
              <a:alpha val="22000"/>
            </a:srgbClr>
          </a:solidFill>
          <a:ln w="12700">
            <a:solidFill>
              <a:srgbClr val="00704A">
                <a:alpha val="0"/>
              </a:srgbClr>
            </a:solidFill>
            <a:prstDash val="solid"/>
          </a:ln>
        </p:spPr>
      </p:sp>
      <p:pic>
        <p:nvPicPr>
          <p:cNvPr id="18" name="Image 0" descr="preencoded.png"/>
          <p:cNvPicPr>
            <a:picLocks noChangeAspect="1"/>
          </p:cNvPicPr>
          <p:nvPr/>
        </p:nvPicPr>
        <p:blipFill>
          <a:blip r:embed="rId3"/>
          <a:stretch>
            <a:fillRect/>
          </a:stretch>
        </p:blipFill>
        <p:spPr>
          <a:xfrm>
            <a:off x="557052" y="1471452"/>
            <a:ext cx="184343" cy="184343"/>
          </a:xfrm>
          <a:prstGeom prst="rect">
            <a:avLst/>
          </a:prstGeom>
        </p:spPr>
      </p:pic>
      <p:sp>
        <p:nvSpPr>
          <p:cNvPr id="19" name="Text 15"/>
          <p:cNvSpPr txBox="1"/>
          <p:nvPr/>
        </p:nvSpPr>
        <p:spPr>
          <a:xfrm>
            <a:off x="960120" y="1335024"/>
            <a:ext cx="3246120" cy="5029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DMSP returns 63 above a certain brightness — a suburb and a downtown core look identical.</a:t>
            </a:r>
            <a:endParaRPr lang="en-US" sz="1050" dirty="0"/>
          </a:p>
        </p:txBody>
      </p:sp>
      <p:sp>
        <p:nvSpPr>
          <p:cNvPr id="20" name="Shape 16"/>
          <p:cNvSpPr/>
          <p:nvPr/>
        </p:nvSpPr>
        <p:spPr>
          <a:xfrm>
            <a:off x="457200" y="2029968"/>
            <a:ext cx="384048" cy="384048"/>
          </a:xfrm>
          <a:prstGeom prst="ellipse">
            <a:avLst/>
          </a:prstGeom>
          <a:solidFill>
            <a:srgbClr val="00704A">
              <a:alpha val="22000"/>
            </a:srgbClr>
          </a:solidFill>
          <a:ln w="12700">
            <a:solidFill>
              <a:srgbClr val="00704A">
                <a:alpha val="0"/>
              </a:srgbClr>
            </a:solidFill>
            <a:prstDash val="solid"/>
          </a:ln>
        </p:spPr>
      </p:sp>
      <p:pic>
        <p:nvPicPr>
          <p:cNvPr id="21" name="Image 1" descr="preencoded.png"/>
          <p:cNvPicPr>
            <a:picLocks noChangeAspect="1"/>
          </p:cNvPicPr>
          <p:nvPr/>
        </p:nvPicPr>
        <p:blipFill>
          <a:blip r:embed="rId4"/>
          <a:stretch>
            <a:fillRect/>
          </a:stretch>
        </p:blipFill>
        <p:spPr>
          <a:xfrm>
            <a:off x="557052" y="2129820"/>
            <a:ext cx="184343" cy="184343"/>
          </a:xfrm>
          <a:prstGeom prst="rect">
            <a:avLst/>
          </a:prstGeom>
        </p:spPr>
      </p:pic>
      <p:sp>
        <p:nvSpPr>
          <p:cNvPr id="22" name="Text 17"/>
          <p:cNvSpPr txBox="1"/>
          <p:nvPr/>
        </p:nvSpPr>
        <p:spPr>
          <a:xfrm>
            <a:off x="960120" y="1993392"/>
            <a:ext cx="3246120" cy="5029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VIIRS spans roughly seven orders of magnitude, with three switchable gain stages.</a:t>
            </a:r>
            <a:endParaRPr lang="en-US" sz="1050" dirty="0"/>
          </a:p>
        </p:txBody>
      </p:sp>
      <p:sp>
        <p:nvSpPr>
          <p:cNvPr id="23" name="Shape 18"/>
          <p:cNvSpPr/>
          <p:nvPr/>
        </p:nvSpPr>
        <p:spPr>
          <a:xfrm>
            <a:off x="457200" y="2688336"/>
            <a:ext cx="384048" cy="384048"/>
          </a:xfrm>
          <a:prstGeom prst="ellipse">
            <a:avLst/>
          </a:prstGeom>
          <a:solidFill>
            <a:srgbClr val="00704A">
              <a:alpha val="22000"/>
            </a:srgbClr>
          </a:solidFill>
          <a:ln w="12700">
            <a:solidFill>
              <a:srgbClr val="00704A">
                <a:alpha val="0"/>
              </a:srgbClr>
            </a:solidFill>
            <a:prstDash val="solid"/>
          </a:ln>
        </p:spPr>
      </p:sp>
      <p:pic>
        <p:nvPicPr>
          <p:cNvPr id="24" name="Image 2" descr="preencoded.png"/>
          <p:cNvPicPr>
            <a:picLocks noChangeAspect="1"/>
          </p:cNvPicPr>
          <p:nvPr/>
        </p:nvPicPr>
        <p:blipFill>
          <a:blip r:embed="rId5"/>
          <a:stretch>
            <a:fillRect/>
          </a:stretch>
        </p:blipFill>
        <p:spPr>
          <a:xfrm>
            <a:off x="557052" y="2788188"/>
            <a:ext cx="184343" cy="184343"/>
          </a:xfrm>
          <a:prstGeom prst="rect">
            <a:avLst/>
          </a:prstGeom>
        </p:spPr>
      </p:pic>
      <p:sp>
        <p:nvSpPr>
          <p:cNvPr id="25" name="Text 19"/>
          <p:cNvSpPr txBox="1"/>
          <p:nvPr/>
        </p:nvSpPr>
        <p:spPr>
          <a:xfrm>
            <a:off x="960120" y="2651760"/>
            <a:ext cx="3246120" cy="5029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Its low noise floor makes a single lit fishing boat visible on a dark lake or ocean.</a:t>
            </a:r>
            <a:endParaRPr lang="en-US" sz="1050" dirty="0"/>
          </a:p>
        </p:txBody>
      </p:sp>
      <p:sp>
        <p:nvSpPr>
          <p:cNvPr id="26" name="Shape 20"/>
          <p:cNvSpPr/>
          <p:nvPr/>
        </p:nvSpPr>
        <p:spPr>
          <a:xfrm>
            <a:off x="457200" y="3429000"/>
            <a:ext cx="3749040" cy="1097280"/>
          </a:xfrm>
          <a:prstGeom prst="roundRect">
            <a:avLst>
              <a:gd name="adj" fmla="val 6667"/>
            </a:avLst>
          </a:prstGeom>
          <a:solidFill>
            <a:srgbClr val="D49A00">
              <a:alpha val="13000"/>
            </a:srgbClr>
          </a:solidFill>
          <a:ln w="12700">
            <a:solidFill>
              <a:srgbClr val="D49A00"/>
            </a:solidFill>
            <a:prstDash val="solid"/>
          </a:ln>
        </p:spPr>
      </p:sp>
      <p:sp>
        <p:nvSpPr>
          <p:cNvPr id="27" name="Shape 21"/>
          <p:cNvSpPr/>
          <p:nvPr/>
        </p:nvSpPr>
        <p:spPr>
          <a:xfrm>
            <a:off x="566928" y="3538728"/>
            <a:ext cx="384048" cy="384048"/>
          </a:xfrm>
          <a:prstGeom prst="ellipse">
            <a:avLst/>
          </a:prstGeom>
          <a:solidFill>
            <a:srgbClr val="D49A00">
              <a:alpha val="22000"/>
            </a:srgbClr>
          </a:solidFill>
          <a:ln w="12700">
            <a:solidFill>
              <a:srgbClr val="D49A00">
                <a:alpha val="0"/>
              </a:srgbClr>
            </a:solidFill>
            <a:prstDash val="solid"/>
          </a:ln>
        </p:spPr>
      </p:sp>
      <p:pic>
        <p:nvPicPr>
          <p:cNvPr id="28" name="Image 3" descr="preencoded.png"/>
          <p:cNvPicPr>
            <a:picLocks noChangeAspect="1"/>
          </p:cNvPicPr>
          <p:nvPr/>
        </p:nvPicPr>
        <p:blipFill>
          <a:blip r:embed="rId6"/>
          <a:stretch>
            <a:fillRect/>
          </a:stretch>
        </p:blipFill>
        <p:spPr>
          <a:xfrm>
            <a:off x="666780" y="3638580"/>
            <a:ext cx="184343" cy="184343"/>
          </a:xfrm>
          <a:prstGeom prst="rect">
            <a:avLst/>
          </a:prstGeom>
        </p:spPr>
      </p:pic>
      <p:sp>
        <p:nvSpPr>
          <p:cNvPr id="29" name="Text 22"/>
          <p:cNvSpPr txBox="1"/>
          <p:nvPr/>
        </p:nvSpPr>
        <p:spPr>
          <a:xfrm>
            <a:off x="1051560" y="3538728"/>
            <a:ext cx="301752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Read this before you regress</a:t>
            </a:r>
            <a:endParaRPr lang="en-US" sz="1200" dirty="0"/>
          </a:p>
        </p:txBody>
      </p:sp>
      <p:sp>
        <p:nvSpPr>
          <p:cNvPr id="30" name="Text 23"/>
          <p:cNvSpPr txBox="1"/>
          <p:nvPr/>
        </p:nvSpPr>
        <p:spPr>
          <a:xfrm>
            <a:off x="1051560" y="3794760"/>
            <a:ext cx="3063240" cy="68580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Saturation is a ceiling, not noise you can average away. The information was never recorded — correcting it means modelling what the sensor failed to see.</a:t>
            </a:r>
            <a:endParaRPr lang="en-US" sz="1000" dirty="0"/>
          </a:p>
        </p:txBody>
      </p:sp>
      <p:graphicFrame>
        <p:nvGraphicFramePr>
          <p:cNvPr id="31" name="Chart 0"/>
          <p:cNvGraphicFramePr/>
          <p:nvPr/>
        </p:nvGraphicFramePr>
        <p:xfrm>
          <a:off x="4480560" y="1325880"/>
          <a:ext cx="4206240" cy="3063240"/>
        </p:xfrm>
        <a:graphic>
          <a:graphicData uri="http://schemas.openxmlformats.org/drawingml/2006/chart">
            <c:chart xmlns:c="http://schemas.openxmlformats.org/drawingml/2006/chart" xmlns:r="http://schemas.openxmlformats.org/officeDocument/2006/relationships" r:id="rId7"/>
          </a:graphicData>
        </a:graphic>
      </p:graphicFrame>
      <p:sp>
        <p:nvSpPr>
          <p:cNvPr id="32" name="Text 24"/>
          <p:cNvSpPr txBox="1"/>
          <p:nvPr/>
        </p:nvSpPr>
        <p:spPr>
          <a:xfrm>
            <a:off x="4480560" y="4434840"/>
            <a:ext cx="420624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Schematic illustration — not fitted data. VIIRS range per Elvidge et al. (2017).</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3</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3"/>
          <p:cNvSpPr txBox="1"/>
          <p:nvPr/>
        </p:nvSpPr>
        <p:spPr>
          <a:xfrm>
            <a:off x="548640" y="224028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From photons to data</a:t>
            </a:r>
            <a:endParaRPr lang="en-US" sz="4000" dirty="0"/>
          </a:p>
        </p:txBody>
      </p:sp>
      <p:sp>
        <p:nvSpPr>
          <p:cNvPr id="6" name="Text 4"/>
          <p:cNvSpPr txBox="1"/>
          <p:nvPr/>
        </p:nvSpPr>
        <p:spPr>
          <a:xfrm>
            <a:off x="548640" y="2971800"/>
            <a:ext cx="493776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How does a night of observations become a number you can publish?</a:t>
            </a:r>
            <a:endParaRPr lang="en-US" sz="1800" dirty="0"/>
          </a:p>
        </p:txBody>
      </p:sp>
      <p:sp>
        <p:nvSpPr>
          <p:cNvPr id="7" name="Text 5"/>
          <p:cNvSpPr txBox="1"/>
          <p:nvPr/>
        </p:nvSpPr>
        <p:spPr>
          <a:xfrm>
            <a:off x="548640" y="3703320"/>
            <a:ext cx="512064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Processing  ·  Products  ·  What glows  ·  Indicators  ·  Example</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5C242"/>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FROM PHOTONS TO DATA · METHOD</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How a night-lights image is manufactured</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457200" y="1325880"/>
            <a:ext cx="1481328" cy="1920240"/>
          </a:xfrm>
          <a:prstGeom prst="roundRect">
            <a:avLst>
              <a:gd name="adj" fmla="val 4938"/>
            </a:avLst>
          </a:prstGeom>
          <a:solidFill>
            <a:srgbClr val="F4F7F5"/>
          </a:solidFill>
          <a:ln w="9525">
            <a:solidFill>
              <a:srgbClr val="D5DED9"/>
            </a:solidFill>
            <a:prstDash val="solid"/>
          </a:ln>
        </p:spPr>
      </p:sp>
      <p:sp>
        <p:nvSpPr>
          <p:cNvPr id="18" name="Shape 15"/>
          <p:cNvSpPr/>
          <p:nvPr/>
        </p:nvSpPr>
        <p:spPr>
          <a:xfrm>
            <a:off x="923544" y="1444752"/>
            <a:ext cx="548640" cy="548640"/>
          </a:xfrm>
          <a:prstGeom prst="ellipse">
            <a:avLst/>
          </a:prstGeom>
          <a:solidFill>
            <a:srgbClr val="0E7C86">
              <a:alpha val="22000"/>
            </a:srgbClr>
          </a:solidFill>
          <a:ln w="12700">
            <a:solidFill>
              <a:srgbClr val="0E7C86">
                <a:alpha val="0"/>
              </a:srgbClr>
            </a:solidFill>
            <a:prstDash val="solid"/>
          </a:ln>
        </p:spPr>
      </p:sp>
      <p:pic>
        <p:nvPicPr>
          <p:cNvPr id="19" name="Image 0" descr="preencoded.png"/>
          <p:cNvPicPr>
            <a:picLocks noChangeAspect="1"/>
          </p:cNvPicPr>
          <p:nvPr/>
        </p:nvPicPr>
        <p:blipFill>
          <a:blip r:embed="rId3"/>
          <a:stretch>
            <a:fillRect/>
          </a:stretch>
        </p:blipFill>
        <p:spPr>
          <a:xfrm>
            <a:off x="1066190" y="1587398"/>
            <a:ext cx="263347" cy="263347"/>
          </a:xfrm>
          <a:prstGeom prst="rect">
            <a:avLst/>
          </a:prstGeom>
        </p:spPr>
      </p:pic>
      <p:sp>
        <p:nvSpPr>
          <p:cNvPr id="20" name="Shape 16"/>
          <p:cNvSpPr/>
          <p:nvPr/>
        </p:nvSpPr>
        <p:spPr>
          <a:xfrm>
            <a:off x="548640" y="1417320"/>
            <a:ext cx="256032" cy="256032"/>
          </a:xfrm>
          <a:prstGeom prst="ellipse">
            <a:avLst/>
          </a:prstGeom>
          <a:solidFill>
            <a:srgbClr val="0E7C86"/>
          </a:solidFill>
          <a:ln w="12700">
            <a:solidFill>
              <a:srgbClr val="0E7C86"/>
            </a:solidFill>
            <a:prstDash val="solid"/>
          </a:ln>
        </p:spPr>
      </p:sp>
      <p:sp>
        <p:nvSpPr>
          <p:cNvPr id="21" name="Text 17"/>
          <p:cNvSpPr txBox="1"/>
          <p:nvPr/>
        </p:nvSpPr>
        <p:spPr>
          <a:xfrm>
            <a:off x="548640"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2" name="Text 18"/>
          <p:cNvSpPr txBox="1"/>
          <p:nvPr/>
        </p:nvSpPr>
        <p:spPr>
          <a:xfrm>
            <a:off x="548640" y="2084832"/>
            <a:ext cx="1298448" cy="256032"/>
          </a:xfrm>
          <a:prstGeom prst="rect">
            <a:avLst/>
          </a:prstGeom>
          <a:noFill/>
          <a:ln/>
        </p:spPr>
        <p:txBody>
          <a:bodyPr wrap="square" lIns="0" tIns="0" rIns="0" bIns="0" rtlCol="0" anchor="t"/>
          <a:lstStyle/>
          <a:p>
            <a:pPr marL="0" indent="0" algn="ctr">
              <a:buNone/>
            </a:pPr>
            <a:r>
              <a:rPr lang="en-US" sz="1150" b="1" dirty="0">
                <a:solidFill>
                  <a:srgbClr val="231F20"/>
                </a:solidFill>
                <a:latin typeface="Calibri" pitchFamily="34" charset="0"/>
                <a:ea typeface="Calibri" pitchFamily="34" charset="-122"/>
                <a:cs typeface="Calibri" pitchFamily="34" charset="-120"/>
              </a:rPr>
              <a:t>Screen for cloud</a:t>
            </a:r>
            <a:endParaRPr lang="en-US" sz="1150" dirty="0"/>
          </a:p>
        </p:txBody>
      </p:sp>
      <p:sp>
        <p:nvSpPr>
          <p:cNvPr id="23" name="Text 19"/>
          <p:cNvSpPr txBox="1"/>
          <p:nvPr/>
        </p:nvSpPr>
        <p:spPr>
          <a:xfrm>
            <a:off x="548640" y="2377440"/>
            <a:ext cx="1298448" cy="8229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Only nights flagged cloud-free enter a composite. In the wet tropics most nights may be discarded.</a:t>
            </a:r>
            <a:endParaRPr lang="en-US" sz="950" dirty="0"/>
          </a:p>
        </p:txBody>
      </p:sp>
      <p:sp>
        <p:nvSpPr>
          <p:cNvPr id="24" name="Shape 20"/>
          <p:cNvSpPr/>
          <p:nvPr/>
        </p:nvSpPr>
        <p:spPr>
          <a:xfrm>
            <a:off x="1956816" y="2286000"/>
            <a:ext cx="164592" cy="91"/>
          </a:xfrm>
          <a:prstGeom prst="line">
            <a:avLst/>
          </a:prstGeom>
          <a:noFill/>
          <a:ln w="15875">
            <a:solidFill>
              <a:srgbClr val="5E6964"/>
            </a:solidFill>
            <a:prstDash val="solid"/>
            <a:tailEnd type="triangle"/>
          </a:ln>
        </p:spPr>
      </p:sp>
      <p:sp>
        <p:nvSpPr>
          <p:cNvPr id="25" name="Shape 21"/>
          <p:cNvSpPr/>
          <p:nvPr/>
        </p:nvSpPr>
        <p:spPr>
          <a:xfrm>
            <a:off x="2139696" y="1325880"/>
            <a:ext cx="1481328" cy="1920240"/>
          </a:xfrm>
          <a:prstGeom prst="roundRect">
            <a:avLst>
              <a:gd name="adj" fmla="val 4938"/>
            </a:avLst>
          </a:prstGeom>
          <a:solidFill>
            <a:srgbClr val="F4F7F5"/>
          </a:solidFill>
          <a:ln w="9525">
            <a:solidFill>
              <a:srgbClr val="D5DED9"/>
            </a:solidFill>
            <a:prstDash val="solid"/>
          </a:ln>
        </p:spPr>
      </p:sp>
      <p:sp>
        <p:nvSpPr>
          <p:cNvPr id="26" name="Shape 22"/>
          <p:cNvSpPr/>
          <p:nvPr/>
        </p:nvSpPr>
        <p:spPr>
          <a:xfrm>
            <a:off x="2606040" y="1444752"/>
            <a:ext cx="548640" cy="548640"/>
          </a:xfrm>
          <a:prstGeom prst="ellipse">
            <a:avLst/>
          </a:prstGeom>
          <a:solidFill>
            <a:srgbClr val="0E7C86">
              <a:alpha val="22000"/>
            </a:srgbClr>
          </a:solidFill>
          <a:ln w="12700">
            <a:solidFill>
              <a:srgbClr val="0E7C86">
                <a:alpha val="0"/>
              </a:srgbClr>
            </a:solidFill>
            <a:prstDash val="solid"/>
          </a:ln>
        </p:spPr>
      </p:sp>
      <p:pic>
        <p:nvPicPr>
          <p:cNvPr id="27" name="Image 1" descr="preencoded.png"/>
          <p:cNvPicPr>
            <a:picLocks noChangeAspect="1"/>
          </p:cNvPicPr>
          <p:nvPr/>
        </p:nvPicPr>
        <p:blipFill>
          <a:blip r:embed="rId4"/>
          <a:stretch>
            <a:fillRect/>
          </a:stretch>
        </p:blipFill>
        <p:spPr>
          <a:xfrm>
            <a:off x="2748686" y="1587398"/>
            <a:ext cx="263347" cy="263347"/>
          </a:xfrm>
          <a:prstGeom prst="rect">
            <a:avLst/>
          </a:prstGeom>
        </p:spPr>
      </p:pic>
      <p:sp>
        <p:nvSpPr>
          <p:cNvPr id="28" name="Shape 23"/>
          <p:cNvSpPr/>
          <p:nvPr/>
        </p:nvSpPr>
        <p:spPr>
          <a:xfrm>
            <a:off x="2231136" y="1417320"/>
            <a:ext cx="256032" cy="256032"/>
          </a:xfrm>
          <a:prstGeom prst="ellipse">
            <a:avLst/>
          </a:prstGeom>
          <a:solidFill>
            <a:srgbClr val="0E7C86"/>
          </a:solidFill>
          <a:ln w="12700">
            <a:solidFill>
              <a:srgbClr val="0E7C86"/>
            </a:solidFill>
            <a:prstDash val="solid"/>
          </a:ln>
        </p:spPr>
      </p:sp>
      <p:sp>
        <p:nvSpPr>
          <p:cNvPr id="29" name="Text 24"/>
          <p:cNvSpPr txBox="1"/>
          <p:nvPr/>
        </p:nvSpPr>
        <p:spPr>
          <a:xfrm>
            <a:off x="2231136"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0" name="Text 25"/>
          <p:cNvSpPr txBox="1"/>
          <p:nvPr/>
        </p:nvSpPr>
        <p:spPr>
          <a:xfrm>
            <a:off x="2231136" y="2084832"/>
            <a:ext cx="1298448" cy="256032"/>
          </a:xfrm>
          <a:prstGeom prst="rect">
            <a:avLst/>
          </a:prstGeom>
          <a:noFill/>
          <a:ln/>
        </p:spPr>
        <p:txBody>
          <a:bodyPr wrap="square" lIns="0" tIns="0" rIns="0" bIns="0" rtlCol="0" anchor="t"/>
          <a:lstStyle/>
          <a:p>
            <a:pPr marL="0" indent="0" algn="ctr">
              <a:buNone/>
            </a:pPr>
            <a:r>
              <a:rPr lang="en-US" sz="1150" b="1" dirty="0">
                <a:solidFill>
                  <a:srgbClr val="231F20"/>
                </a:solidFill>
                <a:latin typeface="Calibri" pitchFamily="34" charset="0"/>
                <a:ea typeface="Calibri" pitchFamily="34" charset="-122"/>
                <a:cs typeface="Calibri" pitchFamily="34" charset="-120"/>
              </a:rPr>
              <a:t>Remove sunlight</a:t>
            </a:r>
            <a:endParaRPr lang="en-US" sz="1150" dirty="0"/>
          </a:p>
        </p:txBody>
      </p:sp>
      <p:sp>
        <p:nvSpPr>
          <p:cNvPr id="31" name="Text 26"/>
          <p:cNvSpPr txBox="1"/>
          <p:nvPr/>
        </p:nvSpPr>
        <p:spPr>
          <a:xfrm>
            <a:off x="2231136" y="2377440"/>
            <a:ext cx="1298448" cy="8229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Twilight, glint and instrument stray light are corrected or excluded.</a:t>
            </a:r>
            <a:endParaRPr lang="en-US" sz="950" dirty="0"/>
          </a:p>
        </p:txBody>
      </p:sp>
      <p:sp>
        <p:nvSpPr>
          <p:cNvPr id="32" name="Shape 27"/>
          <p:cNvSpPr/>
          <p:nvPr/>
        </p:nvSpPr>
        <p:spPr>
          <a:xfrm>
            <a:off x="3639312" y="2286000"/>
            <a:ext cx="164592" cy="91"/>
          </a:xfrm>
          <a:prstGeom prst="line">
            <a:avLst/>
          </a:prstGeom>
          <a:noFill/>
          <a:ln w="15875">
            <a:solidFill>
              <a:srgbClr val="5E6964"/>
            </a:solidFill>
            <a:prstDash val="solid"/>
            <a:tailEnd type="triangle"/>
          </a:ln>
        </p:spPr>
      </p:sp>
      <p:sp>
        <p:nvSpPr>
          <p:cNvPr id="33" name="Shape 28"/>
          <p:cNvSpPr/>
          <p:nvPr/>
        </p:nvSpPr>
        <p:spPr>
          <a:xfrm>
            <a:off x="3822192" y="1325880"/>
            <a:ext cx="1481328" cy="1920240"/>
          </a:xfrm>
          <a:prstGeom prst="roundRect">
            <a:avLst>
              <a:gd name="adj" fmla="val 4938"/>
            </a:avLst>
          </a:prstGeom>
          <a:solidFill>
            <a:srgbClr val="F4F7F5"/>
          </a:solidFill>
          <a:ln w="9525">
            <a:solidFill>
              <a:srgbClr val="D5DED9"/>
            </a:solidFill>
            <a:prstDash val="solid"/>
          </a:ln>
        </p:spPr>
      </p:sp>
      <p:sp>
        <p:nvSpPr>
          <p:cNvPr id="34" name="Shape 29"/>
          <p:cNvSpPr/>
          <p:nvPr/>
        </p:nvSpPr>
        <p:spPr>
          <a:xfrm>
            <a:off x="4288536" y="1444752"/>
            <a:ext cx="548640" cy="548640"/>
          </a:xfrm>
          <a:prstGeom prst="ellipse">
            <a:avLst/>
          </a:prstGeom>
          <a:solidFill>
            <a:srgbClr val="0E7C86">
              <a:alpha val="22000"/>
            </a:srgbClr>
          </a:solidFill>
          <a:ln w="12700">
            <a:solidFill>
              <a:srgbClr val="0E7C86">
                <a:alpha val="0"/>
              </a:srgbClr>
            </a:solidFill>
            <a:prstDash val="solid"/>
          </a:ln>
        </p:spPr>
      </p:sp>
      <p:pic>
        <p:nvPicPr>
          <p:cNvPr id="35" name="Image 2" descr="preencoded.png"/>
          <p:cNvPicPr>
            <a:picLocks noChangeAspect="1"/>
          </p:cNvPicPr>
          <p:nvPr/>
        </p:nvPicPr>
        <p:blipFill>
          <a:blip r:embed="rId5"/>
          <a:stretch>
            <a:fillRect/>
          </a:stretch>
        </p:blipFill>
        <p:spPr>
          <a:xfrm>
            <a:off x="4431182" y="1587398"/>
            <a:ext cx="263347" cy="263347"/>
          </a:xfrm>
          <a:prstGeom prst="rect">
            <a:avLst/>
          </a:prstGeom>
        </p:spPr>
      </p:pic>
      <p:sp>
        <p:nvSpPr>
          <p:cNvPr id="36" name="Shape 30"/>
          <p:cNvSpPr/>
          <p:nvPr/>
        </p:nvSpPr>
        <p:spPr>
          <a:xfrm>
            <a:off x="3913632" y="1417320"/>
            <a:ext cx="256032" cy="256032"/>
          </a:xfrm>
          <a:prstGeom prst="ellipse">
            <a:avLst/>
          </a:prstGeom>
          <a:solidFill>
            <a:srgbClr val="0E7C86"/>
          </a:solidFill>
          <a:ln w="12700">
            <a:solidFill>
              <a:srgbClr val="0E7C86"/>
            </a:solidFill>
            <a:prstDash val="solid"/>
          </a:ln>
        </p:spPr>
      </p:sp>
      <p:sp>
        <p:nvSpPr>
          <p:cNvPr id="37" name="Text 31"/>
          <p:cNvSpPr txBox="1"/>
          <p:nvPr/>
        </p:nvSpPr>
        <p:spPr>
          <a:xfrm>
            <a:off x="3913632"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8" name="Text 32"/>
          <p:cNvSpPr txBox="1"/>
          <p:nvPr/>
        </p:nvSpPr>
        <p:spPr>
          <a:xfrm>
            <a:off x="3913632" y="2084832"/>
            <a:ext cx="1298448" cy="256032"/>
          </a:xfrm>
          <a:prstGeom prst="rect">
            <a:avLst/>
          </a:prstGeom>
          <a:noFill/>
          <a:ln/>
        </p:spPr>
        <p:txBody>
          <a:bodyPr wrap="square" lIns="0" tIns="0" rIns="0" bIns="0" rtlCol="0" anchor="t"/>
          <a:lstStyle/>
          <a:p>
            <a:pPr marL="0" indent="0" algn="ctr">
              <a:buNone/>
            </a:pPr>
            <a:r>
              <a:rPr lang="en-US" sz="1150" b="1" dirty="0">
                <a:solidFill>
                  <a:srgbClr val="231F20"/>
                </a:solidFill>
                <a:latin typeface="Calibri" pitchFamily="34" charset="0"/>
                <a:ea typeface="Calibri" pitchFamily="34" charset="-122"/>
                <a:cs typeface="Calibri" pitchFamily="34" charset="-120"/>
              </a:rPr>
              <a:t>Correct for the Moon</a:t>
            </a:r>
            <a:endParaRPr lang="en-US" sz="1150" dirty="0"/>
          </a:p>
        </p:txBody>
      </p:sp>
      <p:sp>
        <p:nvSpPr>
          <p:cNvPr id="39" name="Text 33"/>
          <p:cNvSpPr txBox="1"/>
          <p:nvPr/>
        </p:nvSpPr>
        <p:spPr>
          <a:xfrm>
            <a:off x="3913632" y="2377440"/>
            <a:ext cx="1298448" cy="8229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Moonlight reflected by the ground mimics emitted light; it is modelled out.</a:t>
            </a:r>
            <a:endParaRPr lang="en-US" sz="950" dirty="0"/>
          </a:p>
        </p:txBody>
      </p:sp>
      <p:sp>
        <p:nvSpPr>
          <p:cNvPr id="40" name="Shape 34"/>
          <p:cNvSpPr/>
          <p:nvPr/>
        </p:nvSpPr>
        <p:spPr>
          <a:xfrm>
            <a:off x="5321808" y="2286000"/>
            <a:ext cx="164592" cy="91"/>
          </a:xfrm>
          <a:prstGeom prst="line">
            <a:avLst/>
          </a:prstGeom>
          <a:noFill/>
          <a:ln w="15875">
            <a:solidFill>
              <a:srgbClr val="5E6964"/>
            </a:solidFill>
            <a:prstDash val="solid"/>
            <a:tailEnd type="triangle"/>
          </a:ln>
        </p:spPr>
      </p:sp>
      <p:sp>
        <p:nvSpPr>
          <p:cNvPr id="41" name="Shape 35"/>
          <p:cNvSpPr/>
          <p:nvPr/>
        </p:nvSpPr>
        <p:spPr>
          <a:xfrm>
            <a:off x="5504688" y="1325880"/>
            <a:ext cx="1481328" cy="1920240"/>
          </a:xfrm>
          <a:prstGeom prst="roundRect">
            <a:avLst>
              <a:gd name="adj" fmla="val 4938"/>
            </a:avLst>
          </a:prstGeom>
          <a:solidFill>
            <a:srgbClr val="F4F7F5"/>
          </a:solidFill>
          <a:ln w="9525">
            <a:solidFill>
              <a:srgbClr val="D5DED9"/>
            </a:solidFill>
            <a:prstDash val="solid"/>
          </a:ln>
        </p:spPr>
      </p:sp>
      <p:sp>
        <p:nvSpPr>
          <p:cNvPr id="42" name="Shape 36"/>
          <p:cNvSpPr/>
          <p:nvPr/>
        </p:nvSpPr>
        <p:spPr>
          <a:xfrm>
            <a:off x="5971032" y="1444752"/>
            <a:ext cx="548640" cy="548640"/>
          </a:xfrm>
          <a:prstGeom prst="ellipse">
            <a:avLst/>
          </a:prstGeom>
          <a:solidFill>
            <a:srgbClr val="0E7C86">
              <a:alpha val="22000"/>
            </a:srgbClr>
          </a:solidFill>
          <a:ln w="12700">
            <a:solidFill>
              <a:srgbClr val="0E7C86">
                <a:alpha val="0"/>
              </a:srgbClr>
            </a:solidFill>
            <a:prstDash val="solid"/>
          </a:ln>
        </p:spPr>
      </p:sp>
      <p:pic>
        <p:nvPicPr>
          <p:cNvPr id="43" name="Image 3" descr="preencoded.png"/>
          <p:cNvPicPr>
            <a:picLocks noChangeAspect="1"/>
          </p:cNvPicPr>
          <p:nvPr/>
        </p:nvPicPr>
        <p:blipFill>
          <a:blip r:embed="rId6"/>
          <a:stretch>
            <a:fillRect/>
          </a:stretch>
        </p:blipFill>
        <p:spPr>
          <a:xfrm>
            <a:off x="6113678" y="1587398"/>
            <a:ext cx="263347" cy="263347"/>
          </a:xfrm>
          <a:prstGeom prst="rect">
            <a:avLst/>
          </a:prstGeom>
        </p:spPr>
      </p:pic>
      <p:sp>
        <p:nvSpPr>
          <p:cNvPr id="44" name="Shape 37"/>
          <p:cNvSpPr/>
          <p:nvPr/>
        </p:nvSpPr>
        <p:spPr>
          <a:xfrm>
            <a:off x="5596128" y="1417320"/>
            <a:ext cx="256032" cy="256032"/>
          </a:xfrm>
          <a:prstGeom prst="ellipse">
            <a:avLst/>
          </a:prstGeom>
          <a:solidFill>
            <a:srgbClr val="0E7C86"/>
          </a:solidFill>
          <a:ln w="12700">
            <a:solidFill>
              <a:srgbClr val="0E7C86"/>
            </a:solidFill>
            <a:prstDash val="solid"/>
          </a:ln>
        </p:spPr>
      </p:sp>
      <p:sp>
        <p:nvSpPr>
          <p:cNvPr id="45" name="Text 38"/>
          <p:cNvSpPr txBox="1"/>
          <p:nvPr/>
        </p:nvSpPr>
        <p:spPr>
          <a:xfrm>
            <a:off x="5596128"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6" name="Text 39"/>
          <p:cNvSpPr txBox="1"/>
          <p:nvPr/>
        </p:nvSpPr>
        <p:spPr>
          <a:xfrm>
            <a:off x="5596128" y="2084832"/>
            <a:ext cx="1298448" cy="256032"/>
          </a:xfrm>
          <a:prstGeom prst="rect">
            <a:avLst/>
          </a:prstGeom>
          <a:noFill/>
          <a:ln/>
        </p:spPr>
        <p:txBody>
          <a:bodyPr wrap="square" lIns="0" tIns="0" rIns="0" bIns="0" rtlCol="0" anchor="t"/>
          <a:lstStyle/>
          <a:p>
            <a:pPr marL="0" indent="0" algn="ctr">
              <a:buNone/>
            </a:pPr>
            <a:r>
              <a:rPr lang="en-US" sz="1150" b="1" dirty="0">
                <a:solidFill>
                  <a:srgbClr val="231F20"/>
                </a:solidFill>
                <a:latin typeface="Calibri" pitchFamily="34" charset="0"/>
                <a:ea typeface="Calibri" pitchFamily="34" charset="-122"/>
                <a:cs typeface="Calibri" pitchFamily="34" charset="-120"/>
              </a:rPr>
              <a:t>Filter transients</a:t>
            </a:r>
            <a:endParaRPr lang="en-US" sz="1150" dirty="0"/>
          </a:p>
        </p:txBody>
      </p:sp>
      <p:sp>
        <p:nvSpPr>
          <p:cNvPr id="47" name="Text 40"/>
          <p:cNvSpPr txBox="1"/>
          <p:nvPr/>
        </p:nvSpPr>
        <p:spPr>
          <a:xfrm>
            <a:off x="5596128" y="2377440"/>
            <a:ext cx="1298448" cy="8229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Fires, lightning, aurora and moving boats are flagged by their instability.</a:t>
            </a:r>
            <a:endParaRPr lang="en-US" sz="950" dirty="0"/>
          </a:p>
        </p:txBody>
      </p:sp>
      <p:sp>
        <p:nvSpPr>
          <p:cNvPr id="48" name="Shape 41"/>
          <p:cNvSpPr/>
          <p:nvPr/>
        </p:nvSpPr>
        <p:spPr>
          <a:xfrm>
            <a:off x="7004304" y="2286000"/>
            <a:ext cx="164592" cy="91"/>
          </a:xfrm>
          <a:prstGeom prst="line">
            <a:avLst/>
          </a:prstGeom>
          <a:noFill/>
          <a:ln w="15875">
            <a:solidFill>
              <a:srgbClr val="5E6964"/>
            </a:solidFill>
            <a:prstDash val="solid"/>
            <a:tailEnd type="triangle"/>
          </a:ln>
        </p:spPr>
      </p:sp>
      <p:sp>
        <p:nvSpPr>
          <p:cNvPr id="49" name="Shape 42"/>
          <p:cNvSpPr/>
          <p:nvPr/>
        </p:nvSpPr>
        <p:spPr>
          <a:xfrm>
            <a:off x="7187184" y="1325880"/>
            <a:ext cx="1481328" cy="1920240"/>
          </a:xfrm>
          <a:prstGeom prst="roundRect">
            <a:avLst>
              <a:gd name="adj" fmla="val 4938"/>
            </a:avLst>
          </a:prstGeom>
          <a:solidFill>
            <a:srgbClr val="F4F7F5"/>
          </a:solidFill>
          <a:ln w="9525">
            <a:solidFill>
              <a:srgbClr val="D5DED9"/>
            </a:solidFill>
            <a:prstDash val="solid"/>
          </a:ln>
        </p:spPr>
      </p:sp>
      <p:sp>
        <p:nvSpPr>
          <p:cNvPr id="50" name="Shape 43"/>
          <p:cNvSpPr/>
          <p:nvPr/>
        </p:nvSpPr>
        <p:spPr>
          <a:xfrm>
            <a:off x="7653528" y="1444752"/>
            <a:ext cx="548640" cy="548640"/>
          </a:xfrm>
          <a:prstGeom prst="ellipse">
            <a:avLst/>
          </a:prstGeom>
          <a:solidFill>
            <a:srgbClr val="0E7C86">
              <a:alpha val="22000"/>
            </a:srgbClr>
          </a:solidFill>
          <a:ln w="12700">
            <a:solidFill>
              <a:srgbClr val="0E7C86">
                <a:alpha val="0"/>
              </a:srgbClr>
            </a:solidFill>
            <a:prstDash val="solid"/>
          </a:ln>
        </p:spPr>
      </p:sp>
      <p:pic>
        <p:nvPicPr>
          <p:cNvPr id="51" name="Image 4" descr="preencoded.png"/>
          <p:cNvPicPr>
            <a:picLocks noChangeAspect="1"/>
          </p:cNvPicPr>
          <p:nvPr/>
        </p:nvPicPr>
        <p:blipFill>
          <a:blip r:embed="rId7"/>
          <a:stretch>
            <a:fillRect/>
          </a:stretch>
        </p:blipFill>
        <p:spPr>
          <a:xfrm>
            <a:off x="7796174" y="1587398"/>
            <a:ext cx="263347" cy="263347"/>
          </a:xfrm>
          <a:prstGeom prst="rect">
            <a:avLst/>
          </a:prstGeom>
        </p:spPr>
      </p:pic>
      <p:sp>
        <p:nvSpPr>
          <p:cNvPr id="52" name="Shape 44"/>
          <p:cNvSpPr/>
          <p:nvPr/>
        </p:nvSpPr>
        <p:spPr>
          <a:xfrm>
            <a:off x="7278624" y="1417320"/>
            <a:ext cx="256032" cy="256032"/>
          </a:xfrm>
          <a:prstGeom prst="ellipse">
            <a:avLst/>
          </a:prstGeom>
          <a:solidFill>
            <a:srgbClr val="0E7C86"/>
          </a:solidFill>
          <a:ln w="12700">
            <a:solidFill>
              <a:srgbClr val="0E7C86"/>
            </a:solidFill>
            <a:prstDash val="solid"/>
          </a:ln>
        </p:spPr>
      </p:sp>
      <p:sp>
        <p:nvSpPr>
          <p:cNvPr id="53" name="Text 45"/>
          <p:cNvSpPr txBox="1"/>
          <p:nvPr/>
        </p:nvSpPr>
        <p:spPr>
          <a:xfrm>
            <a:off x="7278624"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4" name="Text 46"/>
          <p:cNvSpPr txBox="1"/>
          <p:nvPr/>
        </p:nvSpPr>
        <p:spPr>
          <a:xfrm>
            <a:off x="7278624" y="2084832"/>
            <a:ext cx="1298448" cy="256032"/>
          </a:xfrm>
          <a:prstGeom prst="rect">
            <a:avLst/>
          </a:prstGeom>
          <a:noFill/>
          <a:ln/>
        </p:spPr>
        <p:txBody>
          <a:bodyPr wrap="square" lIns="0" tIns="0" rIns="0" bIns="0" rtlCol="0" anchor="t"/>
          <a:lstStyle/>
          <a:p>
            <a:pPr marL="0" indent="0" algn="ctr">
              <a:buNone/>
            </a:pPr>
            <a:r>
              <a:rPr lang="en-US" sz="1150" b="1" dirty="0">
                <a:solidFill>
                  <a:srgbClr val="231F20"/>
                </a:solidFill>
                <a:latin typeface="Calibri" pitchFamily="34" charset="0"/>
                <a:ea typeface="Calibri" pitchFamily="34" charset="-122"/>
                <a:cs typeface="Calibri" pitchFamily="34" charset="-120"/>
              </a:rPr>
              <a:t>Composite &amp; tile</a:t>
            </a:r>
            <a:endParaRPr lang="en-US" sz="1150" dirty="0"/>
          </a:p>
        </p:txBody>
      </p:sp>
      <p:sp>
        <p:nvSpPr>
          <p:cNvPr id="55" name="Text 47"/>
          <p:cNvSpPr txBox="1"/>
          <p:nvPr/>
        </p:nvSpPr>
        <p:spPr>
          <a:xfrm>
            <a:off x="7278624" y="2377440"/>
            <a:ext cx="1298448" cy="8229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Surviving nights are averaged into a monthly or annual grid, tiled globally.</a:t>
            </a:r>
            <a:endParaRPr lang="en-US" sz="950" dirty="0"/>
          </a:p>
        </p:txBody>
      </p:sp>
      <p:sp>
        <p:nvSpPr>
          <p:cNvPr id="56" name="Shape 48"/>
          <p:cNvSpPr/>
          <p:nvPr/>
        </p:nvSpPr>
        <p:spPr>
          <a:xfrm>
            <a:off x="457200" y="3401568"/>
            <a:ext cx="4937760" cy="1143000"/>
          </a:xfrm>
          <a:prstGeom prst="roundRect">
            <a:avLst>
              <a:gd name="adj" fmla="val 6400"/>
            </a:avLst>
          </a:prstGeom>
          <a:solidFill>
            <a:srgbClr val="E8F5EF"/>
          </a:solidFill>
          <a:ln w="15875">
            <a:solidFill>
              <a:srgbClr val="0E7C86"/>
            </a:solidFill>
            <a:prstDash val="solid"/>
          </a:ln>
        </p:spPr>
      </p:sp>
      <p:sp>
        <p:nvSpPr>
          <p:cNvPr id="57" name="Shape 49"/>
          <p:cNvSpPr/>
          <p:nvPr/>
        </p:nvSpPr>
        <p:spPr>
          <a:xfrm>
            <a:off x="566928" y="3511296"/>
            <a:ext cx="384048" cy="384048"/>
          </a:xfrm>
          <a:prstGeom prst="ellipse">
            <a:avLst/>
          </a:prstGeom>
          <a:solidFill>
            <a:srgbClr val="0E7C86">
              <a:alpha val="22000"/>
            </a:srgbClr>
          </a:solidFill>
          <a:ln w="12700">
            <a:solidFill>
              <a:srgbClr val="0E7C86">
                <a:alpha val="0"/>
              </a:srgbClr>
            </a:solidFill>
            <a:prstDash val="solid"/>
          </a:ln>
        </p:spPr>
      </p:sp>
      <p:pic>
        <p:nvPicPr>
          <p:cNvPr id="58" name="Image 5" descr="preencoded.png"/>
          <p:cNvPicPr>
            <a:picLocks noChangeAspect="1"/>
          </p:cNvPicPr>
          <p:nvPr/>
        </p:nvPicPr>
        <p:blipFill>
          <a:blip r:embed="rId8"/>
          <a:stretch>
            <a:fillRect/>
          </a:stretch>
        </p:blipFill>
        <p:spPr>
          <a:xfrm>
            <a:off x="666780" y="3611148"/>
            <a:ext cx="184343" cy="184343"/>
          </a:xfrm>
          <a:prstGeom prst="rect">
            <a:avLst/>
          </a:prstGeom>
        </p:spPr>
      </p:pic>
      <p:sp>
        <p:nvSpPr>
          <p:cNvPr id="59" name="Text 50"/>
          <p:cNvSpPr txBox="1"/>
          <p:nvPr/>
        </p:nvSpPr>
        <p:spPr>
          <a:xfrm>
            <a:off x="1051560" y="3511296"/>
            <a:ext cx="420624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You will see these steps as layers in the Collect lab</a:t>
            </a:r>
            <a:endParaRPr lang="en-US" sz="1200" dirty="0"/>
          </a:p>
        </p:txBody>
      </p:sp>
      <p:sp>
        <p:nvSpPr>
          <p:cNvPr id="60" name="Text 51"/>
          <p:cNvSpPr txBox="1"/>
          <p:nvPr/>
        </p:nvSpPr>
        <p:spPr>
          <a:xfrm>
            <a:off x="1051560" y="3767328"/>
            <a:ext cx="4251960" cy="73152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Black Marble VNP46A2 carries the corrected radiance plus its evidence: cloud-mask flag, lunar irradiance, snow flag and a Mandatory_Quality_Flag (0 = high quality; 1–5 = poor, incl. aurora and glint).</a:t>
            </a:r>
            <a:endParaRPr lang="en-US" sz="1000" dirty="0"/>
          </a:p>
        </p:txBody>
      </p:sp>
      <p:sp>
        <p:nvSpPr>
          <p:cNvPr id="61" name="Shape 52"/>
          <p:cNvSpPr/>
          <p:nvPr/>
        </p:nvSpPr>
        <p:spPr>
          <a:xfrm>
            <a:off x="5577840" y="3401568"/>
            <a:ext cx="3108960" cy="1143000"/>
          </a:xfrm>
          <a:prstGeom prst="roundRect">
            <a:avLst>
              <a:gd name="adj" fmla="val 6400"/>
            </a:avLst>
          </a:prstGeom>
          <a:solidFill>
            <a:srgbClr val="D49A00">
              <a:alpha val="13000"/>
            </a:srgbClr>
          </a:solidFill>
          <a:ln w="12700">
            <a:solidFill>
              <a:srgbClr val="D49A00"/>
            </a:solidFill>
            <a:prstDash val="solid"/>
          </a:ln>
        </p:spPr>
      </p:sp>
      <p:sp>
        <p:nvSpPr>
          <p:cNvPr id="62" name="Shape 53"/>
          <p:cNvSpPr/>
          <p:nvPr/>
        </p:nvSpPr>
        <p:spPr>
          <a:xfrm>
            <a:off x="5687568" y="3511296"/>
            <a:ext cx="365760" cy="365760"/>
          </a:xfrm>
          <a:prstGeom prst="ellipse">
            <a:avLst/>
          </a:prstGeom>
          <a:solidFill>
            <a:srgbClr val="D49A00">
              <a:alpha val="22000"/>
            </a:srgbClr>
          </a:solidFill>
          <a:ln w="12700">
            <a:solidFill>
              <a:srgbClr val="D49A00">
                <a:alpha val="0"/>
              </a:srgbClr>
            </a:solidFill>
            <a:prstDash val="solid"/>
          </a:ln>
        </p:spPr>
      </p:sp>
      <p:pic>
        <p:nvPicPr>
          <p:cNvPr id="63" name="Image 6" descr="preencoded.png"/>
          <p:cNvPicPr>
            <a:picLocks noChangeAspect="1"/>
          </p:cNvPicPr>
          <p:nvPr/>
        </p:nvPicPr>
        <p:blipFill>
          <a:blip r:embed="rId9"/>
          <a:stretch>
            <a:fillRect/>
          </a:stretch>
        </p:blipFill>
        <p:spPr>
          <a:xfrm>
            <a:off x="5782666" y="3606394"/>
            <a:ext cx="175565" cy="175565"/>
          </a:xfrm>
          <a:prstGeom prst="rect">
            <a:avLst/>
          </a:prstGeom>
        </p:spPr>
      </p:pic>
      <p:sp>
        <p:nvSpPr>
          <p:cNvPr id="64" name="Text 54"/>
          <p:cNvSpPr txBox="1"/>
          <p:nvPr/>
        </p:nvSpPr>
        <p:spPr>
          <a:xfrm>
            <a:off x="6144768" y="3511296"/>
            <a:ext cx="246888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A product, not a snapshot</a:t>
            </a:r>
            <a:endParaRPr lang="en-US" sz="1200" dirty="0"/>
          </a:p>
        </p:txBody>
      </p:sp>
      <p:sp>
        <p:nvSpPr>
          <p:cNvPr id="65" name="Text 55"/>
          <p:cNvSpPr txBox="1"/>
          <p:nvPr/>
        </p:nvSpPr>
        <p:spPr>
          <a:xfrm>
            <a:off x="6144768" y="3767328"/>
            <a:ext cx="2468880" cy="73152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Two products for the same month can legitimately differ. Always record product and version.</a:t>
            </a:r>
            <a:endParaRPr lang="en-US" sz="1000" dirty="0"/>
          </a:p>
        </p:txBody>
      </p:sp>
      <p:sp>
        <p:nvSpPr>
          <p:cNvPr id="66" name="Text 56"/>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Román et al. (2018); NASA LAADS DAAC VNP46A2 v2 product page.</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FROM PHOTONS TO DATA · PRODUCTS · FOR THE COLLECT LAB</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NASA Black Marble product family</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Text 14"/>
          <p:cNvSpPr txBox="1"/>
          <p:nvPr/>
        </p:nvSpPr>
        <p:spPr>
          <a:xfrm>
            <a:off x="457200" y="2103120"/>
            <a:ext cx="1097280" cy="45720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Content</a:t>
            </a:r>
            <a:endParaRPr lang="en-US" sz="1050" dirty="0"/>
          </a:p>
        </p:txBody>
      </p:sp>
      <p:sp>
        <p:nvSpPr>
          <p:cNvPr id="18" name="Text 15"/>
          <p:cNvSpPr txBox="1"/>
          <p:nvPr/>
        </p:nvSpPr>
        <p:spPr>
          <a:xfrm>
            <a:off x="457200" y="2633472"/>
            <a:ext cx="1097280" cy="45720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Corrections</a:t>
            </a:r>
            <a:endParaRPr lang="en-US" sz="1050" dirty="0"/>
          </a:p>
        </p:txBody>
      </p:sp>
      <p:sp>
        <p:nvSpPr>
          <p:cNvPr id="19" name="Text 16"/>
          <p:cNvSpPr txBox="1"/>
          <p:nvPr/>
        </p:nvSpPr>
        <p:spPr>
          <a:xfrm>
            <a:off x="457200" y="3163824"/>
            <a:ext cx="1097280" cy="45720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Typical use</a:t>
            </a:r>
            <a:endParaRPr lang="en-US" sz="1050" dirty="0"/>
          </a:p>
        </p:txBody>
      </p:sp>
      <p:sp>
        <p:nvSpPr>
          <p:cNvPr id="20" name="Shape 17"/>
          <p:cNvSpPr/>
          <p:nvPr/>
        </p:nvSpPr>
        <p:spPr>
          <a:xfrm>
            <a:off x="1600200" y="1325880"/>
            <a:ext cx="1645920" cy="685800"/>
          </a:xfrm>
          <a:prstGeom prst="roundRect">
            <a:avLst>
              <a:gd name="adj" fmla="val 10667"/>
            </a:avLst>
          </a:prstGeom>
          <a:solidFill>
            <a:srgbClr val="5E6964"/>
          </a:solidFill>
          <a:ln w="9525">
            <a:solidFill>
              <a:srgbClr val="5E6964"/>
            </a:solidFill>
            <a:prstDash val="solid"/>
          </a:ln>
        </p:spPr>
      </p:sp>
      <p:sp>
        <p:nvSpPr>
          <p:cNvPr id="21" name="Text 18"/>
          <p:cNvSpPr txBox="1"/>
          <p:nvPr/>
        </p:nvSpPr>
        <p:spPr>
          <a:xfrm>
            <a:off x="160020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VNP46A1</a:t>
            </a:r>
            <a:endParaRPr lang="en-US" sz="1600" dirty="0"/>
          </a:p>
        </p:txBody>
      </p:sp>
      <p:sp>
        <p:nvSpPr>
          <p:cNvPr id="22" name="Text 19"/>
          <p:cNvSpPr txBox="1"/>
          <p:nvPr/>
        </p:nvSpPr>
        <p:spPr>
          <a:xfrm>
            <a:off x="160020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DAILY</a:t>
            </a:r>
            <a:endParaRPr lang="en-US" sz="900" dirty="0"/>
          </a:p>
        </p:txBody>
      </p:sp>
      <p:sp>
        <p:nvSpPr>
          <p:cNvPr id="23" name="Shape 20"/>
          <p:cNvSpPr/>
          <p:nvPr/>
        </p:nvSpPr>
        <p:spPr>
          <a:xfrm>
            <a:off x="1600200" y="2103120"/>
            <a:ext cx="1645920" cy="457200"/>
          </a:xfrm>
          <a:prstGeom prst="roundRect">
            <a:avLst>
              <a:gd name="adj" fmla="val 10000"/>
            </a:avLst>
          </a:prstGeom>
          <a:solidFill>
            <a:srgbClr val="F4F7F5"/>
          </a:solidFill>
          <a:ln w="9525">
            <a:solidFill>
              <a:srgbClr val="D5DED9"/>
            </a:solidFill>
            <a:prstDash val="solid"/>
          </a:ln>
        </p:spPr>
      </p:sp>
      <p:sp>
        <p:nvSpPr>
          <p:cNvPr id="24" name="Text 21"/>
          <p:cNvSpPr txBox="1"/>
          <p:nvPr/>
        </p:nvSpPr>
        <p:spPr>
          <a:xfrm>
            <a:off x="1673352" y="2103120"/>
            <a:ext cx="1499616" cy="457200"/>
          </a:xfrm>
          <a:prstGeom prst="rect">
            <a:avLst/>
          </a:prstGeom>
          <a:noFill/>
          <a:ln/>
        </p:spPr>
        <p:txBody>
          <a:bodyPr wrap="square" lIns="0" tIns="0" rIns="0" bIns="0" rtlCol="0" anchor="ctr"/>
          <a:lstStyle/>
          <a:p>
            <a:pPr marL="0" indent="0" algn="ctr">
              <a:buNone/>
            </a:pPr>
            <a:r>
              <a:rPr lang="en-US" sz="900" dirty="0">
                <a:solidFill>
                  <a:srgbClr val="231F20"/>
                </a:solidFill>
                <a:latin typeface="Calibri" pitchFamily="34" charset="0"/>
                <a:ea typeface="Calibri" pitchFamily="34" charset="-122"/>
                <a:cs typeface="Calibri" pitchFamily="34" charset="-120"/>
              </a:rPr>
              <a:t>At-sensor radiance (top of atmosphere)</a:t>
            </a:r>
            <a:endParaRPr lang="en-US" sz="900" dirty="0"/>
          </a:p>
        </p:txBody>
      </p:sp>
      <p:sp>
        <p:nvSpPr>
          <p:cNvPr id="25" name="Shape 22"/>
          <p:cNvSpPr/>
          <p:nvPr/>
        </p:nvSpPr>
        <p:spPr>
          <a:xfrm>
            <a:off x="1600200" y="2633472"/>
            <a:ext cx="1645920" cy="457200"/>
          </a:xfrm>
          <a:prstGeom prst="roundRect">
            <a:avLst>
              <a:gd name="adj" fmla="val 10000"/>
            </a:avLst>
          </a:prstGeom>
          <a:solidFill>
            <a:srgbClr val="F4F7F5"/>
          </a:solidFill>
          <a:ln w="9525">
            <a:solidFill>
              <a:srgbClr val="D5DED9"/>
            </a:solidFill>
            <a:prstDash val="solid"/>
          </a:ln>
        </p:spPr>
      </p:sp>
      <p:sp>
        <p:nvSpPr>
          <p:cNvPr id="26" name="Text 23"/>
          <p:cNvSpPr txBox="1"/>
          <p:nvPr/>
        </p:nvSpPr>
        <p:spPr>
          <a:xfrm>
            <a:off x="1673352" y="2633472"/>
            <a:ext cx="1499616" cy="457200"/>
          </a:xfrm>
          <a:prstGeom prst="rect">
            <a:avLst/>
          </a:prstGeom>
          <a:noFill/>
          <a:ln/>
        </p:spPr>
        <p:txBody>
          <a:bodyPr wrap="square" lIns="0" tIns="0" rIns="0" bIns="0" rtlCol="0" anchor="ctr"/>
          <a:lstStyle/>
          <a:p>
            <a:pPr marL="0" indent="0" algn="ctr">
              <a:buNone/>
            </a:pPr>
            <a:r>
              <a:rPr lang="en-US" sz="900" dirty="0">
                <a:solidFill>
                  <a:srgbClr val="231F20"/>
                </a:solidFill>
                <a:latin typeface="Calibri" pitchFamily="34" charset="0"/>
                <a:ea typeface="Calibri" pitchFamily="34" charset="-122"/>
                <a:cs typeface="Calibri" pitchFamily="34" charset="-120"/>
              </a:rPr>
              <a:t>Uncorrected — inputs &amp; geometry only</a:t>
            </a:r>
            <a:endParaRPr lang="en-US" sz="900" dirty="0"/>
          </a:p>
        </p:txBody>
      </p:sp>
      <p:sp>
        <p:nvSpPr>
          <p:cNvPr id="27" name="Shape 24"/>
          <p:cNvSpPr/>
          <p:nvPr/>
        </p:nvSpPr>
        <p:spPr>
          <a:xfrm>
            <a:off x="1600200" y="3163824"/>
            <a:ext cx="1645920" cy="457200"/>
          </a:xfrm>
          <a:prstGeom prst="roundRect">
            <a:avLst>
              <a:gd name="adj" fmla="val 10000"/>
            </a:avLst>
          </a:prstGeom>
          <a:solidFill>
            <a:srgbClr val="F4F7F5"/>
          </a:solidFill>
          <a:ln w="9525">
            <a:solidFill>
              <a:srgbClr val="D5DED9"/>
            </a:solidFill>
            <a:prstDash val="solid"/>
          </a:ln>
        </p:spPr>
      </p:sp>
      <p:sp>
        <p:nvSpPr>
          <p:cNvPr id="28" name="Text 25"/>
          <p:cNvSpPr txBox="1"/>
          <p:nvPr/>
        </p:nvSpPr>
        <p:spPr>
          <a:xfrm>
            <a:off x="1673352" y="3163824"/>
            <a:ext cx="1499616" cy="457200"/>
          </a:xfrm>
          <a:prstGeom prst="rect">
            <a:avLst/>
          </a:prstGeom>
          <a:noFill/>
          <a:ln/>
        </p:spPr>
        <p:txBody>
          <a:bodyPr wrap="square" lIns="0" tIns="0" rIns="0" bIns="0" rtlCol="0" anchor="ctr"/>
          <a:lstStyle/>
          <a:p>
            <a:pPr marL="0" indent="0" algn="ctr">
              <a:buNone/>
            </a:pPr>
            <a:r>
              <a:rPr lang="en-US" sz="900" dirty="0">
                <a:solidFill>
                  <a:srgbClr val="231F20"/>
                </a:solidFill>
                <a:latin typeface="Calibri" pitchFamily="34" charset="0"/>
                <a:ea typeface="Calibri" pitchFamily="34" charset="-122"/>
                <a:cs typeface="Calibri" pitchFamily="34" charset="-120"/>
              </a:rPr>
              <a:t>Advanced users</a:t>
            </a:r>
            <a:endParaRPr lang="en-US" sz="900" dirty="0"/>
          </a:p>
        </p:txBody>
      </p:sp>
      <p:sp>
        <p:nvSpPr>
          <p:cNvPr id="29" name="Shape 26"/>
          <p:cNvSpPr/>
          <p:nvPr/>
        </p:nvSpPr>
        <p:spPr>
          <a:xfrm>
            <a:off x="3383280" y="1325880"/>
            <a:ext cx="1645920" cy="685800"/>
          </a:xfrm>
          <a:prstGeom prst="roundRect">
            <a:avLst>
              <a:gd name="adj" fmla="val 10667"/>
            </a:avLst>
          </a:prstGeom>
          <a:solidFill>
            <a:srgbClr val="00A86A"/>
          </a:solidFill>
          <a:ln w="9525">
            <a:solidFill>
              <a:srgbClr val="00A86A"/>
            </a:solidFill>
            <a:prstDash val="solid"/>
          </a:ln>
        </p:spPr>
      </p:sp>
      <p:sp>
        <p:nvSpPr>
          <p:cNvPr id="30" name="Text 27"/>
          <p:cNvSpPr txBox="1"/>
          <p:nvPr/>
        </p:nvSpPr>
        <p:spPr>
          <a:xfrm>
            <a:off x="338328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VNP46A2</a:t>
            </a:r>
            <a:endParaRPr lang="en-US" sz="1600" dirty="0"/>
          </a:p>
        </p:txBody>
      </p:sp>
      <p:sp>
        <p:nvSpPr>
          <p:cNvPr id="31" name="Text 28"/>
          <p:cNvSpPr txBox="1"/>
          <p:nvPr/>
        </p:nvSpPr>
        <p:spPr>
          <a:xfrm>
            <a:off x="338328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DAILY</a:t>
            </a:r>
            <a:endParaRPr lang="en-US" sz="900" dirty="0"/>
          </a:p>
        </p:txBody>
      </p:sp>
      <p:sp>
        <p:nvSpPr>
          <p:cNvPr id="32" name="Shape 29"/>
          <p:cNvSpPr/>
          <p:nvPr/>
        </p:nvSpPr>
        <p:spPr>
          <a:xfrm>
            <a:off x="3383280" y="2103120"/>
            <a:ext cx="1645920" cy="457200"/>
          </a:xfrm>
          <a:prstGeom prst="roundRect">
            <a:avLst>
              <a:gd name="adj" fmla="val 10000"/>
            </a:avLst>
          </a:prstGeom>
          <a:solidFill>
            <a:srgbClr val="E8F5EF"/>
          </a:solidFill>
          <a:ln w="15875">
            <a:solidFill>
              <a:srgbClr val="00A86A"/>
            </a:solidFill>
            <a:prstDash val="solid"/>
          </a:ln>
        </p:spPr>
      </p:sp>
      <p:sp>
        <p:nvSpPr>
          <p:cNvPr id="33" name="Text 30"/>
          <p:cNvSpPr txBox="1"/>
          <p:nvPr/>
        </p:nvSpPr>
        <p:spPr>
          <a:xfrm>
            <a:off x="3456432" y="2103120"/>
            <a:ext cx="1499616" cy="457200"/>
          </a:xfrm>
          <a:prstGeom prst="rect">
            <a:avLst/>
          </a:prstGeom>
          <a:noFill/>
          <a:ln/>
        </p:spPr>
        <p:txBody>
          <a:bodyPr wrap="square" lIns="0" tIns="0" rIns="0" bIns="0" rtlCol="0" anchor="ctr"/>
          <a:lstStyle/>
          <a:p>
            <a:pPr marL="0" indent="0" algn="ctr">
              <a:buNone/>
            </a:pPr>
            <a:r>
              <a:rPr lang="en-US" sz="900" dirty="0">
                <a:solidFill>
                  <a:srgbClr val="231F20"/>
                </a:solidFill>
                <a:latin typeface="Calibri" pitchFamily="34" charset="0"/>
                <a:ea typeface="Calibri" pitchFamily="34" charset="-122"/>
                <a:cs typeface="Calibri" pitchFamily="34" charset="-120"/>
              </a:rPr>
              <a:t>Moonlight-adjusted, gap-filled NTL</a:t>
            </a:r>
            <a:endParaRPr lang="en-US" sz="900" dirty="0"/>
          </a:p>
        </p:txBody>
      </p:sp>
      <p:sp>
        <p:nvSpPr>
          <p:cNvPr id="34" name="Shape 31"/>
          <p:cNvSpPr/>
          <p:nvPr/>
        </p:nvSpPr>
        <p:spPr>
          <a:xfrm>
            <a:off x="3383280" y="2633472"/>
            <a:ext cx="1645920" cy="457200"/>
          </a:xfrm>
          <a:prstGeom prst="roundRect">
            <a:avLst>
              <a:gd name="adj" fmla="val 10000"/>
            </a:avLst>
          </a:prstGeom>
          <a:solidFill>
            <a:srgbClr val="E8F5EF"/>
          </a:solidFill>
          <a:ln w="15875">
            <a:solidFill>
              <a:srgbClr val="00A86A"/>
            </a:solidFill>
            <a:prstDash val="solid"/>
          </a:ln>
        </p:spPr>
      </p:sp>
      <p:sp>
        <p:nvSpPr>
          <p:cNvPr id="35" name="Text 32"/>
          <p:cNvSpPr txBox="1"/>
          <p:nvPr/>
        </p:nvSpPr>
        <p:spPr>
          <a:xfrm>
            <a:off x="3456432" y="2633472"/>
            <a:ext cx="1499616" cy="457200"/>
          </a:xfrm>
          <a:prstGeom prst="rect">
            <a:avLst/>
          </a:prstGeom>
          <a:noFill/>
          <a:ln/>
        </p:spPr>
        <p:txBody>
          <a:bodyPr wrap="square" lIns="0" tIns="0" rIns="0" bIns="0" rtlCol="0" anchor="ctr"/>
          <a:lstStyle/>
          <a:p>
            <a:pPr marL="0" indent="0" algn="ctr">
              <a:buNone/>
            </a:pPr>
            <a:r>
              <a:rPr lang="en-US" sz="900" dirty="0">
                <a:solidFill>
                  <a:srgbClr val="231F20"/>
                </a:solidFill>
                <a:latin typeface="Calibri" pitchFamily="34" charset="0"/>
                <a:ea typeface="Calibri" pitchFamily="34" charset="-122"/>
                <a:cs typeface="Calibri" pitchFamily="34" charset="-120"/>
              </a:rPr>
              <a:t>Cloud, lunar, atmosphere, terrain, stray light</a:t>
            </a:r>
            <a:endParaRPr lang="en-US" sz="900" dirty="0"/>
          </a:p>
        </p:txBody>
      </p:sp>
      <p:sp>
        <p:nvSpPr>
          <p:cNvPr id="36" name="Shape 33"/>
          <p:cNvSpPr/>
          <p:nvPr/>
        </p:nvSpPr>
        <p:spPr>
          <a:xfrm>
            <a:off x="3383280" y="3163824"/>
            <a:ext cx="1645920" cy="457200"/>
          </a:xfrm>
          <a:prstGeom prst="roundRect">
            <a:avLst>
              <a:gd name="adj" fmla="val 10000"/>
            </a:avLst>
          </a:prstGeom>
          <a:solidFill>
            <a:srgbClr val="E8F5EF"/>
          </a:solidFill>
          <a:ln w="15875">
            <a:solidFill>
              <a:srgbClr val="00A86A"/>
            </a:solidFill>
            <a:prstDash val="solid"/>
          </a:ln>
        </p:spPr>
      </p:sp>
      <p:sp>
        <p:nvSpPr>
          <p:cNvPr id="37" name="Text 34"/>
          <p:cNvSpPr txBox="1"/>
          <p:nvPr/>
        </p:nvSpPr>
        <p:spPr>
          <a:xfrm>
            <a:off x="3456432" y="3163824"/>
            <a:ext cx="1499616" cy="457200"/>
          </a:xfrm>
          <a:prstGeom prst="rect">
            <a:avLst/>
          </a:prstGeom>
          <a:noFill/>
          <a:ln/>
        </p:spPr>
        <p:txBody>
          <a:bodyPr wrap="square" lIns="0" tIns="0" rIns="0" bIns="0" rtlCol="0" anchor="ctr"/>
          <a:lstStyle/>
          <a:p>
            <a:pPr marL="0" indent="0" algn="ctr">
              <a:buNone/>
            </a:pPr>
            <a:r>
              <a:rPr lang="en-US" sz="900" dirty="0">
                <a:solidFill>
                  <a:srgbClr val="231F20"/>
                </a:solidFill>
                <a:latin typeface="Calibri" pitchFamily="34" charset="0"/>
                <a:ea typeface="Calibri" pitchFamily="34" charset="-122"/>
                <a:cs typeface="Calibri" pitchFamily="34" charset="-120"/>
              </a:rPr>
              <a:t>Blackouts, reliability, events</a:t>
            </a:r>
            <a:endParaRPr lang="en-US" sz="900" dirty="0"/>
          </a:p>
        </p:txBody>
      </p:sp>
      <p:sp>
        <p:nvSpPr>
          <p:cNvPr id="38" name="Shape 35"/>
          <p:cNvSpPr/>
          <p:nvPr/>
        </p:nvSpPr>
        <p:spPr>
          <a:xfrm>
            <a:off x="5166360" y="1325880"/>
            <a:ext cx="1645920" cy="685800"/>
          </a:xfrm>
          <a:prstGeom prst="roundRect">
            <a:avLst>
              <a:gd name="adj" fmla="val 10667"/>
            </a:avLst>
          </a:prstGeom>
          <a:solidFill>
            <a:srgbClr val="00704A"/>
          </a:solidFill>
          <a:ln w="9525">
            <a:solidFill>
              <a:srgbClr val="00704A"/>
            </a:solidFill>
            <a:prstDash val="solid"/>
          </a:ln>
        </p:spPr>
      </p:sp>
      <p:sp>
        <p:nvSpPr>
          <p:cNvPr id="39" name="Text 36"/>
          <p:cNvSpPr txBox="1"/>
          <p:nvPr/>
        </p:nvSpPr>
        <p:spPr>
          <a:xfrm>
            <a:off x="516636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VNP46A3</a:t>
            </a:r>
            <a:endParaRPr lang="en-US" sz="1600" dirty="0"/>
          </a:p>
        </p:txBody>
      </p:sp>
      <p:sp>
        <p:nvSpPr>
          <p:cNvPr id="40" name="Text 37"/>
          <p:cNvSpPr txBox="1"/>
          <p:nvPr/>
        </p:nvSpPr>
        <p:spPr>
          <a:xfrm>
            <a:off x="516636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MONTHLY</a:t>
            </a:r>
            <a:endParaRPr lang="en-US" sz="900" dirty="0"/>
          </a:p>
        </p:txBody>
      </p:sp>
      <p:sp>
        <p:nvSpPr>
          <p:cNvPr id="41" name="Shape 38"/>
          <p:cNvSpPr/>
          <p:nvPr/>
        </p:nvSpPr>
        <p:spPr>
          <a:xfrm>
            <a:off x="5166360" y="2103120"/>
            <a:ext cx="1645920" cy="457200"/>
          </a:xfrm>
          <a:prstGeom prst="roundRect">
            <a:avLst>
              <a:gd name="adj" fmla="val 10000"/>
            </a:avLst>
          </a:prstGeom>
          <a:solidFill>
            <a:srgbClr val="F4F7F5"/>
          </a:solidFill>
          <a:ln w="9525">
            <a:solidFill>
              <a:srgbClr val="D5DED9"/>
            </a:solidFill>
            <a:prstDash val="solid"/>
          </a:ln>
        </p:spPr>
      </p:sp>
      <p:sp>
        <p:nvSpPr>
          <p:cNvPr id="42" name="Text 39"/>
          <p:cNvSpPr txBox="1"/>
          <p:nvPr/>
        </p:nvSpPr>
        <p:spPr>
          <a:xfrm>
            <a:off x="5239512" y="2103120"/>
            <a:ext cx="1499616" cy="457200"/>
          </a:xfrm>
          <a:prstGeom prst="rect">
            <a:avLst/>
          </a:prstGeom>
          <a:noFill/>
          <a:ln/>
        </p:spPr>
        <p:txBody>
          <a:bodyPr wrap="square" lIns="0" tIns="0" rIns="0" bIns="0" rtlCol="0" anchor="ctr"/>
          <a:lstStyle/>
          <a:p>
            <a:pPr marL="0" indent="0" algn="ctr">
              <a:buNone/>
            </a:pPr>
            <a:r>
              <a:rPr lang="en-US" sz="900" dirty="0">
                <a:solidFill>
                  <a:srgbClr val="231F20"/>
                </a:solidFill>
                <a:latin typeface="Calibri" pitchFamily="34" charset="0"/>
                <a:ea typeface="Calibri" pitchFamily="34" charset="-122"/>
                <a:cs typeface="Calibri" pitchFamily="34" charset="-120"/>
              </a:rPr>
              <a:t>Composite of corrected daily NTL</a:t>
            </a:r>
            <a:endParaRPr lang="en-US" sz="900" dirty="0"/>
          </a:p>
        </p:txBody>
      </p:sp>
      <p:sp>
        <p:nvSpPr>
          <p:cNvPr id="43" name="Shape 40"/>
          <p:cNvSpPr/>
          <p:nvPr/>
        </p:nvSpPr>
        <p:spPr>
          <a:xfrm>
            <a:off x="5166360" y="2633472"/>
            <a:ext cx="1645920" cy="457200"/>
          </a:xfrm>
          <a:prstGeom prst="roundRect">
            <a:avLst>
              <a:gd name="adj" fmla="val 10000"/>
            </a:avLst>
          </a:prstGeom>
          <a:solidFill>
            <a:srgbClr val="F4F7F5"/>
          </a:solidFill>
          <a:ln w="9525">
            <a:solidFill>
              <a:srgbClr val="D5DED9"/>
            </a:solidFill>
            <a:prstDash val="solid"/>
          </a:ln>
        </p:spPr>
      </p:sp>
      <p:sp>
        <p:nvSpPr>
          <p:cNvPr id="44" name="Text 41"/>
          <p:cNvSpPr txBox="1"/>
          <p:nvPr/>
        </p:nvSpPr>
        <p:spPr>
          <a:xfrm>
            <a:off x="5239512" y="2633472"/>
            <a:ext cx="1499616" cy="457200"/>
          </a:xfrm>
          <a:prstGeom prst="rect">
            <a:avLst/>
          </a:prstGeom>
          <a:noFill/>
          <a:ln/>
        </p:spPr>
        <p:txBody>
          <a:bodyPr wrap="square" lIns="0" tIns="0" rIns="0" bIns="0" rtlCol="0" anchor="ctr"/>
          <a:lstStyle/>
          <a:p>
            <a:pPr marL="0" indent="0" algn="ctr">
              <a:buNone/>
            </a:pPr>
            <a:r>
              <a:rPr lang="en-US" sz="900" dirty="0">
                <a:solidFill>
                  <a:srgbClr val="231F20"/>
                </a:solidFill>
                <a:latin typeface="Calibri" pitchFamily="34" charset="0"/>
                <a:ea typeface="Calibri" pitchFamily="34" charset="-122"/>
                <a:cs typeface="Calibri" pitchFamily="34" charset="-120"/>
              </a:rPr>
              <a:t>As A2, plus number of observations &amp; quality</a:t>
            </a:r>
            <a:endParaRPr lang="en-US" sz="900" dirty="0"/>
          </a:p>
        </p:txBody>
      </p:sp>
      <p:sp>
        <p:nvSpPr>
          <p:cNvPr id="45" name="Shape 42"/>
          <p:cNvSpPr/>
          <p:nvPr/>
        </p:nvSpPr>
        <p:spPr>
          <a:xfrm>
            <a:off x="5166360" y="3163824"/>
            <a:ext cx="1645920" cy="457200"/>
          </a:xfrm>
          <a:prstGeom prst="roundRect">
            <a:avLst>
              <a:gd name="adj" fmla="val 10000"/>
            </a:avLst>
          </a:prstGeom>
          <a:solidFill>
            <a:srgbClr val="F4F7F5"/>
          </a:solidFill>
          <a:ln w="9525">
            <a:solidFill>
              <a:srgbClr val="D5DED9"/>
            </a:solidFill>
            <a:prstDash val="solid"/>
          </a:ln>
        </p:spPr>
      </p:sp>
      <p:sp>
        <p:nvSpPr>
          <p:cNvPr id="46" name="Text 43"/>
          <p:cNvSpPr txBox="1"/>
          <p:nvPr/>
        </p:nvSpPr>
        <p:spPr>
          <a:xfrm>
            <a:off x="5239512" y="3163824"/>
            <a:ext cx="1499616" cy="457200"/>
          </a:xfrm>
          <a:prstGeom prst="rect">
            <a:avLst/>
          </a:prstGeom>
          <a:noFill/>
          <a:ln/>
        </p:spPr>
        <p:txBody>
          <a:bodyPr wrap="square" lIns="0" tIns="0" rIns="0" bIns="0" rtlCol="0" anchor="ctr"/>
          <a:lstStyle/>
          <a:p>
            <a:pPr marL="0" indent="0" algn="ctr">
              <a:buNone/>
            </a:pPr>
            <a:r>
              <a:rPr lang="en-US" sz="900" dirty="0">
                <a:solidFill>
                  <a:srgbClr val="231F20"/>
                </a:solidFill>
                <a:latin typeface="Calibri" pitchFamily="34" charset="0"/>
                <a:ea typeface="Calibri" pitchFamily="34" charset="-122"/>
                <a:cs typeface="Calibri" pitchFamily="34" charset="-120"/>
              </a:rPr>
              <a:t>Programme evaluation, seasonality</a:t>
            </a:r>
            <a:endParaRPr lang="en-US" sz="900" dirty="0"/>
          </a:p>
        </p:txBody>
      </p:sp>
      <p:sp>
        <p:nvSpPr>
          <p:cNvPr id="47" name="Shape 44"/>
          <p:cNvSpPr/>
          <p:nvPr/>
        </p:nvSpPr>
        <p:spPr>
          <a:xfrm>
            <a:off x="6949440" y="1325880"/>
            <a:ext cx="1645920" cy="685800"/>
          </a:xfrm>
          <a:prstGeom prst="roundRect">
            <a:avLst>
              <a:gd name="adj" fmla="val 10667"/>
            </a:avLst>
          </a:prstGeom>
          <a:solidFill>
            <a:srgbClr val="00553A"/>
          </a:solidFill>
          <a:ln w="9525">
            <a:solidFill>
              <a:srgbClr val="00553A"/>
            </a:solidFill>
            <a:prstDash val="solid"/>
          </a:ln>
        </p:spPr>
      </p:sp>
      <p:sp>
        <p:nvSpPr>
          <p:cNvPr id="48" name="Text 45"/>
          <p:cNvSpPr txBox="1"/>
          <p:nvPr/>
        </p:nvSpPr>
        <p:spPr>
          <a:xfrm>
            <a:off x="694944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VNP46A4</a:t>
            </a:r>
            <a:endParaRPr lang="en-US" sz="1600" dirty="0"/>
          </a:p>
        </p:txBody>
      </p:sp>
      <p:sp>
        <p:nvSpPr>
          <p:cNvPr id="49" name="Text 46"/>
          <p:cNvSpPr txBox="1"/>
          <p:nvPr/>
        </p:nvSpPr>
        <p:spPr>
          <a:xfrm>
            <a:off x="694944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ANNUAL</a:t>
            </a:r>
            <a:endParaRPr lang="en-US" sz="900" dirty="0"/>
          </a:p>
        </p:txBody>
      </p:sp>
      <p:sp>
        <p:nvSpPr>
          <p:cNvPr id="50" name="Shape 47"/>
          <p:cNvSpPr/>
          <p:nvPr/>
        </p:nvSpPr>
        <p:spPr>
          <a:xfrm>
            <a:off x="6949440" y="2103120"/>
            <a:ext cx="1645920" cy="457200"/>
          </a:xfrm>
          <a:prstGeom prst="roundRect">
            <a:avLst>
              <a:gd name="adj" fmla="val 10000"/>
            </a:avLst>
          </a:prstGeom>
          <a:solidFill>
            <a:srgbClr val="F4F7F5"/>
          </a:solidFill>
          <a:ln w="9525">
            <a:solidFill>
              <a:srgbClr val="D5DED9"/>
            </a:solidFill>
            <a:prstDash val="solid"/>
          </a:ln>
        </p:spPr>
      </p:sp>
      <p:sp>
        <p:nvSpPr>
          <p:cNvPr id="51" name="Text 48"/>
          <p:cNvSpPr txBox="1"/>
          <p:nvPr/>
        </p:nvSpPr>
        <p:spPr>
          <a:xfrm>
            <a:off x="7022592" y="2103120"/>
            <a:ext cx="1499616" cy="457200"/>
          </a:xfrm>
          <a:prstGeom prst="rect">
            <a:avLst/>
          </a:prstGeom>
          <a:noFill/>
          <a:ln/>
        </p:spPr>
        <p:txBody>
          <a:bodyPr wrap="square" lIns="0" tIns="0" rIns="0" bIns="0" rtlCol="0" anchor="ctr"/>
          <a:lstStyle/>
          <a:p>
            <a:pPr marL="0" indent="0" algn="ctr">
              <a:buNone/>
            </a:pPr>
            <a:r>
              <a:rPr lang="en-US" sz="900" dirty="0">
                <a:solidFill>
                  <a:srgbClr val="231F20"/>
                </a:solidFill>
                <a:latin typeface="Calibri" pitchFamily="34" charset="0"/>
                <a:ea typeface="Calibri" pitchFamily="34" charset="-122"/>
                <a:cs typeface="Calibri" pitchFamily="34" charset="-120"/>
              </a:rPr>
              <a:t>Composite of corrected daily NTL</a:t>
            </a:r>
            <a:endParaRPr lang="en-US" sz="900" dirty="0"/>
          </a:p>
        </p:txBody>
      </p:sp>
      <p:sp>
        <p:nvSpPr>
          <p:cNvPr id="52" name="Shape 49"/>
          <p:cNvSpPr/>
          <p:nvPr/>
        </p:nvSpPr>
        <p:spPr>
          <a:xfrm>
            <a:off x="6949440" y="2633472"/>
            <a:ext cx="1645920" cy="457200"/>
          </a:xfrm>
          <a:prstGeom prst="roundRect">
            <a:avLst>
              <a:gd name="adj" fmla="val 10000"/>
            </a:avLst>
          </a:prstGeom>
          <a:solidFill>
            <a:srgbClr val="F4F7F5"/>
          </a:solidFill>
          <a:ln w="9525">
            <a:solidFill>
              <a:srgbClr val="D5DED9"/>
            </a:solidFill>
            <a:prstDash val="solid"/>
          </a:ln>
        </p:spPr>
      </p:sp>
      <p:sp>
        <p:nvSpPr>
          <p:cNvPr id="53" name="Text 50"/>
          <p:cNvSpPr txBox="1"/>
          <p:nvPr/>
        </p:nvSpPr>
        <p:spPr>
          <a:xfrm>
            <a:off x="7022592" y="2633472"/>
            <a:ext cx="1499616" cy="457200"/>
          </a:xfrm>
          <a:prstGeom prst="rect">
            <a:avLst/>
          </a:prstGeom>
          <a:noFill/>
          <a:ln/>
        </p:spPr>
        <p:txBody>
          <a:bodyPr wrap="square" lIns="0" tIns="0" rIns="0" bIns="0" rtlCol="0" anchor="ctr"/>
          <a:lstStyle/>
          <a:p>
            <a:pPr marL="0" indent="0" algn="ctr">
              <a:buNone/>
            </a:pPr>
            <a:r>
              <a:rPr lang="en-US" sz="900" dirty="0">
                <a:solidFill>
                  <a:srgbClr val="231F20"/>
                </a:solidFill>
                <a:latin typeface="Calibri" pitchFamily="34" charset="0"/>
                <a:ea typeface="Calibri" pitchFamily="34" charset="-122"/>
                <a:cs typeface="Calibri" pitchFamily="34" charset="-120"/>
              </a:rPr>
              <a:t>As A2, plus number of observations &amp; quality</a:t>
            </a:r>
            <a:endParaRPr lang="en-US" sz="900" dirty="0"/>
          </a:p>
        </p:txBody>
      </p:sp>
      <p:sp>
        <p:nvSpPr>
          <p:cNvPr id="54" name="Shape 51"/>
          <p:cNvSpPr/>
          <p:nvPr/>
        </p:nvSpPr>
        <p:spPr>
          <a:xfrm>
            <a:off x="6949440" y="3163824"/>
            <a:ext cx="1645920" cy="457200"/>
          </a:xfrm>
          <a:prstGeom prst="roundRect">
            <a:avLst>
              <a:gd name="adj" fmla="val 10000"/>
            </a:avLst>
          </a:prstGeom>
          <a:solidFill>
            <a:srgbClr val="F4F7F5"/>
          </a:solidFill>
          <a:ln w="9525">
            <a:solidFill>
              <a:srgbClr val="D5DED9"/>
            </a:solidFill>
            <a:prstDash val="solid"/>
          </a:ln>
        </p:spPr>
      </p:sp>
      <p:sp>
        <p:nvSpPr>
          <p:cNvPr id="55" name="Text 52"/>
          <p:cNvSpPr txBox="1"/>
          <p:nvPr/>
        </p:nvSpPr>
        <p:spPr>
          <a:xfrm>
            <a:off x="7022592" y="3163824"/>
            <a:ext cx="1499616" cy="457200"/>
          </a:xfrm>
          <a:prstGeom prst="rect">
            <a:avLst/>
          </a:prstGeom>
          <a:noFill/>
          <a:ln/>
        </p:spPr>
        <p:txBody>
          <a:bodyPr wrap="square" lIns="0" tIns="0" rIns="0" bIns="0" rtlCol="0" anchor="ctr"/>
          <a:lstStyle/>
          <a:p>
            <a:pPr marL="0" indent="0" algn="ctr">
              <a:buNone/>
            </a:pPr>
            <a:r>
              <a:rPr lang="en-US" sz="900" dirty="0">
                <a:solidFill>
                  <a:srgbClr val="231F20"/>
                </a:solidFill>
                <a:latin typeface="Calibri" pitchFamily="34" charset="0"/>
                <a:ea typeface="Calibri" pitchFamily="34" charset="-122"/>
                <a:cs typeface="Calibri" pitchFamily="34" charset="-120"/>
              </a:rPr>
              <a:t>Long-run trends, subnational panels</a:t>
            </a:r>
            <a:endParaRPr lang="en-US" sz="900" dirty="0"/>
          </a:p>
        </p:txBody>
      </p:sp>
      <p:sp>
        <p:nvSpPr>
          <p:cNvPr id="56" name="Shape 53"/>
          <p:cNvSpPr/>
          <p:nvPr/>
        </p:nvSpPr>
        <p:spPr>
          <a:xfrm>
            <a:off x="457200" y="3749040"/>
            <a:ext cx="8229600" cy="804672"/>
          </a:xfrm>
          <a:prstGeom prst="roundRect">
            <a:avLst>
              <a:gd name="adj" fmla="val 9091"/>
            </a:avLst>
          </a:prstGeom>
          <a:solidFill>
            <a:srgbClr val="F4F7F5"/>
          </a:solidFill>
          <a:ln w="9525">
            <a:solidFill>
              <a:srgbClr val="D5DED9"/>
            </a:solidFill>
            <a:prstDash val="solid"/>
          </a:ln>
        </p:spPr>
      </p:sp>
      <p:sp>
        <p:nvSpPr>
          <p:cNvPr id="57" name="Shape 54"/>
          <p:cNvSpPr/>
          <p:nvPr/>
        </p:nvSpPr>
        <p:spPr>
          <a:xfrm>
            <a:off x="566928" y="3931920"/>
            <a:ext cx="402336" cy="402336"/>
          </a:xfrm>
          <a:prstGeom prst="ellipse">
            <a:avLst/>
          </a:prstGeom>
          <a:solidFill>
            <a:srgbClr val="0E7C86">
              <a:alpha val="22000"/>
            </a:srgbClr>
          </a:solidFill>
          <a:ln w="12700">
            <a:solidFill>
              <a:srgbClr val="0E7C86">
                <a:alpha val="0"/>
              </a:srgbClr>
            </a:solidFill>
            <a:prstDash val="solid"/>
          </a:ln>
        </p:spPr>
      </p:sp>
      <p:pic>
        <p:nvPicPr>
          <p:cNvPr id="58" name="Image 0" descr="preencoded.png"/>
          <p:cNvPicPr>
            <a:picLocks noChangeAspect="1"/>
          </p:cNvPicPr>
          <p:nvPr/>
        </p:nvPicPr>
        <p:blipFill>
          <a:blip r:embed="rId3"/>
          <a:stretch>
            <a:fillRect/>
          </a:stretch>
        </p:blipFill>
        <p:spPr>
          <a:xfrm>
            <a:off x="671535" y="4036527"/>
            <a:ext cx="193121" cy="193121"/>
          </a:xfrm>
          <a:prstGeom prst="rect">
            <a:avLst/>
          </a:prstGeom>
        </p:spPr>
      </p:pic>
      <p:sp>
        <p:nvSpPr>
          <p:cNvPr id="59" name="Text 55"/>
          <p:cNvSpPr txBox="1"/>
          <p:nvPr/>
        </p:nvSpPr>
        <p:spPr>
          <a:xfrm>
            <a:off x="1097280" y="3785616"/>
            <a:ext cx="7498080" cy="731520"/>
          </a:xfrm>
          <a:prstGeom prst="rect">
            <a:avLst/>
          </a:prstGeom>
          <a:noFill/>
          <a:ln/>
        </p:spPr>
        <p:txBody>
          <a:bodyPr wrap="square" lIns="0" tIns="0" rIns="0" bIns="0" rtlCol="0" anchor="ctr"/>
          <a:lstStyle/>
          <a:p>
            <a:pPr marL="0" indent="0">
              <a:buNone/>
            </a:pPr>
            <a:r>
              <a:rPr lang="en-US" sz="950" b="1" dirty="0">
                <a:solidFill>
                  <a:srgbClr val="0E7C86"/>
                </a:solidFill>
                <a:latin typeface="Calibri" pitchFamily="34" charset="0"/>
                <a:ea typeface="Calibri" pitchFamily="34" charset="-122"/>
                <a:cs typeface="Calibri" pitchFamily="34" charset="-120"/>
              </a:rPr>
              <a:t>Common to all: </a:t>
            </a:r>
            <a:r>
              <a:rPr lang="en-US" sz="950" dirty="0">
                <a:solidFill>
                  <a:srgbClr val="231F20"/>
                </a:solidFill>
                <a:latin typeface="Calibri" pitchFamily="34" charset="0"/>
                <a:ea typeface="Calibri" pitchFamily="34" charset="-122"/>
                <a:cs typeface="Calibri" pitchFamily="34" charset="-120"/>
              </a:rPr>
              <a:t>15 arc-second grid (≈500 m at the equator) · 10°×10° tiles · HDF-EOS5 · from January 2012 · NOAA-20 twins named VJ146*.</a:t>
            </a:r>
            <a:endParaRPr lang="en-US" sz="950" dirty="0"/>
          </a:p>
          <a:p>
            <a:pPr marL="0" indent="0">
              <a:buNone/>
            </a:pPr>
            <a:r>
              <a:rPr lang="en-US" sz="950" b="1" dirty="0">
                <a:solidFill>
                  <a:srgbClr val="B83B2E"/>
                </a:solidFill>
                <a:latin typeface="Calibri" pitchFamily="34" charset="0"/>
                <a:ea typeface="Calibri" pitchFamily="34" charset="-122"/>
                <a:cs typeface="Calibri" pitchFamily="34" charset="-120"/>
              </a:rPr>
              <a:t>Gotcha: </a:t>
            </a:r>
            <a:r>
              <a:rPr lang="en-US" sz="950" dirty="0">
                <a:solidFill>
                  <a:srgbClr val="231F20"/>
                </a:solidFill>
                <a:latin typeface="Calibri" pitchFamily="34" charset="0"/>
                <a:ea typeface="Calibri" pitchFamily="34" charset="-122"/>
                <a:cs typeface="Calibri" pitchFamily="34" charset="-120"/>
              </a:rPr>
              <a:t>radiance is stored as integers — multiply by the 0.1 scale factor and mask the 65535 fill value. </a:t>
            </a:r>
            <a:r>
              <a:rPr lang="en-US" sz="950" b="1" dirty="0">
                <a:solidFill>
                  <a:srgbClr val="0E7C86"/>
                </a:solidFill>
                <a:latin typeface="Calibri" pitchFamily="34" charset="0"/>
                <a:ea typeface="Calibri" pitchFamily="34" charset="-122"/>
                <a:cs typeface="Calibri" pitchFamily="34" charset="-120"/>
              </a:rPr>
              <a:t>Alternatives: </a:t>
            </a:r>
            <a:r>
              <a:rPr lang="en-US" sz="950" dirty="0">
                <a:solidFill>
                  <a:srgbClr val="231F20"/>
                </a:solidFill>
                <a:latin typeface="Calibri" pitchFamily="34" charset="0"/>
                <a:ea typeface="Calibri" pitchFamily="34" charset="-122"/>
                <a:cs typeface="Calibri" pitchFamily="34" charset="-120"/>
              </a:rPr>
              <a:t>EOG VIIRS Nighttime Lights (VNL) composites; Google Earth Engine catalogue.</a:t>
            </a:r>
            <a:endParaRPr lang="en-US" sz="9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FROM PHOTONS TO DATA · INTERPRETATION</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What actually glows over Africa at night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325880"/>
            <a:ext cx="2651760" cy="1280160"/>
          </a:xfrm>
          <a:prstGeom prst="roundRect">
            <a:avLst>
              <a:gd name="adj" fmla="val 5714"/>
            </a:avLst>
          </a:prstGeom>
          <a:solidFill>
            <a:srgbClr val="E8F5EF"/>
          </a:solidFill>
          <a:ln w="15875">
            <a:solidFill>
              <a:srgbClr val="00A86A"/>
            </a:solidFill>
            <a:prstDash val="solid"/>
          </a:ln>
        </p:spPr>
      </p:sp>
      <p:sp>
        <p:nvSpPr>
          <p:cNvPr id="18" name="Shape 15"/>
          <p:cNvSpPr/>
          <p:nvPr/>
        </p:nvSpPr>
        <p:spPr>
          <a:xfrm>
            <a:off x="566928" y="1435608"/>
            <a:ext cx="438912" cy="438912"/>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681045" y="1549725"/>
            <a:ext cx="210678" cy="210678"/>
          </a:xfrm>
          <a:prstGeom prst="rect">
            <a:avLst/>
          </a:prstGeom>
        </p:spPr>
      </p:pic>
      <p:sp>
        <p:nvSpPr>
          <p:cNvPr id="20" name="Text 16"/>
          <p:cNvSpPr txBox="1"/>
          <p:nvPr/>
        </p:nvSpPr>
        <p:spPr>
          <a:xfrm>
            <a:off x="1097280" y="1435608"/>
            <a:ext cx="1298448" cy="47548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Cities &amp; settlements</a:t>
            </a:r>
            <a:endParaRPr lang="en-US" sz="1150" dirty="0"/>
          </a:p>
        </p:txBody>
      </p:sp>
      <p:sp>
        <p:nvSpPr>
          <p:cNvPr id="21" name="Shape 17"/>
          <p:cNvSpPr/>
          <p:nvPr/>
        </p:nvSpPr>
        <p:spPr>
          <a:xfrm>
            <a:off x="2432304" y="1563624"/>
            <a:ext cx="585216" cy="219456"/>
          </a:xfrm>
          <a:prstGeom prst="roundRect">
            <a:avLst>
              <a:gd name="adj" fmla="val 50000"/>
            </a:avLst>
          </a:prstGeom>
          <a:solidFill>
            <a:srgbClr val="00A86A">
              <a:alpha val="15000"/>
            </a:srgbClr>
          </a:solidFill>
          <a:ln w="9525">
            <a:solidFill>
              <a:srgbClr val="00A86A"/>
            </a:solidFill>
            <a:prstDash val="solid"/>
          </a:ln>
        </p:spPr>
      </p:sp>
      <p:sp>
        <p:nvSpPr>
          <p:cNvPr id="22" name="Text 18"/>
          <p:cNvSpPr txBox="1"/>
          <p:nvPr/>
        </p:nvSpPr>
        <p:spPr>
          <a:xfrm>
            <a:off x="2432304" y="1563624"/>
            <a:ext cx="585216" cy="219456"/>
          </a:xfrm>
          <a:prstGeom prst="rect">
            <a:avLst/>
          </a:prstGeom>
          <a:noFill/>
          <a:ln/>
        </p:spPr>
        <p:txBody>
          <a:bodyPr wrap="square" lIns="0" tIns="0" rIns="0" bIns="0" rtlCol="0" anchor="ctr"/>
          <a:lstStyle/>
          <a:p>
            <a:pPr marL="0" indent="0" algn="ctr">
              <a:buNone/>
            </a:pPr>
            <a:r>
              <a:rPr lang="en-US" sz="750" b="1" dirty="0">
                <a:solidFill>
                  <a:srgbClr val="00A86A"/>
                </a:solidFill>
                <a:latin typeface="Calibri" pitchFamily="34" charset="0"/>
                <a:ea typeface="Calibri" pitchFamily="34" charset="-122"/>
                <a:cs typeface="Calibri" pitchFamily="34" charset="-120"/>
              </a:rPr>
              <a:t>SIGNAL</a:t>
            </a:r>
            <a:endParaRPr lang="en-US" sz="750" dirty="0"/>
          </a:p>
        </p:txBody>
      </p:sp>
      <p:sp>
        <p:nvSpPr>
          <p:cNvPr id="23" name="Text 19"/>
          <p:cNvSpPr txBox="1"/>
          <p:nvPr/>
        </p:nvSpPr>
        <p:spPr>
          <a:xfrm>
            <a:off x="585216" y="1965960"/>
            <a:ext cx="2395728" cy="5943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Streets, buildings, markets, vehicles. The dominant and most-studied part of the signal.</a:t>
            </a:r>
            <a:endParaRPr lang="en-US" sz="950" dirty="0"/>
          </a:p>
        </p:txBody>
      </p:sp>
      <p:sp>
        <p:nvSpPr>
          <p:cNvPr id="24" name="Shape 20"/>
          <p:cNvSpPr/>
          <p:nvPr/>
        </p:nvSpPr>
        <p:spPr>
          <a:xfrm>
            <a:off x="3246120" y="1325880"/>
            <a:ext cx="2651760" cy="1280160"/>
          </a:xfrm>
          <a:prstGeom prst="roundRect">
            <a:avLst>
              <a:gd name="adj" fmla="val 5714"/>
            </a:avLst>
          </a:prstGeom>
          <a:solidFill>
            <a:srgbClr val="E8F5EF"/>
          </a:solidFill>
          <a:ln w="15875">
            <a:solidFill>
              <a:srgbClr val="00A86A"/>
            </a:solidFill>
            <a:prstDash val="solid"/>
          </a:ln>
        </p:spPr>
      </p:sp>
      <p:sp>
        <p:nvSpPr>
          <p:cNvPr id="25" name="Shape 21"/>
          <p:cNvSpPr/>
          <p:nvPr/>
        </p:nvSpPr>
        <p:spPr>
          <a:xfrm>
            <a:off x="3355848" y="1435608"/>
            <a:ext cx="438912" cy="438912"/>
          </a:xfrm>
          <a:prstGeom prst="ellipse">
            <a:avLst/>
          </a:prstGeom>
          <a:solidFill>
            <a:srgbClr val="00A86A">
              <a:alpha val="22000"/>
            </a:srgbClr>
          </a:solidFill>
          <a:ln w="12700">
            <a:solidFill>
              <a:srgbClr val="00A86A">
                <a:alpha val="0"/>
              </a:srgbClr>
            </a:solidFill>
            <a:prstDash val="solid"/>
          </a:ln>
        </p:spPr>
      </p:sp>
      <p:pic>
        <p:nvPicPr>
          <p:cNvPr id="26" name="Image 1" descr="preencoded.png"/>
          <p:cNvPicPr>
            <a:picLocks noChangeAspect="1"/>
          </p:cNvPicPr>
          <p:nvPr/>
        </p:nvPicPr>
        <p:blipFill>
          <a:blip r:embed="rId4"/>
          <a:stretch>
            <a:fillRect/>
          </a:stretch>
        </p:blipFill>
        <p:spPr>
          <a:xfrm>
            <a:off x="3469965" y="1549725"/>
            <a:ext cx="210678" cy="210678"/>
          </a:xfrm>
          <a:prstGeom prst="rect">
            <a:avLst/>
          </a:prstGeom>
        </p:spPr>
      </p:pic>
      <p:sp>
        <p:nvSpPr>
          <p:cNvPr id="27" name="Text 22"/>
          <p:cNvSpPr txBox="1"/>
          <p:nvPr/>
        </p:nvSpPr>
        <p:spPr>
          <a:xfrm>
            <a:off x="3886200" y="1435608"/>
            <a:ext cx="1298448" cy="47548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Corridors, ports &amp; mines</a:t>
            </a:r>
            <a:endParaRPr lang="en-US" sz="1150" dirty="0"/>
          </a:p>
        </p:txBody>
      </p:sp>
      <p:sp>
        <p:nvSpPr>
          <p:cNvPr id="28" name="Shape 23"/>
          <p:cNvSpPr/>
          <p:nvPr/>
        </p:nvSpPr>
        <p:spPr>
          <a:xfrm>
            <a:off x="5221224" y="1563624"/>
            <a:ext cx="585216" cy="219456"/>
          </a:xfrm>
          <a:prstGeom prst="roundRect">
            <a:avLst>
              <a:gd name="adj" fmla="val 50000"/>
            </a:avLst>
          </a:prstGeom>
          <a:solidFill>
            <a:srgbClr val="00A86A">
              <a:alpha val="15000"/>
            </a:srgbClr>
          </a:solidFill>
          <a:ln w="9525">
            <a:solidFill>
              <a:srgbClr val="00A86A"/>
            </a:solidFill>
            <a:prstDash val="solid"/>
          </a:ln>
        </p:spPr>
      </p:sp>
      <p:sp>
        <p:nvSpPr>
          <p:cNvPr id="29" name="Text 24"/>
          <p:cNvSpPr txBox="1"/>
          <p:nvPr/>
        </p:nvSpPr>
        <p:spPr>
          <a:xfrm>
            <a:off x="5221224" y="1563624"/>
            <a:ext cx="585216" cy="219456"/>
          </a:xfrm>
          <a:prstGeom prst="rect">
            <a:avLst/>
          </a:prstGeom>
          <a:noFill/>
          <a:ln/>
        </p:spPr>
        <p:txBody>
          <a:bodyPr wrap="square" lIns="0" tIns="0" rIns="0" bIns="0" rtlCol="0" anchor="ctr"/>
          <a:lstStyle/>
          <a:p>
            <a:pPr marL="0" indent="0" algn="ctr">
              <a:buNone/>
            </a:pPr>
            <a:r>
              <a:rPr lang="en-US" sz="750" b="1" dirty="0">
                <a:solidFill>
                  <a:srgbClr val="00A86A"/>
                </a:solidFill>
                <a:latin typeface="Calibri" pitchFamily="34" charset="0"/>
                <a:ea typeface="Calibri" pitchFamily="34" charset="-122"/>
                <a:cs typeface="Calibri" pitchFamily="34" charset="-120"/>
              </a:rPr>
              <a:t>SIGNAL</a:t>
            </a:r>
            <a:endParaRPr lang="en-US" sz="750" dirty="0"/>
          </a:p>
        </p:txBody>
      </p:sp>
      <p:sp>
        <p:nvSpPr>
          <p:cNvPr id="30" name="Text 25"/>
          <p:cNvSpPr txBox="1"/>
          <p:nvPr/>
        </p:nvSpPr>
        <p:spPr>
          <a:xfrm>
            <a:off x="3374136" y="1965960"/>
            <a:ext cx="2395728" cy="5943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Highways, ports, airports, mining and industrial sites: the network between the bright spots.</a:t>
            </a:r>
            <a:endParaRPr lang="en-US" sz="950" dirty="0"/>
          </a:p>
        </p:txBody>
      </p:sp>
      <p:sp>
        <p:nvSpPr>
          <p:cNvPr id="31" name="Shape 26"/>
          <p:cNvSpPr/>
          <p:nvPr/>
        </p:nvSpPr>
        <p:spPr>
          <a:xfrm>
            <a:off x="6035040" y="1325880"/>
            <a:ext cx="2651760" cy="1280160"/>
          </a:xfrm>
          <a:prstGeom prst="roundRect">
            <a:avLst>
              <a:gd name="adj" fmla="val 5714"/>
            </a:avLst>
          </a:prstGeom>
          <a:solidFill>
            <a:srgbClr val="F4F7F5"/>
          </a:solidFill>
          <a:ln w="9525">
            <a:solidFill>
              <a:srgbClr val="D5DED9"/>
            </a:solidFill>
            <a:prstDash val="solid"/>
          </a:ln>
        </p:spPr>
      </p:sp>
      <p:sp>
        <p:nvSpPr>
          <p:cNvPr id="32" name="Shape 27"/>
          <p:cNvSpPr/>
          <p:nvPr/>
        </p:nvSpPr>
        <p:spPr>
          <a:xfrm>
            <a:off x="6144768" y="1435608"/>
            <a:ext cx="438912" cy="438912"/>
          </a:xfrm>
          <a:prstGeom prst="ellipse">
            <a:avLst/>
          </a:prstGeom>
          <a:solidFill>
            <a:srgbClr val="B83B2E">
              <a:alpha val="22000"/>
            </a:srgbClr>
          </a:solidFill>
          <a:ln w="12700">
            <a:solidFill>
              <a:srgbClr val="B83B2E">
                <a:alpha val="0"/>
              </a:srgbClr>
            </a:solidFill>
            <a:prstDash val="solid"/>
          </a:ln>
        </p:spPr>
      </p:sp>
      <p:pic>
        <p:nvPicPr>
          <p:cNvPr id="33" name="Image 2" descr="preencoded.png"/>
          <p:cNvPicPr>
            <a:picLocks noChangeAspect="1"/>
          </p:cNvPicPr>
          <p:nvPr/>
        </p:nvPicPr>
        <p:blipFill>
          <a:blip r:embed="rId5"/>
          <a:stretch>
            <a:fillRect/>
          </a:stretch>
        </p:blipFill>
        <p:spPr>
          <a:xfrm>
            <a:off x="6258885" y="1549725"/>
            <a:ext cx="210678" cy="210678"/>
          </a:xfrm>
          <a:prstGeom prst="rect">
            <a:avLst/>
          </a:prstGeom>
        </p:spPr>
      </p:pic>
      <p:sp>
        <p:nvSpPr>
          <p:cNvPr id="34" name="Text 28"/>
          <p:cNvSpPr txBox="1"/>
          <p:nvPr/>
        </p:nvSpPr>
        <p:spPr>
          <a:xfrm>
            <a:off x="6675120" y="1435608"/>
            <a:ext cx="1298448" cy="47548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Gas flares</a:t>
            </a:r>
            <a:endParaRPr lang="en-US" sz="1150" dirty="0"/>
          </a:p>
        </p:txBody>
      </p:sp>
      <p:sp>
        <p:nvSpPr>
          <p:cNvPr id="35" name="Shape 29"/>
          <p:cNvSpPr/>
          <p:nvPr/>
        </p:nvSpPr>
        <p:spPr>
          <a:xfrm>
            <a:off x="8010144" y="1563624"/>
            <a:ext cx="585216" cy="219456"/>
          </a:xfrm>
          <a:prstGeom prst="roundRect">
            <a:avLst>
              <a:gd name="adj" fmla="val 50000"/>
            </a:avLst>
          </a:prstGeom>
          <a:solidFill>
            <a:srgbClr val="B83B2E">
              <a:alpha val="15000"/>
            </a:srgbClr>
          </a:solidFill>
          <a:ln w="9525">
            <a:solidFill>
              <a:srgbClr val="B83B2E"/>
            </a:solidFill>
            <a:prstDash val="solid"/>
          </a:ln>
        </p:spPr>
      </p:sp>
      <p:sp>
        <p:nvSpPr>
          <p:cNvPr id="36" name="Text 30"/>
          <p:cNvSpPr txBox="1"/>
          <p:nvPr/>
        </p:nvSpPr>
        <p:spPr>
          <a:xfrm>
            <a:off x="8010144" y="1563624"/>
            <a:ext cx="585216" cy="219456"/>
          </a:xfrm>
          <a:prstGeom prst="rect">
            <a:avLst/>
          </a:prstGeom>
          <a:noFill/>
          <a:ln/>
        </p:spPr>
        <p:txBody>
          <a:bodyPr wrap="square" lIns="0" tIns="0" rIns="0" bIns="0" rtlCol="0" anchor="ctr"/>
          <a:lstStyle/>
          <a:p>
            <a:pPr marL="0" indent="0" algn="ctr">
              <a:buNone/>
            </a:pPr>
            <a:r>
              <a:rPr lang="en-US" sz="750" b="1" dirty="0">
                <a:solidFill>
                  <a:srgbClr val="B83B2E"/>
                </a:solidFill>
                <a:latin typeface="Calibri" pitchFamily="34" charset="0"/>
                <a:ea typeface="Calibri" pitchFamily="34" charset="-122"/>
                <a:cs typeface="Calibri" pitchFamily="34" charset="-120"/>
              </a:rPr>
              <a:t>MASK</a:t>
            </a:r>
            <a:endParaRPr lang="en-US" sz="750" dirty="0"/>
          </a:p>
        </p:txBody>
      </p:sp>
      <p:sp>
        <p:nvSpPr>
          <p:cNvPr id="37" name="Text 31"/>
          <p:cNvSpPr txBox="1"/>
          <p:nvPr/>
        </p:nvSpPr>
        <p:spPr>
          <a:xfrm>
            <a:off x="6163056" y="1965960"/>
            <a:ext cx="2395728" cy="5943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Very bright, isolated points in oil &amp; gas regions — e.g. the Niger Delta, Algeria, Libya. Mask them.</a:t>
            </a:r>
            <a:endParaRPr lang="en-US" sz="950" dirty="0"/>
          </a:p>
        </p:txBody>
      </p:sp>
      <p:sp>
        <p:nvSpPr>
          <p:cNvPr id="38" name="Shape 32"/>
          <p:cNvSpPr/>
          <p:nvPr/>
        </p:nvSpPr>
        <p:spPr>
          <a:xfrm>
            <a:off x="457200" y="2743200"/>
            <a:ext cx="2651760" cy="1280160"/>
          </a:xfrm>
          <a:prstGeom prst="roundRect">
            <a:avLst>
              <a:gd name="adj" fmla="val 5714"/>
            </a:avLst>
          </a:prstGeom>
          <a:solidFill>
            <a:srgbClr val="F4F7F5"/>
          </a:solidFill>
          <a:ln w="9525">
            <a:solidFill>
              <a:srgbClr val="D5DED9"/>
            </a:solidFill>
            <a:prstDash val="solid"/>
          </a:ln>
        </p:spPr>
      </p:sp>
      <p:sp>
        <p:nvSpPr>
          <p:cNvPr id="39" name="Shape 33"/>
          <p:cNvSpPr/>
          <p:nvPr/>
        </p:nvSpPr>
        <p:spPr>
          <a:xfrm>
            <a:off x="566928" y="2852928"/>
            <a:ext cx="438912" cy="438912"/>
          </a:xfrm>
          <a:prstGeom prst="ellipse">
            <a:avLst/>
          </a:prstGeom>
          <a:solidFill>
            <a:srgbClr val="D49A00">
              <a:alpha val="22000"/>
            </a:srgbClr>
          </a:solidFill>
          <a:ln w="12700">
            <a:solidFill>
              <a:srgbClr val="D49A00">
                <a:alpha val="0"/>
              </a:srgbClr>
            </a:solidFill>
            <a:prstDash val="solid"/>
          </a:ln>
        </p:spPr>
      </p:sp>
      <p:pic>
        <p:nvPicPr>
          <p:cNvPr id="40" name="Image 3" descr="preencoded.png"/>
          <p:cNvPicPr>
            <a:picLocks noChangeAspect="1"/>
          </p:cNvPicPr>
          <p:nvPr/>
        </p:nvPicPr>
        <p:blipFill>
          <a:blip r:embed="rId6"/>
          <a:stretch>
            <a:fillRect/>
          </a:stretch>
        </p:blipFill>
        <p:spPr>
          <a:xfrm>
            <a:off x="681045" y="2967045"/>
            <a:ext cx="210678" cy="210678"/>
          </a:xfrm>
          <a:prstGeom prst="rect">
            <a:avLst/>
          </a:prstGeom>
        </p:spPr>
      </p:pic>
      <p:sp>
        <p:nvSpPr>
          <p:cNvPr id="41" name="Text 34"/>
          <p:cNvSpPr txBox="1"/>
          <p:nvPr/>
        </p:nvSpPr>
        <p:spPr>
          <a:xfrm>
            <a:off x="1097280" y="2852928"/>
            <a:ext cx="1298448" cy="47548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Fishing lights</a:t>
            </a:r>
            <a:endParaRPr lang="en-US" sz="1150" dirty="0"/>
          </a:p>
        </p:txBody>
      </p:sp>
      <p:sp>
        <p:nvSpPr>
          <p:cNvPr id="42" name="Shape 35"/>
          <p:cNvSpPr/>
          <p:nvPr/>
        </p:nvSpPr>
        <p:spPr>
          <a:xfrm>
            <a:off x="2432304" y="2980944"/>
            <a:ext cx="585216" cy="219456"/>
          </a:xfrm>
          <a:prstGeom prst="roundRect">
            <a:avLst>
              <a:gd name="adj" fmla="val 50000"/>
            </a:avLst>
          </a:prstGeom>
          <a:solidFill>
            <a:srgbClr val="D49A00">
              <a:alpha val="15000"/>
            </a:srgbClr>
          </a:solidFill>
          <a:ln w="9525">
            <a:solidFill>
              <a:srgbClr val="D49A00"/>
            </a:solidFill>
            <a:prstDash val="solid"/>
          </a:ln>
        </p:spPr>
      </p:sp>
      <p:sp>
        <p:nvSpPr>
          <p:cNvPr id="43" name="Text 36"/>
          <p:cNvSpPr txBox="1"/>
          <p:nvPr/>
        </p:nvSpPr>
        <p:spPr>
          <a:xfrm>
            <a:off x="2432304" y="2980944"/>
            <a:ext cx="585216" cy="219456"/>
          </a:xfrm>
          <a:prstGeom prst="rect">
            <a:avLst/>
          </a:prstGeom>
          <a:noFill/>
          <a:ln/>
        </p:spPr>
        <p:txBody>
          <a:bodyPr wrap="square" lIns="0" tIns="0" rIns="0" bIns="0" rtlCol="0" anchor="ctr"/>
          <a:lstStyle/>
          <a:p>
            <a:pPr marL="0" indent="0" algn="ctr">
              <a:buNone/>
            </a:pPr>
            <a:r>
              <a:rPr lang="en-US" sz="750" b="1" dirty="0">
                <a:solidFill>
                  <a:srgbClr val="D49A00"/>
                </a:solidFill>
                <a:latin typeface="Calibri" pitchFamily="34" charset="0"/>
                <a:ea typeface="Calibri" pitchFamily="34" charset="-122"/>
                <a:cs typeface="Calibri" pitchFamily="34" charset="-120"/>
              </a:rPr>
              <a:t>CONTEXT</a:t>
            </a:r>
            <a:endParaRPr lang="en-US" sz="750" dirty="0"/>
          </a:p>
        </p:txBody>
      </p:sp>
      <p:sp>
        <p:nvSpPr>
          <p:cNvPr id="44" name="Text 37"/>
          <p:cNvSpPr txBox="1"/>
          <p:nvPr/>
        </p:nvSpPr>
        <p:spPr>
          <a:xfrm>
            <a:off x="585216" y="3383280"/>
            <a:ext cx="2395728" cy="5943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Lamp-attraction fishing on Lake Victoria and Lake Tanganyika; offshore fleets.</a:t>
            </a:r>
            <a:endParaRPr lang="en-US" sz="950" dirty="0"/>
          </a:p>
        </p:txBody>
      </p:sp>
      <p:sp>
        <p:nvSpPr>
          <p:cNvPr id="45" name="Shape 38"/>
          <p:cNvSpPr/>
          <p:nvPr/>
        </p:nvSpPr>
        <p:spPr>
          <a:xfrm>
            <a:off x="3246120" y="2743200"/>
            <a:ext cx="2651760" cy="1280160"/>
          </a:xfrm>
          <a:prstGeom prst="roundRect">
            <a:avLst>
              <a:gd name="adj" fmla="val 5714"/>
            </a:avLst>
          </a:prstGeom>
          <a:solidFill>
            <a:srgbClr val="F4F7F5"/>
          </a:solidFill>
          <a:ln w="9525">
            <a:solidFill>
              <a:srgbClr val="D5DED9"/>
            </a:solidFill>
            <a:prstDash val="solid"/>
          </a:ln>
        </p:spPr>
      </p:sp>
      <p:sp>
        <p:nvSpPr>
          <p:cNvPr id="46" name="Shape 39"/>
          <p:cNvSpPr/>
          <p:nvPr/>
        </p:nvSpPr>
        <p:spPr>
          <a:xfrm>
            <a:off x="3355848" y="2852928"/>
            <a:ext cx="438912" cy="438912"/>
          </a:xfrm>
          <a:prstGeom prst="ellipse">
            <a:avLst/>
          </a:prstGeom>
          <a:solidFill>
            <a:srgbClr val="B83B2E">
              <a:alpha val="22000"/>
            </a:srgbClr>
          </a:solidFill>
          <a:ln w="12700">
            <a:solidFill>
              <a:srgbClr val="B83B2E">
                <a:alpha val="0"/>
              </a:srgbClr>
            </a:solidFill>
            <a:prstDash val="solid"/>
          </a:ln>
        </p:spPr>
      </p:sp>
      <p:pic>
        <p:nvPicPr>
          <p:cNvPr id="47" name="Image 4" descr="preencoded.png"/>
          <p:cNvPicPr>
            <a:picLocks noChangeAspect="1"/>
          </p:cNvPicPr>
          <p:nvPr/>
        </p:nvPicPr>
        <p:blipFill>
          <a:blip r:embed="rId7"/>
          <a:stretch>
            <a:fillRect/>
          </a:stretch>
        </p:blipFill>
        <p:spPr>
          <a:xfrm>
            <a:off x="3469965" y="2967045"/>
            <a:ext cx="210678" cy="210678"/>
          </a:xfrm>
          <a:prstGeom prst="rect">
            <a:avLst/>
          </a:prstGeom>
        </p:spPr>
      </p:pic>
      <p:sp>
        <p:nvSpPr>
          <p:cNvPr id="48" name="Text 40"/>
          <p:cNvSpPr txBox="1"/>
          <p:nvPr/>
        </p:nvSpPr>
        <p:spPr>
          <a:xfrm>
            <a:off x="3886200" y="2852928"/>
            <a:ext cx="1298448" cy="47548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Fires</a:t>
            </a:r>
            <a:endParaRPr lang="en-US" sz="1150" dirty="0"/>
          </a:p>
        </p:txBody>
      </p:sp>
      <p:sp>
        <p:nvSpPr>
          <p:cNvPr id="49" name="Shape 41"/>
          <p:cNvSpPr/>
          <p:nvPr/>
        </p:nvSpPr>
        <p:spPr>
          <a:xfrm>
            <a:off x="5221224" y="2980944"/>
            <a:ext cx="585216" cy="219456"/>
          </a:xfrm>
          <a:prstGeom prst="roundRect">
            <a:avLst>
              <a:gd name="adj" fmla="val 50000"/>
            </a:avLst>
          </a:prstGeom>
          <a:solidFill>
            <a:srgbClr val="B83B2E">
              <a:alpha val="15000"/>
            </a:srgbClr>
          </a:solidFill>
          <a:ln w="9525">
            <a:solidFill>
              <a:srgbClr val="B83B2E"/>
            </a:solidFill>
            <a:prstDash val="solid"/>
          </a:ln>
        </p:spPr>
      </p:sp>
      <p:sp>
        <p:nvSpPr>
          <p:cNvPr id="50" name="Text 42"/>
          <p:cNvSpPr txBox="1"/>
          <p:nvPr/>
        </p:nvSpPr>
        <p:spPr>
          <a:xfrm>
            <a:off x="5221224" y="2980944"/>
            <a:ext cx="585216" cy="219456"/>
          </a:xfrm>
          <a:prstGeom prst="rect">
            <a:avLst/>
          </a:prstGeom>
          <a:noFill/>
          <a:ln/>
        </p:spPr>
        <p:txBody>
          <a:bodyPr wrap="square" lIns="0" tIns="0" rIns="0" bIns="0" rtlCol="0" anchor="ctr"/>
          <a:lstStyle/>
          <a:p>
            <a:pPr marL="0" indent="0" algn="ctr">
              <a:buNone/>
            </a:pPr>
            <a:r>
              <a:rPr lang="en-US" sz="750" b="1" dirty="0">
                <a:solidFill>
                  <a:srgbClr val="B83B2E"/>
                </a:solidFill>
                <a:latin typeface="Calibri" pitchFamily="34" charset="0"/>
                <a:ea typeface="Calibri" pitchFamily="34" charset="-122"/>
                <a:cs typeface="Calibri" pitchFamily="34" charset="-120"/>
              </a:rPr>
              <a:t>MASK</a:t>
            </a:r>
            <a:endParaRPr lang="en-US" sz="750" dirty="0"/>
          </a:p>
        </p:txBody>
      </p:sp>
      <p:sp>
        <p:nvSpPr>
          <p:cNvPr id="51" name="Text 43"/>
          <p:cNvSpPr txBox="1"/>
          <p:nvPr/>
        </p:nvSpPr>
        <p:spPr>
          <a:xfrm>
            <a:off x="3374136" y="3383280"/>
            <a:ext cx="2395728" cy="5943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Savanna and agricultural burning: intense, short-lived and strongly seasonal.</a:t>
            </a:r>
            <a:endParaRPr lang="en-US" sz="950" dirty="0"/>
          </a:p>
        </p:txBody>
      </p:sp>
      <p:sp>
        <p:nvSpPr>
          <p:cNvPr id="52" name="Shape 44"/>
          <p:cNvSpPr/>
          <p:nvPr/>
        </p:nvSpPr>
        <p:spPr>
          <a:xfrm>
            <a:off x="6035040" y="2743200"/>
            <a:ext cx="2651760" cy="1280160"/>
          </a:xfrm>
          <a:prstGeom prst="roundRect">
            <a:avLst>
              <a:gd name="adj" fmla="val 5714"/>
            </a:avLst>
          </a:prstGeom>
          <a:solidFill>
            <a:srgbClr val="F4F7F5"/>
          </a:solidFill>
          <a:ln w="9525">
            <a:solidFill>
              <a:srgbClr val="D5DED9"/>
            </a:solidFill>
            <a:prstDash val="solid"/>
          </a:ln>
        </p:spPr>
      </p:sp>
      <p:sp>
        <p:nvSpPr>
          <p:cNvPr id="53" name="Shape 45"/>
          <p:cNvSpPr/>
          <p:nvPr/>
        </p:nvSpPr>
        <p:spPr>
          <a:xfrm>
            <a:off x="6144768" y="2852928"/>
            <a:ext cx="438912" cy="438912"/>
          </a:xfrm>
          <a:prstGeom prst="ellipse">
            <a:avLst/>
          </a:prstGeom>
          <a:solidFill>
            <a:srgbClr val="B83B2E">
              <a:alpha val="22000"/>
            </a:srgbClr>
          </a:solidFill>
          <a:ln w="12700">
            <a:solidFill>
              <a:srgbClr val="B83B2E">
                <a:alpha val="0"/>
              </a:srgbClr>
            </a:solidFill>
            <a:prstDash val="solid"/>
          </a:ln>
        </p:spPr>
      </p:sp>
      <p:pic>
        <p:nvPicPr>
          <p:cNvPr id="54" name="Image 5" descr="preencoded.png"/>
          <p:cNvPicPr>
            <a:picLocks noChangeAspect="1"/>
          </p:cNvPicPr>
          <p:nvPr/>
        </p:nvPicPr>
        <p:blipFill>
          <a:blip r:embed="rId8"/>
          <a:stretch>
            <a:fillRect/>
          </a:stretch>
        </p:blipFill>
        <p:spPr>
          <a:xfrm>
            <a:off x="6258885" y="2967045"/>
            <a:ext cx="210678" cy="210678"/>
          </a:xfrm>
          <a:prstGeom prst="rect">
            <a:avLst/>
          </a:prstGeom>
        </p:spPr>
      </p:pic>
      <p:sp>
        <p:nvSpPr>
          <p:cNvPr id="55" name="Text 46"/>
          <p:cNvSpPr txBox="1"/>
          <p:nvPr/>
        </p:nvSpPr>
        <p:spPr>
          <a:xfrm>
            <a:off x="6675120" y="2852928"/>
            <a:ext cx="1298448" cy="47548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Natural &amp; reflected light</a:t>
            </a:r>
            <a:endParaRPr lang="en-US" sz="1150" dirty="0"/>
          </a:p>
        </p:txBody>
      </p:sp>
      <p:sp>
        <p:nvSpPr>
          <p:cNvPr id="56" name="Shape 47"/>
          <p:cNvSpPr/>
          <p:nvPr/>
        </p:nvSpPr>
        <p:spPr>
          <a:xfrm>
            <a:off x="8010144" y="2980944"/>
            <a:ext cx="585216" cy="219456"/>
          </a:xfrm>
          <a:prstGeom prst="roundRect">
            <a:avLst>
              <a:gd name="adj" fmla="val 50000"/>
            </a:avLst>
          </a:prstGeom>
          <a:solidFill>
            <a:srgbClr val="B83B2E">
              <a:alpha val="15000"/>
            </a:srgbClr>
          </a:solidFill>
          <a:ln w="9525">
            <a:solidFill>
              <a:srgbClr val="B83B2E"/>
            </a:solidFill>
            <a:prstDash val="solid"/>
          </a:ln>
        </p:spPr>
      </p:sp>
      <p:sp>
        <p:nvSpPr>
          <p:cNvPr id="57" name="Text 48"/>
          <p:cNvSpPr txBox="1"/>
          <p:nvPr/>
        </p:nvSpPr>
        <p:spPr>
          <a:xfrm>
            <a:off x="8010144" y="2980944"/>
            <a:ext cx="585216" cy="219456"/>
          </a:xfrm>
          <a:prstGeom prst="rect">
            <a:avLst/>
          </a:prstGeom>
          <a:noFill/>
          <a:ln/>
        </p:spPr>
        <p:txBody>
          <a:bodyPr wrap="square" lIns="0" tIns="0" rIns="0" bIns="0" rtlCol="0" anchor="ctr"/>
          <a:lstStyle/>
          <a:p>
            <a:pPr marL="0" indent="0" algn="ctr">
              <a:buNone/>
            </a:pPr>
            <a:r>
              <a:rPr lang="en-US" sz="750" b="1" dirty="0">
                <a:solidFill>
                  <a:srgbClr val="B83B2E"/>
                </a:solidFill>
                <a:latin typeface="Calibri" pitchFamily="34" charset="0"/>
                <a:ea typeface="Calibri" pitchFamily="34" charset="-122"/>
                <a:cs typeface="Calibri" pitchFamily="34" charset="-120"/>
              </a:rPr>
              <a:t>REMOVE</a:t>
            </a:r>
            <a:endParaRPr lang="en-US" sz="750" dirty="0"/>
          </a:p>
        </p:txBody>
      </p:sp>
      <p:sp>
        <p:nvSpPr>
          <p:cNvPr id="58" name="Text 49"/>
          <p:cNvSpPr txBox="1"/>
          <p:nvPr/>
        </p:nvSpPr>
        <p:spPr>
          <a:xfrm>
            <a:off x="6163056" y="3383280"/>
            <a:ext cx="2395728" cy="5943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Moonlight on bright desert sand or salt pans, airglow. Not a human signal at all.</a:t>
            </a:r>
            <a:endParaRPr lang="en-US" sz="950" dirty="0"/>
          </a:p>
        </p:txBody>
      </p:sp>
      <p:sp>
        <p:nvSpPr>
          <p:cNvPr id="59" name="Text 50"/>
          <p:cNvSpPr txBox="1"/>
          <p:nvPr/>
        </p:nvSpPr>
        <p:spPr>
          <a:xfrm>
            <a:off x="457200" y="4224528"/>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Gas flares are catalogued separately by the VIIRS Nightfire product (Earth Observation Group).</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FROM PHOTONS TO DATA · INDICATORS · FOR THE ANALYSE LAB</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Turning an image into a number</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Text 14"/>
          <p:cNvSpPr txBox="1"/>
          <p:nvPr/>
        </p:nvSpPr>
        <p:spPr>
          <a:xfrm>
            <a:off x="457200" y="1298448"/>
            <a:ext cx="2560320" cy="22860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Toy district · radiance per pixel</a:t>
            </a:r>
            <a:endParaRPr lang="en-US" sz="1100" dirty="0"/>
          </a:p>
        </p:txBody>
      </p:sp>
      <p:sp>
        <p:nvSpPr>
          <p:cNvPr id="18" name="Shape 15"/>
          <p:cNvSpPr/>
          <p:nvPr/>
        </p:nvSpPr>
        <p:spPr>
          <a:xfrm>
            <a:off x="548640" y="1600200"/>
            <a:ext cx="566928" cy="566928"/>
          </a:xfrm>
          <a:prstGeom prst="rect">
            <a:avLst/>
          </a:prstGeom>
          <a:solidFill>
            <a:srgbClr val="F4F7F5"/>
          </a:solidFill>
          <a:ln w="19050">
            <a:solidFill>
              <a:srgbClr val="FFFFFF"/>
            </a:solidFill>
            <a:prstDash val="solid"/>
          </a:ln>
        </p:spPr>
      </p:sp>
      <p:sp>
        <p:nvSpPr>
          <p:cNvPr id="19" name="Text 16"/>
          <p:cNvSpPr txBox="1"/>
          <p:nvPr/>
        </p:nvSpPr>
        <p:spPr>
          <a:xfrm>
            <a:off x="548640"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0.1</a:t>
            </a:r>
            <a:endParaRPr lang="en-US" sz="1100" dirty="0"/>
          </a:p>
        </p:txBody>
      </p:sp>
      <p:sp>
        <p:nvSpPr>
          <p:cNvPr id="20" name="Shape 17"/>
          <p:cNvSpPr/>
          <p:nvPr/>
        </p:nvSpPr>
        <p:spPr>
          <a:xfrm>
            <a:off x="1115568" y="1600200"/>
            <a:ext cx="566928" cy="566928"/>
          </a:xfrm>
          <a:prstGeom prst="rect">
            <a:avLst/>
          </a:prstGeom>
          <a:solidFill>
            <a:srgbClr val="F4F7F5"/>
          </a:solidFill>
          <a:ln w="19050">
            <a:solidFill>
              <a:srgbClr val="FFFFFF"/>
            </a:solidFill>
            <a:prstDash val="solid"/>
          </a:ln>
        </p:spPr>
      </p:sp>
      <p:sp>
        <p:nvSpPr>
          <p:cNvPr id="21" name="Text 18"/>
          <p:cNvSpPr txBox="1"/>
          <p:nvPr/>
        </p:nvSpPr>
        <p:spPr>
          <a:xfrm>
            <a:off x="1115568"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0.3</a:t>
            </a:r>
            <a:endParaRPr lang="en-US" sz="1100" dirty="0"/>
          </a:p>
        </p:txBody>
      </p:sp>
      <p:sp>
        <p:nvSpPr>
          <p:cNvPr id="22" name="Shape 19"/>
          <p:cNvSpPr/>
          <p:nvPr/>
        </p:nvSpPr>
        <p:spPr>
          <a:xfrm>
            <a:off x="1682496" y="1600200"/>
            <a:ext cx="566928" cy="566928"/>
          </a:xfrm>
          <a:prstGeom prst="rect">
            <a:avLst/>
          </a:prstGeom>
          <a:solidFill>
            <a:srgbClr val="F4F7F5"/>
          </a:solidFill>
          <a:ln w="19050">
            <a:solidFill>
              <a:srgbClr val="FFFFFF"/>
            </a:solidFill>
            <a:prstDash val="solid"/>
          </a:ln>
        </p:spPr>
      </p:sp>
      <p:sp>
        <p:nvSpPr>
          <p:cNvPr id="23" name="Text 20"/>
          <p:cNvSpPr txBox="1"/>
          <p:nvPr/>
        </p:nvSpPr>
        <p:spPr>
          <a:xfrm>
            <a:off x="1682496"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0.2</a:t>
            </a:r>
            <a:endParaRPr lang="en-US" sz="1100" dirty="0"/>
          </a:p>
        </p:txBody>
      </p:sp>
      <p:sp>
        <p:nvSpPr>
          <p:cNvPr id="24" name="Shape 21"/>
          <p:cNvSpPr/>
          <p:nvPr/>
        </p:nvSpPr>
        <p:spPr>
          <a:xfrm>
            <a:off x="2249424" y="1600200"/>
            <a:ext cx="566928" cy="566928"/>
          </a:xfrm>
          <a:prstGeom prst="rect">
            <a:avLst/>
          </a:prstGeom>
          <a:solidFill>
            <a:srgbClr val="F4F7F5"/>
          </a:solidFill>
          <a:ln w="19050">
            <a:solidFill>
              <a:srgbClr val="FFFFFF"/>
            </a:solidFill>
            <a:prstDash val="solid"/>
          </a:ln>
        </p:spPr>
      </p:sp>
      <p:sp>
        <p:nvSpPr>
          <p:cNvPr id="25" name="Text 22"/>
          <p:cNvSpPr txBox="1"/>
          <p:nvPr/>
        </p:nvSpPr>
        <p:spPr>
          <a:xfrm>
            <a:off x="2249424"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0.0</a:t>
            </a:r>
            <a:endParaRPr lang="en-US" sz="1100" dirty="0"/>
          </a:p>
        </p:txBody>
      </p:sp>
      <p:sp>
        <p:nvSpPr>
          <p:cNvPr id="26" name="Shape 23"/>
          <p:cNvSpPr/>
          <p:nvPr/>
        </p:nvSpPr>
        <p:spPr>
          <a:xfrm>
            <a:off x="548640" y="2167128"/>
            <a:ext cx="566928" cy="566928"/>
          </a:xfrm>
          <a:prstGeom prst="rect">
            <a:avLst/>
          </a:prstGeom>
          <a:solidFill>
            <a:srgbClr val="F4F7F5"/>
          </a:solidFill>
          <a:ln w="19050">
            <a:solidFill>
              <a:srgbClr val="FFFFFF"/>
            </a:solidFill>
            <a:prstDash val="solid"/>
          </a:ln>
        </p:spPr>
      </p:sp>
      <p:sp>
        <p:nvSpPr>
          <p:cNvPr id="27" name="Text 24"/>
          <p:cNvSpPr txBox="1"/>
          <p:nvPr/>
        </p:nvSpPr>
        <p:spPr>
          <a:xfrm>
            <a:off x="548640" y="2167128"/>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0.4</a:t>
            </a:r>
            <a:endParaRPr lang="en-US" sz="1100" dirty="0"/>
          </a:p>
        </p:txBody>
      </p:sp>
      <p:sp>
        <p:nvSpPr>
          <p:cNvPr id="28" name="Shape 25"/>
          <p:cNvSpPr/>
          <p:nvPr/>
        </p:nvSpPr>
        <p:spPr>
          <a:xfrm>
            <a:off x="1115568" y="2167128"/>
            <a:ext cx="566928" cy="566928"/>
          </a:xfrm>
          <a:prstGeom prst="rect">
            <a:avLst/>
          </a:prstGeom>
          <a:solidFill>
            <a:srgbClr val="10A06A"/>
          </a:solidFill>
          <a:ln w="19050">
            <a:solidFill>
              <a:srgbClr val="FFFFFF"/>
            </a:solidFill>
            <a:prstDash val="solid"/>
          </a:ln>
        </p:spPr>
      </p:sp>
      <p:sp>
        <p:nvSpPr>
          <p:cNvPr id="29" name="Text 26"/>
          <p:cNvSpPr txBox="1"/>
          <p:nvPr/>
        </p:nvSpPr>
        <p:spPr>
          <a:xfrm>
            <a:off x="1115568" y="2167128"/>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2.5</a:t>
            </a:r>
            <a:endParaRPr lang="en-US" sz="1100" dirty="0"/>
          </a:p>
        </p:txBody>
      </p:sp>
      <p:sp>
        <p:nvSpPr>
          <p:cNvPr id="30" name="Shape 27"/>
          <p:cNvSpPr/>
          <p:nvPr/>
        </p:nvSpPr>
        <p:spPr>
          <a:xfrm>
            <a:off x="1682496" y="2167128"/>
            <a:ext cx="566928" cy="566928"/>
          </a:xfrm>
          <a:prstGeom prst="rect">
            <a:avLst/>
          </a:prstGeom>
          <a:solidFill>
            <a:srgbClr val="00664A"/>
          </a:solidFill>
          <a:ln w="19050">
            <a:solidFill>
              <a:srgbClr val="FFFFFF"/>
            </a:solidFill>
            <a:prstDash val="solid"/>
          </a:ln>
        </p:spPr>
      </p:sp>
      <p:sp>
        <p:nvSpPr>
          <p:cNvPr id="31" name="Text 28"/>
          <p:cNvSpPr txBox="1"/>
          <p:nvPr/>
        </p:nvSpPr>
        <p:spPr>
          <a:xfrm>
            <a:off x="1682496" y="2167128"/>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6.0</a:t>
            </a:r>
            <a:endParaRPr lang="en-US" sz="1100" dirty="0"/>
          </a:p>
        </p:txBody>
      </p:sp>
      <p:sp>
        <p:nvSpPr>
          <p:cNvPr id="32" name="Shape 29"/>
          <p:cNvSpPr/>
          <p:nvPr/>
        </p:nvSpPr>
        <p:spPr>
          <a:xfrm>
            <a:off x="2249424" y="2167128"/>
            <a:ext cx="566928" cy="566928"/>
          </a:xfrm>
          <a:prstGeom prst="rect">
            <a:avLst/>
          </a:prstGeom>
          <a:solidFill>
            <a:srgbClr val="7BCBA9"/>
          </a:solidFill>
          <a:ln w="19050">
            <a:solidFill>
              <a:srgbClr val="FFFFFF"/>
            </a:solidFill>
            <a:prstDash val="solid"/>
          </a:ln>
        </p:spPr>
      </p:sp>
      <p:sp>
        <p:nvSpPr>
          <p:cNvPr id="33" name="Text 30"/>
          <p:cNvSpPr txBox="1"/>
          <p:nvPr/>
        </p:nvSpPr>
        <p:spPr>
          <a:xfrm>
            <a:off x="2249424" y="2167128"/>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0.6</a:t>
            </a:r>
            <a:endParaRPr lang="en-US" sz="1100" dirty="0"/>
          </a:p>
        </p:txBody>
      </p:sp>
      <p:sp>
        <p:nvSpPr>
          <p:cNvPr id="34" name="Shape 31"/>
          <p:cNvSpPr/>
          <p:nvPr/>
        </p:nvSpPr>
        <p:spPr>
          <a:xfrm>
            <a:off x="548640" y="2734056"/>
            <a:ext cx="566928" cy="566928"/>
          </a:xfrm>
          <a:prstGeom prst="rect">
            <a:avLst/>
          </a:prstGeom>
          <a:solidFill>
            <a:srgbClr val="F4F7F5"/>
          </a:solidFill>
          <a:ln w="19050">
            <a:solidFill>
              <a:srgbClr val="FFFFFF"/>
            </a:solidFill>
            <a:prstDash val="solid"/>
          </a:ln>
        </p:spPr>
      </p:sp>
      <p:sp>
        <p:nvSpPr>
          <p:cNvPr id="35" name="Text 32"/>
          <p:cNvSpPr txBox="1"/>
          <p:nvPr/>
        </p:nvSpPr>
        <p:spPr>
          <a:xfrm>
            <a:off x="548640" y="2734056"/>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0.2</a:t>
            </a:r>
            <a:endParaRPr lang="en-US" sz="1100" dirty="0"/>
          </a:p>
        </p:txBody>
      </p:sp>
      <p:sp>
        <p:nvSpPr>
          <p:cNvPr id="36" name="Shape 33"/>
          <p:cNvSpPr/>
          <p:nvPr/>
        </p:nvSpPr>
        <p:spPr>
          <a:xfrm>
            <a:off x="1115568" y="2734056"/>
            <a:ext cx="566928" cy="566928"/>
          </a:xfrm>
          <a:prstGeom prst="rect">
            <a:avLst/>
          </a:prstGeom>
          <a:solidFill>
            <a:srgbClr val="10A06A"/>
          </a:solidFill>
          <a:ln w="19050">
            <a:solidFill>
              <a:srgbClr val="FFFFFF"/>
            </a:solidFill>
            <a:prstDash val="solid"/>
          </a:ln>
        </p:spPr>
      </p:sp>
      <p:sp>
        <p:nvSpPr>
          <p:cNvPr id="37" name="Text 34"/>
          <p:cNvSpPr txBox="1"/>
          <p:nvPr/>
        </p:nvSpPr>
        <p:spPr>
          <a:xfrm>
            <a:off x="1115568" y="2734056"/>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4.0</a:t>
            </a:r>
            <a:endParaRPr lang="en-US" sz="1100" dirty="0"/>
          </a:p>
        </p:txBody>
      </p:sp>
      <p:sp>
        <p:nvSpPr>
          <p:cNvPr id="38" name="Shape 35"/>
          <p:cNvSpPr/>
          <p:nvPr/>
        </p:nvSpPr>
        <p:spPr>
          <a:xfrm>
            <a:off x="1682496" y="2734056"/>
            <a:ext cx="566928" cy="566928"/>
          </a:xfrm>
          <a:prstGeom prst="rect">
            <a:avLst/>
          </a:prstGeom>
          <a:solidFill>
            <a:srgbClr val="00664A"/>
          </a:solidFill>
          <a:ln w="19050">
            <a:solidFill>
              <a:srgbClr val="FFFFFF"/>
            </a:solidFill>
            <a:prstDash val="solid"/>
          </a:ln>
        </p:spPr>
      </p:sp>
      <p:sp>
        <p:nvSpPr>
          <p:cNvPr id="39" name="Text 36"/>
          <p:cNvSpPr txBox="1"/>
          <p:nvPr/>
        </p:nvSpPr>
        <p:spPr>
          <a:xfrm>
            <a:off x="1682496" y="2734056"/>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12.0</a:t>
            </a:r>
            <a:endParaRPr lang="en-US" sz="1100" dirty="0"/>
          </a:p>
        </p:txBody>
      </p:sp>
      <p:sp>
        <p:nvSpPr>
          <p:cNvPr id="40" name="Shape 37"/>
          <p:cNvSpPr/>
          <p:nvPr/>
        </p:nvSpPr>
        <p:spPr>
          <a:xfrm>
            <a:off x="2249424" y="2734056"/>
            <a:ext cx="566928" cy="566928"/>
          </a:xfrm>
          <a:prstGeom prst="rect">
            <a:avLst/>
          </a:prstGeom>
          <a:solidFill>
            <a:srgbClr val="7BCBA9"/>
          </a:solidFill>
          <a:ln w="19050">
            <a:solidFill>
              <a:srgbClr val="FFFFFF"/>
            </a:solidFill>
            <a:prstDash val="solid"/>
          </a:ln>
        </p:spPr>
      </p:sp>
      <p:sp>
        <p:nvSpPr>
          <p:cNvPr id="41" name="Text 38"/>
          <p:cNvSpPr txBox="1"/>
          <p:nvPr/>
        </p:nvSpPr>
        <p:spPr>
          <a:xfrm>
            <a:off x="2249424" y="2734056"/>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1.5</a:t>
            </a:r>
            <a:endParaRPr lang="en-US" sz="1100" dirty="0"/>
          </a:p>
        </p:txBody>
      </p:sp>
      <p:sp>
        <p:nvSpPr>
          <p:cNvPr id="42" name="Shape 39"/>
          <p:cNvSpPr/>
          <p:nvPr/>
        </p:nvSpPr>
        <p:spPr>
          <a:xfrm>
            <a:off x="548640" y="3300984"/>
            <a:ext cx="566928" cy="566928"/>
          </a:xfrm>
          <a:prstGeom prst="rect">
            <a:avLst/>
          </a:prstGeom>
          <a:solidFill>
            <a:srgbClr val="F4F7F5"/>
          </a:solidFill>
          <a:ln w="19050">
            <a:solidFill>
              <a:srgbClr val="FFFFFF"/>
            </a:solidFill>
            <a:prstDash val="solid"/>
          </a:ln>
        </p:spPr>
      </p:sp>
      <p:sp>
        <p:nvSpPr>
          <p:cNvPr id="43" name="Text 40"/>
          <p:cNvSpPr txBox="1"/>
          <p:nvPr/>
        </p:nvSpPr>
        <p:spPr>
          <a:xfrm>
            <a:off x="548640" y="3300984"/>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0.0</a:t>
            </a:r>
            <a:endParaRPr lang="en-US" sz="1100" dirty="0"/>
          </a:p>
        </p:txBody>
      </p:sp>
      <p:sp>
        <p:nvSpPr>
          <p:cNvPr id="44" name="Shape 41"/>
          <p:cNvSpPr/>
          <p:nvPr/>
        </p:nvSpPr>
        <p:spPr>
          <a:xfrm>
            <a:off x="1115568" y="3300984"/>
            <a:ext cx="566928" cy="566928"/>
          </a:xfrm>
          <a:prstGeom prst="rect">
            <a:avLst/>
          </a:prstGeom>
          <a:solidFill>
            <a:srgbClr val="7BCBA9"/>
          </a:solidFill>
          <a:ln w="19050">
            <a:solidFill>
              <a:srgbClr val="FFFFFF"/>
            </a:solidFill>
            <a:prstDash val="solid"/>
          </a:ln>
        </p:spPr>
      </p:sp>
      <p:sp>
        <p:nvSpPr>
          <p:cNvPr id="45" name="Text 42"/>
          <p:cNvSpPr txBox="1"/>
          <p:nvPr/>
        </p:nvSpPr>
        <p:spPr>
          <a:xfrm>
            <a:off x="1115568" y="3300984"/>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0.8</a:t>
            </a:r>
            <a:endParaRPr lang="en-US" sz="1100" dirty="0"/>
          </a:p>
        </p:txBody>
      </p:sp>
      <p:sp>
        <p:nvSpPr>
          <p:cNvPr id="46" name="Shape 43"/>
          <p:cNvSpPr/>
          <p:nvPr/>
        </p:nvSpPr>
        <p:spPr>
          <a:xfrm>
            <a:off x="1682496" y="3300984"/>
            <a:ext cx="566928" cy="566928"/>
          </a:xfrm>
          <a:prstGeom prst="rect">
            <a:avLst/>
          </a:prstGeom>
          <a:solidFill>
            <a:srgbClr val="7BCBA9"/>
          </a:solidFill>
          <a:ln w="19050">
            <a:solidFill>
              <a:srgbClr val="FFFFFF"/>
            </a:solidFill>
            <a:prstDash val="solid"/>
          </a:ln>
        </p:spPr>
      </p:sp>
      <p:sp>
        <p:nvSpPr>
          <p:cNvPr id="47" name="Text 44"/>
          <p:cNvSpPr txBox="1"/>
          <p:nvPr/>
        </p:nvSpPr>
        <p:spPr>
          <a:xfrm>
            <a:off x="1682496" y="3300984"/>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1.2</a:t>
            </a:r>
            <a:endParaRPr lang="en-US" sz="1100" dirty="0"/>
          </a:p>
        </p:txBody>
      </p:sp>
      <p:sp>
        <p:nvSpPr>
          <p:cNvPr id="48" name="Shape 45"/>
          <p:cNvSpPr/>
          <p:nvPr/>
        </p:nvSpPr>
        <p:spPr>
          <a:xfrm>
            <a:off x="2249424" y="3300984"/>
            <a:ext cx="566928" cy="566928"/>
          </a:xfrm>
          <a:prstGeom prst="rect">
            <a:avLst/>
          </a:prstGeom>
          <a:solidFill>
            <a:srgbClr val="F4F7F5"/>
          </a:solidFill>
          <a:ln w="19050">
            <a:solidFill>
              <a:srgbClr val="FFFFFF"/>
            </a:solidFill>
            <a:prstDash val="solid"/>
          </a:ln>
        </p:spPr>
      </p:sp>
      <p:sp>
        <p:nvSpPr>
          <p:cNvPr id="49" name="Text 46"/>
          <p:cNvSpPr txBox="1"/>
          <p:nvPr/>
        </p:nvSpPr>
        <p:spPr>
          <a:xfrm>
            <a:off x="2249424" y="3300984"/>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0.3</a:t>
            </a:r>
            <a:endParaRPr lang="en-US" sz="1100" dirty="0"/>
          </a:p>
        </p:txBody>
      </p:sp>
      <p:sp>
        <p:nvSpPr>
          <p:cNvPr id="50" name="Text 47"/>
          <p:cNvSpPr txBox="1"/>
          <p:nvPr/>
        </p:nvSpPr>
        <p:spPr>
          <a:xfrm>
            <a:off x="457200" y="3931920"/>
            <a:ext cx="2560320" cy="201168"/>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Shaded = above threshold 0.5 nW·cm⁻²·sr⁻¹</a:t>
            </a:r>
            <a:endParaRPr lang="en-US" sz="900" dirty="0"/>
          </a:p>
        </p:txBody>
      </p:sp>
      <p:sp>
        <p:nvSpPr>
          <p:cNvPr id="51" name="Shape 48"/>
          <p:cNvSpPr/>
          <p:nvPr/>
        </p:nvSpPr>
        <p:spPr>
          <a:xfrm>
            <a:off x="3154680" y="1325880"/>
            <a:ext cx="5532120" cy="749808"/>
          </a:xfrm>
          <a:prstGeom prst="roundRect">
            <a:avLst>
              <a:gd name="adj" fmla="val 9756"/>
            </a:avLst>
          </a:prstGeom>
          <a:solidFill>
            <a:srgbClr val="F4F7F5"/>
          </a:solidFill>
          <a:ln w="9525">
            <a:solidFill>
              <a:srgbClr val="D5DED9"/>
            </a:solidFill>
            <a:prstDash val="solid"/>
          </a:ln>
        </p:spPr>
      </p:sp>
      <p:sp>
        <p:nvSpPr>
          <p:cNvPr id="52" name="Text 49"/>
          <p:cNvSpPr txBox="1"/>
          <p:nvPr/>
        </p:nvSpPr>
        <p:spPr>
          <a:xfrm>
            <a:off x="3246120" y="1399032"/>
            <a:ext cx="1051560" cy="603504"/>
          </a:xfrm>
          <a:prstGeom prst="rect">
            <a:avLst/>
          </a:prstGeom>
          <a:noFill/>
          <a:ln/>
        </p:spPr>
        <p:txBody>
          <a:bodyPr wrap="square" lIns="0" tIns="0" rIns="0" bIns="0" rtlCol="0" anchor="ctr"/>
          <a:lstStyle/>
          <a:p>
            <a:pPr marL="0" indent="0" algn="ctr">
              <a:buNone/>
            </a:pPr>
            <a:r>
              <a:rPr lang="en-US" sz="2800" b="1" dirty="0">
                <a:solidFill>
                  <a:srgbClr val="00A86A"/>
                </a:solidFill>
                <a:latin typeface="Calibri" pitchFamily="34" charset="0"/>
                <a:ea typeface="Calibri" pitchFamily="34" charset="-122"/>
                <a:cs typeface="Calibri" pitchFamily="34" charset="-120"/>
              </a:rPr>
              <a:t>30.1</a:t>
            </a:r>
            <a:endParaRPr lang="en-US" sz="2800" dirty="0"/>
          </a:p>
        </p:txBody>
      </p:sp>
      <p:sp>
        <p:nvSpPr>
          <p:cNvPr id="53" name="Text 50"/>
          <p:cNvSpPr txBox="1"/>
          <p:nvPr/>
        </p:nvSpPr>
        <p:spPr>
          <a:xfrm>
            <a:off x="4389120" y="1399032"/>
            <a:ext cx="4206240" cy="22860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Sum of Lights (SOL)</a:t>
            </a:r>
            <a:endParaRPr lang="en-US" sz="1250" dirty="0"/>
          </a:p>
        </p:txBody>
      </p:sp>
      <p:sp>
        <p:nvSpPr>
          <p:cNvPr id="54" name="Text 51"/>
          <p:cNvSpPr txBox="1"/>
          <p:nvPr/>
        </p:nvSpPr>
        <p:spPr>
          <a:xfrm>
            <a:off x="4389120" y="1636776"/>
            <a:ext cx="4206240" cy="411480"/>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Total radiance inside a boundary. </a:t>
            </a:r>
            <a:r>
              <a:rPr lang="en-US" sz="950" dirty="0">
                <a:solidFill>
                  <a:srgbClr val="5E6964"/>
                </a:solidFill>
                <a:latin typeface="Calibri" pitchFamily="34" charset="0"/>
                <a:ea typeface="Calibri" pitchFamily="34" charset="-122"/>
                <a:cs typeface="Calibri" pitchFamily="34" charset="-120"/>
              </a:rPr>
              <a:t>Workhorse of the economics literature; most sensitive to background noise.</a:t>
            </a:r>
            <a:endParaRPr lang="en-US" sz="950" dirty="0"/>
          </a:p>
        </p:txBody>
      </p:sp>
      <p:sp>
        <p:nvSpPr>
          <p:cNvPr id="55" name="Shape 52"/>
          <p:cNvSpPr/>
          <p:nvPr/>
        </p:nvSpPr>
        <p:spPr>
          <a:xfrm>
            <a:off x="3154680" y="2194560"/>
            <a:ext cx="5532120" cy="749808"/>
          </a:xfrm>
          <a:prstGeom prst="roundRect">
            <a:avLst>
              <a:gd name="adj" fmla="val 9756"/>
            </a:avLst>
          </a:prstGeom>
          <a:solidFill>
            <a:srgbClr val="F4F7F5"/>
          </a:solidFill>
          <a:ln w="9525">
            <a:solidFill>
              <a:srgbClr val="D5DED9"/>
            </a:solidFill>
            <a:prstDash val="solid"/>
          </a:ln>
        </p:spPr>
      </p:sp>
      <p:sp>
        <p:nvSpPr>
          <p:cNvPr id="56" name="Text 53"/>
          <p:cNvSpPr txBox="1"/>
          <p:nvPr/>
        </p:nvSpPr>
        <p:spPr>
          <a:xfrm>
            <a:off x="3246120" y="2267712"/>
            <a:ext cx="1051560" cy="603504"/>
          </a:xfrm>
          <a:prstGeom prst="rect">
            <a:avLst/>
          </a:prstGeom>
          <a:noFill/>
          <a:ln/>
        </p:spPr>
        <p:txBody>
          <a:bodyPr wrap="square" lIns="0" tIns="0" rIns="0" bIns="0" rtlCol="0" anchor="ctr"/>
          <a:lstStyle/>
          <a:p>
            <a:pPr marL="0" indent="0" algn="ctr">
              <a:buNone/>
            </a:pPr>
            <a:r>
              <a:rPr lang="en-US" sz="2800" b="1" dirty="0">
                <a:solidFill>
                  <a:srgbClr val="00704A"/>
                </a:solidFill>
                <a:latin typeface="Calibri" pitchFamily="34" charset="0"/>
                <a:ea typeface="Calibri" pitchFamily="34" charset="-122"/>
                <a:cs typeface="Calibri" pitchFamily="34" charset="-120"/>
              </a:rPr>
              <a:t>8 px</a:t>
            </a:r>
            <a:endParaRPr lang="en-US" sz="2800" dirty="0"/>
          </a:p>
        </p:txBody>
      </p:sp>
      <p:sp>
        <p:nvSpPr>
          <p:cNvPr id="57" name="Text 54"/>
          <p:cNvSpPr txBox="1"/>
          <p:nvPr/>
        </p:nvSpPr>
        <p:spPr>
          <a:xfrm>
            <a:off x="4389120" y="2267712"/>
            <a:ext cx="4206240" cy="22860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Lit area</a:t>
            </a:r>
            <a:endParaRPr lang="en-US" sz="1250" dirty="0"/>
          </a:p>
        </p:txBody>
      </p:sp>
      <p:sp>
        <p:nvSpPr>
          <p:cNvPr id="58" name="Text 55"/>
          <p:cNvSpPr txBox="1"/>
          <p:nvPr/>
        </p:nvSpPr>
        <p:spPr>
          <a:xfrm>
            <a:off x="4389120" y="2505456"/>
            <a:ext cx="4206240" cy="411480"/>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Pixels above a chosen threshold. </a:t>
            </a:r>
            <a:r>
              <a:rPr lang="en-US" sz="950" dirty="0">
                <a:solidFill>
                  <a:srgbClr val="5E6964"/>
                </a:solidFill>
                <a:latin typeface="Calibri" pitchFamily="34" charset="0"/>
                <a:ea typeface="Calibri" pitchFamily="34" charset="-122"/>
                <a:cs typeface="Calibri" pitchFamily="34" charset="-120"/>
              </a:rPr>
              <a:t>Intuitive — but the threshold is a researcher choice.</a:t>
            </a:r>
            <a:endParaRPr lang="en-US" sz="950" dirty="0"/>
          </a:p>
        </p:txBody>
      </p:sp>
      <p:sp>
        <p:nvSpPr>
          <p:cNvPr id="59" name="Shape 56"/>
          <p:cNvSpPr/>
          <p:nvPr/>
        </p:nvSpPr>
        <p:spPr>
          <a:xfrm>
            <a:off x="3154680" y="3063240"/>
            <a:ext cx="5532120" cy="749808"/>
          </a:xfrm>
          <a:prstGeom prst="roundRect">
            <a:avLst>
              <a:gd name="adj" fmla="val 9756"/>
            </a:avLst>
          </a:prstGeom>
          <a:solidFill>
            <a:srgbClr val="F4F7F5"/>
          </a:solidFill>
          <a:ln w="9525">
            <a:solidFill>
              <a:srgbClr val="D5DED9"/>
            </a:solidFill>
            <a:prstDash val="solid"/>
          </a:ln>
        </p:spPr>
      </p:sp>
      <p:sp>
        <p:nvSpPr>
          <p:cNvPr id="60" name="Text 57"/>
          <p:cNvSpPr txBox="1"/>
          <p:nvPr/>
        </p:nvSpPr>
        <p:spPr>
          <a:xfrm>
            <a:off x="3246120" y="3136392"/>
            <a:ext cx="1051560" cy="603504"/>
          </a:xfrm>
          <a:prstGeom prst="rect">
            <a:avLst/>
          </a:prstGeom>
          <a:noFill/>
          <a:ln/>
        </p:spPr>
        <p:txBody>
          <a:bodyPr wrap="square" lIns="0" tIns="0" rIns="0" bIns="0" rtlCol="0" anchor="ctr"/>
          <a:lstStyle/>
          <a:p>
            <a:pPr marL="0" indent="0" algn="ctr">
              <a:buNone/>
            </a:pPr>
            <a:r>
              <a:rPr lang="en-US" sz="2800" b="1" dirty="0">
                <a:solidFill>
                  <a:srgbClr val="0E7C86"/>
                </a:solidFill>
                <a:latin typeface="Calibri" pitchFamily="34" charset="0"/>
                <a:ea typeface="Calibri" pitchFamily="34" charset="-122"/>
                <a:cs typeface="Calibri" pitchFamily="34" charset="-120"/>
              </a:rPr>
              <a:t>3.6</a:t>
            </a:r>
            <a:endParaRPr lang="en-US" sz="2800" dirty="0"/>
          </a:p>
        </p:txBody>
      </p:sp>
      <p:sp>
        <p:nvSpPr>
          <p:cNvPr id="61" name="Text 58"/>
          <p:cNvSpPr txBox="1"/>
          <p:nvPr/>
        </p:nvSpPr>
        <p:spPr>
          <a:xfrm>
            <a:off x="4389120" y="3136392"/>
            <a:ext cx="4206240" cy="22860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Mean radiance (lit)</a:t>
            </a:r>
            <a:endParaRPr lang="en-US" sz="1250" dirty="0"/>
          </a:p>
        </p:txBody>
      </p:sp>
      <p:sp>
        <p:nvSpPr>
          <p:cNvPr id="62" name="Text 59"/>
          <p:cNvSpPr txBox="1"/>
          <p:nvPr/>
        </p:nvSpPr>
        <p:spPr>
          <a:xfrm>
            <a:off x="4389120" y="3374136"/>
            <a:ext cx="4206240" cy="411480"/>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Brightness independent of extent. </a:t>
            </a:r>
            <a:r>
              <a:rPr lang="en-US" sz="950" dirty="0">
                <a:solidFill>
                  <a:srgbClr val="5E6964"/>
                </a:solidFill>
                <a:latin typeface="Calibri" pitchFamily="34" charset="0"/>
                <a:ea typeface="Calibri" pitchFamily="34" charset="-122"/>
                <a:cs typeface="Calibri" pitchFamily="34" charset="-120"/>
              </a:rPr>
              <a:t>Separates a district getting brighter from one getting bigger.</a:t>
            </a:r>
            <a:endParaRPr lang="en-US" sz="950" dirty="0"/>
          </a:p>
        </p:txBody>
      </p:sp>
      <p:sp>
        <p:nvSpPr>
          <p:cNvPr id="63" name="Shape 60"/>
          <p:cNvSpPr/>
          <p:nvPr/>
        </p:nvSpPr>
        <p:spPr>
          <a:xfrm>
            <a:off x="3154680" y="3977640"/>
            <a:ext cx="5532120" cy="594360"/>
          </a:xfrm>
          <a:prstGeom prst="roundRect">
            <a:avLst>
              <a:gd name="adj" fmla="val 12308"/>
            </a:avLst>
          </a:prstGeom>
          <a:solidFill>
            <a:srgbClr val="D49A00">
              <a:alpha val="13000"/>
            </a:srgbClr>
          </a:solidFill>
          <a:ln w="12700">
            <a:solidFill>
              <a:srgbClr val="D49A00"/>
            </a:solidFill>
            <a:prstDash val="solid"/>
          </a:ln>
        </p:spPr>
      </p:sp>
      <p:sp>
        <p:nvSpPr>
          <p:cNvPr id="64" name="Shape 61"/>
          <p:cNvSpPr/>
          <p:nvPr/>
        </p:nvSpPr>
        <p:spPr>
          <a:xfrm>
            <a:off x="3246120" y="4078224"/>
            <a:ext cx="365760" cy="365760"/>
          </a:xfrm>
          <a:prstGeom prst="ellipse">
            <a:avLst/>
          </a:prstGeom>
          <a:solidFill>
            <a:srgbClr val="D49A00">
              <a:alpha val="22000"/>
            </a:srgbClr>
          </a:solidFill>
          <a:ln w="12700">
            <a:solidFill>
              <a:srgbClr val="D49A00">
                <a:alpha val="0"/>
              </a:srgbClr>
            </a:solidFill>
            <a:prstDash val="solid"/>
          </a:ln>
        </p:spPr>
      </p:sp>
      <p:pic>
        <p:nvPicPr>
          <p:cNvPr id="65" name="Image 0" descr="preencoded.png"/>
          <p:cNvPicPr>
            <a:picLocks noChangeAspect="1"/>
          </p:cNvPicPr>
          <p:nvPr/>
        </p:nvPicPr>
        <p:blipFill>
          <a:blip r:embed="rId3"/>
          <a:stretch>
            <a:fillRect/>
          </a:stretch>
        </p:blipFill>
        <p:spPr>
          <a:xfrm>
            <a:off x="3341218" y="4173322"/>
            <a:ext cx="175565" cy="175565"/>
          </a:xfrm>
          <a:prstGeom prst="rect">
            <a:avLst/>
          </a:prstGeom>
        </p:spPr>
      </p:pic>
      <p:sp>
        <p:nvSpPr>
          <p:cNvPr id="66" name="Text 62"/>
          <p:cNvSpPr txBox="1"/>
          <p:nvPr/>
        </p:nvSpPr>
        <p:spPr>
          <a:xfrm>
            <a:off x="3703320" y="4005072"/>
            <a:ext cx="4892040" cy="54864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Raise the threshold to 1.0 → lit area falls from 8 to 6 pixels (−25%). </a:t>
            </a:r>
            <a:r>
              <a:rPr lang="en-US" sz="1000" dirty="0">
                <a:solidFill>
                  <a:srgbClr val="231F20"/>
                </a:solidFill>
                <a:latin typeface="Calibri" pitchFamily="34" charset="0"/>
                <a:ea typeface="Calibri" pitchFamily="34" charset="-122"/>
                <a:cs typeface="Calibri" pitchFamily="34" charset="-120"/>
              </a:rPr>
              <a:t>Always report product, version, boundary, threshold and masks — and test the threshold.</a:t>
            </a:r>
            <a:endParaRPr lang="en-US" sz="1000" dirty="0"/>
          </a:p>
        </p:txBody>
      </p:sp>
      <p:sp>
        <p:nvSpPr>
          <p:cNvPr id="67" name="Text 63"/>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Illustrative values. Light concentration (Gini of radiance) is a fourth family, used for spatial inequality.</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FROM PHOTONS TO DATA · WORKED EXAMPLE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One question, end to end</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Shape 14"/>
          <p:cNvSpPr/>
          <p:nvPr/>
        </p:nvSpPr>
        <p:spPr>
          <a:xfrm>
            <a:off x="457200" y="1298448"/>
            <a:ext cx="8229600" cy="457200"/>
          </a:xfrm>
          <a:prstGeom prst="roundRect">
            <a:avLst>
              <a:gd name="adj" fmla="val 16000"/>
            </a:avLst>
          </a:prstGeom>
          <a:solidFill>
            <a:srgbClr val="E8F5EF"/>
          </a:solidFill>
          <a:ln w="15875">
            <a:solidFill>
              <a:srgbClr val="00A86A"/>
            </a:solidFill>
            <a:prstDash val="solid"/>
          </a:ln>
        </p:spPr>
      </p:sp>
      <p:sp>
        <p:nvSpPr>
          <p:cNvPr id="18" name="Shape 15"/>
          <p:cNvSpPr/>
          <p:nvPr/>
        </p:nvSpPr>
        <p:spPr>
          <a:xfrm>
            <a:off x="548640" y="1344168"/>
            <a:ext cx="365760" cy="36576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643738" y="1439266"/>
            <a:ext cx="175565" cy="175565"/>
          </a:xfrm>
          <a:prstGeom prst="rect">
            <a:avLst/>
          </a:prstGeom>
        </p:spPr>
      </p:pic>
      <p:sp>
        <p:nvSpPr>
          <p:cNvPr id="20" name="Text 16"/>
          <p:cNvSpPr txBox="1"/>
          <p:nvPr/>
        </p:nvSpPr>
        <p:spPr>
          <a:xfrm>
            <a:off x="1005840" y="1298448"/>
            <a:ext cx="7589520" cy="457200"/>
          </a:xfrm>
          <a:prstGeom prst="rect">
            <a:avLst/>
          </a:prstGeom>
          <a:noFill/>
          <a:ln/>
        </p:spPr>
        <p:txBody>
          <a:bodyPr wrap="square" lIns="0" tIns="0" rIns="0" bIns="0" rtlCol="0" anchor="ctr"/>
          <a:lstStyle/>
          <a:p>
            <a:pPr marL="0" indent="0">
              <a:buNone/>
            </a:pPr>
            <a:r>
              <a:rPr lang="en-US" sz="1400" b="1" i="1" dirty="0">
                <a:solidFill>
                  <a:srgbClr val="00704A"/>
                </a:solidFill>
                <a:latin typeface="Calibri" pitchFamily="34" charset="0"/>
                <a:ea typeface="Calibri" pitchFamily="34" charset="-122"/>
                <a:cs typeface="Calibri" pitchFamily="34" charset="-120"/>
              </a:rPr>
              <a:t>Did the 2023 mini-grid programme actually bring light to its target villages?</a:t>
            </a:r>
            <a:endParaRPr lang="en-US" sz="1400" dirty="0"/>
          </a:p>
        </p:txBody>
      </p:sp>
      <p:sp>
        <p:nvSpPr>
          <p:cNvPr id="21" name="Shape 17"/>
          <p:cNvSpPr/>
          <p:nvPr/>
        </p:nvSpPr>
        <p:spPr>
          <a:xfrm>
            <a:off x="457200" y="1892808"/>
            <a:ext cx="2651760" cy="1207008"/>
          </a:xfrm>
          <a:prstGeom prst="roundRect">
            <a:avLst>
              <a:gd name="adj" fmla="val 6061"/>
            </a:avLst>
          </a:prstGeom>
          <a:solidFill>
            <a:srgbClr val="F4F7F5"/>
          </a:solidFill>
          <a:ln w="9525">
            <a:solidFill>
              <a:srgbClr val="D5DED9"/>
            </a:solidFill>
            <a:prstDash val="solid"/>
          </a:ln>
        </p:spPr>
      </p:sp>
      <p:sp>
        <p:nvSpPr>
          <p:cNvPr id="22" name="Shape 18"/>
          <p:cNvSpPr/>
          <p:nvPr/>
        </p:nvSpPr>
        <p:spPr>
          <a:xfrm>
            <a:off x="566928" y="2002536"/>
            <a:ext cx="329184" cy="329184"/>
          </a:xfrm>
          <a:prstGeom prst="ellipse">
            <a:avLst/>
          </a:prstGeom>
          <a:solidFill>
            <a:srgbClr val="0E7C86"/>
          </a:solidFill>
          <a:ln w="12700">
            <a:solidFill>
              <a:srgbClr val="0E7C86"/>
            </a:solidFill>
            <a:prstDash val="solid"/>
          </a:ln>
        </p:spPr>
      </p:sp>
      <p:sp>
        <p:nvSpPr>
          <p:cNvPr id="23" name="Text 19"/>
          <p:cNvSpPr txBox="1"/>
          <p:nvPr/>
        </p:nvSpPr>
        <p:spPr>
          <a:xfrm>
            <a:off x="566928" y="2002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4" name="Text 20"/>
          <p:cNvSpPr txBox="1"/>
          <p:nvPr/>
        </p:nvSpPr>
        <p:spPr>
          <a:xfrm>
            <a:off x="987552" y="2002536"/>
            <a:ext cx="2029968" cy="329184"/>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State the claim in light terms</a:t>
            </a:r>
            <a:endParaRPr lang="en-US" sz="1200" dirty="0"/>
          </a:p>
        </p:txBody>
      </p:sp>
      <p:sp>
        <p:nvSpPr>
          <p:cNvPr id="25" name="Text 21"/>
          <p:cNvSpPr txBox="1"/>
          <p:nvPr/>
        </p:nvSpPr>
        <p:spPr>
          <a:xfrm>
            <a:off x="585216" y="2404872"/>
            <a:ext cx="2414016"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Electrified villages should show more nights above their background radiance after commissioning.</a:t>
            </a:r>
            <a:endParaRPr lang="en-US" sz="950" dirty="0"/>
          </a:p>
        </p:txBody>
      </p:sp>
      <p:sp>
        <p:nvSpPr>
          <p:cNvPr id="26" name="Shape 22"/>
          <p:cNvSpPr/>
          <p:nvPr/>
        </p:nvSpPr>
        <p:spPr>
          <a:xfrm>
            <a:off x="3246120" y="1892808"/>
            <a:ext cx="2651760" cy="1207008"/>
          </a:xfrm>
          <a:prstGeom prst="roundRect">
            <a:avLst>
              <a:gd name="adj" fmla="val 6061"/>
            </a:avLst>
          </a:prstGeom>
          <a:solidFill>
            <a:srgbClr val="F4F7F5"/>
          </a:solidFill>
          <a:ln w="9525">
            <a:solidFill>
              <a:srgbClr val="D5DED9"/>
            </a:solidFill>
            <a:prstDash val="solid"/>
          </a:ln>
        </p:spPr>
      </p:sp>
      <p:sp>
        <p:nvSpPr>
          <p:cNvPr id="27" name="Shape 23"/>
          <p:cNvSpPr/>
          <p:nvPr/>
        </p:nvSpPr>
        <p:spPr>
          <a:xfrm>
            <a:off x="3355848" y="2002536"/>
            <a:ext cx="329184" cy="329184"/>
          </a:xfrm>
          <a:prstGeom prst="ellipse">
            <a:avLst/>
          </a:prstGeom>
          <a:solidFill>
            <a:srgbClr val="0E7C86"/>
          </a:solidFill>
          <a:ln w="12700">
            <a:solidFill>
              <a:srgbClr val="0E7C86"/>
            </a:solidFill>
            <a:prstDash val="solid"/>
          </a:ln>
        </p:spPr>
      </p:sp>
      <p:sp>
        <p:nvSpPr>
          <p:cNvPr id="28" name="Text 24"/>
          <p:cNvSpPr txBox="1"/>
          <p:nvPr/>
        </p:nvSpPr>
        <p:spPr>
          <a:xfrm>
            <a:off x="3355848" y="2002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Text 25"/>
          <p:cNvSpPr txBox="1"/>
          <p:nvPr/>
        </p:nvSpPr>
        <p:spPr>
          <a:xfrm>
            <a:off x="3776472" y="2002536"/>
            <a:ext cx="2029968" cy="329184"/>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Choose the product</a:t>
            </a:r>
            <a:endParaRPr lang="en-US" sz="1200" dirty="0"/>
          </a:p>
        </p:txBody>
      </p:sp>
      <p:sp>
        <p:nvSpPr>
          <p:cNvPr id="30" name="Text 26"/>
          <p:cNvSpPr txBox="1"/>
          <p:nvPr/>
        </p:nvSpPr>
        <p:spPr>
          <a:xfrm>
            <a:off x="3374136" y="2404872"/>
            <a:ext cx="2414016"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VNP46A3 monthly to date the change; VNP46A2 daily if you also want reliability. Record the version.</a:t>
            </a:r>
            <a:endParaRPr lang="en-US" sz="950" dirty="0"/>
          </a:p>
        </p:txBody>
      </p:sp>
      <p:sp>
        <p:nvSpPr>
          <p:cNvPr id="31" name="Shape 27"/>
          <p:cNvSpPr/>
          <p:nvPr/>
        </p:nvSpPr>
        <p:spPr>
          <a:xfrm>
            <a:off x="6035040" y="1892808"/>
            <a:ext cx="2651760" cy="1207008"/>
          </a:xfrm>
          <a:prstGeom prst="roundRect">
            <a:avLst>
              <a:gd name="adj" fmla="val 6061"/>
            </a:avLst>
          </a:prstGeom>
          <a:solidFill>
            <a:srgbClr val="F4F7F5"/>
          </a:solidFill>
          <a:ln w="9525">
            <a:solidFill>
              <a:srgbClr val="D5DED9"/>
            </a:solidFill>
            <a:prstDash val="solid"/>
          </a:ln>
        </p:spPr>
      </p:sp>
      <p:sp>
        <p:nvSpPr>
          <p:cNvPr id="32" name="Shape 28"/>
          <p:cNvSpPr/>
          <p:nvPr/>
        </p:nvSpPr>
        <p:spPr>
          <a:xfrm>
            <a:off x="6144768" y="2002536"/>
            <a:ext cx="329184" cy="329184"/>
          </a:xfrm>
          <a:prstGeom prst="ellipse">
            <a:avLst/>
          </a:prstGeom>
          <a:solidFill>
            <a:srgbClr val="0E7C86"/>
          </a:solidFill>
          <a:ln w="12700">
            <a:solidFill>
              <a:srgbClr val="0E7C86"/>
            </a:solidFill>
            <a:prstDash val="solid"/>
          </a:ln>
        </p:spPr>
      </p:sp>
      <p:sp>
        <p:nvSpPr>
          <p:cNvPr id="33" name="Text 29"/>
          <p:cNvSpPr txBox="1"/>
          <p:nvPr/>
        </p:nvSpPr>
        <p:spPr>
          <a:xfrm>
            <a:off x="6144768" y="2002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Text 30"/>
          <p:cNvSpPr txBox="1"/>
          <p:nvPr/>
        </p:nvSpPr>
        <p:spPr>
          <a:xfrm>
            <a:off x="6565392" y="2002536"/>
            <a:ext cx="2029968" cy="329184"/>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Define the units</a:t>
            </a:r>
            <a:endParaRPr lang="en-US" sz="1200" dirty="0"/>
          </a:p>
        </p:txBody>
      </p:sp>
      <p:sp>
        <p:nvSpPr>
          <p:cNvPr id="35" name="Text 31"/>
          <p:cNvSpPr txBox="1"/>
          <p:nvPr/>
        </p:nvSpPr>
        <p:spPr>
          <a:xfrm>
            <a:off x="6163056" y="2404872"/>
            <a:ext cx="2414016"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Settlement footprints plus a small buffer — not whole districts, where a few lit villages vanish.</a:t>
            </a:r>
            <a:endParaRPr lang="en-US" sz="950" dirty="0"/>
          </a:p>
        </p:txBody>
      </p:sp>
      <p:sp>
        <p:nvSpPr>
          <p:cNvPr id="36" name="Shape 32"/>
          <p:cNvSpPr/>
          <p:nvPr/>
        </p:nvSpPr>
        <p:spPr>
          <a:xfrm>
            <a:off x="457200" y="3236976"/>
            <a:ext cx="2651760" cy="1207008"/>
          </a:xfrm>
          <a:prstGeom prst="roundRect">
            <a:avLst>
              <a:gd name="adj" fmla="val 6061"/>
            </a:avLst>
          </a:prstGeom>
          <a:solidFill>
            <a:srgbClr val="F4F7F5"/>
          </a:solidFill>
          <a:ln w="9525">
            <a:solidFill>
              <a:srgbClr val="D5DED9"/>
            </a:solidFill>
            <a:prstDash val="solid"/>
          </a:ln>
        </p:spPr>
      </p:sp>
      <p:sp>
        <p:nvSpPr>
          <p:cNvPr id="37" name="Shape 33"/>
          <p:cNvSpPr/>
          <p:nvPr/>
        </p:nvSpPr>
        <p:spPr>
          <a:xfrm>
            <a:off x="566928" y="3346704"/>
            <a:ext cx="329184" cy="329184"/>
          </a:xfrm>
          <a:prstGeom prst="ellipse">
            <a:avLst/>
          </a:prstGeom>
          <a:solidFill>
            <a:srgbClr val="0E7C86"/>
          </a:solidFill>
          <a:ln w="12700">
            <a:solidFill>
              <a:srgbClr val="0E7C86"/>
            </a:solidFill>
            <a:prstDash val="solid"/>
          </a:ln>
        </p:spPr>
      </p:sp>
      <p:sp>
        <p:nvSpPr>
          <p:cNvPr id="38" name="Text 34"/>
          <p:cNvSpPr txBox="1"/>
          <p:nvPr/>
        </p:nvSpPr>
        <p:spPr>
          <a:xfrm>
            <a:off x="566928" y="33467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Text 35"/>
          <p:cNvSpPr txBox="1"/>
          <p:nvPr/>
        </p:nvSpPr>
        <p:spPr>
          <a:xfrm>
            <a:off x="987552" y="3346704"/>
            <a:ext cx="2029968" cy="329184"/>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Pick indicator &amp; control</a:t>
            </a:r>
            <a:endParaRPr lang="en-US" sz="1200" dirty="0"/>
          </a:p>
        </p:txBody>
      </p:sp>
      <p:sp>
        <p:nvSpPr>
          <p:cNvPr id="40" name="Text 36"/>
          <p:cNvSpPr txBox="1"/>
          <p:nvPr/>
        </p:nvSpPr>
        <p:spPr>
          <a:xfrm>
            <a:off x="585216" y="3749040"/>
            <a:ext cx="2414016"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Mean radiance and share of lit nights; controls = similar villages outside the programme.</a:t>
            </a:r>
            <a:endParaRPr lang="en-US" sz="950" dirty="0"/>
          </a:p>
        </p:txBody>
      </p:sp>
      <p:sp>
        <p:nvSpPr>
          <p:cNvPr id="41" name="Shape 37"/>
          <p:cNvSpPr/>
          <p:nvPr/>
        </p:nvSpPr>
        <p:spPr>
          <a:xfrm>
            <a:off x="3246120" y="3236976"/>
            <a:ext cx="2651760" cy="1207008"/>
          </a:xfrm>
          <a:prstGeom prst="roundRect">
            <a:avLst>
              <a:gd name="adj" fmla="val 6061"/>
            </a:avLst>
          </a:prstGeom>
          <a:solidFill>
            <a:srgbClr val="F4F7F5"/>
          </a:solidFill>
          <a:ln w="9525">
            <a:solidFill>
              <a:srgbClr val="D5DED9"/>
            </a:solidFill>
            <a:prstDash val="solid"/>
          </a:ln>
        </p:spPr>
      </p:sp>
      <p:sp>
        <p:nvSpPr>
          <p:cNvPr id="42" name="Shape 38"/>
          <p:cNvSpPr/>
          <p:nvPr/>
        </p:nvSpPr>
        <p:spPr>
          <a:xfrm>
            <a:off x="3355848" y="3346704"/>
            <a:ext cx="329184" cy="329184"/>
          </a:xfrm>
          <a:prstGeom prst="ellipse">
            <a:avLst/>
          </a:prstGeom>
          <a:solidFill>
            <a:srgbClr val="0E7C86"/>
          </a:solidFill>
          <a:ln w="12700">
            <a:solidFill>
              <a:srgbClr val="0E7C86"/>
            </a:solidFill>
            <a:prstDash val="solid"/>
          </a:ln>
        </p:spPr>
      </p:sp>
      <p:sp>
        <p:nvSpPr>
          <p:cNvPr id="43" name="Text 39"/>
          <p:cNvSpPr txBox="1"/>
          <p:nvPr/>
        </p:nvSpPr>
        <p:spPr>
          <a:xfrm>
            <a:off x="3355848" y="33467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4" name="Text 40"/>
          <p:cNvSpPr txBox="1"/>
          <p:nvPr/>
        </p:nvSpPr>
        <p:spPr>
          <a:xfrm>
            <a:off x="3776472" y="3346704"/>
            <a:ext cx="2029968" cy="329184"/>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Read the difference</a:t>
            </a:r>
            <a:endParaRPr lang="en-US" sz="1200" dirty="0"/>
          </a:p>
        </p:txBody>
      </p:sp>
      <p:sp>
        <p:nvSpPr>
          <p:cNvPr id="45" name="Text 41"/>
          <p:cNvSpPr txBox="1"/>
          <p:nvPr/>
        </p:nvSpPr>
        <p:spPr>
          <a:xfrm>
            <a:off x="3374136" y="3749040"/>
            <a:ext cx="2414016"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step change in programme villages that is absent in controls is evidence; a common rise is regional.</a:t>
            </a:r>
            <a:endParaRPr lang="en-US" sz="950" dirty="0"/>
          </a:p>
        </p:txBody>
      </p:sp>
      <p:sp>
        <p:nvSpPr>
          <p:cNvPr id="46" name="Shape 42"/>
          <p:cNvSpPr/>
          <p:nvPr/>
        </p:nvSpPr>
        <p:spPr>
          <a:xfrm>
            <a:off x="6035040" y="3236976"/>
            <a:ext cx="2651760" cy="1207008"/>
          </a:xfrm>
          <a:prstGeom prst="roundRect">
            <a:avLst>
              <a:gd name="adj" fmla="val 6061"/>
            </a:avLst>
          </a:prstGeom>
          <a:solidFill>
            <a:srgbClr val="F4F7F5"/>
          </a:solidFill>
          <a:ln w="9525">
            <a:solidFill>
              <a:srgbClr val="D5DED9"/>
            </a:solidFill>
            <a:prstDash val="solid"/>
          </a:ln>
        </p:spPr>
      </p:sp>
      <p:sp>
        <p:nvSpPr>
          <p:cNvPr id="47" name="Shape 43"/>
          <p:cNvSpPr/>
          <p:nvPr/>
        </p:nvSpPr>
        <p:spPr>
          <a:xfrm>
            <a:off x="6144768" y="3346704"/>
            <a:ext cx="329184" cy="329184"/>
          </a:xfrm>
          <a:prstGeom prst="ellipse">
            <a:avLst/>
          </a:prstGeom>
          <a:solidFill>
            <a:srgbClr val="D49A00"/>
          </a:solidFill>
          <a:ln w="12700">
            <a:solidFill>
              <a:srgbClr val="D49A00"/>
            </a:solidFill>
            <a:prstDash val="solid"/>
          </a:ln>
        </p:spPr>
      </p:sp>
      <p:sp>
        <p:nvSpPr>
          <p:cNvPr id="48" name="Text 44"/>
          <p:cNvSpPr txBox="1"/>
          <p:nvPr/>
        </p:nvSpPr>
        <p:spPr>
          <a:xfrm>
            <a:off x="6144768" y="33467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9" name="Text 45"/>
          <p:cNvSpPr txBox="1"/>
          <p:nvPr/>
        </p:nvSpPr>
        <p:spPr>
          <a:xfrm>
            <a:off x="6565392" y="3346704"/>
            <a:ext cx="2029968" cy="329184"/>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Try to break it</a:t>
            </a:r>
            <a:endParaRPr lang="en-US" sz="1200" dirty="0"/>
          </a:p>
        </p:txBody>
      </p:sp>
      <p:sp>
        <p:nvSpPr>
          <p:cNvPr id="50" name="Text 46"/>
          <p:cNvSpPr txBox="1"/>
          <p:nvPr/>
        </p:nvSpPr>
        <p:spPr>
          <a:xfrm>
            <a:off x="6163056" y="3749040"/>
            <a:ext cx="2414016"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Check fires, flares, moon and season; compare with utility connection or programme monitoring records.</a:t>
            </a:r>
            <a:endParaRPr lang="en-US" sz="9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4</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3"/>
          <p:cNvSpPr txBox="1"/>
          <p:nvPr/>
        </p:nvSpPr>
        <p:spPr>
          <a:xfrm>
            <a:off x="548640" y="224028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Applications</a:t>
            </a:r>
            <a:endParaRPr lang="en-US" sz="4000" dirty="0"/>
          </a:p>
        </p:txBody>
      </p:sp>
      <p:sp>
        <p:nvSpPr>
          <p:cNvPr id="6" name="Text 4"/>
          <p:cNvSpPr txBox="1"/>
          <p:nvPr/>
        </p:nvSpPr>
        <p:spPr>
          <a:xfrm>
            <a:off x="548640" y="2971800"/>
            <a:ext cx="493776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Which statistical questions can this data actually answer?</a:t>
            </a:r>
            <a:endParaRPr lang="en-US" sz="1800" dirty="0"/>
          </a:p>
        </p:txBody>
      </p:sp>
      <p:sp>
        <p:nvSpPr>
          <p:cNvPr id="7" name="Text 5"/>
          <p:cNvSpPr txBox="1"/>
          <p:nvPr/>
        </p:nvSpPr>
        <p:spPr>
          <a:xfrm>
            <a:off x="548640" y="3703320"/>
            <a:ext cx="512064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SDG map  ·  Economy  ·  Energy access  ·  Urbanisation  ·  Crises</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5C242"/>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OVERVIEW</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Where lights can support SDG monitoring</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1325880"/>
            <a:ext cx="2651760" cy="1143000"/>
          </a:xfrm>
          <a:prstGeom prst="roundRect">
            <a:avLst>
              <a:gd name="adj" fmla="val 6400"/>
            </a:avLst>
          </a:prstGeom>
          <a:solidFill>
            <a:srgbClr val="F4F7F5"/>
          </a:solidFill>
          <a:ln w="9525">
            <a:solidFill>
              <a:srgbClr val="D5DED9"/>
            </a:solidFill>
            <a:prstDash val="solid"/>
          </a:ln>
        </p:spPr>
      </p:sp>
      <p:sp>
        <p:nvSpPr>
          <p:cNvPr id="18" name="Shape 15"/>
          <p:cNvSpPr/>
          <p:nvPr/>
        </p:nvSpPr>
        <p:spPr>
          <a:xfrm>
            <a:off x="566928" y="1453896"/>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685800" y="1572768"/>
            <a:ext cx="219456" cy="219456"/>
          </a:xfrm>
          <a:prstGeom prst="rect">
            <a:avLst/>
          </a:prstGeom>
        </p:spPr>
      </p:pic>
      <p:sp>
        <p:nvSpPr>
          <p:cNvPr id="20" name="Shape 16"/>
          <p:cNvSpPr/>
          <p:nvPr/>
        </p:nvSpPr>
        <p:spPr>
          <a:xfrm>
            <a:off x="1143000" y="1453896"/>
            <a:ext cx="640080" cy="219456"/>
          </a:xfrm>
          <a:prstGeom prst="roundRect">
            <a:avLst>
              <a:gd name="adj" fmla="val 50000"/>
            </a:avLst>
          </a:prstGeom>
          <a:solidFill>
            <a:srgbClr val="00A86A">
              <a:alpha val="15000"/>
            </a:srgbClr>
          </a:solidFill>
          <a:ln w="9525">
            <a:solidFill>
              <a:srgbClr val="00A86A"/>
            </a:solidFill>
            <a:prstDash val="solid"/>
          </a:ln>
        </p:spPr>
      </p:sp>
      <p:sp>
        <p:nvSpPr>
          <p:cNvPr id="21" name="Text 17"/>
          <p:cNvSpPr txBox="1"/>
          <p:nvPr/>
        </p:nvSpPr>
        <p:spPr>
          <a:xfrm>
            <a:off x="1143000" y="1453896"/>
            <a:ext cx="640080" cy="219456"/>
          </a:xfrm>
          <a:prstGeom prst="rect">
            <a:avLst/>
          </a:prstGeom>
          <a:noFill/>
          <a:ln/>
        </p:spPr>
        <p:txBody>
          <a:bodyPr wrap="square" lIns="0" tIns="0" rIns="0" bIns="0" rtlCol="0" anchor="ctr"/>
          <a:lstStyle/>
          <a:p>
            <a:pPr marL="0" indent="0" algn="ctr">
              <a:buNone/>
            </a:pPr>
            <a:r>
              <a:rPr lang="en-US" sz="850" b="1" dirty="0">
                <a:solidFill>
                  <a:srgbClr val="00A86A"/>
                </a:solidFill>
                <a:latin typeface="Calibri" pitchFamily="34" charset="0"/>
                <a:ea typeface="Calibri" pitchFamily="34" charset="-122"/>
                <a:cs typeface="Calibri" pitchFamily="34" charset="-120"/>
              </a:rPr>
              <a:t>SDG 1</a:t>
            </a:r>
            <a:endParaRPr lang="en-US" sz="850" dirty="0"/>
          </a:p>
        </p:txBody>
      </p:sp>
      <p:sp>
        <p:nvSpPr>
          <p:cNvPr id="22" name="Text 18"/>
          <p:cNvSpPr txBox="1"/>
          <p:nvPr/>
        </p:nvSpPr>
        <p:spPr>
          <a:xfrm>
            <a:off x="1143000" y="1709928"/>
            <a:ext cx="187452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Poverty &amp; wealth mapping</a:t>
            </a:r>
            <a:endParaRPr lang="en-US" sz="1200" dirty="0"/>
          </a:p>
        </p:txBody>
      </p:sp>
      <p:sp>
        <p:nvSpPr>
          <p:cNvPr id="23" name="Text 19"/>
          <p:cNvSpPr txBox="1"/>
          <p:nvPr/>
        </p:nvSpPr>
        <p:spPr>
          <a:xfrm>
            <a:off x="585216" y="2020824"/>
            <a:ext cx="2395728"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Small-area estimates combining lights with survey data</a:t>
            </a:r>
            <a:endParaRPr lang="en-US" sz="950" dirty="0"/>
          </a:p>
        </p:txBody>
      </p:sp>
      <p:sp>
        <p:nvSpPr>
          <p:cNvPr id="24" name="Shape 20"/>
          <p:cNvSpPr/>
          <p:nvPr/>
        </p:nvSpPr>
        <p:spPr>
          <a:xfrm>
            <a:off x="3246120" y="1325880"/>
            <a:ext cx="2651760" cy="1143000"/>
          </a:xfrm>
          <a:prstGeom prst="roundRect">
            <a:avLst>
              <a:gd name="adj" fmla="val 6400"/>
            </a:avLst>
          </a:prstGeom>
          <a:solidFill>
            <a:srgbClr val="F4F7F5"/>
          </a:solidFill>
          <a:ln w="9525">
            <a:solidFill>
              <a:srgbClr val="D5DED9"/>
            </a:solidFill>
            <a:prstDash val="solid"/>
          </a:ln>
        </p:spPr>
      </p:sp>
      <p:sp>
        <p:nvSpPr>
          <p:cNvPr id="25" name="Shape 21"/>
          <p:cNvSpPr/>
          <p:nvPr/>
        </p:nvSpPr>
        <p:spPr>
          <a:xfrm>
            <a:off x="3355848" y="1453896"/>
            <a:ext cx="457200" cy="457200"/>
          </a:xfrm>
          <a:prstGeom prst="ellipse">
            <a:avLst/>
          </a:prstGeom>
          <a:solidFill>
            <a:srgbClr val="00704A">
              <a:alpha val="22000"/>
            </a:srgbClr>
          </a:solidFill>
          <a:ln w="12700">
            <a:solidFill>
              <a:srgbClr val="00704A">
                <a:alpha val="0"/>
              </a:srgbClr>
            </a:solidFill>
            <a:prstDash val="solid"/>
          </a:ln>
        </p:spPr>
      </p:sp>
      <p:pic>
        <p:nvPicPr>
          <p:cNvPr id="26" name="Image 1" descr="preencoded.png"/>
          <p:cNvPicPr>
            <a:picLocks noChangeAspect="1"/>
          </p:cNvPicPr>
          <p:nvPr/>
        </p:nvPicPr>
        <p:blipFill>
          <a:blip r:embed="rId4"/>
          <a:stretch>
            <a:fillRect/>
          </a:stretch>
        </p:blipFill>
        <p:spPr>
          <a:xfrm>
            <a:off x="3474720" y="1572768"/>
            <a:ext cx="219456" cy="219456"/>
          </a:xfrm>
          <a:prstGeom prst="rect">
            <a:avLst/>
          </a:prstGeom>
        </p:spPr>
      </p:pic>
      <p:sp>
        <p:nvSpPr>
          <p:cNvPr id="27" name="Shape 22"/>
          <p:cNvSpPr/>
          <p:nvPr/>
        </p:nvSpPr>
        <p:spPr>
          <a:xfrm>
            <a:off x="3931920" y="1453896"/>
            <a:ext cx="640080" cy="219456"/>
          </a:xfrm>
          <a:prstGeom prst="roundRect">
            <a:avLst>
              <a:gd name="adj" fmla="val 50000"/>
            </a:avLst>
          </a:prstGeom>
          <a:solidFill>
            <a:srgbClr val="00704A">
              <a:alpha val="15000"/>
            </a:srgbClr>
          </a:solidFill>
          <a:ln w="9525">
            <a:solidFill>
              <a:srgbClr val="00704A"/>
            </a:solidFill>
            <a:prstDash val="solid"/>
          </a:ln>
        </p:spPr>
      </p:sp>
      <p:sp>
        <p:nvSpPr>
          <p:cNvPr id="28" name="Text 23"/>
          <p:cNvSpPr txBox="1"/>
          <p:nvPr/>
        </p:nvSpPr>
        <p:spPr>
          <a:xfrm>
            <a:off x="3931920" y="1453896"/>
            <a:ext cx="640080" cy="219456"/>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SDG 7</a:t>
            </a:r>
            <a:endParaRPr lang="en-US" sz="850" dirty="0"/>
          </a:p>
        </p:txBody>
      </p:sp>
      <p:sp>
        <p:nvSpPr>
          <p:cNvPr id="29" name="Text 24"/>
          <p:cNvSpPr txBox="1"/>
          <p:nvPr/>
        </p:nvSpPr>
        <p:spPr>
          <a:xfrm>
            <a:off x="3931920" y="1709928"/>
            <a:ext cx="187452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Electricity access &amp; reliability</a:t>
            </a:r>
            <a:endParaRPr lang="en-US" sz="1200" dirty="0"/>
          </a:p>
        </p:txBody>
      </p:sp>
      <p:sp>
        <p:nvSpPr>
          <p:cNvPr id="30" name="Text 25"/>
          <p:cNvSpPr txBox="1"/>
          <p:nvPr/>
        </p:nvSpPr>
        <p:spPr>
          <a:xfrm>
            <a:off x="3374136" y="2020824"/>
            <a:ext cx="2395728"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Locate unserved settlements; track how often lights are on</a:t>
            </a:r>
            <a:endParaRPr lang="en-US" sz="950" dirty="0"/>
          </a:p>
        </p:txBody>
      </p:sp>
      <p:sp>
        <p:nvSpPr>
          <p:cNvPr id="31" name="Shape 26"/>
          <p:cNvSpPr/>
          <p:nvPr/>
        </p:nvSpPr>
        <p:spPr>
          <a:xfrm>
            <a:off x="6035040" y="1325880"/>
            <a:ext cx="2651760" cy="1143000"/>
          </a:xfrm>
          <a:prstGeom prst="roundRect">
            <a:avLst>
              <a:gd name="adj" fmla="val 6400"/>
            </a:avLst>
          </a:prstGeom>
          <a:solidFill>
            <a:srgbClr val="F4F7F5"/>
          </a:solidFill>
          <a:ln w="9525">
            <a:solidFill>
              <a:srgbClr val="D5DED9"/>
            </a:solidFill>
            <a:prstDash val="solid"/>
          </a:ln>
        </p:spPr>
      </p:sp>
      <p:sp>
        <p:nvSpPr>
          <p:cNvPr id="32" name="Shape 27"/>
          <p:cNvSpPr/>
          <p:nvPr/>
        </p:nvSpPr>
        <p:spPr>
          <a:xfrm>
            <a:off x="6144768" y="1453896"/>
            <a:ext cx="457200" cy="457200"/>
          </a:xfrm>
          <a:prstGeom prst="ellipse">
            <a:avLst/>
          </a:prstGeom>
          <a:solidFill>
            <a:srgbClr val="0E7C86">
              <a:alpha val="22000"/>
            </a:srgbClr>
          </a:solidFill>
          <a:ln w="12700">
            <a:solidFill>
              <a:srgbClr val="0E7C86">
                <a:alpha val="0"/>
              </a:srgbClr>
            </a:solidFill>
            <a:prstDash val="solid"/>
          </a:ln>
        </p:spPr>
      </p:sp>
      <p:pic>
        <p:nvPicPr>
          <p:cNvPr id="33" name="Image 2" descr="preencoded.png"/>
          <p:cNvPicPr>
            <a:picLocks noChangeAspect="1"/>
          </p:cNvPicPr>
          <p:nvPr/>
        </p:nvPicPr>
        <p:blipFill>
          <a:blip r:embed="rId5"/>
          <a:stretch>
            <a:fillRect/>
          </a:stretch>
        </p:blipFill>
        <p:spPr>
          <a:xfrm>
            <a:off x="6263640" y="1572768"/>
            <a:ext cx="219456" cy="219456"/>
          </a:xfrm>
          <a:prstGeom prst="rect">
            <a:avLst/>
          </a:prstGeom>
        </p:spPr>
      </p:pic>
      <p:sp>
        <p:nvSpPr>
          <p:cNvPr id="34" name="Shape 28"/>
          <p:cNvSpPr/>
          <p:nvPr/>
        </p:nvSpPr>
        <p:spPr>
          <a:xfrm>
            <a:off x="6720840" y="1453896"/>
            <a:ext cx="640080" cy="219456"/>
          </a:xfrm>
          <a:prstGeom prst="roundRect">
            <a:avLst>
              <a:gd name="adj" fmla="val 50000"/>
            </a:avLst>
          </a:prstGeom>
          <a:solidFill>
            <a:srgbClr val="0E7C86">
              <a:alpha val="15000"/>
            </a:srgbClr>
          </a:solidFill>
          <a:ln w="9525">
            <a:solidFill>
              <a:srgbClr val="0E7C86"/>
            </a:solidFill>
            <a:prstDash val="solid"/>
          </a:ln>
        </p:spPr>
      </p:sp>
      <p:sp>
        <p:nvSpPr>
          <p:cNvPr id="35" name="Text 29"/>
          <p:cNvSpPr txBox="1"/>
          <p:nvPr/>
        </p:nvSpPr>
        <p:spPr>
          <a:xfrm>
            <a:off x="6720840" y="1453896"/>
            <a:ext cx="640080" cy="219456"/>
          </a:xfrm>
          <a:prstGeom prst="rect">
            <a:avLst/>
          </a:prstGeom>
          <a:noFill/>
          <a:ln/>
        </p:spPr>
        <p:txBody>
          <a:bodyPr wrap="square" lIns="0" tIns="0" rIns="0" bIns="0" rtlCol="0" anchor="ctr"/>
          <a:lstStyle/>
          <a:p>
            <a:pPr marL="0" indent="0" algn="ctr">
              <a:buNone/>
            </a:pPr>
            <a:r>
              <a:rPr lang="en-US" sz="850" b="1" dirty="0">
                <a:solidFill>
                  <a:srgbClr val="0E7C86"/>
                </a:solidFill>
                <a:latin typeface="Calibri" pitchFamily="34" charset="0"/>
                <a:ea typeface="Calibri" pitchFamily="34" charset="-122"/>
                <a:cs typeface="Calibri" pitchFamily="34" charset="-120"/>
              </a:rPr>
              <a:t>SDG 8</a:t>
            </a:r>
            <a:endParaRPr lang="en-US" sz="850" dirty="0"/>
          </a:p>
        </p:txBody>
      </p:sp>
      <p:sp>
        <p:nvSpPr>
          <p:cNvPr id="36" name="Text 30"/>
          <p:cNvSpPr txBox="1"/>
          <p:nvPr/>
        </p:nvSpPr>
        <p:spPr>
          <a:xfrm>
            <a:off x="6720840" y="1709928"/>
            <a:ext cx="187452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Economic activity</a:t>
            </a:r>
            <a:endParaRPr lang="en-US" sz="1200" dirty="0"/>
          </a:p>
        </p:txBody>
      </p:sp>
      <p:sp>
        <p:nvSpPr>
          <p:cNvPr id="37" name="Text 31"/>
          <p:cNvSpPr txBox="1"/>
          <p:nvPr/>
        </p:nvSpPr>
        <p:spPr>
          <a:xfrm>
            <a:off x="6163056" y="2020824"/>
            <a:ext cx="2395728"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Subnational GDP downscaling; short-term activity signals</a:t>
            </a:r>
            <a:endParaRPr lang="en-US" sz="950" dirty="0"/>
          </a:p>
        </p:txBody>
      </p:sp>
      <p:sp>
        <p:nvSpPr>
          <p:cNvPr id="38" name="Shape 32"/>
          <p:cNvSpPr/>
          <p:nvPr/>
        </p:nvSpPr>
        <p:spPr>
          <a:xfrm>
            <a:off x="457200" y="2606040"/>
            <a:ext cx="2651760" cy="1143000"/>
          </a:xfrm>
          <a:prstGeom prst="roundRect">
            <a:avLst>
              <a:gd name="adj" fmla="val 6400"/>
            </a:avLst>
          </a:prstGeom>
          <a:solidFill>
            <a:srgbClr val="F4F7F5"/>
          </a:solidFill>
          <a:ln w="9525">
            <a:solidFill>
              <a:srgbClr val="D5DED9"/>
            </a:solidFill>
            <a:prstDash val="solid"/>
          </a:ln>
        </p:spPr>
      </p:sp>
      <p:sp>
        <p:nvSpPr>
          <p:cNvPr id="39" name="Shape 33"/>
          <p:cNvSpPr/>
          <p:nvPr/>
        </p:nvSpPr>
        <p:spPr>
          <a:xfrm>
            <a:off x="566928" y="2734056"/>
            <a:ext cx="457200" cy="457200"/>
          </a:xfrm>
          <a:prstGeom prst="ellipse">
            <a:avLst/>
          </a:prstGeom>
          <a:solidFill>
            <a:srgbClr val="D49A00">
              <a:alpha val="22000"/>
            </a:srgbClr>
          </a:solidFill>
          <a:ln w="12700">
            <a:solidFill>
              <a:srgbClr val="D49A00">
                <a:alpha val="0"/>
              </a:srgbClr>
            </a:solidFill>
            <a:prstDash val="solid"/>
          </a:ln>
        </p:spPr>
      </p:sp>
      <p:pic>
        <p:nvPicPr>
          <p:cNvPr id="40" name="Image 3" descr="preencoded.png"/>
          <p:cNvPicPr>
            <a:picLocks noChangeAspect="1"/>
          </p:cNvPicPr>
          <p:nvPr/>
        </p:nvPicPr>
        <p:blipFill>
          <a:blip r:embed="rId6"/>
          <a:stretch>
            <a:fillRect/>
          </a:stretch>
        </p:blipFill>
        <p:spPr>
          <a:xfrm>
            <a:off x="685800" y="2852928"/>
            <a:ext cx="219456" cy="219456"/>
          </a:xfrm>
          <a:prstGeom prst="rect">
            <a:avLst/>
          </a:prstGeom>
        </p:spPr>
      </p:pic>
      <p:sp>
        <p:nvSpPr>
          <p:cNvPr id="41" name="Shape 34"/>
          <p:cNvSpPr/>
          <p:nvPr/>
        </p:nvSpPr>
        <p:spPr>
          <a:xfrm>
            <a:off x="1143000" y="2734056"/>
            <a:ext cx="640080" cy="219456"/>
          </a:xfrm>
          <a:prstGeom prst="roundRect">
            <a:avLst>
              <a:gd name="adj" fmla="val 50000"/>
            </a:avLst>
          </a:prstGeom>
          <a:solidFill>
            <a:srgbClr val="D49A00">
              <a:alpha val="15000"/>
            </a:srgbClr>
          </a:solidFill>
          <a:ln w="9525">
            <a:solidFill>
              <a:srgbClr val="D49A00"/>
            </a:solidFill>
            <a:prstDash val="solid"/>
          </a:ln>
        </p:spPr>
      </p:sp>
      <p:sp>
        <p:nvSpPr>
          <p:cNvPr id="42" name="Text 35"/>
          <p:cNvSpPr txBox="1"/>
          <p:nvPr/>
        </p:nvSpPr>
        <p:spPr>
          <a:xfrm>
            <a:off x="1143000" y="2734056"/>
            <a:ext cx="64008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SDG 9</a:t>
            </a:r>
            <a:endParaRPr lang="en-US" sz="850" dirty="0"/>
          </a:p>
        </p:txBody>
      </p:sp>
      <p:sp>
        <p:nvSpPr>
          <p:cNvPr id="43" name="Text 36"/>
          <p:cNvSpPr txBox="1"/>
          <p:nvPr/>
        </p:nvSpPr>
        <p:spPr>
          <a:xfrm>
            <a:off x="1143000" y="2990088"/>
            <a:ext cx="187452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Infrastructure</a:t>
            </a:r>
            <a:endParaRPr lang="en-US" sz="1200" dirty="0"/>
          </a:p>
        </p:txBody>
      </p:sp>
      <p:sp>
        <p:nvSpPr>
          <p:cNvPr id="44" name="Text 37"/>
          <p:cNvSpPr txBox="1"/>
          <p:nvPr/>
        </p:nvSpPr>
        <p:spPr>
          <a:xfrm>
            <a:off x="585216" y="3300984"/>
            <a:ext cx="2395728"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Corridors, ports, industrial and special economic zones</a:t>
            </a:r>
            <a:endParaRPr lang="en-US" sz="950" dirty="0"/>
          </a:p>
        </p:txBody>
      </p:sp>
      <p:sp>
        <p:nvSpPr>
          <p:cNvPr id="45" name="Shape 38"/>
          <p:cNvSpPr/>
          <p:nvPr/>
        </p:nvSpPr>
        <p:spPr>
          <a:xfrm>
            <a:off x="3246120" y="2606040"/>
            <a:ext cx="2651760" cy="1143000"/>
          </a:xfrm>
          <a:prstGeom prst="roundRect">
            <a:avLst>
              <a:gd name="adj" fmla="val 6400"/>
            </a:avLst>
          </a:prstGeom>
          <a:solidFill>
            <a:srgbClr val="F4F7F5"/>
          </a:solidFill>
          <a:ln w="9525">
            <a:solidFill>
              <a:srgbClr val="D5DED9"/>
            </a:solidFill>
            <a:prstDash val="solid"/>
          </a:ln>
        </p:spPr>
      </p:sp>
      <p:sp>
        <p:nvSpPr>
          <p:cNvPr id="46" name="Shape 39"/>
          <p:cNvSpPr/>
          <p:nvPr/>
        </p:nvSpPr>
        <p:spPr>
          <a:xfrm>
            <a:off x="3355848" y="2734056"/>
            <a:ext cx="457200" cy="457200"/>
          </a:xfrm>
          <a:prstGeom prst="ellipse">
            <a:avLst/>
          </a:prstGeom>
          <a:solidFill>
            <a:srgbClr val="C4621D">
              <a:alpha val="22000"/>
            </a:srgbClr>
          </a:solidFill>
          <a:ln w="12700">
            <a:solidFill>
              <a:srgbClr val="C4621D">
                <a:alpha val="0"/>
              </a:srgbClr>
            </a:solidFill>
            <a:prstDash val="solid"/>
          </a:ln>
        </p:spPr>
      </p:sp>
      <p:pic>
        <p:nvPicPr>
          <p:cNvPr id="47" name="Image 4" descr="preencoded.png"/>
          <p:cNvPicPr>
            <a:picLocks noChangeAspect="1"/>
          </p:cNvPicPr>
          <p:nvPr/>
        </p:nvPicPr>
        <p:blipFill>
          <a:blip r:embed="rId7"/>
          <a:stretch>
            <a:fillRect/>
          </a:stretch>
        </p:blipFill>
        <p:spPr>
          <a:xfrm>
            <a:off x="3474720" y="2852928"/>
            <a:ext cx="219456" cy="219456"/>
          </a:xfrm>
          <a:prstGeom prst="rect">
            <a:avLst/>
          </a:prstGeom>
        </p:spPr>
      </p:pic>
      <p:sp>
        <p:nvSpPr>
          <p:cNvPr id="48" name="Shape 40"/>
          <p:cNvSpPr/>
          <p:nvPr/>
        </p:nvSpPr>
        <p:spPr>
          <a:xfrm>
            <a:off x="3931920" y="2734056"/>
            <a:ext cx="640080" cy="219456"/>
          </a:xfrm>
          <a:prstGeom prst="roundRect">
            <a:avLst>
              <a:gd name="adj" fmla="val 50000"/>
            </a:avLst>
          </a:prstGeom>
          <a:solidFill>
            <a:srgbClr val="C4621D">
              <a:alpha val="15000"/>
            </a:srgbClr>
          </a:solidFill>
          <a:ln w="9525">
            <a:solidFill>
              <a:srgbClr val="C4621D"/>
            </a:solidFill>
            <a:prstDash val="solid"/>
          </a:ln>
        </p:spPr>
      </p:sp>
      <p:sp>
        <p:nvSpPr>
          <p:cNvPr id="49" name="Text 41"/>
          <p:cNvSpPr txBox="1"/>
          <p:nvPr/>
        </p:nvSpPr>
        <p:spPr>
          <a:xfrm>
            <a:off x="3931920" y="2734056"/>
            <a:ext cx="640080" cy="219456"/>
          </a:xfrm>
          <a:prstGeom prst="rect">
            <a:avLst/>
          </a:prstGeom>
          <a:noFill/>
          <a:ln/>
        </p:spPr>
        <p:txBody>
          <a:bodyPr wrap="square" lIns="0" tIns="0" rIns="0" bIns="0" rtlCol="0" anchor="ctr"/>
          <a:lstStyle/>
          <a:p>
            <a:pPr marL="0" indent="0" algn="ctr">
              <a:buNone/>
            </a:pPr>
            <a:r>
              <a:rPr lang="en-US" sz="850" b="1" dirty="0">
                <a:solidFill>
                  <a:srgbClr val="C4621D"/>
                </a:solidFill>
                <a:latin typeface="Calibri" pitchFamily="34" charset="0"/>
                <a:ea typeface="Calibri" pitchFamily="34" charset="-122"/>
                <a:cs typeface="Calibri" pitchFamily="34" charset="-120"/>
              </a:rPr>
              <a:t>SDG 11</a:t>
            </a:r>
            <a:endParaRPr lang="en-US" sz="850" dirty="0"/>
          </a:p>
        </p:txBody>
      </p:sp>
      <p:sp>
        <p:nvSpPr>
          <p:cNvPr id="50" name="Text 42"/>
          <p:cNvSpPr txBox="1"/>
          <p:nvPr/>
        </p:nvSpPr>
        <p:spPr>
          <a:xfrm>
            <a:off x="3931920" y="2990088"/>
            <a:ext cx="187452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Urbanisation</a:t>
            </a:r>
            <a:endParaRPr lang="en-US" sz="1200" dirty="0"/>
          </a:p>
        </p:txBody>
      </p:sp>
      <p:sp>
        <p:nvSpPr>
          <p:cNvPr id="51" name="Text 43"/>
          <p:cNvSpPr txBox="1"/>
          <p:nvPr/>
        </p:nvSpPr>
        <p:spPr>
          <a:xfrm>
            <a:off x="3374136" y="3300984"/>
            <a:ext cx="2395728"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Urban extent, sprawl versus densification, new towns</a:t>
            </a:r>
            <a:endParaRPr lang="en-US" sz="950" dirty="0"/>
          </a:p>
        </p:txBody>
      </p:sp>
      <p:sp>
        <p:nvSpPr>
          <p:cNvPr id="52" name="Shape 44"/>
          <p:cNvSpPr/>
          <p:nvPr/>
        </p:nvSpPr>
        <p:spPr>
          <a:xfrm>
            <a:off x="6035040" y="2606040"/>
            <a:ext cx="2651760" cy="1143000"/>
          </a:xfrm>
          <a:prstGeom prst="roundRect">
            <a:avLst>
              <a:gd name="adj" fmla="val 6400"/>
            </a:avLst>
          </a:prstGeom>
          <a:solidFill>
            <a:srgbClr val="F4F7F5"/>
          </a:solidFill>
          <a:ln w="9525">
            <a:solidFill>
              <a:srgbClr val="D5DED9"/>
            </a:solidFill>
            <a:prstDash val="solid"/>
          </a:ln>
        </p:spPr>
      </p:sp>
      <p:sp>
        <p:nvSpPr>
          <p:cNvPr id="53" name="Shape 45"/>
          <p:cNvSpPr/>
          <p:nvPr/>
        </p:nvSpPr>
        <p:spPr>
          <a:xfrm>
            <a:off x="6144768" y="2734056"/>
            <a:ext cx="457200" cy="457200"/>
          </a:xfrm>
          <a:prstGeom prst="ellipse">
            <a:avLst/>
          </a:prstGeom>
          <a:solidFill>
            <a:srgbClr val="B83B2E">
              <a:alpha val="22000"/>
            </a:srgbClr>
          </a:solidFill>
          <a:ln w="12700">
            <a:solidFill>
              <a:srgbClr val="B83B2E">
                <a:alpha val="0"/>
              </a:srgbClr>
            </a:solidFill>
            <a:prstDash val="solid"/>
          </a:ln>
        </p:spPr>
      </p:sp>
      <p:pic>
        <p:nvPicPr>
          <p:cNvPr id="54" name="Image 5" descr="preencoded.png"/>
          <p:cNvPicPr>
            <a:picLocks noChangeAspect="1"/>
          </p:cNvPicPr>
          <p:nvPr/>
        </p:nvPicPr>
        <p:blipFill>
          <a:blip r:embed="rId8"/>
          <a:stretch>
            <a:fillRect/>
          </a:stretch>
        </p:blipFill>
        <p:spPr>
          <a:xfrm>
            <a:off x="6263640" y="2852928"/>
            <a:ext cx="219456" cy="219456"/>
          </a:xfrm>
          <a:prstGeom prst="rect">
            <a:avLst/>
          </a:prstGeom>
        </p:spPr>
      </p:pic>
      <p:sp>
        <p:nvSpPr>
          <p:cNvPr id="55" name="Shape 46"/>
          <p:cNvSpPr/>
          <p:nvPr/>
        </p:nvSpPr>
        <p:spPr>
          <a:xfrm>
            <a:off x="6720840" y="2734056"/>
            <a:ext cx="1371600" cy="219456"/>
          </a:xfrm>
          <a:prstGeom prst="roundRect">
            <a:avLst>
              <a:gd name="adj" fmla="val 50000"/>
            </a:avLst>
          </a:prstGeom>
          <a:solidFill>
            <a:srgbClr val="B83B2E">
              <a:alpha val="15000"/>
            </a:srgbClr>
          </a:solidFill>
          <a:ln w="9525">
            <a:solidFill>
              <a:srgbClr val="B83B2E"/>
            </a:solidFill>
            <a:prstDash val="solid"/>
          </a:ln>
        </p:spPr>
      </p:sp>
      <p:sp>
        <p:nvSpPr>
          <p:cNvPr id="56" name="Text 47"/>
          <p:cNvSpPr txBox="1"/>
          <p:nvPr/>
        </p:nvSpPr>
        <p:spPr>
          <a:xfrm>
            <a:off x="6720840" y="2734056"/>
            <a:ext cx="1371600" cy="219456"/>
          </a:xfrm>
          <a:prstGeom prst="rect">
            <a:avLst/>
          </a:prstGeom>
          <a:noFill/>
          <a:ln/>
        </p:spPr>
        <p:txBody>
          <a:bodyPr wrap="square" lIns="0" tIns="0" rIns="0" bIns="0" rtlCol="0" anchor="ctr"/>
          <a:lstStyle/>
          <a:p>
            <a:pPr marL="0" indent="0" algn="ctr">
              <a:buNone/>
            </a:pPr>
            <a:r>
              <a:rPr lang="en-US" sz="850" b="1" dirty="0">
                <a:solidFill>
                  <a:srgbClr val="B83B2E"/>
                </a:solidFill>
                <a:latin typeface="Calibri" pitchFamily="34" charset="0"/>
                <a:ea typeface="Calibri" pitchFamily="34" charset="-122"/>
                <a:cs typeface="Calibri" pitchFamily="34" charset="-120"/>
              </a:rPr>
              <a:t>SDG 16 · humanitarian</a:t>
            </a:r>
            <a:endParaRPr lang="en-US" sz="850" dirty="0"/>
          </a:p>
        </p:txBody>
      </p:sp>
      <p:sp>
        <p:nvSpPr>
          <p:cNvPr id="57" name="Text 48"/>
          <p:cNvSpPr txBox="1"/>
          <p:nvPr/>
        </p:nvSpPr>
        <p:spPr>
          <a:xfrm>
            <a:off x="6720840" y="2990088"/>
            <a:ext cx="187452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Conflict &amp; disasters</a:t>
            </a:r>
            <a:endParaRPr lang="en-US" sz="1200" dirty="0"/>
          </a:p>
        </p:txBody>
      </p:sp>
      <p:sp>
        <p:nvSpPr>
          <p:cNvPr id="58" name="Text 49"/>
          <p:cNvSpPr txBox="1"/>
          <p:nvPr/>
        </p:nvSpPr>
        <p:spPr>
          <a:xfrm>
            <a:off x="6163056" y="3300984"/>
            <a:ext cx="2395728"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Blackouts, displacement signals, recovery tracking</a:t>
            </a:r>
            <a:endParaRPr lang="en-US" sz="950" dirty="0"/>
          </a:p>
        </p:txBody>
      </p:sp>
      <p:sp>
        <p:nvSpPr>
          <p:cNvPr id="59" name="Shape 50"/>
          <p:cNvSpPr/>
          <p:nvPr/>
        </p:nvSpPr>
        <p:spPr>
          <a:xfrm>
            <a:off x="457200" y="3931920"/>
            <a:ext cx="8229600" cy="566928"/>
          </a:xfrm>
          <a:prstGeom prst="roundRect">
            <a:avLst>
              <a:gd name="adj" fmla="val 12903"/>
            </a:avLst>
          </a:prstGeom>
          <a:solidFill>
            <a:srgbClr val="E8F5EF"/>
          </a:solidFill>
          <a:ln w="15875">
            <a:solidFill>
              <a:srgbClr val="00A86A"/>
            </a:solidFill>
            <a:prstDash val="solid"/>
          </a:ln>
        </p:spPr>
      </p:sp>
      <p:sp>
        <p:nvSpPr>
          <p:cNvPr id="60" name="Shape 51"/>
          <p:cNvSpPr/>
          <p:nvPr/>
        </p:nvSpPr>
        <p:spPr>
          <a:xfrm>
            <a:off x="566928" y="4023360"/>
            <a:ext cx="384048" cy="384048"/>
          </a:xfrm>
          <a:prstGeom prst="ellipse">
            <a:avLst/>
          </a:prstGeom>
          <a:solidFill>
            <a:srgbClr val="00A86A">
              <a:alpha val="22000"/>
            </a:srgbClr>
          </a:solidFill>
          <a:ln w="12700">
            <a:solidFill>
              <a:srgbClr val="00A86A">
                <a:alpha val="0"/>
              </a:srgbClr>
            </a:solidFill>
            <a:prstDash val="solid"/>
          </a:ln>
        </p:spPr>
      </p:sp>
      <p:pic>
        <p:nvPicPr>
          <p:cNvPr id="61" name="Image 6" descr="preencoded.png"/>
          <p:cNvPicPr>
            <a:picLocks noChangeAspect="1"/>
          </p:cNvPicPr>
          <p:nvPr/>
        </p:nvPicPr>
        <p:blipFill>
          <a:blip r:embed="rId9"/>
          <a:stretch>
            <a:fillRect/>
          </a:stretch>
        </p:blipFill>
        <p:spPr>
          <a:xfrm>
            <a:off x="666780" y="4123212"/>
            <a:ext cx="184343" cy="184343"/>
          </a:xfrm>
          <a:prstGeom prst="rect">
            <a:avLst/>
          </a:prstGeom>
        </p:spPr>
      </p:pic>
      <p:sp>
        <p:nvSpPr>
          <p:cNvPr id="62" name="Text 52"/>
          <p:cNvSpPr txBox="1"/>
          <p:nvPr/>
        </p:nvSpPr>
        <p:spPr>
          <a:xfrm>
            <a:off x="1051560" y="3959352"/>
            <a:ext cx="7498080" cy="512064"/>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A complement, not a replacement. </a:t>
            </a:r>
            <a:r>
              <a:rPr lang="en-US" sz="1100" dirty="0">
                <a:solidFill>
                  <a:srgbClr val="231F20"/>
                </a:solidFill>
                <a:latin typeface="Calibri" pitchFamily="34" charset="0"/>
                <a:ea typeface="Calibri" pitchFamily="34" charset="-122"/>
                <a:cs typeface="Calibri" pitchFamily="34" charset="-120"/>
              </a:rPr>
              <a:t>Lights add spatial detail, frequency and independent verification to official statistics — they do not replace the census or the survey.</a:t>
            </a:r>
            <a:endParaRPr lang="en-US" sz="11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01</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Measuring the economy from orbit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Text 14"/>
          <p:cNvSpPr txBox="1"/>
          <p:nvPr/>
        </p:nvSpPr>
        <p:spPr>
          <a:xfrm>
            <a:off x="457200" y="1298448"/>
            <a:ext cx="4114800" cy="256032"/>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What the evidence shows</a:t>
            </a:r>
            <a:endParaRPr lang="en-US" sz="1350" dirty="0"/>
          </a:p>
        </p:txBody>
      </p:sp>
      <p:sp>
        <p:nvSpPr>
          <p:cNvPr id="18" name="Shape 15"/>
          <p:cNvSpPr/>
          <p:nvPr/>
        </p:nvSpPr>
        <p:spPr>
          <a:xfrm>
            <a:off x="457200" y="1627632"/>
            <a:ext cx="4206240" cy="868680"/>
          </a:xfrm>
          <a:prstGeom prst="roundRect">
            <a:avLst>
              <a:gd name="adj" fmla="val 8421"/>
            </a:avLst>
          </a:prstGeom>
          <a:solidFill>
            <a:srgbClr val="F4F7F5"/>
          </a:solidFill>
          <a:ln w="9525">
            <a:solidFill>
              <a:srgbClr val="D5DED9"/>
            </a:solidFill>
            <a:prstDash val="solid"/>
          </a:ln>
        </p:spPr>
      </p:sp>
      <p:sp>
        <p:nvSpPr>
          <p:cNvPr id="19" name="Shape 16"/>
          <p:cNvSpPr/>
          <p:nvPr/>
        </p:nvSpPr>
        <p:spPr>
          <a:xfrm>
            <a:off x="566928" y="1828800"/>
            <a:ext cx="457200" cy="457200"/>
          </a:xfrm>
          <a:prstGeom prst="ellipse">
            <a:avLst/>
          </a:prstGeom>
          <a:solidFill>
            <a:srgbClr val="D49A00">
              <a:alpha val="22000"/>
            </a:srgbClr>
          </a:solidFill>
          <a:ln w="12700">
            <a:solidFill>
              <a:srgbClr val="D49A00">
                <a:alpha val="0"/>
              </a:srgbClr>
            </a:solidFill>
            <a:prstDash val="solid"/>
          </a:ln>
        </p:spPr>
      </p:sp>
      <p:pic>
        <p:nvPicPr>
          <p:cNvPr id="20" name="Image 0" descr="preencoded.png"/>
          <p:cNvPicPr>
            <a:picLocks noChangeAspect="1"/>
          </p:cNvPicPr>
          <p:nvPr/>
        </p:nvPicPr>
        <p:blipFill>
          <a:blip r:embed="rId3"/>
          <a:stretch>
            <a:fillRect/>
          </a:stretch>
        </p:blipFill>
        <p:spPr>
          <a:xfrm>
            <a:off x="685800" y="1947672"/>
            <a:ext cx="219456" cy="219456"/>
          </a:xfrm>
          <a:prstGeom prst="rect">
            <a:avLst/>
          </a:prstGeom>
        </p:spPr>
      </p:pic>
      <p:sp>
        <p:nvSpPr>
          <p:cNvPr id="21" name="Text 17"/>
          <p:cNvSpPr txBox="1"/>
          <p:nvPr/>
        </p:nvSpPr>
        <p:spPr>
          <a:xfrm>
            <a:off x="1143000" y="1700784"/>
            <a:ext cx="342900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Henderson, Storeygard &amp; Weil (2012)</a:t>
            </a:r>
            <a:endParaRPr lang="en-US" sz="1150" dirty="0"/>
          </a:p>
        </p:txBody>
      </p:sp>
      <p:sp>
        <p:nvSpPr>
          <p:cNvPr id="22" name="Text 18"/>
          <p:cNvSpPr txBox="1"/>
          <p:nvPr/>
        </p:nvSpPr>
        <p:spPr>
          <a:xfrm>
            <a:off x="1143000" y="1947672"/>
            <a:ext cx="342900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Lights carry real information on economic growth and can improve GDP estimates where national accounts are weak.</a:t>
            </a:r>
            <a:endParaRPr lang="en-US" sz="950" dirty="0"/>
          </a:p>
        </p:txBody>
      </p:sp>
      <p:sp>
        <p:nvSpPr>
          <p:cNvPr id="23" name="Shape 19"/>
          <p:cNvSpPr/>
          <p:nvPr/>
        </p:nvSpPr>
        <p:spPr>
          <a:xfrm>
            <a:off x="457200" y="2606040"/>
            <a:ext cx="4206240" cy="868680"/>
          </a:xfrm>
          <a:prstGeom prst="roundRect">
            <a:avLst>
              <a:gd name="adj" fmla="val 8421"/>
            </a:avLst>
          </a:prstGeom>
          <a:solidFill>
            <a:srgbClr val="F4F7F5"/>
          </a:solidFill>
          <a:ln w="9525">
            <a:solidFill>
              <a:srgbClr val="D5DED9"/>
            </a:solidFill>
            <a:prstDash val="solid"/>
          </a:ln>
        </p:spPr>
      </p:sp>
      <p:sp>
        <p:nvSpPr>
          <p:cNvPr id="24" name="Shape 20"/>
          <p:cNvSpPr/>
          <p:nvPr/>
        </p:nvSpPr>
        <p:spPr>
          <a:xfrm>
            <a:off x="566928" y="2807208"/>
            <a:ext cx="457200" cy="457200"/>
          </a:xfrm>
          <a:prstGeom prst="ellipse">
            <a:avLst/>
          </a:prstGeom>
          <a:solidFill>
            <a:srgbClr val="D49A00">
              <a:alpha val="22000"/>
            </a:srgbClr>
          </a:solidFill>
          <a:ln w="12700">
            <a:solidFill>
              <a:srgbClr val="D49A00">
                <a:alpha val="0"/>
              </a:srgbClr>
            </a:solidFill>
            <a:prstDash val="solid"/>
          </a:ln>
        </p:spPr>
      </p:sp>
      <p:pic>
        <p:nvPicPr>
          <p:cNvPr id="25" name="Image 1" descr="preencoded.png"/>
          <p:cNvPicPr>
            <a:picLocks noChangeAspect="1"/>
          </p:cNvPicPr>
          <p:nvPr/>
        </p:nvPicPr>
        <p:blipFill>
          <a:blip r:embed="rId4"/>
          <a:stretch>
            <a:fillRect/>
          </a:stretch>
        </p:blipFill>
        <p:spPr>
          <a:xfrm>
            <a:off x="685800" y="2926080"/>
            <a:ext cx="219456" cy="219456"/>
          </a:xfrm>
          <a:prstGeom prst="rect">
            <a:avLst/>
          </a:prstGeom>
        </p:spPr>
      </p:pic>
      <p:sp>
        <p:nvSpPr>
          <p:cNvPr id="26" name="Text 21"/>
          <p:cNvSpPr txBox="1"/>
          <p:nvPr/>
        </p:nvSpPr>
        <p:spPr>
          <a:xfrm>
            <a:off x="1143000" y="2679192"/>
            <a:ext cx="342900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Bruederle &amp; Hodler (2018)</a:t>
            </a:r>
            <a:endParaRPr lang="en-US" sz="1150" dirty="0"/>
          </a:p>
        </p:txBody>
      </p:sp>
      <p:sp>
        <p:nvSpPr>
          <p:cNvPr id="27" name="Text 22"/>
          <p:cNvSpPr txBox="1"/>
          <p:nvPr/>
        </p:nvSpPr>
        <p:spPr>
          <a:xfrm>
            <a:off x="1143000" y="2926080"/>
            <a:ext cx="342900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Lights track household wealth, education and health at the local level, using DHS survey clusters in Africa.</a:t>
            </a:r>
            <a:endParaRPr lang="en-US" sz="950" dirty="0"/>
          </a:p>
        </p:txBody>
      </p:sp>
      <p:sp>
        <p:nvSpPr>
          <p:cNvPr id="28" name="Shape 23"/>
          <p:cNvSpPr/>
          <p:nvPr/>
        </p:nvSpPr>
        <p:spPr>
          <a:xfrm>
            <a:off x="457200" y="3584448"/>
            <a:ext cx="4206240" cy="868680"/>
          </a:xfrm>
          <a:prstGeom prst="roundRect">
            <a:avLst>
              <a:gd name="adj" fmla="val 8421"/>
            </a:avLst>
          </a:prstGeom>
          <a:solidFill>
            <a:srgbClr val="F4F7F5"/>
          </a:solidFill>
          <a:ln w="9525">
            <a:solidFill>
              <a:srgbClr val="D5DED9"/>
            </a:solidFill>
            <a:prstDash val="solid"/>
          </a:ln>
        </p:spPr>
      </p:sp>
      <p:sp>
        <p:nvSpPr>
          <p:cNvPr id="29" name="Shape 24"/>
          <p:cNvSpPr/>
          <p:nvPr/>
        </p:nvSpPr>
        <p:spPr>
          <a:xfrm>
            <a:off x="566928" y="3785616"/>
            <a:ext cx="457200" cy="457200"/>
          </a:xfrm>
          <a:prstGeom prst="ellipse">
            <a:avLst/>
          </a:prstGeom>
          <a:solidFill>
            <a:srgbClr val="D49A00">
              <a:alpha val="22000"/>
            </a:srgbClr>
          </a:solidFill>
          <a:ln w="12700">
            <a:solidFill>
              <a:srgbClr val="D49A00">
                <a:alpha val="0"/>
              </a:srgbClr>
            </a:solidFill>
            <a:prstDash val="solid"/>
          </a:ln>
        </p:spPr>
      </p:sp>
      <p:pic>
        <p:nvPicPr>
          <p:cNvPr id="30" name="Image 2" descr="preencoded.png"/>
          <p:cNvPicPr>
            <a:picLocks noChangeAspect="1"/>
          </p:cNvPicPr>
          <p:nvPr/>
        </p:nvPicPr>
        <p:blipFill>
          <a:blip r:embed="rId5"/>
          <a:stretch>
            <a:fillRect/>
          </a:stretch>
        </p:blipFill>
        <p:spPr>
          <a:xfrm>
            <a:off x="685800" y="3904488"/>
            <a:ext cx="219456" cy="219456"/>
          </a:xfrm>
          <a:prstGeom prst="rect">
            <a:avLst/>
          </a:prstGeom>
        </p:spPr>
      </p:pic>
      <p:sp>
        <p:nvSpPr>
          <p:cNvPr id="31" name="Text 25"/>
          <p:cNvSpPr txBox="1"/>
          <p:nvPr/>
        </p:nvSpPr>
        <p:spPr>
          <a:xfrm>
            <a:off x="1143000" y="3657600"/>
            <a:ext cx="342900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Martinez (2022)</a:t>
            </a:r>
            <a:endParaRPr lang="en-US" sz="1150" dirty="0"/>
          </a:p>
        </p:txBody>
      </p:sp>
      <p:sp>
        <p:nvSpPr>
          <p:cNvPr id="32" name="Text 26"/>
          <p:cNvSpPr txBox="1"/>
          <p:nvPr/>
        </p:nvSpPr>
        <p:spPr>
          <a:xfrm>
            <a:off x="1143000" y="3904488"/>
            <a:ext cx="342900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Lights used as an independent benchmark to test the credibility of reported GDP growth.</a:t>
            </a:r>
            <a:endParaRPr lang="en-US" sz="950" dirty="0"/>
          </a:p>
        </p:txBody>
      </p:sp>
      <p:sp>
        <p:nvSpPr>
          <p:cNvPr id="33" name="Text 27"/>
          <p:cNvSpPr txBox="1"/>
          <p:nvPr/>
        </p:nvSpPr>
        <p:spPr>
          <a:xfrm>
            <a:off x="4892040" y="1298448"/>
            <a:ext cx="3840480" cy="256032"/>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Why the lights–output link is not stable</a:t>
            </a:r>
            <a:endParaRPr lang="en-US" sz="1350" dirty="0"/>
          </a:p>
        </p:txBody>
      </p:sp>
      <p:sp>
        <p:nvSpPr>
          <p:cNvPr id="34" name="Shape 28"/>
          <p:cNvSpPr/>
          <p:nvPr/>
        </p:nvSpPr>
        <p:spPr>
          <a:xfrm>
            <a:off x="4892040" y="1627632"/>
            <a:ext cx="3794760" cy="1847088"/>
          </a:xfrm>
          <a:prstGeom prst="roundRect">
            <a:avLst>
              <a:gd name="adj" fmla="val 3960"/>
            </a:avLst>
          </a:prstGeom>
          <a:solidFill>
            <a:srgbClr val="F4F7F5"/>
          </a:solidFill>
          <a:ln w="9525">
            <a:solidFill>
              <a:srgbClr val="D5DED9"/>
            </a:solidFill>
            <a:prstDash val="solid"/>
          </a:ln>
        </p:spPr>
      </p:sp>
      <p:sp>
        <p:nvSpPr>
          <p:cNvPr id="35" name="Shape 29"/>
          <p:cNvSpPr/>
          <p:nvPr/>
        </p:nvSpPr>
        <p:spPr>
          <a:xfrm>
            <a:off x="5001768" y="1737360"/>
            <a:ext cx="329184" cy="329184"/>
          </a:xfrm>
          <a:prstGeom prst="ellipse">
            <a:avLst/>
          </a:prstGeom>
          <a:solidFill>
            <a:srgbClr val="C4621D">
              <a:alpha val="22000"/>
            </a:srgbClr>
          </a:solidFill>
          <a:ln w="12700">
            <a:solidFill>
              <a:srgbClr val="C4621D">
                <a:alpha val="0"/>
              </a:srgbClr>
            </a:solidFill>
            <a:prstDash val="solid"/>
          </a:ln>
        </p:spPr>
      </p:sp>
      <p:pic>
        <p:nvPicPr>
          <p:cNvPr id="36" name="Image 3" descr="preencoded.png"/>
          <p:cNvPicPr>
            <a:picLocks noChangeAspect="1"/>
          </p:cNvPicPr>
          <p:nvPr/>
        </p:nvPicPr>
        <p:blipFill>
          <a:blip r:embed="rId6"/>
          <a:stretch>
            <a:fillRect/>
          </a:stretch>
        </p:blipFill>
        <p:spPr>
          <a:xfrm>
            <a:off x="5087356" y="1822948"/>
            <a:ext cx="158008" cy="158008"/>
          </a:xfrm>
          <a:prstGeom prst="rect">
            <a:avLst/>
          </a:prstGeom>
        </p:spPr>
      </p:pic>
      <p:sp>
        <p:nvSpPr>
          <p:cNvPr id="37" name="Text 30"/>
          <p:cNvSpPr txBox="1"/>
          <p:nvPr/>
        </p:nvSpPr>
        <p:spPr>
          <a:xfrm>
            <a:off x="5440680" y="1709928"/>
            <a:ext cx="315468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Sector mix: agriculture and mining create value with little light</a:t>
            </a:r>
            <a:endParaRPr lang="en-US" sz="1000" dirty="0"/>
          </a:p>
        </p:txBody>
      </p:sp>
      <p:sp>
        <p:nvSpPr>
          <p:cNvPr id="38" name="Shape 31"/>
          <p:cNvSpPr/>
          <p:nvPr/>
        </p:nvSpPr>
        <p:spPr>
          <a:xfrm>
            <a:off x="5001768" y="2167128"/>
            <a:ext cx="329184" cy="329184"/>
          </a:xfrm>
          <a:prstGeom prst="ellipse">
            <a:avLst/>
          </a:prstGeom>
          <a:solidFill>
            <a:srgbClr val="C4621D">
              <a:alpha val="22000"/>
            </a:srgbClr>
          </a:solidFill>
          <a:ln w="12700">
            <a:solidFill>
              <a:srgbClr val="C4621D">
                <a:alpha val="0"/>
              </a:srgbClr>
            </a:solidFill>
            <a:prstDash val="solid"/>
          </a:ln>
        </p:spPr>
      </p:sp>
      <p:pic>
        <p:nvPicPr>
          <p:cNvPr id="39" name="Image 4" descr="preencoded.png"/>
          <p:cNvPicPr>
            <a:picLocks noChangeAspect="1"/>
          </p:cNvPicPr>
          <p:nvPr/>
        </p:nvPicPr>
        <p:blipFill>
          <a:blip r:embed="rId7"/>
          <a:stretch>
            <a:fillRect/>
          </a:stretch>
        </p:blipFill>
        <p:spPr>
          <a:xfrm>
            <a:off x="5087356" y="2252716"/>
            <a:ext cx="158008" cy="158008"/>
          </a:xfrm>
          <a:prstGeom prst="rect">
            <a:avLst/>
          </a:prstGeom>
        </p:spPr>
      </p:pic>
      <p:sp>
        <p:nvSpPr>
          <p:cNvPr id="40" name="Text 32"/>
          <p:cNvSpPr txBox="1"/>
          <p:nvPr/>
        </p:nvSpPr>
        <p:spPr>
          <a:xfrm>
            <a:off x="5440680" y="2139696"/>
            <a:ext cx="315468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Income level: bright cores saturate or plateau</a:t>
            </a:r>
            <a:endParaRPr lang="en-US" sz="1000" dirty="0"/>
          </a:p>
        </p:txBody>
      </p:sp>
      <p:sp>
        <p:nvSpPr>
          <p:cNvPr id="41" name="Shape 33"/>
          <p:cNvSpPr/>
          <p:nvPr/>
        </p:nvSpPr>
        <p:spPr>
          <a:xfrm>
            <a:off x="5001768" y="2596896"/>
            <a:ext cx="329184" cy="329184"/>
          </a:xfrm>
          <a:prstGeom prst="ellipse">
            <a:avLst/>
          </a:prstGeom>
          <a:solidFill>
            <a:srgbClr val="C4621D">
              <a:alpha val="22000"/>
            </a:srgbClr>
          </a:solidFill>
          <a:ln w="12700">
            <a:solidFill>
              <a:srgbClr val="C4621D">
                <a:alpha val="0"/>
              </a:srgbClr>
            </a:solidFill>
            <a:prstDash val="solid"/>
          </a:ln>
        </p:spPr>
      </p:sp>
      <p:pic>
        <p:nvPicPr>
          <p:cNvPr id="42" name="Image 5" descr="preencoded.png"/>
          <p:cNvPicPr>
            <a:picLocks noChangeAspect="1"/>
          </p:cNvPicPr>
          <p:nvPr/>
        </p:nvPicPr>
        <p:blipFill>
          <a:blip r:embed="rId8"/>
          <a:stretch>
            <a:fillRect/>
          </a:stretch>
        </p:blipFill>
        <p:spPr>
          <a:xfrm>
            <a:off x="5087356" y="2682484"/>
            <a:ext cx="158008" cy="158008"/>
          </a:xfrm>
          <a:prstGeom prst="rect">
            <a:avLst/>
          </a:prstGeom>
        </p:spPr>
      </p:pic>
      <p:sp>
        <p:nvSpPr>
          <p:cNvPr id="43" name="Text 34"/>
          <p:cNvSpPr txBox="1"/>
          <p:nvPr/>
        </p:nvSpPr>
        <p:spPr>
          <a:xfrm>
            <a:off x="5440680" y="2569464"/>
            <a:ext cx="315468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Lighting technology: LED retrofits change light per watt</a:t>
            </a:r>
            <a:endParaRPr lang="en-US" sz="1000" dirty="0"/>
          </a:p>
        </p:txBody>
      </p:sp>
      <p:sp>
        <p:nvSpPr>
          <p:cNvPr id="44" name="Shape 35"/>
          <p:cNvSpPr/>
          <p:nvPr/>
        </p:nvSpPr>
        <p:spPr>
          <a:xfrm>
            <a:off x="5001768" y="3026664"/>
            <a:ext cx="329184" cy="329184"/>
          </a:xfrm>
          <a:prstGeom prst="ellipse">
            <a:avLst/>
          </a:prstGeom>
          <a:solidFill>
            <a:srgbClr val="C4621D">
              <a:alpha val="22000"/>
            </a:srgbClr>
          </a:solidFill>
          <a:ln w="12700">
            <a:solidFill>
              <a:srgbClr val="C4621D">
                <a:alpha val="0"/>
              </a:srgbClr>
            </a:solidFill>
            <a:prstDash val="solid"/>
          </a:ln>
        </p:spPr>
      </p:sp>
      <p:pic>
        <p:nvPicPr>
          <p:cNvPr id="45" name="Image 6" descr="preencoded.png"/>
          <p:cNvPicPr>
            <a:picLocks noChangeAspect="1"/>
          </p:cNvPicPr>
          <p:nvPr/>
        </p:nvPicPr>
        <p:blipFill>
          <a:blip r:embed="rId9"/>
          <a:stretch>
            <a:fillRect/>
          </a:stretch>
        </p:blipFill>
        <p:spPr>
          <a:xfrm>
            <a:off x="5087356" y="3112252"/>
            <a:ext cx="158008" cy="158008"/>
          </a:xfrm>
          <a:prstGeom prst="rect">
            <a:avLst/>
          </a:prstGeom>
        </p:spPr>
      </p:pic>
      <p:sp>
        <p:nvSpPr>
          <p:cNvPr id="46" name="Text 36"/>
          <p:cNvSpPr txBox="1"/>
          <p:nvPr/>
        </p:nvSpPr>
        <p:spPr>
          <a:xfrm>
            <a:off x="5440680" y="2999232"/>
            <a:ext cx="315468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Power supply: load-shedding dims lights, not output</a:t>
            </a:r>
            <a:endParaRPr lang="en-US" sz="1000" dirty="0"/>
          </a:p>
        </p:txBody>
      </p:sp>
      <p:sp>
        <p:nvSpPr>
          <p:cNvPr id="47" name="Shape 37"/>
          <p:cNvSpPr/>
          <p:nvPr/>
        </p:nvSpPr>
        <p:spPr>
          <a:xfrm>
            <a:off x="4892040" y="3584448"/>
            <a:ext cx="3794760" cy="868680"/>
          </a:xfrm>
          <a:prstGeom prst="roundRect">
            <a:avLst>
              <a:gd name="adj" fmla="val 8421"/>
            </a:avLst>
          </a:prstGeom>
          <a:solidFill>
            <a:srgbClr val="E8F5EF"/>
          </a:solidFill>
          <a:ln w="15875">
            <a:solidFill>
              <a:srgbClr val="D49A00"/>
            </a:solidFill>
            <a:prstDash val="solid"/>
          </a:ln>
        </p:spPr>
      </p:sp>
      <p:sp>
        <p:nvSpPr>
          <p:cNvPr id="48" name="Text 38"/>
          <p:cNvSpPr txBox="1"/>
          <p:nvPr/>
        </p:nvSpPr>
        <p:spPr>
          <a:xfrm>
            <a:off x="5029200" y="3657600"/>
            <a:ext cx="3474720" cy="182880"/>
          </a:xfrm>
          <a:prstGeom prst="rect">
            <a:avLst/>
          </a:prstGeom>
          <a:noFill/>
          <a:ln/>
        </p:spPr>
        <p:txBody>
          <a:bodyPr wrap="square" lIns="0" tIns="0" rIns="0" bIns="0" rtlCol="0" anchor="t"/>
          <a:lstStyle/>
          <a:p>
            <a:pPr marL="0" indent="0">
              <a:buNone/>
            </a:pPr>
            <a:r>
              <a:rPr lang="en-US" sz="950" b="1" kern="0" spc="200" dirty="0">
                <a:solidFill>
                  <a:srgbClr val="D49A00"/>
                </a:solidFill>
                <a:latin typeface="Calibri" pitchFamily="34" charset="0"/>
                <a:ea typeface="Calibri" pitchFamily="34" charset="-122"/>
                <a:cs typeface="Calibri" pitchFamily="34" charset="-120"/>
              </a:rPr>
              <a:t>WHERE LIGHTS HELP MOST</a:t>
            </a:r>
            <a:endParaRPr lang="en-US" sz="950" dirty="0"/>
          </a:p>
        </p:txBody>
      </p:sp>
      <p:sp>
        <p:nvSpPr>
          <p:cNvPr id="49" name="Shape 39"/>
          <p:cNvSpPr/>
          <p:nvPr/>
        </p:nvSpPr>
        <p:spPr>
          <a:xfrm>
            <a:off x="5029200" y="3977640"/>
            <a:ext cx="1097280" cy="274320"/>
          </a:xfrm>
          <a:prstGeom prst="roundRect">
            <a:avLst>
              <a:gd name="adj" fmla="val 50000"/>
            </a:avLst>
          </a:prstGeom>
          <a:solidFill>
            <a:srgbClr val="00704A">
              <a:alpha val="15000"/>
            </a:srgbClr>
          </a:solidFill>
          <a:ln w="9525">
            <a:solidFill>
              <a:srgbClr val="00704A"/>
            </a:solidFill>
            <a:prstDash val="solid"/>
          </a:ln>
        </p:spPr>
      </p:sp>
      <p:sp>
        <p:nvSpPr>
          <p:cNvPr id="50" name="Text 40"/>
          <p:cNvSpPr txBox="1"/>
          <p:nvPr/>
        </p:nvSpPr>
        <p:spPr>
          <a:xfrm>
            <a:off x="5029200" y="3977640"/>
            <a:ext cx="1097280" cy="274320"/>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Subnational</a:t>
            </a:r>
            <a:endParaRPr lang="en-US" sz="900" dirty="0"/>
          </a:p>
        </p:txBody>
      </p:sp>
      <p:sp>
        <p:nvSpPr>
          <p:cNvPr id="51" name="Shape 41"/>
          <p:cNvSpPr/>
          <p:nvPr/>
        </p:nvSpPr>
        <p:spPr>
          <a:xfrm>
            <a:off x="6217920" y="3977640"/>
            <a:ext cx="1097280" cy="274320"/>
          </a:xfrm>
          <a:prstGeom prst="roundRect">
            <a:avLst>
              <a:gd name="adj" fmla="val 50000"/>
            </a:avLst>
          </a:prstGeom>
          <a:solidFill>
            <a:srgbClr val="00704A">
              <a:alpha val="15000"/>
            </a:srgbClr>
          </a:solidFill>
          <a:ln w="9525">
            <a:solidFill>
              <a:srgbClr val="00704A"/>
            </a:solidFill>
            <a:prstDash val="solid"/>
          </a:ln>
        </p:spPr>
      </p:sp>
      <p:sp>
        <p:nvSpPr>
          <p:cNvPr id="52" name="Text 42"/>
          <p:cNvSpPr txBox="1"/>
          <p:nvPr/>
        </p:nvSpPr>
        <p:spPr>
          <a:xfrm>
            <a:off x="6217920" y="3977640"/>
            <a:ext cx="1097280" cy="274320"/>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High-frequency</a:t>
            </a:r>
            <a:endParaRPr lang="en-US" sz="900" dirty="0"/>
          </a:p>
        </p:txBody>
      </p:sp>
      <p:sp>
        <p:nvSpPr>
          <p:cNvPr id="53" name="Shape 43"/>
          <p:cNvSpPr/>
          <p:nvPr/>
        </p:nvSpPr>
        <p:spPr>
          <a:xfrm>
            <a:off x="7406640" y="3977640"/>
            <a:ext cx="1097280" cy="274320"/>
          </a:xfrm>
          <a:prstGeom prst="roundRect">
            <a:avLst>
              <a:gd name="adj" fmla="val 50000"/>
            </a:avLst>
          </a:prstGeom>
          <a:solidFill>
            <a:srgbClr val="00704A">
              <a:alpha val="15000"/>
            </a:srgbClr>
          </a:solidFill>
          <a:ln w="9525">
            <a:solidFill>
              <a:srgbClr val="00704A"/>
            </a:solidFill>
            <a:prstDash val="solid"/>
          </a:ln>
        </p:spPr>
      </p:sp>
      <p:sp>
        <p:nvSpPr>
          <p:cNvPr id="54" name="Text 44"/>
          <p:cNvSpPr txBox="1"/>
          <p:nvPr/>
        </p:nvSpPr>
        <p:spPr>
          <a:xfrm>
            <a:off x="7406640" y="3977640"/>
            <a:ext cx="1097280" cy="274320"/>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Informal economy</a:t>
            </a:r>
            <a:endParaRPr lang="en-US" sz="900" dirty="0"/>
          </a:p>
        </p:txBody>
      </p:sp>
      <p:sp>
        <p:nvSpPr>
          <p:cNvPr id="55" name="Text 45"/>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Henderson et al. (2012) AER 102(2); Bruederle &amp; Hodler (2018) PLOS ONE 13(9); Martinez (2022) JPE 130(10).</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02</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Energy access and SDG 7: Africa’s defining gap</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25880"/>
            <a:ext cx="1874520" cy="960120"/>
          </a:xfrm>
          <a:prstGeom prst="roundRect">
            <a:avLst>
              <a:gd name="adj" fmla="val 7619"/>
            </a:avLst>
          </a:prstGeom>
          <a:solidFill>
            <a:srgbClr val="E8F5EF"/>
          </a:solidFill>
          <a:ln w="15875">
            <a:solidFill>
              <a:srgbClr val="00A86A"/>
            </a:solidFill>
            <a:prstDash val="solid"/>
          </a:ln>
        </p:spPr>
      </p:sp>
      <p:sp>
        <p:nvSpPr>
          <p:cNvPr id="18" name="Text 15"/>
          <p:cNvSpPr txBox="1"/>
          <p:nvPr/>
        </p:nvSpPr>
        <p:spPr>
          <a:xfrm>
            <a:off x="502920" y="1344168"/>
            <a:ext cx="1783080" cy="502920"/>
          </a:xfrm>
          <a:prstGeom prst="rect">
            <a:avLst/>
          </a:prstGeom>
          <a:noFill/>
          <a:ln/>
        </p:spPr>
        <p:txBody>
          <a:bodyPr wrap="square" lIns="0" tIns="0" rIns="0" bIns="0" rtlCol="0" anchor="ctr"/>
          <a:lstStyle/>
          <a:p>
            <a:pPr marL="0" indent="0" algn="ctr">
              <a:buNone/>
            </a:pPr>
            <a:r>
              <a:rPr lang="en-US" sz="3200" b="1" dirty="0">
                <a:solidFill>
                  <a:srgbClr val="00704A"/>
                </a:solidFill>
                <a:latin typeface="Calibri" pitchFamily="34" charset="0"/>
                <a:ea typeface="Calibri" pitchFamily="34" charset="-122"/>
                <a:cs typeface="Calibri" pitchFamily="34" charset="-120"/>
              </a:rPr>
              <a:t>655 M</a:t>
            </a:r>
            <a:endParaRPr lang="en-US" sz="3200" dirty="0"/>
          </a:p>
        </p:txBody>
      </p:sp>
      <p:sp>
        <p:nvSpPr>
          <p:cNvPr id="19" name="Text 16"/>
          <p:cNvSpPr txBox="1"/>
          <p:nvPr/>
        </p:nvSpPr>
        <p:spPr>
          <a:xfrm>
            <a:off x="548640" y="1847088"/>
            <a:ext cx="1691640" cy="411480"/>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people without electricity worldwide (2024)</a:t>
            </a:r>
            <a:endParaRPr lang="en-US" sz="900" dirty="0"/>
          </a:p>
        </p:txBody>
      </p:sp>
      <p:sp>
        <p:nvSpPr>
          <p:cNvPr id="20" name="Shape 17"/>
          <p:cNvSpPr/>
          <p:nvPr/>
        </p:nvSpPr>
        <p:spPr>
          <a:xfrm>
            <a:off x="2468880" y="1325880"/>
            <a:ext cx="1874520" cy="960120"/>
          </a:xfrm>
          <a:prstGeom prst="roundRect">
            <a:avLst>
              <a:gd name="adj" fmla="val 7619"/>
            </a:avLst>
          </a:prstGeom>
          <a:solidFill>
            <a:srgbClr val="E8F5EF"/>
          </a:solidFill>
          <a:ln w="15875">
            <a:solidFill>
              <a:srgbClr val="B83B2E"/>
            </a:solidFill>
            <a:prstDash val="solid"/>
          </a:ln>
        </p:spPr>
      </p:sp>
      <p:sp>
        <p:nvSpPr>
          <p:cNvPr id="21" name="Text 18"/>
          <p:cNvSpPr txBox="1"/>
          <p:nvPr/>
        </p:nvSpPr>
        <p:spPr>
          <a:xfrm>
            <a:off x="2514600" y="1344168"/>
            <a:ext cx="1783080" cy="502920"/>
          </a:xfrm>
          <a:prstGeom prst="rect">
            <a:avLst/>
          </a:prstGeom>
          <a:noFill/>
          <a:ln/>
        </p:spPr>
        <p:txBody>
          <a:bodyPr wrap="square" lIns="0" tIns="0" rIns="0" bIns="0" rtlCol="0" anchor="ctr"/>
          <a:lstStyle/>
          <a:p>
            <a:pPr marL="0" indent="0" algn="ctr">
              <a:buNone/>
            </a:pPr>
            <a:r>
              <a:rPr lang="en-US" sz="3200" b="1" dirty="0">
                <a:solidFill>
                  <a:srgbClr val="B83B2E"/>
                </a:solidFill>
                <a:latin typeface="Calibri" pitchFamily="34" charset="0"/>
                <a:ea typeface="Calibri" pitchFamily="34" charset="-122"/>
                <a:cs typeface="Calibri" pitchFamily="34" charset="-120"/>
              </a:rPr>
              <a:t>&gt; 560 M</a:t>
            </a:r>
            <a:endParaRPr lang="en-US" sz="3200" dirty="0"/>
          </a:p>
        </p:txBody>
      </p:sp>
      <p:sp>
        <p:nvSpPr>
          <p:cNvPr id="22" name="Text 19"/>
          <p:cNvSpPr txBox="1"/>
          <p:nvPr/>
        </p:nvSpPr>
        <p:spPr>
          <a:xfrm>
            <a:off x="2560320" y="1847088"/>
            <a:ext cx="1691640" cy="411480"/>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of them in sub-Saharan Africa</a:t>
            </a:r>
            <a:endParaRPr lang="en-US" sz="900" dirty="0"/>
          </a:p>
        </p:txBody>
      </p:sp>
      <p:graphicFrame>
        <p:nvGraphicFramePr>
          <p:cNvPr id="23" name="Chart 0"/>
          <p:cNvGraphicFramePr/>
          <p:nvPr/>
        </p:nvGraphicFramePr>
        <p:xfrm>
          <a:off x="457200" y="2377440"/>
          <a:ext cx="388620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24" name="Shape 20"/>
          <p:cNvSpPr/>
          <p:nvPr/>
        </p:nvSpPr>
        <p:spPr>
          <a:xfrm>
            <a:off x="4572000" y="1325880"/>
            <a:ext cx="4114800" cy="585216"/>
          </a:xfrm>
          <a:prstGeom prst="roundRect">
            <a:avLst>
              <a:gd name="adj" fmla="val 12500"/>
            </a:avLst>
          </a:prstGeom>
          <a:solidFill>
            <a:srgbClr val="F4F7F5"/>
          </a:solidFill>
          <a:ln w="9525">
            <a:solidFill>
              <a:srgbClr val="D5DED9"/>
            </a:solidFill>
            <a:prstDash val="solid"/>
          </a:ln>
        </p:spPr>
      </p:sp>
      <p:sp>
        <p:nvSpPr>
          <p:cNvPr id="25" name="Shape 21"/>
          <p:cNvSpPr/>
          <p:nvPr/>
        </p:nvSpPr>
        <p:spPr>
          <a:xfrm>
            <a:off x="4663440" y="1426464"/>
            <a:ext cx="384048" cy="384048"/>
          </a:xfrm>
          <a:prstGeom prst="ellipse">
            <a:avLst/>
          </a:prstGeom>
          <a:solidFill>
            <a:srgbClr val="D49A00">
              <a:alpha val="22000"/>
            </a:srgbClr>
          </a:solidFill>
          <a:ln w="12700">
            <a:solidFill>
              <a:srgbClr val="D49A00">
                <a:alpha val="0"/>
              </a:srgbClr>
            </a:solidFill>
            <a:prstDash val="solid"/>
          </a:ln>
        </p:spPr>
      </p:sp>
      <p:pic>
        <p:nvPicPr>
          <p:cNvPr id="26" name="Image 0" descr="preencoded.png"/>
          <p:cNvPicPr>
            <a:picLocks noChangeAspect="1"/>
          </p:cNvPicPr>
          <p:nvPr/>
        </p:nvPicPr>
        <p:blipFill>
          <a:blip r:embed="rId4"/>
          <a:stretch>
            <a:fillRect/>
          </a:stretch>
        </p:blipFill>
        <p:spPr>
          <a:xfrm>
            <a:off x="4763292" y="1526316"/>
            <a:ext cx="184343" cy="184343"/>
          </a:xfrm>
          <a:prstGeom prst="rect">
            <a:avLst/>
          </a:prstGeom>
        </p:spPr>
      </p:pic>
      <p:sp>
        <p:nvSpPr>
          <p:cNvPr id="27" name="Text 22"/>
          <p:cNvSpPr txBox="1"/>
          <p:nvPr/>
        </p:nvSpPr>
        <p:spPr>
          <a:xfrm>
            <a:off x="5138928" y="1371600"/>
            <a:ext cx="3474720" cy="201168"/>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Locate the unserved</a:t>
            </a:r>
            <a:endParaRPr lang="en-US" sz="1100" dirty="0"/>
          </a:p>
        </p:txBody>
      </p:sp>
      <p:sp>
        <p:nvSpPr>
          <p:cNvPr id="28" name="Text 23"/>
          <p:cNvSpPr txBox="1"/>
          <p:nvPr/>
        </p:nvSpPr>
        <p:spPr>
          <a:xfrm>
            <a:off x="5138928" y="1572768"/>
            <a:ext cx="3474720" cy="32004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Settlements visible by day but dark at night are candidate unelectrified communities.</a:t>
            </a:r>
            <a:endParaRPr lang="en-US" sz="900" dirty="0"/>
          </a:p>
        </p:txBody>
      </p:sp>
      <p:sp>
        <p:nvSpPr>
          <p:cNvPr id="29" name="Shape 24"/>
          <p:cNvSpPr/>
          <p:nvPr/>
        </p:nvSpPr>
        <p:spPr>
          <a:xfrm>
            <a:off x="4572000" y="1993392"/>
            <a:ext cx="4114800" cy="585216"/>
          </a:xfrm>
          <a:prstGeom prst="roundRect">
            <a:avLst>
              <a:gd name="adj" fmla="val 12500"/>
            </a:avLst>
          </a:prstGeom>
          <a:solidFill>
            <a:srgbClr val="F4F7F5"/>
          </a:solidFill>
          <a:ln w="9525">
            <a:solidFill>
              <a:srgbClr val="D5DED9"/>
            </a:solidFill>
            <a:prstDash val="solid"/>
          </a:ln>
        </p:spPr>
      </p:sp>
      <p:sp>
        <p:nvSpPr>
          <p:cNvPr id="30" name="Shape 25"/>
          <p:cNvSpPr/>
          <p:nvPr/>
        </p:nvSpPr>
        <p:spPr>
          <a:xfrm>
            <a:off x="4663440" y="2093976"/>
            <a:ext cx="384048" cy="384048"/>
          </a:xfrm>
          <a:prstGeom prst="ellipse">
            <a:avLst/>
          </a:prstGeom>
          <a:solidFill>
            <a:srgbClr val="D49A00">
              <a:alpha val="22000"/>
            </a:srgbClr>
          </a:solidFill>
          <a:ln w="12700">
            <a:solidFill>
              <a:srgbClr val="D49A00">
                <a:alpha val="0"/>
              </a:srgbClr>
            </a:solidFill>
            <a:prstDash val="solid"/>
          </a:ln>
        </p:spPr>
      </p:sp>
      <p:pic>
        <p:nvPicPr>
          <p:cNvPr id="31" name="Image 1" descr="preencoded.png"/>
          <p:cNvPicPr>
            <a:picLocks noChangeAspect="1"/>
          </p:cNvPicPr>
          <p:nvPr/>
        </p:nvPicPr>
        <p:blipFill>
          <a:blip r:embed="rId5"/>
          <a:stretch>
            <a:fillRect/>
          </a:stretch>
        </p:blipFill>
        <p:spPr>
          <a:xfrm>
            <a:off x="4763292" y="2193828"/>
            <a:ext cx="184343" cy="184343"/>
          </a:xfrm>
          <a:prstGeom prst="rect">
            <a:avLst/>
          </a:prstGeom>
        </p:spPr>
      </p:pic>
      <p:sp>
        <p:nvSpPr>
          <p:cNvPr id="32" name="Text 26"/>
          <p:cNvSpPr txBox="1"/>
          <p:nvPr/>
        </p:nvSpPr>
        <p:spPr>
          <a:xfrm>
            <a:off x="5138928" y="2039112"/>
            <a:ext cx="3474720" cy="201168"/>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Verify programmes</a:t>
            </a:r>
            <a:endParaRPr lang="en-US" sz="1100" dirty="0"/>
          </a:p>
        </p:txBody>
      </p:sp>
      <p:sp>
        <p:nvSpPr>
          <p:cNvPr id="33" name="Text 27"/>
          <p:cNvSpPr txBox="1"/>
          <p:nvPr/>
        </p:nvSpPr>
        <p:spPr>
          <a:xfrm>
            <a:off x="5138928" y="2240280"/>
            <a:ext cx="3474720" cy="32004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A grid extension that produces no new light has not, in a meaningful sense, been delivered.</a:t>
            </a:r>
            <a:endParaRPr lang="en-US" sz="900" dirty="0"/>
          </a:p>
        </p:txBody>
      </p:sp>
      <p:sp>
        <p:nvSpPr>
          <p:cNvPr id="34" name="Shape 28"/>
          <p:cNvSpPr/>
          <p:nvPr/>
        </p:nvSpPr>
        <p:spPr>
          <a:xfrm>
            <a:off x="4572000" y="2660904"/>
            <a:ext cx="4114800" cy="585216"/>
          </a:xfrm>
          <a:prstGeom prst="roundRect">
            <a:avLst>
              <a:gd name="adj" fmla="val 12500"/>
            </a:avLst>
          </a:prstGeom>
          <a:solidFill>
            <a:srgbClr val="F4F7F5"/>
          </a:solidFill>
          <a:ln w="9525">
            <a:solidFill>
              <a:srgbClr val="D5DED9"/>
            </a:solidFill>
            <a:prstDash val="solid"/>
          </a:ln>
        </p:spPr>
      </p:sp>
      <p:sp>
        <p:nvSpPr>
          <p:cNvPr id="35" name="Shape 29"/>
          <p:cNvSpPr/>
          <p:nvPr/>
        </p:nvSpPr>
        <p:spPr>
          <a:xfrm>
            <a:off x="4663440" y="2761488"/>
            <a:ext cx="384048" cy="384048"/>
          </a:xfrm>
          <a:prstGeom prst="ellipse">
            <a:avLst/>
          </a:prstGeom>
          <a:solidFill>
            <a:srgbClr val="D49A00">
              <a:alpha val="22000"/>
            </a:srgbClr>
          </a:solidFill>
          <a:ln w="12700">
            <a:solidFill>
              <a:srgbClr val="D49A00">
                <a:alpha val="0"/>
              </a:srgbClr>
            </a:solidFill>
            <a:prstDash val="solid"/>
          </a:ln>
        </p:spPr>
      </p:sp>
      <p:pic>
        <p:nvPicPr>
          <p:cNvPr id="36" name="Image 2" descr="preencoded.png"/>
          <p:cNvPicPr>
            <a:picLocks noChangeAspect="1"/>
          </p:cNvPicPr>
          <p:nvPr/>
        </p:nvPicPr>
        <p:blipFill>
          <a:blip r:embed="rId6"/>
          <a:stretch>
            <a:fillRect/>
          </a:stretch>
        </p:blipFill>
        <p:spPr>
          <a:xfrm>
            <a:off x="4763292" y="2861340"/>
            <a:ext cx="184343" cy="184343"/>
          </a:xfrm>
          <a:prstGeom prst="rect">
            <a:avLst/>
          </a:prstGeom>
        </p:spPr>
      </p:pic>
      <p:sp>
        <p:nvSpPr>
          <p:cNvPr id="37" name="Text 30"/>
          <p:cNvSpPr txBox="1"/>
          <p:nvPr/>
        </p:nvSpPr>
        <p:spPr>
          <a:xfrm>
            <a:off x="5138928" y="2706624"/>
            <a:ext cx="3474720" cy="201168"/>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Measure reliability</a:t>
            </a:r>
            <a:endParaRPr lang="en-US" sz="1100" dirty="0"/>
          </a:p>
        </p:txBody>
      </p:sp>
      <p:sp>
        <p:nvSpPr>
          <p:cNvPr id="38" name="Text 31"/>
          <p:cNvSpPr txBox="1"/>
          <p:nvPr/>
        </p:nvSpPr>
        <p:spPr>
          <a:xfrm>
            <a:off x="5138928" y="2907792"/>
            <a:ext cx="3474720" cy="32004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Daily data reveal how often lights are on — load-shedding a binary “connected” statistic hides.</a:t>
            </a:r>
            <a:endParaRPr lang="en-US" sz="900" dirty="0"/>
          </a:p>
        </p:txBody>
      </p:sp>
      <p:sp>
        <p:nvSpPr>
          <p:cNvPr id="39" name="Shape 32"/>
          <p:cNvSpPr/>
          <p:nvPr/>
        </p:nvSpPr>
        <p:spPr>
          <a:xfrm>
            <a:off x="4572000" y="3328416"/>
            <a:ext cx="4114800" cy="585216"/>
          </a:xfrm>
          <a:prstGeom prst="roundRect">
            <a:avLst>
              <a:gd name="adj" fmla="val 12500"/>
            </a:avLst>
          </a:prstGeom>
          <a:solidFill>
            <a:srgbClr val="F4F7F5"/>
          </a:solidFill>
          <a:ln w="9525">
            <a:solidFill>
              <a:srgbClr val="D5DED9"/>
            </a:solidFill>
            <a:prstDash val="solid"/>
          </a:ln>
        </p:spPr>
      </p:sp>
      <p:sp>
        <p:nvSpPr>
          <p:cNvPr id="40" name="Shape 33"/>
          <p:cNvSpPr/>
          <p:nvPr/>
        </p:nvSpPr>
        <p:spPr>
          <a:xfrm>
            <a:off x="4663440" y="3429000"/>
            <a:ext cx="384048" cy="384048"/>
          </a:xfrm>
          <a:prstGeom prst="ellipse">
            <a:avLst/>
          </a:prstGeom>
          <a:solidFill>
            <a:srgbClr val="D49A00">
              <a:alpha val="22000"/>
            </a:srgbClr>
          </a:solidFill>
          <a:ln w="12700">
            <a:solidFill>
              <a:srgbClr val="D49A00">
                <a:alpha val="0"/>
              </a:srgbClr>
            </a:solidFill>
            <a:prstDash val="solid"/>
          </a:ln>
        </p:spPr>
      </p:sp>
      <p:pic>
        <p:nvPicPr>
          <p:cNvPr id="41" name="Image 3" descr="preencoded.png"/>
          <p:cNvPicPr>
            <a:picLocks noChangeAspect="1"/>
          </p:cNvPicPr>
          <p:nvPr/>
        </p:nvPicPr>
        <p:blipFill>
          <a:blip r:embed="rId7"/>
          <a:stretch>
            <a:fillRect/>
          </a:stretch>
        </p:blipFill>
        <p:spPr>
          <a:xfrm>
            <a:off x="4763292" y="3528852"/>
            <a:ext cx="184343" cy="184343"/>
          </a:xfrm>
          <a:prstGeom prst="rect">
            <a:avLst/>
          </a:prstGeom>
        </p:spPr>
      </p:pic>
      <p:sp>
        <p:nvSpPr>
          <p:cNvPr id="42" name="Text 34"/>
          <p:cNvSpPr txBox="1"/>
          <p:nvPr/>
        </p:nvSpPr>
        <p:spPr>
          <a:xfrm>
            <a:off x="5138928" y="3374136"/>
            <a:ext cx="3474720" cy="201168"/>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Plan the last mile</a:t>
            </a:r>
            <a:endParaRPr lang="en-US" sz="1100" dirty="0"/>
          </a:p>
        </p:txBody>
      </p:sp>
      <p:sp>
        <p:nvSpPr>
          <p:cNvPr id="43" name="Text 35"/>
          <p:cNvSpPr txBox="1"/>
          <p:nvPr/>
        </p:nvSpPr>
        <p:spPr>
          <a:xfrm>
            <a:off x="5138928" y="3575304"/>
            <a:ext cx="3474720" cy="32004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Distance to lit corridors informs grid extension vs mini-grid vs stand-alone solar.</a:t>
            </a:r>
            <a:endParaRPr lang="en-US" sz="900" dirty="0"/>
          </a:p>
        </p:txBody>
      </p:sp>
      <p:sp>
        <p:nvSpPr>
          <p:cNvPr id="44" name="Shape 36"/>
          <p:cNvSpPr/>
          <p:nvPr/>
        </p:nvSpPr>
        <p:spPr>
          <a:xfrm>
            <a:off x="4572000" y="4014216"/>
            <a:ext cx="4114800" cy="457200"/>
          </a:xfrm>
          <a:prstGeom prst="roundRect">
            <a:avLst>
              <a:gd name="adj" fmla="val 16000"/>
            </a:avLst>
          </a:prstGeom>
          <a:solidFill>
            <a:srgbClr val="E8F5EF"/>
          </a:solidFill>
          <a:ln w="15875">
            <a:solidFill>
              <a:srgbClr val="00A86A"/>
            </a:solidFill>
            <a:prstDash val="solid"/>
          </a:ln>
        </p:spPr>
      </p:sp>
      <p:sp>
        <p:nvSpPr>
          <p:cNvPr id="45" name="Text 37"/>
          <p:cNvSpPr txBox="1"/>
          <p:nvPr/>
        </p:nvSpPr>
        <p:spPr>
          <a:xfrm>
            <a:off x="4681728" y="4023360"/>
            <a:ext cx="3931920" cy="438912"/>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Mission 300 </a:t>
            </a:r>
            <a:r>
              <a:rPr lang="en-US" sz="950" dirty="0">
                <a:solidFill>
                  <a:srgbClr val="231F20"/>
                </a:solidFill>
                <a:latin typeface="Calibri" pitchFamily="34" charset="0"/>
                <a:ea typeface="Calibri" pitchFamily="34" charset="-122"/>
                <a:cs typeface="Calibri" pitchFamily="34" charset="-120"/>
              </a:rPr>
              <a:t>(World Bank Group &amp; AfDB): 300 M people connected by 2030 — monitoring at that scale needs spatial evidence.</a:t>
            </a:r>
            <a:endParaRPr lang="en-US" sz="950" dirty="0"/>
          </a:p>
        </p:txBody>
      </p:sp>
      <p:sp>
        <p:nvSpPr>
          <p:cNvPr id="46" name="Text 38"/>
          <p:cNvSpPr txBox="1"/>
          <p:nvPr/>
        </p:nvSpPr>
        <p:spPr>
          <a:xfrm>
            <a:off x="457200" y="4590288"/>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Tracking SDG 7: The Energy Progress Report (IEA, IRENA, UN DESA, World Bank, WHO), 24 June 2026; HREA, Min &amp; O’Keeffe (Univ. of Michigan).</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03</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Urbanisation and the shape of a city</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25880"/>
            <a:ext cx="2194560" cy="2743200"/>
          </a:xfrm>
          <a:prstGeom prst="roundRect">
            <a:avLst>
              <a:gd name="adj" fmla="val 3333"/>
            </a:avLst>
          </a:prstGeom>
          <a:solidFill>
            <a:srgbClr val="F4F7F5"/>
          </a:solidFill>
          <a:ln w="9525">
            <a:solidFill>
              <a:srgbClr val="D5DED9"/>
            </a:solidFill>
            <a:prstDash val="solid"/>
          </a:ln>
        </p:spPr>
      </p:sp>
      <p:sp>
        <p:nvSpPr>
          <p:cNvPr id="18" name="Text 15"/>
          <p:cNvSpPr txBox="1"/>
          <p:nvPr/>
        </p:nvSpPr>
        <p:spPr>
          <a:xfrm>
            <a:off x="457200" y="1389888"/>
            <a:ext cx="2194560" cy="274320"/>
          </a:xfrm>
          <a:prstGeom prst="rect">
            <a:avLst/>
          </a:prstGeom>
          <a:noFill/>
          <a:ln/>
        </p:spPr>
        <p:txBody>
          <a:bodyPr wrap="square" lIns="0" tIns="0" rIns="0" bIns="0" rtlCol="0" anchor="t"/>
          <a:lstStyle/>
          <a:p>
            <a:pPr marL="0" indent="0" algn="ctr">
              <a:buNone/>
            </a:pPr>
            <a:r>
              <a:rPr lang="en-US" sz="1400" b="1" dirty="0">
                <a:solidFill>
                  <a:srgbClr val="0E7C86"/>
                </a:solidFill>
                <a:latin typeface="Calibri" pitchFamily="34" charset="0"/>
                <a:ea typeface="Calibri" pitchFamily="34" charset="-122"/>
                <a:cs typeface="Calibri" pitchFamily="34" charset="-120"/>
              </a:rPr>
              <a:t>Sprawl</a:t>
            </a:r>
            <a:endParaRPr lang="en-US" sz="1400" dirty="0"/>
          </a:p>
        </p:txBody>
      </p:sp>
      <p:sp>
        <p:nvSpPr>
          <p:cNvPr id="19" name="Text 16"/>
          <p:cNvSpPr txBox="1"/>
          <p:nvPr/>
        </p:nvSpPr>
        <p:spPr>
          <a:xfrm>
            <a:off x="548640" y="1664208"/>
            <a:ext cx="2011680" cy="36576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Footprint expands outward at low intensity</a:t>
            </a:r>
            <a:endParaRPr lang="en-US" sz="950" dirty="0"/>
          </a:p>
        </p:txBody>
      </p:sp>
      <p:sp>
        <p:nvSpPr>
          <p:cNvPr id="20" name="Shape 17"/>
          <p:cNvSpPr/>
          <p:nvPr/>
        </p:nvSpPr>
        <p:spPr>
          <a:xfrm>
            <a:off x="502920" y="2123237"/>
            <a:ext cx="2103120" cy="1514246"/>
          </a:xfrm>
          <a:prstGeom prst="ellipse">
            <a:avLst/>
          </a:prstGeom>
          <a:solidFill>
            <a:srgbClr val="0E7C86">
              <a:alpha val="8000"/>
            </a:srgbClr>
          </a:solidFill>
          <a:ln w="9525">
            <a:solidFill>
              <a:srgbClr val="0E7C86">
                <a:alpha val="70000"/>
              </a:srgbClr>
            </a:solidFill>
            <a:prstDash val="solid"/>
          </a:ln>
        </p:spPr>
      </p:sp>
      <p:sp>
        <p:nvSpPr>
          <p:cNvPr id="21" name="Shape 18"/>
          <p:cNvSpPr/>
          <p:nvPr/>
        </p:nvSpPr>
        <p:spPr>
          <a:xfrm>
            <a:off x="777240" y="2320747"/>
            <a:ext cx="1554480" cy="1119226"/>
          </a:xfrm>
          <a:prstGeom prst="ellipse">
            <a:avLst/>
          </a:prstGeom>
          <a:solidFill>
            <a:srgbClr val="0E7C86">
              <a:alpha val="15000"/>
            </a:srgbClr>
          </a:solidFill>
          <a:ln w="9525">
            <a:solidFill>
              <a:srgbClr val="0E7C86">
                <a:alpha val="70000"/>
              </a:srgbClr>
            </a:solidFill>
            <a:prstDash val="solid"/>
          </a:ln>
        </p:spPr>
      </p:sp>
      <p:sp>
        <p:nvSpPr>
          <p:cNvPr id="22" name="Shape 19"/>
          <p:cNvSpPr/>
          <p:nvPr/>
        </p:nvSpPr>
        <p:spPr>
          <a:xfrm>
            <a:off x="1143000" y="2584094"/>
            <a:ext cx="822960" cy="592531"/>
          </a:xfrm>
          <a:prstGeom prst="ellipse">
            <a:avLst/>
          </a:prstGeom>
          <a:solidFill>
            <a:srgbClr val="0E7C86">
              <a:alpha val="55000"/>
            </a:srgbClr>
          </a:solidFill>
          <a:ln w="9525">
            <a:solidFill>
              <a:srgbClr val="0E7C86">
                <a:alpha val="70000"/>
              </a:srgbClr>
            </a:solidFill>
            <a:prstDash val="solid"/>
          </a:ln>
        </p:spPr>
      </p:sp>
      <p:sp>
        <p:nvSpPr>
          <p:cNvPr id="23" name="Shape 20"/>
          <p:cNvSpPr/>
          <p:nvPr/>
        </p:nvSpPr>
        <p:spPr>
          <a:xfrm>
            <a:off x="594360" y="3675888"/>
            <a:ext cx="1920240" cy="274320"/>
          </a:xfrm>
          <a:prstGeom prst="roundRect">
            <a:avLst>
              <a:gd name="adj" fmla="val 50000"/>
            </a:avLst>
          </a:prstGeom>
          <a:solidFill>
            <a:srgbClr val="0E7C86">
              <a:alpha val="15000"/>
            </a:srgbClr>
          </a:solidFill>
          <a:ln w="9525">
            <a:solidFill>
              <a:srgbClr val="0E7C86"/>
            </a:solidFill>
            <a:prstDash val="solid"/>
          </a:ln>
        </p:spPr>
      </p:sp>
      <p:sp>
        <p:nvSpPr>
          <p:cNvPr id="24" name="Text 21"/>
          <p:cNvSpPr txBox="1"/>
          <p:nvPr/>
        </p:nvSpPr>
        <p:spPr>
          <a:xfrm>
            <a:off x="594360" y="3675888"/>
            <a:ext cx="1920240" cy="274320"/>
          </a:xfrm>
          <a:prstGeom prst="rect">
            <a:avLst/>
          </a:prstGeom>
          <a:noFill/>
          <a:ln/>
        </p:spPr>
        <p:txBody>
          <a:bodyPr wrap="square" lIns="0" tIns="0" rIns="0" bIns="0" rtlCol="0" anchor="ctr"/>
          <a:lstStyle/>
          <a:p>
            <a:pPr marL="0" indent="0" algn="ctr">
              <a:buNone/>
            </a:pPr>
            <a:r>
              <a:rPr lang="en-US" sz="900" b="1" dirty="0">
                <a:solidFill>
                  <a:srgbClr val="0E7C86"/>
                </a:solidFill>
                <a:latin typeface="Calibri" pitchFamily="34" charset="0"/>
                <a:ea typeface="Calibri" pitchFamily="34" charset="-122"/>
                <a:cs typeface="Calibri" pitchFamily="34" charset="-120"/>
              </a:rPr>
              <a:t>Lit area +40%  ·  Radiance +6%</a:t>
            </a:r>
            <a:endParaRPr lang="en-US" sz="900" dirty="0"/>
          </a:p>
        </p:txBody>
      </p:sp>
      <p:sp>
        <p:nvSpPr>
          <p:cNvPr id="25" name="Shape 22"/>
          <p:cNvSpPr/>
          <p:nvPr/>
        </p:nvSpPr>
        <p:spPr>
          <a:xfrm>
            <a:off x="2788920" y="1325880"/>
            <a:ext cx="2194560" cy="2743200"/>
          </a:xfrm>
          <a:prstGeom prst="roundRect">
            <a:avLst>
              <a:gd name="adj" fmla="val 3333"/>
            </a:avLst>
          </a:prstGeom>
          <a:solidFill>
            <a:srgbClr val="F4F7F5"/>
          </a:solidFill>
          <a:ln w="9525">
            <a:solidFill>
              <a:srgbClr val="D5DED9"/>
            </a:solidFill>
            <a:prstDash val="solid"/>
          </a:ln>
        </p:spPr>
      </p:sp>
      <p:sp>
        <p:nvSpPr>
          <p:cNvPr id="26" name="Text 23"/>
          <p:cNvSpPr txBox="1"/>
          <p:nvPr/>
        </p:nvSpPr>
        <p:spPr>
          <a:xfrm>
            <a:off x="2788920" y="1389888"/>
            <a:ext cx="2194560" cy="274320"/>
          </a:xfrm>
          <a:prstGeom prst="rect">
            <a:avLst/>
          </a:prstGeom>
          <a:noFill/>
          <a:ln/>
        </p:spPr>
        <p:txBody>
          <a:bodyPr wrap="square" lIns="0" tIns="0" rIns="0" bIns="0" rtlCol="0" anchor="t"/>
          <a:lstStyle/>
          <a:p>
            <a:pPr marL="0" indent="0" algn="ctr">
              <a:buNone/>
            </a:pPr>
            <a:r>
              <a:rPr lang="en-US" sz="1400" b="1" dirty="0">
                <a:solidFill>
                  <a:srgbClr val="00704A"/>
                </a:solidFill>
                <a:latin typeface="Calibri" pitchFamily="34" charset="0"/>
                <a:ea typeface="Calibri" pitchFamily="34" charset="-122"/>
                <a:cs typeface="Calibri" pitchFamily="34" charset="-120"/>
              </a:rPr>
              <a:t>Densification</a:t>
            </a:r>
            <a:endParaRPr lang="en-US" sz="1400" dirty="0"/>
          </a:p>
        </p:txBody>
      </p:sp>
      <p:sp>
        <p:nvSpPr>
          <p:cNvPr id="27" name="Text 24"/>
          <p:cNvSpPr txBox="1"/>
          <p:nvPr/>
        </p:nvSpPr>
        <p:spPr>
          <a:xfrm>
            <a:off x="2880360" y="1664208"/>
            <a:ext cx="2011680" cy="36576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The same footprint intensifies</a:t>
            </a:r>
            <a:endParaRPr lang="en-US" sz="950" dirty="0"/>
          </a:p>
        </p:txBody>
      </p:sp>
      <p:sp>
        <p:nvSpPr>
          <p:cNvPr id="28" name="Shape 25"/>
          <p:cNvSpPr/>
          <p:nvPr/>
        </p:nvSpPr>
        <p:spPr>
          <a:xfrm>
            <a:off x="3223260" y="2403043"/>
            <a:ext cx="1325880" cy="954634"/>
          </a:xfrm>
          <a:prstGeom prst="ellipse">
            <a:avLst/>
          </a:prstGeom>
          <a:solidFill>
            <a:srgbClr val="00704A">
              <a:alpha val="20000"/>
            </a:srgbClr>
          </a:solidFill>
          <a:ln w="9525">
            <a:solidFill>
              <a:srgbClr val="00704A">
                <a:alpha val="70000"/>
              </a:srgbClr>
            </a:solidFill>
            <a:prstDash val="solid"/>
          </a:ln>
        </p:spPr>
      </p:sp>
      <p:sp>
        <p:nvSpPr>
          <p:cNvPr id="29" name="Shape 26"/>
          <p:cNvSpPr/>
          <p:nvPr/>
        </p:nvSpPr>
        <p:spPr>
          <a:xfrm>
            <a:off x="3429000" y="2551176"/>
            <a:ext cx="914400" cy="658368"/>
          </a:xfrm>
          <a:prstGeom prst="ellipse">
            <a:avLst/>
          </a:prstGeom>
          <a:solidFill>
            <a:srgbClr val="00704A">
              <a:alpha val="60000"/>
            </a:srgbClr>
          </a:solidFill>
          <a:ln w="9525">
            <a:solidFill>
              <a:srgbClr val="00704A">
                <a:alpha val="70000"/>
              </a:srgbClr>
            </a:solidFill>
            <a:prstDash val="solid"/>
          </a:ln>
        </p:spPr>
      </p:sp>
      <p:sp>
        <p:nvSpPr>
          <p:cNvPr id="30" name="Shape 27"/>
          <p:cNvSpPr/>
          <p:nvPr/>
        </p:nvSpPr>
        <p:spPr>
          <a:xfrm>
            <a:off x="3634740" y="2699309"/>
            <a:ext cx="502920" cy="362102"/>
          </a:xfrm>
          <a:prstGeom prst="ellipse">
            <a:avLst/>
          </a:prstGeom>
          <a:solidFill>
            <a:srgbClr val="00704A"/>
          </a:solidFill>
          <a:ln w="9525">
            <a:solidFill>
              <a:srgbClr val="00704A">
                <a:alpha val="70000"/>
              </a:srgbClr>
            </a:solidFill>
            <a:prstDash val="solid"/>
          </a:ln>
        </p:spPr>
      </p:sp>
      <p:sp>
        <p:nvSpPr>
          <p:cNvPr id="31" name="Shape 28"/>
          <p:cNvSpPr/>
          <p:nvPr/>
        </p:nvSpPr>
        <p:spPr>
          <a:xfrm>
            <a:off x="2926080" y="3675888"/>
            <a:ext cx="1920240" cy="274320"/>
          </a:xfrm>
          <a:prstGeom prst="roundRect">
            <a:avLst>
              <a:gd name="adj" fmla="val 50000"/>
            </a:avLst>
          </a:prstGeom>
          <a:solidFill>
            <a:srgbClr val="00704A">
              <a:alpha val="15000"/>
            </a:srgbClr>
          </a:solidFill>
          <a:ln w="9525">
            <a:solidFill>
              <a:srgbClr val="00704A"/>
            </a:solidFill>
            <a:prstDash val="solid"/>
          </a:ln>
        </p:spPr>
      </p:sp>
      <p:sp>
        <p:nvSpPr>
          <p:cNvPr id="32" name="Text 29"/>
          <p:cNvSpPr txBox="1"/>
          <p:nvPr/>
        </p:nvSpPr>
        <p:spPr>
          <a:xfrm>
            <a:off x="2926080" y="3675888"/>
            <a:ext cx="1920240" cy="274320"/>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Lit area +6%  ·  Radiance +40%</a:t>
            </a:r>
            <a:endParaRPr lang="en-US" sz="900" dirty="0"/>
          </a:p>
        </p:txBody>
      </p:sp>
      <p:sp>
        <p:nvSpPr>
          <p:cNvPr id="33" name="Text 30"/>
          <p:cNvSpPr txBox="1"/>
          <p:nvPr/>
        </p:nvSpPr>
        <p:spPr>
          <a:xfrm>
            <a:off x="457200" y="4160520"/>
            <a:ext cx="4526280" cy="228600"/>
          </a:xfrm>
          <a:prstGeom prst="rect">
            <a:avLst/>
          </a:prstGeom>
          <a:noFill/>
          <a:ln/>
        </p:spPr>
        <p:txBody>
          <a:bodyPr wrap="square" lIns="0" tIns="0" rIns="0" bIns="0" rtlCol="0" anchor="t"/>
          <a:lstStyle/>
          <a:p>
            <a:pPr marL="0" indent="0" algn="ctr">
              <a:buNone/>
            </a:pPr>
            <a:r>
              <a:rPr lang="en-US" sz="1000" i="1" dirty="0">
                <a:solidFill>
                  <a:srgbClr val="5E6964"/>
                </a:solidFill>
                <a:latin typeface="Calibri" pitchFamily="34" charset="0"/>
                <a:ea typeface="Calibri" pitchFamily="34" charset="-122"/>
                <a:cs typeface="Calibri" pitchFamily="34" charset="-120"/>
              </a:rPr>
              <a:t>Same Sum of Lights — two very different cities (illustrative).</a:t>
            </a:r>
            <a:endParaRPr lang="en-US" sz="1000" dirty="0"/>
          </a:p>
        </p:txBody>
      </p:sp>
      <p:sp>
        <p:nvSpPr>
          <p:cNvPr id="34" name="Shape 31"/>
          <p:cNvSpPr/>
          <p:nvPr/>
        </p:nvSpPr>
        <p:spPr>
          <a:xfrm>
            <a:off x="5257800" y="1371600"/>
            <a:ext cx="420624" cy="420624"/>
          </a:xfrm>
          <a:prstGeom prst="ellipse">
            <a:avLst/>
          </a:prstGeom>
          <a:solidFill>
            <a:srgbClr val="D49A00">
              <a:alpha val="22000"/>
            </a:srgbClr>
          </a:solidFill>
          <a:ln w="12700">
            <a:solidFill>
              <a:srgbClr val="D49A00">
                <a:alpha val="0"/>
              </a:srgbClr>
            </a:solidFill>
            <a:prstDash val="solid"/>
          </a:ln>
        </p:spPr>
      </p:sp>
      <p:pic>
        <p:nvPicPr>
          <p:cNvPr id="35" name="Image 0" descr="preencoded.png"/>
          <p:cNvPicPr>
            <a:picLocks noChangeAspect="1"/>
          </p:cNvPicPr>
          <p:nvPr/>
        </p:nvPicPr>
        <p:blipFill>
          <a:blip r:embed="rId3"/>
          <a:stretch>
            <a:fillRect/>
          </a:stretch>
        </p:blipFill>
        <p:spPr>
          <a:xfrm>
            <a:off x="5367162" y="1480962"/>
            <a:ext cx="201900" cy="201900"/>
          </a:xfrm>
          <a:prstGeom prst="rect">
            <a:avLst/>
          </a:prstGeom>
        </p:spPr>
      </p:pic>
      <p:sp>
        <p:nvSpPr>
          <p:cNvPr id="36" name="Text 32"/>
          <p:cNvSpPr txBox="1"/>
          <p:nvPr/>
        </p:nvSpPr>
        <p:spPr>
          <a:xfrm>
            <a:off x="5806440" y="1325880"/>
            <a:ext cx="288036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Map the footprint where registers are missing</a:t>
            </a:r>
            <a:endParaRPr lang="en-US" sz="1150" dirty="0"/>
          </a:p>
        </p:txBody>
      </p:sp>
      <p:sp>
        <p:nvSpPr>
          <p:cNvPr id="37" name="Text 33"/>
          <p:cNvSpPr txBox="1"/>
          <p:nvPr/>
        </p:nvSpPr>
        <p:spPr>
          <a:xfrm>
            <a:off x="5806440" y="1572768"/>
            <a:ext cx="2880360" cy="43891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Lights reveal built-up extent where cadastral records or recent maps do not exist.</a:t>
            </a:r>
            <a:endParaRPr lang="en-US" sz="950" dirty="0"/>
          </a:p>
        </p:txBody>
      </p:sp>
      <p:sp>
        <p:nvSpPr>
          <p:cNvPr id="38" name="Shape 34"/>
          <p:cNvSpPr/>
          <p:nvPr/>
        </p:nvSpPr>
        <p:spPr>
          <a:xfrm>
            <a:off x="5257800" y="2130552"/>
            <a:ext cx="420624" cy="420624"/>
          </a:xfrm>
          <a:prstGeom prst="ellipse">
            <a:avLst/>
          </a:prstGeom>
          <a:solidFill>
            <a:srgbClr val="D49A00">
              <a:alpha val="22000"/>
            </a:srgbClr>
          </a:solidFill>
          <a:ln w="12700">
            <a:solidFill>
              <a:srgbClr val="D49A00">
                <a:alpha val="0"/>
              </a:srgbClr>
            </a:solidFill>
            <a:prstDash val="solid"/>
          </a:ln>
        </p:spPr>
      </p:sp>
      <p:pic>
        <p:nvPicPr>
          <p:cNvPr id="39" name="Image 1" descr="preencoded.png"/>
          <p:cNvPicPr>
            <a:picLocks noChangeAspect="1"/>
          </p:cNvPicPr>
          <p:nvPr/>
        </p:nvPicPr>
        <p:blipFill>
          <a:blip r:embed="rId4"/>
          <a:stretch>
            <a:fillRect/>
          </a:stretch>
        </p:blipFill>
        <p:spPr>
          <a:xfrm>
            <a:off x="5367162" y="2239914"/>
            <a:ext cx="201900" cy="201900"/>
          </a:xfrm>
          <a:prstGeom prst="rect">
            <a:avLst/>
          </a:prstGeom>
        </p:spPr>
      </p:pic>
      <p:sp>
        <p:nvSpPr>
          <p:cNvPr id="40" name="Text 35"/>
          <p:cNvSpPr txBox="1"/>
          <p:nvPr/>
        </p:nvSpPr>
        <p:spPr>
          <a:xfrm>
            <a:off x="5806440" y="2084832"/>
            <a:ext cx="288036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Separate sprawl from densification</a:t>
            </a:r>
            <a:endParaRPr lang="en-US" sz="1150" dirty="0"/>
          </a:p>
        </p:txBody>
      </p:sp>
      <p:sp>
        <p:nvSpPr>
          <p:cNvPr id="41" name="Text 36"/>
          <p:cNvSpPr txBox="1"/>
          <p:nvPr/>
        </p:nvSpPr>
        <p:spPr>
          <a:xfrm>
            <a:off x="5806440" y="2331720"/>
            <a:ext cx="2880360" cy="43891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Compare growth in lit area with growth in radiance — it matters for transport and services.</a:t>
            </a:r>
            <a:endParaRPr lang="en-US" sz="950" dirty="0"/>
          </a:p>
        </p:txBody>
      </p:sp>
      <p:sp>
        <p:nvSpPr>
          <p:cNvPr id="42" name="Shape 37"/>
          <p:cNvSpPr/>
          <p:nvPr/>
        </p:nvSpPr>
        <p:spPr>
          <a:xfrm>
            <a:off x="5257800" y="2889504"/>
            <a:ext cx="420624" cy="420624"/>
          </a:xfrm>
          <a:prstGeom prst="ellipse">
            <a:avLst/>
          </a:prstGeom>
          <a:solidFill>
            <a:srgbClr val="D49A00">
              <a:alpha val="22000"/>
            </a:srgbClr>
          </a:solidFill>
          <a:ln w="12700">
            <a:solidFill>
              <a:srgbClr val="D49A00">
                <a:alpha val="0"/>
              </a:srgbClr>
            </a:solidFill>
            <a:prstDash val="solid"/>
          </a:ln>
        </p:spPr>
      </p:sp>
      <p:pic>
        <p:nvPicPr>
          <p:cNvPr id="43" name="Image 2" descr="preencoded.png"/>
          <p:cNvPicPr>
            <a:picLocks noChangeAspect="1"/>
          </p:cNvPicPr>
          <p:nvPr/>
        </p:nvPicPr>
        <p:blipFill>
          <a:blip r:embed="rId5"/>
          <a:stretch>
            <a:fillRect/>
          </a:stretch>
        </p:blipFill>
        <p:spPr>
          <a:xfrm>
            <a:off x="5367162" y="2998866"/>
            <a:ext cx="201900" cy="201900"/>
          </a:xfrm>
          <a:prstGeom prst="rect">
            <a:avLst/>
          </a:prstGeom>
        </p:spPr>
      </p:pic>
      <p:sp>
        <p:nvSpPr>
          <p:cNvPr id="44" name="Text 38"/>
          <p:cNvSpPr txBox="1"/>
          <p:nvPr/>
        </p:nvSpPr>
        <p:spPr>
          <a:xfrm>
            <a:off x="5806440" y="2843784"/>
            <a:ext cx="288036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Detect new towns early</a:t>
            </a:r>
            <a:endParaRPr lang="en-US" sz="1150" dirty="0"/>
          </a:p>
        </p:txBody>
      </p:sp>
      <p:sp>
        <p:nvSpPr>
          <p:cNvPr id="45" name="Text 39"/>
          <p:cNvSpPr txBox="1"/>
          <p:nvPr/>
        </p:nvSpPr>
        <p:spPr>
          <a:xfrm>
            <a:off x="5806440" y="3090672"/>
            <a:ext cx="2880360" cy="43891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Mining boomtowns, economic zones and displacement settlements appear before official geography.</a:t>
            </a:r>
            <a:endParaRPr lang="en-US" sz="950" dirty="0"/>
          </a:p>
        </p:txBody>
      </p:sp>
      <p:sp>
        <p:nvSpPr>
          <p:cNvPr id="46" name="Shape 40"/>
          <p:cNvSpPr/>
          <p:nvPr/>
        </p:nvSpPr>
        <p:spPr>
          <a:xfrm>
            <a:off x="5257800" y="3648456"/>
            <a:ext cx="420624" cy="420624"/>
          </a:xfrm>
          <a:prstGeom prst="ellipse">
            <a:avLst/>
          </a:prstGeom>
          <a:solidFill>
            <a:srgbClr val="D49A00">
              <a:alpha val="22000"/>
            </a:srgbClr>
          </a:solidFill>
          <a:ln w="12700">
            <a:solidFill>
              <a:srgbClr val="D49A00">
                <a:alpha val="0"/>
              </a:srgbClr>
            </a:solidFill>
            <a:prstDash val="solid"/>
          </a:ln>
        </p:spPr>
      </p:sp>
      <p:pic>
        <p:nvPicPr>
          <p:cNvPr id="47" name="Image 3" descr="preencoded.png"/>
          <p:cNvPicPr>
            <a:picLocks noChangeAspect="1"/>
          </p:cNvPicPr>
          <p:nvPr/>
        </p:nvPicPr>
        <p:blipFill>
          <a:blip r:embed="rId6"/>
          <a:stretch>
            <a:fillRect/>
          </a:stretch>
        </p:blipFill>
        <p:spPr>
          <a:xfrm>
            <a:off x="5367162" y="3757818"/>
            <a:ext cx="201900" cy="201900"/>
          </a:xfrm>
          <a:prstGeom prst="rect">
            <a:avLst/>
          </a:prstGeom>
        </p:spPr>
      </p:pic>
      <p:sp>
        <p:nvSpPr>
          <p:cNvPr id="48" name="Text 41"/>
          <p:cNvSpPr txBox="1"/>
          <p:nvPr/>
        </p:nvSpPr>
        <p:spPr>
          <a:xfrm>
            <a:off x="5806440" y="3602736"/>
            <a:ext cx="288036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Pair with population grids</a:t>
            </a:r>
            <a:endParaRPr lang="en-US" sz="1150" dirty="0"/>
          </a:p>
        </p:txBody>
      </p:sp>
      <p:sp>
        <p:nvSpPr>
          <p:cNvPr id="49" name="Text 42"/>
          <p:cNvSpPr txBox="1"/>
          <p:nvPr/>
        </p:nvSpPr>
        <p:spPr>
          <a:xfrm>
            <a:off x="5806440" y="3849624"/>
            <a:ext cx="2880360" cy="43891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Use WorldPop or GHSL — bright pixels are not people.</a:t>
            </a:r>
            <a:endParaRPr lang="en-US" sz="9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04</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When the lights go out: conflict and disaster</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457200" y="1325880"/>
            <a:ext cx="2651760" cy="1874520"/>
          </a:xfrm>
          <a:prstGeom prst="roundRect">
            <a:avLst>
              <a:gd name="adj" fmla="val 3902"/>
            </a:avLst>
          </a:prstGeom>
          <a:solidFill>
            <a:srgbClr val="E8F5EF"/>
          </a:solidFill>
          <a:ln w="15875">
            <a:solidFill>
              <a:srgbClr val="B83B2E"/>
            </a:solidFill>
            <a:prstDash val="solid"/>
          </a:ln>
        </p:spPr>
      </p:sp>
      <p:sp>
        <p:nvSpPr>
          <p:cNvPr id="18" name="Shape 15"/>
          <p:cNvSpPr/>
          <p:nvPr/>
        </p:nvSpPr>
        <p:spPr>
          <a:xfrm>
            <a:off x="585216" y="1444752"/>
            <a:ext cx="457200" cy="457200"/>
          </a:xfrm>
          <a:prstGeom prst="ellipse">
            <a:avLst/>
          </a:prstGeom>
          <a:solidFill>
            <a:srgbClr val="B83B2E">
              <a:alpha val="22000"/>
            </a:srgbClr>
          </a:solidFill>
          <a:ln w="12700">
            <a:solidFill>
              <a:srgbClr val="B83B2E">
                <a:alpha val="0"/>
              </a:srgbClr>
            </a:solidFill>
            <a:prstDash val="solid"/>
          </a:ln>
        </p:spPr>
      </p:sp>
      <p:pic>
        <p:nvPicPr>
          <p:cNvPr id="19" name="Image 0" descr="preencoded.png"/>
          <p:cNvPicPr>
            <a:picLocks noChangeAspect="1"/>
          </p:cNvPicPr>
          <p:nvPr/>
        </p:nvPicPr>
        <p:blipFill>
          <a:blip r:embed="rId3"/>
          <a:stretch>
            <a:fillRect/>
          </a:stretch>
        </p:blipFill>
        <p:spPr>
          <a:xfrm>
            <a:off x="704088" y="1563624"/>
            <a:ext cx="219456" cy="219456"/>
          </a:xfrm>
          <a:prstGeom prst="rect">
            <a:avLst/>
          </a:prstGeom>
        </p:spPr>
      </p:pic>
      <p:sp>
        <p:nvSpPr>
          <p:cNvPr id="20" name="Text 16"/>
          <p:cNvSpPr txBox="1"/>
          <p:nvPr/>
        </p:nvSpPr>
        <p:spPr>
          <a:xfrm>
            <a:off x="1143000" y="1444752"/>
            <a:ext cx="1874520" cy="45720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Conflict · Sudan, 2023</a:t>
            </a:r>
            <a:endParaRPr lang="en-US" sz="1200" dirty="0"/>
          </a:p>
        </p:txBody>
      </p:sp>
      <p:sp>
        <p:nvSpPr>
          <p:cNvPr id="21" name="Text 17"/>
          <p:cNvSpPr txBox="1"/>
          <p:nvPr/>
        </p:nvSpPr>
        <p:spPr>
          <a:xfrm>
            <a:off x="594360" y="2011680"/>
            <a:ext cx="2377440" cy="114300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After fighting began in Khartoum in April 2023, the capital’s lights fell to the noise level by May (EOG). UNOSAT mapped power outages from NTL in June 2023.</a:t>
            </a:r>
            <a:endParaRPr lang="en-US" sz="1000" dirty="0"/>
          </a:p>
        </p:txBody>
      </p:sp>
      <p:sp>
        <p:nvSpPr>
          <p:cNvPr id="22" name="Shape 18"/>
          <p:cNvSpPr/>
          <p:nvPr/>
        </p:nvSpPr>
        <p:spPr>
          <a:xfrm>
            <a:off x="3246120" y="1325880"/>
            <a:ext cx="2651760" cy="1874520"/>
          </a:xfrm>
          <a:prstGeom prst="roundRect">
            <a:avLst>
              <a:gd name="adj" fmla="val 3902"/>
            </a:avLst>
          </a:prstGeom>
          <a:solidFill>
            <a:srgbClr val="F4F7F5"/>
          </a:solidFill>
          <a:ln w="9525">
            <a:solidFill>
              <a:srgbClr val="D5DED9"/>
            </a:solidFill>
            <a:prstDash val="solid"/>
          </a:ln>
        </p:spPr>
      </p:sp>
      <p:sp>
        <p:nvSpPr>
          <p:cNvPr id="23" name="Shape 19"/>
          <p:cNvSpPr/>
          <p:nvPr/>
        </p:nvSpPr>
        <p:spPr>
          <a:xfrm>
            <a:off x="3374136" y="1444752"/>
            <a:ext cx="457200" cy="457200"/>
          </a:xfrm>
          <a:prstGeom prst="ellipse">
            <a:avLst/>
          </a:prstGeom>
          <a:solidFill>
            <a:srgbClr val="C4621D">
              <a:alpha val="22000"/>
            </a:srgbClr>
          </a:solidFill>
          <a:ln w="12700">
            <a:solidFill>
              <a:srgbClr val="C4621D">
                <a:alpha val="0"/>
              </a:srgbClr>
            </a:solidFill>
            <a:prstDash val="solid"/>
          </a:ln>
        </p:spPr>
      </p:sp>
      <p:pic>
        <p:nvPicPr>
          <p:cNvPr id="24" name="Image 1" descr="preencoded.png"/>
          <p:cNvPicPr>
            <a:picLocks noChangeAspect="1"/>
          </p:cNvPicPr>
          <p:nvPr/>
        </p:nvPicPr>
        <p:blipFill>
          <a:blip r:embed="rId4"/>
          <a:stretch>
            <a:fillRect/>
          </a:stretch>
        </p:blipFill>
        <p:spPr>
          <a:xfrm>
            <a:off x="3493008" y="1563624"/>
            <a:ext cx="219456" cy="219456"/>
          </a:xfrm>
          <a:prstGeom prst="rect">
            <a:avLst/>
          </a:prstGeom>
        </p:spPr>
      </p:pic>
      <p:sp>
        <p:nvSpPr>
          <p:cNvPr id="25" name="Text 20"/>
          <p:cNvSpPr txBox="1"/>
          <p:nvPr/>
        </p:nvSpPr>
        <p:spPr>
          <a:xfrm>
            <a:off x="3931920" y="1444752"/>
            <a:ext cx="1874520" cy="45720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Conflict · Syria, 2011–2014</a:t>
            </a:r>
            <a:endParaRPr lang="en-US" sz="1200" dirty="0"/>
          </a:p>
        </p:txBody>
      </p:sp>
      <p:sp>
        <p:nvSpPr>
          <p:cNvPr id="26" name="Text 21"/>
          <p:cNvSpPr txBox="1"/>
          <p:nvPr/>
        </p:nvSpPr>
        <p:spPr>
          <a:xfrm>
            <a:off x="3383280" y="2011680"/>
            <a:ext cx="2377440" cy="114300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Li &amp; Li (2014) measured a loss of more than 70% of night-time light nationally, with losses tracking displacement province by province.</a:t>
            </a:r>
            <a:endParaRPr lang="en-US" sz="1000" dirty="0"/>
          </a:p>
        </p:txBody>
      </p:sp>
      <p:sp>
        <p:nvSpPr>
          <p:cNvPr id="27" name="Shape 22"/>
          <p:cNvSpPr/>
          <p:nvPr/>
        </p:nvSpPr>
        <p:spPr>
          <a:xfrm>
            <a:off x="6035040" y="1325880"/>
            <a:ext cx="2651760" cy="1874520"/>
          </a:xfrm>
          <a:prstGeom prst="roundRect">
            <a:avLst>
              <a:gd name="adj" fmla="val 3902"/>
            </a:avLst>
          </a:prstGeom>
          <a:solidFill>
            <a:srgbClr val="F4F7F5"/>
          </a:solidFill>
          <a:ln w="9525">
            <a:solidFill>
              <a:srgbClr val="D5DED9"/>
            </a:solidFill>
            <a:prstDash val="solid"/>
          </a:ln>
        </p:spPr>
      </p:sp>
      <p:sp>
        <p:nvSpPr>
          <p:cNvPr id="28" name="Shape 23"/>
          <p:cNvSpPr/>
          <p:nvPr/>
        </p:nvSpPr>
        <p:spPr>
          <a:xfrm>
            <a:off x="6163056" y="1444752"/>
            <a:ext cx="457200" cy="457200"/>
          </a:xfrm>
          <a:prstGeom prst="ellipse">
            <a:avLst/>
          </a:prstGeom>
          <a:solidFill>
            <a:srgbClr val="0E7C86">
              <a:alpha val="22000"/>
            </a:srgbClr>
          </a:solidFill>
          <a:ln w="12700">
            <a:solidFill>
              <a:srgbClr val="0E7C86">
                <a:alpha val="0"/>
              </a:srgbClr>
            </a:solidFill>
            <a:prstDash val="solid"/>
          </a:ln>
        </p:spPr>
      </p:sp>
      <p:pic>
        <p:nvPicPr>
          <p:cNvPr id="29" name="Image 2" descr="preencoded.png"/>
          <p:cNvPicPr>
            <a:picLocks noChangeAspect="1"/>
          </p:cNvPicPr>
          <p:nvPr/>
        </p:nvPicPr>
        <p:blipFill>
          <a:blip r:embed="rId5"/>
          <a:stretch>
            <a:fillRect/>
          </a:stretch>
        </p:blipFill>
        <p:spPr>
          <a:xfrm>
            <a:off x="6281928" y="1563624"/>
            <a:ext cx="219456" cy="219456"/>
          </a:xfrm>
          <a:prstGeom prst="rect">
            <a:avLst/>
          </a:prstGeom>
        </p:spPr>
      </p:pic>
      <p:sp>
        <p:nvSpPr>
          <p:cNvPr id="30" name="Text 24"/>
          <p:cNvSpPr txBox="1"/>
          <p:nvPr/>
        </p:nvSpPr>
        <p:spPr>
          <a:xfrm>
            <a:off x="6720840" y="1444752"/>
            <a:ext cx="1874520" cy="45720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Disaster · Puerto Rico, 2017</a:t>
            </a:r>
            <a:endParaRPr lang="en-US" sz="1200" dirty="0"/>
          </a:p>
        </p:txBody>
      </p:sp>
      <p:sp>
        <p:nvSpPr>
          <p:cNvPr id="31" name="Text 25"/>
          <p:cNvSpPr txBox="1"/>
          <p:nvPr/>
        </p:nvSpPr>
        <p:spPr>
          <a:xfrm>
            <a:off x="6172200" y="2011680"/>
            <a:ext cx="2377440" cy="114300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After Hurricane Maria, NASA Black Marble daily data mapped the blackout and tracked restoration neighbourhood by neighbourhood.</a:t>
            </a:r>
            <a:endParaRPr lang="en-US" sz="1000" dirty="0"/>
          </a:p>
        </p:txBody>
      </p:sp>
      <p:sp>
        <p:nvSpPr>
          <p:cNvPr id="32" name="Shape 26"/>
          <p:cNvSpPr/>
          <p:nvPr/>
        </p:nvSpPr>
        <p:spPr>
          <a:xfrm>
            <a:off x="457200" y="3337560"/>
            <a:ext cx="8229600" cy="1097280"/>
          </a:xfrm>
          <a:prstGeom prst="roundRect">
            <a:avLst>
              <a:gd name="adj" fmla="val 6667"/>
            </a:avLst>
          </a:prstGeom>
          <a:solidFill>
            <a:srgbClr val="B83B2E">
              <a:alpha val="13000"/>
            </a:srgbClr>
          </a:solidFill>
          <a:ln w="12700">
            <a:solidFill>
              <a:srgbClr val="B83B2E"/>
            </a:solidFill>
            <a:prstDash val="solid"/>
          </a:ln>
        </p:spPr>
      </p:sp>
      <p:sp>
        <p:nvSpPr>
          <p:cNvPr id="33" name="Shape 27"/>
          <p:cNvSpPr/>
          <p:nvPr/>
        </p:nvSpPr>
        <p:spPr>
          <a:xfrm>
            <a:off x="594360" y="3474720"/>
            <a:ext cx="420624" cy="420624"/>
          </a:xfrm>
          <a:prstGeom prst="ellipse">
            <a:avLst/>
          </a:prstGeom>
          <a:solidFill>
            <a:srgbClr val="B83B2E">
              <a:alpha val="22000"/>
            </a:srgbClr>
          </a:solidFill>
          <a:ln w="12700">
            <a:solidFill>
              <a:srgbClr val="B83B2E">
                <a:alpha val="0"/>
              </a:srgbClr>
            </a:solidFill>
            <a:prstDash val="solid"/>
          </a:ln>
        </p:spPr>
      </p:sp>
      <p:pic>
        <p:nvPicPr>
          <p:cNvPr id="34" name="Image 3" descr="preencoded.png"/>
          <p:cNvPicPr>
            <a:picLocks noChangeAspect="1"/>
          </p:cNvPicPr>
          <p:nvPr/>
        </p:nvPicPr>
        <p:blipFill>
          <a:blip r:embed="rId6"/>
          <a:stretch>
            <a:fillRect/>
          </a:stretch>
        </p:blipFill>
        <p:spPr>
          <a:xfrm>
            <a:off x="703722" y="3584082"/>
            <a:ext cx="201900" cy="201900"/>
          </a:xfrm>
          <a:prstGeom prst="rect">
            <a:avLst/>
          </a:prstGeom>
        </p:spPr>
      </p:pic>
      <p:sp>
        <p:nvSpPr>
          <p:cNvPr id="35" name="Text 28"/>
          <p:cNvSpPr txBox="1"/>
          <p:nvPr/>
        </p:nvSpPr>
        <p:spPr>
          <a:xfrm>
            <a:off x="1143000" y="3456432"/>
            <a:ext cx="7406640" cy="256032"/>
          </a:xfrm>
          <a:prstGeom prst="rect">
            <a:avLst/>
          </a:prstGeom>
          <a:noFill/>
          <a:ln/>
        </p:spPr>
        <p:txBody>
          <a:bodyPr wrap="square" lIns="0" tIns="0" rIns="0" bIns="0" rtlCol="0" anchor="t"/>
          <a:lstStyle/>
          <a:p>
            <a:pPr marL="0" indent="0">
              <a:buNone/>
            </a:pPr>
            <a:r>
              <a:rPr lang="en-US" sz="1300" b="1" dirty="0">
                <a:solidFill>
                  <a:srgbClr val="B83B2E"/>
                </a:solidFill>
                <a:latin typeface="Calibri" pitchFamily="34" charset="0"/>
                <a:ea typeface="Calibri" pitchFamily="34" charset="-122"/>
                <a:cs typeface="Calibri" pitchFamily="34" charset="-120"/>
              </a:rPr>
              <a:t>The interpretive rule: absence of light is not absence of people</a:t>
            </a:r>
            <a:endParaRPr lang="en-US" sz="1300" dirty="0"/>
          </a:p>
        </p:txBody>
      </p:sp>
      <p:sp>
        <p:nvSpPr>
          <p:cNvPr id="36" name="Text 29"/>
          <p:cNvSpPr txBox="1"/>
          <p:nvPr/>
        </p:nvSpPr>
        <p:spPr>
          <a:xfrm>
            <a:off x="1143000" y="3730752"/>
            <a:ext cx="7406640" cy="658368"/>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Darkness may mean displacement, destruction, fuel shortage, curfew, a grid failure — or a decision to switch off street lights. The satellite cannot tell which. Corroboration with ground information is not optional, and uncertainty must be stated.</a:t>
            </a:r>
            <a:endParaRPr lang="en-US" sz="1050" dirty="0"/>
          </a:p>
        </p:txBody>
      </p:sp>
      <p:sp>
        <p:nvSpPr>
          <p:cNvPr id="37" name="Text 30"/>
          <p:cNvSpPr txBox="1"/>
          <p:nvPr/>
        </p:nvSpPr>
        <p:spPr>
          <a:xfrm>
            <a:off x="457200" y="4553712"/>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Payne Institute / EOG (Sept 2024); UNOSAT (June 2023); Li &amp; Li (2014) IJRS 35(18); Román et al. (2019) on Puerto Rico.</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5</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3"/>
          <p:cNvSpPr txBox="1"/>
          <p:nvPr/>
        </p:nvSpPr>
        <p:spPr>
          <a:xfrm>
            <a:off x="548640" y="224028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From talk to lab</a:t>
            </a:r>
            <a:endParaRPr lang="en-US" sz="4000" dirty="0"/>
          </a:p>
        </p:txBody>
      </p:sp>
      <p:sp>
        <p:nvSpPr>
          <p:cNvPr id="7" name="Text 5"/>
          <p:cNvSpPr txBox="1"/>
          <p:nvPr/>
        </p:nvSpPr>
        <p:spPr>
          <a:xfrm>
            <a:off x="548640" y="3703320"/>
            <a:ext cx="512064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Workflow  ·  Choosing a product  ·  Validation  ·  Checklist  ·  Discussion</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5C242"/>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FROM TALK TO LAB · THE WORKFLOW</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Five stages, one reproducible pipeline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7" name="Shape 14"/>
          <p:cNvSpPr/>
          <p:nvPr/>
        </p:nvSpPr>
        <p:spPr>
          <a:xfrm>
            <a:off x="457200" y="1325880"/>
            <a:ext cx="1481328" cy="658368"/>
          </a:xfrm>
          <a:prstGeom prst="roundRect">
            <a:avLst>
              <a:gd name="adj" fmla="val 11111"/>
            </a:avLst>
          </a:prstGeom>
          <a:solidFill>
            <a:srgbClr val="00704A"/>
          </a:solidFill>
          <a:ln w="9525">
            <a:solidFill>
              <a:srgbClr val="00704A"/>
            </a:solidFill>
            <a:prstDash val="solid"/>
          </a:ln>
        </p:spPr>
      </p:sp>
      <p:pic>
        <p:nvPicPr>
          <p:cNvPr id="18" name="Image 0" descr="preencoded.png"/>
          <p:cNvPicPr>
            <a:picLocks noChangeAspect="1"/>
          </p:cNvPicPr>
          <p:nvPr/>
        </p:nvPicPr>
        <p:blipFill>
          <a:blip r:embed="rId3"/>
          <a:stretch>
            <a:fillRect/>
          </a:stretch>
        </p:blipFill>
        <p:spPr>
          <a:xfrm>
            <a:off x="566928" y="1463040"/>
            <a:ext cx="384048" cy="384048"/>
          </a:xfrm>
          <a:prstGeom prst="rect">
            <a:avLst/>
          </a:prstGeom>
        </p:spPr>
      </p:pic>
      <p:sp>
        <p:nvSpPr>
          <p:cNvPr id="19" name="Text 15"/>
          <p:cNvSpPr txBox="1"/>
          <p:nvPr/>
        </p:nvSpPr>
        <p:spPr>
          <a:xfrm>
            <a:off x="1024128" y="1371600"/>
            <a:ext cx="86868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Collect</a:t>
            </a:r>
            <a:endParaRPr lang="en-US" sz="1400" dirty="0"/>
          </a:p>
        </p:txBody>
      </p:sp>
      <p:sp>
        <p:nvSpPr>
          <p:cNvPr id="21" name="Shape 17"/>
          <p:cNvSpPr/>
          <p:nvPr/>
        </p:nvSpPr>
        <p:spPr>
          <a:xfrm>
            <a:off x="457200" y="2103120"/>
            <a:ext cx="1481328" cy="1417320"/>
          </a:xfrm>
          <a:prstGeom prst="roundRect">
            <a:avLst>
              <a:gd name="adj" fmla="val 5161"/>
            </a:avLst>
          </a:prstGeom>
          <a:solidFill>
            <a:srgbClr val="F4F7F5"/>
          </a:solidFill>
          <a:ln w="9525">
            <a:solidFill>
              <a:srgbClr val="D5DED9"/>
            </a:solidFill>
            <a:prstDash val="solid"/>
          </a:ln>
        </p:spPr>
      </p:sp>
      <p:sp>
        <p:nvSpPr>
          <p:cNvPr id="22" name="Text 18"/>
          <p:cNvSpPr txBox="1"/>
          <p:nvPr/>
        </p:nvSpPr>
        <p:spPr>
          <a:xfrm>
            <a:off x="512064"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NASA Earthdata / LAADS DAAC</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EOG VNL · Google Earth Engine</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Bands &amp; quality flags</a:t>
            </a:r>
            <a:endParaRPr lang="en-US" sz="950" dirty="0"/>
          </a:p>
        </p:txBody>
      </p:sp>
      <p:sp>
        <p:nvSpPr>
          <p:cNvPr id="23" name="Shape 19"/>
          <p:cNvSpPr/>
          <p:nvPr/>
        </p:nvSpPr>
        <p:spPr>
          <a:xfrm>
            <a:off x="1197864" y="3547872"/>
            <a:ext cx="91" cy="201168"/>
          </a:xfrm>
          <a:prstGeom prst="line">
            <a:avLst/>
          </a:prstGeom>
          <a:noFill/>
          <a:ln w="15875">
            <a:solidFill>
              <a:srgbClr val="00704A"/>
            </a:solidFill>
            <a:prstDash val="solid"/>
            <a:tailEnd type="triangle"/>
          </a:ln>
        </p:spPr>
      </p:sp>
      <p:sp>
        <p:nvSpPr>
          <p:cNvPr id="24" name="Shape 20"/>
          <p:cNvSpPr/>
          <p:nvPr/>
        </p:nvSpPr>
        <p:spPr>
          <a:xfrm>
            <a:off x="457200" y="3776472"/>
            <a:ext cx="1481328" cy="310896"/>
          </a:xfrm>
          <a:prstGeom prst="roundRect">
            <a:avLst>
              <a:gd name="adj" fmla="val 50000"/>
            </a:avLst>
          </a:prstGeom>
          <a:solidFill>
            <a:srgbClr val="00704A">
              <a:alpha val="15000"/>
            </a:srgbClr>
          </a:solidFill>
          <a:ln w="9525">
            <a:solidFill>
              <a:srgbClr val="00704A"/>
            </a:solidFill>
            <a:prstDash val="solid"/>
          </a:ln>
        </p:spPr>
      </p:sp>
      <p:sp>
        <p:nvSpPr>
          <p:cNvPr id="25" name="Text 21"/>
          <p:cNvSpPr txBox="1"/>
          <p:nvPr/>
        </p:nvSpPr>
        <p:spPr>
          <a:xfrm>
            <a:off x="457200" y="3776472"/>
            <a:ext cx="1481328" cy="310896"/>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National subset</a:t>
            </a:r>
            <a:endParaRPr lang="en-US" sz="900" dirty="0"/>
          </a:p>
        </p:txBody>
      </p:sp>
      <p:sp>
        <p:nvSpPr>
          <p:cNvPr id="26" name="Shape 22"/>
          <p:cNvSpPr/>
          <p:nvPr/>
        </p:nvSpPr>
        <p:spPr>
          <a:xfrm>
            <a:off x="1956816" y="1655064"/>
            <a:ext cx="164592" cy="91"/>
          </a:xfrm>
          <a:prstGeom prst="line">
            <a:avLst/>
          </a:prstGeom>
          <a:noFill/>
          <a:ln w="15875">
            <a:solidFill>
              <a:srgbClr val="5E6964"/>
            </a:solidFill>
            <a:prstDash val="solid"/>
            <a:tailEnd type="triangle"/>
          </a:ln>
        </p:spPr>
      </p:sp>
      <p:sp>
        <p:nvSpPr>
          <p:cNvPr id="27" name="Shape 23"/>
          <p:cNvSpPr/>
          <p:nvPr/>
        </p:nvSpPr>
        <p:spPr>
          <a:xfrm>
            <a:off x="2139696" y="1325880"/>
            <a:ext cx="1481328" cy="658368"/>
          </a:xfrm>
          <a:prstGeom prst="roundRect">
            <a:avLst>
              <a:gd name="adj" fmla="val 11111"/>
            </a:avLst>
          </a:prstGeom>
          <a:solidFill>
            <a:srgbClr val="0E7C86"/>
          </a:solidFill>
          <a:ln w="9525">
            <a:solidFill>
              <a:srgbClr val="0E7C86"/>
            </a:solidFill>
            <a:prstDash val="solid"/>
          </a:ln>
        </p:spPr>
      </p:sp>
      <p:pic>
        <p:nvPicPr>
          <p:cNvPr id="28" name="Image 1" descr="preencoded.png"/>
          <p:cNvPicPr>
            <a:picLocks noChangeAspect="1"/>
          </p:cNvPicPr>
          <p:nvPr/>
        </p:nvPicPr>
        <p:blipFill>
          <a:blip r:embed="rId4"/>
          <a:stretch>
            <a:fillRect/>
          </a:stretch>
        </p:blipFill>
        <p:spPr>
          <a:xfrm>
            <a:off x="2249424" y="1463040"/>
            <a:ext cx="384048" cy="384048"/>
          </a:xfrm>
          <a:prstGeom prst="rect">
            <a:avLst/>
          </a:prstGeom>
        </p:spPr>
      </p:pic>
      <p:sp>
        <p:nvSpPr>
          <p:cNvPr id="29" name="Text 24"/>
          <p:cNvSpPr txBox="1"/>
          <p:nvPr/>
        </p:nvSpPr>
        <p:spPr>
          <a:xfrm>
            <a:off x="2706624" y="1371600"/>
            <a:ext cx="86868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Explore</a:t>
            </a:r>
            <a:endParaRPr lang="en-US" sz="1400" dirty="0"/>
          </a:p>
        </p:txBody>
      </p:sp>
      <p:sp>
        <p:nvSpPr>
          <p:cNvPr id="31" name="Shape 26"/>
          <p:cNvSpPr/>
          <p:nvPr/>
        </p:nvSpPr>
        <p:spPr>
          <a:xfrm>
            <a:off x="2139696" y="2103120"/>
            <a:ext cx="1481328" cy="1417320"/>
          </a:xfrm>
          <a:prstGeom prst="roundRect">
            <a:avLst>
              <a:gd name="adj" fmla="val 5161"/>
            </a:avLst>
          </a:prstGeom>
          <a:solidFill>
            <a:srgbClr val="F4F7F5"/>
          </a:solidFill>
          <a:ln w="9525">
            <a:solidFill>
              <a:srgbClr val="D5DED9"/>
            </a:solidFill>
            <a:prstDash val="solid"/>
          </a:ln>
        </p:spPr>
      </p:sp>
      <p:sp>
        <p:nvSpPr>
          <p:cNvPr id="32" name="Text 27"/>
          <p:cNvSpPr txBox="1"/>
          <p:nvPr/>
        </p:nvSpPr>
        <p:spPr>
          <a:xfrm>
            <a:off x="2194560"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Histograms &amp; maps</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Cloud &amp; quality masks</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Month-to-month variation</a:t>
            </a:r>
            <a:endParaRPr lang="en-US" sz="950" dirty="0"/>
          </a:p>
        </p:txBody>
      </p:sp>
      <p:sp>
        <p:nvSpPr>
          <p:cNvPr id="33" name="Shape 28"/>
          <p:cNvSpPr/>
          <p:nvPr/>
        </p:nvSpPr>
        <p:spPr>
          <a:xfrm>
            <a:off x="2880360" y="3547872"/>
            <a:ext cx="91" cy="201168"/>
          </a:xfrm>
          <a:prstGeom prst="line">
            <a:avLst/>
          </a:prstGeom>
          <a:noFill/>
          <a:ln w="15875">
            <a:solidFill>
              <a:srgbClr val="0E7C86"/>
            </a:solidFill>
            <a:prstDash val="solid"/>
            <a:tailEnd type="triangle"/>
          </a:ln>
        </p:spPr>
      </p:sp>
      <p:sp>
        <p:nvSpPr>
          <p:cNvPr id="34" name="Shape 29"/>
          <p:cNvSpPr/>
          <p:nvPr/>
        </p:nvSpPr>
        <p:spPr>
          <a:xfrm>
            <a:off x="2139696" y="3776472"/>
            <a:ext cx="1481328" cy="310896"/>
          </a:xfrm>
          <a:prstGeom prst="roundRect">
            <a:avLst>
              <a:gd name="adj" fmla="val 50000"/>
            </a:avLst>
          </a:prstGeom>
          <a:solidFill>
            <a:srgbClr val="0E7C86">
              <a:alpha val="15000"/>
            </a:srgbClr>
          </a:solidFill>
          <a:ln w="9525">
            <a:solidFill>
              <a:srgbClr val="0E7C86"/>
            </a:solidFill>
            <a:prstDash val="solid"/>
          </a:ln>
        </p:spPr>
      </p:sp>
      <p:sp>
        <p:nvSpPr>
          <p:cNvPr id="35" name="Text 30"/>
          <p:cNvSpPr txBox="1"/>
          <p:nvPr/>
        </p:nvSpPr>
        <p:spPr>
          <a:xfrm>
            <a:off x="2139696" y="3776472"/>
            <a:ext cx="1481328" cy="310896"/>
          </a:xfrm>
          <a:prstGeom prst="rect">
            <a:avLst/>
          </a:prstGeom>
          <a:noFill/>
          <a:ln/>
        </p:spPr>
        <p:txBody>
          <a:bodyPr wrap="square" lIns="0" tIns="0" rIns="0" bIns="0" rtlCol="0" anchor="ctr"/>
          <a:lstStyle/>
          <a:p>
            <a:pPr marL="0" indent="0" algn="ctr">
              <a:buNone/>
            </a:pPr>
            <a:r>
              <a:rPr lang="en-US" sz="900" b="1" dirty="0">
                <a:solidFill>
                  <a:srgbClr val="0E7C86"/>
                </a:solidFill>
                <a:latin typeface="Calibri" pitchFamily="34" charset="0"/>
                <a:ea typeface="Calibri" pitchFamily="34" charset="-122"/>
                <a:cs typeface="Calibri" pitchFamily="34" charset="-120"/>
              </a:rPr>
              <a:t>Artefact log</a:t>
            </a:r>
            <a:endParaRPr lang="en-US" sz="900" dirty="0"/>
          </a:p>
        </p:txBody>
      </p:sp>
      <p:sp>
        <p:nvSpPr>
          <p:cNvPr id="36" name="Shape 31"/>
          <p:cNvSpPr/>
          <p:nvPr/>
        </p:nvSpPr>
        <p:spPr>
          <a:xfrm>
            <a:off x="3639312" y="1655064"/>
            <a:ext cx="164592" cy="91"/>
          </a:xfrm>
          <a:prstGeom prst="line">
            <a:avLst/>
          </a:prstGeom>
          <a:noFill/>
          <a:ln w="15875">
            <a:solidFill>
              <a:srgbClr val="5E6964"/>
            </a:solidFill>
            <a:prstDash val="solid"/>
            <a:tailEnd type="triangle"/>
          </a:ln>
        </p:spPr>
      </p:sp>
      <p:sp>
        <p:nvSpPr>
          <p:cNvPr id="37" name="Shape 32"/>
          <p:cNvSpPr/>
          <p:nvPr/>
        </p:nvSpPr>
        <p:spPr>
          <a:xfrm>
            <a:off x="3822192" y="1325880"/>
            <a:ext cx="1481328" cy="658368"/>
          </a:xfrm>
          <a:prstGeom prst="roundRect">
            <a:avLst>
              <a:gd name="adj" fmla="val 11111"/>
            </a:avLst>
          </a:prstGeom>
          <a:solidFill>
            <a:srgbClr val="D49A00"/>
          </a:solidFill>
          <a:ln w="9525">
            <a:solidFill>
              <a:srgbClr val="D49A00"/>
            </a:solidFill>
            <a:prstDash val="solid"/>
          </a:ln>
        </p:spPr>
      </p:sp>
      <p:pic>
        <p:nvPicPr>
          <p:cNvPr id="38" name="Image 2" descr="preencoded.png"/>
          <p:cNvPicPr>
            <a:picLocks noChangeAspect="1"/>
          </p:cNvPicPr>
          <p:nvPr/>
        </p:nvPicPr>
        <p:blipFill>
          <a:blip r:embed="rId5"/>
          <a:stretch>
            <a:fillRect/>
          </a:stretch>
        </p:blipFill>
        <p:spPr>
          <a:xfrm>
            <a:off x="3931920" y="1463040"/>
            <a:ext cx="384048" cy="384048"/>
          </a:xfrm>
          <a:prstGeom prst="rect">
            <a:avLst/>
          </a:prstGeom>
        </p:spPr>
      </p:pic>
      <p:sp>
        <p:nvSpPr>
          <p:cNvPr id="39" name="Text 33"/>
          <p:cNvSpPr txBox="1"/>
          <p:nvPr/>
        </p:nvSpPr>
        <p:spPr>
          <a:xfrm>
            <a:off x="4389120" y="1371600"/>
            <a:ext cx="86868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Analyse</a:t>
            </a:r>
            <a:endParaRPr lang="en-US" sz="1400" dirty="0"/>
          </a:p>
        </p:txBody>
      </p:sp>
      <p:sp>
        <p:nvSpPr>
          <p:cNvPr id="41" name="Shape 35"/>
          <p:cNvSpPr/>
          <p:nvPr/>
        </p:nvSpPr>
        <p:spPr>
          <a:xfrm>
            <a:off x="3822192" y="2103120"/>
            <a:ext cx="1481328" cy="1417320"/>
          </a:xfrm>
          <a:prstGeom prst="roundRect">
            <a:avLst>
              <a:gd name="adj" fmla="val 5161"/>
            </a:avLst>
          </a:prstGeom>
          <a:solidFill>
            <a:srgbClr val="F4F7F5"/>
          </a:solidFill>
          <a:ln w="9525">
            <a:solidFill>
              <a:srgbClr val="D5DED9"/>
            </a:solidFill>
            <a:prstDash val="solid"/>
          </a:ln>
        </p:spPr>
      </p:sp>
      <p:sp>
        <p:nvSpPr>
          <p:cNvPr id="42" name="Text 36"/>
          <p:cNvSpPr txBox="1"/>
          <p:nvPr/>
        </p:nvSpPr>
        <p:spPr>
          <a:xfrm>
            <a:off x="3877056"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Zonal stats by admin level</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Annual &amp; monthly series</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Change detection</a:t>
            </a:r>
            <a:endParaRPr lang="en-US" sz="950" dirty="0"/>
          </a:p>
        </p:txBody>
      </p:sp>
      <p:sp>
        <p:nvSpPr>
          <p:cNvPr id="43" name="Shape 37"/>
          <p:cNvSpPr/>
          <p:nvPr/>
        </p:nvSpPr>
        <p:spPr>
          <a:xfrm>
            <a:off x="4562856" y="3547872"/>
            <a:ext cx="91" cy="201168"/>
          </a:xfrm>
          <a:prstGeom prst="line">
            <a:avLst/>
          </a:prstGeom>
          <a:noFill/>
          <a:ln w="15875">
            <a:solidFill>
              <a:srgbClr val="D49A00"/>
            </a:solidFill>
            <a:prstDash val="solid"/>
            <a:tailEnd type="triangle"/>
          </a:ln>
        </p:spPr>
      </p:sp>
      <p:sp>
        <p:nvSpPr>
          <p:cNvPr id="44" name="Shape 38"/>
          <p:cNvSpPr/>
          <p:nvPr/>
        </p:nvSpPr>
        <p:spPr>
          <a:xfrm>
            <a:off x="3822192" y="3776472"/>
            <a:ext cx="1481328" cy="310896"/>
          </a:xfrm>
          <a:prstGeom prst="roundRect">
            <a:avLst>
              <a:gd name="adj" fmla="val 50000"/>
            </a:avLst>
          </a:prstGeom>
          <a:solidFill>
            <a:srgbClr val="D49A00">
              <a:alpha val="15000"/>
            </a:srgbClr>
          </a:solidFill>
          <a:ln w="9525">
            <a:solidFill>
              <a:srgbClr val="D49A00"/>
            </a:solidFill>
            <a:prstDash val="solid"/>
          </a:ln>
        </p:spPr>
      </p:sp>
      <p:sp>
        <p:nvSpPr>
          <p:cNvPr id="45" name="Text 39"/>
          <p:cNvSpPr txBox="1"/>
          <p:nvPr/>
        </p:nvSpPr>
        <p:spPr>
          <a:xfrm>
            <a:off x="3822192" y="3776472"/>
            <a:ext cx="1481328" cy="310896"/>
          </a:xfrm>
          <a:prstGeom prst="rect">
            <a:avLst/>
          </a:prstGeom>
          <a:noFill/>
          <a:ln/>
        </p:spPr>
        <p:txBody>
          <a:bodyPr wrap="square" lIns="0" tIns="0" rIns="0" bIns="0" rtlCol="0" anchor="ctr"/>
          <a:lstStyle/>
          <a:p>
            <a:pPr marL="0" indent="0" algn="ctr">
              <a:buNone/>
            </a:pPr>
            <a:r>
              <a:rPr lang="en-US" sz="900" b="1" dirty="0">
                <a:solidFill>
                  <a:srgbClr val="D49A00"/>
                </a:solidFill>
                <a:latin typeface="Calibri" pitchFamily="34" charset="0"/>
                <a:ea typeface="Calibri" pitchFamily="34" charset="-122"/>
                <a:cs typeface="Calibri" pitchFamily="34" charset="-120"/>
              </a:rPr>
              <a:t>Tables &amp; maps</a:t>
            </a:r>
            <a:endParaRPr lang="en-US" sz="900" dirty="0"/>
          </a:p>
        </p:txBody>
      </p:sp>
      <p:sp>
        <p:nvSpPr>
          <p:cNvPr id="46" name="Shape 40"/>
          <p:cNvSpPr/>
          <p:nvPr/>
        </p:nvSpPr>
        <p:spPr>
          <a:xfrm>
            <a:off x="5321808" y="1655064"/>
            <a:ext cx="164592" cy="91"/>
          </a:xfrm>
          <a:prstGeom prst="line">
            <a:avLst/>
          </a:prstGeom>
          <a:noFill/>
          <a:ln w="15875">
            <a:solidFill>
              <a:srgbClr val="5E6964"/>
            </a:solidFill>
            <a:prstDash val="solid"/>
            <a:tailEnd type="triangle"/>
          </a:ln>
        </p:spPr>
      </p:sp>
      <p:sp>
        <p:nvSpPr>
          <p:cNvPr id="47" name="Shape 41"/>
          <p:cNvSpPr/>
          <p:nvPr/>
        </p:nvSpPr>
        <p:spPr>
          <a:xfrm>
            <a:off x="5504688" y="1325880"/>
            <a:ext cx="1481328" cy="658368"/>
          </a:xfrm>
          <a:prstGeom prst="roundRect">
            <a:avLst>
              <a:gd name="adj" fmla="val 11111"/>
            </a:avLst>
          </a:prstGeom>
          <a:solidFill>
            <a:srgbClr val="C4621D"/>
          </a:solidFill>
          <a:ln w="9525">
            <a:solidFill>
              <a:srgbClr val="C4621D"/>
            </a:solidFill>
            <a:prstDash val="solid"/>
          </a:ln>
        </p:spPr>
      </p:sp>
      <p:pic>
        <p:nvPicPr>
          <p:cNvPr id="48" name="Image 3" descr="preencoded.png"/>
          <p:cNvPicPr>
            <a:picLocks noChangeAspect="1"/>
          </p:cNvPicPr>
          <p:nvPr/>
        </p:nvPicPr>
        <p:blipFill>
          <a:blip r:embed="rId6"/>
          <a:stretch>
            <a:fillRect/>
          </a:stretch>
        </p:blipFill>
        <p:spPr>
          <a:xfrm>
            <a:off x="5614416" y="1463040"/>
            <a:ext cx="384048" cy="384048"/>
          </a:xfrm>
          <a:prstGeom prst="rect">
            <a:avLst/>
          </a:prstGeom>
        </p:spPr>
      </p:pic>
      <p:sp>
        <p:nvSpPr>
          <p:cNvPr id="49" name="Text 42"/>
          <p:cNvSpPr txBox="1"/>
          <p:nvPr/>
        </p:nvSpPr>
        <p:spPr>
          <a:xfrm>
            <a:off x="6071616" y="1371600"/>
            <a:ext cx="86868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Validate</a:t>
            </a:r>
            <a:endParaRPr lang="en-US" sz="1400" dirty="0"/>
          </a:p>
        </p:txBody>
      </p:sp>
      <p:sp>
        <p:nvSpPr>
          <p:cNvPr id="51" name="Shape 44"/>
          <p:cNvSpPr/>
          <p:nvPr/>
        </p:nvSpPr>
        <p:spPr>
          <a:xfrm>
            <a:off x="5504688" y="2103120"/>
            <a:ext cx="1481328" cy="1417320"/>
          </a:xfrm>
          <a:prstGeom prst="roundRect">
            <a:avLst>
              <a:gd name="adj" fmla="val 5161"/>
            </a:avLst>
          </a:prstGeom>
          <a:solidFill>
            <a:srgbClr val="F4F7F5"/>
          </a:solidFill>
          <a:ln w="9525">
            <a:solidFill>
              <a:srgbClr val="D5DED9"/>
            </a:solidFill>
            <a:prstDash val="solid"/>
          </a:ln>
        </p:spPr>
      </p:sp>
      <p:sp>
        <p:nvSpPr>
          <p:cNvPr id="52" name="Text 45"/>
          <p:cNvSpPr txBox="1"/>
          <p:nvPr/>
        </p:nvSpPr>
        <p:spPr>
          <a:xfrm>
            <a:off x="5559552"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Official subnational data</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Population, electrification</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Fitness-for-use decision</a:t>
            </a:r>
            <a:endParaRPr lang="en-US" sz="950" dirty="0"/>
          </a:p>
        </p:txBody>
      </p:sp>
      <p:sp>
        <p:nvSpPr>
          <p:cNvPr id="53" name="Shape 46"/>
          <p:cNvSpPr/>
          <p:nvPr/>
        </p:nvSpPr>
        <p:spPr>
          <a:xfrm>
            <a:off x="6245352" y="3547872"/>
            <a:ext cx="91" cy="201168"/>
          </a:xfrm>
          <a:prstGeom prst="line">
            <a:avLst/>
          </a:prstGeom>
          <a:noFill/>
          <a:ln w="15875">
            <a:solidFill>
              <a:srgbClr val="C4621D"/>
            </a:solidFill>
            <a:prstDash val="solid"/>
            <a:tailEnd type="triangle"/>
          </a:ln>
        </p:spPr>
      </p:sp>
      <p:sp>
        <p:nvSpPr>
          <p:cNvPr id="54" name="Shape 47"/>
          <p:cNvSpPr/>
          <p:nvPr/>
        </p:nvSpPr>
        <p:spPr>
          <a:xfrm>
            <a:off x="5504688" y="3776472"/>
            <a:ext cx="1481328" cy="310896"/>
          </a:xfrm>
          <a:prstGeom prst="roundRect">
            <a:avLst>
              <a:gd name="adj" fmla="val 50000"/>
            </a:avLst>
          </a:prstGeom>
          <a:solidFill>
            <a:srgbClr val="C4621D">
              <a:alpha val="15000"/>
            </a:srgbClr>
          </a:solidFill>
          <a:ln w="9525">
            <a:solidFill>
              <a:srgbClr val="C4621D"/>
            </a:solidFill>
            <a:prstDash val="solid"/>
          </a:ln>
        </p:spPr>
      </p:sp>
      <p:sp>
        <p:nvSpPr>
          <p:cNvPr id="55" name="Text 48"/>
          <p:cNvSpPr txBox="1"/>
          <p:nvPr/>
        </p:nvSpPr>
        <p:spPr>
          <a:xfrm>
            <a:off x="5504688" y="3776472"/>
            <a:ext cx="1481328" cy="310896"/>
          </a:xfrm>
          <a:prstGeom prst="rect">
            <a:avLst/>
          </a:prstGeom>
          <a:noFill/>
          <a:ln/>
        </p:spPr>
        <p:txBody>
          <a:bodyPr wrap="square" lIns="0" tIns="0" rIns="0" bIns="0" rtlCol="0" anchor="ctr"/>
          <a:lstStyle/>
          <a:p>
            <a:pPr marL="0" indent="0" algn="ctr">
              <a:buNone/>
            </a:pPr>
            <a:r>
              <a:rPr lang="en-US" sz="900" b="1" dirty="0">
                <a:solidFill>
                  <a:srgbClr val="C4621D"/>
                </a:solidFill>
                <a:latin typeface="Calibri" pitchFamily="34" charset="0"/>
                <a:ea typeface="Calibri" pitchFamily="34" charset="-122"/>
                <a:cs typeface="Calibri" pitchFamily="34" charset="-120"/>
              </a:rPr>
              <a:t>Evidence + decision</a:t>
            </a:r>
            <a:endParaRPr lang="en-US" sz="900" dirty="0"/>
          </a:p>
        </p:txBody>
      </p:sp>
      <p:sp>
        <p:nvSpPr>
          <p:cNvPr id="56" name="Shape 49"/>
          <p:cNvSpPr/>
          <p:nvPr/>
        </p:nvSpPr>
        <p:spPr>
          <a:xfrm>
            <a:off x="7004304" y="1655064"/>
            <a:ext cx="164592" cy="91"/>
          </a:xfrm>
          <a:prstGeom prst="line">
            <a:avLst/>
          </a:prstGeom>
          <a:noFill/>
          <a:ln w="15875">
            <a:solidFill>
              <a:srgbClr val="5E6964"/>
            </a:solidFill>
            <a:prstDash val="solid"/>
            <a:tailEnd type="triangle"/>
          </a:ln>
        </p:spPr>
      </p:sp>
      <p:sp>
        <p:nvSpPr>
          <p:cNvPr id="57" name="Shape 50"/>
          <p:cNvSpPr/>
          <p:nvPr/>
        </p:nvSpPr>
        <p:spPr>
          <a:xfrm>
            <a:off x="7187184" y="1325880"/>
            <a:ext cx="1481328" cy="658368"/>
          </a:xfrm>
          <a:prstGeom prst="roundRect">
            <a:avLst>
              <a:gd name="adj" fmla="val 11111"/>
            </a:avLst>
          </a:prstGeom>
          <a:solidFill>
            <a:srgbClr val="B83B2E"/>
          </a:solidFill>
          <a:ln w="9525">
            <a:solidFill>
              <a:srgbClr val="B83B2E"/>
            </a:solidFill>
            <a:prstDash val="solid"/>
          </a:ln>
        </p:spPr>
      </p:sp>
      <p:pic>
        <p:nvPicPr>
          <p:cNvPr id="58" name="Image 4" descr="preencoded.png"/>
          <p:cNvPicPr>
            <a:picLocks noChangeAspect="1"/>
          </p:cNvPicPr>
          <p:nvPr/>
        </p:nvPicPr>
        <p:blipFill>
          <a:blip r:embed="rId7"/>
          <a:stretch>
            <a:fillRect/>
          </a:stretch>
        </p:blipFill>
        <p:spPr>
          <a:xfrm>
            <a:off x="7296912" y="1463040"/>
            <a:ext cx="384048" cy="384048"/>
          </a:xfrm>
          <a:prstGeom prst="rect">
            <a:avLst/>
          </a:prstGeom>
        </p:spPr>
      </p:pic>
      <p:sp>
        <p:nvSpPr>
          <p:cNvPr id="59" name="Text 51"/>
          <p:cNvSpPr txBox="1"/>
          <p:nvPr/>
        </p:nvSpPr>
        <p:spPr>
          <a:xfrm>
            <a:off x="7754112" y="1371600"/>
            <a:ext cx="86868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Publish</a:t>
            </a:r>
            <a:endParaRPr lang="en-US" sz="1400" dirty="0"/>
          </a:p>
        </p:txBody>
      </p:sp>
      <p:sp>
        <p:nvSpPr>
          <p:cNvPr id="61" name="Shape 53"/>
          <p:cNvSpPr/>
          <p:nvPr/>
        </p:nvSpPr>
        <p:spPr>
          <a:xfrm>
            <a:off x="7187184" y="2103120"/>
            <a:ext cx="1481328" cy="1417320"/>
          </a:xfrm>
          <a:prstGeom prst="roundRect">
            <a:avLst>
              <a:gd name="adj" fmla="val 5161"/>
            </a:avLst>
          </a:prstGeom>
          <a:solidFill>
            <a:srgbClr val="F4F7F5"/>
          </a:solidFill>
          <a:ln w="9525">
            <a:solidFill>
              <a:srgbClr val="D5DED9"/>
            </a:solidFill>
            <a:prstDash val="solid"/>
          </a:ln>
        </p:spPr>
      </p:sp>
      <p:sp>
        <p:nvSpPr>
          <p:cNvPr id="62" name="Text 54"/>
          <p:cNvSpPr txBox="1"/>
          <p:nvPr/>
        </p:nvSpPr>
        <p:spPr>
          <a:xfrm>
            <a:off x="7242048"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Notebooks &amp; maps</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Limitations statement</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README: method, sources, licence</a:t>
            </a:r>
            <a:endParaRPr lang="en-US" sz="950" dirty="0"/>
          </a:p>
        </p:txBody>
      </p:sp>
      <p:sp>
        <p:nvSpPr>
          <p:cNvPr id="63" name="Shape 55"/>
          <p:cNvSpPr/>
          <p:nvPr/>
        </p:nvSpPr>
        <p:spPr>
          <a:xfrm>
            <a:off x="7927848" y="3547872"/>
            <a:ext cx="91" cy="201168"/>
          </a:xfrm>
          <a:prstGeom prst="line">
            <a:avLst/>
          </a:prstGeom>
          <a:noFill/>
          <a:ln w="15875">
            <a:solidFill>
              <a:srgbClr val="B83B2E"/>
            </a:solidFill>
            <a:prstDash val="solid"/>
            <a:tailEnd type="triangle"/>
          </a:ln>
        </p:spPr>
      </p:sp>
      <p:sp>
        <p:nvSpPr>
          <p:cNvPr id="64" name="Shape 56"/>
          <p:cNvSpPr/>
          <p:nvPr/>
        </p:nvSpPr>
        <p:spPr>
          <a:xfrm>
            <a:off x="7187184" y="3776472"/>
            <a:ext cx="1481328" cy="310896"/>
          </a:xfrm>
          <a:prstGeom prst="roundRect">
            <a:avLst>
              <a:gd name="adj" fmla="val 50000"/>
            </a:avLst>
          </a:prstGeom>
          <a:solidFill>
            <a:srgbClr val="B83B2E">
              <a:alpha val="15000"/>
            </a:srgbClr>
          </a:solidFill>
          <a:ln w="9525">
            <a:solidFill>
              <a:srgbClr val="B83B2E"/>
            </a:solidFill>
            <a:prstDash val="solid"/>
          </a:ln>
        </p:spPr>
      </p:sp>
      <p:sp>
        <p:nvSpPr>
          <p:cNvPr id="65" name="Text 57"/>
          <p:cNvSpPr txBox="1"/>
          <p:nvPr/>
        </p:nvSpPr>
        <p:spPr>
          <a:xfrm>
            <a:off x="7187184" y="3776472"/>
            <a:ext cx="1481328" cy="310896"/>
          </a:xfrm>
          <a:prstGeom prst="rect">
            <a:avLst/>
          </a:prstGeom>
          <a:noFill/>
          <a:ln/>
        </p:spPr>
        <p:txBody>
          <a:bodyPr wrap="square" lIns="0" tIns="0" rIns="0" bIns="0" rtlCol="0" anchor="ctr"/>
          <a:lstStyle/>
          <a:p>
            <a:pPr marL="0" indent="0" algn="ctr">
              <a:buNone/>
            </a:pPr>
            <a:r>
              <a:rPr lang="en-US" sz="900" b="1" dirty="0">
                <a:solidFill>
                  <a:srgbClr val="B83B2E"/>
                </a:solidFill>
                <a:latin typeface="Calibri" pitchFamily="34" charset="0"/>
                <a:ea typeface="Calibri" pitchFamily="34" charset="-122"/>
                <a:cs typeface="Calibri" pitchFamily="34" charset="-120"/>
              </a:rPr>
              <a:t>Public repository</a:t>
            </a:r>
            <a:endParaRPr lang="en-US" sz="900" dirty="0"/>
          </a:p>
        </p:txBody>
      </p:sp>
      <p:sp>
        <p:nvSpPr>
          <p:cNvPr id="66" name="Text 58"/>
          <p:cNvSpPr txBox="1"/>
          <p:nvPr/>
        </p:nvSpPr>
        <p:spPr>
          <a:xfrm>
            <a:off x="457200" y="429768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Example open-source stack: rasterio / xarray (read), geopandas (boundaries), rasterstats or exactextract (zonal statistics), matplotlib (maps).</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FROM TALK TO LAB · CHOOSING A PRODUCT</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Which cadence for which question?</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325880"/>
            <a:ext cx="2651760" cy="2743200"/>
          </a:xfrm>
          <a:prstGeom prst="roundRect">
            <a:avLst>
              <a:gd name="adj" fmla="val 2759"/>
            </a:avLst>
          </a:prstGeom>
          <a:solidFill>
            <a:srgbClr val="E8F5EF"/>
          </a:solidFill>
          <a:ln w="15875">
            <a:solidFill>
              <a:srgbClr val="00553A"/>
            </a:solidFill>
            <a:prstDash val="solid"/>
          </a:ln>
        </p:spPr>
      </p:sp>
      <p:sp>
        <p:nvSpPr>
          <p:cNvPr id="18" name="Shape 15"/>
          <p:cNvSpPr/>
          <p:nvPr/>
        </p:nvSpPr>
        <p:spPr>
          <a:xfrm>
            <a:off x="566928" y="1417320"/>
            <a:ext cx="457200" cy="457200"/>
          </a:xfrm>
          <a:prstGeom prst="ellipse">
            <a:avLst/>
          </a:prstGeom>
          <a:solidFill>
            <a:srgbClr val="00553A">
              <a:alpha val="22000"/>
            </a:srgbClr>
          </a:solidFill>
          <a:ln w="12700">
            <a:solidFill>
              <a:srgbClr val="00553A">
                <a:alpha val="0"/>
              </a:srgbClr>
            </a:solidFill>
            <a:prstDash val="solid"/>
          </a:ln>
        </p:spPr>
      </p:sp>
      <p:pic>
        <p:nvPicPr>
          <p:cNvPr id="19" name="Image 0" descr="preencoded.png"/>
          <p:cNvPicPr>
            <a:picLocks noChangeAspect="1"/>
          </p:cNvPicPr>
          <p:nvPr/>
        </p:nvPicPr>
        <p:blipFill>
          <a:blip r:embed="rId3"/>
          <a:stretch>
            <a:fillRect/>
          </a:stretch>
        </p:blipFill>
        <p:spPr>
          <a:xfrm>
            <a:off x="685800" y="1536192"/>
            <a:ext cx="219456" cy="219456"/>
          </a:xfrm>
          <a:prstGeom prst="rect">
            <a:avLst/>
          </a:prstGeom>
        </p:spPr>
      </p:pic>
      <p:sp>
        <p:nvSpPr>
          <p:cNvPr id="20" name="Text 16"/>
          <p:cNvSpPr txBox="1"/>
          <p:nvPr/>
        </p:nvSpPr>
        <p:spPr>
          <a:xfrm>
            <a:off x="1115568" y="1417320"/>
            <a:ext cx="1828800" cy="256032"/>
          </a:xfrm>
          <a:prstGeom prst="rect">
            <a:avLst/>
          </a:prstGeom>
          <a:noFill/>
          <a:ln/>
        </p:spPr>
        <p:txBody>
          <a:bodyPr wrap="square" lIns="0" tIns="0" rIns="0" bIns="0" rtlCol="0" anchor="t"/>
          <a:lstStyle/>
          <a:p>
            <a:pPr marL="0" indent="0">
              <a:buNone/>
            </a:pPr>
            <a:r>
              <a:rPr lang="en-US" sz="1500" b="1" dirty="0">
                <a:solidFill>
                  <a:srgbClr val="00553A"/>
                </a:solidFill>
                <a:latin typeface="Calibri" pitchFamily="34" charset="0"/>
                <a:ea typeface="Calibri" pitchFamily="34" charset="-122"/>
                <a:cs typeface="Calibri" pitchFamily="34" charset="-120"/>
              </a:rPr>
              <a:t>Annual</a:t>
            </a:r>
            <a:endParaRPr lang="en-US" sz="1500" dirty="0"/>
          </a:p>
        </p:txBody>
      </p:sp>
      <p:sp>
        <p:nvSpPr>
          <p:cNvPr id="21" name="Text 17"/>
          <p:cNvSpPr txBox="1"/>
          <p:nvPr/>
        </p:nvSpPr>
        <p:spPr>
          <a:xfrm>
            <a:off x="1115568" y="1673352"/>
            <a:ext cx="19202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VNP46A4 · EOG VNL annual</a:t>
            </a:r>
            <a:endParaRPr lang="en-US" sz="900" dirty="0"/>
          </a:p>
        </p:txBody>
      </p:sp>
      <p:sp>
        <p:nvSpPr>
          <p:cNvPr id="22" name="Text 18"/>
          <p:cNvSpPr txBox="1"/>
          <p:nvPr/>
        </p:nvSpPr>
        <p:spPr>
          <a:xfrm>
            <a:off x="585216" y="2011680"/>
            <a:ext cx="2377440" cy="164592"/>
          </a:xfrm>
          <a:prstGeom prst="rect">
            <a:avLst/>
          </a:prstGeom>
          <a:noFill/>
          <a:ln/>
        </p:spPr>
        <p:txBody>
          <a:bodyPr wrap="square" lIns="0" tIns="0" rIns="0" bIns="0" rtlCol="0" anchor="t"/>
          <a:lstStyle/>
          <a:p>
            <a:pPr marL="0" indent="0">
              <a:buNone/>
            </a:pPr>
            <a:r>
              <a:rPr lang="en-US" sz="850" b="1" kern="0" spc="200" dirty="0">
                <a:solidFill>
                  <a:srgbClr val="00A86A"/>
                </a:solidFill>
                <a:latin typeface="Calibri" pitchFamily="34" charset="0"/>
                <a:ea typeface="Calibri" pitchFamily="34" charset="-122"/>
                <a:cs typeface="Calibri" pitchFamily="34" charset="-120"/>
              </a:rPr>
              <a:t>STRENGTH</a:t>
            </a:r>
            <a:endParaRPr lang="en-US" sz="850" dirty="0"/>
          </a:p>
        </p:txBody>
      </p:sp>
      <p:sp>
        <p:nvSpPr>
          <p:cNvPr id="23" name="Text 19"/>
          <p:cNvSpPr txBox="1"/>
          <p:nvPr/>
        </p:nvSpPr>
        <p:spPr>
          <a:xfrm>
            <a:off x="585216" y="2194560"/>
            <a:ext cx="2395728" cy="45720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Cleanest series; noise and ephemeral lights largely filtered.</a:t>
            </a:r>
            <a:endParaRPr lang="en-US" sz="950" dirty="0"/>
          </a:p>
        </p:txBody>
      </p:sp>
      <p:sp>
        <p:nvSpPr>
          <p:cNvPr id="24" name="Text 20"/>
          <p:cNvSpPr txBox="1"/>
          <p:nvPr/>
        </p:nvSpPr>
        <p:spPr>
          <a:xfrm>
            <a:off x="585216" y="2688336"/>
            <a:ext cx="2377440" cy="164592"/>
          </a:xfrm>
          <a:prstGeom prst="rect">
            <a:avLst/>
          </a:prstGeom>
          <a:noFill/>
          <a:ln/>
        </p:spPr>
        <p:txBody>
          <a:bodyPr wrap="square" lIns="0" tIns="0" rIns="0" bIns="0" rtlCol="0" anchor="t"/>
          <a:lstStyle/>
          <a:p>
            <a:pPr marL="0" indent="0">
              <a:buNone/>
            </a:pPr>
            <a:r>
              <a:rPr lang="en-US" sz="850" b="1" kern="0" spc="200" dirty="0">
                <a:solidFill>
                  <a:srgbClr val="D49A00"/>
                </a:solidFill>
                <a:latin typeface="Calibri" pitchFamily="34" charset="0"/>
                <a:ea typeface="Calibri" pitchFamily="34" charset="-122"/>
                <a:cs typeface="Calibri" pitchFamily="34" charset="-120"/>
              </a:rPr>
              <a:t>WATCH OUT FOR</a:t>
            </a:r>
            <a:endParaRPr lang="en-US" sz="850" dirty="0"/>
          </a:p>
        </p:txBody>
      </p:sp>
      <p:sp>
        <p:nvSpPr>
          <p:cNvPr id="25" name="Text 21"/>
          <p:cNvSpPr txBox="1"/>
          <p:nvPr/>
        </p:nvSpPr>
        <p:spPr>
          <a:xfrm>
            <a:off x="585216" y="2871216"/>
            <a:ext cx="2395728" cy="45720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 change cannot be dated within the year.</a:t>
            </a:r>
            <a:endParaRPr lang="en-US" sz="950" dirty="0"/>
          </a:p>
        </p:txBody>
      </p:sp>
      <p:sp>
        <p:nvSpPr>
          <p:cNvPr id="26" name="Text 22"/>
          <p:cNvSpPr txBox="1"/>
          <p:nvPr/>
        </p:nvSpPr>
        <p:spPr>
          <a:xfrm>
            <a:off x="585216" y="3364992"/>
            <a:ext cx="2377440" cy="164592"/>
          </a:xfrm>
          <a:prstGeom prst="rect">
            <a:avLst/>
          </a:prstGeom>
          <a:noFill/>
          <a:ln/>
        </p:spPr>
        <p:txBody>
          <a:bodyPr wrap="square" lIns="0" tIns="0" rIns="0" bIns="0" rtlCol="0" anchor="t"/>
          <a:lstStyle/>
          <a:p>
            <a:pPr marL="0" indent="0">
              <a:buNone/>
            </a:pPr>
            <a:r>
              <a:rPr lang="en-US" sz="850" b="1" kern="0" spc="200" dirty="0">
                <a:solidFill>
                  <a:srgbClr val="00704A"/>
                </a:solidFill>
                <a:latin typeface="Calibri" pitchFamily="34" charset="0"/>
                <a:ea typeface="Calibri" pitchFamily="34" charset="-122"/>
                <a:cs typeface="Calibri" pitchFamily="34" charset="-120"/>
              </a:rPr>
              <a:t>TYPICAL NSO USE</a:t>
            </a:r>
            <a:endParaRPr lang="en-US" sz="850" dirty="0"/>
          </a:p>
        </p:txBody>
      </p:sp>
      <p:sp>
        <p:nvSpPr>
          <p:cNvPr id="27" name="Text 23"/>
          <p:cNvSpPr txBox="1"/>
          <p:nvPr/>
        </p:nvSpPr>
        <p:spPr>
          <a:xfrm>
            <a:off x="585216" y="3547872"/>
            <a:ext cx="2395728" cy="45720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Subnational panels, long-run trends, urban expansion, poverty mapping.</a:t>
            </a:r>
            <a:endParaRPr lang="en-US" sz="950" dirty="0"/>
          </a:p>
        </p:txBody>
      </p:sp>
      <p:sp>
        <p:nvSpPr>
          <p:cNvPr id="28" name="Shape 24"/>
          <p:cNvSpPr/>
          <p:nvPr/>
        </p:nvSpPr>
        <p:spPr>
          <a:xfrm>
            <a:off x="3246120" y="1325880"/>
            <a:ext cx="2651760" cy="2743200"/>
          </a:xfrm>
          <a:prstGeom prst="roundRect">
            <a:avLst>
              <a:gd name="adj" fmla="val 2759"/>
            </a:avLst>
          </a:prstGeom>
          <a:solidFill>
            <a:srgbClr val="F4F7F5"/>
          </a:solidFill>
          <a:ln w="9525">
            <a:solidFill>
              <a:srgbClr val="D5DED9"/>
            </a:solidFill>
            <a:prstDash val="solid"/>
          </a:ln>
        </p:spPr>
      </p:sp>
      <p:sp>
        <p:nvSpPr>
          <p:cNvPr id="29" name="Shape 25"/>
          <p:cNvSpPr/>
          <p:nvPr/>
        </p:nvSpPr>
        <p:spPr>
          <a:xfrm>
            <a:off x="3355848" y="1417320"/>
            <a:ext cx="457200" cy="457200"/>
          </a:xfrm>
          <a:prstGeom prst="ellipse">
            <a:avLst/>
          </a:prstGeom>
          <a:solidFill>
            <a:srgbClr val="00704A">
              <a:alpha val="22000"/>
            </a:srgbClr>
          </a:solidFill>
          <a:ln w="12700">
            <a:solidFill>
              <a:srgbClr val="00704A">
                <a:alpha val="0"/>
              </a:srgbClr>
            </a:solidFill>
            <a:prstDash val="solid"/>
          </a:ln>
        </p:spPr>
      </p:sp>
      <p:pic>
        <p:nvPicPr>
          <p:cNvPr id="30" name="Image 1" descr="preencoded.png"/>
          <p:cNvPicPr>
            <a:picLocks noChangeAspect="1"/>
          </p:cNvPicPr>
          <p:nvPr/>
        </p:nvPicPr>
        <p:blipFill>
          <a:blip r:embed="rId4"/>
          <a:stretch>
            <a:fillRect/>
          </a:stretch>
        </p:blipFill>
        <p:spPr>
          <a:xfrm>
            <a:off x="3474720" y="1536192"/>
            <a:ext cx="219456" cy="219456"/>
          </a:xfrm>
          <a:prstGeom prst="rect">
            <a:avLst/>
          </a:prstGeom>
        </p:spPr>
      </p:pic>
      <p:sp>
        <p:nvSpPr>
          <p:cNvPr id="31" name="Text 26"/>
          <p:cNvSpPr txBox="1"/>
          <p:nvPr/>
        </p:nvSpPr>
        <p:spPr>
          <a:xfrm>
            <a:off x="3904488" y="1417320"/>
            <a:ext cx="1828800" cy="256032"/>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Monthly</a:t>
            </a:r>
            <a:endParaRPr lang="en-US" sz="1500" dirty="0"/>
          </a:p>
        </p:txBody>
      </p:sp>
      <p:sp>
        <p:nvSpPr>
          <p:cNvPr id="32" name="Text 27"/>
          <p:cNvSpPr txBox="1"/>
          <p:nvPr/>
        </p:nvSpPr>
        <p:spPr>
          <a:xfrm>
            <a:off x="3904488" y="1673352"/>
            <a:ext cx="19202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VNP46A3 · EOG VNL monthly</a:t>
            </a:r>
            <a:endParaRPr lang="en-US" sz="900" dirty="0"/>
          </a:p>
        </p:txBody>
      </p:sp>
      <p:sp>
        <p:nvSpPr>
          <p:cNvPr id="33" name="Text 28"/>
          <p:cNvSpPr txBox="1"/>
          <p:nvPr/>
        </p:nvSpPr>
        <p:spPr>
          <a:xfrm>
            <a:off x="3374136" y="2011680"/>
            <a:ext cx="2377440" cy="164592"/>
          </a:xfrm>
          <a:prstGeom prst="rect">
            <a:avLst/>
          </a:prstGeom>
          <a:noFill/>
          <a:ln/>
        </p:spPr>
        <p:txBody>
          <a:bodyPr wrap="square" lIns="0" tIns="0" rIns="0" bIns="0" rtlCol="0" anchor="t"/>
          <a:lstStyle/>
          <a:p>
            <a:pPr marL="0" indent="0">
              <a:buNone/>
            </a:pPr>
            <a:r>
              <a:rPr lang="en-US" sz="850" b="1" kern="0" spc="200" dirty="0">
                <a:solidFill>
                  <a:srgbClr val="00A86A"/>
                </a:solidFill>
                <a:latin typeface="Calibri" pitchFamily="34" charset="0"/>
                <a:ea typeface="Calibri" pitchFamily="34" charset="-122"/>
                <a:cs typeface="Calibri" pitchFamily="34" charset="-120"/>
              </a:rPr>
              <a:t>STRENGTH</a:t>
            </a:r>
            <a:endParaRPr lang="en-US" sz="850" dirty="0"/>
          </a:p>
        </p:txBody>
      </p:sp>
      <p:sp>
        <p:nvSpPr>
          <p:cNvPr id="34" name="Text 29"/>
          <p:cNvSpPr txBox="1"/>
          <p:nvPr/>
        </p:nvSpPr>
        <p:spPr>
          <a:xfrm>
            <a:off x="3374136" y="2194560"/>
            <a:ext cx="2395728" cy="45720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Dates a change to within a season.</a:t>
            </a:r>
            <a:endParaRPr lang="en-US" sz="950" dirty="0"/>
          </a:p>
        </p:txBody>
      </p:sp>
      <p:sp>
        <p:nvSpPr>
          <p:cNvPr id="35" name="Text 30"/>
          <p:cNvSpPr txBox="1"/>
          <p:nvPr/>
        </p:nvSpPr>
        <p:spPr>
          <a:xfrm>
            <a:off x="3374136" y="2688336"/>
            <a:ext cx="2377440" cy="164592"/>
          </a:xfrm>
          <a:prstGeom prst="rect">
            <a:avLst/>
          </a:prstGeom>
          <a:noFill/>
          <a:ln/>
        </p:spPr>
        <p:txBody>
          <a:bodyPr wrap="square" lIns="0" tIns="0" rIns="0" bIns="0" rtlCol="0" anchor="t"/>
          <a:lstStyle/>
          <a:p>
            <a:pPr marL="0" indent="0">
              <a:buNone/>
            </a:pPr>
            <a:r>
              <a:rPr lang="en-US" sz="850" b="1" kern="0" spc="200" dirty="0">
                <a:solidFill>
                  <a:srgbClr val="D49A00"/>
                </a:solidFill>
                <a:latin typeface="Calibri" pitchFamily="34" charset="0"/>
                <a:ea typeface="Calibri" pitchFamily="34" charset="-122"/>
                <a:cs typeface="Calibri" pitchFamily="34" charset="-120"/>
              </a:rPr>
              <a:t>WATCH OUT FOR</a:t>
            </a:r>
            <a:endParaRPr lang="en-US" sz="850" dirty="0"/>
          </a:p>
        </p:txBody>
      </p:sp>
      <p:sp>
        <p:nvSpPr>
          <p:cNvPr id="36" name="Text 31"/>
          <p:cNvSpPr txBox="1"/>
          <p:nvPr/>
        </p:nvSpPr>
        <p:spPr>
          <a:xfrm>
            <a:off x="3374136" y="2871216"/>
            <a:ext cx="2395728" cy="45720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Rainy-season months may rest on very few valid nights.</a:t>
            </a:r>
            <a:endParaRPr lang="en-US" sz="950" dirty="0"/>
          </a:p>
        </p:txBody>
      </p:sp>
      <p:sp>
        <p:nvSpPr>
          <p:cNvPr id="37" name="Text 32"/>
          <p:cNvSpPr txBox="1"/>
          <p:nvPr/>
        </p:nvSpPr>
        <p:spPr>
          <a:xfrm>
            <a:off x="3374136" y="3364992"/>
            <a:ext cx="2377440" cy="164592"/>
          </a:xfrm>
          <a:prstGeom prst="rect">
            <a:avLst/>
          </a:prstGeom>
          <a:noFill/>
          <a:ln/>
        </p:spPr>
        <p:txBody>
          <a:bodyPr wrap="square" lIns="0" tIns="0" rIns="0" bIns="0" rtlCol="0" anchor="t"/>
          <a:lstStyle/>
          <a:p>
            <a:pPr marL="0" indent="0">
              <a:buNone/>
            </a:pPr>
            <a:r>
              <a:rPr lang="en-US" sz="850" b="1" kern="0" spc="200" dirty="0">
                <a:solidFill>
                  <a:srgbClr val="00704A"/>
                </a:solidFill>
                <a:latin typeface="Calibri" pitchFamily="34" charset="0"/>
                <a:ea typeface="Calibri" pitchFamily="34" charset="-122"/>
                <a:cs typeface="Calibri" pitchFamily="34" charset="-120"/>
              </a:rPr>
              <a:t>TYPICAL NSO USE</a:t>
            </a:r>
            <a:endParaRPr lang="en-US" sz="850" dirty="0"/>
          </a:p>
        </p:txBody>
      </p:sp>
      <p:sp>
        <p:nvSpPr>
          <p:cNvPr id="38" name="Text 33"/>
          <p:cNvSpPr txBox="1"/>
          <p:nvPr/>
        </p:nvSpPr>
        <p:spPr>
          <a:xfrm>
            <a:off x="3374136" y="3547872"/>
            <a:ext cx="2395728" cy="45720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Programme evaluation, seasonal activity, conflict &amp; recovery timelines.</a:t>
            </a:r>
            <a:endParaRPr lang="en-US" sz="950" dirty="0"/>
          </a:p>
        </p:txBody>
      </p:sp>
      <p:sp>
        <p:nvSpPr>
          <p:cNvPr id="39" name="Shape 34"/>
          <p:cNvSpPr/>
          <p:nvPr/>
        </p:nvSpPr>
        <p:spPr>
          <a:xfrm>
            <a:off x="6035040" y="1325880"/>
            <a:ext cx="2651760" cy="2743200"/>
          </a:xfrm>
          <a:prstGeom prst="roundRect">
            <a:avLst>
              <a:gd name="adj" fmla="val 2759"/>
            </a:avLst>
          </a:prstGeom>
          <a:solidFill>
            <a:srgbClr val="F4F7F5"/>
          </a:solidFill>
          <a:ln w="9525">
            <a:solidFill>
              <a:srgbClr val="D5DED9"/>
            </a:solidFill>
            <a:prstDash val="solid"/>
          </a:ln>
        </p:spPr>
      </p:sp>
      <p:sp>
        <p:nvSpPr>
          <p:cNvPr id="40" name="Shape 35"/>
          <p:cNvSpPr/>
          <p:nvPr/>
        </p:nvSpPr>
        <p:spPr>
          <a:xfrm>
            <a:off x="6144768" y="1417320"/>
            <a:ext cx="457200" cy="457200"/>
          </a:xfrm>
          <a:prstGeom prst="ellipse">
            <a:avLst/>
          </a:prstGeom>
          <a:solidFill>
            <a:srgbClr val="00A86A">
              <a:alpha val="22000"/>
            </a:srgbClr>
          </a:solidFill>
          <a:ln w="12700">
            <a:solidFill>
              <a:srgbClr val="00A86A">
                <a:alpha val="0"/>
              </a:srgbClr>
            </a:solidFill>
            <a:prstDash val="solid"/>
          </a:ln>
        </p:spPr>
      </p:sp>
      <p:pic>
        <p:nvPicPr>
          <p:cNvPr id="41" name="Image 2" descr="preencoded.png"/>
          <p:cNvPicPr>
            <a:picLocks noChangeAspect="1"/>
          </p:cNvPicPr>
          <p:nvPr/>
        </p:nvPicPr>
        <p:blipFill>
          <a:blip r:embed="rId5"/>
          <a:stretch>
            <a:fillRect/>
          </a:stretch>
        </p:blipFill>
        <p:spPr>
          <a:xfrm>
            <a:off x="6263640" y="1536192"/>
            <a:ext cx="219456" cy="219456"/>
          </a:xfrm>
          <a:prstGeom prst="rect">
            <a:avLst/>
          </a:prstGeom>
        </p:spPr>
      </p:pic>
      <p:sp>
        <p:nvSpPr>
          <p:cNvPr id="42" name="Text 36"/>
          <p:cNvSpPr txBox="1"/>
          <p:nvPr/>
        </p:nvSpPr>
        <p:spPr>
          <a:xfrm>
            <a:off x="6693408" y="1417320"/>
            <a:ext cx="1828800" cy="256032"/>
          </a:xfrm>
          <a:prstGeom prst="rect">
            <a:avLst/>
          </a:prstGeom>
          <a:noFill/>
          <a:ln/>
        </p:spPr>
        <p:txBody>
          <a:bodyPr wrap="square" lIns="0" tIns="0" rIns="0" bIns="0" rtlCol="0" anchor="t"/>
          <a:lstStyle/>
          <a:p>
            <a:pPr marL="0" indent="0">
              <a:buNone/>
            </a:pPr>
            <a:r>
              <a:rPr lang="en-US" sz="1500" b="1" dirty="0">
                <a:solidFill>
                  <a:srgbClr val="00A86A"/>
                </a:solidFill>
                <a:latin typeface="Calibri" pitchFamily="34" charset="0"/>
                <a:ea typeface="Calibri" pitchFamily="34" charset="-122"/>
                <a:cs typeface="Calibri" pitchFamily="34" charset="-120"/>
              </a:rPr>
              <a:t>Daily</a:t>
            </a:r>
            <a:endParaRPr lang="en-US" sz="1500" dirty="0"/>
          </a:p>
        </p:txBody>
      </p:sp>
      <p:sp>
        <p:nvSpPr>
          <p:cNvPr id="43" name="Text 37"/>
          <p:cNvSpPr txBox="1"/>
          <p:nvPr/>
        </p:nvSpPr>
        <p:spPr>
          <a:xfrm>
            <a:off x="6693408" y="1673352"/>
            <a:ext cx="19202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VNP46A2</a:t>
            </a:r>
            <a:endParaRPr lang="en-US" sz="900" dirty="0"/>
          </a:p>
        </p:txBody>
      </p:sp>
      <p:sp>
        <p:nvSpPr>
          <p:cNvPr id="44" name="Text 38"/>
          <p:cNvSpPr txBox="1"/>
          <p:nvPr/>
        </p:nvSpPr>
        <p:spPr>
          <a:xfrm>
            <a:off x="6163056" y="2011680"/>
            <a:ext cx="2377440" cy="164592"/>
          </a:xfrm>
          <a:prstGeom prst="rect">
            <a:avLst/>
          </a:prstGeom>
          <a:noFill/>
          <a:ln/>
        </p:spPr>
        <p:txBody>
          <a:bodyPr wrap="square" lIns="0" tIns="0" rIns="0" bIns="0" rtlCol="0" anchor="t"/>
          <a:lstStyle/>
          <a:p>
            <a:pPr marL="0" indent="0">
              <a:buNone/>
            </a:pPr>
            <a:r>
              <a:rPr lang="en-US" sz="850" b="1" kern="0" spc="200" dirty="0">
                <a:solidFill>
                  <a:srgbClr val="00A86A"/>
                </a:solidFill>
                <a:latin typeface="Calibri" pitchFamily="34" charset="0"/>
                <a:ea typeface="Calibri" pitchFamily="34" charset="-122"/>
                <a:cs typeface="Calibri" pitchFamily="34" charset="-120"/>
              </a:rPr>
              <a:t>STRENGTH</a:t>
            </a:r>
            <a:endParaRPr lang="en-US" sz="850" dirty="0"/>
          </a:p>
        </p:txBody>
      </p:sp>
      <p:sp>
        <p:nvSpPr>
          <p:cNvPr id="45" name="Text 39"/>
          <p:cNvSpPr txBox="1"/>
          <p:nvPr/>
        </p:nvSpPr>
        <p:spPr>
          <a:xfrm>
            <a:off x="6163056" y="2194560"/>
            <a:ext cx="2395728" cy="45720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Every night, corrected for moon, atmosphere and terrain.</a:t>
            </a:r>
            <a:endParaRPr lang="en-US" sz="950" dirty="0"/>
          </a:p>
        </p:txBody>
      </p:sp>
      <p:sp>
        <p:nvSpPr>
          <p:cNvPr id="46" name="Text 40"/>
          <p:cNvSpPr txBox="1"/>
          <p:nvPr/>
        </p:nvSpPr>
        <p:spPr>
          <a:xfrm>
            <a:off x="6163056" y="2688336"/>
            <a:ext cx="2377440" cy="164592"/>
          </a:xfrm>
          <a:prstGeom prst="rect">
            <a:avLst/>
          </a:prstGeom>
          <a:noFill/>
          <a:ln/>
        </p:spPr>
        <p:txBody>
          <a:bodyPr wrap="square" lIns="0" tIns="0" rIns="0" bIns="0" rtlCol="0" anchor="t"/>
          <a:lstStyle/>
          <a:p>
            <a:pPr marL="0" indent="0">
              <a:buNone/>
            </a:pPr>
            <a:r>
              <a:rPr lang="en-US" sz="850" b="1" kern="0" spc="200" dirty="0">
                <a:solidFill>
                  <a:srgbClr val="D49A00"/>
                </a:solidFill>
                <a:latin typeface="Calibri" pitchFamily="34" charset="0"/>
                <a:ea typeface="Calibri" pitchFamily="34" charset="-122"/>
                <a:cs typeface="Calibri" pitchFamily="34" charset="-120"/>
              </a:rPr>
              <a:t>WATCH OUT FOR</a:t>
            </a:r>
            <a:endParaRPr lang="en-US" sz="850" dirty="0"/>
          </a:p>
        </p:txBody>
      </p:sp>
      <p:sp>
        <p:nvSpPr>
          <p:cNvPr id="47" name="Text 41"/>
          <p:cNvSpPr txBox="1"/>
          <p:nvPr/>
        </p:nvSpPr>
        <p:spPr>
          <a:xfrm>
            <a:off x="6163056" y="2871216"/>
            <a:ext cx="2395728" cy="45720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Large volumes; a single night is noisy — aggregate first.</a:t>
            </a:r>
            <a:endParaRPr lang="en-US" sz="950" dirty="0"/>
          </a:p>
        </p:txBody>
      </p:sp>
      <p:sp>
        <p:nvSpPr>
          <p:cNvPr id="48" name="Text 42"/>
          <p:cNvSpPr txBox="1"/>
          <p:nvPr/>
        </p:nvSpPr>
        <p:spPr>
          <a:xfrm>
            <a:off x="6163056" y="3364992"/>
            <a:ext cx="2377440" cy="164592"/>
          </a:xfrm>
          <a:prstGeom prst="rect">
            <a:avLst/>
          </a:prstGeom>
          <a:noFill/>
          <a:ln/>
        </p:spPr>
        <p:txBody>
          <a:bodyPr wrap="square" lIns="0" tIns="0" rIns="0" bIns="0" rtlCol="0" anchor="t"/>
          <a:lstStyle/>
          <a:p>
            <a:pPr marL="0" indent="0">
              <a:buNone/>
            </a:pPr>
            <a:r>
              <a:rPr lang="en-US" sz="850" b="1" kern="0" spc="200" dirty="0">
                <a:solidFill>
                  <a:srgbClr val="00704A"/>
                </a:solidFill>
                <a:latin typeface="Calibri" pitchFamily="34" charset="0"/>
                <a:ea typeface="Calibri" pitchFamily="34" charset="-122"/>
                <a:cs typeface="Calibri" pitchFamily="34" charset="-120"/>
              </a:rPr>
              <a:t>TYPICAL NSO USE</a:t>
            </a:r>
            <a:endParaRPr lang="en-US" sz="850" dirty="0"/>
          </a:p>
        </p:txBody>
      </p:sp>
      <p:sp>
        <p:nvSpPr>
          <p:cNvPr id="49" name="Text 43"/>
          <p:cNvSpPr txBox="1"/>
          <p:nvPr/>
        </p:nvSpPr>
        <p:spPr>
          <a:xfrm>
            <a:off x="6163056" y="3547872"/>
            <a:ext cx="2395728" cy="45720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Blackouts, disaster response, reliability of electricity supply.</a:t>
            </a:r>
            <a:endParaRPr lang="en-US" sz="950" dirty="0"/>
          </a:p>
        </p:txBody>
      </p:sp>
      <p:sp>
        <p:nvSpPr>
          <p:cNvPr id="50" name="Shape 44"/>
          <p:cNvSpPr/>
          <p:nvPr/>
        </p:nvSpPr>
        <p:spPr>
          <a:xfrm>
            <a:off x="457200" y="4178808"/>
            <a:ext cx="8229600" cy="411480"/>
          </a:xfrm>
          <a:prstGeom prst="roundRect">
            <a:avLst>
              <a:gd name="adj" fmla="val 17778"/>
            </a:avLst>
          </a:prstGeom>
          <a:solidFill>
            <a:srgbClr val="E8F5EF"/>
          </a:solidFill>
          <a:ln w="15875">
            <a:solidFill>
              <a:srgbClr val="00A86A"/>
            </a:solidFill>
            <a:prstDash val="solid"/>
          </a:ln>
        </p:spPr>
      </p:sp>
      <p:sp>
        <p:nvSpPr>
          <p:cNvPr id="51" name="Shape 45"/>
          <p:cNvSpPr/>
          <p:nvPr/>
        </p:nvSpPr>
        <p:spPr>
          <a:xfrm>
            <a:off x="530352" y="4206240"/>
            <a:ext cx="347472" cy="347472"/>
          </a:xfrm>
          <a:prstGeom prst="ellipse">
            <a:avLst/>
          </a:prstGeom>
          <a:solidFill>
            <a:srgbClr val="00A86A">
              <a:alpha val="22000"/>
            </a:srgbClr>
          </a:solidFill>
          <a:ln w="12700">
            <a:solidFill>
              <a:srgbClr val="00A86A">
                <a:alpha val="0"/>
              </a:srgbClr>
            </a:solidFill>
            <a:prstDash val="solid"/>
          </a:ln>
        </p:spPr>
      </p:sp>
      <p:pic>
        <p:nvPicPr>
          <p:cNvPr id="52" name="Image 3" descr="preencoded.png"/>
          <p:cNvPicPr>
            <a:picLocks noChangeAspect="1"/>
          </p:cNvPicPr>
          <p:nvPr/>
        </p:nvPicPr>
        <p:blipFill>
          <a:blip r:embed="rId6"/>
          <a:stretch>
            <a:fillRect/>
          </a:stretch>
        </p:blipFill>
        <p:spPr>
          <a:xfrm>
            <a:off x="620695" y="4296583"/>
            <a:ext cx="166787" cy="166787"/>
          </a:xfrm>
          <a:prstGeom prst="rect">
            <a:avLst/>
          </a:prstGeom>
        </p:spPr>
      </p:pic>
      <p:sp>
        <p:nvSpPr>
          <p:cNvPr id="53" name="Text 46"/>
          <p:cNvSpPr txBox="1"/>
          <p:nvPr/>
        </p:nvSpPr>
        <p:spPr>
          <a:xfrm>
            <a:off x="960120" y="4178808"/>
            <a:ext cx="7680960" cy="41148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Rule of thumb: </a:t>
            </a:r>
            <a:r>
              <a:rPr lang="en-US" sz="1050" dirty="0">
                <a:solidFill>
                  <a:srgbClr val="231F20"/>
                </a:solidFill>
                <a:latin typeface="Calibri" pitchFamily="34" charset="0"/>
                <a:ea typeface="Calibri" pitchFamily="34" charset="-122"/>
                <a:cs typeface="Calibri" pitchFamily="34" charset="-120"/>
              </a:rPr>
              <a:t>start annual. The finer the cadence, the more corrections you must trust and the more noise you must handle.</a:t>
            </a:r>
            <a:endParaRPr lang="en-US" sz="105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FROM TALK TO LAB · VALIDATION · FOR THE VALIDATE LAB</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Publish, or keep as a diagnostic?</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25880"/>
            <a:ext cx="3017520" cy="603504"/>
          </a:xfrm>
          <a:prstGeom prst="roundRect">
            <a:avLst>
              <a:gd name="adj" fmla="val 12121"/>
            </a:avLst>
          </a:prstGeom>
          <a:solidFill>
            <a:srgbClr val="FFFFFF"/>
          </a:solidFill>
          <a:ln w="9525">
            <a:solidFill>
              <a:srgbClr val="C4621D"/>
            </a:solidFill>
            <a:prstDash val="solid"/>
          </a:ln>
        </p:spPr>
      </p:sp>
      <p:sp>
        <p:nvSpPr>
          <p:cNvPr id="18" name="Shape 15"/>
          <p:cNvSpPr/>
          <p:nvPr/>
        </p:nvSpPr>
        <p:spPr>
          <a:xfrm>
            <a:off x="548640" y="1463040"/>
            <a:ext cx="329184" cy="329184"/>
          </a:xfrm>
          <a:prstGeom prst="ellipse">
            <a:avLst/>
          </a:prstGeom>
          <a:solidFill>
            <a:srgbClr val="C4621D"/>
          </a:solidFill>
          <a:ln w="12700">
            <a:solidFill>
              <a:srgbClr val="C4621D"/>
            </a:solidFill>
            <a:prstDash val="solid"/>
          </a:ln>
        </p:spPr>
      </p:sp>
      <p:sp>
        <p:nvSpPr>
          <p:cNvPr id="19" name="Text 16"/>
          <p:cNvSpPr txBox="1"/>
          <p:nvPr/>
        </p:nvSpPr>
        <p:spPr>
          <a:xfrm>
            <a:off x="548640" y="14630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Q1</a:t>
            </a:r>
            <a:endParaRPr lang="en-US" sz="1000" dirty="0"/>
          </a:p>
        </p:txBody>
      </p:sp>
      <p:sp>
        <p:nvSpPr>
          <p:cNvPr id="20" name="Text 17"/>
          <p:cNvSpPr txBox="1"/>
          <p:nvPr/>
        </p:nvSpPr>
        <p:spPr>
          <a:xfrm>
            <a:off x="960120" y="1371600"/>
            <a:ext cx="2468880" cy="329184"/>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Is the relationship strong and stable across units and years?</a:t>
            </a:r>
            <a:endParaRPr lang="en-US" sz="1000" dirty="0"/>
          </a:p>
        </p:txBody>
      </p:sp>
      <p:sp>
        <p:nvSpPr>
          <p:cNvPr id="21" name="Text 18"/>
          <p:cNvSpPr txBox="1"/>
          <p:nvPr/>
        </p:nvSpPr>
        <p:spPr>
          <a:xfrm>
            <a:off x="960120" y="1700784"/>
            <a:ext cx="2468880" cy="201168"/>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Set your bar before you look.</a:t>
            </a:r>
            <a:endParaRPr lang="en-US" sz="900" dirty="0"/>
          </a:p>
        </p:txBody>
      </p:sp>
      <p:sp>
        <p:nvSpPr>
          <p:cNvPr id="22" name="Shape 19"/>
          <p:cNvSpPr/>
          <p:nvPr/>
        </p:nvSpPr>
        <p:spPr>
          <a:xfrm>
            <a:off x="1965960" y="1929384"/>
            <a:ext cx="91" cy="109728"/>
          </a:xfrm>
          <a:prstGeom prst="line">
            <a:avLst/>
          </a:prstGeom>
          <a:noFill/>
          <a:ln w="15875">
            <a:solidFill>
              <a:srgbClr val="5E6964"/>
            </a:solidFill>
            <a:prstDash val="solid"/>
            <a:tailEnd type="triangle"/>
          </a:ln>
        </p:spPr>
      </p:sp>
      <p:sp>
        <p:nvSpPr>
          <p:cNvPr id="23" name="Shape 20"/>
          <p:cNvSpPr/>
          <p:nvPr/>
        </p:nvSpPr>
        <p:spPr>
          <a:xfrm>
            <a:off x="457200" y="2039112"/>
            <a:ext cx="3017520" cy="603504"/>
          </a:xfrm>
          <a:prstGeom prst="roundRect">
            <a:avLst>
              <a:gd name="adj" fmla="val 12121"/>
            </a:avLst>
          </a:prstGeom>
          <a:solidFill>
            <a:srgbClr val="FFFFFF"/>
          </a:solidFill>
          <a:ln w="9525">
            <a:solidFill>
              <a:srgbClr val="C4621D"/>
            </a:solidFill>
            <a:prstDash val="solid"/>
          </a:ln>
        </p:spPr>
      </p:sp>
      <p:sp>
        <p:nvSpPr>
          <p:cNvPr id="24" name="Shape 21"/>
          <p:cNvSpPr/>
          <p:nvPr/>
        </p:nvSpPr>
        <p:spPr>
          <a:xfrm>
            <a:off x="548640" y="2176272"/>
            <a:ext cx="329184" cy="329184"/>
          </a:xfrm>
          <a:prstGeom prst="ellipse">
            <a:avLst/>
          </a:prstGeom>
          <a:solidFill>
            <a:srgbClr val="C4621D"/>
          </a:solidFill>
          <a:ln w="12700">
            <a:solidFill>
              <a:srgbClr val="C4621D"/>
            </a:solidFill>
            <a:prstDash val="solid"/>
          </a:ln>
        </p:spPr>
      </p:sp>
      <p:sp>
        <p:nvSpPr>
          <p:cNvPr id="25" name="Text 22"/>
          <p:cNvSpPr txBox="1"/>
          <p:nvPr/>
        </p:nvSpPr>
        <p:spPr>
          <a:xfrm>
            <a:off x="548640" y="2176272"/>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Q2</a:t>
            </a:r>
            <a:endParaRPr lang="en-US" sz="1000" dirty="0"/>
          </a:p>
        </p:txBody>
      </p:sp>
      <p:sp>
        <p:nvSpPr>
          <p:cNvPr id="26" name="Text 23"/>
          <p:cNvSpPr txBox="1"/>
          <p:nvPr/>
        </p:nvSpPr>
        <p:spPr>
          <a:xfrm>
            <a:off x="960120" y="2084832"/>
            <a:ext cx="2468880" cy="329184"/>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Are artefacts identified and treated?</a:t>
            </a:r>
            <a:endParaRPr lang="en-US" sz="1000" dirty="0"/>
          </a:p>
        </p:txBody>
      </p:sp>
      <p:sp>
        <p:nvSpPr>
          <p:cNvPr id="27" name="Text 24"/>
          <p:cNvSpPr txBox="1"/>
          <p:nvPr/>
        </p:nvSpPr>
        <p:spPr>
          <a:xfrm>
            <a:off x="960120" y="2414016"/>
            <a:ext cx="2468880" cy="201168"/>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Flares, blooming, seasonality, noise.</a:t>
            </a:r>
            <a:endParaRPr lang="en-US" sz="900" dirty="0"/>
          </a:p>
        </p:txBody>
      </p:sp>
      <p:sp>
        <p:nvSpPr>
          <p:cNvPr id="28" name="Shape 25"/>
          <p:cNvSpPr/>
          <p:nvPr/>
        </p:nvSpPr>
        <p:spPr>
          <a:xfrm>
            <a:off x="1965960" y="2642616"/>
            <a:ext cx="91" cy="109728"/>
          </a:xfrm>
          <a:prstGeom prst="line">
            <a:avLst/>
          </a:prstGeom>
          <a:noFill/>
          <a:ln w="15875">
            <a:solidFill>
              <a:srgbClr val="5E6964"/>
            </a:solidFill>
            <a:prstDash val="solid"/>
            <a:tailEnd type="triangle"/>
          </a:ln>
        </p:spPr>
      </p:sp>
      <p:sp>
        <p:nvSpPr>
          <p:cNvPr id="29" name="Shape 26"/>
          <p:cNvSpPr/>
          <p:nvPr/>
        </p:nvSpPr>
        <p:spPr>
          <a:xfrm>
            <a:off x="457200" y="2752344"/>
            <a:ext cx="3017520" cy="603504"/>
          </a:xfrm>
          <a:prstGeom prst="roundRect">
            <a:avLst>
              <a:gd name="adj" fmla="val 12121"/>
            </a:avLst>
          </a:prstGeom>
          <a:solidFill>
            <a:srgbClr val="FFFFFF"/>
          </a:solidFill>
          <a:ln w="9525">
            <a:solidFill>
              <a:srgbClr val="C4621D"/>
            </a:solidFill>
            <a:prstDash val="solid"/>
          </a:ln>
        </p:spPr>
      </p:sp>
      <p:sp>
        <p:nvSpPr>
          <p:cNvPr id="30" name="Shape 27"/>
          <p:cNvSpPr/>
          <p:nvPr/>
        </p:nvSpPr>
        <p:spPr>
          <a:xfrm>
            <a:off x="548640" y="2889504"/>
            <a:ext cx="329184" cy="329184"/>
          </a:xfrm>
          <a:prstGeom prst="ellipse">
            <a:avLst/>
          </a:prstGeom>
          <a:solidFill>
            <a:srgbClr val="C4621D"/>
          </a:solidFill>
          <a:ln w="12700">
            <a:solidFill>
              <a:srgbClr val="C4621D"/>
            </a:solidFill>
            <a:prstDash val="solid"/>
          </a:ln>
        </p:spPr>
      </p:sp>
      <p:sp>
        <p:nvSpPr>
          <p:cNvPr id="31" name="Text 28"/>
          <p:cNvSpPr txBox="1"/>
          <p:nvPr/>
        </p:nvSpPr>
        <p:spPr>
          <a:xfrm>
            <a:off x="548640" y="2889504"/>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Q3</a:t>
            </a:r>
            <a:endParaRPr lang="en-US" sz="1000" dirty="0"/>
          </a:p>
        </p:txBody>
      </p:sp>
      <p:sp>
        <p:nvSpPr>
          <p:cNvPr id="32" name="Text 29"/>
          <p:cNvSpPr txBox="1"/>
          <p:nvPr/>
        </p:nvSpPr>
        <p:spPr>
          <a:xfrm>
            <a:off x="960120" y="2798064"/>
            <a:ext cx="2468880" cy="329184"/>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Is the benchmark independent?</a:t>
            </a:r>
            <a:endParaRPr lang="en-US" sz="1000" dirty="0"/>
          </a:p>
        </p:txBody>
      </p:sp>
      <p:sp>
        <p:nvSpPr>
          <p:cNvPr id="33" name="Text 30"/>
          <p:cNvSpPr txBox="1"/>
          <p:nvPr/>
        </p:nvSpPr>
        <p:spPr>
          <a:xfrm>
            <a:off x="960120" y="3127248"/>
            <a:ext cx="2468880" cy="201168"/>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WorldPop uses NTL as a covariate — circular.</a:t>
            </a:r>
            <a:endParaRPr lang="en-US" sz="900" dirty="0"/>
          </a:p>
        </p:txBody>
      </p:sp>
      <p:sp>
        <p:nvSpPr>
          <p:cNvPr id="34" name="Shape 31"/>
          <p:cNvSpPr/>
          <p:nvPr/>
        </p:nvSpPr>
        <p:spPr>
          <a:xfrm>
            <a:off x="457200" y="3566160"/>
            <a:ext cx="274320" cy="274320"/>
          </a:xfrm>
          <a:prstGeom prst="ellipse">
            <a:avLst/>
          </a:prstGeom>
          <a:solidFill>
            <a:srgbClr val="00A86A">
              <a:alpha val="22000"/>
            </a:srgbClr>
          </a:solidFill>
          <a:ln w="12700">
            <a:solidFill>
              <a:srgbClr val="00A86A">
                <a:alpha val="0"/>
              </a:srgbClr>
            </a:solidFill>
            <a:prstDash val="solid"/>
          </a:ln>
        </p:spPr>
      </p:sp>
      <p:pic>
        <p:nvPicPr>
          <p:cNvPr id="35" name="Image 0" descr="preencoded.png"/>
          <p:cNvPicPr>
            <a:picLocks noChangeAspect="1"/>
          </p:cNvPicPr>
          <p:nvPr/>
        </p:nvPicPr>
        <p:blipFill>
          <a:blip r:embed="rId3"/>
          <a:stretch>
            <a:fillRect/>
          </a:stretch>
        </p:blipFill>
        <p:spPr>
          <a:xfrm>
            <a:off x="528523" y="3637483"/>
            <a:ext cx="131674" cy="131674"/>
          </a:xfrm>
          <a:prstGeom prst="rect">
            <a:avLst/>
          </a:prstGeom>
        </p:spPr>
      </p:pic>
      <p:sp>
        <p:nvSpPr>
          <p:cNvPr id="36" name="Text 32"/>
          <p:cNvSpPr txBox="1"/>
          <p:nvPr/>
        </p:nvSpPr>
        <p:spPr>
          <a:xfrm>
            <a:off x="804672" y="3566160"/>
            <a:ext cx="3108960" cy="274320"/>
          </a:xfrm>
          <a:prstGeom prst="rect">
            <a:avLst/>
          </a:prstGeom>
          <a:noFill/>
          <a:ln/>
        </p:spPr>
        <p:txBody>
          <a:bodyPr wrap="square" lIns="0" tIns="0" rIns="0" bIns="0" rtlCol="0" anchor="ctr"/>
          <a:lstStyle/>
          <a:p>
            <a:pPr marL="0" indent="0">
              <a:buNone/>
            </a:pPr>
            <a:r>
              <a:rPr lang="en-US" sz="950" b="1" dirty="0">
                <a:solidFill>
                  <a:srgbClr val="00A86A"/>
                </a:solidFill>
                <a:latin typeface="Calibri" pitchFamily="34" charset="0"/>
                <a:ea typeface="Calibri" pitchFamily="34" charset="-122"/>
                <a:cs typeface="Calibri" pitchFamily="34" charset="-120"/>
              </a:rPr>
              <a:t>All three: yes → </a:t>
            </a:r>
            <a:r>
              <a:rPr lang="en-US" sz="950" dirty="0">
                <a:solidFill>
                  <a:srgbClr val="231F20"/>
                </a:solidFill>
                <a:latin typeface="Calibri" pitchFamily="34" charset="0"/>
                <a:ea typeface="Calibri" pitchFamily="34" charset="-122"/>
                <a:cs typeface="Calibri" pitchFamily="34" charset="-120"/>
              </a:rPr>
              <a:t>Experimental statistic — publish with limitations</a:t>
            </a:r>
            <a:endParaRPr lang="en-US" sz="950" dirty="0"/>
          </a:p>
        </p:txBody>
      </p:sp>
      <p:sp>
        <p:nvSpPr>
          <p:cNvPr id="37" name="Shape 33"/>
          <p:cNvSpPr/>
          <p:nvPr/>
        </p:nvSpPr>
        <p:spPr>
          <a:xfrm>
            <a:off x="457200" y="3904488"/>
            <a:ext cx="274320" cy="274320"/>
          </a:xfrm>
          <a:prstGeom prst="ellipse">
            <a:avLst/>
          </a:prstGeom>
          <a:solidFill>
            <a:srgbClr val="D49A00">
              <a:alpha val="22000"/>
            </a:srgbClr>
          </a:solidFill>
          <a:ln w="12700">
            <a:solidFill>
              <a:srgbClr val="D49A00">
                <a:alpha val="0"/>
              </a:srgbClr>
            </a:solidFill>
            <a:prstDash val="solid"/>
          </a:ln>
        </p:spPr>
      </p:sp>
      <p:pic>
        <p:nvPicPr>
          <p:cNvPr id="38" name="Image 1" descr="preencoded.png"/>
          <p:cNvPicPr>
            <a:picLocks noChangeAspect="1"/>
          </p:cNvPicPr>
          <p:nvPr/>
        </p:nvPicPr>
        <p:blipFill>
          <a:blip r:embed="rId4"/>
          <a:stretch>
            <a:fillRect/>
          </a:stretch>
        </p:blipFill>
        <p:spPr>
          <a:xfrm>
            <a:off x="528523" y="3975811"/>
            <a:ext cx="131674" cy="131674"/>
          </a:xfrm>
          <a:prstGeom prst="rect">
            <a:avLst/>
          </a:prstGeom>
        </p:spPr>
      </p:pic>
      <p:sp>
        <p:nvSpPr>
          <p:cNvPr id="39" name="Text 34"/>
          <p:cNvSpPr txBox="1"/>
          <p:nvPr/>
        </p:nvSpPr>
        <p:spPr>
          <a:xfrm>
            <a:off x="804672" y="3904488"/>
            <a:ext cx="3108960" cy="274320"/>
          </a:xfrm>
          <a:prstGeom prst="rect">
            <a:avLst/>
          </a:prstGeom>
          <a:noFill/>
          <a:ln/>
        </p:spPr>
        <p:txBody>
          <a:bodyPr wrap="square" lIns="0" tIns="0" rIns="0" bIns="0" rtlCol="0" anchor="ctr"/>
          <a:lstStyle/>
          <a:p>
            <a:pPr marL="0" indent="0">
              <a:buNone/>
            </a:pPr>
            <a:r>
              <a:rPr lang="en-US" sz="950" b="1" dirty="0">
                <a:solidFill>
                  <a:srgbClr val="D49A00"/>
                </a:solidFill>
                <a:latin typeface="Calibri" pitchFamily="34" charset="0"/>
                <a:ea typeface="Calibri" pitchFamily="34" charset="-122"/>
                <a:cs typeface="Calibri" pitchFamily="34" charset="-120"/>
              </a:rPr>
              <a:t>Partly → </a:t>
            </a:r>
            <a:r>
              <a:rPr lang="en-US" sz="950" dirty="0">
                <a:solidFill>
                  <a:srgbClr val="231F20"/>
                </a:solidFill>
                <a:latin typeface="Calibri" pitchFamily="34" charset="0"/>
                <a:ea typeface="Calibri" pitchFamily="34" charset="-122"/>
                <a:cs typeface="Calibri" pitchFamily="34" charset="-120"/>
              </a:rPr>
              <a:t>Diagnostic tool — internal use only</a:t>
            </a:r>
            <a:endParaRPr lang="en-US" sz="950" dirty="0"/>
          </a:p>
        </p:txBody>
      </p:sp>
      <p:sp>
        <p:nvSpPr>
          <p:cNvPr id="40" name="Shape 35"/>
          <p:cNvSpPr/>
          <p:nvPr/>
        </p:nvSpPr>
        <p:spPr>
          <a:xfrm>
            <a:off x="457200" y="4242816"/>
            <a:ext cx="274320" cy="274320"/>
          </a:xfrm>
          <a:prstGeom prst="ellipse">
            <a:avLst/>
          </a:prstGeom>
          <a:solidFill>
            <a:srgbClr val="B83B2E">
              <a:alpha val="22000"/>
            </a:srgbClr>
          </a:solidFill>
          <a:ln w="12700">
            <a:solidFill>
              <a:srgbClr val="B83B2E">
                <a:alpha val="0"/>
              </a:srgbClr>
            </a:solidFill>
            <a:prstDash val="solid"/>
          </a:ln>
        </p:spPr>
      </p:sp>
      <p:pic>
        <p:nvPicPr>
          <p:cNvPr id="41" name="Image 2" descr="preencoded.png"/>
          <p:cNvPicPr>
            <a:picLocks noChangeAspect="1"/>
          </p:cNvPicPr>
          <p:nvPr/>
        </p:nvPicPr>
        <p:blipFill>
          <a:blip r:embed="rId5"/>
          <a:stretch>
            <a:fillRect/>
          </a:stretch>
        </p:blipFill>
        <p:spPr>
          <a:xfrm>
            <a:off x="528523" y="4314139"/>
            <a:ext cx="131674" cy="131674"/>
          </a:xfrm>
          <a:prstGeom prst="rect">
            <a:avLst/>
          </a:prstGeom>
        </p:spPr>
      </p:pic>
      <p:sp>
        <p:nvSpPr>
          <p:cNvPr id="42" name="Text 36"/>
          <p:cNvSpPr txBox="1"/>
          <p:nvPr/>
        </p:nvSpPr>
        <p:spPr>
          <a:xfrm>
            <a:off x="804672" y="4242816"/>
            <a:ext cx="3108960" cy="274320"/>
          </a:xfrm>
          <a:prstGeom prst="rect">
            <a:avLst/>
          </a:prstGeom>
          <a:noFill/>
          <a:ln/>
        </p:spPr>
        <p:txBody>
          <a:bodyPr wrap="square" lIns="0" tIns="0" rIns="0" bIns="0" rtlCol="0" anchor="ctr"/>
          <a:lstStyle/>
          <a:p>
            <a:pPr marL="0" indent="0">
              <a:buNone/>
            </a:pPr>
            <a:r>
              <a:rPr lang="en-US" sz="950" b="1" dirty="0">
                <a:solidFill>
                  <a:srgbClr val="B83B2E"/>
                </a:solidFill>
                <a:latin typeface="Calibri" pitchFamily="34" charset="0"/>
                <a:ea typeface="Calibri" pitchFamily="34" charset="-122"/>
                <a:cs typeface="Calibri" pitchFamily="34" charset="-120"/>
              </a:rPr>
              <a:t>No → </a:t>
            </a:r>
            <a:r>
              <a:rPr lang="en-US" sz="950" dirty="0">
                <a:solidFill>
                  <a:srgbClr val="231F20"/>
                </a:solidFill>
                <a:latin typeface="Calibri" pitchFamily="34" charset="0"/>
                <a:ea typeface="Calibri" pitchFamily="34" charset="-122"/>
                <a:cs typeface="Calibri" pitchFamily="34" charset="-120"/>
              </a:rPr>
              <a:t>Not fit for purpose — document why</a:t>
            </a:r>
            <a:endParaRPr lang="en-US" sz="950" dirty="0"/>
          </a:p>
        </p:txBody>
      </p:sp>
      <p:sp>
        <p:nvSpPr>
          <p:cNvPr id="43" name="Shape 37"/>
          <p:cNvSpPr/>
          <p:nvPr/>
        </p:nvSpPr>
        <p:spPr>
          <a:xfrm>
            <a:off x="3931920" y="1325880"/>
            <a:ext cx="4754880" cy="3200400"/>
          </a:xfrm>
          <a:prstGeom prst="roundRect">
            <a:avLst>
              <a:gd name="adj" fmla="val 2286"/>
            </a:avLst>
          </a:prstGeom>
          <a:solidFill>
            <a:srgbClr val="E8F5EF"/>
          </a:solidFill>
          <a:ln w="15875">
            <a:solidFill>
              <a:srgbClr val="00A86A"/>
            </a:solidFill>
            <a:prstDash val="solid"/>
          </a:ln>
        </p:spPr>
      </p:sp>
      <p:sp>
        <p:nvSpPr>
          <p:cNvPr id="44" name="Shape 38"/>
          <p:cNvSpPr/>
          <p:nvPr/>
        </p:nvSpPr>
        <p:spPr>
          <a:xfrm>
            <a:off x="4041648" y="1426464"/>
            <a:ext cx="420624" cy="420624"/>
          </a:xfrm>
          <a:prstGeom prst="ellipse">
            <a:avLst/>
          </a:prstGeom>
          <a:solidFill>
            <a:srgbClr val="00A86A">
              <a:alpha val="22000"/>
            </a:srgbClr>
          </a:solidFill>
          <a:ln w="12700">
            <a:solidFill>
              <a:srgbClr val="00A86A">
                <a:alpha val="0"/>
              </a:srgbClr>
            </a:solidFill>
            <a:prstDash val="solid"/>
          </a:ln>
        </p:spPr>
      </p:sp>
      <p:pic>
        <p:nvPicPr>
          <p:cNvPr id="45" name="Image 3" descr="preencoded.png"/>
          <p:cNvPicPr>
            <a:picLocks noChangeAspect="1"/>
          </p:cNvPicPr>
          <p:nvPr/>
        </p:nvPicPr>
        <p:blipFill>
          <a:blip r:embed="rId6"/>
          <a:stretch>
            <a:fillRect/>
          </a:stretch>
        </p:blipFill>
        <p:spPr>
          <a:xfrm>
            <a:off x="4151010" y="1535826"/>
            <a:ext cx="201900" cy="201900"/>
          </a:xfrm>
          <a:prstGeom prst="rect">
            <a:avLst/>
          </a:prstGeom>
        </p:spPr>
      </p:pic>
      <p:sp>
        <p:nvSpPr>
          <p:cNvPr id="46" name="Text 39"/>
          <p:cNvSpPr txBox="1"/>
          <p:nvPr/>
        </p:nvSpPr>
        <p:spPr>
          <a:xfrm>
            <a:off x="4572000" y="1426464"/>
            <a:ext cx="4023360" cy="27432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Limitations statement — template</a:t>
            </a:r>
            <a:endParaRPr lang="en-US" sz="1350" dirty="0"/>
          </a:p>
        </p:txBody>
      </p:sp>
      <p:sp>
        <p:nvSpPr>
          <p:cNvPr id="47" name="Text 40"/>
          <p:cNvSpPr txBox="1"/>
          <p:nvPr/>
        </p:nvSpPr>
        <p:spPr>
          <a:xfrm>
            <a:off x="4572000" y="1700784"/>
            <a:ext cx="40233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Part of the deliverable, committed to GitHub</a:t>
            </a:r>
            <a:endParaRPr lang="en-US" sz="900" dirty="0"/>
          </a:p>
        </p:txBody>
      </p:sp>
      <p:sp>
        <p:nvSpPr>
          <p:cNvPr id="48" name="Shape 41"/>
          <p:cNvSpPr/>
          <p:nvPr/>
        </p:nvSpPr>
        <p:spPr>
          <a:xfrm>
            <a:off x="4069080" y="2011680"/>
            <a:ext cx="4480560" cy="338328"/>
          </a:xfrm>
          <a:prstGeom prst="roundRect">
            <a:avLst>
              <a:gd name="adj" fmla="val 13514"/>
            </a:avLst>
          </a:prstGeom>
          <a:solidFill>
            <a:srgbClr val="FFFFFF"/>
          </a:solidFill>
          <a:ln w="6350">
            <a:solidFill>
              <a:srgbClr val="D5DED9"/>
            </a:solidFill>
            <a:prstDash val="solid"/>
          </a:ln>
        </p:spPr>
      </p:sp>
      <p:sp>
        <p:nvSpPr>
          <p:cNvPr id="49" name="Text 42"/>
          <p:cNvSpPr txBox="1"/>
          <p:nvPr/>
        </p:nvSpPr>
        <p:spPr>
          <a:xfrm>
            <a:off x="4160520" y="2011680"/>
            <a:ext cx="1325880" cy="33832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Data</a:t>
            </a:r>
            <a:endParaRPr lang="en-US" sz="950" dirty="0"/>
          </a:p>
        </p:txBody>
      </p:sp>
      <p:sp>
        <p:nvSpPr>
          <p:cNvPr id="50" name="Text 43"/>
          <p:cNvSpPr txBox="1"/>
          <p:nvPr/>
        </p:nvSpPr>
        <p:spPr>
          <a:xfrm>
            <a:off x="5486400" y="2011680"/>
            <a:ext cx="3017520" cy="33832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Product, collection version, period, cadence</a:t>
            </a:r>
            <a:endParaRPr lang="en-US" sz="950" dirty="0"/>
          </a:p>
        </p:txBody>
      </p:sp>
      <p:sp>
        <p:nvSpPr>
          <p:cNvPr id="51" name="Shape 44"/>
          <p:cNvSpPr/>
          <p:nvPr/>
        </p:nvSpPr>
        <p:spPr>
          <a:xfrm>
            <a:off x="4069080" y="2414016"/>
            <a:ext cx="4480560" cy="338328"/>
          </a:xfrm>
          <a:prstGeom prst="roundRect">
            <a:avLst>
              <a:gd name="adj" fmla="val 13514"/>
            </a:avLst>
          </a:prstGeom>
          <a:solidFill>
            <a:srgbClr val="FFFFFF"/>
          </a:solidFill>
          <a:ln w="6350">
            <a:solidFill>
              <a:srgbClr val="D5DED9"/>
            </a:solidFill>
            <a:prstDash val="solid"/>
          </a:ln>
        </p:spPr>
      </p:sp>
      <p:sp>
        <p:nvSpPr>
          <p:cNvPr id="52" name="Text 45"/>
          <p:cNvSpPr txBox="1"/>
          <p:nvPr/>
        </p:nvSpPr>
        <p:spPr>
          <a:xfrm>
            <a:off x="4160520" y="2414016"/>
            <a:ext cx="1325880" cy="33832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Choices</a:t>
            </a:r>
            <a:endParaRPr lang="en-US" sz="950" dirty="0"/>
          </a:p>
        </p:txBody>
      </p:sp>
      <p:sp>
        <p:nvSpPr>
          <p:cNvPr id="53" name="Text 46"/>
          <p:cNvSpPr txBox="1"/>
          <p:nvPr/>
        </p:nvSpPr>
        <p:spPr>
          <a:xfrm>
            <a:off x="5486400" y="2414016"/>
            <a:ext cx="3017520" cy="33832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Boundaries, radiance threshold, masks applied</a:t>
            </a:r>
            <a:endParaRPr lang="en-US" sz="950" dirty="0"/>
          </a:p>
        </p:txBody>
      </p:sp>
      <p:sp>
        <p:nvSpPr>
          <p:cNvPr id="54" name="Shape 47"/>
          <p:cNvSpPr/>
          <p:nvPr/>
        </p:nvSpPr>
        <p:spPr>
          <a:xfrm>
            <a:off x="4069080" y="2816352"/>
            <a:ext cx="4480560" cy="338328"/>
          </a:xfrm>
          <a:prstGeom prst="roundRect">
            <a:avLst>
              <a:gd name="adj" fmla="val 13514"/>
            </a:avLst>
          </a:prstGeom>
          <a:solidFill>
            <a:srgbClr val="FFFFFF"/>
          </a:solidFill>
          <a:ln w="6350">
            <a:solidFill>
              <a:srgbClr val="D5DED9"/>
            </a:solidFill>
            <a:prstDash val="solid"/>
          </a:ln>
        </p:spPr>
      </p:sp>
      <p:sp>
        <p:nvSpPr>
          <p:cNvPr id="55" name="Text 48"/>
          <p:cNvSpPr txBox="1"/>
          <p:nvPr/>
        </p:nvSpPr>
        <p:spPr>
          <a:xfrm>
            <a:off x="4160520" y="2816352"/>
            <a:ext cx="1325880" cy="33832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Artefacts</a:t>
            </a:r>
            <a:endParaRPr lang="en-US" sz="950" dirty="0"/>
          </a:p>
        </p:txBody>
      </p:sp>
      <p:sp>
        <p:nvSpPr>
          <p:cNvPr id="56" name="Text 49"/>
          <p:cNvSpPr txBox="1"/>
          <p:nvPr/>
        </p:nvSpPr>
        <p:spPr>
          <a:xfrm>
            <a:off x="5486400" y="2816352"/>
            <a:ext cx="3017520" cy="33832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Which of the six were found, where, and how treated</a:t>
            </a:r>
            <a:endParaRPr lang="en-US" sz="950" dirty="0"/>
          </a:p>
        </p:txBody>
      </p:sp>
      <p:sp>
        <p:nvSpPr>
          <p:cNvPr id="57" name="Shape 50"/>
          <p:cNvSpPr/>
          <p:nvPr/>
        </p:nvSpPr>
        <p:spPr>
          <a:xfrm>
            <a:off x="4069080" y="3218688"/>
            <a:ext cx="4480560" cy="338328"/>
          </a:xfrm>
          <a:prstGeom prst="roundRect">
            <a:avLst>
              <a:gd name="adj" fmla="val 13514"/>
            </a:avLst>
          </a:prstGeom>
          <a:solidFill>
            <a:srgbClr val="FFFFFF"/>
          </a:solidFill>
          <a:ln w="6350">
            <a:solidFill>
              <a:srgbClr val="D5DED9"/>
            </a:solidFill>
            <a:prstDash val="solid"/>
          </a:ln>
        </p:spPr>
      </p:sp>
      <p:sp>
        <p:nvSpPr>
          <p:cNvPr id="58" name="Text 51"/>
          <p:cNvSpPr txBox="1"/>
          <p:nvPr/>
        </p:nvSpPr>
        <p:spPr>
          <a:xfrm>
            <a:off x="4160520" y="3218688"/>
            <a:ext cx="1325880" cy="33832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Validation</a:t>
            </a:r>
            <a:endParaRPr lang="en-US" sz="950" dirty="0"/>
          </a:p>
        </p:txBody>
      </p:sp>
      <p:sp>
        <p:nvSpPr>
          <p:cNvPr id="59" name="Text 52"/>
          <p:cNvSpPr txBox="1"/>
          <p:nvPr/>
        </p:nvSpPr>
        <p:spPr>
          <a:xfrm>
            <a:off x="5486400" y="3218688"/>
            <a:ext cx="3017520" cy="33832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Benchmark, year, number of units, strength of relationship</a:t>
            </a:r>
            <a:endParaRPr lang="en-US" sz="950" dirty="0"/>
          </a:p>
        </p:txBody>
      </p:sp>
      <p:sp>
        <p:nvSpPr>
          <p:cNvPr id="60" name="Shape 53"/>
          <p:cNvSpPr/>
          <p:nvPr/>
        </p:nvSpPr>
        <p:spPr>
          <a:xfrm>
            <a:off x="4069080" y="3621024"/>
            <a:ext cx="4480560" cy="338328"/>
          </a:xfrm>
          <a:prstGeom prst="roundRect">
            <a:avLst>
              <a:gd name="adj" fmla="val 13514"/>
            </a:avLst>
          </a:prstGeom>
          <a:solidFill>
            <a:srgbClr val="FFFFFF"/>
          </a:solidFill>
          <a:ln w="6350">
            <a:solidFill>
              <a:srgbClr val="D5DED9"/>
            </a:solidFill>
            <a:prstDash val="solid"/>
          </a:ln>
        </p:spPr>
      </p:sp>
      <p:sp>
        <p:nvSpPr>
          <p:cNvPr id="61" name="Text 54"/>
          <p:cNvSpPr txBox="1"/>
          <p:nvPr/>
        </p:nvSpPr>
        <p:spPr>
          <a:xfrm>
            <a:off x="4160520" y="3621024"/>
            <a:ext cx="1325880" cy="33832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Decision</a:t>
            </a:r>
            <a:endParaRPr lang="en-US" sz="950" dirty="0"/>
          </a:p>
        </p:txBody>
      </p:sp>
      <p:sp>
        <p:nvSpPr>
          <p:cNvPr id="62" name="Text 55"/>
          <p:cNvSpPr txBox="1"/>
          <p:nvPr/>
        </p:nvSpPr>
        <p:spPr>
          <a:xfrm>
            <a:off x="5486400" y="3621024"/>
            <a:ext cx="3017520" cy="33832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Experimental, diagnostic or not fit — and why</a:t>
            </a:r>
            <a:endParaRPr lang="en-US" sz="950" dirty="0"/>
          </a:p>
        </p:txBody>
      </p:sp>
      <p:sp>
        <p:nvSpPr>
          <p:cNvPr id="63" name="Shape 56"/>
          <p:cNvSpPr/>
          <p:nvPr/>
        </p:nvSpPr>
        <p:spPr>
          <a:xfrm>
            <a:off x="4069080" y="4023360"/>
            <a:ext cx="4480560" cy="338328"/>
          </a:xfrm>
          <a:prstGeom prst="roundRect">
            <a:avLst>
              <a:gd name="adj" fmla="val 13514"/>
            </a:avLst>
          </a:prstGeom>
          <a:solidFill>
            <a:srgbClr val="FFFFFF"/>
          </a:solidFill>
          <a:ln w="6350">
            <a:solidFill>
              <a:srgbClr val="D5DED9"/>
            </a:solidFill>
            <a:prstDash val="solid"/>
          </a:ln>
        </p:spPr>
      </p:sp>
      <p:sp>
        <p:nvSpPr>
          <p:cNvPr id="64" name="Text 57"/>
          <p:cNvSpPr txBox="1"/>
          <p:nvPr/>
        </p:nvSpPr>
        <p:spPr>
          <a:xfrm>
            <a:off x="4160520" y="4023360"/>
            <a:ext cx="1325880" cy="338328"/>
          </a:xfrm>
          <a:prstGeom prst="rect">
            <a:avLst/>
          </a:prstGeom>
          <a:noFill/>
          <a:ln/>
        </p:spPr>
        <p:txBody>
          <a:bodyPr wrap="square" lIns="0" tIns="0" rIns="0" bIns="0" rtlCol="0" anchor="ctr"/>
          <a:lstStyle/>
          <a:p>
            <a:pPr marL="0" indent="0">
              <a:buNone/>
            </a:pPr>
            <a:r>
              <a:rPr lang="en-US" sz="950" b="1" dirty="0">
                <a:solidFill>
                  <a:srgbClr val="B83B2E"/>
                </a:solidFill>
                <a:latin typeface="Calibri" pitchFamily="34" charset="0"/>
                <a:ea typeface="Calibri" pitchFamily="34" charset="-122"/>
                <a:cs typeface="Calibri" pitchFamily="34" charset="-120"/>
              </a:rPr>
              <a:t>Must not be used for</a:t>
            </a:r>
            <a:endParaRPr lang="en-US" sz="950" dirty="0"/>
          </a:p>
        </p:txBody>
      </p:sp>
      <p:sp>
        <p:nvSpPr>
          <p:cNvPr id="65" name="Text 58"/>
          <p:cNvSpPr txBox="1"/>
          <p:nvPr/>
        </p:nvSpPr>
        <p:spPr>
          <a:xfrm>
            <a:off x="5486400" y="4023360"/>
            <a:ext cx="3017520" cy="33832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e.g. household income, small-settlement counts</a:t>
            </a:r>
            <a:endParaRPr lang="en-US" sz="950" dirty="0"/>
          </a:p>
        </p:txBody>
      </p:sp>
      <p:sp>
        <p:nvSpPr>
          <p:cNvPr id="66" name="Text 59"/>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Suggested guide — adapt to your national quality assurance framework. Circularity: see Falchetta et al. (2019), Scientific Data.</a:t>
            </a:r>
            <a:endParaRPr lang="en-US" sz="9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FROM TALK TO LAB · GOOD PRACTICE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 checklist for defensible analysis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Shape 14"/>
          <p:cNvSpPr/>
          <p:nvPr/>
        </p:nvSpPr>
        <p:spPr>
          <a:xfrm>
            <a:off x="457200" y="1325880"/>
            <a:ext cx="2606040" cy="566928"/>
          </a:xfrm>
          <a:prstGeom prst="roundRect">
            <a:avLst>
              <a:gd name="adj" fmla="val 12903"/>
            </a:avLst>
          </a:prstGeom>
          <a:solidFill>
            <a:srgbClr val="F4F7F5"/>
          </a:solidFill>
          <a:ln w="9525">
            <a:solidFill>
              <a:srgbClr val="D5DED9"/>
            </a:solidFill>
            <a:prstDash val="solid"/>
          </a:ln>
        </p:spPr>
      </p:sp>
      <p:sp>
        <p:nvSpPr>
          <p:cNvPr id="18" name="Shape 15"/>
          <p:cNvSpPr/>
          <p:nvPr/>
        </p:nvSpPr>
        <p:spPr>
          <a:xfrm>
            <a:off x="548640" y="1463040"/>
            <a:ext cx="292608" cy="292608"/>
          </a:xfrm>
          <a:prstGeom prst="ellipse">
            <a:avLst/>
          </a:prstGeom>
          <a:solidFill>
            <a:srgbClr val="B83B2E"/>
          </a:solidFill>
          <a:ln w="12700">
            <a:solidFill>
              <a:srgbClr val="B83B2E"/>
            </a:solidFill>
            <a:prstDash val="solid"/>
          </a:ln>
        </p:spPr>
      </p:sp>
      <p:sp>
        <p:nvSpPr>
          <p:cNvPr id="19" name="Text 16"/>
          <p:cNvSpPr txBox="1"/>
          <p:nvPr/>
        </p:nvSpPr>
        <p:spPr>
          <a:xfrm>
            <a:off x="548640" y="14630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32688" y="1371600"/>
            <a:ext cx="205740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Name product and version</a:t>
            </a:r>
            <a:endParaRPr lang="en-US" sz="1100" dirty="0"/>
          </a:p>
        </p:txBody>
      </p:sp>
      <p:sp>
        <p:nvSpPr>
          <p:cNvPr id="21" name="Text 18"/>
          <p:cNvSpPr txBox="1"/>
          <p:nvPr/>
        </p:nvSpPr>
        <p:spPr>
          <a:xfrm>
            <a:off x="932688" y="1591056"/>
            <a:ext cx="2057400" cy="27432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VNP46A4 v2, VNL V2.x — they are not interchangeable.</a:t>
            </a:r>
            <a:endParaRPr lang="en-US" sz="900" dirty="0"/>
          </a:p>
        </p:txBody>
      </p:sp>
      <p:sp>
        <p:nvSpPr>
          <p:cNvPr id="22" name="Shape 19"/>
          <p:cNvSpPr/>
          <p:nvPr/>
        </p:nvSpPr>
        <p:spPr>
          <a:xfrm>
            <a:off x="3200400" y="1325880"/>
            <a:ext cx="2606040" cy="566928"/>
          </a:xfrm>
          <a:prstGeom prst="roundRect">
            <a:avLst>
              <a:gd name="adj" fmla="val 12903"/>
            </a:avLst>
          </a:prstGeom>
          <a:solidFill>
            <a:srgbClr val="F4F7F5"/>
          </a:solidFill>
          <a:ln w="9525">
            <a:solidFill>
              <a:srgbClr val="D5DED9"/>
            </a:solidFill>
            <a:prstDash val="solid"/>
          </a:ln>
        </p:spPr>
      </p:sp>
      <p:sp>
        <p:nvSpPr>
          <p:cNvPr id="23" name="Shape 20"/>
          <p:cNvSpPr/>
          <p:nvPr/>
        </p:nvSpPr>
        <p:spPr>
          <a:xfrm>
            <a:off x="3291840" y="1463040"/>
            <a:ext cx="292608" cy="292608"/>
          </a:xfrm>
          <a:prstGeom prst="ellipse">
            <a:avLst/>
          </a:prstGeom>
          <a:solidFill>
            <a:srgbClr val="C4621D"/>
          </a:solidFill>
          <a:ln w="12700">
            <a:solidFill>
              <a:srgbClr val="C4621D"/>
            </a:solidFill>
            <a:prstDash val="solid"/>
          </a:ln>
        </p:spPr>
      </p:sp>
      <p:sp>
        <p:nvSpPr>
          <p:cNvPr id="24" name="Text 21"/>
          <p:cNvSpPr txBox="1"/>
          <p:nvPr/>
        </p:nvSpPr>
        <p:spPr>
          <a:xfrm>
            <a:off x="3291840" y="14630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2"/>
          <p:cNvSpPr txBox="1"/>
          <p:nvPr/>
        </p:nvSpPr>
        <p:spPr>
          <a:xfrm>
            <a:off x="3675888" y="1371600"/>
            <a:ext cx="205740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Never splice sensors naively</a:t>
            </a:r>
            <a:endParaRPr lang="en-US" sz="1100" dirty="0"/>
          </a:p>
        </p:txBody>
      </p:sp>
      <p:sp>
        <p:nvSpPr>
          <p:cNvPr id="26" name="Text 23"/>
          <p:cNvSpPr txBox="1"/>
          <p:nvPr/>
        </p:nvSpPr>
        <p:spPr>
          <a:xfrm>
            <a:off x="3675888" y="1591056"/>
            <a:ext cx="2057400" cy="27432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Any DMSP–VIIRS series needs documented harmonisation.</a:t>
            </a:r>
            <a:endParaRPr lang="en-US" sz="900" dirty="0"/>
          </a:p>
        </p:txBody>
      </p:sp>
      <p:sp>
        <p:nvSpPr>
          <p:cNvPr id="27" name="Shape 24"/>
          <p:cNvSpPr/>
          <p:nvPr/>
        </p:nvSpPr>
        <p:spPr>
          <a:xfrm>
            <a:off x="457200" y="1984248"/>
            <a:ext cx="2606040" cy="566928"/>
          </a:xfrm>
          <a:prstGeom prst="roundRect">
            <a:avLst>
              <a:gd name="adj" fmla="val 12903"/>
            </a:avLst>
          </a:prstGeom>
          <a:solidFill>
            <a:srgbClr val="F4F7F5"/>
          </a:solidFill>
          <a:ln w="9525">
            <a:solidFill>
              <a:srgbClr val="D5DED9"/>
            </a:solidFill>
            <a:prstDash val="solid"/>
          </a:ln>
        </p:spPr>
      </p:sp>
      <p:sp>
        <p:nvSpPr>
          <p:cNvPr id="28" name="Shape 25"/>
          <p:cNvSpPr/>
          <p:nvPr/>
        </p:nvSpPr>
        <p:spPr>
          <a:xfrm>
            <a:off x="548640" y="2121408"/>
            <a:ext cx="292608" cy="292608"/>
          </a:xfrm>
          <a:prstGeom prst="ellipse">
            <a:avLst/>
          </a:prstGeom>
          <a:solidFill>
            <a:srgbClr val="B83B2E"/>
          </a:solidFill>
          <a:ln w="12700">
            <a:solidFill>
              <a:srgbClr val="B83B2E"/>
            </a:solidFill>
            <a:prstDash val="solid"/>
          </a:ln>
        </p:spPr>
      </p:sp>
      <p:sp>
        <p:nvSpPr>
          <p:cNvPr id="29" name="Text 26"/>
          <p:cNvSpPr txBox="1"/>
          <p:nvPr/>
        </p:nvSpPr>
        <p:spPr>
          <a:xfrm>
            <a:off x="548640" y="21214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27"/>
          <p:cNvSpPr txBox="1"/>
          <p:nvPr/>
        </p:nvSpPr>
        <p:spPr>
          <a:xfrm>
            <a:off x="932688" y="2029968"/>
            <a:ext cx="205740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Report and test the threshold</a:t>
            </a:r>
            <a:endParaRPr lang="en-US" sz="1100" dirty="0"/>
          </a:p>
        </p:txBody>
      </p:sp>
      <p:sp>
        <p:nvSpPr>
          <p:cNvPr id="31" name="Text 28"/>
          <p:cNvSpPr txBox="1"/>
          <p:nvPr/>
        </p:nvSpPr>
        <p:spPr>
          <a:xfrm>
            <a:off x="932688" y="2249424"/>
            <a:ext cx="2057400" cy="27432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Show the finding survives a reasonable range.</a:t>
            </a:r>
            <a:endParaRPr lang="en-US" sz="900" dirty="0"/>
          </a:p>
        </p:txBody>
      </p:sp>
      <p:sp>
        <p:nvSpPr>
          <p:cNvPr id="32" name="Shape 29"/>
          <p:cNvSpPr/>
          <p:nvPr/>
        </p:nvSpPr>
        <p:spPr>
          <a:xfrm>
            <a:off x="3200400" y="1984248"/>
            <a:ext cx="2606040" cy="566928"/>
          </a:xfrm>
          <a:prstGeom prst="roundRect">
            <a:avLst>
              <a:gd name="adj" fmla="val 12903"/>
            </a:avLst>
          </a:prstGeom>
          <a:solidFill>
            <a:srgbClr val="F4F7F5"/>
          </a:solidFill>
          <a:ln w="9525">
            <a:solidFill>
              <a:srgbClr val="D5DED9"/>
            </a:solidFill>
            <a:prstDash val="solid"/>
          </a:ln>
        </p:spPr>
      </p:sp>
      <p:sp>
        <p:nvSpPr>
          <p:cNvPr id="33" name="Shape 30"/>
          <p:cNvSpPr/>
          <p:nvPr/>
        </p:nvSpPr>
        <p:spPr>
          <a:xfrm>
            <a:off x="3291840" y="2121408"/>
            <a:ext cx="292608" cy="292608"/>
          </a:xfrm>
          <a:prstGeom prst="ellipse">
            <a:avLst/>
          </a:prstGeom>
          <a:solidFill>
            <a:srgbClr val="C4621D"/>
          </a:solidFill>
          <a:ln w="12700">
            <a:solidFill>
              <a:srgbClr val="C4621D"/>
            </a:solidFill>
            <a:prstDash val="solid"/>
          </a:ln>
        </p:spPr>
      </p:sp>
      <p:sp>
        <p:nvSpPr>
          <p:cNvPr id="34" name="Text 31"/>
          <p:cNvSpPr txBox="1"/>
          <p:nvPr/>
        </p:nvSpPr>
        <p:spPr>
          <a:xfrm>
            <a:off x="3291840" y="21214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Text 32"/>
          <p:cNvSpPr txBox="1"/>
          <p:nvPr/>
        </p:nvSpPr>
        <p:spPr>
          <a:xfrm>
            <a:off x="3675888" y="2029968"/>
            <a:ext cx="205740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Mask what you are not studying</a:t>
            </a:r>
            <a:endParaRPr lang="en-US" sz="1100" dirty="0"/>
          </a:p>
        </p:txBody>
      </p:sp>
      <p:sp>
        <p:nvSpPr>
          <p:cNvPr id="36" name="Text 33"/>
          <p:cNvSpPr txBox="1"/>
          <p:nvPr/>
        </p:nvSpPr>
        <p:spPr>
          <a:xfrm>
            <a:off x="3675888" y="2249424"/>
            <a:ext cx="2057400" cy="27432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Background noise, gas flares, fishing lights, fires.</a:t>
            </a:r>
            <a:endParaRPr lang="en-US" sz="900" dirty="0"/>
          </a:p>
        </p:txBody>
      </p:sp>
      <p:sp>
        <p:nvSpPr>
          <p:cNvPr id="37" name="Shape 34"/>
          <p:cNvSpPr/>
          <p:nvPr/>
        </p:nvSpPr>
        <p:spPr>
          <a:xfrm>
            <a:off x="457200" y="2642616"/>
            <a:ext cx="2606040" cy="566928"/>
          </a:xfrm>
          <a:prstGeom prst="roundRect">
            <a:avLst>
              <a:gd name="adj" fmla="val 12903"/>
            </a:avLst>
          </a:prstGeom>
          <a:solidFill>
            <a:srgbClr val="F4F7F5"/>
          </a:solidFill>
          <a:ln w="9525">
            <a:solidFill>
              <a:srgbClr val="D5DED9"/>
            </a:solidFill>
            <a:prstDash val="solid"/>
          </a:ln>
        </p:spPr>
      </p:sp>
      <p:sp>
        <p:nvSpPr>
          <p:cNvPr id="38" name="Shape 35"/>
          <p:cNvSpPr/>
          <p:nvPr/>
        </p:nvSpPr>
        <p:spPr>
          <a:xfrm>
            <a:off x="548640" y="2779776"/>
            <a:ext cx="292608" cy="292608"/>
          </a:xfrm>
          <a:prstGeom prst="ellipse">
            <a:avLst/>
          </a:prstGeom>
          <a:solidFill>
            <a:srgbClr val="B83B2E"/>
          </a:solidFill>
          <a:ln w="12700">
            <a:solidFill>
              <a:srgbClr val="B83B2E"/>
            </a:solidFill>
            <a:prstDash val="solid"/>
          </a:ln>
        </p:spPr>
      </p:sp>
      <p:sp>
        <p:nvSpPr>
          <p:cNvPr id="39" name="Text 36"/>
          <p:cNvSpPr txBox="1"/>
          <p:nvPr/>
        </p:nvSpPr>
        <p:spPr>
          <a:xfrm>
            <a:off x="548640" y="277977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0" name="Text 37"/>
          <p:cNvSpPr txBox="1"/>
          <p:nvPr/>
        </p:nvSpPr>
        <p:spPr>
          <a:xfrm>
            <a:off x="932688" y="2688336"/>
            <a:ext cx="205740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Normalise deliberately</a:t>
            </a:r>
            <a:endParaRPr lang="en-US" sz="1100" dirty="0"/>
          </a:p>
        </p:txBody>
      </p:sp>
      <p:sp>
        <p:nvSpPr>
          <p:cNvPr id="41" name="Text 38"/>
          <p:cNvSpPr txBox="1"/>
          <p:nvPr/>
        </p:nvSpPr>
        <p:spPr>
          <a:xfrm>
            <a:off x="932688" y="2907792"/>
            <a:ext cx="2057400" cy="27432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Per capita, per km², or neither — state and defend it.</a:t>
            </a:r>
            <a:endParaRPr lang="en-US" sz="900" dirty="0"/>
          </a:p>
        </p:txBody>
      </p:sp>
      <p:sp>
        <p:nvSpPr>
          <p:cNvPr id="42" name="Shape 39"/>
          <p:cNvSpPr/>
          <p:nvPr/>
        </p:nvSpPr>
        <p:spPr>
          <a:xfrm>
            <a:off x="3200400" y="2642616"/>
            <a:ext cx="2606040" cy="566928"/>
          </a:xfrm>
          <a:prstGeom prst="roundRect">
            <a:avLst>
              <a:gd name="adj" fmla="val 12903"/>
            </a:avLst>
          </a:prstGeom>
          <a:solidFill>
            <a:srgbClr val="F4F7F5"/>
          </a:solidFill>
          <a:ln w="9525">
            <a:solidFill>
              <a:srgbClr val="D5DED9"/>
            </a:solidFill>
            <a:prstDash val="solid"/>
          </a:ln>
        </p:spPr>
      </p:sp>
      <p:sp>
        <p:nvSpPr>
          <p:cNvPr id="43" name="Shape 40"/>
          <p:cNvSpPr/>
          <p:nvPr/>
        </p:nvSpPr>
        <p:spPr>
          <a:xfrm>
            <a:off x="3291840" y="2779776"/>
            <a:ext cx="292608" cy="292608"/>
          </a:xfrm>
          <a:prstGeom prst="ellipse">
            <a:avLst/>
          </a:prstGeom>
          <a:solidFill>
            <a:srgbClr val="C4621D"/>
          </a:solidFill>
          <a:ln w="12700">
            <a:solidFill>
              <a:srgbClr val="C4621D"/>
            </a:solidFill>
            <a:prstDash val="solid"/>
          </a:ln>
        </p:spPr>
      </p:sp>
      <p:sp>
        <p:nvSpPr>
          <p:cNvPr id="44" name="Text 41"/>
          <p:cNvSpPr txBox="1"/>
          <p:nvPr/>
        </p:nvSpPr>
        <p:spPr>
          <a:xfrm>
            <a:off x="3291840" y="277977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5" name="Text 42"/>
          <p:cNvSpPr txBox="1"/>
          <p:nvPr/>
        </p:nvSpPr>
        <p:spPr>
          <a:xfrm>
            <a:off x="3675888" y="2688336"/>
            <a:ext cx="205740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Validate against the ground</a:t>
            </a:r>
            <a:endParaRPr lang="en-US" sz="1100" dirty="0"/>
          </a:p>
        </p:txBody>
      </p:sp>
      <p:sp>
        <p:nvSpPr>
          <p:cNvPr id="46" name="Text 43"/>
          <p:cNvSpPr txBox="1"/>
          <p:nvPr/>
        </p:nvSpPr>
        <p:spPr>
          <a:xfrm>
            <a:off x="3675888" y="2907792"/>
            <a:ext cx="2057400" cy="27432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Census, surveys, utility records — independent sources.</a:t>
            </a:r>
            <a:endParaRPr lang="en-US" sz="900" dirty="0"/>
          </a:p>
        </p:txBody>
      </p:sp>
      <p:sp>
        <p:nvSpPr>
          <p:cNvPr id="47" name="Shape 44"/>
          <p:cNvSpPr/>
          <p:nvPr/>
        </p:nvSpPr>
        <p:spPr>
          <a:xfrm>
            <a:off x="457200" y="3300984"/>
            <a:ext cx="2606040" cy="566928"/>
          </a:xfrm>
          <a:prstGeom prst="roundRect">
            <a:avLst>
              <a:gd name="adj" fmla="val 12903"/>
            </a:avLst>
          </a:prstGeom>
          <a:solidFill>
            <a:srgbClr val="F4F7F5"/>
          </a:solidFill>
          <a:ln w="9525">
            <a:solidFill>
              <a:srgbClr val="D5DED9"/>
            </a:solidFill>
            <a:prstDash val="solid"/>
          </a:ln>
        </p:spPr>
      </p:sp>
      <p:sp>
        <p:nvSpPr>
          <p:cNvPr id="48" name="Shape 45"/>
          <p:cNvSpPr/>
          <p:nvPr/>
        </p:nvSpPr>
        <p:spPr>
          <a:xfrm>
            <a:off x="548640" y="3438144"/>
            <a:ext cx="292608" cy="292608"/>
          </a:xfrm>
          <a:prstGeom prst="ellipse">
            <a:avLst/>
          </a:prstGeom>
          <a:solidFill>
            <a:srgbClr val="B83B2E"/>
          </a:solidFill>
          <a:ln w="12700">
            <a:solidFill>
              <a:srgbClr val="B83B2E"/>
            </a:solidFill>
            <a:prstDash val="solid"/>
          </a:ln>
        </p:spPr>
      </p:sp>
      <p:sp>
        <p:nvSpPr>
          <p:cNvPr id="49" name="Text 46"/>
          <p:cNvSpPr txBox="1"/>
          <p:nvPr/>
        </p:nvSpPr>
        <p:spPr>
          <a:xfrm>
            <a:off x="548640" y="343814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32688" y="3346704"/>
            <a:ext cx="205740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Prefer changes to levels</a:t>
            </a:r>
            <a:endParaRPr lang="en-US" sz="1100" dirty="0"/>
          </a:p>
        </p:txBody>
      </p:sp>
      <p:sp>
        <p:nvSpPr>
          <p:cNvPr id="51" name="Text 48"/>
          <p:cNvSpPr txBox="1"/>
          <p:nvPr/>
        </p:nvSpPr>
        <p:spPr>
          <a:xfrm>
            <a:off x="932688" y="3566160"/>
            <a:ext cx="2057400" cy="27432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Differences cancel much of the calibration error.</a:t>
            </a:r>
            <a:endParaRPr lang="en-US" sz="900" dirty="0"/>
          </a:p>
        </p:txBody>
      </p:sp>
      <p:sp>
        <p:nvSpPr>
          <p:cNvPr id="52" name="Shape 49"/>
          <p:cNvSpPr/>
          <p:nvPr/>
        </p:nvSpPr>
        <p:spPr>
          <a:xfrm>
            <a:off x="3200400" y="3300984"/>
            <a:ext cx="2606040" cy="566928"/>
          </a:xfrm>
          <a:prstGeom prst="roundRect">
            <a:avLst>
              <a:gd name="adj" fmla="val 12903"/>
            </a:avLst>
          </a:prstGeom>
          <a:solidFill>
            <a:srgbClr val="F4F7F5"/>
          </a:solidFill>
          <a:ln w="9525">
            <a:solidFill>
              <a:srgbClr val="D5DED9"/>
            </a:solidFill>
            <a:prstDash val="solid"/>
          </a:ln>
        </p:spPr>
      </p:sp>
      <p:sp>
        <p:nvSpPr>
          <p:cNvPr id="53" name="Shape 50"/>
          <p:cNvSpPr/>
          <p:nvPr/>
        </p:nvSpPr>
        <p:spPr>
          <a:xfrm>
            <a:off x="3291840" y="3438144"/>
            <a:ext cx="292608" cy="292608"/>
          </a:xfrm>
          <a:prstGeom prst="ellipse">
            <a:avLst/>
          </a:prstGeom>
          <a:solidFill>
            <a:srgbClr val="C4621D"/>
          </a:solidFill>
          <a:ln w="12700">
            <a:solidFill>
              <a:srgbClr val="C4621D"/>
            </a:solidFill>
            <a:prstDash val="solid"/>
          </a:ln>
        </p:spPr>
      </p:sp>
      <p:sp>
        <p:nvSpPr>
          <p:cNvPr id="54" name="Text 51"/>
          <p:cNvSpPr txBox="1"/>
          <p:nvPr/>
        </p:nvSpPr>
        <p:spPr>
          <a:xfrm>
            <a:off x="3291840" y="343814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5" name="Text 52"/>
          <p:cNvSpPr txBox="1"/>
          <p:nvPr/>
        </p:nvSpPr>
        <p:spPr>
          <a:xfrm>
            <a:off x="3675888" y="3346704"/>
            <a:ext cx="205740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Publish code and limitations</a:t>
            </a:r>
            <a:endParaRPr lang="en-US" sz="1100" dirty="0"/>
          </a:p>
        </p:txBody>
      </p:sp>
      <p:sp>
        <p:nvSpPr>
          <p:cNvPr id="56" name="Text 53"/>
          <p:cNvSpPr txBox="1"/>
          <p:nvPr/>
        </p:nvSpPr>
        <p:spPr>
          <a:xfrm>
            <a:off x="3675888" y="3566160"/>
            <a:ext cx="2057400" cy="27432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README with method, sources, licence and caveats.</a:t>
            </a:r>
            <a:endParaRPr lang="en-US" sz="900" dirty="0"/>
          </a:p>
        </p:txBody>
      </p:sp>
      <p:sp>
        <p:nvSpPr>
          <p:cNvPr id="57" name="Shape 54"/>
          <p:cNvSpPr/>
          <p:nvPr/>
        </p:nvSpPr>
        <p:spPr>
          <a:xfrm>
            <a:off x="5943600" y="1325880"/>
            <a:ext cx="2743200" cy="2542032"/>
          </a:xfrm>
          <a:prstGeom prst="roundRect">
            <a:avLst>
              <a:gd name="adj" fmla="val 2878"/>
            </a:avLst>
          </a:prstGeom>
          <a:solidFill>
            <a:srgbClr val="00553A"/>
          </a:solidFill>
          <a:ln w="12700">
            <a:solidFill>
              <a:srgbClr val="00553A"/>
            </a:solidFill>
            <a:prstDash val="solid"/>
          </a:ln>
        </p:spPr>
      </p:sp>
      <p:pic>
        <p:nvPicPr>
          <p:cNvPr id="58" name="Image 0" descr="preencoded.png"/>
          <p:cNvPicPr>
            <a:picLocks noChangeAspect="1"/>
          </p:cNvPicPr>
          <p:nvPr/>
        </p:nvPicPr>
        <p:blipFill>
          <a:blip r:embed="rId3"/>
          <a:stretch>
            <a:fillRect/>
          </a:stretch>
        </p:blipFill>
        <p:spPr>
          <a:xfrm>
            <a:off x="6080760" y="1463040"/>
            <a:ext cx="365760" cy="365760"/>
          </a:xfrm>
          <a:prstGeom prst="rect">
            <a:avLst/>
          </a:prstGeom>
        </p:spPr>
      </p:pic>
      <p:sp>
        <p:nvSpPr>
          <p:cNvPr id="59" name="Text 55"/>
          <p:cNvSpPr txBox="1"/>
          <p:nvPr/>
        </p:nvSpPr>
        <p:spPr>
          <a:xfrm>
            <a:off x="6537960" y="1536192"/>
            <a:ext cx="2011680" cy="228600"/>
          </a:xfrm>
          <a:prstGeom prst="rect">
            <a:avLst/>
          </a:prstGeom>
          <a:noFill/>
          <a:ln/>
        </p:spPr>
        <p:txBody>
          <a:bodyPr wrap="square" lIns="0" tIns="0" rIns="0" bIns="0" rtlCol="0" anchor="t"/>
          <a:lstStyle/>
          <a:p>
            <a:pPr marL="0" indent="0">
              <a:buNone/>
            </a:pPr>
            <a:r>
              <a:rPr lang="en-US" sz="1000" b="1" kern="0" spc="200" dirty="0">
                <a:solidFill>
                  <a:srgbClr val="F5C242"/>
                </a:solidFill>
                <a:latin typeface="Calibri" pitchFamily="34" charset="0"/>
                <a:ea typeface="Calibri" pitchFamily="34" charset="-122"/>
                <a:cs typeface="Calibri" pitchFamily="34" charset="-120"/>
              </a:rPr>
              <a:t>THE GOLDEN RULE</a:t>
            </a:r>
            <a:endParaRPr lang="en-US" sz="1000" dirty="0"/>
          </a:p>
        </p:txBody>
      </p:sp>
      <p:sp>
        <p:nvSpPr>
          <p:cNvPr id="60" name="Text 56"/>
          <p:cNvSpPr txBox="1"/>
          <p:nvPr/>
        </p:nvSpPr>
        <p:spPr>
          <a:xfrm>
            <a:off x="6080760" y="1965960"/>
            <a:ext cx="2468880" cy="10058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State, in one sentence, what would have to be true about lighting behaviour for your conclusion to hold.</a:t>
            </a:r>
            <a:endParaRPr lang="en-US" sz="1300" dirty="0"/>
          </a:p>
        </p:txBody>
      </p:sp>
      <p:sp>
        <p:nvSpPr>
          <p:cNvPr id="61" name="Text 57"/>
          <p:cNvSpPr txBox="1"/>
          <p:nvPr/>
        </p:nvSpPr>
        <p:spPr>
          <a:xfrm>
            <a:off x="6080760" y="3017520"/>
            <a:ext cx="2468880" cy="731520"/>
          </a:xfrm>
          <a:prstGeom prst="rect">
            <a:avLst/>
          </a:prstGeom>
          <a:noFill/>
          <a:ln/>
        </p:spPr>
        <p:txBody>
          <a:bodyPr wrap="square" lIns="0" tIns="0" rIns="0" bIns="0" rtlCol="0" anchor="t"/>
          <a:lstStyle/>
          <a:p>
            <a:pPr marL="0" indent="0">
              <a:buNone/>
            </a:pPr>
            <a:r>
              <a:rPr lang="en-US" sz="1100" i="1" dirty="0">
                <a:solidFill>
                  <a:srgbClr val="E6F6EE"/>
                </a:solidFill>
                <a:latin typeface="Calibri" pitchFamily="34" charset="0"/>
                <a:ea typeface="Calibri" pitchFamily="34" charset="-122"/>
                <a:cs typeface="Calibri" pitchFamily="34" charset="-120"/>
              </a:rPr>
              <a:t>If you cannot write that sentence, you do not yet have a result.</a:t>
            </a:r>
            <a:endParaRPr lang="en-US" sz="1100" dirty="0"/>
          </a:p>
        </p:txBody>
      </p:sp>
      <p:sp>
        <p:nvSpPr>
          <p:cNvPr id="62" name="Shape 58"/>
          <p:cNvSpPr/>
          <p:nvPr/>
        </p:nvSpPr>
        <p:spPr>
          <a:xfrm>
            <a:off x="457200" y="4023360"/>
            <a:ext cx="8229600" cy="502920"/>
          </a:xfrm>
          <a:prstGeom prst="roundRect">
            <a:avLst>
              <a:gd name="adj" fmla="val 14545"/>
            </a:avLst>
          </a:prstGeom>
          <a:solidFill>
            <a:srgbClr val="E8F5EF"/>
          </a:solidFill>
          <a:ln w="15875">
            <a:solidFill>
              <a:srgbClr val="00A86A"/>
            </a:solidFill>
            <a:prstDash val="solid"/>
          </a:ln>
        </p:spPr>
      </p:sp>
      <p:sp>
        <p:nvSpPr>
          <p:cNvPr id="63" name="Shape 59"/>
          <p:cNvSpPr/>
          <p:nvPr/>
        </p:nvSpPr>
        <p:spPr>
          <a:xfrm>
            <a:off x="548640" y="4078224"/>
            <a:ext cx="384048" cy="384048"/>
          </a:xfrm>
          <a:prstGeom prst="ellipse">
            <a:avLst/>
          </a:prstGeom>
          <a:solidFill>
            <a:srgbClr val="00A86A">
              <a:alpha val="22000"/>
            </a:srgbClr>
          </a:solidFill>
          <a:ln w="12700">
            <a:solidFill>
              <a:srgbClr val="00A86A">
                <a:alpha val="0"/>
              </a:srgbClr>
            </a:solidFill>
            <a:prstDash val="solid"/>
          </a:ln>
        </p:spPr>
      </p:sp>
      <p:pic>
        <p:nvPicPr>
          <p:cNvPr id="64" name="Image 1" descr="preencoded.png"/>
          <p:cNvPicPr>
            <a:picLocks noChangeAspect="1"/>
          </p:cNvPicPr>
          <p:nvPr/>
        </p:nvPicPr>
        <p:blipFill>
          <a:blip r:embed="rId4"/>
          <a:stretch>
            <a:fillRect/>
          </a:stretch>
        </p:blipFill>
        <p:spPr>
          <a:xfrm>
            <a:off x="648492" y="4178076"/>
            <a:ext cx="184343" cy="184343"/>
          </a:xfrm>
          <a:prstGeom prst="rect">
            <a:avLst/>
          </a:prstGeom>
        </p:spPr>
      </p:pic>
      <p:sp>
        <p:nvSpPr>
          <p:cNvPr id="65" name="Text 60"/>
          <p:cNvSpPr txBox="1"/>
          <p:nvPr/>
        </p:nvSpPr>
        <p:spPr>
          <a:xfrm>
            <a:off x="1024128" y="4023360"/>
            <a:ext cx="7589520" cy="50292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Share it: </a:t>
            </a:r>
            <a:r>
              <a:rPr lang="en-US" sz="1050" dirty="0">
                <a:solidFill>
                  <a:srgbClr val="231F20"/>
                </a:solidFill>
                <a:latin typeface="Calibri" pitchFamily="34" charset="0"/>
                <a:ea typeface="Calibri" pitchFamily="34" charset="-122"/>
                <a:cs typeface="Calibri" pitchFamily="34" charset="-120"/>
              </a:rPr>
              <a:t>a documented, reusable repository is how your office contributes to shared methodological guidance on new data sources.</a:t>
            </a:r>
            <a:endParaRPr lang="en-US" sz="10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4114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IN CLOSING</a:t>
            </a:r>
            <a:endParaRPr lang="en-US" sz="1050" dirty="0"/>
          </a:p>
        </p:txBody>
      </p:sp>
      <p:sp>
        <p:nvSpPr>
          <p:cNvPr id="4" name="Text 2"/>
          <p:cNvSpPr txBox="1"/>
          <p:nvPr/>
        </p:nvSpPr>
        <p:spPr>
          <a:xfrm>
            <a:off x="548640" y="658368"/>
            <a:ext cx="7315200" cy="54864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Five things to take into the lab</a:t>
            </a:r>
            <a:endParaRPr lang="en-US" sz="3200" dirty="0"/>
          </a:p>
        </p:txBody>
      </p:sp>
      <p:sp>
        <p:nvSpPr>
          <p:cNvPr id="5" name="Shape 3"/>
          <p:cNvSpPr/>
          <p:nvPr/>
        </p:nvSpPr>
        <p:spPr>
          <a:xfrm>
            <a:off x="548640" y="1408176"/>
            <a:ext cx="384048" cy="384048"/>
          </a:xfrm>
          <a:prstGeom prst="ellipse">
            <a:avLst/>
          </a:prstGeom>
          <a:solidFill>
            <a:srgbClr val="F5C242"/>
          </a:solidFill>
          <a:ln w="12700">
            <a:solidFill>
              <a:srgbClr val="F5C242"/>
            </a:solidFill>
            <a:prstDash val="solid"/>
          </a:ln>
        </p:spPr>
      </p:sp>
      <p:sp>
        <p:nvSpPr>
          <p:cNvPr id="6" name="Text 4"/>
          <p:cNvSpPr txBox="1"/>
          <p:nvPr/>
        </p:nvSpPr>
        <p:spPr>
          <a:xfrm>
            <a:off x="548640" y="140817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097280" y="1371600"/>
            <a:ext cx="566928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Night lights are a proxy, never the quantity of interest — name the assumption that links them to your question.</a:t>
            </a:r>
            <a:endParaRPr lang="en-US" sz="1250" dirty="0"/>
          </a:p>
        </p:txBody>
      </p:sp>
      <p:sp>
        <p:nvSpPr>
          <p:cNvPr id="8" name="Shape 6"/>
          <p:cNvSpPr/>
          <p:nvPr/>
        </p:nvSpPr>
        <p:spPr>
          <a:xfrm>
            <a:off x="548640" y="1956816"/>
            <a:ext cx="384048" cy="384048"/>
          </a:xfrm>
          <a:prstGeom prst="ellipse">
            <a:avLst/>
          </a:prstGeom>
          <a:solidFill>
            <a:srgbClr val="F5C242"/>
          </a:solidFill>
          <a:ln w="12700">
            <a:solidFill>
              <a:srgbClr val="F5C242"/>
            </a:solidFill>
            <a:prstDash val="solid"/>
          </a:ln>
        </p:spPr>
      </p:sp>
      <p:sp>
        <p:nvSpPr>
          <p:cNvPr id="9" name="Text 7"/>
          <p:cNvSpPr txBox="1"/>
          <p:nvPr/>
        </p:nvSpPr>
        <p:spPr>
          <a:xfrm>
            <a:off x="548640" y="195681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97280" y="1920240"/>
            <a:ext cx="566928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The instrument defines the science: DMSP saturates, VIIRS calibrates, and neither sees blue light.</a:t>
            </a:r>
            <a:endParaRPr lang="en-US" sz="1250" dirty="0"/>
          </a:p>
        </p:txBody>
      </p:sp>
      <p:sp>
        <p:nvSpPr>
          <p:cNvPr id="11" name="Shape 9"/>
          <p:cNvSpPr/>
          <p:nvPr/>
        </p:nvSpPr>
        <p:spPr>
          <a:xfrm>
            <a:off x="548640" y="2505456"/>
            <a:ext cx="384048" cy="384048"/>
          </a:xfrm>
          <a:prstGeom prst="ellipse">
            <a:avLst/>
          </a:prstGeom>
          <a:solidFill>
            <a:srgbClr val="F5C242"/>
          </a:solidFill>
          <a:ln w="12700">
            <a:solidFill>
              <a:srgbClr val="F5C242"/>
            </a:solidFill>
            <a:prstDash val="solid"/>
          </a:ln>
        </p:spPr>
      </p:sp>
      <p:sp>
        <p:nvSpPr>
          <p:cNvPr id="12" name="Text 10"/>
          <p:cNvSpPr txBox="1"/>
          <p:nvPr/>
        </p:nvSpPr>
        <p:spPr>
          <a:xfrm>
            <a:off x="548640" y="250545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097280" y="2468880"/>
            <a:ext cx="566928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The data is most valuable where official statistics are thinnest: subnational, high-frequency, in crises and informal economies.</a:t>
            </a:r>
            <a:endParaRPr lang="en-US" sz="1250" dirty="0"/>
          </a:p>
        </p:txBody>
      </p:sp>
      <p:sp>
        <p:nvSpPr>
          <p:cNvPr id="14" name="Shape 12"/>
          <p:cNvSpPr/>
          <p:nvPr/>
        </p:nvSpPr>
        <p:spPr>
          <a:xfrm>
            <a:off x="548640" y="3054096"/>
            <a:ext cx="384048" cy="384048"/>
          </a:xfrm>
          <a:prstGeom prst="ellipse">
            <a:avLst/>
          </a:prstGeom>
          <a:solidFill>
            <a:srgbClr val="F5C242"/>
          </a:solidFill>
          <a:ln w="12700">
            <a:solidFill>
              <a:srgbClr val="F5C242"/>
            </a:solidFill>
            <a:prstDash val="solid"/>
          </a:ln>
        </p:spPr>
      </p:sp>
      <p:sp>
        <p:nvSpPr>
          <p:cNvPr id="15" name="Text 13"/>
          <p:cNvSpPr txBox="1"/>
          <p:nvPr/>
        </p:nvSpPr>
        <p:spPr>
          <a:xfrm>
            <a:off x="548640" y="305409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1097280" y="3017520"/>
            <a:ext cx="566928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Darkness is not emptiness — off-grid light, cloud and load-shedding all look alike from orbit.</a:t>
            </a:r>
            <a:endParaRPr lang="en-US" sz="1250" dirty="0"/>
          </a:p>
        </p:txBody>
      </p:sp>
      <p:sp>
        <p:nvSpPr>
          <p:cNvPr id="17" name="Shape 15"/>
          <p:cNvSpPr/>
          <p:nvPr/>
        </p:nvSpPr>
        <p:spPr>
          <a:xfrm>
            <a:off x="548640" y="3602736"/>
            <a:ext cx="384048" cy="384048"/>
          </a:xfrm>
          <a:prstGeom prst="ellipse">
            <a:avLst/>
          </a:prstGeom>
          <a:solidFill>
            <a:srgbClr val="F5C242"/>
          </a:solidFill>
          <a:ln w="12700">
            <a:solidFill>
              <a:srgbClr val="F5C242"/>
            </a:solidFill>
            <a:prstDash val="solid"/>
          </a:ln>
        </p:spPr>
      </p:sp>
      <p:sp>
        <p:nvSpPr>
          <p:cNvPr id="18" name="Text 16"/>
          <p:cNvSpPr txBox="1"/>
          <p:nvPr/>
        </p:nvSpPr>
        <p:spPr>
          <a:xfrm>
            <a:off x="548640" y="360273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5</a:t>
            </a:r>
            <a:endParaRPr lang="en-US" sz="1400" dirty="0"/>
          </a:p>
        </p:txBody>
      </p:sp>
      <p:sp>
        <p:nvSpPr>
          <p:cNvPr id="19" name="Text 17"/>
          <p:cNvSpPr txBox="1"/>
          <p:nvPr/>
        </p:nvSpPr>
        <p:spPr>
          <a:xfrm>
            <a:off x="1097280" y="3566160"/>
            <a:ext cx="566928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Validate against independent sources, and publish your limitations with your results.</a:t>
            </a:r>
            <a:endParaRPr lang="en-US" sz="1250" dirty="0"/>
          </a:p>
        </p:txBody>
      </p:sp>
      <p:sp>
        <p:nvSpPr>
          <p:cNvPr id="20" name="Text 18"/>
          <p:cNvSpPr txBox="1"/>
          <p:nvPr/>
        </p:nvSpPr>
        <p:spPr>
          <a:xfrm>
            <a:off x="548640" y="4224528"/>
            <a:ext cx="6858000" cy="457200"/>
          </a:xfrm>
          <a:prstGeom prst="rect">
            <a:avLst/>
          </a:prstGeom>
          <a:noFill/>
          <a:ln/>
        </p:spPr>
        <p:txBody>
          <a:bodyPr wrap="square" lIns="0" tIns="0" rIns="0" bIns="0" rtlCol="0" anchor="t"/>
          <a:lstStyle/>
          <a:p>
            <a:pPr marL="0" indent="0">
              <a:buNone/>
            </a:pPr>
            <a:r>
              <a:rPr lang="en-US" sz="1500" i="1" dirty="0">
                <a:solidFill>
                  <a:srgbClr val="F5C242"/>
                </a:solidFill>
                <a:latin typeface="Calibri" pitchFamily="34" charset="0"/>
                <a:ea typeface="Calibri" pitchFamily="34" charset="-122"/>
                <a:cs typeface="Calibri" pitchFamily="34" charset="-120"/>
              </a:rPr>
              <a:t>The darkness tells us a great deal. It does not tell us everything — and it never speaks unprompted.</a:t>
            </a:r>
            <a:endParaRPr lang="en-US" sz="1500" dirty="0"/>
          </a:p>
        </p:txBody>
      </p:sp>
      <p:sp>
        <p:nvSpPr>
          <p:cNvPr id="21" name="Shape 19"/>
          <p:cNvSpPr/>
          <p:nvPr/>
        </p:nvSpPr>
        <p:spPr>
          <a:xfrm>
            <a:off x="6949440" y="1325880"/>
            <a:ext cx="1737360" cy="1737360"/>
          </a:xfrm>
          <a:prstGeom prst="ellipse">
            <a:avLst/>
          </a:prstGeom>
          <a:solidFill>
            <a:srgbClr val="FFFFFF">
              <a:alpha val="10000"/>
            </a:srgbClr>
          </a:solidFill>
          <a:ln w="9525">
            <a:solidFill>
              <a:srgbClr val="FFFFFF">
                <a:alpha val="30000"/>
              </a:srgbClr>
            </a:solidFill>
            <a:prstDash val="solid"/>
          </a:ln>
        </p:spPr>
      </p:sp>
      <p:sp>
        <p:nvSpPr>
          <p:cNvPr id="22" name="Shape 20"/>
          <p:cNvSpPr/>
          <p:nvPr/>
        </p:nvSpPr>
        <p:spPr>
          <a:xfrm>
            <a:off x="7223760" y="1600200"/>
            <a:ext cx="1188720" cy="1188720"/>
          </a:xfrm>
          <a:prstGeom prst="ellipse">
            <a:avLst/>
          </a:prstGeom>
          <a:solidFill>
            <a:srgbClr val="FFFFFF">
              <a:alpha val="13000"/>
            </a:srgbClr>
          </a:solidFill>
          <a:ln w="9525">
            <a:solidFill>
              <a:srgbClr val="FFFFFF">
                <a:alpha val="30000"/>
              </a:srgbClr>
            </a:solidFill>
            <a:prstDash val="solid"/>
          </a:ln>
        </p:spPr>
      </p:sp>
      <p:sp>
        <p:nvSpPr>
          <p:cNvPr id="23" name="Shape 21"/>
          <p:cNvSpPr/>
          <p:nvPr/>
        </p:nvSpPr>
        <p:spPr>
          <a:xfrm>
            <a:off x="7452360" y="1828800"/>
            <a:ext cx="731520" cy="731520"/>
          </a:xfrm>
          <a:prstGeom prst="ellipse">
            <a:avLst/>
          </a:prstGeom>
          <a:solidFill>
            <a:srgbClr val="FFFFFF"/>
          </a:solidFill>
          <a:ln w="12700">
            <a:solidFill>
              <a:srgbClr val="FFFFFF"/>
            </a:solidFill>
            <a:prstDash val="solid"/>
          </a:ln>
        </p:spPr>
      </p:sp>
      <p:pic>
        <p:nvPicPr>
          <p:cNvPr id="24" name="Image 0" descr="preencoded.png"/>
          <p:cNvPicPr>
            <a:picLocks noChangeAspect="1"/>
          </p:cNvPicPr>
          <p:nvPr/>
        </p:nvPicPr>
        <p:blipFill>
          <a:blip r:embed="rId4"/>
          <a:stretch>
            <a:fillRect/>
          </a:stretch>
        </p:blipFill>
        <p:spPr>
          <a:xfrm>
            <a:off x="7616952" y="1993392"/>
            <a:ext cx="402336" cy="402336"/>
          </a:xfrm>
          <a:prstGeom prst="rect">
            <a:avLst/>
          </a:prstGeom>
        </p:spPr>
      </p:pic>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APPENDIX · GLOSSARY</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vocabulary you will meet in the labs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7" name="Shape 14"/>
          <p:cNvSpPr/>
          <p:nvPr/>
        </p:nvSpPr>
        <p:spPr>
          <a:xfrm>
            <a:off x="457200" y="1325880"/>
            <a:ext cx="4023360" cy="548640"/>
          </a:xfrm>
          <a:prstGeom prst="roundRect">
            <a:avLst>
              <a:gd name="adj" fmla="val 13333"/>
            </a:avLst>
          </a:prstGeom>
          <a:solidFill>
            <a:srgbClr val="F4F7F5"/>
          </a:solidFill>
          <a:ln w="9525">
            <a:solidFill>
              <a:srgbClr val="D5DED9"/>
            </a:solidFill>
            <a:prstDash val="solid"/>
          </a:ln>
        </p:spPr>
      </p:sp>
      <p:sp>
        <p:nvSpPr>
          <p:cNvPr id="18" name="Shape 15"/>
          <p:cNvSpPr/>
          <p:nvPr/>
        </p:nvSpPr>
        <p:spPr>
          <a:xfrm>
            <a:off x="548640" y="1444752"/>
            <a:ext cx="310896" cy="310896"/>
          </a:xfrm>
          <a:prstGeom prst="ellipse">
            <a:avLst/>
          </a:prstGeom>
          <a:solidFill>
            <a:srgbClr val="00704A">
              <a:alpha val="22000"/>
            </a:srgbClr>
          </a:solidFill>
          <a:ln w="12700">
            <a:solidFill>
              <a:srgbClr val="00704A">
                <a:alpha val="0"/>
              </a:srgbClr>
            </a:solidFill>
            <a:prstDash val="solid"/>
          </a:ln>
        </p:spPr>
      </p:sp>
      <p:pic>
        <p:nvPicPr>
          <p:cNvPr id="19" name="Image 0" descr="preencoded.png"/>
          <p:cNvPicPr>
            <a:picLocks noChangeAspect="1"/>
          </p:cNvPicPr>
          <p:nvPr/>
        </p:nvPicPr>
        <p:blipFill>
          <a:blip r:embed="rId3"/>
          <a:stretch>
            <a:fillRect/>
          </a:stretch>
        </p:blipFill>
        <p:spPr>
          <a:xfrm>
            <a:off x="629473" y="1525585"/>
            <a:ext cx="149230" cy="149230"/>
          </a:xfrm>
          <a:prstGeom prst="rect">
            <a:avLst/>
          </a:prstGeom>
        </p:spPr>
      </p:pic>
      <p:sp>
        <p:nvSpPr>
          <p:cNvPr id="20" name="Text 16"/>
          <p:cNvSpPr txBox="1"/>
          <p:nvPr/>
        </p:nvSpPr>
        <p:spPr>
          <a:xfrm>
            <a:off x="960120" y="1371600"/>
            <a:ext cx="3429000" cy="201168"/>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Radiance</a:t>
            </a:r>
            <a:endParaRPr lang="en-US" sz="1100" dirty="0"/>
          </a:p>
        </p:txBody>
      </p:sp>
      <p:sp>
        <p:nvSpPr>
          <p:cNvPr id="21" name="Text 17"/>
          <p:cNvSpPr txBox="1"/>
          <p:nvPr/>
        </p:nvSpPr>
        <p:spPr>
          <a:xfrm>
            <a:off x="960120" y="1581912"/>
            <a:ext cx="3474720"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Energy leaving a surface per unit area and solid angle; for NTL in nW·cm⁻²·sr⁻¹.</a:t>
            </a:r>
            <a:endParaRPr lang="en-US" sz="950" dirty="0"/>
          </a:p>
        </p:txBody>
      </p:sp>
      <p:sp>
        <p:nvSpPr>
          <p:cNvPr id="22" name="Shape 18"/>
          <p:cNvSpPr/>
          <p:nvPr/>
        </p:nvSpPr>
        <p:spPr>
          <a:xfrm>
            <a:off x="4663440" y="1325880"/>
            <a:ext cx="4023360" cy="548640"/>
          </a:xfrm>
          <a:prstGeom prst="roundRect">
            <a:avLst>
              <a:gd name="adj" fmla="val 13333"/>
            </a:avLst>
          </a:prstGeom>
          <a:solidFill>
            <a:srgbClr val="F4F7F5"/>
          </a:solidFill>
          <a:ln w="9525">
            <a:solidFill>
              <a:srgbClr val="D5DED9"/>
            </a:solidFill>
            <a:prstDash val="solid"/>
          </a:ln>
        </p:spPr>
      </p:sp>
      <p:sp>
        <p:nvSpPr>
          <p:cNvPr id="23" name="Shape 19"/>
          <p:cNvSpPr/>
          <p:nvPr/>
        </p:nvSpPr>
        <p:spPr>
          <a:xfrm>
            <a:off x="4754880" y="1444752"/>
            <a:ext cx="310896" cy="310896"/>
          </a:xfrm>
          <a:prstGeom prst="ellipse">
            <a:avLst/>
          </a:prstGeom>
          <a:solidFill>
            <a:srgbClr val="00704A">
              <a:alpha val="22000"/>
            </a:srgbClr>
          </a:solidFill>
          <a:ln w="12700">
            <a:solidFill>
              <a:srgbClr val="00704A">
                <a:alpha val="0"/>
              </a:srgbClr>
            </a:solidFill>
            <a:prstDash val="solid"/>
          </a:ln>
        </p:spPr>
      </p:sp>
      <p:pic>
        <p:nvPicPr>
          <p:cNvPr id="24" name="Image 1" descr="preencoded.png"/>
          <p:cNvPicPr>
            <a:picLocks noChangeAspect="1"/>
          </p:cNvPicPr>
          <p:nvPr/>
        </p:nvPicPr>
        <p:blipFill>
          <a:blip r:embed="rId3"/>
          <a:stretch>
            <a:fillRect/>
          </a:stretch>
        </p:blipFill>
        <p:spPr>
          <a:xfrm>
            <a:off x="4835713" y="1525585"/>
            <a:ext cx="149230" cy="149230"/>
          </a:xfrm>
          <a:prstGeom prst="rect">
            <a:avLst/>
          </a:prstGeom>
        </p:spPr>
      </p:pic>
      <p:sp>
        <p:nvSpPr>
          <p:cNvPr id="25" name="Text 20"/>
          <p:cNvSpPr txBox="1"/>
          <p:nvPr/>
        </p:nvSpPr>
        <p:spPr>
          <a:xfrm>
            <a:off x="5166360" y="1371600"/>
            <a:ext cx="3429000" cy="201168"/>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Digital number (DN)</a:t>
            </a:r>
            <a:endParaRPr lang="en-US" sz="1100" dirty="0"/>
          </a:p>
        </p:txBody>
      </p:sp>
      <p:sp>
        <p:nvSpPr>
          <p:cNvPr id="26" name="Text 21"/>
          <p:cNvSpPr txBox="1"/>
          <p:nvPr/>
        </p:nvSpPr>
        <p:spPr>
          <a:xfrm>
            <a:off x="5166360" y="1581912"/>
            <a:ext cx="3474720"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Uncalibrated sensor count with no physical unit; DMSP reports 0–63.</a:t>
            </a:r>
            <a:endParaRPr lang="en-US" sz="950" dirty="0"/>
          </a:p>
        </p:txBody>
      </p:sp>
      <p:sp>
        <p:nvSpPr>
          <p:cNvPr id="27" name="Shape 22"/>
          <p:cNvSpPr/>
          <p:nvPr/>
        </p:nvSpPr>
        <p:spPr>
          <a:xfrm>
            <a:off x="457200" y="1965960"/>
            <a:ext cx="4023360" cy="548640"/>
          </a:xfrm>
          <a:prstGeom prst="roundRect">
            <a:avLst>
              <a:gd name="adj" fmla="val 13333"/>
            </a:avLst>
          </a:prstGeom>
          <a:solidFill>
            <a:srgbClr val="F4F7F5"/>
          </a:solidFill>
          <a:ln w="9525">
            <a:solidFill>
              <a:srgbClr val="D5DED9"/>
            </a:solidFill>
            <a:prstDash val="solid"/>
          </a:ln>
        </p:spPr>
      </p:sp>
      <p:sp>
        <p:nvSpPr>
          <p:cNvPr id="28" name="Shape 23"/>
          <p:cNvSpPr/>
          <p:nvPr/>
        </p:nvSpPr>
        <p:spPr>
          <a:xfrm>
            <a:off x="548640" y="2084832"/>
            <a:ext cx="310896" cy="310896"/>
          </a:xfrm>
          <a:prstGeom prst="ellipse">
            <a:avLst/>
          </a:prstGeom>
          <a:solidFill>
            <a:srgbClr val="00704A">
              <a:alpha val="22000"/>
            </a:srgbClr>
          </a:solidFill>
          <a:ln w="12700">
            <a:solidFill>
              <a:srgbClr val="00704A">
                <a:alpha val="0"/>
              </a:srgbClr>
            </a:solidFill>
            <a:prstDash val="solid"/>
          </a:ln>
        </p:spPr>
      </p:sp>
      <p:pic>
        <p:nvPicPr>
          <p:cNvPr id="29" name="Image 2" descr="preencoded.png"/>
          <p:cNvPicPr>
            <a:picLocks noChangeAspect="1"/>
          </p:cNvPicPr>
          <p:nvPr/>
        </p:nvPicPr>
        <p:blipFill>
          <a:blip r:embed="rId3"/>
          <a:stretch>
            <a:fillRect/>
          </a:stretch>
        </p:blipFill>
        <p:spPr>
          <a:xfrm>
            <a:off x="629473" y="2165665"/>
            <a:ext cx="149230" cy="149230"/>
          </a:xfrm>
          <a:prstGeom prst="rect">
            <a:avLst/>
          </a:prstGeom>
        </p:spPr>
      </p:pic>
      <p:sp>
        <p:nvSpPr>
          <p:cNvPr id="30" name="Text 24"/>
          <p:cNvSpPr txBox="1"/>
          <p:nvPr/>
        </p:nvSpPr>
        <p:spPr>
          <a:xfrm>
            <a:off x="960120" y="2011680"/>
            <a:ext cx="3429000" cy="201168"/>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Composite</a:t>
            </a:r>
            <a:endParaRPr lang="en-US" sz="1100" dirty="0"/>
          </a:p>
        </p:txBody>
      </p:sp>
      <p:sp>
        <p:nvSpPr>
          <p:cNvPr id="31" name="Text 25"/>
          <p:cNvSpPr txBox="1"/>
          <p:nvPr/>
        </p:nvSpPr>
        <p:spPr>
          <a:xfrm>
            <a:off x="960120" y="2221992"/>
            <a:ext cx="3474720"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Grid assembled from many cloud-free nights — not a photograph of one night.</a:t>
            </a:r>
            <a:endParaRPr lang="en-US" sz="950" dirty="0"/>
          </a:p>
        </p:txBody>
      </p:sp>
      <p:sp>
        <p:nvSpPr>
          <p:cNvPr id="32" name="Shape 26"/>
          <p:cNvSpPr/>
          <p:nvPr/>
        </p:nvSpPr>
        <p:spPr>
          <a:xfrm>
            <a:off x="4663440" y="1965960"/>
            <a:ext cx="4023360" cy="548640"/>
          </a:xfrm>
          <a:prstGeom prst="roundRect">
            <a:avLst>
              <a:gd name="adj" fmla="val 13333"/>
            </a:avLst>
          </a:prstGeom>
          <a:solidFill>
            <a:srgbClr val="F4F7F5"/>
          </a:solidFill>
          <a:ln w="9525">
            <a:solidFill>
              <a:srgbClr val="D5DED9"/>
            </a:solidFill>
            <a:prstDash val="solid"/>
          </a:ln>
        </p:spPr>
      </p:sp>
      <p:sp>
        <p:nvSpPr>
          <p:cNvPr id="33" name="Shape 27"/>
          <p:cNvSpPr/>
          <p:nvPr/>
        </p:nvSpPr>
        <p:spPr>
          <a:xfrm>
            <a:off x="4754880" y="2084832"/>
            <a:ext cx="310896" cy="310896"/>
          </a:xfrm>
          <a:prstGeom prst="ellipse">
            <a:avLst/>
          </a:prstGeom>
          <a:solidFill>
            <a:srgbClr val="00704A">
              <a:alpha val="22000"/>
            </a:srgbClr>
          </a:solidFill>
          <a:ln w="12700">
            <a:solidFill>
              <a:srgbClr val="00704A">
                <a:alpha val="0"/>
              </a:srgbClr>
            </a:solidFill>
            <a:prstDash val="solid"/>
          </a:ln>
        </p:spPr>
      </p:sp>
      <p:pic>
        <p:nvPicPr>
          <p:cNvPr id="34" name="Image 3" descr="preencoded.png"/>
          <p:cNvPicPr>
            <a:picLocks noChangeAspect="1"/>
          </p:cNvPicPr>
          <p:nvPr/>
        </p:nvPicPr>
        <p:blipFill>
          <a:blip r:embed="rId3"/>
          <a:stretch>
            <a:fillRect/>
          </a:stretch>
        </p:blipFill>
        <p:spPr>
          <a:xfrm>
            <a:off x="4835713" y="2165665"/>
            <a:ext cx="149230" cy="149230"/>
          </a:xfrm>
          <a:prstGeom prst="rect">
            <a:avLst/>
          </a:prstGeom>
        </p:spPr>
      </p:pic>
      <p:sp>
        <p:nvSpPr>
          <p:cNvPr id="35" name="Text 28"/>
          <p:cNvSpPr txBox="1"/>
          <p:nvPr/>
        </p:nvSpPr>
        <p:spPr>
          <a:xfrm>
            <a:off x="5166360" y="2011680"/>
            <a:ext cx="3429000" cy="201168"/>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Stable lights</a:t>
            </a:r>
            <a:endParaRPr lang="en-US" sz="1100" dirty="0"/>
          </a:p>
        </p:txBody>
      </p:sp>
      <p:sp>
        <p:nvSpPr>
          <p:cNvPr id="36" name="Text 29"/>
          <p:cNvSpPr txBox="1"/>
          <p:nvPr/>
        </p:nvSpPr>
        <p:spPr>
          <a:xfrm>
            <a:off x="5166360" y="2221992"/>
            <a:ext cx="3474720"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Product with fires, aurora and other unstable sources removed.</a:t>
            </a:r>
            <a:endParaRPr lang="en-US" sz="950" dirty="0"/>
          </a:p>
        </p:txBody>
      </p:sp>
      <p:sp>
        <p:nvSpPr>
          <p:cNvPr id="37" name="Shape 30"/>
          <p:cNvSpPr/>
          <p:nvPr/>
        </p:nvSpPr>
        <p:spPr>
          <a:xfrm>
            <a:off x="457200" y="2606040"/>
            <a:ext cx="4023360" cy="548640"/>
          </a:xfrm>
          <a:prstGeom prst="roundRect">
            <a:avLst>
              <a:gd name="adj" fmla="val 13333"/>
            </a:avLst>
          </a:prstGeom>
          <a:solidFill>
            <a:srgbClr val="F4F7F5"/>
          </a:solidFill>
          <a:ln w="9525">
            <a:solidFill>
              <a:srgbClr val="D5DED9"/>
            </a:solidFill>
            <a:prstDash val="solid"/>
          </a:ln>
        </p:spPr>
      </p:sp>
      <p:sp>
        <p:nvSpPr>
          <p:cNvPr id="38" name="Shape 31"/>
          <p:cNvSpPr/>
          <p:nvPr/>
        </p:nvSpPr>
        <p:spPr>
          <a:xfrm>
            <a:off x="548640" y="2724912"/>
            <a:ext cx="310896" cy="310896"/>
          </a:xfrm>
          <a:prstGeom prst="ellipse">
            <a:avLst/>
          </a:prstGeom>
          <a:solidFill>
            <a:srgbClr val="00704A">
              <a:alpha val="22000"/>
            </a:srgbClr>
          </a:solidFill>
          <a:ln w="12700">
            <a:solidFill>
              <a:srgbClr val="00704A">
                <a:alpha val="0"/>
              </a:srgbClr>
            </a:solidFill>
            <a:prstDash val="solid"/>
          </a:ln>
        </p:spPr>
      </p:sp>
      <p:pic>
        <p:nvPicPr>
          <p:cNvPr id="39" name="Image 4" descr="preencoded.png"/>
          <p:cNvPicPr>
            <a:picLocks noChangeAspect="1"/>
          </p:cNvPicPr>
          <p:nvPr/>
        </p:nvPicPr>
        <p:blipFill>
          <a:blip r:embed="rId3"/>
          <a:stretch>
            <a:fillRect/>
          </a:stretch>
        </p:blipFill>
        <p:spPr>
          <a:xfrm>
            <a:off x="629473" y="2805745"/>
            <a:ext cx="149230" cy="149230"/>
          </a:xfrm>
          <a:prstGeom prst="rect">
            <a:avLst/>
          </a:prstGeom>
        </p:spPr>
      </p:pic>
      <p:sp>
        <p:nvSpPr>
          <p:cNvPr id="40" name="Text 32"/>
          <p:cNvSpPr txBox="1"/>
          <p:nvPr/>
        </p:nvSpPr>
        <p:spPr>
          <a:xfrm>
            <a:off x="960120" y="2651760"/>
            <a:ext cx="3429000" cy="201168"/>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Sum of Lights (SOL)</a:t>
            </a:r>
            <a:endParaRPr lang="en-US" sz="1100" dirty="0"/>
          </a:p>
        </p:txBody>
      </p:sp>
      <p:sp>
        <p:nvSpPr>
          <p:cNvPr id="41" name="Text 33"/>
          <p:cNvSpPr txBox="1"/>
          <p:nvPr/>
        </p:nvSpPr>
        <p:spPr>
          <a:xfrm>
            <a:off x="960120" y="2862072"/>
            <a:ext cx="3474720"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Total radiance summed over all pixels inside a boundary.</a:t>
            </a:r>
            <a:endParaRPr lang="en-US" sz="950" dirty="0"/>
          </a:p>
        </p:txBody>
      </p:sp>
      <p:sp>
        <p:nvSpPr>
          <p:cNvPr id="42" name="Shape 34"/>
          <p:cNvSpPr/>
          <p:nvPr/>
        </p:nvSpPr>
        <p:spPr>
          <a:xfrm>
            <a:off x="4663440" y="2606040"/>
            <a:ext cx="4023360" cy="548640"/>
          </a:xfrm>
          <a:prstGeom prst="roundRect">
            <a:avLst>
              <a:gd name="adj" fmla="val 13333"/>
            </a:avLst>
          </a:prstGeom>
          <a:solidFill>
            <a:srgbClr val="F4F7F5"/>
          </a:solidFill>
          <a:ln w="9525">
            <a:solidFill>
              <a:srgbClr val="D5DED9"/>
            </a:solidFill>
            <a:prstDash val="solid"/>
          </a:ln>
        </p:spPr>
      </p:sp>
      <p:sp>
        <p:nvSpPr>
          <p:cNvPr id="43" name="Shape 35"/>
          <p:cNvSpPr/>
          <p:nvPr/>
        </p:nvSpPr>
        <p:spPr>
          <a:xfrm>
            <a:off x="4754880" y="2724912"/>
            <a:ext cx="310896" cy="310896"/>
          </a:xfrm>
          <a:prstGeom prst="ellipse">
            <a:avLst/>
          </a:prstGeom>
          <a:solidFill>
            <a:srgbClr val="00704A">
              <a:alpha val="22000"/>
            </a:srgbClr>
          </a:solidFill>
          <a:ln w="12700">
            <a:solidFill>
              <a:srgbClr val="00704A">
                <a:alpha val="0"/>
              </a:srgbClr>
            </a:solidFill>
            <a:prstDash val="solid"/>
          </a:ln>
        </p:spPr>
      </p:sp>
      <p:pic>
        <p:nvPicPr>
          <p:cNvPr id="44" name="Image 5" descr="preencoded.png"/>
          <p:cNvPicPr>
            <a:picLocks noChangeAspect="1"/>
          </p:cNvPicPr>
          <p:nvPr/>
        </p:nvPicPr>
        <p:blipFill>
          <a:blip r:embed="rId3"/>
          <a:stretch>
            <a:fillRect/>
          </a:stretch>
        </p:blipFill>
        <p:spPr>
          <a:xfrm>
            <a:off x="4835713" y="2805745"/>
            <a:ext cx="149230" cy="149230"/>
          </a:xfrm>
          <a:prstGeom prst="rect">
            <a:avLst/>
          </a:prstGeom>
        </p:spPr>
      </p:pic>
      <p:sp>
        <p:nvSpPr>
          <p:cNvPr id="45" name="Text 36"/>
          <p:cNvSpPr txBox="1"/>
          <p:nvPr/>
        </p:nvSpPr>
        <p:spPr>
          <a:xfrm>
            <a:off x="5166360" y="2651760"/>
            <a:ext cx="3429000" cy="201168"/>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Blooming / overglow</a:t>
            </a:r>
            <a:endParaRPr lang="en-US" sz="1100" dirty="0"/>
          </a:p>
        </p:txBody>
      </p:sp>
      <p:sp>
        <p:nvSpPr>
          <p:cNvPr id="46" name="Text 37"/>
          <p:cNvSpPr txBox="1"/>
          <p:nvPr/>
        </p:nvSpPr>
        <p:spPr>
          <a:xfrm>
            <a:off x="5166360" y="2862072"/>
            <a:ext cx="3474720"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Apparent spread of light beyond its source (scattering, geolocation error).</a:t>
            </a:r>
            <a:endParaRPr lang="en-US" sz="950" dirty="0"/>
          </a:p>
        </p:txBody>
      </p:sp>
      <p:sp>
        <p:nvSpPr>
          <p:cNvPr id="47" name="Shape 38"/>
          <p:cNvSpPr/>
          <p:nvPr/>
        </p:nvSpPr>
        <p:spPr>
          <a:xfrm>
            <a:off x="457200" y="3246120"/>
            <a:ext cx="4023360" cy="548640"/>
          </a:xfrm>
          <a:prstGeom prst="roundRect">
            <a:avLst>
              <a:gd name="adj" fmla="val 13333"/>
            </a:avLst>
          </a:prstGeom>
          <a:solidFill>
            <a:srgbClr val="F4F7F5"/>
          </a:solidFill>
          <a:ln w="9525">
            <a:solidFill>
              <a:srgbClr val="D5DED9"/>
            </a:solidFill>
            <a:prstDash val="solid"/>
          </a:ln>
        </p:spPr>
      </p:sp>
      <p:sp>
        <p:nvSpPr>
          <p:cNvPr id="48" name="Shape 39"/>
          <p:cNvSpPr/>
          <p:nvPr/>
        </p:nvSpPr>
        <p:spPr>
          <a:xfrm>
            <a:off x="548640" y="3364992"/>
            <a:ext cx="310896" cy="310896"/>
          </a:xfrm>
          <a:prstGeom prst="ellipse">
            <a:avLst/>
          </a:prstGeom>
          <a:solidFill>
            <a:srgbClr val="00704A">
              <a:alpha val="22000"/>
            </a:srgbClr>
          </a:solidFill>
          <a:ln w="12700">
            <a:solidFill>
              <a:srgbClr val="00704A">
                <a:alpha val="0"/>
              </a:srgbClr>
            </a:solidFill>
            <a:prstDash val="solid"/>
          </a:ln>
        </p:spPr>
      </p:sp>
      <p:pic>
        <p:nvPicPr>
          <p:cNvPr id="49" name="Image 6" descr="preencoded.png"/>
          <p:cNvPicPr>
            <a:picLocks noChangeAspect="1"/>
          </p:cNvPicPr>
          <p:nvPr/>
        </p:nvPicPr>
        <p:blipFill>
          <a:blip r:embed="rId3"/>
          <a:stretch>
            <a:fillRect/>
          </a:stretch>
        </p:blipFill>
        <p:spPr>
          <a:xfrm>
            <a:off x="629473" y="3445825"/>
            <a:ext cx="149230" cy="149230"/>
          </a:xfrm>
          <a:prstGeom prst="rect">
            <a:avLst/>
          </a:prstGeom>
        </p:spPr>
      </p:pic>
      <p:sp>
        <p:nvSpPr>
          <p:cNvPr id="50" name="Text 40"/>
          <p:cNvSpPr txBox="1"/>
          <p:nvPr/>
        </p:nvSpPr>
        <p:spPr>
          <a:xfrm>
            <a:off x="960120" y="3291840"/>
            <a:ext cx="3429000" cy="201168"/>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BRDF correction</a:t>
            </a:r>
            <a:endParaRPr lang="en-US" sz="1100" dirty="0"/>
          </a:p>
        </p:txBody>
      </p:sp>
      <p:sp>
        <p:nvSpPr>
          <p:cNvPr id="51" name="Text 41"/>
          <p:cNvSpPr txBox="1"/>
          <p:nvPr/>
        </p:nvSpPr>
        <p:spPr>
          <a:xfrm>
            <a:off x="960120" y="3502152"/>
            <a:ext cx="3474720"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Adjustment for how reflected (moon)light varies with viewing and lighting angles.</a:t>
            </a:r>
            <a:endParaRPr lang="en-US" sz="950" dirty="0"/>
          </a:p>
        </p:txBody>
      </p:sp>
      <p:sp>
        <p:nvSpPr>
          <p:cNvPr id="52" name="Shape 42"/>
          <p:cNvSpPr/>
          <p:nvPr/>
        </p:nvSpPr>
        <p:spPr>
          <a:xfrm>
            <a:off x="4663440" y="3246120"/>
            <a:ext cx="4023360" cy="548640"/>
          </a:xfrm>
          <a:prstGeom prst="roundRect">
            <a:avLst>
              <a:gd name="adj" fmla="val 13333"/>
            </a:avLst>
          </a:prstGeom>
          <a:solidFill>
            <a:srgbClr val="F4F7F5"/>
          </a:solidFill>
          <a:ln w="9525">
            <a:solidFill>
              <a:srgbClr val="D5DED9"/>
            </a:solidFill>
            <a:prstDash val="solid"/>
          </a:ln>
        </p:spPr>
      </p:sp>
      <p:sp>
        <p:nvSpPr>
          <p:cNvPr id="53" name="Shape 43"/>
          <p:cNvSpPr/>
          <p:nvPr/>
        </p:nvSpPr>
        <p:spPr>
          <a:xfrm>
            <a:off x="4754880" y="3364992"/>
            <a:ext cx="310896" cy="310896"/>
          </a:xfrm>
          <a:prstGeom prst="ellipse">
            <a:avLst/>
          </a:prstGeom>
          <a:solidFill>
            <a:srgbClr val="00704A">
              <a:alpha val="22000"/>
            </a:srgbClr>
          </a:solidFill>
          <a:ln w="12700">
            <a:solidFill>
              <a:srgbClr val="00704A">
                <a:alpha val="0"/>
              </a:srgbClr>
            </a:solidFill>
            <a:prstDash val="solid"/>
          </a:ln>
        </p:spPr>
      </p:sp>
      <p:pic>
        <p:nvPicPr>
          <p:cNvPr id="54" name="Image 7" descr="preencoded.png"/>
          <p:cNvPicPr>
            <a:picLocks noChangeAspect="1"/>
          </p:cNvPicPr>
          <p:nvPr/>
        </p:nvPicPr>
        <p:blipFill>
          <a:blip r:embed="rId3"/>
          <a:stretch>
            <a:fillRect/>
          </a:stretch>
        </p:blipFill>
        <p:spPr>
          <a:xfrm>
            <a:off x="4835713" y="3445825"/>
            <a:ext cx="149230" cy="149230"/>
          </a:xfrm>
          <a:prstGeom prst="rect">
            <a:avLst/>
          </a:prstGeom>
        </p:spPr>
      </p:pic>
      <p:sp>
        <p:nvSpPr>
          <p:cNvPr id="55" name="Text 44"/>
          <p:cNvSpPr txBox="1"/>
          <p:nvPr/>
        </p:nvSpPr>
        <p:spPr>
          <a:xfrm>
            <a:off x="5166360" y="3291840"/>
            <a:ext cx="3429000" cy="201168"/>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Zonal statistics</a:t>
            </a:r>
            <a:endParaRPr lang="en-US" sz="1100" dirty="0"/>
          </a:p>
        </p:txBody>
      </p:sp>
      <p:sp>
        <p:nvSpPr>
          <p:cNvPr id="56" name="Text 45"/>
          <p:cNvSpPr txBox="1"/>
          <p:nvPr/>
        </p:nvSpPr>
        <p:spPr>
          <a:xfrm>
            <a:off x="5166360" y="3502152"/>
            <a:ext cx="3474720"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Summary of raster values (sum, mean, count) within each polygon.</a:t>
            </a:r>
            <a:endParaRPr lang="en-US" sz="950" dirty="0"/>
          </a:p>
        </p:txBody>
      </p:sp>
      <p:sp>
        <p:nvSpPr>
          <p:cNvPr id="57" name="Shape 46"/>
          <p:cNvSpPr/>
          <p:nvPr/>
        </p:nvSpPr>
        <p:spPr>
          <a:xfrm>
            <a:off x="457200" y="3886200"/>
            <a:ext cx="4023360" cy="548640"/>
          </a:xfrm>
          <a:prstGeom prst="roundRect">
            <a:avLst>
              <a:gd name="adj" fmla="val 13333"/>
            </a:avLst>
          </a:prstGeom>
          <a:solidFill>
            <a:srgbClr val="F4F7F5"/>
          </a:solidFill>
          <a:ln w="9525">
            <a:solidFill>
              <a:srgbClr val="D5DED9"/>
            </a:solidFill>
            <a:prstDash val="solid"/>
          </a:ln>
        </p:spPr>
      </p:sp>
      <p:sp>
        <p:nvSpPr>
          <p:cNvPr id="58" name="Shape 47"/>
          <p:cNvSpPr/>
          <p:nvPr/>
        </p:nvSpPr>
        <p:spPr>
          <a:xfrm>
            <a:off x="548640" y="4005072"/>
            <a:ext cx="310896" cy="310896"/>
          </a:xfrm>
          <a:prstGeom prst="ellipse">
            <a:avLst/>
          </a:prstGeom>
          <a:solidFill>
            <a:srgbClr val="00704A">
              <a:alpha val="22000"/>
            </a:srgbClr>
          </a:solidFill>
          <a:ln w="12700">
            <a:solidFill>
              <a:srgbClr val="00704A">
                <a:alpha val="0"/>
              </a:srgbClr>
            </a:solidFill>
            <a:prstDash val="solid"/>
          </a:ln>
        </p:spPr>
      </p:sp>
      <p:pic>
        <p:nvPicPr>
          <p:cNvPr id="59" name="Image 8" descr="preencoded.png"/>
          <p:cNvPicPr>
            <a:picLocks noChangeAspect="1"/>
          </p:cNvPicPr>
          <p:nvPr/>
        </p:nvPicPr>
        <p:blipFill>
          <a:blip r:embed="rId3"/>
          <a:stretch>
            <a:fillRect/>
          </a:stretch>
        </p:blipFill>
        <p:spPr>
          <a:xfrm>
            <a:off x="629473" y="4085905"/>
            <a:ext cx="149230" cy="149230"/>
          </a:xfrm>
          <a:prstGeom prst="rect">
            <a:avLst/>
          </a:prstGeom>
        </p:spPr>
      </p:pic>
      <p:sp>
        <p:nvSpPr>
          <p:cNvPr id="60" name="Text 48"/>
          <p:cNvSpPr txBox="1"/>
          <p:nvPr/>
        </p:nvSpPr>
        <p:spPr>
          <a:xfrm>
            <a:off x="960120" y="3931920"/>
            <a:ext cx="3429000" cy="201168"/>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Nadir</a:t>
            </a:r>
            <a:endParaRPr lang="en-US" sz="1100" dirty="0"/>
          </a:p>
        </p:txBody>
      </p:sp>
      <p:sp>
        <p:nvSpPr>
          <p:cNvPr id="61" name="Text 49"/>
          <p:cNvSpPr txBox="1"/>
          <p:nvPr/>
        </p:nvSpPr>
        <p:spPr>
          <a:xfrm>
            <a:off x="960120" y="4142232"/>
            <a:ext cx="3474720"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Point directly beneath the satellite, where the pixel footprint is smallest.</a:t>
            </a:r>
            <a:endParaRPr lang="en-US" sz="950" dirty="0"/>
          </a:p>
        </p:txBody>
      </p:sp>
      <p:sp>
        <p:nvSpPr>
          <p:cNvPr id="62" name="Shape 50"/>
          <p:cNvSpPr/>
          <p:nvPr/>
        </p:nvSpPr>
        <p:spPr>
          <a:xfrm>
            <a:off x="4663440" y="3886200"/>
            <a:ext cx="4023360" cy="548640"/>
          </a:xfrm>
          <a:prstGeom prst="roundRect">
            <a:avLst>
              <a:gd name="adj" fmla="val 13333"/>
            </a:avLst>
          </a:prstGeom>
          <a:solidFill>
            <a:srgbClr val="F4F7F5"/>
          </a:solidFill>
          <a:ln w="9525">
            <a:solidFill>
              <a:srgbClr val="D5DED9"/>
            </a:solidFill>
            <a:prstDash val="solid"/>
          </a:ln>
        </p:spPr>
      </p:sp>
      <p:sp>
        <p:nvSpPr>
          <p:cNvPr id="63" name="Shape 51"/>
          <p:cNvSpPr/>
          <p:nvPr/>
        </p:nvSpPr>
        <p:spPr>
          <a:xfrm>
            <a:off x="4754880" y="4005072"/>
            <a:ext cx="310896" cy="310896"/>
          </a:xfrm>
          <a:prstGeom prst="ellipse">
            <a:avLst/>
          </a:prstGeom>
          <a:solidFill>
            <a:srgbClr val="00704A">
              <a:alpha val="22000"/>
            </a:srgbClr>
          </a:solidFill>
          <a:ln w="12700">
            <a:solidFill>
              <a:srgbClr val="00704A">
                <a:alpha val="0"/>
              </a:srgbClr>
            </a:solidFill>
            <a:prstDash val="solid"/>
          </a:ln>
        </p:spPr>
      </p:sp>
      <p:pic>
        <p:nvPicPr>
          <p:cNvPr id="64" name="Image 9" descr="preencoded.png"/>
          <p:cNvPicPr>
            <a:picLocks noChangeAspect="1"/>
          </p:cNvPicPr>
          <p:nvPr/>
        </p:nvPicPr>
        <p:blipFill>
          <a:blip r:embed="rId3"/>
          <a:stretch>
            <a:fillRect/>
          </a:stretch>
        </p:blipFill>
        <p:spPr>
          <a:xfrm>
            <a:off x="4835713" y="4085905"/>
            <a:ext cx="149230" cy="149230"/>
          </a:xfrm>
          <a:prstGeom prst="rect">
            <a:avLst/>
          </a:prstGeom>
        </p:spPr>
      </p:pic>
      <p:sp>
        <p:nvSpPr>
          <p:cNvPr id="65" name="Text 52"/>
          <p:cNvSpPr txBox="1"/>
          <p:nvPr/>
        </p:nvSpPr>
        <p:spPr>
          <a:xfrm>
            <a:off x="5166360" y="3931920"/>
            <a:ext cx="3429000" cy="201168"/>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Skyglow</a:t>
            </a:r>
            <a:endParaRPr lang="en-US" sz="1100" dirty="0"/>
          </a:p>
        </p:txBody>
      </p:sp>
      <p:sp>
        <p:nvSpPr>
          <p:cNvPr id="66" name="Text 53"/>
          <p:cNvSpPr txBox="1"/>
          <p:nvPr/>
        </p:nvSpPr>
        <p:spPr>
          <a:xfrm>
            <a:off x="5166360" y="4142232"/>
            <a:ext cx="3474720"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Diffuse brightening of the night sky by artificial light scattered in the atmosphere.</a:t>
            </a:r>
            <a:endParaRPr lang="en-US" sz="9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APPENDIX · SOURCES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Selected references and data sources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36</a:t>
            </a:r>
            <a:endParaRPr lang="en-US" sz="850" dirty="0"/>
          </a:p>
        </p:txBody>
      </p:sp>
      <p:sp>
        <p:nvSpPr>
          <p:cNvPr id="17" name="Text 14"/>
          <p:cNvSpPr txBox="1"/>
          <p:nvPr/>
        </p:nvSpPr>
        <p:spPr>
          <a:xfrm>
            <a:off x="457200" y="1325880"/>
            <a:ext cx="5394960" cy="324612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Bruederle, A. &amp; Hodler, R. (2018). Nighttime lights as a proxy for human development at the local level. PLOS ONE, 13(9).</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Elvidge, C. D. et al. (2017). VIIRS night-time lights. International Journal of Remote Sensing, 38(21).</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Falchetta, G. et al. (2019). A high-resolution gridded dataset to assess electrification in sub-Saharan Africa. Scientific Data, 6.</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Henderson, J. V., Storeygard, A. &amp; Weil, D. N. (2012). Measuring economic growth from outer space. American Economic Review, 102(2).</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Kyba, C. et al. (2017). Artificially lit surface of Earth at night increasing in radiance and extent. Science Advances, 3(11).</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Kyba, C. et al. (2023). Citizen scientists report global rapid reductions in the visibility of stars. Science, 379.</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Li, X. &amp; Li, D. (2014). Can night-time light images play a role in evaluating the Syrian crisis? IJRS, 35(18).</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Li, X. et al. (2020). A harmonized global nighttime light dataset 1992–2018. Scientific Data, 7.</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Martinez, L. R. (2022). How much should we trust the dictator’s GDP growth estimates? Journal of Political Economy, 130(10).</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Román, M. O. et al. (2019). Satellite-based assessment of electricity restoration efforts in Puerto Rico after Hurricane Maria. PLOS ONE, 14(6).</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Román, M. O. et al. (2018). NASA’s Black Marble nighttime lights product suite. Remote Sensing of Environment, 210.</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Rural limits of conflict monitoring using nighttime lights (2025). Humanities and Social Sciences Communications.</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IEA, IRENA, UN DESA, World Bank, WHO (2026). Tracking SDG 7: The Energy Progress Report.</a:t>
            </a:r>
            <a:endParaRPr lang="en-US" sz="900" dirty="0"/>
          </a:p>
        </p:txBody>
      </p:sp>
      <p:sp>
        <p:nvSpPr>
          <p:cNvPr id="18" name="Shape 15"/>
          <p:cNvSpPr/>
          <p:nvPr/>
        </p:nvSpPr>
        <p:spPr>
          <a:xfrm>
            <a:off x="6080760" y="1325880"/>
            <a:ext cx="2606040" cy="3246120"/>
          </a:xfrm>
          <a:prstGeom prst="roundRect">
            <a:avLst>
              <a:gd name="adj" fmla="val 2807"/>
            </a:avLst>
          </a:prstGeom>
          <a:solidFill>
            <a:srgbClr val="E8F5EF"/>
          </a:solidFill>
          <a:ln w="15875">
            <a:solidFill>
              <a:srgbClr val="00A86A"/>
            </a:solidFill>
            <a:prstDash val="solid"/>
          </a:ln>
        </p:spPr>
      </p:sp>
      <p:sp>
        <p:nvSpPr>
          <p:cNvPr id="19" name="Text 16"/>
          <p:cNvSpPr txBox="1"/>
          <p:nvPr/>
        </p:nvSpPr>
        <p:spPr>
          <a:xfrm>
            <a:off x="6217920" y="1417320"/>
            <a:ext cx="2286000" cy="182880"/>
          </a:xfrm>
          <a:prstGeom prst="rect">
            <a:avLst/>
          </a:prstGeom>
          <a:noFill/>
          <a:ln/>
        </p:spPr>
        <p:txBody>
          <a:bodyPr wrap="square" lIns="0" tIns="0" rIns="0" bIns="0" rtlCol="0" anchor="t"/>
          <a:lstStyle/>
          <a:p>
            <a:pPr marL="0" indent="0">
              <a:buNone/>
            </a:pPr>
            <a:r>
              <a:rPr lang="en-US" sz="1000" b="1" kern="0" spc="200" dirty="0">
                <a:solidFill>
                  <a:srgbClr val="00704A"/>
                </a:solidFill>
                <a:latin typeface="Calibri" pitchFamily="34" charset="0"/>
                <a:ea typeface="Calibri" pitchFamily="34" charset="-122"/>
                <a:cs typeface="Calibri" pitchFamily="34" charset="-120"/>
              </a:rPr>
              <a:t>DATA &amp; TOOLS</a:t>
            </a:r>
            <a:endParaRPr lang="en-US" sz="1000" dirty="0"/>
          </a:p>
        </p:txBody>
      </p:sp>
      <p:sp>
        <p:nvSpPr>
          <p:cNvPr id="20" name="Shape 17"/>
          <p:cNvSpPr/>
          <p:nvPr/>
        </p:nvSpPr>
        <p:spPr>
          <a:xfrm>
            <a:off x="6217920" y="1719072"/>
            <a:ext cx="365760" cy="365760"/>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icPr>
            <a:picLocks noChangeAspect="1"/>
          </p:cNvPicPr>
          <p:nvPr/>
        </p:nvPicPr>
        <p:blipFill>
          <a:blip r:embed="rId3"/>
          <a:stretch>
            <a:fillRect/>
          </a:stretch>
        </p:blipFill>
        <p:spPr>
          <a:xfrm>
            <a:off x="6313018" y="1814170"/>
            <a:ext cx="175565" cy="175565"/>
          </a:xfrm>
          <a:prstGeom prst="rect">
            <a:avLst/>
          </a:prstGeom>
        </p:spPr>
      </p:pic>
      <p:sp>
        <p:nvSpPr>
          <p:cNvPr id="22" name="Text 18"/>
          <p:cNvSpPr txBox="1"/>
          <p:nvPr/>
        </p:nvSpPr>
        <p:spPr>
          <a:xfrm>
            <a:off x="6675120" y="1700784"/>
            <a:ext cx="1965960" cy="219456"/>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NASA Black Marble</a:t>
            </a:r>
            <a:endParaRPr lang="en-US" sz="1000" dirty="0"/>
          </a:p>
        </p:txBody>
      </p:sp>
      <p:sp>
        <p:nvSpPr>
          <p:cNvPr id="23" name="Text 19"/>
          <p:cNvSpPr txBox="1"/>
          <p:nvPr/>
        </p:nvSpPr>
        <p:spPr>
          <a:xfrm>
            <a:off x="6675120" y="1920240"/>
            <a:ext cx="196596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LAADS DAAC · Earthdata</a:t>
            </a:r>
            <a:endParaRPr lang="en-US" sz="900" dirty="0"/>
          </a:p>
        </p:txBody>
      </p:sp>
      <p:sp>
        <p:nvSpPr>
          <p:cNvPr id="24" name="Shape 20"/>
          <p:cNvSpPr/>
          <p:nvPr/>
        </p:nvSpPr>
        <p:spPr>
          <a:xfrm>
            <a:off x="6217920" y="2267712"/>
            <a:ext cx="365760" cy="365760"/>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icPr>
            <a:picLocks noChangeAspect="1"/>
          </p:cNvPicPr>
          <p:nvPr/>
        </p:nvPicPr>
        <p:blipFill>
          <a:blip r:embed="rId4"/>
          <a:stretch>
            <a:fillRect/>
          </a:stretch>
        </p:blipFill>
        <p:spPr>
          <a:xfrm>
            <a:off x="6313018" y="2362810"/>
            <a:ext cx="175565" cy="175565"/>
          </a:xfrm>
          <a:prstGeom prst="rect">
            <a:avLst/>
          </a:prstGeom>
        </p:spPr>
      </p:pic>
      <p:sp>
        <p:nvSpPr>
          <p:cNvPr id="26" name="Text 21"/>
          <p:cNvSpPr txBox="1"/>
          <p:nvPr/>
        </p:nvSpPr>
        <p:spPr>
          <a:xfrm>
            <a:off x="6675120" y="2249424"/>
            <a:ext cx="1965960" cy="219456"/>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Earth Observation Group</a:t>
            </a:r>
            <a:endParaRPr lang="en-US" sz="1000" dirty="0"/>
          </a:p>
        </p:txBody>
      </p:sp>
      <p:sp>
        <p:nvSpPr>
          <p:cNvPr id="27" name="Text 22"/>
          <p:cNvSpPr txBox="1"/>
          <p:nvPr/>
        </p:nvSpPr>
        <p:spPr>
          <a:xfrm>
            <a:off x="6675120" y="2468880"/>
            <a:ext cx="196596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VNL composites, Nightfire</a:t>
            </a:r>
            <a:endParaRPr lang="en-US" sz="900" dirty="0"/>
          </a:p>
        </p:txBody>
      </p:sp>
      <p:sp>
        <p:nvSpPr>
          <p:cNvPr id="28" name="Shape 23"/>
          <p:cNvSpPr/>
          <p:nvPr/>
        </p:nvSpPr>
        <p:spPr>
          <a:xfrm>
            <a:off x="6217920" y="2816352"/>
            <a:ext cx="365760" cy="365760"/>
          </a:xfrm>
          <a:prstGeom prst="ellipse">
            <a:avLst/>
          </a:prstGeom>
          <a:solidFill>
            <a:srgbClr val="00A86A">
              <a:alpha val="22000"/>
            </a:srgbClr>
          </a:solidFill>
          <a:ln w="12700">
            <a:solidFill>
              <a:srgbClr val="00A86A">
                <a:alpha val="0"/>
              </a:srgbClr>
            </a:solidFill>
            <a:prstDash val="solid"/>
          </a:ln>
        </p:spPr>
      </p:sp>
      <p:pic>
        <p:nvPicPr>
          <p:cNvPr id="29" name="Image 2" descr="preencoded.png"/>
          <p:cNvPicPr>
            <a:picLocks noChangeAspect="1"/>
          </p:cNvPicPr>
          <p:nvPr/>
        </p:nvPicPr>
        <p:blipFill>
          <a:blip r:embed="rId5"/>
          <a:stretch>
            <a:fillRect/>
          </a:stretch>
        </p:blipFill>
        <p:spPr>
          <a:xfrm>
            <a:off x="6313018" y="2911450"/>
            <a:ext cx="175565" cy="175565"/>
          </a:xfrm>
          <a:prstGeom prst="rect">
            <a:avLst/>
          </a:prstGeom>
        </p:spPr>
      </p:pic>
      <p:sp>
        <p:nvSpPr>
          <p:cNvPr id="30" name="Text 24"/>
          <p:cNvSpPr txBox="1"/>
          <p:nvPr/>
        </p:nvSpPr>
        <p:spPr>
          <a:xfrm>
            <a:off x="6675120" y="2798064"/>
            <a:ext cx="1965960" cy="219456"/>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Google Earth Engine</a:t>
            </a:r>
            <a:endParaRPr lang="en-US" sz="1000" dirty="0"/>
          </a:p>
        </p:txBody>
      </p:sp>
      <p:sp>
        <p:nvSpPr>
          <p:cNvPr id="31" name="Text 25"/>
          <p:cNvSpPr txBox="1"/>
          <p:nvPr/>
        </p:nvSpPr>
        <p:spPr>
          <a:xfrm>
            <a:off x="6675120" y="3017520"/>
            <a:ext cx="196596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Hosted, analysis-ready archive</a:t>
            </a:r>
            <a:endParaRPr lang="en-US" sz="900" dirty="0"/>
          </a:p>
        </p:txBody>
      </p:sp>
      <p:sp>
        <p:nvSpPr>
          <p:cNvPr id="32" name="Shape 26"/>
          <p:cNvSpPr/>
          <p:nvPr/>
        </p:nvSpPr>
        <p:spPr>
          <a:xfrm>
            <a:off x="6217920" y="3364992"/>
            <a:ext cx="365760" cy="365760"/>
          </a:xfrm>
          <a:prstGeom prst="ellipse">
            <a:avLst/>
          </a:prstGeom>
          <a:solidFill>
            <a:srgbClr val="00A86A">
              <a:alpha val="22000"/>
            </a:srgbClr>
          </a:solidFill>
          <a:ln w="12700">
            <a:solidFill>
              <a:srgbClr val="00A86A">
                <a:alpha val="0"/>
              </a:srgbClr>
            </a:solidFill>
            <a:prstDash val="solid"/>
          </a:ln>
        </p:spPr>
      </p:sp>
      <p:pic>
        <p:nvPicPr>
          <p:cNvPr id="33" name="Image 3" descr="preencoded.png"/>
          <p:cNvPicPr>
            <a:picLocks noChangeAspect="1"/>
          </p:cNvPicPr>
          <p:nvPr/>
        </p:nvPicPr>
        <p:blipFill>
          <a:blip r:embed="rId6"/>
          <a:stretch>
            <a:fillRect/>
          </a:stretch>
        </p:blipFill>
        <p:spPr>
          <a:xfrm>
            <a:off x="6313018" y="3460090"/>
            <a:ext cx="175565" cy="175565"/>
          </a:xfrm>
          <a:prstGeom prst="rect">
            <a:avLst/>
          </a:prstGeom>
        </p:spPr>
      </p:pic>
      <p:sp>
        <p:nvSpPr>
          <p:cNvPr id="34" name="Text 27"/>
          <p:cNvSpPr txBox="1"/>
          <p:nvPr/>
        </p:nvSpPr>
        <p:spPr>
          <a:xfrm>
            <a:off x="6675120" y="3346704"/>
            <a:ext cx="1965960" cy="219456"/>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HREA</a:t>
            </a:r>
            <a:endParaRPr lang="en-US" sz="1000" dirty="0"/>
          </a:p>
        </p:txBody>
      </p:sp>
      <p:sp>
        <p:nvSpPr>
          <p:cNvPr id="35" name="Text 28"/>
          <p:cNvSpPr txBox="1"/>
          <p:nvPr/>
        </p:nvSpPr>
        <p:spPr>
          <a:xfrm>
            <a:off x="6675120" y="3566160"/>
            <a:ext cx="196596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Settlement electricity access</a:t>
            </a:r>
            <a:endParaRPr lang="en-US" sz="900" dirty="0"/>
          </a:p>
        </p:txBody>
      </p:sp>
      <p:sp>
        <p:nvSpPr>
          <p:cNvPr id="36" name="Shape 29"/>
          <p:cNvSpPr/>
          <p:nvPr/>
        </p:nvSpPr>
        <p:spPr>
          <a:xfrm>
            <a:off x="6217920" y="3913632"/>
            <a:ext cx="365760" cy="365760"/>
          </a:xfrm>
          <a:prstGeom prst="ellipse">
            <a:avLst/>
          </a:prstGeom>
          <a:solidFill>
            <a:srgbClr val="00A86A">
              <a:alpha val="22000"/>
            </a:srgbClr>
          </a:solidFill>
          <a:ln w="12700">
            <a:solidFill>
              <a:srgbClr val="00A86A">
                <a:alpha val="0"/>
              </a:srgbClr>
            </a:solidFill>
            <a:prstDash val="solid"/>
          </a:ln>
        </p:spPr>
      </p:sp>
      <p:pic>
        <p:nvPicPr>
          <p:cNvPr id="37" name="Image 4" descr="preencoded.png"/>
          <p:cNvPicPr>
            <a:picLocks noChangeAspect="1"/>
          </p:cNvPicPr>
          <p:nvPr/>
        </p:nvPicPr>
        <p:blipFill>
          <a:blip r:embed="rId7"/>
          <a:stretch>
            <a:fillRect/>
          </a:stretch>
        </p:blipFill>
        <p:spPr>
          <a:xfrm>
            <a:off x="6313018" y="4008730"/>
            <a:ext cx="175565" cy="175565"/>
          </a:xfrm>
          <a:prstGeom prst="rect">
            <a:avLst/>
          </a:prstGeom>
        </p:spPr>
      </p:pic>
      <p:sp>
        <p:nvSpPr>
          <p:cNvPr id="38" name="Text 30"/>
          <p:cNvSpPr txBox="1"/>
          <p:nvPr/>
        </p:nvSpPr>
        <p:spPr>
          <a:xfrm>
            <a:off x="6675120" y="3895344"/>
            <a:ext cx="1965960" cy="219456"/>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World Bank Open Nighttime Lights</a:t>
            </a:r>
            <a:endParaRPr lang="en-US" sz="1000" dirty="0"/>
          </a:p>
        </p:txBody>
      </p:sp>
      <p:sp>
        <p:nvSpPr>
          <p:cNvPr id="39" name="Text 31"/>
          <p:cNvSpPr txBox="1"/>
          <p:nvPr/>
        </p:nvSpPr>
        <p:spPr>
          <a:xfrm>
            <a:off x="6675120" y="4114800"/>
            <a:ext cx="196596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Tutorials &amp; notebooks</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364</TotalTime>
  <Words>6846</Words>
  <Application>Microsoft Office PowerPoint</Application>
  <PresentationFormat>On-screen Show (16:9)</PresentationFormat>
  <Paragraphs>629</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African Development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Night-Time Lights: What the darkness tells us — AfDB – Data Innovation for Africa (DI4A)</dc:title>
  <dc:subject>PptxGenJS Presentation</dc:subject>
  <dc:creator>African Development Bank – Data Innovation for Africa (DI4A)</dc:creator>
  <cp:lastModifiedBy>HADJ TAIEB, MOHAMED ALI</cp:lastModifiedBy>
  <cp:revision>11</cp:revision>
  <dcterms:created xsi:type="dcterms:W3CDTF">2026-09-16T15:19:07Z</dcterms:created>
  <dcterms:modified xsi:type="dcterms:W3CDTF">2026-10-01T04:02:32Z</dcterms:modified>
</cp:coreProperties>
</file>