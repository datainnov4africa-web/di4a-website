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3.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4.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256" r:id="rId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Calibri"/>
              </a:defRPr>
            </a:pPr>
            <a:r>
              <a:rPr sz="1200" b="0" i="0" u="none" strike="noStrike">
                <a:solidFill>
                  <a:srgbClr val="00704A"/>
                </a:solidFill>
                <a:latin typeface="Calibri"/>
              </a:rPr>
              <a:t>Sensor response as surface brightness rises (schematic)</a:t>
            </a:r>
          </a:p>
        </c:rich>
      </c:tx>
      <c:overlay val="0"/>
    </c:title>
    <c:autoTitleDeleted val="0"/>
    <c:plotArea>
      <c:layout/>
      <c:lineChart>
        <c:grouping val="standard"/>
        <c:varyColors val="0"/>
        <c:ser>
          <c:idx val="0"/>
          <c:order val="0"/>
          <c:tx>
            <c:strRef>
              <c:f>Sheet1!$B$1</c:f>
              <c:strCache>
                <c:ptCount val="1"/>
                <c:pt idx="0">
                  <c:v>DMSP-OLS (6-bit)</c:v>
                </c:pt>
              </c:strCache>
            </c:strRef>
          </c:tx>
          <c:spPr>
            <a:ln w="38100" cap="flat">
              <a:solidFill>
                <a:srgbClr val="8A959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7437-4ACA-85BE-54C3CFB4F577}"/>
            </c:ext>
          </c:extLst>
        </c:ser>
        <c:ser>
          <c:idx val="1"/>
          <c:order val="1"/>
          <c:tx>
            <c:strRef>
              <c:f>Sheet1!$C$1</c:f>
              <c:strCache>
                <c:ptCount val="1"/>
                <c:pt idx="0">
                  <c:v>VIIRS DNB (14-bit)</c:v>
                </c:pt>
              </c:strCache>
            </c:strRef>
          </c:tx>
          <c:spPr>
            <a:ln w="38100" cap="flat">
              <a:solidFill>
                <a:srgbClr val="00704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7437-4ACA-85BE-54C3CFB4F577}"/>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Surface brightness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Recorded value (% of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Cloud-free nights per month (schematic)</a:t>
            </a:r>
          </a:p>
        </c:rich>
      </c:tx>
      <c:overlay val="0"/>
    </c:title>
    <c:autoTitleDeleted val="0"/>
    <c:plotArea>
      <c:layout/>
      <c:barChart>
        <c:barDir val="col"/>
        <c:grouping val="clustered"/>
        <c:varyColors val="0"/>
        <c:ser>
          <c:idx val="0"/>
          <c:order val="0"/>
          <c:tx>
            <c:strRef>
              <c:f>Sheet1!$B$1</c:f>
              <c:strCache>
                <c:ptCount val="1"/>
                <c:pt idx="0">
                  <c:v>Sahelian location</c:v>
                </c:pt>
              </c:strCache>
            </c:strRef>
          </c:tx>
          <c:spPr>
            <a:solidFill>
              <a:srgbClr val="00A86A"/>
            </a:solidFill>
            <a:effectLst/>
          </c:spPr>
          <c:invertIfNegative val="0"/>
          <c:cat>
            <c:strRef>
              <c:f>Sheet1!$A$2:$A$13</c:f>
              <c:strCache>
                <c:ptCount val="12"/>
                <c:pt idx="0">
                  <c:v>J</c:v>
                </c:pt>
                <c:pt idx="1">
                  <c:v>F</c:v>
                </c:pt>
                <c:pt idx="2">
                  <c:v>M</c:v>
                </c:pt>
                <c:pt idx="3">
                  <c:v>A</c:v>
                </c:pt>
                <c:pt idx="4">
                  <c:v>M</c:v>
                </c:pt>
                <c:pt idx="5">
                  <c:v>J</c:v>
                </c:pt>
                <c:pt idx="6">
                  <c:v>J</c:v>
                </c:pt>
                <c:pt idx="7">
                  <c:v>A</c:v>
                </c:pt>
                <c:pt idx="8">
                  <c:v>S</c:v>
                </c:pt>
                <c:pt idx="9">
                  <c:v>O</c:v>
                </c:pt>
                <c:pt idx="10">
                  <c:v>N</c:v>
                </c:pt>
                <c:pt idx="11">
                  <c:v>D</c:v>
                </c:pt>
              </c:strCache>
            </c:strRef>
          </c:cat>
          <c:val>
            <c:numRef>
              <c:f>Sheet1!$B$2:$B$13</c:f>
              <c:numCache>
                <c:formatCode>General</c:formatCode>
                <c:ptCount val="12"/>
                <c:pt idx="0">
                  <c:v>24</c:v>
                </c:pt>
                <c:pt idx="1">
                  <c:v>23</c:v>
                </c:pt>
                <c:pt idx="2">
                  <c:v>25</c:v>
                </c:pt>
                <c:pt idx="3">
                  <c:v>24</c:v>
                </c:pt>
                <c:pt idx="4">
                  <c:v>22</c:v>
                </c:pt>
                <c:pt idx="5">
                  <c:v>18</c:v>
                </c:pt>
                <c:pt idx="6">
                  <c:v>12</c:v>
                </c:pt>
                <c:pt idx="7">
                  <c:v>10</c:v>
                </c:pt>
                <c:pt idx="8">
                  <c:v>14</c:v>
                </c:pt>
                <c:pt idx="9">
                  <c:v>21</c:v>
                </c:pt>
                <c:pt idx="10">
                  <c:v>24</c:v>
                </c:pt>
                <c:pt idx="11">
                  <c:v>25</c:v>
                </c:pt>
              </c:numCache>
            </c:numRef>
          </c:val>
          <c:extLst>
            <c:ext xmlns:c16="http://schemas.microsoft.com/office/drawing/2014/chart" uri="{C3380CC4-5D6E-409C-BE32-E72D297353CC}">
              <c16:uniqueId val="{00000000-F630-4B8E-A98C-BB26DDF97168}"/>
            </c:ext>
          </c:extLst>
        </c:ser>
        <c:ser>
          <c:idx val="1"/>
          <c:order val="1"/>
          <c:tx>
            <c:strRef>
              <c:f>Sheet1!$C$1</c:f>
              <c:strCache>
                <c:ptCount val="1"/>
                <c:pt idx="0">
                  <c:v>Gulf of Guinea coast</c:v>
                </c:pt>
              </c:strCache>
            </c:strRef>
          </c:tx>
          <c:spPr>
            <a:solidFill>
              <a:srgbClr val="F5C242"/>
            </a:solidFill>
            <a:effectLst/>
          </c:spPr>
          <c:invertIfNegative val="0"/>
          <c:cat>
            <c:strRef>
              <c:f>Sheet1!$A$2:$A$13</c:f>
              <c:strCache>
                <c:ptCount val="12"/>
                <c:pt idx="0">
                  <c:v>J</c:v>
                </c:pt>
                <c:pt idx="1">
                  <c:v>F</c:v>
                </c:pt>
                <c:pt idx="2">
                  <c:v>M</c:v>
                </c:pt>
                <c:pt idx="3">
                  <c:v>A</c:v>
                </c:pt>
                <c:pt idx="4">
                  <c:v>M</c:v>
                </c:pt>
                <c:pt idx="5">
                  <c:v>J</c:v>
                </c:pt>
                <c:pt idx="6">
                  <c:v>J</c:v>
                </c:pt>
                <c:pt idx="7">
                  <c:v>A</c:v>
                </c:pt>
                <c:pt idx="8">
                  <c:v>S</c:v>
                </c:pt>
                <c:pt idx="9">
                  <c:v>O</c:v>
                </c:pt>
                <c:pt idx="10">
                  <c:v>N</c:v>
                </c:pt>
                <c:pt idx="11">
                  <c:v>D</c:v>
                </c:pt>
              </c:strCache>
            </c:strRef>
          </c:cat>
          <c:val>
            <c:numRef>
              <c:f>Sheet1!$C$2:$C$13</c:f>
              <c:numCache>
                <c:formatCode>General</c:formatCode>
                <c:ptCount val="12"/>
                <c:pt idx="0">
                  <c:v>16</c:v>
                </c:pt>
                <c:pt idx="1">
                  <c:v>14</c:v>
                </c:pt>
                <c:pt idx="2">
                  <c:v>11</c:v>
                </c:pt>
                <c:pt idx="3">
                  <c:v>9</c:v>
                </c:pt>
                <c:pt idx="4">
                  <c:v>7</c:v>
                </c:pt>
                <c:pt idx="5">
                  <c:v>4</c:v>
                </c:pt>
                <c:pt idx="6">
                  <c:v>3</c:v>
                </c:pt>
                <c:pt idx="7">
                  <c:v>4</c:v>
                </c:pt>
                <c:pt idx="8">
                  <c:v>5</c:v>
                </c:pt>
                <c:pt idx="9">
                  <c:v>7</c:v>
                </c:pt>
                <c:pt idx="10">
                  <c:v>11</c:v>
                </c:pt>
                <c:pt idx="11">
                  <c:v>15</c:v>
                </c:pt>
              </c:numCache>
            </c:numRef>
          </c:val>
          <c:extLst>
            <c:ext xmlns:c16="http://schemas.microsoft.com/office/drawing/2014/chart" uri="{C3380CC4-5D6E-409C-BE32-E72D297353CC}">
              <c16:uniqueId val="{00000001-F630-4B8E-A98C-BB26DDF97168}"/>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valid nights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Monthly Sum of Lights, index (illustrative)</a:t>
            </a:r>
          </a:p>
        </c:rich>
      </c:tx>
      <c:overlay val="0"/>
    </c:title>
    <c:autoTitleDeleted val="0"/>
    <c:plotArea>
      <c:layout/>
      <c:lineChart>
        <c:grouping val="standard"/>
        <c:varyColors val="0"/>
        <c:ser>
          <c:idx val="0"/>
          <c:order val="0"/>
          <c:tx>
            <c:strRef>
              <c:f>Sheet1!$B$1</c:f>
              <c:strCache>
                <c:ptCount val="1"/>
                <c:pt idx="0">
                  <c:v>Raw monthly SOL</c:v>
                </c:pt>
              </c:strCache>
            </c:strRef>
          </c:tx>
          <c:spPr>
            <a:ln w="31750" cap="flat">
              <a:solidFill>
                <a:srgbClr val="BAC4BF"/>
              </a:solidFill>
              <a:prstDash val="solid"/>
              <a:round/>
            </a:ln>
            <a:effectLst/>
          </c:spPr>
          <c:marker>
            <c:symbol val="none"/>
          </c:marker>
          <c:cat>
            <c:strRef>
              <c:f>Sheet1!$A$2:$A$37</c:f>
              <c:strCache>
                <c:ptCount val="36"/>
                <c:pt idx="0">
                  <c:v>2023-01</c:v>
                </c:pt>
                <c:pt idx="1">
                  <c:v>02</c:v>
                </c:pt>
                <c:pt idx="2">
                  <c:v>03</c:v>
                </c:pt>
                <c:pt idx="3">
                  <c:v>04</c:v>
                </c:pt>
                <c:pt idx="4">
                  <c:v>05</c:v>
                </c:pt>
                <c:pt idx="5">
                  <c:v>06</c:v>
                </c:pt>
                <c:pt idx="6">
                  <c:v>07</c:v>
                </c:pt>
                <c:pt idx="7">
                  <c:v>08</c:v>
                </c:pt>
                <c:pt idx="8">
                  <c:v>09</c:v>
                </c:pt>
                <c:pt idx="9">
                  <c:v>10</c:v>
                </c:pt>
                <c:pt idx="10">
                  <c:v>11</c:v>
                </c:pt>
                <c:pt idx="11">
                  <c:v>12</c:v>
                </c:pt>
                <c:pt idx="12">
                  <c:v>2024-01</c:v>
                </c:pt>
                <c:pt idx="13">
                  <c:v>02</c:v>
                </c:pt>
                <c:pt idx="14">
                  <c:v>03</c:v>
                </c:pt>
                <c:pt idx="15">
                  <c:v>04</c:v>
                </c:pt>
                <c:pt idx="16">
                  <c:v>05</c:v>
                </c:pt>
                <c:pt idx="17">
                  <c:v>06</c:v>
                </c:pt>
                <c:pt idx="18">
                  <c:v>07</c:v>
                </c:pt>
                <c:pt idx="19">
                  <c:v>08</c:v>
                </c:pt>
                <c:pt idx="20">
                  <c:v>09</c:v>
                </c:pt>
                <c:pt idx="21">
                  <c:v>10</c:v>
                </c:pt>
                <c:pt idx="22">
                  <c:v>11</c:v>
                </c:pt>
                <c:pt idx="23">
                  <c:v>12</c:v>
                </c:pt>
                <c:pt idx="24">
                  <c:v>2025-01</c:v>
                </c:pt>
                <c:pt idx="25">
                  <c:v>02</c:v>
                </c:pt>
                <c:pt idx="26">
                  <c:v>03</c:v>
                </c:pt>
                <c:pt idx="27">
                  <c:v>04</c:v>
                </c:pt>
                <c:pt idx="28">
                  <c:v>05</c:v>
                </c:pt>
                <c:pt idx="29">
                  <c:v>06</c:v>
                </c:pt>
                <c:pt idx="30">
                  <c:v>07</c:v>
                </c:pt>
                <c:pt idx="31">
                  <c:v>08</c:v>
                </c:pt>
                <c:pt idx="32">
                  <c:v>09</c:v>
                </c:pt>
                <c:pt idx="33">
                  <c:v>10</c:v>
                </c:pt>
                <c:pt idx="34">
                  <c:v>11</c:v>
                </c:pt>
                <c:pt idx="35">
                  <c:v>12</c:v>
                </c:pt>
              </c:strCache>
            </c:strRef>
          </c:cat>
          <c:val>
            <c:numRef>
              <c:f>Sheet1!$B$2:$B$37</c:f>
              <c:numCache>
                <c:formatCode>General</c:formatCode>
                <c:ptCount val="36"/>
                <c:pt idx="0">
                  <c:v>100</c:v>
                </c:pt>
                <c:pt idx="1">
                  <c:v>98.3</c:v>
                </c:pt>
                <c:pt idx="2">
                  <c:v>101.6</c:v>
                </c:pt>
                <c:pt idx="3">
                  <c:v>103.9</c:v>
                </c:pt>
                <c:pt idx="4">
                  <c:v>100.2</c:v>
                </c:pt>
                <c:pt idx="5">
                  <c:v>93.3</c:v>
                </c:pt>
                <c:pt idx="6">
                  <c:v>76.099999999999994</c:v>
                </c:pt>
                <c:pt idx="7">
                  <c:v>78.099999999999994</c:v>
                </c:pt>
                <c:pt idx="8">
                  <c:v>98.2</c:v>
                </c:pt>
                <c:pt idx="9">
                  <c:v>104.7</c:v>
                </c:pt>
                <c:pt idx="10">
                  <c:v>107</c:v>
                </c:pt>
                <c:pt idx="11">
                  <c:v>110.4</c:v>
                </c:pt>
                <c:pt idx="12">
                  <c:v>103.5</c:v>
                </c:pt>
                <c:pt idx="13">
                  <c:v>101.7</c:v>
                </c:pt>
                <c:pt idx="14">
                  <c:v>105.1</c:v>
                </c:pt>
                <c:pt idx="15">
                  <c:v>126.9</c:v>
                </c:pt>
                <c:pt idx="16">
                  <c:v>122.3</c:v>
                </c:pt>
                <c:pt idx="17">
                  <c:v>113.9</c:v>
                </c:pt>
                <c:pt idx="18">
                  <c:v>64.8</c:v>
                </c:pt>
                <c:pt idx="19">
                  <c:v>66.5</c:v>
                </c:pt>
                <c:pt idx="20">
                  <c:v>101.6</c:v>
                </c:pt>
                <c:pt idx="21">
                  <c:v>108.2</c:v>
                </c:pt>
                <c:pt idx="22">
                  <c:v>110.7</c:v>
                </c:pt>
                <c:pt idx="23">
                  <c:v>114.2</c:v>
                </c:pt>
                <c:pt idx="24">
                  <c:v>107</c:v>
                </c:pt>
                <c:pt idx="25">
                  <c:v>105.1</c:v>
                </c:pt>
                <c:pt idx="26">
                  <c:v>108.7</c:v>
                </c:pt>
                <c:pt idx="27">
                  <c:v>111.1</c:v>
                </c:pt>
                <c:pt idx="28">
                  <c:v>107.1</c:v>
                </c:pt>
                <c:pt idx="29">
                  <c:v>99.8</c:v>
                </c:pt>
                <c:pt idx="30">
                  <c:v>81.3</c:v>
                </c:pt>
                <c:pt idx="31">
                  <c:v>83.4</c:v>
                </c:pt>
                <c:pt idx="32">
                  <c:v>105</c:v>
                </c:pt>
                <c:pt idx="33">
                  <c:v>111.8</c:v>
                </c:pt>
                <c:pt idx="34">
                  <c:v>114.3</c:v>
                </c:pt>
                <c:pt idx="35">
                  <c:v>117.9</c:v>
                </c:pt>
              </c:numCache>
            </c:numRef>
          </c:val>
          <c:smooth val="0"/>
          <c:extLst>
            <c:ext xmlns:c16="http://schemas.microsoft.com/office/drawing/2014/chart" uri="{C3380CC4-5D6E-409C-BE32-E72D297353CC}">
              <c16:uniqueId val="{00000000-2952-4CDF-A4AB-22C410FE95B3}"/>
            </c:ext>
          </c:extLst>
        </c:ser>
        <c:ser>
          <c:idx val="1"/>
          <c:order val="1"/>
          <c:tx>
            <c:strRef>
              <c:f>Sheet1!$C$1</c:f>
              <c:strCache>
                <c:ptCount val="1"/>
                <c:pt idx="0">
                  <c:v>Masked &amp; quality-filtered</c:v>
                </c:pt>
              </c:strCache>
            </c:strRef>
          </c:tx>
          <c:spPr>
            <a:ln w="31750" cap="flat">
              <a:solidFill>
                <a:srgbClr val="00704A"/>
              </a:solidFill>
              <a:prstDash val="solid"/>
              <a:round/>
            </a:ln>
            <a:effectLst/>
          </c:spPr>
          <c:marker>
            <c:symbol val="none"/>
          </c:marker>
          <c:cat>
            <c:strRef>
              <c:f>Sheet1!$A$2:$A$37</c:f>
              <c:strCache>
                <c:ptCount val="36"/>
                <c:pt idx="0">
                  <c:v>2023-01</c:v>
                </c:pt>
                <c:pt idx="1">
                  <c:v>02</c:v>
                </c:pt>
                <c:pt idx="2">
                  <c:v>03</c:v>
                </c:pt>
                <c:pt idx="3">
                  <c:v>04</c:v>
                </c:pt>
                <c:pt idx="4">
                  <c:v>05</c:v>
                </c:pt>
                <c:pt idx="5">
                  <c:v>06</c:v>
                </c:pt>
                <c:pt idx="6">
                  <c:v>07</c:v>
                </c:pt>
                <c:pt idx="7">
                  <c:v>08</c:v>
                </c:pt>
                <c:pt idx="8">
                  <c:v>09</c:v>
                </c:pt>
                <c:pt idx="9">
                  <c:v>10</c:v>
                </c:pt>
                <c:pt idx="10">
                  <c:v>11</c:v>
                </c:pt>
                <c:pt idx="11">
                  <c:v>12</c:v>
                </c:pt>
                <c:pt idx="12">
                  <c:v>2024-01</c:v>
                </c:pt>
                <c:pt idx="13">
                  <c:v>02</c:v>
                </c:pt>
                <c:pt idx="14">
                  <c:v>03</c:v>
                </c:pt>
                <c:pt idx="15">
                  <c:v>04</c:v>
                </c:pt>
                <c:pt idx="16">
                  <c:v>05</c:v>
                </c:pt>
                <c:pt idx="17">
                  <c:v>06</c:v>
                </c:pt>
                <c:pt idx="18">
                  <c:v>07</c:v>
                </c:pt>
                <c:pt idx="19">
                  <c:v>08</c:v>
                </c:pt>
                <c:pt idx="20">
                  <c:v>09</c:v>
                </c:pt>
                <c:pt idx="21">
                  <c:v>10</c:v>
                </c:pt>
                <c:pt idx="22">
                  <c:v>11</c:v>
                </c:pt>
                <c:pt idx="23">
                  <c:v>12</c:v>
                </c:pt>
                <c:pt idx="24">
                  <c:v>2025-01</c:v>
                </c:pt>
                <c:pt idx="25">
                  <c:v>02</c:v>
                </c:pt>
                <c:pt idx="26">
                  <c:v>03</c:v>
                </c:pt>
                <c:pt idx="27">
                  <c:v>04</c:v>
                </c:pt>
                <c:pt idx="28">
                  <c:v>05</c:v>
                </c:pt>
                <c:pt idx="29">
                  <c:v>06</c:v>
                </c:pt>
                <c:pt idx="30">
                  <c:v>07</c:v>
                </c:pt>
                <c:pt idx="31">
                  <c:v>08</c:v>
                </c:pt>
                <c:pt idx="32">
                  <c:v>09</c:v>
                </c:pt>
                <c:pt idx="33">
                  <c:v>10</c:v>
                </c:pt>
                <c:pt idx="34">
                  <c:v>11</c:v>
                </c:pt>
                <c:pt idx="35">
                  <c:v>12</c:v>
                </c:pt>
              </c:strCache>
            </c:strRef>
          </c:cat>
          <c:val>
            <c:numRef>
              <c:f>Sheet1!$C$2:$C$37</c:f>
              <c:numCache>
                <c:formatCode>General</c:formatCode>
                <c:ptCount val="36"/>
                <c:pt idx="0">
                  <c:v>100</c:v>
                </c:pt>
                <c:pt idx="1">
                  <c:v>98.3</c:v>
                </c:pt>
                <c:pt idx="2">
                  <c:v>101.6</c:v>
                </c:pt>
                <c:pt idx="3">
                  <c:v>103.9</c:v>
                </c:pt>
                <c:pt idx="4">
                  <c:v>100.2</c:v>
                </c:pt>
                <c:pt idx="5">
                  <c:v>93.3</c:v>
                </c:pt>
                <c:pt idx="6">
                  <c:v>89.5</c:v>
                </c:pt>
                <c:pt idx="7">
                  <c:v>91.8</c:v>
                </c:pt>
                <c:pt idx="8">
                  <c:v>98.2</c:v>
                </c:pt>
                <c:pt idx="9">
                  <c:v>104.7</c:v>
                </c:pt>
                <c:pt idx="10">
                  <c:v>107</c:v>
                </c:pt>
                <c:pt idx="11">
                  <c:v>110.4</c:v>
                </c:pt>
                <c:pt idx="12">
                  <c:v>103.5</c:v>
                </c:pt>
                <c:pt idx="13">
                  <c:v>101.7</c:v>
                </c:pt>
                <c:pt idx="14">
                  <c:v>105.1</c:v>
                </c:pt>
                <c:pt idx="15">
                  <c:v>107.5</c:v>
                </c:pt>
                <c:pt idx="16">
                  <c:v>103.6</c:v>
                </c:pt>
                <c:pt idx="17">
                  <c:v>96.6</c:v>
                </c:pt>
                <c:pt idx="18">
                  <c:v>92.6</c:v>
                </c:pt>
                <c:pt idx="19">
                  <c:v>95</c:v>
                </c:pt>
                <c:pt idx="20">
                  <c:v>101.6</c:v>
                </c:pt>
                <c:pt idx="21">
                  <c:v>108.2</c:v>
                </c:pt>
                <c:pt idx="22">
                  <c:v>110.7</c:v>
                </c:pt>
                <c:pt idx="23">
                  <c:v>114.2</c:v>
                </c:pt>
                <c:pt idx="24">
                  <c:v>107</c:v>
                </c:pt>
                <c:pt idx="25">
                  <c:v>105.1</c:v>
                </c:pt>
                <c:pt idx="26">
                  <c:v>108.7</c:v>
                </c:pt>
                <c:pt idx="27">
                  <c:v>111.1</c:v>
                </c:pt>
                <c:pt idx="28">
                  <c:v>107.1</c:v>
                </c:pt>
                <c:pt idx="29">
                  <c:v>99.8</c:v>
                </c:pt>
                <c:pt idx="30">
                  <c:v>95.7</c:v>
                </c:pt>
                <c:pt idx="31">
                  <c:v>98.1</c:v>
                </c:pt>
                <c:pt idx="32">
                  <c:v>105</c:v>
                </c:pt>
                <c:pt idx="33">
                  <c:v>111.8</c:v>
                </c:pt>
                <c:pt idx="34">
                  <c:v>114.3</c:v>
                </c:pt>
                <c:pt idx="35">
                  <c:v>117.9</c:v>
                </c:pt>
              </c:numCache>
            </c:numRef>
          </c:val>
          <c:smooth val="0"/>
          <c:extLst>
            <c:ext xmlns:c16="http://schemas.microsoft.com/office/drawing/2014/chart" uri="{C3380CC4-5D6E-409C-BE32-E72D297353CC}">
              <c16:uniqueId val="{00000001-2952-4CDF-A4AB-22C410FE95B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130"/>
          <c:min val="60"/>
        </c:scaling>
        <c:delete val="0"/>
        <c:axPos val="l"/>
        <c:majorGridlines>
          <c:spPr>
            <a:ln w="6350" cap="flat">
              <a:solidFill>
                <a:srgbClr val="E3E9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between"/>
      </c:valAx>
      <c:spPr>
        <a:noFill/>
        <a:ln>
          <a:noFill/>
        </a:ln>
        <a:effectLst/>
      </c:spPr>
    </c:plotArea>
    <c:legend>
      <c:legendPos val="b"/>
      <c:overlay val="0"/>
      <c:txPr>
        <a:bodyPr/>
        <a:lstStyle/>
        <a:p>
          <a:pPr>
            <a:defRPr sz="1100"/>
          </a:pPr>
          <a:endParaRPr lang="fr-FR"/>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704A"/>
                </a:solidFill>
                <a:latin typeface="Arial"/>
              </a:defRPr>
            </a:pPr>
            <a:r>
              <a:rPr sz="1100" b="0" i="0" u="none" strike="noStrike">
                <a:solidFill>
                  <a:srgbClr val="00704A"/>
                </a:solidFill>
                <a:latin typeface="Arial"/>
              </a:rPr>
              <a:t>Rural sub-Saharan Africa without electricity (millions)</a:t>
            </a:r>
          </a:p>
        </c:rich>
      </c:tx>
      <c:overlay val="0"/>
    </c:title>
    <c:autoTitleDeleted val="0"/>
    <c:plotArea>
      <c:layout/>
      <c:barChart>
        <c:barDir val="col"/>
        <c:grouping val="clustered"/>
        <c:varyColors val="0"/>
        <c:ser>
          <c:idx val="0"/>
          <c:order val="0"/>
          <c:tx>
            <c:strRef>
              <c:f>Sheet1!$B$1</c:f>
              <c:strCache>
                <c:ptCount val="1"/>
                <c:pt idx="0">
                  <c:v>Rural SSA without electricity (millions)</c:v>
                </c:pt>
              </c:strCache>
            </c:strRef>
          </c:tx>
          <c:spPr>
            <a:solidFill>
              <a:srgbClr val="8A9590"/>
            </a:solidFill>
            <a:effectLst/>
          </c:spPr>
          <c:invertIfNegative val="0"/>
          <c:dPt>
            <c:idx val="0"/>
            <c:invertIfNegative val="0"/>
            <c:bubble3D val="0"/>
            <c:extLst>
              <c:ext xmlns:c16="http://schemas.microsoft.com/office/drawing/2014/chart" uri="{C3380CC4-5D6E-409C-BE32-E72D297353CC}">
                <c16:uniqueId val="{00000001-C970-44C4-BDE3-8566A0B7D8A0}"/>
              </c:ext>
            </c:extLst>
          </c:dPt>
          <c:dPt>
            <c:idx val="1"/>
            <c:invertIfNegative val="0"/>
            <c:bubble3D val="0"/>
            <c:spPr>
              <a:solidFill>
                <a:srgbClr val="B83B2E"/>
              </a:solidFill>
              <a:effectLst/>
            </c:spPr>
            <c:extLst>
              <c:ext xmlns:c16="http://schemas.microsoft.com/office/drawing/2014/chart" uri="{C3380CC4-5D6E-409C-BE32-E72D297353CC}">
                <c16:uniqueId val="{00000003-C970-44C4-BDE3-8566A0B7D8A0}"/>
              </c:ext>
            </c:extLst>
          </c:dPt>
          <c:dLbls>
            <c:numFmt formatCode="#,##0" sourceLinked="0"/>
            <c:spPr>
              <a:noFill/>
              <a:ln>
                <a:noFill/>
              </a:ln>
              <a:effectLst/>
            </c:spPr>
            <c:txPr>
              <a:bodyPr/>
              <a:lstStyle/>
              <a:p>
                <a:pPr>
                  <a:defRPr sz="1200" b="1"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C970-44C4-BDE3-8566A0B7D8A0}"/>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Levels: log GDP vs log Sum of Lights</a:t>
            </a:r>
          </a:p>
        </c:rich>
      </c:tx>
      <c:overlay val="0"/>
    </c:title>
    <c:autoTitleDeleted val="0"/>
    <c:plotArea>
      <c:layout/>
      <c:scatterChart>
        <c:scatterStyle val="lineMarker"/>
        <c:varyColors val="0"/>
        <c:ser>
          <c:idx val="0"/>
          <c:order val="0"/>
          <c:tx>
            <c:strRef>
              <c:f>Sheet1!$B$1</c:f>
              <c:strCache>
                <c:ptCount val="1"/>
                <c:pt idx="0">
                  <c:v>regions</c:v>
                </c:pt>
              </c:strCache>
            </c:strRef>
          </c:tx>
          <c:spPr>
            <a:ln>
              <a:noFill/>
            </a:ln>
            <a:effectLst/>
          </c:spPr>
          <c:marker>
            <c:symbol val="circle"/>
            <c:size val="9"/>
            <c:spPr>
              <a:solidFill>
                <a:srgbClr val="00704A"/>
              </a:solidFill>
              <a:ln w="9525" cap="flat">
                <a:solidFill>
                  <a:srgbClr val="00704A"/>
                </a:solidFill>
                <a:prstDash val="solid"/>
                <a:round/>
              </a:ln>
              <a:effectLst/>
            </c:spPr>
          </c:marker>
          <c:xVal>
            <c:numRef>
              <c:f>Sheet1!$A$2:$A$15</c:f>
              <c:numCache>
                <c:formatCode>General</c:formatCode>
                <c:ptCount val="14"/>
                <c:pt idx="0">
                  <c:v>1.2</c:v>
                </c:pt>
                <c:pt idx="1">
                  <c:v>1.8</c:v>
                </c:pt>
                <c:pt idx="2">
                  <c:v>2.2999999999999998</c:v>
                </c:pt>
                <c:pt idx="3">
                  <c:v>2.9</c:v>
                </c:pt>
                <c:pt idx="4">
                  <c:v>3.3</c:v>
                </c:pt>
                <c:pt idx="5">
                  <c:v>3.8</c:v>
                </c:pt>
                <c:pt idx="6">
                  <c:v>4.4000000000000004</c:v>
                </c:pt>
                <c:pt idx="7">
                  <c:v>4.9000000000000004</c:v>
                </c:pt>
                <c:pt idx="8">
                  <c:v>5.5</c:v>
                </c:pt>
                <c:pt idx="9">
                  <c:v>6.1</c:v>
                </c:pt>
                <c:pt idx="10">
                  <c:v>2</c:v>
                </c:pt>
                <c:pt idx="11">
                  <c:v>4</c:v>
                </c:pt>
                <c:pt idx="12">
                  <c:v>5.2</c:v>
                </c:pt>
                <c:pt idx="13">
                  <c:v>3</c:v>
                </c:pt>
              </c:numCache>
            </c:numRef>
          </c:xVal>
          <c:yVal>
            <c:numRef>
              <c:f>Sheet1!$B$2:$B$15</c:f>
              <c:numCache>
                <c:formatCode>General</c:formatCode>
                <c:ptCount val="14"/>
                <c:pt idx="0">
                  <c:v>1.5</c:v>
                </c:pt>
                <c:pt idx="1">
                  <c:v>1.9</c:v>
                </c:pt>
                <c:pt idx="2">
                  <c:v>2.6</c:v>
                </c:pt>
                <c:pt idx="3">
                  <c:v>2.8</c:v>
                </c:pt>
                <c:pt idx="4">
                  <c:v>3.5</c:v>
                </c:pt>
                <c:pt idx="5">
                  <c:v>3.6</c:v>
                </c:pt>
                <c:pt idx="6">
                  <c:v>4.5999999999999996</c:v>
                </c:pt>
                <c:pt idx="7">
                  <c:v>4.7</c:v>
                </c:pt>
                <c:pt idx="8">
                  <c:v>5.9</c:v>
                </c:pt>
                <c:pt idx="9">
                  <c:v>5.8</c:v>
                </c:pt>
                <c:pt idx="10">
                  <c:v>2.9</c:v>
                </c:pt>
                <c:pt idx="11">
                  <c:v>3.2</c:v>
                </c:pt>
                <c:pt idx="12">
                  <c:v>5</c:v>
                </c:pt>
                <c:pt idx="13">
                  <c:v>3.4</c:v>
                </c:pt>
              </c:numCache>
            </c:numRef>
          </c:yVal>
          <c:smooth val="0"/>
          <c:extLst>
            <c:ext xmlns:c16="http://schemas.microsoft.com/office/drawing/2014/chart" uri="{C3380CC4-5D6E-409C-BE32-E72D297353CC}">
              <c16:uniqueId val="{00000000-7707-4BD3-AC65-934627A21C74}"/>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log Sum of Lights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crossBetween val="midCat"/>
      </c:valAx>
      <c:valAx>
        <c:axId val="2094734552"/>
        <c:scaling>
          <c:orientation val="minMax"/>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log GDP</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704A"/>
                </a:solidFill>
                <a:latin typeface="Arial"/>
              </a:defRPr>
            </a:pPr>
            <a:r>
              <a:rPr sz="1200" b="0" i="0" u="none" strike="noStrike">
                <a:solidFill>
                  <a:srgbClr val="00704A"/>
                </a:solidFill>
                <a:latin typeface="Arial"/>
              </a:rPr>
              <a:t>Changes: GDP growth vs light growth (%)</a:t>
            </a:r>
          </a:p>
        </c:rich>
      </c:tx>
      <c:overlay val="0"/>
    </c:title>
    <c:autoTitleDeleted val="0"/>
    <c:plotArea>
      <c:layout/>
      <c:scatterChart>
        <c:scatterStyle val="lineMarker"/>
        <c:varyColors val="0"/>
        <c:ser>
          <c:idx val="0"/>
          <c:order val="0"/>
          <c:tx>
            <c:strRef>
              <c:f>Sheet1!$B$1</c:f>
              <c:strCache>
                <c:ptCount val="1"/>
                <c:pt idx="0">
                  <c:v>regions</c:v>
                </c:pt>
              </c:strCache>
            </c:strRef>
          </c:tx>
          <c:spPr>
            <a:ln>
              <a:noFill/>
            </a:ln>
            <a:effectLst/>
          </c:spPr>
          <c:marker>
            <c:symbol val="circle"/>
            <c:size val="9"/>
            <c:spPr>
              <a:solidFill>
                <a:srgbClr val="A87700"/>
              </a:solidFill>
              <a:ln w="9525" cap="flat">
                <a:solidFill>
                  <a:srgbClr val="A87700"/>
                </a:solidFill>
                <a:prstDash val="solid"/>
                <a:round/>
              </a:ln>
              <a:effectLst/>
            </c:spPr>
          </c:marker>
          <c:xVal>
            <c:numRef>
              <c:f>Sheet1!$A$2:$A$15</c:f>
              <c:numCache>
                <c:formatCode>General</c:formatCode>
                <c:ptCount val="14"/>
                <c:pt idx="0">
                  <c:v>-2</c:v>
                </c:pt>
                <c:pt idx="1">
                  <c:v>-1</c:v>
                </c:pt>
                <c:pt idx="2">
                  <c:v>0</c:v>
                </c:pt>
                <c:pt idx="3">
                  <c:v>1</c:v>
                </c:pt>
                <c:pt idx="4">
                  <c:v>2</c:v>
                </c:pt>
                <c:pt idx="5">
                  <c:v>3</c:v>
                </c:pt>
                <c:pt idx="6">
                  <c:v>4</c:v>
                </c:pt>
                <c:pt idx="7">
                  <c:v>5</c:v>
                </c:pt>
                <c:pt idx="8">
                  <c:v>6</c:v>
                </c:pt>
                <c:pt idx="9">
                  <c:v>7</c:v>
                </c:pt>
                <c:pt idx="10">
                  <c:v>1.5</c:v>
                </c:pt>
                <c:pt idx="11">
                  <c:v>3.5</c:v>
                </c:pt>
                <c:pt idx="12">
                  <c:v>5.5</c:v>
                </c:pt>
                <c:pt idx="13">
                  <c:v>-0.5</c:v>
                </c:pt>
              </c:numCache>
            </c:numRef>
          </c:xVal>
          <c:yVal>
            <c:numRef>
              <c:f>Sheet1!$B$2:$B$15</c:f>
              <c:numCache>
                <c:formatCode>General</c:formatCode>
                <c:ptCount val="14"/>
                <c:pt idx="0">
                  <c:v>1.8</c:v>
                </c:pt>
                <c:pt idx="1">
                  <c:v>3.5</c:v>
                </c:pt>
                <c:pt idx="2">
                  <c:v>2.1</c:v>
                </c:pt>
                <c:pt idx="3">
                  <c:v>4.2</c:v>
                </c:pt>
                <c:pt idx="4">
                  <c:v>2.6</c:v>
                </c:pt>
                <c:pt idx="5">
                  <c:v>4.9000000000000004</c:v>
                </c:pt>
                <c:pt idx="6">
                  <c:v>3</c:v>
                </c:pt>
                <c:pt idx="7">
                  <c:v>5.2</c:v>
                </c:pt>
                <c:pt idx="8">
                  <c:v>3.3</c:v>
                </c:pt>
                <c:pt idx="9">
                  <c:v>4.4000000000000004</c:v>
                </c:pt>
                <c:pt idx="10">
                  <c:v>1.2</c:v>
                </c:pt>
                <c:pt idx="11">
                  <c:v>3.8</c:v>
                </c:pt>
                <c:pt idx="12">
                  <c:v>2.4</c:v>
                </c:pt>
                <c:pt idx="13">
                  <c:v>4</c:v>
                </c:pt>
              </c:numCache>
            </c:numRef>
          </c:yVal>
          <c:smooth val="0"/>
          <c:extLst>
            <c:ext xmlns:c16="http://schemas.microsoft.com/office/drawing/2014/chart" uri="{C3380CC4-5D6E-409C-BE32-E72D297353CC}">
              <c16:uniqueId val="{00000000-7005-451A-8DA5-11821C92BD9E}"/>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light growth, %</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2"/>
        <c:crosses val="autoZero"/>
        <c:crossBetween val="midCat"/>
      </c:valAx>
      <c:valAx>
        <c:axId val="2094734552"/>
        <c:scaling>
          <c:orientation val="minMax"/>
        </c:scaling>
        <c:delete val="0"/>
        <c:axPos val="l"/>
        <c:majorGridlines>
          <c:spPr>
            <a:ln w="6350" cap="flat">
              <a:solidFill>
                <a:srgbClr val="E3E9E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GDP growth, %</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E6964"/>
                </a:solidFill>
                <a:latin typeface="Arial"/>
              </a:defRPr>
            </a:pPr>
            <a:endParaRPr lang="fr-FR"/>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140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This module follows naturally from an overview of non-traditional data sources and prepares geospatial work on cropland and built-up structures. Frame the session: this is not a gallery of beautiful pictures of Africa at night. It is a session about a measurement instrument that a statistical office or central bank can use, test and publish from. Opening question to the room: “If you could take only one photograph of your country to judge how its economy is doing, what would you photograph?” The answer this field gives is: photograph it at night. Slides tagged REFERENCE are there for the hands-on work; skim them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objectives aloud. Session A is about the instrument and the data: getting Black Marble data, knowing its artefacts and producing a clean national series. Session B is about inference: what lights have been used to measure, how those uses were validated, and whether the relationship holds in your own country. Make the three outputs explicit — participants should leave with files, not just impressions.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The session alternates short concept blocks with hands-on work. Keep the concept blocks to time — 15 minutes before the first lab and 30 minutes before the second. The detailed reference slides (products, artefacts, code, templates) are there to be consulted during the labs, not presented in full. The final report-back is short and structured: one sentence per 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We start with the physical idea, then define the object precisely, then show the chain of assumptions that every study depends on — and finish with why this matters for macroeconomic statistics specifically.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four properties together are what make NTL unusual: no other source is globally consistent, spatially continuous, independent of national reporting and free. DMSP = Defense Meteorological Satellite Program, the US Department of Defense weather satellite programme dating from the 1960s. Precision on resolution: the VIIRS Day/Night Band’s native pixel is about 742 m and stays nearly constant across the scan; NASA Black Marble re-grids it to 15 arc-seconds, about 500 m at the equator. For a macro-statistics audience, add the timeliness point: quarterly GDP arrives with a lag; lights arrive nightly.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working definition once. Then dwell on the right-hand column. The most common error in applied work is treating the composite as a picture and reasoning about it visually rather than radiometrically. The second is jumping from radiance to population or income without justifying the link. Units matter: nanowatts per square centimetre per steradian — you will see them in the HDF5 files in Lab A1.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the chain forwards, then backwards. Backwards is the diagnostic exercise: given a dark pixel in your country, list every link that could have produced it. The bottom panel gives African-context examples for each link: load-shedding breaks link 1; low-power solar lanterns may not produce enough upward light to cross the detection floor; rainy-season cloud and dry-season dust or biomass-burning smoke attenuate link 4. Participants should be able to generate at least five distinct explanations for darkness. This is exactly the reasoning required in Lab B when the relationship with an official indicator breaks.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The Day/Night Band is panchromatic, roughly 500 to 900 nanometres. Traditional high-pressure sodium lamps emit mostly around 589 nm, squarely in the band. White LEDs emit a large share of their energy in a blue peak near 450 nm, outside the band. So an LED retrofit can lower measured radiance while the street is brighter to the eye (Kyba et al. 2017 discuss this for global trends). Second point: the overpass time. VIIRS observes around 01:30 local time — what it sees is the after-midnight city, dominated by street and security lighting, not the evening economy. Both points mean that radiance is a proxy with technology- and behaviour-dependent drift, which is why within-unit changes over short windows are more robust than cross-sectional levels.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Speak to this audience: national accountants, statisticians, central bank economists. The four gains — timeliness, granularity, coverage of informal activity and independence — map directly onto the known weaknesses of macro statistics in many African countries: lags in quarterly GDP, little or no subnational GDP, large informal sectors and occasional credibility questions. Then the right panel, firmly: lights cannot tell you sectoral value added, prices, household income or daytime activity. Everything we do in this module sits between those two columns.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The choice of sensor determines which questions are answerable. Keep this section brisk; the geometry and harmonisation slides are reference material for the labs.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historical irony is worth saying aloud: DMSP was built to see clouds by moonlight for military weather forecasting. City lights were noise; it took two decades before anyone treated that noise as the signal. Key message for continuity: VIIRS now flies on three satellites (Suomi NPP, NOAA-20, NOAA-21), so an institution investing in NTL methods today is investing in a data stream with a future. Black Marble products are produced for both Suomi NPP (VNP46) and NOAA-20 (VJ146).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Two single-orbit DMSP-OLS frames from Croft (1978), among the earliest published night images. Left, 18 April 1974: US and Mexican cities, plus an aurora over Canada. Right: Europe and Asia down to central Africa — the band of lights across the bottom is agricultural fires in Africa, the bright cluster lower centre is Nigerian offshore gas flaring, and Algeria and Libya flares appear in the centre. The point here: Africa’s first appearance in night imagery was through fires and flares — exactly the two artefacts Lab A asks you to mask. The timeline on the right (NOAA NCEI) shows the DMSP series handing over to the VIIRS/JPSS series that will fly into the 2030s.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Teaching point: DMSP gives a long history but crude, saturated, uncalibrated values; VIIRS gives precision but only since 2012. Any long-run series for your country needs both, and therefore an explicit harmonisation step — this is the “sensor discontinuity” artefact named in the session objectives (see the long-series slide). Mention that the next generation (SDGSAT-1, Luojia, commercial) adds colour, the dimension both legacy sensors lack.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The same place on the same night, observed by both sensors (Elvidge et al. 2013). Ask the room to find three differences before revealing the cards: spatial detail, sensitivity to faint lights, and blooming. A delta of small towns and waterways is a good analogue for many African river and coastal settlements.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clearest analogy: imagine a thermometer that only reads “40°C or more”. You can still study cold places with it, but every question about heat becomes a question about your model rather than your data. That is DMSP for city centres such as Lagos, Cairo or Johannesburg. VIIRS was designed around that limit: its Day/Night Band spans about seven orders of magnitude using three gain stages. The chart is schematic — not fitted data. For Africa, the opposite end of the range matters just as much: most rural settlements sit near the detection floor, which is why sensitivity matters more to us than saturation.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This turns the schematic chart into evidence. Left: DMSP 2013 stable lights; red pixels are saturated, and the profile plots are flat at DN 63 across Chicago. Right: VIIRS 2016 over the same region, shown with two contrast stretches because its dynamic range is too wide for one; the transects now vary across the urban core. Use it to explain why any regression on DMSP levels in big cities is a regression on a ceiling.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NEW] Use during Lab A if participants see noisy daily data. VIIRS flies in a sun-synchronous polar orbit with a night-side equator crossing around 01:30 local time; its wide swath gives global coverage every night. A clever on-board aggregation scheme keeps the Day/Night Band pixel near 742 m across the scan, unlike older sensors whose pixels grow towards the edge. Two sources of night-to-night variation that are not activity: viewing angle (the same city seen at nadir versus at the edge of the swath) and lunar illumination. Black Marble VNP46A2 corrects for the Moon; angular effects remain and are one reason daily series must be smoothed.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This is the sensor discontinuity artefact named in the objectives. Never splice raw DMSP digital numbers onto VIIRS radiance: different units, resolution, saturation and sensitivity, and only two years of overlap. Three honest options. (1) VIIRS only — for nowcasting and most macro uses since 2012, this is the right default. (2) A harmonised product: Li et al. (2020, Scientific Data) produced a harmonised global DMSP-like series 1992–2018; Chen et al. (2021, ESSD) produced an extended VIIRS-like series 2000–2018. Both are statistical models of what the other sensor would have seen; treat them as estimates and cite them. (3) Splice growth rates at the overlap, document, and test. EOG’s VNL V2 annual series (Elvidge et al. 2021) is the standard consistent VIIRS annual product.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~6 min] This is the section closest to the hands-on work. The product family, access routes, artefacts table and indicators slide are the ones participants will return to during Lab 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Stress step 1 for our continent. Cloud screening is why the Congo Basin and coastal West Africa have far fewer usable observations than the Sahara or the Kalahari — a systematic geographic bias in any cross-country comparison. Ask: do fewer observations bias the result, or merely widen the error bars? In Lab A1 you will see each of these steps as a layer in the file: the cloud mask, the lunar irradiance, the snow flag and the Mandatory_Quality_Flag. In VNP46A2 the Mandatory_Quality_Flag distinguishes high-quality persistent lights (0), high-quality ephemeral lights (1), poor-quality retrievals such as outliers or possible cloud contamination (2) and no retrieval / fill (255); gap-filled values are tracked in a separate layer. Check the current user guide for the version you download. The image is a statistical product, not a snapshot — two products for the same month can legitimately differ.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Real output from the BlackMarblePy quality-assessment example. Top: a daily VNP46A2 image after removing pixels flagged as poor quality — large white gaps where clouds or snow made retrieval impossible. Bottom: the monthly VNP46A3 composite of the same area. In Africa the gaps are driven by rainy-season cloud rather than snow, but the lesson is identical: missing is not dark.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live — REFERENCE for Lab A1] Four products. A1 is uncorrected top-of-atmosphere radiance: do not use it for statistics without doing the corrections yourself. A2 is the daily corrected product — the basis of everything else. A3 and A4 are monthly and annual composites built from the daily inputs; here we use A3. All share a 15 arc-second grid, 10°×10° tiles, HDF5 format and a record from January 2012. Composites come in near-nadir, off-nadir and all-angle versions; the near-nadir snow-free composite is the usual default and is what BlackMarblePy returns for A3/A4. Practical gotcha: radiance is stored as scaled integers with a fill value — forget either and your numbers are wrong by a factor or contaminated by fill values. NOAA-20 twins carry the VJ146 prefix.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Real BlackMarblePy outputs for Ghana. Left: the annual VNP46A4 near-nadir snow-free composite — Accra on the coast, Kumasi in the centre, Tamale in the north and the road corridors between them. Right: the monthly VNP46A3 Sum of Lights for the whole country from January 2020 — a clear upward trend with month-to-month noise. These are exactly the two outputs of Lab A, so show this as the target before teams start.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NEW] Access routes. Here we use BlackMarblePy (World Bank) because it hides the tile mosaicking, scale factors and fill values, and can return zonal statistics directly. Earth Engine is the fallback if downloads are slow on the local network. Earth Engine hosts the EOG monthly composites (VCMCFG, and the stray-light-corrected VCMSLCFG which gives better coverage at high latitudes and in summer months) and the EOG annual V2.1 and V2.2 composites. The World Bank’s Light Every Night archive on AWS holds every nightly observation and is for advanced users. Golden rule: one product, one version per series.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slide prevents the most embarrassing class of error: reporting a booming economy in an oil-producing region when what changed was flaring, or a surge of activity in the middle of Lake Victoria that is actually a fishing fleet. For island economies such as Mauritius, offshore fishing and shipping lights sit right next to the coast. Only one of these six sources is usually the signal a statistician wants. Always look at the map before trusting the number.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 NEW — REFERENCE for Lab A2] These are exactly the six artefacts listed in the session objectives. For each, a symptom, a quick test you can run in a minute, and a standard treatment. Point out that two of them — seasonality and cloud cover — interact in Africa: the rainy season both reduces valid observations and coincides with real seasonal patterns in activity. Seasonal adjustment deserves a dedicated treatment in nowcasting data preparation; for now, comparing the same month across years is enough.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The chart is schematic, not measured: it illustrates the typical contrast between a Sahelian location, whose rainy season is short and late in the year, and a Gulf of Guinea coastal location, cloudy for much of the year. In your own data, the VNP46A3 product reports the number of observations per pixel — read it before trusting any month. Two further African specifics: aerosols (Harmattan dust, biomass-burning smoke) and calendar effects. Román and Stokes (2015) showed measurable changes in night-time lights during Ramadan and the Christmas–New Year period — a reminder that seasonality in lights is partly cultural, not just meteorological.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Work the toy example live — it is the fastest way to make the three indicators concrete. A 4×4 district of pixels, radiance in nW·cm⁻²·sr⁻¹. Sum of Lights adds everything: 30.1. Lit area counts pixels above the threshold: with 0.5 we get 8 pixels. Mean radiance over lit pixels is 28.6 / 8 = 3.6. Now raise the threshold to 1.0: lit area drops from 8 to 6 pixels — a 25% change produced by a choice, not by the world. That is why the threshold must be reported and tested. Sum of Lights is sensitive to background noise because every faint pixel contributes. Mean radiance separates a district getting brighter from one getting bigger. A fourth family — concentration or Gini of light — is used as a spatial inequality proxy.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NEW] Three groups of choices that change results more than most people expect. Space: the boundary and the statistic. Exactextract handles pixels that straddle a boundary by weighting them, which matters for small districts and islands. Normalisation: per km² compares intensity; per capita needs a population denominator that is not itself built from night lights (WorldPop uses NTL as a covariate). Time: average months to quarters to match quarterly GDP; year-on-year growth in the same calendar month removes most of the seasonal and lunar-related noise. The log year-on-year growth formula on the bar is the transformation most nowcasting models will expect.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this slowly — it is the slide people will reuse. The question is typical of what a ministry might ask a statistical office. Step 3 matters in rural Africa: if you average over a whole district, a few newly lit villages disappear into the dark background, so use settlement footprints. Step 4 — the control group of comparable villages outside the programme — is what turns a description into evidence, and it costs almost nothing. Step 6 is where most published work is thinnest: try to break your own result before someone else does.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 · 30 min] Hand over to the notebook. Teams of two or three, one country per team — ideally the country of one team member. If downloads are slow, switch to the Earth Engine fallback or to pre-staged files.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A1 · 15 min] Steps one to four. BlackMarblePy wraps the LAADS DAAC download, mosaics the 10°×10° tiles, clips to your polygons and applies scale factors and fill values. The raster method returns an xarray object with one layer per month; the extract method returns zonal statistics directly. Insist on step four: look at the map. Ask each team to name one thing that glows that is not the economy. Fallback: Earth Engine collection NOAA/VIIRS/DNB/MONTHLY_V1/VCMSLCFG clipped with the same boundary.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A2 · 15 min] Four moves: mask, extract, aggregate, compare. Participants who finish early should test the threshold (0.3, 0.5, 1.0) and see how much the series changes. The limitations note is not optional: five lines, committed alongside the series. This is the ‘national series with notes on data limitations’ in the session objectives. Keep the outputs — they are inputs for Lab B and potentially for GDP nowcasting models.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Show this as the target. The grey line is what you get without masks: a spurious spike from a flaring episode and dips in cloud-poor rainy-season months. The navy line is the masked, quality-filtered series. On the right, the limitations note in five lines. Emphasise: the data are synthetic — the point is the shape of the deliverable, not any real country’s numbers.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NEW] Keep this slide up while teams work in Lab A. These six problems account for most of the support questions in NTL labs. The first is the most common when people read HDF5 files directly; the last is the one that matters most analytically — a sudden jump is an artefact until proven otherwise.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30 min] Session B opens here. For each application, keep asking two questions: what would have to be true about lighting behaviour for this inference to hold, and how was it validated in the literature? Those two questions are the session objectives.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map of uses, framed by the SDGs and macro indicators participants already report on. The key word is “support”: night lights are a complement to official statistics, useful for disaggregation, nowcasting and verification, never a replacement. Invite participants to pick the one box most relevant to their institution — that is the application to rebuild in Lab B.</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NEW] This table is the heart of Session B’s second objective: assess how each use case was validated and where the proxy performs well. Read across one row as an example. Output proxies were validated against national and subnational GDP — and they work best precisely where GDP is weakest. Electrification was validated against surveys, census and utility records. Urbanisation against built-up grids and census urban counts. Damage against field and UNOSAT assessments. Activity mapping against electricity consumption and mobility data. The right-hand column is the honest part: every use case has a regime where the proxy fails, and in African economies those regimes are common.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honest version: night lights are a poor substitute for good national accounts and an excellent complement to weak or coarse ones. Henderson, Storeygard and Weil (2012) showed lights carry real information on growth. Bruederle and Hodler (2018) linked lights to household-level development indicators from DHS surveys at the local level in Africa. Martinez (2022) used lights as an independent benchmark for reported GDP growth — a reminder that NTL is also a credibility tool for official statistics. The elasticity of lights to output is neither one nor stable: agriculture and mining generate much value with little light, which matters for most African economies. Lights help most where statistics are coarsest: subnational, high-frequency and informal.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The two figures people cite. Left: Henderson, Storeygard and Weil (2012), figure 6a — growth in GDP against growth in lights, net of country and year fixed effects; the relationship is real but noisy, which is why they combine lights with official data rather than replace it. Right: Elvidge et al. (2001), lit area versus GDP for 200 countries on log–log axes — a strong cross-country relationship. Link to Lab B: the left panel is the ‘changes’ test, the right panel is the ‘levels’ test.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 NEW] Four families of method. (1) The elasticity regression — Henderson, Storeygard and Weil’s starting point — run in growth rates with region and year effects. (2) Combining official and lights-based growth with weights that reflect the measurement error of each; this is the logic behind using lights to improve GDP where national accounts are weak. (3) Downscaling: allocate known regional or national GDP to smaller units using light shares, ideally refined with population, built-up and cropland covariates — which is exactly what cropland and built-up analyses produce. (4) Nowcasting. Hu and Yao (2022, Journal of Econometrics) show the relationship is non-linear and varies with income level; Beyer, Hu and Yao (2022, IMF WP 22/109) use lights to measure quarterly growth. Lesson: estimate the relationship locally.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Bridge to data preparation and machine learning for GDP nowcasting. The monthly series you build in Lab A is a candidate feature. Three pitfalls to flag now: look-ahead bias (a monthly composite has a release date — respect it in back-tests); breaks from product or version changes that a model will read as a recession; and seasonality and cloud gaps, which careful data preparation must treat systematically. Evidence: Beyer, Hu and Yao (2022) on quarterly growth; Beyer, Franco-Bedoya and Galdo (2021, World Development) on India’s COVID-19 shock with daily lights and electricity data.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Tracking SDG 7 report released on 24 June 2026 puts the global access deficit at 655 million people in 2024, with more than 560 million in sub-Saharan Africa. The rural deficit in the region grew from 376 million in 2010 to 447 million in 2024 — population growth has outpaced connections. Mission 300, led by the World Bank Group and the African Development Bank, aims to connect 300 million Africans by 2030; programmes of that scale need independent, spatially detailed monitoring. The surprising point: reliability. Official statistics record a household as connected whether it has power four hours a day or twenty-four. Nightly VIIRS observations can tell the difference.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Make the reliability idea concrete. Both villages would be recorded as ‘connected’ in a census or survey. Daily VIIRS data show Village A lit on 29 of 30 nights and Village B on 15 — the signature of load-shedding. The High Resolution Electricity Access (HREA) dataset from the University of Michigan and the World Bank applies this logic at settlement level, comparing each night’s radiance with the statistical distribution of unlit background pixels. The nights shown are illustrative, not real data. For an NSO, the practical output is a reliability column next to access rates.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Africa is urbanising fast, and cadastral records rarely keep up. The sprawl-versus-densification diagnostic is the most transferable idea here: it needs two indicators, not one — which is exactly why Sum of Lights alone is insufficient for urban work. The two illustrative cities have the same total light but completely different policy implications for transport, services and emissions. Always pair lights with population and built-up grids: bright pixels are not people, and an empty lit highway proves it.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REAL IMAGERY] A real change map from BlackMarblePy: the difference in monthly radiance between 2020 and 2025 across Ghana. Read it with the urbanisation diagnostic from the previous slide in mind — growth at the edges of Accra and Kumasi looks like sprawl; the corridors filling in show network densification; isolated new spots in the north may be new electrification. Each of these is a hypothesis that Lab B asks you to test against an official indicator.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Bridge to other geospatial layers. Cropland statistics and built-up structure grids are exactly the layers that make lights interpretable. Built-but-dark is the most policy-relevant combination for energy access; cropland explains why lights under-predict output in agricultural regions; population grids give light per capita, with the circularity caveat for WorldPop; and networks connect to trade and port-activity analysis. Encourage teams to keep their boundaries and zonal-statistics code — it is reused in every one of these combinations.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most ethically loaded application in the deck. Sudan is the African case: after fighting broke out in Khartoum on 15 April 2023, the Earth Observation Group reported that by May 2023 the capital’s lights had dimmed to the noise level, and UNOSAT published a power-outage assessment from night-time imagery in June 2023. Syria (Li and Li, 2014) and Puerto Rico after Hurricane Maria (Black Marble daily products) are the reference studies. Night lights are used in humanitarian and human-rights reporting, so errors have consequences: insist on triangulation with ground information and honest statements of uncertainty. For statistical offices, the value is rapid situational evidence when field collection is impossible.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Activity mapping is the fifth application in this module. Daily data shine for shocks with a clear start date. Beyer, Franco-Bedoya and Galdo (2021) combined daily night-time lights with electricity consumption to track the COVID-19 lockdown in India. Román and Stokes (2015) documented holiday effects during Ramadan and Christmas. The recipe on the right is a minimal event study — baseline from the same window last year, a 7-day smoother, deviation from baseline with a band of normal variation, and corroboration. Teams choosing the ‘shock’ option in Lab B will follow it.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A lens for the many coastal and island economies, with Mauritius as the example. Mauritius covers roughly 2,000 km², on the order of ten thousand 15-arc-second cells; at that scale, a single port, power station or hotel strip can dominate the total. Coastline handling, offshore fishing and shipping lights, and orographic cloud over the central plateau all matter more than they would for a large continental country. Tropical cyclones make daily outage mapping operationally relevant. The rule: the fewer the pixels, the more you must report sensitivity to choices.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B · 45 min + 15 min report-back] Same teams as Lab A, same country. Each team picks one of four applications. The official indicator can come from your own institution or from the files provided with the lab.</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B · 5 min] Each team chooses one of four options, matching the applications we just reviewed. A — output proxy against regional GDP or gross value added where it exists, or national quarterly GDP otherwise. B — electrification against census or DHS household electricity access. C — urbanisation against census urban population or a built-up grid. D — a shock (cyclone, outage, holiday, lockdown) against utility or official reports. The point is not to replicate a paper exactly but to rebuild its logic with your own official data.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B · 30 min] The single most important habit: estimate the relationship twice, in levels and in changes. Levels across regions are dominated by size — big regions are bright and produce a lot — so correlations look impressive. Changes within a region over time are the real test for monitoring and nowcasting, and they are usually much weaker. The residual map is where the insight is: regions far above the line may be agricultural or mining economies; regions far below may have flares or a bright port. Stress tests: drop the capital, change the threshold, remove masks one at a time.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Show this before teams interpret their own results so that nobody is surprised. The left panel — levels — usually shows a tight cloud because size drives both axes. The right panel — changes — is noisier, and that is normal: growth rates strip out size and expose all the artefacts and the unstable elasticity. Synthetic data: the slide shows a typical pattern, not any country. A team that finds a strong relationship in changes has a genuinely useful monitoring indicator.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[Report-back · 15 min] Each team fills the card and reads its one-sentence report. This is the session’s final objective: report where the relationship holds. The decision row anticipates the validation decision guide in the next section. Collect the cards; several typically become project briefs.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Reference material that supports Lab B decisions and follow-up project work. Present briefly at the end of Session B, or leave for teams to consult.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The full pipeline in one picture. Each stage has a data source or tool and a concrete output that feeds the next. The Python libraries listed are examples of common open-source options, not requirements. Emphasise reproducibility: every stage ends in a file committed to GitHub, so that another country — or your own office next year — can re-run it.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The instinct to reach for daily data is almost always wrong at the start of a project. Annual composites answer most statistical questions with a fraction of the processing burden, and they fail loudly rather than quietly. Monthly is the natural cadence for nowcasting, which is why Lab A uses it. Move to daily only when you can say precisely what temporal resolution your question needs — for example, dating the start of a conflict, or measuring reliability of supply.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for Lab B] A suggested decision guide, to be adapted to your office’s own quality assurance framework. Three questions. First, set the bar BEFORE you look at the result: what correlation and stability would you require? Second, have the artefacts been identified and treated? Third — the trap specific to this field — is your benchmark independent? WorldPop population models use night-time lights as one of their covariates, so correlating NTL with WorldPop partly correlates NTL with itself. Prefer census or survey benchmarks for validation. The outcome is one of three decisions, and the limitations statement on the right is part of the deliverable whichever you choose.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REFERENCE] Keep this open during the labs. Item 7 is the practical heart of the list: most credible work identifies effects from changes within the same unit over time rather than from cross-sectional levels, because calibration problems largely cancel out — exactly what the levels-versus-changes comparison in Lab B showed. The golden rule is the test for any result you present.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NEW] Ties back to broader questions of governance, AI, ethics and privacy. Night lights are low-risk for individual privacy at 500 m, but not risk-free: combined with building footprints for small settlements, or published during conflict, they can expose vulnerable groups. Licensing matters for commercial products. And the statistical-system point: agree who publishes what, label experimental statistics clearly, and avoid parallel numbers that undermine official figures — consistent with the UN Fundamental Principles of Official Statistics.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NEW] Six project briefs that build directly on this module. Each team states its brief, data sources and intended output. The nowcasting feature brief is a natural bridge to GDP nowcasting work; the urban expansion monitor to built-up analysis. Each output is small enough to prototype in a few days.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NEW] Ask the room before revealing each answer. Answers: (1) White LEDs emit much of their energy near 450 nm, outside the 500–900 nm Day/Night Band. (2) Nothing changed in the world; the threshold is a researcher choice that must be reported and tested. (3) Not independent: WorldPop uses NTL as a covariate, so the correlation is partly circular. (4) Levels are dominated by size; weak growth-rate correlation means the indicator is not yet a reliable monitoring tool. (5) Check the number-of-observations layer: a rainy-season dark month is usually cloud, not collapse. These map onto the key messages of the module.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Land on the last line. Extracting the signal is now routine and largely automated; the discipline is in knowing what the signal is entitled to mean. Then hand over to the labs.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hand out rather than read. The two terms that cause most confusion in practice: composite (people keep treating it as a photograph) and digital number (people keep treating it as a physical quantity). ‘Elasticity’ is added for Session B.</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during questions. The new references for this edition cover nowcasting (Beyer, Hu &amp; Yao 2022; Hu &amp; Yao 2022), harmonised long series (Li et al. 2020; Chen et al. 2021; Elvidge et al. 2021), calendar effects (Román &amp; Stokes 2015) and short-term shocks (Beyer et al. 2021).</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five-minute first experiment, point people to the Radiance Light Trends web application or the World Bank Open Nighttime Lights tutorials before any heavy pipeline. BlackMarblePy and blackmarbler are the quickest route to a reproducible country pipeline.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Remind participants to keep their Lab A and Lab B outputs and code — they are reused in later geospatial, nowcasting and project work.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afdb_di4a_logo.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png"/><Relationship Id="rId7"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24.png"/><Relationship Id="rId4" Type="http://schemas.openxmlformats.org/officeDocument/2006/relationships/image" Target="../media/image53.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png"/><Relationship Id="rId7"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2.png"/><Relationship Id="rId7"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3.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2.png"/><Relationship Id="rId7" Type="http://schemas.openxmlformats.org/officeDocument/2006/relationships/image" Target="../media/image87.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86.png"/><Relationship Id="rId9" Type="http://schemas.openxmlformats.org/officeDocument/2006/relationships/image" Target="../media/image89.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png"/><Relationship Id="rId7" Type="http://schemas.openxmlformats.org/officeDocument/2006/relationships/image" Target="../media/image9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98.png"/><Relationship Id="rId4" Type="http://schemas.openxmlformats.org/officeDocument/2006/relationships/image" Target="../media/image97.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2.png"/><Relationship Id="rId7" Type="http://schemas.openxmlformats.org/officeDocument/2006/relationships/image" Target="../media/image10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chart" Target="../charts/chart4.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8.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88.png"/><Relationship Id="rId4" Type="http://schemas.openxmlformats.org/officeDocument/2006/relationships/image" Target="../media/image109.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0.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7.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0.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19.png"/><Relationship Id="rId4" Type="http://schemas.openxmlformats.org/officeDocument/2006/relationships/image" Target="../media/image118.png"/></Relationships>
</file>

<file path=ppt/slides/_rels/slide51.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2.png"/><Relationship Id="rId7"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21.png"/><Relationship Id="rId4" Type="http://schemas.openxmlformats.org/officeDocument/2006/relationships/image" Target="../media/image13.png"/><Relationship Id="rId9" Type="http://schemas.openxmlformats.org/officeDocument/2006/relationships/image" Target="../media/image124.png"/></Relationships>
</file>

<file path=ppt/slides/_rels/slide52.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4.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126.png"/><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27.png"/></Relationships>
</file>

<file path=ppt/slides/_rels/slide5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2.png"/><Relationship Id="rId7" Type="http://schemas.openxmlformats.org/officeDocument/2006/relationships/image" Target="../media/image131.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31.png"/><Relationship Id="rId4" Type="http://schemas.openxmlformats.org/officeDocument/2006/relationships/image" Target="../media/image129.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34.png"/><Relationship Id="rId5" Type="http://schemas.openxmlformats.org/officeDocument/2006/relationships/image" Target="../media/image80.png"/><Relationship Id="rId4" Type="http://schemas.openxmlformats.org/officeDocument/2006/relationships/image" Target="../media/image13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5.png"/><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36.png"/></Relationships>
</file>

<file path=ppt/slides/_rels/slide62.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2.png"/><Relationship Id="rId7" Type="http://schemas.openxmlformats.org/officeDocument/2006/relationships/image" Target="../media/image140.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9" Type="http://schemas.openxmlformats.org/officeDocument/2006/relationships/image" Target="../media/image141.png"/></Relationships>
</file>

<file path=ppt/slides/_rels/slide6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2.png"/><Relationship Id="rId7" Type="http://schemas.openxmlformats.org/officeDocument/2006/relationships/image" Target="../media/image144.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43.png"/><Relationship Id="rId5" Type="http://schemas.openxmlformats.org/officeDocument/2006/relationships/image" Target="../media/image65.png"/><Relationship Id="rId4" Type="http://schemas.openxmlformats.org/officeDocument/2006/relationships/image" Target="../media/image142.png"/><Relationship Id="rId9" Type="http://schemas.openxmlformats.org/officeDocument/2006/relationships/image" Target="../media/image146.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148.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2.png"/><Relationship Id="rId7" Type="http://schemas.openxmlformats.org/officeDocument/2006/relationships/image" Target="../media/image15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51.png"/><Relationship Id="rId11" Type="http://schemas.openxmlformats.org/officeDocument/2006/relationships/image" Target="../media/image155.png"/><Relationship Id="rId5" Type="http://schemas.openxmlformats.org/officeDocument/2006/relationships/image" Target="../media/image150.png"/><Relationship Id="rId10" Type="http://schemas.openxmlformats.org/officeDocument/2006/relationships/image" Target="../media/image154.png"/><Relationship Id="rId4" Type="http://schemas.openxmlformats.org/officeDocument/2006/relationships/image" Target="../media/image149.png"/><Relationship Id="rId9" Type="http://schemas.openxmlformats.org/officeDocument/2006/relationships/image" Target="../media/image153.pn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afdb_di4a_logo.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502920"/>
            <a:ext cx="6949440" cy="274320"/>
          </a:xfrm>
          <a:prstGeom prst="rect">
            <a:avLst/>
          </a:prstGeom>
          <a:noFill/>
          <a:ln/>
        </p:spPr>
        <p:txBody>
          <a:bodyPr wrap="square" lIns="0" tIns="0" rIns="0" bIns="0" rtlCol="0" anchor="t"/>
          <a:lstStyle/>
          <a:p>
            <a:pPr marL="0" indent="0">
              <a:buNone/>
            </a:pPr>
            <a:r>
              <a:rPr lang="en-US" sz="1050" b="1" kern="0" spc="100" dirty="0">
                <a:solidFill>
                  <a:srgbClr val="F5C242"/>
                </a:solidFill>
                <a:latin typeface="Calibri" pitchFamily="34" charset="0"/>
                <a:ea typeface="Calibri" pitchFamily="34" charset="-122"/>
                <a:cs typeface="Calibri" pitchFamily="34" charset="-120"/>
              </a:rPr>
              <a:t>AFRICAN DEVELOPMENT BANK  ·  DATA INNOVATION FOR AFRICA (DI4A)</a:t>
            </a:r>
            <a:endParaRPr lang="en-US" sz="1050" dirty="0"/>
          </a:p>
        </p:txBody>
      </p:sp>
      <p:sp>
        <p:nvSpPr>
          <p:cNvPr id="3" name="Text 1"/>
          <p:cNvSpPr txBox="1"/>
          <p:nvPr/>
        </p:nvSpPr>
        <p:spPr>
          <a:xfrm>
            <a:off x="731520" y="1234440"/>
            <a:ext cx="7315200" cy="100584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Night-Time Lights</a:t>
            </a:r>
            <a:endParaRPr lang="en-US" sz="5400" dirty="0"/>
          </a:p>
        </p:txBody>
      </p:sp>
      <p:sp>
        <p:nvSpPr>
          <p:cNvPr id="4" name="Text 2"/>
          <p:cNvSpPr txBox="1"/>
          <p:nvPr/>
        </p:nvSpPr>
        <p:spPr>
          <a:xfrm>
            <a:off x="731520" y="2286000"/>
            <a:ext cx="6035040" cy="822960"/>
          </a:xfrm>
          <a:prstGeom prst="rect">
            <a:avLst/>
          </a:prstGeom>
          <a:noFill/>
          <a:ln/>
        </p:spPr>
        <p:txBody>
          <a:bodyPr wrap="square" lIns="0" tIns="0" rIns="0" bIns="0" rtlCol="0" anchor="t"/>
          <a:lstStyle/>
          <a:p>
            <a:pPr marL="0" indent="0">
              <a:buNone/>
            </a:pPr>
            <a:r>
              <a:rPr lang="en-US" sz="2000" i="1" dirty="0">
                <a:solidFill>
                  <a:srgbClr val="D8EEE3"/>
                </a:solidFill>
                <a:latin typeface="Calibri" pitchFamily="34" charset="0"/>
                <a:ea typeface="Calibri" pitchFamily="34" charset="-122"/>
                <a:cs typeface="Calibri" pitchFamily="34" charset="-120"/>
              </a:rPr>
              <a:t>Measuring activity from orbit — and what lights have been used to measure</a:t>
            </a:r>
            <a:endParaRPr lang="en-US" sz="2000" dirty="0"/>
          </a:p>
        </p:txBody>
      </p:sp>
      <p:sp>
        <p:nvSpPr>
          <p:cNvPr id="8" name="Text 6"/>
          <p:cNvSpPr txBox="1"/>
          <p:nvPr/>
        </p:nvSpPr>
        <p:spPr>
          <a:xfrm>
            <a:off x="731520" y="4800600"/>
            <a:ext cx="6400800" cy="2743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Night-time lights for macroeconomic statistics</a:t>
            </a:r>
            <a:endParaRPr lang="en-US" sz="1200" dirty="0"/>
          </a:p>
        </p:txBody>
      </p:sp>
      <p:sp>
        <p:nvSpPr>
          <p:cNvPr id="9" name="Shape 7"/>
          <p:cNvSpPr/>
          <p:nvPr/>
        </p:nvSpPr>
        <p:spPr>
          <a:xfrm>
            <a:off x="731520" y="5349240"/>
            <a:ext cx="3523234" cy="1097280"/>
          </a:xfrm>
          <a:prstGeom prst="roundRect">
            <a:avLst>
              <a:gd name="adj" fmla="val 6667"/>
            </a:avLst>
          </a:prstGeom>
          <a:solidFill>
            <a:srgbClr val="FFFFFF"/>
          </a:solidFill>
          <a:ln w="9525">
            <a:solidFill>
              <a:srgbClr val="FFFFFF"/>
            </a:solidFill>
            <a:prstDash val="solid"/>
          </a:ln>
        </p:spPr>
      </p:sp>
      <p:pic>
        <p:nvPicPr>
          <p:cNvPr id="10" name="Image 0" descr="African Development Bank – Data Innovation for Africa (DI4A) logo"/>
          <p:cNvPicPr>
            <a:picLocks noChangeAspect="1"/>
          </p:cNvPicPr>
          <p:nvPr/>
        </p:nvPicPr>
        <p:blipFill>
          <a:blip r:embed="rId4"/>
          <a:stretch>
            <a:fillRect/>
          </a:stretch>
        </p:blipFill>
        <p:spPr>
          <a:xfrm>
            <a:off x="896112" y="5440680"/>
            <a:ext cx="3194050" cy="914400"/>
          </a:xfrm>
          <a:prstGeom prst="rect">
            <a:avLst/>
          </a:prstGeom>
        </p:spPr>
      </p:pic>
      <p:sp>
        <p:nvSpPr>
          <p:cNvPr id="16" name="Shape 11"/>
          <p:cNvSpPr/>
          <p:nvPr/>
        </p:nvSpPr>
        <p:spPr>
          <a:xfrm>
            <a:off x="0" y="6766560"/>
            <a:ext cx="9509522" cy="91440"/>
          </a:xfrm>
          <a:prstGeom prst="rect">
            <a:avLst/>
          </a:prstGeom>
          <a:solidFill>
            <a:srgbClr val="00704A"/>
          </a:solidFill>
          <a:ln w="6350">
            <a:solidFill>
              <a:srgbClr val="00704A"/>
            </a:solidFill>
            <a:prstDash val="solid"/>
          </a:ln>
        </p:spPr>
      </p:sp>
      <p:sp>
        <p:nvSpPr>
          <p:cNvPr id="17" name="Shape 12"/>
          <p:cNvSpPr/>
          <p:nvPr/>
        </p:nvSpPr>
        <p:spPr>
          <a:xfrm>
            <a:off x="9509522" y="6766560"/>
            <a:ext cx="2682173" cy="91440"/>
          </a:xfrm>
          <a:prstGeom prst="rect">
            <a:avLst/>
          </a:prstGeom>
          <a:solidFill>
            <a:srgbClr val="F5C242"/>
          </a:solidFill>
          <a:ln w="6350">
            <a:solidFill>
              <a:srgbClr val="F5C242"/>
            </a:solidFill>
            <a:prstDash val="solid"/>
          </a:ln>
        </p:spPr>
      </p:sp>
      <p:sp>
        <p:nvSpPr>
          <p:cNvPr id="18" name="Text 13"/>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Africa  ·  Illustrative rendering: GeoNames settlement populations, Natural Earth borders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SESSION OVERVIEW · LEARNING OBJECTIVES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Two sessions and what you will be able to do</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CONTEXT</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a:t>
            </a:r>
            <a:endParaRPr lang="en-US" sz="900" dirty="0"/>
          </a:p>
        </p:txBody>
      </p:sp>
      <p:sp>
        <p:nvSpPr>
          <p:cNvPr id="12" name="Shape 9"/>
          <p:cNvSpPr/>
          <p:nvPr/>
        </p:nvSpPr>
        <p:spPr>
          <a:xfrm>
            <a:off x="548640" y="1417320"/>
            <a:ext cx="5440680" cy="4069080"/>
          </a:xfrm>
          <a:prstGeom prst="roundRect">
            <a:avLst>
              <a:gd name="adj" fmla="val 1798"/>
            </a:avLst>
          </a:prstGeom>
          <a:solidFill>
            <a:srgbClr val="E8F5EF"/>
          </a:solidFill>
          <a:ln w="9525">
            <a:solidFill>
              <a:srgbClr val="00A86A"/>
            </a:solidFill>
            <a:prstDash val="solid"/>
          </a:ln>
        </p:spPr>
      </p:sp>
      <p:sp>
        <p:nvSpPr>
          <p:cNvPr id="13" name="Shape 10"/>
          <p:cNvSpPr/>
          <p:nvPr/>
        </p:nvSpPr>
        <p:spPr>
          <a:xfrm>
            <a:off x="777240" y="1645920"/>
            <a:ext cx="566928" cy="566928"/>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24641" y="1793321"/>
            <a:ext cx="272125" cy="272125"/>
          </a:xfrm>
          <a:prstGeom prst="rect">
            <a:avLst/>
          </a:prstGeom>
        </p:spPr>
      </p:pic>
      <p:sp>
        <p:nvSpPr>
          <p:cNvPr id="15" name="Text 11"/>
          <p:cNvSpPr txBox="1"/>
          <p:nvPr/>
        </p:nvSpPr>
        <p:spPr>
          <a:xfrm>
            <a:off x="1508760" y="1645920"/>
            <a:ext cx="4251960" cy="228600"/>
          </a:xfrm>
          <a:prstGeom prst="rect">
            <a:avLst/>
          </a:prstGeom>
          <a:noFill/>
          <a:ln/>
        </p:spPr>
        <p:txBody>
          <a:bodyPr wrap="square" lIns="0" tIns="0" rIns="0" bIns="0" rtlCol="0" anchor="t"/>
          <a:lstStyle/>
          <a:p>
            <a:pPr marL="0" indent="0">
              <a:buNone/>
            </a:pPr>
            <a:r>
              <a:rPr lang="en-US" sz="1000" b="1" kern="0" spc="150" dirty="0">
                <a:solidFill>
                  <a:srgbClr val="0E7C86"/>
                </a:solidFill>
                <a:latin typeface="Calibri" pitchFamily="34" charset="0"/>
                <a:ea typeface="Calibri" pitchFamily="34" charset="-122"/>
                <a:cs typeface="Calibri" pitchFamily="34" charset="-120"/>
              </a:rPr>
              <a:t>SESSION A  ·  45 MIN</a:t>
            </a:r>
            <a:endParaRPr lang="en-US" sz="1000" dirty="0"/>
          </a:p>
        </p:txBody>
      </p:sp>
      <p:sp>
        <p:nvSpPr>
          <p:cNvPr id="16" name="Text 12"/>
          <p:cNvSpPr txBox="1"/>
          <p:nvPr/>
        </p:nvSpPr>
        <p:spPr>
          <a:xfrm>
            <a:off x="1508760" y="1874520"/>
            <a:ext cx="4251960" cy="54864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Night-time lights: measuring activity from orbit</a:t>
            </a:r>
            <a:endParaRPr lang="en-US" sz="1500" dirty="0"/>
          </a:p>
        </p:txBody>
      </p:sp>
      <p:sp>
        <p:nvSpPr>
          <p:cNvPr id="17" name="Text 13"/>
          <p:cNvSpPr txBox="1"/>
          <p:nvPr/>
        </p:nvSpPr>
        <p:spPr>
          <a:xfrm>
            <a:off x="822960" y="2651760"/>
            <a:ext cx="4892040" cy="27432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Collect NASA Black Marble data and clip a monthly composite for a selected country</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Identify what night-time lights proxy well — and what they do not</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Review key artefacts: blooming, saturation, gas flares, seasonality, cloud cover, sensor discontinuity</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Apply masks, aggregate over time and compare regions</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Produce a national series with notes on data limitations</a:t>
            </a:r>
            <a:endParaRPr lang="en-US" sz="1400" dirty="0"/>
          </a:p>
        </p:txBody>
      </p:sp>
      <p:sp>
        <p:nvSpPr>
          <p:cNvPr id="18" name="Shape 14"/>
          <p:cNvSpPr/>
          <p:nvPr/>
        </p:nvSpPr>
        <p:spPr>
          <a:xfrm>
            <a:off x="6172200" y="1417320"/>
            <a:ext cx="5440680" cy="4069080"/>
          </a:xfrm>
          <a:prstGeom prst="roundRect">
            <a:avLst>
              <a:gd name="adj" fmla="val 1798"/>
            </a:avLst>
          </a:prstGeom>
          <a:solidFill>
            <a:srgbClr val="F4F7F5"/>
          </a:solidFill>
          <a:ln w="9525">
            <a:solidFill>
              <a:srgbClr val="D5DED9"/>
            </a:solidFill>
            <a:prstDash val="solid"/>
          </a:ln>
        </p:spPr>
      </p:sp>
      <p:sp>
        <p:nvSpPr>
          <p:cNvPr id="19" name="Shape 15"/>
          <p:cNvSpPr/>
          <p:nvPr/>
        </p:nvSpPr>
        <p:spPr>
          <a:xfrm>
            <a:off x="6400800" y="1645920"/>
            <a:ext cx="566928" cy="566928"/>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6548201" y="1793321"/>
            <a:ext cx="272125" cy="272125"/>
          </a:xfrm>
          <a:prstGeom prst="rect">
            <a:avLst/>
          </a:prstGeom>
        </p:spPr>
      </p:pic>
      <p:sp>
        <p:nvSpPr>
          <p:cNvPr id="21" name="Text 16"/>
          <p:cNvSpPr txBox="1"/>
          <p:nvPr/>
        </p:nvSpPr>
        <p:spPr>
          <a:xfrm>
            <a:off x="7132320" y="1645920"/>
            <a:ext cx="4251960" cy="228600"/>
          </a:xfrm>
          <a:prstGeom prst="rect">
            <a:avLst/>
          </a:prstGeom>
          <a:noFill/>
          <a:ln/>
        </p:spPr>
        <p:txBody>
          <a:bodyPr wrap="square" lIns="0" tIns="0" rIns="0" bIns="0" rtlCol="0" anchor="t"/>
          <a:lstStyle/>
          <a:p>
            <a:pPr marL="0" indent="0">
              <a:buNone/>
            </a:pPr>
            <a:r>
              <a:rPr lang="en-US" sz="1000" b="1" kern="0" spc="150" dirty="0">
                <a:solidFill>
                  <a:srgbClr val="0E7C86"/>
                </a:solidFill>
                <a:latin typeface="Calibri" pitchFamily="34" charset="0"/>
                <a:ea typeface="Calibri" pitchFamily="34" charset="-122"/>
                <a:cs typeface="Calibri" pitchFamily="34" charset="-120"/>
              </a:rPr>
              <a:t>SESSION B  ·  90 MIN</a:t>
            </a:r>
            <a:endParaRPr lang="en-US" sz="1000" dirty="0"/>
          </a:p>
        </p:txBody>
      </p:sp>
      <p:sp>
        <p:nvSpPr>
          <p:cNvPr id="22" name="Text 17"/>
          <p:cNvSpPr txBox="1"/>
          <p:nvPr/>
        </p:nvSpPr>
        <p:spPr>
          <a:xfrm>
            <a:off x="7132320" y="1874520"/>
            <a:ext cx="4251960" cy="54864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Night-time lights in practice: what they have been used to measure</a:t>
            </a:r>
            <a:endParaRPr lang="en-US" sz="1500" dirty="0"/>
          </a:p>
        </p:txBody>
      </p:sp>
      <p:sp>
        <p:nvSpPr>
          <p:cNvPr id="23" name="Text 18"/>
          <p:cNvSpPr txBox="1"/>
          <p:nvPr/>
        </p:nvSpPr>
        <p:spPr>
          <a:xfrm>
            <a:off x="6446520" y="2651760"/>
            <a:ext cx="4892040" cy="27432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Review common applications: output proxies, electrification, urbanisation, damage assessment, activity mapping</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Assess how each use case was validated and where the proxy performs well</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Rebuild one application and compare it with an official indicator</a:t>
            </a:r>
            <a:endParaRPr lang="en-US" sz="1400" dirty="0"/>
          </a:p>
          <a:p>
            <a:pPr marL="177800" indent="-177800">
              <a:spcAft>
                <a:spcPts val="1000"/>
              </a:spcAft>
              <a:buSzPct val="100000"/>
              <a:buChar char="•"/>
            </a:pPr>
            <a:r>
              <a:rPr lang="en-US" sz="1400" dirty="0">
                <a:solidFill>
                  <a:srgbClr val="231F20"/>
                </a:solidFill>
                <a:latin typeface="Calibri" pitchFamily="34" charset="0"/>
                <a:ea typeface="Calibri" pitchFamily="34" charset="-122"/>
                <a:cs typeface="Calibri" pitchFamily="34" charset="-120"/>
              </a:rPr>
              <a:t>Report where the relationship holds — and where it breaks</a:t>
            </a:r>
            <a:endParaRPr lang="en-US" sz="1400" dirty="0"/>
          </a:p>
        </p:txBody>
      </p:sp>
      <p:sp>
        <p:nvSpPr>
          <p:cNvPr id="24" name="Shape 19"/>
          <p:cNvSpPr/>
          <p:nvPr/>
        </p:nvSpPr>
        <p:spPr>
          <a:xfrm>
            <a:off x="548640" y="5650992"/>
            <a:ext cx="11094415" cy="548640"/>
          </a:xfrm>
          <a:prstGeom prst="roundRect">
            <a:avLst>
              <a:gd name="adj" fmla="val 13333"/>
            </a:avLst>
          </a:prstGeom>
          <a:solidFill>
            <a:srgbClr val="FDF5DC"/>
          </a:solidFill>
          <a:ln w="9525">
            <a:solidFill>
              <a:srgbClr val="F5C242"/>
            </a:solidFill>
            <a:prstDash val="solid"/>
          </a:ln>
        </p:spPr>
      </p:sp>
      <p:sp>
        <p:nvSpPr>
          <p:cNvPr id="25" name="Text 20"/>
          <p:cNvSpPr txBox="1"/>
          <p:nvPr/>
        </p:nvSpPr>
        <p:spPr>
          <a:xfrm>
            <a:off x="777240" y="5650992"/>
            <a:ext cx="10637215" cy="54864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By the end you will hold three outputs:  </a:t>
            </a:r>
            <a:r>
              <a:rPr lang="en-US" sz="1200" dirty="0">
                <a:solidFill>
                  <a:srgbClr val="231F20"/>
                </a:solidFill>
                <a:latin typeface="Calibri" pitchFamily="34" charset="0"/>
                <a:ea typeface="Calibri" pitchFamily="34" charset="-122"/>
                <a:cs typeface="Calibri" pitchFamily="34" charset="-120"/>
              </a:rPr>
              <a:t>①  a clipped monthly composite for your country   ②  a masked national series with a limitations note   ③  one rebuilt application, compared with an official indicator.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SESSION OVERVIEW · RUNNING ORDER</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How the sessions run: concepts, then hands-on, twice</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CONTEXT</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a:t>
            </a:r>
            <a:endParaRPr lang="en-US" sz="900" dirty="0"/>
          </a:p>
        </p:txBody>
      </p:sp>
      <p:sp>
        <p:nvSpPr>
          <p:cNvPr id="12" name="Text 9"/>
          <p:cNvSpPr txBox="1"/>
          <p:nvPr/>
        </p:nvSpPr>
        <p:spPr>
          <a:xfrm>
            <a:off x="548640" y="1417320"/>
            <a:ext cx="3328325" cy="274320"/>
          </a:xfrm>
          <a:prstGeom prst="rect">
            <a:avLst/>
          </a:prstGeom>
          <a:noFill/>
          <a:ln/>
        </p:spPr>
        <p:txBody>
          <a:bodyPr wrap="square" lIns="0" tIns="0" rIns="0" bIns="0" rtlCol="0" anchor="t"/>
          <a:lstStyle/>
          <a:p>
            <a:pPr marL="0" indent="0" algn="ctr">
              <a:buNone/>
            </a:pPr>
            <a:r>
              <a:rPr lang="en-US" sz="1100" b="1" kern="0" spc="200" dirty="0">
                <a:solidFill>
                  <a:srgbClr val="00704A"/>
                </a:solidFill>
                <a:latin typeface="Calibri" pitchFamily="34" charset="0"/>
                <a:ea typeface="Calibri" pitchFamily="34" charset="-122"/>
                <a:cs typeface="Calibri" pitchFamily="34" charset="-120"/>
              </a:rPr>
              <a:t>SESSION A</a:t>
            </a:r>
            <a:endParaRPr lang="en-US" sz="1100" dirty="0"/>
          </a:p>
        </p:txBody>
      </p:sp>
      <p:sp>
        <p:nvSpPr>
          <p:cNvPr id="13" name="Text 10"/>
          <p:cNvSpPr txBox="1"/>
          <p:nvPr/>
        </p:nvSpPr>
        <p:spPr>
          <a:xfrm>
            <a:off x="4986406" y="1417320"/>
            <a:ext cx="6656649" cy="274320"/>
          </a:xfrm>
          <a:prstGeom prst="rect">
            <a:avLst/>
          </a:prstGeom>
          <a:noFill/>
          <a:ln/>
        </p:spPr>
        <p:txBody>
          <a:bodyPr wrap="square" lIns="0" tIns="0" rIns="0" bIns="0" rtlCol="0" anchor="t"/>
          <a:lstStyle/>
          <a:p>
            <a:pPr marL="0" indent="0" algn="ctr">
              <a:buNone/>
            </a:pPr>
            <a:r>
              <a:rPr lang="en-US" sz="1100" b="1" kern="0" spc="200" dirty="0">
                <a:solidFill>
                  <a:srgbClr val="00704A"/>
                </a:solidFill>
                <a:latin typeface="Calibri" pitchFamily="34" charset="0"/>
                <a:ea typeface="Calibri" pitchFamily="34" charset="-122"/>
                <a:cs typeface="Calibri" pitchFamily="34" charset="-120"/>
              </a:rPr>
              <a:t>SESSION B</a:t>
            </a:r>
            <a:endParaRPr lang="en-US" sz="1100" dirty="0"/>
          </a:p>
        </p:txBody>
      </p:sp>
      <p:sp>
        <p:nvSpPr>
          <p:cNvPr id="14" name="Shape 11"/>
          <p:cNvSpPr/>
          <p:nvPr/>
        </p:nvSpPr>
        <p:spPr>
          <a:xfrm>
            <a:off x="566928" y="2011680"/>
            <a:ext cx="1072866" cy="822960"/>
          </a:xfrm>
          <a:prstGeom prst="rect">
            <a:avLst/>
          </a:prstGeom>
          <a:solidFill>
            <a:srgbClr val="00704A"/>
          </a:solidFill>
          <a:ln w="6350">
            <a:solidFill>
              <a:srgbClr val="00704A"/>
            </a:solidFill>
            <a:prstDash val="solid"/>
          </a:ln>
        </p:spPr>
      </p:sp>
      <p:sp>
        <p:nvSpPr>
          <p:cNvPr id="15" name="Text 12"/>
          <p:cNvSpPr txBox="1"/>
          <p:nvPr/>
        </p:nvSpPr>
        <p:spPr>
          <a:xfrm>
            <a:off x="621792" y="2011680"/>
            <a:ext cx="963138"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Concepts</a:t>
            </a:r>
            <a:endParaRPr lang="en-US" sz="1200" dirty="0"/>
          </a:p>
        </p:txBody>
      </p:sp>
      <p:sp>
        <p:nvSpPr>
          <p:cNvPr id="16" name="Text 13"/>
          <p:cNvSpPr txBox="1"/>
          <p:nvPr/>
        </p:nvSpPr>
        <p:spPr>
          <a:xfrm>
            <a:off x="548640"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0′</a:t>
            </a:r>
            <a:endParaRPr lang="en-US" sz="1000" dirty="0"/>
          </a:p>
        </p:txBody>
      </p:sp>
      <p:sp>
        <p:nvSpPr>
          <p:cNvPr id="17" name="Shape 14"/>
          <p:cNvSpPr/>
          <p:nvPr/>
        </p:nvSpPr>
        <p:spPr>
          <a:xfrm>
            <a:off x="1676370" y="2011680"/>
            <a:ext cx="1072866" cy="822960"/>
          </a:xfrm>
          <a:prstGeom prst="rect">
            <a:avLst/>
          </a:prstGeom>
          <a:solidFill>
            <a:srgbClr val="F5C242"/>
          </a:solidFill>
          <a:ln w="6350">
            <a:solidFill>
              <a:srgbClr val="F5C242"/>
            </a:solidFill>
            <a:prstDash val="solid"/>
          </a:ln>
        </p:spPr>
      </p:sp>
      <p:sp>
        <p:nvSpPr>
          <p:cNvPr id="18" name="Text 15"/>
          <p:cNvSpPr txBox="1"/>
          <p:nvPr/>
        </p:nvSpPr>
        <p:spPr>
          <a:xfrm>
            <a:off x="1731234" y="2011680"/>
            <a:ext cx="963138" cy="822960"/>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Lab A1</a:t>
            </a:r>
            <a:endParaRPr lang="en-US" sz="1200" dirty="0"/>
          </a:p>
        </p:txBody>
      </p:sp>
      <p:sp>
        <p:nvSpPr>
          <p:cNvPr id="19" name="Text 16"/>
          <p:cNvSpPr txBox="1"/>
          <p:nvPr/>
        </p:nvSpPr>
        <p:spPr>
          <a:xfrm>
            <a:off x="1658082"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15′</a:t>
            </a:r>
            <a:endParaRPr lang="en-US" sz="1000" dirty="0"/>
          </a:p>
        </p:txBody>
      </p:sp>
      <p:sp>
        <p:nvSpPr>
          <p:cNvPr id="20" name="Shape 17"/>
          <p:cNvSpPr/>
          <p:nvPr/>
        </p:nvSpPr>
        <p:spPr>
          <a:xfrm>
            <a:off x="2785811" y="2011680"/>
            <a:ext cx="1072866" cy="822960"/>
          </a:xfrm>
          <a:prstGeom prst="rect">
            <a:avLst/>
          </a:prstGeom>
          <a:solidFill>
            <a:srgbClr val="F5C242"/>
          </a:solidFill>
          <a:ln w="6350">
            <a:solidFill>
              <a:srgbClr val="F5C242"/>
            </a:solidFill>
            <a:prstDash val="solid"/>
          </a:ln>
        </p:spPr>
      </p:sp>
      <p:sp>
        <p:nvSpPr>
          <p:cNvPr id="21" name="Text 18"/>
          <p:cNvSpPr txBox="1"/>
          <p:nvPr/>
        </p:nvSpPr>
        <p:spPr>
          <a:xfrm>
            <a:off x="2840675" y="2011680"/>
            <a:ext cx="963138" cy="822960"/>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Lab A2</a:t>
            </a:r>
            <a:endParaRPr lang="en-US" sz="1200" dirty="0"/>
          </a:p>
        </p:txBody>
      </p:sp>
      <p:sp>
        <p:nvSpPr>
          <p:cNvPr id="22" name="Text 19"/>
          <p:cNvSpPr txBox="1"/>
          <p:nvPr/>
        </p:nvSpPr>
        <p:spPr>
          <a:xfrm>
            <a:off x="2767523"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30′</a:t>
            </a:r>
            <a:endParaRPr lang="en-US" sz="1000" dirty="0"/>
          </a:p>
        </p:txBody>
      </p:sp>
      <p:sp>
        <p:nvSpPr>
          <p:cNvPr id="23" name="Shape 20"/>
          <p:cNvSpPr/>
          <p:nvPr/>
        </p:nvSpPr>
        <p:spPr>
          <a:xfrm>
            <a:off x="3895253" y="2011680"/>
            <a:ext cx="1072866" cy="822960"/>
          </a:xfrm>
          <a:prstGeom prst="rect">
            <a:avLst/>
          </a:prstGeom>
          <a:solidFill>
            <a:srgbClr val="D5DED9"/>
          </a:solidFill>
          <a:ln w="6350">
            <a:solidFill>
              <a:srgbClr val="D5DED9"/>
            </a:solidFill>
            <a:prstDash val="solid"/>
          </a:ln>
        </p:spPr>
      </p:sp>
      <p:sp>
        <p:nvSpPr>
          <p:cNvPr id="24" name="Text 21"/>
          <p:cNvSpPr txBox="1"/>
          <p:nvPr/>
        </p:nvSpPr>
        <p:spPr>
          <a:xfrm>
            <a:off x="3950117" y="2011680"/>
            <a:ext cx="963138" cy="82296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Break</a:t>
            </a:r>
            <a:endParaRPr lang="en-US" sz="1200" dirty="0"/>
          </a:p>
        </p:txBody>
      </p:sp>
      <p:sp>
        <p:nvSpPr>
          <p:cNvPr id="25" name="Text 22"/>
          <p:cNvSpPr txBox="1"/>
          <p:nvPr/>
        </p:nvSpPr>
        <p:spPr>
          <a:xfrm>
            <a:off x="3876965"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45′</a:t>
            </a:r>
            <a:endParaRPr lang="en-US" sz="1000" dirty="0"/>
          </a:p>
        </p:txBody>
      </p:sp>
      <p:sp>
        <p:nvSpPr>
          <p:cNvPr id="26" name="Shape 23"/>
          <p:cNvSpPr/>
          <p:nvPr/>
        </p:nvSpPr>
        <p:spPr>
          <a:xfrm>
            <a:off x="5004694" y="2011680"/>
            <a:ext cx="2182307" cy="822960"/>
          </a:xfrm>
          <a:prstGeom prst="rect">
            <a:avLst/>
          </a:prstGeom>
          <a:solidFill>
            <a:srgbClr val="00704A"/>
          </a:solidFill>
          <a:ln w="6350">
            <a:solidFill>
              <a:srgbClr val="00704A"/>
            </a:solidFill>
            <a:prstDash val="solid"/>
          </a:ln>
        </p:spPr>
      </p:sp>
      <p:sp>
        <p:nvSpPr>
          <p:cNvPr id="27" name="Text 24"/>
          <p:cNvSpPr txBox="1"/>
          <p:nvPr/>
        </p:nvSpPr>
        <p:spPr>
          <a:xfrm>
            <a:off x="5059558" y="2011680"/>
            <a:ext cx="2072579"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Applications</a:t>
            </a:r>
            <a:endParaRPr lang="en-US" sz="1200" dirty="0"/>
          </a:p>
        </p:txBody>
      </p:sp>
      <p:sp>
        <p:nvSpPr>
          <p:cNvPr id="28" name="Text 25"/>
          <p:cNvSpPr txBox="1"/>
          <p:nvPr/>
        </p:nvSpPr>
        <p:spPr>
          <a:xfrm>
            <a:off x="4986406"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60′</a:t>
            </a:r>
            <a:endParaRPr lang="en-US" sz="1000" dirty="0"/>
          </a:p>
        </p:txBody>
      </p:sp>
      <p:sp>
        <p:nvSpPr>
          <p:cNvPr id="29" name="Shape 26"/>
          <p:cNvSpPr/>
          <p:nvPr/>
        </p:nvSpPr>
        <p:spPr>
          <a:xfrm>
            <a:off x="7223577" y="2011680"/>
            <a:ext cx="3291749" cy="822960"/>
          </a:xfrm>
          <a:prstGeom prst="rect">
            <a:avLst/>
          </a:prstGeom>
          <a:solidFill>
            <a:srgbClr val="F5C242"/>
          </a:solidFill>
          <a:ln w="6350">
            <a:solidFill>
              <a:srgbClr val="F5C242"/>
            </a:solidFill>
            <a:prstDash val="solid"/>
          </a:ln>
        </p:spPr>
      </p:sp>
      <p:sp>
        <p:nvSpPr>
          <p:cNvPr id="30" name="Text 27"/>
          <p:cNvSpPr txBox="1"/>
          <p:nvPr/>
        </p:nvSpPr>
        <p:spPr>
          <a:xfrm>
            <a:off x="7278441" y="2011680"/>
            <a:ext cx="3182021" cy="822960"/>
          </a:xfrm>
          <a:prstGeom prst="rect">
            <a:avLst/>
          </a:prstGeom>
          <a:noFill/>
          <a:ln/>
        </p:spPr>
        <p:txBody>
          <a:bodyPr wrap="square" lIns="0" tIns="0" rIns="0" bIns="0" rtlCol="0" anchor="ctr"/>
          <a:lstStyle/>
          <a:p>
            <a:pPr marL="0" indent="0" algn="ctr">
              <a:buNone/>
            </a:pPr>
            <a:r>
              <a:rPr lang="en-US" sz="1200" b="1" dirty="0">
                <a:solidFill>
                  <a:srgbClr val="00553A"/>
                </a:solidFill>
                <a:latin typeface="Calibri" pitchFamily="34" charset="0"/>
                <a:ea typeface="Calibri" pitchFamily="34" charset="-122"/>
                <a:cs typeface="Calibri" pitchFamily="34" charset="-120"/>
              </a:rPr>
              <a:t>Lab B</a:t>
            </a:r>
            <a:endParaRPr lang="en-US" sz="1200" dirty="0"/>
          </a:p>
        </p:txBody>
      </p:sp>
      <p:sp>
        <p:nvSpPr>
          <p:cNvPr id="31" name="Text 28"/>
          <p:cNvSpPr txBox="1"/>
          <p:nvPr/>
        </p:nvSpPr>
        <p:spPr>
          <a:xfrm>
            <a:off x="7205289"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90′</a:t>
            </a:r>
            <a:endParaRPr lang="en-US" sz="1000" dirty="0"/>
          </a:p>
        </p:txBody>
      </p:sp>
      <p:sp>
        <p:nvSpPr>
          <p:cNvPr id="32" name="Shape 29"/>
          <p:cNvSpPr/>
          <p:nvPr/>
        </p:nvSpPr>
        <p:spPr>
          <a:xfrm>
            <a:off x="10551902" y="2011680"/>
            <a:ext cx="1072866" cy="822960"/>
          </a:xfrm>
          <a:prstGeom prst="rect">
            <a:avLst/>
          </a:prstGeom>
          <a:solidFill>
            <a:srgbClr val="00A86A"/>
          </a:solidFill>
          <a:ln w="6350">
            <a:solidFill>
              <a:srgbClr val="00A86A"/>
            </a:solidFill>
            <a:prstDash val="solid"/>
          </a:ln>
        </p:spPr>
      </p:sp>
      <p:sp>
        <p:nvSpPr>
          <p:cNvPr id="33" name="Text 30"/>
          <p:cNvSpPr txBox="1"/>
          <p:nvPr/>
        </p:nvSpPr>
        <p:spPr>
          <a:xfrm>
            <a:off x="10606766" y="2011680"/>
            <a:ext cx="963138"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Report back</a:t>
            </a:r>
            <a:endParaRPr lang="en-US" sz="1200" dirty="0"/>
          </a:p>
        </p:txBody>
      </p:sp>
      <p:sp>
        <p:nvSpPr>
          <p:cNvPr id="34" name="Text 31"/>
          <p:cNvSpPr txBox="1"/>
          <p:nvPr/>
        </p:nvSpPr>
        <p:spPr>
          <a:xfrm>
            <a:off x="10533614" y="2907792"/>
            <a:ext cx="914400" cy="228600"/>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135′</a:t>
            </a:r>
            <a:endParaRPr lang="en-US" sz="1000" dirty="0"/>
          </a:p>
        </p:txBody>
      </p:sp>
      <p:sp>
        <p:nvSpPr>
          <p:cNvPr id="35" name="Text 32"/>
          <p:cNvSpPr txBox="1"/>
          <p:nvPr/>
        </p:nvSpPr>
        <p:spPr>
          <a:xfrm>
            <a:off x="11185855" y="2907792"/>
            <a:ext cx="457200" cy="228600"/>
          </a:xfrm>
          <a:prstGeom prst="rect">
            <a:avLst/>
          </a:prstGeom>
          <a:noFill/>
          <a:ln/>
        </p:spPr>
        <p:txBody>
          <a:bodyPr wrap="square" lIns="0" tIns="0" rIns="0" bIns="0" rtlCol="0" anchor="t"/>
          <a:lstStyle/>
          <a:p>
            <a:pPr marL="0" indent="0" algn="r">
              <a:buNone/>
            </a:pPr>
            <a:r>
              <a:rPr lang="en-US" sz="1000" b="1" dirty="0">
                <a:solidFill>
                  <a:srgbClr val="5E6964"/>
                </a:solidFill>
                <a:latin typeface="Calibri" pitchFamily="34" charset="0"/>
                <a:ea typeface="Calibri" pitchFamily="34" charset="-122"/>
                <a:cs typeface="Calibri" pitchFamily="34" charset="-120"/>
              </a:rPr>
              <a:t>150′</a:t>
            </a:r>
            <a:endParaRPr lang="en-US" sz="1000" dirty="0"/>
          </a:p>
        </p:txBody>
      </p:sp>
      <p:sp>
        <p:nvSpPr>
          <p:cNvPr id="36" name="Shape 33"/>
          <p:cNvSpPr/>
          <p:nvPr/>
        </p:nvSpPr>
        <p:spPr>
          <a:xfrm>
            <a:off x="548640" y="3429000"/>
            <a:ext cx="2651760" cy="2148840"/>
          </a:xfrm>
          <a:prstGeom prst="roundRect">
            <a:avLst>
              <a:gd name="adj" fmla="val 3404"/>
            </a:avLst>
          </a:prstGeom>
          <a:solidFill>
            <a:srgbClr val="F4F7F5"/>
          </a:solidFill>
          <a:ln w="9525">
            <a:solidFill>
              <a:srgbClr val="D5DED9"/>
            </a:solidFill>
            <a:prstDash val="solid"/>
          </a:ln>
        </p:spPr>
      </p:sp>
      <p:sp>
        <p:nvSpPr>
          <p:cNvPr id="37" name="Shape 34"/>
          <p:cNvSpPr/>
          <p:nvPr/>
        </p:nvSpPr>
        <p:spPr>
          <a:xfrm>
            <a:off x="749808" y="3630168"/>
            <a:ext cx="457200" cy="457200"/>
          </a:xfrm>
          <a:prstGeom prst="ellipse">
            <a:avLst/>
          </a:prstGeom>
          <a:solidFill>
            <a:srgbClr val="00704A"/>
          </a:solidFill>
          <a:ln w="12700">
            <a:solidFill>
              <a:srgbClr val="00704A"/>
            </a:solidFill>
            <a:prstDash val="solid"/>
          </a:ln>
        </p:spPr>
      </p:sp>
      <p:pic>
        <p:nvPicPr>
          <p:cNvPr id="38" name="Image 1" descr="preencoded.png"/>
          <p:cNvPicPr>
            <a:picLocks noChangeAspect="1"/>
          </p:cNvPicPr>
          <p:nvPr/>
        </p:nvPicPr>
        <p:blipFill>
          <a:blip r:embed="rId4"/>
          <a:stretch>
            <a:fillRect/>
          </a:stretch>
        </p:blipFill>
        <p:spPr>
          <a:xfrm>
            <a:off x="868680" y="3749040"/>
            <a:ext cx="219456" cy="219456"/>
          </a:xfrm>
          <a:prstGeom prst="rect">
            <a:avLst/>
          </a:prstGeom>
        </p:spPr>
      </p:pic>
      <p:sp>
        <p:nvSpPr>
          <p:cNvPr id="39" name="Text 35"/>
          <p:cNvSpPr txBox="1"/>
          <p:nvPr/>
        </p:nvSpPr>
        <p:spPr>
          <a:xfrm>
            <a:off x="1325880" y="3630168"/>
            <a:ext cx="173736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Concepts · 15 min</a:t>
            </a:r>
            <a:endParaRPr lang="en-US" sz="1300" dirty="0"/>
          </a:p>
        </p:txBody>
      </p:sp>
      <p:sp>
        <p:nvSpPr>
          <p:cNvPr id="40" name="Text 36"/>
          <p:cNvSpPr txBox="1"/>
          <p:nvPr/>
        </p:nvSpPr>
        <p:spPr>
          <a:xfrm>
            <a:off x="749808" y="4251960"/>
            <a:ext cx="2249424" cy="12344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Fast tour of the physics, sensors and products. Reference slides are flagged — return to them during the labs.</a:t>
            </a:r>
            <a:endParaRPr lang="en-US" sz="1150" dirty="0"/>
          </a:p>
        </p:txBody>
      </p:sp>
      <p:sp>
        <p:nvSpPr>
          <p:cNvPr id="41" name="Shape 37"/>
          <p:cNvSpPr/>
          <p:nvPr/>
        </p:nvSpPr>
        <p:spPr>
          <a:xfrm>
            <a:off x="3355848" y="3429000"/>
            <a:ext cx="2651760" cy="2148840"/>
          </a:xfrm>
          <a:prstGeom prst="roundRect">
            <a:avLst>
              <a:gd name="adj" fmla="val 3404"/>
            </a:avLst>
          </a:prstGeom>
          <a:solidFill>
            <a:srgbClr val="F4F7F5"/>
          </a:solidFill>
          <a:ln w="9525">
            <a:solidFill>
              <a:srgbClr val="D5DED9"/>
            </a:solidFill>
            <a:prstDash val="solid"/>
          </a:ln>
        </p:spPr>
      </p:sp>
      <p:sp>
        <p:nvSpPr>
          <p:cNvPr id="42" name="Shape 38"/>
          <p:cNvSpPr/>
          <p:nvPr/>
        </p:nvSpPr>
        <p:spPr>
          <a:xfrm>
            <a:off x="3557016" y="3630168"/>
            <a:ext cx="457200" cy="457200"/>
          </a:xfrm>
          <a:prstGeom prst="ellipse">
            <a:avLst/>
          </a:prstGeom>
          <a:solidFill>
            <a:srgbClr val="F5C242"/>
          </a:solidFill>
          <a:ln w="12700">
            <a:solidFill>
              <a:srgbClr val="F5C242"/>
            </a:solidFill>
            <a:prstDash val="solid"/>
          </a:ln>
        </p:spPr>
      </p:sp>
      <p:pic>
        <p:nvPicPr>
          <p:cNvPr id="43" name="Image 2" descr="preencoded.png"/>
          <p:cNvPicPr>
            <a:picLocks noChangeAspect="1"/>
          </p:cNvPicPr>
          <p:nvPr/>
        </p:nvPicPr>
        <p:blipFill>
          <a:blip r:embed="rId5"/>
          <a:stretch>
            <a:fillRect/>
          </a:stretch>
        </p:blipFill>
        <p:spPr>
          <a:xfrm>
            <a:off x="3675888" y="3749040"/>
            <a:ext cx="219456" cy="219456"/>
          </a:xfrm>
          <a:prstGeom prst="rect">
            <a:avLst/>
          </a:prstGeom>
        </p:spPr>
      </p:pic>
      <p:sp>
        <p:nvSpPr>
          <p:cNvPr id="44" name="Text 39"/>
          <p:cNvSpPr txBox="1"/>
          <p:nvPr/>
        </p:nvSpPr>
        <p:spPr>
          <a:xfrm>
            <a:off x="4133088" y="3630168"/>
            <a:ext cx="173736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Lab A · 30 min</a:t>
            </a:r>
            <a:endParaRPr lang="en-US" sz="1300" dirty="0"/>
          </a:p>
        </p:txBody>
      </p:sp>
      <p:sp>
        <p:nvSpPr>
          <p:cNvPr id="45" name="Text 40"/>
          <p:cNvSpPr txBox="1"/>
          <p:nvPr/>
        </p:nvSpPr>
        <p:spPr>
          <a:xfrm>
            <a:off x="3557016" y="4251960"/>
            <a:ext cx="2249424" cy="12344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Download, clip, mask and aggregate one country. Output: a monthly national series plus a short limitations note.</a:t>
            </a:r>
            <a:endParaRPr lang="en-US" sz="1150" dirty="0"/>
          </a:p>
        </p:txBody>
      </p:sp>
      <p:sp>
        <p:nvSpPr>
          <p:cNvPr id="46" name="Shape 41"/>
          <p:cNvSpPr/>
          <p:nvPr/>
        </p:nvSpPr>
        <p:spPr>
          <a:xfrm>
            <a:off x="6163056" y="3429000"/>
            <a:ext cx="2651760" cy="2148840"/>
          </a:xfrm>
          <a:prstGeom prst="roundRect">
            <a:avLst>
              <a:gd name="adj" fmla="val 3404"/>
            </a:avLst>
          </a:prstGeom>
          <a:solidFill>
            <a:srgbClr val="F4F7F5"/>
          </a:solidFill>
          <a:ln w="9525">
            <a:solidFill>
              <a:srgbClr val="D5DED9"/>
            </a:solidFill>
            <a:prstDash val="solid"/>
          </a:ln>
        </p:spPr>
      </p:sp>
      <p:sp>
        <p:nvSpPr>
          <p:cNvPr id="47" name="Shape 42"/>
          <p:cNvSpPr/>
          <p:nvPr/>
        </p:nvSpPr>
        <p:spPr>
          <a:xfrm>
            <a:off x="6364224" y="3630168"/>
            <a:ext cx="457200" cy="457200"/>
          </a:xfrm>
          <a:prstGeom prst="ellipse">
            <a:avLst/>
          </a:prstGeom>
          <a:solidFill>
            <a:srgbClr val="F5C242"/>
          </a:solidFill>
          <a:ln w="12700">
            <a:solidFill>
              <a:srgbClr val="F5C242"/>
            </a:solidFill>
            <a:prstDash val="solid"/>
          </a:ln>
        </p:spPr>
      </p:sp>
      <p:pic>
        <p:nvPicPr>
          <p:cNvPr id="48" name="Image 3" descr="preencoded.png"/>
          <p:cNvPicPr>
            <a:picLocks noChangeAspect="1"/>
          </p:cNvPicPr>
          <p:nvPr/>
        </p:nvPicPr>
        <p:blipFill>
          <a:blip r:embed="rId6"/>
          <a:stretch>
            <a:fillRect/>
          </a:stretch>
        </p:blipFill>
        <p:spPr>
          <a:xfrm>
            <a:off x="6483096" y="3749040"/>
            <a:ext cx="219456" cy="219456"/>
          </a:xfrm>
          <a:prstGeom prst="rect">
            <a:avLst/>
          </a:prstGeom>
        </p:spPr>
      </p:pic>
      <p:sp>
        <p:nvSpPr>
          <p:cNvPr id="49" name="Text 43"/>
          <p:cNvSpPr txBox="1"/>
          <p:nvPr/>
        </p:nvSpPr>
        <p:spPr>
          <a:xfrm>
            <a:off x="6940296" y="3630168"/>
            <a:ext cx="173736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Lab B · 45 min</a:t>
            </a:r>
            <a:endParaRPr lang="en-US" sz="1300" dirty="0"/>
          </a:p>
        </p:txBody>
      </p:sp>
      <p:sp>
        <p:nvSpPr>
          <p:cNvPr id="50" name="Text 44"/>
          <p:cNvSpPr txBox="1"/>
          <p:nvPr/>
        </p:nvSpPr>
        <p:spPr>
          <a:xfrm>
            <a:off x="6364224" y="4251960"/>
            <a:ext cx="2249424" cy="12344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Choose output, electrification, urbanisation or shock. Compare your NTL indicator with an official series.</a:t>
            </a:r>
            <a:endParaRPr lang="en-US" sz="1150" dirty="0"/>
          </a:p>
        </p:txBody>
      </p:sp>
      <p:sp>
        <p:nvSpPr>
          <p:cNvPr id="51" name="Shape 45"/>
          <p:cNvSpPr/>
          <p:nvPr/>
        </p:nvSpPr>
        <p:spPr>
          <a:xfrm>
            <a:off x="8970264" y="3429000"/>
            <a:ext cx="2651760" cy="2148840"/>
          </a:xfrm>
          <a:prstGeom prst="roundRect">
            <a:avLst>
              <a:gd name="adj" fmla="val 3404"/>
            </a:avLst>
          </a:prstGeom>
          <a:solidFill>
            <a:srgbClr val="F4F7F5"/>
          </a:solidFill>
          <a:ln w="9525">
            <a:solidFill>
              <a:srgbClr val="D5DED9"/>
            </a:solidFill>
            <a:prstDash val="solid"/>
          </a:ln>
        </p:spPr>
      </p:sp>
      <p:sp>
        <p:nvSpPr>
          <p:cNvPr id="52" name="Shape 46"/>
          <p:cNvSpPr/>
          <p:nvPr/>
        </p:nvSpPr>
        <p:spPr>
          <a:xfrm>
            <a:off x="9171432" y="3630168"/>
            <a:ext cx="457200" cy="457200"/>
          </a:xfrm>
          <a:prstGeom prst="ellipse">
            <a:avLst/>
          </a:prstGeom>
          <a:solidFill>
            <a:srgbClr val="00704A"/>
          </a:solidFill>
          <a:ln w="12700">
            <a:solidFill>
              <a:srgbClr val="00704A"/>
            </a:solidFill>
            <a:prstDash val="solid"/>
          </a:ln>
        </p:spPr>
      </p:sp>
      <p:pic>
        <p:nvPicPr>
          <p:cNvPr id="53" name="Image 4" descr="preencoded.png"/>
          <p:cNvPicPr>
            <a:picLocks noChangeAspect="1"/>
          </p:cNvPicPr>
          <p:nvPr/>
        </p:nvPicPr>
        <p:blipFill>
          <a:blip r:embed="rId7"/>
          <a:stretch>
            <a:fillRect/>
          </a:stretch>
        </p:blipFill>
        <p:spPr>
          <a:xfrm>
            <a:off x="9290304" y="3749040"/>
            <a:ext cx="219456" cy="219456"/>
          </a:xfrm>
          <a:prstGeom prst="rect">
            <a:avLst/>
          </a:prstGeom>
        </p:spPr>
      </p:pic>
      <p:sp>
        <p:nvSpPr>
          <p:cNvPr id="54" name="Text 47"/>
          <p:cNvSpPr txBox="1"/>
          <p:nvPr/>
        </p:nvSpPr>
        <p:spPr>
          <a:xfrm>
            <a:off x="9747504" y="3630168"/>
            <a:ext cx="173736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Report back · 15 min</a:t>
            </a:r>
            <a:endParaRPr lang="en-US" sz="1300" dirty="0"/>
          </a:p>
        </p:txBody>
      </p:sp>
      <p:sp>
        <p:nvSpPr>
          <p:cNvPr id="55" name="Text 48"/>
          <p:cNvSpPr txBox="1"/>
          <p:nvPr/>
        </p:nvSpPr>
        <p:spPr>
          <a:xfrm>
            <a:off x="9171432" y="4251960"/>
            <a:ext cx="2249424" cy="12344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Each table states in one sentence where the relationship held, where it broke, and why.</a:t>
            </a:r>
            <a:endParaRPr lang="en-US" sz="1150" dirty="0"/>
          </a:p>
        </p:txBody>
      </p:sp>
      <p:sp>
        <p:nvSpPr>
          <p:cNvPr id="56" name="Text 49"/>
          <p:cNvSpPr txBox="1"/>
          <p:nvPr/>
        </p:nvSpPr>
        <p:spPr>
          <a:xfrm>
            <a:off x="548640" y="5806440"/>
            <a:ext cx="11094415" cy="320040"/>
          </a:xfrm>
          <a:prstGeom prst="rect">
            <a:avLst/>
          </a:prstGeom>
          <a:noFill/>
          <a:ln/>
        </p:spPr>
        <p:txBody>
          <a:bodyPr wrap="square" lIns="0" tIns="0" rIns="0" bIns="0" rtlCol="0" anchor="t"/>
          <a:lstStyle/>
          <a:p>
            <a:pPr marL="0" indent="0">
              <a:buNone/>
            </a:pPr>
            <a:r>
              <a:rPr lang="en-US" sz="1150" b="1" dirty="0">
                <a:solidFill>
                  <a:srgbClr val="00704A"/>
                </a:solidFill>
                <a:latin typeface="Calibri" pitchFamily="34" charset="0"/>
                <a:ea typeface="Calibri" pitchFamily="34" charset="-122"/>
                <a:cs typeface="Calibri" pitchFamily="34" charset="-120"/>
              </a:rPr>
              <a:t>Afterwards  The boundaries, grids and zonal statistics produced here can be reused for cropland and built-up analyses.</a:t>
            </a:r>
            <a:r>
              <a:rPr lang="en-US" sz="1150" dirty="0">
                <a:solidFill>
                  <a:srgbClr val="231F20"/>
                </a:solidFill>
                <a:latin typeface="Calibri" pitchFamily="34" charset="0"/>
                <a:ea typeface="Calibri" pitchFamily="34" charset="-122"/>
                <a:cs typeface="Calibri" pitchFamily="34" charset="-120"/>
              </a:rPr>
              <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Maghreb coast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SECTION 1</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Foundations</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Why should a photograph of the dark tell us anything about an economy?</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The core idea  ·  Definitions  ·  The inferential chain  ·  What the sensor sees  ·  Why it matters</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SESSION A  ·  ≈ 5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01 · FOUNDATIONS · THE CORE IDEA</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Light is what human activity leaks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a:t>
            </a:r>
            <a:endParaRPr lang="en-US" sz="900" dirty="0"/>
          </a:p>
        </p:txBody>
      </p:sp>
      <p:sp>
        <p:nvSpPr>
          <p:cNvPr id="12" name="Text 9"/>
          <p:cNvSpPr txBox="1"/>
          <p:nvPr/>
        </p:nvSpPr>
        <p:spPr>
          <a:xfrm>
            <a:off x="548640" y="1371600"/>
            <a:ext cx="6766560" cy="685800"/>
          </a:xfrm>
          <a:prstGeom prst="rect">
            <a:avLst/>
          </a:prstGeom>
          <a:noFill/>
          <a:ln/>
        </p:spPr>
        <p:txBody>
          <a:bodyPr wrap="square" lIns="0" tIns="0" rIns="0" bIns="0" rtlCol="0" anchor="t"/>
          <a:lstStyle/>
          <a:p>
            <a:pPr marL="0" indent="0">
              <a:buNone/>
            </a:pPr>
            <a:r>
              <a:rPr lang="en-US" sz="1500" i="1" dirty="0">
                <a:solidFill>
                  <a:srgbClr val="00A86A"/>
                </a:solidFill>
                <a:latin typeface="Calibri" pitchFamily="34" charset="0"/>
                <a:ea typeface="Calibri" pitchFamily="34" charset="-122"/>
                <a:cs typeface="Calibri" pitchFamily="34" charset="-120"/>
              </a:rPr>
              <a:t>Almost everything people do after sunset requires light — and part of that light escapes upward, into the field of view of a satellite.</a:t>
            </a:r>
            <a:endParaRPr lang="en-US" sz="1500" dirty="0"/>
          </a:p>
        </p:txBody>
      </p:sp>
      <p:sp>
        <p:nvSpPr>
          <p:cNvPr id="13" name="Text 10"/>
          <p:cNvSpPr txBox="1"/>
          <p:nvPr/>
        </p:nvSpPr>
        <p:spPr>
          <a:xfrm>
            <a:off x="548640" y="2103120"/>
            <a:ext cx="6766560" cy="64008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That physical fact turns the night side of the planet into an observation of human presence that no census, survey or administrative register can match on all four properties at once:</a:t>
            </a:r>
            <a:endParaRPr lang="en-US" sz="1250" dirty="0"/>
          </a:p>
        </p:txBody>
      </p:sp>
      <p:sp>
        <p:nvSpPr>
          <p:cNvPr id="14" name="Shape 11"/>
          <p:cNvSpPr/>
          <p:nvPr/>
        </p:nvSpPr>
        <p:spPr>
          <a:xfrm>
            <a:off x="548640" y="2971800"/>
            <a:ext cx="3291840" cy="1261872"/>
          </a:xfrm>
          <a:prstGeom prst="roundRect">
            <a:avLst>
              <a:gd name="adj" fmla="val 5797"/>
            </a:avLst>
          </a:prstGeom>
          <a:solidFill>
            <a:srgbClr val="F4F7F5"/>
          </a:solidFill>
          <a:ln w="9525">
            <a:solidFill>
              <a:srgbClr val="D5DED9"/>
            </a:solidFill>
            <a:prstDash val="solid"/>
          </a:ln>
        </p:spPr>
      </p:sp>
      <p:sp>
        <p:nvSpPr>
          <p:cNvPr id="15" name="Shape 12"/>
          <p:cNvSpPr/>
          <p:nvPr/>
        </p:nvSpPr>
        <p:spPr>
          <a:xfrm>
            <a:off x="749808" y="3282696"/>
            <a:ext cx="640080" cy="64008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4"/>
          <a:stretch>
            <a:fillRect/>
          </a:stretch>
        </p:blipFill>
        <p:spPr>
          <a:xfrm>
            <a:off x="916229" y="3449117"/>
            <a:ext cx="307238" cy="307238"/>
          </a:xfrm>
          <a:prstGeom prst="rect">
            <a:avLst/>
          </a:prstGeom>
        </p:spPr>
      </p:pic>
      <p:sp>
        <p:nvSpPr>
          <p:cNvPr id="17" name="Text 13"/>
          <p:cNvSpPr txBox="1"/>
          <p:nvPr/>
        </p:nvSpPr>
        <p:spPr>
          <a:xfrm>
            <a:off x="1554480" y="3246120"/>
            <a:ext cx="219456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Globally consistent</a:t>
            </a:r>
            <a:endParaRPr lang="en-US" sz="1500" dirty="0"/>
          </a:p>
        </p:txBody>
      </p:sp>
      <p:sp>
        <p:nvSpPr>
          <p:cNvPr id="18" name="Text 14"/>
          <p:cNvSpPr txBox="1"/>
          <p:nvPr/>
        </p:nvSpPr>
        <p:spPr>
          <a:xfrm>
            <a:off x="1554480" y="3630168"/>
            <a:ext cx="2194560" cy="36576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Same method in every country</a:t>
            </a:r>
            <a:endParaRPr lang="en-US" sz="1250" dirty="0"/>
          </a:p>
        </p:txBody>
      </p:sp>
      <p:sp>
        <p:nvSpPr>
          <p:cNvPr id="19" name="Shape 15"/>
          <p:cNvSpPr/>
          <p:nvPr/>
        </p:nvSpPr>
        <p:spPr>
          <a:xfrm>
            <a:off x="3977640" y="2971800"/>
            <a:ext cx="3291840" cy="1261872"/>
          </a:xfrm>
          <a:prstGeom prst="roundRect">
            <a:avLst>
              <a:gd name="adj" fmla="val 5797"/>
            </a:avLst>
          </a:prstGeom>
          <a:solidFill>
            <a:srgbClr val="F4F7F5"/>
          </a:solidFill>
          <a:ln w="9525">
            <a:solidFill>
              <a:srgbClr val="D5DED9"/>
            </a:solidFill>
            <a:prstDash val="solid"/>
          </a:ln>
        </p:spPr>
      </p:sp>
      <p:sp>
        <p:nvSpPr>
          <p:cNvPr id="20" name="Shape 16"/>
          <p:cNvSpPr/>
          <p:nvPr/>
        </p:nvSpPr>
        <p:spPr>
          <a:xfrm>
            <a:off x="4178808" y="3282696"/>
            <a:ext cx="640080" cy="64008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5"/>
          <a:stretch>
            <a:fillRect/>
          </a:stretch>
        </p:blipFill>
        <p:spPr>
          <a:xfrm>
            <a:off x="4345229" y="3449117"/>
            <a:ext cx="307238" cy="307238"/>
          </a:xfrm>
          <a:prstGeom prst="rect">
            <a:avLst/>
          </a:prstGeom>
        </p:spPr>
      </p:pic>
      <p:sp>
        <p:nvSpPr>
          <p:cNvPr id="22" name="Text 17"/>
          <p:cNvSpPr txBox="1"/>
          <p:nvPr/>
        </p:nvSpPr>
        <p:spPr>
          <a:xfrm>
            <a:off x="4983480" y="3246120"/>
            <a:ext cx="219456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Spatially continuous</a:t>
            </a:r>
            <a:endParaRPr lang="en-US" sz="1500" dirty="0"/>
          </a:p>
        </p:txBody>
      </p:sp>
      <p:sp>
        <p:nvSpPr>
          <p:cNvPr id="23" name="Text 18"/>
          <p:cNvSpPr txBox="1"/>
          <p:nvPr/>
        </p:nvSpPr>
        <p:spPr>
          <a:xfrm>
            <a:off x="4983480" y="3630168"/>
            <a:ext cx="2194560" cy="36576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Every ≈ 500 m grid cell</a:t>
            </a:r>
            <a:endParaRPr lang="en-US" sz="1250" dirty="0"/>
          </a:p>
        </p:txBody>
      </p:sp>
      <p:sp>
        <p:nvSpPr>
          <p:cNvPr id="24" name="Shape 19"/>
          <p:cNvSpPr/>
          <p:nvPr/>
        </p:nvSpPr>
        <p:spPr>
          <a:xfrm>
            <a:off x="548640" y="4389120"/>
            <a:ext cx="3291840" cy="1261872"/>
          </a:xfrm>
          <a:prstGeom prst="roundRect">
            <a:avLst>
              <a:gd name="adj" fmla="val 5797"/>
            </a:avLst>
          </a:prstGeom>
          <a:solidFill>
            <a:srgbClr val="F4F7F5"/>
          </a:solidFill>
          <a:ln w="9525">
            <a:solidFill>
              <a:srgbClr val="D5DED9"/>
            </a:solidFill>
            <a:prstDash val="solid"/>
          </a:ln>
        </p:spPr>
      </p:sp>
      <p:sp>
        <p:nvSpPr>
          <p:cNvPr id="25" name="Shape 20"/>
          <p:cNvSpPr/>
          <p:nvPr/>
        </p:nvSpPr>
        <p:spPr>
          <a:xfrm>
            <a:off x="749808" y="4700016"/>
            <a:ext cx="640080" cy="64008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6"/>
          <a:stretch>
            <a:fillRect/>
          </a:stretch>
        </p:blipFill>
        <p:spPr>
          <a:xfrm>
            <a:off x="916229" y="4866437"/>
            <a:ext cx="307238" cy="307238"/>
          </a:xfrm>
          <a:prstGeom prst="rect">
            <a:avLst/>
          </a:prstGeom>
        </p:spPr>
      </p:pic>
      <p:sp>
        <p:nvSpPr>
          <p:cNvPr id="27" name="Text 21"/>
          <p:cNvSpPr txBox="1"/>
          <p:nvPr/>
        </p:nvSpPr>
        <p:spPr>
          <a:xfrm>
            <a:off x="1554480" y="4663440"/>
            <a:ext cx="219456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Politically neutral</a:t>
            </a:r>
            <a:endParaRPr lang="en-US" sz="1500" dirty="0"/>
          </a:p>
        </p:txBody>
      </p:sp>
      <p:sp>
        <p:nvSpPr>
          <p:cNvPr id="28" name="Text 22"/>
          <p:cNvSpPr txBox="1"/>
          <p:nvPr/>
        </p:nvSpPr>
        <p:spPr>
          <a:xfrm>
            <a:off x="1554480" y="5047488"/>
            <a:ext cx="2194560" cy="36576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Independent of reporting</a:t>
            </a:r>
            <a:endParaRPr lang="en-US" sz="1250" dirty="0"/>
          </a:p>
        </p:txBody>
      </p:sp>
      <p:sp>
        <p:nvSpPr>
          <p:cNvPr id="29" name="Shape 23"/>
          <p:cNvSpPr/>
          <p:nvPr/>
        </p:nvSpPr>
        <p:spPr>
          <a:xfrm>
            <a:off x="3977640" y="4389120"/>
            <a:ext cx="3291840" cy="1261872"/>
          </a:xfrm>
          <a:prstGeom prst="roundRect">
            <a:avLst>
              <a:gd name="adj" fmla="val 5797"/>
            </a:avLst>
          </a:prstGeom>
          <a:solidFill>
            <a:srgbClr val="F4F7F5"/>
          </a:solidFill>
          <a:ln w="9525">
            <a:solidFill>
              <a:srgbClr val="D5DED9"/>
            </a:solidFill>
            <a:prstDash val="solid"/>
          </a:ln>
        </p:spPr>
      </p:sp>
      <p:sp>
        <p:nvSpPr>
          <p:cNvPr id="30" name="Shape 24"/>
          <p:cNvSpPr/>
          <p:nvPr/>
        </p:nvSpPr>
        <p:spPr>
          <a:xfrm>
            <a:off x="4178808" y="4700016"/>
            <a:ext cx="640080" cy="640080"/>
          </a:xfrm>
          <a:prstGeom prst="ellipse">
            <a:avLst/>
          </a:prstGeom>
          <a:solidFill>
            <a:srgbClr val="E8F5EF"/>
          </a:solidFill>
          <a:ln w="12700">
            <a:solidFill>
              <a:srgbClr val="E8F5EF"/>
            </a:solidFill>
            <a:prstDash val="solid"/>
          </a:ln>
        </p:spPr>
      </p:sp>
      <p:pic>
        <p:nvPicPr>
          <p:cNvPr id="31" name="Image 4" descr="preencoded.png"/>
          <p:cNvPicPr>
            <a:picLocks noChangeAspect="1"/>
          </p:cNvPicPr>
          <p:nvPr/>
        </p:nvPicPr>
        <p:blipFill>
          <a:blip r:embed="rId7"/>
          <a:stretch>
            <a:fillRect/>
          </a:stretch>
        </p:blipFill>
        <p:spPr>
          <a:xfrm>
            <a:off x="4345229" y="4866437"/>
            <a:ext cx="307238" cy="307238"/>
          </a:xfrm>
          <a:prstGeom prst="rect">
            <a:avLst/>
          </a:prstGeom>
        </p:spPr>
      </p:pic>
      <p:sp>
        <p:nvSpPr>
          <p:cNvPr id="32" name="Text 25"/>
          <p:cNvSpPr txBox="1"/>
          <p:nvPr/>
        </p:nvSpPr>
        <p:spPr>
          <a:xfrm>
            <a:off x="4983480" y="4663440"/>
            <a:ext cx="219456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Freely available</a:t>
            </a:r>
            <a:endParaRPr lang="en-US" sz="1500" dirty="0"/>
          </a:p>
        </p:txBody>
      </p:sp>
      <p:sp>
        <p:nvSpPr>
          <p:cNvPr id="33" name="Text 26"/>
          <p:cNvSpPr txBox="1"/>
          <p:nvPr/>
        </p:nvSpPr>
        <p:spPr>
          <a:xfrm>
            <a:off x="4983480" y="5047488"/>
            <a:ext cx="2194560" cy="36576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Open NASA / EOG products</a:t>
            </a:r>
            <a:endParaRPr lang="en-US" sz="1250" dirty="0"/>
          </a:p>
        </p:txBody>
      </p:sp>
      <p:sp>
        <p:nvSpPr>
          <p:cNvPr id="34" name="Shape 27"/>
          <p:cNvSpPr/>
          <p:nvPr/>
        </p:nvSpPr>
        <p:spPr>
          <a:xfrm>
            <a:off x="7680960" y="1371600"/>
            <a:ext cx="3959352" cy="960120"/>
          </a:xfrm>
          <a:prstGeom prst="roundRect">
            <a:avLst>
              <a:gd name="adj" fmla="val 7619"/>
            </a:avLst>
          </a:prstGeom>
          <a:solidFill>
            <a:srgbClr val="FFFFFF"/>
          </a:solidFill>
          <a:ln w="9525">
            <a:solidFill>
              <a:srgbClr val="D5DED9"/>
            </a:solidFill>
            <a:prstDash val="solid"/>
          </a:ln>
        </p:spPr>
      </p:sp>
      <p:sp>
        <p:nvSpPr>
          <p:cNvPr id="35" name="Text 28"/>
          <p:cNvSpPr txBox="1"/>
          <p:nvPr/>
        </p:nvSpPr>
        <p:spPr>
          <a:xfrm>
            <a:off x="7818120" y="1371600"/>
            <a:ext cx="1463040" cy="960120"/>
          </a:xfrm>
          <a:prstGeom prst="rect">
            <a:avLst/>
          </a:prstGeom>
          <a:noFill/>
          <a:ln/>
        </p:spPr>
        <p:txBody>
          <a:bodyPr wrap="square" lIns="0" tIns="0" rIns="0" bIns="0" rtlCol="0" anchor="ctr"/>
          <a:lstStyle/>
          <a:p>
            <a:pPr marL="0" indent="0">
              <a:buNone/>
            </a:pPr>
            <a:r>
              <a:rPr lang="en-US" sz="2400" b="1" dirty="0">
                <a:solidFill>
                  <a:srgbClr val="00704A"/>
                </a:solidFill>
                <a:latin typeface="Calibri" pitchFamily="34" charset="0"/>
                <a:ea typeface="Calibri" pitchFamily="34" charset="-122"/>
                <a:cs typeface="Calibri" pitchFamily="34" charset="-120"/>
              </a:rPr>
              <a:t>1992</a:t>
            </a:r>
            <a:endParaRPr lang="en-US" sz="2400" dirty="0"/>
          </a:p>
        </p:txBody>
      </p:sp>
      <p:sp>
        <p:nvSpPr>
          <p:cNvPr id="36" name="Text 29"/>
          <p:cNvSpPr txBox="1"/>
          <p:nvPr/>
        </p:nvSpPr>
        <p:spPr>
          <a:xfrm>
            <a:off x="9281160" y="1463040"/>
            <a:ext cx="2286000" cy="77724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Start of the continuous digital DMSP record — three decades of history</a:t>
            </a:r>
            <a:endParaRPr lang="en-US" sz="1050" dirty="0"/>
          </a:p>
        </p:txBody>
      </p:sp>
      <p:sp>
        <p:nvSpPr>
          <p:cNvPr id="37" name="Shape 30"/>
          <p:cNvSpPr/>
          <p:nvPr/>
        </p:nvSpPr>
        <p:spPr>
          <a:xfrm>
            <a:off x="7680960" y="2450592"/>
            <a:ext cx="3959352" cy="960120"/>
          </a:xfrm>
          <a:prstGeom prst="roundRect">
            <a:avLst>
              <a:gd name="adj" fmla="val 7619"/>
            </a:avLst>
          </a:prstGeom>
          <a:solidFill>
            <a:srgbClr val="FFFFFF"/>
          </a:solidFill>
          <a:ln w="9525">
            <a:solidFill>
              <a:srgbClr val="D5DED9"/>
            </a:solidFill>
            <a:prstDash val="solid"/>
          </a:ln>
        </p:spPr>
      </p:sp>
      <p:sp>
        <p:nvSpPr>
          <p:cNvPr id="38" name="Text 31"/>
          <p:cNvSpPr txBox="1"/>
          <p:nvPr/>
        </p:nvSpPr>
        <p:spPr>
          <a:xfrm>
            <a:off x="7818120" y="2450592"/>
            <a:ext cx="1463040" cy="960120"/>
          </a:xfrm>
          <a:prstGeom prst="rect">
            <a:avLst/>
          </a:prstGeom>
          <a:noFill/>
          <a:ln/>
        </p:spPr>
        <p:txBody>
          <a:bodyPr wrap="square" lIns="0" tIns="0" rIns="0" bIns="0" rtlCol="0" anchor="ctr"/>
          <a:lstStyle/>
          <a:p>
            <a:pPr marL="0" indent="0">
              <a:buNone/>
            </a:pPr>
            <a:r>
              <a:rPr lang="en-US" sz="2400" b="1" dirty="0">
                <a:solidFill>
                  <a:srgbClr val="00704A"/>
                </a:solidFill>
                <a:latin typeface="Calibri" pitchFamily="34" charset="0"/>
                <a:ea typeface="Calibri" pitchFamily="34" charset="-122"/>
                <a:cs typeface="Calibri" pitchFamily="34" charset="-120"/>
              </a:rPr>
              <a:t>≈ 500 m</a:t>
            </a:r>
            <a:endParaRPr lang="en-US" sz="2400" dirty="0"/>
          </a:p>
        </p:txBody>
      </p:sp>
      <p:sp>
        <p:nvSpPr>
          <p:cNvPr id="39" name="Text 32"/>
          <p:cNvSpPr txBox="1"/>
          <p:nvPr/>
        </p:nvSpPr>
        <p:spPr>
          <a:xfrm>
            <a:off x="9281160" y="2542032"/>
            <a:ext cx="2286000" cy="77724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Black Marble grid (15 arc-seconds); native VIIRS DNB pixel ≈ 742 m, near-constant across the swath</a:t>
            </a:r>
            <a:endParaRPr lang="en-US" sz="1050" dirty="0"/>
          </a:p>
        </p:txBody>
      </p:sp>
      <p:sp>
        <p:nvSpPr>
          <p:cNvPr id="40" name="Shape 33"/>
          <p:cNvSpPr/>
          <p:nvPr/>
        </p:nvSpPr>
        <p:spPr>
          <a:xfrm>
            <a:off x="7680960" y="3529584"/>
            <a:ext cx="3959352" cy="960120"/>
          </a:xfrm>
          <a:prstGeom prst="roundRect">
            <a:avLst>
              <a:gd name="adj" fmla="val 7619"/>
            </a:avLst>
          </a:prstGeom>
          <a:solidFill>
            <a:srgbClr val="FFFFFF"/>
          </a:solidFill>
          <a:ln w="9525">
            <a:solidFill>
              <a:srgbClr val="D5DED9"/>
            </a:solidFill>
            <a:prstDash val="solid"/>
          </a:ln>
        </p:spPr>
      </p:sp>
      <p:sp>
        <p:nvSpPr>
          <p:cNvPr id="41" name="Text 34"/>
          <p:cNvSpPr txBox="1"/>
          <p:nvPr/>
        </p:nvSpPr>
        <p:spPr>
          <a:xfrm>
            <a:off x="7818120" y="3529584"/>
            <a:ext cx="1463040" cy="960120"/>
          </a:xfrm>
          <a:prstGeom prst="rect">
            <a:avLst/>
          </a:prstGeom>
          <a:noFill/>
          <a:ln/>
        </p:spPr>
        <p:txBody>
          <a:bodyPr wrap="square" lIns="0" tIns="0" rIns="0" bIns="0" rtlCol="0" anchor="ctr"/>
          <a:lstStyle/>
          <a:p>
            <a:pPr marL="0" indent="0">
              <a:buNone/>
            </a:pPr>
            <a:r>
              <a:rPr lang="en-US" sz="2400" b="1" dirty="0">
                <a:solidFill>
                  <a:srgbClr val="00704A"/>
                </a:solidFill>
                <a:latin typeface="Calibri" pitchFamily="34" charset="0"/>
                <a:ea typeface="Calibri" pitchFamily="34" charset="-122"/>
                <a:cs typeface="Calibri" pitchFamily="34" charset="-120"/>
              </a:rPr>
              <a:t>Nightly</a:t>
            </a:r>
            <a:endParaRPr lang="en-US" sz="2400" dirty="0"/>
          </a:p>
        </p:txBody>
      </p:sp>
      <p:sp>
        <p:nvSpPr>
          <p:cNvPr id="42" name="Text 35"/>
          <p:cNvSpPr txBox="1"/>
          <p:nvPr/>
        </p:nvSpPr>
        <p:spPr>
          <a:xfrm>
            <a:off x="9281160" y="3621024"/>
            <a:ext cx="2286000" cy="77724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Global VIIRS overpass around 01:30 local time, since 2012</a:t>
            </a:r>
            <a:endParaRPr lang="en-US" sz="1050" dirty="0"/>
          </a:p>
        </p:txBody>
      </p:sp>
      <p:sp>
        <p:nvSpPr>
          <p:cNvPr id="43" name="Shape 36"/>
          <p:cNvSpPr/>
          <p:nvPr/>
        </p:nvSpPr>
        <p:spPr>
          <a:xfrm>
            <a:off x="7680960" y="4663440"/>
            <a:ext cx="3959352" cy="1143000"/>
          </a:xfrm>
          <a:prstGeom prst="roundRect">
            <a:avLst>
              <a:gd name="adj" fmla="val 6400"/>
            </a:avLst>
          </a:prstGeom>
          <a:solidFill>
            <a:srgbClr val="00553A"/>
          </a:solidFill>
          <a:ln w="9525">
            <a:solidFill>
              <a:srgbClr val="00553A"/>
            </a:solidFill>
            <a:prstDash val="solid"/>
          </a:ln>
        </p:spPr>
      </p:sp>
      <p:sp>
        <p:nvSpPr>
          <p:cNvPr id="44" name="Text 37"/>
          <p:cNvSpPr txBox="1"/>
          <p:nvPr/>
        </p:nvSpPr>
        <p:spPr>
          <a:xfrm>
            <a:off x="7863840" y="4663440"/>
            <a:ext cx="3611880" cy="1143000"/>
          </a:xfrm>
          <a:prstGeom prst="rect">
            <a:avLst/>
          </a:prstGeom>
          <a:noFill/>
          <a:ln/>
        </p:spPr>
        <p:txBody>
          <a:bodyPr wrap="square" lIns="0" tIns="0" rIns="0" bIns="0" rtlCol="0" anchor="ctr"/>
          <a:lstStyle/>
          <a:p>
            <a:pPr marL="0" indent="0">
              <a:buNone/>
            </a:pPr>
            <a:r>
              <a:rPr lang="en-US" sz="1200" b="1" dirty="0">
                <a:solidFill>
                  <a:srgbClr val="F5C242"/>
                </a:solidFill>
                <a:latin typeface="Calibri" pitchFamily="34" charset="0"/>
                <a:ea typeface="Calibri" pitchFamily="34" charset="-122"/>
                <a:cs typeface="Calibri" pitchFamily="34" charset="-120"/>
              </a:rPr>
              <a:t>For a statistical office: </a:t>
            </a:r>
            <a:r>
              <a:rPr lang="en-US" sz="1200" dirty="0">
                <a:solidFill>
                  <a:srgbClr val="FFFFFF"/>
                </a:solidFill>
                <a:latin typeface="Calibri" pitchFamily="34" charset="0"/>
                <a:ea typeface="Calibri" pitchFamily="34" charset="-122"/>
                <a:cs typeface="Calibri" pitchFamily="34" charset="-120"/>
              </a:rPr>
              <a:t>censuses come roughly once a decade, surveys every few years, quarterly GDP with a lag — lights arrive every night, for every district.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01 · FOUNDATIONS · DEFINITIONS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What night-time lights are — and are not</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a:t>
            </a:r>
            <a:endParaRPr lang="en-US" sz="900" dirty="0"/>
          </a:p>
        </p:txBody>
      </p:sp>
      <p:sp>
        <p:nvSpPr>
          <p:cNvPr id="12" name="Shape 9"/>
          <p:cNvSpPr/>
          <p:nvPr/>
        </p:nvSpPr>
        <p:spPr>
          <a:xfrm>
            <a:off x="548640" y="1371600"/>
            <a:ext cx="11094415" cy="960120"/>
          </a:xfrm>
          <a:prstGeom prst="roundRect">
            <a:avLst>
              <a:gd name="adj" fmla="val 7619"/>
            </a:avLst>
          </a:prstGeom>
          <a:solidFill>
            <a:srgbClr val="E8F5EF"/>
          </a:solidFill>
          <a:ln w="9525">
            <a:solidFill>
              <a:srgbClr val="00A86A"/>
            </a:solidFill>
            <a:prstDash val="solid"/>
          </a:ln>
        </p:spPr>
      </p:sp>
      <p:sp>
        <p:nvSpPr>
          <p:cNvPr id="13" name="Shape 10"/>
          <p:cNvSpPr/>
          <p:nvPr/>
        </p:nvSpPr>
        <p:spPr>
          <a:xfrm>
            <a:off x="777240"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19886" y="1715414"/>
            <a:ext cx="263347" cy="263347"/>
          </a:xfrm>
          <a:prstGeom prst="rect">
            <a:avLst/>
          </a:prstGeom>
        </p:spPr>
      </p:pic>
      <p:sp>
        <p:nvSpPr>
          <p:cNvPr id="15" name="Text 11"/>
          <p:cNvSpPr txBox="1"/>
          <p:nvPr/>
        </p:nvSpPr>
        <p:spPr>
          <a:xfrm>
            <a:off x="1554480" y="1481328"/>
            <a:ext cx="3657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WORKING DEFINITION</a:t>
            </a:r>
            <a:endParaRPr lang="en-US" sz="1000" dirty="0"/>
          </a:p>
        </p:txBody>
      </p:sp>
      <p:sp>
        <p:nvSpPr>
          <p:cNvPr id="16" name="Text 12"/>
          <p:cNvSpPr txBox="1"/>
          <p:nvPr/>
        </p:nvSpPr>
        <p:spPr>
          <a:xfrm>
            <a:off x="1554480" y="1719072"/>
            <a:ext cx="9875520" cy="594360"/>
          </a:xfrm>
          <a:prstGeom prst="rect">
            <a:avLst/>
          </a:prstGeom>
          <a:noFill/>
          <a:ln/>
        </p:spPr>
        <p:txBody>
          <a:bodyPr wrap="square" lIns="0" tIns="0" rIns="0" bIns="0" rtlCol="0" anchor="t"/>
          <a:lstStyle/>
          <a:p>
            <a:pPr marL="0" indent="0">
              <a:buNone/>
            </a:pPr>
            <a:r>
              <a:rPr lang="en-US" sz="1350" dirty="0">
                <a:solidFill>
                  <a:srgbClr val="231F20"/>
                </a:solidFill>
                <a:latin typeface="Calibri" pitchFamily="34" charset="0"/>
                <a:ea typeface="Calibri" pitchFamily="34" charset="-122"/>
                <a:cs typeface="Calibri" pitchFamily="34" charset="-120"/>
              </a:rPr>
              <a:t>Night-time lights (NTL) are measurements of visible and near-infrared radiance travelling upward from the Earth’s surface, recorded by a satellite sensor during local night, when the scene is free of direct sunlight.</a:t>
            </a:r>
            <a:endParaRPr lang="en-US" sz="1350" dirty="0"/>
          </a:p>
        </p:txBody>
      </p:sp>
      <p:sp>
        <p:nvSpPr>
          <p:cNvPr id="17" name="Text 13"/>
          <p:cNvSpPr txBox="1"/>
          <p:nvPr/>
        </p:nvSpPr>
        <p:spPr>
          <a:xfrm>
            <a:off x="548640" y="2560320"/>
            <a:ext cx="5394960" cy="32004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What it is</a:t>
            </a:r>
            <a:endParaRPr lang="en-US" sz="1500" dirty="0"/>
          </a:p>
        </p:txBody>
      </p:sp>
      <p:sp>
        <p:nvSpPr>
          <p:cNvPr id="18" name="Text 14"/>
          <p:cNvSpPr txBox="1"/>
          <p:nvPr/>
        </p:nvSpPr>
        <p:spPr>
          <a:xfrm>
            <a:off x="6263640" y="2560320"/>
            <a:ext cx="5394960" cy="320040"/>
          </a:xfrm>
          <a:prstGeom prst="rect">
            <a:avLst/>
          </a:prstGeom>
          <a:noFill/>
          <a:ln/>
        </p:spPr>
        <p:txBody>
          <a:bodyPr wrap="square" lIns="0" tIns="0" rIns="0" bIns="0" rtlCol="0" anchor="t"/>
          <a:lstStyle/>
          <a:p>
            <a:pPr marL="0" indent="0">
              <a:buNone/>
            </a:pPr>
            <a:r>
              <a:rPr lang="en-US" sz="1500" b="1" dirty="0">
                <a:solidFill>
                  <a:srgbClr val="B83B2E"/>
                </a:solidFill>
                <a:latin typeface="Calibri" pitchFamily="34" charset="0"/>
                <a:ea typeface="Calibri" pitchFamily="34" charset="-122"/>
                <a:cs typeface="Calibri" pitchFamily="34" charset="-120"/>
              </a:rPr>
              <a:t>What it is not</a:t>
            </a:r>
            <a:endParaRPr lang="en-US" sz="1500" dirty="0"/>
          </a:p>
        </p:txBody>
      </p:sp>
      <p:sp>
        <p:nvSpPr>
          <p:cNvPr id="19" name="Shape 15"/>
          <p:cNvSpPr/>
          <p:nvPr/>
        </p:nvSpPr>
        <p:spPr>
          <a:xfrm>
            <a:off x="548640" y="2971800"/>
            <a:ext cx="5440680" cy="868680"/>
          </a:xfrm>
          <a:prstGeom prst="roundRect">
            <a:avLst>
              <a:gd name="adj" fmla="val 8421"/>
            </a:avLst>
          </a:prstGeom>
          <a:solidFill>
            <a:srgbClr val="E6F6EE"/>
          </a:solidFill>
          <a:ln w="9525">
            <a:solidFill>
              <a:srgbClr val="BFE3CF"/>
            </a:solidFill>
            <a:prstDash val="solid"/>
          </a:ln>
        </p:spPr>
      </p:sp>
      <p:pic>
        <p:nvPicPr>
          <p:cNvPr id="20" name="Image 2" descr="preencoded.png"/>
          <p:cNvPicPr>
            <a:picLocks noChangeAspect="1"/>
          </p:cNvPicPr>
          <p:nvPr/>
        </p:nvPicPr>
        <p:blipFill>
          <a:blip r:embed="rId5"/>
          <a:stretch>
            <a:fillRect/>
          </a:stretch>
        </p:blipFill>
        <p:spPr>
          <a:xfrm>
            <a:off x="731520" y="3200400"/>
            <a:ext cx="411480" cy="411480"/>
          </a:xfrm>
          <a:prstGeom prst="rect">
            <a:avLst/>
          </a:prstGeom>
        </p:spPr>
      </p:pic>
      <p:sp>
        <p:nvSpPr>
          <p:cNvPr id="21" name="Text 16"/>
          <p:cNvSpPr txBox="1"/>
          <p:nvPr/>
        </p:nvSpPr>
        <p:spPr>
          <a:xfrm>
            <a:off x="1325880" y="3081528"/>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physical measurement</a:t>
            </a:r>
            <a:endParaRPr lang="en-US" sz="1300" dirty="0"/>
          </a:p>
        </p:txBody>
      </p:sp>
      <p:sp>
        <p:nvSpPr>
          <p:cNvPr id="22" name="Text 17"/>
          <p:cNvSpPr txBox="1"/>
          <p:nvPr/>
        </p:nvSpPr>
        <p:spPr>
          <a:xfrm>
            <a:off x="1325880" y="3383280"/>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Radiance in nW·cm⁻²·sr⁻¹ for calibrated sensors (VIIRS).</a:t>
            </a:r>
            <a:endParaRPr lang="en-US" sz="1150" dirty="0"/>
          </a:p>
        </p:txBody>
      </p:sp>
      <p:sp>
        <p:nvSpPr>
          <p:cNvPr id="23" name="Shape 18"/>
          <p:cNvSpPr/>
          <p:nvPr/>
        </p:nvSpPr>
        <p:spPr>
          <a:xfrm>
            <a:off x="6199632" y="2971800"/>
            <a:ext cx="5440680" cy="868680"/>
          </a:xfrm>
          <a:prstGeom prst="roundRect">
            <a:avLst>
              <a:gd name="adj" fmla="val 8421"/>
            </a:avLst>
          </a:prstGeom>
          <a:solidFill>
            <a:srgbClr val="FBE9E7"/>
          </a:solidFill>
          <a:ln w="9525">
            <a:solidFill>
              <a:srgbClr val="F0C6C2"/>
            </a:solidFill>
            <a:prstDash val="solid"/>
          </a:ln>
        </p:spPr>
      </p:sp>
      <p:pic>
        <p:nvPicPr>
          <p:cNvPr id="24" name="Image 3" descr="preencoded.png"/>
          <p:cNvPicPr>
            <a:picLocks noChangeAspect="1"/>
          </p:cNvPicPr>
          <p:nvPr/>
        </p:nvPicPr>
        <p:blipFill>
          <a:blip r:embed="rId6"/>
          <a:stretch>
            <a:fillRect/>
          </a:stretch>
        </p:blipFill>
        <p:spPr>
          <a:xfrm>
            <a:off x="6382512" y="3200400"/>
            <a:ext cx="411480" cy="411480"/>
          </a:xfrm>
          <a:prstGeom prst="rect">
            <a:avLst/>
          </a:prstGeom>
        </p:spPr>
      </p:pic>
      <p:sp>
        <p:nvSpPr>
          <p:cNvPr id="25" name="Text 19"/>
          <p:cNvSpPr txBox="1"/>
          <p:nvPr/>
        </p:nvSpPr>
        <p:spPr>
          <a:xfrm>
            <a:off x="6976872" y="3081528"/>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photograph</a:t>
            </a:r>
            <a:endParaRPr lang="en-US" sz="1300" dirty="0"/>
          </a:p>
        </p:txBody>
      </p:sp>
      <p:sp>
        <p:nvSpPr>
          <p:cNvPr id="26" name="Text 20"/>
          <p:cNvSpPr txBox="1"/>
          <p:nvPr/>
        </p:nvSpPr>
        <p:spPr>
          <a:xfrm>
            <a:off x="6976872" y="3383280"/>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The familiar “Earth at night” is a statistical composite of many cloud-free nights.</a:t>
            </a:r>
            <a:endParaRPr lang="en-US" sz="1150" dirty="0"/>
          </a:p>
        </p:txBody>
      </p:sp>
      <p:sp>
        <p:nvSpPr>
          <p:cNvPr id="27" name="Shape 21"/>
          <p:cNvSpPr/>
          <p:nvPr/>
        </p:nvSpPr>
        <p:spPr>
          <a:xfrm>
            <a:off x="548640" y="3959352"/>
            <a:ext cx="5440680" cy="868680"/>
          </a:xfrm>
          <a:prstGeom prst="roundRect">
            <a:avLst>
              <a:gd name="adj" fmla="val 8421"/>
            </a:avLst>
          </a:prstGeom>
          <a:solidFill>
            <a:srgbClr val="E6F6EE"/>
          </a:solidFill>
          <a:ln w="9525">
            <a:solidFill>
              <a:srgbClr val="BFE3CF"/>
            </a:solidFill>
            <a:prstDash val="solid"/>
          </a:ln>
        </p:spPr>
      </p:sp>
      <p:pic>
        <p:nvPicPr>
          <p:cNvPr id="28" name="Image 4" descr="preencoded.png"/>
          <p:cNvPicPr>
            <a:picLocks noChangeAspect="1"/>
          </p:cNvPicPr>
          <p:nvPr/>
        </p:nvPicPr>
        <p:blipFill>
          <a:blip r:embed="rId5"/>
          <a:stretch>
            <a:fillRect/>
          </a:stretch>
        </p:blipFill>
        <p:spPr>
          <a:xfrm>
            <a:off x="731520" y="4187952"/>
            <a:ext cx="411480" cy="411480"/>
          </a:xfrm>
          <a:prstGeom prst="rect">
            <a:avLst/>
          </a:prstGeom>
        </p:spPr>
      </p:pic>
      <p:sp>
        <p:nvSpPr>
          <p:cNvPr id="29" name="Text 22"/>
          <p:cNvSpPr txBox="1"/>
          <p:nvPr/>
        </p:nvSpPr>
        <p:spPr>
          <a:xfrm>
            <a:off x="1325880" y="4069080"/>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consistent grid</a:t>
            </a:r>
            <a:endParaRPr lang="en-US" sz="1300" dirty="0"/>
          </a:p>
        </p:txBody>
      </p:sp>
      <p:sp>
        <p:nvSpPr>
          <p:cNvPr id="30" name="Text 23"/>
          <p:cNvSpPr txBox="1"/>
          <p:nvPr/>
        </p:nvSpPr>
        <p:spPr>
          <a:xfrm>
            <a:off x="1325880" y="4370832"/>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Same method over every country — small islands and large states alike.</a:t>
            </a:r>
            <a:endParaRPr lang="en-US" sz="1150" dirty="0"/>
          </a:p>
        </p:txBody>
      </p:sp>
      <p:sp>
        <p:nvSpPr>
          <p:cNvPr id="31" name="Shape 24"/>
          <p:cNvSpPr/>
          <p:nvPr/>
        </p:nvSpPr>
        <p:spPr>
          <a:xfrm>
            <a:off x="6199632" y="3959352"/>
            <a:ext cx="5440680" cy="868680"/>
          </a:xfrm>
          <a:prstGeom prst="roundRect">
            <a:avLst>
              <a:gd name="adj" fmla="val 8421"/>
            </a:avLst>
          </a:prstGeom>
          <a:solidFill>
            <a:srgbClr val="FBE9E7"/>
          </a:solidFill>
          <a:ln w="9525">
            <a:solidFill>
              <a:srgbClr val="F0C6C2"/>
            </a:solidFill>
            <a:prstDash val="solid"/>
          </a:ln>
        </p:spPr>
      </p:sp>
      <p:pic>
        <p:nvPicPr>
          <p:cNvPr id="32" name="Image 5" descr="preencoded.png"/>
          <p:cNvPicPr>
            <a:picLocks noChangeAspect="1"/>
          </p:cNvPicPr>
          <p:nvPr/>
        </p:nvPicPr>
        <p:blipFill>
          <a:blip r:embed="rId6"/>
          <a:stretch>
            <a:fillRect/>
          </a:stretch>
        </p:blipFill>
        <p:spPr>
          <a:xfrm>
            <a:off x="6382512" y="4187952"/>
            <a:ext cx="411480" cy="411480"/>
          </a:xfrm>
          <a:prstGeom prst="rect">
            <a:avLst/>
          </a:prstGeom>
        </p:spPr>
      </p:pic>
      <p:sp>
        <p:nvSpPr>
          <p:cNvPr id="33" name="Text 25"/>
          <p:cNvSpPr txBox="1"/>
          <p:nvPr/>
        </p:nvSpPr>
        <p:spPr>
          <a:xfrm>
            <a:off x="6976872" y="4069080"/>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direct measure of people or income</a:t>
            </a:r>
            <a:endParaRPr lang="en-US" sz="1300" dirty="0"/>
          </a:p>
        </p:txBody>
      </p:sp>
      <p:sp>
        <p:nvSpPr>
          <p:cNvPr id="34" name="Text 26"/>
          <p:cNvSpPr txBox="1"/>
          <p:nvPr/>
        </p:nvSpPr>
        <p:spPr>
          <a:xfrm>
            <a:off x="6976872" y="4370832"/>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Those are inferences — each needs its own justification.</a:t>
            </a:r>
            <a:endParaRPr lang="en-US" sz="1150" dirty="0"/>
          </a:p>
        </p:txBody>
      </p:sp>
      <p:sp>
        <p:nvSpPr>
          <p:cNvPr id="35" name="Shape 27"/>
          <p:cNvSpPr/>
          <p:nvPr/>
        </p:nvSpPr>
        <p:spPr>
          <a:xfrm>
            <a:off x="548640" y="4946904"/>
            <a:ext cx="5440680" cy="868680"/>
          </a:xfrm>
          <a:prstGeom prst="roundRect">
            <a:avLst>
              <a:gd name="adj" fmla="val 8421"/>
            </a:avLst>
          </a:prstGeom>
          <a:solidFill>
            <a:srgbClr val="E6F6EE"/>
          </a:solidFill>
          <a:ln w="9525">
            <a:solidFill>
              <a:srgbClr val="BFE3CF"/>
            </a:solidFill>
            <a:prstDash val="solid"/>
          </a:ln>
        </p:spPr>
      </p:sp>
      <p:pic>
        <p:nvPicPr>
          <p:cNvPr id="36" name="Image 6" descr="preencoded.png"/>
          <p:cNvPicPr>
            <a:picLocks noChangeAspect="1"/>
          </p:cNvPicPr>
          <p:nvPr/>
        </p:nvPicPr>
        <p:blipFill>
          <a:blip r:embed="rId5"/>
          <a:stretch>
            <a:fillRect/>
          </a:stretch>
        </p:blipFill>
        <p:spPr>
          <a:xfrm>
            <a:off x="731520" y="5175504"/>
            <a:ext cx="411480" cy="411480"/>
          </a:xfrm>
          <a:prstGeom prst="rect">
            <a:avLst/>
          </a:prstGeom>
        </p:spPr>
      </p:pic>
      <p:sp>
        <p:nvSpPr>
          <p:cNvPr id="37" name="Text 28"/>
          <p:cNvSpPr txBox="1"/>
          <p:nvPr/>
        </p:nvSpPr>
        <p:spPr>
          <a:xfrm>
            <a:off x="1325880" y="5056632"/>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near-real-time record</a:t>
            </a:r>
            <a:endParaRPr lang="en-US" sz="1300" dirty="0"/>
          </a:p>
        </p:txBody>
      </p:sp>
      <p:sp>
        <p:nvSpPr>
          <p:cNvPr id="38" name="Text 29"/>
          <p:cNvSpPr txBox="1"/>
          <p:nvPr/>
        </p:nvSpPr>
        <p:spPr>
          <a:xfrm>
            <a:off x="1325880" y="5358384"/>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Daily since 2012; monthly and annual composites, free of charge.</a:t>
            </a:r>
            <a:endParaRPr lang="en-US" sz="1150" dirty="0"/>
          </a:p>
        </p:txBody>
      </p:sp>
      <p:sp>
        <p:nvSpPr>
          <p:cNvPr id="39" name="Shape 30"/>
          <p:cNvSpPr/>
          <p:nvPr/>
        </p:nvSpPr>
        <p:spPr>
          <a:xfrm>
            <a:off x="6199632" y="4946904"/>
            <a:ext cx="5440680" cy="868680"/>
          </a:xfrm>
          <a:prstGeom prst="roundRect">
            <a:avLst>
              <a:gd name="adj" fmla="val 8421"/>
            </a:avLst>
          </a:prstGeom>
          <a:solidFill>
            <a:srgbClr val="FBE9E7"/>
          </a:solidFill>
          <a:ln w="9525">
            <a:solidFill>
              <a:srgbClr val="F0C6C2"/>
            </a:solidFill>
            <a:prstDash val="solid"/>
          </a:ln>
        </p:spPr>
      </p:sp>
      <p:pic>
        <p:nvPicPr>
          <p:cNvPr id="40" name="Image 7" descr="preencoded.png"/>
          <p:cNvPicPr>
            <a:picLocks noChangeAspect="1"/>
          </p:cNvPicPr>
          <p:nvPr/>
        </p:nvPicPr>
        <p:blipFill>
          <a:blip r:embed="rId6"/>
          <a:stretch>
            <a:fillRect/>
          </a:stretch>
        </p:blipFill>
        <p:spPr>
          <a:xfrm>
            <a:off x="6382512" y="5175504"/>
            <a:ext cx="411480" cy="411480"/>
          </a:xfrm>
          <a:prstGeom prst="rect">
            <a:avLst/>
          </a:prstGeom>
        </p:spPr>
      </p:pic>
      <p:sp>
        <p:nvSpPr>
          <p:cNvPr id="41" name="Text 31"/>
          <p:cNvSpPr txBox="1"/>
          <p:nvPr/>
        </p:nvSpPr>
        <p:spPr>
          <a:xfrm>
            <a:off x="6976872" y="5056632"/>
            <a:ext cx="4480560" cy="292608"/>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A complete record of lighting</a:t>
            </a:r>
            <a:endParaRPr lang="en-US" sz="1300" dirty="0"/>
          </a:p>
        </p:txBody>
      </p:sp>
      <p:sp>
        <p:nvSpPr>
          <p:cNvPr id="42" name="Text 32"/>
          <p:cNvSpPr txBox="1"/>
          <p:nvPr/>
        </p:nvSpPr>
        <p:spPr>
          <a:xfrm>
            <a:off x="6976872" y="5358384"/>
            <a:ext cx="448056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Indoor, shielded and sideways light never reaches the sensor.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01 · FOUNDATIONS · THE INFERENTIAL CHAIN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From electricity to a pixel value: five links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7</a:t>
            </a:r>
            <a:endParaRPr lang="en-US" sz="900" dirty="0"/>
          </a:p>
        </p:txBody>
      </p:sp>
      <p:sp>
        <p:nvSpPr>
          <p:cNvPr id="12" name="Shape 9"/>
          <p:cNvSpPr/>
          <p:nvPr/>
        </p:nvSpPr>
        <p:spPr>
          <a:xfrm>
            <a:off x="548640" y="1417320"/>
            <a:ext cx="2103120" cy="2331720"/>
          </a:xfrm>
          <a:prstGeom prst="roundRect">
            <a:avLst>
              <a:gd name="adj" fmla="val 3478"/>
            </a:avLst>
          </a:prstGeom>
          <a:solidFill>
            <a:srgbClr val="F4F7F5"/>
          </a:solidFill>
          <a:ln w="9525">
            <a:solidFill>
              <a:srgbClr val="D5DED9"/>
            </a:solidFill>
            <a:prstDash val="solid"/>
          </a:ln>
        </p:spPr>
      </p:sp>
      <p:sp>
        <p:nvSpPr>
          <p:cNvPr id="13" name="Shape 10"/>
          <p:cNvSpPr/>
          <p:nvPr/>
        </p:nvSpPr>
        <p:spPr>
          <a:xfrm>
            <a:off x="713232" y="1581912"/>
            <a:ext cx="411480" cy="411480"/>
          </a:xfrm>
          <a:prstGeom prst="ellipse">
            <a:avLst/>
          </a:prstGeom>
          <a:solidFill>
            <a:srgbClr val="00704A"/>
          </a:solidFill>
          <a:ln w="12700">
            <a:solidFill>
              <a:srgbClr val="00704A"/>
            </a:solidFill>
            <a:prstDash val="solid"/>
          </a:ln>
        </p:spPr>
      </p:sp>
      <p:sp>
        <p:nvSpPr>
          <p:cNvPr id="14" name="Text 11"/>
          <p:cNvSpPr txBox="1"/>
          <p:nvPr/>
        </p:nvSpPr>
        <p:spPr>
          <a:xfrm>
            <a:off x="713232" y="1581912"/>
            <a:ext cx="411480" cy="411480"/>
          </a:xfrm>
          <a:prstGeom prst="rect">
            <a:avLst/>
          </a:prstGeom>
          <a:noFill/>
          <a:ln/>
        </p:spPr>
        <p:txBody>
          <a:bodyPr wrap="square" lIns="0" tIns="0" rIns="0" bIns="0" rtlCol="0" anchor="ctr"/>
          <a:lstStyle/>
          <a:p>
            <a:pPr marL="0" indent="0" algn="ctr">
              <a:buNone/>
            </a:pPr>
            <a:r>
              <a:rPr lang="en-US" sz="1170" b="1" dirty="0">
                <a:solidFill>
                  <a:srgbClr val="FFFFFF"/>
                </a:solidFill>
                <a:latin typeface="Calibri" pitchFamily="34" charset="0"/>
                <a:ea typeface="Calibri" pitchFamily="34" charset="-122"/>
                <a:cs typeface="Calibri" pitchFamily="34" charset="-120"/>
              </a:rPr>
              <a:t>1</a:t>
            </a:r>
            <a:endParaRPr lang="en-US" sz="1170" dirty="0"/>
          </a:p>
        </p:txBody>
      </p:sp>
      <p:pic>
        <p:nvPicPr>
          <p:cNvPr id="15" name="Image 1" descr="preencoded.png"/>
          <p:cNvPicPr>
            <a:picLocks noChangeAspect="1"/>
          </p:cNvPicPr>
          <p:nvPr/>
        </p:nvPicPr>
        <p:blipFill>
          <a:blip r:embed="rId4"/>
          <a:stretch>
            <a:fillRect/>
          </a:stretch>
        </p:blipFill>
        <p:spPr>
          <a:xfrm>
            <a:off x="2084832" y="1618488"/>
            <a:ext cx="347472" cy="347472"/>
          </a:xfrm>
          <a:prstGeom prst="rect">
            <a:avLst/>
          </a:prstGeom>
        </p:spPr>
      </p:pic>
      <p:sp>
        <p:nvSpPr>
          <p:cNvPr id="16" name="Text 12"/>
          <p:cNvSpPr txBox="1"/>
          <p:nvPr/>
        </p:nvSpPr>
        <p:spPr>
          <a:xfrm>
            <a:off x="713232" y="2148840"/>
            <a:ext cx="1773936" cy="5029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Energy &amp; infrastructure</a:t>
            </a:r>
            <a:endParaRPr lang="en-US" sz="1350" dirty="0"/>
          </a:p>
        </p:txBody>
      </p:sp>
      <p:sp>
        <p:nvSpPr>
          <p:cNvPr id="17" name="Text 13"/>
          <p:cNvSpPr txBox="1"/>
          <p:nvPr/>
        </p:nvSpPr>
        <p:spPr>
          <a:xfrm>
            <a:off x="713232" y="2679192"/>
            <a:ext cx="1773936" cy="100584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A grid, generator or fuel supply exists and is operating.</a:t>
            </a:r>
            <a:endParaRPr lang="en-US" sz="1150" dirty="0"/>
          </a:p>
        </p:txBody>
      </p:sp>
      <p:sp>
        <p:nvSpPr>
          <p:cNvPr id="18" name="Text 14"/>
          <p:cNvSpPr txBox="1"/>
          <p:nvPr/>
        </p:nvSpPr>
        <p:spPr>
          <a:xfrm>
            <a:off x="2633472" y="2331720"/>
            <a:ext cx="178308" cy="365760"/>
          </a:xfrm>
          <a:prstGeom prst="rect">
            <a:avLst/>
          </a:prstGeom>
          <a:noFill/>
          <a:ln/>
        </p:spPr>
        <p:txBody>
          <a:bodyPr wrap="square" lIns="0" tIns="0" rIns="0" bIns="0" rtlCol="0" anchor="t"/>
          <a:lstStyle/>
          <a:p>
            <a:pPr marL="0" indent="0" algn="ctr">
              <a:buNone/>
            </a:pPr>
            <a:r>
              <a:rPr lang="en-US" sz="2000" b="1" dirty="0">
                <a:solidFill>
                  <a:srgbClr val="00A86A"/>
                </a:solidFill>
                <a:latin typeface="Calibri" pitchFamily="34" charset="0"/>
                <a:ea typeface="Calibri" pitchFamily="34" charset="-122"/>
                <a:cs typeface="Calibri" pitchFamily="34" charset="-120"/>
              </a:rPr>
              <a:t>›</a:t>
            </a:r>
            <a:endParaRPr lang="en-US" sz="2000" dirty="0"/>
          </a:p>
        </p:txBody>
      </p:sp>
      <p:sp>
        <p:nvSpPr>
          <p:cNvPr id="19" name="Shape 15"/>
          <p:cNvSpPr/>
          <p:nvPr/>
        </p:nvSpPr>
        <p:spPr>
          <a:xfrm>
            <a:off x="2793492" y="1417320"/>
            <a:ext cx="2103120" cy="2331720"/>
          </a:xfrm>
          <a:prstGeom prst="roundRect">
            <a:avLst>
              <a:gd name="adj" fmla="val 3478"/>
            </a:avLst>
          </a:prstGeom>
          <a:solidFill>
            <a:srgbClr val="F4F7F5"/>
          </a:solidFill>
          <a:ln w="9525">
            <a:solidFill>
              <a:srgbClr val="D5DED9"/>
            </a:solidFill>
            <a:prstDash val="solid"/>
          </a:ln>
        </p:spPr>
      </p:sp>
      <p:sp>
        <p:nvSpPr>
          <p:cNvPr id="20" name="Shape 16"/>
          <p:cNvSpPr/>
          <p:nvPr/>
        </p:nvSpPr>
        <p:spPr>
          <a:xfrm>
            <a:off x="2958084" y="1581912"/>
            <a:ext cx="411480" cy="411480"/>
          </a:xfrm>
          <a:prstGeom prst="ellipse">
            <a:avLst/>
          </a:prstGeom>
          <a:solidFill>
            <a:srgbClr val="00704A"/>
          </a:solidFill>
          <a:ln w="12700">
            <a:solidFill>
              <a:srgbClr val="00704A"/>
            </a:solidFill>
            <a:prstDash val="solid"/>
          </a:ln>
        </p:spPr>
      </p:sp>
      <p:sp>
        <p:nvSpPr>
          <p:cNvPr id="21" name="Text 17"/>
          <p:cNvSpPr txBox="1"/>
          <p:nvPr/>
        </p:nvSpPr>
        <p:spPr>
          <a:xfrm>
            <a:off x="2958084" y="1581912"/>
            <a:ext cx="411480" cy="411480"/>
          </a:xfrm>
          <a:prstGeom prst="rect">
            <a:avLst/>
          </a:prstGeom>
          <a:noFill/>
          <a:ln/>
        </p:spPr>
        <p:txBody>
          <a:bodyPr wrap="square" lIns="0" tIns="0" rIns="0" bIns="0" rtlCol="0" anchor="ctr"/>
          <a:lstStyle/>
          <a:p>
            <a:pPr marL="0" indent="0" algn="ctr">
              <a:buNone/>
            </a:pPr>
            <a:r>
              <a:rPr lang="en-US" sz="1170" b="1" dirty="0">
                <a:solidFill>
                  <a:srgbClr val="FFFFFF"/>
                </a:solidFill>
                <a:latin typeface="Calibri" pitchFamily="34" charset="0"/>
                <a:ea typeface="Calibri" pitchFamily="34" charset="-122"/>
                <a:cs typeface="Calibri" pitchFamily="34" charset="-120"/>
              </a:rPr>
              <a:t>2</a:t>
            </a:r>
            <a:endParaRPr lang="en-US" sz="1170" dirty="0"/>
          </a:p>
        </p:txBody>
      </p:sp>
      <p:pic>
        <p:nvPicPr>
          <p:cNvPr id="22" name="Image 2" descr="preencoded.png"/>
          <p:cNvPicPr>
            <a:picLocks noChangeAspect="1"/>
          </p:cNvPicPr>
          <p:nvPr/>
        </p:nvPicPr>
        <p:blipFill>
          <a:blip r:embed="rId5"/>
          <a:stretch>
            <a:fillRect/>
          </a:stretch>
        </p:blipFill>
        <p:spPr>
          <a:xfrm>
            <a:off x="4329684" y="1618488"/>
            <a:ext cx="347472" cy="347472"/>
          </a:xfrm>
          <a:prstGeom prst="rect">
            <a:avLst/>
          </a:prstGeom>
        </p:spPr>
      </p:pic>
      <p:sp>
        <p:nvSpPr>
          <p:cNvPr id="23" name="Text 18"/>
          <p:cNvSpPr txBox="1"/>
          <p:nvPr/>
        </p:nvSpPr>
        <p:spPr>
          <a:xfrm>
            <a:off x="2958084" y="2148840"/>
            <a:ext cx="1773936" cy="5029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Activity after dark</a:t>
            </a:r>
            <a:endParaRPr lang="en-US" sz="1350" dirty="0"/>
          </a:p>
        </p:txBody>
      </p:sp>
      <p:sp>
        <p:nvSpPr>
          <p:cNvPr id="24" name="Text 19"/>
          <p:cNvSpPr txBox="1"/>
          <p:nvPr/>
        </p:nvSpPr>
        <p:spPr>
          <a:xfrm>
            <a:off x="2958084" y="2679192"/>
            <a:ext cx="1773936" cy="100584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People use that energy for lighting: streets, homes, markets, industry.</a:t>
            </a:r>
            <a:endParaRPr lang="en-US" sz="1150" dirty="0"/>
          </a:p>
        </p:txBody>
      </p:sp>
      <p:sp>
        <p:nvSpPr>
          <p:cNvPr id="25" name="Text 20"/>
          <p:cNvSpPr txBox="1"/>
          <p:nvPr/>
        </p:nvSpPr>
        <p:spPr>
          <a:xfrm>
            <a:off x="4878324" y="2331720"/>
            <a:ext cx="178308" cy="365760"/>
          </a:xfrm>
          <a:prstGeom prst="rect">
            <a:avLst/>
          </a:prstGeom>
          <a:noFill/>
          <a:ln/>
        </p:spPr>
        <p:txBody>
          <a:bodyPr wrap="square" lIns="0" tIns="0" rIns="0" bIns="0" rtlCol="0" anchor="t"/>
          <a:lstStyle/>
          <a:p>
            <a:pPr marL="0" indent="0" algn="ctr">
              <a:buNone/>
            </a:pPr>
            <a:r>
              <a:rPr lang="en-US" sz="2000" b="1" dirty="0">
                <a:solidFill>
                  <a:srgbClr val="00A86A"/>
                </a:solidFill>
                <a:latin typeface="Calibri" pitchFamily="34" charset="0"/>
                <a:ea typeface="Calibri" pitchFamily="34" charset="-122"/>
                <a:cs typeface="Calibri" pitchFamily="34" charset="-120"/>
              </a:rPr>
              <a:t>›</a:t>
            </a:r>
            <a:endParaRPr lang="en-US" sz="2000" dirty="0"/>
          </a:p>
        </p:txBody>
      </p:sp>
      <p:sp>
        <p:nvSpPr>
          <p:cNvPr id="26" name="Shape 21"/>
          <p:cNvSpPr/>
          <p:nvPr/>
        </p:nvSpPr>
        <p:spPr>
          <a:xfrm>
            <a:off x="5038344" y="1417320"/>
            <a:ext cx="2103120" cy="2331720"/>
          </a:xfrm>
          <a:prstGeom prst="roundRect">
            <a:avLst>
              <a:gd name="adj" fmla="val 3478"/>
            </a:avLst>
          </a:prstGeom>
          <a:solidFill>
            <a:srgbClr val="F4F7F5"/>
          </a:solidFill>
          <a:ln w="9525">
            <a:solidFill>
              <a:srgbClr val="D5DED9"/>
            </a:solidFill>
            <a:prstDash val="solid"/>
          </a:ln>
        </p:spPr>
      </p:sp>
      <p:sp>
        <p:nvSpPr>
          <p:cNvPr id="27" name="Shape 22"/>
          <p:cNvSpPr/>
          <p:nvPr/>
        </p:nvSpPr>
        <p:spPr>
          <a:xfrm>
            <a:off x="5202936" y="1581912"/>
            <a:ext cx="411480" cy="411480"/>
          </a:xfrm>
          <a:prstGeom prst="ellipse">
            <a:avLst/>
          </a:prstGeom>
          <a:solidFill>
            <a:srgbClr val="00704A"/>
          </a:solidFill>
          <a:ln w="12700">
            <a:solidFill>
              <a:srgbClr val="00704A"/>
            </a:solidFill>
            <a:prstDash val="solid"/>
          </a:ln>
        </p:spPr>
      </p:sp>
      <p:sp>
        <p:nvSpPr>
          <p:cNvPr id="28" name="Text 23"/>
          <p:cNvSpPr txBox="1"/>
          <p:nvPr/>
        </p:nvSpPr>
        <p:spPr>
          <a:xfrm>
            <a:off x="5202936" y="1581912"/>
            <a:ext cx="411480" cy="411480"/>
          </a:xfrm>
          <a:prstGeom prst="rect">
            <a:avLst/>
          </a:prstGeom>
          <a:noFill/>
          <a:ln/>
        </p:spPr>
        <p:txBody>
          <a:bodyPr wrap="square" lIns="0" tIns="0" rIns="0" bIns="0" rtlCol="0" anchor="ctr"/>
          <a:lstStyle/>
          <a:p>
            <a:pPr marL="0" indent="0" algn="ctr">
              <a:buNone/>
            </a:pPr>
            <a:r>
              <a:rPr lang="en-US" sz="1170" b="1" dirty="0">
                <a:solidFill>
                  <a:srgbClr val="FFFFFF"/>
                </a:solidFill>
                <a:latin typeface="Calibri" pitchFamily="34" charset="0"/>
                <a:ea typeface="Calibri" pitchFamily="34" charset="-122"/>
                <a:cs typeface="Calibri" pitchFamily="34" charset="-120"/>
              </a:rPr>
              <a:t>3</a:t>
            </a:r>
            <a:endParaRPr lang="en-US" sz="1170" dirty="0"/>
          </a:p>
        </p:txBody>
      </p:sp>
      <p:pic>
        <p:nvPicPr>
          <p:cNvPr id="29" name="Image 3" descr="preencoded.png"/>
          <p:cNvPicPr>
            <a:picLocks noChangeAspect="1"/>
          </p:cNvPicPr>
          <p:nvPr/>
        </p:nvPicPr>
        <p:blipFill>
          <a:blip r:embed="rId6"/>
          <a:stretch>
            <a:fillRect/>
          </a:stretch>
        </p:blipFill>
        <p:spPr>
          <a:xfrm>
            <a:off x="6574536" y="1618488"/>
            <a:ext cx="347472" cy="347472"/>
          </a:xfrm>
          <a:prstGeom prst="rect">
            <a:avLst/>
          </a:prstGeom>
        </p:spPr>
      </p:pic>
      <p:sp>
        <p:nvSpPr>
          <p:cNvPr id="30" name="Text 24"/>
          <p:cNvSpPr txBox="1"/>
          <p:nvPr/>
        </p:nvSpPr>
        <p:spPr>
          <a:xfrm>
            <a:off x="5202936" y="2148840"/>
            <a:ext cx="1773936" cy="5029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Upward emission</a:t>
            </a:r>
            <a:endParaRPr lang="en-US" sz="1350" dirty="0"/>
          </a:p>
        </p:txBody>
      </p:sp>
      <p:sp>
        <p:nvSpPr>
          <p:cNvPr id="31" name="Text 25"/>
          <p:cNvSpPr txBox="1"/>
          <p:nvPr/>
        </p:nvSpPr>
        <p:spPr>
          <a:xfrm>
            <a:off x="5202936" y="2679192"/>
            <a:ext cx="1773936" cy="100584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A fraction of the light escapes upward rather than being shielded.</a:t>
            </a:r>
            <a:endParaRPr lang="en-US" sz="1150" dirty="0"/>
          </a:p>
        </p:txBody>
      </p:sp>
      <p:sp>
        <p:nvSpPr>
          <p:cNvPr id="32" name="Text 26"/>
          <p:cNvSpPr txBox="1"/>
          <p:nvPr/>
        </p:nvSpPr>
        <p:spPr>
          <a:xfrm>
            <a:off x="7123176" y="2331720"/>
            <a:ext cx="178308" cy="365760"/>
          </a:xfrm>
          <a:prstGeom prst="rect">
            <a:avLst/>
          </a:prstGeom>
          <a:noFill/>
          <a:ln/>
        </p:spPr>
        <p:txBody>
          <a:bodyPr wrap="square" lIns="0" tIns="0" rIns="0" bIns="0" rtlCol="0" anchor="t"/>
          <a:lstStyle/>
          <a:p>
            <a:pPr marL="0" indent="0" algn="ctr">
              <a:buNone/>
            </a:pPr>
            <a:r>
              <a:rPr lang="en-US" sz="2000" b="1" dirty="0">
                <a:solidFill>
                  <a:srgbClr val="00A86A"/>
                </a:solidFill>
                <a:latin typeface="Calibri" pitchFamily="34" charset="0"/>
                <a:ea typeface="Calibri" pitchFamily="34" charset="-122"/>
                <a:cs typeface="Calibri" pitchFamily="34" charset="-120"/>
              </a:rPr>
              <a:t>›</a:t>
            </a:r>
            <a:endParaRPr lang="en-US" sz="2000" dirty="0"/>
          </a:p>
        </p:txBody>
      </p:sp>
      <p:sp>
        <p:nvSpPr>
          <p:cNvPr id="33" name="Shape 27"/>
          <p:cNvSpPr/>
          <p:nvPr/>
        </p:nvSpPr>
        <p:spPr>
          <a:xfrm>
            <a:off x="7283196" y="1417320"/>
            <a:ext cx="2103120" cy="2331720"/>
          </a:xfrm>
          <a:prstGeom prst="roundRect">
            <a:avLst>
              <a:gd name="adj" fmla="val 3478"/>
            </a:avLst>
          </a:prstGeom>
          <a:solidFill>
            <a:srgbClr val="F4F7F5"/>
          </a:solidFill>
          <a:ln w="9525">
            <a:solidFill>
              <a:srgbClr val="D5DED9"/>
            </a:solidFill>
            <a:prstDash val="solid"/>
          </a:ln>
        </p:spPr>
      </p:sp>
      <p:sp>
        <p:nvSpPr>
          <p:cNvPr id="34" name="Shape 28"/>
          <p:cNvSpPr/>
          <p:nvPr/>
        </p:nvSpPr>
        <p:spPr>
          <a:xfrm>
            <a:off x="7447788" y="1581912"/>
            <a:ext cx="411480" cy="411480"/>
          </a:xfrm>
          <a:prstGeom prst="ellipse">
            <a:avLst/>
          </a:prstGeom>
          <a:solidFill>
            <a:srgbClr val="00704A"/>
          </a:solidFill>
          <a:ln w="12700">
            <a:solidFill>
              <a:srgbClr val="00704A"/>
            </a:solidFill>
            <a:prstDash val="solid"/>
          </a:ln>
        </p:spPr>
      </p:sp>
      <p:sp>
        <p:nvSpPr>
          <p:cNvPr id="35" name="Text 29"/>
          <p:cNvSpPr txBox="1"/>
          <p:nvPr/>
        </p:nvSpPr>
        <p:spPr>
          <a:xfrm>
            <a:off x="7447788" y="1581912"/>
            <a:ext cx="411480" cy="411480"/>
          </a:xfrm>
          <a:prstGeom prst="rect">
            <a:avLst/>
          </a:prstGeom>
          <a:noFill/>
          <a:ln/>
        </p:spPr>
        <p:txBody>
          <a:bodyPr wrap="square" lIns="0" tIns="0" rIns="0" bIns="0" rtlCol="0" anchor="ctr"/>
          <a:lstStyle/>
          <a:p>
            <a:pPr marL="0" indent="0" algn="ctr">
              <a:buNone/>
            </a:pPr>
            <a:r>
              <a:rPr lang="en-US" sz="1170" b="1" dirty="0">
                <a:solidFill>
                  <a:srgbClr val="FFFFFF"/>
                </a:solidFill>
                <a:latin typeface="Calibri" pitchFamily="34" charset="0"/>
                <a:ea typeface="Calibri" pitchFamily="34" charset="-122"/>
                <a:cs typeface="Calibri" pitchFamily="34" charset="-120"/>
              </a:rPr>
              <a:t>4</a:t>
            </a:r>
            <a:endParaRPr lang="en-US" sz="1170" dirty="0"/>
          </a:p>
        </p:txBody>
      </p:sp>
      <p:pic>
        <p:nvPicPr>
          <p:cNvPr id="36" name="Image 4" descr="preencoded.png"/>
          <p:cNvPicPr>
            <a:picLocks noChangeAspect="1"/>
          </p:cNvPicPr>
          <p:nvPr/>
        </p:nvPicPr>
        <p:blipFill>
          <a:blip r:embed="rId7"/>
          <a:stretch>
            <a:fillRect/>
          </a:stretch>
        </p:blipFill>
        <p:spPr>
          <a:xfrm>
            <a:off x="8819388" y="1618488"/>
            <a:ext cx="347472" cy="347472"/>
          </a:xfrm>
          <a:prstGeom prst="rect">
            <a:avLst/>
          </a:prstGeom>
        </p:spPr>
      </p:pic>
      <p:sp>
        <p:nvSpPr>
          <p:cNvPr id="37" name="Text 30"/>
          <p:cNvSpPr txBox="1"/>
          <p:nvPr/>
        </p:nvSpPr>
        <p:spPr>
          <a:xfrm>
            <a:off x="7447788" y="2148840"/>
            <a:ext cx="1773936" cy="5029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Atmospheric transfer</a:t>
            </a:r>
            <a:endParaRPr lang="en-US" sz="1350" dirty="0"/>
          </a:p>
        </p:txBody>
      </p:sp>
      <p:sp>
        <p:nvSpPr>
          <p:cNvPr id="38" name="Text 31"/>
          <p:cNvSpPr txBox="1"/>
          <p:nvPr/>
        </p:nvSpPr>
        <p:spPr>
          <a:xfrm>
            <a:off x="7447788" y="2679192"/>
            <a:ext cx="1773936" cy="100584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Photons cross the atmosphere, attenuated by aerosols, vapour and cloud.</a:t>
            </a:r>
            <a:endParaRPr lang="en-US" sz="1150" dirty="0"/>
          </a:p>
        </p:txBody>
      </p:sp>
      <p:sp>
        <p:nvSpPr>
          <p:cNvPr id="39" name="Text 32"/>
          <p:cNvSpPr txBox="1"/>
          <p:nvPr/>
        </p:nvSpPr>
        <p:spPr>
          <a:xfrm>
            <a:off x="9368028" y="2331720"/>
            <a:ext cx="178308" cy="365760"/>
          </a:xfrm>
          <a:prstGeom prst="rect">
            <a:avLst/>
          </a:prstGeom>
          <a:noFill/>
          <a:ln/>
        </p:spPr>
        <p:txBody>
          <a:bodyPr wrap="square" lIns="0" tIns="0" rIns="0" bIns="0" rtlCol="0" anchor="t"/>
          <a:lstStyle/>
          <a:p>
            <a:pPr marL="0" indent="0" algn="ctr">
              <a:buNone/>
            </a:pPr>
            <a:r>
              <a:rPr lang="en-US" sz="2000" b="1" dirty="0">
                <a:solidFill>
                  <a:srgbClr val="00A86A"/>
                </a:solidFill>
                <a:latin typeface="Calibri" pitchFamily="34" charset="0"/>
                <a:ea typeface="Calibri" pitchFamily="34" charset="-122"/>
                <a:cs typeface="Calibri" pitchFamily="34" charset="-120"/>
              </a:rPr>
              <a:t>›</a:t>
            </a:r>
            <a:endParaRPr lang="en-US" sz="2000" dirty="0"/>
          </a:p>
        </p:txBody>
      </p:sp>
      <p:sp>
        <p:nvSpPr>
          <p:cNvPr id="40" name="Shape 33"/>
          <p:cNvSpPr/>
          <p:nvPr/>
        </p:nvSpPr>
        <p:spPr>
          <a:xfrm>
            <a:off x="9528048" y="1417320"/>
            <a:ext cx="2103120" cy="2331720"/>
          </a:xfrm>
          <a:prstGeom prst="roundRect">
            <a:avLst>
              <a:gd name="adj" fmla="val 3478"/>
            </a:avLst>
          </a:prstGeom>
          <a:solidFill>
            <a:srgbClr val="F4F7F5"/>
          </a:solidFill>
          <a:ln w="9525">
            <a:solidFill>
              <a:srgbClr val="D5DED9"/>
            </a:solidFill>
            <a:prstDash val="solid"/>
          </a:ln>
        </p:spPr>
      </p:sp>
      <p:sp>
        <p:nvSpPr>
          <p:cNvPr id="41" name="Shape 34"/>
          <p:cNvSpPr/>
          <p:nvPr/>
        </p:nvSpPr>
        <p:spPr>
          <a:xfrm>
            <a:off x="9692640" y="1581912"/>
            <a:ext cx="411480" cy="411480"/>
          </a:xfrm>
          <a:prstGeom prst="ellipse">
            <a:avLst/>
          </a:prstGeom>
          <a:solidFill>
            <a:srgbClr val="00704A"/>
          </a:solidFill>
          <a:ln w="12700">
            <a:solidFill>
              <a:srgbClr val="00704A"/>
            </a:solidFill>
            <a:prstDash val="solid"/>
          </a:ln>
        </p:spPr>
      </p:sp>
      <p:sp>
        <p:nvSpPr>
          <p:cNvPr id="42" name="Text 35"/>
          <p:cNvSpPr txBox="1"/>
          <p:nvPr/>
        </p:nvSpPr>
        <p:spPr>
          <a:xfrm>
            <a:off x="9692640" y="1581912"/>
            <a:ext cx="411480" cy="411480"/>
          </a:xfrm>
          <a:prstGeom prst="rect">
            <a:avLst/>
          </a:prstGeom>
          <a:noFill/>
          <a:ln/>
        </p:spPr>
        <p:txBody>
          <a:bodyPr wrap="square" lIns="0" tIns="0" rIns="0" bIns="0" rtlCol="0" anchor="ctr"/>
          <a:lstStyle/>
          <a:p>
            <a:pPr marL="0" indent="0" algn="ctr">
              <a:buNone/>
            </a:pPr>
            <a:r>
              <a:rPr lang="en-US" sz="1170" b="1" dirty="0">
                <a:solidFill>
                  <a:srgbClr val="FFFFFF"/>
                </a:solidFill>
                <a:latin typeface="Calibri" pitchFamily="34" charset="0"/>
                <a:ea typeface="Calibri" pitchFamily="34" charset="-122"/>
                <a:cs typeface="Calibri" pitchFamily="34" charset="-120"/>
              </a:rPr>
              <a:t>5</a:t>
            </a:r>
            <a:endParaRPr lang="en-US" sz="1170" dirty="0"/>
          </a:p>
        </p:txBody>
      </p:sp>
      <p:pic>
        <p:nvPicPr>
          <p:cNvPr id="43" name="Image 5" descr="preencoded.png"/>
          <p:cNvPicPr>
            <a:picLocks noChangeAspect="1"/>
          </p:cNvPicPr>
          <p:nvPr/>
        </p:nvPicPr>
        <p:blipFill>
          <a:blip r:embed="rId8"/>
          <a:stretch>
            <a:fillRect/>
          </a:stretch>
        </p:blipFill>
        <p:spPr>
          <a:xfrm>
            <a:off x="11064240" y="1618488"/>
            <a:ext cx="347472" cy="347472"/>
          </a:xfrm>
          <a:prstGeom prst="rect">
            <a:avLst/>
          </a:prstGeom>
        </p:spPr>
      </p:pic>
      <p:sp>
        <p:nvSpPr>
          <p:cNvPr id="44" name="Text 36"/>
          <p:cNvSpPr txBox="1"/>
          <p:nvPr/>
        </p:nvSpPr>
        <p:spPr>
          <a:xfrm>
            <a:off x="9692640" y="2148840"/>
            <a:ext cx="1773936" cy="5029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Sensor response</a:t>
            </a:r>
            <a:endParaRPr lang="en-US" sz="1350" dirty="0"/>
          </a:p>
        </p:txBody>
      </p:sp>
      <p:sp>
        <p:nvSpPr>
          <p:cNvPr id="45" name="Text 37"/>
          <p:cNvSpPr txBox="1"/>
          <p:nvPr/>
        </p:nvSpPr>
        <p:spPr>
          <a:xfrm>
            <a:off x="9692640" y="2679192"/>
            <a:ext cx="1773936" cy="100584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The detector integrates them over its band into a radiance value.</a:t>
            </a:r>
            <a:endParaRPr lang="en-US" sz="1150" dirty="0"/>
          </a:p>
        </p:txBody>
      </p:sp>
      <p:sp>
        <p:nvSpPr>
          <p:cNvPr id="46" name="Shape 38"/>
          <p:cNvSpPr/>
          <p:nvPr/>
        </p:nvSpPr>
        <p:spPr>
          <a:xfrm>
            <a:off x="548640" y="3977640"/>
            <a:ext cx="11094415" cy="2103120"/>
          </a:xfrm>
          <a:prstGeom prst="roundRect">
            <a:avLst>
              <a:gd name="adj" fmla="val 3478"/>
            </a:avLst>
          </a:prstGeom>
          <a:solidFill>
            <a:srgbClr val="FDF5DC"/>
          </a:solidFill>
          <a:ln w="9525">
            <a:solidFill>
              <a:srgbClr val="F5C242"/>
            </a:solidFill>
            <a:prstDash val="solid"/>
          </a:ln>
        </p:spPr>
      </p:sp>
      <p:pic>
        <p:nvPicPr>
          <p:cNvPr id="47" name="Image 6" descr="preencoded.png"/>
          <p:cNvPicPr>
            <a:picLocks noChangeAspect="1"/>
          </p:cNvPicPr>
          <p:nvPr/>
        </p:nvPicPr>
        <p:blipFill>
          <a:blip r:embed="rId9"/>
          <a:stretch>
            <a:fillRect/>
          </a:stretch>
        </p:blipFill>
        <p:spPr>
          <a:xfrm>
            <a:off x="777240" y="4133088"/>
            <a:ext cx="347472" cy="347472"/>
          </a:xfrm>
          <a:prstGeom prst="rect">
            <a:avLst/>
          </a:prstGeom>
        </p:spPr>
      </p:pic>
      <p:sp>
        <p:nvSpPr>
          <p:cNvPr id="48" name="Text 39"/>
          <p:cNvSpPr txBox="1"/>
          <p:nvPr/>
        </p:nvSpPr>
        <p:spPr>
          <a:xfrm>
            <a:off x="1280160" y="4114800"/>
            <a:ext cx="9144000" cy="365760"/>
          </a:xfrm>
          <a:prstGeom prst="rect">
            <a:avLst/>
          </a:prstGeom>
          <a:noFill/>
          <a:ln/>
        </p:spPr>
        <p:txBody>
          <a:bodyPr wrap="square" lIns="0" tIns="0" rIns="0" bIns="0" rtlCol="0" anchor="t"/>
          <a:lstStyle/>
          <a:p>
            <a:pPr marL="0" indent="0">
              <a:buNone/>
            </a:pPr>
            <a:r>
              <a:rPr lang="en-US" sz="1400" b="1" dirty="0">
                <a:solidFill>
                  <a:srgbClr val="A87700"/>
                </a:solidFill>
                <a:latin typeface="Calibri" pitchFamily="34" charset="0"/>
                <a:ea typeface="Calibri" pitchFamily="34" charset="-122"/>
                <a:cs typeface="Calibri" pitchFamily="34" charset="-120"/>
              </a:rPr>
              <a:t>Where the chain breaks in African contexts — a dark pixel can mean …</a:t>
            </a:r>
            <a:endParaRPr lang="en-US" sz="1400" dirty="0"/>
          </a:p>
        </p:txBody>
      </p:sp>
      <p:sp>
        <p:nvSpPr>
          <p:cNvPr id="49" name="Shape 40"/>
          <p:cNvSpPr/>
          <p:nvPr/>
        </p:nvSpPr>
        <p:spPr>
          <a:xfrm>
            <a:off x="822960" y="4663440"/>
            <a:ext cx="868680" cy="274320"/>
          </a:xfrm>
          <a:prstGeom prst="roundRect">
            <a:avLst>
              <a:gd name="adj" fmla="val 50000"/>
            </a:avLst>
          </a:prstGeom>
          <a:solidFill>
            <a:srgbClr val="F5C242"/>
          </a:solidFill>
          <a:ln w="12700">
            <a:solidFill>
              <a:srgbClr val="F5C242"/>
            </a:solidFill>
            <a:prstDash val="solid"/>
          </a:ln>
        </p:spPr>
      </p:sp>
      <p:sp>
        <p:nvSpPr>
          <p:cNvPr id="50" name="Text 41"/>
          <p:cNvSpPr txBox="1"/>
          <p:nvPr/>
        </p:nvSpPr>
        <p:spPr>
          <a:xfrm>
            <a:off x="822960" y="4663440"/>
            <a:ext cx="868680" cy="274320"/>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Link 1</a:t>
            </a:r>
            <a:endParaRPr lang="en-US" sz="900" dirty="0"/>
          </a:p>
        </p:txBody>
      </p:sp>
      <p:sp>
        <p:nvSpPr>
          <p:cNvPr id="51" name="Text 42"/>
          <p:cNvSpPr txBox="1"/>
          <p:nvPr/>
        </p:nvSpPr>
        <p:spPr>
          <a:xfrm>
            <a:off x="1828800" y="4617720"/>
            <a:ext cx="4389120" cy="384048"/>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Load-shedding or fuel shortage — people are there, power is not</a:t>
            </a:r>
            <a:endParaRPr lang="en-US" sz="1200" dirty="0"/>
          </a:p>
        </p:txBody>
      </p:sp>
      <p:sp>
        <p:nvSpPr>
          <p:cNvPr id="52" name="Shape 43"/>
          <p:cNvSpPr/>
          <p:nvPr/>
        </p:nvSpPr>
        <p:spPr>
          <a:xfrm>
            <a:off x="6309360" y="4663440"/>
            <a:ext cx="868680" cy="274320"/>
          </a:xfrm>
          <a:prstGeom prst="roundRect">
            <a:avLst>
              <a:gd name="adj" fmla="val 50000"/>
            </a:avLst>
          </a:prstGeom>
          <a:solidFill>
            <a:srgbClr val="F5C242"/>
          </a:solidFill>
          <a:ln w="12700">
            <a:solidFill>
              <a:srgbClr val="F5C242"/>
            </a:solidFill>
            <a:prstDash val="solid"/>
          </a:ln>
        </p:spPr>
      </p:sp>
      <p:sp>
        <p:nvSpPr>
          <p:cNvPr id="53" name="Text 44"/>
          <p:cNvSpPr txBox="1"/>
          <p:nvPr/>
        </p:nvSpPr>
        <p:spPr>
          <a:xfrm>
            <a:off x="6309360" y="4663440"/>
            <a:ext cx="868680" cy="274320"/>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Link 2–3</a:t>
            </a:r>
            <a:endParaRPr lang="en-US" sz="900" dirty="0"/>
          </a:p>
        </p:txBody>
      </p:sp>
      <p:sp>
        <p:nvSpPr>
          <p:cNvPr id="54" name="Text 45"/>
          <p:cNvSpPr txBox="1"/>
          <p:nvPr/>
        </p:nvSpPr>
        <p:spPr>
          <a:xfrm>
            <a:off x="7315200" y="4617720"/>
            <a:ext cx="4389120" cy="384048"/>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Solar lanterns and small home systems too faint to detect</a:t>
            </a:r>
            <a:endParaRPr lang="en-US" sz="1200" dirty="0"/>
          </a:p>
        </p:txBody>
      </p:sp>
      <p:sp>
        <p:nvSpPr>
          <p:cNvPr id="55" name="Shape 46"/>
          <p:cNvSpPr/>
          <p:nvPr/>
        </p:nvSpPr>
        <p:spPr>
          <a:xfrm>
            <a:off x="822960" y="5303520"/>
            <a:ext cx="868680" cy="274320"/>
          </a:xfrm>
          <a:prstGeom prst="roundRect">
            <a:avLst>
              <a:gd name="adj" fmla="val 50000"/>
            </a:avLst>
          </a:prstGeom>
          <a:solidFill>
            <a:srgbClr val="F5C242"/>
          </a:solidFill>
          <a:ln w="12700">
            <a:solidFill>
              <a:srgbClr val="F5C242"/>
            </a:solidFill>
            <a:prstDash val="solid"/>
          </a:ln>
        </p:spPr>
      </p:sp>
      <p:sp>
        <p:nvSpPr>
          <p:cNvPr id="56" name="Text 47"/>
          <p:cNvSpPr txBox="1"/>
          <p:nvPr/>
        </p:nvSpPr>
        <p:spPr>
          <a:xfrm>
            <a:off x="822960" y="5303520"/>
            <a:ext cx="868680" cy="274320"/>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Link 4</a:t>
            </a:r>
            <a:endParaRPr lang="en-US" sz="900" dirty="0"/>
          </a:p>
        </p:txBody>
      </p:sp>
      <p:sp>
        <p:nvSpPr>
          <p:cNvPr id="57" name="Text 48"/>
          <p:cNvSpPr txBox="1"/>
          <p:nvPr/>
        </p:nvSpPr>
        <p:spPr>
          <a:xfrm>
            <a:off x="1828800" y="5257800"/>
            <a:ext cx="4389120" cy="384048"/>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Rainy-season cloud, harmattan dust, biomass-burning smoke</a:t>
            </a:r>
            <a:endParaRPr lang="en-US" sz="1200" dirty="0"/>
          </a:p>
        </p:txBody>
      </p:sp>
      <p:sp>
        <p:nvSpPr>
          <p:cNvPr id="58" name="Shape 49"/>
          <p:cNvSpPr/>
          <p:nvPr/>
        </p:nvSpPr>
        <p:spPr>
          <a:xfrm>
            <a:off x="6309360" y="5303520"/>
            <a:ext cx="868680" cy="274320"/>
          </a:xfrm>
          <a:prstGeom prst="roundRect">
            <a:avLst>
              <a:gd name="adj" fmla="val 50000"/>
            </a:avLst>
          </a:prstGeom>
          <a:solidFill>
            <a:srgbClr val="F5C242"/>
          </a:solidFill>
          <a:ln w="12700">
            <a:solidFill>
              <a:srgbClr val="F5C242"/>
            </a:solidFill>
            <a:prstDash val="solid"/>
          </a:ln>
        </p:spPr>
      </p:sp>
      <p:sp>
        <p:nvSpPr>
          <p:cNvPr id="59" name="Text 50"/>
          <p:cNvSpPr txBox="1"/>
          <p:nvPr/>
        </p:nvSpPr>
        <p:spPr>
          <a:xfrm>
            <a:off x="6309360" y="5303520"/>
            <a:ext cx="868680" cy="274320"/>
          </a:xfrm>
          <a:prstGeom prst="rect">
            <a:avLst/>
          </a:prstGeom>
          <a:noFill/>
          <a:ln/>
        </p:spPr>
        <p:txBody>
          <a:bodyPr wrap="square" lIns="0" tIns="0" rIns="0" bIns="0" rtlCol="0" anchor="ctr"/>
          <a:lstStyle/>
          <a:p>
            <a:pPr marL="0" indent="0" algn="ctr">
              <a:buNone/>
            </a:pPr>
            <a:r>
              <a:rPr lang="en-US" sz="900" b="1" kern="0" spc="100" dirty="0">
                <a:solidFill>
                  <a:srgbClr val="00553A"/>
                </a:solidFill>
                <a:latin typeface="Calibri" pitchFamily="34" charset="0"/>
                <a:ea typeface="Calibri" pitchFamily="34" charset="-122"/>
                <a:cs typeface="Calibri" pitchFamily="34" charset="-120"/>
              </a:rPr>
              <a:t>Link 5</a:t>
            </a:r>
            <a:endParaRPr lang="en-US" sz="900" dirty="0"/>
          </a:p>
        </p:txBody>
      </p:sp>
      <p:sp>
        <p:nvSpPr>
          <p:cNvPr id="60" name="Text 51"/>
          <p:cNvSpPr txBox="1"/>
          <p:nvPr/>
        </p:nvSpPr>
        <p:spPr>
          <a:xfrm>
            <a:off x="7315200" y="5257800"/>
            <a:ext cx="4389120" cy="384048"/>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Rural light below the sensor’s detection floor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01 · FOUNDATIONS · WHAT THE SENSOR SEES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The sensor sees one band, at one hour of the night</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8</a:t>
            </a:r>
            <a:endParaRPr lang="en-US" sz="900" dirty="0"/>
          </a:p>
        </p:txBody>
      </p:sp>
      <p:sp>
        <p:nvSpPr>
          <p:cNvPr id="12" name="Shape 9"/>
          <p:cNvSpPr/>
          <p:nvPr/>
        </p:nvSpPr>
        <p:spPr>
          <a:xfrm>
            <a:off x="548640" y="1965960"/>
            <a:ext cx="560832" cy="457200"/>
          </a:xfrm>
          <a:prstGeom prst="rect">
            <a:avLst/>
          </a:prstGeom>
          <a:solidFill>
            <a:srgbClr val="6A3FB5"/>
          </a:solidFill>
          <a:ln w="6350">
            <a:solidFill>
              <a:srgbClr val="6A3FB5"/>
            </a:solidFill>
            <a:prstDash val="solid"/>
          </a:ln>
        </p:spPr>
      </p:sp>
      <p:sp>
        <p:nvSpPr>
          <p:cNvPr id="13" name="Shape 10"/>
          <p:cNvSpPr/>
          <p:nvPr/>
        </p:nvSpPr>
        <p:spPr>
          <a:xfrm>
            <a:off x="1104900" y="1965960"/>
            <a:ext cx="560832" cy="457200"/>
          </a:xfrm>
          <a:prstGeom prst="rect">
            <a:avLst/>
          </a:prstGeom>
          <a:solidFill>
            <a:srgbClr val="3B4FD8"/>
          </a:solidFill>
          <a:ln w="6350">
            <a:solidFill>
              <a:srgbClr val="3B4FD8"/>
            </a:solidFill>
            <a:prstDash val="solid"/>
          </a:ln>
        </p:spPr>
      </p:sp>
      <p:sp>
        <p:nvSpPr>
          <p:cNvPr id="14" name="Shape 11"/>
          <p:cNvSpPr/>
          <p:nvPr/>
        </p:nvSpPr>
        <p:spPr>
          <a:xfrm>
            <a:off x="1661160" y="1965960"/>
            <a:ext cx="560832" cy="457200"/>
          </a:xfrm>
          <a:prstGeom prst="rect">
            <a:avLst/>
          </a:prstGeom>
          <a:solidFill>
            <a:srgbClr val="1F8FE0"/>
          </a:solidFill>
          <a:ln w="6350">
            <a:solidFill>
              <a:srgbClr val="1F8FE0"/>
            </a:solidFill>
            <a:prstDash val="solid"/>
          </a:ln>
        </p:spPr>
      </p:sp>
      <p:sp>
        <p:nvSpPr>
          <p:cNvPr id="15" name="Shape 12"/>
          <p:cNvSpPr/>
          <p:nvPr/>
        </p:nvSpPr>
        <p:spPr>
          <a:xfrm>
            <a:off x="2217420" y="1965960"/>
            <a:ext cx="560832" cy="457200"/>
          </a:xfrm>
          <a:prstGeom prst="rect">
            <a:avLst/>
          </a:prstGeom>
          <a:solidFill>
            <a:srgbClr val="1DB5A8"/>
          </a:solidFill>
          <a:ln w="6350">
            <a:solidFill>
              <a:srgbClr val="1DB5A8"/>
            </a:solidFill>
            <a:prstDash val="solid"/>
          </a:ln>
        </p:spPr>
      </p:sp>
      <p:sp>
        <p:nvSpPr>
          <p:cNvPr id="16" name="Shape 13"/>
          <p:cNvSpPr/>
          <p:nvPr/>
        </p:nvSpPr>
        <p:spPr>
          <a:xfrm>
            <a:off x="2773680" y="1965960"/>
            <a:ext cx="560832" cy="457200"/>
          </a:xfrm>
          <a:prstGeom prst="rect">
            <a:avLst/>
          </a:prstGeom>
          <a:solidFill>
            <a:srgbClr val="4CBF4A"/>
          </a:solidFill>
          <a:ln w="6350">
            <a:solidFill>
              <a:srgbClr val="4CBF4A"/>
            </a:solidFill>
            <a:prstDash val="solid"/>
          </a:ln>
        </p:spPr>
      </p:sp>
      <p:sp>
        <p:nvSpPr>
          <p:cNvPr id="17" name="Shape 14"/>
          <p:cNvSpPr/>
          <p:nvPr/>
        </p:nvSpPr>
        <p:spPr>
          <a:xfrm>
            <a:off x="3329940" y="1965960"/>
            <a:ext cx="560832" cy="457200"/>
          </a:xfrm>
          <a:prstGeom prst="rect">
            <a:avLst/>
          </a:prstGeom>
          <a:solidFill>
            <a:srgbClr val="C5D936"/>
          </a:solidFill>
          <a:ln w="6350">
            <a:solidFill>
              <a:srgbClr val="C5D936"/>
            </a:solidFill>
            <a:prstDash val="solid"/>
          </a:ln>
        </p:spPr>
      </p:sp>
      <p:sp>
        <p:nvSpPr>
          <p:cNvPr id="18" name="Shape 15"/>
          <p:cNvSpPr/>
          <p:nvPr/>
        </p:nvSpPr>
        <p:spPr>
          <a:xfrm>
            <a:off x="3886200" y="1965960"/>
            <a:ext cx="560832" cy="457200"/>
          </a:xfrm>
          <a:prstGeom prst="rect">
            <a:avLst/>
          </a:prstGeom>
          <a:solidFill>
            <a:srgbClr val="F2C230"/>
          </a:solidFill>
          <a:ln w="6350">
            <a:solidFill>
              <a:srgbClr val="F2C230"/>
            </a:solidFill>
            <a:prstDash val="solid"/>
          </a:ln>
        </p:spPr>
      </p:sp>
      <p:sp>
        <p:nvSpPr>
          <p:cNvPr id="19" name="Shape 16"/>
          <p:cNvSpPr/>
          <p:nvPr/>
        </p:nvSpPr>
        <p:spPr>
          <a:xfrm>
            <a:off x="4442460" y="1965960"/>
            <a:ext cx="560832" cy="457200"/>
          </a:xfrm>
          <a:prstGeom prst="rect">
            <a:avLst/>
          </a:prstGeom>
          <a:solidFill>
            <a:srgbClr val="F2902E"/>
          </a:solidFill>
          <a:ln w="6350">
            <a:solidFill>
              <a:srgbClr val="F2902E"/>
            </a:solidFill>
            <a:prstDash val="solid"/>
          </a:ln>
        </p:spPr>
      </p:sp>
      <p:sp>
        <p:nvSpPr>
          <p:cNvPr id="20" name="Shape 17"/>
          <p:cNvSpPr/>
          <p:nvPr/>
        </p:nvSpPr>
        <p:spPr>
          <a:xfrm>
            <a:off x="4998720" y="1965960"/>
            <a:ext cx="560832" cy="457200"/>
          </a:xfrm>
          <a:prstGeom prst="rect">
            <a:avLst/>
          </a:prstGeom>
          <a:solidFill>
            <a:srgbClr val="E2503A"/>
          </a:solidFill>
          <a:ln w="6350">
            <a:solidFill>
              <a:srgbClr val="E2503A"/>
            </a:solidFill>
            <a:prstDash val="solid"/>
          </a:ln>
        </p:spPr>
      </p:sp>
      <p:sp>
        <p:nvSpPr>
          <p:cNvPr id="21" name="Shape 18"/>
          <p:cNvSpPr/>
          <p:nvPr/>
        </p:nvSpPr>
        <p:spPr>
          <a:xfrm>
            <a:off x="5554980" y="1965960"/>
            <a:ext cx="560832" cy="457200"/>
          </a:xfrm>
          <a:prstGeom prst="rect">
            <a:avLst/>
          </a:prstGeom>
          <a:solidFill>
            <a:srgbClr val="B8322E"/>
          </a:solidFill>
          <a:ln w="6350">
            <a:solidFill>
              <a:srgbClr val="B8322E"/>
            </a:solidFill>
            <a:prstDash val="solid"/>
          </a:ln>
        </p:spPr>
      </p:sp>
      <p:sp>
        <p:nvSpPr>
          <p:cNvPr id="22" name="Shape 19"/>
          <p:cNvSpPr/>
          <p:nvPr/>
        </p:nvSpPr>
        <p:spPr>
          <a:xfrm>
            <a:off x="6111240" y="1965960"/>
            <a:ext cx="560832" cy="457200"/>
          </a:xfrm>
          <a:prstGeom prst="rect">
            <a:avLst/>
          </a:prstGeom>
          <a:solidFill>
            <a:srgbClr val="8A2F2F"/>
          </a:solidFill>
          <a:ln w="6350">
            <a:solidFill>
              <a:srgbClr val="8A2F2F"/>
            </a:solidFill>
            <a:prstDash val="solid"/>
          </a:ln>
        </p:spPr>
      </p:sp>
      <p:sp>
        <p:nvSpPr>
          <p:cNvPr id="23" name="Shape 20"/>
          <p:cNvSpPr/>
          <p:nvPr/>
        </p:nvSpPr>
        <p:spPr>
          <a:xfrm>
            <a:off x="6667500" y="1965960"/>
            <a:ext cx="560832" cy="457200"/>
          </a:xfrm>
          <a:prstGeom prst="rect">
            <a:avLst/>
          </a:prstGeom>
          <a:solidFill>
            <a:srgbClr val="5E2E3A"/>
          </a:solidFill>
          <a:ln w="6350">
            <a:solidFill>
              <a:srgbClr val="5E2E3A"/>
            </a:solidFill>
            <a:prstDash val="solid"/>
          </a:ln>
        </p:spPr>
      </p:sp>
      <p:sp>
        <p:nvSpPr>
          <p:cNvPr id="24" name="Text 21"/>
          <p:cNvSpPr txBox="1"/>
          <p:nvPr/>
        </p:nvSpPr>
        <p:spPr>
          <a:xfrm>
            <a:off x="27432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400</a:t>
            </a:r>
            <a:endParaRPr lang="en-US" sz="900" dirty="0"/>
          </a:p>
        </p:txBody>
      </p:sp>
      <p:sp>
        <p:nvSpPr>
          <p:cNvPr id="25" name="Text 22"/>
          <p:cNvSpPr txBox="1"/>
          <p:nvPr/>
        </p:nvSpPr>
        <p:spPr>
          <a:xfrm>
            <a:off x="138684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500</a:t>
            </a:r>
            <a:endParaRPr lang="en-US" sz="900" dirty="0"/>
          </a:p>
        </p:txBody>
      </p:sp>
      <p:sp>
        <p:nvSpPr>
          <p:cNvPr id="26" name="Text 23"/>
          <p:cNvSpPr txBox="1"/>
          <p:nvPr/>
        </p:nvSpPr>
        <p:spPr>
          <a:xfrm>
            <a:off x="249936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600</a:t>
            </a:r>
            <a:endParaRPr lang="en-US" sz="900" dirty="0"/>
          </a:p>
        </p:txBody>
      </p:sp>
      <p:sp>
        <p:nvSpPr>
          <p:cNvPr id="27" name="Text 24"/>
          <p:cNvSpPr txBox="1"/>
          <p:nvPr/>
        </p:nvSpPr>
        <p:spPr>
          <a:xfrm>
            <a:off x="361188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700</a:t>
            </a:r>
            <a:endParaRPr lang="en-US" sz="900" dirty="0"/>
          </a:p>
        </p:txBody>
      </p:sp>
      <p:sp>
        <p:nvSpPr>
          <p:cNvPr id="28" name="Text 25"/>
          <p:cNvSpPr txBox="1"/>
          <p:nvPr/>
        </p:nvSpPr>
        <p:spPr>
          <a:xfrm>
            <a:off x="472440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800</a:t>
            </a:r>
            <a:endParaRPr lang="en-US" sz="900" dirty="0"/>
          </a:p>
        </p:txBody>
      </p:sp>
      <p:sp>
        <p:nvSpPr>
          <p:cNvPr id="29" name="Text 26"/>
          <p:cNvSpPr txBox="1"/>
          <p:nvPr/>
        </p:nvSpPr>
        <p:spPr>
          <a:xfrm>
            <a:off x="583692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900</a:t>
            </a:r>
            <a:endParaRPr lang="en-US" sz="900" dirty="0"/>
          </a:p>
        </p:txBody>
      </p:sp>
      <p:sp>
        <p:nvSpPr>
          <p:cNvPr id="30" name="Text 27"/>
          <p:cNvSpPr txBox="1"/>
          <p:nvPr/>
        </p:nvSpPr>
        <p:spPr>
          <a:xfrm>
            <a:off x="6949440" y="2468880"/>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1000</a:t>
            </a:r>
            <a:endParaRPr lang="en-US" sz="900" dirty="0"/>
          </a:p>
        </p:txBody>
      </p:sp>
      <p:sp>
        <p:nvSpPr>
          <p:cNvPr id="31" name="Text 28"/>
          <p:cNvSpPr txBox="1"/>
          <p:nvPr/>
        </p:nvSpPr>
        <p:spPr>
          <a:xfrm>
            <a:off x="5852160" y="2679192"/>
            <a:ext cx="1371600" cy="201168"/>
          </a:xfrm>
          <a:prstGeom prst="rect">
            <a:avLst/>
          </a:prstGeom>
          <a:noFill/>
          <a:ln/>
        </p:spPr>
        <p:txBody>
          <a:bodyPr wrap="square" lIns="0" tIns="0" rIns="0" bIns="0" rtlCol="0" anchor="t"/>
          <a:lstStyle/>
          <a:p>
            <a:pPr marL="0" indent="0" algn="r">
              <a:buNone/>
            </a:pPr>
            <a:r>
              <a:rPr lang="en-US" sz="900" i="1" dirty="0">
                <a:solidFill>
                  <a:srgbClr val="5E6964"/>
                </a:solidFill>
                <a:latin typeface="Calibri" pitchFamily="34" charset="0"/>
                <a:ea typeface="Calibri" pitchFamily="34" charset="-122"/>
                <a:cs typeface="Calibri" pitchFamily="34" charset="-120"/>
              </a:rPr>
              <a:t>wavelength (nm)</a:t>
            </a:r>
            <a:endParaRPr lang="en-US" sz="900" dirty="0"/>
          </a:p>
        </p:txBody>
      </p:sp>
      <p:sp>
        <p:nvSpPr>
          <p:cNvPr id="32" name="Shape 29"/>
          <p:cNvSpPr/>
          <p:nvPr/>
        </p:nvSpPr>
        <p:spPr>
          <a:xfrm>
            <a:off x="1661160" y="1463040"/>
            <a:ext cx="4450080" cy="384048"/>
          </a:xfrm>
          <a:prstGeom prst="rect">
            <a:avLst/>
          </a:prstGeom>
          <a:solidFill>
            <a:srgbClr val="00704A"/>
          </a:solidFill>
          <a:ln w="12700">
            <a:solidFill>
              <a:srgbClr val="00704A"/>
            </a:solidFill>
            <a:prstDash val="solid"/>
          </a:ln>
        </p:spPr>
      </p:sp>
      <p:sp>
        <p:nvSpPr>
          <p:cNvPr id="33" name="Text 30"/>
          <p:cNvSpPr txBox="1"/>
          <p:nvPr/>
        </p:nvSpPr>
        <p:spPr>
          <a:xfrm>
            <a:off x="1661160" y="1463040"/>
            <a:ext cx="4450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VIIRS Day/Night Band  ≈ 500 – 900 nm</a:t>
            </a:r>
            <a:endParaRPr lang="en-US" sz="1150" dirty="0"/>
          </a:p>
        </p:txBody>
      </p:sp>
      <p:sp>
        <p:nvSpPr>
          <p:cNvPr id="34" name="Shape 31"/>
          <p:cNvSpPr/>
          <p:nvPr/>
        </p:nvSpPr>
        <p:spPr>
          <a:xfrm>
            <a:off x="2651303" y="2423160"/>
            <a:ext cx="0" cy="868680"/>
          </a:xfrm>
          <a:prstGeom prst="line">
            <a:avLst/>
          </a:prstGeom>
          <a:noFill/>
          <a:ln w="19050">
            <a:solidFill>
              <a:srgbClr val="00704A"/>
            </a:solidFill>
            <a:prstDash val="dash"/>
          </a:ln>
        </p:spPr>
      </p:sp>
      <p:sp>
        <p:nvSpPr>
          <p:cNvPr id="35" name="Text 32"/>
          <p:cNvSpPr txBox="1"/>
          <p:nvPr/>
        </p:nvSpPr>
        <p:spPr>
          <a:xfrm>
            <a:off x="2724455" y="3063240"/>
            <a:ext cx="41148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Sodium-lamp peak ≈ 589 nm — inside the band</a:t>
            </a:r>
            <a:endParaRPr lang="en-US" sz="1100" dirty="0"/>
          </a:p>
        </p:txBody>
      </p:sp>
      <p:sp>
        <p:nvSpPr>
          <p:cNvPr id="36" name="Shape 33"/>
          <p:cNvSpPr/>
          <p:nvPr/>
        </p:nvSpPr>
        <p:spPr>
          <a:xfrm>
            <a:off x="1104900" y="2423160"/>
            <a:ext cx="0" cy="1280160"/>
          </a:xfrm>
          <a:prstGeom prst="line">
            <a:avLst/>
          </a:prstGeom>
          <a:noFill/>
          <a:ln w="19050">
            <a:solidFill>
              <a:srgbClr val="B83B2E"/>
            </a:solidFill>
            <a:prstDash val="dash"/>
          </a:ln>
        </p:spPr>
      </p:sp>
      <p:sp>
        <p:nvSpPr>
          <p:cNvPr id="37" name="Text 34"/>
          <p:cNvSpPr txBox="1"/>
          <p:nvPr/>
        </p:nvSpPr>
        <p:spPr>
          <a:xfrm>
            <a:off x="1178052" y="3474720"/>
            <a:ext cx="4114800" cy="274320"/>
          </a:xfrm>
          <a:prstGeom prst="rect">
            <a:avLst/>
          </a:prstGeom>
          <a:noFill/>
          <a:ln/>
        </p:spPr>
        <p:txBody>
          <a:bodyPr wrap="square" lIns="0" tIns="0" rIns="0" bIns="0" rtlCol="0" anchor="t"/>
          <a:lstStyle/>
          <a:p>
            <a:pPr marL="0" indent="0">
              <a:buNone/>
            </a:pPr>
            <a:r>
              <a:rPr lang="en-US" sz="1100" b="1" dirty="0">
                <a:solidFill>
                  <a:srgbClr val="B83B2E"/>
                </a:solidFill>
                <a:latin typeface="Calibri" pitchFamily="34" charset="0"/>
                <a:ea typeface="Calibri" pitchFamily="34" charset="-122"/>
                <a:cs typeface="Calibri" pitchFamily="34" charset="-120"/>
              </a:rPr>
              <a:t>White-LED blue peak ≈ 450 nm — outside the band</a:t>
            </a:r>
            <a:endParaRPr lang="en-US" sz="1100" dirty="0"/>
          </a:p>
        </p:txBody>
      </p:sp>
      <p:sp>
        <p:nvSpPr>
          <p:cNvPr id="38" name="Shape 35"/>
          <p:cNvSpPr/>
          <p:nvPr/>
        </p:nvSpPr>
        <p:spPr>
          <a:xfrm>
            <a:off x="7589520" y="1371600"/>
            <a:ext cx="4050792" cy="1325880"/>
          </a:xfrm>
          <a:prstGeom prst="roundRect">
            <a:avLst>
              <a:gd name="adj" fmla="val 5517"/>
            </a:avLst>
          </a:prstGeom>
          <a:solidFill>
            <a:srgbClr val="F4F7F5"/>
          </a:solidFill>
          <a:ln w="9525">
            <a:solidFill>
              <a:srgbClr val="D5DED9"/>
            </a:solidFill>
            <a:prstDash val="solid"/>
          </a:ln>
        </p:spPr>
      </p:sp>
      <p:sp>
        <p:nvSpPr>
          <p:cNvPr id="39" name="Shape 36"/>
          <p:cNvSpPr/>
          <p:nvPr/>
        </p:nvSpPr>
        <p:spPr>
          <a:xfrm>
            <a:off x="7754112" y="1554480"/>
            <a:ext cx="502920" cy="502920"/>
          </a:xfrm>
          <a:prstGeom prst="ellipse">
            <a:avLst/>
          </a:prstGeom>
          <a:solidFill>
            <a:srgbClr val="E8F5EF"/>
          </a:solidFill>
          <a:ln w="12700">
            <a:solidFill>
              <a:srgbClr val="E8F5EF"/>
            </a:solidFill>
            <a:prstDash val="solid"/>
          </a:ln>
        </p:spPr>
      </p:sp>
      <p:pic>
        <p:nvPicPr>
          <p:cNvPr id="40" name="Image 1" descr="preencoded.png"/>
          <p:cNvPicPr>
            <a:picLocks noChangeAspect="1"/>
          </p:cNvPicPr>
          <p:nvPr/>
        </p:nvPicPr>
        <p:blipFill>
          <a:blip r:embed="rId4"/>
          <a:stretch>
            <a:fillRect/>
          </a:stretch>
        </p:blipFill>
        <p:spPr>
          <a:xfrm>
            <a:off x="7884871" y="1685239"/>
            <a:ext cx="241402" cy="241402"/>
          </a:xfrm>
          <a:prstGeom prst="rect">
            <a:avLst/>
          </a:prstGeom>
        </p:spPr>
      </p:pic>
      <p:sp>
        <p:nvSpPr>
          <p:cNvPr id="41" name="Text 37"/>
          <p:cNvSpPr txBox="1"/>
          <p:nvPr/>
        </p:nvSpPr>
        <p:spPr>
          <a:xfrm>
            <a:off x="8394192" y="1508760"/>
            <a:ext cx="31089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The LED paradox</a:t>
            </a:r>
            <a:endParaRPr lang="en-US" sz="1350" dirty="0"/>
          </a:p>
        </p:txBody>
      </p:sp>
      <p:sp>
        <p:nvSpPr>
          <p:cNvPr id="42" name="Text 38"/>
          <p:cNvSpPr txBox="1"/>
          <p:nvPr/>
        </p:nvSpPr>
        <p:spPr>
          <a:xfrm>
            <a:off x="8394192" y="1828800"/>
            <a:ext cx="3108960" cy="82296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Swapping sodium for white LED street lights can make a city look dimmer to VIIRS while it is actually better lit on the ground.</a:t>
            </a:r>
            <a:endParaRPr lang="en-US" sz="1100" dirty="0"/>
          </a:p>
        </p:txBody>
      </p:sp>
      <p:sp>
        <p:nvSpPr>
          <p:cNvPr id="43" name="Shape 39"/>
          <p:cNvSpPr/>
          <p:nvPr/>
        </p:nvSpPr>
        <p:spPr>
          <a:xfrm>
            <a:off x="7589520" y="2834640"/>
            <a:ext cx="4050792" cy="1325880"/>
          </a:xfrm>
          <a:prstGeom prst="roundRect">
            <a:avLst>
              <a:gd name="adj" fmla="val 5517"/>
            </a:avLst>
          </a:prstGeom>
          <a:solidFill>
            <a:srgbClr val="F4F7F5"/>
          </a:solidFill>
          <a:ln w="9525">
            <a:solidFill>
              <a:srgbClr val="D5DED9"/>
            </a:solidFill>
            <a:prstDash val="solid"/>
          </a:ln>
        </p:spPr>
      </p:sp>
      <p:sp>
        <p:nvSpPr>
          <p:cNvPr id="44" name="Shape 40"/>
          <p:cNvSpPr/>
          <p:nvPr/>
        </p:nvSpPr>
        <p:spPr>
          <a:xfrm>
            <a:off x="7754112" y="3017520"/>
            <a:ext cx="502920" cy="502920"/>
          </a:xfrm>
          <a:prstGeom prst="ellipse">
            <a:avLst/>
          </a:prstGeom>
          <a:solidFill>
            <a:srgbClr val="E8F5EF"/>
          </a:solidFill>
          <a:ln w="12700">
            <a:solidFill>
              <a:srgbClr val="E8F5EF"/>
            </a:solidFill>
            <a:prstDash val="solid"/>
          </a:ln>
        </p:spPr>
      </p:sp>
      <p:pic>
        <p:nvPicPr>
          <p:cNvPr id="45" name="Image 2" descr="preencoded.png"/>
          <p:cNvPicPr>
            <a:picLocks noChangeAspect="1"/>
          </p:cNvPicPr>
          <p:nvPr/>
        </p:nvPicPr>
        <p:blipFill>
          <a:blip r:embed="rId5"/>
          <a:stretch>
            <a:fillRect/>
          </a:stretch>
        </p:blipFill>
        <p:spPr>
          <a:xfrm>
            <a:off x="7884871" y="3148279"/>
            <a:ext cx="241402" cy="241402"/>
          </a:xfrm>
          <a:prstGeom prst="rect">
            <a:avLst/>
          </a:prstGeom>
        </p:spPr>
      </p:pic>
      <p:sp>
        <p:nvSpPr>
          <p:cNvPr id="46" name="Text 41"/>
          <p:cNvSpPr txBox="1"/>
          <p:nvPr/>
        </p:nvSpPr>
        <p:spPr>
          <a:xfrm>
            <a:off x="8394192" y="2971800"/>
            <a:ext cx="31089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The 01:30 snapshot</a:t>
            </a:r>
            <a:endParaRPr lang="en-US" sz="1350" dirty="0"/>
          </a:p>
        </p:txBody>
      </p:sp>
      <p:sp>
        <p:nvSpPr>
          <p:cNvPr id="47" name="Text 42"/>
          <p:cNvSpPr txBox="1"/>
          <p:nvPr/>
        </p:nvSpPr>
        <p:spPr>
          <a:xfrm>
            <a:off x="8394192" y="3291840"/>
            <a:ext cx="3108960" cy="82296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VIIRS passes after midnight. Evening markets, traffic and commerce (18:00–22:00) are largely unobserved; street lighting dominates.</a:t>
            </a:r>
            <a:endParaRPr lang="en-US" sz="1100" dirty="0"/>
          </a:p>
        </p:txBody>
      </p:sp>
      <p:sp>
        <p:nvSpPr>
          <p:cNvPr id="48" name="Shape 43"/>
          <p:cNvSpPr/>
          <p:nvPr/>
        </p:nvSpPr>
        <p:spPr>
          <a:xfrm>
            <a:off x="7589520" y="4297680"/>
            <a:ext cx="4050792" cy="1325880"/>
          </a:xfrm>
          <a:prstGeom prst="roundRect">
            <a:avLst>
              <a:gd name="adj" fmla="val 5517"/>
            </a:avLst>
          </a:prstGeom>
          <a:solidFill>
            <a:srgbClr val="F4F7F5"/>
          </a:solidFill>
          <a:ln w="9525">
            <a:solidFill>
              <a:srgbClr val="D5DED9"/>
            </a:solidFill>
            <a:prstDash val="solid"/>
          </a:ln>
        </p:spPr>
      </p:sp>
      <p:sp>
        <p:nvSpPr>
          <p:cNvPr id="49" name="Shape 44"/>
          <p:cNvSpPr/>
          <p:nvPr/>
        </p:nvSpPr>
        <p:spPr>
          <a:xfrm>
            <a:off x="7754112" y="4480560"/>
            <a:ext cx="502920" cy="502920"/>
          </a:xfrm>
          <a:prstGeom prst="ellipse">
            <a:avLst/>
          </a:prstGeom>
          <a:solidFill>
            <a:srgbClr val="E8F5EF"/>
          </a:solidFill>
          <a:ln w="12700">
            <a:solidFill>
              <a:srgbClr val="E8F5EF"/>
            </a:solidFill>
            <a:prstDash val="solid"/>
          </a:ln>
        </p:spPr>
      </p:sp>
      <p:pic>
        <p:nvPicPr>
          <p:cNvPr id="50" name="Image 3" descr="preencoded.png"/>
          <p:cNvPicPr>
            <a:picLocks noChangeAspect="1"/>
          </p:cNvPicPr>
          <p:nvPr/>
        </p:nvPicPr>
        <p:blipFill>
          <a:blip r:embed="rId6"/>
          <a:stretch>
            <a:fillRect/>
          </a:stretch>
        </p:blipFill>
        <p:spPr>
          <a:xfrm>
            <a:off x="7884871" y="4611319"/>
            <a:ext cx="241402" cy="241402"/>
          </a:xfrm>
          <a:prstGeom prst="rect">
            <a:avLst/>
          </a:prstGeom>
        </p:spPr>
      </p:pic>
      <p:sp>
        <p:nvSpPr>
          <p:cNvPr id="51" name="Text 45"/>
          <p:cNvSpPr txBox="1"/>
          <p:nvPr/>
        </p:nvSpPr>
        <p:spPr>
          <a:xfrm>
            <a:off x="8394192" y="4434840"/>
            <a:ext cx="31089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Only upward light</a:t>
            </a:r>
            <a:endParaRPr lang="en-US" sz="1350" dirty="0"/>
          </a:p>
        </p:txBody>
      </p:sp>
      <p:sp>
        <p:nvSpPr>
          <p:cNvPr id="52" name="Text 46"/>
          <p:cNvSpPr txBox="1"/>
          <p:nvPr/>
        </p:nvSpPr>
        <p:spPr>
          <a:xfrm>
            <a:off x="8394192" y="4754880"/>
            <a:ext cx="3108960" cy="82296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Shielded fixtures, indoor lighting and light blocked by trees or buildings never reach the sensor.</a:t>
            </a:r>
            <a:endParaRPr lang="en-US" sz="1100" dirty="0"/>
          </a:p>
        </p:txBody>
      </p:sp>
      <p:sp>
        <p:nvSpPr>
          <p:cNvPr id="53" name="Shape 47"/>
          <p:cNvSpPr/>
          <p:nvPr/>
        </p:nvSpPr>
        <p:spPr>
          <a:xfrm>
            <a:off x="548640" y="4434840"/>
            <a:ext cx="6675120" cy="1417320"/>
          </a:xfrm>
          <a:prstGeom prst="roundRect">
            <a:avLst>
              <a:gd name="adj" fmla="val 5161"/>
            </a:avLst>
          </a:prstGeom>
          <a:solidFill>
            <a:srgbClr val="F4F7F5"/>
          </a:solidFill>
          <a:ln w="9525">
            <a:solidFill>
              <a:srgbClr val="D5DED9"/>
            </a:solidFill>
            <a:prstDash val="solid"/>
          </a:ln>
        </p:spPr>
      </p:sp>
      <p:sp>
        <p:nvSpPr>
          <p:cNvPr id="54" name="Text 48"/>
          <p:cNvSpPr txBox="1"/>
          <p:nvPr/>
        </p:nvSpPr>
        <p:spPr>
          <a:xfrm>
            <a:off x="777240" y="4526280"/>
            <a:ext cx="6217920" cy="128016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Why this matters for statistics</a:t>
            </a:r>
            <a:endParaRPr lang="en-US" sz="1200" dirty="0"/>
          </a:p>
          <a:p>
            <a:pPr marL="0" indent="0">
              <a:buNone/>
            </a:pPr>
            <a:r>
              <a:rPr lang="en-US" sz="1200" dirty="0">
                <a:solidFill>
                  <a:srgbClr val="231F20"/>
                </a:solidFill>
                <a:latin typeface="Calibri" pitchFamily="34" charset="0"/>
                <a:ea typeface="Calibri" pitchFamily="34" charset="-122"/>
                <a:cs typeface="Calibri" pitchFamily="34" charset="-120"/>
              </a:rPr>
              <a:t>Two cities with the same economic activity can produce different radiance because of lamp type, curfew habits or building form. Changes in lighting technology — Africa’s accelerating LED and solar roll-out — can move the series without any change in activity. Treat technology change as a known source of drift and prefer within-unit changes over short windows.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01 · FOUNDATIONS · WHY IT MATTERS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What lights add to macroeconomic statistics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9</a:t>
            </a:r>
            <a:endParaRPr lang="en-US" sz="900" dirty="0"/>
          </a:p>
        </p:txBody>
      </p:sp>
      <p:sp>
        <p:nvSpPr>
          <p:cNvPr id="12" name="Text 9"/>
          <p:cNvSpPr txBox="1"/>
          <p:nvPr/>
        </p:nvSpPr>
        <p:spPr>
          <a:xfrm>
            <a:off x="548640" y="1371600"/>
            <a:ext cx="6766560" cy="32004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What lights add</a:t>
            </a:r>
            <a:endParaRPr lang="en-US" sz="1500" dirty="0"/>
          </a:p>
        </p:txBody>
      </p:sp>
      <p:sp>
        <p:nvSpPr>
          <p:cNvPr id="13" name="Shape 10"/>
          <p:cNvSpPr/>
          <p:nvPr/>
        </p:nvSpPr>
        <p:spPr>
          <a:xfrm>
            <a:off x="548640" y="1783080"/>
            <a:ext cx="3291840" cy="1810512"/>
          </a:xfrm>
          <a:prstGeom prst="roundRect">
            <a:avLst>
              <a:gd name="adj" fmla="val 4040"/>
            </a:avLst>
          </a:prstGeom>
          <a:solidFill>
            <a:srgbClr val="F4F7F5"/>
          </a:solidFill>
          <a:ln w="9525">
            <a:solidFill>
              <a:srgbClr val="D5DED9"/>
            </a:solidFill>
            <a:prstDash val="solid"/>
          </a:ln>
        </p:spPr>
      </p:sp>
      <p:sp>
        <p:nvSpPr>
          <p:cNvPr id="14" name="Shape 11"/>
          <p:cNvSpPr/>
          <p:nvPr/>
        </p:nvSpPr>
        <p:spPr>
          <a:xfrm>
            <a:off x="749808" y="1984248"/>
            <a:ext cx="548640" cy="548640"/>
          </a:xfrm>
          <a:prstGeom prst="ellipse">
            <a:avLst/>
          </a:prstGeom>
          <a:solidFill>
            <a:srgbClr val="00704A"/>
          </a:solidFill>
          <a:ln w="12700">
            <a:solidFill>
              <a:srgbClr val="00704A"/>
            </a:solidFill>
            <a:prstDash val="solid"/>
          </a:ln>
        </p:spPr>
      </p:sp>
      <p:pic>
        <p:nvPicPr>
          <p:cNvPr id="15" name="Image 1" descr="preencoded.png"/>
          <p:cNvPicPr>
            <a:picLocks noChangeAspect="1"/>
          </p:cNvPicPr>
          <p:nvPr/>
        </p:nvPicPr>
        <p:blipFill>
          <a:blip r:embed="rId4"/>
          <a:stretch>
            <a:fillRect/>
          </a:stretch>
        </p:blipFill>
        <p:spPr>
          <a:xfrm>
            <a:off x="892454" y="2126894"/>
            <a:ext cx="263347" cy="263347"/>
          </a:xfrm>
          <a:prstGeom prst="rect">
            <a:avLst/>
          </a:prstGeom>
        </p:spPr>
      </p:pic>
      <p:sp>
        <p:nvSpPr>
          <p:cNvPr id="16" name="Text 12"/>
          <p:cNvSpPr txBox="1"/>
          <p:nvPr/>
        </p:nvSpPr>
        <p:spPr>
          <a:xfrm>
            <a:off x="1417320" y="1984248"/>
            <a:ext cx="228600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Timeliness</a:t>
            </a:r>
            <a:endParaRPr lang="en-US" sz="1400" dirty="0"/>
          </a:p>
        </p:txBody>
      </p:sp>
      <p:sp>
        <p:nvSpPr>
          <p:cNvPr id="17" name="Text 13"/>
          <p:cNvSpPr txBox="1"/>
          <p:nvPr/>
        </p:nvSpPr>
        <p:spPr>
          <a:xfrm>
            <a:off x="749808" y="2651760"/>
            <a:ext cx="288036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Monthly composites are typically available within weeks; daily products within days — ahead of quarterly national accounts.</a:t>
            </a:r>
            <a:endParaRPr lang="en-US" sz="1150" dirty="0"/>
          </a:p>
        </p:txBody>
      </p:sp>
      <p:sp>
        <p:nvSpPr>
          <p:cNvPr id="18" name="Shape 14"/>
          <p:cNvSpPr/>
          <p:nvPr/>
        </p:nvSpPr>
        <p:spPr>
          <a:xfrm>
            <a:off x="3977640" y="1783080"/>
            <a:ext cx="3291840" cy="1810512"/>
          </a:xfrm>
          <a:prstGeom prst="roundRect">
            <a:avLst>
              <a:gd name="adj" fmla="val 4040"/>
            </a:avLst>
          </a:prstGeom>
          <a:solidFill>
            <a:srgbClr val="F4F7F5"/>
          </a:solidFill>
          <a:ln w="9525">
            <a:solidFill>
              <a:srgbClr val="D5DED9"/>
            </a:solidFill>
            <a:prstDash val="solid"/>
          </a:ln>
        </p:spPr>
      </p:sp>
      <p:sp>
        <p:nvSpPr>
          <p:cNvPr id="19" name="Shape 15"/>
          <p:cNvSpPr/>
          <p:nvPr/>
        </p:nvSpPr>
        <p:spPr>
          <a:xfrm>
            <a:off x="4178808" y="1984248"/>
            <a:ext cx="548640" cy="548640"/>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4321454" y="2126894"/>
            <a:ext cx="263347" cy="263347"/>
          </a:xfrm>
          <a:prstGeom prst="rect">
            <a:avLst/>
          </a:prstGeom>
        </p:spPr>
      </p:pic>
      <p:sp>
        <p:nvSpPr>
          <p:cNvPr id="21" name="Text 16"/>
          <p:cNvSpPr txBox="1"/>
          <p:nvPr/>
        </p:nvSpPr>
        <p:spPr>
          <a:xfrm>
            <a:off x="4846320" y="1984248"/>
            <a:ext cx="228600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Granularity</a:t>
            </a:r>
            <a:endParaRPr lang="en-US" sz="1400" dirty="0"/>
          </a:p>
        </p:txBody>
      </p:sp>
      <p:sp>
        <p:nvSpPr>
          <p:cNvPr id="22" name="Text 17"/>
          <p:cNvSpPr txBox="1"/>
          <p:nvPr/>
        </p:nvSpPr>
        <p:spPr>
          <a:xfrm>
            <a:off x="4178808" y="2651760"/>
            <a:ext cx="288036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500 m grid can be aggregated to any boundary: province, district, city, corridor or economic zone.</a:t>
            </a:r>
            <a:endParaRPr lang="en-US" sz="1150" dirty="0"/>
          </a:p>
        </p:txBody>
      </p:sp>
      <p:sp>
        <p:nvSpPr>
          <p:cNvPr id="23" name="Shape 18"/>
          <p:cNvSpPr/>
          <p:nvPr/>
        </p:nvSpPr>
        <p:spPr>
          <a:xfrm>
            <a:off x="548640" y="3749040"/>
            <a:ext cx="3291840" cy="1810512"/>
          </a:xfrm>
          <a:prstGeom prst="roundRect">
            <a:avLst>
              <a:gd name="adj" fmla="val 4040"/>
            </a:avLst>
          </a:prstGeom>
          <a:solidFill>
            <a:srgbClr val="F4F7F5"/>
          </a:solidFill>
          <a:ln w="9525">
            <a:solidFill>
              <a:srgbClr val="D5DED9"/>
            </a:solidFill>
            <a:prstDash val="solid"/>
          </a:ln>
        </p:spPr>
      </p:sp>
      <p:sp>
        <p:nvSpPr>
          <p:cNvPr id="24" name="Shape 19"/>
          <p:cNvSpPr/>
          <p:nvPr/>
        </p:nvSpPr>
        <p:spPr>
          <a:xfrm>
            <a:off x="749808" y="3950208"/>
            <a:ext cx="548640" cy="548640"/>
          </a:xfrm>
          <a:prstGeom prst="ellipse">
            <a:avLst/>
          </a:prstGeom>
          <a:solidFill>
            <a:srgbClr val="00704A"/>
          </a:solidFill>
          <a:ln w="12700">
            <a:solidFill>
              <a:srgbClr val="00704A"/>
            </a:solidFill>
            <a:prstDash val="solid"/>
          </a:ln>
        </p:spPr>
      </p:sp>
      <p:pic>
        <p:nvPicPr>
          <p:cNvPr id="25" name="Image 3" descr="preencoded.png"/>
          <p:cNvPicPr>
            <a:picLocks noChangeAspect="1"/>
          </p:cNvPicPr>
          <p:nvPr/>
        </p:nvPicPr>
        <p:blipFill>
          <a:blip r:embed="rId6"/>
          <a:stretch>
            <a:fillRect/>
          </a:stretch>
        </p:blipFill>
        <p:spPr>
          <a:xfrm>
            <a:off x="892454" y="4092854"/>
            <a:ext cx="263347" cy="263347"/>
          </a:xfrm>
          <a:prstGeom prst="rect">
            <a:avLst/>
          </a:prstGeom>
        </p:spPr>
      </p:pic>
      <p:sp>
        <p:nvSpPr>
          <p:cNvPr id="26" name="Text 20"/>
          <p:cNvSpPr txBox="1"/>
          <p:nvPr/>
        </p:nvSpPr>
        <p:spPr>
          <a:xfrm>
            <a:off x="1417320" y="3950208"/>
            <a:ext cx="228600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Coverage of the unrecorded</a:t>
            </a:r>
            <a:endParaRPr lang="en-US" sz="1400" dirty="0"/>
          </a:p>
        </p:txBody>
      </p:sp>
      <p:sp>
        <p:nvSpPr>
          <p:cNvPr id="27" name="Text 21"/>
          <p:cNvSpPr txBox="1"/>
          <p:nvPr/>
        </p:nvSpPr>
        <p:spPr>
          <a:xfrm>
            <a:off x="749808" y="4617720"/>
            <a:ext cx="288036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Informal and unregistered activity still needs light; it shows up even where registers and surveys miss it.</a:t>
            </a:r>
            <a:endParaRPr lang="en-US" sz="1150" dirty="0"/>
          </a:p>
        </p:txBody>
      </p:sp>
      <p:sp>
        <p:nvSpPr>
          <p:cNvPr id="28" name="Shape 22"/>
          <p:cNvSpPr/>
          <p:nvPr/>
        </p:nvSpPr>
        <p:spPr>
          <a:xfrm>
            <a:off x="3977640" y="3749040"/>
            <a:ext cx="3291840" cy="1810512"/>
          </a:xfrm>
          <a:prstGeom prst="roundRect">
            <a:avLst>
              <a:gd name="adj" fmla="val 4040"/>
            </a:avLst>
          </a:prstGeom>
          <a:solidFill>
            <a:srgbClr val="F4F7F5"/>
          </a:solidFill>
          <a:ln w="9525">
            <a:solidFill>
              <a:srgbClr val="D5DED9"/>
            </a:solidFill>
            <a:prstDash val="solid"/>
          </a:ln>
        </p:spPr>
      </p:sp>
      <p:sp>
        <p:nvSpPr>
          <p:cNvPr id="29" name="Shape 23"/>
          <p:cNvSpPr/>
          <p:nvPr/>
        </p:nvSpPr>
        <p:spPr>
          <a:xfrm>
            <a:off x="4178808" y="3950208"/>
            <a:ext cx="548640" cy="548640"/>
          </a:xfrm>
          <a:prstGeom prst="ellipse">
            <a:avLst/>
          </a:prstGeom>
          <a:solidFill>
            <a:srgbClr val="00704A"/>
          </a:solidFill>
          <a:ln w="12700">
            <a:solidFill>
              <a:srgbClr val="00704A"/>
            </a:solidFill>
            <a:prstDash val="solid"/>
          </a:ln>
        </p:spPr>
      </p:sp>
      <p:pic>
        <p:nvPicPr>
          <p:cNvPr id="30" name="Image 4" descr="preencoded.png"/>
          <p:cNvPicPr>
            <a:picLocks noChangeAspect="1"/>
          </p:cNvPicPr>
          <p:nvPr/>
        </p:nvPicPr>
        <p:blipFill>
          <a:blip r:embed="rId7"/>
          <a:stretch>
            <a:fillRect/>
          </a:stretch>
        </p:blipFill>
        <p:spPr>
          <a:xfrm>
            <a:off x="4321454" y="4092854"/>
            <a:ext cx="263347" cy="263347"/>
          </a:xfrm>
          <a:prstGeom prst="rect">
            <a:avLst/>
          </a:prstGeom>
        </p:spPr>
      </p:pic>
      <p:sp>
        <p:nvSpPr>
          <p:cNvPr id="31" name="Text 24"/>
          <p:cNvSpPr txBox="1"/>
          <p:nvPr/>
        </p:nvSpPr>
        <p:spPr>
          <a:xfrm>
            <a:off x="4846320" y="3950208"/>
            <a:ext cx="228600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Independent cross-check</a:t>
            </a:r>
            <a:endParaRPr lang="en-US" sz="1400" dirty="0"/>
          </a:p>
        </p:txBody>
      </p:sp>
      <p:sp>
        <p:nvSpPr>
          <p:cNvPr id="32" name="Text 25"/>
          <p:cNvSpPr txBox="1"/>
          <p:nvPr/>
        </p:nvSpPr>
        <p:spPr>
          <a:xfrm>
            <a:off x="4178808" y="4617720"/>
            <a:ext cx="288036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source no national institution produces — useful to benchmark, flag anomalies and support credibility.</a:t>
            </a:r>
            <a:endParaRPr lang="en-US" sz="1150" dirty="0"/>
          </a:p>
        </p:txBody>
      </p:sp>
      <p:sp>
        <p:nvSpPr>
          <p:cNvPr id="33" name="Shape 26"/>
          <p:cNvSpPr/>
          <p:nvPr/>
        </p:nvSpPr>
        <p:spPr>
          <a:xfrm>
            <a:off x="7589520" y="1371600"/>
            <a:ext cx="4050792" cy="4233672"/>
          </a:xfrm>
          <a:prstGeom prst="roundRect">
            <a:avLst>
              <a:gd name="adj" fmla="val 1806"/>
            </a:avLst>
          </a:prstGeom>
          <a:solidFill>
            <a:srgbClr val="00553A"/>
          </a:solidFill>
          <a:ln w="9525">
            <a:solidFill>
              <a:srgbClr val="00553A"/>
            </a:solidFill>
            <a:prstDash val="solid"/>
          </a:ln>
        </p:spPr>
      </p:sp>
      <p:sp>
        <p:nvSpPr>
          <p:cNvPr id="34" name="Text 27"/>
          <p:cNvSpPr txBox="1"/>
          <p:nvPr/>
        </p:nvSpPr>
        <p:spPr>
          <a:xfrm>
            <a:off x="7818120" y="1554480"/>
            <a:ext cx="3657600" cy="320040"/>
          </a:xfrm>
          <a:prstGeom prst="rect">
            <a:avLst/>
          </a:prstGeom>
          <a:noFill/>
          <a:ln/>
        </p:spPr>
        <p:txBody>
          <a:bodyPr wrap="square" lIns="0" tIns="0" rIns="0" bIns="0" rtlCol="0" anchor="t"/>
          <a:lstStyle/>
          <a:p>
            <a:pPr marL="0" indent="0">
              <a:buNone/>
            </a:pPr>
            <a:r>
              <a:rPr lang="en-US" sz="1500" b="1" dirty="0">
                <a:solidFill>
                  <a:srgbClr val="F5C242"/>
                </a:solidFill>
                <a:latin typeface="Calibri" pitchFamily="34" charset="0"/>
                <a:ea typeface="Calibri" pitchFamily="34" charset="-122"/>
                <a:cs typeface="Calibri" pitchFamily="34" charset="-120"/>
              </a:rPr>
              <a:t>What lights cannot give you</a:t>
            </a:r>
            <a:endParaRPr lang="en-US" sz="1500" dirty="0"/>
          </a:p>
        </p:txBody>
      </p:sp>
      <p:sp>
        <p:nvSpPr>
          <p:cNvPr id="35" name="Text 28"/>
          <p:cNvSpPr txBox="1"/>
          <p:nvPr/>
        </p:nvSpPr>
        <p:spPr>
          <a:xfrm>
            <a:off x="7818120" y="2011680"/>
            <a:ext cx="3611880" cy="3474720"/>
          </a:xfrm>
          <a:prstGeom prst="rect">
            <a:avLst/>
          </a:prstGeom>
          <a:noFill/>
          <a:ln/>
        </p:spPr>
        <p:txBody>
          <a:bodyPr wrap="square" lIns="0" tIns="0" rIns="0" bIns="0" rtlCol="0" anchor="t"/>
          <a:lstStyle/>
          <a:p>
            <a:pPr marL="177800" indent="-177800">
              <a:spcAft>
                <a:spcPts val="800"/>
              </a:spcAft>
              <a:buSzPct val="100000"/>
              <a:buChar char="•"/>
            </a:pPr>
            <a:r>
              <a:rPr lang="en-US" sz="1200" b="1" dirty="0">
                <a:solidFill>
                  <a:srgbClr val="FFFFFF"/>
                </a:solidFill>
                <a:latin typeface="Calibri" pitchFamily="34" charset="0"/>
                <a:ea typeface="Calibri" pitchFamily="34" charset="-122"/>
                <a:cs typeface="Calibri" pitchFamily="34" charset="-120"/>
              </a:rPr>
              <a:t>Value added by sector.</a:t>
            </a:r>
            <a:r>
              <a:rPr lang="en-US" sz="1200" dirty="0">
                <a:solidFill>
                  <a:srgbClr val="D8EEE3"/>
                </a:solidFill>
                <a:latin typeface="Calibri" pitchFamily="34" charset="0"/>
                <a:ea typeface="Calibri" pitchFamily="34" charset="-122"/>
                <a:cs typeface="Calibri" pitchFamily="34" charset="-120"/>
              </a:rPr>
              <a:t> Agriculture, mining and many services create value with little light.</a:t>
            </a:r>
            <a:endParaRPr lang="en-US" sz="1200" dirty="0"/>
          </a:p>
          <a:p>
            <a:pPr marL="177800" indent="-177800">
              <a:spcAft>
                <a:spcPts val="800"/>
              </a:spcAft>
              <a:buSzPct val="100000"/>
              <a:buChar char="•"/>
            </a:pPr>
            <a:r>
              <a:rPr lang="en-US" sz="1200" b="1" dirty="0">
                <a:solidFill>
                  <a:srgbClr val="FFFFFF"/>
                </a:solidFill>
                <a:latin typeface="Calibri" pitchFamily="34" charset="0"/>
                <a:ea typeface="Calibri" pitchFamily="34" charset="-122"/>
                <a:cs typeface="Calibri" pitchFamily="34" charset="-120"/>
              </a:rPr>
              <a:t>Prices or deflators.</a:t>
            </a:r>
            <a:r>
              <a:rPr lang="en-US" sz="1200" dirty="0">
                <a:solidFill>
                  <a:srgbClr val="D8EEE3"/>
                </a:solidFill>
                <a:latin typeface="Calibri" pitchFamily="34" charset="0"/>
                <a:ea typeface="Calibri" pitchFamily="34" charset="-122"/>
                <a:cs typeface="Calibri" pitchFamily="34" charset="-120"/>
              </a:rPr>
              <a:t> Lights are a volume-like signal at best.</a:t>
            </a:r>
            <a:endParaRPr lang="en-US" sz="1200" dirty="0"/>
          </a:p>
          <a:p>
            <a:pPr marL="177800" indent="-177800">
              <a:spcAft>
                <a:spcPts val="800"/>
              </a:spcAft>
              <a:buSzPct val="100000"/>
              <a:buChar char="•"/>
            </a:pPr>
            <a:r>
              <a:rPr lang="en-US" sz="1200" b="1" dirty="0">
                <a:solidFill>
                  <a:srgbClr val="FFFFFF"/>
                </a:solidFill>
                <a:latin typeface="Calibri" pitchFamily="34" charset="0"/>
                <a:ea typeface="Calibri" pitchFamily="34" charset="-122"/>
                <a:cs typeface="Calibri" pitchFamily="34" charset="-120"/>
              </a:rPr>
              <a:t>Household income.</a:t>
            </a:r>
            <a:r>
              <a:rPr lang="en-US" sz="1200" dirty="0">
                <a:solidFill>
                  <a:srgbClr val="D8EEE3"/>
                </a:solidFill>
                <a:latin typeface="Calibri" pitchFamily="34" charset="0"/>
                <a:ea typeface="Calibri" pitchFamily="34" charset="-122"/>
                <a:cs typeface="Calibri" pitchFamily="34" charset="-120"/>
              </a:rPr>
              <a:t> Bright pixels are not people, and not their incomes.</a:t>
            </a:r>
            <a:endParaRPr lang="en-US" sz="1200" dirty="0"/>
          </a:p>
          <a:p>
            <a:pPr marL="177800" indent="-177800">
              <a:spcAft>
                <a:spcPts val="800"/>
              </a:spcAft>
              <a:buSzPct val="100000"/>
              <a:buChar char="•"/>
            </a:pPr>
            <a:r>
              <a:rPr lang="en-US" sz="1200" b="1" dirty="0">
                <a:solidFill>
                  <a:srgbClr val="FFFFFF"/>
                </a:solidFill>
                <a:latin typeface="Calibri" pitchFamily="34" charset="0"/>
                <a:ea typeface="Calibri" pitchFamily="34" charset="-122"/>
                <a:cs typeface="Calibri" pitchFamily="34" charset="-120"/>
              </a:rPr>
              <a:t>Daytime activity.</a:t>
            </a:r>
            <a:r>
              <a:rPr lang="en-US" sz="1200" dirty="0">
                <a:solidFill>
                  <a:srgbClr val="D8EEE3"/>
                </a:solidFill>
                <a:latin typeface="Calibri" pitchFamily="34" charset="0"/>
                <a:ea typeface="Calibri" pitchFamily="34" charset="-122"/>
                <a:cs typeface="Calibri" pitchFamily="34" charset="-120"/>
              </a:rPr>
              <a:t> Markets, farms and offices that close before dark are invisible.</a:t>
            </a:r>
            <a:endParaRPr lang="en-US" sz="1200" dirty="0"/>
          </a:p>
        </p:txBody>
      </p:sp>
      <p:sp>
        <p:nvSpPr>
          <p:cNvPr id="36" name="Shape 29"/>
          <p:cNvSpPr/>
          <p:nvPr/>
        </p:nvSpPr>
        <p:spPr>
          <a:xfrm>
            <a:off x="548640" y="5742432"/>
            <a:ext cx="11094415" cy="457200"/>
          </a:xfrm>
          <a:prstGeom prst="roundRect">
            <a:avLst>
              <a:gd name="adj" fmla="val 16000"/>
            </a:avLst>
          </a:prstGeom>
          <a:solidFill>
            <a:srgbClr val="E8F5EF"/>
          </a:solidFill>
          <a:ln w="9525">
            <a:solidFill>
              <a:srgbClr val="E8F5EF"/>
            </a:solidFill>
            <a:prstDash val="solid"/>
          </a:ln>
        </p:spPr>
      </p:sp>
      <p:sp>
        <p:nvSpPr>
          <p:cNvPr id="37" name="Text 30"/>
          <p:cNvSpPr txBox="1"/>
          <p:nvPr/>
        </p:nvSpPr>
        <p:spPr>
          <a:xfrm>
            <a:off x="777240" y="5742432"/>
            <a:ext cx="10637215" cy="45720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Positioning:  </a:t>
            </a:r>
            <a:r>
              <a:rPr lang="en-US" sz="1200" dirty="0">
                <a:solidFill>
                  <a:srgbClr val="231F20"/>
                </a:solidFill>
                <a:latin typeface="Calibri" pitchFamily="34" charset="0"/>
                <a:ea typeface="Calibri" pitchFamily="34" charset="-122"/>
                <a:cs typeface="Calibri" pitchFamily="34" charset="-120"/>
              </a:rPr>
              <a:t>a complement to official statistics for disaggregation, nowcasting and verification — never a replacement for national accounts, surveys or the census.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West Africa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SECTION 2</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instruments</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What exactly is doing the measuring, and what can it resolve?</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History  ·  DMSP versus VIIRS  ·  Dynamic range  ·  Observation geometry  ·  Long series</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SESSION A  ·  ≈ 4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HISTORY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Fifty years of looking down at the dark</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11</a:t>
            </a:r>
            <a:endParaRPr lang="en-US" sz="900" dirty="0"/>
          </a:p>
        </p:txBody>
      </p:sp>
      <p:sp>
        <p:nvSpPr>
          <p:cNvPr id="12" name="Shape 9"/>
          <p:cNvSpPr/>
          <p:nvPr/>
        </p:nvSpPr>
        <p:spPr>
          <a:xfrm>
            <a:off x="914400" y="3429000"/>
            <a:ext cx="10362895" cy="0"/>
          </a:xfrm>
          <a:prstGeom prst="line">
            <a:avLst/>
          </a:prstGeom>
          <a:noFill/>
          <a:ln w="25400">
            <a:solidFill>
              <a:srgbClr val="00A86A"/>
            </a:solidFill>
            <a:prstDash val="solid"/>
          </a:ln>
        </p:spPr>
      </p:sp>
      <p:sp>
        <p:nvSpPr>
          <p:cNvPr id="13" name="Shape 10"/>
          <p:cNvSpPr/>
          <p:nvPr/>
        </p:nvSpPr>
        <p:spPr>
          <a:xfrm>
            <a:off x="1461497" y="3328416"/>
            <a:ext cx="201168" cy="201168"/>
          </a:xfrm>
          <a:prstGeom prst="ellipse">
            <a:avLst/>
          </a:prstGeom>
          <a:solidFill>
            <a:srgbClr val="00704A"/>
          </a:solidFill>
          <a:ln w="19050">
            <a:solidFill>
              <a:srgbClr val="FFFFFF"/>
            </a:solidFill>
            <a:prstDash val="solid"/>
          </a:ln>
        </p:spPr>
      </p:sp>
      <p:sp>
        <p:nvSpPr>
          <p:cNvPr id="14" name="Text 11"/>
          <p:cNvSpPr txBox="1"/>
          <p:nvPr/>
        </p:nvSpPr>
        <p:spPr>
          <a:xfrm>
            <a:off x="739121" y="2880360"/>
            <a:ext cx="16459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1970s</a:t>
            </a:r>
            <a:endParaRPr lang="en-US" sz="1500" dirty="0"/>
          </a:p>
        </p:txBody>
      </p:sp>
      <p:sp>
        <p:nvSpPr>
          <p:cNvPr id="15" name="Text 12"/>
          <p:cNvSpPr txBox="1"/>
          <p:nvPr/>
        </p:nvSpPr>
        <p:spPr>
          <a:xfrm>
            <a:off x="693401" y="1463040"/>
            <a:ext cx="1737360" cy="1325880"/>
          </a:xfrm>
          <a:prstGeom prst="rect">
            <a:avLst/>
          </a:prstGeom>
          <a:noFill/>
          <a:ln/>
        </p:spPr>
        <p:txBody>
          <a:bodyPr wrap="square" lIns="0" tIns="0" rIns="0" bIns="0" rtlCol="0" anchor="b"/>
          <a:lstStyle/>
          <a:p>
            <a:pPr marL="0" indent="0" algn="ctr">
              <a:buNone/>
            </a:pPr>
            <a:r>
              <a:rPr lang="en-US" sz="1100" dirty="0">
                <a:solidFill>
                  <a:srgbClr val="5E6964"/>
                </a:solidFill>
                <a:latin typeface="Calibri" pitchFamily="34" charset="0"/>
                <a:ea typeface="Calibri" pitchFamily="34" charset="-122"/>
                <a:cs typeface="Calibri" pitchFamily="34" charset="-120"/>
              </a:rPr>
              <a:t>DMSP-OLS night imagery (film). City lights noticed as a by-product of cloud detection.</a:t>
            </a:r>
            <a:endParaRPr lang="en-US" sz="1100" dirty="0"/>
          </a:p>
        </p:txBody>
      </p:sp>
      <p:sp>
        <p:nvSpPr>
          <p:cNvPr id="16" name="Shape 13"/>
          <p:cNvSpPr/>
          <p:nvPr/>
        </p:nvSpPr>
        <p:spPr>
          <a:xfrm>
            <a:off x="2756859" y="3328416"/>
            <a:ext cx="201168" cy="201168"/>
          </a:xfrm>
          <a:prstGeom prst="ellipse">
            <a:avLst/>
          </a:prstGeom>
          <a:solidFill>
            <a:srgbClr val="00704A"/>
          </a:solidFill>
          <a:ln w="19050">
            <a:solidFill>
              <a:srgbClr val="FFFFFF"/>
            </a:solidFill>
            <a:prstDash val="solid"/>
          </a:ln>
        </p:spPr>
      </p:sp>
      <p:sp>
        <p:nvSpPr>
          <p:cNvPr id="17" name="Text 14"/>
          <p:cNvSpPr txBox="1"/>
          <p:nvPr/>
        </p:nvSpPr>
        <p:spPr>
          <a:xfrm>
            <a:off x="2034483" y="3611880"/>
            <a:ext cx="16459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18" name="Text 15"/>
          <p:cNvSpPr txBox="1"/>
          <p:nvPr/>
        </p:nvSpPr>
        <p:spPr>
          <a:xfrm>
            <a:off x="1988763" y="4251960"/>
            <a:ext cx="1737360" cy="132588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Start of the digital DMSP archive → “stable lights” annual series to 2013.</a:t>
            </a:r>
            <a:endParaRPr lang="en-US" sz="1100" dirty="0"/>
          </a:p>
        </p:txBody>
      </p:sp>
      <p:sp>
        <p:nvSpPr>
          <p:cNvPr id="19" name="Shape 16"/>
          <p:cNvSpPr/>
          <p:nvPr/>
        </p:nvSpPr>
        <p:spPr>
          <a:xfrm>
            <a:off x="4052221" y="3328416"/>
            <a:ext cx="201168" cy="201168"/>
          </a:xfrm>
          <a:prstGeom prst="ellipse">
            <a:avLst/>
          </a:prstGeom>
          <a:solidFill>
            <a:srgbClr val="00704A"/>
          </a:solidFill>
          <a:ln w="19050">
            <a:solidFill>
              <a:srgbClr val="FFFFFF"/>
            </a:solidFill>
            <a:prstDash val="solid"/>
          </a:ln>
        </p:spPr>
      </p:sp>
      <p:sp>
        <p:nvSpPr>
          <p:cNvPr id="20" name="Text 17"/>
          <p:cNvSpPr txBox="1"/>
          <p:nvPr/>
        </p:nvSpPr>
        <p:spPr>
          <a:xfrm>
            <a:off x="3329845" y="2880360"/>
            <a:ext cx="16459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2011</a:t>
            </a:r>
            <a:endParaRPr lang="en-US" sz="1500" dirty="0"/>
          </a:p>
        </p:txBody>
      </p:sp>
      <p:sp>
        <p:nvSpPr>
          <p:cNvPr id="21" name="Text 18"/>
          <p:cNvSpPr txBox="1"/>
          <p:nvPr/>
        </p:nvSpPr>
        <p:spPr>
          <a:xfrm>
            <a:off x="3284125" y="1463040"/>
            <a:ext cx="1737360" cy="1325880"/>
          </a:xfrm>
          <a:prstGeom prst="rect">
            <a:avLst/>
          </a:prstGeom>
          <a:noFill/>
          <a:ln/>
        </p:spPr>
        <p:txBody>
          <a:bodyPr wrap="square" lIns="0" tIns="0" rIns="0" bIns="0" rtlCol="0" anchor="b"/>
          <a:lstStyle/>
          <a:p>
            <a:pPr marL="0" indent="0" algn="ctr">
              <a:buNone/>
            </a:pPr>
            <a:r>
              <a:rPr lang="en-US" sz="1100" dirty="0">
                <a:solidFill>
                  <a:srgbClr val="5E6964"/>
                </a:solidFill>
                <a:latin typeface="Calibri" pitchFamily="34" charset="0"/>
                <a:ea typeface="Calibri" pitchFamily="34" charset="-122"/>
                <a:cs typeface="Calibri" pitchFamily="34" charset="-120"/>
              </a:rPr>
              <a:t>Suomi NPP launched with VIIRS: first sensor calibrated for night-time radiance.</a:t>
            </a:r>
            <a:endParaRPr lang="en-US" sz="1100" dirty="0"/>
          </a:p>
        </p:txBody>
      </p:sp>
      <p:sp>
        <p:nvSpPr>
          <p:cNvPr id="22" name="Shape 19"/>
          <p:cNvSpPr/>
          <p:nvPr/>
        </p:nvSpPr>
        <p:spPr>
          <a:xfrm>
            <a:off x="5347583" y="3328416"/>
            <a:ext cx="201168" cy="201168"/>
          </a:xfrm>
          <a:prstGeom prst="ellipse">
            <a:avLst/>
          </a:prstGeom>
          <a:solidFill>
            <a:srgbClr val="00704A"/>
          </a:solidFill>
          <a:ln w="19050">
            <a:solidFill>
              <a:srgbClr val="FFFFFF"/>
            </a:solidFill>
            <a:prstDash val="solid"/>
          </a:ln>
        </p:spPr>
      </p:sp>
      <p:sp>
        <p:nvSpPr>
          <p:cNvPr id="23" name="Text 20"/>
          <p:cNvSpPr txBox="1"/>
          <p:nvPr/>
        </p:nvSpPr>
        <p:spPr>
          <a:xfrm>
            <a:off x="4625207" y="3611880"/>
            <a:ext cx="16459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2012</a:t>
            </a:r>
            <a:endParaRPr lang="en-US" sz="1500" dirty="0"/>
          </a:p>
        </p:txBody>
      </p:sp>
      <p:sp>
        <p:nvSpPr>
          <p:cNvPr id="24" name="Text 21"/>
          <p:cNvSpPr txBox="1"/>
          <p:nvPr/>
        </p:nvSpPr>
        <p:spPr>
          <a:xfrm>
            <a:off x="4579487" y="4251960"/>
            <a:ext cx="1737360" cy="132588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VIIRS monthly cloud-free composites; NASA Black Marble record begins (Jan 2012).</a:t>
            </a:r>
            <a:endParaRPr lang="en-US" sz="1100" dirty="0"/>
          </a:p>
        </p:txBody>
      </p:sp>
      <p:sp>
        <p:nvSpPr>
          <p:cNvPr id="25" name="Shape 22"/>
          <p:cNvSpPr/>
          <p:nvPr/>
        </p:nvSpPr>
        <p:spPr>
          <a:xfrm>
            <a:off x="6642945" y="3328416"/>
            <a:ext cx="201168" cy="201168"/>
          </a:xfrm>
          <a:prstGeom prst="ellipse">
            <a:avLst/>
          </a:prstGeom>
          <a:solidFill>
            <a:srgbClr val="F5C242"/>
          </a:solidFill>
          <a:ln w="19050">
            <a:solidFill>
              <a:srgbClr val="FFFFFF"/>
            </a:solidFill>
            <a:prstDash val="solid"/>
          </a:ln>
        </p:spPr>
      </p:sp>
      <p:sp>
        <p:nvSpPr>
          <p:cNvPr id="26" name="Text 23"/>
          <p:cNvSpPr txBox="1"/>
          <p:nvPr/>
        </p:nvSpPr>
        <p:spPr>
          <a:xfrm>
            <a:off x="5920569" y="2880360"/>
            <a:ext cx="1645920" cy="320040"/>
          </a:xfrm>
          <a:prstGeom prst="rect">
            <a:avLst/>
          </a:prstGeom>
          <a:noFill/>
          <a:ln/>
        </p:spPr>
        <p:txBody>
          <a:bodyPr wrap="square" lIns="0" tIns="0" rIns="0" bIns="0" rtlCol="0" anchor="t"/>
          <a:lstStyle/>
          <a:p>
            <a:pPr marL="0" indent="0" algn="ctr">
              <a:buNone/>
            </a:pPr>
            <a:r>
              <a:rPr lang="en-US" sz="1500" b="1" dirty="0">
                <a:solidFill>
                  <a:srgbClr val="A87700"/>
                </a:solidFill>
                <a:latin typeface="Calibri" pitchFamily="34" charset="0"/>
                <a:ea typeface="Calibri" pitchFamily="34" charset="-122"/>
                <a:cs typeface="Calibri" pitchFamily="34" charset="-120"/>
              </a:rPr>
              <a:t>2017</a:t>
            </a:r>
            <a:endParaRPr lang="en-US" sz="1500" dirty="0"/>
          </a:p>
        </p:txBody>
      </p:sp>
      <p:sp>
        <p:nvSpPr>
          <p:cNvPr id="27" name="Text 24"/>
          <p:cNvSpPr txBox="1"/>
          <p:nvPr/>
        </p:nvSpPr>
        <p:spPr>
          <a:xfrm>
            <a:off x="5874849" y="1463040"/>
            <a:ext cx="1737360" cy="1325880"/>
          </a:xfrm>
          <a:prstGeom prst="rect">
            <a:avLst/>
          </a:prstGeom>
          <a:noFill/>
          <a:ln/>
        </p:spPr>
        <p:txBody>
          <a:bodyPr wrap="square" lIns="0" tIns="0" rIns="0" bIns="0" rtlCol="0" anchor="b"/>
          <a:lstStyle/>
          <a:p>
            <a:pPr marL="0" indent="0" algn="ctr">
              <a:buNone/>
            </a:pPr>
            <a:r>
              <a:rPr lang="en-US" sz="1100" dirty="0">
                <a:solidFill>
                  <a:srgbClr val="5E6964"/>
                </a:solidFill>
                <a:latin typeface="Calibri" pitchFamily="34" charset="0"/>
                <a:ea typeface="Calibri" pitchFamily="34" charset="-122"/>
                <a:cs typeface="Calibri" pitchFamily="34" charset="-120"/>
              </a:rPr>
              <a:t>NOAA-20 launched with a second VIIRS; Black Marble twin products follow.</a:t>
            </a:r>
            <a:endParaRPr lang="en-US" sz="1100" dirty="0"/>
          </a:p>
        </p:txBody>
      </p:sp>
      <p:sp>
        <p:nvSpPr>
          <p:cNvPr id="28" name="Shape 25"/>
          <p:cNvSpPr/>
          <p:nvPr/>
        </p:nvSpPr>
        <p:spPr>
          <a:xfrm>
            <a:off x="7938306" y="3328416"/>
            <a:ext cx="201168" cy="201168"/>
          </a:xfrm>
          <a:prstGeom prst="ellipse">
            <a:avLst/>
          </a:prstGeom>
          <a:solidFill>
            <a:srgbClr val="F5C242"/>
          </a:solidFill>
          <a:ln w="19050">
            <a:solidFill>
              <a:srgbClr val="FFFFFF"/>
            </a:solidFill>
            <a:prstDash val="solid"/>
          </a:ln>
        </p:spPr>
      </p:sp>
      <p:sp>
        <p:nvSpPr>
          <p:cNvPr id="29" name="Text 26"/>
          <p:cNvSpPr txBox="1"/>
          <p:nvPr/>
        </p:nvSpPr>
        <p:spPr>
          <a:xfrm>
            <a:off x="7215930" y="3611880"/>
            <a:ext cx="1645920" cy="320040"/>
          </a:xfrm>
          <a:prstGeom prst="rect">
            <a:avLst/>
          </a:prstGeom>
          <a:noFill/>
          <a:ln/>
        </p:spPr>
        <p:txBody>
          <a:bodyPr wrap="square" lIns="0" tIns="0" rIns="0" bIns="0" rtlCol="0" anchor="t"/>
          <a:lstStyle/>
          <a:p>
            <a:pPr marL="0" indent="0" algn="ctr">
              <a:buNone/>
            </a:pPr>
            <a:r>
              <a:rPr lang="en-US" sz="1500" b="1" dirty="0">
                <a:solidFill>
                  <a:srgbClr val="A87700"/>
                </a:solidFill>
                <a:latin typeface="Calibri" pitchFamily="34" charset="0"/>
                <a:ea typeface="Calibri" pitchFamily="34" charset="-122"/>
                <a:cs typeface="Calibri" pitchFamily="34" charset="-120"/>
              </a:rPr>
              <a:t>2018</a:t>
            </a:r>
            <a:endParaRPr lang="en-US" sz="1500" dirty="0"/>
          </a:p>
        </p:txBody>
      </p:sp>
      <p:sp>
        <p:nvSpPr>
          <p:cNvPr id="30" name="Text 27"/>
          <p:cNvSpPr txBox="1"/>
          <p:nvPr/>
        </p:nvSpPr>
        <p:spPr>
          <a:xfrm>
            <a:off x="7170210" y="4251960"/>
            <a:ext cx="1737360" cy="132588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Luojia-1-01 demonstrates ≈ 130 m night imaging from a small satellite.</a:t>
            </a:r>
            <a:endParaRPr lang="en-US" sz="1100" dirty="0"/>
          </a:p>
        </p:txBody>
      </p:sp>
      <p:sp>
        <p:nvSpPr>
          <p:cNvPr id="31" name="Shape 28"/>
          <p:cNvSpPr/>
          <p:nvPr/>
        </p:nvSpPr>
        <p:spPr>
          <a:xfrm>
            <a:off x="9233668" y="3328416"/>
            <a:ext cx="201168" cy="201168"/>
          </a:xfrm>
          <a:prstGeom prst="ellipse">
            <a:avLst/>
          </a:prstGeom>
          <a:solidFill>
            <a:srgbClr val="F5C242"/>
          </a:solidFill>
          <a:ln w="19050">
            <a:solidFill>
              <a:srgbClr val="FFFFFF"/>
            </a:solidFill>
            <a:prstDash val="solid"/>
          </a:ln>
        </p:spPr>
      </p:sp>
      <p:sp>
        <p:nvSpPr>
          <p:cNvPr id="32" name="Text 29"/>
          <p:cNvSpPr txBox="1"/>
          <p:nvPr/>
        </p:nvSpPr>
        <p:spPr>
          <a:xfrm>
            <a:off x="8511292" y="2880360"/>
            <a:ext cx="1645920" cy="320040"/>
          </a:xfrm>
          <a:prstGeom prst="rect">
            <a:avLst/>
          </a:prstGeom>
          <a:noFill/>
          <a:ln/>
        </p:spPr>
        <p:txBody>
          <a:bodyPr wrap="square" lIns="0" tIns="0" rIns="0" bIns="0" rtlCol="0" anchor="t"/>
          <a:lstStyle/>
          <a:p>
            <a:pPr marL="0" indent="0" algn="ctr">
              <a:buNone/>
            </a:pPr>
            <a:r>
              <a:rPr lang="en-US" sz="1500" b="1" dirty="0">
                <a:solidFill>
                  <a:srgbClr val="A87700"/>
                </a:solidFill>
                <a:latin typeface="Calibri" pitchFamily="34" charset="0"/>
                <a:ea typeface="Calibri" pitchFamily="34" charset="-122"/>
                <a:cs typeface="Calibri" pitchFamily="34" charset="-120"/>
              </a:rPr>
              <a:t>2021</a:t>
            </a:r>
            <a:endParaRPr lang="en-US" sz="1500" dirty="0"/>
          </a:p>
        </p:txBody>
      </p:sp>
      <p:sp>
        <p:nvSpPr>
          <p:cNvPr id="33" name="Text 30"/>
          <p:cNvSpPr txBox="1"/>
          <p:nvPr/>
        </p:nvSpPr>
        <p:spPr>
          <a:xfrm>
            <a:off x="8465572" y="1463040"/>
            <a:ext cx="1737360" cy="1325880"/>
          </a:xfrm>
          <a:prstGeom prst="rect">
            <a:avLst/>
          </a:prstGeom>
          <a:noFill/>
          <a:ln/>
        </p:spPr>
        <p:txBody>
          <a:bodyPr wrap="square" lIns="0" tIns="0" rIns="0" bIns="0" rtlCol="0" anchor="b"/>
          <a:lstStyle/>
          <a:p>
            <a:pPr marL="0" indent="0" algn="ctr">
              <a:buNone/>
            </a:pPr>
            <a:r>
              <a:rPr lang="en-US" sz="1100" dirty="0">
                <a:solidFill>
                  <a:srgbClr val="5E6964"/>
                </a:solidFill>
                <a:latin typeface="Calibri" pitchFamily="34" charset="0"/>
                <a:ea typeface="Calibri" pitchFamily="34" charset="-122"/>
                <a:cs typeface="Calibri" pitchFamily="34" charset="-120"/>
              </a:rPr>
              <a:t>SDGSAT-1 Glimmer imager: colour night imagery at 10–40 m.</a:t>
            </a:r>
            <a:endParaRPr lang="en-US" sz="1100" dirty="0"/>
          </a:p>
        </p:txBody>
      </p:sp>
      <p:sp>
        <p:nvSpPr>
          <p:cNvPr id="34" name="Shape 31"/>
          <p:cNvSpPr/>
          <p:nvPr/>
        </p:nvSpPr>
        <p:spPr>
          <a:xfrm>
            <a:off x="10529030" y="3328416"/>
            <a:ext cx="201168" cy="201168"/>
          </a:xfrm>
          <a:prstGeom prst="ellipse">
            <a:avLst/>
          </a:prstGeom>
          <a:solidFill>
            <a:srgbClr val="F5C242"/>
          </a:solidFill>
          <a:ln w="19050">
            <a:solidFill>
              <a:srgbClr val="FFFFFF"/>
            </a:solidFill>
            <a:prstDash val="solid"/>
          </a:ln>
        </p:spPr>
      </p:sp>
      <p:sp>
        <p:nvSpPr>
          <p:cNvPr id="35" name="Text 32"/>
          <p:cNvSpPr txBox="1"/>
          <p:nvPr/>
        </p:nvSpPr>
        <p:spPr>
          <a:xfrm>
            <a:off x="9806654" y="3611880"/>
            <a:ext cx="1645920" cy="320040"/>
          </a:xfrm>
          <a:prstGeom prst="rect">
            <a:avLst/>
          </a:prstGeom>
          <a:noFill/>
          <a:ln/>
        </p:spPr>
        <p:txBody>
          <a:bodyPr wrap="square" lIns="0" tIns="0" rIns="0" bIns="0" rtlCol="0" anchor="t"/>
          <a:lstStyle/>
          <a:p>
            <a:pPr marL="0" indent="0" algn="ctr">
              <a:buNone/>
            </a:pPr>
            <a:r>
              <a:rPr lang="en-US" sz="1500" b="1" dirty="0">
                <a:solidFill>
                  <a:srgbClr val="A87700"/>
                </a:solidFill>
                <a:latin typeface="Calibri" pitchFamily="34" charset="0"/>
                <a:ea typeface="Calibri" pitchFamily="34" charset="-122"/>
                <a:cs typeface="Calibri" pitchFamily="34" charset="-120"/>
              </a:rPr>
              <a:t>2022</a:t>
            </a:r>
            <a:endParaRPr lang="en-US" sz="1500" dirty="0"/>
          </a:p>
        </p:txBody>
      </p:sp>
      <p:sp>
        <p:nvSpPr>
          <p:cNvPr id="36" name="Text 33"/>
          <p:cNvSpPr txBox="1"/>
          <p:nvPr/>
        </p:nvSpPr>
        <p:spPr>
          <a:xfrm>
            <a:off x="9760934" y="4251960"/>
            <a:ext cx="1737360" cy="132588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NOAA-21 launched: a third VIIRS extends the record into the 2030s.</a:t>
            </a:r>
            <a:endParaRPr lang="en-US" sz="1100" dirty="0"/>
          </a:p>
        </p:txBody>
      </p:sp>
      <p:sp>
        <p:nvSpPr>
          <p:cNvPr id="37" name="Shape 34"/>
          <p:cNvSpPr/>
          <p:nvPr/>
        </p:nvSpPr>
        <p:spPr>
          <a:xfrm>
            <a:off x="548640" y="5559552"/>
            <a:ext cx="11094415" cy="594360"/>
          </a:xfrm>
          <a:prstGeom prst="roundRect">
            <a:avLst>
              <a:gd name="adj" fmla="val 12308"/>
            </a:avLst>
          </a:prstGeom>
          <a:solidFill>
            <a:srgbClr val="E8F5EF"/>
          </a:solidFill>
          <a:ln w="9525">
            <a:solidFill>
              <a:srgbClr val="E8F5EF"/>
            </a:solidFill>
            <a:prstDash val="solid"/>
          </a:ln>
        </p:spPr>
      </p:sp>
      <p:sp>
        <p:nvSpPr>
          <p:cNvPr id="38" name="Text 35"/>
          <p:cNvSpPr txBox="1"/>
          <p:nvPr/>
        </p:nvSpPr>
        <p:spPr>
          <a:xfrm>
            <a:off x="777240" y="5559552"/>
            <a:ext cx="10637215" cy="59436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The irony: </a:t>
            </a:r>
            <a:r>
              <a:rPr lang="en-US" sz="1250" dirty="0">
                <a:solidFill>
                  <a:srgbClr val="231F20"/>
                </a:solidFill>
                <a:latin typeface="Calibri" pitchFamily="34" charset="0"/>
                <a:ea typeface="Calibri" pitchFamily="34" charset="-122"/>
                <a:cs typeface="Calibri" pitchFamily="34" charset="-120"/>
              </a:rPr>
              <a:t>the first instrument was built to see moonlit clouds. City lights were noise — it took two decades for anyone to treat the noise as the signal.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REAL IMAGERY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The first night images: DMSP film, 1974</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12</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 Croft (1978), reproduced in World Bank Open Nighttime Lights tutorials (CC BY 4.0). Timeline: NOAA NCEI via the same source.</a:t>
            </a:r>
            <a:endParaRPr lang="en-US" sz="850" dirty="0"/>
          </a:p>
        </p:txBody>
      </p:sp>
      <p:sp>
        <p:nvSpPr>
          <p:cNvPr id="13" name="Shape 10"/>
          <p:cNvSpPr/>
          <p:nvPr/>
        </p:nvSpPr>
        <p:spPr>
          <a:xfrm>
            <a:off x="548640" y="1362456"/>
            <a:ext cx="4133088" cy="4050335"/>
          </a:xfrm>
          <a:prstGeom prst="roundRect">
            <a:avLst>
              <a:gd name="adj" fmla="val 1806"/>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croft.png"/>
          <p:cNvPicPr>
            <a:picLocks noChangeAspect="1"/>
          </p:cNvPicPr>
          <p:nvPr/>
        </p:nvPicPr>
        <p:blipFill>
          <a:blip r:embed="rId4"/>
          <a:stretch>
            <a:fillRect/>
          </a:stretch>
        </p:blipFill>
        <p:spPr>
          <a:xfrm>
            <a:off x="603504" y="1417320"/>
            <a:ext cx="4023360" cy="3940607"/>
          </a:xfrm>
          <a:prstGeom prst="rect">
            <a:avLst/>
          </a:prstGeom>
        </p:spPr>
      </p:pic>
      <p:sp>
        <p:nvSpPr>
          <p:cNvPr id="15" name="Shape 11"/>
          <p:cNvSpPr/>
          <p:nvPr/>
        </p:nvSpPr>
        <p:spPr>
          <a:xfrm>
            <a:off x="4846320" y="1325880"/>
            <a:ext cx="3337560" cy="969264"/>
          </a:xfrm>
          <a:prstGeom prst="roundRect">
            <a:avLst>
              <a:gd name="adj" fmla="val 7547"/>
            </a:avLst>
          </a:prstGeom>
          <a:solidFill>
            <a:srgbClr val="F4F7F5"/>
          </a:solidFill>
          <a:ln w="9525">
            <a:solidFill>
              <a:srgbClr val="D5DED9"/>
            </a:solidFill>
            <a:prstDash val="solid"/>
          </a:ln>
        </p:spPr>
      </p:sp>
      <p:sp>
        <p:nvSpPr>
          <p:cNvPr id="16" name="Shape 12"/>
          <p:cNvSpPr/>
          <p:nvPr/>
        </p:nvSpPr>
        <p:spPr>
          <a:xfrm>
            <a:off x="4983480" y="146304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5102352" y="1581912"/>
            <a:ext cx="219456" cy="219456"/>
          </a:xfrm>
          <a:prstGeom prst="rect">
            <a:avLst/>
          </a:prstGeom>
        </p:spPr>
      </p:pic>
      <p:sp>
        <p:nvSpPr>
          <p:cNvPr id="18" name="Text 13"/>
          <p:cNvSpPr txBox="1"/>
          <p:nvPr/>
        </p:nvSpPr>
        <p:spPr>
          <a:xfrm>
            <a:off x="5577840" y="1417320"/>
            <a:ext cx="24688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Left orbit · 18 April 1974</a:t>
            </a:r>
            <a:endParaRPr lang="en-US" sz="1250" dirty="0"/>
          </a:p>
        </p:txBody>
      </p:sp>
      <p:sp>
        <p:nvSpPr>
          <p:cNvPr id="19" name="Text 14"/>
          <p:cNvSpPr txBox="1"/>
          <p:nvPr/>
        </p:nvSpPr>
        <p:spPr>
          <a:xfrm>
            <a:off x="5577840" y="1719072"/>
            <a:ext cx="2468880" cy="51206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City lights of the central United States and Mexico — and an aurora over Canada.</a:t>
            </a:r>
            <a:endParaRPr lang="en-US" sz="1100" dirty="0"/>
          </a:p>
        </p:txBody>
      </p:sp>
      <p:sp>
        <p:nvSpPr>
          <p:cNvPr id="20" name="Shape 15"/>
          <p:cNvSpPr/>
          <p:nvPr/>
        </p:nvSpPr>
        <p:spPr>
          <a:xfrm>
            <a:off x="4846320" y="2404872"/>
            <a:ext cx="3337560" cy="969264"/>
          </a:xfrm>
          <a:prstGeom prst="roundRect">
            <a:avLst>
              <a:gd name="adj" fmla="val 7547"/>
            </a:avLst>
          </a:prstGeom>
          <a:solidFill>
            <a:srgbClr val="F4F7F5"/>
          </a:solidFill>
          <a:ln w="9525">
            <a:solidFill>
              <a:srgbClr val="D5DED9"/>
            </a:solidFill>
            <a:prstDash val="solid"/>
          </a:ln>
        </p:spPr>
      </p:sp>
      <p:sp>
        <p:nvSpPr>
          <p:cNvPr id="21" name="Shape 16"/>
          <p:cNvSpPr/>
          <p:nvPr/>
        </p:nvSpPr>
        <p:spPr>
          <a:xfrm>
            <a:off x="4983480" y="2542032"/>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5102352" y="2660904"/>
            <a:ext cx="219456" cy="219456"/>
          </a:xfrm>
          <a:prstGeom prst="rect">
            <a:avLst/>
          </a:prstGeom>
        </p:spPr>
      </p:pic>
      <p:sp>
        <p:nvSpPr>
          <p:cNvPr id="23" name="Text 17"/>
          <p:cNvSpPr txBox="1"/>
          <p:nvPr/>
        </p:nvSpPr>
        <p:spPr>
          <a:xfrm>
            <a:off x="5577840" y="2496312"/>
            <a:ext cx="24688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Right orbit · Europe to central Africa</a:t>
            </a:r>
            <a:endParaRPr lang="en-US" sz="1250" dirty="0"/>
          </a:p>
        </p:txBody>
      </p:sp>
      <p:sp>
        <p:nvSpPr>
          <p:cNvPr id="24" name="Text 18"/>
          <p:cNvSpPr txBox="1"/>
          <p:nvPr/>
        </p:nvSpPr>
        <p:spPr>
          <a:xfrm>
            <a:off x="5577840" y="2798064"/>
            <a:ext cx="2468880" cy="51206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City lights of Europe and Asia down to central Africa.</a:t>
            </a:r>
            <a:endParaRPr lang="en-US" sz="1100" dirty="0"/>
          </a:p>
        </p:txBody>
      </p:sp>
      <p:sp>
        <p:nvSpPr>
          <p:cNvPr id="25" name="Shape 19"/>
          <p:cNvSpPr/>
          <p:nvPr/>
        </p:nvSpPr>
        <p:spPr>
          <a:xfrm>
            <a:off x="4846320" y="3483864"/>
            <a:ext cx="3337560" cy="969264"/>
          </a:xfrm>
          <a:prstGeom prst="roundRect">
            <a:avLst>
              <a:gd name="adj" fmla="val 7547"/>
            </a:avLst>
          </a:prstGeom>
          <a:solidFill>
            <a:srgbClr val="FDF5DC"/>
          </a:solidFill>
          <a:ln w="9525">
            <a:solidFill>
              <a:srgbClr val="FDF5DC"/>
            </a:solidFill>
            <a:prstDash val="solid"/>
          </a:ln>
        </p:spPr>
      </p:sp>
      <p:sp>
        <p:nvSpPr>
          <p:cNvPr id="26" name="Shape 20"/>
          <p:cNvSpPr/>
          <p:nvPr/>
        </p:nvSpPr>
        <p:spPr>
          <a:xfrm>
            <a:off x="4983480" y="3621024"/>
            <a:ext cx="457200" cy="457200"/>
          </a:xfrm>
          <a:prstGeom prst="ellipse">
            <a:avLst/>
          </a:prstGeom>
          <a:solidFill>
            <a:srgbClr val="F5C242"/>
          </a:solidFill>
          <a:ln w="12700">
            <a:solidFill>
              <a:srgbClr val="F5C242"/>
            </a:solidFill>
            <a:prstDash val="solid"/>
          </a:ln>
        </p:spPr>
      </p:sp>
      <p:pic>
        <p:nvPicPr>
          <p:cNvPr id="27" name="Image 4" descr="preencoded.png"/>
          <p:cNvPicPr>
            <a:picLocks noChangeAspect="1"/>
          </p:cNvPicPr>
          <p:nvPr/>
        </p:nvPicPr>
        <p:blipFill>
          <a:blip r:embed="rId7"/>
          <a:stretch>
            <a:fillRect/>
          </a:stretch>
        </p:blipFill>
        <p:spPr>
          <a:xfrm>
            <a:off x="5102352" y="3739896"/>
            <a:ext cx="219456" cy="219456"/>
          </a:xfrm>
          <a:prstGeom prst="rect">
            <a:avLst/>
          </a:prstGeom>
        </p:spPr>
      </p:pic>
      <p:sp>
        <p:nvSpPr>
          <p:cNvPr id="28" name="Text 21"/>
          <p:cNvSpPr txBox="1"/>
          <p:nvPr/>
        </p:nvSpPr>
        <p:spPr>
          <a:xfrm>
            <a:off x="5577840" y="3575304"/>
            <a:ext cx="24688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A band of fires across Africa</a:t>
            </a:r>
            <a:endParaRPr lang="en-US" sz="1250" dirty="0"/>
          </a:p>
        </p:txBody>
      </p:sp>
      <p:sp>
        <p:nvSpPr>
          <p:cNvPr id="29" name="Text 22"/>
          <p:cNvSpPr txBox="1"/>
          <p:nvPr/>
        </p:nvSpPr>
        <p:spPr>
          <a:xfrm>
            <a:off x="5577840" y="3877056"/>
            <a:ext cx="2468880" cy="51206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Agricultural burning: bright, seasonal and nothing to do with cities.</a:t>
            </a:r>
            <a:endParaRPr lang="en-US" sz="1100" dirty="0"/>
          </a:p>
        </p:txBody>
      </p:sp>
      <p:sp>
        <p:nvSpPr>
          <p:cNvPr id="30" name="Shape 23"/>
          <p:cNvSpPr/>
          <p:nvPr/>
        </p:nvSpPr>
        <p:spPr>
          <a:xfrm>
            <a:off x="4846320" y="4562856"/>
            <a:ext cx="3337560" cy="969264"/>
          </a:xfrm>
          <a:prstGeom prst="roundRect">
            <a:avLst>
              <a:gd name="adj" fmla="val 7547"/>
            </a:avLst>
          </a:prstGeom>
          <a:solidFill>
            <a:srgbClr val="FDF5DC"/>
          </a:solidFill>
          <a:ln w="9525">
            <a:solidFill>
              <a:srgbClr val="FDF5DC"/>
            </a:solidFill>
            <a:prstDash val="solid"/>
          </a:ln>
        </p:spPr>
      </p:sp>
      <p:sp>
        <p:nvSpPr>
          <p:cNvPr id="31" name="Shape 24"/>
          <p:cNvSpPr/>
          <p:nvPr/>
        </p:nvSpPr>
        <p:spPr>
          <a:xfrm>
            <a:off x="4983480" y="4700016"/>
            <a:ext cx="457200" cy="457200"/>
          </a:xfrm>
          <a:prstGeom prst="ellipse">
            <a:avLst/>
          </a:prstGeom>
          <a:solidFill>
            <a:srgbClr val="F5C242"/>
          </a:solidFill>
          <a:ln w="12700">
            <a:solidFill>
              <a:srgbClr val="F5C242"/>
            </a:solidFill>
            <a:prstDash val="solid"/>
          </a:ln>
        </p:spPr>
      </p:sp>
      <p:pic>
        <p:nvPicPr>
          <p:cNvPr id="32" name="Image 5" descr="preencoded.png"/>
          <p:cNvPicPr>
            <a:picLocks noChangeAspect="1"/>
          </p:cNvPicPr>
          <p:nvPr/>
        </p:nvPicPr>
        <p:blipFill>
          <a:blip r:embed="rId8"/>
          <a:stretch>
            <a:fillRect/>
          </a:stretch>
        </p:blipFill>
        <p:spPr>
          <a:xfrm>
            <a:off x="5102352" y="4818888"/>
            <a:ext cx="219456" cy="219456"/>
          </a:xfrm>
          <a:prstGeom prst="rect">
            <a:avLst/>
          </a:prstGeom>
        </p:spPr>
      </p:pic>
      <p:sp>
        <p:nvSpPr>
          <p:cNvPr id="33" name="Text 25"/>
          <p:cNvSpPr txBox="1"/>
          <p:nvPr/>
        </p:nvSpPr>
        <p:spPr>
          <a:xfrm>
            <a:off x="5577840" y="4654296"/>
            <a:ext cx="24688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Gas flares</a:t>
            </a:r>
            <a:endParaRPr lang="en-US" sz="1250" dirty="0"/>
          </a:p>
        </p:txBody>
      </p:sp>
      <p:sp>
        <p:nvSpPr>
          <p:cNvPr id="34" name="Text 26"/>
          <p:cNvSpPr txBox="1"/>
          <p:nvPr/>
        </p:nvSpPr>
        <p:spPr>
          <a:xfrm>
            <a:off x="5577840" y="4956048"/>
            <a:ext cx="2468880" cy="51206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Nigerian offshore flares, Algeria and Libya — already visible 50 years ago.</a:t>
            </a:r>
            <a:endParaRPr lang="en-US" sz="1100" dirty="0"/>
          </a:p>
        </p:txBody>
      </p:sp>
      <p:sp>
        <p:nvSpPr>
          <p:cNvPr id="35" name="Text 27"/>
          <p:cNvSpPr txBox="1"/>
          <p:nvPr/>
        </p:nvSpPr>
        <p:spPr>
          <a:xfrm>
            <a:off x="8458200" y="1325880"/>
            <a:ext cx="32004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Low-light satellites, 1990 – 2040</a:t>
            </a:r>
            <a:endParaRPr lang="en-US" sz="1100" dirty="0"/>
          </a:p>
        </p:txBody>
      </p:sp>
      <p:sp>
        <p:nvSpPr>
          <p:cNvPr id="36" name="Shape 28"/>
          <p:cNvSpPr/>
          <p:nvPr/>
        </p:nvSpPr>
        <p:spPr>
          <a:xfrm>
            <a:off x="8449056" y="1636776"/>
            <a:ext cx="3200400" cy="1948319"/>
          </a:xfrm>
          <a:prstGeom prst="roundRect">
            <a:avLst>
              <a:gd name="adj" fmla="val 3755"/>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37" name="Image 6" descr="/home/claude/build/img/real/timeline.png"/>
          <p:cNvPicPr>
            <a:picLocks noChangeAspect="1"/>
          </p:cNvPicPr>
          <p:nvPr/>
        </p:nvPicPr>
        <p:blipFill>
          <a:blip r:embed="rId9"/>
          <a:stretch>
            <a:fillRect/>
          </a:stretch>
        </p:blipFill>
        <p:spPr>
          <a:xfrm>
            <a:off x="8503920" y="1691640"/>
            <a:ext cx="3090672" cy="1838591"/>
          </a:xfrm>
          <a:prstGeom prst="rect">
            <a:avLst/>
          </a:prstGeom>
        </p:spPr>
      </p:pic>
      <p:sp>
        <p:nvSpPr>
          <p:cNvPr id="38" name="Shape 29"/>
          <p:cNvSpPr/>
          <p:nvPr/>
        </p:nvSpPr>
        <p:spPr>
          <a:xfrm>
            <a:off x="8449056" y="3703320"/>
            <a:ext cx="3191256" cy="1920240"/>
          </a:xfrm>
          <a:prstGeom prst="roundRect">
            <a:avLst>
              <a:gd name="adj" fmla="val 3810"/>
            </a:avLst>
          </a:prstGeom>
          <a:solidFill>
            <a:srgbClr val="00553A"/>
          </a:solidFill>
          <a:ln w="9525">
            <a:solidFill>
              <a:srgbClr val="00553A"/>
            </a:solidFill>
            <a:prstDash val="solid"/>
          </a:ln>
        </p:spPr>
      </p:sp>
      <p:sp>
        <p:nvSpPr>
          <p:cNvPr id="39" name="Text 30"/>
          <p:cNvSpPr txBox="1"/>
          <p:nvPr/>
        </p:nvSpPr>
        <p:spPr>
          <a:xfrm>
            <a:off x="8613648" y="3767328"/>
            <a:ext cx="2880360" cy="1783080"/>
          </a:xfrm>
          <a:prstGeom prst="rect">
            <a:avLst/>
          </a:prstGeom>
          <a:noFill/>
          <a:ln/>
        </p:spPr>
        <p:txBody>
          <a:bodyPr wrap="square" lIns="0" tIns="0" rIns="0" bIns="0" rtlCol="0" anchor="ctr"/>
          <a:lstStyle/>
          <a:p>
            <a:pPr marL="0" indent="0">
              <a:buNone/>
            </a:pPr>
            <a:r>
              <a:rPr lang="en-US" sz="1150" b="1" dirty="0">
                <a:solidFill>
                  <a:srgbClr val="F5C242"/>
                </a:solidFill>
                <a:latin typeface="Calibri" pitchFamily="34" charset="0"/>
                <a:ea typeface="Calibri" pitchFamily="34" charset="-122"/>
                <a:cs typeface="Calibri" pitchFamily="34" charset="-120"/>
              </a:rPr>
              <a:t>Why show this here? </a:t>
            </a:r>
            <a:r>
              <a:rPr lang="en-US" sz="1150" dirty="0">
                <a:solidFill>
                  <a:srgbClr val="FFFFFF"/>
                </a:solidFill>
                <a:latin typeface="Calibri" pitchFamily="34" charset="0"/>
                <a:ea typeface="Calibri" pitchFamily="34" charset="-122"/>
                <a:cs typeface="Calibri" pitchFamily="34" charset="-120"/>
              </a:rPr>
              <a:t>Fires and gas flares were the first African signals ever recorded from orbit — and they are still the first artefacts you must mask.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SENSOR COMPARISON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Two sensors, two different sciences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13</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626864">
                  <a:extLst>
                    <a:ext uri="{9D8B030D-6E8A-4147-A177-3AD203B41FA5}">
                      <a16:colId xmlns:a16="http://schemas.microsoft.com/office/drawing/2014/main" val="20001"/>
                    </a:ext>
                  </a:extLst>
                </a:gridCol>
                <a:gridCol w="4636008">
                  <a:extLst>
                    <a:ext uri="{9D8B030D-6E8A-4147-A177-3AD203B41FA5}">
                      <a16:colId xmlns:a16="http://schemas.microsoft.com/office/drawing/2014/main" val="20002"/>
                    </a:ext>
                  </a:extLst>
                </a:gridCol>
              </a:tblGrid>
              <a:tr h="475488">
                <a:tc>
                  <a:txBody>
                    <a:bodyPr/>
                    <a:lstStyle/>
                    <a:p>
                      <a:pPr marL="0" indent="0">
                        <a:buNone/>
                      </a:pP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DMSP-OLS  ·  historical</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E696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VIIRS Day/Night Band  ·  modern</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04A"/>
                    </a:solidFill>
                  </a:tcPr>
                </a:tc>
                <a:extLst>
                  <a:ext uri="{0D108BD9-81ED-4DB2-BD59-A6C34878D82A}">
                    <a16:rowId xmlns:a16="http://schemas.microsoft.com/office/drawing/2014/main" val="10000"/>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Period</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1992 – 2013 (archive)</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2012 – present (standard)</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Radiometry</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6-bit digital numbers 0–63, no on-board calibration</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14-bit, calibrated radiance in nW·cm⁻²·sr⁻¹</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Resolution</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 2.7 km, gridded at 30 arc-seconds (≈ 1 km)</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 742 m native, gridded at 15 arc-seconds (≈ 500 m)</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Saturation</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City cores clip at 63</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Wide dynamic range, three gain stages</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4"/>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Sensitivity</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Misses faint, rural lighting</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Detects far fainter light than DMSP</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5"/>
                  </a:ext>
                </a:extLst>
              </a:tr>
              <a:tr h="475488">
                <a:tc>
                  <a:txBody>
                    <a:bodyPr/>
                    <a:lstStyle/>
                    <a:p>
                      <a:pPr marL="0" indent="0">
                        <a:buNone/>
                      </a:pPr>
                      <a:r>
                        <a:rPr lang="en-US" sz="1250" b="1" dirty="0">
                          <a:solidFill>
                            <a:srgbClr val="00704A"/>
                          </a:solidFill>
                          <a:latin typeface="Calibri" pitchFamily="34" charset="0"/>
                          <a:ea typeface="Calibri" pitchFamily="34" charset="-122"/>
                          <a:cs typeface="Calibri" pitchFamily="34" charset="-120"/>
                        </a:rPr>
                        <a:t>Products</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Annual composites only</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250" dirty="0">
                          <a:solidFill>
                            <a:srgbClr val="231F20"/>
                          </a:solidFill>
                          <a:latin typeface="Calibri" pitchFamily="34" charset="0"/>
                          <a:ea typeface="Calibri" pitchFamily="34" charset="-122"/>
                          <a:cs typeface="Calibri" pitchFamily="34" charset="-120"/>
                        </a:rPr>
                        <a:t>Daily, monthly and annual — open licence</a:t>
                      </a:r>
                      <a:endParaRPr lang="en-US" sz="1250" dirty="0">
                        <a:latin typeface="Calibri" charset="0"/>
                        <a:ea typeface="Calibri" charset="0"/>
                        <a:cs typeface="Calibri" charset="0"/>
                      </a:endParaRPr>
                    </a:p>
                  </a:txBody>
                  <a:tcPr marL="109728" marR="109728" marT="36576" marB="36576"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extLst>
                  <a:ext uri="{0D108BD9-81ED-4DB2-BD59-A6C34878D82A}">
                    <a16:rowId xmlns:a16="http://schemas.microsoft.com/office/drawing/2014/main" val="10006"/>
                  </a:ext>
                </a:extLst>
              </a:tr>
            </a:tbl>
          </a:graphicData>
        </a:graphic>
      </p:graphicFrame>
      <p:sp>
        <p:nvSpPr>
          <p:cNvPr id="13" name="Shape 9"/>
          <p:cNvSpPr/>
          <p:nvPr/>
        </p:nvSpPr>
        <p:spPr>
          <a:xfrm>
            <a:off x="548640" y="4937760"/>
            <a:ext cx="11094415" cy="868680"/>
          </a:xfrm>
          <a:prstGeom prst="roundRect">
            <a:avLst>
              <a:gd name="adj" fmla="val 8421"/>
            </a:avLst>
          </a:prstGeom>
          <a:solidFill>
            <a:srgbClr val="FDF5DC"/>
          </a:solidFill>
          <a:ln w="9525">
            <a:solidFill>
              <a:srgbClr val="F5C242"/>
            </a:solidFill>
            <a:prstDash val="solid"/>
          </a:ln>
        </p:spPr>
      </p:sp>
      <p:pic>
        <p:nvPicPr>
          <p:cNvPr id="14" name="Image 1" descr="preencoded.png"/>
          <p:cNvPicPr>
            <a:picLocks noChangeAspect="1"/>
          </p:cNvPicPr>
          <p:nvPr/>
        </p:nvPicPr>
        <p:blipFill>
          <a:blip r:embed="rId4"/>
          <a:stretch>
            <a:fillRect/>
          </a:stretch>
        </p:blipFill>
        <p:spPr>
          <a:xfrm>
            <a:off x="777240" y="5166360"/>
            <a:ext cx="384048" cy="384048"/>
          </a:xfrm>
          <a:prstGeom prst="rect">
            <a:avLst/>
          </a:prstGeom>
        </p:spPr>
      </p:pic>
      <p:sp>
        <p:nvSpPr>
          <p:cNvPr id="12" name="Text 10"/>
          <p:cNvSpPr txBox="1"/>
          <p:nvPr/>
        </p:nvSpPr>
        <p:spPr>
          <a:xfrm>
            <a:off x="1371600" y="4937760"/>
            <a:ext cx="10088575" cy="86868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Next generation:  </a:t>
            </a:r>
            <a:r>
              <a:rPr lang="en-US" sz="1200" dirty="0">
                <a:solidFill>
                  <a:srgbClr val="231F20"/>
                </a:solidFill>
                <a:latin typeface="Calibri" pitchFamily="34" charset="0"/>
                <a:ea typeface="Calibri" pitchFamily="34" charset="-122"/>
                <a:cs typeface="Calibri" pitchFamily="34" charset="-120"/>
              </a:rPr>
              <a:t>Luojia-1-01 (≈ 130 m), SDGSAT-1 Glimmer (10 m panchromatic, 40 m colour) and commercial constellations resolve streets and can distinguish lamp types by colour — the dimension both legacy sensors lack.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REAL IMAGERY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Same night, two sensors: Mekong Delta, 23 November 2014</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14</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 Elvidge et al. (2013), reproduced in World Bank Open Nighttime Lights tutorials (CC BY 4.0).</a:t>
            </a:r>
            <a:endParaRPr lang="en-US" sz="850" dirty="0"/>
          </a:p>
        </p:txBody>
      </p:sp>
      <p:sp>
        <p:nvSpPr>
          <p:cNvPr id="13" name="Shape 10"/>
          <p:cNvSpPr/>
          <p:nvPr/>
        </p:nvSpPr>
        <p:spPr>
          <a:xfrm>
            <a:off x="548640" y="1362456"/>
            <a:ext cx="7744968" cy="4177517"/>
          </a:xfrm>
          <a:prstGeom prst="roundRect">
            <a:avLst>
              <a:gd name="adj" fmla="val 1751"/>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mekong.png"/>
          <p:cNvPicPr>
            <a:picLocks noChangeAspect="1"/>
          </p:cNvPicPr>
          <p:nvPr/>
        </p:nvPicPr>
        <p:blipFill>
          <a:blip r:embed="rId4"/>
          <a:stretch>
            <a:fillRect/>
          </a:stretch>
        </p:blipFill>
        <p:spPr>
          <a:xfrm>
            <a:off x="603504" y="1417320"/>
            <a:ext cx="7635240" cy="4067789"/>
          </a:xfrm>
          <a:prstGeom prst="rect">
            <a:avLst/>
          </a:prstGeom>
        </p:spPr>
      </p:pic>
      <p:sp>
        <p:nvSpPr>
          <p:cNvPr id="15" name="Shape 11"/>
          <p:cNvSpPr/>
          <p:nvPr/>
        </p:nvSpPr>
        <p:spPr>
          <a:xfrm>
            <a:off x="8503920" y="1371600"/>
            <a:ext cx="3136392" cy="1243584"/>
          </a:xfrm>
          <a:prstGeom prst="roundRect">
            <a:avLst>
              <a:gd name="adj" fmla="val 5882"/>
            </a:avLst>
          </a:prstGeom>
          <a:solidFill>
            <a:srgbClr val="F4F7F5"/>
          </a:solidFill>
          <a:ln w="9525">
            <a:solidFill>
              <a:srgbClr val="D5DED9"/>
            </a:solidFill>
            <a:prstDash val="solid"/>
          </a:ln>
        </p:spPr>
      </p:sp>
      <p:sp>
        <p:nvSpPr>
          <p:cNvPr id="16" name="Shape 12"/>
          <p:cNvSpPr/>
          <p:nvPr/>
        </p:nvSpPr>
        <p:spPr>
          <a:xfrm>
            <a:off x="8641080" y="150876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8759952" y="1627632"/>
            <a:ext cx="219456" cy="219456"/>
          </a:xfrm>
          <a:prstGeom prst="rect">
            <a:avLst/>
          </a:prstGeom>
        </p:spPr>
      </p:pic>
      <p:sp>
        <p:nvSpPr>
          <p:cNvPr id="18" name="Text 13"/>
          <p:cNvSpPr txBox="1"/>
          <p:nvPr/>
        </p:nvSpPr>
        <p:spPr>
          <a:xfrm>
            <a:off x="9235440" y="1463040"/>
            <a:ext cx="226771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Finer detail</a:t>
            </a:r>
            <a:endParaRPr lang="en-US" sz="1250" dirty="0"/>
          </a:p>
        </p:txBody>
      </p:sp>
      <p:sp>
        <p:nvSpPr>
          <p:cNvPr id="19" name="Text 14"/>
          <p:cNvSpPr txBox="1"/>
          <p:nvPr/>
        </p:nvSpPr>
        <p:spPr>
          <a:xfrm>
            <a:off x="9235440" y="1764792"/>
            <a:ext cx="2267712" cy="78638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VIIRS (left) resolves individual towns, canals and roads; DMSP (right) blurs them into blobs.</a:t>
            </a:r>
            <a:endParaRPr lang="en-US" sz="1100" dirty="0"/>
          </a:p>
        </p:txBody>
      </p:sp>
      <p:sp>
        <p:nvSpPr>
          <p:cNvPr id="20" name="Shape 15"/>
          <p:cNvSpPr/>
          <p:nvPr/>
        </p:nvSpPr>
        <p:spPr>
          <a:xfrm>
            <a:off x="8503920" y="2743200"/>
            <a:ext cx="3136392" cy="1243584"/>
          </a:xfrm>
          <a:prstGeom prst="roundRect">
            <a:avLst>
              <a:gd name="adj" fmla="val 5882"/>
            </a:avLst>
          </a:prstGeom>
          <a:solidFill>
            <a:srgbClr val="F4F7F5"/>
          </a:solidFill>
          <a:ln w="9525">
            <a:solidFill>
              <a:srgbClr val="D5DED9"/>
            </a:solidFill>
            <a:prstDash val="solid"/>
          </a:ln>
        </p:spPr>
      </p:sp>
      <p:sp>
        <p:nvSpPr>
          <p:cNvPr id="21" name="Shape 16"/>
          <p:cNvSpPr/>
          <p:nvPr/>
        </p:nvSpPr>
        <p:spPr>
          <a:xfrm>
            <a:off x="8641080" y="2880360"/>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8759952" y="2999232"/>
            <a:ext cx="219456" cy="219456"/>
          </a:xfrm>
          <a:prstGeom prst="rect">
            <a:avLst/>
          </a:prstGeom>
        </p:spPr>
      </p:pic>
      <p:sp>
        <p:nvSpPr>
          <p:cNvPr id="23" name="Text 17"/>
          <p:cNvSpPr txBox="1"/>
          <p:nvPr/>
        </p:nvSpPr>
        <p:spPr>
          <a:xfrm>
            <a:off x="9235440" y="2834640"/>
            <a:ext cx="226771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Higher sensitivity</a:t>
            </a:r>
            <a:endParaRPr lang="en-US" sz="1250" dirty="0"/>
          </a:p>
        </p:txBody>
      </p:sp>
      <p:sp>
        <p:nvSpPr>
          <p:cNvPr id="24" name="Text 18"/>
          <p:cNvSpPr txBox="1"/>
          <p:nvPr/>
        </p:nvSpPr>
        <p:spPr>
          <a:xfrm>
            <a:off x="9235440" y="3136392"/>
            <a:ext cx="2267712" cy="78638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Faint rural lights along the waterways appear only in VIIRS — the lights that matter most in rural Africa.</a:t>
            </a:r>
            <a:endParaRPr lang="en-US" sz="1100" dirty="0"/>
          </a:p>
        </p:txBody>
      </p:sp>
      <p:sp>
        <p:nvSpPr>
          <p:cNvPr id="25" name="Shape 19"/>
          <p:cNvSpPr/>
          <p:nvPr/>
        </p:nvSpPr>
        <p:spPr>
          <a:xfrm>
            <a:off x="8503920" y="4114800"/>
            <a:ext cx="3136392" cy="1243584"/>
          </a:xfrm>
          <a:prstGeom prst="roundRect">
            <a:avLst>
              <a:gd name="adj" fmla="val 5882"/>
            </a:avLst>
          </a:prstGeom>
          <a:solidFill>
            <a:srgbClr val="F4F7F5"/>
          </a:solidFill>
          <a:ln w="9525">
            <a:solidFill>
              <a:srgbClr val="D5DED9"/>
            </a:solidFill>
            <a:prstDash val="solid"/>
          </a:ln>
        </p:spPr>
      </p:sp>
      <p:sp>
        <p:nvSpPr>
          <p:cNvPr id="26" name="Shape 20"/>
          <p:cNvSpPr/>
          <p:nvPr/>
        </p:nvSpPr>
        <p:spPr>
          <a:xfrm>
            <a:off x="8641080" y="4251960"/>
            <a:ext cx="457200" cy="457200"/>
          </a:xfrm>
          <a:prstGeom prst="ellipse">
            <a:avLst/>
          </a:prstGeom>
          <a:solidFill>
            <a:srgbClr val="00704A"/>
          </a:solidFill>
          <a:ln w="12700">
            <a:solidFill>
              <a:srgbClr val="00704A"/>
            </a:solidFill>
            <a:prstDash val="solid"/>
          </a:ln>
        </p:spPr>
      </p:sp>
      <p:pic>
        <p:nvPicPr>
          <p:cNvPr id="27" name="Image 4" descr="preencoded.png"/>
          <p:cNvPicPr>
            <a:picLocks noChangeAspect="1"/>
          </p:cNvPicPr>
          <p:nvPr/>
        </p:nvPicPr>
        <p:blipFill>
          <a:blip r:embed="rId7"/>
          <a:stretch>
            <a:fillRect/>
          </a:stretch>
        </p:blipFill>
        <p:spPr>
          <a:xfrm>
            <a:off x="8759952" y="4370832"/>
            <a:ext cx="219456" cy="219456"/>
          </a:xfrm>
          <a:prstGeom prst="rect">
            <a:avLst/>
          </a:prstGeom>
        </p:spPr>
      </p:pic>
      <p:sp>
        <p:nvSpPr>
          <p:cNvPr id="28" name="Text 21"/>
          <p:cNvSpPr txBox="1"/>
          <p:nvPr/>
        </p:nvSpPr>
        <p:spPr>
          <a:xfrm>
            <a:off x="9235440" y="4206240"/>
            <a:ext cx="226771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Less blooming</a:t>
            </a:r>
            <a:endParaRPr lang="en-US" sz="1250" dirty="0"/>
          </a:p>
        </p:txBody>
      </p:sp>
      <p:sp>
        <p:nvSpPr>
          <p:cNvPr id="29" name="Text 22"/>
          <p:cNvSpPr txBox="1"/>
          <p:nvPr/>
        </p:nvSpPr>
        <p:spPr>
          <a:xfrm>
            <a:off x="9235440" y="4507992"/>
            <a:ext cx="2267712" cy="786384"/>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DMSP’s large footprint spreads light beyond its source and overstates lit area.</a:t>
            </a:r>
            <a:endParaRPr lang="en-US" sz="1100" dirty="0"/>
          </a:p>
        </p:txBody>
      </p:sp>
      <p:sp>
        <p:nvSpPr>
          <p:cNvPr id="30" name="Shape 23"/>
          <p:cNvSpPr/>
          <p:nvPr/>
        </p:nvSpPr>
        <p:spPr>
          <a:xfrm>
            <a:off x="548640" y="5577840"/>
            <a:ext cx="7744968" cy="457200"/>
          </a:xfrm>
          <a:prstGeom prst="roundRect">
            <a:avLst>
              <a:gd name="adj" fmla="val 16000"/>
            </a:avLst>
          </a:prstGeom>
          <a:solidFill>
            <a:srgbClr val="E8F5EF"/>
          </a:solidFill>
          <a:ln w="9525">
            <a:solidFill>
              <a:srgbClr val="E8F5EF"/>
            </a:solidFill>
            <a:prstDash val="solid"/>
          </a:ln>
        </p:spPr>
      </p:sp>
      <p:sp>
        <p:nvSpPr>
          <p:cNvPr id="31" name="Text 24"/>
          <p:cNvSpPr txBox="1"/>
          <p:nvPr/>
        </p:nvSpPr>
        <p:spPr>
          <a:xfrm>
            <a:off x="731520" y="5577840"/>
            <a:ext cx="7406640" cy="457200"/>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Take-away: </a:t>
            </a:r>
            <a:r>
              <a:rPr lang="en-US" sz="1150" dirty="0">
                <a:solidFill>
                  <a:srgbClr val="231F20"/>
                </a:solidFill>
                <a:latin typeface="Calibri" pitchFamily="34" charset="0"/>
                <a:ea typeface="Calibri" pitchFamily="34" charset="-122"/>
                <a:cs typeface="Calibri" pitchFamily="34" charset="-120"/>
              </a:rPr>
              <a:t>for anything after 2012, use VIIRS; DMSP is for history only, and only after harmonisation.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DYNAMIC RANGE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Why the brightest places say the least</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15</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Schematic illustration — not fitted data. VIIRS range per Elvidge et al. (2017).</a:t>
            </a:r>
            <a:endParaRPr lang="en-US" sz="850" dirty="0"/>
          </a:p>
        </p:txBody>
      </p:sp>
      <p:sp>
        <p:nvSpPr>
          <p:cNvPr id="13" name="Shape 10"/>
          <p:cNvSpPr/>
          <p:nvPr/>
        </p:nvSpPr>
        <p:spPr>
          <a:xfrm>
            <a:off x="548640" y="1417320"/>
            <a:ext cx="502920" cy="502920"/>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679399" y="1548079"/>
            <a:ext cx="241402" cy="241402"/>
          </a:xfrm>
          <a:prstGeom prst="rect">
            <a:avLst/>
          </a:prstGeom>
        </p:spPr>
      </p:pic>
      <p:sp>
        <p:nvSpPr>
          <p:cNvPr id="15" name="Text 11"/>
          <p:cNvSpPr txBox="1"/>
          <p:nvPr/>
        </p:nvSpPr>
        <p:spPr>
          <a:xfrm>
            <a:off x="1234440" y="1371600"/>
            <a:ext cx="4206240" cy="685800"/>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DMSP returns 63 above a certain brightness — a suburb and a downtown core look identical.</a:t>
            </a:r>
            <a:endParaRPr lang="en-US" sz="1250" dirty="0"/>
          </a:p>
        </p:txBody>
      </p:sp>
      <p:sp>
        <p:nvSpPr>
          <p:cNvPr id="16" name="Shape 12"/>
          <p:cNvSpPr/>
          <p:nvPr/>
        </p:nvSpPr>
        <p:spPr>
          <a:xfrm>
            <a:off x="548640" y="2286000"/>
            <a:ext cx="502920" cy="502920"/>
          </a:xfrm>
          <a:prstGeom prst="ellipse">
            <a:avLst/>
          </a:prstGeom>
          <a:solidFill>
            <a:srgbClr val="E8F5EF"/>
          </a:solidFill>
          <a:ln w="12700">
            <a:solidFill>
              <a:srgbClr val="E8F5EF"/>
            </a:solidFill>
            <a:prstDash val="solid"/>
          </a:ln>
        </p:spPr>
      </p:sp>
      <p:pic>
        <p:nvPicPr>
          <p:cNvPr id="17" name="Image 2" descr="preencoded.png"/>
          <p:cNvPicPr>
            <a:picLocks noChangeAspect="1"/>
          </p:cNvPicPr>
          <p:nvPr/>
        </p:nvPicPr>
        <p:blipFill>
          <a:blip r:embed="rId5"/>
          <a:stretch>
            <a:fillRect/>
          </a:stretch>
        </p:blipFill>
        <p:spPr>
          <a:xfrm>
            <a:off x="679399" y="2416759"/>
            <a:ext cx="241402" cy="241402"/>
          </a:xfrm>
          <a:prstGeom prst="rect">
            <a:avLst/>
          </a:prstGeom>
        </p:spPr>
      </p:pic>
      <p:sp>
        <p:nvSpPr>
          <p:cNvPr id="18" name="Text 13"/>
          <p:cNvSpPr txBox="1"/>
          <p:nvPr/>
        </p:nvSpPr>
        <p:spPr>
          <a:xfrm>
            <a:off x="1234440" y="2240280"/>
            <a:ext cx="4206240" cy="685800"/>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VIIRS spans roughly seven orders of magnitude, with three switchable gain stages.</a:t>
            </a:r>
            <a:endParaRPr lang="en-US" sz="1250" dirty="0"/>
          </a:p>
        </p:txBody>
      </p:sp>
      <p:sp>
        <p:nvSpPr>
          <p:cNvPr id="19" name="Shape 14"/>
          <p:cNvSpPr/>
          <p:nvPr/>
        </p:nvSpPr>
        <p:spPr>
          <a:xfrm>
            <a:off x="548640" y="3154680"/>
            <a:ext cx="502920" cy="502920"/>
          </a:xfrm>
          <a:prstGeom prst="ellipse">
            <a:avLst/>
          </a:prstGeom>
          <a:solidFill>
            <a:srgbClr val="E8F5EF"/>
          </a:solidFill>
          <a:ln w="12700">
            <a:solidFill>
              <a:srgbClr val="E8F5EF"/>
            </a:solidFill>
            <a:prstDash val="solid"/>
          </a:ln>
        </p:spPr>
      </p:sp>
      <p:pic>
        <p:nvPicPr>
          <p:cNvPr id="20" name="Image 3" descr="preencoded.png"/>
          <p:cNvPicPr>
            <a:picLocks noChangeAspect="1"/>
          </p:cNvPicPr>
          <p:nvPr/>
        </p:nvPicPr>
        <p:blipFill>
          <a:blip r:embed="rId6"/>
          <a:stretch>
            <a:fillRect/>
          </a:stretch>
        </p:blipFill>
        <p:spPr>
          <a:xfrm>
            <a:off x="679399" y="3285439"/>
            <a:ext cx="241402" cy="241402"/>
          </a:xfrm>
          <a:prstGeom prst="rect">
            <a:avLst/>
          </a:prstGeom>
        </p:spPr>
      </p:pic>
      <p:sp>
        <p:nvSpPr>
          <p:cNvPr id="21" name="Text 15"/>
          <p:cNvSpPr txBox="1"/>
          <p:nvPr/>
        </p:nvSpPr>
        <p:spPr>
          <a:xfrm>
            <a:off x="1234440" y="3108960"/>
            <a:ext cx="4206240" cy="685800"/>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Its low noise floor makes a single lit fishing boat visible on a dark lake or ocean.</a:t>
            </a:r>
            <a:endParaRPr lang="en-US" sz="1250" dirty="0"/>
          </a:p>
        </p:txBody>
      </p:sp>
      <p:sp>
        <p:nvSpPr>
          <p:cNvPr id="22" name="Shape 16"/>
          <p:cNvSpPr/>
          <p:nvPr/>
        </p:nvSpPr>
        <p:spPr>
          <a:xfrm>
            <a:off x="548640" y="4160520"/>
            <a:ext cx="4892040" cy="1600200"/>
          </a:xfrm>
          <a:prstGeom prst="roundRect">
            <a:avLst>
              <a:gd name="adj" fmla="val 4571"/>
            </a:avLst>
          </a:prstGeom>
          <a:solidFill>
            <a:srgbClr val="FDF5DC"/>
          </a:solidFill>
          <a:ln w="9525">
            <a:solidFill>
              <a:srgbClr val="F5C242"/>
            </a:solidFill>
            <a:prstDash val="solid"/>
          </a:ln>
        </p:spPr>
      </p:sp>
      <p:sp>
        <p:nvSpPr>
          <p:cNvPr id="23" name="Text 17"/>
          <p:cNvSpPr txBox="1"/>
          <p:nvPr/>
        </p:nvSpPr>
        <p:spPr>
          <a:xfrm>
            <a:off x="777240" y="4251960"/>
            <a:ext cx="4434840" cy="1417320"/>
          </a:xfrm>
          <a:prstGeom prst="rect">
            <a:avLst/>
          </a:prstGeom>
          <a:noFill/>
          <a:ln/>
        </p:spPr>
        <p:txBody>
          <a:bodyPr wrap="square" lIns="0" tIns="0" rIns="0" bIns="0" rtlCol="0" anchor="t"/>
          <a:lstStyle/>
          <a:p>
            <a:pPr marL="0" indent="0">
              <a:buNone/>
            </a:pPr>
            <a:r>
              <a:rPr lang="en-US" sz="1250" b="1" dirty="0">
                <a:solidFill>
                  <a:srgbClr val="A87700"/>
                </a:solidFill>
                <a:latin typeface="Calibri" pitchFamily="34" charset="0"/>
                <a:ea typeface="Calibri" pitchFamily="34" charset="-122"/>
                <a:cs typeface="Calibri" pitchFamily="34" charset="-120"/>
              </a:rPr>
              <a:t>Read this before you regress</a:t>
            </a:r>
            <a:endParaRPr lang="en-US" sz="1250" dirty="0"/>
          </a:p>
          <a:p>
            <a:pPr marL="0" indent="0">
              <a:buNone/>
            </a:pPr>
            <a:r>
              <a:rPr lang="en-US" sz="1250" dirty="0">
                <a:solidFill>
                  <a:srgbClr val="231F20"/>
                </a:solidFill>
                <a:latin typeface="Calibri" pitchFamily="34" charset="0"/>
                <a:ea typeface="Calibri" pitchFamily="34" charset="-122"/>
                <a:cs typeface="Calibri" pitchFamily="34" charset="-120"/>
              </a:rPr>
              <a:t>Saturation is a ceiling, not noise you can average away. The information was never recorded — correcting it means modelling what the sensor failed to see.</a:t>
            </a:r>
            <a:endParaRPr lang="en-US" sz="1250" dirty="0"/>
          </a:p>
        </p:txBody>
      </p:sp>
      <p:graphicFrame>
        <p:nvGraphicFramePr>
          <p:cNvPr id="24" name="Chart 0"/>
          <p:cNvGraphicFramePr/>
          <p:nvPr/>
        </p:nvGraphicFramePr>
        <p:xfrm>
          <a:off x="5760720" y="1325880"/>
          <a:ext cx="5897880" cy="448056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REAL IMAGERY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Saturation on real data: the same city, 2013 vs 2016</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16</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Chicago region. DMSP-OLS F18 2013 stable lights vs VIIRS-DNB 2016 composite. Source: World Bank Open Nighttime Lights tutorials (CC BY 4.0).</a:t>
            </a:r>
            <a:endParaRPr lang="en-US" sz="850" dirty="0"/>
          </a:p>
        </p:txBody>
      </p:sp>
      <p:sp>
        <p:nvSpPr>
          <p:cNvPr id="13" name="Text 10"/>
          <p:cNvSpPr txBox="1"/>
          <p:nvPr/>
        </p:nvSpPr>
        <p:spPr>
          <a:xfrm>
            <a:off x="548640" y="1325880"/>
            <a:ext cx="3840480" cy="274320"/>
          </a:xfrm>
          <a:prstGeom prst="rect">
            <a:avLst/>
          </a:prstGeom>
          <a:noFill/>
          <a:ln/>
        </p:spPr>
        <p:txBody>
          <a:bodyPr wrap="square" lIns="0" tIns="0" rIns="0" bIns="0" rtlCol="0" anchor="t"/>
          <a:lstStyle/>
          <a:p>
            <a:pPr marL="0" indent="0">
              <a:buNone/>
            </a:pPr>
            <a:r>
              <a:rPr lang="en-US" sz="1100" b="1" dirty="0">
                <a:solidFill>
                  <a:srgbClr val="B83B2E"/>
                </a:solidFill>
                <a:latin typeface="Calibri" pitchFamily="34" charset="0"/>
                <a:ea typeface="Calibri" pitchFamily="34" charset="-122"/>
                <a:cs typeface="Calibri" pitchFamily="34" charset="-120"/>
              </a:rPr>
              <a:t>DMSP-OLS · 2013 · saturated pixels in red</a:t>
            </a:r>
            <a:endParaRPr lang="en-US" sz="1100" dirty="0"/>
          </a:p>
        </p:txBody>
      </p:sp>
      <p:sp>
        <p:nvSpPr>
          <p:cNvPr id="14" name="Shape 11"/>
          <p:cNvSpPr/>
          <p:nvPr/>
        </p:nvSpPr>
        <p:spPr>
          <a:xfrm>
            <a:off x="548640" y="1636776"/>
            <a:ext cx="3521537" cy="4133088"/>
          </a:xfrm>
          <a:prstGeom prst="roundRect">
            <a:avLst>
              <a:gd name="adj" fmla="val 207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dmsp_sat.png"/>
          <p:cNvPicPr>
            <a:picLocks noChangeAspect="1"/>
          </p:cNvPicPr>
          <p:nvPr/>
        </p:nvPicPr>
        <p:blipFill>
          <a:blip r:embed="rId4"/>
          <a:stretch>
            <a:fillRect/>
          </a:stretch>
        </p:blipFill>
        <p:spPr>
          <a:xfrm>
            <a:off x="603504" y="1691640"/>
            <a:ext cx="3411809" cy="4023360"/>
          </a:xfrm>
          <a:prstGeom prst="rect">
            <a:avLst/>
          </a:prstGeom>
        </p:spPr>
      </p:pic>
      <p:sp>
        <p:nvSpPr>
          <p:cNvPr id="16" name="Text 12"/>
          <p:cNvSpPr txBox="1"/>
          <p:nvPr/>
        </p:nvSpPr>
        <p:spPr>
          <a:xfrm>
            <a:off x="4434840" y="1325880"/>
            <a:ext cx="41148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VIIRS-DNB · 2016 · the same area</a:t>
            </a:r>
            <a:endParaRPr lang="en-US" sz="1100" dirty="0"/>
          </a:p>
        </p:txBody>
      </p:sp>
      <p:sp>
        <p:nvSpPr>
          <p:cNvPr id="17" name="Shape 13"/>
          <p:cNvSpPr/>
          <p:nvPr/>
        </p:nvSpPr>
        <p:spPr>
          <a:xfrm>
            <a:off x="4425696" y="1636776"/>
            <a:ext cx="4189415" cy="4133088"/>
          </a:xfrm>
          <a:prstGeom prst="roundRect">
            <a:avLst>
              <a:gd name="adj" fmla="val 177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viirs_imp.png"/>
          <p:cNvPicPr>
            <a:picLocks noChangeAspect="1"/>
          </p:cNvPicPr>
          <p:nvPr/>
        </p:nvPicPr>
        <p:blipFill>
          <a:blip r:embed="rId5"/>
          <a:stretch>
            <a:fillRect/>
          </a:stretch>
        </p:blipFill>
        <p:spPr>
          <a:xfrm>
            <a:off x="4480560" y="1691640"/>
            <a:ext cx="4079687" cy="4023360"/>
          </a:xfrm>
          <a:prstGeom prst="rect">
            <a:avLst/>
          </a:prstGeom>
        </p:spPr>
      </p:pic>
      <p:sp>
        <p:nvSpPr>
          <p:cNvPr id="19" name="Shape 14"/>
          <p:cNvSpPr/>
          <p:nvPr/>
        </p:nvSpPr>
        <p:spPr>
          <a:xfrm>
            <a:off x="8732520" y="1325880"/>
            <a:ext cx="2907792" cy="4434840"/>
          </a:xfrm>
          <a:prstGeom prst="roundRect">
            <a:avLst>
              <a:gd name="adj" fmla="val 2516"/>
            </a:avLst>
          </a:prstGeom>
          <a:solidFill>
            <a:srgbClr val="00553A"/>
          </a:solidFill>
          <a:ln w="9525">
            <a:solidFill>
              <a:srgbClr val="00553A"/>
            </a:solidFill>
            <a:prstDash val="solid"/>
          </a:ln>
        </p:spPr>
      </p:sp>
      <p:sp>
        <p:nvSpPr>
          <p:cNvPr id="20" name="Text 15"/>
          <p:cNvSpPr txBox="1"/>
          <p:nvPr/>
        </p:nvSpPr>
        <p:spPr>
          <a:xfrm>
            <a:off x="8915400" y="1463040"/>
            <a:ext cx="2560320" cy="365760"/>
          </a:xfrm>
          <a:prstGeom prst="rect">
            <a:avLst/>
          </a:prstGeom>
          <a:noFill/>
          <a:ln/>
        </p:spPr>
        <p:txBody>
          <a:bodyPr wrap="square" lIns="0" tIns="0" rIns="0" bIns="0" rtlCol="0" anchor="t"/>
          <a:lstStyle/>
          <a:p>
            <a:pPr marL="0" indent="0">
              <a:buNone/>
            </a:pPr>
            <a:r>
              <a:rPr lang="en-US" sz="1400" b="1" dirty="0">
                <a:solidFill>
                  <a:srgbClr val="F5C242"/>
                </a:solidFill>
                <a:latin typeface="Calibri" pitchFamily="34" charset="0"/>
                <a:ea typeface="Calibri" pitchFamily="34" charset="-122"/>
                <a:cs typeface="Calibri" pitchFamily="34" charset="-120"/>
              </a:rPr>
              <a:t>Read the profiles</a:t>
            </a:r>
            <a:endParaRPr lang="en-US" sz="1400" dirty="0"/>
          </a:p>
        </p:txBody>
      </p:sp>
      <p:sp>
        <p:nvSpPr>
          <p:cNvPr id="21" name="Text 16"/>
          <p:cNvSpPr txBox="1"/>
          <p:nvPr/>
        </p:nvSpPr>
        <p:spPr>
          <a:xfrm>
            <a:off x="8915400" y="1920240"/>
            <a:ext cx="2606040" cy="3749040"/>
          </a:xfrm>
          <a:prstGeom prst="rect">
            <a:avLst/>
          </a:prstGeom>
          <a:noFill/>
          <a:ln/>
        </p:spPr>
        <p:txBody>
          <a:bodyPr wrap="square" lIns="0" tIns="0" rIns="0" bIns="0" rtlCol="0" anchor="t"/>
          <a:lstStyle/>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DMSP:</a:t>
            </a:r>
            <a:r>
              <a:rPr lang="en-US" sz="1150" dirty="0">
                <a:solidFill>
                  <a:srgbClr val="D8EEE3"/>
                </a:solidFill>
                <a:latin typeface="Calibri" pitchFamily="34" charset="0"/>
                <a:ea typeface="Calibri" pitchFamily="34" charset="-122"/>
                <a:cs typeface="Calibri" pitchFamily="34" charset="-120"/>
              </a:rPr>
              <a:t> transects flatten at 63 across the whole metro area — no information left in the core.</a:t>
            </a:r>
            <a:endParaRPr lang="en-US" sz="1150" dirty="0"/>
          </a:p>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VIIRS:</a:t>
            </a:r>
            <a:r>
              <a:rPr lang="en-US" sz="1150" dirty="0">
                <a:solidFill>
                  <a:srgbClr val="D8EEE3"/>
                </a:solidFill>
                <a:latin typeface="Calibri" pitchFamily="34" charset="0"/>
                <a:ea typeface="Calibri" pitchFamily="34" charset="-122"/>
                <a:cs typeface="Calibri" pitchFamily="34" charset="-120"/>
              </a:rPr>
              <a:t> the same transects keep rising and falling across the city.</a:t>
            </a:r>
            <a:endParaRPr lang="en-US" sz="1150" dirty="0"/>
          </a:p>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For Africa:</a:t>
            </a:r>
            <a:r>
              <a:rPr lang="en-US" sz="1150" dirty="0">
                <a:solidFill>
                  <a:srgbClr val="D8EEE3"/>
                </a:solidFill>
                <a:latin typeface="Calibri" pitchFamily="34" charset="0"/>
                <a:ea typeface="Calibri" pitchFamily="34" charset="-122"/>
                <a:cs typeface="Calibri" pitchFamily="34" charset="-120"/>
              </a:rPr>
              <a:t> Lagos, Cairo and Johannesburg cores behave like this in DMSP; rural lights sit at the other end of the range.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OBSERVATION GEOMETRY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When and how VIIRS looks at your country</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17</a:t>
            </a:r>
            <a:endParaRPr lang="en-US" sz="900" dirty="0"/>
          </a:p>
        </p:txBody>
      </p:sp>
      <p:sp>
        <p:nvSpPr>
          <p:cNvPr id="12" name="Shape 9"/>
          <p:cNvSpPr/>
          <p:nvPr/>
        </p:nvSpPr>
        <p:spPr>
          <a:xfrm>
            <a:off x="548640" y="1371600"/>
            <a:ext cx="2651760" cy="1508760"/>
          </a:xfrm>
          <a:prstGeom prst="roundRect">
            <a:avLst>
              <a:gd name="adj" fmla="val 4848"/>
            </a:avLst>
          </a:prstGeom>
          <a:solidFill>
            <a:srgbClr val="E8F5EF"/>
          </a:solidFill>
          <a:ln w="9525">
            <a:solidFill>
              <a:srgbClr val="E8F5EF"/>
            </a:solidFill>
            <a:prstDash val="solid"/>
          </a:ln>
        </p:spPr>
      </p:sp>
      <p:sp>
        <p:nvSpPr>
          <p:cNvPr id="13" name="Text 10"/>
          <p:cNvSpPr txBox="1"/>
          <p:nvPr/>
        </p:nvSpPr>
        <p:spPr>
          <a:xfrm>
            <a:off x="731520" y="1463040"/>
            <a:ext cx="2286000" cy="59436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 01:30</a:t>
            </a:r>
            <a:endParaRPr lang="en-US" sz="2600" dirty="0"/>
          </a:p>
        </p:txBody>
      </p:sp>
      <p:sp>
        <p:nvSpPr>
          <p:cNvPr id="14" name="Text 11"/>
          <p:cNvSpPr txBox="1"/>
          <p:nvPr/>
        </p:nvSpPr>
        <p:spPr>
          <a:xfrm>
            <a:off x="731520" y="2057400"/>
            <a:ext cx="2331720" cy="7772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local equator-crossing time of the night pass (sun-synchronous orbit)</a:t>
            </a:r>
            <a:endParaRPr lang="en-US" sz="1100" dirty="0"/>
          </a:p>
        </p:txBody>
      </p:sp>
      <p:sp>
        <p:nvSpPr>
          <p:cNvPr id="15" name="Shape 12"/>
          <p:cNvSpPr/>
          <p:nvPr/>
        </p:nvSpPr>
        <p:spPr>
          <a:xfrm>
            <a:off x="3355848" y="1371600"/>
            <a:ext cx="2651760" cy="1508760"/>
          </a:xfrm>
          <a:prstGeom prst="roundRect">
            <a:avLst>
              <a:gd name="adj" fmla="val 4848"/>
            </a:avLst>
          </a:prstGeom>
          <a:solidFill>
            <a:srgbClr val="E8F5EF"/>
          </a:solidFill>
          <a:ln w="9525">
            <a:solidFill>
              <a:srgbClr val="E8F5EF"/>
            </a:solidFill>
            <a:prstDash val="solid"/>
          </a:ln>
        </p:spPr>
      </p:sp>
      <p:sp>
        <p:nvSpPr>
          <p:cNvPr id="16" name="Text 13"/>
          <p:cNvSpPr txBox="1"/>
          <p:nvPr/>
        </p:nvSpPr>
        <p:spPr>
          <a:xfrm>
            <a:off x="3538728" y="1463040"/>
            <a:ext cx="2286000" cy="59436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 3,000 km</a:t>
            </a:r>
            <a:endParaRPr lang="en-US" sz="2600" dirty="0"/>
          </a:p>
        </p:txBody>
      </p:sp>
      <p:sp>
        <p:nvSpPr>
          <p:cNvPr id="17" name="Text 14"/>
          <p:cNvSpPr txBox="1"/>
          <p:nvPr/>
        </p:nvSpPr>
        <p:spPr>
          <a:xfrm>
            <a:off x="3538728" y="2057400"/>
            <a:ext cx="2331720" cy="7772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swath width — every point on Earth is seen at least once a night</a:t>
            </a:r>
            <a:endParaRPr lang="en-US" sz="1100" dirty="0"/>
          </a:p>
        </p:txBody>
      </p:sp>
      <p:sp>
        <p:nvSpPr>
          <p:cNvPr id="18" name="Shape 15"/>
          <p:cNvSpPr/>
          <p:nvPr/>
        </p:nvSpPr>
        <p:spPr>
          <a:xfrm>
            <a:off x="6163056" y="1371600"/>
            <a:ext cx="2651760" cy="1508760"/>
          </a:xfrm>
          <a:prstGeom prst="roundRect">
            <a:avLst>
              <a:gd name="adj" fmla="val 4848"/>
            </a:avLst>
          </a:prstGeom>
          <a:solidFill>
            <a:srgbClr val="E8F5EF"/>
          </a:solidFill>
          <a:ln w="9525">
            <a:solidFill>
              <a:srgbClr val="E8F5EF"/>
            </a:solidFill>
            <a:prstDash val="solid"/>
          </a:ln>
        </p:spPr>
      </p:sp>
      <p:sp>
        <p:nvSpPr>
          <p:cNvPr id="19" name="Text 16"/>
          <p:cNvSpPr txBox="1"/>
          <p:nvPr/>
        </p:nvSpPr>
        <p:spPr>
          <a:xfrm>
            <a:off x="6345936" y="1463040"/>
            <a:ext cx="2286000" cy="59436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 742 m</a:t>
            </a:r>
            <a:endParaRPr lang="en-US" sz="2600" dirty="0"/>
          </a:p>
        </p:txBody>
      </p:sp>
      <p:sp>
        <p:nvSpPr>
          <p:cNvPr id="20" name="Text 17"/>
          <p:cNvSpPr txBox="1"/>
          <p:nvPr/>
        </p:nvSpPr>
        <p:spPr>
          <a:xfrm>
            <a:off x="6345936" y="2057400"/>
            <a:ext cx="2331720" cy="7772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native DNB pixel, held near-constant from nadir to edge of scan</a:t>
            </a:r>
            <a:endParaRPr lang="en-US" sz="1100" dirty="0"/>
          </a:p>
        </p:txBody>
      </p:sp>
      <p:sp>
        <p:nvSpPr>
          <p:cNvPr id="21" name="Shape 18"/>
          <p:cNvSpPr/>
          <p:nvPr/>
        </p:nvSpPr>
        <p:spPr>
          <a:xfrm>
            <a:off x="8970264" y="1371600"/>
            <a:ext cx="2651760" cy="1508760"/>
          </a:xfrm>
          <a:prstGeom prst="roundRect">
            <a:avLst>
              <a:gd name="adj" fmla="val 4848"/>
            </a:avLst>
          </a:prstGeom>
          <a:solidFill>
            <a:srgbClr val="E8F5EF"/>
          </a:solidFill>
          <a:ln w="9525">
            <a:solidFill>
              <a:srgbClr val="E8F5EF"/>
            </a:solidFill>
            <a:prstDash val="solid"/>
          </a:ln>
        </p:spPr>
      </p:sp>
      <p:sp>
        <p:nvSpPr>
          <p:cNvPr id="22" name="Text 19"/>
          <p:cNvSpPr txBox="1"/>
          <p:nvPr/>
        </p:nvSpPr>
        <p:spPr>
          <a:xfrm>
            <a:off x="9153144" y="1463040"/>
            <a:ext cx="2286000" cy="59436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3</a:t>
            </a:r>
            <a:endParaRPr lang="en-US" sz="2600" dirty="0"/>
          </a:p>
        </p:txBody>
      </p:sp>
      <p:sp>
        <p:nvSpPr>
          <p:cNvPr id="23" name="Text 20"/>
          <p:cNvSpPr txBox="1"/>
          <p:nvPr/>
        </p:nvSpPr>
        <p:spPr>
          <a:xfrm>
            <a:off x="9153144" y="2057400"/>
            <a:ext cx="2331720" cy="7772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VIIRS instruments in orbit: Suomi NPP, NOAA-20, NOAA-21</a:t>
            </a:r>
            <a:endParaRPr lang="en-US" sz="1100" dirty="0"/>
          </a:p>
        </p:txBody>
      </p:sp>
      <p:sp>
        <p:nvSpPr>
          <p:cNvPr id="24" name="Shape 21"/>
          <p:cNvSpPr/>
          <p:nvPr/>
        </p:nvSpPr>
        <p:spPr>
          <a:xfrm>
            <a:off x="548640" y="3154680"/>
            <a:ext cx="3593592" cy="2697480"/>
          </a:xfrm>
          <a:prstGeom prst="roundRect">
            <a:avLst>
              <a:gd name="adj" fmla="val 2712"/>
            </a:avLst>
          </a:prstGeom>
          <a:solidFill>
            <a:srgbClr val="F4F7F5"/>
          </a:solidFill>
          <a:ln w="9525">
            <a:solidFill>
              <a:srgbClr val="D5DED9"/>
            </a:solidFill>
            <a:prstDash val="solid"/>
          </a:ln>
        </p:spPr>
      </p:sp>
      <p:sp>
        <p:nvSpPr>
          <p:cNvPr id="25" name="Shape 22"/>
          <p:cNvSpPr/>
          <p:nvPr/>
        </p:nvSpPr>
        <p:spPr>
          <a:xfrm>
            <a:off x="749808" y="3355848"/>
            <a:ext cx="548640" cy="548640"/>
          </a:xfrm>
          <a:prstGeom prst="ellipse">
            <a:avLst/>
          </a:prstGeom>
          <a:solidFill>
            <a:srgbClr val="00704A"/>
          </a:solidFill>
          <a:ln w="12700">
            <a:solidFill>
              <a:srgbClr val="00704A"/>
            </a:solidFill>
            <a:prstDash val="solid"/>
          </a:ln>
        </p:spPr>
      </p:sp>
      <p:pic>
        <p:nvPicPr>
          <p:cNvPr id="26" name="Image 1" descr="preencoded.png"/>
          <p:cNvPicPr>
            <a:picLocks noChangeAspect="1"/>
          </p:cNvPicPr>
          <p:nvPr/>
        </p:nvPicPr>
        <p:blipFill>
          <a:blip r:embed="rId4"/>
          <a:stretch>
            <a:fillRect/>
          </a:stretch>
        </p:blipFill>
        <p:spPr>
          <a:xfrm>
            <a:off x="892454" y="3498494"/>
            <a:ext cx="263347" cy="263347"/>
          </a:xfrm>
          <a:prstGeom prst="rect">
            <a:avLst/>
          </a:prstGeom>
        </p:spPr>
      </p:pic>
      <p:sp>
        <p:nvSpPr>
          <p:cNvPr id="27" name="Text 23"/>
          <p:cNvSpPr txBox="1"/>
          <p:nvPr/>
        </p:nvSpPr>
        <p:spPr>
          <a:xfrm>
            <a:off x="1417320" y="3355848"/>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View angle changes every night</a:t>
            </a:r>
            <a:endParaRPr lang="en-US" sz="1350" dirty="0"/>
          </a:p>
        </p:txBody>
      </p:sp>
      <p:sp>
        <p:nvSpPr>
          <p:cNvPr id="28" name="Text 24"/>
          <p:cNvSpPr txBox="1"/>
          <p:nvPr/>
        </p:nvSpPr>
        <p:spPr>
          <a:xfrm>
            <a:off x="749808" y="4069080"/>
            <a:ext cx="3200400" cy="173736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The same place is seen from directly above one night and obliquely the next. Tall buildings, trees and slopes block or reveal light differently, so daily radiance fluctuates for purely geometric reasons.</a:t>
            </a:r>
            <a:endParaRPr lang="en-US" sz="1250" dirty="0"/>
          </a:p>
        </p:txBody>
      </p:sp>
      <p:sp>
        <p:nvSpPr>
          <p:cNvPr id="29" name="Shape 25"/>
          <p:cNvSpPr/>
          <p:nvPr/>
        </p:nvSpPr>
        <p:spPr>
          <a:xfrm>
            <a:off x="4297680" y="3154680"/>
            <a:ext cx="3593592" cy="2697480"/>
          </a:xfrm>
          <a:prstGeom prst="roundRect">
            <a:avLst>
              <a:gd name="adj" fmla="val 2712"/>
            </a:avLst>
          </a:prstGeom>
          <a:solidFill>
            <a:srgbClr val="F4F7F5"/>
          </a:solidFill>
          <a:ln w="9525">
            <a:solidFill>
              <a:srgbClr val="D5DED9"/>
            </a:solidFill>
            <a:prstDash val="solid"/>
          </a:ln>
        </p:spPr>
      </p:sp>
      <p:sp>
        <p:nvSpPr>
          <p:cNvPr id="30" name="Shape 26"/>
          <p:cNvSpPr/>
          <p:nvPr/>
        </p:nvSpPr>
        <p:spPr>
          <a:xfrm>
            <a:off x="4498848" y="3355848"/>
            <a:ext cx="548640" cy="548640"/>
          </a:xfrm>
          <a:prstGeom prst="ellipse">
            <a:avLst/>
          </a:prstGeom>
          <a:solidFill>
            <a:srgbClr val="00704A"/>
          </a:solidFill>
          <a:ln w="12700">
            <a:solidFill>
              <a:srgbClr val="00704A"/>
            </a:solidFill>
            <a:prstDash val="solid"/>
          </a:ln>
        </p:spPr>
      </p:sp>
      <p:pic>
        <p:nvPicPr>
          <p:cNvPr id="31" name="Image 2" descr="preencoded.png"/>
          <p:cNvPicPr>
            <a:picLocks noChangeAspect="1"/>
          </p:cNvPicPr>
          <p:nvPr/>
        </p:nvPicPr>
        <p:blipFill>
          <a:blip r:embed="rId5"/>
          <a:stretch>
            <a:fillRect/>
          </a:stretch>
        </p:blipFill>
        <p:spPr>
          <a:xfrm>
            <a:off x="4641494" y="3498494"/>
            <a:ext cx="263347" cy="263347"/>
          </a:xfrm>
          <a:prstGeom prst="rect">
            <a:avLst/>
          </a:prstGeom>
        </p:spPr>
      </p:pic>
      <p:sp>
        <p:nvSpPr>
          <p:cNvPr id="32" name="Text 27"/>
          <p:cNvSpPr txBox="1"/>
          <p:nvPr/>
        </p:nvSpPr>
        <p:spPr>
          <a:xfrm>
            <a:off x="5166360" y="3355848"/>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The Moon changes the scene</a:t>
            </a:r>
            <a:endParaRPr lang="en-US" sz="1350" dirty="0"/>
          </a:p>
        </p:txBody>
      </p:sp>
      <p:sp>
        <p:nvSpPr>
          <p:cNvPr id="33" name="Text 28"/>
          <p:cNvSpPr txBox="1"/>
          <p:nvPr/>
        </p:nvSpPr>
        <p:spPr>
          <a:xfrm>
            <a:off x="4498848" y="4069080"/>
            <a:ext cx="3200400" cy="173736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Moonlight reflected from bright surfaces (sand, salt pans, cloud tops) adds radiance that must be modelled out — the lunar cycle leaves a ≈ 29.5-day rhythm in uncorrected data.</a:t>
            </a:r>
            <a:endParaRPr lang="en-US" sz="1250" dirty="0"/>
          </a:p>
        </p:txBody>
      </p:sp>
      <p:sp>
        <p:nvSpPr>
          <p:cNvPr id="34" name="Shape 29"/>
          <p:cNvSpPr/>
          <p:nvPr/>
        </p:nvSpPr>
        <p:spPr>
          <a:xfrm>
            <a:off x="8046720" y="3154680"/>
            <a:ext cx="3593592" cy="2697480"/>
          </a:xfrm>
          <a:prstGeom prst="roundRect">
            <a:avLst>
              <a:gd name="adj" fmla="val 2712"/>
            </a:avLst>
          </a:prstGeom>
          <a:solidFill>
            <a:srgbClr val="F4F7F5"/>
          </a:solidFill>
          <a:ln w="9525">
            <a:solidFill>
              <a:srgbClr val="D5DED9"/>
            </a:solidFill>
            <a:prstDash val="solid"/>
          </a:ln>
        </p:spPr>
      </p:sp>
      <p:sp>
        <p:nvSpPr>
          <p:cNvPr id="35" name="Shape 30"/>
          <p:cNvSpPr/>
          <p:nvPr/>
        </p:nvSpPr>
        <p:spPr>
          <a:xfrm>
            <a:off x="8247888" y="3355848"/>
            <a:ext cx="548640" cy="548640"/>
          </a:xfrm>
          <a:prstGeom prst="ellipse">
            <a:avLst/>
          </a:prstGeom>
          <a:solidFill>
            <a:srgbClr val="00704A"/>
          </a:solidFill>
          <a:ln w="12700">
            <a:solidFill>
              <a:srgbClr val="00704A"/>
            </a:solidFill>
            <a:prstDash val="solid"/>
          </a:ln>
        </p:spPr>
      </p:sp>
      <p:pic>
        <p:nvPicPr>
          <p:cNvPr id="36" name="Image 3" descr="preencoded.png"/>
          <p:cNvPicPr>
            <a:picLocks noChangeAspect="1"/>
          </p:cNvPicPr>
          <p:nvPr/>
        </p:nvPicPr>
        <p:blipFill>
          <a:blip r:embed="rId6"/>
          <a:stretch>
            <a:fillRect/>
          </a:stretch>
        </p:blipFill>
        <p:spPr>
          <a:xfrm>
            <a:off x="8390534" y="3498494"/>
            <a:ext cx="263347" cy="263347"/>
          </a:xfrm>
          <a:prstGeom prst="rect">
            <a:avLst/>
          </a:prstGeom>
        </p:spPr>
      </p:pic>
      <p:sp>
        <p:nvSpPr>
          <p:cNvPr id="37" name="Text 31"/>
          <p:cNvSpPr txBox="1"/>
          <p:nvPr/>
        </p:nvSpPr>
        <p:spPr>
          <a:xfrm>
            <a:off x="8915400" y="3355848"/>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Aggregate before you interpret</a:t>
            </a:r>
            <a:endParaRPr lang="en-US" sz="1350" dirty="0"/>
          </a:p>
        </p:txBody>
      </p:sp>
      <p:sp>
        <p:nvSpPr>
          <p:cNvPr id="38" name="Text 32"/>
          <p:cNvSpPr txBox="1"/>
          <p:nvPr/>
        </p:nvSpPr>
        <p:spPr>
          <a:xfrm>
            <a:off x="8247888" y="4069080"/>
            <a:ext cx="3200400" cy="173736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Composites average many view angles and lunar phases. Use daily data only when the question needs it, and smooth it (7-day or monthly) before reading a trend.</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02 · THE INSTRUMENTS · SENSOR DISCONTINUITY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Bridging the sensors: building a long series honestly</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18</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Li, X. et al. (2020) Scientific Data 7; Chen, Z. et al. (2021) Earth System Science Data 13; Elvidge, C. D. et al. (2021) Remote Sensing 13(5).</a:t>
            </a:r>
            <a:endParaRPr lang="en-US" sz="850" dirty="0"/>
          </a:p>
        </p:txBody>
      </p:sp>
      <p:sp>
        <p:nvSpPr>
          <p:cNvPr id="13" name="Text 10"/>
          <p:cNvSpPr txBox="1"/>
          <p:nvPr/>
        </p:nvSpPr>
        <p:spPr>
          <a:xfrm>
            <a:off x="548640" y="1508760"/>
            <a:ext cx="914400" cy="365760"/>
          </a:xfrm>
          <a:prstGeom prst="rect">
            <a:avLst/>
          </a:prstGeom>
          <a:noFill/>
          <a:ln/>
        </p:spPr>
        <p:txBody>
          <a:bodyPr wrap="square" lIns="0" tIns="0" rIns="0" bIns="0" rtlCol="0" anchor="ctr"/>
          <a:lstStyle/>
          <a:p>
            <a:pPr marL="0" indent="0">
              <a:buNone/>
            </a:pPr>
            <a:r>
              <a:rPr lang="en-US" sz="1100" b="1" dirty="0">
                <a:solidFill>
                  <a:srgbClr val="5E6964"/>
                </a:solidFill>
                <a:latin typeface="Calibri" pitchFamily="34" charset="0"/>
                <a:ea typeface="Calibri" pitchFamily="34" charset="-122"/>
                <a:cs typeface="Calibri" pitchFamily="34" charset="-120"/>
              </a:rPr>
              <a:t>DMSP-OLS</a:t>
            </a:r>
            <a:endParaRPr lang="en-US" sz="1100" dirty="0"/>
          </a:p>
        </p:txBody>
      </p:sp>
      <p:sp>
        <p:nvSpPr>
          <p:cNvPr id="14" name="Shape 11"/>
          <p:cNvSpPr/>
          <p:nvPr/>
        </p:nvSpPr>
        <p:spPr>
          <a:xfrm>
            <a:off x="1463040" y="1508760"/>
            <a:ext cx="6283914" cy="365760"/>
          </a:xfrm>
          <a:prstGeom prst="rect">
            <a:avLst/>
          </a:prstGeom>
          <a:solidFill>
            <a:srgbClr val="8A9590"/>
          </a:solidFill>
          <a:ln w="6350">
            <a:solidFill>
              <a:srgbClr val="8A9590"/>
            </a:solidFill>
            <a:prstDash val="solid"/>
          </a:ln>
        </p:spPr>
      </p:sp>
      <p:sp>
        <p:nvSpPr>
          <p:cNvPr id="15" name="Text 12"/>
          <p:cNvSpPr txBox="1"/>
          <p:nvPr/>
        </p:nvSpPr>
        <p:spPr>
          <a:xfrm>
            <a:off x="1554480" y="1508760"/>
            <a:ext cx="45720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1992 – 2013  ·  digital numbers 0–63</a:t>
            </a:r>
            <a:endParaRPr lang="en-US" sz="1100" dirty="0"/>
          </a:p>
        </p:txBody>
      </p:sp>
      <p:sp>
        <p:nvSpPr>
          <p:cNvPr id="16" name="Text 13"/>
          <p:cNvSpPr txBox="1"/>
          <p:nvPr/>
        </p:nvSpPr>
        <p:spPr>
          <a:xfrm>
            <a:off x="548640" y="2011680"/>
            <a:ext cx="914400" cy="365760"/>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VIIRS</a:t>
            </a:r>
            <a:endParaRPr lang="en-US" sz="1100" dirty="0"/>
          </a:p>
        </p:txBody>
      </p:sp>
      <p:sp>
        <p:nvSpPr>
          <p:cNvPr id="17" name="Shape 14"/>
          <p:cNvSpPr/>
          <p:nvPr/>
        </p:nvSpPr>
        <p:spPr>
          <a:xfrm>
            <a:off x="7175689" y="2011680"/>
            <a:ext cx="4255923" cy="365760"/>
          </a:xfrm>
          <a:prstGeom prst="rect">
            <a:avLst/>
          </a:prstGeom>
          <a:solidFill>
            <a:srgbClr val="00704A"/>
          </a:solidFill>
          <a:ln w="6350">
            <a:solidFill>
              <a:srgbClr val="00704A"/>
            </a:solidFill>
            <a:prstDash val="solid"/>
          </a:ln>
        </p:spPr>
      </p:sp>
      <p:sp>
        <p:nvSpPr>
          <p:cNvPr id="18" name="Text 15"/>
          <p:cNvSpPr txBox="1"/>
          <p:nvPr/>
        </p:nvSpPr>
        <p:spPr>
          <a:xfrm>
            <a:off x="7267129" y="201168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2012 – present  ·  radiance</a:t>
            </a:r>
            <a:endParaRPr lang="en-US" sz="1100" dirty="0"/>
          </a:p>
        </p:txBody>
      </p:sp>
      <p:sp>
        <p:nvSpPr>
          <p:cNvPr id="19" name="Shape 16"/>
          <p:cNvSpPr/>
          <p:nvPr/>
        </p:nvSpPr>
        <p:spPr>
          <a:xfrm>
            <a:off x="7175689" y="1399032"/>
            <a:ext cx="571265" cy="1088136"/>
          </a:xfrm>
          <a:prstGeom prst="rect">
            <a:avLst/>
          </a:prstGeom>
          <a:solidFill>
            <a:srgbClr val="F5C242">
              <a:alpha val="35000"/>
            </a:srgbClr>
          </a:solidFill>
          <a:ln w="15875">
            <a:solidFill>
              <a:srgbClr val="F5C242"/>
            </a:solidFill>
            <a:prstDash val="dash"/>
          </a:ln>
        </p:spPr>
      </p:sp>
      <p:sp>
        <p:nvSpPr>
          <p:cNvPr id="20" name="Text 17"/>
          <p:cNvSpPr txBox="1"/>
          <p:nvPr/>
        </p:nvSpPr>
        <p:spPr>
          <a:xfrm>
            <a:off x="6078409" y="2514600"/>
            <a:ext cx="2743200" cy="274320"/>
          </a:xfrm>
          <a:prstGeom prst="rect">
            <a:avLst/>
          </a:prstGeom>
          <a:noFill/>
          <a:ln/>
        </p:spPr>
        <p:txBody>
          <a:bodyPr wrap="square" lIns="0" tIns="0" rIns="0" bIns="0" rtlCol="0" anchor="t"/>
          <a:lstStyle/>
          <a:p>
            <a:pPr marL="0" indent="0" algn="ctr">
              <a:buNone/>
            </a:pPr>
            <a:r>
              <a:rPr lang="en-US" sz="1050" b="1" dirty="0">
                <a:solidFill>
                  <a:srgbClr val="A87700"/>
                </a:solidFill>
                <a:latin typeface="Calibri" pitchFamily="34" charset="0"/>
                <a:ea typeface="Calibri" pitchFamily="34" charset="-122"/>
                <a:cs typeface="Calibri" pitchFamily="34" charset="-120"/>
              </a:rPr>
              <a:t>Overlap: only 2012–2013</a:t>
            </a:r>
            <a:endParaRPr lang="en-US" sz="1050" dirty="0"/>
          </a:p>
        </p:txBody>
      </p:sp>
      <p:sp>
        <p:nvSpPr>
          <p:cNvPr id="21" name="Text 18"/>
          <p:cNvSpPr txBox="1"/>
          <p:nvPr/>
        </p:nvSpPr>
        <p:spPr>
          <a:xfrm>
            <a:off x="1188720" y="2807208"/>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1992</a:t>
            </a:r>
            <a:endParaRPr lang="en-US" sz="900" dirty="0"/>
          </a:p>
        </p:txBody>
      </p:sp>
      <p:sp>
        <p:nvSpPr>
          <p:cNvPr id="22" name="Text 19"/>
          <p:cNvSpPr txBox="1"/>
          <p:nvPr/>
        </p:nvSpPr>
        <p:spPr>
          <a:xfrm>
            <a:off x="3473779" y="2807208"/>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2000</a:t>
            </a:r>
            <a:endParaRPr lang="en-US" sz="900" dirty="0"/>
          </a:p>
        </p:txBody>
      </p:sp>
      <p:sp>
        <p:nvSpPr>
          <p:cNvPr id="23" name="Text 20"/>
          <p:cNvSpPr txBox="1"/>
          <p:nvPr/>
        </p:nvSpPr>
        <p:spPr>
          <a:xfrm>
            <a:off x="5758839" y="2807208"/>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2008</a:t>
            </a:r>
            <a:endParaRPr lang="en-US" sz="900" dirty="0"/>
          </a:p>
        </p:txBody>
      </p:sp>
      <p:sp>
        <p:nvSpPr>
          <p:cNvPr id="24" name="Text 21"/>
          <p:cNvSpPr txBox="1"/>
          <p:nvPr/>
        </p:nvSpPr>
        <p:spPr>
          <a:xfrm>
            <a:off x="8043898" y="2807208"/>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2016</a:t>
            </a:r>
            <a:endParaRPr lang="en-US" sz="900" dirty="0"/>
          </a:p>
        </p:txBody>
      </p:sp>
      <p:sp>
        <p:nvSpPr>
          <p:cNvPr id="25" name="Text 22"/>
          <p:cNvSpPr txBox="1"/>
          <p:nvPr/>
        </p:nvSpPr>
        <p:spPr>
          <a:xfrm>
            <a:off x="10328958" y="2807208"/>
            <a:ext cx="548640" cy="20116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2024</a:t>
            </a:r>
            <a:endParaRPr lang="en-US" sz="900" dirty="0"/>
          </a:p>
        </p:txBody>
      </p:sp>
      <p:sp>
        <p:nvSpPr>
          <p:cNvPr id="26" name="Shape 23"/>
          <p:cNvSpPr/>
          <p:nvPr/>
        </p:nvSpPr>
        <p:spPr>
          <a:xfrm>
            <a:off x="548640" y="3154680"/>
            <a:ext cx="3593592" cy="2514600"/>
          </a:xfrm>
          <a:prstGeom prst="roundRect">
            <a:avLst>
              <a:gd name="adj" fmla="val 2909"/>
            </a:avLst>
          </a:prstGeom>
          <a:solidFill>
            <a:srgbClr val="F4F7F5"/>
          </a:solidFill>
          <a:ln w="9525">
            <a:solidFill>
              <a:srgbClr val="D5DED9"/>
            </a:solidFill>
            <a:prstDash val="solid"/>
          </a:ln>
        </p:spPr>
      </p:sp>
      <p:sp>
        <p:nvSpPr>
          <p:cNvPr id="27" name="Shape 24"/>
          <p:cNvSpPr/>
          <p:nvPr/>
        </p:nvSpPr>
        <p:spPr>
          <a:xfrm>
            <a:off x="731520" y="3337560"/>
            <a:ext cx="457200" cy="457200"/>
          </a:xfrm>
          <a:prstGeom prst="ellipse">
            <a:avLst/>
          </a:prstGeom>
          <a:solidFill>
            <a:srgbClr val="00704A"/>
          </a:solidFill>
          <a:ln w="12700">
            <a:solidFill>
              <a:srgbClr val="00704A"/>
            </a:solidFill>
            <a:prstDash val="solid"/>
          </a:ln>
        </p:spPr>
      </p:sp>
      <p:sp>
        <p:nvSpPr>
          <p:cNvPr id="28" name="Text 25"/>
          <p:cNvSpPr txBox="1"/>
          <p:nvPr/>
        </p:nvSpPr>
        <p:spPr>
          <a:xfrm>
            <a:off x="731520" y="33375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9" name="Text 26"/>
          <p:cNvSpPr txBox="1"/>
          <p:nvPr/>
        </p:nvSpPr>
        <p:spPr>
          <a:xfrm>
            <a:off x="1325880" y="3337560"/>
            <a:ext cx="2697480" cy="45720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VIIRS only (2012 →)</a:t>
            </a:r>
            <a:endParaRPr lang="en-US" sz="1350" dirty="0"/>
          </a:p>
        </p:txBody>
      </p:sp>
      <p:sp>
        <p:nvSpPr>
          <p:cNvPr id="30" name="Text 27"/>
          <p:cNvSpPr txBox="1"/>
          <p:nvPr/>
        </p:nvSpPr>
        <p:spPr>
          <a:xfrm>
            <a:off x="749808" y="3931920"/>
            <a:ext cx="3200400" cy="12344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Cleanest choice for most macro questions: calibrated, consistent, monthly. Accept a shorter history.</a:t>
            </a:r>
            <a:endParaRPr lang="en-US" sz="1250" dirty="0"/>
          </a:p>
        </p:txBody>
      </p:sp>
      <p:sp>
        <p:nvSpPr>
          <p:cNvPr id="31" name="Text 28"/>
          <p:cNvSpPr txBox="1"/>
          <p:nvPr/>
        </p:nvSpPr>
        <p:spPr>
          <a:xfrm>
            <a:off x="749808" y="5212080"/>
            <a:ext cx="3200400" cy="274320"/>
          </a:xfrm>
          <a:prstGeom prst="rect">
            <a:avLst/>
          </a:prstGeom>
          <a:noFill/>
          <a:ln/>
        </p:spPr>
        <p:txBody>
          <a:bodyPr wrap="square" lIns="0" tIns="0" rIns="0" bIns="0" rtlCol="0" anchor="t"/>
          <a:lstStyle/>
          <a:p>
            <a:pPr marL="0" indent="0">
              <a:buNone/>
            </a:pPr>
            <a:r>
              <a:rPr lang="en-US" sz="1050" b="1" i="1" dirty="0">
                <a:solidFill>
                  <a:srgbClr val="00704A"/>
                </a:solidFill>
                <a:latin typeface="Calibri" pitchFamily="34" charset="0"/>
                <a:ea typeface="Calibri" pitchFamily="34" charset="-122"/>
                <a:cs typeface="Calibri" pitchFamily="34" charset="-120"/>
              </a:rPr>
              <a:t>Recommended default</a:t>
            </a:r>
            <a:endParaRPr lang="en-US" sz="1050" dirty="0"/>
          </a:p>
        </p:txBody>
      </p:sp>
      <p:sp>
        <p:nvSpPr>
          <p:cNvPr id="32" name="Shape 29"/>
          <p:cNvSpPr/>
          <p:nvPr/>
        </p:nvSpPr>
        <p:spPr>
          <a:xfrm>
            <a:off x="4297680" y="3154680"/>
            <a:ext cx="3593592" cy="2514600"/>
          </a:xfrm>
          <a:prstGeom prst="roundRect">
            <a:avLst>
              <a:gd name="adj" fmla="val 2909"/>
            </a:avLst>
          </a:prstGeom>
          <a:solidFill>
            <a:srgbClr val="F4F7F5"/>
          </a:solidFill>
          <a:ln w="9525">
            <a:solidFill>
              <a:srgbClr val="D5DED9"/>
            </a:solidFill>
            <a:prstDash val="solid"/>
          </a:ln>
        </p:spPr>
      </p:sp>
      <p:sp>
        <p:nvSpPr>
          <p:cNvPr id="33" name="Shape 30"/>
          <p:cNvSpPr/>
          <p:nvPr/>
        </p:nvSpPr>
        <p:spPr>
          <a:xfrm>
            <a:off x="4480560" y="3337560"/>
            <a:ext cx="457200" cy="457200"/>
          </a:xfrm>
          <a:prstGeom prst="ellipse">
            <a:avLst/>
          </a:prstGeom>
          <a:solidFill>
            <a:srgbClr val="00A86A"/>
          </a:solidFill>
          <a:ln w="12700">
            <a:solidFill>
              <a:srgbClr val="00A86A"/>
            </a:solidFill>
            <a:prstDash val="solid"/>
          </a:ln>
        </p:spPr>
      </p:sp>
      <p:sp>
        <p:nvSpPr>
          <p:cNvPr id="34" name="Text 31"/>
          <p:cNvSpPr txBox="1"/>
          <p:nvPr/>
        </p:nvSpPr>
        <p:spPr>
          <a:xfrm>
            <a:off x="4480560" y="33375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5" name="Text 32"/>
          <p:cNvSpPr txBox="1"/>
          <p:nvPr/>
        </p:nvSpPr>
        <p:spPr>
          <a:xfrm>
            <a:off x="5074920" y="3337560"/>
            <a:ext cx="2697480" cy="45720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A published harmonised product</a:t>
            </a:r>
            <a:endParaRPr lang="en-US" sz="1350" dirty="0"/>
          </a:p>
        </p:txBody>
      </p:sp>
      <p:sp>
        <p:nvSpPr>
          <p:cNvPr id="36" name="Text 33"/>
          <p:cNvSpPr txBox="1"/>
          <p:nvPr/>
        </p:nvSpPr>
        <p:spPr>
          <a:xfrm>
            <a:off x="4498848" y="3931920"/>
            <a:ext cx="3200400" cy="12344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e.g. Li et al. (2020) DMSP-like series 1992–2018; Chen et al. (2021) VIIRS-like series 2000–2018. These are model outputs — cite them as estimates.</a:t>
            </a:r>
            <a:endParaRPr lang="en-US" sz="1250" dirty="0"/>
          </a:p>
        </p:txBody>
      </p:sp>
      <p:sp>
        <p:nvSpPr>
          <p:cNvPr id="37" name="Text 34"/>
          <p:cNvSpPr txBox="1"/>
          <p:nvPr/>
        </p:nvSpPr>
        <p:spPr>
          <a:xfrm>
            <a:off x="4498848" y="5212080"/>
            <a:ext cx="3200400" cy="274320"/>
          </a:xfrm>
          <a:prstGeom prst="rect">
            <a:avLst/>
          </a:prstGeom>
          <a:noFill/>
          <a:ln/>
        </p:spPr>
        <p:txBody>
          <a:bodyPr wrap="square" lIns="0" tIns="0" rIns="0" bIns="0" rtlCol="0" anchor="t"/>
          <a:lstStyle/>
          <a:p>
            <a:pPr marL="0" indent="0">
              <a:buNone/>
            </a:pPr>
            <a:r>
              <a:rPr lang="en-US" sz="1050" b="1" i="1" dirty="0">
                <a:solidFill>
                  <a:srgbClr val="00A86A"/>
                </a:solidFill>
                <a:latin typeface="Calibri" pitchFamily="34" charset="0"/>
                <a:ea typeface="Calibri" pitchFamily="34" charset="-122"/>
                <a:cs typeface="Calibri" pitchFamily="34" charset="-120"/>
              </a:rPr>
              <a:t>For long-run questions</a:t>
            </a:r>
            <a:endParaRPr lang="en-US" sz="1050" dirty="0"/>
          </a:p>
        </p:txBody>
      </p:sp>
      <p:sp>
        <p:nvSpPr>
          <p:cNvPr id="38" name="Shape 35"/>
          <p:cNvSpPr/>
          <p:nvPr/>
        </p:nvSpPr>
        <p:spPr>
          <a:xfrm>
            <a:off x="8046720" y="3154680"/>
            <a:ext cx="3593592" cy="2514600"/>
          </a:xfrm>
          <a:prstGeom prst="roundRect">
            <a:avLst>
              <a:gd name="adj" fmla="val 2909"/>
            </a:avLst>
          </a:prstGeom>
          <a:solidFill>
            <a:srgbClr val="F4F7F5"/>
          </a:solidFill>
          <a:ln w="9525">
            <a:solidFill>
              <a:srgbClr val="D5DED9"/>
            </a:solidFill>
            <a:prstDash val="solid"/>
          </a:ln>
        </p:spPr>
      </p:sp>
      <p:sp>
        <p:nvSpPr>
          <p:cNvPr id="39" name="Shape 36"/>
          <p:cNvSpPr/>
          <p:nvPr/>
        </p:nvSpPr>
        <p:spPr>
          <a:xfrm>
            <a:off x="8229600" y="3337560"/>
            <a:ext cx="457200" cy="457200"/>
          </a:xfrm>
          <a:prstGeom prst="ellipse">
            <a:avLst/>
          </a:prstGeom>
          <a:solidFill>
            <a:srgbClr val="A87700"/>
          </a:solidFill>
          <a:ln w="12700">
            <a:solidFill>
              <a:srgbClr val="A87700"/>
            </a:solidFill>
            <a:prstDash val="solid"/>
          </a:ln>
        </p:spPr>
      </p:sp>
      <p:sp>
        <p:nvSpPr>
          <p:cNvPr id="40" name="Text 37"/>
          <p:cNvSpPr txBox="1"/>
          <p:nvPr/>
        </p:nvSpPr>
        <p:spPr>
          <a:xfrm>
            <a:off x="8229600" y="33375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1" name="Text 38"/>
          <p:cNvSpPr txBox="1"/>
          <p:nvPr/>
        </p:nvSpPr>
        <p:spPr>
          <a:xfrm>
            <a:off x="8823960" y="3337560"/>
            <a:ext cx="2697480" cy="45720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Splice growth rates yourself</a:t>
            </a:r>
            <a:endParaRPr lang="en-US" sz="1350" dirty="0"/>
          </a:p>
        </p:txBody>
      </p:sp>
      <p:sp>
        <p:nvSpPr>
          <p:cNvPr id="42" name="Text 39"/>
          <p:cNvSpPr txBox="1"/>
          <p:nvPr/>
        </p:nvSpPr>
        <p:spPr>
          <a:xfrm>
            <a:off x="8247888" y="3931920"/>
            <a:ext cx="3200400" cy="12344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Use DMSP growth before 2013 and VIIRS growth after, linked at the overlap. Document the method and test it against an alternative.</a:t>
            </a:r>
            <a:endParaRPr lang="en-US" sz="1250" dirty="0"/>
          </a:p>
        </p:txBody>
      </p:sp>
      <p:sp>
        <p:nvSpPr>
          <p:cNvPr id="43" name="Text 40"/>
          <p:cNvSpPr txBox="1"/>
          <p:nvPr/>
        </p:nvSpPr>
        <p:spPr>
          <a:xfrm>
            <a:off x="8247888" y="5212080"/>
            <a:ext cx="3200400" cy="274320"/>
          </a:xfrm>
          <a:prstGeom prst="rect">
            <a:avLst/>
          </a:prstGeom>
          <a:noFill/>
          <a:ln/>
        </p:spPr>
        <p:txBody>
          <a:bodyPr wrap="square" lIns="0" tIns="0" rIns="0" bIns="0" rtlCol="0" anchor="t"/>
          <a:lstStyle/>
          <a:p>
            <a:pPr marL="0" indent="0">
              <a:buNone/>
            </a:pPr>
            <a:r>
              <a:rPr lang="en-US" sz="1050" b="1" i="1" dirty="0">
                <a:solidFill>
                  <a:srgbClr val="A87700"/>
                </a:solidFill>
                <a:latin typeface="Calibri" pitchFamily="34" charset="0"/>
                <a:ea typeface="Calibri" pitchFamily="34" charset="-122"/>
                <a:cs typeface="Calibri" pitchFamily="34" charset="-120"/>
              </a:rPr>
              <a:t>Only with documentation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Nile valley and delta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SECTION 3</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From photons to data</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How does a night of observations become a number you can publish?</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Processing  ·  Products  ·  Access routes  ·  What glows  ·  Artefacts  ·  Indicators  ·  Example</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SESSION A  ·  ≈ 6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METHOD</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How a night-lights image is manufactured</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20</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Sources: Román et al. (2018); NASA LAADS DAAC VNP46A2 collection 2 product page.</a:t>
            </a:r>
            <a:endParaRPr lang="en-US" sz="850" dirty="0"/>
          </a:p>
        </p:txBody>
      </p:sp>
      <p:sp>
        <p:nvSpPr>
          <p:cNvPr id="13" name="Shape 10"/>
          <p:cNvSpPr/>
          <p:nvPr/>
        </p:nvSpPr>
        <p:spPr>
          <a:xfrm>
            <a:off x="548640" y="1371600"/>
            <a:ext cx="2103120" cy="2514600"/>
          </a:xfrm>
          <a:prstGeom prst="roundRect">
            <a:avLst>
              <a:gd name="adj" fmla="val 3478"/>
            </a:avLst>
          </a:prstGeom>
          <a:solidFill>
            <a:srgbClr val="F4F7F5"/>
          </a:solidFill>
          <a:ln w="9525">
            <a:solidFill>
              <a:srgbClr val="D5DED9"/>
            </a:solidFill>
            <a:prstDash val="solid"/>
          </a:ln>
        </p:spPr>
      </p:sp>
      <p:sp>
        <p:nvSpPr>
          <p:cNvPr id="14" name="Shape 11"/>
          <p:cNvSpPr/>
          <p:nvPr/>
        </p:nvSpPr>
        <p:spPr>
          <a:xfrm>
            <a:off x="713232" y="1536192"/>
            <a:ext cx="384048" cy="384048"/>
          </a:xfrm>
          <a:prstGeom prst="ellipse">
            <a:avLst/>
          </a:prstGeom>
          <a:solidFill>
            <a:srgbClr val="00704A"/>
          </a:solidFill>
          <a:ln w="12700">
            <a:solidFill>
              <a:srgbClr val="00704A"/>
            </a:solidFill>
            <a:prstDash val="solid"/>
          </a:ln>
        </p:spPr>
      </p:sp>
      <p:sp>
        <p:nvSpPr>
          <p:cNvPr id="15" name="Text 12"/>
          <p:cNvSpPr txBox="1"/>
          <p:nvPr/>
        </p:nvSpPr>
        <p:spPr>
          <a:xfrm>
            <a:off x="713232" y="1536192"/>
            <a:ext cx="384048" cy="384048"/>
          </a:xfrm>
          <a:prstGeom prst="rect">
            <a:avLst/>
          </a:prstGeom>
          <a:noFill/>
          <a:ln/>
        </p:spPr>
        <p:txBody>
          <a:bodyPr wrap="square" lIns="0" tIns="0" rIns="0" bIns="0" rtlCol="0" anchor="ctr"/>
          <a:lstStyle/>
          <a:p>
            <a:pPr marL="0" indent="0" algn="ctr">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16" name="Shape 13"/>
          <p:cNvSpPr/>
          <p:nvPr/>
        </p:nvSpPr>
        <p:spPr>
          <a:xfrm>
            <a:off x="1234440" y="1874520"/>
            <a:ext cx="731520" cy="731520"/>
          </a:xfrm>
          <a:prstGeom prst="ellipse">
            <a:avLst/>
          </a:prstGeom>
          <a:solidFill>
            <a:srgbClr val="E8F5EF"/>
          </a:solidFill>
          <a:ln w="12700">
            <a:solidFill>
              <a:srgbClr val="E8F5EF"/>
            </a:solidFill>
            <a:prstDash val="solid"/>
          </a:ln>
        </p:spPr>
      </p:sp>
      <p:pic>
        <p:nvPicPr>
          <p:cNvPr id="17" name="Image 1" descr="preencoded.png"/>
          <p:cNvPicPr>
            <a:picLocks noChangeAspect="1"/>
          </p:cNvPicPr>
          <p:nvPr/>
        </p:nvPicPr>
        <p:blipFill>
          <a:blip r:embed="rId4"/>
          <a:stretch>
            <a:fillRect/>
          </a:stretch>
        </p:blipFill>
        <p:spPr>
          <a:xfrm>
            <a:off x="1424635" y="2064715"/>
            <a:ext cx="351130" cy="351130"/>
          </a:xfrm>
          <a:prstGeom prst="rect">
            <a:avLst/>
          </a:prstGeom>
        </p:spPr>
      </p:pic>
      <p:sp>
        <p:nvSpPr>
          <p:cNvPr id="18" name="Text 14"/>
          <p:cNvSpPr txBox="1"/>
          <p:nvPr/>
        </p:nvSpPr>
        <p:spPr>
          <a:xfrm>
            <a:off x="685800" y="2697480"/>
            <a:ext cx="1828800" cy="320040"/>
          </a:xfrm>
          <a:prstGeom prst="rect">
            <a:avLst/>
          </a:prstGeom>
          <a:noFill/>
          <a:ln/>
        </p:spPr>
        <p:txBody>
          <a:bodyPr wrap="square" lIns="0" tIns="0" rIns="0" bIns="0" rtlCol="0" anchor="t"/>
          <a:lstStyle/>
          <a:p>
            <a:pPr marL="0" indent="0" algn="ctr">
              <a:buNone/>
            </a:pPr>
            <a:r>
              <a:rPr lang="en-US" sz="1350" b="1" dirty="0">
                <a:solidFill>
                  <a:srgbClr val="00704A"/>
                </a:solidFill>
                <a:latin typeface="Calibri" pitchFamily="34" charset="0"/>
                <a:ea typeface="Calibri" pitchFamily="34" charset="-122"/>
                <a:cs typeface="Calibri" pitchFamily="34" charset="-120"/>
              </a:rPr>
              <a:t>Screen for cloud</a:t>
            </a:r>
            <a:endParaRPr lang="en-US" sz="1350" dirty="0"/>
          </a:p>
        </p:txBody>
      </p:sp>
      <p:sp>
        <p:nvSpPr>
          <p:cNvPr id="19" name="Text 15"/>
          <p:cNvSpPr txBox="1"/>
          <p:nvPr/>
        </p:nvSpPr>
        <p:spPr>
          <a:xfrm>
            <a:off x="713232" y="3063240"/>
            <a:ext cx="1773936" cy="77724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Only nights flagged cloud-free enter a composite. In the wet tropics most nights may be discarded.</a:t>
            </a:r>
            <a:endParaRPr lang="en-US" sz="1100" dirty="0"/>
          </a:p>
        </p:txBody>
      </p:sp>
      <p:sp>
        <p:nvSpPr>
          <p:cNvPr id="20" name="Shape 16"/>
          <p:cNvSpPr/>
          <p:nvPr/>
        </p:nvSpPr>
        <p:spPr>
          <a:xfrm>
            <a:off x="2793492" y="1371600"/>
            <a:ext cx="2103120" cy="2514600"/>
          </a:xfrm>
          <a:prstGeom prst="roundRect">
            <a:avLst>
              <a:gd name="adj" fmla="val 3478"/>
            </a:avLst>
          </a:prstGeom>
          <a:solidFill>
            <a:srgbClr val="F4F7F5"/>
          </a:solidFill>
          <a:ln w="9525">
            <a:solidFill>
              <a:srgbClr val="D5DED9"/>
            </a:solidFill>
            <a:prstDash val="solid"/>
          </a:ln>
        </p:spPr>
      </p:sp>
      <p:sp>
        <p:nvSpPr>
          <p:cNvPr id="21" name="Shape 17"/>
          <p:cNvSpPr/>
          <p:nvPr/>
        </p:nvSpPr>
        <p:spPr>
          <a:xfrm>
            <a:off x="2958084" y="1536192"/>
            <a:ext cx="384048" cy="384048"/>
          </a:xfrm>
          <a:prstGeom prst="ellipse">
            <a:avLst/>
          </a:prstGeom>
          <a:solidFill>
            <a:srgbClr val="00704A"/>
          </a:solidFill>
          <a:ln w="12700">
            <a:solidFill>
              <a:srgbClr val="00704A"/>
            </a:solidFill>
            <a:prstDash val="solid"/>
          </a:ln>
        </p:spPr>
      </p:sp>
      <p:sp>
        <p:nvSpPr>
          <p:cNvPr id="22" name="Text 18"/>
          <p:cNvSpPr txBox="1"/>
          <p:nvPr/>
        </p:nvSpPr>
        <p:spPr>
          <a:xfrm>
            <a:off x="2958084" y="1536192"/>
            <a:ext cx="384048" cy="384048"/>
          </a:xfrm>
          <a:prstGeom prst="rect">
            <a:avLst/>
          </a:prstGeom>
          <a:noFill/>
          <a:ln/>
        </p:spPr>
        <p:txBody>
          <a:bodyPr wrap="square" lIns="0" tIns="0" rIns="0" bIns="0" rtlCol="0" anchor="ctr"/>
          <a:lstStyle/>
          <a:p>
            <a:pPr marL="0" indent="0" algn="ctr">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23" name="Shape 19"/>
          <p:cNvSpPr/>
          <p:nvPr/>
        </p:nvSpPr>
        <p:spPr>
          <a:xfrm>
            <a:off x="3479292" y="1874520"/>
            <a:ext cx="731520" cy="731520"/>
          </a:xfrm>
          <a:prstGeom prst="ellipse">
            <a:avLst/>
          </a:prstGeom>
          <a:solidFill>
            <a:srgbClr val="E8F5EF"/>
          </a:solidFill>
          <a:ln w="12700">
            <a:solidFill>
              <a:srgbClr val="E8F5EF"/>
            </a:solidFill>
            <a:prstDash val="solid"/>
          </a:ln>
        </p:spPr>
      </p:sp>
      <p:pic>
        <p:nvPicPr>
          <p:cNvPr id="24" name="Image 2" descr="preencoded.png"/>
          <p:cNvPicPr>
            <a:picLocks noChangeAspect="1"/>
          </p:cNvPicPr>
          <p:nvPr/>
        </p:nvPicPr>
        <p:blipFill>
          <a:blip r:embed="rId5"/>
          <a:stretch>
            <a:fillRect/>
          </a:stretch>
        </p:blipFill>
        <p:spPr>
          <a:xfrm>
            <a:off x="3669487" y="2064715"/>
            <a:ext cx="351130" cy="351130"/>
          </a:xfrm>
          <a:prstGeom prst="rect">
            <a:avLst/>
          </a:prstGeom>
        </p:spPr>
      </p:pic>
      <p:sp>
        <p:nvSpPr>
          <p:cNvPr id="25" name="Text 20"/>
          <p:cNvSpPr txBox="1"/>
          <p:nvPr/>
        </p:nvSpPr>
        <p:spPr>
          <a:xfrm>
            <a:off x="2930652" y="2697480"/>
            <a:ext cx="1828800" cy="320040"/>
          </a:xfrm>
          <a:prstGeom prst="rect">
            <a:avLst/>
          </a:prstGeom>
          <a:noFill/>
          <a:ln/>
        </p:spPr>
        <p:txBody>
          <a:bodyPr wrap="square" lIns="0" tIns="0" rIns="0" bIns="0" rtlCol="0" anchor="t"/>
          <a:lstStyle/>
          <a:p>
            <a:pPr marL="0" indent="0" algn="ctr">
              <a:buNone/>
            </a:pPr>
            <a:r>
              <a:rPr lang="en-US" sz="1350" b="1" dirty="0">
                <a:solidFill>
                  <a:srgbClr val="00704A"/>
                </a:solidFill>
                <a:latin typeface="Calibri" pitchFamily="34" charset="0"/>
                <a:ea typeface="Calibri" pitchFamily="34" charset="-122"/>
                <a:cs typeface="Calibri" pitchFamily="34" charset="-120"/>
              </a:rPr>
              <a:t>Remove sunlight</a:t>
            </a:r>
            <a:endParaRPr lang="en-US" sz="1350" dirty="0"/>
          </a:p>
        </p:txBody>
      </p:sp>
      <p:sp>
        <p:nvSpPr>
          <p:cNvPr id="26" name="Text 21"/>
          <p:cNvSpPr txBox="1"/>
          <p:nvPr/>
        </p:nvSpPr>
        <p:spPr>
          <a:xfrm>
            <a:off x="2958084" y="3063240"/>
            <a:ext cx="1773936" cy="77724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Twilight, glint and instrument stray light are corrected or excluded.</a:t>
            </a:r>
            <a:endParaRPr lang="en-US" sz="1100" dirty="0"/>
          </a:p>
        </p:txBody>
      </p:sp>
      <p:sp>
        <p:nvSpPr>
          <p:cNvPr id="27" name="Shape 22"/>
          <p:cNvSpPr/>
          <p:nvPr/>
        </p:nvSpPr>
        <p:spPr>
          <a:xfrm>
            <a:off x="5038344" y="1371600"/>
            <a:ext cx="2103120" cy="2514600"/>
          </a:xfrm>
          <a:prstGeom prst="roundRect">
            <a:avLst>
              <a:gd name="adj" fmla="val 3478"/>
            </a:avLst>
          </a:prstGeom>
          <a:solidFill>
            <a:srgbClr val="F4F7F5"/>
          </a:solidFill>
          <a:ln w="9525">
            <a:solidFill>
              <a:srgbClr val="D5DED9"/>
            </a:solidFill>
            <a:prstDash val="solid"/>
          </a:ln>
        </p:spPr>
      </p:sp>
      <p:sp>
        <p:nvSpPr>
          <p:cNvPr id="28" name="Shape 23"/>
          <p:cNvSpPr/>
          <p:nvPr/>
        </p:nvSpPr>
        <p:spPr>
          <a:xfrm>
            <a:off x="5202936" y="1536192"/>
            <a:ext cx="384048" cy="384048"/>
          </a:xfrm>
          <a:prstGeom prst="ellipse">
            <a:avLst/>
          </a:prstGeom>
          <a:solidFill>
            <a:srgbClr val="00704A"/>
          </a:solidFill>
          <a:ln w="12700">
            <a:solidFill>
              <a:srgbClr val="00704A"/>
            </a:solidFill>
            <a:prstDash val="solid"/>
          </a:ln>
        </p:spPr>
      </p:sp>
      <p:sp>
        <p:nvSpPr>
          <p:cNvPr id="29" name="Text 24"/>
          <p:cNvSpPr txBox="1"/>
          <p:nvPr/>
        </p:nvSpPr>
        <p:spPr>
          <a:xfrm>
            <a:off x="5202936" y="1536192"/>
            <a:ext cx="384048" cy="384048"/>
          </a:xfrm>
          <a:prstGeom prst="rect">
            <a:avLst/>
          </a:prstGeom>
          <a:noFill/>
          <a:ln/>
        </p:spPr>
        <p:txBody>
          <a:bodyPr wrap="square" lIns="0" tIns="0" rIns="0" bIns="0" rtlCol="0" anchor="ctr"/>
          <a:lstStyle/>
          <a:p>
            <a:pPr marL="0" indent="0" algn="ctr">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30" name="Shape 25"/>
          <p:cNvSpPr/>
          <p:nvPr/>
        </p:nvSpPr>
        <p:spPr>
          <a:xfrm>
            <a:off x="5724144" y="1874520"/>
            <a:ext cx="731520" cy="731520"/>
          </a:xfrm>
          <a:prstGeom prst="ellipse">
            <a:avLst/>
          </a:prstGeom>
          <a:solidFill>
            <a:srgbClr val="E8F5EF"/>
          </a:solidFill>
          <a:ln w="12700">
            <a:solidFill>
              <a:srgbClr val="E8F5EF"/>
            </a:solidFill>
            <a:prstDash val="solid"/>
          </a:ln>
        </p:spPr>
      </p:sp>
      <p:pic>
        <p:nvPicPr>
          <p:cNvPr id="31" name="Image 3" descr="preencoded.png"/>
          <p:cNvPicPr>
            <a:picLocks noChangeAspect="1"/>
          </p:cNvPicPr>
          <p:nvPr/>
        </p:nvPicPr>
        <p:blipFill>
          <a:blip r:embed="rId6"/>
          <a:stretch>
            <a:fillRect/>
          </a:stretch>
        </p:blipFill>
        <p:spPr>
          <a:xfrm>
            <a:off x="5914339" y="2064715"/>
            <a:ext cx="351130" cy="351130"/>
          </a:xfrm>
          <a:prstGeom prst="rect">
            <a:avLst/>
          </a:prstGeom>
        </p:spPr>
      </p:pic>
      <p:sp>
        <p:nvSpPr>
          <p:cNvPr id="32" name="Text 26"/>
          <p:cNvSpPr txBox="1"/>
          <p:nvPr/>
        </p:nvSpPr>
        <p:spPr>
          <a:xfrm>
            <a:off x="5175504" y="2697480"/>
            <a:ext cx="1828800" cy="320040"/>
          </a:xfrm>
          <a:prstGeom prst="rect">
            <a:avLst/>
          </a:prstGeom>
          <a:noFill/>
          <a:ln/>
        </p:spPr>
        <p:txBody>
          <a:bodyPr wrap="square" lIns="0" tIns="0" rIns="0" bIns="0" rtlCol="0" anchor="t"/>
          <a:lstStyle/>
          <a:p>
            <a:pPr marL="0" indent="0" algn="ctr">
              <a:buNone/>
            </a:pPr>
            <a:r>
              <a:rPr lang="en-US" sz="1350" b="1" dirty="0">
                <a:solidFill>
                  <a:srgbClr val="00704A"/>
                </a:solidFill>
                <a:latin typeface="Calibri" pitchFamily="34" charset="0"/>
                <a:ea typeface="Calibri" pitchFamily="34" charset="-122"/>
                <a:cs typeface="Calibri" pitchFamily="34" charset="-120"/>
              </a:rPr>
              <a:t>Correct for the Moon</a:t>
            </a:r>
            <a:endParaRPr lang="en-US" sz="1350" dirty="0"/>
          </a:p>
        </p:txBody>
      </p:sp>
      <p:sp>
        <p:nvSpPr>
          <p:cNvPr id="33" name="Text 27"/>
          <p:cNvSpPr txBox="1"/>
          <p:nvPr/>
        </p:nvSpPr>
        <p:spPr>
          <a:xfrm>
            <a:off x="5202936" y="3063240"/>
            <a:ext cx="1773936" cy="77724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Moonlight reflected by the ground mimics emitted light; it is modelled out.</a:t>
            </a:r>
            <a:endParaRPr lang="en-US" sz="1100" dirty="0"/>
          </a:p>
        </p:txBody>
      </p:sp>
      <p:sp>
        <p:nvSpPr>
          <p:cNvPr id="34" name="Shape 28"/>
          <p:cNvSpPr/>
          <p:nvPr/>
        </p:nvSpPr>
        <p:spPr>
          <a:xfrm>
            <a:off x="7283196" y="1371600"/>
            <a:ext cx="2103120" cy="2514600"/>
          </a:xfrm>
          <a:prstGeom prst="roundRect">
            <a:avLst>
              <a:gd name="adj" fmla="val 3478"/>
            </a:avLst>
          </a:prstGeom>
          <a:solidFill>
            <a:srgbClr val="F4F7F5"/>
          </a:solidFill>
          <a:ln w="9525">
            <a:solidFill>
              <a:srgbClr val="D5DED9"/>
            </a:solidFill>
            <a:prstDash val="solid"/>
          </a:ln>
        </p:spPr>
      </p:sp>
      <p:sp>
        <p:nvSpPr>
          <p:cNvPr id="35" name="Shape 29"/>
          <p:cNvSpPr/>
          <p:nvPr/>
        </p:nvSpPr>
        <p:spPr>
          <a:xfrm>
            <a:off x="7447788" y="1536192"/>
            <a:ext cx="384048" cy="384048"/>
          </a:xfrm>
          <a:prstGeom prst="ellipse">
            <a:avLst/>
          </a:prstGeom>
          <a:solidFill>
            <a:srgbClr val="00704A"/>
          </a:solidFill>
          <a:ln w="12700">
            <a:solidFill>
              <a:srgbClr val="00704A"/>
            </a:solidFill>
            <a:prstDash val="solid"/>
          </a:ln>
        </p:spPr>
      </p:sp>
      <p:sp>
        <p:nvSpPr>
          <p:cNvPr id="36" name="Text 30"/>
          <p:cNvSpPr txBox="1"/>
          <p:nvPr/>
        </p:nvSpPr>
        <p:spPr>
          <a:xfrm>
            <a:off x="7447788" y="1536192"/>
            <a:ext cx="384048" cy="384048"/>
          </a:xfrm>
          <a:prstGeom prst="rect">
            <a:avLst/>
          </a:prstGeom>
          <a:noFill/>
          <a:ln/>
        </p:spPr>
        <p:txBody>
          <a:bodyPr wrap="square" lIns="0" tIns="0" rIns="0" bIns="0" rtlCol="0" anchor="ctr"/>
          <a:lstStyle/>
          <a:p>
            <a:pPr marL="0" indent="0" algn="ctr">
              <a:buNone/>
            </a:pPr>
            <a:r>
              <a:rPr lang="en-US" sz="1092" b="1" dirty="0">
                <a:solidFill>
                  <a:srgbClr val="FFFFFF"/>
                </a:solidFill>
                <a:latin typeface="Calibri" pitchFamily="34" charset="0"/>
                <a:ea typeface="Calibri" pitchFamily="34" charset="-122"/>
                <a:cs typeface="Calibri" pitchFamily="34" charset="-120"/>
              </a:rPr>
              <a:t>4</a:t>
            </a:r>
            <a:endParaRPr lang="en-US" sz="1092" dirty="0"/>
          </a:p>
        </p:txBody>
      </p:sp>
      <p:sp>
        <p:nvSpPr>
          <p:cNvPr id="37" name="Shape 31"/>
          <p:cNvSpPr/>
          <p:nvPr/>
        </p:nvSpPr>
        <p:spPr>
          <a:xfrm>
            <a:off x="7968996" y="1874520"/>
            <a:ext cx="731520" cy="731520"/>
          </a:xfrm>
          <a:prstGeom prst="ellipse">
            <a:avLst/>
          </a:prstGeom>
          <a:solidFill>
            <a:srgbClr val="E8F5EF"/>
          </a:solidFill>
          <a:ln w="12700">
            <a:solidFill>
              <a:srgbClr val="E8F5EF"/>
            </a:solidFill>
            <a:prstDash val="solid"/>
          </a:ln>
        </p:spPr>
      </p:sp>
      <p:pic>
        <p:nvPicPr>
          <p:cNvPr id="38" name="Image 4" descr="preencoded.png"/>
          <p:cNvPicPr>
            <a:picLocks noChangeAspect="1"/>
          </p:cNvPicPr>
          <p:nvPr/>
        </p:nvPicPr>
        <p:blipFill>
          <a:blip r:embed="rId7"/>
          <a:stretch>
            <a:fillRect/>
          </a:stretch>
        </p:blipFill>
        <p:spPr>
          <a:xfrm>
            <a:off x="8159191" y="2064715"/>
            <a:ext cx="351130" cy="351130"/>
          </a:xfrm>
          <a:prstGeom prst="rect">
            <a:avLst/>
          </a:prstGeom>
        </p:spPr>
      </p:pic>
      <p:sp>
        <p:nvSpPr>
          <p:cNvPr id="39" name="Text 32"/>
          <p:cNvSpPr txBox="1"/>
          <p:nvPr/>
        </p:nvSpPr>
        <p:spPr>
          <a:xfrm>
            <a:off x="7420356" y="2697480"/>
            <a:ext cx="1828800" cy="320040"/>
          </a:xfrm>
          <a:prstGeom prst="rect">
            <a:avLst/>
          </a:prstGeom>
          <a:noFill/>
          <a:ln/>
        </p:spPr>
        <p:txBody>
          <a:bodyPr wrap="square" lIns="0" tIns="0" rIns="0" bIns="0" rtlCol="0" anchor="t"/>
          <a:lstStyle/>
          <a:p>
            <a:pPr marL="0" indent="0" algn="ctr">
              <a:buNone/>
            </a:pPr>
            <a:r>
              <a:rPr lang="en-US" sz="1350" b="1" dirty="0">
                <a:solidFill>
                  <a:srgbClr val="00704A"/>
                </a:solidFill>
                <a:latin typeface="Calibri" pitchFamily="34" charset="0"/>
                <a:ea typeface="Calibri" pitchFamily="34" charset="-122"/>
                <a:cs typeface="Calibri" pitchFamily="34" charset="-120"/>
              </a:rPr>
              <a:t>Filter transients</a:t>
            </a:r>
            <a:endParaRPr lang="en-US" sz="1350" dirty="0"/>
          </a:p>
        </p:txBody>
      </p:sp>
      <p:sp>
        <p:nvSpPr>
          <p:cNvPr id="40" name="Text 33"/>
          <p:cNvSpPr txBox="1"/>
          <p:nvPr/>
        </p:nvSpPr>
        <p:spPr>
          <a:xfrm>
            <a:off x="7447788" y="3063240"/>
            <a:ext cx="1773936" cy="77724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Fires, lightning, aurora and moving boats are flagged by their instability.</a:t>
            </a:r>
            <a:endParaRPr lang="en-US" sz="1100" dirty="0"/>
          </a:p>
        </p:txBody>
      </p:sp>
      <p:sp>
        <p:nvSpPr>
          <p:cNvPr id="41" name="Shape 34"/>
          <p:cNvSpPr/>
          <p:nvPr/>
        </p:nvSpPr>
        <p:spPr>
          <a:xfrm>
            <a:off x="9528048" y="1371600"/>
            <a:ext cx="2103120" cy="2514600"/>
          </a:xfrm>
          <a:prstGeom prst="roundRect">
            <a:avLst>
              <a:gd name="adj" fmla="val 3478"/>
            </a:avLst>
          </a:prstGeom>
          <a:solidFill>
            <a:srgbClr val="F4F7F5"/>
          </a:solidFill>
          <a:ln w="9525">
            <a:solidFill>
              <a:srgbClr val="D5DED9"/>
            </a:solidFill>
            <a:prstDash val="solid"/>
          </a:ln>
        </p:spPr>
      </p:sp>
      <p:sp>
        <p:nvSpPr>
          <p:cNvPr id="42" name="Shape 35"/>
          <p:cNvSpPr/>
          <p:nvPr/>
        </p:nvSpPr>
        <p:spPr>
          <a:xfrm>
            <a:off x="9692640" y="1536192"/>
            <a:ext cx="384048" cy="384048"/>
          </a:xfrm>
          <a:prstGeom prst="ellipse">
            <a:avLst/>
          </a:prstGeom>
          <a:solidFill>
            <a:srgbClr val="00704A"/>
          </a:solidFill>
          <a:ln w="12700">
            <a:solidFill>
              <a:srgbClr val="00704A"/>
            </a:solidFill>
            <a:prstDash val="solid"/>
          </a:ln>
        </p:spPr>
      </p:sp>
      <p:sp>
        <p:nvSpPr>
          <p:cNvPr id="43" name="Text 36"/>
          <p:cNvSpPr txBox="1"/>
          <p:nvPr/>
        </p:nvSpPr>
        <p:spPr>
          <a:xfrm>
            <a:off x="9692640" y="1536192"/>
            <a:ext cx="384048" cy="384048"/>
          </a:xfrm>
          <a:prstGeom prst="rect">
            <a:avLst/>
          </a:prstGeom>
          <a:noFill/>
          <a:ln/>
        </p:spPr>
        <p:txBody>
          <a:bodyPr wrap="square" lIns="0" tIns="0" rIns="0" bIns="0" rtlCol="0" anchor="ctr"/>
          <a:lstStyle/>
          <a:p>
            <a:pPr marL="0" indent="0" algn="ctr">
              <a:buNone/>
            </a:pPr>
            <a:r>
              <a:rPr lang="en-US" sz="1092" b="1" dirty="0">
                <a:solidFill>
                  <a:srgbClr val="FFFFFF"/>
                </a:solidFill>
                <a:latin typeface="Calibri" pitchFamily="34" charset="0"/>
                <a:ea typeface="Calibri" pitchFamily="34" charset="-122"/>
                <a:cs typeface="Calibri" pitchFamily="34" charset="-120"/>
              </a:rPr>
              <a:t>5</a:t>
            </a:r>
            <a:endParaRPr lang="en-US" sz="1092" dirty="0"/>
          </a:p>
        </p:txBody>
      </p:sp>
      <p:sp>
        <p:nvSpPr>
          <p:cNvPr id="44" name="Shape 37"/>
          <p:cNvSpPr/>
          <p:nvPr/>
        </p:nvSpPr>
        <p:spPr>
          <a:xfrm>
            <a:off x="10213848" y="1874520"/>
            <a:ext cx="731520" cy="731520"/>
          </a:xfrm>
          <a:prstGeom prst="ellipse">
            <a:avLst/>
          </a:prstGeom>
          <a:solidFill>
            <a:srgbClr val="E8F5EF"/>
          </a:solidFill>
          <a:ln w="12700">
            <a:solidFill>
              <a:srgbClr val="E8F5EF"/>
            </a:solidFill>
            <a:prstDash val="solid"/>
          </a:ln>
        </p:spPr>
      </p:sp>
      <p:pic>
        <p:nvPicPr>
          <p:cNvPr id="45" name="Image 5" descr="preencoded.png"/>
          <p:cNvPicPr>
            <a:picLocks noChangeAspect="1"/>
          </p:cNvPicPr>
          <p:nvPr/>
        </p:nvPicPr>
        <p:blipFill>
          <a:blip r:embed="rId8"/>
          <a:stretch>
            <a:fillRect/>
          </a:stretch>
        </p:blipFill>
        <p:spPr>
          <a:xfrm>
            <a:off x="10404043" y="2064715"/>
            <a:ext cx="351130" cy="351130"/>
          </a:xfrm>
          <a:prstGeom prst="rect">
            <a:avLst/>
          </a:prstGeom>
        </p:spPr>
      </p:pic>
      <p:sp>
        <p:nvSpPr>
          <p:cNvPr id="46" name="Text 38"/>
          <p:cNvSpPr txBox="1"/>
          <p:nvPr/>
        </p:nvSpPr>
        <p:spPr>
          <a:xfrm>
            <a:off x="9665208" y="2697480"/>
            <a:ext cx="1828800" cy="320040"/>
          </a:xfrm>
          <a:prstGeom prst="rect">
            <a:avLst/>
          </a:prstGeom>
          <a:noFill/>
          <a:ln/>
        </p:spPr>
        <p:txBody>
          <a:bodyPr wrap="square" lIns="0" tIns="0" rIns="0" bIns="0" rtlCol="0" anchor="t"/>
          <a:lstStyle/>
          <a:p>
            <a:pPr marL="0" indent="0" algn="ctr">
              <a:buNone/>
            </a:pPr>
            <a:r>
              <a:rPr lang="en-US" sz="1350" b="1" dirty="0">
                <a:solidFill>
                  <a:srgbClr val="00704A"/>
                </a:solidFill>
                <a:latin typeface="Calibri" pitchFamily="34" charset="0"/>
                <a:ea typeface="Calibri" pitchFamily="34" charset="-122"/>
                <a:cs typeface="Calibri" pitchFamily="34" charset="-120"/>
              </a:rPr>
              <a:t>Composite &amp; tile</a:t>
            </a:r>
            <a:endParaRPr lang="en-US" sz="1350" dirty="0"/>
          </a:p>
        </p:txBody>
      </p:sp>
      <p:sp>
        <p:nvSpPr>
          <p:cNvPr id="47" name="Text 39"/>
          <p:cNvSpPr txBox="1"/>
          <p:nvPr/>
        </p:nvSpPr>
        <p:spPr>
          <a:xfrm>
            <a:off x="9692640" y="3063240"/>
            <a:ext cx="1773936" cy="77724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Surviving nights are averaged into a monthly or annual grid, tiled globally.</a:t>
            </a:r>
            <a:endParaRPr lang="en-US" sz="1100" dirty="0"/>
          </a:p>
        </p:txBody>
      </p:sp>
      <p:sp>
        <p:nvSpPr>
          <p:cNvPr id="48" name="Shape 40"/>
          <p:cNvSpPr/>
          <p:nvPr/>
        </p:nvSpPr>
        <p:spPr>
          <a:xfrm>
            <a:off x="548640" y="4114800"/>
            <a:ext cx="6903720" cy="1691640"/>
          </a:xfrm>
          <a:prstGeom prst="roundRect">
            <a:avLst>
              <a:gd name="adj" fmla="val 4324"/>
            </a:avLst>
          </a:prstGeom>
          <a:solidFill>
            <a:srgbClr val="E8F5EF"/>
          </a:solidFill>
          <a:ln w="9525">
            <a:solidFill>
              <a:srgbClr val="00A86A"/>
            </a:solidFill>
            <a:prstDash val="solid"/>
          </a:ln>
        </p:spPr>
      </p:sp>
      <p:pic>
        <p:nvPicPr>
          <p:cNvPr id="49" name="Image 6" descr="preencoded.png"/>
          <p:cNvPicPr>
            <a:picLocks noChangeAspect="1"/>
          </p:cNvPicPr>
          <p:nvPr/>
        </p:nvPicPr>
        <p:blipFill>
          <a:blip r:embed="rId9"/>
          <a:stretch>
            <a:fillRect/>
          </a:stretch>
        </p:blipFill>
        <p:spPr>
          <a:xfrm>
            <a:off x="777240" y="4279392"/>
            <a:ext cx="347472" cy="347472"/>
          </a:xfrm>
          <a:prstGeom prst="rect">
            <a:avLst/>
          </a:prstGeom>
        </p:spPr>
      </p:pic>
      <p:sp>
        <p:nvSpPr>
          <p:cNvPr id="50" name="Text 41"/>
          <p:cNvSpPr txBox="1"/>
          <p:nvPr/>
        </p:nvSpPr>
        <p:spPr>
          <a:xfrm>
            <a:off x="1280160" y="4251960"/>
            <a:ext cx="5943600" cy="36576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You will meet these steps as layers in Lab A1</a:t>
            </a:r>
            <a:endParaRPr lang="en-US" sz="1350" dirty="0"/>
          </a:p>
        </p:txBody>
      </p:sp>
      <p:sp>
        <p:nvSpPr>
          <p:cNvPr id="51" name="Text 42"/>
          <p:cNvSpPr txBox="1"/>
          <p:nvPr/>
        </p:nvSpPr>
        <p:spPr>
          <a:xfrm>
            <a:off x="1280160" y="4617720"/>
            <a:ext cx="5989320" cy="10972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Black Marble VNP46A2 carries the corrected radiance plus its evidence: cloud-mask flag, lunar irradiance, snow flag and a Mandatory_Quality_Flag (0 = high-quality persistent, 1 = high-quality ephemeral, 2 = poor quality, 255 = no retrieval).</a:t>
            </a:r>
            <a:endParaRPr lang="en-US" sz="1150" dirty="0"/>
          </a:p>
        </p:txBody>
      </p:sp>
      <p:sp>
        <p:nvSpPr>
          <p:cNvPr id="52" name="Shape 43"/>
          <p:cNvSpPr/>
          <p:nvPr/>
        </p:nvSpPr>
        <p:spPr>
          <a:xfrm>
            <a:off x="7635240" y="4114800"/>
            <a:ext cx="4005072" cy="1691640"/>
          </a:xfrm>
          <a:prstGeom prst="roundRect">
            <a:avLst>
              <a:gd name="adj" fmla="val 4324"/>
            </a:avLst>
          </a:prstGeom>
          <a:solidFill>
            <a:srgbClr val="FDF5DC"/>
          </a:solidFill>
          <a:ln w="9525">
            <a:solidFill>
              <a:srgbClr val="F5C242"/>
            </a:solidFill>
            <a:prstDash val="solid"/>
          </a:ln>
        </p:spPr>
      </p:sp>
      <p:pic>
        <p:nvPicPr>
          <p:cNvPr id="53" name="Image 7" descr="preencoded.png"/>
          <p:cNvPicPr>
            <a:picLocks noChangeAspect="1"/>
          </p:cNvPicPr>
          <p:nvPr/>
        </p:nvPicPr>
        <p:blipFill>
          <a:blip r:embed="rId10"/>
          <a:stretch>
            <a:fillRect/>
          </a:stretch>
        </p:blipFill>
        <p:spPr>
          <a:xfrm>
            <a:off x="7863840" y="4279392"/>
            <a:ext cx="347472" cy="347472"/>
          </a:xfrm>
          <a:prstGeom prst="rect">
            <a:avLst/>
          </a:prstGeom>
        </p:spPr>
      </p:pic>
      <p:sp>
        <p:nvSpPr>
          <p:cNvPr id="54" name="Text 44"/>
          <p:cNvSpPr txBox="1"/>
          <p:nvPr/>
        </p:nvSpPr>
        <p:spPr>
          <a:xfrm>
            <a:off x="8366760" y="4251960"/>
            <a:ext cx="3200400" cy="365760"/>
          </a:xfrm>
          <a:prstGeom prst="rect">
            <a:avLst/>
          </a:prstGeom>
          <a:noFill/>
          <a:ln/>
        </p:spPr>
        <p:txBody>
          <a:bodyPr wrap="square" lIns="0" tIns="0" rIns="0" bIns="0" rtlCol="0" anchor="t"/>
          <a:lstStyle/>
          <a:p>
            <a:pPr marL="0" indent="0">
              <a:buNone/>
            </a:pPr>
            <a:r>
              <a:rPr lang="en-US" sz="1350" b="1" dirty="0">
                <a:solidFill>
                  <a:srgbClr val="A87700"/>
                </a:solidFill>
                <a:latin typeface="Calibri" pitchFamily="34" charset="0"/>
                <a:ea typeface="Calibri" pitchFamily="34" charset="-122"/>
                <a:cs typeface="Calibri" pitchFamily="34" charset="-120"/>
              </a:rPr>
              <a:t>A product, not a snapshot</a:t>
            </a:r>
            <a:endParaRPr lang="en-US" sz="1350" dirty="0"/>
          </a:p>
        </p:txBody>
      </p:sp>
      <p:sp>
        <p:nvSpPr>
          <p:cNvPr id="55" name="Text 45"/>
          <p:cNvSpPr txBox="1"/>
          <p:nvPr/>
        </p:nvSpPr>
        <p:spPr>
          <a:xfrm>
            <a:off x="8366760" y="4617720"/>
            <a:ext cx="3154680" cy="10972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Two products for the same month can legitimately differ. Always record the product, collection and version.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REAL IMAGERY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One night versus a composite: why quality flags matter</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21</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Switzerland, January 2023. Source: BlackMarblePy quality-assessment notebook (World Bank, MIT licence); NASA Black Marble; basemap © OpenStreetMap contributors © CARTO.</a:t>
            </a:r>
            <a:endParaRPr lang="en-US" sz="850" dirty="0"/>
          </a:p>
        </p:txBody>
      </p:sp>
      <p:sp>
        <p:nvSpPr>
          <p:cNvPr id="13" name="Text 10"/>
          <p:cNvSpPr txBox="1"/>
          <p:nvPr/>
        </p:nvSpPr>
        <p:spPr>
          <a:xfrm>
            <a:off x="548640" y="1325880"/>
            <a:ext cx="4800600" cy="274320"/>
          </a:xfrm>
          <a:prstGeom prst="rect">
            <a:avLst/>
          </a:prstGeom>
          <a:noFill/>
          <a:ln/>
        </p:spPr>
        <p:txBody>
          <a:bodyPr wrap="square" lIns="0" tIns="0" rIns="0" bIns="0" rtlCol="0" anchor="t"/>
          <a:lstStyle/>
          <a:p>
            <a:pPr marL="0" indent="0">
              <a:buNone/>
            </a:pPr>
            <a:r>
              <a:rPr lang="en-US" sz="1100" b="1" dirty="0">
                <a:solidFill>
                  <a:srgbClr val="B83B2E"/>
                </a:solidFill>
                <a:latin typeface="Calibri" pitchFamily="34" charset="0"/>
                <a:ea typeface="Calibri" pitchFamily="34" charset="-122"/>
                <a:cs typeface="Calibri" pitchFamily="34" charset="-120"/>
              </a:rPr>
              <a:t>VNP46A2 · one night, poor-quality pixels removed</a:t>
            </a:r>
            <a:endParaRPr lang="en-US" sz="1100" dirty="0"/>
          </a:p>
        </p:txBody>
      </p:sp>
      <p:sp>
        <p:nvSpPr>
          <p:cNvPr id="14" name="Shape 11"/>
          <p:cNvSpPr/>
          <p:nvPr/>
        </p:nvSpPr>
        <p:spPr>
          <a:xfrm>
            <a:off x="548640" y="1609344"/>
            <a:ext cx="4910328" cy="2061191"/>
          </a:xfrm>
          <a:prstGeom prst="roundRect">
            <a:avLst>
              <a:gd name="adj" fmla="val 3549"/>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qa_day.png"/>
          <p:cNvPicPr>
            <a:picLocks noChangeAspect="1"/>
          </p:cNvPicPr>
          <p:nvPr/>
        </p:nvPicPr>
        <p:blipFill>
          <a:blip r:embed="rId4"/>
          <a:stretch>
            <a:fillRect/>
          </a:stretch>
        </p:blipFill>
        <p:spPr>
          <a:xfrm>
            <a:off x="603504" y="1664208"/>
            <a:ext cx="4800600" cy="1951463"/>
          </a:xfrm>
          <a:prstGeom prst="rect">
            <a:avLst/>
          </a:prstGeom>
        </p:spPr>
      </p:pic>
      <p:sp>
        <p:nvSpPr>
          <p:cNvPr id="16" name="Text 12"/>
          <p:cNvSpPr txBox="1"/>
          <p:nvPr/>
        </p:nvSpPr>
        <p:spPr>
          <a:xfrm>
            <a:off x="548640" y="3749040"/>
            <a:ext cx="48006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VNP46A3 · monthly composite, same area</a:t>
            </a:r>
            <a:endParaRPr lang="en-US" sz="1100" dirty="0"/>
          </a:p>
        </p:txBody>
      </p:sp>
      <p:sp>
        <p:nvSpPr>
          <p:cNvPr id="17" name="Shape 13"/>
          <p:cNvSpPr/>
          <p:nvPr/>
        </p:nvSpPr>
        <p:spPr>
          <a:xfrm>
            <a:off x="548640" y="4032504"/>
            <a:ext cx="4910328" cy="2033816"/>
          </a:xfrm>
          <a:prstGeom prst="roundRect">
            <a:avLst>
              <a:gd name="adj" fmla="val 359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qa_ch.png"/>
          <p:cNvPicPr>
            <a:picLocks noChangeAspect="1"/>
          </p:cNvPicPr>
          <p:nvPr/>
        </p:nvPicPr>
        <p:blipFill>
          <a:blip r:embed="rId5"/>
          <a:stretch>
            <a:fillRect/>
          </a:stretch>
        </p:blipFill>
        <p:spPr>
          <a:xfrm>
            <a:off x="603504" y="4087368"/>
            <a:ext cx="4800600" cy="1924088"/>
          </a:xfrm>
          <a:prstGeom prst="rect">
            <a:avLst/>
          </a:prstGeom>
        </p:spPr>
      </p:pic>
      <p:sp>
        <p:nvSpPr>
          <p:cNvPr id="19" name="Shape 14"/>
          <p:cNvSpPr/>
          <p:nvPr/>
        </p:nvSpPr>
        <p:spPr>
          <a:xfrm>
            <a:off x="5852160" y="1325880"/>
            <a:ext cx="5788152" cy="1078992"/>
          </a:xfrm>
          <a:prstGeom prst="roundRect">
            <a:avLst>
              <a:gd name="adj" fmla="val 6780"/>
            </a:avLst>
          </a:prstGeom>
          <a:solidFill>
            <a:srgbClr val="FBE9E7"/>
          </a:solidFill>
          <a:ln w="9525">
            <a:solidFill>
              <a:srgbClr val="FBE9E7"/>
            </a:solidFill>
            <a:prstDash val="solid"/>
          </a:ln>
        </p:spPr>
      </p:sp>
      <p:sp>
        <p:nvSpPr>
          <p:cNvPr id="20" name="Shape 15"/>
          <p:cNvSpPr/>
          <p:nvPr/>
        </p:nvSpPr>
        <p:spPr>
          <a:xfrm>
            <a:off x="5989320" y="1463040"/>
            <a:ext cx="457200" cy="457200"/>
          </a:xfrm>
          <a:prstGeom prst="ellipse">
            <a:avLst/>
          </a:prstGeom>
          <a:solidFill>
            <a:srgbClr val="00704A"/>
          </a:solidFill>
          <a:ln w="12700">
            <a:solidFill>
              <a:srgbClr val="00704A"/>
            </a:solidFill>
            <a:prstDash val="solid"/>
          </a:ln>
        </p:spPr>
      </p:sp>
      <p:pic>
        <p:nvPicPr>
          <p:cNvPr id="21" name="Image 3" descr="preencoded.png"/>
          <p:cNvPicPr>
            <a:picLocks noChangeAspect="1"/>
          </p:cNvPicPr>
          <p:nvPr/>
        </p:nvPicPr>
        <p:blipFill>
          <a:blip r:embed="rId6"/>
          <a:stretch>
            <a:fillRect/>
          </a:stretch>
        </p:blipFill>
        <p:spPr>
          <a:xfrm>
            <a:off x="6108192" y="1581912"/>
            <a:ext cx="219456" cy="219456"/>
          </a:xfrm>
          <a:prstGeom prst="rect">
            <a:avLst/>
          </a:prstGeom>
        </p:spPr>
      </p:pic>
      <p:sp>
        <p:nvSpPr>
          <p:cNvPr id="22" name="Text 16"/>
          <p:cNvSpPr txBox="1"/>
          <p:nvPr/>
        </p:nvSpPr>
        <p:spPr>
          <a:xfrm>
            <a:off x="6583680" y="1417320"/>
            <a:ext cx="491947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Gaps are clouds, not darkness</a:t>
            </a:r>
            <a:endParaRPr lang="en-US" sz="1250" dirty="0"/>
          </a:p>
        </p:txBody>
      </p:sp>
      <p:sp>
        <p:nvSpPr>
          <p:cNvPr id="23" name="Text 17"/>
          <p:cNvSpPr txBox="1"/>
          <p:nvPr/>
        </p:nvSpPr>
        <p:spPr>
          <a:xfrm>
            <a:off x="6583680" y="1719072"/>
            <a:ext cx="4919472" cy="62179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Masked pixels (white, top) are missing data — never treat them as zero light.</a:t>
            </a:r>
            <a:endParaRPr lang="en-US" sz="1100" dirty="0"/>
          </a:p>
        </p:txBody>
      </p:sp>
      <p:sp>
        <p:nvSpPr>
          <p:cNvPr id="24" name="Shape 18"/>
          <p:cNvSpPr/>
          <p:nvPr/>
        </p:nvSpPr>
        <p:spPr>
          <a:xfrm>
            <a:off x="5852160" y="2532888"/>
            <a:ext cx="5788152" cy="1078992"/>
          </a:xfrm>
          <a:prstGeom prst="roundRect">
            <a:avLst>
              <a:gd name="adj" fmla="val 6780"/>
            </a:avLst>
          </a:prstGeom>
          <a:solidFill>
            <a:srgbClr val="F4F7F5"/>
          </a:solidFill>
          <a:ln w="9525">
            <a:solidFill>
              <a:srgbClr val="D5DED9"/>
            </a:solidFill>
            <a:prstDash val="solid"/>
          </a:ln>
        </p:spPr>
      </p:sp>
      <p:sp>
        <p:nvSpPr>
          <p:cNvPr id="25" name="Shape 19"/>
          <p:cNvSpPr/>
          <p:nvPr/>
        </p:nvSpPr>
        <p:spPr>
          <a:xfrm>
            <a:off x="5989320" y="2670048"/>
            <a:ext cx="457200" cy="457200"/>
          </a:xfrm>
          <a:prstGeom prst="ellipse">
            <a:avLst/>
          </a:prstGeom>
          <a:solidFill>
            <a:srgbClr val="00704A"/>
          </a:solidFill>
          <a:ln w="12700">
            <a:solidFill>
              <a:srgbClr val="00704A"/>
            </a:solidFill>
            <a:prstDash val="solid"/>
          </a:ln>
        </p:spPr>
      </p:sp>
      <p:pic>
        <p:nvPicPr>
          <p:cNvPr id="26" name="Image 4" descr="preencoded.png"/>
          <p:cNvPicPr>
            <a:picLocks noChangeAspect="1"/>
          </p:cNvPicPr>
          <p:nvPr/>
        </p:nvPicPr>
        <p:blipFill>
          <a:blip r:embed="rId7"/>
          <a:stretch>
            <a:fillRect/>
          </a:stretch>
        </p:blipFill>
        <p:spPr>
          <a:xfrm>
            <a:off x="6108192" y="2788920"/>
            <a:ext cx="219456" cy="219456"/>
          </a:xfrm>
          <a:prstGeom prst="rect">
            <a:avLst/>
          </a:prstGeom>
        </p:spPr>
      </p:pic>
      <p:sp>
        <p:nvSpPr>
          <p:cNvPr id="27" name="Text 20"/>
          <p:cNvSpPr txBox="1"/>
          <p:nvPr/>
        </p:nvSpPr>
        <p:spPr>
          <a:xfrm>
            <a:off x="6583680" y="2624328"/>
            <a:ext cx="491947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Composites fill the gaps</a:t>
            </a:r>
            <a:endParaRPr lang="en-US" sz="1250" dirty="0"/>
          </a:p>
        </p:txBody>
      </p:sp>
      <p:sp>
        <p:nvSpPr>
          <p:cNvPr id="28" name="Text 21"/>
          <p:cNvSpPr txBox="1"/>
          <p:nvPr/>
        </p:nvSpPr>
        <p:spPr>
          <a:xfrm>
            <a:off x="6583680" y="2926080"/>
            <a:ext cx="4919472" cy="62179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Averaging the valid nights of a month gives a complete, smoother map (bottom).</a:t>
            </a:r>
            <a:endParaRPr lang="en-US" sz="1100" dirty="0"/>
          </a:p>
        </p:txBody>
      </p:sp>
      <p:sp>
        <p:nvSpPr>
          <p:cNvPr id="29" name="Shape 22"/>
          <p:cNvSpPr/>
          <p:nvPr/>
        </p:nvSpPr>
        <p:spPr>
          <a:xfrm>
            <a:off x="5852160" y="3739896"/>
            <a:ext cx="5788152" cy="1078992"/>
          </a:xfrm>
          <a:prstGeom prst="roundRect">
            <a:avLst>
              <a:gd name="adj" fmla="val 6780"/>
            </a:avLst>
          </a:prstGeom>
          <a:solidFill>
            <a:srgbClr val="F4F7F5"/>
          </a:solidFill>
          <a:ln w="9525">
            <a:solidFill>
              <a:srgbClr val="D5DED9"/>
            </a:solidFill>
            <a:prstDash val="solid"/>
          </a:ln>
        </p:spPr>
      </p:sp>
      <p:sp>
        <p:nvSpPr>
          <p:cNvPr id="30" name="Shape 23"/>
          <p:cNvSpPr/>
          <p:nvPr/>
        </p:nvSpPr>
        <p:spPr>
          <a:xfrm>
            <a:off x="5989320" y="3877056"/>
            <a:ext cx="457200" cy="457200"/>
          </a:xfrm>
          <a:prstGeom prst="ellipse">
            <a:avLst/>
          </a:prstGeom>
          <a:solidFill>
            <a:srgbClr val="00704A"/>
          </a:solidFill>
          <a:ln w="12700">
            <a:solidFill>
              <a:srgbClr val="00704A"/>
            </a:solidFill>
            <a:prstDash val="solid"/>
          </a:ln>
        </p:spPr>
      </p:sp>
      <p:pic>
        <p:nvPicPr>
          <p:cNvPr id="31" name="Image 5" descr="preencoded.png"/>
          <p:cNvPicPr>
            <a:picLocks noChangeAspect="1"/>
          </p:cNvPicPr>
          <p:nvPr/>
        </p:nvPicPr>
        <p:blipFill>
          <a:blip r:embed="rId8"/>
          <a:stretch>
            <a:fillRect/>
          </a:stretch>
        </p:blipFill>
        <p:spPr>
          <a:xfrm>
            <a:off x="6108192" y="3995928"/>
            <a:ext cx="219456" cy="219456"/>
          </a:xfrm>
          <a:prstGeom prst="rect">
            <a:avLst/>
          </a:prstGeom>
        </p:spPr>
      </p:pic>
      <p:sp>
        <p:nvSpPr>
          <p:cNvPr id="32" name="Text 24"/>
          <p:cNvSpPr txBox="1"/>
          <p:nvPr/>
        </p:nvSpPr>
        <p:spPr>
          <a:xfrm>
            <a:off x="6583680" y="3831336"/>
            <a:ext cx="491947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Choose your flag threshold</a:t>
            </a:r>
            <a:endParaRPr lang="en-US" sz="1250" dirty="0"/>
          </a:p>
        </p:txBody>
      </p:sp>
      <p:sp>
        <p:nvSpPr>
          <p:cNvPr id="33" name="Text 25"/>
          <p:cNvSpPr txBox="1"/>
          <p:nvPr/>
        </p:nvSpPr>
        <p:spPr>
          <a:xfrm>
            <a:off x="6583680" y="4133088"/>
            <a:ext cx="4919472" cy="62179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Keeping only high-quality pixels is cleaner but leaves fewer valid nights — test both.</a:t>
            </a:r>
            <a:endParaRPr lang="en-US" sz="1100" dirty="0"/>
          </a:p>
        </p:txBody>
      </p:sp>
      <p:sp>
        <p:nvSpPr>
          <p:cNvPr id="34" name="Shape 26"/>
          <p:cNvSpPr/>
          <p:nvPr/>
        </p:nvSpPr>
        <p:spPr>
          <a:xfrm>
            <a:off x="5852160" y="5029200"/>
            <a:ext cx="5788152" cy="777240"/>
          </a:xfrm>
          <a:prstGeom prst="roundRect">
            <a:avLst>
              <a:gd name="adj" fmla="val 9412"/>
            </a:avLst>
          </a:prstGeom>
          <a:solidFill>
            <a:srgbClr val="00553A"/>
          </a:solidFill>
          <a:ln w="9525">
            <a:solidFill>
              <a:srgbClr val="00553A"/>
            </a:solidFill>
            <a:prstDash val="solid"/>
          </a:ln>
        </p:spPr>
      </p:sp>
      <p:sp>
        <p:nvSpPr>
          <p:cNvPr id="35" name="Text 27"/>
          <p:cNvSpPr txBox="1"/>
          <p:nvPr/>
        </p:nvSpPr>
        <p:spPr>
          <a:xfrm>
            <a:off x="6035040" y="5029200"/>
            <a:ext cx="5440680" cy="777240"/>
          </a:xfrm>
          <a:prstGeom prst="rect">
            <a:avLst/>
          </a:prstGeom>
          <a:noFill/>
          <a:ln/>
        </p:spPr>
        <p:txBody>
          <a:bodyPr wrap="square" lIns="0" tIns="0" rIns="0" bIns="0" rtlCol="0" anchor="ctr"/>
          <a:lstStyle/>
          <a:p>
            <a:pPr marL="0" indent="0">
              <a:buNone/>
            </a:pPr>
            <a:r>
              <a:rPr lang="en-US" sz="1200" b="1" dirty="0">
                <a:solidFill>
                  <a:srgbClr val="F5C242"/>
                </a:solidFill>
                <a:latin typeface="Calibri" pitchFamily="34" charset="0"/>
                <a:ea typeface="Calibri" pitchFamily="34" charset="-122"/>
                <a:cs typeface="Calibri" pitchFamily="34" charset="-120"/>
              </a:rPr>
              <a:t>In Africa </a:t>
            </a:r>
            <a:r>
              <a:rPr lang="en-US" sz="1200" dirty="0">
                <a:solidFill>
                  <a:srgbClr val="FFFFFF"/>
                </a:solidFill>
                <a:latin typeface="Calibri" pitchFamily="34" charset="0"/>
                <a:ea typeface="Calibri" pitchFamily="34" charset="-122"/>
                <a:cs typeface="Calibri" pitchFamily="34" charset="-120"/>
              </a:rPr>
              <a:t>the gaps come from rainy-season cloud rather than snow — the lesson is the same: missing is not dark.</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PRODUCTS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The NASA Black Marble product family</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22</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581912">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40080">
                <a:tc>
                  <a:txBody>
                    <a:bodyPr/>
                    <a:lstStyle/>
                    <a:p>
                      <a:pPr marL="0" indent="0" algn="ctr">
                        <a:buNone/>
                      </a:pP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VNP46A1</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E69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VNP46A2</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0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VNP46A3</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MONTHLY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A86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VNP46A4</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ANNUAL</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685800">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Content</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At-sensor radiance (top of atmosphere)</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Moonlight-adjusted, gap-filled NTL</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b="1" dirty="0">
                          <a:solidFill>
                            <a:srgbClr val="231F20"/>
                          </a:solidFill>
                          <a:latin typeface="Calibri" pitchFamily="34" charset="0"/>
                          <a:ea typeface="Calibri" pitchFamily="34" charset="-122"/>
                          <a:cs typeface="Calibri" pitchFamily="34" charset="-120"/>
                        </a:rPr>
                        <a:t>Composite of corrected daily NTL</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Composite of corrected daily NTL</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85800">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Corrections</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Uncorrected — inputs &amp; geometry only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Cloud, lunar, atmosphere, terrain, stray light</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b="1" dirty="0">
                          <a:solidFill>
                            <a:srgbClr val="231F20"/>
                          </a:solidFill>
                          <a:latin typeface="Calibri" pitchFamily="34" charset="0"/>
                          <a:ea typeface="Calibri" pitchFamily="34" charset="-122"/>
                          <a:cs typeface="Calibri" pitchFamily="34" charset="-120"/>
                        </a:rPr>
                        <a:t>As A2, plus number of observations &amp; quality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As A2, plus number of observations &amp; quality</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2"/>
                  </a:ext>
                </a:extLst>
              </a:tr>
              <a:tr h="685800">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Typical use</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Advanced users</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Blackouts, reliability, events</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tc>
                  <a:txBody>
                    <a:bodyPr/>
                    <a:lstStyle/>
                    <a:p>
                      <a:pPr marL="0" indent="0" algn="ctr">
                        <a:buNone/>
                      </a:pPr>
                      <a:r>
                        <a:rPr lang="en-US" sz="1200" b="1" dirty="0">
                          <a:solidFill>
                            <a:srgbClr val="231F20"/>
                          </a:solidFill>
                          <a:latin typeface="Calibri" pitchFamily="34" charset="0"/>
                          <a:ea typeface="Calibri" pitchFamily="34" charset="-122"/>
                          <a:cs typeface="Calibri" pitchFamily="34" charset="-120"/>
                        </a:rPr>
                        <a:t>Programme evaluation, seasonality, nowcasting</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F5EF"/>
                    </a:solidFill>
                  </a:tcPr>
                </a:tc>
                <a:tc>
                  <a:txBody>
                    <a:bodyPr/>
                    <a:lstStyle/>
                    <a:p>
                      <a:pPr marL="0" indent="0" algn="ctr">
                        <a:buNone/>
                      </a:pPr>
                      <a:r>
                        <a:rPr lang="en-US" sz="1200" dirty="0">
                          <a:solidFill>
                            <a:srgbClr val="231F20"/>
                          </a:solidFill>
                          <a:latin typeface="Calibri" pitchFamily="34" charset="0"/>
                          <a:ea typeface="Calibri" pitchFamily="34" charset="-122"/>
                          <a:cs typeface="Calibri" pitchFamily="34" charset="-120"/>
                        </a:rPr>
                        <a:t>Long-run trends, subnational panels</a:t>
                      </a:r>
                      <a:endParaRPr lang="en-US" sz="12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bl>
          </a:graphicData>
        </a:graphic>
      </p:graphicFrame>
      <p:sp>
        <p:nvSpPr>
          <p:cNvPr id="13" name="Shape 9"/>
          <p:cNvSpPr/>
          <p:nvPr/>
        </p:nvSpPr>
        <p:spPr>
          <a:xfrm>
            <a:off x="7159752" y="1097280"/>
            <a:ext cx="1737360" cy="237744"/>
          </a:xfrm>
          <a:prstGeom prst="roundRect">
            <a:avLst>
              <a:gd name="adj" fmla="val 50000"/>
            </a:avLst>
          </a:prstGeom>
          <a:solidFill>
            <a:srgbClr val="F5C242"/>
          </a:solidFill>
          <a:ln w="12700">
            <a:solidFill>
              <a:srgbClr val="F5C242"/>
            </a:solidFill>
            <a:prstDash val="solid"/>
          </a:ln>
        </p:spPr>
      </p:sp>
      <p:sp>
        <p:nvSpPr>
          <p:cNvPr id="14" name="Text 10"/>
          <p:cNvSpPr txBox="1"/>
          <p:nvPr/>
        </p:nvSpPr>
        <p:spPr>
          <a:xfrm>
            <a:off x="7159752" y="1097280"/>
            <a:ext cx="1737360" cy="237744"/>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USED IN LAB A</a:t>
            </a:r>
            <a:endParaRPr lang="en-US" sz="850" dirty="0"/>
          </a:p>
        </p:txBody>
      </p:sp>
      <p:sp>
        <p:nvSpPr>
          <p:cNvPr id="15" name="Shape 11"/>
          <p:cNvSpPr/>
          <p:nvPr/>
        </p:nvSpPr>
        <p:spPr>
          <a:xfrm>
            <a:off x="548640" y="4343400"/>
            <a:ext cx="11094415" cy="1463040"/>
          </a:xfrm>
          <a:prstGeom prst="roundRect">
            <a:avLst>
              <a:gd name="adj" fmla="val 5000"/>
            </a:avLst>
          </a:prstGeom>
          <a:solidFill>
            <a:srgbClr val="F4F7F5"/>
          </a:solidFill>
          <a:ln w="9525">
            <a:solidFill>
              <a:srgbClr val="D5DED9"/>
            </a:solidFill>
            <a:prstDash val="solid"/>
          </a:ln>
        </p:spPr>
      </p:sp>
      <p:sp>
        <p:nvSpPr>
          <p:cNvPr id="16" name="Text 12"/>
          <p:cNvSpPr txBox="1"/>
          <p:nvPr/>
        </p:nvSpPr>
        <p:spPr>
          <a:xfrm>
            <a:off x="777240" y="4434840"/>
            <a:ext cx="10637215" cy="1280160"/>
          </a:xfrm>
          <a:prstGeom prst="rect">
            <a:avLst/>
          </a:prstGeom>
          <a:noFill/>
          <a:ln/>
        </p:spPr>
        <p:txBody>
          <a:bodyPr wrap="square" lIns="0" tIns="0" rIns="0" bIns="0" rtlCol="0" anchor="t"/>
          <a:lstStyle/>
          <a:p>
            <a:pPr marL="0" indent="0">
              <a:spcAft>
                <a:spcPts val="500"/>
              </a:spcAft>
              <a:buNone/>
            </a:pPr>
            <a:r>
              <a:rPr lang="en-US" sz="1150" b="1" dirty="0">
                <a:solidFill>
                  <a:srgbClr val="00704A"/>
                </a:solidFill>
                <a:latin typeface="Calibri" pitchFamily="34" charset="0"/>
                <a:ea typeface="Calibri" pitchFamily="34" charset="-122"/>
                <a:cs typeface="Calibri" pitchFamily="34" charset="-120"/>
              </a:rPr>
              <a:t>Common to all: </a:t>
            </a:r>
            <a:r>
              <a:rPr lang="en-US" sz="1150" dirty="0">
                <a:solidFill>
                  <a:srgbClr val="231F20"/>
                </a:solidFill>
                <a:latin typeface="Calibri" pitchFamily="34" charset="0"/>
                <a:ea typeface="Calibri" pitchFamily="34" charset="-122"/>
                <a:cs typeface="Calibri" pitchFamily="34" charset="-120"/>
              </a:rPr>
              <a:t>15 arc-second grid (≈ 500 m at the equator) · 10° × 10° tiles · HDF5 · from January 2012 · NOAA-20 twins named VJ146*.</a:t>
            </a:r>
            <a:endParaRPr lang="en-US" sz="1150" dirty="0"/>
          </a:p>
          <a:p>
            <a:pPr marL="0" indent="0">
              <a:spcAft>
                <a:spcPts val="500"/>
              </a:spcAft>
              <a:buNone/>
            </a:pPr>
            <a:r>
              <a:rPr lang="en-US" sz="1150" b="1" dirty="0">
                <a:solidFill>
                  <a:srgbClr val="B83B2E"/>
                </a:solidFill>
                <a:latin typeface="Calibri" pitchFamily="34" charset="0"/>
                <a:ea typeface="Calibri" pitchFamily="34" charset="-122"/>
                <a:cs typeface="Calibri" pitchFamily="34" charset="-120"/>
              </a:rPr>
              <a:t>Gotcha: </a:t>
            </a:r>
            <a:r>
              <a:rPr lang="en-US" sz="1150" dirty="0">
                <a:solidFill>
                  <a:srgbClr val="231F20"/>
                </a:solidFill>
                <a:latin typeface="Calibri" pitchFamily="34" charset="0"/>
                <a:ea typeface="Calibri" pitchFamily="34" charset="-122"/>
                <a:cs typeface="Calibri" pitchFamily="34" charset="-120"/>
              </a:rPr>
              <a:t>radiance is stored as scaled integers — apply the scale factor in the file metadata and mask the fill value (65535 for radiance, 255 for quality). Tools such as BlackMarblePy do this for you; raw HDF5 readers do not.</a:t>
            </a:r>
            <a:endParaRPr lang="en-US" sz="1150" dirty="0"/>
          </a:p>
          <a:p>
            <a:pPr marL="0" indent="0">
              <a:spcAft>
                <a:spcPts val="500"/>
              </a:spcAft>
              <a:buNone/>
            </a:pPr>
            <a:r>
              <a:rPr lang="en-US" sz="1150" b="1" dirty="0">
                <a:solidFill>
                  <a:srgbClr val="00704A"/>
                </a:solidFill>
                <a:latin typeface="Calibri" pitchFamily="34" charset="0"/>
                <a:ea typeface="Calibri" pitchFamily="34" charset="-122"/>
                <a:cs typeface="Calibri" pitchFamily="34" charset="-120"/>
              </a:rPr>
              <a:t>Variables: </a:t>
            </a:r>
            <a:r>
              <a:rPr lang="en-US" sz="1150" dirty="0">
                <a:solidFill>
                  <a:srgbClr val="231F20"/>
                </a:solidFill>
                <a:latin typeface="Calibri" pitchFamily="34" charset="0"/>
                <a:ea typeface="Calibri" pitchFamily="34" charset="-122"/>
                <a:cs typeface="Calibri" pitchFamily="34" charset="-120"/>
              </a:rPr>
              <a:t>A2 → DNB_BRDF-Corrected_NTL  ·  A3 / A4 → NearNadir_Composite_Snow_Free (also OffNadir_ and AllAngle_ variants).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REAL DATA</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What Black Marble gives you: Ghana</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23</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 NASA Black Marble VNP46A4 (annual) and VNP46A3 (monthly), produced with BlackMarblePy (World Bank, MIT licence); basemap © OpenStreetMap contributors © CARTO.</a:t>
            </a:r>
            <a:endParaRPr lang="en-US" sz="850" dirty="0"/>
          </a:p>
        </p:txBody>
      </p:sp>
      <p:sp>
        <p:nvSpPr>
          <p:cNvPr id="13" name="Shape 10"/>
          <p:cNvSpPr/>
          <p:nvPr/>
        </p:nvSpPr>
        <p:spPr>
          <a:xfrm>
            <a:off x="548640" y="1316736"/>
            <a:ext cx="4012296" cy="4270248"/>
          </a:xfrm>
          <a:prstGeom prst="roundRect">
            <a:avLst>
              <a:gd name="adj" fmla="val 1823"/>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gha_annual.png"/>
          <p:cNvPicPr>
            <a:picLocks noChangeAspect="1"/>
          </p:cNvPicPr>
          <p:nvPr/>
        </p:nvPicPr>
        <p:blipFill>
          <a:blip r:embed="rId4"/>
          <a:stretch>
            <a:fillRect/>
          </a:stretch>
        </p:blipFill>
        <p:spPr>
          <a:xfrm>
            <a:off x="603504" y="1371600"/>
            <a:ext cx="3902568" cy="4160520"/>
          </a:xfrm>
          <a:prstGeom prst="rect">
            <a:avLst/>
          </a:prstGeom>
        </p:spPr>
      </p:pic>
      <p:sp>
        <p:nvSpPr>
          <p:cNvPr id="15" name="Text 11"/>
          <p:cNvSpPr txBox="1"/>
          <p:nvPr/>
        </p:nvSpPr>
        <p:spPr>
          <a:xfrm>
            <a:off x="548640" y="5596128"/>
            <a:ext cx="420624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Annual composite, VNP46A4 — Accra, Kumasi, Tamale and the corridors between them</a:t>
            </a:r>
            <a:endParaRPr lang="en-US" sz="1100" dirty="0"/>
          </a:p>
        </p:txBody>
      </p:sp>
      <p:sp>
        <p:nvSpPr>
          <p:cNvPr id="16" name="Text 12"/>
          <p:cNvSpPr txBox="1"/>
          <p:nvPr/>
        </p:nvSpPr>
        <p:spPr>
          <a:xfrm>
            <a:off x="4800600" y="1325880"/>
            <a:ext cx="676656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Monthly national Sum of Lights, VNP46A3, January 2020 onwards</a:t>
            </a:r>
            <a:endParaRPr lang="en-US" sz="1100" dirty="0"/>
          </a:p>
        </p:txBody>
      </p:sp>
      <p:sp>
        <p:nvSpPr>
          <p:cNvPr id="17" name="Shape 13"/>
          <p:cNvSpPr/>
          <p:nvPr/>
        </p:nvSpPr>
        <p:spPr>
          <a:xfrm>
            <a:off x="4800600" y="1636776"/>
            <a:ext cx="6839712" cy="2926800"/>
          </a:xfrm>
          <a:prstGeom prst="roundRect">
            <a:avLst>
              <a:gd name="adj" fmla="val 2499"/>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gha_monthly.png"/>
          <p:cNvPicPr>
            <a:picLocks noChangeAspect="1"/>
          </p:cNvPicPr>
          <p:nvPr/>
        </p:nvPicPr>
        <p:blipFill>
          <a:blip r:embed="rId5"/>
          <a:stretch>
            <a:fillRect/>
          </a:stretch>
        </p:blipFill>
        <p:spPr>
          <a:xfrm>
            <a:off x="4855464" y="1691640"/>
            <a:ext cx="6729984" cy="2817072"/>
          </a:xfrm>
          <a:prstGeom prst="rect">
            <a:avLst/>
          </a:prstGeom>
        </p:spPr>
      </p:pic>
      <p:sp>
        <p:nvSpPr>
          <p:cNvPr id="19" name="Shape 14"/>
          <p:cNvSpPr/>
          <p:nvPr/>
        </p:nvSpPr>
        <p:spPr>
          <a:xfrm>
            <a:off x="4800600" y="4617720"/>
            <a:ext cx="3291840" cy="1143000"/>
          </a:xfrm>
          <a:prstGeom prst="roundRect">
            <a:avLst>
              <a:gd name="adj" fmla="val 6400"/>
            </a:avLst>
          </a:prstGeom>
          <a:solidFill>
            <a:srgbClr val="F4F7F5"/>
          </a:solidFill>
          <a:ln w="9525">
            <a:solidFill>
              <a:srgbClr val="D5DED9"/>
            </a:solidFill>
            <a:prstDash val="solid"/>
          </a:ln>
        </p:spPr>
      </p:sp>
      <p:sp>
        <p:nvSpPr>
          <p:cNvPr id="20" name="Shape 15"/>
          <p:cNvSpPr/>
          <p:nvPr/>
        </p:nvSpPr>
        <p:spPr>
          <a:xfrm>
            <a:off x="4937760" y="4754880"/>
            <a:ext cx="457200" cy="457200"/>
          </a:xfrm>
          <a:prstGeom prst="ellipse">
            <a:avLst/>
          </a:prstGeom>
          <a:solidFill>
            <a:srgbClr val="00704A"/>
          </a:solidFill>
          <a:ln w="12700">
            <a:solidFill>
              <a:srgbClr val="00704A"/>
            </a:solidFill>
            <a:prstDash val="solid"/>
          </a:ln>
        </p:spPr>
      </p:sp>
      <p:pic>
        <p:nvPicPr>
          <p:cNvPr id="21" name="Image 3" descr="preencoded.png"/>
          <p:cNvPicPr>
            <a:picLocks noChangeAspect="1"/>
          </p:cNvPicPr>
          <p:nvPr/>
        </p:nvPicPr>
        <p:blipFill>
          <a:blip r:embed="rId6"/>
          <a:stretch>
            <a:fillRect/>
          </a:stretch>
        </p:blipFill>
        <p:spPr>
          <a:xfrm>
            <a:off x="5056632" y="4873752"/>
            <a:ext cx="219456" cy="219456"/>
          </a:xfrm>
          <a:prstGeom prst="rect">
            <a:avLst/>
          </a:prstGeom>
        </p:spPr>
      </p:pic>
      <p:sp>
        <p:nvSpPr>
          <p:cNvPr id="22" name="Text 16"/>
          <p:cNvSpPr txBox="1"/>
          <p:nvPr/>
        </p:nvSpPr>
        <p:spPr>
          <a:xfrm>
            <a:off x="5532120" y="4709160"/>
            <a:ext cx="242316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Lab A1 output</a:t>
            </a:r>
            <a:endParaRPr lang="en-US" sz="1250" dirty="0"/>
          </a:p>
        </p:txBody>
      </p:sp>
      <p:sp>
        <p:nvSpPr>
          <p:cNvPr id="23" name="Text 17"/>
          <p:cNvSpPr txBox="1"/>
          <p:nvPr/>
        </p:nvSpPr>
        <p:spPr>
          <a:xfrm>
            <a:off x="5532120" y="5010912"/>
            <a:ext cx="2423160" cy="6858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This is the map you will produce for your own country: clipped, in radiance units.</a:t>
            </a:r>
            <a:endParaRPr lang="en-US" sz="1100" dirty="0"/>
          </a:p>
        </p:txBody>
      </p:sp>
      <p:sp>
        <p:nvSpPr>
          <p:cNvPr id="24" name="Shape 18"/>
          <p:cNvSpPr/>
          <p:nvPr/>
        </p:nvSpPr>
        <p:spPr>
          <a:xfrm>
            <a:off x="8247888" y="4617720"/>
            <a:ext cx="3291840" cy="1143000"/>
          </a:xfrm>
          <a:prstGeom prst="roundRect">
            <a:avLst>
              <a:gd name="adj" fmla="val 6400"/>
            </a:avLst>
          </a:prstGeom>
          <a:solidFill>
            <a:srgbClr val="FDF5DC"/>
          </a:solidFill>
          <a:ln w="9525">
            <a:solidFill>
              <a:srgbClr val="FDF5DC"/>
            </a:solidFill>
            <a:prstDash val="solid"/>
          </a:ln>
        </p:spPr>
      </p:sp>
      <p:sp>
        <p:nvSpPr>
          <p:cNvPr id="25" name="Shape 19"/>
          <p:cNvSpPr/>
          <p:nvPr/>
        </p:nvSpPr>
        <p:spPr>
          <a:xfrm>
            <a:off x="8385048" y="4754880"/>
            <a:ext cx="457200" cy="457200"/>
          </a:xfrm>
          <a:prstGeom prst="ellipse">
            <a:avLst/>
          </a:prstGeom>
          <a:solidFill>
            <a:srgbClr val="F5C242"/>
          </a:solidFill>
          <a:ln w="12700">
            <a:solidFill>
              <a:srgbClr val="F5C242"/>
            </a:solidFill>
            <a:prstDash val="solid"/>
          </a:ln>
        </p:spPr>
      </p:sp>
      <p:pic>
        <p:nvPicPr>
          <p:cNvPr id="26" name="Image 4" descr="preencoded.png"/>
          <p:cNvPicPr>
            <a:picLocks noChangeAspect="1"/>
          </p:cNvPicPr>
          <p:nvPr/>
        </p:nvPicPr>
        <p:blipFill>
          <a:blip r:embed="rId7"/>
          <a:stretch>
            <a:fillRect/>
          </a:stretch>
        </p:blipFill>
        <p:spPr>
          <a:xfrm>
            <a:off x="8503920" y="4873752"/>
            <a:ext cx="219456" cy="219456"/>
          </a:xfrm>
          <a:prstGeom prst="rect">
            <a:avLst/>
          </a:prstGeom>
        </p:spPr>
      </p:pic>
      <p:sp>
        <p:nvSpPr>
          <p:cNvPr id="27" name="Text 20"/>
          <p:cNvSpPr txBox="1"/>
          <p:nvPr/>
        </p:nvSpPr>
        <p:spPr>
          <a:xfrm>
            <a:off x="8979408" y="4709160"/>
            <a:ext cx="242316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Lab A2 output</a:t>
            </a:r>
            <a:endParaRPr lang="en-US" sz="1250" dirty="0"/>
          </a:p>
        </p:txBody>
      </p:sp>
      <p:sp>
        <p:nvSpPr>
          <p:cNvPr id="28" name="Text 21"/>
          <p:cNvSpPr txBox="1"/>
          <p:nvPr/>
        </p:nvSpPr>
        <p:spPr>
          <a:xfrm>
            <a:off x="8979408" y="5010912"/>
            <a:ext cx="2423160" cy="6858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And this is the series: one point per month, ready for masks, quarters and growth rates.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ACCESS ROUTES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Five ways to get the data — pick one and stick to it</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24</a:t>
            </a:r>
            <a:endParaRPr lang="en-US" sz="900" dirty="0"/>
          </a:p>
        </p:txBody>
      </p:sp>
      <p:sp>
        <p:nvSpPr>
          <p:cNvPr id="12" name="Shape 9"/>
          <p:cNvSpPr/>
          <p:nvPr/>
        </p:nvSpPr>
        <p:spPr>
          <a:xfrm>
            <a:off x="548640" y="1371600"/>
            <a:ext cx="7498080" cy="786384"/>
          </a:xfrm>
          <a:prstGeom prst="roundRect">
            <a:avLst>
              <a:gd name="adj" fmla="val 9302"/>
            </a:avLst>
          </a:prstGeom>
          <a:solidFill>
            <a:srgbClr val="F4F7F5"/>
          </a:solidFill>
          <a:ln w="9525">
            <a:solidFill>
              <a:srgbClr val="D5DED9"/>
            </a:solidFill>
            <a:prstDash val="solid"/>
          </a:ln>
        </p:spPr>
      </p:sp>
      <p:sp>
        <p:nvSpPr>
          <p:cNvPr id="13" name="Shape 10"/>
          <p:cNvSpPr/>
          <p:nvPr/>
        </p:nvSpPr>
        <p:spPr>
          <a:xfrm>
            <a:off x="713232" y="1508760"/>
            <a:ext cx="512064" cy="512064"/>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46369" y="1641897"/>
            <a:ext cx="245791" cy="245791"/>
          </a:xfrm>
          <a:prstGeom prst="rect">
            <a:avLst/>
          </a:prstGeom>
        </p:spPr>
      </p:pic>
      <p:sp>
        <p:nvSpPr>
          <p:cNvPr id="15" name="Text 11"/>
          <p:cNvSpPr txBox="1"/>
          <p:nvPr/>
        </p:nvSpPr>
        <p:spPr>
          <a:xfrm>
            <a:off x="1371600" y="1444752"/>
            <a:ext cx="2834640" cy="64008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NASA LAADS DAAC / Earthdata</a:t>
            </a:r>
            <a:endParaRPr lang="en-US" sz="1300" dirty="0"/>
          </a:p>
        </p:txBody>
      </p:sp>
      <p:sp>
        <p:nvSpPr>
          <p:cNvPr id="16" name="Text 12"/>
          <p:cNvSpPr txBox="1"/>
          <p:nvPr/>
        </p:nvSpPr>
        <p:spPr>
          <a:xfrm>
            <a:off x="4160520" y="1426464"/>
            <a:ext cx="274320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Black Marble VNP46 &amp; VJ146 tiles in HDF5. Free Earthdata login and download token.</a:t>
            </a:r>
            <a:endParaRPr lang="en-US" sz="1050" dirty="0"/>
          </a:p>
        </p:txBody>
      </p:sp>
      <p:sp>
        <p:nvSpPr>
          <p:cNvPr id="17" name="Shape 13"/>
          <p:cNvSpPr/>
          <p:nvPr/>
        </p:nvSpPr>
        <p:spPr>
          <a:xfrm>
            <a:off x="6949440" y="1645920"/>
            <a:ext cx="987552" cy="237744"/>
          </a:xfrm>
          <a:prstGeom prst="roundRect">
            <a:avLst>
              <a:gd name="adj" fmla="val 50000"/>
            </a:avLst>
          </a:prstGeom>
          <a:solidFill>
            <a:srgbClr val="E8F5EF"/>
          </a:solidFill>
          <a:ln w="12700">
            <a:solidFill>
              <a:srgbClr val="E8F5EF"/>
            </a:solidFill>
            <a:prstDash val="solid"/>
          </a:ln>
        </p:spPr>
      </p:sp>
      <p:sp>
        <p:nvSpPr>
          <p:cNvPr id="18" name="Text 14"/>
          <p:cNvSpPr txBox="1"/>
          <p:nvPr/>
        </p:nvSpPr>
        <p:spPr>
          <a:xfrm>
            <a:off x="6949440" y="1645920"/>
            <a:ext cx="987552" cy="237744"/>
          </a:xfrm>
          <a:prstGeom prst="rect">
            <a:avLst/>
          </a:prstGeom>
          <a:noFill/>
          <a:ln/>
        </p:spPr>
        <p:txBody>
          <a:bodyPr wrap="square" lIns="0" tIns="0" rIns="0" bIns="0" rtlCol="0" anchor="ctr"/>
          <a:lstStyle/>
          <a:p>
            <a:pPr marL="0" indent="0" algn="ctr">
              <a:buNone/>
            </a:pPr>
            <a:r>
              <a:rPr lang="en-US" sz="750" b="1" kern="0" spc="100" dirty="0">
                <a:solidFill>
                  <a:srgbClr val="00704A"/>
                </a:solidFill>
                <a:latin typeface="Calibri" pitchFamily="34" charset="0"/>
                <a:ea typeface="Calibri" pitchFamily="34" charset="-122"/>
                <a:cs typeface="Calibri" pitchFamily="34" charset="-120"/>
              </a:rPr>
              <a:t>PRIMARY SOURCE</a:t>
            </a:r>
            <a:endParaRPr lang="en-US" sz="750" dirty="0"/>
          </a:p>
        </p:txBody>
      </p:sp>
      <p:sp>
        <p:nvSpPr>
          <p:cNvPr id="19" name="Shape 15"/>
          <p:cNvSpPr/>
          <p:nvPr/>
        </p:nvSpPr>
        <p:spPr>
          <a:xfrm>
            <a:off x="548640" y="2267712"/>
            <a:ext cx="7498080" cy="786384"/>
          </a:xfrm>
          <a:prstGeom prst="roundRect">
            <a:avLst>
              <a:gd name="adj" fmla="val 9302"/>
            </a:avLst>
          </a:prstGeom>
          <a:solidFill>
            <a:srgbClr val="FDF5DC"/>
          </a:solidFill>
          <a:ln w="9525">
            <a:solidFill>
              <a:srgbClr val="F5C242"/>
            </a:solidFill>
            <a:prstDash val="solid"/>
          </a:ln>
        </p:spPr>
      </p:sp>
      <p:sp>
        <p:nvSpPr>
          <p:cNvPr id="20" name="Shape 16"/>
          <p:cNvSpPr/>
          <p:nvPr/>
        </p:nvSpPr>
        <p:spPr>
          <a:xfrm>
            <a:off x="713232" y="2404872"/>
            <a:ext cx="512064" cy="512064"/>
          </a:xfrm>
          <a:prstGeom prst="ellipse">
            <a:avLst/>
          </a:prstGeom>
          <a:solidFill>
            <a:srgbClr val="F5C242"/>
          </a:solidFill>
          <a:ln w="12700">
            <a:solidFill>
              <a:srgbClr val="F5C242"/>
            </a:solidFill>
            <a:prstDash val="solid"/>
          </a:ln>
        </p:spPr>
      </p:sp>
      <p:pic>
        <p:nvPicPr>
          <p:cNvPr id="21" name="Image 2" descr="preencoded.png"/>
          <p:cNvPicPr>
            <a:picLocks noChangeAspect="1"/>
          </p:cNvPicPr>
          <p:nvPr/>
        </p:nvPicPr>
        <p:blipFill>
          <a:blip r:embed="rId5"/>
          <a:stretch>
            <a:fillRect/>
          </a:stretch>
        </p:blipFill>
        <p:spPr>
          <a:xfrm>
            <a:off x="846369" y="2538009"/>
            <a:ext cx="245791" cy="245791"/>
          </a:xfrm>
          <a:prstGeom prst="rect">
            <a:avLst/>
          </a:prstGeom>
        </p:spPr>
      </p:pic>
      <p:sp>
        <p:nvSpPr>
          <p:cNvPr id="22" name="Text 17"/>
          <p:cNvSpPr txBox="1"/>
          <p:nvPr/>
        </p:nvSpPr>
        <p:spPr>
          <a:xfrm>
            <a:off x="1371600" y="2340864"/>
            <a:ext cx="2834640" cy="64008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BlackMarblePy (World Bank)</a:t>
            </a:r>
            <a:endParaRPr lang="en-US" sz="1300" dirty="0"/>
          </a:p>
        </p:txBody>
      </p:sp>
      <p:sp>
        <p:nvSpPr>
          <p:cNvPr id="23" name="Text 18"/>
          <p:cNvSpPr txBox="1"/>
          <p:nvPr/>
        </p:nvSpPr>
        <p:spPr>
          <a:xfrm>
            <a:off x="4160520" y="2322576"/>
            <a:ext cx="274320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Python: download, mosaic, clip to your boundary and compute zonal statistics in a few lines. R twin: blackmarbler.</a:t>
            </a:r>
            <a:endParaRPr lang="en-US" sz="1050" dirty="0"/>
          </a:p>
        </p:txBody>
      </p:sp>
      <p:sp>
        <p:nvSpPr>
          <p:cNvPr id="24" name="Shape 19"/>
          <p:cNvSpPr/>
          <p:nvPr/>
        </p:nvSpPr>
        <p:spPr>
          <a:xfrm>
            <a:off x="6949440" y="2542032"/>
            <a:ext cx="987552" cy="237744"/>
          </a:xfrm>
          <a:prstGeom prst="roundRect">
            <a:avLst>
              <a:gd name="adj" fmla="val 50000"/>
            </a:avLst>
          </a:prstGeom>
          <a:solidFill>
            <a:srgbClr val="F5C242"/>
          </a:solidFill>
          <a:ln w="12700">
            <a:solidFill>
              <a:srgbClr val="F5C242"/>
            </a:solidFill>
            <a:prstDash val="solid"/>
          </a:ln>
        </p:spPr>
      </p:sp>
      <p:sp>
        <p:nvSpPr>
          <p:cNvPr id="25" name="Text 20"/>
          <p:cNvSpPr txBox="1"/>
          <p:nvPr/>
        </p:nvSpPr>
        <p:spPr>
          <a:xfrm>
            <a:off x="6949440" y="2542032"/>
            <a:ext cx="987552" cy="237744"/>
          </a:xfrm>
          <a:prstGeom prst="rect">
            <a:avLst/>
          </a:prstGeom>
          <a:noFill/>
          <a:ln/>
        </p:spPr>
        <p:txBody>
          <a:bodyPr wrap="square" lIns="0" tIns="0" rIns="0" bIns="0" rtlCol="0" anchor="ctr"/>
          <a:lstStyle/>
          <a:p>
            <a:pPr marL="0" indent="0" algn="ctr">
              <a:buNone/>
            </a:pPr>
            <a:r>
              <a:rPr lang="en-US" sz="750" b="1" kern="0" spc="100" dirty="0">
                <a:solidFill>
                  <a:srgbClr val="00553A"/>
                </a:solidFill>
                <a:latin typeface="Calibri" pitchFamily="34" charset="0"/>
                <a:ea typeface="Calibri" pitchFamily="34" charset="-122"/>
                <a:cs typeface="Calibri" pitchFamily="34" charset="-120"/>
              </a:rPr>
              <a:t>USED IN LAB A</a:t>
            </a:r>
            <a:endParaRPr lang="en-US" sz="750" dirty="0"/>
          </a:p>
        </p:txBody>
      </p:sp>
      <p:sp>
        <p:nvSpPr>
          <p:cNvPr id="26" name="Shape 21"/>
          <p:cNvSpPr/>
          <p:nvPr/>
        </p:nvSpPr>
        <p:spPr>
          <a:xfrm>
            <a:off x="548640" y="3163824"/>
            <a:ext cx="7498080" cy="786384"/>
          </a:xfrm>
          <a:prstGeom prst="roundRect">
            <a:avLst>
              <a:gd name="adj" fmla="val 9302"/>
            </a:avLst>
          </a:prstGeom>
          <a:solidFill>
            <a:srgbClr val="F4F7F5"/>
          </a:solidFill>
          <a:ln w="9525">
            <a:solidFill>
              <a:srgbClr val="D5DED9"/>
            </a:solidFill>
            <a:prstDash val="solid"/>
          </a:ln>
        </p:spPr>
      </p:sp>
      <p:sp>
        <p:nvSpPr>
          <p:cNvPr id="27" name="Shape 22"/>
          <p:cNvSpPr/>
          <p:nvPr/>
        </p:nvSpPr>
        <p:spPr>
          <a:xfrm>
            <a:off x="713232" y="3300984"/>
            <a:ext cx="512064" cy="512064"/>
          </a:xfrm>
          <a:prstGeom prst="ellipse">
            <a:avLst/>
          </a:prstGeom>
          <a:solidFill>
            <a:srgbClr val="00704A"/>
          </a:solidFill>
          <a:ln w="12700">
            <a:solidFill>
              <a:srgbClr val="00704A"/>
            </a:solidFill>
            <a:prstDash val="solid"/>
          </a:ln>
        </p:spPr>
      </p:sp>
      <p:pic>
        <p:nvPicPr>
          <p:cNvPr id="28" name="Image 3" descr="preencoded.png"/>
          <p:cNvPicPr>
            <a:picLocks noChangeAspect="1"/>
          </p:cNvPicPr>
          <p:nvPr/>
        </p:nvPicPr>
        <p:blipFill>
          <a:blip r:embed="rId6"/>
          <a:stretch>
            <a:fillRect/>
          </a:stretch>
        </p:blipFill>
        <p:spPr>
          <a:xfrm>
            <a:off x="846369" y="3434121"/>
            <a:ext cx="245791" cy="245791"/>
          </a:xfrm>
          <a:prstGeom prst="rect">
            <a:avLst/>
          </a:prstGeom>
        </p:spPr>
      </p:pic>
      <p:sp>
        <p:nvSpPr>
          <p:cNvPr id="29" name="Text 23"/>
          <p:cNvSpPr txBox="1"/>
          <p:nvPr/>
        </p:nvSpPr>
        <p:spPr>
          <a:xfrm>
            <a:off x="1371600" y="3236976"/>
            <a:ext cx="2834640" cy="64008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Google Earth Engine</a:t>
            </a:r>
            <a:endParaRPr lang="en-US" sz="1300" dirty="0"/>
          </a:p>
        </p:txBody>
      </p:sp>
      <p:sp>
        <p:nvSpPr>
          <p:cNvPr id="30" name="Text 24"/>
          <p:cNvSpPr txBox="1"/>
          <p:nvPr/>
        </p:nvSpPr>
        <p:spPr>
          <a:xfrm>
            <a:off x="4160520" y="3218688"/>
            <a:ext cx="274320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Hosted catalogue: NOAA/VIIRS/DNB/MONTHLY_V1/VCMSLCFG · NOAA/VIIRS/DNB/ANNUAL_V21 &amp; V22 · Black Marble collections.</a:t>
            </a:r>
            <a:endParaRPr lang="en-US" sz="1050" dirty="0"/>
          </a:p>
        </p:txBody>
      </p:sp>
      <p:sp>
        <p:nvSpPr>
          <p:cNvPr id="31" name="Shape 25"/>
          <p:cNvSpPr/>
          <p:nvPr/>
        </p:nvSpPr>
        <p:spPr>
          <a:xfrm>
            <a:off x="6949440" y="3438144"/>
            <a:ext cx="987552" cy="237744"/>
          </a:xfrm>
          <a:prstGeom prst="roundRect">
            <a:avLst>
              <a:gd name="adj" fmla="val 50000"/>
            </a:avLst>
          </a:prstGeom>
          <a:solidFill>
            <a:srgbClr val="E8F5EF"/>
          </a:solidFill>
          <a:ln w="12700">
            <a:solidFill>
              <a:srgbClr val="E8F5EF"/>
            </a:solidFill>
            <a:prstDash val="solid"/>
          </a:ln>
        </p:spPr>
      </p:sp>
      <p:sp>
        <p:nvSpPr>
          <p:cNvPr id="32" name="Text 26"/>
          <p:cNvSpPr txBox="1"/>
          <p:nvPr/>
        </p:nvSpPr>
        <p:spPr>
          <a:xfrm>
            <a:off x="6949440" y="3438144"/>
            <a:ext cx="987552" cy="237744"/>
          </a:xfrm>
          <a:prstGeom prst="rect">
            <a:avLst/>
          </a:prstGeom>
          <a:noFill/>
          <a:ln/>
        </p:spPr>
        <p:txBody>
          <a:bodyPr wrap="square" lIns="0" tIns="0" rIns="0" bIns="0" rtlCol="0" anchor="ctr"/>
          <a:lstStyle/>
          <a:p>
            <a:pPr marL="0" indent="0" algn="ctr">
              <a:buNone/>
            </a:pPr>
            <a:r>
              <a:rPr lang="en-US" sz="750" b="1" kern="0" spc="100" dirty="0">
                <a:solidFill>
                  <a:srgbClr val="00704A"/>
                </a:solidFill>
                <a:latin typeface="Calibri" pitchFamily="34" charset="0"/>
                <a:ea typeface="Calibri" pitchFamily="34" charset="-122"/>
                <a:cs typeface="Calibri" pitchFamily="34" charset="-120"/>
              </a:rPr>
              <a:t>FALLBACK</a:t>
            </a:r>
            <a:endParaRPr lang="en-US" sz="750" dirty="0"/>
          </a:p>
        </p:txBody>
      </p:sp>
      <p:sp>
        <p:nvSpPr>
          <p:cNvPr id="33" name="Shape 27"/>
          <p:cNvSpPr/>
          <p:nvPr/>
        </p:nvSpPr>
        <p:spPr>
          <a:xfrm>
            <a:off x="548640" y="4059936"/>
            <a:ext cx="7498080" cy="786384"/>
          </a:xfrm>
          <a:prstGeom prst="roundRect">
            <a:avLst>
              <a:gd name="adj" fmla="val 9302"/>
            </a:avLst>
          </a:prstGeom>
          <a:solidFill>
            <a:srgbClr val="F4F7F5"/>
          </a:solidFill>
          <a:ln w="9525">
            <a:solidFill>
              <a:srgbClr val="D5DED9"/>
            </a:solidFill>
            <a:prstDash val="solid"/>
          </a:ln>
        </p:spPr>
      </p:sp>
      <p:sp>
        <p:nvSpPr>
          <p:cNvPr id="34" name="Shape 28"/>
          <p:cNvSpPr/>
          <p:nvPr/>
        </p:nvSpPr>
        <p:spPr>
          <a:xfrm>
            <a:off x="713232" y="4197096"/>
            <a:ext cx="512064" cy="512064"/>
          </a:xfrm>
          <a:prstGeom prst="ellipse">
            <a:avLst/>
          </a:prstGeom>
          <a:solidFill>
            <a:srgbClr val="00704A"/>
          </a:solidFill>
          <a:ln w="12700">
            <a:solidFill>
              <a:srgbClr val="00704A"/>
            </a:solidFill>
            <a:prstDash val="solid"/>
          </a:ln>
        </p:spPr>
      </p:sp>
      <p:pic>
        <p:nvPicPr>
          <p:cNvPr id="35" name="Image 4" descr="preencoded.png"/>
          <p:cNvPicPr>
            <a:picLocks noChangeAspect="1"/>
          </p:cNvPicPr>
          <p:nvPr/>
        </p:nvPicPr>
        <p:blipFill>
          <a:blip r:embed="rId7"/>
          <a:stretch>
            <a:fillRect/>
          </a:stretch>
        </p:blipFill>
        <p:spPr>
          <a:xfrm>
            <a:off x="846369" y="4330233"/>
            <a:ext cx="245791" cy="245791"/>
          </a:xfrm>
          <a:prstGeom prst="rect">
            <a:avLst/>
          </a:prstGeom>
        </p:spPr>
      </p:pic>
      <p:sp>
        <p:nvSpPr>
          <p:cNvPr id="36" name="Text 29"/>
          <p:cNvSpPr txBox="1"/>
          <p:nvPr/>
        </p:nvSpPr>
        <p:spPr>
          <a:xfrm>
            <a:off x="1371600" y="4133088"/>
            <a:ext cx="2834640" cy="64008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Earth Observation Group (EOG)</a:t>
            </a:r>
            <a:endParaRPr lang="en-US" sz="1300" dirty="0"/>
          </a:p>
        </p:txBody>
      </p:sp>
      <p:sp>
        <p:nvSpPr>
          <p:cNvPr id="37" name="Text 30"/>
          <p:cNvSpPr txBox="1"/>
          <p:nvPr/>
        </p:nvSpPr>
        <p:spPr>
          <a:xfrm>
            <a:off x="4160520" y="4114800"/>
            <a:ext cx="274320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VIIRS Nighttime Lights (VNL) annual V2.x and monthly GeoTIFFs; VIIRS Nightfire for gas flares.</a:t>
            </a:r>
            <a:endParaRPr lang="en-US" sz="1050" dirty="0"/>
          </a:p>
        </p:txBody>
      </p:sp>
      <p:sp>
        <p:nvSpPr>
          <p:cNvPr id="38" name="Shape 31"/>
          <p:cNvSpPr/>
          <p:nvPr/>
        </p:nvSpPr>
        <p:spPr>
          <a:xfrm>
            <a:off x="6949440" y="4334256"/>
            <a:ext cx="987552" cy="237744"/>
          </a:xfrm>
          <a:prstGeom prst="roundRect">
            <a:avLst>
              <a:gd name="adj" fmla="val 50000"/>
            </a:avLst>
          </a:prstGeom>
          <a:solidFill>
            <a:srgbClr val="E8F5EF"/>
          </a:solidFill>
          <a:ln w="12700">
            <a:solidFill>
              <a:srgbClr val="E8F5EF"/>
            </a:solidFill>
            <a:prstDash val="solid"/>
          </a:ln>
        </p:spPr>
      </p:sp>
      <p:sp>
        <p:nvSpPr>
          <p:cNvPr id="39" name="Text 32"/>
          <p:cNvSpPr txBox="1"/>
          <p:nvPr/>
        </p:nvSpPr>
        <p:spPr>
          <a:xfrm>
            <a:off x="6949440" y="4334256"/>
            <a:ext cx="987552" cy="237744"/>
          </a:xfrm>
          <a:prstGeom prst="rect">
            <a:avLst/>
          </a:prstGeom>
          <a:noFill/>
          <a:ln/>
        </p:spPr>
        <p:txBody>
          <a:bodyPr wrap="square" lIns="0" tIns="0" rIns="0" bIns="0" rtlCol="0" anchor="ctr"/>
          <a:lstStyle/>
          <a:p>
            <a:pPr marL="0" indent="0" algn="ctr">
              <a:buNone/>
            </a:pPr>
            <a:r>
              <a:rPr lang="en-US" sz="750" b="1" kern="0" spc="100" dirty="0">
                <a:solidFill>
                  <a:srgbClr val="00704A"/>
                </a:solidFill>
                <a:latin typeface="Calibri" pitchFamily="34" charset="0"/>
                <a:ea typeface="Calibri" pitchFamily="34" charset="-122"/>
                <a:cs typeface="Calibri" pitchFamily="34" charset="-120"/>
              </a:rPr>
              <a:t>ANNUAL SERIES</a:t>
            </a:r>
            <a:endParaRPr lang="en-US" sz="750" dirty="0"/>
          </a:p>
        </p:txBody>
      </p:sp>
      <p:sp>
        <p:nvSpPr>
          <p:cNvPr id="40" name="Shape 33"/>
          <p:cNvSpPr/>
          <p:nvPr/>
        </p:nvSpPr>
        <p:spPr>
          <a:xfrm>
            <a:off x="548640" y="4956048"/>
            <a:ext cx="7498080" cy="786384"/>
          </a:xfrm>
          <a:prstGeom prst="roundRect">
            <a:avLst>
              <a:gd name="adj" fmla="val 9302"/>
            </a:avLst>
          </a:prstGeom>
          <a:solidFill>
            <a:srgbClr val="F4F7F5"/>
          </a:solidFill>
          <a:ln w="9525">
            <a:solidFill>
              <a:srgbClr val="D5DED9"/>
            </a:solidFill>
            <a:prstDash val="solid"/>
          </a:ln>
        </p:spPr>
      </p:sp>
      <p:sp>
        <p:nvSpPr>
          <p:cNvPr id="41" name="Shape 34"/>
          <p:cNvSpPr/>
          <p:nvPr/>
        </p:nvSpPr>
        <p:spPr>
          <a:xfrm>
            <a:off x="713232" y="5093208"/>
            <a:ext cx="512064" cy="512064"/>
          </a:xfrm>
          <a:prstGeom prst="ellipse">
            <a:avLst/>
          </a:prstGeom>
          <a:solidFill>
            <a:srgbClr val="00704A"/>
          </a:solidFill>
          <a:ln w="12700">
            <a:solidFill>
              <a:srgbClr val="00704A"/>
            </a:solidFill>
            <a:prstDash val="solid"/>
          </a:ln>
        </p:spPr>
      </p:sp>
      <p:pic>
        <p:nvPicPr>
          <p:cNvPr id="42" name="Image 5" descr="preencoded.png"/>
          <p:cNvPicPr>
            <a:picLocks noChangeAspect="1"/>
          </p:cNvPicPr>
          <p:nvPr/>
        </p:nvPicPr>
        <p:blipFill>
          <a:blip r:embed="rId8"/>
          <a:stretch>
            <a:fillRect/>
          </a:stretch>
        </p:blipFill>
        <p:spPr>
          <a:xfrm>
            <a:off x="846369" y="5226345"/>
            <a:ext cx="245791" cy="245791"/>
          </a:xfrm>
          <a:prstGeom prst="rect">
            <a:avLst/>
          </a:prstGeom>
        </p:spPr>
      </p:pic>
      <p:sp>
        <p:nvSpPr>
          <p:cNvPr id="43" name="Text 35"/>
          <p:cNvSpPr txBox="1"/>
          <p:nvPr/>
        </p:nvSpPr>
        <p:spPr>
          <a:xfrm>
            <a:off x="1371600" y="5029200"/>
            <a:ext cx="2834640" cy="64008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World Bank Light Every Night</a:t>
            </a:r>
            <a:endParaRPr lang="en-US" sz="1300" dirty="0"/>
          </a:p>
        </p:txBody>
      </p:sp>
      <p:sp>
        <p:nvSpPr>
          <p:cNvPr id="44" name="Text 36"/>
          <p:cNvSpPr txBox="1"/>
          <p:nvPr/>
        </p:nvSpPr>
        <p:spPr>
          <a:xfrm>
            <a:off x="4160520" y="5010912"/>
            <a:ext cx="274320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Every nightly DMSP and VIIRS observation as open data on AWS, with tutorials.</a:t>
            </a:r>
            <a:endParaRPr lang="en-US" sz="1050" dirty="0"/>
          </a:p>
        </p:txBody>
      </p:sp>
      <p:sp>
        <p:nvSpPr>
          <p:cNvPr id="45" name="Shape 37"/>
          <p:cNvSpPr/>
          <p:nvPr/>
        </p:nvSpPr>
        <p:spPr>
          <a:xfrm>
            <a:off x="6949440" y="5230368"/>
            <a:ext cx="987552" cy="237744"/>
          </a:xfrm>
          <a:prstGeom prst="roundRect">
            <a:avLst>
              <a:gd name="adj" fmla="val 50000"/>
            </a:avLst>
          </a:prstGeom>
          <a:solidFill>
            <a:srgbClr val="E8F5EF"/>
          </a:solidFill>
          <a:ln w="12700">
            <a:solidFill>
              <a:srgbClr val="E8F5EF"/>
            </a:solidFill>
            <a:prstDash val="solid"/>
          </a:ln>
        </p:spPr>
      </p:sp>
      <p:sp>
        <p:nvSpPr>
          <p:cNvPr id="46" name="Text 38"/>
          <p:cNvSpPr txBox="1"/>
          <p:nvPr/>
        </p:nvSpPr>
        <p:spPr>
          <a:xfrm>
            <a:off x="6949440" y="5230368"/>
            <a:ext cx="987552" cy="237744"/>
          </a:xfrm>
          <a:prstGeom prst="rect">
            <a:avLst/>
          </a:prstGeom>
          <a:noFill/>
          <a:ln/>
        </p:spPr>
        <p:txBody>
          <a:bodyPr wrap="square" lIns="0" tIns="0" rIns="0" bIns="0" rtlCol="0" anchor="ctr"/>
          <a:lstStyle/>
          <a:p>
            <a:pPr marL="0" indent="0" algn="ctr">
              <a:buNone/>
            </a:pPr>
            <a:r>
              <a:rPr lang="en-US" sz="750" b="1" kern="0" spc="100" dirty="0">
                <a:solidFill>
                  <a:srgbClr val="00704A"/>
                </a:solidFill>
                <a:latin typeface="Calibri" pitchFamily="34" charset="0"/>
                <a:ea typeface="Calibri" pitchFamily="34" charset="-122"/>
                <a:cs typeface="Calibri" pitchFamily="34" charset="-120"/>
              </a:rPr>
              <a:t>ADVANCED</a:t>
            </a:r>
            <a:endParaRPr lang="en-US" sz="750" dirty="0"/>
          </a:p>
        </p:txBody>
      </p:sp>
      <p:sp>
        <p:nvSpPr>
          <p:cNvPr id="47" name="Shape 39"/>
          <p:cNvSpPr/>
          <p:nvPr/>
        </p:nvSpPr>
        <p:spPr>
          <a:xfrm>
            <a:off x="8275320" y="1371600"/>
            <a:ext cx="3364992" cy="4370832"/>
          </a:xfrm>
          <a:prstGeom prst="roundRect">
            <a:avLst>
              <a:gd name="adj" fmla="val 2174"/>
            </a:avLst>
          </a:prstGeom>
          <a:solidFill>
            <a:srgbClr val="00553A"/>
          </a:solidFill>
          <a:ln w="9525">
            <a:solidFill>
              <a:srgbClr val="00553A"/>
            </a:solidFill>
            <a:prstDash val="solid"/>
          </a:ln>
        </p:spPr>
      </p:sp>
      <p:sp>
        <p:nvSpPr>
          <p:cNvPr id="48" name="Text 40"/>
          <p:cNvSpPr txBox="1"/>
          <p:nvPr/>
        </p:nvSpPr>
        <p:spPr>
          <a:xfrm>
            <a:off x="8503920" y="1536192"/>
            <a:ext cx="2926080" cy="320040"/>
          </a:xfrm>
          <a:prstGeom prst="rect">
            <a:avLst/>
          </a:prstGeom>
          <a:noFill/>
          <a:ln/>
        </p:spPr>
        <p:txBody>
          <a:bodyPr wrap="square" lIns="0" tIns="0" rIns="0" bIns="0" rtlCol="0" anchor="t"/>
          <a:lstStyle/>
          <a:p>
            <a:pPr marL="0" indent="0">
              <a:buNone/>
            </a:pPr>
            <a:r>
              <a:rPr lang="en-US" sz="1500" b="1" dirty="0">
                <a:solidFill>
                  <a:srgbClr val="F5C242"/>
                </a:solidFill>
                <a:latin typeface="Calibri" pitchFamily="34" charset="0"/>
                <a:ea typeface="Calibri" pitchFamily="34" charset="-122"/>
                <a:cs typeface="Calibri" pitchFamily="34" charset="-120"/>
              </a:rPr>
              <a:t>Choosing a route</a:t>
            </a:r>
            <a:endParaRPr lang="en-US" sz="1500" dirty="0"/>
          </a:p>
        </p:txBody>
      </p:sp>
      <p:sp>
        <p:nvSpPr>
          <p:cNvPr id="49" name="Text 41"/>
          <p:cNvSpPr txBox="1"/>
          <p:nvPr/>
        </p:nvSpPr>
        <p:spPr>
          <a:xfrm>
            <a:off x="8503920" y="1965960"/>
            <a:ext cx="2926080" cy="3657600"/>
          </a:xfrm>
          <a:prstGeom prst="rect">
            <a:avLst/>
          </a:prstGeom>
          <a:noFill/>
          <a:ln/>
        </p:spPr>
        <p:txBody>
          <a:bodyPr wrap="square" lIns="0" tIns="0" rIns="0" bIns="0" rtlCol="0" anchor="t"/>
          <a:lstStyle/>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Reproducible pipeline?</a:t>
            </a:r>
            <a:r>
              <a:rPr lang="en-US" sz="1150" dirty="0">
                <a:solidFill>
                  <a:srgbClr val="D8EEE3"/>
                </a:solidFill>
                <a:latin typeface="Calibri" pitchFamily="34" charset="0"/>
                <a:ea typeface="Calibri" pitchFamily="34" charset="-122"/>
                <a:cs typeface="Calibri" pitchFamily="34" charset="-120"/>
              </a:rPr>
              <a:t> BlackMarblePy or blackmarbler, scripted and versioned.</a:t>
            </a:r>
            <a:endParaRPr lang="en-US" sz="1150" dirty="0"/>
          </a:p>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No local compute?</a:t>
            </a:r>
            <a:r>
              <a:rPr lang="en-US" sz="1150" dirty="0">
                <a:solidFill>
                  <a:srgbClr val="D8EEE3"/>
                </a:solidFill>
                <a:latin typeface="Calibri" pitchFamily="34" charset="0"/>
                <a:ea typeface="Calibri" pitchFamily="34" charset="-122"/>
                <a:cs typeface="Calibri" pitchFamily="34" charset="-120"/>
              </a:rPr>
              <a:t> Earth Engine — but record collection IDs and dates.</a:t>
            </a:r>
            <a:endParaRPr lang="en-US" sz="1150" dirty="0"/>
          </a:p>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Long annual series?</a:t>
            </a:r>
            <a:r>
              <a:rPr lang="en-US" sz="1150" dirty="0">
                <a:solidFill>
                  <a:srgbClr val="D8EEE3"/>
                </a:solidFill>
                <a:latin typeface="Calibri" pitchFamily="34" charset="0"/>
                <a:ea typeface="Calibri" pitchFamily="34" charset="-122"/>
                <a:cs typeface="Calibri" pitchFamily="34" charset="-120"/>
              </a:rPr>
              <a:t> EOG VNL V2 annual composites.</a:t>
            </a:r>
            <a:endParaRPr lang="en-US" sz="1150" dirty="0"/>
          </a:p>
          <a:p>
            <a:pPr marL="177800" indent="-177800">
              <a:spcAft>
                <a:spcPts val="800"/>
              </a:spcAft>
              <a:buSzPct val="100000"/>
              <a:buChar char="•"/>
            </a:pPr>
            <a:r>
              <a:rPr lang="en-US" sz="1150" b="1" dirty="0">
                <a:solidFill>
                  <a:srgbClr val="FFFFFF"/>
                </a:solidFill>
                <a:latin typeface="Calibri" pitchFamily="34" charset="0"/>
                <a:ea typeface="Calibri" pitchFamily="34" charset="-122"/>
                <a:cs typeface="Calibri" pitchFamily="34" charset="-120"/>
              </a:rPr>
              <a:t>Never mix</a:t>
            </a:r>
            <a:r>
              <a:rPr lang="en-US" sz="1150" dirty="0">
                <a:solidFill>
                  <a:srgbClr val="D8EEE3"/>
                </a:solidFill>
                <a:latin typeface="Calibri" pitchFamily="34" charset="0"/>
                <a:ea typeface="Calibri" pitchFamily="34" charset="-122"/>
                <a:cs typeface="Calibri" pitchFamily="34" charset="-120"/>
              </a:rPr>
              <a:t> products in one series without documenting it.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INTERPRETATION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What actually glows over Africa at night</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25</a:t>
            </a:r>
            <a:endParaRPr lang="en-US" sz="900" dirty="0"/>
          </a:p>
        </p:txBody>
      </p:sp>
      <p:sp>
        <p:nvSpPr>
          <p:cNvPr id="12" name="Shape 9"/>
          <p:cNvSpPr/>
          <p:nvPr/>
        </p:nvSpPr>
        <p:spPr>
          <a:xfrm>
            <a:off x="548640" y="1371600"/>
            <a:ext cx="3593592" cy="1920240"/>
          </a:xfrm>
          <a:prstGeom prst="roundRect">
            <a:avLst>
              <a:gd name="adj" fmla="val 3810"/>
            </a:avLst>
          </a:prstGeom>
          <a:solidFill>
            <a:srgbClr val="E6F6EE"/>
          </a:solidFill>
          <a:ln w="9525">
            <a:solidFill>
              <a:srgbClr val="E6F6EE"/>
            </a:solidFill>
            <a:prstDash val="solid"/>
          </a:ln>
        </p:spPr>
      </p:sp>
      <p:sp>
        <p:nvSpPr>
          <p:cNvPr id="13" name="Shape 10"/>
          <p:cNvSpPr/>
          <p:nvPr/>
        </p:nvSpPr>
        <p:spPr>
          <a:xfrm>
            <a:off x="749808" y="1572768"/>
            <a:ext cx="548640" cy="548640"/>
          </a:xfrm>
          <a:prstGeom prst="ellipse">
            <a:avLst/>
          </a:prstGeom>
          <a:solidFill>
            <a:srgbClr val="FFFFFF"/>
          </a:solidFill>
          <a:ln w="12700">
            <a:solidFill>
              <a:srgbClr val="FFFFFF"/>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7276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Cities &amp; settlements</a:t>
            </a:r>
            <a:endParaRPr lang="en-US" sz="1350" dirty="0"/>
          </a:p>
        </p:txBody>
      </p:sp>
      <p:sp>
        <p:nvSpPr>
          <p:cNvPr id="16" name="Shape 12"/>
          <p:cNvSpPr/>
          <p:nvPr/>
        </p:nvSpPr>
        <p:spPr>
          <a:xfrm>
            <a:off x="3246120" y="1709928"/>
            <a:ext cx="731520" cy="256032"/>
          </a:xfrm>
          <a:prstGeom prst="roundRect">
            <a:avLst>
              <a:gd name="adj" fmla="val 50000"/>
            </a:avLst>
          </a:prstGeom>
          <a:solidFill>
            <a:srgbClr val="00704A"/>
          </a:solidFill>
          <a:ln w="12700">
            <a:solidFill>
              <a:srgbClr val="00704A"/>
            </a:solidFill>
            <a:prstDash val="solid"/>
          </a:ln>
        </p:spPr>
      </p:sp>
      <p:sp>
        <p:nvSpPr>
          <p:cNvPr id="17" name="Text 13"/>
          <p:cNvSpPr txBox="1"/>
          <p:nvPr/>
        </p:nvSpPr>
        <p:spPr>
          <a:xfrm>
            <a:off x="3246120" y="170992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SIGNAL</a:t>
            </a:r>
            <a:endParaRPr lang="en-US" sz="850" dirty="0"/>
          </a:p>
        </p:txBody>
      </p:sp>
      <p:sp>
        <p:nvSpPr>
          <p:cNvPr id="18" name="Text 14"/>
          <p:cNvSpPr txBox="1"/>
          <p:nvPr/>
        </p:nvSpPr>
        <p:spPr>
          <a:xfrm>
            <a:off x="749808" y="226771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Streets, buildings, markets, vehicles. The dominant and most-studied part of the signal.</a:t>
            </a:r>
            <a:endParaRPr lang="en-US" sz="1150" dirty="0"/>
          </a:p>
        </p:txBody>
      </p:sp>
      <p:sp>
        <p:nvSpPr>
          <p:cNvPr id="19" name="Shape 15"/>
          <p:cNvSpPr/>
          <p:nvPr/>
        </p:nvSpPr>
        <p:spPr>
          <a:xfrm>
            <a:off x="4297680" y="1371600"/>
            <a:ext cx="3593592" cy="1920240"/>
          </a:xfrm>
          <a:prstGeom prst="roundRect">
            <a:avLst>
              <a:gd name="adj" fmla="val 3810"/>
            </a:avLst>
          </a:prstGeom>
          <a:solidFill>
            <a:srgbClr val="E6F6EE"/>
          </a:solidFill>
          <a:ln w="9525">
            <a:solidFill>
              <a:srgbClr val="E6F6EE"/>
            </a:solidFill>
            <a:prstDash val="solid"/>
          </a:ln>
        </p:spPr>
      </p:sp>
      <p:sp>
        <p:nvSpPr>
          <p:cNvPr id="20" name="Shape 16"/>
          <p:cNvSpPr/>
          <p:nvPr/>
        </p:nvSpPr>
        <p:spPr>
          <a:xfrm>
            <a:off x="4498848" y="1572768"/>
            <a:ext cx="548640" cy="548640"/>
          </a:xfrm>
          <a:prstGeom prst="ellipse">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2" name="Text 17"/>
          <p:cNvSpPr txBox="1"/>
          <p:nvPr/>
        </p:nvSpPr>
        <p:spPr>
          <a:xfrm>
            <a:off x="5166360" y="157276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Corridors, ports &amp; mines</a:t>
            </a:r>
            <a:endParaRPr lang="en-US" sz="1350" dirty="0"/>
          </a:p>
        </p:txBody>
      </p:sp>
      <p:sp>
        <p:nvSpPr>
          <p:cNvPr id="23" name="Shape 18"/>
          <p:cNvSpPr/>
          <p:nvPr/>
        </p:nvSpPr>
        <p:spPr>
          <a:xfrm>
            <a:off x="6995160" y="1709928"/>
            <a:ext cx="731520" cy="256032"/>
          </a:xfrm>
          <a:prstGeom prst="roundRect">
            <a:avLst>
              <a:gd name="adj" fmla="val 50000"/>
            </a:avLst>
          </a:prstGeom>
          <a:solidFill>
            <a:srgbClr val="00704A"/>
          </a:solidFill>
          <a:ln w="12700">
            <a:solidFill>
              <a:srgbClr val="00704A"/>
            </a:solidFill>
            <a:prstDash val="solid"/>
          </a:ln>
        </p:spPr>
      </p:sp>
      <p:sp>
        <p:nvSpPr>
          <p:cNvPr id="24" name="Text 19"/>
          <p:cNvSpPr txBox="1"/>
          <p:nvPr/>
        </p:nvSpPr>
        <p:spPr>
          <a:xfrm>
            <a:off x="6995160" y="170992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SIGNAL</a:t>
            </a:r>
            <a:endParaRPr lang="en-US" sz="850" dirty="0"/>
          </a:p>
        </p:txBody>
      </p:sp>
      <p:sp>
        <p:nvSpPr>
          <p:cNvPr id="25" name="Text 20"/>
          <p:cNvSpPr txBox="1"/>
          <p:nvPr/>
        </p:nvSpPr>
        <p:spPr>
          <a:xfrm>
            <a:off x="4498848" y="226771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Highways, ports, airports, mining and industrial sites: the network between the bright spots.</a:t>
            </a:r>
            <a:endParaRPr lang="en-US" sz="1150" dirty="0"/>
          </a:p>
        </p:txBody>
      </p:sp>
      <p:sp>
        <p:nvSpPr>
          <p:cNvPr id="26" name="Shape 21"/>
          <p:cNvSpPr/>
          <p:nvPr/>
        </p:nvSpPr>
        <p:spPr>
          <a:xfrm>
            <a:off x="8046720" y="1371600"/>
            <a:ext cx="3593592" cy="1920240"/>
          </a:xfrm>
          <a:prstGeom prst="roundRect">
            <a:avLst>
              <a:gd name="adj" fmla="val 3810"/>
            </a:avLst>
          </a:prstGeom>
          <a:solidFill>
            <a:srgbClr val="FBE9E7"/>
          </a:solidFill>
          <a:ln w="9525">
            <a:solidFill>
              <a:srgbClr val="FBE9E7"/>
            </a:solidFill>
            <a:prstDash val="solid"/>
          </a:ln>
        </p:spPr>
      </p:sp>
      <p:sp>
        <p:nvSpPr>
          <p:cNvPr id="27" name="Shape 22"/>
          <p:cNvSpPr/>
          <p:nvPr/>
        </p:nvSpPr>
        <p:spPr>
          <a:xfrm>
            <a:off x="8247888" y="1572768"/>
            <a:ext cx="548640" cy="548640"/>
          </a:xfrm>
          <a:prstGeom prst="ellipse">
            <a:avLst/>
          </a:prstGeom>
          <a:solidFill>
            <a:srgbClr val="FFFFFF"/>
          </a:solidFill>
          <a:ln w="12700">
            <a:solidFill>
              <a:srgbClr val="FFFFFF"/>
            </a:solidFill>
            <a:prstDash val="solid"/>
          </a:ln>
        </p:spPr>
      </p:sp>
      <p:pic>
        <p:nvPicPr>
          <p:cNvPr id="28"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29" name="Text 23"/>
          <p:cNvSpPr txBox="1"/>
          <p:nvPr/>
        </p:nvSpPr>
        <p:spPr>
          <a:xfrm>
            <a:off x="8915400" y="157276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Gas flares</a:t>
            </a:r>
            <a:endParaRPr lang="en-US" sz="1350" dirty="0"/>
          </a:p>
        </p:txBody>
      </p:sp>
      <p:sp>
        <p:nvSpPr>
          <p:cNvPr id="30" name="Shape 24"/>
          <p:cNvSpPr/>
          <p:nvPr/>
        </p:nvSpPr>
        <p:spPr>
          <a:xfrm>
            <a:off x="10744200" y="1709928"/>
            <a:ext cx="731520" cy="256032"/>
          </a:xfrm>
          <a:prstGeom prst="roundRect">
            <a:avLst>
              <a:gd name="adj" fmla="val 50000"/>
            </a:avLst>
          </a:prstGeom>
          <a:solidFill>
            <a:srgbClr val="B83B2E"/>
          </a:solidFill>
          <a:ln w="12700">
            <a:solidFill>
              <a:srgbClr val="B83B2E"/>
            </a:solidFill>
            <a:prstDash val="solid"/>
          </a:ln>
        </p:spPr>
      </p:sp>
      <p:sp>
        <p:nvSpPr>
          <p:cNvPr id="31" name="Text 25"/>
          <p:cNvSpPr txBox="1"/>
          <p:nvPr/>
        </p:nvSpPr>
        <p:spPr>
          <a:xfrm>
            <a:off x="10744200" y="170992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MASK</a:t>
            </a:r>
            <a:endParaRPr lang="en-US" sz="850" dirty="0"/>
          </a:p>
        </p:txBody>
      </p:sp>
      <p:sp>
        <p:nvSpPr>
          <p:cNvPr id="32" name="Text 26"/>
          <p:cNvSpPr txBox="1"/>
          <p:nvPr/>
        </p:nvSpPr>
        <p:spPr>
          <a:xfrm>
            <a:off x="8247888" y="226771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Very bright, isolated points in oil &amp; gas regions — e.g. the Niger Delta, Algeria, Libya. Mask them.</a:t>
            </a:r>
            <a:endParaRPr lang="en-US" sz="1150" dirty="0"/>
          </a:p>
        </p:txBody>
      </p:sp>
      <p:sp>
        <p:nvSpPr>
          <p:cNvPr id="33" name="Shape 27"/>
          <p:cNvSpPr/>
          <p:nvPr/>
        </p:nvSpPr>
        <p:spPr>
          <a:xfrm>
            <a:off x="548640" y="3474720"/>
            <a:ext cx="3593592" cy="1920240"/>
          </a:xfrm>
          <a:prstGeom prst="roundRect">
            <a:avLst>
              <a:gd name="adj" fmla="val 3810"/>
            </a:avLst>
          </a:prstGeom>
          <a:solidFill>
            <a:srgbClr val="FDF5DC"/>
          </a:solidFill>
          <a:ln w="9525">
            <a:solidFill>
              <a:srgbClr val="FDF5DC"/>
            </a:solidFill>
            <a:prstDash val="solid"/>
          </a:ln>
        </p:spPr>
      </p:sp>
      <p:sp>
        <p:nvSpPr>
          <p:cNvPr id="34" name="Shape 28"/>
          <p:cNvSpPr/>
          <p:nvPr/>
        </p:nvSpPr>
        <p:spPr>
          <a:xfrm>
            <a:off x="749808" y="3675888"/>
            <a:ext cx="548640" cy="548640"/>
          </a:xfrm>
          <a:prstGeom prst="ellipse">
            <a:avLst/>
          </a:prstGeom>
          <a:solidFill>
            <a:srgbClr val="FFFFFF"/>
          </a:solidFill>
          <a:ln w="12700">
            <a:solidFill>
              <a:srgbClr val="FFFFFF"/>
            </a:solidFill>
            <a:prstDash val="solid"/>
          </a:ln>
        </p:spPr>
      </p:sp>
      <p:pic>
        <p:nvPicPr>
          <p:cNvPr id="35" name="Image 4" descr="preencoded.png"/>
          <p:cNvPicPr>
            <a:picLocks noChangeAspect="1"/>
          </p:cNvPicPr>
          <p:nvPr/>
        </p:nvPicPr>
        <p:blipFill>
          <a:blip r:embed="rId7"/>
          <a:stretch>
            <a:fillRect/>
          </a:stretch>
        </p:blipFill>
        <p:spPr>
          <a:xfrm>
            <a:off x="892454" y="3818534"/>
            <a:ext cx="263347" cy="263347"/>
          </a:xfrm>
          <a:prstGeom prst="rect">
            <a:avLst/>
          </a:prstGeom>
        </p:spPr>
      </p:pic>
      <p:sp>
        <p:nvSpPr>
          <p:cNvPr id="36" name="Text 29"/>
          <p:cNvSpPr txBox="1"/>
          <p:nvPr/>
        </p:nvSpPr>
        <p:spPr>
          <a:xfrm>
            <a:off x="1417320" y="367588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Fishing lights</a:t>
            </a:r>
            <a:endParaRPr lang="en-US" sz="1350" dirty="0"/>
          </a:p>
        </p:txBody>
      </p:sp>
      <p:sp>
        <p:nvSpPr>
          <p:cNvPr id="37" name="Shape 30"/>
          <p:cNvSpPr/>
          <p:nvPr/>
        </p:nvSpPr>
        <p:spPr>
          <a:xfrm>
            <a:off x="3246120" y="3813048"/>
            <a:ext cx="731520" cy="256032"/>
          </a:xfrm>
          <a:prstGeom prst="roundRect">
            <a:avLst>
              <a:gd name="adj" fmla="val 50000"/>
            </a:avLst>
          </a:prstGeom>
          <a:solidFill>
            <a:srgbClr val="A87700"/>
          </a:solidFill>
          <a:ln w="12700">
            <a:solidFill>
              <a:srgbClr val="A87700"/>
            </a:solidFill>
            <a:prstDash val="solid"/>
          </a:ln>
        </p:spPr>
      </p:sp>
      <p:sp>
        <p:nvSpPr>
          <p:cNvPr id="38" name="Text 31"/>
          <p:cNvSpPr txBox="1"/>
          <p:nvPr/>
        </p:nvSpPr>
        <p:spPr>
          <a:xfrm>
            <a:off x="3246120" y="381304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CONTEXT</a:t>
            </a:r>
            <a:endParaRPr lang="en-US" sz="850" dirty="0"/>
          </a:p>
        </p:txBody>
      </p:sp>
      <p:sp>
        <p:nvSpPr>
          <p:cNvPr id="39" name="Text 32"/>
          <p:cNvSpPr txBox="1"/>
          <p:nvPr/>
        </p:nvSpPr>
        <p:spPr>
          <a:xfrm>
            <a:off x="749808" y="437083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Lamp-attraction fishing on Lake Victoria and Lake Tanganyika; offshore fleets around island states.</a:t>
            </a:r>
            <a:endParaRPr lang="en-US" sz="1150" dirty="0"/>
          </a:p>
        </p:txBody>
      </p:sp>
      <p:sp>
        <p:nvSpPr>
          <p:cNvPr id="40" name="Shape 33"/>
          <p:cNvSpPr/>
          <p:nvPr/>
        </p:nvSpPr>
        <p:spPr>
          <a:xfrm>
            <a:off x="4297680" y="3474720"/>
            <a:ext cx="3593592" cy="1920240"/>
          </a:xfrm>
          <a:prstGeom prst="roundRect">
            <a:avLst>
              <a:gd name="adj" fmla="val 3810"/>
            </a:avLst>
          </a:prstGeom>
          <a:solidFill>
            <a:srgbClr val="FBE9E7"/>
          </a:solidFill>
          <a:ln w="9525">
            <a:solidFill>
              <a:srgbClr val="FBE9E7"/>
            </a:solidFill>
            <a:prstDash val="solid"/>
          </a:ln>
        </p:spPr>
      </p:sp>
      <p:sp>
        <p:nvSpPr>
          <p:cNvPr id="41" name="Shape 34"/>
          <p:cNvSpPr/>
          <p:nvPr/>
        </p:nvSpPr>
        <p:spPr>
          <a:xfrm>
            <a:off x="4498848" y="3675888"/>
            <a:ext cx="548640" cy="548640"/>
          </a:xfrm>
          <a:prstGeom prst="ellipse">
            <a:avLst/>
          </a:prstGeom>
          <a:solidFill>
            <a:srgbClr val="FFFFFF"/>
          </a:solidFill>
          <a:ln w="12700">
            <a:solidFill>
              <a:srgbClr val="FFFFFF"/>
            </a:solidFill>
            <a:prstDash val="solid"/>
          </a:ln>
        </p:spPr>
      </p:sp>
      <p:pic>
        <p:nvPicPr>
          <p:cNvPr id="42" name="Image 5" descr="preencoded.png"/>
          <p:cNvPicPr>
            <a:picLocks noChangeAspect="1"/>
          </p:cNvPicPr>
          <p:nvPr/>
        </p:nvPicPr>
        <p:blipFill>
          <a:blip r:embed="rId8"/>
          <a:stretch>
            <a:fillRect/>
          </a:stretch>
        </p:blipFill>
        <p:spPr>
          <a:xfrm>
            <a:off x="4641494" y="3818534"/>
            <a:ext cx="263347" cy="263347"/>
          </a:xfrm>
          <a:prstGeom prst="rect">
            <a:avLst/>
          </a:prstGeom>
        </p:spPr>
      </p:pic>
      <p:sp>
        <p:nvSpPr>
          <p:cNvPr id="43" name="Text 35"/>
          <p:cNvSpPr txBox="1"/>
          <p:nvPr/>
        </p:nvSpPr>
        <p:spPr>
          <a:xfrm>
            <a:off x="5166360" y="367588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Fires</a:t>
            </a:r>
            <a:endParaRPr lang="en-US" sz="1350" dirty="0"/>
          </a:p>
        </p:txBody>
      </p:sp>
      <p:sp>
        <p:nvSpPr>
          <p:cNvPr id="44" name="Shape 36"/>
          <p:cNvSpPr/>
          <p:nvPr/>
        </p:nvSpPr>
        <p:spPr>
          <a:xfrm>
            <a:off x="6995160" y="3813048"/>
            <a:ext cx="731520" cy="256032"/>
          </a:xfrm>
          <a:prstGeom prst="roundRect">
            <a:avLst>
              <a:gd name="adj" fmla="val 50000"/>
            </a:avLst>
          </a:prstGeom>
          <a:solidFill>
            <a:srgbClr val="B83B2E"/>
          </a:solidFill>
          <a:ln w="12700">
            <a:solidFill>
              <a:srgbClr val="B83B2E"/>
            </a:solidFill>
            <a:prstDash val="solid"/>
          </a:ln>
        </p:spPr>
      </p:sp>
      <p:sp>
        <p:nvSpPr>
          <p:cNvPr id="45" name="Text 37"/>
          <p:cNvSpPr txBox="1"/>
          <p:nvPr/>
        </p:nvSpPr>
        <p:spPr>
          <a:xfrm>
            <a:off x="6995160" y="381304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MASK</a:t>
            </a:r>
            <a:endParaRPr lang="en-US" sz="850" dirty="0"/>
          </a:p>
        </p:txBody>
      </p:sp>
      <p:sp>
        <p:nvSpPr>
          <p:cNvPr id="46" name="Text 38"/>
          <p:cNvSpPr txBox="1"/>
          <p:nvPr/>
        </p:nvSpPr>
        <p:spPr>
          <a:xfrm>
            <a:off x="4498848" y="437083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Savanna and agricultural burning: intense, short-lived and strongly seasonal.</a:t>
            </a:r>
            <a:endParaRPr lang="en-US" sz="1150" dirty="0"/>
          </a:p>
        </p:txBody>
      </p:sp>
      <p:sp>
        <p:nvSpPr>
          <p:cNvPr id="47" name="Shape 39"/>
          <p:cNvSpPr/>
          <p:nvPr/>
        </p:nvSpPr>
        <p:spPr>
          <a:xfrm>
            <a:off x="8046720" y="3474720"/>
            <a:ext cx="3593592" cy="1920240"/>
          </a:xfrm>
          <a:prstGeom prst="roundRect">
            <a:avLst>
              <a:gd name="adj" fmla="val 3810"/>
            </a:avLst>
          </a:prstGeom>
          <a:solidFill>
            <a:srgbClr val="EFF2F0"/>
          </a:solidFill>
          <a:ln w="9525">
            <a:solidFill>
              <a:srgbClr val="EFF2F0"/>
            </a:solidFill>
            <a:prstDash val="solid"/>
          </a:ln>
        </p:spPr>
      </p:sp>
      <p:sp>
        <p:nvSpPr>
          <p:cNvPr id="48" name="Shape 40"/>
          <p:cNvSpPr/>
          <p:nvPr/>
        </p:nvSpPr>
        <p:spPr>
          <a:xfrm>
            <a:off x="8247888" y="3675888"/>
            <a:ext cx="548640" cy="548640"/>
          </a:xfrm>
          <a:prstGeom prst="ellipse">
            <a:avLst/>
          </a:prstGeom>
          <a:solidFill>
            <a:srgbClr val="FFFFFF"/>
          </a:solidFill>
          <a:ln w="12700">
            <a:solidFill>
              <a:srgbClr val="FFFFFF"/>
            </a:solidFill>
            <a:prstDash val="solid"/>
          </a:ln>
        </p:spPr>
      </p:sp>
      <p:pic>
        <p:nvPicPr>
          <p:cNvPr id="49" name="Image 6" descr="preencoded.png"/>
          <p:cNvPicPr>
            <a:picLocks noChangeAspect="1"/>
          </p:cNvPicPr>
          <p:nvPr/>
        </p:nvPicPr>
        <p:blipFill>
          <a:blip r:embed="rId9"/>
          <a:stretch>
            <a:fillRect/>
          </a:stretch>
        </p:blipFill>
        <p:spPr>
          <a:xfrm>
            <a:off x="8390534" y="3818534"/>
            <a:ext cx="263347" cy="263347"/>
          </a:xfrm>
          <a:prstGeom prst="rect">
            <a:avLst/>
          </a:prstGeom>
        </p:spPr>
      </p:pic>
      <p:sp>
        <p:nvSpPr>
          <p:cNvPr id="50" name="Text 41"/>
          <p:cNvSpPr txBox="1"/>
          <p:nvPr/>
        </p:nvSpPr>
        <p:spPr>
          <a:xfrm>
            <a:off x="8915400" y="3675888"/>
            <a:ext cx="182880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Natural &amp; reflected light</a:t>
            </a:r>
            <a:endParaRPr lang="en-US" sz="1350" dirty="0"/>
          </a:p>
        </p:txBody>
      </p:sp>
      <p:sp>
        <p:nvSpPr>
          <p:cNvPr id="51" name="Shape 42"/>
          <p:cNvSpPr/>
          <p:nvPr/>
        </p:nvSpPr>
        <p:spPr>
          <a:xfrm>
            <a:off x="10744200" y="3813048"/>
            <a:ext cx="731520" cy="256032"/>
          </a:xfrm>
          <a:prstGeom prst="roundRect">
            <a:avLst>
              <a:gd name="adj" fmla="val 50000"/>
            </a:avLst>
          </a:prstGeom>
          <a:solidFill>
            <a:srgbClr val="5E6964"/>
          </a:solidFill>
          <a:ln w="12700">
            <a:solidFill>
              <a:srgbClr val="5E6964"/>
            </a:solidFill>
            <a:prstDash val="solid"/>
          </a:ln>
        </p:spPr>
      </p:sp>
      <p:sp>
        <p:nvSpPr>
          <p:cNvPr id="52" name="Text 43"/>
          <p:cNvSpPr txBox="1"/>
          <p:nvPr/>
        </p:nvSpPr>
        <p:spPr>
          <a:xfrm>
            <a:off x="10744200" y="3813048"/>
            <a:ext cx="73152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REMOVE</a:t>
            </a:r>
            <a:endParaRPr lang="en-US" sz="850" dirty="0"/>
          </a:p>
        </p:txBody>
      </p:sp>
      <p:sp>
        <p:nvSpPr>
          <p:cNvPr id="53" name="Text 44"/>
          <p:cNvSpPr txBox="1"/>
          <p:nvPr/>
        </p:nvSpPr>
        <p:spPr>
          <a:xfrm>
            <a:off x="8247888" y="4370832"/>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Moonlight on bright desert sand or salt pans, airglow. Not a human signal at all.</a:t>
            </a:r>
            <a:endParaRPr lang="en-US" sz="1150" dirty="0"/>
          </a:p>
        </p:txBody>
      </p:sp>
      <p:sp>
        <p:nvSpPr>
          <p:cNvPr id="54" name="Text 45"/>
          <p:cNvSpPr txBox="1"/>
          <p:nvPr/>
        </p:nvSpPr>
        <p:spPr>
          <a:xfrm>
            <a:off x="548640" y="5669280"/>
            <a:ext cx="11094415" cy="274320"/>
          </a:xfrm>
          <a:prstGeom prst="rect">
            <a:avLst/>
          </a:prstGeom>
          <a:noFill/>
          <a:ln/>
        </p:spPr>
        <p:txBody>
          <a:bodyPr wrap="square" lIns="0" tIns="0" rIns="0" bIns="0" rtlCol="0" anchor="t"/>
          <a:lstStyle/>
          <a:p>
            <a:pPr marL="0" indent="0">
              <a:buNone/>
            </a:pPr>
            <a:r>
              <a:rPr lang="en-US" sz="1100" i="1" dirty="0">
                <a:solidFill>
                  <a:srgbClr val="5E6964"/>
                </a:solidFill>
                <a:latin typeface="Calibri" pitchFamily="34" charset="0"/>
                <a:ea typeface="Calibri" pitchFamily="34" charset="-122"/>
                <a:cs typeface="Calibri" pitchFamily="34" charset="-120"/>
              </a:rPr>
              <a:t>Gas flares are catalogued separately by the VIIRS Nightfire product (Earth Observation Group).</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ARTEFACTS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Six artefacts you must check before you trust a series</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 · REF</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26</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Artefact</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you see</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Quick test</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Treatment</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704A"/>
                    </a:solidFill>
                  </a:tcPr>
                </a:tc>
                <a:extLst>
                  <a:ext uri="{0D108BD9-81ED-4DB2-BD59-A6C34878D82A}">
                    <a16:rowId xmlns:a16="http://schemas.microsoft.com/office/drawing/2014/main" val="10000"/>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Blooming / overglow</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Light spreads beyond its source; small towns merge; lit area overstated</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Compare lit area with a built-up footprint (GHSL, WSF)</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Raise / test the threshold; use built-up masks; prefer sums at coarse boundaries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Saturation</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Flat tops in city cores (DMSP); bright cores stop growing</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Do maxima cluster at the sensor ceiling?</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Use VIIRS; for DMSP use a harmonised or radiance-calibrated product</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Gas flares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Very bright isolated points in oil &amp; gas regions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Overlay VIIRS Nightfire flare locations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Mask flare sites with a buffer before aggregating</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Seasonality</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A recurring calendar pattern: festivals, fire season, rainy-season gaps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Plot each calendar month across years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Compare year-on-year; seasonally adjust before modelling</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Cloud cover</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Months with few valid nights; noisy or missing values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Read the number-of-observations layer</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Drop months below a minimum count; gap-fill or move to quarterly</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r h="658368">
                <a:tc>
                  <a:txBody>
                    <a:bodyPr/>
                    <a:lstStyle/>
                    <a:p>
                      <a:pPr marL="0" indent="0">
                        <a:buNone/>
                      </a:pPr>
                      <a:r>
                        <a:rPr lang="en-US" sz="1150" b="1" dirty="0">
                          <a:solidFill>
                            <a:srgbClr val="00704A"/>
                          </a:solidFill>
                          <a:latin typeface="Calibri" pitchFamily="34" charset="0"/>
                          <a:ea typeface="Calibri" pitchFamily="34" charset="-122"/>
                          <a:cs typeface="Calibri" pitchFamily="34" charset="-120"/>
                        </a:rPr>
                        <a:t>Sensor discontinuity</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Jumps at DMSP→VIIRS, product versions or satellite switches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Break test around known change dates</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50" dirty="0">
                          <a:solidFill>
                            <a:srgbClr val="231F20"/>
                          </a:solidFill>
                          <a:latin typeface="Calibri" pitchFamily="34" charset="0"/>
                          <a:ea typeface="Calibri" pitchFamily="34" charset="-122"/>
                          <a:cs typeface="Calibri" pitchFamily="34" charset="-120"/>
                        </a:rPr>
                        <a:t>One product and version per series; harmonise and document</a:t>
                      </a:r>
                      <a:endParaRPr lang="en-US" sz="1150" dirty="0">
                        <a:latin typeface="Calibri" charset="0"/>
                        <a:ea typeface="Calibri" charset="0"/>
                        <a:cs typeface="Calibri" charset="0"/>
                      </a:endParaRPr>
                    </a:p>
                  </a:txBody>
                  <a:tcPr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9"/>
          <p:cNvSpPr txBox="1"/>
          <p:nvPr/>
        </p:nvSpPr>
        <p:spPr>
          <a:xfrm>
            <a:off x="548640" y="5806440"/>
            <a:ext cx="11094415" cy="320040"/>
          </a:xfrm>
          <a:prstGeom prst="rect">
            <a:avLst/>
          </a:prstGeom>
          <a:noFill/>
          <a:ln/>
        </p:spPr>
        <p:txBody>
          <a:bodyPr wrap="square" lIns="0" tIns="0" rIns="0" bIns="0" rtlCol="0" anchor="t"/>
          <a:lstStyle/>
          <a:p>
            <a:pPr marL="0" indent="0">
              <a:buNone/>
            </a:pPr>
            <a:r>
              <a:rPr lang="en-US" sz="1150" i="1" dirty="0">
                <a:solidFill>
                  <a:srgbClr val="00704A"/>
                </a:solidFill>
                <a:latin typeface="Calibri" pitchFamily="34" charset="0"/>
                <a:ea typeface="Calibri" pitchFamily="34" charset="-122"/>
                <a:cs typeface="Calibri" pitchFamily="34" charset="-120"/>
              </a:rPr>
              <a:t>Log every artefact you find, where, and how you treated it — it becomes the core of the limitations note you produce in Lab A2.</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AFRICA-SPECIFIC</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Clouds, seasons and calendars: Africa’s special problem</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27</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Schematic profiles for illustration only — read the actual number-of-observations layer for your country. Calendar effects: Román &amp; Stokes (2015), Earth’s Future 3(6).</a:t>
            </a:r>
            <a:endParaRPr lang="en-US" sz="850" dirty="0"/>
          </a:p>
        </p:txBody>
      </p:sp>
      <p:graphicFrame>
        <p:nvGraphicFramePr>
          <p:cNvPr id="13" name="Chart 0"/>
          <p:cNvGraphicFramePr/>
          <p:nvPr/>
        </p:nvGraphicFramePr>
        <p:xfrm>
          <a:off x="548640" y="1325880"/>
          <a:ext cx="630936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086600" y="1325880"/>
            <a:ext cx="4553712" cy="1353312"/>
          </a:xfrm>
          <a:prstGeom prst="roundRect">
            <a:avLst>
              <a:gd name="adj" fmla="val 5405"/>
            </a:avLst>
          </a:prstGeom>
          <a:solidFill>
            <a:srgbClr val="F4F7F5"/>
          </a:solidFill>
          <a:ln w="9525">
            <a:solidFill>
              <a:srgbClr val="D5DED9"/>
            </a:solidFill>
            <a:prstDash val="solid"/>
          </a:ln>
        </p:spPr>
      </p:sp>
      <p:sp>
        <p:nvSpPr>
          <p:cNvPr id="15" name="Shape 11"/>
          <p:cNvSpPr/>
          <p:nvPr/>
        </p:nvSpPr>
        <p:spPr>
          <a:xfrm>
            <a:off x="7251192" y="1508760"/>
            <a:ext cx="502920" cy="50292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5"/>
          <a:stretch>
            <a:fillRect/>
          </a:stretch>
        </p:blipFill>
        <p:spPr>
          <a:xfrm>
            <a:off x="7381951" y="1639519"/>
            <a:ext cx="241402" cy="241402"/>
          </a:xfrm>
          <a:prstGeom prst="rect">
            <a:avLst/>
          </a:prstGeom>
        </p:spPr>
      </p:pic>
      <p:sp>
        <p:nvSpPr>
          <p:cNvPr id="17" name="Text 12"/>
          <p:cNvSpPr txBox="1"/>
          <p:nvPr/>
        </p:nvSpPr>
        <p:spPr>
          <a:xfrm>
            <a:off x="7882128" y="1463040"/>
            <a:ext cx="365760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Rainy seasons thin the record</a:t>
            </a:r>
            <a:endParaRPr lang="en-US" sz="1300" dirty="0"/>
          </a:p>
        </p:txBody>
      </p:sp>
      <p:sp>
        <p:nvSpPr>
          <p:cNvPr id="18" name="Text 13"/>
          <p:cNvSpPr txBox="1"/>
          <p:nvPr/>
        </p:nvSpPr>
        <p:spPr>
          <a:xfrm>
            <a:off x="7882128" y="1783080"/>
            <a:ext cx="365760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Coastal and equatorial regions can have only a handful of valid nights in peak rainy months — the monthly value rests on very little data.</a:t>
            </a:r>
            <a:endParaRPr lang="en-US" sz="1100" dirty="0"/>
          </a:p>
        </p:txBody>
      </p:sp>
      <p:sp>
        <p:nvSpPr>
          <p:cNvPr id="19" name="Shape 14"/>
          <p:cNvSpPr/>
          <p:nvPr/>
        </p:nvSpPr>
        <p:spPr>
          <a:xfrm>
            <a:off x="7086600" y="2816352"/>
            <a:ext cx="4553712" cy="1353312"/>
          </a:xfrm>
          <a:prstGeom prst="roundRect">
            <a:avLst>
              <a:gd name="adj" fmla="val 5405"/>
            </a:avLst>
          </a:prstGeom>
          <a:solidFill>
            <a:srgbClr val="F4F7F5"/>
          </a:solidFill>
          <a:ln w="9525">
            <a:solidFill>
              <a:srgbClr val="D5DED9"/>
            </a:solidFill>
            <a:prstDash val="solid"/>
          </a:ln>
        </p:spPr>
      </p:sp>
      <p:sp>
        <p:nvSpPr>
          <p:cNvPr id="20" name="Shape 15"/>
          <p:cNvSpPr/>
          <p:nvPr/>
        </p:nvSpPr>
        <p:spPr>
          <a:xfrm>
            <a:off x="7251192" y="2999232"/>
            <a:ext cx="502920" cy="50292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6"/>
          <a:stretch>
            <a:fillRect/>
          </a:stretch>
        </p:blipFill>
        <p:spPr>
          <a:xfrm>
            <a:off x="7381951" y="3129991"/>
            <a:ext cx="241402" cy="241402"/>
          </a:xfrm>
          <a:prstGeom prst="rect">
            <a:avLst/>
          </a:prstGeom>
        </p:spPr>
      </p:pic>
      <p:sp>
        <p:nvSpPr>
          <p:cNvPr id="22" name="Text 16"/>
          <p:cNvSpPr txBox="1"/>
          <p:nvPr/>
        </p:nvSpPr>
        <p:spPr>
          <a:xfrm>
            <a:off x="7882128" y="2953512"/>
            <a:ext cx="365760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Dust and smoke dim the signal</a:t>
            </a:r>
            <a:endParaRPr lang="en-US" sz="1300" dirty="0"/>
          </a:p>
        </p:txBody>
      </p:sp>
      <p:sp>
        <p:nvSpPr>
          <p:cNvPr id="23" name="Text 17"/>
          <p:cNvSpPr txBox="1"/>
          <p:nvPr/>
        </p:nvSpPr>
        <p:spPr>
          <a:xfrm>
            <a:off x="7882128" y="3273552"/>
            <a:ext cx="365760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Harmattan dust and dry-season biomass-burning smoke attenuate light even on ‘clear’ nights.</a:t>
            </a:r>
            <a:endParaRPr lang="en-US" sz="1100" dirty="0"/>
          </a:p>
        </p:txBody>
      </p:sp>
      <p:sp>
        <p:nvSpPr>
          <p:cNvPr id="24" name="Shape 18"/>
          <p:cNvSpPr/>
          <p:nvPr/>
        </p:nvSpPr>
        <p:spPr>
          <a:xfrm>
            <a:off x="7086600" y="4306824"/>
            <a:ext cx="4553712" cy="1353312"/>
          </a:xfrm>
          <a:prstGeom prst="roundRect">
            <a:avLst>
              <a:gd name="adj" fmla="val 5405"/>
            </a:avLst>
          </a:prstGeom>
          <a:solidFill>
            <a:srgbClr val="F4F7F5"/>
          </a:solidFill>
          <a:ln w="9525">
            <a:solidFill>
              <a:srgbClr val="D5DED9"/>
            </a:solidFill>
            <a:prstDash val="solid"/>
          </a:ln>
        </p:spPr>
      </p:sp>
      <p:sp>
        <p:nvSpPr>
          <p:cNvPr id="25" name="Shape 19"/>
          <p:cNvSpPr/>
          <p:nvPr/>
        </p:nvSpPr>
        <p:spPr>
          <a:xfrm>
            <a:off x="7251192" y="4489704"/>
            <a:ext cx="502920" cy="50292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7"/>
          <a:stretch>
            <a:fillRect/>
          </a:stretch>
        </p:blipFill>
        <p:spPr>
          <a:xfrm>
            <a:off x="7381951" y="4620463"/>
            <a:ext cx="241402" cy="241402"/>
          </a:xfrm>
          <a:prstGeom prst="rect">
            <a:avLst/>
          </a:prstGeom>
        </p:spPr>
      </p:pic>
      <p:sp>
        <p:nvSpPr>
          <p:cNvPr id="27" name="Text 20"/>
          <p:cNvSpPr txBox="1"/>
          <p:nvPr/>
        </p:nvSpPr>
        <p:spPr>
          <a:xfrm>
            <a:off x="7882128" y="4443984"/>
            <a:ext cx="365760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Calendars move the lights</a:t>
            </a:r>
            <a:endParaRPr lang="en-US" sz="1300" dirty="0"/>
          </a:p>
        </p:txBody>
      </p:sp>
      <p:sp>
        <p:nvSpPr>
          <p:cNvPr id="28" name="Text 21"/>
          <p:cNvSpPr txBox="1"/>
          <p:nvPr/>
        </p:nvSpPr>
        <p:spPr>
          <a:xfrm>
            <a:off x="7882128" y="4764024"/>
            <a:ext cx="3657600" cy="8686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Ramadan, end-of-year festivities and harvest periods change night-time behaviour; holidays measurably shift radiance.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INDICATORS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Turning an image into a number</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 · REF</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28</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Illustrative values. Light concentration (Gini of radiance) is a fourth family, used for spatial inequality.</a:t>
            </a:r>
            <a:endParaRPr lang="en-US" sz="850" dirty="0"/>
          </a:p>
        </p:txBody>
      </p:sp>
      <p:sp>
        <p:nvSpPr>
          <p:cNvPr id="13" name="Text 10"/>
          <p:cNvSpPr txBox="1"/>
          <p:nvPr/>
        </p:nvSpPr>
        <p:spPr>
          <a:xfrm>
            <a:off x="548640" y="1325880"/>
            <a:ext cx="4114800" cy="274320"/>
          </a:xfrm>
          <a:prstGeom prst="rect">
            <a:avLst/>
          </a:prstGeom>
          <a:noFill/>
          <a:ln/>
        </p:spPr>
        <p:txBody>
          <a:bodyPr wrap="square" lIns="0" tIns="0" rIns="0" bIns="0" rtlCol="0" anchor="t"/>
          <a:lstStyle/>
          <a:p>
            <a:pPr marL="0" indent="0">
              <a:buNone/>
            </a:pPr>
            <a:r>
              <a:rPr lang="en-US" sz="1150" b="1" dirty="0">
                <a:solidFill>
                  <a:srgbClr val="00704A"/>
                </a:solidFill>
                <a:latin typeface="Calibri" pitchFamily="34" charset="0"/>
                <a:ea typeface="Calibri" pitchFamily="34" charset="-122"/>
                <a:cs typeface="Calibri" pitchFamily="34" charset="-120"/>
              </a:rPr>
              <a:t>Toy district · radiance per pixel (nW·cm⁻²·sr⁻¹)</a:t>
            </a:r>
            <a:endParaRPr lang="en-US" sz="1150" dirty="0"/>
          </a:p>
        </p:txBody>
      </p:sp>
      <p:sp>
        <p:nvSpPr>
          <p:cNvPr id="14" name="Shape 11"/>
          <p:cNvSpPr/>
          <p:nvPr/>
        </p:nvSpPr>
        <p:spPr>
          <a:xfrm>
            <a:off x="548640" y="1691640"/>
            <a:ext cx="822960" cy="822960"/>
          </a:xfrm>
          <a:prstGeom prst="rect">
            <a:avLst/>
          </a:prstGeom>
          <a:solidFill>
            <a:srgbClr val="F1F6F3"/>
          </a:solidFill>
          <a:ln w="6350">
            <a:solidFill>
              <a:srgbClr val="F1F6F3"/>
            </a:solidFill>
            <a:prstDash val="solid"/>
          </a:ln>
        </p:spPr>
      </p:sp>
      <p:sp>
        <p:nvSpPr>
          <p:cNvPr id="15" name="Text 12"/>
          <p:cNvSpPr txBox="1"/>
          <p:nvPr/>
        </p:nvSpPr>
        <p:spPr>
          <a:xfrm>
            <a:off x="548640" y="169164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0.1</a:t>
            </a:r>
            <a:endParaRPr lang="en-US" sz="1400" dirty="0"/>
          </a:p>
        </p:txBody>
      </p:sp>
      <p:sp>
        <p:nvSpPr>
          <p:cNvPr id="16" name="Shape 13"/>
          <p:cNvSpPr/>
          <p:nvPr/>
        </p:nvSpPr>
        <p:spPr>
          <a:xfrm>
            <a:off x="1417320" y="1691640"/>
            <a:ext cx="822960" cy="822960"/>
          </a:xfrm>
          <a:prstGeom prst="rect">
            <a:avLst/>
          </a:prstGeom>
          <a:solidFill>
            <a:srgbClr val="D3EBDD"/>
          </a:solidFill>
          <a:ln w="6350">
            <a:solidFill>
              <a:srgbClr val="D3EBDD"/>
            </a:solidFill>
            <a:prstDash val="solid"/>
          </a:ln>
        </p:spPr>
      </p:sp>
      <p:sp>
        <p:nvSpPr>
          <p:cNvPr id="17" name="Text 14"/>
          <p:cNvSpPr txBox="1"/>
          <p:nvPr/>
        </p:nvSpPr>
        <p:spPr>
          <a:xfrm>
            <a:off x="1417320" y="169164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0.3</a:t>
            </a:r>
            <a:endParaRPr lang="en-US" sz="1400" dirty="0"/>
          </a:p>
        </p:txBody>
      </p:sp>
      <p:sp>
        <p:nvSpPr>
          <p:cNvPr id="18" name="Shape 15"/>
          <p:cNvSpPr/>
          <p:nvPr/>
        </p:nvSpPr>
        <p:spPr>
          <a:xfrm>
            <a:off x="2286000" y="1691640"/>
            <a:ext cx="822960" cy="822960"/>
          </a:xfrm>
          <a:prstGeom prst="rect">
            <a:avLst/>
          </a:prstGeom>
          <a:solidFill>
            <a:srgbClr val="F1F6F3"/>
          </a:solidFill>
          <a:ln w="6350">
            <a:solidFill>
              <a:srgbClr val="F1F6F3"/>
            </a:solidFill>
            <a:prstDash val="solid"/>
          </a:ln>
        </p:spPr>
      </p:sp>
      <p:sp>
        <p:nvSpPr>
          <p:cNvPr id="19" name="Text 16"/>
          <p:cNvSpPr txBox="1"/>
          <p:nvPr/>
        </p:nvSpPr>
        <p:spPr>
          <a:xfrm>
            <a:off x="2286000" y="169164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0.2</a:t>
            </a:r>
            <a:endParaRPr lang="en-US" sz="1400" dirty="0"/>
          </a:p>
        </p:txBody>
      </p:sp>
      <p:sp>
        <p:nvSpPr>
          <p:cNvPr id="20" name="Shape 17"/>
          <p:cNvSpPr/>
          <p:nvPr/>
        </p:nvSpPr>
        <p:spPr>
          <a:xfrm>
            <a:off x="3154680" y="1691640"/>
            <a:ext cx="822960" cy="822960"/>
          </a:xfrm>
          <a:prstGeom prst="rect">
            <a:avLst/>
          </a:prstGeom>
          <a:solidFill>
            <a:srgbClr val="F1F6F3"/>
          </a:solidFill>
          <a:ln w="6350">
            <a:solidFill>
              <a:srgbClr val="F1F6F3"/>
            </a:solidFill>
            <a:prstDash val="solid"/>
          </a:ln>
        </p:spPr>
      </p:sp>
      <p:sp>
        <p:nvSpPr>
          <p:cNvPr id="21" name="Text 18"/>
          <p:cNvSpPr txBox="1"/>
          <p:nvPr/>
        </p:nvSpPr>
        <p:spPr>
          <a:xfrm>
            <a:off x="3154680" y="169164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0.0</a:t>
            </a:r>
            <a:endParaRPr lang="en-US" sz="1400" dirty="0"/>
          </a:p>
        </p:txBody>
      </p:sp>
      <p:sp>
        <p:nvSpPr>
          <p:cNvPr id="22" name="Shape 19"/>
          <p:cNvSpPr/>
          <p:nvPr/>
        </p:nvSpPr>
        <p:spPr>
          <a:xfrm>
            <a:off x="548640" y="2560320"/>
            <a:ext cx="822960" cy="822960"/>
          </a:xfrm>
          <a:prstGeom prst="rect">
            <a:avLst/>
          </a:prstGeom>
          <a:solidFill>
            <a:srgbClr val="D3EBDD"/>
          </a:solidFill>
          <a:ln w="6350">
            <a:solidFill>
              <a:srgbClr val="D3EBDD"/>
            </a:solidFill>
            <a:prstDash val="solid"/>
          </a:ln>
        </p:spPr>
      </p:sp>
      <p:sp>
        <p:nvSpPr>
          <p:cNvPr id="23" name="Text 20"/>
          <p:cNvSpPr txBox="1"/>
          <p:nvPr/>
        </p:nvSpPr>
        <p:spPr>
          <a:xfrm>
            <a:off x="548640" y="256032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0.4</a:t>
            </a:r>
            <a:endParaRPr lang="en-US" sz="1400" dirty="0"/>
          </a:p>
        </p:txBody>
      </p:sp>
      <p:sp>
        <p:nvSpPr>
          <p:cNvPr id="24" name="Shape 21"/>
          <p:cNvSpPr/>
          <p:nvPr/>
        </p:nvSpPr>
        <p:spPr>
          <a:xfrm>
            <a:off x="1417320" y="2560320"/>
            <a:ext cx="822960" cy="822960"/>
          </a:xfrm>
          <a:prstGeom prst="rect">
            <a:avLst/>
          </a:prstGeom>
          <a:solidFill>
            <a:srgbClr val="00A86A"/>
          </a:solidFill>
          <a:ln w="6350">
            <a:solidFill>
              <a:srgbClr val="00A86A"/>
            </a:solidFill>
            <a:prstDash val="solid"/>
          </a:ln>
        </p:spPr>
      </p:sp>
      <p:sp>
        <p:nvSpPr>
          <p:cNvPr id="25" name="Text 22"/>
          <p:cNvSpPr txBox="1"/>
          <p:nvPr/>
        </p:nvSpPr>
        <p:spPr>
          <a:xfrm>
            <a:off x="1417320" y="25603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2.5</a:t>
            </a:r>
            <a:endParaRPr lang="en-US" sz="1400" dirty="0"/>
          </a:p>
        </p:txBody>
      </p:sp>
      <p:sp>
        <p:nvSpPr>
          <p:cNvPr id="26" name="Shape 23"/>
          <p:cNvSpPr/>
          <p:nvPr/>
        </p:nvSpPr>
        <p:spPr>
          <a:xfrm>
            <a:off x="2286000" y="2560320"/>
            <a:ext cx="822960" cy="822960"/>
          </a:xfrm>
          <a:prstGeom prst="rect">
            <a:avLst/>
          </a:prstGeom>
          <a:solidFill>
            <a:srgbClr val="00704A"/>
          </a:solidFill>
          <a:ln w="6350">
            <a:solidFill>
              <a:srgbClr val="00704A"/>
            </a:solidFill>
            <a:prstDash val="solid"/>
          </a:ln>
        </p:spPr>
      </p:sp>
      <p:sp>
        <p:nvSpPr>
          <p:cNvPr id="27" name="Text 24"/>
          <p:cNvSpPr txBox="1"/>
          <p:nvPr/>
        </p:nvSpPr>
        <p:spPr>
          <a:xfrm>
            <a:off x="2286000" y="25603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6.0</a:t>
            </a:r>
            <a:endParaRPr lang="en-US" sz="1400" dirty="0"/>
          </a:p>
        </p:txBody>
      </p:sp>
      <p:sp>
        <p:nvSpPr>
          <p:cNvPr id="28" name="Shape 25"/>
          <p:cNvSpPr/>
          <p:nvPr/>
        </p:nvSpPr>
        <p:spPr>
          <a:xfrm>
            <a:off x="3154680" y="2560320"/>
            <a:ext cx="822960" cy="822960"/>
          </a:xfrm>
          <a:prstGeom prst="rect">
            <a:avLst/>
          </a:prstGeom>
          <a:solidFill>
            <a:srgbClr val="00A86A"/>
          </a:solidFill>
          <a:ln w="6350">
            <a:solidFill>
              <a:srgbClr val="00A86A"/>
            </a:solidFill>
            <a:prstDash val="solid"/>
          </a:ln>
        </p:spPr>
      </p:sp>
      <p:sp>
        <p:nvSpPr>
          <p:cNvPr id="29" name="Text 26"/>
          <p:cNvSpPr txBox="1"/>
          <p:nvPr/>
        </p:nvSpPr>
        <p:spPr>
          <a:xfrm>
            <a:off x="3154680" y="25603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0" name="Shape 27"/>
          <p:cNvSpPr/>
          <p:nvPr/>
        </p:nvSpPr>
        <p:spPr>
          <a:xfrm>
            <a:off x="548640" y="3429000"/>
            <a:ext cx="822960" cy="822960"/>
          </a:xfrm>
          <a:prstGeom prst="rect">
            <a:avLst/>
          </a:prstGeom>
          <a:solidFill>
            <a:srgbClr val="F1F6F3"/>
          </a:solidFill>
          <a:ln w="6350">
            <a:solidFill>
              <a:srgbClr val="F1F6F3"/>
            </a:solidFill>
            <a:prstDash val="solid"/>
          </a:ln>
        </p:spPr>
      </p:sp>
      <p:sp>
        <p:nvSpPr>
          <p:cNvPr id="31" name="Text 28"/>
          <p:cNvSpPr txBox="1"/>
          <p:nvPr/>
        </p:nvSpPr>
        <p:spPr>
          <a:xfrm>
            <a:off x="548640" y="342900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0.2</a:t>
            </a:r>
            <a:endParaRPr lang="en-US" sz="1400" dirty="0"/>
          </a:p>
        </p:txBody>
      </p:sp>
      <p:sp>
        <p:nvSpPr>
          <p:cNvPr id="32" name="Shape 29"/>
          <p:cNvSpPr/>
          <p:nvPr/>
        </p:nvSpPr>
        <p:spPr>
          <a:xfrm>
            <a:off x="1417320" y="3429000"/>
            <a:ext cx="822960" cy="822960"/>
          </a:xfrm>
          <a:prstGeom prst="rect">
            <a:avLst/>
          </a:prstGeom>
          <a:solidFill>
            <a:srgbClr val="00704A"/>
          </a:solidFill>
          <a:ln w="6350">
            <a:solidFill>
              <a:srgbClr val="00704A"/>
            </a:solidFill>
            <a:prstDash val="solid"/>
          </a:ln>
        </p:spPr>
      </p:sp>
      <p:sp>
        <p:nvSpPr>
          <p:cNvPr id="33" name="Text 30"/>
          <p:cNvSpPr txBox="1"/>
          <p:nvPr/>
        </p:nvSpPr>
        <p:spPr>
          <a:xfrm>
            <a:off x="1417320" y="342900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4.0</a:t>
            </a:r>
            <a:endParaRPr lang="en-US" sz="1400" dirty="0"/>
          </a:p>
        </p:txBody>
      </p:sp>
      <p:sp>
        <p:nvSpPr>
          <p:cNvPr id="34" name="Shape 31"/>
          <p:cNvSpPr/>
          <p:nvPr/>
        </p:nvSpPr>
        <p:spPr>
          <a:xfrm>
            <a:off x="2286000" y="3429000"/>
            <a:ext cx="822960" cy="822960"/>
          </a:xfrm>
          <a:prstGeom prst="rect">
            <a:avLst/>
          </a:prstGeom>
          <a:solidFill>
            <a:srgbClr val="00704A"/>
          </a:solidFill>
          <a:ln w="6350">
            <a:solidFill>
              <a:srgbClr val="00704A"/>
            </a:solidFill>
            <a:prstDash val="solid"/>
          </a:ln>
        </p:spPr>
      </p:sp>
      <p:sp>
        <p:nvSpPr>
          <p:cNvPr id="35" name="Text 32"/>
          <p:cNvSpPr txBox="1"/>
          <p:nvPr/>
        </p:nvSpPr>
        <p:spPr>
          <a:xfrm>
            <a:off x="2286000" y="342900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12.0</a:t>
            </a:r>
            <a:endParaRPr lang="en-US" sz="1400" dirty="0"/>
          </a:p>
        </p:txBody>
      </p:sp>
      <p:sp>
        <p:nvSpPr>
          <p:cNvPr id="36" name="Shape 33"/>
          <p:cNvSpPr/>
          <p:nvPr/>
        </p:nvSpPr>
        <p:spPr>
          <a:xfrm>
            <a:off x="3154680" y="3429000"/>
            <a:ext cx="822960" cy="822960"/>
          </a:xfrm>
          <a:prstGeom prst="rect">
            <a:avLst/>
          </a:prstGeom>
          <a:solidFill>
            <a:srgbClr val="00A86A"/>
          </a:solidFill>
          <a:ln w="6350">
            <a:solidFill>
              <a:srgbClr val="00A86A"/>
            </a:solidFill>
            <a:prstDash val="solid"/>
          </a:ln>
        </p:spPr>
      </p:sp>
      <p:sp>
        <p:nvSpPr>
          <p:cNvPr id="37" name="Text 34"/>
          <p:cNvSpPr txBox="1"/>
          <p:nvPr/>
        </p:nvSpPr>
        <p:spPr>
          <a:xfrm>
            <a:off x="3154680" y="342900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38" name="Shape 35"/>
          <p:cNvSpPr/>
          <p:nvPr/>
        </p:nvSpPr>
        <p:spPr>
          <a:xfrm>
            <a:off x="548640" y="4297680"/>
            <a:ext cx="822960" cy="822960"/>
          </a:xfrm>
          <a:prstGeom prst="rect">
            <a:avLst/>
          </a:prstGeom>
          <a:solidFill>
            <a:srgbClr val="F1F6F3"/>
          </a:solidFill>
          <a:ln w="6350">
            <a:solidFill>
              <a:srgbClr val="F1F6F3"/>
            </a:solidFill>
            <a:prstDash val="solid"/>
          </a:ln>
        </p:spPr>
      </p:sp>
      <p:sp>
        <p:nvSpPr>
          <p:cNvPr id="39" name="Text 36"/>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0.0</a:t>
            </a:r>
            <a:endParaRPr lang="en-US" sz="1400" dirty="0"/>
          </a:p>
        </p:txBody>
      </p:sp>
      <p:sp>
        <p:nvSpPr>
          <p:cNvPr id="40" name="Shape 37"/>
          <p:cNvSpPr/>
          <p:nvPr/>
        </p:nvSpPr>
        <p:spPr>
          <a:xfrm>
            <a:off x="1417320" y="4297680"/>
            <a:ext cx="822960" cy="822960"/>
          </a:xfrm>
          <a:prstGeom prst="rect">
            <a:avLst/>
          </a:prstGeom>
          <a:solidFill>
            <a:srgbClr val="00A86A"/>
          </a:solidFill>
          <a:ln w="6350">
            <a:solidFill>
              <a:srgbClr val="00A86A"/>
            </a:solidFill>
            <a:prstDash val="solid"/>
          </a:ln>
        </p:spPr>
      </p:sp>
      <p:sp>
        <p:nvSpPr>
          <p:cNvPr id="41" name="Text 38"/>
          <p:cNvSpPr txBox="1"/>
          <p:nvPr/>
        </p:nvSpPr>
        <p:spPr>
          <a:xfrm>
            <a:off x="1417320" y="429768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2" name="Shape 39"/>
          <p:cNvSpPr/>
          <p:nvPr/>
        </p:nvSpPr>
        <p:spPr>
          <a:xfrm>
            <a:off x="2286000" y="4297680"/>
            <a:ext cx="822960" cy="822960"/>
          </a:xfrm>
          <a:prstGeom prst="rect">
            <a:avLst/>
          </a:prstGeom>
          <a:solidFill>
            <a:srgbClr val="00A86A"/>
          </a:solidFill>
          <a:ln w="6350">
            <a:solidFill>
              <a:srgbClr val="00A86A"/>
            </a:solidFill>
            <a:prstDash val="solid"/>
          </a:ln>
        </p:spPr>
      </p:sp>
      <p:sp>
        <p:nvSpPr>
          <p:cNvPr id="43" name="Text 40"/>
          <p:cNvSpPr txBox="1"/>
          <p:nvPr/>
        </p:nvSpPr>
        <p:spPr>
          <a:xfrm>
            <a:off x="2286000" y="429768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4" name="Shape 41"/>
          <p:cNvSpPr/>
          <p:nvPr/>
        </p:nvSpPr>
        <p:spPr>
          <a:xfrm>
            <a:off x="3154680" y="4297680"/>
            <a:ext cx="822960" cy="822960"/>
          </a:xfrm>
          <a:prstGeom prst="rect">
            <a:avLst/>
          </a:prstGeom>
          <a:solidFill>
            <a:srgbClr val="D3EBDD"/>
          </a:solidFill>
          <a:ln w="6350">
            <a:solidFill>
              <a:srgbClr val="D3EBDD"/>
            </a:solidFill>
            <a:prstDash val="solid"/>
          </a:ln>
        </p:spPr>
      </p:sp>
      <p:sp>
        <p:nvSpPr>
          <p:cNvPr id="45" name="Text 42"/>
          <p:cNvSpPr txBox="1"/>
          <p:nvPr/>
        </p:nvSpPr>
        <p:spPr>
          <a:xfrm>
            <a:off x="3154680" y="4297680"/>
            <a:ext cx="822960" cy="822960"/>
          </a:xfrm>
          <a:prstGeom prst="rect">
            <a:avLst/>
          </a:prstGeom>
          <a:noFill/>
          <a:ln/>
        </p:spPr>
        <p:txBody>
          <a:bodyPr wrap="square" lIns="0" tIns="0" rIns="0" bIns="0" rtlCol="0" anchor="ctr"/>
          <a:lstStyle/>
          <a:p>
            <a:pPr marL="0" indent="0" algn="ctr">
              <a:buNone/>
            </a:pPr>
            <a:r>
              <a:rPr lang="en-US" sz="1400" b="1" dirty="0">
                <a:solidFill>
                  <a:srgbClr val="5E6964"/>
                </a:solidFill>
                <a:latin typeface="Calibri" pitchFamily="34" charset="0"/>
                <a:ea typeface="Calibri" pitchFamily="34" charset="-122"/>
                <a:cs typeface="Calibri" pitchFamily="34" charset="-120"/>
              </a:rPr>
              <a:t>0.3</a:t>
            </a:r>
            <a:endParaRPr lang="en-US" sz="1400" dirty="0"/>
          </a:p>
        </p:txBody>
      </p:sp>
      <p:sp>
        <p:nvSpPr>
          <p:cNvPr id="46" name="Text 43"/>
          <p:cNvSpPr txBox="1"/>
          <p:nvPr/>
        </p:nvSpPr>
        <p:spPr>
          <a:xfrm>
            <a:off x="548640" y="5212080"/>
            <a:ext cx="3657600" cy="27432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Shaded blue = above threshold 0.5</a:t>
            </a:r>
            <a:endParaRPr lang="en-US" sz="1050" dirty="0"/>
          </a:p>
        </p:txBody>
      </p:sp>
      <p:sp>
        <p:nvSpPr>
          <p:cNvPr id="47" name="Shape 44"/>
          <p:cNvSpPr/>
          <p:nvPr/>
        </p:nvSpPr>
        <p:spPr>
          <a:xfrm>
            <a:off x="4343400" y="1325880"/>
            <a:ext cx="7296912" cy="1078992"/>
          </a:xfrm>
          <a:prstGeom prst="roundRect">
            <a:avLst>
              <a:gd name="adj" fmla="val 6780"/>
            </a:avLst>
          </a:prstGeom>
          <a:solidFill>
            <a:srgbClr val="F4F7F5"/>
          </a:solidFill>
          <a:ln w="9525">
            <a:solidFill>
              <a:srgbClr val="D5DED9"/>
            </a:solidFill>
            <a:prstDash val="solid"/>
          </a:ln>
        </p:spPr>
      </p:sp>
      <p:sp>
        <p:nvSpPr>
          <p:cNvPr id="48" name="Text 45"/>
          <p:cNvSpPr txBox="1"/>
          <p:nvPr/>
        </p:nvSpPr>
        <p:spPr>
          <a:xfrm>
            <a:off x="4480560" y="1325880"/>
            <a:ext cx="1463040" cy="1078992"/>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30.1</a:t>
            </a:r>
            <a:endParaRPr lang="en-US" sz="2800" dirty="0"/>
          </a:p>
        </p:txBody>
      </p:sp>
      <p:sp>
        <p:nvSpPr>
          <p:cNvPr id="49" name="Text 46"/>
          <p:cNvSpPr txBox="1"/>
          <p:nvPr/>
        </p:nvSpPr>
        <p:spPr>
          <a:xfrm>
            <a:off x="6035040" y="1435608"/>
            <a:ext cx="548640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Sum of Lights (SOL)</a:t>
            </a:r>
            <a:endParaRPr lang="en-US" sz="1350" dirty="0"/>
          </a:p>
        </p:txBody>
      </p:sp>
      <p:sp>
        <p:nvSpPr>
          <p:cNvPr id="50" name="Text 47"/>
          <p:cNvSpPr txBox="1"/>
          <p:nvPr/>
        </p:nvSpPr>
        <p:spPr>
          <a:xfrm>
            <a:off x="6035040" y="1746504"/>
            <a:ext cx="5486400" cy="59436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Total radiance inside a boundary. Workhorse of the economics literature; most sensitive to background noise.</a:t>
            </a:r>
            <a:endParaRPr lang="en-US" sz="1150" dirty="0"/>
          </a:p>
        </p:txBody>
      </p:sp>
      <p:sp>
        <p:nvSpPr>
          <p:cNvPr id="51" name="Shape 48"/>
          <p:cNvSpPr/>
          <p:nvPr/>
        </p:nvSpPr>
        <p:spPr>
          <a:xfrm>
            <a:off x="4343400" y="2532888"/>
            <a:ext cx="7296912" cy="1078992"/>
          </a:xfrm>
          <a:prstGeom prst="roundRect">
            <a:avLst>
              <a:gd name="adj" fmla="val 6780"/>
            </a:avLst>
          </a:prstGeom>
          <a:solidFill>
            <a:srgbClr val="F4F7F5"/>
          </a:solidFill>
          <a:ln w="9525">
            <a:solidFill>
              <a:srgbClr val="D5DED9"/>
            </a:solidFill>
            <a:prstDash val="solid"/>
          </a:ln>
        </p:spPr>
      </p:sp>
      <p:sp>
        <p:nvSpPr>
          <p:cNvPr id="52" name="Text 49"/>
          <p:cNvSpPr txBox="1"/>
          <p:nvPr/>
        </p:nvSpPr>
        <p:spPr>
          <a:xfrm>
            <a:off x="4480560" y="2532888"/>
            <a:ext cx="1463040" cy="1078992"/>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3" name="Text 50"/>
          <p:cNvSpPr txBox="1"/>
          <p:nvPr/>
        </p:nvSpPr>
        <p:spPr>
          <a:xfrm>
            <a:off x="6035040" y="2642616"/>
            <a:ext cx="548640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Lit area</a:t>
            </a:r>
            <a:endParaRPr lang="en-US" sz="1350" dirty="0"/>
          </a:p>
        </p:txBody>
      </p:sp>
      <p:sp>
        <p:nvSpPr>
          <p:cNvPr id="54" name="Text 51"/>
          <p:cNvSpPr txBox="1"/>
          <p:nvPr/>
        </p:nvSpPr>
        <p:spPr>
          <a:xfrm>
            <a:off x="6035040" y="2953512"/>
            <a:ext cx="5486400" cy="59436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Pixels above a chosen threshold. Intuitive — but the threshold is a researcher choice.</a:t>
            </a:r>
            <a:endParaRPr lang="en-US" sz="1150" dirty="0"/>
          </a:p>
        </p:txBody>
      </p:sp>
      <p:sp>
        <p:nvSpPr>
          <p:cNvPr id="55" name="Shape 52"/>
          <p:cNvSpPr/>
          <p:nvPr/>
        </p:nvSpPr>
        <p:spPr>
          <a:xfrm>
            <a:off x="4343400" y="3739896"/>
            <a:ext cx="7296912" cy="1078992"/>
          </a:xfrm>
          <a:prstGeom prst="roundRect">
            <a:avLst>
              <a:gd name="adj" fmla="val 6780"/>
            </a:avLst>
          </a:prstGeom>
          <a:solidFill>
            <a:srgbClr val="F4F7F5"/>
          </a:solidFill>
          <a:ln w="9525">
            <a:solidFill>
              <a:srgbClr val="D5DED9"/>
            </a:solidFill>
            <a:prstDash val="solid"/>
          </a:ln>
        </p:spPr>
      </p:sp>
      <p:sp>
        <p:nvSpPr>
          <p:cNvPr id="56" name="Text 53"/>
          <p:cNvSpPr txBox="1"/>
          <p:nvPr/>
        </p:nvSpPr>
        <p:spPr>
          <a:xfrm>
            <a:off x="4480560" y="3739896"/>
            <a:ext cx="1463040" cy="1078992"/>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3.6</a:t>
            </a:r>
            <a:endParaRPr lang="en-US" sz="2800" dirty="0"/>
          </a:p>
        </p:txBody>
      </p:sp>
      <p:sp>
        <p:nvSpPr>
          <p:cNvPr id="57" name="Text 54"/>
          <p:cNvSpPr txBox="1"/>
          <p:nvPr/>
        </p:nvSpPr>
        <p:spPr>
          <a:xfrm>
            <a:off x="6035040" y="3849624"/>
            <a:ext cx="548640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Mean radiance (lit)</a:t>
            </a:r>
            <a:endParaRPr lang="en-US" sz="1350" dirty="0"/>
          </a:p>
        </p:txBody>
      </p:sp>
      <p:sp>
        <p:nvSpPr>
          <p:cNvPr id="58" name="Text 55"/>
          <p:cNvSpPr txBox="1"/>
          <p:nvPr/>
        </p:nvSpPr>
        <p:spPr>
          <a:xfrm>
            <a:off x="6035040" y="4160520"/>
            <a:ext cx="5486400" cy="59436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Brightness independent of extent. Separates a district getting brighter from one getting bigger.</a:t>
            </a:r>
            <a:endParaRPr lang="en-US" sz="1150" dirty="0"/>
          </a:p>
        </p:txBody>
      </p:sp>
      <p:sp>
        <p:nvSpPr>
          <p:cNvPr id="59" name="Shape 56"/>
          <p:cNvSpPr/>
          <p:nvPr/>
        </p:nvSpPr>
        <p:spPr>
          <a:xfrm>
            <a:off x="4343400" y="4983480"/>
            <a:ext cx="7296912" cy="777240"/>
          </a:xfrm>
          <a:prstGeom prst="roundRect">
            <a:avLst>
              <a:gd name="adj" fmla="val 9412"/>
            </a:avLst>
          </a:prstGeom>
          <a:solidFill>
            <a:srgbClr val="FDF5DC"/>
          </a:solidFill>
          <a:ln w="9525">
            <a:solidFill>
              <a:srgbClr val="F5C242"/>
            </a:solidFill>
            <a:prstDash val="solid"/>
          </a:ln>
        </p:spPr>
      </p:sp>
      <p:sp>
        <p:nvSpPr>
          <p:cNvPr id="60" name="Text 57"/>
          <p:cNvSpPr txBox="1"/>
          <p:nvPr/>
        </p:nvSpPr>
        <p:spPr>
          <a:xfrm>
            <a:off x="4526280" y="4983480"/>
            <a:ext cx="6949440" cy="77724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Raise the threshold to 1.0 → lit area falls from 8 to 6 pixels (−25%). </a:t>
            </a:r>
            <a:r>
              <a:rPr lang="en-US" sz="1200" dirty="0">
                <a:solidFill>
                  <a:srgbClr val="231F20"/>
                </a:solidFill>
                <a:latin typeface="Calibri" pitchFamily="34" charset="0"/>
                <a:ea typeface="Calibri" pitchFamily="34" charset="-122"/>
                <a:cs typeface="Calibri" pitchFamily="34" charset="-120"/>
              </a:rPr>
              <a:t>Always report product, version, boundary, threshold and masks — and test the threshold.</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DESIGN CHOICES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Normalise and aggregate deliberately</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 · REF</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29</a:t>
            </a:r>
            <a:endParaRPr lang="en-US" sz="900" dirty="0"/>
          </a:p>
        </p:txBody>
      </p:sp>
      <p:sp>
        <p:nvSpPr>
          <p:cNvPr id="12" name="Shape 9"/>
          <p:cNvSpPr/>
          <p:nvPr/>
        </p:nvSpPr>
        <p:spPr>
          <a:xfrm>
            <a:off x="548640" y="1371600"/>
            <a:ext cx="3593592" cy="3337560"/>
          </a:xfrm>
          <a:prstGeom prst="roundRect">
            <a:avLst>
              <a:gd name="adj" fmla="val 2192"/>
            </a:avLst>
          </a:prstGeom>
          <a:solidFill>
            <a:srgbClr val="F4F7F5"/>
          </a:solidFill>
          <a:ln w="9525">
            <a:solidFill>
              <a:srgbClr val="D5DED9"/>
            </a:solidFill>
            <a:prstDash val="solid"/>
          </a:ln>
        </p:spPr>
      </p:sp>
      <p:sp>
        <p:nvSpPr>
          <p:cNvPr id="13" name="Shape 10"/>
          <p:cNvSpPr/>
          <p:nvPr/>
        </p:nvSpPr>
        <p:spPr>
          <a:xfrm>
            <a:off x="749808"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72768"/>
            <a:ext cx="2560320" cy="548640"/>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Across space</a:t>
            </a:r>
            <a:endParaRPr lang="en-US" sz="1500" dirty="0"/>
          </a:p>
        </p:txBody>
      </p:sp>
      <p:sp>
        <p:nvSpPr>
          <p:cNvPr id="16" name="Text 12"/>
          <p:cNvSpPr txBox="1"/>
          <p:nvPr/>
        </p:nvSpPr>
        <p:spPr>
          <a:xfrm>
            <a:off x="74980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Boundary:</a:t>
            </a:r>
            <a:r>
              <a:rPr lang="en-US" sz="1300" dirty="0">
                <a:solidFill>
                  <a:srgbClr val="231F20"/>
                </a:solidFill>
                <a:latin typeface="Calibri" pitchFamily="34" charset="0"/>
                <a:ea typeface="Calibri" pitchFamily="34" charset="-122"/>
                <a:cs typeface="Calibri" pitchFamily="34" charset="-120"/>
              </a:rPr>
              <a:t> admin-1 for macro comparisons; settlement footprints for programmes.</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Statistic:</a:t>
            </a:r>
            <a:r>
              <a:rPr lang="en-US" sz="1300" dirty="0">
                <a:solidFill>
                  <a:srgbClr val="231F20"/>
                </a:solidFill>
                <a:latin typeface="Calibri" pitchFamily="34" charset="0"/>
                <a:ea typeface="Calibri" pitchFamily="34" charset="-122"/>
                <a:cs typeface="Calibri" pitchFamily="34" charset="-120"/>
              </a:rPr>
              <a:t> sum for ‘how much’, mean for ‘how bright’, lit area for ‘how big’.</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Zonal tool:</a:t>
            </a:r>
            <a:r>
              <a:rPr lang="en-US" sz="1300" dirty="0">
                <a:solidFill>
                  <a:srgbClr val="231F20"/>
                </a:solidFill>
                <a:latin typeface="Calibri" pitchFamily="34" charset="0"/>
                <a:ea typeface="Calibri" pitchFamily="34" charset="-122"/>
                <a:cs typeface="Calibri" pitchFamily="34" charset="-120"/>
              </a:rPr>
              <a:t> exactextract weights partial pixels at boundaries.</a:t>
            </a:r>
            <a:endParaRPr lang="en-US" sz="1300" dirty="0"/>
          </a:p>
        </p:txBody>
      </p:sp>
      <p:sp>
        <p:nvSpPr>
          <p:cNvPr id="17" name="Shape 13"/>
          <p:cNvSpPr/>
          <p:nvPr/>
        </p:nvSpPr>
        <p:spPr>
          <a:xfrm>
            <a:off x="4297680" y="1371600"/>
            <a:ext cx="3593592" cy="3337560"/>
          </a:xfrm>
          <a:prstGeom prst="roundRect">
            <a:avLst>
              <a:gd name="adj" fmla="val 2192"/>
            </a:avLst>
          </a:prstGeom>
          <a:solidFill>
            <a:srgbClr val="F4F7F5"/>
          </a:solidFill>
          <a:ln w="9525">
            <a:solidFill>
              <a:srgbClr val="D5DED9"/>
            </a:solidFill>
            <a:prstDash val="solid"/>
          </a:ln>
        </p:spPr>
      </p:sp>
      <p:sp>
        <p:nvSpPr>
          <p:cNvPr id="18" name="Shape 14"/>
          <p:cNvSpPr/>
          <p:nvPr/>
        </p:nvSpPr>
        <p:spPr>
          <a:xfrm>
            <a:off x="4498848" y="1572768"/>
            <a:ext cx="548640" cy="548640"/>
          </a:xfrm>
          <a:prstGeom prst="ellipse">
            <a:avLst/>
          </a:prstGeom>
          <a:solidFill>
            <a:srgbClr val="00704A"/>
          </a:solidFill>
          <a:ln w="12700">
            <a:solidFill>
              <a:srgbClr val="00704A"/>
            </a:solidFill>
            <a:prstDash val="solid"/>
          </a:ln>
        </p:spPr>
      </p:sp>
      <p:pic>
        <p:nvPicPr>
          <p:cNvPr id="19"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0" name="Text 15"/>
          <p:cNvSpPr txBox="1"/>
          <p:nvPr/>
        </p:nvSpPr>
        <p:spPr>
          <a:xfrm>
            <a:off x="5166360" y="1572768"/>
            <a:ext cx="2560320" cy="548640"/>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Normalisation</a:t>
            </a:r>
            <a:endParaRPr lang="en-US" sz="1500" dirty="0"/>
          </a:p>
        </p:txBody>
      </p:sp>
      <p:sp>
        <p:nvSpPr>
          <p:cNvPr id="21" name="Text 16"/>
          <p:cNvSpPr txBox="1"/>
          <p:nvPr/>
        </p:nvSpPr>
        <p:spPr>
          <a:xfrm>
            <a:off x="449884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Per km²:</a:t>
            </a:r>
            <a:r>
              <a:rPr lang="en-US" sz="1300" dirty="0">
                <a:solidFill>
                  <a:srgbClr val="231F20"/>
                </a:solidFill>
                <a:latin typeface="Calibri" pitchFamily="34" charset="0"/>
                <a:ea typeface="Calibri" pitchFamily="34" charset="-122"/>
                <a:cs typeface="Calibri" pitchFamily="34" charset="-120"/>
              </a:rPr>
              <a:t> compares intensity across units of different size.</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Per capita:</a:t>
            </a:r>
            <a:r>
              <a:rPr lang="en-US" sz="1300" dirty="0">
                <a:solidFill>
                  <a:srgbClr val="231F20"/>
                </a:solidFill>
                <a:latin typeface="Calibri" pitchFamily="34" charset="0"/>
                <a:ea typeface="Calibri" pitchFamily="34" charset="-122"/>
                <a:cs typeface="Calibri" pitchFamily="34" charset="-120"/>
              </a:rPr>
              <a:t> only with an independent population source (census).</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Logs:</a:t>
            </a:r>
            <a:r>
              <a:rPr lang="en-US" sz="1300" dirty="0">
                <a:solidFill>
                  <a:srgbClr val="231F20"/>
                </a:solidFill>
                <a:latin typeface="Calibri" pitchFamily="34" charset="0"/>
                <a:ea typeface="Calibri" pitchFamily="34" charset="-122"/>
                <a:cs typeface="Calibri" pitchFamily="34" charset="-120"/>
              </a:rPr>
              <a:t> log(SOL) tames skew; set a noise floor before taking logs.</a:t>
            </a:r>
            <a:endParaRPr lang="en-US" sz="1300" dirty="0"/>
          </a:p>
        </p:txBody>
      </p:sp>
      <p:sp>
        <p:nvSpPr>
          <p:cNvPr id="22" name="Shape 17"/>
          <p:cNvSpPr/>
          <p:nvPr/>
        </p:nvSpPr>
        <p:spPr>
          <a:xfrm>
            <a:off x="8046720" y="1371600"/>
            <a:ext cx="3593592" cy="3337560"/>
          </a:xfrm>
          <a:prstGeom prst="roundRect">
            <a:avLst>
              <a:gd name="adj" fmla="val 2192"/>
            </a:avLst>
          </a:prstGeom>
          <a:solidFill>
            <a:srgbClr val="F4F7F5"/>
          </a:solidFill>
          <a:ln w="9525">
            <a:solidFill>
              <a:srgbClr val="D5DED9"/>
            </a:solidFill>
            <a:prstDash val="solid"/>
          </a:ln>
        </p:spPr>
      </p:sp>
      <p:sp>
        <p:nvSpPr>
          <p:cNvPr id="23" name="Shape 18"/>
          <p:cNvSpPr/>
          <p:nvPr/>
        </p:nvSpPr>
        <p:spPr>
          <a:xfrm>
            <a:off x="8247888" y="1572768"/>
            <a:ext cx="548640" cy="548640"/>
          </a:xfrm>
          <a:prstGeom prst="ellipse">
            <a:avLst/>
          </a:prstGeom>
          <a:solidFill>
            <a:srgbClr val="00704A"/>
          </a:solidFill>
          <a:ln w="12700">
            <a:solidFill>
              <a:srgbClr val="00704A"/>
            </a:solidFill>
            <a:prstDash val="solid"/>
          </a:ln>
        </p:spPr>
      </p:sp>
      <p:pic>
        <p:nvPicPr>
          <p:cNvPr id="24"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25" name="Text 19"/>
          <p:cNvSpPr txBox="1"/>
          <p:nvPr/>
        </p:nvSpPr>
        <p:spPr>
          <a:xfrm>
            <a:off x="8915400" y="1572768"/>
            <a:ext cx="2560320" cy="548640"/>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Across time</a:t>
            </a:r>
            <a:endParaRPr lang="en-US" sz="1500" dirty="0"/>
          </a:p>
        </p:txBody>
      </p:sp>
      <p:sp>
        <p:nvSpPr>
          <p:cNvPr id="26" name="Text 20"/>
          <p:cNvSpPr txBox="1"/>
          <p:nvPr/>
        </p:nvSpPr>
        <p:spPr>
          <a:xfrm>
            <a:off x="8247888" y="2286000"/>
            <a:ext cx="3200400" cy="2331720"/>
          </a:xfrm>
          <a:prstGeom prst="rect">
            <a:avLst/>
          </a:prstGeom>
          <a:noFill/>
          <a:ln/>
        </p:spPr>
        <p:txBody>
          <a:bodyPr wrap="square" lIns="0" tIns="0" rIns="0" bIns="0" rtlCol="0" anchor="t"/>
          <a:lstStyle/>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Monthly → quarterly:</a:t>
            </a:r>
            <a:r>
              <a:rPr lang="en-US" sz="1300" dirty="0">
                <a:solidFill>
                  <a:srgbClr val="231F20"/>
                </a:solidFill>
                <a:latin typeface="Calibri" pitchFamily="34" charset="0"/>
                <a:ea typeface="Calibri" pitchFamily="34" charset="-122"/>
                <a:cs typeface="Calibri" pitchFamily="34" charset="-120"/>
              </a:rPr>
              <a:t> average the months to match quarterly GDP.</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Growth:</a:t>
            </a:r>
            <a:r>
              <a:rPr lang="en-US" sz="1300" dirty="0">
                <a:solidFill>
                  <a:srgbClr val="231F20"/>
                </a:solidFill>
                <a:latin typeface="Calibri" pitchFamily="34" charset="0"/>
                <a:ea typeface="Calibri" pitchFamily="34" charset="-122"/>
                <a:cs typeface="Calibri" pitchFamily="34" charset="-120"/>
              </a:rPr>
              <a:t> year-on-year change in the same month removes most seasonality.</a:t>
            </a:r>
            <a:endParaRPr lang="en-US" sz="1300" dirty="0"/>
          </a:p>
          <a:p>
            <a:pPr marL="177800" indent="-177800">
              <a:spcAft>
                <a:spcPts val="1000"/>
              </a:spcAft>
              <a:buSzPct val="100000"/>
              <a:buChar char="•"/>
            </a:pPr>
            <a:r>
              <a:rPr lang="en-US" sz="1300" b="1" dirty="0">
                <a:solidFill>
                  <a:srgbClr val="00704A"/>
                </a:solidFill>
                <a:latin typeface="Calibri" pitchFamily="34" charset="0"/>
                <a:ea typeface="Calibri" pitchFamily="34" charset="-122"/>
                <a:cs typeface="Calibri" pitchFamily="34" charset="-120"/>
              </a:rPr>
              <a:t>Gaps:</a:t>
            </a:r>
            <a:r>
              <a:rPr lang="en-US" sz="1300" dirty="0">
                <a:solidFill>
                  <a:srgbClr val="231F20"/>
                </a:solidFill>
                <a:latin typeface="Calibri" pitchFamily="34" charset="0"/>
                <a:ea typeface="Calibri" pitchFamily="34" charset="-122"/>
                <a:cs typeface="Calibri" pitchFamily="34" charset="-120"/>
              </a:rPr>
              <a:t> never average a missing month as zero.</a:t>
            </a:r>
            <a:endParaRPr lang="en-US" sz="1300" dirty="0"/>
          </a:p>
        </p:txBody>
      </p:sp>
      <p:sp>
        <p:nvSpPr>
          <p:cNvPr id="27" name="Shape 21"/>
          <p:cNvSpPr/>
          <p:nvPr/>
        </p:nvSpPr>
        <p:spPr>
          <a:xfrm>
            <a:off x="548640" y="4937760"/>
            <a:ext cx="11094415" cy="868680"/>
          </a:xfrm>
          <a:prstGeom prst="roundRect">
            <a:avLst>
              <a:gd name="adj" fmla="val 8421"/>
            </a:avLst>
          </a:prstGeom>
          <a:solidFill>
            <a:srgbClr val="00553A"/>
          </a:solidFill>
          <a:ln w="9525">
            <a:solidFill>
              <a:srgbClr val="00553A"/>
            </a:solidFill>
            <a:prstDash val="solid"/>
          </a:ln>
        </p:spPr>
      </p:sp>
      <p:sp>
        <p:nvSpPr>
          <p:cNvPr id="28" name="Text 22"/>
          <p:cNvSpPr txBox="1"/>
          <p:nvPr/>
        </p:nvSpPr>
        <p:spPr>
          <a:xfrm>
            <a:off x="822960" y="4937760"/>
            <a:ext cx="10545775" cy="868680"/>
          </a:xfrm>
          <a:prstGeom prst="rect">
            <a:avLst/>
          </a:prstGeom>
          <a:noFill/>
          <a:ln/>
        </p:spPr>
        <p:txBody>
          <a:bodyPr wrap="square" lIns="0" tIns="0" rIns="0" bIns="0" rtlCol="0" anchor="ctr"/>
          <a:lstStyle/>
          <a:p>
            <a:pPr marL="0" indent="0">
              <a:buNone/>
            </a:pPr>
            <a:r>
              <a:rPr lang="en-US" sz="1300" b="1" dirty="0">
                <a:solidFill>
                  <a:srgbClr val="F5C242"/>
                </a:solidFill>
                <a:latin typeface="Calibri" pitchFamily="34" charset="0"/>
                <a:ea typeface="Calibri" pitchFamily="34" charset="-122"/>
                <a:cs typeface="Calibri" pitchFamily="34" charset="-120"/>
              </a:rPr>
              <a:t>Workhorse transformation for macro work:   </a:t>
            </a:r>
            <a:r>
              <a:rPr lang="en-US" sz="1300" b="1" dirty="0">
                <a:solidFill>
                  <a:srgbClr val="FFFFFF"/>
                </a:solidFill>
                <a:latin typeface="Courier New" pitchFamily="34" charset="0"/>
                <a:ea typeface="Courier New" pitchFamily="34" charset="-122"/>
                <a:cs typeface="Courier New" pitchFamily="34" charset="-120"/>
              </a:rPr>
              <a:t>g(r, t) = log SOL(r, t) − log SOL(r, t − 12)</a:t>
            </a:r>
            <a:r>
              <a:rPr lang="en-US" sz="1300" dirty="0">
                <a:solidFill>
                  <a:srgbClr val="D8EEE3"/>
                </a:solidFill>
                <a:latin typeface="Calibri" pitchFamily="34" charset="0"/>
                <a:ea typeface="Calibri" pitchFamily="34" charset="-122"/>
                <a:cs typeface="Calibri" pitchFamily="34" charset="-120"/>
              </a:rPr>
              <a:t>   — year-on-year growth in monthly Sum of Lights for region r.</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03 · FROM PHOTONS TO DATA · WORKED EXAMPLE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One question, end to end</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30</a:t>
            </a:r>
            <a:endParaRPr lang="en-US" sz="900" dirty="0"/>
          </a:p>
        </p:txBody>
      </p:sp>
      <p:sp>
        <p:nvSpPr>
          <p:cNvPr id="12" name="Shape 9"/>
          <p:cNvSpPr/>
          <p:nvPr/>
        </p:nvSpPr>
        <p:spPr>
          <a:xfrm>
            <a:off x="548640" y="1325880"/>
            <a:ext cx="11094415" cy="640080"/>
          </a:xfrm>
          <a:prstGeom prst="roundRect">
            <a:avLst>
              <a:gd name="adj" fmla="val 11429"/>
            </a:avLst>
          </a:prstGeom>
          <a:solidFill>
            <a:srgbClr val="E8F5EF"/>
          </a:solidFill>
          <a:ln w="9525">
            <a:solidFill>
              <a:srgbClr val="00A86A"/>
            </a:solidFill>
            <a:prstDash val="solid"/>
          </a:ln>
        </p:spPr>
      </p:sp>
      <p:pic>
        <p:nvPicPr>
          <p:cNvPr id="13" name="Image 1" descr="preencoded.png"/>
          <p:cNvPicPr>
            <a:picLocks noChangeAspect="1"/>
          </p:cNvPicPr>
          <p:nvPr/>
        </p:nvPicPr>
        <p:blipFill>
          <a:blip r:embed="rId4"/>
          <a:stretch>
            <a:fillRect/>
          </a:stretch>
        </p:blipFill>
        <p:spPr>
          <a:xfrm>
            <a:off x="777240" y="1463040"/>
            <a:ext cx="365760" cy="365760"/>
          </a:xfrm>
          <a:prstGeom prst="rect">
            <a:avLst/>
          </a:prstGeom>
        </p:spPr>
      </p:pic>
      <p:sp>
        <p:nvSpPr>
          <p:cNvPr id="14" name="Text 10"/>
          <p:cNvSpPr txBox="1"/>
          <p:nvPr/>
        </p:nvSpPr>
        <p:spPr>
          <a:xfrm>
            <a:off x="1325880" y="1325880"/>
            <a:ext cx="10058400" cy="640080"/>
          </a:xfrm>
          <a:prstGeom prst="rect">
            <a:avLst/>
          </a:prstGeom>
          <a:noFill/>
          <a:ln/>
        </p:spPr>
        <p:txBody>
          <a:bodyPr wrap="square" lIns="0" tIns="0" rIns="0" bIns="0" rtlCol="0" anchor="ctr"/>
          <a:lstStyle/>
          <a:p>
            <a:pPr marL="0" indent="0">
              <a:buNone/>
            </a:pPr>
            <a:r>
              <a:rPr lang="en-US" sz="1500" b="1" i="1" dirty="0">
                <a:solidFill>
                  <a:srgbClr val="00704A"/>
                </a:solidFill>
                <a:latin typeface="Calibri" pitchFamily="34" charset="0"/>
                <a:ea typeface="Calibri" pitchFamily="34" charset="-122"/>
                <a:cs typeface="Calibri" pitchFamily="34" charset="-120"/>
              </a:rPr>
              <a:t>Did the 2023 mini-grid programme actually bring light to its target villages?</a:t>
            </a:r>
            <a:endParaRPr lang="en-US" sz="1500" dirty="0"/>
          </a:p>
        </p:txBody>
      </p:sp>
      <p:sp>
        <p:nvSpPr>
          <p:cNvPr id="15" name="Shape 11"/>
          <p:cNvSpPr/>
          <p:nvPr/>
        </p:nvSpPr>
        <p:spPr>
          <a:xfrm>
            <a:off x="548640" y="2194560"/>
            <a:ext cx="3593592" cy="1719072"/>
          </a:xfrm>
          <a:prstGeom prst="roundRect">
            <a:avLst>
              <a:gd name="adj" fmla="val 4255"/>
            </a:avLst>
          </a:prstGeom>
          <a:solidFill>
            <a:srgbClr val="F4F7F5"/>
          </a:solidFill>
          <a:ln w="9525">
            <a:solidFill>
              <a:srgbClr val="D5DED9"/>
            </a:solidFill>
            <a:prstDash val="solid"/>
          </a:ln>
        </p:spPr>
      </p:sp>
      <p:sp>
        <p:nvSpPr>
          <p:cNvPr id="16" name="Shape 12"/>
          <p:cNvSpPr/>
          <p:nvPr/>
        </p:nvSpPr>
        <p:spPr>
          <a:xfrm>
            <a:off x="731520" y="2377440"/>
            <a:ext cx="438912" cy="438912"/>
          </a:xfrm>
          <a:prstGeom prst="ellipse">
            <a:avLst/>
          </a:prstGeom>
          <a:solidFill>
            <a:srgbClr val="00704A"/>
          </a:solidFill>
          <a:ln w="12700">
            <a:solidFill>
              <a:srgbClr val="00704A"/>
            </a:solidFill>
            <a:prstDash val="solid"/>
          </a:ln>
        </p:spPr>
      </p:sp>
      <p:sp>
        <p:nvSpPr>
          <p:cNvPr id="17" name="Text 13"/>
          <p:cNvSpPr txBox="1"/>
          <p:nvPr/>
        </p:nvSpPr>
        <p:spPr>
          <a:xfrm>
            <a:off x="731520" y="2377440"/>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1</a:t>
            </a:r>
            <a:endParaRPr lang="en-US" sz="1248" dirty="0"/>
          </a:p>
        </p:txBody>
      </p:sp>
      <p:sp>
        <p:nvSpPr>
          <p:cNvPr id="18" name="Text 14"/>
          <p:cNvSpPr txBox="1"/>
          <p:nvPr/>
        </p:nvSpPr>
        <p:spPr>
          <a:xfrm>
            <a:off x="1325880" y="237744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State the claim in light terms</a:t>
            </a:r>
            <a:endParaRPr lang="en-US" sz="1350" dirty="0"/>
          </a:p>
        </p:txBody>
      </p:sp>
      <p:sp>
        <p:nvSpPr>
          <p:cNvPr id="19" name="Text 15"/>
          <p:cNvSpPr txBox="1"/>
          <p:nvPr/>
        </p:nvSpPr>
        <p:spPr>
          <a:xfrm>
            <a:off x="749808" y="294436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Electrified villages should show more nights above their background radiance after commissioning.</a:t>
            </a:r>
            <a:endParaRPr lang="en-US" sz="1150" dirty="0"/>
          </a:p>
        </p:txBody>
      </p:sp>
      <p:sp>
        <p:nvSpPr>
          <p:cNvPr id="20" name="Shape 16"/>
          <p:cNvSpPr/>
          <p:nvPr/>
        </p:nvSpPr>
        <p:spPr>
          <a:xfrm>
            <a:off x="4297680" y="2194560"/>
            <a:ext cx="3593592" cy="1719072"/>
          </a:xfrm>
          <a:prstGeom prst="roundRect">
            <a:avLst>
              <a:gd name="adj" fmla="val 4255"/>
            </a:avLst>
          </a:prstGeom>
          <a:solidFill>
            <a:srgbClr val="F4F7F5"/>
          </a:solidFill>
          <a:ln w="9525">
            <a:solidFill>
              <a:srgbClr val="D5DED9"/>
            </a:solidFill>
            <a:prstDash val="solid"/>
          </a:ln>
        </p:spPr>
      </p:sp>
      <p:sp>
        <p:nvSpPr>
          <p:cNvPr id="21" name="Shape 17"/>
          <p:cNvSpPr/>
          <p:nvPr/>
        </p:nvSpPr>
        <p:spPr>
          <a:xfrm>
            <a:off x="4480560" y="2377440"/>
            <a:ext cx="438912" cy="438912"/>
          </a:xfrm>
          <a:prstGeom prst="ellipse">
            <a:avLst/>
          </a:prstGeom>
          <a:solidFill>
            <a:srgbClr val="00704A"/>
          </a:solidFill>
          <a:ln w="12700">
            <a:solidFill>
              <a:srgbClr val="00704A"/>
            </a:solidFill>
            <a:prstDash val="solid"/>
          </a:ln>
        </p:spPr>
      </p:sp>
      <p:sp>
        <p:nvSpPr>
          <p:cNvPr id="22" name="Text 18"/>
          <p:cNvSpPr txBox="1"/>
          <p:nvPr/>
        </p:nvSpPr>
        <p:spPr>
          <a:xfrm>
            <a:off x="4480560" y="2377440"/>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2</a:t>
            </a:r>
            <a:endParaRPr lang="en-US" sz="1248" dirty="0"/>
          </a:p>
        </p:txBody>
      </p:sp>
      <p:sp>
        <p:nvSpPr>
          <p:cNvPr id="23" name="Text 19"/>
          <p:cNvSpPr txBox="1"/>
          <p:nvPr/>
        </p:nvSpPr>
        <p:spPr>
          <a:xfrm>
            <a:off x="5074920" y="237744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Choose the product</a:t>
            </a:r>
            <a:endParaRPr lang="en-US" sz="1350" dirty="0"/>
          </a:p>
        </p:txBody>
      </p:sp>
      <p:sp>
        <p:nvSpPr>
          <p:cNvPr id="24" name="Text 20"/>
          <p:cNvSpPr txBox="1"/>
          <p:nvPr/>
        </p:nvSpPr>
        <p:spPr>
          <a:xfrm>
            <a:off x="4498848" y="294436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VNP46A3 monthly to date the change; VNP46A2 daily if you also want reliability. Record the version.</a:t>
            </a:r>
            <a:endParaRPr lang="en-US" sz="1150" dirty="0"/>
          </a:p>
        </p:txBody>
      </p:sp>
      <p:sp>
        <p:nvSpPr>
          <p:cNvPr id="25" name="Shape 21"/>
          <p:cNvSpPr/>
          <p:nvPr/>
        </p:nvSpPr>
        <p:spPr>
          <a:xfrm>
            <a:off x="8046720" y="2194560"/>
            <a:ext cx="3593592" cy="1719072"/>
          </a:xfrm>
          <a:prstGeom prst="roundRect">
            <a:avLst>
              <a:gd name="adj" fmla="val 4255"/>
            </a:avLst>
          </a:prstGeom>
          <a:solidFill>
            <a:srgbClr val="F4F7F5"/>
          </a:solidFill>
          <a:ln w="9525">
            <a:solidFill>
              <a:srgbClr val="D5DED9"/>
            </a:solidFill>
            <a:prstDash val="solid"/>
          </a:ln>
        </p:spPr>
      </p:sp>
      <p:sp>
        <p:nvSpPr>
          <p:cNvPr id="26" name="Shape 22"/>
          <p:cNvSpPr/>
          <p:nvPr/>
        </p:nvSpPr>
        <p:spPr>
          <a:xfrm>
            <a:off x="8229600" y="2377440"/>
            <a:ext cx="438912" cy="438912"/>
          </a:xfrm>
          <a:prstGeom prst="ellipse">
            <a:avLst/>
          </a:prstGeom>
          <a:solidFill>
            <a:srgbClr val="00704A"/>
          </a:solidFill>
          <a:ln w="12700">
            <a:solidFill>
              <a:srgbClr val="00704A"/>
            </a:solidFill>
            <a:prstDash val="solid"/>
          </a:ln>
        </p:spPr>
      </p:sp>
      <p:sp>
        <p:nvSpPr>
          <p:cNvPr id="27" name="Text 23"/>
          <p:cNvSpPr txBox="1"/>
          <p:nvPr/>
        </p:nvSpPr>
        <p:spPr>
          <a:xfrm>
            <a:off x="8229600" y="2377440"/>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3</a:t>
            </a:r>
            <a:endParaRPr lang="en-US" sz="1248" dirty="0"/>
          </a:p>
        </p:txBody>
      </p:sp>
      <p:sp>
        <p:nvSpPr>
          <p:cNvPr id="28" name="Text 24"/>
          <p:cNvSpPr txBox="1"/>
          <p:nvPr/>
        </p:nvSpPr>
        <p:spPr>
          <a:xfrm>
            <a:off x="8823960" y="237744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Define the units</a:t>
            </a:r>
            <a:endParaRPr lang="en-US" sz="1350" dirty="0"/>
          </a:p>
        </p:txBody>
      </p:sp>
      <p:sp>
        <p:nvSpPr>
          <p:cNvPr id="29" name="Text 25"/>
          <p:cNvSpPr txBox="1"/>
          <p:nvPr/>
        </p:nvSpPr>
        <p:spPr>
          <a:xfrm>
            <a:off x="8247888" y="294436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Settlement footprints plus a small buffer — not whole districts, where a few lit villages vanish.</a:t>
            </a:r>
            <a:endParaRPr lang="en-US" sz="1150" dirty="0"/>
          </a:p>
        </p:txBody>
      </p:sp>
      <p:sp>
        <p:nvSpPr>
          <p:cNvPr id="30" name="Shape 26"/>
          <p:cNvSpPr/>
          <p:nvPr/>
        </p:nvSpPr>
        <p:spPr>
          <a:xfrm>
            <a:off x="548640" y="4069080"/>
            <a:ext cx="3593592" cy="1719072"/>
          </a:xfrm>
          <a:prstGeom prst="roundRect">
            <a:avLst>
              <a:gd name="adj" fmla="val 4255"/>
            </a:avLst>
          </a:prstGeom>
          <a:solidFill>
            <a:srgbClr val="F4F7F5"/>
          </a:solidFill>
          <a:ln w="9525">
            <a:solidFill>
              <a:srgbClr val="D5DED9"/>
            </a:solidFill>
            <a:prstDash val="solid"/>
          </a:ln>
        </p:spPr>
      </p:sp>
      <p:sp>
        <p:nvSpPr>
          <p:cNvPr id="31" name="Shape 27"/>
          <p:cNvSpPr/>
          <p:nvPr/>
        </p:nvSpPr>
        <p:spPr>
          <a:xfrm>
            <a:off x="731520" y="4251960"/>
            <a:ext cx="438912" cy="438912"/>
          </a:xfrm>
          <a:prstGeom prst="ellipse">
            <a:avLst/>
          </a:prstGeom>
          <a:solidFill>
            <a:srgbClr val="00704A"/>
          </a:solidFill>
          <a:ln w="12700">
            <a:solidFill>
              <a:srgbClr val="00704A"/>
            </a:solidFill>
            <a:prstDash val="solid"/>
          </a:ln>
        </p:spPr>
      </p:sp>
      <p:sp>
        <p:nvSpPr>
          <p:cNvPr id="32" name="Text 28"/>
          <p:cNvSpPr txBox="1"/>
          <p:nvPr/>
        </p:nvSpPr>
        <p:spPr>
          <a:xfrm>
            <a:off x="731520" y="4251960"/>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4</a:t>
            </a:r>
            <a:endParaRPr lang="en-US" sz="1248" dirty="0"/>
          </a:p>
        </p:txBody>
      </p:sp>
      <p:sp>
        <p:nvSpPr>
          <p:cNvPr id="33" name="Text 29"/>
          <p:cNvSpPr txBox="1"/>
          <p:nvPr/>
        </p:nvSpPr>
        <p:spPr>
          <a:xfrm>
            <a:off x="1325880" y="425196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Pick indicator &amp; control</a:t>
            </a:r>
            <a:endParaRPr lang="en-US" sz="1350" dirty="0"/>
          </a:p>
        </p:txBody>
      </p:sp>
      <p:sp>
        <p:nvSpPr>
          <p:cNvPr id="34" name="Text 30"/>
          <p:cNvSpPr txBox="1"/>
          <p:nvPr/>
        </p:nvSpPr>
        <p:spPr>
          <a:xfrm>
            <a:off x="749808" y="481888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Mean radiance and share of lit nights; controls = similar villages outside the programme.</a:t>
            </a:r>
            <a:endParaRPr lang="en-US" sz="1150" dirty="0"/>
          </a:p>
        </p:txBody>
      </p:sp>
      <p:sp>
        <p:nvSpPr>
          <p:cNvPr id="35" name="Shape 31"/>
          <p:cNvSpPr/>
          <p:nvPr/>
        </p:nvSpPr>
        <p:spPr>
          <a:xfrm>
            <a:off x="4297680" y="4069080"/>
            <a:ext cx="3593592" cy="1719072"/>
          </a:xfrm>
          <a:prstGeom prst="roundRect">
            <a:avLst>
              <a:gd name="adj" fmla="val 4255"/>
            </a:avLst>
          </a:prstGeom>
          <a:solidFill>
            <a:srgbClr val="F4F7F5"/>
          </a:solidFill>
          <a:ln w="9525">
            <a:solidFill>
              <a:srgbClr val="D5DED9"/>
            </a:solidFill>
            <a:prstDash val="solid"/>
          </a:ln>
        </p:spPr>
      </p:sp>
      <p:sp>
        <p:nvSpPr>
          <p:cNvPr id="36" name="Shape 32"/>
          <p:cNvSpPr/>
          <p:nvPr/>
        </p:nvSpPr>
        <p:spPr>
          <a:xfrm>
            <a:off x="4480560" y="4251960"/>
            <a:ext cx="438912" cy="438912"/>
          </a:xfrm>
          <a:prstGeom prst="ellipse">
            <a:avLst/>
          </a:prstGeom>
          <a:solidFill>
            <a:srgbClr val="00704A"/>
          </a:solidFill>
          <a:ln w="12700">
            <a:solidFill>
              <a:srgbClr val="00704A"/>
            </a:solidFill>
            <a:prstDash val="solid"/>
          </a:ln>
        </p:spPr>
      </p:sp>
      <p:sp>
        <p:nvSpPr>
          <p:cNvPr id="37" name="Text 33"/>
          <p:cNvSpPr txBox="1"/>
          <p:nvPr/>
        </p:nvSpPr>
        <p:spPr>
          <a:xfrm>
            <a:off x="4480560" y="4251960"/>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5</a:t>
            </a:r>
            <a:endParaRPr lang="en-US" sz="1248" dirty="0"/>
          </a:p>
        </p:txBody>
      </p:sp>
      <p:sp>
        <p:nvSpPr>
          <p:cNvPr id="38" name="Text 34"/>
          <p:cNvSpPr txBox="1"/>
          <p:nvPr/>
        </p:nvSpPr>
        <p:spPr>
          <a:xfrm>
            <a:off x="5074920" y="425196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Read the difference</a:t>
            </a:r>
            <a:endParaRPr lang="en-US" sz="1350" dirty="0"/>
          </a:p>
        </p:txBody>
      </p:sp>
      <p:sp>
        <p:nvSpPr>
          <p:cNvPr id="39" name="Text 35"/>
          <p:cNvSpPr txBox="1"/>
          <p:nvPr/>
        </p:nvSpPr>
        <p:spPr>
          <a:xfrm>
            <a:off x="4498848" y="481888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step change in programme villages that is absent in controls is evidence; a common rise is regional.</a:t>
            </a:r>
            <a:endParaRPr lang="en-US" sz="1150" dirty="0"/>
          </a:p>
        </p:txBody>
      </p:sp>
      <p:sp>
        <p:nvSpPr>
          <p:cNvPr id="40" name="Shape 36"/>
          <p:cNvSpPr/>
          <p:nvPr/>
        </p:nvSpPr>
        <p:spPr>
          <a:xfrm>
            <a:off x="8046720" y="4069080"/>
            <a:ext cx="3593592" cy="1719072"/>
          </a:xfrm>
          <a:prstGeom prst="roundRect">
            <a:avLst>
              <a:gd name="adj" fmla="val 4255"/>
            </a:avLst>
          </a:prstGeom>
          <a:solidFill>
            <a:srgbClr val="F4F7F5"/>
          </a:solidFill>
          <a:ln w="9525">
            <a:solidFill>
              <a:srgbClr val="D5DED9"/>
            </a:solidFill>
            <a:prstDash val="solid"/>
          </a:ln>
        </p:spPr>
      </p:sp>
      <p:sp>
        <p:nvSpPr>
          <p:cNvPr id="41" name="Shape 37"/>
          <p:cNvSpPr/>
          <p:nvPr/>
        </p:nvSpPr>
        <p:spPr>
          <a:xfrm>
            <a:off x="8229600" y="4251960"/>
            <a:ext cx="438912" cy="438912"/>
          </a:xfrm>
          <a:prstGeom prst="ellipse">
            <a:avLst/>
          </a:prstGeom>
          <a:solidFill>
            <a:srgbClr val="F5C242"/>
          </a:solidFill>
          <a:ln w="12700">
            <a:solidFill>
              <a:srgbClr val="F5C242"/>
            </a:solidFill>
            <a:prstDash val="solid"/>
          </a:ln>
        </p:spPr>
      </p:sp>
      <p:sp>
        <p:nvSpPr>
          <p:cNvPr id="42" name="Text 38"/>
          <p:cNvSpPr txBox="1"/>
          <p:nvPr/>
        </p:nvSpPr>
        <p:spPr>
          <a:xfrm>
            <a:off x="8229600" y="4251960"/>
            <a:ext cx="438912" cy="438912"/>
          </a:xfrm>
          <a:prstGeom prst="rect">
            <a:avLst/>
          </a:prstGeom>
          <a:noFill/>
          <a:ln/>
        </p:spPr>
        <p:txBody>
          <a:bodyPr wrap="square" lIns="0" tIns="0" rIns="0" bIns="0" rtlCol="0" anchor="ctr"/>
          <a:lstStyle/>
          <a:p>
            <a:pPr marL="0" indent="0" algn="ctr">
              <a:buNone/>
            </a:pPr>
            <a:r>
              <a:rPr lang="en-US" sz="1248" b="1" dirty="0">
                <a:solidFill>
                  <a:srgbClr val="00553A"/>
                </a:solidFill>
                <a:latin typeface="Calibri" pitchFamily="34" charset="0"/>
                <a:ea typeface="Calibri" pitchFamily="34" charset="-122"/>
                <a:cs typeface="Calibri" pitchFamily="34" charset="-120"/>
              </a:rPr>
              <a:t>6</a:t>
            </a:r>
            <a:endParaRPr lang="en-US" sz="1248" dirty="0"/>
          </a:p>
        </p:txBody>
      </p:sp>
      <p:sp>
        <p:nvSpPr>
          <p:cNvPr id="43" name="Text 39"/>
          <p:cNvSpPr txBox="1"/>
          <p:nvPr/>
        </p:nvSpPr>
        <p:spPr>
          <a:xfrm>
            <a:off x="8823960" y="4251960"/>
            <a:ext cx="2697480" cy="43891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Try to break it</a:t>
            </a:r>
            <a:endParaRPr lang="en-US" sz="1350" dirty="0"/>
          </a:p>
        </p:txBody>
      </p:sp>
      <p:sp>
        <p:nvSpPr>
          <p:cNvPr id="44" name="Text 40"/>
          <p:cNvSpPr txBox="1"/>
          <p:nvPr/>
        </p:nvSpPr>
        <p:spPr>
          <a:xfrm>
            <a:off x="8247888" y="4818888"/>
            <a:ext cx="3200400" cy="9144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Check fires, flares, moon and season; compare with utility connection or programme monitoring records.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Gulf of Guinea: Abidjan – Accra – Lagos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HANDS-ON · LAB A</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A</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From download to a national series</a:t>
            </a:r>
            <a:endParaRPr lang="en-US" sz="32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Collect, clip, mask, aggregate — and write down what the data cannot tell you.</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A1  Collect &amp; clip a monthly composite  ·  A2  Masks, aggregation, regional comparison, national series</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LAB A  ·  30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A1 · COLLECT &amp; CLIP · 15 MIN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Collect Black Marble data and clip a monthly composite</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32</a:t>
            </a:r>
            <a:endParaRPr lang="en-US" sz="900" dirty="0"/>
          </a:p>
        </p:txBody>
      </p:sp>
      <p:sp>
        <p:nvSpPr>
          <p:cNvPr id="12" name="Shape 9"/>
          <p:cNvSpPr/>
          <p:nvPr/>
        </p:nvSpPr>
        <p:spPr>
          <a:xfrm>
            <a:off x="548640" y="1371600"/>
            <a:ext cx="4937760" cy="987552"/>
          </a:xfrm>
          <a:prstGeom prst="roundRect">
            <a:avLst>
              <a:gd name="adj" fmla="val 7407"/>
            </a:avLst>
          </a:prstGeom>
          <a:solidFill>
            <a:srgbClr val="F4F7F5"/>
          </a:solidFill>
          <a:ln w="9525">
            <a:solidFill>
              <a:srgbClr val="D5DED9"/>
            </a:solidFill>
            <a:prstDash val="solid"/>
          </a:ln>
        </p:spPr>
      </p:sp>
      <p:sp>
        <p:nvSpPr>
          <p:cNvPr id="13" name="Shape 10"/>
          <p:cNvSpPr/>
          <p:nvPr/>
        </p:nvSpPr>
        <p:spPr>
          <a:xfrm>
            <a:off x="731520" y="1618488"/>
            <a:ext cx="475488" cy="475488"/>
          </a:xfrm>
          <a:prstGeom prst="ellipse">
            <a:avLst/>
          </a:prstGeom>
          <a:solidFill>
            <a:srgbClr val="F5C242"/>
          </a:solidFill>
          <a:ln w="12700">
            <a:solidFill>
              <a:srgbClr val="F5C242"/>
            </a:solidFill>
            <a:prstDash val="solid"/>
          </a:ln>
        </p:spPr>
      </p:sp>
      <p:sp>
        <p:nvSpPr>
          <p:cNvPr id="14" name="Text 11"/>
          <p:cNvSpPr txBox="1"/>
          <p:nvPr/>
        </p:nvSpPr>
        <p:spPr>
          <a:xfrm>
            <a:off x="731520" y="1618488"/>
            <a:ext cx="475488" cy="475488"/>
          </a:xfrm>
          <a:prstGeom prst="rect">
            <a:avLst/>
          </a:prstGeom>
          <a:noFill/>
          <a:ln/>
        </p:spPr>
        <p:txBody>
          <a:bodyPr wrap="square" lIns="0" tIns="0" rIns="0" bIns="0" rtlCol="0" anchor="ctr"/>
          <a:lstStyle/>
          <a:p>
            <a:pPr marL="0" indent="0" algn="ctr">
              <a:buNone/>
            </a:pPr>
            <a:r>
              <a:rPr lang="en-US" sz="1352" b="1" dirty="0">
                <a:solidFill>
                  <a:srgbClr val="00553A"/>
                </a:solidFill>
                <a:latin typeface="Calibri" pitchFamily="34" charset="0"/>
                <a:ea typeface="Calibri" pitchFamily="34" charset="-122"/>
                <a:cs typeface="Calibri" pitchFamily="34" charset="-120"/>
              </a:rPr>
              <a:t>1</a:t>
            </a:r>
            <a:endParaRPr lang="en-US" sz="1352" dirty="0"/>
          </a:p>
        </p:txBody>
      </p:sp>
      <p:sp>
        <p:nvSpPr>
          <p:cNvPr id="15" name="Text 12"/>
          <p:cNvSpPr txBox="1"/>
          <p:nvPr/>
        </p:nvSpPr>
        <p:spPr>
          <a:xfrm>
            <a:off x="1417320" y="1463040"/>
            <a:ext cx="393192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Get access</a:t>
            </a:r>
            <a:endParaRPr lang="en-US" sz="1350" dirty="0"/>
          </a:p>
        </p:txBody>
      </p:sp>
      <p:sp>
        <p:nvSpPr>
          <p:cNvPr id="16" name="Text 13"/>
          <p:cNvSpPr txBox="1"/>
          <p:nvPr/>
        </p:nvSpPr>
        <p:spPr>
          <a:xfrm>
            <a:off x="1417320" y="1773936"/>
            <a:ext cx="3931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Create a free NASA Earthdata account and generate a download token.</a:t>
            </a:r>
            <a:endParaRPr lang="en-US" sz="1150" dirty="0"/>
          </a:p>
        </p:txBody>
      </p:sp>
      <p:sp>
        <p:nvSpPr>
          <p:cNvPr id="17" name="Shape 14"/>
          <p:cNvSpPr/>
          <p:nvPr/>
        </p:nvSpPr>
        <p:spPr>
          <a:xfrm>
            <a:off x="548640" y="2487168"/>
            <a:ext cx="4937760" cy="987552"/>
          </a:xfrm>
          <a:prstGeom prst="roundRect">
            <a:avLst>
              <a:gd name="adj" fmla="val 7407"/>
            </a:avLst>
          </a:prstGeom>
          <a:solidFill>
            <a:srgbClr val="F4F7F5"/>
          </a:solidFill>
          <a:ln w="9525">
            <a:solidFill>
              <a:srgbClr val="D5DED9"/>
            </a:solidFill>
            <a:prstDash val="solid"/>
          </a:ln>
        </p:spPr>
      </p:sp>
      <p:sp>
        <p:nvSpPr>
          <p:cNvPr id="18" name="Shape 15"/>
          <p:cNvSpPr/>
          <p:nvPr/>
        </p:nvSpPr>
        <p:spPr>
          <a:xfrm>
            <a:off x="731520" y="2734056"/>
            <a:ext cx="475488" cy="475488"/>
          </a:xfrm>
          <a:prstGeom prst="ellipse">
            <a:avLst/>
          </a:prstGeom>
          <a:solidFill>
            <a:srgbClr val="F5C242"/>
          </a:solidFill>
          <a:ln w="12700">
            <a:solidFill>
              <a:srgbClr val="F5C242"/>
            </a:solidFill>
            <a:prstDash val="solid"/>
          </a:ln>
        </p:spPr>
      </p:sp>
      <p:sp>
        <p:nvSpPr>
          <p:cNvPr id="19" name="Text 16"/>
          <p:cNvSpPr txBox="1"/>
          <p:nvPr/>
        </p:nvSpPr>
        <p:spPr>
          <a:xfrm>
            <a:off x="731520" y="2734056"/>
            <a:ext cx="475488" cy="475488"/>
          </a:xfrm>
          <a:prstGeom prst="rect">
            <a:avLst/>
          </a:prstGeom>
          <a:noFill/>
          <a:ln/>
        </p:spPr>
        <p:txBody>
          <a:bodyPr wrap="square" lIns="0" tIns="0" rIns="0" bIns="0" rtlCol="0" anchor="ctr"/>
          <a:lstStyle/>
          <a:p>
            <a:pPr marL="0" indent="0" algn="ctr">
              <a:buNone/>
            </a:pPr>
            <a:r>
              <a:rPr lang="en-US" sz="1352" b="1" dirty="0">
                <a:solidFill>
                  <a:srgbClr val="00553A"/>
                </a:solidFill>
                <a:latin typeface="Calibri" pitchFamily="34" charset="0"/>
                <a:ea typeface="Calibri" pitchFamily="34" charset="-122"/>
                <a:cs typeface="Calibri" pitchFamily="34" charset="-120"/>
              </a:rPr>
              <a:t>2</a:t>
            </a:r>
            <a:endParaRPr lang="en-US" sz="1352" dirty="0"/>
          </a:p>
        </p:txBody>
      </p:sp>
      <p:sp>
        <p:nvSpPr>
          <p:cNvPr id="20" name="Text 17"/>
          <p:cNvSpPr txBox="1"/>
          <p:nvPr/>
        </p:nvSpPr>
        <p:spPr>
          <a:xfrm>
            <a:off x="1417320" y="2578608"/>
            <a:ext cx="393192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Pick a boundary</a:t>
            </a:r>
            <a:endParaRPr lang="en-US" sz="1350" dirty="0"/>
          </a:p>
        </p:txBody>
      </p:sp>
      <p:sp>
        <p:nvSpPr>
          <p:cNvPr id="21" name="Text 18"/>
          <p:cNvSpPr txBox="1"/>
          <p:nvPr/>
        </p:nvSpPr>
        <p:spPr>
          <a:xfrm>
            <a:off x="1417320" y="2889504"/>
            <a:ext cx="3931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National and admin-1 polygons: your NSO’s official boundaries, or geoBoundaries / GADM.</a:t>
            </a:r>
            <a:endParaRPr lang="en-US" sz="1150" dirty="0"/>
          </a:p>
        </p:txBody>
      </p:sp>
      <p:sp>
        <p:nvSpPr>
          <p:cNvPr id="22" name="Shape 19"/>
          <p:cNvSpPr/>
          <p:nvPr/>
        </p:nvSpPr>
        <p:spPr>
          <a:xfrm>
            <a:off x="548640" y="3602736"/>
            <a:ext cx="4937760" cy="987552"/>
          </a:xfrm>
          <a:prstGeom prst="roundRect">
            <a:avLst>
              <a:gd name="adj" fmla="val 7407"/>
            </a:avLst>
          </a:prstGeom>
          <a:solidFill>
            <a:srgbClr val="F4F7F5"/>
          </a:solidFill>
          <a:ln w="9525">
            <a:solidFill>
              <a:srgbClr val="D5DED9"/>
            </a:solidFill>
            <a:prstDash val="solid"/>
          </a:ln>
        </p:spPr>
      </p:sp>
      <p:sp>
        <p:nvSpPr>
          <p:cNvPr id="23" name="Shape 20"/>
          <p:cNvSpPr/>
          <p:nvPr/>
        </p:nvSpPr>
        <p:spPr>
          <a:xfrm>
            <a:off x="731520" y="3849624"/>
            <a:ext cx="475488" cy="475488"/>
          </a:xfrm>
          <a:prstGeom prst="ellipse">
            <a:avLst/>
          </a:prstGeom>
          <a:solidFill>
            <a:srgbClr val="F5C242"/>
          </a:solidFill>
          <a:ln w="12700">
            <a:solidFill>
              <a:srgbClr val="F5C242"/>
            </a:solidFill>
            <a:prstDash val="solid"/>
          </a:ln>
        </p:spPr>
      </p:sp>
      <p:sp>
        <p:nvSpPr>
          <p:cNvPr id="24" name="Text 21"/>
          <p:cNvSpPr txBox="1"/>
          <p:nvPr/>
        </p:nvSpPr>
        <p:spPr>
          <a:xfrm>
            <a:off x="731520" y="3849624"/>
            <a:ext cx="475488" cy="475488"/>
          </a:xfrm>
          <a:prstGeom prst="rect">
            <a:avLst/>
          </a:prstGeom>
          <a:noFill/>
          <a:ln/>
        </p:spPr>
        <p:txBody>
          <a:bodyPr wrap="square" lIns="0" tIns="0" rIns="0" bIns="0" rtlCol="0" anchor="ctr"/>
          <a:lstStyle/>
          <a:p>
            <a:pPr marL="0" indent="0" algn="ctr">
              <a:buNone/>
            </a:pPr>
            <a:r>
              <a:rPr lang="en-US" sz="1352" b="1" dirty="0">
                <a:solidFill>
                  <a:srgbClr val="00553A"/>
                </a:solidFill>
                <a:latin typeface="Calibri" pitchFamily="34" charset="0"/>
                <a:ea typeface="Calibri" pitchFamily="34" charset="-122"/>
                <a:cs typeface="Calibri" pitchFamily="34" charset="-120"/>
              </a:rPr>
              <a:t>3</a:t>
            </a:r>
            <a:endParaRPr lang="en-US" sz="1352" dirty="0"/>
          </a:p>
        </p:txBody>
      </p:sp>
      <p:sp>
        <p:nvSpPr>
          <p:cNvPr id="25" name="Text 22"/>
          <p:cNvSpPr txBox="1"/>
          <p:nvPr/>
        </p:nvSpPr>
        <p:spPr>
          <a:xfrm>
            <a:off x="1417320" y="3694176"/>
            <a:ext cx="393192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Request VNP46A3</a:t>
            </a:r>
            <a:endParaRPr lang="en-US" sz="1350" dirty="0"/>
          </a:p>
        </p:txBody>
      </p:sp>
      <p:sp>
        <p:nvSpPr>
          <p:cNvPr id="26" name="Text 23"/>
          <p:cNvSpPr txBox="1"/>
          <p:nvPr/>
        </p:nvSpPr>
        <p:spPr>
          <a:xfrm>
            <a:off x="1417320" y="4005072"/>
            <a:ext cx="3931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Monthly composites, January 2019 to the latest month available.</a:t>
            </a:r>
            <a:endParaRPr lang="en-US" sz="1150" dirty="0"/>
          </a:p>
        </p:txBody>
      </p:sp>
      <p:sp>
        <p:nvSpPr>
          <p:cNvPr id="27" name="Shape 24"/>
          <p:cNvSpPr/>
          <p:nvPr/>
        </p:nvSpPr>
        <p:spPr>
          <a:xfrm>
            <a:off x="548640" y="4718304"/>
            <a:ext cx="4937760" cy="987552"/>
          </a:xfrm>
          <a:prstGeom prst="roundRect">
            <a:avLst>
              <a:gd name="adj" fmla="val 7407"/>
            </a:avLst>
          </a:prstGeom>
          <a:solidFill>
            <a:srgbClr val="F4F7F5"/>
          </a:solidFill>
          <a:ln w="9525">
            <a:solidFill>
              <a:srgbClr val="D5DED9"/>
            </a:solidFill>
            <a:prstDash val="solid"/>
          </a:ln>
        </p:spPr>
      </p:sp>
      <p:sp>
        <p:nvSpPr>
          <p:cNvPr id="28" name="Shape 25"/>
          <p:cNvSpPr/>
          <p:nvPr/>
        </p:nvSpPr>
        <p:spPr>
          <a:xfrm>
            <a:off x="731520" y="4965192"/>
            <a:ext cx="475488" cy="475488"/>
          </a:xfrm>
          <a:prstGeom prst="ellipse">
            <a:avLst/>
          </a:prstGeom>
          <a:solidFill>
            <a:srgbClr val="F5C242"/>
          </a:solidFill>
          <a:ln w="12700">
            <a:solidFill>
              <a:srgbClr val="F5C242"/>
            </a:solidFill>
            <a:prstDash val="solid"/>
          </a:ln>
        </p:spPr>
      </p:sp>
      <p:sp>
        <p:nvSpPr>
          <p:cNvPr id="29" name="Text 26"/>
          <p:cNvSpPr txBox="1"/>
          <p:nvPr/>
        </p:nvSpPr>
        <p:spPr>
          <a:xfrm>
            <a:off x="731520" y="4965192"/>
            <a:ext cx="475488" cy="475488"/>
          </a:xfrm>
          <a:prstGeom prst="rect">
            <a:avLst/>
          </a:prstGeom>
          <a:noFill/>
          <a:ln/>
        </p:spPr>
        <p:txBody>
          <a:bodyPr wrap="square" lIns="0" tIns="0" rIns="0" bIns="0" rtlCol="0" anchor="ctr"/>
          <a:lstStyle/>
          <a:p>
            <a:pPr marL="0" indent="0" algn="ctr">
              <a:buNone/>
            </a:pPr>
            <a:r>
              <a:rPr lang="en-US" sz="1352" b="1" dirty="0">
                <a:solidFill>
                  <a:srgbClr val="00553A"/>
                </a:solidFill>
                <a:latin typeface="Calibri" pitchFamily="34" charset="0"/>
                <a:ea typeface="Calibri" pitchFamily="34" charset="-122"/>
                <a:cs typeface="Calibri" pitchFamily="34" charset="-120"/>
              </a:rPr>
              <a:t>4</a:t>
            </a:r>
            <a:endParaRPr lang="en-US" sz="1352" dirty="0"/>
          </a:p>
        </p:txBody>
      </p:sp>
      <p:sp>
        <p:nvSpPr>
          <p:cNvPr id="30" name="Text 27"/>
          <p:cNvSpPr txBox="1"/>
          <p:nvPr/>
        </p:nvSpPr>
        <p:spPr>
          <a:xfrm>
            <a:off x="1417320" y="4809744"/>
            <a:ext cx="393192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Clip &amp; inspect</a:t>
            </a:r>
            <a:endParaRPr lang="en-US" sz="1350" dirty="0"/>
          </a:p>
        </p:txBody>
      </p:sp>
      <p:sp>
        <p:nvSpPr>
          <p:cNvPr id="31" name="Text 28"/>
          <p:cNvSpPr txBox="1"/>
          <p:nvPr/>
        </p:nvSpPr>
        <p:spPr>
          <a:xfrm>
            <a:off x="1417320" y="5120640"/>
            <a:ext cx="3931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Map one month. Do cities, corridors — and flares or fishing lights — appear where you expect?</a:t>
            </a:r>
            <a:endParaRPr lang="en-US" sz="1150" dirty="0"/>
          </a:p>
        </p:txBody>
      </p:sp>
      <p:sp>
        <p:nvSpPr>
          <p:cNvPr id="32" name="Shape 29"/>
          <p:cNvSpPr/>
          <p:nvPr/>
        </p:nvSpPr>
        <p:spPr>
          <a:xfrm>
            <a:off x="5715000" y="1371600"/>
            <a:ext cx="5925312" cy="4343400"/>
          </a:xfrm>
          <a:prstGeom prst="roundRect">
            <a:avLst>
              <a:gd name="adj" fmla="val 1684"/>
            </a:avLst>
          </a:prstGeom>
          <a:solidFill>
            <a:srgbClr val="0F2A1F"/>
          </a:solidFill>
          <a:ln w="9525">
            <a:solidFill>
              <a:srgbClr val="0F2A1F"/>
            </a:solidFill>
            <a:prstDash val="solid"/>
          </a:ln>
        </p:spPr>
      </p:sp>
      <p:sp>
        <p:nvSpPr>
          <p:cNvPr id="33" name="Text 30"/>
          <p:cNvSpPr txBox="1"/>
          <p:nvPr/>
        </p:nvSpPr>
        <p:spPr>
          <a:xfrm>
            <a:off x="5943600" y="1508760"/>
            <a:ext cx="5468112" cy="228600"/>
          </a:xfrm>
          <a:prstGeom prst="rect">
            <a:avLst/>
          </a:prstGeom>
          <a:noFill/>
          <a:ln/>
        </p:spPr>
        <p:txBody>
          <a:bodyPr wrap="square" lIns="0" tIns="0" rIns="0" bIns="0" rtlCol="0" anchor="t"/>
          <a:lstStyle/>
          <a:p>
            <a:pPr marL="0" indent="0">
              <a:buNone/>
            </a:pPr>
            <a:r>
              <a:rPr lang="en-US" sz="950" b="1" kern="0" spc="150" dirty="0">
                <a:solidFill>
                  <a:srgbClr val="F5C242"/>
                </a:solidFill>
                <a:latin typeface="Calibri" pitchFamily="34" charset="0"/>
                <a:ea typeface="Calibri" pitchFamily="34" charset="-122"/>
                <a:cs typeface="Calibri" pitchFamily="34" charset="-120"/>
              </a:rPr>
              <a:t>PYTHON · BLACKMARBLEPY</a:t>
            </a:r>
            <a:endParaRPr lang="en-US" sz="950" dirty="0"/>
          </a:p>
        </p:txBody>
      </p:sp>
      <p:sp>
        <p:nvSpPr>
          <p:cNvPr id="34" name="Text 31"/>
          <p:cNvSpPr txBox="1"/>
          <p:nvPr/>
        </p:nvSpPr>
        <p:spPr>
          <a:xfrm>
            <a:off x="5943600" y="1810512"/>
            <a:ext cx="5468112" cy="3794760"/>
          </a:xfrm>
          <a:prstGeom prst="rect">
            <a:avLst/>
          </a:prstGeom>
          <a:noFill/>
          <a:ln/>
        </p:spPr>
        <p:txBody>
          <a:bodyPr wrap="square" lIns="0" tIns="0" rIns="0" bIns="0" rtlCol="0" anchor="t"/>
          <a:lstStyle/>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pip install blackmarblepy geopandas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import geopandas as gpd, pandas as pd</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from blackmarble import BlackMarble</a:t>
            </a:r>
            <a:endParaRPr lang="en-US" sz="1050" dirty="0"/>
          </a:p>
          <a:p>
            <a:pPr marL="0" indent="0">
              <a:lnSpc>
                <a:spcPct val="105000"/>
              </a:lnSpc>
              <a:buNone/>
            </a:pP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bm  = BlackMarble(token=EARTHDATA_TOKEN,</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                  output_directory="data")</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gdf = gpd.read_file("boundaries/adm1.geojson")</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Monthly composites, Jan 2019 onwards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months = pd.date_range("2019-01-01", "2025-12-01",</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                       freq="MS")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ntl = bm.raster(gdf, product_id="VNP46A3",</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                date_range=months)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ntl = ntl["NearNadir_Composite_Snow_Free"]</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Inspect one month before going further</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ntl.isel(time=-1).plot(robust=True)</a:t>
            </a:r>
            <a:endParaRPr lang="en-US" sz="1050" dirty="0"/>
          </a:p>
        </p:txBody>
      </p:sp>
      <p:sp>
        <p:nvSpPr>
          <p:cNvPr id="35" name="Text 32"/>
          <p:cNvSpPr txBox="1"/>
          <p:nvPr/>
        </p:nvSpPr>
        <p:spPr>
          <a:xfrm>
            <a:off x="548640" y="5870448"/>
            <a:ext cx="11094415" cy="27432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Code is illustrative — check the BlackMarblePy documentation for the version installed in your environment.</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A2 · MASKS &amp; AGGREGATION · 15 MIN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Apply masks, aggregate, compare regions, build the series</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33</a:t>
            </a:r>
            <a:endParaRPr lang="en-US" sz="900" dirty="0"/>
          </a:p>
        </p:txBody>
      </p:sp>
      <p:sp>
        <p:nvSpPr>
          <p:cNvPr id="12" name="Shape 9"/>
          <p:cNvSpPr/>
          <p:nvPr/>
        </p:nvSpPr>
        <p:spPr>
          <a:xfrm>
            <a:off x="548640" y="1371600"/>
            <a:ext cx="5852160" cy="4343400"/>
          </a:xfrm>
          <a:prstGeom prst="roundRect">
            <a:avLst>
              <a:gd name="adj" fmla="val 1684"/>
            </a:avLst>
          </a:prstGeom>
          <a:solidFill>
            <a:srgbClr val="0F2A1F"/>
          </a:solidFill>
          <a:ln w="9525">
            <a:solidFill>
              <a:srgbClr val="0F2A1F"/>
            </a:solidFill>
            <a:prstDash val="solid"/>
          </a:ln>
        </p:spPr>
      </p:sp>
      <p:sp>
        <p:nvSpPr>
          <p:cNvPr id="13" name="Text 10"/>
          <p:cNvSpPr txBox="1"/>
          <p:nvPr/>
        </p:nvSpPr>
        <p:spPr>
          <a:xfrm>
            <a:off x="777240" y="1508760"/>
            <a:ext cx="5394960" cy="228600"/>
          </a:xfrm>
          <a:prstGeom prst="rect">
            <a:avLst/>
          </a:prstGeom>
          <a:noFill/>
          <a:ln/>
        </p:spPr>
        <p:txBody>
          <a:bodyPr wrap="square" lIns="0" tIns="0" rIns="0" bIns="0" rtlCol="0" anchor="t"/>
          <a:lstStyle/>
          <a:p>
            <a:pPr marL="0" indent="0">
              <a:buNone/>
            </a:pPr>
            <a:r>
              <a:rPr lang="en-US" sz="950" b="1" kern="0" spc="150" dirty="0">
                <a:solidFill>
                  <a:srgbClr val="F5C242"/>
                </a:solidFill>
                <a:latin typeface="Calibri" pitchFamily="34" charset="0"/>
                <a:ea typeface="Calibri" pitchFamily="34" charset="-122"/>
                <a:cs typeface="Calibri" pitchFamily="34" charset="-120"/>
              </a:rPr>
              <a:t>PYTHON · MASK → AGGREGATE → COMPARE</a:t>
            </a:r>
            <a:endParaRPr lang="en-US" sz="950" dirty="0"/>
          </a:p>
        </p:txBody>
      </p:sp>
      <p:sp>
        <p:nvSpPr>
          <p:cNvPr id="14" name="Text 11"/>
          <p:cNvSpPr txBox="1"/>
          <p:nvPr/>
        </p:nvSpPr>
        <p:spPr>
          <a:xfrm>
            <a:off x="777240" y="1810512"/>
            <a:ext cx="5394960" cy="3794760"/>
          </a:xfrm>
          <a:prstGeom prst="rect">
            <a:avLst/>
          </a:prstGeom>
          <a:noFill/>
          <a:ln/>
        </p:spPr>
        <p:txBody>
          <a:bodyPr wrap="square" lIns="0" tIns="0" rIns="0" bIns="0" rtlCol="0" anchor="t"/>
          <a:lstStyle/>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1  Mask: noise floor and gas-flare buffers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ntl = ntl.where(ntl &gt;= 0.5)        # noise floor</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ntl = ntl.where(~flare_mask)       # Nightfire buffer</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2  Zonal sums by admin-1, per month</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df = zonal_sum(ntl, gdf, id="ADM1") # notebook helper</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3  Aggregate &amp; transform</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nat = df.groupby("date")["ntl_sum"].sum()</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q   = nat.resample("QS").mean()</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yoy = np.log(nat).diff(12)</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4  Compare regions: share of national light</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share = df.pivot(index="date", columns="ADM1",</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                 values="ntl_sum")</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share = share.div(share.sum(axis=1), axis=0)</a:t>
            </a:r>
            <a:endParaRPr lang="en-US" sz="1050" dirty="0"/>
          </a:p>
        </p:txBody>
      </p:sp>
      <p:sp>
        <p:nvSpPr>
          <p:cNvPr id="15" name="Shape 12"/>
          <p:cNvSpPr/>
          <p:nvPr/>
        </p:nvSpPr>
        <p:spPr>
          <a:xfrm>
            <a:off x="6629400" y="1371600"/>
            <a:ext cx="5010912" cy="969264"/>
          </a:xfrm>
          <a:prstGeom prst="roundRect">
            <a:avLst>
              <a:gd name="adj" fmla="val 7547"/>
            </a:avLst>
          </a:prstGeom>
          <a:solidFill>
            <a:srgbClr val="F4F7F5"/>
          </a:solidFill>
          <a:ln w="9525">
            <a:solidFill>
              <a:srgbClr val="D5DED9"/>
            </a:solidFill>
            <a:prstDash val="solid"/>
          </a:ln>
        </p:spPr>
      </p:sp>
      <p:sp>
        <p:nvSpPr>
          <p:cNvPr id="16" name="Shape 13"/>
          <p:cNvSpPr/>
          <p:nvPr/>
        </p:nvSpPr>
        <p:spPr>
          <a:xfrm>
            <a:off x="6784848" y="1572768"/>
            <a:ext cx="548640" cy="548640"/>
          </a:xfrm>
          <a:prstGeom prst="ellipse">
            <a:avLst/>
          </a:prstGeom>
          <a:solidFill>
            <a:srgbClr val="E8F5EF"/>
          </a:solidFill>
          <a:ln w="12700">
            <a:solidFill>
              <a:srgbClr val="E8F5EF"/>
            </a:solidFill>
            <a:prstDash val="solid"/>
          </a:ln>
        </p:spPr>
      </p:sp>
      <p:pic>
        <p:nvPicPr>
          <p:cNvPr id="17" name="Image 1" descr="preencoded.png"/>
          <p:cNvPicPr>
            <a:picLocks noChangeAspect="1"/>
          </p:cNvPicPr>
          <p:nvPr/>
        </p:nvPicPr>
        <p:blipFill>
          <a:blip r:embed="rId4"/>
          <a:stretch>
            <a:fillRect/>
          </a:stretch>
        </p:blipFill>
        <p:spPr>
          <a:xfrm>
            <a:off x="6927494" y="1715414"/>
            <a:ext cx="263347" cy="263347"/>
          </a:xfrm>
          <a:prstGeom prst="rect">
            <a:avLst/>
          </a:prstGeom>
        </p:spPr>
      </p:pic>
      <p:sp>
        <p:nvSpPr>
          <p:cNvPr id="18" name="Text 14"/>
          <p:cNvSpPr txBox="1"/>
          <p:nvPr/>
        </p:nvSpPr>
        <p:spPr>
          <a:xfrm>
            <a:off x="7498080" y="1463040"/>
            <a:ext cx="40233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Masks applied</a:t>
            </a:r>
            <a:endParaRPr lang="en-US" sz="1350" dirty="0"/>
          </a:p>
        </p:txBody>
      </p:sp>
      <p:sp>
        <p:nvSpPr>
          <p:cNvPr id="19" name="Text 15"/>
          <p:cNvSpPr txBox="1"/>
          <p:nvPr/>
        </p:nvSpPr>
        <p:spPr>
          <a:xfrm>
            <a:off x="7498080" y="1783080"/>
            <a:ext cx="402336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Quality flags, noise floor, flare buffers, water bodies for fishing lights.</a:t>
            </a:r>
            <a:endParaRPr lang="en-US" sz="1150" dirty="0"/>
          </a:p>
        </p:txBody>
      </p:sp>
      <p:sp>
        <p:nvSpPr>
          <p:cNvPr id="20" name="Shape 16"/>
          <p:cNvSpPr/>
          <p:nvPr/>
        </p:nvSpPr>
        <p:spPr>
          <a:xfrm>
            <a:off x="6629400" y="2468880"/>
            <a:ext cx="5010912" cy="969264"/>
          </a:xfrm>
          <a:prstGeom prst="roundRect">
            <a:avLst>
              <a:gd name="adj" fmla="val 7547"/>
            </a:avLst>
          </a:prstGeom>
          <a:solidFill>
            <a:srgbClr val="F4F7F5"/>
          </a:solidFill>
          <a:ln w="9525">
            <a:solidFill>
              <a:srgbClr val="D5DED9"/>
            </a:solidFill>
            <a:prstDash val="solid"/>
          </a:ln>
        </p:spPr>
      </p:sp>
      <p:sp>
        <p:nvSpPr>
          <p:cNvPr id="21" name="Shape 17"/>
          <p:cNvSpPr/>
          <p:nvPr/>
        </p:nvSpPr>
        <p:spPr>
          <a:xfrm>
            <a:off x="6784848" y="2670048"/>
            <a:ext cx="548640" cy="548640"/>
          </a:xfrm>
          <a:prstGeom prst="ellipse">
            <a:avLst/>
          </a:prstGeom>
          <a:solidFill>
            <a:srgbClr val="E8F5EF"/>
          </a:solidFill>
          <a:ln w="12700">
            <a:solidFill>
              <a:srgbClr val="E8F5EF"/>
            </a:solidFill>
            <a:prstDash val="solid"/>
          </a:ln>
        </p:spPr>
      </p:sp>
      <p:pic>
        <p:nvPicPr>
          <p:cNvPr id="22" name="Image 2" descr="preencoded.png"/>
          <p:cNvPicPr>
            <a:picLocks noChangeAspect="1"/>
          </p:cNvPicPr>
          <p:nvPr/>
        </p:nvPicPr>
        <p:blipFill>
          <a:blip r:embed="rId5"/>
          <a:stretch>
            <a:fillRect/>
          </a:stretch>
        </p:blipFill>
        <p:spPr>
          <a:xfrm>
            <a:off x="6927494" y="2812694"/>
            <a:ext cx="263347" cy="263347"/>
          </a:xfrm>
          <a:prstGeom prst="rect">
            <a:avLst/>
          </a:prstGeom>
        </p:spPr>
      </p:pic>
      <p:sp>
        <p:nvSpPr>
          <p:cNvPr id="23" name="Text 18"/>
          <p:cNvSpPr txBox="1"/>
          <p:nvPr/>
        </p:nvSpPr>
        <p:spPr>
          <a:xfrm>
            <a:off x="7498080" y="2560320"/>
            <a:ext cx="40233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National series</a:t>
            </a:r>
            <a:endParaRPr lang="en-US" sz="1350" dirty="0"/>
          </a:p>
        </p:txBody>
      </p:sp>
      <p:sp>
        <p:nvSpPr>
          <p:cNvPr id="24" name="Text 19"/>
          <p:cNvSpPr txBox="1"/>
          <p:nvPr/>
        </p:nvSpPr>
        <p:spPr>
          <a:xfrm>
            <a:off x="7498080" y="2880360"/>
            <a:ext cx="402336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Monthly SOL, quarterly average and year-on-year growth.</a:t>
            </a:r>
            <a:endParaRPr lang="en-US" sz="1150" dirty="0"/>
          </a:p>
        </p:txBody>
      </p:sp>
      <p:sp>
        <p:nvSpPr>
          <p:cNvPr id="25" name="Shape 20"/>
          <p:cNvSpPr/>
          <p:nvPr/>
        </p:nvSpPr>
        <p:spPr>
          <a:xfrm>
            <a:off x="6629400" y="3566160"/>
            <a:ext cx="5010912" cy="969264"/>
          </a:xfrm>
          <a:prstGeom prst="roundRect">
            <a:avLst>
              <a:gd name="adj" fmla="val 7547"/>
            </a:avLst>
          </a:prstGeom>
          <a:solidFill>
            <a:srgbClr val="F4F7F5"/>
          </a:solidFill>
          <a:ln w="9525">
            <a:solidFill>
              <a:srgbClr val="D5DED9"/>
            </a:solidFill>
            <a:prstDash val="solid"/>
          </a:ln>
        </p:spPr>
      </p:sp>
      <p:sp>
        <p:nvSpPr>
          <p:cNvPr id="26" name="Shape 21"/>
          <p:cNvSpPr/>
          <p:nvPr/>
        </p:nvSpPr>
        <p:spPr>
          <a:xfrm>
            <a:off x="6784848" y="3767328"/>
            <a:ext cx="548640" cy="548640"/>
          </a:xfrm>
          <a:prstGeom prst="ellipse">
            <a:avLst/>
          </a:prstGeom>
          <a:solidFill>
            <a:srgbClr val="E8F5EF"/>
          </a:solidFill>
          <a:ln w="12700">
            <a:solidFill>
              <a:srgbClr val="E8F5EF"/>
            </a:solidFill>
            <a:prstDash val="solid"/>
          </a:ln>
        </p:spPr>
      </p:sp>
      <p:pic>
        <p:nvPicPr>
          <p:cNvPr id="27" name="Image 3" descr="preencoded.png"/>
          <p:cNvPicPr>
            <a:picLocks noChangeAspect="1"/>
          </p:cNvPicPr>
          <p:nvPr/>
        </p:nvPicPr>
        <p:blipFill>
          <a:blip r:embed="rId6"/>
          <a:stretch>
            <a:fillRect/>
          </a:stretch>
        </p:blipFill>
        <p:spPr>
          <a:xfrm>
            <a:off x="6927494" y="3909974"/>
            <a:ext cx="263347" cy="263347"/>
          </a:xfrm>
          <a:prstGeom prst="rect">
            <a:avLst/>
          </a:prstGeom>
        </p:spPr>
      </p:pic>
      <p:sp>
        <p:nvSpPr>
          <p:cNvPr id="28" name="Text 22"/>
          <p:cNvSpPr txBox="1"/>
          <p:nvPr/>
        </p:nvSpPr>
        <p:spPr>
          <a:xfrm>
            <a:off x="7498080" y="3657600"/>
            <a:ext cx="40233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Regional comparison</a:t>
            </a:r>
            <a:endParaRPr lang="en-US" sz="1350" dirty="0"/>
          </a:p>
        </p:txBody>
      </p:sp>
      <p:sp>
        <p:nvSpPr>
          <p:cNvPr id="29" name="Text 23"/>
          <p:cNvSpPr txBox="1"/>
          <p:nvPr/>
        </p:nvSpPr>
        <p:spPr>
          <a:xfrm>
            <a:off x="7498080" y="3977640"/>
            <a:ext cx="402336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Each region’s share of national light, over time.</a:t>
            </a:r>
            <a:endParaRPr lang="en-US" sz="1150" dirty="0"/>
          </a:p>
        </p:txBody>
      </p:sp>
      <p:sp>
        <p:nvSpPr>
          <p:cNvPr id="30" name="Shape 24"/>
          <p:cNvSpPr/>
          <p:nvPr/>
        </p:nvSpPr>
        <p:spPr>
          <a:xfrm>
            <a:off x="6629400" y="4663440"/>
            <a:ext cx="5010912" cy="969264"/>
          </a:xfrm>
          <a:prstGeom prst="roundRect">
            <a:avLst>
              <a:gd name="adj" fmla="val 7547"/>
            </a:avLst>
          </a:prstGeom>
          <a:solidFill>
            <a:srgbClr val="F4F7F5"/>
          </a:solidFill>
          <a:ln w="9525">
            <a:solidFill>
              <a:srgbClr val="D5DED9"/>
            </a:solidFill>
            <a:prstDash val="solid"/>
          </a:ln>
        </p:spPr>
      </p:sp>
      <p:sp>
        <p:nvSpPr>
          <p:cNvPr id="31" name="Shape 25"/>
          <p:cNvSpPr/>
          <p:nvPr/>
        </p:nvSpPr>
        <p:spPr>
          <a:xfrm>
            <a:off x="6784848" y="4864608"/>
            <a:ext cx="548640" cy="548640"/>
          </a:xfrm>
          <a:prstGeom prst="ellipse">
            <a:avLst/>
          </a:prstGeom>
          <a:solidFill>
            <a:srgbClr val="E8F5EF"/>
          </a:solidFill>
          <a:ln w="12700">
            <a:solidFill>
              <a:srgbClr val="E8F5EF"/>
            </a:solidFill>
            <a:prstDash val="solid"/>
          </a:ln>
        </p:spPr>
      </p:sp>
      <p:pic>
        <p:nvPicPr>
          <p:cNvPr id="32" name="Image 4" descr="preencoded.png"/>
          <p:cNvPicPr>
            <a:picLocks noChangeAspect="1"/>
          </p:cNvPicPr>
          <p:nvPr/>
        </p:nvPicPr>
        <p:blipFill>
          <a:blip r:embed="rId7"/>
          <a:stretch>
            <a:fillRect/>
          </a:stretch>
        </p:blipFill>
        <p:spPr>
          <a:xfrm>
            <a:off x="6927494" y="5007254"/>
            <a:ext cx="263347" cy="263347"/>
          </a:xfrm>
          <a:prstGeom prst="rect">
            <a:avLst/>
          </a:prstGeom>
        </p:spPr>
      </p:pic>
      <p:sp>
        <p:nvSpPr>
          <p:cNvPr id="33" name="Text 26"/>
          <p:cNvSpPr txBox="1"/>
          <p:nvPr/>
        </p:nvSpPr>
        <p:spPr>
          <a:xfrm>
            <a:off x="7498080" y="4754880"/>
            <a:ext cx="402336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Limitations note</a:t>
            </a:r>
            <a:endParaRPr lang="en-US" sz="1350" dirty="0"/>
          </a:p>
        </p:txBody>
      </p:sp>
      <p:sp>
        <p:nvSpPr>
          <p:cNvPr id="34" name="Text 27"/>
          <p:cNvSpPr txBox="1"/>
          <p:nvPr/>
        </p:nvSpPr>
        <p:spPr>
          <a:xfrm>
            <a:off x="7498080" y="5074920"/>
            <a:ext cx="402336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Five lines: product &amp; version, masks, threshold, cloud-poor months, known breaks.</a:t>
            </a:r>
            <a:endParaRPr lang="en-US" sz="1150" dirty="0"/>
          </a:p>
        </p:txBody>
      </p:sp>
      <p:sp>
        <p:nvSpPr>
          <p:cNvPr id="35" name="Text 28"/>
          <p:cNvSpPr txBox="1"/>
          <p:nvPr/>
        </p:nvSpPr>
        <p:spPr>
          <a:xfrm>
            <a:off x="548640" y="5870448"/>
            <a:ext cx="11094415" cy="27432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zonal_sum wraps exactextract in the lab notebook; print df.head() before aggregating. Threshold 0.5 nW·cm⁻²·sr⁻¹ is a starting point to be tested.</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A · WHAT A GOOD OUTPUT LOOKS LIKE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A national series you can defend</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34</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Illustrative synthetic data — shows the shape of the expected output, not any real country.</a:t>
            </a:r>
            <a:endParaRPr lang="en-US" sz="850" dirty="0"/>
          </a:p>
        </p:txBody>
      </p:sp>
      <p:graphicFrame>
        <p:nvGraphicFramePr>
          <p:cNvPr id="13" name="Chart 0"/>
          <p:cNvGraphicFramePr/>
          <p:nvPr/>
        </p:nvGraphicFramePr>
        <p:xfrm>
          <a:off x="548640" y="1325880"/>
          <a:ext cx="731520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8138160" y="1325880"/>
            <a:ext cx="3502152" cy="4434840"/>
          </a:xfrm>
          <a:prstGeom prst="roundRect">
            <a:avLst>
              <a:gd name="adj" fmla="val 2089"/>
            </a:avLst>
          </a:prstGeom>
          <a:solidFill>
            <a:srgbClr val="F4F7F5"/>
          </a:solidFill>
          <a:ln w="9525">
            <a:solidFill>
              <a:srgbClr val="D5DED9"/>
            </a:solidFill>
            <a:prstDash val="solid"/>
          </a:ln>
        </p:spPr>
      </p:sp>
      <p:sp>
        <p:nvSpPr>
          <p:cNvPr id="15" name="Text 11"/>
          <p:cNvSpPr txBox="1"/>
          <p:nvPr/>
        </p:nvSpPr>
        <p:spPr>
          <a:xfrm>
            <a:off x="8321040" y="1463040"/>
            <a:ext cx="3200400" cy="274320"/>
          </a:xfrm>
          <a:prstGeom prst="rect">
            <a:avLst/>
          </a:prstGeom>
          <a:noFill/>
          <a:ln/>
        </p:spPr>
        <p:txBody>
          <a:bodyPr wrap="square" lIns="0" tIns="0" rIns="0" bIns="0" rtlCol="0" anchor="t"/>
          <a:lstStyle/>
          <a:p>
            <a:pPr marL="0" indent="0">
              <a:buNone/>
            </a:pPr>
            <a:r>
              <a:rPr lang="en-US" sz="1000" b="1" kern="0" spc="150" dirty="0">
                <a:solidFill>
                  <a:srgbClr val="0E7C86"/>
                </a:solidFill>
                <a:latin typeface="Calibri" pitchFamily="34" charset="0"/>
                <a:ea typeface="Calibri" pitchFamily="34" charset="-122"/>
                <a:cs typeface="Calibri" pitchFamily="34" charset="-120"/>
              </a:rPr>
              <a:t>LIMITATIONS NOTE — EXAMPLE</a:t>
            </a:r>
            <a:endParaRPr lang="en-US" sz="1000" dirty="0"/>
          </a:p>
        </p:txBody>
      </p:sp>
      <p:sp>
        <p:nvSpPr>
          <p:cNvPr id="16" name="Text 12"/>
          <p:cNvSpPr txBox="1"/>
          <p:nvPr/>
        </p:nvSpPr>
        <p:spPr>
          <a:xfrm>
            <a:off x="8321040" y="1828800"/>
            <a:ext cx="3154680" cy="3840480"/>
          </a:xfrm>
          <a:prstGeom prst="rect">
            <a:avLst/>
          </a:prstGeom>
          <a:noFill/>
          <a:ln/>
        </p:spPr>
        <p:txBody>
          <a:bodyPr wrap="square" lIns="0" tIns="0" rIns="0" bIns="0" rtlCol="0" anchor="t"/>
          <a:lstStyle/>
          <a:p>
            <a:pPr marL="177800" indent="-177800">
              <a:spcAft>
                <a:spcPts val="600"/>
              </a:spcAft>
              <a:buSzPct val="100000"/>
              <a:buChar char="•"/>
            </a:pPr>
            <a:r>
              <a:rPr lang="en-US" sz="1100" b="1" dirty="0">
                <a:solidFill>
                  <a:srgbClr val="00704A"/>
                </a:solidFill>
                <a:latin typeface="Calibri" pitchFamily="34" charset="0"/>
                <a:ea typeface="Calibri" pitchFamily="34" charset="-122"/>
                <a:cs typeface="Calibri" pitchFamily="34" charset="-120"/>
              </a:rPr>
              <a:t>Data:</a:t>
            </a:r>
            <a:r>
              <a:rPr lang="en-US" sz="1100" dirty="0">
                <a:solidFill>
                  <a:srgbClr val="231F20"/>
                </a:solidFill>
                <a:latin typeface="Calibri" pitchFamily="34" charset="0"/>
                <a:ea typeface="Calibri" pitchFamily="34" charset="-122"/>
                <a:cs typeface="Calibri" pitchFamily="34" charset="-120"/>
              </a:rPr>
              <a:t> VNP46A3, collection 2, Jan 2023 – Dec 2025, near-nadir snow-free.</a:t>
            </a:r>
            <a:endParaRPr lang="en-US" sz="1100" dirty="0"/>
          </a:p>
          <a:p>
            <a:pPr marL="177800" indent="-177800">
              <a:spcAft>
                <a:spcPts val="600"/>
              </a:spcAft>
              <a:buSzPct val="100000"/>
              <a:buChar char="•"/>
            </a:pPr>
            <a:r>
              <a:rPr lang="en-US" sz="1100" b="1" dirty="0">
                <a:solidFill>
                  <a:srgbClr val="00704A"/>
                </a:solidFill>
                <a:latin typeface="Calibri" pitchFamily="34" charset="0"/>
                <a:ea typeface="Calibri" pitchFamily="34" charset="-122"/>
                <a:cs typeface="Calibri" pitchFamily="34" charset="-120"/>
              </a:rPr>
              <a:t>Masks:</a:t>
            </a:r>
            <a:r>
              <a:rPr lang="en-US" sz="1100" dirty="0">
                <a:solidFill>
                  <a:srgbClr val="231F20"/>
                </a:solidFill>
                <a:latin typeface="Calibri" pitchFamily="34" charset="0"/>
                <a:ea typeface="Calibri" pitchFamily="34" charset="-122"/>
                <a:cs typeface="Calibri" pitchFamily="34" charset="-120"/>
              </a:rPr>
              <a:t> quality flags; noise floor 0.5; 2 km flare buffers; inland water.</a:t>
            </a:r>
            <a:endParaRPr lang="en-US" sz="1100" dirty="0"/>
          </a:p>
          <a:p>
            <a:pPr marL="177800" indent="-177800">
              <a:spcAft>
                <a:spcPts val="600"/>
              </a:spcAft>
              <a:buSzPct val="100000"/>
              <a:buChar char="•"/>
            </a:pPr>
            <a:r>
              <a:rPr lang="en-US" sz="1100" b="1" dirty="0">
                <a:solidFill>
                  <a:srgbClr val="00704A"/>
                </a:solidFill>
                <a:latin typeface="Calibri" pitchFamily="34" charset="0"/>
                <a:ea typeface="Calibri" pitchFamily="34" charset="-122"/>
                <a:cs typeface="Calibri" pitchFamily="34" charset="-120"/>
              </a:rPr>
              <a:t>Gaps:</a:t>
            </a:r>
            <a:r>
              <a:rPr lang="en-US" sz="1100" dirty="0">
                <a:solidFill>
                  <a:srgbClr val="231F20"/>
                </a:solidFill>
                <a:latin typeface="Calibri" pitchFamily="34" charset="0"/>
                <a:ea typeface="Calibri" pitchFamily="34" charset="-122"/>
                <a:cs typeface="Calibri" pitchFamily="34" charset="-120"/>
              </a:rPr>
              <a:t> July–August have &lt; 5 valid nights in coastal provinces; flagged, not imputed.</a:t>
            </a:r>
            <a:endParaRPr lang="en-US" sz="1100" dirty="0"/>
          </a:p>
          <a:p>
            <a:pPr marL="177800" indent="-177800">
              <a:spcAft>
                <a:spcPts val="600"/>
              </a:spcAft>
              <a:buSzPct val="100000"/>
              <a:buChar char="•"/>
            </a:pPr>
            <a:r>
              <a:rPr lang="en-US" sz="1100" b="1" dirty="0">
                <a:solidFill>
                  <a:srgbClr val="00704A"/>
                </a:solidFill>
                <a:latin typeface="Calibri" pitchFamily="34" charset="0"/>
                <a:ea typeface="Calibri" pitchFamily="34" charset="-122"/>
                <a:cs typeface="Calibri" pitchFamily="34" charset="-120"/>
              </a:rPr>
              <a:t>Breaks:</a:t>
            </a:r>
            <a:r>
              <a:rPr lang="en-US" sz="1100" dirty="0">
                <a:solidFill>
                  <a:srgbClr val="231F20"/>
                </a:solidFill>
                <a:latin typeface="Calibri" pitchFamily="34" charset="0"/>
                <a:ea typeface="Calibri" pitchFamily="34" charset="-122"/>
                <a:cs typeface="Calibri" pitchFamily="34" charset="-120"/>
              </a:rPr>
              <a:t> flare episode Apr–Jun 2024 removed by mask; no product change.</a:t>
            </a:r>
            <a:endParaRPr lang="en-US" sz="1100" dirty="0"/>
          </a:p>
          <a:p>
            <a:pPr marL="177800" indent="-177800">
              <a:spcAft>
                <a:spcPts val="600"/>
              </a:spcAft>
              <a:buSzPct val="100000"/>
              <a:buChar char="•"/>
            </a:pPr>
            <a:r>
              <a:rPr lang="en-US" sz="1100" b="1" dirty="0">
                <a:solidFill>
                  <a:srgbClr val="00704A"/>
                </a:solidFill>
                <a:latin typeface="Calibri" pitchFamily="34" charset="0"/>
                <a:ea typeface="Calibri" pitchFamily="34" charset="-122"/>
                <a:cs typeface="Calibri" pitchFamily="34" charset="-120"/>
              </a:rPr>
              <a:t>Do not use for:</a:t>
            </a:r>
            <a:r>
              <a:rPr lang="en-US" sz="1100" dirty="0">
                <a:solidFill>
                  <a:srgbClr val="231F20"/>
                </a:solidFill>
                <a:latin typeface="Calibri" pitchFamily="34" charset="0"/>
                <a:ea typeface="Calibri" pitchFamily="34" charset="-122"/>
                <a:cs typeface="Calibri" pitchFamily="34" charset="-120"/>
              </a:rPr>
              <a:t> levels of GDP, household income, small-settlement counts.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A · TROUBLESHOOTING</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When the numbers look wrong: symptom, cause, fix</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A · REF</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35</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00553A"/>
                          </a:solidFill>
                          <a:latin typeface="Calibri" pitchFamily="34" charset="0"/>
                          <a:ea typeface="Calibri" pitchFamily="34" charset="-122"/>
                          <a:cs typeface="Calibri" pitchFamily="34" charset="-120"/>
                        </a:rPr>
                        <a:t>Symptom</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c>
                  <a:txBody>
                    <a:bodyPr/>
                    <a:lstStyle/>
                    <a:p>
                      <a:pPr marL="0" indent="0">
                        <a:buNone/>
                      </a:pPr>
                      <a:r>
                        <a:rPr lang="en-US" sz="1200" b="1" dirty="0">
                          <a:solidFill>
                            <a:srgbClr val="00553A"/>
                          </a:solidFill>
                          <a:latin typeface="Calibri" pitchFamily="34" charset="0"/>
                          <a:ea typeface="Calibri" pitchFamily="34" charset="-122"/>
                          <a:cs typeface="Calibri" pitchFamily="34" charset="-120"/>
                        </a:rPr>
                        <a:t>Likely cause</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c>
                  <a:txBody>
                    <a:bodyPr/>
                    <a:lstStyle/>
                    <a:p>
                      <a:pPr marL="0" indent="0">
                        <a:buNone/>
                      </a:pPr>
                      <a:r>
                        <a:rPr lang="en-US" sz="1200" b="1" dirty="0">
                          <a:solidFill>
                            <a:srgbClr val="00553A"/>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Values ten times too large, or huge spikes</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Scale factor not applied; fill value (65535) read as radiance</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Use BlackMarblePy, or apply scale and mask fill manually</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Straight seam across the country</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Tile boundary — one 10° tile missing for that month</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Check every tile downloaded; re-request the missing one</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Boundary and raster do not overlap</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CRS mismatch (projected boundary vs geographic raster)</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Reproject the boundary to EPSG:4326 before clipping</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Coastal districts lose light</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Pixels straddling the coastline dropped by the clip</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Use all-touched clipping or exactextract partial weights</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One month is empty or near zero</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Too few cloud-free nights; whole month gap</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Flag as missing; never average it as zero</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00704A"/>
                          </a:solidFill>
                          <a:latin typeface="Calibri" pitchFamily="34" charset="0"/>
                          <a:ea typeface="Calibri" pitchFamily="34" charset="-122"/>
                          <a:cs typeface="Calibri" pitchFamily="34" charset="-120"/>
                        </a:rPr>
                        <a:t>Sudden jump in a single region</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5DC"/>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Gas flare, fire, fishing fleet — or a real event</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200" dirty="0">
                          <a:solidFill>
                            <a:srgbClr val="231F20"/>
                          </a:solidFill>
                          <a:latin typeface="Calibri" pitchFamily="34" charset="0"/>
                          <a:ea typeface="Calibri" pitchFamily="34" charset="-122"/>
                          <a:cs typeface="Calibri" pitchFamily="34" charset="-120"/>
                        </a:rPr>
                        <a:t>Map the month; check Nightfire and news before believing it</a:t>
                      </a:r>
                      <a:endParaRPr lang="en-US" sz="1200" dirty="0">
                        <a:latin typeface="Calibri" charset="0"/>
                        <a:ea typeface="Calibri" charset="0"/>
                        <a:cs typeface="Calibri" charset="0"/>
                      </a:endParaRPr>
                    </a:p>
                  </a:txBody>
                  <a:tcPr marL="109728" marR="109728" marT="27432" marB="2743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9"/>
          <p:cNvSpPr txBox="1"/>
          <p:nvPr/>
        </p:nvSpPr>
        <p:spPr>
          <a:xfrm>
            <a:off x="548640" y="5806440"/>
            <a:ext cx="11094415" cy="27432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Keep a pre-staged copy of VNP46A3 for your countries in case downloads stall.</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Central and East Africa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SECTION 4</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04</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Applications</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Which statistical questions can this data actually answer — and how do we know?</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SDG map  ·  Validation  ·  Economy &amp; nowcasting  ·  Energy access  ·  Urbanisation  ·  Crises &amp; shocks  ·  Islands</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SESSION B  ·  30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OVERVIEW</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Where lights can support SDG and macro monitoring</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37</a:t>
            </a:r>
            <a:endParaRPr lang="en-US" sz="900" dirty="0"/>
          </a:p>
        </p:txBody>
      </p:sp>
      <p:sp>
        <p:nvSpPr>
          <p:cNvPr id="12" name="Shape 9"/>
          <p:cNvSpPr/>
          <p:nvPr/>
        </p:nvSpPr>
        <p:spPr>
          <a:xfrm>
            <a:off x="548640" y="1371600"/>
            <a:ext cx="3593592" cy="1783080"/>
          </a:xfrm>
          <a:prstGeom prst="roundRect">
            <a:avLst>
              <a:gd name="adj" fmla="val 4103"/>
            </a:avLst>
          </a:prstGeom>
          <a:solidFill>
            <a:srgbClr val="F4F7F5"/>
          </a:solidFill>
          <a:ln w="9525">
            <a:solidFill>
              <a:srgbClr val="D5DED9"/>
            </a:solidFill>
            <a:prstDash val="solid"/>
          </a:ln>
        </p:spPr>
      </p:sp>
      <p:sp>
        <p:nvSpPr>
          <p:cNvPr id="13" name="Shape 10"/>
          <p:cNvSpPr/>
          <p:nvPr/>
        </p:nvSpPr>
        <p:spPr>
          <a:xfrm>
            <a:off x="749808" y="1600200"/>
            <a:ext cx="594360" cy="59436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04342" y="1754734"/>
            <a:ext cx="285293" cy="285293"/>
          </a:xfrm>
          <a:prstGeom prst="rect">
            <a:avLst/>
          </a:prstGeom>
        </p:spPr>
      </p:pic>
      <p:sp>
        <p:nvSpPr>
          <p:cNvPr id="15" name="Shape 11"/>
          <p:cNvSpPr/>
          <p:nvPr/>
        </p:nvSpPr>
        <p:spPr>
          <a:xfrm>
            <a:off x="1508760" y="1627632"/>
            <a:ext cx="777240" cy="237744"/>
          </a:xfrm>
          <a:prstGeom prst="roundRect">
            <a:avLst>
              <a:gd name="adj" fmla="val 50000"/>
            </a:avLst>
          </a:prstGeom>
          <a:solidFill>
            <a:srgbClr val="E8F5EF"/>
          </a:solidFill>
          <a:ln w="12700">
            <a:solidFill>
              <a:srgbClr val="E8F5EF"/>
            </a:solidFill>
            <a:prstDash val="solid"/>
          </a:ln>
        </p:spPr>
      </p:sp>
      <p:sp>
        <p:nvSpPr>
          <p:cNvPr id="16" name="Text 12"/>
          <p:cNvSpPr txBox="1"/>
          <p:nvPr/>
        </p:nvSpPr>
        <p:spPr>
          <a:xfrm>
            <a:off x="1508760" y="1627632"/>
            <a:ext cx="77724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1</a:t>
            </a:r>
            <a:endParaRPr lang="en-US" sz="850" dirty="0"/>
          </a:p>
        </p:txBody>
      </p:sp>
      <p:sp>
        <p:nvSpPr>
          <p:cNvPr id="17" name="Text 13"/>
          <p:cNvSpPr txBox="1"/>
          <p:nvPr/>
        </p:nvSpPr>
        <p:spPr>
          <a:xfrm>
            <a:off x="1508760" y="192024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Poverty &amp; wealth mapping</a:t>
            </a:r>
            <a:endParaRPr lang="en-US" sz="1400" dirty="0"/>
          </a:p>
        </p:txBody>
      </p:sp>
      <p:sp>
        <p:nvSpPr>
          <p:cNvPr id="18" name="Text 14"/>
          <p:cNvSpPr txBox="1"/>
          <p:nvPr/>
        </p:nvSpPr>
        <p:spPr>
          <a:xfrm>
            <a:off x="749808" y="237744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Small-area estimates combining lights with survey data</a:t>
            </a:r>
            <a:endParaRPr lang="en-US" sz="1150" dirty="0"/>
          </a:p>
        </p:txBody>
      </p:sp>
      <p:sp>
        <p:nvSpPr>
          <p:cNvPr id="19" name="Shape 15"/>
          <p:cNvSpPr/>
          <p:nvPr/>
        </p:nvSpPr>
        <p:spPr>
          <a:xfrm>
            <a:off x="4297680" y="1371600"/>
            <a:ext cx="3593592" cy="1783080"/>
          </a:xfrm>
          <a:prstGeom prst="roundRect">
            <a:avLst>
              <a:gd name="adj" fmla="val 4103"/>
            </a:avLst>
          </a:prstGeom>
          <a:solidFill>
            <a:srgbClr val="F4F7F5"/>
          </a:solidFill>
          <a:ln w="9525">
            <a:solidFill>
              <a:srgbClr val="D5DED9"/>
            </a:solidFill>
            <a:prstDash val="solid"/>
          </a:ln>
        </p:spPr>
      </p:sp>
      <p:sp>
        <p:nvSpPr>
          <p:cNvPr id="20" name="Shape 16"/>
          <p:cNvSpPr/>
          <p:nvPr/>
        </p:nvSpPr>
        <p:spPr>
          <a:xfrm>
            <a:off x="4498848" y="1600200"/>
            <a:ext cx="594360" cy="594360"/>
          </a:xfrm>
          <a:prstGeom prst="ellipse">
            <a:avLst/>
          </a:prstGeom>
          <a:solidFill>
            <a:srgbClr val="00704A"/>
          </a:solidFill>
          <a:ln w="12700">
            <a:solidFill>
              <a:srgbClr val="00704A"/>
            </a:solidFill>
            <a:prstDash val="solid"/>
          </a:ln>
        </p:spPr>
      </p:sp>
      <p:pic>
        <p:nvPicPr>
          <p:cNvPr id="21" name="Image 2" descr="preencoded.png"/>
          <p:cNvPicPr>
            <a:picLocks noChangeAspect="1"/>
          </p:cNvPicPr>
          <p:nvPr/>
        </p:nvPicPr>
        <p:blipFill>
          <a:blip r:embed="rId5"/>
          <a:stretch>
            <a:fillRect/>
          </a:stretch>
        </p:blipFill>
        <p:spPr>
          <a:xfrm>
            <a:off x="4653382" y="1754734"/>
            <a:ext cx="285293" cy="285293"/>
          </a:xfrm>
          <a:prstGeom prst="rect">
            <a:avLst/>
          </a:prstGeom>
        </p:spPr>
      </p:pic>
      <p:sp>
        <p:nvSpPr>
          <p:cNvPr id="22" name="Shape 17"/>
          <p:cNvSpPr/>
          <p:nvPr/>
        </p:nvSpPr>
        <p:spPr>
          <a:xfrm>
            <a:off x="5257800" y="1627632"/>
            <a:ext cx="777240" cy="237744"/>
          </a:xfrm>
          <a:prstGeom prst="roundRect">
            <a:avLst>
              <a:gd name="adj" fmla="val 50000"/>
            </a:avLst>
          </a:prstGeom>
          <a:solidFill>
            <a:srgbClr val="E8F5EF"/>
          </a:solidFill>
          <a:ln w="12700">
            <a:solidFill>
              <a:srgbClr val="E8F5EF"/>
            </a:solidFill>
            <a:prstDash val="solid"/>
          </a:ln>
        </p:spPr>
      </p:sp>
      <p:sp>
        <p:nvSpPr>
          <p:cNvPr id="23" name="Text 18"/>
          <p:cNvSpPr txBox="1"/>
          <p:nvPr/>
        </p:nvSpPr>
        <p:spPr>
          <a:xfrm>
            <a:off x="5257800" y="1627632"/>
            <a:ext cx="77724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7</a:t>
            </a:r>
            <a:endParaRPr lang="en-US" sz="850" dirty="0"/>
          </a:p>
        </p:txBody>
      </p:sp>
      <p:sp>
        <p:nvSpPr>
          <p:cNvPr id="24" name="Text 19"/>
          <p:cNvSpPr txBox="1"/>
          <p:nvPr/>
        </p:nvSpPr>
        <p:spPr>
          <a:xfrm>
            <a:off x="5257800" y="192024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Electricity access &amp; reliability</a:t>
            </a:r>
            <a:endParaRPr lang="en-US" sz="1400" dirty="0"/>
          </a:p>
        </p:txBody>
      </p:sp>
      <p:sp>
        <p:nvSpPr>
          <p:cNvPr id="25" name="Text 20"/>
          <p:cNvSpPr txBox="1"/>
          <p:nvPr/>
        </p:nvSpPr>
        <p:spPr>
          <a:xfrm>
            <a:off x="4498848" y="237744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Locate unserved settlements; track how often lights are on</a:t>
            </a:r>
            <a:endParaRPr lang="en-US" sz="1150" dirty="0"/>
          </a:p>
        </p:txBody>
      </p:sp>
      <p:sp>
        <p:nvSpPr>
          <p:cNvPr id="26" name="Shape 21"/>
          <p:cNvSpPr/>
          <p:nvPr/>
        </p:nvSpPr>
        <p:spPr>
          <a:xfrm>
            <a:off x="8046720" y="1371600"/>
            <a:ext cx="3593592" cy="1783080"/>
          </a:xfrm>
          <a:prstGeom prst="roundRect">
            <a:avLst>
              <a:gd name="adj" fmla="val 4103"/>
            </a:avLst>
          </a:prstGeom>
          <a:solidFill>
            <a:srgbClr val="F4F7F5"/>
          </a:solidFill>
          <a:ln w="9525">
            <a:solidFill>
              <a:srgbClr val="D5DED9"/>
            </a:solidFill>
            <a:prstDash val="solid"/>
          </a:ln>
        </p:spPr>
      </p:sp>
      <p:sp>
        <p:nvSpPr>
          <p:cNvPr id="27" name="Shape 22"/>
          <p:cNvSpPr/>
          <p:nvPr/>
        </p:nvSpPr>
        <p:spPr>
          <a:xfrm>
            <a:off x="8247888" y="1600200"/>
            <a:ext cx="594360" cy="594360"/>
          </a:xfrm>
          <a:prstGeom prst="ellipse">
            <a:avLst/>
          </a:prstGeom>
          <a:solidFill>
            <a:srgbClr val="00704A"/>
          </a:solidFill>
          <a:ln w="12700">
            <a:solidFill>
              <a:srgbClr val="00704A"/>
            </a:solidFill>
            <a:prstDash val="solid"/>
          </a:ln>
        </p:spPr>
      </p:sp>
      <p:pic>
        <p:nvPicPr>
          <p:cNvPr id="28" name="Image 3" descr="preencoded.png"/>
          <p:cNvPicPr>
            <a:picLocks noChangeAspect="1"/>
          </p:cNvPicPr>
          <p:nvPr/>
        </p:nvPicPr>
        <p:blipFill>
          <a:blip r:embed="rId6"/>
          <a:stretch>
            <a:fillRect/>
          </a:stretch>
        </p:blipFill>
        <p:spPr>
          <a:xfrm>
            <a:off x="8402422" y="1754734"/>
            <a:ext cx="285293" cy="285293"/>
          </a:xfrm>
          <a:prstGeom prst="rect">
            <a:avLst/>
          </a:prstGeom>
        </p:spPr>
      </p:pic>
      <p:sp>
        <p:nvSpPr>
          <p:cNvPr id="29" name="Shape 23"/>
          <p:cNvSpPr/>
          <p:nvPr/>
        </p:nvSpPr>
        <p:spPr>
          <a:xfrm>
            <a:off x="9006840" y="1627632"/>
            <a:ext cx="777240" cy="237744"/>
          </a:xfrm>
          <a:prstGeom prst="roundRect">
            <a:avLst>
              <a:gd name="adj" fmla="val 50000"/>
            </a:avLst>
          </a:prstGeom>
          <a:solidFill>
            <a:srgbClr val="E8F5EF"/>
          </a:solidFill>
          <a:ln w="12700">
            <a:solidFill>
              <a:srgbClr val="E8F5EF"/>
            </a:solidFill>
            <a:prstDash val="solid"/>
          </a:ln>
        </p:spPr>
      </p:sp>
      <p:sp>
        <p:nvSpPr>
          <p:cNvPr id="30" name="Text 24"/>
          <p:cNvSpPr txBox="1"/>
          <p:nvPr/>
        </p:nvSpPr>
        <p:spPr>
          <a:xfrm>
            <a:off x="9006840" y="1627632"/>
            <a:ext cx="77724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8</a:t>
            </a:r>
            <a:endParaRPr lang="en-US" sz="850" dirty="0"/>
          </a:p>
        </p:txBody>
      </p:sp>
      <p:sp>
        <p:nvSpPr>
          <p:cNvPr id="31" name="Text 25"/>
          <p:cNvSpPr txBox="1"/>
          <p:nvPr/>
        </p:nvSpPr>
        <p:spPr>
          <a:xfrm>
            <a:off x="9006840" y="192024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Economic activity</a:t>
            </a:r>
            <a:endParaRPr lang="en-US" sz="1400" dirty="0"/>
          </a:p>
        </p:txBody>
      </p:sp>
      <p:sp>
        <p:nvSpPr>
          <p:cNvPr id="32" name="Text 26"/>
          <p:cNvSpPr txBox="1"/>
          <p:nvPr/>
        </p:nvSpPr>
        <p:spPr>
          <a:xfrm>
            <a:off x="8247888" y="237744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Subnational GDP downscaling; nowcasting; short-term activity signals</a:t>
            </a:r>
            <a:endParaRPr lang="en-US" sz="1150" dirty="0"/>
          </a:p>
        </p:txBody>
      </p:sp>
      <p:sp>
        <p:nvSpPr>
          <p:cNvPr id="33" name="Shape 27"/>
          <p:cNvSpPr/>
          <p:nvPr/>
        </p:nvSpPr>
        <p:spPr>
          <a:xfrm>
            <a:off x="548640" y="3337560"/>
            <a:ext cx="3593592" cy="1783080"/>
          </a:xfrm>
          <a:prstGeom prst="roundRect">
            <a:avLst>
              <a:gd name="adj" fmla="val 4103"/>
            </a:avLst>
          </a:prstGeom>
          <a:solidFill>
            <a:srgbClr val="F4F7F5"/>
          </a:solidFill>
          <a:ln w="9525">
            <a:solidFill>
              <a:srgbClr val="D5DED9"/>
            </a:solidFill>
            <a:prstDash val="solid"/>
          </a:ln>
        </p:spPr>
      </p:sp>
      <p:sp>
        <p:nvSpPr>
          <p:cNvPr id="34" name="Shape 28"/>
          <p:cNvSpPr/>
          <p:nvPr/>
        </p:nvSpPr>
        <p:spPr>
          <a:xfrm>
            <a:off x="749808" y="3566160"/>
            <a:ext cx="594360" cy="594360"/>
          </a:xfrm>
          <a:prstGeom prst="ellipse">
            <a:avLst/>
          </a:prstGeom>
          <a:solidFill>
            <a:srgbClr val="00704A"/>
          </a:solidFill>
          <a:ln w="12700">
            <a:solidFill>
              <a:srgbClr val="00704A"/>
            </a:solidFill>
            <a:prstDash val="solid"/>
          </a:ln>
        </p:spPr>
      </p:sp>
      <p:pic>
        <p:nvPicPr>
          <p:cNvPr id="35" name="Image 4" descr="preencoded.png"/>
          <p:cNvPicPr>
            <a:picLocks noChangeAspect="1"/>
          </p:cNvPicPr>
          <p:nvPr/>
        </p:nvPicPr>
        <p:blipFill>
          <a:blip r:embed="rId7"/>
          <a:stretch>
            <a:fillRect/>
          </a:stretch>
        </p:blipFill>
        <p:spPr>
          <a:xfrm>
            <a:off x="904342" y="3720694"/>
            <a:ext cx="285293" cy="285293"/>
          </a:xfrm>
          <a:prstGeom prst="rect">
            <a:avLst/>
          </a:prstGeom>
        </p:spPr>
      </p:pic>
      <p:sp>
        <p:nvSpPr>
          <p:cNvPr id="36" name="Shape 29"/>
          <p:cNvSpPr/>
          <p:nvPr/>
        </p:nvSpPr>
        <p:spPr>
          <a:xfrm>
            <a:off x="1508760" y="3593592"/>
            <a:ext cx="777240" cy="237744"/>
          </a:xfrm>
          <a:prstGeom prst="roundRect">
            <a:avLst>
              <a:gd name="adj" fmla="val 50000"/>
            </a:avLst>
          </a:prstGeom>
          <a:solidFill>
            <a:srgbClr val="E8F5EF"/>
          </a:solidFill>
          <a:ln w="12700">
            <a:solidFill>
              <a:srgbClr val="E8F5EF"/>
            </a:solidFill>
            <a:prstDash val="solid"/>
          </a:ln>
        </p:spPr>
      </p:sp>
      <p:sp>
        <p:nvSpPr>
          <p:cNvPr id="37" name="Text 30"/>
          <p:cNvSpPr txBox="1"/>
          <p:nvPr/>
        </p:nvSpPr>
        <p:spPr>
          <a:xfrm>
            <a:off x="1508760" y="3593592"/>
            <a:ext cx="77724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9</a:t>
            </a:r>
            <a:endParaRPr lang="en-US" sz="850" dirty="0"/>
          </a:p>
        </p:txBody>
      </p:sp>
      <p:sp>
        <p:nvSpPr>
          <p:cNvPr id="38" name="Text 31"/>
          <p:cNvSpPr txBox="1"/>
          <p:nvPr/>
        </p:nvSpPr>
        <p:spPr>
          <a:xfrm>
            <a:off x="1508760" y="388620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Infrastructure</a:t>
            </a:r>
            <a:endParaRPr lang="en-US" sz="1400" dirty="0"/>
          </a:p>
        </p:txBody>
      </p:sp>
      <p:sp>
        <p:nvSpPr>
          <p:cNvPr id="39" name="Text 32"/>
          <p:cNvSpPr txBox="1"/>
          <p:nvPr/>
        </p:nvSpPr>
        <p:spPr>
          <a:xfrm>
            <a:off x="749808" y="434340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Corridors, ports, industrial and special economic zones</a:t>
            </a:r>
            <a:endParaRPr lang="en-US" sz="1150" dirty="0"/>
          </a:p>
        </p:txBody>
      </p:sp>
      <p:sp>
        <p:nvSpPr>
          <p:cNvPr id="40" name="Shape 33"/>
          <p:cNvSpPr/>
          <p:nvPr/>
        </p:nvSpPr>
        <p:spPr>
          <a:xfrm>
            <a:off x="4297680" y="3337560"/>
            <a:ext cx="3593592" cy="1783080"/>
          </a:xfrm>
          <a:prstGeom prst="roundRect">
            <a:avLst>
              <a:gd name="adj" fmla="val 4103"/>
            </a:avLst>
          </a:prstGeom>
          <a:solidFill>
            <a:srgbClr val="F4F7F5"/>
          </a:solidFill>
          <a:ln w="9525">
            <a:solidFill>
              <a:srgbClr val="D5DED9"/>
            </a:solidFill>
            <a:prstDash val="solid"/>
          </a:ln>
        </p:spPr>
      </p:sp>
      <p:sp>
        <p:nvSpPr>
          <p:cNvPr id="41" name="Shape 34"/>
          <p:cNvSpPr/>
          <p:nvPr/>
        </p:nvSpPr>
        <p:spPr>
          <a:xfrm>
            <a:off x="4498848" y="3566160"/>
            <a:ext cx="594360" cy="594360"/>
          </a:xfrm>
          <a:prstGeom prst="ellipse">
            <a:avLst/>
          </a:prstGeom>
          <a:solidFill>
            <a:srgbClr val="00704A"/>
          </a:solidFill>
          <a:ln w="12700">
            <a:solidFill>
              <a:srgbClr val="00704A"/>
            </a:solidFill>
            <a:prstDash val="solid"/>
          </a:ln>
        </p:spPr>
      </p:sp>
      <p:pic>
        <p:nvPicPr>
          <p:cNvPr id="42" name="Image 5" descr="preencoded.png"/>
          <p:cNvPicPr>
            <a:picLocks noChangeAspect="1"/>
          </p:cNvPicPr>
          <p:nvPr/>
        </p:nvPicPr>
        <p:blipFill>
          <a:blip r:embed="rId8"/>
          <a:stretch>
            <a:fillRect/>
          </a:stretch>
        </p:blipFill>
        <p:spPr>
          <a:xfrm>
            <a:off x="4653382" y="3720694"/>
            <a:ext cx="285293" cy="285293"/>
          </a:xfrm>
          <a:prstGeom prst="rect">
            <a:avLst/>
          </a:prstGeom>
        </p:spPr>
      </p:pic>
      <p:sp>
        <p:nvSpPr>
          <p:cNvPr id="43" name="Shape 35"/>
          <p:cNvSpPr/>
          <p:nvPr/>
        </p:nvSpPr>
        <p:spPr>
          <a:xfrm>
            <a:off x="5257800" y="3593592"/>
            <a:ext cx="777240" cy="237744"/>
          </a:xfrm>
          <a:prstGeom prst="roundRect">
            <a:avLst>
              <a:gd name="adj" fmla="val 50000"/>
            </a:avLst>
          </a:prstGeom>
          <a:solidFill>
            <a:srgbClr val="E8F5EF"/>
          </a:solidFill>
          <a:ln w="12700">
            <a:solidFill>
              <a:srgbClr val="E8F5EF"/>
            </a:solidFill>
            <a:prstDash val="solid"/>
          </a:ln>
        </p:spPr>
      </p:sp>
      <p:sp>
        <p:nvSpPr>
          <p:cNvPr id="44" name="Text 36"/>
          <p:cNvSpPr txBox="1"/>
          <p:nvPr/>
        </p:nvSpPr>
        <p:spPr>
          <a:xfrm>
            <a:off x="5257800" y="3593592"/>
            <a:ext cx="77724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11</a:t>
            </a:r>
            <a:endParaRPr lang="en-US" sz="850" dirty="0"/>
          </a:p>
        </p:txBody>
      </p:sp>
      <p:sp>
        <p:nvSpPr>
          <p:cNvPr id="45" name="Text 37"/>
          <p:cNvSpPr txBox="1"/>
          <p:nvPr/>
        </p:nvSpPr>
        <p:spPr>
          <a:xfrm>
            <a:off x="5257800" y="388620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Urbanisation</a:t>
            </a:r>
            <a:endParaRPr lang="en-US" sz="1400" dirty="0"/>
          </a:p>
        </p:txBody>
      </p:sp>
      <p:sp>
        <p:nvSpPr>
          <p:cNvPr id="46" name="Text 38"/>
          <p:cNvSpPr txBox="1"/>
          <p:nvPr/>
        </p:nvSpPr>
        <p:spPr>
          <a:xfrm>
            <a:off x="4498848" y="434340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Urban extent, sprawl versus densification, new towns</a:t>
            </a:r>
            <a:endParaRPr lang="en-US" sz="1150" dirty="0"/>
          </a:p>
        </p:txBody>
      </p:sp>
      <p:sp>
        <p:nvSpPr>
          <p:cNvPr id="47" name="Shape 39"/>
          <p:cNvSpPr/>
          <p:nvPr/>
        </p:nvSpPr>
        <p:spPr>
          <a:xfrm>
            <a:off x="8046720" y="3337560"/>
            <a:ext cx="3593592" cy="1783080"/>
          </a:xfrm>
          <a:prstGeom prst="roundRect">
            <a:avLst>
              <a:gd name="adj" fmla="val 4103"/>
            </a:avLst>
          </a:prstGeom>
          <a:solidFill>
            <a:srgbClr val="F4F7F5"/>
          </a:solidFill>
          <a:ln w="9525">
            <a:solidFill>
              <a:srgbClr val="D5DED9"/>
            </a:solidFill>
            <a:prstDash val="solid"/>
          </a:ln>
        </p:spPr>
      </p:sp>
      <p:sp>
        <p:nvSpPr>
          <p:cNvPr id="48" name="Shape 40"/>
          <p:cNvSpPr/>
          <p:nvPr/>
        </p:nvSpPr>
        <p:spPr>
          <a:xfrm>
            <a:off x="8247888" y="3566160"/>
            <a:ext cx="594360" cy="594360"/>
          </a:xfrm>
          <a:prstGeom prst="ellipse">
            <a:avLst/>
          </a:prstGeom>
          <a:solidFill>
            <a:srgbClr val="00704A"/>
          </a:solidFill>
          <a:ln w="12700">
            <a:solidFill>
              <a:srgbClr val="00704A"/>
            </a:solidFill>
            <a:prstDash val="solid"/>
          </a:ln>
        </p:spPr>
      </p:sp>
      <p:pic>
        <p:nvPicPr>
          <p:cNvPr id="49" name="Image 6" descr="preencoded.png"/>
          <p:cNvPicPr>
            <a:picLocks noChangeAspect="1"/>
          </p:cNvPicPr>
          <p:nvPr/>
        </p:nvPicPr>
        <p:blipFill>
          <a:blip r:embed="rId9"/>
          <a:stretch>
            <a:fillRect/>
          </a:stretch>
        </p:blipFill>
        <p:spPr>
          <a:xfrm>
            <a:off x="8402422" y="3720694"/>
            <a:ext cx="285293" cy="285293"/>
          </a:xfrm>
          <a:prstGeom prst="rect">
            <a:avLst/>
          </a:prstGeom>
        </p:spPr>
      </p:pic>
      <p:sp>
        <p:nvSpPr>
          <p:cNvPr id="50" name="Shape 41"/>
          <p:cNvSpPr/>
          <p:nvPr/>
        </p:nvSpPr>
        <p:spPr>
          <a:xfrm>
            <a:off x="9006840" y="3593592"/>
            <a:ext cx="1600200" cy="237744"/>
          </a:xfrm>
          <a:prstGeom prst="roundRect">
            <a:avLst>
              <a:gd name="adj" fmla="val 50000"/>
            </a:avLst>
          </a:prstGeom>
          <a:solidFill>
            <a:srgbClr val="E8F5EF"/>
          </a:solidFill>
          <a:ln w="12700">
            <a:solidFill>
              <a:srgbClr val="E8F5EF"/>
            </a:solidFill>
            <a:prstDash val="solid"/>
          </a:ln>
        </p:spPr>
      </p:sp>
      <p:sp>
        <p:nvSpPr>
          <p:cNvPr id="51" name="Text 42"/>
          <p:cNvSpPr txBox="1"/>
          <p:nvPr/>
        </p:nvSpPr>
        <p:spPr>
          <a:xfrm>
            <a:off x="9006840" y="3593592"/>
            <a:ext cx="1600200" cy="237744"/>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SDG 16 · humanitarian</a:t>
            </a:r>
            <a:endParaRPr lang="en-US" sz="850" dirty="0"/>
          </a:p>
        </p:txBody>
      </p:sp>
      <p:sp>
        <p:nvSpPr>
          <p:cNvPr id="52" name="Text 43"/>
          <p:cNvSpPr txBox="1"/>
          <p:nvPr/>
        </p:nvSpPr>
        <p:spPr>
          <a:xfrm>
            <a:off x="9006840" y="3886200"/>
            <a:ext cx="2514600" cy="36576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Conflict &amp; disasters</a:t>
            </a:r>
            <a:endParaRPr lang="en-US" sz="1400" dirty="0"/>
          </a:p>
        </p:txBody>
      </p:sp>
      <p:sp>
        <p:nvSpPr>
          <p:cNvPr id="53" name="Text 44"/>
          <p:cNvSpPr txBox="1"/>
          <p:nvPr/>
        </p:nvSpPr>
        <p:spPr>
          <a:xfrm>
            <a:off x="8247888" y="4343400"/>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Blackouts, displacement signals, recovery tracking</a:t>
            </a:r>
            <a:endParaRPr lang="en-US" sz="1150" dirty="0"/>
          </a:p>
        </p:txBody>
      </p:sp>
      <p:sp>
        <p:nvSpPr>
          <p:cNvPr id="54" name="Shape 45"/>
          <p:cNvSpPr/>
          <p:nvPr/>
        </p:nvSpPr>
        <p:spPr>
          <a:xfrm>
            <a:off x="548640" y="5440680"/>
            <a:ext cx="11094415" cy="548640"/>
          </a:xfrm>
          <a:prstGeom prst="roundRect">
            <a:avLst>
              <a:gd name="adj" fmla="val 13333"/>
            </a:avLst>
          </a:prstGeom>
          <a:solidFill>
            <a:srgbClr val="E8F5EF"/>
          </a:solidFill>
          <a:ln w="9525">
            <a:solidFill>
              <a:srgbClr val="E8F5EF"/>
            </a:solidFill>
            <a:prstDash val="solid"/>
          </a:ln>
        </p:spPr>
      </p:sp>
      <p:sp>
        <p:nvSpPr>
          <p:cNvPr id="55" name="Text 46"/>
          <p:cNvSpPr txBox="1"/>
          <p:nvPr/>
        </p:nvSpPr>
        <p:spPr>
          <a:xfrm>
            <a:off x="777240" y="5440680"/>
            <a:ext cx="10637215" cy="54864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A complement, not a replacement. </a:t>
            </a:r>
            <a:r>
              <a:rPr lang="en-US" sz="1200" dirty="0">
                <a:solidFill>
                  <a:srgbClr val="231F20"/>
                </a:solidFill>
                <a:latin typeface="Calibri" pitchFamily="34" charset="0"/>
                <a:ea typeface="Calibri" pitchFamily="34" charset="-122"/>
                <a:cs typeface="Calibri" pitchFamily="34" charset="-120"/>
              </a:rPr>
              <a:t>Lights add spatial detail, frequency and independent verification to official statistics — they do not replace the census, the survey or the national accounts.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HOW EACH USE WAS VALIDATED</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Five use cases, five validation strategies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38</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Henderson et al. (2012); Beyer, Hu &amp; Yao (2022); Falchetta et al. (2019); Min &amp; O’Keeffe (HREA); Román et al. (2019); Beyer et al. (2021); Li &amp; Li (2014).</a:t>
            </a:r>
            <a:endParaRPr lang="en-US" sz="8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Use case</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NTL indicator</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Validated against</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Performs well</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7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Performs poorly</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3B2E"/>
                    </a:solidFill>
                  </a:tcPr>
                </a:tc>
                <a:extLst>
                  <a:ext uri="{0D108BD9-81ED-4DB2-BD59-A6C34878D82A}">
                    <a16:rowId xmlns:a16="http://schemas.microsoft.com/office/drawing/2014/main" val="10000"/>
                  </a:ext>
                </a:extLst>
              </a:tr>
              <a:tr h="777240">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Output proxy</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Growth in Sum of Lights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National &amp; subnational GDP; quarterly GDP</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Weak statistical systems; subnational; urban &amp; industrial economies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Agriculture- or mining-led economies; saturated rich cores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1"/>
                  </a:ext>
                </a:extLst>
              </a:tr>
              <a:tr h="777240">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Electrification</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Share of nights lit per settlement</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Household surveys (DHS, LSMS), census, utility records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Grid-connected settlements; reliability over time</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Solar home systems; very low consumption</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2"/>
                  </a:ext>
                </a:extLst>
              </a:tr>
              <a:tr h="777240">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Urbanisation</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Lit area and radiance growth</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Built-up grids (GHSL, WSF); census urban population</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City extent and growth of large towns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Small towns (blooming); dense informal areas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3"/>
                  </a:ext>
                </a:extLst>
              </a:tr>
              <a:tr h="777240">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Damage assessment</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Drop vs pre-event baseline</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UNOSAT and ground damage reports; outage records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Grid outages; large-scale destruction; recovery</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Localised damage; areas already dark</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4"/>
                  </a:ext>
                </a:extLst>
              </a:tr>
              <a:tr h="777240">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Activity mapping</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Daily / monthly radiance change</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Electricity consumption, mobility, firm surveys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Lockdowns, holidays, large events</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6F6EE"/>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Daytime and low-light activity</a:t>
                      </a:r>
                      <a:endParaRPr lang="en-US" sz="1100" dirty="0">
                        <a:latin typeface="Calibri" charset="0"/>
                        <a:ea typeface="Calibri" charset="0"/>
                        <a:cs typeface="Calibri" charset="0"/>
                      </a:endParaRPr>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9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APPLICATION 01</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Measuring the economy from orbit</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39</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Henderson et al. (2012) AER 102(2); Bruederle &amp; Hodler (2018) PLOS ONE 13(9); Martinez (2022) JPE 130(10).</a:t>
            </a:r>
            <a:endParaRPr lang="en-US" sz="850" dirty="0"/>
          </a:p>
        </p:txBody>
      </p:sp>
      <p:sp>
        <p:nvSpPr>
          <p:cNvPr id="13" name="Text 10"/>
          <p:cNvSpPr txBox="1"/>
          <p:nvPr/>
        </p:nvSpPr>
        <p:spPr>
          <a:xfrm>
            <a:off x="548640" y="1325880"/>
            <a:ext cx="5486400" cy="32004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What the evidence shows</a:t>
            </a:r>
            <a:endParaRPr lang="en-US" sz="1400" dirty="0"/>
          </a:p>
        </p:txBody>
      </p:sp>
      <p:sp>
        <p:nvSpPr>
          <p:cNvPr id="14" name="Shape 11"/>
          <p:cNvSpPr/>
          <p:nvPr/>
        </p:nvSpPr>
        <p:spPr>
          <a:xfrm>
            <a:off x="548640" y="1737360"/>
            <a:ext cx="5486400" cy="1188720"/>
          </a:xfrm>
          <a:prstGeom prst="roundRect">
            <a:avLst>
              <a:gd name="adj" fmla="val 6154"/>
            </a:avLst>
          </a:prstGeom>
          <a:solidFill>
            <a:srgbClr val="F4F7F5"/>
          </a:solidFill>
          <a:ln w="9525">
            <a:solidFill>
              <a:srgbClr val="D5DED9"/>
            </a:solidFill>
            <a:prstDash val="solid"/>
          </a:ln>
        </p:spPr>
      </p:sp>
      <p:sp>
        <p:nvSpPr>
          <p:cNvPr id="15" name="Shape 12"/>
          <p:cNvSpPr/>
          <p:nvPr/>
        </p:nvSpPr>
        <p:spPr>
          <a:xfrm>
            <a:off x="731520" y="2011680"/>
            <a:ext cx="548640" cy="548640"/>
          </a:xfrm>
          <a:prstGeom prst="ellipse">
            <a:avLst/>
          </a:prstGeom>
          <a:solidFill>
            <a:srgbClr val="E8F5EF"/>
          </a:solidFill>
          <a:ln w="12700">
            <a:solidFill>
              <a:srgbClr val="E8F5EF"/>
            </a:solidFill>
            <a:prstDash val="solid"/>
          </a:ln>
        </p:spPr>
      </p:sp>
      <p:pic>
        <p:nvPicPr>
          <p:cNvPr id="16" name="Image 1" descr="preencoded.png"/>
          <p:cNvPicPr>
            <a:picLocks noChangeAspect="1"/>
          </p:cNvPicPr>
          <p:nvPr/>
        </p:nvPicPr>
        <p:blipFill>
          <a:blip r:embed="rId4"/>
          <a:stretch>
            <a:fillRect/>
          </a:stretch>
        </p:blipFill>
        <p:spPr>
          <a:xfrm>
            <a:off x="874166" y="2154326"/>
            <a:ext cx="263347" cy="263347"/>
          </a:xfrm>
          <a:prstGeom prst="rect">
            <a:avLst/>
          </a:prstGeom>
        </p:spPr>
      </p:pic>
      <p:sp>
        <p:nvSpPr>
          <p:cNvPr id="17" name="Text 13"/>
          <p:cNvSpPr txBox="1"/>
          <p:nvPr/>
        </p:nvSpPr>
        <p:spPr>
          <a:xfrm>
            <a:off x="1417320" y="1847088"/>
            <a:ext cx="448056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Henderson, Storeygard &amp; Weil (2012)</a:t>
            </a:r>
            <a:endParaRPr lang="en-US" sz="1300" dirty="0"/>
          </a:p>
        </p:txBody>
      </p:sp>
      <p:sp>
        <p:nvSpPr>
          <p:cNvPr id="18" name="Text 14"/>
          <p:cNvSpPr txBox="1"/>
          <p:nvPr/>
        </p:nvSpPr>
        <p:spPr>
          <a:xfrm>
            <a:off x="1417320" y="2176272"/>
            <a:ext cx="4480560" cy="71323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Lights carry real information on economic growth and can improve GDP estimates where national accounts are weak.</a:t>
            </a:r>
            <a:endParaRPr lang="en-US" sz="1150" dirty="0"/>
          </a:p>
        </p:txBody>
      </p:sp>
      <p:sp>
        <p:nvSpPr>
          <p:cNvPr id="19" name="Shape 15"/>
          <p:cNvSpPr/>
          <p:nvPr/>
        </p:nvSpPr>
        <p:spPr>
          <a:xfrm>
            <a:off x="548640" y="3063240"/>
            <a:ext cx="5486400" cy="1188720"/>
          </a:xfrm>
          <a:prstGeom prst="roundRect">
            <a:avLst>
              <a:gd name="adj" fmla="val 6154"/>
            </a:avLst>
          </a:prstGeom>
          <a:solidFill>
            <a:srgbClr val="F4F7F5"/>
          </a:solidFill>
          <a:ln w="9525">
            <a:solidFill>
              <a:srgbClr val="D5DED9"/>
            </a:solidFill>
            <a:prstDash val="solid"/>
          </a:ln>
        </p:spPr>
      </p:sp>
      <p:sp>
        <p:nvSpPr>
          <p:cNvPr id="20" name="Shape 16"/>
          <p:cNvSpPr/>
          <p:nvPr/>
        </p:nvSpPr>
        <p:spPr>
          <a:xfrm>
            <a:off x="731520" y="3337560"/>
            <a:ext cx="548640" cy="548640"/>
          </a:xfrm>
          <a:prstGeom prst="ellipse">
            <a:avLst/>
          </a:prstGeom>
          <a:solidFill>
            <a:srgbClr val="E8F5EF"/>
          </a:solidFill>
          <a:ln w="12700">
            <a:solidFill>
              <a:srgbClr val="E8F5EF"/>
            </a:solidFill>
            <a:prstDash val="solid"/>
          </a:ln>
        </p:spPr>
      </p:sp>
      <p:pic>
        <p:nvPicPr>
          <p:cNvPr id="21" name="Image 2" descr="preencoded.png"/>
          <p:cNvPicPr>
            <a:picLocks noChangeAspect="1"/>
          </p:cNvPicPr>
          <p:nvPr/>
        </p:nvPicPr>
        <p:blipFill>
          <a:blip r:embed="rId5"/>
          <a:stretch>
            <a:fillRect/>
          </a:stretch>
        </p:blipFill>
        <p:spPr>
          <a:xfrm>
            <a:off x="874166" y="3480206"/>
            <a:ext cx="263347" cy="263347"/>
          </a:xfrm>
          <a:prstGeom prst="rect">
            <a:avLst/>
          </a:prstGeom>
        </p:spPr>
      </p:pic>
      <p:sp>
        <p:nvSpPr>
          <p:cNvPr id="22" name="Text 17"/>
          <p:cNvSpPr txBox="1"/>
          <p:nvPr/>
        </p:nvSpPr>
        <p:spPr>
          <a:xfrm>
            <a:off x="1417320" y="3172968"/>
            <a:ext cx="448056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Bruederle &amp; Hodler (2018)</a:t>
            </a:r>
            <a:endParaRPr lang="en-US" sz="1300" dirty="0"/>
          </a:p>
        </p:txBody>
      </p:sp>
      <p:sp>
        <p:nvSpPr>
          <p:cNvPr id="23" name="Text 18"/>
          <p:cNvSpPr txBox="1"/>
          <p:nvPr/>
        </p:nvSpPr>
        <p:spPr>
          <a:xfrm>
            <a:off x="1417320" y="3502152"/>
            <a:ext cx="4480560" cy="71323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Lights track household wealth, education and health at the local level, using DHS survey clusters in Africa.</a:t>
            </a:r>
            <a:endParaRPr lang="en-US" sz="1150" dirty="0"/>
          </a:p>
        </p:txBody>
      </p:sp>
      <p:sp>
        <p:nvSpPr>
          <p:cNvPr id="24" name="Shape 19"/>
          <p:cNvSpPr/>
          <p:nvPr/>
        </p:nvSpPr>
        <p:spPr>
          <a:xfrm>
            <a:off x="548640" y="4389120"/>
            <a:ext cx="5486400" cy="1188720"/>
          </a:xfrm>
          <a:prstGeom prst="roundRect">
            <a:avLst>
              <a:gd name="adj" fmla="val 6154"/>
            </a:avLst>
          </a:prstGeom>
          <a:solidFill>
            <a:srgbClr val="F4F7F5"/>
          </a:solidFill>
          <a:ln w="9525">
            <a:solidFill>
              <a:srgbClr val="D5DED9"/>
            </a:solidFill>
            <a:prstDash val="solid"/>
          </a:ln>
        </p:spPr>
      </p:sp>
      <p:sp>
        <p:nvSpPr>
          <p:cNvPr id="25" name="Shape 20"/>
          <p:cNvSpPr/>
          <p:nvPr/>
        </p:nvSpPr>
        <p:spPr>
          <a:xfrm>
            <a:off x="731520" y="4663440"/>
            <a:ext cx="548640" cy="548640"/>
          </a:xfrm>
          <a:prstGeom prst="ellipse">
            <a:avLst/>
          </a:prstGeom>
          <a:solidFill>
            <a:srgbClr val="E8F5EF"/>
          </a:solidFill>
          <a:ln w="12700">
            <a:solidFill>
              <a:srgbClr val="E8F5EF"/>
            </a:solidFill>
            <a:prstDash val="solid"/>
          </a:ln>
        </p:spPr>
      </p:sp>
      <p:pic>
        <p:nvPicPr>
          <p:cNvPr id="26" name="Image 3" descr="preencoded.png"/>
          <p:cNvPicPr>
            <a:picLocks noChangeAspect="1"/>
          </p:cNvPicPr>
          <p:nvPr/>
        </p:nvPicPr>
        <p:blipFill>
          <a:blip r:embed="rId6"/>
          <a:stretch>
            <a:fillRect/>
          </a:stretch>
        </p:blipFill>
        <p:spPr>
          <a:xfrm>
            <a:off x="874166" y="4806086"/>
            <a:ext cx="263347" cy="263347"/>
          </a:xfrm>
          <a:prstGeom prst="rect">
            <a:avLst/>
          </a:prstGeom>
        </p:spPr>
      </p:pic>
      <p:sp>
        <p:nvSpPr>
          <p:cNvPr id="27" name="Text 21"/>
          <p:cNvSpPr txBox="1"/>
          <p:nvPr/>
        </p:nvSpPr>
        <p:spPr>
          <a:xfrm>
            <a:off x="1417320" y="4498848"/>
            <a:ext cx="448056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Martinez (2022)</a:t>
            </a:r>
            <a:endParaRPr lang="en-US" sz="1300" dirty="0"/>
          </a:p>
        </p:txBody>
      </p:sp>
      <p:sp>
        <p:nvSpPr>
          <p:cNvPr id="28" name="Text 22"/>
          <p:cNvSpPr txBox="1"/>
          <p:nvPr/>
        </p:nvSpPr>
        <p:spPr>
          <a:xfrm>
            <a:off x="1417320" y="4828032"/>
            <a:ext cx="4480560" cy="71323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Lights used as an independent benchmark to test the credibility of reported GDP growth.</a:t>
            </a:r>
            <a:endParaRPr lang="en-US" sz="1150" dirty="0"/>
          </a:p>
        </p:txBody>
      </p:sp>
      <p:sp>
        <p:nvSpPr>
          <p:cNvPr id="29" name="Text 23"/>
          <p:cNvSpPr txBox="1"/>
          <p:nvPr/>
        </p:nvSpPr>
        <p:spPr>
          <a:xfrm>
            <a:off x="6355080" y="1325880"/>
            <a:ext cx="5486400" cy="32004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Why the lights–output link is not stable</a:t>
            </a:r>
            <a:endParaRPr lang="en-US" sz="1400" dirty="0"/>
          </a:p>
        </p:txBody>
      </p:sp>
      <p:sp>
        <p:nvSpPr>
          <p:cNvPr id="30" name="Shape 24"/>
          <p:cNvSpPr/>
          <p:nvPr/>
        </p:nvSpPr>
        <p:spPr>
          <a:xfrm>
            <a:off x="6355080" y="1737360"/>
            <a:ext cx="5285232" cy="603504"/>
          </a:xfrm>
          <a:prstGeom prst="roundRect">
            <a:avLst>
              <a:gd name="adj" fmla="val 12121"/>
            </a:avLst>
          </a:prstGeom>
          <a:solidFill>
            <a:srgbClr val="FBE9E7"/>
          </a:solidFill>
          <a:ln w="9525">
            <a:solidFill>
              <a:srgbClr val="FBE9E7"/>
            </a:solidFill>
            <a:prstDash val="solid"/>
          </a:ln>
        </p:spPr>
      </p:sp>
      <p:pic>
        <p:nvPicPr>
          <p:cNvPr id="31" name="Image 4" descr="preencoded.png"/>
          <p:cNvPicPr>
            <a:picLocks noChangeAspect="1"/>
          </p:cNvPicPr>
          <p:nvPr/>
        </p:nvPicPr>
        <p:blipFill>
          <a:blip r:embed="rId7"/>
          <a:stretch>
            <a:fillRect/>
          </a:stretch>
        </p:blipFill>
        <p:spPr>
          <a:xfrm>
            <a:off x="6510528" y="1874520"/>
            <a:ext cx="329184" cy="329184"/>
          </a:xfrm>
          <a:prstGeom prst="rect">
            <a:avLst/>
          </a:prstGeom>
        </p:spPr>
      </p:pic>
      <p:sp>
        <p:nvSpPr>
          <p:cNvPr id="32" name="Text 25"/>
          <p:cNvSpPr txBox="1"/>
          <p:nvPr/>
        </p:nvSpPr>
        <p:spPr>
          <a:xfrm>
            <a:off x="6995160" y="1737360"/>
            <a:ext cx="4572000" cy="60350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Sector mix: agriculture and mining create value with little light</a:t>
            </a:r>
            <a:endParaRPr lang="en-US" sz="1200" dirty="0"/>
          </a:p>
        </p:txBody>
      </p:sp>
      <p:sp>
        <p:nvSpPr>
          <p:cNvPr id="33" name="Shape 26"/>
          <p:cNvSpPr/>
          <p:nvPr/>
        </p:nvSpPr>
        <p:spPr>
          <a:xfrm>
            <a:off x="6355080" y="2450592"/>
            <a:ext cx="5285232" cy="603504"/>
          </a:xfrm>
          <a:prstGeom prst="roundRect">
            <a:avLst>
              <a:gd name="adj" fmla="val 12121"/>
            </a:avLst>
          </a:prstGeom>
          <a:solidFill>
            <a:srgbClr val="FBE9E7"/>
          </a:solidFill>
          <a:ln w="9525">
            <a:solidFill>
              <a:srgbClr val="FBE9E7"/>
            </a:solidFill>
            <a:prstDash val="solid"/>
          </a:ln>
        </p:spPr>
      </p:sp>
      <p:pic>
        <p:nvPicPr>
          <p:cNvPr id="34" name="Image 5" descr="preencoded.png"/>
          <p:cNvPicPr>
            <a:picLocks noChangeAspect="1"/>
          </p:cNvPicPr>
          <p:nvPr/>
        </p:nvPicPr>
        <p:blipFill>
          <a:blip r:embed="rId8"/>
          <a:stretch>
            <a:fillRect/>
          </a:stretch>
        </p:blipFill>
        <p:spPr>
          <a:xfrm>
            <a:off x="6510528" y="2587752"/>
            <a:ext cx="329184" cy="329184"/>
          </a:xfrm>
          <a:prstGeom prst="rect">
            <a:avLst/>
          </a:prstGeom>
        </p:spPr>
      </p:pic>
      <p:sp>
        <p:nvSpPr>
          <p:cNvPr id="35" name="Text 27"/>
          <p:cNvSpPr txBox="1"/>
          <p:nvPr/>
        </p:nvSpPr>
        <p:spPr>
          <a:xfrm>
            <a:off x="6995160" y="2450592"/>
            <a:ext cx="4572000" cy="60350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Income level: bright cores saturate or plateau</a:t>
            </a:r>
            <a:endParaRPr lang="en-US" sz="1200" dirty="0"/>
          </a:p>
        </p:txBody>
      </p:sp>
      <p:sp>
        <p:nvSpPr>
          <p:cNvPr id="36" name="Shape 28"/>
          <p:cNvSpPr/>
          <p:nvPr/>
        </p:nvSpPr>
        <p:spPr>
          <a:xfrm>
            <a:off x="6355080" y="3163824"/>
            <a:ext cx="5285232" cy="603504"/>
          </a:xfrm>
          <a:prstGeom prst="roundRect">
            <a:avLst>
              <a:gd name="adj" fmla="val 12121"/>
            </a:avLst>
          </a:prstGeom>
          <a:solidFill>
            <a:srgbClr val="FBE9E7"/>
          </a:solidFill>
          <a:ln w="9525">
            <a:solidFill>
              <a:srgbClr val="FBE9E7"/>
            </a:solidFill>
            <a:prstDash val="solid"/>
          </a:ln>
        </p:spPr>
      </p:sp>
      <p:pic>
        <p:nvPicPr>
          <p:cNvPr id="37" name="Image 6" descr="preencoded.png"/>
          <p:cNvPicPr>
            <a:picLocks noChangeAspect="1"/>
          </p:cNvPicPr>
          <p:nvPr/>
        </p:nvPicPr>
        <p:blipFill>
          <a:blip r:embed="rId9"/>
          <a:stretch>
            <a:fillRect/>
          </a:stretch>
        </p:blipFill>
        <p:spPr>
          <a:xfrm>
            <a:off x="6510528" y="3300984"/>
            <a:ext cx="329184" cy="329184"/>
          </a:xfrm>
          <a:prstGeom prst="rect">
            <a:avLst/>
          </a:prstGeom>
        </p:spPr>
      </p:pic>
      <p:sp>
        <p:nvSpPr>
          <p:cNvPr id="38" name="Text 29"/>
          <p:cNvSpPr txBox="1"/>
          <p:nvPr/>
        </p:nvSpPr>
        <p:spPr>
          <a:xfrm>
            <a:off x="6995160" y="3163824"/>
            <a:ext cx="4572000" cy="60350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Lighting technology: LED retrofits change light per watt</a:t>
            </a:r>
            <a:endParaRPr lang="en-US" sz="1200" dirty="0"/>
          </a:p>
        </p:txBody>
      </p:sp>
      <p:sp>
        <p:nvSpPr>
          <p:cNvPr id="39" name="Shape 30"/>
          <p:cNvSpPr/>
          <p:nvPr/>
        </p:nvSpPr>
        <p:spPr>
          <a:xfrm>
            <a:off x="6355080" y="3877056"/>
            <a:ext cx="5285232" cy="603504"/>
          </a:xfrm>
          <a:prstGeom prst="roundRect">
            <a:avLst>
              <a:gd name="adj" fmla="val 12121"/>
            </a:avLst>
          </a:prstGeom>
          <a:solidFill>
            <a:srgbClr val="FBE9E7"/>
          </a:solidFill>
          <a:ln w="9525">
            <a:solidFill>
              <a:srgbClr val="FBE9E7"/>
            </a:solidFill>
            <a:prstDash val="solid"/>
          </a:ln>
        </p:spPr>
      </p:sp>
      <p:pic>
        <p:nvPicPr>
          <p:cNvPr id="40" name="Image 7" descr="preencoded.png"/>
          <p:cNvPicPr>
            <a:picLocks noChangeAspect="1"/>
          </p:cNvPicPr>
          <p:nvPr/>
        </p:nvPicPr>
        <p:blipFill>
          <a:blip r:embed="rId10"/>
          <a:stretch>
            <a:fillRect/>
          </a:stretch>
        </p:blipFill>
        <p:spPr>
          <a:xfrm>
            <a:off x="6510528" y="4014216"/>
            <a:ext cx="329184" cy="329184"/>
          </a:xfrm>
          <a:prstGeom prst="rect">
            <a:avLst/>
          </a:prstGeom>
        </p:spPr>
      </p:pic>
      <p:sp>
        <p:nvSpPr>
          <p:cNvPr id="41" name="Text 31"/>
          <p:cNvSpPr txBox="1"/>
          <p:nvPr/>
        </p:nvSpPr>
        <p:spPr>
          <a:xfrm>
            <a:off x="6995160" y="3877056"/>
            <a:ext cx="4572000" cy="60350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Power supply: load-shedding dims lights, not output</a:t>
            </a:r>
            <a:endParaRPr lang="en-US" sz="1200" dirty="0"/>
          </a:p>
        </p:txBody>
      </p:sp>
      <p:sp>
        <p:nvSpPr>
          <p:cNvPr id="42" name="Shape 32"/>
          <p:cNvSpPr/>
          <p:nvPr/>
        </p:nvSpPr>
        <p:spPr>
          <a:xfrm>
            <a:off x="6355080" y="4663440"/>
            <a:ext cx="5285232" cy="1005840"/>
          </a:xfrm>
          <a:prstGeom prst="roundRect">
            <a:avLst>
              <a:gd name="adj" fmla="val 7273"/>
            </a:avLst>
          </a:prstGeom>
          <a:solidFill>
            <a:srgbClr val="00553A"/>
          </a:solidFill>
          <a:ln w="9525">
            <a:solidFill>
              <a:srgbClr val="00553A"/>
            </a:solidFill>
            <a:prstDash val="solid"/>
          </a:ln>
        </p:spPr>
      </p:sp>
      <p:sp>
        <p:nvSpPr>
          <p:cNvPr id="43" name="Text 33"/>
          <p:cNvSpPr txBox="1"/>
          <p:nvPr/>
        </p:nvSpPr>
        <p:spPr>
          <a:xfrm>
            <a:off x="6537960" y="4754880"/>
            <a:ext cx="4572000" cy="27432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WHERE LIGHTS HELP MOST</a:t>
            </a:r>
            <a:endParaRPr lang="en-US" sz="1000" dirty="0"/>
          </a:p>
        </p:txBody>
      </p:sp>
      <p:sp>
        <p:nvSpPr>
          <p:cNvPr id="44" name="Shape 34"/>
          <p:cNvSpPr/>
          <p:nvPr/>
        </p:nvSpPr>
        <p:spPr>
          <a:xfrm>
            <a:off x="6537960" y="5120640"/>
            <a:ext cx="1554480" cy="347472"/>
          </a:xfrm>
          <a:prstGeom prst="roundRect">
            <a:avLst>
              <a:gd name="adj" fmla="val 50000"/>
            </a:avLst>
          </a:prstGeom>
          <a:solidFill>
            <a:srgbClr val="F5C242"/>
          </a:solidFill>
          <a:ln w="12700">
            <a:solidFill>
              <a:srgbClr val="F5C242"/>
            </a:solidFill>
            <a:prstDash val="solid"/>
          </a:ln>
        </p:spPr>
      </p:sp>
      <p:sp>
        <p:nvSpPr>
          <p:cNvPr id="45" name="Text 35"/>
          <p:cNvSpPr txBox="1"/>
          <p:nvPr/>
        </p:nvSpPr>
        <p:spPr>
          <a:xfrm>
            <a:off x="6537960" y="5120640"/>
            <a:ext cx="1554480" cy="347472"/>
          </a:xfrm>
          <a:prstGeom prst="rect">
            <a:avLst/>
          </a:prstGeom>
          <a:noFill/>
          <a:ln/>
        </p:spPr>
        <p:txBody>
          <a:bodyPr wrap="square" lIns="0" tIns="0" rIns="0" bIns="0" rtlCol="0" anchor="ctr"/>
          <a:lstStyle/>
          <a:p>
            <a:pPr marL="0" indent="0" algn="ctr">
              <a:buNone/>
            </a:pPr>
            <a:r>
              <a:rPr lang="en-US" sz="1050" b="1" kern="0" spc="100" dirty="0">
                <a:solidFill>
                  <a:srgbClr val="00553A"/>
                </a:solidFill>
                <a:latin typeface="Calibri" pitchFamily="34" charset="0"/>
                <a:ea typeface="Calibri" pitchFamily="34" charset="-122"/>
                <a:cs typeface="Calibri" pitchFamily="34" charset="-120"/>
              </a:rPr>
              <a:t>Subnational</a:t>
            </a:r>
            <a:endParaRPr lang="en-US" sz="1050" dirty="0"/>
          </a:p>
        </p:txBody>
      </p:sp>
      <p:sp>
        <p:nvSpPr>
          <p:cNvPr id="46" name="Shape 36"/>
          <p:cNvSpPr/>
          <p:nvPr/>
        </p:nvSpPr>
        <p:spPr>
          <a:xfrm>
            <a:off x="8211312" y="5120640"/>
            <a:ext cx="1554480" cy="347472"/>
          </a:xfrm>
          <a:prstGeom prst="roundRect">
            <a:avLst>
              <a:gd name="adj" fmla="val 50000"/>
            </a:avLst>
          </a:prstGeom>
          <a:solidFill>
            <a:srgbClr val="F5C242"/>
          </a:solidFill>
          <a:ln w="12700">
            <a:solidFill>
              <a:srgbClr val="F5C242"/>
            </a:solidFill>
            <a:prstDash val="solid"/>
          </a:ln>
        </p:spPr>
      </p:sp>
      <p:sp>
        <p:nvSpPr>
          <p:cNvPr id="47" name="Text 37"/>
          <p:cNvSpPr txBox="1"/>
          <p:nvPr/>
        </p:nvSpPr>
        <p:spPr>
          <a:xfrm>
            <a:off x="8211312" y="5120640"/>
            <a:ext cx="1554480" cy="347472"/>
          </a:xfrm>
          <a:prstGeom prst="rect">
            <a:avLst/>
          </a:prstGeom>
          <a:noFill/>
          <a:ln/>
        </p:spPr>
        <p:txBody>
          <a:bodyPr wrap="square" lIns="0" tIns="0" rIns="0" bIns="0" rtlCol="0" anchor="ctr"/>
          <a:lstStyle/>
          <a:p>
            <a:pPr marL="0" indent="0" algn="ctr">
              <a:buNone/>
            </a:pPr>
            <a:r>
              <a:rPr lang="en-US" sz="1050" b="1" kern="0" spc="100" dirty="0">
                <a:solidFill>
                  <a:srgbClr val="00553A"/>
                </a:solidFill>
                <a:latin typeface="Calibri" pitchFamily="34" charset="0"/>
                <a:ea typeface="Calibri" pitchFamily="34" charset="-122"/>
                <a:cs typeface="Calibri" pitchFamily="34" charset="-120"/>
              </a:rPr>
              <a:t>High-frequency</a:t>
            </a:r>
            <a:endParaRPr lang="en-US" sz="1050" dirty="0"/>
          </a:p>
        </p:txBody>
      </p:sp>
      <p:sp>
        <p:nvSpPr>
          <p:cNvPr id="48" name="Shape 38"/>
          <p:cNvSpPr/>
          <p:nvPr/>
        </p:nvSpPr>
        <p:spPr>
          <a:xfrm>
            <a:off x="9884664" y="5120640"/>
            <a:ext cx="1554480" cy="347472"/>
          </a:xfrm>
          <a:prstGeom prst="roundRect">
            <a:avLst>
              <a:gd name="adj" fmla="val 50000"/>
            </a:avLst>
          </a:prstGeom>
          <a:solidFill>
            <a:srgbClr val="F5C242"/>
          </a:solidFill>
          <a:ln w="12700">
            <a:solidFill>
              <a:srgbClr val="F5C242"/>
            </a:solidFill>
            <a:prstDash val="solid"/>
          </a:ln>
        </p:spPr>
      </p:sp>
      <p:sp>
        <p:nvSpPr>
          <p:cNvPr id="49" name="Text 39"/>
          <p:cNvSpPr txBox="1"/>
          <p:nvPr/>
        </p:nvSpPr>
        <p:spPr>
          <a:xfrm>
            <a:off x="9884664" y="5120640"/>
            <a:ext cx="1554480" cy="347472"/>
          </a:xfrm>
          <a:prstGeom prst="rect">
            <a:avLst/>
          </a:prstGeom>
          <a:noFill/>
          <a:ln/>
        </p:spPr>
        <p:txBody>
          <a:bodyPr wrap="square" lIns="0" tIns="0" rIns="0" bIns="0" rtlCol="0" anchor="ctr"/>
          <a:lstStyle/>
          <a:p>
            <a:pPr marL="0" indent="0" algn="ctr">
              <a:buNone/>
            </a:pPr>
            <a:r>
              <a:rPr lang="en-US" sz="1050" b="1" kern="0" spc="100" dirty="0">
                <a:solidFill>
                  <a:srgbClr val="00553A"/>
                </a:solidFill>
                <a:latin typeface="Calibri" pitchFamily="34" charset="0"/>
                <a:ea typeface="Calibri" pitchFamily="34" charset="-122"/>
                <a:cs typeface="Calibri" pitchFamily="34" charset="-120"/>
              </a:rPr>
              <a:t>Informal economy</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THE PUBLISHED EVIDENCE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The evidence, as published</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40</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Henderson, Storeygard &amp; Weil (2012), Fig. 6a; Elvidge et al. (2001). Both reproduced in World Bank Open Nighttime Lights tutorials (CC BY 4.0).</a:t>
            </a:r>
            <a:endParaRPr lang="en-US" sz="850" dirty="0"/>
          </a:p>
        </p:txBody>
      </p:sp>
      <p:sp>
        <p:nvSpPr>
          <p:cNvPr id="13" name="Text 10"/>
          <p:cNvSpPr txBox="1"/>
          <p:nvPr/>
        </p:nvSpPr>
        <p:spPr>
          <a:xfrm>
            <a:off x="548640" y="1325880"/>
            <a:ext cx="54864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Henderson, Storeygard &amp; Weil (2012) · GDP vs lights, within countries</a:t>
            </a:r>
            <a:endParaRPr lang="en-US" sz="1100" dirty="0"/>
          </a:p>
        </p:txBody>
      </p:sp>
      <p:sp>
        <p:nvSpPr>
          <p:cNvPr id="14" name="Shape 11"/>
          <p:cNvSpPr/>
          <p:nvPr/>
        </p:nvSpPr>
        <p:spPr>
          <a:xfrm>
            <a:off x="548640" y="1636776"/>
            <a:ext cx="4605604" cy="3355848"/>
          </a:xfrm>
          <a:prstGeom prst="roundRect">
            <a:avLst>
              <a:gd name="adj" fmla="val 218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5" name="Image 1" descr="/home/claude/build/img/real/henderson.png"/>
          <p:cNvPicPr>
            <a:picLocks noChangeAspect="1"/>
          </p:cNvPicPr>
          <p:nvPr/>
        </p:nvPicPr>
        <p:blipFill>
          <a:blip r:embed="rId4"/>
          <a:stretch>
            <a:fillRect/>
          </a:stretch>
        </p:blipFill>
        <p:spPr>
          <a:xfrm>
            <a:off x="603504" y="1691640"/>
            <a:ext cx="4495876" cy="3246120"/>
          </a:xfrm>
          <a:prstGeom prst="rect">
            <a:avLst/>
          </a:prstGeom>
        </p:spPr>
      </p:pic>
      <p:sp>
        <p:nvSpPr>
          <p:cNvPr id="16" name="Text 12"/>
          <p:cNvSpPr txBox="1"/>
          <p:nvPr/>
        </p:nvSpPr>
        <p:spPr>
          <a:xfrm>
            <a:off x="6355080" y="1325880"/>
            <a:ext cx="530352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Elvidge et al. (2001) · lit area vs GDP, 200 countries</a:t>
            </a:r>
            <a:endParaRPr lang="en-US" sz="1100" dirty="0"/>
          </a:p>
        </p:txBody>
      </p:sp>
      <p:sp>
        <p:nvSpPr>
          <p:cNvPr id="17" name="Shape 13"/>
          <p:cNvSpPr/>
          <p:nvPr/>
        </p:nvSpPr>
        <p:spPr>
          <a:xfrm>
            <a:off x="6848856" y="1636776"/>
            <a:ext cx="3764859" cy="3355848"/>
          </a:xfrm>
          <a:prstGeom prst="roundRect">
            <a:avLst>
              <a:gd name="adj" fmla="val 2180"/>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8" name="Image 2" descr="/home/claude/build/img/real/elvidge.png"/>
          <p:cNvPicPr>
            <a:picLocks noChangeAspect="1"/>
          </p:cNvPicPr>
          <p:nvPr/>
        </p:nvPicPr>
        <p:blipFill>
          <a:blip r:embed="rId5"/>
          <a:stretch>
            <a:fillRect/>
          </a:stretch>
        </p:blipFill>
        <p:spPr>
          <a:xfrm>
            <a:off x="6903720" y="1691640"/>
            <a:ext cx="3655131" cy="3246120"/>
          </a:xfrm>
          <a:prstGeom prst="rect">
            <a:avLst/>
          </a:prstGeom>
        </p:spPr>
      </p:pic>
      <p:sp>
        <p:nvSpPr>
          <p:cNvPr id="19" name="Shape 14"/>
          <p:cNvSpPr/>
          <p:nvPr/>
        </p:nvSpPr>
        <p:spPr>
          <a:xfrm>
            <a:off x="548640" y="5166360"/>
            <a:ext cx="5468112" cy="822960"/>
          </a:xfrm>
          <a:prstGeom prst="roundRect">
            <a:avLst>
              <a:gd name="adj" fmla="val 8889"/>
            </a:avLst>
          </a:prstGeom>
          <a:solidFill>
            <a:srgbClr val="E8F5EF"/>
          </a:solidFill>
          <a:ln w="9525">
            <a:solidFill>
              <a:srgbClr val="E8F5EF"/>
            </a:solidFill>
            <a:prstDash val="solid"/>
          </a:ln>
        </p:spPr>
      </p:sp>
      <p:sp>
        <p:nvSpPr>
          <p:cNvPr id="20" name="Text 15"/>
          <p:cNvSpPr txBox="1"/>
          <p:nvPr/>
        </p:nvSpPr>
        <p:spPr>
          <a:xfrm>
            <a:off x="731520" y="5166360"/>
            <a:ext cx="5120640" cy="82296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Changes in lights and changes in GDP move together after removing country and year effects — but with wide scatter.</a:t>
            </a:r>
            <a:endParaRPr lang="en-US" sz="1150" dirty="0"/>
          </a:p>
        </p:txBody>
      </p:sp>
      <p:sp>
        <p:nvSpPr>
          <p:cNvPr id="21" name="Shape 16"/>
          <p:cNvSpPr/>
          <p:nvPr/>
        </p:nvSpPr>
        <p:spPr>
          <a:xfrm>
            <a:off x="6172200" y="5166360"/>
            <a:ext cx="5468112" cy="822960"/>
          </a:xfrm>
          <a:prstGeom prst="roundRect">
            <a:avLst>
              <a:gd name="adj" fmla="val 8889"/>
            </a:avLst>
          </a:prstGeom>
          <a:solidFill>
            <a:srgbClr val="FDF5DC"/>
          </a:solidFill>
          <a:ln w="9525">
            <a:solidFill>
              <a:srgbClr val="FDF5DC"/>
            </a:solidFill>
            <a:prstDash val="solid"/>
          </a:ln>
        </p:spPr>
      </p:sp>
      <p:sp>
        <p:nvSpPr>
          <p:cNvPr id="22" name="Text 17"/>
          <p:cNvSpPr txBox="1"/>
          <p:nvPr/>
        </p:nvSpPr>
        <p:spPr>
          <a:xfrm>
            <a:off x="6355080" y="5166360"/>
            <a:ext cx="5120640" cy="82296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Across countries, lit area rises almost one-for-one with GDP on a log scale — the pattern that launched the field.</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ECONOMY · METHODS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Four ways to turn lights into an output estimate</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41</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Henderson et al. (2012); Hu &amp; Yao (2022) Journal of Econometrics 228(2); Beyer, Hu &amp; Yao (2022) IMF Working Paper 22/109.</a:t>
            </a:r>
            <a:endParaRPr lang="en-US" sz="850" dirty="0"/>
          </a:p>
        </p:txBody>
      </p:sp>
      <p:sp>
        <p:nvSpPr>
          <p:cNvPr id="13" name="Shape 10"/>
          <p:cNvSpPr/>
          <p:nvPr/>
        </p:nvSpPr>
        <p:spPr>
          <a:xfrm>
            <a:off x="548640" y="1371600"/>
            <a:ext cx="5468112" cy="1847088"/>
          </a:xfrm>
          <a:prstGeom prst="roundRect">
            <a:avLst>
              <a:gd name="adj" fmla="val 3960"/>
            </a:avLst>
          </a:prstGeom>
          <a:solidFill>
            <a:srgbClr val="F4F7F5"/>
          </a:solidFill>
          <a:ln w="9525">
            <a:solidFill>
              <a:srgbClr val="D5DED9"/>
            </a:solidFill>
            <a:prstDash val="solid"/>
          </a:ln>
        </p:spPr>
      </p:sp>
      <p:sp>
        <p:nvSpPr>
          <p:cNvPr id="14" name="Shape 11"/>
          <p:cNvSpPr/>
          <p:nvPr/>
        </p:nvSpPr>
        <p:spPr>
          <a:xfrm>
            <a:off x="731520" y="1554480"/>
            <a:ext cx="457200" cy="457200"/>
          </a:xfrm>
          <a:prstGeom prst="ellipse">
            <a:avLst/>
          </a:prstGeom>
          <a:solidFill>
            <a:srgbClr val="00704A"/>
          </a:solidFill>
          <a:ln w="12700">
            <a:solidFill>
              <a:srgbClr val="00704A"/>
            </a:solidFill>
            <a:prstDash val="solid"/>
          </a:ln>
        </p:spPr>
      </p:sp>
      <p:sp>
        <p:nvSpPr>
          <p:cNvPr id="15" name="Text 12"/>
          <p:cNvSpPr txBox="1"/>
          <p:nvPr/>
        </p:nvSpPr>
        <p:spPr>
          <a:xfrm>
            <a:off x="731520" y="1554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325880" y="1554480"/>
            <a:ext cx="4480560" cy="45720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Elasticity regression</a:t>
            </a:r>
            <a:endParaRPr lang="en-US" sz="1400" dirty="0"/>
          </a:p>
        </p:txBody>
      </p:sp>
      <p:sp>
        <p:nvSpPr>
          <p:cNvPr id="17" name="Shape 14"/>
          <p:cNvSpPr/>
          <p:nvPr/>
        </p:nvSpPr>
        <p:spPr>
          <a:xfrm>
            <a:off x="731520" y="2121408"/>
            <a:ext cx="5102352" cy="411480"/>
          </a:xfrm>
          <a:prstGeom prst="roundRect">
            <a:avLst>
              <a:gd name="adj" fmla="val 17778"/>
            </a:avLst>
          </a:prstGeom>
          <a:solidFill>
            <a:srgbClr val="E8F5EF"/>
          </a:solidFill>
          <a:ln w="9525">
            <a:solidFill>
              <a:srgbClr val="E8F5EF"/>
            </a:solidFill>
            <a:prstDash val="solid"/>
          </a:ln>
        </p:spPr>
      </p:sp>
      <p:sp>
        <p:nvSpPr>
          <p:cNvPr id="18" name="Text 15"/>
          <p:cNvSpPr txBox="1"/>
          <p:nvPr/>
        </p:nvSpPr>
        <p:spPr>
          <a:xfrm>
            <a:off x="822960" y="2121408"/>
            <a:ext cx="4937760" cy="411480"/>
          </a:xfrm>
          <a:prstGeom prst="rect">
            <a:avLst/>
          </a:prstGeom>
          <a:noFill/>
          <a:ln/>
        </p:spPr>
        <p:txBody>
          <a:bodyPr wrap="square" lIns="0" tIns="0" rIns="0" bIns="0" rtlCol="0" anchor="ctr"/>
          <a:lstStyle/>
          <a:p>
            <a:pPr marL="0" indent="0">
              <a:buNone/>
            </a:pPr>
            <a:r>
              <a:rPr lang="en-US" sz="1050" b="1" dirty="0">
                <a:solidFill>
                  <a:srgbClr val="00704A"/>
                </a:solidFill>
                <a:latin typeface="Courier New" pitchFamily="34" charset="0"/>
                <a:ea typeface="Courier New" pitchFamily="34" charset="-122"/>
                <a:cs typeface="Courier New" pitchFamily="34" charset="-120"/>
              </a:rPr>
              <a:t>Δlog GDP(r,t) = β · Δlog NTL(r,t) + region &amp; year effects</a:t>
            </a:r>
            <a:endParaRPr lang="en-US" sz="1050" dirty="0"/>
          </a:p>
        </p:txBody>
      </p:sp>
      <p:sp>
        <p:nvSpPr>
          <p:cNvPr id="19" name="Text 16"/>
          <p:cNvSpPr txBox="1"/>
          <p:nvPr/>
        </p:nvSpPr>
        <p:spPr>
          <a:xfrm>
            <a:off x="749808" y="2606040"/>
            <a:ext cx="5074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Estimate how strongly output growth co-moves with light growth, using regions with good data.</a:t>
            </a:r>
            <a:endParaRPr lang="en-US" sz="1150" dirty="0"/>
          </a:p>
        </p:txBody>
      </p:sp>
      <p:sp>
        <p:nvSpPr>
          <p:cNvPr id="20" name="Shape 17"/>
          <p:cNvSpPr/>
          <p:nvPr/>
        </p:nvSpPr>
        <p:spPr>
          <a:xfrm>
            <a:off x="6172200" y="1371600"/>
            <a:ext cx="5468112" cy="1847088"/>
          </a:xfrm>
          <a:prstGeom prst="roundRect">
            <a:avLst>
              <a:gd name="adj" fmla="val 3960"/>
            </a:avLst>
          </a:prstGeom>
          <a:solidFill>
            <a:srgbClr val="F4F7F5"/>
          </a:solidFill>
          <a:ln w="9525">
            <a:solidFill>
              <a:srgbClr val="D5DED9"/>
            </a:solidFill>
            <a:prstDash val="solid"/>
          </a:ln>
        </p:spPr>
      </p:sp>
      <p:sp>
        <p:nvSpPr>
          <p:cNvPr id="21" name="Shape 18"/>
          <p:cNvSpPr/>
          <p:nvPr/>
        </p:nvSpPr>
        <p:spPr>
          <a:xfrm>
            <a:off x="6355080" y="1554480"/>
            <a:ext cx="457200" cy="457200"/>
          </a:xfrm>
          <a:prstGeom prst="ellipse">
            <a:avLst/>
          </a:prstGeom>
          <a:solidFill>
            <a:srgbClr val="00704A"/>
          </a:solidFill>
          <a:ln w="12700">
            <a:solidFill>
              <a:srgbClr val="00704A"/>
            </a:solidFill>
            <a:prstDash val="solid"/>
          </a:ln>
        </p:spPr>
      </p:sp>
      <p:sp>
        <p:nvSpPr>
          <p:cNvPr id="22" name="Text 19"/>
          <p:cNvSpPr txBox="1"/>
          <p:nvPr/>
        </p:nvSpPr>
        <p:spPr>
          <a:xfrm>
            <a:off x="6355080" y="1554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6949440" y="1554480"/>
            <a:ext cx="4480560" cy="45720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Combine with official data</a:t>
            </a:r>
            <a:endParaRPr lang="en-US" sz="1400" dirty="0"/>
          </a:p>
        </p:txBody>
      </p:sp>
      <p:sp>
        <p:nvSpPr>
          <p:cNvPr id="24" name="Shape 21"/>
          <p:cNvSpPr/>
          <p:nvPr/>
        </p:nvSpPr>
        <p:spPr>
          <a:xfrm>
            <a:off x="6355080" y="2121408"/>
            <a:ext cx="5102352" cy="411480"/>
          </a:xfrm>
          <a:prstGeom prst="roundRect">
            <a:avLst>
              <a:gd name="adj" fmla="val 17778"/>
            </a:avLst>
          </a:prstGeom>
          <a:solidFill>
            <a:srgbClr val="E8F5EF"/>
          </a:solidFill>
          <a:ln w="9525">
            <a:solidFill>
              <a:srgbClr val="E8F5EF"/>
            </a:solidFill>
            <a:prstDash val="solid"/>
          </a:ln>
        </p:spPr>
      </p:sp>
      <p:sp>
        <p:nvSpPr>
          <p:cNvPr id="25" name="Text 22"/>
          <p:cNvSpPr txBox="1"/>
          <p:nvPr/>
        </p:nvSpPr>
        <p:spPr>
          <a:xfrm>
            <a:off x="6446520" y="2121408"/>
            <a:ext cx="4937760" cy="411480"/>
          </a:xfrm>
          <a:prstGeom prst="rect">
            <a:avLst/>
          </a:prstGeom>
          <a:noFill/>
          <a:ln/>
        </p:spPr>
        <p:txBody>
          <a:bodyPr wrap="square" lIns="0" tIns="0" rIns="0" bIns="0" rtlCol="0" anchor="ctr"/>
          <a:lstStyle/>
          <a:p>
            <a:pPr marL="0" indent="0">
              <a:buNone/>
            </a:pPr>
            <a:r>
              <a:rPr lang="en-US" sz="1050" b="1" dirty="0">
                <a:solidFill>
                  <a:srgbClr val="00704A"/>
                </a:solidFill>
                <a:latin typeface="Courier New" pitchFamily="34" charset="0"/>
                <a:ea typeface="Courier New" pitchFamily="34" charset="-122"/>
                <a:cs typeface="Courier New" pitchFamily="34" charset="-120"/>
              </a:rPr>
              <a:t>ŷ = λ · official growth + (1 − λ) · lights-predicted growth</a:t>
            </a:r>
            <a:endParaRPr lang="en-US" sz="1050" dirty="0"/>
          </a:p>
        </p:txBody>
      </p:sp>
      <p:sp>
        <p:nvSpPr>
          <p:cNvPr id="26" name="Text 23"/>
          <p:cNvSpPr txBox="1"/>
          <p:nvPr/>
        </p:nvSpPr>
        <p:spPr>
          <a:xfrm>
            <a:off x="6373368" y="2606040"/>
            <a:ext cx="5074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Weight the two noisy signals by their reliability — more weight on lights where accounts are weak.</a:t>
            </a:r>
            <a:endParaRPr lang="en-US" sz="1150" dirty="0"/>
          </a:p>
        </p:txBody>
      </p:sp>
      <p:sp>
        <p:nvSpPr>
          <p:cNvPr id="27" name="Shape 24"/>
          <p:cNvSpPr/>
          <p:nvPr/>
        </p:nvSpPr>
        <p:spPr>
          <a:xfrm>
            <a:off x="548640" y="3383280"/>
            <a:ext cx="5468112" cy="1847088"/>
          </a:xfrm>
          <a:prstGeom prst="roundRect">
            <a:avLst>
              <a:gd name="adj" fmla="val 3960"/>
            </a:avLst>
          </a:prstGeom>
          <a:solidFill>
            <a:srgbClr val="F4F7F5"/>
          </a:solidFill>
          <a:ln w="9525">
            <a:solidFill>
              <a:srgbClr val="D5DED9"/>
            </a:solidFill>
            <a:prstDash val="solid"/>
          </a:ln>
        </p:spPr>
      </p:sp>
      <p:sp>
        <p:nvSpPr>
          <p:cNvPr id="28" name="Shape 25"/>
          <p:cNvSpPr/>
          <p:nvPr/>
        </p:nvSpPr>
        <p:spPr>
          <a:xfrm>
            <a:off x="731520" y="3566160"/>
            <a:ext cx="457200" cy="457200"/>
          </a:xfrm>
          <a:prstGeom prst="ellipse">
            <a:avLst/>
          </a:prstGeom>
          <a:solidFill>
            <a:srgbClr val="00704A"/>
          </a:solidFill>
          <a:ln w="12700">
            <a:solidFill>
              <a:srgbClr val="00704A"/>
            </a:solidFill>
            <a:prstDash val="solid"/>
          </a:ln>
        </p:spPr>
      </p:sp>
      <p:sp>
        <p:nvSpPr>
          <p:cNvPr id="29" name="Text 26"/>
          <p:cNvSpPr txBox="1"/>
          <p:nvPr/>
        </p:nvSpPr>
        <p:spPr>
          <a:xfrm>
            <a:off x="731520" y="35661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1325880" y="3566160"/>
            <a:ext cx="4480560" cy="45720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Spatial downscaling</a:t>
            </a:r>
            <a:endParaRPr lang="en-US" sz="1400" dirty="0"/>
          </a:p>
        </p:txBody>
      </p:sp>
      <p:sp>
        <p:nvSpPr>
          <p:cNvPr id="31" name="Shape 28"/>
          <p:cNvSpPr/>
          <p:nvPr/>
        </p:nvSpPr>
        <p:spPr>
          <a:xfrm>
            <a:off x="731520" y="4133088"/>
            <a:ext cx="5102352" cy="411480"/>
          </a:xfrm>
          <a:prstGeom prst="roundRect">
            <a:avLst>
              <a:gd name="adj" fmla="val 17778"/>
            </a:avLst>
          </a:prstGeom>
          <a:solidFill>
            <a:srgbClr val="E8F5EF"/>
          </a:solidFill>
          <a:ln w="9525">
            <a:solidFill>
              <a:srgbClr val="E8F5EF"/>
            </a:solidFill>
            <a:prstDash val="solid"/>
          </a:ln>
        </p:spPr>
      </p:sp>
      <p:sp>
        <p:nvSpPr>
          <p:cNvPr id="32" name="Text 29"/>
          <p:cNvSpPr txBox="1"/>
          <p:nvPr/>
        </p:nvSpPr>
        <p:spPr>
          <a:xfrm>
            <a:off x="822960" y="4133088"/>
            <a:ext cx="4937760" cy="411480"/>
          </a:xfrm>
          <a:prstGeom prst="rect">
            <a:avLst/>
          </a:prstGeom>
          <a:noFill/>
          <a:ln/>
        </p:spPr>
        <p:txBody>
          <a:bodyPr wrap="square" lIns="0" tIns="0" rIns="0" bIns="0" rtlCol="0" anchor="ctr"/>
          <a:lstStyle/>
          <a:p>
            <a:pPr marL="0" indent="0">
              <a:buNone/>
            </a:pPr>
            <a:r>
              <a:rPr lang="en-US" sz="1050" b="1" dirty="0">
                <a:solidFill>
                  <a:srgbClr val="00704A"/>
                </a:solidFill>
                <a:latin typeface="Courier New" pitchFamily="34" charset="0"/>
                <a:ea typeface="Courier New" pitchFamily="34" charset="-122"/>
                <a:cs typeface="Courier New" pitchFamily="34" charset="-120"/>
              </a:rPr>
              <a:t>GDP(cell) = GDP(region) × NTL share(cell), refined with covariates</a:t>
            </a:r>
            <a:endParaRPr lang="en-US" sz="1050" dirty="0"/>
          </a:p>
        </p:txBody>
      </p:sp>
      <p:sp>
        <p:nvSpPr>
          <p:cNvPr id="33" name="Text 30"/>
          <p:cNvSpPr txBox="1"/>
          <p:nvPr/>
        </p:nvSpPr>
        <p:spPr>
          <a:xfrm>
            <a:off x="749808" y="4617720"/>
            <a:ext cx="5074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Distribute known regional totals to a grid or to districts with no accounts.</a:t>
            </a:r>
            <a:endParaRPr lang="en-US" sz="1150" dirty="0"/>
          </a:p>
        </p:txBody>
      </p:sp>
      <p:sp>
        <p:nvSpPr>
          <p:cNvPr id="34" name="Shape 31"/>
          <p:cNvSpPr/>
          <p:nvPr/>
        </p:nvSpPr>
        <p:spPr>
          <a:xfrm>
            <a:off x="6172200" y="3383280"/>
            <a:ext cx="5468112" cy="1847088"/>
          </a:xfrm>
          <a:prstGeom prst="roundRect">
            <a:avLst>
              <a:gd name="adj" fmla="val 3960"/>
            </a:avLst>
          </a:prstGeom>
          <a:solidFill>
            <a:srgbClr val="F4F7F5"/>
          </a:solidFill>
          <a:ln w="9525">
            <a:solidFill>
              <a:srgbClr val="D5DED9"/>
            </a:solidFill>
            <a:prstDash val="solid"/>
          </a:ln>
        </p:spPr>
      </p:sp>
      <p:sp>
        <p:nvSpPr>
          <p:cNvPr id="35" name="Shape 32"/>
          <p:cNvSpPr/>
          <p:nvPr/>
        </p:nvSpPr>
        <p:spPr>
          <a:xfrm>
            <a:off x="6355080" y="3566160"/>
            <a:ext cx="457200" cy="457200"/>
          </a:xfrm>
          <a:prstGeom prst="ellipse">
            <a:avLst/>
          </a:prstGeom>
          <a:solidFill>
            <a:srgbClr val="00704A"/>
          </a:solidFill>
          <a:ln w="12700">
            <a:solidFill>
              <a:srgbClr val="00704A"/>
            </a:solidFill>
            <a:prstDash val="solid"/>
          </a:ln>
        </p:spPr>
      </p:sp>
      <p:sp>
        <p:nvSpPr>
          <p:cNvPr id="36" name="Text 33"/>
          <p:cNvSpPr txBox="1"/>
          <p:nvPr/>
        </p:nvSpPr>
        <p:spPr>
          <a:xfrm>
            <a:off x="6355080" y="35661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4"/>
          <p:cNvSpPr txBox="1"/>
          <p:nvPr/>
        </p:nvSpPr>
        <p:spPr>
          <a:xfrm>
            <a:off x="6949440" y="3566160"/>
            <a:ext cx="4480560" cy="45720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Nowcasting</a:t>
            </a:r>
            <a:endParaRPr lang="en-US" sz="1400" dirty="0"/>
          </a:p>
        </p:txBody>
      </p:sp>
      <p:sp>
        <p:nvSpPr>
          <p:cNvPr id="38" name="Shape 35"/>
          <p:cNvSpPr/>
          <p:nvPr/>
        </p:nvSpPr>
        <p:spPr>
          <a:xfrm>
            <a:off x="6355080" y="4133088"/>
            <a:ext cx="5102352" cy="411480"/>
          </a:xfrm>
          <a:prstGeom prst="roundRect">
            <a:avLst>
              <a:gd name="adj" fmla="val 17778"/>
            </a:avLst>
          </a:prstGeom>
          <a:solidFill>
            <a:srgbClr val="E8F5EF"/>
          </a:solidFill>
          <a:ln w="9525">
            <a:solidFill>
              <a:srgbClr val="E8F5EF"/>
            </a:solidFill>
            <a:prstDash val="solid"/>
          </a:ln>
        </p:spPr>
      </p:sp>
      <p:sp>
        <p:nvSpPr>
          <p:cNvPr id="39" name="Text 36"/>
          <p:cNvSpPr txBox="1"/>
          <p:nvPr/>
        </p:nvSpPr>
        <p:spPr>
          <a:xfrm>
            <a:off x="6446520" y="4133088"/>
            <a:ext cx="4937760" cy="411480"/>
          </a:xfrm>
          <a:prstGeom prst="rect">
            <a:avLst/>
          </a:prstGeom>
          <a:noFill/>
          <a:ln/>
        </p:spPr>
        <p:txBody>
          <a:bodyPr wrap="square" lIns="0" tIns="0" rIns="0" bIns="0" rtlCol="0" anchor="ctr"/>
          <a:lstStyle/>
          <a:p>
            <a:pPr marL="0" indent="0">
              <a:buNone/>
            </a:pPr>
            <a:r>
              <a:rPr lang="en-US" sz="1050" b="1" dirty="0">
                <a:solidFill>
                  <a:srgbClr val="00704A"/>
                </a:solidFill>
                <a:latin typeface="Courier New" pitchFamily="34" charset="0"/>
                <a:ea typeface="Courier New" pitchFamily="34" charset="-122"/>
                <a:cs typeface="Courier New" pitchFamily="34" charset="-120"/>
              </a:rPr>
              <a:t>Quarterly GDP ← f(monthly NTL growth, other indicators)</a:t>
            </a:r>
            <a:endParaRPr lang="en-US" sz="1050" dirty="0"/>
          </a:p>
        </p:txBody>
      </p:sp>
      <p:sp>
        <p:nvSpPr>
          <p:cNvPr id="40" name="Text 37"/>
          <p:cNvSpPr txBox="1"/>
          <p:nvPr/>
        </p:nvSpPr>
        <p:spPr>
          <a:xfrm>
            <a:off x="6373368" y="4617720"/>
            <a:ext cx="5074920"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Use the monthly series as a timely feature before official data are released.</a:t>
            </a:r>
            <a:endParaRPr lang="en-US" sz="1150" dirty="0"/>
          </a:p>
        </p:txBody>
      </p:sp>
      <p:sp>
        <p:nvSpPr>
          <p:cNvPr id="41" name="Shape 38"/>
          <p:cNvSpPr/>
          <p:nvPr/>
        </p:nvSpPr>
        <p:spPr>
          <a:xfrm>
            <a:off x="548640" y="5440680"/>
            <a:ext cx="11094415" cy="502920"/>
          </a:xfrm>
          <a:prstGeom prst="roundRect">
            <a:avLst>
              <a:gd name="adj" fmla="val 14545"/>
            </a:avLst>
          </a:prstGeom>
          <a:solidFill>
            <a:srgbClr val="FDF5DC"/>
          </a:solidFill>
          <a:ln w="9525">
            <a:solidFill>
              <a:srgbClr val="F5C242"/>
            </a:solidFill>
            <a:prstDash val="solid"/>
          </a:ln>
        </p:spPr>
      </p:sp>
      <p:sp>
        <p:nvSpPr>
          <p:cNvPr id="42" name="Text 39"/>
          <p:cNvSpPr txBox="1"/>
          <p:nvPr/>
        </p:nvSpPr>
        <p:spPr>
          <a:xfrm>
            <a:off x="777240" y="5440680"/>
            <a:ext cx="10637215" cy="502920"/>
          </a:xfrm>
          <a:prstGeom prst="rect">
            <a:avLst/>
          </a:prstGeom>
          <a:noFill/>
          <a:ln/>
        </p:spPr>
        <p:txBody>
          <a:bodyPr wrap="square" lIns="0" tIns="0" rIns="0" bIns="0" rtlCol="0" anchor="ctr"/>
          <a:lstStyle/>
          <a:p>
            <a:pPr marL="0" indent="0">
              <a:buNone/>
            </a:pPr>
            <a:r>
              <a:rPr lang="en-US" sz="1150" b="1" dirty="0">
                <a:solidFill>
                  <a:srgbClr val="A87700"/>
                </a:solidFill>
                <a:latin typeface="Calibri" pitchFamily="34" charset="0"/>
                <a:ea typeface="Calibri" pitchFamily="34" charset="-122"/>
                <a:cs typeface="Calibri" pitchFamily="34" charset="-120"/>
              </a:rPr>
              <a:t>The elasticity is not a constant. </a:t>
            </a:r>
            <a:r>
              <a:rPr lang="en-US" sz="1150" dirty="0">
                <a:solidFill>
                  <a:srgbClr val="231F20"/>
                </a:solidFill>
                <a:latin typeface="Calibri" pitchFamily="34" charset="0"/>
                <a:ea typeface="Calibri" pitchFamily="34" charset="-122"/>
                <a:cs typeface="Calibri" pitchFamily="34" charset="-120"/>
              </a:rPr>
              <a:t>Hu &amp; Yao (2022) find the lights–GDP relationship is non-linear and differs by income level — estimate it for your context rather than borrowing a number.</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ECONOMY · NOWCASTING</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Lights as a nowcasting feature — from series to model</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42</a:t>
            </a:r>
            <a:endParaRPr lang="en-US" sz="900" dirty="0"/>
          </a:p>
        </p:txBody>
      </p:sp>
      <p:sp>
        <p:nvSpPr>
          <p:cNvPr id="12" name="Shape 9"/>
          <p:cNvSpPr/>
          <p:nvPr/>
        </p:nvSpPr>
        <p:spPr>
          <a:xfrm>
            <a:off x="548640" y="1417320"/>
            <a:ext cx="2514600" cy="1691640"/>
          </a:xfrm>
          <a:prstGeom prst="roundRect">
            <a:avLst>
              <a:gd name="adj" fmla="val 4324"/>
            </a:avLst>
          </a:prstGeom>
          <a:solidFill>
            <a:srgbClr val="F4F7F5"/>
          </a:solidFill>
          <a:ln w="9525">
            <a:solidFill>
              <a:srgbClr val="D5DED9"/>
            </a:solidFill>
            <a:prstDash val="solid"/>
          </a:ln>
        </p:spPr>
      </p:sp>
      <p:sp>
        <p:nvSpPr>
          <p:cNvPr id="13" name="Shape 10"/>
          <p:cNvSpPr/>
          <p:nvPr/>
        </p:nvSpPr>
        <p:spPr>
          <a:xfrm>
            <a:off x="731520" y="1600200"/>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74166" y="1742846"/>
            <a:ext cx="263347" cy="263347"/>
          </a:xfrm>
          <a:prstGeom prst="rect">
            <a:avLst/>
          </a:prstGeom>
        </p:spPr>
      </p:pic>
      <p:sp>
        <p:nvSpPr>
          <p:cNvPr id="15" name="Text 11"/>
          <p:cNvSpPr txBox="1"/>
          <p:nvPr/>
        </p:nvSpPr>
        <p:spPr>
          <a:xfrm>
            <a:off x="1417320" y="1600200"/>
            <a:ext cx="155448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Monthly NTL</a:t>
            </a:r>
            <a:endParaRPr lang="en-US" sz="1400" dirty="0"/>
          </a:p>
        </p:txBody>
      </p:sp>
      <p:sp>
        <p:nvSpPr>
          <p:cNvPr id="16" name="Text 12"/>
          <p:cNvSpPr txBox="1"/>
          <p:nvPr/>
        </p:nvSpPr>
        <p:spPr>
          <a:xfrm>
            <a:off x="731520" y="2286000"/>
            <a:ext cx="219456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VNP46A3, masked, national &amp; regional</a:t>
            </a:r>
            <a:endParaRPr lang="en-US" sz="1150" dirty="0"/>
          </a:p>
        </p:txBody>
      </p:sp>
      <p:sp>
        <p:nvSpPr>
          <p:cNvPr id="17" name="Text 13"/>
          <p:cNvSpPr txBox="1"/>
          <p:nvPr/>
        </p:nvSpPr>
        <p:spPr>
          <a:xfrm>
            <a:off x="3063240" y="1965960"/>
            <a:ext cx="320040" cy="457200"/>
          </a:xfrm>
          <a:prstGeom prst="rect">
            <a:avLst/>
          </a:prstGeom>
          <a:noFill/>
          <a:ln/>
        </p:spPr>
        <p:txBody>
          <a:bodyPr wrap="square" lIns="0" tIns="0" rIns="0" bIns="0" rtlCol="0" anchor="t"/>
          <a:lstStyle/>
          <a:p>
            <a:pPr marL="0" indent="0" algn="ctr">
              <a:buNone/>
            </a:pPr>
            <a:r>
              <a:rPr lang="en-US" sz="2600" b="1" dirty="0">
                <a:solidFill>
                  <a:srgbClr val="00A86A"/>
                </a:solidFill>
                <a:latin typeface="Calibri" pitchFamily="34" charset="0"/>
                <a:ea typeface="Calibri" pitchFamily="34" charset="-122"/>
                <a:cs typeface="Calibri" pitchFamily="34" charset="-120"/>
              </a:rPr>
              <a:t>›</a:t>
            </a:r>
            <a:endParaRPr lang="en-US" sz="2600" dirty="0"/>
          </a:p>
        </p:txBody>
      </p:sp>
      <p:sp>
        <p:nvSpPr>
          <p:cNvPr id="18" name="Shape 14"/>
          <p:cNvSpPr/>
          <p:nvPr/>
        </p:nvSpPr>
        <p:spPr>
          <a:xfrm>
            <a:off x="3383280" y="1417320"/>
            <a:ext cx="2514600" cy="1691640"/>
          </a:xfrm>
          <a:prstGeom prst="roundRect">
            <a:avLst>
              <a:gd name="adj" fmla="val 4324"/>
            </a:avLst>
          </a:prstGeom>
          <a:solidFill>
            <a:srgbClr val="F4F7F5"/>
          </a:solidFill>
          <a:ln w="9525">
            <a:solidFill>
              <a:srgbClr val="D5DED9"/>
            </a:solidFill>
            <a:prstDash val="solid"/>
          </a:ln>
        </p:spPr>
      </p:sp>
      <p:sp>
        <p:nvSpPr>
          <p:cNvPr id="19" name="Shape 15"/>
          <p:cNvSpPr/>
          <p:nvPr/>
        </p:nvSpPr>
        <p:spPr>
          <a:xfrm>
            <a:off x="3566160" y="1600200"/>
            <a:ext cx="548640" cy="548640"/>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3708806" y="1742846"/>
            <a:ext cx="263347" cy="263347"/>
          </a:xfrm>
          <a:prstGeom prst="rect">
            <a:avLst/>
          </a:prstGeom>
        </p:spPr>
      </p:pic>
      <p:sp>
        <p:nvSpPr>
          <p:cNvPr id="21" name="Text 16"/>
          <p:cNvSpPr txBox="1"/>
          <p:nvPr/>
        </p:nvSpPr>
        <p:spPr>
          <a:xfrm>
            <a:off x="4251960" y="1600200"/>
            <a:ext cx="155448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Transform</a:t>
            </a:r>
            <a:endParaRPr lang="en-US" sz="1400" dirty="0"/>
          </a:p>
        </p:txBody>
      </p:sp>
      <p:sp>
        <p:nvSpPr>
          <p:cNvPr id="22" name="Text 17"/>
          <p:cNvSpPr txBox="1"/>
          <p:nvPr/>
        </p:nvSpPr>
        <p:spPr>
          <a:xfrm>
            <a:off x="3566160" y="2286000"/>
            <a:ext cx="219456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log, year-on-year growth, quarterly average</a:t>
            </a:r>
            <a:endParaRPr lang="en-US" sz="1150" dirty="0"/>
          </a:p>
        </p:txBody>
      </p:sp>
      <p:sp>
        <p:nvSpPr>
          <p:cNvPr id="23" name="Text 18"/>
          <p:cNvSpPr txBox="1"/>
          <p:nvPr/>
        </p:nvSpPr>
        <p:spPr>
          <a:xfrm>
            <a:off x="5897880" y="1965960"/>
            <a:ext cx="320040" cy="457200"/>
          </a:xfrm>
          <a:prstGeom prst="rect">
            <a:avLst/>
          </a:prstGeom>
          <a:noFill/>
          <a:ln/>
        </p:spPr>
        <p:txBody>
          <a:bodyPr wrap="square" lIns="0" tIns="0" rIns="0" bIns="0" rtlCol="0" anchor="t"/>
          <a:lstStyle/>
          <a:p>
            <a:pPr marL="0" indent="0" algn="ctr">
              <a:buNone/>
            </a:pPr>
            <a:r>
              <a:rPr lang="en-US" sz="2600" b="1" dirty="0">
                <a:solidFill>
                  <a:srgbClr val="00A86A"/>
                </a:solidFill>
                <a:latin typeface="Calibri" pitchFamily="34" charset="0"/>
                <a:ea typeface="Calibri" pitchFamily="34" charset="-122"/>
                <a:cs typeface="Calibri" pitchFamily="34" charset="-120"/>
              </a:rPr>
              <a:t>›</a:t>
            </a:r>
            <a:endParaRPr lang="en-US" sz="2600" dirty="0"/>
          </a:p>
        </p:txBody>
      </p:sp>
      <p:sp>
        <p:nvSpPr>
          <p:cNvPr id="24" name="Shape 19"/>
          <p:cNvSpPr/>
          <p:nvPr/>
        </p:nvSpPr>
        <p:spPr>
          <a:xfrm>
            <a:off x="6217920" y="1417320"/>
            <a:ext cx="2514600" cy="1691640"/>
          </a:xfrm>
          <a:prstGeom prst="roundRect">
            <a:avLst>
              <a:gd name="adj" fmla="val 4324"/>
            </a:avLst>
          </a:prstGeom>
          <a:solidFill>
            <a:srgbClr val="F4F7F5"/>
          </a:solidFill>
          <a:ln w="9525">
            <a:solidFill>
              <a:srgbClr val="D5DED9"/>
            </a:solidFill>
            <a:prstDash val="solid"/>
          </a:ln>
        </p:spPr>
      </p:sp>
      <p:sp>
        <p:nvSpPr>
          <p:cNvPr id="25" name="Shape 20"/>
          <p:cNvSpPr/>
          <p:nvPr/>
        </p:nvSpPr>
        <p:spPr>
          <a:xfrm>
            <a:off x="6400800" y="1600200"/>
            <a:ext cx="548640" cy="548640"/>
          </a:xfrm>
          <a:prstGeom prst="ellipse">
            <a:avLst/>
          </a:prstGeom>
          <a:solidFill>
            <a:srgbClr val="00704A"/>
          </a:solidFill>
          <a:ln w="12700">
            <a:solidFill>
              <a:srgbClr val="00704A"/>
            </a:solidFill>
            <a:prstDash val="solid"/>
          </a:ln>
        </p:spPr>
      </p:sp>
      <p:pic>
        <p:nvPicPr>
          <p:cNvPr id="26" name="Image 3" descr="preencoded.png"/>
          <p:cNvPicPr>
            <a:picLocks noChangeAspect="1"/>
          </p:cNvPicPr>
          <p:nvPr/>
        </p:nvPicPr>
        <p:blipFill>
          <a:blip r:embed="rId6"/>
          <a:stretch>
            <a:fillRect/>
          </a:stretch>
        </p:blipFill>
        <p:spPr>
          <a:xfrm>
            <a:off x="6543446" y="1742846"/>
            <a:ext cx="263347" cy="263347"/>
          </a:xfrm>
          <a:prstGeom prst="rect">
            <a:avLst/>
          </a:prstGeom>
        </p:spPr>
      </p:pic>
      <p:sp>
        <p:nvSpPr>
          <p:cNvPr id="27" name="Text 21"/>
          <p:cNvSpPr txBox="1"/>
          <p:nvPr/>
        </p:nvSpPr>
        <p:spPr>
          <a:xfrm>
            <a:off x="7086600" y="1600200"/>
            <a:ext cx="1554480" cy="54864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Model</a:t>
            </a:r>
            <a:endParaRPr lang="en-US" sz="1400" dirty="0"/>
          </a:p>
        </p:txBody>
      </p:sp>
      <p:sp>
        <p:nvSpPr>
          <p:cNvPr id="28" name="Text 22"/>
          <p:cNvSpPr txBox="1"/>
          <p:nvPr/>
        </p:nvSpPr>
        <p:spPr>
          <a:xfrm>
            <a:off x="6400800" y="2286000"/>
            <a:ext cx="219456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bridge equation, MIDAS or machine learning</a:t>
            </a:r>
            <a:endParaRPr lang="en-US" sz="1150" dirty="0"/>
          </a:p>
        </p:txBody>
      </p:sp>
      <p:sp>
        <p:nvSpPr>
          <p:cNvPr id="29" name="Text 23"/>
          <p:cNvSpPr txBox="1"/>
          <p:nvPr/>
        </p:nvSpPr>
        <p:spPr>
          <a:xfrm>
            <a:off x="8732520" y="1965960"/>
            <a:ext cx="320040" cy="457200"/>
          </a:xfrm>
          <a:prstGeom prst="rect">
            <a:avLst/>
          </a:prstGeom>
          <a:noFill/>
          <a:ln/>
        </p:spPr>
        <p:txBody>
          <a:bodyPr wrap="square" lIns="0" tIns="0" rIns="0" bIns="0" rtlCol="0" anchor="t"/>
          <a:lstStyle/>
          <a:p>
            <a:pPr marL="0" indent="0" algn="ctr">
              <a:buNone/>
            </a:pPr>
            <a:r>
              <a:rPr lang="en-US" sz="2600" b="1" dirty="0">
                <a:solidFill>
                  <a:srgbClr val="00A86A"/>
                </a:solidFill>
                <a:latin typeface="Calibri" pitchFamily="34" charset="0"/>
                <a:ea typeface="Calibri" pitchFamily="34" charset="-122"/>
                <a:cs typeface="Calibri" pitchFamily="34" charset="-120"/>
              </a:rPr>
              <a:t>›</a:t>
            </a:r>
            <a:endParaRPr lang="en-US" sz="2600" dirty="0"/>
          </a:p>
        </p:txBody>
      </p:sp>
      <p:sp>
        <p:nvSpPr>
          <p:cNvPr id="30" name="Shape 24"/>
          <p:cNvSpPr/>
          <p:nvPr/>
        </p:nvSpPr>
        <p:spPr>
          <a:xfrm>
            <a:off x="9052560" y="1417320"/>
            <a:ext cx="2514600" cy="1691640"/>
          </a:xfrm>
          <a:prstGeom prst="roundRect">
            <a:avLst>
              <a:gd name="adj" fmla="val 4324"/>
            </a:avLst>
          </a:prstGeom>
          <a:solidFill>
            <a:srgbClr val="00553A"/>
          </a:solidFill>
          <a:ln w="9525">
            <a:solidFill>
              <a:srgbClr val="00553A"/>
            </a:solidFill>
            <a:prstDash val="solid"/>
          </a:ln>
        </p:spPr>
      </p:sp>
      <p:sp>
        <p:nvSpPr>
          <p:cNvPr id="31" name="Shape 25"/>
          <p:cNvSpPr/>
          <p:nvPr/>
        </p:nvSpPr>
        <p:spPr>
          <a:xfrm>
            <a:off x="9235440" y="1600200"/>
            <a:ext cx="548640" cy="548640"/>
          </a:xfrm>
          <a:prstGeom prst="ellipse">
            <a:avLst/>
          </a:prstGeom>
          <a:solidFill>
            <a:srgbClr val="F5C242"/>
          </a:solidFill>
          <a:ln w="12700">
            <a:solidFill>
              <a:srgbClr val="F5C242"/>
            </a:solidFill>
            <a:prstDash val="solid"/>
          </a:ln>
        </p:spPr>
      </p:sp>
      <p:pic>
        <p:nvPicPr>
          <p:cNvPr id="32" name="Image 4" descr="preencoded.png"/>
          <p:cNvPicPr>
            <a:picLocks noChangeAspect="1"/>
          </p:cNvPicPr>
          <p:nvPr/>
        </p:nvPicPr>
        <p:blipFill>
          <a:blip r:embed="rId7"/>
          <a:stretch>
            <a:fillRect/>
          </a:stretch>
        </p:blipFill>
        <p:spPr>
          <a:xfrm>
            <a:off x="9378086" y="1742846"/>
            <a:ext cx="263347" cy="263347"/>
          </a:xfrm>
          <a:prstGeom prst="rect">
            <a:avLst/>
          </a:prstGeom>
        </p:spPr>
      </p:pic>
      <p:sp>
        <p:nvSpPr>
          <p:cNvPr id="33" name="Text 26"/>
          <p:cNvSpPr txBox="1"/>
          <p:nvPr/>
        </p:nvSpPr>
        <p:spPr>
          <a:xfrm>
            <a:off x="9921240" y="1600200"/>
            <a:ext cx="15544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Nowcast</a:t>
            </a:r>
            <a:endParaRPr lang="en-US" sz="1400" dirty="0"/>
          </a:p>
        </p:txBody>
      </p:sp>
      <p:sp>
        <p:nvSpPr>
          <p:cNvPr id="34" name="Text 27"/>
          <p:cNvSpPr txBox="1"/>
          <p:nvPr/>
        </p:nvSpPr>
        <p:spPr>
          <a:xfrm>
            <a:off x="9235440" y="2286000"/>
            <a:ext cx="2194560" cy="731520"/>
          </a:xfrm>
          <a:prstGeom prst="rect">
            <a:avLst/>
          </a:prstGeom>
          <a:noFill/>
          <a:ln/>
        </p:spPr>
        <p:txBody>
          <a:bodyPr wrap="square" lIns="0" tIns="0" rIns="0" bIns="0" rtlCol="0" anchor="t"/>
          <a:lstStyle/>
          <a:p>
            <a:pPr marL="0" indent="0">
              <a:buNone/>
            </a:pPr>
            <a:r>
              <a:rPr lang="en-US" sz="1150" dirty="0">
                <a:solidFill>
                  <a:srgbClr val="D8EEE3"/>
                </a:solidFill>
                <a:latin typeface="Calibri" pitchFamily="34" charset="0"/>
                <a:ea typeface="Calibri" pitchFamily="34" charset="-122"/>
                <a:cs typeface="Calibri" pitchFamily="34" charset="-120"/>
              </a:rPr>
              <a:t>quarterly GDP growth, before release</a:t>
            </a:r>
            <a:endParaRPr lang="en-US" sz="1150" dirty="0"/>
          </a:p>
        </p:txBody>
      </p:sp>
      <p:sp>
        <p:nvSpPr>
          <p:cNvPr id="35" name="Shape 28"/>
          <p:cNvSpPr/>
          <p:nvPr/>
        </p:nvSpPr>
        <p:spPr>
          <a:xfrm>
            <a:off x="548640" y="3383280"/>
            <a:ext cx="3593592" cy="2377440"/>
          </a:xfrm>
          <a:prstGeom prst="roundRect">
            <a:avLst>
              <a:gd name="adj" fmla="val 3077"/>
            </a:avLst>
          </a:prstGeom>
          <a:solidFill>
            <a:srgbClr val="E6F6EE"/>
          </a:solidFill>
          <a:ln w="9525">
            <a:solidFill>
              <a:srgbClr val="E6F6EE"/>
            </a:solidFill>
            <a:prstDash val="solid"/>
          </a:ln>
        </p:spPr>
      </p:sp>
      <p:sp>
        <p:nvSpPr>
          <p:cNvPr id="36" name="Text 29"/>
          <p:cNvSpPr txBox="1"/>
          <p:nvPr/>
        </p:nvSpPr>
        <p:spPr>
          <a:xfrm>
            <a:off x="749808" y="3493008"/>
            <a:ext cx="3200400" cy="32004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Strengths</a:t>
            </a:r>
            <a:endParaRPr lang="en-US" sz="1400" dirty="0"/>
          </a:p>
        </p:txBody>
      </p:sp>
      <p:sp>
        <p:nvSpPr>
          <p:cNvPr id="37" name="Text 30"/>
          <p:cNvSpPr txBox="1"/>
          <p:nvPr/>
        </p:nvSpPr>
        <p:spPr>
          <a:xfrm>
            <a:off x="749808" y="3886200"/>
            <a:ext cx="3200400" cy="18288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Available weeks after the month ends</a:t>
            </a:r>
            <a:endParaRPr lang="en-US" sz="1150" dirty="0"/>
          </a:p>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Independent of surveys and administrative reporting</a:t>
            </a:r>
            <a:endParaRPr lang="en-US" sz="1150" dirty="0"/>
          </a:p>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Regional detail that national indicators lack</a:t>
            </a:r>
            <a:endParaRPr lang="en-US" sz="1150" dirty="0"/>
          </a:p>
        </p:txBody>
      </p:sp>
      <p:sp>
        <p:nvSpPr>
          <p:cNvPr id="38" name="Shape 31"/>
          <p:cNvSpPr/>
          <p:nvPr/>
        </p:nvSpPr>
        <p:spPr>
          <a:xfrm>
            <a:off x="4297680" y="3383280"/>
            <a:ext cx="3593592" cy="2377440"/>
          </a:xfrm>
          <a:prstGeom prst="roundRect">
            <a:avLst>
              <a:gd name="adj" fmla="val 3077"/>
            </a:avLst>
          </a:prstGeom>
          <a:solidFill>
            <a:srgbClr val="FBE9E7"/>
          </a:solidFill>
          <a:ln w="9525">
            <a:solidFill>
              <a:srgbClr val="FBE9E7"/>
            </a:solidFill>
            <a:prstDash val="solid"/>
          </a:ln>
        </p:spPr>
      </p:sp>
      <p:sp>
        <p:nvSpPr>
          <p:cNvPr id="39" name="Text 32"/>
          <p:cNvSpPr txBox="1"/>
          <p:nvPr/>
        </p:nvSpPr>
        <p:spPr>
          <a:xfrm>
            <a:off x="4498848" y="3493008"/>
            <a:ext cx="3200400" cy="32004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Pitfalls</a:t>
            </a:r>
            <a:endParaRPr lang="en-US" sz="1400" dirty="0"/>
          </a:p>
        </p:txBody>
      </p:sp>
      <p:sp>
        <p:nvSpPr>
          <p:cNvPr id="40" name="Text 33"/>
          <p:cNvSpPr txBox="1"/>
          <p:nvPr/>
        </p:nvSpPr>
        <p:spPr>
          <a:xfrm>
            <a:off x="4498848" y="3886200"/>
            <a:ext cx="3200400" cy="18288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Look-ahead bias: use only data available at nowcast date</a:t>
            </a:r>
            <a:endParaRPr lang="en-US" sz="1150" dirty="0"/>
          </a:p>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Breaks from product changes look like recessions</a:t>
            </a:r>
            <a:endParaRPr lang="en-US" sz="1150" dirty="0"/>
          </a:p>
          <a:p>
            <a:pPr marL="177800" indent="-177800">
              <a:spcAft>
                <a:spcPts val="600"/>
              </a:spcAft>
              <a:buSzPct val="100000"/>
              <a:buChar char="•"/>
            </a:pPr>
            <a:r>
              <a:rPr lang="en-US" sz="1150" dirty="0">
                <a:solidFill>
                  <a:srgbClr val="231F20"/>
                </a:solidFill>
                <a:latin typeface="Calibri" pitchFamily="34" charset="0"/>
                <a:ea typeface="Calibri" pitchFamily="34" charset="-122"/>
                <a:cs typeface="Calibri" pitchFamily="34" charset="-120"/>
              </a:rPr>
              <a:t>Seasonality and cloud gaps must be treated first</a:t>
            </a:r>
            <a:endParaRPr lang="en-US" sz="1150" dirty="0"/>
          </a:p>
        </p:txBody>
      </p:sp>
      <p:sp>
        <p:nvSpPr>
          <p:cNvPr id="41" name="Shape 34"/>
          <p:cNvSpPr/>
          <p:nvPr/>
        </p:nvSpPr>
        <p:spPr>
          <a:xfrm>
            <a:off x="8046720" y="3383280"/>
            <a:ext cx="3593592" cy="2377440"/>
          </a:xfrm>
          <a:prstGeom prst="roundRect">
            <a:avLst>
              <a:gd name="adj" fmla="val 3077"/>
            </a:avLst>
          </a:prstGeom>
          <a:solidFill>
            <a:srgbClr val="E8F5EF"/>
          </a:solidFill>
          <a:ln w="9525">
            <a:solidFill>
              <a:srgbClr val="00A86A"/>
            </a:solidFill>
            <a:prstDash val="solid"/>
          </a:ln>
        </p:spPr>
      </p:sp>
      <p:sp>
        <p:nvSpPr>
          <p:cNvPr id="42" name="Text 35"/>
          <p:cNvSpPr txBox="1"/>
          <p:nvPr/>
        </p:nvSpPr>
        <p:spPr>
          <a:xfrm>
            <a:off x="8247888" y="3493008"/>
            <a:ext cx="3200400" cy="32004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Evidence</a:t>
            </a:r>
            <a:endParaRPr lang="en-US" sz="1400" dirty="0"/>
          </a:p>
        </p:txBody>
      </p:sp>
      <p:sp>
        <p:nvSpPr>
          <p:cNvPr id="43" name="Text 36"/>
          <p:cNvSpPr txBox="1"/>
          <p:nvPr/>
        </p:nvSpPr>
        <p:spPr>
          <a:xfrm>
            <a:off x="8247888" y="3886200"/>
            <a:ext cx="3200400" cy="1828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Beyer, Hu &amp; Yao (2022, IMF WP 22/109) use night-time lights to measure quarterly economic growth across countries. Beyer et al. (2021) combine daily lights with electricity consumption to track the COVID-19 shock in India.</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APPLICATION 02</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Energy access and SDG 7: Africa’s defining gap</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43</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Sources: Tracking SDG 7: The Energy Progress Report (IEA, IRENA, UN DESA, World Bank, WHO), 24 June 2026; HREA, Min &amp; O’Keeffe (Univ. of Michigan).</a:t>
            </a:r>
            <a:endParaRPr lang="en-US" sz="850" dirty="0"/>
          </a:p>
        </p:txBody>
      </p:sp>
      <p:sp>
        <p:nvSpPr>
          <p:cNvPr id="13" name="Shape 10"/>
          <p:cNvSpPr/>
          <p:nvPr/>
        </p:nvSpPr>
        <p:spPr>
          <a:xfrm>
            <a:off x="548640" y="1325880"/>
            <a:ext cx="2194560" cy="1188720"/>
          </a:xfrm>
          <a:prstGeom prst="roundRect">
            <a:avLst>
              <a:gd name="adj" fmla="val 6154"/>
            </a:avLst>
          </a:prstGeom>
          <a:solidFill>
            <a:srgbClr val="E8F5EF"/>
          </a:solidFill>
          <a:ln w="9525">
            <a:solidFill>
              <a:srgbClr val="00A86A"/>
            </a:solidFill>
            <a:prstDash val="solid"/>
          </a:ln>
        </p:spPr>
      </p:sp>
      <p:sp>
        <p:nvSpPr>
          <p:cNvPr id="14" name="Text 11"/>
          <p:cNvSpPr txBox="1"/>
          <p:nvPr/>
        </p:nvSpPr>
        <p:spPr>
          <a:xfrm>
            <a:off x="548640" y="1371600"/>
            <a:ext cx="2194560" cy="640080"/>
          </a:xfrm>
          <a:prstGeom prst="rect">
            <a:avLst/>
          </a:prstGeom>
          <a:noFill/>
          <a:ln/>
        </p:spPr>
        <p:txBody>
          <a:bodyPr wrap="square" lIns="0" tIns="0" rIns="0" bIns="0" rtlCol="0" anchor="t"/>
          <a:lstStyle/>
          <a:p>
            <a:pPr marL="0" indent="0" algn="ctr">
              <a:buNone/>
            </a:pPr>
            <a:r>
              <a:rPr lang="en-US" sz="3000" b="1" dirty="0">
                <a:solidFill>
                  <a:srgbClr val="00704A"/>
                </a:solidFill>
                <a:latin typeface="Calibri" pitchFamily="34" charset="0"/>
                <a:ea typeface="Calibri" pitchFamily="34" charset="-122"/>
                <a:cs typeface="Calibri" pitchFamily="34" charset="-120"/>
              </a:rPr>
              <a:t>655 M</a:t>
            </a:r>
            <a:endParaRPr lang="en-US" sz="3000" dirty="0"/>
          </a:p>
        </p:txBody>
      </p:sp>
      <p:sp>
        <p:nvSpPr>
          <p:cNvPr id="15" name="Text 12"/>
          <p:cNvSpPr txBox="1"/>
          <p:nvPr/>
        </p:nvSpPr>
        <p:spPr>
          <a:xfrm>
            <a:off x="685800" y="1965960"/>
            <a:ext cx="1920240" cy="502920"/>
          </a:xfrm>
          <a:prstGeom prst="rect">
            <a:avLst/>
          </a:prstGeom>
          <a:noFill/>
          <a:ln/>
        </p:spPr>
        <p:txBody>
          <a:bodyPr wrap="square" lIns="0" tIns="0" rIns="0" bIns="0" rtlCol="0" anchor="t"/>
          <a:lstStyle/>
          <a:p>
            <a:pPr marL="0" indent="0" algn="ctr">
              <a:buNone/>
            </a:pPr>
            <a:r>
              <a:rPr lang="en-US" sz="1050" dirty="0">
                <a:solidFill>
                  <a:srgbClr val="5E6964"/>
                </a:solidFill>
                <a:latin typeface="Calibri" pitchFamily="34" charset="0"/>
                <a:ea typeface="Calibri" pitchFamily="34" charset="-122"/>
                <a:cs typeface="Calibri" pitchFamily="34" charset="-120"/>
              </a:rPr>
              <a:t>people without electricity worldwide (2024)</a:t>
            </a:r>
            <a:endParaRPr lang="en-US" sz="1050" dirty="0"/>
          </a:p>
        </p:txBody>
      </p:sp>
      <p:sp>
        <p:nvSpPr>
          <p:cNvPr id="16" name="Shape 13"/>
          <p:cNvSpPr/>
          <p:nvPr/>
        </p:nvSpPr>
        <p:spPr>
          <a:xfrm>
            <a:off x="2926080" y="1325880"/>
            <a:ext cx="2194560" cy="1188720"/>
          </a:xfrm>
          <a:prstGeom prst="roundRect">
            <a:avLst>
              <a:gd name="adj" fmla="val 6154"/>
            </a:avLst>
          </a:prstGeom>
          <a:solidFill>
            <a:srgbClr val="FBE9E7"/>
          </a:solidFill>
          <a:ln w="9525">
            <a:solidFill>
              <a:srgbClr val="B83B2E"/>
            </a:solidFill>
            <a:prstDash val="solid"/>
          </a:ln>
        </p:spPr>
      </p:sp>
      <p:sp>
        <p:nvSpPr>
          <p:cNvPr id="17" name="Text 14"/>
          <p:cNvSpPr txBox="1"/>
          <p:nvPr/>
        </p:nvSpPr>
        <p:spPr>
          <a:xfrm>
            <a:off x="2926080" y="1371600"/>
            <a:ext cx="2194560" cy="640080"/>
          </a:xfrm>
          <a:prstGeom prst="rect">
            <a:avLst/>
          </a:prstGeom>
          <a:noFill/>
          <a:ln/>
        </p:spPr>
        <p:txBody>
          <a:bodyPr wrap="square" lIns="0" tIns="0" rIns="0" bIns="0" rtlCol="0" anchor="t"/>
          <a:lstStyle/>
          <a:p>
            <a:pPr marL="0" indent="0" algn="ctr">
              <a:buNone/>
            </a:pPr>
            <a:r>
              <a:rPr lang="en-US" sz="3000" b="1" dirty="0">
                <a:solidFill>
                  <a:srgbClr val="B83B2E"/>
                </a:solidFill>
                <a:latin typeface="Calibri" pitchFamily="34" charset="0"/>
                <a:ea typeface="Calibri" pitchFamily="34" charset="-122"/>
                <a:cs typeface="Calibri" pitchFamily="34" charset="-120"/>
              </a:rPr>
              <a:t>&gt; 560 M</a:t>
            </a:r>
            <a:endParaRPr lang="en-US" sz="3000" dirty="0"/>
          </a:p>
        </p:txBody>
      </p:sp>
      <p:sp>
        <p:nvSpPr>
          <p:cNvPr id="18" name="Text 15"/>
          <p:cNvSpPr txBox="1"/>
          <p:nvPr/>
        </p:nvSpPr>
        <p:spPr>
          <a:xfrm>
            <a:off x="3063240" y="1965960"/>
            <a:ext cx="1920240" cy="502920"/>
          </a:xfrm>
          <a:prstGeom prst="rect">
            <a:avLst/>
          </a:prstGeom>
          <a:noFill/>
          <a:ln/>
        </p:spPr>
        <p:txBody>
          <a:bodyPr wrap="square" lIns="0" tIns="0" rIns="0" bIns="0" rtlCol="0" anchor="t"/>
          <a:lstStyle/>
          <a:p>
            <a:pPr marL="0" indent="0" algn="ctr">
              <a:buNone/>
            </a:pPr>
            <a:r>
              <a:rPr lang="en-US" sz="1050" dirty="0">
                <a:solidFill>
                  <a:srgbClr val="5E6964"/>
                </a:solidFill>
                <a:latin typeface="Calibri" pitchFamily="34" charset="0"/>
                <a:ea typeface="Calibri" pitchFamily="34" charset="-122"/>
                <a:cs typeface="Calibri" pitchFamily="34" charset="-120"/>
              </a:rPr>
              <a:t>of them in sub-Saharan Africa</a:t>
            </a:r>
            <a:endParaRPr lang="en-US" sz="1050" dirty="0"/>
          </a:p>
        </p:txBody>
      </p:sp>
      <p:graphicFrame>
        <p:nvGraphicFramePr>
          <p:cNvPr id="19" name="Chart 0"/>
          <p:cNvGraphicFramePr/>
          <p:nvPr/>
        </p:nvGraphicFramePr>
        <p:xfrm>
          <a:off x="548640" y="2697480"/>
          <a:ext cx="45720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20" name="Shape 16"/>
          <p:cNvSpPr/>
          <p:nvPr/>
        </p:nvSpPr>
        <p:spPr>
          <a:xfrm>
            <a:off x="5440680" y="1325880"/>
            <a:ext cx="6199632" cy="804672"/>
          </a:xfrm>
          <a:prstGeom prst="roundRect">
            <a:avLst>
              <a:gd name="adj" fmla="val 9091"/>
            </a:avLst>
          </a:prstGeom>
          <a:solidFill>
            <a:srgbClr val="F4F7F5"/>
          </a:solidFill>
          <a:ln w="9525">
            <a:solidFill>
              <a:srgbClr val="D5DED9"/>
            </a:solidFill>
            <a:prstDash val="solid"/>
          </a:ln>
        </p:spPr>
      </p:sp>
      <p:sp>
        <p:nvSpPr>
          <p:cNvPr id="21" name="Shape 17"/>
          <p:cNvSpPr/>
          <p:nvPr/>
        </p:nvSpPr>
        <p:spPr>
          <a:xfrm>
            <a:off x="5577840" y="1463040"/>
            <a:ext cx="530352" cy="530352"/>
          </a:xfrm>
          <a:prstGeom prst="ellipse">
            <a:avLst/>
          </a:prstGeom>
          <a:solidFill>
            <a:srgbClr val="E8F5EF"/>
          </a:solidFill>
          <a:ln w="12700">
            <a:solidFill>
              <a:srgbClr val="E8F5EF"/>
            </a:solidFill>
            <a:prstDash val="solid"/>
          </a:ln>
        </p:spPr>
      </p:sp>
      <p:pic>
        <p:nvPicPr>
          <p:cNvPr id="22" name="Image 1" descr="preencoded.png"/>
          <p:cNvPicPr>
            <a:picLocks noChangeAspect="1"/>
          </p:cNvPicPr>
          <p:nvPr/>
        </p:nvPicPr>
        <p:blipFill>
          <a:blip r:embed="rId5"/>
          <a:stretch>
            <a:fillRect/>
          </a:stretch>
        </p:blipFill>
        <p:spPr>
          <a:xfrm>
            <a:off x="5715732" y="1600932"/>
            <a:ext cx="254569" cy="254569"/>
          </a:xfrm>
          <a:prstGeom prst="rect">
            <a:avLst/>
          </a:prstGeom>
        </p:spPr>
      </p:pic>
      <p:sp>
        <p:nvSpPr>
          <p:cNvPr id="23" name="Text 18"/>
          <p:cNvSpPr txBox="1"/>
          <p:nvPr/>
        </p:nvSpPr>
        <p:spPr>
          <a:xfrm>
            <a:off x="6263640" y="1380744"/>
            <a:ext cx="5212080" cy="292608"/>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Locate the unserved</a:t>
            </a:r>
            <a:endParaRPr lang="en-US" sz="1300" dirty="0"/>
          </a:p>
        </p:txBody>
      </p:sp>
      <p:sp>
        <p:nvSpPr>
          <p:cNvPr id="24" name="Text 19"/>
          <p:cNvSpPr txBox="1"/>
          <p:nvPr/>
        </p:nvSpPr>
        <p:spPr>
          <a:xfrm>
            <a:off x="6263640" y="1673352"/>
            <a:ext cx="5257800" cy="43891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Settlements visible by day but dark at night are candidate unelectrified communities.</a:t>
            </a:r>
            <a:endParaRPr lang="en-US" sz="1100" dirty="0"/>
          </a:p>
        </p:txBody>
      </p:sp>
      <p:sp>
        <p:nvSpPr>
          <p:cNvPr id="25" name="Shape 20"/>
          <p:cNvSpPr/>
          <p:nvPr/>
        </p:nvSpPr>
        <p:spPr>
          <a:xfrm>
            <a:off x="5440680" y="2240280"/>
            <a:ext cx="6199632" cy="804672"/>
          </a:xfrm>
          <a:prstGeom prst="roundRect">
            <a:avLst>
              <a:gd name="adj" fmla="val 9091"/>
            </a:avLst>
          </a:prstGeom>
          <a:solidFill>
            <a:srgbClr val="F4F7F5"/>
          </a:solidFill>
          <a:ln w="9525">
            <a:solidFill>
              <a:srgbClr val="D5DED9"/>
            </a:solidFill>
            <a:prstDash val="solid"/>
          </a:ln>
        </p:spPr>
      </p:sp>
      <p:sp>
        <p:nvSpPr>
          <p:cNvPr id="26" name="Shape 21"/>
          <p:cNvSpPr/>
          <p:nvPr/>
        </p:nvSpPr>
        <p:spPr>
          <a:xfrm>
            <a:off x="5577840" y="2377440"/>
            <a:ext cx="530352" cy="530352"/>
          </a:xfrm>
          <a:prstGeom prst="ellipse">
            <a:avLst/>
          </a:prstGeom>
          <a:solidFill>
            <a:srgbClr val="E8F5EF"/>
          </a:solidFill>
          <a:ln w="12700">
            <a:solidFill>
              <a:srgbClr val="E8F5EF"/>
            </a:solidFill>
            <a:prstDash val="solid"/>
          </a:ln>
        </p:spPr>
      </p:sp>
      <p:pic>
        <p:nvPicPr>
          <p:cNvPr id="27" name="Image 2" descr="preencoded.png"/>
          <p:cNvPicPr>
            <a:picLocks noChangeAspect="1"/>
          </p:cNvPicPr>
          <p:nvPr/>
        </p:nvPicPr>
        <p:blipFill>
          <a:blip r:embed="rId6"/>
          <a:stretch>
            <a:fillRect/>
          </a:stretch>
        </p:blipFill>
        <p:spPr>
          <a:xfrm>
            <a:off x="5715732" y="2515332"/>
            <a:ext cx="254569" cy="254569"/>
          </a:xfrm>
          <a:prstGeom prst="rect">
            <a:avLst/>
          </a:prstGeom>
        </p:spPr>
      </p:pic>
      <p:sp>
        <p:nvSpPr>
          <p:cNvPr id="28" name="Text 22"/>
          <p:cNvSpPr txBox="1"/>
          <p:nvPr/>
        </p:nvSpPr>
        <p:spPr>
          <a:xfrm>
            <a:off x="6263640" y="2295144"/>
            <a:ext cx="5212080" cy="292608"/>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Verify programmes</a:t>
            </a:r>
            <a:endParaRPr lang="en-US" sz="1300" dirty="0"/>
          </a:p>
        </p:txBody>
      </p:sp>
      <p:sp>
        <p:nvSpPr>
          <p:cNvPr id="29" name="Text 23"/>
          <p:cNvSpPr txBox="1"/>
          <p:nvPr/>
        </p:nvSpPr>
        <p:spPr>
          <a:xfrm>
            <a:off x="6263640" y="2587752"/>
            <a:ext cx="5257800" cy="43891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 grid extension that produces no new light has not, in a meaningful sense, been delivered.</a:t>
            </a:r>
            <a:endParaRPr lang="en-US" sz="1100" dirty="0"/>
          </a:p>
        </p:txBody>
      </p:sp>
      <p:sp>
        <p:nvSpPr>
          <p:cNvPr id="30" name="Shape 24"/>
          <p:cNvSpPr/>
          <p:nvPr/>
        </p:nvSpPr>
        <p:spPr>
          <a:xfrm>
            <a:off x="5440680" y="3154680"/>
            <a:ext cx="6199632" cy="804672"/>
          </a:xfrm>
          <a:prstGeom prst="roundRect">
            <a:avLst>
              <a:gd name="adj" fmla="val 9091"/>
            </a:avLst>
          </a:prstGeom>
          <a:solidFill>
            <a:srgbClr val="F4F7F5"/>
          </a:solidFill>
          <a:ln w="9525">
            <a:solidFill>
              <a:srgbClr val="D5DED9"/>
            </a:solidFill>
            <a:prstDash val="solid"/>
          </a:ln>
        </p:spPr>
      </p:sp>
      <p:sp>
        <p:nvSpPr>
          <p:cNvPr id="31" name="Shape 25"/>
          <p:cNvSpPr/>
          <p:nvPr/>
        </p:nvSpPr>
        <p:spPr>
          <a:xfrm>
            <a:off x="5577840" y="3291840"/>
            <a:ext cx="530352" cy="530352"/>
          </a:xfrm>
          <a:prstGeom prst="ellipse">
            <a:avLst/>
          </a:prstGeom>
          <a:solidFill>
            <a:srgbClr val="E8F5EF"/>
          </a:solidFill>
          <a:ln w="12700">
            <a:solidFill>
              <a:srgbClr val="E8F5EF"/>
            </a:solidFill>
            <a:prstDash val="solid"/>
          </a:ln>
        </p:spPr>
      </p:sp>
      <p:pic>
        <p:nvPicPr>
          <p:cNvPr id="32" name="Image 3" descr="preencoded.png"/>
          <p:cNvPicPr>
            <a:picLocks noChangeAspect="1"/>
          </p:cNvPicPr>
          <p:nvPr/>
        </p:nvPicPr>
        <p:blipFill>
          <a:blip r:embed="rId7"/>
          <a:stretch>
            <a:fillRect/>
          </a:stretch>
        </p:blipFill>
        <p:spPr>
          <a:xfrm>
            <a:off x="5715732" y="3429732"/>
            <a:ext cx="254569" cy="254569"/>
          </a:xfrm>
          <a:prstGeom prst="rect">
            <a:avLst/>
          </a:prstGeom>
        </p:spPr>
      </p:pic>
      <p:sp>
        <p:nvSpPr>
          <p:cNvPr id="33" name="Text 26"/>
          <p:cNvSpPr txBox="1"/>
          <p:nvPr/>
        </p:nvSpPr>
        <p:spPr>
          <a:xfrm>
            <a:off x="6263640" y="3209544"/>
            <a:ext cx="5212080" cy="292608"/>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Measure reliability</a:t>
            </a:r>
            <a:endParaRPr lang="en-US" sz="1300" dirty="0"/>
          </a:p>
        </p:txBody>
      </p:sp>
      <p:sp>
        <p:nvSpPr>
          <p:cNvPr id="34" name="Text 27"/>
          <p:cNvSpPr txBox="1"/>
          <p:nvPr/>
        </p:nvSpPr>
        <p:spPr>
          <a:xfrm>
            <a:off x="6263640" y="3502152"/>
            <a:ext cx="5257800" cy="43891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Daily data reveal how often lights are on — load-shedding a binary “connected” statistic hides.</a:t>
            </a:r>
            <a:endParaRPr lang="en-US" sz="1100" dirty="0"/>
          </a:p>
        </p:txBody>
      </p:sp>
      <p:sp>
        <p:nvSpPr>
          <p:cNvPr id="35" name="Shape 28"/>
          <p:cNvSpPr/>
          <p:nvPr/>
        </p:nvSpPr>
        <p:spPr>
          <a:xfrm>
            <a:off x="5440680" y="4069080"/>
            <a:ext cx="6199632" cy="804672"/>
          </a:xfrm>
          <a:prstGeom prst="roundRect">
            <a:avLst>
              <a:gd name="adj" fmla="val 9091"/>
            </a:avLst>
          </a:prstGeom>
          <a:solidFill>
            <a:srgbClr val="F4F7F5"/>
          </a:solidFill>
          <a:ln w="9525">
            <a:solidFill>
              <a:srgbClr val="D5DED9"/>
            </a:solidFill>
            <a:prstDash val="solid"/>
          </a:ln>
        </p:spPr>
      </p:sp>
      <p:sp>
        <p:nvSpPr>
          <p:cNvPr id="36" name="Shape 29"/>
          <p:cNvSpPr/>
          <p:nvPr/>
        </p:nvSpPr>
        <p:spPr>
          <a:xfrm>
            <a:off x="5577840" y="4206240"/>
            <a:ext cx="530352" cy="530352"/>
          </a:xfrm>
          <a:prstGeom prst="ellipse">
            <a:avLst/>
          </a:prstGeom>
          <a:solidFill>
            <a:srgbClr val="E8F5EF"/>
          </a:solidFill>
          <a:ln w="12700">
            <a:solidFill>
              <a:srgbClr val="E8F5EF"/>
            </a:solidFill>
            <a:prstDash val="solid"/>
          </a:ln>
        </p:spPr>
      </p:sp>
      <p:pic>
        <p:nvPicPr>
          <p:cNvPr id="37" name="Image 4" descr="preencoded.png"/>
          <p:cNvPicPr>
            <a:picLocks noChangeAspect="1"/>
          </p:cNvPicPr>
          <p:nvPr/>
        </p:nvPicPr>
        <p:blipFill>
          <a:blip r:embed="rId8"/>
          <a:stretch>
            <a:fillRect/>
          </a:stretch>
        </p:blipFill>
        <p:spPr>
          <a:xfrm>
            <a:off x="5715732" y="4344132"/>
            <a:ext cx="254569" cy="254569"/>
          </a:xfrm>
          <a:prstGeom prst="rect">
            <a:avLst/>
          </a:prstGeom>
        </p:spPr>
      </p:pic>
      <p:sp>
        <p:nvSpPr>
          <p:cNvPr id="38" name="Text 30"/>
          <p:cNvSpPr txBox="1"/>
          <p:nvPr/>
        </p:nvSpPr>
        <p:spPr>
          <a:xfrm>
            <a:off x="6263640" y="4123944"/>
            <a:ext cx="5212080" cy="292608"/>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Plan the last mile</a:t>
            </a:r>
            <a:endParaRPr lang="en-US" sz="1300" dirty="0"/>
          </a:p>
        </p:txBody>
      </p:sp>
      <p:sp>
        <p:nvSpPr>
          <p:cNvPr id="39" name="Text 31"/>
          <p:cNvSpPr txBox="1"/>
          <p:nvPr/>
        </p:nvSpPr>
        <p:spPr>
          <a:xfrm>
            <a:off x="6263640" y="4416552"/>
            <a:ext cx="5257800" cy="438912"/>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Distance to lit corridors informs grid extension vs mini-grid vs stand-alone solar.</a:t>
            </a:r>
            <a:endParaRPr lang="en-US" sz="1100" dirty="0"/>
          </a:p>
        </p:txBody>
      </p:sp>
      <p:sp>
        <p:nvSpPr>
          <p:cNvPr id="40" name="Shape 32"/>
          <p:cNvSpPr/>
          <p:nvPr/>
        </p:nvSpPr>
        <p:spPr>
          <a:xfrm>
            <a:off x="5440680" y="5029200"/>
            <a:ext cx="6199632" cy="685800"/>
          </a:xfrm>
          <a:prstGeom prst="roundRect">
            <a:avLst>
              <a:gd name="adj" fmla="val 10667"/>
            </a:avLst>
          </a:prstGeom>
          <a:solidFill>
            <a:srgbClr val="FDF5DC"/>
          </a:solidFill>
          <a:ln w="9525">
            <a:solidFill>
              <a:srgbClr val="F5C242"/>
            </a:solidFill>
            <a:prstDash val="solid"/>
          </a:ln>
        </p:spPr>
      </p:sp>
      <p:sp>
        <p:nvSpPr>
          <p:cNvPr id="41" name="Text 33"/>
          <p:cNvSpPr txBox="1"/>
          <p:nvPr/>
        </p:nvSpPr>
        <p:spPr>
          <a:xfrm>
            <a:off x="5623560" y="5029200"/>
            <a:ext cx="5852160" cy="68580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Mission 300 </a:t>
            </a:r>
            <a:r>
              <a:rPr lang="en-US" sz="1200" dirty="0">
                <a:solidFill>
                  <a:srgbClr val="231F20"/>
                </a:solidFill>
                <a:latin typeface="Calibri" pitchFamily="34" charset="0"/>
                <a:ea typeface="Calibri" pitchFamily="34" charset="-122"/>
                <a:cs typeface="Calibri" pitchFamily="34" charset="-120"/>
              </a:rPr>
              <a:t>(World Bank Group &amp; AfDB): 300 M people connected by 2030 — monitoring at that scale needs spatial evidence.</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ENERGY · RELIABILITY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Connected is not the same as powered</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44</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Illustrative nights. Method in the spirit of HREA (Min &amp; O’Keeffe, University of Michigan / World Bank); see also Falchetta et al. (2019), Scientific Data 6.</a:t>
            </a:r>
            <a:endParaRPr lang="en-US" sz="850" dirty="0"/>
          </a:p>
        </p:txBody>
      </p:sp>
      <p:sp>
        <p:nvSpPr>
          <p:cNvPr id="13" name="Text 10"/>
          <p:cNvSpPr txBox="1"/>
          <p:nvPr/>
        </p:nvSpPr>
        <p:spPr>
          <a:xfrm>
            <a:off x="548640" y="1325880"/>
            <a:ext cx="7315200" cy="32004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Thirty nights in two villages that both count as “connected” (illustrative)</a:t>
            </a:r>
            <a:endParaRPr lang="en-US" sz="1300" dirty="0"/>
          </a:p>
        </p:txBody>
      </p:sp>
      <p:sp>
        <p:nvSpPr>
          <p:cNvPr id="14" name="Text 11"/>
          <p:cNvSpPr txBox="1"/>
          <p:nvPr/>
        </p:nvSpPr>
        <p:spPr>
          <a:xfrm>
            <a:off x="548640" y="1828800"/>
            <a:ext cx="2743200" cy="2743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Village A · stable grid</a:t>
            </a:r>
            <a:endParaRPr lang="en-US" sz="1200" dirty="0"/>
          </a:p>
        </p:txBody>
      </p:sp>
      <p:sp>
        <p:nvSpPr>
          <p:cNvPr id="15" name="Shape 12"/>
          <p:cNvSpPr/>
          <p:nvPr/>
        </p:nvSpPr>
        <p:spPr>
          <a:xfrm>
            <a:off x="548640" y="2176272"/>
            <a:ext cx="201168" cy="457200"/>
          </a:xfrm>
          <a:prstGeom prst="rect">
            <a:avLst/>
          </a:prstGeom>
          <a:solidFill>
            <a:srgbClr val="F5C242"/>
          </a:solidFill>
          <a:ln w="12700">
            <a:solidFill>
              <a:srgbClr val="F5C242"/>
            </a:solidFill>
            <a:prstDash val="solid"/>
          </a:ln>
        </p:spPr>
      </p:sp>
      <p:sp>
        <p:nvSpPr>
          <p:cNvPr id="16" name="Shape 13"/>
          <p:cNvSpPr/>
          <p:nvPr/>
        </p:nvSpPr>
        <p:spPr>
          <a:xfrm>
            <a:off x="786384" y="2176272"/>
            <a:ext cx="201168" cy="457200"/>
          </a:xfrm>
          <a:prstGeom prst="rect">
            <a:avLst/>
          </a:prstGeom>
          <a:solidFill>
            <a:srgbClr val="F5C242"/>
          </a:solidFill>
          <a:ln w="12700">
            <a:solidFill>
              <a:srgbClr val="F5C242"/>
            </a:solidFill>
            <a:prstDash val="solid"/>
          </a:ln>
        </p:spPr>
      </p:sp>
      <p:sp>
        <p:nvSpPr>
          <p:cNvPr id="17" name="Shape 14"/>
          <p:cNvSpPr/>
          <p:nvPr/>
        </p:nvSpPr>
        <p:spPr>
          <a:xfrm>
            <a:off x="1024128" y="2176272"/>
            <a:ext cx="201168" cy="457200"/>
          </a:xfrm>
          <a:prstGeom prst="rect">
            <a:avLst/>
          </a:prstGeom>
          <a:solidFill>
            <a:srgbClr val="F5C242"/>
          </a:solidFill>
          <a:ln w="12700">
            <a:solidFill>
              <a:srgbClr val="F5C242"/>
            </a:solidFill>
            <a:prstDash val="solid"/>
          </a:ln>
        </p:spPr>
      </p:sp>
      <p:sp>
        <p:nvSpPr>
          <p:cNvPr id="18" name="Shape 15"/>
          <p:cNvSpPr/>
          <p:nvPr/>
        </p:nvSpPr>
        <p:spPr>
          <a:xfrm>
            <a:off x="1261872" y="2176272"/>
            <a:ext cx="201168" cy="457200"/>
          </a:xfrm>
          <a:prstGeom prst="rect">
            <a:avLst/>
          </a:prstGeom>
          <a:solidFill>
            <a:srgbClr val="F5C242"/>
          </a:solidFill>
          <a:ln w="12700">
            <a:solidFill>
              <a:srgbClr val="F5C242"/>
            </a:solidFill>
            <a:prstDash val="solid"/>
          </a:ln>
        </p:spPr>
      </p:sp>
      <p:sp>
        <p:nvSpPr>
          <p:cNvPr id="19" name="Shape 16"/>
          <p:cNvSpPr/>
          <p:nvPr/>
        </p:nvSpPr>
        <p:spPr>
          <a:xfrm>
            <a:off x="1499616" y="2176272"/>
            <a:ext cx="201168" cy="457200"/>
          </a:xfrm>
          <a:prstGeom prst="rect">
            <a:avLst/>
          </a:prstGeom>
          <a:solidFill>
            <a:srgbClr val="F5C242"/>
          </a:solidFill>
          <a:ln w="12700">
            <a:solidFill>
              <a:srgbClr val="F5C242"/>
            </a:solidFill>
            <a:prstDash val="solid"/>
          </a:ln>
        </p:spPr>
      </p:sp>
      <p:sp>
        <p:nvSpPr>
          <p:cNvPr id="20" name="Shape 17"/>
          <p:cNvSpPr/>
          <p:nvPr/>
        </p:nvSpPr>
        <p:spPr>
          <a:xfrm>
            <a:off x="1737360" y="2176272"/>
            <a:ext cx="201168" cy="457200"/>
          </a:xfrm>
          <a:prstGeom prst="rect">
            <a:avLst/>
          </a:prstGeom>
          <a:solidFill>
            <a:srgbClr val="F5C242"/>
          </a:solidFill>
          <a:ln w="12700">
            <a:solidFill>
              <a:srgbClr val="F5C242"/>
            </a:solidFill>
            <a:prstDash val="solid"/>
          </a:ln>
        </p:spPr>
      </p:sp>
      <p:sp>
        <p:nvSpPr>
          <p:cNvPr id="21" name="Shape 18"/>
          <p:cNvSpPr/>
          <p:nvPr/>
        </p:nvSpPr>
        <p:spPr>
          <a:xfrm>
            <a:off x="1975104" y="2176272"/>
            <a:ext cx="201168" cy="457200"/>
          </a:xfrm>
          <a:prstGeom prst="rect">
            <a:avLst/>
          </a:prstGeom>
          <a:solidFill>
            <a:srgbClr val="F5C242"/>
          </a:solidFill>
          <a:ln w="12700">
            <a:solidFill>
              <a:srgbClr val="F5C242"/>
            </a:solidFill>
            <a:prstDash val="solid"/>
          </a:ln>
        </p:spPr>
      </p:sp>
      <p:sp>
        <p:nvSpPr>
          <p:cNvPr id="22" name="Shape 19"/>
          <p:cNvSpPr/>
          <p:nvPr/>
        </p:nvSpPr>
        <p:spPr>
          <a:xfrm>
            <a:off x="2212848" y="2176272"/>
            <a:ext cx="201168" cy="457200"/>
          </a:xfrm>
          <a:prstGeom prst="rect">
            <a:avLst/>
          </a:prstGeom>
          <a:solidFill>
            <a:srgbClr val="F5C242"/>
          </a:solidFill>
          <a:ln w="12700">
            <a:solidFill>
              <a:srgbClr val="F5C242"/>
            </a:solidFill>
            <a:prstDash val="solid"/>
          </a:ln>
        </p:spPr>
      </p:sp>
      <p:sp>
        <p:nvSpPr>
          <p:cNvPr id="23" name="Shape 20"/>
          <p:cNvSpPr/>
          <p:nvPr/>
        </p:nvSpPr>
        <p:spPr>
          <a:xfrm>
            <a:off x="2450592" y="2176272"/>
            <a:ext cx="201168" cy="457200"/>
          </a:xfrm>
          <a:prstGeom prst="rect">
            <a:avLst/>
          </a:prstGeom>
          <a:solidFill>
            <a:srgbClr val="F5C242"/>
          </a:solidFill>
          <a:ln w="12700">
            <a:solidFill>
              <a:srgbClr val="F5C242"/>
            </a:solidFill>
            <a:prstDash val="solid"/>
          </a:ln>
        </p:spPr>
      </p:sp>
      <p:sp>
        <p:nvSpPr>
          <p:cNvPr id="24" name="Shape 21"/>
          <p:cNvSpPr/>
          <p:nvPr/>
        </p:nvSpPr>
        <p:spPr>
          <a:xfrm>
            <a:off x="2688336" y="2176272"/>
            <a:ext cx="201168" cy="457200"/>
          </a:xfrm>
          <a:prstGeom prst="rect">
            <a:avLst/>
          </a:prstGeom>
          <a:solidFill>
            <a:srgbClr val="F5C242"/>
          </a:solidFill>
          <a:ln w="12700">
            <a:solidFill>
              <a:srgbClr val="F5C242"/>
            </a:solidFill>
            <a:prstDash val="solid"/>
          </a:ln>
        </p:spPr>
      </p:sp>
      <p:sp>
        <p:nvSpPr>
          <p:cNvPr id="25" name="Shape 22"/>
          <p:cNvSpPr/>
          <p:nvPr/>
        </p:nvSpPr>
        <p:spPr>
          <a:xfrm>
            <a:off x="2926080" y="2176272"/>
            <a:ext cx="201168" cy="457200"/>
          </a:xfrm>
          <a:prstGeom prst="rect">
            <a:avLst/>
          </a:prstGeom>
          <a:solidFill>
            <a:srgbClr val="F5C242"/>
          </a:solidFill>
          <a:ln w="12700">
            <a:solidFill>
              <a:srgbClr val="F5C242"/>
            </a:solidFill>
            <a:prstDash val="solid"/>
          </a:ln>
        </p:spPr>
      </p:sp>
      <p:sp>
        <p:nvSpPr>
          <p:cNvPr id="26" name="Shape 23"/>
          <p:cNvSpPr/>
          <p:nvPr/>
        </p:nvSpPr>
        <p:spPr>
          <a:xfrm>
            <a:off x="3163824" y="2176272"/>
            <a:ext cx="201168" cy="457200"/>
          </a:xfrm>
          <a:prstGeom prst="rect">
            <a:avLst/>
          </a:prstGeom>
          <a:solidFill>
            <a:srgbClr val="F5C242"/>
          </a:solidFill>
          <a:ln w="12700">
            <a:solidFill>
              <a:srgbClr val="F5C242"/>
            </a:solidFill>
            <a:prstDash val="solid"/>
          </a:ln>
        </p:spPr>
      </p:sp>
      <p:sp>
        <p:nvSpPr>
          <p:cNvPr id="27" name="Shape 24"/>
          <p:cNvSpPr/>
          <p:nvPr/>
        </p:nvSpPr>
        <p:spPr>
          <a:xfrm>
            <a:off x="3401568" y="2176272"/>
            <a:ext cx="201168" cy="457200"/>
          </a:xfrm>
          <a:prstGeom prst="rect">
            <a:avLst/>
          </a:prstGeom>
          <a:solidFill>
            <a:srgbClr val="F5C242"/>
          </a:solidFill>
          <a:ln w="12700">
            <a:solidFill>
              <a:srgbClr val="F5C242"/>
            </a:solidFill>
            <a:prstDash val="solid"/>
          </a:ln>
        </p:spPr>
      </p:sp>
      <p:sp>
        <p:nvSpPr>
          <p:cNvPr id="28" name="Shape 25"/>
          <p:cNvSpPr/>
          <p:nvPr/>
        </p:nvSpPr>
        <p:spPr>
          <a:xfrm>
            <a:off x="3639312" y="2176272"/>
            <a:ext cx="201168" cy="457200"/>
          </a:xfrm>
          <a:prstGeom prst="rect">
            <a:avLst/>
          </a:prstGeom>
          <a:solidFill>
            <a:srgbClr val="F5C242"/>
          </a:solidFill>
          <a:ln w="12700">
            <a:solidFill>
              <a:srgbClr val="F5C242"/>
            </a:solidFill>
            <a:prstDash val="solid"/>
          </a:ln>
        </p:spPr>
      </p:sp>
      <p:sp>
        <p:nvSpPr>
          <p:cNvPr id="29" name="Shape 26"/>
          <p:cNvSpPr/>
          <p:nvPr/>
        </p:nvSpPr>
        <p:spPr>
          <a:xfrm>
            <a:off x="3877056" y="2176272"/>
            <a:ext cx="201168" cy="457200"/>
          </a:xfrm>
          <a:prstGeom prst="rect">
            <a:avLst/>
          </a:prstGeom>
          <a:solidFill>
            <a:srgbClr val="1F3A2E"/>
          </a:solidFill>
          <a:ln w="12700">
            <a:solidFill>
              <a:srgbClr val="1F3A2E"/>
            </a:solidFill>
            <a:prstDash val="solid"/>
          </a:ln>
        </p:spPr>
      </p:sp>
      <p:sp>
        <p:nvSpPr>
          <p:cNvPr id="30" name="Shape 27"/>
          <p:cNvSpPr/>
          <p:nvPr/>
        </p:nvSpPr>
        <p:spPr>
          <a:xfrm>
            <a:off x="4114800" y="2176272"/>
            <a:ext cx="201168" cy="457200"/>
          </a:xfrm>
          <a:prstGeom prst="rect">
            <a:avLst/>
          </a:prstGeom>
          <a:solidFill>
            <a:srgbClr val="F5C242"/>
          </a:solidFill>
          <a:ln w="12700">
            <a:solidFill>
              <a:srgbClr val="F5C242"/>
            </a:solidFill>
            <a:prstDash val="solid"/>
          </a:ln>
        </p:spPr>
      </p:sp>
      <p:sp>
        <p:nvSpPr>
          <p:cNvPr id="31" name="Shape 28"/>
          <p:cNvSpPr/>
          <p:nvPr/>
        </p:nvSpPr>
        <p:spPr>
          <a:xfrm>
            <a:off x="4352544" y="2176272"/>
            <a:ext cx="201168" cy="457200"/>
          </a:xfrm>
          <a:prstGeom prst="rect">
            <a:avLst/>
          </a:prstGeom>
          <a:solidFill>
            <a:srgbClr val="F5C242"/>
          </a:solidFill>
          <a:ln w="12700">
            <a:solidFill>
              <a:srgbClr val="F5C242"/>
            </a:solidFill>
            <a:prstDash val="solid"/>
          </a:ln>
        </p:spPr>
      </p:sp>
      <p:sp>
        <p:nvSpPr>
          <p:cNvPr id="32" name="Shape 29"/>
          <p:cNvSpPr/>
          <p:nvPr/>
        </p:nvSpPr>
        <p:spPr>
          <a:xfrm>
            <a:off x="4590288" y="2176272"/>
            <a:ext cx="201168" cy="457200"/>
          </a:xfrm>
          <a:prstGeom prst="rect">
            <a:avLst/>
          </a:prstGeom>
          <a:solidFill>
            <a:srgbClr val="F5C242"/>
          </a:solidFill>
          <a:ln w="12700">
            <a:solidFill>
              <a:srgbClr val="F5C242"/>
            </a:solidFill>
            <a:prstDash val="solid"/>
          </a:ln>
        </p:spPr>
      </p:sp>
      <p:sp>
        <p:nvSpPr>
          <p:cNvPr id="33" name="Shape 30"/>
          <p:cNvSpPr/>
          <p:nvPr/>
        </p:nvSpPr>
        <p:spPr>
          <a:xfrm>
            <a:off x="4828032" y="2176272"/>
            <a:ext cx="201168" cy="457200"/>
          </a:xfrm>
          <a:prstGeom prst="rect">
            <a:avLst/>
          </a:prstGeom>
          <a:solidFill>
            <a:srgbClr val="F5C242"/>
          </a:solidFill>
          <a:ln w="12700">
            <a:solidFill>
              <a:srgbClr val="F5C242"/>
            </a:solidFill>
            <a:prstDash val="solid"/>
          </a:ln>
        </p:spPr>
      </p:sp>
      <p:sp>
        <p:nvSpPr>
          <p:cNvPr id="34" name="Shape 31"/>
          <p:cNvSpPr/>
          <p:nvPr/>
        </p:nvSpPr>
        <p:spPr>
          <a:xfrm>
            <a:off x="5065776" y="2176272"/>
            <a:ext cx="201168" cy="457200"/>
          </a:xfrm>
          <a:prstGeom prst="rect">
            <a:avLst/>
          </a:prstGeom>
          <a:solidFill>
            <a:srgbClr val="F5C242"/>
          </a:solidFill>
          <a:ln w="12700">
            <a:solidFill>
              <a:srgbClr val="F5C242"/>
            </a:solidFill>
            <a:prstDash val="solid"/>
          </a:ln>
        </p:spPr>
      </p:sp>
      <p:sp>
        <p:nvSpPr>
          <p:cNvPr id="35" name="Shape 32"/>
          <p:cNvSpPr/>
          <p:nvPr/>
        </p:nvSpPr>
        <p:spPr>
          <a:xfrm>
            <a:off x="5303520" y="2176272"/>
            <a:ext cx="201168" cy="457200"/>
          </a:xfrm>
          <a:prstGeom prst="rect">
            <a:avLst/>
          </a:prstGeom>
          <a:solidFill>
            <a:srgbClr val="F5C242"/>
          </a:solidFill>
          <a:ln w="12700">
            <a:solidFill>
              <a:srgbClr val="F5C242"/>
            </a:solidFill>
            <a:prstDash val="solid"/>
          </a:ln>
        </p:spPr>
      </p:sp>
      <p:sp>
        <p:nvSpPr>
          <p:cNvPr id="36" name="Shape 33"/>
          <p:cNvSpPr/>
          <p:nvPr/>
        </p:nvSpPr>
        <p:spPr>
          <a:xfrm>
            <a:off x="5541264" y="2176272"/>
            <a:ext cx="201168" cy="457200"/>
          </a:xfrm>
          <a:prstGeom prst="rect">
            <a:avLst/>
          </a:prstGeom>
          <a:solidFill>
            <a:srgbClr val="F5C242"/>
          </a:solidFill>
          <a:ln w="12700">
            <a:solidFill>
              <a:srgbClr val="F5C242"/>
            </a:solidFill>
            <a:prstDash val="solid"/>
          </a:ln>
        </p:spPr>
      </p:sp>
      <p:sp>
        <p:nvSpPr>
          <p:cNvPr id="37" name="Shape 34"/>
          <p:cNvSpPr/>
          <p:nvPr/>
        </p:nvSpPr>
        <p:spPr>
          <a:xfrm>
            <a:off x="5779008" y="2176272"/>
            <a:ext cx="201168" cy="457200"/>
          </a:xfrm>
          <a:prstGeom prst="rect">
            <a:avLst/>
          </a:prstGeom>
          <a:solidFill>
            <a:srgbClr val="F5C242"/>
          </a:solidFill>
          <a:ln w="12700">
            <a:solidFill>
              <a:srgbClr val="F5C242"/>
            </a:solidFill>
            <a:prstDash val="solid"/>
          </a:ln>
        </p:spPr>
      </p:sp>
      <p:sp>
        <p:nvSpPr>
          <p:cNvPr id="38" name="Shape 35"/>
          <p:cNvSpPr/>
          <p:nvPr/>
        </p:nvSpPr>
        <p:spPr>
          <a:xfrm>
            <a:off x="6016752" y="2176272"/>
            <a:ext cx="201168" cy="457200"/>
          </a:xfrm>
          <a:prstGeom prst="rect">
            <a:avLst/>
          </a:prstGeom>
          <a:solidFill>
            <a:srgbClr val="F5C242"/>
          </a:solidFill>
          <a:ln w="12700">
            <a:solidFill>
              <a:srgbClr val="F5C242"/>
            </a:solidFill>
            <a:prstDash val="solid"/>
          </a:ln>
        </p:spPr>
      </p:sp>
      <p:sp>
        <p:nvSpPr>
          <p:cNvPr id="39" name="Shape 36"/>
          <p:cNvSpPr/>
          <p:nvPr/>
        </p:nvSpPr>
        <p:spPr>
          <a:xfrm>
            <a:off x="6254496" y="2176272"/>
            <a:ext cx="201168" cy="457200"/>
          </a:xfrm>
          <a:prstGeom prst="rect">
            <a:avLst/>
          </a:prstGeom>
          <a:solidFill>
            <a:srgbClr val="F5C242"/>
          </a:solidFill>
          <a:ln w="12700">
            <a:solidFill>
              <a:srgbClr val="F5C242"/>
            </a:solidFill>
            <a:prstDash val="solid"/>
          </a:ln>
        </p:spPr>
      </p:sp>
      <p:sp>
        <p:nvSpPr>
          <p:cNvPr id="40" name="Shape 37"/>
          <p:cNvSpPr/>
          <p:nvPr/>
        </p:nvSpPr>
        <p:spPr>
          <a:xfrm>
            <a:off x="6492240" y="2176272"/>
            <a:ext cx="201168" cy="457200"/>
          </a:xfrm>
          <a:prstGeom prst="rect">
            <a:avLst/>
          </a:prstGeom>
          <a:solidFill>
            <a:srgbClr val="F5C242"/>
          </a:solidFill>
          <a:ln w="12700">
            <a:solidFill>
              <a:srgbClr val="F5C242"/>
            </a:solidFill>
            <a:prstDash val="solid"/>
          </a:ln>
        </p:spPr>
      </p:sp>
      <p:sp>
        <p:nvSpPr>
          <p:cNvPr id="41" name="Shape 38"/>
          <p:cNvSpPr/>
          <p:nvPr/>
        </p:nvSpPr>
        <p:spPr>
          <a:xfrm>
            <a:off x="6729984" y="2176272"/>
            <a:ext cx="201168" cy="457200"/>
          </a:xfrm>
          <a:prstGeom prst="rect">
            <a:avLst/>
          </a:prstGeom>
          <a:solidFill>
            <a:srgbClr val="F5C242"/>
          </a:solidFill>
          <a:ln w="12700">
            <a:solidFill>
              <a:srgbClr val="F5C242"/>
            </a:solidFill>
            <a:prstDash val="solid"/>
          </a:ln>
        </p:spPr>
      </p:sp>
      <p:sp>
        <p:nvSpPr>
          <p:cNvPr id="42" name="Shape 39"/>
          <p:cNvSpPr/>
          <p:nvPr/>
        </p:nvSpPr>
        <p:spPr>
          <a:xfrm>
            <a:off x="6967728" y="2176272"/>
            <a:ext cx="201168" cy="457200"/>
          </a:xfrm>
          <a:prstGeom prst="rect">
            <a:avLst/>
          </a:prstGeom>
          <a:solidFill>
            <a:srgbClr val="F5C242"/>
          </a:solidFill>
          <a:ln w="12700">
            <a:solidFill>
              <a:srgbClr val="F5C242"/>
            </a:solidFill>
            <a:prstDash val="solid"/>
          </a:ln>
        </p:spPr>
      </p:sp>
      <p:sp>
        <p:nvSpPr>
          <p:cNvPr id="43" name="Shape 40"/>
          <p:cNvSpPr/>
          <p:nvPr/>
        </p:nvSpPr>
        <p:spPr>
          <a:xfrm>
            <a:off x="7205472" y="2176272"/>
            <a:ext cx="201168" cy="457200"/>
          </a:xfrm>
          <a:prstGeom prst="rect">
            <a:avLst/>
          </a:prstGeom>
          <a:solidFill>
            <a:srgbClr val="F5C242"/>
          </a:solidFill>
          <a:ln w="12700">
            <a:solidFill>
              <a:srgbClr val="F5C242"/>
            </a:solidFill>
            <a:prstDash val="solid"/>
          </a:ln>
        </p:spPr>
      </p:sp>
      <p:sp>
        <p:nvSpPr>
          <p:cNvPr id="44" name="Shape 41"/>
          <p:cNvSpPr/>
          <p:nvPr/>
        </p:nvSpPr>
        <p:spPr>
          <a:xfrm>
            <a:off x="7443216" y="2176272"/>
            <a:ext cx="201168" cy="457200"/>
          </a:xfrm>
          <a:prstGeom prst="rect">
            <a:avLst/>
          </a:prstGeom>
          <a:solidFill>
            <a:srgbClr val="F5C242"/>
          </a:solidFill>
          <a:ln w="12700">
            <a:solidFill>
              <a:srgbClr val="F5C242"/>
            </a:solidFill>
            <a:prstDash val="solid"/>
          </a:ln>
        </p:spPr>
      </p:sp>
      <p:sp>
        <p:nvSpPr>
          <p:cNvPr id="45" name="Text 42"/>
          <p:cNvSpPr txBox="1"/>
          <p:nvPr/>
        </p:nvSpPr>
        <p:spPr>
          <a:xfrm>
            <a:off x="7818120" y="2176272"/>
            <a:ext cx="1463040" cy="457200"/>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29 / 30 nights lit</a:t>
            </a:r>
            <a:endParaRPr lang="en-US" sz="1400" dirty="0"/>
          </a:p>
        </p:txBody>
      </p:sp>
      <p:sp>
        <p:nvSpPr>
          <p:cNvPr id="46" name="Text 43"/>
          <p:cNvSpPr txBox="1"/>
          <p:nvPr/>
        </p:nvSpPr>
        <p:spPr>
          <a:xfrm>
            <a:off x="548640" y="3063240"/>
            <a:ext cx="2743200" cy="2743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Village B · load-shedding</a:t>
            </a:r>
            <a:endParaRPr lang="en-US" sz="1200" dirty="0"/>
          </a:p>
        </p:txBody>
      </p:sp>
      <p:sp>
        <p:nvSpPr>
          <p:cNvPr id="47" name="Shape 44"/>
          <p:cNvSpPr/>
          <p:nvPr/>
        </p:nvSpPr>
        <p:spPr>
          <a:xfrm>
            <a:off x="548640" y="3410712"/>
            <a:ext cx="201168" cy="457200"/>
          </a:xfrm>
          <a:prstGeom prst="rect">
            <a:avLst/>
          </a:prstGeom>
          <a:solidFill>
            <a:srgbClr val="F5C242"/>
          </a:solidFill>
          <a:ln w="12700">
            <a:solidFill>
              <a:srgbClr val="F5C242"/>
            </a:solidFill>
            <a:prstDash val="solid"/>
          </a:ln>
        </p:spPr>
      </p:sp>
      <p:sp>
        <p:nvSpPr>
          <p:cNvPr id="48" name="Shape 45"/>
          <p:cNvSpPr/>
          <p:nvPr/>
        </p:nvSpPr>
        <p:spPr>
          <a:xfrm>
            <a:off x="786384" y="3410712"/>
            <a:ext cx="201168" cy="457200"/>
          </a:xfrm>
          <a:prstGeom prst="rect">
            <a:avLst/>
          </a:prstGeom>
          <a:solidFill>
            <a:srgbClr val="1F3A2E"/>
          </a:solidFill>
          <a:ln w="12700">
            <a:solidFill>
              <a:srgbClr val="1F3A2E"/>
            </a:solidFill>
            <a:prstDash val="solid"/>
          </a:ln>
        </p:spPr>
      </p:sp>
      <p:sp>
        <p:nvSpPr>
          <p:cNvPr id="49" name="Shape 46"/>
          <p:cNvSpPr/>
          <p:nvPr/>
        </p:nvSpPr>
        <p:spPr>
          <a:xfrm>
            <a:off x="1024128" y="3410712"/>
            <a:ext cx="201168" cy="457200"/>
          </a:xfrm>
          <a:prstGeom prst="rect">
            <a:avLst/>
          </a:prstGeom>
          <a:solidFill>
            <a:srgbClr val="F5C242"/>
          </a:solidFill>
          <a:ln w="12700">
            <a:solidFill>
              <a:srgbClr val="F5C242"/>
            </a:solidFill>
            <a:prstDash val="solid"/>
          </a:ln>
        </p:spPr>
      </p:sp>
      <p:sp>
        <p:nvSpPr>
          <p:cNvPr id="50" name="Shape 47"/>
          <p:cNvSpPr/>
          <p:nvPr/>
        </p:nvSpPr>
        <p:spPr>
          <a:xfrm>
            <a:off x="1261872" y="3410712"/>
            <a:ext cx="201168" cy="457200"/>
          </a:xfrm>
          <a:prstGeom prst="rect">
            <a:avLst/>
          </a:prstGeom>
          <a:solidFill>
            <a:srgbClr val="F5C242"/>
          </a:solidFill>
          <a:ln w="12700">
            <a:solidFill>
              <a:srgbClr val="F5C242"/>
            </a:solidFill>
            <a:prstDash val="solid"/>
          </a:ln>
        </p:spPr>
      </p:sp>
      <p:sp>
        <p:nvSpPr>
          <p:cNvPr id="51" name="Shape 48"/>
          <p:cNvSpPr/>
          <p:nvPr/>
        </p:nvSpPr>
        <p:spPr>
          <a:xfrm>
            <a:off x="1499616" y="3410712"/>
            <a:ext cx="201168" cy="457200"/>
          </a:xfrm>
          <a:prstGeom prst="rect">
            <a:avLst/>
          </a:prstGeom>
          <a:solidFill>
            <a:srgbClr val="1F3A2E"/>
          </a:solidFill>
          <a:ln w="12700">
            <a:solidFill>
              <a:srgbClr val="1F3A2E"/>
            </a:solidFill>
            <a:prstDash val="solid"/>
          </a:ln>
        </p:spPr>
      </p:sp>
      <p:sp>
        <p:nvSpPr>
          <p:cNvPr id="52" name="Shape 49"/>
          <p:cNvSpPr/>
          <p:nvPr/>
        </p:nvSpPr>
        <p:spPr>
          <a:xfrm>
            <a:off x="1737360" y="3410712"/>
            <a:ext cx="201168" cy="457200"/>
          </a:xfrm>
          <a:prstGeom prst="rect">
            <a:avLst/>
          </a:prstGeom>
          <a:solidFill>
            <a:srgbClr val="1F3A2E"/>
          </a:solidFill>
          <a:ln w="12700">
            <a:solidFill>
              <a:srgbClr val="1F3A2E"/>
            </a:solidFill>
            <a:prstDash val="solid"/>
          </a:ln>
        </p:spPr>
      </p:sp>
      <p:sp>
        <p:nvSpPr>
          <p:cNvPr id="53" name="Shape 50"/>
          <p:cNvSpPr/>
          <p:nvPr/>
        </p:nvSpPr>
        <p:spPr>
          <a:xfrm>
            <a:off x="1975104" y="3410712"/>
            <a:ext cx="201168" cy="457200"/>
          </a:xfrm>
          <a:prstGeom prst="rect">
            <a:avLst/>
          </a:prstGeom>
          <a:solidFill>
            <a:srgbClr val="F5C242"/>
          </a:solidFill>
          <a:ln w="12700">
            <a:solidFill>
              <a:srgbClr val="F5C242"/>
            </a:solidFill>
            <a:prstDash val="solid"/>
          </a:ln>
        </p:spPr>
      </p:sp>
      <p:sp>
        <p:nvSpPr>
          <p:cNvPr id="54" name="Shape 51"/>
          <p:cNvSpPr/>
          <p:nvPr/>
        </p:nvSpPr>
        <p:spPr>
          <a:xfrm>
            <a:off x="2212848" y="3410712"/>
            <a:ext cx="201168" cy="457200"/>
          </a:xfrm>
          <a:prstGeom prst="rect">
            <a:avLst/>
          </a:prstGeom>
          <a:solidFill>
            <a:srgbClr val="F5C242"/>
          </a:solidFill>
          <a:ln w="12700">
            <a:solidFill>
              <a:srgbClr val="F5C242"/>
            </a:solidFill>
            <a:prstDash val="solid"/>
          </a:ln>
        </p:spPr>
      </p:sp>
      <p:sp>
        <p:nvSpPr>
          <p:cNvPr id="55" name="Shape 52"/>
          <p:cNvSpPr/>
          <p:nvPr/>
        </p:nvSpPr>
        <p:spPr>
          <a:xfrm>
            <a:off x="2450592" y="3410712"/>
            <a:ext cx="201168" cy="457200"/>
          </a:xfrm>
          <a:prstGeom prst="rect">
            <a:avLst/>
          </a:prstGeom>
          <a:solidFill>
            <a:srgbClr val="1F3A2E"/>
          </a:solidFill>
          <a:ln w="12700">
            <a:solidFill>
              <a:srgbClr val="1F3A2E"/>
            </a:solidFill>
            <a:prstDash val="solid"/>
          </a:ln>
        </p:spPr>
      </p:sp>
      <p:sp>
        <p:nvSpPr>
          <p:cNvPr id="56" name="Shape 53"/>
          <p:cNvSpPr/>
          <p:nvPr/>
        </p:nvSpPr>
        <p:spPr>
          <a:xfrm>
            <a:off x="2688336" y="3410712"/>
            <a:ext cx="201168" cy="457200"/>
          </a:xfrm>
          <a:prstGeom prst="rect">
            <a:avLst/>
          </a:prstGeom>
          <a:solidFill>
            <a:srgbClr val="1F3A2E"/>
          </a:solidFill>
          <a:ln w="12700">
            <a:solidFill>
              <a:srgbClr val="1F3A2E"/>
            </a:solidFill>
            <a:prstDash val="solid"/>
          </a:ln>
        </p:spPr>
      </p:sp>
      <p:sp>
        <p:nvSpPr>
          <p:cNvPr id="57" name="Shape 54"/>
          <p:cNvSpPr/>
          <p:nvPr/>
        </p:nvSpPr>
        <p:spPr>
          <a:xfrm>
            <a:off x="2926080" y="3410712"/>
            <a:ext cx="201168" cy="457200"/>
          </a:xfrm>
          <a:prstGeom prst="rect">
            <a:avLst/>
          </a:prstGeom>
          <a:solidFill>
            <a:srgbClr val="F5C242"/>
          </a:solidFill>
          <a:ln w="12700">
            <a:solidFill>
              <a:srgbClr val="F5C242"/>
            </a:solidFill>
            <a:prstDash val="solid"/>
          </a:ln>
        </p:spPr>
      </p:sp>
      <p:sp>
        <p:nvSpPr>
          <p:cNvPr id="58" name="Shape 55"/>
          <p:cNvSpPr/>
          <p:nvPr/>
        </p:nvSpPr>
        <p:spPr>
          <a:xfrm>
            <a:off x="3163824" y="3410712"/>
            <a:ext cx="201168" cy="457200"/>
          </a:xfrm>
          <a:prstGeom prst="rect">
            <a:avLst/>
          </a:prstGeom>
          <a:solidFill>
            <a:srgbClr val="F5C242"/>
          </a:solidFill>
          <a:ln w="12700">
            <a:solidFill>
              <a:srgbClr val="F5C242"/>
            </a:solidFill>
            <a:prstDash val="solid"/>
          </a:ln>
        </p:spPr>
      </p:sp>
      <p:sp>
        <p:nvSpPr>
          <p:cNvPr id="59" name="Shape 56"/>
          <p:cNvSpPr/>
          <p:nvPr/>
        </p:nvSpPr>
        <p:spPr>
          <a:xfrm>
            <a:off x="3401568" y="3410712"/>
            <a:ext cx="201168" cy="457200"/>
          </a:xfrm>
          <a:prstGeom prst="rect">
            <a:avLst/>
          </a:prstGeom>
          <a:solidFill>
            <a:srgbClr val="F5C242"/>
          </a:solidFill>
          <a:ln w="12700">
            <a:solidFill>
              <a:srgbClr val="F5C242"/>
            </a:solidFill>
            <a:prstDash val="solid"/>
          </a:ln>
        </p:spPr>
      </p:sp>
      <p:sp>
        <p:nvSpPr>
          <p:cNvPr id="60" name="Shape 57"/>
          <p:cNvSpPr/>
          <p:nvPr/>
        </p:nvSpPr>
        <p:spPr>
          <a:xfrm>
            <a:off x="3639312" y="3410712"/>
            <a:ext cx="201168" cy="457200"/>
          </a:xfrm>
          <a:prstGeom prst="rect">
            <a:avLst/>
          </a:prstGeom>
          <a:solidFill>
            <a:srgbClr val="1F3A2E"/>
          </a:solidFill>
          <a:ln w="12700">
            <a:solidFill>
              <a:srgbClr val="1F3A2E"/>
            </a:solidFill>
            <a:prstDash val="solid"/>
          </a:ln>
        </p:spPr>
      </p:sp>
      <p:sp>
        <p:nvSpPr>
          <p:cNvPr id="61" name="Shape 58"/>
          <p:cNvSpPr/>
          <p:nvPr/>
        </p:nvSpPr>
        <p:spPr>
          <a:xfrm>
            <a:off x="3877056" y="3410712"/>
            <a:ext cx="201168" cy="457200"/>
          </a:xfrm>
          <a:prstGeom prst="rect">
            <a:avLst/>
          </a:prstGeom>
          <a:solidFill>
            <a:srgbClr val="F5C242"/>
          </a:solidFill>
          <a:ln w="12700">
            <a:solidFill>
              <a:srgbClr val="F5C242"/>
            </a:solidFill>
            <a:prstDash val="solid"/>
          </a:ln>
        </p:spPr>
      </p:sp>
      <p:sp>
        <p:nvSpPr>
          <p:cNvPr id="62" name="Shape 59"/>
          <p:cNvSpPr/>
          <p:nvPr/>
        </p:nvSpPr>
        <p:spPr>
          <a:xfrm>
            <a:off x="4114800" y="3410712"/>
            <a:ext cx="201168" cy="457200"/>
          </a:xfrm>
          <a:prstGeom prst="rect">
            <a:avLst/>
          </a:prstGeom>
          <a:solidFill>
            <a:srgbClr val="1F3A2E"/>
          </a:solidFill>
          <a:ln w="12700">
            <a:solidFill>
              <a:srgbClr val="1F3A2E"/>
            </a:solidFill>
            <a:prstDash val="solid"/>
          </a:ln>
        </p:spPr>
      </p:sp>
      <p:sp>
        <p:nvSpPr>
          <p:cNvPr id="63" name="Shape 60"/>
          <p:cNvSpPr/>
          <p:nvPr/>
        </p:nvSpPr>
        <p:spPr>
          <a:xfrm>
            <a:off x="4352544" y="3410712"/>
            <a:ext cx="201168" cy="457200"/>
          </a:xfrm>
          <a:prstGeom prst="rect">
            <a:avLst/>
          </a:prstGeom>
          <a:solidFill>
            <a:srgbClr val="1F3A2E"/>
          </a:solidFill>
          <a:ln w="12700">
            <a:solidFill>
              <a:srgbClr val="1F3A2E"/>
            </a:solidFill>
            <a:prstDash val="solid"/>
          </a:ln>
        </p:spPr>
      </p:sp>
      <p:sp>
        <p:nvSpPr>
          <p:cNvPr id="64" name="Shape 61"/>
          <p:cNvSpPr/>
          <p:nvPr/>
        </p:nvSpPr>
        <p:spPr>
          <a:xfrm>
            <a:off x="4590288" y="3410712"/>
            <a:ext cx="201168" cy="457200"/>
          </a:xfrm>
          <a:prstGeom prst="rect">
            <a:avLst/>
          </a:prstGeom>
          <a:solidFill>
            <a:srgbClr val="1F3A2E"/>
          </a:solidFill>
          <a:ln w="12700">
            <a:solidFill>
              <a:srgbClr val="1F3A2E"/>
            </a:solidFill>
            <a:prstDash val="solid"/>
          </a:ln>
        </p:spPr>
      </p:sp>
      <p:sp>
        <p:nvSpPr>
          <p:cNvPr id="65" name="Shape 62"/>
          <p:cNvSpPr/>
          <p:nvPr/>
        </p:nvSpPr>
        <p:spPr>
          <a:xfrm>
            <a:off x="4828032" y="3410712"/>
            <a:ext cx="201168" cy="457200"/>
          </a:xfrm>
          <a:prstGeom prst="rect">
            <a:avLst/>
          </a:prstGeom>
          <a:solidFill>
            <a:srgbClr val="F5C242"/>
          </a:solidFill>
          <a:ln w="12700">
            <a:solidFill>
              <a:srgbClr val="F5C242"/>
            </a:solidFill>
            <a:prstDash val="solid"/>
          </a:ln>
        </p:spPr>
      </p:sp>
      <p:sp>
        <p:nvSpPr>
          <p:cNvPr id="66" name="Shape 63"/>
          <p:cNvSpPr/>
          <p:nvPr/>
        </p:nvSpPr>
        <p:spPr>
          <a:xfrm>
            <a:off x="5065776" y="3410712"/>
            <a:ext cx="201168" cy="457200"/>
          </a:xfrm>
          <a:prstGeom prst="rect">
            <a:avLst/>
          </a:prstGeom>
          <a:solidFill>
            <a:srgbClr val="F5C242"/>
          </a:solidFill>
          <a:ln w="12700">
            <a:solidFill>
              <a:srgbClr val="F5C242"/>
            </a:solidFill>
            <a:prstDash val="solid"/>
          </a:ln>
        </p:spPr>
      </p:sp>
      <p:sp>
        <p:nvSpPr>
          <p:cNvPr id="67" name="Shape 64"/>
          <p:cNvSpPr/>
          <p:nvPr/>
        </p:nvSpPr>
        <p:spPr>
          <a:xfrm>
            <a:off x="5303520" y="3410712"/>
            <a:ext cx="201168" cy="457200"/>
          </a:xfrm>
          <a:prstGeom prst="rect">
            <a:avLst/>
          </a:prstGeom>
          <a:solidFill>
            <a:srgbClr val="1F3A2E"/>
          </a:solidFill>
          <a:ln w="12700">
            <a:solidFill>
              <a:srgbClr val="1F3A2E"/>
            </a:solidFill>
            <a:prstDash val="solid"/>
          </a:ln>
        </p:spPr>
      </p:sp>
      <p:sp>
        <p:nvSpPr>
          <p:cNvPr id="68" name="Shape 65"/>
          <p:cNvSpPr/>
          <p:nvPr/>
        </p:nvSpPr>
        <p:spPr>
          <a:xfrm>
            <a:off x="5541264" y="3410712"/>
            <a:ext cx="201168" cy="457200"/>
          </a:xfrm>
          <a:prstGeom prst="rect">
            <a:avLst/>
          </a:prstGeom>
          <a:solidFill>
            <a:srgbClr val="1F3A2E"/>
          </a:solidFill>
          <a:ln w="12700">
            <a:solidFill>
              <a:srgbClr val="1F3A2E"/>
            </a:solidFill>
            <a:prstDash val="solid"/>
          </a:ln>
        </p:spPr>
      </p:sp>
      <p:sp>
        <p:nvSpPr>
          <p:cNvPr id="69" name="Shape 66"/>
          <p:cNvSpPr/>
          <p:nvPr/>
        </p:nvSpPr>
        <p:spPr>
          <a:xfrm>
            <a:off x="5779008" y="3410712"/>
            <a:ext cx="201168" cy="457200"/>
          </a:xfrm>
          <a:prstGeom prst="rect">
            <a:avLst/>
          </a:prstGeom>
          <a:solidFill>
            <a:srgbClr val="F5C242"/>
          </a:solidFill>
          <a:ln w="12700">
            <a:solidFill>
              <a:srgbClr val="F5C242"/>
            </a:solidFill>
            <a:prstDash val="solid"/>
          </a:ln>
        </p:spPr>
      </p:sp>
      <p:sp>
        <p:nvSpPr>
          <p:cNvPr id="70" name="Shape 67"/>
          <p:cNvSpPr/>
          <p:nvPr/>
        </p:nvSpPr>
        <p:spPr>
          <a:xfrm>
            <a:off x="6016752" y="3410712"/>
            <a:ext cx="201168" cy="457200"/>
          </a:xfrm>
          <a:prstGeom prst="rect">
            <a:avLst/>
          </a:prstGeom>
          <a:solidFill>
            <a:srgbClr val="1F3A2E"/>
          </a:solidFill>
          <a:ln w="12700">
            <a:solidFill>
              <a:srgbClr val="1F3A2E"/>
            </a:solidFill>
            <a:prstDash val="solid"/>
          </a:ln>
        </p:spPr>
      </p:sp>
      <p:sp>
        <p:nvSpPr>
          <p:cNvPr id="71" name="Shape 68"/>
          <p:cNvSpPr/>
          <p:nvPr/>
        </p:nvSpPr>
        <p:spPr>
          <a:xfrm>
            <a:off x="6254496" y="3410712"/>
            <a:ext cx="201168" cy="457200"/>
          </a:xfrm>
          <a:prstGeom prst="rect">
            <a:avLst/>
          </a:prstGeom>
          <a:solidFill>
            <a:srgbClr val="F5C242"/>
          </a:solidFill>
          <a:ln w="12700">
            <a:solidFill>
              <a:srgbClr val="F5C242"/>
            </a:solidFill>
            <a:prstDash val="solid"/>
          </a:ln>
        </p:spPr>
      </p:sp>
      <p:sp>
        <p:nvSpPr>
          <p:cNvPr id="72" name="Shape 69"/>
          <p:cNvSpPr/>
          <p:nvPr/>
        </p:nvSpPr>
        <p:spPr>
          <a:xfrm>
            <a:off x="6492240" y="3410712"/>
            <a:ext cx="201168" cy="457200"/>
          </a:xfrm>
          <a:prstGeom prst="rect">
            <a:avLst/>
          </a:prstGeom>
          <a:solidFill>
            <a:srgbClr val="F5C242"/>
          </a:solidFill>
          <a:ln w="12700">
            <a:solidFill>
              <a:srgbClr val="F5C242"/>
            </a:solidFill>
            <a:prstDash val="solid"/>
          </a:ln>
        </p:spPr>
      </p:sp>
      <p:sp>
        <p:nvSpPr>
          <p:cNvPr id="73" name="Shape 70"/>
          <p:cNvSpPr/>
          <p:nvPr/>
        </p:nvSpPr>
        <p:spPr>
          <a:xfrm>
            <a:off x="6729984" y="3410712"/>
            <a:ext cx="201168" cy="457200"/>
          </a:xfrm>
          <a:prstGeom prst="rect">
            <a:avLst/>
          </a:prstGeom>
          <a:solidFill>
            <a:srgbClr val="1F3A2E"/>
          </a:solidFill>
          <a:ln w="12700">
            <a:solidFill>
              <a:srgbClr val="1F3A2E"/>
            </a:solidFill>
            <a:prstDash val="solid"/>
          </a:ln>
        </p:spPr>
      </p:sp>
      <p:sp>
        <p:nvSpPr>
          <p:cNvPr id="74" name="Shape 71"/>
          <p:cNvSpPr/>
          <p:nvPr/>
        </p:nvSpPr>
        <p:spPr>
          <a:xfrm>
            <a:off x="6967728" y="3410712"/>
            <a:ext cx="201168" cy="457200"/>
          </a:xfrm>
          <a:prstGeom prst="rect">
            <a:avLst/>
          </a:prstGeom>
          <a:solidFill>
            <a:srgbClr val="F5C242"/>
          </a:solidFill>
          <a:ln w="12700">
            <a:solidFill>
              <a:srgbClr val="F5C242"/>
            </a:solidFill>
            <a:prstDash val="solid"/>
          </a:ln>
        </p:spPr>
      </p:sp>
      <p:sp>
        <p:nvSpPr>
          <p:cNvPr id="75" name="Shape 72"/>
          <p:cNvSpPr/>
          <p:nvPr/>
        </p:nvSpPr>
        <p:spPr>
          <a:xfrm>
            <a:off x="7205472" y="3410712"/>
            <a:ext cx="201168" cy="457200"/>
          </a:xfrm>
          <a:prstGeom prst="rect">
            <a:avLst/>
          </a:prstGeom>
          <a:solidFill>
            <a:srgbClr val="1F3A2E"/>
          </a:solidFill>
          <a:ln w="12700">
            <a:solidFill>
              <a:srgbClr val="1F3A2E"/>
            </a:solidFill>
            <a:prstDash val="solid"/>
          </a:ln>
        </p:spPr>
      </p:sp>
      <p:sp>
        <p:nvSpPr>
          <p:cNvPr id="76" name="Shape 73"/>
          <p:cNvSpPr/>
          <p:nvPr/>
        </p:nvSpPr>
        <p:spPr>
          <a:xfrm>
            <a:off x="7443216" y="3410712"/>
            <a:ext cx="201168" cy="457200"/>
          </a:xfrm>
          <a:prstGeom prst="rect">
            <a:avLst/>
          </a:prstGeom>
          <a:solidFill>
            <a:srgbClr val="1F3A2E"/>
          </a:solidFill>
          <a:ln w="12700">
            <a:solidFill>
              <a:srgbClr val="1F3A2E"/>
            </a:solidFill>
            <a:prstDash val="solid"/>
          </a:ln>
        </p:spPr>
      </p:sp>
      <p:sp>
        <p:nvSpPr>
          <p:cNvPr id="77" name="Text 74"/>
          <p:cNvSpPr txBox="1"/>
          <p:nvPr/>
        </p:nvSpPr>
        <p:spPr>
          <a:xfrm>
            <a:off x="7818120" y="3410712"/>
            <a:ext cx="1463040" cy="457200"/>
          </a:xfrm>
          <a:prstGeom prst="rect">
            <a:avLst/>
          </a:prstGeom>
          <a:noFill/>
          <a:ln/>
        </p:spPr>
        <p:txBody>
          <a:bodyPr wrap="square" lIns="0" tIns="0" rIns="0" bIns="0" rtlCol="0" anchor="ctr"/>
          <a:lstStyle/>
          <a:p>
            <a:pPr marL="0" indent="0">
              <a:buNone/>
            </a:pPr>
            <a:r>
              <a:rPr lang="en-US" sz="1400" b="1" dirty="0">
                <a:solidFill>
                  <a:srgbClr val="B83B2E"/>
                </a:solidFill>
                <a:latin typeface="Calibri" pitchFamily="34" charset="0"/>
                <a:ea typeface="Calibri" pitchFamily="34" charset="-122"/>
                <a:cs typeface="Calibri" pitchFamily="34" charset="-120"/>
              </a:rPr>
              <a:t>15 / 30 nights lit</a:t>
            </a:r>
            <a:endParaRPr lang="en-US" sz="1400" dirty="0"/>
          </a:p>
        </p:txBody>
      </p:sp>
      <p:sp>
        <p:nvSpPr>
          <p:cNvPr id="78" name="Text 75"/>
          <p:cNvSpPr txBox="1"/>
          <p:nvPr/>
        </p:nvSpPr>
        <p:spPr>
          <a:xfrm>
            <a:off x="548640" y="4343400"/>
            <a:ext cx="365760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 lit night    ■ dark night</a:t>
            </a:r>
            <a:endParaRPr lang="en-US" sz="1050" dirty="0"/>
          </a:p>
        </p:txBody>
      </p:sp>
      <p:sp>
        <p:nvSpPr>
          <p:cNvPr id="79" name="Shape 76"/>
          <p:cNvSpPr/>
          <p:nvPr/>
        </p:nvSpPr>
        <p:spPr>
          <a:xfrm>
            <a:off x="548640" y="4709160"/>
            <a:ext cx="8732520" cy="1051560"/>
          </a:xfrm>
          <a:prstGeom prst="roundRect">
            <a:avLst>
              <a:gd name="adj" fmla="val 6957"/>
            </a:avLst>
          </a:prstGeom>
          <a:solidFill>
            <a:srgbClr val="F4F7F5"/>
          </a:solidFill>
          <a:ln w="9525">
            <a:solidFill>
              <a:srgbClr val="D5DED9"/>
            </a:solidFill>
            <a:prstDash val="solid"/>
          </a:ln>
        </p:spPr>
      </p:sp>
      <p:sp>
        <p:nvSpPr>
          <p:cNvPr id="80" name="Text 77"/>
          <p:cNvSpPr txBox="1"/>
          <p:nvPr/>
        </p:nvSpPr>
        <p:spPr>
          <a:xfrm>
            <a:off x="777240" y="4709160"/>
            <a:ext cx="8321040" cy="105156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How it works: </a:t>
            </a:r>
            <a:r>
              <a:rPr lang="en-US" sz="1200" dirty="0">
                <a:solidFill>
                  <a:srgbClr val="231F20"/>
                </a:solidFill>
                <a:latin typeface="Calibri" pitchFamily="34" charset="0"/>
                <a:ea typeface="Calibri" pitchFamily="34" charset="-122"/>
                <a:cs typeface="Calibri" pitchFamily="34" charset="-120"/>
              </a:rPr>
              <a:t>for each settlement, compare every night’s radiance with a statistical model of the dark background around it. The share of nights clearly above background is a reliability proxy; its trend shows whether access is improving.</a:t>
            </a:r>
            <a:endParaRPr lang="en-US" sz="1200" dirty="0"/>
          </a:p>
        </p:txBody>
      </p:sp>
      <p:sp>
        <p:nvSpPr>
          <p:cNvPr id="81" name="Shape 78"/>
          <p:cNvSpPr/>
          <p:nvPr/>
        </p:nvSpPr>
        <p:spPr>
          <a:xfrm>
            <a:off x="9555480" y="1325880"/>
            <a:ext cx="2084832" cy="4434840"/>
          </a:xfrm>
          <a:prstGeom prst="roundRect">
            <a:avLst>
              <a:gd name="adj" fmla="val 3509"/>
            </a:avLst>
          </a:prstGeom>
          <a:solidFill>
            <a:srgbClr val="00553A"/>
          </a:solidFill>
          <a:ln w="9525">
            <a:solidFill>
              <a:srgbClr val="00553A"/>
            </a:solidFill>
            <a:prstDash val="solid"/>
          </a:ln>
        </p:spPr>
      </p:sp>
      <p:sp>
        <p:nvSpPr>
          <p:cNvPr id="82" name="Text 79"/>
          <p:cNvSpPr txBox="1"/>
          <p:nvPr/>
        </p:nvSpPr>
        <p:spPr>
          <a:xfrm>
            <a:off x="9710928" y="1481328"/>
            <a:ext cx="1828800" cy="548640"/>
          </a:xfrm>
          <a:prstGeom prst="rect">
            <a:avLst/>
          </a:prstGeom>
          <a:noFill/>
          <a:ln/>
        </p:spPr>
        <p:txBody>
          <a:bodyPr wrap="square" lIns="0" tIns="0" rIns="0" bIns="0" rtlCol="0" anchor="t"/>
          <a:lstStyle/>
          <a:p>
            <a:pPr marL="0" indent="0">
              <a:buNone/>
            </a:pPr>
            <a:r>
              <a:rPr lang="en-US" sz="1300" b="1" dirty="0">
                <a:solidFill>
                  <a:srgbClr val="F5C242"/>
                </a:solidFill>
                <a:latin typeface="Calibri" pitchFamily="34" charset="0"/>
                <a:ea typeface="Calibri" pitchFamily="34" charset="-122"/>
                <a:cs typeface="Calibri" pitchFamily="34" charset="-120"/>
              </a:rPr>
              <a:t>For a statistical office</a:t>
            </a:r>
            <a:endParaRPr lang="en-US" sz="1300" dirty="0"/>
          </a:p>
        </p:txBody>
      </p:sp>
      <p:sp>
        <p:nvSpPr>
          <p:cNvPr id="83" name="Text 80"/>
          <p:cNvSpPr txBox="1"/>
          <p:nvPr/>
        </p:nvSpPr>
        <p:spPr>
          <a:xfrm>
            <a:off x="9710928" y="2103120"/>
            <a:ext cx="1810512" cy="356616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D8EEE3"/>
                </a:solidFill>
                <a:latin typeface="Calibri" pitchFamily="34" charset="0"/>
                <a:ea typeface="Calibri" pitchFamily="34" charset="-122"/>
                <a:cs typeface="Calibri" pitchFamily="34" charset="-120"/>
              </a:rPr>
              <a:t>Add a reliability column next to access rates</a:t>
            </a:r>
            <a:endParaRPr lang="en-US" sz="1150" dirty="0"/>
          </a:p>
          <a:p>
            <a:pPr marL="177800" indent="-177800">
              <a:spcAft>
                <a:spcPts val="800"/>
              </a:spcAft>
              <a:buSzPct val="100000"/>
              <a:buChar char="•"/>
            </a:pPr>
            <a:r>
              <a:rPr lang="en-US" sz="1150" dirty="0">
                <a:solidFill>
                  <a:srgbClr val="D8EEE3"/>
                </a:solidFill>
                <a:latin typeface="Calibri" pitchFamily="34" charset="0"/>
                <a:ea typeface="Calibri" pitchFamily="34" charset="-122"/>
                <a:cs typeface="Calibri" pitchFamily="34" charset="-120"/>
              </a:rPr>
              <a:t>Flag districts where access rose but lit nights did not</a:t>
            </a:r>
            <a:endParaRPr lang="en-US" sz="1150" dirty="0"/>
          </a:p>
          <a:p>
            <a:pPr marL="177800" indent="-177800">
              <a:spcAft>
                <a:spcPts val="800"/>
              </a:spcAft>
              <a:buSzPct val="100000"/>
              <a:buChar char="•"/>
            </a:pPr>
            <a:r>
              <a:rPr lang="en-US" sz="1150" dirty="0">
                <a:solidFill>
                  <a:srgbClr val="D8EEE3"/>
                </a:solidFill>
                <a:latin typeface="Calibri" pitchFamily="34" charset="0"/>
                <a:ea typeface="Calibri" pitchFamily="34" charset="-122"/>
                <a:cs typeface="Calibri" pitchFamily="34" charset="-120"/>
              </a:rPr>
              <a:t>Cross-check utility outage logs</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APPLICATION 03</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Urbanisation and the shape of a city</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45</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Same Sum of Lights — two very different cities (illustrative).</a:t>
            </a:r>
            <a:endParaRPr lang="en-US" sz="850" dirty="0"/>
          </a:p>
        </p:txBody>
      </p:sp>
      <p:sp>
        <p:nvSpPr>
          <p:cNvPr id="13" name="Shape 10"/>
          <p:cNvSpPr/>
          <p:nvPr/>
        </p:nvSpPr>
        <p:spPr>
          <a:xfrm>
            <a:off x="548640" y="1325880"/>
            <a:ext cx="2788920" cy="4297680"/>
          </a:xfrm>
          <a:prstGeom prst="roundRect">
            <a:avLst>
              <a:gd name="adj" fmla="val 2623"/>
            </a:avLst>
          </a:prstGeom>
          <a:solidFill>
            <a:srgbClr val="F4F7F5"/>
          </a:solidFill>
          <a:ln w="9525">
            <a:solidFill>
              <a:srgbClr val="D5DED9"/>
            </a:solidFill>
            <a:prstDash val="solid"/>
          </a:ln>
        </p:spPr>
      </p:sp>
      <p:sp>
        <p:nvSpPr>
          <p:cNvPr id="14" name="Text 11"/>
          <p:cNvSpPr txBox="1"/>
          <p:nvPr/>
        </p:nvSpPr>
        <p:spPr>
          <a:xfrm>
            <a:off x="548640" y="1417320"/>
            <a:ext cx="2788920" cy="36576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Sprawl</a:t>
            </a:r>
            <a:endParaRPr lang="en-US" sz="1500" dirty="0"/>
          </a:p>
        </p:txBody>
      </p:sp>
      <p:sp>
        <p:nvSpPr>
          <p:cNvPr id="15" name="Text 12"/>
          <p:cNvSpPr txBox="1"/>
          <p:nvPr/>
        </p:nvSpPr>
        <p:spPr>
          <a:xfrm>
            <a:off x="731520" y="1783080"/>
            <a:ext cx="2423160" cy="45720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Footprint expands outward at low intensity</a:t>
            </a:r>
            <a:endParaRPr lang="en-US" sz="1100" dirty="0"/>
          </a:p>
        </p:txBody>
      </p:sp>
      <p:sp>
        <p:nvSpPr>
          <p:cNvPr id="16" name="Shape 13"/>
          <p:cNvSpPr/>
          <p:nvPr/>
        </p:nvSpPr>
        <p:spPr>
          <a:xfrm>
            <a:off x="800100" y="2286000"/>
            <a:ext cx="2286000" cy="2286000"/>
          </a:xfrm>
          <a:prstGeom prst="ellipse">
            <a:avLst/>
          </a:prstGeom>
          <a:solidFill>
            <a:srgbClr val="DDF0E5"/>
          </a:solidFill>
          <a:ln w="12700">
            <a:solidFill>
              <a:srgbClr val="FFFFFF"/>
            </a:solidFill>
            <a:prstDash val="solid"/>
          </a:ln>
        </p:spPr>
      </p:sp>
      <p:sp>
        <p:nvSpPr>
          <p:cNvPr id="17" name="Shape 14"/>
          <p:cNvSpPr/>
          <p:nvPr/>
        </p:nvSpPr>
        <p:spPr>
          <a:xfrm>
            <a:off x="1165860" y="2651760"/>
            <a:ext cx="1554480" cy="1554480"/>
          </a:xfrm>
          <a:prstGeom prst="ellipse">
            <a:avLst/>
          </a:prstGeom>
          <a:solidFill>
            <a:srgbClr val="A8D8BF"/>
          </a:solidFill>
          <a:ln w="12700">
            <a:solidFill>
              <a:srgbClr val="FFFFFF"/>
            </a:solidFill>
            <a:prstDash val="solid"/>
          </a:ln>
        </p:spPr>
      </p:sp>
      <p:sp>
        <p:nvSpPr>
          <p:cNvPr id="18" name="Shape 15"/>
          <p:cNvSpPr/>
          <p:nvPr/>
        </p:nvSpPr>
        <p:spPr>
          <a:xfrm>
            <a:off x="1531620" y="3017520"/>
            <a:ext cx="822960" cy="822960"/>
          </a:xfrm>
          <a:prstGeom prst="ellipse">
            <a:avLst/>
          </a:prstGeom>
          <a:solidFill>
            <a:srgbClr val="00A86A"/>
          </a:solidFill>
          <a:ln w="12700">
            <a:solidFill>
              <a:srgbClr val="FFFFFF"/>
            </a:solidFill>
            <a:prstDash val="solid"/>
          </a:ln>
        </p:spPr>
      </p:sp>
      <p:sp>
        <p:nvSpPr>
          <p:cNvPr id="19" name="Shape 16"/>
          <p:cNvSpPr/>
          <p:nvPr/>
        </p:nvSpPr>
        <p:spPr>
          <a:xfrm>
            <a:off x="777240" y="4983480"/>
            <a:ext cx="2331720" cy="384048"/>
          </a:xfrm>
          <a:prstGeom prst="roundRect">
            <a:avLst>
              <a:gd name="adj" fmla="val 50000"/>
            </a:avLst>
          </a:prstGeom>
          <a:solidFill>
            <a:srgbClr val="FFFFFF"/>
          </a:solidFill>
          <a:ln w="12700">
            <a:solidFill>
              <a:srgbClr val="FFFFFF"/>
            </a:solidFill>
            <a:prstDash val="solid"/>
          </a:ln>
        </p:spPr>
      </p:sp>
      <p:sp>
        <p:nvSpPr>
          <p:cNvPr id="20" name="Text 17"/>
          <p:cNvSpPr txBox="1"/>
          <p:nvPr/>
        </p:nvSpPr>
        <p:spPr>
          <a:xfrm>
            <a:off x="777240" y="4983480"/>
            <a:ext cx="2331720" cy="384048"/>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Lit area +40%  ·  Radiance +6%</a:t>
            </a:r>
            <a:endParaRPr lang="en-US" sz="1000" dirty="0"/>
          </a:p>
        </p:txBody>
      </p:sp>
      <p:sp>
        <p:nvSpPr>
          <p:cNvPr id="21" name="Shape 18"/>
          <p:cNvSpPr/>
          <p:nvPr/>
        </p:nvSpPr>
        <p:spPr>
          <a:xfrm>
            <a:off x="3474720" y="1325880"/>
            <a:ext cx="2788920" cy="4297680"/>
          </a:xfrm>
          <a:prstGeom prst="roundRect">
            <a:avLst>
              <a:gd name="adj" fmla="val 2623"/>
            </a:avLst>
          </a:prstGeom>
          <a:solidFill>
            <a:srgbClr val="F4F7F5"/>
          </a:solidFill>
          <a:ln w="9525">
            <a:solidFill>
              <a:srgbClr val="D5DED9"/>
            </a:solidFill>
            <a:prstDash val="solid"/>
          </a:ln>
        </p:spPr>
      </p:sp>
      <p:sp>
        <p:nvSpPr>
          <p:cNvPr id="22" name="Text 19"/>
          <p:cNvSpPr txBox="1"/>
          <p:nvPr/>
        </p:nvSpPr>
        <p:spPr>
          <a:xfrm>
            <a:off x="3474720" y="1417320"/>
            <a:ext cx="2788920" cy="36576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Densification</a:t>
            </a:r>
            <a:endParaRPr lang="en-US" sz="1500" dirty="0"/>
          </a:p>
        </p:txBody>
      </p:sp>
      <p:sp>
        <p:nvSpPr>
          <p:cNvPr id="23" name="Text 20"/>
          <p:cNvSpPr txBox="1"/>
          <p:nvPr/>
        </p:nvSpPr>
        <p:spPr>
          <a:xfrm>
            <a:off x="3657600" y="1783080"/>
            <a:ext cx="2423160" cy="457200"/>
          </a:xfrm>
          <a:prstGeom prst="rect">
            <a:avLst/>
          </a:prstGeom>
          <a:noFill/>
          <a:ln/>
        </p:spPr>
        <p:txBody>
          <a:bodyPr wrap="square" lIns="0" tIns="0" rIns="0" bIns="0" rtlCol="0" anchor="t"/>
          <a:lstStyle/>
          <a:p>
            <a:pPr marL="0" indent="0" algn="ctr">
              <a:buNone/>
            </a:pPr>
            <a:r>
              <a:rPr lang="en-US" sz="1100" dirty="0">
                <a:solidFill>
                  <a:srgbClr val="5E6964"/>
                </a:solidFill>
                <a:latin typeface="Calibri" pitchFamily="34" charset="0"/>
                <a:ea typeface="Calibri" pitchFamily="34" charset="-122"/>
                <a:cs typeface="Calibri" pitchFamily="34" charset="-120"/>
              </a:rPr>
              <a:t>The same footprint intensifies</a:t>
            </a:r>
            <a:endParaRPr lang="en-US" sz="1100" dirty="0"/>
          </a:p>
        </p:txBody>
      </p:sp>
      <p:sp>
        <p:nvSpPr>
          <p:cNvPr id="24" name="Shape 21"/>
          <p:cNvSpPr/>
          <p:nvPr/>
        </p:nvSpPr>
        <p:spPr>
          <a:xfrm>
            <a:off x="4069080" y="2628900"/>
            <a:ext cx="1600200" cy="1600200"/>
          </a:xfrm>
          <a:prstGeom prst="ellipse">
            <a:avLst/>
          </a:prstGeom>
          <a:solidFill>
            <a:srgbClr val="A8D8BF"/>
          </a:solidFill>
          <a:ln w="12700">
            <a:solidFill>
              <a:srgbClr val="FFFFFF"/>
            </a:solidFill>
            <a:prstDash val="solid"/>
          </a:ln>
        </p:spPr>
      </p:sp>
      <p:sp>
        <p:nvSpPr>
          <p:cNvPr id="25" name="Shape 22"/>
          <p:cNvSpPr/>
          <p:nvPr/>
        </p:nvSpPr>
        <p:spPr>
          <a:xfrm>
            <a:off x="4297680" y="2857500"/>
            <a:ext cx="1143000" cy="1143000"/>
          </a:xfrm>
          <a:prstGeom prst="ellipse">
            <a:avLst/>
          </a:prstGeom>
          <a:solidFill>
            <a:srgbClr val="00A86A"/>
          </a:solidFill>
          <a:ln w="12700">
            <a:solidFill>
              <a:srgbClr val="FFFFFF"/>
            </a:solidFill>
            <a:prstDash val="solid"/>
          </a:ln>
        </p:spPr>
      </p:sp>
      <p:sp>
        <p:nvSpPr>
          <p:cNvPr id="26" name="Shape 23"/>
          <p:cNvSpPr/>
          <p:nvPr/>
        </p:nvSpPr>
        <p:spPr>
          <a:xfrm>
            <a:off x="4526280" y="3086100"/>
            <a:ext cx="685800" cy="685800"/>
          </a:xfrm>
          <a:prstGeom prst="ellipse">
            <a:avLst/>
          </a:prstGeom>
          <a:solidFill>
            <a:srgbClr val="00704A"/>
          </a:solidFill>
          <a:ln w="12700">
            <a:solidFill>
              <a:srgbClr val="FFFFFF"/>
            </a:solidFill>
            <a:prstDash val="solid"/>
          </a:ln>
        </p:spPr>
      </p:sp>
      <p:sp>
        <p:nvSpPr>
          <p:cNvPr id="27" name="Shape 24"/>
          <p:cNvSpPr/>
          <p:nvPr/>
        </p:nvSpPr>
        <p:spPr>
          <a:xfrm>
            <a:off x="3703320" y="4983480"/>
            <a:ext cx="2331720" cy="384048"/>
          </a:xfrm>
          <a:prstGeom prst="roundRect">
            <a:avLst>
              <a:gd name="adj" fmla="val 50000"/>
            </a:avLst>
          </a:prstGeom>
          <a:solidFill>
            <a:srgbClr val="FFFFFF"/>
          </a:solidFill>
          <a:ln w="12700">
            <a:solidFill>
              <a:srgbClr val="FFFFFF"/>
            </a:solidFill>
            <a:prstDash val="solid"/>
          </a:ln>
        </p:spPr>
      </p:sp>
      <p:sp>
        <p:nvSpPr>
          <p:cNvPr id="28" name="Text 25"/>
          <p:cNvSpPr txBox="1"/>
          <p:nvPr/>
        </p:nvSpPr>
        <p:spPr>
          <a:xfrm>
            <a:off x="3703320" y="4983480"/>
            <a:ext cx="2331720" cy="384048"/>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Lit area +6%  ·  Radiance +40%</a:t>
            </a:r>
            <a:endParaRPr lang="en-US" sz="1000" dirty="0"/>
          </a:p>
        </p:txBody>
      </p:sp>
      <p:sp>
        <p:nvSpPr>
          <p:cNvPr id="29" name="Shape 26"/>
          <p:cNvSpPr/>
          <p:nvPr/>
        </p:nvSpPr>
        <p:spPr>
          <a:xfrm>
            <a:off x="6537960" y="1325880"/>
            <a:ext cx="5102352" cy="987552"/>
          </a:xfrm>
          <a:prstGeom prst="roundRect">
            <a:avLst>
              <a:gd name="adj" fmla="val 7407"/>
            </a:avLst>
          </a:prstGeom>
          <a:solidFill>
            <a:srgbClr val="F4F7F5"/>
          </a:solidFill>
          <a:ln w="9525">
            <a:solidFill>
              <a:srgbClr val="D5DED9"/>
            </a:solidFill>
            <a:prstDash val="solid"/>
          </a:ln>
        </p:spPr>
      </p:sp>
      <p:sp>
        <p:nvSpPr>
          <p:cNvPr id="30" name="Shape 27"/>
          <p:cNvSpPr/>
          <p:nvPr/>
        </p:nvSpPr>
        <p:spPr>
          <a:xfrm>
            <a:off x="6675120" y="1527048"/>
            <a:ext cx="548640" cy="548640"/>
          </a:xfrm>
          <a:prstGeom prst="ellipse">
            <a:avLst/>
          </a:prstGeom>
          <a:solidFill>
            <a:srgbClr val="E8F5EF"/>
          </a:solidFill>
          <a:ln w="12700">
            <a:solidFill>
              <a:srgbClr val="E8F5EF"/>
            </a:solidFill>
            <a:prstDash val="solid"/>
          </a:ln>
        </p:spPr>
      </p:sp>
      <p:pic>
        <p:nvPicPr>
          <p:cNvPr id="31" name="Image 1" descr="preencoded.png"/>
          <p:cNvPicPr>
            <a:picLocks noChangeAspect="1"/>
          </p:cNvPicPr>
          <p:nvPr/>
        </p:nvPicPr>
        <p:blipFill>
          <a:blip r:embed="rId4"/>
          <a:stretch>
            <a:fillRect/>
          </a:stretch>
        </p:blipFill>
        <p:spPr>
          <a:xfrm>
            <a:off x="6817766" y="1669694"/>
            <a:ext cx="263347" cy="263347"/>
          </a:xfrm>
          <a:prstGeom prst="rect">
            <a:avLst/>
          </a:prstGeom>
        </p:spPr>
      </p:pic>
      <p:sp>
        <p:nvSpPr>
          <p:cNvPr id="32" name="Text 28"/>
          <p:cNvSpPr txBox="1"/>
          <p:nvPr/>
        </p:nvSpPr>
        <p:spPr>
          <a:xfrm>
            <a:off x="7360920" y="1417320"/>
            <a:ext cx="416052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Map the footprint where registers are missing</a:t>
            </a:r>
            <a:endParaRPr lang="en-US" sz="1250" dirty="0"/>
          </a:p>
        </p:txBody>
      </p:sp>
      <p:sp>
        <p:nvSpPr>
          <p:cNvPr id="33" name="Text 29"/>
          <p:cNvSpPr txBox="1"/>
          <p:nvPr/>
        </p:nvSpPr>
        <p:spPr>
          <a:xfrm>
            <a:off x="7360920" y="1737360"/>
            <a:ext cx="4160520"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Lights reveal built-up extent where cadastral records or recent maps do not exist.</a:t>
            </a:r>
            <a:endParaRPr lang="en-US" sz="1100" dirty="0"/>
          </a:p>
        </p:txBody>
      </p:sp>
      <p:sp>
        <p:nvSpPr>
          <p:cNvPr id="34" name="Shape 30"/>
          <p:cNvSpPr/>
          <p:nvPr/>
        </p:nvSpPr>
        <p:spPr>
          <a:xfrm>
            <a:off x="6537960" y="2423160"/>
            <a:ext cx="5102352" cy="987552"/>
          </a:xfrm>
          <a:prstGeom prst="roundRect">
            <a:avLst>
              <a:gd name="adj" fmla="val 7407"/>
            </a:avLst>
          </a:prstGeom>
          <a:solidFill>
            <a:srgbClr val="F4F7F5"/>
          </a:solidFill>
          <a:ln w="9525">
            <a:solidFill>
              <a:srgbClr val="D5DED9"/>
            </a:solidFill>
            <a:prstDash val="solid"/>
          </a:ln>
        </p:spPr>
      </p:sp>
      <p:sp>
        <p:nvSpPr>
          <p:cNvPr id="35" name="Shape 31"/>
          <p:cNvSpPr/>
          <p:nvPr/>
        </p:nvSpPr>
        <p:spPr>
          <a:xfrm>
            <a:off x="6675120" y="2624328"/>
            <a:ext cx="548640" cy="548640"/>
          </a:xfrm>
          <a:prstGeom prst="ellipse">
            <a:avLst/>
          </a:prstGeom>
          <a:solidFill>
            <a:srgbClr val="E8F5EF"/>
          </a:solidFill>
          <a:ln w="12700">
            <a:solidFill>
              <a:srgbClr val="E8F5EF"/>
            </a:solidFill>
            <a:prstDash val="solid"/>
          </a:ln>
        </p:spPr>
      </p:sp>
      <p:pic>
        <p:nvPicPr>
          <p:cNvPr id="36" name="Image 2" descr="preencoded.png"/>
          <p:cNvPicPr>
            <a:picLocks noChangeAspect="1"/>
          </p:cNvPicPr>
          <p:nvPr/>
        </p:nvPicPr>
        <p:blipFill>
          <a:blip r:embed="rId5"/>
          <a:stretch>
            <a:fillRect/>
          </a:stretch>
        </p:blipFill>
        <p:spPr>
          <a:xfrm>
            <a:off x="6817766" y="2766974"/>
            <a:ext cx="263347" cy="263347"/>
          </a:xfrm>
          <a:prstGeom prst="rect">
            <a:avLst/>
          </a:prstGeom>
        </p:spPr>
      </p:pic>
      <p:sp>
        <p:nvSpPr>
          <p:cNvPr id="37" name="Text 32"/>
          <p:cNvSpPr txBox="1"/>
          <p:nvPr/>
        </p:nvSpPr>
        <p:spPr>
          <a:xfrm>
            <a:off x="7360920" y="2514600"/>
            <a:ext cx="416052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Separate sprawl from densification</a:t>
            </a:r>
            <a:endParaRPr lang="en-US" sz="1250" dirty="0"/>
          </a:p>
        </p:txBody>
      </p:sp>
      <p:sp>
        <p:nvSpPr>
          <p:cNvPr id="38" name="Text 33"/>
          <p:cNvSpPr txBox="1"/>
          <p:nvPr/>
        </p:nvSpPr>
        <p:spPr>
          <a:xfrm>
            <a:off x="7360920" y="2834640"/>
            <a:ext cx="4160520"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Compare growth in lit area with growth in radiance — it matters for transport and services.</a:t>
            </a:r>
            <a:endParaRPr lang="en-US" sz="1100" dirty="0"/>
          </a:p>
        </p:txBody>
      </p:sp>
      <p:sp>
        <p:nvSpPr>
          <p:cNvPr id="39" name="Shape 34"/>
          <p:cNvSpPr/>
          <p:nvPr/>
        </p:nvSpPr>
        <p:spPr>
          <a:xfrm>
            <a:off x="6537960" y="3520440"/>
            <a:ext cx="5102352" cy="987552"/>
          </a:xfrm>
          <a:prstGeom prst="roundRect">
            <a:avLst>
              <a:gd name="adj" fmla="val 7407"/>
            </a:avLst>
          </a:prstGeom>
          <a:solidFill>
            <a:srgbClr val="F4F7F5"/>
          </a:solidFill>
          <a:ln w="9525">
            <a:solidFill>
              <a:srgbClr val="D5DED9"/>
            </a:solidFill>
            <a:prstDash val="solid"/>
          </a:ln>
        </p:spPr>
      </p:sp>
      <p:sp>
        <p:nvSpPr>
          <p:cNvPr id="40" name="Shape 35"/>
          <p:cNvSpPr/>
          <p:nvPr/>
        </p:nvSpPr>
        <p:spPr>
          <a:xfrm>
            <a:off x="6675120" y="3721608"/>
            <a:ext cx="548640" cy="548640"/>
          </a:xfrm>
          <a:prstGeom prst="ellipse">
            <a:avLst/>
          </a:prstGeom>
          <a:solidFill>
            <a:srgbClr val="E8F5EF"/>
          </a:solidFill>
          <a:ln w="12700">
            <a:solidFill>
              <a:srgbClr val="E8F5EF"/>
            </a:solidFill>
            <a:prstDash val="solid"/>
          </a:ln>
        </p:spPr>
      </p:sp>
      <p:pic>
        <p:nvPicPr>
          <p:cNvPr id="41" name="Image 3" descr="preencoded.png"/>
          <p:cNvPicPr>
            <a:picLocks noChangeAspect="1"/>
          </p:cNvPicPr>
          <p:nvPr/>
        </p:nvPicPr>
        <p:blipFill>
          <a:blip r:embed="rId6"/>
          <a:stretch>
            <a:fillRect/>
          </a:stretch>
        </p:blipFill>
        <p:spPr>
          <a:xfrm>
            <a:off x="6817766" y="3864254"/>
            <a:ext cx="263347" cy="263347"/>
          </a:xfrm>
          <a:prstGeom prst="rect">
            <a:avLst/>
          </a:prstGeom>
        </p:spPr>
      </p:pic>
      <p:sp>
        <p:nvSpPr>
          <p:cNvPr id="42" name="Text 36"/>
          <p:cNvSpPr txBox="1"/>
          <p:nvPr/>
        </p:nvSpPr>
        <p:spPr>
          <a:xfrm>
            <a:off x="7360920" y="3611880"/>
            <a:ext cx="416052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Detect new towns early</a:t>
            </a:r>
            <a:endParaRPr lang="en-US" sz="1250" dirty="0"/>
          </a:p>
        </p:txBody>
      </p:sp>
      <p:sp>
        <p:nvSpPr>
          <p:cNvPr id="43" name="Text 37"/>
          <p:cNvSpPr txBox="1"/>
          <p:nvPr/>
        </p:nvSpPr>
        <p:spPr>
          <a:xfrm>
            <a:off x="7360920" y="3931920"/>
            <a:ext cx="4160520"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Mining boomtowns, economic zones and displacement settlements appear before official geography.</a:t>
            </a:r>
            <a:endParaRPr lang="en-US" sz="1100" dirty="0"/>
          </a:p>
        </p:txBody>
      </p:sp>
      <p:sp>
        <p:nvSpPr>
          <p:cNvPr id="44" name="Shape 38"/>
          <p:cNvSpPr/>
          <p:nvPr/>
        </p:nvSpPr>
        <p:spPr>
          <a:xfrm>
            <a:off x="6537960" y="4617720"/>
            <a:ext cx="5102352" cy="987552"/>
          </a:xfrm>
          <a:prstGeom prst="roundRect">
            <a:avLst>
              <a:gd name="adj" fmla="val 7407"/>
            </a:avLst>
          </a:prstGeom>
          <a:solidFill>
            <a:srgbClr val="F4F7F5"/>
          </a:solidFill>
          <a:ln w="9525">
            <a:solidFill>
              <a:srgbClr val="D5DED9"/>
            </a:solidFill>
            <a:prstDash val="solid"/>
          </a:ln>
        </p:spPr>
      </p:sp>
      <p:sp>
        <p:nvSpPr>
          <p:cNvPr id="45" name="Shape 39"/>
          <p:cNvSpPr/>
          <p:nvPr/>
        </p:nvSpPr>
        <p:spPr>
          <a:xfrm>
            <a:off x="6675120" y="4818888"/>
            <a:ext cx="548640" cy="548640"/>
          </a:xfrm>
          <a:prstGeom prst="ellipse">
            <a:avLst/>
          </a:prstGeom>
          <a:solidFill>
            <a:srgbClr val="E8F5EF"/>
          </a:solidFill>
          <a:ln w="12700">
            <a:solidFill>
              <a:srgbClr val="E8F5EF"/>
            </a:solidFill>
            <a:prstDash val="solid"/>
          </a:ln>
        </p:spPr>
      </p:sp>
      <p:pic>
        <p:nvPicPr>
          <p:cNvPr id="46" name="Image 4" descr="preencoded.png"/>
          <p:cNvPicPr>
            <a:picLocks noChangeAspect="1"/>
          </p:cNvPicPr>
          <p:nvPr/>
        </p:nvPicPr>
        <p:blipFill>
          <a:blip r:embed="rId7"/>
          <a:stretch>
            <a:fillRect/>
          </a:stretch>
        </p:blipFill>
        <p:spPr>
          <a:xfrm>
            <a:off x="6817766" y="4961534"/>
            <a:ext cx="263347" cy="263347"/>
          </a:xfrm>
          <a:prstGeom prst="rect">
            <a:avLst/>
          </a:prstGeom>
        </p:spPr>
      </p:pic>
      <p:sp>
        <p:nvSpPr>
          <p:cNvPr id="47" name="Text 40"/>
          <p:cNvSpPr txBox="1"/>
          <p:nvPr/>
        </p:nvSpPr>
        <p:spPr>
          <a:xfrm>
            <a:off x="7360920" y="4709160"/>
            <a:ext cx="416052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Pair with population grids</a:t>
            </a:r>
            <a:endParaRPr lang="en-US" sz="1250" dirty="0"/>
          </a:p>
        </p:txBody>
      </p:sp>
      <p:sp>
        <p:nvSpPr>
          <p:cNvPr id="48" name="Text 41"/>
          <p:cNvSpPr txBox="1"/>
          <p:nvPr/>
        </p:nvSpPr>
        <p:spPr>
          <a:xfrm>
            <a:off x="7360920" y="5029200"/>
            <a:ext cx="4160520"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Use census-based or built-up grids — bright pixels are not people.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CHANGE DETECTION ON REAL DATA</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Where did the lights grow? Ghana, 2020 – 2025</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REAL IMAGERY</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46</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 NASA Black Marble VNP46A3 change 2020–2025, produced with BlackMarblePy (World Bank, MIT licence); basemap © OpenStreetMap contributors © CARTO.</a:t>
            </a:r>
            <a:endParaRPr lang="en-US" sz="850" dirty="0"/>
          </a:p>
        </p:txBody>
      </p:sp>
      <p:sp>
        <p:nvSpPr>
          <p:cNvPr id="13" name="Shape 10"/>
          <p:cNvSpPr/>
          <p:nvPr/>
        </p:nvSpPr>
        <p:spPr>
          <a:xfrm>
            <a:off x="548640" y="1316736"/>
            <a:ext cx="3719688" cy="4544568"/>
          </a:xfrm>
          <a:prstGeom prst="roundRect">
            <a:avLst>
              <a:gd name="adj" fmla="val 1967"/>
            </a:avLst>
          </a:prstGeom>
          <a:solidFill>
            <a:srgbClr val="FFFFFF"/>
          </a:solidFill>
          <a:ln w="9525">
            <a:solidFill>
              <a:srgbClr val="D5DED9"/>
            </a:solidFill>
            <a:prstDash val="solid"/>
          </a:ln>
          <a:effectLst>
            <a:outerShdw blurRad="76200" dist="25400" dir="5400000" algn="bl" rotWithShape="0">
              <a:srgbClr val="80908A">
                <a:alpha val="18000"/>
              </a:srgbClr>
            </a:outerShdw>
          </a:effectLst>
        </p:spPr>
      </p:sp>
      <p:pic>
        <p:nvPicPr>
          <p:cNvPr id="14" name="Image 1" descr="/home/claude/build/img/real/gha_change.png"/>
          <p:cNvPicPr>
            <a:picLocks noChangeAspect="1"/>
          </p:cNvPicPr>
          <p:nvPr/>
        </p:nvPicPr>
        <p:blipFill>
          <a:blip r:embed="rId4"/>
          <a:stretch>
            <a:fillRect/>
          </a:stretch>
        </p:blipFill>
        <p:spPr>
          <a:xfrm>
            <a:off x="603504" y="1371600"/>
            <a:ext cx="3609960" cy="4434840"/>
          </a:xfrm>
          <a:prstGeom prst="rect">
            <a:avLst/>
          </a:prstGeom>
        </p:spPr>
      </p:pic>
      <p:sp>
        <p:nvSpPr>
          <p:cNvPr id="15" name="Shape 11"/>
          <p:cNvSpPr/>
          <p:nvPr/>
        </p:nvSpPr>
        <p:spPr>
          <a:xfrm>
            <a:off x="4526280" y="1325880"/>
            <a:ext cx="7114032" cy="1005840"/>
          </a:xfrm>
          <a:prstGeom prst="roundRect">
            <a:avLst>
              <a:gd name="adj" fmla="val 7273"/>
            </a:avLst>
          </a:prstGeom>
          <a:solidFill>
            <a:srgbClr val="F4F7F5"/>
          </a:solidFill>
          <a:ln w="9525">
            <a:solidFill>
              <a:srgbClr val="D5DED9"/>
            </a:solidFill>
            <a:prstDash val="solid"/>
          </a:ln>
        </p:spPr>
      </p:sp>
      <p:sp>
        <p:nvSpPr>
          <p:cNvPr id="16" name="Shape 12"/>
          <p:cNvSpPr/>
          <p:nvPr/>
        </p:nvSpPr>
        <p:spPr>
          <a:xfrm>
            <a:off x="4663440" y="1463040"/>
            <a:ext cx="457200" cy="457200"/>
          </a:xfrm>
          <a:prstGeom prst="ellipse">
            <a:avLst/>
          </a:prstGeom>
          <a:solidFill>
            <a:srgbClr val="00704A"/>
          </a:solidFill>
          <a:ln w="12700">
            <a:solidFill>
              <a:srgbClr val="00704A"/>
            </a:solidFill>
            <a:prstDash val="solid"/>
          </a:ln>
        </p:spPr>
      </p:sp>
      <p:pic>
        <p:nvPicPr>
          <p:cNvPr id="17" name="Image 2" descr="preencoded.png"/>
          <p:cNvPicPr>
            <a:picLocks noChangeAspect="1"/>
          </p:cNvPicPr>
          <p:nvPr/>
        </p:nvPicPr>
        <p:blipFill>
          <a:blip r:embed="rId5"/>
          <a:stretch>
            <a:fillRect/>
          </a:stretch>
        </p:blipFill>
        <p:spPr>
          <a:xfrm>
            <a:off x="4782312" y="1581912"/>
            <a:ext cx="219456" cy="219456"/>
          </a:xfrm>
          <a:prstGeom prst="rect">
            <a:avLst/>
          </a:prstGeom>
        </p:spPr>
      </p:pic>
      <p:sp>
        <p:nvSpPr>
          <p:cNvPr id="18" name="Text 13"/>
          <p:cNvSpPr txBox="1"/>
          <p:nvPr/>
        </p:nvSpPr>
        <p:spPr>
          <a:xfrm>
            <a:off x="5257800" y="1417320"/>
            <a:ext cx="624535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Urban edges light up</a:t>
            </a:r>
            <a:endParaRPr lang="en-US" sz="1250" dirty="0"/>
          </a:p>
        </p:txBody>
      </p:sp>
      <p:sp>
        <p:nvSpPr>
          <p:cNvPr id="19" name="Text 14"/>
          <p:cNvSpPr txBox="1"/>
          <p:nvPr/>
        </p:nvSpPr>
        <p:spPr>
          <a:xfrm>
            <a:off x="5257800" y="1719072"/>
            <a:ext cx="6245352"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The strongest gains ring Accra and Kumasi — expansion at the edge, not only brighter cores.</a:t>
            </a:r>
            <a:endParaRPr lang="en-US" sz="1100" dirty="0"/>
          </a:p>
        </p:txBody>
      </p:sp>
      <p:sp>
        <p:nvSpPr>
          <p:cNvPr id="20" name="Shape 15"/>
          <p:cNvSpPr/>
          <p:nvPr/>
        </p:nvSpPr>
        <p:spPr>
          <a:xfrm>
            <a:off x="4526280" y="2441448"/>
            <a:ext cx="7114032" cy="1005840"/>
          </a:xfrm>
          <a:prstGeom prst="roundRect">
            <a:avLst>
              <a:gd name="adj" fmla="val 7273"/>
            </a:avLst>
          </a:prstGeom>
          <a:solidFill>
            <a:srgbClr val="F4F7F5"/>
          </a:solidFill>
          <a:ln w="9525">
            <a:solidFill>
              <a:srgbClr val="D5DED9"/>
            </a:solidFill>
            <a:prstDash val="solid"/>
          </a:ln>
        </p:spPr>
      </p:sp>
      <p:sp>
        <p:nvSpPr>
          <p:cNvPr id="21" name="Shape 16"/>
          <p:cNvSpPr/>
          <p:nvPr/>
        </p:nvSpPr>
        <p:spPr>
          <a:xfrm>
            <a:off x="4663440" y="2578608"/>
            <a:ext cx="457200" cy="457200"/>
          </a:xfrm>
          <a:prstGeom prst="ellipse">
            <a:avLst/>
          </a:prstGeom>
          <a:solidFill>
            <a:srgbClr val="00704A"/>
          </a:solidFill>
          <a:ln w="12700">
            <a:solidFill>
              <a:srgbClr val="00704A"/>
            </a:solidFill>
            <a:prstDash val="solid"/>
          </a:ln>
        </p:spPr>
      </p:sp>
      <p:pic>
        <p:nvPicPr>
          <p:cNvPr id="22" name="Image 3" descr="preencoded.png"/>
          <p:cNvPicPr>
            <a:picLocks noChangeAspect="1"/>
          </p:cNvPicPr>
          <p:nvPr/>
        </p:nvPicPr>
        <p:blipFill>
          <a:blip r:embed="rId6"/>
          <a:stretch>
            <a:fillRect/>
          </a:stretch>
        </p:blipFill>
        <p:spPr>
          <a:xfrm>
            <a:off x="4782312" y="2697480"/>
            <a:ext cx="219456" cy="219456"/>
          </a:xfrm>
          <a:prstGeom prst="rect">
            <a:avLst/>
          </a:prstGeom>
        </p:spPr>
      </p:pic>
      <p:sp>
        <p:nvSpPr>
          <p:cNvPr id="23" name="Text 17"/>
          <p:cNvSpPr txBox="1"/>
          <p:nvPr/>
        </p:nvSpPr>
        <p:spPr>
          <a:xfrm>
            <a:off x="5257800" y="2532888"/>
            <a:ext cx="624535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Corridors fill in</a:t>
            </a:r>
            <a:endParaRPr lang="en-US" sz="1250" dirty="0"/>
          </a:p>
        </p:txBody>
      </p:sp>
      <p:sp>
        <p:nvSpPr>
          <p:cNvPr id="24" name="Text 18"/>
          <p:cNvSpPr txBox="1"/>
          <p:nvPr/>
        </p:nvSpPr>
        <p:spPr>
          <a:xfrm>
            <a:off x="5257800" y="2834640"/>
            <a:ext cx="6245352"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New light along the roads linking the main cities: the settlement network densifying.</a:t>
            </a:r>
            <a:endParaRPr lang="en-US" sz="1100" dirty="0"/>
          </a:p>
        </p:txBody>
      </p:sp>
      <p:sp>
        <p:nvSpPr>
          <p:cNvPr id="25" name="Shape 19"/>
          <p:cNvSpPr/>
          <p:nvPr/>
        </p:nvSpPr>
        <p:spPr>
          <a:xfrm>
            <a:off x="4526280" y="3557016"/>
            <a:ext cx="7114032" cy="1005840"/>
          </a:xfrm>
          <a:prstGeom prst="roundRect">
            <a:avLst>
              <a:gd name="adj" fmla="val 7273"/>
            </a:avLst>
          </a:prstGeom>
          <a:solidFill>
            <a:srgbClr val="F4F7F5"/>
          </a:solidFill>
          <a:ln w="9525">
            <a:solidFill>
              <a:srgbClr val="D5DED9"/>
            </a:solidFill>
            <a:prstDash val="solid"/>
          </a:ln>
        </p:spPr>
      </p:sp>
      <p:sp>
        <p:nvSpPr>
          <p:cNvPr id="26" name="Shape 20"/>
          <p:cNvSpPr/>
          <p:nvPr/>
        </p:nvSpPr>
        <p:spPr>
          <a:xfrm>
            <a:off x="4663440" y="3694176"/>
            <a:ext cx="457200" cy="457200"/>
          </a:xfrm>
          <a:prstGeom prst="ellipse">
            <a:avLst/>
          </a:prstGeom>
          <a:solidFill>
            <a:srgbClr val="00704A"/>
          </a:solidFill>
          <a:ln w="12700">
            <a:solidFill>
              <a:srgbClr val="00704A"/>
            </a:solidFill>
            <a:prstDash val="solid"/>
          </a:ln>
        </p:spPr>
      </p:sp>
      <p:pic>
        <p:nvPicPr>
          <p:cNvPr id="27" name="Image 4" descr="preencoded.png"/>
          <p:cNvPicPr>
            <a:picLocks noChangeAspect="1"/>
          </p:cNvPicPr>
          <p:nvPr/>
        </p:nvPicPr>
        <p:blipFill>
          <a:blip r:embed="rId7"/>
          <a:stretch>
            <a:fillRect/>
          </a:stretch>
        </p:blipFill>
        <p:spPr>
          <a:xfrm>
            <a:off x="4782312" y="3813048"/>
            <a:ext cx="219456" cy="219456"/>
          </a:xfrm>
          <a:prstGeom prst="rect">
            <a:avLst/>
          </a:prstGeom>
        </p:spPr>
      </p:pic>
      <p:sp>
        <p:nvSpPr>
          <p:cNvPr id="28" name="Text 21"/>
          <p:cNvSpPr txBox="1"/>
          <p:nvPr/>
        </p:nvSpPr>
        <p:spPr>
          <a:xfrm>
            <a:off x="5257800" y="3648456"/>
            <a:ext cx="624535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New lights in the north</a:t>
            </a:r>
            <a:endParaRPr lang="en-US" sz="1250" dirty="0"/>
          </a:p>
        </p:txBody>
      </p:sp>
      <p:sp>
        <p:nvSpPr>
          <p:cNvPr id="29" name="Text 22"/>
          <p:cNvSpPr txBox="1"/>
          <p:nvPr/>
        </p:nvSpPr>
        <p:spPr>
          <a:xfrm>
            <a:off x="5257800" y="3950208"/>
            <a:ext cx="6245352"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Small new spots in northern regions: candidate electrification gains to verify on the ground.</a:t>
            </a:r>
            <a:endParaRPr lang="en-US" sz="1100" dirty="0"/>
          </a:p>
        </p:txBody>
      </p:sp>
      <p:sp>
        <p:nvSpPr>
          <p:cNvPr id="30" name="Shape 23"/>
          <p:cNvSpPr/>
          <p:nvPr/>
        </p:nvSpPr>
        <p:spPr>
          <a:xfrm>
            <a:off x="4526280" y="4672584"/>
            <a:ext cx="7114032" cy="1005840"/>
          </a:xfrm>
          <a:prstGeom prst="roundRect">
            <a:avLst>
              <a:gd name="adj" fmla="val 7273"/>
            </a:avLst>
          </a:prstGeom>
          <a:solidFill>
            <a:srgbClr val="FDF5DC"/>
          </a:solidFill>
          <a:ln w="9525">
            <a:solidFill>
              <a:srgbClr val="FDF5DC"/>
            </a:solidFill>
            <a:prstDash val="solid"/>
          </a:ln>
        </p:spPr>
      </p:sp>
      <p:sp>
        <p:nvSpPr>
          <p:cNvPr id="31" name="Shape 24"/>
          <p:cNvSpPr/>
          <p:nvPr/>
        </p:nvSpPr>
        <p:spPr>
          <a:xfrm>
            <a:off x="4663440" y="4809744"/>
            <a:ext cx="457200" cy="457200"/>
          </a:xfrm>
          <a:prstGeom prst="ellipse">
            <a:avLst/>
          </a:prstGeom>
          <a:solidFill>
            <a:srgbClr val="F5C242"/>
          </a:solidFill>
          <a:ln w="12700">
            <a:solidFill>
              <a:srgbClr val="F5C242"/>
            </a:solidFill>
            <a:prstDash val="solid"/>
          </a:ln>
        </p:spPr>
      </p:sp>
      <p:pic>
        <p:nvPicPr>
          <p:cNvPr id="32" name="Image 5" descr="preencoded.png"/>
          <p:cNvPicPr>
            <a:picLocks noChangeAspect="1"/>
          </p:cNvPicPr>
          <p:nvPr/>
        </p:nvPicPr>
        <p:blipFill>
          <a:blip r:embed="rId8"/>
          <a:stretch>
            <a:fillRect/>
          </a:stretch>
        </p:blipFill>
        <p:spPr>
          <a:xfrm>
            <a:off x="4782312" y="4928616"/>
            <a:ext cx="219456" cy="219456"/>
          </a:xfrm>
          <a:prstGeom prst="rect">
            <a:avLst/>
          </a:prstGeom>
        </p:spPr>
      </p:pic>
      <p:sp>
        <p:nvSpPr>
          <p:cNvPr id="33" name="Text 25"/>
          <p:cNvSpPr txBox="1"/>
          <p:nvPr/>
        </p:nvSpPr>
        <p:spPr>
          <a:xfrm>
            <a:off x="5257800" y="4764024"/>
            <a:ext cx="6245352"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Test it in Lab B</a:t>
            </a:r>
            <a:endParaRPr lang="en-US" sz="1250" dirty="0"/>
          </a:p>
        </p:txBody>
      </p:sp>
      <p:sp>
        <p:nvSpPr>
          <p:cNvPr id="34" name="Text 26"/>
          <p:cNvSpPr txBox="1"/>
          <p:nvPr/>
        </p:nvSpPr>
        <p:spPr>
          <a:xfrm>
            <a:off x="5257800" y="5065776"/>
            <a:ext cx="6245352" cy="5486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Compare regional change with census or utility data — do the regions that brightened most also grow fastest?</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COMBINING SOURCES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Lights are strongest in combination with other grids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47</a:t>
            </a:r>
            <a:endParaRPr lang="en-US" sz="900" dirty="0"/>
          </a:p>
        </p:txBody>
      </p:sp>
      <p:sp>
        <p:nvSpPr>
          <p:cNvPr id="12" name="Shape 9"/>
          <p:cNvSpPr/>
          <p:nvPr/>
        </p:nvSpPr>
        <p:spPr>
          <a:xfrm>
            <a:off x="548640" y="1371600"/>
            <a:ext cx="5468112" cy="2029968"/>
          </a:xfrm>
          <a:prstGeom prst="roundRect">
            <a:avLst>
              <a:gd name="adj" fmla="val 3604"/>
            </a:avLst>
          </a:prstGeom>
          <a:solidFill>
            <a:srgbClr val="F4F7F5"/>
          </a:solidFill>
          <a:ln w="9525">
            <a:solidFill>
              <a:srgbClr val="D5DED9"/>
            </a:solidFill>
            <a:prstDash val="solid"/>
          </a:ln>
        </p:spPr>
      </p:sp>
      <p:sp>
        <p:nvSpPr>
          <p:cNvPr id="13" name="Shape 10"/>
          <p:cNvSpPr/>
          <p:nvPr/>
        </p:nvSpPr>
        <p:spPr>
          <a:xfrm>
            <a:off x="749808" y="1572768"/>
            <a:ext cx="594360" cy="59436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904342" y="1727302"/>
            <a:ext cx="285293" cy="285293"/>
          </a:xfrm>
          <a:prstGeom prst="rect">
            <a:avLst/>
          </a:prstGeom>
        </p:spPr>
      </p:pic>
      <p:sp>
        <p:nvSpPr>
          <p:cNvPr id="15" name="Text 11"/>
          <p:cNvSpPr txBox="1"/>
          <p:nvPr/>
        </p:nvSpPr>
        <p:spPr>
          <a:xfrm>
            <a:off x="1508760" y="1536192"/>
            <a:ext cx="27432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Lights × built-up</a:t>
            </a:r>
            <a:endParaRPr lang="en-US" sz="1500" dirty="0"/>
          </a:p>
        </p:txBody>
      </p:sp>
      <p:sp>
        <p:nvSpPr>
          <p:cNvPr id="16" name="Text 12"/>
          <p:cNvSpPr txBox="1"/>
          <p:nvPr/>
        </p:nvSpPr>
        <p:spPr>
          <a:xfrm>
            <a:off x="1508760" y="1874520"/>
            <a:ext cx="4297680" cy="3200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GHSL, World Settlement Footprint, Google Open Buildings</a:t>
            </a:r>
            <a:endParaRPr lang="en-US" sz="1050" dirty="0"/>
          </a:p>
        </p:txBody>
      </p:sp>
      <p:sp>
        <p:nvSpPr>
          <p:cNvPr id="17" name="Shape 13"/>
          <p:cNvSpPr/>
          <p:nvPr/>
        </p:nvSpPr>
        <p:spPr>
          <a:xfrm>
            <a:off x="4206240" y="1572768"/>
            <a:ext cx="1645920" cy="256032"/>
          </a:xfrm>
          <a:prstGeom prst="roundRect">
            <a:avLst>
              <a:gd name="adj" fmla="val 50000"/>
            </a:avLst>
          </a:prstGeom>
          <a:solidFill>
            <a:srgbClr val="F5C242"/>
          </a:solidFill>
          <a:ln w="12700">
            <a:solidFill>
              <a:srgbClr val="F5C242"/>
            </a:solidFill>
            <a:prstDash val="solid"/>
          </a:ln>
        </p:spPr>
      </p:sp>
      <p:sp>
        <p:nvSpPr>
          <p:cNvPr id="18" name="Text 14"/>
          <p:cNvSpPr txBox="1"/>
          <p:nvPr/>
        </p:nvSpPr>
        <p:spPr>
          <a:xfrm>
            <a:off x="4206240" y="1572768"/>
            <a:ext cx="164592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Built-up grids</a:t>
            </a:r>
            <a:endParaRPr lang="en-US" sz="850" dirty="0"/>
          </a:p>
        </p:txBody>
      </p:sp>
      <p:sp>
        <p:nvSpPr>
          <p:cNvPr id="19" name="Text 15"/>
          <p:cNvSpPr txBox="1"/>
          <p:nvPr/>
        </p:nvSpPr>
        <p:spPr>
          <a:xfrm>
            <a:off x="749808" y="2331720"/>
            <a:ext cx="5074920" cy="960120"/>
          </a:xfrm>
          <a:prstGeom prst="rect">
            <a:avLst/>
          </a:prstGeom>
          <a:noFill/>
          <a:ln/>
        </p:spPr>
        <p:txBody>
          <a:bodyPr wrap="square" lIns="0" tIns="0" rIns="0" bIns="0" rtlCol="0" anchor="t"/>
          <a:lstStyle/>
          <a:p>
            <a:pPr marL="0" indent="0">
              <a:buNone/>
            </a:pPr>
            <a:r>
              <a:rPr lang="en-US" sz="1350" dirty="0">
                <a:solidFill>
                  <a:srgbClr val="231F20"/>
                </a:solidFill>
                <a:latin typeface="Calibri" pitchFamily="34" charset="0"/>
                <a:ea typeface="Calibri" pitchFamily="34" charset="-122"/>
                <a:cs typeface="Calibri" pitchFamily="34" charset="-120"/>
              </a:rPr>
              <a:t>Built but dark = candidate unelectrified or abandoned settlements. Lit but unbuilt = flares, fires, fishing, roads.</a:t>
            </a:r>
            <a:endParaRPr lang="en-US" sz="1350" dirty="0"/>
          </a:p>
        </p:txBody>
      </p:sp>
      <p:sp>
        <p:nvSpPr>
          <p:cNvPr id="20" name="Shape 16"/>
          <p:cNvSpPr/>
          <p:nvPr/>
        </p:nvSpPr>
        <p:spPr>
          <a:xfrm>
            <a:off x="6172200" y="1371600"/>
            <a:ext cx="5468112" cy="2029968"/>
          </a:xfrm>
          <a:prstGeom prst="roundRect">
            <a:avLst>
              <a:gd name="adj" fmla="val 3604"/>
            </a:avLst>
          </a:prstGeom>
          <a:solidFill>
            <a:srgbClr val="F4F7F5"/>
          </a:solidFill>
          <a:ln w="9525">
            <a:solidFill>
              <a:srgbClr val="D5DED9"/>
            </a:solidFill>
            <a:prstDash val="solid"/>
          </a:ln>
        </p:spPr>
      </p:sp>
      <p:sp>
        <p:nvSpPr>
          <p:cNvPr id="21" name="Shape 17"/>
          <p:cNvSpPr/>
          <p:nvPr/>
        </p:nvSpPr>
        <p:spPr>
          <a:xfrm>
            <a:off x="6373368" y="1572768"/>
            <a:ext cx="594360" cy="594360"/>
          </a:xfrm>
          <a:prstGeom prst="ellipse">
            <a:avLst/>
          </a:prstGeom>
          <a:solidFill>
            <a:srgbClr val="00704A"/>
          </a:solidFill>
          <a:ln w="12700">
            <a:solidFill>
              <a:srgbClr val="00704A"/>
            </a:solidFill>
            <a:prstDash val="solid"/>
          </a:ln>
        </p:spPr>
      </p:sp>
      <p:pic>
        <p:nvPicPr>
          <p:cNvPr id="22" name="Image 2" descr="preencoded.png"/>
          <p:cNvPicPr>
            <a:picLocks noChangeAspect="1"/>
          </p:cNvPicPr>
          <p:nvPr/>
        </p:nvPicPr>
        <p:blipFill>
          <a:blip r:embed="rId5"/>
          <a:stretch>
            <a:fillRect/>
          </a:stretch>
        </p:blipFill>
        <p:spPr>
          <a:xfrm>
            <a:off x="6527902" y="1727302"/>
            <a:ext cx="285293" cy="285293"/>
          </a:xfrm>
          <a:prstGeom prst="rect">
            <a:avLst/>
          </a:prstGeom>
        </p:spPr>
      </p:pic>
      <p:sp>
        <p:nvSpPr>
          <p:cNvPr id="23" name="Text 18"/>
          <p:cNvSpPr txBox="1"/>
          <p:nvPr/>
        </p:nvSpPr>
        <p:spPr>
          <a:xfrm>
            <a:off x="7132320" y="1536192"/>
            <a:ext cx="27432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Lights × cropland</a:t>
            </a:r>
            <a:endParaRPr lang="en-US" sz="1500" dirty="0"/>
          </a:p>
        </p:txBody>
      </p:sp>
      <p:sp>
        <p:nvSpPr>
          <p:cNvPr id="24" name="Text 19"/>
          <p:cNvSpPr txBox="1"/>
          <p:nvPr/>
        </p:nvSpPr>
        <p:spPr>
          <a:xfrm>
            <a:off x="7132320" y="1874520"/>
            <a:ext cx="4297680" cy="3200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Cropland masks and crop-type maps</a:t>
            </a:r>
            <a:endParaRPr lang="en-US" sz="1050" dirty="0"/>
          </a:p>
        </p:txBody>
      </p:sp>
      <p:sp>
        <p:nvSpPr>
          <p:cNvPr id="25" name="Shape 20"/>
          <p:cNvSpPr/>
          <p:nvPr/>
        </p:nvSpPr>
        <p:spPr>
          <a:xfrm>
            <a:off x="9829800" y="1572768"/>
            <a:ext cx="1645920" cy="256032"/>
          </a:xfrm>
          <a:prstGeom prst="roundRect">
            <a:avLst>
              <a:gd name="adj" fmla="val 50000"/>
            </a:avLst>
          </a:prstGeom>
          <a:solidFill>
            <a:srgbClr val="F5C242"/>
          </a:solidFill>
          <a:ln w="12700">
            <a:solidFill>
              <a:srgbClr val="F5C242"/>
            </a:solidFill>
            <a:prstDash val="solid"/>
          </a:ln>
        </p:spPr>
      </p:sp>
      <p:sp>
        <p:nvSpPr>
          <p:cNvPr id="26" name="Text 21"/>
          <p:cNvSpPr txBox="1"/>
          <p:nvPr/>
        </p:nvSpPr>
        <p:spPr>
          <a:xfrm>
            <a:off x="9829800" y="1572768"/>
            <a:ext cx="164592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Cropland maps</a:t>
            </a:r>
            <a:endParaRPr lang="en-US" sz="850" dirty="0"/>
          </a:p>
        </p:txBody>
      </p:sp>
      <p:sp>
        <p:nvSpPr>
          <p:cNvPr id="27" name="Text 22"/>
          <p:cNvSpPr txBox="1"/>
          <p:nvPr/>
        </p:nvSpPr>
        <p:spPr>
          <a:xfrm>
            <a:off x="6373368" y="2331720"/>
            <a:ext cx="5074920" cy="960120"/>
          </a:xfrm>
          <a:prstGeom prst="rect">
            <a:avLst/>
          </a:prstGeom>
          <a:noFill/>
          <a:ln/>
        </p:spPr>
        <p:txBody>
          <a:bodyPr wrap="square" lIns="0" tIns="0" rIns="0" bIns="0" rtlCol="0" anchor="t"/>
          <a:lstStyle/>
          <a:p>
            <a:pPr marL="0" indent="0">
              <a:buNone/>
            </a:pPr>
            <a:r>
              <a:rPr lang="en-US" sz="1350" dirty="0">
                <a:solidFill>
                  <a:srgbClr val="231F20"/>
                </a:solidFill>
                <a:latin typeface="Calibri" pitchFamily="34" charset="0"/>
                <a:ea typeface="Calibri" pitchFamily="34" charset="-122"/>
                <a:cs typeface="Calibri" pitchFamily="34" charset="-120"/>
              </a:rPr>
              <a:t>Explains weak lights–GDP links in agricultural regions; separates farm output from urban activity.</a:t>
            </a:r>
            <a:endParaRPr lang="en-US" sz="1350" dirty="0"/>
          </a:p>
        </p:txBody>
      </p:sp>
      <p:sp>
        <p:nvSpPr>
          <p:cNvPr id="28" name="Shape 23"/>
          <p:cNvSpPr/>
          <p:nvPr/>
        </p:nvSpPr>
        <p:spPr>
          <a:xfrm>
            <a:off x="548640" y="3566160"/>
            <a:ext cx="5468112" cy="2029968"/>
          </a:xfrm>
          <a:prstGeom prst="roundRect">
            <a:avLst>
              <a:gd name="adj" fmla="val 3604"/>
            </a:avLst>
          </a:prstGeom>
          <a:solidFill>
            <a:srgbClr val="F4F7F5"/>
          </a:solidFill>
          <a:ln w="9525">
            <a:solidFill>
              <a:srgbClr val="D5DED9"/>
            </a:solidFill>
            <a:prstDash val="solid"/>
          </a:ln>
        </p:spPr>
      </p:sp>
      <p:sp>
        <p:nvSpPr>
          <p:cNvPr id="29" name="Shape 24"/>
          <p:cNvSpPr/>
          <p:nvPr/>
        </p:nvSpPr>
        <p:spPr>
          <a:xfrm>
            <a:off x="749808" y="3767328"/>
            <a:ext cx="594360" cy="594360"/>
          </a:xfrm>
          <a:prstGeom prst="ellipse">
            <a:avLst/>
          </a:prstGeom>
          <a:solidFill>
            <a:srgbClr val="00704A"/>
          </a:solidFill>
          <a:ln w="12700">
            <a:solidFill>
              <a:srgbClr val="00704A"/>
            </a:solidFill>
            <a:prstDash val="solid"/>
          </a:ln>
        </p:spPr>
      </p:sp>
      <p:pic>
        <p:nvPicPr>
          <p:cNvPr id="30" name="Image 3" descr="preencoded.png"/>
          <p:cNvPicPr>
            <a:picLocks noChangeAspect="1"/>
          </p:cNvPicPr>
          <p:nvPr/>
        </p:nvPicPr>
        <p:blipFill>
          <a:blip r:embed="rId6"/>
          <a:stretch>
            <a:fillRect/>
          </a:stretch>
        </p:blipFill>
        <p:spPr>
          <a:xfrm>
            <a:off x="904342" y="3921862"/>
            <a:ext cx="285293" cy="285293"/>
          </a:xfrm>
          <a:prstGeom prst="rect">
            <a:avLst/>
          </a:prstGeom>
        </p:spPr>
      </p:pic>
      <p:sp>
        <p:nvSpPr>
          <p:cNvPr id="31" name="Text 25"/>
          <p:cNvSpPr txBox="1"/>
          <p:nvPr/>
        </p:nvSpPr>
        <p:spPr>
          <a:xfrm>
            <a:off x="1508760" y="3730752"/>
            <a:ext cx="27432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Lights × population</a:t>
            </a:r>
            <a:endParaRPr lang="en-US" sz="1500" dirty="0"/>
          </a:p>
        </p:txBody>
      </p:sp>
      <p:sp>
        <p:nvSpPr>
          <p:cNvPr id="32" name="Text 26"/>
          <p:cNvSpPr txBox="1"/>
          <p:nvPr/>
        </p:nvSpPr>
        <p:spPr>
          <a:xfrm>
            <a:off x="1508760" y="4069080"/>
            <a:ext cx="4297680" cy="3200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Census-based grids; WorldPop with care</a:t>
            </a:r>
            <a:endParaRPr lang="en-US" sz="1050" dirty="0"/>
          </a:p>
        </p:txBody>
      </p:sp>
      <p:sp>
        <p:nvSpPr>
          <p:cNvPr id="33" name="Shape 27"/>
          <p:cNvSpPr/>
          <p:nvPr/>
        </p:nvSpPr>
        <p:spPr>
          <a:xfrm>
            <a:off x="4206240" y="3767328"/>
            <a:ext cx="1645920" cy="256032"/>
          </a:xfrm>
          <a:prstGeom prst="roundRect">
            <a:avLst>
              <a:gd name="adj" fmla="val 50000"/>
            </a:avLst>
          </a:prstGeom>
          <a:solidFill>
            <a:srgbClr val="F5C242"/>
          </a:solidFill>
          <a:ln w="12700">
            <a:solidFill>
              <a:srgbClr val="F5C242"/>
            </a:solidFill>
            <a:prstDash val="solid"/>
          </a:ln>
        </p:spPr>
      </p:sp>
      <p:sp>
        <p:nvSpPr>
          <p:cNvPr id="34" name="Text 28"/>
          <p:cNvSpPr txBox="1"/>
          <p:nvPr/>
        </p:nvSpPr>
        <p:spPr>
          <a:xfrm>
            <a:off x="4206240" y="3767328"/>
            <a:ext cx="164592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Validation slide</a:t>
            </a:r>
            <a:endParaRPr lang="en-US" sz="850" dirty="0"/>
          </a:p>
        </p:txBody>
      </p:sp>
      <p:sp>
        <p:nvSpPr>
          <p:cNvPr id="35" name="Text 29"/>
          <p:cNvSpPr txBox="1"/>
          <p:nvPr/>
        </p:nvSpPr>
        <p:spPr>
          <a:xfrm>
            <a:off x="749808" y="4526280"/>
            <a:ext cx="5074920" cy="960120"/>
          </a:xfrm>
          <a:prstGeom prst="rect">
            <a:avLst/>
          </a:prstGeom>
          <a:noFill/>
          <a:ln/>
        </p:spPr>
        <p:txBody>
          <a:bodyPr wrap="square" lIns="0" tIns="0" rIns="0" bIns="0" rtlCol="0" anchor="t"/>
          <a:lstStyle/>
          <a:p>
            <a:pPr marL="0" indent="0">
              <a:buNone/>
            </a:pPr>
            <a:r>
              <a:rPr lang="en-US" sz="1350" dirty="0">
                <a:solidFill>
                  <a:srgbClr val="231F20"/>
                </a:solidFill>
                <a:latin typeface="Calibri" pitchFamily="34" charset="0"/>
                <a:ea typeface="Calibri" pitchFamily="34" charset="-122"/>
                <a:cs typeface="Calibri" pitchFamily="34" charset="-120"/>
              </a:rPr>
              <a:t>Light per capita and unlit population. Beware circularity: WorldPop uses NTL as a covariate.</a:t>
            </a:r>
            <a:endParaRPr lang="en-US" sz="1350" dirty="0"/>
          </a:p>
        </p:txBody>
      </p:sp>
      <p:sp>
        <p:nvSpPr>
          <p:cNvPr id="36" name="Shape 30"/>
          <p:cNvSpPr/>
          <p:nvPr/>
        </p:nvSpPr>
        <p:spPr>
          <a:xfrm>
            <a:off x="6172200" y="3566160"/>
            <a:ext cx="5468112" cy="2029968"/>
          </a:xfrm>
          <a:prstGeom prst="roundRect">
            <a:avLst>
              <a:gd name="adj" fmla="val 3604"/>
            </a:avLst>
          </a:prstGeom>
          <a:solidFill>
            <a:srgbClr val="F4F7F5"/>
          </a:solidFill>
          <a:ln w="9525">
            <a:solidFill>
              <a:srgbClr val="D5DED9"/>
            </a:solidFill>
            <a:prstDash val="solid"/>
          </a:ln>
        </p:spPr>
      </p:sp>
      <p:sp>
        <p:nvSpPr>
          <p:cNvPr id="37" name="Shape 31"/>
          <p:cNvSpPr/>
          <p:nvPr/>
        </p:nvSpPr>
        <p:spPr>
          <a:xfrm>
            <a:off x="6373368" y="3767328"/>
            <a:ext cx="594360" cy="594360"/>
          </a:xfrm>
          <a:prstGeom prst="ellipse">
            <a:avLst/>
          </a:prstGeom>
          <a:solidFill>
            <a:srgbClr val="00704A"/>
          </a:solidFill>
          <a:ln w="12700">
            <a:solidFill>
              <a:srgbClr val="00704A"/>
            </a:solidFill>
            <a:prstDash val="solid"/>
          </a:ln>
        </p:spPr>
      </p:sp>
      <p:pic>
        <p:nvPicPr>
          <p:cNvPr id="38" name="Image 4" descr="preencoded.png"/>
          <p:cNvPicPr>
            <a:picLocks noChangeAspect="1"/>
          </p:cNvPicPr>
          <p:nvPr/>
        </p:nvPicPr>
        <p:blipFill>
          <a:blip r:embed="rId7"/>
          <a:stretch>
            <a:fillRect/>
          </a:stretch>
        </p:blipFill>
        <p:spPr>
          <a:xfrm>
            <a:off x="6527902" y="3921862"/>
            <a:ext cx="285293" cy="285293"/>
          </a:xfrm>
          <a:prstGeom prst="rect">
            <a:avLst/>
          </a:prstGeom>
        </p:spPr>
      </p:pic>
      <p:sp>
        <p:nvSpPr>
          <p:cNvPr id="39" name="Text 32"/>
          <p:cNvSpPr txBox="1"/>
          <p:nvPr/>
        </p:nvSpPr>
        <p:spPr>
          <a:xfrm>
            <a:off x="7132320" y="3730752"/>
            <a:ext cx="27432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Lights × networks</a:t>
            </a:r>
            <a:endParaRPr lang="en-US" sz="1500" dirty="0"/>
          </a:p>
        </p:txBody>
      </p:sp>
      <p:sp>
        <p:nvSpPr>
          <p:cNvPr id="40" name="Text 33"/>
          <p:cNvSpPr txBox="1"/>
          <p:nvPr/>
        </p:nvSpPr>
        <p:spPr>
          <a:xfrm>
            <a:off x="7132320" y="4069080"/>
            <a:ext cx="4297680" cy="3200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Roads, ports, grid lines, mines</a:t>
            </a:r>
            <a:endParaRPr lang="en-US" sz="1050" dirty="0"/>
          </a:p>
        </p:txBody>
      </p:sp>
      <p:sp>
        <p:nvSpPr>
          <p:cNvPr id="41" name="Shape 34"/>
          <p:cNvSpPr/>
          <p:nvPr/>
        </p:nvSpPr>
        <p:spPr>
          <a:xfrm>
            <a:off x="9829800" y="3767328"/>
            <a:ext cx="1645920" cy="256032"/>
          </a:xfrm>
          <a:prstGeom prst="roundRect">
            <a:avLst>
              <a:gd name="adj" fmla="val 50000"/>
            </a:avLst>
          </a:prstGeom>
          <a:solidFill>
            <a:srgbClr val="F5C242"/>
          </a:solidFill>
          <a:ln w="12700">
            <a:solidFill>
              <a:srgbClr val="F5C242"/>
            </a:solidFill>
            <a:prstDash val="solid"/>
          </a:ln>
        </p:spPr>
      </p:sp>
      <p:sp>
        <p:nvSpPr>
          <p:cNvPr id="42" name="Text 35"/>
          <p:cNvSpPr txBox="1"/>
          <p:nvPr/>
        </p:nvSpPr>
        <p:spPr>
          <a:xfrm>
            <a:off x="9829800" y="3767328"/>
            <a:ext cx="164592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Trade &amp; ports</a:t>
            </a:r>
            <a:endParaRPr lang="en-US" sz="850" dirty="0"/>
          </a:p>
        </p:txBody>
      </p:sp>
      <p:sp>
        <p:nvSpPr>
          <p:cNvPr id="43" name="Text 36"/>
          <p:cNvSpPr txBox="1"/>
          <p:nvPr/>
        </p:nvSpPr>
        <p:spPr>
          <a:xfrm>
            <a:off x="6373368" y="4526280"/>
            <a:ext cx="5074920" cy="960120"/>
          </a:xfrm>
          <a:prstGeom prst="rect">
            <a:avLst/>
          </a:prstGeom>
          <a:noFill/>
          <a:ln/>
        </p:spPr>
        <p:txBody>
          <a:bodyPr wrap="square" lIns="0" tIns="0" rIns="0" bIns="0" rtlCol="0" anchor="t"/>
          <a:lstStyle/>
          <a:p>
            <a:pPr marL="0" indent="0">
              <a:buNone/>
            </a:pPr>
            <a:r>
              <a:rPr lang="en-US" sz="1350" dirty="0">
                <a:solidFill>
                  <a:srgbClr val="231F20"/>
                </a:solidFill>
                <a:latin typeface="Calibri" pitchFamily="34" charset="0"/>
                <a:ea typeface="Calibri" pitchFamily="34" charset="-122"/>
                <a:cs typeface="Calibri" pitchFamily="34" charset="-120"/>
              </a:rPr>
              <a:t>Distinguishes corridors and enclaves from settlements; supports trade and infrastructure analysis.</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APPLICATION 04</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When the lights go out: conflict and disaster</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48</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Sources: Payne Institute / EOG (Sept 2024); UNOSAT (June 2023); Li &amp; Li (2014) IJRS 35(18); Román et al. (2019) PLOS ONE 14(6).</a:t>
            </a:r>
            <a:endParaRPr lang="en-US" sz="850" dirty="0"/>
          </a:p>
        </p:txBody>
      </p:sp>
      <p:sp>
        <p:nvSpPr>
          <p:cNvPr id="13" name="Shape 10"/>
          <p:cNvSpPr/>
          <p:nvPr/>
        </p:nvSpPr>
        <p:spPr>
          <a:xfrm>
            <a:off x="548640" y="1371600"/>
            <a:ext cx="3593592" cy="2423160"/>
          </a:xfrm>
          <a:prstGeom prst="roundRect">
            <a:avLst>
              <a:gd name="adj" fmla="val 3019"/>
            </a:avLst>
          </a:prstGeom>
          <a:solidFill>
            <a:srgbClr val="FBE9E7"/>
          </a:solidFill>
          <a:ln w="9525">
            <a:solidFill>
              <a:srgbClr val="F0C6C2"/>
            </a:solidFill>
            <a:prstDash val="solid"/>
          </a:ln>
        </p:spPr>
      </p:sp>
      <p:sp>
        <p:nvSpPr>
          <p:cNvPr id="14" name="Shape 11"/>
          <p:cNvSpPr/>
          <p:nvPr/>
        </p:nvSpPr>
        <p:spPr>
          <a:xfrm>
            <a:off x="749808" y="1554480"/>
            <a:ext cx="548640" cy="548640"/>
          </a:xfrm>
          <a:prstGeom prst="ellipse">
            <a:avLst/>
          </a:prstGeom>
          <a:solidFill>
            <a:srgbClr val="FFFFFF"/>
          </a:solidFill>
          <a:ln w="12700">
            <a:solidFill>
              <a:srgbClr val="FFFFFF"/>
            </a:solidFill>
            <a:prstDash val="solid"/>
          </a:ln>
        </p:spPr>
      </p:sp>
      <p:pic>
        <p:nvPicPr>
          <p:cNvPr id="15" name="Image 1" descr="preencoded.png"/>
          <p:cNvPicPr>
            <a:picLocks noChangeAspect="1"/>
          </p:cNvPicPr>
          <p:nvPr/>
        </p:nvPicPr>
        <p:blipFill>
          <a:blip r:embed="rId4"/>
          <a:stretch>
            <a:fillRect/>
          </a:stretch>
        </p:blipFill>
        <p:spPr>
          <a:xfrm>
            <a:off x="892454" y="1697126"/>
            <a:ext cx="263347" cy="263347"/>
          </a:xfrm>
          <a:prstGeom prst="rect">
            <a:avLst/>
          </a:prstGeom>
        </p:spPr>
      </p:pic>
      <p:sp>
        <p:nvSpPr>
          <p:cNvPr id="16" name="Text 12"/>
          <p:cNvSpPr txBox="1"/>
          <p:nvPr/>
        </p:nvSpPr>
        <p:spPr>
          <a:xfrm>
            <a:off x="1417320" y="1554480"/>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Conflict · Sudan, 2023</a:t>
            </a:r>
            <a:endParaRPr lang="en-US" sz="1350" dirty="0"/>
          </a:p>
        </p:txBody>
      </p:sp>
      <p:sp>
        <p:nvSpPr>
          <p:cNvPr id="17" name="Text 13"/>
          <p:cNvSpPr txBox="1"/>
          <p:nvPr/>
        </p:nvSpPr>
        <p:spPr>
          <a:xfrm>
            <a:off x="749808" y="2240280"/>
            <a:ext cx="3200400" cy="14630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After fighting began in Khartoum in April 2023, the capital’s lights fell to the noise level by May (EOG). UNOSAT mapped power outages from NTL in June 2023.</a:t>
            </a:r>
            <a:endParaRPr lang="en-US" sz="1250" dirty="0"/>
          </a:p>
        </p:txBody>
      </p:sp>
      <p:sp>
        <p:nvSpPr>
          <p:cNvPr id="18" name="Shape 14"/>
          <p:cNvSpPr/>
          <p:nvPr/>
        </p:nvSpPr>
        <p:spPr>
          <a:xfrm>
            <a:off x="4297680" y="1371600"/>
            <a:ext cx="3593592" cy="2423160"/>
          </a:xfrm>
          <a:prstGeom prst="roundRect">
            <a:avLst>
              <a:gd name="adj" fmla="val 3019"/>
            </a:avLst>
          </a:prstGeom>
          <a:solidFill>
            <a:srgbClr val="FBE9E7"/>
          </a:solidFill>
          <a:ln w="9525">
            <a:solidFill>
              <a:srgbClr val="F0C6C2"/>
            </a:solidFill>
            <a:prstDash val="solid"/>
          </a:ln>
        </p:spPr>
      </p:sp>
      <p:sp>
        <p:nvSpPr>
          <p:cNvPr id="19" name="Shape 15"/>
          <p:cNvSpPr/>
          <p:nvPr/>
        </p:nvSpPr>
        <p:spPr>
          <a:xfrm>
            <a:off x="4498848" y="1554480"/>
            <a:ext cx="548640" cy="548640"/>
          </a:xfrm>
          <a:prstGeom prst="ellipse">
            <a:avLst/>
          </a:prstGeom>
          <a:solidFill>
            <a:srgbClr val="FFFFFF"/>
          </a:solidFill>
          <a:ln w="12700">
            <a:solidFill>
              <a:srgbClr val="FFFFFF"/>
            </a:solidFill>
            <a:prstDash val="solid"/>
          </a:ln>
        </p:spPr>
      </p:sp>
      <p:pic>
        <p:nvPicPr>
          <p:cNvPr id="20" name="Image 2" descr="preencoded.png"/>
          <p:cNvPicPr>
            <a:picLocks noChangeAspect="1"/>
          </p:cNvPicPr>
          <p:nvPr/>
        </p:nvPicPr>
        <p:blipFill>
          <a:blip r:embed="rId5"/>
          <a:stretch>
            <a:fillRect/>
          </a:stretch>
        </p:blipFill>
        <p:spPr>
          <a:xfrm>
            <a:off x="4641494" y="1697126"/>
            <a:ext cx="263347" cy="263347"/>
          </a:xfrm>
          <a:prstGeom prst="rect">
            <a:avLst/>
          </a:prstGeom>
        </p:spPr>
      </p:pic>
      <p:sp>
        <p:nvSpPr>
          <p:cNvPr id="21" name="Text 16"/>
          <p:cNvSpPr txBox="1"/>
          <p:nvPr/>
        </p:nvSpPr>
        <p:spPr>
          <a:xfrm>
            <a:off x="5166360" y="1554480"/>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Conflict · Syria, 2011–2014</a:t>
            </a:r>
            <a:endParaRPr lang="en-US" sz="1350" dirty="0"/>
          </a:p>
        </p:txBody>
      </p:sp>
      <p:sp>
        <p:nvSpPr>
          <p:cNvPr id="22" name="Text 17"/>
          <p:cNvSpPr txBox="1"/>
          <p:nvPr/>
        </p:nvSpPr>
        <p:spPr>
          <a:xfrm>
            <a:off x="4498848" y="2240280"/>
            <a:ext cx="3200400" cy="14630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Li &amp; Li (2014) measured a loss of more than 70% of night-time light nationally, with losses tracking displacement province by province.</a:t>
            </a:r>
            <a:endParaRPr lang="en-US" sz="1250" dirty="0"/>
          </a:p>
        </p:txBody>
      </p:sp>
      <p:sp>
        <p:nvSpPr>
          <p:cNvPr id="23" name="Shape 18"/>
          <p:cNvSpPr/>
          <p:nvPr/>
        </p:nvSpPr>
        <p:spPr>
          <a:xfrm>
            <a:off x="8046720" y="1371600"/>
            <a:ext cx="3593592" cy="2423160"/>
          </a:xfrm>
          <a:prstGeom prst="roundRect">
            <a:avLst>
              <a:gd name="adj" fmla="val 3019"/>
            </a:avLst>
          </a:prstGeom>
          <a:solidFill>
            <a:srgbClr val="FBE9E7"/>
          </a:solidFill>
          <a:ln w="9525">
            <a:solidFill>
              <a:srgbClr val="F0C6C2"/>
            </a:solidFill>
            <a:prstDash val="solid"/>
          </a:ln>
        </p:spPr>
      </p:sp>
      <p:sp>
        <p:nvSpPr>
          <p:cNvPr id="24" name="Shape 19"/>
          <p:cNvSpPr/>
          <p:nvPr/>
        </p:nvSpPr>
        <p:spPr>
          <a:xfrm>
            <a:off x="8247888" y="1554480"/>
            <a:ext cx="548640" cy="548640"/>
          </a:xfrm>
          <a:prstGeom prst="ellipse">
            <a:avLst/>
          </a:prstGeom>
          <a:solidFill>
            <a:srgbClr val="FFFFFF"/>
          </a:solidFill>
          <a:ln w="12700">
            <a:solidFill>
              <a:srgbClr val="FFFFFF"/>
            </a:solidFill>
            <a:prstDash val="solid"/>
          </a:ln>
        </p:spPr>
      </p:sp>
      <p:pic>
        <p:nvPicPr>
          <p:cNvPr id="25" name="Image 3" descr="preencoded.png"/>
          <p:cNvPicPr>
            <a:picLocks noChangeAspect="1"/>
          </p:cNvPicPr>
          <p:nvPr/>
        </p:nvPicPr>
        <p:blipFill>
          <a:blip r:embed="rId6"/>
          <a:stretch>
            <a:fillRect/>
          </a:stretch>
        </p:blipFill>
        <p:spPr>
          <a:xfrm>
            <a:off x="8390534" y="1697126"/>
            <a:ext cx="263347" cy="263347"/>
          </a:xfrm>
          <a:prstGeom prst="rect">
            <a:avLst/>
          </a:prstGeom>
        </p:spPr>
      </p:pic>
      <p:sp>
        <p:nvSpPr>
          <p:cNvPr id="26" name="Text 20"/>
          <p:cNvSpPr txBox="1"/>
          <p:nvPr/>
        </p:nvSpPr>
        <p:spPr>
          <a:xfrm>
            <a:off x="8915400" y="1554480"/>
            <a:ext cx="2606040" cy="548640"/>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Disaster · Puerto Rico, 2017</a:t>
            </a:r>
            <a:endParaRPr lang="en-US" sz="1350" dirty="0"/>
          </a:p>
        </p:txBody>
      </p:sp>
      <p:sp>
        <p:nvSpPr>
          <p:cNvPr id="27" name="Text 21"/>
          <p:cNvSpPr txBox="1"/>
          <p:nvPr/>
        </p:nvSpPr>
        <p:spPr>
          <a:xfrm>
            <a:off x="8247888" y="2240280"/>
            <a:ext cx="3200400" cy="1463040"/>
          </a:xfrm>
          <a:prstGeom prst="rect">
            <a:avLst/>
          </a:prstGeom>
          <a:noFill/>
          <a:ln/>
        </p:spPr>
        <p:txBody>
          <a:bodyPr wrap="square" lIns="0" tIns="0" rIns="0" bIns="0" rtlCol="0" anchor="t"/>
          <a:lstStyle/>
          <a:p>
            <a:pPr marL="0" indent="0">
              <a:buNone/>
            </a:pPr>
            <a:r>
              <a:rPr lang="en-US" sz="1250" dirty="0">
                <a:solidFill>
                  <a:srgbClr val="231F20"/>
                </a:solidFill>
                <a:latin typeface="Calibri" pitchFamily="34" charset="0"/>
                <a:ea typeface="Calibri" pitchFamily="34" charset="-122"/>
                <a:cs typeface="Calibri" pitchFamily="34" charset="-120"/>
              </a:rPr>
              <a:t>After Hurricane Maria, NASA Black Marble daily data mapped the blackout and tracked restoration neighbourhood by neighbourhood.</a:t>
            </a:r>
            <a:endParaRPr lang="en-US" sz="1250" dirty="0"/>
          </a:p>
        </p:txBody>
      </p:sp>
      <p:sp>
        <p:nvSpPr>
          <p:cNvPr id="28" name="Shape 22"/>
          <p:cNvSpPr/>
          <p:nvPr/>
        </p:nvSpPr>
        <p:spPr>
          <a:xfrm>
            <a:off x="548640" y="4069080"/>
            <a:ext cx="11094415" cy="1691640"/>
          </a:xfrm>
          <a:prstGeom prst="roundRect">
            <a:avLst>
              <a:gd name="adj" fmla="val 4324"/>
            </a:avLst>
          </a:prstGeom>
          <a:solidFill>
            <a:srgbClr val="00553A"/>
          </a:solidFill>
          <a:ln w="9525">
            <a:solidFill>
              <a:srgbClr val="00553A"/>
            </a:solidFill>
            <a:prstDash val="solid"/>
          </a:ln>
        </p:spPr>
      </p:sp>
      <p:pic>
        <p:nvPicPr>
          <p:cNvPr id="29" name="Image 4" descr="preencoded.png"/>
          <p:cNvPicPr>
            <a:picLocks noChangeAspect="1"/>
          </p:cNvPicPr>
          <p:nvPr/>
        </p:nvPicPr>
        <p:blipFill>
          <a:blip r:embed="rId7"/>
          <a:stretch>
            <a:fillRect/>
          </a:stretch>
        </p:blipFill>
        <p:spPr>
          <a:xfrm>
            <a:off x="822960" y="4297680"/>
            <a:ext cx="457200" cy="457200"/>
          </a:xfrm>
          <a:prstGeom prst="rect">
            <a:avLst/>
          </a:prstGeom>
        </p:spPr>
      </p:pic>
      <p:sp>
        <p:nvSpPr>
          <p:cNvPr id="30" name="Text 23"/>
          <p:cNvSpPr txBox="1"/>
          <p:nvPr/>
        </p:nvSpPr>
        <p:spPr>
          <a:xfrm>
            <a:off x="1463040" y="4206240"/>
            <a:ext cx="10058400" cy="411480"/>
          </a:xfrm>
          <a:prstGeom prst="rect">
            <a:avLst/>
          </a:prstGeom>
          <a:noFill/>
          <a:ln/>
        </p:spPr>
        <p:txBody>
          <a:bodyPr wrap="square" lIns="0" tIns="0" rIns="0" bIns="0" rtlCol="0" anchor="t"/>
          <a:lstStyle/>
          <a:p>
            <a:pPr marL="0" indent="0">
              <a:buNone/>
            </a:pPr>
            <a:r>
              <a:rPr lang="en-US" sz="1600" b="1" dirty="0">
                <a:solidFill>
                  <a:srgbClr val="F5C242"/>
                </a:solidFill>
                <a:latin typeface="Calibri" pitchFamily="34" charset="0"/>
                <a:ea typeface="Calibri" pitchFamily="34" charset="-122"/>
                <a:cs typeface="Calibri" pitchFamily="34" charset="-120"/>
              </a:rPr>
              <a:t>The interpretive rule: absence of light is not absence of people</a:t>
            </a:r>
            <a:endParaRPr lang="en-US" sz="1600" dirty="0"/>
          </a:p>
        </p:txBody>
      </p:sp>
      <p:sp>
        <p:nvSpPr>
          <p:cNvPr id="31" name="Text 24"/>
          <p:cNvSpPr txBox="1"/>
          <p:nvPr/>
        </p:nvSpPr>
        <p:spPr>
          <a:xfrm>
            <a:off x="1463040" y="4663440"/>
            <a:ext cx="9966960" cy="1005840"/>
          </a:xfrm>
          <a:prstGeom prst="rect">
            <a:avLst/>
          </a:prstGeom>
          <a:noFill/>
          <a:ln/>
        </p:spPr>
        <p:txBody>
          <a:bodyPr wrap="square" lIns="0" tIns="0" rIns="0" bIns="0" rtlCol="0" anchor="t"/>
          <a:lstStyle/>
          <a:p>
            <a:pPr marL="0" indent="0">
              <a:buNone/>
            </a:pPr>
            <a:r>
              <a:rPr lang="en-US" sz="1250" dirty="0">
                <a:solidFill>
                  <a:srgbClr val="D8EEE3"/>
                </a:solidFill>
                <a:latin typeface="Calibri" pitchFamily="34" charset="0"/>
                <a:ea typeface="Calibri" pitchFamily="34" charset="-122"/>
                <a:cs typeface="Calibri" pitchFamily="34" charset="-120"/>
              </a:rPr>
              <a:t>Darkness may mean displacement, destruction, fuel shortage, curfew, a grid failure — or a decision to switch off street lights. The satellite cannot tell which. Corroboration with ground information is not optional, and uncertainty must be stated.</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APPLICATION 05</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Activity mapping: shocks, events and calendars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49</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Beyer, Franco-Bedoya &amp; Galdo (2021) World Development 140; Román &amp; Stokes (2015) Earth’s Future 3(6).</a:t>
            </a:r>
            <a:endParaRPr lang="en-US" sz="850" dirty="0"/>
          </a:p>
        </p:txBody>
      </p:sp>
      <p:sp>
        <p:nvSpPr>
          <p:cNvPr id="13" name="Shape 10"/>
          <p:cNvSpPr/>
          <p:nvPr/>
        </p:nvSpPr>
        <p:spPr>
          <a:xfrm>
            <a:off x="548640" y="1371600"/>
            <a:ext cx="6309360" cy="960120"/>
          </a:xfrm>
          <a:prstGeom prst="roundRect">
            <a:avLst>
              <a:gd name="adj" fmla="val 7619"/>
            </a:avLst>
          </a:prstGeom>
          <a:solidFill>
            <a:srgbClr val="F4F7F5"/>
          </a:solidFill>
          <a:ln w="9525">
            <a:solidFill>
              <a:srgbClr val="D5DED9"/>
            </a:solidFill>
            <a:prstDash val="solid"/>
          </a:ln>
        </p:spPr>
      </p:sp>
      <p:sp>
        <p:nvSpPr>
          <p:cNvPr id="14" name="Shape 11"/>
          <p:cNvSpPr/>
          <p:nvPr/>
        </p:nvSpPr>
        <p:spPr>
          <a:xfrm>
            <a:off x="731520" y="1554480"/>
            <a:ext cx="566928" cy="566928"/>
          </a:xfrm>
          <a:prstGeom prst="ellipse">
            <a:avLst/>
          </a:prstGeom>
          <a:solidFill>
            <a:srgbClr val="00704A"/>
          </a:solidFill>
          <a:ln w="12700">
            <a:solidFill>
              <a:srgbClr val="00704A"/>
            </a:solidFill>
            <a:prstDash val="solid"/>
          </a:ln>
        </p:spPr>
      </p:sp>
      <p:pic>
        <p:nvPicPr>
          <p:cNvPr id="15" name="Image 1" descr="preencoded.png"/>
          <p:cNvPicPr>
            <a:picLocks noChangeAspect="1"/>
          </p:cNvPicPr>
          <p:nvPr/>
        </p:nvPicPr>
        <p:blipFill>
          <a:blip r:embed="rId4"/>
          <a:stretch>
            <a:fillRect/>
          </a:stretch>
        </p:blipFill>
        <p:spPr>
          <a:xfrm>
            <a:off x="878921" y="1701881"/>
            <a:ext cx="272125" cy="272125"/>
          </a:xfrm>
          <a:prstGeom prst="rect">
            <a:avLst/>
          </a:prstGeom>
        </p:spPr>
      </p:pic>
      <p:sp>
        <p:nvSpPr>
          <p:cNvPr id="16" name="Text 12"/>
          <p:cNvSpPr txBox="1"/>
          <p:nvPr/>
        </p:nvSpPr>
        <p:spPr>
          <a:xfrm>
            <a:off x="1463040" y="1444752"/>
            <a:ext cx="521208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Lockdowns</a:t>
            </a:r>
            <a:endParaRPr lang="en-US" sz="1350" dirty="0"/>
          </a:p>
        </p:txBody>
      </p:sp>
      <p:sp>
        <p:nvSpPr>
          <p:cNvPr id="17" name="Text 13"/>
          <p:cNvSpPr txBox="1"/>
          <p:nvPr/>
        </p:nvSpPr>
        <p:spPr>
          <a:xfrm>
            <a:off x="1463040" y="1755648"/>
            <a:ext cx="525780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Daily lights and electricity use tracked the depth and timing of the 2020 COVID-19 shock at district level in India.</a:t>
            </a:r>
            <a:endParaRPr lang="en-US" sz="1150" dirty="0"/>
          </a:p>
        </p:txBody>
      </p:sp>
      <p:sp>
        <p:nvSpPr>
          <p:cNvPr id="18" name="Shape 14"/>
          <p:cNvSpPr/>
          <p:nvPr/>
        </p:nvSpPr>
        <p:spPr>
          <a:xfrm>
            <a:off x="548640" y="2450592"/>
            <a:ext cx="6309360" cy="960120"/>
          </a:xfrm>
          <a:prstGeom prst="roundRect">
            <a:avLst>
              <a:gd name="adj" fmla="val 7619"/>
            </a:avLst>
          </a:prstGeom>
          <a:solidFill>
            <a:srgbClr val="F4F7F5"/>
          </a:solidFill>
          <a:ln w="9525">
            <a:solidFill>
              <a:srgbClr val="D5DED9"/>
            </a:solidFill>
            <a:prstDash val="solid"/>
          </a:ln>
        </p:spPr>
      </p:sp>
      <p:sp>
        <p:nvSpPr>
          <p:cNvPr id="19" name="Shape 15"/>
          <p:cNvSpPr/>
          <p:nvPr/>
        </p:nvSpPr>
        <p:spPr>
          <a:xfrm>
            <a:off x="731520" y="2633472"/>
            <a:ext cx="566928" cy="566928"/>
          </a:xfrm>
          <a:prstGeom prst="ellipse">
            <a:avLst/>
          </a:prstGeom>
          <a:solidFill>
            <a:srgbClr val="00704A"/>
          </a:solidFill>
          <a:ln w="12700">
            <a:solidFill>
              <a:srgbClr val="00704A"/>
            </a:solidFill>
            <a:prstDash val="solid"/>
          </a:ln>
        </p:spPr>
      </p:sp>
      <p:pic>
        <p:nvPicPr>
          <p:cNvPr id="20" name="Image 2" descr="preencoded.png"/>
          <p:cNvPicPr>
            <a:picLocks noChangeAspect="1"/>
          </p:cNvPicPr>
          <p:nvPr/>
        </p:nvPicPr>
        <p:blipFill>
          <a:blip r:embed="rId5"/>
          <a:stretch>
            <a:fillRect/>
          </a:stretch>
        </p:blipFill>
        <p:spPr>
          <a:xfrm>
            <a:off x="878921" y="2780873"/>
            <a:ext cx="272125" cy="272125"/>
          </a:xfrm>
          <a:prstGeom prst="rect">
            <a:avLst/>
          </a:prstGeom>
        </p:spPr>
      </p:pic>
      <p:sp>
        <p:nvSpPr>
          <p:cNvPr id="21" name="Text 16"/>
          <p:cNvSpPr txBox="1"/>
          <p:nvPr/>
        </p:nvSpPr>
        <p:spPr>
          <a:xfrm>
            <a:off x="1463040" y="2523744"/>
            <a:ext cx="521208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Festivals &amp; holidays</a:t>
            </a:r>
            <a:endParaRPr lang="en-US" sz="1350" dirty="0"/>
          </a:p>
        </p:txBody>
      </p:sp>
      <p:sp>
        <p:nvSpPr>
          <p:cNvPr id="22" name="Text 17"/>
          <p:cNvSpPr txBox="1"/>
          <p:nvPr/>
        </p:nvSpPr>
        <p:spPr>
          <a:xfrm>
            <a:off x="1463040" y="2834640"/>
            <a:ext cx="525780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Ramadan and end-of-year holidays measurably change night-time light — a calendar effect to model, or a signal to study.</a:t>
            </a:r>
            <a:endParaRPr lang="en-US" sz="1150" dirty="0"/>
          </a:p>
        </p:txBody>
      </p:sp>
      <p:sp>
        <p:nvSpPr>
          <p:cNvPr id="23" name="Shape 18"/>
          <p:cNvSpPr/>
          <p:nvPr/>
        </p:nvSpPr>
        <p:spPr>
          <a:xfrm>
            <a:off x="548640" y="3529584"/>
            <a:ext cx="630936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731520" y="3712464"/>
            <a:ext cx="566928" cy="566928"/>
          </a:xfrm>
          <a:prstGeom prst="ellipse">
            <a:avLst/>
          </a:prstGeom>
          <a:solidFill>
            <a:srgbClr val="00704A"/>
          </a:solidFill>
          <a:ln w="12700">
            <a:solidFill>
              <a:srgbClr val="00704A"/>
            </a:solidFill>
            <a:prstDash val="solid"/>
          </a:ln>
        </p:spPr>
      </p:sp>
      <p:pic>
        <p:nvPicPr>
          <p:cNvPr id="25" name="Image 3" descr="preencoded.png"/>
          <p:cNvPicPr>
            <a:picLocks noChangeAspect="1"/>
          </p:cNvPicPr>
          <p:nvPr/>
        </p:nvPicPr>
        <p:blipFill>
          <a:blip r:embed="rId6"/>
          <a:stretch>
            <a:fillRect/>
          </a:stretch>
        </p:blipFill>
        <p:spPr>
          <a:xfrm>
            <a:off x="878921" y="3859865"/>
            <a:ext cx="272125" cy="272125"/>
          </a:xfrm>
          <a:prstGeom prst="rect">
            <a:avLst/>
          </a:prstGeom>
        </p:spPr>
      </p:pic>
      <p:sp>
        <p:nvSpPr>
          <p:cNvPr id="26" name="Text 20"/>
          <p:cNvSpPr txBox="1"/>
          <p:nvPr/>
        </p:nvSpPr>
        <p:spPr>
          <a:xfrm>
            <a:off x="1463040" y="3602736"/>
            <a:ext cx="521208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Grid events</a:t>
            </a:r>
            <a:endParaRPr lang="en-US" sz="1350" dirty="0"/>
          </a:p>
        </p:txBody>
      </p:sp>
      <p:sp>
        <p:nvSpPr>
          <p:cNvPr id="27" name="Text 21"/>
          <p:cNvSpPr txBox="1"/>
          <p:nvPr/>
        </p:nvSpPr>
        <p:spPr>
          <a:xfrm>
            <a:off x="1463040" y="3913632"/>
            <a:ext cx="525780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National blackouts and rationing episodes show up as abrupt, wide-area drops in daily data.</a:t>
            </a:r>
            <a:endParaRPr lang="en-US" sz="1150" dirty="0"/>
          </a:p>
        </p:txBody>
      </p:sp>
      <p:sp>
        <p:nvSpPr>
          <p:cNvPr id="28" name="Shape 22"/>
          <p:cNvSpPr/>
          <p:nvPr/>
        </p:nvSpPr>
        <p:spPr>
          <a:xfrm>
            <a:off x="548640" y="4608576"/>
            <a:ext cx="630936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731520" y="4791456"/>
            <a:ext cx="566928" cy="566928"/>
          </a:xfrm>
          <a:prstGeom prst="ellipse">
            <a:avLst/>
          </a:prstGeom>
          <a:solidFill>
            <a:srgbClr val="00704A"/>
          </a:solidFill>
          <a:ln w="12700">
            <a:solidFill>
              <a:srgbClr val="00704A"/>
            </a:solidFill>
            <a:prstDash val="solid"/>
          </a:ln>
        </p:spPr>
      </p:sp>
      <p:pic>
        <p:nvPicPr>
          <p:cNvPr id="30" name="Image 4" descr="preencoded.png"/>
          <p:cNvPicPr>
            <a:picLocks noChangeAspect="1"/>
          </p:cNvPicPr>
          <p:nvPr/>
        </p:nvPicPr>
        <p:blipFill>
          <a:blip r:embed="rId7"/>
          <a:stretch>
            <a:fillRect/>
          </a:stretch>
        </p:blipFill>
        <p:spPr>
          <a:xfrm>
            <a:off x="878921" y="4938857"/>
            <a:ext cx="272125" cy="272125"/>
          </a:xfrm>
          <a:prstGeom prst="rect">
            <a:avLst/>
          </a:prstGeom>
        </p:spPr>
      </p:pic>
      <p:sp>
        <p:nvSpPr>
          <p:cNvPr id="31" name="Text 24"/>
          <p:cNvSpPr txBox="1"/>
          <p:nvPr/>
        </p:nvSpPr>
        <p:spPr>
          <a:xfrm>
            <a:off x="1463040" y="4681728"/>
            <a:ext cx="5212080" cy="32004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Cyclones &amp; floods</a:t>
            </a:r>
            <a:endParaRPr lang="en-US" sz="1350" dirty="0"/>
          </a:p>
        </p:txBody>
      </p:sp>
      <p:sp>
        <p:nvSpPr>
          <p:cNvPr id="32" name="Text 25"/>
          <p:cNvSpPr txBox="1"/>
          <p:nvPr/>
        </p:nvSpPr>
        <p:spPr>
          <a:xfrm>
            <a:off x="1463040" y="4992624"/>
            <a:ext cx="5257800" cy="5486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Outage extent and restoration speed after storms — highly relevant for Indian Ocean economies.</a:t>
            </a:r>
            <a:endParaRPr lang="en-US" sz="1150" dirty="0"/>
          </a:p>
        </p:txBody>
      </p:sp>
      <p:sp>
        <p:nvSpPr>
          <p:cNvPr id="33" name="Shape 26"/>
          <p:cNvSpPr/>
          <p:nvPr/>
        </p:nvSpPr>
        <p:spPr>
          <a:xfrm>
            <a:off x="7132320" y="1371600"/>
            <a:ext cx="4507992" cy="4206240"/>
          </a:xfrm>
          <a:prstGeom prst="roundRect">
            <a:avLst>
              <a:gd name="adj" fmla="val 1739"/>
            </a:avLst>
          </a:prstGeom>
          <a:solidFill>
            <a:srgbClr val="E8F5EF"/>
          </a:solidFill>
          <a:ln w="9525">
            <a:solidFill>
              <a:srgbClr val="00A86A"/>
            </a:solidFill>
            <a:prstDash val="solid"/>
          </a:ln>
        </p:spPr>
      </p:sp>
      <p:sp>
        <p:nvSpPr>
          <p:cNvPr id="34" name="Text 27"/>
          <p:cNvSpPr txBox="1"/>
          <p:nvPr/>
        </p:nvSpPr>
        <p:spPr>
          <a:xfrm>
            <a:off x="7360920" y="1508760"/>
            <a:ext cx="41148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Event-study recipe</a:t>
            </a:r>
            <a:endParaRPr lang="en-US" sz="1500" dirty="0"/>
          </a:p>
        </p:txBody>
      </p:sp>
      <p:sp>
        <p:nvSpPr>
          <p:cNvPr id="35" name="Shape 28"/>
          <p:cNvSpPr/>
          <p:nvPr/>
        </p:nvSpPr>
        <p:spPr>
          <a:xfrm>
            <a:off x="7360920" y="2011680"/>
            <a:ext cx="365760" cy="365760"/>
          </a:xfrm>
          <a:prstGeom prst="ellipse">
            <a:avLst/>
          </a:prstGeom>
          <a:solidFill>
            <a:srgbClr val="00704A"/>
          </a:solidFill>
          <a:ln w="12700">
            <a:solidFill>
              <a:srgbClr val="00704A"/>
            </a:solidFill>
            <a:prstDash val="solid"/>
          </a:ln>
        </p:spPr>
      </p:sp>
      <p:sp>
        <p:nvSpPr>
          <p:cNvPr id="36" name="Text 29"/>
          <p:cNvSpPr txBox="1"/>
          <p:nvPr/>
        </p:nvSpPr>
        <p:spPr>
          <a:xfrm>
            <a:off x="7360920" y="2011680"/>
            <a:ext cx="365760" cy="365760"/>
          </a:xfrm>
          <a:prstGeom prst="rect">
            <a:avLst/>
          </a:prstGeom>
          <a:noFill/>
          <a:ln/>
        </p:spPr>
        <p:txBody>
          <a:bodyPr wrap="square" lIns="0" tIns="0" rIns="0" bIns="0" rtlCol="0" anchor="ctr"/>
          <a:lstStyle/>
          <a:p>
            <a:pPr marL="0" indent="0" algn="ctr">
              <a:buNone/>
            </a:pPr>
            <a:r>
              <a:rPr lang="en-US" sz="1040" b="1" dirty="0">
                <a:solidFill>
                  <a:srgbClr val="FFFFFF"/>
                </a:solidFill>
                <a:latin typeface="Calibri" pitchFamily="34" charset="0"/>
                <a:ea typeface="Calibri" pitchFamily="34" charset="-122"/>
                <a:cs typeface="Calibri" pitchFamily="34" charset="-120"/>
              </a:rPr>
              <a:t>1</a:t>
            </a:r>
            <a:endParaRPr lang="en-US" sz="1040" dirty="0"/>
          </a:p>
        </p:txBody>
      </p:sp>
      <p:sp>
        <p:nvSpPr>
          <p:cNvPr id="37" name="Text 30"/>
          <p:cNvSpPr txBox="1"/>
          <p:nvPr/>
        </p:nvSpPr>
        <p:spPr>
          <a:xfrm>
            <a:off x="7863840" y="1965960"/>
            <a:ext cx="3611880" cy="50292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Daily VNP46A2 for the affected area and a comparison area</a:t>
            </a:r>
            <a:endParaRPr lang="en-US" sz="1150" dirty="0"/>
          </a:p>
        </p:txBody>
      </p:sp>
      <p:sp>
        <p:nvSpPr>
          <p:cNvPr id="38" name="Shape 31"/>
          <p:cNvSpPr/>
          <p:nvPr/>
        </p:nvSpPr>
        <p:spPr>
          <a:xfrm>
            <a:off x="7360920" y="2697480"/>
            <a:ext cx="365760" cy="365760"/>
          </a:xfrm>
          <a:prstGeom prst="ellipse">
            <a:avLst/>
          </a:prstGeom>
          <a:solidFill>
            <a:srgbClr val="00704A"/>
          </a:solidFill>
          <a:ln w="12700">
            <a:solidFill>
              <a:srgbClr val="00704A"/>
            </a:solidFill>
            <a:prstDash val="solid"/>
          </a:ln>
        </p:spPr>
      </p:sp>
      <p:sp>
        <p:nvSpPr>
          <p:cNvPr id="39" name="Text 32"/>
          <p:cNvSpPr txBox="1"/>
          <p:nvPr/>
        </p:nvSpPr>
        <p:spPr>
          <a:xfrm>
            <a:off x="7360920" y="2697480"/>
            <a:ext cx="365760" cy="365760"/>
          </a:xfrm>
          <a:prstGeom prst="rect">
            <a:avLst/>
          </a:prstGeom>
          <a:noFill/>
          <a:ln/>
        </p:spPr>
        <p:txBody>
          <a:bodyPr wrap="square" lIns="0" tIns="0" rIns="0" bIns="0" rtlCol="0" anchor="ctr"/>
          <a:lstStyle/>
          <a:p>
            <a:pPr marL="0" indent="0" algn="ctr">
              <a:buNone/>
            </a:pPr>
            <a:r>
              <a:rPr lang="en-US" sz="1040" b="1" dirty="0">
                <a:solidFill>
                  <a:srgbClr val="FFFFFF"/>
                </a:solidFill>
                <a:latin typeface="Calibri" pitchFamily="34" charset="0"/>
                <a:ea typeface="Calibri" pitchFamily="34" charset="-122"/>
                <a:cs typeface="Calibri" pitchFamily="34" charset="-120"/>
              </a:rPr>
              <a:t>2</a:t>
            </a:r>
            <a:endParaRPr lang="en-US" sz="1040" dirty="0"/>
          </a:p>
        </p:txBody>
      </p:sp>
      <p:sp>
        <p:nvSpPr>
          <p:cNvPr id="40" name="Text 33"/>
          <p:cNvSpPr txBox="1"/>
          <p:nvPr/>
        </p:nvSpPr>
        <p:spPr>
          <a:xfrm>
            <a:off x="7863840" y="2651760"/>
            <a:ext cx="3611880" cy="50292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Same calendar window in the previous year as baseline</a:t>
            </a:r>
            <a:endParaRPr lang="en-US" sz="1150" dirty="0"/>
          </a:p>
        </p:txBody>
      </p:sp>
      <p:sp>
        <p:nvSpPr>
          <p:cNvPr id="41" name="Shape 34"/>
          <p:cNvSpPr/>
          <p:nvPr/>
        </p:nvSpPr>
        <p:spPr>
          <a:xfrm>
            <a:off x="7360920" y="3383280"/>
            <a:ext cx="365760" cy="365760"/>
          </a:xfrm>
          <a:prstGeom prst="ellipse">
            <a:avLst/>
          </a:prstGeom>
          <a:solidFill>
            <a:srgbClr val="00704A"/>
          </a:solidFill>
          <a:ln w="12700">
            <a:solidFill>
              <a:srgbClr val="00704A"/>
            </a:solidFill>
            <a:prstDash val="solid"/>
          </a:ln>
        </p:spPr>
      </p:sp>
      <p:sp>
        <p:nvSpPr>
          <p:cNvPr id="42" name="Text 35"/>
          <p:cNvSpPr txBox="1"/>
          <p:nvPr/>
        </p:nvSpPr>
        <p:spPr>
          <a:xfrm>
            <a:off x="7360920" y="3383280"/>
            <a:ext cx="365760" cy="365760"/>
          </a:xfrm>
          <a:prstGeom prst="rect">
            <a:avLst/>
          </a:prstGeom>
          <a:noFill/>
          <a:ln/>
        </p:spPr>
        <p:txBody>
          <a:bodyPr wrap="square" lIns="0" tIns="0" rIns="0" bIns="0" rtlCol="0" anchor="ctr"/>
          <a:lstStyle/>
          <a:p>
            <a:pPr marL="0" indent="0" algn="ctr">
              <a:buNone/>
            </a:pPr>
            <a:r>
              <a:rPr lang="en-US" sz="1040" b="1" dirty="0">
                <a:solidFill>
                  <a:srgbClr val="FFFFFF"/>
                </a:solidFill>
                <a:latin typeface="Calibri" pitchFamily="34" charset="0"/>
                <a:ea typeface="Calibri" pitchFamily="34" charset="-122"/>
                <a:cs typeface="Calibri" pitchFamily="34" charset="-120"/>
              </a:rPr>
              <a:t>3</a:t>
            </a:r>
            <a:endParaRPr lang="en-US" sz="1040" dirty="0"/>
          </a:p>
        </p:txBody>
      </p:sp>
      <p:sp>
        <p:nvSpPr>
          <p:cNvPr id="43" name="Text 36"/>
          <p:cNvSpPr txBox="1"/>
          <p:nvPr/>
        </p:nvSpPr>
        <p:spPr>
          <a:xfrm>
            <a:off x="7863840" y="3337560"/>
            <a:ext cx="3611880" cy="50292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7-day rolling mean to absorb view-angle noise</a:t>
            </a:r>
            <a:endParaRPr lang="en-US" sz="1150" dirty="0"/>
          </a:p>
        </p:txBody>
      </p:sp>
      <p:sp>
        <p:nvSpPr>
          <p:cNvPr id="44" name="Shape 37"/>
          <p:cNvSpPr/>
          <p:nvPr/>
        </p:nvSpPr>
        <p:spPr>
          <a:xfrm>
            <a:off x="7360920" y="4069080"/>
            <a:ext cx="365760" cy="365760"/>
          </a:xfrm>
          <a:prstGeom prst="ellipse">
            <a:avLst/>
          </a:prstGeom>
          <a:solidFill>
            <a:srgbClr val="00704A"/>
          </a:solidFill>
          <a:ln w="12700">
            <a:solidFill>
              <a:srgbClr val="00704A"/>
            </a:solidFill>
            <a:prstDash val="solid"/>
          </a:ln>
        </p:spPr>
      </p:sp>
      <p:sp>
        <p:nvSpPr>
          <p:cNvPr id="45" name="Text 38"/>
          <p:cNvSpPr txBox="1"/>
          <p:nvPr/>
        </p:nvSpPr>
        <p:spPr>
          <a:xfrm>
            <a:off x="7360920" y="4069080"/>
            <a:ext cx="365760" cy="365760"/>
          </a:xfrm>
          <a:prstGeom prst="rect">
            <a:avLst/>
          </a:prstGeom>
          <a:noFill/>
          <a:ln/>
        </p:spPr>
        <p:txBody>
          <a:bodyPr wrap="square" lIns="0" tIns="0" rIns="0" bIns="0" rtlCol="0" anchor="ctr"/>
          <a:lstStyle/>
          <a:p>
            <a:pPr marL="0" indent="0" algn="ctr">
              <a:buNone/>
            </a:pPr>
            <a:r>
              <a:rPr lang="en-US" sz="1040" b="1" dirty="0">
                <a:solidFill>
                  <a:srgbClr val="FFFFFF"/>
                </a:solidFill>
                <a:latin typeface="Calibri" pitchFamily="34" charset="0"/>
                <a:ea typeface="Calibri" pitchFamily="34" charset="-122"/>
                <a:cs typeface="Calibri" pitchFamily="34" charset="-120"/>
              </a:rPr>
              <a:t>4</a:t>
            </a:r>
            <a:endParaRPr lang="en-US" sz="1040" dirty="0"/>
          </a:p>
        </p:txBody>
      </p:sp>
      <p:sp>
        <p:nvSpPr>
          <p:cNvPr id="46" name="Text 39"/>
          <p:cNvSpPr txBox="1"/>
          <p:nvPr/>
        </p:nvSpPr>
        <p:spPr>
          <a:xfrm>
            <a:off x="7863840" y="4023360"/>
            <a:ext cx="3611880" cy="50292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Express as % deviation from baseline, with a band of normal variation</a:t>
            </a:r>
            <a:endParaRPr lang="en-US" sz="1150" dirty="0"/>
          </a:p>
        </p:txBody>
      </p:sp>
      <p:sp>
        <p:nvSpPr>
          <p:cNvPr id="47" name="Shape 40"/>
          <p:cNvSpPr/>
          <p:nvPr/>
        </p:nvSpPr>
        <p:spPr>
          <a:xfrm>
            <a:off x="7360920" y="4754880"/>
            <a:ext cx="365760" cy="365760"/>
          </a:xfrm>
          <a:prstGeom prst="ellipse">
            <a:avLst/>
          </a:prstGeom>
          <a:solidFill>
            <a:srgbClr val="00704A"/>
          </a:solidFill>
          <a:ln w="12700">
            <a:solidFill>
              <a:srgbClr val="00704A"/>
            </a:solidFill>
            <a:prstDash val="solid"/>
          </a:ln>
        </p:spPr>
      </p:sp>
      <p:sp>
        <p:nvSpPr>
          <p:cNvPr id="48" name="Text 41"/>
          <p:cNvSpPr txBox="1"/>
          <p:nvPr/>
        </p:nvSpPr>
        <p:spPr>
          <a:xfrm>
            <a:off x="7360920" y="4754880"/>
            <a:ext cx="365760" cy="365760"/>
          </a:xfrm>
          <a:prstGeom prst="rect">
            <a:avLst/>
          </a:prstGeom>
          <a:noFill/>
          <a:ln/>
        </p:spPr>
        <p:txBody>
          <a:bodyPr wrap="square" lIns="0" tIns="0" rIns="0" bIns="0" rtlCol="0" anchor="ctr"/>
          <a:lstStyle/>
          <a:p>
            <a:pPr marL="0" indent="0" algn="ctr">
              <a:buNone/>
            </a:pPr>
            <a:r>
              <a:rPr lang="en-US" sz="1040" b="1" dirty="0">
                <a:solidFill>
                  <a:srgbClr val="FFFFFF"/>
                </a:solidFill>
                <a:latin typeface="Calibri" pitchFamily="34" charset="0"/>
                <a:ea typeface="Calibri" pitchFamily="34" charset="-122"/>
                <a:cs typeface="Calibri" pitchFamily="34" charset="-120"/>
              </a:rPr>
              <a:t>5</a:t>
            </a:r>
            <a:endParaRPr lang="en-US" sz="1040" dirty="0"/>
          </a:p>
        </p:txBody>
      </p:sp>
      <p:sp>
        <p:nvSpPr>
          <p:cNvPr id="49" name="Text 42"/>
          <p:cNvSpPr txBox="1"/>
          <p:nvPr/>
        </p:nvSpPr>
        <p:spPr>
          <a:xfrm>
            <a:off x="7863840" y="4709160"/>
            <a:ext cx="3611880" cy="50292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Corroborate with utility, news or field reports</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04 · APPLICATIONS · SMALL ISLANDS &amp; COASTS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An island lens: small islands and coastal economies</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SESSION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50</a:t>
            </a:r>
            <a:endParaRPr lang="en-US" sz="900" dirty="0"/>
          </a:p>
        </p:txBody>
      </p:sp>
      <p:sp>
        <p:nvSpPr>
          <p:cNvPr id="12" name="Shape 9"/>
          <p:cNvSpPr/>
          <p:nvPr/>
        </p:nvSpPr>
        <p:spPr>
          <a:xfrm>
            <a:off x="548640" y="1371600"/>
            <a:ext cx="3593592" cy="1810512"/>
          </a:xfrm>
          <a:prstGeom prst="roundRect">
            <a:avLst>
              <a:gd name="adj" fmla="val 4040"/>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Few pixels</a:t>
            </a:r>
            <a:endParaRPr lang="en-US" sz="1400" dirty="0"/>
          </a:p>
        </p:txBody>
      </p:sp>
      <p:sp>
        <p:nvSpPr>
          <p:cNvPr id="16" name="Text 12"/>
          <p:cNvSpPr txBox="1"/>
          <p:nvPr/>
        </p:nvSpPr>
        <p:spPr>
          <a:xfrm>
            <a:off x="749808" y="224028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small island state covers only thousands of 500 m cells; one bright resort, port or power plant can dominate the total.</a:t>
            </a:r>
            <a:endParaRPr lang="en-US" sz="1150" dirty="0"/>
          </a:p>
        </p:txBody>
      </p:sp>
      <p:sp>
        <p:nvSpPr>
          <p:cNvPr id="17" name="Shape 13"/>
          <p:cNvSpPr/>
          <p:nvPr/>
        </p:nvSpPr>
        <p:spPr>
          <a:xfrm>
            <a:off x="4297680" y="1371600"/>
            <a:ext cx="3593592" cy="1810512"/>
          </a:xfrm>
          <a:prstGeom prst="roundRect">
            <a:avLst>
              <a:gd name="adj" fmla="val 4040"/>
            </a:avLst>
          </a:prstGeom>
          <a:solidFill>
            <a:srgbClr val="F4F7F5"/>
          </a:solidFill>
          <a:ln w="9525">
            <a:solidFill>
              <a:srgbClr val="D5DED9"/>
            </a:solidFill>
            <a:prstDash val="solid"/>
          </a:ln>
        </p:spPr>
      </p:sp>
      <p:sp>
        <p:nvSpPr>
          <p:cNvPr id="18" name="Shape 14"/>
          <p:cNvSpPr/>
          <p:nvPr/>
        </p:nvSpPr>
        <p:spPr>
          <a:xfrm>
            <a:off x="4498848" y="1572768"/>
            <a:ext cx="530352" cy="530352"/>
          </a:xfrm>
          <a:prstGeom prst="ellipse">
            <a:avLst/>
          </a:prstGeom>
          <a:solidFill>
            <a:srgbClr val="E8F5EF"/>
          </a:solidFill>
          <a:ln w="12700">
            <a:solidFill>
              <a:srgbClr val="E8F5EF"/>
            </a:solidFill>
            <a:prstDash val="solid"/>
          </a:ln>
        </p:spPr>
      </p:sp>
      <p:pic>
        <p:nvPicPr>
          <p:cNvPr id="19"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0" name="Text 15"/>
          <p:cNvSpPr txBox="1"/>
          <p:nvPr/>
        </p:nvSpPr>
        <p:spPr>
          <a:xfrm>
            <a:off x="516636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Coast and sea mix</a:t>
            </a:r>
            <a:endParaRPr lang="en-US" sz="1400" dirty="0"/>
          </a:p>
        </p:txBody>
      </p:sp>
      <p:sp>
        <p:nvSpPr>
          <p:cNvPr id="21" name="Text 16"/>
          <p:cNvSpPr txBox="1"/>
          <p:nvPr/>
        </p:nvSpPr>
        <p:spPr>
          <a:xfrm>
            <a:off x="4498848" y="224028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Coastal pixels blend land light with reflection from the water; clip with care and test all-touched versus centre-only rules.</a:t>
            </a:r>
            <a:endParaRPr lang="en-US" sz="1150" dirty="0"/>
          </a:p>
        </p:txBody>
      </p:sp>
      <p:sp>
        <p:nvSpPr>
          <p:cNvPr id="22" name="Shape 17"/>
          <p:cNvSpPr/>
          <p:nvPr/>
        </p:nvSpPr>
        <p:spPr>
          <a:xfrm>
            <a:off x="8046720" y="1371600"/>
            <a:ext cx="3593592" cy="1810512"/>
          </a:xfrm>
          <a:prstGeom prst="roundRect">
            <a:avLst>
              <a:gd name="adj" fmla="val 4040"/>
            </a:avLst>
          </a:prstGeom>
          <a:solidFill>
            <a:srgbClr val="F4F7F5"/>
          </a:solidFill>
          <a:ln w="9525">
            <a:solidFill>
              <a:srgbClr val="D5DED9"/>
            </a:solidFill>
            <a:prstDash val="solid"/>
          </a:ln>
        </p:spPr>
      </p:sp>
      <p:sp>
        <p:nvSpPr>
          <p:cNvPr id="23" name="Shape 18"/>
          <p:cNvSpPr/>
          <p:nvPr/>
        </p:nvSpPr>
        <p:spPr>
          <a:xfrm>
            <a:off x="8247888" y="1572768"/>
            <a:ext cx="530352" cy="530352"/>
          </a:xfrm>
          <a:prstGeom prst="ellipse">
            <a:avLst/>
          </a:prstGeom>
          <a:solidFill>
            <a:srgbClr val="E8F5EF"/>
          </a:solidFill>
          <a:ln w="12700">
            <a:solidFill>
              <a:srgbClr val="E8F5EF"/>
            </a:solidFill>
            <a:prstDash val="solid"/>
          </a:ln>
        </p:spPr>
      </p:sp>
      <p:pic>
        <p:nvPicPr>
          <p:cNvPr id="24"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5" name="Text 19"/>
          <p:cNvSpPr txBox="1"/>
          <p:nvPr/>
        </p:nvSpPr>
        <p:spPr>
          <a:xfrm>
            <a:off x="891540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Lights offshore</a:t>
            </a:r>
            <a:endParaRPr lang="en-US" sz="1400" dirty="0"/>
          </a:p>
        </p:txBody>
      </p:sp>
      <p:sp>
        <p:nvSpPr>
          <p:cNvPr id="26" name="Text 20"/>
          <p:cNvSpPr txBox="1"/>
          <p:nvPr/>
        </p:nvSpPr>
        <p:spPr>
          <a:xfrm>
            <a:off x="8247888" y="224028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Fishing fleets, ships at anchor and offshore platforms sit just beyond the coastline — mask the sea or keep it as a separate maritime indicator.</a:t>
            </a:r>
            <a:endParaRPr lang="en-US" sz="1150" dirty="0"/>
          </a:p>
        </p:txBody>
      </p:sp>
      <p:sp>
        <p:nvSpPr>
          <p:cNvPr id="27" name="Shape 21"/>
          <p:cNvSpPr/>
          <p:nvPr/>
        </p:nvSpPr>
        <p:spPr>
          <a:xfrm>
            <a:off x="548640" y="3337560"/>
            <a:ext cx="3593592" cy="1810512"/>
          </a:xfrm>
          <a:prstGeom prst="roundRect">
            <a:avLst>
              <a:gd name="adj" fmla="val 4040"/>
            </a:avLst>
          </a:prstGeom>
          <a:solidFill>
            <a:srgbClr val="F4F7F5"/>
          </a:solidFill>
          <a:ln w="9525">
            <a:solidFill>
              <a:srgbClr val="D5DED9"/>
            </a:solidFill>
            <a:prstDash val="solid"/>
          </a:ln>
        </p:spPr>
      </p:sp>
      <p:sp>
        <p:nvSpPr>
          <p:cNvPr id="28" name="Shape 22"/>
          <p:cNvSpPr/>
          <p:nvPr/>
        </p:nvSpPr>
        <p:spPr>
          <a:xfrm>
            <a:off x="749808" y="3538728"/>
            <a:ext cx="530352" cy="530352"/>
          </a:xfrm>
          <a:prstGeom prst="ellipse">
            <a:avLst/>
          </a:prstGeom>
          <a:solidFill>
            <a:srgbClr val="E8F5EF"/>
          </a:solidFill>
          <a:ln w="12700">
            <a:solidFill>
              <a:srgbClr val="E8F5EF"/>
            </a:solidFill>
            <a:prstDash val="solid"/>
          </a:ln>
        </p:spPr>
      </p:sp>
      <p:pic>
        <p:nvPicPr>
          <p:cNvPr id="29" name="Image 4" descr="preencoded.png"/>
          <p:cNvPicPr>
            <a:picLocks noChangeAspect="1"/>
          </p:cNvPicPr>
          <p:nvPr/>
        </p:nvPicPr>
        <p:blipFill>
          <a:blip r:embed="rId7"/>
          <a:stretch>
            <a:fillRect/>
          </a:stretch>
        </p:blipFill>
        <p:spPr>
          <a:xfrm>
            <a:off x="887700" y="3676620"/>
            <a:ext cx="254569" cy="254569"/>
          </a:xfrm>
          <a:prstGeom prst="rect">
            <a:avLst/>
          </a:prstGeom>
        </p:spPr>
      </p:pic>
      <p:sp>
        <p:nvSpPr>
          <p:cNvPr id="30" name="Text 23"/>
          <p:cNvSpPr txBox="1"/>
          <p:nvPr/>
        </p:nvSpPr>
        <p:spPr>
          <a:xfrm>
            <a:off x="1417320" y="353872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Orographic cloud</a:t>
            </a:r>
            <a:endParaRPr lang="en-US" sz="1400" dirty="0"/>
          </a:p>
        </p:txBody>
      </p:sp>
      <p:sp>
        <p:nvSpPr>
          <p:cNvPr id="31" name="Text 24"/>
          <p:cNvSpPr txBox="1"/>
          <p:nvPr/>
        </p:nvSpPr>
        <p:spPr>
          <a:xfrm>
            <a:off x="749808" y="420624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Trade-wind cloud over central plateaus thins valid observations inland — check the observations layer by district.</a:t>
            </a:r>
            <a:endParaRPr lang="en-US" sz="1150" dirty="0"/>
          </a:p>
        </p:txBody>
      </p:sp>
      <p:sp>
        <p:nvSpPr>
          <p:cNvPr id="32" name="Shape 25"/>
          <p:cNvSpPr/>
          <p:nvPr/>
        </p:nvSpPr>
        <p:spPr>
          <a:xfrm>
            <a:off x="4297680" y="3337560"/>
            <a:ext cx="3593592" cy="1810512"/>
          </a:xfrm>
          <a:prstGeom prst="roundRect">
            <a:avLst>
              <a:gd name="adj" fmla="val 4040"/>
            </a:avLst>
          </a:prstGeom>
          <a:solidFill>
            <a:srgbClr val="F4F7F5"/>
          </a:solidFill>
          <a:ln w="9525">
            <a:solidFill>
              <a:srgbClr val="D5DED9"/>
            </a:solidFill>
            <a:prstDash val="solid"/>
          </a:ln>
        </p:spPr>
      </p:sp>
      <p:sp>
        <p:nvSpPr>
          <p:cNvPr id="33" name="Shape 26"/>
          <p:cNvSpPr/>
          <p:nvPr/>
        </p:nvSpPr>
        <p:spPr>
          <a:xfrm>
            <a:off x="4498848" y="3538728"/>
            <a:ext cx="530352" cy="530352"/>
          </a:xfrm>
          <a:prstGeom prst="ellipse">
            <a:avLst/>
          </a:prstGeom>
          <a:solidFill>
            <a:srgbClr val="E8F5EF"/>
          </a:solidFill>
          <a:ln w="12700">
            <a:solidFill>
              <a:srgbClr val="E8F5EF"/>
            </a:solidFill>
            <a:prstDash val="solid"/>
          </a:ln>
        </p:spPr>
      </p:sp>
      <p:pic>
        <p:nvPicPr>
          <p:cNvPr id="34" name="Image 5" descr="preencoded.png"/>
          <p:cNvPicPr>
            <a:picLocks noChangeAspect="1"/>
          </p:cNvPicPr>
          <p:nvPr/>
        </p:nvPicPr>
        <p:blipFill>
          <a:blip r:embed="rId8"/>
          <a:stretch>
            <a:fillRect/>
          </a:stretch>
        </p:blipFill>
        <p:spPr>
          <a:xfrm>
            <a:off x="4636740" y="3676620"/>
            <a:ext cx="254569" cy="254569"/>
          </a:xfrm>
          <a:prstGeom prst="rect">
            <a:avLst/>
          </a:prstGeom>
        </p:spPr>
      </p:pic>
      <p:sp>
        <p:nvSpPr>
          <p:cNvPr id="35" name="Text 27"/>
          <p:cNvSpPr txBox="1"/>
          <p:nvPr/>
        </p:nvSpPr>
        <p:spPr>
          <a:xfrm>
            <a:off x="5166360" y="353872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Tourism signal</a:t>
            </a:r>
            <a:endParaRPr lang="en-US" sz="1400" dirty="0"/>
          </a:p>
        </p:txBody>
      </p:sp>
      <p:sp>
        <p:nvSpPr>
          <p:cNvPr id="36" name="Text 28"/>
          <p:cNvSpPr txBox="1"/>
          <p:nvPr/>
        </p:nvSpPr>
        <p:spPr>
          <a:xfrm>
            <a:off x="4498848" y="420624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Hotel strips are very bright relative to their population; normalise carefully and read alongside arrivals data.</a:t>
            </a:r>
            <a:endParaRPr lang="en-US" sz="1150" dirty="0"/>
          </a:p>
        </p:txBody>
      </p:sp>
      <p:sp>
        <p:nvSpPr>
          <p:cNvPr id="37" name="Shape 29"/>
          <p:cNvSpPr/>
          <p:nvPr/>
        </p:nvSpPr>
        <p:spPr>
          <a:xfrm>
            <a:off x="8046720" y="3337560"/>
            <a:ext cx="3593592" cy="1810512"/>
          </a:xfrm>
          <a:prstGeom prst="roundRect">
            <a:avLst>
              <a:gd name="adj" fmla="val 4040"/>
            </a:avLst>
          </a:prstGeom>
          <a:solidFill>
            <a:srgbClr val="F4F7F5"/>
          </a:solidFill>
          <a:ln w="9525">
            <a:solidFill>
              <a:srgbClr val="D5DED9"/>
            </a:solidFill>
            <a:prstDash val="solid"/>
          </a:ln>
        </p:spPr>
      </p:sp>
      <p:sp>
        <p:nvSpPr>
          <p:cNvPr id="38" name="Shape 30"/>
          <p:cNvSpPr/>
          <p:nvPr/>
        </p:nvSpPr>
        <p:spPr>
          <a:xfrm>
            <a:off x="8247888" y="3538728"/>
            <a:ext cx="530352" cy="530352"/>
          </a:xfrm>
          <a:prstGeom prst="ellipse">
            <a:avLst/>
          </a:prstGeom>
          <a:solidFill>
            <a:srgbClr val="E8F5EF"/>
          </a:solidFill>
          <a:ln w="12700">
            <a:solidFill>
              <a:srgbClr val="E8F5EF"/>
            </a:solidFill>
            <a:prstDash val="solid"/>
          </a:ln>
        </p:spPr>
      </p:sp>
      <p:pic>
        <p:nvPicPr>
          <p:cNvPr id="39" name="Image 6" descr="preencoded.png"/>
          <p:cNvPicPr>
            <a:picLocks noChangeAspect="1"/>
          </p:cNvPicPr>
          <p:nvPr/>
        </p:nvPicPr>
        <p:blipFill>
          <a:blip r:embed="rId9"/>
          <a:stretch>
            <a:fillRect/>
          </a:stretch>
        </p:blipFill>
        <p:spPr>
          <a:xfrm>
            <a:off x="8385780" y="3676620"/>
            <a:ext cx="254569" cy="254569"/>
          </a:xfrm>
          <a:prstGeom prst="rect">
            <a:avLst/>
          </a:prstGeom>
        </p:spPr>
      </p:pic>
      <p:sp>
        <p:nvSpPr>
          <p:cNvPr id="40" name="Text 31"/>
          <p:cNvSpPr txBox="1"/>
          <p:nvPr/>
        </p:nvSpPr>
        <p:spPr>
          <a:xfrm>
            <a:off x="8915400" y="353872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Cyclone season</a:t>
            </a:r>
            <a:endParaRPr lang="en-US" sz="1400" dirty="0"/>
          </a:p>
        </p:txBody>
      </p:sp>
      <p:sp>
        <p:nvSpPr>
          <p:cNvPr id="41" name="Text 32"/>
          <p:cNvSpPr txBox="1"/>
          <p:nvPr/>
        </p:nvSpPr>
        <p:spPr>
          <a:xfrm>
            <a:off x="8247888" y="4206240"/>
            <a:ext cx="3200400" cy="896112"/>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Daily data can map outages and restoration after tropical cyclones — an operational use for disaster statistics.</a:t>
            </a:r>
            <a:endParaRPr lang="en-US" sz="1150" dirty="0"/>
          </a:p>
        </p:txBody>
      </p:sp>
      <p:sp>
        <p:nvSpPr>
          <p:cNvPr id="42" name="Shape 33"/>
          <p:cNvSpPr/>
          <p:nvPr/>
        </p:nvSpPr>
        <p:spPr>
          <a:xfrm>
            <a:off x="548640" y="5440680"/>
            <a:ext cx="11094415" cy="502920"/>
          </a:xfrm>
          <a:prstGeom prst="roundRect">
            <a:avLst>
              <a:gd name="adj" fmla="val 14545"/>
            </a:avLst>
          </a:prstGeom>
          <a:solidFill>
            <a:srgbClr val="FDF5DC"/>
          </a:solidFill>
          <a:ln w="9525">
            <a:solidFill>
              <a:srgbClr val="F5C242"/>
            </a:solidFill>
            <a:prstDash val="solid"/>
          </a:ln>
        </p:spPr>
      </p:sp>
      <p:sp>
        <p:nvSpPr>
          <p:cNvPr id="43" name="Text 34"/>
          <p:cNvSpPr txBox="1"/>
          <p:nvPr/>
        </p:nvSpPr>
        <p:spPr>
          <a:xfrm>
            <a:off x="777240" y="5440680"/>
            <a:ext cx="10637215" cy="50292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Rule for small units: </a:t>
            </a:r>
            <a:r>
              <a:rPr lang="en-US" sz="1200" dirty="0">
                <a:solidFill>
                  <a:srgbClr val="231F20"/>
                </a:solidFill>
                <a:latin typeface="Calibri" pitchFamily="34" charset="0"/>
                <a:ea typeface="Calibri" pitchFamily="34" charset="-122"/>
                <a:cs typeface="Calibri" pitchFamily="34" charset="-120"/>
              </a:rPr>
              <a:t>the fewer the pixels, the more each masking and boundary choice matters — report sensitivity to them explicitly.</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Gauteng and the Highveld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HANDS-ON · LAB B</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B</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Rebuild one application</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Compare your night-lights indicator with an official one — and say where the relationship holds.</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Choose an application  ·  Align units &amp; periods  ·  Compare in levels and changes  ·  Map residuals  ·  Report</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LAB B  ·  45 + 15 MIN</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B · STEP 1 · CHOOSE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Pick one application and its official comparator</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52</a:t>
            </a:r>
            <a:endParaRPr lang="en-US" sz="900" dirty="0"/>
          </a:p>
        </p:txBody>
      </p:sp>
      <p:sp>
        <p:nvSpPr>
          <p:cNvPr id="12" name="Shape 9"/>
          <p:cNvSpPr/>
          <p:nvPr/>
        </p:nvSpPr>
        <p:spPr>
          <a:xfrm>
            <a:off x="548640" y="1371600"/>
            <a:ext cx="2651760" cy="4343400"/>
          </a:xfrm>
          <a:prstGeom prst="roundRect">
            <a:avLst>
              <a:gd name="adj" fmla="val 2759"/>
            </a:avLst>
          </a:prstGeom>
          <a:solidFill>
            <a:srgbClr val="F4F7F5"/>
          </a:solidFill>
          <a:ln w="9525">
            <a:solidFill>
              <a:srgbClr val="D5DED9"/>
            </a:solidFill>
            <a:prstDash val="solid"/>
          </a:ln>
        </p:spPr>
      </p:sp>
      <p:sp>
        <p:nvSpPr>
          <p:cNvPr id="13" name="Text 10"/>
          <p:cNvSpPr txBox="1"/>
          <p:nvPr/>
        </p:nvSpPr>
        <p:spPr>
          <a:xfrm>
            <a:off x="731520" y="1508760"/>
            <a:ext cx="640080" cy="685800"/>
          </a:xfrm>
          <a:prstGeom prst="rect">
            <a:avLst/>
          </a:prstGeom>
          <a:noFill/>
          <a:ln/>
        </p:spPr>
        <p:txBody>
          <a:bodyPr wrap="square" lIns="0" tIns="0" rIns="0" bIns="0" rtlCol="0" anchor="ctr"/>
          <a:lstStyle/>
          <a:p>
            <a:pPr marL="0" indent="0">
              <a:buNone/>
            </a:pPr>
            <a:r>
              <a:rPr lang="en-US" sz="4000" b="1" dirty="0">
                <a:solidFill>
                  <a:srgbClr val="F5C242"/>
                </a:solidFill>
                <a:latin typeface="Calibri" pitchFamily="34" charset="0"/>
                <a:ea typeface="Calibri" pitchFamily="34" charset="-122"/>
                <a:cs typeface="Calibri" pitchFamily="34" charset="-120"/>
              </a:rPr>
              <a:t>A</a:t>
            </a:r>
            <a:endParaRPr lang="en-US" sz="4000" dirty="0"/>
          </a:p>
        </p:txBody>
      </p:sp>
      <p:pic>
        <p:nvPicPr>
          <p:cNvPr id="14" name="Image 1" descr="preencoded.png"/>
          <p:cNvPicPr>
            <a:picLocks noChangeAspect="1"/>
          </p:cNvPicPr>
          <p:nvPr/>
        </p:nvPicPr>
        <p:blipFill>
          <a:blip r:embed="rId4"/>
          <a:stretch>
            <a:fillRect/>
          </a:stretch>
        </p:blipFill>
        <p:spPr>
          <a:xfrm>
            <a:off x="2514600" y="1645920"/>
            <a:ext cx="411480" cy="411480"/>
          </a:xfrm>
          <a:prstGeom prst="rect">
            <a:avLst/>
          </a:prstGeom>
        </p:spPr>
      </p:pic>
      <p:sp>
        <p:nvSpPr>
          <p:cNvPr id="15" name="Text 11"/>
          <p:cNvSpPr txBox="1"/>
          <p:nvPr/>
        </p:nvSpPr>
        <p:spPr>
          <a:xfrm>
            <a:off x="731520" y="2240280"/>
            <a:ext cx="22860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Output proxy</a:t>
            </a:r>
            <a:endParaRPr lang="en-US" sz="1500" dirty="0"/>
          </a:p>
        </p:txBody>
      </p:sp>
      <p:sp>
        <p:nvSpPr>
          <p:cNvPr id="16" name="Text 12"/>
          <p:cNvSpPr txBox="1"/>
          <p:nvPr/>
        </p:nvSpPr>
        <p:spPr>
          <a:xfrm>
            <a:off x="731520" y="274320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NTL INDICATOR</a:t>
            </a:r>
            <a:endParaRPr lang="en-US" sz="900" dirty="0"/>
          </a:p>
        </p:txBody>
      </p:sp>
      <p:sp>
        <p:nvSpPr>
          <p:cNvPr id="17" name="Text 13"/>
          <p:cNvSpPr txBox="1"/>
          <p:nvPr/>
        </p:nvSpPr>
        <p:spPr>
          <a:xfrm>
            <a:off x="731520" y="297180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Annual SOL by region (VNP46A4 or VNP46A3 averaged)</a:t>
            </a:r>
            <a:endParaRPr lang="en-US" sz="1150" dirty="0"/>
          </a:p>
        </p:txBody>
      </p:sp>
      <p:sp>
        <p:nvSpPr>
          <p:cNvPr id="18" name="Text 14"/>
          <p:cNvSpPr txBox="1"/>
          <p:nvPr/>
        </p:nvSpPr>
        <p:spPr>
          <a:xfrm>
            <a:off x="731520" y="370332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OFFICIAL COMPARATOR</a:t>
            </a:r>
            <a:endParaRPr lang="en-US" sz="900" dirty="0"/>
          </a:p>
        </p:txBody>
      </p:sp>
      <p:sp>
        <p:nvSpPr>
          <p:cNvPr id="19" name="Text 15"/>
          <p:cNvSpPr txBox="1"/>
          <p:nvPr/>
        </p:nvSpPr>
        <p:spPr>
          <a:xfrm>
            <a:off x="731520" y="393192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Regional GDP / GVA, or national quarterly GDP</a:t>
            </a:r>
            <a:endParaRPr lang="en-US" sz="1150" dirty="0"/>
          </a:p>
        </p:txBody>
      </p:sp>
      <p:sp>
        <p:nvSpPr>
          <p:cNvPr id="20" name="Text 16"/>
          <p:cNvSpPr txBox="1"/>
          <p:nvPr/>
        </p:nvSpPr>
        <p:spPr>
          <a:xfrm>
            <a:off x="731520" y="466344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TEST</a:t>
            </a:r>
            <a:endParaRPr lang="en-US" sz="900" dirty="0"/>
          </a:p>
        </p:txBody>
      </p:sp>
      <p:sp>
        <p:nvSpPr>
          <p:cNvPr id="21" name="Text 17"/>
          <p:cNvSpPr txBox="1"/>
          <p:nvPr/>
        </p:nvSpPr>
        <p:spPr>
          <a:xfrm>
            <a:off x="731520" y="489204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Elasticity in growth rates; fit by region</a:t>
            </a:r>
            <a:endParaRPr lang="en-US" sz="1150" dirty="0"/>
          </a:p>
        </p:txBody>
      </p:sp>
      <p:sp>
        <p:nvSpPr>
          <p:cNvPr id="22" name="Shape 18"/>
          <p:cNvSpPr/>
          <p:nvPr/>
        </p:nvSpPr>
        <p:spPr>
          <a:xfrm>
            <a:off x="3355848" y="1371600"/>
            <a:ext cx="2651760" cy="4343400"/>
          </a:xfrm>
          <a:prstGeom prst="roundRect">
            <a:avLst>
              <a:gd name="adj" fmla="val 2759"/>
            </a:avLst>
          </a:prstGeom>
          <a:solidFill>
            <a:srgbClr val="F4F7F5"/>
          </a:solidFill>
          <a:ln w="9525">
            <a:solidFill>
              <a:srgbClr val="D5DED9"/>
            </a:solidFill>
            <a:prstDash val="solid"/>
          </a:ln>
        </p:spPr>
      </p:sp>
      <p:sp>
        <p:nvSpPr>
          <p:cNvPr id="23" name="Text 19"/>
          <p:cNvSpPr txBox="1"/>
          <p:nvPr/>
        </p:nvSpPr>
        <p:spPr>
          <a:xfrm>
            <a:off x="3538728" y="1508760"/>
            <a:ext cx="640080" cy="685800"/>
          </a:xfrm>
          <a:prstGeom prst="rect">
            <a:avLst/>
          </a:prstGeom>
          <a:noFill/>
          <a:ln/>
        </p:spPr>
        <p:txBody>
          <a:bodyPr wrap="square" lIns="0" tIns="0" rIns="0" bIns="0" rtlCol="0" anchor="ctr"/>
          <a:lstStyle/>
          <a:p>
            <a:pPr marL="0" indent="0">
              <a:buNone/>
            </a:pPr>
            <a:r>
              <a:rPr lang="en-US" sz="4000" b="1" dirty="0">
                <a:solidFill>
                  <a:srgbClr val="F5C242"/>
                </a:solidFill>
                <a:latin typeface="Calibri" pitchFamily="34" charset="0"/>
                <a:ea typeface="Calibri" pitchFamily="34" charset="-122"/>
                <a:cs typeface="Calibri" pitchFamily="34" charset="-120"/>
              </a:rPr>
              <a:t>B</a:t>
            </a:r>
            <a:endParaRPr lang="en-US" sz="4000" dirty="0"/>
          </a:p>
        </p:txBody>
      </p:sp>
      <p:pic>
        <p:nvPicPr>
          <p:cNvPr id="24" name="Image 2" descr="preencoded.png"/>
          <p:cNvPicPr>
            <a:picLocks noChangeAspect="1"/>
          </p:cNvPicPr>
          <p:nvPr/>
        </p:nvPicPr>
        <p:blipFill>
          <a:blip r:embed="rId5"/>
          <a:stretch>
            <a:fillRect/>
          </a:stretch>
        </p:blipFill>
        <p:spPr>
          <a:xfrm>
            <a:off x="5321808" y="1645920"/>
            <a:ext cx="411480" cy="411480"/>
          </a:xfrm>
          <a:prstGeom prst="rect">
            <a:avLst/>
          </a:prstGeom>
        </p:spPr>
      </p:pic>
      <p:sp>
        <p:nvSpPr>
          <p:cNvPr id="25" name="Text 20"/>
          <p:cNvSpPr txBox="1"/>
          <p:nvPr/>
        </p:nvSpPr>
        <p:spPr>
          <a:xfrm>
            <a:off x="3538728" y="2240280"/>
            <a:ext cx="22860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Electrification</a:t>
            </a:r>
            <a:endParaRPr lang="en-US" sz="1500" dirty="0"/>
          </a:p>
        </p:txBody>
      </p:sp>
      <p:sp>
        <p:nvSpPr>
          <p:cNvPr id="26" name="Text 21"/>
          <p:cNvSpPr txBox="1"/>
          <p:nvPr/>
        </p:nvSpPr>
        <p:spPr>
          <a:xfrm>
            <a:off x="3538728" y="274320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NTL INDICATOR</a:t>
            </a:r>
            <a:endParaRPr lang="en-US" sz="900" dirty="0"/>
          </a:p>
        </p:txBody>
      </p:sp>
      <p:sp>
        <p:nvSpPr>
          <p:cNvPr id="27" name="Text 22"/>
          <p:cNvSpPr txBox="1"/>
          <p:nvPr/>
        </p:nvSpPr>
        <p:spPr>
          <a:xfrm>
            <a:off x="3538728" y="297180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Share of settlements lit, by district</a:t>
            </a:r>
            <a:endParaRPr lang="en-US" sz="1150" dirty="0"/>
          </a:p>
        </p:txBody>
      </p:sp>
      <p:sp>
        <p:nvSpPr>
          <p:cNvPr id="28" name="Text 23"/>
          <p:cNvSpPr txBox="1"/>
          <p:nvPr/>
        </p:nvSpPr>
        <p:spPr>
          <a:xfrm>
            <a:off x="3538728" y="370332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OFFICIAL COMPARATOR</a:t>
            </a:r>
            <a:endParaRPr lang="en-US" sz="900" dirty="0"/>
          </a:p>
        </p:txBody>
      </p:sp>
      <p:sp>
        <p:nvSpPr>
          <p:cNvPr id="29" name="Text 24"/>
          <p:cNvSpPr txBox="1"/>
          <p:nvPr/>
        </p:nvSpPr>
        <p:spPr>
          <a:xfrm>
            <a:off x="3538728" y="393192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Census or DHS share of households with electricity</a:t>
            </a:r>
            <a:endParaRPr lang="en-US" sz="1150" dirty="0"/>
          </a:p>
        </p:txBody>
      </p:sp>
      <p:sp>
        <p:nvSpPr>
          <p:cNvPr id="30" name="Text 25"/>
          <p:cNvSpPr txBox="1"/>
          <p:nvPr/>
        </p:nvSpPr>
        <p:spPr>
          <a:xfrm>
            <a:off x="3538728" y="466344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TEST</a:t>
            </a:r>
            <a:endParaRPr lang="en-US" sz="900" dirty="0"/>
          </a:p>
        </p:txBody>
      </p:sp>
      <p:sp>
        <p:nvSpPr>
          <p:cNvPr id="31" name="Text 26"/>
          <p:cNvSpPr txBox="1"/>
          <p:nvPr/>
        </p:nvSpPr>
        <p:spPr>
          <a:xfrm>
            <a:off x="3538728" y="489204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Correlation across districts; outliers</a:t>
            </a:r>
            <a:endParaRPr lang="en-US" sz="1150" dirty="0"/>
          </a:p>
        </p:txBody>
      </p:sp>
      <p:sp>
        <p:nvSpPr>
          <p:cNvPr id="32" name="Shape 27"/>
          <p:cNvSpPr/>
          <p:nvPr/>
        </p:nvSpPr>
        <p:spPr>
          <a:xfrm>
            <a:off x="6163056" y="1371600"/>
            <a:ext cx="2651760" cy="4343400"/>
          </a:xfrm>
          <a:prstGeom prst="roundRect">
            <a:avLst>
              <a:gd name="adj" fmla="val 2759"/>
            </a:avLst>
          </a:prstGeom>
          <a:solidFill>
            <a:srgbClr val="F4F7F5"/>
          </a:solidFill>
          <a:ln w="9525">
            <a:solidFill>
              <a:srgbClr val="D5DED9"/>
            </a:solidFill>
            <a:prstDash val="solid"/>
          </a:ln>
        </p:spPr>
      </p:sp>
      <p:sp>
        <p:nvSpPr>
          <p:cNvPr id="33" name="Text 28"/>
          <p:cNvSpPr txBox="1"/>
          <p:nvPr/>
        </p:nvSpPr>
        <p:spPr>
          <a:xfrm>
            <a:off x="6345936" y="1508760"/>
            <a:ext cx="640080" cy="685800"/>
          </a:xfrm>
          <a:prstGeom prst="rect">
            <a:avLst/>
          </a:prstGeom>
          <a:noFill/>
          <a:ln/>
        </p:spPr>
        <p:txBody>
          <a:bodyPr wrap="square" lIns="0" tIns="0" rIns="0" bIns="0" rtlCol="0" anchor="ctr"/>
          <a:lstStyle/>
          <a:p>
            <a:pPr marL="0" indent="0">
              <a:buNone/>
            </a:pPr>
            <a:r>
              <a:rPr lang="en-US" sz="4000" b="1" dirty="0">
                <a:solidFill>
                  <a:srgbClr val="F5C242"/>
                </a:solidFill>
                <a:latin typeface="Calibri" pitchFamily="34" charset="0"/>
                <a:ea typeface="Calibri" pitchFamily="34" charset="-122"/>
                <a:cs typeface="Calibri" pitchFamily="34" charset="-120"/>
              </a:rPr>
              <a:t>C</a:t>
            </a:r>
            <a:endParaRPr lang="en-US" sz="4000" dirty="0"/>
          </a:p>
        </p:txBody>
      </p:sp>
      <p:pic>
        <p:nvPicPr>
          <p:cNvPr id="34" name="Image 3" descr="preencoded.png"/>
          <p:cNvPicPr>
            <a:picLocks noChangeAspect="1"/>
          </p:cNvPicPr>
          <p:nvPr/>
        </p:nvPicPr>
        <p:blipFill>
          <a:blip r:embed="rId6"/>
          <a:stretch>
            <a:fillRect/>
          </a:stretch>
        </p:blipFill>
        <p:spPr>
          <a:xfrm>
            <a:off x="8129016" y="1645920"/>
            <a:ext cx="411480" cy="411480"/>
          </a:xfrm>
          <a:prstGeom prst="rect">
            <a:avLst/>
          </a:prstGeom>
        </p:spPr>
      </p:pic>
      <p:sp>
        <p:nvSpPr>
          <p:cNvPr id="35" name="Text 29"/>
          <p:cNvSpPr txBox="1"/>
          <p:nvPr/>
        </p:nvSpPr>
        <p:spPr>
          <a:xfrm>
            <a:off x="6345936" y="2240280"/>
            <a:ext cx="22860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Urbanisation</a:t>
            </a:r>
            <a:endParaRPr lang="en-US" sz="1500" dirty="0"/>
          </a:p>
        </p:txBody>
      </p:sp>
      <p:sp>
        <p:nvSpPr>
          <p:cNvPr id="36" name="Text 30"/>
          <p:cNvSpPr txBox="1"/>
          <p:nvPr/>
        </p:nvSpPr>
        <p:spPr>
          <a:xfrm>
            <a:off x="6345936" y="274320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NTL INDICATOR</a:t>
            </a:r>
            <a:endParaRPr lang="en-US" sz="900" dirty="0"/>
          </a:p>
        </p:txBody>
      </p:sp>
      <p:sp>
        <p:nvSpPr>
          <p:cNvPr id="37" name="Text 31"/>
          <p:cNvSpPr txBox="1"/>
          <p:nvPr/>
        </p:nvSpPr>
        <p:spPr>
          <a:xfrm>
            <a:off x="6345936" y="297180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Lit area above threshold, by district</a:t>
            </a:r>
            <a:endParaRPr lang="en-US" sz="1150" dirty="0"/>
          </a:p>
        </p:txBody>
      </p:sp>
      <p:sp>
        <p:nvSpPr>
          <p:cNvPr id="38" name="Text 32"/>
          <p:cNvSpPr txBox="1"/>
          <p:nvPr/>
        </p:nvSpPr>
        <p:spPr>
          <a:xfrm>
            <a:off x="6345936" y="370332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OFFICIAL COMPARATOR</a:t>
            </a:r>
            <a:endParaRPr lang="en-US" sz="900" dirty="0"/>
          </a:p>
        </p:txBody>
      </p:sp>
      <p:sp>
        <p:nvSpPr>
          <p:cNvPr id="39" name="Text 33"/>
          <p:cNvSpPr txBox="1"/>
          <p:nvPr/>
        </p:nvSpPr>
        <p:spPr>
          <a:xfrm>
            <a:off x="6345936" y="393192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Census urban population or built-up area</a:t>
            </a:r>
            <a:endParaRPr lang="en-US" sz="1150" dirty="0"/>
          </a:p>
        </p:txBody>
      </p:sp>
      <p:sp>
        <p:nvSpPr>
          <p:cNvPr id="40" name="Text 34"/>
          <p:cNvSpPr txBox="1"/>
          <p:nvPr/>
        </p:nvSpPr>
        <p:spPr>
          <a:xfrm>
            <a:off x="6345936" y="466344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TEST</a:t>
            </a:r>
            <a:endParaRPr lang="en-US" sz="900" dirty="0"/>
          </a:p>
        </p:txBody>
      </p:sp>
      <p:sp>
        <p:nvSpPr>
          <p:cNvPr id="41" name="Text 35"/>
          <p:cNvSpPr txBox="1"/>
          <p:nvPr/>
        </p:nvSpPr>
        <p:spPr>
          <a:xfrm>
            <a:off x="6345936" y="489204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Levels and growth; sprawl vs densification</a:t>
            </a:r>
            <a:endParaRPr lang="en-US" sz="1150" dirty="0"/>
          </a:p>
        </p:txBody>
      </p:sp>
      <p:sp>
        <p:nvSpPr>
          <p:cNvPr id="42" name="Shape 36"/>
          <p:cNvSpPr/>
          <p:nvPr/>
        </p:nvSpPr>
        <p:spPr>
          <a:xfrm>
            <a:off x="8970264" y="1371600"/>
            <a:ext cx="2651760" cy="4343400"/>
          </a:xfrm>
          <a:prstGeom prst="roundRect">
            <a:avLst>
              <a:gd name="adj" fmla="val 2759"/>
            </a:avLst>
          </a:prstGeom>
          <a:solidFill>
            <a:srgbClr val="F4F7F5"/>
          </a:solidFill>
          <a:ln w="9525">
            <a:solidFill>
              <a:srgbClr val="D5DED9"/>
            </a:solidFill>
            <a:prstDash val="solid"/>
          </a:ln>
        </p:spPr>
      </p:sp>
      <p:sp>
        <p:nvSpPr>
          <p:cNvPr id="43" name="Text 37"/>
          <p:cNvSpPr txBox="1"/>
          <p:nvPr/>
        </p:nvSpPr>
        <p:spPr>
          <a:xfrm>
            <a:off x="9153144" y="1508760"/>
            <a:ext cx="640080" cy="685800"/>
          </a:xfrm>
          <a:prstGeom prst="rect">
            <a:avLst/>
          </a:prstGeom>
          <a:noFill/>
          <a:ln/>
        </p:spPr>
        <p:txBody>
          <a:bodyPr wrap="square" lIns="0" tIns="0" rIns="0" bIns="0" rtlCol="0" anchor="ctr"/>
          <a:lstStyle/>
          <a:p>
            <a:pPr marL="0" indent="0">
              <a:buNone/>
            </a:pPr>
            <a:r>
              <a:rPr lang="en-US" sz="4000" b="1" dirty="0">
                <a:solidFill>
                  <a:srgbClr val="F5C242"/>
                </a:solidFill>
                <a:latin typeface="Calibri" pitchFamily="34" charset="0"/>
                <a:ea typeface="Calibri" pitchFamily="34" charset="-122"/>
                <a:cs typeface="Calibri" pitchFamily="34" charset="-120"/>
              </a:rPr>
              <a:t>D</a:t>
            </a:r>
            <a:endParaRPr lang="en-US" sz="4000" dirty="0"/>
          </a:p>
        </p:txBody>
      </p:sp>
      <p:pic>
        <p:nvPicPr>
          <p:cNvPr id="44" name="Image 4" descr="preencoded.png"/>
          <p:cNvPicPr>
            <a:picLocks noChangeAspect="1"/>
          </p:cNvPicPr>
          <p:nvPr/>
        </p:nvPicPr>
        <p:blipFill>
          <a:blip r:embed="rId7"/>
          <a:stretch>
            <a:fillRect/>
          </a:stretch>
        </p:blipFill>
        <p:spPr>
          <a:xfrm>
            <a:off x="10936224" y="1645920"/>
            <a:ext cx="411480" cy="411480"/>
          </a:xfrm>
          <a:prstGeom prst="rect">
            <a:avLst/>
          </a:prstGeom>
        </p:spPr>
      </p:pic>
      <p:sp>
        <p:nvSpPr>
          <p:cNvPr id="45" name="Text 38"/>
          <p:cNvSpPr txBox="1"/>
          <p:nvPr/>
        </p:nvSpPr>
        <p:spPr>
          <a:xfrm>
            <a:off x="9153144" y="2240280"/>
            <a:ext cx="2286000" cy="365760"/>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Shock</a:t>
            </a:r>
            <a:endParaRPr lang="en-US" sz="1500" dirty="0"/>
          </a:p>
        </p:txBody>
      </p:sp>
      <p:sp>
        <p:nvSpPr>
          <p:cNvPr id="46" name="Text 39"/>
          <p:cNvSpPr txBox="1"/>
          <p:nvPr/>
        </p:nvSpPr>
        <p:spPr>
          <a:xfrm>
            <a:off x="9153144" y="274320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NTL INDICATOR</a:t>
            </a:r>
            <a:endParaRPr lang="en-US" sz="900" dirty="0"/>
          </a:p>
        </p:txBody>
      </p:sp>
      <p:sp>
        <p:nvSpPr>
          <p:cNvPr id="47" name="Text 40"/>
          <p:cNvSpPr txBox="1"/>
          <p:nvPr/>
        </p:nvSpPr>
        <p:spPr>
          <a:xfrm>
            <a:off x="9153144" y="297180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Daily or monthly radiance vs baseline</a:t>
            </a:r>
            <a:endParaRPr lang="en-US" sz="1150" dirty="0"/>
          </a:p>
        </p:txBody>
      </p:sp>
      <p:sp>
        <p:nvSpPr>
          <p:cNvPr id="48" name="Text 41"/>
          <p:cNvSpPr txBox="1"/>
          <p:nvPr/>
        </p:nvSpPr>
        <p:spPr>
          <a:xfrm>
            <a:off x="9153144" y="370332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OFFICIAL COMPARATOR</a:t>
            </a:r>
            <a:endParaRPr lang="en-US" sz="900" dirty="0"/>
          </a:p>
        </p:txBody>
      </p:sp>
      <p:sp>
        <p:nvSpPr>
          <p:cNvPr id="49" name="Text 42"/>
          <p:cNvSpPr txBox="1"/>
          <p:nvPr/>
        </p:nvSpPr>
        <p:spPr>
          <a:xfrm>
            <a:off x="9153144" y="393192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Utility outage reports, disaster or activity statistics</a:t>
            </a:r>
            <a:endParaRPr lang="en-US" sz="1150" dirty="0"/>
          </a:p>
        </p:txBody>
      </p:sp>
      <p:sp>
        <p:nvSpPr>
          <p:cNvPr id="50" name="Text 43"/>
          <p:cNvSpPr txBox="1"/>
          <p:nvPr/>
        </p:nvSpPr>
        <p:spPr>
          <a:xfrm>
            <a:off x="9153144" y="4663440"/>
            <a:ext cx="2286000" cy="228600"/>
          </a:xfrm>
          <a:prstGeom prst="rect">
            <a:avLst/>
          </a:prstGeom>
          <a:noFill/>
          <a:ln/>
        </p:spPr>
        <p:txBody>
          <a:bodyPr wrap="square" lIns="0" tIns="0" rIns="0" bIns="0" rtlCol="0" anchor="t"/>
          <a:lstStyle/>
          <a:p>
            <a:pPr marL="0" indent="0">
              <a:buNone/>
            </a:pPr>
            <a:r>
              <a:rPr lang="en-US" sz="900" b="1" kern="0" spc="150" dirty="0">
                <a:solidFill>
                  <a:srgbClr val="0E7C86"/>
                </a:solidFill>
                <a:latin typeface="Calibri" pitchFamily="34" charset="0"/>
                <a:ea typeface="Calibri" pitchFamily="34" charset="-122"/>
                <a:cs typeface="Calibri" pitchFamily="34" charset="-120"/>
              </a:rPr>
              <a:t>TEST</a:t>
            </a:r>
            <a:endParaRPr lang="en-US" sz="900" dirty="0"/>
          </a:p>
        </p:txBody>
      </p:sp>
      <p:sp>
        <p:nvSpPr>
          <p:cNvPr id="51" name="Text 44"/>
          <p:cNvSpPr txBox="1"/>
          <p:nvPr/>
        </p:nvSpPr>
        <p:spPr>
          <a:xfrm>
            <a:off x="9153144" y="4892040"/>
            <a:ext cx="22860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Timing and depth of the drop; recovery</a:t>
            </a:r>
            <a:endParaRPr lang="en-US" sz="1150" dirty="0"/>
          </a:p>
        </p:txBody>
      </p:sp>
      <p:sp>
        <p:nvSpPr>
          <p:cNvPr id="52" name="Text 45"/>
          <p:cNvSpPr txBox="1"/>
          <p:nvPr/>
        </p:nvSpPr>
        <p:spPr>
          <a:xfrm>
            <a:off x="548640" y="5870448"/>
            <a:ext cx="11094415" cy="27432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Rebuild means: reproduce the logic of a published use case on your own country, with your own official data.</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B · STEPS 2–5 · COMPARE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Compare in levels and in changes — then map what is left</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53</a:t>
            </a:r>
            <a:endParaRPr lang="en-US" sz="900" dirty="0"/>
          </a:p>
        </p:txBody>
      </p:sp>
      <p:sp>
        <p:nvSpPr>
          <p:cNvPr id="12" name="Shape 9"/>
          <p:cNvSpPr/>
          <p:nvPr/>
        </p:nvSpPr>
        <p:spPr>
          <a:xfrm>
            <a:off x="548640" y="1371600"/>
            <a:ext cx="5212080" cy="777240"/>
          </a:xfrm>
          <a:prstGeom prst="roundRect">
            <a:avLst>
              <a:gd name="adj" fmla="val 9412"/>
            </a:avLst>
          </a:prstGeom>
          <a:solidFill>
            <a:srgbClr val="F4F7F5"/>
          </a:solidFill>
          <a:ln w="9525">
            <a:solidFill>
              <a:srgbClr val="D5DED9"/>
            </a:solidFill>
            <a:prstDash val="solid"/>
          </a:ln>
        </p:spPr>
      </p:sp>
      <p:sp>
        <p:nvSpPr>
          <p:cNvPr id="13" name="Shape 10"/>
          <p:cNvSpPr/>
          <p:nvPr/>
        </p:nvSpPr>
        <p:spPr>
          <a:xfrm>
            <a:off x="713232" y="1527048"/>
            <a:ext cx="457200" cy="457200"/>
          </a:xfrm>
          <a:prstGeom prst="ellipse">
            <a:avLst/>
          </a:prstGeom>
          <a:solidFill>
            <a:srgbClr val="F5C242"/>
          </a:solidFill>
          <a:ln w="12700">
            <a:solidFill>
              <a:srgbClr val="F5C242"/>
            </a:solidFill>
            <a:prstDash val="solid"/>
          </a:ln>
        </p:spPr>
      </p:sp>
      <p:sp>
        <p:nvSpPr>
          <p:cNvPr id="14" name="Text 11"/>
          <p:cNvSpPr txBox="1"/>
          <p:nvPr/>
        </p:nvSpPr>
        <p:spPr>
          <a:xfrm>
            <a:off x="713232" y="1527048"/>
            <a:ext cx="457200" cy="457200"/>
          </a:xfrm>
          <a:prstGeom prst="rect">
            <a:avLst/>
          </a:prstGeom>
          <a:noFill/>
          <a:ln/>
        </p:spPr>
        <p:txBody>
          <a:bodyPr wrap="square" lIns="0" tIns="0" rIns="0" bIns="0" rtlCol="0" anchor="ctr"/>
          <a:lstStyle/>
          <a:p>
            <a:pPr marL="0" indent="0" algn="ctr">
              <a:buNone/>
            </a:pPr>
            <a:r>
              <a:rPr lang="en-US" sz="1300" b="1" dirty="0">
                <a:solidFill>
                  <a:srgbClr val="00553A"/>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325880" y="1417320"/>
            <a:ext cx="4297680" cy="301752"/>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Align</a:t>
            </a:r>
            <a:endParaRPr lang="en-US" sz="1300" dirty="0"/>
          </a:p>
        </p:txBody>
      </p:sp>
      <p:sp>
        <p:nvSpPr>
          <p:cNvPr id="16" name="Text 13"/>
          <p:cNvSpPr txBox="1"/>
          <p:nvPr/>
        </p:nvSpPr>
        <p:spPr>
          <a:xfrm>
            <a:off x="1325880" y="1719072"/>
            <a:ext cx="434340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Same units (regions or districts) and the same periods for both series.</a:t>
            </a:r>
            <a:endParaRPr lang="en-US" sz="1100" dirty="0"/>
          </a:p>
        </p:txBody>
      </p:sp>
      <p:sp>
        <p:nvSpPr>
          <p:cNvPr id="17" name="Shape 14"/>
          <p:cNvSpPr/>
          <p:nvPr/>
        </p:nvSpPr>
        <p:spPr>
          <a:xfrm>
            <a:off x="548640" y="2258568"/>
            <a:ext cx="5212080" cy="777240"/>
          </a:xfrm>
          <a:prstGeom prst="roundRect">
            <a:avLst>
              <a:gd name="adj" fmla="val 9412"/>
            </a:avLst>
          </a:prstGeom>
          <a:solidFill>
            <a:srgbClr val="F4F7F5"/>
          </a:solidFill>
          <a:ln w="9525">
            <a:solidFill>
              <a:srgbClr val="D5DED9"/>
            </a:solidFill>
            <a:prstDash val="solid"/>
          </a:ln>
        </p:spPr>
      </p:sp>
      <p:sp>
        <p:nvSpPr>
          <p:cNvPr id="18" name="Shape 15"/>
          <p:cNvSpPr/>
          <p:nvPr/>
        </p:nvSpPr>
        <p:spPr>
          <a:xfrm>
            <a:off x="713232" y="2414016"/>
            <a:ext cx="457200" cy="457200"/>
          </a:xfrm>
          <a:prstGeom prst="ellipse">
            <a:avLst/>
          </a:prstGeom>
          <a:solidFill>
            <a:srgbClr val="F5C242"/>
          </a:solidFill>
          <a:ln w="12700">
            <a:solidFill>
              <a:srgbClr val="F5C242"/>
            </a:solidFill>
            <a:prstDash val="solid"/>
          </a:ln>
        </p:spPr>
      </p:sp>
      <p:sp>
        <p:nvSpPr>
          <p:cNvPr id="19" name="Text 16"/>
          <p:cNvSpPr txBox="1"/>
          <p:nvPr/>
        </p:nvSpPr>
        <p:spPr>
          <a:xfrm>
            <a:off x="713232" y="2414016"/>
            <a:ext cx="457200" cy="457200"/>
          </a:xfrm>
          <a:prstGeom prst="rect">
            <a:avLst/>
          </a:prstGeom>
          <a:noFill/>
          <a:ln/>
        </p:spPr>
        <p:txBody>
          <a:bodyPr wrap="square" lIns="0" tIns="0" rIns="0" bIns="0" rtlCol="0" anchor="ctr"/>
          <a:lstStyle/>
          <a:p>
            <a:pPr marL="0" indent="0" algn="ctr">
              <a:buNone/>
            </a:pPr>
            <a:r>
              <a:rPr lang="en-US" sz="1300" b="1" dirty="0">
                <a:solidFill>
                  <a:srgbClr val="00553A"/>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325880" y="2304288"/>
            <a:ext cx="4297680" cy="301752"/>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Transform</a:t>
            </a:r>
            <a:endParaRPr lang="en-US" sz="1300" dirty="0"/>
          </a:p>
        </p:txBody>
      </p:sp>
      <p:sp>
        <p:nvSpPr>
          <p:cNvPr id="21" name="Text 18"/>
          <p:cNvSpPr txBox="1"/>
          <p:nvPr/>
        </p:nvSpPr>
        <p:spPr>
          <a:xfrm>
            <a:off x="1325880" y="2606040"/>
            <a:ext cx="434340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Logs for skewed totals; growth rates for change; per km² or per capita if justified.</a:t>
            </a:r>
            <a:endParaRPr lang="en-US" sz="1100" dirty="0"/>
          </a:p>
        </p:txBody>
      </p:sp>
      <p:sp>
        <p:nvSpPr>
          <p:cNvPr id="22" name="Shape 19"/>
          <p:cNvSpPr/>
          <p:nvPr/>
        </p:nvSpPr>
        <p:spPr>
          <a:xfrm>
            <a:off x="548640" y="3145536"/>
            <a:ext cx="5212080" cy="777240"/>
          </a:xfrm>
          <a:prstGeom prst="roundRect">
            <a:avLst>
              <a:gd name="adj" fmla="val 9412"/>
            </a:avLst>
          </a:prstGeom>
          <a:solidFill>
            <a:srgbClr val="F4F7F5"/>
          </a:solidFill>
          <a:ln w="9525">
            <a:solidFill>
              <a:srgbClr val="D5DED9"/>
            </a:solidFill>
            <a:prstDash val="solid"/>
          </a:ln>
        </p:spPr>
      </p:sp>
      <p:sp>
        <p:nvSpPr>
          <p:cNvPr id="23" name="Shape 20"/>
          <p:cNvSpPr/>
          <p:nvPr/>
        </p:nvSpPr>
        <p:spPr>
          <a:xfrm>
            <a:off x="713232" y="3300984"/>
            <a:ext cx="457200" cy="457200"/>
          </a:xfrm>
          <a:prstGeom prst="ellipse">
            <a:avLst/>
          </a:prstGeom>
          <a:solidFill>
            <a:srgbClr val="F5C242"/>
          </a:solidFill>
          <a:ln w="12700">
            <a:solidFill>
              <a:srgbClr val="F5C242"/>
            </a:solidFill>
            <a:prstDash val="solid"/>
          </a:ln>
        </p:spPr>
      </p:sp>
      <p:sp>
        <p:nvSpPr>
          <p:cNvPr id="24" name="Text 21"/>
          <p:cNvSpPr txBox="1"/>
          <p:nvPr/>
        </p:nvSpPr>
        <p:spPr>
          <a:xfrm>
            <a:off x="713232" y="3300984"/>
            <a:ext cx="457200" cy="457200"/>
          </a:xfrm>
          <a:prstGeom prst="rect">
            <a:avLst/>
          </a:prstGeom>
          <a:noFill/>
          <a:ln/>
        </p:spPr>
        <p:txBody>
          <a:bodyPr wrap="square" lIns="0" tIns="0" rIns="0" bIns="0" rtlCol="0" anchor="ctr"/>
          <a:lstStyle/>
          <a:p>
            <a:pPr marL="0" indent="0" algn="ctr">
              <a:buNone/>
            </a:pPr>
            <a:r>
              <a:rPr lang="en-US" sz="1300" b="1" dirty="0">
                <a:solidFill>
                  <a:srgbClr val="00553A"/>
                </a:solidFill>
                <a:latin typeface="Calibri" pitchFamily="34" charset="0"/>
                <a:ea typeface="Calibri" pitchFamily="34" charset="-122"/>
                <a:cs typeface="Calibri" pitchFamily="34" charset="-120"/>
              </a:rPr>
              <a:t>4</a:t>
            </a:r>
            <a:endParaRPr lang="en-US" sz="1300" dirty="0"/>
          </a:p>
        </p:txBody>
      </p:sp>
      <p:sp>
        <p:nvSpPr>
          <p:cNvPr id="25" name="Text 22"/>
          <p:cNvSpPr txBox="1"/>
          <p:nvPr/>
        </p:nvSpPr>
        <p:spPr>
          <a:xfrm>
            <a:off x="1325880" y="3191256"/>
            <a:ext cx="4297680" cy="301752"/>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Compare</a:t>
            </a:r>
            <a:endParaRPr lang="en-US" sz="1300" dirty="0"/>
          </a:p>
        </p:txBody>
      </p:sp>
      <p:sp>
        <p:nvSpPr>
          <p:cNvPr id="26" name="Text 23"/>
          <p:cNvSpPr txBox="1"/>
          <p:nvPr/>
        </p:nvSpPr>
        <p:spPr>
          <a:xfrm>
            <a:off x="1325880" y="3493008"/>
            <a:ext cx="434340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Scatter, correlation and slope — once in levels, once in changes.</a:t>
            </a:r>
            <a:endParaRPr lang="en-US" sz="1100" dirty="0"/>
          </a:p>
        </p:txBody>
      </p:sp>
      <p:sp>
        <p:nvSpPr>
          <p:cNvPr id="27" name="Shape 24"/>
          <p:cNvSpPr/>
          <p:nvPr/>
        </p:nvSpPr>
        <p:spPr>
          <a:xfrm>
            <a:off x="548640" y="4032504"/>
            <a:ext cx="5212080" cy="777240"/>
          </a:xfrm>
          <a:prstGeom prst="roundRect">
            <a:avLst>
              <a:gd name="adj" fmla="val 9412"/>
            </a:avLst>
          </a:prstGeom>
          <a:solidFill>
            <a:srgbClr val="F4F7F5"/>
          </a:solidFill>
          <a:ln w="9525">
            <a:solidFill>
              <a:srgbClr val="D5DED9"/>
            </a:solidFill>
            <a:prstDash val="solid"/>
          </a:ln>
        </p:spPr>
      </p:sp>
      <p:sp>
        <p:nvSpPr>
          <p:cNvPr id="28" name="Shape 25"/>
          <p:cNvSpPr/>
          <p:nvPr/>
        </p:nvSpPr>
        <p:spPr>
          <a:xfrm>
            <a:off x="713232" y="4187952"/>
            <a:ext cx="457200" cy="457200"/>
          </a:xfrm>
          <a:prstGeom prst="ellipse">
            <a:avLst/>
          </a:prstGeom>
          <a:solidFill>
            <a:srgbClr val="F5C242"/>
          </a:solidFill>
          <a:ln w="12700">
            <a:solidFill>
              <a:srgbClr val="F5C242"/>
            </a:solidFill>
            <a:prstDash val="solid"/>
          </a:ln>
        </p:spPr>
      </p:sp>
      <p:sp>
        <p:nvSpPr>
          <p:cNvPr id="29" name="Text 26"/>
          <p:cNvSpPr txBox="1"/>
          <p:nvPr/>
        </p:nvSpPr>
        <p:spPr>
          <a:xfrm>
            <a:off x="713232" y="4187952"/>
            <a:ext cx="457200" cy="457200"/>
          </a:xfrm>
          <a:prstGeom prst="rect">
            <a:avLst/>
          </a:prstGeom>
          <a:noFill/>
          <a:ln/>
        </p:spPr>
        <p:txBody>
          <a:bodyPr wrap="square" lIns="0" tIns="0" rIns="0" bIns="0" rtlCol="0" anchor="ctr"/>
          <a:lstStyle/>
          <a:p>
            <a:pPr marL="0" indent="0" algn="ctr">
              <a:buNone/>
            </a:pPr>
            <a:r>
              <a:rPr lang="en-US" sz="1300" b="1" dirty="0">
                <a:solidFill>
                  <a:srgbClr val="00553A"/>
                </a:solidFill>
                <a:latin typeface="Calibri" pitchFamily="34" charset="0"/>
                <a:ea typeface="Calibri" pitchFamily="34" charset="-122"/>
                <a:cs typeface="Calibri" pitchFamily="34" charset="-120"/>
              </a:rPr>
              <a:t>5</a:t>
            </a:r>
            <a:endParaRPr lang="en-US" sz="1300" dirty="0"/>
          </a:p>
        </p:txBody>
      </p:sp>
      <p:sp>
        <p:nvSpPr>
          <p:cNvPr id="30" name="Text 27"/>
          <p:cNvSpPr txBox="1"/>
          <p:nvPr/>
        </p:nvSpPr>
        <p:spPr>
          <a:xfrm>
            <a:off x="1325880" y="4078224"/>
            <a:ext cx="4297680" cy="301752"/>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Map residuals</a:t>
            </a:r>
            <a:endParaRPr lang="en-US" sz="1300" dirty="0"/>
          </a:p>
        </p:txBody>
      </p:sp>
      <p:sp>
        <p:nvSpPr>
          <p:cNvPr id="31" name="Text 28"/>
          <p:cNvSpPr txBox="1"/>
          <p:nvPr/>
        </p:nvSpPr>
        <p:spPr>
          <a:xfrm>
            <a:off x="1325880" y="4379976"/>
            <a:ext cx="434340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Where does the official indicator sit far above or below what lights predict?</a:t>
            </a:r>
            <a:endParaRPr lang="en-US" sz="1100" dirty="0"/>
          </a:p>
        </p:txBody>
      </p:sp>
      <p:sp>
        <p:nvSpPr>
          <p:cNvPr id="32" name="Shape 29"/>
          <p:cNvSpPr/>
          <p:nvPr/>
        </p:nvSpPr>
        <p:spPr>
          <a:xfrm>
            <a:off x="548640" y="4919472"/>
            <a:ext cx="5212080" cy="777240"/>
          </a:xfrm>
          <a:prstGeom prst="roundRect">
            <a:avLst>
              <a:gd name="adj" fmla="val 9412"/>
            </a:avLst>
          </a:prstGeom>
          <a:solidFill>
            <a:srgbClr val="F4F7F5"/>
          </a:solidFill>
          <a:ln w="9525">
            <a:solidFill>
              <a:srgbClr val="D5DED9"/>
            </a:solidFill>
            <a:prstDash val="solid"/>
          </a:ln>
        </p:spPr>
      </p:sp>
      <p:sp>
        <p:nvSpPr>
          <p:cNvPr id="33" name="Shape 30"/>
          <p:cNvSpPr/>
          <p:nvPr/>
        </p:nvSpPr>
        <p:spPr>
          <a:xfrm>
            <a:off x="713232" y="5074920"/>
            <a:ext cx="457200" cy="457200"/>
          </a:xfrm>
          <a:prstGeom prst="ellipse">
            <a:avLst/>
          </a:prstGeom>
          <a:solidFill>
            <a:srgbClr val="F5C242"/>
          </a:solidFill>
          <a:ln w="12700">
            <a:solidFill>
              <a:srgbClr val="F5C242"/>
            </a:solidFill>
            <a:prstDash val="solid"/>
          </a:ln>
        </p:spPr>
      </p:sp>
      <p:sp>
        <p:nvSpPr>
          <p:cNvPr id="34" name="Text 31"/>
          <p:cNvSpPr txBox="1"/>
          <p:nvPr/>
        </p:nvSpPr>
        <p:spPr>
          <a:xfrm>
            <a:off x="713232" y="5074920"/>
            <a:ext cx="457200" cy="457200"/>
          </a:xfrm>
          <a:prstGeom prst="rect">
            <a:avLst/>
          </a:prstGeom>
          <a:noFill/>
          <a:ln/>
        </p:spPr>
        <p:txBody>
          <a:bodyPr wrap="square" lIns="0" tIns="0" rIns="0" bIns="0" rtlCol="0" anchor="ctr"/>
          <a:lstStyle/>
          <a:p>
            <a:pPr marL="0" indent="0" algn="ctr">
              <a:buNone/>
            </a:pPr>
            <a:r>
              <a:rPr lang="en-US" sz="1300" b="1" dirty="0">
                <a:solidFill>
                  <a:srgbClr val="00553A"/>
                </a:solidFill>
                <a:latin typeface="Calibri" pitchFamily="34" charset="0"/>
                <a:ea typeface="Calibri" pitchFamily="34" charset="-122"/>
                <a:cs typeface="Calibri" pitchFamily="34" charset="-120"/>
              </a:rPr>
              <a:t>6</a:t>
            </a:r>
            <a:endParaRPr lang="en-US" sz="1300" dirty="0"/>
          </a:p>
        </p:txBody>
      </p:sp>
      <p:sp>
        <p:nvSpPr>
          <p:cNvPr id="35" name="Text 32"/>
          <p:cNvSpPr txBox="1"/>
          <p:nvPr/>
        </p:nvSpPr>
        <p:spPr>
          <a:xfrm>
            <a:off x="1325880" y="4965192"/>
            <a:ext cx="4297680" cy="301752"/>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Stress-test</a:t>
            </a:r>
            <a:endParaRPr lang="en-US" sz="1300" dirty="0"/>
          </a:p>
        </p:txBody>
      </p:sp>
      <p:sp>
        <p:nvSpPr>
          <p:cNvPr id="36" name="Text 33"/>
          <p:cNvSpPr txBox="1"/>
          <p:nvPr/>
        </p:nvSpPr>
        <p:spPr>
          <a:xfrm>
            <a:off x="1325880" y="5266944"/>
            <a:ext cx="434340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Drop the capital; change the threshold; remove masks one at a time.</a:t>
            </a:r>
            <a:endParaRPr lang="en-US" sz="1100" dirty="0"/>
          </a:p>
        </p:txBody>
      </p:sp>
      <p:sp>
        <p:nvSpPr>
          <p:cNvPr id="37" name="Shape 34"/>
          <p:cNvSpPr/>
          <p:nvPr/>
        </p:nvSpPr>
        <p:spPr>
          <a:xfrm>
            <a:off x="5989320" y="1371600"/>
            <a:ext cx="5650992" cy="4343400"/>
          </a:xfrm>
          <a:prstGeom prst="roundRect">
            <a:avLst>
              <a:gd name="adj" fmla="val 1684"/>
            </a:avLst>
          </a:prstGeom>
          <a:solidFill>
            <a:srgbClr val="0F2A1F"/>
          </a:solidFill>
          <a:ln w="9525">
            <a:solidFill>
              <a:srgbClr val="0F2A1F"/>
            </a:solidFill>
            <a:prstDash val="solid"/>
          </a:ln>
        </p:spPr>
      </p:sp>
      <p:sp>
        <p:nvSpPr>
          <p:cNvPr id="38" name="Text 35"/>
          <p:cNvSpPr txBox="1"/>
          <p:nvPr/>
        </p:nvSpPr>
        <p:spPr>
          <a:xfrm>
            <a:off x="6217920" y="1508760"/>
            <a:ext cx="5193792" cy="228600"/>
          </a:xfrm>
          <a:prstGeom prst="rect">
            <a:avLst/>
          </a:prstGeom>
          <a:noFill/>
          <a:ln/>
        </p:spPr>
        <p:txBody>
          <a:bodyPr wrap="square" lIns="0" tIns="0" rIns="0" bIns="0" rtlCol="0" anchor="t"/>
          <a:lstStyle/>
          <a:p>
            <a:pPr marL="0" indent="0">
              <a:buNone/>
            </a:pPr>
            <a:r>
              <a:rPr lang="en-US" sz="950" b="1" kern="0" spc="150" dirty="0">
                <a:solidFill>
                  <a:srgbClr val="F5C242"/>
                </a:solidFill>
                <a:latin typeface="Calibri" pitchFamily="34" charset="0"/>
                <a:ea typeface="Calibri" pitchFamily="34" charset="-122"/>
                <a:cs typeface="Calibri" pitchFamily="34" charset="-120"/>
              </a:rPr>
              <a:t>PYTHON · OPTION A EXAMPLE</a:t>
            </a:r>
            <a:endParaRPr lang="en-US" sz="950" dirty="0"/>
          </a:p>
        </p:txBody>
      </p:sp>
      <p:sp>
        <p:nvSpPr>
          <p:cNvPr id="39" name="Text 36"/>
          <p:cNvSpPr txBox="1"/>
          <p:nvPr/>
        </p:nvSpPr>
        <p:spPr>
          <a:xfrm>
            <a:off x="6217920" y="1810512"/>
            <a:ext cx="5193792" cy="3794760"/>
          </a:xfrm>
          <a:prstGeom prst="rect">
            <a:avLst/>
          </a:prstGeom>
          <a:noFill/>
          <a:ln/>
        </p:spPr>
        <p:txBody>
          <a:bodyPr wrap="square" lIns="0" tIns="0" rIns="0" bIns="0" rtlCol="0" anchor="t"/>
          <a:lstStyle/>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import numpy as np, statsmodels.formula.api as smf</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d = ntl_region.merge(official, on=["region", "year"])</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d["ln_ntl"], d["ln_y"] = np.log(d.sol), np.log(d.gdp)</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Levels: cross-section, pooled years</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lev = smf.ols("ln_y ~ ln_ntl + C(year)", d).fit()</a:t>
            </a:r>
            <a:endParaRPr lang="en-US" sz="1050" dirty="0"/>
          </a:p>
          <a:p>
            <a:pPr marL="0" indent="0">
              <a:lnSpc>
                <a:spcPct val="105000"/>
              </a:lnSpc>
              <a:buNone/>
            </a:pPr>
            <a:endParaRPr lang="en-US" sz="1050" dirty="0"/>
          </a:p>
          <a:p>
            <a:pPr marL="0" indent="0">
              <a:lnSpc>
                <a:spcPct val="105000"/>
              </a:lnSpc>
              <a:buNone/>
            </a:pPr>
            <a:r>
              <a:rPr lang="en-US" sz="1050" dirty="0">
                <a:solidFill>
                  <a:srgbClr val="8CCBAA"/>
                </a:solidFill>
                <a:latin typeface="Courier New" pitchFamily="34" charset="0"/>
                <a:ea typeface="Courier New" pitchFamily="34" charset="-122"/>
                <a:cs typeface="Courier New" pitchFamily="34" charset="-120"/>
              </a:rPr>
              <a:t># Changes: growth within region over time</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d = d.sort_values(["region", "year"])</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g = d.groupby("region")[["ln_y", "ln_ntl"]].diff()</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chg = smf.ols("ln_y ~ ln_ntl", g.dropna()).fit()</a:t>
            </a:r>
            <a:endParaRPr lang="en-US" sz="1050" dirty="0"/>
          </a:p>
          <a:p>
            <a:pPr marL="0" indent="0">
              <a:lnSpc>
                <a:spcPct val="105000"/>
              </a:lnSpc>
              <a:buNone/>
            </a:pP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print(lev.params, lev.rsquared)</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print(chg.params, chg.rsquared)</a:t>
            </a:r>
            <a:endParaRPr lang="en-US" sz="1050" dirty="0"/>
          </a:p>
          <a:p>
            <a:pPr marL="0" indent="0">
              <a:lnSpc>
                <a:spcPct val="105000"/>
              </a:lnSpc>
              <a:buNone/>
            </a:pPr>
            <a:r>
              <a:rPr lang="en-US" sz="1050" dirty="0">
                <a:solidFill>
                  <a:srgbClr val="EAF4EE"/>
                </a:solidFill>
                <a:latin typeface="Courier New" pitchFamily="34" charset="0"/>
                <a:ea typeface="Courier New" pitchFamily="34" charset="-122"/>
                <a:cs typeface="Courier New" pitchFamily="34" charset="-120"/>
              </a:rPr>
              <a:t>d["resid"] = lev.resid      # map this</a:t>
            </a:r>
            <a:endParaRPr lang="en-US" sz="1050" dirty="0"/>
          </a:p>
        </p:txBody>
      </p:sp>
      <p:sp>
        <p:nvSpPr>
          <p:cNvPr id="40" name="Text 37"/>
          <p:cNvSpPr txBox="1"/>
          <p:nvPr/>
        </p:nvSpPr>
        <p:spPr>
          <a:xfrm>
            <a:off x="548640" y="5870448"/>
            <a:ext cx="11094415" cy="27432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Adapt variable names to your files. For options B–D, swap the comparator and keep the levels-versus-changes logic.</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B · WHAT TO EXPECT</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Strong in levels, weaker in changes — the usual pattern</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54</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Illustrative synthetic data showing a typical pattern — not results for any country.</a:t>
            </a:r>
            <a:endParaRPr lang="en-US" sz="850" dirty="0"/>
          </a:p>
        </p:txBody>
      </p:sp>
      <p:graphicFrame>
        <p:nvGraphicFramePr>
          <p:cNvPr id="13" name="Chart 0"/>
          <p:cNvGraphicFramePr/>
          <p:nvPr/>
        </p:nvGraphicFramePr>
        <p:xfrm>
          <a:off x="548640" y="1325880"/>
          <a:ext cx="512064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
          <p:cNvGraphicFramePr/>
          <p:nvPr/>
        </p:nvGraphicFramePr>
        <p:xfrm>
          <a:off x="6309360" y="1325880"/>
          <a:ext cx="512064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10"/>
          <p:cNvSpPr/>
          <p:nvPr/>
        </p:nvSpPr>
        <p:spPr>
          <a:xfrm>
            <a:off x="548640" y="5120640"/>
            <a:ext cx="5120640" cy="685800"/>
          </a:xfrm>
          <a:prstGeom prst="roundRect">
            <a:avLst>
              <a:gd name="adj" fmla="val 10667"/>
            </a:avLst>
          </a:prstGeom>
          <a:solidFill>
            <a:srgbClr val="E8F5EF"/>
          </a:solidFill>
          <a:ln w="9525">
            <a:solidFill>
              <a:srgbClr val="E8F5EF"/>
            </a:solidFill>
            <a:prstDash val="solid"/>
          </a:ln>
        </p:spPr>
      </p:sp>
      <p:sp>
        <p:nvSpPr>
          <p:cNvPr id="16" name="Text 11"/>
          <p:cNvSpPr txBox="1"/>
          <p:nvPr/>
        </p:nvSpPr>
        <p:spPr>
          <a:xfrm>
            <a:off x="731520" y="5120640"/>
            <a:ext cx="4754880" cy="68580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Size drives both axes: big regions are bright and productive. A high correlation here proves little on its own.</a:t>
            </a:r>
            <a:endParaRPr lang="en-US" sz="1150" dirty="0"/>
          </a:p>
        </p:txBody>
      </p:sp>
      <p:sp>
        <p:nvSpPr>
          <p:cNvPr id="17" name="Shape 12"/>
          <p:cNvSpPr/>
          <p:nvPr/>
        </p:nvSpPr>
        <p:spPr>
          <a:xfrm>
            <a:off x="6309360" y="5120640"/>
            <a:ext cx="5330952" cy="685800"/>
          </a:xfrm>
          <a:prstGeom prst="roundRect">
            <a:avLst>
              <a:gd name="adj" fmla="val 10667"/>
            </a:avLst>
          </a:prstGeom>
          <a:solidFill>
            <a:srgbClr val="FDF5DC"/>
          </a:solidFill>
          <a:ln w="9525">
            <a:solidFill>
              <a:srgbClr val="FDF5DC"/>
            </a:solidFill>
            <a:prstDash val="solid"/>
          </a:ln>
        </p:spPr>
      </p:sp>
      <p:sp>
        <p:nvSpPr>
          <p:cNvPr id="18" name="Text 13"/>
          <p:cNvSpPr txBox="1"/>
          <p:nvPr/>
        </p:nvSpPr>
        <p:spPr>
          <a:xfrm>
            <a:off x="6492240" y="5120640"/>
            <a:ext cx="4983480" cy="685800"/>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The real test for monitoring: does light growth track output growth within the same region over time?</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LAB B · REPORT BACK · 15 MIN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Report where the relationship holds — in one sentence</a:t>
            </a:r>
            <a:endParaRPr lang="en-US" sz="2600" dirty="0"/>
          </a:p>
        </p:txBody>
      </p:sp>
      <p:sp>
        <p:nvSpPr>
          <p:cNvPr id="8" name="Shape 5"/>
          <p:cNvSpPr/>
          <p:nvPr/>
        </p:nvSpPr>
        <p:spPr>
          <a:xfrm>
            <a:off x="9905695" y="329184"/>
            <a:ext cx="1737360" cy="256032"/>
          </a:xfrm>
          <a:prstGeom prst="roundRect">
            <a:avLst>
              <a:gd name="adj" fmla="val 50000"/>
            </a:avLst>
          </a:prstGeom>
          <a:solidFill>
            <a:srgbClr val="F5C242"/>
          </a:solidFill>
          <a:ln w="12700">
            <a:solidFill>
              <a:srgbClr val="F5C242"/>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553A"/>
                </a:solidFill>
                <a:latin typeface="Calibri" pitchFamily="34" charset="0"/>
                <a:ea typeface="Calibri" pitchFamily="34" charset="-122"/>
                <a:cs typeface="Calibri" pitchFamily="34" charset="-120"/>
              </a:rPr>
              <a:t>LAB B</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55</a:t>
            </a:r>
            <a:endParaRPr lang="en-US" sz="900" dirty="0"/>
          </a:p>
        </p:txBody>
      </p:sp>
      <p:sp>
        <p:nvSpPr>
          <p:cNvPr id="12" name="Text 9"/>
          <p:cNvSpPr txBox="1"/>
          <p:nvPr/>
        </p:nvSpPr>
        <p:spPr>
          <a:xfrm>
            <a:off x="548640" y="1325880"/>
            <a:ext cx="5486400" cy="274320"/>
          </a:xfrm>
          <a:prstGeom prst="rect">
            <a:avLst/>
          </a:prstGeom>
          <a:noFill/>
          <a:ln/>
        </p:spPr>
        <p:txBody>
          <a:bodyPr wrap="square" lIns="0" tIns="0" rIns="0" bIns="0" rtlCol="0" anchor="t"/>
          <a:lstStyle/>
          <a:p>
            <a:pPr marL="0" indent="0">
              <a:buNone/>
            </a:pPr>
            <a:r>
              <a:rPr lang="en-US" sz="1000" b="1" kern="0" spc="150" dirty="0">
                <a:solidFill>
                  <a:srgbClr val="0E7C86"/>
                </a:solidFill>
                <a:latin typeface="Calibri" pitchFamily="34" charset="0"/>
                <a:ea typeface="Calibri" pitchFamily="34" charset="-122"/>
                <a:cs typeface="Calibri" pitchFamily="34" charset="-120"/>
              </a:rPr>
              <a:t>REPORTING CARD — ONE PER TEAM</a:t>
            </a:r>
            <a:endParaRPr lang="en-US" sz="1000" dirty="0"/>
          </a:p>
        </p:txBody>
      </p:sp>
      <p:sp>
        <p:nvSpPr>
          <p:cNvPr id="13" name="Shape 10"/>
          <p:cNvSpPr/>
          <p:nvPr/>
        </p:nvSpPr>
        <p:spPr>
          <a:xfrm>
            <a:off x="548640" y="1645920"/>
            <a:ext cx="2377440" cy="502920"/>
          </a:xfrm>
          <a:prstGeom prst="rect">
            <a:avLst/>
          </a:prstGeom>
          <a:solidFill>
            <a:srgbClr val="00704A"/>
          </a:solidFill>
          <a:ln w="6350">
            <a:solidFill>
              <a:srgbClr val="00704A"/>
            </a:solidFill>
            <a:prstDash val="solid"/>
          </a:ln>
        </p:spPr>
      </p:sp>
      <p:sp>
        <p:nvSpPr>
          <p:cNvPr id="14" name="Text 11"/>
          <p:cNvSpPr txBox="1"/>
          <p:nvPr/>
        </p:nvSpPr>
        <p:spPr>
          <a:xfrm>
            <a:off x="658368" y="1645920"/>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Application &amp; country</a:t>
            </a:r>
            <a:endParaRPr lang="en-US" sz="1150" dirty="0"/>
          </a:p>
        </p:txBody>
      </p:sp>
      <p:sp>
        <p:nvSpPr>
          <p:cNvPr id="15" name="Shape 12"/>
          <p:cNvSpPr/>
          <p:nvPr/>
        </p:nvSpPr>
        <p:spPr>
          <a:xfrm>
            <a:off x="2971800" y="1645920"/>
            <a:ext cx="4206240" cy="502920"/>
          </a:xfrm>
          <a:prstGeom prst="rect">
            <a:avLst/>
          </a:prstGeom>
          <a:solidFill>
            <a:srgbClr val="F4F7F5"/>
          </a:solidFill>
          <a:ln w="6350">
            <a:solidFill>
              <a:srgbClr val="F4F7F5"/>
            </a:solidFill>
            <a:prstDash val="solid"/>
          </a:ln>
        </p:spPr>
      </p:sp>
      <p:sp>
        <p:nvSpPr>
          <p:cNvPr id="16" name="Text 13"/>
          <p:cNvSpPr txBox="1"/>
          <p:nvPr/>
        </p:nvSpPr>
        <p:spPr>
          <a:xfrm>
            <a:off x="3108960" y="1645920"/>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e.g. Output proxy · regions of country X · 2013–2024</a:t>
            </a:r>
            <a:endParaRPr lang="en-US" sz="1100" dirty="0"/>
          </a:p>
        </p:txBody>
      </p:sp>
      <p:sp>
        <p:nvSpPr>
          <p:cNvPr id="17" name="Shape 14"/>
          <p:cNvSpPr/>
          <p:nvPr/>
        </p:nvSpPr>
        <p:spPr>
          <a:xfrm>
            <a:off x="548640" y="2221992"/>
            <a:ext cx="2377440" cy="502920"/>
          </a:xfrm>
          <a:prstGeom prst="rect">
            <a:avLst/>
          </a:prstGeom>
          <a:solidFill>
            <a:srgbClr val="00704A"/>
          </a:solidFill>
          <a:ln w="6350">
            <a:solidFill>
              <a:srgbClr val="00704A"/>
            </a:solidFill>
            <a:prstDash val="solid"/>
          </a:ln>
        </p:spPr>
      </p:sp>
      <p:sp>
        <p:nvSpPr>
          <p:cNvPr id="18" name="Text 15"/>
          <p:cNvSpPr txBox="1"/>
          <p:nvPr/>
        </p:nvSpPr>
        <p:spPr>
          <a:xfrm>
            <a:off x="658368" y="2221992"/>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Official comparator</a:t>
            </a:r>
            <a:endParaRPr lang="en-US" sz="1150" dirty="0"/>
          </a:p>
        </p:txBody>
      </p:sp>
      <p:sp>
        <p:nvSpPr>
          <p:cNvPr id="19" name="Shape 16"/>
          <p:cNvSpPr/>
          <p:nvPr/>
        </p:nvSpPr>
        <p:spPr>
          <a:xfrm>
            <a:off x="2971800" y="2221992"/>
            <a:ext cx="4206240" cy="502920"/>
          </a:xfrm>
          <a:prstGeom prst="rect">
            <a:avLst/>
          </a:prstGeom>
          <a:solidFill>
            <a:srgbClr val="F4F7F5"/>
          </a:solidFill>
          <a:ln w="6350">
            <a:solidFill>
              <a:srgbClr val="F4F7F5"/>
            </a:solidFill>
            <a:prstDash val="solid"/>
          </a:ln>
        </p:spPr>
      </p:sp>
      <p:sp>
        <p:nvSpPr>
          <p:cNvPr id="20" name="Text 17"/>
          <p:cNvSpPr txBox="1"/>
          <p:nvPr/>
        </p:nvSpPr>
        <p:spPr>
          <a:xfrm>
            <a:off x="3108960" y="2221992"/>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Source, unit, years, number of units</a:t>
            </a:r>
            <a:endParaRPr lang="en-US" sz="1100" dirty="0"/>
          </a:p>
        </p:txBody>
      </p:sp>
      <p:sp>
        <p:nvSpPr>
          <p:cNvPr id="21" name="Shape 18"/>
          <p:cNvSpPr/>
          <p:nvPr/>
        </p:nvSpPr>
        <p:spPr>
          <a:xfrm>
            <a:off x="548640" y="2798064"/>
            <a:ext cx="2377440" cy="502920"/>
          </a:xfrm>
          <a:prstGeom prst="rect">
            <a:avLst/>
          </a:prstGeom>
          <a:solidFill>
            <a:srgbClr val="00704A"/>
          </a:solidFill>
          <a:ln w="6350">
            <a:solidFill>
              <a:srgbClr val="00704A"/>
            </a:solidFill>
            <a:prstDash val="solid"/>
          </a:ln>
        </p:spPr>
      </p:sp>
      <p:sp>
        <p:nvSpPr>
          <p:cNvPr id="22" name="Text 19"/>
          <p:cNvSpPr txBox="1"/>
          <p:nvPr/>
        </p:nvSpPr>
        <p:spPr>
          <a:xfrm>
            <a:off x="658368" y="2798064"/>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Strength in levels</a:t>
            </a:r>
            <a:endParaRPr lang="en-US" sz="1150" dirty="0"/>
          </a:p>
        </p:txBody>
      </p:sp>
      <p:sp>
        <p:nvSpPr>
          <p:cNvPr id="23" name="Shape 20"/>
          <p:cNvSpPr/>
          <p:nvPr/>
        </p:nvSpPr>
        <p:spPr>
          <a:xfrm>
            <a:off x="2971800" y="2798064"/>
            <a:ext cx="4206240" cy="502920"/>
          </a:xfrm>
          <a:prstGeom prst="rect">
            <a:avLst/>
          </a:prstGeom>
          <a:solidFill>
            <a:srgbClr val="F4F7F5"/>
          </a:solidFill>
          <a:ln w="6350">
            <a:solidFill>
              <a:srgbClr val="F4F7F5"/>
            </a:solidFill>
            <a:prstDash val="solid"/>
          </a:ln>
        </p:spPr>
      </p:sp>
      <p:sp>
        <p:nvSpPr>
          <p:cNvPr id="24" name="Text 21"/>
          <p:cNvSpPr txBox="1"/>
          <p:nvPr/>
        </p:nvSpPr>
        <p:spPr>
          <a:xfrm>
            <a:off x="3108960" y="2798064"/>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Correlation / slope / R²</a:t>
            </a:r>
            <a:endParaRPr lang="en-US" sz="1100" dirty="0"/>
          </a:p>
        </p:txBody>
      </p:sp>
      <p:sp>
        <p:nvSpPr>
          <p:cNvPr id="25" name="Shape 22"/>
          <p:cNvSpPr/>
          <p:nvPr/>
        </p:nvSpPr>
        <p:spPr>
          <a:xfrm>
            <a:off x="548640" y="3374136"/>
            <a:ext cx="2377440" cy="502920"/>
          </a:xfrm>
          <a:prstGeom prst="rect">
            <a:avLst/>
          </a:prstGeom>
          <a:solidFill>
            <a:srgbClr val="00704A"/>
          </a:solidFill>
          <a:ln w="6350">
            <a:solidFill>
              <a:srgbClr val="00704A"/>
            </a:solidFill>
            <a:prstDash val="solid"/>
          </a:ln>
        </p:spPr>
      </p:sp>
      <p:sp>
        <p:nvSpPr>
          <p:cNvPr id="26" name="Text 23"/>
          <p:cNvSpPr txBox="1"/>
          <p:nvPr/>
        </p:nvSpPr>
        <p:spPr>
          <a:xfrm>
            <a:off x="658368" y="3374136"/>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Strength in changes</a:t>
            </a:r>
            <a:endParaRPr lang="en-US" sz="1150" dirty="0"/>
          </a:p>
        </p:txBody>
      </p:sp>
      <p:sp>
        <p:nvSpPr>
          <p:cNvPr id="27" name="Shape 24"/>
          <p:cNvSpPr/>
          <p:nvPr/>
        </p:nvSpPr>
        <p:spPr>
          <a:xfrm>
            <a:off x="2971800" y="3374136"/>
            <a:ext cx="4206240" cy="502920"/>
          </a:xfrm>
          <a:prstGeom prst="rect">
            <a:avLst/>
          </a:prstGeom>
          <a:solidFill>
            <a:srgbClr val="F4F7F5"/>
          </a:solidFill>
          <a:ln w="6350">
            <a:solidFill>
              <a:srgbClr val="F4F7F5"/>
            </a:solidFill>
            <a:prstDash val="solid"/>
          </a:ln>
        </p:spPr>
      </p:sp>
      <p:sp>
        <p:nvSpPr>
          <p:cNvPr id="28" name="Text 25"/>
          <p:cNvSpPr txBox="1"/>
          <p:nvPr/>
        </p:nvSpPr>
        <p:spPr>
          <a:xfrm>
            <a:off x="3108960" y="3374136"/>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Correlation / slope / R² of growth rates</a:t>
            </a:r>
            <a:endParaRPr lang="en-US" sz="1100" dirty="0"/>
          </a:p>
        </p:txBody>
      </p:sp>
      <p:sp>
        <p:nvSpPr>
          <p:cNvPr id="29" name="Shape 26"/>
          <p:cNvSpPr/>
          <p:nvPr/>
        </p:nvSpPr>
        <p:spPr>
          <a:xfrm>
            <a:off x="548640" y="3950208"/>
            <a:ext cx="2377440" cy="502920"/>
          </a:xfrm>
          <a:prstGeom prst="rect">
            <a:avLst/>
          </a:prstGeom>
          <a:solidFill>
            <a:srgbClr val="00704A"/>
          </a:solidFill>
          <a:ln w="6350">
            <a:solidFill>
              <a:srgbClr val="00704A"/>
            </a:solidFill>
            <a:prstDash val="solid"/>
          </a:ln>
        </p:spPr>
      </p:sp>
      <p:sp>
        <p:nvSpPr>
          <p:cNvPr id="30" name="Text 27"/>
          <p:cNvSpPr txBox="1"/>
          <p:nvPr/>
        </p:nvSpPr>
        <p:spPr>
          <a:xfrm>
            <a:off x="658368" y="3950208"/>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Holds where …</a:t>
            </a:r>
            <a:endParaRPr lang="en-US" sz="1150" dirty="0"/>
          </a:p>
        </p:txBody>
      </p:sp>
      <p:sp>
        <p:nvSpPr>
          <p:cNvPr id="31" name="Shape 28"/>
          <p:cNvSpPr/>
          <p:nvPr/>
        </p:nvSpPr>
        <p:spPr>
          <a:xfrm>
            <a:off x="2971800" y="3950208"/>
            <a:ext cx="4206240" cy="502920"/>
          </a:xfrm>
          <a:prstGeom prst="rect">
            <a:avLst/>
          </a:prstGeom>
          <a:solidFill>
            <a:srgbClr val="F4F7F5"/>
          </a:solidFill>
          <a:ln w="6350">
            <a:solidFill>
              <a:srgbClr val="F4F7F5"/>
            </a:solidFill>
            <a:prstDash val="solid"/>
          </a:ln>
        </p:spPr>
      </p:sp>
      <p:sp>
        <p:nvSpPr>
          <p:cNvPr id="32" name="Text 29"/>
          <p:cNvSpPr txBox="1"/>
          <p:nvPr/>
        </p:nvSpPr>
        <p:spPr>
          <a:xfrm>
            <a:off x="3108960" y="3950208"/>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Regions, periods or sectors where the fit is good</a:t>
            </a:r>
            <a:endParaRPr lang="en-US" sz="1100" dirty="0"/>
          </a:p>
        </p:txBody>
      </p:sp>
      <p:sp>
        <p:nvSpPr>
          <p:cNvPr id="33" name="Shape 30"/>
          <p:cNvSpPr/>
          <p:nvPr/>
        </p:nvSpPr>
        <p:spPr>
          <a:xfrm>
            <a:off x="548640" y="4526280"/>
            <a:ext cx="2377440" cy="502920"/>
          </a:xfrm>
          <a:prstGeom prst="rect">
            <a:avLst/>
          </a:prstGeom>
          <a:solidFill>
            <a:srgbClr val="00704A"/>
          </a:solidFill>
          <a:ln w="6350">
            <a:solidFill>
              <a:srgbClr val="00704A"/>
            </a:solidFill>
            <a:prstDash val="solid"/>
          </a:ln>
        </p:spPr>
      </p:sp>
      <p:sp>
        <p:nvSpPr>
          <p:cNvPr id="34" name="Text 31"/>
          <p:cNvSpPr txBox="1"/>
          <p:nvPr/>
        </p:nvSpPr>
        <p:spPr>
          <a:xfrm>
            <a:off x="658368" y="4526280"/>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Breaks where …</a:t>
            </a:r>
            <a:endParaRPr lang="en-US" sz="1150" dirty="0"/>
          </a:p>
        </p:txBody>
      </p:sp>
      <p:sp>
        <p:nvSpPr>
          <p:cNvPr id="35" name="Shape 32"/>
          <p:cNvSpPr/>
          <p:nvPr/>
        </p:nvSpPr>
        <p:spPr>
          <a:xfrm>
            <a:off x="2971800" y="4526280"/>
            <a:ext cx="4206240" cy="502920"/>
          </a:xfrm>
          <a:prstGeom prst="rect">
            <a:avLst/>
          </a:prstGeom>
          <a:solidFill>
            <a:srgbClr val="F4F7F5"/>
          </a:solidFill>
          <a:ln w="6350">
            <a:solidFill>
              <a:srgbClr val="F4F7F5"/>
            </a:solidFill>
            <a:prstDash val="solid"/>
          </a:ln>
        </p:spPr>
      </p:sp>
      <p:sp>
        <p:nvSpPr>
          <p:cNvPr id="36" name="Text 33"/>
          <p:cNvSpPr txBox="1"/>
          <p:nvPr/>
        </p:nvSpPr>
        <p:spPr>
          <a:xfrm>
            <a:off x="3108960" y="4526280"/>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…and which link of the inferential chain explains it</a:t>
            </a:r>
            <a:endParaRPr lang="en-US" sz="1100" dirty="0"/>
          </a:p>
        </p:txBody>
      </p:sp>
      <p:sp>
        <p:nvSpPr>
          <p:cNvPr id="37" name="Shape 34"/>
          <p:cNvSpPr/>
          <p:nvPr/>
        </p:nvSpPr>
        <p:spPr>
          <a:xfrm>
            <a:off x="548640" y="5102352"/>
            <a:ext cx="2377440" cy="502920"/>
          </a:xfrm>
          <a:prstGeom prst="rect">
            <a:avLst/>
          </a:prstGeom>
          <a:solidFill>
            <a:srgbClr val="00704A"/>
          </a:solidFill>
          <a:ln w="6350">
            <a:solidFill>
              <a:srgbClr val="00704A"/>
            </a:solidFill>
            <a:prstDash val="solid"/>
          </a:ln>
        </p:spPr>
      </p:sp>
      <p:sp>
        <p:nvSpPr>
          <p:cNvPr id="38" name="Text 35"/>
          <p:cNvSpPr txBox="1"/>
          <p:nvPr/>
        </p:nvSpPr>
        <p:spPr>
          <a:xfrm>
            <a:off x="658368" y="5102352"/>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p>
        </p:txBody>
      </p:sp>
      <p:sp>
        <p:nvSpPr>
          <p:cNvPr id="39" name="Shape 36"/>
          <p:cNvSpPr/>
          <p:nvPr/>
        </p:nvSpPr>
        <p:spPr>
          <a:xfrm>
            <a:off x="2971800" y="5102352"/>
            <a:ext cx="4206240" cy="502920"/>
          </a:xfrm>
          <a:prstGeom prst="rect">
            <a:avLst/>
          </a:prstGeom>
          <a:solidFill>
            <a:srgbClr val="FDF5DC"/>
          </a:solidFill>
          <a:ln w="6350">
            <a:solidFill>
              <a:srgbClr val="FDF5DC"/>
            </a:solidFill>
            <a:prstDash val="solid"/>
          </a:ln>
        </p:spPr>
      </p:sp>
      <p:sp>
        <p:nvSpPr>
          <p:cNvPr id="40" name="Text 37"/>
          <p:cNvSpPr txBox="1"/>
          <p:nvPr/>
        </p:nvSpPr>
        <p:spPr>
          <a:xfrm>
            <a:off x="3108960" y="5102352"/>
            <a:ext cx="3977640" cy="50292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Experimental statistic · diagnostic tool · not fit for purpose</a:t>
            </a:r>
            <a:endParaRPr lang="en-US" sz="1100" dirty="0"/>
          </a:p>
        </p:txBody>
      </p:sp>
      <p:sp>
        <p:nvSpPr>
          <p:cNvPr id="41" name="Shape 38"/>
          <p:cNvSpPr/>
          <p:nvPr/>
        </p:nvSpPr>
        <p:spPr>
          <a:xfrm>
            <a:off x="7498080" y="1325880"/>
            <a:ext cx="4142232" cy="4434840"/>
          </a:xfrm>
          <a:prstGeom prst="roundRect">
            <a:avLst>
              <a:gd name="adj" fmla="val 1766"/>
            </a:avLst>
          </a:prstGeom>
          <a:solidFill>
            <a:srgbClr val="00553A"/>
          </a:solidFill>
          <a:ln w="9525">
            <a:solidFill>
              <a:srgbClr val="00553A"/>
            </a:solidFill>
            <a:prstDash val="solid"/>
          </a:ln>
        </p:spPr>
      </p:sp>
      <p:pic>
        <p:nvPicPr>
          <p:cNvPr id="42" name="Image 1" descr="preencoded.png"/>
          <p:cNvPicPr>
            <a:picLocks noChangeAspect="1"/>
          </p:cNvPicPr>
          <p:nvPr/>
        </p:nvPicPr>
        <p:blipFill>
          <a:blip r:embed="rId4"/>
          <a:stretch>
            <a:fillRect/>
          </a:stretch>
        </p:blipFill>
        <p:spPr>
          <a:xfrm>
            <a:off x="7726680" y="1554480"/>
            <a:ext cx="411480" cy="411480"/>
          </a:xfrm>
          <a:prstGeom prst="rect">
            <a:avLst/>
          </a:prstGeom>
        </p:spPr>
      </p:pic>
      <p:sp>
        <p:nvSpPr>
          <p:cNvPr id="43" name="Text 39"/>
          <p:cNvSpPr txBox="1"/>
          <p:nvPr/>
        </p:nvSpPr>
        <p:spPr>
          <a:xfrm>
            <a:off x="8275320" y="1554480"/>
            <a:ext cx="3200400" cy="411480"/>
          </a:xfrm>
          <a:prstGeom prst="rect">
            <a:avLst/>
          </a:prstGeom>
          <a:noFill/>
          <a:ln/>
        </p:spPr>
        <p:txBody>
          <a:bodyPr wrap="square" lIns="0" tIns="0" rIns="0" bIns="0" rtlCol="0" anchor="ctr"/>
          <a:lstStyle/>
          <a:p>
            <a:pPr marL="0" indent="0">
              <a:buNone/>
            </a:pPr>
            <a:r>
              <a:rPr lang="en-US" sz="1400" b="1" dirty="0">
                <a:solidFill>
                  <a:srgbClr val="F5C242"/>
                </a:solidFill>
                <a:latin typeface="Calibri" pitchFamily="34" charset="0"/>
                <a:ea typeface="Calibri" pitchFamily="34" charset="-122"/>
                <a:cs typeface="Calibri" pitchFamily="34" charset="-120"/>
              </a:rPr>
              <a:t>The one-sentence report</a:t>
            </a:r>
            <a:endParaRPr lang="en-US" sz="1400" dirty="0"/>
          </a:p>
        </p:txBody>
      </p:sp>
      <p:sp>
        <p:nvSpPr>
          <p:cNvPr id="44" name="Text 40"/>
          <p:cNvSpPr txBox="1"/>
          <p:nvPr/>
        </p:nvSpPr>
        <p:spPr>
          <a:xfrm>
            <a:off x="7726680" y="2148840"/>
            <a:ext cx="3703320" cy="2377440"/>
          </a:xfrm>
          <a:prstGeom prst="rect">
            <a:avLst/>
          </a:prstGeom>
          <a:noFill/>
          <a:ln/>
        </p:spPr>
        <p:txBody>
          <a:bodyPr wrap="square" lIns="0" tIns="0" rIns="0" bIns="0" rtlCol="0" anchor="t"/>
          <a:lstStyle/>
          <a:p>
            <a:pPr marL="0" indent="0">
              <a:buNone/>
            </a:pPr>
            <a:r>
              <a:rPr lang="en-US" sz="1300" i="1" dirty="0">
                <a:solidFill>
                  <a:srgbClr val="FFFFFF"/>
                </a:solidFill>
                <a:latin typeface="Calibri" pitchFamily="34" charset="0"/>
                <a:ea typeface="Calibri" pitchFamily="34" charset="-122"/>
                <a:cs typeface="Calibri" pitchFamily="34" charset="-120"/>
              </a:rPr>
              <a:t>“Night-time lights track [official indicator] well in [where / when], because [lighting behaviour holds]; they break down in [where / when], because [link in the chain fails]. We classify the indicator as [decision].”</a:t>
            </a:r>
            <a:endParaRPr lang="en-US" sz="1300" dirty="0"/>
          </a:p>
        </p:txBody>
      </p:sp>
      <p:sp>
        <p:nvSpPr>
          <p:cNvPr id="45" name="Text 41"/>
          <p:cNvSpPr txBox="1"/>
          <p:nvPr/>
        </p:nvSpPr>
        <p:spPr>
          <a:xfrm>
            <a:off x="7726680" y="4754880"/>
            <a:ext cx="3703320" cy="822960"/>
          </a:xfrm>
          <a:prstGeom prst="rect">
            <a:avLst/>
          </a:prstGeom>
          <a:noFill/>
          <a:ln/>
        </p:spPr>
        <p:txBody>
          <a:bodyPr wrap="square" lIns="0" tIns="0" rIns="0" bIns="0" rtlCol="0" anchor="t"/>
          <a:lstStyle/>
          <a:p>
            <a:pPr marL="0" indent="0">
              <a:buNone/>
            </a:pPr>
            <a:r>
              <a:rPr lang="en-US" sz="1100" dirty="0">
                <a:solidFill>
                  <a:srgbClr val="A9D3BE"/>
                </a:solidFill>
                <a:latin typeface="Calibri" pitchFamily="34" charset="0"/>
                <a:ea typeface="Calibri" pitchFamily="34" charset="-122"/>
                <a:cs typeface="Calibri" pitchFamily="34" charset="-120"/>
              </a:rPr>
              <a:t>Two minutes per team. The cards are collected to seed follow-up project briefs.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Southern Africa  ·  Illustrative rendering: GeoNames settlement populations, Natural Earth borders</a:t>
            </a:r>
            <a:endParaRPr lang="en-US" sz="800" dirty="0"/>
          </a:p>
        </p:txBody>
      </p:sp>
      <p:sp>
        <p:nvSpPr>
          <p:cNvPr id="3" name="Shape 1"/>
          <p:cNvSpPr/>
          <p:nvPr/>
        </p:nvSpPr>
        <p:spPr>
          <a:xfrm>
            <a:off x="0" y="6766560"/>
            <a:ext cx="9509522" cy="91440"/>
          </a:xfrm>
          <a:prstGeom prst="rect">
            <a:avLst/>
          </a:prstGeom>
          <a:solidFill>
            <a:srgbClr val="00704A"/>
          </a:solidFill>
          <a:ln w="6350">
            <a:solidFill>
              <a:srgbClr val="00704A"/>
            </a:solidFill>
            <a:prstDash val="solid"/>
          </a:ln>
        </p:spPr>
      </p:sp>
      <p:sp>
        <p:nvSpPr>
          <p:cNvPr id="4" name="Shape 2"/>
          <p:cNvSpPr/>
          <p:nvPr/>
        </p:nvSpPr>
        <p:spPr>
          <a:xfrm>
            <a:off x="9509522" y="6766560"/>
            <a:ext cx="2682173" cy="91440"/>
          </a:xfrm>
          <a:prstGeom prst="rect">
            <a:avLst/>
          </a:prstGeom>
          <a:solidFill>
            <a:srgbClr val="F5C242"/>
          </a:solidFill>
          <a:ln w="6350">
            <a:solidFill>
              <a:srgbClr val="F5C242"/>
            </a:solidFill>
            <a:prstDash val="solid"/>
          </a:ln>
        </p:spPr>
      </p:sp>
      <p:sp>
        <p:nvSpPr>
          <p:cNvPr id="5" name="Text 3"/>
          <p:cNvSpPr txBox="1"/>
          <p:nvPr/>
        </p:nvSpPr>
        <p:spPr>
          <a:xfrm>
            <a:off x="822960" y="123444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SECTION 5</a:t>
            </a:r>
            <a:endParaRPr lang="en-US" sz="1100" dirty="0"/>
          </a:p>
        </p:txBody>
      </p:sp>
      <p:sp>
        <p:nvSpPr>
          <p:cNvPr id="6" name="Text 4"/>
          <p:cNvSpPr txBox="1"/>
          <p:nvPr/>
        </p:nvSpPr>
        <p:spPr>
          <a:xfrm>
            <a:off x="822960" y="1554480"/>
            <a:ext cx="3657600" cy="1188720"/>
          </a:xfrm>
          <a:prstGeom prst="rect">
            <a:avLst/>
          </a:prstGeom>
          <a:noFill/>
          <a:ln/>
        </p:spPr>
        <p:txBody>
          <a:bodyPr wrap="square" lIns="0" tIns="0" rIns="0" bIns="0" rtlCol="0" anchor="ctr"/>
          <a:lstStyle/>
          <a:p>
            <a:pPr marL="0" indent="0">
              <a:buNone/>
            </a:pPr>
            <a:r>
              <a:rPr lang="en-US" sz="8000" b="1" dirty="0">
                <a:solidFill>
                  <a:srgbClr val="F5C242"/>
                </a:solidFill>
                <a:latin typeface="Calibri" pitchFamily="34" charset="0"/>
                <a:ea typeface="Calibri" pitchFamily="34" charset="-122"/>
                <a:cs typeface="Calibri" pitchFamily="34" charset="-120"/>
              </a:rPr>
              <a:t>05</a:t>
            </a:r>
            <a:endParaRPr lang="en-US" sz="8000" dirty="0"/>
          </a:p>
        </p:txBody>
      </p:sp>
      <p:sp>
        <p:nvSpPr>
          <p:cNvPr id="7" name="Text 5"/>
          <p:cNvSpPr txBox="1"/>
          <p:nvPr/>
        </p:nvSpPr>
        <p:spPr>
          <a:xfrm>
            <a:off x="822960" y="278892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From session to practice</a:t>
            </a:r>
            <a:endParaRPr lang="en-US" sz="3800" dirty="0"/>
          </a:p>
        </p:txBody>
      </p:sp>
      <p:sp>
        <p:nvSpPr>
          <p:cNvPr id="8" name="Text 6"/>
          <p:cNvSpPr txBox="1"/>
          <p:nvPr/>
        </p:nvSpPr>
        <p:spPr>
          <a:xfrm>
            <a:off x="822960" y="3566160"/>
            <a:ext cx="6035040" cy="731520"/>
          </a:xfrm>
          <a:prstGeom prst="rect">
            <a:avLst/>
          </a:prstGeom>
          <a:noFill/>
          <a:ln/>
        </p:spPr>
        <p:txBody>
          <a:bodyPr wrap="square" lIns="0" tIns="0" rIns="0" bIns="0" rtlCol="0" anchor="t"/>
          <a:lstStyle/>
          <a:p>
            <a:pPr marL="0" indent="0">
              <a:buNone/>
            </a:pPr>
            <a:r>
              <a:rPr lang="en-US" sz="1700" i="1" dirty="0">
                <a:solidFill>
                  <a:srgbClr val="CDE8DA"/>
                </a:solidFill>
                <a:latin typeface="Calibri" pitchFamily="34" charset="0"/>
                <a:ea typeface="Calibri" pitchFamily="34" charset="-122"/>
                <a:cs typeface="Calibri" pitchFamily="34" charset="-120"/>
              </a:rPr>
              <a:t>How do these outputs become something your institution can publish?</a:t>
            </a:r>
            <a:endParaRPr lang="en-US" sz="1700" dirty="0"/>
          </a:p>
        </p:txBody>
      </p:sp>
      <p:sp>
        <p:nvSpPr>
          <p:cNvPr id="9" name="Text 7"/>
          <p:cNvSpPr txBox="1"/>
          <p:nvPr/>
        </p:nvSpPr>
        <p:spPr>
          <a:xfrm>
            <a:off x="822960" y="4663440"/>
            <a:ext cx="6035040" cy="548640"/>
          </a:xfrm>
          <a:prstGeom prst="rect">
            <a:avLst/>
          </a:prstGeom>
          <a:noFill/>
          <a:ln/>
        </p:spPr>
        <p:txBody>
          <a:bodyPr wrap="square" lIns="0" tIns="0" rIns="0" bIns="0" rtlCol="0" anchor="t"/>
          <a:lstStyle/>
          <a:p>
            <a:pPr marL="0" indent="0">
              <a:buNone/>
            </a:pPr>
            <a:r>
              <a:rPr lang="en-US" sz="1200" dirty="0">
                <a:solidFill>
                  <a:srgbClr val="A9D3BE"/>
                </a:solidFill>
                <a:latin typeface="Calibri" pitchFamily="34" charset="0"/>
                <a:ea typeface="Calibri" pitchFamily="34" charset="-122"/>
                <a:cs typeface="Calibri" pitchFamily="34" charset="-120"/>
              </a:rPr>
              <a:t>Pipeline  ·  Choosing a product  ·  Validation  ·  Checklist  ·  Ethics  ·  Project briefs</a:t>
            </a:r>
            <a:endParaRPr lang="en-US" sz="1200" dirty="0"/>
          </a:p>
        </p:txBody>
      </p:sp>
      <p:sp>
        <p:nvSpPr>
          <p:cNvPr id="10" name="Shape 8"/>
          <p:cNvSpPr/>
          <p:nvPr/>
        </p:nvSpPr>
        <p:spPr>
          <a:xfrm>
            <a:off x="822960" y="5303520"/>
            <a:ext cx="2926080" cy="310896"/>
          </a:xfrm>
          <a:prstGeom prst="roundRect">
            <a:avLst>
              <a:gd name="adj" fmla="val 50000"/>
            </a:avLst>
          </a:prstGeom>
          <a:solidFill>
            <a:srgbClr val="F5C242"/>
          </a:solidFill>
          <a:ln w="12700">
            <a:solidFill>
              <a:srgbClr val="F5C242"/>
            </a:solidFill>
            <a:prstDash val="solid"/>
          </a:ln>
        </p:spPr>
      </p:sp>
      <p:sp>
        <p:nvSpPr>
          <p:cNvPr id="11" name="Text 9"/>
          <p:cNvSpPr txBox="1"/>
          <p:nvPr/>
        </p:nvSpPr>
        <p:spPr>
          <a:xfrm>
            <a:off x="822960" y="5303520"/>
            <a:ext cx="2926080" cy="310896"/>
          </a:xfrm>
          <a:prstGeom prst="rect">
            <a:avLst/>
          </a:prstGeom>
          <a:noFill/>
          <a:ln/>
        </p:spPr>
        <p:txBody>
          <a:bodyPr wrap="square" lIns="0" tIns="0" rIns="0" bIns="0" rtlCol="0" anchor="ctr"/>
          <a:lstStyle/>
          <a:p>
            <a:pPr marL="0" indent="0" algn="ctr">
              <a:buNone/>
            </a:pPr>
            <a:r>
              <a:rPr lang="en-US" sz="1000" b="1" kern="0" spc="100" dirty="0">
                <a:solidFill>
                  <a:srgbClr val="00553A"/>
                </a:solidFill>
                <a:latin typeface="Calibri" pitchFamily="34" charset="0"/>
                <a:ea typeface="Calibri" pitchFamily="34" charset="-122"/>
                <a:cs typeface="Calibri" pitchFamily="34" charset="-120"/>
              </a:rPr>
              <a:t>REFERENCE  ·  FOR FOLLOW-UP WORK</a:t>
            </a:r>
            <a:endParaRPr lang="en-US" sz="1000" dirty="0"/>
          </a:p>
        </p:txBody>
      </p:sp>
      <p:sp>
        <p:nvSpPr>
          <p:cNvPr id="12" name="Text 10"/>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dirty="0">
                <a:solidFill>
                  <a:srgbClr val="A9D3BE"/>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PROJECTS · WORKFLOW</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Five stages, one reproducible pipeline</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57</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Example open-source stack: BlackMarblePy / rasterio / xarray (read), geopandas (boundaries), exactextract or rasterstats (zonal statistics), statsmodels (validation), matplotlib (maps).</a:t>
            </a:r>
            <a:endParaRPr lang="en-US" sz="850" dirty="0"/>
          </a:p>
        </p:txBody>
      </p:sp>
      <p:sp>
        <p:nvSpPr>
          <p:cNvPr id="13" name="Shape 10"/>
          <p:cNvSpPr/>
          <p:nvPr/>
        </p:nvSpPr>
        <p:spPr>
          <a:xfrm>
            <a:off x="548640" y="1371600"/>
            <a:ext cx="2103120" cy="685800"/>
          </a:xfrm>
          <a:prstGeom prst="rect">
            <a:avLst/>
          </a:prstGeom>
          <a:solidFill>
            <a:srgbClr val="00704A"/>
          </a:solidFill>
          <a:ln w="6350">
            <a:solidFill>
              <a:srgbClr val="00704A"/>
            </a:solidFill>
            <a:prstDash val="solid"/>
          </a:ln>
        </p:spPr>
      </p:sp>
      <p:pic>
        <p:nvPicPr>
          <p:cNvPr id="14" name="Image 1" descr="preencoded.png"/>
          <p:cNvPicPr>
            <a:picLocks noChangeAspect="1"/>
          </p:cNvPicPr>
          <p:nvPr/>
        </p:nvPicPr>
        <p:blipFill>
          <a:blip r:embed="rId4"/>
          <a:stretch>
            <a:fillRect/>
          </a:stretch>
        </p:blipFill>
        <p:spPr>
          <a:xfrm>
            <a:off x="731520" y="1536192"/>
            <a:ext cx="365760" cy="365760"/>
          </a:xfrm>
          <a:prstGeom prst="rect">
            <a:avLst/>
          </a:prstGeom>
        </p:spPr>
      </p:pic>
      <p:sp>
        <p:nvSpPr>
          <p:cNvPr id="15" name="Text 11"/>
          <p:cNvSpPr txBox="1"/>
          <p:nvPr/>
        </p:nvSpPr>
        <p:spPr>
          <a:xfrm>
            <a:off x="1234440" y="1371600"/>
            <a:ext cx="13258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Collect</a:t>
            </a:r>
            <a:endParaRPr lang="en-US" sz="1600" dirty="0"/>
          </a:p>
        </p:txBody>
      </p:sp>
      <p:sp>
        <p:nvSpPr>
          <p:cNvPr id="16" name="Shape 12"/>
          <p:cNvSpPr/>
          <p:nvPr/>
        </p:nvSpPr>
        <p:spPr>
          <a:xfrm>
            <a:off x="548640" y="2148840"/>
            <a:ext cx="2103120" cy="2377440"/>
          </a:xfrm>
          <a:prstGeom prst="roundRect">
            <a:avLst>
              <a:gd name="adj" fmla="val 3478"/>
            </a:avLst>
          </a:prstGeom>
          <a:solidFill>
            <a:srgbClr val="F4F7F5"/>
          </a:solidFill>
          <a:ln w="9525">
            <a:solidFill>
              <a:srgbClr val="D5DED9"/>
            </a:solidFill>
            <a:prstDash val="solid"/>
          </a:ln>
        </p:spPr>
      </p:sp>
      <p:sp>
        <p:nvSpPr>
          <p:cNvPr id="17" name="Text 13"/>
          <p:cNvSpPr txBox="1"/>
          <p:nvPr/>
        </p:nvSpPr>
        <p:spPr>
          <a:xfrm>
            <a:off x="685800"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NASA Earthdata / LAADS DAAC</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BlackMarblePy · Earth Engine</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Bands &amp; quality flags</a:t>
            </a:r>
            <a:endParaRPr lang="en-US" sz="1300" dirty="0"/>
          </a:p>
        </p:txBody>
      </p:sp>
      <p:sp>
        <p:nvSpPr>
          <p:cNvPr id="18" name="Text 14"/>
          <p:cNvSpPr txBox="1"/>
          <p:nvPr/>
        </p:nvSpPr>
        <p:spPr>
          <a:xfrm>
            <a:off x="548640" y="4572000"/>
            <a:ext cx="2103120" cy="365760"/>
          </a:xfrm>
          <a:prstGeom prst="rect">
            <a:avLst/>
          </a:prstGeom>
          <a:noFill/>
          <a:ln/>
        </p:spPr>
        <p:txBody>
          <a:bodyPr wrap="square" lIns="0" tIns="0" rIns="0" bIns="0" rtlCol="0" anchor="t"/>
          <a:lstStyle/>
          <a:p>
            <a:pPr marL="0" indent="0" algn="ctr">
              <a:buNone/>
            </a:pPr>
            <a:r>
              <a:rPr lang="en-US" sz="1800" b="1" dirty="0">
                <a:solidFill>
                  <a:srgbClr val="00704A"/>
                </a:solidFill>
                <a:latin typeface="Calibri" pitchFamily="34" charset="0"/>
                <a:ea typeface="Calibri" pitchFamily="34" charset="-122"/>
                <a:cs typeface="Calibri" pitchFamily="34" charset="-120"/>
              </a:rPr>
              <a:t>↓</a:t>
            </a:r>
            <a:endParaRPr lang="en-US" sz="1800" dirty="0"/>
          </a:p>
        </p:txBody>
      </p:sp>
      <p:sp>
        <p:nvSpPr>
          <p:cNvPr id="19" name="Shape 15"/>
          <p:cNvSpPr/>
          <p:nvPr/>
        </p:nvSpPr>
        <p:spPr>
          <a:xfrm>
            <a:off x="685800" y="4983480"/>
            <a:ext cx="1828800" cy="347472"/>
          </a:xfrm>
          <a:prstGeom prst="roundRect">
            <a:avLst>
              <a:gd name="adj" fmla="val 50000"/>
            </a:avLst>
          </a:prstGeom>
          <a:solidFill>
            <a:srgbClr val="E8F5EF"/>
          </a:solidFill>
          <a:ln w="12700">
            <a:solidFill>
              <a:srgbClr val="E8F5EF"/>
            </a:solidFill>
            <a:prstDash val="solid"/>
          </a:ln>
        </p:spPr>
      </p:sp>
      <p:sp>
        <p:nvSpPr>
          <p:cNvPr id="20" name="Text 16"/>
          <p:cNvSpPr txBox="1"/>
          <p:nvPr/>
        </p:nvSpPr>
        <p:spPr>
          <a:xfrm>
            <a:off x="685800" y="4983480"/>
            <a:ext cx="1828800" cy="347472"/>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National subset</a:t>
            </a:r>
            <a:endParaRPr lang="en-US" sz="1000" dirty="0"/>
          </a:p>
        </p:txBody>
      </p:sp>
      <p:sp>
        <p:nvSpPr>
          <p:cNvPr id="21" name="Shape 17"/>
          <p:cNvSpPr/>
          <p:nvPr/>
        </p:nvSpPr>
        <p:spPr>
          <a:xfrm>
            <a:off x="2793492" y="1371600"/>
            <a:ext cx="2103120" cy="685800"/>
          </a:xfrm>
          <a:prstGeom prst="rect">
            <a:avLst/>
          </a:prstGeom>
          <a:solidFill>
            <a:srgbClr val="008A5A"/>
          </a:solidFill>
          <a:ln w="6350">
            <a:solidFill>
              <a:srgbClr val="008A5A"/>
            </a:solidFill>
            <a:prstDash val="solid"/>
          </a:ln>
        </p:spPr>
      </p:sp>
      <p:pic>
        <p:nvPicPr>
          <p:cNvPr id="22" name="Image 2" descr="preencoded.png"/>
          <p:cNvPicPr>
            <a:picLocks noChangeAspect="1"/>
          </p:cNvPicPr>
          <p:nvPr/>
        </p:nvPicPr>
        <p:blipFill>
          <a:blip r:embed="rId5"/>
          <a:stretch>
            <a:fillRect/>
          </a:stretch>
        </p:blipFill>
        <p:spPr>
          <a:xfrm>
            <a:off x="2976372" y="1536192"/>
            <a:ext cx="365760" cy="365760"/>
          </a:xfrm>
          <a:prstGeom prst="rect">
            <a:avLst/>
          </a:prstGeom>
        </p:spPr>
      </p:pic>
      <p:sp>
        <p:nvSpPr>
          <p:cNvPr id="23" name="Text 18"/>
          <p:cNvSpPr txBox="1"/>
          <p:nvPr/>
        </p:nvSpPr>
        <p:spPr>
          <a:xfrm>
            <a:off x="3479292" y="1371600"/>
            <a:ext cx="13258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Explore</a:t>
            </a:r>
            <a:endParaRPr lang="en-US" sz="1600" dirty="0"/>
          </a:p>
        </p:txBody>
      </p:sp>
      <p:sp>
        <p:nvSpPr>
          <p:cNvPr id="24" name="Shape 19"/>
          <p:cNvSpPr/>
          <p:nvPr/>
        </p:nvSpPr>
        <p:spPr>
          <a:xfrm>
            <a:off x="2793492" y="2148840"/>
            <a:ext cx="2103120" cy="2377440"/>
          </a:xfrm>
          <a:prstGeom prst="roundRect">
            <a:avLst>
              <a:gd name="adj" fmla="val 3478"/>
            </a:avLst>
          </a:prstGeom>
          <a:solidFill>
            <a:srgbClr val="F4F7F5"/>
          </a:solidFill>
          <a:ln w="9525">
            <a:solidFill>
              <a:srgbClr val="D5DED9"/>
            </a:solidFill>
            <a:prstDash val="solid"/>
          </a:ln>
        </p:spPr>
      </p:sp>
      <p:sp>
        <p:nvSpPr>
          <p:cNvPr id="25" name="Text 20"/>
          <p:cNvSpPr txBox="1"/>
          <p:nvPr/>
        </p:nvSpPr>
        <p:spPr>
          <a:xfrm>
            <a:off x="2930652"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Histograms &amp; maps</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Cloud &amp; quality masks</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Month-to-month variation</a:t>
            </a:r>
            <a:endParaRPr lang="en-US" sz="1300" dirty="0"/>
          </a:p>
        </p:txBody>
      </p:sp>
      <p:sp>
        <p:nvSpPr>
          <p:cNvPr id="26" name="Text 21"/>
          <p:cNvSpPr txBox="1"/>
          <p:nvPr/>
        </p:nvSpPr>
        <p:spPr>
          <a:xfrm>
            <a:off x="2793492" y="4572000"/>
            <a:ext cx="2103120" cy="365760"/>
          </a:xfrm>
          <a:prstGeom prst="rect">
            <a:avLst/>
          </a:prstGeom>
          <a:noFill/>
          <a:ln/>
        </p:spPr>
        <p:txBody>
          <a:bodyPr wrap="square" lIns="0" tIns="0" rIns="0" bIns="0" rtlCol="0" anchor="t"/>
          <a:lstStyle/>
          <a:p>
            <a:pPr marL="0" indent="0" algn="ctr">
              <a:buNone/>
            </a:pPr>
            <a:r>
              <a:rPr lang="en-US" sz="1800" b="1" dirty="0">
                <a:solidFill>
                  <a:srgbClr val="008A5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2930652" y="4983480"/>
            <a:ext cx="1828800" cy="347472"/>
          </a:xfrm>
          <a:prstGeom prst="roundRect">
            <a:avLst>
              <a:gd name="adj" fmla="val 50000"/>
            </a:avLst>
          </a:prstGeom>
          <a:solidFill>
            <a:srgbClr val="E8F5EF"/>
          </a:solidFill>
          <a:ln w="12700">
            <a:solidFill>
              <a:srgbClr val="E8F5EF"/>
            </a:solidFill>
            <a:prstDash val="solid"/>
          </a:ln>
        </p:spPr>
      </p:sp>
      <p:sp>
        <p:nvSpPr>
          <p:cNvPr id="28" name="Text 23"/>
          <p:cNvSpPr txBox="1"/>
          <p:nvPr/>
        </p:nvSpPr>
        <p:spPr>
          <a:xfrm>
            <a:off x="2930652" y="4983480"/>
            <a:ext cx="1828800" cy="347472"/>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Artefact log</a:t>
            </a:r>
            <a:endParaRPr lang="en-US" sz="1000" dirty="0"/>
          </a:p>
        </p:txBody>
      </p:sp>
      <p:sp>
        <p:nvSpPr>
          <p:cNvPr id="29" name="Shape 24"/>
          <p:cNvSpPr/>
          <p:nvPr/>
        </p:nvSpPr>
        <p:spPr>
          <a:xfrm>
            <a:off x="5038344" y="1371600"/>
            <a:ext cx="2103120" cy="685800"/>
          </a:xfrm>
          <a:prstGeom prst="rect">
            <a:avLst/>
          </a:prstGeom>
          <a:solidFill>
            <a:srgbClr val="00A86A"/>
          </a:solidFill>
          <a:ln w="6350">
            <a:solidFill>
              <a:srgbClr val="00A86A"/>
            </a:solidFill>
            <a:prstDash val="solid"/>
          </a:ln>
        </p:spPr>
      </p:sp>
      <p:pic>
        <p:nvPicPr>
          <p:cNvPr id="30" name="Image 3" descr="preencoded.png"/>
          <p:cNvPicPr>
            <a:picLocks noChangeAspect="1"/>
          </p:cNvPicPr>
          <p:nvPr/>
        </p:nvPicPr>
        <p:blipFill>
          <a:blip r:embed="rId6"/>
          <a:stretch>
            <a:fillRect/>
          </a:stretch>
        </p:blipFill>
        <p:spPr>
          <a:xfrm>
            <a:off x="5221224" y="1536192"/>
            <a:ext cx="365760" cy="365760"/>
          </a:xfrm>
          <a:prstGeom prst="rect">
            <a:avLst/>
          </a:prstGeom>
        </p:spPr>
      </p:pic>
      <p:sp>
        <p:nvSpPr>
          <p:cNvPr id="31" name="Text 25"/>
          <p:cNvSpPr txBox="1"/>
          <p:nvPr/>
        </p:nvSpPr>
        <p:spPr>
          <a:xfrm>
            <a:off x="5724144" y="1371600"/>
            <a:ext cx="13258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Analyse</a:t>
            </a:r>
            <a:endParaRPr lang="en-US" sz="1600" dirty="0"/>
          </a:p>
        </p:txBody>
      </p:sp>
      <p:sp>
        <p:nvSpPr>
          <p:cNvPr id="32" name="Shape 26"/>
          <p:cNvSpPr/>
          <p:nvPr/>
        </p:nvSpPr>
        <p:spPr>
          <a:xfrm>
            <a:off x="5038344" y="2148840"/>
            <a:ext cx="2103120" cy="2377440"/>
          </a:xfrm>
          <a:prstGeom prst="roundRect">
            <a:avLst>
              <a:gd name="adj" fmla="val 3478"/>
            </a:avLst>
          </a:prstGeom>
          <a:solidFill>
            <a:srgbClr val="F4F7F5"/>
          </a:solidFill>
          <a:ln w="9525">
            <a:solidFill>
              <a:srgbClr val="D5DED9"/>
            </a:solidFill>
            <a:prstDash val="solid"/>
          </a:ln>
        </p:spPr>
      </p:sp>
      <p:sp>
        <p:nvSpPr>
          <p:cNvPr id="33" name="Text 27"/>
          <p:cNvSpPr txBox="1"/>
          <p:nvPr/>
        </p:nvSpPr>
        <p:spPr>
          <a:xfrm>
            <a:off x="5175504"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Zonal stats by admin level</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Annual &amp; monthly series</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Change detection</a:t>
            </a:r>
            <a:endParaRPr lang="en-US" sz="1300" dirty="0"/>
          </a:p>
        </p:txBody>
      </p:sp>
      <p:sp>
        <p:nvSpPr>
          <p:cNvPr id="34" name="Text 28"/>
          <p:cNvSpPr txBox="1"/>
          <p:nvPr/>
        </p:nvSpPr>
        <p:spPr>
          <a:xfrm>
            <a:off x="5038344" y="4572000"/>
            <a:ext cx="2103120" cy="365760"/>
          </a:xfrm>
          <a:prstGeom prst="rect">
            <a:avLst/>
          </a:prstGeom>
          <a:noFill/>
          <a:ln/>
        </p:spPr>
        <p:txBody>
          <a:bodyPr wrap="square" lIns="0" tIns="0" rIns="0" bIns="0" rtlCol="0" anchor="t"/>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35" name="Shape 29"/>
          <p:cNvSpPr/>
          <p:nvPr/>
        </p:nvSpPr>
        <p:spPr>
          <a:xfrm>
            <a:off x="5175504" y="4983480"/>
            <a:ext cx="1828800" cy="347472"/>
          </a:xfrm>
          <a:prstGeom prst="roundRect">
            <a:avLst>
              <a:gd name="adj" fmla="val 50000"/>
            </a:avLst>
          </a:prstGeom>
          <a:solidFill>
            <a:srgbClr val="E8F5EF"/>
          </a:solidFill>
          <a:ln w="12700">
            <a:solidFill>
              <a:srgbClr val="E8F5EF"/>
            </a:solidFill>
            <a:prstDash val="solid"/>
          </a:ln>
        </p:spPr>
      </p:sp>
      <p:sp>
        <p:nvSpPr>
          <p:cNvPr id="36" name="Text 30"/>
          <p:cNvSpPr txBox="1"/>
          <p:nvPr/>
        </p:nvSpPr>
        <p:spPr>
          <a:xfrm>
            <a:off x="5175504" y="4983480"/>
            <a:ext cx="1828800" cy="347472"/>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Tables &amp; maps</a:t>
            </a:r>
            <a:endParaRPr lang="en-US" sz="1000" dirty="0"/>
          </a:p>
        </p:txBody>
      </p:sp>
      <p:sp>
        <p:nvSpPr>
          <p:cNvPr id="37" name="Shape 31"/>
          <p:cNvSpPr/>
          <p:nvPr/>
        </p:nvSpPr>
        <p:spPr>
          <a:xfrm>
            <a:off x="7283196" y="1371600"/>
            <a:ext cx="2103120" cy="685800"/>
          </a:xfrm>
          <a:prstGeom prst="rect">
            <a:avLst/>
          </a:prstGeom>
          <a:solidFill>
            <a:srgbClr val="D99A1E"/>
          </a:solidFill>
          <a:ln w="6350">
            <a:solidFill>
              <a:srgbClr val="D99A1E"/>
            </a:solidFill>
            <a:prstDash val="solid"/>
          </a:ln>
        </p:spPr>
      </p:sp>
      <p:pic>
        <p:nvPicPr>
          <p:cNvPr id="38" name="Image 4" descr="preencoded.png"/>
          <p:cNvPicPr>
            <a:picLocks noChangeAspect="1"/>
          </p:cNvPicPr>
          <p:nvPr/>
        </p:nvPicPr>
        <p:blipFill>
          <a:blip r:embed="rId7"/>
          <a:stretch>
            <a:fillRect/>
          </a:stretch>
        </p:blipFill>
        <p:spPr>
          <a:xfrm>
            <a:off x="7466076" y="1536192"/>
            <a:ext cx="365760" cy="365760"/>
          </a:xfrm>
          <a:prstGeom prst="rect">
            <a:avLst/>
          </a:prstGeom>
        </p:spPr>
      </p:pic>
      <p:sp>
        <p:nvSpPr>
          <p:cNvPr id="39" name="Text 32"/>
          <p:cNvSpPr txBox="1"/>
          <p:nvPr/>
        </p:nvSpPr>
        <p:spPr>
          <a:xfrm>
            <a:off x="7968996" y="1371600"/>
            <a:ext cx="13258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Validate</a:t>
            </a:r>
            <a:endParaRPr lang="en-US" sz="1600" dirty="0"/>
          </a:p>
        </p:txBody>
      </p:sp>
      <p:sp>
        <p:nvSpPr>
          <p:cNvPr id="40" name="Shape 33"/>
          <p:cNvSpPr/>
          <p:nvPr/>
        </p:nvSpPr>
        <p:spPr>
          <a:xfrm>
            <a:off x="7283196" y="2148840"/>
            <a:ext cx="2103120" cy="2377440"/>
          </a:xfrm>
          <a:prstGeom prst="roundRect">
            <a:avLst>
              <a:gd name="adj" fmla="val 3478"/>
            </a:avLst>
          </a:prstGeom>
          <a:solidFill>
            <a:srgbClr val="F4F7F5"/>
          </a:solidFill>
          <a:ln w="9525">
            <a:solidFill>
              <a:srgbClr val="D5DED9"/>
            </a:solidFill>
            <a:prstDash val="solid"/>
          </a:ln>
        </p:spPr>
      </p:sp>
      <p:sp>
        <p:nvSpPr>
          <p:cNvPr id="41" name="Text 34"/>
          <p:cNvSpPr txBox="1"/>
          <p:nvPr/>
        </p:nvSpPr>
        <p:spPr>
          <a:xfrm>
            <a:off x="7420356"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Official subnational data</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Census, surveys, utilities</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Fitness-for-use decision</a:t>
            </a:r>
            <a:endParaRPr lang="en-US" sz="1300" dirty="0"/>
          </a:p>
        </p:txBody>
      </p:sp>
      <p:sp>
        <p:nvSpPr>
          <p:cNvPr id="42" name="Text 35"/>
          <p:cNvSpPr txBox="1"/>
          <p:nvPr/>
        </p:nvSpPr>
        <p:spPr>
          <a:xfrm>
            <a:off x="7283196" y="4572000"/>
            <a:ext cx="2103120" cy="365760"/>
          </a:xfrm>
          <a:prstGeom prst="rect">
            <a:avLst/>
          </a:prstGeom>
          <a:noFill/>
          <a:ln/>
        </p:spPr>
        <p:txBody>
          <a:bodyPr wrap="square" lIns="0" tIns="0" rIns="0" bIns="0" rtlCol="0" anchor="t"/>
          <a:lstStyle/>
          <a:p>
            <a:pPr marL="0" indent="0" algn="ctr">
              <a:buNone/>
            </a:pPr>
            <a:r>
              <a:rPr lang="en-US" sz="1800" b="1" dirty="0">
                <a:solidFill>
                  <a:srgbClr val="D99A1E"/>
                </a:solidFill>
                <a:latin typeface="Calibri" pitchFamily="34" charset="0"/>
                <a:ea typeface="Calibri" pitchFamily="34" charset="-122"/>
                <a:cs typeface="Calibri" pitchFamily="34" charset="-120"/>
              </a:rPr>
              <a:t>↓</a:t>
            </a:r>
            <a:endParaRPr lang="en-US" sz="1800" dirty="0"/>
          </a:p>
        </p:txBody>
      </p:sp>
      <p:sp>
        <p:nvSpPr>
          <p:cNvPr id="43" name="Shape 36"/>
          <p:cNvSpPr/>
          <p:nvPr/>
        </p:nvSpPr>
        <p:spPr>
          <a:xfrm>
            <a:off x="7420356" y="4983480"/>
            <a:ext cx="1828800" cy="347472"/>
          </a:xfrm>
          <a:prstGeom prst="roundRect">
            <a:avLst>
              <a:gd name="adj" fmla="val 50000"/>
            </a:avLst>
          </a:prstGeom>
          <a:solidFill>
            <a:srgbClr val="E8F5EF"/>
          </a:solidFill>
          <a:ln w="12700">
            <a:solidFill>
              <a:srgbClr val="E8F5EF"/>
            </a:solidFill>
            <a:prstDash val="solid"/>
          </a:ln>
        </p:spPr>
      </p:sp>
      <p:sp>
        <p:nvSpPr>
          <p:cNvPr id="44" name="Text 37"/>
          <p:cNvSpPr txBox="1"/>
          <p:nvPr/>
        </p:nvSpPr>
        <p:spPr>
          <a:xfrm>
            <a:off x="7420356" y="4983480"/>
            <a:ext cx="1828800" cy="347472"/>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Evidence + decision</a:t>
            </a:r>
            <a:endParaRPr lang="en-US" sz="1000" dirty="0"/>
          </a:p>
        </p:txBody>
      </p:sp>
      <p:sp>
        <p:nvSpPr>
          <p:cNvPr id="45" name="Shape 38"/>
          <p:cNvSpPr/>
          <p:nvPr/>
        </p:nvSpPr>
        <p:spPr>
          <a:xfrm>
            <a:off x="9528048" y="1371600"/>
            <a:ext cx="2103120" cy="685800"/>
          </a:xfrm>
          <a:prstGeom prst="rect">
            <a:avLst/>
          </a:prstGeom>
          <a:solidFill>
            <a:srgbClr val="A87700"/>
          </a:solidFill>
          <a:ln w="6350">
            <a:solidFill>
              <a:srgbClr val="A87700"/>
            </a:solidFill>
            <a:prstDash val="solid"/>
          </a:ln>
        </p:spPr>
      </p:sp>
      <p:pic>
        <p:nvPicPr>
          <p:cNvPr id="46" name="Image 5" descr="preencoded.png"/>
          <p:cNvPicPr>
            <a:picLocks noChangeAspect="1"/>
          </p:cNvPicPr>
          <p:nvPr/>
        </p:nvPicPr>
        <p:blipFill>
          <a:blip r:embed="rId8"/>
          <a:stretch>
            <a:fillRect/>
          </a:stretch>
        </p:blipFill>
        <p:spPr>
          <a:xfrm>
            <a:off x="9710928" y="1536192"/>
            <a:ext cx="365760" cy="365760"/>
          </a:xfrm>
          <a:prstGeom prst="rect">
            <a:avLst/>
          </a:prstGeom>
        </p:spPr>
      </p:pic>
      <p:sp>
        <p:nvSpPr>
          <p:cNvPr id="47" name="Text 39"/>
          <p:cNvSpPr txBox="1"/>
          <p:nvPr/>
        </p:nvSpPr>
        <p:spPr>
          <a:xfrm>
            <a:off x="10213848" y="1371600"/>
            <a:ext cx="13258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Publish</a:t>
            </a:r>
            <a:endParaRPr lang="en-US" sz="1600" dirty="0"/>
          </a:p>
        </p:txBody>
      </p:sp>
      <p:sp>
        <p:nvSpPr>
          <p:cNvPr id="48" name="Shape 40"/>
          <p:cNvSpPr/>
          <p:nvPr/>
        </p:nvSpPr>
        <p:spPr>
          <a:xfrm>
            <a:off x="9528048" y="2148840"/>
            <a:ext cx="2103120" cy="2377440"/>
          </a:xfrm>
          <a:prstGeom prst="roundRect">
            <a:avLst>
              <a:gd name="adj" fmla="val 3478"/>
            </a:avLst>
          </a:prstGeom>
          <a:solidFill>
            <a:srgbClr val="F4F7F5"/>
          </a:solidFill>
          <a:ln w="9525">
            <a:solidFill>
              <a:srgbClr val="D5DED9"/>
            </a:solidFill>
            <a:prstDash val="solid"/>
          </a:ln>
        </p:spPr>
      </p:sp>
      <p:sp>
        <p:nvSpPr>
          <p:cNvPr id="49" name="Text 41"/>
          <p:cNvSpPr txBox="1"/>
          <p:nvPr/>
        </p:nvSpPr>
        <p:spPr>
          <a:xfrm>
            <a:off x="9665208" y="2286000"/>
            <a:ext cx="1828800" cy="21031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Notebooks &amp; maps</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Limitations statement</a:t>
            </a:r>
            <a:endParaRPr lang="en-US" sz="1300" dirty="0"/>
          </a:p>
          <a:p>
            <a:pPr marL="177800" indent="-177800">
              <a:spcAft>
                <a:spcPts val="1000"/>
              </a:spcAft>
              <a:buSzPct val="100000"/>
              <a:buChar char="•"/>
            </a:pPr>
            <a:r>
              <a:rPr lang="en-US" sz="1300" dirty="0">
                <a:solidFill>
                  <a:srgbClr val="231F20"/>
                </a:solidFill>
                <a:latin typeface="Calibri" pitchFamily="34" charset="0"/>
                <a:ea typeface="Calibri" pitchFamily="34" charset="-122"/>
                <a:cs typeface="Calibri" pitchFamily="34" charset="-120"/>
              </a:rPr>
              <a:t>README: method, sources, licence</a:t>
            </a:r>
            <a:endParaRPr lang="en-US" sz="1300" dirty="0"/>
          </a:p>
        </p:txBody>
      </p:sp>
      <p:sp>
        <p:nvSpPr>
          <p:cNvPr id="50" name="Text 42"/>
          <p:cNvSpPr txBox="1"/>
          <p:nvPr/>
        </p:nvSpPr>
        <p:spPr>
          <a:xfrm>
            <a:off x="9528048" y="4572000"/>
            <a:ext cx="2103120" cy="365760"/>
          </a:xfrm>
          <a:prstGeom prst="rect">
            <a:avLst/>
          </a:prstGeom>
          <a:noFill/>
          <a:ln/>
        </p:spPr>
        <p:txBody>
          <a:bodyPr wrap="square" lIns="0" tIns="0" rIns="0" bIns="0" rtlCol="0" anchor="t"/>
          <a:lstStyle/>
          <a:p>
            <a:pPr marL="0" indent="0" algn="ctr">
              <a:buNone/>
            </a:pPr>
            <a:r>
              <a:rPr lang="en-US" sz="1800" b="1" dirty="0">
                <a:solidFill>
                  <a:srgbClr val="A87700"/>
                </a:solidFill>
                <a:latin typeface="Calibri" pitchFamily="34" charset="0"/>
                <a:ea typeface="Calibri" pitchFamily="34" charset="-122"/>
                <a:cs typeface="Calibri" pitchFamily="34" charset="-120"/>
              </a:rPr>
              <a:t>↓</a:t>
            </a:r>
            <a:endParaRPr lang="en-US" sz="1800" dirty="0"/>
          </a:p>
        </p:txBody>
      </p:sp>
      <p:sp>
        <p:nvSpPr>
          <p:cNvPr id="51" name="Shape 43"/>
          <p:cNvSpPr/>
          <p:nvPr/>
        </p:nvSpPr>
        <p:spPr>
          <a:xfrm>
            <a:off x="9665208" y="4983480"/>
            <a:ext cx="1828800" cy="347472"/>
          </a:xfrm>
          <a:prstGeom prst="roundRect">
            <a:avLst>
              <a:gd name="adj" fmla="val 50000"/>
            </a:avLst>
          </a:prstGeom>
          <a:solidFill>
            <a:srgbClr val="E8F5EF"/>
          </a:solidFill>
          <a:ln w="12700">
            <a:solidFill>
              <a:srgbClr val="E8F5EF"/>
            </a:solidFill>
            <a:prstDash val="solid"/>
          </a:ln>
        </p:spPr>
      </p:sp>
      <p:sp>
        <p:nvSpPr>
          <p:cNvPr id="52" name="Text 44"/>
          <p:cNvSpPr txBox="1"/>
          <p:nvPr/>
        </p:nvSpPr>
        <p:spPr>
          <a:xfrm>
            <a:off x="9665208" y="4983480"/>
            <a:ext cx="1828800" cy="347472"/>
          </a:xfrm>
          <a:prstGeom prst="rect">
            <a:avLst/>
          </a:prstGeom>
          <a:noFill/>
          <a:ln/>
        </p:spPr>
        <p:txBody>
          <a:bodyPr wrap="square" lIns="0" tIns="0" rIns="0" bIns="0" rtlCol="0" anchor="ctr"/>
          <a:lstStyle/>
          <a:p>
            <a:pPr marL="0" indent="0" algn="ctr">
              <a:buNone/>
            </a:pPr>
            <a:r>
              <a:rPr lang="en-US" sz="1000" b="1" kern="0" spc="100" dirty="0">
                <a:solidFill>
                  <a:srgbClr val="00704A"/>
                </a:solidFill>
                <a:latin typeface="Calibri" pitchFamily="34" charset="0"/>
                <a:ea typeface="Calibri" pitchFamily="34" charset="-122"/>
                <a:cs typeface="Calibri" pitchFamily="34" charset="-120"/>
              </a:rPr>
              <a:t>Public repository</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PROJECTS · CHOOSING A PRODUCT</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Which cadence for which question?</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58</a:t>
            </a:r>
            <a:endParaRPr lang="en-US" sz="900" dirty="0"/>
          </a:p>
        </p:txBody>
      </p:sp>
      <p:sp>
        <p:nvSpPr>
          <p:cNvPr id="12" name="Shape 9"/>
          <p:cNvSpPr/>
          <p:nvPr/>
        </p:nvSpPr>
        <p:spPr>
          <a:xfrm>
            <a:off x="548640" y="1371600"/>
            <a:ext cx="3593592" cy="4023360"/>
          </a:xfrm>
          <a:prstGeom prst="roundRect">
            <a:avLst>
              <a:gd name="adj" fmla="val 2036"/>
            </a:avLst>
          </a:prstGeom>
          <a:solidFill>
            <a:srgbClr val="F4F7F5"/>
          </a:solidFill>
          <a:ln w="9525">
            <a:solidFill>
              <a:srgbClr val="D5DED9"/>
            </a:solidFill>
            <a:prstDash val="solid"/>
          </a:ln>
        </p:spPr>
      </p:sp>
      <p:sp>
        <p:nvSpPr>
          <p:cNvPr id="13" name="Shape 10"/>
          <p:cNvSpPr/>
          <p:nvPr/>
        </p:nvSpPr>
        <p:spPr>
          <a:xfrm>
            <a:off x="749808" y="1572768"/>
            <a:ext cx="548640" cy="548640"/>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92454" y="1715414"/>
            <a:ext cx="263347" cy="263347"/>
          </a:xfrm>
          <a:prstGeom prst="rect">
            <a:avLst/>
          </a:prstGeom>
        </p:spPr>
      </p:pic>
      <p:sp>
        <p:nvSpPr>
          <p:cNvPr id="15" name="Text 11"/>
          <p:cNvSpPr txBox="1"/>
          <p:nvPr/>
        </p:nvSpPr>
        <p:spPr>
          <a:xfrm>
            <a:off x="1417320" y="1527048"/>
            <a:ext cx="2560320" cy="365760"/>
          </a:xfrm>
          <a:prstGeom prst="rect">
            <a:avLst/>
          </a:prstGeom>
          <a:noFill/>
          <a:ln/>
        </p:spPr>
        <p:txBody>
          <a:bodyPr wrap="square" lIns="0" tIns="0" rIns="0" bIns="0" rtlCol="0" anchor="t"/>
          <a:lstStyle/>
          <a:p>
            <a:pPr marL="0" indent="0">
              <a:buNone/>
            </a:pPr>
            <a:r>
              <a:rPr lang="en-US" sz="1600" b="1" dirty="0">
                <a:solidFill>
                  <a:srgbClr val="00704A"/>
                </a:solidFill>
                <a:latin typeface="Calibri" pitchFamily="34" charset="0"/>
                <a:ea typeface="Calibri" pitchFamily="34" charset="-122"/>
                <a:cs typeface="Calibri" pitchFamily="34" charset="-120"/>
              </a:rPr>
              <a:t>Annual</a:t>
            </a:r>
            <a:endParaRPr lang="en-US" sz="1600" dirty="0"/>
          </a:p>
        </p:txBody>
      </p:sp>
      <p:sp>
        <p:nvSpPr>
          <p:cNvPr id="16" name="Text 12"/>
          <p:cNvSpPr txBox="1"/>
          <p:nvPr/>
        </p:nvSpPr>
        <p:spPr>
          <a:xfrm>
            <a:off x="1417320" y="1874520"/>
            <a:ext cx="256032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VNP46A4 · EOG VNL annual</a:t>
            </a:r>
            <a:endParaRPr lang="en-US" sz="1050" dirty="0"/>
          </a:p>
        </p:txBody>
      </p:sp>
      <p:sp>
        <p:nvSpPr>
          <p:cNvPr id="17" name="Text 13"/>
          <p:cNvSpPr txBox="1"/>
          <p:nvPr/>
        </p:nvSpPr>
        <p:spPr>
          <a:xfrm>
            <a:off x="749808" y="2331720"/>
            <a:ext cx="3200400" cy="228600"/>
          </a:xfrm>
          <a:prstGeom prst="rect">
            <a:avLst/>
          </a:prstGeom>
          <a:noFill/>
          <a:ln/>
        </p:spPr>
        <p:txBody>
          <a:bodyPr wrap="square" lIns="0" tIns="0" rIns="0" bIns="0" rtlCol="0" anchor="t"/>
          <a:lstStyle/>
          <a:p>
            <a:pPr marL="0" indent="0">
              <a:buNone/>
            </a:pPr>
            <a:r>
              <a:rPr lang="en-US" sz="950" b="1" kern="0" spc="150" dirty="0">
                <a:solidFill>
                  <a:srgbClr val="00704A"/>
                </a:solidFill>
                <a:latin typeface="Calibri" pitchFamily="34" charset="0"/>
                <a:ea typeface="Calibri" pitchFamily="34" charset="-122"/>
                <a:cs typeface="Calibri" pitchFamily="34" charset="-120"/>
              </a:rPr>
              <a:t>STRENGTH</a:t>
            </a:r>
            <a:endParaRPr lang="en-US" sz="950" dirty="0"/>
          </a:p>
        </p:txBody>
      </p:sp>
      <p:sp>
        <p:nvSpPr>
          <p:cNvPr id="18" name="Text 14"/>
          <p:cNvSpPr txBox="1"/>
          <p:nvPr/>
        </p:nvSpPr>
        <p:spPr>
          <a:xfrm>
            <a:off x="749808" y="257860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Cleanest series; noise and ephemeral lights largely filtered.</a:t>
            </a:r>
            <a:endParaRPr lang="en-US" sz="1150" dirty="0"/>
          </a:p>
        </p:txBody>
      </p:sp>
      <p:sp>
        <p:nvSpPr>
          <p:cNvPr id="19" name="Text 15"/>
          <p:cNvSpPr txBox="1"/>
          <p:nvPr/>
        </p:nvSpPr>
        <p:spPr>
          <a:xfrm>
            <a:off x="749808" y="3337560"/>
            <a:ext cx="3200400" cy="228600"/>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WATCH OUT FOR</a:t>
            </a:r>
            <a:endParaRPr lang="en-US" sz="950" dirty="0"/>
          </a:p>
        </p:txBody>
      </p:sp>
      <p:sp>
        <p:nvSpPr>
          <p:cNvPr id="20" name="Text 16"/>
          <p:cNvSpPr txBox="1"/>
          <p:nvPr/>
        </p:nvSpPr>
        <p:spPr>
          <a:xfrm>
            <a:off x="749808" y="358444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change cannot be dated within the year.</a:t>
            </a:r>
            <a:endParaRPr lang="en-US" sz="1150" dirty="0"/>
          </a:p>
        </p:txBody>
      </p:sp>
      <p:sp>
        <p:nvSpPr>
          <p:cNvPr id="21" name="Text 17"/>
          <p:cNvSpPr txBox="1"/>
          <p:nvPr/>
        </p:nvSpPr>
        <p:spPr>
          <a:xfrm>
            <a:off x="749808" y="4343400"/>
            <a:ext cx="3200400" cy="228600"/>
          </a:xfrm>
          <a:prstGeom prst="rect">
            <a:avLst/>
          </a:prstGeom>
          <a:noFill/>
          <a:ln/>
        </p:spPr>
        <p:txBody>
          <a:bodyPr wrap="square" lIns="0" tIns="0" rIns="0" bIns="0" rtlCol="0" anchor="t"/>
          <a:lstStyle/>
          <a:p>
            <a:pPr marL="0" indent="0">
              <a:buNone/>
            </a:pPr>
            <a:r>
              <a:rPr lang="en-US" sz="950" b="1" kern="0" spc="150" dirty="0">
                <a:solidFill>
                  <a:srgbClr val="0E7C86"/>
                </a:solidFill>
                <a:latin typeface="Calibri" pitchFamily="34" charset="0"/>
                <a:ea typeface="Calibri" pitchFamily="34" charset="-122"/>
                <a:cs typeface="Calibri" pitchFamily="34" charset="-120"/>
              </a:rPr>
              <a:t>TYPICAL USE</a:t>
            </a:r>
            <a:endParaRPr lang="en-US" sz="950" dirty="0"/>
          </a:p>
        </p:txBody>
      </p:sp>
      <p:sp>
        <p:nvSpPr>
          <p:cNvPr id="22" name="Text 18"/>
          <p:cNvSpPr txBox="1"/>
          <p:nvPr/>
        </p:nvSpPr>
        <p:spPr>
          <a:xfrm>
            <a:off x="749808" y="459028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Subnational panels, long-run trends, urban expansion, poverty mapping, GDP downscaling.</a:t>
            </a:r>
            <a:endParaRPr lang="en-US" sz="1150" dirty="0"/>
          </a:p>
        </p:txBody>
      </p:sp>
      <p:sp>
        <p:nvSpPr>
          <p:cNvPr id="23" name="Shape 19"/>
          <p:cNvSpPr/>
          <p:nvPr/>
        </p:nvSpPr>
        <p:spPr>
          <a:xfrm>
            <a:off x="4297680" y="1371600"/>
            <a:ext cx="3593592" cy="4023360"/>
          </a:xfrm>
          <a:prstGeom prst="roundRect">
            <a:avLst>
              <a:gd name="adj" fmla="val 2036"/>
            </a:avLst>
          </a:prstGeom>
          <a:solidFill>
            <a:srgbClr val="E8F5EF"/>
          </a:solidFill>
          <a:ln w="19050">
            <a:solidFill>
              <a:srgbClr val="00A86A"/>
            </a:solidFill>
            <a:prstDash val="solid"/>
          </a:ln>
        </p:spPr>
      </p:sp>
      <p:sp>
        <p:nvSpPr>
          <p:cNvPr id="24" name="Shape 20"/>
          <p:cNvSpPr/>
          <p:nvPr/>
        </p:nvSpPr>
        <p:spPr>
          <a:xfrm>
            <a:off x="4498848" y="1572768"/>
            <a:ext cx="548640" cy="548640"/>
          </a:xfrm>
          <a:prstGeom prst="ellipse">
            <a:avLst/>
          </a:prstGeom>
          <a:solidFill>
            <a:srgbClr val="00704A"/>
          </a:solidFill>
          <a:ln w="12700">
            <a:solidFill>
              <a:srgbClr val="00704A"/>
            </a:solidFill>
            <a:prstDash val="solid"/>
          </a:ln>
        </p:spPr>
      </p:sp>
      <p:pic>
        <p:nvPicPr>
          <p:cNvPr id="25" name="Image 2" descr="preencoded.png"/>
          <p:cNvPicPr>
            <a:picLocks noChangeAspect="1"/>
          </p:cNvPicPr>
          <p:nvPr/>
        </p:nvPicPr>
        <p:blipFill>
          <a:blip r:embed="rId5"/>
          <a:stretch>
            <a:fillRect/>
          </a:stretch>
        </p:blipFill>
        <p:spPr>
          <a:xfrm>
            <a:off x="4641494" y="1715414"/>
            <a:ext cx="263347" cy="263347"/>
          </a:xfrm>
          <a:prstGeom prst="rect">
            <a:avLst/>
          </a:prstGeom>
        </p:spPr>
      </p:pic>
      <p:sp>
        <p:nvSpPr>
          <p:cNvPr id="26" name="Text 21"/>
          <p:cNvSpPr txBox="1"/>
          <p:nvPr/>
        </p:nvSpPr>
        <p:spPr>
          <a:xfrm>
            <a:off x="5166360" y="1527048"/>
            <a:ext cx="2560320" cy="365760"/>
          </a:xfrm>
          <a:prstGeom prst="rect">
            <a:avLst/>
          </a:prstGeom>
          <a:noFill/>
          <a:ln/>
        </p:spPr>
        <p:txBody>
          <a:bodyPr wrap="square" lIns="0" tIns="0" rIns="0" bIns="0" rtlCol="0" anchor="t"/>
          <a:lstStyle/>
          <a:p>
            <a:pPr marL="0" indent="0">
              <a:buNone/>
            </a:pPr>
            <a:r>
              <a:rPr lang="en-US" sz="1600" b="1" dirty="0">
                <a:solidFill>
                  <a:srgbClr val="00704A"/>
                </a:solidFill>
                <a:latin typeface="Calibri" pitchFamily="34" charset="0"/>
                <a:ea typeface="Calibri" pitchFamily="34" charset="-122"/>
                <a:cs typeface="Calibri" pitchFamily="34" charset="-120"/>
              </a:rPr>
              <a:t>Monthly</a:t>
            </a:r>
            <a:endParaRPr lang="en-US" sz="1600" dirty="0"/>
          </a:p>
        </p:txBody>
      </p:sp>
      <p:sp>
        <p:nvSpPr>
          <p:cNvPr id="27" name="Text 22"/>
          <p:cNvSpPr txBox="1"/>
          <p:nvPr/>
        </p:nvSpPr>
        <p:spPr>
          <a:xfrm>
            <a:off x="5166360" y="1874520"/>
            <a:ext cx="256032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VNP46A3 · EOG VNL monthly</a:t>
            </a:r>
            <a:endParaRPr lang="en-US" sz="1050" dirty="0"/>
          </a:p>
        </p:txBody>
      </p:sp>
      <p:sp>
        <p:nvSpPr>
          <p:cNvPr id="28" name="Text 23"/>
          <p:cNvSpPr txBox="1"/>
          <p:nvPr/>
        </p:nvSpPr>
        <p:spPr>
          <a:xfrm>
            <a:off x="4498848" y="2331720"/>
            <a:ext cx="3200400" cy="228600"/>
          </a:xfrm>
          <a:prstGeom prst="rect">
            <a:avLst/>
          </a:prstGeom>
          <a:noFill/>
          <a:ln/>
        </p:spPr>
        <p:txBody>
          <a:bodyPr wrap="square" lIns="0" tIns="0" rIns="0" bIns="0" rtlCol="0" anchor="t"/>
          <a:lstStyle/>
          <a:p>
            <a:pPr marL="0" indent="0">
              <a:buNone/>
            </a:pPr>
            <a:r>
              <a:rPr lang="en-US" sz="950" b="1" kern="0" spc="150" dirty="0">
                <a:solidFill>
                  <a:srgbClr val="00704A"/>
                </a:solidFill>
                <a:latin typeface="Calibri" pitchFamily="34" charset="0"/>
                <a:ea typeface="Calibri" pitchFamily="34" charset="-122"/>
                <a:cs typeface="Calibri" pitchFamily="34" charset="-120"/>
              </a:rPr>
              <a:t>STRENGTH</a:t>
            </a:r>
            <a:endParaRPr lang="en-US" sz="950" dirty="0"/>
          </a:p>
        </p:txBody>
      </p:sp>
      <p:sp>
        <p:nvSpPr>
          <p:cNvPr id="29" name="Text 24"/>
          <p:cNvSpPr txBox="1"/>
          <p:nvPr/>
        </p:nvSpPr>
        <p:spPr>
          <a:xfrm>
            <a:off x="4498848" y="257860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Dates a change to within a season; feeds quarterly nowcasts.</a:t>
            </a:r>
            <a:endParaRPr lang="en-US" sz="1150" dirty="0"/>
          </a:p>
        </p:txBody>
      </p:sp>
      <p:sp>
        <p:nvSpPr>
          <p:cNvPr id="30" name="Text 25"/>
          <p:cNvSpPr txBox="1"/>
          <p:nvPr/>
        </p:nvSpPr>
        <p:spPr>
          <a:xfrm>
            <a:off x="4498848" y="3337560"/>
            <a:ext cx="3200400" cy="228600"/>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WATCH OUT FOR</a:t>
            </a:r>
            <a:endParaRPr lang="en-US" sz="950" dirty="0"/>
          </a:p>
        </p:txBody>
      </p:sp>
      <p:sp>
        <p:nvSpPr>
          <p:cNvPr id="31" name="Text 26"/>
          <p:cNvSpPr txBox="1"/>
          <p:nvPr/>
        </p:nvSpPr>
        <p:spPr>
          <a:xfrm>
            <a:off x="4498848" y="358444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Rainy-season months may rest on very few valid nights.</a:t>
            </a:r>
            <a:endParaRPr lang="en-US" sz="1150" dirty="0"/>
          </a:p>
        </p:txBody>
      </p:sp>
      <p:sp>
        <p:nvSpPr>
          <p:cNvPr id="32" name="Text 27"/>
          <p:cNvSpPr txBox="1"/>
          <p:nvPr/>
        </p:nvSpPr>
        <p:spPr>
          <a:xfrm>
            <a:off x="4498848" y="4343400"/>
            <a:ext cx="3200400" cy="228600"/>
          </a:xfrm>
          <a:prstGeom prst="rect">
            <a:avLst/>
          </a:prstGeom>
          <a:noFill/>
          <a:ln/>
        </p:spPr>
        <p:txBody>
          <a:bodyPr wrap="square" lIns="0" tIns="0" rIns="0" bIns="0" rtlCol="0" anchor="t"/>
          <a:lstStyle/>
          <a:p>
            <a:pPr marL="0" indent="0">
              <a:buNone/>
            </a:pPr>
            <a:r>
              <a:rPr lang="en-US" sz="950" b="1" kern="0" spc="150" dirty="0">
                <a:solidFill>
                  <a:srgbClr val="0E7C86"/>
                </a:solidFill>
                <a:latin typeface="Calibri" pitchFamily="34" charset="0"/>
                <a:ea typeface="Calibri" pitchFamily="34" charset="-122"/>
                <a:cs typeface="Calibri" pitchFamily="34" charset="-120"/>
              </a:rPr>
              <a:t>TYPICAL USE</a:t>
            </a:r>
            <a:endParaRPr lang="en-US" sz="950" dirty="0"/>
          </a:p>
        </p:txBody>
      </p:sp>
      <p:sp>
        <p:nvSpPr>
          <p:cNvPr id="33" name="Text 28"/>
          <p:cNvSpPr txBox="1"/>
          <p:nvPr/>
        </p:nvSpPr>
        <p:spPr>
          <a:xfrm>
            <a:off x="4498848" y="459028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Nowcasting, programme evaluation, seasonal activity, conflict &amp; recovery timelines.</a:t>
            </a:r>
            <a:endParaRPr lang="en-US" sz="1150" dirty="0"/>
          </a:p>
        </p:txBody>
      </p:sp>
      <p:sp>
        <p:nvSpPr>
          <p:cNvPr id="34" name="Shape 29"/>
          <p:cNvSpPr/>
          <p:nvPr/>
        </p:nvSpPr>
        <p:spPr>
          <a:xfrm>
            <a:off x="8046720" y="1371600"/>
            <a:ext cx="3593592" cy="4023360"/>
          </a:xfrm>
          <a:prstGeom prst="roundRect">
            <a:avLst>
              <a:gd name="adj" fmla="val 2036"/>
            </a:avLst>
          </a:prstGeom>
          <a:solidFill>
            <a:srgbClr val="F4F7F5"/>
          </a:solidFill>
          <a:ln w="9525">
            <a:solidFill>
              <a:srgbClr val="D5DED9"/>
            </a:solidFill>
            <a:prstDash val="solid"/>
          </a:ln>
        </p:spPr>
      </p:sp>
      <p:sp>
        <p:nvSpPr>
          <p:cNvPr id="35" name="Shape 30"/>
          <p:cNvSpPr/>
          <p:nvPr/>
        </p:nvSpPr>
        <p:spPr>
          <a:xfrm>
            <a:off x="8247888" y="1572768"/>
            <a:ext cx="548640" cy="548640"/>
          </a:xfrm>
          <a:prstGeom prst="ellipse">
            <a:avLst/>
          </a:prstGeom>
          <a:solidFill>
            <a:srgbClr val="00704A"/>
          </a:solidFill>
          <a:ln w="12700">
            <a:solidFill>
              <a:srgbClr val="00704A"/>
            </a:solidFill>
            <a:prstDash val="solid"/>
          </a:ln>
        </p:spPr>
      </p:sp>
      <p:pic>
        <p:nvPicPr>
          <p:cNvPr id="36" name="Image 3" descr="preencoded.png"/>
          <p:cNvPicPr>
            <a:picLocks noChangeAspect="1"/>
          </p:cNvPicPr>
          <p:nvPr/>
        </p:nvPicPr>
        <p:blipFill>
          <a:blip r:embed="rId6"/>
          <a:stretch>
            <a:fillRect/>
          </a:stretch>
        </p:blipFill>
        <p:spPr>
          <a:xfrm>
            <a:off x="8390534" y="1715414"/>
            <a:ext cx="263347" cy="263347"/>
          </a:xfrm>
          <a:prstGeom prst="rect">
            <a:avLst/>
          </a:prstGeom>
        </p:spPr>
      </p:pic>
      <p:sp>
        <p:nvSpPr>
          <p:cNvPr id="37" name="Text 31"/>
          <p:cNvSpPr txBox="1"/>
          <p:nvPr/>
        </p:nvSpPr>
        <p:spPr>
          <a:xfrm>
            <a:off x="8915400" y="1527048"/>
            <a:ext cx="2560320" cy="365760"/>
          </a:xfrm>
          <a:prstGeom prst="rect">
            <a:avLst/>
          </a:prstGeom>
          <a:noFill/>
          <a:ln/>
        </p:spPr>
        <p:txBody>
          <a:bodyPr wrap="square" lIns="0" tIns="0" rIns="0" bIns="0" rtlCol="0" anchor="t"/>
          <a:lstStyle/>
          <a:p>
            <a:pPr marL="0" indent="0">
              <a:buNone/>
            </a:pPr>
            <a:r>
              <a:rPr lang="en-US" sz="1600" b="1" dirty="0">
                <a:solidFill>
                  <a:srgbClr val="00704A"/>
                </a:solidFill>
                <a:latin typeface="Calibri" pitchFamily="34" charset="0"/>
                <a:ea typeface="Calibri" pitchFamily="34" charset="-122"/>
                <a:cs typeface="Calibri" pitchFamily="34" charset="-120"/>
              </a:rPr>
              <a:t>Daily</a:t>
            </a:r>
            <a:endParaRPr lang="en-US" sz="1600" dirty="0"/>
          </a:p>
        </p:txBody>
      </p:sp>
      <p:sp>
        <p:nvSpPr>
          <p:cNvPr id="38" name="Text 32"/>
          <p:cNvSpPr txBox="1"/>
          <p:nvPr/>
        </p:nvSpPr>
        <p:spPr>
          <a:xfrm>
            <a:off x="8915400" y="1874520"/>
            <a:ext cx="256032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VNP46A2</a:t>
            </a:r>
            <a:endParaRPr lang="en-US" sz="1050" dirty="0"/>
          </a:p>
        </p:txBody>
      </p:sp>
      <p:sp>
        <p:nvSpPr>
          <p:cNvPr id="39" name="Text 33"/>
          <p:cNvSpPr txBox="1"/>
          <p:nvPr/>
        </p:nvSpPr>
        <p:spPr>
          <a:xfrm>
            <a:off x="8247888" y="2331720"/>
            <a:ext cx="3200400" cy="228600"/>
          </a:xfrm>
          <a:prstGeom prst="rect">
            <a:avLst/>
          </a:prstGeom>
          <a:noFill/>
          <a:ln/>
        </p:spPr>
        <p:txBody>
          <a:bodyPr wrap="square" lIns="0" tIns="0" rIns="0" bIns="0" rtlCol="0" anchor="t"/>
          <a:lstStyle/>
          <a:p>
            <a:pPr marL="0" indent="0">
              <a:buNone/>
            </a:pPr>
            <a:r>
              <a:rPr lang="en-US" sz="950" b="1" kern="0" spc="150" dirty="0">
                <a:solidFill>
                  <a:srgbClr val="00704A"/>
                </a:solidFill>
                <a:latin typeface="Calibri" pitchFamily="34" charset="0"/>
                <a:ea typeface="Calibri" pitchFamily="34" charset="-122"/>
                <a:cs typeface="Calibri" pitchFamily="34" charset="-120"/>
              </a:rPr>
              <a:t>STRENGTH</a:t>
            </a:r>
            <a:endParaRPr lang="en-US" sz="950" dirty="0"/>
          </a:p>
        </p:txBody>
      </p:sp>
      <p:sp>
        <p:nvSpPr>
          <p:cNvPr id="40" name="Text 34"/>
          <p:cNvSpPr txBox="1"/>
          <p:nvPr/>
        </p:nvSpPr>
        <p:spPr>
          <a:xfrm>
            <a:off x="8247888" y="257860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Every night, corrected for moon, atmosphere and terrain.</a:t>
            </a:r>
            <a:endParaRPr lang="en-US" sz="1150" dirty="0"/>
          </a:p>
        </p:txBody>
      </p:sp>
      <p:sp>
        <p:nvSpPr>
          <p:cNvPr id="41" name="Text 35"/>
          <p:cNvSpPr txBox="1"/>
          <p:nvPr/>
        </p:nvSpPr>
        <p:spPr>
          <a:xfrm>
            <a:off x="8247888" y="3337560"/>
            <a:ext cx="3200400" cy="228600"/>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WATCH OUT FOR</a:t>
            </a:r>
            <a:endParaRPr lang="en-US" sz="950" dirty="0"/>
          </a:p>
        </p:txBody>
      </p:sp>
      <p:sp>
        <p:nvSpPr>
          <p:cNvPr id="42" name="Text 36"/>
          <p:cNvSpPr txBox="1"/>
          <p:nvPr/>
        </p:nvSpPr>
        <p:spPr>
          <a:xfrm>
            <a:off x="8247888" y="358444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Large volumes; a single night is noisy — aggregate first.</a:t>
            </a:r>
            <a:endParaRPr lang="en-US" sz="1150" dirty="0"/>
          </a:p>
        </p:txBody>
      </p:sp>
      <p:sp>
        <p:nvSpPr>
          <p:cNvPr id="43" name="Text 37"/>
          <p:cNvSpPr txBox="1"/>
          <p:nvPr/>
        </p:nvSpPr>
        <p:spPr>
          <a:xfrm>
            <a:off x="8247888" y="4343400"/>
            <a:ext cx="3200400" cy="228600"/>
          </a:xfrm>
          <a:prstGeom prst="rect">
            <a:avLst/>
          </a:prstGeom>
          <a:noFill/>
          <a:ln/>
        </p:spPr>
        <p:txBody>
          <a:bodyPr wrap="square" lIns="0" tIns="0" rIns="0" bIns="0" rtlCol="0" anchor="t"/>
          <a:lstStyle/>
          <a:p>
            <a:pPr marL="0" indent="0">
              <a:buNone/>
            </a:pPr>
            <a:r>
              <a:rPr lang="en-US" sz="950" b="1" kern="0" spc="150" dirty="0">
                <a:solidFill>
                  <a:srgbClr val="0E7C86"/>
                </a:solidFill>
                <a:latin typeface="Calibri" pitchFamily="34" charset="0"/>
                <a:ea typeface="Calibri" pitchFamily="34" charset="-122"/>
                <a:cs typeface="Calibri" pitchFamily="34" charset="-120"/>
              </a:rPr>
              <a:t>TYPICAL USE</a:t>
            </a:r>
            <a:endParaRPr lang="en-US" sz="950" dirty="0"/>
          </a:p>
        </p:txBody>
      </p:sp>
      <p:sp>
        <p:nvSpPr>
          <p:cNvPr id="44" name="Text 38"/>
          <p:cNvSpPr txBox="1"/>
          <p:nvPr/>
        </p:nvSpPr>
        <p:spPr>
          <a:xfrm>
            <a:off x="8247888" y="4590288"/>
            <a:ext cx="3200400"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Blackouts, disaster response, reliability of electricity supply, event studies.</a:t>
            </a:r>
            <a:endParaRPr lang="en-US" sz="1150" dirty="0"/>
          </a:p>
        </p:txBody>
      </p:sp>
      <p:sp>
        <p:nvSpPr>
          <p:cNvPr id="45" name="Shape 39"/>
          <p:cNvSpPr/>
          <p:nvPr/>
        </p:nvSpPr>
        <p:spPr>
          <a:xfrm>
            <a:off x="548640" y="5559552"/>
            <a:ext cx="11094415" cy="457200"/>
          </a:xfrm>
          <a:prstGeom prst="roundRect">
            <a:avLst>
              <a:gd name="adj" fmla="val 16000"/>
            </a:avLst>
          </a:prstGeom>
          <a:solidFill>
            <a:srgbClr val="FDF5DC"/>
          </a:solidFill>
          <a:ln w="9525">
            <a:solidFill>
              <a:srgbClr val="F5C242"/>
            </a:solidFill>
            <a:prstDash val="solid"/>
          </a:ln>
        </p:spPr>
      </p:sp>
      <p:sp>
        <p:nvSpPr>
          <p:cNvPr id="46" name="Text 40"/>
          <p:cNvSpPr txBox="1"/>
          <p:nvPr/>
        </p:nvSpPr>
        <p:spPr>
          <a:xfrm>
            <a:off x="777240" y="5559552"/>
            <a:ext cx="10637215" cy="457200"/>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Rule of thumb: start annual. </a:t>
            </a:r>
            <a:r>
              <a:rPr lang="en-US" sz="1200" dirty="0">
                <a:solidFill>
                  <a:srgbClr val="231F20"/>
                </a:solidFill>
                <a:latin typeface="Calibri" pitchFamily="34" charset="0"/>
                <a:ea typeface="Calibri" pitchFamily="34" charset="-122"/>
                <a:cs typeface="Calibri" pitchFamily="34" charset="-120"/>
              </a:rPr>
              <a:t>The finer the cadence, the more corrections you must trust and the more noise you must handle.</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PROJECTS · VALIDATION</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Publish, or keep as a diagnostic?</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59</a:t>
            </a:r>
            <a:endParaRPr lang="en-US" sz="900" dirty="0"/>
          </a:p>
        </p:txBody>
      </p:sp>
      <p:sp>
        <p:nvSpPr>
          <p:cNvPr id="12" name="Text 9"/>
          <p:cNvSpPr txBox="1"/>
          <p:nvPr/>
        </p:nvSpPr>
        <p:spPr>
          <a:xfrm>
            <a:off x="548640" y="6144768"/>
            <a:ext cx="11094415" cy="274320"/>
          </a:xfrm>
          <a:prstGeom prst="rect">
            <a:avLst/>
          </a:prstGeom>
          <a:noFill/>
          <a:ln/>
        </p:spPr>
        <p:txBody>
          <a:bodyPr wrap="square" lIns="0" tIns="0" rIns="0" bIns="0" rtlCol="0" anchor="b"/>
          <a:lstStyle/>
          <a:p>
            <a:pPr marL="0" indent="0">
              <a:buNone/>
            </a:pPr>
            <a:r>
              <a:rPr lang="en-US" sz="850" i="1" dirty="0">
                <a:solidFill>
                  <a:srgbClr val="5E6964"/>
                </a:solidFill>
                <a:latin typeface="Calibri" pitchFamily="34" charset="0"/>
                <a:ea typeface="Calibri" pitchFamily="34" charset="-122"/>
                <a:cs typeface="Calibri" pitchFamily="34" charset="-120"/>
              </a:rPr>
              <a:t>Suggested guide — adapt to your national quality assurance framework. Circularity: see Falchetta et al. (2019), Scientific Data.</a:t>
            </a:r>
            <a:endParaRPr lang="en-US" sz="850" dirty="0"/>
          </a:p>
        </p:txBody>
      </p:sp>
      <p:sp>
        <p:nvSpPr>
          <p:cNvPr id="13" name="Shape 10"/>
          <p:cNvSpPr/>
          <p:nvPr/>
        </p:nvSpPr>
        <p:spPr>
          <a:xfrm>
            <a:off x="548640" y="1371600"/>
            <a:ext cx="5486400" cy="749808"/>
          </a:xfrm>
          <a:prstGeom prst="roundRect">
            <a:avLst>
              <a:gd name="adj" fmla="val 9756"/>
            </a:avLst>
          </a:prstGeom>
          <a:solidFill>
            <a:srgbClr val="F4F7F5"/>
          </a:solidFill>
          <a:ln w="9525">
            <a:solidFill>
              <a:srgbClr val="D5DED9"/>
            </a:solidFill>
            <a:prstDash val="solid"/>
          </a:ln>
        </p:spPr>
      </p:sp>
      <p:sp>
        <p:nvSpPr>
          <p:cNvPr id="14" name="Shape 11"/>
          <p:cNvSpPr/>
          <p:nvPr/>
        </p:nvSpPr>
        <p:spPr>
          <a:xfrm>
            <a:off x="713232" y="1591056"/>
            <a:ext cx="548640" cy="310896"/>
          </a:xfrm>
          <a:prstGeom prst="roundRect">
            <a:avLst>
              <a:gd name="adj" fmla="val 50000"/>
            </a:avLst>
          </a:prstGeom>
          <a:solidFill>
            <a:srgbClr val="00704A"/>
          </a:solidFill>
          <a:ln w="12700">
            <a:solidFill>
              <a:srgbClr val="00704A"/>
            </a:solidFill>
            <a:prstDash val="solid"/>
          </a:ln>
        </p:spPr>
      </p:sp>
      <p:sp>
        <p:nvSpPr>
          <p:cNvPr id="15" name="Text 12"/>
          <p:cNvSpPr txBox="1"/>
          <p:nvPr/>
        </p:nvSpPr>
        <p:spPr>
          <a:xfrm>
            <a:off x="713232" y="1591056"/>
            <a:ext cx="548640" cy="310896"/>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Q1</a:t>
            </a:r>
            <a:endParaRPr lang="en-US" sz="1000" dirty="0"/>
          </a:p>
        </p:txBody>
      </p:sp>
      <p:sp>
        <p:nvSpPr>
          <p:cNvPr id="16" name="Text 13"/>
          <p:cNvSpPr txBox="1"/>
          <p:nvPr/>
        </p:nvSpPr>
        <p:spPr>
          <a:xfrm>
            <a:off x="1417320" y="1426464"/>
            <a:ext cx="4526280" cy="36576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Is the relationship strong and stable across units and years?</a:t>
            </a:r>
            <a:endParaRPr lang="en-US" sz="1250" dirty="0"/>
          </a:p>
        </p:txBody>
      </p:sp>
      <p:sp>
        <p:nvSpPr>
          <p:cNvPr id="17" name="Text 14"/>
          <p:cNvSpPr txBox="1"/>
          <p:nvPr/>
        </p:nvSpPr>
        <p:spPr>
          <a:xfrm>
            <a:off x="1417320" y="1773936"/>
            <a:ext cx="4526280" cy="3017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Set your bar before you look.</a:t>
            </a:r>
            <a:endParaRPr lang="en-US" sz="1100" dirty="0"/>
          </a:p>
        </p:txBody>
      </p:sp>
      <p:sp>
        <p:nvSpPr>
          <p:cNvPr id="18" name="Shape 15"/>
          <p:cNvSpPr/>
          <p:nvPr/>
        </p:nvSpPr>
        <p:spPr>
          <a:xfrm>
            <a:off x="548640" y="2240280"/>
            <a:ext cx="5486400" cy="749808"/>
          </a:xfrm>
          <a:prstGeom prst="roundRect">
            <a:avLst>
              <a:gd name="adj" fmla="val 9756"/>
            </a:avLst>
          </a:prstGeom>
          <a:solidFill>
            <a:srgbClr val="F4F7F5"/>
          </a:solidFill>
          <a:ln w="9525">
            <a:solidFill>
              <a:srgbClr val="D5DED9"/>
            </a:solidFill>
            <a:prstDash val="solid"/>
          </a:ln>
        </p:spPr>
      </p:sp>
      <p:sp>
        <p:nvSpPr>
          <p:cNvPr id="19" name="Shape 16"/>
          <p:cNvSpPr/>
          <p:nvPr/>
        </p:nvSpPr>
        <p:spPr>
          <a:xfrm>
            <a:off x="713232" y="2459736"/>
            <a:ext cx="548640" cy="310896"/>
          </a:xfrm>
          <a:prstGeom prst="roundRect">
            <a:avLst>
              <a:gd name="adj" fmla="val 50000"/>
            </a:avLst>
          </a:prstGeom>
          <a:solidFill>
            <a:srgbClr val="00704A"/>
          </a:solidFill>
          <a:ln w="12700">
            <a:solidFill>
              <a:srgbClr val="00704A"/>
            </a:solidFill>
            <a:prstDash val="solid"/>
          </a:ln>
        </p:spPr>
      </p:sp>
      <p:sp>
        <p:nvSpPr>
          <p:cNvPr id="20" name="Text 17"/>
          <p:cNvSpPr txBox="1"/>
          <p:nvPr/>
        </p:nvSpPr>
        <p:spPr>
          <a:xfrm>
            <a:off x="713232" y="2459736"/>
            <a:ext cx="548640" cy="310896"/>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Q2</a:t>
            </a:r>
            <a:endParaRPr lang="en-US" sz="1000" dirty="0"/>
          </a:p>
        </p:txBody>
      </p:sp>
      <p:sp>
        <p:nvSpPr>
          <p:cNvPr id="21" name="Text 18"/>
          <p:cNvSpPr txBox="1"/>
          <p:nvPr/>
        </p:nvSpPr>
        <p:spPr>
          <a:xfrm>
            <a:off x="1417320" y="2295144"/>
            <a:ext cx="4526280" cy="36576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Are artefacts identified and treated?</a:t>
            </a:r>
            <a:endParaRPr lang="en-US" sz="1250" dirty="0"/>
          </a:p>
        </p:txBody>
      </p:sp>
      <p:sp>
        <p:nvSpPr>
          <p:cNvPr id="22" name="Text 19"/>
          <p:cNvSpPr txBox="1"/>
          <p:nvPr/>
        </p:nvSpPr>
        <p:spPr>
          <a:xfrm>
            <a:off x="1417320" y="2642616"/>
            <a:ext cx="4526280" cy="3017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Flares, blooming, seasonality, cloud, noise.</a:t>
            </a:r>
            <a:endParaRPr lang="en-US" sz="1100" dirty="0"/>
          </a:p>
        </p:txBody>
      </p:sp>
      <p:sp>
        <p:nvSpPr>
          <p:cNvPr id="23" name="Shape 20"/>
          <p:cNvSpPr/>
          <p:nvPr/>
        </p:nvSpPr>
        <p:spPr>
          <a:xfrm>
            <a:off x="548640" y="3108960"/>
            <a:ext cx="5486400" cy="749808"/>
          </a:xfrm>
          <a:prstGeom prst="roundRect">
            <a:avLst>
              <a:gd name="adj" fmla="val 9756"/>
            </a:avLst>
          </a:prstGeom>
          <a:solidFill>
            <a:srgbClr val="F4F7F5"/>
          </a:solidFill>
          <a:ln w="9525">
            <a:solidFill>
              <a:srgbClr val="D5DED9"/>
            </a:solidFill>
            <a:prstDash val="solid"/>
          </a:ln>
        </p:spPr>
      </p:sp>
      <p:sp>
        <p:nvSpPr>
          <p:cNvPr id="24" name="Shape 21"/>
          <p:cNvSpPr/>
          <p:nvPr/>
        </p:nvSpPr>
        <p:spPr>
          <a:xfrm>
            <a:off x="713232" y="3328416"/>
            <a:ext cx="548640" cy="310896"/>
          </a:xfrm>
          <a:prstGeom prst="roundRect">
            <a:avLst>
              <a:gd name="adj" fmla="val 50000"/>
            </a:avLst>
          </a:prstGeom>
          <a:solidFill>
            <a:srgbClr val="00704A"/>
          </a:solidFill>
          <a:ln w="12700">
            <a:solidFill>
              <a:srgbClr val="00704A"/>
            </a:solidFill>
            <a:prstDash val="solid"/>
          </a:ln>
        </p:spPr>
      </p:sp>
      <p:sp>
        <p:nvSpPr>
          <p:cNvPr id="25" name="Text 22"/>
          <p:cNvSpPr txBox="1"/>
          <p:nvPr/>
        </p:nvSpPr>
        <p:spPr>
          <a:xfrm>
            <a:off x="713232" y="3328416"/>
            <a:ext cx="548640" cy="310896"/>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Q3</a:t>
            </a:r>
            <a:endParaRPr lang="en-US" sz="1000" dirty="0"/>
          </a:p>
        </p:txBody>
      </p:sp>
      <p:sp>
        <p:nvSpPr>
          <p:cNvPr id="26" name="Text 23"/>
          <p:cNvSpPr txBox="1"/>
          <p:nvPr/>
        </p:nvSpPr>
        <p:spPr>
          <a:xfrm>
            <a:off x="1417320" y="3163824"/>
            <a:ext cx="4526280" cy="36576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Is the benchmark independent?</a:t>
            </a:r>
            <a:endParaRPr lang="en-US" sz="1250" dirty="0"/>
          </a:p>
        </p:txBody>
      </p:sp>
      <p:sp>
        <p:nvSpPr>
          <p:cNvPr id="27" name="Text 24"/>
          <p:cNvSpPr txBox="1"/>
          <p:nvPr/>
        </p:nvSpPr>
        <p:spPr>
          <a:xfrm>
            <a:off x="1417320" y="3511296"/>
            <a:ext cx="4526280" cy="3017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WorldPop uses NTL as a covariate — circular.</a:t>
            </a:r>
            <a:endParaRPr lang="en-US" sz="1100" dirty="0"/>
          </a:p>
        </p:txBody>
      </p:sp>
      <p:sp>
        <p:nvSpPr>
          <p:cNvPr id="28" name="Shape 25"/>
          <p:cNvSpPr/>
          <p:nvPr/>
        </p:nvSpPr>
        <p:spPr>
          <a:xfrm>
            <a:off x="548640" y="4069080"/>
            <a:ext cx="5486400" cy="475488"/>
          </a:xfrm>
          <a:prstGeom prst="roundRect">
            <a:avLst>
              <a:gd name="adj" fmla="val 15385"/>
            </a:avLst>
          </a:prstGeom>
          <a:solidFill>
            <a:srgbClr val="E6F6EE"/>
          </a:solidFill>
          <a:ln w="9525">
            <a:solidFill>
              <a:srgbClr val="E6F6EE"/>
            </a:solidFill>
            <a:prstDash val="solid"/>
          </a:ln>
        </p:spPr>
      </p:sp>
      <p:pic>
        <p:nvPicPr>
          <p:cNvPr id="29" name="Image 1" descr="preencoded.png"/>
          <p:cNvPicPr>
            <a:picLocks noChangeAspect="1"/>
          </p:cNvPicPr>
          <p:nvPr/>
        </p:nvPicPr>
        <p:blipFill>
          <a:blip r:embed="rId4"/>
          <a:stretch>
            <a:fillRect/>
          </a:stretch>
        </p:blipFill>
        <p:spPr>
          <a:xfrm>
            <a:off x="713232" y="4160520"/>
            <a:ext cx="292608" cy="292608"/>
          </a:xfrm>
          <a:prstGeom prst="rect">
            <a:avLst/>
          </a:prstGeom>
        </p:spPr>
      </p:pic>
      <p:sp>
        <p:nvSpPr>
          <p:cNvPr id="30" name="Text 26"/>
          <p:cNvSpPr txBox="1"/>
          <p:nvPr/>
        </p:nvSpPr>
        <p:spPr>
          <a:xfrm>
            <a:off x="1143000" y="4069080"/>
            <a:ext cx="4754880" cy="475488"/>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All three yes → Experimental statistic — publish with limitations</a:t>
            </a:r>
            <a:endParaRPr lang="en-US" sz="1200" dirty="0"/>
          </a:p>
        </p:txBody>
      </p:sp>
      <p:sp>
        <p:nvSpPr>
          <p:cNvPr id="31" name="Shape 27"/>
          <p:cNvSpPr/>
          <p:nvPr/>
        </p:nvSpPr>
        <p:spPr>
          <a:xfrm>
            <a:off x="548640" y="4636008"/>
            <a:ext cx="5486400" cy="475488"/>
          </a:xfrm>
          <a:prstGeom prst="roundRect">
            <a:avLst>
              <a:gd name="adj" fmla="val 15385"/>
            </a:avLst>
          </a:prstGeom>
          <a:solidFill>
            <a:srgbClr val="FDF5DC"/>
          </a:solidFill>
          <a:ln w="9525">
            <a:solidFill>
              <a:srgbClr val="FDF5DC"/>
            </a:solidFill>
            <a:prstDash val="solid"/>
          </a:ln>
        </p:spPr>
      </p:sp>
      <p:pic>
        <p:nvPicPr>
          <p:cNvPr id="32" name="Image 2" descr="preencoded.png"/>
          <p:cNvPicPr>
            <a:picLocks noChangeAspect="1"/>
          </p:cNvPicPr>
          <p:nvPr/>
        </p:nvPicPr>
        <p:blipFill>
          <a:blip r:embed="rId5"/>
          <a:stretch>
            <a:fillRect/>
          </a:stretch>
        </p:blipFill>
        <p:spPr>
          <a:xfrm>
            <a:off x="713232" y="4727448"/>
            <a:ext cx="292608" cy="292608"/>
          </a:xfrm>
          <a:prstGeom prst="rect">
            <a:avLst/>
          </a:prstGeom>
        </p:spPr>
      </p:pic>
      <p:sp>
        <p:nvSpPr>
          <p:cNvPr id="33" name="Text 28"/>
          <p:cNvSpPr txBox="1"/>
          <p:nvPr/>
        </p:nvSpPr>
        <p:spPr>
          <a:xfrm>
            <a:off x="1143000" y="4636008"/>
            <a:ext cx="4754880" cy="475488"/>
          </a:xfrm>
          <a:prstGeom prst="rect">
            <a:avLst/>
          </a:prstGeom>
          <a:noFill/>
          <a:ln/>
        </p:spPr>
        <p:txBody>
          <a:bodyPr wrap="square" lIns="0" tIns="0" rIns="0" bIns="0" rtlCol="0" anchor="ctr"/>
          <a:lstStyle/>
          <a:p>
            <a:pPr marL="0" indent="0">
              <a:buNone/>
            </a:pPr>
            <a:r>
              <a:rPr lang="en-US" sz="1200" b="1" dirty="0">
                <a:solidFill>
                  <a:srgbClr val="A87700"/>
                </a:solidFill>
                <a:latin typeface="Calibri" pitchFamily="34" charset="0"/>
                <a:ea typeface="Calibri" pitchFamily="34" charset="-122"/>
                <a:cs typeface="Calibri" pitchFamily="34" charset="-120"/>
              </a:rPr>
              <a:t>Partly → Diagnostic tool — internal use only</a:t>
            </a:r>
            <a:endParaRPr lang="en-US" sz="1200" dirty="0"/>
          </a:p>
        </p:txBody>
      </p:sp>
      <p:sp>
        <p:nvSpPr>
          <p:cNvPr id="34" name="Shape 29"/>
          <p:cNvSpPr/>
          <p:nvPr/>
        </p:nvSpPr>
        <p:spPr>
          <a:xfrm>
            <a:off x="548640" y="5202936"/>
            <a:ext cx="5486400" cy="475488"/>
          </a:xfrm>
          <a:prstGeom prst="roundRect">
            <a:avLst>
              <a:gd name="adj" fmla="val 15385"/>
            </a:avLst>
          </a:prstGeom>
          <a:solidFill>
            <a:srgbClr val="FBE9E7"/>
          </a:solidFill>
          <a:ln w="9525">
            <a:solidFill>
              <a:srgbClr val="FBE9E7"/>
            </a:solidFill>
            <a:prstDash val="solid"/>
          </a:ln>
        </p:spPr>
      </p:sp>
      <p:pic>
        <p:nvPicPr>
          <p:cNvPr id="35" name="Image 3" descr="preencoded.png"/>
          <p:cNvPicPr>
            <a:picLocks noChangeAspect="1"/>
          </p:cNvPicPr>
          <p:nvPr/>
        </p:nvPicPr>
        <p:blipFill>
          <a:blip r:embed="rId6"/>
          <a:stretch>
            <a:fillRect/>
          </a:stretch>
        </p:blipFill>
        <p:spPr>
          <a:xfrm>
            <a:off x="713232" y="5294376"/>
            <a:ext cx="292608" cy="292608"/>
          </a:xfrm>
          <a:prstGeom prst="rect">
            <a:avLst/>
          </a:prstGeom>
        </p:spPr>
      </p:pic>
      <p:sp>
        <p:nvSpPr>
          <p:cNvPr id="36" name="Text 30"/>
          <p:cNvSpPr txBox="1"/>
          <p:nvPr/>
        </p:nvSpPr>
        <p:spPr>
          <a:xfrm>
            <a:off x="1143000" y="5202936"/>
            <a:ext cx="4754880" cy="475488"/>
          </a:xfrm>
          <a:prstGeom prst="rect">
            <a:avLst/>
          </a:prstGeom>
          <a:noFill/>
          <a:ln/>
        </p:spPr>
        <p:txBody>
          <a:bodyPr wrap="square" lIns="0" tIns="0" rIns="0" bIns="0" rtlCol="0" anchor="ctr"/>
          <a:lstStyle/>
          <a:p>
            <a:pPr marL="0" indent="0">
              <a:buNone/>
            </a:pPr>
            <a:r>
              <a:rPr lang="en-US" sz="1200" b="1" dirty="0">
                <a:solidFill>
                  <a:srgbClr val="B83B2E"/>
                </a:solidFill>
                <a:latin typeface="Calibri" pitchFamily="34" charset="0"/>
                <a:ea typeface="Calibri" pitchFamily="34" charset="-122"/>
                <a:cs typeface="Calibri" pitchFamily="34" charset="-120"/>
              </a:rPr>
              <a:t>No → Not fit for purpose — document why</a:t>
            </a:r>
            <a:endParaRPr lang="en-US" sz="1200" dirty="0"/>
          </a:p>
        </p:txBody>
      </p:sp>
      <p:sp>
        <p:nvSpPr>
          <p:cNvPr id="37" name="Shape 31"/>
          <p:cNvSpPr/>
          <p:nvPr/>
        </p:nvSpPr>
        <p:spPr>
          <a:xfrm>
            <a:off x="6355080" y="1371600"/>
            <a:ext cx="5285232" cy="4434840"/>
          </a:xfrm>
          <a:prstGeom prst="roundRect">
            <a:avLst>
              <a:gd name="adj" fmla="val 1649"/>
            </a:avLst>
          </a:prstGeom>
          <a:solidFill>
            <a:srgbClr val="E8F5EF"/>
          </a:solidFill>
          <a:ln w="9525">
            <a:solidFill>
              <a:srgbClr val="00A86A"/>
            </a:solidFill>
            <a:prstDash val="solid"/>
          </a:ln>
        </p:spPr>
      </p:sp>
      <p:sp>
        <p:nvSpPr>
          <p:cNvPr id="38" name="Text 32"/>
          <p:cNvSpPr txBox="1"/>
          <p:nvPr/>
        </p:nvSpPr>
        <p:spPr>
          <a:xfrm>
            <a:off x="6583680" y="1481328"/>
            <a:ext cx="4846320" cy="320040"/>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Limitations statement — template</a:t>
            </a:r>
            <a:endParaRPr lang="en-US" sz="1400" dirty="0"/>
          </a:p>
        </p:txBody>
      </p:sp>
      <p:sp>
        <p:nvSpPr>
          <p:cNvPr id="39" name="Text 33"/>
          <p:cNvSpPr txBox="1"/>
          <p:nvPr/>
        </p:nvSpPr>
        <p:spPr>
          <a:xfrm>
            <a:off x="6583680" y="1783080"/>
            <a:ext cx="4846320" cy="27432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Part of the deliverable, committed to GitHub</a:t>
            </a:r>
            <a:endParaRPr lang="en-US" sz="1050" dirty="0"/>
          </a:p>
        </p:txBody>
      </p:sp>
      <p:sp>
        <p:nvSpPr>
          <p:cNvPr id="40" name="Shape 34"/>
          <p:cNvSpPr/>
          <p:nvPr/>
        </p:nvSpPr>
        <p:spPr>
          <a:xfrm>
            <a:off x="6583680" y="2194560"/>
            <a:ext cx="1600200" cy="512064"/>
          </a:xfrm>
          <a:prstGeom prst="rect">
            <a:avLst/>
          </a:prstGeom>
          <a:solidFill>
            <a:srgbClr val="FFFFFF"/>
          </a:solidFill>
          <a:ln w="6350">
            <a:solidFill>
              <a:srgbClr val="FFFFFF"/>
            </a:solidFill>
            <a:prstDash val="solid"/>
          </a:ln>
        </p:spPr>
      </p:sp>
      <p:sp>
        <p:nvSpPr>
          <p:cNvPr id="41" name="Text 35"/>
          <p:cNvSpPr txBox="1"/>
          <p:nvPr/>
        </p:nvSpPr>
        <p:spPr>
          <a:xfrm>
            <a:off x="6675120" y="2194560"/>
            <a:ext cx="146304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Data</a:t>
            </a:r>
            <a:endParaRPr lang="en-US" sz="1100" dirty="0"/>
          </a:p>
        </p:txBody>
      </p:sp>
      <p:sp>
        <p:nvSpPr>
          <p:cNvPr id="42" name="Shape 36"/>
          <p:cNvSpPr/>
          <p:nvPr/>
        </p:nvSpPr>
        <p:spPr>
          <a:xfrm>
            <a:off x="8229600" y="2194560"/>
            <a:ext cx="3200400" cy="512064"/>
          </a:xfrm>
          <a:prstGeom prst="rect">
            <a:avLst/>
          </a:prstGeom>
          <a:solidFill>
            <a:srgbClr val="FFFFFF"/>
          </a:solidFill>
          <a:ln w="6350">
            <a:solidFill>
              <a:srgbClr val="FFFFFF"/>
            </a:solidFill>
            <a:prstDash val="solid"/>
          </a:ln>
        </p:spPr>
      </p:sp>
      <p:sp>
        <p:nvSpPr>
          <p:cNvPr id="43" name="Text 37"/>
          <p:cNvSpPr txBox="1"/>
          <p:nvPr/>
        </p:nvSpPr>
        <p:spPr>
          <a:xfrm>
            <a:off x="8321040" y="2194560"/>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Product, collection version, period, cadence</a:t>
            </a:r>
            <a:endParaRPr lang="en-US" sz="1050" dirty="0"/>
          </a:p>
        </p:txBody>
      </p:sp>
      <p:sp>
        <p:nvSpPr>
          <p:cNvPr id="44" name="Shape 38"/>
          <p:cNvSpPr/>
          <p:nvPr/>
        </p:nvSpPr>
        <p:spPr>
          <a:xfrm>
            <a:off x="6583680" y="2779776"/>
            <a:ext cx="1600200" cy="512064"/>
          </a:xfrm>
          <a:prstGeom prst="rect">
            <a:avLst/>
          </a:prstGeom>
          <a:solidFill>
            <a:srgbClr val="FFFFFF"/>
          </a:solidFill>
          <a:ln w="6350">
            <a:solidFill>
              <a:srgbClr val="FFFFFF"/>
            </a:solidFill>
            <a:prstDash val="solid"/>
          </a:ln>
        </p:spPr>
      </p:sp>
      <p:sp>
        <p:nvSpPr>
          <p:cNvPr id="45" name="Text 39"/>
          <p:cNvSpPr txBox="1"/>
          <p:nvPr/>
        </p:nvSpPr>
        <p:spPr>
          <a:xfrm>
            <a:off x="6675120" y="2779776"/>
            <a:ext cx="146304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Choices</a:t>
            </a:r>
            <a:endParaRPr lang="en-US" sz="1100" dirty="0"/>
          </a:p>
        </p:txBody>
      </p:sp>
      <p:sp>
        <p:nvSpPr>
          <p:cNvPr id="46" name="Shape 40"/>
          <p:cNvSpPr/>
          <p:nvPr/>
        </p:nvSpPr>
        <p:spPr>
          <a:xfrm>
            <a:off x="8229600" y="2779776"/>
            <a:ext cx="3200400" cy="512064"/>
          </a:xfrm>
          <a:prstGeom prst="rect">
            <a:avLst/>
          </a:prstGeom>
          <a:solidFill>
            <a:srgbClr val="FFFFFF"/>
          </a:solidFill>
          <a:ln w="6350">
            <a:solidFill>
              <a:srgbClr val="FFFFFF"/>
            </a:solidFill>
            <a:prstDash val="solid"/>
          </a:ln>
        </p:spPr>
      </p:sp>
      <p:sp>
        <p:nvSpPr>
          <p:cNvPr id="47" name="Text 41"/>
          <p:cNvSpPr txBox="1"/>
          <p:nvPr/>
        </p:nvSpPr>
        <p:spPr>
          <a:xfrm>
            <a:off x="8321040" y="2779776"/>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Boundaries, radiance threshold, masks applied</a:t>
            </a:r>
            <a:endParaRPr lang="en-US" sz="1050" dirty="0"/>
          </a:p>
        </p:txBody>
      </p:sp>
      <p:sp>
        <p:nvSpPr>
          <p:cNvPr id="48" name="Shape 42"/>
          <p:cNvSpPr/>
          <p:nvPr/>
        </p:nvSpPr>
        <p:spPr>
          <a:xfrm>
            <a:off x="6583680" y="3364992"/>
            <a:ext cx="1600200" cy="512064"/>
          </a:xfrm>
          <a:prstGeom prst="rect">
            <a:avLst/>
          </a:prstGeom>
          <a:solidFill>
            <a:srgbClr val="FFFFFF"/>
          </a:solidFill>
          <a:ln w="6350">
            <a:solidFill>
              <a:srgbClr val="FFFFFF"/>
            </a:solidFill>
            <a:prstDash val="solid"/>
          </a:ln>
        </p:spPr>
      </p:sp>
      <p:sp>
        <p:nvSpPr>
          <p:cNvPr id="49" name="Text 43"/>
          <p:cNvSpPr txBox="1"/>
          <p:nvPr/>
        </p:nvSpPr>
        <p:spPr>
          <a:xfrm>
            <a:off x="6675120" y="3364992"/>
            <a:ext cx="146304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Artefacts</a:t>
            </a:r>
            <a:endParaRPr lang="en-US" sz="1100" dirty="0"/>
          </a:p>
        </p:txBody>
      </p:sp>
      <p:sp>
        <p:nvSpPr>
          <p:cNvPr id="50" name="Shape 44"/>
          <p:cNvSpPr/>
          <p:nvPr/>
        </p:nvSpPr>
        <p:spPr>
          <a:xfrm>
            <a:off x="8229600" y="3364992"/>
            <a:ext cx="3200400" cy="512064"/>
          </a:xfrm>
          <a:prstGeom prst="rect">
            <a:avLst/>
          </a:prstGeom>
          <a:solidFill>
            <a:srgbClr val="FFFFFF"/>
          </a:solidFill>
          <a:ln w="6350">
            <a:solidFill>
              <a:srgbClr val="FFFFFF"/>
            </a:solidFill>
            <a:prstDash val="solid"/>
          </a:ln>
        </p:spPr>
      </p:sp>
      <p:sp>
        <p:nvSpPr>
          <p:cNvPr id="51" name="Text 45"/>
          <p:cNvSpPr txBox="1"/>
          <p:nvPr/>
        </p:nvSpPr>
        <p:spPr>
          <a:xfrm>
            <a:off x="8321040" y="3364992"/>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Which of the six were found, where, and how treated</a:t>
            </a:r>
            <a:endParaRPr lang="en-US" sz="1050" dirty="0"/>
          </a:p>
        </p:txBody>
      </p:sp>
      <p:sp>
        <p:nvSpPr>
          <p:cNvPr id="52" name="Shape 46"/>
          <p:cNvSpPr/>
          <p:nvPr/>
        </p:nvSpPr>
        <p:spPr>
          <a:xfrm>
            <a:off x="6583680" y="3950208"/>
            <a:ext cx="1600200" cy="512064"/>
          </a:xfrm>
          <a:prstGeom prst="rect">
            <a:avLst/>
          </a:prstGeom>
          <a:solidFill>
            <a:srgbClr val="FFFFFF"/>
          </a:solidFill>
          <a:ln w="6350">
            <a:solidFill>
              <a:srgbClr val="FFFFFF"/>
            </a:solidFill>
            <a:prstDash val="solid"/>
          </a:ln>
        </p:spPr>
      </p:sp>
      <p:sp>
        <p:nvSpPr>
          <p:cNvPr id="53" name="Text 47"/>
          <p:cNvSpPr txBox="1"/>
          <p:nvPr/>
        </p:nvSpPr>
        <p:spPr>
          <a:xfrm>
            <a:off x="6675120" y="3950208"/>
            <a:ext cx="146304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Validation</a:t>
            </a:r>
            <a:endParaRPr lang="en-US" sz="1100" dirty="0"/>
          </a:p>
        </p:txBody>
      </p:sp>
      <p:sp>
        <p:nvSpPr>
          <p:cNvPr id="54" name="Shape 48"/>
          <p:cNvSpPr/>
          <p:nvPr/>
        </p:nvSpPr>
        <p:spPr>
          <a:xfrm>
            <a:off x="8229600" y="3950208"/>
            <a:ext cx="3200400" cy="512064"/>
          </a:xfrm>
          <a:prstGeom prst="rect">
            <a:avLst/>
          </a:prstGeom>
          <a:solidFill>
            <a:srgbClr val="FFFFFF"/>
          </a:solidFill>
          <a:ln w="6350">
            <a:solidFill>
              <a:srgbClr val="FFFFFF"/>
            </a:solidFill>
            <a:prstDash val="solid"/>
          </a:ln>
        </p:spPr>
      </p:sp>
      <p:sp>
        <p:nvSpPr>
          <p:cNvPr id="55" name="Text 49"/>
          <p:cNvSpPr txBox="1"/>
          <p:nvPr/>
        </p:nvSpPr>
        <p:spPr>
          <a:xfrm>
            <a:off x="8321040" y="3950208"/>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Benchmark, year, number of units, strength in levels &amp; changes</a:t>
            </a:r>
            <a:endParaRPr lang="en-US" sz="1050" dirty="0"/>
          </a:p>
        </p:txBody>
      </p:sp>
      <p:sp>
        <p:nvSpPr>
          <p:cNvPr id="56" name="Shape 50"/>
          <p:cNvSpPr/>
          <p:nvPr/>
        </p:nvSpPr>
        <p:spPr>
          <a:xfrm>
            <a:off x="6583680" y="4535424"/>
            <a:ext cx="1600200" cy="512064"/>
          </a:xfrm>
          <a:prstGeom prst="rect">
            <a:avLst/>
          </a:prstGeom>
          <a:solidFill>
            <a:srgbClr val="FFFFFF"/>
          </a:solidFill>
          <a:ln w="6350">
            <a:solidFill>
              <a:srgbClr val="FFFFFF"/>
            </a:solidFill>
            <a:prstDash val="solid"/>
          </a:ln>
        </p:spPr>
      </p:sp>
      <p:sp>
        <p:nvSpPr>
          <p:cNvPr id="57" name="Text 51"/>
          <p:cNvSpPr txBox="1"/>
          <p:nvPr/>
        </p:nvSpPr>
        <p:spPr>
          <a:xfrm>
            <a:off x="6675120" y="4535424"/>
            <a:ext cx="1463040" cy="512064"/>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Decision</a:t>
            </a:r>
            <a:endParaRPr lang="en-US" sz="1100" dirty="0"/>
          </a:p>
        </p:txBody>
      </p:sp>
      <p:sp>
        <p:nvSpPr>
          <p:cNvPr id="58" name="Shape 52"/>
          <p:cNvSpPr/>
          <p:nvPr/>
        </p:nvSpPr>
        <p:spPr>
          <a:xfrm>
            <a:off x="8229600" y="4535424"/>
            <a:ext cx="3200400" cy="512064"/>
          </a:xfrm>
          <a:prstGeom prst="rect">
            <a:avLst/>
          </a:prstGeom>
          <a:solidFill>
            <a:srgbClr val="FFFFFF"/>
          </a:solidFill>
          <a:ln w="6350">
            <a:solidFill>
              <a:srgbClr val="FFFFFF"/>
            </a:solidFill>
            <a:prstDash val="solid"/>
          </a:ln>
        </p:spPr>
      </p:sp>
      <p:sp>
        <p:nvSpPr>
          <p:cNvPr id="59" name="Text 53"/>
          <p:cNvSpPr txBox="1"/>
          <p:nvPr/>
        </p:nvSpPr>
        <p:spPr>
          <a:xfrm>
            <a:off x="8321040" y="4535424"/>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Experimental, diagnostic or not fit — and why</a:t>
            </a:r>
            <a:endParaRPr lang="en-US" sz="1050" dirty="0"/>
          </a:p>
        </p:txBody>
      </p:sp>
      <p:sp>
        <p:nvSpPr>
          <p:cNvPr id="60" name="Shape 54"/>
          <p:cNvSpPr/>
          <p:nvPr/>
        </p:nvSpPr>
        <p:spPr>
          <a:xfrm>
            <a:off x="6583680" y="5120640"/>
            <a:ext cx="1600200" cy="512064"/>
          </a:xfrm>
          <a:prstGeom prst="rect">
            <a:avLst/>
          </a:prstGeom>
          <a:solidFill>
            <a:srgbClr val="FFFFFF"/>
          </a:solidFill>
          <a:ln w="6350">
            <a:solidFill>
              <a:srgbClr val="FFFFFF"/>
            </a:solidFill>
            <a:prstDash val="solid"/>
          </a:ln>
        </p:spPr>
      </p:sp>
      <p:sp>
        <p:nvSpPr>
          <p:cNvPr id="61" name="Text 55"/>
          <p:cNvSpPr txBox="1"/>
          <p:nvPr/>
        </p:nvSpPr>
        <p:spPr>
          <a:xfrm>
            <a:off x="6675120" y="5120640"/>
            <a:ext cx="1463040" cy="512064"/>
          </a:xfrm>
          <a:prstGeom prst="rect">
            <a:avLst/>
          </a:prstGeom>
          <a:noFill/>
          <a:ln/>
        </p:spPr>
        <p:txBody>
          <a:bodyPr wrap="square" lIns="0" tIns="0" rIns="0" bIns="0" rtlCol="0" anchor="ctr"/>
          <a:lstStyle/>
          <a:p>
            <a:pPr marL="0" indent="0">
              <a:buNone/>
            </a:pPr>
            <a:r>
              <a:rPr lang="en-US" sz="1100" b="1" dirty="0">
                <a:solidFill>
                  <a:srgbClr val="B83B2E"/>
                </a:solidFill>
                <a:latin typeface="Calibri" pitchFamily="34" charset="0"/>
                <a:ea typeface="Calibri" pitchFamily="34" charset="-122"/>
                <a:cs typeface="Calibri" pitchFamily="34" charset="-120"/>
              </a:rPr>
              <a:t>Must not be used for</a:t>
            </a:r>
            <a:endParaRPr lang="en-US" sz="1100" dirty="0"/>
          </a:p>
        </p:txBody>
      </p:sp>
      <p:sp>
        <p:nvSpPr>
          <p:cNvPr id="62" name="Shape 56"/>
          <p:cNvSpPr/>
          <p:nvPr/>
        </p:nvSpPr>
        <p:spPr>
          <a:xfrm>
            <a:off x="8229600" y="5120640"/>
            <a:ext cx="3200400" cy="512064"/>
          </a:xfrm>
          <a:prstGeom prst="rect">
            <a:avLst/>
          </a:prstGeom>
          <a:solidFill>
            <a:srgbClr val="FFFFFF"/>
          </a:solidFill>
          <a:ln w="6350">
            <a:solidFill>
              <a:srgbClr val="FFFFFF"/>
            </a:solidFill>
            <a:prstDash val="solid"/>
          </a:ln>
        </p:spPr>
      </p:sp>
      <p:sp>
        <p:nvSpPr>
          <p:cNvPr id="63" name="Text 57"/>
          <p:cNvSpPr txBox="1"/>
          <p:nvPr/>
        </p:nvSpPr>
        <p:spPr>
          <a:xfrm>
            <a:off x="8321040" y="5120640"/>
            <a:ext cx="3063240" cy="51206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e.g. household income, small-settlement counts</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PROJECTS · GOOD PRACTICE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A checklist for defensible analysis</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60</a:t>
            </a:r>
            <a:endParaRPr lang="en-US" sz="900" dirty="0"/>
          </a:p>
        </p:txBody>
      </p:sp>
      <p:sp>
        <p:nvSpPr>
          <p:cNvPr id="12" name="Shape 9"/>
          <p:cNvSpPr/>
          <p:nvPr/>
        </p:nvSpPr>
        <p:spPr>
          <a:xfrm>
            <a:off x="548640" y="1371600"/>
            <a:ext cx="3593592" cy="969264"/>
          </a:xfrm>
          <a:prstGeom prst="roundRect">
            <a:avLst>
              <a:gd name="adj" fmla="val 7547"/>
            </a:avLst>
          </a:prstGeom>
          <a:solidFill>
            <a:srgbClr val="F4F7F5"/>
          </a:solidFill>
          <a:ln w="9525">
            <a:solidFill>
              <a:srgbClr val="D5DED9"/>
            </a:solidFill>
            <a:prstDash val="solid"/>
          </a:ln>
        </p:spPr>
      </p:sp>
      <p:sp>
        <p:nvSpPr>
          <p:cNvPr id="13" name="Shape 10"/>
          <p:cNvSpPr/>
          <p:nvPr/>
        </p:nvSpPr>
        <p:spPr>
          <a:xfrm>
            <a:off x="713232" y="1600200"/>
            <a:ext cx="475488" cy="475488"/>
          </a:xfrm>
          <a:prstGeom prst="ellipse">
            <a:avLst/>
          </a:prstGeom>
          <a:solidFill>
            <a:srgbClr val="00704A"/>
          </a:solidFill>
          <a:ln w="12700">
            <a:solidFill>
              <a:srgbClr val="00704A"/>
            </a:solidFill>
            <a:prstDash val="solid"/>
          </a:ln>
        </p:spPr>
      </p:sp>
      <p:sp>
        <p:nvSpPr>
          <p:cNvPr id="14" name="Text 11"/>
          <p:cNvSpPr txBox="1"/>
          <p:nvPr/>
        </p:nvSpPr>
        <p:spPr>
          <a:xfrm>
            <a:off x="713232" y="160020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1</a:t>
            </a:r>
            <a:endParaRPr lang="en-US" sz="1352" dirty="0"/>
          </a:p>
        </p:txBody>
      </p:sp>
      <p:sp>
        <p:nvSpPr>
          <p:cNvPr id="15" name="Text 12"/>
          <p:cNvSpPr txBox="1"/>
          <p:nvPr/>
        </p:nvSpPr>
        <p:spPr>
          <a:xfrm>
            <a:off x="1325880" y="146304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Name product and version</a:t>
            </a:r>
            <a:endParaRPr lang="en-US" sz="1250" dirty="0"/>
          </a:p>
        </p:txBody>
      </p:sp>
      <p:sp>
        <p:nvSpPr>
          <p:cNvPr id="16" name="Text 13"/>
          <p:cNvSpPr txBox="1"/>
          <p:nvPr/>
        </p:nvSpPr>
        <p:spPr>
          <a:xfrm>
            <a:off x="1325880" y="178308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VNP46A3 collection 2, VNL V2.x — they are not interchangeable.</a:t>
            </a:r>
            <a:endParaRPr lang="en-US" sz="1050" dirty="0"/>
          </a:p>
        </p:txBody>
      </p:sp>
      <p:sp>
        <p:nvSpPr>
          <p:cNvPr id="17" name="Shape 14"/>
          <p:cNvSpPr/>
          <p:nvPr/>
        </p:nvSpPr>
        <p:spPr>
          <a:xfrm>
            <a:off x="4297680" y="1371600"/>
            <a:ext cx="3593592" cy="969264"/>
          </a:xfrm>
          <a:prstGeom prst="roundRect">
            <a:avLst>
              <a:gd name="adj" fmla="val 7547"/>
            </a:avLst>
          </a:prstGeom>
          <a:solidFill>
            <a:srgbClr val="F4F7F5"/>
          </a:solidFill>
          <a:ln w="9525">
            <a:solidFill>
              <a:srgbClr val="D5DED9"/>
            </a:solidFill>
            <a:prstDash val="solid"/>
          </a:ln>
        </p:spPr>
      </p:sp>
      <p:sp>
        <p:nvSpPr>
          <p:cNvPr id="18" name="Shape 15"/>
          <p:cNvSpPr/>
          <p:nvPr/>
        </p:nvSpPr>
        <p:spPr>
          <a:xfrm>
            <a:off x="4462272" y="1600200"/>
            <a:ext cx="475488" cy="475488"/>
          </a:xfrm>
          <a:prstGeom prst="ellipse">
            <a:avLst/>
          </a:prstGeom>
          <a:solidFill>
            <a:srgbClr val="00704A"/>
          </a:solidFill>
          <a:ln w="12700">
            <a:solidFill>
              <a:srgbClr val="00704A"/>
            </a:solidFill>
            <a:prstDash val="solid"/>
          </a:ln>
        </p:spPr>
      </p:sp>
      <p:sp>
        <p:nvSpPr>
          <p:cNvPr id="19" name="Text 16"/>
          <p:cNvSpPr txBox="1"/>
          <p:nvPr/>
        </p:nvSpPr>
        <p:spPr>
          <a:xfrm>
            <a:off x="4462272" y="160020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2</a:t>
            </a:r>
            <a:endParaRPr lang="en-US" sz="1352" dirty="0"/>
          </a:p>
        </p:txBody>
      </p:sp>
      <p:sp>
        <p:nvSpPr>
          <p:cNvPr id="20" name="Text 17"/>
          <p:cNvSpPr txBox="1"/>
          <p:nvPr/>
        </p:nvSpPr>
        <p:spPr>
          <a:xfrm>
            <a:off x="5074920" y="146304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Never splice sensors naively</a:t>
            </a:r>
            <a:endParaRPr lang="en-US" sz="1250" dirty="0"/>
          </a:p>
        </p:txBody>
      </p:sp>
      <p:sp>
        <p:nvSpPr>
          <p:cNvPr id="21" name="Text 18"/>
          <p:cNvSpPr txBox="1"/>
          <p:nvPr/>
        </p:nvSpPr>
        <p:spPr>
          <a:xfrm>
            <a:off x="5074920" y="178308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Any DMSP–VIIRS series needs documented harmonisation.</a:t>
            </a:r>
            <a:endParaRPr lang="en-US" sz="1050" dirty="0"/>
          </a:p>
        </p:txBody>
      </p:sp>
      <p:sp>
        <p:nvSpPr>
          <p:cNvPr id="22" name="Shape 19"/>
          <p:cNvSpPr/>
          <p:nvPr/>
        </p:nvSpPr>
        <p:spPr>
          <a:xfrm>
            <a:off x="548640" y="2468880"/>
            <a:ext cx="3593592" cy="969264"/>
          </a:xfrm>
          <a:prstGeom prst="roundRect">
            <a:avLst>
              <a:gd name="adj" fmla="val 7547"/>
            </a:avLst>
          </a:prstGeom>
          <a:solidFill>
            <a:srgbClr val="F4F7F5"/>
          </a:solidFill>
          <a:ln w="9525">
            <a:solidFill>
              <a:srgbClr val="D5DED9"/>
            </a:solidFill>
            <a:prstDash val="solid"/>
          </a:ln>
        </p:spPr>
      </p:sp>
      <p:sp>
        <p:nvSpPr>
          <p:cNvPr id="23" name="Shape 20"/>
          <p:cNvSpPr/>
          <p:nvPr/>
        </p:nvSpPr>
        <p:spPr>
          <a:xfrm>
            <a:off x="713232" y="2697480"/>
            <a:ext cx="475488" cy="475488"/>
          </a:xfrm>
          <a:prstGeom prst="ellipse">
            <a:avLst/>
          </a:prstGeom>
          <a:solidFill>
            <a:srgbClr val="00704A"/>
          </a:solidFill>
          <a:ln w="12700">
            <a:solidFill>
              <a:srgbClr val="00704A"/>
            </a:solidFill>
            <a:prstDash val="solid"/>
          </a:ln>
        </p:spPr>
      </p:sp>
      <p:sp>
        <p:nvSpPr>
          <p:cNvPr id="24" name="Text 21"/>
          <p:cNvSpPr txBox="1"/>
          <p:nvPr/>
        </p:nvSpPr>
        <p:spPr>
          <a:xfrm>
            <a:off x="713232" y="269748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3</a:t>
            </a:r>
            <a:endParaRPr lang="en-US" sz="1352" dirty="0"/>
          </a:p>
        </p:txBody>
      </p:sp>
      <p:sp>
        <p:nvSpPr>
          <p:cNvPr id="25" name="Text 22"/>
          <p:cNvSpPr txBox="1"/>
          <p:nvPr/>
        </p:nvSpPr>
        <p:spPr>
          <a:xfrm>
            <a:off x="1325880" y="256032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Report and test the threshold</a:t>
            </a:r>
            <a:endParaRPr lang="en-US" sz="1250" dirty="0"/>
          </a:p>
        </p:txBody>
      </p:sp>
      <p:sp>
        <p:nvSpPr>
          <p:cNvPr id="26" name="Text 23"/>
          <p:cNvSpPr txBox="1"/>
          <p:nvPr/>
        </p:nvSpPr>
        <p:spPr>
          <a:xfrm>
            <a:off x="1325880" y="288036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Show the finding survives a reasonable range.</a:t>
            </a:r>
            <a:endParaRPr lang="en-US" sz="1050" dirty="0"/>
          </a:p>
        </p:txBody>
      </p:sp>
      <p:sp>
        <p:nvSpPr>
          <p:cNvPr id="27" name="Shape 24"/>
          <p:cNvSpPr/>
          <p:nvPr/>
        </p:nvSpPr>
        <p:spPr>
          <a:xfrm>
            <a:off x="4297680" y="2468880"/>
            <a:ext cx="3593592" cy="969264"/>
          </a:xfrm>
          <a:prstGeom prst="roundRect">
            <a:avLst>
              <a:gd name="adj" fmla="val 7547"/>
            </a:avLst>
          </a:prstGeom>
          <a:solidFill>
            <a:srgbClr val="F4F7F5"/>
          </a:solidFill>
          <a:ln w="9525">
            <a:solidFill>
              <a:srgbClr val="D5DED9"/>
            </a:solidFill>
            <a:prstDash val="solid"/>
          </a:ln>
        </p:spPr>
      </p:sp>
      <p:sp>
        <p:nvSpPr>
          <p:cNvPr id="28" name="Shape 25"/>
          <p:cNvSpPr/>
          <p:nvPr/>
        </p:nvSpPr>
        <p:spPr>
          <a:xfrm>
            <a:off x="4462272" y="2697480"/>
            <a:ext cx="475488" cy="475488"/>
          </a:xfrm>
          <a:prstGeom prst="ellipse">
            <a:avLst/>
          </a:prstGeom>
          <a:solidFill>
            <a:srgbClr val="00704A"/>
          </a:solidFill>
          <a:ln w="12700">
            <a:solidFill>
              <a:srgbClr val="00704A"/>
            </a:solidFill>
            <a:prstDash val="solid"/>
          </a:ln>
        </p:spPr>
      </p:sp>
      <p:sp>
        <p:nvSpPr>
          <p:cNvPr id="29" name="Text 26"/>
          <p:cNvSpPr txBox="1"/>
          <p:nvPr/>
        </p:nvSpPr>
        <p:spPr>
          <a:xfrm>
            <a:off x="4462272" y="269748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4</a:t>
            </a:r>
            <a:endParaRPr lang="en-US" sz="1352" dirty="0"/>
          </a:p>
        </p:txBody>
      </p:sp>
      <p:sp>
        <p:nvSpPr>
          <p:cNvPr id="30" name="Text 27"/>
          <p:cNvSpPr txBox="1"/>
          <p:nvPr/>
        </p:nvSpPr>
        <p:spPr>
          <a:xfrm>
            <a:off x="5074920" y="256032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Mask what you are not studying</a:t>
            </a:r>
            <a:endParaRPr lang="en-US" sz="1250" dirty="0"/>
          </a:p>
        </p:txBody>
      </p:sp>
      <p:sp>
        <p:nvSpPr>
          <p:cNvPr id="31" name="Text 28"/>
          <p:cNvSpPr txBox="1"/>
          <p:nvPr/>
        </p:nvSpPr>
        <p:spPr>
          <a:xfrm>
            <a:off x="5074920" y="288036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Background noise, gas flares, fishing lights, fires.</a:t>
            </a:r>
            <a:endParaRPr lang="en-US" sz="1050" dirty="0"/>
          </a:p>
        </p:txBody>
      </p:sp>
      <p:sp>
        <p:nvSpPr>
          <p:cNvPr id="32" name="Shape 29"/>
          <p:cNvSpPr/>
          <p:nvPr/>
        </p:nvSpPr>
        <p:spPr>
          <a:xfrm>
            <a:off x="548640" y="3566160"/>
            <a:ext cx="3593592" cy="969264"/>
          </a:xfrm>
          <a:prstGeom prst="roundRect">
            <a:avLst>
              <a:gd name="adj" fmla="val 7547"/>
            </a:avLst>
          </a:prstGeom>
          <a:solidFill>
            <a:srgbClr val="F4F7F5"/>
          </a:solidFill>
          <a:ln w="9525">
            <a:solidFill>
              <a:srgbClr val="D5DED9"/>
            </a:solidFill>
            <a:prstDash val="solid"/>
          </a:ln>
        </p:spPr>
      </p:sp>
      <p:sp>
        <p:nvSpPr>
          <p:cNvPr id="33" name="Shape 30"/>
          <p:cNvSpPr/>
          <p:nvPr/>
        </p:nvSpPr>
        <p:spPr>
          <a:xfrm>
            <a:off x="713232" y="3794760"/>
            <a:ext cx="475488" cy="475488"/>
          </a:xfrm>
          <a:prstGeom prst="ellipse">
            <a:avLst/>
          </a:prstGeom>
          <a:solidFill>
            <a:srgbClr val="00704A"/>
          </a:solidFill>
          <a:ln w="12700">
            <a:solidFill>
              <a:srgbClr val="00704A"/>
            </a:solidFill>
            <a:prstDash val="solid"/>
          </a:ln>
        </p:spPr>
      </p:sp>
      <p:sp>
        <p:nvSpPr>
          <p:cNvPr id="34" name="Text 31"/>
          <p:cNvSpPr txBox="1"/>
          <p:nvPr/>
        </p:nvSpPr>
        <p:spPr>
          <a:xfrm>
            <a:off x="713232" y="379476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5</a:t>
            </a:r>
            <a:endParaRPr lang="en-US" sz="1352" dirty="0"/>
          </a:p>
        </p:txBody>
      </p:sp>
      <p:sp>
        <p:nvSpPr>
          <p:cNvPr id="35" name="Text 32"/>
          <p:cNvSpPr txBox="1"/>
          <p:nvPr/>
        </p:nvSpPr>
        <p:spPr>
          <a:xfrm>
            <a:off x="1325880" y="365760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Normalise deliberately</a:t>
            </a:r>
            <a:endParaRPr lang="en-US" sz="1250" dirty="0"/>
          </a:p>
        </p:txBody>
      </p:sp>
      <p:sp>
        <p:nvSpPr>
          <p:cNvPr id="36" name="Text 33"/>
          <p:cNvSpPr txBox="1"/>
          <p:nvPr/>
        </p:nvSpPr>
        <p:spPr>
          <a:xfrm>
            <a:off x="1325880" y="397764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Per capita, per km², or neither — state and defend it.</a:t>
            </a:r>
            <a:endParaRPr lang="en-US" sz="1050" dirty="0"/>
          </a:p>
        </p:txBody>
      </p:sp>
      <p:sp>
        <p:nvSpPr>
          <p:cNvPr id="37" name="Shape 34"/>
          <p:cNvSpPr/>
          <p:nvPr/>
        </p:nvSpPr>
        <p:spPr>
          <a:xfrm>
            <a:off x="4297680" y="3566160"/>
            <a:ext cx="3593592" cy="969264"/>
          </a:xfrm>
          <a:prstGeom prst="roundRect">
            <a:avLst>
              <a:gd name="adj" fmla="val 7547"/>
            </a:avLst>
          </a:prstGeom>
          <a:solidFill>
            <a:srgbClr val="F4F7F5"/>
          </a:solidFill>
          <a:ln w="9525">
            <a:solidFill>
              <a:srgbClr val="D5DED9"/>
            </a:solidFill>
            <a:prstDash val="solid"/>
          </a:ln>
        </p:spPr>
      </p:sp>
      <p:sp>
        <p:nvSpPr>
          <p:cNvPr id="38" name="Shape 35"/>
          <p:cNvSpPr/>
          <p:nvPr/>
        </p:nvSpPr>
        <p:spPr>
          <a:xfrm>
            <a:off x="4462272" y="3794760"/>
            <a:ext cx="475488" cy="475488"/>
          </a:xfrm>
          <a:prstGeom prst="ellipse">
            <a:avLst/>
          </a:prstGeom>
          <a:solidFill>
            <a:srgbClr val="00704A"/>
          </a:solidFill>
          <a:ln w="12700">
            <a:solidFill>
              <a:srgbClr val="00704A"/>
            </a:solidFill>
            <a:prstDash val="solid"/>
          </a:ln>
        </p:spPr>
      </p:sp>
      <p:sp>
        <p:nvSpPr>
          <p:cNvPr id="39" name="Text 36"/>
          <p:cNvSpPr txBox="1"/>
          <p:nvPr/>
        </p:nvSpPr>
        <p:spPr>
          <a:xfrm>
            <a:off x="4462272" y="379476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6</a:t>
            </a:r>
            <a:endParaRPr lang="en-US" sz="1352" dirty="0"/>
          </a:p>
        </p:txBody>
      </p:sp>
      <p:sp>
        <p:nvSpPr>
          <p:cNvPr id="40" name="Text 37"/>
          <p:cNvSpPr txBox="1"/>
          <p:nvPr/>
        </p:nvSpPr>
        <p:spPr>
          <a:xfrm>
            <a:off x="5074920" y="365760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Validate against the ground</a:t>
            </a:r>
            <a:endParaRPr lang="en-US" sz="1250" dirty="0"/>
          </a:p>
        </p:txBody>
      </p:sp>
      <p:sp>
        <p:nvSpPr>
          <p:cNvPr id="41" name="Text 38"/>
          <p:cNvSpPr txBox="1"/>
          <p:nvPr/>
        </p:nvSpPr>
        <p:spPr>
          <a:xfrm>
            <a:off x="5074920" y="397764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Census, surveys, utility records — independent sources.</a:t>
            </a:r>
            <a:endParaRPr lang="en-US" sz="1050" dirty="0"/>
          </a:p>
        </p:txBody>
      </p:sp>
      <p:sp>
        <p:nvSpPr>
          <p:cNvPr id="42" name="Shape 39"/>
          <p:cNvSpPr/>
          <p:nvPr/>
        </p:nvSpPr>
        <p:spPr>
          <a:xfrm>
            <a:off x="548640" y="4663440"/>
            <a:ext cx="3593592" cy="969264"/>
          </a:xfrm>
          <a:prstGeom prst="roundRect">
            <a:avLst>
              <a:gd name="adj" fmla="val 7547"/>
            </a:avLst>
          </a:prstGeom>
          <a:solidFill>
            <a:srgbClr val="F4F7F5"/>
          </a:solidFill>
          <a:ln w="9525">
            <a:solidFill>
              <a:srgbClr val="D5DED9"/>
            </a:solidFill>
            <a:prstDash val="solid"/>
          </a:ln>
        </p:spPr>
      </p:sp>
      <p:sp>
        <p:nvSpPr>
          <p:cNvPr id="43" name="Shape 40"/>
          <p:cNvSpPr/>
          <p:nvPr/>
        </p:nvSpPr>
        <p:spPr>
          <a:xfrm>
            <a:off x="713232" y="4892040"/>
            <a:ext cx="475488" cy="475488"/>
          </a:xfrm>
          <a:prstGeom prst="ellipse">
            <a:avLst/>
          </a:prstGeom>
          <a:solidFill>
            <a:srgbClr val="F5C242"/>
          </a:solidFill>
          <a:ln w="12700">
            <a:solidFill>
              <a:srgbClr val="F5C242"/>
            </a:solidFill>
            <a:prstDash val="solid"/>
          </a:ln>
        </p:spPr>
      </p:sp>
      <p:sp>
        <p:nvSpPr>
          <p:cNvPr id="44" name="Text 41"/>
          <p:cNvSpPr txBox="1"/>
          <p:nvPr/>
        </p:nvSpPr>
        <p:spPr>
          <a:xfrm>
            <a:off x="713232" y="4892040"/>
            <a:ext cx="475488" cy="475488"/>
          </a:xfrm>
          <a:prstGeom prst="rect">
            <a:avLst/>
          </a:prstGeom>
          <a:noFill/>
          <a:ln/>
        </p:spPr>
        <p:txBody>
          <a:bodyPr wrap="square" lIns="0" tIns="0" rIns="0" bIns="0" rtlCol="0" anchor="ctr"/>
          <a:lstStyle/>
          <a:p>
            <a:pPr marL="0" indent="0" algn="ctr">
              <a:buNone/>
            </a:pPr>
            <a:r>
              <a:rPr lang="en-US" sz="1352" b="1" dirty="0">
                <a:solidFill>
                  <a:srgbClr val="00553A"/>
                </a:solidFill>
                <a:latin typeface="Calibri" pitchFamily="34" charset="0"/>
                <a:ea typeface="Calibri" pitchFamily="34" charset="-122"/>
                <a:cs typeface="Calibri" pitchFamily="34" charset="-120"/>
              </a:rPr>
              <a:t>7</a:t>
            </a:r>
            <a:endParaRPr lang="en-US" sz="1352" dirty="0"/>
          </a:p>
        </p:txBody>
      </p:sp>
      <p:sp>
        <p:nvSpPr>
          <p:cNvPr id="45" name="Text 42"/>
          <p:cNvSpPr txBox="1"/>
          <p:nvPr/>
        </p:nvSpPr>
        <p:spPr>
          <a:xfrm>
            <a:off x="1325880" y="475488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Prefer changes to levels</a:t>
            </a:r>
            <a:endParaRPr lang="en-US" sz="1250" dirty="0"/>
          </a:p>
        </p:txBody>
      </p:sp>
      <p:sp>
        <p:nvSpPr>
          <p:cNvPr id="46" name="Text 43"/>
          <p:cNvSpPr txBox="1"/>
          <p:nvPr/>
        </p:nvSpPr>
        <p:spPr>
          <a:xfrm>
            <a:off x="1325880" y="507492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Differences cancel much of the calibration error.</a:t>
            </a:r>
            <a:endParaRPr lang="en-US" sz="1050" dirty="0"/>
          </a:p>
        </p:txBody>
      </p:sp>
      <p:sp>
        <p:nvSpPr>
          <p:cNvPr id="47" name="Shape 44"/>
          <p:cNvSpPr/>
          <p:nvPr/>
        </p:nvSpPr>
        <p:spPr>
          <a:xfrm>
            <a:off x="4297680" y="4663440"/>
            <a:ext cx="3593592" cy="969264"/>
          </a:xfrm>
          <a:prstGeom prst="roundRect">
            <a:avLst>
              <a:gd name="adj" fmla="val 7547"/>
            </a:avLst>
          </a:prstGeom>
          <a:solidFill>
            <a:srgbClr val="F4F7F5"/>
          </a:solidFill>
          <a:ln w="9525">
            <a:solidFill>
              <a:srgbClr val="D5DED9"/>
            </a:solidFill>
            <a:prstDash val="solid"/>
          </a:ln>
        </p:spPr>
      </p:sp>
      <p:sp>
        <p:nvSpPr>
          <p:cNvPr id="48" name="Shape 45"/>
          <p:cNvSpPr/>
          <p:nvPr/>
        </p:nvSpPr>
        <p:spPr>
          <a:xfrm>
            <a:off x="4462272" y="4892040"/>
            <a:ext cx="475488" cy="475488"/>
          </a:xfrm>
          <a:prstGeom prst="ellipse">
            <a:avLst/>
          </a:prstGeom>
          <a:solidFill>
            <a:srgbClr val="00704A"/>
          </a:solidFill>
          <a:ln w="12700">
            <a:solidFill>
              <a:srgbClr val="00704A"/>
            </a:solidFill>
            <a:prstDash val="solid"/>
          </a:ln>
        </p:spPr>
      </p:sp>
      <p:sp>
        <p:nvSpPr>
          <p:cNvPr id="49" name="Text 46"/>
          <p:cNvSpPr txBox="1"/>
          <p:nvPr/>
        </p:nvSpPr>
        <p:spPr>
          <a:xfrm>
            <a:off x="4462272" y="4892040"/>
            <a:ext cx="475488" cy="475488"/>
          </a:xfrm>
          <a:prstGeom prst="rect">
            <a:avLst/>
          </a:prstGeom>
          <a:noFill/>
          <a:ln/>
        </p:spPr>
        <p:txBody>
          <a:bodyPr wrap="square" lIns="0" tIns="0" rIns="0" bIns="0" rtlCol="0" anchor="ctr"/>
          <a:lstStyle/>
          <a:p>
            <a:pPr marL="0" indent="0" algn="ctr">
              <a:buNone/>
            </a:pPr>
            <a:r>
              <a:rPr lang="en-US" sz="1352" b="1" dirty="0">
                <a:solidFill>
                  <a:srgbClr val="FFFFFF"/>
                </a:solidFill>
                <a:latin typeface="Calibri" pitchFamily="34" charset="0"/>
                <a:ea typeface="Calibri" pitchFamily="34" charset="-122"/>
                <a:cs typeface="Calibri" pitchFamily="34" charset="-120"/>
              </a:rPr>
              <a:t>8</a:t>
            </a:r>
            <a:endParaRPr lang="en-US" sz="1352" dirty="0"/>
          </a:p>
        </p:txBody>
      </p:sp>
      <p:sp>
        <p:nvSpPr>
          <p:cNvPr id="50" name="Text 47"/>
          <p:cNvSpPr txBox="1"/>
          <p:nvPr/>
        </p:nvSpPr>
        <p:spPr>
          <a:xfrm>
            <a:off x="5074920" y="4754880"/>
            <a:ext cx="2697480" cy="32004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Publish code and limitations</a:t>
            </a:r>
            <a:endParaRPr lang="en-US" sz="1250" dirty="0"/>
          </a:p>
        </p:txBody>
      </p:sp>
      <p:sp>
        <p:nvSpPr>
          <p:cNvPr id="51" name="Text 48"/>
          <p:cNvSpPr txBox="1"/>
          <p:nvPr/>
        </p:nvSpPr>
        <p:spPr>
          <a:xfrm>
            <a:off x="5074920" y="5074920"/>
            <a:ext cx="2697480" cy="53035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README with method, sources, licence and caveats.</a:t>
            </a:r>
            <a:endParaRPr lang="en-US" sz="1050" dirty="0"/>
          </a:p>
        </p:txBody>
      </p:sp>
      <p:sp>
        <p:nvSpPr>
          <p:cNvPr id="52" name="Shape 49"/>
          <p:cNvSpPr/>
          <p:nvPr/>
        </p:nvSpPr>
        <p:spPr>
          <a:xfrm>
            <a:off x="8046720" y="1371600"/>
            <a:ext cx="3593592" cy="4261104"/>
          </a:xfrm>
          <a:prstGeom prst="roundRect">
            <a:avLst>
              <a:gd name="adj" fmla="val 2036"/>
            </a:avLst>
          </a:prstGeom>
          <a:solidFill>
            <a:srgbClr val="00553A"/>
          </a:solidFill>
          <a:ln w="9525">
            <a:solidFill>
              <a:srgbClr val="00553A"/>
            </a:solidFill>
            <a:prstDash val="solid"/>
          </a:ln>
        </p:spPr>
      </p:sp>
      <p:pic>
        <p:nvPicPr>
          <p:cNvPr id="53" name="Image 1" descr="preencoded.png"/>
          <p:cNvPicPr>
            <a:picLocks noChangeAspect="1"/>
          </p:cNvPicPr>
          <p:nvPr/>
        </p:nvPicPr>
        <p:blipFill>
          <a:blip r:embed="rId4"/>
          <a:stretch>
            <a:fillRect/>
          </a:stretch>
        </p:blipFill>
        <p:spPr>
          <a:xfrm>
            <a:off x="8275320" y="1600200"/>
            <a:ext cx="411480" cy="411480"/>
          </a:xfrm>
          <a:prstGeom prst="rect">
            <a:avLst/>
          </a:prstGeom>
        </p:spPr>
      </p:pic>
      <p:sp>
        <p:nvSpPr>
          <p:cNvPr id="54" name="Text 50"/>
          <p:cNvSpPr txBox="1"/>
          <p:nvPr/>
        </p:nvSpPr>
        <p:spPr>
          <a:xfrm>
            <a:off x="8823960" y="1600200"/>
            <a:ext cx="2743200" cy="411480"/>
          </a:xfrm>
          <a:prstGeom prst="rect">
            <a:avLst/>
          </a:prstGeom>
          <a:noFill/>
          <a:ln/>
        </p:spPr>
        <p:txBody>
          <a:bodyPr wrap="square" lIns="0" tIns="0" rIns="0" bIns="0" rtlCol="0" anchor="ctr"/>
          <a:lstStyle/>
          <a:p>
            <a:pPr marL="0" indent="0">
              <a:buNone/>
            </a:pPr>
            <a:r>
              <a:rPr lang="en-US" sz="1200" b="1" kern="0" spc="200" dirty="0">
                <a:solidFill>
                  <a:srgbClr val="F5C242"/>
                </a:solidFill>
                <a:latin typeface="Calibri" pitchFamily="34" charset="0"/>
                <a:ea typeface="Calibri" pitchFamily="34" charset="-122"/>
                <a:cs typeface="Calibri" pitchFamily="34" charset="-120"/>
              </a:rPr>
              <a:t>THE GOLDEN RULE</a:t>
            </a:r>
            <a:endParaRPr lang="en-US" sz="1200" dirty="0"/>
          </a:p>
        </p:txBody>
      </p:sp>
      <p:sp>
        <p:nvSpPr>
          <p:cNvPr id="55" name="Text 51"/>
          <p:cNvSpPr txBox="1"/>
          <p:nvPr/>
        </p:nvSpPr>
        <p:spPr>
          <a:xfrm>
            <a:off x="8275320" y="2240280"/>
            <a:ext cx="3154680" cy="1828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State, in one sentence, what would have to be true about lighting behaviour for your conclusion to hold.</a:t>
            </a:r>
            <a:endParaRPr lang="en-US" sz="1600" dirty="0"/>
          </a:p>
        </p:txBody>
      </p:sp>
      <p:sp>
        <p:nvSpPr>
          <p:cNvPr id="56" name="Text 52"/>
          <p:cNvSpPr txBox="1"/>
          <p:nvPr/>
        </p:nvSpPr>
        <p:spPr>
          <a:xfrm>
            <a:off x="8275320" y="4343400"/>
            <a:ext cx="3154680" cy="1005840"/>
          </a:xfrm>
          <a:prstGeom prst="rect">
            <a:avLst/>
          </a:prstGeom>
          <a:noFill/>
          <a:ln/>
        </p:spPr>
        <p:txBody>
          <a:bodyPr wrap="square" lIns="0" tIns="0" rIns="0" bIns="0" rtlCol="0" anchor="t"/>
          <a:lstStyle/>
          <a:p>
            <a:pPr marL="0" indent="0">
              <a:buNone/>
            </a:pPr>
            <a:r>
              <a:rPr lang="en-US" sz="1200" i="1" dirty="0">
                <a:solidFill>
                  <a:srgbClr val="A9D3BE"/>
                </a:solidFill>
                <a:latin typeface="Calibri" pitchFamily="34" charset="0"/>
                <a:ea typeface="Calibri" pitchFamily="34" charset="-122"/>
                <a:cs typeface="Calibri" pitchFamily="34" charset="-120"/>
              </a:rPr>
              <a:t>If you cannot write that sentence, you do not yet have a result.</a:t>
            </a:r>
            <a:endParaRPr lang="en-US" sz="1200" dirty="0"/>
          </a:p>
        </p:txBody>
      </p:sp>
      <p:sp>
        <p:nvSpPr>
          <p:cNvPr id="57" name="Shape 53"/>
          <p:cNvSpPr/>
          <p:nvPr/>
        </p:nvSpPr>
        <p:spPr>
          <a:xfrm>
            <a:off x="548640" y="5760720"/>
            <a:ext cx="11094415" cy="411480"/>
          </a:xfrm>
          <a:prstGeom prst="roundRect">
            <a:avLst>
              <a:gd name="adj" fmla="val 17778"/>
            </a:avLst>
          </a:prstGeom>
          <a:solidFill>
            <a:srgbClr val="E8F5EF"/>
          </a:solidFill>
          <a:ln w="9525">
            <a:solidFill>
              <a:srgbClr val="E8F5EF"/>
            </a:solidFill>
            <a:prstDash val="solid"/>
          </a:ln>
        </p:spPr>
      </p:sp>
      <p:sp>
        <p:nvSpPr>
          <p:cNvPr id="58" name="Text 54"/>
          <p:cNvSpPr txBox="1"/>
          <p:nvPr/>
        </p:nvSpPr>
        <p:spPr>
          <a:xfrm>
            <a:off x="777240" y="5760720"/>
            <a:ext cx="10637215" cy="411480"/>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Share it: </a:t>
            </a:r>
            <a:r>
              <a:rPr lang="en-US" sz="1150" dirty="0">
                <a:solidFill>
                  <a:srgbClr val="231F20"/>
                </a:solidFill>
                <a:latin typeface="Calibri" pitchFamily="34" charset="0"/>
                <a:ea typeface="Calibri" pitchFamily="34" charset="-122"/>
                <a:cs typeface="Calibri" pitchFamily="34" charset="-120"/>
              </a:rPr>
              <a:t>a documented, reusable repository is how your institution contributes to a shared community of practice.</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PROJECTS · ETHICS &amp; GOVERNANCE</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Ethics, privacy and governance for night-lights statistics</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61</a:t>
            </a:r>
            <a:endParaRPr lang="en-US" sz="900" dirty="0"/>
          </a:p>
        </p:txBody>
      </p:sp>
      <p:sp>
        <p:nvSpPr>
          <p:cNvPr id="12" name="Shape 9"/>
          <p:cNvSpPr/>
          <p:nvPr/>
        </p:nvSpPr>
        <p:spPr>
          <a:xfrm>
            <a:off x="548640" y="1371600"/>
            <a:ext cx="3593592" cy="1938528"/>
          </a:xfrm>
          <a:prstGeom prst="roundRect">
            <a:avLst>
              <a:gd name="adj" fmla="val 3774"/>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00704A"/>
          </a:solidFill>
          <a:ln w="12700">
            <a:solidFill>
              <a:srgbClr val="00704A"/>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Privacy</a:t>
            </a:r>
            <a:endParaRPr lang="en-US" sz="1400" dirty="0"/>
          </a:p>
        </p:txBody>
      </p:sp>
      <p:sp>
        <p:nvSpPr>
          <p:cNvPr id="16" name="Text 12"/>
          <p:cNvSpPr txBox="1"/>
          <p:nvPr/>
        </p:nvSpPr>
        <p:spPr>
          <a:xfrm>
            <a:off x="749808" y="224028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At ≈ 500 m, lights rarely identify individuals. Risk rises when they are combined with building footprints or high-resolution imagery for very small settlements.</a:t>
            </a:r>
            <a:endParaRPr lang="en-US" sz="1150" dirty="0"/>
          </a:p>
        </p:txBody>
      </p:sp>
      <p:sp>
        <p:nvSpPr>
          <p:cNvPr id="17" name="Shape 13"/>
          <p:cNvSpPr/>
          <p:nvPr/>
        </p:nvSpPr>
        <p:spPr>
          <a:xfrm>
            <a:off x="4297680" y="1371600"/>
            <a:ext cx="3593592" cy="1938528"/>
          </a:xfrm>
          <a:prstGeom prst="roundRect">
            <a:avLst>
              <a:gd name="adj" fmla="val 3774"/>
            </a:avLst>
          </a:prstGeom>
          <a:solidFill>
            <a:srgbClr val="F4F7F5"/>
          </a:solidFill>
          <a:ln w="9525">
            <a:solidFill>
              <a:srgbClr val="D5DED9"/>
            </a:solidFill>
            <a:prstDash val="solid"/>
          </a:ln>
        </p:spPr>
      </p:sp>
      <p:sp>
        <p:nvSpPr>
          <p:cNvPr id="18" name="Shape 14"/>
          <p:cNvSpPr/>
          <p:nvPr/>
        </p:nvSpPr>
        <p:spPr>
          <a:xfrm>
            <a:off x="4498848" y="1572768"/>
            <a:ext cx="530352" cy="530352"/>
          </a:xfrm>
          <a:prstGeom prst="ellipse">
            <a:avLst/>
          </a:prstGeom>
          <a:solidFill>
            <a:srgbClr val="00704A"/>
          </a:solidFill>
          <a:ln w="12700">
            <a:solidFill>
              <a:srgbClr val="00704A"/>
            </a:solidFill>
            <a:prstDash val="solid"/>
          </a:ln>
        </p:spPr>
      </p:sp>
      <p:pic>
        <p:nvPicPr>
          <p:cNvPr id="19"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0" name="Text 15"/>
          <p:cNvSpPr txBox="1"/>
          <p:nvPr/>
        </p:nvSpPr>
        <p:spPr>
          <a:xfrm>
            <a:off x="516636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Conflict sensitivity</a:t>
            </a:r>
            <a:endParaRPr lang="en-US" sz="1400" dirty="0"/>
          </a:p>
        </p:txBody>
      </p:sp>
      <p:sp>
        <p:nvSpPr>
          <p:cNvPr id="21" name="Text 16"/>
          <p:cNvSpPr txBox="1"/>
          <p:nvPr/>
        </p:nvSpPr>
        <p:spPr>
          <a:xfrm>
            <a:off x="4498848" y="224028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Maps of darkening can reveal displacement or vulnerable populations. Consider aggregation and release timing before publishing.</a:t>
            </a:r>
            <a:endParaRPr lang="en-US" sz="1150" dirty="0"/>
          </a:p>
        </p:txBody>
      </p:sp>
      <p:sp>
        <p:nvSpPr>
          <p:cNvPr id="22" name="Shape 17"/>
          <p:cNvSpPr/>
          <p:nvPr/>
        </p:nvSpPr>
        <p:spPr>
          <a:xfrm>
            <a:off x="8046720" y="1371600"/>
            <a:ext cx="3593592" cy="1938528"/>
          </a:xfrm>
          <a:prstGeom prst="roundRect">
            <a:avLst>
              <a:gd name="adj" fmla="val 3774"/>
            </a:avLst>
          </a:prstGeom>
          <a:solidFill>
            <a:srgbClr val="F4F7F5"/>
          </a:solidFill>
          <a:ln w="9525">
            <a:solidFill>
              <a:srgbClr val="D5DED9"/>
            </a:solidFill>
            <a:prstDash val="solid"/>
          </a:ln>
        </p:spPr>
      </p:sp>
      <p:sp>
        <p:nvSpPr>
          <p:cNvPr id="23" name="Shape 18"/>
          <p:cNvSpPr/>
          <p:nvPr/>
        </p:nvSpPr>
        <p:spPr>
          <a:xfrm>
            <a:off x="8247888" y="1572768"/>
            <a:ext cx="530352" cy="530352"/>
          </a:xfrm>
          <a:prstGeom prst="ellipse">
            <a:avLst/>
          </a:prstGeom>
          <a:solidFill>
            <a:srgbClr val="00704A"/>
          </a:solidFill>
          <a:ln w="12700">
            <a:solidFill>
              <a:srgbClr val="00704A"/>
            </a:solidFill>
            <a:prstDash val="solid"/>
          </a:ln>
        </p:spPr>
      </p:sp>
      <p:pic>
        <p:nvPicPr>
          <p:cNvPr id="24"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5" name="Text 19"/>
          <p:cNvSpPr txBox="1"/>
          <p:nvPr/>
        </p:nvSpPr>
        <p:spPr>
          <a:xfrm>
            <a:off x="8915400" y="157276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Licensing &amp; sovereignty</a:t>
            </a:r>
            <a:endParaRPr lang="en-US" sz="1400" dirty="0"/>
          </a:p>
        </p:txBody>
      </p:sp>
      <p:sp>
        <p:nvSpPr>
          <p:cNvPr id="26" name="Text 20"/>
          <p:cNvSpPr txBox="1"/>
          <p:nvPr/>
        </p:nvSpPr>
        <p:spPr>
          <a:xfrm>
            <a:off x="8247888" y="224028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NASA and EOG products are open; commercial night imagery often is not. Check licences before redistributing derived products.</a:t>
            </a:r>
            <a:endParaRPr lang="en-US" sz="1150" dirty="0"/>
          </a:p>
        </p:txBody>
      </p:sp>
      <p:sp>
        <p:nvSpPr>
          <p:cNvPr id="27" name="Shape 21"/>
          <p:cNvSpPr/>
          <p:nvPr/>
        </p:nvSpPr>
        <p:spPr>
          <a:xfrm>
            <a:off x="548640" y="3474720"/>
            <a:ext cx="3593592" cy="1938528"/>
          </a:xfrm>
          <a:prstGeom prst="roundRect">
            <a:avLst>
              <a:gd name="adj" fmla="val 3774"/>
            </a:avLst>
          </a:prstGeom>
          <a:solidFill>
            <a:srgbClr val="F4F7F5"/>
          </a:solidFill>
          <a:ln w="9525">
            <a:solidFill>
              <a:srgbClr val="D5DED9"/>
            </a:solidFill>
            <a:prstDash val="solid"/>
          </a:ln>
        </p:spPr>
      </p:sp>
      <p:sp>
        <p:nvSpPr>
          <p:cNvPr id="28" name="Shape 22"/>
          <p:cNvSpPr/>
          <p:nvPr/>
        </p:nvSpPr>
        <p:spPr>
          <a:xfrm>
            <a:off x="749808" y="3675888"/>
            <a:ext cx="530352" cy="530352"/>
          </a:xfrm>
          <a:prstGeom prst="ellipse">
            <a:avLst/>
          </a:prstGeom>
          <a:solidFill>
            <a:srgbClr val="00704A"/>
          </a:solidFill>
          <a:ln w="12700">
            <a:solidFill>
              <a:srgbClr val="00704A"/>
            </a:solidFill>
            <a:prstDash val="solid"/>
          </a:ln>
        </p:spPr>
      </p:sp>
      <p:pic>
        <p:nvPicPr>
          <p:cNvPr id="29" name="Image 4" descr="preencoded.png"/>
          <p:cNvPicPr>
            <a:picLocks noChangeAspect="1"/>
          </p:cNvPicPr>
          <p:nvPr/>
        </p:nvPicPr>
        <p:blipFill>
          <a:blip r:embed="rId7"/>
          <a:stretch>
            <a:fillRect/>
          </a:stretch>
        </p:blipFill>
        <p:spPr>
          <a:xfrm>
            <a:off x="887700" y="3813780"/>
            <a:ext cx="254569" cy="254569"/>
          </a:xfrm>
          <a:prstGeom prst="rect">
            <a:avLst/>
          </a:prstGeom>
        </p:spPr>
      </p:pic>
      <p:sp>
        <p:nvSpPr>
          <p:cNvPr id="30" name="Text 23"/>
          <p:cNvSpPr txBox="1"/>
          <p:nvPr/>
        </p:nvSpPr>
        <p:spPr>
          <a:xfrm>
            <a:off x="1417320" y="367588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Labelling</a:t>
            </a:r>
            <a:endParaRPr lang="en-US" sz="1400" dirty="0"/>
          </a:p>
        </p:txBody>
      </p:sp>
      <p:sp>
        <p:nvSpPr>
          <p:cNvPr id="31" name="Text 24"/>
          <p:cNvSpPr txBox="1"/>
          <p:nvPr/>
        </p:nvSpPr>
        <p:spPr>
          <a:xfrm>
            <a:off x="749808" y="434340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Publish as experimental statistics with a limitations statement; never present a proxy as the official measure.</a:t>
            </a:r>
            <a:endParaRPr lang="en-US" sz="1150" dirty="0"/>
          </a:p>
        </p:txBody>
      </p:sp>
      <p:sp>
        <p:nvSpPr>
          <p:cNvPr id="32" name="Shape 25"/>
          <p:cNvSpPr/>
          <p:nvPr/>
        </p:nvSpPr>
        <p:spPr>
          <a:xfrm>
            <a:off x="4297680" y="3474720"/>
            <a:ext cx="3593592" cy="1938528"/>
          </a:xfrm>
          <a:prstGeom prst="roundRect">
            <a:avLst>
              <a:gd name="adj" fmla="val 3774"/>
            </a:avLst>
          </a:prstGeom>
          <a:solidFill>
            <a:srgbClr val="F4F7F5"/>
          </a:solidFill>
          <a:ln w="9525">
            <a:solidFill>
              <a:srgbClr val="D5DED9"/>
            </a:solidFill>
            <a:prstDash val="solid"/>
          </a:ln>
        </p:spPr>
      </p:sp>
      <p:sp>
        <p:nvSpPr>
          <p:cNvPr id="33" name="Shape 26"/>
          <p:cNvSpPr/>
          <p:nvPr/>
        </p:nvSpPr>
        <p:spPr>
          <a:xfrm>
            <a:off x="4498848" y="3675888"/>
            <a:ext cx="530352" cy="530352"/>
          </a:xfrm>
          <a:prstGeom prst="ellipse">
            <a:avLst/>
          </a:prstGeom>
          <a:solidFill>
            <a:srgbClr val="00704A"/>
          </a:solidFill>
          <a:ln w="12700">
            <a:solidFill>
              <a:srgbClr val="00704A"/>
            </a:solidFill>
            <a:prstDash val="solid"/>
          </a:ln>
        </p:spPr>
      </p:sp>
      <p:pic>
        <p:nvPicPr>
          <p:cNvPr id="34" name="Image 5" descr="preencoded.png"/>
          <p:cNvPicPr>
            <a:picLocks noChangeAspect="1"/>
          </p:cNvPicPr>
          <p:nvPr/>
        </p:nvPicPr>
        <p:blipFill>
          <a:blip r:embed="rId8"/>
          <a:stretch>
            <a:fillRect/>
          </a:stretch>
        </p:blipFill>
        <p:spPr>
          <a:xfrm>
            <a:off x="4636740" y="3813780"/>
            <a:ext cx="254569" cy="254569"/>
          </a:xfrm>
          <a:prstGeom prst="rect">
            <a:avLst/>
          </a:prstGeom>
        </p:spPr>
      </p:pic>
      <p:sp>
        <p:nvSpPr>
          <p:cNvPr id="35" name="Text 27"/>
          <p:cNvSpPr txBox="1"/>
          <p:nvPr/>
        </p:nvSpPr>
        <p:spPr>
          <a:xfrm>
            <a:off x="5166360" y="367588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Coordination</a:t>
            </a:r>
            <a:endParaRPr lang="en-US" sz="1400" dirty="0"/>
          </a:p>
        </p:txBody>
      </p:sp>
      <p:sp>
        <p:nvSpPr>
          <p:cNvPr id="36" name="Text 28"/>
          <p:cNvSpPr txBox="1"/>
          <p:nvPr/>
        </p:nvSpPr>
        <p:spPr>
          <a:xfrm>
            <a:off x="4498848" y="434340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Agree with the national statistical system who produces, validates and publishes — avoid parallel numbers.</a:t>
            </a:r>
            <a:endParaRPr lang="en-US" sz="1150" dirty="0"/>
          </a:p>
        </p:txBody>
      </p:sp>
      <p:sp>
        <p:nvSpPr>
          <p:cNvPr id="37" name="Shape 29"/>
          <p:cNvSpPr/>
          <p:nvPr/>
        </p:nvSpPr>
        <p:spPr>
          <a:xfrm>
            <a:off x="8046720" y="3474720"/>
            <a:ext cx="3593592" cy="1938528"/>
          </a:xfrm>
          <a:prstGeom prst="roundRect">
            <a:avLst>
              <a:gd name="adj" fmla="val 3774"/>
            </a:avLst>
          </a:prstGeom>
          <a:solidFill>
            <a:srgbClr val="F4F7F5"/>
          </a:solidFill>
          <a:ln w="9525">
            <a:solidFill>
              <a:srgbClr val="D5DED9"/>
            </a:solidFill>
            <a:prstDash val="solid"/>
          </a:ln>
        </p:spPr>
      </p:sp>
      <p:sp>
        <p:nvSpPr>
          <p:cNvPr id="38" name="Shape 30"/>
          <p:cNvSpPr/>
          <p:nvPr/>
        </p:nvSpPr>
        <p:spPr>
          <a:xfrm>
            <a:off x="8247888" y="3675888"/>
            <a:ext cx="530352" cy="530352"/>
          </a:xfrm>
          <a:prstGeom prst="ellipse">
            <a:avLst/>
          </a:prstGeom>
          <a:solidFill>
            <a:srgbClr val="00704A"/>
          </a:solidFill>
          <a:ln w="12700">
            <a:solidFill>
              <a:srgbClr val="00704A"/>
            </a:solidFill>
            <a:prstDash val="solid"/>
          </a:ln>
        </p:spPr>
      </p:sp>
      <p:pic>
        <p:nvPicPr>
          <p:cNvPr id="39" name="Image 6" descr="preencoded.png"/>
          <p:cNvPicPr>
            <a:picLocks noChangeAspect="1"/>
          </p:cNvPicPr>
          <p:nvPr/>
        </p:nvPicPr>
        <p:blipFill>
          <a:blip r:embed="rId9"/>
          <a:stretch>
            <a:fillRect/>
          </a:stretch>
        </p:blipFill>
        <p:spPr>
          <a:xfrm>
            <a:off x="8385780" y="3813780"/>
            <a:ext cx="254569" cy="254569"/>
          </a:xfrm>
          <a:prstGeom prst="rect">
            <a:avLst/>
          </a:prstGeom>
        </p:spPr>
      </p:pic>
      <p:sp>
        <p:nvSpPr>
          <p:cNvPr id="40" name="Text 31"/>
          <p:cNvSpPr txBox="1"/>
          <p:nvPr/>
        </p:nvSpPr>
        <p:spPr>
          <a:xfrm>
            <a:off x="8915400" y="3675888"/>
            <a:ext cx="2560320" cy="53035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AI &amp; models</a:t>
            </a:r>
            <a:endParaRPr lang="en-US" sz="1400" dirty="0"/>
          </a:p>
        </p:txBody>
      </p:sp>
      <p:sp>
        <p:nvSpPr>
          <p:cNvPr id="41" name="Text 32"/>
          <p:cNvSpPr txBox="1"/>
          <p:nvPr/>
        </p:nvSpPr>
        <p:spPr>
          <a:xfrm>
            <a:off x="8247888" y="4343400"/>
            <a:ext cx="3200400" cy="100584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If machine-learning models use lights, document features and training data, and apply your AI governance rules.</a:t>
            </a:r>
            <a:endParaRPr lang="en-US" sz="1150" dirty="0"/>
          </a:p>
        </p:txBody>
      </p:sp>
      <p:sp>
        <p:nvSpPr>
          <p:cNvPr id="42" name="Text 33"/>
          <p:cNvSpPr txBox="1"/>
          <p:nvPr/>
        </p:nvSpPr>
        <p:spPr>
          <a:xfrm>
            <a:off x="548640" y="5715000"/>
            <a:ext cx="11094415" cy="32004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Builds on good practice in data access, governance, AI, ethics and privacy, and on the UN Fundamental Principles of Official Statistics.</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05 · FROM SESSION TO PRACTICE · PROJECT BRIEFS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Six night-lights project briefs for your institution</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PROJECTS</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62</a:t>
            </a:r>
            <a:endParaRPr lang="en-US" sz="900" dirty="0"/>
          </a:p>
        </p:txBody>
      </p:sp>
      <p:sp>
        <p:nvSpPr>
          <p:cNvPr id="12" name="Shape 9"/>
          <p:cNvSpPr/>
          <p:nvPr/>
        </p:nvSpPr>
        <p:spPr>
          <a:xfrm>
            <a:off x="548640" y="1371600"/>
            <a:ext cx="3593592" cy="1993392"/>
          </a:xfrm>
          <a:prstGeom prst="roundRect">
            <a:avLst>
              <a:gd name="adj" fmla="val 3670"/>
            </a:avLst>
          </a:prstGeom>
          <a:solidFill>
            <a:srgbClr val="F4F7F5"/>
          </a:solidFill>
          <a:ln w="9525">
            <a:solidFill>
              <a:srgbClr val="D5DED9"/>
            </a:solidFill>
            <a:prstDash val="solid"/>
          </a:ln>
        </p:spPr>
      </p:sp>
      <p:sp>
        <p:nvSpPr>
          <p:cNvPr id="13" name="Shape 10"/>
          <p:cNvSpPr/>
          <p:nvPr/>
        </p:nvSpPr>
        <p:spPr>
          <a:xfrm>
            <a:off x="749808" y="1572768"/>
            <a:ext cx="530352" cy="530352"/>
          </a:xfrm>
          <a:prstGeom prst="ellipse">
            <a:avLst/>
          </a:prstGeom>
          <a:solidFill>
            <a:srgbClr val="F5C242"/>
          </a:solidFill>
          <a:ln w="12700">
            <a:solidFill>
              <a:srgbClr val="F5C242"/>
            </a:solidFill>
            <a:prstDash val="solid"/>
          </a:ln>
        </p:spPr>
      </p:sp>
      <p:pic>
        <p:nvPicPr>
          <p:cNvPr id="14" name="Image 1" descr="preencoded.png"/>
          <p:cNvPicPr>
            <a:picLocks noChangeAspect="1"/>
          </p:cNvPicPr>
          <p:nvPr/>
        </p:nvPicPr>
        <p:blipFill>
          <a:blip r:embed="rId4"/>
          <a:stretch>
            <a:fillRect/>
          </a:stretch>
        </p:blipFill>
        <p:spPr>
          <a:xfrm>
            <a:off x="887700" y="1710660"/>
            <a:ext cx="254569" cy="254569"/>
          </a:xfrm>
          <a:prstGeom prst="rect">
            <a:avLst/>
          </a:prstGeom>
        </p:spPr>
      </p:pic>
      <p:sp>
        <p:nvSpPr>
          <p:cNvPr id="15" name="Text 11"/>
          <p:cNvSpPr txBox="1"/>
          <p:nvPr/>
        </p:nvSpPr>
        <p:spPr>
          <a:xfrm>
            <a:off x="1417320" y="157276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Subnational activity index</a:t>
            </a:r>
            <a:endParaRPr lang="en-US" sz="1350" dirty="0"/>
          </a:p>
        </p:txBody>
      </p:sp>
      <p:sp>
        <p:nvSpPr>
          <p:cNvPr id="16" name="Text 12"/>
          <p:cNvSpPr txBox="1"/>
          <p:nvPr/>
        </p:nvSpPr>
        <p:spPr>
          <a:xfrm>
            <a:off x="749808" y="221284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Monthly SOL by region, masked and validated against regional accounts.</a:t>
            </a:r>
            <a:endParaRPr lang="en-US" sz="1150" dirty="0"/>
          </a:p>
        </p:txBody>
      </p:sp>
      <p:sp>
        <p:nvSpPr>
          <p:cNvPr id="17" name="Text 13"/>
          <p:cNvSpPr txBox="1"/>
          <p:nvPr/>
        </p:nvSpPr>
        <p:spPr>
          <a:xfrm>
            <a:off x="749808" y="292608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Experimental regional indicator</a:t>
            </a:r>
            <a:endParaRPr lang="en-US" sz="1100" dirty="0"/>
          </a:p>
        </p:txBody>
      </p:sp>
      <p:sp>
        <p:nvSpPr>
          <p:cNvPr id="18" name="Shape 14"/>
          <p:cNvSpPr/>
          <p:nvPr/>
        </p:nvSpPr>
        <p:spPr>
          <a:xfrm>
            <a:off x="4297680" y="1371600"/>
            <a:ext cx="3593592" cy="1993392"/>
          </a:xfrm>
          <a:prstGeom prst="roundRect">
            <a:avLst>
              <a:gd name="adj" fmla="val 3670"/>
            </a:avLst>
          </a:prstGeom>
          <a:solidFill>
            <a:srgbClr val="F4F7F5"/>
          </a:solidFill>
          <a:ln w="9525">
            <a:solidFill>
              <a:srgbClr val="D5DED9"/>
            </a:solidFill>
            <a:prstDash val="solid"/>
          </a:ln>
        </p:spPr>
      </p:sp>
      <p:sp>
        <p:nvSpPr>
          <p:cNvPr id="19" name="Shape 15"/>
          <p:cNvSpPr/>
          <p:nvPr/>
        </p:nvSpPr>
        <p:spPr>
          <a:xfrm>
            <a:off x="4498848" y="1572768"/>
            <a:ext cx="530352" cy="530352"/>
          </a:xfrm>
          <a:prstGeom prst="ellipse">
            <a:avLst/>
          </a:prstGeom>
          <a:solidFill>
            <a:srgbClr val="F5C242"/>
          </a:solidFill>
          <a:ln w="12700">
            <a:solidFill>
              <a:srgbClr val="F5C242"/>
            </a:solidFill>
            <a:prstDash val="solid"/>
          </a:ln>
        </p:spPr>
      </p:sp>
      <p:pic>
        <p:nvPicPr>
          <p:cNvPr id="20" name="Image 2" descr="preencoded.png"/>
          <p:cNvPicPr>
            <a:picLocks noChangeAspect="1"/>
          </p:cNvPicPr>
          <p:nvPr/>
        </p:nvPicPr>
        <p:blipFill>
          <a:blip r:embed="rId5"/>
          <a:stretch>
            <a:fillRect/>
          </a:stretch>
        </p:blipFill>
        <p:spPr>
          <a:xfrm>
            <a:off x="4636740" y="1710660"/>
            <a:ext cx="254569" cy="254569"/>
          </a:xfrm>
          <a:prstGeom prst="rect">
            <a:avLst/>
          </a:prstGeom>
        </p:spPr>
      </p:pic>
      <p:sp>
        <p:nvSpPr>
          <p:cNvPr id="21" name="Text 16"/>
          <p:cNvSpPr txBox="1"/>
          <p:nvPr/>
        </p:nvSpPr>
        <p:spPr>
          <a:xfrm>
            <a:off x="5166360" y="157276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Nowcasting feature</a:t>
            </a:r>
            <a:endParaRPr lang="en-US" sz="1350" dirty="0"/>
          </a:p>
        </p:txBody>
      </p:sp>
      <p:sp>
        <p:nvSpPr>
          <p:cNvPr id="22" name="Text 17"/>
          <p:cNvSpPr txBox="1"/>
          <p:nvPr/>
        </p:nvSpPr>
        <p:spPr>
          <a:xfrm>
            <a:off x="4498848" y="221284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NTL growth added to a GDP nowcasting model; test the gain out-of-sample.</a:t>
            </a:r>
            <a:endParaRPr lang="en-US" sz="1150" dirty="0"/>
          </a:p>
        </p:txBody>
      </p:sp>
      <p:sp>
        <p:nvSpPr>
          <p:cNvPr id="23" name="Text 18"/>
          <p:cNvSpPr txBox="1"/>
          <p:nvPr/>
        </p:nvSpPr>
        <p:spPr>
          <a:xfrm>
            <a:off x="4498848" y="292608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Nowcast with and without lights</a:t>
            </a:r>
            <a:endParaRPr lang="en-US" sz="1100" dirty="0"/>
          </a:p>
        </p:txBody>
      </p:sp>
      <p:sp>
        <p:nvSpPr>
          <p:cNvPr id="24" name="Shape 19"/>
          <p:cNvSpPr/>
          <p:nvPr/>
        </p:nvSpPr>
        <p:spPr>
          <a:xfrm>
            <a:off x="8046720" y="1371600"/>
            <a:ext cx="3593592" cy="1993392"/>
          </a:xfrm>
          <a:prstGeom prst="roundRect">
            <a:avLst>
              <a:gd name="adj" fmla="val 3670"/>
            </a:avLst>
          </a:prstGeom>
          <a:solidFill>
            <a:srgbClr val="F4F7F5"/>
          </a:solidFill>
          <a:ln w="9525">
            <a:solidFill>
              <a:srgbClr val="D5DED9"/>
            </a:solidFill>
            <a:prstDash val="solid"/>
          </a:ln>
        </p:spPr>
      </p:sp>
      <p:sp>
        <p:nvSpPr>
          <p:cNvPr id="25" name="Shape 20"/>
          <p:cNvSpPr/>
          <p:nvPr/>
        </p:nvSpPr>
        <p:spPr>
          <a:xfrm>
            <a:off x="8247888" y="1572768"/>
            <a:ext cx="530352" cy="530352"/>
          </a:xfrm>
          <a:prstGeom prst="ellipse">
            <a:avLst/>
          </a:prstGeom>
          <a:solidFill>
            <a:srgbClr val="F5C242"/>
          </a:solidFill>
          <a:ln w="12700">
            <a:solidFill>
              <a:srgbClr val="F5C242"/>
            </a:solidFill>
            <a:prstDash val="solid"/>
          </a:ln>
        </p:spPr>
      </p:sp>
      <p:pic>
        <p:nvPicPr>
          <p:cNvPr id="26" name="Image 3" descr="preencoded.png"/>
          <p:cNvPicPr>
            <a:picLocks noChangeAspect="1"/>
          </p:cNvPicPr>
          <p:nvPr/>
        </p:nvPicPr>
        <p:blipFill>
          <a:blip r:embed="rId6"/>
          <a:stretch>
            <a:fillRect/>
          </a:stretch>
        </p:blipFill>
        <p:spPr>
          <a:xfrm>
            <a:off x="8385780" y="1710660"/>
            <a:ext cx="254569" cy="254569"/>
          </a:xfrm>
          <a:prstGeom prst="rect">
            <a:avLst/>
          </a:prstGeom>
        </p:spPr>
      </p:pic>
      <p:sp>
        <p:nvSpPr>
          <p:cNvPr id="27" name="Text 21"/>
          <p:cNvSpPr txBox="1"/>
          <p:nvPr/>
        </p:nvSpPr>
        <p:spPr>
          <a:xfrm>
            <a:off x="8915400" y="157276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Electricity reliability monitor</a:t>
            </a:r>
            <a:endParaRPr lang="en-US" sz="1350" dirty="0"/>
          </a:p>
        </p:txBody>
      </p:sp>
      <p:sp>
        <p:nvSpPr>
          <p:cNvPr id="28" name="Text 22"/>
          <p:cNvSpPr txBox="1"/>
          <p:nvPr/>
        </p:nvSpPr>
        <p:spPr>
          <a:xfrm>
            <a:off x="8247888" y="221284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Share of lit nights per district from daily data, next to official access rates.</a:t>
            </a:r>
            <a:endParaRPr lang="en-US" sz="1150" dirty="0"/>
          </a:p>
        </p:txBody>
      </p:sp>
      <p:sp>
        <p:nvSpPr>
          <p:cNvPr id="29" name="Text 23"/>
          <p:cNvSpPr txBox="1"/>
          <p:nvPr/>
        </p:nvSpPr>
        <p:spPr>
          <a:xfrm>
            <a:off x="8247888" y="292608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Reliability dashboard</a:t>
            </a:r>
            <a:endParaRPr lang="en-US" sz="1100" dirty="0"/>
          </a:p>
        </p:txBody>
      </p:sp>
      <p:sp>
        <p:nvSpPr>
          <p:cNvPr id="30" name="Shape 24"/>
          <p:cNvSpPr/>
          <p:nvPr/>
        </p:nvSpPr>
        <p:spPr>
          <a:xfrm>
            <a:off x="548640" y="3520440"/>
            <a:ext cx="3593592" cy="1993392"/>
          </a:xfrm>
          <a:prstGeom prst="roundRect">
            <a:avLst>
              <a:gd name="adj" fmla="val 3670"/>
            </a:avLst>
          </a:prstGeom>
          <a:solidFill>
            <a:srgbClr val="F4F7F5"/>
          </a:solidFill>
          <a:ln w="9525">
            <a:solidFill>
              <a:srgbClr val="D5DED9"/>
            </a:solidFill>
            <a:prstDash val="solid"/>
          </a:ln>
        </p:spPr>
      </p:sp>
      <p:sp>
        <p:nvSpPr>
          <p:cNvPr id="31" name="Shape 25"/>
          <p:cNvSpPr/>
          <p:nvPr/>
        </p:nvSpPr>
        <p:spPr>
          <a:xfrm>
            <a:off x="749808" y="3721608"/>
            <a:ext cx="530352" cy="530352"/>
          </a:xfrm>
          <a:prstGeom prst="ellipse">
            <a:avLst/>
          </a:prstGeom>
          <a:solidFill>
            <a:srgbClr val="F5C242"/>
          </a:solidFill>
          <a:ln w="12700">
            <a:solidFill>
              <a:srgbClr val="F5C242"/>
            </a:solidFill>
            <a:prstDash val="solid"/>
          </a:ln>
        </p:spPr>
      </p:sp>
      <p:pic>
        <p:nvPicPr>
          <p:cNvPr id="32" name="Image 4" descr="preencoded.png"/>
          <p:cNvPicPr>
            <a:picLocks noChangeAspect="1"/>
          </p:cNvPicPr>
          <p:nvPr/>
        </p:nvPicPr>
        <p:blipFill>
          <a:blip r:embed="rId7"/>
          <a:stretch>
            <a:fillRect/>
          </a:stretch>
        </p:blipFill>
        <p:spPr>
          <a:xfrm>
            <a:off x="887700" y="3859500"/>
            <a:ext cx="254569" cy="254569"/>
          </a:xfrm>
          <a:prstGeom prst="rect">
            <a:avLst/>
          </a:prstGeom>
        </p:spPr>
      </p:pic>
      <p:sp>
        <p:nvSpPr>
          <p:cNvPr id="33" name="Text 26"/>
          <p:cNvSpPr txBox="1"/>
          <p:nvPr/>
        </p:nvSpPr>
        <p:spPr>
          <a:xfrm>
            <a:off x="1417320" y="372160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Urban expansion monitor</a:t>
            </a:r>
            <a:endParaRPr lang="en-US" sz="1350" dirty="0"/>
          </a:p>
        </p:txBody>
      </p:sp>
      <p:sp>
        <p:nvSpPr>
          <p:cNvPr id="34" name="Text 27"/>
          <p:cNvSpPr txBox="1"/>
          <p:nvPr/>
        </p:nvSpPr>
        <p:spPr>
          <a:xfrm>
            <a:off x="749808" y="436168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Lit area and radiance growth combined with built-up grids.</a:t>
            </a:r>
            <a:endParaRPr lang="en-US" sz="1150" dirty="0"/>
          </a:p>
        </p:txBody>
      </p:sp>
      <p:sp>
        <p:nvSpPr>
          <p:cNvPr id="35" name="Text 28"/>
          <p:cNvSpPr txBox="1"/>
          <p:nvPr/>
        </p:nvSpPr>
        <p:spPr>
          <a:xfrm>
            <a:off x="749808" y="507492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Sprawl vs densification map</a:t>
            </a:r>
            <a:endParaRPr lang="en-US" sz="1100" dirty="0"/>
          </a:p>
        </p:txBody>
      </p:sp>
      <p:sp>
        <p:nvSpPr>
          <p:cNvPr id="36" name="Shape 29"/>
          <p:cNvSpPr/>
          <p:nvPr/>
        </p:nvSpPr>
        <p:spPr>
          <a:xfrm>
            <a:off x="4297680" y="3520440"/>
            <a:ext cx="3593592" cy="1993392"/>
          </a:xfrm>
          <a:prstGeom prst="roundRect">
            <a:avLst>
              <a:gd name="adj" fmla="val 3670"/>
            </a:avLst>
          </a:prstGeom>
          <a:solidFill>
            <a:srgbClr val="F4F7F5"/>
          </a:solidFill>
          <a:ln w="9525">
            <a:solidFill>
              <a:srgbClr val="D5DED9"/>
            </a:solidFill>
            <a:prstDash val="solid"/>
          </a:ln>
        </p:spPr>
      </p:sp>
      <p:sp>
        <p:nvSpPr>
          <p:cNvPr id="37" name="Shape 30"/>
          <p:cNvSpPr/>
          <p:nvPr/>
        </p:nvSpPr>
        <p:spPr>
          <a:xfrm>
            <a:off x="4498848" y="3721608"/>
            <a:ext cx="530352" cy="530352"/>
          </a:xfrm>
          <a:prstGeom prst="ellipse">
            <a:avLst/>
          </a:prstGeom>
          <a:solidFill>
            <a:srgbClr val="F5C242"/>
          </a:solidFill>
          <a:ln w="12700">
            <a:solidFill>
              <a:srgbClr val="F5C242"/>
            </a:solidFill>
            <a:prstDash val="solid"/>
          </a:ln>
        </p:spPr>
      </p:sp>
      <p:pic>
        <p:nvPicPr>
          <p:cNvPr id="38" name="Image 5" descr="preencoded.png"/>
          <p:cNvPicPr>
            <a:picLocks noChangeAspect="1"/>
          </p:cNvPicPr>
          <p:nvPr/>
        </p:nvPicPr>
        <p:blipFill>
          <a:blip r:embed="rId8"/>
          <a:stretch>
            <a:fillRect/>
          </a:stretch>
        </p:blipFill>
        <p:spPr>
          <a:xfrm>
            <a:off x="4636740" y="3859500"/>
            <a:ext cx="254569" cy="254569"/>
          </a:xfrm>
          <a:prstGeom prst="rect">
            <a:avLst/>
          </a:prstGeom>
        </p:spPr>
      </p:pic>
      <p:sp>
        <p:nvSpPr>
          <p:cNvPr id="39" name="Text 31"/>
          <p:cNvSpPr txBox="1"/>
          <p:nvPr/>
        </p:nvSpPr>
        <p:spPr>
          <a:xfrm>
            <a:off x="5166360" y="372160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Rapid outage assessment</a:t>
            </a:r>
            <a:endParaRPr lang="en-US" sz="1350" dirty="0"/>
          </a:p>
        </p:txBody>
      </p:sp>
      <p:sp>
        <p:nvSpPr>
          <p:cNvPr id="40" name="Text 32"/>
          <p:cNvSpPr txBox="1"/>
          <p:nvPr/>
        </p:nvSpPr>
        <p:spPr>
          <a:xfrm>
            <a:off x="4498848" y="436168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Event-study template for cyclones, floods or grid failures.</a:t>
            </a:r>
            <a:endParaRPr lang="en-US" sz="1150" dirty="0"/>
          </a:p>
        </p:txBody>
      </p:sp>
      <p:sp>
        <p:nvSpPr>
          <p:cNvPr id="41" name="Text 33"/>
          <p:cNvSpPr txBox="1"/>
          <p:nvPr/>
        </p:nvSpPr>
        <p:spPr>
          <a:xfrm>
            <a:off x="4498848" y="507492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Reusable notebook + brief</a:t>
            </a:r>
            <a:endParaRPr lang="en-US" sz="1100" dirty="0"/>
          </a:p>
        </p:txBody>
      </p:sp>
      <p:sp>
        <p:nvSpPr>
          <p:cNvPr id="42" name="Shape 34"/>
          <p:cNvSpPr/>
          <p:nvPr/>
        </p:nvSpPr>
        <p:spPr>
          <a:xfrm>
            <a:off x="8046720" y="3520440"/>
            <a:ext cx="3593592" cy="1993392"/>
          </a:xfrm>
          <a:prstGeom prst="roundRect">
            <a:avLst>
              <a:gd name="adj" fmla="val 3670"/>
            </a:avLst>
          </a:prstGeom>
          <a:solidFill>
            <a:srgbClr val="F4F7F5"/>
          </a:solidFill>
          <a:ln w="9525">
            <a:solidFill>
              <a:srgbClr val="D5DED9"/>
            </a:solidFill>
            <a:prstDash val="solid"/>
          </a:ln>
        </p:spPr>
      </p:sp>
      <p:sp>
        <p:nvSpPr>
          <p:cNvPr id="43" name="Shape 35"/>
          <p:cNvSpPr/>
          <p:nvPr/>
        </p:nvSpPr>
        <p:spPr>
          <a:xfrm>
            <a:off x="8247888" y="3721608"/>
            <a:ext cx="530352" cy="530352"/>
          </a:xfrm>
          <a:prstGeom prst="ellipse">
            <a:avLst/>
          </a:prstGeom>
          <a:solidFill>
            <a:srgbClr val="F5C242"/>
          </a:solidFill>
          <a:ln w="12700">
            <a:solidFill>
              <a:srgbClr val="F5C242"/>
            </a:solidFill>
            <a:prstDash val="solid"/>
          </a:ln>
        </p:spPr>
      </p:sp>
      <p:pic>
        <p:nvPicPr>
          <p:cNvPr id="44" name="Image 6" descr="preencoded.png"/>
          <p:cNvPicPr>
            <a:picLocks noChangeAspect="1"/>
          </p:cNvPicPr>
          <p:nvPr/>
        </p:nvPicPr>
        <p:blipFill>
          <a:blip r:embed="rId9"/>
          <a:stretch>
            <a:fillRect/>
          </a:stretch>
        </p:blipFill>
        <p:spPr>
          <a:xfrm>
            <a:off x="8385780" y="3859500"/>
            <a:ext cx="254569" cy="254569"/>
          </a:xfrm>
          <a:prstGeom prst="rect">
            <a:avLst/>
          </a:prstGeom>
        </p:spPr>
      </p:pic>
      <p:sp>
        <p:nvSpPr>
          <p:cNvPr id="45" name="Text 36"/>
          <p:cNvSpPr txBox="1"/>
          <p:nvPr/>
        </p:nvSpPr>
        <p:spPr>
          <a:xfrm>
            <a:off x="8915400" y="3721608"/>
            <a:ext cx="2606040" cy="530352"/>
          </a:xfrm>
          <a:prstGeom prst="rect">
            <a:avLst/>
          </a:prstGeom>
          <a:noFill/>
          <a:ln/>
        </p:spPr>
        <p:txBody>
          <a:bodyPr wrap="square" lIns="0" tIns="0" rIns="0" bIns="0" rtlCol="0" anchor="ctr"/>
          <a:lstStyle/>
          <a:p>
            <a:pPr marL="0" indent="0">
              <a:buNone/>
            </a:pPr>
            <a:r>
              <a:rPr lang="en-US" sz="1350" b="1" dirty="0">
                <a:solidFill>
                  <a:srgbClr val="00704A"/>
                </a:solidFill>
                <a:latin typeface="Calibri" pitchFamily="34" charset="0"/>
                <a:ea typeface="Calibri" pitchFamily="34" charset="-122"/>
                <a:cs typeface="Calibri" pitchFamily="34" charset="-120"/>
              </a:rPr>
              <a:t>Credibility cross-check</a:t>
            </a:r>
            <a:endParaRPr lang="en-US" sz="1350" dirty="0"/>
          </a:p>
        </p:txBody>
      </p:sp>
      <p:sp>
        <p:nvSpPr>
          <p:cNvPr id="46" name="Text 37"/>
          <p:cNvSpPr txBox="1"/>
          <p:nvPr/>
        </p:nvSpPr>
        <p:spPr>
          <a:xfrm>
            <a:off x="8247888" y="4361688"/>
            <a:ext cx="3200400" cy="6858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Compare regional GDP growth with light growth; investigate the largest gaps.</a:t>
            </a:r>
            <a:endParaRPr lang="en-US" sz="1150" dirty="0"/>
          </a:p>
        </p:txBody>
      </p:sp>
      <p:sp>
        <p:nvSpPr>
          <p:cNvPr id="47" name="Text 38"/>
          <p:cNvSpPr txBox="1"/>
          <p:nvPr/>
        </p:nvSpPr>
        <p:spPr>
          <a:xfrm>
            <a:off x="8247888" y="5074920"/>
            <a:ext cx="3200400" cy="32004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Output: </a:t>
            </a:r>
            <a:r>
              <a:rPr lang="en-US" sz="1100" dirty="0">
                <a:solidFill>
                  <a:srgbClr val="231F20"/>
                </a:solidFill>
                <a:latin typeface="Calibri" pitchFamily="34" charset="0"/>
                <a:ea typeface="Calibri" pitchFamily="34" charset="-122"/>
                <a:cs typeface="Calibri" pitchFamily="34" charset="-120"/>
              </a:rPr>
              <a:t>Residual map + memo</a:t>
            </a:r>
            <a:endParaRPr lang="en-US" sz="1100" dirty="0"/>
          </a:p>
        </p:txBody>
      </p:sp>
      <p:sp>
        <p:nvSpPr>
          <p:cNvPr id="48" name="Text 39"/>
          <p:cNvSpPr txBox="1"/>
          <p:nvPr/>
        </p:nvSpPr>
        <p:spPr>
          <a:xfrm>
            <a:off x="548640" y="5733288"/>
            <a:ext cx="11094415" cy="32004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Each brief states its question, data sources and intended output · small enough to prototype in a few days.</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CHECK YOUR UNDERSTANDING</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Five questions to check your understanding</a:t>
            </a:r>
            <a:endParaRPr lang="en-US" sz="2600" dirty="0"/>
          </a:p>
        </p:txBody>
      </p:sp>
      <p:sp>
        <p:nvSpPr>
          <p:cNvPr id="8" name="Shape 5"/>
          <p:cNvSpPr/>
          <p:nvPr/>
        </p:nvSpPr>
        <p:spPr>
          <a:xfrm>
            <a:off x="9905695" y="329184"/>
            <a:ext cx="1737360" cy="256032"/>
          </a:xfrm>
          <a:prstGeom prst="roundRect">
            <a:avLst>
              <a:gd name="adj" fmla="val 50000"/>
            </a:avLst>
          </a:prstGeom>
          <a:solidFill>
            <a:srgbClr val="00704A"/>
          </a:solidFill>
          <a:ln w="12700">
            <a:solidFill>
              <a:srgbClr val="00704A"/>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WRAP-UP</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63</a:t>
            </a:r>
            <a:endParaRPr lang="en-US" sz="900" dirty="0"/>
          </a:p>
        </p:txBody>
      </p:sp>
      <p:sp>
        <p:nvSpPr>
          <p:cNvPr id="12" name="Shape 9"/>
          <p:cNvSpPr/>
          <p:nvPr/>
        </p:nvSpPr>
        <p:spPr>
          <a:xfrm>
            <a:off x="548640" y="1481328"/>
            <a:ext cx="457200" cy="457200"/>
          </a:xfrm>
          <a:prstGeom prst="ellipse">
            <a:avLst/>
          </a:prstGeom>
          <a:solidFill>
            <a:srgbClr val="00704A"/>
          </a:solidFill>
          <a:ln w="12700">
            <a:solidFill>
              <a:srgbClr val="00704A"/>
            </a:solidFill>
            <a:prstDash val="solid"/>
          </a:ln>
        </p:spPr>
      </p:sp>
      <p:sp>
        <p:nvSpPr>
          <p:cNvPr id="13" name="Text 10"/>
          <p:cNvSpPr txBox="1"/>
          <p:nvPr/>
        </p:nvSpPr>
        <p:spPr>
          <a:xfrm>
            <a:off x="548640" y="148132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Shape 11"/>
          <p:cNvSpPr/>
          <p:nvPr/>
        </p:nvSpPr>
        <p:spPr>
          <a:xfrm>
            <a:off x="1188720" y="1325880"/>
            <a:ext cx="6583680" cy="777240"/>
          </a:xfrm>
          <a:prstGeom prst="roundRect">
            <a:avLst>
              <a:gd name="adj" fmla="val 9412"/>
            </a:avLst>
          </a:prstGeom>
          <a:solidFill>
            <a:srgbClr val="F4F7F5"/>
          </a:solidFill>
          <a:ln w="9525">
            <a:solidFill>
              <a:srgbClr val="D5DED9"/>
            </a:solidFill>
            <a:prstDash val="solid"/>
          </a:ln>
        </p:spPr>
      </p:sp>
      <p:sp>
        <p:nvSpPr>
          <p:cNvPr id="15" name="Text 12"/>
          <p:cNvSpPr txBox="1"/>
          <p:nvPr/>
        </p:nvSpPr>
        <p:spPr>
          <a:xfrm>
            <a:off x="1371600" y="1325880"/>
            <a:ext cx="6263640" cy="77724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Why can a city look dimmer to VIIRS after switching to LED street lights?</a:t>
            </a:r>
            <a:endParaRPr lang="en-US" sz="1250" dirty="0"/>
          </a:p>
        </p:txBody>
      </p:sp>
      <p:sp>
        <p:nvSpPr>
          <p:cNvPr id="16" name="Shape 13"/>
          <p:cNvSpPr/>
          <p:nvPr/>
        </p:nvSpPr>
        <p:spPr>
          <a:xfrm>
            <a:off x="7909560" y="1325880"/>
            <a:ext cx="3730752" cy="777240"/>
          </a:xfrm>
          <a:prstGeom prst="roundRect">
            <a:avLst>
              <a:gd name="adj" fmla="val 9412"/>
            </a:avLst>
          </a:prstGeom>
          <a:solidFill>
            <a:srgbClr val="FDF5DC"/>
          </a:solidFill>
          <a:ln w="9525">
            <a:solidFill>
              <a:srgbClr val="FDF5DC"/>
            </a:solidFill>
            <a:prstDash val="solid"/>
          </a:ln>
        </p:spPr>
      </p:sp>
      <p:sp>
        <p:nvSpPr>
          <p:cNvPr id="17" name="Text 14"/>
          <p:cNvSpPr txBox="1"/>
          <p:nvPr/>
        </p:nvSpPr>
        <p:spPr>
          <a:xfrm>
            <a:off x="8065008" y="1325880"/>
            <a:ext cx="3474720" cy="7772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Its blue peak (≈ 450 nm) lies outside the Day/Night Band.</a:t>
            </a:r>
            <a:endParaRPr lang="en-US" sz="1100" dirty="0"/>
          </a:p>
        </p:txBody>
      </p:sp>
      <p:sp>
        <p:nvSpPr>
          <p:cNvPr id="18" name="Shape 15"/>
          <p:cNvSpPr/>
          <p:nvPr/>
        </p:nvSpPr>
        <p:spPr>
          <a:xfrm>
            <a:off x="548640" y="2377440"/>
            <a:ext cx="457200" cy="457200"/>
          </a:xfrm>
          <a:prstGeom prst="ellipse">
            <a:avLst/>
          </a:prstGeom>
          <a:solidFill>
            <a:srgbClr val="00704A"/>
          </a:solidFill>
          <a:ln w="12700">
            <a:solidFill>
              <a:srgbClr val="00704A"/>
            </a:solidFill>
            <a:prstDash val="solid"/>
          </a:ln>
        </p:spPr>
      </p:sp>
      <p:sp>
        <p:nvSpPr>
          <p:cNvPr id="19" name="Text 16"/>
          <p:cNvSpPr txBox="1"/>
          <p:nvPr/>
        </p:nvSpPr>
        <p:spPr>
          <a:xfrm>
            <a:off x="548640" y="23774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Shape 17"/>
          <p:cNvSpPr/>
          <p:nvPr/>
        </p:nvSpPr>
        <p:spPr>
          <a:xfrm>
            <a:off x="1188720" y="2221992"/>
            <a:ext cx="6583680" cy="777240"/>
          </a:xfrm>
          <a:prstGeom prst="roundRect">
            <a:avLst>
              <a:gd name="adj" fmla="val 9412"/>
            </a:avLst>
          </a:prstGeom>
          <a:solidFill>
            <a:srgbClr val="F4F7F5"/>
          </a:solidFill>
          <a:ln w="9525">
            <a:solidFill>
              <a:srgbClr val="D5DED9"/>
            </a:solidFill>
            <a:prstDash val="solid"/>
          </a:ln>
        </p:spPr>
      </p:sp>
      <p:sp>
        <p:nvSpPr>
          <p:cNvPr id="21" name="Text 18"/>
          <p:cNvSpPr txBox="1"/>
          <p:nvPr/>
        </p:nvSpPr>
        <p:spPr>
          <a:xfrm>
            <a:off x="1371600" y="2221992"/>
            <a:ext cx="6263640" cy="77724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A district’s lit area fell 25% when you changed the threshold from 0.5 to 1.0. What changed in the world?</a:t>
            </a:r>
            <a:endParaRPr lang="en-US" sz="1250" dirty="0"/>
          </a:p>
        </p:txBody>
      </p:sp>
      <p:sp>
        <p:nvSpPr>
          <p:cNvPr id="22" name="Shape 19"/>
          <p:cNvSpPr/>
          <p:nvPr/>
        </p:nvSpPr>
        <p:spPr>
          <a:xfrm>
            <a:off x="7909560" y="2221992"/>
            <a:ext cx="3730752" cy="777240"/>
          </a:xfrm>
          <a:prstGeom prst="roundRect">
            <a:avLst>
              <a:gd name="adj" fmla="val 9412"/>
            </a:avLst>
          </a:prstGeom>
          <a:solidFill>
            <a:srgbClr val="FDF5DC"/>
          </a:solidFill>
          <a:ln w="9525">
            <a:solidFill>
              <a:srgbClr val="FDF5DC"/>
            </a:solidFill>
            <a:prstDash val="solid"/>
          </a:ln>
        </p:spPr>
      </p:sp>
      <p:sp>
        <p:nvSpPr>
          <p:cNvPr id="23" name="Text 20"/>
          <p:cNvSpPr txBox="1"/>
          <p:nvPr/>
        </p:nvSpPr>
        <p:spPr>
          <a:xfrm>
            <a:off x="8065008" y="2221992"/>
            <a:ext cx="3474720" cy="7772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Nothing — it is a researcher choice. Report and test it.</a:t>
            </a:r>
            <a:endParaRPr lang="en-US" sz="1100" dirty="0"/>
          </a:p>
        </p:txBody>
      </p:sp>
      <p:sp>
        <p:nvSpPr>
          <p:cNvPr id="24" name="Shape 21"/>
          <p:cNvSpPr/>
          <p:nvPr/>
        </p:nvSpPr>
        <p:spPr>
          <a:xfrm>
            <a:off x="548640" y="3273552"/>
            <a:ext cx="457200" cy="457200"/>
          </a:xfrm>
          <a:prstGeom prst="ellipse">
            <a:avLst/>
          </a:prstGeom>
          <a:solidFill>
            <a:srgbClr val="00704A"/>
          </a:solidFill>
          <a:ln w="12700">
            <a:solidFill>
              <a:srgbClr val="00704A"/>
            </a:solidFill>
            <a:prstDash val="solid"/>
          </a:ln>
        </p:spPr>
      </p:sp>
      <p:sp>
        <p:nvSpPr>
          <p:cNvPr id="25" name="Text 22"/>
          <p:cNvSpPr txBox="1"/>
          <p:nvPr/>
        </p:nvSpPr>
        <p:spPr>
          <a:xfrm>
            <a:off x="548640" y="32735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Shape 23"/>
          <p:cNvSpPr/>
          <p:nvPr/>
        </p:nvSpPr>
        <p:spPr>
          <a:xfrm>
            <a:off x="1188720" y="3118104"/>
            <a:ext cx="6583680" cy="777240"/>
          </a:xfrm>
          <a:prstGeom prst="roundRect">
            <a:avLst>
              <a:gd name="adj" fmla="val 9412"/>
            </a:avLst>
          </a:prstGeom>
          <a:solidFill>
            <a:srgbClr val="F4F7F5"/>
          </a:solidFill>
          <a:ln w="9525">
            <a:solidFill>
              <a:srgbClr val="D5DED9"/>
            </a:solidFill>
            <a:prstDash val="solid"/>
          </a:ln>
        </p:spPr>
      </p:sp>
      <p:sp>
        <p:nvSpPr>
          <p:cNvPr id="27" name="Text 24"/>
          <p:cNvSpPr txBox="1"/>
          <p:nvPr/>
        </p:nvSpPr>
        <p:spPr>
          <a:xfrm>
            <a:off x="1371600" y="3118104"/>
            <a:ext cx="6263640" cy="77724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Your NTL indicator correlates 0.9 with WorldPop. Is it validated?</a:t>
            </a:r>
            <a:endParaRPr lang="en-US" sz="1250" dirty="0"/>
          </a:p>
        </p:txBody>
      </p:sp>
      <p:sp>
        <p:nvSpPr>
          <p:cNvPr id="28" name="Shape 25"/>
          <p:cNvSpPr/>
          <p:nvPr/>
        </p:nvSpPr>
        <p:spPr>
          <a:xfrm>
            <a:off x="7909560" y="3118104"/>
            <a:ext cx="3730752" cy="777240"/>
          </a:xfrm>
          <a:prstGeom prst="roundRect">
            <a:avLst>
              <a:gd name="adj" fmla="val 9412"/>
            </a:avLst>
          </a:prstGeom>
          <a:solidFill>
            <a:srgbClr val="FDF5DC"/>
          </a:solidFill>
          <a:ln w="9525">
            <a:solidFill>
              <a:srgbClr val="FDF5DC"/>
            </a:solidFill>
            <a:prstDash val="solid"/>
          </a:ln>
        </p:spPr>
      </p:sp>
      <p:sp>
        <p:nvSpPr>
          <p:cNvPr id="29" name="Text 26"/>
          <p:cNvSpPr txBox="1"/>
          <p:nvPr/>
        </p:nvSpPr>
        <p:spPr>
          <a:xfrm>
            <a:off x="8065008" y="3118104"/>
            <a:ext cx="3474720" cy="7772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No — WorldPop uses NTL as a covariate. The benchmark is not independent.</a:t>
            </a:r>
            <a:endParaRPr lang="en-US" sz="1100" dirty="0"/>
          </a:p>
        </p:txBody>
      </p:sp>
      <p:sp>
        <p:nvSpPr>
          <p:cNvPr id="30" name="Shape 27"/>
          <p:cNvSpPr/>
          <p:nvPr/>
        </p:nvSpPr>
        <p:spPr>
          <a:xfrm>
            <a:off x="548640" y="4169664"/>
            <a:ext cx="457200" cy="457200"/>
          </a:xfrm>
          <a:prstGeom prst="ellipse">
            <a:avLst/>
          </a:prstGeom>
          <a:solidFill>
            <a:srgbClr val="00704A"/>
          </a:solidFill>
          <a:ln w="12700">
            <a:solidFill>
              <a:srgbClr val="00704A"/>
            </a:solidFill>
            <a:prstDash val="solid"/>
          </a:ln>
        </p:spPr>
      </p:sp>
      <p:sp>
        <p:nvSpPr>
          <p:cNvPr id="31" name="Text 28"/>
          <p:cNvSpPr txBox="1"/>
          <p:nvPr/>
        </p:nvSpPr>
        <p:spPr>
          <a:xfrm>
            <a:off x="548640" y="41696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Shape 29"/>
          <p:cNvSpPr/>
          <p:nvPr/>
        </p:nvSpPr>
        <p:spPr>
          <a:xfrm>
            <a:off x="1188720" y="4014216"/>
            <a:ext cx="6583680" cy="777240"/>
          </a:xfrm>
          <a:prstGeom prst="roundRect">
            <a:avLst>
              <a:gd name="adj" fmla="val 9412"/>
            </a:avLst>
          </a:prstGeom>
          <a:solidFill>
            <a:srgbClr val="F4F7F5"/>
          </a:solidFill>
          <a:ln w="9525">
            <a:solidFill>
              <a:srgbClr val="D5DED9"/>
            </a:solidFill>
            <a:prstDash val="solid"/>
          </a:ln>
        </p:spPr>
      </p:sp>
      <p:sp>
        <p:nvSpPr>
          <p:cNvPr id="33" name="Text 30"/>
          <p:cNvSpPr txBox="1"/>
          <p:nvPr/>
        </p:nvSpPr>
        <p:spPr>
          <a:xfrm>
            <a:off x="1371600" y="4014216"/>
            <a:ext cx="6263640" cy="77724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Correlation is high in levels but weak in growth rates. What does that mean?</a:t>
            </a:r>
            <a:endParaRPr lang="en-US" sz="1250" dirty="0"/>
          </a:p>
        </p:txBody>
      </p:sp>
      <p:sp>
        <p:nvSpPr>
          <p:cNvPr id="34" name="Shape 31"/>
          <p:cNvSpPr/>
          <p:nvPr/>
        </p:nvSpPr>
        <p:spPr>
          <a:xfrm>
            <a:off x="7909560" y="4014216"/>
            <a:ext cx="3730752" cy="777240"/>
          </a:xfrm>
          <a:prstGeom prst="roundRect">
            <a:avLst>
              <a:gd name="adj" fmla="val 9412"/>
            </a:avLst>
          </a:prstGeom>
          <a:solidFill>
            <a:srgbClr val="FDF5DC"/>
          </a:solidFill>
          <a:ln w="9525">
            <a:solidFill>
              <a:srgbClr val="FDF5DC"/>
            </a:solidFill>
            <a:prstDash val="solid"/>
          </a:ln>
        </p:spPr>
      </p:sp>
      <p:sp>
        <p:nvSpPr>
          <p:cNvPr id="35" name="Text 32"/>
          <p:cNvSpPr txBox="1"/>
          <p:nvPr/>
        </p:nvSpPr>
        <p:spPr>
          <a:xfrm>
            <a:off x="8065008" y="4014216"/>
            <a:ext cx="3474720" cy="7772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Size drives levels; the indicator is not yet a reliable monitoring tool.</a:t>
            </a:r>
            <a:endParaRPr lang="en-US" sz="1100" dirty="0"/>
          </a:p>
        </p:txBody>
      </p:sp>
      <p:sp>
        <p:nvSpPr>
          <p:cNvPr id="36" name="Shape 33"/>
          <p:cNvSpPr/>
          <p:nvPr/>
        </p:nvSpPr>
        <p:spPr>
          <a:xfrm>
            <a:off x="548640" y="5065776"/>
            <a:ext cx="457200" cy="457200"/>
          </a:xfrm>
          <a:prstGeom prst="ellipse">
            <a:avLst/>
          </a:prstGeom>
          <a:solidFill>
            <a:srgbClr val="00704A"/>
          </a:solidFill>
          <a:ln w="12700">
            <a:solidFill>
              <a:srgbClr val="00704A"/>
            </a:solidFill>
            <a:prstDash val="solid"/>
          </a:ln>
        </p:spPr>
      </p:sp>
      <p:sp>
        <p:nvSpPr>
          <p:cNvPr id="37" name="Text 34"/>
          <p:cNvSpPr txBox="1"/>
          <p:nvPr/>
        </p:nvSpPr>
        <p:spPr>
          <a:xfrm>
            <a:off x="548640" y="50657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8" name="Shape 35"/>
          <p:cNvSpPr/>
          <p:nvPr/>
        </p:nvSpPr>
        <p:spPr>
          <a:xfrm>
            <a:off x="1188720" y="4910328"/>
            <a:ext cx="6583680" cy="777240"/>
          </a:xfrm>
          <a:prstGeom prst="roundRect">
            <a:avLst>
              <a:gd name="adj" fmla="val 9412"/>
            </a:avLst>
          </a:prstGeom>
          <a:solidFill>
            <a:srgbClr val="F4F7F5"/>
          </a:solidFill>
          <a:ln w="9525">
            <a:solidFill>
              <a:srgbClr val="D5DED9"/>
            </a:solidFill>
            <a:prstDash val="solid"/>
          </a:ln>
        </p:spPr>
      </p:sp>
      <p:sp>
        <p:nvSpPr>
          <p:cNvPr id="39" name="Text 36"/>
          <p:cNvSpPr txBox="1"/>
          <p:nvPr/>
        </p:nvSpPr>
        <p:spPr>
          <a:xfrm>
            <a:off x="1371600" y="4910328"/>
            <a:ext cx="6263640" cy="77724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A coastal province goes dark for a month in the rainy season. First check?</a:t>
            </a:r>
            <a:endParaRPr lang="en-US" sz="1250" dirty="0"/>
          </a:p>
        </p:txBody>
      </p:sp>
      <p:sp>
        <p:nvSpPr>
          <p:cNvPr id="40" name="Shape 37"/>
          <p:cNvSpPr/>
          <p:nvPr/>
        </p:nvSpPr>
        <p:spPr>
          <a:xfrm>
            <a:off x="7909560" y="4910328"/>
            <a:ext cx="3730752" cy="777240"/>
          </a:xfrm>
          <a:prstGeom prst="roundRect">
            <a:avLst>
              <a:gd name="adj" fmla="val 9412"/>
            </a:avLst>
          </a:prstGeom>
          <a:solidFill>
            <a:srgbClr val="FDF5DC"/>
          </a:solidFill>
          <a:ln w="9525">
            <a:solidFill>
              <a:srgbClr val="FDF5DC"/>
            </a:solidFill>
            <a:prstDash val="solid"/>
          </a:ln>
        </p:spPr>
      </p:sp>
      <p:sp>
        <p:nvSpPr>
          <p:cNvPr id="41" name="Text 38"/>
          <p:cNvSpPr txBox="1"/>
          <p:nvPr/>
        </p:nvSpPr>
        <p:spPr>
          <a:xfrm>
            <a:off x="8065008" y="4910328"/>
            <a:ext cx="3474720" cy="7772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The number-of-observations layer: cloud, not collapse.</a:t>
            </a:r>
            <a:endParaRPr lang="en-US" sz="1100" dirty="0"/>
          </a:p>
        </p:txBody>
      </p:sp>
      <p:sp>
        <p:nvSpPr>
          <p:cNvPr id="42" name="Text 39"/>
          <p:cNvSpPr txBox="1"/>
          <p:nvPr/>
        </p:nvSpPr>
        <p:spPr>
          <a:xfrm>
            <a:off x="548640" y="5870448"/>
            <a:ext cx="11094415" cy="27432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Tip for presenters: hide the right-hand column with a shape or reveal answers one by one.</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766560"/>
            <a:ext cx="9509522" cy="91440"/>
          </a:xfrm>
          <a:prstGeom prst="rect">
            <a:avLst/>
          </a:prstGeom>
          <a:solidFill>
            <a:srgbClr val="00704A"/>
          </a:solidFill>
          <a:ln w="6350">
            <a:solidFill>
              <a:srgbClr val="00704A"/>
            </a:solidFill>
            <a:prstDash val="solid"/>
          </a:ln>
        </p:spPr>
      </p:sp>
      <p:sp>
        <p:nvSpPr>
          <p:cNvPr id="3" name="Shape 1"/>
          <p:cNvSpPr/>
          <p:nvPr/>
        </p:nvSpPr>
        <p:spPr>
          <a:xfrm>
            <a:off x="9509522" y="6766560"/>
            <a:ext cx="2682173" cy="91440"/>
          </a:xfrm>
          <a:prstGeom prst="rect">
            <a:avLst/>
          </a:prstGeom>
          <a:solidFill>
            <a:srgbClr val="F5C242"/>
          </a:solidFill>
          <a:ln w="6350">
            <a:solidFill>
              <a:srgbClr val="F5C242"/>
            </a:solidFill>
            <a:prstDash val="solid"/>
          </a:ln>
        </p:spPr>
      </p:sp>
      <p:sp>
        <p:nvSpPr>
          <p:cNvPr id="4" name="Text 2"/>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Mauritius  ·  Illustrative rendering: GeoNames settlement populations, Natural Earth borders</a:t>
            </a:r>
            <a:endParaRPr lang="en-US" sz="800" dirty="0"/>
          </a:p>
        </p:txBody>
      </p:sp>
      <p:sp>
        <p:nvSpPr>
          <p:cNvPr id="5" name="Text 3"/>
          <p:cNvSpPr txBox="1"/>
          <p:nvPr/>
        </p:nvSpPr>
        <p:spPr>
          <a:xfrm>
            <a:off x="822960" y="640080"/>
            <a:ext cx="5486400" cy="274320"/>
          </a:xfrm>
          <a:prstGeom prst="rect">
            <a:avLst/>
          </a:prstGeom>
          <a:noFill/>
          <a:ln/>
        </p:spPr>
        <p:txBody>
          <a:bodyPr wrap="square" lIns="0" tIns="0" rIns="0" bIns="0" rtlCol="0" anchor="t"/>
          <a:lstStyle/>
          <a:p>
            <a:pPr marL="0" indent="0">
              <a:buNone/>
            </a:pPr>
            <a:r>
              <a:rPr lang="en-US" sz="1100" b="1" kern="0" spc="300" dirty="0">
                <a:solidFill>
                  <a:srgbClr val="7BCBA9"/>
                </a:solidFill>
                <a:latin typeface="Calibri" pitchFamily="34" charset="0"/>
                <a:ea typeface="Calibri" pitchFamily="34" charset="-122"/>
                <a:cs typeface="Calibri" pitchFamily="34" charset="-120"/>
              </a:rPr>
              <a:t>IN CLOSING</a:t>
            </a:r>
            <a:endParaRPr lang="en-US" sz="1100" dirty="0"/>
          </a:p>
        </p:txBody>
      </p:sp>
      <p:sp>
        <p:nvSpPr>
          <p:cNvPr id="6" name="Text 4"/>
          <p:cNvSpPr txBox="1"/>
          <p:nvPr/>
        </p:nvSpPr>
        <p:spPr>
          <a:xfrm>
            <a:off x="822960" y="914400"/>
            <a:ext cx="68580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Five things to take into the labs</a:t>
            </a:r>
            <a:endParaRPr lang="en-US" sz="3000" dirty="0"/>
          </a:p>
        </p:txBody>
      </p:sp>
      <p:sp>
        <p:nvSpPr>
          <p:cNvPr id="7" name="Shape 5"/>
          <p:cNvSpPr/>
          <p:nvPr/>
        </p:nvSpPr>
        <p:spPr>
          <a:xfrm>
            <a:off x="822960" y="1856232"/>
            <a:ext cx="420624" cy="420624"/>
          </a:xfrm>
          <a:prstGeom prst="ellipse">
            <a:avLst/>
          </a:prstGeom>
          <a:solidFill>
            <a:srgbClr val="F5C242"/>
          </a:solidFill>
          <a:ln w="12700">
            <a:solidFill>
              <a:srgbClr val="F5C242"/>
            </a:solidFill>
            <a:prstDash val="solid"/>
          </a:ln>
        </p:spPr>
      </p:sp>
      <p:sp>
        <p:nvSpPr>
          <p:cNvPr id="8" name="Text 6"/>
          <p:cNvSpPr txBox="1"/>
          <p:nvPr/>
        </p:nvSpPr>
        <p:spPr>
          <a:xfrm>
            <a:off x="822960" y="1856232"/>
            <a:ext cx="420624" cy="420624"/>
          </a:xfrm>
          <a:prstGeom prst="rect">
            <a:avLst/>
          </a:prstGeom>
          <a:noFill/>
          <a:ln/>
        </p:spPr>
        <p:txBody>
          <a:bodyPr wrap="square" lIns="0" tIns="0" rIns="0" bIns="0" rtlCol="0" anchor="ctr"/>
          <a:lstStyle/>
          <a:p>
            <a:pPr marL="0" indent="0" algn="ctr">
              <a:buNone/>
            </a:pPr>
            <a:r>
              <a:rPr lang="en-US" sz="1196" b="1" dirty="0">
                <a:solidFill>
                  <a:srgbClr val="00553A"/>
                </a:solidFill>
                <a:latin typeface="Calibri" pitchFamily="34" charset="0"/>
                <a:ea typeface="Calibri" pitchFamily="34" charset="-122"/>
                <a:cs typeface="Calibri" pitchFamily="34" charset="-120"/>
              </a:rPr>
              <a:t>1</a:t>
            </a:r>
            <a:endParaRPr lang="en-US" sz="1196" dirty="0"/>
          </a:p>
        </p:txBody>
      </p:sp>
      <p:sp>
        <p:nvSpPr>
          <p:cNvPr id="9" name="Text 7"/>
          <p:cNvSpPr txBox="1"/>
          <p:nvPr/>
        </p:nvSpPr>
        <p:spPr>
          <a:xfrm>
            <a:off x="1463040" y="1783080"/>
            <a:ext cx="6583680" cy="5943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Night lights are a proxy, never the quantity of interest — name the assumption that links them to your question.</a:t>
            </a:r>
            <a:endParaRPr lang="en-US" sz="1350" dirty="0"/>
          </a:p>
        </p:txBody>
      </p:sp>
      <p:sp>
        <p:nvSpPr>
          <p:cNvPr id="10" name="Shape 8"/>
          <p:cNvSpPr/>
          <p:nvPr/>
        </p:nvSpPr>
        <p:spPr>
          <a:xfrm>
            <a:off x="822960" y="2569464"/>
            <a:ext cx="420624" cy="420624"/>
          </a:xfrm>
          <a:prstGeom prst="ellipse">
            <a:avLst/>
          </a:prstGeom>
          <a:solidFill>
            <a:srgbClr val="F5C242"/>
          </a:solidFill>
          <a:ln w="12700">
            <a:solidFill>
              <a:srgbClr val="F5C242"/>
            </a:solidFill>
            <a:prstDash val="solid"/>
          </a:ln>
        </p:spPr>
      </p:sp>
      <p:sp>
        <p:nvSpPr>
          <p:cNvPr id="11" name="Text 9"/>
          <p:cNvSpPr txBox="1"/>
          <p:nvPr/>
        </p:nvSpPr>
        <p:spPr>
          <a:xfrm>
            <a:off x="822960" y="2569464"/>
            <a:ext cx="420624" cy="420624"/>
          </a:xfrm>
          <a:prstGeom prst="rect">
            <a:avLst/>
          </a:prstGeom>
          <a:noFill/>
          <a:ln/>
        </p:spPr>
        <p:txBody>
          <a:bodyPr wrap="square" lIns="0" tIns="0" rIns="0" bIns="0" rtlCol="0" anchor="ctr"/>
          <a:lstStyle/>
          <a:p>
            <a:pPr marL="0" indent="0" algn="ctr">
              <a:buNone/>
            </a:pPr>
            <a:r>
              <a:rPr lang="en-US" sz="1196" b="1" dirty="0">
                <a:solidFill>
                  <a:srgbClr val="00553A"/>
                </a:solidFill>
                <a:latin typeface="Calibri" pitchFamily="34" charset="0"/>
                <a:ea typeface="Calibri" pitchFamily="34" charset="-122"/>
                <a:cs typeface="Calibri" pitchFamily="34" charset="-120"/>
              </a:rPr>
              <a:t>2</a:t>
            </a:r>
            <a:endParaRPr lang="en-US" sz="1196" dirty="0"/>
          </a:p>
        </p:txBody>
      </p:sp>
      <p:sp>
        <p:nvSpPr>
          <p:cNvPr id="12" name="Text 10"/>
          <p:cNvSpPr txBox="1"/>
          <p:nvPr/>
        </p:nvSpPr>
        <p:spPr>
          <a:xfrm>
            <a:off x="1463040" y="2496312"/>
            <a:ext cx="6583680" cy="5943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The instrument defines the science: DMSP saturates, VIIRS calibrates, and neither sees blue light.</a:t>
            </a:r>
            <a:endParaRPr lang="en-US" sz="1350" dirty="0"/>
          </a:p>
        </p:txBody>
      </p:sp>
      <p:sp>
        <p:nvSpPr>
          <p:cNvPr id="13" name="Shape 11"/>
          <p:cNvSpPr/>
          <p:nvPr/>
        </p:nvSpPr>
        <p:spPr>
          <a:xfrm>
            <a:off x="822960" y="3282696"/>
            <a:ext cx="420624" cy="420624"/>
          </a:xfrm>
          <a:prstGeom prst="ellipse">
            <a:avLst/>
          </a:prstGeom>
          <a:solidFill>
            <a:srgbClr val="F5C242"/>
          </a:solidFill>
          <a:ln w="12700">
            <a:solidFill>
              <a:srgbClr val="F5C242"/>
            </a:solidFill>
            <a:prstDash val="solid"/>
          </a:ln>
        </p:spPr>
      </p:sp>
      <p:sp>
        <p:nvSpPr>
          <p:cNvPr id="14" name="Text 12"/>
          <p:cNvSpPr txBox="1"/>
          <p:nvPr/>
        </p:nvSpPr>
        <p:spPr>
          <a:xfrm>
            <a:off x="822960" y="3282696"/>
            <a:ext cx="420624" cy="420624"/>
          </a:xfrm>
          <a:prstGeom prst="rect">
            <a:avLst/>
          </a:prstGeom>
          <a:noFill/>
          <a:ln/>
        </p:spPr>
        <p:txBody>
          <a:bodyPr wrap="square" lIns="0" tIns="0" rIns="0" bIns="0" rtlCol="0" anchor="ctr"/>
          <a:lstStyle/>
          <a:p>
            <a:pPr marL="0" indent="0" algn="ctr">
              <a:buNone/>
            </a:pPr>
            <a:r>
              <a:rPr lang="en-US" sz="1196" b="1" dirty="0">
                <a:solidFill>
                  <a:srgbClr val="00553A"/>
                </a:solidFill>
                <a:latin typeface="Calibri" pitchFamily="34" charset="0"/>
                <a:ea typeface="Calibri" pitchFamily="34" charset="-122"/>
                <a:cs typeface="Calibri" pitchFamily="34" charset="-120"/>
              </a:rPr>
              <a:t>3</a:t>
            </a:r>
            <a:endParaRPr lang="en-US" sz="1196" dirty="0"/>
          </a:p>
        </p:txBody>
      </p:sp>
      <p:sp>
        <p:nvSpPr>
          <p:cNvPr id="15" name="Text 13"/>
          <p:cNvSpPr txBox="1"/>
          <p:nvPr/>
        </p:nvSpPr>
        <p:spPr>
          <a:xfrm>
            <a:off x="1463040" y="3209544"/>
            <a:ext cx="6583680" cy="5943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The data is most valuable where official statistics are thinnest: subnational, high-frequency, in crises and informal economies.</a:t>
            </a:r>
            <a:endParaRPr lang="en-US" sz="1350" dirty="0"/>
          </a:p>
        </p:txBody>
      </p:sp>
      <p:sp>
        <p:nvSpPr>
          <p:cNvPr id="16" name="Shape 14"/>
          <p:cNvSpPr/>
          <p:nvPr/>
        </p:nvSpPr>
        <p:spPr>
          <a:xfrm>
            <a:off x="822960" y="3995928"/>
            <a:ext cx="420624" cy="420624"/>
          </a:xfrm>
          <a:prstGeom prst="ellipse">
            <a:avLst/>
          </a:prstGeom>
          <a:solidFill>
            <a:srgbClr val="F5C242"/>
          </a:solidFill>
          <a:ln w="12700">
            <a:solidFill>
              <a:srgbClr val="F5C242"/>
            </a:solidFill>
            <a:prstDash val="solid"/>
          </a:ln>
        </p:spPr>
      </p:sp>
      <p:sp>
        <p:nvSpPr>
          <p:cNvPr id="17" name="Text 15"/>
          <p:cNvSpPr txBox="1"/>
          <p:nvPr/>
        </p:nvSpPr>
        <p:spPr>
          <a:xfrm>
            <a:off x="822960" y="3995928"/>
            <a:ext cx="420624" cy="420624"/>
          </a:xfrm>
          <a:prstGeom prst="rect">
            <a:avLst/>
          </a:prstGeom>
          <a:noFill/>
          <a:ln/>
        </p:spPr>
        <p:txBody>
          <a:bodyPr wrap="square" lIns="0" tIns="0" rIns="0" bIns="0" rtlCol="0" anchor="ctr"/>
          <a:lstStyle/>
          <a:p>
            <a:pPr marL="0" indent="0" algn="ctr">
              <a:buNone/>
            </a:pPr>
            <a:r>
              <a:rPr lang="en-US" sz="1196" b="1" dirty="0">
                <a:solidFill>
                  <a:srgbClr val="00553A"/>
                </a:solidFill>
                <a:latin typeface="Calibri" pitchFamily="34" charset="0"/>
                <a:ea typeface="Calibri" pitchFamily="34" charset="-122"/>
                <a:cs typeface="Calibri" pitchFamily="34" charset="-120"/>
              </a:rPr>
              <a:t>4</a:t>
            </a:r>
            <a:endParaRPr lang="en-US" sz="1196" dirty="0"/>
          </a:p>
        </p:txBody>
      </p:sp>
      <p:sp>
        <p:nvSpPr>
          <p:cNvPr id="18" name="Text 16"/>
          <p:cNvSpPr txBox="1"/>
          <p:nvPr/>
        </p:nvSpPr>
        <p:spPr>
          <a:xfrm>
            <a:off x="1463040" y="3922776"/>
            <a:ext cx="6583680" cy="5943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Darkness is not emptiness — off-grid light, cloud and load-shedding all look alike from orbit.</a:t>
            </a:r>
            <a:endParaRPr lang="en-US" sz="1350" dirty="0"/>
          </a:p>
        </p:txBody>
      </p:sp>
      <p:sp>
        <p:nvSpPr>
          <p:cNvPr id="19" name="Shape 17"/>
          <p:cNvSpPr/>
          <p:nvPr/>
        </p:nvSpPr>
        <p:spPr>
          <a:xfrm>
            <a:off x="822960" y="4709160"/>
            <a:ext cx="420624" cy="420624"/>
          </a:xfrm>
          <a:prstGeom prst="ellipse">
            <a:avLst/>
          </a:prstGeom>
          <a:solidFill>
            <a:srgbClr val="F5C242"/>
          </a:solidFill>
          <a:ln w="12700">
            <a:solidFill>
              <a:srgbClr val="F5C242"/>
            </a:solidFill>
            <a:prstDash val="solid"/>
          </a:ln>
        </p:spPr>
      </p:sp>
      <p:sp>
        <p:nvSpPr>
          <p:cNvPr id="20" name="Text 18"/>
          <p:cNvSpPr txBox="1"/>
          <p:nvPr/>
        </p:nvSpPr>
        <p:spPr>
          <a:xfrm>
            <a:off x="822960" y="4709160"/>
            <a:ext cx="420624" cy="420624"/>
          </a:xfrm>
          <a:prstGeom prst="rect">
            <a:avLst/>
          </a:prstGeom>
          <a:noFill/>
          <a:ln/>
        </p:spPr>
        <p:txBody>
          <a:bodyPr wrap="square" lIns="0" tIns="0" rIns="0" bIns="0" rtlCol="0" anchor="ctr"/>
          <a:lstStyle/>
          <a:p>
            <a:pPr marL="0" indent="0" algn="ctr">
              <a:buNone/>
            </a:pPr>
            <a:r>
              <a:rPr lang="en-US" sz="1196" b="1" dirty="0">
                <a:solidFill>
                  <a:srgbClr val="00553A"/>
                </a:solidFill>
                <a:latin typeface="Calibri" pitchFamily="34" charset="0"/>
                <a:ea typeface="Calibri" pitchFamily="34" charset="-122"/>
                <a:cs typeface="Calibri" pitchFamily="34" charset="-120"/>
              </a:rPr>
              <a:t>5</a:t>
            </a:r>
            <a:endParaRPr lang="en-US" sz="1196" dirty="0"/>
          </a:p>
        </p:txBody>
      </p:sp>
      <p:sp>
        <p:nvSpPr>
          <p:cNvPr id="21" name="Text 19"/>
          <p:cNvSpPr txBox="1"/>
          <p:nvPr/>
        </p:nvSpPr>
        <p:spPr>
          <a:xfrm>
            <a:off x="1463040" y="4636008"/>
            <a:ext cx="6583680" cy="5943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Validate against independent sources, in levels and in changes, and publish your limitations with your results.</a:t>
            </a:r>
            <a:endParaRPr lang="en-US" sz="1350" dirty="0"/>
          </a:p>
        </p:txBody>
      </p:sp>
      <p:sp>
        <p:nvSpPr>
          <p:cNvPr id="22" name="Text 20"/>
          <p:cNvSpPr txBox="1"/>
          <p:nvPr/>
        </p:nvSpPr>
        <p:spPr>
          <a:xfrm>
            <a:off x="822960" y="5486400"/>
            <a:ext cx="7315200" cy="548640"/>
          </a:xfrm>
          <a:prstGeom prst="rect">
            <a:avLst/>
          </a:prstGeom>
          <a:noFill/>
          <a:ln/>
        </p:spPr>
        <p:txBody>
          <a:bodyPr wrap="square" lIns="0" tIns="0" rIns="0" bIns="0" rtlCol="0" anchor="t"/>
          <a:lstStyle/>
          <a:p>
            <a:pPr marL="0" indent="0">
              <a:buNone/>
            </a:pPr>
            <a:r>
              <a:rPr lang="en-US" sz="1500" i="1" dirty="0">
                <a:solidFill>
                  <a:srgbClr val="F5C242"/>
                </a:solidFill>
                <a:latin typeface="Calibri" pitchFamily="34" charset="0"/>
                <a:ea typeface="Calibri" pitchFamily="34" charset="-122"/>
                <a:cs typeface="Calibri" pitchFamily="34" charset="-120"/>
              </a:rPr>
              <a:t>The darkness tells us a great deal. It does not tell us everything — and it never speaks unprompted.</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APPENDIX · GLOSSARY</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The vocabulary you will meet in this module</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65</a:t>
            </a:r>
            <a:endParaRPr lang="en-US" sz="900" dirty="0"/>
          </a:p>
        </p:txBody>
      </p:sp>
      <p:sp>
        <p:nvSpPr>
          <p:cNvPr id="12" name="Shape 9"/>
          <p:cNvSpPr/>
          <p:nvPr/>
        </p:nvSpPr>
        <p:spPr>
          <a:xfrm>
            <a:off x="548640" y="1325880"/>
            <a:ext cx="5468112" cy="786384"/>
          </a:xfrm>
          <a:prstGeom prst="roundRect">
            <a:avLst>
              <a:gd name="adj" fmla="val 9302"/>
            </a:avLst>
          </a:prstGeom>
          <a:solidFill>
            <a:srgbClr val="F4F7F5"/>
          </a:solidFill>
          <a:ln w="9525">
            <a:solidFill>
              <a:srgbClr val="D5DED9"/>
            </a:solidFill>
            <a:prstDash val="solid"/>
          </a:ln>
        </p:spPr>
      </p:sp>
      <p:pic>
        <p:nvPicPr>
          <p:cNvPr id="13" name="Image 1" descr="preencoded.png"/>
          <p:cNvPicPr>
            <a:picLocks noChangeAspect="1"/>
          </p:cNvPicPr>
          <p:nvPr/>
        </p:nvPicPr>
        <p:blipFill>
          <a:blip r:embed="rId4"/>
          <a:stretch>
            <a:fillRect/>
          </a:stretch>
        </p:blipFill>
        <p:spPr>
          <a:xfrm>
            <a:off x="731520" y="1545336"/>
            <a:ext cx="329184" cy="329184"/>
          </a:xfrm>
          <a:prstGeom prst="rect">
            <a:avLst/>
          </a:prstGeom>
        </p:spPr>
      </p:pic>
      <p:sp>
        <p:nvSpPr>
          <p:cNvPr id="14" name="Text 10"/>
          <p:cNvSpPr txBox="1"/>
          <p:nvPr/>
        </p:nvSpPr>
        <p:spPr>
          <a:xfrm>
            <a:off x="1234440" y="1380744"/>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Radiance</a:t>
            </a:r>
            <a:endParaRPr lang="en-US" sz="1250" dirty="0"/>
          </a:p>
        </p:txBody>
      </p:sp>
      <p:sp>
        <p:nvSpPr>
          <p:cNvPr id="15" name="Text 11"/>
          <p:cNvSpPr txBox="1"/>
          <p:nvPr/>
        </p:nvSpPr>
        <p:spPr>
          <a:xfrm>
            <a:off x="1234440" y="1673352"/>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Energy leaving a surface per unit area and solid angle; for NTL in nW·cm⁻²·sr⁻¹.</a:t>
            </a:r>
            <a:endParaRPr lang="en-US" sz="1050" dirty="0"/>
          </a:p>
        </p:txBody>
      </p:sp>
      <p:sp>
        <p:nvSpPr>
          <p:cNvPr id="16" name="Shape 12"/>
          <p:cNvSpPr/>
          <p:nvPr/>
        </p:nvSpPr>
        <p:spPr>
          <a:xfrm>
            <a:off x="6172200" y="1325880"/>
            <a:ext cx="5468112" cy="786384"/>
          </a:xfrm>
          <a:prstGeom prst="roundRect">
            <a:avLst>
              <a:gd name="adj" fmla="val 9302"/>
            </a:avLst>
          </a:prstGeom>
          <a:solidFill>
            <a:srgbClr val="F4F7F5"/>
          </a:solidFill>
          <a:ln w="9525">
            <a:solidFill>
              <a:srgbClr val="D5DED9"/>
            </a:solidFill>
            <a:prstDash val="solid"/>
          </a:ln>
        </p:spPr>
      </p:sp>
      <p:pic>
        <p:nvPicPr>
          <p:cNvPr id="17" name="Image 2" descr="preencoded.png"/>
          <p:cNvPicPr>
            <a:picLocks noChangeAspect="1"/>
          </p:cNvPicPr>
          <p:nvPr/>
        </p:nvPicPr>
        <p:blipFill>
          <a:blip r:embed="rId4"/>
          <a:stretch>
            <a:fillRect/>
          </a:stretch>
        </p:blipFill>
        <p:spPr>
          <a:xfrm>
            <a:off x="6355080" y="1545336"/>
            <a:ext cx="329184" cy="329184"/>
          </a:xfrm>
          <a:prstGeom prst="rect">
            <a:avLst/>
          </a:prstGeom>
        </p:spPr>
      </p:pic>
      <p:sp>
        <p:nvSpPr>
          <p:cNvPr id="18" name="Text 13"/>
          <p:cNvSpPr txBox="1"/>
          <p:nvPr/>
        </p:nvSpPr>
        <p:spPr>
          <a:xfrm>
            <a:off x="6858000" y="1380744"/>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Digital number (DN)</a:t>
            </a:r>
            <a:endParaRPr lang="en-US" sz="1250" dirty="0"/>
          </a:p>
        </p:txBody>
      </p:sp>
      <p:sp>
        <p:nvSpPr>
          <p:cNvPr id="19" name="Text 14"/>
          <p:cNvSpPr txBox="1"/>
          <p:nvPr/>
        </p:nvSpPr>
        <p:spPr>
          <a:xfrm>
            <a:off x="6858000" y="1673352"/>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Uncalibrated sensor count with no physical unit; DMSP reports 0–63.</a:t>
            </a:r>
            <a:endParaRPr lang="en-US" sz="1050" dirty="0"/>
          </a:p>
        </p:txBody>
      </p:sp>
      <p:sp>
        <p:nvSpPr>
          <p:cNvPr id="20" name="Shape 15"/>
          <p:cNvSpPr/>
          <p:nvPr/>
        </p:nvSpPr>
        <p:spPr>
          <a:xfrm>
            <a:off x="548640" y="2221992"/>
            <a:ext cx="5468112" cy="786384"/>
          </a:xfrm>
          <a:prstGeom prst="roundRect">
            <a:avLst>
              <a:gd name="adj" fmla="val 9302"/>
            </a:avLst>
          </a:prstGeom>
          <a:solidFill>
            <a:srgbClr val="F4F7F5"/>
          </a:solidFill>
          <a:ln w="9525">
            <a:solidFill>
              <a:srgbClr val="D5DED9"/>
            </a:solidFill>
            <a:prstDash val="solid"/>
          </a:ln>
        </p:spPr>
      </p:sp>
      <p:pic>
        <p:nvPicPr>
          <p:cNvPr id="21" name="Image 3" descr="preencoded.png"/>
          <p:cNvPicPr>
            <a:picLocks noChangeAspect="1"/>
          </p:cNvPicPr>
          <p:nvPr/>
        </p:nvPicPr>
        <p:blipFill>
          <a:blip r:embed="rId4"/>
          <a:stretch>
            <a:fillRect/>
          </a:stretch>
        </p:blipFill>
        <p:spPr>
          <a:xfrm>
            <a:off x="731520" y="2441448"/>
            <a:ext cx="329184" cy="329184"/>
          </a:xfrm>
          <a:prstGeom prst="rect">
            <a:avLst/>
          </a:prstGeom>
        </p:spPr>
      </p:pic>
      <p:sp>
        <p:nvSpPr>
          <p:cNvPr id="22" name="Text 16"/>
          <p:cNvSpPr txBox="1"/>
          <p:nvPr/>
        </p:nvSpPr>
        <p:spPr>
          <a:xfrm>
            <a:off x="1234440" y="2276856"/>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Composite</a:t>
            </a:r>
            <a:endParaRPr lang="en-US" sz="1250" dirty="0"/>
          </a:p>
        </p:txBody>
      </p:sp>
      <p:sp>
        <p:nvSpPr>
          <p:cNvPr id="23" name="Text 17"/>
          <p:cNvSpPr txBox="1"/>
          <p:nvPr/>
        </p:nvSpPr>
        <p:spPr>
          <a:xfrm>
            <a:off x="1234440" y="2569464"/>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Grid assembled from many cloud-free nights — not a photograph of one night.</a:t>
            </a:r>
            <a:endParaRPr lang="en-US" sz="1050" dirty="0"/>
          </a:p>
        </p:txBody>
      </p:sp>
      <p:sp>
        <p:nvSpPr>
          <p:cNvPr id="24" name="Shape 18"/>
          <p:cNvSpPr/>
          <p:nvPr/>
        </p:nvSpPr>
        <p:spPr>
          <a:xfrm>
            <a:off x="6172200" y="2221992"/>
            <a:ext cx="5468112" cy="786384"/>
          </a:xfrm>
          <a:prstGeom prst="roundRect">
            <a:avLst>
              <a:gd name="adj" fmla="val 9302"/>
            </a:avLst>
          </a:prstGeom>
          <a:solidFill>
            <a:srgbClr val="F4F7F5"/>
          </a:solidFill>
          <a:ln w="9525">
            <a:solidFill>
              <a:srgbClr val="D5DED9"/>
            </a:solidFill>
            <a:prstDash val="solid"/>
          </a:ln>
        </p:spPr>
      </p:sp>
      <p:pic>
        <p:nvPicPr>
          <p:cNvPr id="25" name="Image 4" descr="preencoded.png"/>
          <p:cNvPicPr>
            <a:picLocks noChangeAspect="1"/>
          </p:cNvPicPr>
          <p:nvPr/>
        </p:nvPicPr>
        <p:blipFill>
          <a:blip r:embed="rId4"/>
          <a:stretch>
            <a:fillRect/>
          </a:stretch>
        </p:blipFill>
        <p:spPr>
          <a:xfrm>
            <a:off x="6355080" y="2441448"/>
            <a:ext cx="329184" cy="329184"/>
          </a:xfrm>
          <a:prstGeom prst="rect">
            <a:avLst/>
          </a:prstGeom>
        </p:spPr>
      </p:pic>
      <p:sp>
        <p:nvSpPr>
          <p:cNvPr id="26" name="Text 19"/>
          <p:cNvSpPr txBox="1"/>
          <p:nvPr/>
        </p:nvSpPr>
        <p:spPr>
          <a:xfrm>
            <a:off x="6858000" y="2276856"/>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Stable lights</a:t>
            </a:r>
            <a:endParaRPr lang="en-US" sz="1250" dirty="0"/>
          </a:p>
        </p:txBody>
      </p:sp>
      <p:sp>
        <p:nvSpPr>
          <p:cNvPr id="27" name="Text 20"/>
          <p:cNvSpPr txBox="1"/>
          <p:nvPr/>
        </p:nvSpPr>
        <p:spPr>
          <a:xfrm>
            <a:off x="6858000" y="2569464"/>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Product with fires, aurora and other unstable sources removed.</a:t>
            </a:r>
            <a:endParaRPr lang="en-US" sz="1050" dirty="0"/>
          </a:p>
        </p:txBody>
      </p:sp>
      <p:sp>
        <p:nvSpPr>
          <p:cNvPr id="28" name="Shape 21"/>
          <p:cNvSpPr/>
          <p:nvPr/>
        </p:nvSpPr>
        <p:spPr>
          <a:xfrm>
            <a:off x="548640" y="3118104"/>
            <a:ext cx="5468112" cy="786384"/>
          </a:xfrm>
          <a:prstGeom prst="roundRect">
            <a:avLst>
              <a:gd name="adj" fmla="val 9302"/>
            </a:avLst>
          </a:prstGeom>
          <a:solidFill>
            <a:srgbClr val="F4F7F5"/>
          </a:solidFill>
          <a:ln w="9525">
            <a:solidFill>
              <a:srgbClr val="D5DED9"/>
            </a:solidFill>
            <a:prstDash val="solid"/>
          </a:ln>
        </p:spPr>
      </p:sp>
      <p:pic>
        <p:nvPicPr>
          <p:cNvPr id="29" name="Image 5" descr="preencoded.png"/>
          <p:cNvPicPr>
            <a:picLocks noChangeAspect="1"/>
          </p:cNvPicPr>
          <p:nvPr/>
        </p:nvPicPr>
        <p:blipFill>
          <a:blip r:embed="rId4"/>
          <a:stretch>
            <a:fillRect/>
          </a:stretch>
        </p:blipFill>
        <p:spPr>
          <a:xfrm>
            <a:off x="731520" y="3337560"/>
            <a:ext cx="329184" cy="329184"/>
          </a:xfrm>
          <a:prstGeom prst="rect">
            <a:avLst/>
          </a:prstGeom>
        </p:spPr>
      </p:pic>
      <p:sp>
        <p:nvSpPr>
          <p:cNvPr id="30" name="Text 22"/>
          <p:cNvSpPr txBox="1"/>
          <p:nvPr/>
        </p:nvSpPr>
        <p:spPr>
          <a:xfrm>
            <a:off x="1234440" y="3172968"/>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Sum of Lights (SOL)</a:t>
            </a:r>
            <a:endParaRPr lang="en-US" sz="1250" dirty="0"/>
          </a:p>
        </p:txBody>
      </p:sp>
      <p:sp>
        <p:nvSpPr>
          <p:cNvPr id="31" name="Text 23"/>
          <p:cNvSpPr txBox="1"/>
          <p:nvPr/>
        </p:nvSpPr>
        <p:spPr>
          <a:xfrm>
            <a:off x="1234440" y="3465576"/>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Total radiance summed over all pixels inside a boundary.</a:t>
            </a:r>
            <a:endParaRPr lang="en-US" sz="1050" dirty="0"/>
          </a:p>
        </p:txBody>
      </p:sp>
      <p:sp>
        <p:nvSpPr>
          <p:cNvPr id="32" name="Shape 24"/>
          <p:cNvSpPr/>
          <p:nvPr/>
        </p:nvSpPr>
        <p:spPr>
          <a:xfrm>
            <a:off x="6172200" y="3118104"/>
            <a:ext cx="5468112" cy="786384"/>
          </a:xfrm>
          <a:prstGeom prst="roundRect">
            <a:avLst>
              <a:gd name="adj" fmla="val 9302"/>
            </a:avLst>
          </a:prstGeom>
          <a:solidFill>
            <a:srgbClr val="F4F7F5"/>
          </a:solidFill>
          <a:ln w="9525">
            <a:solidFill>
              <a:srgbClr val="D5DED9"/>
            </a:solidFill>
            <a:prstDash val="solid"/>
          </a:ln>
        </p:spPr>
      </p:sp>
      <p:pic>
        <p:nvPicPr>
          <p:cNvPr id="33" name="Image 6" descr="preencoded.png"/>
          <p:cNvPicPr>
            <a:picLocks noChangeAspect="1"/>
          </p:cNvPicPr>
          <p:nvPr/>
        </p:nvPicPr>
        <p:blipFill>
          <a:blip r:embed="rId4"/>
          <a:stretch>
            <a:fillRect/>
          </a:stretch>
        </p:blipFill>
        <p:spPr>
          <a:xfrm>
            <a:off x="6355080" y="3337560"/>
            <a:ext cx="329184" cy="329184"/>
          </a:xfrm>
          <a:prstGeom prst="rect">
            <a:avLst/>
          </a:prstGeom>
        </p:spPr>
      </p:pic>
      <p:sp>
        <p:nvSpPr>
          <p:cNvPr id="34" name="Text 25"/>
          <p:cNvSpPr txBox="1"/>
          <p:nvPr/>
        </p:nvSpPr>
        <p:spPr>
          <a:xfrm>
            <a:off x="6858000" y="3172968"/>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Blooming / overglow</a:t>
            </a:r>
            <a:endParaRPr lang="en-US" sz="1250" dirty="0"/>
          </a:p>
        </p:txBody>
      </p:sp>
      <p:sp>
        <p:nvSpPr>
          <p:cNvPr id="35" name="Text 26"/>
          <p:cNvSpPr txBox="1"/>
          <p:nvPr/>
        </p:nvSpPr>
        <p:spPr>
          <a:xfrm>
            <a:off x="6858000" y="3465576"/>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Apparent spread of light beyond its source (scattering, geolocation error).</a:t>
            </a:r>
            <a:endParaRPr lang="en-US" sz="1050" dirty="0"/>
          </a:p>
        </p:txBody>
      </p:sp>
      <p:sp>
        <p:nvSpPr>
          <p:cNvPr id="36" name="Shape 27"/>
          <p:cNvSpPr/>
          <p:nvPr/>
        </p:nvSpPr>
        <p:spPr>
          <a:xfrm>
            <a:off x="548640" y="4014216"/>
            <a:ext cx="5468112" cy="786384"/>
          </a:xfrm>
          <a:prstGeom prst="roundRect">
            <a:avLst>
              <a:gd name="adj" fmla="val 9302"/>
            </a:avLst>
          </a:prstGeom>
          <a:solidFill>
            <a:srgbClr val="F4F7F5"/>
          </a:solidFill>
          <a:ln w="9525">
            <a:solidFill>
              <a:srgbClr val="D5DED9"/>
            </a:solidFill>
            <a:prstDash val="solid"/>
          </a:ln>
        </p:spPr>
      </p:sp>
      <p:pic>
        <p:nvPicPr>
          <p:cNvPr id="37" name="Image 7" descr="preencoded.png"/>
          <p:cNvPicPr>
            <a:picLocks noChangeAspect="1"/>
          </p:cNvPicPr>
          <p:nvPr/>
        </p:nvPicPr>
        <p:blipFill>
          <a:blip r:embed="rId4"/>
          <a:stretch>
            <a:fillRect/>
          </a:stretch>
        </p:blipFill>
        <p:spPr>
          <a:xfrm>
            <a:off x="731520" y="4233672"/>
            <a:ext cx="329184" cy="329184"/>
          </a:xfrm>
          <a:prstGeom prst="rect">
            <a:avLst/>
          </a:prstGeom>
        </p:spPr>
      </p:pic>
      <p:sp>
        <p:nvSpPr>
          <p:cNvPr id="38" name="Text 28"/>
          <p:cNvSpPr txBox="1"/>
          <p:nvPr/>
        </p:nvSpPr>
        <p:spPr>
          <a:xfrm>
            <a:off x="1234440" y="4069080"/>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BRDF correction</a:t>
            </a:r>
            <a:endParaRPr lang="en-US" sz="1250" dirty="0"/>
          </a:p>
        </p:txBody>
      </p:sp>
      <p:sp>
        <p:nvSpPr>
          <p:cNvPr id="39" name="Text 29"/>
          <p:cNvSpPr txBox="1"/>
          <p:nvPr/>
        </p:nvSpPr>
        <p:spPr>
          <a:xfrm>
            <a:off x="1234440" y="4361688"/>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Adjustment for how reflected (moon)light varies with viewing and lighting angles.</a:t>
            </a:r>
            <a:endParaRPr lang="en-US" sz="1050" dirty="0"/>
          </a:p>
        </p:txBody>
      </p:sp>
      <p:sp>
        <p:nvSpPr>
          <p:cNvPr id="40" name="Shape 30"/>
          <p:cNvSpPr/>
          <p:nvPr/>
        </p:nvSpPr>
        <p:spPr>
          <a:xfrm>
            <a:off x="6172200" y="4014216"/>
            <a:ext cx="5468112" cy="786384"/>
          </a:xfrm>
          <a:prstGeom prst="roundRect">
            <a:avLst>
              <a:gd name="adj" fmla="val 9302"/>
            </a:avLst>
          </a:prstGeom>
          <a:solidFill>
            <a:srgbClr val="F4F7F5"/>
          </a:solidFill>
          <a:ln w="9525">
            <a:solidFill>
              <a:srgbClr val="D5DED9"/>
            </a:solidFill>
            <a:prstDash val="solid"/>
          </a:ln>
        </p:spPr>
      </p:sp>
      <p:pic>
        <p:nvPicPr>
          <p:cNvPr id="41" name="Image 8" descr="preencoded.png"/>
          <p:cNvPicPr>
            <a:picLocks noChangeAspect="1"/>
          </p:cNvPicPr>
          <p:nvPr/>
        </p:nvPicPr>
        <p:blipFill>
          <a:blip r:embed="rId4"/>
          <a:stretch>
            <a:fillRect/>
          </a:stretch>
        </p:blipFill>
        <p:spPr>
          <a:xfrm>
            <a:off x="6355080" y="4233672"/>
            <a:ext cx="329184" cy="329184"/>
          </a:xfrm>
          <a:prstGeom prst="rect">
            <a:avLst/>
          </a:prstGeom>
        </p:spPr>
      </p:pic>
      <p:sp>
        <p:nvSpPr>
          <p:cNvPr id="42" name="Text 31"/>
          <p:cNvSpPr txBox="1"/>
          <p:nvPr/>
        </p:nvSpPr>
        <p:spPr>
          <a:xfrm>
            <a:off x="6858000" y="4069080"/>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Zonal statistics</a:t>
            </a:r>
            <a:endParaRPr lang="en-US" sz="1250" dirty="0"/>
          </a:p>
        </p:txBody>
      </p:sp>
      <p:sp>
        <p:nvSpPr>
          <p:cNvPr id="43" name="Text 32"/>
          <p:cNvSpPr txBox="1"/>
          <p:nvPr/>
        </p:nvSpPr>
        <p:spPr>
          <a:xfrm>
            <a:off x="6858000" y="4361688"/>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Summary of raster values (sum, mean, count) within each polygon.</a:t>
            </a:r>
            <a:endParaRPr lang="en-US" sz="1050" dirty="0"/>
          </a:p>
        </p:txBody>
      </p:sp>
      <p:sp>
        <p:nvSpPr>
          <p:cNvPr id="44" name="Shape 33"/>
          <p:cNvSpPr/>
          <p:nvPr/>
        </p:nvSpPr>
        <p:spPr>
          <a:xfrm>
            <a:off x="548640" y="4910328"/>
            <a:ext cx="5468112" cy="786384"/>
          </a:xfrm>
          <a:prstGeom prst="roundRect">
            <a:avLst>
              <a:gd name="adj" fmla="val 9302"/>
            </a:avLst>
          </a:prstGeom>
          <a:solidFill>
            <a:srgbClr val="F4F7F5"/>
          </a:solidFill>
          <a:ln w="9525">
            <a:solidFill>
              <a:srgbClr val="D5DED9"/>
            </a:solidFill>
            <a:prstDash val="solid"/>
          </a:ln>
        </p:spPr>
      </p:sp>
      <p:pic>
        <p:nvPicPr>
          <p:cNvPr id="45" name="Image 9" descr="preencoded.png"/>
          <p:cNvPicPr>
            <a:picLocks noChangeAspect="1"/>
          </p:cNvPicPr>
          <p:nvPr/>
        </p:nvPicPr>
        <p:blipFill>
          <a:blip r:embed="rId4"/>
          <a:stretch>
            <a:fillRect/>
          </a:stretch>
        </p:blipFill>
        <p:spPr>
          <a:xfrm>
            <a:off x="731520" y="5129784"/>
            <a:ext cx="329184" cy="329184"/>
          </a:xfrm>
          <a:prstGeom prst="rect">
            <a:avLst/>
          </a:prstGeom>
        </p:spPr>
      </p:pic>
      <p:sp>
        <p:nvSpPr>
          <p:cNvPr id="46" name="Text 34"/>
          <p:cNvSpPr txBox="1"/>
          <p:nvPr/>
        </p:nvSpPr>
        <p:spPr>
          <a:xfrm>
            <a:off x="1234440" y="4965192"/>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Nadir</a:t>
            </a:r>
            <a:endParaRPr lang="en-US" sz="1250" dirty="0"/>
          </a:p>
        </p:txBody>
      </p:sp>
      <p:sp>
        <p:nvSpPr>
          <p:cNvPr id="47" name="Text 35"/>
          <p:cNvSpPr txBox="1"/>
          <p:nvPr/>
        </p:nvSpPr>
        <p:spPr>
          <a:xfrm>
            <a:off x="1234440" y="5257800"/>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Point directly beneath the satellite, where the pixel footprint is smallest.</a:t>
            </a:r>
            <a:endParaRPr lang="en-US" sz="1050" dirty="0"/>
          </a:p>
        </p:txBody>
      </p:sp>
      <p:sp>
        <p:nvSpPr>
          <p:cNvPr id="48" name="Shape 36"/>
          <p:cNvSpPr/>
          <p:nvPr/>
        </p:nvSpPr>
        <p:spPr>
          <a:xfrm>
            <a:off x="6172200" y="4910328"/>
            <a:ext cx="5468112" cy="786384"/>
          </a:xfrm>
          <a:prstGeom prst="roundRect">
            <a:avLst>
              <a:gd name="adj" fmla="val 9302"/>
            </a:avLst>
          </a:prstGeom>
          <a:solidFill>
            <a:srgbClr val="F4F7F5"/>
          </a:solidFill>
          <a:ln w="9525">
            <a:solidFill>
              <a:srgbClr val="D5DED9"/>
            </a:solidFill>
            <a:prstDash val="solid"/>
          </a:ln>
        </p:spPr>
      </p:sp>
      <p:pic>
        <p:nvPicPr>
          <p:cNvPr id="49" name="Image 10" descr="preencoded.png"/>
          <p:cNvPicPr>
            <a:picLocks noChangeAspect="1"/>
          </p:cNvPicPr>
          <p:nvPr/>
        </p:nvPicPr>
        <p:blipFill>
          <a:blip r:embed="rId4"/>
          <a:stretch>
            <a:fillRect/>
          </a:stretch>
        </p:blipFill>
        <p:spPr>
          <a:xfrm>
            <a:off x="6355080" y="5129784"/>
            <a:ext cx="329184" cy="329184"/>
          </a:xfrm>
          <a:prstGeom prst="rect">
            <a:avLst/>
          </a:prstGeom>
        </p:spPr>
      </p:pic>
      <p:sp>
        <p:nvSpPr>
          <p:cNvPr id="50" name="Text 37"/>
          <p:cNvSpPr txBox="1"/>
          <p:nvPr/>
        </p:nvSpPr>
        <p:spPr>
          <a:xfrm>
            <a:off x="6858000" y="4965192"/>
            <a:ext cx="4572000" cy="292608"/>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Elasticity</a:t>
            </a:r>
            <a:endParaRPr lang="en-US" sz="1250" dirty="0"/>
          </a:p>
        </p:txBody>
      </p:sp>
      <p:sp>
        <p:nvSpPr>
          <p:cNvPr id="51" name="Text 38"/>
          <p:cNvSpPr txBox="1"/>
          <p:nvPr/>
        </p:nvSpPr>
        <p:spPr>
          <a:xfrm>
            <a:off x="6858000" y="5257800"/>
            <a:ext cx="466344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 change in output associated with a 1% change in light; not a constant.</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APPENDIX · SOURCES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Selected references</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66</a:t>
            </a:r>
            <a:endParaRPr lang="en-US" sz="900" dirty="0"/>
          </a:p>
        </p:txBody>
      </p:sp>
      <p:sp>
        <p:nvSpPr>
          <p:cNvPr id="12" name="Text 9"/>
          <p:cNvSpPr txBox="1"/>
          <p:nvPr/>
        </p:nvSpPr>
        <p:spPr>
          <a:xfrm>
            <a:off x="548640" y="1325880"/>
            <a:ext cx="5440680" cy="4754880"/>
          </a:xfrm>
          <a:prstGeom prst="rect">
            <a:avLst/>
          </a:prstGeom>
          <a:noFill/>
          <a:ln/>
        </p:spPr>
        <p:txBody>
          <a:bodyPr wrap="square" lIns="0" tIns="0" rIns="0" bIns="0" rtlCol="0" anchor="t"/>
          <a:lstStyle/>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Beyer, R., Franco-Bedoya, S. &amp; Galdo, V. (2021). Examining the economic impact of COVID-19 in India through daily electricity consumption and nighttime light intensity. World Development, 140.</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Beyer, R., Hu, Y. &amp; Yao, J. (2022). Measuring quarterly economic growth from outer space. IMF Working Paper 22/109.</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Bruederle, A. &amp; Hodler, R. (2018). Nighttime lights as a proxy for human development at the local level. PLOS ONE, 13(9).</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Croft, T. A. (1978). Nighttime images of the Earth from space. Scientific American, 239(1).</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Chen, Z. et al. (2021). An extended time series (2000–2018) of global NPP-VIIRS-like nighttime light data. Earth System Science Data, 13.</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Elvidge, C. D. et al. (2001). Night-time lights of the world: 1994–1995. ISPRS Journal of Photogrammetry and Remote Sensing, 56(2).</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Elvidge, C. D. et al. (2013). Why VIIRS data are superior to DMSP for mapping nighttime lights. Proceedings of the Asia-Pacific Advanced Network, 35.</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Elvidge, C. D. et al. (2021). Annual time series of global VIIRS nighttime lights derived from monthly averages: 2012 to 2019. Remote Sensing, 13(5).</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1050" dirty="0"/>
          </a:p>
        </p:txBody>
      </p:sp>
      <p:sp>
        <p:nvSpPr>
          <p:cNvPr id="13" name="Text 10"/>
          <p:cNvSpPr txBox="1"/>
          <p:nvPr/>
        </p:nvSpPr>
        <p:spPr>
          <a:xfrm>
            <a:off x="6172200" y="1325880"/>
            <a:ext cx="5440680" cy="4754880"/>
          </a:xfrm>
          <a:prstGeom prst="rect">
            <a:avLst/>
          </a:prstGeom>
          <a:noFill/>
          <a:ln/>
        </p:spPr>
        <p:txBody>
          <a:bodyPr wrap="square" lIns="0" tIns="0" rIns="0" bIns="0" rtlCol="0" anchor="t"/>
          <a:lstStyle/>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Henderson, J. V., Storeygard, A. &amp; Weil, D. N. (2012). Measuring economic growth from outer space. American Economic Review, 102(2).</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Hu, Y. &amp; Yao, J. (2022). Illuminating economic growth. Journal of Econometrics, 228(2).</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IEA, IRENA, UN DESA, World Bank, WHO (2026). Tracking SDG 7: The Energy Progress Report.</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Li, X. &amp; Li, D. (2014). Can night-time light images play a role in evaluating the Syrian crisis? IJRS, 35(18).</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Román, M. O. &amp; Stokes, E. C. (2015). Holidays in lights: tracking cultural patterns in demand for energy services. Earth’s Future, 3(6).</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1050" dirty="0"/>
          </a:p>
          <a:p>
            <a:pPr marL="0" indent="0">
              <a:spcAft>
                <a:spcPts val="500"/>
              </a:spcAft>
              <a:buNone/>
            </a:pPr>
            <a:r>
              <a:rPr lang="en-US" sz="10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509522" cy="64008"/>
          </a:xfrm>
          <a:prstGeom prst="rect">
            <a:avLst/>
          </a:prstGeom>
          <a:solidFill>
            <a:srgbClr val="00704A"/>
          </a:solidFill>
          <a:ln w="6350">
            <a:solidFill>
              <a:srgbClr val="00704A"/>
            </a:solidFill>
            <a:prstDash val="solid"/>
          </a:ln>
        </p:spPr>
      </p:sp>
      <p:sp>
        <p:nvSpPr>
          <p:cNvPr id="3" name="Shape 1"/>
          <p:cNvSpPr/>
          <p:nvPr/>
        </p:nvSpPr>
        <p:spPr>
          <a:xfrm>
            <a:off x="9509522" y="0"/>
            <a:ext cx="2682173" cy="64008"/>
          </a:xfrm>
          <a:prstGeom prst="rect">
            <a:avLst/>
          </a:prstGeom>
          <a:solidFill>
            <a:srgbClr val="F5C242"/>
          </a:solidFill>
          <a:ln w="6350">
            <a:solidFill>
              <a:srgbClr val="F5C242"/>
            </a:solidFill>
            <a:prstDash val="solid"/>
          </a:ln>
        </p:spPr>
      </p:sp>
      <p:pic>
        <p:nvPicPr>
          <p:cNvPr id="4" name="Image 0" descr="/home/claude/build/img/afdb.png"/>
          <p:cNvPicPr>
            <a:picLocks noChangeAspect="1"/>
          </p:cNvPicPr>
          <p:nvPr/>
        </p:nvPicPr>
        <p:blipFill>
          <a:blip r:embed="rId3"/>
          <a:stretch>
            <a:fillRect/>
          </a:stretch>
        </p:blipFill>
        <p:spPr>
          <a:xfrm>
            <a:off x="10408615" y="6400800"/>
            <a:ext cx="548640" cy="274320"/>
          </a:xfrm>
          <a:prstGeom prst="rect">
            <a:avLst/>
          </a:prstGeom>
        </p:spPr>
      </p:pic>
      <p:sp>
        <p:nvSpPr>
          <p:cNvPr id="5" name="Shape 2"/>
          <p:cNvSpPr/>
          <p:nvPr/>
        </p:nvSpPr>
        <p:spPr>
          <a:xfrm>
            <a:off x="548640" y="384048"/>
            <a:ext cx="109728" cy="109728"/>
          </a:xfrm>
          <a:prstGeom prst="ellipse">
            <a:avLst/>
          </a:prstGeom>
          <a:solidFill>
            <a:srgbClr val="F5C242"/>
          </a:solidFill>
          <a:ln w="12700">
            <a:solidFill>
              <a:srgbClr val="F5C242"/>
            </a:solidFill>
            <a:prstDash val="solid"/>
          </a:ln>
        </p:spPr>
      </p:sp>
      <p:sp>
        <p:nvSpPr>
          <p:cNvPr id="6" name="Text 3"/>
          <p:cNvSpPr txBox="1"/>
          <p:nvPr/>
        </p:nvSpPr>
        <p:spPr>
          <a:xfrm>
            <a:off x="749808" y="329184"/>
            <a:ext cx="8229600" cy="228600"/>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APPENDIX · DATA &amp; TOOLS</a:t>
            </a:r>
            <a:endParaRPr lang="en-US" sz="1000" dirty="0"/>
          </a:p>
        </p:txBody>
      </p:sp>
      <p:sp>
        <p:nvSpPr>
          <p:cNvPr id="7" name="Text 4"/>
          <p:cNvSpPr txBox="1"/>
          <p:nvPr/>
        </p:nvSpPr>
        <p:spPr>
          <a:xfrm>
            <a:off x="548640" y="603504"/>
            <a:ext cx="10241280" cy="54864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Data, tools and tutorials to keep</a:t>
            </a:r>
            <a:endParaRPr lang="en-US" sz="2600" dirty="0"/>
          </a:p>
        </p:txBody>
      </p:sp>
      <p:sp>
        <p:nvSpPr>
          <p:cNvPr id="8" name="Shape 5"/>
          <p:cNvSpPr/>
          <p:nvPr/>
        </p:nvSpPr>
        <p:spPr>
          <a:xfrm>
            <a:off x="9905695" y="329184"/>
            <a:ext cx="1737360" cy="256032"/>
          </a:xfrm>
          <a:prstGeom prst="roundRect">
            <a:avLst>
              <a:gd name="adj" fmla="val 50000"/>
            </a:avLst>
          </a:prstGeom>
          <a:solidFill>
            <a:srgbClr val="E8F5EF"/>
          </a:solidFill>
          <a:ln w="12700">
            <a:solidFill>
              <a:srgbClr val="E8F5EF"/>
            </a:solidFill>
            <a:prstDash val="solid"/>
          </a:ln>
        </p:spPr>
      </p:sp>
      <p:sp>
        <p:nvSpPr>
          <p:cNvPr id="9" name="Text 6"/>
          <p:cNvSpPr txBox="1"/>
          <p:nvPr/>
        </p:nvSpPr>
        <p:spPr>
          <a:xfrm>
            <a:off x="9905695" y="329184"/>
            <a:ext cx="1737360" cy="256032"/>
          </a:xfrm>
          <a:prstGeom prst="rect">
            <a:avLst/>
          </a:prstGeom>
          <a:noFill/>
          <a:ln/>
        </p:spPr>
        <p:txBody>
          <a:bodyPr wrap="square" lIns="0" tIns="0" rIns="0" bIns="0" rtlCol="0" anchor="ctr"/>
          <a:lstStyle/>
          <a:p>
            <a:pPr marL="0" indent="0" algn="ctr">
              <a:buNone/>
            </a:pPr>
            <a:r>
              <a:rPr lang="en-US" sz="850" b="1" kern="0" spc="100" dirty="0">
                <a:solidFill>
                  <a:srgbClr val="00704A"/>
                </a:solidFill>
                <a:latin typeface="Calibri" pitchFamily="34" charset="0"/>
                <a:ea typeface="Calibri" pitchFamily="34" charset="-122"/>
                <a:cs typeface="Calibri" pitchFamily="34" charset="-120"/>
              </a:rPr>
              <a:t>REFERENCE</a:t>
            </a:r>
            <a:endParaRPr lang="en-US" sz="850" dirty="0"/>
          </a:p>
        </p:txBody>
      </p:sp>
      <p:sp>
        <p:nvSpPr>
          <p:cNvPr id="10" name="Text 7"/>
          <p:cNvSpPr txBox="1"/>
          <p:nvPr/>
        </p:nvSpPr>
        <p:spPr>
          <a:xfrm>
            <a:off x="548640" y="6473952"/>
            <a:ext cx="932688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Night-Time Lights  ·  Data Innovation For Africa (DI4A) — AfDB</a:t>
            </a:r>
            <a:endParaRPr lang="en-US" sz="850" dirty="0"/>
          </a:p>
        </p:txBody>
      </p:sp>
      <p:sp>
        <p:nvSpPr>
          <p:cNvPr id="11" name="Text 8"/>
          <p:cNvSpPr txBox="1"/>
          <p:nvPr/>
        </p:nvSpPr>
        <p:spPr>
          <a:xfrm>
            <a:off x="11094415" y="6473952"/>
            <a:ext cx="548640" cy="201168"/>
          </a:xfrm>
          <a:prstGeom prst="rect">
            <a:avLst/>
          </a:prstGeom>
          <a:noFill/>
          <a:ln/>
        </p:spPr>
        <p:txBody>
          <a:bodyPr wrap="square" lIns="0" tIns="0" rIns="0" bIns="0" rtlCol="0" anchor="t"/>
          <a:lstStyle/>
          <a:p>
            <a:pPr marL="0" indent="0" algn="r">
              <a:buNone/>
            </a:pPr>
            <a:r>
              <a:rPr lang="en-US" sz="900" b="1" dirty="0">
                <a:solidFill>
                  <a:srgbClr val="00704A"/>
                </a:solidFill>
                <a:latin typeface="Calibri" pitchFamily="34" charset="0"/>
                <a:ea typeface="Calibri" pitchFamily="34" charset="-122"/>
                <a:cs typeface="Calibri" pitchFamily="34" charset="-120"/>
              </a:rPr>
              <a:t>67</a:t>
            </a:r>
            <a:endParaRPr lang="en-US" sz="900" dirty="0"/>
          </a:p>
        </p:txBody>
      </p:sp>
      <p:sp>
        <p:nvSpPr>
          <p:cNvPr id="12" name="Shape 9"/>
          <p:cNvSpPr/>
          <p:nvPr/>
        </p:nvSpPr>
        <p:spPr>
          <a:xfrm>
            <a:off x="548640" y="1325880"/>
            <a:ext cx="5468112" cy="969264"/>
          </a:xfrm>
          <a:prstGeom prst="roundRect">
            <a:avLst>
              <a:gd name="adj" fmla="val 7547"/>
            </a:avLst>
          </a:prstGeom>
          <a:solidFill>
            <a:srgbClr val="F4F7F5"/>
          </a:solidFill>
          <a:ln w="9525">
            <a:solidFill>
              <a:srgbClr val="D5DED9"/>
            </a:solidFill>
            <a:prstDash val="solid"/>
          </a:ln>
        </p:spPr>
      </p:sp>
      <p:sp>
        <p:nvSpPr>
          <p:cNvPr id="13" name="Shape 10"/>
          <p:cNvSpPr/>
          <p:nvPr/>
        </p:nvSpPr>
        <p:spPr>
          <a:xfrm>
            <a:off x="731520" y="1508760"/>
            <a:ext cx="603504" cy="603504"/>
          </a:xfrm>
          <a:prstGeom prst="ellipse">
            <a:avLst/>
          </a:prstGeom>
          <a:solidFill>
            <a:srgbClr val="E8F5EF"/>
          </a:solidFill>
          <a:ln w="12700">
            <a:solidFill>
              <a:srgbClr val="E8F5EF"/>
            </a:solidFill>
            <a:prstDash val="solid"/>
          </a:ln>
        </p:spPr>
      </p:sp>
      <p:pic>
        <p:nvPicPr>
          <p:cNvPr id="14" name="Image 1" descr="preencoded.png"/>
          <p:cNvPicPr>
            <a:picLocks noChangeAspect="1"/>
          </p:cNvPicPr>
          <p:nvPr/>
        </p:nvPicPr>
        <p:blipFill>
          <a:blip r:embed="rId4"/>
          <a:stretch>
            <a:fillRect/>
          </a:stretch>
        </p:blipFill>
        <p:spPr>
          <a:xfrm>
            <a:off x="888431" y="1665671"/>
            <a:ext cx="289682" cy="289682"/>
          </a:xfrm>
          <a:prstGeom prst="rect">
            <a:avLst/>
          </a:prstGeom>
        </p:spPr>
      </p:pic>
      <p:sp>
        <p:nvSpPr>
          <p:cNvPr id="15" name="Text 11"/>
          <p:cNvSpPr txBox="1"/>
          <p:nvPr/>
        </p:nvSpPr>
        <p:spPr>
          <a:xfrm>
            <a:off x="1508760" y="143560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NASA Black Marble</a:t>
            </a:r>
            <a:endParaRPr lang="en-US" sz="1400" dirty="0"/>
          </a:p>
        </p:txBody>
      </p:sp>
      <p:sp>
        <p:nvSpPr>
          <p:cNvPr id="16" name="Text 12"/>
          <p:cNvSpPr txBox="1"/>
          <p:nvPr/>
        </p:nvSpPr>
        <p:spPr>
          <a:xfrm>
            <a:off x="1508760" y="180136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LAADS DAAC · Earthdata — VNP46 / VJ146 products</a:t>
            </a:r>
            <a:endParaRPr lang="en-US" sz="1150" dirty="0"/>
          </a:p>
        </p:txBody>
      </p:sp>
      <p:sp>
        <p:nvSpPr>
          <p:cNvPr id="17" name="Shape 13"/>
          <p:cNvSpPr/>
          <p:nvPr/>
        </p:nvSpPr>
        <p:spPr>
          <a:xfrm>
            <a:off x="6172200" y="1325880"/>
            <a:ext cx="5468112" cy="969264"/>
          </a:xfrm>
          <a:prstGeom prst="roundRect">
            <a:avLst>
              <a:gd name="adj" fmla="val 7547"/>
            </a:avLst>
          </a:prstGeom>
          <a:solidFill>
            <a:srgbClr val="F4F7F5"/>
          </a:solidFill>
          <a:ln w="9525">
            <a:solidFill>
              <a:srgbClr val="D5DED9"/>
            </a:solidFill>
            <a:prstDash val="solid"/>
          </a:ln>
        </p:spPr>
      </p:sp>
      <p:sp>
        <p:nvSpPr>
          <p:cNvPr id="18" name="Shape 14"/>
          <p:cNvSpPr/>
          <p:nvPr/>
        </p:nvSpPr>
        <p:spPr>
          <a:xfrm>
            <a:off x="6355080" y="1508760"/>
            <a:ext cx="603504" cy="603504"/>
          </a:xfrm>
          <a:prstGeom prst="ellipse">
            <a:avLst/>
          </a:prstGeom>
          <a:solidFill>
            <a:srgbClr val="E8F5EF"/>
          </a:solidFill>
          <a:ln w="12700">
            <a:solidFill>
              <a:srgbClr val="E8F5EF"/>
            </a:solidFill>
            <a:prstDash val="solid"/>
          </a:ln>
        </p:spPr>
      </p:sp>
      <p:pic>
        <p:nvPicPr>
          <p:cNvPr id="19" name="Image 2" descr="preencoded.png"/>
          <p:cNvPicPr>
            <a:picLocks noChangeAspect="1"/>
          </p:cNvPicPr>
          <p:nvPr/>
        </p:nvPicPr>
        <p:blipFill>
          <a:blip r:embed="rId5"/>
          <a:stretch>
            <a:fillRect/>
          </a:stretch>
        </p:blipFill>
        <p:spPr>
          <a:xfrm>
            <a:off x="6511991" y="1665671"/>
            <a:ext cx="289682" cy="289682"/>
          </a:xfrm>
          <a:prstGeom prst="rect">
            <a:avLst/>
          </a:prstGeom>
        </p:spPr>
      </p:pic>
      <p:sp>
        <p:nvSpPr>
          <p:cNvPr id="20" name="Text 15"/>
          <p:cNvSpPr txBox="1"/>
          <p:nvPr/>
        </p:nvSpPr>
        <p:spPr>
          <a:xfrm>
            <a:off x="7132320" y="143560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Earth Observation Group</a:t>
            </a:r>
            <a:endParaRPr lang="en-US" sz="1400" dirty="0"/>
          </a:p>
        </p:txBody>
      </p:sp>
      <p:sp>
        <p:nvSpPr>
          <p:cNvPr id="21" name="Text 16"/>
          <p:cNvSpPr txBox="1"/>
          <p:nvPr/>
        </p:nvSpPr>
        <p:spPr>
          <a:xfrm>
            <a:off x="7132320" y="180136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VNL annual &amp; monthly composites; VIIRS Nightfire</a:t>
            </a:r>
            <a:endParaRPr lang="en-US" sz="1150" dirty="0"/>
          </a:p>
        </p:txBody>
      </p:sp>
      <p:sp>
        <p:nvSpPr>
          <p:cNvPr id="22" name="Shape 17"/>
          <p:cNvSpPr/>
          <p:nvPr/>
        </p:nvSpPr>
        <p:spPr>
          <a:xfrm>
            <a:off x="548640" y="2423160"/>
            <a:ext cx="5468112" cy="969264"/>
          </a:xfrm>
          <a:prstGeom prst="roundRect">
            <a:avLst>
              <a:gd name="adj" fmla="val 7547"/>
            </a:avLst>
          </a:prstGeom>
          <a:solidFill>
            <a:srgbClr val="F4F7F5"/>
          </a:solidFill>
          <a:ln w="9525">
            <a:solidFill>
              <a:srgbClr val="D5DED9"/>
            </a:solidFill>
            <a:prstDash val="solid"/>
          </a:ln>
        </p:spPr>
      </p:sp>
      <p:sp>
        <p:nvSpPr>
          <p:cNvPr id="23" name="Shape 18"/>
          <p:cNvSpPr/>
          <p:nvPr/>
        </p:nvSpPr>
        <p:spPr>
          <a:xfrm>
            <a:off x="731520" y="2606040"/>
            <a:ext cx="603504" cy="603504"/>
          </a:xfrm>
          <a:prstGeom prst="ellipse">
            <a:avLst/>
          </a:prstGeom>
          <a:solidFill>
            <a:srgbClr val="E8F5EF"/>
          </a:solidFill>
          <a:ln w="12700">
            <a:solidFill>
              <a:srgbClr val="E8F5EF"/>
            </a:solidFill>
            <a:prstDash val="solid"/>
          </a:ln>
        </p:spPr>
      </p:sp>
      <p:pic>
        <p:nvPicPr>
          <p:cNvPr id="24" name="Image 3" descr="preencoded.png"/>
          <p:cNvPicPr>
            <a:picLocks noChangeAspect="1"/>
          </p:cNvPicPr>
          <p:nvPr/>
        </p:nvPicPr>
        <p:blipFill>
          <a:blip r:embed="rId6"/>
          <a:stretch>
            <a:fillRect/>
          </a:stretch>
        </p:blipFill>
        <p:spPr>
          <a:xfrm>
            <a:off x="888431" y="2762951"/>
            <a:ext cx="289682" cy="289682"/>
          </a:xfrm>
          <a:prstGeom prst="rect">
            <a:avLst/>
          </a:prstGeom>
        </p:spPr>
      </p:pic>
      <p:sp>
        <p:nvSpPr>
          <p:cNvPr id="25" name="Text 19"/>
          <p:cNvSpPr txBox="1"/>
          <p:nvPr/>
        </p:nvSpPr>
        <p:spPr>
          <a:xfrm>
            <a:off x="1508760" y="253288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Google Earth Engine</a:t>
            </a:r>
            <a:endParaRPr lang="en-US" sz="1400" dirty="0"/>
          </a:p>
        </p:txBody>
      </p:sp>
      <p:sp>
        <p:nvSpPr>
          <p:cNvPr id="26" name="Text 20"/>
          <p:cNvSpPr txBox="1"/>
          <p:nvPr/>
        </p:nvSpPr>
        <p:spPr>
          <a:xfrm>
            <a:off x="1508760" y="289864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Hosted, analysis-ready EOG and Black Marble collections</a:t>
            </a:r>
            <a:endParaRPr lang="en-US" sz="1150" dirty="0"/>
          </a:p>
        </p:txBody>
      </p:sp>
      <p:sp>
        <p:nvSpPr>
          <p:cNvPr id="27" name="Shape 21"/>
          <p:cNvSpPr/>
          <p:nvPr/>
        </p:nvSpPr>
        <p:spPr>
          <a:xfrm>
            <a:off x="6172200" y="2423160"/>
            <a:ext cx="5468112" cy="969264"/>
          </a:xfrm>
          <a:prstGeom prst="roundRect">
            <a:avLst>
              <a:gd name="adj" fmla="val 7547"/>
            </a:avLst>
          </a:prstGeom>
          <a:solidFill>
            <a:srgbClr val="F4F7F5"/>
          </a:solidFill>
          <a:ln w="9525">
            <a:solidFill>
              <a:srgbClr val="D5DED9"/>
            </a:solidFill>
            <a:prstDash val="solid"/>
          </a:ln>
        </p:spPr>
      </p:sp>
      <p:sp>
        <p:nvSpPr>
          <p:cNvPr id="28" name="Shape 22"/>
          <p:cNvSpPr/>
          <p:nvPr/>
        </p:nvSpPr>
        <p:spPr>
          <a:xfrm>
            <a:off x="6355080" y="2606040"/>
            <a:ext cx="603504" cy="603504"/>
          </a:xfrm>
          <a:prstGeom prst="ellipse">
            <a:avLst/>
          </a:prstGeom>
          <a:solidFill>
            <a:srgbClr val="E8F5EF"/>
          </a:solidFill>
          <a:ln w="12700">
            <a:solidFill>
              <a:srgbClr val="E8F5EF"/>
            </a:solidFill>
            <a:prstDash val="solid"/>
          </a:ln>
        </p:spPr>
      </p:sp>
      <p:pic>
        <p:nvPicPr>
          <p:cNvPr id="29" name="Image 4" descr="preencoded.png"/>
          <p:cNvPicPr>
            <a:picLocks noChangeAspect="1"/>
          </p:cNvPicPr>
          <p:nvPr/>
        </p:nvPicPr>
        <p:blipFill>
          <a:blip r:embed="rId7"/>
          <a:stretch>
            <a:fillRect/>
          </a:stretch>
        </p:blipFill>
        <p:spPr>
          <a:xfrm>
            <a:off x="6511991" y="2762951"/>
            <a:ext cx="289682" cy="289682"/>
          </a:xfrm>
          <a:prstGeom prst="rect">
            <a:avLst/>
          </a:prstGeom>
        </p:spPr>
      </p:pic>
      <p:sp>
        <p:nvSpPr>
          <p:cNvPr id="30" name="Text 23"/>
          <p:cNvSpPr txBox="1"/>
          <p:nvPr/>
        </p:nvSpPr>
        <p:spPr>
          <a:xfrm>
            <a:off x="7132320" y="253288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BlackMarblePy / blackmarbler</a:t>
            </a:r>
            <a:endParaRPr lang="en-US" sz="1400" dirty="0"/>
          </a:p>
        </p:txBody>
      </p:sp>
      <p:sp>
        <p:nvSpPr>
          <p:cNvPr id="31" name="Text 24"/>
          <p:cNvSpPr txBox="1"/>
          <p:nvPr/>
        </p:nvSpPr>
        <p:spPr>
          <a:xfrm>
            <a:off x="7132320" y="289864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World Bank packages for Python and R</a:t>
            </a:r>
            <a:endParaRPr lang="en-US" sz="1150" dirty="0"/>
          </a:p>
        </p:txBody>
      </p:sp>
      <p:sp>
        <p:nvSpPr>
          <p:cNvPr id="32" name="Shape 25"/>
          <p:cNvSpPr/>
          <p:nvPr/>
        </p:nvSpPr>
        <p:spPr>
          <a:xfrm>
            <a:off x="548640" y="3520440"/>
            <a:ext cx="5468112" cy="969264"/>
          </a:xfrm>
          <a:prstGeom prst="roundRect">
            <a:avLst>
              <a:gd name="adj" fmla="val 7547"/>
            </a:avLst>
          </a:prstGeom>
          <a:solidFill>
            <a:srgbClr val="F4F7F5"/>
          </a:solidFill>
          <a:ln w="9525">
            <a:solidFill>
              <a:srgbClr val="D5DED9"/>
            </a:solidFill>
            <a:prstDash val="solid"/>
          </a:ln>
        </p:spPr>
      </p:sp>
      <p:sp>
        <p:nvSpPr>
          <p:cNvPr id="33" name="Shape 26"/>
          <p:cNvSpPr/>
          <p:nvPr/>
        </p:nvSpPr>
        <p:spPr>
          <a:xfrm>
            <a:off x="731520" y="3703320"/>
            <a:ext cx="603504" cy="603504"/>
          </a:xfrm>
          <a:prstGeom prst="ellipse">
            <a:avLst/>
          </a:prstGeom>
          <a:solidFill>
            <a:srgbClr val="E8F5EF"/>
          </a:solidFill>
          <a:ln w="12700">
            <a:solidFill>
              <a:srgbClr val="E8F5EF"/>
            </a:solidFill>
            <a:prstDash val="solid"/>
          </a:ln>
        </p:spPr>
      </p:sp>
      <p:pic>
        <p:nvPicPr>
          <p:cNvPr id="34" name="Image 5" descr="preencoded.png"/>
          <p:cNvPicPr>
            <a:picLocks noChangeAspect="1"/>
          </p:cNvPicPr>
          <p:nvPr/>
        </p:nvPicPr>
        <p:blipFill>
          <a:blip r:embed="rId8"/>
          <a:stretch>
            <a:fillRect/>
          </a:stretch>
        </p:blipFill>
        <p:spPr>
          <a:xfrm>
            <a:off x="888431" y="3860231"/>
            <a:ext cx="289682" cy="289682"/>
          </a:xfrm>
          <a:prstGeom prst="rect">
            <a:avLst/>
          </a:prstGeom>
        </p:spPr>
      </p:pic>
      <p:sp>
        <p:nvSpPr>
          <p:cNvPr id="35" name="Text 27"/>
          <p:cNvSpPr txBox="1"/>
          <p:nvPr/>
        </p:nvSpPr>
        <p:spPr>
          <a:xfrm>
            <a:off x="1508760" y="363016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HREA</a:t>
            </a:r>
            <a:endParaRPr lang="en-US" sz="1400" dirty="0"/>
          </a:p>
        </p:txBody>
      </p:sp>
      <p:sp>
        <p:nvSpPr>
          <p:cNvPr id="36" name="Text 28"/>
          <p:cNvSpPr txBox="1"/>
          <p:nvPr/>
        </p:nvSpPr>
        <p:spPr>
          <a:xfrm>
            <a:off x="1508760" y="399592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Settlement-level electricity access &amp; reliability</a:t>
            </a:r>
            <a:endParaRPr lang="en-US" sz="1150" dirty="0"/>
          </a:p>
        </p:txBody>
      </p:sp>
      <p:sp>
        <p:nvSpPr>
          <p:cNvPr id="37" name="Shape 29"/>
          <p:cNvSpPr/>
          <p:nvPr/>
        </p:nvSpPr>
        <p:spPr>
          <a:xfrm>
            <a:off x="6172200" y="3520440"/>
            <a:ext cx="5468112" cy="969264"/>
          </a:xfrm>
          <a:prstGeom prst="roundRect">
            <a:avLst>
              <a:gd name="adj" fmla="val 7547"/>
            </a:avLst>
          </a:prstGeom>
          <a:solidFill>
            <a:srgbClr val="F4F7F5"/>
          </a:solidFill>
          <a:ln w="9525">
            <a:solidFill>
              <a:srgbClr val="D5DED9"/>
            </a:solidFill>
            <a:prstDash val="solid"/>
          </a:ln>
        </p:spPr>
      </p:sp>
      <p:sp>
        <p:nvSpPr>
          <p:cNvPr id="38" name="Shape 30"/>
          <p:cNvSpPr/>
          <p:nvPr/>
        </p:nvSpPr>
        <p:spPr>
          <a:xfrm>
            <a:off x="6355080" y="3703320"/>
            <a:ext cx="603504" cy="603504"/>
          </a:xfrm>
          <a:prstGeom prst="ellipse">
            <a:avLst/>
          </a:prstGeom>
          <a:solidFill>
            <a:srgbClr val="E8F5EF"/>
          </a:solidFill>
          <a:ln w="12700">
            <a:solidFill>
              <a:srgbClr val="E8F5EF"/>
            </a:solidFill>
            <a:prstDash val="solid"/>
          </a:ln>
        </p:spPr>
      </p:sp>
      <p:pic>
        <p:nvPicPr>
          <p:cNvPr id="39" name="Image 6" descr="preencoded.png"/>
          <p:cNvPicPr>
            <a:picLocks noChangeAspect="1"/>
          </p:cNvPicPr>
          <p:nvPr/>
        </p:nvPicPr>
        <p:blipFill>
          <a:blip r:embed="rId9"/>
          <a:stretch>
            <a:fillRect/>
          </a:stretch>
        </p:blipFill>
        <p:spPr>
          <a:xfrm>
            <a:off x="6511991" y="3860231"/>
            <a:ext cx="289682" cy="289682"/>
          </a:xfrm>
          <a:prstGeom prst="rect">
            <a:avLst/>
          </a:prstGeom>
        </p:spPr>
      </p:pic>
      <p:sp>
        <p:nvSpPr>
          <p:cNvPr id="40" name="Text 31"/>
          <p:cNvSpPr txBox="1"/>
          <p:nvPr/>
        </p:nvSpPr>
        <p:spPr>
          <a:xfrm>
            <a:off x="7132320" y="363016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Light Every Night</a:t>
            </a:r>
            <a:endParaRPr lang="en-US" sz="1400" dirty="0"/>
          </a:p>
        </p:txBody>
      </p:sp>
      <p:sp>
        <p:nvSpPr>
          <p:cNvPr id="41" name="Text 32"/>
          <p:cNvSpPr txBox="1"/>
          <p:nvPr/>
        </p:nvSpPr>
        <p:spPr>
          <a:xfrm>
            <a:off x="7132320" y="399592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Every nightly DMSP &amp; VIIRS observation, open on AWS</a:t>
            </a:r>
            <a:endParaRPr lang="en-US" sz="1150" dirty="0"/>
          </a:p>
        </p:txBody>
      </p:sp>
      <p:sp>
        <p:nvSpPr>
          <p:cNvPr id="42" name="Shape 33"/>
          <p:cNvSpPr/>
          <p:nvPr/>
        </p:nvSpPr>
        <p:spPr>
          <a:xfrm>
            <a:off x="548640" y="4617720"/>
            <a:ext cx="5468112" cy="969264"/>
          </a:xfrm>
          <a:prstGeom prst="roundRect">
            <a:avLst>
              <a:gd name="adj" fmla="val 7547"/>
            </a:avLst>
          </a:prstGeom>
          <a:solidFill>
            <a:srgbClr val="F4F7F5"/>
          </a:solidFill>
          <a:ln w="9525">
            <a:solidFill>
              <a:srgbClr val="D5DED9"/>
            </a:solidFill>
            <a:prstDash val="solid"/>
          </a:ln>
        </p:spPr>
      </p:sp>
      <p:sp>
        <p:nvSpPr>
          <p:cNvPr id="43" name="Shape 34"/>
          <p:cNvSpPr/>
          <p:nvPr/>
        </p:nvSpPr>
        <p:spPr>
          <a:xfrm>
            <a:off x="731520" y="4800600"/>
            <a:ext cx="603504" cy="603504"/>
          </a:xfrm>
          <a:prstGeom prst="ellipse">
            <a:avLst/>
          </a:prstGeom>
          <a:solidFill>
            <a:srgbClr val="E8F5EF"/>
          </a:solidFill>
          <a:ln w="12700">
            <a:solidFill>
              <a:srgbClr val="E8F5EF"/>
            </a:solidFill>
            <a:prstDash val="solid"/>
          </a:ln>
        </p:spPr>
      </p:sp>
      <p:pic>
        <p:nvPicPr>
          <p:cNvPr id="44" name="Image 7" descr="preencoded.png"/>
          <p:cNvPicPr>
            <a:picLocks noChangeAspect="1"/>
          </p:cNvPicPr>
          <p:nvPr/>
        </p:nvPicPr>
        <p:blipFill>
          <a:blip r:embed="rId10"/>
          <a:stretch>
            <a:fillRect/>
          </a:stretch>
        </p:blipFill>
        <p:spPr>
          <a:xfrm>
            <a:off x="888431" y="4957511"/>
            <a:ext cx="289682" cy="289682"/>
          </a:xfrm>
          <a:prstGeom prst="rect">
            <a:avLst/>
          </a:prstGeom>
        </p:spPr>
      </p:pic>
      <p:sp>
        <p:nvSpPr>
          <p:cNvPr id="45" name="Text 35"/>
          <p:cNvSpPr txBox="1"/>
          <p:nvPr/>
        </p:nvSpPr>
        <p:spPr>
          <a:xfrm>
            <a:off x="1508760" y="472744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GHSL · WSF · Open Buildings</a:t>
            </a:r>
            <a:endParaRPr lang="en-US" sz="1400" dirty="0"/>
          </a:p>
        </p:txBody>
      </p:sp>
      <p:sp>
        <p:nvSpPr>
          <p:cNvPr id="46" name="Text 36"/>
          <p:cNvSpPr txBox="1"/>
          <p:nvPr/>
        </p:nvSpPr>
        <p:spPr>
          <a:xfrm>
            <a:off x="1508760" y="509320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Built-up grids to pair with lights</a:t>
            </a:r>
            <a:endParaRPr lang="en-US" sz="1150" dirty="0"/>
          </a:p>
        </p:txBody>
      </p:sp>
      <p:sp>
        <p:nvSpPr>
          <p:cNvPr id="47" name="Shape 37"/>
          <p:cNvSpPr/>
          <p:nvPr/>
        </p:nvSpPr>
        <p:spPr>
          <a:xfrm>
            <a:off x="6172200" y="4617720"/>
            <a:ext cx="5468112" cy="969264"/>
          </a:xfrm>
          <a:prstGeom prst="roundRect">
            <a:avLst>
              <a:gd name="adj" fmla="val 7547"/>
            </a:avLst>
          </a:prstGeom>
          <a:solidFill>
            <a:srgbClr val="F4F7F5"/>
          </a:solidFill>
          <a:ln w="9525">
            <a:solidFill>
              <a:srgbClr val="D5DED9"/>
            </a:solidFill>
            <a:prstDash val="solid"/>
          </a:ln>
        </p:spPr>
      </p:sp>
      <p:sp>
        <p:nvSpPr>
          <p:cNvPr id="48" name="Shape 38"/>
          <p:cNvSpPr/>
          <p:nvPr/>
        </p:nvSpPr>
        <p:spPr>
          <a:xfrm>
            <a:off x="6355080" y="4800600"/>
            <a:ext cx="603504" cy="603504"/>
          </a:xfrm>
          <a:prstGeom prst="ellipse">
            <a:avLst/>
          </a:prstGeom>
          <a:solidFill>
            <a:srgbClr val="E8F5EF"/>
          </a:solidFill>
          <a:ln w="12700">
            <a:solidFill>
              <a:srgbClr val="E8F5EF"/>
            </a:solidFill>
            <a:prstDash val="solid"/>
          </a:ln>
        </p:spPr>
      </p:sp>
      <p:pic>
        <p:nvPicPr>
          <p:cNvPr id="49" name="Image 8" descr="preencoded.png"/>
          <p:cNvPicPr>
            <a:picLocks noChangeAspect="1"/>
          </p:cNvPicPr>
          <p:nvPr/>
        </p:nvPicPr>
        <p:blipFill>
          <a:blip r:embed="rId11"/>
          <a:stretch>
            <a:fillRect/>
          </a:stretch>
        </p:blipFill>
        <p:spPr>
          <a:xfrm>
            <a:off x="6511991" y="4957511"/>
            <a:ext cx="289682" cy="289682"/>
          </a:xfrm>
          <a:prstGeom prst="rect">
            <a:avLst/>
          </a:prstGeom>
        </p:spPr>
      </p:pic>
      <p:sp>
        <p:nvSpPr>
          <p:cNvPr id="50" name="Text 39"/>
          <p:cNvSpPr txBox="1"/>
          <p:nvPr/>
        </p:nvSpPr>
        <p:spPr>
          <a:xfrm>
            <a:off x="7132320" y="4727448"/>
            <a:ext cx="4389120" cy="347472"/>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World Bank Open Nighttime Lights</a:t>
            </a:r>
            <a:endParaRPr lang="en-US" sz="1400" dirty="0"/>
          </a:p>
        </p:txBody>
      </p:sp>
      <p:sp>
        <p:nvSpPr>
          <p:cNvPr id="51" name="Text 40"/>
          <p:cNvSpPr txBox="1"/>
          <p:nvPr/>
        </p:nvSpPr>
        <p:spPr>
          <a:xfrm>
            <a:off x="7132320" y="5093208"/>
            <a:ext cx="4389120" cy="41148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Tutorials, notebooks — and most real images in this deck (CC BY 4.0)</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0" y="6473952"/>
            <a:ext cx="5333695" cy="201168"/>
          </a:xfrm>
          <a:prstGeom prst="rect">
            <a:avLst/>
          </a:prstGeom>
          <a:noFill/>
          <a:ln/>
        </p:spPr>
        <p:txBody>
          <a:bodyPr wrap="square" lIns="0" tIns="0" rIns="0" bIns="0" rtlCol="0" anchor="t"/>
          <a:lstStyle/>
          <a:p>
            <a:pPr marL="0" indent="0" algn="r">
              <a:buNone/>
            </a:pPr>
            <a:r>
              <a:rPr lang="en-US" sz="800" i="1" dirty="0">
                <a:solidFill>
                  <a:srgbClr val="7BCBA9"/>
                </a:solidFill>
                <a:latin typeface="Calibri" pitchFamily="34" charset="0"/>
                <a:ea typeface="Calibri" pitchFamily="34" charset="-122"/>
                <a:cs typeface="Calibri" pitchFamily="34" charset="-120"/>
              </a:rPr>
              <a:t>Africa  ·  Illustrative rendering: GeoNames settlement populations, Natural Earth borders</a:t>
            </a:r>
            <a:endParaRPr lang="en-US" sz="800" dirty="0"/>
          </a:p>
        </p:txBody>
      </p:sp>
      <p:sp>
        <p:nvSpPr>
          <p:cNvPr id="3" name="Text 1"/>
          <p:cNvSpPr txBox="1"/>
          <p:nvPr/>
        </p:nvSpPr>
        <p:spPr>
          <a:xfrm>
            <a:off x="731520" y="640080"/>
            <a:ext cx="7315200" cy="274320"/>
          </a:xfrm>
          <a:prstGeom prst="rect">
            <a:avLst/>
          </a:prstGeom>
          <a:noFill/>
          <a:ln/>
        </p:spPr>
        <p:txBody>
          <a:bodyPr wrap="square" lIns="0" tIns="0" rIns="0" bIns="0" rtlCol="0" anchor="t"/>
          <a:lstStyle/>
          <a:p>
            <a:pPr marL="0" indent="0">
              <a:buNone/>
            </a:pPr>
            <a:r>
              <a:rPr lang="en-US" sz="1100" b="1" kern="0" spc="200" dirty="0">
                <a:solidFill>
                  <a:srgbClr val="F5C242"/>
                </a:solidFill>
                <a:latin typeface="Calibri" pitchFamily="34" charset="0"/>
                <a:ea typeface="Calibri" pitchFamily="34" charset="-122"/>
                <a:cs typeface="Calibri" pitchFamily="34" charset="-120"/>
              </a:rPr>
              <a:t>AFRICAN DEVELOPMENT BANK  ·  DATA INNOVATION FOR AFRICA (DI4A)</a:t>
            </a:r>
            <a:endParaRPr lang="en-US" sz="1100" dirty="0"/>
          </a:p>
        </p:txBody>
      </p:sp>
      <p:sp>
        <p:nvSpPr>
          <p:cNvPr id="4" name="Text 2"/>
          <p:cNvSpPr txBox="1"/>
          <p:nvPr/>
        </p:nvSpPr>
        <p:spPr>
          <a:xfrm>
            <a:off x="731520" y="1371600"/>
            <a:ext cx="640080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7" name="Text 5"/>
          <p:cNvSpPr txBox="1"/>
          <p:nvPr/>
        </p:nvSpPr>
        <p:spPr>
          <a:xfrm>
            <a:off x="731520" y="4800600"/>
            <a:ext cx="6400800" cy="2743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
        <p:nvSpPr>
          <p:cNvPr id="8" name="Shape 6"/>
          <p:cNvSpPr/>
          <p:nvPr/>
        </p:nvSpPr>
        <p:spPr>
          <a:xfrm>
            <a:off x="731520" y="5349240"/>
            <a:ext cx="3523234" cy="1097280"/>
          </a:xfrm>
          <a:prstGeom prst="roundRect">
            <a:avLst>
              <a:gd name="adj" fmla="val 6667"/>
            </a:avLst>
          </a:prstGeom>
          <a:solidFill>
            <a:srgbClr val="FFFFFF"/>
          </a:solidFill>
          <a:ln w="9525">
            <a:solidFill>
              <a:srgbClr val="FFFFFF"/>
            </a:solidFill>
            <a:prstDash val="solid"/>
          </a:ln>
        </p:spPr>
      </p:sp>
      <p:pic>
        <p:nvPicPr>
          <p:cNvPr id="9" name="Image 0" descr="African Development Bank – Data Innovation for Africa (DI4A) logo"/>
          <p:cNvPicPr>
            <a:picLocks noChangeAspect="1"/>
          </p:cNvPicPr>
          <p:nvPr/>
        </p:nvPicPr>
        <p:blipFill>
          <a:blip r:embed="rId4"/>
          <a:stretch>
            <a:fillRect/>
          </a:stretch>
        </p:blipFill>
        <p:spPr>
          <a:xfrm>
            <a:off x="896112" y="5440680"/>
            <a:ext cx="3194050" cy="914400"/>
          </a:xfrm>
          <a:prstGeom prst="rect">
            <a:avLst/>
          </a:prstGeom>
        </p:spPr>
      </p:pic>
      <p:sp>
        <p:nvSpPr>
          <p:cNvPr id="15" name="Shape 10"/>
          <p:cNvSpPr/>
          <p:nvPr/>
        </p:nvSpPr>
        <p:spPr>
          <a:xfrm>
            <a:off x="0" y="6766560"/>
            <a:ext cx="9509522" cy="91440"/>
          </a:xfrm>
          <a:prstGeom prst="rect">
            <a:avLst/>
          </a:prstGeom>
          <a:solidFill>
            <a:srgbClr val="00704A"/>
          </a:solidFill>
          <a:ln w="6350">
            <a:solidFill>
              <a:srgbClr val="00704A"/>
            </a:solidFill>
            <a:prstDash val="solid"/>
          </a:ln>
        </p:spPr>
      </p:sp>
      <p:sp>
        <p:nvSpPr>
          <p:cNvPr id="16" name="Shape 11"/>
          <p:cNvSpPr/>
          <p:nvPr/>
        </p:nvSpPr>
        <p:spPr>
          <a:xfrm>
            <a:off x="9509522" y="6766560"/>
            <a:ext cx="2682173" cy="91440"/>
          </a:xfrm>
          <a:prstGeom prst="rect">
            <a:avLst/>
          </a:prstGeom>
          <a:solidFill>
            <a:srgbClr val="F5C242"/>
          </a:solidFill>
          <a:ln w="6350">
            <a:solidFill>
              <a:srgbClr val="F5C24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19543</Words>
  <Application>Microsoft Office PowerPoint</Application>
  <PresentationFormat>Widescreen</PresentationFormat>
  <Paragraphs>1611</Paragraphs>
  <Slides>69</Slides>
  <Notes>69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 AfDB – Data Innovation for Africa (DI4A)</dc:title>
  <dc:subject>PptxGenJS Presentation</dc:subject>
  <dc:creator>Data Innovation For Africa (DI4A) — AfDB</dc:creator>
  <cp:lastModifiedBy>HAJ TAIEB mohamed ali</cp:lastModifiedBy>
  <cp:revision>3</cp:revision>
  <dcterms:created xsi:type="dcterms:W3CDTF">2026-10-02T09:05:27Z</dcterms:created>
  <dcterms:modified xsi:type="dcterms:W3CDTF">2026-10-02T09:10:53Z</dcterms:modified>
</cp:coreProperties>
</file>