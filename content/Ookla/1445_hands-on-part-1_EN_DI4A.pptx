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en-US" sz="1100" b="0" i="0" u="none" strike="noStrike">
                <a:solidFill>
                  <a:srgbClr val="231F20"/>
                </a:solidFill>
                <a:latin typeface="Calibri"/>
              </a:rPr>
              <a:t>Same three tiles, three answers (Mbps)</a:t>
            </a:r>
          </a:p>
        </c:rich>
      </c:tx>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9386-454A-A03A-ECF5B5A0ECD2}"/>
              </c:ext>
            </c:extLst>
          </c:dPt>
          <c:dPt>
            <c:idx val="1"/>
            <c:invertIfNegative val="0"/>
            <c:bubble3D val="0"/>
            <c:spPr>
              <a:solidFill>
                <a:srgbClr val="57BD92"/>
              </a:solidFill>
              <a:effectLst/>
            </c:spPr>
            <c:extLst>
              <c:ext xmlns:c16="http://schemas.microsoft.com/office/drawing/2014/chart" uri="{C3380CC4-5D6E-409C-BE32-E72D297353CC}">
                <c16:uniqueId val="{00000003-9386-454A-A03A-ECF5B5A0ECD2}"/>
              </c:ext>
            </c:extLst>
          </c:dPt>
          <c:dPt>
            <c:idx val="2"/>
            <c:invertIfNegative val="0"/>
            <c:bubble3D val="0"/>
            <c:spPr>
              <a:solidFill>
                <a:srgbClr val="00704A"/>
              </a:solidFill>
              <a:effectLst/>
            </c:spPr>
            <c:extLst>
              <c:ext xmlns:c16="http://schemas.microsoft.com/office/drawing/2014/chart" uri="{C3380CC4-5D6E-409C-BE32-E72D297353CC}">
                <c16:uniqueId val="{00000005-9386-454A-A03A-ECF5B5A0ECD2}"/>
              </c:ext>
            </c:extLst>
          </c:dPt>
          <c:dLbls>
            <c:numFmt formatCode="0.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Simple mean</c:v>
                </c:pt>
                <c:pt idx="1">
                  <c:v>Weighted by tests</c:v>
                </c:pt>
                <c:pt idx="2">
                  <c:v>Weighted by population</c:v>
                </c:pt>
              </c:strCache>
            </c:strRef>
          </c:cat>
          <c:val>
            <c:numRef>
              <c:f>Sheet1!$B$2:$B$4</c:f>
              <c:numCache>
                <c:formatCode>General</c:formatCode>
                <c:ptCount val="3"/>
                <c:pt idx="0">
                  <c:v>10</c:v>
                </c:pt>
                <c:pt idx="1">
                  <c:v>18.7</c:v>
                </c:pt>
                <c:pt idx="2">
                  <c:v>17</c:v>
                </c:pt>
              </c:numCache>
            </c:numRef>
          </c:val>
          <c:extLst>
            <c:ext xmlns:c16="http://schemas.microsoft.com/office/drawing/2014/chart" uri="{C3380CC4-5D6E-409C-BE32-E72D297353CC}">
              <c16:uniqueId val="{00000006-9386-454A-A03A-ECF5B5A0ECD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95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2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1013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moves from the pandas work on Ookla and WorldPop done in the previous lab to tools built for scale. The talk runs about 30 minutes and sets up the two laboratories: Lab 1 indexes the Ookla tiles in a pre-provisioned Elasticsearch cluster; Lab 2 builds a search-driven exploration in Kibana and benchmarks it against pandas. Everything ends with a commit to your team's GitHub repository. Note for presenters: this deck follows the AfDB visual style; add the official logos before external circulation.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Before we talk about any product, we place indexing and search in the broader big data value chain, and look at why the Ookla dataset is a good test case.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blocks come from the session description. Four form a flow: ingestion brings data in; storage keeps it cheaply (data lake) or as governed tables (lakehouse); processing transforms it in batch or streaming, typically with Spark; indexing and search make it answerable in sub-second time. Two are cross-cutting: orchestration schedules and monitors the pipeline, and metadata and versioning make every figure traceable. In this session we zoom into block 4. Stress that an NSO does not need all of these from the start.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complementary, not competing. A lake is cheap and keeps everything raw. A lakehouse adds table semantics — transactions, schema, time travel — so official aggregates are reproducible. A search index trades storage and memory for speed on interactive filters, full text and geography. In practice the Ookla Parquet files stay in the lake, and a curated, enriched subset is indexed for exploration. Then contrast batch and streaming: Ookla is a quarterly batch release; streaming matters for sensors or network events.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previous lab in numbers. Tiles are zoom-level-16 web-Mercator squares, about 610.8 m at the equator. Aggregates start in Q1 2019 and are released quarterly, separately for fixed and mobile, as Parquet (geometry as WKT in EPSG:4326) and Shapefiles. Ookla notes that hundreds of millions of tests are taken each month, which is why they publish tiles rather than raw tests. The volume problem is cumulative: quarters times service types times countries, plus several users wanting interactive answers at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We open the box: the three components, the one data structure that explains why search is fast, a vocabulary bridge from pandas and SQL, and the anatomy of a cluster.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picture left to right. Sources: files, APIs, logs. L — Logstash — is a pipeline engine with inputs, filters and outputs; in our lab, a Python script plays that role. E — Elasticsearch — is a distributed engine built on Apache Lucene that stores JSON documents, indexes every field and answers searches and aggregations. K — Kibana — is the web interface: Discover, Lens, Maps and Dashboards. When Beats, lightweight data shippers, joined the family, Elastic started calling it the Elastic Stack.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of the talk. Instead of reading every document to find matches, Elasticsearch builds, at indexing time, a list of every term and the documents that contain it. A query then becomes set operations on short lists. Walk through the example: "kigali" is in documents 1 and 3, "rural" in 2 and 3; the intersection is document 3. Use the analogy of the index at the back of a statistical yearbook. Numbers and coordinates use a related structure, the BKD tree, which gives the same benefit for ranges and geography. The price: indexing takes time, disk and memory up front.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discipline matters. Most participants know pandas or SQL, so we translate. An index is roughly a table or DataFrame. A document is one row, stored as JSON. A field is a column. The mapping is the schema — and unlike pandas, it cannot be changed for an existing field without reindexing. Queries filter; aggregations group and summarise. Warn about the word "index": in Elasticsearch it names the whole collection, not a database index on one column.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cluster is a group of machines, called nodes. Each index is split into primary shards so data and work can be spread across nodes. Each primary can have replica copies, placed on a different node, which protect against the loss of a machine and also serve searches. In the diagram, index ookla-tiles has three primaries and one replica each; any single node can fail without data loss. On sizing, Elastic documentation says shards between 10 and 50 GB typically work well, with fewer than 200 million documents per shard. For a national Ookla index, one or two primaries is usually plenty — oversharding is the common beginner mistake.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Modelling: from a Parquet row to an enriched JSON document, the mapping that declares its types, the choice between point and shape geometry, and the ways to load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fields exactly as Ookla publishes them. On the right, the document we actually index. We add what the previous lab computed: the quarter and service type (which are only in the file path in the original release), the administrative units from a spatial join with the national boundary file, the WorldPop population summed over the tile, and a centroid for fast mapping. The quadkey is a real zoom-16 tile in Nyarugenge, Kigali; the measurements are illustrative. Enriching before indexing means every later query is simple.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a contract. "dynamic": "strict" makes Elasticsearch reject any document containing an unexpected field, which catches typos early. Keyword fields are exact values used for filters and grouping; codes such as quadkey belong here. Numeric and date fields support ranges and statistics. geo_point and geo_shape enable spatial queries. Explain the quadkey pitfall with a real example: a tile over Dakar has the quadkey 0333…; if any step converts it to a number, the leading zero is lost and the tile no longer matches. The same risk applies to administrative codes with leading zeros.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is compact and fast: ideal for heatmaps, distance queries and grid aggregations. A shape keeps the full 610-metre square, so a tile straddling a district boundary is correctly found by both districts when you ask which tiles intersect them. Our recommendation is to store both. One technical trap: WKT and GeoJSON use longitude first, then latitude, which is the order in the Ookla files. The object form {"lat", "lon"} is explicit and avoids confusion.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ingestion routes. Kibana file upload is the fastest way to try a small CSV or NDJSON file. The Python client with the bulk helper is what we use in Lab 1: it is scriptable, reproducible and sits naturally in the team repository. Logstash suits recurring feeds with parsing logic. Ingest pipelines run processing inside Elasticsearch itself. In the code, point out the deterministic _id built from quadkey, quarter and service type: re-running the script overwrites instead of duplicating, which makes the load idempotent.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Querying: the structure of a search request, the aggregation toolbox, a properly weighted indicator, spatial questions, and the newer piped language ES|QL.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request as a sentence: in the index ookla-tiles, do not return documents (size 0); keep only mobile tiles for 2025-Q2; group them by region; and in each group compute the mean download speed weighted by the number of tests. The filter context is important: it answers yes or no, does not compute relevance scores and can be cached, so it is the right choice for statistical filters. The terms aggregation returns the top 50 buckets here; set size above the number of regions in your country.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Metric aggregations compute a number. Bucket aggregations create groups, including by time and by map tile. Pipeline aggregations work on the output of other aggregations, for example quarter-on-quarter change. The fine print matters to statisticians: cardinality uses HyperLogLog++ and percentiles use TDigest, so both are approximations by design. Terms counts can also carry an error bound when data is spread over several shards. That is acceptable for exploration; for a published figure, check the documented precision or compute the exact value in Python.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with three tiles in one region. A simple mean of tile speeds gives 10 Mbps. Weighting by tests gives 18.7, because the busy urban tile dominates. Weighting by WorldPop population gives 17.0, which answers the policy question: what speed does the average resident experience? The choice of weight changes the number, so it must be documented. The second warning: tiles with no tests have no speed, so their population is silently excluded. Always publish the share of population covered alongside the indicator. In Elasticsearch, this is a weighted_avg with weight field pop_worldpop. These figures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spatial tools. geo_shape with relation intersects finds tiles that touch a region polygon — the backbone of subnational indicators. geo_distance finds tiles within a radius of a point, for example around district hospitals or schools. geotile_grid groups tiles into coarser map cells, which is what Kibana uses for heatmaps. The code shows a useful pattern: the region polygon is stored once in an admin-boundaries index and referenced by id, so the query stays short and the boundary version is controlled.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ES|QL is Elastic's piped query language, generally available since version 8.14 in June 2024. Each line takes the table produced by the previous line and transforms it, which reads like a recipe and feels familiar to users of the R pipe or dplyr. This query computes the tests-weighted mean speed by region, as on the previous slides, but explicitly. Note TO_DOUBLE: dividing two integers would otherwise truncate the result — a classic source of silent error. In Lab 1, write the question both ways and check that the numbers agree.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Kibana: the five tools we use, the Lab 2 workflow step by step, and an evidence-based way to decide between pandas and Elasticsearch.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tour. Dev Tools is a console for sending requests — everything from the previous section runs there. Discover lets you browse and filter documents with KQL, the Kibana Query Language shown at the bottom. Lens builds charts by drag and drop. Maps renders tile polygons and choropleths. Dashboards combine visualisations with shared filters and controls. A data view tells Kibana which index to read and which field holds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for the 60-minute lab. Create a data view on ookla-tiles with quarter_start as the time field. Use Discover to check the data and set a minimum-tests filter. Build the region map from the weighted indicator, then the time series in Lens. Assemble the dashboard with controls for region and quarter. Finally, run the benchmark against pandas and commit everything. Suggested timings are shown; check progress at the half-way mark.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description asks for a practical conclusion about when the added complexity is worth it. Present the decision rules, then insist that each team fills in the measurement table during Lab 2 with its own data: the same three tasks, timed and measured in both tools. For a single country and a single analyst, pandas or DuckDB is often enough. Elasticsearch pays off when data outgrows one machine, many people need interactive access, spatial filters are repeated all day, or data arrives continuously. Do not rely on vendor benchmarks.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Governance: the quality and ethical limits that no index can fix, the deployment options for a statistical office, and the publication standard for this week.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 engine makes weak data look authoritative, so this slide is essential. Ookla data are crowdsourced from people who choose to run tests: not a probability sample, and likely skewed towards urban, connected, app-using populations. Suppress or flag cells with few tests. The CC BY-NC-SA 4.0 licence requires attribution, forbids commercial use and requires derived data to be shared under the same terms — check with your legal team before publishing. Never put confidential microdata on an open cluster: enable authentication, role-based access and encrypted connections. Keep mapping, code and queries in Git, and state limitations explicitly: a proxy is not an official statistic.</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realistic routes, each with consequences for infrastructure and data sovereignty. Self-managed gives full control of where data sits but requires skills for upgrades, security and backups. Managed cloud is fastest to start but raises data residency and recurring cost questions. OpenSearch is the Apache 2.0 fork that AWS created after Elastic's 2021 licence change and later moved to the Linux Foundation; most concepts in this session transfer, but APIs have diverged in places. On licensing: since September 2024 Elastic offers AGPLv3 as an option for the source code of Elasticsearch and Kibana, alongside SSPL and the Elastic License; its default distributions remain under the Elastic License. Check terms with your legal team.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commits its work to a shared GitHub organisation. The suggested structure separates the mapping, the notebooks, the queries in both languages, the Kibana export and the outputs. The README is the most important file: it must state the method, the sources with access dates using Ookla's required attribution, the licences, the limitations and the steps to reproduce. These repositories feed national connectivity statistics and become the basis of each team's country presentation.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talk with one idea per section, in the section colours. Then move to the lab: the cluster is up, the notebooks are in the shared repository, and teams should sit together now.</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cited in the deck. Figures on the weighted-indicator slide and document values are illustrative and labelled as such. The series line refers to the AfDB – Data Innovation for Africa (DI4A) hands-on series.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for a few minutes, then send teams to their tables. Reminder of the three lab checkpoints. Check that every team can reach the cluster and Kibana before starting.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4.png"/><Relationship Id="rId7"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png"/><Relationship Id="rId7"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png"/><Relationship Id="rId7"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73152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AFDB · DATA INNOVATION FOR AFRICA (DI4A)  ·  HANDS-ON SERIES</a:t>
            </a:r>
            <a:endParaRPr lang="en-US" sz="1100" dirty="0"/>
          </a:p>
        </p:txBody>
      </p:sp>
      <p:sp>
        <p:nvSpPr>
          <p:cNvPr id="3" name="Text 1"/>
          <p:cNvSpPr txBox="1"/>
          <p:nvPr/>
        </p:nvSpPr>
        <p:spPr>
          <a:xfrm>
            <a:off x="548640" y="1143000"/>
            <a:ext cx="68580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Engines of Scale</a:t>
            </a:r>
            <a:endParaRPr lang="en-US" sz="4800" dirty="0"/>
          </a:p>
        </p:txBody>
      </p:sp>
      <p:sp>
        <p:nvSpPr>
          <p:cNvPr id="4" name="Text 2"/>
          <p:cNvSpPr txBox="1"/>
          <p:nvPr/>
        </p:nvSpPr>
        <p:spPr>
          <a:xfrm>
            <a:off x="548640" y="1965960"/>
            <a:ext cx="6217920" cy="822960"/>
          </a:xfrm>
          <a:prstGeom prst="rect">
            <a:avLst/>
          </a:prstGeom>
          <a:noFill/>
          <a:ln/>
        </p:spPr>
        <p:txBody>
          <a:bodyPr wrap="square" lIns="0" tIns="0" rIns="0" bIns="0" rtlCol="0" anchor="t"/>
          <a:lstStyle/>
          <a:p>
            <a:pPr marL="0" indent="0">
              <a:buNone/>
            </a:pPr>
            <a:r>
              <a:rPr lang="en-US" sz="2400" b="1" dirty="0">
                <a:solidFill>
                  <a:srgbClr val="FFFFFF"/>
                </a:solidFill>
                <a:latin typeface="Calibri" pitchFamily="34" charset="0"/>
                <a:ea typeface="Calibri" pitchFamily="34" charset="-122"/>
                <a:cs typeface="Calibri" pitchFamily="34" charset="-120"/>
              </a:rPr>
              <a:t>Searching, aggregating and mapping big data with the Elastic Stack (ELK)</a:t>
            </a:r>
            <a:endParaRPr lang="en-US" sz="2400" dirty="0"/>
          </a:p>
        </p:txBody>
      </p:sp>
      <p:sp>
        <p:nvSpPr>
          <p:cNvPr id="5" name="Text 3"/>
          <p:cNvSpPr txBox="1"/>
          <p:nvPr/>
        </p:nvSpPr>
        <p:spPr>
          <a:xfrm>
            <a:off x="548640" y="2834640"/>
            <a:ext cx="585216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From Ookla Speedtest tiles to a population-weighted, subnational connectivity indicator</a:t>
            </a:r>
            <a:endParaRPr lang="en-US" sz="1800" dirty="0"/>
          </a:p>
        </p:txBody>
      </p:sp>
      <p:sp>
        <p:nvSpPr>
          <p:cNvPr id="6" name="Shape 4"/>
          <p:cNvSpPr/>
          <p:nvPr/>
        </p:nvSpPr>
        <p:spPr>
          <a:xfrm>
            <a:off x="548640" y="3703320"/>
            <a:ext cx="9144" cy="548640"/>
          </a:xfrm>
          <a:prstGeom prst="line">
            <a:avLst/>
          </a:prstGeom>
          <a:noFill/>
          <a:ln w="25400">
            <a:solidFill>
              <a:srgbClr val="F5C242"/>
            </a:solidFill>
            <a:prstDash val="solid"/>
          </a:ln>
        </p:spPr>
      </p:sp>
      <p:sp>
        <p:nvSpPr>
          <p:cNvPr id="7" name="Text 5"/>
          <p:cNvSpPr txBox="1"/>
          <p:nvPr/>
        </p:nvSpPr>
        <p:spPr>
          <a:xfrm>
            <a:off x="713232" y="3703320"/>
            <a:ext cx="7315200" cy="54864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Big data tools for official statistics — Innovating the Data Value Chain</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African Development Bank – Data Innovation for Africa (DI4A)</a:t>
            </a:r>
            <a:endParaRPr lang="en-US" sz="11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Why scale matters</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When does a laptop and pandas stop being enough?</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5C242"/>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big data value chain: six building blocks</a:t>
            </a:r>
            <a:endParaRPr lang="en-US" sz="28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6" name="Shape 12"/>
          <p:cNvSpPr/>
          <p:nvPr/>
        </p:nvSpPr>
        <p:spPr>
          <a:xfrm>
            <a:off x="457200" y="1280160"/>
            <a:ext cx="1783080" cy="1874520"/>
          </a:xfrm>
          <a:prstGeom prst="roundRect">
            <a:avLst>
              <a:gd name="adj" fmla="val 4103"/>
            </a:avLst>
          </a:prstGeom>
          <a:solidFill>
            <a:srgbClr val="FFFFFF"/>
          </a:solidFill>
          <a:ln w="12700">
            <a:solidFill>
              <a:srgbClr val="00704A"/>
            </a:solidFill>
            <a:prstDash val="solid"/>
          </a:ln>
        </p:spPr>
      </p:sp>
      <p:sp>
        <p:nvSpPr>
          <p:cNvPr id="17" name="Shape 13"/>
          <p:cNvSpPr/>
          <p:nvPr/>
        </p:nvSpPr>
        <p:spPr>
          <a:xfrm>
            <a:off x="585216" y="1389888"/>
            <a:ext cx="420624" cy="420624"/>
          </a:xfrm>
          <a:prstGeom prst="ellipse">
            <a:avLst/>
          </a:prstGeom>
          <a:solidFill>
            <a:srgbClr val="00704A">
              <a:alpha val="22000"/>
            </a:srgbClr>
          </a:solidFill>
          <a:ln/>
        </p:spPr>
      </p:sp>
      <p:pic>
        <p:nvPicPr>
          <p:cNvPr id="18" name="Image 1" descr="preencoded.png"/>
          <p:cNvPicPr>
            <a:picLocks noChangeAspect="1"/>
          </p:cNvPicPr>
          <p:nvPr/>
        </p:nvPicPr>
        <p:blipFill>
          <a:blip r:embed="rId4"/>
          <a:stretch>
            <a:fillRect/>
          </a:stretch>
        </p:blipFill>
        <p:spPr>
          <a:xfrm>
            <a:off x="694578" y="1499250"/>
            <a:ext cx="201900" cy="201900"/>
          </a:xfrm>
          <a:prstGeom prst="rect">
            <a:avLst/>
          </a:prstGeom>
        </p:spPr>
      </p:pic>
      <p:sp>
        <p:nvSpPr>
          <p:cNvPr id="19" name="Text 14"/>
          <p:cNvSpPr txBox="1"/>
          <p:nvPr/>
        </p:nvSpPr>
        <p:spPr>
          <a:xfrm>
            <a:off x="169164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01</a:t>
            </a:r>
            <a:endParaRPr lang="en-US" sz="1600" dirty="0"/>
          </a:p>
        </p:txBody>
      </p:sp>
      <p:sp>
        <p:nvSpPr>
          <p:cNvPr id="20" name="Text 15"/>
          <p:cNvSpPr txBox="1"/>
          <p:nvPr/>
        </p:nvSpPr>
        <p:spPr>
          <a:xfrm>
            <a:off x="58521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Ingestion</a:t>
            </a:r>
            <a:endParaRPr lang="en-US" sz="1300" dirty="0"/>
          </a:p>
        </p:txBody>
      </p:sp>
      <p:sp>
        <p:nvSpPr>
          <p:cNvPr id="21" name="Text 16"/>
          <p:cNvSpPr txBox="1"/>
          <p:nvPr/>
        </p:nvSpPr>
        <p:spPr>
          <a:xfrm>
            <a:off x="58521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Collect files, APIs and feeds; validate on arrival.</a:t>
            </a:r>
            <a:endParaRPr lang="en-US" sz="1000" dirty="0"/>
          </a:p>
        </p:txBody>
      </p:sp>
      <p:sp>
        <p:nvSpPr>
          <p:cNvPr id="22" name="Text 17"/>
          <p:cNvSpPr txBox="1"/>
          <p:nvPr/>
        </p:nvSpPr>
        <p:spPr>
          <a:xfrm>
            <a:off x="58521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S3 downloads, APIs, Logstash</a:t>
            </a:r>
            <a:endParaRPr lang="en-US" sz="900" dirty="0"/>
          </a:p>
        </p:txBody>
      </p:sp>
      <p:sp>
        <p:nvSpPr>
          <p:cNvPr id="23" name="Shape 18"/>
          <p:cNvSpPr/>
          <p:nvPr/>
        </p:nvSpPr>
        <p:spPr>
          <a:xfrm>
            <a:off x="2286000" y="2212848"/>
            <a:ext cx="274320" cy="0"/>
          </a:xfrm>
          <a:prstGeom prst="line">
            <a:avLst/>
          </a:prstGeom>
          <a:noFill/>
          <a:ln w="15875">
            <a:solidFill>
              <a:srgbClr val="5E6964"/>
            </a:solidFill>
            <a:prstDash val="solid"/>
            <a:tailEnd type="triangle"/>
          </a:ln>
        </p:spPr>
      </p:sp>
      <p:sp>
        <p:nvSpPr>
          <p:cNvPr id="24" name="Shape 19"/>
          <p:cNvSpPr/>
          <p:nvPr/>
        </p:nvSpPr>
        <p:spPr>
          <a:xfrm>
            <a:off x="2606040" y="1280160"/>
            <a:ext cx="1783080" cy="1874520"/>
          </a:xfrm>
          <a:prstGeom prst="roundRect">
            <a:avLst>
              <a:gd name="adj" fmla="val 4103"/>
            </a:avLst>
          </a:prstGeom>
          <a:solidFill>
            <a:srgbClr val="FFFFFF"/>
          </a:solidFill>
          <a:ln w="12700">
            <a:solidFill>
              <a:srgbClr val="00704A"/>
            </a:solidFill>
            <a:prstDash val="solid"/>
          </a:ln>
        </p:spPr>
      </p:sp>
      <p:sp>
        <p:nvSpPr>
          <p:cNvPr id="25" name="Shape 20"/>
          <p:cNvSpPr/>
          <p:nvPr/>
        </p:nvSpPr>
        <p:spPr>
          <a:xfrm>
            <a:off x="2734056" y="1389888"/>
            <a:ext cx="420624" cy="420624"/>
          </a:xfrm>
          <a:prstGeom prst="ellipse">
            <a:avLst/>
          </a:prstGeom>
          <a:solidFill>
            <a:srgbClr val="00704A">
              <a:alpha val="22000"/>
            </a:srgbClr>
          </a:solidFill>
          <a:ln/>
        </p:spPr>
      </p:sp>
      <p:pic>
        <p:nvPicPr>
          <p:cNvPr id="26" name="Image 2" descr="preencoded.png"/>
          <p:cNvPicPr>
            <a:picLocks noChangeAspect="1"/>
          </p:cNvPicPr>
          <p:nvPr/>
        </p:nvPicPr>
        <p:blipFill>
          <a:blip r:embed="rId5"/>
          <a:stretch>
            <a:fillRect/>
          </a:stretch>
        </p:blipFill>
        <p:spPr>
          <a:xfrm>
            <a:off x="2843418" y="1499250"/>
            <a:ext cx="201900" cy="201900"/>
          </a:xfrm>
          <a:prstGeom prst="rect">
            <a:avLst/>
          </a:prstGeom>
        </p:spPr>
      </p:pic>
      <p:sp>
        <p:nvSpPr>
          <p:cNvPr id="27" name="Text 21"/>
          <p:cNvSpPr txBox="1"/>
          <p:nvPr/>
        </p:nvSpPr>
        <p:spPr>
          <a:xfrm>
            <a:off x="384048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02</a:t>
            </a:r>
            <a:endParaRPr lang="en-US" sz="1600" dirty="0"/>
          </a:p>
        </p:txBody>
      </p:sp>
      <p:sp>
        <p:nvSpPr>
          <p:cNvPr id="28" name="Text 22"/>
          <p:cNvSpPr txBox="1"/>
          <p:nvPr/>
        </p:nvSpPr>
        <p:spPr>
          <a:xfrm>
            <a:off x="273405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Storage</a:t>
            </a:r>
            <a:endParaRPr lang="en-US" sz="1300" dirty="0"/>
          </a:p>
        </p:txBody>
      </p:sp>
      <p:sp>
        <p:nvSpPr>
          <p:cNvPr id="29" name="Text 23"/>
          <p:cNvSpPr txBox="1"/>
          <p:nvPr/>
        </p:nvSpPr>
        <p:spPr>
          <a:xfrm>
            <a:off x="273405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Data lake for raw files; lakehouse for governed tables.</a:t>
            </a:r>
            <a:endParaRPr lang="en-US" sz="1000" dirty="0"/>
          </a:p>
        </p:txBody>
      </p:sp>
      <p:sp>
        <p:nvSpPr>
          <p:cNvPr id="30" name="Text 24"/>
          <p:cNvSpPr txBox="1"/>
          <p:nvPr/>
        </p:nvSpPr>
        <p:spPr>
          <a:xfrm>
            <a:off x="273405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Parquet, Delta, Iceberg</a:t>
            </a:r>
            <a:endParaRPr lang="en-US" sz="900" dirty="0"/>
          </a:p>
        </p:txBody>
      </p:sp>
      <p:sp>
        <p:nvSpPr>
          <p:cNvPr id="31" name="Shape 25"/>
          <p:cNvSpPr/>
          <p:nvPr/>
        </p:nvSpPr>
        <p:spPr>
          <a:xfrm>
            <a:off x="4434840" y="2212848"/>
            <a:ext cx="274320" cy="0"/>
          </a:xfrm>
          <a:prstGeom prst="line">
            <a:avLst/>
          </a:prstGeom>
          <a:noFill/>
          <a:ln w="15875">
            <a:solidFill>
              <a:srgbClr val="5E6964"/>
            </a:solidFill>
            <a:prstDash val="solid"/>
            <a:tailEnd type="triangle"/>
          </a:ln>
        </p:spPr>
      </p:sp>
      <p:sp>
        <p:nvSpPr>
          <p:cNvPr id="32" name="Shape 26"/>
          <p:cNvSpPr/>
          <p:nvPr/>
        </p:nvSpPr>
        <p:spPr>
          <a:xfrm>
            <a:off x="4754880" y="1280160"/>
            <a:ext cx="1783080" cy="1874520"/>
          </a:xfrm>
          <a:prstGeom prst="roundRect">
            <a:avLst>
              <a:gd name="adj" fmla="val 4103"/>
            </a:avLst>
          </a:prstGeom>
          <a:solidFill>
            <a:srgbClr val="FFFFFF"/>
          </a:solidFill>
          <a:ln w="12700">
            <a:solidFill>
              <a:srgbClr val="00704A"/>
            </a:solidFill>
            <a:prstDash val="solid"/>
          </a:ln>
        </p:spPr>
      </p:sp>
      <p:sp>
        <p:nvSpPr>
          <p:cNvPr id="33" name="Shape 27"/>
          <p:cNvSpPr/>
          <p:nvPr/>
        </p:nvSpPr>
        <p:spPr>
          <a:xfrm>
            <a:off x="4882896" y="1389888"/>
            <a:ext cx="420624" cy="420624"/>
          </a:xfrm>
          <a:prstGeom prst="ellipse">
            <a:avLst/>
          </a:prstGeom>
          <a:solidFill>
            <a:srgbClr val="00704A">
              <a:alpha val="22000"/>
            </a:srgbClr>
          </a:solidFill>
          <a:ln/>
        </p:spPr>
      </p:sp>
      <p:pic>
        <p:nvPicPr>
          <p:cNvPr id="34" name="Image 3" descr="preencoded.png"/>
          <p:cNvPicPr>
            <a:picLocks noChangeAspect="1"/>
          </p:cNvPicPr>
          <p:nvPr/>
        </p:nvPicPr>
        <p:blipFill>
          <a:blip r:embed="rId6"/>
          <a:stretch>
            <a:fillRect/>
          </a:stretch>
        </p:blipFill>
        <p:spPr>
          <a:xfrm>
            <a:off x="4992258" y="1499250"/>
            <a:ext cx="201900" cy="201900"/>
          </a:xfrm>
          <a:prstGeom prst="rect">
            <a:avLst/>
          </a:prstGeom>
        </p:spPr>
      </p:pic>
      <p:sp>
        <p:nvSpPr>
          <p:cNvPr id="35" name="Text 28"/>
          <p:cNvSpPr txBox="1"/>
          <p:nvPr/>
        </p:nvSpPr>
        <p:spPr>
          <a:xfrm>
            <a:off x="598932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03</a:t>
            </a:r>
            <a:endParaRPr lang="en-US" sz="1600" dirty="0"/>
          </a:p>
        </p:txBody>
      </p:sp>
      <p:sp>
        <p:nvSpPr>
          <p:cNvPr id="36" name="Text 29"/>
          <p:cNvSpPr txBox="1"/>
          <p:nvPr/>
        </p:nvSpPr>
        <p:spPr>
          <a:xfrm>
            <a:off x="488289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Processing</a:t>
            </a:r>
            <a:endParaRPr lang="en-US" sz="1300" dirty="0"/>
          </a:p>
        </p:txBody>
      </p:sp>
      <p:sp>
        <p:nvSpPr>
          <p:cNvPr id="37" name="Text 30"/>
          <p:cNvSpPr txBox="1"/>
          <p:nvPr/>
        </p:nvSpPr>
        <p:spPr>
          <a:xfrm>
            <a:off x="488289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Batch or streaming transformation, spread across machines.</a:t>
            </a:r>
            <a:endParaRPr lang="en-US" sz="1000" dirty="0"/>
          </a:p>
        </p:txBody>
      </p:sp>
      <p:sp>
        <p:nvSpPr>
          <p:cNvPr id="38" name="Text 31"/>
          <p:cNvSpPr txBox="1"/>
          <p:nvPr/>
        </p:nvSpPr>
        <p:spPr>
          <a:xfrm>
            <a:off x="488289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Spark, DuckDB, pandas</a:t>
            </a:r>
            <a:endParaRPr lang="en-US" sz="900" dirty="0"/>
          </a:p>
        </p:txBody>
      </p:sp>
      <p:sp>
        <p:nvSpPr>
          <p:cNvPr id="39" name="Shape 32"/>
          <p:cNvSpPr/>
          <p:nvPr/>
        </p:nvSpPr>
        <p:spPr>
          <a:xfrm>
            <a:off x="6583680" y="2212848"/>
            <a:ext cx="274320" cy="0"/>
          </a:xfrm>
          <a:prstGeom prst="line">
            <a:avLst/>
          </a:prstGeom>
          <a:noFill/>
          <a:ln w="15875">
            <a:solidFill>
              <a:srgbClr val="5E6964"/>
            </a:solidFill>
            <a:prstDash val="solid"/>
            <a:tailEnd type="triangle"/>
          </a:ln>
        </p:spPr>
      </p:sp>
      <p:sp>
        <p:nvSpPr>
          <p:cNvPr id="40" name="Shape 33"/>
          <p:cNvSpPr/>
          <p:nvPr/>
        </p:nvSpPr>
        <p:spPr>
          <a:xfrm>
            <a:off x="6903720" y="1280160"/>
            <a:ext cx="1783080" cy="1874520"/>
          </a:xfrm>
          <a:prstGeom prst="roundRect">
            <a:avLst>
              <a:gd name="adj" fmla="val 4103"/>
            </a:avLst>
          </a:prstGeom>
          <a:solidFill>
            <a:srgbClr val="E8F5EF"/>
          </a:solidFill>
          <a:ln w="19050">
            <a:solidFill>
              <a:srgbClr val="00A86A"/>
            </a:solidFill>
            <a:prstDash val="solid"/>
          </a:ln>
        </p:spPr>
      </p:sp>
      <p:sp>
        <p:nvSpPr>
          <p:cNvPr id="41" name="Shape 34"/>
          <p:cNvSpPr/>
          <p:nvPr/>
        </p:nvSpPr>
        <p:spPr>
          <a:xfrm>
            <a:off x="7031736" y="1389888"/>
            <a:ext cx="420624" cy="420624"/>
          </a:xfrm>
          <a:prstGeom prst="ellipse">
            <a:avLst/>
          </a:prstGeom>
          <a:solidFill>
            <a:srgbClr val="00A86A">
              <a:alpha val="22000"/>
            </a:srgbClr>
          </a:solidFill>
          <a:ln/>
        </p:spPr>
      </p:sp>
      <p:pic>
        <p:nvPicPr>
          <p:cNvPr id="42" name="Image 4" descr="preencoded.png"/>
          <p:cNvPicPr>
            <a:picLocks noChangeAspect="1"/>
          </p:cNvPicPr>
          <p:nvPr/>
        </p:nvPicPr>
        <p:blipFill>
          <a:blip r:embed="rId7"/>
          <a:stretch>
            <a:fillRect/>
          </a:stretch>
        </p:blipFill>
        <p:spPr>
          <a:xfrm>
            <a:off x="7141098" y="1499250"/>
            <a:ext cx="201900" cy="201900"/>
          </a:xfrm>
          <a:prstGeom prst="rect">
            <a:avLst/>
          </a:prstGeom>
        </p:spPr>
      </p:pic>
      <p:sp>
        <p:nvSpPr>
          <p:cNvPr id="43" name="Text 35"/>
          <p:cNvSpPr txBox="1"/>
          <p:nvPr/>
        </p:nvSpPr>
        <p:spPr>
          <a:xfrm>
            <a:off x="8138160" y="1417320"/>
            <a:ext cx="411480" cy="320040"/>
          </a:xfrm>
          <a:prstGeom prst="rect">
            <a:avLst/>
          </a:prstGeom>
          <a:noFill/>
          <a:ln/>
        </p:spPr>
        <p:txBody>
          <a:bodyPr wrap="square" lIns="0" tIns="0" rIns="0" bIns="0" rtlCol="0" anchor="t"/>
          <a:lstStyle/>
          <a:p>
            <a:pPr marL="0" indent="0" algn="r">
              <a:buNone/>
            </a:pPr>
            <a:r>
              <a:rPr lang="en-US" sz="1600" b="1" dirty="0">
                <a:solidFill>
                  <a:srgbClr val="D5DED9"/>
                </a:solidFill>
                <a:latin typeface="Calibri" pitchFamily="34" charset="0"/>
                <a:ea typeface="Calibri" pitchFamily="34" charset="-122"/>
                <a:cs typeface="Calibri" pitchFamily="34" charset="-120"/>
              </a:rPr>
              <a:t>04</a:t>
            </a:r>
            <a:endParaRPr lang="en-US" sz="1600" dirty="0"/>
          </a:p>
        </p:txBody>
      </p:sp>
      <p:sp>
        <p:nvSpPr>
          <p:cNvPr id="44" name="Text 36"/>
          <p:cNvSpPr txBox="1"/>
          <p:nvPr/>
        </p:nvSpPr>
        <p:spPr>
          <a:xfrm>
            <a:off x="7031736" y="1874520"/>
            <a:ext cx="15544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Indexing &amp; search</a:t>
            </a:r>
            <a:endParaRPr lang="en-US" sz="1300" dirty="0"/>
          </a:p>
        </p:txBody>
      </p:sp>
      <p:sp>
        <p:nvSpPr>
          <p:cNvPr id="45" name="Text 37"/>
          <p:cNvSpPr txBox="1"/>
          <p:nvPr/>
        </p:nvSpPr>
        <p:spPr>
          <a:xfrm>
            <a:off x="7031736" y="2157984"/>
            <a:ext cx="1554480" cy="5486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Pre-computed structures that answer filters in milliseconds.</a:t>
            </a:r>
            <a:endParaRPr lang="en-US" sz="1000" dirty="0"/>
          </a:p>
        </p:txBody>
      </p:sp>
      <p:sp>
        <p:nvSpPr>
          <p:cNvPr id="46" name="Text 38"/>
          <p:cNvSpPr txBox="1"/>
          <p:nvPr/>
        </p:nvSpPr>
        <p:spPr>
          <a:xfrm>
            <a:off x="7031736" y="2743200"/>
            <a:ext cx="1554480" cy="320040"/>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Elasticsearch, OpenSearch</a:t>
            </a:r>
            <a:endParaRPr lang="en-US" sz="900" dirty="0"/>
          </a:p>
        </p:txBody>
      </p:sp>
      <p:sp>
        <p:nvSpPr>
          <p:cNvPr id="47" name="Shape 39"/>
          <p:cNvSpPr/>
          <p:nvPr/>
        </p:nvSpPr>
        <p:spPr>
          <a:xfrm>
            <a:off x="7434072" y="979965"/>
            <a:ext cx="731520" cy="237744"/>
          </a:xfrm>
          <a:prstGeom prst="roundRect">
            <a:avLst>
              <a:gd name="adj" fmla="val 50000"/>
            </a:avLst>
          </a:prstGeom>
          <a:solidFill>
            <a:srgbClr val="F5C242">
              <a:alpha val="15000"/>
            </a:srgbClr>
          </a:solidFill>
          <a:ln w="9525">
            <a:solidFill>
              <a:srgbClr val="F5C242"/>
            </a:solidFill>
            <a:prstDash val="solid"/>
          </a:ln>
        </p:spPr>
      </p:sp>
      <p:sp>
        <p:nvSpPr>
          <p:cNvPr id="48" name="Text 40"/>
          <p:cNvSpPr txBox="1"/>
          <p:nvPr/>
        </p:nvSpPr>
        <p:spPr>
          <a:xfrm>
            <a:off x="7406640" y="1006359"/>
            <a:ext cx="73152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IN FOCUS</a:t>
            </a:r>
            <a:endParaRPr lang="en-US" sz="950" dirty="0"/>
          </a:p>
        </p:txBody>
      </p:sp>
      <p:sp>
        <p:nvSpPr>
          <p:cNvPr id="49" name="Text 41"/>
          <p:cNvSpPr txBox="1"/>
          <p:nvPr/>
        </p:nvSpPr>
        <p:spPr>
          <a:xfrm>
            <a:off x="457200" y="3291840"/>
            <a:ext cx="27432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CROSS-CUTTING</a:t>
            </a:r>
            <a:endParaRPr lang="en-US" sz="900" dirty="0"/>
          </a:p>
        </p:txBody>
      </p:sp>
      <p:sp>
        <p:nvSpPr>
          <p:cNvPr id="50" name="Shape 42"/>
          <p:cNvSpPr/>
          <p:nvPr/>
        </p:nvSpPr>
        <p:spPr>
          <a:xfrm>
            <a:off x="457200" y="3520440"/>
            <a:ext cx="8229600" cy="457200"/>
          </a:xfrm>
          <a:prstGeom prst="roundRect">
            <a:avLst>
              <a:gd name="adj" fmla="val 16000"/>
            </a:avLst>
          </a:prstGeom>
          <a:solidFill>
            <a:srgbClr val="F4F7F5"/>
          </a:solidFill>
          <a:ln w="9525">
            <a:solidFill>
              <a:srgbClr val="D5DED9"/>
            </a:solidFill>
            <a:prstDash val="solid"/>
          </a:ln>
        </p:spPr>
      </p:sp>
      <p:sp>
        <p:nvSpPr>
          <p:cNvPr id="51" name="Shape 43"/>
          <p:cNvSpPr/>
          <p:nvPr/>
        </p:nvSpPr>
        <p:spPr>
          <a:xfrm>
            <a:off x="566928" y="3584448"/>
            <a:ext cx="329184" cy="329184"/>
          </a:xfrm>
          <a:prstGeom prst="ellipse">
            <a:avLst/>
          </a:prstGeom>
          <a:solidFill>
            <a:srgbClr val="0E7C86">
              <a:alpha val="22000"/>
            </a:srgbClr>
          </a:solidFill>
          <a:ln/>
        </p:spPr>
      </p:sp>
      <p:pic>
        <p:nvPicPr>
          <p:cNvPr id="52" name="Image 5" descr="preencoded.png"/>
          <p:cNvPicPr>
            <a:picLocks noChangeAspect="1"/>
          </p:cNvPicPr>
          <p:nvPr/>
        </p:nvPicPr>
        <p:blipFill>
          <a:blip r:embed="rId8"/>
          <a:stretch>
            <a:fillRect/>
          </a:stretch>
        </p:blipFill>
        <p:spPr>
          <a:xfrm>
            <a:off x="652516" y="3670036"/>
            <a:ext cx="158008" cy="158008"/>
          </a:xfrm>
          <a:prstGeom prst="rect">
            <a:avLst/>
          </a:prstGeom>
        </p:spPr>
      </p:pic>
      <p:sp>
        <p:nvSpPr>
          <p:cNvPr id="53" name="Text 44"/>
          <p:cNvSpPr txBox="1"/>
          <p:nvPr/>
        </p:nvSpPr>
        <p:spPr>
          <a:xfrm>
            <a:off x="1024128" y="3520440"/>
            <a:ext cx="192024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Orchestration</a:t>
            </a:r>
            <a:endParaRPr lang="en-US" sz="1200" dirty="0"/>
          </a:p>
        </p:txBody>
      </p:sp>
      <p:sp>
        <p:nvSpPr>
          <p:cNvPr id="54" name="Text 45"/>
          <p:cNvSpPr txBox="1"/>
          <p:nvPr/>
        </p:nvSpPr>
        <p:spPr>
          <a:xfrm>
            <a:off x="2926080" y="3520440"/>
            <a:ext cx="5577840" cy="45720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Schedules, retries and monitoring — the quarterly Ookla refresh runs itself (e.g. Airflow, cron).</a:t>
            </a:r>
            <a:endParaRPr lang="en-US" sz="1050" dirty="0"/>
          </a:p>
        </p:txBody>
      </p:sp>
      <p:sp>
        <p:nvSpPr>
          <p:cNvPr id="55" name="Shape 46"/>
          <p:cNvSpPr/>
          <p:nvPr/>
        </p:nvSpPr>
        <p:spPr>
          <a:xfrm>
            <a:off x="457200" y="4069080"/>
            <a:ext cx="8229600" cy="457200"/>
          </a:xfrm>
          <a:prstGeom prst="roundRect">
            <a:avLst>
              <a:gd name="adj" fmla="val 16000"/>
            </a:avLst>
          </a:prstGeom>
          <a:solidFill>
            <a:srgbClr val="F4F7F5"/>
          </a:solidFill>
          <a:ln w="9525">
            <a:solidFill>
              <a:srgbClr val="D5DED9"/>
            </a:solidFill>
            <a:prstDash val="solid"/>
          </a:ln>
        </p:spPr>
      </p:sp>
      <p:sp>
        <p:nvSpPr>
          <p:cNvPr id="56" name="Shape 47"/>
          <p:cNvSpPr/>
          <p:nvPr/>
        </p:nvSpPr>
        <p:spPr>
          <a:xfrm>
            <a:off x="566928" y="4133088"/>
            <a:ext cx="329184" cy="329184"/>
          </a:xfrm>
          <a:prstGeom prst="ellipse">
            <a:avLst/>
          </a:prstGeom>
          <a:solidFill>
            <a:srgbClr val="0E7C86">
              <a:alpha val="22000"/>
            </a:srgbClr>
          </a:solidFill>
          <a:ln/>
        </p:spPr>
      </p:sp>
      <p:pic>
        <p:nvPicPr>
          <p:cNvPr id="57" name="Image 6" descr="preencoded.png"/>
          <p:cNvPicPr>
            <a:picLocks noChangeAspect="1"/>
          </p:cNvPicPr>
          <p:nvPr/>
        </p:nvPicPr>
        <p:blipFill>
          <a:blip r:embed="rId9"/>
          <a:stretch>
            <a:fillRect/>
          </a:stretch>
        </p:blipFill>
        <p:spPr>
          <a:xfrm>
            <a:off x="652516" y="4218676"/>
            <a:ext cx="158008" cy="158008"/>
          </a:xfrm>
          <a:prstGeom prst="rect">
            <a:avLst/>
          </a:prstGeom>
        </p:spPr>
      </p:pic>
      <p:sp>
        <p:nvSpPr>
          <p:cNvPr id="58" name="Text 48"/>
          <p:cNvSpPr txBox="1"/>
          <p:nvPr/>
        </p:nvSpPr>
        <p:spPr>
          <a:xfrm>
            <a:off x="1024128" y="4069080"/>
            <a:ext cx="192024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Metadata &amp; versioning</a:t>
            </a:r>
            <a:endParaRPr lang="en-US" sz="1200" dirty="0"/>
          </a:p>
        </p:txBody>
      </p:sp>
      <p:sp>
        <p:nvSpPr>
          <p:cNvPr id="59" name="Text 49"/>
          <p:cNvSpPr txBox="1"/>
          <p:nvPr/>
        </p:nvSpPr>
        <p:spPr>
          <a:xfrm>
            <a:off x="2926080" y="4069080"/>
            <a:ext cx="5577840" cy="457200"/>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Which file, which code, which mapping produced this figure? Catalogues, Git and data versioning.</a:t>
            </a:r>
            <a:endParaRPr lang="en-US"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Lake, lakehouse or search index: which does what?</a:t>
            </a:r>
            <a:endParaRPr lang="en-US"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6" name="Shape 12"/>
          <p:cNvSpPr/>
          <p:nvPr/>
        </p:nvSpPr>
        <p:spPr>
          <a:xfrm>
            <a:off x="457200" y="1261872"/>
            <a:ext cx="2560320" cy="2395728"/>
          </a:xfrm>
          <a:prstGeom prst="roundRect">
            <a:avLst>
              <a:gd name="adj" fmla="val 3053"/>
            </a:avLst>
          </a:prstGeom>
          <a:solidFill>
            <a:srgbClr val="F4F7F5"/>
          </a:solidFill>
          <a:ln w="9525">
            <a:solidFill>
              <a:srgbClr val="D5DED9"/>
            </a:solidFill>
            <a:prstDash val="solid"/>
          </a:ln>
        </p:spPr>
      </p:sp>
      <p:sp>
        <p:nvSpPr>
          <p:cNvPr id="17" name="Shape 13"/>
          <p:cNvSpPr/>
          <p:nvPr/>
        </p:nvSpPr>
        <p:spPr>
          <a:xfrm>
            <a:off x="621792" y="1389888"/>
            <a:ext cx="457200" cy="457200"/>
          </a:xfrm>
          <a:prstGeom prst="ellipse">
            <a:avLst/>
          </a:prstGeom>
          <a:solidFill>
            <a:srgbClr val="0E7C86">
              <a:alpha val="22000"/>
            </a:srgbClr>
          </a:solidFill>
          <a:ln/>
        </p:spPr>
      </p:sp>
      <p:pic>
        <p:nvPicPr>
          <p:cNvPr id="18" name="Image 1" descr="preencoded.png"/>
          <p:cNvPicPr>
            <a:picLocks noChangeAspect="1"/>
          </p:cNvPicPr>
          <p:nvPr/>
        </p:nvPicPr>
        <p:blipFill>
          <a:blip r:embed="rId4"/>
          <a:stretch>
            <a:fillRect/>
          </a:stretch>
        </p:blipFill>
        <p:spPr>
          <a:xfrm>
            <a:off x="740664" y="1508760"/>
            <a:ext cx="219456" cy="219456"/>
          </a:xfrm>
          <a:prstGeom prst="rect">
            <a:avLst/>
          </a:prstGeom>
        </p:spPr>
      </p:pic>
      <p:sp>
        <p:nvSpPr>
          <p:cNvPr id="19" name="Text 14"/>
          <p:cNvSpPr txBox="1"/>
          <p:nvPr/>
        </p:nvSpPr>
        <p:spPr>
          <a:xfrm>
            <a:off x="118872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Data lake</a:t>
            </a:r>
            <a:endParaRPr lang="en-US" sz="1500" dirty="0"/>
          </a:p>
        </p:txBody>
      </p:sp>
      <p:sp>
        <p:nvSpPr>
          <p:cNvPr id="20" name="Text 15"/>
          <p:cNvSpPr txBox="1"/>
          <p:nvPr/>
        </p:nvSpPr>
        <p:spPr>
          <a:xfrm>
            <a:off x="621792" y="1965960"/>
            <a:ext cx="2240280" cy="411480"/>
          </a:xfrm>
          <a:prstGeom prst="rect">
            <a:avLst/>
          </a:prstGeom>
          <a:noFill/>
          <a:ln/>
        </p:spPr>
        <p:txBody>
          <a:bodyPr wrap="square" lIns="0" tIns="0" rIns="0" bIns="0" rtlCol="0" anchor="t"/>
          <a:lstStyle/>
          <a:p>
            <a:pPr marL="0" indent="0">
              <a:buNone/>
            </a:pPr>
            <a:r>
              <a:rPr lang="en-US" sz="1100" b="1" i="1" dirty="0">
                <a:solidFill>
                  <a:srgbClr val="0E7C86"/>
                </a:solidFill>
                <a:latin typeface="Calibri" pitchFamily="34" charset="0"/>
                <a:ea typeface="Calibri" pitchFamily="34" charset="-122"/>
                <a:cs typeface="Calibri" pitchFamily="34" charset="-120"/>
              </a:rPr>
              <a:t>Answers: Where is the raw file?</a:t>
            </a:r>
            <a:endParaRPr lang="en-US" sz="1100" dirty="0"/>
          </a:p>
        </p:txBody>
      </p:sp>
      <p:sp>
        <p:nvSpPr>
          <p:cNvPr id="21" name="Text 16"/>
          <p:cNvSpPr txBox="1"/>
          <p:nvPr/>
        </p:nvSpPr>
        <p:spPr>
          <a:xfrm>
            <a:off x="62179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Files on object storage (Parquet, CSV, rasters)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Schema-on-read, very low cost</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Keeps the untouched source for audit</a:t>
            </a:r>
            <a:endParaRPr lang="en-US" sz="1050" dirty="0"/>
          </a:p>
        </p:txBody>
      </p:sp>
      <p:sp>
        <p:nvSpPr>
          <p:cNvPr id="22" name="Shape 17"/>
          <p:cNvSpPr/>
          <p:nvPr/>
        </p:nvSpPr>
        <p:spPr>
          <a:xfrm>
            <a:off x="3291840" y="1261872"/>
            <a:ext cx="2560320" cy="2395728"/>
          </a:xfrm>
          <a:prstGeom prst="roundRect">
            <a:avLst>
              <a:gd name="adj" fmla="val 3053"/>
            </a:avLst>
          </a:prstGeom>
          <a:solidFill>
            <a:srgbClr val="F4F7F5"/>
          </a:solidFill>
          <a:ln w="9525">
            <a:solidFill>
              <a:srgbClr val="D5DED9"/>
            </a:solidFill>
            <a:prstDash val="solid"/>
          </a:ln>
        </p:spPr>
      </p:sp>
      <p:sp>
        <p:nvSpPr>
          <p:cNvPr id="23" name="Shape 18"/>
          <p:cNvSpPr/>
          <p:nvPr/>
        </p:nvSpPr>
        <p:spPr>
          <a:xfrm>
            <a:off x="3456432" y="1389888"/>
            <a:ext cx="457200" cy="457200"/>
          </a:xfrm>
          <a:prstGeom prst="ellipse">
            <a:avLst/>
          </a:prstGeom>
          <a:solidFill>
            <a:srgbClr val="00704A">
              <a:alpha val="22000"/>
            </a:srgbClr>
          </a:solidFill>
          <a:ln/>
        </p:spPr>
      </p:sp>
      <p:pic>
        <p:nvPicPr>
          <p:cNvPr id="24" name="Image 2" descr="preencoded.png"/>
          <p:cNvPicPr>
            <a:picLocks noChangeAspect="1"/>
          </p:cNvPicPr>
          <p:nvPr/>
        </p:nvPicPr>
        <p:blipFill>
          <a:blip r:embed="rId5"/>
          <a:stretch>
            <a:fillRect/>
          </a:stretch>
        </p:blipFill>
        <p:spPr>
          <a:xfrm>
            <a:off x="3575304" y="1508760"/>
            <a:ext cx="219456" cy="219456"/>
          </a:xfrm>
          <a:prstGeom prst="rect">
            <a:avLst/>
          </a:prstGeom>
        </p:spPr>
      </p:pic>
      <p:sp>
        <p:nvSpPr>
          <p:cNvPr id="25" name="Text 19"/>
          <p:cNvSpPr txBox="1"/>
          <p:nvPr/>
        </p:nvSpPr>
        <p:spPr>
          <a:xfrm>
            <a:off x="402336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Lakehouse</a:t>
            </a:r>
            <a:endParaRPr lang="en-US" sz="1500" dirty="0"/>
          </a:p>
        </p:txBody>
      </p:sp>
      <p:sp>
        <p:nvSpPr>
          <p:cNvPr id="26" name="Text 20"/>
          <p:cNvSpPr txBox="1"/>
          <p:nvPr/>
        </p:nvSpPr>
        <p:spPr>
          <a:xfrm>
            <a:off x="3456432" y="1965960"/>
            <a:ext cx="2240280" cy="411480"/>
          </a:xfrm>
          <a:prstGeom prst="rect">
            <a:avLst/>
          </a:prstGeom>
          <a:noFill/>
          <a:ln/>
        </p:spPr>
        <p:txBody>
          <a:bodyPr wrap="square" lIns="0" tIns="0" rIns="0" bIns="0" rtlCol="0" anchor="t"/>
          <a:lstStyle/>
          <a:p>
            <a:pPr marL="0" indent="0">
              <a:buNone/>
            </a:pPr>
            <a:r>
              <a:rPr lang="en-US" sz="1100" b="1" i="1" dirty="0">
                <a:solidFill>
                  <a:srgbClr val="00704A"/>
                </a:solidFill>
                <a:latin typeface="Calibri" pitchFamily="34" charset="0"/>
                <a:ea typeface="Calibri" pitchFamily="34" charset="-122"/>
                <a:cs typeface="Calibri" pitchFamily="34" charset="-120"/>
              </a:rPr>
              <a:t>Answers: What is the official aggregate?</a:t>
            </a:r>
            <a:endParaRPr lang="en-US" sz="1100" dirty="0"/>
          </a:p>
        </p:txBody>
      </p:sp>
      <p:sp>
        <p:nvSpPr>
          <p:cNvPr id="27" name="Text 21"/>
          <p:cNvSpPr txBox="1"/>
          <p:nvPr/>
        </p:nvSpPr>
        <p:spPr>
          <a:xfrm>
            <a:off x="345643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Tables on the lake (Delta Lake, Apache Iceberg)</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SQL, transactions and time travel</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Reproducible production of statistics</a:t>
            </a:r>
            <a:endParaRPr lang="en-US" sz="1050" dirty="0"/>
          </a:p>
        </p:txBody>
      </p:sp>
      <p:sp>
        <p:nvSpPr>
          <p:cNvPr id="28" name="Shape 22"/>
          <p:cNvSpPr/>
          <p:nvPr/>
        </p:nvSpPr>
        <p:spPr>
          <a:xfrm>
            <a:off x="6126480" y="1261872"/>
            <a:ext cx="2560320" cy="2395728"/>
          </a:xfrm>
          <a:prstGeom prst="roundRect">
            <a:avLst>
              <a:gd name="adj" fmla="val 3053"/>
            </a:avLst>
          </a:prstGeom>
          <a:solidFill>
            <a:srgbClr val="E8F5EF"/>
          </a:solidFill>
          <a:ln w="15875">
            <a:solidFill>
              <a:srgbClr val="00A86A"/>
            </a:solidFill>
            <a:prstDash val="solid"/>
          </a:ln>
        </p:spPr>
      </p:sp>
      <p:sp>
        <p:nvSpPr>
          <p:cNvPr id="29" name="Shape 23"/>
          <p:cNvSpPr/>
          <p:nvPr/>
        </p:nvSpPr>
        <p:spPr>
          <a:xfrm>
            <a:off x="6291072" y="1389888"/>
            <a:ext cx="457200" cy="457200"/>
          </a:xfrm>
          <a:prstGeom prst="ellipse">
            <a:avLst/>
          </a:prstGeom>
          <a:solidFill>
            <a:srgbClr val="00A86A">
              <a:alpha val="22000"/>
            </a:srgbClr>
          </a:solidFill>
          <a:ln/>
        </p:spPr>
      </p:sp>
      <p:pic>
        <p:nvPicPr>
          <p:cNvPr id="30" name="Image 3" descr="preencoded.png"/>
          <p:cNvPicPr>
            <a:picLocks noChangeAspect="1"/>
          </p:cNvPicPr>
          <p:nvPr/>
        </p:nvPicPr>
        <p:blipFill>
          <a:blip r:embed="rId6"/>
          <a:stretch>
            <a:fillRect/>
          </a:stretch>
        </p:blipFill>
        <p:spPr>
          <a:xfrm>
            <a:off x="6409944" y="1508760"/>
            <a:ext cx="219456" cy="219456"/>
          </a:xfrm>
          <a:prstGeom prst="rect">
            <a:avLst/>
          </a:prstGeom>
        </p:spPr>
      </p:pic>
      <p:sp>
        <p:nvSpPr>
          <p:cNvPr id="31" name="Text 24"/>
          <p:cNvSpPr txBox="1"/>
          <p:nvPr/>
        </p:nvSpPr>
        <p:spPr>
          <a:xfrm>
            <a:off x="6858000" y="1389888"/>
            <a:ext cx="173736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Search index</a:t>
            </a:r>
            <a:endParaRPr lang="en-US" sz="1500" dirty="0"/>
          </a:p>
        </p:txBody>
      </p:sp>
      <p:sp>
        <p:nvSpPr>
          <p:cNvPr id="32" name="Text 25"/>
          <p:cNvSpPr txBox="1"/>
          <p:nvPr/>
        </p:nvSpPr>
        <p:spPr>
          <a:xfrm>
            <a:off x="6291072" y="1965960"/>
            <a:ext cx="2240280" cy="411480"/>
          </a:xfrm>
          <a:prstGeom prst="rect">
            <a:avLst/>
          </a:prstGeom>
          <a:noFill/>
          <a:ln/>
        </p:spPr>
        <p:txBody>
          <a:bodyPr wrap="square" lIns="0" tIns="0" rIns="0" bIns="0" rtlCol="0" anchor="t"/>
          <a:lstStyle/>
          <a:p>
            <a:pPr marL="0" indent="0">
              <a:buNone/>
            </a:pPr>
            <a:r>
              <a:rPr lang="en-US" sz="1100" b="1" i="1" dirty="0">
                <a:solidFill>
                  <a:srgbClr val="00A86A"/>
                </a:solidFill>
                <a:latin typeface="Calibri" pitchFamily="34" charset="0"/>
                <a:ea typeface="Calibri" pitchFamily="34" charset="-122"/>
                <a:cs typeface="Calibri" pitchFamily="34" charset="-120"/>
              </a:rPr>
              <a:t>Answers: What does this slice look like, now?</a:t>
            </a:r>
            <a:endParaRPr lang="en-US" sz="1100" dirty="0"/>
          </a:p>
        </p:txBody>
      </p:sp>
      <p:sp>
        <p:nvSpPr>
          <p:cNvPr id="33" name="Text 26"/>
          <p:cNvSpPr txBox="1"/>
          <p:nvPr/>
        </p:nvSpPr>
        <p:spPr>
          <a:xfrm>
            <a:off x="6291072" y="2395728"/>
            <a:ext cx="2258568" cy="1188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Elasticsearch / OpenSearch</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Inverted index and BKD trees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Sub-second filters, text, geo, dashboards</a:t>
            </a:r>
            <a:endParaRPr lang="en-US" sz="1050" dirty="0"/>
          </a:p>
        </p:txBody>
      </p:sp>
      <p:sp>
        <p:nvSpPr>
          <p:cNvPr id="34" name="Shape 27"/>
          <p:cNvSpPr/>
          <p:nvPr/>
        </p:nvSpPr>
        <p:spPr>
          <a:xfrm>
            <a:off x="457200" y="3822192"/>
            <a:ext cx="4023360" cy="731520"/>
          </a:xfrm>
          <a:prstGeom prst="roundRect">
            <a:avLst>
              <a:gd name="adj" fmla="val 10000"/>
            </a:avLst>
          </a:prstGeom>
          <a:solidFill>
            <a:srgbClr val="F4F7F5"/>
          </a:solidFill>
          <a:ln w="9525">
            <a:solidFill>
              <a:srgbClr val="D5DED9"/>
            </a:solidFill>
            <a:prstDash val="solid"/>
          </a:ln>
        </p:spPr>
      </p:sp>
      <p:sp>
        <p:nvSpPr>
          <p:cNvPr id="35" name="Shape 28"/>
          <p:cNvSpPr/>
          <p:nvPr/>
        </p:nvSpPr>
        <p:spPr>
          <a:xfrm>
            <a:off x="594360" y="3986784"/>
            <a:ext cx="402336" cy="402336"/>
          </a:xfrm>
          <a:prstGeom prst="ellipse">
            <a:avLst/>
          </a:prstGeom>
          <a:solidFill>
            <a:srgbClr val="D49A00">
              <a:alpha val="22000"/>
            </a:srgbClr>
          </a:solidFill>
          <a:ln/>
        </p:spPr>
      </p:sp>
      <p:pic>
        <p:nvPicPr>
          <p:cNvPr id="36" name="Image 4" descr="preencoded.png"/>
          <p:cNvPicPr>
            <a:picLocks noChangeAspect="1"/>
          </p:cNvPicPr>
          <p:nvPr/>
        </p:nvPicPr>
        <p:blipFill>
          <a:blip r:embed="rId7"/>
          <a:stretch>
            <a:fillRect/>
          </a:stretch>
        </p:blipFill>
        <p:spPr>
          <a:xfrm>
            <a:off x="698967" y="4091391"/>
            <a:ext cx="193121" cy="193121"/>
          </a:xfrm>
          <a:prstGeom prst="rect">
            <a:avLst/>
          </a:prstGeom>
        </p:spPr>
      </p:pic>
      <p:sp>
        <p:nvSpPr>
          <p:cNvPr id="37" name="Text 29"/>
          <p:cNvSpPr txBox="1"/>
          <p:nvPr/>
        </p:nvSpPr>
        <p:spPr>
          <a:xfrm>
            <a:off x="1115568" y="3895344"/>
            <a:ext cx="32004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Batch</a:t>
            </a:r>
            <a:endParaRPr lang="en-US" sz="1200" dirty="0"/>
          </a:p>
        </p:txBody>
      </p:sp>
      <p:sp>
        <p:nvSpPr>
          <p:cNvPr id="38" name="Text 30"/>
          <p:cNvSpPr txBox="1"/>
          <p:nvPr/>
        </p:nvSpPr>
        <p:spPr>
          <a:xfrm>
            <a:off x="1115568" y="4123944"/>
            <a:ext cx="324612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 a bounded dataset at intervals — e.g. each quarterly Ookla release.</a:t>
            </a:r>
            <a:endParaRPr lang="en-US" sz="1000" dirty="0"/>
          </a:p>
        </p:txBody>
      </p:sp>
      <p:sp>
        <p:nvSpPr>
          <p:cNvPr id="39" name="Shape 31"/>
          <p:cNvSpPr/>
          <p:nvPr/>
        </p:nvSpPr>
        <p:spPr>
          <a:xfrm>
            <a:off x="4663440" y="3822192"/>
            <a:ext cx="4023360" cy="731520"/>
          </a:xfrm>
          <a:prstGeom prst="roundRect">
            <a:avLst>
              <a:gd name="adj" fmla="val 10000"/>
            </a:avLst>
          </a:prstGeom>
          <a:solidFill>
            <a:srgbClr val="F4F7F5"/>
          </a:solidFill>
          <a:ln w="9525">
            <a:solidFill>
              <a:srgbClr val="D5DED9"/>
            </a:solidFill>
            <a:prstDash val="solid"/>
          </a:ln>
        </p:spPr>
      </p:sp>
      <p:sp>
        <p:nvSpPr>
          <p:cNvPr id="40" name="Shape 32"/>
          <p:cNvSpPr/>
          <p:nvPr/>
        </p:nvSpPr>
        <p:spPr>
          <a:xfrm>
            <a:off x="4800600" y="3986784"/>
            <a:ext cx="402336" cy="402336"/>
          </a:xfrm>
          <a:prstGeom prst="ellipse">
            <a:avLst/>
          </a:prstGeom>
          <a:solidFill>
            <a:srgbClr val="D49A00">
              <a:alpha val="22000"/>
            </a:srgbClr>
          </a:solidFill>
          <a:ln/>
        </p:spPr>
      </p:sp>
      <p:pic>
        <p:nvPicPr>
          <p:cNvPr id="41" name="Image 5" descr="preencoded.png"/>
          <p:cNvPicPr>
            <a:picLocks noChangeAspect="1"/>
          </p:cNvPicPr>
          <p:nvPr/>
        </p:nvPicPr>
        <p:blipFill>
          <a:blip r:embed="rId8"/>
          <a:stretch>
            <a:fillRect/>
          </a:stretch>
        </p:blipFill>
        <p:spPr>
          <a:xfrm>
            <a:off x="4905207" y="4091391"/>
            <a:ext cx="193121" cy="193121"/>
          </a:xfrm>
          <a:prstGeom prst="rect">
            <a:avLst/>
          </a:prstGeom>
        </p:spPr>
      </p:pic>
      <p:sp>
        <p:nvSpPr>
          <p:cNvPr id="42" name="Text 33"/>
          <p:cNvSpPr txBox="1"/>
          <p:nvPr/>
        </p:nvSpPr>
        <p:spPr>
          <a:xfrm>
            <a:off x="5321808" y="3895344"/>
            <a:ext cx="320040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Streaming</a:t>
            </a:r>
            <a:endParaRPr lang="en-US" sz="1200" dirty="0"/>
          </a:p>
        </p:txBody>
      </p:sp>
      <p:sp>
        <p:nvSpPr>
          <p:cNvPr id="43" name="Text 34"/>
          <p:cNvSpPr txBox="1"/>
          <p:nvPr/>
        </p:nvSpPr>
        <p:spPr>
          <a:xfrm>
            <a:off x="5321808" y="4123944"/>
            <a:ext cx="324612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 unbounded events as they arrive — e.g. sensors, network or transaction feeds.</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WHY SCALE MATTERS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Ookla case: why this dataset tests your tools</a:t>
            </a:r>
            <a:endParaRPr lang="en-US" sz="2400" dirty="0"/>
          </a:p>
        </p:txBody>
      </p:sp>
      <p:sp>
        <p:nvSpPr>
          <p:cNvPr id="7" name="Shape 4"/>
          <p:cNvSpPr/>
          <p:nvPr/>
        </p:nvSpPr>
        <p:spPr>
          <a:xfrm>
            <a:off x="7973568" y="288036"/>
            <a:ext cx="91440" cy="91440"/>
          </a:xfrm>
          <a:prstGeom prst="ellipse">
            <a:avLst/>
          </a:prstGeom>
          <a:solidFill>
            <a:srgbClr val="00A86A"/>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6" name="Shape 12"/>
          <p:cNvSpPr/>
          <p:nvPr/>
        </p:nvSpPr>
        <p:spPr>
          <a:xfrm>
            <a:off x="457200" y="1261872"/>
            <a:ext cx="2560320" cy="1143000"/>
          </a:xfrm>
          <a:prstGeom prst="roundRect">
            <a:avLst>
              <a:gd name="adj" fmla="val 6400"/>
            </a:avLst>
          </a:prstGeom>
          <a:solidFill>
            <a:srgbClr val="F4F7F5"/>
          </a:solidFill>
          <a:ln w="9525">
            <a:solidFill>
              <a:srgbClr val="D5DED9"/>
            </a:solidFill>
            <a:prstDash val="solid"/>
          </a:ln>
        </p:spPr>
      </p:sp>
      <p:sp>
        <p:nvSpPr>
          <p:cNvPr id="17" name="Text 13"/>
          <p:cNvSpPr txBox="1"/>
          <p:nvPr/>
        </p:nvSpPr>
        <p:spPr>
          <a:xfrm>
            <a:off x="640080" y="1325880"/>
            <a:ext cx="2194560" cy="566928"/>
          </a:xfrm>
          <a:prstGeom prst="rect">
            <a:avLst/>
          </a:prstGeom>
          <a:noFill/>
          <a:ln/>
        </p:spPr>
        <p:txBody>
          <a:bodyPr wrap="square" lIns="0" tIns="0" rIns="0" bIns="0" rtlCol="0" anchor="ctr"/>
          <a:lstStyle/>
          <a:p>
            <a:pPr marL="0" indent="0">
              <a:buNone/>
            </a:pPr>
            <a:r>
              <a:rPr lang="en-US" sz="3600" b="1" dirty="0">
                <a:solidFill>
                  <a:srgbClr val="00A86A"/>
                </a:solidFill>
                <a:latin typeface="Calibri" pitchFamily="34" charset="0"/>
                <a:ea typeface="Calibri" pitchFamily="34" charset="-122"/>
                <a:cs typeface="Calibri" pitchFamily="34" charset="-120"/>
              </a:rPr>
              <a:t>610.8 m</a:t>
            </a:r>
            <a:endParaRPr lang="en-US" sz="3600" dirty="0"/>
          </a:p>
        </p:txBody>
      </p:sp>
      <p:sp>
        <p:nvSpPr>
          <p:cNvPr id="18" name="Text 14"/>
          <p:cNvSpPr txBox="1"/>
          <p:nvPr/>
        </p:nvSpPr>
        <p:spPr>
          <a:xfrm>
            <a:off x="64008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tile edge at the equator (web-Mercator zoom level 16)</a:t>
            </a:r>
            <a:endParaRPr lang="en-US" sz="1050" dirty="0"/>
          </a:p>
        </p:txBody>
      </p:sp>
      <p:sp>
        <p:nvSpPr>
          <p:cNvPr id="19" name="Shape 15"/>
          <p:cNvSpPr/>
          <p:nvPr/>
        </p:nvSpPr>
        <p:spPr>
          <a:xfrm>
            <a:off x="3291840" y="1261872"/>
            <a:ext cx="2560320" cy="1143000"/>
          </a:xfrm>
          <a:prstGeom prst="roundRect">
            <a:avLst>
              <a:gd name="adj" fmla="val 6400"/>
            </a:avLst>
          </a:prstGeom>
          <a:solidFill>
            <a:srgbClr val="F4F7F5"/>
          </a:solidFill>
          <a:ln w="9525">
            <a:solidFill>
              <a:srgbClr val="D5DED9"/>
            </a:solidFill>
            <a:prstDash val="solid"/>
          </a:ln>
        </p:spPr>
      </p:sp>
      <p:sp>
        <p:nvSpPr>
          <p:cNvPr id="20" name="Text 16"/>
          <p:cNvSpPr txBox="1"/>
          <p:nvPr/>
        </p:nvSpPr>
        <p:spPr>
          <a:xfrm>
            <a:off x="3474720" y="1325880"/>
            <a:ext cx="2194560" cy="566928"/>
          </a:xfrm>
          <a:prstGeom prst="rect">
            <a:avLst/>
          </a:prstGeom>
          <a:noFill/>
          <a:ln/>
        </p:spPr>
        <p:txBody>
          <a:bodyPr wrap="square" lIns="0" tIns="0" rIns="0" bIns="0" rtlCol="0" anchor="ctr"/>
          <a:lstStyle/>
          <a:p>
            <a:pPr marL="0" indent="0">
              <a:buNone/>
            </a:pPr>
            <a:r>
              <a:rPr lang="en-US" sz="3600" b="1" dirty="0">
                <a:solidFill>
                  <a:srgbClr val="00704A"/>
                </a:solidFill>
                <a:latin typeface="Calibri" pitchFamily="34" charset="0"/>
                <a:ea typeface="Calibri" pitchFamily="34" charset="-122"/>
                <a:cs typeface="Calibri" pitchFamily="34" charset="-120"/>
              </a:rPr>
              <a:t>Q1 2019</a:t>
            </a:r>
            <a:endParaRPr lang="en-US" sz="3600" dirty="0"/>
          </a:p>
        </p:txBody>
      </p:sp>
      <p:sp>
        <p:nvSpPr>
          <p:cNvPr id="21" name="Text 17"/>
          <p:cNvSpPr txBox="1"/>
          <p:nvPr/>
        </p:nvSpPr>
        <p:spPr>
          <a:xfrm>
            <a:off x="347472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first quarter available; new tiles every quarter since</a:t>
            </a:r>
            <a:endParaRPr lang="en-US" sz="1050" dirty="0"/>
          </a:p>
        </p:txBody>
      </p:sp>
      <p:sp>
        <p:nvSpPr>
          <p:cNvPr id="22" name="Shape 18"/>
          <p:cNvSpPr/>
          <p:nvPr/>
        </p:nvSpPr>
        <p:spPr>
          <a:xfrm>
            <a:off x="6126480" y="1261872"/>
            <a:ext cx="2560320" cy="1143000"/>
          </a:xfrm>
          <a:prstGeom prst="roundRect">
            <a:avLst>
              <a:gd name="adj" fmla="val 6400"/>
            </a:avLst>
          </a:prstGeom>
          <a:solidFill>
            <a:srgbClr val="F4F7F5"/>
          </a:solidFill>
          <a:ln w="9525">
            <a:solidFill>
              <a:srgbClr val="D5DED9"/>
            </a:solidFill>
            <a:prstDash val="solid"/>
          </a:ln>
        </p:spPr>
      </p:sp>
      <p:sp>
        <p:nvSpPr>
          <p:cNvPr id="23" name="Text 19"/>
          <p:cNvSpPr txBox="1"/>
          <p:nvPr/>
        </p:nvSpPr>
        <p:spPr>
          <a:xfrm>
            <a:off x="6309360" y="1325880"/>
            <a:ext cx="2194560" cy="566928"/>
          </a:xfrm>
          <a:prstGeom prst="rect">
            <a:avLst/>
          </a:prstGeom>
          <a:noFill/>
          <a:ln/>
        </p:spPr>
        <p:txBody>
          <a:bodyPr wrap="square" lIns="0" tIns="0" rIns="0" bIns="0" rtlCol="0" anchor="ctr"/>
          <a:lstStyle/>
          <a:p>
            <a:pPr marL="0" indent="0">
              <a:buNone/>
            </a:pPr>
            <a:r>
              <a:rPr lang="en-US" sz="3600" b="1" dirty="0">
                <a:solidFill>
                  <a:srgbClr val="0E7C86"/>
                </a:solidFill>
                <a:latin typeface="Calibri" pitchFamily="34" charset="0"/>
                <a:ea typeface="Calibri" pitchFamily="34" charset="-122"/>
                <a:cs typeface="Calibri" pitchFamily="34" charset="-120"/>
              </a:rPr>
              <a:t>2 series</a:t>
            </a:r>
            <a:endParaRPr lang="en-US" sz="3600" dirty="0"/>
          </a:p>
        </p:txBody>
      </p:sp>
      <p:sp>
        <p:nvSpPr>
          <p:cNvPr id="24" name="Text 20"/>
          <p:cNvSpPr txBox="1"/>
          <p:nvPr/>
        </p:nvSpPr>
        <p:spPr>
          <a:xfrm>
            <a:off x="6309360" y="1901952"/>
            <a:ext cx="224028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fixed broadband and mobile, published separately</a:t>
            </a:r>
            <a:endParaRPr lang="en-US" sz="1050" dirty="0"/>
          </a:p>
        </p:txBody>
      </p:sp>
      <p:sp>
        <p:nvSpPr>
          <p:cNvPr id="25" name="Text 21"/>
          <p:cNvSpPr txBox="1"/>
          <p:nvPr/>
        </p:nvSpPr>
        <p:spPr>
          <a:xfrm>
            <a:off x="457200" y="2578608"/>
            <a:ext cx="3657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KEY FIELDS IN EACH TILE</a:t>
            </a:r>
            <a:endParaRPr lang="en-US" sz="900" dirty="0"/>
          </a:p>
        </p:txBody>
      </p:sp>
      <p:sp>
        <p:nvSpPr>
          <p:cNvPr id="26" name="Shape 22"/>
          <p:cNvSpPr/>
          <p:nvPr/>
        </p:nvSpPr>
        <p:spPr>
          <a:xfrm>
            <a:off x="45720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27" name="Text 23"/>
          <p:cNvSpPr txBox="1"/>
          <p:nvPr/>
        </p:nvSpPr>
        <p:spPr>
          <a:xfrm>
            <a:off x="457200" y="2834640"/>
            <a:ext cx="8686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quadkey</a:t>
            </a:r>
            <a:endParaRPr lang="en-US" sz="950" dirty="0"/>
          </a:p>
        </p:txBody>
      </p:sp>
      <p:sp>
        <p:nvSpPr>
          <p:cNvPr id="28" name="Shape 24"/>
          <p:cNvSpPr/>
          <p:nvPr/>
        </p:nvSpPr>
        <p:spPr>
          <a:xfrm>
            <a:off x="1453896"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29" name="Text 25"/>
          <p:cNvSpPr txBox="1"/>
          <p:nvPr/>
        </p:nvSpPr>
        <p:spPr>
          <a:xfrm>
            <a:off x="1453896"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avg_d_kbps</a:t>
            </a:r>
            <a:endParaRPr lang="en-US" sz="950" dirty="0"/>
          </a:p>
        </p:txBody>
      </p:sp>
      <p:sp>
        <p:nvSpPr>
          <p:cNvPr id="30" name="Shape 26"/>
          <p:cNvSpPr/>
          <p:nvPr/>
        </p:nvSpPr>
        <p:spPr>
          <a:xfrm>
            <a:off x="2633472"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1" name="Text 27"/>
          <p:cNvSpPr txBox="1"/>
          <p:nvPr/>
        </p:nvSpPr>
        <p:spPr>
          <a:xfrm>
            <a:off x="2633472"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avg_u_kbps</a:t>
            </a:r>
            <a:endParaRPr lang="en-US" sz="950" dirty="0"/>
          </a:p>
        </p:txBody>
      </p:sp>
      <p:sp>
        <p:nvSpPr>
          <p:cNvPr id="32" name="Shape 28"/>
          <p:cNvSpPr/>
          <p:nvPr/>
        </p:nvSpPr>
        <p:spPr>
          <a:xfrm>
            <a:off x="3813048" y="2834640"/>
            <a:ext cx="1051560" cy="292608"/>
          </a:xfrm>
          <a:prstGeom prst="roundRect">
            <a:avLst>
              <a:gd name="adj" fmla="val 50000"/>
            </a:avLst>
          </a:prstGeom>
          <a:solidFill>
            <a:srgbClr val="00A86A">
              <a:alpha val="15000"/>
            </a:srgbClr>
          </a:solidFill>
          <a:ln w="9525">
            <a:solidFill>
              <a:srgbClr val="00A86A"/>
            </a:solidFill>
            <a:prstDash val="solid"/>
          </a:ln>
        </p:spPr>
      </p:sp>
      <p:sp>
        <p:nvSpPr>
          <p:cNvPr id="33" name="Text 29"/>
          <p:cNvSpPr txBox="1"/>
          <p:nvPr/>
        </p:nvSpPr>
        <p:spPr>
          <a:xfrm>
            <a:off x="3813048" y="2834640"/>
            <a:ext cx="105156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avg_lat_ms</a:t>
            </a:r>
            <a:endParaRPr lang="en-US" sz="950" dirty="0"/>
          </a:p>
        </p:txBody>
      </p:sp>
      <p:sp>
        <p:nvSpPr>
          <p:cNvPr id="34" name="Shape 30"/>
          <p:cNvSpPr/>
          <p:nvPr/>
        </p:nvSpPr>
        <p:spPr>
          <a:xfrm>
            <a:off x="4992624" y="2834640"/>
            <a:ext cx="731520" cy="292608"/>
          </a:xfrm>
          <a:prstGeom prst="roundRect">
            <a:avLst>
              <a:gd name="adj" fmla="val 50000"/>
            </a:avLst>
          </a:prstGeom>
          <a:solidFill>
            <a:srgbClr val="00A86A">
              <a:alpha val="15000"/>
            </a:srgbClr>
          </a:solidFill>
          <a:ln w="9525">
            <a:solidFill>
              <a:srgbClr val="00A86A"/>
            </a:solidFill>
            <a:prstDash val="solid"/>
          </a:ln>
        </p:spPr>
      </p:sp>
      <p:sp>
        <p:nvSpPr>
          <p:cNvPr id="35" name="Text 31"/>
          <p:cNvSpPr txBox="1"/>
          <p:nvPr/>
        </p:nvSpPr>
        <p:spPr>
          <a:xfrm>
            <a:off x="4992624" y="2834640"/>
            <a:ext cx="73152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tests</a:t>
            </a:r>
            <a:endParaRPr lang="en-US" sz="950" dirty="0"/>
          </a:p>
        </p:txBody>
      </p:sp>
      <p:sp>
        <p:nvSpPr>
          <p:cNvPr id="36" name="Shape 32"/>
          <p:cNvSpPr/>
          <p:nvPr/>
        </p:nvSpPr>
        <p:spPr>
          <a:xfrm>
            <a:off x="5852160" y="2834640"/>
            <a:ext cx="868680" cy="292608"/>
          </a:xfrm>
          <a:prstGeom prst="roundRect">
            <a:avLst>
              <a:gd name="adj" fmla="val 50000"/>
            </a:avLst>
          </a:prstGeom>
          <a:solidFill>
            <a:srgbClr val="00A86A">
              <a:alpha val="15000"/>
            </a:srgbClr>
          </a:solidFill>
          <a:ln w="9525">
            <a:solidFill>
              <a:srgbClr val="00A86A"/>
            </a:solidFill>
            <a:prstDash val="solid"/>
          </a:ln>
        </p:spPr>
      </p:sp>
      <p:sp>
        <p:nvSpPr>
          <p:cNvPr id="37" name="Text 33"/>
          <p:cNvSpPr txBox="1"/>
          <p:nvPr/>
        </p:nvSpPr>
        <p:spPr>
          <a:xfrm>
            <a:off x="5852160" y="2834640"/>
            <a:ext cx="8686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devices</a:t>
            </a:r>
            <a:endParaRPr lang="en-US" sz="950" dirty="0"/>
          </a:p>
        </p:txBody>
      </p:sp>
      <p:sp>
        <p:nvSpPr>
          <p:cNvPr id="38" name="Shape 34"/>
          <p:cNvSpPr/>
          <p:nvPr/>
        </p:nvSpPr>
        <p:spPr>
          <a:xfrm>
            <a:off x="6848856" y="2834640"/>
            <a:ext cx="1097280" cy="292608"/>
          </a:xfrm>
          <a:prstGeom prst="roundRect">
            <a:avLst>
              <a:gd name="adj" fmla="val 50000"/>
            </a:avLst>
          </a:prstGeom>
          <a:solidFill>
            <a:srgbClr val="00A86A">
              <a:alpha val="15000"/>
            </a:srgbClr>
          </a:solidFill>
          <a:ln w="9525">
            <a:solidFill>
              <a:srgbClr val="00A86A"/>
            </a:solidFill>
            <a:prstDash val="solid"/>
          </a:ln>
        </p:spPr>
      </p:sp>
      <p:sp>
        <p:nvSpPr>
          <p:cNvPr id="39" name="Text 35"/>
          <p:cNvSpPr txBox="1"/>
          <p:nvPr/>
        </p:nvSpPr>
        <p:spPr>
          <a:xfrm>
            <a:off x="6848856" y="2834640"/>
            <a:ext cx="1097280" cy="292608"/>
          </a:xfrm>
          <a:prstGeom prst="rect">
            <a:avLst/>
          </a:prstGeom>
          <a:noFill/>
          <a:ln/>
        </p:spPr>
        <p:txBody>
          <a:bodyPr wrap="square" lIns="0" tIns="0" rIns="0" bIns="0" rtlCol="0" anchor="ctr"/>
          <a:lstStyle/>
          <a:p>
            <a:pPr marL="0" indent="0" algn="ctr">
              <a:buNone/>
            </a:pPr>
            <a:r>
              <a:rPr lang="en-US" sz="950" dirty="0">
                <a:solidFill>
                  <a:srgbClr val="231F20"/>
                </a:solidFill>
                <a:latin typeface="Courier New" pitchFamily="34" charset="0"/>
                <a:ea typeface="Courier New" pitchFamily="34" charset="-122"/>
                <a:cs typeface="Courier New" pitchFamily="34" charset="-120"/>
              </a:rPr>
              <a:t>tile (WKT)</a:t>
            </a:r>
            <a:endParaRPr lang="en-US" sz="950" dirty="0"/>
          </a:p>
        </p:txBody>
      </p:sp>
      <p:sp>
        <p:nvSpPr>
          <p:cNvPr id="40" name="Shape 36"/>
          <p:cNvSpPr/>
          <p:nvPr/>
        </p:nvSpPr>
        <p:spPr>
          <a:xfrm>
            <a:off x="457200" y="3346704"/>
            <a:ext cx="8229600" cy="1115568"/>
          </a:xfrm>
          <a:prstGeom prst="roundRect">
            <a:avLst>
              <a:gd name="adj" fmla="val 4918"/>
            </a:avLst>
          </a:prstGeom>
          <a:solidFill>
            <a:srgbClr val="D49A00">
              <a:alpha val="13000"/>
            </a:srgbClr>
          </a:solidFill>
          <a:ln w="12700">
            <a:solidFill>
              <a:srgbClr val="D49A00"/>
            </a:solidFill>
            <a:prstDash val="solid"/>
          </a:ln>
        </p:spPr>
      </p:sp>
      <p:pic>
        <p:nvPicPr>
          <p:cNvPr id="41" name="Image 1" descr="preencoded.png"/>
          <p:cNvPicPr>
            <a:picLocks noChangeAspect="1"/>
          </p:cNvPicPr>
          <p:nvPr/>
        </p:nvPicPr>
        <p:blipFill>
          <a:blip r:embed="rId4"/>
          <a:stretch>
            <a:fillRect/>
          </a:stretch>
        </p:blipFill>
        <p:spPr>
          <a:xfrm>
            <a:off x="603504" y="3767328"/>
            <a:ext cx="274320" cy="274320"/>
          </a:xfrm>
          <a:prstGeom prst="rect">
            <a:avLst/>
          </a:prstGeom>
        </p:spPr>
      </p:pic>
      <p:sp>
        <p:nvSpPr>
          <p:cNvPr id="42" name="Text 37"/>
          <p:cNvSpPr txBox="1"/>
          <p:nvPr/>
        </p:nvSpPr>
        <p:spPr>
          <a:xfrm>
            <a:off x="1005840" y="3401568"/>
            <a:ext cx="7543800" cy="10058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Why a single laptop struggles. </a:t>
            </a:r>
            <a:r>
              <a:rPr lang="en-US" sz="1100" dirty="0">
                <a:solidFill>
                  <a:srgbClr val="231F20"/>
                </a:solidFill>
                <a:latin typeface="Calibri" pitchFamily="34" charset="0"/>
                <a:ea typeface="Calibri" pitchFamily="34" charset="-122"/>
                <a:cs typeface="Calibri" pitchFamily="34" charset="-120"/>
              </a:rPr>
              <a:t>Ookla aggregates hundreds of millions of monthly tests into tiles, yet a multi-country, multi-quarter, fixed + mobile panel still grows fast. Add geometry, joins to boundaries and WorldPop, and several colleagues asking questions at the same time — and memory, not skill, becomes the bottleneck.</a:t>
            </a:r>
            <a:endParaRPr lang="en-US" sz="1100" dirty="0"/>
          </a:p>
        </p:txBody>
      </p:sp>
      <p:sp>
        <p:nvSpPr>
          <p:cNvPr id="43" name="Text 38"/>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Ookla, ookla-open-data README (GitHub) and Registry of Open Data on AWS — licence CC BY-NC-SA 4.0.</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Elastic Stack explained</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What exactly are E, L and K — and how do they work together?</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5C242"/>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ELK in one picture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Shape 12"/>
          <p:cNvSpPr/>
          <p:nvPr/>
        </p:nvSpPr>
        <p:spPr>
          <a:xfrm>
            <a:off x="457200" y="1280160"/>
            <a:ext cx="1691640" cy="2514600"/>
          </a:xfrm>
          <a:prstGeom prst="roundRect">
            <a:avLst>
              <a:gd name="adj" fmla="val 4324"/>
            </a:avLst>
          </a:prstGeom>
          <a:solidFill>
            <a:srgbClr val="FFFFFF"/>
          </a:solidFill>
          <a:ln w="12700">
            <a:solidFill>
              <a:srgbClr val="5E6964"/>
            </a:solidFill>
            <a:prstDash val="solid"/>
          </a:ln>
        </p:spPr>
      </p:sp>
      <p:sp>
        <p:nvSpPr>
          <p:cNvPr id="17" name="Shape 13"/>
          <p:cNvSpPr/>
          <p:nvPr/>
        </p:nvSpPr>
        <p:spPr>
          <a:xfrm>
            <a:off x="1028700" y="1389888"/>
            <a:ext cx="548640" cy="548640"/>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1171346" y="1532534"/>
            <a:ext cx="263347" cy="263347"/>
          </a:xfrm>
          <a:prstGeom prst="rect">
            <a:avLst/>
          </a:prstGeom>
        </p:spPr>
      </p:pic>
      <p:sp>
        <p:nvSpPr>
          <p:cNvPr id="19" name="Text 14"/>
          <p:cNvSpPr txBox="1"/>
          <p:nvPr/>
        </p:nvSpPr>
        <p:spPr>
          <a:xfrm>
            <a:off x="548640" y="2011680"/>
            <a:ext cx="15087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Sources</a:t>
            </a:r>
            <a:endParaRPr lang="en-US" sz="1350" dirty="0"/>
          </a:p>
        </p:txBody>
      </p:sp>
      <p:sp>
        <p:nvSpPr>
          <p:cNvPr id="20" name="Text 15"/>
          <p:cNvSpPr txBox="1"/>
          <p:nvPr/>
        </p:nvSpPr>
        <p:spPr>
          <a:xfrm>
            <a:off x="548640" y="2267712"/>
            <a:ext cx="15087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data you already have</a:t>
            </a:r>
            <a:endParaRPr lang="en-US" sz="950" dirty="0"/>
          </a:p>
        </p:txBody>
      </p:sp>
      <p:sp>
        <p:nvSpPr>
          <p:cNvPr id="21" name="Text 16"/>
          <p:cNvSpPr txBox="1"/>
          <p:nvPr/>
        </p:nvSpPr>
        <p:spPr>
          <a:xfrm>
            <a:off x="59436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Ookla Parquet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Boundary files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WorldPop rasters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APIs and logs</a:t>
            </a:r>
            <a:endParaRPr lang="en-US" sz="1000" dirty="0"/>
          </a:p>
        </p:txBody>
      </p:sp>
      <p:sp>
        <p:nvSpPr>
          <p:cNvPr id="22" name="Shape 17"/>
          <p:cNvSpPr/>
          <p:nvPr/>
        </p:nvSpPr>
        <p:spPr>
          <a:xfrm>
            <a:off x="2185416" y="2542032"/>
            <a:ext cx="292608" cy="0"/>
          </a:xfrm>
          <a:prstGeom prst="line">
            <a:avLst/>
          </a:prstGeom>
          <a:noFill/>
          <a:ln w="19050">
            <a:solidFill>
              <a:srgbClr val="5E6964"/>
            </a:solidFill>
            <a:prstDash val="solid"/>
            <a:tailEnd type="triangle"/>
          </a:ln>
        </p:spPr>
      </p:sp>
      <p:sp>
        <p:nvSpPr>
          <p:cNvPr id="23" name="Shape 18"/>
          <p:cNvSpPr/>
          <p:nvPr/>
        </p:nvSpPr>
        <p:spPr>
          <a:xfrm>
            <a:off x="2514600" y="1280160"/>
            <a:ext cx="1828800" cy="2514600"/>
          </a:xfrm>
          <a:prstGeom prst="roundRect">
            <a:avLst>
              <a:gd name="adj" fmla="val 4000"/>
            </a:avLst>
          </a:prstGeom>
          <a:solidFill>
            <a:srgbClr val="FFFFFF"/>
          </a:solidFill>
          <a:ln w="12700">
            <a:solidFill>
              <a:srgbClr val="0E7C86"/>
            </a:solidFill>
            <a:prstDash val="solid"/>
          </a:ln>
        </p:spPr>
      </p:sp>
      <p:sp>
        <p:nvSpPr>
          <p:cNvPr id="24" name="Shape 19"/>
          <p:cNvSpPr/>
          <p:nvPr/>
        </p:nvSpPr>
        <p:spPr>
          <a:xfrm>
            <a:off x="3154680" y="1389888"/>
            <a:ext cx="548640" cy="548640"/>
          </a:xfrm>
          <a:prstGeom prst="ellipse">
            <a:avLst/>
          </a:prstGeom>
          <a:solidFill>
            <a:srgbClr val="0E7C86"/>
          </a:solidFill>
          <a:ln/>
        </p:spPr>
      </p:sp>
      <p:sp>
        <p:nvSpPr>
          <p:cNvPr id="25" name="Text 20"/>
          <p:cNvSpPr txBox="1"/>
          <p:nvPr/>
        </p:nvSpPr>
        <p:spPr>
          <a:xfrm>
            <a:off x="315468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L</a:t>
            </a:r>
            <a:endParaRPr lang="en-US" sz="2400" dirty="0"/>
          </a:p>
        </p:txBody>
      </p:sp>
      <p:sp>
        <p:nvSpPr>
          <p:cNvPr id="26" name="Text 21"/>
          <p:cNvSpPr txBox="1"/>
          <p:nvPr/>
        </p:nvSpPr>
        <p:spPr>
          <a:xfrm>
            <a:off x="2606040" y="2011680"/>
            <a:ext cx="164592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Logstash</a:t>
            </a:r>
            <a:endParaRPr lang="en-US" sz="1350" dirty="0"/>
          </a:p>
        </p:txBody>
      </p:sp>
      <p:sp>
        <p:nvSpPr>
          <p:cNvPr id="27" name="Text 22"/>
          <p:cNvSpPr txBox="1"/>
          <p:nvPr/>
        </p:nvSpPr>
        <p:spPr>
          <a:xfrm>
            <a:off x="2606040" y="2267712"/>
            <a:ext cx="164592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ingest &amp; transform</a:t>
            </a:r>
            <a:endParaRPr lang="en-US" sz="950" dirty="0"/>
          </a:p>
        </p:txBody>
      </p:sp>
      <p:sp>
        <p:nvSpPr>
          <p:cNvPr id="28" name="Text 23"/>
          <p:cNvSpPr txBox="1"/>
          <p:nvPr/>
        </p:nvSpPr>
        <p:spPr>
          <a:xfrm>
            <a:off x="2651760" y="2578608"/>
            <a:ext cx="160020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Input → filter → output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Parse, convert, enrich</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In our lab: Python client</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Also: Beats shippers</a:t>
            </a:r>
            <a:endParaRPr lang="en-US" sz="1000" dirty="0"/>
          </a:p>
        </p:txBody>
      </p:sp>
      <p:sp>
        <p:nvSpPr>
          <p:cNvPr id="29" name="Shape 24"/>
          <p:cNvSpPr/>
          <p:nvPr/>
        </p:nvSpPr>
        <p:spPr>
          <a:xfrm>
            <a:off x="4379976" y="2542032"/>
            <a:ext cx="292608" cy="0"/>
          </a:xfrm>
          <a:prstGeom prst="line">
            <a:avLst/>
          </a:prstGeom>
          <a:noFill/>
          <a:ln w="19050">
            <a:solidFill>
              <a:srgbClr val="5E6964"/>
            </a:solidFill>
            <a:prstDash val="solid"/>
            <a:tailEnd type="triangle"/>
          </a:ln>
        </p:spPr>
      </p:sp>
      <p:sp>
        <p:nvSpPr>
          <p:cNvPr id="30" name="Shape 25"/>
          <p:cNvSpPr/>
          <p:nvPr/>
        </p:nvSpPr>
        <p:spPr>
          <a:xfrm>
            <a:off x="4709160" y="1280160"/>
            <a:ext cx="1920240" cy="2514600"/>
          </a:xfrm>
          <a:prstGeom prst="roundRect">
            <a:avLst>
              <a:gd name="adj" fmla="val 3810"/>
            </a:avLst>
          </a:prstGeom>
          <a:solidFill>
            <a:srgbClr val="E8F5EF"/>
          </a:solidFill>
          <a:ln w="19050">
            <a:solidFill>
              <a:srgbClr val="00A86A"/>
            </a:solidFill>
            <a:prstDash val="solid"/>
          </a:ln>
        </p:spPr>
      </p:sp>
      <p:sp>
        <p:nvSpPr>
          <p:cNvPr id="31" name="Shape 26"/>
          <p:cNvSpPr/>
          <p:nvPr/>
        </p:nvSpPr>
        <p:spPr>
          <a:xfrm>
            <a:off x="5394960" y="1389888"/>
            <a:ext cx="548640" cy="548640"/>
          </a:xfrm>
          <a:prstGeom prst="ellipse">
            <a:avLst/>
          </a:prstGeom>
          <a:solidFill>
            <a:srgbClr val="00A86A"/>
          </a:solidFill>
          <a:ln/>
        </p:spPr>
      </p:sp>
      <p:sp>
        <p:nvSpPr>
          <p:cNvPr id="32" name="Text 27"/>
          <p:cNvSpPr txBox="1"/>
          <p:nvPr/>
        </p:nvSpPr>
        <p:spPr>
          <a:xfrm>
            <a:off x="539496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E</a:t>
            </a:r>
            <a:endParaRPr lang="en-US" sz="2400" dirty="0"/>
          </a:p>
        </p:txBody>
      </p:sp>
      <p:sp>
        <p:nvSpPr>
          <p:cNvPr id="33" name="Text 28"/>
          <p:cNvSpPr txBox="1"/>
          <p:nvPr/>
        </p:nvSpPr>
        <p:spPr>
          <a:xfrm>
            <a:off x="4800600" y="2011680"/>
            <a:ext cx="17373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Elasticsearch</a:t>
            </a:r>
            <a:endParaRPr lang="en-US" sz="1350" dirty="0"/>
          </a:p>
        </p:txBody>
      </p:sp>
      <p:sp>
        <p:nvSpPr>
          <p:cNvPr id="34" name="Text 29"/>
          <p:cNvSpPr txBox="1"/>
          <p:nvPr/>
        </p:nvSpPr>
        <p:spPr>
          <a:xfrm>
            <a:off x="4800600" y="2267712"/>
            <a:ext cx="17373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store · index · search</a:t>
            </a:r>
            <a:endParaRPr lang="en-US" sz="950" dirty="0"/>
          </a:p>
        </p:txBody>
      </p:sp>
      <p:sp>
        <p:nvSpPr>
          <p:cNvPr id="35" name="Text 30"/>
          <p:cNvSpPr txBox="1"/>
          <p:nvPr/>
        </p:nvSpPr>
        <p:spPr>
          <a:xfrm>
            <a:off x="4846320" y="2578608"/>
            <a:ext cx="16916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JSON documents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Every field indexed</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Distributed across nodes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REST API (port 9200)</a:t>
            </a:r>
            <a:endParaRPr lang="en-US" sz="1000" dirty="0"/>
          </a:p>
        </p:txBody>
      </p:sp>
      <p:sp>
        <p:nvSpPr>
          <p:cNvPr id="36" name="Shape 31"/>
          <p:cNvSpPr/>
          <p:nvPr/>
        </p:nvSpPr>
        <p:spPr>
          <a:xfrm>
            <a:off x="6665976" y="2542032"/>
            <a:ext cx="292608" cy="0"/>
          </a:xfrm>
          <a:prstGeom prst="line">
            <a:avLst/>
          </a:prstGeom>
          <a:noFill/>
          <a:ln w="19050">
            <a:solidFill>
              <a:srgbClr val="5E6964"/>
            </a:solidFill>
            <a:prstDash val="solid"/>
            <a:tailEnd type="triangle"/>
          </a:ln>
        </p:spPr>
      </p:sp>
      <p:sp>
        <p:nvSpPr>
          <p:cNvPr id="37" name="Shape 32"/>
          <p:cNvSpPr/>
          <p:nvPr/>
        </p:nvSpPr>
        <p:spPr>
          <a:xfrm>
            <a:off x="6995160" y="1280160"/>
            <a:ext cx="1691640" cy="2514600"/>
          </a:xfrm>
          <a:prstGeom prst="roundRect">
            <a:avLst>
              <a:gd name="adj" fmla="val 4324"/>
            </a:avLst>
          </a:prstGeom>
          <a:solidFill>
            <a:srgbClr val="FFFFFF"/>
          </a:solidFill>
          <a:ln w="12700">
            <a:solidFill>
              <a:srgbClr val="D49A00"/>
            </a:solidFill>
            <a:prstDash val="solid"/>
          </a:ln>
        </p:spPr>
      </p:sp>
      <p:sp>
        <p:nvSpPr>
          <p:cNvPr id="38" name="Shape 33"/>
          <p:cNvSpPr/>
          <p:nvPr/>
        </p:nvSpPr>
        <p:spPr>
          <a:xfrm>
            <a:off x="7566660" y="1389888"/>
            <a:ext cx="548640" cy="548640"/>
          </a:xfrm>
          <a:prstGeom prst="ellipse">
            <a:avLst/>
          </a:prstGeom>
          <a:solidFill>
            <a:srgbClr val="D49A00"/>
          </a:solidFill>
          <a:ln/>
        </p:spPr>
      </p:sp>
      <p:sp>
        <p:nvSpPr>
          <p:cNvPr id="39" name="Text 34"/>
          <p:cNvSpPr txBox="1"/>
          <p:nvPr/>
        </p:nvSpPr>
        <p:spPr>
          <a:xfrm>
            <a:off x="7566660" y="1389888"/>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K</a:t>
            </a:r>
            <a:endParaRPr lang="en-US" sz="2400" dirty="0"/>
          </a:p>
        </p:txBody>
      </p:sp>
      <p:sp>
        <p:nvSpPr>
          <p:cNvPr id="40" name="Text 35"/>
          <p:cNvSpPr txBox="1"/>
          <p:nvPr/>
        </p:nvSpPr>
        <p:spPr>
          <a:xfrm>
            <a:off x="7086600" y="2011680"/>
            <a:ext cx="1508760" cy="256032"/>
          </a:xfrm>
          <a:prstGeom prst="rect">
            <a:avLst/>
          </a:prstGeom>
          <a:noFill/>
          <a:ln/>
        </p:spPr>
        <p:txBody>
          <a:bodyPr wrap="square" lIns="0" tIns="0" rIns="0" bIns="0" rtlCol="0" anchor="t"/>
          <a:lstStyle/>
          <a:p>
            <a:pPr marL="0" indent="0" algn="ctr">
              <a:buNone/>
            </a:pPr>
            <a:r>
              <a:rPr lang="en-US" sz="1350" b="1" dirty="0">
                <a:solidFill>
                  <a:srgbClr val="231F20"/>
                </a:solidFill>
                <a:latin typeface="Calibri" pitchFamily="34" charset="0"/>
                <a:ea typeface="Calibri" pitchFamily="34" charset="-122"/>
                <a:cs typeface="Calibri" pitchFamily="34" charset="-120"/>
              </a:rPr>
              <a:t>Kibana</a:t>
            </a:r>
            <a:endParaRPr lang="en-US" sz="1350" dirty="0"/>
          </a:p>
        </p:txBody>
      </p:sp>
      <p:sp>
        <p:nvSpPr>
          <p:cNvPr id="41" name="Text 36"/>
          <p:cNvSpPr txBox="1"/>
          <p:nvPr/>
        </p:nvSpPr>
        <p:spPr>
          <a:xfrm>
            <a:off x="7086600" y="2267712"/>
            <a:ext cx="1508760" cy="201168"/>
          </a:xfrm>
          <a:prstGeom prst="rect">
            <a:avLst/>
          </a:prstGeom>
          <a:noFill/>
          <a:ln/>
        </p:spPr>
        <p:txBody>
          <a:bodyPr wrap="square" lIns="0" tIns="0" rIns="0" bIns="0" rtlCol="0" anchor="t"/>
          <a:lstStyle/>
          <a:p>
            <a:pPr marL="0" indent="0" algn="ctr">
              <a:buNone/>
            </a:pPr>
            <a:r>
              <a:rPr lang="en-US" sz="950" i="1" dirty="0">
                <a:solidFill>
                  <a:srgbClr val="5E6964"/>
                </a:solidFill>
                <a:latin typeface="Calibri" pitchFamily="34" charset="0"/>
                <a:ea typeface="Calibri" pitchFamily="34" charset="-122"/>
                <a:cs typeface="Calibri" pitchFamily="34" charset="-120"/>
              </a:rPr>
              <a:t>explore &amp; visualise</a:t>
            </a:r>
            <a:endParaRPr lang="en-US" sz="950" dirty="0"/>
          </a:p>
        </p:txBody>
      </p:sp>
      <p:sp>
        <p:nvSpPr>
          <p:cNvPr id="42" name="Text 37"/>
          <p:cNvSpPr txBox="1"/>
          <p:nvPr/>
        </p:nvSpPr>
        <p:spPr>
          <a:xfrm>
            <a:off x="7132320" y="2578608"/>
            <a:ext cx="1463040" cy="11430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Discover</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Lens and Maps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Dashboards</a:t>
            </a:r>
            <a:endParaRPr lang="en-US" sz="1000" dirty="0"/>
          </a:p>
          <a:p>
            <a:pPr marL="342900" indent="-3429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Dev Tools console</a:t>
            </a:r>
            <a:endParaRPr lang="en-US" sz="1000" dirty="0"/>
          </a:p>
        </p:txBody>
      </p:sp>
      <p:sp>
        <p:nvSpPr>
          <p:cNvPr id="43" name="Shape 38"/>
          <p:cNvSpPr/>
          <p:nvPr/>
        </p:nvSpPr>
        <p:spPr>
          <a:xfrm>
            <a:off x="457200" y="3977640"/>
            <a:ext cx="8229600" cy="594360"/>
          </a:xfrm>
          <a:prstGeom prst="roundRect">
            <a:avLst>
              <a:gd name="adj" fmla="val 12308"/>
            </a:avLst>
          </a:prstGeom>
          <a:solidFill>
            <a:srgbClr val="F4F7F5"/>
          </a:solidFill>
          <a:ln w="9525">
            <a:solidFill>
              <a:srgbClr val="D5DED9"/>
            </a:solidFill>
            <a:prstDash val="solid"/>
          </a:ln>
        </p:spPr>
      </p:sp>
      <p:sp>
        <p:nvSpPr>
          <p:cNvPr id="44" name="Shape 39"/>
          <p:cNvSpPr/>
          <p:nvPr/>
        </p:nvSpPr>
        <p:spPr>
          <a:xfrm>
            <a:off x="585216" y="4069080"/>
            <a:ext cx="402336" cy="402336"/>
          </a:xfrm>
          <a:prstGeom prst="ellipse">
            <a:avLst/>
          </a:prstGeom>
          <a:solidFill>
            <a:srgbClr val="D49A00">
              <a:alpha val="22000"/>
            </a:srgbClr>
          </a:solidFill>
          <a:ln/>
        </p:spPr>
      </p:sp>
      <p:pic>
        <p:nvPicPr>
          <p:cNvPr id="45" name="Image 2" descr="preencoded.png"/>
          <p:cNvPicPr>
            <a:picLocks noChangeAspect="1"/>
          </p:cNvPicPr>
          <p:nvPr/>
        </p:nvPicPr>
        <p:blipFill>
          <a:blip r:embed="rId5"/>
          <a:stretch>
            <a:fillRect/>
          </a:stretch>
        </p:blipFill>
        <p:spPr>
          <a:xfrm>
            <a:off x="689823" y="4173687"/>
            <a:ext cx="193121" cy="193121"/>
          </a:xfrm>
          <a:prstGeom prst="rect">
            <a:avLst/>
          </a:prstGeom>
        </p:spPr>
      </p:pic>
      <p:sp>
        <p:nvSpPr>
          <p:cNvPr id="46" name="Text 40"/>
          <p:cNvSpPr txBox="1"/>
          <p:nvPr/>
        </p:nvSpPr>
        <p:spPr>
          <a:xfrm>
            <a:off x="1143000" y="4005072"/>
            <a:ext cx="7406640" cy="53035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From "ELK" to "Elastic Stack". </a:t>
            </a:r>
            <a:r>
              <a:rPr lang="en-US" sz="1050" dirty="0">
                <a:solidFill>
                  <a:srgbClr val="231F20"/>
                </a:solidFill>
                <a:latin typeface="Calibri" pitchFamily="34" charset="0"/>
                <a:ea typeface="Calibri" pitchFamily="34" charset="-122"/>
                <a:cs typeface="Calibri" pitchFamily="34" charset="-120"/>
              </a:rPr>
              <a:t>Beats (lightweight data shippers) joined E, L and K, so Elastic renamed the family. People still say "ELK" — both names refer to the same toolset.</a:t>
            </a:r>
            <a:endParaRPr lang="en-US" sz="10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The core idea: the inverted index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6" name="Text 12"/>
          <p:cNvSpPr txBox="1"/>
          <p:nvPr/>
        </p:nvSpPr>
        <p:spPr>
          <a:xfrm>
            <a:off x="457200" y="1261872"/>
            <a:ext cx="25603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DOCUMENTS</a:t>
            </a:r>
            <a:endParaRPr lang="en-US" sz="900" dirty="0"/>
          </a:p>
        </p:txBody>
      </p:sp>
      <p:sp>
        <p:nvSpPr>
          <p:cNvPr id="17" name="Shape 13"/>
          <p:cNvSpPr/>
          <p:nvPr/>
        </p:nvSpPr>
        <p:spPr>
          <a:xfrm>
            <a:off x="457200" y="1517904"/>
            <a:ext cx="2468880" cy="530352"/>
          </a:xfrm>
          <a:prstGeom prst="roundRect">
            <a:avLst>
              <a:gd name="adj" fmla="val 13793"/>
            </a:avLst>
          </a:prstGeom>
          <a:solidFill>
            <a:srgbClr val="F4F7F5"/>
          </a:solidFill>
          <a:ln w="9525">
            <a:solidFill>
              <a:srgbClr val="D5DED9"/>
            </a:solidFill>
            <a:prstDash val="solid"/>
          </a:ln>
        </p:spPr>
      </p:sp>
      <p:sp>
        <p:nvSpPr>
          <p:cNvPr id="18" name="Shape 14"/>
          <p:cNvSpPr/>
          <p:nvPr/>
        </p:nvSpPr>
        <p:spPr>
          <a:xfrm>
            <a:off x="566928" y="1618488"/>
            <a:ext cx="329184" cy="329184"/>
          </a:xfrm>
          <a:prstGeom prst="ellipse">
            <a:avLst/>
          </a:prstGeom>
          <a:solidFill>
            <a:srgbClr val="00704A"/>
          </a:solidFill>
          <a:ln/>
        </p:spPr>
      </p:sp>
      <p:sp>
        <p:nvSpPr>
          <p:cNvPr id="19" name="Text 15"/>
          <p:cNvSpPr txBox="1"/>
          <p:nvPr/>
        </p:nvSpPr>
        <p:spPr>
          <a:xfrm>
            <a:off x="566928" y="1618488"/>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0" name="Text 16"/>
          <p:cNvSpPr txBox="1"/>
          <p:nvPr/>
        </p:nvSpPr>
        <p:spPr>
          <a:xfrm>
            <a:off x="1005840" y="1517904"/>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Kigali · urban · mobile</a:t>
            </a:r>
            <a:endParaRPr lang="en-US" sz="1100" dirty="0"/>
          </a:p>
        </p:txBody>
      </p:sp>
      <p:sp>
        <p:nvSpPr>
          <p:cNvPr id="21" name="Shape 17"/>
          <p:cNvSpPr/>
          <p:nvPr/>
        </p:nvSpPr>
        <p:spPr>
          <a:xfrm>
            <a:off x="457200" y="2176272"/>
            <a:ext cx="2468880" cy="530352"/>
          </a:xfrm>
          <a:prstGeom prst="roundRect">
            <a:avLst>
              <a:gd name="adj" fmla="val 13793"/>
            </a:avLst>
          </a:prstGeom>
          <a:solidFill>
            <a:srgbClr val="F4F7F5"/>
          </a:solidFill>
          <a:ln w="9525">
            <a:solidFill>
              <a:srgbClr val="D5DED9"/>
            </a:solidFill>
            <a:prstDash val="solid"/>
          </a:ln>
        </p:spPr>
      </p:sp>
      <p:sp>
        <p:nvSpPr>
          <p:cNvPr id="22" name="Shape 18"/>
          <p:cNvSpPr/>
          <p:nvPr/>
        </p:nvSpPr>
        <p:spPr>
          <a:xfrm>
            <a:off x="566928" y="2276856"/>
            <a:ext cx="329184" cy="329184"/>
          </a:xfrm>
          <a:prstGeom prst="ellipse">
            <a:avLst/>
          </a:prstGeom>
          <a:solidFill>
            <a:srgbClr val="00704A"/>
          </a:solidFill>
          <a:ln/>
        </p:spPr>
      </p:sp>
      <p:sp>
        <p:nvSpPr>
          <p:cNvPr id="23" name="Text 19"/>
          <p:cNvSpPr txBox="1"/>
          <p:nvPr/>
        </p:nvSpPr>
        <p:spPr>
          <a:xfrm>
            <a:off x="566928" y="2276856"/>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D2</a:t>
            </a:r>
            <a:endParaRPr lang="en-US" sz="950" dirty="0"/>
          </a:p>
        </p:txBody>
      </p:sp>
      <p:sp>
        <p:nvSpPr>
          <p:cNvPr id="24" name="Text 20"/>
          <p:cNvSpPr txBox="1"/>
          <p:nvPr/>
        </p:nvSpPr>
        <p:spPr>
          <a:xfrm>
            <a:off x="1005840" y="2176272"/>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Musanze · rural · fixed</a:t>
            </a:r>
            <a:endParaRPr lang="en-US" sz="1100" dirty="0"/>
          </a:p>
        </p:txBody>
      </p:sp>
      <p:sp>
        <p:nvSpPr>
          <p:cNvPr id="25" name="Shape 21"/>
          <p:cNvSpPr/>
          <p:nvPr/>
        </p:nvSpPr>
        <p:spPr>
          <a:xfrm>
            <a:off x="457200" y="2834640"/>
            <a:ext cx="2468880" cy="530352"/>
          </a:xfrm>
          <a:prstGeom prst="roundRect">
            <a:avLst>
              <a:gd name="adj" fmla="val 13793"/>
            </a:avLst>
          </a:prstGeom>
          <a:solidFill>
            <a:srgbClr val="E8F5EF"/>
          </a:solidFill>
          <a:ln w="15875">
            <a:solidFill>
              <a:srgbClr val="00704A"/>
            </a:solidFill>
            <a:prstDash val="solid"/>
          </a:ln>
        </p:spPr>
      </p:sp>
      <p:sp>
        <p:nvSpPr>
          <p:cNvPr id="26" name="Shape 22"/>
          <p:cNvSpPr/>
          <p:nvPr/>
        </p:nvSpPr>
        <p:spPr>
          <a:xfrm>
            <a:off x="566928" y="2935224"/>
            <a:ext cx="329184" cy="329184"/>
          </a:xfrm>
          <a:prstGeom prst="ellipse">
            <a:avLst/>
          </a:prstGeom>
          <a:solidFill>
            <a:srgbClr val="00704A"/>
          </a:solidFill>
          <a:ln/>
        </p:spPr>
      </p:sp>
      <p:sp>
        <p:nvSpPr>
          <p:cNvPr id="27" name="Text 23"/>
          <p:cNvSpPr txBox="1"/>
          <p:nvPr/>
        </p:nvSpPr>
        <p:spPr>
          <a:xfrm>
            <a:off x="566928" y="2935224"/>
            <a:ext cx="329184"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D3</a:t>
            </a:r>
            <a:endParaRPr lang="en-US" sz="950" dirty="0"/>
          </a:p>
        </p:txBody>
      </p:sp>
      <p:sp>
        <p:nvSpPr>
          <p:cNvPr id="28" name="Text 24"/>
          <p:cNvSpPr txBox="1"/>
          <p:nvPr/>
        </p:nvSpPr>
        <p:spPr>
          <a:xfrm>
            <a:off x="1005840" y="2834640"/>
            <a:ext cx="1874520" cy="530352"/>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Kigali · rural · mobile</a:t>
            </a:r>
            <a:endParaRPr lang="en-US" sz="1100" dirty="0"/>
          </a:p>
        </p:txBody>
      </p:sp>
      <p:sp>
        <p:nvSpPr>
          <p:cNvPr id="29" name="Shape 25"/>
          <p:cNvSpPr/>
          <p:nvPr/>
        </p:nvSpPr>
        <p:spPr>
          <a:xfrm>
            <a:off x="3017520" y="2286000"/>
            <a:ext cx="594360" cy="0"/>
          </a:xfrm>
          <a:prstGeom prst="line">
            <a:avLst/>
          </a:prstGeom>
          <a:noFill/>
          <a:ln w="22225">
            <a:solidFill>
              <a:srgbClr val="00704A"/>
            </a:solidFill>
            <a:prstDash val="solid"/>
            <a:tailEnd type="triangle"/>
          </a:ln>
        </p:spPr>
      </p:sp>
      <p:sp>
        <p:nvSpPr>
          <p:cNvPr id="30" name="Text 26"/>
          <p:cNvSpPr txBox="1"/>
          <p:nvPr/>
        </p:nvSpPr>
        <p:spPr>
          <a:xfrm>
            <a:off x="2926080" y="1965960"/>
            <a:ext cx="777240" cy="228600"/>
          </a:xfrm>
          <a:prstGeom prst="rect">
            <a:avLst/>
          </a:prstGeom>
          <a:noFill/>
          <a:ln/>
        </p:spPr>
        <p:txBody>
          <a:bodyPr wrap="square" lIns="0" tIns="0" rIns="0" bIns="0" rtlCol="0" anchor="t"/>
          <a:lstStyle/>
          <a:p>
            <a:pPr marL="0" indent="0" algn="ctr">
              <a:buNone/>
            </a:pPr>
            <a:r>
              <a:rPr lang="en-US" sz="900" i="1" dirty="0">
                <a:solidFill>
                  <a:srgbClr val="5E6964"/>
                </a:solidFill>
                <a:latin typeface="Calibri" pitchFamily="34" charset="0"/>
                <a:ea typeface="Calibri" pitchFamily="34" charset="-122"/>
                <a:cs typeface="Calibri" pitchFamily="34" charset="-120"/>
              </a:rPr>
              <a:t>index once</a:t>
            </a:r>
            <a:endParaRPr lang="en-US" sz="900" dirty="0"/>
          </a:p>
        </p:txBody>
      </p:sp>
      <p:sp>
        <p:nvSpPr>
          <p:cNvPr id="31" name="Text 27"/>
          <p:cNvSpPr txBox="1"/>
          <p:nvPr/>
        </p:nvSpPr>
        <p:spPr>
          <a:xfrm>
            <a:off x="3749040" y="1261872"/>
            <a:ext cx="246888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TERM  →  DOCUMENTS</a:t>
            </a:r>
            <a:endParaRPr lang="en-US" sz="900" dirty="0"/>
          </a:p>
        </p:txBody>
      </p:sp>
      <p:sp>
        <p:nvSpPr>
          <p:cNvPr id="32" name="Shape 28"/>
          <p:cNvSpPr/>
          <p:nvPr/>
        </p:nvSpPr>
        <p:spPr>
          <a:xfrm>
            <a:off x="3749040" y="1517904"/>
            <a:ext cx="2377440" cy="283464"/>
          </a:xfrm>
          <a:prstGeom prst="roundRect">
            <a:avLst>
              <a:gd name="adj" fmla="val 16129"/>
            </a:avLst>
          </a:prstGeom>
          <a:solidFill>
            <a:srgbClr val="E8F5EF"/>
          </a:solidFill>
          <a:ln w="12700">
            <a:solidFill>
              <a:srgbClr val="00A86A"/>
            </a:solidFill>
            <a:prstDash val="solid"/>
          </a:ln>
        </p:spPr>
      </p:sp>
      <p:sp>
        <p:nvSpPr>
          <p:cNvPr id="33" name="Text 29"/>
          <p:cNvSpPr txBox="1"/>
          <p:nvPr/>
        </p:nvSpPr>
        <p:spPr>
          <a:xfrm>
            <a:off x="3858768" y="1517904"/>
            <a:ext cx="1097280" cy="283464"/>
          </a:xfrm>
          <a:prstGeom prst="rect">
            <a:avLst/>
          </a:prstGeom>
          <a:noFill/>
          <a:ln/>
        </p:spPr>
        <p:txBody>
          <a:bodyPr wrap="square" lIns="0" tIns="0" rIns="0" bIns="0" rtlCol="0" anchor="ctr"/>
          <a:lstStyle/>
          <a:p>
            <a:pPr marL="0" indent="0">
              <a:buNone/>
            </a:pPr>
            <a:r>
              <a:rPr lang="en-US" sz="1000" b="1" dirty="0">
                <a:solidFill>
                  <a:srgbClr val="231F20"/>
                </a:solidFill>
                <a:latin typeface="Courier New" pitchFamily="34" charset="0"/>
                <a:ea typeface="Courier New" pitchFamily="34" charset="-122"/>
                <a:cs typeface="Courier New" pitchFamily="34" charset="-120"/>
              </a:rPr>
              <a:t>kigali</a:t>
            </a:r>
            <a:endParaRPr lang="en-US" sz="1000" dirty="0"/>
          </a:p>
        </p:txBody>
      </p:sp>
      <p:sp>
        <p:nvSpPr>
          <p:cNvPr id="34" name="Text 30"/>
          <p:cNvSpPr txBox="1"/>
          <p:nvPr/>
        </p:nvSpPr>
        <p:spPr>
          <a:xfrm>
            <a:off x="5029200" y="1517904"/>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 D3</a:t>
            </a:r>
            <a:endParaRPr lang="en-US" sz="1050" dirty="0"/>
          </a:p>
        </p:txBody>
      </p:sp>
      <p:sp>
        <p:nvSpPr>
          <p:cNvPr id="35" name="Shape 31"/>
          <p:cNvSpPr/>
          <p:nvPr/>
        </p:nvSpPr>
        <p:spPr>
          <a:xfrm>
            <a:off x="3749040" y="1856232"/>
            <a:ext cx="2377440" cy="283464"/>
          </a:xfrm>
          <a:prstGeom prst="roundRect">
            <a:avLst>
              <a:gd name="adj" fmla="val 16129"/>
            </a:avLst>
          </a:prstGeom>
          <a:solidFill>
            <a:srgbClr val="F4F7F5"/>
          </a:solidFill>
          <a:ln w="6350">
            <a:solidFill>
              <a:srgbClr val="D5DED9"/>
            </a:solidFill>
            <a:prstDash val="solid"/>
          </a:ln>
        </p:spPr>
      </p:sp>
      <p:sp>
        <p:nvSpPr>
          <p:cNvPr id="36" name="Text 32"/>
          <p:cNvSpPr txBox="1"/>
          <p:nvPr/>
        </p:nvSpPr>
        <p:spPr>
          <a:xfrm>
            <a:off x="3858768" y="1856232"/>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musanze</a:t>
            </a:r>
            <a:endParaRPr lang="en-US" sz="1000" dirty="0"/>
          </a:p>
        </p:txBody>
      </p:sp>
      <p:sp>
        <p:nvSpPr>
          <p:cNvPr id="37" name="Text 33"/>
          <p:cNvSpPr txBox="1"/>
          <p:nvPr/>
        </p:nvSpPr>
        <p:spPr>
          <a:xfrm>
            <a:off x="5029200" y="1856232"/>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a:t>
            </a:r>
            <a:endParaRPr lang="en-US" sz="1050" dirty="0"/>
          </a:p>
        </p:txBody>
      </p:sp>
      <p:sp>
        <p:nvSpPr>
          <p:cNvPr id="38" name="Shape 34"/>
          <p:cNvSpPr/>
          <p:nvPr/>
        </p:nvSpPr>
        <p:spPr>
          <a:xfrm>
            <a:off x="3749040" y="2194560"/>
            <a:ext cx="2377440" cy="283464"/>
          </a:xfrm>
          <a:prstGeom prst="roundRect">
            <a:avLst>
              <a:gd name="adj" fmla="val 16129"/>
            </a:avLst>
          </a:prstGeom>
          <a:solidFill>
            <a:srgbClr val="F4F7F5"/>
          </a:solidFill>
          <a:ln w="6350">
            <a:solidFill>
              <a:srgbClr val="D5DED9"/>
            </a:solidFill>
            <a:prstDash val="solid"/>
          </a:ln>
        </p:spPr>
      </p:sp>
      <p:sp>
        <p:nvSpPr>
          <p:cNvPr id="39" name="Text 35"/>
          <p:cNvSpPr txBox="1"/>
          <p:nvPr/>
        </p:nvSpPr>
        <p:spPr>
          <a:xfrm>
            <a:off x="3858768" y="2194560"/>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urban</a:t>
            </a:r>
            <a:endParaRPr lang="en-US" sz="1000" dirty="0"/>
          </a:p>
        </p:txBody>
      </p:sp>
      <p:sp>
        <p:nvSpPr>
          <p:cNvPr id="40" name="Text 36"/>
          <p:cNvSpPr txBox="1"/>
          <p:nvPr/>
        </p:nvSpPr>
        <p:spPr>
          <a:xfrm>
            <a:off x="5029200" y="2194560"/>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a:t>
            </a:r>
            <a:endParaRPr lang="en-US" sz="1050" dirty="0"/>
          </a:p>
        </p:txBody>
      </p:sp>
      <p:sp>
        <p:nvSpPr>
          <p:cNvPr id="41" name="Shape 37"/>
          <p:cNvSpPr/>
          <p:nvPr/>
        </p:nvSpPr>
        <p:spPr>
          <a:xfrm>
            <a:off x="3749040" y="2532888"/>
            <a:ext cx="2377440" cy="283464"/>
          </a:xfrm>
          <a:prstGeom prst="roundRect">
            <a:avLst>
              <a:gd name="adj" fmla="val 16129"/>
            </a:avLst>
          </a:prstGeom>
          <a:solidFill>
            <a:srgbClr val="E8F5EF"/>
          </a:solidFill>
          <a:ln w="12700">
            <a:solidFill>
              <a:srgbClr val="00A86A"/>
            </a:solidFill>
            <a:prstDash val="solid"/>
          </a:ln>
        </p:spPr>
      </p:sp>
      <p:sp>
        <p:nvSpPr>
          <p:cNvPr id="42" name="Text 38"/>
          <p:cNvSpPr txBox="1"/>
          <p:nvPr/>
        </p:nvSpPr>
        <p:spPr>
          <a:xfrm>
            <a:off x="3858768" y="2532888"/>
            <a:ext cx="1097280" cy="283464"/>
          </a:xfrm>
          <a:prstGeom prst="rect">
            <a:avLst/>
          </a:prstGeom>
          <a:noFill/>
          <a:ln/>
        </p:spPr>
        <p:txBody>
          <a:bodyPr wrap="square" lIns="0" tIns="0" rIns="0" bIns="0" rtlCol="0" anchor="ctr"/>
          <a:lstStyle/>
          <a:p>
            <a:pPr marL="0" indent="0">
              <a:buNone/>
            </a:pPr>
            <a:r>
              <a:rPr lang="en-US" sz="1000" b="1" dirty="0">
                <a:solidFill>
                  <a:srgbClr val="231F20"/>
                </a:solidFill>
                <a:latin typeface="Courier New" pitchFamily="34" charset="0"/>
                <a:ea typeface="Courier New" pitchFamily="34" charset="-122"/>
                <a:cs typeface="Courier New" pitchFamily="34" charset="-120"/>
              </a:rPr>
              <a:t>rural</a:t>
            </a:r>
            <a:endParaRPr lang="en-US" sz="1000" dirty="0"/>
          </a:p>
        </p:txBody>
      </p:sp>
      <p:sp>
        <p:nvSpPr>
          <p:cNvPr id="43" name="Text 39"/>
          <p:cNvSpPr txBox="1"/>
          <p:nvPr/>
        </p:nvSpPr>
        <p:spPr>
          <a:xfrm>
            <a:off x="5029200" y="2532888"/>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 D3</a:t>
            </a:r>
            <a:endParaRPr lang="en-US" sz="1050" dirty="0"/>
          </a:p>
        </p:txBody>
      </p:sp>
      <p:sp>
        <p:nvSpPr>
          <p:cNvPr id="44" name="Shape 40"/>
          <p:cNvSpPr/>
          <p:nvPr/>
        </p:nvSpPr>
        <p:spPr>
          <a:xfrm>
            <a:off x="3749040" y="2871216"/>
            <a:ext cx="2377440" cy="283464"/>
          </a:xfrm>
          <a:prstGeom prst="roundRect">
            <a:avLst>
              <a:gd name="adj" fmla="val 16129"/>
            </a:avLst>
          </a:prstGeom>
          <a:solidFill>
            <a:srgbClr val="F4F7F5"/>
          </a:solidFill>
          <a:ln w="6350">
            <a:solidFill>
              <a:srgbClr val="D5DED9"/>
            </a:solidFill>
            <a:prstDash val="solid"/>
          </a:ln>
        </p:spPr>
      </p:sp>
      <p:sp>
        <p:nvSpPr>
          <p:cNvPr id="45" name="Text 41"/>
          <p:cNvSpPr txBox="1"/>
          <p:nvPr/>
        </p:nvSpPr>
        <p:spPr>
          <a:xfrm>
            <a:off x="3858768" y="2871216"/>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mobile</a:t>
            </a:r>
            <a:endParaRPr lang="en-US" sz="1000" dirty="0"/>
          </a:p>
        </p:txBody>
      </p:sp>
      <p:sp>
        <p:nvSpPr>
          <p:cNvPr id="46" name="Text 42"/>
          <p:cNvSpPr txBox="1"/>
          <p:nvPr/>
        </p:nvSpPr>
        <p:spPr>
          <a:xfrm>
            <a:off x="5029200" y="2871216"/>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D1, D3</a:t>
            </a:r>
            <a:endParaRPr lang="en-US" sz="1050" dirty="0"/>
          </a:p>
        </p:txBody>
      </p:sp>
      <p:sp>
        <p:nvSpPr>
          <p:cNvPr id="47" name="Shape 43"/>
          <p:cNvSpPr/>
          <p:nvPr/>
        </p:nvSpPr>
        <p:spPr>
          <a:xfrm>
            <a:off x="3749040" y="3209544"/>
            <a:ext cx="2377440" cy="283464"/>
          </a:xfrm>
          <a:prstGeom prst="roundRect">
            <a:avLst>
              <a:gd name="adj" fmla="val 16129"/>
            </a:avLst>
          </a:prstGeom>
          <a:solidFill>
            <a:srgbClr val="F4F7F5"/>
          </a:solidFill>
          <a:ln w="6350">
            <a:solidFill>
              <a:srgbClr val="D5DED9"/>
            </a:solidFill>
            <a:prstDash val="solid"/>
          </a:ln>
        </p:spPr>
      </p:sp>
      <p:sp>
        <p:nvSpPr>
          <p:cNvPr id="48" name="Text 44"/>
          <p:cNvSpPr txBox="1"/>
          <p:nvPr/>
        </p:nvSpPr>
        <p:spPr>
          <a:xfrm>
            <a:off x="3858768" y="3209544"/>
            <a:ext cx="1097280" cy="28346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fixed</a:t>
            </a:r>
            <a:endParaRPr lang="en-US" sz="1000" dirty="0"/>
          </a:p>
        </p:txBody>
      </p:sp>
      <p:sp>
        <p:nvSpPr>
          <p:cNvPr id="49" name="Text 45"/>
          <p:cNvSpPr txBox="1"/>
          <p:nvPr/>
        </p:nvSpPr>
        <p:spPr>
          <a:xfrm>
            <a:off x="5029200" y="3209544"/>
            <a:ext cx="1005840" cy="2834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D2</a:t>
            </a:r>
            <a:endParaRPr lang="en-US" sz="1050" dirty="0"/>
          </a:p>
        </p:txBody>
      </p:sp>
      <p:sp>
        <p:nvSpPr>
          <p:cNvPr id="50" name="Shape 46"/>
          <p:cNvSpPr/>
          <p:nvPr/>
        </p:nvSpPr>
        <p:spPr>
          <a:xfrm>
            <a:off x="6400800" y="1280160"/>
            <a:ext cx="2286000" cy="2249424"/>
          </a:xfrm>
          <a:prstGeom prst="roundRect">
            <a:avLst>
              <a:gd name="adj" fmla="val 3252"/>
            </a:avLst>
          </a:prstGeom>
          <a:solidFill>
            <a:srgbClr val="E8F5EF"/>
          </a:solidFill>
          <a:ln w="15875">
            <a:solidFill>
              <a:srgbClr val="00A86A"/>
            </a:solidFill>
            <a:prstDash val="solid"/>
          </a:ln>
        </p:spPr>
      </p:sp>
      <p:sp>
        <p:nvSpPr>
          <p:cNvPr id="51" name="Text 47"/>
          <p:cNvSpPr txBox="1"/>
          <p:nvPr/>
        </p:nvSpPr>
        <p:spPr>
          <a:xfrm>
            <a:off x="6565392" y="1389888"/>
            <a:ext cx="192024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QUERY</a:t>
            </a:r>
            <a:endParaRPr lang="en-US" sz="900" dirty="0"/>
          </a:p>
        </p:txBody>
      </p:sp>
      <p:sp>
        <p:nvSpPr>
          <p:cNvPr id="52" name="Text 48"/>
          <p:cNvSpPr txBox="1"/>
          <p:nvPr/>
        </p:nvSpPr>
        <p:spPr>
          <a:xfrm>
            <a:off x="6565392" y="1609344"/>
            <a:ext cx="2011680" cy="274320"/>
          </a:xfrm>
          <a:prstGeom prst="rect">
            <a:avLst/>
          </a:prstGeom>
          <a:noFill/>
          <a:ln/>
        </p:spPr>
        <p:txBody>
          <a:bodyPr wrap="square" lIns="0" tIns="0" rIns="0" bIns="0" rtlCol="0" anchor="t"/>
          <a:lstStyle/>
          <a:p>
            <a:pPr marL="0" indent="0">
              <a:buNone/>
            </a:pPr>
            <a:r>
              <a:rPr lang="en-US" sz="1100" b="1" dirty="0">
                <a:solidFill>
                  <a:srgbClr val="231F20"/>
                </a:solidFill>
                <a:latin typeface="Courier New" pitchFamily="34" charset="0"/>
                <a:ea typeface="Courier New" pitchFamily="34" charset="-122"/>
                <a:cs typeface="Courier New" pitchFamily="34" charset="-120"/>
              </a:rPr>
              <a:t>kigali AND rural</a:t>
            </a:r>
            <a:endParaRPr lang="en-US" sz="1100" dirty="0"/>
          </a:p>
        </p:txBody>
      </p:sp>
      <p:sp>
        <p:nvSpPr>
          <p:cNvPr id="53" name="Text 49"/>
          <p:cNvSpPr txBox="1"/>
          <p:nvPr/>
        </p:nvSpPr>
        <p:spPr>
          <a:xfrm>
            <a:off x="6565392" y="1965960"/>
            <a:ext cx="2011680" cy="548640"/>
          </a:xfrm>
          <a:prstGeom prst="rect">
            <a:avLst/>
          </a:prstGeom>
          <a:noFill/>
          <a:ln/>
        </p:spPr>
        <p:txBody>
          <a:bodyPr wrap="square" lIns="0" tIns="0" rIns="0" bIns="0" rtlCol="0" anchor="t"/>
          <a:lstStyle/>
          <a:p>
            <a:pPr marL="0" indent="0">
              <a:buNone/>
            </a:pPr>
            <a:r>
              <a:rPr lang="en-US" sz="1300" dirty="0">
                <a:solidFill>
                  <a:srgbClr val="231F20"/>
                </a:solidFill>
                <a:latin typeface="Calibri" pitchFamily="34" charset="0"/>
                <a:ea typeface="Calibri" pitchFamily="34" charset="-122"/>
                <a:cs typeface="Calibri" pitchFamily="34" charset="-120"/>
              </a:rPr>
              <a:t>{D1, D3} ∩ {D2, D3}</a:t>
            </a:r>
            <a:endParaRPr lang="en-US" sz="1300" dirty="0"/>
          </a:p>
          <a:p>
            <a:pPr marL="0" indent="0">
              <a:buNone/>
            </a:pPr>
            <a:r>
              <a:rPr lang="en-US" sz="1300" b="1" dirty="0">
                <a:solidFill>
                  <a:srgbClr val="00A86A"/>
                </a:solidFill>
                <a:latin typeface="Calibri" pitchFamily="34" charset="0"/>
                <a:ea typeface="Calibri" pitchFamily="34" charset="-122"/>
                <a:cs typeface="Calibri" pitchFamily="34" charset="-120"/>
              </a:rPr>
              <a:t>= {D3}</a:t>
            </a:r>
            <a:endParaRPr lang="en-US" sz="1300" dirty="0"/>
          </a:p>
        </p:txBody>
      </p:sp>
      <p:sp>
        <p:nvSpPr>
          <p:cNvPr id="54" name="Text 50"/>
          <p:cNvSpPr txBox="1"/>
          <p:nvPr/>
        </p:nvSpPr>
        <p:spPr>
          <a:xfrm>
            <a:off x="6565392" y="2606040"/>
            <a:ext cx="2011680" cy="8229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Found without reading a single document — only two short lists are compared.</a:t>
            </a:r>
            <a:endParaRPr lang="en-US" sz="1000" dirty="0"/>
          </a:p>
        </p:txBody>
      </p:sp>
      <p:sp>
        <p:nvSpPr>
          <p:cNvPr id="55" name="Shape 51"/>
          <p:cNvSpPr/>
          <p:nvPr/>
        </p:nvSpPr>
        <p:spPr>
          <a:xfrm>
            <a:off x="457200" y="3749040"/>
            <a:ext cx="8229600" cy="822960"/>
          </a:xfrm>
          <a:prstGeom prst="roundRect">
            <a:avLst>
              <a:gd name="adj" fmla="val 8889"/>
            </a:avLst>
          </a:prstGeom>
          <a:solidFill>
            <a:srgbClr val="F4F7F5"/>
          </a:solidFill>
          <a:ln w="9525">
            <a:solidFill>
              <a:srgbClr val="D5DED9"/>
            </a:solidFill>
            <a:prstDash val="solid"/>
          </a:ln>
        </p:spPr>
      </p:sp>
      <p:sp>
        <p:nvSpPr>
          <p:cNvPr id="56" name="Shape 52"/>
          <p:cNvSpPr/>
          <p:nvPr/>
        </p:nvSpPr>
        <p:spPr>
          <a:xfrm>
            <a:off x="603504" y="3931920"/>
            <a:ext cx="457200" cy="457200"/>
          </a:xfrm>
          <a:prstGeom prst="ellipse">
            <a:avLst/>
          </a:prstGeom>
          <a:solidFill>
            <a:srgbClr val="0E7C86">
              <a:alpha val="22000"/>
            </a:srgbClr>
          </a:solidFill>
          <a:ln/>
        </p:spPr>
      </p:sp>
      <p:pic>
        <p:nvPicPr>
          <p:cNvPr id="57" name="Image 1" descr="preencoded.png"/>
          <p:cNvPicPr>
            <a:picLocks noChangeAspect="1"/>
          </p:cNvPicPr>
          <p:nvPr/>
        </p:nvPicPr>
        <p:blipFill>
          <a:blip r:embed="rId4"/>
          <a:stretch>
            <a:fillRect/>
          </a:stretch>
        </p:blipFill>
        <p:spPr>
          <a:xfrm>
            <a:off x="722376" y="4050792"/>
            <a:ext cx="219456" cy="219456"/>
          </a:xfrm>
          <a:prstGeom prst="rect">
            <a:avLst/>
          </a:prstGeom>
        </p:spPr>
      </p:pic>
      <p:sp>
        <p:nvSpPr>
          <p:cNvPr id="58" name="Text 53"/>
          <p:cNvSpPr txBox="1"/>
          <p:nvPr/>
        </p:nvSpPr>
        <p:spPr>
          <a:xfrm>
            <a:off x="1207008" y="3785616"/>
            <a:ext cx="7360920" cy="7498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Think of the index at the back of a statistical yearbook: </a:t>
            </a:r>
            <a:r>
              <a:rPr lang="en-US" sz="1050" dirty="0">
                <a:solidFill>
                  <a:srgbClr val="231F20"/>
                </a:solidFill>
                <a:latin typeface="Calibri" pitchFamily="34" charset="0"/>
                <a:ea typeface="Calibri" pitchFamily="34" charset="-122"/>
                <a:cs typeface="Calibri" pitchFamily="34" charset="-120"/>
              </a:rPr>
              <a:t>look up the term, jump straight to the pages. Numbers and coordinates use a sibling structure (BKD trees) for ranges and geography. The trade-off: indexing costs time, disk and memory up front, so queries can be fast later.</a:t>
            </a:r>
            <a:endParaRPr lang="en-US" sz="10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Speaking Elasticsearch: a translation guide from pandas and SQL</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6" name="Text 12"/>
          <p:cNvSpPr txBox="1"/>
          <p:nvPr/>
        </p:nvSpPr>
        <p:spPr>
          <a:xfrm>
            <a:off x="594360" y="1261872"/>
            <a:ext cx="224028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 PANDAS / SQL</a:t>
            </a:r>
            <a:endParaRPr lang="en-US" sz="900" dirty="0"/>
          </a:p>
        </p:txBody>
      </p:sp>
      <p:sp>
        <p:nvSpPr>
          <p:cNvPr id="17" name="Text 13"/>
          <p:cNvSpPr txBox="1"/>
          <p:nvPr/>
        </p:nvSpPr>
        <p:spPr>
          <a:xfrm>
            <a:off x="3200400" y="1261872"/>
            <a:ext cx="182880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 ELASTICSEARCH</a:t>
            </a:r>
            <a:endParaRPr lang="en-US" sz="900" dirty="0"/>
          </a:p>
        </p:txBody>
      </p:sp>
      <p:sp>
        <p:nvSpPr>
          <p:cNvPr id="18" name="Text 14"/>
          <p:cNvSpPr txBox="1"/>
          <p:nvPr/>
        </p:nvSpPr>
        <p:spPr>
          <a:xfrm>
            <a:off x="5257800" y="1261872"/>
            <a:ext cx="356616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WHAT IT MEANS IN PRACTICE</a:t>
            </a:r>
            <a:endParaRPr lang="en-US" sz="900" dirty="0"/>
          </a:p>
        </p:txBody>
      </p:sp>
      <p:sp>
        <p:nvSpPr>
          <p:cNvPr id="19" name="Shape 15"/>
          <p:cNvSpPr/>
          <p:nvPr/>
        </p:nvSpPr>
        <p:spPr>
          <a:xfrm>
            <a:off x="457200" y="1536192"/>
            <a:ext cx="8229600" cy="420624"/>
          </a:xfrm>
          <a:prstGeom prst="roundRect">
            <a:avLst>
              <a:gd name="adj" fmla="val 17391"/>
            </a:avLst>
          </a:prstGeom>
          <a:solidFill>
            <a:srgbClr val="F4F7F5"/>
          </a:solidFill>
          <a:ln w="9525">
            <a:solidFill>
              <a:srgbClr val="D5DED9"/>
            </a:solidFill>
            <a:prstDash val="solid"/>
          </a:ln>
        </p:spPr>
      </p:sp>
      <p:sp>
        <p:nvSpPr>
          <p:cNvPr id="20" name="Text 16"/>
          <p:cNvSpPr txBox="1"/>
          <p:nvPr/>
        </p:nvSpPr>
        <p:spPr>
          <a:xfrm>
            <a:off x="594360" y="1536192"/>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DataFrame / table</a:t>
            </a:r>
            <a:endParaRPr lang="en-US" sz="1000" dirty="0"/>
          </a:p>
        </p:txBody>
      </p:sp>
      <p:sp>
        <p:nvSpPr>
          <p:cNvPr id="21" name="Shape 17"/>
          <p:cNvSpPr/>
          <p:nvPr/>
        </p:nvSpPr>
        <p:spPr>
          <a:xfrm>
            <a:off x="2697480" y="1746504"/>
            <a:ext cx="320040" cy="0"/>
          </a:xfrm>
          <a:prstGeom prst="line">
            <a:avLst/>
          </a:prstGeom>
          <a:noFill/>
          <a:ln w="15875">
            <a:solidFill>
              <a:srgbClr val="00A86A"/>
            </a:solidFill>
            <a:prstDash val="solid"/>
            <a:tailEnd type="triangle"/>
          </a:ln>
        </p:spPr>
      </p:sp>
      <p:sp>
        <p:nvSpPr>
          <p:cNvPr id="22" name="Text 18"/>
          <p:cNvSpPr txBox="1"/>
          <p:nvPr/>
        </p:nvSpPr>
        <p:spPr>
          <a:xfrm>
            <a:off x="3200400" y="1536192"/>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Index</a:t>
            </a:r>
            <a:endParaRPr lang="en-US" sz="1300" dirty="0"/>
          </a:p>
        </p:txBody>
      </p:sp>
      <p:sp>
        <p:nvSpPr>
          <p:cNvPr id="23" name="Text 19"/>
          <p:cNvSpPr txBox="1"/>
          <p:nvPr/>
        </p:nvSpPr>
        <p:spPr>
          <a:xfrm>
            <a:off x="5257800" y="1536192"/>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A named collection, e.g. ookla-tiles</a:t>
            </a:r>
            <a:endParaRPr lang="en-US" sz="1050" dirty="0"/>
          </a:p>
        </p:txBody>
      </p:sp>
      <p:sp>
        <p:nvSpPr>
          <p:cNvPr id="24" name="Shape 20"/>
          <p:cNvSpPr/>
          <p:nvPr/>
        </p:nvSpPr>
        <p:spPr>
          <a:xfrm>
            <a:off x="457200" y="2029968"/>
            <a:ext cx="8229600" cy="420624"/>
          </a:xfrm>
          <a:prstGeom prst="roundRect">
            <a:avLst>
              <a:gd name="adj" fmla="val 17391"/>
            </a:avLst>
          </a:prstGeom>
          <a:solidFill>
            <a:srgbClr val="FFFFFF"/>
          </a:solidFill>
          <a:ln w="9525">
            <a:solidFill>
              <a:srgbClr val="D5DED9"/>
            </a:solidFill>
            <a:prstDash val="solid"/>
          </a:ln>
        </p:spPr>
      </p:sp>
      <p:sp>
        <p:nvSpPr>
          <p:cNvPr id="25" name="Text 21"/>
          <p:cNvSpPr txBox="1"/>
          <p:nvPr/>
        </p:nvSpPr>
        <p:spPr>
          <a:xfrm>
            <a:off x="594360" y="2029968"/>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Row</a:t>
            </a:r>
            <a:endParaRPr lang="en-US" sz="1000" dirty="0"/>
          </a:p>
        </p:txBody>
      </p:sp>
      <p:sp>
        <p:nvSpPr>
          <p:cNvPr id="26" name="Shape 22"/>
          <p:cNvSpPr/>
          <p:nvPr/>
        </p:nvSpPr>
        <p:spPr>
          <a:xfrm>
            <a:off x="2697480" y="2240280"/>
            <a:ext cx="320040" cy="0"/>
          </a:xfrm>
          <a:prstGeom prst="line">
            <a:avLst/>
          </a:prstGeom>
          <a:noFill/>
          <a:ln w="15875">
            <a:solidFill>
              <a:srgbClr val="00A86A"/>
            </a:solidFill>
            <a:prstDash val="solid"/>
            <a:tailEnd type="triangle"/>
          </a:ln>
        </p:spPr>
      </p:sp>
      <p:sp>
        <p:nvSpPr>
          <p:cNvPr id="27" name="Text 23"/>
          <p:cNvSpPr txBox="1"/>
          <p:nvPr/>
        </p:nvSpPr>
        <p:spPr>
          <a:xfrm>
            <a:off x="3200400" y="2029968"/>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Document</a:t>
            </a:r>
            <a:endParaRPr lang="en-US" sz="1300" dirty="0"/>
          </a:p>
        </p:txBody>
      </p:sp>
      <p:sp>
        <p:nvSpPr>
          <p:cNvPr id="28" name="Text 24"/>
          <p:cNvSpPr txBox="1"/>
          <p:nvPr/>
        </p:nvSpPr>
        <p:spPr>
          <a:xfrm>
            <a:off x="5257800" y="2029968"/>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One tile per quarter, stored as JSON with a unique _id</a:t>
            </a:r>
            <a:endParaRPr lang="en-US" sz="1050" dirty="0"/>
          </a:p>
        </p:txBody>
      </p:sp>
      <p:sp>
        <p:nvSpPr>
          <p:cNvPr id="29" name="Shape 25"/>
          <p:cNvSpPr/>
          <p:nvPr/>
        </p:nvSpPr>
        <p:spPr>
          <a:xfrm>
            <a:off x="457200" y="2523744"/>
            <a:ext cx="8229600" cy="420624"/>
          </a:xfrm>
          <a:prstGeom prst="roundRect">
            <a:avLst>
              <a:gd name="adj" fmla="val 17391"/>
            </a:avLst>
          </a:prstGeom>
          <a:solidFill>
            <a:srgbClr val="F4F7F5"/>
          </a:solidFill>
          <a:ln w="9525">
            <a:solidFill>
              <a:srgbClr val="D5DED9"/>
            </a:solidFill>
            <a:prstDash val="solid"/>
          </a:ln>
        </p:spPr>
      </p:sp>
      <p:sp>
        <p:nvSpPr>
          <p:cNvPr id="30" name="Text 26"/>
          <p:cNvSpPr txBox="1"/>
          <p:nvPr/>
        </p:nvSpPr>
        <p:spPr>
          <a:xfrm>
            <a:off x="594360" y="2523744"/>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Column</a:t>
            </a:r>
            <a:endParaRPr lang="en-US" sz="1000" dirty="0"/>
          </a:p>
        </p:txBody>
      </p:sp>
      <p:sp>
        <p:nvSpPr>
          <p:cNvPr id="31" name="Shape 27"/>
          <p:cNvSpPr/>
          <p:nvPr/>
        </p:nvSpPr>
        <p:spPr>
          <a:xfrm>
            <a:off x="2697480" y="2734056"/>
            <a:ext cx="320040" cy="0"/>
          </a:xfrm>
          <a:prstGeom prst="line">
            <a:avLst/>
          </a:prstGeom>
          <a:noFill/>
          <a:ln w="15875">
            <a:solidFill>
              <a:srgbClr val="00A86A"/>
            </a:solidFill>
            <a:prstDash val="solid"/>
            <a:tailEnd type="triangle"/>
          </a:ln>
        </p:spPr>
      </p:sp>
      <p:sp>
        <p:nvSpPr>
          <p:cNvPr id="32" name="Text 28"/>
          <p:cNvSpPr txBox="1"/>
          <p:nvPr/>
        </p:nvSpPr>
        <p:spPr>
          <a:xfrm>
            <a:off x="3200400" y="2523744"/>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Field</a:t>
            </a:r>
            <a:endParaRPr lang="en-US" sz="1300" dirty="0"/>
          </a:p>
        </p:txBody>
      </p:sp>
      <p:sp>
        <p:nvSpPr>
          <p:cNvPr id="33" name="Text 29"/>
          <p:cNvSpPr txBox="1"/>
          <p:nvPr/>
        </p:nvSpPr>
        <p:spPr>
          <a:xfrm>
            <a:off x="5257800" y="2523744"/>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quadkey, avg_d_kbps, tile … each is indexed</a:t>
            </a:r>
            <a:endParaRPr lang="en-US" sz="1050" dirty="0"/>
          </a:p>
        </p:txBody>
      </p:sp>
      <p:sp>
        <p:nvSpPr>
          <p:cNvPr id="34" name="Shape 30"/>
          <p:cNvSpPr/>
          <p:nvPr/>
        </p:nvSpPr>
        <p:spPr>
          <a:xfrm>
            <a:off x="457200" y="3017520"/>
            <a:ext cx="8229600" cy="420624"/>
          </a:xfrm>
          <a:prstGeom prst="roundRect">
            <a:avLst>
              <a:gd name="adj" fmla="val 17391"/>
            </a:avLst>
          </a:prstGeom>
          <a:solidFill>
            <a:srgbClr val="FFFFFF"/>
          </a:solidFill>
          <a:ln w="9525">
            <a:solidFill>
              <a:srgbClr val="D5DED9"/>
            </a:solidFill>
            <a:prstDash val="solid"/>
          </a:ln>
        </p:spPr>
      </p:sp>
      <p:sp>
        <p:nvSpPr>
          <p:cNvPr id="35" name="Text 31"/>
          <p:cNvSpPr txBox="1"/>
          <p:nvPr/>
        </p:nvSpPr>
        <p:spPr>
          <a:xfrm>
            <a:off x="594360" y="3017520"/>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dtypes / schema</a:t>
            </a:r>
            <a:endParaRPr lang="en-US" sz="1000" dirty="0"/>
          </a:p>
        </p:txBody>
      </p:sp>
      <p:sp>
        <p:nvSpPr>
          <p:cNvPr id="36" name="Shape 32"/>
          <p:cNvSpPr/>
          <p:nvPr/>
        </p:nvSpPr>
        <p:spPr>
          <a:xfrm>
            <a:off x="2697480" y="3227832"/>
            <a:ext cx="320040" cy="0"/>
          </a:xfrm>
          <a:prstGeom prst="line">
            <a:avLst/>
          </a:prstGeom>
          <a:noFill/>
          <a:ln w="15875">
            <a:solidFill>
              <a:srgbClr val="00A86A"/>
            </a:solidFill>
            <a:prstDash val="solid"/>
            <a:tailEnd type="triangle"/>
          </a:ln>
        </p:spPr>
      </p:sp>
      <p:sp>
        <p:nvSpPr>
          <p:cNvPr id="37" name="Text 33"/>
          <p:cNvSpPr txBox="1"/>
          <p:nvPr/>
        </p:nvSpPr>
        <p:spPr>
          <a:xfrm>
            <a:off x="3200400" y="3017520"/>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Mapping</a:t>
            </a:r>
            <a:endParaRPr lang="en-US" sz="1300" dirty="0"/>
          </a:p>
        </p:txBody>
      </p:sp>
      <p:sp>
        <p:nvSpPr>
          <p:cNvPr id="38" name="Text 34"/>
          <p:cNvSpPr txBox="1"/>
          <p:nvPr/>
        </p:nvSpPr>
        <p:spPr>
          <a:xfrm>
            <a:off x="5257800" y="3017520"/>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Declared types; changing one later means reindexing</a:t>
            </a:r>
            <a:endParaRPr lang="en-US" sz="1050" dirty="0"/>
          </a:p>
        </p:txBody>
      </p:sp>
      <p:sp>
        <p:nvSpPr>
          <p:cNvPr id="39" name="Shape 35"/>
          <p:cNvSpPr/>
          <p:nvPr/>
        </p:nvSpPr>
        <p:spPr>
          <a:xfrm>
            <a:off x="457200" y="3511296"/>
            <a:ext cx="8229600" cy="420624"/>
          </a:xfrm>
          <a:prstGeom prst="roundRect">
            <a:avLst>
              <a:gd name="adj" fmla="val 17391"/>
            </a:avLst>
          </a:prstGeom>
          <a:solidFill>
            <a:srgbClr val="F4F7F5"/>
          </a:solidFill>
          <a:ln w="9525">
            <a:solidFill>
              <a:srgbClr val="D5DED9"/>
            </a:solidFill>
            <a:prstDash val="solid"/>
          </a:ln>
        </p:spPr>
      </p:sp>
      <p:sp>
        <p:nvSpPr>
          <p:cNvPr id="40" name="Text 36"/>
          <p:cNvSpPr txBox="1"/>
          <p:nvPr/>
        </p:nvSpPr>
        <p:spPr>
          <a:xfrm>
            <a:off x="594360" y="3511296"/>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df[filter] / WHERE</a:t>
            </a:r>
            <a:endParaRPr lang="en-US" sz="1000" dirty="0"/>
          </a:p>
        </p:txBody>
      </p:sp>
      <p:sp>
        <p:nvSpPr>
          <p:cNvPr id="41" name="Shape 37"/>
          <p:cNvSpPr/>
          <p:nvPr/>
        </p:nvSpPr>
        <p:spPr>
          <a:xfrm>
            <a:off x="2697480" y="3721608"/>
            <a:ext cx="320040" cy="0"/>
          </a:xfrm>
          <a:prstGeom prst="line">
            <a:avLst/>
          </a:prstGeom>
          <a:noFill/>
          <a:ln w="15875">
            <a:solidFill>
              <a:srgbClr val="00A86A"/>
            </a:solidFill>
            <a:prstDash val="solid"/>
            <a:tailEnd type="triangle"/>
          </a:ln>
        </p:spPr>
      </p:sp>
      <p:sp>
        <p:nvSpPr>
          <p:cNvPr id="42" name="Text 38"/>
          <p:cNvSpPr txBox="1"/>
          <p:nvPr/>
        </p:nvSpPr>
        <p:spPr>
          <a:xfrm>
            <a:off x="3200400" y="3511296"/>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Query</a:t>
            </a:r>
            <a:endParaRPr lang="en-US" sz="1300" dirty="0"/>
          </a:p>
        </p:txBody>
      </p:sp>
      <p:sp>
        <p:nvSpPr>
          <p:cNvPr id="43" name="Text 39"/>
          <p:cNvSpPr txBox="1"/>
          <p:nvPr/>
        </p:nvSpPr>
        <p:spPr>
          <a:xfrm>
            <a:off x="5257800" y="3511296"/>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Query DSL (JSON) or ES|QL (piped text)</a:t>
            </a:r>
            <a:endParaRPr lang="en-US" sz="1050" dirty="0"/>
          </a:p>
        </p:txBody>
      </p:sp>
      <p:sp>
        <p:nvSpPr>
          <p:cNvPr id="44" name="Shape 40"/>
          <p:cNvSpPr/>
          <p:nvPr/>
        </p:nvSpPr>
        <p:spPr>
          <a:xfrm>
            <a:off x="457200" y="4005072"/>
            <a:ext cx="8229600" cy="420624"/>
          </a:xfrm>
          <a:prstGeom prst="roundRect">
            <a:avLst>
              <a:gd name="adj" fmla="val 17391"/>
            </a:avLst>
          </a:prstGeom>
          <a:solidFill>
            <a:srgbClr val="FFFFFF"/>
          </a:solidFill>
          <a:ln w="9525">
            <a:solidFill>
              <a:srgbClr val="D5DED9"/>
            </a:solidFill>
            <a:prstDash val="solid"/>
          </a:ln>
        </p:spPr>
      </p:sp>
      <p:sp>
        <p:nvSpPr>
          <p:cNvPr id="45" name="Text 41"/>
          <p:cNvSpPr txBox="1"/>
          <p:nvPr/>
        </p:nvSpPr>
        <p:spPr>
          <a:xfrm>
            <a:off x="594360" y="4005072"/>
            <a:ext cx="2194560" cy="420624"/>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groupby().agg() / GROUP BY</a:t>
            </a:r>
            <a:endParaRPr lang="en-US" sz="1000" dirty="0"/>
          </a:p>
        </p:txBody>
      </p:sp>
      <p:sp>
        <p:nvSpPr>
          <p:cNvPr id="46" name="Shape 42"/>
          <p:cNvSpPr/>
          <p:nvPr/>
        </p:nvSpPr>
        <p:spPr>
          <a:xfrm>
            <a:off x="2697480" y="4215384"/>
            <a:ext cx="320040" cy="0"/>
          </a:xfrm>
          <a:prstGeom prst="line">
            <a:avLst/>
          </a:prstGeom>
          <a:noFill/>
          <a:ln w="15875">
            <a:solidFill>
              <a:srgbClr val="00A86A"/>
            </a:solidFill>
            <a:prstDash val="solid"/>
            <a:tailEnd type="triangle"/>
          </a:ln>
        </p:spPr>
      </p:sp>
      <p:sp>
        <p:nvSpPr>
          <p:cNvPr id="47" name="Text 43"/>
          <p:cNvSpPr txBox="1"/>
          <p:nvPr/>
        </p:nvSpPr>
        <p:spPr>
          <a:xfrm>
            <a:off x="3200400" y="4005072"/>
            <a:ext cx="1828800" cy="420624"/>
          </a:xfrm>
          <a:prstGeom prst="rect">
            <a:avLst/>
          </a:prstGeom>
          <a:noFill/>
          <a:ln/>
        </p:spPr>
        <p:txBody>
          <a:bodyPr wrap="square" lIns="0" tIns="0" rIns="0" bIns="0" rtlCol="0" anchor="ctr"/>
          <a:lstStyle/>
          <a:p>
            <a:pPr marL="0" indent="0">
              <a:buNone/>
            </a:pPr>
            <a:r>
              <a:rPr lang="en-US" sz="1300" b="1" dirty="0">
                <a:solidFill>
                  <a:srgbClr val="00704A"/>
                </a:solidFill>
                <a:latin typeface="Calibri" pitchFamily="34" charset="0"/>
                <a:ea typeface="Calibri" pitchFamily="34" charset="-122"/>
                <a:cs typeface="Calibri" pitchFamily="34" charset="-120"/>
              </a:rPr>
              <a:t>Aggregation</a:t>
            </a:r>
            <a:endParaRPr lang="en-US" sz="1300" dirty="0"/>
          </a:p>
        </p:txBody>
      </p:sp>
      <p:sp>
        <p:nvSpPr>
          <p:cNvPr id="48" name="Text 44"/>
          <p:cNvSpPr txBox="1"/>
          <p:nvPr/>
        </p:nvSpPr>
        <p:spPr>
          <a:xfrm>
            <a:off x="5257800" y="4005072"/>
            <a:ext cx="3337560" cy="42062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Buckets (groups) and metrics (statistics)</a:t>
            </a:r>
            <a:endParaRPr lang="en-US" sz="10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THE ELASTIC STACK</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Anatomy of a cluster: nodes, shards and replicas</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00704A"/>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Shape 12"/>
          <p:cNvSpPr/>
          <p:nvPr/>
        </p:nvSpPr>
        <p:spPr>
          <a:xfrm>
            <a:off x="457200" y="1261872"/>
            <a:ext cx="4754880" cy="2852928"/>
          </a:xfrm>
          <a:prstGeom prst="roundRect">
            <a:avLst>
              <a:gd name="adj" fmla="val 2564"/>
            </a:avLst>
          </a:prstGeom>
          <a:solidFill>
            <a:srgbClr val="FFFFFF"/>
          </a:solidFill>
          <a:ln w="12700">
            <a:solidFill>
              <a:srgbClr val="5E6964"/>
            </a:solidFill>
            <a:prstDash val="dash"/>
          </a:ln>
        </p:spPr>
      </p:sp>
      <p:sp>
        <p:nvSpPr>
          <p:cNvPr id="17" name="Text 13"/>
          <p:cNvSpPr txBox="1"/>
          <p:nvPr/>
        </p:nvSpPr>
        <p:spPr>
          <a:xfrm>
            <a:off x="640080" y="1344168"/>
            <a:ext cx="2743200" cy="201168"/>
          </a:xfrm>
          <a:prstGeom prst="rect">
            <a:avLst/>
          </a:prstGeom>
          <a:noFill/>
          <a:ln/>
        </p:spPr>
        <p:txBody>
          <a:bodyPr wrap="square" lIns="0" tIns="0" rIns="0" bIns="0" rtlCol="0" anchor="t"/>
          <a:lstStyle/>
          <a:p>
            <a:pPr marL="0" indent="0">
              <a:buNone/>
            </a:pPr>
            <a:r>
              <a:rPr lang="en-US" sz="950" b="1" kern="0" spc="200" dirty="0">
                <a:solidFill>
                  <a:srgbClr val="5E6964"/>
                </a:solidFill>
                <a:latin typeface="Calibri" pitchFamily="34" charset="0"/>
                <a:ea typeface="Calibri" pitchFamily="34" charset="-122"/>
                <a:cs typeface="Calibri" pitchFamily="34" charset="-120"/>
              </a:rPr>
              <a:t>CLUSTER  di4a-lab</a:t>
            </a:r>
            <a:endParaRPr lang="en-US" sz="950" dirty="0"/>
          </a:p>
        </p:txBody>
      </p:sp>
      <p:sp>
        <p:nvSpPr>
          <p:cNvPr id="18" name="Shape 14"/>
          <p:cNvSpPr/>
          <p:nvPr/>
        </p:nvSpPr>
        <p:spPr>
          <a:xfrm>
            <a:off x="685800" y="1645920"/>
            <a:ext cx="1280160" cy="2286000"/>
          </a:xfrm>
          <a:prstGeom prst="roundRect">
            <a:avLst>
              <a:gd name="adj" fmla="val 5714"/>
            </a:avLst>
          </a:prstGeom>
          <a:solidFill>
            <a:srgbClr val="F4F7F5"/>
          </a:solidFill>
          <a:ln w="9525">
            <a:solidFill>
              <a:srgbClr val="D5DED9"/>
            </a:solidFill>
            <a:prstDash val="solid"/>
          </a:ln>
        </p:spPr>
      </p:sp>
      <p:sp>
        <p:nvSpPr>
          <p:cNvPr id="19" name="Shape 15"/>
          <p:cNvSpPr/>
          <p:nvPr/>
        </p:nvSpPr>
        <p:spPr>
          <a:xfrm>
            <a:off x="795528" y="1737360"/>
            <a:ext cx="365760" cy="365760"/>
          </a:xfrm>
          <a:prstGeom prst="ellipse">
            <a:avLst/>
          </a:prstGeom>
          <a:solidFill>
            <a:srgbClr val="00704A">
              <a:alpha val="22000"/>
            </a:srgbClr>
          </a:solidFill>
          <a:ln/>
        </p:spPr>
      </p:sp>
      <p:pic>
        <p:nvPicPr>
          <p:cNvPr id="20" name="Image 1" descr="preencoded.png"/>
          <p:cNvPicPr>
            <a:picLocks noChangeAspect="1"/>
          </p:cNvPicPr>
          <p:nvPr/>
        </p:nvPicPr>
        <p:blipFill>
          <a:blip r:embed="rId4"/>
          <a:stretch>
            <a:fillRect/>
          </a:stretch>
        </p:blipFill>
        <p:spPr>
          <a:xfrm>
            <a:off x="890626" y="1832458"/>
            <a:ext cx="175565" cy="175565"/>
          </a:xfrm>
          <a:prstGeom prst="rect">
            <a:avLst/>
          </a:prstGeom>
        </p:spPr>
      </p:pic>
      <p:sp>
        <p:nvSpPr>
          <p:cNvPr id="21" name="Text 16"/>
          <p:cNvSpPr txBox="1"/>
          <p:nvPr/>
        </p:nvSpPr>
        <p:spPr>
          <a:xfrm>
            <a:off x="121615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1</a:t>
            </a:r>
            <a:endParaRPr lang="en-US" sz="1150" dirty="0"/>
          </a:p>
        </p:txBody>
      </p:sp>
      <p:sp>
        <p:nvSpPr>
          <p:cNvPr id="22" name="Shape 17"/>
          <p:cNvSpPr/>
          <p:nvPr/>
        </p:nvSpPr>
        <p:spPr>
          <a:xfrm>
            <a:off x="868680" y="2286000"/>
            <a:ext cx="914400" cy="566928"/>
          </a:xfrm>
          <a:prstGeom prst="roundRect">
            <a:avLst>
              <a:gd name="adj" fmla="val 9677"/>
            </a:avLst>
          </a:prstGeom>
          <a:solidFill>
            <a:srgbClr val="00A86A"/>
          </a:solidFill>
          <a:ln w="12700">
            <a:solidFill>
              <a:srgbClr val="00A86A"/>
            </a:solidFill>
            <a:prstDash val="solid"/>
          </a:ln>
        </p:spPr>
      </p:sp>
      <p:sp>
        <p:nvSpPr>
          <p:cNvPr id="23" name="Text 18"/>
          <p:cNvSpPr txBox="1"/>
          <p:nvPr/>
        </p:nvSpPr>
        <p:spPr>
          <a:xfrm>
            <a:off x="86868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P0</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24" name="Shape 19"/>
          <p:cNvSpPr/>
          <p:nvPr/>
        </p:nvSpPr>
        <p:spPr>
          <a:xfrm>
            <a:off x="868680" y="3063240"/>
            <a:ext cx="914400" cy="566928"/>
          </a:xfrm>
          <a:prstGeom prst="roundRect">
            <a:avLst>
              <a:gd name="adj" fmla="val 9677"/>
            </a:avLst>
          </a:prstGeom>
          <a:solidFill>
            <a:srgbClr val="E8F5EF"/>
          </a:solidFill>
          <a:ln w="12700">
            <a:solidFill>
              <a:srgbClr val="00A86A"/>
            </a:solidFill>
            <a:prstDash val="solid"/>
          </a:ln>
        </p:spPr>
      </p:sp>
      <p:sp>
        <p:nvSpPr>
          <p:cNvPr id="25" name="Text 20"/>
          <p:cNvSpPr txBox="1"/>
          <p:nvPr/>
        </p:nvSpPr>
        <p:spPr>
          <a:xfrm>
            <a:off x="86868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R2</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26" name="Shape 21"/>
          <p:cNvSpPr/>
          <p:nvPr/>
        </p:nvSpPr>
        <p:spPr>
          <a:xfrm>
            <a:off x="2194560" y="1645920"/>
            <a:ext cx="1280160" cy="2286000"/>
          </a:xfrm>
          <a:prstGeom prst="roundRect">
            <a:avLst>
              <a:gd name="adj" fmla="val 5714"/>
            </a:avLst>
          </a:prstGeom>
          <a:solidFill>
            <a:srgbClr val="F4F7F5"/>
          </a:solidFill>
          <a:ln w="9525">
            <a:solidFill>
              <a:srgbClr val="D5DED9"/>
            </a:solidFill>
            <a:prstDash val="solid"/>
          </a:ln>
        </p:spPr>
      </p:sp>
      <p:sp>
        <p:nvSpPr>
          <p:cNvPr id="27" name="Shape 22"/>
          <p:cNvSpPr/>
          <p:nvPr/>
        </p:nvSpPr>
        <p:spPr>
          <a:xfrm>
            <a:off x="2304288" y="1737360"/>
            <a:ext cx="365760" cy="365760"/>
          </a:xfrm>
          <a:prstGeom prst="ellipse">
            <a:avLst/>
          </a:prstGeom>
          <a:solidFill>
            <a:srgbClr val="00704A">
              <a:alpha val="22000"/>
            </a:srgbClr>
          </a:solidFill>
          <a:ln/>
        </p:spPr>
      </p:sp>
      <p:pic>
        <p:nvPicPr>
          <p:cNvPr id="28" name="Image 2" descr="preencoded.png"/>
          <p:cNvPicPr>
            <a:picLocks noChangeAspect="1"/>
          </p:cNvPicPr>
          <p:nvPr/>
        </p:nvPicPr>
        <p:blipFill>
          <a:blip r:embed="rId4"/>
          <a:stretch>
            <a:fillRect/>
          </a:stretch>
        </p:blipFill>
        <p:spPr>
          <a:xfrm>
            <a:off x="2399386" y="1832458"/>
            <a:ext cx="175565" cy="175565"/>
          </a:xfrm>
          <a:prstGeom prst="rect">
            <a:avLst/>
          </a:prstGeom>
        </p:spPr>
      </p:pic>
      <p:sp>
        <p:nvSpPr>
          <p:cNvPr id="29" name="Text 23"/>
          <p:cNvSpPr txBox="1"/>
          <p:nvPr/>
        </p:nvSpPr>
        <p:spPr>
          <a:xfrm>
            <a:off x="272491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2</a:t>
            </a:r>
            <a:endParaRPr lang="en-US" sz="1150" dirty="0"/>
          </a:p>
        </p:txBody>
      </p:sp>
      <p:sp>
        <p:nvSpPr>
          <p:cNvPr id="30" name="Shape 24"/>
          <p:cNvSpPr/>
          <p:nvPr/>
        </p:nvSpPr>
        <p:spPr>
          <a:xfrm>
            <a:off x="2377440" y="2286000"/>
            <a:ext cx="914400" cy="566928"/>
          </a:xfrm>
          <a:prstGeom prst="roundRect">
            <a:avLst>
              <a:gd name="adj" fmla="val 9677"/>
            </a:avLst>
          </a:prstGeom>
          <a:solidFill>
            <a:srgbClr val="00A86A"/>
          </a:solidFill>
          <a:ln w="12700">
            <a:solidFill>
              <a:srgbClr val="00A86A"/>
            </a:solidFill>
            <a:prstDash val="solid"/>
          </a:ln>
        </p:spPr>
      </p:sp>
      <p:sp>
        <p:nvSpPr>
          <p:cNvPr id="31" name="Text 25"/>
          <p:cNvSpPr txBox="1"/>
          <p:nvPr/>
        </p:nvSpPr>
        <p:spPr>
          <a:xfrm>
            <a:off x="237744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P1</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32" name="Shape 26"/>
          <p:cNvSpPr/>
          <p:nvPr/>
        </p:nvSpPr>
        <p:spPr>
          <a:xfrm>
            <a:off x="2377440" y="3063240"/>
            <a:ext cx="914400" cy="566928"/>
          </a:xfrm>
          <a:prstGeom prst="roundRect">
            <a:avLst>
              <a:gd name="adj" fmla="val 9677"/>
            </a:avLst>
          </a:prstGeom>
          <a:solidFill>
            <a:srgbClr val="E8F5EF"/>
          </a:solidFill>
          <a:ln w="12700">
            <a:solidFill>
              <a:srgbClr val="00A86A"/>
            </a:solidFill>
            <a:prstDash val="solid"/>
          </a:ln>
        </p:spPr>
      </p:sp>
      <p:sp>
        <p:nvSpPr>
          <p:cNvPr id="33" name="Text 27"/>
          <p:cNvSpPr txBox="1"/>
          <p:nvPr/>
        </p:nvSpPr>
        <p:spPr>
          <a:xfrm>
            <a:off x="237744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R0</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34" name="Shape 28"/>
          <p:cNvSpPr/>
          <p:nvPr/>
        </p:nvSpPr>
        <p:spPr>
          <a:xfrm>
            <a:off x="3703320" y="1645920"/>
            <a:ext cx="1280160" cy="2286000"/>
          </a:xfrm>
          <a:prstGeom prst="roundRect">
            <a:avLst>
              <a:gd name="adj" fmla="val 5714"/>
            </a:avLst>
          </a:prstGeom>
          <a:solidFill>
            <a:srgbClr val="F4F7F5"/>
          </a:solidFill>
          <a:ln w="9525">
            <a:solidFill>
              <a:srgbClr val="D5DED9"/>
            </a:solidFill>
            <a:prstDash val="solid"/>
          </a:ln>
        </p:spPr>
      </p:sp>
      <p:sp>
        <p:nvSpPr>
          <p:cNvPr id="35" name="Shape 29"/>
          <p:cNvSpPr/>
          <p:nvPr/>
        </p:nvSpPr>
        <p:spPr>
          <a:xfrm>
            <a:off x="3813048" y="1737360"/>
            <a:ext cx="365760" cy="365760"/>
          </a:xfrm>
          <a:prstGeom prst="ellipse">
            <a:avLst/>
          </a:prstGeom>
          <a:solidFill>
            <a:srgbClr val="00704A">
              <a:alpha val="22000"/>
            </a:srgbClr>
          </a:solidFill>
          <a:ln/>
        </p:spPr>
      </p:sp>
      <p:pic>
        <p:nvPicPr>
          <p:cNvPr id="36" name="Image 3" descr="preencoded.png"/>
          <p:cNvPicPr>
            <a:picLocks noChangeAspect="1"/>
          </p:cNvPicPr>
          <p:nvPr/>
        </p:nvPicPr>
        <p:blipFill>
          <a:blip r:embed="rId4"/>
          <a:stretch>
            <a:fillRect/>
          </a:stretch>
        </p:blipFill>
        <p:spPr>
          <a:xfrm>
            <a:off x="3908146" y="1832458"/>
            <a:ext cx="175565" cy="175565"/>
          </a:xfrm>
          <a:prstGeom prst="rect">
            <a:avLst/>
          </a:prstGeom>
        </p:spPr>
      </p:pic>
      <p:sp>
        <p:nvSpPr>
          <p:cNvPr id="37" name="Text 30"/>
          <p:cNvSpPr txBox="1"/>
          <p:nvPr/>
        </p:nvSpPr>
        <p:spPr>
          <a:xfrm>
            <a:off x="4233672" y="1737360"/>
            <a:ext cx="7315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Node 3</a:t>
            </a:r>
            <a:endParaRPr lang="en-US" sz="1150" dirty="0"/>
          </a:p>
        </p:txBody>
      </p:sp>
      <p:sp>
        <p:nvSpPr>
          <p:cNvPr id="38" name="Shape 31"/>
          <p:cNvSpPr/>
          <p:nvPr/>
        </p:nvSpPr>
        <p:spPr>
          <a:xfrm>
            <a:off x="3886200" y="2286000"/>
            <a:ext cx="914400" cy="566928"/>
          </a:xfrm>
          <a:prstGeom prst="roundRect">
            <a:avLst>
              <a:gd name="adj" fmla="val 9677"/>
            </a:avLst>
          </a:prstGeom>
          <a:solidFill>
            <a:srgbClr val="00A86A"/>
          </a:solidFill>
          <a:ln w="12700">
            <a:solidFill>
              <a:srgbClr val="00A86A"/>
            </a:solidFill>
            <a:prstDash val="solid"/>
          </a:ln>
        </p:spPr>
      </p:sp>
      <p:sp>
        <p:nvSpPr>
          <p:cNvPr id="39" name="Text 32"/>
          <p:cNvSpPr txBox="1"/>
          <p:nvPr/>
        </p:nvSpPr>
        <p:spPr>
          <a:xfrm>
            <a:off x="3886200" y="2286000"/>
            <a:ext cx="914400"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P2</a:t>
            </a:r>
            <a:endParaRPr lang="en-US" sz="1400" dirty="0"/>
          </a:p>
          <a:p>
            <a:pPr marL="0" indent="0" algn="ctr">
              <a:buNone/>
            </a:pPr>
            <a:r>
              <a:rPr lang="en-US" sz="850" dirty="0">
                <a:solidFill>
                  <a:srgbClr val="FFFFFF"/>
                </a:solidFill>
                <a:latin typeface="Calibri" pitchFamily="34" charset="0"/>
                <a:ea typeface="Calibri" pitchFamily="34" charset="-122"/>
                <a:cs typeface="Calibri" pitchFamily="34" charset="-120"/>
              </a:rPr>
              <a:t>primary</a:t>
            </a:r>
            <a:endParaRPr lang="en-US" sz="1400" dirty="0"/>
          </a:p>
        </p:txBody>
      </p:sp>
      <p:sp>
        <p:nvSpPr>
          <p:cNvPr id="40" name="Shape 33"/>
          <p:cNvSpPr/>
          <p:nvPr/>
        </p:nvSpPr>
        <p:spPr>
          <a:xfrm>
            <a:off x="3886200" y="3063240"/>
            <a:ext cx="914400" cy="566928"/>
          </a:xfrm>
          <a:prstGeom prst="roundRect">
            <a:avLst>
              <a:gd name="adj" fmla="val 9677"/>
            </a:avLst>
          </a:prstGeom>
          <a:solidFill>
            <a:srgbClr val="E8F5EF"/>
          </a:solidFill>
          <a:ln w="12700">
            <a:solidFill>
              <a:srgbClr val="00A86A"/>
            </a:solidFill>
            <a:prstDash val="solid"/>
          </a:ln>
        </p:spPr>
      </p:sp>
      <p:sp>
        <p:nvSpPr>
          <p:cNvPr id="41" name="Text 34"/>
          <p:cNvSpPr txBox="1"/>
          <p:nvPr/>
        </p:nvSpPr>
        <p:spPr>
          <a:xfrm>
            <a:off x="3886200" y="3063240"/>
            <a:ext cx="914400" cy="566928"/>
          </a:xfrm>
          <a:prstGeom prst="rect">
            <a:avLst/>
          </a:prstGeom>
          <a:noFill/>
          <a:ln/>
        </p:spPr>
        <p:txBody>
          <a:bodyPr wrap="square" lIns="0" tIns="0" rIns="0" bIns="0" rtlCol="0" anchor="ctr"/>
          <a:lstStyle/>
          <a:p>
            <a:pPr marL="0" indent="0" algn="ctr">
              <a:buNone/>
            </a:pPr>
            <a:r>
              <a:rPr lang="en-US" sz="1400" b="1" dirty="0">
                <a:solidFill>
                  <a:srgbClr val="00704A"/>
                </a:solidFill>
                <a:latin typeface="Calibri" pitchFamily="34" charset="0"/>
                <a:ea typeface="Calibri" pitchFamily="34" charset="-122"/>
                <a:cs typeface="Calibri" pitchFamily="34" charset="-120"/>
              </a:rPr>
              <a:t>R1</a:t>
            </a:r>
            <a:endParaRPr lang="en-US" sz="1400" dirty="0"/>
          </a:p>
          <a:p>
            <a:pPr marL="0" indent="0" algn="ctr">
              <a:buNone/>
            </a:pPr>
            <a:r>
              <a:rPr lang="en-US" sz="850" dirty="0">
                <a:solidFill>
                  <a:srgbClr val="00704A"/>
                </a:solidFill>
                <a:latin typeface="Calibri" pitchFamily="34" charset="0"/>
                <a:ea typeface="Calibri" pitchFamily="34" charset="-122"/>
                <a:cs typeface="Calibri" pitchFamily="34" charset="-120"/>
              </a:rPr>
              <a:t>replica</a:t>
            </a:r>
            <a:endParaRPr lang="en-US" sz="1400" dirty="0"/>
          </a:p>
        </p:txBody>
      </p:sp>
      <p:sp>
        <p:nvSpPr>
          <p:cNvPr id="42" name="Text 35"/>
          <p:cNvSpPr txBox="1"/>
          <p:nvPr/>
        </p:nvSpPr>
        <p:spPr>
          <a:xfrm>
            <a:off x="457200" y="4206240"/>
            <a:ext cx="4754880" cy="22860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ookla-tiles: 3 primaries (P) × 1 replica (R) — never on the same node.</a:t>
            </a:r>
            <a:endParaRPr lang="en-US" sz="950" dirty="0"/>
          </a:p>
        </p:txBody>
      </p:sp>
      <p:sp>
        <p:nvSpPr>
          <p:cNvPr id="43" name="Shape 36"/>
          <p:cNvSpPr/>
          <p:nvPr/>
        </p:nvSpPr>
        <p:spPr>
          <a:xfrm>
            <a:off x="5486400" y="1307592"/>
            <a:ext cx="402336" cy="402336"/>
          </a:xfrm>
          <a:prstGeom prst="ellipse">
            <a:avLst/>
          </a:prstGeom>
          <a:solidFill>
            <a:srgbClr val="00A86A">
              <a:alpha val="22000"/>
            </a:srgbClr>
          </a:solidFill>
          <a:ln/>
        </p:spPr>
      </p:sp>
      <p:pic>
        <p:nvPicPr>
          <p:cNvPr id="44" name="Image 4" descr="preencoded.png"/>
          <p:cNvPicPr>
            <a:picLocks noChangeAspect="1"/>
          </p:cNvPicPr>
          <p:nvPr/>
        </p:nvPicPr>
        <p:blipFill>
          <a:blip r:embed="rId5"/>
          <a:stretch>
            <a:fillRect/>
          </a:stretch>
        </p:blipFill>
        <p:spPr>
          <a:xfrm>
            <a:off x="5591007" y="1412199"/>
            <a:ext cx="193121" cy="193121"/>
          </a:xfrm>
          <a:prstGeom prst="rect">
            <a:avLst/>
          </a:prstGeom>
        </p:spPr>
      </p:pic>
      <p:sp>
        <p:nvSpPr>
          <p:cNvPr id="45" name="Text 37"/>
          <p:cNvSpPr txBox="1"/>
          <p:nvPr/>
        </p:nvSpPr>
        <p:spPr>
          <a:xfrm>
            <a:off x="6016752" y="1261872"/>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Node</a:t>
            </a:r>
            <a:endParaRPr lang="en-US" sz="1250" dirty="0"/>
          </a:p>
        </p:txBody>
      </p:sp>
      <p:sp>
        <p:nvSpPr>
          <p:cNvPr id="46" name="Text 38"/>
          <p:cNvSpPr txBox="1"/>
          <p:nvPr/>
        </p:nvSpPr>
        <p:spPr>
          <a:xfrm>
            <a:off x="6016752" y="1490472"/>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 running Elasticsearch process, usually one machine.</a:t>
            </a:r>
            <a:endParaRPr lang="en-US" sz="1000" dirty="0"/>
          </a:p>
        </p:txBody>
      </p:sp>
      <p:sp>
        <p:nvSpPr>
          <p:cNvPr id="47" name="Shape 39"/>
          <p:cNvSpPr/>
          <p:nvPr/>
        </p:nvSpPr>
        <p:spPr>
          <a:xfrm>
            <a:off x="5486400" y="1965960"/>
            <a:ext cx="402336" cy="402336"/>
          </a:xfrm>
          <a:prstGeom prst="ellipse">
            <a:avLst/>
          </a:prstGeom>
          <a:solidFill>
            <a:srgbClr val="00A86A">
              <a:alpha val="22000"/>
            </a:srgbClr>
          </a:solidFill>
          <a:ln/>
        </p:spPr>
      </p:sp>
      <p:pic>
        <p:nvPicPr>
          <p:cNvPr id="48" name="Image 5" descr="preencoded.png"/>
          <p:cNvPicPr>
            <a:picLocks noChangeAspect="1"/>
          </p:cNvPicPr>
          <p:nvPr/>
        </p:nvPicPr>
        <p:blipFill>
          <a:blip r:embed="rId6"/>
          <a:stretch>
            <a:fillRect/>
          </a:stretch>
        </p:blipFill>
        <p:spPr>
          <a:xfrm>
            <a:off x="5591007" y="2070567"/>
            <a:ext cx="193121" cy="193121"/>
          </a:xfrm>
          <a:prstGeom prst="rect">
            <a:avLst/>
          </a:prstGeom>
        </p:spPr>
      </p:pic>
      <p:sp>
        <p:nvSpPr>
          <p:cNvPr id="49" name="Text 40"/>
          <p:cNvSpPr txBox="1"/>
          <p:nvPr/>
        </p:nvSpPr>
        <p:spPr>
          <a:xfrm>
            <a:off x="6016752" y="1920240"/>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Shard</a:t>
            </a:r>
            <a:endParaRPr lang="en-US" sz="1250" dirty="0"/>
          </a:p>
        </p:txBody>
      </p:sp>
      <p:sp>
        <p:nvSpPr>
          <p:cNvPr id="50" name="Text 41"/>
          <p:cNvSpPr txBox="1"/>
          <p:nvPr/>
        </p:nvSpPr>
        <p:spPr>
          <a:xfrm>
            <a:off x="6016752" y="2148840"/>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slice of an index; the unit that moves between nodes.</a:t>
            </a:r>
            <a:endParaRPr lang="en-US" sz="1000" dirty="0"/>
          </a:p>
        </p:txBody>
      </p:sp>
      <p:sp>
        <p:nvSpPr>
          <p:cNvPr id="51" name="Shape 42"/>
          <p:cNvSpPr/>
          <p:nvPr/>
        </p:nvSpPr>
        <p:spPr>
          <a:xfrm>
            <a:off x="5486400" y="2624328"/>
            <a:ext cx="402336" cy="402336"/>
          </a:xfrm>
          <a:prstGeom prst="ellipse">
            <a:avLst/>
          </a:prstGeom>
          <a:solidFill>
            <a:srgbClr val="00A86A">
              <a:alpha val="22000"/>
            </a:srgbClr>
          </a:solidFill>
          <a:ln/>
        </p:spPr>
      </p:sp>
      <p:pic>
        <p:nvPicPr>
          <p:cNvPr id="52" name="Image 6" descr="preencoded.png"/>
          <p:cNvPicPr>
            <a:picLocks noChangeAspect="1"/>
          </p:cNvPicPr>
          <p:nvPr/>
        </p:nvPicPr>
        <p:blipFill>
          <a:blip r:embed="rId7"/>
          <a:stretch>
            <a:fillRect/>
          </a:stretch>
        </p:blipFill>
        <p:spPr>
          <a:xfrm>
            <a:off x="5591007" y="2728935"/>
            <a:ext cx="193121" cy="193121"/>
          </a:xfrm>
          <a:prstGeom prst="rect">
            <a:avLst/>
          </a:prstGeom>
        </p:spPr>
      </p:pic>
      <p:sp>
        <p:nvSpPr>
          <p:cNvPr id="53" name="Text 43"/>
          <p:cNvSpPr txBox="1"/>
          <p:nvPr/>
        </p:nvSpPr>
        <p:spPr>
          <a:xfrm>
            <a:off x="6016752" y="2578608"/>
            <a:ext cx="2651760" cy="219456"/>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Replica</a:t>
            </a:r>
            <a:endParaRPr lang="en-US" sz="1250" dirty="0"/>
          </a:p>
        </p:txBody>
      </p:sp>
      <p:sp>
        <p:nvSpPr>
          <p:cNvPr id="54" name="Text 44"/>
          <p:cNvSpPr txBox="1"/>
          <p:nvPr/>
        </p:nvSpPr>
        <p:spPr>
          <a:xfrm>
            <a:off x="6016752" y="2807208"/>
            <a:ext cx="265176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copy on another node: resilience plus extra search capacity.</a:t>
            </a:r>
            <a:endParaRPr lang="en-US" sz="1000" dirty="0"/>
          </a:p>
        </p:txBody>
      </p:sp>
      <p:sp>
        <p:nvSpPr>
          <p:cNvPr id="55" name="Shape 45"/>
          <p:cNvSpPr/>
          <p:nvPr/>
        </p:nvSpPr>
        <p:spPr>
          <a:xfrm>
            <a:off x="5486400" y="3291840"/>
            <a:ext cx="3200400" cy="1280160"/>
          </a:xfrm>
          <a:prstGeom prst="roundRect">
            <a:avLst>
              <a:gd name="adj" fmla="val 5714"/>
            </a:avLst>
          </a:prstGeom>
          <a:solidFill>
            <a:srgbClr val="E8F5EF"/>
          </a:solidFill>
          <a:ln w="15875">
            <a:solidFill>
              <a:srgbClr val="00A86A"/>
            </a:solidFill>
            <a:prstDash val="solid"/>
          </a:ln>
        </p:spPr>
      </p:sp>
      <p:sp>
        <p:nvSpPr>
          <p:cNvPr id="56" name="Text 46"/>
          <p:cNvSpPr txBox="1"/>
          <p:nvPr/>
        </p:nvSpPr>
        <p:spPr>
          <a:xfrm>
            <a:off x="5623560" y="3383280"/>
            <a:ext cx="292608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SIZING GUIDANCE</a:t>
            </a:r>
            <a:endParaRPr lang="en-US" sz="900" dirty="0"/>
          </a:p>
        </p:txBody>
      </p:sp>
      <p:sp>
        <p:nvSpPr>
          <p:cNvPr id="57" name="Text 47"/>
          <p:cNvSpPr txBox="1"/>
          <p:nvPr/>
        </p:nvSpPr>
        <p:spPr>
          <a:xfrm>
            <a:off x="5623560" y="3584448"/>
            <a:ext cx="2926080" cy="438912"/>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10–50 GB</a:t>
            </a:r>
            <a:endParaRPr lang="en-US" sz="3000" dirty="0"/>
          </a:p>
        </p:txBody>
      </p:sp>
      <p:sp>
        <p:nvSpPr>
          <p:cNvPr id="58" name="Text 48"/>
          <p:cNvSpPr txBox="1"/>
          <p:nvPr/>
        </p:nvSpPr>
        <p:spPr>
          <a:xfrm>
            <a:off x="5623560" y="4023360"/>
            <a:ext cx="297180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per shard, with fewer than 200 million documents each. A national Ookla index needs only one or two primaries.</a:t>
            </a:r>
            <a:endParaRPr lang="en-US" sz="950" dirty="0"/>
          </a:p>
        </p:txBody>
      </p:sp>
      <p:sp>
        <p:nvSpPr>
          <p:cNvPr id="59" name="Text 49"/>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Elastic documentation, "Size your shards".</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Modelling statistical data</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we turn an Ookla tile into a searchable document?</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5C242"/>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14</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From a Parquet row to an enriched JSON document</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6" name="Text 12"/>
          <p:cNvSpPr txBox="1"/>
          <p:nvPr/>
        </p:nvSpPr>
        <p:spPr>
          <a:xfrm>
            <a:off x="457200" y="1261872"/>
            <a:ext cx="292608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AS PUBLISHED BY OOKLA</a:t>
            </a:r>
            <a:endParaRPr lang="en-US" sz="900" dirty="0"/>
          </a:p>
        </p:txBody>
      </p:sp>
      <p:sp>
        <p:nvSpPr>
          <p:cNvPr id="17" name="Shape 13"/>
          <p:cNvSpPr/>
          <p:nvPr/>
        </p:nvSpPr>
        <p:spPr>
          <a:xfrm>
            <a:off x="457200" y="1508760"/>
            <a:ext cx="2880360" cy="1965960"/>
          </a:xfrm>
          <a:prstGeom prst="roundRect">
            <a:avLst>
              <a:gd name="adj" fmla="val 2791"/>
            </a:avLst>
          </a:prstGeom>
          <a:solidFill>
            <a:srgbClr val="FBFCFB"/>
          </a:solidFill>
          <a:ln w="9525">
            <a:solidFill>
              <a:srgbClr val="D5DED9"/>
            </a:solidFill>
            <a:prstDash val="solid"/>
          </a:ln>
        </p:spPr>
      </p:sp>
      <p:sp>
        <p:nvSpPr>
          <p:cNvPr id="18" name="Text 14"/>
          <p:cNvSpPr txBox="1"/>
          <p:nvPr/>
        </p:nvSpPr>
        <p:spPr>
          <a:xfrm>
            <a:off x="585216" y="1600200"/>
            <a:ext cx="2624328" cy="1783080"/>
          </a:xfrm>
          <a:prstGeom prst="rect">
            <a:avLst/>
          </a:prstGeom>
          <a:noFill/>
          <a:ln/>
        </p:spPr>
        <p:txBody>
          <a:bodyPr wrap="square" lIns="0" tIns="0" rIns="0" bIns="0" rtlCol="0" anchor="t"/>
          <a:lstStyle/>
          <a:p>
            <a:pPr marL="0" indent="0">
              <a:buNone/>
            </a:pPr>
            <a:r>
              <a:rPr lang="en-US" sz="950" dirty="0">
                <a:solidFill>
                  <a:srgbClr val="231F20"/>
                </a:solidFill>
                <a:latin typeface="Courier New" pitchFamily="34" charset="0"/>
                <a:ea typeface="Courier New" pitchFamily="34" charset="-122"/>
                <a:cs typeface="Courier New" pitchFamily="34" charset="-120"/>
              </a:rPr>
              <a:t>quadkey    "3001010303300022"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avg_d_kbps 21450</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avg_u_kbps 9870</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avg_lat_ms 38</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tests      142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devices    57</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tile       "POLYGON((30.0586</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-1.9552, ...))"</a:t>
            </a:r>
            <a:endParaRPr lang="en-US" sz="950" dirty="0"/>
          </a:p>
        </p:txBody>
      </p:sp>
      <p:sp>
        <p:nvSpPr>
          <p:cNvPr id="19" name="Shape 15"/>
          <p:cNvSpPr/>
          <p:nvPr/>
        </p:nvSpPr>
        <p:spPr>
          <a:xfrm>
            <a:off x="3401568" y="2487168"/>
            <a:ext cx="621792" cy="0"/>
          </a:xfrm>
          <a:prstGeom prst="line">
            <a:avLst/>
          </a:prstGeom>
          <a:noFill/>
          <a:ln w="25400">
            <a:solidFill>
              <a:srgbClr val="00A86A"/>
            </a:solidFill>
            <a:prstDash val="solid"/>
            <a:tailEnd type="triangle"/>
          </a:ln>
        </p:spPr>
      </p:sp>
      <p:sp>
        <p:nvSpPr>
          <p:cNvPr id="20" name="Text 16"/>
          <p:cNvSpPr txBox="1"/>
          <p:nvPr/>
        </p:nvSpPr>
        <p:spPr>
          <a:xfrm>
            <a:off x="3310128" y="2194560"/>
            <a:ext cx="822960" cy="201168"/>
          </a:xfrm>
          <a:prstGeom prst="rect">
            <a:avLst/>
          </a:prstGeom>
          <a:noFill/>
          <a:ln/>
        </p:spPr>
        <p:txBody>
          <a:bodyPr wrap="square" lIns="0" tIns="0" rIns="0" bIns="0" rtlCol="0" anchor="t"/>
          <a:lstStyle/>
          <a:p>
            <a:pPr marL="0" indent="0" algn="ctr">
              <a:buNone/>
            </a:pPr>
            <a:r>
              <a:rPr lang="en-US" sz="900" b="1" dirty="0">
                <a:solidFill>
                  <a:srgbClr val="00A86A"/>
                </a:solidFill>
                <a:latin typeface="Calibri" pitchFamily="34" charset="0"/>
                <a:ea typeface="Calibri" pitchFamily="34" charset="-122"/>
                <a:cs typeface="Calibri" pitchFamily="34" charset="-120"/>
              </a:rPr>
              <a:t>ENRICH</a:t>
            </a:r>
            <a:endParaRPr lang="en-US" sz="900" dirty="0"/>
          </a:p>
        </p:txBody>
      </p:sp>
      <p:sp>
        <p:nvSpPr>
          <p:cNvPr id="21" name="Text 17"/>
          <p:cNvSpPr txBox="1"/>
          <p:nvPr/>
        </p:nvSpPr>
        <p:spPr>
          <a:xfrm>
            <a:off x="4114800" y="1261872"/>
            <a:ext cx="45720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INDEXED IN ELASTICSEARCH</a:t>
            </a:r>
            <a:endParaRPr lang="en-US" sz="900" dirty="0"/>
          </a:p>
        </p:txBody>
      </p:sp>
      <p:sp>
        <p:nvSpPr>
          <p:cNvPr id="22" name="Shape 18"/>
          <p:cNvSpPr/>
          <p:nvPr/>
        </p:nvSpPr>
        <p:spPr>
          <a:xfrm>
            <a:off x="4114800" y="1508760"/>
            <a:ext cx="4572000" cy="2487168"/>
          </a:xfrm>
          <a:prstGeom prst="roundRect">
            <a:avLst>
              <a:gd name="adj" fmla="val 2206"/>
            </a:avLst>
          </a:prstGeom>
          <a:solidFill>
            <a:srgbClr val="FBFCFB"/>
          </a:solidFill>
          <a:ln w="9525">
            <a:solidFill>
              <a:srgbClr val="D5DED9"/>
            </a:solidFill>
            <a:prstDash val="solid"/>
          </a:ln>
        </p:spPr>
      </p:sp>
      <p:sp>
        <p:nvSpPr>
          <p:cNvPr id="23" name="Text 19"/>
          <p:cNvSpPr txBox="1"/>
          <p:nvPr/>
        </p:nvSpPr>
        <p:spPr>
          <a:xfrm>
            <a:off x="4242816" y="1600200"/>
            <a:ext cx="4315968" cy="2304288"/>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"quadkey": "3001010303300022",</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"service_type": "mobile",</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"quarter": "2025-Q2",</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"quarter_start": "2025-04-01",</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"avg_d_kbps": 21450, "avg_u_kbps": 9870,</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"avg_lat_ms": 38, "tests": 142, "devices": 57,</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"admin1": "Kigali City",</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"admin2": "Nyarugenge",</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"pop_worldpop": 4830.5,</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"centroid": {"lat": -1.9525, "lon": 30.0614},</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"tile": "POLYGON((30.0586 -1.9552, ...))"</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a:t>
            </a:r>
            <a:endParaRPr lang="en-US" sz="900" dirty="0"/>
          </a:p>
        </p:txBody>
      </p:sp>
      <p:sp>
        <p:nvSpPr>
          <p:cNvPr id="24" name="Shape 20"/>
          <p:cNvSpPr/>
          <p:nvPr/>
        </p:nvSpPr>
        <p:spPr>
          <a:xfrm>
            <a:off x="475488" y="3675888"/>
            <a:ext cx="91440" cy="91440"/>
          </a:xfrm>
          <a:prstGeom prst="ellipse">
            <a:avLst/>
          </a:prstGeom>
          <a:solidFill>
            <a:srgbClr val="00704A"/>
          </a:solidFill>
          <a:ln/>
        </p:spPr>
      </p:sp>
      <p:sp>
        <p:nvSpPr>
          <p:cNvPr id="25" name="Text 21"/>
          <p:cNvSpPr txBox="1"/>
          <p:nvPr/>
        </p:nvSpPr>
        <p:spPr>
          <a:xfrm>
            <a:off x="658368" y="3611880"/>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Quarter &amp; service  </a:t>
            </a:r>
            <a:r>
              <a:rPr lang="en-US" sz="1000" dirty="0">
                <a:solidFill>
                  <a:srgbClr val="5E6964"/>
                </a:solidFill>
                <a:latin typeface="Calibri" pitchFamily="34" charset="0"/>
                <a:ea typeface="Calibri" pitchFamily="34" charset="-122"/>
                <a:cs typeface="Calibri" pitchFamily="34" charset="-120"/>
              </a:rPr>
              <a:t>from the file path</a:t>
            </a:r>
            <a:endParaRPr lang="en-US" sz="1000" dirty="0"/>
          </a:p>
        </p:txBody>
      </p:sp>
      <p:sp>
        <p:nvSpPr>
          <p:cNvPr id="26" name="Shape 22"/>
          <p:cNvSpPr/>
          <p:nvPr/>
        </p:nvSpPr>
        <p:spPr>
          <a:xfrm>
            <a:off x="475488" y="3922776"/>
            <a:ext cx="91440" cy="91440"/>
          </a:xfrm>
          <a:prstGeom prst="ellipse">
            <a:avLst/>
          </a:prstGeom>
          <a:solidFill>
            <a:srgbClr val="00704A"/>
          </a:solidFill>
          <a:ln/>
        </p:spPr>
      </p:sp>
      <p:sp>
        <p:nvSpPr>
          <p:cNvPr id="27" name="Text 23"/>
          <p:cNvSpPr txBox="1"/>
          <p:nvPr/>
        </p:nvSpPr>
        <p:spPr>
          <a:xfrm>
            <a:off x="658368" y="3858768"/>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admin1 / admin2  </a:t>
            </a:r>
            <a:r>
              <a:rPr lang="en-US" sz="1000" dirty="0">
                <a:solidFill>
                  <a:srgbClr val="5E6964"/>
                </a:solidFill>
                <a:latin typeface="Calibri" pitchFamily="34" charset="0"/>
                <a:ea typeface="Calibri" pitchFamily="34" charset="-122"/>
                <a:cs typeface="Calibri" pitchFamily="34" charset="-120"/>
              </a:rPr>
              <a:t>spatial join with boundaries</a:t>
            </a:r>
            <a:endParaRPr lang="en-US" sz="1000" dirty="0"/>
          </a:p>
        </p:txBody>
      </p:sp>
      <p:sp>
        <p:nvSpPr>
          <p:cNvPr id="28" name="Shape 24"/>
          <p:cNvSpPr/>
          <p:nvPr/>
        </p:nvSpPr>
        <p:spPr>
          <a:xfrm>
            <a:off x="475488" y="4169664"/>
            <a:ext cx="91440" cy="91440"/>
          </a:xfrm>
          <a:prstGeom prst="ellipse">
            <a:avLst/>
          </a:prstGeom>
          <a:solidFill>
            <a:srgbClr val="00704A"/>
          </a:solidFill>
          <a:ln/>
        </p:spPr>
      </p:sp>
      <p:sp>
        <p:nvSpPr>
          <p:cNvPr id="29" name="Text 25"/>
          <p:cNvSpPr txBox="1"/>
          <p:nvPr/>
        </p:nvSpPr>
        <p:spPr>
          <a:xfrm>
            <a:off x="658368" y="4105656"/>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pop_worldpop  </a:t>
            </a:r>
            <a:r>
              <a:rPr lang="en-US" sz="1000" dirty="0">
                <a:solidFill>
                  <a:srgbClr val="5E6964"/>
                </a:solidFill>
                <a:latin typeface="Calibri" pitchFamily="34" charset="0"/>
                <a:ea typeface="Calibri" pitchFamily="34" charset="-122"/>
                <a:cs typeface="Calibri" pitchFamily="34" charset="-120"/>
              </a:rPr>
              <a:t>zonal sum from the previous lab</a:t>
            </a:r>
            <a:endParaRPr lang="en-US" sz="1000" dirty="0"/>
          </a:p>
        </p:txBody>
      </p:sp>
      <p:sp>
        <p:nvSpPr>
          <p:cNvPr id="30" name="Shape 26"/>
          <p:cNvSpPr/>
          <p:nvPr/>
        </p:nvSpPr>
        <p:spPr>
          <a:xfrm>
            <a:off x="475488" y="4416552"/>
            <a:ext cx="91440" cy="91440"/>
          </a:xfrm>
          <a:prstGeom prst="ellipse">
            <a:avLst/>
          </a:prstGeom>
          <a:solidFill>
            <a:srgbClr val="00704A"/>
          </a:solidFill>
          <a:ln/>
        </p:spPr>
      </p:sp>
      <p:sp>
        <p:nvSpPr>
          <p:cNvPr id="31" name="Text 27"/>
          <p:cNvSpPr txBox="1"/>
          <p:nvPr/>
        </p:nvSpPr>
        <p:spPr>
          <a:xfrm>
            <a:off x="658368" y="4352544"/>
            <a:ext cx="3108960" cy="21945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centroid  </a:t>
            </a:r>
            <a:r>
              <a:rPr lang="en-US" sz="1000" dirty="0">
                <a:solidFill>
                  <a:srgbClr val="5E6964"/>
                </a:solidFill>
                <a:latin typeface="Calibri" pitchFamily="34" charset="0"/>
                <a:ea typeface="Calibri" pitchFamily="34" charset="-122"/>
                <a:cs typeface="Calibri" pitchFamily="34" charset="-120"/>
              </a:rPr>
              <a:t>computed from the polygon</a:t>
            </a:r>
            <a:endParaRPr lang="en-US" sz="1000" dirty="0"/>
          </a:p>
        </p:txBody>
      </p:sp>
      <p:sp>
        <p:nvSpPr>
          <p:cNvPr id="32" name="Text 28"/>
          <p:cNvSpPr txBox="1"/>
          <p:nvPr/>
        </p:nvSpPr>
        <p:spPr>
          <a:xfrm>
            <a:off x="4114800" y="4069080"/>
            <a:ext cx="4572000" cy="201168"/>
          </a:xfrm>
          <a:prstGeom prst="rect">
            <a:avLst/>
          </a:prstGeom>
          <a:noFill/>
          <a:ln/>
        </p:spPr>
        <p:txBody>
          <a:bodyPr wrap="square" lIns="0" tIns="0" rIns="0" bIns="0" rtlCol="0" anchor="t"/>
          <a:lstStyle/>
          <a:p>
            <a:pPr marL="0" indent="0">
              <a:buNone/>
            </a:pPr>
            <a:r>
              <a:rPr lang="en-US" sz="950" i="1" dirty="0">
                <a:solidFill>
                  <a:srgbClr val="00704A"/>
                </a:solidFill>
                <a:latin typeface="Calibri" pitchFamily="34" charset="0"/>
                <a:ea typeface="Calibri" pitchFamily="34" charset="-122"/>
                <a:cs typeface="Calibri" pitchFamily="34" charset="-120"/>
              </a:rPr>
              <a:t>Green text = added during enrichment</a:t>
            </a:r>
            <a:endParaRPr lang="en-US" sz="950" dirty="0"/>
          </a:p>
        </p:txBody>
      </p:sp>
      <p:sp>
        <p:nvSpPr>
          <p:cNvPr id="33" name="Text 29"/>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Quadkey and polygon are a real zoom-16 tile in Kigali; speeds, tests and population are illustrative values.</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Mapping: declare the schema before you index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6" name="Shape 12"/>
          <p:cNvSpPr/>
          <p:nvPr/>
        </p:nvSpPr>
        <p:spPr>
          <a:xfrm>
            <a:off x="457200" y="1261872"/>
            <a:ext cx="42062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3950208" cy="3127248"/>
          </a:xfrm>
          <a:prstGeom prst="rect">
            <a:avLst/>
          </a:prstGeom>
          <a:noFill/>
          <a:ln/>
        </p:spPr>
        <p:txBody>
          <a:bodyPr wrap="square" lIns="0" tIns="0" rIns="0" bIns="0" rtlCol="0" anchor="t"/>
          <a:lstStyle/>
          <a:p>
            <a:pPr marL="0" indent="0">
              <a:buNone/>
            </a:pPr>
            <a:r>
              <a:rPr lang="en-US" sz="850" dirty="0">
                <a:solidFill>
                  <a:srgbClr val="231F20"/>
                </a:solidFill>
                <a:latin typeface="Courier New" pitchFamily="34" charset="0"/>
                <a:ea typeface="Courier New" pitchFamily="34" charset="-122"/>
                <a:cs typeface="Courier New" pitchFamily="34" charset="-120"/>
              </a:rPr>
              <a:t>PUT ookla-tiles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"mappings":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"dynamic": "strict",</a:t>
            </a:r>
            <a:r>
              <a:rPr lang="en-US" sz="850" b="1" dirty="0">
                <a:solidFill>
                  <a:srgbClr val="D49A00"/>
                </a:solidFill>
                <a:latin typeface="Courier New" pitchFamily="34" charset="0"/>
                <a:ea typeface="Courier New" pitchFamily="34" charset="-122"/>
                <a:cs typeface="Courier New" pitchFamily="34" charset="-120"/>
              </a:rPr>
              <a:t>  ◀ reject surprises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"properties":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"quadkey":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"service_type":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"quarter":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"quarter_start": {"type": "date"},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"avg_d_kbps":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"avg_u_kbps":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"avg_lat_ms":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"tests":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"devices":       {"type": "integer"},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"admin1":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"admin2":        {"type": "keyword"},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"pop_worldpop":  {"type": "float"},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"centroid":      {"type": "geo_point"},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"tile":          {"type": "geo_shape"}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18" name="Shape 14"/>
          <p:cNvSpPr/>
          <p:nvPr/>
        </p:nvSpPr>
        <p:spPr>
          <a:xfrm>
            <a:off x="4892040" y="1261872"/>
            <a:ext cx="3794760" cy="502920"/>
          </a:xfrm>
          <a:prstGeom prst="roundRect">
            <a:avLst>
              <a:gd name="adj" fmla="val 14545"/>
            </a:avLst>
          </a:prstGeom>
          <a:solidFill>
            <a:srgbClr val="F4F7F5"/>
          </a:solidFill>
          <a:ln w="9525">
            <a:solidFill>
              <a:srgbClr val="D5DED9"/>
            </a:solidFill>
            <a:prstDash val="solid"/>
          </a:ln>
        </p:spPr>
      </p:sp>
      <p:sp>
        <p:nvSpPr>
          <p:cNvPr id="19" name="Shape 15"/>
          <p:cNvSpPr/>
          <p:nvPr/>
        </p:nvSpPr>
        <p:spPr>
          <a:xfrm>
            <a:off x="5001768" y="1380744"/>
            <a:ext cx="1417320" cy="265176"/>
          </a:xfrm>
          <a:prstGeom prst="roundRect">
            <a:avLst>
              <a:gd name="adj" fmla="val 48276"/>
            </a:avLst>
          </a:prstGeom>
          <a:solidFill>
            <a:srgbClr val="00A86A">
              <a:alpha val="15000"/>
            </a:srgbClr>
          </a:solidFill>
          <a:ln w="9525">
            <a:solidFill>
              <a:srgbClr val="00A86A"/>
            </a:solidFill>
            <a:prstDash val="solid"/>
          </a:ln>
        </p:spPr>
      </p:sp>
      <p:sp>
        <p:nvSpPr>
          <p:cNvPr id="20" name="Text 16"/>
          <p:cNvSpPr txBox="1"/>
          <p:nvPr/>
        </p:nvSpPr>
        <p:spPr>
          <a:xfrm>
            <a:off x="5001768" y="1380744"/>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keyword</a:t>
            </a:r>
            <a:endParaRPr lang="en-US" sz="850" dirty="0"/>
          </a:p>
        </p:txBody>
      </p:sp>
      <p:sp>
        <p:nvSpPr>
          <p:cNvPr id="21" name="Text 17"/>
          <p:cNvSpPr txBox="1"/>
          <p:nvPr/>
        </p:nvSpPr>
        <p:spPr>
          <a:xfrm>
            <a:off x="6510528" y="1261872"/>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Exact values: codes, names, categories. Filters, grouping, sorting.</a:t>
            </a:r>
            <a:endParaRPr lang="en-US" sz="950" dirty="0"/>
          </a:p>
        </p:txBody>
      </p:sp>
      <p:sp>
        <p:nvSpPr>
          <p:cNvPr id="22" name="Shape 18"/>
          <p:cNvSpPr/>
          <p:nvPr/>
        </p:nvSpPr>
        <p:spPr>
          <a:xfrm>
            <a:off x="4892040" y="1837944"/>
            <a:ext cx="3794760" cy="502920"/>
          </a:xfrm>
          <a:prstGeom prst="roundRect">
            <a:avLst>
              <a:gd name="adj" fmla="val 14545"/>
            </a:avLst>
          </a:prstGeom>
          <a:solidFill>
            <a:srgbClr val="F4F7F5"/>
          </a:solidFill>
          <a:ln w="9525">
            <a:solidFill>
              <a:srgbClr val="D5DED9"/>
            </a:solidFill>
            <a:prstDash val="solid"/>
          </a:ln>
        </p:spPr>
      </p:sp>
      <p:sp>
        <p:nvSpPr>
          <p:cNvPr id="23" name="Shape 19"/>
          <p:cNvSpPr/>
          <p:nvPr/>
        </p:nvSpPr>
        <p:spPr>
          <a:xfrm>
            <a:off x="5001768" y="1956816"/>
            <a:ext cx="1417320" cy="265176"/>
          </a:xfrm>
          <a:prstGeom prst="roundRect">
            <a:avLst>
              <a:gd name="adj" fmla="val 48276"/>
            </a:avLst>
          </a:prstGeom>
          <a:solidFill>
            <a:srgbClr val="00704A">
              <a:alpha val="15000"/>
            </a:srgbClr>
          </a:solidFill>
          <a:ln w="9525">
            <a:solidFill>
              <a:srgbClr val="00704A"/>
            </a:solidFill>
            <a:prstDash val="solid"/>
          </a:ln>
        </p:spPr>
      </p:sp>
      <p:sp>
        <p:nvSpPr>
          <p:cNvPr id="24" name="Text 20"/>
          <p:cNvSpPr txBox="1"/>
          <p:nvPr/>
        </p:nvSpPr>
        <p:spPr>
          <a:xfrm>
            <a:off x="5001768" y="1956816"/>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integer · float</a:t>
            </a:r>
            <a:endParaRPr lang="en-US" sz="850" dirty="0"/>
          </a:p>
        </p:txBody>
      </p:sp>
      <p:sp>
        <p:nvSpPr>
          <p:cNvPr id="25" name="Text 21"/>
          <p:cNvSpPr txBox="1"/>
          <p:nvPr/>
        </p:nvSpPr>
        <p:spPr>
          <a:xfrm>
            <a:off x="6510528" y="1837944"/>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Measurements and counts. Ranges and statistics.</a:t>
            </a:r>
            <a:endParaRPr lang="en-US" sz="950" dirty="0"/>
          </a:p>
        </p:txBody>
      </p:sp>
      <p:sp>
        <p:nvSpPr>
          <p:cNvPr id="26" name="Shape 22"/>
          <p:cNvSpPr/>
          <p:nvPr/>
        </p:nvSpPr>
        <p:spPr>
          <a:xfrm>
            <a:off x="4892040" y="2414016"/>
            <a:ext cx="3794760" cy="502920"/>
          </a:xfrm>
          <a:prstGeom prst="roundRect">
            <a:avLst>
              <a:gd name="adj" fmla="val 14545"/>
            </a:avLst>
          </a:prstGeom>
          <a:solidFill>
            <a:srgbClr val="F4F7F5"/>
          </a:solidFill>
          <a:ln w="9525">
            <a:solidFill>
              <a:srgbClr val="D5DED9"/>
            </a:solidFill>
            <a:prstDash val="solid"/>
          </a:ln>
        </p:spPr>
      </p:sp>
      <p:sp>
        <p:nvSpPr>
          <p:cNvPr id="27" name="Shape 23"/>
          <p:cNvSpPr/>
          <p:nvPr/>
        </p:nvSpPr>
        <p:spPr>
          <a:xfrm>
            <a:off x="5001768" y="2532888"/>
            <a:ext cx="1417320" cy="265176"/>
          </a:xfrm>
          <a:prstGeom prst="roundRect">
            <a:avLst>
              <a:gd name="adj" fmla="val 48276"/>
            </a:avLst>
          </a:prstGeom>
          <a:solidFill>
            <a:srgbClr val="0E7C86">
              <a:alpha val="15000"/>
            </a:srgbClr>
          </a:solidFill>
          <a:ln w="9525">
            <a:solidFill>
              <a:srgbClr val="0E7C86"/>
            </a:solidFill>
            <a:prstDash val="solid"/>
          </a:ln>
        </p:spPr>
      </p:sp>
      <p:sp>
        <p:nvSpPr>
          <p:cNvPr id="28" name="Text 24"/>
          <p:cNvSpPr txBox="1"/>
          <p:nvPr/>
        </p:nvSpPr>
        <p:spPr>
          <a:xfrm>
            <a:off x="5001768" y="2532888"/>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date</a:t>
            </a:r>
            <a:endParaRPr lang="en-US" sz="850" dirty="0"/>
          </a:p>
        </p:txBody>
      </p:sp>
      <p:sp>
        <p:nvSpPr>
          <p:cNvPr id="29" name="Text 25"/>
          <p:cNvSpPr txBox="1"/>
          <p:nvPr/>
        </p:nvSpPr>
        <p:spPr>
          <a:xfrm>
            <a:off x="6510528" y="2414016"/>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Time filters and date histograms (quarter_start).</a:t>
            </a:r>
            <a:endParaRPr lang="en-US" sz="950" dirty="0"/>
          </a:p>
        </p:txBody>
      </p:sp>
      <p:sp>
        <p:nvSpPr>
          <p:cNvPr id="30" name="Shape 26"/>
          <p:cNvSpPr/>
          <p:nvPr/>
        </p:nvSpPr>
        <p:spPr>
          <a:xfrm>
            <a:off x="4892040" y="2990088"/>
            <a:ext cx="3794760" cy="502920"/>
          </a:xfrm>
          <a:prstGeom prst="roundRect">
            <a:avLst>
              <a:gd name="adj" fmla="val 14545"/>
            </a:avLst>
          </a:prstGeom>
          <a:solidFill>
            <a:srgbClr val="F4F7F5"/>
          </a:solidFill>
          <a:ln w="9525">
            <a:solidFill>
              <a:srgbClr val="D5DED9"/>
            </a:solidFill>
            <a:prstDash val="solid"/>
          </a:ln>
        </p:spPr>
      </p:sp>
      <p:sp>
        <p:nvSpPr>
          <p:cNvPr id="31" name="Shape 27"/>
          <p:cNvSpPr/>
          <p:nvPr/>
        </p:nvSpPr>
        <p:spPr>
          <a:xfrm>
            <a:off x="5001768" y="3108960"/>
            <a:ext cx="1417320" cy="265176"/>
          </a:xfrm>
          <a:prstGeom prst="roundRect">
            <a:avLst>
              <a:gd name="adj" fmla="val 48276"/>
            </a:avLst>
          </a:prstGeom>
          <a:solidFill>
            <a:srgbClr val="D49A00">
              <a:alpha val="15000"/>
            </a:srgbClr>
          </a:solidFill>
          <a:ln w="9525">
            <a:solidFill>
              <a:srgbClr val="D49A00"/>
            </a:solidFill>
            <a:prstDash val="solid"/>
          </a:ln>
        </p:spPr>
      </p:sp>
      <p:sp>
        <p:nvSpPr>
          <p:cNvPr id="32" name="Text 28"/>
          <p:cNvSpPr txBox="1"/>
          <p:nvPr/>
        </p:nvSpPr>
        <p:spPr>
          <a:xfrm>
            <a:off x="5001768" y="3108960"/>
            <a:ext cx="1417320" cy="265176"/>
          </a:xfrm>
          <a:prstGeom prst="rect">
            <a:avLst/>
          </a:prstGeom>
          <a:noFill/>
          <a:ln/>
        </p:spPr>
        <p:txBody>
          <a:bodyPr wrap="square" lIns="0" tIns="0" rIns="0" bIns="0" rtlCol="0" anchor="ctr"/>
          <a:lstStyle/>
          <a:p>
            <a:pPr marL="0" indent="0" algn="ctr">
              <a:buNone/>
            </a:pPr>
            <a:r>
              <a:rPr lang="en-US" sz="850" b="1" dirty="0">
                <a:solidFill>
                  <a:srgbClr val="231F20"/>
                </a:solidFill>
                <a:latin typeface="Courier New" pitchFamily="34" charset="0"/>
                <a:ea typeface="Courier New" pitchFamily="34" charset="-122"/>
                <a:cs typeface="Courier New" pitchFamily="34" charset="-120"/>
              </a:rPr>
              <a:t>geo_point · geo_shape</a:t>
            </a:r>
            <a:endParaRPr lang="en-US" sz="850" dirty="0"/>
          </a:p>
        </p:txBody>
      </p:sp>
      <p:sp>
        <p:nvSpPr>
          <p:cNvPr id="33" name="Text 29"/>
          <p:cNvSpPr txBox="1"/>
          <p:nvPr/>
        </p:nvSpPr>
        <p:spPr>
          <a:xfrm>
            <a:off x="6510528" y="2990088"/>
            <a:ext cx="2103120" cy="502920"/>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Coordinates and polygons for spatial queries and maps.</a:t>
            </a:r>
            <a:endParaRPr lang="en-US" sz="950" dirty="0"/>
          </a:p>
        </p:txBody>
      </p:sp>
      <p:sp>
        <p:nvSpPr>
          <p:cNvPr id="34" name="Shape 30"/>
          <p:cNvSpPr/>
          <p:nvPr/>
        </p:nvSpPr>
        <p:spPr>
          <a:xfrm>
            <a:off x="4892040" y="3611880"/>
            <a:ext cx="3794760" cy="960120"/>
          </a:xfrm>
          <a:prstGeom prst="roundRect">
            <a:avLst>
              <a:gd name="adj" fmla="val 5714"/>
            </a:avLst>
          </a:prstGeom>
          <a:solidFill>
            <a:srgbClr val="D49A00">
              <a:alpha val="13000"/>
            </a:srgbClr>
          </a:solidFill>
          <a:ln w="12700">
            <a:solidFill>
              <a:srgbClr val="D49A00"/>
            </a:solidFill>
            <a:prstDash val="solid"/>
          </a:ln>
        </p:spPr>
      </p:sp>
      <p:pic>
        <p:nvPicPr>
          <p:cNvPr id="35" name="Image 1" descr="preencoded.png"/>
          <p:cNvPicPr>
            <a:picLocks noChangeAspect="1"/>
          </p:cNvPicPr>
          <p:nvPr/>
        </p:nvPicPr>
        <p:blipFill>
          <a:blip r:embed="rId4"/>
          <a:stretch>
            <a:fillRect/>
          </a:stretch>
        </p:blipFill>
        <p:spPr>
          <a:xfrm>
            <a:off x="5038344" y="3954780"/>
            <a:ext cx="274320" cy="274320"/>
          </a:xfrm>
          <a:prstGeom prst="rect">
            <a:avLst/>
          </a:prstGeom>
        </p:spPr>
      </p:pic>
      <p:sp>
        <p:nvSpPr>
          <p:cNvPr id="36" name="Text 31"/>
          <p:cNvSpPr txBox="1"/>
          <p:nvPr/>
        </p:nvSpPr>
        <p:spPr>
          <a:xfrm>
            <a:off x="5440680" y="3666744"/>
            <a:ext cx="3108960" cy="8503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Keep codes as text. </a:t>
            </a:r>
            <a:r>
              <a:rPr lang="en-US" sz="950" dirty="0">
                <a:solidFill>
                  <a:srgbClr val="231F20"/>
                </a:solidFill>
                <a:latin typeface="Calibri" pitchFamily="34" charset="0"/>
                <a:ea typeface="Calibri" pitchFamily="34" charset="-122"/>
                <a:cs typeface="Calibri" pitchFamily="34" charset="-120"/>
              </a:rPr>
              <a:t>A tile over Dakar has quadkey 0333…; cast to a number, it silently loses its leading zero. Map quadkeys and admin codes as keyword.</a:t>
            </a:r>
            <a:endParaRPr lang="en-US" sz="9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geo_point or geo_shape? Two views of the same tile</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6" name="Shape 12"/>
          <p:cNvSpPr/>
          <p:nvPr/>
        </p:nvSpPr>
        <p:spPr>
          <a:xfrm>
            <a:off x="457200" y="1261872"/>
            <a:ext cx="4023360" cy="2514600"/>
          </a:xfrm>
          <a:prstGeom prst="roundRect">
            <a:avLst>
              <a:gd name="adj" fmla="val 2909"/>
            </a:avLst>
          </a:prstGeom>
          <a:solidFill>
            <a:srgbClr val="F4F7F5"/>
          </a:solidFill>
          <a:ln w="9525">
            <a:solidFill>
              <a:srgbClr val="D5DED9"/>
            </a:solidFill>
            <a:prstDash val="solid"/>
          </a:ln>
        </p:spPr>
      </p:sp>
      <p:sp>
        <p:nvSpPr>
          <p:cNvPr id="17" name="Shape 13"/>
          <p:cNvSpPr/>
          <p:nvPr/>
        </p:nvSpPr>
        <p:spPr>
          <a:xfrm>
            <a:off x="640080" y="1481328"/>
            <a:ext cx="329184" cy="329184"/>
          </a:xfrm>
          <a:prstGeom prst="rect">
            <a:avLst/>
          </a:prstGeom>
          <a:solidFill>
            <a:srgbClr val="FFFFFF"/>
          </a:solidFill>
          <a:ln w="6350">
            <a:solidFill>
              <a:srgbClr val="D5DED9"/>
            </a:solidFill>
            <a:prstDash val="solid"/>
          </a:ln>
        </p:spPr>
      </p:sp>
      <p:sp>
        <p:nvSpPr>
          <p:cNvPr id="18" name="Shape 14"/>
          <p:cNvSpPr/>
          <p:nvPr/>
        </p:nvSpPr>
        <p:spPr>
          <a:xfrm>
            <a:off x="758952" y="1600200"/>
            <a:ext cx="91440" cy="91440"/>
          </a:xfrm>
          <a:prstGeom prst="ellipse">
            <a:avLst/>
          </a:prstGeom>
          <a:solidFill>
            <a:srgbClr val="A9B5B0"/>
          </a:solidFill>
          <a:ln/>
        </p:spPr>
      </p:sp>
      <p:sp>
        <p:nvSpPr>
          <p:cNvPr id="19" name="Shape 15"/>
          <p:cNvSpPr/>
          <p:nvPr/>
        </p:nvSpPr>
        <p:spPr>
          <a:xfrm>
            <a:off x="1014984" y="1481328"/>
            <a:ext cx="329184" cy="329184"/>
          </a:xfrm>
          <a:prstGeom prst="rect">
            <a:avLst/>
          </a:prstGeom>
          <a:solidFill>
            <a:srgbClr val="FFFFFF"/>
          </a:solidFill>
          <a:ln w="6350">
            <a:solidFill>
              <a:srgbClr val="D5DED9"/>
            </a:solidFill>
            <a:prstDash val="solid"/>
          </a:ln>
        </p:spPr>
      </p:sp>
      <p:sp>
        <p:nvSpPr>
          <p:cNvPr id="20" name="Shape 16"/>
          <p:cNvSpPr/>
          <p:nvPr/>
        </p:nvSpPr>
        <p:spPr>
          <a:xfrm>
            <a:off x="1133856" y="1600200"/>
            <a:ext cx="91440" cy="91440"/>
          </a:xfrm>
          <a:prstGeom prst="ellipse">
            <a:avLst/>
          </a:prstGeom>
          <a:solidFill>
            <a:srgbClr val="A9B5B0"/>
          </a:solidFill>
          <a:ln/>
        </p:spPr>
      </p:sp>
      <p:sp>
        <p:nvSpPr>
          <p:cNvPr id="21" name="Shape 17"/>
          <p:cNvSpPr/>
          <p:nvPr/>
        </p:nvSpPr>
        <p:spPr>
          <a:xfrm>
            <a:off x="1389888" y="1481328"/>
            <a:ext cx="329184" cy="329184"/>
          </a:xfrm>
          <a:prstGeom prst="rect">
            <a:avLst/>
          </a:prstGeom>
          <a:solidFill>
            <a:srgbClr val="FFFFFF"/>
          </a:solidFill>
          <a:ln w="6350">
            <a:solidFill>
              <a:srgbClr val="D5DED9"/>
            </a:solidFill>
            <a:prstDash val="solid"/>
          </a:ln>
        </p:spPr>
      </p:sp>
      <p:sp>
        <p:nvSpPr>
          <p:cNvPr id="22" name="Shape 18"/>
          <p:cNvSpPr/>
          <p:nvPr/>
        </p:nvSpPr>
        <p:spPr>
          <a:xfrm>
            <a:off x="1508760" y="1600200"/>
            <a:ext cx="91440" cy="91440"/>
          </a:xfrm>
          <a:prstGeom prst="ellipse">
            <a:avLst/>
          </a:prstGeom>
          <a:solidFill>
            <a:srgbClr val="00A86A"/>
          </a:solidFill>
          <a:ln/>
        </p:spPr>
      </p:sp>
      <p:sp>
        <p:nvSpPr>
          <p:cNvPr id="23" name="Shape 19"/>
          <p:cNvSpPr/>
          <p:nvPr/>
        </p:nvSpPr>
        <p:spPr>
          <a:xfrm>
            <a:off x="1764792" y="1481328"/>
            <a:ext cx="329184" cy="329184"/>
          </a:xfrm>
          <a:prstGeom prst="rect">
            <a:avLst/>
          </a:prstGeom>
          <a:solidFill>
            <a:srgbClr val="FFFFFF"/>
          </a:solidFill>
          <a:ln w="6350">
            <a:solidFill>
              <a:srgbClr val="D5DED9"/>
            </a:solidFill>
            <a:prstDash val="solid"/>
          </a:ln>
        </p:spPr>
      </p:sp>
      <p:sp>
        <p:nvSpPr>
          <p:cNvPr id="24" name="Shape 20"/>
          <p:cNvSpPr/>
          <p:nvPr/>
        </p:nvSpPr>
        <p:spPr>
          <a:xfrm>
            <a:off x="1883664" y="1600200"/>
            <a:ext cx="91440" cy="91440"/>
          </a:xfrm>
          <a:prstGeom prst="ellipse">
            <a:avLst/>
          </a:prstGeom>
          <a:solidFill>
            <a:srgbClr val="00A86A"/>
          </a:solidFill>
          <a:ln/>
        </p:spPr>
      </p:sp>
      <p:sp>
        <p:nvSpPr>
          <p:cNvPr id="25" name="Shape 21"/>
          <p:cNvSpPr/>
          <p:nvPr/>
        </p:nvSpPr>
        <p:spPr>
          <a:xfrm>
            <a:off x="640080" y="1856232"/>
            <a:ext cx="329184" cy="329184"/>
          </a:xfrm>
          <a:prstGeom prst="rect">
            <a:avLst/>
          </a:prstGeom>
          <a:solidFill>
            <a:srgbClr val="FFFFFF"/>
          </a:solidFill>
          <a:ln w="6350">
            <a:solidFill>
              <a:srgbClr val="D5DED9"/>
            </a:solidFill>
            <a:prstDash val="solid"/>
          </a:ln>
        </p:spPr>
      </p:sp>
      <p:sp>
        <p:nvSpPr>
          <p:cNvPr id="26" name="Shape 22"/>
          <p:cNvSpPr/>
          <p:nvPr/>
        </p:nvSpPr>
        <p:spPr>
          <a:xfrm>
            <a:off x="758952" y="1975104"/>
            <a:ext cx="91440" cy="91440"/>
          </a:xfrm>
          <a:prstGeom prst="ellipse">
            <a:avLst/>
          </a:prstGeom>
          <a:solidFill>
            <a:srgbClr val="A9B5B0"/>
          </a:solidFill>
          <a:ln/>
        </p:spPr>
      </p:sp>
      <p:sp>
        <p:nvSpPr>
          <p:cNvPr id="27" name="Shape 23"/>
          <p:cNvSpPr/>
          <p:nvPr/>
        </p:nvSpPr>
        <p:spPr>
          <a:xfrm>
            <a:off x="1014984" y="1856232"/>
            <a:ext cx="329184" cy="329184"/>
          </a:xfrm>
          <a:prstGeom prst="rect">
            <a:avLst/>
          </a:prstGeom>
          <a:solidFill>
            <a:srgbClr val="FFFFFF"/>
          </a:solidFill>
          <a:ln w="6350">
            <a:solidFill>
              <a:srgbClr val="D5DED9"/>
            </a:solidFill>
            <a:prstDash val="solid"/>
          </a:ln>
        </p:spPr>
      </p:sp>
      <p:sp>
        <p:nvSpPr>
          <p:cNvPr id="28" name="Shape 24"/>
          <p:cNvSpPr/>
          <p:nvPr/>
        </p:nvSpPr>
        <p:spPr>
          <a:xfrm>
            <a:off x="1133856" y="1975104"/>
            <a:ext cx="91440" cy="91440"/>
          </a:xfrm>
          <a:prstGeom prst="ellipse">
            <a:avLst/>
          </a:prstGeom>
          <a:solidFill>
            <a:srgbClr val="00A86A"/>
          </a:solidFill>
          <a:ln/>
        </p:spPr>
      </p:sp>
      <p:sp>
        <p:nvSpPr>
          <p:cNvPr id="29" name="Shape 25"/>
          <p:cNvSpPr/>
          <p:nvPr/>
        </p:nvSpPr>
        <p:spPr>
          <a:xfrm>
            <a:off x="1389888" y="1856232"/>
            <a:ext cx="329184" cy="329184"/>
          </a:xfrm>
          <a:prstGeom prst="rect">
            <a:avLst/>
          </a:prstGeom>
          <a:solidFill>
            <a:srgbClr val="FFFFFF"/>
          </a:solidFill>
          <a:ln w="6350">
            <a:solidFill>
              <a:srgbClr val="D5DED9"/>
            </a:solidFill>
            <a:prstDash val="solid"/>
          </a:ln>
        </p:spPr>
      </p:sp>
      <p:sp>
        <p:nvSpPr>
          <p:cNvPr id="30" name="Shape 26"/>
          <p:cNvSpPr/>
          <p:nvPr/>
        </p:nvSpPr>
        <p:spPr>
          <a:xfrm>
            <a:off x="1508760" y="1975104"/>
            <a:ext cx="91440" cy="91440"/>
          </a:xfrm>
          <a:prstGeom prst="ellipse">
            <a:avLst/>
          </a:prstGeom>
          <a:solidFill>
            <a:srgbClr val="00A86A"/>
          </a:solidFill>
          <a:ln/>
        </p:spPr>
      </p:sp>
      <p:sp>
        <p:nvSpPr>
          <p:cNvPr id="31" name="Shape 27"/>
          <p:cNvSpPr/>
          <p:nvPr/>
        </p:nvSpPr>
        <p:spPr>
          <a:xfrm>
            <a:off x="1764792" y="1856232"/>
            <a:ext cx="329184" cy="329184"/>
          </a:xfrm>
          <a:prstGeom prst="rect">
            <a:avLst/>
          </a:prstGeom>
          <a:solidFill>
            <a:srgbClr val="FFFFFF"/>
          </a:solidFill>
          <a:ln w="6350">
            <a:solidFill>
              <a:srgbClr val="D5DED9"/>
            </a:solidFill>
            <a:prstDash val="solid"/>
          </a:ln>
        </p:spPr>
      </p:sp>
      <p:sp>
        <p:nvSpPr>
          <p:cNvPr id="32" name="Shape 28"/>
          <p:cNvSpPr/>
          <p:nvPr/>
        </p:nvSpPr>
        <p:spPr>
          <a:xfrm>
            <a:off x="1883664" y="1975104"/>
            <a:ext cx="91440" cy="91440"/>
          </a:xfrm>
          <a:prstGeom prst="ellipse">
            <a:avLst/>
          </a:prstGeom>
          <a:solidFill>
            <a:srgbClr val="00A86A"/>
          </a:solidFill>
          <a:ln/>
        </p:spPr>
      </p:sp>
      <p:sp>
        <p:nvSpPr>
          <p:cNvPr id="33" name="Shape 29"/>
          <p:cNvSpPr/>
          <p:nvPr/>
        </p:nvSpPr>
        <p:spPr>
          <a:xfrm>
            <a:off x="640080" y="2231136"/>
            <a:ext cx="329184" cy="329184"/>
          </a:xfrm>
          <a:prstGeom prst="rect">
            <a:avLst/>
          </a:prstGeom>
          <a:solidFill>
            <a:srgbClr val="FFFFFF"/>
          </a:solidFill>
          <a:ln w="6350">
            <a:solidFill>
              <a:srgbClr val="D5DED9"/>
            </a:solidFill>
            <a:prstDash val="solid"/>
          </a:ln>
        </p:spPr>
      </p:sp>
      <p:sp>
        <p:nvSpPr>
          <p:cNvPr id="34" name="Shape 30"/>
          <p:cNvSpPr/>
          <p:nvPr/>
        </p:nvSpPr>
        <p:spPr>
          <a:xfrm>
            <a:off x="758952" y="2350008"/>
            <a:ext cx="91440" cy="91440"/>
          </a:xfrm>
          <a:prstGeom prst="ellipse">
            <a:avLst/>
          </a:prstGeom>
          <a:solidFill>
            <a:srgbClr val="00A86A"/>
          </a:solidFill>
          <a:ln/>
        </p:spPr>
      </p:sp>
      <p:sp>
        <p:nvSpPr>
          <p:cNvPr id="35" name="Shape 31"/>
          <p:cNvSpPr/>
          <p:nvPr/>
        </p:nvSpPr>
        <p:spPr>
          <a:xfrm>
            <a:off x="1014984" y="2231136"/>
            <a:ext cx="329184" cy="329184"/>
          </a:xfrm>
          <a:prstGeom prst="rect">
            <a:avLst/>
          </a:prstGeom>
          <a:solidFill>
            <a:srgbClr val="FFFFFF"/>
          </a:solidFill>
          <a:ln w="6350">
            <a:solidFill>
              <a:srgbClr val="D5DED9"/>
            </a:solidFill>
            <a:prstDash val="solid"/>
          </a:ln>
        </p:spPr>
      </p:sp>
      <p:sp>
        <p:nvSpPr>
          <p:cNvPr id="36" name="Shape 32"/>
          <p:cNvSpPr/>
          <p:nvPr/>
        </p:nvSpPr>
        <p:spPr>
          <a:xfrm>
            <a:off x="1133856" y="2350008"/>
            <a:ext cx="91440" cy="91440"/>
          </a:xfrm>
          <a:prstGeom prst="ellipse">
            <a:avLst/>
          </a:prstGeom>
          <a:solidFill>
            <a:srgbClr val="00A86A"/>
          </a:solidFill>
          <a:ln/>
        </p:spPr>
      </p:sp>
      <p:sp>
        <p:nvSpPr>
          <p:cNvPr id="37" name="Shape 33"/>
          <p:cNvSpPr/>
          <p:nvPr/>
        </p:nvSpPr>
        <p:spPr>
          <a:xfrm>
            <a:off x="1389888" y="2231136"/>
            <a:ext cx="329184" cy="329184"/>
          </a:xfrm>
          <a:prstGeom prst="rect">
            <a:avLst/>
          </a:prstGeom>
          <a:solidFill>
            <a:srgbClr val="FFFFFF"/>
          </a:solidFill>
          <a:ln w="6350">
            <a:solidFill>
              <a:srgbClr val="D5DED9"/>
            </a:solidFill>
            <a:prstDash val="solid"/>
          </a:ln>
        </p:spPr>
      </p:sp>
      <p:sp>
        <p:nvSpPr>
          <p:cNvPr id="38" name="Shape 34"/>
          <p:cNvSpPr/>
          <p:nvPr/>
        </p:nvSpPr>
        <p:spPr>
          <a:xfrm>
            <a:off x="1508760" y="2350008"/>
            <a:ext cx="91440" cy="91440"/>
          </a:xfrm>
          <a:prstGeom prst="ellipse">
            <a:avLst/>
          </a:prstGeom>
          <a:solidFill>
            <a:srgbClr val="00A86A"/>
          </a:solidFill>
          <a:ln/>
        </p:spPr>
      </p:sp>
      <p:sp>
        <p:nvSpPr>
          <p:cNvPr id="39" name="Shape 35"/>
          <p:cNvSpPr/>
          <p:nvPr/>
        </p:nvSpPr>
        <p:spPr>
          <a:xfrm>
            <a:off x="1764792" y="2231136"/>
            <a:ext cx="329184" cy="329184"/>
          </a:xfrm>
          <a:prstGeom prst="rect">
            <a:avLst/>
          </a:prstGeom>
          <a:solidFill>
            <a:srgbClr val="FFFFFF"/>
          </a:solidFill>
          <a:ln w="6350">
            <a:solidFill>
              <a:srgbClr val="D5DED9"/>
            </a:solidFill>
            <a:prstDash val="solid"/>
          </a:ln>
        </p:spPr>
      </p:sp>
      <p:sp>
        <p:nvSpPr>
          <p:cNvPr id="40" name="Shape 36"/>
          <p:cNvSpPr/>
          <p:nvPr/>
        </p:nvSpPr>
        <p:spPr>
          <a:xfrm>
            <a:off x="1883664" y="2350008"/>
            <a:ext cx="91440" cy="91440"/>
          </a:xfrm>
          <a:prstGeom prst="ellipse">
            <a:avLst/>
          </a:prstGeom>
          <a:solidFill>
            <a:srgbClr val="00A86A"/>
          </a:solidFill>
          <a:ln/>
        </p:spPr>
      </p:sp>
      <p:sp>
        <p:nvSpPr>
          <p:cNvPr id="41" name="Shape 37"/>
          <p:cNvSpPr/>
          <p:nvPr/>
        </p:nvSpPr>
        <p:spPr>
          <a:xfrm>
            <a:off x="640080" y="2606040"/>
            <a:ext cx="329184" cy="329184"/>
          </a:xfrm>
          <a:prstGeom prst="rect">
            <a:avLst/>
          </a:prstGeom>
          <a:solidFill>
            <a:srgbClr val="FFFFFF"/>
          </a:solidFill>
          <a:ln w="6350">
            <a:solidFill>
              <a:srgbClr val="D5DED9"/>
            </a:solidFill>
            <a:prstDash val="solid"/>
          </a:ln>
        </p:spPr>
      </p:sp>
      <p:sp>
        <p:nvSpPr>
          <p:cNvPr id="42" name="Shape 38"/>
          <p:cNvSpPr/>
          <p:nvPr/>
        </p:nvSpPr>
        <p:spPr>
          <a:xfrm>
            <a:off x="758952" y="2724912"/>
            <a:ext cx="91440" cy="91440"/>
          </a:xfrm>
          <a:prstGeom prst="ellipse">
            <a:avLst/>
          </a:prstGeom>
          <a:solidFill>
            <a:srgbClr val="00A86A"/>
          </a:solidFill>
          <a:ln/>
        </p:spPr>
      </p:sp>
      <p:sp>
        <p:nvSpPr>
          <p:cNvPr id="43" name="Shape 39"/>
          <p:cNvSpPr/>
          <p:nvPr/>
        </p:nvSpPr>
        <p:spPr>
          <a:xfrm>
            <a:off x="1014984" y="2606040"/>
            <a:ext cx="329184" cy="329184"/>
          </a:xfrm>
          <a:prstGeom prst="rect">
            <a:avLst/>
          </a:prstGeom>
          <a:solidFill>
            <a:srgbClr val="FFFFFF"/>
          </a:solidFill>
          <a:ln w="6350">
            <a:solidFill>
              <a:srgbClr val="D5DED9"/>
            </a:solidFill>
            <a:prstDash val="solid"/>
          </a:ln>
        </p:spPr>
      </p:sp>
      <p:sp>
        <p:nvSpPr>
          <p:cNvPr id="44" name="Shape 40"/>
          <p:cNvSpPr/>
          <p:nvPr/>
        </p:nvSpPr>
        <p:spPr>
          <a:xfrm>
            <a:off x="1133856" y="2724912"/>
            <a:ext cx="91440" cy="91440"/>
          </a:xfrm>
          <a:prstGeom prst="ellipse">
            <a:avLst/>
          </a:prstGeom>
          <a:solidFill>
            <a:srgbClr val="00A86A"/>
          </a:solidFill>
          <a:ln/>
        </p:spPr>
      </p:sp>
      <p:sp>
        <p:nvSpPr>
          <p:cNvPr id="45" name="Shape 41"/>
          <p:cNvSpPr/>
          <p:nvPr/>
        </p:nvSpPr>
        <p:spPr>
          <a:xfrm>
            <a:off x="1389888" y="2606040"/>
            <a:ext cx="329184" cy="329184"/>
          </a:xfrm>
          <a:prstGeom prst="rect">
            <a:avLst/>
          </a:prstGeom>
          <a:solidFill>
            <a:srgbClr val="FFFFFF"/>
          </a:solidFill>
          <a:ln w="6350">
            <a:solidFill>
              <a:srgbClr val="D5DED9"/>
            </a:solidFill>
            <a:prstDash val="solid"/>
          </a:ln>
        </p:spPr>
      </p:sp>
      <p:sp>
        <p:nvSpPr>
          <p:cNvPr id="46" name="Shape 42"/>
          <p:cNvSpPr/>
          <p:nvPr/>
        </p:nvSpPr>
        <p:spPr>
          <a:xfrm>
            <a:off x="1508760" y="2724912"/>
            <a:ext cx="91440" cy="91440"/>
          </a:xfrm>
          <a:prstGeom prst="ellipse">
            <a:avLst/>
          </a:prstGeom>
          <a:solidFill>
            <a:srgbClr val="00A86A"/>
          </a:solidFill>
          <a:ln/>
        </p:spPr>
      </p:sp>
      <p:sp>
        <p:nvSpPr>
          <p:cNvPr id="47" name="Shape 43"/>
          <p:cNvSpPr/>
          <p:nvPr/>
        </p:nvSpPr>
        <p:spPr>
          <a:xfrm>
            <a:off x="1764792" y="2606040"/>
            <a:ext cx="329184" cy="329184"/>
          </a:xfrm>
          <a:prstGeom prst="rect">
            <a:avLst/>
          </a:prstGeom>
          <a:solidFill>
            <a:srgbClr val="FFFFFF"/>
          </a:solidFill>
          <a:ln w="6350">
            <a:solidFill>
              <a:srgbClr val="D5DED9"/>
            </a:solidFill>
            <a:prstDash val="solid"/>
          </a:ln>
        </p:spPr>
      </p:sp>
      <p:sp>
        <p:nvSpPr>
          <p:cNvPr id="48" name="Shape 44"/>
          <p:cNvSpPr/>
          <p:nvPr/>
        </p:nvSpPr>
        <p:spPr>
          <a:xfrm>
            <a:off x="1883664" y="2724912"/>
            <a:ext cx="91440" cy="91440"/>
          </a:xfrm>
          <a:prstGeom prst="ellipse">
            <a:avLst/>
          </a:prstGeom>
          <a:solidFill>
            <a:srgbClr val="A9B5B0"/>
          </a:solidFill>
          <a:ln/>
        </p:spPr>
      </p:sp>
      <p:sp>
        <p:nvSpPr>
          <p:cNvPr id="49" name="Text 45"/>
          <p:cNvSpPr txBox="1"/>
          <p:nvPr/>
        </p:nvSpPr>
        <p:spPr>
          <a:xfrm>
            <a:off x="2286000" y="1417320"/>
            <a:ext cx="2103120" cy="320040"/>
          </a:xfrm>
          <a:prstGeom prst="rect">
            <a:avLst/>
          </a:prstGeom>
          <a:noFill/>
          <a:ln/>
        </p:spPr>
        <p:txBody>
          <a:bodyPr wrap="square" lIns="0" tIns="0" rIns="0" bIns="0" rtlCol="0" anchor="t"/>
          <a:lstStyle/>
          <a:p>
            <a:pPr marL="0" indent="0">
              <a:buNone/>
            </a:pPr>
            <a:r>
              <a:rPr lang="en-US" sz="1500" b="1" dirty="0">
                <a:solidFill>
                  <a:srgbClr val="00A86A"/>
                </a:solidFill>
                <a:latin typeface="Courier New" pitchFamily="34" charset="0"/>
                <a:ea typeface="Courier New" pitchFamily="34" charset="-122"/>
                <a:cs typeface="Courier New" pitchFamily="34" charset="-120"/>
              </a:rPr>
              <a:t>geo_point</a:t>
            </a:r>
            <a:endParaRPr lang="en-US" sz="1500" dirty="0"/>
          </a:p>
        </p:txBody>
      </p:sp>
      <p:sp>
        <p:nvSpPr>
          <p:cNvPr id="50" name="Text 46"/>
          <p:cNvSpPr txBox="1"/>
          <p:nvPr/>
        </p:nvSpPr>
        <p:spPr>
          <a:xfrm>
            <a:off x="2286000" y="1737360"/>
            <a:ext cx="210312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the tile centroid</a:t>
            </a:r>
            <a:endParaRPr lang="en-US" sz="1050" dirty="0"/>
          </a:p>
        </p:txBody>
      </p:sp>
      <p:sp>
        <p:nvSpPr>
          <p:cNvPr id="51" name="Text 47"/>
          <p:cNvSpPr txBox="1"/>
          <p:nvPr/>
        </p:nvSpPr>
        <p:spPr>
          <a:xfrm>
            <a:off x="228600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Compact and very fast</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Heatmaps and geotile_grid buckets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Distance queries ("within 10 km")</a:t>
            </a:r>
            <a:endParaRPr lang="en-US" sz="1000" dirty="0"/>
          </a:p>
          <a:p>
            <a:pPr marL="342900" indent="-342900">
              <a:spcAft>
                <a:spcPts val="400"/>
              </a:spcAft>
              <a:buSzPct val="100000"/>
              <a:buChar char="•"/>
            </a:pPr>
            <a:r>
              <a:rPr lang="en-US" sz="1000" dirty="0">
                <a:solidFill>
                  <a:srgbClr val="B83B2E"/>
                </a:solidFill>
                <a:latin typeface="Calibri" pitchFamily="34" charset="0"/>
                <a:ea typeface="Calibri" pitchFamily="34" charset="-122"/>
                <a:cs typeface="Calibri" pitchFamily="34" charset="-120"/>
              </a:rPr>
              <a:t>A border tile belongs to one side only</a:t>
            </a:r>
            <a:endParaRPr lang="en-US" sz="1000" dirty="0"/>
          </a:p>
        </p:txBody>
      </p:sp>
      <p:sp>
        <p:nvSpPr>
          <p:cNvPr id="52" name="Shape 48"/>
          <p:cNvSpPr/>
          <p:nvPr/>
        </p:nvSpPr>
        <p:spPr>
          <a:xfrm>
            <a:off x="4663440" y="1261872"/>
            <a:ext cx="4023360" cy="2514600"/>
          </a:xfrm>
          <a:prstGeom prst="roundRect">
            <a:avLst>
              <a:gd name="adj" fmla="val 2909"/>
            </a:avLst>
          </a:prstGeom>
          <a:solidFill>
            <a:srgbClr val="F4F7F5"/>
          </a:solidFill>
          <a:ln w="9525">
            <a:solidFill>
              <a:srgbClr val="D5DED9"/>
            </a:solidFill>
            <a:prstDash val="solid"/>
          </a:ln>
        </p:spPr>
      </p:sp>
      <p:sp>
        <p:nvSpPr>
          <p:cNvPr id="53" name="Shape 49"/>
          <p:cNvSpPr/>
          <p:nvPr/>
        </p:nvSpPr>
        <p:spPr>
          <a:xfrm>
            <a:off x="4846320" y="1481328"/>
            <a:ext cx="329184" cy="329184"/>
          </a:xfrm>
          <a:prstGeom prst="rect">
            <a:avLst/>
          </a:prstGeom>
          <a:solidFill>
            <a:srgbClr val="F4F7F5"/>
          </a:solidFill>
          <a:ln w="9525">
            <a:solidFill>
              <a:srgbClr val="0E7C86"/>
            </a:solidFill>
            <a:prstDash val="solid"/>
          </a:ln>
        </p:spPr>
      </p:sp>
      <p:sp>
        <p:nvSpPr>
          <p:cNvPr id="54" name="Shape 50"/>
          <p:cNvSpPr/>
          <p:nvPr/>
        </p:nvSpPr>
        <p:spPr>
          <a:xfrm>
            <a:off x="5221224" y="1481328"/>
            <a:ext cx="329184" cy="329184"/>
          </a:xfrm>
          <a:prstGeom prst="rect">
            <a:avLst/>
          </a:prstGeom>
          <a:solidFill>
            <a:srgbClr val="F4F7F5"/>
          </a:solidFill>
          <a:ln w="9525">
            <a:solidFill>
              <a:srgbClr val="0E7C86"/>
            </a:solidFill>
            <a:prstDash val="solid"/>
          </a:ln>
        </p:spPr>
      </p:sp>
      <p:sp>
        <p:nvSpPr>
          <p:cNvPr id="55" name="Shape 51"/>
          <p:cNvSpPr/>
          <p:nvPr/>
        </p:nvSpPr>
        <p:spPr>
          <a:xfrm>
            <a:off x="5596128" y="1481328"/>
            <a:ext cx="329184" cy="329184"/>
          </a:xfrm>
          <a:prstGeom prst="rect">
            <a:avLst/>
          </a:prstGeom>
          <a:solidFill>
            <a:srgbClr val="0E7C86">
              <a:alpha val="45000"/>
            </a:srgbClr>
          </a:solidFill>
          <a:ln w="9525">
            <a:solidFill>
              <a:srgbClr val="0E7C86"/>
            </a:solidFill>
            <a:prstDash val="solid"/>
          </a:ln>
        </p:spPr>
      </p:sp>
      <p:sp>
        <p:nvSpPr>
          <p:cNvPr id="56" name="Shape 52"/>
          <p:cNvSpPr/>
          <p:nvPr/>
        </p:nvSpPr>
        <p:spPr>
          <a:xfrm>
            <a:off x="5971032" y="1481328"/>
            <a:ext cx="329184" cy="329184"/>
          </a:xfrm>
          <a:prstGeom prst="rect">
            <a:avLst/>
          </a:prstGeom>
          <a:solidFill>
            <a:srgbClr val="0E7C86">
              <a:alpha val="45000"/>
            </a:srgbClr>
          </a:solidFill>
          <a:ln w="9525">
            <a:solidFill>
              <a:srgbClr val="0E7C86"/>
            </a:solidFill>
            <a:prstDash val="solid"/>
          </a:ln>
        </p:spPr>
      </p:sp>
      <p:sp>
        <p:nvSpPr>
          <p:cNvPr id="57" name="Shape 53"/>
          <p:cNvSpPr/>
          <p:nvPr/>
        </p:nvSpPr>
        <p:spPr>
          <a:xfrm>
            <a:off x="4846320" y="1856232"/>
            <a:ext cx="329184" cy="329184"/>
          </a:xfrm>
          <a:prstGeom prst="rect">
            <a:avLst/>
          </a:prstGeom>
          <a:solidFill>
            <a:srgbClr val="F4F7F5"/>
          </a:solidFill>
          <a:ln w="9525">
            <a:solidFill>
              <a:srgbClr val="0E7C86"/>
            </a:solidFill>
            <a:prstDash val="solid"/>
          </a:ln>
        </p:spPr>
      </p:sp>
      <p:sp>
        <p:nvSpPr>
          <p:cNvPr id="58" name="Shape 54"/>
          <p:cNvSpPr/>
          <p:nvPr/>
        </p:nvSpPr>
        <p:spPr>
          <a:xfrm>
            <a:off x="5221224" y="1856232"/>
            <a:ext cx="329184" cy="329184"/>
          </a:xfrm>
          <a:prstGeom prst="rect">
            <a:avLst/>
          </a:prstGeom>
          <a:solidFill>
            <a:srgbClr val="0E7C86">
              <a:alpha val="45000"/>
            </a:srgbClr>
          </a:solidFill>
          <a:ln w="9525">
            <a:solidFill>
              <a:srgbClr val="0E7C86"/>
            </a:solidFill>
            <a:prstDash val="solid"/>
          </a:ln>
        </p:spPr>
      </p:sp>
      <p:sp>
        <p:nvSpPr>
          <p:cNvPr id="59" name="Shape 55"/>
          <p:cNvSpPr/>
          <p:nvPr/>
        </p:nvSpPr>
        <p:spPr>
          <a:xfrm>
            <a:off x="5596128" y="1856232"/>
            <a:ext cx="329184" cy="329184"/>
          </a:xfrm>
          <a:prstGeom prst="rect">
            <a:avLst/>
          </a:prstGeom>
          <a:solidFill>
            <a:srgbClr val="0E7C86">
              <a:alpha val="45000"/>
            </a:srgbClr>
          </a:solidFill>
          <a:ln w="9525">
            <a:solidFill>
              <a:srgbClr val="0E7C86"/>
            </a:solidFill>
            <a:prstDash val="solid"/>
          </a:ln>
        </p:spPr>
      </p:sp>
      <p:sp>
        <p:nvSpPr>
          <p:cNvPr id="60" name="Shape 56"/>
          <p:cNvSpPr/>
          <p:nvPr/>
        </p:nvSpPr>
        <p:spPr>
          <a:xfrm>
            <a:off x="5971032" y="1856232"/>
            <a:ext cx="329184" cy="329184"/>
          </a:xfrm>
          <a:prstGeom prst="rect">
            <a:avLst/>
          </a:prstGeom>
          <a:solidFill>
            <a:srgbClr val="0E7C86">
              <a:alpha val="45000"/>
            </a:srgbClr>
          </a:solidFill>
          <a:ln w="9525">
            <a:solidFill>
              <a:srgbClr val="0E7C86"/>
            </a:solidFill>
            <a:prstDash val="solid"/>
          </a:ln>
        </p:spPr>
      </p:sp>
      <p:sp>
        <p:nvSpPr>
          <p:cNvPr id="61" name="Shape 57"/>
          <p:cNvSpPr/>
          <p:nvPr/>
        </p:nvSpPr>
        <p:spPr>
          <a:xfrm>
            <a:off x="4846320" y="2231136"/>
            <a:ext cx="329184" cy="329184"/>
          </a:xfrm>
          <a:prstGeom prst="rect">
            <a:avLst/>
          </a:prstGeom>
          <a:solidFill>
            <a:srgbClr val="0E7C86">
              <a:alpha val="45000"/>
            </a:srgbClr>
          </a:solidFill>
          <a:ln w="9525">
            <a:solidFill>
              <a:srgbClr val="0E7C86"/>
            </a:solidFill>
            <a:prstDash val="solid"/>
          </a:ln>
        </p:spPr>
      </p:sp>
      <p:sp>
        <p:nvSpPr>
          <p:cNvPr id="62" name="Shape 58"/>
          <p:cNvSpPr/>
          <p:nvPr/>
        </p:nvSpPr>
        <p:spPr>
          <a:xfrm>
            <a:off x="5221224" y="2231136"/>
            <a:ext cx="329184" cy="329184"/>
          </a:xfrm>
          <a:prstGeom prst="rect">
            <a:avLst/>
          </a:prstGeom>
          <a:solidFill>
            <a:srgbClr val="0E7C86">
              <a:alpha val="45000"/>
            </a:srgbClr>
          </a:solidFill>
          <a:ln w="9525">
            <a:solidFill>
              <a:srgbClr val="0E7C86"/>
            </a:solidFill>
            <a:prstDash val="solid"/>
          </a:ln>
        </p:spPr>
      </p:sp>
      <p:sp>
        <p:nvSpPr>
          <p:cNvPr id="63" name="Shape 59"/>
          <p:cNvSpPr/>
          <p:nvPr/>
        </p:nvSpPr>
        <p:spPr>
          <a:xfrm>
            <a:off x="5596128" y="2231136"/>
            <a:ext cx="329184" cy="329184"/>
          </a:xfrm>
          <a:prstGeom prst="rect">
            <a:avLst/>
          </a:prstGeom>
          <a:solidFill>
            <a:srgbClr val="0E7C86">
              <a:alpha val="45000"/>
            </a:srgbClr>
          </a:solidFill>
          <a:ln w="9525">
            <a:solidFill>
              <a:srgbClr val="0E7C86"/>
            </a:solidFill>
            <a:prstDash val="solid"/>
          </a:ln>
        </p:spPr>
      </p:sp>
      <p:sp>
        <p:nvSpPr>
          <p:cNvPr id="64" name="Shape 60"/>
          <p:cNvSpPr/>
          <p:nvPr/>
        </p:nvSpPr>
        <p:spPr>
          <a:xfrm>
            <a:off x="5971032" y="2231136"/>
            <a:ext cx="329184" cy="329184"/>
          </a:xfrm>
          <a:prstGeom prst="rect">
            <a:avLst/>
          </a:prstGeom>
          <a:solidFill>
            <a:srgbClr val="0E7C86">
              <a:alpha val="45000"/>
            </a:srgbClr>
          </a:solidFill>
          <a:ln w="9525">
            <a:solidFill>
              <a:srgbClr val="0E7C86"/>
            </a:solidFill>
            <a:prstDash val="solid"/>
          </a:ln>
        </p:spPr>
      </p:sp>
      <p:sp>
        <p:nvSpPr>
          <p:cNvPr id="65" name="Shape 61"/>
          <p:cNvSpPr/>
          <p:nvPr/>
        </p:nvSpPr>
        <p:spPr>
          <a:xfrm>
            <a:off x="4846320" y="2606040"/>
            <a:ext cx="329184" cy="329184"/>
          </a:xfrm>
          <a:prstGeom prst="rect">
            <a:avLst/>
          </a:prstGeom>
          <a:solidFill>
            <a:srgbClr val="0E7C86">
              <a:alpha val="45000"/>
            </a:srgbClr>
          </a:solidFill>
          <a:ln w="9525">
            <a:solidFill>
              <a:srgbClr val="0E7C86"/>
            </a:solidFill>
            <a:prstDash val="solid"/>
          </a:ln>
        </p:spPr>
      </p:sp>
      <p:sp>
        <p:nvSpPr>
          <p:cNvPr id="66" name="Shape 62"/>
          <p:cNvSpPr/>
          <p:nvPr/>
        </p:nvSpPr>
        <p:spPr>
          <a:xfrm>
            <a:off x="5221224" y="2606040"/>
            <a:ext cx="329184" cy="329184"/>
          </a:xfrm>
          <a:prstGeom prst="rect">
            <a:avLst/>
          </a:prstGeom>
          <a:solidFill>
            <a:srgbClr val="0E7C86">
              <a:alpha val="45000"/>
            </a:srgbClr>
          </a:solidFill>
          <a:ln w="9525">
            <a:solidFill>
              <a:srgbClr val="0E7C86"/>
            </a:solidFill>
            <a:prstDash val="solid"/>
          </a:ln>
        </p:spPr>
      </p:sp>
      <p:sp>
        <p:nvSpPr>
          <p:cNvPr id="67" name="Shape 63"/>
          <p:cNvSpPr/>
          <p:nvPr/>
        </p:nvSpPr>
        <p:spPr>
          <a:xfrm>
            <a:off x="5596128" y="2606040"/>
            <a:ext cx="329184" cy="329184"/>
          </a:xfrm>
          <a:prstGeom prst="rect">
            <a:avLst/>
          </a:prstGeom>
          <a:solidFill>
            <a:srgbClr val="0E7C86">
              <a:alpha val="45000"/>
            </a:srgbClr>
          </a:solidFill>
          <a:ln w="9525">
            <a:solidFill>
              <a:srgbClr val="0E7C86"/>
            </a:solidFill>
            <a:prstDash val="solid"/>
          </a:ln>
        </p:spPr>
      </p:sp>
      <p:sp>
        <p:nvSpPr>
          <p:cNvPr id="68" name="Shape 64"/>
          <p:cNvSpPr/>
          <p:nvPr/>
        </p:nvSpPr>
        <p:spPr>
          <a:xfrm>
            <a:off x="5971032" y="2606040"/>
            <a:ext cx="329184" cy="329184"/>
          </a:xfrm>
          <a:prstGeom prst="rect">
            <a:avLst/>
          </a:prstGeom>
          <a:solidFill>
            <a:srgbClr val="F4F7F5"/>
          </a:solidFill>
          <a:ln w="9525">
            <a:solidFill>
              <a:srgbClr val="0E7C86"/>
            </a:solidFill>
            <a:prstDash val="solid"/>
          </a:ln>
        </p:spPr>
      </p:sp>
      <p:sp>
        <p:nvSpPr>
          <p:cNvPr id="69" name="Text 65"/>
          <p:cNvSpPr txBox="1"/>
          <p:nvPr/>
        </p:nvSpPr>
        <p:spPr>
          <a:xfrm>
            <a:off x="6492240" y="1417320"/>
            <a:ext cx="2103120" cy="320040"/>
          </a:xfrm>
          <a:prstGeom prst="rect">
            <a:avLst/>
          </a:prstGeom>
          <a:noFill/>
          <a:ln/>
        </p:spPr>
        <p:txBody>
          <a:bodyPr wrap="square" lIns="0" tIns="0" rIns="0" bIns="0" rtlCol="0" anchor="t"/>
          <a:lstStyle/>
          <a:p>
            <a:pPr marL="0" indent="0">
              <a:buNone/>
            </a:pPr>
            <a:r>
              <a:rPr lang="en-US" sz="1500" b="1" dirty="0">
                <a:solidFill>
                  <a:srgbClr val="0E7C86"/>
                </a:solidFill>
                <a:latin typeface="Courier New" pitchFamily="34" charset="0"/>
                <a:ea typeface="Courier New" pitchFamily="34" charset="-122"/>
                <a:cs typeface="Courier New" pitchFamily="34" charset="-120"/>
              </a:rPr>
              <a:t>geo_shape</a:t>
            </a:r>
            <a:endParaRPr lang="en-US" sz="1500" dirty="0"/>
          </a:p>
        </p:txBody>
      </p:sp>
      <p:sp>
        <p:nvSpPr>
          <p:cNvPr id="70" name="Text 66"/>
          <p:cNvSpPr txBox="1"/>
          <p:nvPr/>
        </p:nvSpPr>
        <p:spPr>
          <a:xfrm>
            <a:off x="6492240" y="1737360"/>
            <a:ext cx="210312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the full 610 m polygon</a:t>
            </a:r>
            <a:endParaRPr lang="en-US" sz="1050" dirty="0"/>
          </a:p>
        </p:txBody>
      </p:sp>
      <p:sp>
        <p:nvSpPr>
          <p:cNvPr id="71" name="Text 67"/>
          <p:cNvSpPr txBox="1"/>
          <p:nvPr/>
        </p:nvSpPr>
        <p:spPr>
          <a:xfrm>
            <a:off x="6492240" y="2057400"/>
            <a:ext cx="2103120" cy="1600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Exact intersection with boundaries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Border tiles counted by both regions</a:t>
            </a:r>
            <a:endParaRPr lang="en-US" sz="1000" dirty="0"/>
          </a:p>
          <a:p>
            <a:pPr marL="342900" indent="-342900">
              <a:spcAft>
                <a:spcPts val="400"/>
              </a:spcAft>
              <a:buSzPct val="100000"/>
              <a:buChar char="•"/>
            </a:pPr>
            <a:r>
              <a:rPr lang="en-US" sz="1000" dirty="0">
                <a:solidFill>
                  <a:srgbClr val="231F20"/>
                </a:solidFill>
                <a:latin typeface="Calibri" pitchFamily="34" charset="0"/>
                <a:ea typeface="Calibri" pitchFamily="34" charset="-122"/>
                <a:cs typeface="Calibri" pitchFamily="34" charset="-120"/>
              </a:rPr>
              <a:t>Accurate polygon rendering in Maps</a:t>
            </a:r>
            <a:endParaRPr lang="en-US" sz="1000" dirty="0"/>
          </a:p>
          <a:p>
            <a:pPr marL="342900" indent="-342900">
              <a:spcAft>
                <a:spcPts val="400"/>
              </a:spcAft>
              <a:buSzPct val="100000"/>
              <a:buChar char="•"/>
            </a:pPr>
            <a:r>
              <a:rPr lang="en-US" sz="1000" dirty="0">
                <a:solidFill>
                  <a:srgbClr val="B83B2E"/>
                </a:solidFill>
                <a:latin typeface="Calibri" pitchFamily="34" charset="0"/>
                <a:ea typeface="Calibri" pitchFamily="34" charset="-122"/>
                <a:cs typeface="Calibri" pitchFamily="34" charset="-120"/>
              </a:rPr>
              <a:t>Heavier to index and to query</a:t>
            </a:r>
            <a:endParaRPr lang="en-US" sz="1000" dirty="0"/>
          </a:p>
        </p:txBody>
      </p:sp>
      <p:sp>
        <p:nvSpPr>
          <p:cNvPr id="72" name="Shape 68"/>
          <p:cNvSpPr/>
          <p:nvPr/>
        </p:nvSpPr>
        <p:spPr>
          <a:xfrm>
            <a:off x="457200" y="3931920"/>
            <a:ext cx="8229600" cy="640080"/>
          </a:xfrm>
          <a:prstGeom prst="roundRect">
            <a:avLst>
              <a:gd name="adj" fmla="val 11429"/>
            </a:avLst>
          </a:prstGeom>
          <a:solidFill>
            <a:srgbClr val="E8F5EF"/>
          </a:solidFill>
          <a:ln w="15875">
            <a:solidFill>
              <a:srgbClr val="00A86A"/>
            </a:solidFill>
            <a:prstDash val="solid"/>
          </a:ln>
        </p:spPr>
      </p:sp>
      <p:sp>
        <p:nvSpPr>
          <p:cNvPr id="73" name="Shape 69"/>
          <p:cNvSpPr/>
          <p:nvPr/>
        </p:nvSpPr>
        <p:spPr>
          <a:xfrm>
            <a:off x="594360" y="4041648"/>
            <a:ext cx="420624" cy="420624"/>
          </a:xfrm>
          <a:prstGeom prst="ellipse">
            <a:avLst/>
          </a:prstGeom>
          <a:solidFill>
            <a:srgbClr val="00A86A">
              <a:alpha val="22000"/>
            </a:srgbClr>
          </a:solidFill>
          <a:ln/>
        </p:spPr>
      </p:sp>
      <p:pic>
        <p:nvPicPr>
          <p:cNvPr id="74" name="Image 1" descr="preencoded.png"/>
          <p:cNvPicPr>
            <a:picLocks noChangeAspect="1"/>
          </p:cNvPicPr>
          <p:nvPr/>
        </p:nvPicPr>
        <p:blipFill>
          <a:blip r:embed="rId4"/>
          <a:stretch>
            <a:fillRect/>
          </a:stretch>
        </p:blipFill>
        <p:spPr>
          <a:xfrm>
            <a:off x="703722" y="4151010"/>
            <a:ext cx="201900" cy="201900"/>
          </a:xfrm>
          <a:prstGeom prst="rect">
            <a:avLst/>
          </a:prstGeom>
        </p:spPr>
      </p:pic>
      <p:sp>
        <p:nvSpPr>
          <p:cNvPr id="75" name="Text 70"/>
          <p:cNvSpPr txBox="1"/>
          <p:nvPr/>
        </p:nvSpPr>
        <p:spPr>
          <a:xfrm>
            <a:off x="1161288" y="3959352"/>
            <a:ext cx="7406640" cy="58521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Recommendation: store both. </a:t>
            </a:r>
            <a:r>
              <a:rPr lang="en-US" sz="1050" dirty="0">
                <a:solidFill>
                  <a:srgbClr val="231F20"/>
                </a:solidFill>
                <a:latin typeface="Calibri" pitchFamily="34" charset="0"/>
                <a:ea typeface="Calibri" pitchFamily="34" charset="-122"/>
                <a:cs typeface="Calibri" pitchFamily="34" charset="-120"/>
              </a:rPr>
              <a:t>Centroid for speed, polygon for exact boundary intersections. Mind the axis order: WKT and GeoJSON are longitude first, as in the Ookla files.</a:t>
            </a:r>
            <a:endParaRPr lang="en-US" sz="10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MODELLING THE DATA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Four ways to get data in — and the one we use in the lab</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0E7C86"/>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6" name="Shape 12"/>
          <p:cNvSpPr/>
          <p:nvPr/>
        </p:nvSpPr>
        <p:spPr>
          <a:xfrm>
            <a:off x="457200" y="1261872"/>
            <a:ext cx="2194560" cy="1554480"/>
          </a:xfrm>
          <a:prstGeom prst="roundRect">
            <a:avLst>
              <a:gd name="adj" fmla="val 4706"/>
            </a:avLst>
          </a:prstGeom>
          <a:solidFill>
            <a:srgbClr val="E8F5EF"/>
          </a:solidFill>
          <a:ln w="15875">
            <a:solidFill>
              <a:srgbClr val="00A86A"/>
            </a:solidFill>
            <a:prstDash val="solid"/>
          </a:ln>
        </p:spPr>
      </p:sp>
      <p:sp>
        <p:nvSpPr>
          <p:cNvPr id="17" name="Shape 13"/>
          <p:cNvSpPr/>
          <p:nvPr/>
        </p:nvSpPr>
        <p:spPr>
          <a:xfrm>
            <a:off x="603504" y="1408176"/>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517538"/>
            <a:ext cx="201900" cy="201900"/>
          </a:xfrm>
          <a:prstGeom prst="rect">
            <a:avLst/>
          </a:prstGeom>
        </p:spPr>
      </p:pic>
      <p:sp>
        <p:nvSpPr>
          <p:cNvPr id="19" name="Shape 14"/>
          <p:cNvSpPr/>
          <p:nvPr/>
        </p:nvSpPr>
        <p:spPr>
          <a:xfrm>
            <a:off x="1874520" y="1463040"/>
            <a:ext cx="640080" cy="237744"/>
          </a:xfrm>
          <a:prstGeom prst="roundRect">
            <a:avLst>
              <a:gd name="adj" fmla="val 50000"/>
            </a:avLst>
          </a:prstGeom>
          <a:solidFill>
            <a:srgbClr val="F5C242">
              <a:alpha val="15000"/>
            </a:srgbClr>
          </a:solidFill>
          <a:ln w="9525">
            <a:solidFill>
              <a:srgbClr val="F5C242"/>
            </a:solidFill>
            <a:prstDash val="solid"/>
          </a:ln>
        </p:spPr>
      </p:sp>
      <p:sp>
        <p:nvSpPr>
          <p:cNvPr id="20" name="Text 15"/>
          <p:cNvSpPr txBox="1"/>
          <p:nvPr/>
        </p:nvSpPr>
        <p:spPr>
          <a:xfrm>
            <a:off x="1874520" y="1463040"/>
            <a:ext cx="640080" cy="237744"/>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LAB 1</a:t>
            </a:r>
            <a:endParaRPr lang="en-US" sz="950" dirty="0"/>
          </a:p>
        </p:txBody>
      </p:sp>
      <p:sp>
        <p:nvSpPr>
          <p:cNvPr id="21" name="Text 16"/>
          <p:cNvSpPr txBox="1"/>
          <p:nvPr/>
        </p:nvSpPr>
        <p:spPr>
          <a:xfrm>
            <a:off x="603504" y="192024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Python client</a:t>
            </a:r>
            <a:endParaRPr lang="en-US" sz="1300" dirty="0"/>
          </a:p>
        </p:txBody>
      </p:sp>
      <p:sp>
        <p:nvSpPr>
          <p:cNvPr id="22" name="Text 17"/>
          <p:cNvSpPr txBox="1"/>
          <p:nvPr/>
        </p:nvSpPr>
        <p:spPr>
          <a:xfrm>
            <a:off x="603504" y="217627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Bulk helper in a notebook. Scriptable, versioned, reproducible.</a:t>
            </a:r>
            <a:endParaRPr lang="en-US" sz="1000" dirty="0"/>
          </a:p>
        </p:txBody>
      </p:sp>
      <p:sp>
        <p:nvSpPr>
          <p:cNvPr id="23" name="Shape 18"/>
          <p:cNvSpPr/>
          <p:nvPr/>
        </p:nvSpPr>
        <p:spPr>
          <a:xfrm>
            <a:off x="2788920" y="1261872"/>
            <a:ext cx="2194560" cy="1554480"/>
          </a:xfrm>
          <a:prstGeom prst="roundRect">
            <a:avLst>
              <a:gd name="adj" fmla="val 4706"/>
            </a:avLst>
          </a:prstGeom>
          <a:solidFill>
            <a:srgbClr val="F4F7F5"/>
          </a:solidFill>
          <a:ln w="9525">
            <a:solidFill>
              <a:srgbClr val="D5DED9"/>
            </a:solidFill>
            <a:prstDash val="solid"/>
          </a:ln>
        </p:spPr>
      </p:sp>
      <p:sp>
        <p:nvSpPr>
          <p:cNvPr id="24" name="Shape 19"/>
          <p:cNvSpPr/>
          <p:nvPr/>
        </p:nvSpPr>
        <p:spPr>
          <a:xfrm>
            <a:off x="2935224" y="1408176"/>
            <a:ext cx="420624" cy="420624"/>
          </a:xfrm>
          <a:prstGeom prst="ellipse">
            <a:avLst/>
          </a:prstGeom>
          <a:solidFill>
            <a:srgbClr val="0E7C86">
              <a:alpha val="22000"/>
            </a:srgbClr>
          </a:solidFill>
          <a:ln/>
        </p:spPr>
      </p:sp>
      <p:pic>
        <p:nvPicPr>
          <p:cNvPr id="25" name="Image 2" descr="preencoded.png"/>
          <p:cNvPicPr>
            <a:picLocks noChangeAspect="1"/>
          </p:cNvPicPr>
          <p:nvPr/>
        </p:nvPicPr>
        <p:blipFill>
          <a:blip r:embed="rId5"/>
          <a:stretch>
            <a:fillRect/>
          </a:stretch>
        </p:blipFill>
        <p:spPr>
          <a:xfrm>
            <a:off x="3044586" y="1517538"/>
            <a:ext cx="201900" cy="201900"/>
          </a:xfrm>
          <a:prstGeom prst="rect">
            <a:avLst/>
          </a:prstGeom>
        </p:spPr>
      </p:pic>
      <p:sp>
        <p:nvSpPr>
          <p:cNvPr id="26" name="Text 20"/>
          <p:cNvSpPr txBox="1"/>
          <p:nvPr/>
        </p:nvSpPr>
        <p:spPr>
          <a:xfrm>
            <a:off x="2935224" y="192024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Kibana file upload</a:t>
            </a:r>
            <a:endParaRPr lang="en-US" sz="1300" dirty="0"/>
          </a:p>
        </p:txBody>
      </p:sp>
      <p:sp>
        <p:nvSpPr>
          <p:cNvPr id="27" name="Text 21"/>
          <p:cNvSpPr txBox="1"/>
          <p:nvPr/>
        </p:nvSpPr>
        <p:spPr>
          <a:xfrm>
            <a:off x="2935224" y="217627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Drag-and-drop a small CSV or NDJSON file to explore quickly.</a:t>
            </a:r>
            <a:endParaRPr lang="en-US" sz="1000" dirty="0"/>
          </a:p>
        </p:txBody>
      </p:sp>
      <p:sp>
        <p:nvSpPr>
          <p:cNvPr id="28" name="Shape 22"/>
          <p:cNvSpPr/>
          <p:nvPr/>
        </p:nvSpPr>
        <p:spPr>
          <a:xfrm>
            <a:off x="457200" y="2953512"/>
            <a:ext cx="2194560" cy="1554480"/>
          </a:xfrm>
          <a:prstGeom prst="roundRect">
            <a:avLst>
              <a:gd name="adj" fmla="val 4706"/>
            </a:avLst>
          </a:prstGeom>
          <a:solidFill>
            <a:srgbClr val="F4F7F5"/>
          </a:solidFill>
          <a:ln w="9525">
            <a:solidFill>
              <a:srgbClr val="D5DED9"/>
            </a:solidFill>
            <a:prstDash val="solid"/>
          </a:ln>
        </p:spPr>
      </p:sp>
      <p:sp>
        <p:nvSpPr>
          <p:cNvPr id="29" name="Shape 23"/>
          <p:cNvSpPr/>
          <p:nvPr/>
        </p:nvSpPr>
        <p:spPr>
          <a:xfrm>
            <a:off x="603504" y="3099816"/>
            <a:ext cx="420624" cy="420624"/>
          </a:xfrm>
          <a:prstGeom prst="ellipse">
            <a:avLst/>
          </a:prstGeom>
          <a:solidFill>
            <a:srgbClr val="0E7C86">
              <a:alpha val="22000"/>
            </a:srgbClr>
          </a:solidFill>
          <a:ln/>
        </p:spPr>
      </p:sp>
      <p:pic>
        <p:nvPicPr>
          <p:cNvPr id="30" name="Image 3" descr="preencoded.png"/>
          <p:cNvPicPr>
            <a:picLocks noChangeAspect="1"/>
          </p:cNvPicPr>
          <p:nvPr/>
        </p:nvPicPr>
        <p:blipFill>
          <a:blip r:embed="rId6"/>
          <a:stretch>
            <a:fillRect/>
          </a:stretch>
        </p:blipFill>
        <p:spPr>
          <a:xfrm>
            <a:off x="712866" y="3209178"/>
            <a:ext cx="201900" cy="201900"/>
          </a:xfrm>
          <a:prstGeom prst="rect">
            <a:avLst/>
          </a:prstGeom>
        </p:spPr>
      </p:pic>
      <p:sp>
        <p:nvSpPr>
          <p:cNvPr id="31" name="Text 24"/>
          <p:cNvSpPr txBox="1"/>
          <p:nvPr/>
        </p:nvSpPr>
        <p:spPr>
          <a:xfrm>
            <a:off x="603504" y="361188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Logstash</a:t>
            </a:r>
            <a:endParaRPr lang="en-US" sz="1300" dirty="0"/>
          </a:p>
        </p:txBody>
      </p:sp>
      <p:sp>
        <p:nvSpPr>
          <p:cNvPr id="32" name="Text 25"/>
          <p:cNvSpPr txBox="1"/>
          <p:nvPr/>
        </p:nvSpPr>
        <p:spPr>
          <a:xfrm>
            <a:off x="603504" y="386791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Recurring pipelines: input, parse, enrich, output.</a:t>
            </a:r>
            <a:endParaRPr lang="en-US" sz="1000" dirty="0"/>
          </a:p>
        </p:txBody>
      </p:sp>
      <p:sp>
        <p:nvSpPr>
          <p:cNvPr id="33" name="Shape 26"/>
          <p:cNvSpPr/>
          <p:nvPr/>
        </p:nvSpPr>
        <p:spPr>
          <a:xfrm>
            <a:off x="2788920" y="2953512"/>
            <a:ext cx="2194560" cy="1554480"/>
          </a:xfrm>
          <a:prstGeom prst="roundRect">
            <a:avLst>
              <a:gd name="adj" fmla="val 4706"/>
            </a:avLst>
          </a:prstGeom>
          <a:solidFill>
            <a:srgbClr val="F4F7F5"/>
          </a:solidFill>
          <a:ln w="9525">
            <a:solidFill>
              <a:srgbClr val="D5DED9"/>
            </a:solidFill>
            <a:prstDash val="solid"/>
          </a:ln>
        </p:spPr>
      </p:sp>
      <p:sp>
        <p:nvSpPr>
          <p:cNvPr id="34" name="Shape 27"/>
          <p:cNvSpPr/>
          <p:nvPr/>
        </p:nvSpPr>
        <p:spPr>
          <a:xfrm>
            <a:off x="2935224" y="3099816"/>
            <a:ext cx="420624" cy="420624"/>
          </a:xfrm>
          <a:prstGeom prst="ellipse">
            <a:avLst/>
          </a:prstGeom>
          <a:solidFill>
            <a:srgbClr val="0E7C86">
              <a:alpha val="22000"/>
            </a:srgbClr>
          </a:solidFill>
          <a:ln/>
        </p:spPr>
      </p:sp>
      <p:pic>
        <p:nvPicPr>
          <p:cNvPr id="35" name="Image 4" descr="preencoded.png"/>
          <p:cNvPicPr>
            <a:picLocks noChangeAspect="1"/>
          </p:cNvPicPr>
          <p:nvPr/>
        </p:nvPicPr>
        <p:blipFill>
          <a:blip r:embed="rId7"/>
          <a:stretch>
            <a:fillRect/>
          </a:stretch>
        </p:blipFill>
        <p:spPr>
          <a:xfrm>
            <a:off x="3044586" y="3209178"/>
            <a:ext cx="201900" cy="201900"/>
          </a:xfrm>
          <a:prstGeom prst="rect">
            <a:avLst/>
          </a:prstGeom>
        </p:spPr>
      </p:pic>
      <p:sp>
        <p:nvSpPr>
          <p:cNvPr id="36" name="Text 28"/>
          <p:cNvSpPr txBox="1"/>
          <p:nvPr/>
        </p:nvSpPr>
        <p:spPr>
          <a:xfrm>
            <a:off x="2935224" y="3611880"/>
            <a:ext cx="192024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Ingest pipelines</a:t>
            </a:r>
            <a:endParaRPr lang="en-US" sz="1300" dirty="0"/>
          </a:p>
        </p:txBody>
      </p:sp>
      <p:sp>
        <p:nvSpPr>
          <p:cNvPr id="37" name="Text 29"/>
          <p:cNvSpPr txBox="1"/>
          <p:nvPr/>
        </p:nvSpPr>
        <p:spPr>
          <a:xfrm>
            <a:off x="2935224" y="3867912"/>
            <a:ext cx="192024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Processing inside Elasticsearch: convert, rename, enrich.</a:t>
            </a:r>
            <a:endParaRPr lang="en-US" sz="1000" dirty="0"/>
          </a:p>
        </p:txBody>
      </p:sp>
      <p:sp>
        <p:nvSpPr>
          <p:cNvPr id="38" name="Shape 30"/>
          <p:cNvSpPr/>
          <p:nvPr/>
        </p:nvSpPr>
        <p:spPr>
          <a:xfrm>
            <a:off x="5212080" y="1261872"/>
            <a:ext cx="3474720" cy="3310128"/>
          </a:xfrm>
          <a:prstGeom prst="roundRect">
            <a:avLst>
              <a:gd name="adj" fmla="val 1657"/>
            </a:avLst>
          </a:prstGeom>
          <a:solidFill>
            <a:srgbClr val="FBFCFB"/>
          </a:solidFill>
          <a:ln w="9525">
            <a:solidFill>
              <a:srgbClr val="D5DED9"/>
            </a:solidFill>
            <a:prstDash val="solid"/>
          </a:ln>
        </p:spPr>
      </p:sp>
      <p:sp>
        <p:nvSpPr>
          <p:cNvPr id="39" name="Text 31"/>
          <p:cNvSpPr txBox="1"/>
          <p:nvPr/>
        </p:nvSpPr>
        <p:spPr>
          <a:xfrm>
            <a:off x="5340096" y="1353312"/>
            <a:ext cx="3218688" cy="3127248"/>
          </a:xfrm>
          <a:prstGeom prst="rect">
            <a:avLst/>
          </a:prstGeom>
          <a:noFill/>
          <a:ln/>
        </p:spPr>
        <p:txBody>
          <a:bodyPr wrap="square" lIns="0" tIns="0" rIns="0" bIns="0" rtlCol="0" anchor="t"/>
          <a:lstStyle/>
          <a:p>
            <a:pPr marL="0" indent="0">
              <a:buNone/>
            </a:pPr>
            <a:r>
              <a:rPr lang="en-US" sz="800" dirty="0">
                <a:solidFill>
                  <a:srgbClr val="231F20"/>
                </a:solidFill>
                <a:latin typeface="Courier New" pitchFamily="34" charset="0"/>
                <a:ea typeface="Courier New" pitchFamily="34" charset="-122"/>
                <a:cs typeface="Courier New" pitchFamily="34" charset="-120"/>
              </a:rPr>
              <a:t>import pandas as pd</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from elasticsearch import Elasticsearch</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from elasticsearch import helpers</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es = Elasticsearch(URL, api_key=KEY)</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df = pd.read_parquet("rw_tiles.parquet")</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def actions(df):</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for r in df.to_dict("records"):</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yield {</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"_index": "ookla-tiles",</a:t>
            </a:r>
            <a:endParaRPr lang="en-US" sz="800" dirty="0"/>
          </a:p>
          <a:p>
            <a:pPr marL="0" indent="0">
              <a:buNone/>
            </a:pPr>
            <a:r>
              <a:rPr lang="en-US" sz="800" i="1" dirty="0">
                <a:solidFill>
                  <a:srgbClr val="5E6964"/>
                </a:solidFill>
                <a:latin typeface="Courier New" pitchFamily="34" charset="0"/>
                <a:ea typeface="Courier New" pitchFamily="34" charset="-122"/>
                <a:cs typeface="Courier New" pitchFamily="34" charset="-120"/>
              </a:rPr>
              <a:t>          # same tile = same id: no duplicates</a:t>
            </a:r>
            <a:endParaRPr lang="en-US" sz="800" dirty="0"/>
          </a:p>
          <a:p>
            <a:pPr marL="0" indent="0">
              <a:buNone/>
            </a:pPr>
            <a:r>
              <a:rPr lang="en-US" sz="800" dirty="0">
                <a:solidFill>
                  <a:srgbClr val="00704A"/>
                </a:solidFill>
                <a:latin typeface="Courier New" pitchFamily="34" charset="0"/>
                <a:ea typeface="Courier New" pitchFamily="34" charset="-122"/>
                <a:cs typeface="Courier New" pitchFamily="34" charset="-120"/>
              </a:rPr>
              <a:t>          "_id": f"{r['quadkey']}-"</a:t>
            </a:r>
            <a:endParaRPr lang="en-US" sz="800" dirty="0"/>
          </a:p>
          <a:p>
            <a:pPr marL="0" indent="0">
              <a:buNone/>
            </a:pPr>
            <a:r>
              <a:rPr lang="en-US" sz="800" dirty="0">
                <a:solidFill>
                  <a:srgbClr val="00704A"/>
                </a:solidFill>
                <a:latin typeface="Courier New" pitchFamily="34" charset="0"/>
                <a:ea typeface="Courier New" pitchFamily="34" charset="-122"/>
                <a:cs typeface="Courier New" pitchFamily="34" charset="-120"/>
              </a:rPr>
              <a:t>                 f"{r['quarter']}-mobile",</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"_source": r}</a:t>
            </a:r>
            <a:endParaRPr lang="en-US" sz="800" dirty="0"/>
          </a:p>
          <a:p>
            <a:pPr marL="0" indent="0">
              <a:buNone/>
            </a:pP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ok, errors = helpers.bulk(</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    es, actions(df), chunk_size=5000)</a:t>
            </a:r>
            <a:endParaRPr lang="en-US"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Querying and aggregating</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we ask the cluster statistical questions?</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5C242"/>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19</a:t>
            </a:r>
            <a:endParaRPr lang="en-US"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Anatomy of a search request</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6" name="Shape 12"/>
          <p:cNvSpPr/>
          <p:nvPr/>
        </p:nvSpPr>
        <p:spPr>
          <a:xfrm>
            <a:off x="457200" y="1261872"/>
            <a:ext cx="4663440" cy="3310128"/>
          </a:xfrm>
          <a:prstGeom prst="roundRect">
            <a:avLst>
              <a:gd name="adj" fmla="val 1657"/>
            </a:avLst>
          </a:prstGeom>
          <a:solidFill>
            <a:srgbClr val="FBFCFB"/>
          </a:solidFill>
          <a:ln w="9525">
            <a:solidFill>
              <a:srgbClr val="D5DED9"/>
            </a:solidFill>
            <a:prstDash val="solid"/>
          </a:ln>
        </p:spPr>
      </p:sp>
      <p:sp>
        <p:nvSpPr>
          <p:cNvPr id="17" name="Text 13"/>
          <p:cNvSpPr txBox="1"/>
          <p:nvPr/>
        </p:nvSpPr>
        <p:spPr>
          <a:xfrm>
            <a:off x="585216" y="1353312"/>
            <a:ext cx="4407408" cy="3127248"/>
          </a:xfrm>
          <a:prstGeom prst="rect">
            <a:avLst/>
          </a:prstGeom>
          <a:noFill/>
          <a:ln/>
        </p:spPr>
        <p:txBody>
          <a:bodyPr wrap="square" lIns="0" tIns="0" rIns="0" bIns="0" rtlCol="0" anchor="t"/>
          <a:lstStyle/>
          <a:p>
            <a:pPr marL="0" indent="0">
              <a:buNone/>
            </a:pPr>
            <a:r>
              <a:rPr lang="en-US" sz="850" dirty="0">
                <a:solidFill>
                  <a:srgbClr val="231F20"/>
                </a:solidFill>
                <a:latin typeface="Courier New" pitchFamily="34" charset="0"/>
                <a:ea typeface="Courier New" pitchFamily="34" charset="-122"/>
                <a:cs typeface="Courier New" pitchFamily="34" charset="-120"/>
              </a:rPr>
              <a:t>GET ookla-tiles/_search</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"size": 0,</a:t>
            </a:r>
            <a:r>
              <a:rPr lang="en-US" sz="850" b="1" dirty="0">
                <a:solidFill>
                  <a:srgbClr val="D49A00"/>
                </a:solidFill>
                <a:latin typeface="Courier New" pitchFamily="34" charset="0"/>
                <a:ea typeface="Courier New" pitchFamily="34" charset="-122"/>
                <a:cs typeface="Courier New" pitchFamily="34" charset="-120"/>
              </a:rPr>
              <a:t>  ◀ 1</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"query":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"bool":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"filter": [</a:t>
            </a:r>
            <a:r>
              <a:rPr lang="en-US" sz="850" b="1" dirty="0">
                <a:solidFill>
                  <a:srgbClr val="D49A00"/>
                </a:solidFill>
                <a:latin typeface="Courier New" pitchFamily="34" charset="0"/>
                <a:ea typeface="Courier New" pitchFamily="34" charset="-122"/>
                <a:cs typeface="Courier New" pitchFamily="34" charset="-120"/>
              </a:rPr>
              <a:t>  ◀ 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 {"service_type": "mobile"}},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 {"quarter": "2025-Q2"}}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"aggs":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"by_region":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"terms": {"field": "admin1", "size": 50},</a:t>
            </a:r>
            <a:r>
              <a:rPr lang="en-US" sz="850" b="1" dirty="0">
                <a:solidFill>
                  <a:srgbClr val="D49A00"/>
                </a:solidFill>
                <a:latin typeface="Courier New" pitchFamily="34" charset="0"/>
                <a:ea typeface="Courier New" pitchFamily="34" charset="-122"/>
                <a:cs typeface="Courier New" pitchFamily="34" charset="-120"/>
              </a:rPr>
              <a:t>  ◀ 3</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"aggs":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"mean_dl":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"weighted_avg": {</a:t>
            </a:r>
            <a:r>
              <a:rPr lang="en-US" sz="850" b="1" dirty="0">
                <a:solidFill>
                  <a:srgbClr val="D49A00"/>
                </a:solidFill>
                <a:latin typeface="Courier New" pitchFamily="34" charset="0"/>
                <a:ea typeface="Courier New" pitchFamily="34" charset="-122"/>
                <a:cs typeface="Courier New" pitchFamily="34" charset="-120"/>
              </a:rPr>
              <a:t>  ◀ 4</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"value":  {"field": "avg_d_kbps"},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"weight": {"field": "tests"}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18" name="Shape 14"/>
          <p:cNvSpPr/>
          <p:nvPr/>
        </p:nvSpPr>
        <p:spPr>
          <a:xfrm>
            <a:off x="5349240" y="1307592"/>
            <a:ext cx="384048" cy="384048"/>
          </a:xfrm>
          <a:prstGeom prst="ellipse">
            <a:avLst/>
          </a:prstGeom>
          <a:solidFill>
            <a:srgbClr val="D49A00"/>
          </a:solidFill>
          <a:ln/>
        </p:spPr>
      </p:sp>
      <p:sp>
        <p:nvSpPr>
          <p:cNvPr id="19" name="Text 15"/>
          <p:cNvSpPr txBox="1"/>
          <p:nvPr/>
        </p:nvSpPr>
        <p:spPr>
          <a:xfrm>
            <a:off x="5349240" y="1307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0" name="Text 16"/>
          <p:cNvSpPr txBox="1"/>
          <p:nvPr/>
        </p:nvSpPr>
        <p:spPr>
          <a:xfrm>
            <a:off x="5870448" y="1261872"/>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size: 0</a:t>
            </a:r>
            <a:endParaRPr lang="en-US" sz="1150" dirty="0"/>
          </a:p>
        </p:txBody>
      </p:sp>
      <p:sp>
        <p:nvSpPr>
          <p:cNvPr id="21" name="Text 17"/>
          <p:cNvSpPr txBox="1"/>
          <p:nvPr/>
        </p:nvSpPr>
        <p:spPr>
          <a:xfrm>
            <a:off x="5870448" y="1517904"/>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Return only the aggregated results — not the thousands of documents behind them.</a:t>
            </a:r>
            <a:endParaRPr lang="en-US" sz="1000" dirty="0"/>
          </a:p>
        </p:txBody>
      </p:sp>
      <p:sp>
        <p:nvSpPr>
          <p:cNvPr id="22" name="Shape 18"/>
          <p:cNvSpPr/>
          <p:nvPr/>
        </p:nvSpPr>
        <p:spPr>
          <a:xfrm>
            <a:off x="5349240" y="2148840"/>
            <a:ext cx="384048" cy="384048"/>
          </a:xfrm>
          <a:prstGeom prst="ellipse">
            <a:avLst/>
          </a:prstGeom>
          <a:solidFill>
            <a:srgbClr val="D49A00"/>
          </a:solidFill>
          <a:ln/>
        </p:spPr>
      </p:sp>
      <p:sp>
        <p:nvSpPr>
          <p:cNvPr id="23" name="Text 19"/>
          <p:cNvSpPr txBox="1"/>
          <p:nvPr/>
        </p:nvSpPr>
        <p:spPr>
          <a:xfrm>
            <a:off x="5349240" y="2148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0"/>
          <p:cNvSpPr txBox="1"/>
          <p:nvPr/>
        </p:nvSpPr>
        <p:spPr>
          <a:xfrm>
            <a:off x="5870448" y="2103120"/>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filter</a:t>
            </a:r>
            <a:endParaRPr lang="en-US" sz="1150" dirty="0"/>
          </a:p>
        </p:txBody>
      </p:sp>
      <p:sp>
        <p:nvSpPr>
          <p:cNvPr id="25" name="Text 21"/>
          <p:cNvSpPr txBox="1"/>
          <p:nvPr/>
        </p:nvSpPr>
        <p:spPr>
          <a:xfrm>
            <a:off x="5870448" y="2359152"/>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Yes/no conditions: no relevance scoring, cacheable, fast. This is your WHERE clause.</a:t>
            </a:r>
            <a:endParaRPr lang="en-US" sz="1000" dirty="0"/>
          </a:p>
        </p:txBody>
      </p:sp>
      <p:sp>
        <p:nvSpPr>
          <p:cNvPr id="26" name="Shape 22"/>
          <p:cNvSpPr/>
          <p:nvPr/>
        </p:nvSpPr>
        <p:spPr>
          <a:xfrm>
            <a:off x="5349240" y="2990088"/>
            <a:ext cx="384048" cy="384048"/>
          </a:xfrm>
          <a:prstGeom prst="ellipse">
            <a:avLst/>
          </a:prstGeom>
          <a:solidFill>
            <a:srgbClr val="D49A00"/>
          </a:solidFill>
          <a:ln/>
        </p:spPr>
      </p:sp>
      <p:sp>
        <p:nvSpPr>
          <p:cNvPr id="27" name="Text 23"/>
          <p:cNvSpPr txBox="1"/>
          <p:nvPr/>
        </p:nvSpPr>
        <p:spPr>
          <a:xfrm>
            <a:off x="5349240" y="29900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4"/>
          <p:cNvSpPr txBox="1"/>
          <p:nvPr/>
        </p:nvSpPr>
        <p:spPr>
          <a:xfrm>
            <a:off x="5870448" y="2944368"/>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terms</a:t>
            </a:r>
            <a:endParaRPr lang="en-US" sz="1150" dirty="0"/>
          </a:p>
        </p:txBody>
      </p:sp>
      <p:sp>
        <p:nvSpPr>
          <p:cNvPr id="29" name="Text 25"/>
          <p:cNvSpPr txBox="1"/>
          <p:nvPr/>
        </p:nvSpPr>
        <p:spPr>
          <a:xfrm>
            <a:off x="5870448" y="3200400"/>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 bucket per region — the GROUP BY. Set size above your number of regions.</a:t>
            </a:r>
            <a:endParaRPr lang="en-US" sz="1000" dirty="0"/>
          </a:p>
        </p:txBody>
      </p:sp>
      <p:sp>
        <p:nvSpPr>
          <p:cNvPr id="30" name="Shape 26"/>
          <p:cNvSpPr/>
          <p:nvPr/>
        </p:nvSpPr>
        <p:spPr>
          <a:xfrm>
            <a:off x="5349240" y="3831336"/>
            <a:ext cx="384048" cy="384048"/>
          </a:xfrm>
          <a:prstGeom prst="ellipse">
            <a:avLst/>
          </a:prstGeom>
          <a:solidFill>
            <a:srgbClr val="D49A00"/>
          </a:solidFill>
          <a:ln/>
        </p:spPr>
      </p:sp>
      <p:sp>
        <p:nvSpPr>
          <p:cNvPr id="31" name="Text 27"/>
          <p:cNvSpPr txBox="1"/>
          <p:nvPr/>
        </p:nvSpPr>
        <p:spPr>
          <a:xfrm>
            <a:off x="5349240" y="3831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28"/>
          <p:cNvSpPr txBox="1"/>
          <p:nvPr/>
        </p:nvSpPr>
        <p:spPr>
          <a:xfrm>
            <a:off x="5870448" y="3785616"/>
            <a:ext cx="2834640" cy="246888"/>
          </a:xfrm>
          <a:prstGeom prst="rect">
            <a:avLst/>
          </a:prstGeom>
          <a:noFill/>
          <a:ln/>
        </p:spPr>
        <p:txBody>
          <a:bodyPr wrap="square" lIns="0" tIns="0" rIns="0" bIns="0" rtlCol="0" anchor="t"/>
          <a:lstStyle/>
          <a:p>
            <a:pPr marL="0" indent="0">
              <a:buNone/>
            </a:pPr>
            <a:r>
              <a:rPr lang="en-US" sz="1150" b="1" dirty="0">
                <a:solidFill>
                  <a:srgbClr val="00704A"/>
                </a:solidFill>
                <a:latin typeface="Courier New" pitchFamily="34" charset="0"/>
                <a:ea typeface="Courier New" pitchFamily="34" charset="-122"/>
                <a:cs typeface="Courier New" pitchFamily="34" charset="-120"/>
              </a:rPr>
              <a:t>weighted_avg</a:t>
            </a:r>
            <a:endParaRPr lang="en-US" sz="1150" dirty="0"/>
          </a:p>
        </p:txBody>
      </p:sp>
      <p:sp>
        <p:nvSpPr>
          <p:cNvPr id="33" name="Text 29"/>
          <p:cNvSpPr txBox="1"/>
          <p:nvPr/>
        </p:nvSpPr>
        <p:spPr>
          <a:xfrm>
            <a:off x="5870448" y="4041648"/>
            <a:ext cx="2788920" cy="530352"/>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Mean download speed per region, weighted by the number of tests in each tile.</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aggregation toolbox — and its statistical fine print</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6" name="Shape 12"/>
          <p:cNvSpPr/>
          <p:nvPr/>
        </p:nvSpPr>
        <p:spPr>
          <a:xfrm>
            <a:off x="457200" y="1261872"/>
            <a:ext cx="2560320" cy="2487168"/>
          </a:xfrm>
          <a:prstGeom prst="roundRect">
            <a:avLst>
              <a:gd name="adj" fmla="val 2941"/>
            </a:avLst>
          </a:prstGeom>
          <a:solidFill>
            <a:srgbClr val="F4F7F5"/>
          </a:solidFill>
          <a:ln w="9525">
            <a:solidFill>
              <a:srgbClr val="D5DED9"/>
            </a:solidFill>
            <a:prstDash val="solid"/>
          </a:ln>
        </p:spPr>
      </p:sp>
      <p:sp>
        <p:nvSpPr>
          <p:cNvPr id="17" name="Shape 13"/>
          <p:cNvSpPr/>
          <p:nvPr/>
        </p:nvSpPr>
        <p:spPr>
          <a:xfrm>
            <a:off x="603504" y="1371600"/>
            <a:ext cx="420624" cy="420624"/>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2866" y="1480962"/>
            <a:ext cx="201900" cy="201900"/>
          </a:xfrm>
          <a:prstGeom prst="rect">
            <a:avLst/>
          </a:prstGeom>
        </p:spPr>
      </p:pic>
      <p:sp>
        <p:nvSpPr>
          <p:cNvPr id="19" name="Text 14"/>
          <p:cNvSpPr txBox="1"/>
          <p:nvPr/>
        </p:nvSpPr>
        <p:spPr>
          <a:xfrm>
            <a:off x="113385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Metric</a:t>
            </a:r>
            <a:endParaRPr lang="en-US" sz="1400" dirty="0"/>
          </a:p>
        </p:txBody>
      </p:sp>
      <p:sp>
        <p:nvSpPr>
          <p:cNvPr id="20" name="Text 15"/>
          <p:cNvSpPr txBox="1"/>
          <p:nvPr/>
        </p:nvSpPr>
        <p:spPr>
          <a:xfrm>
            <a:off x="113385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compute a value</a:t>
            </a:r>
            <a:endParaRPr lang="en-US" sz="950" dirty="0"/>
          </a:p>
        </p:txBody>
      </p:sp>
      <p:sp>
        <p:nvSpPr>
          <p:cNvPr id="21" name="Text 16"/>
          <p:cNvSpPr txBox="1"/>
          <p:nvPr/>
        </p:nvSpPr>
        <p:spPr>
          <a:xfrm>
            <a:off x="603504" y="1965960"/>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avg · sum · min · max</a:t>
            </a:r>
            <a:endParaRPr lang="en-US" sz="950" dirty="0"/>
          </a:p>
        </p:txBody>
      </p:sp>
      <p:sp>
        <p:nvSpPr>
          <p:cNvPr id="22" name="Text 17"/>
          <p:cNvSpPr txBox="1"/>
          <p:nvPr/>
        </p:nvSpPr>
        <p:spPr>
          <a:xfrm>
            <a:off x="60350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mean(), sum()</a:t>
            </a:r>
            <a:endParaRPr lang="en-US" sz="950" dirty="0"/>
          </a:p>
        </p:txBody>
      </p:sp>
      <p:sp>
        <p:nvSpPr>
          <p:cNvPr id="23" name="Text 18"/>
          <p:cNvSpPr txBox="1"/>
          <p:nvPr/>
        </p:nvSpPr>
        <p:spPr>
          <a:xfrm>
            <a:off x="603504" y="2395728"/>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weighted_avg</a:t>
            </a:r>
            <a:endParaRPr lang="en-US" sz="950" dirty="0"/>
          </a:p>
        </p:txBody>
      </p:sp>
      <p:sp>
        <p:nvSpPr>
          <p:cNvPr id="24" name="Text 19"/>
          <p:cNvSpPr txBox="1"/>
          <p:nvPr/>
        </p:nvSpPr>
        <p:spPr>
          <a:xfrm>
            <a:off x="60350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np.average(w=)</a:t>
            </a:r>
            <a:endParaRPr lang="en-US" sz="950" dirty="0"/>
          </a:p>
        </p:txBody>
      </p:sp>
      <p:sp>
        <p:nvSpPr>
          <p:cNvPr id="25" name="Text 20"/>
          <p:cNvSpPr txBox="1"/>
          <p:nvPr/>
        </p:nvSpPr>
        <p:spPr>
          <a:xfrm>
            <a:off x="603504" y="2825496"/>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percentiles</a:t>
            </a:r>
            <a:endParaRPr lang="en-US" sz="950" dirty="0"/>
          </a:p>
        </p:txBody>
      </p:sp>
      <p:sp>
        <p:nvSpPr>
          <p:cNvPr id="26" name="Text 21"/>
          <p:cNvSpPr txBox="1"/>
          <p:nvPr/>
        </p:nvSpPr>
        <p:spPr>
          <a:xfrm>
            <a:off x="60350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quantile()</a:t>
            </a:r>
            <a:endParaRPr lang="en-US" sz="950" dirty="0"/>
          </a:p>
        </p:txBody>
      </p:sp>
      <p:sp>
        <p:nvSpPr>
          <p:cNvPr id="27" name="Text 22"/>
          <p:cNvSpPr txBox="1"/>
          <p:nvPr/>
        </p:nvSpPr>
        <p:spPr>
          <a:xfrm>
            <a:off x="603504" y="3255264"/>
            <a:ext cx="2286000" cy="201168"/>
          </a:xfrm>
          <a:prstGeom prst="rect">
            <a:avLst/>
          </a:prstGeom>
          <a:noFill/>
          <a:ln/>
        </p:spPr>
        <p:txBody>
          <a:bodyPr wrap="square" lIns="0" tIns="0" rIns="0" bIns="0" rtlCol="0" anchor="t"/>
          <a:lstStyle/>
          <a:p>
            <a:pPr marL="0" indent="0">
              <a:buNone/>
            </a:pPr>
            <a:r>
              <a:rPr lang="en-US" sz="950" b="1" dirty="0">
                <a:solidFill>
                  <a:srgbClr val="00A86A"/>
                </a:solidFill>
                <a:latin typeface="Courier New" pitchFamily="34" charset="0"/>
                <a:ea typeface="Courier New" pitchFamily="34" charset="-122"/>
                <a:cs typeface="Courier New" pitchFamily="34" charset="-120"/>
              </a:rPr>
              <a:t>cardinality</a:t>
            </a:r>
            <a:endParaRPr lang="en-US" sz="950" dirty="0"/>
          </a:p>
        </p:txBody>
      </p:sp>
      <p:sp>
        <p:nvSpPr>
          <p:cNvPr id="28" name="Text 23"/>
          <p:cNvSpPr txBox="1"/>
          <p:nvPr/>
        </p:nvSpPr>
        <p:spPr>
          <a:xfrm>
            <a:off x="60350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nunique()</a:t>
            </a:r>
            <a:endParaRPr lang="en-US" sz="950" dirty="0"/>
          </a:p>
        </p:txBody>
      </p:sp>
      <p:sp>
        <p:nvSpPr>
          <p:cNvPr id="29" name="Shape 24"/>
          <p:cNvSpPr/>
          <p:nvPr/>
        </p:nvSpPr>
        <p:spPr>
          <a:xfrm>
            <a:off x="3291840" y="1261872"/>
            <a:ext cx="2560320" cy="2487168"/>
          </a:xfrm>
          <a:prstGeom prst="roundRect">
            <a:avLst>
              <a:gd name="adj" fmla="val 2941"/>
            </a:avLst>
          </a:prstGeom>
          <a:solidFill>
            <a:srgbClr val="F4F7F5"/>
          </a:solidFill>
          <a:ln w="9525">
            <a:solidFill>
              <a:srgbClr val="D5DED9"/>
            </a:solidFill>
            <a:prstDash val="solid"/>
          </a:ln>
        </p:spPr>
      </p:sp>
      <p:sp>
        <p:nvSpPr>
          <p:cNvPr id="30" name="Shape 25"/>
          <p:cNvSpPr/>
          <p:nvPr/>
        </p:nvSpPr>
        <p:spPr>
          <a:xfrm>
            <a:off x="3438144" y="1371600"/>
            <a:ext cx="420624" cy="420624"/>
          </a:xfrm>
          <a:prstGeom prst="ellipse">
            <a:avLst/>
          </a:prstGeom>
          <a:solidFill>
            <a:srgbClr val="00704A">
              <a:alpha val="22000"/>
            </a:srgbClr>
          </a:solidFill>
          <a:ln/>
        </p:spPr>
      </p:sp>
      <p:pic>
        <p:nvPicPr>
          <p:cNvPr id="31" name="Image 2" descr="preencoded.png"/>
          <p:cNvPicPr>
            <a:picLocks noChangeAspect="1"/>
          </p:cNvPicPr>
          <p:nvPr/>
        </p:nvPicPr>
        <p:blipFill>
          <a:blip r:embed="rId5"/>
          <a:stretch>
            <a:fillRect/>
          </a:stretch>
        </p:blipFill>
        <p:spPr>
          <a:xfrm>
            <a:off x="3547506" y="1480962"/>
            <a:ext cx="201900" cy="201900"/>
          </a:xfrm>
          <a:prstGeom prst="rect">
            <a:avLst/>
          </a:prstGeom>
        </p:spPr>
      </p:pic>
      <p:sp>
        <p:nvSpPr>
          <p:cNvPr id="32" name="Text 26"/>
          <p:cNvSpPr txBox="1"/>
          <p:nvPr/>
        </p:nvSpPr>
        <p:spPr>
          <a:xfrm>
            <a:off x="396849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Bucket</a:t>
            </a:r>
            <a:endParaRPr lang="en-US" sz="1400" dirty="0"/>
          </a:p>
        </p:txBody>
      </p:sp>
      <p:sp>
        <p:nvSpPr>
          <p:cNvPr id="33" name="Text 27"/>
          <p:cNvSpPr txBox="1"/>
          <p:nvPr/>
        </p:nvSpPr>
        <p:spPr>
          <a:xfrm>
            <a:off x="396849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build groups</a:t>
            </a:r>
            <a:endParaRPr lang="en-US" sz="950" dirty="0"/>
          </a:p>
        </p:txBody>
      </p:sp>
      <p:sp>
        <p:nvSpPr>
          <p:cNvPr id="34" name="Text 28"/>
          <p:cNvSpPr txBox="1"/>
          <p:nvPr/>
        </p:nvSpPr>
        <p:spPr>
          <a:xfrm>
            <a:off x="3438144" y="1965960"/>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terms</a:t>
            </a:r>
            <a:endParaRPr lang="en-US" sz="950" dirty="0"/>
          </a:p>
        </p:txBody>
      </p:sp>
      <p:sp>
        <p:nvSpPr>
          <p:cNvPr id="35" name="Text 29"/>
          <p:cNvSpPr txBox="1"/>
          <p:nvPr/>
        </p:nvSpPr>
        <p:spPr>
          <a:xfrm>
            <a:off x="343814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groupby(col)</a:t>
            </a:r>
            <a:endParaRPr lang="en-US" sz="950" dirty="0"/>
          </a:p>
        </p:txBody>
      </p:sp>
      <p:sp>
        <p:nvSpPr>
          <p:cNvPr id="36" name="Text 30"/>
          <p:cNvSpPr txBox="1"/>
          <p:nvPr/>
        </p:nvSpPr>
        <p:spPr>
          <a:xfrm>
            <a:off x="3438144" y="2395728"/>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range · histogram</a:t>
            </a:r>
            <a:endParaRPr lang="en-US" sz="950" dirty="0"/>
          </a:p>
        </p:txBody>
      </p:sp>
      <p:sp>
        <p:nvSpPr>
          <p:cNvPr id="37" name="Text 31"/>
          <p:cNvSpPr txBox="1"/>
          <p:nvPr/>
        </p:nvSpPr>
        <p:spPr>
          <a:xfrm>
            <a:off x="343814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pd.cut()</a:t>
            </a:r>
            <a:endParaRPr lang="en-US" sz="950" dirty="0"/>
          </a:p>
        </p:txBody>
      </p:sp>
      <p:sp>
        <p:nvSpPr>
          <p:cNvPr id="38" name="Text 32"/>
          <p:cNvSpPr txBox="1"/>
          <p:nvPr/>
        </p:nvSpPr>
        <p:spPr>
          <a:xfrm>
            <a:off x="3438144" y="2825496"/>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date_histogram</a:t>
            </a:r>
            <a:endParaRPr lang="en-US" sz="950" dirty="0"/>
          </a:p>
        </p:txBody>
      </p:sp>
      <p:sp>
        <p:nvSpPr>
          <p:cNvPr id="39" name="Text 33"/>
          <p:cNvSpPr txBox="1"/>
          <p:nvPr/>
        </p:nvSpPr>
        <p:spPr>
          <a:xfrm>
            <a:off x="343814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resample()</a:t>
            </a:r>
            <a:endParaRPr lang="en-US" sz="950" dirty="0"/>
          </a:p>
        </p:txBody>
      </p:sp>
      <p:sp>
        <p:nvSpPr>
          <p:cNvPr id="40" name="Text 34"/>
          <p:cNvSpPr txBox="1"/>
          <p:nvPr/>
        </p:nvSpPr>
        <p:spPr>
          <a:xfrm>
            <a:off x="3438144" y="3255264"/>
            <a:ext cx="2286000" cy="201168"/>
          </a:xfrm>
          <a:prstGeom prst="rect">
            <a:avLst/>
          </a:prstGeom>
          <a:noFill/>
          <a:ln/>
        </p:spPr>
        <p:txBody>
          <a:bodyPr wrap="square" lIns="0" tIns="0" rIns="0" bIns="0" rtlCol="0" anchor="t"/>
          <a:lstStyle/>
          <a:p>
            <a:pPr marL="0" indent="0">
              <a:buNone/>
            </a:pPr>
            <a:r>
              <a:rPr lang="en-US" sz="950" b="1" dirty="0">
                <a:solidFill>
                  <a:srgbClr val="00704A"/>
                </a:solidFill>
                <a:latin typeface="Courier New" pitchFamily="34" charset="0"/>
                <a:ea typeface="Courier New" pitchFamily="34" charset="-122"/>
                <a:cs typeface="Courier New" pitchFamily="34" charset="-120"/>
              </a:rPr>
              <a:t>geotile_grid</a:t>
            </a:r>
            <a:endParaRPr lang="en-US" sz="950" dirty="0"/>
          </a:p>
        </p:txBody>
      </p:sp>
      <p:sp>
        <p:nvSpPr>
          <p:cNvPr id="41" name="Text 35"/>
          <p:cNvSpPr txBox="1"/>
          <p:nvPr/>
        </p:nvSpPr>
        <p:spPr>
          <a:xfrm>
            <a:off x="343814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group by map tile</a:t>
            </a:r>
            <a:endParaRPr lang="en-US" sz="950" dirty="0"/>
          </a:p>
        </p:txBody>
      </p:sp>
      <p:sp>
        <p:nvSpPr>
          <p:cNvPr id="42" name="Shape 36"/>
          <p:cNvSpPr/>
          <p:nvPr/>
        </p:nvSpPr>
        <p:spPr>
          <a:xfrm>
            <a:off x="6126480" y="1261872"/>
            <a:ext cx="2560320" cy="2487168"/>
          </a:xfrm>
          <a:prstGeom prst="roundRect">
            <a:avLst>
              <a:gd name="adj" fmla="val 2941"/>
            </a:avLst>
          </a:prstGeom>
          <a:solidFill>
            <a:srgbClr val="F4F7F5"/>
          </a:solidFill>
          <a:ln w="9525">
            <a:solidFill>
              <a:srgbClr val="D5DED9"/>
            </a:solidFill>
            <a:prstDash val="solid"/>
          </a:ln>
        </p:spPr>
      </p:sp>
      <p:sp>
        <p:nvSpPr>
          <p:cNvPr id="43" name="Shape 37"/>
          <p:cNvSpPr/>
          <p:nvPr/>
        </p:nvSpPr>
        <p:spPr>
          <a:xfrm>
            <a:off x="6272784" y="1371600"/>
            <a:ext cx="420624" cy="420624"/>
          </a:xfrm>
          <a:prstGeom prst="ellipse">
            <a:avLst/>
          </a:prstGeom>
          <a:solidFill>
            <a:srgbClr val="0E7C86">
              <a:alpha val="22000"/>
            </a:srgbClr>
          </a:solidFill>
          <a:ln/>
        </p:spPr>
      </p:sp>
      <p:pic>
        <p:nvPicPr>
          <p:cNvPr id="44" name="Image 3" descr="preencoded.png"/>
          <p:cNvPicPr>
            <a:picLocks noChangeAspect="1"/>
          </p:cNvPicPr>
          <p:nvPr/>
        </p:nvPicPr>
        <p:blipFill>
          <a:blip r:embed="rId6"/>
          <a:stretch>
            <a:fillRect/>
          </a:stretch>
        </p:blipFill>
        <p:spPr>
          <a:xfrm>
            <a:off x="6382146" y="1480962"/>
            <a:ext cx="201900" cy="201900"/>
          </a:xfrm>
          <a:prstGeom prst="rect">
            <a:avLst/>
          </a:prstGeom>
        </p:spPr>
      </p:pic>
      <p:sp>
        <p:nvSpPr>
          <p:cNvPr id="45" name="Text 38"/>
          <p:cNvSpPr txBox="1"/>
          <p:nvPr/>
        </p:nvSpPr>
        <p:spPr>
          <a:xfrm>
            <a:off x="6803136" y="1371600"/>
            <a:ext cx="173736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Pipeline</a:t>
            </a:r>
            <a:endParaRPr lang="en-US" sz="1400" dirty="0"/>
          </a:p>
        </p:txBody>
      </p:sp>
      <p:sp>
        <p:nvSpPr>
          <p:cNvPr id="46" name="Text 39"/>
          <p:cNvSpPr txBox="1"/>
          <p:nvPr/>
        </p:nvSpPr>
        <p:spPr>
          <a:xfrm>
            <a:off x="6803136" y="1609344"/>
            <a:ext cx="173736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work on other aggs</a:t>
            </a:r>
            <a:endParaRPr lang="en-US" sz="950" dirty="0"/>
          </a:p>
        </p:txBody>
      </p:sp>
      <p:sp>
        <p:nvSpPr>
          <p:cNvPr id="47" name="Text 40"/>
          <p:cNvSpPr txBox="1"/>
          <p:nvPr/>
        </p:nvSpPr>
        <p:spPr>
          <a:xfrm>
            <a:off x="6272784" y="1965960"/>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derivative</a:t>
            </a:r>
            <a:endParaRPr lang="en-US" sz="950" dirty="0"/>
          </a:p>
        </p:txBody>
      </p:sp>
      <p:sp>
        <p:nvSpPr>
          <p:cNvPr id="48" name="Text 41"/>
          <p:cNvSpPr txBox="1"/>
          <p:nvPr/>
        </p:nvSpPr>
        <p:spPr>
          <a:xfrm>
            <a:off x="6272784" y="2157984"/>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diff()</a:t>
            </a:r>
            <a:endParaRPr lang="en-US" sz="950" dirty="0"/>
          </a:p>
        </p:txBody>
      </p:sp>
      <p:sp>
        <p:nvSpPr>
          <p:cNvPr id="49" name="Text 42"/>
          <p:cNvSpPr txBox="1"/>
          <p:nvPr/>
        </p:nvSpPr>
        <p:spPr>
          <a:xfrm>
            <a:off x="6272784" y="2395728"/>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cumulative_sum</a:t>
            </a:r>
            <a:endParaRPr lang="en-US" sz="950" dirty="0"/>
          </a:p>
        </p:txBody>
      </p:sp>
      <p:sp>
        <p:nvSpPr>
          <p:cNvPr id="50" name="Text 43"/>
          <p:cNvSpPr txBox="1"/>
          <p:nvPr/>
        </p:nvSpPr>
        <p:spPr>
          <a:xfrm>
            <a:off x="6272784" y="2587752"/>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cumsum()</a:t>
            </a:r>
            <a:endParaRPr lang="en-US" sz="950" dirty="0"/>
          </a:p>
        </p:txBody>
      </p:sp>
      <p:sp>
        <p:nvSpPr>
          <p:cNvPr id="51" name="Text 44"/>
          <p:cNvSpPr txBox="1"/>
          <p:nvPr/>
        </p:nvSpPr>
        <p:spPr>
          <a:xfrm>
            <a:off x="6272784" y="2825496"/>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bucket_sort</a:t>
            </a:r>
            <a:endParaRPr lang="en-US" sz="950" dirty="0"/>
          </a:p>
        </p:txBody>
      </p:sp>
      <p:sp>
        <p:nvSpPr>
          <p:cNvPr id="52" name="Text 45"/>
          <p:cNvSpPr txBox="1"/>
          <p:nvPr/>
        </p:nvSpPr>
        <p:spPr>
          <a:xfrm>
            <a:off x="6272784" y="3017520"/>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sort + head()</a:t>
            </a:r>
            <a:endParaRPr lang="en-US" sz="950" dirty="0"/>
          </a:p>
        </p:txBody>
      </p:sp>
      <p:sp>
        <p:nvSpPr>
          <p:cNvPr id="53" name="Text 46"/>
          <p:cNvSpPr txBox="1"/>
          <p:nvPr/>
        </p:nvSpPr>
        <p:spPr>
          <a:xfrm>
            <a:off x="6272784" y="3255264"/>
            <a:ext cx="2286000" cy="201168"/>
          </a:xfrm>
          <a:prstGeom prst="rect">
            <a:avLst/>
          </a:prstGeom>
          <a:noFill/>
          <a:ln/>
        </p:spPr>
        <p:txBody>
          <a:bodyPr wrap="square" lIns="0" tIns="0" rIns="0" bIns="0" rtlCol="0" anchor="t"/>
          <a:lstStyle/>
          <a:p>
            <a:pPr marL="0" indent="0">
              <a:buNone/>
            </a:pPr>
            <a:r>
              <a:rPr lang="en-US" sz="950" b="1" dirty="0">
                <a:solidFill>
                  <a:srgbClr val="0E7C86"/>
                </a:solidFill>
                <a:latin typeface="Courier New" pitchFamily="34" charset="0"/>
                <a:ea typeface="Courier New" pitchFamily="34" charset="-122"/>
                <a:cs typeface="Courier New" pitchFamily="34" charset="-120"/>
              </a:rPr>
              <a:t>bucket_script</a:t>
            </a:r>
            <a:endParaRPr lang="en-US" sz="950" dirty="0"/>
          </a:p>
        </p:txBody>
      </p:sp>
      <p:sp>
        <p:nvSpPr>
          <p:cNvPr id="54" name="Text 47"/>
          <p:cNvSpPr txBox="1"/>
          <p:nvPr/>
        </p:nvSpPr>
        <p:spPr>
          <a:xfrm>
            <a:off x="6272784" y="3447288"/>
            <a:ext cx="2286000" cy="1828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computed ratio</a:t>
            </a:r>
            <a:endParaRPr lang="en-US" sz="950" dirty="0"/>
          </a:p>
        </p:txBody>
      </p:sp>
      <p:sp>
        <p:nvSpPr>
          <p:cNvPr id="55" name="Shape 48"/>
          <p:cNvSpPr/>
          <p:nvPr/>
        </p:nvSpPr>
        <p:spPr>
          <a:xfrm>
            <a:off x="457200" y="3886200"/>
            <a:ext cx="8229600" cy="685800"/>
          </a:xfrm>
          <a:prstGeom prst="roundRect">
            <a:avLst>
              <a:gd name="adj" fmla="val 8000"/>
            </a:avLst>
          </a:prstGeom>
          <a:solidFill>
            <a:srgbClr val="D49A00">
              <a:alpha val="13000"/>
            </a:srgbClr>
          </a:solidFill>
          <a:ln w="12700">
            <a:solidFill>
              <a:srgbClr val="D49A00"/>
            </a:solidFill>
            <a:prstDash val="solid"/>
          </a:ln>
        </p:spPr>
      </p:sp>
      <p:pic>
        <p:nvPicPr>
          <p:cNvPr id="56" name="Image 4" descr="preencoded.png"/>
          <p:cNvPicPr>
            <a:picLocks noChangeAspect="1"/>
          </p:cNvPicPr>
          <p:nvPr/>
        </p:nvPicPr>
        <p:blipFill>
          <a:blip r:embed="rId7"/>
          <a:stretch>
            <a:fillRect/>
          </a:stretch>
        </p:blipFill>
        <p:spPr>
          <a:xfrm>
            <a:off x="603504" y="4091940"/>
            <a:ext cx="274320" cy="274320"/>
          </a:xfrm>
          <a:prstGeom prst="rect">
            <a:avLst/>
          </a:prstGeom>
        </p:spPr>
      </p:pic>
      <p:sp>
        <p:nvSpPr>
          <p:cNvPr id="57" name="Text 49"/>
          <p:cNvSpPr txBox="1"/>
          <p:nvPr/>
        </p:nvSpPr>
        <p:spPr>
          <a:xfrm>
            <a:off x="1005840" y="3941064"/>
            <a:ext cx="7543800" cy="57607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Approximate by design: </a:t>
            </a:r>
            <a:r>
              <a:rPr lang="en-US" sz="1050" dirty="0">
                <a:solidFill>
                  <a:srgbClr val="231F20"/>
                </a:solidFill>
                <a:latin typeface="Calibri" pitchFamily="34" charset="0"/>
                <a:ea typeface="Calibri" pitchFamily="34" charset="-122"/>
                <a:cs typeface="Calibri" pitchFamily="34" charset="-120"/>
              </a:rPr>
              <a:t>cardinality (HyperLogLog++), percentiles (TDigest) and multi-shard terms counts. Fine for exploration — verify precision or compute exactly before publishing.</a:t>
            </a:r>
            <a:endParaRPr lang="en-US" sz="10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Building a population-weighted connectivity indicator</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6" name="Shape 12"/>
          <p:cNvSpPr/>
          <p:nvPr/>
        </p:nvSpPr>
        <p:spPr>
          <a:xfrm>
            <a:off x="457200" y="1261872"/>
            <a:ext cx="4023360" cy="868680"/>
          </a:xfrm>
          <a:prstGeom prst="roundRect">
            <a:avLst>
              <a:gd name="adj" fmla="val 8421"/>
            </a:avLst>
          </a:prstGeom>
          <a:solidFill>
            <a:srgbClr val="E8F5EF"/>
          </a:solidFill>
          <a:ln w="15875">
            <a:solidFill>
              <a:srgbClr val="00A86A"/>
            </a:solidFill>
            <a:prstDash val="solid"/>
          </a:ln>
        </p:spPr>
      </p:sp>
      <p:sp>
        <p:nvSpPr>
          <p:cNvPr id="17" name="Text 13"/>
          <p:cNvSpPr txBox="1"/>
          <p:nvPr/>
        </p:nvSpPr>
        <p:spPr>
          <a:xfrm>
            <a:off x="621792" y="1335024"/>
            <a:ext cx="36576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FORMULA FOR REGION r</a:t>
            </a:r>
            <a:endParaRPr lang="en-US" sz="900" dirty="0"/>
          </a:p>
        </p:txBody>
      </p:sp>
      <p:sp>
        <p:nvSpPr>
          <p:cNvPr id="18" name="Text 14"/>
          <p:cNvSpPr txBox="1"/>
          <p:nvPr/>
        </p:nvSpPr>
        <p:spPr>
          <a:xfrm>
            <a:off x="621792" y="1554480"/>
            <a:ext cx="3749040" cy="457200"/>
          </a:xfrm>
          <a:prstGeom prst="rect">
            <a:avLst/>
          </a:prstGeom>
          <a:noFill/>
          <a:ln/>
        </p:spPr>
        <p:txBody>
          <a:bodyPr wrap="square" lIns="0" tIns="0" rIns="0" bIns="0" rtlCol="0" anchor="ctr"/>
          <a:lstStyle/>
          <a:p>
            <a:pPr marL="0" indent="0">
              <a:buNone/>
            </a:pPr>
            <a:r>
              <a:rPr lang="en-US" sz="2000" b="1" dirty="0">
                <a:solidFill>
                  <a:srgbClr val="231F20"/>
                </a:solidFill>
                <a:latin typeface="Cambria" pitchFamily="34" charset="0"/>
                <a:ea typeface="Cambria" pitchFamily="34" charset="-122"/>
                <a:cs typeface="Cambria" pitchFamily="34" charset="-120"/>
              </a:rPr>
              <a:t>C</a:t>
            </a:r>
            <a:r>
              <a:rPr lang="en-US" sz="2000" b="1" baseline="-40000" dirty="0">
                <a:solidFill>
                  <a:srgbClr val="231F20"/>
                </a:solidFill>
                <a:latin typeface="Cambria" pitchFamily="34" charset="0"/>
                <a:ea typeface="Cambria" pitchFamily="34" charset="-122"/>
                <a:cs typeface="Cambria" pitchFamily="34" charset="-120"/>
              </a:rPr>
              <a:t>r</a:t>
            </a:r>
            <a:r>
              <a:rPr lang="en-US" sz="2000" dirty="0">
                <a:solidFill>
                  <a:srgbClr val="231F20"/>
                </a:solidFill>
                <a:latin typeface="Cambria" pitchFamily="34" charset="0"/>
                <a:ea typeface="Cambria" pitchFamily="34" charset="-122"/>
                <a:cs typeface="Cambria" pitchFamily="34" charset="-120"/>
              </a:rPr>
              <a:t>  =  Σ (pop</a:t>
            </a:r>
            <a:r>
              <a:rPr lang="en-US" sz="2000" baseline="-40000" dirty="0">
                <a:solidFill>
                  <a:srgbClr val="231F20"/>
                </a:solidFill>
                <a:latin typeface="Cambria" pitchFamily="34" charset="0"/>
                <a:ea typeface="Cambria" pitchFamily="34" charset="-122"/>
                <a:cs typeface="Cambria" pitchFamily="34" charset="-120"/>
              </a:rPr>
              <a:t>i</a:t>
            </a:r>
            <a:r>
              <a:rPr lang="en-US" sz="2000" dirty="0">
                <a:solidFill>
                  <a:srgbClr val="231F20"/>
                </a:solidFill>
                <a:latin typeface="Cambria" pitchFamily="34" charset="0"/>
                <a:ea typeface="Cambria" pitchFamily="34" charset="-122"/>
                <a:cs typeface="Cambria" pitchFamily="34" charset="-120"/>
              </a:rPr>
              <a:t> × speed</a:t>
            </a:r>
            <a:r>
              <a:rPr lang="en-US" sz="2000" baseline="-40000" dirty="0">
                <a:solidFill>
                  <a:srgbClr val="231F20"/>
                </a:solidFill>
                <a:latin typeface="Cambria" pitchFamily="34" charset="0"/>
                <a:ea typeface="Cambria" pitchFamily="34" charset="-122"/>
                <a:cs typeface="Cambria" pitchFamily="34" charset="-120"/>
              </a:rPr>
              <a:t>i</a:t>
            </a:r>
            <a:r>
              <a:rPr lang="en-US" sz="2000" dirty="0">
                <a:solidFill>
                  <a:srgbClr val="231F20"/>
                </a:solidFill>
                <a:latin typeface="Cambria" pitchFamily="34" charset="0"/>
                <a:ea typeface="Cambria" pitchFamily="34" charset="-122"/>
                <a:cs typeface="Cambria" pitchFamily="34" charset="-120"/>
              </a:rPr>
              <a:t>)  ÷  Σ pop</a:t>
            </a:r>
            <a:r>
              <a:rPr lang="en-US" sz="2000" baseline="-40000" dirty="0">
                <a:solidFill>
                  <a:srgbClr val="231F20"/>
                </a:solidFill>
                <a:latin typeface="Cambria" pitchFamily="34" charset="0"/>
                <a:ea typeface="Cambria" pitchFamily="34" charset="-122"/>
                <a:cs typeface="Cambria" pitchFamily="34" charset="-120"/>
              </a:rPr>
              <a:t>i</a:t>
            </a:r>
            <a:endParaRPr lang="en-US" sz="2000" dirty="0"/>
          </a:p>
        </p:txBody>
      </p:sp>
      <p:sp>
        <p:nvSpPr>
          <p:cNvPr id="19" name="Text 15"/>
          <p:cNvSpPr txBox="1"/>
          <p:nvPr/>
        </p:nvSpPr>
        <p:spPr>
          <a:xfrm>
            <a:off x="594360" y="2258568"/>
            <a:ext cx="731520" cy="201168"/>
          </a:xfrm>
          <a:prstGeom prst="rect">
            <a:avLst/>
          </a:prstGeom>
          <a:noFill/>
          <a:ln/>
        </p:spPr>
        <p:txBody>
          <a:bodyPr wrap="square" lIns="0" tIns="0" rIns="0" bIns="0" rtlCol="0" anchor="t"/>
          <a:lstStyle/>
          <a:p>
            <a:pPr marL="0" indent="0" algn="l">
              <a:buNone/>
            </a:pPr>
            <a:r>
              <a:rPr lang="en-US" sz="950" b="1" dirty="0">
                <a:solidFill>
                  <a:srgbClr val="5E6964"/>
                </a:solidFill>
                <a:latin typeface="Calibri" pitchFamily="34" charset="0"/>
                <a:ea typeface="Calibri" pitchFamily="34" charset="-122"/>
                <a:cs typeface="Calibri" pitchFamily="34" charset="-120"/>
              </a:rPr>
              <a:t>Tile</a:t>
            </a:r>
            <a:endParaRPr lang="en-US" sz="950" dirty="0"/>
          </a:p>
        </p:txBody>
      </p:sp>
      <p:sp>
        <p:nvSpPr>
          <p:cNvPr id="20" name="Text 16"/>
          <p:cNvSpPr txBox="1"/>
          <p:nvPr/>
        </p:nvSpPr>
        <p:spPr>
          <a:xfrm>
            <a:off x="1417320" y="2258568"/>
            <a:ext cx="100584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Population</a:t>
            </a:r>
            <a:endParaRPr lang="en-US" sz="950" dirty="0"/>
          </a:p>
        </p:txBody>
      </p:sp>
      <p:sp>
        <p:nvSpPr>
          <p:cNvPr id="21" name="Text 17"/>
          <p:cNvSpPr txBox="1"/>
          <p:nvPr/>
        </p:nvSpPr>
        <p:spPr>
          <a:xfrm>
            <a:off x="2514600" y="2258568"/>
            <a:ext cx="82296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Tests</a:t>
            </a:r>
            <a:endParaRPr lang="en-US" sz="950" dirty="0"/>
          </a:p>
        </p:txBody>
      </p:sp>
      <p:sp>
        <p:nvSpPr>
          <p:cNvPr id="22" name="Text 18"/>
          <p:cNvSpPr txBox="1"/>
          <p:nvPr/>
        </p:nvSpPr>
        <p:spPr>
          <a:xfrm>
            <a:off x="3429000" y="2258568"/>
            <a:ext cx="822960" cy="201168"/>
          </a:xfrm>
          <a:prstGeom prst="rect">
            <a:avLst/>
          </a:prstGeom>
          <a:noFill/>
          <a:ln/>
        </p:spPr>
        <p:txBody>
          <a:bodyPr wrap="square" lIns="0" tIns="0" rIns="0" bIns="0" rtlCol="0" anchor="t"/>
          <a:lstStyle/>
          <a:p>
            <a:pPr marL="0" indent="0" algn="r">
              <a:buNone/>
            </a:pPr>
            <a:r>
              <a:rPr lang="en-US" sz="950" b="1" dirty="0">
                <a:solidFill>
                  <a:srgbClr val="5E6964"/>
                </a:solidFill>
                <a:latin typeface="Calibri" pitchFamily="34" charset="0"/>
                <a:ea typeface="Calibri" pitchFamily="34" charset="-122"/>
                <a:cs typeface="Calibri" pitchFamily="34" charset="-120"/>
              </a:rPr>
              <a:t>Mbps</a:t>
            </a:r>
            <a:endParaRPr lang="en-US" sz="950" dirty="0"/>
          </a:p>
        </p:txBody>
      </p:sp>
      <p:sp>
        <p:nvSpPr>
          <p:cNvPr id="23" name="Shape 19"/>
          <p:cNvSpPr/>
          <p:nvPr/>
        </p:nvSpPr>
        <p:spPr>
          <a:xfrm>
            <a:off x="457200" y="2505456"/>
            <a:ext cx="4023360" cy="310896"/>
          </a:xfrm>
          <a:prstGeom prst="roundRect">
            <a:avLst>
              <a:gd name="adj" fmla="val 23529"/>
            </a:avLst>
          </a:prstGeom>
          <a:solidFill>
            <a:srgbClr val="F4F7F5"/>
          </a:solidFill>
          <a:ln w="9525">
            <a:solidFill>
              <a:srgbClr val="D5DED9"/>
            </a:solidFill>
            <a:prstDash val="solid"/>
          </a:ln>
        </p:spPr>
      </p:sp>
      <p:sp>
        <p:nvSpPr>
          <p:cNvPr id="24" name="Text 20"/>
          <p:cNvSpPr txBox="1"/>
          <p:nvPr/>
        </p:nvSpPr>
        <p:spPr>
          <a:xfrm>
            <a:off x="594360" y="250545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A · urban</a:t>
            </a:r>
            <a:endParaRPr lang="en-US" sz="1050" dirty="0"/>
          </a:p>
        </p:txBody>
      </p:sp>
      <p:sp>
        <p:nvSpPr>
          <p:cNvPr id="25" name="Text 21"/>
          <p:cNvSpPr txBox="1"/>
          <p:nvPr/>
        </p:nvSpPr>
        <p:spPr>
          <a:xfrm>
            <a:off x="1417320" y="250545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5,000</a:t>
            </a:r>
            <a:endParaRPr lang="en-US" sz="1050" dirty="0"/>
          </a:p>
        </p:txBody>
      </p:sp>
      <p:sp>
        <p:nvSpPr>
          <p:cNvPr id="26" name="Text 22"/>
          <p:cNvSpPr txBox="1"/>
          <p:nvPr/>
        </p:nvSpPr>
        <p:spPr>
          <a:xfrm>
            <a:off x="2514600" y="250545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400</a:t>
            </a:r>
            <a:endParaRPr lang="en-US" sz="1050" dirty="0"/>
          </a:p>
        </p:txBody>
      </p:sp>
      <p:sp>
        <p:nvSpPr>
          <p:cNvPr id="27" name="Text 23"/>
          <p:cNvSpPr txBox="1"/>
          <p:nvPr/>
        </p:nvSpPr>
        <p:spPr>
          <a:xfrm>
            <a:off x="3429000" y="250545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20</a:t>
            </a:r>
            <a:endParaRPr lang="en-US" sz="1050" dirty="0"/>
          </a:p>
        </p:txBody>
      </p:sp>
      <p:sp>
        <p:nvSpPr>
          <p:cNvPr id="28" name="Shape 24"/>
          <p:cNvSpPr/>
          <p:nvPr/>
        </p:nvSpPr>
        <p:spPr>
          <a:xfrm>
            <a:off x="457200" y="2871216"/>
            <a:ext cx="4023360" cy="310896"/>
          </a:xfrm>
          <a:prstGeom prst="roundRect">
            <a:avLst>
              <a:gd name="adj" fmla="val 23529"/>
            </a:avLst>
          </a:prstGeom>
          <a:solidFill>
            <a:srgbClr val="FFFFFF"/>
          </a:solidFill>
          <a:ln w="9525">
            <a:solidFill>
              <a:srgbClr val="D5DED9"/>
            </a:solidFill>
            <a:prstDash val="solid"/>
          </a:ln>
        </p:spPr>
      </p:sp>
      <p:sp>
        <p:nvSpPr>
          <p:cNvPr id="29" name="Text 25"/>
          <p:cNvSpPr txBox="1"/>
          <p:nvPr/>
        </p:nvSpPr>
        <p:spPr>
          <a:xfrm>
            <a:off x="594360" y="287121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B · peri-urban</a:t>
            </a:r>
            <a:endParaRPr lang="en-US" sz="1050" dirty="0"/>
          </a:p>
        </p:txBody>
      </p:sp>
      <p:sp>
        <p:nvSpPr>
          <p:cNvPr id="30" name="Text 26"/>
          <p:cNvSpPr txBox="1"/>
          <p:nvPr/>
        </p:nvSpPr>
        <p:spPr>
          <a:xfrm>
            <a:off x="1417320" y="287121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1,200</a:t>
            </a:r>
            <a:endParaRPr lang="en-US" sz="1050" dirty="0"/>
          </a:p>
        </p:txBody>
      </p:sp>
      <p:sp>
        <p:nvSpPr>
          <p:cNvPr id="31" name="Text 27"/>
          <p:cNvSpPr txBox="1"/>
          <p:nvPr/>
        </p:nvSpPr>
        <p:spPr>
          <a:xfrm>
            <a:off x="2514600" y="287121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40</a:t>
            </a:r>
            <a:endParaRPr lang="en-US" sz="1050" dirty="0"/>
          </a:p>
        </p:txBody>
      </p:sp>
      <p:sp>
        <p:nvSpPr>
          <p:cNvPr id="32" name="Text 28"/>
          <p:cNvSpPr txBox="1"/>
          <p:nvPr/>
        </p:nvSpPr>
        <p:spPr>
          <a:xfrm>
            <a:off x="3429000" y="287121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8</a:t>
            </a:r>
            <a:endParaRPr lang="en-US" sz="1050" dirty="0"/>
          </a:p>
        </p:txBody>
      </p:sp>
      <p:sp>
        <p:nvSpPr>
          <p:cNvPr id="33" name="Shape 29"/>
          <p:cNvSpPr/>
          <p:nvPr/>
        </p:nvSpPr>
        <p:spPr>
          <a:xfrm>
            <a:off x="457200" y="3236976"/>
            <a:ext cx="4023360" cy="310896"/>
          </a:xfrm>
          <a:prstGeom prst="roundRect">
            <a:avLst>
              <a:gd name="adj" fmla="val 23529"/>
            </a:avLst>
          </a:prstGeom>
          <a:solidFill>
            <a:srgbClr val="F4F7F5"/>
          </a:solidFill>
          <a:ln w="9525">
            <a:solidFill>
              <a:srgbClr val="D5DED9"/>
            </a:solidFill>
            <a:prstDash val="solid"/>
          </a:ln>
        </p:spPr>
      </p:sp>
      <p:sp>
        <p:nvSpPr>
          <p:cNvPr id="34" name="Text 30"/>
          <p:cNvSpPr txBox="1"/>
          <p:nvPr/>
        </p:nvSpPr>
        <p:spPr>
          <a:xfrm>
            <a:off x="594360" y="3236976"/>
            <a:ext cx="1097280" cy="310896"/>
          </a:xfrm>
          <a:prstGeom prst="rect">
            <a:avLst/>
          </a:prstGeom>
          <a:noFill/>
          <a:ln/>
        </p:spPr>
        <p:txBody>
          <a:bodyPr wrap="square" lIns="0" tIns="0" rIns="0" bIns="0" rtlCol="0" anchor="ctr"/>
          <a:lstStyle/>
          <a:p>
            <a:pPr marL="0" indent="0" algn="l">
              <a:buNone/>
            </a:pPr>
            <a:r>
              <a:rPr lang="en-US" sz="1050" dirty="0">
                <a:solidFill>
                  <a:srgbClr val="231F20"/>
                </a:solidFill>
                <a:latin typeface="Calibri" pitchFamily="34" charset="0"/>
                <a:ea typeface="Calibri" pitchFamily="34" charset="-122"/>
                <a:cs typeface="Calibri" pitchFamily="34" charset="-120"/>
              </a:rPr>
              <a:t>C · rural</a:t>
            </a:r>
            <a:endParaRPr lang="en-US" sz="1050" dirty="0"/>
          </a:p>
        </p:txBody>
      </p:sp>
      <p:sp>
        <p:nvSpPr>
          <p:cNvPr id="35" name="Text 31"/>
          <p:cNvSpPr txBox="1"/>
          <p:nvPr/>
        </p:nvSpPr>
        <p:spPr>
          <a:xfrm>
            <a:off x="1417320" y="3236976"/>
            <a:ext cx="100584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300</a:t>
            </a:r>
            <a:endParaRPr lang="en-US" sz="1050" dirty="0"/>
          </a:p>
        </p:txBody>
      </p:sp>
      <p:sp>
        <p:nvSpPr>
          <p:cNvPr id="36" name="Text 32"/>
          <p:cNvSpPr txBox="1"/>
          <p:nvPr/>
        </p:nvSpPr>
        <p:spPr>
          <a:xfrm>
            <a:off x="2514600" y="3236976"/>
            <a:ext cx="822960" cy="310896"/>
          </a:xfrm>
          <a:prstGeom prst="rect">
            <a:avLst/>
          </a:prstGeom>
          <a:noFill/>
          <a:ln/>
        </p:spPr>
        <p:txBody>
          <a:bodyPr wrap="square" lIns="0" tIns="0" rIns="0" bIns="0" rtlCol="0" anchor="ctr"/>
          <a:lstStyle/>
          <a:p>
            <a:pPr marL="0" indent="0" algn="r">
              <a:buNone/>
            </a:pPr>
            <a:r>
              <a:rPr lang="en-US" sz="1050" dirty="0">
                <a:solidFill>
                  <a:srgbClr val="231F20"/>
                </a:solidFill>
                <a:latin typeface="Calibri" pitchFamily="34" charset="0"/>
                <a:ea typeface="Calibri" pitchFamily="34" charset="-122"/>
                <a:cs typeface="Calibri" pitchFamily="34" charset="-120"/>
              </a:rPr>
              <a:t>5</a:t>
            </a:r>
            <a:endParaRPr lang="en-US" sz="1050" dirty="0"/>
          </a:p>
        </p:txBody>
      </p:sp>
      <p:sp>
        <p:nvSpPr>
          <p:cNvPr id="37" name="Text 33"/>
          <p:cNvSpPr txBox="1"/>
          <p:nvPr/>
        </p:nvSpPr>
        <p:spPr>
          <a:xfrm>
            <a:off x="3429000" y="3236976"/>
            <a:ext cx="822960" cy="310896"/>
          </a:xfrm>
          <a:prstGeom prst="rect">
            <a:avLst/>
          </a:prstGeom>
          <a:noFill/>
          <a:ln/>
        </p:spPr>
        <p:txBody>
          <a:bodyPr wrap="square" lIns="0" tIns="0" rIns="0" bIns="0" rtlCol="0" anchor="ctr"/>
          <a:lstStyle/>
          <a:p>
            <a:pPr marL="0" indent="0" algn="r">
              <a:buNone/>
            </a:pPr>
            <a:r>
              <a:rPr lang="en-US" sz="1050" b="1" dirty="0">
                <a:solidFill>
                  <a:srgbClr val="231F20"/>
                </a:solidFill>
                <a:latin typeface="Calibri" pitchFamily="34" charset="0"/>
                <a:ea typeface="Calibri" pitchFamily="34" charset="-122"/>
                <a:cs typeface="Calibri" pitchFamily="34" charset="-120"/>
              </a:rPr>
              <a:t>2</a:t>
            </a:r>
            <a:endParaRPr lang="en-US" sz="1050" dirty="0"/>
          </a:p>
        </p:txBody>
      </p:sp>
      <p:graphicFrame>
        <p:nvGraphicFramePr>
          <p:cNvPr id="38" name="Chart 0"/>
          <p:cNvGraphicFramePr/>
          <p:nvPr/>
        </p:nvGraphicFramePr>
        <p:xfrm>
          <a:off x="4709160" y="1261872"/>
          <a:ext cx="3977640" cy="2487168"/>
        </p:xfrm>
        <a:graphic>
          <a:graphicData uri="http://schemas.openxmlformats.org/drawingml/2006/chart">
            <c:chart xmlns:c="http://schemas.openxmlformats.org/drawingml/2006/chart" xmlns:r="http://schemas.openxmlformats.org/officeDocument/2006/relationships" r:id="rId4"/>
          </a:graphicData>
        </a:graphic>
      </p:graphicFrame>
      <p:sp>
        <p:nvSpPr>
          <p:cNvPr id="39" name="Shape 34"/>
          <p:cNvSpPr/>
          <p:nvPr/>
        </p:nvSpPr>
        <p:spPr>
          <a:xfrm>
            <a:off x="457200" y="3749040"/>
            <a:ext cx="8229600" cy="822960"/>
          </a:xfrm>
          <a:prstGeom prst="roundRect">
            <a:avLst>
              <a:gd name="adj" fmla="val 6667"/>
            </a:avLst>
          </a:prstGeom>
          <a:solidFill>
            <a:srgbClr val="D49A00">
              <a:alpha val="13000"/>
            </a:srgbClr>
          </a:solidFill>
          <a:ln w="12700">
            <a:solidFill>
              <a:srgbClr val="D49A00"/>
            </a:solidFill>
            <a:prstDash val="solid"/>
          </a:ln>
        </p:spPr>
      </p:sp>
      <p:pic>
        <p:nvPicPr>
          <p:cNvPr id="40" name="Image 1" descr="preencoded.png"/>
          <p:cNvPicPr>
            <a:picLocks noChangeAspect="1"/>
          </p:cNvPicPr>
          <p:nvPr/>
        </p:nvPicPr>
        <p:blipFill>
          <a:blip r:embed="rId5"/>
          <a:stretch>
            <a:fillRect/>
          </a:stretch>
        </p:blipFill>
        <p:spPr>
          <a:xfrm>
            <a:off x="603504" y="4023360"/>
            <a:ext cx="274320" cy="274320"/>
          </a:xfrm>
          <a:prstGeom prst="rect">
            <a:avLst/>
          </a:prstGeom>
        </p:spPr>
      </p:pic>
      <p:sp>
        <p:nvSpPr>
          <p:cNvPr id="41" name="Text 35"/>
          <p:cNvSpPr txBox="1"/>
          <p:nvPr/>
        </p:nvSpPr>
        <p:spPr>
          <a:xfrm>
            <a:off x="1005840" y="3803904"/>
            <a:ext cx="7543800" cy="713232"/>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Two rules. </a:t>
            </a:r>
            <a:r>
              <a:rPr lang="en-US" sz="1050" dirty="0">
                <a:solidFill>
                  <a:srgbClr val="231F20"/>
                </a:solidFill>
                <a:latin typeface="Calibri" pitchFamily="34" charset="0"/>
                <a:ea typeface="Calibri" pitchFamily="34" charset="-122"/>
                <a:cs typeface="Calibri" pitchFamily="34" charset="-120"/>
              </a:rPr>
              <a:t>Document which weight you used — it changes the result. And tiles without tests have no speed, so their population drops out: publish the share of population covered next to the indicator.</a:t>
            </a:r>
            <a:endParaRPr lang="en-US" sz="1050" dirty="0"/>
          </a:p>
        </p:txBody>
      </p:sp>
      <p:sp>
        <p:nvSpPr>
          <p:cNvPr id="42"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figures for teaching purposes, not observed data. In Elasticsearch: weighted_avg with weight field pop_worldpop.</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Asking geographic questions</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6" name="Shape 12"/>
          <p:cNvSpPr/>
          <p:nvPr/>
        </p:nvSpPr>
        <p:spPr>
          <a:xfrm>
            <a:off x="457200" y="1261872"/>
            <a:ext cx="2560320" cy="2057400"/>
          </a:xfrm>
          <a:prstGeom prst="roundRect">
            <a:avLst>
              <a:gd name="adj" fmla="val 3556"/>
            </a:avLst>
          </a:prstGeom>
          <a:solidFill>
            <a:srgbClr val="F4F7F5"/>
          </a:solidFill>
          <a:ln w="9525">
            <a:solidFill>
              <a:srgbClr val="D5DED9"/>
            </a:solidFill>
            <a:prstDash val="solid"/>
          </a:ln>
        </p:spPr>
      </p:sp>
      <p:sp>
        <p:nvSpPr>
          <p:cNvPr id="17" name="Shape 13"/>
          <p:cNvSpPr/>
          <p:nvPr/>
        </p:nvSpPr>
        <p:spPr>
          <a:xfrm>
            <a:off x="640080" y="1389888"/>
            <a:ext cx="914400" cy="777240"/>
          </a:xfrm>
          <a:prstGeom prst="hexagon">
            <a:avLst/>
          </a:prstGeom>
          <a:solidFill>
            <a:srgbClr val="0E7C86">
              <a:alpha val="15000"/>
            </a:srgbClr>
          </a:solidFill>
          <a:ln w="15875">
            <a:solidFill>
              <a:srgbClr val="0E7C86"/>
            </a:solidFill>
            <a:prstDash val="solid"/>
          </a:ln>
        </p:spPr>
      </p:sp>
      <p:sp>
        <p:nvSpPr>
          <p:cNvPr id="18" name="Shape 14"/>
          <p:cNvSpPr/>
          <p:nvPr/>
        </p:nvSpPr>
        <p:spPr>
          <a:xfrm>
            <a:off x="777240" y="1527048"/>
            <a:ext cx="182880" cy="182880"/>
          </a:xfrm>
          <a:prstGeom prst="rect">
            <a:avLst/>
          </a:prstGeom>
          <a:solidFill>
            <a:srgbClr val="00A86A">
              <a:alpha val="70000"/>
            </a:srgbClr>
          </a:solidFill>
          <a:ln w="6350">
            <a:solidFill>
              <a:srgbClr val="FFFFFF"/>
            </a:solidFill>
            <a:prstDash val="solid"/>
          </a:ln>
        </p:spPr>
      </p:sp>
      <p:sp>
        <p:nvSpPr>
          <p:cNvPr id="19" name="Shape 15"/>
          <p:cNvSpPr/>
          <p:nvPr/>
        </p:nvSpPr>
        <p:spPr>
          <a:xfrm>
            <a:off x="1005840" y="1527048"/>
            <a:ext cx="182880" cy="182880"/>
          </a:xfrm>
          <a:prstGeom prst="rect">
            <a:avLst/>
          </a:prstGeom>
          <a:solidFill>
            <a:srgbClr val="00A86A">
              <a:alpha val="70000"/>
            </a:srgbClr>
          </a:solidFill>
          <a:ln w="6350">
            <a:solidFill>
              <a:srgbClr val="FFFFFF"/>
            </a:solidFill>
            <a:prstDash val="solid"/>
          </a:ln>
        </p:spPr>
      </p:sp>
      <p:sp>
        <p:nvSpPr>
          <p:cNvPr id="20" name="Shape 16"/>
          <p:cNvSpPr/>
          <p:nvPr/>
        </p:nvSpPr>
        <p:spPr>
          <a:xfrm>
            <a:off x="777240" y="1755648"/>
            <a:ext cx="182880" cy="182880"/>
          </a:xfrm>
          <a:prstGeom prst="rect">
            <a:avLst/>
          </a:prstGeom>
          <a:solidFill>
            <a:srgbClr val="00A86A">
              <a:alpha val="70000"/>
            </a:srgbClr>
          </a:solidFill>
          <a:ln w="6350">
            <a:solidFill>
              <a:srgbClr val="FFFFFF"/>
            </a:solidFill>
            <a:prstDash val="solid"/>
          </a:ln>
        </p:spPr>
      </p:sp>
      <p:sp>
        <p:nvSpPr>
          <p:cNvPr id="21" name="Shape 17"/>
          <p:cNvSpPr/>
          <p:nvPr/>
        </p:nvSpPr>
        <p:spPr>
          <a:xfrm>
            <a:off x="1005840" y="1755648"/>
            <a:ext cx="182880" cy="182880"/>
          </a:xfrm>
          <a:prstGeom prst="rect">
            <a:avLst/>
          </a:prstGeom>
          <a:solidFill>
            <a:srgbClr val="00A86A">
              <a:alpha val="70000"/>
            </a:srgbClr>
          </a:solidFill>
          <a:ln w="6350">
            <a:solidFill>
              <a:srgbClr val="FFFFFF"/>
            </a:solidFill>
            <a:prstDash val="solid"/>
          </a:ln>
        </p:spPr>
      </p:sp>
      <p:sp>
        <p:nvSpPr>
          <p:cNvPr id="22" name="Shape 18"/>
          <p:cNvSpPr/>
          <p:nvPr/>
        </p:nvSpPr>
        <p:spPr>
          <a:xfrm>
            <a:off x="1234440" y="1755648"/>
            <a:ext cx="182880" cy="182880"/>
          </a:xfrm>
          <a:prstGeom prst="rect">
            <a:avLst/>
          </a:prstGeom>
          <a:solidFill>
            <a:srgbClr val="00A86A">
              <a:alpha val="70000"/>
            </a:srgbClr>
          </a:solidFill>
          <a:ln w="6350">
            <a:solidFill>
              <a:srgbClr val="FFFFFF"/>
            </a:solidFill>
            <a:prstDash val="solid"/>
          </a:ln>
        </p:spPr>
      </p:sp>
      <p:sp>
        <p:nvSpPr>
          <p:cNvPr id="23" name="Text 19"/>
          <p:cNvSpPr txBox="1"/>
          <p:nvPr/>
        </p:nvSpPr>
        <p:spPr>
          <a:xfrm>
            <a:off x="164592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geo_shape</a:t>
            </a:r>
            <a:endParaRPr lang="en-US" sz="1100" dirty="0"/>
          </a:p>
        </p:txBody>
      </p:sp>
      <p:sp>
        <p:nvSpPr>
          <p:cNvPr id="24" name="Text 20"/>
          <p:cNvSpPr txBox="1"/>
          <p:nvPr/>
        </p:nvSpPr>
        <p:spPr>
          <a:xfrm>
            <a:off x="64008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Which tiles intersect this district?</a:t>
            </a:r>
            <a:endParaRPr lang="en-US" sz="1100" dirty="0"/>
          </a:p>
        </p:txBody>
      </p:sp>
      <p:sp>
        <p:nvSpPr>
          <p:cNvPr id="25" name="Text 21"/>
          <p:cNvSpPr txBox="1"/>
          <p:nvPr/>
        </p:nvSpPr>
        <p:spPr>
          <a:xfrm>
            <a:off x="64008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Subnational indicators, border tiles included.</a:t>
            </a:r>
            <a:endParaRPr lang="en-US" sz="1000" dirty="0"/>
          </a:p>
        </p:txBody>
      </p:sp>
      <p:sp>
        <p:nvSpPr>
          <p:cNvPr id="26" name="Shape 22"/>
          <p:cNvSpPr/>
          <p:nvPr/>
        </p:nvSpPr>
        <p:spPr>
          <a:xfrm>
            <a:off x="3291840" y="1261872"/>
            <a:ext cx="2560320" cy="2057400"/>
          </a:xfrm>
          <a:prstGeom prst="roundRect">
            <a:avLst>
              <a:gd name="adj" fmla="val 3556"/>
            </a:avLst>
          </a:prstGeom>
          <a:solidFill>
            <a:srgbClr val="F4F7F5"/>
          </a:solidFill>
          <a:ln w="9525">
            <a:solidFill>
              <a:srgbClr val="D5DED9"/>
            </a:solidFill>
            <a:prstDash val="solid"/>
          </a:ln>
        </p:spPr>
      </p:sp>
      <p:sp>
        <p:nvSpPr>
          <p:cNvPr id="27" name="Shape 23"/>
          <p:cNvSpPr/>
          <p:nvPr/>
        </p:nvSpPr>
        <p:spPr>
          <a:xfrm>
            <a:off x="3520440" y="1389888"/>
            <a:ext cx="777240" cy="777240"/>
          </a:xfrm>
          <a:prstGeom prst="ellipse">
            <a:avLst/>
          </a:prstGeom>
          <a:solidFill>
            <a:srgbClr val="00A86A">
              <a:alpha val="12000"/>
            </a:srgbClr>
          </a:solidFill>
          <a:ln w="12700">
            <a:solidFill>
              <a:srgbClr val="00A86A"/>
            </a:solidFill>
            <a:prstDash val="dash"/>
          </a:ln>
        </p:spPr>
      </p:sp>
      <p:sp>
        <p:nvSpPr>
          <p:cNvPr id="28" name="Shape 24"/>
          <p:cNvSpPr/>
          <p:nvPr/>
        </p:nvSpPr>
        <p:spPr>
          <a:xfrm>
            <a:off x="3849624" y="1719072"/>
            <a:ext cx="118872" cy="118872"/>
          </a:xfrm>
          <a:prstGeom prst="ellipse">
            <a:avLst/>
          </a:prstGeom>
          <a:solidFill>
            <a:srgbClr val="B83B2E"/>
          </a:solidFill>
          <a:ln/>
        </p:spPr>
      </p:sp>
      <p:sp>
        <p:nvSpPr>
          <p:cNvPr id="29" name="Shape 25"/>
          <p:cNvSpPr/>
          <p:nvPr/>
        </p:nvSpPr>
        <p:spPr>
          <a:xfrm>
            <a:off x="3657600" y="1664208"/>
            <a:ext cx="73152" cy="73152"/>
          </a:xfrm>
          <a:prstGeom prst="ellipse">
            <a:avLst/>
          </a:prstGeom>
          <a:solidFill>
            <a:srgbClr val="00A86A"/>
          </a:solidFill>
          <a:ln/>
        </p:spPr>
      </p:sp>
      <p:sp>
        <p:nvSpPr>
          <p:cNvPr id="30" name="Shape 26"/>
          <p:cNvSpPr/>
          <p:nvPr/>
        </p:nvSpPr>
        <p:spPr>
          <a:xfrm>
            <a:off x="4069080" y="1618488"/>
            <a:ext cx="73152" cy="73152"/>
          </a:xfrm>
          <a:prstGeom prst="ellipse">
            <a:avLst/>
          </a:prstGeom>
          <a:solidFill>
            <a:srgbClr val="00A86A"/>
          </a:solidFill>
          <a:ln/>
        </p:spPr>
      </p:sp>
      <p:sp>
        <p:nvSpPr>
          <p:cNvPr id="31" name="Shape 27"/>
          <p:cNvSpPr/>
          <p:nvPr/>
        </p:nvSpPr>
        <p:spPr>
          <a:xfrm>
            <a:off x="3749040" y="1984248"/>
            <a:ext cx="73152" cy="73152"/>
          </a:xfrm>
          <a:prstGeom prst="ellipse">
            <a:avLst/>
          </a:prstGeom>
          <a:solidFill>
            <a:srgbClr val="00A86A"/>
          </a:solidFill>
          <a:ln/>
        </p:spPr>
      </p:sp>
      <p:sp>
        <p:nvSpPr>
          <p:cNvPr id="32" name="Shape 28"/>
          <p:cNvSpPr/>
          <p:nvPr/>
        </p:nvSpPr>
        <p:spPr>
          <a:xfrm>
            <a:off x="4041648" y="1956816"/>
            <a:ext cx="73152" cy="73152"/>
          </a:xfrm>
          <a:prstGeom prst="ellipse">
            <a:avLst/>
          </a:prstGeom>
          <a:solidFill>
            <a:srgbClr val="00A86A"/>
          </a:solidFill>
          <a:ln/>
        </p:spPr>
      </p:sp>
      <p:sp>
        <p:nvSpPr>
          <p:cNvPr id="33" name="Shape 29"/>
          <p:cNvSpPr/>
          <p:nvPr/>
        </p:nvSpPr>
        <p:spPr>
          <a:xfrm>
            <a:off x="4370832" y="1481328"/>
            <a:ext cx="73152" cy="73152"/>
          </a:xfrm>
          <a:prstGeom prst="ellipse">
            <a:avLst/>
          </a:prstGeom>
          <a:solidFill>
            <a:srgbClr val="A9B5B0"/>
          </a:solidFill>
          <a:ln/>
        </p:spPr>
      </p:sp>
      <p:sp>
        <p:nvSpPr>
          <p:cNvPr id="34" name="Shape 30"/>
          <p:cNvSpPr/>
          <p:nvPr/>
        </p:nvSpPr>
        <p:spPr>
          <a:xfrm>
            <a:off x="4370832" y="2075688"/>
            <a:ext cx="73152" cy="73152"/>
          </a:xfrm>
          <a:prstGeom prst="ellipse">
            <a:avLst/>
          </a:prstGeom>
          <a:solidFill>
            <a:srgbClr val="A9B5B0"/>
          </a:solidFill>
          <a:ln/>
        </p:spPr>
      </p:sp>
      <p:sp>
        <p:nvSpPr>
          <p:cNvPr id="35" name="Text 31"/>
          <p:cNvSpPr txBox="1"/>
          <p:nvPr/>
        </p:nvSpPr>
        <p:spPr>
          <a:xfrm>
            <a:off x="448056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geo_distance</a:t>
            </a:r>
            <a:endParaRPr lang="en-US" sz="1100" dirty="0"/>
          </a:p>
        </p:txBody>
      </p:sp>
      <p:sp>
        <p:nvSpPr>
          <p:cNvPr id="36" name="Text 32"/>
          <p:cNvSpPr txBox="1"/>
          <p:nvPr/>
        </p:nvSpPr>
        <p:spPr>
          <a:xfrm>
            <a:off x="347472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Which tiles lie within 10 km of this point?</a:t>
            </a:r>
            <a:endParaRPr lang="en-US" sz="1100" dirty="0"/>
          </a:p>
        </p:txBody>
      </p:sp>
      <p:sp>
        <p:nvSpPr>
          <p:cNvPr id="37" name="Text 33"/>
          <p:cNvSpPr txBox="1"/>
          <p:nvPr/>
        </p:nvSpPr>
        <p:spPr>
          <a:xfrm>
            <a:off x="347472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Access around hospitals, schools or markets.</a:t>
            </a:r>
            <a:endParaRPr lang="en-US" sz="1000" dirty="0"/>
          </a:p>
        </p:txBody>
      </p:sp>
      <p:sp>
        <p:nvSpPr>
          <p:cNvPr id="38" name="Shape 34"/>
          <p:cNvSpPr/>
          <p:nvPr/>
        </p:nvSpPr>
        <p:spPr>
          <a:xfrm>
            <a:off x="6126480" y="1261872"/>
            <a:ext cx="2560320" cy="2057400"/>
          </a:xfrm>
          <a:prstGeom prst="roundRect">
            <a:avLst>
              <a:gd name="adj" fmla="val 3556"/>
            </a:avLst>
          </a:prstGeom>
          <a:solidFill>
            <a:srgbClr val="F4F7F5"/>
          </a:solidFill>
          <a:ln w="9525">
            <a:solidFill>
              <a:srgbClr val="D5DED9"/>
            </a:solidFill>
            <a:prstDash val="solid"/>
          </a:ln>
        </p:spPr>
      </p:sp>
      <p:sp>
        <p:nvSpPr>
          <p:cNvPr id="39" name="Shape 35"/>
          <p:cNvSpPr/>
          <p:nvPr/>
        </p:nvSpPr>
        <p:spPr>
          <a:xfrm>
            <a:off x="6309360" y="1389888"/>
            <a:ext cx="256032" cy="237744"/>
          </a:xfrm>
          <a:prstGeom prst="rect">
            <a:avLst/>
          </a:prstGeom>
          <a:solidFill>
            <a:srgbClr val="E8F5EF"/>
          </a:solidFill>
          <a:ln w="6350">
            <a:solidFill>
              <a:srgbClr val="FFFFFF"/>
            </a:solidFill>
            <a:prstDash val="solid"/>
          </a:ln>
        </p:spPr>
      </p:sp>
      <p:sp>
        <p:nvSpPr>
          <p:cNvPr id="40" name="Shape 36"/>
          <p:cNvSpPr/>
          <p:nvPr/>
        </p:nvSpPr>
        <p:spPr>
          <a:xfrm>
            <a:off x="6583680" y="1389888"/>
            <a:ext cx="256032" cy="237744"/>
          </a:xfrm>
          <a:prstGeom prst="rect">
            <a:avLst/>
          </a:prstGeom>
          <a:solidFill>
            <a:srgbClr val="9ED9C0"/>
          </a:solidFill>
          <a:ln w="6350">
            <a:solidFill>
              <a:srgbClr val="FFFFFF"/>
            </a:solidFill>
            <a:prstDash val="solid"/>
          </a:ln>
        </p:spPr>
      </p:sp>
      <p:sp>
        <p:nvSpPr>
          <p:cNvPr id="41" name="Shape 37"/>
          <p:cNvSpPr/>
          <p:nvPr/>
        </p:nvSpPr>
        <p:spPr>
          <a:xfrm>
            <a:off x="6858000" y="1389888"/>
            <a:ext cx="256032" cy="237744"/>
          </a:xfrm>
          <a:prstGeom prst="rect">
            <a:avLst/>
          </a:prstGeom>
          <a:solidFill>
            <a:srgbClr val="57BD92"/>
          </a:solidFill>
          <a:ln w="6350">
            <a:solidFill>
              <a:srgbClr val="FFFFFF"/>
            </a:solidFill>
            <a:prstDash val="solid"/>
          </a:ln>
        </p:spPr>
      </p:sp>
      <p:sp>
        <p:nvSpPr>
          <p:cNvPr id="42" name="Shape 38"/>
          <p:cNvSpPr/>
          <p:nvPr/>
        </p:nvSpPr>
        <p:spPr>
          <a:xfrm>
            <a:off x="6309360" y="1645920"/>
            <a:ext cx="256032" cy="237744"/>
          </a:xfrm>
          <a:prstGeom prst="rect">
            <a:avLst/>
          </a:prstGeom>
          <a:solidFill>
            <a:srgbClr val="9ED9C0"/>
          </a:solidFill>
          <a:ln w="6350">
            <a:solidFill>
              <a:srgbClr val="FFFFFF"/>
            </a:solidFill>
            <a:prstDash val="solid"/>
          </a:ln>
        </p:spPr>
      </p:sp>
      <p:sp>
        <p:nvSpPr>
          <p:cNvPr id="43" name="Shape 39"/>
          <p:cNvSpPr/>
          <p:nvPr/>
        </p:nvSpPr>
        <p:spPr>
          <a:xfrm>
            <a:off x="6583680" y="1645920"/>
            <a:ext cx="256032" cy="237744"/>
          </a:xfrm>
          <a:prstGeom prst="rect">
            <a:avLst/>
          </a:prstGeom>
          <a:solidFill>
            <a:srgbClr val="33AF7C"/>
          </a:solidFill>
          <a:ln w="6350">
            <a:solidFill>
              <a:srgbClr val="FFFFFF"/>
            </a:solidFill>
            <a:prstDash val="solid"/>
          </a:ln>
        </p:spPr>
      </p:sp>
      <p:sp>
        <p:nvSpPr>
          <p:cNvPr id="44" name="Shape 40"/>
          <p:cNvSpPr/>
          <p:nvPr/>
        </p:nvSpPr>
        <p:spPr>
          <a:xfrm>
            <a:off x="6858000" y="1645920"/>
            <a:ext cx="256032" cy="237744"/>
          </a:xfrm>
          <a:prstGeom prst="rect">
            <a:avLst/>
          </a:prstGeom>
          <a:solidFill>
            <a:srgbClr val="008A5B"/>
          </a:solidFill>
          <a:ln w="6350">
            <a:solidFill>
              <a:srgbClr val="FFFFFF"/>
            </a:solidFill>
            <a:prstDash val="solid"/>
          </a:ln>
        </p:spPr>
      </p:sp>
      <p:sp>
        <p:nvSpPr>
          <p:cNvPr id="45" name="Shape 41"/>
          <p:cNvSpPr/>
          <p:nvPr/>
        </p:nvSpPr>
        <p:spPr>
          <a:xfrm>
            <a:off x="6309360" y="1901952"/>
            <a:ext cx="256032" cy="237744"/>
          </a:xfrm>
          <a:prstGeom prst="rect">
            <a:avLst/>
          </a:prstGeom>
          <a:solidFill>
            <a:srgbClr val="E8F5EF"/>
          </a:solidFill>
          <a:ln w="6350">
            <a:solidFill>
              <a:srgbClr val="FFFFFF"/>
            </a:solidFill>
            <a:prstDash val="solid"/>
          </a:ln>
        </p:spPr>
      </p:sp>
      <p:sp>
        <p:nvSpPr>
          <p:cNvPr id="46" name="Shape 42"/>
          <p:cNvSpPr/>
          <p:nvPr/>
        </p:nvSpPr>
        <p:spPr>
          <a:xfrm>
            <a:off x="6583680" y="1901952"/>
            <a:ext cx="256032" cy="237744"/>
          </a:xfrm>
          <a:prstGeom prst="rect">
            <a:avLst/>
          </a:prstGeom>
          <a:solidFill>
            <a:srgbClr val="7BCBA9"/>
          </a:solidFill>
          <a:ln w="6350">
            <a:solidFill>
              <a:srgbClr val="FFFFFF"/>
            </a:solidFill>
            <a:prstDash val="solid"/>
          </a:ln>
        </p:spPr>
      </p:sp>
      <p:sp>
        <p:nvSpPr>
          <p:cNvPr id="47" name="Shape 43"/>
          <p:cNvSpPr/>
          <p:nvPr/>
        </p:nvSpPr>
        <p:spPr>
          <a:xfrm>
            <a:off x="6858000" y="1901952"/>
            <a:ext cx="256032" cy="237744"/>
          </a:xfrm>
          <a:prstGeom prst="rect">
            <a:avLst/>
          </a:prstGeom>
          <a:solidFill>
            <a:srgbClr val="33AF7C"/>
          </a:solidFill>
          <a:ln w="6350">
            <a:solidFill>
              <a:srgbClr val="FFFFFF"/>
            </a:solidFill>
            <a:prstDash val="solid"/>
          </a:ln>
        </p:spPr>
      </p:sp>
      <p:sp>
        <p:nvSpPr>
          <p:cNvPr id="48" name="Text 44"/>
          <p:cNvSpPr txBox="1"/>
          <p:nvPr/>
        </p:nvSpPr>
        <p:spPr>
          <a:xfrm>
            <a:off x="7315200" y="1554480"/>
            <a:ext cx="1325880" cy="457200"/>
          </a:xfrm>
          <a:prstGeom prst="rect">
            <a:avLst/>
          </a:prstGeom>
          <a:noFill/>
          <a:ln/>
        </p:spPr>
        <p:txBody>
          <a:bodyPr wrap="square" lIns="0" tIns="0" rIns="0" bIns="0" rtlCol="0" anchor="ctr"/>
          <a:lstStyle/>
          <a:p>
            <a:pPr marL="0" indent="0">
              <a:buNone/>
            </a:pPr>
            <a:r>
              <a:rPr lang="en-US" sz="1100" b="1" dirty="0">
                <a:solidFill>
                  <a:srgbClr val="00704A"/>
                </a:solidFill>
                <a:latin typeface="Courier New" pitchFamily="34" charset="0"/>
                <a:ea typeface="Courier New" pitchFamily="34" charset="-122"/>
                <a:cs typeface="Courier New" pitchFamily="34" charset="-120"/>
              </a:rPr>
              <a:t>geotile_grid</a:t>
            </a:r>
            <a:endParaRPr lang="en-US" sz="1100" dirty="0"/>
          </a:p>
        </p:txBody>
      </p:sp>
      <p:sp>
        <p:nvSpPr>
          <p:cNvPr id="49" name="Text 45"/>
          <p:cNvSpPr txBox="1"/>
          <p:nvPr/>
        </p:nvSpPr>
        <p:spPr>
          <a:xfrm>
            <a:off x="6309360" y="2304288"/>
            <a:ext cx="2240280" cy="4114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How many tests per map cell?</a:t>
            </a:r>
            <a:endParaRPr lang="en-US" sz="1100" dirty="0"/>
          </a:p>
        </p:txBody>
      </p:sp>
      <p:sp>
        <p:nvSpPr>
          <p:cNvPr id="50" name="Text 46"/>
          <p:cNvSpPr txBox="1"/>
          <p:nvPr/>
        </p:nvSpPr>
        <p:spPr>
          <a:xfrm>
            <a:off x="6309360" y="2724912"/>
            <a:ext cx="2240280" cy="50292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Heatmaps and multi-scale summaries.</a:t>
            </a:r>
            <a:endParaRPr lang="en-US" sz="1000" dirty="0"/>
          </a:p>
        </p:txBody>
      </p:sp>
      <p:sp>
        <p:nvSpPr>
          <p:cNvPr id="51" name="Text 47"/>
          <p:cNvSpPr txBox="1"/>
          <p:nvPr/>
        </p:nvSpPr>
        <p:spPr>
          <a:xfrm>
            <a:off x="457200" y="3456432"/>
            <a:ext cx="8229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REUSE A STORED BOUNDARY INSTEAD OF PASTING COORDINATES</a:t>
            </a:r>
            <a:endParaRPr lang="en-US" sz="900" dirty="0"/>
          </a:p>
        </p:txBody>
      </p:sp>
      <p:sp>
        <p:nvSpPr>
          <p:cNvPr id="52" name="Shape 48"/>
          <p:cNvSpPr/>
          <p:nvPr/>
        </p:nvSpPr>
        <p:spPr>
          <a:xfrm>
            <a:off x="457200" y="3703320"/>
            <a:ext cx="8229600" cy="868680"/>
          </a:xfrm>
          <a:prstGeom prst="roundRect">
            <a:avLst>
              <a:gd name="adj" fmla="val 6316"/>
            </a:avLst>
          </a:prstGeom>
          <a:solidFill>
            <a:srgbClr val="FBFCFB"/>
          </a:solidFill>
          <a:ln w="9525">
            <a:solidFill>
              <a:srgbClr val="D5DED9"/>
            </a:solidFill>
            <a:prstDash val="solid"/>
          </a:ln>
        </p:spPr>
      </p:sp>
      <p:sp>
        <p:nvSpPr>
          <p:cNvPr id="53" name="Text 49"/>
          <p:cNvSpPr txBox="1"/>
          <p:nvPr/>
        </p:nvSpPr>
        <p:spPr>
          <a:xfrm>
            <a:off x="585216" y="3794760"/>
            <a:ext cx="7973568" cy="68580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"query": {"bool": {"filter": {"geo_shape": {"tile": {</a:t>
            </a:r>
            <a:endParaRPr lang="en-US" sz="900" dirty="0"/>
          </a:p>
          <a:p>
            <a:pPr marL="0" indent="0">
              <a:buNone/>
            </a:pPr>
            <a:r>
              <a:rPr lang="en-US" sz="900" dirty="0">
                <a:solidFill>
                  <a:srgbClr val="00704A"/>
                </a:solidFill>
                <a:latin typeface="Courier New" pitchFamily="34" charset="0"/>
                <a:ea typeface="Courier New" pitchFamily="34" charset="-122"/>
                <a:cs typeface="Courier New" pitchFamily="34" charset="-120"/>
              </a:rPr>
              <a:t>  "indexed_shape": {"index": "admin-boundaries", "id": "RW-02", "path": "geometry"},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"relation": "intersects"}}}}}</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QUERYING &amp; AGGREGATING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ES|QL: the same question, written as a pipeline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49A00"/>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6" name="Shape 12"/>
          <p:cNvSpPr/>
          <p:nvPr/>
        </p:nvSpPr>
        <p:spPr>
          <a:xfrm>
            <a:off x="457200" y="1261872"/>
            <a:ext cx="4937760" cy="2194560"/>
          </a:xfrm>
          <a:prstGeom prst="roundRect">
            <a:avLst>
              <a:gd name="adj" fmla="val 2500"/>
            </a:avLst>
          </a:prstGeom>
          <a:solidFill>
            <a:srgbClr val="FBFCFB"/>
          </a:solidFill>
          <a:ln w="9525">
            <a:solidFill>
              <a:srgbClr val="D5DED9"/>
            </a:solidFill>
            <a:prstDash val="solid"/>
          </a:ln>
        </p:spPr>
      </p:sp>
      <p:sp>
        <p:nvSpPr>
          <p:cNvPr id="17" name="Text 13"/>
          <p:cNvSpPr txBox="1"/>
          <p:nvPr/>
        </p:nvSpPr>
        <p:spPr>
          <a:xfrm>
            <a:off x="585216" y="1353312"/>
            <a:ext cx="4681728" cy="2011680"/>
          </a:xfrm>
          <a:prstGeom prst="rect">
            <a:avLst/>
          </a:prstGeom>
          <a:noFill/>
          <a:ln/>
        </p:spPr>
        <p:txBody>
          <a:bodyPr wrap="square" lIns="0" tIns="0" rIns="0" bIns="0" rtlCol="0" anchor="t"/>
          <a:lstStyle/>
          <a:p>
            <a:pPr marL="0" indent="0">
              <a:buNone/>
            </a:pPr>
            <a:r>
              <a:rPr lang="en-US" sz="950" dirty="0">
                <a:solidFill>
                  <a:srgbClr val="00704A"/>
                </a:solidFill>
                <a:latin typeface="Courier New" pitchFamily="34" charset="0"/>
                <a:ea typeface="Courier New" pitchFamily="34" charset="-122"/>
                <a:cs typeface="Courier New" pitchFamily="34" charset="-120"/>
              </a:rPr>
              <a:t>FROM ookla-tiles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WHERE service_type == "mobile"</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AND quarter == "2025-Q2"</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EVAL w = TO_DOUBLE(avg_d_kbps) * tests</a:t>
            </a:r>
            <a:r>
              <a:rPr lang="en-US" sz="950" b="1" dirty="0">
                <a:solidFill>
                  <a:srgbClr val="D49A00"/>
                </a:solidFill>
                <a:latin typeface="Courier New" pitchFamily="34" charset="0"/>
                <a:ea typeface="Courier New" pitchFamily="34" charset="-122"/>
                <a:cs typeface="Courier New" pitchFamily="34" charset="-120"/>
              </a:rPr>
              <a:t>  ◀ use decimals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STATS sum_w = SUM(w),</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n_tests = SUM(tests) BY admin1</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EVAL mean_mbps = ROUND(sum_w / n_tests / 1000, 1)</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SORT mean_mbps DESC</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KEEP admin1, mean_mbps, n_tests</a:t>
            </a:r>
            <a:endParaRPr lang="en-US" sz="950" dirty="0"/>
          </a:p>
        </p:txBody>
      </p:sp>
      <p:sp>
        <p:nvSpPr>
          <p:cNvPr id="18" name="Shape 14"/>
          <p:cNvSpPr/>
          <p:nvPr/>
        </p:nvSpPr>
        <p:spPr>
          <a:xfrm>
            <a:off x="457200" y="3657600"/>
            <a:ext cx="822960" cy="274320"/>
          </a:xfrm>
          <a:prstGeom prst="roundRect">
            <a:avLst>
              <a:gd name="adj" fmla="val 50000"/>
            </a:avLst>
          </a:prstGeom>
          <a:solidFill>
            <a:srgbClr val="00A86A">
              <a:alpha val="15000"/>
            </a:srgbClr>
          </a:solidFill>
          <a:ln w="9525">
            <a:solidFill>
              <a:srgbClr val="00A86A"/>
            </a:solidFill>
            <a:prstDash val="solid"/>
          </a:ln>
        </p:spPr>
      </p:sp>
      <p:sp>
        <p:nvSpPr>
          <p:cNvPr id="19" name="Text 15"/>
          <p:cNvSpPr txBox="1"/>
          <p:nvPr/>
        </p:nvSpPr>
        <p:spPr>
          <a:xfrm>
            <a:off x="45720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FROM</a:t>
            </a:r>
            <a:endParaRPr lang="en-US" sz="950" dirty="0"/>
          </a:p>
        </p:txBody>
      </p:sp>
      <p:sp>
        <p:nvSpPr>
          <p:cNvPr id="20" name="Shape 16"/>
          <p:cNvSpPr/>
          <p:nvPr/>
        </p:nvSpPr>
        <p:spPr>
          <a:xfrm>
            <a:off x="1298448" y="3794760"/>
            <a:ext cx="146304" cy="0"/>
          </a:xfrm>
          <a:prstGeom prst="line">
            <a:avLst/>
          </a:prstGeom>
          <a:noFill/>
          <a:ln w="12700">
            <a:solidFill>
              <a:srgbClr val="5E6964"/>
            </a:solidFill>
            <a:prstDash val="solid"/>
            <a:tailEnd type="triangle"/>
          </a:ln>
        </p:spPr>
      </p:sp>
      <p:sp>
        <p:nvSpPr>
          <p:cNvPr id="21" name="Shape 17"/>
          <p:cNvSpPr/>
          <p:nvPr/>
        </p:nvSpPr>
        <p:spPr>
          <a:xfrm>
            <a:off x="1463040" y="3657600"/>
            <a:ext cx="822960" cy="274320"/>
          </a:xfrm>
          <a:prstGeom prst="roundRect">
            <a:avLst>
              <a:gd name="adj" fmla="val 50000"/>
            </a:avLst>
          </a:prstGeom>
          <a:solidFill>
            <a:srgbClr val="00704A">
              <a:alpha val="15000"/>
            </a:srgbClr>
          </a:solidFill>
          <a:ln w="9525">
            <a:solidFill>
              <a:srgbClr val="00704A"/>
            </a:solidFill>
            <a:prstDash val="solid"/>
          </a:ln>
        </p:spPr>
      </p:sp>
      <p:sp>
        <p:nvSpPr>
          <p:cNvPr id="22" name="Text 18"/>
          <p:cNvSpPr txBox="1"/>
          <p:nvPr/>
        </p:nvSpPr>
        <p:spPr>
          <a:xfrm>
            <a:off x="146304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WHERE</a:t>
            </a:r>
            <a:endParaRPr lang="en-US" sz="950" dirty="0"/>
          </a:p>
        </p:txBody>
      </p:sp>
      <p:sp>
        <p:nvSpPr>
          <p:cNvPr id="23" name="Shape 19"/>
          <p:cNvSpPr/>
          <p:nvPr/>
        </p:nvSpPr>
        <p:spPr>
          <a:xfrm>
            <a:off x="2304288" y="3794760"/>
            <a:ext cx="146304" cy="0"/>
          </a:xfrm>
          <a:prstGeom prst="line">
            <a:avLst/>
          </a:prstGeom>
          <a:noFill/>
          <a:ln w="12700">
            <a:solidFill>
              <a:srgbClr val="5E6964"/>
            </a:solidFill>
            <a:prstDash val="solid"/>
            <a:tailEnd type="triangle"/>
          </a:ln>
        </p:spPr>
      </p:sp>
      <p:sp>
        <p:nvSpPr>
          <p:cNvPr id="24" name="Shape 20"/>
          <p:cNvSpPr/>
          <p:nvPr/>
        </p:nvSpPr>
        <p:spPr>
          <a:xfrm>
            <a:off x="2468880" y="3657600"/>
            <a:ext cx="822960" cy="274320"/>
          </a:xfrm>
          <a:prstGeom prst="roundRect">
            <a:avLst>
              <a:gd name="adj" fmla="val 50000"/>
            </a:avLst>
          </a:prstGeom>
          <a:solidFill>
            <a:srgbClr val="0E7C86">
              <a:alpha val="15000"/>
            </a:srgbClr>
          </a:solidFill>
          <a:ln w="9525">
            <a:solidFill>
              <a:srgbClr val="0E7C86"/>
            </a:solidFill>
            <a:prstDash val="solid"/>
          </a:ln>
        </p:spPr>
      </p:sp>
      <p:sp>
        <p:nvSpPr>
          <p:cNvPr id="25" name="Text 21"/>
          <p:cNvSpPr txBox="1"/>
          <p:nvPr/>
        </p:nvSpPr>
        <p:spPr>
          <a:xfrm>
            <a:off x="246888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EVAL</a:t>
            </a:r>
            <a:endParaRPr lang="en-US" sz="950" dirty="0"/>
          </a:p>
        </p:txBody>
      </p:sp>
      <p:sp>
        <p:nvSpPr>
          <p:cNvPr id="26" name="Shape 22"/>
          <p:cNvSpPr/>
          <p:nvPr/>
        </p:nvSpPr>
        <p:spPr>
          <a:xfrm>
            <a:off x="3310128" y="3794760"/>
            <a:ext cx="146304" cy="0"/>
          </a:xfrm>
          <a:prstGeom prst="line">
            <a:avLst/>
          </a:prstGeom>
          <a:noFill/>
          <a:ln w="12700">
            <a:solidFill>
              <a:srgbClr val="5E6964"/>
            </a:solidFill>
            <a:prstDash val="solid"/>
            <a:tailEnd type="triangle"/>
          </a:ln>
        </p:spPr>
      </p:sp>
      <p:sp>
        <p:nvSpPr>
          <p:cNvPr id="27" name="Shape 23"/>
          <p:cNvSpPr/>
          <p:nvPr/>
        </p:nvSpPr>
        <p:spPr>
          <a:xfrm>
            <a:off x="3474720" y="3657600"/>
            <a:ext cx="822960" cy="274320"/>
          </a:xfrm>
          <a:prstGeom prst="roundRect">
            <a:avLst>
              <a:gd name="adj" fmla="val 50000"/>
            </a:avLst>
          </a:prstGeom>
          <a:solidFill>
            <a:srgbClr val="D49A00">
              <a:alpha val="15000"/>
            </a:srgbClr>
          </a:solidFill>
          <a:ln w="9525">
            <a:solidFill>
              <a:srgbClr val="D49A00"/>
            </a:solidFill>
            <a:prstDash val="solid"/>
          </a:ln>
        </p:spPr>
      </p:sp>
      <p:sp>
        <p:nvSpPr>
          <p:cNvPr id="28" name="Text 24"/>
          <p:cNvSpPr txBox="1"/>
          <p:nvPr/>
        </p:nvSpPr>
        <p:spPr>
          <a:xfrm>
            <a:off x="347472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STATS</a:t>
            </a:r>
            <a:endParaRPr lang="en-US" sz="950" dirty="0"/>
          </a:p>
        </p:txBody>
      </p:sp>
      <p:sp>
        <p:nvSpPr>
          <p:cNvPr id="29" name="Shape 25"/>
          <p:cNvSpPr/>
          <p:nvPr/>
        </p:nvSpPr>
        <p:spPr>
          <a:xfrm>
            <a:off x="4315968" y="3794760"/>
            <a:ext cx="146304" cy="0"/>
          </a:xfrm>
          <a:prstGeom prst="line">
            <a:avLst/>
          </a:prstGeom>
          <a:noFill/>
          <a:ln w="12700">
            <a:solidFill>
              <a:srgbClr val="5E6964"/>
            </a:solidFill>
            <a:prstDash val="solid"/>
            <a:tailEnd type="triangle"/>
          </a:ln>
        </p:spPr>
      </p:sp>
      <p:sp>
        <p:nvSpPr>
          <p:cNvPr id="30" name="Shape 26"/>
          <p:cNvSpPr/>
          <p:nvPr/>
        </p:nvSpPr>
        <p:spPr>
          <a:xfrm>
            <a:off x="4480560" y="3657600"/>
            <a:ext cx="822960" cy="274320"/>
          </a:xfrm>
          <a:prstGeom prst="roundRect">
            <a:avLst>
              <a:gd name="adj" fmla="val 50000"/>
            </a:avLst>
          </a:prstGeom>
          <a:solidFill>
            <a:srgbClr val="C4621D">
              <a:alpha val="15000"/>
            </a:srgbClr>
          </a:solidFill>
          <a:ln w="9525">
            <a:solidFill>
              <a:srgbClr val="C4621D"/>
            </a:solidFill>
            <a:prstDash val="solid"/>
          </a:ln>
        </p:spPr>
      </p:sp>
      <p:sp>
        <p:nvSpPr>
          <p:cNvPr id="31" name="Text 27"/>
          <p:cNvSpPr txBox="1"/>
          <p:nvPr/>
        </p:nvSpPr>
        <p:spPr>
          <a:xfrm>
            <a:off x="4480560" y="3657600"/>
            <a:ext cx="822960" cy="274320"/>
          </a:xfrm>
          <a:prstGeom prst="rect">
            <a:avLst/>
          </a:prstGeom>
          <a:noFill/>
          <a:ln/>
        </p:spPr>
        <p:txBody>
          <a:bodyPr wrap="square" lIns="0" tIns="0" rIns="0" bIns="0" rtlCol="0" anchor="ctr"/>
          <a:lstStyle/>
          <a:p>
            <a:pPr marL="0" indent="0" algn="ctr">
              <a:buNone/>
            </a:pPr>
            <a:r>
              <a:rPr lang="en-US" sz="950" b="1" dirty="0">
                <a:solidFill>
                  <a:srgbClr val="231F20"/>
                </a:solidFill>
                <a:latin typeface="Courier New" pitchFamily="34" charset="0"/>
                <a:ea typeface="Courier New" pitchFamily="34" charset="-122"/>
                <a:cs typeface="Courier New" pitchFamily="34" charset="-120"/>
              </a:rPr>
              <a:t>SORT</a:t>
            </a:r>
            <a:endParaRPr lang="en-US" sz="950" dirty="0"/>
          </a:p>
        </p:txBody>
      </p:sp>
      <p:sp>
        <p:nvSpPr>
          <p:cNvPr id="32" name="Text 28"/>
          <p:cNvSpPr txBox="1"/>
          <p:nvPr/>
        </p:nvSpPr>
        <p:spPr>
          <a:xfrm>
            <a:off x="457200" y="4069080"/>
            <a:ext cx="4937760" cy="4572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Each step receives the table produced by the previous one — like a pipe in R or a chain in pandas.</a:t>
            </a:r>
            <a:endParaRPr lang="en-US" sz="1050" dirty="0"/>
          </a:p>
        </p:txBody>
      </p:sp>
      <p:sp>
        <p:nvSpPr>
          <p:cNvPr id="33" name="Shape 29"/>
          <p:cNvSpPr/>
          <p:nvPr/>
        </p:nvSpPr>
        <p:spPr>
          <a:xfrm>
            <a:off x="5669280" y="1261872"/>
            <a:ext cx="3017520" cy="1508760"/>
          </a:xfrm>
          <a:prstGeom prst="roundRect">
            <a:avLst>
              <a:gd name="adj" fmla="val 4848"/>
            </a:avLst>
          </a:prstGeom>
          <a:solidFill>
            <a:srgbClr val="F4F7F5"/>
          </a:solidFill>
          <a:ln w="9525">
            <a:solidFill>
              <a:srgbClr val="D5DED9"/>
            </a:solidFill>
            <a:prstDash val="solid"/>
          </a:ln>
        </p:spPr>
      </p:sp>
      <p:sp>
        <p:nvSpPr>
          <p:cNvPr id="34" name="Text 30"/>
          <p:cNvSpPr txBox="1"/>
          <p:nvPr/>
        </p:nvSpPr>
        <p:spPr>
          <a:xfrm>
            <a:off x="5815584" y="1371600"/>
            <a:ext cx="27432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Query DSL</a:t>
            </a:r>
            <a:r>
              <a:rPr lang="en-US" sz="1000" i="1" dirty="0">
                <a:solidFill>
                  <a:srgbClr val="5E6964"/>
                </a:solidFill>
                <a:latin typeface="Calibri" pitchFamily="34" charset="0"/>
                <a:ea typeface="Calibri" pitchFamily="34" charset="-122"/>
                <a:cs typeface="Calibri" pitchFamily="34" charset="-120"/>
              </a:rPr>
              <a:t>  ·  JSON</a:t>
            </a:r>
            <a:endParaRPr lang="en-US" sz="1400" dirty="0"/>
          </a:p>
        </p:txBody>
      </p:sp>
      <p:sp>
        <p:nvSpPr>
          <p:cNvPr id="35" name="Text 31"/>
          <p:cNvSpPr txBox="1"/>
          <p:nvPr/>
        </p:nvSpPr>
        <p:spPr>
          <a:xfrm>
            <a:off x="5815584" y="1737360"/>
            <a:ext cx="2743200"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Every Elasticsearch feature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Best for applications and dashboards</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Verbose, but precise</a:t>
            </a:r>
            <a:endParaRPr lang="en-US" sz="1050" dirty="0"/>
          </a:p>
        </p:txBody>
      </p:sp>
      <p:sp>
        <p:nvSpPr>
          <p:cNvPr id="36" name="Shape 32"/>
          <p:cNvSpPr/>
          <p:nvPr/>
        </p:nvSpPr>
        <p:spPr>
          <a:xfrm>
            <a:off x="5669280" y="2935224"/>
            <a:ext cx="3017520" cy="1508760"/>
          </a:xfrm>
          <a:prstGeom prst="roundRect">
            <a:avLst>
              <a:gd name="adj" fmla="val 4848"/>
            </a:avLst>
          </a:prstGeom>
          <a:solidFill>
            <a:srgbClr val="E8F5EF"/>
          </a:solidFill>
          <a:ln w="15875">
            <a:solidFill>
              <a:srgbClr val="00A86A"/>
            </a:solidFill>
            <a:prstDash val="solid"/>
          </a:ln>
        </p:spPr>
      </p:sp>
      <p:sp>
        <p:nvSpPr>
          <p:cNvPr id="37" name="Text 33"/>
          <p:cNvSpPr txBox="1"/>
          <p:nvPr/>
        </p:nvSpPr>
        <p:spPr>
          <a:xfrm>
            <a:off x="5815584" y="3044952"/>
            <a:ext cx="274320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ES|QL</a:t>
            </a:r>
            <a:r>
              <a:rPr lang="en-US" sz="1000" i="1" dirty="0">
                <a:solidFill>
                  <a:srgbClr val="5E6964"/>
                </a:solidFill>
                <a:latin typeface="Calibri" pitchFamily="34" charset="0"/>
                <a:ea typeface="Calibri" pitchFamily="34" charset="-122"/>
                <a:cs typeface="Calibri" pitchFamily="34" charset="-120"/>
              </a:rPr>
              <a:t>  ·  piped text</a:t>
            </a:r>
            <a:endParaRPr lang="en-US" sz="1400" dirty="0"/>
          </a:p>
        </p:txBody>
      </p:sp>
      <p:sp>
        <p:nvSpPr>
          <p:cNvPr id="38" name="Text 34"/>
          <p:cNvSpPr txBox="1"/>
          <p:nvPr/>
        </p:nvSpPr>
        <p:spPr>
          <a:xfrm>
            <a:off x="5815584" y="3410712"/>
            <a:ext cx="2743200"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Reads like a recipe</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Ideal for exploration in Discover</a:t>
            </a:r>
            <a:endParaRPr lang="en-US" sz="1050" dirty="0"/>
          </a:p>
          <a:p>
            <a:pPr marL="342900" indent="-342900">
              <a:spcAft>
                <a:spcPts val="400"/>
              </a:spcAft>
              <a:buSzPct val="100000"/>
              <a:buChar char="•"/>
            </a:pPr>
            <a:r>
              <a:rPr lang="en-US" sz="1050" dirty="0">
                <a:solidFill>
                  <a:srgbClr val="231F20"/>
                </a:solidFill>
                <a:latin typeface="Calibri" pitchFamily="34" charset="0"/>
                <a:ea typeface="Calibri" pitchFamily="34" charset="-122"/>
                <a:cs typeface="Calibri" pitchFamily="34" charset="-120"/>
              </a:rPr>
              <a:t>GA since 8.14 (June 2024)</a:t>
            </a:r>
            <a:endParaRPr lang="en-US" sz="1050" dirty="0"/>
          </a:p>
        </p:txBody>
      </p:sp>
      <p:sp>
        <p:nvSpPr>
          <p:cNvPr id="39" name="Text 35"/>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Elastic, "Elastic 8.14: Announcing the GA of ES|QL" (June 2024).</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Exploring with Kibana</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How do colleagues who do not code get answers from the cluster?</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5C242"/>
          </a:solidFill>
          <a:ln/>
        </p:spPr>
      </p:sp>
      <p:sp>
        <p:nvSpPr>
          <p:cNvPr id="13" name="Shape 10"/>
          <p:cNvSpPr/>
          <p:nvPr/>
        </p:nvSpPr>
        <p:spPr>
          <a:xfrm>
            <a:off x="1755648" y="4224528"/>
            <a:ext cx="118872" cy="118872"/>
          </a:xfrm>
          <a:prstGeom prst="ellipse">
            <a:avLst/>
          </a:prstGeom>
          <a:solidFill>
            <a:srgbClr val="FFFFFF">
              <a:alpha val="40000"/>
            </a:srgbClr>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Kibana: five tools you will use in the lab</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6" name="Shape 12"/>
          <p:cNvSpPr/>
          <p:nvPr/>
        </p:nvSpPr>
        <p:spPr>
          <a:xfrm>
            <a:off x="457200" y="1261872"/>
            <a:ext cx="1517904" cy="2468880"/>
          </a:xfrm>
          <a:prstGeom prst="roundRect">
            <a:avLst>
              <a:gd name="adj" fmla="val 4819"/>
            </a:avLst>
          </a:prstGeom>
          <a:solidFill>
            <a:srgbClr val="F4F7F5"/>
          </a:solidFill>
          <a:ln w="9525">
            <a:solidFill>
              <a:srgbClr val="D5DED9"/>
            </a:solidFill>
            <a:prstDash val="solid"/>
          </a:ln>
        </p:spPr>
      </p:sp>
      <p:sp>
        <p:nvSpPr>
          <p:cNvPr id="17" name="Shape 13"/>
          <p:cNvSpPr/>
          <p:nvPr/>
        </p:nvSpPr>
        <p:spPr>
          <a:xfrm>
            <a:off x="960120" y="1389888"/>
            <a:ext cx="512064" cy="512064"/>
          </a:xfrm>
          <a:prstGeom prst="ellipse">
            <a:avLst/>
          </a:prstGeom>
          <a:solidFill>
            <a:srgbClr val="C4621D">
              <a:alpha val="22000"/>
            </a:srgbClr>
          </a:solidFill>
          <a:ln/>
        </p:spPr>
      </p:sp>
      <p:pic>
        <p:nvPicPr>
          <p:cNvPr id="18" name="Image 1" descr="preencoded.png"/>
          <p:cNvPicPr>
            <a:picLocks noChangeAspect="1"/>
          </p:cNvPicPr>
          <p:nvPr/>
        </p:nvPicPr>
        <p:blipFill>
          <a:blip r:embed="rId4"/>
          <a:stretch>
            <a:fillRect/>
          </a:stretch>
        </p:blipFill>
        <p:spPr>
          <a:xfrm>
            <a:off x="1093257" y="1523025"/>
            <a:ext cx="245791" cy="245791"/>
          </a:xfrm>
          <a:prstGeom prst="rect">
            <a:avLst/>
          </a:prstGeom>
        </p:spPr>
      </p:pic>
      <p:sp>
        <p:nvSpPr>
          <p:cNvPr id="19" name="Text 14"/>
          <p:cNvSpPr txBox="1"/>
          <p:nvPr/>
        </p:nvSpPr>
        <p:spPr>
          <a:xfrm>
            <a:off x="548640"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Dev Tools</a:t>
            </a:r>
            <a:endParaRPr lang="en-US" sz="1300" dirty="0"/>
          </a:p>
        </p:txBody>
      </p:sp>
      <p:sp>
        <p:nvSpPr>
          <p:cNvPr id="20" name="Text 15"/>
          <p:cNvSpPr txBox="1"/>
          <p:nvPr/>
        </p:nvSpPr>
        <p:spPr>
          <a:xfrm>
            <a:off x="585216"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Console to run Query DSL and ES|QL requests.</a:t>
            </a:r>
            <a:endParaRPr lang="en-US" sz="950" dirty="0"/>
          </a:p>
        </p:txBody>
      </p:sp>
      <p:sp>
        <p:nvSpPr>
          <p:cNvPr id="21" name="Shape 16"/>
          <p:cNvSpPr/>
          <p:nvPr/>
        </p:nvSpPr>
        <p:spPr>
          <a:xfrm>
            <a:off x="585216" y="2944368"/>
            <a:ext cx="1261872" cy="0"/>
          </a:xfrm>
          <a:prstGeom prst="line">
            <a:avLst/>
          </a:prstGeom>
          <a:noFill/>
          <a:ln w="9525">
            <a:solidFill>
              <a:srgbClr val="D5DED9"/>
            </a:solidFill>
            <a:prstDash val="solid"/>
          </a:ln>
        </p:spPr>
      </p:sp>
      <p:sp>
        <p:nvSpPr>
          <p:cNvPr id="22" name="Text 17"/>
          <p:cNvSpPr txBox="1"/>
          <p:nvPr/>
        </p:nvSpPr>
        <p:spPr>
          <a:xfrm>
            <a:off x="585216"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1: mapping, indexing checks, first queries</a:t>
            </a:r>
            <a:endParaRPr lang="en-US" sz="900" dirty="0"/>
          </a:p>
        </p:txBody>
      </p:sp>
      <p:sp>
        <p:nvSpPr>
          <p:cNvPr id="23" name="Shape 18"/>
          <p:cNvSpPr/>
          <p:nvPr/>
        </p:nvSpPr>
        <p:spPr>
          <a:xfrm>
            <a:off x="2121408" y="1261872"/>
            <a:ext cx="1517904" cy="2468880"/>
          </a:xfrm>
          <a:prstGeom prst="roundRect">
            <a:avLst>
              <a:gd name="adj" fmla="val 4819"/>
            </a:avLst>
          </a:prstGeom>
          <a:solidFill>
            <a:srgbClr val="F4F7F5"/>
          </a:solidFill>
          <a:ln w="9525">
            <a:solidFill>
              <a:srgbClr val="D5DED9"/>
            </a:solidFill>
            <a:prstDash val="solid"/>
          </a:ln>
        </p:spPr>
      </p:sp>
      <p:sp>
        <p:nvSpPr>
          <p:cNvPr id="24" name="Shape 19"/>
          <p:cNvSpPr/>
          <p:nvPr/>
        </p:nvSpPr>
        <p:spPr>
          <a:xfrm>
            <a:off x="2624328" y="1389888"/>
            <a:ext cx="512064" cy="512064"/>
          </a:xfrm>
          <a:prstGeom prst="ellipse">
            <a:avLst/>
          </a:prstGeom>
          <a:solidFill>
            <a:srgbClr val="C4621D">
              <a:alpha val="22000"/>
            </a:srgbClr>
          </a:solidFill>
          <a:ln/>
        </p:spPr>
      </p:sp>
      <p:pic>
        <p:nvPicPr>
          <p:cNvPr id="25" name="Image 2" descr="preencoded.png"/>
          <p:cNvPicPr>
            <a:picLocks noChangeAspect="1"/>
          </p:cNvPicPr>
          <p:nvPr/>
        </p:nvPicPr>
        <p:blipFill>
          <a:blip r:embed="rId5"/>
          <a:stretch>
            <a:fillRect/>
          </a:stretch>
        </p:blipFill>
        <p:spPr>
          <a:xfrm>
            <a:off x="2757465" y="1523025"/>
            <a:ext cx="245791" cy="245791"/>
          </a:xfrm>
          <a:prstGeom prst="rect">
            <a:avLst/>
          </a:prstGeom>
        </p:spPr>
      </p:pic>
      <p:sp>
        <p:nvSpPr>
          <p:cNvPr id="26" name="Text 20"/>
          <p:cNvSpPr txBox="1"/>
          <p:nvPr/>
        </p:nvSpPr>
        <p:spPr>
          <a:xfrm>
            <a:off x="2212848"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Discover</a:t>
            </a:r>
            <a:endParaRPr lang="en-US" sz="1300" dirty="0"/>
          </a:p>
        </p:txBody>
      </p:sp>
      <p:sp>
        <p:nvSpPr>
          <p:cNvPr id="27" name="Text 21"/>
          <p:cNvSpPr txBox="1"/>
          <p:nvPr/>
        </p:nvSpPr>
        <p:spPr>
          <a:xfrm>
            <a:off x="2249424"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Browse and filter documents; inspect fields.</a:t>
            </a:r>
            <a:endParaRPr lang="en-US" sz="950" dirty="0"/>
          </a:p>
        </p:txBody>
      </p:sp>
      <p:sp>
        <p:nvSpPr>
          <p:cNvPr id="28" name="Shape 22"/>
          <p:cNvSpPr/>
          <p:nvPr/>
        </p:nvSpPr>
        <p:spPr>
          <a:xfrm>
            <a:off x="2249424" y="2944368"/>
            <a:ext cx="1261872" cy="0"/>
          </a:xfrm>
          <a:prstGeom prst="line">
            <a:avLst/>
          </a:prstGeom>
          <a:noFill/>
          <a:ln w="9525">
            <a:solidFill>
              <a:srgbClr val="D5DED9"/>
            </a:solidFill>
            <a:prstDash val="solid"/>
          </a:ln>
        </p:spPr>
      </p:sp>
      <p:sp>
        <p:nvSpPr>
          <p:cNvPr id="29" name="Text 23"/>
          <p:cNvSpPr txBox="1"/>
          <p:nvPr/>
        </p:nvSpPr>
        <p:spPr>
          <a:xfrm>
            <a:off x="2249424"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sanity checks, KQL filters</a:t>
            </a:r>
            <a:endParaRPr lang="en-US" sz="900" dirty="0"/>
          </a:p>
        </p:txBody>
      </p:sp>
      <p:sp>
        <p:nvSpPr>
          <p:cNvPr id="30" name="Shape 24"/>
          <p:cNvSpPr/>
          <p:nvPr/>
        </p:nvSpPr>
        <p:spPr>
          <a:xfrm>
            <a:off x="3785616" y="1261872"/>
            <a:ext cx="1517904" cy="2468880"/>
          </a:xfrm>
          <a:prstGeom prst="roundRect">
            <a:avLst>
              <a:gd name="adj" fmla="val 4819"/>
            </a:avLst>
          </a:prstGeom>
          <a:solidFill>
            <a:srgbClr val="F4F7F5"/>
          </a:solidFill>
          <a:ln w="9525">
            <a:solidFill>
              <a:srgbClr val="D5DED9"/>
            </a:solidFill>
            <a:prstDash val="solid"/>
          </a:ln>
        </p:spPr>
      </p:sp>
      <p:sp>
        <p:nvSpPr>
          <p:cNvPr id="31" name="Shape 25"/>
          <p:cNvSpPr/>
          <p:nvPr/>
        </p:nvSpPr>
        <p:spPr>
          <a:xfrm>
            <a:off x="4288536" y="1389888"/>
            <a:ext cx="512064" cy="512064"/>
          </a:xfrm>
          <a:prstGeom prst="ellipse">
            <a:avLst/>
          </a:prstGeom>
          <a:solidFill>
            <a:srgbClr val="C4621D">
              <a:alpha val="22000"/>
            </a:srgbClr>
          </a:solidFill>
          <a:ln/>
        </p:spPr>
      </p:sp>
      <p:pic>
        <p:nvPicPr>
          <p:cNvPr id="32" name="Image 3" descr="preencoded.png"/>
          <p:cNvPicPr>
            <a:picLocks noChangeAspect="1"/>
          </p:cNvPicPr>
          <p:nvPr/>
        </p:nvPicPr>
        <p:blipFill>
          <a:blip r:embed="rId6"/>
          <a:stretch>
            <a:fillRect/>
          </a:stretch>
        </p:blipFill>
        <p:spPr>
          <a:xfrm>
            <a:off x="4421673" y="1523025"/>
            <a:ext cx="245791" cy="245791"/>
          </a:xfrm>
          <a:prstGeom prst="rect">
            <a:avLst/>
          </a:prstGeom>
        </p:spPr>
      </p:pic>
      <p:sp>
        <p:nvSpPr>
          <p:cNvPr id="33" name="Text 26"/>
          <p:cNvSpPr txBox="1"/>
          <p:nvPr/>
        </p:nvSpPr>
        <p:spPr>
          <a:xfrm>
            <a:off x="3877056"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Lens</a:t>
            </a:r>
            <a:endParaRPr lang="en-US" sz="1300" dirty="0"/>
          </a:p>
        </p:txBody>
      </p:sp>
      <p:sp>
        <p:nvSpPr>
          <p:cNvPr id="34" name="Text 27"/>
          <p:cNvSpPr txBox="1"/>
          <p:nvPr/>
        </p:nvSpPr>
        <p:spPr>
          <a:xfrm>
            <a:off x="3913632"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Drag-and-drop charts: bars, lines, tables.</a:t>
            </a:r>
            <a:endParaRPr lang="en-US" sz="950" dirty="0"/>
          </a:p>
        </p:txBody>
      </p:sp>
      <p:sp>
        <p:nvSpPr>
          <p:cNvPr id="35" name="Shape 28"/>
          <p:cNvSpPr/>
          <p:nvPr/>
        </p:nvSpPr>
        <p:spPr>
          <a:xfrm>
            <a:off x="3913632" y="2944368"/>
            <a:ext cx="1261872" cy="0"/>
          </a:xfrm>
          <a:prstGeom prst="line">
            <a:avLst/>
          </a:prstGeom>
          <a:noFill/>
          <a:ln w="9525">
            <a:solidFill>
              <a:srgbClr val="D5DED9"/>
            </a:solidFill>
            <a:prstDash val="solid"/>
          </a:ln>
        </p:spPr>
      </p:sp>
      <p:sp>
        <p:nvSpPr>
          <p:cNvPr id="36" name="Text 29"/>
          <p:cNvSpPr txBox="1"/>
          <p:nvPr/>
        </p:nvSpPr>
        <p:spPr>
          <a:xfrm>
            <a:off x="3913632"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speed by quarter, fixed vs mobile</a:t>
            </a:r>
            <a:endParaRPr lang="en-US" sz="900" dirty="0"/>
          </a:p>
        </p:txBody>
      </p:sp>
      <p:sp>
        <p:nvSpPr>
          <p:cNvPr id="37" name="Shape 30"/>
          <p:cNvSpPr/>
          <p:nvPr/>
        </p:nvSpPr>
        <p:spPr>
          <a:xfrm>
            <a:off x="5449824" y="1261872"/>
            <a:ext cx="1517904" cy="2468880"/>
          </a:xfrm>
          <a:prstGeom prst="roundRect">
            <a:avLst>
              <a:gd name="adj" fmla="val 4819"/>
            </a:avLst>
          </a:prstGeom>
          <a:solidFill>
            <a:srgbClr val="F4F7F5"/>
          </a:solidFill>
          <a:ln w="9525">
            <a:solidFill>
              <a:srgbClr val="D5DED9"/>
            </a:solidFill>
            <a:prstDash val="solid"/>
          </a:ln>
        </p:spPr>
      </p:sp>
      <p:sp>
        <p:nvSpPr>
          <p:cNvPr id="38" name="Shape 31"/>
          <p:cNvSpPr/>
          <p:nvPr/>
        </p:nvSpPr>
        <p:spPr>
          <a:xfrm>
            <a:off x="5952744" y="1389888"/>
            <a:ext cx="512064" cy="512064"/>
          </a:xfrm>
          <a:prstGeom prst="ellipse">
            <a:avLst/>
          </a:prstGeom>
          <a:solidFill>
            <a:srgbClr val="C4621D">
              <a:alpha val="22000"/>
            </a:srgbClr>
          </a:solidFill>
          <a:ln/>
        </p:spPr>
      </p:sp>
      <p:pic>
        <p:nvPicPr>
          <p:cNvPr id="39" name="Image 4" descr="preencoded.png"/>
          <p:cNvPicPr>
            <a:picLocks noChangeAspect="1"/>
          </p:cNvPicPr>
          <p:nvPr/>
        </p:nvPicPr>
        <p:blipFill>
          <a:blip r:embed="rId7"/>
          <a:stretch>
            <a:fillRect/>
          </a:stretch>
        </p:blipFill>
        <p:spPr>
          <a:xfrm>
            <a:off x="6085881" y="1523025"/>
            <a:ext cx="245791" cy="245791"/>
          </a:xfrm>
          <a:prstGeom prst="rect">
            <a:avLst/>
          </a:prstGeom>
        </p:spPr>
      </p:pic>
      <p:sp>
        <p:nvSpPr>
          <p:cNvPr id="40" name="Text 32"/>
          <p:cNvSpPr txBox="1"/>
          <p:nvPr/>
        </p:nvSpPr>
        <p:spPr>
          <a:xfrm>
            <a:off x="5541264"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Maps</a:t>
            </a:r>
            <a:endParaRPr lang="en-US" sz="1300" dirty="0"/>
          </a:p>
        </p:txBody>
      </p:sp>
      <p:sp>
        <p:nvSpPr>
          <p:cNvPr id="41" name="Text 33"/>
          <p:cNvSpPr txBox="1"/>
          <p:nvPr/>
        </p:nvSpPr>
        <p:spPr>
          <a:xfrm>
            <a:off x="5577840"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Tile polygons, points and choropleths.</a:t>
            </a:r>
            <a:endParaRPr lang="en-US" sz="950" dirty="0"/>
          </a:p>
        </p:txBody>
      </p:sp>
      <p:sp>
        <p:nvSpPr>
          <p:cNvPr id="42" name="Shape 34"/>
          <p:cNvSpPr/>
          <p:nvPr/>
        </p:nvSpPr>
        <p:spPr>
          <a:xfrm>
            <a:off x="5577840" y="2944368"/>
            <a:ext cx="1261872" cy="0"/>
          </a:xfrm>
          <a:prstGeom prst="line">
            <a:avLst/>
          </a:prstGeom>
          <a:noFill/>
          <a:ln w="9525">
            <a:solidFill>
              <a:srgbClr val="D5DED9"/>
            </a:solidFill>
            <a:prstDash val="solid"/>
          </a:ln>
        </p:spPr>
      </p:sp>
      <p:sp>
        <p:nvSpPr>
          <p:cNvPr id="43" name="Text 35"/>
          <p:cNvSpPr txBox="1"/>
          <p:nvPr/>
        </p:nvSpPr>
        <p:spPr>
          <a:xfrm>
            <a:off x="5577840"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region map, tile zoom-in</a:t>
            </a:r>
            <a:endParaRPr lang="en-US" sz="900" dirty="0"/>
          </a:p>
        </p:txBody>
      </p:sp>
      <p:sp>
        <p:nvSpPr>
          <p:cNvPr id="44" name="Shape 36"/>
          <p:cNvSpPr/>
          <p:nvPr/>
        </p:nvSpPr>
        <p:spPr>
          <a:xfrm>
            <a:off x="7114032" y="1261872"/>
            <a:ext cx="1517904" cy="2468880"/>
          </a:xfrm>
          <a:prstGeom prst="roundRect">
            <a:avLst>
              <a:gd name="adj" fmla="val 4819"/>
            </a:avLst>
          </a:prstGeom>
          <a:solidFill>
            <a:srgbClr val="E8F5EF"/>
          </a:solidFill>
          <a:ln w="15875">
            <a:solidFill>
              <a:srgbClr val="C4621D"/>
            </a:solidFill>
            <a:prstDash val="solid"/>
          </a:ln>
        </p:spPr>
      </p:sp>
      <p:sp>
        <p:nvSpPr>
          <p:cNvPr id="45" name="Shape 37"/>
          <p:cNvSpPr/>
          <p:nvPr/>
        </p:nvSpPr>
        <p:spPr>
          <a:xfrm>
            <a:off x="7616952" y="1389888"/>
            <a:ext cx="512064" cy="512064"/>
          </a:xfrm>
          <a:prstGeom prst="ellipse">
            <a:avLst/>
          </a:prstGeom>
          <a:solidFill>
            <a:srgbClr val="C4621D">
              <a:alpha val="22000"/>
            </a:srgbClr>
          </a:solidFill>
          <a:ln/>
        </p:spPr>
      </p:sp>
      <p:pic>
        <p:nvPicPr>
          <p:cNvPr id="46" name="Image 5" descr="preencoded.png"/>
          <p:cNvPicPr>
            <a:picLocks noChangeAspect="1"/>
          </p:cNvPicPr>
          <p:nvPr/>
        </p:nvPicPr>
        <p:blipFill>
          <a:blip r:embed="rId8"/>
          <a:stretch>
            <a:fillRect/>
          </a:stretch>
        </p:blipFill>
        <p:spPr>
          <a:xfrm>
            <a:off x="7750089" y="1523025"/>
            <a:ext cx="245791" cy="245791"/>
          </a:xfrm>
          <a:prstGeom prst="rect">
            <a:avLst/>
          </a:prstGeom>
        </p:spPr>
      </p:pic>
      <p:sp>
        <p:nvSpPr>
          <p:cNvPr id="47" name="Text 38"/>
          <p:cNvSpPr txBox="1"/>
          <p:nvPr/>
        </p:nvSpPr>
        <p:spPr>
          <a:xfrm>
            <a:off x="7205472" y="1975104"/>
            <a:ext cx="1335024"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Dashboards</a:t>
            </a:r>
            <a:endParaRPr lang="en-US" sz="1300" dirty="0"/>
          </a:p>
        </p:txBody>
      </p:sp>
      <p:sp>
        <p:nvSpPr>
          <p:cNvPr id="48" name="Text 39"/>
          <p:cNvSpPr txBox="1"/>
          <p:nvPr/>
        </p:nvSpPr>
        <p:spPr>
          <a:xfrm>
            <a:off x="7242048" y="2267712"/>
            <a:ext cx="1280160" cy="658368"/>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Combine panels with shared filters.</a:t>
            </a:r>
            <a:endParaRPr lang="en-US" sz="950" dirty="0"/>
          </a:p>
        </p:txBody>
      </p:sp>
      <p:sp>
        <p:nvSpPr>
          <p:cNvPr id="49" name="Shape 40"/>
          <p:cNvSpPr/>
          <p:nvPr/>
        </p:nvSpPr>
        <p:spPr>
          <a:xfrm>
            <a:off x="7242048" y="2944368"/>
            <a:ext cx="1261872" cy="0"/>
          </a:xfrm>
          <a:prstGeom prst="line">
            <a:avLst/>
          </a:prstGeom>
          <a:noFill/>
          <a:ln w="9525">
            <a:solidFill>
              <a:srgbClr val="D5DED9"/>
            </a:solidFill>
            <a:prstDash val="solid"/>
          </a:ln>
        </p:spPr>
      </p:sp>
      <p:sp>
        <p:nvSpPr>
          <p:cNvPr id="50" name="Text 41"/>
          <p:cNvSpPr txBox="1"/>
          <p:nvPr/>
        </p:nvSpPr>
        <p:spPr>
          <a:xfrm>
            <a:off x="7242048" y="2999232"/>
            <a:ext cx="1280160" cy="658368"/>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Lab 2: the connectivity explorer</a:t>
            </a:r>
            <a:endParaRPr lang="en-US" sz="900" dirty="0"/>
          </a:p>
        </p:txBody>
      </p:sp>
      <p:sp>
        <p:nvSpPr>
          <p:cNvPr id="51" name="Text 42"/>
          <p:cNvSpPr txBox="1"/>
          <p:nvPr/>
        </p:nvSpPr>
        <p:spPr>
          <a:xfrm>
            <a:off x="457200" y="3840480"/>
            <a:ext cx="8229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KQL — THE FILTER BAR LANGUAGE IN DISCOVER AND DASHBOARDS</a:t>
            </a:r>
            <a:endParaRPr lang="en-US" sz="900" dirty="0"/>
          </a:p>
        </p:txBody>
      </p:sp>
      <p:sp>
        <p:nvSpPr>
          <p:cNvPr id="52" name="Shape 43"/>
          <p:cNvSpPr/>
          <p:nvPr/>
        </p:nvSpPr>
        <p:spPr>
          <a:xfrm>
            <a:off x="457200" y="4078224"/>
            <a:ext cx="8229600" cy="475488"/>
          </a:xfrm>
          <a:prstGeom prst="roundRect">
            <a:avLst>
              <a:gd name="adj" fmla="val 11538"/>
            </a:avLst>
          </a:prstGeom>
          <a:solidFill>
            <a:srgbClr val="FBFCFB"/>
          </a:solidFill>
          <a:ln w="9525">
            <a:solidFill>
              <a:srgbClr val="D5DED9"/>
            </a:solidFill>
            <a:prstDash val="solid"/>
          </a:ln>
        </p:spPr>
      </p:sp>
      <p:sp>
        <p:nvSpPr>
          <p:cNvPr id="53" name="Text 44"/>
          <p:cNvSpPr txBox="1"/>
          <p:nvPr/>
        </p:nvSpPr>
        <p:spPr>
          <a:xfrm>
            <a:off x="585216" y="4169664"/>
            <a:ext cx="7973568" cy="292608"/>
          </a:xfrm>
          <a:prstGeom prst="rect">
            <a:avLst/>
          </a:prstGeom>
          <a:noFill/>
          <a:ln/>
        </p:spPr>
        <p:txBody>
          <a:bodyPr wrap="square" lIns="0" tIns="0" rIns="0" bIns="0" rtlCol="0" anchor="t"/>
          <a:lstStyle/>
          <a:p>
            <a:pPr marL="0" indent="0">
              <a:buNone/>
            </a:pPr>
            <a:r>
              <a:rPr lang="en-US" sz="1050" dirty="0">
                <a:solidFill>
                  <a:srgbClr val="231F20"/>
                </a:solidFill>
                <a:latin typeface="Courier New" pitchFamily="34" charset="0"/>
                <a:ea typeface="Courier New" pitchFamily="34" charset="-122"/>
                <a:cs typeface="Courier New" pitchFamily="34" charset="-120"/>
              </a:rPr>
              <a:t>service_type : "mobile" and tests &gt;= 5 and admin1 : "Kigali City"</a:t>
            </a:r>
            <a:endParaRPr lang="en-US" sz="10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Lab 2 workflow: building a search-driven connectivity explorer</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6" name="Shape 12"/>
          <p:cNvSpPr/>
          <p:nvPr/>
        </p:nvSpPr>
        <p:spPr>
          <a:xfrm>
            <a:off x="1097280" y="1691640"/>
            <a:ext cx="6949440" cy="0"/>
          </a:xfrm>
          <a:prstGeom prst="line">
            <a:avLst/>
          </a:prstGeom>
          <a:noFill/>
          <a:ln w="25400">
            <a:solidFill>
              <a:srgbClr val="D5DED9"/>
            </a:solidFill>
            <a:prstDash val="solid"/>
          </a:ln>
        </p:spPr>
      </p:sp>
      <p:sp>
        <p:nvSpPr>
          <p:cNvPr id="17" name="Shape 13"/>
          <p:cNvSpPr/>
          <p:nvPr/>
        </p:nvSpPr>
        <p:spPr>
          <a:xfrm>
            <a:off x="822960" y="1417320"/>
            <a:ext cx="548640" cy="548640"/>
          </a:xfrm>
          <a:prstGeom prst="ellipse">
            <a:avLst/>
          </a:prstGeom>
          <a:solidFill>
            <a:srgbClr val="C4621D"/>
          </a:solidFill>
          <a:ln w="25400">
            <a:solidFill>
              <a:srgbClr val="FFFFFF"/>
            </a:solidFill>
            <a:prstDash val="solid"/>
          </a:ln>
        </p:spPr>
      </p:sp>
      <p:sp>
        <p:nvSpPr>
          <p:cNvPr id="18" name="Text 14"/>
          <p:cNvSpPr txBox="1"/>
          <p:nvPr/>
        </p:nvSpPr>
        <p:spPr>
          <a:xfrm>
            <a:off x="822960"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9" name="Text 15"/>
          <p:cNvSpPr txBox="1"/>
          <p:nvPr/>
        </p:nvSpPr>
        <p:spPr>
          <a:xfrm>
            <a:off x="457200"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Data view</a:t>
            </a:r>
            <a:endParaRPr lang="en-US" sz="1200" dirty="0"/>
          </a:p>
        </p:txBody>
      </p:sp>
      <p:sp>
        <p:nvSpPr>
          <p:cNvPr id="20" name="Text 16"/>
          <p:cNvSpPr txBox="1"/>
          <p:nvPr/>
        </p:nvSpPr>
        <p:spPr>
          <a:xfrm>
            <a:off x="475488"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ookla-tiles, time field quarter_start</a:t>
            </a:r>
            <a:endParaRPr lang="en-US" sz="950" dirty="0"/>
          </a:p>
        </p:txBody>
      </p:sp>
      <p:sp>
        <p:nvSpPr>
          <p:cNvPr id="21" name="Shape 17"/>
          <p:cNvSpPr/>
          <p:nvPr/>
        </p:nvSpPr>
        <p:spPr>
          <a:xfrm>
            <a:off x="77724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2" name="Text 18"/>
          <p:cNvSpPr txBox="1"/>
          <p:nvPr/>
        </p:nvSpPr>
        <p:spPr>
          <a:xfrm>
            <a:off x="777240"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5 min</a:t>
            </a:r>
            <a:endParaRPr lang="en-US" sz="850" dirty="0"/>
          </a:p>
        </p:txBody>
      </p:sp>
      <p:sp>
        <p:nvSpPr>
          <p:cNvPr id="23" name="Shape 19"/>
          <p:cNvSpPr/>
          <p:nvPr/>
        </p:nvSpPr>
        <p:spPr>
          <a:xfrm>
            <a:off x="2212848" y="1417320"/>
            <a:ext cx="548640" cy="548640"/>
          </a:xfrm>
          <a:prstGeom prst="ellipse">
            <a:avLst/>
          </a:prstGeom>
          <a:solidFill>
            <a:srgbClr val="C4621D"/>
          </a:solidFill>
          <a:ln w="25400">
            <a:solidFill>
              <a:srgbClr val="FFFFFF"/>
            </a:solidFill>
            <a:prstDash val="solid"/>
          </a:ln>
        </p:spPr>
      </p:sp>
      <p:sp>
        <p:nvSpPr>
          <p:cNvPr id="24" name="Text 20"/>
          <p:cNvSpPr txBox="1"/>
          <p:nvPr/>
        </p:nvSpPr>
        <p:spPr>
          <a:xfrm>
            <a:off x="2212848"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Text 21"/>
          <p:cNvSpPr txBox="1"/>
          <p:nvPr/>
        </p:nvSpPr>
        <p:spPr>
          <a:xfrm>
            <a:off x="1847088"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Discover</a:t>
            </a:r>
            <a:endParaRPr lang="en-US" sz="1200" dirty="0"/>
          </a:p>
        </p:txBody>
      </p:sp>
      <p:sp>
        <p:nvSpPr>
          <p:cNvPr id="26" name="Text 22"/>
          <p:cNvSpPr txBox="1"/>
          <p:nvPr/>
        </p:nvSpPr>
        <p:spPr>
          <a:xfrm>
            <a:off x="1865376"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Check fields, drop tiles with few tests</a:t>
            </a:r>
            <a:endParaRPr lang="en-US" sz="950" dirty="0"/>
          </a:p>
        </p:txBody>
      </p:sp>
      <p:sp>
        <p:nvSpPr>
          <p:cNvPr id="27" name="Shape 23"/>
          <p:cNvSpPr/>
          <p:nvPr/>
        </p:nvSpPr>
        <p:spPr>
          <a:xfrm>
            <a:off x="2167128"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28" name="Text 24"/>
          <p:cNvSpPr txBox="1"/>
          <p:nvPr/>
        </p:nvSpPr>
        <p:spPr>
          <a:xfrm>
            <a:off x="2167128"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5 min</a:t>
            </a:r>
            <a:endParaRPr lang="en-US" sz="850" dirty="0"/>
          </a:p>
        </p:txBody>
      </p:sp>
      <p:sp>
        <p:nvSpPr>
          <p:cNvPr id="29" name="Shape 25"/>
          <p:cNvSpPr/>
          <p:nvPr/>
        </p:nvSpPr>
        <p:spPr>
          <a:xfrm>
            <a:off x="3602736" y="1417320"/>
            <a:ext cx="548640" cy="548640"/>
          </a:xfrm>
          <a:prstGeom prst="ellipse">
            <a:avLst/>
          </a:prstGeom>
          <a:solidFill>
            <a:srgbClr val="C4621D"/>
          </a:solidFill>
          <a:ln w="25400">
            <a:solidFill>
              <a:srgbClr val="FFFFFF"/>
            </a:solidFill>
            <a:prstDash val="solid"/>
          </a:ln>
        </p:spPr>
      </p:sp>
      <p:sp>
        <p:nvSpPr>
          <p:cNvPr id="30" name="Text 26"/>
          <p:cNvSpPr txBox="1"/>
          <p:nvPr/>
        </p:nvSpPr>
        <p:spPr>
          <a:xfrm>
            <a:off x="3602736"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7"/>
          <p:cNvSpPr txBox="1"/>
          <p:nvPr/>
        </p:nvSpPr>
        <p:spPr>
          <a:xfrm>
            <a:off x="3236976"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Map</a:t>
            </a:r>
            <a:endParaRPr lang="en-US" sz="1200" dirty="0"/>
          </a:p>
        </p:txBody>
      </p:sp>
      <p:sp>
        <p:nvSpPr>
          <p:cNvPr id="32" name="Text 28"/>
          <p:cNvSpPr txBox="1"/>
          <p:nvPr/>
        </p:nvSpPr>
        <p:spPr>
          <a:xfrm>
            <a:off x="3255264"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Choropleth of admin1 by weighted speed</a:t>
            </a:r>
            <a:endParaRPr lang="en-US" sz="950" dirty="0"/>
          </a:p>
        </p:txBody>
      </p:sp>
      <p:sp>
        <p:nvSpPr>
          <p:cNvPr id="33" name="Shape 29"/>
          <p:cNvSpPr/>
          <p:nvPr/>
        </p:nvSpPr>
        <p:spPr>
          <a:xfrm>
            <a:off x="3557016"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34" name="Text 30"/>
          <p:cNvSpPr txBox="1"/>
          <p:nvPr/>
        </p:nvSpPr>
        <p:spPr>
          <a:xfrm>
            <a:off x="3557016"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15 min</a:t>
            </a:r>
            <a:endParaRPr lang="en-US" sz="850" dirty="0"/>
          </a:p>
        </p:txBody>
      </p:sp>
      <p:sp>
        <p:nvSpPr>
          <p:cNvPr id="35" name="Shape 31"/>
          <p:cNvSpPr/>
          <p:nvPr/>
        </p:nvSpPr>
        <p:spPr>
          <a:xfrm>
            <a:off x="4992624" y="1417320"/>
            <a:ext cx="548640" cy="548640"/>
          </a:xfrm>
          <a:prstGeom prst="ellipse">
            <a:avLst/>
          </a:prstGeom>
          <a:solidFill>
            <a:srgbClr val="C4621D"/>
          </a:solidFill>
          <a:ln w="25400">
            <a:solidFill>
              <a:srgbClr val="FFFFFF"/>
            </a:solidFill>
            <a:prstDash val="solid"/>
          </a:ln>
        </p:spPr>
      </p:sp>
      <p:sp>
        <p:nvSpPr>
          <p:cNvPr id="36" name="Text 32"/>
          <p:cNvSpPr txBox="1"/>
          <p:nvPr/>
        </p:nvSpPr>
        <p:spPr>
          <a:xfrm>
            <a:off x="4992624"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7" name="Text 33"/>
          <p:cNvSpPr txBox="1"/>
          <p:nvPr/>
        </p:nvSpPr>
        <p:spPr>
          <a:xfrm>
            <a:off x="4626864"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Lens</a:t>
            </a:r>
            <a:endParaRPr lang="en-US" sz="1200" dirty="0"/>
          </a:p>
        </p:txBody>
      </p:sp>
      <p:sp>
        <p:nvSpPr>
          <p:cNvPr id="38" name="Text 34"/>
          <p:cNvSpPr txBox="1"/>
          <p:nvPr/>
        </p:nvSpPr>
        <p:spPr>
          <a:xfrm>
            <a:off x="4645152"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Speed by quarter, fixed vs mobile</a:t>
            </a:r>
            <a:endParaRPr lang="en-US" sz="950" dirty="0"/>
          </a:p>
        </p:txBody>
      </p:sp>
      <p:sp>
        <p:nvSpPr>
          <p:cNvPr id="39" name="Shape 35"/>
          <p:cNvSpPr/>
          <p:nvPr/>
        </p:nvSpPr>
        <p:spPr>
          <a:xfrm>
            <a:off x="4946904"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0" name="Text 36"/>
          <p:cNvSpPr txBox="1"/>
          <p:nvPr/>
        </p:nvSpPr>
        <p:spPr>
          <a:xfrm>
            <a:off x="4946904"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10 min</a:t>
            </a:r>
            <a:endParaRPr lang="en-US" sz="850" dirty="0"/>
          </a:p>
        </p:txBody>
      </p:sp>
      <p:sp>
        <p:nvSpPr>
          <p:cNvPr id="41" name="Shape 37"/>
          <p:cNvSpPr/>
          <p:nvPr/>
        </p:nvSpPr>
        <p:spPr>
          <a:xfrm>
            <a:off x="6382512" y="1417320"/>
            <a:ext cx="548640" cy="548640"/>
          </a:xfrm>
          <a:prstGeom prst="ellipse">
            <a:avLst/>
          </a:prstGeom>
          <a:solidFill>
            <a:srgbClr val="C4621D"/>
          </a:solidFill>
          <a:ln w="25400">
            <a:solidFill>
              <a:srgbClr val="FFFFFF"/>
            </a:solidFill>
            <a:prstDash val="solid"/>
          </a:ln>
        </p:spPr>
      </p:sp>
      <p:sp>
        <p:nvSpPr>
          <p:cNvPr id="42" name="Text 38"/>
          <p:cNvSpPr txBox="1"/>
          <p:nvPr/>
        </p:nvSpPr>
        <p:spPr>
          <a:xfrm>
            <a:off x="6382512" y="14173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3" name="Text 39"/>
          <p:cNvSpPr txBox="1"/>
          <p:nvPr/>
        </p:nvSpPr>
        <p:spPr>
          <a:xfrm>
            <a:off x="6016752"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Dashboard</a:t>
            </a:r>
            <a:endParaRPr lang="en-US" sz="1200" dirty="0"/>
          </a:p>
        </p:txBody>
      </p:sp>
      <p:sp>
        <p:nvSpPr>
          <p:cNvPr id="44" name="Text 40"/>
          <p:cNvSpPr txBox="1"/>
          <p:nvPr/>
        </p:nvSpPr>
        <p:spPr>
          <a:xfrm>
            <a:off x="6035040"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Add region and quarter controls</a:t>
            </a:r>
            <a:endParaRPr lang="en-US" sz="950" dirty="0"/>
          </a:p>
        </p:txBody>
      </p:sp>
      <p:sp>
        <p:nvSpPr>
          <p:cNvPr id="45" name="Shape 41"/>
          <p:cNvSpPr/>
          <p:nvPr/>
        </p:nvSpPr>
        <p:spPr>
          <a:xfrm>
            <a:off x="6336792"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46" name="Text 42"/>
          <p:cNvSpPr txBox="1"/>
          <p:nvPr/>
        </p:nvSpPr>
        <p:spPr>
          <a:xfrm>
            <a:off x="6336792"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10 min</a:t>
            </a:r>
            <a:endParaRPr lang="en-US" sz="850" dirty="0"/>
          </a:p>
        </p:txBody>
      </p:sp>
      <p:sp>
        <p:nvSpPr>
          <p:cNvPr id="47" name="Shape 43"/>
          <p:cNvSpPr/>
          <p:nvPr/>
        </p:nvSpPr>
        <p:spPr>
          <a:xfrm>
            <a:off x="7772400" y="1417320"/>
            <a:ext cx="548640" cy="548640"/>
          </a:xfrm>
          <a:prstGeom prst="ellipse">
            <a:avLst/>
          </a:prstGeom>
          <a:solidFill>
            <a:srgbClr val="F5C242"/>
          </a:solidFill>
          <a:ln w="25400">
            <a:solidFill>
              <a:srgbClr val="FFFFFF"/>
            </a:solidFill>
            <a:prstDash val="solid"/>
          </a:ln>
        </p:spPr>
      </p:sp>
      <p:sp>
        <p:nvSpPr>
          <p:cNvPr id="48" name="Text 44"/>
          <p:cNvSpPr txBox="1"/>
          <p:nvPr/>
        </p:nvSpPr>
        <p:spPr>
          <a:xfrm>
            <a:off x="7772400" y="1417320"/>
            <a:ext cx="548640" cy="548640"/>
          </a:xfrm>
          <a:prstGeom prst="rect">
            <a:avLst/>
          </a:prstGeom>
          <a:noFill/>
          <a:ln/>
        </p:spPr>
        <p:txBody>
          <a:bodyPr wrap="square" lIns="0" tIns="0" rIns="0" bIns="0" rtlCol="0" anchor="ctr"/>
          <a:lstStyle/>
          <a:p>
            <a:pPr marL="0" indent="0" algn="ctr">
              <a:buNone/>
            </a:pPr>
            <a:r>
              <a:rPr lang="en-US" sz="1800" b="1" dirty="0">
                <a:solidFill>
                  <a:srgbClr val="231F20"/>
                </a:solidFill>
                <a:latin typeface="Calibri" pitchFamily="34" charset="0"/>
                <a:ea typeface="Calibri" pitchFamily="34" charset="-122"/>
                <a:cs typeface="Calibri" pitchFamily="34" charset="-120"/>
              </a:rPr>
              <a:t>6</a:t>
            </a:r>
            <a:endParaRPr lang="en-US" sz="1800" dirty="0"/>
          </a:p>
        </p:txBody>
      </p:sp>
      <p:sp>
        <p:nvSpPr>
          <p:cNvPr id="49" name="Text 45"/>
          <p:cNvSpPr txBox="1"/>
          <p:nvPr/>
        </p:nvSpPr>
        <p:spPr>
          <a:xfrm>
            <a:off x="7406640" y="2103120"/>
            <a:ext cx="1280160" cy="411480"/>
          </a:xfrm>
          <a:prstGeom prst="rect">
            <a:avLst/>
          </a:prstGeom>
          <a:noFill/>
          <a:ln/>
        </p:spPr>
        <p:txBody>
          <a:bodyPr wrap="square" lIns="0" tIns="0" rIns="0" bIns="0" rtlCol="0" anchor="t"/>
          <a:lstStyle/>
          <a:p>
            <a:pPr marL="0" indent="0" algn="ctr">
              <a:buNone/>
            </a:pPr>
            <a:r>
              <a:rPr lang="en-US" sz="1200" b="1" dirty="0">
                <a:solidFill>
                  <a:srgbClr val="231F20"/>
                </a:solidFill>
                <a:latin typeface="Calibri" pitchFamily="34" charset="0"/>
                <a:ea typeface="Calibri" pitchFamily="34" charset="-122"/>
                <a:cs typeface="Calibri" pitchFamily="34" charset="-120"/>
              </a:rPr>
              <a:t>Benchmark &amp; publish</a:t>
            </a:r>
            <a:endParaRPr lang="en-US" sz="1200" dirty="0"/>
          </a:p>
        </p:txBody>
      </p:sp>
      <p:sp>
        <p:nvSpPr>
          <p:cNvPr id="50" name="Text 46"/>
          <p:cNvSpPr txBox="1"/>
          <p:nvPr/>
        </p:nvSpPr>
        <p:spPr>
          <a:xfrm>
            <a:off x="7424928" y="2542032"/>
            <a:ext cx="1243584" cy="68580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Compare with pandas; commit to GitHub</a:t>
            </a:r>
            <a:endParaRPr lang="en-US" sz="950" dirty="0"/>
          </a:p>
        </p:txBody>
      </p:sp>
      <p:sp>
        <p:nvSpPr>
          <p:cNvPr id="51" name="Shape 47"/>
          <p:cNvSpPr/>
          <p:nvPr/>
        </p:nvSpPr>
        <p:spPr>
          <a:xfrm>
            <a:off x="7726680" y="3246120"/>
            <a:ext cx="640080" cy="219456"/>
          </a:xfrm>
          <a:prstGeom prst="roundRect">
            <a:avLst>
              <a:gd name="adj" fmla="val 50000"/>
            </a:avLst>
          </a:prstGeom>
          <a:solidFill>
            <a:srgbClr val="C4621D">
              <a:alpha val="15000"/>
            </a:srgbClr>
          </a:solidFill>
          <a:ln w="9525">
            <a:solidFill>
              <a:srgbClr val="C4621D"/>
            </a:solidFill>
            <a:prstDash val="solid"/>
          </a:ln>
        </p:spPr>
      </p:sp>
      <p:sp>
        <p:nvSpPr>
          <p:cNvPr id="52" name="Text 48"/>
          <p:cNvSpPr txBox="1"/>
          <p:nvPr/>
        </p:nvSpPr>
        <p:spPr>
          <a:xfrm>
            <a:off x="7726680" y="3246120"/>
            <a:ext cx="640080" cy="219456"/>
          </a:xfrm>
          <a:prstGeom prst="rect">
            <a:avLst/>
          </a:prstGeom>
          <a:noFill/>
          <a:ln/>
        </p:spPr>
        <p:txBody>
          <a:bodyPr wrap="square" lIns="0" tIns="0" rIns="0" bIns="0" rtlCol="0" anchor="ctr"/>
          <a:lstStyle/>
          <a:p>
            <a:pPr marL="0" indent="0" algn="ctr">
              <a:buNone/>
            </a:pPr>
            <a:r>
              <a:rPr lang="en-US" sz="850" b="1" dirty="0">
                <a:solidFill>
                  <a:srgbClr val="231F20"/>
                </a:solidFill>
                <a:latin typeface="Calibri" pitchFamily="34" charset="0"/>
                <a:ea typeface="Calibri" pitchFamily="34" charset="-122"/>
                <a:cs typeface="Calibri" pitchFamily="34" charset="-120"/>
              </a:rPr>
              <a:t>15 min</a:t>
            </a:r>
            <a:endParaRPr lang="en-US" sz="850" dirty="0"/>
          </a:p>
        </p:txBody>
      </p:sp>
      <p:sp>
        <p:nvSpPr>
          <p:cNvPr id="53" name="Shape 49"/>
          <p:cNvSpPr/>
          <p:nvPr/>
        </p:nvSpPr>
        <p:spPr>
          <a:xfrm>
            <a:off x="457200" y="3675888"/>
            <a:ext cx="8229600" cy="896112"/>
          </a:xfrm>
          <a:prstGeom prst="roundRect">
            <a:avLst>
              <a:gd name="adj" fmla="val 8163"/>
            </a:avLst>
          </a:prstGeom>
          <a:solidFill>
            <a:srgbClr val="E8F5EF"/>
          </a:solidFill>
          <a:ln w="15875">
            <a:solidFill>
              <a:srgbClr val="C4621D"/>
            </a:solidFill>
            <a:prstDash val="solid"/>
          </a:ln>
        </p:spPr>
      </p:sp>
      <p:sp>
        <p:nvSpPr>
          <p:cNvPr id="54" name="Shape 50"/>
          <p:cNvSpPr/>
          <p:nvPr/>
        </p:nvSpPr>
        <p:spPr>
          <a:xfrm>
            <a:off x="621792" y="3877056"/>
            <a:ext cx="493776" cy="493776"/>
          </a:xfrm>
          <a:prstGeom prst="ellipse">
            <a:avLst/>
          </a:prstGeom>
          <a:solidFill>
            <a:srgbClr val="C4621D">
              <a:alpha val="22000"/>
            </a:srgbClr>
          </a:solidFill>
          <a:ln/>
        </p:spPr>
      </p:sp>
      <p:pic>
        <p:nvPicPr>
          <p:cNvPr id="55" name="Image 1" descr="preencoded.png"/>
          <p:cNvPicPr>
            <a:picLocks noChangeAspect="1"/>
          </p:cNvPicPr>
          <p:nvPr/>
        </p:nvPicPr>
        <p:blipFill>
          <a:blip r:embed="rId4"/>
          <a:stretch>
            <a:fillRect/>
          </a:stretch>
        </p:blipFill>
        <p:spPr>
          <a:xfrm>
            <a:off x="750174" y="4005438"/>
            <a:ext cx="237012" cy="237012"/>
          </a:xfrm>
          <a:prstGeom prst="rect">
            <a:avLst/>
          </a:prstGeom>
        </p:spPr>
      </p:pic>
      <p:sp>
        <p:nvSpPr>
          <p:cNvPr id="56" name="Text 51"/>
          <p:cNvSpPr txBox="1"/>
          <p:nvPr/>
        </p:nvSpPr>
        <p:spPr>
          <a:xfrm>
            <a:off x="1280160" y="3712464"/>
            <a:ext cx="7269480" cy="82296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Deliverable: </a:t>
            </a:r>
            <a:r>
              <a:rPr lang="en-US" sz="1100" i="1" dirty="0">
                <a:solidFill>
                  <a:srgbClr val="231F20"/>
                </a:solidFill>
                <a:latin typeface="Calibri" pitchFamily="34" charset="0"/>
                <a:ea typeface="Calibri" pitchFamily="34" charset="-122"/>
                <a:cs typeface="Calibri" pitchFamily="34" charset="-120"/>
              </a:rPr>
              <a:t>a dashboard that answers "Where is mobile connectivity weakest, and is it improving?" </a:t>
            </a:r>
            <a:r>
              <a:rPr lang="en-US" sz="1100" dirty="0">
                <a:solidFill>
                  <a:srgbClr val="231F20"/>
                </a:solidFill>
                <a:latin typeface="Calibri" pitchFamily="34" charset="0"/>
                <a:ea typeface="Calibri" pitchFamily="34" charset="-122"/>
                <a:cs typeface="Calibri" pitchFamily="34" charset="-120"/>
              </a:rPr>
              <a:t>— plus a screenshot and the saved-objects export (NDJSON) committed to your team repository.</a:t>
            </a:r>
            <a:endParaRPr lang="en-US" sz="11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EXPLORING WITH KIBANA</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pandas or Elasticsearch? Decide with your own evidence</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C4621D"/>
          </a:solidFill>
          <a:ln/>
        </p:spPr>
      </p:sp>
      <p:sp>
        <p:nvSpPr>
          <p:cNvPr id="12" name="Shape 9"/>
          <p:cNvSpPr/>
          <p:nvPr/>
        </p:nvSpPr>
        <p:spPr>
          <a:xfrm>
            <a:off x="8705088" y="288036"/>
            <a:ext cx="91440" cy="91440"/>
          </a:xfrm>
          <a:prstGeom prst="ellipse">
            <a:avLst/>
          </a:prstGeom>
          <a:solidFill>
            <a:srgbClr val="D5DED9"/>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6" name="Shape 12"/>
          <p:cNvSpPr/>
          <p:nvPr/>
        </p:nvSpPr>
        <p:spPr>
          <a:xfrm>
            <a:off x="457200" y="1261872"/>
            <a:ext cx="4023360" cy="1783080"/>
          </a:xfrm>
          <a:prstGeom prst="roundRect">
            <a:avLst>
              <a:gd name="adj" fmla="val 4103"/>
            </a:avLst>
          </a:prstGeom>
          <a:solidFill>
            <a:srgbClr val="F4F7F5"/>
          </a:solidFill>
          <a:ln w="9525">
            <a:solidFill>
              <a:srgbClr val="D5DED9"/>
            </a:solidFill>
            <a:prstDash val="solid"/>
          </a:ln>
        </p:spPr>
      </p:sp>
      <p:sp>
        <p:nvSpPr>
          <p:cNvPr id="17" name="Shape 13"/>
          <p:cNvSpPr/>
          <p:nvPr/>
        </p:nvSpPr>
        <p:spPr>
          <a:xfrm>
            <a:off x="603504" y="1353312"/>
            <a:ext cx="402336" cy="402336"/>
          </a:xfrm>
          <a:prstGeom prst="ellipse">
            <a:avLst/>
          </a:prstGeom>
          <a:solidFill>
            <a:srgbClr val="5E6964">
              <a:alpha val="22000"/>
            </a:srgbClr>
          </a:solidFill>
          <a:ln/>
        </p:spPr>
      </p:sp>
      <p:pic>
        <p:nvPicPr>
          <p:cNvPr id="18" name="Image 1" descr="preencoded.png"/>
          <p:cNvPicPr>
            <a:picLocks noChangeAspect="1"/>
          </p:cNvPicPr>
          <p:nvPr/>
        </p:nvPicPr>
        <p:blipFill>
          <a:blip r:embed="rId4"/>
          <a:stretch>
            <a:fillRect/>
          </a:stretch>
        </p:blipFill>
        <p:spPr>
          <a:xfrm>
            <a:off x="708111" y="1457919"/>
            <a:ext cx="193121" cy="193121"/>
          </a:xfrm>
          <a:prstGeom prst="rect">
            <a:avLst/>
          </a:prstGeom>
        </p:spPr>
      </p:pic>
      <p:sp>
        <p:nvSpPr>
          <p:cNvPr id="19" name="Text 14"/>
          <p:cNvSpPr txBox="1"/>
          <p:nvPr/>
        </p:nvSpPr>
        <p:spPr>
          <a:xfrm>
            <a:off x="1115568" y="1353312"/>
            <a:ext cx="3246120" cy="402336"/>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Stay with pandas / DuckDB when…</a:t>
            </a:r>
            <a:endParaRPr lang="en-US" sz="1300" dirty="0"/>
          </a:p>
        </p:txBody>
      </p:sp>
      <p:sp>
        <p:nvSpPr>
          <p:cNvPr id="20" name="Text 15"/>
          <p:cNvSpPr txBox="1"/>
          <p:nvPr/>
        </p:nvSpPr>
        <p:spPr>
          <a:xfrm>
            <a:off x="64008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The data fits comfortably in memory</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One analyst, one-off or periodic analysis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The reproducible script is the product</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No server skills available to maintain a cluster</a:t>
            </a:r>
            <a:endParaRPr lang="en-US" sz="1050" dirty="0"/>
          </a:p>
        </p:txBody>
      </p:sp>
      <p:sp>
        <p:nvSpPr>
          <p:cNvPr id="21" name="Shape 16"/>
          <p:cNvSpPr/>
          <p:nvPr/>
        </p:nvSpPr>
        <p:spPr>
          <a:xfrm>
            <a:off x="4663440" y="1261872"/>
            <a:ext cx="4023360" cy="1783080"/>
          </a:xfrm>
          <a:prstGeom prst="roundRect">
            <a:avLst>
              <a:gd name="adj" fmla="val 4103"/>
            </a:avLst>
          </a:prstGeom>
          <a:solidFill>
            <a:srgbClr val="E8F5EF"/>
          </a:solidFill>
          <a:ln w="15875">
            <a:solidFill>
              <a:srgbClr val="C4621D"/>
            </a:solidFill>
            <a:prstDash val="solid"/>
          </a:ln>
        </p:spPr>
      </p:sp>
      <p:sp>
        <p:nvSpPr>
          <p:cNvPr id="22" name="Shape 17"/>
          <p:cNvSpPr/>
          <p:nvPr/>
        </p:nvSpPr>
        <p:spPr>
          <a:xfrm>
            <a:off x="4809744" y="1353312"/>
            <a:ext cx="402336" cy="402336"/>
          </a:xfrm>
          <a:prstGeom prst="ellipse">
            <a:avLst/>
          </a:prstGeom>
          <a:solidFill>
            <a:srgbClr val="C4621D">
              <a:alpha val="22000"/>
            </a:srgbClr>
          </a:solidFill>
          <a:ln/>
        </p:spPr>
      </p:sp>
      <p:pic>
        <p:nvPicPr>
          <p:cNvPr id="23" name="Image 2" descr="preencoded.png"/>
          <p:cNvPicPr>
            <a:picLocks noChangeAspect="1"/>
          </p:cNvPicPr>
          <p:nvPr/>
        </p:nvPicPr>
        <p:blipFill>
          <a:blip r:embed="rId5"/>
          <a:stretch>
            <a:fillRect/>
          </a:stretch>
        </p:blipFill>
        <p:spPr>
          <a:xfrm>
            <a:off x="4914351" y="1457919"/>
            <a:ext cx="193121" cy="193121"/>
          </a:xfrm>
          <a:prstGeom prst="rect">
            <a:avLst/>
          </a:prstGeom>
        </p:spPr>
      </p:pic>
      <p:sp>
        <p:nvSpPr>
          <p:cNvPr id="24" name="Text 18"/>
          <p:cNvSpPr txBox="1"/>
          <p:nvPr/>
        </p:nvSpPr>
        <p:spPr>
          <a:xfrm>
            <a:off x="5321808" y="1353312"/>
            <a:ext cx="3246120" cy="402336"/>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Move to Elasticsearch when…</a:t>
            </a:r>
            <a:endParaRPr lang="en-US" sz="1300" dirty="0"/>
          </a:p>
        </p:txBody>
      </p:sp>
      <p:sp>
        <p:nvSpPr>
          <p:cNvPr id="25" name="Text 19"/>
          <p:cNvSpPr txBox="1"/>
          <p:nvPr/>
        </p:nvSpPr>
        <p:spPr>
          <a:xfrm>
            <a:off x="4846320" y="1847088"/>
            <a:ext cx="3703320" cy="1143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Data outgrows a single machine</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Many colleagues need interactive answers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Repeated filtered and spatial queries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New data arrives continuously</a:t>
            </a:r>
            <a:endParaRPr lang="en-US" sz="1050" dirty="0"/>
          </a:p>
        </p:txBody>
      </p:sp>
      <p:sp>
        <p:nvSpPr>
          <p:cNvPr id="26" name="Text 20"/>
          <p:cNvSpPr txBox="1"/>
          <p:nvPr/>
        </p:nvSpPr>
        <p:spPr>
          <a:xfrm>
            <a:off x="457200" y="3154680"/>
            <a:ext cx="54864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YOUR BENCHMARK — FILL IN DURING LAB 2</a:t>
            </a:r>
            <a:endParaRPr lang="en-US" sz="900" dirty="0"/>
          </a:p>
        </p:txBody>
      </p:sp>
      <p:sp>
        <p:nvSpPr>
          <p:cNvPr id="27" name="Shape 21"/>
          <p:cNvSpPr/>
          <p:nvPr/>
        </p:nvSpPr>
        <p:spPr>
          <a:xfrm>
            <a:off x="457200" y="3383280"/>
            <a:ext cx="8229600" cy="274320"/>
          </a:xfrm>
          <a:prstGeom prst="roundRect">
            <a:avLst>
              <a:gd name="adj" fmla="val 16667"/>
            </a:avLst>
          </a:prstGeom>
          <a:solidFill>
            <a:srgbClr val="C4621D"/>
          </a:solidFill>
          <a:ln/>
        </p:spPr>
      </p:sp>
      <p:sp>
        <p:nvSpPr>
          <p:cNvPr id="28" name="Text 22"/>
          <p:cNvSpPr txBox="1"/>
          <p:nvPr/>
        </p:nvSpPr>
        <p:spPr>
          <a:xfrm>
            <a:off x="566928" y="3383280"/>
            <a:ext cx="3108960" cy="274320"/>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Task (same data, same question)</a:t>
            </a:r>
            <a:endParaRPr lang="en-US" sz="950" dirty="0"/>
          </a:p>
        </p:txBody>
      </p:sp>
      <p:sp>
        <p:nvSpPr>
          <p:cNvPr id="29" name="Text 23"/>
          <p:cNvSpPr txBox="1"/>
          <p:nvPr/>
        </p:nvSpPr>
        <p:spPr>
          <a:xfrm>
            <a:off x="385876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pandas time</a:t>
            </a:r>
            <a:endParaRPr lang="en-US" sz="950" dirty="0"/>
          </a:p>
        </p:txBody>
      </p:sp>
      <p:sp>
        <p:nvSpPr>
          <p:cNvPr id="30" name="Text 24"/>
          <p:cNvSpPr txBox="1"/>
          <p:nvPr/>
        </p:nvSpPr>
        <p:spPr>
          <a:xfrm>
            <a:off x="509320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pandas memory</a:t>
            </a:r>
            <a:endParaRPr lang="en-US" sz="950" dirty="0"/>
          </a:p>
        </p:txBody>
      </p:sp>
      <p:sp>
        <p:nvSpPr>
          <p:cNvPr id="31" name="Text 25"/>
          <p:cNvSpPr txBox="1"/>
          <p:nvPr/>
        </p:nvSpPr>
        <p:spPr>
          <a:xfrm>
            <a:off x="632764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ES query time</a:t>
            </a:r>
            <a:endParaRPr lang="en-US" sz="950" dirty="0"/>
          </a:p>
        </p:txBody>
      </p:sp>
      <p:sp>
        <p:nvSpPr>
          <p:cNvPr id="32" name="Text 26"/>
          <p:cNvSpPr txBox="1"/>
          <p:nvPr/>
        </p:nvSpPr>
        <p:spPr>
          <a:xfrm>
            <a:off x="7562088" y="3383280"/>
            <a:ext cx="105156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ES disk / heap</a:t>
            </a:r>
            <a:endParaRPr lang="en-US" sz="950" dirty="0"/>
          </a:p>
        </p:txBody>
      </p:sp>
      <p:sp>
        <p:nvSpPr>
          <p:cNvPr id="33" name="Shape 27"/>
          <p:cNvSpPr/>
          <p:nvPr/>
        </p:nvSpPr>
        <p:spPr>
          <a:xfrm>
            <a:off x="457200" y="3703320"/>
            <a:ext cx="8229600" cy="256032"/>
          </a:xfrm>
          <a:prstGeom prst="roundRect">
            <a:avLst>
              <a:gd name="adj" fmla="val 28571"/>
            </a:avLst>
          </a:prstGeom>
          <a:solidFill>
            <a:srgbClr val="F4F7F5"/>
          </a:solidFill>
          <a:ln w="9525">
            <a:solidFill>
              <a:srgbClr val="D5DED9"/>
            </a:solidFill>
            <a:prstDash val="solid"/>
          </a:ln>
        </p:spPr>
      </p:sp>
      <p:sp>
        <p:nvSpPr>
          <p:cNvPr id="34" name="Text 28"/>
          <p:cNvSpPr txBox="1"/>
          <p:nvPr/>
        </p:nvSpPr>
        <p:spPr>
          <a:xfrm>
            <a:off x="566928" y="3703320"/>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1 · Load or index one quarter</a:t>
            </a:r>
            <a:endParaRPr lang="en-US" sz="1000" dirty="0"/>
          </a:p>
        </p:txBody>
      </p:sp>
      <p:sp>
        <p:nvSpPr>
          <p:cNvPr id="35" name="Text 29"/>
          <p:cNvSpPr txBox="1"/>
          <p:nvPr/>
        </p:nvSpPr>
        <p:spPr>
          <a:xfrm>
            <a:off x="374904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6" name="Text 30"/>
          <p:cNvSpPr txBox="1"/>
          <p:nvPr/>
        </p:nvSpPr>
        <p:spPr>
          <a:xfrm>
            <a:off x="498348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7" name="Text 31"/>
          <p:cNvSpPr txBox="1"/>
          <p:nvPr/>
        </p:nvSpPr>
        <p:spPr>
          <a:xfrm>
            <a:off x="621792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8" name="Text 32"/>
          <p:cNvSpPr txBox="1"/>
          <p:nvPr/>
        </p:nvSpPr>
        <p:spPr>
          <a:xfrm>
            <a:off x="7452360" y="3703320"/>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39" name="Shape 33"/>
          <p:cNvSpPr/>
          <p:nvPr/>
        </p:nvSpPr>
        <p:spPr>
          <a:xfrm>
            <a:off x="457200" y="3995928"/>
            <a:ext cx="8229600" cy="256032"/>
          </a:xfrm>
          <a:prstGeom prst="roundRect">
            <a:avLst>
              <a:gd name="adj" fmla="val 28571"/>
            </a:avLst>
          </a:prstGeom>
          <a:solidFill>
            <a:srgbClr val="FFFFFF"/>
          </a:solidFill>
          <a:ln w="9525">
            <a:solidFill>
              <a:srgbClr val="D5DED9"/>
            </a:solidFill>
            <a:prstDash val="solid"/>
          </a:ln>
        </p:spPr>
      </p:sp>
      <p:sp>
        <p:nvSpPr>
          <p:cNvPr id="40" name="Text 34"/>
          <p:cNvSpPr txBox="1"/>
          <p:nvPr/>
        </p:nvSpPr>
        <p:spPr>
          <a:xfrm>
            <a:off x="566928" y="3995928"/>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2 · Weighted mean speed by region</a:t>
            </a:r>
            <a:endParaRPr lang="en-US" sz="1000" dirty="0"/>
          </a:p>
        </p:txBody>
      </p:sp>
      <p:sp>
        <p:nvSpPr>
          <p:cNvPr id="41" name="Text 35"/>
          <p:cNvSpPr txBox="1"/>
          <p:nvPr/>
        </p:nvSpPr>
        <p:spPr>
          <a:xfrm>
            <a:off x="374904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2" name="Text 36"/>
          <p:cNvSpPr txBox="1"/>
          <p:nvPr/>
        </p:nvSpPr>
        <p:spPr>
          <a:xfrm>
            <a:off x="498348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3" name="Text 37"/>
          <p:cNvSpPr txBox="1"/>
          <p:nvPr/>
        </p:nvSpPr>
        <p:spPr>
          <a:xfrm>
            <a:off x="621792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4" name="Text 38"/>
          <p:cNvSpPr txBox="1"/>
          <p:nvPr/>
        </p:nvSpPr>
        <p:spPr>
          <a:xfrm>
            <a:off x="7452360" y="3995928"/>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5" name="Shape 39"/>
          <p:cNvSpPr/>
          <p:nvPr/>
        </p:nvSpPr>
        <p:spPr>
          <a:xfrm>
            <a:off x="457200" y="4288536"/>
            <a:ext cx="8229600" cy="256032"/>
          </a:xfrm>
          <a:prstGeom prst="roundRect">
            <a:avLst>
              <a:gd name="adj" fmla="val 28571"/>
            </a:avLst>
          </a:prstGeom>
          <a:solidFill>
            <a:srgbClr val="F4F7F5"/>
          </a:solidFill>
          <a:ln w="9525">
            <a:solidFill>
              <a:srgbClr val="D5DED9"/>
            </a:solidFill>
            <a:prstDash val="solid"/>
          </a:ln>
        </p:spPr>
      </p:sp>
      <p:sp>
        <p:nvSpPr>
          <p:cNvPr id="46" name="Text 40"/>
          <p:cNvSpPr txBox="1"/>
          <p:nvPr/>
        </p:nvSpPr>
        <p:spPr>
          <a:xfrm>
            <a:off x="566928" y="4288536"/>
            <a:ext cx="3108960" cy="256032"/>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3 · Tiles intersecting one district</a:t>
            </a:r>
            <a:endParaRPr lang="en-US" sz="1000" dirty="0"/>
          </a:p>
        </p:txBody>
      </p:sp>
      <p:sp>
        <p:nvSpPr>
          <p:cNvPr id="47" name="Text 41"/>
          <p:cNvSpPr txBox="1"/>
          <p:nvPr/>
        </p:nvSpPr>
        <p:spPr>
          <a:xfrm>
            <a:off x="374904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8" name="Text 42"/>
          <p:cNvSpPr txBox="1"/>
          <p:nvPr/>
        </p:nvSpPr>
        <p:spPr>
          <a:xfrm>
            <a:off x="498348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49" name="Text 43"/>
          <p:cNvSpPr txBox="1"/>
          <p:nvPr/>
        </p:nvSpPr>
        <p:spPr>
          <a:xfrm>
            <a:off x="621792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
        <p:nvSpPr>
          <p:cNvPr id="50" name="Text 44"/>
          <p:cNvSpPr txBox="1"/>
          <p:nvPr/>
        </p:nvSpPr>
        <p:spPr>
          <a:xfrm>
            <a:off x="7452360" y="4288536"/>
            <a:ext cx="1234440" cy="256032"/>
          </a:xfrm>
          <a:prstGeom prst="rect">
            <a:avLst/>
          </a:prstGeom>
          <a:noFill/>
          <a:ln/>
        </p:spPr>
        <p:txBody>
          <a:bodyPr wrap="square" lIns="0" tIns="0" rIns="0" bIns="0" rtlCol="0" anchor="ctr"/>
          <a:lstStyle/>
          <a:p>
            <a:pPr marL="0" indent="0" algn="ctr">
              <a:buNone/>
            </a:pPr>
            <a:r>
              <a:rPr lang="en-US" sz="1000" dirty="0">
                <a:solidFill>
                  <a:srgbClr val="8A9590"/>
                </a:solidFill>
                <a:latin typeface="Calibri" pitchFamily="34" charset="0"/>
                <a:ea typeface="Calibri" pitchFamily="34" charset="-122"/>
                <a:cs typeface="Calibri" pitchFamily="34" charset="-120"/>
              </a:rPr>
              <a:t>…</a:t>
            </a:r>
            <a:endParaRPr lang="en-US" sz="1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3" name="Text 1"/>
          <p:cNvSpPr txBox="1"/>
          <p:nvPr/>
        </p:nvSpPr>
        <p:spPr>
          <a:xfrm>
            <a:off x="502920" y="868680"/>
            <a:ext cx="3200400" cy="1463040"/>
          </a:xfrm>
          <a:prstGeom prst="rect">
            <a:avLst/>
          </a:prstGeom>
          <a:noFill/>
          <a:ln/>
        </p:spPr>
        <p:txBody>
          <a:bodyPr wrap="square" lIns="0" tIns="0" rIns="0" bIns="0" rtlCol="0" anchor="ctr"/>
          <a:lstStyle/>
          <a:p>
            <a:pPr marL="0" indent="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423160"/>
            <a:ext cx="54864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Governing and sustaining</a:t>
            </a:r>
            <a:endParaRPr lang="en-US" sz="3800" dirty="0"/>
          </a:p>
        </p:txBody>
      </p:sp>
      <p:sp>
        <p:nvSpPr>
          <p:cNvPr id="5" name="Text 3"/>
          <p:cNvSpPr txBox="1"/>
          <p:nvPr/>
        </p:nvSpPr>
        <p:spPr>
          <a:xfrm>
            <a:off x="548640" y="320040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What must be true before an NSO publishes from a search engine?</a:t>
            </a:r>
            <a:endParaRPr lang="en-US" sz="1700" dirty="0"/>
          </a:p>
        </p:txBody>
      </p:sp>
      <p:sp>
        <p:nvSpPr>
          <p:cNvPr id="6" name="Shape 4"/>
          <p:cNvSpPr/>
          <p:nvPr/>
        </p:nvSpPr>
        <p:spPr>
          <a:xfrm>
            <a:off x="6263640" y="1417320"/>
            <a:ext cx="1645920" cy="164592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1828800"/>
            <a:ext cx="822960" cy="822960"/>
          </a:xfrm>
          <a:prstGeom prst="rect">
            <a:avLst/>
          </a:prstGeom>
        </p:spPr>
      </p:pic>
      <p:sp>
        <p:nvSpPr>
          <p:cNvPr id="8" name="Shape 5"/>
          <p:cNvSpPr/>
          <p:nvPr/>
        </p:nvSpPr>
        <p:spPr>
          <a:xfrm>
            <a:off x="566928" y="4224528"/>
            <a:ext cx="118872" cy="118872"/>
          </a:xfrm>
          <a:prstGeom prst="ellipse">
            <a:avLst/>
          </a:prstGeom>
          <a:solidFill>
            <a:srgbClr val="FFFFFF">
              <a:alpha val="40000"/>
            </a:srgbClr>
          </a:solidFill>
          <a:ln/>
        </p:spPr>
      </p:sp>
      <p:sp>
        <p:nvSpPr>
          <p:cNvPr id="9" name="Shape 6"/>
          <p:cNvSpPr/>
          <p:nvPr/>
        </p:nvSpPr>
        <p:spPr>
          <a:xfrm>
            <a:off x="804672" y="4224528"/>
            <a:ext cx="118872" cy="118872"/>
          </a:xfrm>
          <a:prstGeom prst="ellipse">
            <a:avLst/>
          </a:prstGeom>
          <a:solidFill>
            <a:srgbClr val="FFFFFF">
              <a:alpha val="40000"/>
            </a:srgbClr>
          </a:solidFill>
          <a:ln/>
        </p:spPr>
      </p:sp>
      <p:sp>
        <p:nvSpPr>
          <p:cNvPr id="10" name="Shape 7"/>
          <p:cNvSpPr/>
          <p:nvPr/>
        </p:nvSpPr>
        <p:spPr>
          <a:xfrm>
            <a:off x="1042416" y="4224528"/>
            <a:ext cx="118872" cy="118872"/>
          </a:xfrm>
          <a:prstGeom prst="ellipse">
            <a:avLst/>
          </a:prstGeom>
          <a:solidFill>
            <a:srgbClr val="FFFFFF">
              <a:alpha val="40000"/>
            </a:srgbClr>
          </a:solidFill>
          <a:ln/>
        </p:spPr>
      </p:sp>
      <p:sp>
        <p:nvSpPr>
          <p:cNvPr id="11" name="Shape 8"/>
          <p:cNvSpPr/>
          <p:nvPr/>
        </p:nvSpPr>
        <p:spPr>
          <a:xfrm>
            <a:off x="1280160" y="4224528"/>
            <a:ext cx="118872" cy="118872"/>
          </a:xfrm>
          <a:prstGeom prst="ellipse">
            <a:avLst/>
          </a:prstGeom>
          <a:solidFill>
            <a:srgbClr val="FFFFFF">
              <a:alpha val="40000"/>
            </a:srgbClr>
          </a:solidFill>
          <a:ln/>
        </p:spPr>
      </p:sp>
      <p:sp>
        <p:nvSpPr>
          <p:cNvPr id="12" name="Shape 9"/>
          <p:cNvSpPr/>
          <p:nvPr/>
        </p:nvSpPr>
        <p:spPr>
          <a:xfrm>
            <a:off x="1517904" y="4224528"/>
            <a:ext cx="118872" cy="118872"/>
          </a:xfrm>
          <a:prstGeom prst="ellipse">
            <a:avLst/>
          </a:prstGeom>
          <a:solidFill>
            <a:srgbClr val="FFFFFF">
              <a:alpha val="40000"/>
            </a:srgbClr>
          </a:solidFill>
          <a:ln/>
        </p:spPr>
      </p:sp>
      <p:sp>
        <p:nvSpPr>
          <p:cNvPr id="13" name="Shape 10"/>
          <p:cNvSpPr/>
          <p:nvPr/>
        </p:nvSpPr>
        <p:spPr>
          <a:xfrm>
            <a:off x="1755648" y="4224528"/>
            <a:ext cx="118872" cy="118872"/>
          </a:xfrm>
          <a:prstGeom prst="ellipse">
            <a:avLst/>
          </a:prstGeom>
          <a:solidFill>
            <a:srgbClr val="F5C242"/>
          </a:solidFill>
          <a:ln/>
        </p:spPr>
      </p:sp>
      <p:sp>
        <p:nvSpPr>
          <p:cNvPr id="14" name="Text 11"/>
          <p:cNvSpPr txBox="1"/>
          <p:nvPr/>
        </p:nvSpPr>
        <p:spPr>
          <a:xfrm>
            <a:off x="8229600" y="4800600"/>
            <a:ext cx="4572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Quality and ethics: what the index does not fix</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6" name="Shape 12"/>
          <p:cNvSpPr/>
          <p:nvPr/>
        </p:nvSpPr>
        <p:spPr>
          <a:xfrm>
            <a:off x="457200" y="1261872"/>
            <a:ext cx="2560320" cy="1508760"/>
          </a:xfrm>
          <a:prstGeom prst="roundRect">
            <a:avLst>
              <a:gd name="adj" fmla="val 4848"/>
            </a:avLst>
          </a:prstGeom>
          <a:solidFill>
            <a:srgbClr val="F4F7F5"/>
          </a:solidFill>
          <a:ln w="9525">
            <a:solidFill>
              <a:srgbClr val="D5DED9"/>
            </a:solidFill>
            <a:prstDash val="solid"/>
          </a:ln>
        </p:spPr>
      </p:sp>
      <p:sp>
        <p:nvSpPr>
          <p:cNvPr id="17" name="Shape 13"/>
          <p:cNvSpPr/>
          <p:nvPr/>
        </p:nvSpPr>
        <p:spPr>
          <a:xfrm>
            <a:off x="603504" y="1408176"/>
            <a:ext cx="438912" cy="438912"/>
          </a:xfrm>
          <a:prstGeom prst="ellipse">
            <a:avLst/>
          </a:prstGeom>
          <a:solidFill>
            <a:srgbClr val="B83B2E">
              <a:alpha val="22000"/>
            </a:srgbClr>
          </a:solidFill>
          <a:ln/>
        </p:spPr>
      </p:sp>
      <p:pic>
        <p:nvPicPr>
          <p:cNvPr id="18" name="Image 1" descr="preencoded.png"/>
          <p:cNvPicPr>
            <a:picLocks noChangeAspect="1"/>
          </p:cNvPicPr>
          <p:nvPr/>
        </p:nvPicPr>
        <p:blipFill>
          <a:blip r:embed="rId4"/>
          <a:stretch>
            <a:fillRect/>
          </a:stretch>
        </p:blipFill>
        <p:spPr>
          <a:xfrm>
            <a:off x="717621" y="1522293"/>
            <a:ext cx="210678" cy="210678"/>
          </a:xfrm>
          <a:prstGeom prst="rect">
            <a:avLst/>
          </a:prstGeom>
        </p:spPr>
      </p:pic>
      <p:sp>
        <p:nvSpPr>
          <p:cNvPr id="19" name="Text 14"/>
          <p:cNvSpPr txBox="1"/>
          <p:nvPr/>
        </p:nvSpPr>
        <p:spPr>
          <a:xfrm>
            <a:off x="115214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Coverage bias</a:t>
            </a:r>
            <a:endParaRPr lang="en-US" sz="1350" dirty="0"/>
          </a:p>
        </p:txBody>
      </p:sp>
      <p:sp>
        <p:nvSpPr>
          <p:cNvPr id="20" name="Text 15"/>
          <p:cNvSpPr txBox="1"/>
          <p:nvPr/>
        </p:nvSpPr>
        <p:spPr>
          <a:xfrm>
            <a:off x="60350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Crowdsourced, self-selected testers — not a probability sample. Expect urban and smartphone skew.</a:t>
            </a:r>
            <a:endParaRPr lang="en-US" sz="1050" dirty="0"/>
          </a:p>
        </p:txBody>
      </p:sp>
      <p:sp>
        <p:nvSpPr>
          <p:cNvPr id="21" name="Shape 16"/>
          <p:cNvSpPr/>
          <p:nvPr/>
        </p:nvSpPr>
        <p:spPr>
          <a:xfrm>
            <a:off x="3291840" y="1261872"/>
            <a:ext cx="2560320" cy="1508760"/>
          </a:xfrm>
          <a:prstGeom prst="roundRect">
            <a:avLst>
              <a:gd name="adj" fmla="val 4848"/>
            </a:avLst>
          </a:prstGeom>
          <a:solidFill>
            <a:srgbClr val="F4F7F5"/>
          </a:solidFill>
          <a:ln w="9525">
            <a:solidFill>
              <a:srgbClr val="D5DED9"/>
            </a:solidFill>
            <a:prstDash val="solid"/>
          </a:ln>
        </p:spPr>
      </p:sp>
      <p:sp>
        <p:nvSpPr>
          <p:cNvPr id="22" name="Shape 17"/>
          <p:cNvSpPr/>
          <p:nvPr/>
        </p:nvSpPr>
        <p:spPr>
          <a:xfrm>
            <a:off x="3438144" y="1408176"/>
            <a:ext cx="438912" cy="438912"/>
          </a:xfrm>
          <a:prstGeom prst="ellipse">
            <a:avLst/>
          </a:prstGeom>
          <a:solidFill>
            <a:srgbClr val="B83B2E">
              <a:alpha val="22000"/>
            </a:srgbClr>
          </a:solidFill>
          <a:ln/>
        </p:spPr>
      </p:sp>
      <p:pic>
        <p:nvPicPr>
          <p:cNvPr id="23" name="Image 2" descr="preencoded.png"/>
          <p:cNvPicPr>
            <a:picLocks noChangeAspect="1"/>
          </p:cNvPicPr>
          <p:nvPr/>
        </p:nvPicPr>
        <p:blipFill>
          <a:blip r:embed="rId5"/>
          <a:stretch>
            <a:fillRect/>
          </a:stretch>
        </p:blipFill>
        <p:spPr>
          <a:xfrm>
            <a:off x="3552261" y="1522293"/>
            <a:ext cx="210678" cy="210678"/>
          </a:xfrm>
          <a:prstGeom prst="rect">
            <a:avLst/>
          </a:prstGeom>
        </p:spPr>
      </p:pic>
      <p:sp>
        <p:nvSpPr>
          <p:cNvPr id="24" name="Text 18"/>
          <p:cNvSpPr txBox="1"/>
          <p:nvPr/>
        </p:nvSpPr>
        <p:spPr>
          <a:xfrm>
            <a:off x="398678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Small numbers</a:t>
            </a:r>
            <a:endParaRPr lang="en-US" sz="1350" dirty="0"/>
          </a:p>
        </p:txBody>
      </p:sp>
      <p:sp>
        <p:nvSpPr>
          <p:cNvPr id="25" name="Text 19"/>
          <p:cNvSpPr txBox="1"/>
          <p:nvPr/>
        </p:nvSpPr>
        <p:spPr>
          <a:xfrm>
            <a:off x="343814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Set a minimum-tests threshold; suppress or flag regions below it and always report n.</a:t>
            </a:r>
            <a:endParaRPr lang="en-US" sz="1050" dirty="0"/>
          </a:p>
        </p:txBody>
      </p:sp>
      <p:sp>
        <p:nvSpPr>
          <p:cNvPr id="26" name="Shape 20"/>
          <p:cNvSpPr/>
          <p:nvPr/>
        </p:nvSpPr>
        <p:spPr>
          <a:xfrm>
            <a:off x="6126480" y="1261872"/>
            <a:ext cx="2560320" cy="1508760"/>
          </a:xfrm>
          <a:prstGeom prst="roundRect">
            <a:avLst>
              <a:gd name="adj" fmla="val 4848"/>
            </a:avLst>
          </a:prstGeom>
          <a:solidFill>
            <a:srgbClr val="F4F7F5"/>
          </a:solidFill>
          <a:ln w="9525">
            <a:solidFill>
              <a:srgbClr val="D5DED9"/>
            </a:solidFill>
            <a:prstDash val="solid"/>
          </a:ln>
        </p:spPr>
      </p:sp>
      <p:sp>
        <p:nvSpPr>
          <p:cNvPr id="27" name="Shape 21"/>
          <p:cNvSpPr/>
          <p:nvPr/>
        </p:nvSpPr>
        <p:spPr>
          <a:xfrm>
            <a:off x="6272784" y="1408176"/>
            <a:ext cx="438912" cy="438912"/>
          </a:xfrm>
          <a:prstGeom prst="ellipse">
            <a:avLst/>
          </a:prstGeom>
          <a:solidFill>
            <a:srgbClr val="B83B2E">
              <a:alpha val="22000"/>
            </a:srgbClr>
          </a:solidFill>
          <a:ln/>
        </p:spPr>
      </p:sp>
      <p:pic>
        <p:nvPicPr>
          <p:cNvPr id="28" name="Image 3" descr="preencoded.png"/>
          <p:cNvPicPr>
            <a:picLocks noChangeAspect="1"/>
          </p:cNvPicPr>
          <p:nvPr/>
        </p:nvPicPr>
        <p:blipFill>
          <a:blip r:embed="rId6"/>
          <a:stretch>
            <a:fillRect/>
          </a:stretch>
        </p:blipFill>
        <p:spPr>
          <a:xfrm>
            <a:off x="6386901" y="1522293"/>
            <a:ext cx="210678" cy="210678"/>
          </a:xfrm>
          <a:prstGeom prst="rect">
            <a:avLst/>
          </a:prstGeom>
        </p:spPr>
      </p:pic>
      <p:sp>
        <p:nvSpPr>
          <p:cNvPr id="29" name="Text 22"/>
          <p:cNvSpPr txBox="1"/>
          <p:nvPr/>
        </p:nvSpPr>
        <p:spPr>
          <a:xfrm>
            <a:off x="6821424" y="1408176"/>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Licence</a:t>
            </a:r>
            <a:endParaRPr lang="en-US" sz="1350" dirty="0"/>
          </a:p>
        </p:txBody>
      </p:sp>
      <p:sp>
        <p:nvSpPr>
          <p:cNvPr id="30" name="Text 23"/>
          <p:cNvSpPr txBox="1"/>
          <p:nvPr/>
        </p:nvSpPr>
        <p:spPr>
          <a:xfrm>
            <a:off x="6272784" y="1956816"/>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CC BY-NC-SA 4.0: attribute Ookla, non-commercial use, share derived data alike.</a:t>
            </a:r>
            <a:endParaRPr lang="en-US" sz="1050" dirty="0"/>
          </a:p>
        </p:txBody>
      </p:sp>
      <p:sp>
        <p:nvSpPr>
          <p:cNvPr id="31" name="Shape 24"/>
          <p:cNvSpPr/>
          <p:nvPr/>
        </p:nvSpPr>
        <p:spPr>
          <a:xfrm>
            <a:off x="457200" y="2935224"/>
            <a:ext cx="2560320" cy="1508760"/>
          </a:xfrm>
          <a:prstGeom prst="roundRect">
            <a:avLst>
              <a:gd name="adj" fmla="val 4848"/>
            </a:avLst>
          </a:prstGeom>
          <a:solidFill>
            <a:srgbClr val="F4F7F5"/>
          </a:solidFill>
          <a:ln w="9525">
            <a:solidFill>
              <a:srgbClr val="D5DED9"/>
            </a:solidFill>
            <a:prstDash val="solid"/>
          </a:ln>
        </p:spPr>
      </p:sp>
      <p:sp>
        <p:nvSpPr>
          <p:cNvPr id="32" name="Shape 25"/>
          <p:cNvSpPr/>
          <p:nvPr/>
        </p:nvSpPr>
        <p:spPr>
          <a:xfrm>
            <a:off x="603504" y="3081528"/>
            <a:ext cx="438912" cy="438912"/>
          </a:xfrm>
          <a:prstGeom prst="ellipse">
            <a:avLst/>
          </a:prstGeom>
          <a:solidFill>
            <a:srgbClr val="B83B2E">
              <a:alpha val="22000"/>
            </a:srgbClr>
          </a:solidFill>
          <a:ln/>
        </p:spPr>
      </p:sp>
      <p:pic>
        <p:nvPicPr>
          <p:cNvPr id="33" name="Image 4" descr="preencoded.png"/>
          <p:cNvPicPr>
            <a:picLocks noChangeAspect="1"/>
          </p:cNvPicPr>
          <p:nvPr/>
        </p:nvPicPr>
        <p:blipFill>
          <a:blip r:embed="rId7"/>
          <a:stretch>
            <a:fillRect/>
          </a:stretch>
        </p:blipFill>
        <p:spPr>
          <a:xfrm>
            <a:off x="717621" y="3195645"/>
            <a:ext cx="210678" cy="210678"/>
          </a:xfrm>
          <a:prstGeom prst="rect">
            <a:avLst/>
          </a:prstGeom>
        </p:spPr>
      </p:pic>
      <p:sp>
        <p:nvSpPr>
          <p:cNvPr id="34" name="Text 26"/>
          <p:cNvSpPr txBox="1"/>
          <p:nvPr/>
        </p:nvSpPr>
        <p:spPr>
          <a:xfrm>
            <a:off x="115214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Confidentiality</a:t>
            </a:r>
            <a:endParaRPr lang="en-US" sz="1350" dirty="0"/>
          </a:p>
        </p:txBody>
      </p:sp>
      <p:sp>
        <p:nvSpPr>
          <p:cNvPr id="35" name="Text 27"/>
          <p:cNvSpPr txBox="1"/>
          <p:nvPr/>
        </p:nvSpPr>
        <p:spPr>
          <a:xfrm>
            <a:off x="60350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microdata on open clusters. Authentication, role-based access, encrypted transport.</a:t>
            </a:r>
            <a:endParaRPr lang="en-US" sz="1050" dirty="0"/>
          </a:p>
        </p:txBody>
      </p:sp>
      <p:sp>
        <p:nvSpPr>
          <p:cNvPr id="36" name="Shape 28"/>
          <p:cNvSpPr/>
          <p:nvPr/>
        </p:nvSpPr>
        <p:spPr>
          <a:xfrm>
            <a:off x="3291840" y="2935224"/>
            <a:ext cx="2560320" cy="1508760"/>
          </a:xfrm>
          <a:prstGeom prst="roundRect">
            <a:avLst>
              <a:gd name="adj" fmla="val 4848"/>
            </a:avLst>
          </a:prstGeom>
          <a:solidFill>
            <a:srgbClr val="F4F7F5"/>
          </a:solidFill>
          <a:ln w="9525">
            <a:solidFill>
              <a:srgbClr val="D5DED9"/>
            </a:solidFill>
            <a:prstDash val="solid"/>
          </a:ln>
        </p:spPr>
      </p:sp>
      <p:sp>
        <p:nvSpPr>
          <p:cNvPr id="37" name="Shape 29"/>
          <p:cNvSpPr/>
          <p:nvPr/>
        </p:nvSpPr>
        <p:spPr>
          <a:xfrm>
            <a:off x="3438144" y="3081528"/>
            <a:ext cx="438912" cy="438912"/>
          </a:xfrm>
          <a:prstGeom prst="ellipse">
            <a:avLst/>
          </a:prstGeom>
          <a:solidFill>
            <a:srgbClr val="B83B2E">
              <a:alpha val="22000"/>
            </a:srgbClr>
          </a:solidFill>
          <a:ln/>
        </p:spPr>
      </p:sp>
      <p:pic>
        <p:nvPicPr>
          <p:cNvPr id="38" name="Image 5" descr="preencoded.png"/>
          <p:cNvPicPr>
            <a:picLocks noChangeAspect="1"/>
          </p:cNvPicPr>
          <p:nvPr/>
        </p:nvPicPr>
        <p:blipFill>
          <a:blip r:embed="rId8"/>
          <a:stretch>
            <a:fillRect/>
          </a:stretch>
        </p:blipFill>
        <p:spPr>
          <a:xfrm>
            <a:off x="3552261" y="3195645"/>
            <a:ext cx="210678" cy="210678"/>
          </a:xfrm>
          <a:prstGeom prst="rect">
            <a:avLst/>
          </a:prstGeom>
        </p:spPr>
      </p:pic>
      <p:sp>
        <p:nvSpPr>
          <p:cNvPr id="39" name="Text 30"/>
          <p:cNvSpPr txBox="1"/>
          <p:nvPr/>
        </p:nvSpPr>
        <p:spPr>
          <a:xfrm>
            <a:off x="398678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Reproducibility</a:t>
            </a:r>
            <a:endParaRPr lang="en-US" sz="1350" dirty="0"/>
          </a:p>
        </p:txBody>
      </p:sp>
      <p:sp>
        <p:nvSpPr>
          <p:cNvPr id="40" name="Text 31"/>
          <p:cNvSpPr txBox="1"/>
          <p:nvPr/>
        </p:nvSpPr>
        <p:spPr>
          <a:xfrm>
            <a:off x="343814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Mapping, ingestion code and queries versioned in Git with the data vintage.</a:t>
            </a:r>
            <a:endParaRPr lang="en-US" sz="1050" dirty="0"/>
          </a:p>
        </p:txBody>
      </p:sp>
      <p:sp>
        <p:nvSpPr>
          <p:cNvPr id="41" name="Shape 32"/>
          <p:cNvSpPr/>
          <p:nvPr/>
        </p:nvSpPr>
        <p:spPr>
          <a:xfrm>
            <a:off x="6126480" y="2935224"/>
            <a:ext cx="2560320" cy="1508760"/>
          </a:xfrm>
          <a:prstGeom prst="roundRect">
            <a:avLst>
              <a:gd name="adj" fmla="val 4848"/>
            </a:avLst>
          </a:prstGeom>
          <a:solidFill>
            <a:srgbClr val="F4F7F5"/>
          </a:solidFill>
          <a:ln w="9525">
            <a:solidFill>
              <a:srgbClr val="D5DED9"/>
            </a:solidFill>
            <a:prstDash val="solid"/>
          </a:ln>
        </p:spPr>
      </p:sp>
      <p:sp>
        <p:nvSpPr>
          <p:cNvPr id="42" name="Shape 33"/>
          <p:cNvSpPr/>
          <p:nvPr/>
        </p:nvSpPr>
        <p:spPr>
          <a:xfrm>
            <a:off x="6272784" y="3081528"/>
            <a:ext cx="438912" cy="438912"/>
          </a:xfrm>
          <a:prstGeom prst="ellipse">
            <a:avLst/>
          </a:prstGeom>
          <a:solidFill>
            <a:srgbClr val="B83B2E">
              <a:alpha val="22000"/>
            </a:srgbClr>
          </a:solidFill>
          <a:ln/>
        </p:spPr>
      </p:sp>
      <p:pic>
        <p:nvPicPr>
          <p:cNvPr id="43" name="Image 6" descr="preencoded.png"/>
          <p:cNvPicPr>
            <a:picLocks noChangeAspect="1"/>
          </p:cNvPicPr>
          <p:nvPr/>
        </p:nvPicPr>
        <p:blipFill>
          <a:blip r:embed="rId9"/>
          <a:stretch>
            <a:fillRect/>
          </a:stretch>
        </p:blipFill>
        <p:spPr>
          <a:xfrm>
            <a:off x="6386901" y="3195645"/>
            <a:ext cx="210678" cy="210678"/>
          </a:xfrm>
          <a:prstGeom prst="rect">
            <a:avLst/>
          </a:prstGeom>
        </p:spPr>
      </p:pic>
      <p:sp>
        <p:nvSpPr>
          <p:cNvPr id="44" name="Text 34"/>
          <p:cNvSpPr txBox="1"/>
          <p:nvPr/>
        </p:nvSpPr>
        <p:spPr>
          <a:xfrm>
            <a:off x="6821424" y="3081528"/>
            <a:ext cx="178308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Honest limits</a:t>
            </a:r>
            <a:endParaRPr lang="en-US" sz="1350" dirty="0"/>
          </a:p>
        </p:txBody>
      </p:sp>
      <p:sp>
        <p:nvSpPr>
          <p:cNvPr id="45" name="Text 35"/>
          <p:cNvSpPr txBox="1"/>
          <p:nvPr/>
        </p:nvSpPr>
        <p:spPr>
          <a:xfrm>
            <a:off x="6272784" y="3630168"/>
            <a:ext cx="228600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proxy is not an official statistic. Say what it cannot support, in writing.</a:t>
            </a:r>
            <a:endParaRPr lang="en-US" sz="1050" dirty="0"/>
          </a:p>
        </p:txBody>
      </p:sp>
      <p:sp>
        <p:nvSpPr>
          <p:cNvPr id="46" name="Text 36"/>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Licence: Registry of Open Data on AWS, Speedtest by Ookla Global Fixed and Mobile Network Performance Maps.</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Deployment options for a statistical office</a:t>
            </a:r>
            <a:endParaRPr lang="en-US" sz="28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6" name="Shape 12"/>
          <p:cNvSpPr/>
          <p:nvPr/>
        </p:nvSpPr>
        <p:spPr>
          <a:xfrm>
            <a:off x="457200" y="1261872"/>
            <a:ext cx="2560320" cy="2267712"/>
          </a:xfrm>
          <a:prstGeom prst="roundRect">
            <a:avLst>
              <a:gd name="adj" fmla="val 3226"/>
            </a:avLst>
          </a:prstGeom>
          <a:solidFill>
            <a:srgbClr val="F4F7F5"/>
          </a:solidFill>
          <a:ln w="9525">
            <a:solidFill>
              <a:srgbClr val="D5DED9"/>
            </a:solidFill>
            <a:prstDash val="solid"/>
          </a:ln>
        </p:spPr>
      </p:sp>
      <p:sp>
        <p:nvSpPr>
          <p:cNvPr id="17" name="Shape 13"/>
          <p:cNvSpPr/>
          <p:nvPr/>
        </p:nvSpPr>
        <p:spPr>
          <a:xfrm>
            <a:off x="603504" y="1371600"/>
            <a:ext cx="438912" cy="438912"/>
          </a:xfrm>
          <a:prstGeom prst="ellipse">
            <a:avLst/>
          </a:prstGeom>
          <a:solidFill>
            <a:srgbClr val="00A86A">
              <a:alpha val="22000"/>
            </a:srgbClr>
          </a:solidFill>
          <a:ln/>
        </p:spPr>
      </p:sp>
      <p:pic>
        <p:nvPicPr>
          <p:cNvPr id="18" name="Image 1" descr="preencoded.png"/>
          <p:cNvPicPr>
            <a:picLocks noChangeAspect="1"/>
          </p:cNvPicPr>
          <p:nvPr/>
        </p:nvPicPr>
        <p:blipFill>
          <a:blip r:embed="rId4"/>
          <a:stretch>
            <a:fillRect/>
          </a:stretch>
        </p:blipFill>
        <p:spPr>
          <a:xfrm>
            <a:off x="717621" y="1485717"/>
            <a:ext cx="210678" cy="210678"/>
          </a:xfrm>
          <a:prstGeom prst="rect">
            <a:avLst/>
          </a:prstGeom>
        </p:spPr>
      </p:pic>
      <p:sp>
        <p:nvSpPr>
          <p:cNvPr id="19" name="Text 14"/>
          <p:cNvSpPr txBox="1"/>
          <p:nvPr/>
        </p:nvSpPr>
        <p:spPr>
          <a:xfrm>
            <a:off x="115214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Self-managed</a:t>
            </a:r>
            <a:endParaRPr lang="en-US" sz="1400" dirty="0"/>
          </a:p>
        </p:txBody>
      </p:sp>
      <p:sp>
        <p:nvSpPr>
          <p:cNvPr id="20" name="Text 15"/>
          <p:cNvSpPr txBox="1"/>
          <p:nvPr/>
        </p:nvSpPr>
        <p:spPr>
          <a:xfrm>
            <a:off x="115214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on premises or national data centre</a:t>
            </a:r>
            <a:endParaRPr lang="en-US" sz="900" dirty="0"/>
          </a:p>
        </p:txBody>
      </p:sp>
      <p:sp>
        <p:nvSpPr>
          <p:cNvPr id="21" name="Shape 16"/>
          <p:cNvSpPr/>
          <p:nvPr/>
        </p:nvSpPr>
        <p:spPr>
          <a:xfrm>
            <a:off x="621792" y="2139696"/>
            <a:ext cx="237744" cy="237744"/>
          </a:xfrm>
          <a:prstGeom prst="ellipse">
            <a:avLst/>
          </a:prstGeom>
          <a:solidFill>
            <a:srgbClr val="00A86A">
              <a:alpha val="80000"/>
            </a:srgbClr>
          </a:solidFill>
          <a:ln/>
        </p:spPr>
      </p:sp>
      <p:sp>
        <p:nvSpPr>
          <p:cNvPr id="22" name="Text 17"/>
          <p:cNvSpPr txBox="1"/>
          <p:nvPr/>
        </p:nvSpPr>
        <p:spPr>
          <a:xfrm>
            <a:off x="62179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18"/>
          <p:cNvSpPr txBox="1"/>
          <p:nvPr/>
        </p:nvSpPr>
        <p:spPr>
          <a:xfrm>
            <a:off x="95097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Full control of data location</a:t>
            </a:r>
            <a:endParaRPr lang="en-US" sz="1050" dirty="0"/>
          </a:p>
        </p:txBody>
      </p:sp>
      <p:sp>
        <p:nvSpPr>
          <p:cNvPr id="24" name="Shape 19"/>
          <p:cNvSpPr/>
          <p:nvPr/>
        </p:nvSpPr>
        <p:spPr>
          <a:xfrm>
            <a:off x="621792" y="2596896"/>
            <a:ext cx="237744" cy="237744"/>
          </a:xfrm>
          <a:prstGeom prst="ellipse">
            <a:avLst/>
          </a:prstGeom>
          <a:solidFill>
            <a:srgbClr val="00A86A">
              <a:alpha val="80000"/>
            </a:srgbClr>
          </a:solidFill>
          <a:ln/>
        </p:spPr>
      </p:sp>
      <p:sp>
        <p:nvSpPr>
          <p:cNvPr id="25" name="Text 20"/>
          <p:cNvSpPr txBox="1"/>
          <p:nvPr/>
        </p:nvSpPr>
        <p:spPr>
          <a:xfrm>
            <a:off x="62179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1"/>
          <p:cNvSpPr txBox="1"/>
          <p:nvPr/>
        </p:nvSpPr>
        <p:spPr>
          <a:xfrm>
            <a:off x="95097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per-use cloud bill</a:t>
            </a:r>
            <a:endParaRPr lang="en-US" sz="1050" dirty="0"/>
          </a:p>
        </p:txBody>
      </p:sp>
      <p:sp>
        <p:nvSpPr>
          <p:cNvPr id="27" name="Shape 22"/>
          <p:cNvSpPr/>
          <p:nvPr/>
        </p:nvSpPr>
        <p:spPr>
          <a:xfrm>
            <a:off x="621792" y="3054096"/>
            <a:ext cx="237744" cy="237744"/>
          </a:xfrm>
          <a:prstGeom prst="ellipse">
            <a:avLst/>
          </a:prstGeom>
          <a:solidFill>
            <a:srgbClr val="B83B2E">
              <a:alpha val="80000"/>
            </a:srgbClr>
          </a:solidFill>
          <a:ln/>
        </p:spPr>
      </p:sp>
      <p:sp>
        <p:nvSpPr>
          <p:cNvPr id="28" name="Text 23"/>
          <p:cNvSpPr txBox="1"/>
          <p:nvPr/>
        </p:nvSpPr>
        <p:spPr>
          <a:xfrm>
            <a:off x="62179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4"/>
          <p:cNvSpPr txBox="1"/>
          <p:nvPr/>
        </p:nvSpPr>
        <p:spPr>
          <a:xfrm>
            <a:off x="95097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Needs skills: upgrades, security, backups</a:t>
            </a:r>
            <a:endParaRPr lang="en-US" sz="1050" dirty="0"/>
          </a:p>
        </p:txBody>
      </p:sp>
      <p:sp>
        <p:nvSpPr>
          <p:cNvPr id="30" name="Shape 25"/>
          <p:cNvSpPr/>
          <p:nvPr/>
        </p:nvSpPr>
        <p:spPr>
          <a:xfrm>
            <a:off x="3291840" y="1261872"/>
            <a:ext cx="2560320" cy="2267712"/>
          </a:xfrm>
          <a:prstGeom prst="roundRect">
            <a:avLst>
              <a:gd name="adj" fmla="val 3226"/>
            </a:avLst>
          </a:prstGeom>
          <a:solidFill>
            <a:srgbClr val="F4F7F5"/>
          </a:solidFill>
          <a:ln w="9525">
            <a:solidFill>
              <a:srgbClr val="D5DED9"/>
            </a:solidFill>
            <a:prstDash val="solid"/>
          </a:ln>
        </p:spPr>
      </p:sp>
      <p:sp>
        <p:nvSpPr>
          <p:cNvPr id="31" name="Shape 26"/>
          <p:cNvSpPr/>
          <p:nvPr/>
        </p:nvSpPr>
        <p:spPr>
          <a:xfrm>
            <a:off x="3438144" y="1371600"/>
            <a:ext cx="438912" cy="438912"/>
          </a:xfrm>
          <a:prstGeom prst="ellipse">
            <a:avLst/>
          </a:prstGeom>
          <a:solidFill>
            <a:srgbClr val="0E7C86">
              <a:alpha val="22000"/>
            </a:srgbClr>
          </a:solidFill>
          <a:ln/>
        </p:spPr>
      </p:sp>
      <p:pic>
        <p:nvPicPr>
          <p:cNvPr id="32" name="Image 2" descr="preencoded.png"/>
          <p:cNvPicPr>
            <a:picLocks noChangeAspect="1"/>
          </p:cNvPicPr>
          <p:nvPr/>
        </p:nvPicPr>
        <p:blipFill>
          <a:blip r:embed="rId5"/>
          <a:stretch>
            <a:fillRect/>
          </a:stretch>
        </p:blipFill>
        <p:spPr>
          <a:xfrm>
            <a:off x="3552261" y="1485717"/>
            <a:ext cx="210678" cy="210678"/>
          </a:xfrm>
          <a:prstGeom prst="rect">
            <a:avLst/>
          </a:prstGeom>
        </p:spPr>
      </p:pic>
      <p:sp>
        <p:nvSpPr>
          <p:cNvPr id="33" name="Text 27"/>
          <p:cNvSpPr txBox="1"/>
          <p:nvPr/>
        </p:nvSpPr>
        <p:spPr>
          <a:xfrm>
            <a:off x="398678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Managed cloud</a:t>
            </a:r>
            <a:endParaRPr lang="en-US" sz="1400" dirty="0"/>
          </a:p>
        </p:txBody>
      </p:sp>
      <p:sp>
        <p:nvSpPr>
          <p:cNvPr id="34" name="Text 28"/>
          <p:cNvSpPr txBox="1"/>
          <p:nvPr/>
        </p:nvSpPr>
        <p:spPr>
          <a:xfrm>
            <a:off x="398678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Elastic Cloud or another provider</a:t>
            </a:r>
            <a:endParaRPr lang="en-US" sz="900" dirty="0"/>
          </a:p>
        </p:txBody>
      </p:sp>
      <p:sp>
        <p:nvSpPr>
          <p:cNvPr id="35" name="Shape 29"/>
          <p:cNvSpPr/>
          <p:nvPr/>
        </p:nvSpPr>
        <p:spPr>
          <a:xfrm>
            <a:off x="3456432" y="2139696"/>
            <a:ext cx="237744" cy="237744"/>
          </a:xfrm>
          <a:prstGeom prst="ellipse">
            <a:avLst/>
          </a:prstGeom>
          <a:solidFill>
            <a:srgbClr val="00A86A">
              <a:alpha val="80000"/>
            </a:srgbClr>
          </a:solidFill>
          <a:ln/>
        </p:spPr>
      </p:sp>
      <p:sp>
        <p:nvSpPr>
          <p:cNvPr id="36" name="Text 30"/>
          <p:cNvSpPr txBox="1"/>
          <p:nvPr/>
        </p:nvSpPr>
        <p:spPr>
          <a:xfrm>
            <a:off x="345643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1"/>
          <p:cNvSpPr txBox="1"/>
          <p:nvPr/>
        </p:nvSpPr>
        <p:spPr>
          <a:xfrm>
            <a:off x="378561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Running in minutes, scales easily</a:t>
            </a:r>
            <a:endParaRPr lang="en-US" sz="1050" dirty="0"/>
          </a:p>
        </p:txBody>
      </p:sp>
      <p:sp>
        <p:nvSpPr>
          <p:cNvPr id="38" name="Shape 32"/>
          <p:cNvSpPr/>
          <p:nvPr/>
        </p:nvSpPr>
        <p:spPr>
          <a:xfrm>
            <a:off x="3456432" y="2596896"/>
            <a:ext cx="237744" cy="237744"/>
          </a:xfrm>
          <a:prstGeom prst="ellipse">
            <a:avLst/>
          </a:prstGeom>
          <a:solidFill>
            <a:srgbClr val="00A86A">
              <a:alpha val="80000"/>
            </a:srgbClr>
          </a:solidFill>
          <a:ln/>
        </p:spPr>
      </p:sp>
      <p:sp>
        <p:nvSpPr>
          <p:cNvPr id="39" name="Text 33"/>
          <p:cNvSpPr txBox="1"/>
          <p:nvPr/>
        </p:nvSpPr>
        <p:spPr>
          <a:xfrm>
            <a:off x="345643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0" name="Text 34"/>
          <p:cNvSpPr txBox="1"/>
          <p:nvPr/>
        </p:nvSpPr>
        <p:spPr>
          <a:xfrm>
            <a:off x="378561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Operations handled by the provider</a:t>
            </a:r>
            <a:endParaRPr lang="en-US" sz="1050" dirty="0"/>
          </a:p>
        </p:txBody>
      </p:sp>
      <p:sp>
        <p:nvSpPr>
          <p:cNvPr id="41" name="Shape 35"/>
          <p:cNvSpPr/>
          <p:nvPr/>
        </p:nvSpPr>
        <p:spPr>
          <a:xfrm>
            <a:off x="3456432" y="3054096"/>
            <a:ext cx="237744" cy="237744"/>
          </a:xfrm>
          <a:prstGeom prst="ellipse">
            <a:avLst/>
          </a:prstGeom>
          <a:solidFill>
            <a:srgbClr val="B83B2E">
              <a:alpha val="80000"/>
            </a:srgbClr>
          </a:solidFill>
          <a:ln/>
        </p:spPr>
      </p:sp>
      <p:sp>
        <p:nvSpPr>
          <p:cNvPr id="42" name="Text 36"/>
          <p:cNvSpPr txBox="1"/>
          <p:nvPr/>
        </p:nvSpPr>
        <p:spPr>
          <a:xfrm>
            <a:off x="345643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3" name="Text 37"/>
          <p:cNvSpPr txBox="1"/>
          <p:nvPr/>
        </p:nvSpPr>
        <p:spPr>
          <a:xfrm>
            <a:off x="378561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Data residency and recurring cost</a:t>
            </a:r>
            <a:endParaRPr lang="en-US" sz="1050" dirty="0"/>
          </a:p>
        </p:txBody>
      </p:sp>
      <p:sp>
        <p:nvSpPr>
          <p:cNvPr id="44" name="Shape 38"/>
          <p:cNvSpPr/>
          <p:nvPr/>
        </p:nvSpPr>
        <p:spPr>
          <a:xfrm>
            <a:off x="6126480" y="1261872"/>
            <a:ext cx="2560320" cy="2267712"/>
          </a:xfrm>
          <a:prstGeom prst="roundRect">
            <a:avLst>
              <a:gd name="adj" fmla="val 3226"/>
            </a:avLst>
          </a:prstGeom>
          <a:solidFill>
            <a:srgbClr val="F4F7F5"/>
          </a:solidFill>
          <a:ln w="9525">
            <a:solidFill>
              <a:srgbClr val="D5DED9"/>
            </a:solidFill>
            <a:prstDash val="solid"/>
          </a:ln>
        </p:spPr>
      </p:sp>
      <p:sp>
        <p:nvSpPr>
          <p:cNvPr id="45" name="Shape 39"/>
          <p:cNvSpPr/>
          <p:nvPr/>
        </p:nvSpPr>
        <p:spPr>
          <a:xfrm>
            <a:off x="6272784" y="1371600"/>
            <a:ext cx="438912" cy="438912"/>
          </a:xfrm>
          <a:prstGeom prst="ellipse">
            <a:avLst/>
          </a:prstGeom>
          <a:solidFill>
            <a:srgbClr val="00704A">
              <a:alpha val="22000"/>
            </a:srgbClr>
          </a:solidFill>
          <a:ln/>
        </p:spPr>
      </p:sp>
      <p:pic>
        <p:nvPicPr>
          <p:cNvPr id="46" name="Image 3" descr="preencoded.png"/>
          <p:cNvPicPr>
            <a:picLocks noChangeAspect="1"/>
          </p:cNvPicPr>
          <p:nvPr/>
        </p:nvPicPr>
        <p:blipFill>
          <a:blip r:embed="rId6"/>
          <a:stretch>
            <a:fillRect/>
          </a:stretch>
        </p:blipFill>
        <p:spPr>
          <a:xfrm>
            <a:off x="6386901" y="1485717"/>
            <a:ext cx="210678" cy="210678"/>
          </a:xfrm>
          <a:prstGeom prst="rect">
            <a:avLst/>
          </a:prstGeom>
        </p:spPr>
      </p:pic>
      <p:sp>
        <p:nvSpPr>
          <p:cNvPr id="47" name="Text 40"/>
          <p:cNvSpPr txBox="1"/>
          <p:nvPr/>
        </p:nvSpPr>
        <p:spPr>
          <a:xfrm>
            <a:off x="6821424" y="1371600"/>
            <a:ext cx="178308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OpenSearch</a:t>
            </a:r>
            <a:endParaRPr lang="en-US" sz="1400" dirty="0"/>
          </a:p>
        </p:txBody>
      </p:sp>
      <p:sp>
        <p:nvSpPr>
          <p:cNvPr id="48" name="Text 41"/>
          <p:cNvSpPr txBox="1"/>
          <p:nvPr/>
        </p:nvSpPr>
        <p:spPr>
          <a:xfrm>
            <a:off x="6821424" y="1609344"/>
            <a:ext cx="1783080" cy="27432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Apache 2.0 fork, Linux Foundation</a:t>
            </a:r>
            <a:endParaRPr lang="en-US" sz="900" dirty="0"/>
          </a:p>
        </p:txBody>
      </p:sp>
      <p:sp>
        <p:nvSpPr>
          <p:cNvPr id="49" name="Shape 42"/>
          <p:cNvSpPr/>
          <p:nvPr/>
        </p:nvSpPr>
        <p:spPr>
          <a:xfrm>
            <a:off x="6291072" y="2139696"/>
            <a:ext cx="237744" cy="237744"/>
          </a:xfrm>
          <a:prstGeom prst="ellipse">
            <a:avLst/>
          </a:prstGeom>
          <a:solidFill>
            <a:srgbClr val="00A86A">
              <a:alpha val="80000"/>
            </a:srgbClr>
          </a:solidFill>
          <a:ln/>
        </p:spPr>
      </p:sp>
      <p:sp>
        <p:nvSpPr>
          <p:cNvPr id="50" name="Text 43"/>
          <p:cNvSpPr txBox="1"/>
          <p:nvPr/>
        </p:nvSpPr>
        <p:spPr>
          <a:xfrm>
            <a:off x="6291072" y="21396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1" name="Text 44"/>
          <p:cNvSpPr txBox="1"/>
          <p:nvPr/>
        </p:nvSpPr>
        <p:spPr>
          <a:xfrm>
            <a:off x="6620256" y="21031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Fully open-source licence</a:t>
            </a:r>
            <a:endParaRPr lang="en-US" sz="1050" dirty="0"/>
          </a:p>
        </p:txBody>
      </p:sp>
      <p:sp>
        <p:nvSpPr>
          <p:cNvPr id="52" name="Shape 45"/>
          <p:cNvSpPr/>
          <p:nvPr/>
        </p:nvSpPr>
        <p:spPr>
          <a:xfrm>
            <a:off x="6291072" y="2596896"/>
            <a:ext cx="237744" cy="237744"/>
          </a:xfrm>
          <a:prstGeom prst="ellipse">
            <a:avLst/>
          </a:prstGeom>
          <a:solidFill>
            <a:srgbClr val="00A86A">
              <a:alpha val="80000"/>
            </a:srgbClr>
          </a:solidFill>
          <a:ln/>
        </p:spPr>
      </p:sp>
      <p:sp>
        <p:nvSpPr>
          <p:cNvPr id="53" name="Text 46"/>
          <p:cNvSpPr txBox="1"/>
          <p:nvPr/>
        </p:nvSpPr>
        <p:spPr>
          <a:xfrm>
            <a:off x="6291072" y="25968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4" name="Text 47"/>
          <p:cNvSpPr txBox="1"/>
          <p:nvPr/>
        </p:nvSpPr>
        <p:spPr>
          <a:xfrm>
            <a:off x="6620256" y="25603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Concepts from this session transfer</a:t>
            </a:r>
            <a:endParaRPr lang="en-US" sz="1050" dirty="0"/>
          </a:p>
        </p:txBody>
      </p:sp>
      <p:sp>
        <p:nvSpPr>
          <p:cNvPr id="55" name="Shape 48"/>
          <p:cNvSpPr/>
          <p:nvPr/>
        </p:nvSpPr>
        <p:spPr>
          <a:xfrm>
            <a:off x="6291072" y="3054096"/>
            <a:ext cx="237744" cy="237744"/>
          </a:xfrm>
          <a:prstGeom prst="ellipse">
            <a:avLst/>
          </a:prstGeom>
          <a:solidFill>
            <a:srgbClr val="B83B2E">
              <a:alpha val="80000"/>
            </a:srgbClr>
          </a:solidFill>
          <a:ln/>
        </p:spPr>
      </p:sp>
      <p:sp>
        <p:nvSpPr>
          <p:cNvPr id="56" name="Text 49"/>
          <p:cNvSpPr txBox="1"/>
          <p:nvPr/>
        </p:nvSpPr>
        <p:spPr>
          <a:xfrm>
            <a:off x="6291072" y="3054096"/>
            <a:ext cx="2377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7" name="Text 50"/>
          <p:cNvSpPr txBox="1"/>
          <p:nvPr/>
        </p:nvSpPr>
        <p:spPr>
          <a:xfrm>
            <a:off x="6620256" y="3017520"/>
            <a:ext cx="192024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APIs have diverged in places</a:t>
            </a:r>
            <a:endParaRPr lang="en-US" sz="1050" dirty="0"/>
          </a:p>
        </p:txBody>
      </p:sp>
      <p:sp>
        <p:nvSpPr>
          <p:cNvPr id="58" name="Shape 51"/>
          <p:cNvSpPr/>
          <p:nvPr/>
        </p:nvSpPr>
        <p:spPr>
          <a:xfrm>
            <a:off x="457200" y="3675888"/>
            <a:ext cx="8229600" cy="822960"/>
          </a:xfrm>
          <a:prstGeom prst="roundRect">
            <a:avLst>
              <a:gd name="adj" fmla="val 8889"/>
            </a:avLst>
          </a:prstGeom>
          <a:solidFill>
            <a:srgbClr val="E8F5EF"/>
          </a:solidFill>
          <a:ln w="15875">
            <a:solidFill>
              <a:srgbClr val="B83B2E"/>
            </a:solidFill>
            <a:prstDash val="solid"/>
          </a:ln>
        </p:spPr>
      </p:sp>
      <p:sp>
        <p:nvSpPr>
          <p:cNvPr id="59" name="Shape 52"/>
          <p:cNvSpPr/>
          <p:nvPr/>
        </p:nvSpPr>
        <p:spPr>
          <a:xfrm>
            <a:off x="603504" y="3877056"/>
            <a:ext cx="475488" cy="475488"/>
          </a:xfrm>
          <a:prstGeom prst="ellipse">
            <a:avLst/>
          </a:prstGeom>
          <a:solidFill>
            <a:srgbClr val="B83B2E">
              <a:alpha val="22000"/>
            </a:srgbClr>
          </a:solidFill>
          <a:ln/>
        </p:spPr>
      </p:sp>
      <p:pic>
        <p:nvPicPr>
          <p:cNvPr id="60" name="Image 4" descr="preencoded.png"/>
          <p:cNvPicPr>
            <a:picLocks noChangeAspect="1"/>
          </p:cNvPicPr>
          <p:nvPr/>
        </p:nvPicPr>
        <p:blipFill>
          <a:blip r:embed="rId7"/>
          <a:stretch>
            <a:fillRect/>
          </a:stretch>
        </p:blipFill>
        <p:spPr>
          <a:xfrm>
            <a:off x="727131" y="4000683"/>
            <a:ext cx="228234" cy="228234"/>
          </a:xfrm>
          <a:prstGeom prst="rect">
            <a:avLst/>
          </a:prstGeom>
        </p:spPr>
      </p:pic>
      <p:sp>
        <p:nvSpPr>
          <p:cNvPr id="61" name="Text 53"/>
          <p:cNvSpPr txBox="1"/>
          <p:nvPr/>
        </p:nvSpPr>
        <p:spPr>
          <a:xfrm>
            <a:off x="1234440" y="3694176"/>
            <a:ext cx="7360920" cy="78638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Licensing in brief. </a:t>
            </a:r>
            <a:r>
              <a:rPr lang="en-US" sz="1000" dirty="0">
                <a:solidFill>
                  <a:srgbClr val="231F20"/>
                </a:solidFill>
                <a:latin typeface="Calibri" pitchFamily="34" charset="0"/>
                <a:ea typeface="Calibri" pitchFamily="34" charset="-122"/>
                <a:cs typeface="Calibri" pitchFamily="34" charset="-120"/>
              </a:rPr>
              <a:t>Since September 2024, the Elasticsearch and Kibana source code can be used under the OSI-approved AGPLv3, alongside SSPL and the Elastic License; default downloads stay under the Elastic License. Confirm the terms with your legal team before production use.</a:t>
            </a:r>
            <a:endParaRPr lang="en-US" sz="1000" dirty="0"/>
          </a:p>
        </p:txBody>
      </p:sp>
      <p:sp>
        <p:nvSpPr>
          <p:cNvPr id="62" name="Text 54"/>
          <p:cNvSpPr txBox="1"/>
          <p:nvPr/>
        </p:nvSpPr>
        <p:spPr>
          <a:xfrm>
            <a:off x="457200" y="4626864"/>
            <a:ext cx="758952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Elastic, "FAQ on Software Licensing" and "Elasticsearch is Open Source. Again!"; Revenera (2025) on OpenSearch.</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GOVERNING &amp; SUSTAINING</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Publishing on GitHub: the repository your team leaves with</a:t>
            </a:r>
            <a:endParaRPr lang="en-US" sz="2400" dirty="0"/>
          </a:p>
        </p:txBody>
      </p:sp>
      <p:sp>
        <p:nvSpPr>
          <p:cNvPr id="7" name="Shape 4"/>
          <p:cNvSpPr/>
          <p:nvPr/>
        </p:nvSpPr>
        <p:spPr>
          <a:xfrm>
            <a:off x="7973568" y="288036"/>
            <a:ext cx="91440" cy="91440"/>
          </a:xfrm>
          <a:prstGeom prst="ellipse">
            <a:avLst/>
          </a:prstGeom>
          <a:solidFill>
            <a:srgbClr val="D5DED9"/>
          </a:solidFill>
          <a:ln/>
        </p:spPr>
      </p:sp>
      <p:sp>
        <p:nvSpPr>
          <p:cNvPr id="8" name="Shape 5"/>
          <p:cNvSpPr/>
          <p:nvPr/>
        </p:nvSpPr>
        <p:spPr>
          <a:xfrm>
            <a:off x="8119872" y="288036"/>
            <a:ext cx="91440" cy="91440"/>
          </a:xfrm>
          <a:prstGeom prst="ellipse">
            <a:avLst/>
          </a:prstGeom>
          <a:solidFill>
            <a:srgbClr val="D5DED9"/>
          </a:solidFill>
          <a:ln/>
        </p:spPr>
      </p:sp>
      <p:sp>
        <p:nvSpPr>
          <p:cNvPr id="9" name="Shape 6"/>
          <p:cNvSpPr/>
          <p:nvPr/>
        </p:nvSpPr>
        <p:spPr>
          <a:xfrm>
            <a:off x="8266176" y="288036"/>
            <a:ext cx="91440" cy="91440"/>
          </a:xfrm>
          <a:prstGeom prst="ellipse">
            <a:avLst/>
          </a:prstGeom>
          <a:solidFill>
            <a:srgbClr val="D5DED9"/>
          </a:solidFill>
          <a:ln/>
        </p:spPr>
      </p:sp>
      <p:sp>
        <p:nvSpPr>
          <p:cNvPr id="10" name="Shape 7"/>
          <p:cNvSpPr/>
          <p:nvPr/>
        </p:nvSpPr>
        <p:spPr>
          <a:xfrm>
            <a:off x="8412480" y="288036"/>
            <a:ext cx="91440" cy="91440"/>
          </a:xfrm>
          <a:prstGeom prst="ellipse">
            <a:avLst/>
          </a:prstGeom>
          <a:solidFill>
            <a:srgbClr val="D5DED9"/>
          </a:solidFill>
          <a:ln/>
        </p:spPr>
      </p:sp>
      <p:sp>
        <p:nvSpPr>
          <p:cNvPr id="11" name="Shape 8"/>
          <p:cNvSpPr/>
          <p:nvPr/>
        </p:nvSpPr>
        <p:spPr>
          <a:xfrm>
            <a:off x="8558784" y="288036"/>
            <a:ext cx="91440" cy="91440"/>
          </a:xfrm>
          <a:prstGeom prst="ellipse">
            <a:avLst/>
          </a:prstGeom>
          <a:solidFill>
            <a:srgbClr val="D5DED9"/>
          </a:solidFill>
          <a:ln/>
        </p:spPr>
      </p:sp>
      <p:sp>
        <p:nvSpPr>
          <p:cNvPr id="12" name="Shape 9"/>
          <p:cNvSpPr/>
          <p:nvPr/>
        </p:nvSpPr>
        <p:spPr>
          <a:xfrm>
            <a:off x="8705088" y="288036"/>
            <a:ext cx="91440" cy="91440"/>
          </a:xfrm>
          <a:prstGeom prst="ellipse">
            <a:avLst/>
          </a:prstGeom>
          <a:solidFill>
            <a:srgbClr val="B83B2E"/>
          </a:solidFill>
          <a:ln/>
        </p:spPr>
      </p:sp>
      <p:sp>
        <p:nvSpPr>
          <p:cNvPr id="13" name="Text 10"/>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14" name="Text 11"/>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6" name="Text 12"/>
          <p:cNvSpPr txBox="1"/>
          <p:nvPr/>
        </p:nvSpPr>
        <p:spPr>
          <a:xfrm>
            <a:off x="457200" y="1261872"/>
            <a:ext cx="34747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SUGGESTED STRUCTURE</a:t>
            </a:r>
            <a:endParaRPr lang="en-US" sz="900" dirty="0"/>
          </a:p>
        </p:txBody>
      </p:sp>
      <p:sp>
        <p:nvSpPr>
          <p:cNvPr id="17" name="Shape 13"/>
          <p:cNvSpPr/>
          <p:nvPr/>
        </p:nvSpPr>
        <p:spPr>
          <a:xfrm>
            <a:off x="457200" y="1508760"/>
            <a:ext cx="3474720" cy="3063240"/>
          </a:xfrm>
          <a:prstGeom prst="roundRect">
            <a:avLst>
              <a:gd name="adj" fmla="val 1791"/>
            </a:avLst>
          </a:prstGeom>
          <a:solidFill>
            <a:srgbClr val="FBFCFB"/>
          </a:solidFill>
          <a:ln w="9525">
            <a:solidFill>
              <a:srgbClr val="D5DED9"/>
            </a:solidFill>
            <a:prstDash val="solid"/>
          </a:ln>
        </p:spPr>
      </p:sp>
      <p:sp>
        <p:nvSpPr>
          <p:cNvPr id="18" name="Text 14"/>
          <p:cNvSpPr txBox="1"/>
          <p:nvPr/>
        </p:nvSpPr>
        <p:spPr>
          <a:xfrm>
            <a:off x="585216" y="1600200"/>
            <a:ext cx="3218688" cy="288036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di4a-&lt;country&gt;-connectivity/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README.md</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LICENSE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mappings/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ookla-tiles.json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notebooks/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01_index_tiles.ipynb</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02_benchmark.ipynb</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queries/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by_region.json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by_region.esql</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kibana/</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dashboard.ndjson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outputs/</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 connectivity_by_region.csv</a:t>
            </a:r>
            <a:endParaRPr lang="en-US" sz="900" dirty="0"/>
          </a:p>
        </p:txBody>
      </p:sp>
      <p:sp>
        <p:nvSpPr>
          <p:cNvPr id="19" name="Text 15"/>
          <p:cNvSpPr txBox="1"/>
          <p:nvPr/>
        </p:nvSpPr>
        <p:spPr>
          <a:xfrm>
            <a:off x="4297680" y="1261872"/>
            <a:ext cx="43891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THE README MUST STATE</a:t>
            </a:r>
            <a:endParaRPr lang="en-US" sz="900" dirty="0"/>
          </a:p>
        </p:txBody>
      </p:sp>
      <p:pic>
        <p:nvPicPr>
          <p:cNvPr id="20" name="Image 1" descr="preencoded.png"/>
          <p:cNvPicPr>
            <a:picLocks noChangeAspect="1"/>
          </p:cNvPicPr>
          <p:nvPr/>
        </p:nvPicPr>
        <p:blipFill>
          <a:blip r:embed="rId4"/>
          <a:stretch>
            <a:fillRect/>
          </a:stretch>
        </p:blipFill>
        <p:spPr>
          <a:xfrm>
            <a:off x="4297680" y="1572768"/>
            <a:ext cx="274320" cy="274320"/>
          </a:xfrm>
          <a:prstGeom prst="rect">
            <a:avLst/>
          </a:prstGeom>
        </p:spPr>
      </p:pic>
      <p:sp>
        <p:nvSpPr>
          <p:cNvPr id="21" name="Text 16"/>
          <p:cNvSpPr txBox="1"/>
          <p:nvPr/>
        </p:nvSpPr>
        <p:spPr>
          <a:xfrm>
            <a:off x="4681728" y="1508760"/>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Method</a:t>
            </a:r>
            <a:endParaRPr lang="en-US" sz="1200" dirty="0"/>
          </a:p>
        </p:txBody>
      </p:sp>
      <p:sp>
        <p:nvSpPr>
          <p:cNvPr id="22" name="Text 17"/>
          <p:cNvSpPr txBox="1"/>
          <p:nvPr/>
        </p:nvSpPr>
        <p:spPr>
          <a:xfrm>
            <a:off x="4681728" y="1728216"/>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Enrichment, weighting choice, minimum-tests threshold.</a:t>
            </a:r>
            <a:endParaRPr lang="en-US" sz="1000" dirty="0"/>
          </a:p>
        </p:txBody>
      </p:sp>
      <p:pic>
        <p:nvPicPr>
          <p:cNvPr id="23" name="Image 2" descr="preencoded.png"/>
          <p:cNvPicPr>
            <a:picLocks noChangeAspect="1"/>
          </p:cNvPicPr>
          <p:nvPr/>
        </p:nvPicPr>
        <p:blipFill>
          <a:blip r:embed="rId4"/>
          <a:stretch>
            <a:fillRect/>
          </a:stretch>
        </p:blipFill>
        <p:spPr>
          <a:xfrm>
            <a:off x="4297680" y="2084832"/>
            <a:ext cx="274320" cy="274320"/>
          </a:xfrm>
          <a:prstGeom prst="rect">
            <a:avLst/>
          </a:prstGeom>
        </p:spPr>
      </p:pic>
      <p:sp>
        <p:nvSpPr>
          <p:cNvPr id="24" name="Text 18"/>
          <p:cNvSpPr txBox="1"/>
          <p:nvPr/>
        </p:nvSpPr>
        <p:spPr>
          <a:xfrm>
            <a:off x="4681728" y="2020824"/>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Sources</a:t>
            </a:r>
            <a:endParaRPr lang="en-US" sz="1200" dirty="0"/>
          </a:p>
        </p:txBody>
      </p:sp>
      <p:sp>
        <p:nvSpPr>
          <p:cNvPr id="25" name="Text 19"/>
          <p:cNvSpPr txBox="1"/>
          <p:nvPr/>
        </p:nvSpPr>
        <p:spPr>
          <a:xfrm>
            <a:off x="4681728" y="2240280"/>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Ookla, WorldPop and boundaries — with vintage and access date.</a:t>
            </a:r>
            <a:endParaRPr lang="en-US" sz="1000" dirty="0"/>
          </a:p>
        </p:txBody>
      </p:sp>
      <p:pic>
        <p:nvPicPr>
          <p:cNvPr id="26" name="Image 3" descr="preencoded.png"/>
          <p:cNvPicPr>
            <a:picLocks noChangeAspect="1"/>
          </p:cNvPicPr>
          <p:nvPr/>
        </p:nvPicPr>
        <p:blipFill>
          <a:blip r:embed="rId4"/>
          <a:stretch>
            <a:fillRect/>
          </a:stretch>
        </p:blipFill>
        <p:spPr>
          <a:xfrm>
            <a:off x="4297680" y="2596896"/>
            <a:ext cx="274320" cy="274320"/>
          </a:xfrm>
          <a:prstGeom prst="rect">
            <a:avLst/>
          </a:prstGeom>
        </p:spPr>
      </p:pic>
      <p:sp>
        <p:nvSpPr>
          <p:cNvPr id="27" name="Text 20"/>
          <p:cNvSpPr txBox="1"/>
          <p:nvPr/>
        </p:nvSpPr>
        <p:spPr>
          <a:xfrm>
            <a:off x="4681728" y="2532888"/>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Licences</a:t>
            </a:r>
            <a:endParaRPr lang="en-US" sz="1200" dirty="0"/>
          </a:p>
        </p:txBody>
      </p:sp>
      <p:sp>
        <p:nvSpPr>
          <p:cNvPr id="28" name="Text 21"/>
          <p:cNvSpPr txBox="1"/>
          <p:nvPr/>
        </p:nvSpPr>
        <p:spPr>
          <a:xfrm>
            <a:off x="4681728" y="2752344"/>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CC BY-NC-SA 4.0 for derived data; a separate licence for code.</a:t>
            </a:r>
            <a:endParaRPr lang="en-US" sz="1000" dirty="0"/>
          </a:p>
        </p:txBody>
      </p:sp>
      <p:pic>
        <p:nvPicPr>
          <p:cNvPr id="29" name="Image 4" descr="preencoded.png"/>
          <p:cNvPicPr>
            <a:picLocks noChangeAspect="1"/>
          </p:cNvPicPr>
          <p:nvPr/>
        </p:nvPicPr>
        <p:blipFill>
          <a:blip r:embed="rId4"/>
          <a:stretch>
            <a:fillRect/>
          </a:stretch>
        </p:blipFill>
        <p:spPr>
          <a:xfrm>
            <a:off x="4297680" y="3108960"/>
            <a:ext cx="274320" cy="274320"/>
          </a:xfrm>
          <a:prstGeom prst="rect">
            <a:avLst/>
          </a:prstGeom>
        </p:spPr>
      </p:pic>
      <p:sp>
        <p:nvSpPr>
          <p:cNvPr id="30" name="Text 22"/>
          <p:cNvSpPr txBox="1"/>
          <p:nvPr/>
        </p:nvSpPr>
        <p:spPr>
          <a:xfrm>
            <a:off x="4681728" y="3044952"/>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Limitations</a:t>
            </a:r>
            <a:endParaRPr lang="en-US" sz="1200" dirty="0"/>
          </a:p>
        </p:txBody>
      </p:sp>
      <p:sp>
        <p:nvSpPr>
          <p:cNvPr id="31" name="Text 23"/>
          <p:cNvSpPr txBox="1"/>
          <p:nvPr/>
        </p:nvSpPr>
        <p:spPr>
          <a:xfrm>
            <a:off x="4681728" y="3264408"/>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Coverage bias, population not covered, what the proxy cannot support.</a:t>
            </a:r>
            <a:endParaRPr lang="en-US" sz="1000" dirty="0"/>
          </a:p>
        </p:txBody>
      </p:sp>
      <p:pic>
        <p:nvPicPr>
          <p:cNvPr id="32" name="Image 5" descr="preencoded.png"/>
          <p:cNvPicPr>
            <a:picLocks noChangeAspect="1"/>
          </p:cNvPicPr>
          <p:nvPr/>
        </p:nvPicPr>
        <p:blipFill>
          <a:blip r:embed="rId4"/>
          <a:stretch>
            <a:fillRect/>
          </a:stretch>
        </p:blipFill>
        <p:spPr>
          <a:xfrm>
            <a:off x="4297680" y="3621024"/>
            <a:ext cx="274320" cy="274320"/>
          </a:xfrm>
          <a:prstGeom prst="rect">
            <a:avLst/>
          </a:prstGeom>
        </p:spPr>
      </p:pic>
      <p:sp>
        <p:nvSpPr>
          <p:cNvPr id="33" name="Text 24"/>
          <p:cNvSpPr txBox="1"/>
          <p:nvPr/>
        </p:nvSpPr>
        <p:spPr>
          <a:xfrm>
            <a:off x="4681728" y="3557016"/>
            <a:ext cx="3931920" cy="219456"/>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How to reproduce</a:t>
            </a:r>
            <a:endParaRPr lang="en-US" sz="1200" dirty="0"/>
          </a:p>
        </p:txBody>
      </p:sp>
      <p:sp>
        <p:nvSpPr>
          <p:cNvPr id="34" name="Text 25"/>
          <p:cNvSpPr txBox="1"/>
          <p:nvPr/>
        </p:nvSpPr>
        <p:spPr>
          <a:xfrm>
            <a:off x="4681728" y="3776472"/>
            <a:ext cx="397764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Software versions, commands, expected outputs.</a:t>
            </a:r>
            <a:endParaRPr lang="en-US" sz="1000" dirty="0"/>
          </a:p>
        </p:txBody>
      </p:sp>
      <p:sp>
        <p:nvSpPr>
          <p:cNvPr id="35" name="Shape 26"/>
          <p:cNvSpPr/>
          <p:nvPr/>
        </p:nvSpPr>
        <p:spPr>
          <a:xfrm>
            <a:off x="4297680" y="4133088"/>
            <a:ext cx="4389120" cy="402336"/>
          </a:xfrm>
          <a:prstGeom prst="roundRect">
            <a:avLst>
              <a:gd name="adj" fmla="val 50000"/>
            </a:avLst>
          </a:prstGeom>
          <a:solidFill>
            <a:srgbClr val="B83B2E">
              <a:alpha val="12000"/>
            </a:srgbClr>
          </a:solidFill>
          <a:ln w="9525">
            <a:solidFill>
              <a:srgbClr val="B83B2E"/>
            </a:solidFill>
            <a:prstDash val="solid"/>
          </a:ln>
        </p:spPr>
      </p:sp>
      <p:sp>
        <p:nvSpPr>
          <p:cNvPr id="36" name="Text 27"/>
          <p:cNvSpPr txBox="1"/>
          <p:nvPr/>
        </p:nvSpPr>
        <p:spPr>
          <a:xfrm>
            <a:off x="4480560" y="4133088"/>
            <a:ext cx="4114800" cy="402336"/>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Feeds →  </a:t>
            </a:r>
            <a:r>
              <a:rPr lang="en-US" sz="1050" dirty="0">
                <a:solidFill>
                  <a:srgbClr val="231F20"/>
                </a:solidFill>
                <a:latin typeface="Calibri" pitchFamily="34" charset="0"/>
                <a:ea typeface="Calibri" pitchFamily="34" charset="-122"/>
                <a:cs typeface="Calibri" pitchFamily="34" charset="-120"/>
              </a:rPr>
              <a:t>National connectivity statistics  ·  country presentations</a:t>
            </a:r>
            <a:endParaRPr lang="en-US"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KEY TAKEAWAYS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ideas to take back to your office</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0" name="Shape 6"/>
          <p:cNvSpPr/>
          <p:nvPr/>
        </p:nvSpPr>
        <p:spPr>
          <a:xfrm>
            <a:off x="457200" y="1261872"/>
            <a:ext cx="4023360" cy="960120"/>
          </a:xfrm>
          <a:prstGeom prst="roundRect">
            <a:avLst>
              <a:gd name="adj" fmla="val 7619"/>
            </a:avLst>
          </a:prstGeom>
          <a:solidFill>
            <a:srgbClr val="F4F7F5"/>
          </a:solidFill>
          <a:ln w="9525">
            <a:solidFill>
              <a:srgbClr val="D5DED9"/>
            </a:solidFill>
            <a:prstDash val="solid"/>
          </a:ln>
        </p:spPr>
      </p:sp>
      <p:sp>
        <p:nvSpPr>
          <p:cNvPr id="11" name="Text 7"/>
          <p:cNvSpPr txBox="1"/>
          <p:nvPr/>
        </p:nvSpPr>
        <p:spPr>
          <a:xfrm>
            <a:off x="621792" y="1261872"/>
            <a:ext cx="640080" cy="960120"/>
          </a:xfrm>
          <a:prstGeom prst="rect">
            <a:avLst/>
          </a:prstGeom>
          <a:noFill/>
          <a:ln/>
        </p:spPr>
        <p:txBody>
          <a:bodyPr wrap="square" lIns="0" tIns="0" rIns="0" bIns="0" rtlCol="0" anchor="ctr"/>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2" name="Text 8"/>
          <p:cNvSpPr txBox="1"/>
          <p:nvPr/>
        </p:nvSpPr>
        <p:spPr>
          <a:xfrm>
            <a:off x="1325880" y="141732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Search is one block of the chain</a:t>
            </a:r>
            <a:endParaRPr lang="en-US" sz="1350" dirty="0"/>
          </a:p>
        </p:txBody>
      </p:sp>
      <p:sp>
        <p:nvSpPr>
          <p:cNvPr id="13" name="Text 9"/>
          <p:cNvSpPr txBox="1"/>
          <p:nvPr/>
        </p:nvSpPr>
        <p:spPr>
          <a:xfrm>
            <a:off x="1325880" y="171907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Keep raw files in the lake; index a curated, enriched subset.</a:t>
            </a:r>
            <a:endParaRPr lang="en-US" sz="1050" dirty="0"/>
          </a:p>
        </p:txBody>
      </p:sp>
      <p:sp>
        <p:nvSpPr>
          <p:cNvPr id="14" name="Shape 10"/>
          <p:cNvSpPr/>
          <p:nvPr/>
        </p:nvSpPr>
        <p:spPr>
          <a:xfrm>
            <a:off x="4663440" y="1261872"/>
            <a:ext cx="4023360" cy="960120"/>
          </a:xfrm>
          <a:prstGeom prst="roundRect">
            <a:avLst>
              <a:gd name="adj" fmla="val 7619"/>
            </a:avLst>
          </a:prstGeom>
          <a:solidFill>
            <a:srgbClr val="F4F7F5"/>
          </a:solidFill>
          <a:ln w="9525">
            <a:solidFill>
              <a:srgbClr val="D5DED9"/>
            </a:solidFill>
            <a:prstDash val="solid"/>
          </a:ln>
        </p:spPr>
      </p:sp>
      <p:sp>
        <p:nvSpPr>
          <p:cNvPr id="15" name="Text 11"/>
          <p:cNvSpPr txBox="1"/>
          <p:nvPr/>
        </p:nvSpPr>
        <p:spPr>
          <a:xfrm>
            <a:off x="4828032" y="1261872"/>
            <a:ext cx="640080" cy="960120"/>
          </a:xfrm>
          <a:prstGeom prst="rect">
            <a:avLst/>
          </a:prstGeom>
          <a:noFill/>
          <a:ln/>
        </p:spPr>
        <p:txBody>
          <a:bodyPr wrap="square" lIns="0" tIns="0" rIns="0" bIns="0" rtlCol="0" anchor="ctr"/>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6" name="Text 12"/>
          <p:cNvSpPr txBox="1"/>
          <p:nvPr/>
        </p:nvSpPr>
        <p:spPr>
          <a:xfrm>
            <a:off x="5532120" y="141732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The inverted index is the secret</a:t>
            </a:r>
            <a:endParaRPr lang="en-US" sz="1350" dirty="0"/>
          </a:p>
        </p:txBody>
      </p:sp>
      <p:sp>
        <p:nvSpPr>
          <p:cNvPr id="17" name="Text 13"/>
          <p:cNvSpPr txBox="1"/>
          <p:nvPr/>
        </p:nvSpPr>
        <p:spPr>
          <a:xfrm>
            <a:off x="5532120" y="171907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Work done at indexing time buys speed at query time.</a:t>
            </a:r>
            <a:endParaRPr lang="en-US" sz="1050" dirty="0"/>
          </a:p>
        </p:txBody>
      </p:sp>
      <p:sp>
        <p:nvSpPr>
          <p:cNvPr id="18" name="Shape 14"/>
          <p:cNvSpPr/>
          <p:nvPr/>
        </p:nvSpPr>
        <p:spPr>
          <a:xfrm>
            <a:off x="457200" y="2359152"/>
            <a:ext cx="4023360" cy="960120"/>
          </a:xfrm>
          <a:prstGeom prst="roundRect">
            <a:avLst>
              <a:gd name="adj" fmla="val 7619"/>
            </a:avLst>
          </a:prstGeom>
          <a:solidFill>
            <a:srgbClr val="F4F7F5"/>
          </a:solidFill>
          <a:ln w="9525">
            <a:solidFill>
              <a:srgbClr val="D5DED9"/>
            </a:solidFill>
            <a:prstDash val="solid"/>
          </a:ln>
        </p:spPr>
      </p:sp>
      <p:sp>
        <p:nvSpPr>
          <p:cNvPr id="19" name="Text 15"/>
          <p:cNvSpPr txBox="1"/>
          <p:nvPr/>
        </p:nvSpPr>
        <p:spPr>
          <a:xfrm>
            <a:off x="621792" y="2359152"/>
            <a:ext cx="640080" cy="960120"/>
          </a:xfrm>
          <a:prstGeom prst="rect">
            <a:avLst/>
          </a:prstGeom>
          <a:noFill/>
          <a:ln/>
        </p:spPr>
        <p:txBody>
          <a:bodyPr wrap="square" lIns="0" tIns="0" rIns="0" bIns="0" rtlCol="0" anchor="ctr"/>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0" name="Text 16"/>
          <p:cNvSpPr txBox="1"/>
          <p:nvPr/>
        </p:nvSpPr>
        <p:spPr>
          <a:xfrm>
            <a:off x="1325880" y="251460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Model before you load</a:t>
            </a:r>
            <a:endParaRPr lang="en-US" sz="1350" dirty="0"/>
          </a:p>
        </p:txBody>
      </p:sp>
      <p:sp>
        <p:nvSpPr>
          <p:cNvPr id="21" name="Text 17"/>
          <p:cNvSpPr txBox="1"/>
          <p:nvPr/>
        </p:nvSpPr>
        <p:spPr>
          <a:xfrm>
            <a:off x="1325880" y="281635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Strict mappings, codes as keyword, both point and shape.</a:t>
            </a:r>
            <a:endParaRPr lang="en-US" sz="1050" dirty="0"/>
          </a:p>
        </p:txBody>
      </p:sp>
      <p:sp>
        <p:nvSpPr>
          <p:cNvPr id="22" name="Shape 18"/>
          <p:cNvSpPr/>
          <p:nvPr/>
        </p:nvSpPr>
        <p:spPr>
          <a:xfrm>
            <a:off x="4663440" y="2359152"/>
            <a:ext cx="4023360" cy="960120"/>
          </a:xfrm>
          <a:prstGeom prst="roundRect">
            <a:avLst>
              <a:gd name="adj" fmla="val 7619"/>
            </a:avLst>
          </a:prstGeom>
          <a:solidFill>
            <a:srgbClr val="F4F7F5"/>
          </a:solidFill>
          <a:ln w="9525">
            <a:solidFill>
              <a:srgbClr val="D5DED9"/>
            </a:solidFill>
            <a:prstDash val="solid"/>
          </a:ln>
        </p:spPr>
      </p:sp>
      <p:sp>
        <p:nvSpPr>
          <p:cNvPr id="23" name="Text 19"/>
          <p:cNvSpPr txBox="1"/>
          <p:nvPr/>
        </p:nvSpPr>
        <p:spPr>
          <a:xfrm>
            <a:off x="4828032" y="2359152"/>
            <a:ext cx="640080" cy="960120"/>
          </a:xfrm>
          <a:prstGeom prst="rect">
            <a:avLst/>
          </a:prstGeom>
          <a:noFill/>
          <a:ln/>
        </p:spPr>
        <p:txBody>
          <a:bodyPr wrap="square" lIns="0" tIns="0" rIns="0" bIns="0" rtlCol="0" anchor="ctr"/>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24" name="Text 20"/>
          <p:cNvSpPr txBox="1"/>
          <p:nvPr/>
        </p:nvSpPr>
        <p:spPr>
          <a:xfrm>
            <a:off x="5532120" y="251460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Weights are a methodological choice</a:t>
            </a:r>
            <a:endParaRPr lang="en-US" sz="1350" dirty="0"/>
          </a:p>
        </p:txBody>
      </p:sp>
      <p:sp>
        <p:nvSpPr>
          <p:cNvPr id="25" name="Text 21"/>
          <p:cNvSpPr txBox="1"/>
          <p:nvPr/>
        </p:nvSpPr>
        <p:spPr>
          <a:xfrm>
            <a:off x="5532120" y="281635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Document them, and publish population coverage.</a:t>
            </a:r>
            <a:endParaRPr lang="en-US" sz="1050" dirty="0"/>
          </a:p>
        </p:txBody>
      </p:sp>
      <p:sp>
        <p:nvSpPr>
          <p:cNvPr id="26" name="Shape 22"/>
          <p:cNvSpPr/>
          <p:nvPr/>
        </p:nvSpPr>
        <p:spPr>
          <a:xfrm>
            <a:off x="457200" y="3456432"/>
            <a:ext cx="4023360" cy="960120"/>
          </a:xfrm>
          <a:prstGeom prst="roundRect">
            <a:avLst>
              <a:gd name="adj" fmla="val 7619"/>
            </a:avLst>
          </a:prstGeom>
          <a:solidFill>
            <a:srgbClr val="F4F7F5"/>
          </a:solidFill>
          <a:ln w="9525">
            <a:solidFill>
              <a:srgbClr val="D5DED9"/>
            </a:solidFill>
            <a:prstDash val="solid"/>
          </a:ln>
        </p:spPr>
      </p:sp>
      <p:sp>
        <p:nvSpPr>
          <p:cNvPr id="27" name="Text 23"/>
          <p:cNvSpPr txBox="1"/>
          <p:nvPr/>
        </p:nvSpPr>
        <p:spPr>
          <a:xfrm>
            <a:off x="621792" y="3456432"/>
            <a:ext cx="640080" cy="960120"/>
          </a:xfrm>
          <a:prstGeom prst="rect">
            <a:avLst/>
          </a:prstGeom>
          <a:noFill/>
          <a:ln/>
        </p:spPr>
        <p:txBody>
          <a:bodyPr wrap="square" lIns="0" tIns="0" rIns="0" bIns="0" rtlCol="0" anchor="ctr"/>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28" name="Text 24"/>
          <p:cNvSpPr txBox="1"/>
          <p:nvPr/>
        </p:nvSpPr>
        <p:spPr>
          <a:xfrm>
            <a:off x="1325880" y="361188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Kibana opens data to non-coders</a:t>
            </a:r>
            <a:endParaRPr lang="en-US" sz="1350" dirty="0"/>
          </a:p>
        </p:txBody>
      </p:sp>
      <p:sp>
        <p:nvSpPr>
          <p:cNvPr id="29" name="Text 25"/>
          <p:cNvSpPr txBox="1"/>
          <p:nvPr/>
        </p:nvSpPr>
        <p:spPr>
          <a:xfrm>
            <a:off x="1325880" y="391363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But decide on tooling with your own benchmark.</a:t>
            </a:r>
            <a:endParaRPr lang="en-US" sz="1050" dirty="0"/>
          </a:p>
        </p:txBody>
      </p:sp>
      <p:sp>
        <p:nvSpPr>
          <p:cNvPr id="30" name="Shape 26"/>
          <p:cNvSpPr/>
          <p:nvPr/>
        </p:nvSpPr>
        <p:spPr>
          <a:xfrm>
            <a:off x="4663440" y="3456432"/>
            <a:ext cx="4023360" cy="960120"/>
          </a:xfrm>
          <a:prstGeom prst="roundRect">
            <a:avLst>
              <a:gd name="adj" fmla="val 7619"/>
            </a:avLst>
          </a:prstGeom>
          <a:solidFill>
            <a:srgbClr val="F4F7F5"/>
          </a:solidFill>
          <a:ln w="9525">
            <a:solidFill>
              <a:srgbClr val="D5DED9"/>
            </a:solidFill>
            <a:prstDash val="solid"/>
          </a:ln>
        </p:spPr>
      </p:sp>
      <p:sp>
        <p:nvSpPr>
          <p:cNvPr id="31" name="Text 27"/>
          <p:cNvSpPr txBox="1"/>
          <p:nvPr/>
        </p:nvSpPr>
        <p:spPr>
          <a:xfrm>
            <a:off x="4828032" y="3456432"/>
            <a:ext cx="640080" cy="960120"/>
          </a:xfrm>
          <a:prstGeom prst="rect">
            <a:avLst/>
          </a:prstGeom>
          <a:noFill/>
          <a:ln/>
        </p:spPr>
        <p:txBody>
          <a:bodyPr wrap="square" lIns="0" tIns="0" rIns="0" bIns="0" rtlCol="0" anchor="ctr"/>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32" name="Text 28"/>
          <p:cNvSpPr txBox="1"/>
          <p:nvPr/>
        </p:nvSpPr>
        <p:spPr>
          <a:xfrm>
            <a:off x="5532120" y="3611880"/>
            <a:ext cx="3017520" cy="27432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Speed never replaces quality</a:t>
            </a:r>
            <a:endParaRPr lang="en-US" sz="1350" dirty="0"/>
          </a:p>
        </p:txBody>
      </p:sp>
      <p:sp>
        <p:nvSpPr>
          <p:cNvPr id="33" name="Text 29"/>
          <p:cNvSpPr txBox="1"/>
          <p:nvPr/>
        </p:nvSpPr>
        <p:spPr>
          <a:xfrm>
            <a:off x="5532120" y="3913632"/>
            <a:ext cx="301752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Licence, confidentiality and honest limitations come first.</a:t>
            </a:r>
            <a:endParaRPr lang="en-US" sz="10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23760" y="3223260"/>
            <a:ext cx="1920240" cy="1920240"/>
          </a:xfrm>
          <a:prstGeom prst="rect">
            <a:avLst/>
          </a:prstGeom>
        </p:spPr>
      </p:pic>
      <p:sp>
        <p:nvSpPr>
          <p:cNvPr id="3" name="Shape 0"/>
          <p:cNvSpPr/>
          <p:nvPr/>
        </p:nvSpPr>
        <p:spPr>
          <a:xfrm>
            <a:off x="0" y="0"/>
            <a:ext cx="9144000" cy="54864"/>
          </a:xfrm>
          <a:prstGeom prst="rect">
            <a:avLst/>
          </a:prstGeom>
          <a:solidFill>
            <a:srgbClr val="00A86A"/>
          </a:solidFill>
          <a:ln/>
        </p:spPr>
      </p:sp>
      <p:sp>
        <p:nvSpPr>
          <p:cNvPr id="4" name="Shape 1"/>
          <p:cNvSpPr/>
          <p:nvPr/>
        </p:nvSpPr>
        <p:spPr>
          <a:xfrm>
            <a:off x="0" y="0"/>
            <a:ext cx="1234440" cy="54864"/>
          </a:xfrm>
          <a:prstGeom prst="rect">
            <a:avLst/>
          </a:prstGeom>
          <a:solidFill>
            <a:srgbClr val="F5C242"/>
          </a:solidFill>
          <a:ln/>
        </p:spPr>
      </p:sp>
      <p:sp>
        <p:nvSpPr>
          <p:cNvPr id="5" name="Text 2"/>
          <p:cNvSpPr txBox="1"/>
          <p:nvPr/>
        </p:nvSpPr>
        <p:spPr>
          <a:xfrm>
            <a:off x="457200" y="237744"/>
            <a:ext cx="68580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6" name="Text 3"/>
          <p:cNvSpPr txBox="1"/>
          <p:nvPr/>
        </p:nvSpPr>
        <p:spPr>
          <a:xfrm>
            <a:off x="457200" y="45720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a:t>
            </a:r>
            <a:endParaRPr lang="en-US" sz="2800" dirty="0"/>
          </a:p>
        </p:txBody>
      </p:sp>
      <p:sp>
        <p:nvSpPr>
          <p:cNvPr id="7" name="Text 4"/>
          <p:cNvSpPr txBox="1"/>
          <p:nvPr/>
        </p:nvSpPr>
        <p:spPr>
          <a:xfrm>
            <a:off x="457200" y="4846320"/>
            <a:ext cx="6858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AfDB – Data Innovation for Africa (DI4A) · Engines of Scale: the Elastic Stack (ELK) for official statistics</a:t>
            </a:r>
            <a:endParaRPr lang="en-US" sz="850" dirty="0"/>
          </a:p>
        </p:txBody>
      </p:sp>
      <p:sp>
        <p:nvSpPr>
          <p:cNvPr id="8" name="Text 5"/>
          <p:cNvSpPr txBox="1"/>
          <p:nvPr/>
        </p:nvSpPr>
        <p:spPr>
          <a:xfrm>
            <a:off x="8229600" y="4846320"/>
            <a:ext cx="4572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0" name="Shape 6"/>
          <p:cNvSpPr/>
          <p:nvPr/>
        </p:nvSpPr>
        <p:spPr>
          <a:xfrm>
            <a:off x="457200" y="1316736"/>
            <a:ext cx="329184" cy="329184"/>
          </a:xfrm>
          <a:prstGeom prst="ellipse">
            <a:avLst/>
          </a:prstGeom>
          <a:solidFill>
            <a:srgbClr val="00A86A">
              <a:alpha val="22000"/>
            </a:srgbClr>
          </a:solidFill>
          <a:ln/>
        </p:spPr>
      </p:sp>
      <p:pic>
        <p:nvPicPr>
          <p:cNvPr id="11" name="Image 1" descr="preencoded.png"/>
          <p:cNvPicPr>
            <a:picLocks noChangeAspect="1"/>
          </p:cNvPicPr>
          <p:nvPr/>
        </p:nvPicPr>
        <p:blipFill>
          <a:blip r:embed="rId4"/>
          <a:stretch>
            <a:fillRect/>
          </a:stretch>
        </p:blipFill>
        <p:spPr>
          <a:xfrm>
            <a:off x="542788" y="1402324"/>
            <a:ext cx="158008" cy="158008"/>
          </a:xfrm>
          <a:prstGeom prst="rect">
            <a:avLst/>
          </a:prstGeom>
        </p:spPr>
      </p:pic>
      <p:sp>
        <p:nvSpPr>
          <p:cNvPr id="12" name="Text 7"/>
          <p:cNvSpPr txBox="1"/>
          <p:nvPr/>
        </p:nvSpPr>
        <p:spPr>
          <a:xfrm>
            <a:off x="914400" y="1280160"/>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Series</a:t>
            </a:r>
            <a:endParaRPr lang="en-US" sz="1100" dirty="0"/>
          </a:p>
        </p:txBody>
      </p:sp>
      <p:sp>
        <p:nvSpPr>
          <p:cNvPr id="13" name="Text 8"/>
          <p:cNvSpPr txBox="1"/>
          <p:nvPr/>
        </p:nvSpPr>
        <p:spPr>
          <a:xfrm>
            <a:off x="2423160" y="1280160"/>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African Development Bank – Data Innovation for Africa (DI4A): hands-on series on big data tools for official statistics.</a:t>
            </a:r>
            <a:endParaRPr lang="en-US" sz="1000" dirty="0"/>
          </a:p>
        </p:txBody>
      </p:sp>
      <p:sp>
        <p:nvSpPr>
          <p:cNvPr id="14" name="Shape 9"/>
          <p:cNvSpPr/>
          <p:nvPr/>
        </p:nvSpPr>
        <p:spPr>
          <a:xfrm>
            <a:off x="457200" y="1792224"/>
            <a:ext cx="329184" cy="329184"/>
          </a:xfrm>
          <a:prstGeom prst="ellipse">
            <a:avLst/>
          </a:prstGeom>
          <a:solidFill>
            <a:srgbClr val="00704A">
              <a:alpha val="22000"/>
            </a:srgbClr>
          </a:solidFill>
          <a:ln/>
        </p:spPr>
      </p:sp>
      <p:pic>
        <p:nvPicPr>
          <p:cNvPr id="15" name="Image 2" descr="preencoded.png"/>
          <p:cNvPicPr>
            <a:picLocks noChangeAspect="1"/>
          </p:cNvPicPr>
          <p:nvPr/>
        </p:nvPicPr>
        <p:blipFill>
          <a:blip r:embed="rId5"/>
          <a:stretch>
            <a:fillRect/>
          </a:stretch>
        </p:blipFill>
        <p:spPr>
          <a:xfrm>
            <a:off x="542788" y="1877812"/>
            <a:ext cx="158008" cy="158008"/>
          </a:xfrm>
          <a:prstGeom prst="rect">
            <a:avLst/>
          </a:prstGeom>
        </p:spPr>
      </p:pic>
      <p:sp>
        <p:nvSpPr>
          <p:cNvPr id="16" name="Text 10"/>
          <p:cNvSpPr txBox="1"/>
          <p:nvPr/>
        </p:nvSpPr>
        <p:spPr>
          <a:xfrm>
            <a:off x="914400" y="1755648"/>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Ookla data</a:t>
            </a:r>
            <a:endParaRPr lang="en-US" sz="1100" dirty="0"/>
          </a:p>
        </p:txBody>
      </p:sp>
      <p:sp>
        <p:nvSpPr>
          <p:cNvPr id="17" name="Text 11"/>
          <p:cNvSpPr txBox="1"/>
          <p:nvPr/>
        </p:nvSpPr>
        <p:spPr>
          <a:xfrm>
            <a:off x="2423160" y="1755648"/>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Ookla — ookla-open-data README, github.com/teamookla/ookla-open-data (tile size, fields, quarterly releases since Q1 2019).</a:t>
            </a:r>
            <a:endParaRPr lang="en-US" sz="1000" dirty="0"/>
          </a:p>
        </p:txBody>
      </p:sp>
      <p:sp>
        <p:nvSpPr>
          <p:cNvPr id="18" name="Shape 12"/>
          <p:cNvSpPr/>
          <p:nvPr/>
        </p:nvSpPr>
        <p:spPr>
          <a:xfrm>
            <a:off x="457200" y="2267712"/>
            <a:ext cx="329184" cy="329184"/>
          </a:xfrm>
          <a:prstGeom prst="ellipse">
            <a:avLst/>
          </a:prstGeom>
          <a:solidFill>
            <a:srgbClr val="0E7C86">
              <a:alpha val="22000"/>
            </a:srgbClr>
          </a:solidFill>
          <a:ln/>
        </p:spPr>
      </p:sp>
      <p:pic>
        <p:nvPicPr>
          <p:cNvPr id="19" name="Image 3" descr="preencoded.png"/>
          <p:cNvPicPr>
            <a:picLocks noChangeAspect="1"/>
          </p:cNvPicPr>
          <p:nvPr/>
        </p:nvPicPr>
        <p:blipFill>
          <a:blip r:embed="rId6"/>
          <a:stretch>
            <a:fillRect/>
          </a:stretch>
        </p:blipFill>
        <p:spPr>
          <a:xfrm>
            <a:off x="542788" y="2353300"/>
            <a:ext cx="158008" cy="158008"/>
          </a:xfrm>
          <a:prstGeom prst="rect">
            <a:avLst/>
          </a:prstGeom>
        </p:spPr>
      </p:pic>
      <p:sp>
        <p:nvSpPr>
          <p:cNvPr id="20" name="Text 13"/>
          <p:cNvSpPr txBox="1"/>
          <p:nvPr/>
        </p:nvSpPr>
        <p:spPr>
          <a:xfrm>
            <a:off x="914400" y="2231136"/>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Ookla licence</a:t>
            </a:r>
            <a:endParaRPr lang="en-US" sz="1100" dirty="0"/>
          </a:p>
        </p:txBody>
      </p:sp>
      <p:sp>
        <p:nvSpPr>
          <p:cNvPr id="21" name="Text 14"/>
          <p:cNvSpPr txBox="1"/>
          <p:nvPr/>
        </p:nvSpPr>
        <p:spPr>
          <a:xfrm>
            <a:off x="2423160" y="2231136"/>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Registry of Open Data on AWS — Speedtest by Ookla Global Fixed and Mobile Network Performance Maps (CC BY-NC-SA 4.0).</a:t>
            </a:r>
            <a:endParaRPr lang="en-US" sz="1000" dirty="0"/>
          </a:p>
        </p:txBody>
      </p:sp>
      <p:sp>
        <p:nvSpPr>
          <p:cNvPr id="22" name="Shape 15"/>
          <p:cNvSpPr/>
          <p:nvPr/>
        </p:nvSpPr>
        <p:spPr>
          <a:xfrm>
            <a:off x="457200" y="2743200"/>
            <a:ext cx="329184" cy="329184"/>
          </a:xfrm>
          <a:prstGeom prst="ellipse">
            <a:avLst/>
          </a:prstGeom>
          <a:solidFill>
            <a:srgbClr val="D49A00">
              <a:alpha val="22000"/>
            </a:srgbClr>
          </a:solidFill>
          <a:ln/>
        </p:spPr>
      </p:sp>
      <p:pic>
        <p:nvPicPr>
          <p:cNvPr id="23" name="Image 4" descr="preencoded.png"/>
          <p:cNvPicPr>
            <a:picLocks noChangeAspect="1"/>
          </p:cNvPicPr>
          <p:nvPr/>
        </p:nvPicPr>
        <p:blipFill>
          <a:blip r:embed="rId7"/>
          <a:stretch>
            <a:fillRect/>
          </a:stretch>
        </p:blipFill>
        <p:spPr>
          <a:xfrm>
            <a:off x="542788" y="2828788"/>
            <a:ext cx="158008" cy="158008"/>
          </a:xfrm>
          <a:prstGeom prst="rect">
            <a:avLst/>
          </a:prstGeom>
        </p:spPr>
      </p:pic>
      <p:sp>
        <p:nvSpPr>
          <p:cNvPr id="24" name="Text 16"/>
          <p:cNvSpPr txBox="1"/>
          <p:nvPr/>
        </p:nvSpPr>
        <p:spPr>
          <a:xfrm>
            <a:off x="914400" y="2706624"/>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Shard sizing</a:t>
            </a:r>
            <a:endParaRPr lang="en-US" sz="1100" dirty="0"/>
          </a:p>
        </p:txBody>
      </p:sp>
      <p:sp>
        <p:nvSpPr>
          <p:cNvPr id="25" name="Text 17"/>
          <p:cNvSpPr txBox="1"/>
          <p:nvPr/>
        </p:nvSpPr>
        <p:spPr>
          <a:xfrm>
            <a:off x="2423160" y="2706624"/>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documentation — "Size your shards", elastic.co/docs (10–50 GB per shard, under 200 million documents).</a:t>
            </a:r>
            <a:endParaRPr lang="en-US" sz="1000" dirty="0"/>
          </a:p>
        </p:txBody>
      </p:sp>
      <p:sp>
        <p:nvSpPr>
          <p:cNvPr id="26" name="Shape 18"/>
          <p:cNvSpPr/>
          <p:nvPr/>
        </p:nvSpPr>
        <p:spPr>
          <a:xfrm>
            <a:off x="457200" y="3218688"/>
            <a:ext cx="329184" cy="329184"/>
          </a:xfrm>
          <a:prstGeom prst="ellipse">
            <a:avLst/>
          </a:prstGeom>
          <a:solidFill>
            <a:srgbClr val="C4621D">
              <a:alpha val="22000"/>
            </a:srgbClr>
          </a:solidFill>
          <a:ln/>
        </p:spPr>
      </p:sp>
      <p:pic>
        <p:nvPicPr>
          <p:cNvPr id="27" name="Image 5" descr="preencoded.png"/>
          <p:cNvPicPr>
            <a:picLocks noChangeAspect="1"/>
          </p:cNvPicPr>
          <p:nvPr/>
        </p:nvPicPr>
        <p:blipFill>
          <a:blip r:embed="rId8"/>
          <a:stretch>
            <a:fillRect/>
          </a:stretch>
        </p:blipFill>
        <p:spPr>
          <a:xfrm>
            <a:off x="542788" y="3304276"/>
            <a:ext cx="158008" cy="158008"/>
          </a:xfrm>
          <a:prstGeom prst="rect">
            <a:avLst/>
          </a:prstGeom>
        </p:spPr>
      </p:pic>
      <p:sp>
        <p:nvSpPr>
          <p:cNvPr id="28" name="Text 19"/>
          <p:cNvSpPr txBox="1"/>
          <p:nvPr/>
        </p:nvSpPr>
        <p:spPr>
          <a:xfrm>
            <a:off x="914400" y="3182112"/>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ES|QL</a:t>
            </a:r>
            <a:endParaRPr lang="en-US" sz="1100" dirty="0"/>
          </a:p>
        </p:txBody>
      </p:sp>
      <p:sp>
        <p:nvSpPr>
          <p:cNvPr id="29" name="Text 20"/>
          <p:cNvSpPr txBox="1"/>
          <p:nvPr/>
        </p:nvSpPr>
        <p:spPr>
          <a:xfrm>
            <a:off x="2423160" y="3182112"/>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blog — "Elastic 8.14: Announcing the GA of Elasticsearch Query Language (ES|QL)", June 2024.</a:t>
            </a:r>
            <a:endParaRPr lang="en-US" sz="1000" dirty="0"/>
          </a:p>
        </p:txBody>
      </p:sp>
      <p:sp>
        <p:nvSpPr>
          <p:cNvPr id="30" name="Shape 21"/>
          <p:cNvSpPr/>
          <p:nvPr/>
        </p:nvSpPr>
        <p:spPr>
          <a:xfrm>
            <a:off x="457200" y="3694176"/>
            <a:ext cx="329184" cy="329184"/>
          </a:xfrm>
          <a:prstGeom prst="ellipse">
            <a:avLst/>
          </a:prstGeom>
          <a:solidFill>
            <a:srgbClr val="B83B2E">
              <a:alpha val="22000"/>
            </a:srgbClr>
          </a:solidFill>
          <a:ln/>
        </p:spPr>
      </p:sp>
      <p:pic>
        <p:nvPicPr>
          <p:cNvPr id="31" name="Image 6" descr="preencoded.png"/>
          <p:cNvPicPr>
            <a:picLocks noChangeAspect="1"/>
          </p:cNvPicPr>
          <p:nvPr/>
        </p:nvPicPr>
        <p:blipFill>
          <a:blip r:embed="rId9"/>
          <a:stretch>
            <a:fillRect/>
          </a:stretch>
        </p:blipFill>
        <p:spPr>
          <a:xfrm>
            <a:off x="542788" y="3779764"/>
            <a:ext cx="158008" cy="158008"/>
          </a:xfrm>
          <a:prstGeom prst="rect">
            <a:avLst/>
          </a:prstGeom>
        </p:spPr>
      </p:pic>
      <p:sp>
        <p:nvSpPr>
          <p:cNvPr id="32" name="Text 22"/>
          <p:cNvSpPr txBox="1"/>
          <p:nvPr/>
        </p:nvSpPr>
        <p:spPr>
          <a:xfrm>
            <a:off x="914400" y="3657600"/>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Licensing</a:t>
            </a:r>
            <a:endParaRPr lang="en-US" sz="1100" dirty="0"/>
          </a:p>
        </p:txBody>
      </p:sp>
      <p:sp>
        <p:nvSpPr>
          <p:cNvPr id="33" name="Text 23"/>
          <p:cNvSpPr txBox="1"/>
          <p:nvPr/>
        </p:nvSpPr>
        <p:spPr>
          <a:xfrm>
            <a:off x="2423160" y="3657600"/>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Elastic — "FAQ on Software Licensing" and S. Banon, "Elasticsearch is Open Source. Again!" (AGPLv3 option, 2024).</a:t>
            </a:r>
            <a:endParaRPr lang="en-US" sz="1000" dirty="0"/>
          </a:p>
        </p:txBody>
      </p:sp>
      <p:sp>
        <p:nvSpPr>
          <p:cNvPr id="34" name="Shape 24"/>
          <p:cNvSpPr/>
          <p:nvPr/>
        </p:nvSpPr>
        <p:spPr>
          <a:xfrm>
            <a:off x="457200" y="4169664"/>
            <a:ext cx="329184" cy="329184"/>
          </a:xfrm>
          <a:prstGeom prst="ellipse">
            <a:avLst/>
          </a:prstGeom>
          <a:solidFill>
            <a:srgbClr val="00A86A">
              <a:alpha val="22000"/>
            </a:srgbClr>
          </a:solidFill>
          <a:ln/>
        </p:spPr>
      </p:sp>
      <p:pic>
        <p:nvPicPr>
          <p:cNvPr id="35" name="Image 7" descr="preencoded.png"/>
          <p:cNvPicPr>
            <a:picLocks noChangeAspect="1"/>
          </p:cNvPicPr>
          <p:nvPr/>
        </p:nvPicPr>
        <p:blipFill>
          <a:blip r:embed="rId4"/>
          <a:stretch>
            <a:fillRect/>
          </a:stretch>
        </p:blipFill>
        <p:spPr>
          <a:xfrm>
            <a:off x="542788" y="4255252"/>
            <a:ext cx="158008" cy="158008"/>
          </a:xfrm>
          <a:prstGeom prst="rect">
            <a:avLst/>
          </a:prstGeom>
        </p:spPr>
      </p:pic>
      <p:sp>
        <p:nvSpPr>
          <p:cNvPr id="36" name="Text 25"/>
          <p:cNvSpPr txBox="1"/>
          <p:nvPr/>
        </p:nvSpPr>
        <p:spPr>
          <a:xfrm>
            <a:off x="914400" y="4133088"/>
            <a:ext cx="1463040" cy="40233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OpenSearch</a:t>
            </a:r>
            <a:endParaRPr lang="en-US" sz="1100" dirty="0"/>
          </a:p>
        </p:txBody>
      </p:sp>
      <p:sp>
        <p:nvSpPr>
          <p:cNvPr id="37" name="Text 26"/>
          <p:cNvSpPr txBox="1"/>
          <p:nvPr/>
        </p:nvSpPr>
        <p:spPr>
          <a:xfrm>
            <a:off x="2423160" y="4133088"/>
            <a:ext cx="6263640" cy="402336"/>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Revenera blog — "Elastic's Return to Open Source" (January 2025): OpenSearch fork and transfer to the Linux Foundation.</a:t>
            </a:r>
            <a:endParaRPr lang="en-US" sz="10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QUESTIONS  ·  THEN TO THE LAB</a:t>
            </a:r>
            <a:endParaRPr lang="en-US" sz="1100" dirty="0"/>
          </a:p>
        </p:txBody>
      </p:sp>
      <p:sp>
        <p:nvSpPr>
          <p:cNvPr id="3" name="Text 1"/>
          <p:cNvSpPr txBox="1"/>
          <p:nvPr/>
        </p:nvSpPr>
        <p:spPr>
          <a:xfrm>
            <a:off x="548640" y="1097280"/>
            <a:ext cx="68580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From tiles to insight — at scale</a:t>
            </a:r>
            <a:endParaRPr lang="en-US" sz="4000" dirty="0"/>
          </a:p>
        </p:txBody>
      </p:sp>
      <p:sp>
        <p:nvSpPr>
          <p:cNvPr id="4" name="Text 2"/>
          <p:cNvSpPr txBox="1"/>
          <p:nvPr/>
        </p:nvSpPr>
        <p:spPr>
          <a:xfrm>
            <a:off x="548640" y="1920240"/>
            <a:ext cx="7863840" cy="4572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Your cluster is running. Your notebooks are waiting. Sit with your team.</a:t>
            </a:r>
            <a:endParaRPr lang="en-US" sz="18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7051</Words>
  <Application>Microsoft Office PowerPoint</Application>
  <PresentationFormat>On-screen Show (16:9)</PresentationFormat>
  <Paragraphs>751</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Engines of Scale: the Elastic Stack (ELK) for Official Statistics</dc:title>
  <dc:subject>African Development Bank – Data Innovation for Africa (DI4A)</dc:subject>
  <dc:creator>African Development Bank – Data Innovation for Africa (DI4A)</dc:creator>
  <cp:lastModifiedBy>HADJ TAIEB, MOHAMED ALI</cp:lastModifiedBy>
  <cp:revision>6</cp:revision>
  <dcterms:created xsi:type="dcterms:W3CDTF">2026-09-16T14:15:21Z</dcterms:created>
  <dcterms:modified xsi:type="dcterms:W3CDTF">2026-09-30T05:19:17Z</dcterms:modified>
</cp:coreProperties>
</file>