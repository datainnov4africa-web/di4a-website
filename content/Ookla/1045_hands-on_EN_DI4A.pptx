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80" r:id="rId22"/>
    <p:sldId id="281" r:id="rId23"/>
    <p:sldId id="282" r:id="rId24"/>
    <p:sldId id="283" r:id="rId25"/>
    <p:sldId id="284" r:id="rId26"/>
    <p:sldId id="285" r:id="rId27"/>
    <p:sldId id="288" r:id="rId28"/>
    <p:sldId id="290" r:id="rId29"/>
    <p:sldId id="291"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lang="en-US" sz="1100" b="0" i="0" u="none" strike="noStrike">
                <a:solidFill>
                  <a:srgbClr val="231F20"/>
                </a:solidFill>
                <a:latin typeface="Calibri"/>
              </a:rPr>
              <a:t>Share of population using the internet, 2025 (%)</a:t>
            </a:r>
          </a:p>
        </c:rich>
      </c:tx>
      <c:overlay val="0"/>
    </c:title>
    <c:autoTitleDeleted val="0"/>
    <c:plotArea>
      <c:layout/>
      <c:barChart>
        <c:barDir val="bar"/>
        <c:grouping val="clustered"/>
        <c:varyColors val="0"/>
        <c:ser>
          <c:idx val="0"/>
          <c:order val="0"/>
          <c:tx>
            <c:strRef>
              <c:f>Sheet1!$B$1</c:f>
              <c:strCache>
                <c:ptCount val="1"/>
                <c:pt idx="0">
                  <c:v>Internet use</c:v>
                </c:pt>
              </c:strCache>
            </c:strRef>
          </c:tx>
          <c:spPr>
            <a:solidFill>
              <a:srgbClr val="B83B2E"/>
            </a:solidFill>
            <a:effectLst/>
          </c:spPr>
          <c:invertIfNegative val="0"/>
          <c:dPt>
            <c:idx val="0"/>
            <c:invertIfNegative val="0"/>
            <c:bubble3D val="0"/>
            <c:extLst>
              <c:ext xmlns:c16="http://schemas.microsoft.com/office/drawing/2014/chart" uri="{C3380CC4-5D6E-409C-BE32-E72D297353CC}">
                <c16:uniqueId val="{00000001-039F-4993-B443-632037EB3887}"/>
              </c:ext>
            </c:extLst>
          </c:dPt>
          <c:dPt>
            <c:idx val="1"/>
            <c:invertIfNegative val="0"/>
            <c:bubble3D val="0"/>
            <c:spPr>
              <a:solidFill>
                <a:srgbClr val="57BD92"/>
              </a:solidFill>
              <a:effectLst/>
            </c:spPr>
            <c:extLst>
              <c:ext xmlns:c16="http://schemas.microsoft.com/office/drawing/2014/chart" uri="{C3380CC4-5D6E-409C-BE32-E72D297353CC}">
                <c16:uniqueId val="{00000003-039F-4993-B443-632037EB3887}"/>
              </c:ext>
            </c:extLst>
          </c:dPt>
          <c:dPt>
            <c:idx val="2"/>
            <c:invertIfNegative val="0"/>
            <c:bubble3D val="0"/>
            <c:spPr>
              <a:solidFill>
                <a:srgbClr val="A9B5B0"/>
              </a:solidFill>
              <a:effectLst/>
            </c:spPr>
            <c:extLst>
              <c:ext xmlns:c16="http://schemas.microsoft.com/office/drawing/2014/chart" uri="{C3380CC4-5D6E-409C-BE32-E72D297353CC}">
                <c16:uniqueId val="{00000005-039F-4993-B443-632037EB3887}"/>
              </c:ext>
            </c:extLst>
          </c:dPt>
          <c:dPt>
            <c:idx val="3"/>
            <c:invertIfNegative val="0"/>
            <c:bubble3D val="0"/>
            <c:spPr>
              <a:solidFill>
                <a:srgbClr val="33AF7C"/>
              </a:solidFill>
              <a:effectLst/>
            </c:spPr>
            <c:extLst>
              <c:ext xmlns:c16="http://schemas.microsoft.com/office/drawing/2014/chart" uri="{C3380CC4-5D6E-409C-BE32-E72D297353CC}">
                <c16:uniqueId val="{00000007-039F-4993-B443-632037EB3887}"/>
              </c:ext>
            </c:extLst>
          </c:dPt>
          <c:dPt>
            <c:idx val="4"/>
            <c:invertIfNegative val="0"/>
            <c:bubble3D val="0"/>
            <c:spPr>
              <a:solidFill>
                <a:srgbClr val="10A06A"/>
              </a:solidFill>
              <a:effectLst/>
            </c:spPr>
            <c:extLst>
              <c:ext xmlns:c16="http://schemas.microsoft.com/office/drawing/2014/chart" uri="{C3380CC4-5D6E-409C-BE32-E72D297353CC}">
                <c16:uniqueId val="{00000009-039F-4993-B443-632037EB3887}"/>
              </c:ext>
            </c:extLst>
          </c:dPt>
          <c:dPt>
            <c:idx val="5"/>
            <c:invertIfNegative val="0"/>
            <c:bubble3D val="0"/>
            <c:spPr>
              <a:solidFill>
                <a:srgbClr val="008A5B"/>
              </a:solidFill>
              <a:effectLst/>
            </c:spPr>
            <c:extLst>
              <c:ext xmlns:c16="http://schemas.microsoft.com/office/drawing/2014/chart" uri="{C3380CC4-5D6E-409C-BE32-E72D297353CC}">
                <c16:uniqueId val="{0000000B-039F-4993-B443-632037EB3887}"/>
              </c:ext>
            </c:extLst>
          </c:dPt>
          <c:dPt>
            <c:idx val="6"/>
            <c:invertIfNegative val="0"/>
            <c:bubble3D val="0"/>
            <c:spPr>
              <a:solidFill>
                <a:srgbClr val="00664A"/>
              </a:solidFill>
              <a:effectLst/>
            </c:spPr>
            <c:extLst>
              <c:ext xmlns:c16="http://schemas.microsoft.com/office/drawing/2014/chart" uri="{C3380CC4-5D6E-409C-BE32-E72D297353CC}">
                <c16:uniqueId val="{0000000D-039F-4993-B443-632037EB3887}"/>
              </c:ext>
            </c:extLst>
          </c:dPt>
          <c:dLbls>
            <c:numFmt formatCode="0&quot;%&quot;" sourceLinked="0"/>
            <c:spPr>
              <a:noFill/>
              <a:ln>
                <a:noFill/>
              </a:ln>
              <a:effectLst/>
            </c:spPr>
            <c:txPr>
              <a:bodyPr/>
              <a:lstStyle/>
              <a:p>
                <a:pPr>
                  <a:defRPr sz="10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Africa</c:v>
                </c:pt>
                <c:pt idx="1">
                  <c:v>Arab States</c:v>
                </c:pt>
                <c:pt idx="2">
                  <c:v>World</c:v>
                </c:pt>
                <c:pt idx="3">
                  <c:v>Asia-Pacific</c:v>
                </c:pt>
                <c:pt idx="4">
                  <c:v>Americas</c:v>
                </c:pt>
                <c:pt idx="5">
                  <c:v>Europe</c:v>
                </c:pt>
                <c:pt idx="6">
                  <c:v>CIS</c:v>
                </c:pt>
              </c:strCache>
            </c:strRef>
          </c:cat>
          <c:val>
            <c:numRef>
              <c:f>Sheet1!$B$2:$B$8</c:f>
              <c:numCache>
                <c:formatCode>General</c:formatCode>
                <c:ptCount val="7"/>
                <c:pt idx="0">
                  <c:v>36</c:v>
                </c:pt>
                <c:pt idx="1">
                  <c:v>70</c:v>
                </c:pt>
                <c:pt idx="2">
                  <c:v>74</c:v>
                </c:pt>
                <c:pt idx="3">
                  <c:v>77</c:v>
                </c:pt>
                <c:pt idx="4">
                  <c:v>88</c:v>
                </c:pt>
                <c:pt idx="5">
                  <c:v>92</c:v>
                </c:pt>
                <c:pt idx="6">
                  <c:v>93</c:v>
                </c:pt>
              </c:numCache>
            </c:numRef>
          </c:val>
          <c:extLst>
            <c:ext xmlns:c16="http://schemas.microsoft.com/office/drawing/2014/chart" uri="{C3380CC4-5D6E-409C-BE32-E72D297353CC}">
              <c16:uniqueId val="{0000000E-039F-4993-B443-632037EB3887}"/>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lang="en-US" sz="1100" b="0" i="0" u="none" strike="noStrike">
                <a:solidFill>
                  <a:srgbClr val="231F20"/>
                </a:solidFill>
                <a:latin typeface="Calibri"/>
              </a:rPr>
              <a:t>Average download speed for the region (tiles A–C)</a:t>
            </a:r>
          </a:p>
        </c:rich>
      </c:tx>
      <c:overlay val="0"/>
    </c:title>
    <c:autoTitleDeleted val="0"/>
    <c:plotArea>
      <c:layout/>
      <c:barChart>
        <c:barDir val="col"/>
        <c:grouping val="clustered"/>
        <c:varyColors val="0"/>
        <c:ser>
          <c:idx val="0"/>
          <c:order val="0"/>
          <c:tx>
            <c:strRef>
              <c:f>Sheet1!$B$1</c:f>
              <c:strCache>
                <c:ptCount val="1"/>
                <c:pt idx="0">
                  <c:v>Mbps</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D73C-4304-BBE1-816F87F1EF13}"/>
              </c:ext>
            </c:extLst>
          </c:dPt>
          <c:dPt>
            <c:idx val="1"/>
            <c:invertIfNegative val="0"/>
            <c:bubble3D val="0"/>
            <c:spPr>
              <a:solidFill>
                <a:srgbClr val="B83B2E"/>
              </a:solidFill>
              <a:effectLst/>
            </c:spPr>
            <c:extLst>
              <c:ext xmlns:c16="http://schemas.microsoft.com/office/drawing/2014/chart" uri="{C3380CC4-5D6E-409C-BE32-E72D297353CC}">
                <c16:uniqueId val="{00000003-D73C-4304-BBE1-816F87F1EF13}"/>
              </c:ext>
            </c:extLst>
          </c:dPt>
          <c:dPt>
            <c:idx val="2"/>
            <c:invertIfNegative val="0"/>
            <c:bubble3D val="0"/>
            <c:spPr>
              <a:solidFill>
                <a:srgbClr val="00A86A"/>
              </a:solidFill>
              <a:effectLst/>
            </c:spPr>
            <c:extLst>
              <c:ext xmlns:c16="http://schemas.microsoft.com/office/drawing/2014/chart" uri="{C3380CC4-5D6E-409C-BE32-E72D297353CC}">
                <c16:uniqueId val="{00000005-D73C-4304-BBE1-816F87F1EF13}"/>
              </c:ext>
            </c:extLst>
          </c:dPt>
          <c:dLbls>
            <c:numFmt formatCode="0.0&quot; Mbps&quot;" sourceLinked="0"/>
            <c:spPr>
              <a:noFill/>
              <a:ln>
                <a:noFill/>
              </a:ln>
              <a:effectLst/>
            </c:spPr>
            <c:txPr>
              <a:bodyPr/>
              <a:lstStyle/>
              <a:p>
                <a:pPr>
                  <a:defRPr sz="1100" b="1"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Simple mean of tiles</c:v>
                </c:pt>
                <c:pt idx="1">
                  <c:v>Weighted by tests</c:v>
                </c:pt>
                <c:pt idx="2">
                  <c:v>Weighted by population</c:v>
                </c:pt>
              </c:strCache>
            </c:strRef>
          </c:cat>
          <c:val>
            <c:numRef>
              <c:f>Sheet1!$B$2:$B$4</c:f>
              <c:numCache>
                <c:formatCode>General</c:formatCode>
                <c:ptCount val="3"/>
                <c:pt idx="0">
                  <c:v>18.3</c:v>
                </c:pt>
                <c:pt idx="1">
                  <c:v>36.4</c:v>
                </c:pt>
                <c:pt idx="2">
                  <c:v>21.4</c:v>
                </c:pt>
              </c:numCache>
            </c:numRef>
          </c:val>
          <c:extLst>
            <c:ext xmlns:c16="http://schemas.microsoft.com/office/drawing/2014/chart" uri="{C3380CC4-5D6E-409C-BE32-E72D297353CC}">
              <c16:uniqueId val="{00000006-D73C-4304-BBE1-816F87F1EF1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42"/>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2817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moves to non-traditional data, with one concrete goal: by the end of the lab every team will have computed a first population-weighted connectivity indicator for the regions of its own country, using two open datasets, Ookla Speedtest Open Data and WorldPop. The first 25 minutes explain the concepts, the rest is laboratory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Before the data, the policy question it answers. The point to land: presence online is no longer the whole story, quality 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session in four ITU figures. Six billion users sounds like the problem is solved. The next three say otherwise: 2.2 billion people are still offline and almost all live in low- and middle-income countries; 5G reaches 84 percent of people in high-income countries but 4 percent in low-income countries; and a typical high-income user generates nearly eight times the mobile data of a low-income user. The last two are quality gaps, and quality is exactly what Ookla measures.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Internet use by ITU region. Africa sits at 36 percent, less than half the world average, while Europe and the CIS are above 90 percent. The ITU treats 95 percent as universal use. For this audience the key message is on the right: national averages hide a very wide urban–rural gap in Africa, 2.6 times, and that gap is subnational by nature. It can only be seen with subnational data, which is what we will build in this session.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slide. Our official indicators, SDG 9.c.1, 17.6.1 and 17.8.1, answer the old question: coverage, subscriptions, use. They say little about what the connection is actually like. The ITU now speaks of universal and meaningful connectivity: speed, reliability, affordability, skills. Ookla measures experienced speed and latency, so it complements, not replaces, the household survey and administrative data NSOs already produce.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If participants understand the tile, they understand the dataset. Take your time 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Individuals run a Speedtest on their phone; Ookla keeps only results with GPS-quality location; tests are averaged inside small map tiles; and the tiles are published every quarter on AWS for free. Two consequences to underline: the unit is the tile, not the person or the operator; and the values are averages of self-selected tests, not a designed sample.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slowly. At zoom 0 the whole world is one tile. Each zoom level splits every tile into four, and each split adds one digit to the quadkey: 0 top-left, 1 top-right, 2 bottom-left, 3 bottom-right. So tile 12 is the bottom-left child of tile 1. At zoom 16 a quadkey has 16 digits and the tile is about 611 metres wide at the equator. Two practical consequences: the quadkey is a stable identifier to join the same place across quarters without any spatial operation; and all tiles inside a larger tile share its prefix, which makes country filtering fast. Because the grid is Web Mercator, tiles get smaller in metres as you move away from the equator, so for Tunisia or South Africa a tile is noticeably smaller than for Kenya.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fields. Three traps cause most errors in first analyses. One: speeds are in kilobits per second, divide by 1000 for Mbps. Two: these are averages, while the Speedtest Global Index quoted in the press reports medians; the two cannot be compared, and averages are pulled up by a few very fast tests. Three: tests and devices are your confidence weights; a tile with one device is one person's experience.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quarter comes as two files. Fixed means tests taken over Wi-Fi or Ethernet, a proxy for home or office broadband, but partly a measure of the home Wi-Fi itself. Mobile means cellular tests, 4G and 5G. Both come from mobile devices with GPS location, so they are comparable in sampling. In most African countries the mobile layer will be much denser than the fixed layer; check this before choosing which layer drives your indicator.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series starts in Q1 2019 and is published quarterly. Two field additions matter for time series: loaded latency from early 2023, tile centroids from mid-2023. The most important recent event is April 2026: Ookla updated its supported regions, and some geographic areas are no longer in the current dataset. That is why the agenda says: verify national coverage before designing any indicator. Also: the data is periodically re-aggregated to honour privacy requests, so always record the date you downloaded.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Short and practical: how to get the files, and what the licence means for a national statistical office.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account is needed for any of these. S3 is the canonical source; the path encodes format, service type, year and quarter. The CLI command on the right downloads one quarter; note the --no-sign-request flag, which surprises people. For the lab, the notebook reads the Parquet file directly over HTTPS. Warning: global files are several hundred megabytes, so filter to your country as early as possible.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two datasets have different licences. WorldPop is CC BY 4.0: attribute and use freely, including commercially. Ookla is CC BY-NC-SA 4.0: attribution, non-commercial, share-alike. For an NSO the share-alike clause is the one to discuss: derived tables you distribute may need to carry the same licence, which may not match your national open-data policy. This is not legal advice: the three questions on the right should go to your legal or data-governance unit, and they can feed your office’s data governance guidelines. For richer or commercial use, Ookla offers separate licences, including through its Ookla for Good programme.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the heart of the session. We add the missing ingredient, a population denominator, and walk through the lab workflow.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Ookla tells us how fast connections are where tests happen. It says nothing about how many people live there. WorldPop fills that gap: modelled population counts on a 100-metre grid. The current release, Global2 R2025A, covers 2015 to 2030, is constrained to built-up settlement cells, and aligns national totals to UN World Population Prospects 2024. Two warnings: these are model estimates, not census counts, and uncertainty grows for years far from the census inputs. Where your office has its own census grid, prefer it and say so.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pedagogical slide. One imaginary region with four tiles. A simple mean of tile values gives 18 Mbps. Weighting by tests gives 36 Mbps, because the city tile has most of the tests: this is the bias of crowdsourced data, well-connected people test more. Weighting by population gives 21 Mbps, which answers the policy question: what speed does the typical resident experience? Then notice tile D: 4,000 people with no measurement at all. That is why we always report the measured-population share next to the speed. Numbers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recipe the notebook follows. Step 0 is the coverage check from section 2. Clip early, because the global file is large. Attach population by summing WorldPop cells inside each tile. Assign each tile to one region using its centroid, so a tile crossing a border is not counted twice. Apply and state a minimum of tests and devices. Only then compute the indicators, and finish with sanity checks: does the ranking of regions make sense against what you know from surveys?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code line by line; map it to the six steps using the numbered comments. Points to highlight: the bounding-box filter on tile_x and tile_y happens before building geometries, which saves memory; zonal_stats may return None for tiles on water, hence the 'or 0'; the centroid join assigns each tile to exactly one region; and the thresholds 3 tests and 2 devices are an example, each team must choose and document its own. The full notebook is in the DI4A GitHub repository.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publish a speed alone. The four indicators work as a set. The population-weighted speed is the headline. The measured-population share tells readers how much of the region the headline actually represents. The share of people above a threshold is easier to communicate than a mean; the threshold is a policy choice, so state it and justify it. The change over time uses the quadkey join and should only compare quarters downloaded with the same rules.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Read these slides with your own map on screen.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analytical lenses, ordered from most to least under-used. Absence: where there is no data at all. Gradient: how performance decays from city centres, and where it breaks. Substitution: places where people only have mobile. Responsiveness: latency, which explains why a fast-looking connection still fails a video call. The next two slides detail the first and third.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tile with no row means no GPS-located test was recorded there that quarter. It can mean no service, unaffordable service, no smartphones, nobody living there, or people who simply never tested. The WorldPop overlay separates the fourth case from the others: an empty tile with many people is the interesting one. Persistent absence over several quarters in populated places is a lead for field verification, never a finding by itself. This is the most common misreading in published work.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 the fixed and mobile layers on quadkey for the same quarter and every tile falls into one of four cells. Mobile-only tiles are the most policy-relevant for Africa: households whose entire digital life depends on a capped cellular plan. Fixed-only tiles often point to weak indoor cellular reception. Neither means unmeasured: go back to signal 1. Because both layers come from mobile devices, the comparison is like-for-like in sampling.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Credibility is the core asset of an NSO. This section is about protecting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credibility depends on the right-hand column. Ookla is observational data, not a designed sample. It is a floor on where service demonstrably exists, not a coverage map. It says nothing about who the testers are, about prices, or about people who never test. That is a constraint to manage, not a reason to discard the data. This is also the content of your limitations note.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documented users of Speedtest data according to Ookla: regulators such as the US FCC and Malaysia's MCMC, and the Georgia Department of Education, which used it to decide where to station Wi-Fi-equipped school buses. On the right, possible uses for an NSO. These are options to discuss, not recommendations. The most realistic next step for most offices is to use it as a covariate or a diagnostic, and to discuss regular access with Ookla and operators.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All figures in this deck were checked against these sources in September 2026. Verify current values before republishing.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questions for five minutes, then open the lab. Trainers circulate; the first checkpoint is the coverage check.</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png"/><Relationship Id="rId7"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15.png"/><Relationship Id="rId9"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3.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25.png"/><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2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27.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9" Type="http://schemas.openxmlformats.org/officeDocument/2006/relationships/image" Target="../media/image73.png"/></Relationships>
</file>

<file path=ppt/slides/_rels/slide2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76.png"/><Relationship Id="rId4" Type="http://schemas.openxmlformats.org/officeDocument/2006/relationships/image" Target="../media/image75.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640080"/>
            <a:ext cx="73152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AFDB  ·  DATA INNOVATION FOR AFRICA (DI4A)  ·  NON-TRADITIONAL DATA</a:t>
            </a:r>
            <a:endParaRPr lang="en-US" sz="1100" dirty="0"/>
          </a:p>
        </p:txBody>
      </p:sp>
      <p:sp>
        <p:nvSpPr>
          <p:cNvPr id="4" name="Text 2"/>
          <p:cNvSpPr txBox="1"/>
          <p:nvPr/>
        </p:nvSpPr>
        <p:spPr>
          <a:xfrm>
            <a:off x="548640" y="960120"/>
            <a:ext cx="5943600" cy="173736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Measuring the Connectivity Gap with Ookla Open Data</a:t>
            </a:r>
            <a:endParaRPr lang="en-US" sz="3800" dirty="0"/>
          </a:p>
        </p:txBody>
      </p:sp>
      <p:sp>
        <p:nvSpPr>
          <p:cNvPr id="5" name="Text 3"/>
          <p:cNvSpPr txBox="1"/>
          <p:nvPr/>
        </p:nvSpPr>
        <p:spPr>
          <a:xfrm>
            <a:off x="548640" y="2788920"/>
            <a:ext cx="566928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From crowdsourced speed tests to a population-weighted subnational indicator, with WorldPop</a:t>
            </a:r>
            <a:endParaRPr lang="en-US" sz="1700" dirty="0"/>
          </a:p>
        </p:txBody>
      </p:sp>
      <p:sp>
        <p:nvSpPr>
          <p:cNvPr id="8" name="Text 6"/>
          <p:cNvSpPr txBox="1"/>
          <p:nvPr/>
        </p:nvSpPr>
        <p:spPr>
          <a:xfrm>
            <a:off x="548640" y="4297680"/>
            <a:ext cx="6400800" cy="228600"/>
          </a:xfrm>
          <a:prstGeom prst="rect">
            <a:avLst/>
          </a:prstGeom>
          <a:noFill/>
          <a:ln/>
        </p:spPr>
        <p:txBody>
          <a:bodyPr wrap="square" lIns="0" tIns="0" rIns="0" bIns="0" rtlCol="0" anchor="t"/>
          <a:lstStyle/>
          <a:p>
            <a:pPr marL="0" indent="0">
              <a:buNone/>
            </a:pPr>
            <a:r>
              <a:rPr lang="en-US" sz="1100" dirty="0">
                <a:solidFill>
                  <a:srgbClr val="E6F6EE"/>
                </a:solidFill>
                <a:latin typeface="Calibri" pitchFamily="34" charset="0"/>
                <a:ea typeface="Calibri" pitchFamily="34" charset="-122"/>
                <a:cs typeface="Calibri" pitchFamily="34" charset="-120"/>
              </a:rPr>
              <a:t>Data Innovation For Africa (DI4A) - AfDB</a:t>
            </a:r>
            <a:endParaRPr lang="en-US" sz="1100" dirty="0"/>
          </a:p>
        </p:txBody>
      </p:sp>
      <p:sp>
        <p:nvSpPr>
          <p:cNvPr id="9" name="Shape 7"/>
          <p:cNvSpPr/>
          <p:nvPr/>
        </p:nvSpPr>
        <p:spPr>
          <a:xfrm>
            <a:off x="6720840" y="1234440"/>
            <a:ext cx="1920240" cy="192024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7178040" y="1691640"/>
            <a:ext cx="1005840" cy="100584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01</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Why connectivity is a statistical question</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Three-quarters of humanity is online. So why is the gap still growing?</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5C242"/>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5</a:t>
            </a:r>
            <a:endParaRPr lang="en-US" sz="8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THE GLOBAL PICTURE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Four numbers that frame the problem</a:t>
            </a:r>
            <a:endParaRPr lang="en-US" sz="2800" dirty="0"/>
          </a:p>
        </p:txBody>
      </p:sp>
      <p:sp>
        <p:nvSpPr>
          <p:cNvPr id="8" name="Shape 6"/>
          <p:cNvSpPr/>
          <p:nvPr/>
        </p:nvSpPr>
        <p:spPr>
          <a:xfrm>
            <a:off x="7589520" y="310896"/>
            <a:ext cx="91440" cy="91440"/>
          </a:xfrm>
          <a:prstGeom prst="ellipse">
            <a:avLst/>
          </a:prstGeom>
          <a:solidFill>
            <a:srgbClr val="00A86A"/>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Shape 14"/>
          <p:cNvSpPr/>
          <p:nvPr/>
        </p:nvSpPr>
        <p:spPr>
          <a:xfrm>
            <a:off x="457200" y="1371600"/>
            <a:ext cx="1920240" cy="2926080"/>
          </a:xfrm>
          <a:prstGeom prst="roundRect">
            <a:avLst>
              <a:gd name="adj" fmla="val 3810"/>
            </a:avLst>
          </a:prstGeom>
          <a:solidFill>
            <a:srgbClr val="F4F7F5"/>
          </a:solidFill>
          <a:ln w="9525">
            <a:solidFill>
              <a:srgbClr val="D5DED9"/>
            </a:solidFill>
            <a:prstDash val="solid"/>
          </a:ln>
        </p:spPr>
      </p:sp>
      <p:sp>
        <p:nvSpPr>
          <p:cNvPr id="18" name="Shape 15"/>
          <p:cNvSpPr/>
          <p:nvPr/>
        </p:nvSpPr>
        <p:spPr>
          <a:xfrm>
            <a:off x="640080" y="1554480"/>
            <a:ext cx="457200" cy="457200"/>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749808" y="1664208"/>
            <a:ext cx="237744" cy="237744"/>
          </a:xfrm>
          <a:prstGeom prst="rect">
            <a:avLst/>
          </a:prstGeom>
        </p:spPr>
      </p:pic>
      <p:sp>
        <p:nvSpPr>
          <p:cNvPr id="20" name="Text 16"/>
          <p:cNvSpPr txBox="1"/>
          <p:nvPr/>
        </p:nvSpPr>
        <p:spPr>
          <a:xfrm>
            <a:off x="640080" y="2148840"/>
            <a:ext cx="1645920" cy="640080"/>
          </a:xfrm>
          <a:prstGeom prst="rect">
            <a:avLst/>
          </a:prstGeom>
          <a:noFill/>
          <a:ln/>
        </p:spPr>
        <p:txBody>
          <a:bodyPr wrap="square" lIns="0" tIns="0" rIns="0" bIns="0" rtlCol="0" anchor="ctr"/>
          <a:lstStyle/>
          <a:p>
            <a:pPr marL="0" indent="0">
              <a:buNone/>
            </a:pPr>
            <a:r>
              <a:rPr lang="en-US" sz="3600" b="1" dirty="0">
                <a:solidFill>
                  <a:srgbClr val="00A86A"/>
                </a:solidFill>
                <a:latin typeface="Calibri" pitchFamily="34" charset="0"/>
                <a:ea typeface="Calibri" pitchFamily="34" charset="-122"/>
                <a:cs typeface="Calibri" pitchFamily="34" charset="-120"/>
              </a:rPr>
              <a:t>6.0 bn</a:t>
            </a:r>
            <a:endParaRPr lang="en-US" sz="3600" dirty="0"/>
          </a:p>
        </p:txBody>
      </p:sp>
      <p:sp>
        <p:nvSpPr>
          <p:cNvPr id="21" name="Text 17"/>
          <p:cNvSpPr txBox="1"/>
          <p:nvPr/>
        </p:nvSpPr>
        <p:spPr>
          <a:xfrm>
            <a:off x="640080" y="2852928"/>
            <a:ext cx="1600200" cy="45720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people online in 2025</a:t>
            </a:r>
            <a:endParaRPr lang="en-US" sz="1300" dirty="0"/>
          </a:p>
        </p:txBody>
      </p:sp>
      <p:sp>
        <p:nvSpPr>
          <p:cNvPr id="22" name="Text 18"/>
          <p:cNvSpPr txBox="1"/>
          <p:nvPr/>
        </p:nvSpPr>
        <p:spPr>
          <a:xfrm>
            <a:off x="640080" y="3337560"/>
            <a:ext cx="1600200" cy="82296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About 74% of the world's population, up from 5.8 bn in 2024.</a:t>
            </a:r>
            <a:endParaRPr lang="en-US" sz="1050" dirty="0"/>
          </a:p>
        </p:txBody>
      </p:sp>
      <p:sp>
        <p:nvSpPr>
          <p:cNvPr id="23" name="Shape 19"/>
          <p:cNvSpPr/>
          <p:nvPr/>
        </p:nvSpPr>
        <p:spPr>
          <a:xfrm>
            <a:off x="2551176" y="1371600"/>
            <a:ext cx="1920240" cy="2926080"/>
          </a:xfrm>
          <a:prstGeom prst="roundRect">
            <a:avLst>
              <a:gd name="adj" fmla="val 3810"/>
            </a:avLst>
          </a:prstGeom>
          <a:solidFill>
            <a:srgbClr val="F4F7F5"/>
          </a:solidFill>
          <a:ln w="9525">
            <a:solidFill>
              <a:srgbClr val="D5DED9"/>
            </a:solidFill>
            <a:prstDash val="solid"/>
          </a:ln>
        </p:spPr>
      </p:sp>
      <p:sp>
        <p:nvSpPr>
          <p:cNvPr id="24" name="Shape 20"/>
          <p:cNvSpPr/>
          <p:nvPr/>
        </p:nvSpPr>
        <p:spPr>
          <a:xfrm>
            <a:off x="2734056" y="1554480"/>
            <a:ext cx="457200" cy="457200"/>
          </a:xfrm>
          <a:prstGeom prst="ellipse">
            <a:avLst/>
          </a:prstGeom>
          <a:solidFill>
            <a:srgbClr val="B83B2E">
              <a:alpha val="22000"/>
            </a:srgbClr>
          </a:solidFill>
          <a:ln/>
        </p:spPr>
      </p:sp>
      <p:pic>
        <p:nvPicPr>
          <p:cNvPr id="25" name="Image 1" descr="preencoded.png"/>
          <p:cNvPicPr>
            <a:picLocks noChangeAspect="1"/>
          </p:cNvPicPr>
          <p:nvPr/>
        </p:nvPicPr>
        <p:blipFill>
          <a:blip r:embed="rId4"/>
          <a:stretch>
            <a:fillRect/>
          </a:stretch>
        </p:blipFill>
        <p:spPr>
          <a:xfrm>
            <a:off x="2843784" y="1664208"/>
            <a:ext cx="237744" cy="237744"/>
          </a:xfrm>
          <a:prstGeom prst="rect">
            <a:avLst/>
          </a:prstGeom>
        </p:spPr>
      </p:pic>
      <p:sp>
        <p:nvSpPr>
          <p:cNvPr id="26" name="Text 21"/>
          <p:cNvSpPr txBox="1"/>
          <p:nvPr/>
        </p:nvSpPr>
        <p:spPr>
          <a:xfrm>
            <a:off x="2734056" y="2148840"/>
            <a:ext cx="1645920" cy="640080"/>
          </a:xfrm>
          <a:prstGeom prst="rect">
            <a:avLst/>
          </a:prstGeom>
          <a:noFill/>
          <a:ln/>
        </p:spPr>
        <p:txBody>
          <a:bodyPr wrap="square" lIns="0" tIns="0" rIns="0" bIns="0" rtlCol="0" anchor="ctr"/>
          <a:lstStyle/>
          <a:p>
            <a:pPr marL="0" indent="0">
              <a:buNone/>
            </a:pPr>
            <a:r>
              <a:rPr lang="en-US" sz="3600" b="1" dirty="0">
                <a:solidFill>
                  <a:srgbClr val="B83B2E"/>
                </a:solidFill>
                <a:latin typeface="Calibri" pitchFamily="34" charset="0"/>
                <a:ea typeface="Calibri" pitchFamily="34" charset="-122"/>
                <a:cs typeface="Calibri" pitchFamily="34" charset="-120"/>
              </a:rPr>
              <a:t>2.2 bn</a:t>
            </a:r>
            <a:endParaRPr lang="en-US" sz="3600" dirty="0"/>
          </a:p>
        </p:txBody>
      </p:sp>
      <p:sp>
        <p:nvSpPr>
          <p:cNvPr id="27" name="Text 22"/>
          <p:cNvSpPr txBox="1"/>
          <p:nvPr/>
        </p:nvSpPr>
        <p:spPr>
          <a:xfrm>
            <a:off x="2734056" y="2852928"/>
            <a:ext cx="1600200" cy="45720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people still offline</a:t>
            </a:r>
            <a:endParaRPr lang="en-US" sz="1300" dirty="0"/>
          </a:p>
        </p:txBody>
      </p:sp>
      <p:sp>
        <p:nvSpPr>
          <p:cNvPr id="28" name="Text 23"/>
          <p:cNvSpPr txBox="1"/>
          <p:nvPr/>
        </p:nvSpPr>
        <p:spPr>
          <a:xfrm>
            <a:off x="2734056" y="3337560"/>
            <a:ext cx="1600200" cy="82296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96% of them live in low- and middle-income countries.</a:t>
            </a:r>
            <a:endParaRPr lang="en-US" sz="1050" dirty="0"/>
          </a:p>
        </p:txBody>
      </p:sp>
      <p:sp>
        <p:nvSpPr>
          <p:cNvPr id="29" name="Shape 24"/>
          <p:cNvSpPr/>
          <p:nvPr/>
        </p:nvSpPr>
        <p:spPr>
          <a:xfrm>
            <a:off x="4645152" y="1371600"/>
            <a:ext cx="1920240" cy="2926080"/>
          </a:xfrm>
          <a:prstGeom prst="roundRect">
            <a:avLst>
              <a:gd name="adj" fmla="val 3810"/>
            </a:avLst>
          </a:prstGeom>
          <a:solidFill>
            <a:srgbClr val="F4F7F5"/>
          </a:solidFill>
          <a:ln w="9525">
            <a:solidFill>
              <a:srgbClr val="D5DED9"/>
            </a:solidFill>
            <a:prstDash val="solid"/>
          </a:ln>
        </p:spPr>
      </p:sp>
      <p:sp>
        <p:nvSpPr>
          <p:cNvPr id="30" name="Shape 25"/>
          <p:cNvSpPr/>
          <p:nvPr/>
        </p:nvSpPr>
        <p:spPr>
          <a:xfrm>
            <a:off x="4828032" y="1554480"/>
            <a:ext cx="457200" cy="457200"/>
          </a:xfrm>
          <a:prstGeom prst="ellipse">
            <a:avLst/>
          </a:prstGeom>
          <a:solidFill>
            <a:srgbClr val="0E7C86">
              <a:alpha val="22000"/>
            </a:srgbClr>
          </a:solidFill>
          <a:ln/>
        </p:spPr>
      </p:sp>
      <p:pic>
        <p:nvPicPr>
          <p:cNvPr id="31" name="Image 2" descr="preencoded.png"/>
          <p:cNvPicPr>
            <a:picLocks noChangeAspect="1"/>
          </p:cNvPicPr>
          <p:nvPr/>
        </p:nvPicPr>
        <p:blipFill>
          <a:blip r:embed="rId5"/>
          <a:stretch>
            <a:fillRect/>
          </a:stretch>
        </p:blipFill>
        <p:spPr>
          <a:xfrm>
            <a:off x="4937760" y="1664208"/>
            <a:ext cx="237744" cy="237744"/>
          </a:xfrm>
          <a:prstGeom prst="rect">
            <a:avLst/>
          </a:prstGeom>
        </p:spPr>
      </p:pic>
      <p:sp>
        <p:nvSpPr>
          <p:cNvPr id="32" name="Text 26"/>
          <p:cNvSpPr txBox="1"/>
          <p:nvPr/>
        </p:nvSpPr>
        <p:spPr>
          <a:xfrm>
            <a:off x="4828032" y="2148840"/>
            <a:ext cx="1645920" cy="640080"/>
          </a:xfrm>
          <a:prstGeom prst="rect">
            <a:avLst/>
          </a:prstGeom>
          <a:noFill/>
          <a:ln/>
        </p:spPr>
        <p:txBody>
          <a:bodyPr wrap="square" lIns="0" tIns="0" rIns="0" bIns="0" rtlCol="0" anchor="ctr"/>
          <a:lstStyle/>
          <a:p>
            <a:pPr marL="0" indent="0">
              <a:buNone/>
            </a:pPr>
            <a:r>
              <a:rPr lang="en-US" sz="3000" b="1" dirty="0">
                <a:solidFill>
                  <a:srgbClr val="0E7C86"/>
                </a:solidFill>
                <a:latin typeface="Calibri" pitchFamily="34" charset="0"/>
                <a:ea typeface="Calibri" pitchFamily="34" charset="-122"/>
                <a:cs typeface="Calibri" pitchFamily="34" charset="-120"/>
              </a:rPr>
              <a:t>84% vs 4%</a:t>
            </a:r>
            <a:endParaRPr lang="en-US" sz="3000" dirty="0"/>
          </a:p>
        </p:txBody>
      </p:sp>
      <p:sp>
        <p:nvSpPr>
          <p:cNvPr id="33" name="Text 27"/>
          <p:cNvSpPr txBox="1"/>
          <p:nvPr/>
        </p:nvSpPr>
        <p:spPr>
          <a:xfrm>
            <a:off x="4828032" y="2852928"/>
            <a:ext cx="1600200" cy="45720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5G population coverage</a:t>
            </a:r>
            <a:endParaRPr lang="en-US" sz="1300" dirty="0"/>
          </a:p>
        </p:txBody>
      </p:sp>
      <p:sp>
        <p:nvSpPr>
          <p:cNvPr id="34" name="Text 28"/>
          <p:cNvSpPr txBox="1"/>
          <p:nvPr/>
        </p:nvSpPr>
        <p:spPr>
          <a:xfrm>
            <a:off x="4828032" y="3337560"/>
            <a:ext cx="1600200" cy="82296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High-income vs low-income countries (world: 55%).</a:t>
            </a:r>
            <a:endParaRPr lang="en-US" sz="1050" dirty="0"/>
          </a:p>
        </p:txBody>
      </p:sp>
      <p:sp>
        <p:nvSpPr>
          <p:cNvPr id="35" name="Shape 29"/>
          <p:cNvSpPr/>
          <p:nvPr/>
        </p:nvSpPr>
        <p:spPr>
          <a:xfrm>
            <a:off x="6739128" y="1371600"/>
            <a:ext cx="1920240" cy="2926080"/>
          </a:xfrm>
          <a:prstGeom prst="roundRect">
            <a:avLst>
              <a:gd name="adj" fmla="val 3810"/>
            </a:avLst>
          </a:prstGeom>
          <a:solidFill>
            <a:srgbClr val="F4F7F5"/>
          </a:solidFill>
          <a:ln w="9525">
            <a:solidFill>
              <a:srgbClr val="D5DED9"/>
            </a:solidFill>
            <a:prstDash val="solid"/>
          </a:ln>
        </p:spPr>
      </p:sp>
      <p:sp>
        <p:nvSpPr>
          <p:cNvPr id="36" name="Shape 30"/>
          <p:cNvSpPr/>
          <p:nvPr/>
        </p:nvSpPr>
        <p:spPr>
          <a:xfrm>
            <a:off x="6922008" y="1554480"/>
            <a:ext cx="457200" cy="457200"/>
          </a:xfrm>
          <a:prstGeom prst="ellipse">
            <a:avLst/>
          </a:prstGeom>
          <a:solidFill>
            <a:srgbClr val="D49A00">
              <a:alpha val="22000"/>
            </a:srgbClr>
          </a:solidFill>
          <a:ln/>
        </p:spPr>
      </p:sp>
      <p:pic>
        <p:nvPicPr>
          <p:cNvPr id="37" name="Image 3" descr="preencoded.png"/>
          <p:cNvPicPr>
            <a:picLocks noChangeAspect="1"/>
          </p:cNvPicPr>
          <p:nvPr/>
        </p:nvPicPr>
        <p:blipFill>
          <a:blip r:embed="rId6"/>
          <a:stretch>
            <a:fillRect/>
          </a:stretch>
        </p:blipFill>
        <p:spPr>
          <a:xfrm>
            <a:off x="7031736" y="1664208"/>
            <a:ext cx="237744" cy="237744"/>
          </a:xfrm>
          <a:prstGeom prst="rect">
            <a:avLst/>
          </a:prstGeom>
        </p:spPr>
      </p:pic>
      <p:sp>
        <p:nvSpPr>
          <p:cNvPr id="38" name="Text 31"/>
          <p:cNvSpPr txBox="1"/>
          <p:nvPr/>
        </p:nvSpPr>
        <p:spPr>
          <a:xfrm>
            <a:off x="6922008" y="2148840"/>
            <a:ext cx="1645920" cy="640080"/>
          </a:xfrm>
          <a:prstGeom prst="rect">
            <a:avLst/>
          </a:prstGeom>
          <a:noFill/>
          <a:ln/>
        </p:spPr>
        <p:txBody>
          <a:bodyPr wrap="square" lIns="0" tIns="0" rIns="0" bIns="0" rtlCol="0" anchor="ctr"/>
          <a:lstStyle/>
          <a:p>
            <a:pPr marL="0" indent="0">
              <a:buNone/>
            </a:pPr>
            <a:r>
              <a:rPr lang="en-US" sz="3600" b="1" dirty="0">
                <a:solidFill>
                  <a:srgbClr val="D49A00"/>
                </a:solidFill>
                <a:latin typeface="Calibri" pitchFamily="34" charset="0"/>
                <a:ea typeface="Calibri" pitchFamily="34" charset="-122"/>
                <a:cs typeface="Calibri" pitchFamily="34" charset="-120"/>
              </a:rPr>
              <a:t>≈ 8×</a:t>
            </a:r>
            <a:endParaRPr lang="en-US" sz="3600" dirty="0"/>
          </a:p>
        </p:txBody>
      </p:sp>
      <p:sp>
        <p:nvSpPr>
          <p:cNvPr id="39" name="Text 32"/>
          <p:cNvSpPr txBox="1"/>
          <p:nvPr/>
        </p:nvSpPr>
        <p:spPr>
          <a:xfrm>
            <a:off x="6922008" y="2852928"/>
            <a:ext cx="1600200" cy="45720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more mobile data per user</a:t>
            </a:r>
            <a:endParaRPr lang="en-US" sz="1300" dirty="0"/>
          </a:p>
        </p:txBody>
      </p:sp>
      <p:sp>
        <p:nvSpPr>
          <p:cNvPr id="40" name="Text 33"/>
          <p:cNvSpPr txBox="1"/>
          <p:nvPr/>
        </p:nvSpPr>
        <p:spPr>
          <a:xfrm>
            <a:off x="6922008" y="3337560"/>
            <a:ext cx="1600200" cy="82296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Generated by a typical high-income vs low-income user.</a:t>
            </a:r>
            <a:endParaRPr lang="en-US" sz="1050" dirty="0"/>
          </a:p>
        </p:txBody>
      </p:sp>
      <p:sp>
        <p:nvSpPr>
          <p:cNvPr id="41" name="Text 34"/>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ITU, Measuring digital development: Facts and Figures 2025 (17 November 2025).</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WHERE THE GAP IS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Africa is the region with the most to measure</a:t>
            </a:r>
            <a:endParaRPr lang="en-US" sz="2800" dirty="0"/>
          </a:p>
        </p:txBody>
      </p:sp>
      <p:sp>
        <p:nvSpPr>
          <p:cNvPr id="8" name="Shape 6"/>
          <p:cNvSpPr/>
          <p:nvPr/>
        </p:nvSpPr>
        <p:spPr>
          <a:xfrm>
            <a:off x="7589520" y="310896"/>
            <a:ext cx="91440" cy="91440"/>
          </a:xfrm>
          <a:prstGeom prst="ellipse">
            <a:avLst/>
          </a:prstGeom>
          <a:solidFill>
            <a:srgbClr val="00A86A"/>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graphicFrame>
        <p:nvGraphicFramePr>
          <p:cNvPr id="17" name="Chart 0"/>
          <p:cNvGraphicFramePr/>
          <p:nvPr/>
        </p:nvGraphicFramePr>
        <p:xfrm>
          <a:off x="457200" y="1325880"/>
          <a:ext cx="484632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18" name="Shape 14"/>
          <p:cNvSpPr/>
          <p:nvPr/>
        </p:nvSpPr>
        <p:spPr>
          <a:xfrm>
            <a:off x="5532120" y="1371600"/>
            <a:ext cx="3154680" cy="914400"/>
          </a:xfrm>
          <a:prstGeom prst="roundRect">
            <a:avLst>
              <a:gd name="adj" fmla="val 8000"/>
            </a:avLst>
          </a:prstGeom>
          <a:solidFill>
            <a:srgbClr val="F4F7F5"/>
          </a:solidFill>
          <a:ln w="9525">
            <a:solidFill>
              <a:srgbClr val="D5DED9"/>
            </a:solidFill>
            <a:prstDash val="solid"/>
          </a:ln>
        </p:spPr>
      </p:sp>
      <p:sp>
        <p:nvSpPr>
          <p:cNvPr id="19" name="Text 15"/>
          <p:cNvSpPr txBox="1"/>
          <p:nvPr/>
        </p:nvSpPr>
        <p:spPr>
          <a:xfrm>
            <a:off x="5669280" y="1463040"/>
            <a:ext cx="1051560" cy="731520"/>
          </a:xfrm>
          <a:prstGeom prst="rect">
            <a:avLst/>
          </a:prstGeom>
          <a:noFill/>
          <a:ln/>
        </p:spPr>
        <p:txBody>
          <a:bodyPr wrap="square" lIns="0" tIns="0" rIns="0" bIns="0" rtlCol="0" anchor="ctr"/>
          <a:lstStyle/>
          <a:p>
            <a:pPr marL="0" indent="0">
              <a:buNone/>
            </a:pPr>
            <a:r>
              <a:rPr lang="en-US" sz="2800" b="1" dirty="0">
                <a:solidFill>
                  <a:srgbClr val="B83B2E"/>
                </a:solidFill>
                <a:latin typeface="Calibri" pitchFamily="34" charset="0"/>
                <a:ea typeface="Calibri" pitchFamily="34" charset="-122"/>
                <a:cs typeface="Calibri" pitchFamily="34" charset="-120"/>
              </a:rPr>
              <a:t>36%</a:t>
            </a:r>
            <a:endParaRPr lang="en-US" sz="2800" dirty="0"/>
          </a:p>
        </p:txBody>
      </p:sp>
      <p:sp>
        <p:nvSpPr>
          <p:cNvPr id="20" name="Text 16"/>
          <p:cNvSpPr txBox="1"/>
          <p:nvPr/>
        </p:nvSpPr>
        <p:spPr>
          <a:xfrm>
            <a:off x="6766560" y="1463040"/>
            <a:ext cx="182880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of Africans online</a:t>
            </a:r>
            <a:endParaRPr lang="en-US" sz="1150" dirty="0"/>
          </a:p>
        </p:txBody>
      </p:sp>
      <p:sp>
        <p:nvSpPr>
          <p:cNvPr id="21" name="Text 17"/>
          <p:cNvSpPr txBox="1"/>
          <p:nvPr/>
        </p:nvSpPr>
        <p:spPr>
          <a:xfrm>
            <a:off x="6766560" y="1719072"/>
            <a:ext cx="1828800" cy="53035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Less than half the global level (74%). Low-income countries: 23%.</a:t>
            </a:r>
            <a:endParaRPr lang="en-US" sz="950" dirty="0"/>
          </a:p>
        </p:txBody>
      </p:sp>
      <p:sp>
        <p:nvSpPr>
          <p:cNvPr id="22" name="Shape 18"/>
          <p:cNvSpPr/>
          <p:nvPr/>
        </p:nvSpPr>
        <p:spPr>
          <a:xfrm>
            <a:off x="5532120" y="2404872"/>
            <a:ext cx="3154680" cy="914400"/>
          </a:xfrm>
          <a:prstGeom prst="roundRect">
            <a:avLst>
              <a:gd name="adj" fmla="val 8000"/>
            </a:avLst>
          </a:prstGeom>
          <a:solidFill>
            <a:srgbClr val="E8F5EF"/>
          </a:solidFill>
          <a:ln w="15875">
            <a:solidFill>
              <a:srgbClr val="00A86A"/>
            </a:solidFill>
            <a:prstDash val="solid"/>
          </a:ln>
        </p:spPr>
      </p:sp>
      <p:sp>
        <p:nvSpPr>
          <p:cNvPr id="23" name="Text 19"/>
          <p:cNvSpPr txBox="1"/>
          <p:nvPr/>
        </p:nvSpPr>
        <p:spPr>
          <a:xfrm>
            <a:off x="5669280" y="2496312"/>
            <a:ext cx="1051560" cy="731520"/>
          </a:xfrm>
          <a:prstGeom prst="rect">
            <a:avLst/>
          </a:prstGeom>
          <a:noFill/>
          <a:ln/>
        </p:spPr>
        <p:txBody>
          <a:bodyPr wrap="square" lIns="0" tIns="0" rIns="0" bIns="0" rtlCol="0" anchor="ctr"/>
          <a:lstStyle/>
          <a:p>
            <a:pPr marL="0" indent="0">
              <a:buNone/>
            </a:pPr>
            <a:r>
              <a:rPr lang="en-US" sz="2800" b="1" dirty="0">
                <a:solidFill>
                  <a:srgbClr val="D49A00"/>
                </a:solidFill>
                <a:latin typeface="Calibri" pitchFamily="34" charset="0"/>
                <a:ea typeface="Calibri" pitchFamily="34" charset="-122"/>
                <a:cs typeface="Calibri" pitchFamily="34" charset="-120"/>
              </a:rPr>
              <a:t>2.6×</a:t>
            </a:r>
            <a:endParaRPr lang="en-US" sz="2800" dirty="0"/>
          </a:p>
        </p:txBody>
      </p:sp>
      <p:sp>
        <p:nvSpPr>
          <p:cNvPr id="24" name="Text 20"/>
          <p:cNvSpPr txBox="1"/>
          <p:nvPr/>
        </p:nvSpPr>
        <p:spPr>
          <a:xfrm>
            <a:off x="6766560" y="2496312"/>
            <a:ext cx="182880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urban–rural ratio in Africa</a:t>
            </a:r>
            <a:endParaRPr lang="en-US" sz="1150" dirty="0"/>
          </a:p>
        </p:txBody>
      </p:sp>
      <p:sp>
        <p:nvSpPr>
          <p:cNvPr id="25" name="Text 21"/>
          <p:cNvSpPr txBox="1"/>
          <p:nvPr/>
        </p:nvSpPr>
        <p:spPr>
          <a:xfrm>
            <a:off x="6766560" y="2752344"/>
            <a:ext cx="1828800" cy="53035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Urban residents are 2.6 times more likely to be online than rural ones (Europe: 1.1).</a:t>
            </a:r>
            <a:endParaRPr lang="en-US" sz="950" dirty="0"/>
          </a:p>
        </p:txBody>
      </p:sp>
      <p:sp>
        <p:nvSpPr>
          <p:cNvPr id="26" name="Shape 22"/>
          <p:cNvSpPr/>
          <p:nvPr/>
        </p:nvSpPr>
        <p:spPr>
          <a:xfrm>
            <a:off x="5532120" y="3438144"/>
            <a:ext cx="3154680" cy="914400"/>
          </a:xfrm>
          <a:prstGeom prst="roundRect">
            <a:avLst>
              <a:gd name="adj" fmla="val 8000"/>
            </a:avLst>
          </a:prstGeom>
          <a:solidFill>
            <a:srgbClr val="F4F7F5"/>
          </a:solidFill>
          <a:ln w="9525">
            <a:solidFill>
              <a:srgbClr val="D5DED9"/>
            </a:solidFill>
            <a:prstDash val="solid"/>
          </a:ln>
        </p:spPr>
      </p:sp>
      <p:sp>
        <p:nvSpPr>
          <p:cNvPr id="27" name="Text 23"/>
          <p:cNvSpPr txBox="1"/>
          <p:nvPr/>
        </p:nvSpPr>
        <p:spPr>
          <a:xfrm>
            <a:off x="5669280" y="3529584"/>
            <a:ext cx="1051560" cy="731520"/>
          </a:xfrm>
          <a:prstGeom prst="rect">
            <a:avLst/>
          </a:prstGeom>
          <a:noFill/>
          <a:ln/>
        </p:spPr>
        <p:txBody>
          <a:bodyPr wrap="square" lIns="0" tIns="0" rIns="0" bIns="0" rtlCol="0" anchor="ctr"/>
          <a:lstStyle/>
          <a:p>
            <a:pPr marL="0" indent="0">
              <a:buNone/>
            </a:pPr>
            <a:r>
              <a:rPr lang="en-US" sz="2800" b="1" dirty="0">
                <a:solidFill>
                  <a:srgbClr val="00704A"/>
                </a:solidFill>
                <a:latin typeface="Calibri" pitchFamily="34" charset="0"/>
                <a:ea typeface="Calibri" pitchFamily="34" charset="-122"/>
                <a:cs typeface="Calibri" pitchFamily="34" charset="-120"/>
              </a:rPr>
              <a:t>14%</a:t>
            </a:r>
            <a:endParaRPr lang="en-US" sz="2800" dirty="0"/>
          </a:p>
        </p:txBody>
      </p:sp>
      <p:sp>
        <p:nvSpPr>
          <p:cNvPr id="28" name="Text 24"/>
          <p:cNvSpPr txBox="1"/>
          <p:nvPr/>
        </p:nvSpPr>
        <p:spPr>
          <a:xfrm>
            <a:off x="6766560" y="3529584"/>
            <a:ext cx="182880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of rural dwellers online</a:t>
            </a:r>
            <a:endParaRPr lang="en-US" sz="1150" dirty="0"/>
          </a:p>
        </p:txBody>
      </p:sp>
      <p:sp>
        <p:nvSpPr>
          <p:cNvPr id="29" name="Text 25"/>
          <p:cNvSpPr txBox="1"/>
          <p:nvPr/>
        </p:nvSpPr>
        <p:spPr>
          <a:xfrm>
            <a:off x="6766560" y="3785616"/>
            <a:ext cx="1828800" cy="53035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In low-income countries: about one in seven.</a:t>
            </a:r>
            <a:endParaRPr lang="en-US" sz="950" dirty="0"/>
          </a:p>
        </p:txBody>
      </p:sp>
      <p:sp>
        <p:nvSpPr>
          <p:cNvPr id="30" name="Text 26"/>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ITU, Facts and Figures 2025 (Internet use; Internet use in urban and rural areas). ITU regional groupings.</a:t>
            </a:r>
            <a:endParaRPr lang="en-US" sz="9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A MOVING TARGET</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From “is there a connection?” to “is it usable?”</a:t>
            </a:r>
            <a:endParaRPr lang="en-US" sz="2400" dirty="0"/>
          </a:p>
        </p:txBody>
      </p:sp>
      <p:sp>
        <p:nvSpPr>
          <p:cNvPr id="8" name="Shape 6"/>
          <p:cNvSpPr/>
          <p:nvPr/>
        </p:nvSpPr>
        <p:spPr>
          <a:xfrm>
            <a:off x="7589520" y="310896"/>
            <a:ext cx="91440" cy="91440"/>
          </a:xfrm>
          <a:prstGeom prst="ellipse">
            <a:avLst/>
          </a:prstGeom>
          <a:solidFill>
            <a:srgbClr val="00A86A"/>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7" name="Shape 14"/>
          <p:cNvSpPr/>
          <p:nvPr/>
        </p:nvSpPr>
        <p:spPr>
          <a:xfrm>
            <a:off x="457200" y="1371600"/>
            <a:ext cx="384048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640080" y="1508760"/>
            <a:ext cx="420624" cy="420624"/>
          </a:xfrm>
          <a:prstGeom prst="ellipse">
            <a:avLst/>
          </a:prstGeom>
          <a:solidFill>
            <a:srgbClr val="5E6964">
              <a:alpha val="22000"/>
            </a:srgbClr>
          </a:solidFill>
          <a:ln/>
        </p:spPr>
      </p:sp>
      <p:pic>
        <p:nvPicPr>
          <p:cNvPr id="19" name="Image 0" descr="preencoded.png"/>
          <p:cNvPicPr>
            <a:picLocks noChangeAspect="1"/>
          </p:cNvPicPr>
          <p:nvPr/>
        </p:nvPicPr>
        <p:blipFill>
          <a:blip r:embed="rId3"/>
          <a:stretch>
            <a:fillRect/>
          </a:stretch>
        </p:blipFill>
        <p:spPr>
          <a:xfrm>
            <a:off x="741030" y="1609710"/>
            <a:ext cx="218724" cy="218724"/>
          </a:xfrm>
          <a:prstGeom prst="rect">
            <a:avLst/>
          </a:prstGeom>
        </p:spPr>
      </p:pic>
      <p:sp>
        <p:nvSpPr>
          <p:cNvPr id="20" name="Text 16"/>
          <p:cNvSpPr txBox="1"/>
          <p:nvPr/>
        </p:nvSpPr>
        <p:spPr>
          <a:xfrm>
            <a:off x="1188720" y="1517904"/>
            <a:ext cx="2743200" cy="182880"/>
          </a:xfrm>
          <a:prstGeom prst="rect">
            <a:avLst/>
          </a:prstGeom>
          <a:noFill/>
          <a:ln/>
        </p:spPr>
        <p:txBody>
          <a:bodyPr wrap="square" lIns="0" tIns="0" rIns="0" bIns="0" rtlCol="0" anchor="t"/>
          <a:lstStyle/>
          <a:p>
            <a:pPr marL="0" indent="0">
              <a:buNone/>
            </a:pPr>
            <a:r>
              <a:rPr lang="en-US" sz="950" b="1" kern="0" spc="200" dirty="0">
                <a:solidFill>
                  <a:srgbClr val="5E6964"/>
                </a:solidFill>
                <a:latin typeface="Calibri" pitchFamily="34" charset="0"/>
                <a:ea typeface="Calibri" pitchFamily="34" charset="-122"/>
                <a:cs typeface="Calibri" pitchFamily="34" charset="-120"/>
              </a:rPr>
              <a:t>THE OLD QUESTION</a:t>
            </a:r>
            <a:endParaRPr lang="en-US" sz="950" dirty="0"/>
          </a:p>
        </p:txBody>
      </p:sp>
      <p:sp>
        <p:nvSpPr>
          <p:cNvPr id="21" name="Text 17"/>
          <p:cNvSpPr txBox="1"/>
          <p:nvPr/>
        </p:nvSpPr>
        <p:spPr>
          <a:xfrm>
            <a:off x="1188720" y="1700784"/>
            <a:ext cx="3017520" cy="27432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Is there a connection?</a:t>
            </a:r>
            <a:endParaRPr lang="en-US" sz="1500" dirty="0"/>
          </a:p>
        </p:txBody>
      </p:sp>
      <p:sp>
        <p:nvSpPr>
          <p:cNvPr id="22" name="Text 18"/>
          <p:cNvSpPr txBox="1"/>
          <p:nvPr/>
        </p:nvSpPr>
        <p:spPr>
          <a:xfrm>
            <a:off x="640080" y="2148840"/>
            <a:ext cx="3520440" cy="14630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Access treated as binary: served / unserved</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Measured with coverage maps and subscription counts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SDG 9.c.1 coverage · 17.6.1 fixed broadband subscriptions · 17.8.1 internet use</a:t>
            </a:r>
            <a:endParaRPr lang="en-US" sz="1100" dirty="0"/>
          </a:p>
        </p:txBody>
      </p:sp>
      <p:pic>
        <p:nvPicPr>
          <p:cNvPr id="23" name="Image 1" descr="preencoded.png"/>
          <p:cNvPicPr>
            <a:picLocks noChangeAspect="1"/>
          </p:cNvPicPr>
          <p:nvPr/>
        </p:nvPicPr>
        <p:blipFill>
          <a:blip r:embed="rId4"/>
          <a:stretch>
            <a:fillRect/>
          </a:stretch>
        </p:blipFill>
        <p:spPr>
          <a:xfrm>
            <a:off x="4416552" y="2377440"/>
            <a:ext cx="310896" cy="310896"/>
          </a:xfrm>
          <a:prstGeom prst="rect">
            <a:avLst/>
          </a:prstGeom>
        </p:spPr>
      </p:pic>
      <p:sp>
        <p:nvSpPr>
          <p:cNvPr id="24" name="Shape 19"/>
          <p:cNvSpPr/>
          <p:nvPr/>
        </p:nvSpPr>
        <p:spPr>
          <a:xfrm>
            <a:off x="4846320" y="1371600"/>
            <a:ext cx="3840480" cy="2331720"/>
          </a:xfrm>
          <a:prstGeom prst="roundRect">
            <a:avLst>
              <a:gd name="adj" fmla="val 3137"/>
            </a:avLst>
          </a:prstGeom>
          <a:solidFill>
            <a:srgbClr val="E8F5EF"/>
          </a:solidFill>
          <a:ln w="19050">
            <a:solidFill>
              <a:srgbClr val="00A86A"/>
            </a:solidFill>
            <a:prstDash val="solid"/>
          </a:ln>
        </p:spPr>
      </p:sp>
      <p:sp>
        <p:nvSpPr>
          <p:cNvPr id="25" name="Shape 20"/>
          <p:cNvSpPr/>
          <p:nvPr/>
        </p:nvSpPr>
        <p:spPr>
          <a:xfrm>
            <a:off x="5029200" y="1508760"/>
            <a:ext cx="420624" cy="420624"/>
          </a:xfrm>
          <a:prstGeom prst="ellipse">
            <a:avLst/>
          </a:prstGeom>
          <a:solidFill>
            <a:srgbClr val="00A86A">
              <a:alpha val="22000"/>
            </a:srgbClr>
          </a:solidFill>
          <a:ln/>
        </p:spPr>
      </p:sp>
      <p:pic>
        <p:nvPicPr>
          <p:cNvPr id="26" name="Image 2" descr="preencoded.png"/>
          <p:cNvPicPr>
            <a:picLocks noChangeAspect="1"/>
          </p:cNvPicPr>
          <p:nvPr/>
        </p:nvPicPr>
        <p:blipFill>
          <a:blip r:embed="rId5"/>
          <a:stretch>
            <a:fillRect/>
          </a:stretch>
        </p:blipFill>
        <p:spPr>
          <a:xfrm>
            <a:off x="5130150" y="1609710"/>
            <a:ext cx="218724" cy="218724"/>
          </a:xfrm>
          <a:prstGeom prst="rect">
            <a:avLst/>
          </a:prstGeom>
        </p:spPr>
      </p:pic>
      <p:sp>
        <p:nvSpPr>
          <p:cNvPr id="27" name="Text 21"/>
          <p:cNvSpPr txBox="1"/>
          <p:nvPr/>
        </p:nvSpPr>
        <p:spPr>
          <a:xfrm>
            <a:off x="5577840" y="1517904"/>
            <a:ext cx="2743200" cy="182880"/>
          </a:xfrm>
          <a:prstGeom prst="rect">
            <a:avLst/>
          </a:prstGeom>
          <a:noFill/>
          <a:ln/>
        </p:spPr>
        <p:txBody>
          <a:bodyPr wrap="square" lIns="0" tIns="0" rIns="0" bIns="0" rtlCol="0" anchor="t"/>
          <a:lstStyle/>
          <a:p>
            <a:pPr marL="0" indent="0">
              <a:buNone/>
            </a:pPr>
            <a:r>
              <a:rPr lang="en-US" sz="950" b="1" kern="0" spc="200" dirty="0">
                <a:solidFill>
                  <a:srgbClr val="00704A"/>
                </a:solidFill>
                <a:latin typeface="Calibri" pitchFamily="34" charset="0"/>
                <a:ea typeface="Calibri" pitchFamily="34" charset="-122"/>
                <a:cs typeface="Calibri" pitchFamily="34" charset="-120"/>
              </a:rPr>
              <a:t>THE NEW QUESTION</a:t>
            </a:r>
            <a:endParaRPr lang="en-US" sz="950" dirty="0"/>
          </a:p>
        </p:txBody>
      </p:sp>
      <p:sp>
        <p:nvSpPr>
          <p:cNvPr id="28" name="Text 22"/>
          <p:cNvSpPr txBox="1"/>
          <p:nvPr/>
        </p:nvSpPr>
        <p:spPr>
          <a:xfrm>
            <a:off x="5577840" y="1700784"/>
            <a:ext cx="3017520" cy="27432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Is the connection usable?</a:t>
            </a:r>
            <a:endParaRPr lang="en-US" sz="1500" dirty="0"/>
          </a:p>
        </p:txBody>
      </p:sp>
      <p:sp>
        <p:nvSpPr>
          <p:cNvPr id="29" name="Text 23"/>
          <p:cNvSpPr txBox="1"/>
          <p:nvPr/>
        </p:nvSpPr>
        <p:spPr>
          <a:xfrm>
            <a:off x="5029200" y="2148840"/>
            <a:ext cx="3520440" cy="14630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Access treated as a gradient, not a switch</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Speed, latency, reliability, price and skills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The ITU target: universal and meaningful connectivity</a:t>
            </a:r>
            <a:endParaRPr lang="en-US" sz="1100" dirty="0"/>
          </a:p>
        </p:txBody>
      </p:sp>
      <p:sp>
        <p:nvSpPr>
          <p:cNvPr id="30" name="Shape 24"/>
          <p:cNvSpPr/>
          <p:nvPr/>
        </p:nvSpPr>
        <p:spPr>
          <a:xfrm>
            <a:off x="457200" y="3840480"/>
            <a:ext cx="8229600" cy="640080"/>
          </a:xfrm>
          <a:prstGeom prst="roundRect">
            <a:avLst>
              <a:gd name="adj" fmla="val 11429"/>
            </a:avLst>
          </a:prstGeom>
          <a:solidFill>
            <a:srgbClr val="FFFFFF"/>
          </a:solidFill>
          <a:ln w="12700">
            <a:solidFill>
              <a:srgbClr val="00704A"/>
            </a:solidFill>
            <a:prstDash val="solid"/>
          </a:ln>
        </p:spPr>
      </p:sp>
      <p:sp>
        <p:nvSpPr>
          <p:cNvPr id="31" name="Shape 25"/>
          <p:cNvSpPr/>
          <p:nvPr/>
        </p:nvSpPr>
        <p:spPr>
          <a:xfrm>
            <a:off x="594360" y="3950208"/>
            <a:ext cx="420624" cy="420624"/>
          </a:xfrm>
          <a:prstGeom prst="ellipse">
            <a:avLst/>
          </a:prstGeom>
          <a:solidFill>
            <a:srgbClr val="D49A00">
              <a:alpha val="22000"/>
            </a:srgbClr>
          </a:solidFill>
          <a:ln/>
        </p:spPr>
      </p:sp>
      <p:pic>
        <p:nvPicPr>
          <p:cNvPr id="32" name="Image 3" descr="preencoded.png"/>
          <p:cNvPicPr>
            <a:picLocks noChangeAspect="1"/>
          </p:cNvPicPr>
          <p:nvPr/>
        </p:nvPicPr>
        <p:blipFill>
          <a:blip r:embed="rId6"/>
          <a:stretch>
            <a:fillRect/>
          </a:stretch>
        </p:blipFill>
        <p:spPr>
          <a:xfrm>
            <a:off x="695310" y="4051158"/>
            <a:ext cx="218724" cy="218724"/>
          </a:xfrm>
          <a:prstGeom prst="rect">
            <a:avLst/>
          </a:prstGeom>
        </p:spPr>
      </p:pic>
      <p:sp>
        <p:nvSpPr>
          <p:cNvPr id="33" name="Text 26"/>
          <p:cNvSpPr txBox="1"/>
          <p:nvPr/>
        </p:nvSpPr>
        <p:spPr>
          <a:xfrm>
            <a:off x="1143000" y="3840480"/>
            <a:ext cx="7406640" cy="640080"/>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Where Ookla fits: </a:t>
            </a:r>
            <a:r>
              <a:rPr lang="en-US" sz="1200" dirty="0">
                <a:solidFill>
                  <a:srgbClr val="231F20"/>
                </a:solidFill>
                <a:latin typeface="Calibri" pitchFamily="34" charset="0"/>
                <a:ea typeface="Calibri" pitchFamily="34" charset="-122"/>
                <a:cs typeface="Calibri" pitchFamily="34" charset="-120"/>
              </a:rPr>
              <a:t>it measures the experience of real users, not availability. It complements surveys and regulator data; it does not replace them.</a:t>
            </a:r>
            <a:endParaRPr lang="en-US" sz="1200" dirty="0"/>
          </a:p>
        </p:txBody>
      </p:sp>
      <p:sp>
        <p:nvSpPr>
          <p:cNvPr id="34" name="Text 27"/>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Framing after ITU, Facts and Figures 2025. SDG indicators: UN Global SDG Indicator Framework.</a:t>
            </a:r>
            <a:endParaRPr lang="en-US" sz="900" dirty="0"/>
          </a:p>
        </p:txBody>
      </p:sp>
      <p:pic>
        <p:nvPicPr>
          <p:cNvPr id="1026" name="Picture 2" descr="Ookla Speedtest Review">
            <a:extLst>
              <a:ext uri="{FF2B5EF4-FFF2-40B4-BE49-F238E27FC236}">
                <a16:creationId xmlns:a16="http://schemas.microsoft.com/office/drawing/2014/main" id="{F0284EAF-96BC-D3FF-D83E-F1925E51BBF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11377" y="288002"/>
            <a:ext cx="1670685" cy="10882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02</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Inside the dataset</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What exactly does one row of this data represent?</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5C242"/>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9</a:t>
            </a:r>
            <a:endParaRPr lang="en-US" sz="8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DEFINITION</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How a speed test becomes an open data tile</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1371600"/>
            <a:ext cx="1828800" cy="1783080"/>
          </a:xfrm>
          <a:prstGeom prst="roundRect">
            <a:avLst>
              <a:gd name="adj" fmla="val 4103"/>
            </a:avLst>
          </a:prstGeom>
          <a:solidFill>
            <a:srgbClr val="FFFFFF"/>
          </a:solidFill>
          <a:ln w="12700">
            <a:solidFill>
              <a:srgbClr val="00704A"/>
            </a:solidFill>
            <a:prstDash val="solid"/>
          </a:ln>
        </p:spPr>
      </p:sp>
      <p:sp>
        <p:nvSpPr>
          <p:cNvPr id="18" name="Shape 15"/>
          <p:cNvSpPr/>
          <p:nvPr/>
        </p:nvSpPr>
        <p:spPr>
          <a:xfrm>
            <a:off x="1124712" y="1481328"/>
            <a:ext cx="493776" cy="493776"/>
          </a:xfrm>
          <a:prstGeom prst="ellipse">
            <a:avLst/>
          </a:prstGeom>
          <a:solidFill>
            <a:srgbClr val="00704A">
              <a:alpha val="22000"/>
            </a:srgbClr>
          </a:solidFill>
          <a:ln/>
        </p:spPr>
      </p:sp>
      <p:pic>
        <p:nvPicPr>
          <p:cNvPr id="19" name="Image 0" descr="preencoded.png"/>
          <p:cNvPicPr>
            <a:picLocks noChangeAspect="1"/>
          </p:cNvPicPr>
          <p:nvPr/>
        </p:nvPicPr>
        <p:blipFill>
          <a:blip r:embed="rId3"/>
          <a:stretch>
            <a:fillRect/>
          </a:stretch>
        </p:blipFill>
        <p:spPr>
          <a:xfrm>
            <a:off x="1243218" y="1599834"/>
            <a:ext cx="256764" cy="256764"/>
          </a:xfrm>
          <a:prstGeom prst="rect">
            <a:avLst/>
          </a:prstGeom>
        </p:spPr>
      </p:pic>
      <p:sp>
        <p:nvSpPr>
          <p:cNvPr id="20" name="Text 16"/>
          <p:cNvSpPr txBox="1"/>
          <p:nvPr/>
        </p:nvSpPr>
        <p:spPr>
          <a:xfrm>
            <a:off x="548640" y="2029968"/>
            <a:ext cx="1645920" cy="256032"/>
          </a:xfrm>
          <a:prstGeom prst="rect">
            <a:avLst/>
          </a:prstGeom>
          <a:noFill/>
          <a:ln/>
        </p:spPr>
        <p:txBody>
          <a:bodyPr wrap="square" lIns="0" tIns="0" rIns="0" bIns="0" rtlCol="0" anchor="t"/>
          <a:lstStyle/>
          <a:p>
            <a:pPr marL="0" indent="0" algn="ctr">
              <a:buNone/>
            </a:pPr>
            <a:r>
              <a:rPr lang="en-US" sz="1400" b="1" dirty="0">
                <a:solidFill>
                  <a:srgbClr val="231F20"/>
                </a:solidFill>
                <a:latin typeface="Calibri" pitchFamily="34" charset="0"/>
                <a:ea typeface="Calibri" pitchFamily="34" charset="-122"/>
                <a:cs typeface="Calibri" pitchFamily="34" charset="-120"/>
              </a:rPr>
              <a:t>Test</a:t>
            </a:r>
            <a:endParaRPr lang="en-US" sz="1400" dirty="0"/>
          </a:p>
        </p:txBody>
      </p:sp>
      <p:sp>
        <p:nvSpPr>
          <p:cNvPr id="21" name="Text 17"/>
          <p:cNvSpPr txBox="1"/>
          <p:nvPr/>
        </p:nvSpPr>
        <p:spPr>
          <a:xfrm>
            <a:off x="594360" y="2304288"/>
            <a:ext cx="1554480" cy="7772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Users run Speedtest on Android and iOS apps. Hundreds of millions of tests per month.</a:t>
            </a:r>
            <a:endParaRPr lang="en-US" sz="1000" dirty="0"/>
          </a:p>
        </p:txBody>
      </p:sp>
      <p:pic>
        <p:nvPicPr>
          <p:cNvPr id="22" name="Image 1" descr="preencoded.png"/>
          <p:cNvPicPr>
            <a:picLocks noChangeAspect="1"/>
          </p:cNvPicPr>
          <p:nvPr/>
        </p:nvPicPr>
        <p:blipFill>
          <a:blip r:embed="rId4"/>
          <a:stretch>
            <a:fillRect/>
          </a:stretch>
        </p:blipFill>
        <p:spPr>
          <a:xfrm>
            <a:off x="2350008" y="2148840"/>
            <a:ext cx="182880" cy="182880"/>
          </a:xfrm>
          <a:prstGeom prst="rect">
            <a:avLst/>
          </a:prstGeom>
        </p:spPr>
      </p:pic>
      <p:sp>
        <p:nvSpPr>
          <p:cNvPr id="23" name="Shape 18"/>
          <p:cNvSpPr/>
          <p:nvPr/>
        </p:nvSpPr>
        <p:spPr>
          <a:xfrm>
            <a:off x="2587752" y="1371600"/>
            <a:ext cx="1828800" cy="1783080"/>
          </a:xfrm>
          <a:prstGeom prst="roundRect">
            <a:avLst>
              <a:gd name="adj" fmla="val 4103"/>
            </a:avLst>
          </a:prstGeom>
          <a:solidFill>
            <a:srgbClr val="FFFFFF"/>
          </a:solidFill>
          <a:ln w="12700">
            <a:solidFill>
              <a:srgbClr val="00704A"/>
            </a:solidFill>
            <a:prstDash val="solid"/>
          </a:ln>
        </p:spPr>
      </p:sp>
      <p:sp>
        <p:nvSpPr>
          <p:cNvPr id="24" name="Shape 19"/>
          <p:cNvSpPr/>
          <p:nvPr/>
        </p:nvSpPr>
        <p:spPr>
          <a:xfrm>
            <a:off x="3255264" y="1481328"/>
            <a:ext cx="493776" cy="493776"/>
          </a:xfrm>
          <a:prstGeom prst="ellipse">
            <a:avLst/>
          </a:prstGeom>
          <a:solidFill>
            <a:srgbClr val="00704A">
              <a:alpha val="22000"/>
            </a:srgbClr>
          </a:solidFill>
          <a:ln/>
        </p:spPr>
      </p:sp>
      <p:pic>
        <p:nvPicPr>
          <p:cNvPr id="25" name="Image 2" descr="preencoded.png"/>
          <p:cNvPicPr>
            <a:picLocks noChangeAspect="1"/>
          </p:cNvPicPr>
          <p:nvPr/>
        </p:nvPicPr>
        <p:blipFill>
          <a:blip r:embed="rId5"/>
          <a:stretch>
            <a:fillRect/>
          </a:stretch>
        </p:blipFill>
        <p:spPr>
          <a:xfrm>
            <a:off x="3373770" y="1599834"/>
            <a:ext cx="256764" cy="256764"/>
          </a:xfrm>
          <a:prstGeom prst="rect">
            <a:avLst/>
          </a:prstGeom>
        </p:spPr>
      </p:pic>
      <p:sp>
        <p:nvSpPr>
          <p:cNvPr id="26" name="Text 20"/>
          <p:cNvSpPr txBox="1"/>
          <p:nvPr/>
        </p:nvSpPr>
        <p:spPr>
          <a:xfrm>
            <a:off x="2679192" y="2029968"/>
            <a:ext cx="1645920" cy="256032"/>
          </a:xfrm>
          <a:prstGeom prst="rect">
            <a:avLst/>
          </a:prstGeom>
          <a:noFill/>
          <a:ln/>
        </p:spPr>
        <p:txBody>
          <a:bodyPr wrap="square" lIns="0" tIns="0" rIns="0" bIns="0" rtlCol="0" anchor="t"/>
          <a:lstStyle/>
          <a:p>
            <a:pPr marL="0" indent="0" algn="ctr">
              <a:buNone/>
            </a:pPr>
            <a:r>
              <a:rPr lang="en-US" sz="1400" b="1" dirty="0">
                <a:solidFill>
                  <a:srgbClr val="231F20"/>
                </a:solidFill>
                <a:latin typeface="Calibri" pitchFamily="34" charset="0"/>
                <a:ea typeface="Calibri" pitchFamily="34" charset="-122"/>
                <a:cs typeface="Calibri" pitchFamily="34" charset="-120"/>
              </a:rPr>
              <a:t>Filter</a:t>
            </a:r>
            <a:endParaRPr lang="en-US" sz="1400" dirty="0"/>
          </a:p>
        </p:txBody>
      </p:sp>
      <p:sp>
        <p:nvSpPr>
          <p:cNvPr id="27" name="Text 21"/>
          <p:cNvSpPr txBox="1"/>
          <p:nvPr/>
        </p:nvSpPr>
        <p:spPr>
          <a:xfrm>
            <a:off x="2724912" y="2304288"/>
            <a:ext cx="1554480" cy="7772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Only results with GPS-quality location accuracy are kept.</a:t>
            </a:r>
            <a:endParaRPr lang="en-US" sz="1000" dirty="0"/>
          </a:p>
        </p:txBody>
      </p:sp>
      <p:pic>
        <p:nvPicPr>
          <p:cNvPr id="28" name="Image 3" descr="preencoded.png"/>
          <p:cNvPicPr>
            <a:picLocks noChangeAspect="1"/>
          </p:cNvPicPr>
          <p:nvPr/>
        </p:nvPicPr>
        <p:blipFill>
          <a:blip r:embed="rId4"/>
          <a:stretch>
            <a:fillRect/>
          </a:stretch>
        </p:blipFill>
        <p:spPr>
          <a:xfrm>
            <a:off x="4480560" y="2148840"/>
            <a:ext cx="182880" cy="182880"/>
          </a:xfrm>
          <a:prstGeom prst="rect">
            <a:avLst/>
          </a:prstGeom>
        </p:spPr>
      </p:pic>
      <p:sp>
        <p:nvSpPr>
          <p:cNvPr id="29" name="Shape 22"/>
          <p:cNvSpPr/>
          <p:nvPr/>
        </p:nvSpPr>
        <p:spPr>
          <a:xfrm>
            <a:off x="4718304" y="1371600"/>
            <a:ext cx="1828800" cy="1783080"/>
          </a:xfrm>
          <a:prstGeom prst="roundRect">
            <a:avLst>
              <a:gd name="adj" fmla="val 4103"/>
            </a:avLst>
          </a:prstGeom>
          <a:solidFill>
            <a:srgbClr val="FFFFFF"/>
          </a:solidFill>
          <a:ln w="12700">
            <a:solidFill>
              <a:srgbClr val="00704A"/>
            </a:solidFill>
            <a:prstDash val="solid"/>
          </a:ln>
        </p:spPr>
      </p:sp>
      <p:sp>
        <p:nvSpPr>
          <p:cNvPr id="30" name="Shape 23"/>
          <p:cNvSpPr/>
          <p:nvPr/>
        </p:nvSpPr>
        <p:spPr>
          <a:xfrm>
            <a:off x="5385816" y="1481328"/>
            <a:ext cx="493776" cy="493776"/>
          </a:xfrm>
          <a:prstGeom prst="ellipse">
            <a:avLst/>
          </a:prstGeom>
          <a:solidFill>
            <a:srgbClr val="00704A">
              <a:alpha val="22000"/>
            </a:srgbClr>
          </a:solidFill>
          <a:ln/>
        </p:spPr>
      </p:sp>
      <p:pic>
        <p:nvPicPr>
          <p:cNvPr id="31" name="Image 4" descr="preencoded.png"/>
          <p:cNvPicPr>
            <a:picLocks noChangeAspect="1"/>
          </p:cNvPicPr>
          <p:nvPr/>
        </p:nvPicPr>
        <p:blipFill>
          <a:blip r:embed="rId6"/>
          <a:stretch>
            <a:fillRect/>
          </a:stretch>
        </p:blipFill>
        <p:spPr>
          <a:xfrm>
            <a:off x="5504322" y="1599834"/>
            <a:ext cx="256764" cy="256764"/>
          </a:xfrm>
          <a:prstGeom prst="rect">
            <a:avLst/>
          </a:prstGeom>
        </p:spPr>
      </p:pic>
      <p:sp>
        <p:nvSpPr>
          <p:cNvPr id="32" name="Text 24"/>
          <p:cNvSpPr txBox="1"/>
          <p:nvPr/>
        </p:nvSpPr>
        <p:spPr>
          <a:xfrm>
            <a:off x="4809744" y="2029968"/>
            <a:ext cx="1645920" cy="256032"/>
          </a:xfrm>
          <a:prstGeom prst="rect">
            <a:avLst/>
          </a:prstGeom>
          <a:noFill/>
          <a:ln/>
        </p:spPr>
        <p:txBody>
          <a:bodyPr wrap="square" lIns="0" tIns="0" rIns="0" bIns="0" rtlCol="0" anchor="t"/>
          <a:lstStyle/>
          <a:p>
            <a:pPr marL="0" indent="0" algn="ctr">
              <a:buNone/>
            </a:pPr>
            <a:r>
              <a:rPr lang="en-US" sz="1400" b="1" dirty="0">
                <a:solidFill>
                  <a:srgbClr val="231F20"/>
                </a:solidFill>
                <a:latin typeface="Calibri" pitchFamily="34" charset="0"/>
                <a:ea typeface="Calibri" pitchFamily="34" charset="-122"/>
                <a:cs typeface="Calibri" pitchFamily="34" charset="-120"/>
              </a:rPr>
              <a:t>Aggregate</a:t>
            </a:r>
            <a:endParaRPr lang="en-US" sz="1400" dirty="0"/>
          </a:p>
        </p:txBody>
      </p:sp>
      <p:sp>
        <p:nvSpPr>
          <p:cNvPr id="33" name="Text 25"/>
          <p:cNvSpPr txBox="1"/>
          <p:nvPr/>
        </p:nvSpPr>
        <p:spPr>
          <a:xfrm>
            <a:off x="4855464" y="2304288"/>
            <a:ext cx="1554480" cy="7772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Tests are averaged inside zoom-16 tiles (≈ 611 m) to protect testers.</a:t>
            </a:r>
            <a:endParaRPr lang="en-US" sz="1000" dirty="0"/>
          </a:p>
        </p:txBody>
      </p:sp>
      <p:pic>
        <p:nvPicPr>
          <p:cNvPr id="34" name="Image 5" descr="preencoded.png"/>
          <p:cNvPicPr>
            <a:picLocks noChangeAspect="1"/>
          </p:cNvPicPr>
          <p:nvPr/>
        </p:nvPicPr>
        <p:blipFill>
          <a:blip r:embed="rId4"/>
          <a:stretch>
            <a:fillRect/>
          </a:stretch>
        </p:blipFill>
        <p:spPr>
          <a:xfrm>
            <a:off x="6611112" y="2148840"/>
            <a:ext cx="182880" cy="182880"/>
          </a:xfrm>
          <a:prstGeom prst="rect">
            <a:avLst/>
          </a:prstGeom>
        </p:spPr>
      </p:pic>
      <p:sp>
        <p:nvSpPr>
          <p:cNvPr id="35" name="Shape 26"/>
          <p:cNvSpPr/>
          <p:nvPr/>
        </p:nvSpPr>
        <p:spPr>
          <a:xfrm>
            <a:off x="6848856" y="1371600"/>
            <a:ext cx="1828800" cy="1783080"/>
          </a:xfrm>
          <a:prstGeom prst="roundRect">
            <a:avLst>
              <a:gd name="adj" fmla="val 4103"/>
            </a:avLst>
          </a:prstGeom>
          <a:solidFill>
            <a:srgbClr val="FFFFFF"/>
          </a:solidFill>
          <a:ln w="12700">
            <a:solidFill>
              <a:srgbClr val="00704A"/>
            </a:solidFill>
            <a:prstDash val="solid"/>
          </a:ln>
        </p:spPr>
      </p:sp>
      <p:sp>
        <p:nvSpPr>
          <p:cNvPr id="36" name="Shape 27"/>
          <p:cNvSpPr/>
          <p:nvPr/>
        </p:nvSpPr>
        <p:spPr>
          <a:xfrm>
            <a:off x="7516368" y="1481328"/>
            <a:ext cx="493776" cy="493776"/>
          </a:xfrm>
          <a:prstGeom prst="ellipse">
            <a:avLst/>
          </a:prstGeom>
          <a:solidFill>
            <a:srgbClr val="00704A">
              <a:alpha val="22000"/>
            </a:srgbClr>
          </a:solidFill>
          <a:ln/>
        </p:spPr>
      </p:sp>
      <p:pic>
        <p:nvPicPr>
          <p:cNvPr id="37" name="Image 6" descr="preencoded.png"/>
          <p:cNvPicPr>
            <a:picLocks noChangeAspect="1"/>
          </p:cNvPicPr>
          <p:nvPr/>
        </p:nvPicPr>
        <p:blipFill>
          <a:blip r:embed="rId7"/>
          <a:stretch>
            <a:fillRect/>
          </a:stretch>
        </p:blipFill>
        <p:spPr>
          <a:xfrm>
            <a:off x="7634874" y="1599834"/>
            <a:ext cx="256764" cy="256764"/>
          </a:xfrm>
          <a:prstGeom prst="rect">
            <a:avLst/>
          </a:prstGeom>
        </p:spPr>
      </p:pic>
      <p:sp>
        <p:nvSpPr>
          <p:cNvPr id="38" name="Text 28"/>
          <p:cNvSpPr txBox="1"/>
          <p:nvPr/>
        </p:nvSpPr>
        <p:spPr>
          <a:xfrm>
            <a:off x="6940296" y="2029968"/>
            <a:ext cx="1645920" cy="256032"/>
          </a:xfrm>
          <a:prstGeom prst="rect">
            <a:avLst/>
          </a:prstGeom>
          <a:noFill/>
          <a:ln/>
        </p:spPr>
        <p:txBody>
          <a:bodyPr wrap="square" lIns="0" tIns="0" rIns="0" bIns="0" rtlCol="0" anchor="t"/>
          <a:lstStyle/>
          <a:p>
            <a:pPr marL="0" indent="0" algn="ctr">
              <a:buNone/>
            </a:pPr>
            <a:r>
              <a:rPr lang="en-US" sz="1400" b="1" dirty="0">
                <a:solidFill>
                  <a:srgbClr val="231F20"/>
                </a:solidFill>
                <a:latin typeface="Calibri" pitchFamily="34" charset="0"/>
                <a:ea typeface="Calibri" pitchFamily="34" charset="-122"/>
                <a:cs typeface="Calibri" pitchFamily="34" charset="-120"/>
              </a:rPr>
              <a:t>Publish</a:t>
            </a:r>
            <a:endParaRPr lang="en-US" sz="1400" dirty="0"/>
          </a:p>
        </p:txBody>
      </p:sp>
      <p:sp>
        <p:nvSpPr>
          <p:cNvPr id="39" name="Text 29"/>
          <p:cNvSpPr txBox="1"/>
          <p:nvPr/>
        </p:nvSpPr>
        <p:spPr>
          <a:xfrm>
            <a:off x="6986016" y="2304288"/>
            <a:ext cx="1554480" cy="7772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Quarterly, on AWS, in Shapefile and Parquet, free of charge.</a:t>
            </a:r>
            <a:endParaRPr lang="en-US" sz="1000" dirty="0"/>
          </a:p>
        </p:txBody>
      </p:sp>
      <p:sp>
        <p:nvSpPr>
          <p:cNvPr id="40" name="Shape 30"/>
          <p:cNvSpPr/>
          <p:nvPr/>
        </p:nvSpPr>
        <p:spPr>
          <a:xfrm>
            <a:off x="457200"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41" name="Text 31"/>
          <p:cNvSpPr txBox="1"/>
          <p:nvPr/>
        </p:nvSpPr>
        <p:spPr>
          <a:xfrm>
            <a:off x="566928" y="3383280"/>
            <a:ext cx="1645920" cy="228600"/>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Global</a:t>
            </a:r>
            <a:endParaRPr lang="en-US" sz="1200" dirty="0"/>
          </a:p>
        </p:txBody>
      </p:sp>
      <p:sp>
        <p:nvSpPr>
          <p:cNvPr id="42" name="Text 32"/>
          <p:cNvSpPr txBox="1"/>
          <p:nvPr/>
        </p:nvSpPr>
        <p:spPr>
          <a:xfrm>
            <a:off x="566928" y="3611880"/>
            <a:ext cx="1645920" cy="22860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One schema for every country</a:t>
            </a:r>
            <a:endParaRPr lang="en-US" sz="1000" dirty="0"/>
          </a:p>
        </p:txBody>
      </p:sp>
      <p:sp>
        <p:nvSpPr>
          <p:cNvPr id="43" name="Shape 33"/>
          <p:cNvSpPr/>
          <p:nvPr/>
        </p:nvSpPr>
        <p:spPr>
          <a:xfrm>
            <a:off x="2587752"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44" name="Text 34"/>
          <p:cNvSpPr txBox="1"/>
          <p:nvPr/>
        </p:nvSpPr>
        <p:spPr>
          <a:xfrm>
            <a:off x="2697480" y="3383280"/>
            <a:ext cx="1645920" cy="228600"/>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Granular</a:t>
            </a:r>
            <a:endParaRPr lang="en-US" sz="1200" dirty="0"/>
          </a:p>
        </p:txBody>
      </p:sp>
      <p:sp>
        <p:nvSpPr>
          <p:cNvPr id="45" name="Text 35"/>
          <p:cNvSpPr txBox="1"/>
          <p:nvPr/>
        </p:nvSpPr>
        <p:spPr>
          <a:xfrm>
            <a:off x="2697480" y="3611880"/>
            <a:ext cx="1645920" cy="22860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 611 m tiles, not provinces</a:t>
            </a:r>
            <a:endParaRPr lang="en-US" sz="1000" dirty="0"/>
          </a:p>
        </p:txBody>
      </p:sp>
      <p:sp>
        <p:nvSpPr>
          <p:cNvPr id="46" name="Shape 36"/>
          <p:cNvSpPr/>
          <p:nvPr/>
        </p:nvSpPr>
        <p:spPr>
          <a:xfrm>
            <a:off x="4718304"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47" name="Text 37"/>
          <p:cNvSpPr txBox="1"/>
          <p:nvPr/>
        </p:nvSpPr>
        <p:spPr>
          <a:xfrm>
            <a:off x="4828032" y="3383280"/>
            <a:ext cx="1645920" cy="228600"/>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Open</a:t>
            </a:r>
            <a:endParaRPr lang="en-US" sz="1200" dirty="0"/>
          </a:p>
        </p:txBody>
      </p:sp>
      <p:sp>
        <p:nvSpPr>
          <p:cNvPr id="48" name="Text 38"/>
          <p:cNvSpPr txBox="1"/>
          <p:nvPr/>
        </p:nvSpPr>
        <p:spPr>
          <a:xfrm>
            <a:off x="4828032" y="3611880"/>
            <a:ext cx="1645920" cy="22860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CC BY-NC-SA 4.0</a:t>
            </a:r>
            <a:endParaRPr lang="en-US" sz="1000" dirty="0"/>
          </a:p>
        </p:txBody>
      </p:sp>
      <p:sp>
        <p:nvSpPr>
          <p:cNvPr id="49" name="Shape 39"/>
          <p:cNvSpPr/>
          <p:nvPr/>
        </p:nvSpPr>
        <p:spPr>
          <a:xfrm>
            <a:off x="6848856"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50" name="Text 40"/>
          <p:cNvSpPr txBox="1"/>
          <p:nvPr/>
        </p:nvSpPr>
        <p:spPr>
          <a:xfrm>
            <a:off x="6958584" y="3383280"/>
            <a:ext cx="1645920" cy="228600"/>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Regular</a:t>
            </a:r>
            <a:endParaRPr lang="en-US" sz="1200" dirty="0"/>
          </a:p>
        </p:txBody>
      </p:sp>
      <p:sp>
        <p:nvSpPr>
          <p:cNvPr id="51" name="Text 41"/>
          <p:cNvSpPr txBox="1"/>
          <p:nvPr/>
        </p:nvSpPr>
        <p:spPr>
          <a:xfrm>
            <a:off x="6958584" y="3611880"/>
            <a:ext cx="1645920" cy="22860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Quarterly since Q1 2019</a:t>
            </a:r>
            <a:endParaRPr lang="en-US" sz="1000" dirty="0"/>
          </a:p>
        </p:txBody>
      </p:sp>
      <p:sp>
        <p:nvSpPr>
          <p:cNvPr id="52" name="Text 42"/>
          <p:cNvSpPr txBox="1"/>
          <p:nvPr/>
        </p:nvSpPr>
        <p:spPr>
          <a:xfrm>
            <a:off x="457200" y="4041648"/>
            <a:ext cx="8229600" cy="41148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Ookla's stated purpose: </a:t>
            </a:r>
            <a:r>
              <a:rPr lang="en-US" sz="1100" i="1" dirty="0">
                <a:solidFill>
                  <a:srgbClr val="231F20"/>
                </a:solidFill>
                <a:latin typeface="Calibri" pitchFamily="34" charset="0"/>
                <a:ea typeface="Calibri" pitchFamily="34" charset="-122"/>
                <a:cs typeface="Calibri" pitchFamily="34" charset="-120"/>
              </a:rPr>
              <a:t>make the data easier to use in closing the gaps between people who have modern internet access and those who do not.</a:t>
            </a:r>
            <a:endParaRPr lang="en-US" sz="1100" dirty="0"/>
          </a:p>
        </p:txBody>
      </p:sp>
      <p:sp>
        <p:nvSpPr>
          <p:cNvPr id="53" name="Text 43"/>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teamookla/ookla-open-data (GitHub README); ooklaOpenDataR package documentation.</a:t>
            </a:r>
            <a:endParaRPr lang="en-US" sz="900" dirty="0"/>
          </a:p>
        </p:txBody>
      </p:sp>
      <p:pic>
        <p:nvPicPr>
          <p:cNvPr id="2050" name="Picture 2" descr="Speedtest by Ookla - App on Amazon Appstore">
            <a:extLst>
              <a:ext uri="{FF2B5EF4-FFF2-40B4-BE49-F238E27FC236}">
                <a16:creationId xmlns:a16="http://schemas.microsoft.com/office/drawing/2014/main" id="{390E8F85-BA6D-5EBD-6371-F4CD6C763D4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98080" y="598932"/>
            <a:ext cx="1280160" cy="6240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UNIT OF ANALYSIS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tile and its quadkey, explained</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508760"/>
            <a:ext cx="1234440" cy="1234440"/>
          </a:xfrm>
          <a:prstGeom prst="rect">
            <a:avLst/>
          </a:prstGeom>
          <a:solidFill>
            <a:srgbClr val="7BCBA9"/>
          </a:solidFill>
          <a:ln w="19050">
            <a:solidFill>
              <a:srgbClr val="FFFFFF"/>
            </a:solidFill>
            <a:prstDash val="solid"/>
          </a:ln>
        </p:spPr>
      </p:sp>
      <p:sp>
        <p:nvSpPr>
          <p:cNvPr id="18" name="Text 15"/>
          <p:cNvSpPr txBox="1"/>
          <p:nvPr/>
        </p:nvSpPr>
        <p:spPr>
          <a:xfrm>
            <a:off x="457200" y="1508760"/>
            <a:ext cx="1234440" cy="12344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world</a:t>
            </a:r>
            <a:endParaRPr lang="en-US" sz="1100" dirty="0"/>
          </a:p>
        </p:txBody>
      </p:sp>
      <p:sp>
        <p:nvSpPr>
          <p:cNvPr id="19" name="Shape 16"/>
          <p:cNvSpPr/>
          <p:nvPr/>
        </p:nvSpPr>
        <p:spPr>
          <a:xfrm>
            <a:off x="2148840" y="1508760"/>
            <a:ext cx="617220" cy="617220"/>
          </a:xfrm>
          <a:prstGeom prst="rect">
            <a:avLst/>
          </a:prstGeom>
          <a:solidFill>
            <a:srgbClr val="7BCBA9"/>
          </a:solidFill>
          <a:ln w="19050">
            <a:solidFill>
              <a:srgbClr val="FFFFFF"/>
            </a:solidFill>
            <a:prstDash val="solid"/>
          </a:ln>
        </p:spPr>
      </p:sp>
      <p:sp>
        <p:nvSpPr>
          <p:cNvPr id="20" name="Text 17"/>
          <p:cNvSpPr txBox="1"/>
          <p:nvPr/>
        </p:nvSpPr>
        <p:spPr>
          <a:xfrm>
            <a:off x="2148840" y="1508760"/>
            <a:ext cx="617220" cy="6172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0</a:t>
            </a:r>
            <a:endParaRPr lang="en-US" sz="1400" dirty="0"/>
          </a:p>
        </p:txBody>
      </p:sp>
      <p:sp>
        <p:nvSpPr>
          <p:cNvPr id="21" name="Shape 18"/>
          <p:cNvSpPr/>
          <p:nvPr/>
        </p:nvSpPr>
        <p:spPr>
          <a:xfrm>
            <a:off x="2766060" y="1508760"/>
            <a:ext cx="617220" cy="617220"/>
          </a:xfrm>
          <a:prstGeom prst="rect">
            <a:avLst/>
          </a:prstGeom>
          <a:solidFill>
            <a:srgbClr val="00704A"/>
          </a:solidFill>
          <a:ln w="19050">
            <a:solidFill>
              <a:srgbClr val="FFFFFF"/>
            </a:solidFill>
            <a:prstDash val="solid"/>
          </a:ln>
        </p:spPr>
      </p:sp>
      <p:sp>
        <p:nvSpPr>
          <p:cNvPr id="22" name="Text 19"/>
          <p:cNvSpPr txBox="1"/>
          <p:nvPr/>
        </p:nvSpPr>
        <p:spPr>
          <a:xfrm>
            <a:off x="2766060" y="1508760"/>
            <a:ext cx="617220" cy="6172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23" name="Shape 20"/>
          <p:cNvSpPr/>
          <p:nvPr/>
        </p:nvSpPr>
        <p:spPr>
          <a:xfrm>
            <a:off x="2148840" y="2125980"/>
            <a:ext cx="617220" cy="617220"/>
          </a:xfrm>
          <a:prstGeom prst="rect">
            <a:avLst/>
          </a:prstGeom>
          <a:solidFill>
            <a:srgbClr val="7BCBA9"/>
          </a:solidFill>
          <a:ln w="19050">
            <a:solidFill>
              <a:srgbClr val="FFFFFF"/>
            </a:solidFill>
            <a:prstDash val="solid"/>
          </a:ln>
        </p:spPr>
      </p:sp>
      <p:sp>
        <p:nvSpPr>
          <p:cNvPr id="24" name="Text 21"/>
          <p:cNvSpPr txBox="1"/>
          <p:nvPr/>
        </p:nvSpPr>
        <p:spPr>
          <a:xfrm>
            <a:off x="2148840" y="2125980"/>
            <a:ext cx="617220" cy="6172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25" name="Shape 22"/>
          <p:cNvSpPr/>
          <p:nvPr/>
        </p:nvSpPr>
        <p:spPr>
          <a:xfrm>
            <a:off x="2766060" y="2125980"/>
            <a:ext cx="617220" cy="617220"/>
          </a:xfrm>
          <a:prstGeom prst="rect">
            <a:avLst/>
          </a:prstGeom>
          <a:solidFill>
            <a:srgbClr val="7BCBA9"/>
          </a:solidFill>
          <a:ln w="19050">
            <a:solidFill>
              <a:srgbClr val="FFFFFF"/>
            </a:solidFill>
            <a:prstDash val="solid"/>
          </a:ln>
        </p:spPr>
      </p:sp>
      <p:sp>
        <p:nvSpPr>
          <p:cNvPr id="26" name="Text 23"/>
          <p:cNvSpPr txBox="1"/>
          <p:nvPr/>
        </p:nvSpPr>
        <p:spPr>
          <a:xfrm>
            <a:off x="2766060" y="2125980"/>
            <a:ext cx="617220" cy="6172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7" name="Shape 24"/>
          <p:cNvSpPr/>
          <p:nvPr/>
        </p:nvSpPr>
        <p:spPr>
          <a:xfrm>
            <a:off x="3840480" y="1508760"/>
            <a:ext cx="308610" cy="308610"/>
          </a:xfrm>
          <a:prstGeom prst="rect">
            <a:avLst/>
          </a:prstGeom>
          <a:solidFill>
            <a:srgbClr val="9ED9C0"/>
          </a:solidFill>
          <a:ln w="12700">
            <a:solidFill>
              <a:srgbClr val="FFFFFF"/>
            </a:solidFill>
            <a:prstDash val="solid"/>
          </a:ln>
        </p:spPr>
      </p:sp>
      <p:sp>
        <p:nvSpPr>
          <p:cNvPr id="28" name="Text 25"/>
          <p:cNvSpPr txBox="1"/>
          <p:nvPr/>
        </p:nvSpPr>
        <p:spPr>
          <a:xfrm>
            <a:off x="3840480" y="150876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00</a:t>
            </a:r>
            <a:endParaRPr lang="en-US" sz="800" dirty="0"/>
          </a:p>
        </p:txBody>
      </p:sp>
      <p:sp>
        <p:nvSpPr>
          <p:cNvPr id="29" name="Shape 26"/>
          <p:cNvSpPr/>
          <p:nvPr/>
        </p:nvSpPr>
        <p:spPr>
          <a:xfrm>
            <a:off x="4149090" y="1508760"/>
            <a:ext cx="308610" cy="308610"/>
          </a:xfrm>
          <a:prstGeom prst="rect">
            <a:avLst/>
          </a:prstGeom>
          <a:solidFill>
            <a:srgbClr val="9ED9C0"/>
          </a:solidFill>
          <a:ln w="12700">
            <a:solidFill>
              <a:srgbClr val="FFFFFF"/>
            </a:solidFill>
            <a:prstDash val="solid"/>
          </a:ln>
        </p:spPr>
      </p:sp>
      <p:sp>
        <p:nvSpPr>
          <p:cNvPr id="30" name="Text 27"/>
          <p:cNvSpPr txBox="1"/>
          <p:nvPr/>
        </p:nvSpPr>
        <p:spPr>
          <a:xfrm>
            <a:off x="4149090" y="150876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01</a:t>
            </a:r>
            <a:endParaRPr lang="en-US" sz="800" dirty="0"/>
          </a:p>
        </p:txBody>
      </p:sp>
      <p:sp>
        <p:nvSpPr>
          <p:cNvPr id="31" name="Shape 28"/>
          <p:cNvSpPr/>
          <p:nvPr/>
        </p:nvSpPr>
        <p:spPr>
          <a:xfrm>
            <a:off x="4457700" y="1508760"/>
            <a:ext cx="308610" cy="308610"/>
          </a:xfrm>
          <a:prstGeom prst="rect">
            <a:avLst/>
          </a:prstGeom>
          <a:solidFill>
            <a:srgbClr val="10A06A"/>
          </a:solidFill>
          <a:ln w="12700">
            <a:solidFill>
              <a:srgbClr val="FFFFFF"/>
            </a:solidFill>
            <a:prstDash val="solid"/>
          </a:ln>
        </p:spPr>
      </p:sp>
      <p:sp>
        <p:nvSpPr>
          <p:cNvPr id="32" name="Text 29"/>
          <p:cNvSpPr txBox="1"/>
          <p:nvPr/>
        </p:nvSpPr>
        <p:spPr>
          <a:xfrm>
            <a:off x="4457700" y="150876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10</a:t>
            </a:r>
            <a:endParaRPr lang="en-US" sz="800" dirty="0"/>
          </a:p>
        </p:txBody>
      </p:sp>
      <p:sp>
        <p:nvSpPr>
          <p:cNvPr id="33" name="Shape 30"/>
          <p:cNvSpPr/>
          <p:nvPr/>
        </p:nvSpPr>
        <p:spPr>
          <a:xfrm>
            <a:off x="4766310" y="1508760"/>
            <a:ext cx="308610" cy="308610"/>
          </a:xfrm>
          <a:prstGeom prst="rect">
            <a:avLst/>
          </a:prstGeom>
          <a:solidFill>
            <a:srgbClr val="10A06A"/>
          </a:solidFill>
          <a:ln w="12700">
            <a:solidFill>
              <a:srgbClr val="FFFFFF"/>
            </a:solidFill>
            <a:prstDash val="solid"/>
          </a:ln>
        </p:spPr>
      </p:sp>
      <p:sp>
        <p:nvSpPr>
          <p:cNvPr id="34" name="Text 31"/>
          <p:cNvSpPr txBox="1"/>
          <p:nvPr/>
        </p:nvSpPr>
        <p:spPr>
          <a:xfrm>
            <a:off x="4766310" y="150876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11</a:t>
            </a:r>
            <a:endParaRPr lang="en-US" sz="800" dirty="0"/>
          </a:p>
        </p:txBody>
      </p:sp>
      <p:sp>
        <p:nvSpPr>
          <p:cNvPr id="35" name="Shape 32"/>
          <p:cNvSpPr/>
          <p:nvPr/>
        </p:nvSpPr>
        <p:spPr>
          <a:xfrm>
            <a:off x="3840480" y="1817370"/>
            <a:ext cx="308610" cy="308610"/>
          </a:xfrm>
          <a:prstGeom prst="rect">
            <a:avLst/>
          </a:prstGeom>
          <a:solidFill>
            <a:srgbClr val="9ED9C0"/>
          </a:solidFill>
          <a:ln w="12700">
            <a:solidFill>
              <a:srgbClr val="FFFFFF"/>
            </a:solidFill>
            <a:prstDash val="solid"/>
          </a:ln>
        </p:spPr>
      </p:sp>
      <p:sp>
        <p:nvSpPr>
          <p:cNvPr id="36" name="Text 33"/>
          <p:cNvSpPr txBox="1"/>
          <p:nvPr/>
        </p:nvSpPr>
        <p:spPr>
          <a:xfrm>
            <a:off x="3840480" y="181737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02</a:t>
            </a:r>
            <a:endParaRPr lang="en-US" sz="800" dirty="0"/>
          </a:p>
        </p:txBody>
      </p:sp>
      <p:sp>
        <p:nvSpPr>
          <p:cNvPr id="37" name="Shape 34"/>
          <p:cNvSpPr/>
          <p:nvPr/>
        </p:nvSpPr>
        <p:spPr>
          <a:xfrm>
            <a:off x="4149090" y="1817370"/>
            <a:ext cx="308610" cy="308610"/>
          </a:xfrm>
          <a:prstGeom prst="rect">
            <a:avLst/>
          </a:prstGeom>
          <a:solidFill>
            <a:srgbClr val="9ED9C0"/>
          </a:solidFill>
          <a:ln w="12700">
            <a:solidFill>
              <a:srgbClr val="FFFFFF"/>
            </a:solidFill>
            <a:prstDash val="solid"/>
          </a:ln>
        </p:spPr>
      </p:sp>
      <p:sp>
        <p:nvSpPr>
          <p:cNvPr id="38" name="Text 35"/>
          <p:cNvSpPr txBox="1"/>
          <p:nvPr/>
        </p:nvSpPr>
        <p:spPr>
          <a:xfrm>
            <a:off x="4149090" y="181737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03</a:t>
            </a:r>
            <a:endParaRPr lang="en-US" sz="800" dirty="0"/>
          </a:p>
        </p:txBody>
      </p:sp>
      <p:sp>
        <p:nvSpPr>
          <p:cNvPr id="39" name="Shape 36"/>
          <p:cNvSpPr/>
          <p:nvPr/>
        </p:nvSpPr>
        <p:spPr>
          <a:xfrm>
            <a:off x="4457700" y="1817370"/>
            <a:ext cx="308610" cy="308610"/>
          </a:xfrm>
          <a:prstGeom prst="rect">
            <a:avLst/>
          </a:prstGeom>
          <a:solidFill>
            <a:srgbClr val="F5C242"/>
          </a:solidFill>
          <a:ln w="12700">
            <a:solidFill>
              <a:srgbClr val="FFFFFF"/>
            </a:solidFill>
            <a:prstDash val="solid"/>
          </a:ln>
        </p:spPr>
      </p:sp>
      <p:sp>
        <p:nvSpPr>
          <p:cNvPr id="40" name="Text 37"/>
          <p:cNvSpPr txBox="1"/>
          <p:nvPr/>
        </p:nvSpPr>
        <p:spPr>
          <a:xfrm>
            <a:off x="4457700" y="1817370"/>
            <a:ext cx="308610" cy="308610"/>
          </a:xfrm>
          <a:prstGeom prst="rect">
            <a:avLst/>
          </a:prstGeom>
          <a:noFill/>
          <a:ln/>
        </p:spPr>
        <p:txBody>
          <a:bodyPr wrap="square" lIns="0" tIns="0" rIns="0" bIns="0" rtlCol="0" anchor="ctr"/>
          <a:lstStyle/>
          <a:p>
            <a:pPr marL="0" indent="0" algn="ctr">
              <a:buNone/>
            </a:pPr>
            <a:r>
              <a:rPr lang="en-US" sz="800" b="1" dirty="0">
                <a:solidFill>
                  <a:srgbClr val="231F20"/>
                </a:solidFill>
                <a:latin typeface="Courier New" pitchFamily="34" charset="0"/>
                <a:ea typeface="Courier New" pitchFamily="34" charset="-122"/>
                <a:cs typeface="Courier New" pitchFamily="34" charset="-120"/>
              </a:rPr>
              <a:t>12</a:t>
            </a:r>
            <a:endParaRPr lang="en-US" sz="800" dirty="0"/>
          </a:p>
        </p:txBody>
      </p:sp>
      <p:sp>
        <p:nvSpPr>
          <p:cNvPr id="41" name="Shape 38"/>
          <p:cNvSpPr/>
          <p:nvPr/>
        </p:nvSpPr>
        <p:spPr>
          <a:xfrm>
            <a:off x="4766310" y="1817370"/>
            <a:ext cx="308610" cy="308610"/>
          </a:xfrm>
          <a:prstGeom prst="rect">
            <a:avLst/>
          </a:prstGeom>
          <a:solidFill>
            <a:srgbClr val="10A06A"/>
          </a:solidFill>
          <a:ln w="12700">
            <a:solidFill>
              <a:srgbClr val="FFFFFF"/>
            </a:solidFill>
            <a:prstDash val="solid"/>
          </a:ln>
        </p:spPr>
      </p:sp>
      <p:sp>
        <p:nvSpPr>
          <p:cNvPr id="42" name="Text 39"/>
          <p:cNvSpPr txBox="1"/>
          <p:nvPr/>
        </p:nvSpPr>
        <p:spPr>
          <a:xfrm>
            <a:off x="4766310" y="181737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13</a:t>
            </a:r>
            <a:endParaRPr lang="en-US" sz="800" dirty="0"/>
          </a:p>
        </p:txBody>
      </p:sp>
      <p:sp>
        <p:nvSpPr>
          <p:cNvPr id="43" name="Shape 40"/>
          <p:cNvSpPr/>
          <p:nvPr/>
        </p:nvSpPr>
        <p:spPr>
          <a:xfrm>
            <a:off x="3840480" y="2125980"/>
            <a:ext cx="308610" cy="308610"/>
          </a:xfrm>
          <a:prstGeom prst="rect">
            <a:avLst/>
          </a:prstGeom>
          <a:solidFill>
            <a:srgbClr val="9ED9C0"/>
          </a:solidFill>
          <a:ln w="12700">
            <a:solidFill>
              <a:srgbClr val="FFFFFF"/>
            </a:solidFill>
            <a:prstDash val="solid"/>
          </a:ln>
        </p:spPr>
      </p:sp>
      <p:sp>
        <p:nvSpPr>
          <p:cNvPr id="44" name="Text 41"/>
          <p:cNvSpPr txBox="1"/>
          <p:nvPr/>
        </p:nvSpPr>
        <p:spPr>
          <a:xfrm>
            <a:off x="3840480" y="212598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20</a:t>
            </a:r>
            <a:endParaRPr lang="en-US" sz="800" dirty="0"/>
          </a:p>
        </p:txBody>
      </p:sp>
      <p:sp>
        <p:nvSpPr>
          <p:cNvPr id="45" name="Shape 42"/>
          <p:cNvSpPr/>
          <p:nvPr/>
        </p:nvSpPr>
        <p:spPr>
          <a:xfrm>
            <a:off x="4149090" y="2125980"/>
            <a:ext cx="308610" cy="308610"/>
          </a:xfrm>
          <a:prstGeom prst="rect">
            <a:avLst/>
          </a:prstGeom>
          <a:solidFill>
            <a:srgbClr val="9ED9C0"/>
          </a:solidFill>
          <a:ln w="12700">
            <a:solidFill>
              <a:srgbClr val="FFFFFF"/>
            </a:solidFill>
            <a:prstDash val="solid"/>
          </a:ln>
        </p:spPr>
      </p:sp>
      <p:sp>
        <p:nvSpPr>
          <p:cNvPr id="46" name="Text 43"/>
          <p:cNvSpPr txBox="1"/>
          <p:nvPr/>
        </p:nvSpPr>
        <p:spPr>
          <a:xfrm>
            <a:off x="4149090" y="212598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21</a:t>
            </a:r>
            <a:endParaRPr lang="en-US" sz="800" dirty="0"/>
          </a:p>
        </p:txBody>
      </p:sp>
      <p:sp>
        <p:nvSpPr>
          <p:cNvPr id="47" name="Shape 44"/>
          <p:cNvSpPr/>
          <p:nvPr/>
        </p:nvSpPr>
        <p:spPr>
          <a:xfrm>
            <a:off x="4457700" y="2125980"/>
            <a:ext cx="308610" cy="308610"/>
          </a:xfrm>
          <a:prstGeom prst="rect">
            <a:avLst/>
          </a:prstGeom>
          <a:solidFill>
            <a:srgbClr val="9ED9C0"/>
          </a:solidFill>
          <a:ln w="12700">
            <a:solidFill>
              <a:srgbClr val="FFFFFF"/>
            </a:solidFill>
            <a:prstDash val="solid"/>
          </a:ln>
        </p:spPr>
      </p:sp>
      <p:sp>
        <p:nvSpPr>
          <p:cNvPr id="48" name="Text 45"/>
          <p:cNvSpPr txBox="1"/>
          <p:nvPr/>
        </p:nvSpPr>
        <p:spPr>
          <a:xfrm>
            <a:off x="4457700" y="212598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30</a:t>
            </a:r>
            <a:endParaRPr lang="en-US" sz="800" dirty="0"/>
          </a:p>
        </p:txBody>
      </p:sp>
      <p:sp>
        <p:nvSpPr>
          <p:cNvPr id="49" name="Shape 46"/>
          <p:cNvSpPr/>
          <p:nvPr/>
        </p:nvSpPr>
        <p:spPr>
          <a:xfrm>
            <a:off x="4766310" y="2125980"/>
            <a:ext cx="308610" cy="308610"/>
          </a:xfrm>
          <a:prstGeom prst="rect">
            <a:avLst/>
          </a:prstGeom>
          <a:solidFill>
            <a:srgbClr val="9ED9C0"/>
          </a:solidFill>
          <a:ln w="12700">
            <a:solidFill>
              <a:srgbClr val="FFFFFF"/>
            </a:solidFill>
            <a:prstDash val="solid"/>
          </a:ln>
        </p:spPr>
      </p:sp>
      <p:sp>
        <p:nvSpPr>
          <p:cNvPr id="50" name="Text 47"/>
          <p:cNvSpPr txBox="1"/>
          <p:nvPr/>
        </p:nvSpPr>
        <p:spPr>
          <a:xfrm>
            <a:off x="4766310" y="212598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31</a:t>
            </a:r>
            <a:endParaRPr lang="en-US" sz="800" dirty="0"/>
          </a:p>
        </p:txBody>
      </p:sp>
      <p:sp>
        <p:nvSpPr>
          <p:cNvPr id="51" name="Shape 48"/>
          <p:cNvSpPr/>
          <p:nvPr/>
        </p:nvSpPr>
        <p:spPr>
          <a:xfrm>
            <a:off x="3840480" y="2434590"/>
            <a:ext cx="308610" cy="308610"/>
          </a:xfrm>
          <a:prstGeom prst="rect">
            <a:avLst/>
          </a:prstGeom>
          <a:solidFill>
            <a:srgbClr val="9ED9C0"/>
          </a:solidFill>
          <a:ln w="12700">
            <a:solidFill>
              <a:srgbClr val="FFFFFF"/>
            </a:solidFill>
            <a:prstDash val="solid"/>
          </a:ln>
        </p:spPr>
      </p:sp>
      <p:sp>
        <p:nvSpPr>
          <p:cNvPr id="52" name="Text 49"/>
          <p:cNvSpPr txBox="1"/>
          <p:nvPr/>
        </p:nvSpPr>
        <p:spPr>
          <a:xfrm>
            <a:off x="3840480" y="243459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22</a:t>
            </a:r>
            <a:endParaRPr lang="en-US" sz="800" dirty="0"/>
          </a:p>
        </p:txBody>
      </p:sp>
      <p:sp>
        <p:nvSpPr>
          <p:cNvPr id="53" name="Shape 50"/>
          <p:cNvSpPr/>
          <p:nvPr/>
        </p:nvSpPr>
        <p:spPr>
          <a:xfrm>
            <a:off x="4149090" y="2434590"/>
            <a:ext cx="308610" cy="308610"/>
          </a:xfrm>
          <a:prstGeom prst="rect">
            <a:avLst/>
          </a:prstGeom>
          <a:solidFill>
            <a:srgbClr val="9ED9C0"/>
          </a:solidFill>
          <a:ln w="12700">
            <a:solidFill>
              <a:srgbClr val="FFFFFF"/>
            </a:solidFill>
            <a:prstDash val="solid"/>
          </a:ln>
        </p:spPr>
      </p:sp>
      <p:sp>
        <p:nvSpPr>
          <p:cNvPr id="54" name="Text 51"/>
          <p:cNvSpPr txBox="1"/>
          <p:nvPr/>
        </p:nvSpPr>
        <p:spPr>
          <a:xfrm>
            <a:off x="4149090" y="243459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23</a:t>
            </a:r>
            <a:endParaRPr lang="en-US" sz="800" dirty="0"/>
          </a:p>
        </p:txBody>
      </p:sp>
      <p:sp>
        <p:nvSpPr>
          <p:cNvPr id="55" name="Shape 52"/>
          <p:cNvSpPr/>
          <p:nvPr/>
        </p:nvSpPr>
        <p:spPr>
          <a:xfrm>
            <a:off x="4457700" y="2434590"/>
            <a:ext cx="308610" cy="308610"/>
          </a:xfrm>
          <a:prstGeom prst="rect">
            <a:avLst/>
          </a:prstGeom>
          <a:solidFill>
            <a:srgbClr val="9ED9C0"/>
          </a:solidFill>
          <a:ln w="12700">
            <a:solidFill>
              <a:srgbClr val="FFFFFF"/>
            </a:solidFill>
            <a:prstDash val="solid"/>
          </a:ln>
        </p:spPr>
      </p:sp>
      <p:sp>
        <p:nvSpPr>
          <p:cNvPr id="56" name="Text 53"/>
          <p:cNvSpPr txBox="1"/>
          <p:nvPr/>
        </p:nvSpPr>
        <p:spPr>
          <a:xfrm>
            <a:off x="4457700" y="243459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32</a:t>
            </a:r>
            <a:endParaRPr lang="en-US" sz="800" dirty="0"/>
          </a:p>
        </p:txBody>
      </p:sp>
      <p:sp>
        <p:nvSpPr>
          <p:cNvPr id="57" name="Shape 54"/>
          <p:cNvSpPr/>
          <p:nvPr/>
        </p:nvSpPr>
        <p:spPr>
          <a:xfrm>
            <a:off x="4766310" y="2434590"/>
            <a:ext cx="308610" cy="308610"/>
          </a:xfrm>
          <a:prstGeom prst="rect">
            <a:avLst/>
          </a:prstGeom>
          <a:solidFill>
            <a:srgbClr val="9ED9C0"/>
          </a:solidFill>
          <a:ln w="12700">
            <a:solidFill>
              <a:srgbClr val="FFFFFF"/>
            </a:solidFill>
            <a:prstDash val="solid"/>
          </a:ln>
        </p:spPr>
      </p:sp>
      <p:sp>
        <p:nvSpPr>
          <p:cNvPr id="58" name="Text 55"/>
          <p:cNvSpPr txBox="1"/>
          <p:nvPr/>
        </p:nvSpPr>
        <p:spPr>
          <a:xfrm>
            <a:off x="4766310" y="243459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33</a:t>
            </a:r>
            <a:endParaRPr lang="en-US" sz="800" dirty="0"/>
          </a:p>
        </p:txBody>
      </p:sp>
      <p:sp>
        <p:nvSpPr>
          <p:cNvPr id="59" name="Text 56"/>
          <p:cNvSpPr txBox="1"/>
          <p:nvPr/>
        </p:nvSpPr>
        <p:spPr>
          <a:xfrm>
            <a:off x="457200" y="2816352"/>
            <a:ext cx="1234440" cy="201168"/>
          </a:xfrm>
          <a:prstGeom prst="rect">
            <a:avLst/>
          </a:prstGeom>
          <a:noFill/>
          <a:ln/>
        </p:spPr>
        <p:txBody>
          <a:bodyPr wrap="square" lIns="0" tIns="0" rIns="0" bIns="0" rtlCol="0" anchor="t"/>
          <a:lstStyle/>
          <a:p>
            <a:pPr marL="0" indent="0" algn="ctr">
              <a:buNone/>
            </a:pPr>
            <a:r>
              <a:rPr lang="en-US" sz="1100" b="1" dirty="0">
                <a:solidFill>
                  <a:srgbClr val="231F20"/>
                </a:solidFill>
                <a:latin typeface="Courier New" pitchFamily="34" charset="0"/>
                <a:ea typeface="Courier New" pitchFamily="34" charset="-122"/>
                <a:cs typeface="Courier New" pitchFamily="34" charset="-120"/>
              </a:rPr>
              <a:t>z = 0</a:t>
            </a:r>
            <a:endParaRPr lang="en-US" sz="1100" dirty="0"/>
          </a:p>
        </p:txBody>
      </p:sp>
      <p:sp>
        <p:nvSpPr>
          <p:cNvPr id="60" name="Text 57"/>
          <p:cNvSpPr txBox="1"/>
          <p:nvPr/>
        </p:nvSpPr>
        <p:spPr>
          <a:xfrm>
            <a:off x="2148840" y="2816352"/>
            <a:ext cx="1234440" cy="201168"/>
          </a:xfrm>
          <a:prstGeom prst="rect">
            <a:avLst/>
          </a:prstGeom>
          <a:noFill/>
          <a:ln/>
        </p:spPr>
        <p:txBody>
          <a:bodyPr wrap="square" lIns="0" tIns="0" rIns="0" bIns="0" rtlCol="0" anchor="t"/>
          <a:lstStyle/>
          <a:p>
            <a:pPr marL="0" indent="0" algn="ctr">
              <a:buNone/>
            </a:pPr>
            <a:r>
              <a:rPr lang="en-US" sz="1100" b="1" dirty="0">
                <a:solidFill>
                  <a:srgbClr val="231F20"/>
                </a:solidFill>
                <a:latin typeface="Courier New" pitchFamily="34" charset="0"/>
                <a:ea typeface="Courier New" pitchFamily="34" charset="-122"/>
                <a:cs typeface="Courier New" pitchFamily="34" charset="-120"/>
              </a:rPr>
              <a:t>z = 1</a:t>
            </a:r>
            <a:endParaRPr lang="en-US" sz="1100" dirty="0"/>
          </a:p>
        </p:txBody>
      </p:sp>
      <p:sp>
        <p:nvSpPr>
          <p:cNvPr id="61" name="Text 58"/>
          <p:cNvSpPr txBox="1"/>
          <p:nvPr/>
        </p:nvSpPr>
        <p:spPr>
          <a:xfrm>
            <a:off x="3840480" y="2816352"/>
            <a:ext cx="1234440" cy="201168"/>
          </a:xfrm>
          <a:prstGeom prst="rect">
            <a:avLst/>
          </a:prstGeom>
          <a:noFill/>
          <a:ln/>
        </p:spPr>
        <p:txBody>
          <a:bodyPr wrap="square" lIns="0" tIns="0" rIns="0" bIns="0" rtlCol="0" anchor="t"/>
          <a:lstStyle/>
          <a:p>
            <a:pPr marL="0" indent="0" algn="ctr">
              <a:buNone/>
            </a:pPr>
            <a:r>
              <a:rPr lang="en-US" sz="1100" b="1" dirty="0">
                <a:solidFill>
                  <a:srgbClr val="231F20"/>
                </a:solidFill>
                <a:latin typeface="Courier New" pitchFamily="34" charset="0"/>
                <a:ea typeface="Courier New" pitchFamily="34" charset="-122"/>
                <a:cs typeface="Courier New" pitchFamily="34" charset="-120"/>
              </a:rPr>
              <a:t>z = 2</a:t>
            </a:r>
            <a:endParaRPr lang="en-US" sz="1100" dirty="0"/>
          </a:p>
        </p:txBody>
      </p:sp>
      <p:pic>
        <p:nvPicPr>
          <p:cNvPr id="62" name="Image 0" descr="preencoded.png"/>
          <p:cNvPicPr>
            <a:picLocks noChangeAspect="1"/>
          </p:cNvPicPr>
          <p:nvPr/>
        </p:nvPicPr>
        <p:blipFill>
          <a:blip r:embed="rId3"/>
          <a:stretch>
            <a:fillRect/>
          </a:stretch>
        </p:blipFill>
        <p:spPr>
          <a:xfrm>
            <a:off x="1828800" y="2034540"/>
            <a:ext cx="182880" cy="182880"/>
          </a:xfrm>
          <a:prstGeom prst="rect">
            <a:avLst/>
          </a:prstGeom>
        </p:spPr>
      </p:pic>
      <p:pic>
        <p:nvPicPr>
          <p:cNvPr id="63" name="Image 1" descr="preencoded.png"/>
          <p:cNvPicPr>
            <a:picLocks noChangeAspect="1"/>
          </p:cNvPicPr>
          <p:nvPr/>
        </p:nvPicPr>
        <p:blipFill>
          <a:blip r:embed="rId3"/>
          <a:stretch>
            <a:fillRect/>
          </a:stretch>
        </p:blipFill>
        <p:spPr>
          <a:xfrm>
            <a:off x="3520440" y="2034540"/>
            <a:ext cx="182880" cy="182880"/>
          </a:xfrm>
          <a:prstGeom prst="rect">
            <a:avLst/>
          </a:prstGeom>
        </p:spPr>
      </p:pic>
      <p:sp>
        <p:nvSpPr>
          <p:cNvPr id="64" name="Text 59"/>
          <p:cNvSpPr txBox="1"/>
          <p:nvPr/>
        </p:nvSpPr>
        <p:spPr>
          <a:xfrm>
            <a:off x="457200" y="3063240"/>
            <a:ext cx="4663440" cy="22860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Each level splits a tile into four and adds one digit: 0 ↖  1 ↗  2 ↙  3 ↘</a:t>
            </a:r>
            <a:endParaRPr lang="en-US" sz="1050" dirty="0"/>
          </a:p>
        </p:txBody>
      </p:sp>
      <p:sp>
        <p:nvSpPr>
          <p:cNvPr id="65" name="Shape 60"/>
          <p:cNvSpPr/>
          <p:nvPr/>
        </p:nvSpPr>
        <p:spPr>
          <a:xfrm>
            <a:off x="457200" y="3383280"/>
            <a:ext cx="4663440" cy="1051560"/>
          </a:xfrm>
          <a:prstGeom prst="roundRect">
            <a:avLst>
              <a:gd name="adj" fmla="val 6957"/>
            </a:avLst>
          </a:prstGeom>
          <a:solidFill>
            <a:srgbClr val="E8F5EF"/>
          </a:solidFill>
          <a:ln w="15875">
            <a:solidFill>
              <a:srgbClr val="00A86A"/>
            </a:solidFill>
            <a:prstDash val="solid"/>
          </a:ln>
        </p:spPr>
      </p:sp>
      <p:sp>
        <p:nvSpPr>
          <p:cNvPr id="66" name="Text 61"/>
          <p:cNvSpPr txBox="1"/>
          <p:nvPr/>
        </p:nvSpPr>
        <p:spPr>
          <a:xfrm>
            <a:off x="640080" y="3474720"/>
            <a:ext cx="4297680" cy="228600"/>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At zoom 16 (the Ookla grid)</a:t>
            </a:r>
            <a:endParaRPr lang="en-US" sz="1200" dirty="0"/>
          </a:p>
        </p:txBody>
      </p:sp>
      <p:sp>
        <p:nvSpPr>
          <p:cNvPr id="67" name="Text 62"/>
          <p:cNvSpPr txBox="1"/>
          <p:nvPr/>
        </p:nvSpPr>
        <p:spPr>
          <a:xfrm>
            <a:off x="640080" y="3730752"/>
            <a:ext cx="4297680" cy="228600"/>
          </a:xfrm>
          <a:prstGeom prst="rect">
            <a:avLst/>
          </a:prstGeom>
          <a:noFill/>
          <a:ln/>
        </p:spPr>
        <p:txBody>
          <a:bodyPr wrap="square" lIns="0" tIns="0" rIns="0" bIns="0" rtlCol="0" anchor="t"/>
          <a:lstStyle/>
          <a:p>
            <a:pPr marL="0" indent="0">
              <a:buNone/>
            </a:pPr>
            <a:r>
              <a:rPr lang="en-US" sz="1100" dirty="0">
                <a:solidFill>
                  <a:srgbClr val="231F20"/>
                </a:solidFill>
                <a:latin typeface="Courier New" pitchFamily="34" charset="0"/>
                <a:ea typeface="Courier New" pitchFamily="34" charset="-122"/>
                <a:cs typeface="Courier New" pitchFamily="34" charset="-120"/>
              </a:rPr>
              <a:t>quadkey = 16 digits, e.g. 1220303103213012</a:t>
            </a:r>
            <a:endParaRPr lang="en-US" sz="1100" dirty="0"/>
          </a:p>
        </p:txBody>
      </p:sp>
      <p:sp>
        <p:nvSpPr>
          <p:cNvPr id="68" name="Text 63"/>
          <p:cNvSpPr txBox="1"/>
          <p:nvPr/>
        </p:nvSpPr>
        <p:spPr>
          <a:xfrm>
            <a:off x="640080" y="4023360"/>
            <a:ext cx="4297680" cy="27432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 610.8 m × 610.8 m at the equator (18 arc-second blocks)</a:t>
            </a:r>
            <a:endParaRPr lang="en-US" sz="1150" dirty="0"/>
          </a:p>
        </p:txBody>
      </p:sp>
      <p:sp>
        <p:nvSpPr>
          <p:cNvPr id="69" name="Shape 64"/>
          <p:cNvSpPr/>
          <p:nvPr/>
        </p:nvSpPr>
        <p:spPr>
          <a:xfrm>
            <a:off x="5440680" y="1444752"/>
            <a:ext cx="420624" cy="420624"/>
          </a:xfrm>
          <a:prstGeom prst="ellipse">
            <a:avLst/>
          </a:prstGeom>
          <a:solidFill>
            <a:srgbClr val="00704A">
              <a:alpha val="22000"/>
            </a:srgbClr>
          </a:solidFill>
          <a:ln/>
        </p:spPr>
      </p:sp>
      <p:pic>
        <p:nvPicPr>
          <p:cNvPr id="70" name="Image 2" descr="preencoded.png"/>
          <p:cNvPicPr>
            <a:picLocks noChangeAspect="1"/>
          </p:cNvPicPr>
          <p:nvPr/>
        </p:nvPicPr>
        <p:blipFill>
          <a:blip r:embed="rId4"/>
          <a:stretch>
            <a:fillRect/>
          </a:stretch>
        </p:blipFill>
        <p:spPr>
          <a:xfrm>
            <a:off x="5541630" y="1545702"/>
            <a:ext cx="218724" cy="218724"/>
          </a:xfrm>
          <a:prstGeom prst="rect">
            <a:avLst/>
          </a:prstGeom>
        </p:spPr>
      </p:pic>
      <p:sp>
        <p:nvSpPr>
          <p:cNvPr id="71" name="Text 65"/>
          <p:cNvSpPr txBox="1"/>
          <p:nvPr/>
        </p:nvSpPr>
        <p:spPr>
          <a:xfrm>
            <a:off x="5989320" y="1399032"/>
            <a:ext cx="26974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Stable ID</a:t>
            </a:r>
            <a:endParaRPr lang="en-US" sz="1250" dirty="0"/>
          </a:p>
        </p:txBody>
      </p:sp>
      <p:sp>
        <p:nvSpPr>
          <p:cNvPr id="72" name="Text 66"/>
          <p:cNvSpPr txBox="1"/>
          <p:nvPr/>
        </p:nvSpPr>
        <p:spPr>
          <a:xfrm>
            <a:off x="5989320" y="1645920"/>
            <a:ext cx="269748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Join the same tile across quarters on quadkey, with no spatial operation.</a:t>
            </a:r>
            <a:endParaRPr lang="en-US" sz="1000" dirty="0"/>
          </a:p>
        </p:txBody>
      </p:sp>
      <p:sp>
        <p:nvSpPr>
          <p:cNvPr id="73" name="Shape 67"/>
          <p:cNvSpPr/>
          <p:nvPr/>
        </p:nvSpPr>
        <p:spPr>
          <a:xfrm>
            <a:off x="5440680" y="2221992"/>
            <a:ext cx="420624" cy="420624"/>
          </a:xfrm>
          <a:prstGeom prst="ellipse">
            <a:avLst/>
          </a:prstGeom>
          <a:solidFill>
            <a:srgbClr val="00704A">
              <a:alpha val="22000"/>
            </a:srgbClr>
          </a:solidFill>
          <a:ln/>
        </p:spPr>
      </p:sp>
      <p:pic>
        <p:nvPicPr>
          <p:cNvPr id="74" name="Image 3" descr="preencoded.png"/>
          <p:cNvPicPr>
            <a:picLocks noChangeAspect="1"/>
          </p:cNvPicPr>
          <p:nvPr/>
        </p:nvPicPr>
        <p:blipFill>
          <a:blip r:embed="rId5"/>
          <a:stretch>
            <a:fillRect/>
          </a:stretch>
        </p:blipFill>
        <p:spPr>
          <a:xfrm>
            <a:off x="5541630" y="2322942"/>
            <a:ext cx="218724" cy="218724"/>
          </a:xfrm>
          <a:prstGeom prst="rect">
            <a:avLst/>
          </a:prstGeom>
        </p:spPr>
      </p:pic>
      <p:sp>
        <p:nvSpPr>
          <p:cNvPr id="75" name="Text 68"/>
          <p:cNvSpPr txBox="1"/>
          <p:nvPr/>
        </p:nvSpPr>
        <p:spPr>
          <a:xfrm>
            <a:off x="5989320" y="2176272"/>
            <a:ext cx="26974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Prefix = parent</a:t>
            </a:r>
            <a:endParaRPr lang="en-US" sz="1250" dirty="0"/>
          </a:p>
        </p:txBody>
      </p:sp>
      <p:sp>
        <p:nvSpPr>
          <p:cNvPr id="76" name="Text 69"/>
          <p:cNvSpPr txBox="1"/>
          <p:nvPr/>
        </p:nvSpPr>
        <p:spPr>
          <a:xfrm>
            <a:off x="5989320" y="2423160"/>
            <a:ext cx="269748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All tiles inside a larger tile share its prefix, so country filters are fast.</a:t>
            </a:r>
            <a:endParaRPr lang="en-US" sz="1000" dirty="0"/>
          </a:p>
        </p:txBody>
      </p:sp>
      <p:sp>
        <p:nvSpPr>
          <p:cNvPr id="77" name="Shape 70"/>
          <p:cNvSpPr/>
          <p:nvPr/>
        </p:nvSpPr>
        <p:spPr>
          <a:xfrm>
            <a:off x="5440680" y="2999232"/>
            <a:ext cx="420624" cy="420624"/>
          </a:xfrm>
          <a:prstGeom prst="ellipse">
            <a:avLst/>
          </a:prstGeom>
          <a:solidFill>
            <a:srgbClr val="00704A">
              <a:alpha val="22000"/>
            </a:srgbClr>
          </a:solidFill>
          <a:ln/>
        </p:spPr>
      </p:sp>
      <p:pic>
        <p:nvPicPr>
          <p:cNvPr id="78" name="Image 4" descr="preencoded.png"/>
          <p:cNvPicPr>
            <a:picLocks noChangeAspect="1"/>
          </p:cNvPicPr>
          <p:nvPr/>
        </p:nvPicPr>
        <p:blipFill>
          <a:blip r:embed="rId6"/>
          <a:stretch>
            <a:fillRect/>
          </a:stretch>
        </p:blipFill>
        <p:spPr>
          <a:xfrm>
            <a:off x="5541630" y="3100182"/>
            <a:ext cx="218724" cy="218724"/>
          </a:xfrm>
          <a:prstGeom prst="rect">
            <a:avLst/>
          </a:prstGeom>
        </p:spPr>
      </p:pic>
      <p:sp>
        <p:nvSpPr>
          <p:cNvPr id="79" name="Text 71"/>
          <p:cNvSpPr txBox="1"/>
          <p:nvPr/>
        </p:nvSpPr>
        <p:spPr>
          <a:xfrm>
            <a:off x="5989320" y="2953512"/>
            <a:ext cx="26974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WGS 84 geometry</a:t>
            </a:r>
            <a:endParaRPr lang="en-US" sz="1250" dirty="0"/>
          </a:p>
        </p:txBody>
      </p:sp>
      <p:sp>
        <p:nvSpPr>
          <p:cNvPr id="80" name="Text 72"/>
          <p:cNvSpPr txBox="1"/>
          <p:nvPr/>
        </p:nvSpPr>
        <p:spPr>
          <a:xfrm>
            <a:off x="5989320" y="3200400"/>
            <a:ext cx="269748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Stored in EPSG:4326; the grid itself follows Web Mercator.</a:t>
            </a:r>
            <a:endParaRPr lang="en-US" sz="1000" dirty="0"/>
          </a:p>
        </p:txBody>
      </p:sp>
      <p:sp>
        <p:nvSpPr>
          <p:cNvPr id="81" name="Shape 73"/>
          <p:cNvSpPr/>
          <p:nvPr/>
        </p:nvSpPr>
        <p:spPr>
          <a:xfrm>
            <a:off x="5440680" y="3776472"/>
            <a:ext cx="420624" cy="420624"/>
          </a:xfrm>
          <a:prstGeom prst="ellipse">
            <a:avLst/>
          </a:prstGeom>
          <a:solidFill>
            <a:srgbClr val="00704A">
              <a:alpha val="22000"/>
            </a:srgbClr>
          </a:solidFill>
          <a:ln/>
        </p:spPr>
      </p:sp>
      <p:pic>
        <p:nvPicPr>
          <p:cNvPr id="82" name="Image 5" descr="preencoded.png"/>
          <p:cNvPicPr>
            <a:picLocks noChangeAspect="1"/>
          </p:cNvPicPr>
          <p:nvPr/>
        </p:nvPicPr>
        <p:blipFill>
          <a:blip r:embed="rId7"/>
          <a:stretch>
            <a:fillRect/>
          </a:stretch>
        </p:blipFill>
        <p:spPr>
          <a:xfrm>
            <a:off x="5541630" y="3877422"/>
            <a:ext cx="218724" cy="218724"/>
          </a:xfrm>
          <a:prstGeom prst="rect">
            <a:avLst/>
          </a:prstGeom>
        </p:spPr>
      </p:pic>
      <p:sp>
        <p:nvSpPr>
          <p:cNvPr id="83" name="Text 74"/>
          <p:cNvSpPr txBox="1"/>
          <p:nvPr/>
        </p:nvSpPr>
        <p:spPr>
          <a:xfrm>
            <a:off x="5989320" y="3730752"/>
            <a:ext cx="26974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Size shrinks</a:t>
            </a:r>
            <a:endParaRPr lang="en-US" sz="1250" dirty="0"/>
          </a:p>
        </p:txBody>
      </p:sp>
      <p:sp>
        <p:nvSpPr>
          <p:cNvPr id="84" name="Text 75"/>
          <p:cNvSpPr txBox="1"/>
          <p:nvPr/>
        </p:nvSpPr>
        <p:spPr>
          <a:xfrm>
            <a:off x="5989320" y="3977640"/>
            <a:ext cx="269748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Tiles get smaller in metres away from the equator.</a:t>
            </a:r>
            <a:endParaRPr lang="en-US" sz="1000" dirty="0"/>
          </a:p>
        </p:txBody>
      </p:sp>
      <p:sp>
        <p:nvSpPr>
          <p:cNvPr id="85" name="Text 76"/>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teamookla/ookla-open-data README; Bing Maps Tile System. The 16-digit quadkey shown is illustrative.</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SCHEMA</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What each tile tells you, and the traps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Text 14"/>
          <p:cNvSpPr txBox="1"/>
          <p:nvPr/>
        </p:nvSpPr>
        <p:spPr>
          <a:xfrm>
            <a:off x="594360" y="1325880"/>
            <a:ext cx="210312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FIELD</a:t>
            </a:r>
            <a:endParaRPr lang="en-US" sz="900" dirty="0"/>
          </a:p>
        </p:txBody>
      </p:sp>
      <p:sp>
        <p:nvSpPr>
          <p:cNvPr id="18" name="Text 15"/>
          <p:cNvSpPr txBox="1"/>
          <p:nvPr/>
        </p:nvSpPr>
        <p:spPr>
          <a:xfrm>
            <a:off x="2697480" y="1325880"/>
            <a:ext cx="18288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MEANING</a:t>
            </a:r>
            <a:endParaRPr lang="en-US" sz="900" dirty="0"/>
          </a:p>
        </p:txBody>
      </p:sp>
      <p:sp>
        <p:nvSpPr>
          <p:cNvPr id="19" name="Text 16"/>
          <p:cNvSpPr txBox="1"/>
          <p:nvPr/>
        </p:nvSpPr>
        <p:spPr>
          <a:xfrm>
            <a:off x="4343400" y="1325880"/>
            <a:ext cx="13716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UNIT / NOTE</a:t>
            </a:r>
            <a:endParaRPr lang="en-US" sz="900" dirty="0"/>
          </a:p>
        </p:txBody>
      </p:sp>
      <p:sp>
        <p:nvSpPr>
          <p:cNvPr id="20" name="Shape 17"/>
          <p:cNvSpPr/>
          <p:nvPr/>
        </p:nvSpPr>
        <p:spPr>
          <a:xfrm>
            <a:off x="457200" y="1554480"/>
            <a:ext cx="5349240" cy="310896"/>
          </a:xfrm>
          <a:prstGeom prst="roundRect">
            <a:avLst>
              <a:gd name="adj" fmla="val 14706"/>
            </a:avLst>
          </a:prstGeom>
          <a:solidFill>
            <a:srgbClr val="F4F7F5"/>
          </a:solidFill>
          <a:ln w="6350">
            <a:solidFill>
              <a:srgbClr val="D5DED9"/>
            </a:solidFill>
            <a:prstDash val="solid"/>
          </a:ln>
        </p:spPr>
      </p:sp>
      <p:sp>
        <p:nvSpPr>
          <p:cNvPr id="21" name="Shape 18"/>
          <p:cNvSpPr/>
          <p:nvPr/>
        </p:nvSpPr>
        <p:spPr>
          <a:xfrm>
            <a:off x="530352" y="1664208"/>
            <a:ext cx="91440" cy="91440"/>
          </a:xfrm>
          <a:prstGeom prst="ellipse">
            <a:avLst/>
          </a:prstGeom>
          <a:solidFill>
            <a:srgbClr val="00A86A"/>
          </a:solidFill>
          <a:ln/>
        </p:spPr>
      </p:sp>
      <p:sp>
        <p:nvSpPr>
          <p:cNvPr id="22" name="Text 19"/>
          <p:cNvSpPr txBox="1"/>
          <p:nvPr/>
        </p:nvSpPr>
        <p:spPr>
          <a:xfrm>
            <a:off x="685800" y="155448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avg_d_kbps</a:t>
            </a:r>
            <a:endParaRPr lang="en-US" sz="900" dirty="0"/>
          </a:p>
        </p:txBody>
      </p:sp>
      <p:sp>
        <p:nvSpPr>
          <p:cNvPr id="23" name="Text 20"/>
          <p:cNvSpPr txBox="1"/>
          <p:nvPr/>
        </p:nvSpPr>
        <p:spPr>
          <a:xfrm>
            <a:off x="2697480" y="155448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Average download speed</a:t>
            </a:r>
            <a:endParaRPr lang="en-US" sz="1000" dirty="0"/>
          </a:p>
        </p:txBody>
      </p:sp>
      <p:sp>
        <p:nvSpPr>
          <p:cNvPr id="24" name="Text 21"/>
          <p:cNvSpPr txBox="1"/>
          <p:nvPr/>
        </p:nvSpPr>
        <p:spPr>
          <a:xfrm>
            <a:off x="4343400" y="155448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kbps  ÷ 1000 → Mbps</a:t>
            </a:r>
            <a:endParaRPr lang="en-US" sz="900" dirty="0"/>
          </a:p>
        </p:txBody>
      </p:sp>
      <p:sp>
        <p:nvSpPr>
          <p:cNvPr id="25" name="Shape 22"/>
          <p:cNvSpPr/>
          <p:nvPr/>
        </p:nvSpPr>
        <p:spPr>
          <a:xfrm>
            <a:off x="457200" y="1920240"/>
            <a:ext cx="5349240" cy="310896"/>
          </a:xfrm>
          <a:prstGeom prst="roundRect">
            <a:avLst>
              <a:gd name="adj" fmla="val 14706"/>
            </a:avLst>
          </a:prstGeom>
          <a:solidFill>
            <a:srgbClr val="FFFFFF"/>
          </a:solidFill>
          <a:ln w="6350">
            <a:solidFill>
              <a:srgbClr val="D5DED9"/>
            </a:solidFill>
            <a:prstDash val="solid"/>
          </a:ln>
        </p:spPr>
      </p:sp>
      <p:sp>
        <p:nvSpPr>
          <p:cNvPr id="26" name="Shape 23"/>
          <p:cNvSpPr/>
          <p:nvPr/>
        </p:nvSpPr>
        <p:spPr>
          <a:xfrm>
            <a:off x="530352" y="2029968"/>
            <a:ext cx="91440" cy="91440"/>
          </a:xfrm>
          <a:prstGeom prst="ellipse">
            <a:avLst/>
          </a:prstGeom>
          <a:solidFill>
            <a:srgbClr val="00A86A"/>
          </a:solidFill>
          <a:ln/>
        </p:spPr>
      </p:sp>
      <p:sp>
        <p:nvSpPr>
          <p:cNvPr id="27" name="Text 24"/>
          <p:cNvSpPr txBox="1"/>
          <p:nvPr/>
        </p:nvSpPr>
        <p:spPr>
          <a:xfrm>
            <a:off x="685800" y="192024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avg_u_kbps</a:t>
            </a:r>
            <a:endParaRPr lang="en-US" sz="900" dirty="0"/>
          </a:p>
        </p:txBody>
      </p:sp>
      <p:sp>
        <p:nvSpPr>
          <p:cNvPr id="28" name="Text 25"/>
          <p:cNvSpPr txBox="1"/>
          <p:nvPr/>
        </p:nvSpPr>
        <p:spPr>
          <a:xfrm>
            <a:off x="2697480" y="192024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Average upload speed</a:t>
            </a:r>
            <a:endParaRPr lang="en-US" sz="1000" dirty="0"/>
          </a:p>
        </p:txBody>
      </p:sp>
      <p:sp>
        <p:nvSpPr>
          <p:cNvPr id="29" name="Text 26"/>
          <p:cNvSpPr txBox="1"/>
          <p:nvPr/>
        </p:nvSpPr>
        <p:spPr>
          <a:xfrm>
            <a:off x="4343400" y="192024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kbps</a:t>
            </a:r>
            <a:endParaRPr lang="en-US" sz="900" dirty="0"/>
          </a:p>
        </p:txBody>
      </p:sp>
      <p:sp>
        <p:nvSpPr>
          <p:cNvPr id="30" name="Shape 27"/>
          <p:cNvSpPr/>
          <p:nvPr/>
        </p:nvSpPr>
        <p:spPr>
          <a:xfrm>
            <a:off x="457200" y="2286000"/>
            <a:ext cx="5349240" cy="310896"/>
          </a:xfrm>
          <a:prstGeom prst="roundRect">
            <a:avLst>
              <a:gd name="adj" fmla="val 14706"/>
            </a:avLst>
          </a:prstGeom>
          <a:solidFill>
            <a:srgbClr val="F4F7F5"/>
          </a:solidFill>
          <a:ln w="6350">
            <a:solidFill>
              <a:srgbClr val="D5DED9"/>
            </a:solidFill>
            <a:prstDash val="solid"/>
          </a:ln>
        </p:spPr>
      </p:sp>
      <p:sp>
        <p:nvSpPr>
          <p:cNvPr id="31" name="Shape 28"/>
          <p:cNvSpPr/>
          <p:nvPr/>
        </p:nvSpPr>
        <p:spPr>
          <a:xfrm>
            <a:off x="530352" y="2395728"/>
            <a:ext cx="91440" cy="91440"/>
          </a:xfrm>
          <a:prstGeom prst="ellipse">
            <a:avLst/>
          </a:prstGeom>
          <a:solidFill>
            <a:srgbClr val="0E7C86"/>
          </a:solidFill>
          <a:ln/>
        </p:spPr>
      </p:sp>
      <p:sp>
        <p:nvSpPr>
          <p:cNvPr id="32" name="Text 29"/>
          <p:cNvSpPr txBox="1"/>
          <p:nvPr/>
        </p:nvSpPr>
        <p:spPr>
          <a:xfrm>
            <a:off x="685800" y="228600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avg_lat_ms</a:t>
            </a:r>
            <a:endParaRPr lang="en-US" sz="900" dirty="0"/>
          </a:p>
        </p:txBody>
      </p:sp>
      <p:sp>
        <p:nvSpPr>
          <p:cNvPr id="33" name="Text 30"/>
          <p:cNvSpPr txBox="1"/>
          <p:nvPr/>
        </p:nvSpPr>
        <p:spPr>
          <a:xfrm>
            <a:off x="2697480" y="228600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Average idle latency</a:t>
            </a:r>
            <a:endParaRPr lang="en-US" sz="1000" dirty="0"/>
          </a:p>
        </p:txBody>
      </p:sp>
      <p:sp>
        <p:nvSpPr>
          <p:cNvPr id="34" name="Text 31"/>
          <p:cNvSpPr txBox="1"/>
          <p:nvPr/>
        </p:nvSpPr>
        <p:spPr>
          <a:xfrm>
            <a:off x="4343400" y="228600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milliseconds</a:t>
            </a:r>
            <a:endParaRPr lang="en-US" sz="900" dirty="0"/>
          </a:p>
        </p:txBody>
      </p:sp>
      <p:sp>
        <p:nvSpPr>
          <p:cNvPr id="35" name="Shape 32"/>
          <p:cNvSpPr/>
          <p:nvPr/>
        </p:nvSpPr>
        <p:spPr>
          <a:xfrm>
            <a:off x="457200" y="2651760"/>
            <a:ext cx="5349240" cy="310896"/>
          </a:xfrm>
          <a:prstGeom prst="roundRect">
            <a:avLst>
              <a:gd name="adj" fmla="val 14706"/>
            </a:avLst>
          </a:prstGeom>
          <a:solidFill>
            <a:srgbClr val="FFFFFF"/>
          </a:solidFill>
          <a:ln w="6350">
            <a:solidFill>
              <a:srgbClr val="D5DED9"/>
            </a:solidFill>
            <a:prstDash val="solid"/>
          </a:ln>
        </p:spPr>
      </p:sp>
      <p:sp>
        <p:nvSpPr>
          <p:cNvPr id="36" name="Shape 33"/>
          <p:cNvSpPr/>
          <p:nvPr/>
        </p:nvSpPr>
        <p:spPr>
          <a:xfrm>
            <a:off x="530352" y="2761488"/>
            <a:ext cx="91440" cy="91440"/>
          </a:xfrm>
          <a:prstGeom prst="ellipse">
            <a:avLst/>
          </a:prstGeom>
          <a:solidFill>
            <a:srgbClr val="0E7C86"/>
          </a:solidFill>
          <a:ln/>
        </p:spPr>
      </p:sp>
      <p:sp>
        <p:nvSpPr>
          <p:cNvPr id="37" name="Text 34"/>
          <p:cNvSpPr txBox="1"/>
          <p:nvPr/>
        </p:nvSpPr>
        <p:spPr>
          <a:xfrm>
            <a:off x="685800" y="265176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avg_lat_down_ms / _up_ms</a:t>
            </a:r>
            <a:endParaRPr lang="en-US" sz="900" dirty="0"/>
          </a:p>
        </p:txBody>
      </p:sp>
      <p:sp>
        <p:nvSpPr>
          <p:cNvPr id="38" name="Text 35"/>
          <p:cNvSpPr txBox="1"/>
          <p:nvPr/>
        </p:nvSpPr>
        <p:spPr>
          <a:xfrm>
            <a:off x="2697480" y="265176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Latency under load</a:t>
            </a:r>
            <a:endParaRPr lang="en-US" sz="1000" dirty="0"/>
          </a:p>
        </p:txBody>
      </p:sp>
      <p:sp>
        <p:nvSpPr>
          <p:cNvPr id="39" name="Text 36"/>
          <p:cNvSpPr txBox="1"/>
          <p:nvPr/>
        </p:nvSpPr>
        <p:spPr>
          <a:xfrm>
            <a:off x="4343400" y="265176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Parquet only · sparse</a:t>
            </a:r>
            <a:endParaRPr lang="en-US" sz="900" dirty="0"/>
          </a:p>
        </p:txBody>
      </p:sp>
      <p:sp>
        <p:nvSpPr>
          <p:cNvPr id="40" name="Shape 37"/>
          <p:cNvSpPr/>
          <p:nvPr/>
        </p:nvSpPr>
        <p:spPr>
          <a:xfrm>
            <a:off x="457200" y="3017520"/>
            <a:ext cx="5349240" cy="310896"/>
          </a:xfrm>
          <a:prstGeom prst="roundRect">
            <a:avLst>
              <a:gd name="adj" fmla="val 14706"/>
            </a:avLst>
          </a:prstGeom>
          <a:solidFill>
            <a:srgbClr val="F4F7F5"/>
          </a:solidFill>
          <a:ln w="6350">
            <a:solidFill>
              <a:srgbClr val="D5DED9"/>
            </a:solidFill>
            <a:prstDash val="solid"/>
          </a:ln>
        </p:spPr>
      </p:sp>
      <p:sp>
        <p:nvSpPr>
          <p:cNvPr id="41" name="Shape 38"/>
          <p:cNvSpPr/>
          <p:nvPr/>
        </p:nvSpPr>
        <p:spPr>
          <a:xfrm>
            <a:off x="530352" y="3127248"/>
            <a:ext cx="91440" cy="91440"/>
          </a:xfrm>
          <a:prstGeom prst="ellipse">
            <a:avLst/>
          </a:prstGeom>
          <a:solidFill>
            <a:srgbClr val="D49A00"/>
          </a:solidFill>
          <a:ln/>
        </p:spPr>
      </p:sp>
      <p:sp>
        <p:nvSpPr>
          <p:cNvPr id="42" name="Text 39"/>
          <p:cNvSpPr txBox="1"/>
          <p:nvPr/>
        </p:nvSpPr>
        <p:spPr>
          <a:xfrm>
            <a:off x="685800" y="301752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tests</a:t>
            </a:r>
            <a:endParaRPr lang="en-US" sz="900" dirty="0"/>
          </a:p>
        </p:txBody>
      </p:sp>
      <p:sp>
        <p:nvSpPr>
          <p:cNvPr id="43" name="Text 40"/>
          <p:cNvSpPr txBox="1"/>
          <p:nvPr/>
        </p:nvSpPr>
        <p:spPr>
          <a:xfrm>
            <a:off x="2697480" y="301752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Number of tests in the tile</a:t>
            </a:r>
            <a:endParaRPr lang="en-US" sz="1000" dirty="0"/>
          </a:p>
        </p:txBody>
      </p:sp>
      <p:sp>
        <p:nvSpPr>
          <p:cNvPr id="44" name="Text 41"/>
          <p:cNvSpPr txBox="1"/>
          <p:nvPr/>
        </p:nvSpPr>
        <p:spPr>
          <a:xfrm>
            <a:off x="4343400" y="301752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confidence weight</a:t>
            </a:r>
            <a:endParaRPr lang="en-US" sz="900" dirty="0"/>
          </a:p>
        </p:txBody>
      </p:sp>
      <p:sp>
        <p:nvSpPr>
          <p:cNvPr id="45" name="Shape 42"/>
          <p:cNvSpPr/>
          <p:nvPr/>
        </p:nvSpPr>
        <p:spPr>
          <a:xfrm>
            <a:off x="457200" y="3383280"/>
            <a:ext cx="5349240" cy="310896"/>
          </a:xfrm>
          <a:prstGeom prst="roundRect">
            <a:avLst>
              <a:gd name="adj" fmla="val 14706"/>
            </a:avLst>
          </a:prstGeom>
          <a:solidFill>
            <a:srgbClr val="FFFFFF"/>
          </a:solidFill>
          <a:ln w="6350">
            <a:solidFill>
              <a:srgbClr val="D5DED9"/>
            </a:solidFill>
            <a:prstDash val="solid"/>
          </a:ln>
        </p:spPr>
      </p:sp>
      <p:sp>
        <p:nvSpPr>
          <p:cNvPr id="46" name="Shape 43"/>
          <p:cNvSpPr/>
          <p:nvPr/>
        </p:nvSpPr>
        <p:spPr>
          <a:xfrm>
            <a:off x="530352" y="3493008"/>
            <a:ext cx="91440" cy="91440"/>
          </a:xfrm>
          <a:prstGeom prst="ellipse">
            <a:avLst/>
          </a:prstGeom>
          <a:solidFill>
            <a:srgbClr val="D49A00"/>
          </a:solidFill>
          <a:ln/>
        </p:spPr>
      </p:sp>
      <p:sp>
        <p:nvSpPr>
          <p:cNvPr id="47" name="Text 44"/>
          <p:cNvSpPr txBox="1"/>
          <p:nvPr/>
        </p:nvSpPr>
        <p:spPr>
          <a:xfrm>
            <a:off x="685800" y="338328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devices</a:t>
            </a:r>
            <a:endParaRPr lang="en-US" sz="900" dirty="0"/>
          </a:p>
        </p:txBody>
      </p:sp>
      <p:sp>
        <p:nvSpPr>
          <p:cNvPr id="48" name="Text 45"/>
          <p:cNvSpPr txBox="1"/>
          <p:nvPr/>
        </p:nvSpPr>
        <p:spPr>
          <a:xfrm>
            <a:off x="2697480" y="338328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Number of unique devices</a:t>
            </a:r>
            <a:endParaRPr lang="en-US" sz="1000" dirty="0"/>
          </a:p>
        </p:txBody>
      </p:sp>
      <p:sp>
        <p:nvSpPr>
          <p:cNvPr id="49" name="Text 46"/>
          <p:cNvSpPr txBox="1"/>
          <p:nvPr/>
        </p:nvSpPr>
        <p:spPr>
          <a:xfrm>
            <a:off x="4343400" y="338328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guards against one heavy tester</a:t>
            </a:r>
            <a:endParaRPr lang="en-US" sz="900" dirty="0"/>
          </a:p>
        </p:txBody>
      </p:sp>
      <p:sp>
        <p:nvSpPr>
          <p:cNvPr id="50" name="Shape 47"/>
          <p:cNvSpPr/>
          <p:nvPr/>
        </p:nvSpPr>
        <p:spPr>
          <a:xfrm>
            <a:off x="457200" y="3749040"/>
            <a:ext cx="5349240" cy="310896"/>
          </a:xfrm>
          <a:prstGeom prst="roundRect">
            <a:avLst>
              <a:gd name="adj" fmla="val 14706"/>
            </a:avLst>
          </a:prstGeom>
          <a:solidFill>
            <a:srgbClr val="F4F7F5"/>
          </a:solidFill>
          <a:ln w="6350">
            <a:solidFill>
              <a:srgbClr val="D5DED9"/>
            </a:solidFill>
            <a:prstDash val="solid"/>
          </a:ln>
        </p:spPr>
      </p:sp>
      <p:sp>
        <p:nvSpPr>
          <p:cNvPr id="51" name="Shape 48"/>
          <p:cNvSpPr/>
          <p:nvPr/>
        </p:nvSpPr>
        <p:spPr>
          <a:xfrm>
            <a:off x="530352" y="3858768"/>
            <a:ext cx="91440" cy="91440"/>
          </a:xfrm>
          <a:prstGeom prst="ellipse">
            <a:avLst/>
          </a:prstGeom>
          <a:solidFill>
            <a:srgbClr val="00704A"/>
          </a:solidFill>
          <a:ln/>
        </p:spPr>
      </p:sp>
      <p:sp>
        <p:nvSpPr>
          <p:cNvPr id="52" name="Text 49"/>
          <p:cNvSpPr txBox="1"/>
          <p:nvPr/>
        </p:nvSpPr>
        <p:spPr>
          <a:xfrm>
            <a:off x="685800" y="374904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quadkey</a:t>
            </a:r>
            <a:endParaRPr lang="en-US" sz="900" dirty="0"/>
          </a:p>
        </p:txBody>
      </p:sp>
      <p:sp>
        <p:nvSpPr>
          <p:cNvPr id="53" name="Text 50"/>
          <p:cNvSpPr txBox="1"/>
          <p:nvPr/>
        </p:nvSpPr>
        <p:spPr>
          <a:xfrm>
            <a:off x="2697480" y="374904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Tile identifier</a:t>
            </a:r>
            <a:endParaRPr lang="en-US" sz="1000" dirty="0"/>
          </a:p>
        </p:txBody>
      </p:sp>
      <p:sp>
        <p:nvSpPr>
          <p:cNvPr id="54" name="Text 51"/>
          <p:cNvSpPr txBox="1"/>
          <p:nvPr/>
        </p:nvSpPr>
        <p:spPr>
          <a:xfrm>
            <a:off x="4343400" y="374904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join key across quarters</a:t>
            </a:r>
            <a:endParaRPr lang="en-US" sz="900" dirty="0"/>
          </a:p>
        </p:txBody>
      </p:sp>
      <p:sp>
        <p:nvSpPr>
          <p:cNvPr id="55" name="Shape 52"/>
          <p:cNvSpPr/>
          <p:nvPr/>
        </p:nvSpPr>
        <p:spPr>
          <a:xfrm>
            <a:off x="457200" y="4114800"/>
            <a:ext cx="5349240" cy="310896"/>
          </a:xfrm>
          <a:prstGeom prst="roundRect">
            <a:avLst>
              <a:gd name="adj" fmla="val 14706"/>
            </a:avLst>
          </a:prstGeom>
          <a:solidFill>
            <a:srgbClr val="FFFFFF"/>
          </a:solidFill>
          <a:ln w="6350">
            <a:solidFill>
              <a:srgbClr val="D5DED9"/>
            </a:solidFill>
            <a:prstDash val="solid"/>
          </a:ln>
        </p:spPr>
      </p:sp>
      <p:sp>
        <p:nvSpPr>
          <p:cNvPr id="56" name="Shape 53"/>
          <p:cNvSpPr/>
          <p:nvPr/>
        </p:nvSpPr>
        <p:spPr>
          <a:xfrm>
            <a:off x="530352" y="4224528"/>
            <a:ext cx="91440" cy="91440"/>
          </a:xfrm>
          <a:prstGeom prst="ellipse">
            <a:avLst/>
          </a:prstGeom>
          <a:solidFill>
            <a:srgbClr val="00704A"/>
          </a:solidFill>
          <a:ln/>
        </p:spPr>
      </p:sp>
      <p:sp>
        <p:nvSpPr>
          <p:cNvPr id="57" name="Text 54"/>
          <p:cNvSpPr txBox="1"/>
          <p:nvPr/>
        </p:nvSpPr>
        <p:spPr>
          <a:xfrm>
            <a:off x="685800" y="411480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tile · tile_x, tile_y</a:t>
            </a:r>
            <a:endParaRPr lang="en-US" sz="900" dirty="0"/>
          </a:p>
        </p:txBody>
      </p:sp>
      <p:sp>
        <p:nvSpPr>
          <p:cNvPr id="58" name="Text 55"/>
          <p:cNvSpPr txBox="1"/>
          <p:nvPr/>
        </p:nvSpPr>
        <p:spPr>
          <a:xfrm>
            <a:off x="2697480" y="411480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WKT geometry · centroid</a:t>
            </a:r>
            <a:endParaRPr lang="en-US" sz="1000" dirty="0"/>
          </a:p>
        </p:txBody>
      </p:sp>
      <p:sp>
        <p:nvSpPr>
          <p:cNvPr id="59" name="Text 56"/>
          <p:cNvSpPr txBox="1"/>
          <p:nvPr/>
        </p:nvSpPr>
        <p:spPr>
          <a:xfrm>
            <a:off x="4343400" y="411480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centroid from Q3 2023</a:t>
            </a:r>
            <a:endParaRPr lang="en-US" sz="900" dirty="0"/>
          </a:p>
        </p:txBody>
      </p:sp>
      <p:sp>
        <p:nvSpPr>
          <p:cNvPr id="60" name="Shape 57"/>
          <p:cNvSpPr/>
          <p:nvPr/>
        </p:nvSpPr>
        <p:spPr>
          <a:xfrm>
            <a:off x="6080760" y="1371600"/>
            <a:ext cx="2606040" cy="896112"/>
          </a:xfrm>
          <a:prstGeom prst="roundRect">
            <a:avLst>
              <a:gd name="adj" fmla="val 8163"/>
            </a:avLst>
          </a:prstGeom>
          <a:solidFill>
            <a:srgbClr val="D49A00">
              <a:alpha val="13000"/>
            </a:srgbClr>
          </a:solidFill>
          <a:ln w="12700">
            <a:solidFill>
              <a:srgbClr val="D49A00"/>
            </a:solidFill>
            <a:prstDash val="solid"/>
          </a:ln>
        </p:spPr>
      </p:sp>
      <p:pic>
        <p:nvPicPr>
          <p:cNvPr id="61" name="Image 0" descr="preencoded.png"/>
          <p:cNvPicPr>
            <a:picLocks noChangeAspect="1"/>
          </p:cNvPicPr>
          <p:nvPr/>
        </p:nvPicPr>
        <p:blipFill>
          <a:blip r:embed="rId3"/>
          <a:stretch>
            <a:fillRect/>
          </a:stretch>
        </p:blipFill>
        <p:spPr>
          <a:xfrm>
            <a:off x="6217920" y="1481328"/>
            <a:ext cx="219456" cy="219456"/>
          </a:xfrm>
          <a:prstGeom prst="rect">
            <a:avLst/>
          </a:prstGeom>
        </p:spPr>
      </p:pic>
      <p:sp>
        <p:nvSpPr>
          <p:cNvPr id="62" name="Text 58"/>
          <p:cNvSpPr txBox="1"/>
          <p:nvPr/>
        </p:nvSpPr>
        <p:spPr>
          <a:xfrm>
            <a:off x="6510528" y="1463040"/>
            <a:ext cx="201168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Unit trap</a:t>
            </a:r>
            <a:endParaRPr lang="en-US" sz="1200" dirty="0"/>
          </a:p>
        </p:txBody>
      </p:sp>
      <p:sp>
        <p:nvSpPr>
          <p:cNvPr id="63" name="Text 59"/>
          <p:cNvSpPr txBox="1"/>
          <p:nvPr/>
        </p:nvSpPr>
        <p:spPr>
          <a:xfrm>
            <a:off x="6217920" y="1755648"/>
            <a:ext cx="2377440" cy="47548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Speeds are in kbps. 25 000 kbps = 25 Mbps.</a:t>
            </a:r>
            <a:endParaRPr lang="en-US" sz="1000" dirty="0"/>
          </a:p>
        </p:txBody>
      </p:sp>
      <p:sp>
        <p:nvSpPr>
          <p:cNvPr id="64" name="Shape 60"/>
          <p:cNvSpPr/>
          <p:nvPr/>
        </p:nvSpPr>
        <p:spPr>
          <a:xfrm>
            <a:off x="6080760" y="2395728"/>
            <a:ext cx="2606040" cy="896112"/>
          </a:xfrm>
          <a:prstGeom prst="roundRect">
            <a:avLst>
              <a:gd name="adj" fmla="val 8163"/>
            </a:avLst>
          </a:prstGeom>
          <a:solidFill>
            <a:srgbClr val="D49A00">
              <a:alpha val="13000"/>
            </a:srgbClr>
          </a:solidFill>
          <a:ln w="12700">
            <a:solidFill>
              <a:srgbClr val="D49A00"/>
            </a:solidFill>
            <a:prstDash val="solid"/>
          </a:ln>
        </p:spPr>
      </p:sp>
      <p:pic>
        <p:nvPicPr>
          <p:cNvPr id="65" name="Image 1" descr="preencoded.png"/>
          <p:cNvPicPr>
            <a:picLocks noChangeAspect="1"/>
          </p:cNvPicPr>
          <p:nvPr/>
        </p:nvPicPr>
        <p:blipFill>
          <a:blip r:embed="rId3"/>
          <a:stretch>
            <a:fillRect/>
          </a:stretch>
        </p:blipFill>
        <p:spPr>
          <a:xfrm>
            <a:off x="6217920" y="2505456"/>
            <a:ext cx="219456" cy="219456"/>
          </a:xfrm>
          <a:prstGeom prst="rect">
            <a:avLst/>
          </a:prstGeom>
        </p:spPr>
      </p:pic>
      <p:sp>
        <p:nvSpPr>
          <p:cNvPr id="66" name="Text 61"/>
          <p:cNvSpPr txBox="1"/>
          <p:nvPr/>
        </p:nvSpPr>
        <p:spPr>
          <a:xfrm>
            <a:off x="6510528" y="2487168"/>
            <a:ext cx="201168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Statistic trap</a:t>
            </a:r>
            <a:endParaRPr lang="en-US" sz="1200" dirty="0"/>
          </a:p>
        </p:txBody>
      </p:sp>
      <p:sp>
        <p:nvSpPr>
          <p:cNvPr id="67" name="Text 62"/>
          <p:cNvSpPr txBox="1"/>
          <p:nvPr/>
        </p:nvSpPr>
        <p:spPr>
          <a:xfrm>
            <a:off x="6217920" y="2779776"/>
            <a:ext cx="2377440" cy="47548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Tile values are means. The Speedtest Global Index reports medians: never mix them.</a:t>
            </a:r>
            <a:endParaRPr lang="en-US" sz="1000" dirty="0"/>
          </a:p>
        </p:txBody>
      </p:sp>
      <p:sp>
        <p:nvSpPr>
          <p:cNvPr id="68" name="Shape 63"/>
          <p:cNvSpPr/>
          <p:nvPr/>
        </p:nvSpPr>
        <p:spPr>
          <a:xfrm>
            <a:off x="6080760" y="3419856"/>
            <a:ext cx="2606040" cy="896112"/>
          </a:xfrm>
          <a:prstGeom prst="roundRect">
            <a:avLst>
              <a:gd name="adj" fmla="val 8163"/>
            </a:avLst>
          </a:prstGeom>
          <a:solidFill>
            <a:srgbClr val="D49A00">
              <a:alpha val="13000"/>
            </a:srgbClr>
          </a:solidFill>
          <a:ln w="12700">
            <a:solidFill>
              <a:srgbClr val="D49A00"/>
            </a:solidFill>
            <a:prstDash val="solid"/>
          </a:ln>
        </p:spPr>
      </p:sp>
      <p:pic>
        <p:nvPicPr>
          <p:cNvPr id="69" name="Image 2" descr="preencoded.png"/>
          <p:cNvPicPr>
            <a:picLocks noChangeAspect="1"/>
          </p:cNvPicPr>
          <p:nvPr/>
        </p:nvPicPr>
        <p:blipFill>
          <a:blip r:embed="rId3"/>
          <a:stretch>
            <a:fillRect/>
          </a:stretch>
        </p:blipFill>
        <p:spPr>
          <a:xfrm>
            <a:off x="6217920" y="3529584"/>
            <a:ext cx="219456" cy="219456"/>
          </a:xfrm>
          <a:prstGeom prst="rect">
            <a:avLst/>
          </a:prstGeom>
        </p:spPr>
      </p:pic>
      <p:sp>
        <p:nvSpPr>
          <p:cNvPr id="70" name="Text 64"/>
          <p:cNvSpPr txBox="1"/>
          <p:nvPr/>
        </p:nvSpPr>
        <p:spPr>
          <a:xfrm>
            <a:off x="6510528" y="3511296"/>
            <a:ext cx="201168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Sample trap</a:t>
            </a:r>
            <a:endParaRPr lang="en-US" sz="1200" dirty="0"/>
          </a:p>
        </p:txBody>
      </p:sp>
      <p:sp>
        <p:nvSpPr>
          <p:cNvPr id="71" name="Text 65"/>
          <p:cNvSpPr txBox="1"/>
          <p:nvPr/>
        </p:nvSpPr>
        <p:spPr>
          <a:xfrm>
            <a:off x="6217920" y="3803904"/>
            <a:ext cx="2377440" cy="47548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Always read tests and devices before the speed. Set and state a minimum.</a:t>
            </a:r>
            <a:endParaRPr lang="en-US" sz="1000" dirty="0"/>
          </a:p>
        </p:txBody>
      </p:sp>
      <p:sp>
        <p:nvSpPr>
          <p:cNvPr id="72" name="Text 66"/>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teamookla/ookla-open-data README (Attributes). Loaded-latency fields added 23 Feb 2023; centroids 1 Jul 2023.</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STRUCTURE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Two layers, distributed as separate files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371600"/>
            <a:ext cx="402336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640080" y="1508760"/>
            <a:ext cx="493776" cy="493776"/>
          </a:xfrm>
          <a:prstGeom prst="ellipse">
            <a:avLst/>
          </a:prstGeom>
          <a:solidFill>
            <a:srgbClr val="0E7C86">
              <a:alpha val="22000"/>
            </a:srgbClr>
          </a:solidFill>
          <a:ln/>
        </p:spPr>
      </p:sp>
      <p:pic>
        <p:nvPicPr>
          <p:cNvPr id="19" name="Image 0" descr="preencoded.png"/>
          <p:cNvPicPr>
            <a:picLocks noChangeAspect="1"/>
          </p:cNvPicPr>
          <p:nvPr/>
        </p:nvPicPr>
        <p:blipFill>
          <a:blip r:embed="rId3"/>
          <a:stretch>
            <a:fillRect/>
          </a:stretch>
        </p:blipFill>
        <p:spPr>
          <a:xfrm>
            <a:off x="758586" y="1627266"/>
            <a:ext cx="256764" cy="256764"/>
          </a:xfrm>
          <a:prstGeom prst="rect">
            <a:avLst/>
          </a:prstGeom>
        </p:spPr>
      </p:pic>
      <p:sp>
        <p:nvSpPr>
          <p:cNvPr id="20" name="Text 16"/>
          <p:cNvSpPr txBox="1"/>
          <p:nvPr/>
        </p:nvSpPr>
        <p:spPr>
          <a:xfrm>
            <a:off x="1280160" y="1517904"/>
            <a:ext cx="3017520" cy="256032"/>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Fixed broadband</a:t>
            </a:r>
            <a:endParaRPr lang="en-US" sz="1500" dirty="0"/>
          </a:p>
        </p:txBody>
      </p:sp>
      <p:sp>
        <p:nvSpPr>
          <p:cNvPr id="21" name="Text 17"/>
          <p:cNvSpPr txBox="1"/>
          <p:nvPr/>
        </p:nvSpPr>
        <p:spPr>
          <a:xfrm>
            <a:off x="1280160" y="1783080"/>
            <a:ext cx="3017520" cy="219456"/>
          </a:xfrm>
          <a:prstGeom prst="rect">
            <a:avLst/>
          </a:prstGeom>
          <a:noFill/>
          <a:ln/>
        </p:spPr>
        <p:txBody>
          <a:bodyPr wrap="square" lIns="0" tIns="0" rIns="0" bIns="0" rtlCol="0" anchor="t"/>
          <a:lstStyle/>
          <a:p>
            <a:pPr marL="0" indent="0">
              <a:buNone/>
            </a:pPr>
            <a:r>
              <a:rPr lang="en-US" sz="1000" b="1" dirty="0">
                <a:solidFill>
                  <a:srgbClr val="0E7C86"/>
                </a:solidFill>
                <a:latin typeface="Courier New" pitchFamily="34" charset="0"/>
                <a:ea typeface="Courier New" pitchFamily="34" charset="-122"/>
                <a:cs typeface="Courier New" pitchFamily="34" charset="-120"/>
              </a:rPr>
              <a:t>performance_fixed_tiles</a:t>
            </a:r>
            <a:endParaRPr lang="en-US" sz="1000" dirty="0"/>
          </a:p>
        </p:txBody>
      </p:sp>
      <p:sp>
        <p:nvSpPr>
          <p:cNvPr id="22" name="Text 18"/>
          <p:cNvSpPr txBox="1"/>
          <p:nvPr/>
        </p:nvSpPr>
        <p:spPr>
          <a:xfrm>
            <a:off x="685800" y="2194560"/>
            <a:ext cx="3611880" cy="14173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Tests over Wi-Fi or Ethernet</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Proxy for home and office broadband</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Caution: on Wi-Fi you partly measure the local router, not the access line</a:t>
            </a:r>
            <a:endParaRPr lang="en-US" sz="1250" dirty="0"/>
          </a:p>
        </p:txBody>
      </p:sp>
      <p:sp>
        <p:nvSpPr>
          <p:cNvPr id="23" name="Shape 19"/>
          <p:cNvSpPr/>
          <p:nvPr/>
        </p:nvSpPr>
        <p:spPr>
          <a:xfrm>
            <a:off x="4663440" y="1371600"/>
            <a:ext cx="4023360" cy="2331720"/>
          </a:xfrm>
          <a:prstGeom prst="roundRect">
            <a:avLst>
              <a:gd name="adj" fmla="val 3137"/>
            </a:avLst>
          </a:prstGeom>
          <a:solidFill>
            <a:srgbClr val="F4F7F5"/>
          </a:solidFill>
          <a:ln w="9525">
            <a:solidFill>
              <a:srgbClr val="D5DED9"/>
            </a:solidFill>
            <a:prstDash val="solid"/>
          </a:ln>
        </p:spPr>
      </p:sp>
      <p:sp>
        <p:nvSpPr>
          <p:cNvPr id="24" name="Shape 20"/>
          <p:cNvSpPr/>
          <p:nvPr/>
        </p:nvSpPr>
        <p:spPr>
          <a:xfrm>
            <a:off x="4846320" y="1508760"/>
            <a:ext cx="493776" cy="493776"/>
          </a:xfrm>
          <a:prstGeom prst="ellipse">
            <a:avLst/>
          </a:prstGeom>
          <a:solidFill>
            <a:srgbClr val="00A86A">
              <a:alpha val="22000"/>
            </a:srgbClr>
          </a:solidFill>
          <a:ln/>
        </p:spPr>
      </p:sp>
      <p:pic>
        <p:nvPicPr>
          <p:cNvPr id="25" name="Image 1" descr="preencoded.png"/>
          <p:cNvPicPr>
            <a:picLocks noChangeAspect="1"/>
          </p:cNvPicPr>
          <p:nvPr/>
        </p:nvPicPr>
        <p:blipFill>
          <a:blip r:embed="rId4"/>
          <a:stretch>
            <a:fillRect/>
          </a:stretch>
        </p:blipFill>
        <p:spPr>
          <a:xfrm>
            <a:off x="4964826" y="1627266"/>
            <a:ext cx="256764" cy="256764"/>
          </a:xfrm>
          <a:prstGeom prst="rect">
            <a:avLst/>
          </a:prstGeom>
        </p:spPr>
      </p:pic>
      <p:sp>
        <p:nvSpPr>
          <p:cNvPr id="26" name="Text 21"/>
          <p:cNvSpPr txBox="1"/>
          <p:nvPr/>
        </p:nvSpPr>
        <p:spPr>
          <a:xfrm>
            <a:off x="5486400" y="1517904"/>
            <a:ext cx="3017520" cy="256032"/>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Mobile (cellular)</a:t>
            </a:r>
            <a:endParaRPr lang="en-US" sz="1500" dirty="0"/>
          </a:p>
        </p:txBody>
      </p:sp>
      <p:sp>
        <p:nvSpPr>
          <p:cNvPr id="27" name="Text 22"/>
          <p:cNvSpPr txBox="1"/>
          <p:nvPr/>
        </p:nvSpPr>
        <p:spPr>
          <a:xfrm>
            <a:off x="5486400" y="1783080"/>
            <a:ext cx="3017520" cy="219456"/>
          </a:xfrm>
          <a:prstGeom prst="rect">
            <a:avLst/>
          </a:prstGeom>
          <a:noFill/>
          <a:ln/>
        </p:spPr>
        <p:txBody>
          <a:bodyPr wrap="square" lIns="0" tIns="0" rIns="0" bIns="0" rtlCol="0" anchor="t"/>
          <a:lstStyle/>
          <a:p>
            <a:pPr marL="0" indent="0">
              <a:buNone/>
            </a:pPr>
            <a:r>
              <a:rPr lang="en-US" sz="1000" b="1" dirty="0">
                <a:solidFill>
                  <a:srgbClr val="00A86A"/>
                </a:solidFill>
                <a:latin typeface="Courier New" pitchFamily="34" charset="0"/>
                <a:ea typeface="Courier New" pitchFamily="34" charset="-122"/>
                <a:cs typeface="Courier New" pitchFamily="34" charset="-120"/>
              </a:rPr>
              <a:t>performance_mobile_tiles</a:t>
            </a:r>
            <a:endParaRPr lang="en-US" sz="1000" dirty="0"/>
          </a:p>
        </p:txBody>
      </p:sp>
      <p:sp>
        <p:nvSpPr>
          <p:cNvPr id="28" name="Text 23"/>
          <p:cNvSpPr txBox="1"/>
          <p:nvPr/>
        </p:nvSpPr>
        <p:spPr>
          <a:xfrm>
            <a:off x="4892040" y="2194560"/>
            <a:ext cx="3611880" cy="14173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Tests over 4G LTE, 5G NR and other cellular technologies</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Proxy for experience where people actually are</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Sensitive to indoor reception, cell load and time of day</a:t>
            </a:r>
            <a:endParaRPr lang="en-US" sz="1250" dirty="0"/>
          </a:p>
        </p:txBody>
      </p:sp>
      <p:sp>
        <p:nvSpPr>
          <p:cNvPr id="29" name="Shape 24"/>
          <p:cNvSpPr/>
          <p:nvPr/>
        </p:nvSpPr>
        <p:spPr>
          <a:xfrm>
            <a:off x="457200" y="3840480"/>
            <a:ext cx="8229600" cy="640080"/>
          </a:xfrm>
          <a:prstGeom prst="roundRect">
            <a:avLst>
              <a:gd name="adj" fmla="val 11429"/>
            </a:avLst>
          </a:prstGeom>
          <a:solidFill>
            <a:srgbClr val="E8F5EF"/>
          </a:solidFill>
          <a:ln w="15875">
            <a:solidFill>
              <a:srgbClr val="00A86A"/>
            </a:solidFill>
            <a:prstDash val="solid"/>
          </a:ln>
        </p:spPr>
      </p:sp>
      <p:sp>
        <p:nvSpPr>
          <p:cNvPr id="30" name="Shape 25"/>
          <p:cNvSpPr/>
          <p:nvPr/>
        </p:nvSpPr>
        <p:spPr>
          <a:xfrm>
            <a:off x="594360" y="3950208"/>
            <a:ext cx="420624" cy="420624"/>
          </a:xfrm>
          <a:prstGeom prst="ellipse">
            <a:avLst/>
          </a:prstGeom>
          <a:solidFill>
            <a:srgbClr val="00704A">
              <a:alpha val="22000"/>
            </a:srgbClr>
          </a:solidFill>
          <a:ln/>
        </p:spPr>
      </p:sp>
      <p:pic>
        <p:nvPicPr>
          <p:cNvPr id="31" name="Image 2" descr="preencoded.png"/>
          <p:cNvPicPr>
            <a:picLocks noChangeAspect="1"/>
          </p:cNvPicPr>
          <p:nvPr/>
        </p:nvPicPr>
        <p:blipFill>
          <a:blip r:embed="rId5"/>
          <a:stretch>
            <a:fillRect/>
          </a:stretch>
        </p:blipFill>
        <p:spPr>
          <a:xfrm>
            <a:off x="695310" y="4051158"/>
            <a:ext cx="218724" cy="218724"/>
          </a:xfrm>
          <a:prstGeom prst="rect">
            <a:avLst/>
          </a:prstGeom>
        </p:spPr>
      </p:pic>
      <p:sp>
        <p:nvSpPr>
          <p:cNvPr id="32" name="Text 26"/>
          <p:cNvSpPr txBox="1"/>
          <p:nvPr/>
        </p:nvSpPr>
        <p:spPr>
          <a:xfrm>
            <a:off x="1143000" y="3840480"/>
            <a:ext cx="7406640" cy="640080"/>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File naming: </a:t>
            </a:r>
            <a:r>
              <a:rPr lang="en-US" sz="1200" dirty="0">
                <a:solidFill>
                  <a:srgbClr val="231F20"/>
                </a:solidFill>
                <a:latin typeface="Calibri" pitchFamily="34" charset="0"/>
                <a:ea typeface="Calibri" pitchFamily="34" charset="-122"/>
                <a:cs typeface="Calibri" pitchFamily="34" charset="-120"/>
              </a:rPr>
              <a:t>files are named by the first day of the quarter, e.g. </a:t>
            </a:r>
            <a:r>
              <a:rPr lang="en-US" sz="1050" dirty="0">
                <a:solidFill>
                  <a:srgbClr val="231F20"/>
                </a:solidFill>
                <a:latin typeface="Courier New" pitchFamily="34" charset="0"/>
                <a:ea typeface="Courier New" pitchFamily="34" charset="-122"/>
                <a:cs typeface="Courier New" pitchFamily="34" charset="-120"/>
              </a:rPr>
              <a:t>2025-10-01_performance_mobile_tiles.parquet</a:t>
            </a:r>
            <a:r>
              <a:rPr lang="en-US" sz="1200" dirty="0">
                <a:solidFill>
                  <a:srgbClr val="231F20"/>
                </a:solidFill>
                <a:latin typeface="Calibri" pitchFamily="34" charset="0"/>
                <a:ea typeface="Calibri" pitchFamily="34" charset="-122"/>
                <a:cs typeface="Calibri" pitchFamily="34" charset="-120"/>
              </a:rPr>
              <a:t> = Q4 2025.</a:t>
            </a:r>
            <a:endParaRPr lang="en-US" sz="1200" dirty="0"/>
          </a:p>
        </p:txBody>
      </p:sp>
      <p:sp>
        <p:nvSpPr>
          <p:cNvPr id="33" name="Text 27"/>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teamookla/ookla-open-data README.</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COVERAGE AND CADENCE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Seven years of quarters, and what changed</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7" name="Shape 14"/>
          <p:cNvSpPr/>
          <p:nvPr/>
        </p:nvSpPr>
        <p:spPr>
          <a:xfrm>
            <a:off x="822960" y="1828800"/>
            <a:ext cx="7498080" cy="0"/>
          </a:xfrm>
          <a:prstGeom prst="line">
            <a:avLst/>
          </a:prstGeom>
          <a:noFill/>
          <a:ln w="31750">
            <a:solidFill>
              <a:srgbClr val="D5DED9"/>
            </a:solidFill>
            <a:prstDash val="solid"/>
          </a:ln>
        </p:spPr>
      </p:sp>
      <p:sp>
        <p:nvSpPr>
          <p:cNvPr id="18" name="Shape 15"/>
          <p:cNvSpPr/>
          <p:nvPr/>
        </p:nvSpPr>
        <p:spPr>
          <a:xfrm>
            <a:off x="731520" y="1691640"/>
            <a:ext cx="274320" cy="274320"/>
          </a:xfrm>
          <a:prstGeom prst="ellipse">
            <a:avLst/>
          </a:prstGeom>
          <a:solidFill>
            <a:srgbClr val="00704A"/>
          </a:solidFill>
          <a:ln w="25400">
            <a:solidFill>
              <a:srgbClr val="FFFFFF"/>
            </a:solidFill>
            <a:prstDash val="solid"/>
          </a:ln>
        </p:spPr>
      </p:sp>
      <p:sp>
        <p:nvSpPr>
          <p:cNvPr id="19" name="Text 16"/>
          <p:cNvSpPr txBox="1"/>
          <p:nvPr/>
        </p:nvSpPr>
        <p:spPr>
          <a:xfrm>
            <a:off x="365760" y="1325880"/>
            <a:ext cx="1005840" cy="274320"/>
          </a:xfrm>
          <a:prstGeom prst="rect">
            <a:avLst/>
          </a:prstGeom>
          <a:noFill/>
          <a:ln/>
        </p:spPr>
        <p:txBody>
          <a:bodyPr wrap="square" lIns="0" tIns="0" rIns="0" bIns="0" rtlCol="0" anchor="t"/>
          <a:lstStyle/>
          <a:p>
            <a:pPr marL="0" indent="0" algn="ctr">
              <a:buNone/>
            </a:pPr>
            <a:r>
              <a:rPr lang="en-US" sz="1300" b="1" dirty="0">
                <a:solidFill>
                  <a:srgbClr val="00704A"/>
                </a:solidFill>
                <a:latin typeface="Calibri" pitchFamily="34" charset="0"/>
                <a:ea typeface="Calibri" pitchFamily="34" charset="-122"/>
                <a:cs typeface="Calibri" pitchFamily="34" charset="-120"/>
              </a:rPr>
              <a:t>Q1 2019</a:t>
            </a:r>
            <a:endParaRPr lang="en-US" sz="1300" dirty="0"/>
          </a:p>
        </p:txBody>
      </p:sp>
      <p:sp>
        <p:nvSpPr>
          <p:cNvPr id="20" name="Shape 17"/>
          <p:cNvSpPr/>
          <p:nvPr/>
        </p:nvSpPr>
        <p:spPr>
          <a:xfrm>
            <a:off x="411480" y="2148840"/>
            <a:ext cx="1554480" cy="914400"/>
          </a:xfrm>
          <a:prstGeom prst="roundRect">
            <a:avLst>
              <a:gd name="adj" fmla="val 8000"/>
            </a:avLst>
          </a:prstGeom>
          <a:solidFill>
            <a:srgbClr val="F4F7F5"/>
          </a:solidFill>
          <a:ln w="9525">
            <a:solidFill>
              <a:srgbClr val="D5DED9"/>
            </a:solidFill>
            <a:prstDash val="solid"/>
          </a:ln>
        </p:spPr>
      </p:sp>
      <p:sp>
        <p:nvSpPr>
          <p:cNvPr id="21" name="Text 18"/>
          <p:cNvSpPr txBox="1"/>
          <p:nvPr/>
        </p:nvSpPr>
        <p:spPr>
          <a:xfrm>
            <a:off x="521208" y="224028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First quarter published; continuous series since</a:t>
            </a:r>
            <a:endParaRPr lang="en-US" sz="1000" dirty="0"/>
          </a:p>
        </p:txBody>
      </p:sp>
      <p:sp>
        <p:nvSpPr>
          <p:cNvPr id="22" name="Shape 19"/>
          <p:cNvSpPr/>
          <p:nvPr/>
        </p:nvSpPr>
        <p:spPr>
          <a:xfrm>
            <a:off x="2423160" y="1691640"/>
            <a:ext cx="274320" cy="274320"/>
          </a:xfrm>
          <a:prstGeom prst="ellipse">
            <a:avLst/>
          </a:prstGeom>
          <a:solidFill>
            <a:srgbClr val="00704A"/>
          </a:solidFill>
          <a:ln w="25400">
            <a:solidFill>
              <a:srgbClr val="FFFFFF"/>
            </a:solidFill>
            <a:prstDash val="solid"/>
          </a:ln>
        </p:spPr>
      </p:sp>
      <p:sp>
        <p:nvSpPr>
          <p:cNvPr id="23" name="Text 20"/>
          <p:cNvSpPr txBox="1"/>
          <p:nvPr/>
        </p:nvSpPr>
        <p:spPr>
          <a:xfrm>
            <a:off x="2057400" y="1325880"/>
            <a:ext cx="1005840" cy="274320"/>
          </a:xfrm>
          <a:prstGeom prst="rect">
            <a:avLst/>
          </a:prstGeom>
          <a:noFill/>
          <a:ln/>
        </p:spPr>
        <p:txBody>
          <a:bodyPr wrap="square" lIns="0" tIns="0" rIns="0" bIns="0" rtlCol="0" anchor="t"/>
          <a:lstStyle/>
          <a:p>
            <a:pPr marL="0" indent="0" algn="ctr">
              <a:buNone/>
            </a:pPr>
            <a:r>
              <a:rPr lang="en-US" sz="1300" b="1" dirty="0">
                <a:solidFill>
                  <a:srgbClr val="00704A"/>
                </a:solidFill>
                <a:latin typeface="Calibri" pitchFamily="34" charset="0"/>
                <a:ea typeface="Calibri" pitchFamily="34" charset="-122"/>
                <a:cs typeface="Calibri" pitchFamily="34" charset="-120"/>
              </a:rPr>
              <a:t>Feb 2023</a:t>
            </a:r>
            <a:endParaRPr lang="en-US" sz="1300" dirty="0"/>
          </a:p>
        </p:txBody>
      </p:sp>
      <p:sp>
        <p:nvSpPr>
          <p:cNvPr id="24" name="Shape 21"/>
          <p:cNvSpPr/>
          <p:nvPr/>
        </p:nvSpPr>
        <p:spPr>
          <a:xfrm>
            <a:off x="2103120" y="2148840"/>
            <a:ext cx="1554480" cy="914400"/>
          </a:xfrm>
          <a:prstGeom prst="roundRect">
            <a:avLst>
              <a:gd name="adj" fmla="val 8000"/>
            </a:avLst>
          </a:prstGeom>
          <a:solidFill>
            <a:srgbClr val="F4F7F5"/>
          </a:solidFill>
          <a:ln w="9525">
            <a:solidFill>
              <a:srgbClr val="D5DED9"/>
            </a:solidFill>
            <a:prstDash val="solid"/>
          </a:ln>
        </p:spPr>
      </p:sp>
      <p:sp>
        <p:nvSpPr>
          <p:cNvPr id="25" name="Text 22"/>
          <p:cNvSpPr txBox="1"/>
          <p:nvPr/>
        </p:nvSpPr>
        <p:spPr>
          <a:xfrm>
            <a:off x="2212848" y="224028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Latency-under-load fields added (Parquet only)</a:t>
            </a:r>
            <a:endParaRPr lang="en-US" sz="1000" dirty="0"/>
          </a:p>
        </p:txBody>
      </p:sp>
      <p:sp>
        <p:nvSpPr>
          <p:cNvPr id="26" name="Shape 23"/>
          <p:cNvSpPr/>
          <p:nvPr/>
        </p:nvSpPr>
        <p:spPr>
          <a:xfrm>
            <a:off x="4114800" y="1691640"/>
            <a:ext cx="274320" cy="274320"/>
          </a:xfrm>
          <a:prstGeom prst="ellipse">
            <a:avLst/>
          </a:prstGeom>
          <a:solidFill>
            <a:srgbClr val="00704A"/>
          </a:solidFill>
          <a:ln w="25400">
            <a:solidFill>
              <a:srgbClr val="FFFFFF"/>
            </a:solidFill>
            <a:prstDash val="solid"/>
          </a:ln>
        </p:spPr>
      </p:sp>
      <p:sp>
        <p:nvSpPr>
          <p:cNvPr id="27" name="Text 24"/>
          <p:cNvSpPr txBox="1"/>
          <p:nvPr/>
        </p:nvSpPr>
        <p:spPr>
          <a:xfrm>
            <a:off x="3749040" y="1325880"/>
            <a:ext cx="1005840" cy="274320"/>
          </a:xfrm>
          <a:prstGeom prst="rect">
            <a:avLst/>
          </a:prstGeom>
          <a:noFill/>
          <a:ln/>
        </p:spPr>
        <p:txBody>
          <a:bodyPr wrap="square" lIns="0" tIns="0" rIns="0" bIns="0" rtlCol="0" anchor="t"/>
          <a:lstStyle/>
          <a:p>
            <a:pPr marL="0" indent="0" algn="ctr">
              <a:buNone/>
            </a:pPr>
            <a:r>
              <a:rPr lang="en-US" sz="1300" b="1" dirty="0">
                <a:solidFill>
                  <a:srgbClr val="00704A"/>
                </a:solidFill>
                <a:latin typeface="Calibri" pitchFamily="34" charset="0"/>
                <a:ea typeface="Calibri" pitchFamily="34" charset="-122"/>
                <a:cs typeface="Calibri" pitchFamily="34" charset="-120"/>
              </a:rPr>
              <a:t>Jul 2023</a:t>
            </a:r>
            <a:endParaRPr lang="en-US" sz="1300" dirty="0"/>
          </a:p>
        </p:txBody>
      </p:sp>
      <p:sp>
        <p:nvSpPr>
          <p:cNvPr id="28" name="Shape 25"/>
          <p:cNvSpPr/>
          <p:nvPr/>
        </p:nvSpPr>
        <p:spPr>
          <a:xfrm>
            <a:off x="3794760" y="2148840"/>
            <a:ext cx="1554480" cy="914400"/>
          </a:xfrm>
          <a:prstGeom prst="roundRect">
            <a:avLst>
              <a:gd name="adj" fmla="val 8000"/>
            </a:avLst>
          </a:prstGeom>
          <a:solidFill>
            <a:srgbClr val="F4F7F5"/>
          </a:solidFill>
          <a:ln w="9525">
            <a:solidFill>
              <a:srgbClr val="D5DED9"/>
            </a:solidFill>
            <a:prstDash val="solid"/>
          </a:ln>
        </p:spPr>
      </p:sp>
      <p:sp>
        <p:nvSpPr>
          <p:cNvPr id="29" name="Text 26"/>
          <p:cNvSpPr txBox="1"/>
          <p:nvPr/>
        </p:nvSpPr>
        <p:spPr>
          <a:xfrm>
            <a:off x="3904488" y="224028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Tile centroid coordinates tile_x, tile_y added</a:t>
            </a:r>
            <a:endParaRPr lang="en-US" sz="1000" dirty="0"/>
          </a:p>
        </p:txBody>
      </p:sp>
      <p:sp>
        <p:nvSpPr>
          <p:cNvPr id="30" name="Shape 27"/>
          <p:cNvSpPr/>
          <p:nvPr/>
        </p:nvSpPr>
        <p:spPr>
          <a:xfrm>
            <a:off x="5806440" y="1691640"/>
            <a:ext cx="274320" cy="274320"/>
          </a:xfrm>
          <a:prstGeom prst="ellipse">
            <a:avLst/>
          </a:prstGeom>
          <a:solidFill>
            <a:srgbClr val="B83B2E"/>
          </a:solidFill>
          <a:ln w="25400">
            <a:solidFill>
              <a:srgbClr val="FFFFFF"/>
            </a:solidFill>
            <a:prstDash val="solid"/>
          </a:ln>
        </p:spPr>
      </p:sp>
      <p:sp>
        <p:nvSpPr>
          <p:cNvPr id="31" name="Text 28"/>
          <p:cNvSpPr txBox="1"/>
          <p:nvPr/>
        </p:nvSpPr>
        <p:spPr>
          <a:xfrm>
            <a:off x="5440680" y="1325880"/>
            <a:ext cx="1005840" cy="274320"/>
          </a:xfrm>
          <a:prstGeom prst="rect">
            <a:avLst/>
          </a:prstGeom>
          <a:noFill/>
          <a:ln/>
        </p:spPr>
        <p:txBody>
          <a:bodyPr wrap="square" lIns="0" tIns="0" rIns="0" bIns="0" rtlCol="0" anchor="t"/>
          <a:lstStyle/>
          <a:p>
            <a:pPr marL="0" indent="0" algn="ctr">
              <a:buNone/>
            </a:pPr>
            <a:r>
              <a:rPr lang="en-US" sz="1300" b="1" dirty="0">
                <a:solidFill>
                  <a:srgbClr val="B83B2E"/>
                </a:solidFill>
                <a:latin typeface="Calibri" pitchFamily="34" charset="0"/>
                <a:ea typeface="Calibri" pitchFamily="34" charset="-122"/>
                <a:cs typeface="Calibri" pitchFamily="34" charset="-120"/>
              </a:rPr>
              <a:t>Apr 2026</a:t>
            </a:r>
            <a:endParaRPr lang="en-US" sz="1300" dirty="0"/>
          </a:p>
        </p:txBody>
      </p:sp>
      <p:sp>
        <p:nvSpPr>
          <p:cNvPr id="32" name="Shape 29"/>
          <p:cNvSpPr/>
          <p:nvPr/>
        </p:nvSpPr>
        <p:spPr>
          <a:xfrm>
            <a:off x="5486400" y="2148840"/>
            <a:ext cx="1554480" cy="914400"/>
          </a:xfrm>
          <a:prstGeom prst="roundRect">
            <a:avLst>
              <a:gd name="adj" fmla="val 8000"/>
            </a:avLst>
          </a:prstGeom>
          <a:solidFill>
            <a:srgbClr val="FBEDEB"/>
          </a:solidFill>
          <a:ln w="15875">
            <a:solidFill>
              <a:srgbClr val="B83B2E"/>
            </a:solidFill>
            <a:prstDash val="solid"/>
          </a:ln>
        </p:spPr>
      </p:sp>
      <p:sp>
        <p:nvSpPr>
          <p:cNvPr id="33" name="Text 30"/>
          <p:cNvSpPr txBox="1"/>
          <p:nvPr/>
        </p:nvSpPr>
        <p:spPr>
          <a:xfrm>
            <a:off x="5596128" y="224028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Supported regions updated: some areas removed</a:t>
            </a:r>
            <a:endParaRPr lang="en-US" sz="1000" dirty="0"/>
          </a:p>
        </p:txBody>
      </p:sp>
      <p:sp>
        <p:nvSpPr>
          <p:cNvPr id="34" name="Shape 31"/>
          <p:cNvSpPr/>
          <p:nvPr/>
        </p:nvSpPr>
        <p:spPr>
          <a:xfrm>
            <a:off x="7498080" y="1691640"/>
            <a:ext cx="274320" cy="274320"/>
          </a:xfrm>
          <a:prstGeom prst="ellipse">
            <a:avLst/>
          </a:prstGeom>
          <a:solidFill>
            <a:srgbClr val="00704A"/>
          </a:solidFill>
          <a:ln w="25400">
            <a:solidFill>
              <a:srgbClr val="FFFFFF"/>
            </a:solidFill>
            <a:prstDash val="solid"/>
          </a:ln>
        </p:spPr>
      </p:sp>
      <p:sp>
        <p:nvSpPr>
          <p:cNvPr id="35" name="Text 32"/>
          <p:cNvSpPr txBox="1"/>
          <p:nvPr/>
        </p:nvSpPr>
        <p:spPr>
          <a:xfrm>
            <a:off x="7132320" y="1325880"/>
            <a:ext cx="1005840" cy="274320"/>
          </a:xfrm>
          <a:prstGeom prst="rect">
            <a:avLst/>
          </a:prstGeom>
          <a:noFill/>
          <a:ln/>
        </p:spPr>
        <p:txBody>
          <a:bodyPr wrap="square" lIns="0" tIns="0" rIns="0" bIns="0" rtlCol="0" anchor="t"/>
          <a:lstStyle/>
          <a:p>
            <a:pPr marL="0" indent="0" algn="ctr">
              <a:buNone/>
            </a:pPr>
            <a:r>
              <a:rPr lang="en-US" sz="1300" b="1" dirty="0">
                <a:solidFill>
                  <a:srgbClr val="00704A"/>
                </a:solidFill>
                <a:latin typeface="Calibri" pitchFamily="34" charset="0"/>
                <a:ea typeface="Calibri" pitchFamily="34" charset="-122"/>
                <a:cs typeface="Calibri" pitchFamily="34" charset="-120"/>
              </a:rPr>
              <a:t>Today</a:t>
            </a:r>
            <a:endParaRPr lang="en-US" sz="1300" dirty="0"/>
          </a:p>
        </p:txBody>
      </p:sp>
      <p:sp>
        <p:nvSpPr>
          <p:cNvPr id="36" name="Shape 33"/>
          <p:cNvSpPr/>
          <p:nvPr/>
        </p:nvSpPr>
        <p:spPr>
          <a:xfrm>
            <a:off x="7178040" y="2148840"/>
            <a:ext cx="1554480" cy="914400"/>
          </a:xfrm>
          <a:prstGeom prst="roundRect">
            <a:avLst>
              <a:gd name="adj" fmla="val 8000"/>
            </a:avLst>
          </a:prstGeom>
          <a:solidFill>
            <a:srgbClr val="F4F7F5"/>
          </a:solidFill>
          <a:ln w="9525">
            <a:solidFill>
              <a:srgbClr val="D5DED9"/>
            </a:solidFill>
            <a:prstDash val="solid"/>
          </a:ln>
        </p:spPr>
      </p:sp>
      <p:sp>
        <p:nvSpPr>
          <p:cNvPr id="37" name="Text 34"/>
          <p:cNvSpPr txBox="1"/>
          <p:nvPr/>
        </p:nvSpPr>
        <p:spPr>
          <a:xfrm>
            <a:off x="7287768" y="224028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Check the bucket for the latest published quarter</a:t>
            </a:r>
            <a:endParaRPr lang="en-US" sz="1000" dirty="0"/>
          </a:p>
        </p:txBody>
      </p:sp>
      <p:sp>
        <p:nvSpPr>
          <p:cNvPr id="38" name="Shape 35"/>
          <p:cNvSpPr/>
          <p:nvPr/>
        </p:nvSpPr>
        <p:spPr>
          <a:xfrm>
            <a:off x="457200" y="3291840"/>
            <a:ext cx="3977640" cy="1188720"/>
          </a:xfrm>
          <a:prstGeom prst="roundRect">
            <a:avLst>
              <a:gd name="adj" fmla="val 6154"/>
            </a:avLst>
          </a:prstGeom>
          <a:solidFill>
            <a:srgbClr val="D49A00">
              <a:alpha val="13000"/>
            </a:srgbClr>
          </a:solidFill>
          <a:ln w="12700">
            <a:solidFill>
              <a:srgbClr val="D49A00"/>
            </a:solidFill>
            <a:prstDash val="solid"/>
          </a:ln>
        </p:spPr>
      </p:sp>
      <p:pic>
        <p:nvPicPr>
          <p:cNvPr id="39" name="Image 0" descr="preencoded.png"/>
          <p:cNvPicPr>
            <a:picLocks noChangeAspect="1"/>
          </p:cNvPicPr>
          <p:nvPr/>
        </p:nvPicPr>
        <p:blipFill>
          <a:blip r:embed="rId3"/>
          <a:stretch>
            <a:fillRect/>
          </a:stretch>
        </p:blipFill>
        <p:spPr>
          <a:xfrm>
            <a:off x="621792" y="3401568"/>
            <a:ext cx="256032" cy="256032"/>
          </a:xfrm>
          <a:prstGeom prst="rect">
            <a:avLst/>
          </a:prstGeom>
        </p:spPr>
      </p:pic>
      <p:sp>
        <p:nvSpPr>
          <p:cNvPr id="40" name="Text 36"/>
          <p:cNvSpPr txBox="1"/>
          <p:nvPr/>
        </p:nvSpPr>
        <p:spPr>
          <a:xfrm>
            <a:off x="960120" y="3401568"/>
            <a:ext cx="338328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Step zero: verify national coverage</a:t>
            </a:r>
            <a:endParaRPr lang="en-US" sz="1250" dirty="0"/>
          </a:p>
        </p:txBody>
      </p:sp>
      <p:sp>
        <p:nvSpPr>
          <p:cNvPr id="41" name="Text 37"/>
          <p:cNvSpPr txBox="1"/>
          <p:nvPr/>
        </p:nvSpPr>
        <p:spPr>
          <a:xfrm>
            <a:off x="621792" y="3703320"/>
            <a:ext cx="3703320" cy="73152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Count tiles and tests for your country in the latest quarter and in the same quarter one year earlier, before designing any indicator.</a:t>
            </a:r>
            <a:endParaRPr lang="en-US" sz="1050" dirty="0"/>
          </a:p>
        </p:txBody>
      </p:sp>
      <p:sp>
        <p:nvSpPr>
          <p:cNvPr id="42" name="Shape 38"/>
          <p:cNvSpPr/>
          <p:nvPr/>
        </p:nvSpPr>
        <p:spPr>
          <a:xfrm>
            <a:off x="4709160" y="3291840"/>
            <a:ext cx="3977640" cy="1188720"/>
          </a:xfrm>
          <a:prstGeom prst="roundRect">
            <a:avLst>
              <a:gd name="adj" fmla="val 6154"/>
            </a:avLst>
          </a:prstGeom>
          <a:solidFill>
            <a:srgbClr val="F4F7F5"/>
          </a:solidFill>
          <a:ln w="9525">
            <a:solidFill>
              <a:srgbClr val="D5DED9"/>
            </a:solidFill>
            <a:prstDash val="solid"/>
          </a:ln>
        </p:spPr>
      </p:sp>
      <p:sp>
        <p:nvSpPr>
          <p:cNvPr id="43" name="Shape 39"/>
          <p:cNvSpPr/>
          <p:nvPr/>
        </p:nvSpPr>
        <p:spPr>
          <a:xfrm>
            <a:off x="4846320" y="3401568"/>
            <a:ext cx="420624" cy="420624"/>
          </a:xfrm>
          <a:prstGeom prst="ellipse">
            <a:avLst/>
          </a:prstGeom>
          <a:solidFill>
            <a:srgbClr val="0E7C86">
              <a:alpha val="22000"/>
            </a:srgbClr>
          </a:solidFill>
          <a:ln/>
        </p:spPr>
      </p:sp>
      <p:pic>
        <p:nvPicPr>
          <p:cNvPr id="44" name="Image 1" descr="preencoded.png"/>
          <p:cNvPicPr>
            <a:picLocks noChangeAspect="1"/>
          </p:cNvPicPr>
          <p:nvPr/>
        </p:nvPicPr>
        <p:blipFill>
          <a:blip r:embed="rId4"/>
          <a:stretch>
            <a:fillRect/>
          </a:stretch>
        </p:blipFill>
        <p:spPr>
          <a:xfrm>
            <a:off x="4947270" y="3502518"/>
            <a:ext cx="218724" cy="218724"/>
          </a:xfrm>
          <a:prstGeom prst="rect">
            <a:avLst/>
          </a:prstGeom>
        </p:spPr>
      </p:pic>
      <p:sp>
        <p:nvSpPr>
          <p:cNvPr id="45" name="Text 40"/>
          <p:cNvSpPr txBox="1"/>
          <p:nvPr/>
        </p:nvSpPr>
        <p:spPr>
          <a:xfrm>
            <a:off x="5394960" y="3419856"/>
            <a:ext cx="320040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Re-aggregation for privacy</a:t>
            </a:r>
            <a:endParaRPr lang="en-US" sz="1250" dirty="0"/>
          </a:p>
        </p:txBody>
      </p:sp>
      <p:sp>
        <p:nvSpPr>
          <p:cNvPr id="46" name="Text 41"/>
          <p:cNvSpPr txBox="1"/>
          <p:nvPr/>
        </p:nvSpPr>
        <p:spPr>
          <a:xfrm>
            <a:off x="4846320" y="3840480"/>
            <a:ext cx="3703320" cy="62179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Data is periodically re-aggregated to honour GDPR, CCPA and LGPD requests. The same quarter downloaded twice can differ: record your access date.</a:t>
            </a:r>
            <a:endParaRPr lang="en-US" sz="1050" dirty="0"/>
          </a:p>
        </p:txBody>
      </p:sp>
      <p:sp>
        <p:nvSpPr>
          <p:cNvPr id="47" name="Text 42"/>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teamookla/ookla-open-data README (changelog, entry of 16 April 2026). Latest available quarter to be confirmed on the day.</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03</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Access and licence</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Free to download. But free to publish as official statistics?</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5C242"/>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15</a:t>
            </a:r>
            <a:endParaRPr lang="en-US" sz="8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ACCESS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Four ways to get the files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0E7C86"/>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371600"/>
            <a:ext cx="1920240" cy="1234440"/>
          </a:xfrm>
          <a:prstGeom prst="roundRect">
            <a:avLst>
              <a:gd name="adj" fmla="val 5926"/>
            </a:avLst>
          </a:prstGeom>
          <a:solidFill>
            <a:srgbClr val="F4F7F5"/>
          </a:solidFill>
          <a:ln w="9525">
            <a:solidFill>
              <a:srgbClr val="D5DED9"/>
            </a:solidFill>
            <a:prstDash val="solid"/>
          </a:ln>
        </p:spPr>
      </p:sp>
      <p:sp>
        <p:nvSpPr>
          <p:cNvPr id="18" name="Shape 15"/>
          <p:cNvSpPr/>
          <p:nvPr/>
        </p:nvSpPr>
        <p:spPr>
          <a:xfrm>
            <a:off x="594360" y="1508760"/>
            <a:ext cx="420624" cy="420624"/>
          </a:xfrm>
          <a:prstGeom prst="ellipse">
            <a:avLst/>
          </a:prstGeom>
          <a:solidFill>
            <a:srgbClr val="0E7C86">
              <a:alpha val="22000"/>
            </a:srgbClr>
          </a:solidFill>
          <a:ln/>
        </p:spPr>
      </p:sp>
      <p:pic>
        <p:nvPicPr>
          <p:cNvPr id="19" name="Image 0" descr="preencoded.png"/>
          <p:cNvPicPr>
            <a:picLocks noChangeAspect="1"/>
          </p:cNvPicPr>
          <p:nvPr/>
        </p:nvPicPr>
        <p:blipFill>
          <a:blip r:embed="rId3"/>
          <a:stretch>
            <a:fillRect/>
          </a:stretch>
        </p:blipFill>
        <p:spPr>
          <a:xfrm>
            <a:off x="695310" y="1609710"/>
            <a:ext cx="218724" cy="218724"/>
          </a:xfrm>
          <a:prstGeom prst="rect">
            <a:avLst/>
          </a:prstGeom>
        </p:spPr>
      </p:pic>
      <p:sp>
        <p:nvSpPr>
          <p:cNvPr id="20" name="Text 16"/>
          <p:cNvSpPr txBox="1"/>
          <p:nvPr/>
        </p:nvSpPr>
        <p:spPr>
          <a:xfrm>
            <a:off x="594360" y="1975104"/>
            <a:ext cx="169164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AWS S3 bucket</a:t>
            </a:r>
            <a:endParaRPr lang="en-US" sz="1200" dirty="0"/>
          </a:p>
        </p:txBody>
      </p:sp>
      <p:sp>
        <p:nvSpPr>
          <p:cNvPr id="21" name="Text 17"/>
          <p:cNvSpPr txBox="1"/>
          <p:nvPr/>
        </p:nvSpPr>
        <p:spPr>
          <a:xfrm>
            <a:off x="594360" y="2194560"/>
            <a:ext cx="1691640"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s3://ookla-open-data, by format, type, year, quarter.</a:t>
            </a:r>
            <a:endParaRPr lang="en-US" sz="900" dirty="0"/>
          </a:p>
        </p:txBody>
      </p:sp>
      <p:sp>
        <p:nvSpPr>
          <p:cNvPr id="22" name="Shape 18"/>
          <p:cNvSpPr/>
          <p:nvPr/>
        </p:nvSpPr>
        <p:spPr>
          <a:xfrm>
            <a:off x="2514600" y="1371600"/>
            <a:ext cx="1920240" cy="1234440"/>
          </a:xfrm>
          <a:prstGeom prst="roundRect">
            <a:avLst>
              <a:gd name="adj" fmla="val 5926"/>
            </a:avLst>
          </a:prstGeom>
          <a:solidFill>
            <a:srgbClr val="F4F7F5"/>
          </a:solidFill>
          <a:ln w="9525">
            <a:solidFill>
              <a:srgbClr val="D5DED9"/>
            </a:solidFill>
            <a:prstDash val="solid"/>
          </a:ln>
        </p:spPr>
      </p:sp>
      <p:sp>
        <p:nvSpPr>
          <p:cNvPr id="23" name="Shape 19"/>
          <p:cNvSpPr/>
          <p:nvPr/>
        </p:nvSpPr>
        <p:spPr>
          <a:xfrm>
            <a:off x="2651760" y="1508760"/>
            <a:ext cx="420624" cy="420624"/>
          </a:xfrm>
          <a:prstGeom prst="ellipse">
            <a:avLst/>
          </a:prstGeom>
          <a:solidFill>
            <a:srgbClr val="0E7C86">
              <a:alpha val="22000"/>
            </a:srgbClr>
          </a:solidFill>
          <a:ln/>
        </p:spPr>
      </p:sp>
      <p:pic>
        <p:nvPicPr>
          <p:cNvPr id="24" name="Image 1" descr="preencoded.png"/>
          <p:cNvPicPr>
            <a:picLocks noChangeAspect="1"/>
          </p:cNvPicPr>
          <p:nvPr/>
        </p:nvPicPr>
        <p:blipFill>
          <a:blip r:embed="rId4"/>
          <a:stretch>
            <a:fillRect/>
          </a:stretch>
        </p:blipFill>
        <p:spPr>
          <a:xfrm>
            <a:off x="2752710" y="1609710"/>
            <a:ext cx="218724" cy="218724"/>
          </a:xfrm>
          <a:prstGeom prst="rect">
            <a:avLst/>
          </a:prstGeom>
        </p:spPr>
      </p:pic>
      <p:sp>
        <p:nvSpPr>
          <p:cNvPr id="25" name="Text 20"/>
          <p:cNvSpPr txBox="1"/>
          <p:nvPr/>
        </p:nvSpPr>
        <p:spPr>
          <a:xfrm>
            <a:off x="2651760" y="1975104"/>
            <a:ext cx="169164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Direct HTTPS</a:t>
            </a:r>
            <a:endParaRPr lang="en-US" sz="1200" dirty="0"/>
          </a:p>
        </p:txBody>
      </p:sp>
      <p:sp>
        <p:nvSpPr>
          <p:cNvPr id="26" name="Text 21"/>
          <p:cNvSpPr txBox="1"/>
          <p:nvPr/>
        </p:nvSpPr>
        <p:spPr>
          <a:xfrm>
            <a:off x="2651760" y="2194560"/>
            <a:ext cx="1691640"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Any object from a browser. No account needed.</a:t>
            </a:r>
            <a:endParaRPr lang="en-US" sz="900" dirty="0"/>
          </a:p>
        </p:txBody>
      </p:sp>
      <p:sp>
        <p:nvSpPr>
          <p:cNvPr id="27" name="Shape 22"/>
          <p:cNvSpPr/>
          <p:nvPr/>
        </p:nvSpPr>
        <p:spPr>
          <a:xfrm>
            <a:off x="457200" y="2743200"/>
            <a:ext cx="1920240" cy="1234440"/>
          </a:xfrm>
          <a:prstGeom prst="roundRect">
            <a:avLst>
              <a:gd name="adj" fmla="val 5926"/>
            </a:avLst>
          </a:prstGeom>
          <a:solidFill>
            <a:srgbClr val="F4F7F5"/>
          </a:solidFill>
          <a:ln w="9525">
            <a:solidFill>
              <a:srgbClr val="D5DED9"/>
            </a:solidFill>
            <a:prstDash val="solid"/>
          </a:ln>
        </p:spPr>
      </p:sp>
      <p:sp>
        <p:nvSpPr>
          <p:cNvPr id="28" name="Shape 23"/>
          <p:cNvSpPr/>
          <p:nvPr/>
        </p:nvSpPr>
        <p:spPr>
          <a:xfrm>
            <a:off x="594360" y="2880360"/>
            <a:ext cx="420624" cy="420624"/>
          </a:xfrm>
          <a:prstGeom prst="ellipse">
            <a:avLst/>
          </a:prstGeom>
          <a:solidFill>
            <a:srgbClr val="0E7C86">
              <a:alpha val="22000"/>
            </a:srgbClr>
          </a:solidFill>
          <a:ln/>
        </p:spPr>
      </p:sp>
      <p:pic>
        <p:nvPicPr>
          <p:cNvPr id="29" name="Image 2" descr="preencoded.png"/>
          <p:cNvPicPr>
            <a:picLocks noChangeAspect="1"/>
          </p:cNvPicPr>
          <p:nvPr/>
        </p:nvPicPr>
        <p:blipFill>
          <a:blip r:embed="rId5"/>
          <a:stretch>
            <a:fillRect/>
          </a:stretch>
        </p:blipFill>
        <p:spPr>
          <a:xfrm>
            <a:off x="695310" y="2981310"/>
            <a:ext cx="218724" cy="218724"/>
          </a:xfrm>
          <a:prstGeom prst="rect">
            <a:avLst/>
          </a:prstGeom>
        </p:spPr>
      </p:pic>
      <p:sp>
        <p:nvSpPr>
          <p:cNvPr id="30" name="Text 24"/>
          <p:cNvSpPr txBox="1"/>
          <p:nvPr/>
        </p:nvSpPr>
        <p:spPr>
          <a:xfrm>
            <a:off x="594360" y="3346704"/>
            <a:ext cx="169164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AWS CLI</a:t>
            </a:r>
            <a:endParaRPr lang="en-US" sz="1200" dirty="0"/>
          </a:p>
        </p:txBody>
      </p:sp>
      <p:sp>
        <p:nvSpPr>
          <p:cNvPr id="31" name="Text 25"/>
          <p:cNvSpPr txBox="1"/>
          <p:nvPr/>
        </p:nvSpPr>
        <p:spPr>
          <a:xfrm>
            <a:off x="594360" y="3566160"/>
            <a:ext cx="1691640"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Scriptable and resumable; no credentials needed.</a:t>
            </a:r>
            <a:endParaRPr lang="en-US" sz="900" dirty="0"/>
          </a:p>
        </p:txBody>
      </p:sp>
      <p:sp>
        <p:nvSpPr>
          <p:cNvPr id="32" name="Shape 26"/>
          <p:cNvSpPr/>
          <p:nvPr/>
        </p:nvSpPr>
        <p:spPr>
          <a:xfrm>
            <a:off x="2514600" y="2743200"/>
            <a:ext cx="1920240" cy="1234440"/>
          </a:xfrm>
          <a:prstGeom prst="roundRect">
            <a:avLst>
              <a:gd name="adj" fmla="val 5926"/>
            </a:avLst>
          </a:prstGeom>
          <a:solidFill>
            <a:srgbClr val="F4F7F5"/>
          </a:solidFill>
          <a:ln w="9525">
            <a:solidFill>
              <a:srgbClr val="D5DED9"/>
            </a:solidFill>
            <a:prstDash val="solid"/>
          </a:ln>
        </p:spPr>
      </p:sp>
      <p:sp>
        <p:nvSpPr>
          <p:cNvPr id="33" name="Shape 27"/>
          <p:cNvSpPr/>
          <p:nvPr/>
        </p:nvSpPr>
        <p:spPr>
          <a:xfrm>
            <a:off x="2651760" y="2880360"/>
            <a:ext cx="420624" cy="420624"/>
          </a:xfrm>
          <a:prstGeom prst="ellipse">
            <a:avLst/>
          </a:prstGeom>
          <a:solidFill>
            <a:srgbClr val="0E7C86">
              <a:alpha val="22000"/>
            </a:srgbClr>
          </a:solidFill>
          <a:ln/>
        </p:spPr>
      </p:sp>
      <p:pic>
        <p:nvPicPr>
          <p:cNvPr id="34" name="Image 3" descr="preencoded.png"/>
          <p:cNvPicPr>
            <a:picLocks noChangeAspect="1"/>
          </p:cNvPicPr>
          <p:nvPr/>
        </p:nvPicPr>
        <p:blipFill>
          <a:blip r:embed="rId6"/>
          <a:stretch>
            <a:fillRect/>
          </a:stretch>
        </p:blipFill>
        <p:spPr>
          <a:xfrm>
            <a:off x="2752710" y="2981310"/>
            <a:ext cx="218724" cy="218724"/>
          </a:xfrm>
          <a:prstGeom prst="rect">
            <a:avLst/>
          </a:prstGeom>
        </p:spPr>
      </p:pic>
      <p:sp>
        <p:nvSpPr>
          <p:cNvPr id="35" name="Text 28"/>
          <p:cNvSpPr txBox="1"/>
          <p:nvPr/>
        </p:nvSpPr>
        <p:spPr>
          <a:xfrm>
            <a:off x="2651760" y="3346704"/>
            <a:ext cx="169164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R package</a:t>
            </a:r>
            <a:endParaRPr lang="en-US" sz="1200" dirty="0"/>
          </a:p>
        </p:txBody>
      </p:sp>
      <p:sp>
        <p:nvSpPr>
          <p:cNvPr id="36" name="Text 29"/>
          <p:cNvSpPr txBox="1"/>
          <p:nvPr/>
        </p:nvSpPr>
        <p:spPr>
          <a:xfrm>
            <a:off x="2651760" y="3566160"/>
            <a:ext cx="1691640"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ooklaOpenDataR, for teams working in R.</a:t>
            </a:r>
            <a:endParaRPr lang="en-US" sz="900" dirty="0"/>
          </a:p>
        </p:txBody>
      </p:sp>
      <p:sp>
        <p:nvSpPr>
          <p:cNvPr id="37" name="Shape 30"/>
          <p:cNvSpPr/>
          <p:nvPr/>
        </p:nvSpPr>
        <p:spPr>
          <a:xfrm>
            <a:off x="4572000" y="1371600"/>
            <a:ext cx="4114800" cy="2606040"/>
          </a:xfrm>
          <a:prstGeom prst="roundRect">
            <a:avLst>
              <a:gd name="adj" fmla="val 2807"/>
            </a:avLst>
          </a:prstGeom>
          <a:solidFill>
            <a:srgbClr val="F4F7F5"/>
          </a:solidFill>
          <a:ln w="12700">
            <a:solidFill>
              <a:srgbClr val="0E7C86"/>
            </a:solidFill>
            <a:prstDash val="solid"/>
          </a:ln>
        </p:spPr>
      </p:sp>
      <p:sp>
        <p:nvSpPr>
          <p:cNvPr id="38" name="Text 31"/>
          <p:cNvSpPr txBox="1"/>
          <p:nvPr/>
        </p:nvSpPr>
        <p:spPr>
          <a:xfrm>
            <a:off x="4754880" y="1463040"/>
            <a:ext cx="3657600" cy="182880"/>
          </a:xfrm>
          <a:prstGeom prst="rect">
            <a:avLst/>
          </a:prstGeom>
          <a:noFill/>
          <a:ln/>
        </p:spPr>
        <p:txBody>
          <a:bodyPr wrap="square" lIns="0" tIns="0" rIns="0" bIns="0" rtlCol="0" anchor="t"/>
          <a:lstStyle/>
          <a:p>
            <a:pPr marL="0" indent="0">
              <a:buNone/>
            </a:pPr>
            <a:r>
              <a:rPr lang="en-US" sz="950" b="1" kern="0" spc="200" dirty="0">
                <a:solidFill>
                  <a:srgbClr val="0E7C86"/>
                </a:solidFill>
                <a:latin typeface="Calibri" pitchFamily="34" charset="0"/>
                <a:ea typeface="Calibri" pitchFamily="34" charset="-122"/>
                <a:cs typeface="Calibri" pitchFamily="34" charset="-120"/>
              </a:rPr>
              <a:t>DOWNLOAD ONE QUARTER (AWS CLI)</a:t>
            </a:r>
            <a:endParaRPr lang="en-US" sz="950" dirty="0"/>
          </a:p>
        </p:txBody>
      </p:sp>
      <p:sp>
        <p:nvSpPr>
          <p:cNvPr id="39" name="Text 32"/>
          <p:cNvSpPr txBox="1"/>
          <p:nvPr/>
        </p:nvSpPr>
        <p:spPr>
          <a:xfrm>
            <a:off x="4754880" y="1737360"/>
            <a:ext cx="3840480" cy="2148840"/>
          </a:xfrm>
          <a:prstGeom prst="rect">
            <a:avLst/>
          </a:prstGeom>
          <a:noFill/>
          <a:ln/>
        </p:spPr>
        <p:txBody>
          <a:bodyPr wrap="square" lIns="0" tIns="0" rIns="0" bIns="0" rtlCol="0" anchor="t"/>
          <a:lstStyle/>
          <a:p>
            <a:pPr marL="0" indent="0">
              <a:buNone/>
            </a:pPr>
            <a:r>
              <a:rPr lang="en-US" sz="950" dirty="0">
                <a:solidFill>
                  <a:srgbClr val="231F20"/>
                </a:solidFill>
                <a:latin typeface="Courier New" pitchFamily="34" charset="0"/>
                <a:ea typeface="Courier New" pitchFamily="34" charset="-122"/>
                <a:cs typeface="Courier New" pitchFamily="34" charset="-120"/>
              </a:rPr>
              <a:t>export FORMAT=parquet  # or shapefiles</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export TYPE=mobile     # or fixed</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export YYYY=2025 Q=4</a:t>
            </a:r>
            <a:endParaRPr lang="en-US" sz="950" dirty="0"/>
          </a:p>
          <a:p>
            <a:pPr marL="0" indent="0">
              <a:buNone/>
            </a:pP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aws s3 cp \</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s3://ookla-open-data/${FORMAT}/performance/\</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type=${TYPE}/year=${YYYY}/quarter=${Q}/ . \</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--recursive --no-sign-request</a:t>
            </a:r>
            <a:endParaRPr lang="en-US" sz="950" dirty="0"/>
          </a:p>
        </p:txBody>
      </p:sp>
      <p:sp>
        <p:nvSpPr>
          <p:cNvPr id="40" name="Shape 33"/>
          <p:cNvSpPr/>
          <p:nvPr/>
        </p:nvSpPr>
        <p:spPr>
          <a:xfrm>
            <a:off x="4572000" y="4069080"/>
            <a:ext cx="4114800" cy="438912"/>
          </a:xfrm>
          <a:prstGeom prst="roundRect">
            <a:avLst>
              <a:gd name="adj" fmla="val 16667"/>
            </a:avLst>
          </a:prstGeom>
          <a:solidFill>
            <a:srgbClr val="E8F5EF"/>
          </a:solidFill>
          <a:ln w="12700">
            <a:solidFill>
              <a:srgbClr val="00A86A"/>
            </a:solidFill>
            <a:prstDash val="solid"/>
          </a:ln>
        </p:spPr>
      </p:sp>
      <p:sp>
        <p:nvSpPr>
          <p:cNvPr id="41" name="Text 34"/>
          <p:cNvSpPr txBox="1"/>
          <p:nvPr/>
        </p:nvSpPr>
        <p:spPr>
          <a:xfrm>
            <a:off x="4709160" y="4069080"/>
            <a:ext cx="3931920" cy="438912"/>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Formats: </a:t>
            </a:r>
            <a:r>
              <a:rPr lang="en-US" sz="1000" dirty="0">
                <a:solidFill>
                  <a:srgbClr val="231F20"/>
                </a:solidFill>
                <a:latin typeface="Calibri" pitchFamily="34" charset="0"/>
                <a:ea typeface="Calibri" pitchFamily="34" charset="-122"/>
                <a:cs typeface="Calibri" pitchFamily="34" charset="-120"/>
              </a:rPr>
              <a:t>Shapefile for GIS desktops · Parquet (+ WKT) for pandas, DuckDB, Athena</a:t>
            </a:r>
            <a:endParaRPr lang="en-US" sz="1000" dirty="0"/>
          </a:p>
        </p:txBody>
      </p:sp>
      <p:sp>
        <p:nvSpPr>
          <p:cNvPr id="42" name="Text 35"/>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teamookla/ookla-open-data README; teamookla/ooklaOpenDataR.</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LICENCE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What the licences mean for an NSO</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0E7C86"/>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Text 14"/>
          <p:cNvSpPr txBox="1"/>
          <p:nvPr/>
        </p:nvSpPr>
        <p:spPr>
          <a:xfrm>
            <a:off x="457200" y="1325880"/>
            <a:ext cx="4572000" cy="201168"/>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OOKLA OPEN DATA  ·  CC BY-NC-SA 4.0</a:t>
            </a:r>
            <a:endParaRPr lang="en-US" sz="1000" dirty="0"/>
          </a:p>
        </p:txBody>
      </p:sp>
      <p:sp>
        <p:nvSpPr>
          <p:cNvPr id="18" name="Shape 15"/>
          <p:cNvSpPr/>
          <p:nvPr/>
        </p:nvSpPr>
        <p:spPr>
          <a:xfrm>
            <a:off x="457200" y="1600200"/>
            <a:ext cx="4754880" cy="640080"/>
          </a:xfrm>
          <a:prstGeom prst="roundRect">
            <a:avLst>
              <a:gd name="adj" fmla="val 11429"/>
            </a:avLst>
          </a:prstGeom>
          <a:solidFill>
            <a:srgbClr val="F4F7F5"/>
          </a:solidFill>
          <a:ln w="9525">
            <a:solidFill>
              <a:srgbClr val="D5DED9"/>
            </a:solidFill>
            <a:prstDash val="solid"/>
          </a:ln>
        </p:spPr>
      </p:sp>
      <p:sp>
        <p:nvSpPr>
          <p:cNvPr id="19" name="Shape 16"/>
          <p:cNvSpPr/>
          <p:nvPr/>
        </p:nvSpPr>
        <p:spPr>
          <a:xfrm>
            <a:off x="566928" y="1691640"/>
            <a:ext cx="457200" cy="457200"/>
          </a:xfrm>
          <a:prstGeom prst="ellipse">
            <a:avLst/>
          </a:prstGeom>
          <a:solidFill>
            <a:srgbClr val="0E7C86"/>
          </a:solidFill>
          <a:ln/>
        </p:spPr>
      </p:sp>
      <p:sp>
        <p:nvSpPr>
          <p:cNvPr id="20" name="Text 17"/>
          <p:cNvSpPr txBox="1"/>
          <p:nvPr/>
        </p:nvSpPr>
        <p:spPr>
          <a:xfrm>
            <a:off x="566928" y="16916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BY</a:t>
            </a:r>
            <a:endParaRPr lang="en-US" sz="1300" dirty="0"/>
          </a:p>
        </p:txBody>
      </p:sp>
      <p:sp>
        <p:nvSpPr>
          <p:cNvPr id="21" name="Text 18"/>
          <p:cNvSpPr txBox="1"/>
          <p:nvPr/>
        </p:nvSpPr>
        <p:spPr>
          <a:xfrm>
            <a:off x="1143000" y="1664208"/>
            <a:ext cx="393192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Attribution</a:t>
            </a:r>
            <a:endParaRPr lang="en-US" sz="1200" dirty="0"/>
          </a:p>
        </p:txBody>
      </p:sp>
      <p:sp>
        <p:nvSpPr>
          <p:cNvPr id="22" name="Text 19"/>
          <p:cNvSpPr txBox="1"/>
          <p:nvPr/>
        </p:nvSpPr>
        <p:spPr>
          <a:xfrm>
            <a:off x="1143000" y="1911096"/>
            <a:ext cx="3977640" cy="2743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Credit Ookla, give the data period and your access date.</a:t>
            </a:r>
            <a:endParaRPr lang="en-US" sz="1050" dirty="0"/>
          </a:p>
        </p:txBody>
      </p:sp>
      <p:sp>
        <p:nvSpPr>
          <p:cNvPr id="23" name="Shape 20"/>
          <p:cNvSpPr/>
          <p:nvPr/>
        </p:nvSpPr>
        <p:spPr>
          <a:xfrm>
            <a:off x="457200" y="2350008"/>
            <a:ext cx="4754880" cy="640080"/>
          </a:xfrm>
          <a:prstGeom prst="roundRect">
            <a:avLst>
              <a:gd name="adj" fmla="val 11429"/>
            </a:avLst>
          </a:prstGeom>
          <a:solidFill>
            <a:srgbClr val="F4F7F5"/>
          </a:solidFill>
          <a:ln w="9525">
            <a:solidFill>
              <a:srgbClr val="D5DED9"/>
            </a:solidFill>
            <a:prstDash val="solid"/>
          </a:ln>
        </p:spPr>
      </p:sp>
      <p:sp>
        <p:nvSpPr>
          <p:cNvPr id="24" name="Shape 21"/>
          <p:cNvSpPr/>
          <p:nvPr/>
        </p:nvSpPr>
        <p:spPr>
          <a:xfrm>
            <a:off x="566928" y="2441448"/>
            <a:ext cx="457200" cy="457200"/>
          </a:xfrm>
          <a:prstGeom prst="ellipse">
            <a:avLst/>
          </a:prstGeom>
          <a:solidFill>
            <a:srgbClr val="0E7C86"/>
          </a:solidFill>
          <a:ln/>
        </p:spPr>
      </p:sp>
      <p:sp>
        <p:nvSpPr>
          <p:cNvPr id="25" name="Text 22"/>
          <p:cNvSpPr txBox="1"/>
          <p:nvPr/>
        </p:nvSpPr>
        <p:spPr>
          <a:xfrm>
            <a:off x="566928" y="244144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NC</a:t>
            </a:r>
            <a:endParaRPr lang="en-US" sz="1300" dirty="0"/>
          </a:p>
        </p:txBody>
      </p:sp>
      <p:sp>
        <p:nvSpPr>
          <p:cNvPr id="26" name="Text 23"/>
          <p:cNvSpPr txBox="1"/>
          <p:nvPr/>
        </p:nvSpPr>
        <p:spPr>
          <a:xfrm>
            <a:off x="1143000" y="2414016"/>
            <a:ext cx="393192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Non-commercial</a:t>
            </a:r>
            <a:endParaRPr lang="en-US" sz="1200" dirty="0"/>
          </a:p>
        </p:txBody>
      </p:sp>
      <p:sp>
        <p:nvSpPr>
          <p:cNvPr id="27" name="Text 24"/>
          <p:cNvSpPr txBox="1"/>
          <p:nvPr/>
        </p:nvSpPr>
        <p:spPr>
          <a:xfrm>
            <a:off x="1143000" y="2660904"/>
            <a:ext cx="3977640" cy="2743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No commercial use: paid dashboards, consultancy deliverables.</a:t>
            </a:r>
            <a:endParaRPr lang="en-US" sz="1050" dirty="0"/>
          </a:p>
        </p:txBody>
      </p:sp>
      <p:sp>
        <p:nvSpPr>
          <p:cNvPr id="28" name="Shape 25"/>
          <p:cNvSpPr/>
          <p:nvPr/>
        </p:nvSpPr>
        <p:spPr>
          <a:xfrm>
            <a:off x="457200" y="3099816"/>
            <a:ext cx="4754880" cy="640080"/>
          </a:xfrm>
          <a:prstGeom prst="roundRect">
            <a:avLst>
              <a:gd name="adj" fmla="val 11429"/>
            </a:avLst>
          </a:prstGeom>
          <a:solidFill>
            <a:srgbClr val="E8F5EF"/>
          </a:solidFill>
          <a:ln w="15875">
            <a:solidFill>
              <a:srgbClr val="00A86A"/>
            </a:solidFill>
            <a:prstDash val="solid"/>
          </a:ln>
        </p:spPr>
      </p:sp>
      <p:sp>
        <p:nvSpPr>
          <p:cNvPr id="29" name="Shape 26"/>
          <p:cNvSpPr/>
          <p:nvPr/>
        </p:nvSpPr>
        <p:spPr>
          <a:xfrm>
            <a:off x="566928" y="3191256"/>
            <a:ext cx="457200" cy="457200"/>
          </a:xfrm>
          <a:prstGeom prst="ellipse">
            <a:avLst/>
          </a:prstGeom>
          <a:solidFill>
            <a:srgbClr val="0E7C86"/>
          </a:solidFill>
          <a:ln/>
        </p:spPr>
      </p:sp>
      <p:sp>
        <p:nvSpPr>
          <p:cNvPr id="30" name="Text 27"/>
          <p:cNvSpPr txBox="1"/>
          <p:nvPr/>
        </p:nvSpPr>
        <p:spPr>
          <a:xfrm>
            <a:off x="566928" y="319125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a:t>
            </a:r>
            <a:endParaRPr lang="en-US" sz="1300" dirty="0"/>
          </a:p>
        </p:txBody>
      </p:sp>
      <p:sp>
        <p:nvSpPr>
          <p:cNvPr id="31" name="Text 28"/>
          <p:cNvSpPr txBox="1"/>
          <p:nvPr/>
        </p:nvSpPr>
        <p:spPr>
          <a:xfrm>
            <a:off x="1143000" y="3163824"/>
            <a:ext cx="393192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Share-alike</a:t>
            </a:r>
            <a:endParaRPr lang="en-US" sz="1200" dirty="0"/>
          </a:p>
        </p:txBody>
      </p:sp>
      <p:sp>
        <p:nvSpPr>
          <p:cNvPr id="32" name="Text 29"/>
          <p:cNvSpPr txBox="1"/>
          <p:nvPr/>
        </p:nvSpPr>
        <p:spPr>
          <a:xfrm>
            <a:off x="1143000" y="3410712"/>
            <a:ext cx="3977640" cy="2743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Distributed derivatives must carry the same licence.</a:t>
            </a:r>
            <a:endParaRPr lang="en-US" sz="1050" dirty="0"/>
          </a:p>
        </p:txBody>
      </p:sp>
      <p:sp>
        <p:nvSpPr>
          <p:cNvPr id="33" name="Shape 30"/>
          <p:cNvSpPr/>
          <p:nvPr/>
        </p:nvSpPr>
        <p:spPr>
          <a:xfrm>
            <a:off x="457200" y="3886200"/>
            <a:ext cx="4754880" cy="594360"/>
          </a:xfrm>
          <a:prstGeom prst="roundRect">
            <a:avLst>
              <a:gd name="adj" fmla="val 12308"/>
            </a:avLst>
          </a:prstGeom>
          <a:solidFill>
            <a:srgbClr val="F4F7F5"/>
          </a:solidFill>
          <a:ln w="9525">
            <a:solidFill>
              <a:srgbClr val="D5DED9"/>
            </a:solidFill>
            <a:prstDash val="solid"/>
          </a:ln>
        </p:spPr>
      </p:sp>
      <p:sp>
        <p:nvSpPr>
          <p:cNvPr id="34" name="Shape 31"/>
          <p:cNvSpPr/>
          <p:nvPr/>
        </p:nvSpPr>
        <p:spPr>
          <a:xfrm>
            <a:off x="566928" y="3959352"/>
            <a:ext cx="457200" cy="457200"/>
          </a:xfrm>
          <a:prstGeom prst="ellipse">
            <a:avLst/>
          </a:prstGeom>
          <a:solidFill>
            <a:srgbClr val="00A86A"/>
          </a:solidFill>
          <a:ln/>
        </p:spPr>
      </p:sp>
      <p:sp>
        <p:nvSpPr>
          <p:cNvPr id="35" name="Text 32"/>
          <p:cNvSpPr txBox="1"/>
          <p:nvPr/>
        </p:nvSpPr>
        <p:spPr>
          <a:xfrm>
            <a:off x="566928" y="395935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BY</a:t>
            </a:r>
            <a:endParaRPr lang="en-US" sz="1300" dirty="0"/>
          </a:p>
        </p:txBody>
      </p:sp>
      <p:sp>
        <p:nvSpPr>
          <p:cNvPr id="36" name="Text 33"/>
          <p:cNvSpPr txBox="1"/>
          <p:nvPr/>
        </p:nvSpPr>
        <p:spPr>
          <a:xfrm>
            <a:off x="1143000" y="3931920"/>
            <a:ext cx="3977640" cy="50292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WorldPop  ·  CC BY 4.0</a:t>
            </a:r>
            <a:endParaRPr lang="en-US" sz="1200" dirty="0"/>
          </a:p>
          <a:p>
            <a:pPr marL="0" indent="0">
              <a:buNone/>
            </a:pPr>
            <a:r>
              <a:rPr lang="en-US" sz="1050" dirty="0">
                <a:solidFill>
                  <a:srgbClr val="5E6964"/>
                </a:solidFill>
                <a:latin typeface="Calibri" pitchFamily="34" charset="0"/>
                <a:ea typeface="Calibri" pitchFamily="34" charset="-122"/>
                <a:cs typeface="Calibri" pitchFamily="34" charset="-120"/>
              </a:rPr>
              <a:t>Attribution only; commercial use allowed.</a:t>
            </a:r>
            <a:endParaRPr lang="en-US" sz="1200" dirty="0"/>
          </a:p>
        </p:txBody>
      </p:sp>
      <p:sp>
        <p:nvSpPr>
          <p:cNvPr id="37" name="Shape 34"/>
          <p:cNvSpPr/>
          <p:nvPr/>
        </p:nvSpPr>
        <p:spPr>
          <a:xfrm>
            <a:off x="5486400" y="1325880"/>
            <a:ext cx="3200400" cy="3154680"/>
          </a:xfrm>
          <a:prstGeom prst="roundRect">
            <a:avLst>
              <a:gd name="adj" fmla="val 2319"/>
            </a:avLst>
          </a:prstGeom>
          <a:solidFill>
            <a:srgbClr val="FFFFFF"/>
          </a:solidFill>
          <a:ln w="15875">
            <a:solidFill>
              <a:srgbClr val="D49A00"/>
            </a:solidFill>
            <a:prstDash val="solid"/>
          </a:ln>
        </p:spPr>
      </p:sp>
      <p:sp>
        <p:nvSpPr>
          <p:cNvPr id="38" name="Shape 35"/>
          <p:cNvSpPr/>
          <p:nvPr/>
        </p:nvSpPr>
        <p:spPr>
          <a:xfrm>
            <a:off x="5623560" y="1444752"/>
            <a:ext cx="420624" cy="420624"/>
          </a:xfrm>
          <a:prstGeom prst="ellipse">
            <a:avLst/>
          </a:prstGeom>
          <a:solidFill>
            <a:srgbClr val="D49A00">
              <a:alpha val="22000"/>
            </a:srgbClr>
          </a:solidFill>
          <a:ln/>
        </p:spPr>
      </p:sp>
      <p:pic>
        <p:nvPicPr>
          <p:cNvPr id="39" name="Image 0" descr="preencoded.png"/>
          <p:cNvPicPr>
            <a:picLocks noChangeAspect="1"/>
          </p:cNvPicPr>
          <p:nvPr/>
        </p:nvPicPr>
        <p:blipFill>
          <a:blip r:embed="rId3"/>
          <a:stretch>
            <a:fillRect/>
          </a:stretch>
        </p:blipFill>
        <p:spPr>
          <a:xfrm>
            <a:off x="5724510" y="1545702"/>
            <a:ext cx="218724" cy="218724"/>
          </a:xfrm>
          <a:prstGeom prst="rect">
            <a:avLst/>
          </a:prstGeom>
        </p:spPr>
      </p:pic>
      <p:sp>
        <p:nvSpPr>
          <p:cNvPr id="40" name="Text 36"/>
          <p:cNvSpPr txBox="1"/>
          <p:nvPr/>
        </p:nvSpPr>
        <p:spPr>
          <a:xfrm>
            <a:off x="6126480" y="1463040"/>
            <a:ext cx="2468880" cy="41148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Three questions for your legal unit</a:t>
            </a:r>
            <a:endParaRPr lang="en-US" sz="1200" dirty="0"/>
          </a:p>
        </p:txBody>
      </p:sp>
      <p:sp>
        <p:nvSpPr>
          <p:cNvPr id="41" name="Text 37"/>
          <p:cNvSpPr txBox="1"/>
          <p:nvPr/>
        </p:nvSpPr>
        <p:spPr>
          <a:xfrm>
            <a:off x="5623560" y="2011680"/>
            <a:ext cx="274320" cy="274320"/>
          </a:xfrm>
          <a:prstGeom prst="rect">
            <a:avLst/>
          </a:prstGeom>
          <a:noFill/>
          <a:ln/>
        </p:spPr>
        <p:txBody>
          <a:bodyPr wrap="square" lIns="0" tIns="0" rIns="0" bIns="0" rtlCol="0" anchor="t"/>
          <a:lstStyle/>
          <a:p>
            <a:pPr marL="0" indent="0">
              <a:buNone/>
            </a:pPr>
            <a:r>
              <a:rPr lang="en-US" sz="1600" b="1" dirty="0">
                <a:solidFill>
                  <a:srgbClr val="D49A00"/>
                </a:solidFill>
                <a:latin typeface="Calibri" pitchFamily="34" charset="0"/>
                <a:ea typeface="Calibri" pitchFamily="34" charset="-122"/>
                <a:cs typeface="Calibri" pitchFamily="34" charset="-120"/>
              </a:rPr>
              <a:t>1</a:t>
            </a:r>
            <a:endParaRPr lang="en-US" sz="1600" dirty="0"/>
          </a:p>
        </p:txBody>
      </p:sp>
      <p:sp>
        <p:nvSpPr>
          <p:cNvPr id="42" name="Text 38"/>
          <p:cNvSpPr txBox="1"/>
          <p:nvPr/>
        </p:nvSpPr>
        <p:spPr>
          <a:xfrm>
            <a:off x="5897880" y="2011680"/>
            <a:ext cx="2697480" cy="74980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Can an indicator derived from CC BY-NC-SA data be released under our national dissemination licence?</a:t>
            </a:r>
            <a:endParaRPr lang="en-US" sz="1000" dirty="0"/>
          </a:p>
        </p:txBody>
      </p:sp>
      <p:sp>
        <p:nvSpPr>
          <p:cNvPr id="43" name="Text 39"/>
          <p:cNvSpPr txBox="1"/>
          <p:nvPr/>
        </p:nvSpPr>
        <p:spPr>
          <a:xfrm>
            <a:off x="5623560" y="2816352"/>
            <a:ext cx="274320" cy="274320"/>
          </a:xfrm>
          <a:prstGeom prst="rect">
            <a:avLst/>
          </a:prstGeom>
          <a:noFill/>
          <a:ln/>
        </p:spPr>
        <p:txBody>
          <a:bodyPr wrap="square" lIns="0" tIns="0" rIns="0" bIns="0" rtlCol="0" anchor="t"/>
          <a:lstStyle/>
          <a:p>
            <a:pPr marL="0" indent="0">
              <a:buNone/>
            </a:pPr>
            <a:r>
              <a:rPr lang="en-US" sz="1600" b="1" dirty="0">
                <a:solidFill>
                  <a:srgbClr val="D49A00"/>
                </a:solidFill>
                <a:latin typeface="Calibri" pitchFamily="34" charset="0"/>
                <a:ea typeface="Calibri" pitchFamily="34" charset="-122"/>
                <a:cs typeface="Calibri" pitchFamily="34" charset="-120"/>
              </a:rPr>
              <a:t>2</a:t>
            </a:r>
            <a:endParaRPr lang="en-US" sz="1600" dirty="0"/>
          </a:p>
        </p:txBody>
      </p:sp>
      <p:sp>
        <p:nvSpPr>
          <p:cNvPr id="44" name="Text 40"/>
          <p:cNvSpPr txBox="1"/>
          <p:nvPr/>
        </p:nvSpPr>
        <p:spPr>
          <a:xfrm>
            <a:off x="5897880" y="2816352"/>
            <a:ext cx="2697480" cy="74980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Is a public official publication “non-commercial” if third parties reuse it commercially?</a:t>
            </a:r>
            <a:endParaRPr lang="en-US" sz="1000" dirty="0"/>
          </a:p>
        </p:txBody>
      </p:sp>
      <p:sp>
        <p:nvSpPr>
          <p:cNvPr id="45" name="Text 41"/>
          <p:cNvSpPr txBox="1"/>
          <p:nvPr/>
        </p:nvSpPr>
        <p:spPr>
          <a:xfrm>
            <a:off x="5623560" y="3621024"/>
            <a:ext cx="274320" cy="274320"/>
          </a:xfrm>
          <a:prstGeom prst="rect">
            <a:avLst/>
          </a:prstGeom>
          <a:noFill/>
          <a:ln/>
        </p:spPr>
        <p:txBody>
          <a:bodyPr wrap="square" lIns="0" tIns="0" rIns="0" bIns="0" rtlCol="0" anchor="t"/>
          <a:lstStyle/>
          <a:p>
            <a:pPr marL="0" indent="0">
              <a:buNone/>
            </a:pPr>
            <a:r>
              <a:rPr lang="en-US" sz="1600" b="1" dirty="0">
                <a:solidFill>
                  <a:srgbClr val="D49A00"/>
                </a:solidFill>
                <a:latin typeface="Calibri" pitchFamily="34" charset="0"/>
                <a:ea typeface="Calibri" pitchFamily="34" charset="-122"/>
                <a:cs typeface="Calibri" pitchFamily="34" charset="-120"/>
              </a:rPr>
              <a:t>3</a:t>
            </a:r>
            <a:endParaRPr lang="en-US" sz="1600" dirty="0"/>
          </a:p>
        </p:txBody>
      </p:sp>
      <p:sp>
        <p:nvSpPr>
          <p:cNvPr id="46" name="Text 42"/>
          <p:cNvSpPr txBox="1"/>
          <p:nvPr/>
        </p:nvSpPr>
        <p:spPr>
          <a:xfrm>
            <a:off x="5897880" y="3621024"/>
            <a:ext cx="2697480" cy="74980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Do we need a data-sharing agreement with Ookla or operators for regular production?</a:t>
            </a:r>
            <a:endParaRPr lang="en-US" sz="1000" dirty="0"/>
          </a:p>
        </p:txBody>
      </p:sp>
      <p:sp>
        <p:nvSpPr>
          <p:cNvPr id="47" name="Text 43"/>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Sources: Ookla Open Data README (licence and attribution); WorldPop FAQ and licence. Not legal advice.</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04</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Building the indicator</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A speed without a population is not yet a statistic.</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5C242"/>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18</a:t>
            </a:r>
            <a:endParaRPr lang="en-US" sz="8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THE SECOND DATASET</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WorldPop: the denominator Ookla lacks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7" name="Shape 14"/>
          <p:cNvSpPr/>
          <p:nvPr/>
        </p:nvSpPr>
        <p:spPr>
          <a:xfrm>
            <a:off x="502920" y="1463040"/>
            <a:ext cx="384048" cy="384048"/>
          </a:xfrm>
          <a:prstGeom prst="rect">
            <a:avLst/>
          </a:prstGeom>
          <a:solidFill>
            <a:srgbClr val="F4F7F5"/>
          </a:solidFill>
          <a:ln w="12700">
            <a:solidFill>
              <a:srgbClr val="FFFFFF"/>
            </a:solidFill>
            <a:prstDash val="solid"/>
          </a:ln>
        </p:spPr>
      </p:sp>
      <p:sp>
        <p:nvSpPr>
          <p:cNvPr id="18" name="Shape 15"/>
          <p:cNvSpPr/>
          <p:nvPr/>
        </p:nvSpPr>
        <p:spPr>
          <a:xfrm>
            <a:off x="886968" y="1463040"/>
            <a:ext cx="384048" cy="384048"/>
          </a:xfrm>
          <a:prstGeom prst="rect">
            <a:avLst/>
          </a:prstGeom>
          <a:solidFill>
            <a:srgbClr val="7BCBA9"/>
          </a:solidFill>
          <a:ln w="12700">
            <a:solidFill>
              <a:srgbClr val="FFFFFF"/>
            </a:solidFill>
            <a:prstDash val="solid"/>
          </a:ln>
        </p:spPr>
      </p:sp>
      <p:sp>
        <p:nvSpPr>
          <p:cNvPr id="19" name="Shape 16"/>
          <p:cNvSpPr/>
          <p:nvPr/>
        </p:nvSpPr>
        <p:spPr>
          <a:xfrm>
            <a:off x="1271016" y="1463040"/>
            <a:ext cx="384048" cy="384048"/>
          </a:xfrm>
          <a:prstGeom prst="rect">
            <a:avLst/>
          </a:prstGeom>
          <a:solidFill>
            <a:srgbClr val="57BD92"/>
          </a:solidFill>
          <a:ln w="12700">
            <a:solidFill>
              <a:srgbClr val="FFFFFF"/>
            </a:solidFill>
            <a:prstDash val="solid"/>
          </a:ln>
        </p:spPr>
      </p:sp>
      <p:sp>
        <p:nvSpPr>
          <p:cNvPr id="20" name="Shape 17"/>
          <p:cNvSpPr/>
          <p:nvPr/>
        </p:nvSpPr>
        <p:spPr>
          <a:xfrm>
            <a:off x="1655064" y="1463040"/>
            <a:ext cx="384048" cy="384048"/>
          </a:xfrm>
          <a:prstGeom prst="rect">
            <a:avLst/>
          </a:prstGeom>
          <a:solidFill>
            <a:srgbClr val="7BCBA9"/>
          </a:solidFill>
          <a:ln w="12700">
            <a:solidFill>
              <a:srgbClr val="FFFFFF"/>
            </a:solidFill>
            <a:prstDash val="solid"/>
          </a:ln>
        </p:spPr>
      </p:sp>
      <p:sp>
        <p:nvSpPr>
          <p:cNvPr id="21" name="Shape 18"/>
          <p:cNvSpPr/>
          <p:nvPr/>
        </p:nvSpPr>
        <p:spPr>
          <a:xfrm>
            <a:off x="2039112" y="1463040"/>
            <a:ext cx="384048" cy="384048"/>
          </a:xfrm>
          <a:prstGeom prst="rect">
            <a:avLst/>
          </a:prstGeom>
          <a:solidFill>
            <a:srgbClr val="F4F7F5"/>
          </a:solidFill>
          <a:ln w="12700">
            <a:solidFill>
              <a:srgbClr val="FFFFFF"/>
            </a:solidFill>
            <a:prstDash val="solid"/>
          </a:ln>
        </p:spPr>
      </p:sp>
      <p:sp>
        <p:nvSpPr>
          <p:cNvPr id="22" name="Shape 19"/>
          <p:cNvSpPr/>
          <p:nvPr/>
        </p:nvSpPr>
        <p:spPr>
          <a:xfrm>
            <a:off x="2423160" y="1463040"/>
            <a:ext cx="384048" cy="384048"/>
          </a:xfrm>
          <a:prstGeom prst="rect">
            <a:avLst/>
          </a:prstGeom>
          <a:solidFill>
            <a:srgbClr val="F4F7F5"/>
          </a:solidFill>
          <a:ln w="12700">
            <a:solidFill>
              <a:srgbClr val="FFFFFF"/>
            </a:solidFill>
            <a:prstDash val="solid"/>
          </a:ln>
        </p:spPr>
      </p:sp>
      <p:sp>
        <p:nvSpPr>
          <p:cNvPr id="23" name="Shape 20"/>
          <p:cNvSpPr/>
          <p:nvPr/>
        </p:nvSpPr>
        <p:spPr>
          <a:xfrm>
            <a:off x="502920" y="1847088"/>
            <a:ext cx="384048" cy="384048"/>
          </a:xfrm>
          <a:prstGeom prst="rect">
            <a:avLst/>
          </a:prstGeom>
          <a:solidFill>
            <a:srgbClr val="7BCBA9"/>
          </a:solidFill>
          <a:ln w="12700">
            <a:solidFill>
              <a:srgbClr val="FFFFFF"/>
            </a:solidFill>
            <a:prstDash val="solid"/>
          </a:ln>
        </p:spPr>
      </p:sp>
      <p:sp>
        <p:nvSpPr>
          <p:cNvPr id="24" name="Shape 21"/>
          <p:cNvSpPr/>
          <p:nvPr/>
        </p:nvSpPr>
        <p:spPr>
          <a:xfrm>
            <a:off x="886968" y="1847088"/>
            <a:ext cx="384048" cy="384048"/>
          </a:xfrm>
          <a:prstGeom prst="rect">
            <a:avLst/>
          </a:prstGeom>
          <a:solidFill>
            <a:srgbClr val="33AF7C"/>
          </a:solidFill>
          <a:ln w="12700">
            <a:solidFill>
              <a:srgbClr val="FFFFFF"/>
            </a:solidFill>
            <a:prstDash val="solid"/>
          </a:ln>
        </p:spPr>
      </p:sp>
      <p:sp>
        <p:nvSpPr>
          <p:cNvPr id="25" name="Shape 22"/>
          <p:cNvSpPr/>
          <p:nvPr/>
        </p:nvSpPr>
        <p:spPr>
          <a:xfrm>
            <a:off x="1271016" y="1847088"/>
            <a:ext cx="384048" cy="384048"/>
          </a:xfrm>
          <a:prstGeom prst="rect">
            <a:avLst/>
          </a:prstGeom>
          <a:solidFill>
            <a:srgbClr val="008A5B"/>
          </a:solidFill>
          <a:ln w="12700">
            <a:solidFill>
              <a:srgbClr val="FFFFFF"/>
            </a:solidFill>
            <a:prstDash val="solid"/>
          </a:ln>
        </p:spPr>
      </p:sp>
      <p:sp>
        <p:nvSpPr>
          <p:cNvPr id="26" name="Shape 23"/>
          <p:cNvSpPr/>
          <p:nvPr/>
        </p:nvSpPr>
        <p:spPr>
          <a:xfrm>
            <a:off x="1655064" y="1847088"/>
            <a:ext cx="384048" cy="384048"/>
          </a:xfrm>
          <a:prstGeom prst="rect">
            <a:avLst/>
          </a:prstGeom>
          <a:solidFill>
            <a:srgbClr val="10A06A"/>
          </a:solidFill>
          <a:ln w="12700">
            <a:solidFill>
              <a:srgbClr val="FFFFFF"/>
            </a:solidFill>
            <a:prstDash val="solid"/>
          </a:ln>
        </p:spPr>
      </p:sp>
      <p:sp>
        <p:nvSpPr>
          <p:cNvPr id="27" name="Shape 24"/>
          <p:cNvSpPr/>
          <p:nvPr/>
        </p:nvSpPr>
        <p:spPr>
          <a:xfrm>
            <a:off x="2039112" y="1847088"/>
            <a:ext cx="384048" cy="384048"/>
          </a:xfrm>
          <a:prstGeom prst="rect">
            <a:avLst/>
          </a:prstGeom>
          <a:solidFill>
            <a:srgbClr val="7BCBA9"/>
          </a:solidFill>
          <a:ln w="12700">
            <a:solidFill>
              <a:srgbClr val="FFFFFF"/>
            </a:solidFill>
            <a:prstDash val="solid"/>
          </a:ln>
        </p:spPr>
      </p:sp>
      <p:sp>
        <p:nvSpPr>
          <p:cNvPr id="28" name="Shape 25"/>
          <p:cNvSpPr/>
          <p:nvPr/>
        </p:nvSpPr>
        <p:spPr>
          <a:xfrm>
            <a:off x="2423160" y="1847088"/>
            <a:ext cx="384048" cy="384048"/>
          </a:xfrm>
          <a:prstGeom prst="rect">
            <a:avLst/>
          </a:prstGeom>
          <a:solidFill>
            <a:srgbClr val="F4F7F5"/>
          </a:solidFill>
          <a:ln w="12700">
            <a:solidFill>
              <a:srgbClr val="FFFFFF"/>
            </a:solidFill>
            <a:prstDash val="solid"/>
          </a:ln>
        </p:spPr>
      </p:sp>
      <p:sp>
        <p:nvSpPr>
          <p:cNvPr id="29" name="Shape 26"/>
          <p:cNvSpPr/>
          <p:nvPr/>
        </p:nvSpPr>
        <p:spPr>
          <a:xfrm>
            <a:off x="502920" y="2231136"/>
            <a:ext cx="384048" cy="384048"/>
          </a:xfrm>
          <a:prstGeom prst="rect">
            <a:avLst/>
          </a:prstGeom>
          <a:solidFill>
            <a:srgbClr val="57BD92"/>
          </a:solidFill>
          <a:ln w="12700">
            <a:solidFill>
              <a:srgbClr val="FFFFFF"/>
            </a:solidFill>
            <a:prstDash val="solid"/>
          </a:ln>
        </p:spPr>
      </p:sp>
      <p:sp>
        <p:nvSpPr>
          <p:cNvPr id="30" name="Shape 27"/>
          <p:cNvSpPr/>
          <p:nvPr/>
        </p:nvSpPr>
        <p:spPr>
          <a:xfrm>
            <a:off x="886968" y="2231136"/>
            <a:ext cx="384048" cy="384048"/>
          </a:xfrm>
          <a:prstGeom prst="rect">
            <a:avLst/>
          </a:prstGeom>
          <a:solidFill>
            <a:srgbClr val="008A5B"/>
          </a:solidFill>
          <a:ln w="12700">
            <a:solidFill>
              <a:srgbClr val="FFFFFF"/>
            </a:solidFill>
            <a:prstDash val="solid"/>
          </a:ln>
        </p:spPr>
      </p:sp>
      <p:sp>
        <p:nvSpPr>
          <p:cNvPr id="31" name="Shape 28"/>
          <p:cNvSpPr/>
          <p:nvPr/>
        </p:nvSpPr>
        <p:spPr>
          <a:xfrm>
            <a:off x="1271016" y="2231136"/>
            <a:ext cx="384048" cy="384048"/>
          </a:xfrm>
          <a:prstGeom prst="rect">
            <a:avLst/>
          </a:prstGeom>
          <a:solidFill>
            <a:srgbClr val="00664A"/>
          </a:solidFill>
          <a:ln w="12700">
            <a:solidFill>
              <a:srgbClr val="FFFFFF"/>
            </a:solidFill>
            <a:prstDash val="solid"/>
          </a:ln>
        </p:spPr>
      </p:sp>
      <p:sp>
        <p:nvSpPr>
          <p:cNvPr id="32" name="Shape 29"/>
          <p:cNvSpPr/>
          <p:nvPr/>
        </p:nvSpPr>
        <p:spPr>
          <a:xfrm>
            <a:off x="1655064" y="2231136"/>
            <a:ext cx="384048" cy="384048"/>
          </a:xfrm>
          <a:prstGeom prst="rect">
            <a:avLst/>
          </a:prstGeom>
          <a:solidFill>
            <a:srgbClr val="008A5B"/>
          </a:solidFill>
          <a:ln w="12700">
            <a:solidFill>
              <a:srgbClr val="FFFFFF"/>
            </a:solidFill>
            <a:prstDash val="solid"/>
          </a:ln>
        </p:spPr>
      </p:sp>
      <p:sp>
        <p:nvSpPr>
          <p:cNvPr id="33" name="Shape 30"/>
          <p:cNvSpPr/>
          <p:nvPr/>
        </p:nvSpPr>
        <p:spPr>
          <a:xfrm>
            <a:off x="2039112" y="2231136"/>
            <a:ext cx="384048" cy="384048"/>
          </a:xfrm>
          <a:prstGeom prst="rect">
            <a:avLst/>
          </a:prstGeom>
          <a:solidFill>
            <a:srgbClr val="57BD92"/>
          </a:solidFill>
          <a:ln w="12700">
            <a:solidFill>
              <a:srgbClr val="FFFFFF"/>
            </a:solidFill>
            <a:prstDash val="solid"/>
          </a:ln>
        </p:spPr>
      </p:sp>
      <p:sp>
        <p:nvSpPr>
          <p:cNvPr id="34" name="Shape 31"/>
          <p:cNvSpPr/>
          <p:nvPr/>
        </p:nvSpPr>
        <p:spPr>
          <a:xfrm>
            <a:off x="2423160" y="2231136"/>
            <a:ext cx="384048" cy="384048"/>
          </a:xfrm>
          <a:prstGeom prst="rect">
            <a:avLst/>
          </a:prstGeom>
          <a:solidFill>
            <a:srgbClr val="F4F7F5"/>
          </a:solidFill>
          <a:ln w="12700">
            <a:solidFill>
              <a:srgbClr val="FFFFFF"/>
            </a:solidFill>
            <a:prstDash val="solid"/>
          </a:ln>
        </p:spPr>
      </p:sp>
      <p:sp>
        <p:nvSpPr>
          <p:cNvPr id="35" name="Shape 32"/>
          <p:cNvSpPr/>
          <p:nvPr/>
        </p:nvSpPr>
        <p:spPr>
          <a:xfrm>
            <a:off x="502920" y="2615184"/>
            <a:ext cx="384048" cy="384048"/>
          </a:xfrm>
          <a:prstGeom prst="rect">
            <a:avLst/>
          </a:prstGeom>
          <a:solidFill>
            <a:srgbClr val="7BCBA9"/>
          </a:solidFill>
          <a:ln w="12700">
            <a:solidFill>
              <a:srgbClr val="FFFFFF"/>
            </a:solidFill>
            <a:prstDash val="solid"/>
          </a:ln>
        </p:spPr>
      </p:sp>
      <p:sp>
        <p:nvSpPr>
          <p:cNvPr id="36" name="Shape 33"/>
          <p:cNvSpPr/>
          <p:nvPr/>
        </p:nvSpPr>
        <p:spPr>
          <a:xfrm>
            <a:off x="886968" y="2615184"/>
            <a:ext cx="384048" cy="384048"/>
          </a:xfrm>
          <a:prstGeom prst="rect">
            <a:avLst/>
          </a:prstGeom>
          <a:solidFill>
            <a:srgbClr val="10A06A"/>
          </a:solidFill>
          <a:ln w="12700">
            <a:solidFill>
              <a:srgbClr val="FFFFFF"/>
            </a:solidFill>
            <a:prstDash val="solid"/>
          </a:ln>
        </p:spPr>
      </p:sp>
      <p:sp>
        <p:nvSpPr>
          <p:cNvPr id="37" name="Shape 34"/>
          <p:cNvSpPr/>
          <p:nvPr/>
        </p:nvSpPr>
        <p:spPr>
          <a:xfrm>
            <a:off x="1271016" y="2615184"/>
            <a:ext cx="384048" cy="384048"/>
          </a:xfrm>
          <a:prstGeom prst="rect">
            <a:avLst/>
          </a:prstGeom>
          <a:solidFill>
            <a:srgbClr val="00664A"/>
          </a:solidFill>
          <a:ln w="12700">
            <a:solidFill>
              <a:srgbClr val="FFFFFF"/>
            </a:solidFill>
            <a:prstDash val="solid"/>
          </a:ln>
        </p:spPr>
      </p:sp>
      <p:sp>
        <p:nvSpPr>
          <p:cNvPr id="38" name="Shape 35"/>
          <p:cNvSpPr/>
          <p:nvPr/>
        </p:nvSpPr>
        <p:spPr>
          <a:xfrm>
            <a:off x="1655064" y="2615184"/>
            <a:ext cx="384048" cy="384048"/>
          </a:xfrm>
          <a:prstGeom prst="rect">
            <a:avLst/>
          </a:prstGeom>
          <a:solidFill>
            <a:srgbClr val="10A06A"/>
          </a:solidFill>
          <a:ln w="12700">
            <a:solidFill>
              <a:srgbClr val="FFFFFF"/>
            </a:solidFill>
            <a:prstDash val="solid"/>
          </a:ln>
        </p:spPr>
      </p:sp>
      <p:sp>
        <p:nvSpPr>
          <p:cNvPr id="39" name="Shape 36"/>
          <p:cNvSpPr/>
          <p:nvPr/>
        </p:nvSpPr>
        <p:spPr>
          <a:xfrm>
            <a:off x="2039112" y="2615184"/>
            <a:ext cx="384048" cy="384048"/>
          </a:xfrm>
          <a:prstGeom prst="rect">
            <a:avLst/>
          </a:prstGeom>
          <a:solidFill>
            <a:srgbClr val="7BCBA9"/>
          </a:solidFill>
          <a:ln w="12700">
            <a:solidFill>
              <a:srgbClr val="FFFFFF"/>
            </a:solidFill>
            <a:prstDash val="solid"/>
          </a:ln>
        </p:spPr>
      </p:sp>
      <p:sp>
        <p:nvSpPr>
          <p:cNvPr id="40" name="Shape 37"/>
          <p:cNvSpPr/>
          <p:nvPr/>
        </p:nvSpPr>
        <p:spPr>
          <a:xfrm>
            <a:off x="2423160" y="2615184"/>
            <a:ext cx="384048" cy="384048"/>
          </a:xfrm>
          <a:prstGeom prst="rect">
            <a:avLst/>
          </a:prstGeom>
          <a:solidFill>
            <a:srgbClr val="F4F7F5"/>
          </a:solidFill>
          <a:ln w="12700">
            <a:solidFill>
              <a:srgbClr val="FFFFFF"/>
            </a:solidFill>
            <a:prstDash val="solid"/>
          </a:ln>
        </p:spPr>
      </p:sp>
      <p:sp>
        <p:nvSpPr>
          <p:cNvPr id="41" name="Shape 38"/>
          <p:cNvSpPr/>
          <p:nvPr/>
        </p:nvSpPr>
        <p:spPr>
          <a:xfrm>
            <a:off x="502920" y="2999232"/>
            <a:ext cx="384048" cy="384048"/>
          </a:xfrm>
          <a:prstGeom prst="rect">
            <a:avLst/>
          </a:prstGeom>
          <a:solidFill>
            <a:srgbClr val="F4F7F5"/>
          </a:solidFill>
          <a:ln w="12700">
            <a:solidFill>
              <a:srgbClr val="FFFFFF"/>
            </a:solidFill>
            <a:prstDash val="solid"/>
          </a:ln>
        </p:spPr>
      </p:sp>
      <p:sp>
        <p:nvSpPr>
          <p:cNvPr id="42" name="Shape 39"/>
          <p:cNvSpPr/>
          <p:nvPr/>
        </p:nvSpPr>
        <p:spPr>
          <a:xfrm>
            <a:off x="886968" y="2999232"/>
            <a:ext cx="384048" cy="384048"/>
          </a:xfrm>
          <a:prstGeom prst="rect">
            <a:avLst/>
          </a:prstGeom>
          <a:solidFill>
            <a:srgbClr val="7BCBA9"/>
          </a:solidFill>
          <a:ln w="12700">
            <a:solidFill>
              <a:srgbClr val="FFFFFF"/>
            </a:solidFill>
            <a:prstDash val="solid"/>
          </a:ln>
        </p:spPr>
      </p:sp>
      <p:sp>
        <p:nvSpPr>
          <p:cNvPr id="43" name="Shape 40"/>
          <p:cNvSpPr/>
          <p:nvPr/>
        </p:nvSpPr>
        <p:spPr>
          <a:xfrm>
            <a:off x="1271016" y="2999232"/>
            <a:ext cx="384048" cy="384048"/>
          </a:xfrm>
          <a:prstGeom prst="rect">
            <a:avLst/>
          </a:prstGeom>
          <a:solidFill>
            <a:srgbClr val="33AF7C"/>
          </a:solidFill>
          <a:ln w="12700">
            <a:solidFill>
              <a:srgbClr val="FFFFFF"/>
            </a:solidFill>
            <a:prstDash val="solid"/>
          </a:ln>
        </p:spPr>
      </p:sp>
      <p:sp>
        <p:nvSpPr>
          <p:cNvPr id="44" name="Shape 41"/>
          <p:cNvSpPr/>
          <p:nvPr/>
        </p:nvSpPr>
        <p:spPr>
          <a:xfrm>
            <a:off x="1655064" y="2999232"/>
            <a:ext cx="384048" cy="384048"/>
          </a:xfrm>
          <a:prstGeom prst="rect">
            <a:avLst/>
          </a:prstGeom>
          <a:solidFill>
            <a:srgbClr val="57BD92"/>
          </a:solidFill>
          <a:ln w="12700">
            <a:solidFill>
              <a:srgbClr val="FFFFFF"/>
            </a:solidFill>
            <a:prstDash val="solid"/>
          </a:ln>
        </p:spPr>
      </p:sp>
      <p:sp>
        <p:nvSpPr>
          <p:cNvPr id="45" name="Shape 42"/>
          <p:cNvSpPr/>
          <p:nvPr/>
        </p:nvSpPr>
        <p:spPr>
          <a:xfrm>
            <a:off x="2039112" y="2999232"/>
            <a:ext cx="384048" cy="384048"/>
          </a:xfrm>
          <a:prstGeom prst="rect">
            <a:avLst/>
          </a:prstGeom>
          <a:solidFill>
            <a:srgbClr val="7BCBA9"/>
          </a:solidFill>
          <a:ln w="12700">
            <a:solidFill>
              <a:srgbClr val="FFFFFF"/>
            </a:solidFill>
            <a:prstDash val="solid"/>
          </a:ln>
        </p:spPr>
      </p:sp>
      <p:sp>
        <p:nvSpPr>
          <p:cNvPr id="46" name="Shape 43"/>
          <p:cNvSpPr/>
          <p:nvPr/>
        </p:nvSpPr>
        <p:spPr>
          <a:xfrm>
            <a:off x="2423160" y="2999232"/>
            <a:ext cx="384048" cy="384048"/>
          </a:xfrm>
          <a:prstGeom prst="rect">
            <a:avLst/>
          </a:prstGeom>
          <a:solidFill>
            <a:srgbClr val="F4F7F5"/>
          </a:solidFill>
          <a:ln w="12700">
            <a:solidFill>
              <a:srgbClr val="FFFFFF"/>
            </a:solidFill>
            <a:prstDash val="solid"/>
          </a:ln>
        </p:spPr>
      </p:sp>
      <p:sp>
        <p:nvSpPr>
          <p:cNvPr id="47" name="Shape 44"/>
          <p:cNvSpPr/>
          <p:nvPr/>
        </p:nvSpPr>
        <p:spPr>
          <a:xfrm>
            <a:off x="502920" y="3383280"/>
            <a:ext cx="384048" cy="384048"/>
          </a:xfrm>
          <a:prstGeom prst="rect">
            <a:avLst/>
          </a:prstGeom>
          <a:solidFill>
            <a:srgbClr val="F4F7F5"/>
          </a:solidFill>
          <a:ln w="12700">
            <a:solidFill>
              <a:srgbClr val="FFFFFF"/>
            </a:solidFill>
            <a:prstDash val="solid"/>
          </a:ln>
        </p:spPr>
      </p:sp>
      <p:sp>
        <p:nvSpPr>
          <p:cNvPr id="48" name="Shape 45"/>
          <p:cNvSpPr/>
          <p:nvPr/>
        </p:nvSpPr>
        <p:spPr>
          <a:xfrm>
            <a:off x="886968" y="3383280"/>
            <a:ext cx="384048" cy="384048"/>
          </a:xfrm>
          <a:prstGeom prst="rect">
            <a:avLst/>
          </a:prstGeom>
          <a:solidFill>
            <a:srgbClr val="F4F7F5"/>
          </a:solidFill>
          <a:ln w="12700">
            <a:solidFill>
              <a:srgbClr val="FFFFFF"/>
            </a:solidFill>
            <a:prstDash val="solid"/>
          </a:ln>
        </p:spPr>
      </p:sp>
      <p:sp>
        <p:nvSpPr>
          <p:cNvPr id="49" name="Shape 46"/>
          <p:cNvSpPr/>
          <p:nvPr/>
        </p:nvSpPr>
        <p:spPr>
          <a:xfrm>
            <a:off x="1271016" y="3383280"/>
            <a:ext cx="384048" cy="384048"/>
          </a:xfrm>
          <a:prstGeom prst="rect">
            <a:avLst/>
          </a:prstGeom>
          <a:solidFill>
            <a:srgbClr val="7BCBA9"/>
          </a:solidFill>
          <a:ln w="12700">
            <a:solidFill>
              <a:srgbClr val="FFFFFF"/>
            </a:solidFill>
            <a:prstDash val="solid"/>
          </a:ln>
        </p:spPr>
      </p:sp>
      <p:sp>
        <p:nvSpPr>
          <p:cNvPr id="50" name="Shape 47"/>
          <p:cNvSpPr/>
          <p:nvPr/>
        </p:nvSpPr>
        <p:spPr>
          <a:xfrm>
            <a:off x="1655064" y="3383280"/>
            <a:ext cx="384048" cy="384048"/>
          </a:xfrm>
          <a:prstGeom prst="rect">
            <a:avLst/>
          </a:prstGeom>
          <a:solidFill>
            <a:srgbClr val="F4F7F5"/>
          </a:solidFill>
          <a:ln w="12700">
            <a:solidFill>
              <a:srgbClr val="FFFFFF"/>
            </a:solidFill>
            <a:prstDash val="solid"/>
          </a:ln>
        </p:spPr>
      </p:sp>
      <p:sp>
        <p:nvSpPr>
          <p:cNvPr id="51" name="Shape 48"/>
          <p:cNvSpPr/>
          <p:nvPr/>
        </p:nvSpPr>
        <p:spPr>
          <a:xfrm>
            <a:off x="2039112" y="3383280"/>
            <a:ext cx="384048" cy="384048"/>
          </a:xfrm>
          <a:prstGeom prst="rect">
            <a:avLst/>
          </a:prstGeom>
          <a:solidFill>
            <a:srgbClr val="F4F7F5"/>
          </a:solidFill>
          <a:ln w="12700">
            <a:solidFill>
              <a:srgbClr val="FFFFFF"/>
            </a:solidFill>
            <a:prstDash val="solid"/>
          </a:ln>
        </p:spPr>
      </p:sp>
      <p:sp>
        <p:nvSpPr>
          <p:cNvPr id="52" name="Shape 49"/>
          <p:cNvSpPr/>
          <p:nvPr/>
        </p:nvSpPr>
        <p:spPr>
          <a:xfrm>
            <a:off x="2423160" y="3383280"/>
            <a:ext cx="384048" cy="384048"/>
          </a:xfrm>
          <a:prstGeom prst="rect">
            <a:avLst/>
          </a:prstGeom>
          <a:solidFill>
            <a:srgbClr val="F4F7F5"/>
          </a:solidFill>
          <a:ln w="12700">
            <a:solidFill>
              <a:srgbClr val="FFFFFF"/>
            </a:solidFill>
            <a:prstDash val="solid"/>
          </a:ln>
        </p:spPr>
      </p:sp>
      <p:sp>
        <p:nvSpPr>
          <p:cNvPr id="53" name="Shape 50"/>
          <p:cNvSpPr/>
          <p:nvPr/>
        </p:nvSpPr>
        <p:spPr>
          <a:xfrm>
            <a:off x="502920" y="1463040"/>
            <a:ext cx="2304288" cy="2304288"/>
          </a:xfrm>
          <a:prstGeom prst="rect">
            <a:avLst/>
          </a:prstGeom>
          <a:ln w="31750">
            <a:solidFill>
              <a:srgbClr val="D49A00"/>
            </a:solidFill>
            <a:prstDash val="dash"/>
          </a:ln>
        </p:spPr>
      </p:sp>
      <p:sp>
        <p:nvSpPr>
          <p:cNvPr id="54" name="Text 51"/>
          <p:cNvSpPr txBox="1"/>
          <p:nvPr/>
        </p:nvSpPr>
        <p:spPr>
          <a:xfrm>
            <a:off x="457200" y="3840480"/>
            <a:ext cx="2514600" cy="6583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One Ookla tile (≈ 611 m) holds about 36 WorldPop cells (≈ 100 m). Sum them to get the tile's population.</a:t>
            </a:r>
            <a:endParaRPr lang="en-US" sz="950" dirty="0"/>
          </a:p>
        </p:txBody>
      </p:sp>
      <p:sp>
        <p:nvSpPr>
          <p:cNvPr id="55" name="Shape 52"/>
          <p:cNvSpPr/>
          <p:nvPr/>
        </p:nvSpPr>
        <p:spPr>
          <a:xfrm>
            <a:off x="3246120" y="1371600"/>
            <a:ext cx="2606040" cy="914400"/>
          </a:xfrm>
          <a:prstGeom prst="roundRect">
            <a:avLst>
              <a:gd name="adj" fmla="val 8000"/>
            </a:avLst>
          </a:prstGeom>
          <a:solidFill>
            <a:srgbClr val="F4F7F5"/>
          </a:solidFill>
          <a:ln w="9525">
            <a:solidFill>
              <a:srgbClr val="D5DED9"/>
            </a:solidFill>
            <a:prstDash val="solid"/>
          </a:ln>
        </p:spPr>
      </p:sp>
      <p:sp>
        <p:nvSpPr>
          <p:cNvPr id="56" name="Shape 53"/>
          <p:cNvSpPr/>
          <p:nvPr/>
        </p:nvSpPr>
        <p:spPr>
          <a:xfrm>
            <a:off x="3355848" y="1499616"/>
            <a:ext cx="402336" cy="402336"/>
          </a:xfrm>
          <a:prstGeom prst="ellipse">
            <a:avLst/>
          </a:prstGeom>
          <a:solidFill>
            <a:srgbClr val="D49A00">
              <a:alpha val="22000"/>
            </a:srgbClr>
          </a:solidFill>
          <a:ln/>
        </p:spPr>
      </p:sp>
      <p:pic>
        <p:nvPicPr>
          <p:cNvPr id="57" name="Image 0" descr="preencoded.png"/>
          <p:cNvPicPr>
            <a:picLocks noChangeAspect="1"/>
          </p:cNvPicPr>
          <p:nvPr/>
        </p:nvPicPr>
        <p:blipFill>
          <a:blip r:embed="rId3"/>
          <a:stretch>
            <a:fillRect/>
          </a:stretch>
        </p:blipFill>
        <p:spPr>
          <a:xfrm>
            <a:off x="3452409" y="1596177"/>
            <a:ext cx="209215" cy="209215"/>
          </a:xfrm>
          <a:prstGeom prst="rect">
            <a:avLst/>
          </a:prstGeom>
        </p:spPr>
      </p:pic>
      <p:sp>
        <p:nvSpPr>
          <p:cNvPr id="58" name="Text 54"/>
          <p:cNvSpPr txBox="1"/>
          <p:nvPr/>
        </p:nvSpPr>
        <p:spPr>
          <a:xfrm>
            <a:off x="3849624" y="1481328"/>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100 m grid</a:t>
            </a:r>
            <a:endParaRPr lang="en-US" sz="1250" dirty="0"/>
          </a:p>
        </p:txBody>
      </p:sp>
      <p:sp>
        <p:nvSpPr>
          <p:cNvPr id="59" name="Text 55"/>
          <p:cNvSpPr txBox="1"/>
          <p:nvPr/>
        </p:nvSpPr>
        <p:spPr>
          <a:xfrm>
            <a:off x="3849624" y="1737360"/>
            <a:ext cx="192024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People per cell at 3 arc-seconds; 1 km versions also exist.</a:t>
            </a:r>
            <a:endParaRPr lang="en-US" sz="950" dirty="0"/>
          </a:p>
        </p:txBody>
      </p:sp>
      <p:sp>
        <p:nvSpPr>
          <p:cNvPr id="60" name="Shape 56"/>
          <p:cNvSpPr/>
          <p:nvPr/>
        </p:nvSpPr>
        <p:spPr>
          <a:xfrm>
            <a:off x="5989320" y="1371600"/>
            <a:ext cx="2606040" cy="914400"/>
          </a:xfrm>
          <a:prstGeom prst="roundRect">
            <a:avLst>
              <a:gd name="adj" fmla="val 8000"/>
            </a:avLst>
          </a:prstGeom>
          <a:solidFill>
            <a:srgbClr val="F4F7F5"/>
          </a:solidFill>
          <a:ln w="9525">
            <a:solidFill>
              <a:srgbClr val="D5DED9"/>
            </a:solidFill>
            <a:prstDash val="solid"/>
          </a:ln>
        </p:spPr>
      </p:sp>
      <p:sp>
        <p:nvSpPr>
          <p:cNvPr id="61" name="Shape 57"/>
          <p:cNvSpPr/>
          <p:nvPr/>
        </p:nvSpPr>
        <p:spPr>
          <a:xfrm>
            <a:off x="6099048" y="1499616"/>
            <a:ext cx="402336" cy="402336"/>
          </a:xfrm>
          <a:prstGeom prst="ellipse">
            <a:avLst/>
          </a:prstGeom>
          <a:solidFill>
            <a:srgbClr val="D49A00">
              <a:alpha val="22000"/>
            </a:srgbClr>
          </a:solidFill>
          <a:ln/>
        </p:spPr>
      </p:sp>
      <p:pic>
        <p:nvPicPr>
          <p:cNvPr id="62" name="Image 1" descr="preencoded.png"/>
          <p:cNvPicPr>
            <a:picLocks noChangeAspect="1"/>
          </p:cNvPicPr>
          <p:nvPr/>
        </p:nvPicPr>
        <p:blipFill>
          <a:blip r:embed="rId4"/>
          <a:stretch>
            <a:fillRect/>
          </a:stretch>
        </p:blipFill>
        <p:spPr>
          <a:xfrm>
            <a:off x="6195609" y="1596177"/>
            <a:ext cx="209215" cy="209215"/>
          </a:xfrm>
          <a:prstGeom prst="rect">
            <a:avLst/>
          </a:prstGeom>
        </p:spPr>
      </p:pic>
      <p:sp>
        <p:nvSpPr>
          <p:cNvPr id="63" name="Text 58"/>
          <p:cNvSpPr txBox="1"/>
          <p:nvPr/>
        </p:nvSpPr>
        <p:spPr>
          <a:xfrm>
            <a:off x="6592824" y="1481328"/>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2015 – 2030</a:t>
            </a:r>
            <a:endParaRPr lang="en-US" sz="1250" dirty="0"/>
          </a:p>
        </p:txBody>
      </p:sp>
      <p:sp>
        <p:nvSpPr>
          <p:cNvPr id="64" name="Text 59"/>
          <p:cNvSpPr txBox="1"/>
          <p:nvPr/>
        </p:nvSpPr>
        <p:spPr>
          <a:xfrm>
            <a:off x="6592824" y="1737360"/>
            <a:ext cx="192024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Annual estimates, age and sex breakdowns available.</a:t>
            </a:r>
            <a:endParaRPr lang="en-US" sz="950" dirty="0"/>
          </a:p>
        </p:txBody>
      </p:sp>
      <p:sp>
        <p:nvSpPr>
          <p:cNvPr id="65" name="Shape 60"/>
          <p:cNvSpPr/>
          <p:nvPr/>
        </p:nvSpPr>
        <p:spPr>
          <a:xfrm>
            <a:off x="3246120" y="2423160"/>
            <a:ext cx="2606040" cy="914400"/>
          </a:xfrm>
          <a:prstGeom prst="roundRect">
            <a:avLst>
              <a:gd name="adj" fmla="val 8000"/>
            </a:avLst>
          </a:prstGeom>
          <a:solidFill>
            <a:srgbClr val="F4F7F5"/>
          </a:solidFill>
          <a:ln w="9525">
            <a:solidFill>
              <a:srgbClr val="D5DED9"/>
            </a:solidFill>
            <a:prstDash val="solid"/>
          </a:ln>
        </p:spPr>
      </p:sp>
      <p:sp>
        <p:nvSpPr>
          <p:cNvPr id="66" name="Shape 61"/>
          <p:cNvSpPr/>
          <p:nvPr/>
        </p:nvSpPr>
        <p:spPr>
          <a:xfrm>
            <a:off x="3355848" y="2551176"/>
            <a:ext cx="402336" cy="402336"/>
          </a:xfrm>
          <a:prstGeom prst="ellipse">
            <a:avLst/>
          </a:prstGeom>
          <a:solidFill>
            <a:srgbClr val="D49A00">
              <a:alpha val="22000"/>
            </a:srgbClr>
          </a:solidFill>
          <a:ln/>
        </p:spPr>
      </p:sp>
      <p:pic>
        <p:nvPicPr>
          <p:cNvPr id="67" name="Image 2" descr="preencoded.png"/>
          <p:cNvPicPr>
            <a:picLocks noChangeAspect="1"/>
          </p:cNvPicPr>
          <p:nvPr/>
        </p:nvPicPr>
        <p:blipFill>
          <a:blip r:embed="rId5"/>
          <a:stretch>
            <a:fillRect/>
          </a:stretch>
        </p:blipFill>
        <p:spPr>
          <a:xfrm>
            <a:off x="3452409" y="2647737"/>
            <a:ext cx="209215" cy="209215"/>
          </a:xfrm>
          <a:prstGeom prst="rect">
            <a:avLst/>
          </a:prstGeom>
        </p:spPr>
      </p:pic>
      <p:sp>
        <p:nvSpPr>
          <p:cNvPr id="68" name="Text 62"/>
          <p:cNvSpPr txBox="1"/>
          <p:nvPr/>
        </p:nvSpPr>
        <p:spPr>
          <a:xfrm>
            <a:off x="3849624" y="2532888"/>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Constrained</a:t>
            </a:r>
            <a:endParaRPr lang="en-US" sz="1250" dirty="0"/>
          </a:p>
        </p:txBody>
      </p:sp>
      <p:sp>
        <p:nvSpPr>
          <p:cNvPr id="69" name="Text 63"/>
          <p:cNvSpPr txBox="1"/>
          <p:nvPr/>
        </p:nvSpPr>
        <p:spPr>
          <a:xfrm>
            <a:off x="3849624" y="2788920"/>
            <a:ext cx="192024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Population placed only in cells mapped as built settlement.</a:t>
            </a:r>
            <a:endParaRPr lang="en-US" sz="950" dirty="0"/>
          </a:p>
        </p:txBody>
      </p:sp>
      <p:sp>
        <p:nvSpPr>
          <p:cNvPr id="70" name="Shape 64"/>
          <p:cNvSpPr/>
          <p:nvPr/>
        </p:nvSpPr>
        <p:spPr>
          <a:xfrm>
            <a:off x="5989320" y="2423160"/>
            <a:ext cx="2606040" cy="914400"/>
          </a:xfrm>
          <a:prstGeom prst="roundRect">
            <a:avLst>
              <a:gd name="adj" fmla="val 8000"/>
            </a:avLst>
          </a:prstGeom>
          <a:solidFill>
            <a:srgbClr val="F4F7F5"/>
          </a:solidFill>
          <a:ln w="9525">
            <a:solidFill>
              <a:srgbClr val="D5DED9"/>
            </a:solidFill>
            <a:prstDash val="solid"/>
          </a:ln>
        </p:spPr>
      </p:sp>
      <p:sp>
        <p:nvSpPr>
          <p:cNvPr id="71" name="Shape 65"/>
          <p:cNvSpPr/>
          <p:nvPr/>
        </p:nvSpPr>
        <p:spPr>
          <a:xfrm>
            <a:off x="6099048" y="2551176"/>
            <a:ext cx="402336" cy="402336"/>
          </a:xfrm>
          <a:prstGeom prst="ellipse">
            <a:avLst/>
          </a:prstGeom>
          <a:solidFill>
            <a:srgbClr val="D49A00">
              <a:alpha val="22000"/>
            </a:srgbClr>
          </a:solidFill>
          <a:ln/>
        </p:spPr>
      </p:sp>
      <p:pic>
        <p:nvPicPr>
          <p:cNvPr id="72" name="Image 3" descr="preencoded.png"/>
          <p:cNvPicPr>
            <a:picLocks noChangeAspect="1"/>
          </p:cNvPicPr>
          <p:nvPr/>
        </p:nvPicPr>
        <p:blipFill>
          <a:blip r:embed="rId6"/>
          <a:stretch>
            <a:fillRect/>
          </a:stretch>
        </p:blipFill>
        <p:spPr>
          <a:xfrm>
            <a:off x="6195609" y="2647737"/>
            <a:ext cx="209215" cy="209215"/>
          </a:xfrm>
          <a:prstGeom prst="rect">
            <a:avLst/>
          </a:prstGeom>
        </p:spPr>
      </p:pic>
      <p:sp>
        <p:nvSpPr>
          <p:cNvPr id="73" name="Text 66"/>
          <p:cNvSpPr txBox="1"/>
          <p:nvPr/>
        </p:nvSpPr>
        <p:spPr>
          <a:xfrm>
            <a:off x="6592824" y="2532888"/>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UN-aligned</a:t>
            </a:r>
            <a:endParaRPr lang="en-US" sz="1250" dirty="0"/>
          </a:p>
        </p:txBody>
      </p:sp>
      <p:sp>
        <p:nvSpPr>
          <p:cNvPr id="74" name="Text 67"/>
          <p:cNvSpPr txBox="1"/>
          <p:nvPr/>
        </p:nvSpPr>
        <p:spPr>
          <a:xfrm>
            <a:off x="6592824" y="2788920"/>
            <a:ext cx="192024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National totals aligned to UN WPP 2024 baselines.</a:t>
            </a:r>
            <a:endParaRPr lang="en-US" sz="950" dirty="0"/>
          </a:p>
        </p:txBody>
      </p:sp>
      <p:sp>
        <p:nvSpPr>
          <p:cNvPr id="75" name="Shape 68"/>
          <p:cNvSpPr/>
          <p:nvPr/>
        </p:nvSpPr>
        <p:spPr>
          <a:xfrm>
            <a:off x="3246120" y="3474720"/>
            <a:ext cx="2606040" cy="914400"/>
          </a:xfrm>
          <a:prstGeom prst="roundRect">
            <a:avLst>
              <a:gd name="adj" fmla="val 8000"/>
            </a:avLst>
          </a:prstGeom>
          <a:solidFill>
            <a:srgbClr val="F4F7F5"/>
          </a:solidFill>
          <a:ln w="9525">
            <a:solidFill>
              <a:srgbClr val="D5DED9"/>
            </a:solidFill>
            <a:prstDash val="solid"/>
          </a:ln>
        </p:spPr>
      </p:sp>
      <p:sp>
        <p:nvSpPr>
          <p:cNvPr id="76" name="Shape 69"/>
          <p:cNvSpPr/>
          <p:nvPr/>
        </p:nvSpPr>
        <p:spPr>
          <a:xfrm>
            <a:off x="3355848" y="3602736"/>
            <a:ext cx="402336" cy="402336"/>
          </a:xfrm>
          <a:prstGeom prst="ellipse">
            <a:avLst/>
          </a:prstGeom>
          <a:solidFill>
            <a:srgbClr val="D49A00">
              <a:alpha val="22000"/>
            </a:srgbClr>
          </a:solidFill>
          <a:ln/>
        </p:spPr>
      </p:sp>
      <p:pic>
        <p:nvPicPr>
          <p:cNvPr id="77" name="Image 4" descr="preencoded.png"/>
          <p:cNvPicPr>
            <a:picLocks noChangeAspect="1"/>
          </p:cNvPicPr>
          <p:nvPr/>
        </p:nvPicPr>
        <p:blipFill>
          <a:blip r:embed="rId7"/>
          <a:stretch>
            <a:fillRect/>
          </a:stretch>
        </p:blipFill>
        <p:spPr>
          <a:xfrm>
            <a:off x="3452409" y="3699297"/>
            <a:ext cx="209215" cy="209215"/>
          </a:xfrm>
          <a:prstGeom prst="rect">
            <a:avLst/>
          </a:prstGeom>
        </p:spPr>
      </p:pic>
      <p:sp>
        <p:nvSpPr>
          <p:cNvPr id="78" name="Text 70"/>
          <p:cNvSpPr txBox="1"/>
          <p:nvPr/>
        </p:nvSpPr>
        <p:spPr>
          <a:xfrm>
            <a:off x="3849624" y="3584448"/>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CC BY 4.0</a:t>
            </a:r>
            <a:endParaRPr lang="en-US" sz="1250" dirty="0"/>
          </a:p>
        </p:txBody>
      </p:sp>
      <p:sp>
        <p:nvSpPr>
          <p:cNvPr id="79" name="Text 71"/>
          <p:cNvSpPr txBox="1"/>
          <p:nvPr/>
        </p:nvSpPr>
        <p:spPr>
          <a:xfrm>
            <a:off x="3849624" y="3840480"/>
            <a:ext cx="192024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Free to reuse with attribution, GeoTIFF format.</a:t>
            </a:r>
            <a:endParaRPr lang="en-US" sz="950" dirty="0"/>
          </a:p>
        </p:txBody>
      </p:sp>
      <p:sp>
        <p:nvSpPr>
          <p:cNvPr id="80" name="Shape 72"/>
          <p:cNvSpPr/>
          <p:nvPr/>
        </p:nvSpPr>
        <p:spPr>
          <a:xfrm>
            <a:off x="5989320" y="3474720"/>
            <a:ext cx="2606040" cy="914400"/>
          </a:xfrm>
          <a:prstGeom prst="roundRect">
            <a:avLst>
              <a:gd name="adj" fmla="val 8000"/>
            </a:avLst>
          </a:prstGeom>
          <a:solidFill>
            <a:srgbClr val="FBF3DF"/>
          </a:solidFill>
          <a:ln w="12700">
            <a:solidFill>
              <a:srgbClr val="D49A00"/>
            </a:solidFill>
            <a:prstDash val="solid"/>
          </a:ln>
        </p:spPr>
      </p:sp>
      <p:sp>
        <p:nvSpPr>
          <p:cNvPr id="81" name="Shape 73"/>
          <p:cNvSpPr/>
          <p:nvPr/>
        </p:nvSpPr>
        <p:spPr>
          <a:xfrm>
            <a:off x="6099048" y="3602736"/>
            <a:ext cx="402336" cy="402336"/>
          </a:xfrm>
          <a:prstGeom prst="ellipse">
            <a:avLst/>
          </a:prstGeom>
          <a:solidFill>
            <a:srgbClr val="D49A00">
              <a:alpha val="22000"/>
            </a:srgbClr>
          </a:solidFill>
          <a:ln/>
        </p:spPr>
      </p:sp>
      <p:pic>
        <p:nvPicPr>
          <p:cNvPr id="82" name="Image 5" descr="preencoded.png"/>
          <p:cNvPicPr>
            <a:picLocks noChangeAspect="1"/>
          </p:cNvPicPr>
          <p:nvPr/>
        </p:nvPicPr>
        <p:blipFill>
          <a:blip r:embed="rId8"/>
          <a:stretch>
            <a:fillRect/>
          </a:stretch>
        </p:blipFill>
        <p:spPr>
          <a:xfrm>
            <a:off x="6195609" y="3699297"/>
            <a:ext cx="209215" cy="209215"/>
          </a:xfrm>
          <a:prstGeom prst="rect">
            <a:avLst/>
          </a:prstGeom>
        </p:spPr>
      </p:pic>
      <p:sp>
        <p:nvSpPr>
          <p:cNvPr id="83" name="Text 74"/>
          <p:cNvSpPr txBox="1"/>
          <p:nvPr/>
        </p:nvSpPr>
        <p:spPr>
          <a:xfrm>
            <a:off x="6592824" y="3584448"/>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Model output</a:t>
            </a:r>
            <a:endParaRPr lang="en-US" sz="1250" dirty="0"/>
          </a:p>
        </p:txBody>
      </p:sp>
      <p:sp>
        <p:nvSpPr>
          <p:cNvPr id="84" name="Text 75"/>
          <p:cNvSpPr txBox="1"/>
          <p:nvPr/>
        </p:nvSpPr>
        <p:spPr>
          <a:xfrm>
            <a:off x="6592824" y="3840480"/>
            <a:ext cx="192024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Not a census; uncertainty rises away from census years.</a:t>
            </a:r>
            <a:endParaRPr lang="en-US" sz="950" dirty="0"/>
          </a:p>
        </p:txBody>
      </p:sp>
      <p:sp>
        <p:nvSpPr>
          <p:cNvPr id="85" name="Text 76"/>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WorldPop Global2 R2025A v1 release statement and data hub (DOI 10.5258/SOTON/WP00839); WorldPop licence.</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WHY WEIGHTING MATTERS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One region, three averages, three stories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Text 14"/>
          <p:cNvSpPr txBox="1"/>
          <p:nvPr/>
        </p:nvSpPr>
        <p:spPr>
          <a:xfrm>
            <a:off x="530352" y="1353312"/>
            <a:ext cx="1234440" cy="201168"/>
          </a:xfrm>
          <a:prstGeom prst="rect">
            <a:avLst/>
          </a:prstGeom>
          <a:noFill/>
          <a:ln/>
        </p:spPr>
        <p:txBody>
          <a:bodyPr wrap="square" lIns="0" tIns="0" rIns="0" bIns="0" rtlCol="0" anchor="t"/>
          <a:lstStyle/>
          <a:p>
            <a:pPr marL="0" indent="0" algn="l">
              <a:buNone/>
            </a:pPr>
            <a:r>
              <a:rPr lang="en-US" sz="900" b="1" kern="0" spc="100" dirty="0">
                <a:solidFill>
                  <a:srgbClr val="5E6964"/>
                </a:solidFill>
                <a:latin typeface="Calibri" pitchFamily="34" charset="0"/>
                <a:ea typeface="Calibri" pitchFamily="34" charset="-122"/>
                <a:cs typeface="Calibri" pitchFamily="34" charset="-120"/>
              </a:rPr>
              <a:t>TILE</a:t>
            </a:r>
            <a:endParaRPr lang="en-US" sz="900" dirty="0"/>
          </a:p>
        </p:txBody>
      </p:sp>
      <p:sp>
        <p:nvSpPr>
          <p:cNvPr id="18" name="Text 15"/>
          <p:cNvSpPr txBox="1"/>
          <p:nvPr/>
        </p:nvSpPr>
        <p:spPr>
          <a:xfrm>
            <a:off x="1856232" y="1353312"/>
            <a:ext cx="594360" cy="201168"/>
          </a:xfrm>
          <a:prstGeom prst="rect">
            <a:avLst/>
          </a:prstGeom>
          <a:noFill/>
          <a:ln/>
        </p:spPr>
        <p:txBody>
          <a:bodyPr wrap="square" lIns="0" tIns="0" rIns="0" bIns="0" rtlCol="0" anchor="t"/>
          <a:lstStyle/>
          <a:p>
            <a:pPr marL="0" indent="0" algn="r">
              <a:buNone/>
            </a:pPr>
            <a:r>
              <a:rPr lang="en-US" sz="900" b="1" kern="0" spc="100" dirty="0">
                <a:solidFill>
                  <a:srgbClr val="5E6964"/>
                </a:solidFill>
                <a:latin typeface="Calibri" pitchFamily="34" charset="0"/>
                <a:ea typeface="Calibri" pitchFamily="34" charset="-122"/>
                <a:cs typeface="Calibri" pitchFamily="34" charset="-120"/>
              </a:rPr>
              <a:t>MBPS</a:t>
            </a:r>
            <a:endParaRPr lang="en-US" sz="900" dirty="0"/>
          </a:p>
        </p:txBody>
      </p:sp>
      <p:sp>
        <p:nvSpPr>
          <p:cNvPr id="19" name="Text 16"/>
          <p:cNvSpPr txBox="1"/>
          <p:nvPr/>
        </p:nvSpPr>
        <p:spPr>
          <a:xfrm>
            <a:off x="2542032" y="1353312"/>
            <a:ext cx="594360" cy="201168"/>
          </a:xfrm>
          <a:prstGeom prst="rect">
            <a:avLst/>
          </a:prstGeom>
          <a:noFill/>
          <a:ln/>
        </p:spPr>
        <p:txBody>
          <a:bodyPr wrap="square" lIns="0" tIns="0" rIns="0" bIns="0" rtlCol="0" anchor="t"/>
          <a:lstStyle/>
          <a:p>
            <a:pPr marL="0" indent="0" algn="r">
              <a:buNone/>
            </a:pPr>
            <a:r>
              <a:rPr lang="en-US" sz="900" b="1" kern="0" spc="100" dirty="0">
                <a:solidFill>
                  <a:srgbClr val="5E6964"/>
                </a:solidFill>
                <a:latin typeface="Calibri" pitchFamily="34" charset="0"/>
                <a:ea typeface="Calibri" pitchFamily="34" charset="-122"/>
                <a:cs typeface="Calibri" pitchFamily="34" charset="-120"/>
              </a:rPr>
              <a:t>TESTS</a:t>
            </a:r>
            <a:endParaRPr lang="en-US" sz="900" dirty="0"/>
          </a:p>
        </p:txBody>
      </p:sp>
      <p:sp>
        <p:nvSpPr>
          <p:cNvPr id="20" name="Text 17"/>
          <p:cNvSpPr txBox="1"/>
          <p:nvPr/>
        </p:nvSpPr>
        <p:spPr>
          <a:xfrm>
            <a:off x="3227832" y="1353312"/>
            <a:ext cx="685800" cy="201168"/>
          </a:xfrm>
          <a:prstGeom prst="rect">
            <a:avLst/>
          </a:prstGeom>
          <a:noFill/>
          <a:ln/>
        </p:spPr>
        <p:txBody>
          <a:bodyPr wrap="square" lIns="0" tIns="0" rIns="0" bIns="0" rtlCol="0" anchor="t"/>
          <a:lstStyle/>
          <a:p>
            <a:pPr marL="0" indent="0" algn="r">
              <a:buNone/>
            </a:pPr>
            <a:r>
              <a:rPr lang="en-US" sz="900" b="1" kern="0" spc="100" dirty="0">
                <a:solidFill>
                  <a:srgbClr val="5E6964"/>
                </a:solidFill>
                <a:latin typeface="Calibri" pitchFamily="34" charset="0"/>
                <a:ea typeface="Calibri" pitchFamily="34" charset="-122"/>
                <a:cs typeface="Calibri" pitchFamily="34" charset="-120"/>
              </a:rPr>
              <a:t>PEOPLE</a:t>
            </a:r>
            <a:endParaRPr lang="en-US" sz="900" dirty="0"/>
          </a:p>
        </p:txBody>
      </p:sp>
      <p:sp>
        <p:nvSpPr>
          <p:cNvPr id="21" name="Shape 18"/>
          <p:cNvSpPr/>
          <p:nvPr/>
        </p:nvSpPr>
        <p:spPr>
          <a:xfrm>
            <a:off x="457200" y="1600200"/>
            <a:ext cx="3474720" cy="347472"/>
          </a:xfrm>
          <a:prstGeom prst="roundRect">
            <a:avLst>
              <a:gd name="adj" fmla="val 13158"/>
            </a:avLst>
          </a:prstGeom>
          <a:solidFill>
            <a:srgbClr val="F4F7F5"/>
          </a:solidFill>
          <a:ln w="6350">
            <a:solidFill>
              <a:srgbClr val="D5DED9"/>
            </a:solidFill>
            <a:prstDash val="solid"/>
          </a:ln>
        </p:spPr>
      </p:sp>
      <p:sp>
        <p:nvSpPr>
          <p:cNvPr id="22" name="Text 19"/>
          <p:cNvSpPr txBox="1"/>
          <p:nvPr/>
        </p:nvSpPr>
        <p:spPr>
          <a:xfrm>
            <a:off x="530352" y="1600200"/>
            <a:ext cx="1179576" cy="347472"/>
          </a:xfrm>
          <a:prstGeom prst="rect">
            <a:avLst/>
          </a:prstGeom>
          <a:noFill/>
          <a:ln/>
        </p:spPr>
        <p:txBody>
          <a:bodyPr wrap="square" lIns="0" tIns="0" rIns="0" bIns="0" rtlCol="0" anchor="ctr"/>
          <a:lstStyle/>
          <a:p>
            <a:pPr marL="0" indent="0" algn="l">
              <a:buNone/>
            </a:pPr>
            <a:r>
              <a:rPr lang="en-US" sz="1100" b="1" dirty="0">
                <a:solidFill>
                  <a:srgbClr val="231F20"/>
                </a:solidFill>
                <a:latin typeface="Calibri" pitchFamily="34" charset="0"/>
                <a:ea typeface="Calibri" pitchFamily="34" charset="-122"/>
                <a:cs typeface="Calibri" pitchFamily="34" charset="-120"/>
              </a:rPr>
              <a:t>A · city</a:t>
            </a:r>
            <a:endParaRPr lang="en-US" sz="1100" dirty="0"/>
          </a:p>
        </p:txBody>
      </p:sp>
      <p:sp>
        <p:nvSpPr>
          <p:cNvPr id="23" name="Text 20"/>
          <p:cNvSpPr txBox="1"/>
          <p:nvPr/>
        </p:nvSpPr>
        <p:spPr>
          <a:xfrm>
            <a:off x="1856232" y="1600200"/>
            <a:ext cx="53949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40</a:t>
            </a:r>
            <a:endParaRPr lang="en-US" sz="1100" dirty="0"/>
          </a:p>
        </p:txBody>
      </p:sp>
      <p:sp>
        <p:nvSpPr>
          <p:cNvPr id="24" name="Text 21"/>
          <p:cNvSpPr txBox="1"/>
          <p:nvPr/>
        </p:nvSpPr>
        <p:spPr>
          <a:xfrm>
            <a:off x="2542032" y="1600200"/>
            <a:ext cx="53949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120</a:t>
            </a:r>
            <a:endParaRPr lang="en-US" sz="1100" dirty="0"/>
          </a:p>
        </p:txBody>
      </p:sp>
      <p:sp>
        <p:nvSpPr>
          <p:cNvPr id="25" name="Text 22"/>
          <p:cNvSpPr txBox="1"/>
          <p:nvPr/>
        </p:nvSpPr>
        <p:spPr>
          <a:xfrm>
            <a:off x="3227832" y="1600200"/>
            <a:ext cx="63093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8 000</a:t>
            </a:r>
            <a:endParaRPr lang="en-US" sz="1100" dirty="0"/>
          </a:p>
        </p:txBody>
      </p:sp>
      <p:sp>
        <p:nvSpPr>
          <p:cNvPr id="26" name="Shape 23"/>
          <p:cNvSpPr/>
          <p:nvPr/>
        </p:nvSpPr>
        <p:spPr>
          <a:xfrm>
            <a:off x="457200" y="2002536"/>
            <a:ext cx="3474720" cy="347472"/>
          </a:xfrm>
          <a:prstGeom prst="roundRect">
            <a:avLst>
              <a:gd name="adj" fmla="val 13158"/>
            </a:avLst>
          </a:prstGeom>
          <a:solidFill>
            <a:srgbClr val="FFFFFF"/>
          </a:solidFill>
          <a:ln w="6350">
            <a:solidFill>
              <a:srgbClr val="D5DED9"/>
            </a:solidFill>
            <a:prstDash val="solid"/>
          </a:ln>
        </p:spPr>
      </p:sp>
      <p:sp>
        <p:nvSpPr>
          <p:cNvPr id="27" name="Text 24"/>
          <p:cNvSpPr txBox="1"/>
          <p:nvPr/>
        </p:nvSpPr>
        <p:spPr>
          <a:xfrm>
            <a:off x="530352" y="2002536"/>
            <a:ext cx="1179576" cy="347472"/>
          </a:xfrm>
          <a:prstGeom prst="rect">
            <a:avLst/>
          </a:prstGeom>
          <a:noFill/>
          <a:ln/>
        </p:spPr>
        <p:txBody>
          <a:bodyPr wrap="square" lIns="0" tIns="0" rIns="0" bIns="0" rtlCol="0" anchor="ctr"/>
          <a:lstStyle/>
          <a:p>
            <a:pPr marL="0" indent="0" algn="l">
              <a:buNone/>
            </a:pPr>
            <a:r>
              <a:rPr lang="en-US" sz="1100" b="1" dirty="0">
                <a:solidFill>
                  <a:srgbClr val="231F20"/>
                </a:solidFill>
                <a:latin typeface="Calibri" pitchFamily="34" charset="0"/>
                <a:ea typeface="Calibri" pitchFamily="34" charset="-122"/>
                <a:cs typeface="Calibri" pitchFamily="34" charset="-120"/>
              </a:rPr>
              <a:t>B · peri-urban</a:t>
            </a:r>
            <a:endParaRPr lang="en-US" sz="1100" dirty="0"/>
          </a:p>
        </p:txBody>
      </p:sp>
      <p:sp>
        <p:nvSpPr>
          <p:cNvPr id="28" name="Text 25"/>
          <p:cNvSpPr txBox="1"/>
          <p:nvPr/>
        </p:nvSpPr>
        <p:spPr>
          <a:xfrm>
            <a:off x="1856232" y="2002536"/>
            <a:ext cx="53949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12</a:t>
            </a:r>
            <a:endParaRPr lang="en-US" sz="1100" dirty="0"/>
          </a:p>
        </p:txBody>
      </p:sp>
      <p:sp>
        <p:nvSpPr>
          <p:cNvPr id="29" name="Text 26"/>
          <p:cNvSpPr txBox="1"/>
          <p:nvPr/>
        </p:nvSpPr>
        <p:spPr>
          <a:xfrm>
            <a:off x="2542032" y="2002536"/>
            <a:ext cx="53949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15</a:t>
            </a:r>
            <a:endParaRPr lang="en-US" sz="1100" dirty="0"/>
          </a:p>
        </p:txBody>
      </p:sp>
      <p:sp>
        <p:nvSpPr>
          <p:cNvPr id="30" name="Text 27"/>
          <p:cNvSpPr txBox="1"/>
          <p:nvPr/>
        </p:nvSpPr>
        <p:spPr>
          <a:xfrm>
            <a:off x="3227832" y="2002536"/>
            <a:ext cx="63093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6 000</a:t>
            </a:r>
            <a:endParaRPr lang="en-US" sz="1100" dirty="0"/>
          </a:p>
        </p:txBody>
      </p:sp>
      <p:sp>
        <p:nvSpPr>
          <p:cNvPr id="31" name="Shape 28"/>
          <p:cNvSpPr/>
          <p:nvPr/>
        </p:nvSpPr>
        <p:spPr>
          <a:xfrm>
            <a:off x="457200" y="2404872"/>
            <a:ext cx="3474720" cy="347472"/>
          </a:xfrm>
          <a:prstGeom prst="roundRect">
            <a:avLst>
              <a:gd name="adj" fmla="val 13158"/>
            </a:avLst>
          </a:prstGeom>
          <a:solidFill>
            <a:srgbClr val="F4F7F5"/>
          </a:solidFill>
          <a:ln w="6350">
            <a:solidFill>
              <a:srgbClr val="D5DED9"/>
            </a:solidFill>
            <a:prstDash val="solid"/>
          </a:ln>
        </p:spPr>
      </p:sp>
      <p:sp>
        <p:nvSpPr>
          <p:cNvPr id="32" name="Text 29"/>
          <p:cNvSpPr txBox="1"/>
          <p:nvPr/>
        </p:nvSpPr>
        <p:spPr>
          <a:xfrm>
            <a:off x="530352" y="2404872"/>
            <a:ext cx="1179576" cy="347472"/>
          </a:xfrm>
          <a:prstGeom prst="rect">
            <a:avLst/>
          </a:prstGeom>
          <a:noFill/>
          <a:ln/>
        </p:spPr>
        <p:txBody>
          <a:bodyPr wrap="square" lIns="0" tIns="0" rIns="0" bIns="0" rtlCol="0" anchor="ctr"/>
          <a:lstStyle/>
          <a:p>
            <a:pPr marL="0" indent="0" algn="l">
              <a:buNone/>
            </a:pPr>
            <a:r>
              <a:rPr lang="en-US" sz="1100" b="1" dirty="0">
                <a:solidFill>
                  <a:srgbClr val="231F20"/>
                </a:solidFill>
                <a:latin typeface="Calibri" pitchFamily="34" charset="0"/>
                <a:ea typeface="Calibri" pitchFamily="34" charset="-122"/>
                <a:cs typeface="Calibri" pitchFamily="34" charset="-120"/>
              </a:rPr>
              <a:t>C · rural</a:t>
            </a:r>
            <a:endParaRPr lang="en-US" sz="1100" dirty="0"/>
          </a:p>
        </p:txBody>
      </p:sp>
      <p:sp>
        <p:nvSpPr>
          <p:cNvPr id="33" name="Text 30"/>
          <p:cNvSpPr txBox="1"/>
          <p:nvPr/>
        </p:nvSpPr>
        <p:spPr>
          <a:xfrm>
            <a:off x="1856232" y="2404872"/>
            <a:ext cx="53949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3</a:t>
            </a:r>
            <a:endParaRPr lang="en-US" sz="1100" dirty="0"/>
          </a:p>
        </p:txBody>
      </p:sp>
      <p:sp>
        <p:nvSpPr>
          <p:cNvPr id="34" name="Text 31"/>
          <p:cNvSpPr txBox="1"/>
          <p:nvPr/>
        </p:nvSpPr>
        <p:spPr>
          <a:xfrm>
            <a:off x="2542032" y="2404872"/>
            <a:ext cx="53949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227832" y="2404872"/>
            <a:ext cx="63093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5 000</a:t>
            </a:r>
            <a:endParaRPr lang="en-US" sz="1100" dirty="0"/>
          </a:p>
        </p:txBody>
      </p:sp>
      <p:sp>
        <p:nvSpPr>
          <p:cNvPr id="36" name="Shape 33"/>
          <p:cNvSpPr/>
          <p:nvPr/>
        </p:nvSpPr>
        <p:spPr>
          <a:xfrm>
            <a:off x="457200" y="2807208"/>
            <a:ext cx="3474720" cy="347472"/>
          </a:xfrm>
          <a:prstGeom prst="roundRect">
            <a:avLst>
              <a:gd name="adj" fmla="val 13158"/>
            </a:avLst>
          </a:prstGeom>
          <a:solidFill>
            <a:srgbClr val="FBEDEB"/>
          </a:solidFill>
          <a:ln w="12700">
            <a:solidFill>
              <a:srgbClr val="B83B2E"/>
            </a:solidFill>
            <a:prstDash val="solid"/>
          </a:ln>
        </p:spPr>
      </p:sp>
      <p:sp>
        <p:nvSpPr>
          <p:cNvPr id="37" name="Text 34"/>
          <p:cNvSpPr txBox="1"/>
          <p:nvPr/>
        </p:nvSpPr>
        <p:spPr>
          <a:xfrm>
            <a:off x="530352" y="2807208"/>
            <a:ext cx="1179576" cy="347472"/>
          </a:xfrm>
          <a:prstGeom prst="rect">
            <a:avLst/>
          </a:prstGeom>
          <a:noFill/>
          <a:ln/>
        </p:spPr>
        <p:txBody>
          <a:bodyPr wrap="square" lIns="0" tIns="0" rIns="0" bIns="0" rtlCol="0" anchor="ctr"/>
          <a:lstStyle/>
          <a:p>
            <a:pPr marL="0" indent="0" algn="l">
              <a:buNone/>
            </a:pPr>
            <a:r>
              <a:rPr lang="en-US" sz="1100" b="1" dirty="0">
                <a:solidFill>
                  <a:srgbClr val="231F20"/>
                </a:solidFill>
                <a:latin typeface="Calibri" pitchFamily="34" charset="0"/>
                <a:ea typeface="Calibri" pitchFamily="34" charset="-122"/>
                <a:cs typeface="Calibri" pitchFamily="34" charset="-120"/>
              </a:rPr>
              <a:t>D · rural</a:t>
            </a:r>
            <a:endParaRPr lang="en-US" sz="1100" dirty="0"/>
          </a:p>
        </p:txBody>
      </p:sp>
      <p:sp>
        <p:nvSpPr>
          <p:cNvPr id="38" name="Text 35"/>
          <p:cNvSpPr txBox="1"/>
          <p:nvPr/>
        </p:nvSpPr>
        <p:spPr>
          <a:xfrm>
            <a:off x="1856232" y="2807208"/>
            <a:ext cx="539496" cy="347472"/>
          </a:xfrm>
          <a:prstGeom prst="rect">
            <a:avLst/>
          </a:prstGeom>
          <a:noFill/>
          <a:ln/>
        </p:spPr>
        <p:txBody>
          <a:bodyPr wrap="square" lIns="0" tIns="0" rIns="0" bIns="0" rtlCol="0" anchor="ctr"/>
          <a:lstStyle/>
          <a:p>
            <a:pPr marL="0" indent="0" algn="r">
              <a:buNone/>
            </a:pPr>
            <a:r>
              <a:rPr lang="en-US" sz="1100" dirty="0">
                <a:solidFill>
                  <a:srgbClr val="B83B2E"/>
                </a:solidFill>
                <a:latin typeface="Calibri" pitchFamily="34" charset="0"/>
                <a:ea typeface="Calibri" pitchFamily="34" charset="-122"/>
                <a:cs typeface="Calibri" pitchFamily="34" charset="-120"/>
              </a:rPr>
              <a:t>—</a:t>
            </a:r>
            <a:endParaRPr lang="en-US" sz="1100" dirty="0"/>
          </a:p>
        </p:txBody>
      </p:sp>
      <p:sp>
        <p:nvSpPr>
          <p:cNvPr id="39" name="Text 36"/>
          <p:cNvSpPr txBox="1"/>
          <p:nvPr/>
        </p:nvSpPr>
        <p:spPr>
          <a:xfrm>
            <a:off x="2542032" y="2807208"/>
            <a:ext cx="539496" cy="347472"/>
          </a:xfrm>
          <a:prstGeom prst="rect">
            <a:avLst/>
          </a:prstGeom>
          <a:noFill/>
          <a:ln/>
        </p:spPr>
        <p:txBody>
          <a:bodyPr wrap="square" lIns="0" tIns="0" rIns="0" bIns="0" rtlCol="0" anchor="ctr"/>
          <a:lstStyle/>
          <a:p>
            <a:pPr marL="0" indent="0" algn="r">
              <a:buNone/>
            </a:pPr>
            <a:r>
              <a:rPr lang="en-US" sz="1100" dirty="0">
                <a:solidFill>
                  <a:srgbClr val="B83B2E"/>
                </a:solidFill>
                <a:latin typeface="Calibri" pitchFamily="34" charset="0"/>
                <a:ea typeface="Calibri" pitchFamily="34" charset="-122"/>
                <a:cs typeface="Calibri" pitchFamily="34" charset="-120"/>
              </a:rPr>
              <a:t>0</a:t>
            </a:r>
            <a:endParaRPr lang="en-US" sz="1100" dirty="0"/>
          </a:p>
        </p:txBody>
      </p:sp>
      <p:sp>
        <p:nvSpPr>
          <p:cNvPr id="40" name="Text 37"/>
          <p:cNvSpPr txBox="1"/>
          <p:nvPr/>
        </p:nvSpPr>
        <p:spPr>
          <a:xfrm>
            <a:off x="3227832" y="2807208"/>
            <a:ext cx="630936" cy="347472"/>
          </a:xfrm>
          <a:prstGeom prst="rect">
            <a:avLst/>
          </a:prstGeom>
          <a:noFill/>
          <a:ln/>
        </p:spPr>
        <p:txBody>
          <a:bodyPr wrap="square" lIns="0" tIns="0" rIns="0" bIns="0" rtlCol="0" anchor="ctr"/>
          <a:lstStyle/>
          <a:p>
            <a:pPr marL="0" indent="0" algn="r">
              <a:buNone/>
            </a:pPr>
            <a:r>
              <a:rPr lang="en-US" sz="1100" dirty="0">
                <a:solidFill>
                  <a:srgbClr val="B83B2E"/>
                </a:solidFill>
                <a:latin typeface="Calibri" pitchFamily="34" charset="0"/>
                <a:ea typeface="Calibri" pitchFamily="34" charset="-122"/>
                <a:cs typeface="Calibri" pitchFamily="34" charset="-120"/>
              </a:rPr>
              <a:t>4 000</a:t>
            </a:r>
            <a:endParaRPr lang="en-US" sz="1100" dirty="0"/>
          </a:p>
        </p:txBody>
      </p:sp>
      <p:sp>
        <p:nvSpPr>
          <p:cNvPr id="41" name="Shape 38"/>
          <p:cNvSpPr/>
          <p:nvPr/>
        </p:nvSpPr>
        <p:spPr>
          <a:xfrm>
            <a:off x="457200" y="3291840"/>
            <a:ext cx="3474720" cy="1188720"/>
          </a:xfrm>
          <a:prstGeom prst="roundRect">
            <a:avLst>
              <a:gd name="adj" fmla="val 6154"/>
            </a:avLst>
          </a:prstGeom>
          <a:solidFill>
            <a:srgbClr val="E8F5EF"/>
          </a:solidFill>
          <a:ln w="15875">
            <a:solidFill>
              <a:srgbClr val="00A86A"/>
            </a:solidFill>
            <a:prstDash val="solid"/>
          </a:ln>
        </p:spPr>
      </p:sp>
      <p:sp>
        <p:nvSpPr>
          <p:cNvPr id="42" name="Text 39"/>
          <p:cNvSpPr txBox="1"/>
          <p:nvPr/>
        </p:nvSpPr>
        <p:spPr>
          <a:xfrm>
            <a:off x="594360" y="3364992"/>
            <a:ext cx="3200400" cy="22860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Report these two alongside the speed</a:t>
            </a:r>
            <a:endParaRPr lang="en-US" sz="1100" dirty="0"/>
          </a:p>
        </p:txBody>
      </p:sp>
      <p:sp>
        <p:nvSpPr>
          <p:cNvPr id="43" name="Text 40"/>
          <p:cNvSpPr txBox="1"/>
          <p:nvPr/>
        </p:nvSpPr>
        <p:spPr>
          <a:xfrm>
            <a:off x="594360" y="3611880"/>
            <a:ext cx="1371600" cy="411480"/>
          </a:xfrm>
          <a:prstGeom prst="rect">
            <a:avLst/>
          </a:prstGeom>
          <a:noFill/>
          <a:ln/>
        </p:spPr>
        <p:txBody>
          <a:bodyPr wrap="square" lIns="0" tIns="0" rIns="0" bIns="0" rtlCol="0" anchor="t"/>
          <a:lstStyle/>
          <a:p>
            <a:pPr marL="0" indent="0">
              <a:buNone/>
            </a:pPr>
            <a:r>
              <a:rPr lang="en-US" sz="2600" b="1" dirty="0">
                <a:solidFill>
                  <a:srgbClr val="00A86A"/>
                </a:solidFill>
                <a:latin typeface="Calibri" pitchFamily="34" charset="0"/>
                <a:ea typeface="Calibri" pitchFamily="34" charset="-122"/>
                <a:cs typeface="Calibri" pitchFamily="34" charset="-120"/>
              </a:rPr>
              <a:t>82.6%</a:t>
            </a:r>
            <a:endParaRPr lang="en-US" sz="2600" dirty="0"/>
          </a:p>
        </p:txBody>
      </p:sp>
      <p:sp>
        <p:nvSpPr>
          <p:cNvPr id="44" name="Text 41"/>
          <p:cNvSpPr txBox="1"/>
          <p:nvPr/>
        </p:nvSpPr>
        <p:spPr>
          <a:xfrm>
            <a:off x="1783080" y="3639312"/>
            <a:ext cx="2103120"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of people live in a measured tile (19 000 of 23 000)</a:t>
            </a:r>
            <a:endParaRPr lang="en-US" sz="950" dirty="0"/>
          </a:p>
        </p:txBody>
      </p:sp>
      <p:sp>
        <p:nvSpPr>
          <p:cNvPr id="45" name="Text 42"/>
          <p:cNvSpPr txBox="1"/>
          <p:nvPr/>
        </p:nvSpPr>
        <p:spPr>
          <a:xfrm>
            <a:off x="594360" y="4023360"/>
            <a:ext cx="1371600" cy="411480"/>
          </a:xfrm>
          <a:prstGeom prst="rect">
            <a:avLst/>
          </a:prstGeom>
          <a:noFill/>
          <a:ln/>
        </p:spPr>
        <p:txBody>
          <a:bodyPr wrap="square" lIns="0" tIns="0" rIns="0" bIns="0" rtlCol="0" anchor="t"/>
          <a:lstStyle/>
          <a:p>
            <a:pPr marL="0" indent="0">
              <a:buNone/>
            </a:pPr>
            <a:r>
              <a:rPr lang="en-US" sz="2600" b="1" dirty="0">
                <a:solidFill>
                  <a:srgbClr val="D49A00"/>
                </a:solidFill>
                <a:latin typeface="Calibri" pitchFamily="34" charset="0"/>
                <a:ea typeface="Calibri" pitchFamily="34" charset="-122"/>
                <a:cs typeface="Calibri" pitchFamily="34" charset="-120"/>
              </a:rPr>
              <a:t>60.9%</a:t>
            </a:r>
            <a:endParaRPr lang="en-US" sz="2600" dirty="0"/>
          </a:p>
        </p:txBody>
      </p:sp>
      <p:sp>
        <p:nvSpPr>
          <p:cNvPr id="46" name="Text 43"/>
          <p:cNvSpPr txBox="1"/>
          <p:nvPr/>
        </p:nvSpPr>
        <p:spPr>
          <a:xfrm>
            <a:off x="1783080" y="4050792"/>
            <a:ext cx="2103120"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of people live in a tile ≥ 10 Mbps (14 000 of 23 000)</a:t>
            </a:r>
            <a:endParaRPr lang="en-US" sz="950" dirty="0"/>
          </a:p>
        </p:txBody>
      </p:sp>
      <p:graphicFrame>
        <p:nvGraphicFramePr>
          <p:cNvPr id="47" name="Chart 0"/>
          <p:cNvGraphicFramePr/>
          <p:nvPr/>
        </p:nvGraphicFramePr>
        <p:xfrm>
          <a:off x="4206240" y="1325880"/>
          <a:ext cx="448056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48" name="Shape 44"/>
          <p:cNvSpPr/>
          <p:nvPr/>
        </p:nvSpPr>
        <p:spPr>
          <a:xfrm>
            <a:off x="4315968" y="3858768"/>
            <a:ext cx="128016" cy="128016"/>
          </a:xfrm>
          <a:prstGeom prst="ellipse">
            <a:avLst/>
          </a:prstGeom>
          <a:solidFill>
            <a:srgbClr val="B83B2E"/>
          </a:solidFill>
          <a:ln/>
        </p:spPr>
      </p:sp>
      <p:sp>
        <p:nvSpPr>
          <p:cNvPr id="49" name="Text 45"/>
          <p:cNvSpPr txBox="1"/>
          <p:nvPr/>
        </p:nvSpPr>
        <p:spPr>
          <a:xfrm>
            <a:off x="4526280" y="3767328"/>
            <a:ext cx="4160520" cy="310896"/>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Tests over-weight the city: </a:t>
            </a:r>
            <a:r>
              <a:rPr lang="en-US" sz="1050" dirty="0">
                <a:solidFill>
                  <a:srgbClr val="5E6964"/>
                </a:solidFill>
                <a:latin typeface="Calibri" pitchFamily="34" charset="0"/>
                <a:ea typeface="Calibri" pitchFamily="34" charset="-122"/>
                <a:cs typeface="Calibri" pitchFamily="34" charset="-120"/>
              </a:rPr>
              <a:t>well-connected people test more.</a:t>
            </a:r>
            <a:endParaRPr lang="en-US" sz="1050" dirty="0"/>
          </a:p>
        </p:txBody>
      </p:sp>
      <p:sp>
        <p:nvSpPr>
          <p:cNvPr id="50" name="Shape 46"/>
          <p:cNvSpPr/>
          <p:nvPr/>
        </p:nvSpPr>
        <p:spPr>
          <a:xfrm>
            <a:off x="4315968" y="4224528"/>
            <a:ext cx="128016" cy="128016"/>
          </a:xfrm>
          <a:prstGeom prst="ellipse">
            <a:avLst/>
          </a:prstGeom>
          <a:solidFill>
            <a:srgbClr val="00A86A"/>
          </a:solidFill>
          <a:ln/>
        </p:spPr>
      </p:sp>
      <p:sp>
        <p:nvSpPr>
          <p:cNvPr id="51" name="Text 47"/>
          <p:cNvSpPr txBox="1"/>
          <p:nvPr/>
        </p:nvSpPr>
        <p:spPr>
          <a:xfrm>
            <a:off x="4526280" y="4133088"/>
            <a:ext cx="4160520" cy="310896"/>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Population answers the policy question: </a:t>
            </a:r>
            <a:r>
              <a:rPr lang="en-US" sz="1050" dirty="0">
                <a:solidFill>
                  <a:srgbClr val="5E6964"/>
                </a:solidFill>
                <a:latin typeface="Calibri" pitchFamily="34" charset="0"/>
                <a:ea typeface="Calibri" pitchFamily="34" charset="-122"/>
                <a:cs typeface="Calibri" pitchFamily="34" charset="-120"/>
              </a:rPr>
              <a:t>what does a typical resident get?</a:t>
            </a:r>
            <a:endParaRPr lang="en-US" sz="1050" dirty="0"/>
          </a:p>
        </p:txBody>
      </p:sp>
      <p:sp>
        <p:nvSpPr>
          <p:cNvPr id="52" name="Text 48"/>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Illustrative numbers built for teaching. Population-weighted mean = Σ(speed × people) / Σ people over measured tiles.</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LAB WORKFLOW</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Six steps from raw tiles to a regional indicator</a:t>
            </a:r>
            <a:endParaRPr lang="en-US" sz="24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Shape 14"/>
          <p:cNvSpPr/>
          <p:nvPr/>
        </p:nvSpPr>
        <p:spPr>
          <a:xfrm>
            <a:off x="457200" y="1371600"/>
            <a:ext cx="2560320" cy="1371600"/>
          </a:xfrm>
          <a:prstGeom prst="roundRect">
            <a:avLst>
              <a:gd name="adj" fmla="val 5333"/>
            </a:avLst>
          </a:prstGeom>
          <a:solidFill>
            <a:srgbClr val="FFFFFF"/>
          </a:solidFill>
          <a:ln w="12700">
            <a:solidFill>
              <a:srgbClr val="D49A00"/>
            </a:solidFill>
            <a:prstDash val="solid"/>
          </a:ln>
        </p:spPr>
      </p:sp>
      <p:sp>
        <p:nvSpPr>
          <p:cNvPr id="18" name="Shape 15"/>
          <p:cNvSpPr/>
          <p:nvPr/>
        </p:nvSpPr>
        <p:spPr>
          <a:xfrm>
            <a:off x="594360" y="1508760"/>
            <a:ext cx="384048" cy="384048"/>
          </a:xfrm>
          <a:prstGeom prst="ellipse">
            <a:avLst/>
          </a:prstGeom>
          <a:solidFill>
            <a:srgbClr val="D49A00"/>
          </a:solidFill>
          <a:ln/>
        </p:spPr>
      </p:sp>
      <p:sp>
        <p:nvSpPr>
          <p:cNvPr id="19" name="Text 16"/>
          <p:cNvSpPr txBox="1"/>
          <p:nvPr/>
        </p:nvSpPr>
        <p:spPr>
          <a:xfrm>
            <a:off x="594360" y="15087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0" name="Text 17"/>
          <p:cNvSpPr txBox="1"/>
          <p:nvPr/>
        </p:nvSpPr>
        <p:spPr>
          <a:xfrm>
            <a:off x="1078992" y="1536192"/>
            <a:ext cx="1463040" cy="329184"/>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Load</a:t>
            </a:r>
            <a:endParaRPr lang="en-US" sz="1400" dirty="0"/>
          </a:p>
        </p:txBody>
      </p:sp>
      <p:pic>
        <p:nvPicPr>
          <p:cNvPr id="21" name="Image 0" descr="preencoded.png"/>
          <p:cNvPicPr>
            <a:picLocks noChangeAspect="1"/>
          </p:cNvPicPr>
          <p:nvPr/>
        </p:nvPicPr>
        <p:blipFill>
          <a:blip r:embed="rId3"/>
          <a:stretch>
            <a:fillRect/>
          </a:stretch>
        </p:blipFill>
        <p:spPr>
          <a:xfrm>
            <a:off x="2624328" y="1572768"/>
            <a:ext cx="256032" cy="256032"/>
          </a:xfrm>
          <a:prstGeom prst="rect">
            <a:avLst/>
          </a:prstGeom>
        </p:spPr>
      </p:pic>
      <p:sp>
        <p:nvSpPr>
          <p:cNvPr id="22" name="Text 18"/>
          <p:cNvSpPr txBox="1"/>
          <p:nvPr/>
        </p:nvSpPr>
        <p:spPr>
          <a:xfrm>
            <a:off x="621792" y="1993392"/>
            <a:ext cx="228600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Read one quarter of the mobile Parquet file.</a:t>
            </a:r>
            <a:endParaRPr lang="en-US" sz="1050" dirty="0"/>
          </a:p>
        </p:txBody>
      </p:sp>
      <p:sp>
        <p:nvSpPr>
          <p:cNvPr id="23" name="Shape 19"/>
          <p:cNvSpPr/>
          <p:nvPr/>
        </p:nvSpPr>
        <p:spPr>
          <a:xfrm>
            <a:off x="621792" y="2414016"/>
            <a:ext cx="1005840" cy="219456"/>
          </a:xfrm>
          <a:prstGeom prst="roundRect">
            <a:avLst>
              <a:gd name="adj" fmla="val 50000"/>
            </a:avLst>
          </a:prstGeom>
          <a:solidFill>
            <a:srgbClr val="D49A00">
              <a:alpha val="13000"/>
            </a:srgbClr>
          </a:solidFill>
          <a:ln w="6350">
            <a:solidFill>
              <a:srgbClr val="D49A00"/>
            </a:solidFill>
            <a:prstDash val="solid"/>
          </a:ln>
        </p:spPr>
      </p:sp>
      <p:sp>
        <p:nvSpPr>
          <p:cNvPr id="24" name="Text 20"/>
          <p:cNvSpPr txBox="1"/>
          <p:nvPr/>
        </p:nvSpPr>
        <p:spPr>
          <a:xfrm>
            <a:off x="621792" y="2414016"/>
            <a:ext cx="1005840" cy="219456"/>
          </a:xfrm>
          <a:prstGeom prst="rect">
            <a:avLst/>
          </a:prstGeom>
          <a:noFill/>
          <a:ln/>
        </p:spPr>
        <p:txBody>
          <a:bodyPr wrap="square" lIns="0" tIns="0" rIns="0" bIns="0" rtlCol="0" anchor="ctr"/>
          <a:lstStyle/>
          <a:p>
            <a:pPr marL="0" indent="0" algn="ctr">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pic>
        <p:nvPicPr>
          <p:cNvPr id="25" name="Image 1" descr="preencoded.png"/>
          <p:cNvPicPr>
            <a:picLocks noChangeAspect="1"/>
          </p:cNvPicPr>
          <p:nvPr/>
        </p:nvPicPr>
        <p:blipFill>
          <a:blip r:embed="rId4"/>
          <a:stretch>
            <a:fillRect/>
          </a:stretch>
        </p:blipFill>
        <p:spPr>
          <a:xfrm>
            <a:off x="3072384" y="1956816"/>
            <a:ext cx="164592" cy="164592"/>
          </a:xfrm>
          <a:prstGeom prst="rect">
            <a:avLst/>
          </a:prstGeom>
        </p:spPr>
      </p:pic>
      <p:sp>
        <p:nvSpPr>
          <p:cNvPr id="26" name="Shape 21"/>
          <p:cNvSpPr/>
          <p:nvPr/>
        </p:nvSpPr>
        <p:spPr>
          <a:xfrm>
            <a:off x="3291840" y="1371600"/>
            <a:ext cx="2560320" cy="1371600"/>
          </a:xfrm>
          <a:prstGeom prst="roundRect">
            <a:avLst>
              <a:gd name="adj" fmla="val 5333"/>
            </a:avLst>
          </a:prstGeom>
          <a:solidFill>
            <a:srgbClr val="FFFFFF"/>
          </a:solidFill>
          <a:ln w="12700">
            <a:solidFill>
              <a:srgbClr val="D49A00"/>
            </a:solidFill>
            <a:prstDash val="solid"/>
          </a:ln>
        </p:spPr>
      </p:sp>
      <p:sp>
        <p:nvSpPr>
          <p:cNvPr id="27" name="Shape 22"/>
          <p:cNvSpPr/>
          <p:nvPr/>
        </p:nvSpPr>
        <p:spPr>
          <a:xfrm>
            <a:off x="3429000" y="1508760"/>
            <a:ext cx="384048" cy="384048"/>
          </a:xfrm>
          <a:prstGeom prst="ellipse">
            <a:avLst/>
          </a:prstGeom>
          <a:solidFill>
            <a:srgbClr val="D49A00"/>
          </a:solidFill>
          <a:ln/>
        </p:spPr>
      </p:sp>
      <p:sp>
        <p:nvSpPr>
          <p:cNvPr id="28" name="Text 23"/>
          <p:cNvSpPr txBox="1"/>
          <p:nvPr/>
        </p:nvSpPr>
        <p:spPr>
          <a:xfrm>
            <a:off x="3429000" y="15087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9" name="Text 24"/>
          <p:cNvSpPr txBox="1"/>
          <p:nvPr/>
        </p:nvSpPr>
        <p:spPr>
          <a:xfrm>
            <a:off x="3913632" y="1536192"/>
            <a:ext cx="1463040" cy="329184"/>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Clip</a:t>
            </a:r>
            <a:endParaRPr lang="en-US" sz="1400" dirty="0"/>
          </a:p>
        </p:txBody>
      </p:sp>
      <p:pic>
        <p:nvPicPr>
          <p:cNvPr id="30" name="Image 2" descr="preencoded.png"/>
          <p:cNvPicPr>
            <a:picLocks noChangeAspect="1"/>
          </p:cNvPicPr>
          <p:nvPr/>
        </p:nvPicPr>
        <p:blipFill>
          <a:blip r:embed="rId5"/>
          <a:stretch>
            <a:fillRect/>
          </a:stretch>
        </p:blipFill>
        <p:spPr>
          <a:xfrm>
            <a:off x="5458968" y="1572768"/>
            <a:ext cx="256032" cy="256032"/>
          </a:xfrm>
          <a:prstGeom prst="rect">
            <a:avLst/>
          </a:prstGeom>
        </p:spPr>
      </p:pic>
      <p:sp>
        <p:nvSpPr>
          <p:cNvPr id="31" name="Text 25"/>
          <p:cNvSpPr txBox="1"/>
          <p:nvPr/>
        </p:nvSpPr>
        <p:spPr>
          <a:xfrm>
            <a:off x="3456432" y="1993392"/>
            <a:ext cx="228600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Keep tiles in the country bounding box, using tile_x / tile_y.</a:t>
            </a:r>
            <a:endParaRPr lang="en-US" sz="1050" dirty="0"/>
          </a:p>
        </p:txBody>
      </p:sp>
      <p:sp>
        <p:nvSpPr>
          <p:cNvPr id="32" name="Shape 26"/>
          <p:cNvSpPr/>
          <p:nvPr/>
        </p:nvSpPr>
        <p:spPr>
          <a:xfrm>
            <a:off x="3456432" y="2414016"/>
            <a:ext cx="1005840" cy="219456"/>
          </a:xfrm>
          <a:prstGeom prst="roundRect">
            <a:avLst>
              <a:gd name="adj" fmla="val 50000"/>
            </a:avLst>
          </a:prstGeom>
          <a:solidFill>
            <a:srgbClr val="D49A00">
              <a:alpha val="13000"/>
            </a:srgbClr>
          </a:solidFill>
          <a:ln w="6350">
            <a:solidFill>
              <a:srgbClr val="D49A00"/>
            </a:solidFill>
            <a:prstDash val="solid"/>
          </a:ln>
        </p:spPr>
      </p:sp>
      <p:sp>
        <p:nvSpPr>
          <p:cNvPr id="33" name="Text 27"/>
          <p:cNvSpPr txBox="1"/>
          <p:nvPr/>
        </p:nvSpPr>
        <p:spPr>
          <a:xfrm>
            <a:off x="3456432" y="2414016"/>
            <a:ext cx="1005840" cy="219456"/>
          </a:xfrm>
          <a:prstGeom prst="rect">
            <a:avLst/>
          </a:prstGeom>
          <a:noFill/>
          <a:ln/>
        </p:spPr>
        <p:txBody>
          <a:bodyPr wrap="square" lIns="0" tIns="0" rIns="0" bIns="0" rtlCol="0" anchor="ctr"/>
          <a:lstStyle/>
          <a:p>
            <a:pPr marL="0" indent="0" algn="ctr">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pic>
        <p:nvPicPr>
          <p:cNvPr id="34" name="Image 3" descr="preencoded.png"/>
          <p:cNvPicPr>
            <a:picLocks noChangeAspect="1"/>
          </p:cNvPicPr>
          <p:nvPr/>
        </p:nvPicPr>
        <p:blipFill>
          <a:blip r:embed="rId4"/>
          <a:stretch>
            <a:fillRect/>
          </a:stretch>
        </p:blipFill>
        <p:spPr>
          <a:xfrm>
            <a:off x="5907024" y="1956816"/>
            <a:ext cx="164592" cy="164592"/>
          </a:xfrm>
          <a:prstGeom prst="rect">
            <a:avLst/>
          </a:prstGeom>
        </p:spPr>
      </p:pic>
      <p:sp>
        <p:nvSpPr>
          <p:cNvPr id="35" name="Shape 28"/>
          <p:cNvSpPr/>
          <p:nvPr/>
        </p:nvSpPr>
        <p:spPr>
          <a:xfrm>
            <a:off x="6126480" y="1371600"/>
            <a:ext cx="2560320" cy="1371600"/>
          </a:xfrm>
          <a:prstGeom prst="roundRect">
            <a:avLst>
              <a:gd name="adj" fmla="val 5333"/>
            </a:avLst>
          </a:prstGeom>
          <a:solidFill>
            <a:srgbClr val="FFFFFF"/>
          </a:solidFill>
          <a:ln w="12700">
            <a:solidFill>
              <a:srgbClr val="D49A00"/>
            </a:solidFill>
            <a:prstDash val="solid"/>
          </a:ln>
        </p:spPr>
      </p:sp>
      <p:sp>
        <p:nvSpPr>
          <p:cNvPr id="36" name="Shape 29"/>
          <p:cNvSpPr/>
          <p:nvPr/>
        </p:nvSpPr>
        <p:spPr>
          <a:xfrm>
            <a:off x="6263640" y="1508760"/>
            <a:ext cx="384048" cy="384048"/>
          </a:xfrm>
          <a:prstGeom prst="ellipse">
            <a:avLst/>
          </a:prstGeom>
          <a:solidFill>
            <a:srgbClr val="D49A00"/>
          </a:solidFill>
          <a:ln/>
        </p:spPr>
      </p:sp>
      <p:sp>
        <p:nvSpPr>
          <p:cNvPr id="37" name="Text 30"/>
          <p:cNvSpPr txBox="1"/>
          <p:nvPr/>
        </p:nvSpPr>
        <p:spPr>
          <a:xfrm>
            <a:off x="6263640" y="15087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8" name="Text 31"/>
          <p:cNvSpPr txBox="1"/>
          <p:nvPr/>
        </p:nvSpPr>
        <p:spPr>
          <a:xfrm>
            <a:off x="6748272" y="1536192"/>
            <a:ext cx="1463040" cy="329184"/>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Add people</a:t>
            </a:r>
            <a:endParaRPr lang="en-US" sz="1400" dirty="0"/>
          </a:p>
        </p:txBody>
      </p:sp>
      <p:pic>
        <p:nvPicPr>
          <p:cNvPr id="39" name="Image 4" descr="preencoded.png"/>
          <p:cNvPicPr>
            <a:picLocks noChangeAspect="1"/>
          </p:cNvPicPr>
          <p:nvPr/>
        </p:nvPicPr>
        <p:blipFill>
          <a:blip r:embed="rId6"/>
          <a:stretch>
            <a:fillRect/>
          </a:stretch>
        </p:blipFill>
        <p:spPr>
          <a:xfrm>
            <a:off x="8293608" y="1572768"/>
            <a:ext cx="256032" cy="256032"/>
          </a:xfrm>
          <a:prstGeom prst="rect">
            <a:avLst/>
          </a:prstGeom>
        </p:spPr>
      </p:pic>
      <p:sp>
        <p:nvSpPr>
          <p:cNvPr id="40" name="Text 32"/>
          <p:cNvSpPr txBox="1"/>
          <p:nvPr/>
        </p:nvSpPr>
        <p:spPr>
          <a:xfrm>
            <a:off x="6291072" y="1993392"/>
            <a:ext cx="228600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Sum WorldPop cells inside each tile (zonal statistics).</a:t>
            </a:r>
            <a:endParaRPr lang="en-US" sz="1050" dirty="0"/>
          </a:p>
        </p:txBody>
      </p:sp>
      <p:sp>
        <p:nvSpPr>
          <p:cNvPr id="41" name="Shape 33"/>
          <p:cNvSpPr/>
          <p:nvPr/>
        </p:nvSpPr>
        <p:spPr>
          <a:xfrm>
            <a:off x="6291072" y="2414016"/>
            <a:ext cx="1005840" cy="219456"/>
          </a:xfrm>
          <a:prstGeom prst="roundRect">
            <a:avLst>
              <a:gd name="adj" fmla="val 50000"/>
            </a:avLst>
          </a:prstGeom>
          <a:solidFill>
            <a:srgbClr val="D49A00">
              <a:alpha val="13000"/>
            </a:srgbClr>
          </a:solidFill>
          <a:ln w="6350">
            <a:solidFill>
              <a:srgbClr val="D49A00"/>
            </a:solidFill>
            <a:prstDash val="solid"/>
          </a:ln>
        </p:spPr>
      </p:sp>
      <p:sp>
        <p:nvSpPr>
          <p:cNvPr id="42" name="Text 34"/>
          <p:cNvSpPr txBox="1"/>
          <p:nvPr/>
        </p:nvSpPr>
        <p:spPr>
          <a:xfrm>
            <a:off x="6291072" y="2414016"/>
            <a:ext cx="1005840" cy="219456"/>
          </a:xfrm>
          <a:prstGeom prst="rect">
            <a:avLst/>
          </a:prstGeom>
          <a:noFill/>
          <a:ln/>
        </p:spPr>
        <p:txBody>
          <a:bodyPr wrap="square" lIns="0" tIns="0" rIns="0" bIns="0" rtlCol="0" anchor="ctr"/>
          <a:lstStyle/>
          <a:p>
            <a:pPr marL="0" indent="0" algn="ctr">
              <a:buNone/>
            </a:pPr>
            <a:r>
              <a:rPr lang="en-US" sz="900" dirty="0">
                <a:solidFill>
                  <a:srgbClr val="231F20"/>
                </a:solidFill>
                <a:latin typeface="Courier New" pitchFamily="34" charset="0"/>
                <a:ea typeface="Courier New" pitchFamily="34" charset="-122"/>
                <a:cs typeface="Courier New" pitchFamily="34" charset="-120"/>
              </a:rPr>
              <a:t>rasterstats</a:t>
            </a:r>
            <a:endParaRPr lang="en-US" sz="900" dirty="0"/>
          </a:p>
        </p:txBody>
      </p:sp>
      <p:sp>
        <p:nvSpPr>
          <p:cNvPr id="43" name="Shape 35"/>
          <p:cNvSpPr/>
          <p:nvPr/>
        </p:nvSpPr>
        <p:spPr>
          <a:xfrm>
            <a:off x="457200" y="2944368"/>
            <a:ext cx="2560320" cy="1371600"/>
          </a:xfrm>
          <a:prstGeom prst="roundRect">
            <a:avLst>
              <a:gd name="adj" fmla="val 5333"/>
            </a:avLst>
          </a:prstGeom>
          <a:solidFill>
            <a:srgbClr val="FFFFFF"/>
          </a:solidFill>
          <a:ln w="12700">
            <a:solidFill>
              <a:srgbClr val="D49A00"/>
            </a:solidFill>
            <a:prstDash val="solid"/>
          </a:ln>
        </p:spPr>
      </p:sp>
      <p:sp>
        <p:nvSpPr>
          <p:cNvPr id="44" name="Shape 36"/>
          <p:cNvSpPr/>
          <p:nvPr/>
        </p:nvSpPr>
        <p:spPr>
          <a:xfrm>
            <a:off x="594360" y="3081528"/>
            <a:ext cx="384048" cy="384048"/>
          </a:xfrm>
          <a:prstGeom prst="ellipse">
            <a:avLst/>
          </a:prstGeom>
          <a:solidFill>
            <a:srgbClr val="D49A00"/>
          </a:solidFill>
          <a:ln/>
        </p:spPr>
      </p:sp>
      <p:sp>
        <p:nvSpPr>
          <p:cNvPr id="45" name="Text 37"/>
          <p:cNvSpPr txBox="1"/>
          <p:nvPr/>
        </p:nvSpPr>
        <p:spPr>
          <a:xfrm>
            <a:off x="594360" y="30815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6" name="Text 38"/>
          <p:cNvSpPr txBox="1"/>
          <p:nvPr/>
        </p:nvSpPr>
        <p:spPr>
          <a:xfrm>
            <a:off x="1078992" y="3108960"/>
            <a:ext cx="1463040" cy="329184"/>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Assign region</a:t>
            </a:r>
            <a:endParaRPr lang="en-US" sz="1400" dirty="0"/>
          </a:p>
        </p:txBody>
      </p:sp>
      <p:pic>
        <p:nvPicPr>
          <p:cNvPr id="47" name="Image 5" descr="preencoded.png"/>
          <p:cNvPicPr>
            <a:picLocks noChangeAspect="1"/>
          </p:cNvPicPr>
          <p:nvPr/>
        </p:nvPicPr>
        <p:blipFill>
          <a:blip r:embed="rId7"/>
          <a:stretch>
            <a:fillRect/>
          </a:stretch>
        </p:blipFill>
        <p:spPr>
          <a:xfrm>
            <a:off x="2624328" y="3145536"/>
            <a:ext cx="256032" cy="256032"/>
          </a:xfrm>
          <a:prstGeom prst="rect">
            <a:avLst/>
          </a:prstGeom>
        </p:spPr>
      </p:pic>
      <p:sp>
        <p:nvSpPr>
          <p:cNvPr id="48" name="Text 39"/>
          <p:cNvSpPr txBox="1"/>
          <p:nvPr/>
        </p:nvSpPr>
        <p:spPr>
          <a:xfrm>
            <a:off x="621792" y="3566160"/>
            <a:ext cx="228600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Spatial join of tile centroids to admin boundaries.</a:t>
            </a:r>
            <a:endParaRPr lang="en-US" sz="1050" dirty="0"/>
          </a:p>
        </p:txBody>
      </p:sp>
      <p:sp>
        <p:nvSpPr>
          <p:cNvPr id="49" name="Shape 40"/>
          <p:cNvSpPr/>
          <p:nvPr/>
        </p:nvSpPr>
        <p:spPr>
          <a:xfrm>
            <a:off x="621792" y="3986784"/>
            <a:ext cx="1005840" cy="219456"/>
          </a:xfrm>
          <a:prstGeom prst="roundRect">
            <a:avLst>
              <a:gd name="adj" fmla="val 50000"/>
            </a:avLst>
          </a:prstGeom>
          <a:solidFill>
            <a:srgbClr val="D49A00">
              <a:alpha val="13000"/>
            </a:srgbClr>
          </a:solidFill>
          <a:ln w="6350">
            <a:solidFill>
              <a:srgbClr val="D49A00"/>
            </a:solidFill>
            <a:prstDash val="solid"/>
          </a:ln>
        </p:spPr>
      </p:sp>
      <p:sp>
        <p:nvSpPr>
          <p:cNvPr id="50" name="Text 41"/>
          <p:cNvSpPr txBox="1"/>
          <p:nvPr/>
        </p:nvSpPr>
        <p:spPr>
          <a:xfrm>
            <a:off x="621792" y="3986784"/>
            <a:ext cx="1005840" cy="219456"/>
          </a:xfrm>
          <a:prstGeom prst="rect">
            <a:avLst/>
          </a:prstGeom>
          <a:noFill/>
          <a:ln/>
        </p:spPr>
        <p:txBody>
          <a:bodyPr wrap="square" lIns="0" tIns="0" rIns="0" bIns="0" rtlCol="0" anchor="ctr"/>
          <a:lstStyle/>
          <a:p>
            <a:pPr marL="0" indent="0" algn="ctr">
              <a:buNone/>
            </a:pPr>
            <a:r>
              <a:rPr lang="en-US" sz="900" dirty="0">
                <a:solidFill>
                  <a:srgbClr val="231F20"/>
                </a:solidFill>
                <a:latin typeface="Courier New" pitchFamily="34" charset="0"/>
                <a:ea typeface="Courier New" pitchFamily="34" charset="-122"/>
                <a:cs typeface="Courier New" pitchFamily="34" charset="-120"/>
              </a:rPr>
              <a:t>geopandas</a:t>
            </a:r>
            <a:endParaRPr lang="en-US" sz="900" dirty="0"/>
          </a:p>
        </p:txBody>
      </p:sp>
      <p:pic>
        <p:nvPicPr>
          <p:cNvPr id="51" name="Image 6" descr="preencoded.png"/>
          <p:cNvPicPr>
            <a:picLocks noChangeAspect="1"/>
          </p:cNvPicPr>
          <p:nvPr/>
        </p:nvPicPr>
        <p:blipFill>
          <a:blip r:embed="rId4"/>
          <a:stretch>
            <a:fillRect/>
          </a:stretch>
        </p:blipFill>
        <p:spPr>
          <a:xfrm>
            <a:off x="3072384" y="3529584"/>
            <a:ext cx="164592" cy="164592"/>
          </a:xfrm>
          <a:prstGeom prst="rect">
            <a:avLst/>
          </a:prstGeom>
        </p:spPr>
      </p:pic>
      <p:sp>
        <p:nvSpPr>
          <p:cNvPr id="52" name="Shape 42"/>
          <p:cNvSpPr/>
          <p:nvPr/>
        </p:nvSpPr>
        <p:spPr>
          <a:xfrm>
            <a:off x="3291840" y="2944368"/>
            <a:ext cx="2560320" cy="1371600"/>
          </a:xfrm>
          <a:prstGeom prst="roundRect">
            <a:avLst>
              <a:gd name="adj" fmla="val 5333"/>
            </a:avLst>
          </a:prstGeom>
          <a:solidFill>
            <a:srgbClr val="FFFFFF"/>
          </a:solidFill>
          <a:ln w="12700">
            <a:solidFill>
              <a:srgbClr val="D49A00"/>
            </a:solidFill>
            <a:prstDash val="solid"/>
          </a:ln>
        </p:spPr>
      </p:sp>
      <p:sp>
        <p:nvSpPr>
          <p:cNvPr id="53" name="Shape 43"/>
          <p:cNvSpPr/>
          <p:nvPr/>
        </p:nvSpPr>
        <p:spPr>
          <a:xfrm>
            <a:off x="3429000" y="3081528"/>
            <a:ext cx="384048" cy="384048"/>
          </a:xfrm>
          <a:prstGeom prst="ellipse">
            <a:avLst/>
          </a:prstGeom>
          <a:solidFill>
            <a:srgbClr val="D49A00"/>
          </a:solidFill>
          <a:ln/>
        </p:spPr>
      </p:sp>
      <p:sp>
        <p:nvSpPr>
          <p:cNvPr id="54" name="Text 44"/>
          <p:cNvSpPr txBox="1"/>
          <p:nvPr/>
        </p:nvSpPr>
        <p:spPr>
          <a:xfrm>
            <a:off x="3429000" y="30815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55" name="Text 45"/>
          <p:cNvSpPr txBox="1"/>
          <p:nvPr/>
        </p:nvSpPr>
        <p:spPr>
          <a:xfrm>
            <a:off x="3913632" y="3108960"/>
            <a:ext cx="1463040" cy="329184"/>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Filter</a:t>
            </a:r>
            <a:endParaRPr lang="en-US" sz="1400" dirty="0"/>
          </a:p>
        </p:txBody>
      </p:sp>
      <p:pic>
        <p:nvPicPr>
          <p:cNvPr id="56" name="Image 7" descr="preencoded.png"/>
          <p:cNvPicPr>
            <a:picLocks noChangeAspect="1"/>
          </p:cNvPicPr>
          <p:nvPr/>
        </p:nvPicPr>
        <p:blipFill>
          <a:blip r:embed="rId8"/>
          <a:stretch>
            <a:fillRect/>
          </a:stretch>
        </p:blipFill>
        <p:spPr>
          <a:xfrm>
            <a:off x="5458968" y="3145536"/>
            <a:ext cx="256032" cy="256032"/>
          </a:xfrm>
          <a:prstGeom prst="rect">
            <a:avLst/>
          </a:prstGeom>
        </p:spPr>
      </p:pic>
      <p:sp>
        <p:nvSpPr>
          <p:cNvPr id="57" name="Text 46"/>
          <p:cNvSpPr txBox="1"/>
          <p:nvPr/>
        </p:nvSpPr>
        <p:spPr>
          <a:xfrm>
            <a:off x="3456432" y="3566160"/>
            <a:ext cx="228600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Drop tiles below a stated minimum of tests and devices.</a:t>
            </a:r>
            <a:endParaRPr lang="en-US" sz="1050" dirty="0"/>
          </a:p>
        </p:txBody>
      </p:sp>
      <p:sp>
        <p:nvSpPr>
          <p:cNvPr id="58" name="Shape 47"/>
          <p:cNvSpPr/>
          <p:nvPr/>
        </p:nvSpPr>
        <p:spPr>
          <a:xfrm>
            <a:off x="3456432" y="3986784"/>
            <a:ext cx="1005840" cy="219456"/>
          </a:xfrm>
          <a:prstGeom prst="roundRect">
            <a:avLst>
              <a:gd name="adj" fmla="val 50000"/>
            </a:avLst>
          </a:prstGeom>
          <a:solidFill>
            <a:srgbClr val="D49A00">
              <a:alpha val="13000"/>
            </a:srgbClr>
          </a:solidFill>
          <a:ln w="6350">
            <a:solidFill>
              <a:srgbClr val="D49A00"/>
            </a:solidFill>
            <a:prstDash val="solid"/>
          </a:ln>
        </p:spPr>
      </p:sp>
      <p:sp>
        <p:nvSpPr>
          <p:cNvPr id="59" name="Text 48"/>
          <p:cNvSpPr txBox="1"/>
          <p:nvPr/>
        </p:nvSpPr>
        <p:spPr>
          <a:xfrm>
            <a:off x="3456432" y="3986784"/>
            <a:ext cx="1005840" cy="219456"/>
          </a:xfrm>
          <a:prstGeom prst="rect">
            <a:avLst/>
          </a:prstGeom>
          <a:noFill/>
          <a:ln/>
        </p:spPr>
        <p:txBody>
          <a:bodyPr wrap="square" lIns="0" tIns="0" rIns="0" bIns="0" rtlCol="0" anchor="ctr"/>
          <a:lstStyle/>
          <a:p>
            <a:pPr marL="0" indent="0" algn="ctr">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pic>
        <p:nvPicPr>
          <p:cNvPr id="60" name="Image 8" descr="preencoded.png"/>
          <p:cNvPicPr>
            <a:picLocks noChangeAspect="1"/>
          </p:cNvPicPr>
          <p:nvPr/>
        </p:nvPicPr>
        <p:blipFill>
          <a:blip r:embed="rId4"/>
          <a:stretch>
            <a:fillRect/>
          </a:stretch>
        </p:blipFill>
        <p:spPr>
          <a:xfrm>
            <a:off x="5907024" y="3529584"/>
            <a:ext cx="164592" cy="164592"/>
          </a:xfrm>
          <a:prstGeom prst="rect">
            <a:avLst/>
          </a:prstGeom>
        </p:spPr>
      </p:pic>
      <p:sp>
        <p:nvSpPr>
          <p:cNvPr id="61" name="Shape 49"/>
          <p:cNvSpPr/>
          <p:nvPr/>
        </p:nvSpPr>
        <p:spPr>
          <a:xfrm>
            <a:off x="6126480" y="2944368"/>
            <a:ext cx="2560320" cy="1371600"/>
          </a:xfrm>
          <a:prstGeom prst="roundRect">
            <a:avLst>
              <a:gd name="adj" fmla="val 5333"/>
            </a:avLst>
          </a:prstGeom>
          <a:solidFill>
            <a:srgbClr val="FFFFFF"/>
          </a:solidFill>
          <a:ln w="12700">
            <a:solidFill>
              <a:srgbClr val="D49A00"/>
            </a:solidFill>
            <a:prstDash val="solid"/>
          </a:ln>
        </p:spPr>
      </p:sp>
      <p:sp>
        <p:nvSpPr>
          <p:cNvPr id="62" name="Shape 50"/>
          <p:cNvSpPr/>
          <p:nvPr/>
        </p:nvSpPr>
        <p:spPr>
          <a:xfrm>
            <a:off x="6263640" y="3081528"/>
            <a:ext cx="384048" cy="384048"/>
          </a:xfrm>
          <a:prstGeom prst="ellipse">
            <a:avLst/>
          </a:prstGeom>
          <a:solidFill>
            <a:srgbClr val="D49A00"/>
          </a:solidFill>
          <a:ln/>
        </p:spPr>
      </p:sp>
      <p:sp>
        <p:nvSpPr>
          <p:cNvPr id="63" name="Text 51"/>
          <p:cNvSpPr txBox="1"/>
          <p:nvPr/>
        </p:nvSpPr>
        <p:spPr>
          <a:xfrm>
            <a:off x="6263640" y="30815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64" name="Text 52"/>
          <p:cNvSpPr txBox="1"/>
          <p:nvPr/>
        </p:nvSpPr>
        <p:spPr>
          <a:xfrm>
            <a:off x="6748272" y="3108960"/>
            <a:ext cx="1463040" cy="329184"/>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Compute &amp; check</a:t>
            </a:r>
            <a:endParaRPr lang="en-US" sz="1400" dirty="0"/>
          </a:p>
        </p:txBody>
      </p:sp>
      <p:pic>
        <p:nvPicPr>
          <p:cNvPr id="65" name="Image 9" descr="preencoded.png"/>
          <p:cNvPicPr>
            <a:picLocks noChangeAspect="1"/>
          </p:cNvPicPr>
          <p:nvPr/>
        </p:nvPicPr>
        <p:blipFill>
          <a:blip r:embed="rId9"/>
          <a:stretch>
            <a:fillRect/>
          </a:stretch>
        </p:blipFill>
        <p:spPr>
          <a:xfrm>
            <a:off x="8293608" y="3145536"/>
            <a:ext cx="256032" cy="256032"/>
          </a:xfrm>
          <a:prstGeom prst="rect">
            <a:avLst/>
          </a:prstGeom>
        </p:spPr>
      </p:pic>
      <p:sp>
        <p:nvSpPr>
          <p:cNvPr id="66" name="Text 53"/>
          <p:cNvSpPr txBox="1"/>
          <p:nvPr/>
        </p:nvSpPr>
        <p:spPr>
          <a:xfrm>
            <a:off x="6291072" y="3566160"/>
            <a:ext cx="228600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Weighted indicators per region, then sanity checks.</a:t>
            </a:r>
            <a:endParaRPr lang="en-US" sz="1050" dirty="0"/>
          </a:p>
        </p:txBody>
      </p:sp>
      <p:sp>
        <p:nvSpPr>
          <p:cNvPr id="67" name="Shape 54"/>
          <p:cNvSpPr/>
          <p:nvPr/>
        </p:nvSpPr>
        <p:spPr>
          <a:xfrm>
            <a:off x="6291072" y="3986784"/>
            <a:ext cx="1005840" cy="219456"/>
          </a:xfrm>
          <a:prstGeom prst="roundRect">
            <a:avLst>
              <a:gd name="adj" fmla="val 50000"/>
            </a:avLst>
          </a:prstGeom>
          <a:solidFill>
            <a:srgbClr val="D49A00">
              <a:alpha val="13000"/>
            </a:srgbClr>
          </a:solidFill>
          <a:ln w="6350">
            <a:solidFill>
              <a:srgbClr val="D49A00"/>
            </a:solidFill>
            <a:prstDash val="solid"/>
          </a:ln>
        </p:spPr>
      </p:sp>
      <p:sp>
        <p:nvSpPr>
          <p:cNvPr id="68" name="Text 55"/>
          <p:cNvSpPr txBox="1"/>
          <p:nvPr/>
        </p:nvSpPr>
        <p:spPr>
          <a:xfrm>
            <a:off x="6291072" y="3986784"/>
            <a:ext cx="1005840" cy="219456"/>
          </a:xfrm>
          <a:prstGeom prst="rect">
            <a:avLst/>
          </a:prstGeom>
          <a:noFill/>
          <a:ln/>
        </p:spPr>
        <p:txBody>
          <a:bodyPr wrap="square" lIns="0" tIns="0" rIns="0" bIns="0" rtlCol="0" anchor="ctr"/>
          <a:lstStyle/>
          <a:p>
            <a:pPr marL="0" indent="0" algn="ctr">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sp>
        <p:nvSpPr>
          <p:cNvPr id="69" name="Text 56"/>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Step 0, before all of this: verify national coverage (tiles and tests) for the quarters you plan to use.</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IN CODE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whole pipeline in about twenty lines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325880"/>
            <a:ext cx="5577840" cy="3154680"/>
          </a:xfrm>
          <a:prstGeom prst="roundRect">
            <a:avLst>
              <a:gd name="adj" fmla="val 2319"/>
            </a:avLst>
          </a:prstGeom>
          <a:solidFill>
            <a:srgbClr val="F4F7F5"/>
          </a:solidFill>
          <a:ln w="9525">
            <a:solidFill>
              <a:srgbClr val="D5DED9"/>
            </a:solidFill>
            <a:prstDash val="solid"/>
          </a:ln>
        </p:spPr>
      </p:sp>
      <p:sp>
        <p:nvSpPr>
          <p:cNvPr id="18" name="Text 15"/>
          <p:cNvSpPr txBox="1"/>
          <p:nvPr/>
        </p:nvSpPr>
        <p:spPr>
          <a:xfrm>
            <a:off x="594360" y="1463040"/>
            <a:ext cx="5349240" cy="2971800"/>
          </a:xfrm>
          <a:prstGeom prst="rect">
            <a:avLst/>
          </a:prstGeom>
          <a:noFill/>
          <a:ln/>
        </p:spPr>
        <p:txBody>
          <a:bodyPr wrap="square" lIns="0" tIns="0" rIns="0" bIns="0" rtlCol="0" anchor="t"/>
          <a:lstStyle/>
          <a:p>
            <a:pPr marL="0" indent="0">
              <a:buNone/>
            </a:pPr>
            <a:r>
              <a:rPr lang="en-US" sz="900" dirty="0">
                <a:solidFill>
                  <a:srgbClr val="231F20"/>
                </a:solidFill>
                <a:latin typeface="Courier New" pitchFamily="34" charset="0"/>
                <a:ea typeface="Courier New" pitchFamily="34" charset="-122"/>
                <a:cs typeface="Courier New" pitchFamily="34" charset="-120"/>
              </a:rPr>
              <a:t>import pandas as pd, geopandas as gpd</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from rasterstats import zonal_stats</a:t>
            </a:r>
            <a:endParaRPr lang="en-US" sz="900" dirty="0"/>
          </a:p>
          <a:p>
            <a:pPr marL="0" indent="0">
              <a:buNone/>
            </a:pP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URL = ("https://ookla-open-data.s3.amazonaws.com/parquet/"</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"performance/type=mobile/year=2025/quarter=4/"</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"2025-10-01_performance_mobile_tiles.parquet")</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adm = gpd.read_file("adm2.gpkg").to_crs(4326)</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x0, y0, x1, y1 = adm.total_bounds</a:t>
            </a:r>
            <a:endParaRPr lang="en-US" sz="900" dirty="0"/>
          </a:p>
          <a:p>
            <a:pPr marL="0" indent="0">
              <a:buNone/>
            </a:pP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df = pd.read_parquet(URL)                          # 1 load</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df = df[df.tile_x.between(x0, x1)</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&amp; df.tile_y.between(y0, y1)]               # 2 clip</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t = gpd.GeoDataFrame(df, crs=4326,</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geometry=gpd.GeoSeries.from_wkt(df.tile))</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t["pop"] = [z["sum"] or 0 for z in zonal_stats(   # 3 people</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t, "worldpop_2025_100m.tif", stats="sum")]</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t = gpd.sjoin(t.set_geometry(t.centroid),         # 4 region</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adm[["adm2", "geometry"]])</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t = t[(t.tests &gt;= 3) &amp; (t.devices &gt;= 2)]          # 5 filter</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t["w"] = t.avg_d_kbps / 1000 * t["pop"]           # 6 compute</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pw = t.groupby("adm2")["w"].sum() / t.groupby("adm2")["pop"].sum()</a:t>
            </a:r>
            <a:endParaRPr lang="en-US" sz="900" dirty="0"/>
          </a:p>
        </p:txBody>
      </p:sp>
      <p:sp>
        <p:nvSpPr>
          <p:cNvPr id="19" name="Shape 16"/>
          <p:cNvSpPr/>
          <p:nvPr/>
        </p:nvSpPr>
        <p:spPr>
          <a:xfrm>
            <a:off x="6263640" y="1371600"/>
            <a:ext cx="402336" cy="402336"/>
          </a:xfrm>
          <a:prstGeom prst="ellipse">
            <a:avLst/>
          </a:prstGeom>
          <a:solidFill>
            <a:srgbClr val="D49A00">
              <a:alpha val="22000"/>
            </a:srgbClr>
          </a:solidFill>
          <a:ln/>
        </p:spPr>
      </p:sp>
      <p:pic>
        <p:nvPicPr>
          <p:cNvPr id="20" name="Image 0" descr="preencoded.png"/>
          <p:cNvPicPr>
            <a:picLocks noChangeAspect="1"/>
          </p:cNvPicPr>
          <p:nvPr/>
        </p:nvPicPr>
        <p:blipFill>
          <a:blip r:embed="rId3"/>
          <a:stretch>
            <a:fillRect/>
          </a:stretch>
        </p:blipFill>
        <p:spPr>
          <a:xfrm>
            <a:off x="6360201" y="1468161"/>
            <a:ext cx="209215" cy="209215"/>
          </a:xfrm>
          <a:prstGeom prst="rect">
            <a:avLst/>
          </a:prstGeom>
        </p:spPr>
      </p:pic>
      <p:sp>
        <p:nvSpPr>
          <p:cNvPr id="21" name="Text 17"/>
          <p:cNvSpPr txBox="1"/>
          <p:nvPr/>
        </p:nvSpPr>
        <p:spPr>
          <a:xfrm>
            <a:off x="6766560" y="1325880"/>
            <a:ext cx="192024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Filter before geometry</a:t>
            </a:r>
            <a:endParaRPr lang="en-US" sz="1150" dirty="0"/>
          </a:p>
        </p:txBody>
      </p:sp>
      <p:sp>
        <p:nvSpPr>
          <p:cNvPr id="22" name="Text 18"/>
          <p:cNvSpPr txBox="1"/>
          <p:nvPr/>
        </p:nvSpPr>
        <p:spPr>
          <a:xfrm>
            <a:off x="6766560" y="1572768"/>
            <a:ext cx="1920240" cy="50292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Building WKT geometries for the global file is the slowest step.</a:t>
            </a:r>
            <a:endParaRPr lang="en-US" sz="950" dirty="0"/>
          </a:p>
        </p:txBody>
      </p:sp>
      <p:sp>
        <p:nvSpPr>
          <p:cNvPr id="23" name="Shape 19"/>
          <p:cNvSpPr/>
          <p:nvPr/>
        </p:nvSpPr>
        <p:spPr>
          <a:xfrm>
            <a:off x="6263640" y="2176272"/>
            <a:ext cx="402336" cy="402336"/>
          </a:xfrm>
          <a:prstGeom prst="ellipse">
            <a:avLst/>
          </a:prstGeom>
          <a:solidFill>
            <a:srgbClr val="D49A00">
              <a:alpha val="22000"/>
            </a:srgbClr>
          </a:solidFill>
          <a:ln/>
        </p:spPr>
      </p:sp>
      <p:pic>
        <p:nvPicPr>
          <p:cNvPr id="24" name="Image 1" descr="preencoded.png"/>
          <p:cNvPicPr>
            <a:picLocks noChangeAspect="1"/>
          </p:cNvPicPr>
          <p:nvPr/>
        </p:nvPicPr>
        <p:blipFill>
          <a:blip r:embed="rId4"/>
          <a:stretch>
            <a:fillRect/>
          </a:stretch>
        </p:blipFill>
        <p:spPr>
          <a:xfrm>
            <a:off x="6360201" y="2272833"/>
            <a:ext cx="209215" cy="209215"/>
          </a:xfrm>
          <a:prstGeom prst="rect">
            <a:avLst/>
          </a:prstGeom>
        </p:spPr>
      </p:pic>
      <p:sp>
        <p:nvSpPr>
          <p:cNvPr id="25" name="Text 20"/>
          <p:cNvSpPr txBox="1"/>
          <p:nvPr/>
        </p:nvSpPr>
        <p:spPr>
          <a:xfrm>
            <a:off x="6766560" y="2130552"/>
            <a:ext cx="192024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Water and empty cells</a:t>
            </a:r>
            <a:endParaRPr lang="en-US" sz="1150" dirty="0"/>
          </a:p>
        </p:txBody>
      </p:sp>
      <p:sp>
        <p:nvSpPr>
          <p:cNvPr id="26" name="Text 21"/>
          <p:cNvSpPr txBox="1"/>
          <p:nvPr/>
        </p:nvSpPr>
        <p:spPr>
          <a:xfrm>
            <a:off x="6766560" y="2377440"/>
            <a:ext cx="1920240" cy="50292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zonal_stats returns None where no population: treat as 0.</a:t>
            </a:r>
            <a:endParaRPr lang="en-US" sz="950" dirty="0"/>
          </a:p>
        </p:txBody>
      </p:sp>
      <p:sp>
        <p:nvSpPr>
          <p:cNvPr id="27" name="Shape 22"/>
          <p:cNvSpPr/>
          <p:nvPr/>
        </p:nvSpPr>
        <p:spPr>
          <a:xfrm>
            <a:off x="6263640" y="2980944"/>
            <a:ext cx="402336" cy="402336"/>
          </a:xfrm>
          <a:prstGeom prst="ellipse">
            <a:avLst/>
          </a:prstGeom>
          <a:solidFill>
            <a:srgbClr val="D49A00">
              <a:alpha val="22000"/>
            </a:srgbClr>
          </a:solidFill>
          <a:ln/>
        </p:spPr>
      </p:sp>
      <p:pic>
        <p:nvPicPr>
          <p:cNvPr id="28" name="Image 2" descr="preencoded.png"/>
          <p:cNvPicPr>
            <a:picLocks noChangeAspect="1"/>
          </p:cNvPicPr>
          <p:nvPr/>
        </p:nvPicPr>
        <p:blipFill>
          <a:blip r:embed="rId5"/>
          <a:stretch>
            <a:fillRect/>
          </a:stretch>
        </p:blipFill>
        <p:spPr>
          <a:xfrm>
            <a:off x="6360201" y="3077505"/>
            <a:ext cx="209215" cy="209215"/>
          </a:xfrm>
          <a:prstGeom prst="rect">
            <a:avLst/>
          </a:prstGeom>
        </p:spPr>
      </p:pic>
      <p:sp>
        <p:nvSpPr>
          <p:cNvPr id="29" name="Text 23"/>
          <p:cNvSpPr txBox="1"/>
          <p:nvPr/>
        </p:nvSpPr>
        <p:spPr>
          <a:xfrm>
            <a:off x="6766560" y="2935224"/>
            <a:ext cx="192024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Thresholds are choices</a:t>
            </a:r>
            <a:endParaRPr lang="en-US" sz="1150" dirty="0"/>
          </a:p>
        </p:txBody>
      </p:sp>
      <p:sp>
        <p:nvSpPr>
          <p:cNvPr id="30" name="Text 24"/>
          <p:cNvSpPr txBox="1"/>
          <p:nvPr/>
        </p:nvSpPr>
        <p:spPr>
          <a:xfrm>
            <a:off x="6766560" y="3182112"/>
            <a:ext cx="1920240" cy="50292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3 tests / 2 devices is an example. Choose, test and document yours.</a:t>
            </a:r>
            <a:endParaRPr lang="en-US" sz="950" dirty="0"/>
          </a:p>
        </p:txBody>
      </p:sp>
      <p:sp>
        <p:nvSpPr>
          <p:cNvPr id="31" name="Shape 25"/>
          <p:cNvSpPr/>
          <p:nvPr/>
        </p:nvSpPr>
        <p:spPr>
          <a:xfrm>
            <a:off x="6263640" y="3785616"/>
            <a:ext cx="402336" cy="402336"/>
          </a:xfrm>
          <a:prstGeom prst="ellipse">
            <a:avLst/>
          </a:prstGeom>
          <a:solidFill>
            <a:srgbClr val="D49A00">
              <a:alpha val="22000"/>
            </a:srgbClr>
          </a:solidFill>
          <a:ln/>
        </p:spPr>
      </p:sp>
      <p:pic>
        <p:nvPicPr>
          <p:cNvPr id="32" name="Image 3" descr="preencoded.png"/>
          <p:cNvPicPr>
            <a:picLocks noChangeAspect="1"/>
          </p:cNvPicPr>
          <p:nvPr/>
        </p:nvPicPr>
        <p:blipFill>
          <a:blip r:embed="rId6"/>
          <a:stretch>
            <a:fillRect/>
          </a:stretch>
        </p:blipFill>
        <p:spPr>
          <a:xfrm>
            <a:off x="6360201" y="3882177"/>
            <a:ext cx="209215" cy="209215"/>
          </a:xfrm>
          <a:prstGeom prst="rect">
            <a:avLst/>
          </a:prstGeom>
        </p:spPr>
      </p:pic>
      <p:sp>
        <p:nvSpPr>
          <p:cNvPr id="33" name="Text 26"/>
          <p:cNvSpPr txBox="1"/>
          <p:nvPr/>
        </p:nvSpPr>
        <p:spPr>
          <a:xfrm>
            <a:off x="6766560" y="3739896"/>
            <a:ext cx="192024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Full notebook</a:t>
            </a:r>
            <a:endParaRPr lang="en-US" sz="1150" dirty="0"/>
          </a:p>
        </p:txBody>
      </p:sp>
      <p:sp>
        <p:nvSpPr>
          <p:cNvPr id="34" name="Text 27"/>
          <p:cNvSpPr txBox="1"/>
          <p:nvPr/>
        </p:nvSpPr>
        <p:spPr>
          <a:xfrm>
            <a:off x="6766560" y="3986784"/>
            <a:ext cx="1920240" cy="50292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Available in the DI4A GitHub organisation.</a:t>
            </a:r>
            <a:endParaRPr lang="en-US" sz="950" dirty="0"/>
          </a:p>
        </p:txBody>
      </p:sp>
      <p:sp>
        <p:nvSpPr>
          <p:cNvPr id="35" name="Text 28"/>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Python 3 with pandas, geopandas ≥ 1.0 and rasterstats. File names for boundaries and WorldPop are placeholders.</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WHAT TO COMPUTE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 small, honest set of regional indicators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71600"/>
            <a:ext cx="4023360" cy="1234440"/>
          </a:xfrm>
          <a:prstGeom prst="roundRect">
            <a:avLst>
              <a:gd name="adj" fmla="val 5926"/>
            </a:avLst>
          </a:prstGeom>
          <a:solidFill>
            <a:srgbClr val="E8F5EF"/>
          </a:solidFill>
          <a:ln w="19050">
            <a:solidFill>
              <a:srgbClr val="00A86A"/>
            </a:solidFill>
            <a:prstDash val="solid"/>
          </a:ln>
        </p:spPr>
      </p:sp>
      <p:sp>
        <p:nvSpPr>
          <p:cNvPr id="18" name="Shape 15"/>
          <p:cNvSpPr/>
          <p:nvPr/>
        </p:nvSpPr>
        <p:spPr>
          <a:xfrm>
            <a:off x="594360" y="1508760"/>
            <a:ext cx="457200" cy="457200"/>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704088" y="1618488"/>
            <a:ext cx="237744" cy="237744"/>
          </a:xfrm>
          <a:prstGeom prst="rect">
            <a:avLst/>
          </a:prstGeom>
        </p:spPr>
      </p:pic>
      <p:sp>
        <p:nvSpPr>
          <p:cNvPr id="20" name="Text 16"/>
          <p:cNvSpPr txBox="1"/>
          <p:nvPr/>
        </p:nvSpPr>
        <p:spPr>
          <a:xfrm>
            <a:off x="1188720" y="1499616"/>
            <a:ext cx="3200400" cy="256032"/>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Population-weighted speed</a:t>
            </a:r>
            <a:endParaRPr lang="en-US" sz="1350" dirty="0"/>
          </a:p>
        </p:txBody>
      </p:sp>
      <p:sp>
        <p:nvSpPr>
          <p:cNvPr id="21" name="Shape 17"/>
          <p:cNvSpPr/>
          <p:nvPr/>
        </p:nvSpPr>
        <p:spPr>
          <a:xfrm>
            <a:off x="1188720" y="1810512"/>
            <a:ext cx="3154680" cy="292608"/>
          </a:xfrm>
          <a:prstGeom prst="roundRect">
            <a:avLst>
              <a:gd name="adj" fmla="val 18750"/>
            </a:avLst>
          </a:prstGeom>
          <a:solidFill>
            <a:srgbClr val="FFFFFF"/>
          </a:solidFill>
          <a:ln w="6350">
            <a:solidFill>
              <a:srgbClr val="D5DED9"/>
            </a:solidFill>
            <a:prstDash val="solid"/>
          </a:ln>
        </p:spPr>
      </p:sp>
      <p:sp>
        <p:nvSpPr>
          <p:cNvPr id="22" name="Text 18"/>
          <p:cNvSpPr txBox="1"/>
          <p:nvPr/>
        </p:nvSpPr>
        <p:spPr>
          <a:xfrm>
            <a:off x="1280160" y="1810512"/>
            <a:ext cx="3017520" cy="292608"/>
          </a:xfrm>
          <a:prstGeom prst="rect">
            <a:avLst/>
          </a:prstGeom>
          <a:noFill/>
          <a:ln/>
        </p:spPr>
        <p:txBody>
          <a:bodyPr wrap="square" lIns="0" tIns="0" rIns="0" bIns="0" rtlCol="0" anchor="ctr"/>
          <a:lstStyle/>
          <a:p>
            <a:pPr marL="0" indent="0">
              <a:buNone/>
            </a:pPr>
            <a:r>
              <a:rPr lang="en-US" sz="1000" b="1" dirty="0">
                <a:solidFill>
                  <a:srgbClr val="00A86A"/>
                </a:solidFill>
                <a:latin typeface="Courier New" pitchFamily="34" charset="0"/>
                <a:ea typeface="Courier New" pitchFamily="34" charset="-122"/>
                <a:cs typeface="Courier New" pitchFamily="34" charset="-120"/>
              </a:rPr>
              <a:t>Σ (Mbps × pop) / Σ pop</a:t>
            </a:r>
            <a:endParaRPr lang="en-US" sz="1000" dirty="0"/>
          </a:p>
        </p:txBody>
      </p:sp>
      <p:sp>
        <p:nvSpPr>
          <p:cNvPr id="23" name="Text 19"/>
          <p:cNvSpPr txBox="1"/>
          <p:nvPr/>
        </p:nvSpPr>
        <p:spPr>
          <a:xfrm>
            <a:off x="1188720" y="2176272"/>
            <a:ext cx="3200400" cy="38404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What a typical resident of measured areas experiences.</a:t>
            </a:r>
            <a:endParaRPr lang="en-US" sz="1050" dirty="0"/>
          </a:p>
        </p:txBody>
      </p:sp>
      <p:sp>
        <p:nvSpPr>
          <p:cNvPr id="24" name="Shape 20"/>
          <p:cNvSpPr/>
          <p:nvPr/>
        </p:nvSpPr>
        <p:spPr>
          <a:xfrm>
            <a:off x="4663440" y="1371600"/>
            <a:ext cx="4023360" cy="1234440"/>
          </a:xfrm>
          <a:prstGeom prst="roundRect">
            <a:avLst>
              <a:gd name="adj" fmla="val 5926"/>
            </a:avLst>
          </a:prstGeom>
          <a:solidFill>
            <a:srgbClr val="F4F7F5"/>
          </a:solidFill>
          <a:ln w="9525">
            <a:solidFill>
              <a:srgbClr val="D5DED9"/>
            </a:solidFill>
            <a:prstDash val="solid"/>
          </a:ln>
        </p:spPr>
      </p:sp>
      <p:sp>
        <p:nvSpPr>
          <p:cNvPr id="25" name="Shape 21"/>
          <p:cNvSpPr/>
          <p:nvPr/>
        </p:nvSpPr>
        <p:spPr>
          <a:xfrm>
            <a:off x="4800600" y="1508760"/>
            <a:ext cx="457200" cy="457200"/>
          </a:xfrm>
          <a:prstGeom prst="ellipse">
            <a:avLst/>
          </a:prstGeom>
          <a:solidFill>
            <a:srgbClr val="0E7C86">
              <a:alpha val="22000"/>
            </a:srgbClr>
          </a:solidFill>
          <a:ln/>
        </p:spPr>
      </p:sp>
      <p:pic>
        <p:nvPicPr>
          <p:cNvPr id="26" name="Image 1" descr="preencoded.png"/>
          <p:cNvPicPr>
            <a:picLocks noChangeAspect="1"/>
          </p:cNvPicPr>
          <p:nvPr/>
        </p:nvPicPr>
        <p:blipFill>
          <a:blip r:embed="rId4"/>
          <a:stretch>
            <a:fillRect/>
          </a:stretch>
        </p:blipFill>
        <p:spPr>
          <a:xfrm>
            <a:off x="4910328" y="1618488"/>
            <a:ext cx="237744" cy="237744"/>
          </a:xfrm>
          <a:prstGeom prst="rect">
            <a:avLst/>
          </a:prstGeom>
        </p:spPr>
      </p:pic>
      <p:sp>
        <p:nvSpPr>
          <p:cNvPr id="27" name="Text 22"/>
          <p:cNvSpPr txBox="1"/>
          <p:nvPr/>
        </p:nvSpPr>
        <p:spPr>
          <a:xfrm>
            <a:off x="5394960" y="1499616"/>
            <a:ext cx="3200400" cy="256032"/>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Measured-population share</a:t>
            </a:r>
            <a:endParaRPr lang="en-US" sz="1350" dirty="0"/>
          </a:p>
        </p:txBody>
      </p:sp>
      <p:sp>
        <p:nvSpPr>
          <p:cNvPr id="28" name="Shape 23"/>
          <p:cNvSpPr/>
          <p:nvPr/>
        </p:nvSpPr>
        <p:spPr>
          <a:xfrm>
            <a:off x="5394960" y="1810512"/>
            <a:ext cx="3154680" cy="292608"/>
          </a:xfrm>
          <a:prstGeom prst="roundRect">
            <a:avLst>
              <a:gd name="adj" fmla="val 18750"/>
            </a:avLst>
          </a:prstGeom>
          <a:solidFill>
            <a:srgbClr val="FFFFFF"/>
          </a:solidFill>
          <a:ln w="6350">
            <a:solidFill>
              <a:srgbClr val="D5DED9"/>
            </a:solidFill>
            <a:prstDash val="solid"/>
          </a:ln>
        </p:spPr>
      </p:sp>
      <p:sp>
        <p:nvSpPr>
          <p:cNvPr id="29" name="Text 24"/>
          <p:cNvSpPr txBox="1"/>
          <p:nvPr/>
        </p:nvSpPr>
        <p:spPr>
          <a:xfrm>
            <a:off x="5486400" y="1810512"/>
            <a:ext cx="3017520" cy="292608"/>
          </a:xfrm>
          <a:prstGeom prst="rect">
            <a:avLst/>
          </a:prstGeom>
          <a:noFill/>
          <a:ln/>
        </p:spPr>
        <p:txBody>
          <a:bodyPr wrap="square" lIns="0" tIns="0" rIns="0" bIns="0" rtlCol="0" anchor="ctr"/>
          <a:lstStyle/>
          <a:p>
            <a:pPr marL="0" indent="0">
              <a:buNone/>
            </a:pPr>
            <a:r>
              <a:rPr lang="en-US" sz="1000" b="1" dirty="0">
                <a:solidFill>
                  <a:srgbClr val="0E7C86"/>
                </a:solidFill>
                <a:latin typeface="Courier New" pitchFamily="34" charset="0"/>
                <a:ea typeface="Courier New" pitchFamily="34" charset="-122"/>
                <a:cs typeface="Courier New" pitchFamily="34" charset="-120"/>
              </a:rPr>
              <a:t>pop in measured tiles / total pop</a:t>
            </a:r>
            <a:endParaRPr lang="en-US" sz="1000" dirty="0"/>
          </a:p>
        </p:txBody>
      </p:sp>
      <p:sp>
        <p:nvSpPr>
          <p:cNvPr id="30" name="Text 25"/>
          <p:cNvSpPr txBox="1"/>
          <p:nvPr/>
        </p:nvSpPr>
        <p:spPr>
          <a:xfrm>
            <a:off x="5394960" y="2176272"/>
            <a:ext cx="3200400" cy="38404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How much of the region the speed actually represents.</a:t>
            </a:r>
            <a:endParaRPr lang="en-US" sz="1050" dirty="0"/>
          </a:p>
        </p:txBody>
      </p:sp>
      <p:sp>
        <p:nvSpPr>
          <p:cNvPr id="31" name="Shape 26"/>
          <p:cNvSpPr/>
          <p:nvPr/>
        </p:nvSpPr>
        <p:spPr>
          <a:xfrm>
            <a:off x="457200" y="2761488"/>
            <a:ext cx="4023360" cy="1234440"/>
          </a:xfrm>
          <a:prstGeom prst="roundRect">
            <a:avLst>
              <a:gd name="adj" fmla="val 5926"/>
            </a:avLst>
          </a:prstGeom>
          <a:solidFill>
            <a:srgbClr val="F4F7F5"/>
          </a:solidFill>
          <a:ln w="9525">
            <a:solidFill>
              <a:srgbClr val="D5DED9"/>
            </a:solidFill>
            <a:prstDash val="solid"/>
          </a:ln>
        </p:spPr>
      </p:sp>
      <p:sp>
        <p:nvSpPr>
          <p:cNvPr id="32" name="Shape 27"/>
          <p:cNvSpPr/>
          <p:nvPr/>
        </p:nvSpPr>
        <p:spPr>
          <a:xfrm>
            <a:off x="594360" y="2898648"/>
            <a:ext cx="457200" cy="457200"/>
          </a:xfrm>
          <a:prstGeom prst="ellipse">
            <a:avLst/>
          </a:prstGeom>
          <a:solidFill>
            <a:srgbClr val="D49A00">
              <a:alpha val="22000"/>
            </a:srgbClr>
          </a:solidFill>
          <a:ln/>
        </p:spPr>
      </p:sp>
      <p:pic>
        <p:nvPicPr>
          <p:cNvPr id="33" name="Image 2" descr="preencoded.png"/>
          <p:cNvPicPr>
            <a:picLocks noChangeAspect="1"/>
          </p:cNvPicPr>
          <p:nvPr/>
        </p:nvPicPr>
        <p:blipFill>
          <a:blip r:embed="rId5"/>
          <a:stretch>
            <a:fillRect/>
          </a:stretch>
        </p:blipFill>
        <p:spPr>
          <a:xfrm>
            <a:off x="704088" y="3008376"/>
            <a:ext cx="237744" cy="237744"/>
          </a:xfrm>
          <a:prstGeom prst="rect">
            <a:avLst/>
          </a:prstGeom>
        </p:spPr>
      </p:pic>
      <p:sp>
        <p:nvSpPr>
          <p:cNvPr id="34" name="Text 28"/>
          <p:cNvSpPr txBox="1"/>
          <p:nvPr/>
        </p:nvSpPr>
        <p:spPr>
          <a:xfrm>
            <a:off x="1188720" y="2889504"/>
            <a:ext cx="3200400" cy="256032"/>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Share of people above a threshold</a:t>
            </a:r>
            <a:endParaRPr lang="en-US" sz="1350" dirty="0"/>
          </a:p>
        </p:txBody>
      </p:sp>
      <p:sp>
        <p:nvSpPr>
          <p:cNvPr id="35" name="Shape 29"/>
          <p:cNvSpPr/>
          <p:nvPr/>
        </p:nvSpPr>
        <p:spPr>
          <a:xfrm>
            <a:off x="1188720" y="3200400"/>
            <a:ext cx="3154680" cy="292608"/>
          </a:xfrm>
          <a:prstGeom prst="roundRect">
            <a:avLst>
              <a:gd name="adj" fmla="val 18750"/>
            </a:avLst>
          </a:prstGeom>
          <a:solidFill>
            <a:srgbClr val="FFFFFF"/>
          </a:solidFill>
          <a:ln w="6350">
            <a:solidFill>
              <a:srgbClr val="D5DED9"/>
            </a:solidFill>
            <a:prstDash val="solid"/>
          </a:ln>
        </p:spPr>
      </p:sp>
      <p:sp>
        <p:nvSpPr>
          <p:cNvPr id="36" name="Text 30"/>
          <p:cNvSpPr txBox="1"/>
          <p:nvPr/>
        </p:nvSpPr>
        <p:spPr>
          <a:xfrm>
            <a:off x="1280160" y="3200400"/>
            <a:ext cx="3017520" cy="292608"/>
          </a:xfrm>
          <a:prstGeom prst="rect">
            <a:avLst/>
          </a:prstGeom>
          <a:noFill/>
          <a:ln/>
        </p:spPr>
        <p:txBody>
          <a:bodyPr wrap="square" lIns="0" tIns="0" rIns="0" bIns="0" rtlCol="0" anchor="ctr"/>
          <a:lstStyle/>
          <a:p>
            <a:pPr marL="0" indent="0">
              <a:buNone/>
            </a:pPr>
            <a:r>
              <a:rPr lang="en-US" sz="1000" b="1" dirty="0">
                <a:solidFill>
                  <a:srgbClr val="D49A00"/>
                </a:solidFill>
                <a:latin typeface="Courier New" pitchFamily="34" charset="0"/>
                <a:ea typeface="Courier New" pitchFamily="34" charset="-122"/>
                <a:cs typeface="Courier New" pitchFamily="34" charset="-120"/>
              </a:rPr>
              <a:t>pop in tiles ≥ X Mbps / total pop</a:t>
            </a:r>
            <a:endParaRPr lang="en-US" sz="1000" dirty="0"/>
          </a:p>
        </p:txBody>
      </p:sp>
      <p:sp>
        <p:nvSpPr>
          <p:cNvPr id="37" name="Text 31"/>
          <p:cNvSpPr txBox="1"/>
          <p:nvPr/>
        </p:nvSpPr>
        <p:spPr>
          <a:xfrm>
            <a:off x="1188720" y="3566160"/>
            <a:ext cx="3200400" cy="38404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Easy to communicate. X is a policy choice: state it.</a:t>
            </a:r>
            <a:endParaRPr lang="en-US" sz="1050" dirty="0"/>
          </a:p>
        </p:txBody>
      </p:sp>
      <p:sp>
        <p:nvSpPr>
          <p:cNvPr id="38" name="Shape 32"/>
          <p:cNvSpPr/>
          <p:nvPr/>
        </p:nvSpPr>
        <p:spPr>
          <a:xfrm>
            <a:off x="4663440" y="2761488"/>
            <a:ext cx="4023360" cy="1234440"/>
          </a:xfrm>
          <a:prstGeom prst="roundRect">
            <a:avLst>
              <a:gd name="adj" fmla="val 5926"/>
            </a:avLst>
          </a:prstGeom>
          <a:solidFill>
            <a:srgbClr val="F4F7F5"/>
          </a:solidFill>
          <a:ln w="9525">
            <a:solidFill>
              <a:srgbClr val="D5DED9"/>
            </a:solidFill>
            <a:prstDash val="solid"/>
          </a:ln>
        </p:spPr>
      </p:sp>
      <p:sp>
        <p:nvSpPr>
          <p:cNvPr id="39" name="Shape 33"/>
          <p:cNvSpPr/>
          <p:nvPr/>
        </p:nvSpPr>
        <p:spPr>
          <a:xfrm>
            <a:off x="4800600" y="2898648"/>
            <a:ext cx="457200" cy="457200"/>
          </a:xfrm>
          <a:prstGeom prst="ellipse">
            <a:avLst/>
          </a:prstGeom>
          <a:solidFill>
            <a:srgbClr val="00704A">
              <a:alpha val="22000"/>
            </a:srgbClr>
          </a:solidFill>
          <a:ln/>
        </p:spPr>
      </p:sp>
      <p:pic>
        <p:nvPicPr>
          <p:cNvPr id="40" name="Image 3" descr="preencoded.png"/>
          <p:cNvPicPr>
            <a:picLocks noChangeAspect="1"/>
          </p:cNvPicPr>
          <p:nvPr/>
        </p:nvPicPr>
        <p:blipFill>
          <a:blip r:embed="rId6"/>
          <a:stretch>
            <a:fillRect/>
          </a:stretch>
        </p:blipFill>
        <p:spPr>
          <a:xfrm>
            <a:off x="4910328" y="3008376"/>
            <a:ext cx="237744" cy="237744"/>
          </a:xfrm>
          <a:prstGeom prst="rect">
            <a:avLst/>
          </a:prstGeom>
        </p:spPr>
      </p:pic>
      <p:sp>
        <p:nvSpPr>
          <p:cNvPr id="41" name="Text 34"/>
          <p:cNvSpPr txBox="1"/>
          <p:nvPr/>
        </p:nvSpPr>
        <p:spPr>
          <a:xfrm>
            <a:off x="5394960" y="2889504"/>
            <a:ext cx="3200400" cy="256032"/>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Change between quarters</a:t>
            </a:r>
            <a:endParaRPr lang="en-US" sz="1350" dirty="0"/>
          </a:p>
        </p:txBody>
      </p:sp>
      <p:sp>
        <p:nvSpPr>
          <p:cNvPr id="42" name="Shape 35"/>
          <p:cNvSpPr/>
          <p:nvPr/>
        </p:nvSpPr>
        <p:spPr>
          <a:xfrm>
            <a:off x="5394960" y="3200400"/>
            <a:ext cx="3154680" cy="292608"/>
          </a:xfrm>
          <a:prstGeom prst="roundRect">
            <a:avLst>
              <a:gd name="adj" fmla="val 18750"/>
            </a:avLst>
          </a:prstGeom>
          <a:solidFill>
            <a:srgbClr val="FFFFFF"/>
          </a:solidFill>
          <a:ln w="6350">
            <a:solidFill>
              <a:srgbClr val="D5DED9"/>
            </a:solidFill>
            <a:prstDash val="solid"/>
          </a:ln>
        </p:spPr>
      </p:sp>
      <p:sp>
        <p:nvSpPr>
          <p:cNvPr id="43" name="Text 36"/>
          <p:cNvSpPr txBox="1"/>
          <p:nvPr/>
        </p:nvSpPr>
        <p:spPr>
          <a:xfrm>
            <a:off x="5486400" y="3200400"/>
            <a:ext cx="3017520" cy="292608"/>
          </a:xfrm>
          <a:prstGeom prst="rect">
            <a:avLst/>
          </a:prstGeom>
          <a:noFill/>
          <a:ln/>
        </p:spPr>
        <p:txBody>
          <a:bodyPr wrap="square" lIns="0" tIns="0" rIns="0" bIns="0" rtlCol="0" anchor="ctr"/>
          <a:lstStyle/>
          <a:p>
            <a:pPr marL="0" indent="0">
              <a:buNone/>
            </a:pPr>
            <a:r>
              <a:rPr lang="en-US" sz="1000" b="1" dirty="0">
                <a:solidFill>
                  <a:srgbClr val="00704A"/>
                </a:solidFill>
                <a:latin typeface="Courier New" pitchFamily="34" charset="0"/>
                <a:ea typeface="Courier New" pitchFamily="34" charset="-122"/>
                <a:cs typeface="Courier New" pitchFamily="34" charset="-120"/>
              </a:rPr>
              <a:t>indicator(t) − indicator(t−4)</a:t>
            </a:r>
            <a:endParaRPr lang="en-US" sz="1000" dirty="0"/>
          </a:p>
        </p:txBody>
      </p:sp>
      <p:sp>
        <p:nvSpPr>
          <p:cNvPr id="44" name="Text 37"/>
          <p:cNvSpPr txBox="1"/>
          <p:nvPr/>
        </p:nvSpPr>
        <p:spPr>
          <a:xfrm>
            <a:off x="5394960" y="3566160"/>
            <a:ext cx="3200400" cy="38404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Year-on-year, same quarter, same rules, joined on quadkey.</a:t>
            </a:r>
            <a:endParaRPr lang="en-US" sz="1050" dirty="0"/>
          </a:p>
        </p:txBody>
      </p:sp>
      <p:sp>
        <p:nvSpPr>
          <p:cNvPr id="45" name="Shape 38"/>
          <p:cNvSpPr/>
          <p:nvPr/>
        </p:nvSpPr>
        <p:spPr>
          <a:xfrm>
            <a:off x="457200" y="4160520"/>
            <a:ext cx="8229600" cy="347472"/>
          </a:xfrm>
          <a:prstGeom prst="roundRect">
            <a:avLst>
              <a:gd name="adj" fmla="val 21053"/>
            </a:avLst>
          </a:prstGeom>
          <a:solidFill>
            <a:srgbClr val="FFFFFF"/>
          </a:solidFill>
          <a:ln w="9525">
            <a:solidFill>
              <a:srgbClr val="00704A"/>
            </a:solidFill>
            <a:prstDash val="solid"/>
          </a:ln>
        </p:spPr>
      </p:sp>
      <p:sp>
        <p:nvSpPr>
          <p:cNvPr id="46" name="Text 39"/>
          <p:cNvSpPr txBox="1"/>
          <p:nvPr/>
        </p:nvSpPr>
        <p:spPr>
          <a:xfrm>
            <a:off x="594360" y="4160520"/>
            <a:ext cx="8046720" cy="347472"/>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Always attach: </a:t>
            </a:r>
            <a:r>
              <a:rPr lang="en-US" sz="1050" dirty="0">
                <a:solidFill>
                  <a:srgbClr val="231F20"/>
                </a:solidFill>
                <a:latin typeface="Calibri" pitchFamily="34" charset="0"/>
                <a:ea typeface="Calibri" pitchFamily="34" charset="-122"/>
                <a:cs typeface="Calibri" pitchFamily="34" charset="-120"/>
              </a:rPr>
              <a:t>layer (mobile / fixed) · quarter · access date · minimum tests &amp; devices · WorldPop release and year</a:t>
            </a:r>
            <a:endParaRPr lang="en-US" sz="10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05</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Reading the signals</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What do the tiles show that a national average hides?</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5C242"/>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25</a:t>
            </a:r>
            <a:endParaRPr lang="en-US" sz="8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FOUR SIGNALS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Four patterns to look for in your results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C4621D"/>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7" name="Shape 14"/>
          <p:cNvSpPr/>
          <p:nvPr/>
        </p:nvSpPr>
        <p:spPr>
          <a:xfrm>
            <a:off x="457200" y="1371600"/>
            <a:ext cx="4023360" cy="1417320"/>
          </a:xfrm>
          <a:prstGeom prst="roundRect">
            <a:avLst>
              <a:gd name="adj" fmla="val 5161"/>
            </a:avLst>
          </a:prstGeom>
          <a:solidFill>
            <a:srgbClr val="F4F7F5"/>
          </a:solidFill>
          <a:ln w="9525">
            <a:solidFill>
              <a:srgbClr val="D5DED9"/>
            </a:solidFill>
            <a:prstDash val="solid"/>
          </a:ln>
        </p:spPr>
      </p:sp>
      <p:sp>
        <p:nvSpPr>
          <p:cNvPr id="18" name="Text 15"/>
          <p:cNvSpPr txBox="1"/>
          <p:nvPr/>
        </p:nvSpPr>
        <p:spPr>
          <a:xfrm>
            <a:off x="621792" y="1481328"/>
            <a:ext cx="365760" cy="457200"/>
          </a:xfrm>
          <a:prstGeom prst="rect">
            <a:avLst/>
          </a:prstGeom>
          <a:noFill/>
          <a:ln/>
        </p:spPr>
        <p:txBody>
          <a:bodyPr wrap="square" lIns="0" tIns="0" rIns="0" bIns="0" rtlCol="0" anchor="t"/>
          <a:lstStyle/>
          <a:p>
            <a:pPr marL="0" indent="0">
              <a:buNone/>
            </a:pPr>
            <a:r>
              <a:rPr lang="en-US" sz="2800" b="1" dirty="0">
                <a:solidFill>
                  <a:srgbClr val="C4621D"/>
                </a:solidFill>
                <a:latin typeface="Calibri" pitchFamily="34" charset="0"/>
                <a:ea typeface="Calibri" pitchFamily="34" charset="-122"/>
                <a:cs typeface="Calibri" pitchFamily="34" charset="-120"/>
              </a:rPr>
              <a:t>1</a:t>
            </a:r>
            <a:endParaRPr lang="en-US" sz="2800" dirty="0"/>
          </a:p>
        </p:txBody>
      </p:sp>
      <p:sp>
        <p:nvSpPr>
          <p:cNvPr id="19" name="Shape 16"/>
          <p:cNvSpPr/>
          <p:nvPr/>
        </p:nvSpPr>
        <p:spPr>
          <a:xfrm>
            <a:off x="3886200" y="1508760"/>
            <a:ext cx="438912" cy="438912"/>
          </a:xfrm>
          <a:prstGeom prst="ellipse">
            <a:avLst/>
          </a:prstGeom>
          <a:solidFill>
            <a:srgbClr val="C4621D">
              <a:alpha val="22000"/>
            </a:srgbClr>
          </a:solidFill>
          <a:ln/>
        </p:spPr>
      </p:sp>
      <p:pic>
        <p:nvPicPr>
          <p:cNvPr id="20" name="Image 0" descr="preencoded.png"/>
          <p:cNvPicPr>
            <a:picLocks noChangeAspect="1"/>
          </p:cNvPicPr>
          <p:nvPr/>
        </p:nvPicPr>
        <p:blipFill>
          <a:blip r:embed="rId3"/>
          <a:stretch>
            <a:fillRect/>
          </a:stretch>
        </p:blipFill>
        <p:spPr>
          <a:xfrm>
            <a:off x="3991539" y="1614099"/>
            <a:ext cx="228234" cy="228234"/>
          </a:xfrm>
          <a:prstGeom prst="rect">
            <a:avLst/>
          </a:prstGeom>
        </p:spPr>
      </p:pic>
      <p:sp>
        <p:nvSpPr>
          <p:cNvPr id="21" name="Text 17"/>
          <p:cNvSpPr txBox="1"/>
          <p:nvPr/>
        </p:nvSpPr>
        <p:spPr>
          <a:xfrm>
            <a:off x="1051560" y="1554480"/>
            <a:ext cx="265176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Absence</a:t>
            </a:r>
            <a:endParaRPr lang="en-US" sz="1500" dirty="0"/>
          </a:p>
        </p:txBody>
      </p:sp>
      <p:sp>
        <p:nvSpPr>
          <p:cNvPr id="22" name="Text 18"/>
          <p:cNvSpPr txBox="1"/>
          <p:nvPr/>
        </p:nvSpPr>
        <p:spPr>
          <a:xfrm>
            <a:off x="640080" y="1993392"/>
            <a:ext cx="3657600" cy="43891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A missing tile is information, not an error. Where do people live with no measurement?</a:t>
            </a:r>
            <a:endParaRPr lang="en-US" sz="1050" dirty="0"/>
          </a:p>
        </p:txBody>
      </p:sp>
      <p:sp>
        <p:nvSpPr>
          <p:cNvPr id="23" name="Text 19"/>
          <p:cNvSpPr txBox="1"/>
          <p:nvPr/>
        </p:nvSpPr>
        <p:spPr>
          <a:xfrm>
            <a:off x="640080" y="2441448"/>
            <a:ext cx="3657600" cy="274320"/>
          </a:xfrm>
          <a:prstGeom prst="rect">
            <a:avLst/>
          </a:prstGeom>
          <a:noFill/>
          <a:ln/>
        </p:spPr>
        <p:txBody>
          <a:bodyPr wrap="square" lIns="0" tIns="0" rIns="0" bIns="0" rtlCol="0" anchor="t"/>
          <a:lstStyle/>
          <a:p>
            <a:pPr marL="0" indent="0">
              <a:buNone/>
            </a:pPr>
            <a:r>
              <a:rPr lang="en-US" sz="950" b="1" dirty="0">
                <a:solidFill>
                  <a:srgbClr val="C4621D"/>
                </a:solidFill>
                <a:latin typeface="Calibri" pitchFamily="34" charset="0"/>
                <a:ea typeface="Calibri" pitchFamily="34" charset="-122"/>
                <a:cs typeface="Calibri" pitchFamily="34" charset="-120"/>
              </a:rPr>
              <a:t>How: </a:t>
            </a:r>
            <a:r>
              <a:rPr lang="en-US" sz="950" dirty="0">
                <a:solidFill>
                  <a:srgbClr val="5E6964"/>
                </a:solidFill>
                <a:latin typeface="Calibri" pitchFamily="34" charset="0"/>
                <a:ea typeface="Calibri" pitchFamily="34" charset="-122"/>
                <a:cs typeface="Calibri" pitchFamily="34" charset="-120"/>
              </a:rPr>
              <a:t>Map tile presence over several quarters, against population.</a:t>
            </a:r>
            <a:endParaRPr lang="en-US" sz="950" dirty="0"/>
          </a:p>
        </p:txBody>
      </p:sp>
      <p:sp>
        <p:nvSpPr>
          <p:cNvPr id="24" name="Shape 20"/>
          <p:cNvSpPr/>
          <p:nvPr/>
        </p:nvSpPr>
        <p:spPr>
          <a:xfrm>
            <a:off x="4663440" y="1371600"/>
            <a:ext cx="4023360" cy="1417320"/>
          </a:xfrm>
          <a:prstGeom prst="roundRect">
            <a:avLst>
              <a:gd name="adj" fmla="val 5161"/>
            </a:avLst>
          </a:prstGeom>
          <a:solidFill>
            <a:srgbClr val="F4F7F5"/>
          </a:solidFill>
          <a:ln w="9525">
            <a:solidFill>
              <a:srgbClr val="D5DED9"/>
            </a:solidFill>
            <a:prstDash val="solid"/>
          </a:ln>
        </p:spPr>
      </p:sp>
      <p:sp>
        <p:nvSpPr>
          <p:cNvPr id="25" name="Text 21"/>
          <p:cNvSpPr txBox="1"/>
          <p:nvPr/>
        </p:nvSpPr>
        <p:spPr>
          <a:xfrm>
            <a:off x="4828032" y="1481328"/>
            <a:ext cx="365760" cy="457200"/>
          </a:xfrm>
          <a:prstGeom prst="rect">
            <a:avLst/>
          </a:prstGeom>
          <a:noFill/>
          <a:ln/>
        </p:spPr>
        <p:txBody>
          <a:bodyPr wrap="square" lIns="0" tIns="0" rIns="0" bIns="0" rtlCol="0" anchor="t"/>
          <a:lstStyle/>
          <a:p>
            <a:pPr marL="0" indent="0">
              <a:buNone/>
            </a:pPr>
            <a:r>
              <a:rPr lang="en-US" sz="2800" b="1" dirty="0">
                <a:solidFill>
                  <a:srgbClr val="C4621D"/>
                </a:solidFill>
                <a:latin typeface="Calibri" pitchFamily="34" charset="0"/>
                <a:ea typeface="Calibri" pitchFamily="34" charset="-122"/>
                <a:cs typeface="Calibri" pitchFamily="34" charset="-120"/>
              </a:rPr>
              <a:t>2</a:t>
            </a:r>
            <a:endParaRPr lang="en-US" sz="2800" dirty="0"/>
          </a:p>
        </p:txBody>
      </p:sp>
      <p:sp>
        <p:nvSpPr>
          <p:cNvPr id="26" name="Shape 22"/>
          <p:cNvSpPr/>
          <p:nvPr/>
        </p:nvSpPr>
        <p:spPr>
          <a:xfrm>
            <a:off x="8092440" y="1508760"/>
            <a:ext cx="438912" cy="438912"/>
          </a:xfrm>
          <a:prstGeom prst="ellipse">
            <a:avLst/>
          </a:prstGeom>
          <a:solidFill>
            <a:srgbClr val="C4621D">
              <a:alpha val="22000"/>
            </a:srgbClr>
          </a:solidFill>
          <a:ln/>
        </p:spPr>
      </p:sp>
      <p:pic>
        <p:nvPicPr>
          <p:cNvPr id="27" name="Image 1" descr="preencoded.png"/>
          <p:cNvPicPr>
            <a:picLocks noChangeAspect="1"/>
          </p:cNvPicPr>
          <p:nvPr/>
        </p:nvPicPr>
        <p:blipFill>
          <a:blip r:embed="rId4"/>
          <a:stretch>
            <a:fillRect/>
          </a:stretch>
        </p:blipFill>
        <p:spPr>
          <a:xfrm>
            <a:off x="8197779" y="1614099"/>
            <a:ext cx="228234" cy="228234"/>
          </a:xfrm>
          <a:prstGeom prst="rect">
            <a:avLst/>
          </a:prstGeom>
        </p:spPr>
      </p:pic>
      <p:sp>
        <p:nvSpPr>
          <p:cNvPr id="28" name="Text 23"/>
          <p:cNvSpPr txBox="1"/>
          <p:nvPr/>
        </p:nvSpPr>
        <p:spPr>
          <a:xfrm>
            <a:off x="5257800" y="1554480"/>
            <a:ext cx="265176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Gradient</a:t>
            </a:r>
            <a:endParaRPr lang="en-US" sz="1500" dirty="0"/>
          </a:p>
        </p:txBody>
      </p:sp>
      <p:sp>
        <p:nvSpPr>
          <p:cNvPr id="29" name="Text 24"/>
          <p:cNvSpPr txBox="1"/>
          <p:nvPr/>
        </p:nvSpPr>
        <p:spPr>
          <a:xfrm>
            <a:off x="4846320" y="1993392"/>
            <a:ext cx="3657600" cy="43891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Performance decays from city centres. Look for the cliff, not the slope.</a:t>
            </a:r>
            <a:endParaRPr lang="en-US" sz="1050" dirty="0"/>
          </a:p>
        </p:txBody>
      </p:sp>
      <p:sp>
        <p:nvSpPr>
          <p:cNvPr id="30" name="Text 25"/>
          <p:cNvSpPr txBox="1"/>
          <p:nvPr/>
        </p:nvSpPr>
        <p:spPr>
          <a:xfrm>
            <a:off x="4846320" y="2441448"/>
            <a:ext cx="3657600" cy="274320"/>
          </a:xfrm>
          <a:prstGeom prst="rect">
            <a:avLst/>
          </a:prstGeom>
          <a:noFill/>
          <a:ln/>
        </p:spPr>
        <p:txBody>
          <a:bodyPr wrap="square" lIns="0" tIns="0" rIns="0" bIns="0" rtlCol="0" anchor="t"/>
          <a:lstStyle/>
          <a:p>
            <a:pPr marL="0" indent="0">
              <a:buNone/>
            </a:pPr>
            <a:r>
              <a:rPr lang="en-US" sz="950" b="1" dirty="0">
                <a:solidFill>
                  <a:srgbClr val="C4621D"/>
                </a:solidFill>
                <a:latin typeface="Calibri" pitchFamily="34" charset="0"/>
                <a:ea typeface="Calibri" pitchFamily="34" charset="-122"/>
                <a:cs typeface="Calibri" pitchFamily="34" charset="-120"/>
              </a:rPr>
              <a:t>How: </a:t>
            </a:r>
            <a:r>
              <a:rPr lang="en-US" sz="950" dirty="0">
                <a:solidFill>
                  <a:srgbClr val="5E6964"/>
                </a:solidFill>
                <a:latin typeface="Calibri" pitchFamily="34" charset="0"/>
                <a:ea typeface="Calibri" pitchFamily="34" charset="-122"/>
                <a:cs typeface="Calibri" pitchFamily="34" charset="-120"/>
              </a:rPr>
              <a:t>Plot speed by distance band or density decile.</a:t>
            </a:r>
            <a:endParaRPr lang="en-US" sz="950" dirty="0"/>
          </a:p>
        </p:txBody>
      </p:sp>
      <p:sp>
        <p:nvSpPr>
          <p:cNvPr id="31" name="Shape 26"/>
          <p:cNvSpPr/>
          <p:nvPr/>
        </p:nvSpPr>
        <p:spPr>
          <a:xfrm>
            <a:off x="457200" y="2944368"/>
            <a:ext cx="4023360" cy="1417320"/>
          </a:xfrm>
          <a:prstGeom prst="roundRect">
            <a:avLst>
              <a:gd name="adj" fmla="val 5161"/>
            </a:avLst>
          </a:prstGeom>
          <a:solidFill>
            <a:srgbClr val="F4F7F5"/>
          </a:solidFill>
          <a:ln w="9525">
            <a:solidFill>
              <a:srgbClr val="D5DED9"/>
            </a:solidFill>
            <a:prstDash val="solid"/>
          </a:ln>
        </p:spPr>
      </p:sp>
      <p:sp>
        <p:nvSpPr>
          <p:cNvPr id="32" name="Text 27"/>
          <p:cNvSpPr txBox="1"/>
          <p:nvPr/>
        </p:nvSpPr>
        <p:spPr>
          <a:xfrm>
            <a:off x="621792" y="3054096"/>
            <a:ext cx="365760" cy="457200"/>
          </a:xfrm>
          <a:prstGeom prst="rect">
            <a:avLst/>
          </a:prstGeom>
          <a:noFill/>
          <a:ln/>
        </p:spPr>
        <p:txBody>
          <a:bodyPr wrap="square" lIns="0" tIns="0" rIns="0" bIns="0" rtlCol="0" anchor="t"/>
          <a:lstStyle/>
          <a:p>
            <a:pPr marL="0" indent="0">
              <a:buNone/>
            </a:pPr>
            <a:r>
              <a:rPr lang="en-US" sz="2800" b="1" dirty="0">
                <a:solidFill>
                  <a:srgbClr val="C4621D"/>
                </a:solidFill>
                <a:latin typeface="Calibri" pitchFamily="34" charset="0"/>
                <a:ea typeface="Calibri" pitchFamily="34" charset="-122"/>
                <a:cs typeface="Calibri" pitchFamily="34" charset="-120"/>
              </a:rPr>
              <a:t>3</a:t>
            </a:r>
            <a:endParaRPr lang="en-US" sz="2800" dirty="0"/>
          </a:p>
        </p:txBody>
      </p:sp>
      <p:sp>
        <p:nvSpPr>
          <p:cNvPr id="33" name="Shape 28"/>
          <p:cNvSpPr/>
          <p:nvPr/>
        </p:nvSpPr>
        <p:spPr>
          <a:xfrm>
            <a:off x="3886200" y="3081528"/>
            <a:ext cx="438912" cy="438912"/>
          </a:xfrm>
          <a:prstGeom prst="ellipse">
            <a:avLst/>
          </a:prstGeom>
          <a:solidFill>
            <a:srgbClr val="C4621D">
              <a:alpha val="22000"/>
            </a:srgbClr>
          </a:solidFill>
          <a:ln/>
        </p:spPr>
      </p:sp>
      <p:pic>
        <p:nvPicPr>
          <p:cNvPr id="34" name="Image 2" descr="preencoded.png"/>
          <p:cNvPicPr>
            <a:picLocks noChangeAspect="1"/>
          </p:cNvPicPr>
          <p:nvPr/>
        </p:nvPicPr>
        <p:blipFill>
          <a:blip r:embed="rId5"/>
          <a:stretch>
            <a:fillRect/>
          </a:stretch>
        </p:blipFill>
        <p:spPr>
          <a:xfrm>
            <a:off x="3991539" y="3186867"/>
            <a:ext cx="228234" cy="228234"/>
          </a:xfrm>
          <a:prstGeom prst="rect">
            <a:avLst/>
          </a:prstGeom>
        </p:spPr>
      </p:pic>
      <p:sp>
        <p:nvSpPr>
          <p:cNvPr id="35" name="Text 29"/>
          <p:cNvSpPr txBox="1"/>
          <p:nvPr/>
        </p:nvSpPr>
        <p:spPr>
          <a:xfrm>
            <a:off x="1051560" y="3127248"/>
            <a:ext cx="265176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Substitution</a:t>
            </a:r>
            <a:endParaRPr lang="en-US" sz="1500" dirty="0"/>
          </a:p>
        </p:txBody>
      </p:sp>
      <p:sp>
        <p:nvSpPr>
          <p:cNvPr id="36" name="Text 30"/>
          <p:cNvSpPr txBox="1"/>
          <p:nvPr/>
        </p:nvSpPr>
        <p:spPr>
          <a:xfrm>
            <a:off x="640080" y="3566160"/>
            <a:ext cx="3657600" cy="43891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Tiles with mobile but no fixed tests suggest mobile-dependent households.</a:t>
            </a:r>
            <a:endParaRPr lang="en-US" sz="1050" dirty="0"/>
          </a:p>
        </p:txBody>
      </p:sp>
      <p:sp>
        <p:nvSpPr>
          <p:cNvPr id="37" name="Text 31"/>
          <p:cNvSpPr txBox="1"/>
          <p:nvPr/>
        </p:nvSpPr>
        <p:spPr>
          <a:xfrm>
            <a:off x="640080" y="4014216"/>
            <a:ext cx="3657600" cy="274320"/>
          </a:xfrm>
          <a:prstGeom prst="rect">
            <a:avLst/>
          </a:prstGeom>
          <a:noFill/>
          <a:ln/>
        </p:spPr>
        <p:txBody>
          <a:bodyPr wrap="square" lIns="0" tIns="0" rIns="0" bIns="0" rtlCol="0" anchor="t"/>
          <a:lstStyle/>
          <a:p>
            <a:pPr marL="0" indent="0">
              <a:buNone/>
            </a:pPr>
            <a:r>
              <a:rPr lang="en-US" sz="950" b="1" dirty="0">
                <a:solidFill>
                  <a:srgbClr val="C4621D"/>
                </a:solidFill>
                <a:latin typeface="Calibri" pitchFamily="34" charset="0"/>
                <a:ea typeface="Calibri" pitchFamily="34" charset="-122"/>
                <a:cs typeface="Calibri" pitchFamily="34" charset="-120"/>
              </a:rPr>
              <a:t>How: </a:t>
            </a:r>
            <a:r>
              <a:rPr lang="en-US" sz="950" dirty="0">
                <a:solidFill>
                  <a:srgbClr val="5E6964"/>
                </a:solidFill>
                <a:latin typeface="Calibri" pitchFamily="34" charset="0"/>
                <a:ea typeface="Calibri" pitchFamily="34" charset="-122"/>
                <a:cs typeface="Calibri" pitchFamily="34" charset="-120"/>
              </a:rPr>
              <a:t>Join the two layers on quadkey.</a:t>
            </a:r>
            <a:endParaRPr lang="en-US" sz="950" dirty="0"/>
          </a:p>
        </p:txBody>
      </p:sp>
      <p:sp>
        <p:nvSpPr>
          <p:cNvPr id="38" name="Shape 32"/>
          <p:cNvSpPr/>
          <p:nvPr/>
        </p:nvSpPr>
        <p:spPr>
          <a:xfrm>
            <a:off x="4663440" y="2944368"/>
            <a:ext cx="4023360" cy="1417320"/>
          </a:xfrm>
          <a:prstGeom prst="roundRect">
            <a:avLst>
              <a:gd name="adj" fmla="val 5161"/>
            </a:avLst>
          </a:prstGeom>
          <a:solidFill>
            <a:srgbClr val="F4F7F5"/>
          </a:solidFill>
          <a:ln w="9525">
            <a:solidFill>
              <a:srgbClr val="D5DED9"/>
            </a:solidFill>
            <a:prstDash val="solid"/>
          </a:ln>
        </p:spPr>
      </p:sp>
      <p:sp>
        <p:nvSpPr>
          <p:cNvPr id="39" name="Text 33"/>
          <p:cNvSpPr txBox="1"/>
          <p:nvPr/>
        </p:nvSpPr>
        <p:spPr>
          <a:xfrm>
            <a:off x="4828032" y="3054096"/>
            <a:ext cx="365760" cy="457200"/>
          </a:xfrm>
          <a:prstGeom prst="rect">
            <a:avLst/>
          </a:prstGeom>
          <a:noFill/>
          <a:ln/>
        </p:spPr>
        <p:txBody>
          <a:bodyPr wrap="square" lIns="0" tIns="0" rIns="0" bIns="0" rtlCol="0" anchor="t"/>
          <a:lstStyle/>
          <a:p>
            <a:pPr marL="0" indent="0">
              <a:buNone/>
            </a:pPr>
            <a:r>
              <a:rPr lang="en-US" sz="2800" b="1" dirty="0">
                <a:solidFill>
                  <a:srgbClr val="C4621D"/>
                </a:solidFill>
                <a:latin typeface="Calibri" pitchFamily="34" charset="0"/>
                <a:ea typeface="Calibri" pitchFamily="34" charset="-122"/>
                <a:cs typeface="Calibri" pitchFamily="34" charset="-120"/>
              </a:rPr>
              <a:t>4</a:t>
            </a:r>
            <a:endParaRPr lang="en-US" sz="2800" dirty="0"/>
          </a:p>
        </p:txBody>
      </p:sp>
      <p:sp>
        <p:nvSpPr>
          <p:cNvPr id="40" name="Shape 34"/>
          <p:cNvSpPr/>
          <p:nvPr/>
        </p:nvSpPr>
        <p:spPr>
          <a:xfrm>
            <a:off x="8092440" y="3081528"/>
            <a:ext cx="438912" cy="438912"/>
          </a:xfrm>
          <a:prstGeom prst="ellipse">
            <a:avLst/>
          </a:prstGeom>
          <a:solidFill>
            <a:srgbClr val="C4621D">
              <a:alpha val="22000"/>
            </a:srgbClr>
          </a:solidFill>
          <a:ln/>
        </p:spPr>
      </p:sp>
      <p:pic>
        <p:nvPicPr>
          <p:cNvPr id="41" name="Image 3" descr="preencoded.png"/>
          <p:cNvPicPr>
            <a:picLocks noChangeAspect="1"/>
          </p:cNvPicPr>
          <p:nvPr/>
        </p:nvPicPr>
        <p:blipFill>
          <a:blip r:embed="rId6"/>
          <a:stretch>
            <a:fillRect/>
          </a:stretch>
        </p:blipFill>
        <p:spPr>
          <a:xfrm>
            <a:off x="8197779" y="3186867"/>
            <a:ext cx="228234" cy="228234"/>
          </a:xfrm>
          <a:prstGeom prst="rect">
            <a:avLst/>
          </a:prstGeom>
        </p:spPr>
      </p:pic>
      <p:sp>
        <p:nvSpPr>
          <p:cNvPr id="42" name="Text 35"/>
          <p:cNvSpPr txBox="1"/>
          <p:nvPr/>
        </p:nvSpPr>
        <p:spPr>
          <a:xfrm>
            <a:off x="5257800" y="3127248"/>
            <a:ext cx="265176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Responsiveness</a:t>
            </a:r>
            <a:endParaRPr lang="en-US" sz="1500" dirty="0"/>
          </a:p>
        </p:txBody>
      </p:sp>
      <p:sp>
        <p:nvSpPr>
          <p:cNvPr id="43" name="Text 36"/>
          <p:cNvSpPr txBox="1"/>
          <p:nvPr/>
        </p:nvSpPr>
        <p:spPr>
          <a:xfrm>
            <a:off x="4846320" y="3566160"/>
            <a:ext cx="3657600" cy="43891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Latency, especially under load, reveals congestion that speed hides.</a:t>
            </a:r>
            <a:endParaRPr lang="en-US" sz="1050" dirty="0"/>
          </a:p>
        </p:txBody>
      </p:sp>
      <p:sp>
        <p:nvSpPr>
          <p:cNvPr id="44" name="Text 37"/>
          <p:cNvSpPr txBox="1"/>
          <p:nvPr/>
        </p:nvSpPr>
        <p:spPr>
          <a:xfrm>
            <a:off x="4846320" y="4014216"/>
            <a:ext cx="3657600" cy="274320"/>
          </a:xfrm>
          <a:prstGeom prst="rect">
            <a:avLst/>
          </a:prstGeom>
          <a:noFill/>
          <a:ln/>
        </p:spPr>
        <p:txBody>
          <a:bodyPr wrap="square" lIns="0" tIns="0" rIns="0" bIns="0" rtlCol="0" anchor="t"/>
          <a:lstStyle/>
          <a:p>
            <a:pPr marL="0" indent="0">
              <a:buNone/>
            </a:pPr>
            <a:r>
              <a:rPr lang="en-US" sz="950" b="1" dirty="0">
                <a:solidFill>
                  <a:srgbClr val="C4621D"/>
                </a:solidFill>
                <a:latin typeface="Calibri" pitchFamily="34" charset="0"/>
                <a:ea typeface="Calibri" pitchFamily="34" charset="-122"/>
                <a:cs typeface="Calibri" pitchFamily="34" charset="-120"/>
              </a:rPr>
              <a:t>How: </a:t>
            </a:r>
            <a:r>
              <a:rPr lang="en-US" sz="950" dirty="0">
                <a:solidFill>
                  <a:srgbClr val="5E6964"/>
                </a:solidFill>
                <a:latin typeface="Calibri" pitchFamily="34" charset="0"/>
                <a:ea typeface="Calibri" pitchFamily="34" charset="-122"/>
                <a:cs typeface="Calibri" pitchFamily="34" charset="-120"/>
              </a:rPr>
              <a:t>Parquet only, from 2023, sparsely populated.</a:t>
            </a:r>
            <a:endParaRPr lang="en-US" sz="950" dirty="0"/>
          </a:p>
        </p:txBody>
      </p:sp>
      <p:sp>
        <p:nvSpPr>
          <p:cNvPr id="45" name="Text 38"/>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Latency fields: teamookla/ookla-open-data README.</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SIGNAL 1</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Absence: the most important value is often missing</a:t>
            </a:r>
            <a:endParaRPr lang="en-US" sz="24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C4621D"/>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7" name="Shape 14"/>
          <p:cNvSpPr/>
          <p:nvPr/>
        </p:nvSpPr>
        <p:spPr>
          <a:xfrm>
            <a:off x="502920" y="1371600"/>
            <a:ext cx="402336" cy="402336"/>
          </a:xfrm>
          <a:prstGeom prst="rect">
            <a:avLst/>
          </a:prstGeom>
          <a:solidFill>
            <a:srgbClr val="10A06A"/>
          </a:solidFill>
          <a:ln w="12700">
            <a:solidFill>
              <a:srgbClr val="FFFFFF"/>
            </a:solidFill>
            <a:prstDash val="solid"/>
          </a:ln>
        </p:spPr>
      </p:sp>
      <p:sp>
        <p:nvSpPr>
          <p:cNvPr id="18" name="Shape 15"/>
          <p:cNvSpPr/>
          <p:nvPr/>
        </p:nvSpPr>
        <p:spPr>
          <a:xfrm>
            <a:off x="905256" y="1371600"/>
            <a:ext cx="402336" cy="402336"/>
          </a:xfrm>
          <a:prstGeom prst="rect">
            <a:avLst/>
          </a:prstGeom>
          <a:solidFill>
            <a:srgbClr val="10A06A"/>
          </a:solidFill>
          <a:ln w="12700">
            <a:solidFill>
              <a:srgbClr val="FFFFFF"/>
            </a:solidFill>
            <a:prstDash val="solid"/>
          </a:ln>
        </p:spPr>
      </p:sp>
      <p:sp>
        <p:nvSpPr>
          <p:cNvPr id="19" name="Shape 16"/>
          <p:cNvSpPr/>
          <p:nvPr/>
        </p:nvSpPr>
        <p:spPr>
          <a:xfrm>
            <a:off x="1307592" y="1371600"/>
            <a:ext cx="402336" cy="402336"/>
          </a:xfrm>
          <a:prstGeom prst="rect">
            <a:avLst/>
          </a:prstGeom>
          <a:solidFill>
            <a:srgbClr val="10A06A"/>
          </a:solidFill>
          <a:ln w="12700">
            <a:solidFill>
              <a:srgbClr val="FFFFFF"/>
            </a:solidFill>
            <a:prstDash val="solid"/>
          </a:ln>
        </p:spPr>
      </p:sp>
      <p:sp>
        <p:nvSpPr>
          <p:cNvPr id="20" name="Shape 17"/>
          <p:cNvSpPr/>
          <p:nvPr/>
        </p:nvSpPr>
        <p:spPr>
          <a:xfrm>
            <a:off x="1709928" y="1371600"/>
            <a:ext cx="402336" cy="402336"/>
          </a:xfrm>
          <a:prstGeom prst="rect">
            <a:avLst/>
          </a:prstGeom>
          <a:solidFill>
            <a:srgbClr val="10A06A"/>
          </a:solidFill>
          <a:ln w="12700">
            <a:solidFill>
              <a:srgbClr val="FFFFFF"/>
            </a:solidFill>
            <a:prstDash val="solid"/>
          </a:ln>
        </p:spPr>
      </p:sp>
      <p:sp>
        <p:nvSpPr>
          <p:cNvPr id="21" name="Shape 18"/>
          <p:cNvSpPr/>
          <p:nvPr/>
        </p:nvSpPr>
        <p:spPr>
          <a:xfrm>
            <a:off x="2112264" y="1371600"/>
            <a:ext cx="402336" cy="402336"/>
          </a:xfrm>
          <a:prstGeom prst="rect">
            <a:avLst/>
          </a:prstGeom>
          <a:solidFill>
            <a:srgbClr val="FFFFFF"/>
          </a:solidFill>
          <a:ln w="12700">
            <a:solidFill>
              <a:srgbClr val="D5DED9"/>
            </a:solidFill>
            <a:prstDash val="dash"/>
          </a:ln>
        </p:spPr>
      </p:sp>
      <p:sp>
        <p:nvSpPr>
          <p:cNvPr id="22" name="Shape 19"/>
          <p:cNvSpPr/>
          <p:nvPr/>
        </p:nvSpPr>
        <p:spPr>
          <a:xfrm>
            <a:off x="2514600" y="1371600"/>
            <a:ext cx="402336" cy="402336"/>
          </a:xfrm>
          <a:prstGeom prst="rect">
            <a:avLst/>
          </a:prstGeom>
          <a:solidFill>
            <a:srgbClr val="FFFFFF"/>
          </a:solidFill>
          <a:ln w="12700">
            <a:solidFill>
              <a:srgbClr val="D5DED9"/>
            </a:solidFill>
            <a:prstDash val="dash"/>
          </a:ln>
        </p:spPr>
      </p:sp>
      <p:pic>
        <p:nvPicPr>
          <p:cNvPr id="23" name="Image 0" descr="preencoded.png"/>
          <p:cNvPicPr>
            <a:picLocks noChangeAspect="1"/>
          </p:cNvPicPr>
          <p:nvPr/>
        </p:nvPicPr>
        <p:blipFill>
          <a:blip r:embed="rId3"/>
          <a:stretch>
            <a:fillRect/>
          </a:stretch>
        </p:blipFill>
        <p:spPr>
          <a:xfrm>
            <a:off x="2615184" y="1472184"/>
            <a:ext cx="219456" cy="219456"/>
          </a:xfrm>
          <a:prstGeom prst="rect">
            <a:avLst/>
          </a:prstGeom>
        </p:spPr>
      </p:pic>
      <p:sp>
        <p:nvSpPr>
          <p:cNvPr id="24" name="Shape 20"/>
          <p:cNvSpPr/>
          <p:nvPr/>
        </p:nvSpPr>
        <p:spPr>
          <a:xfrm>
            <a:off x="2916936" y="1371600"/>
            <a:ext cx="402336" cy="402336"/>
          </a:xfrm>
          <a:prstGeom prst="rect">
            <a:avLst/>
          </a:prstGeom>
          <a:solidFill>
            <a:srgbClr val="FFFFFF"/>
          </a:solidFill>
          <a:ln w="12700">
            <a:solidFill>
              <a:srgbClr val="D5DED9"/>
            </a:solidFill>
            <a:prstDash val="dash"/>
          </a:ln>
        </p:spPr>
      </p:sp>
      <p:sp>
        <p:nvSpPr>
          <p:cNvPr id="25" name="Shape 21"/>
          <p:cNvSpPr/>
          <p:nvPr/>
        </p:nvSpPr>
        <p:spPr>
          <a:xfrm>
            <a:off x="502920" y="1773936"/>
            <a:ext cx="402336" cy="402336"/>
          </a:xfrm>
          <a:prstGeom prst="rect">
            <a:avLst/>
          </a:prstGeom>
          <a:solidFill>
            <a:srgbClr val="10A06A"/>
          </a:solidFill>
          <a:ln w="12700">
            <a:solidFill>
              <a:srgbClr val="FFFFFF"/>
            </a:solidFill>
            <a:prstDash val="solid"/>
          </a:ln>
        </p:spPr>
      </p:sp>
      <p:sp>
        <p:nvSpPr>
          <p:cNvPr id="26" name="Shape 22"/>
          <p:cNvSpPr/>
          <p:nvPr/>
        </p:nvSpPr>
        <p:spPr>
          <a:xfrm>
            <a:off x="905256" y="1773936"/>
            <a:ext cx="402336" cy="402336"/>
          </a:xfrm>
          <a:prstGeom prst="rect">
            <a:avLst/>
          </a:prstGeom>
          <a:solidFill>
            <a:srgbClr val="10A06A"/>
          </a:solidFill>
          <a:ln w="12700">
            <a:solidFill>
              <a:srgbClr val="FFFFFF"/>
            </a:solidFill>
            <a:prstDash val="solid"/>
          </a:ln>
        </p:spPr>
      </p:sp>
      <p:sp>
        <p:nvSpPr>
          <p:cNvPr id="27" name="Shape 23"/>
          <p:cNvSpPr/>
          <p:nvPr/>
        </p:nvSpPr>
        <p:spPr>
          <a:xfrm>
            <a:off x="1307592" y="1773936"/>
            <a:ext cx="402336" cy="402336"/>
          </a:xfrm>
          <a:prstGeom prst="rect">
            <a:avLst/>
          </a:prstGeom>
          <a:solidFill>
            <a:srgbClr val="10A06A"/>
          </a:solidFill>
          <a:ln w="12700">
            <a:solidFill>
              <a:srgbClr val="FFFFFF"/>
            </a:solidFill>
            <a:prstDash val="solid"/>
          </a:ln>
        </p:spPr>
      </p:sp>
      <p:sp>
        <p:nvSpPr>
          <p:cNvPr id="28" name="Shape 24"/>
          <p:cNvSpPr/>
          <p:nvPr/>
        </p:nvSpPr>
        <p:spPr>
          <a:xfrm>
            <a:off x="1709928" y="1773936"/>
            <a:ext cx="402336" cy="402336"/>
          </a:xfrm>
          <a:prstGeom prst="rect">
            <a:avLst/>
          </a:prstGeom>
          <a:solidFill>
            <a:srgbClr val="10A06A"/>
          </a:solidFill>
          <a:ln w="12700">
            <a:solidFill>
              <a:srgbClr val="FFFFFF"/>
            </a:solidFill>
            <a:prstDash val="solid"/>
          </a:ln>
        </p:spPr>
      </p:sp>
      <p:sp>
        <p:nvSpPr>
          <p:cNvPr id="29" name="Shape 25"/>
          <p:cNvSpPr/>
          <p:nvPr/>
        </p:nvSpPr>
        <p:spPr>
          <a:xfrm>
            <a:off x="2112264" y="1773936"/>
            <a:ext cx="402336" cy="402336"/>
          </a:xfrm>
          <a:prstGeom prst="rect">
            <a:avLst/>
          </a:prstGeom>
          <a:solidFill>
            <a:srgbClr val="10A06A"/>
          </a:solidFill>
          <a:ln w="12700">
            <a:solidFill>
              <a:srgbClr val="FFFFFF"/>
            </a:solidFill>
            <a:prstDash val="solid"/>
          </a:ln>
        </p:spPr>
      </p:sp>
      <p:sp>
        <p:nvSpPr>
          <p:cNvPr id="30" name="Shape 26"/>
          <p:cNvSpPr/>
          <p:nvPr/>
        </p:nvSpPr>
        <p:spPr>
          <a:xfrm>
            <a:off x="2514600" y="1773936"/>
            <a:ext cx="402336" cy="402336"/>
          </a:xfrm>
          <a:prstGeom prst="rect">
            <a:avLst/>
          </a:prstGeom>
          <a:solidFill>
            <a:srgbClr val="FFFFFF"/>
          </a:solidFill>
          <a:ln w="12700">
            <a:solidFill>
              <a:srgbClr val="D5DED9"/>
            </a:solidFill>
            <a:prstDash val="dash"/>
          </a:ln>
        </p:spPr>
      </p:sp>
      <p:sp>
        <p:nvSpPr>
          <p:cNvPr id="31" name="Shape 27"/>
          <p:cNvSpPr/>
          <p:nvPr/>
        </p:nvSpPr>
        <p:spPr>
          <a:xfrm>
            <a:off x="2916936" y="1773936"/>
            <a:ext cx="402336" cy="402336"/>
          </a:xfrm>
          <a:prstGeom prst="rect">
            <a:avLst/>
          </a:prstGeom>
          <a:solidFill>
            <a:srgbClr val="FFFFFF"/>
          </a:solidFill>
          <a:ln w="12700">
            <a:solidFill>
              <a:srgbClr val="D5DED9"/>
            </a:solidFill>
            <a:prstDash val="dash"/>
          </a:ln>
        </p:spPr>
      </p:sp>
      <p:sp>
        <p:nvSpPr>
          <p:cNvPr id="32" name="Shape 28"/>
          <p:cNvSpPr/>
          <p:nvPr/>
        </p:nvSpPr>
        <p:spPr>
          <a:xfrm>
            <a:off x="502920" y="2176272"/>
            <a:ext cx="402336" cy="402336"/>
          </a:xfrm>
          <a:prstGeom prst="rect">
            <a:avLst/>
          </a:prstGeom>
          <a:solidFill>
            <a:srgbClr val="10A06A"/>
          </a:solidFill>
          <a:ln w="12700">
            <a:solidFill>
              <a:srgbClr val="FFFFFF"/>
            </a:solidFill>
            <a:prstDash val="solid"/>
          </a:ln>
        </p:spPr>
      </p:sp>
      <p:sp>
        <p:nvSpPr>
          <p:cNvPr id="33" name="Shape 29"/>
          <p:cNvSpPr/>
          <p:nvPr/>
        </p:nvSpPr>
        <p:spPr>
          <a:xfrm>
            <a:off x="905256" y="2176272"/>
            <a:ext cx="402336" cy="402336"/>
          </a:xfrm>
          <a:prstGeom prst="rect">
            <a:avLst/>
          </a:prstGeom>
          <a:solidFill>
            <a:srgbClr val="10A06A"/>
          </a:solidFill>
          <a:ln w="12700">
            <a:solidFill>
              <a:srgbClr val="FFFFFF"/>
            </a:solidFill>
            <a:prstDash val="solid"/>
          </a:ln>
        </p:spPr>
      </p:sp>
      <p:sp>
        <p:nvSpPr>
          <p:cNvPr id="34" name="Shape 30"/>
          <p:cNvSpPr/>
          <p:nvPr/>
        </p:nvSpPr>
        <p:spPr>
          <a:xfrm>
            <a:off x="1307592" y="2176272"/>
            <a:ext cx="402336" cy="402336"/>
          </a:xfrm>
          <a:prstGeom prst="rect">
            <a:avLst/>
          </a:prstGeom>
          <a:solidFill>
            <a:srgbClr val="10A06A"/>
          </a:solidFill>
          <a:ln w="12700">
            <a:solidFill>
              <a:srgbClr val="FFFFFF"/>
            </a:solidFill>
            <a:prstDash val="solid"/>
          </a:ln>
        </p:spPr>
      </p:sp>
      <p:sp>
        <p:nvSpPr>
          <p:cNvPr id="35" name="Shape 31"/>
          <p:cNvSpPr/>
          <p:nvPr/>
        </p:nvSpPr>
        <p:spPr>
          <a:xfrm>
            <a:off x="1709928" y="2176272"/>
            <a:ext cx="402336" cy="402336"/>
          </a:xfrm>
          <a:prstGeom prst="rect">
            <a:avLst/>
          </a:prstGeom>
          <a:solidFill>
            <a:srgbClr val="10A06A"/>
          </a:solidFill>
          <a:ln w="12700">
            <a:solidFill>
              <a:srgbClr val="FFFFFF"/>
            </a:solidFill>
            <a:prstDash val="solid"/>
          </a:ln>
        </p:spPr>
      </p:sp>
      <p:sp>
        <p:nvSpPr>
          <p:cNvPr id="36" name="Shape 32"/>
          <p:cNvSpPr/>
          <p:nvPr/>
        </p:nvSpPr>
        <p:spPr>
          <a:xfrm>
            <a:off x="2112264" y="2176272"/>
            <a:ext cx="402336" cy="402336"/>
          </a:xfrm>
          <a:prstGeom prst="rect">
            <a:avLst/>
          </a:prstGeom>
          <a:solidFill>
            <a:srgbClr val="FFFFFF"/>
          </a:solidFill>
          <a:ln w="12700">
            <a:solidFill>
              <a:srgbClr val="D5DED9"/>
            </a:solidFill>
            <a:prstDash val="dash"/>
          </a:ln>
        </p:spPr>
      </p:sp>
      <p:pic>
        <p:nvPicPr>
          <p:cNvPr id="37" name="Image 1" descr="preencoded.png"/>
          <p:cNvPicPr>
            <a:picLocks noChangeAspect="1"/>
          </p:cNvPicPr>
          <p:nvPr/>
        </p:nvPicPr>
        <p:blipFill>
          <a:blip r:embed="rId3"/>
          <a:stretch>
            <a:fillRect/>
          </a:stretch>
        </p:blipFill>
        <p:spPr>
          <a:xfrm>
            <a:off x="2212848" y="2276856"/>
            <a:ext cx="219456" cy="219456"/>
          </a:xfrm>
          <a:prstGeom prst="rect">
            <a:avLst/>
          </a:prstGeom>
        </p:spPr>
      </p:pic>
      <p:sp>
        <p:nvSpPr>
          <p:cNvPr id="38" name="Shape 33"/>
          <p:cNvSpPr/>
          <p:nvPr/>
        </p:nvSpPr>
        <p:spPr>
          <a:xfrm>
            <a:off x="2514600" y="2176272"/>
            <a:ext cx="402336" cy="402336"/>
          </a:xfrm>
          <a:prstGeom prst="rect">
            <a:avLst/>
          </a:prstGeom>
          <a:solidFill>
            <a:srgbClr val="FFFFFF"/>
          </a:solidFill>
          <a:ln w="12700">
            <a:solidFill>
              <a:srgbClr val="D5DED9"/>
            </a:solidFill>
            <a:prstDash val="dash"/>
          </a:ln>
        </p:spPr>
      </p:sp>
      <p:sp>
        <p:nvSpPr>
          <p:cNvPr id="39" name="Shape 34"/>
          <p:cNvSpPr/>
          <p:nvPr/>
        </p:nvSpPr>
        <p:spPr>
          <a:xfrm>
            <a:off x="2916936" y="2176272"/>
            <a:ext cx="402336" cy="402336"/>
          </a:xfrm>
          <a:prstGeom prst="rect">
            <a:avLst/>
          </a:prstGeom>
          <a:solidFill>
            <a:srgbClr val="FFFFFF"/>
          </a:solidFill>
          <a:ln w="12700">
            <a:solidFill>
              <a:srgbClr val="D5DED9"/>
            </a:solidFill>
            <a:prstDash val="dash"/>
          </a:ln>
        </p:spPr>
      </p:sp>
      <p:pic>
        <p:nvPicPr>
          <p:cNvPr id="40" name="Image 2" descr="preencoded.png"/>
          <p:cNvPicPr>
            <a:picLocks noChangeAspect="1"/>
          </p:cNvPicPr>
          <p:nvPr/>
        </p:nvPicPr>
        <p:blipFill>
          <a:blip r:embed="rId3"/>
          <a:stretch>
            <a:fillRect/>
          </a:stretch>
        </p:blipFill>
        <p:spPr>
          <a:xfrm>
            <a:off x="3017520" y="2276856"/>
            <a:ext cx="219456" cy="219456"/>
          </a:xfrm>
          <a:prstGeom prst="rect">
            <a:avLst/>
          </a:prstGeom>
        </p:spPr>
      </p:pic>
      <p:sp>
        <p:nvSpPr>
          <p:cNvPr id="41" name="Shape 35"/>
          <p:cNvSpPr/>
          <p:nvPr/>
        </p:nvSpPr>
        <p:spPr>
          <a:xfrm>
            <a:off x="502920" y="2578608"/>
            <a:ext cx="402336" cy="402336"/>
          </a:xfrm>
          <a:prstGeom prst="rect">
            <a:avLst/>
          </a:prstGeom>
          <a:solidFill>
            <a:srgbClr val="10A06A"/>
          </a:solidFill>
          <a:ln w="12700">
            <a:solidFill>
              <a:srgbClr val="FFFFFF"/>
            </a:solidFill>
            <a:prstDash val="solid"/>
          </a:ln>
        </p:spPr>
      </p:sp>
      <p:sp>
        <p:nvSpPr>
          <p:cNvPr id="42" name="Shape 36"/>
          <p:cNvSpPr/>
          <p:nvPr/>
        </p:nvSpPr>
        <p:spPr>
          <a:xfrm>
            <a:off x="905256" y="2578608"/>
            <a:ext cx="402336" cy="402336"/>
          </a:xfrm>
          <a:prstGeom prst="rect">
            <a:avLst/>
          </a:prstGeom>
          <a:solidFill>
            <a:srgbClr val="10A06A"/>
          </a:solidFill>
          <a:ln w="12700">
            <a:solidFill>
              <a:srgbClr val="FFFFFF"/>
            </a:solidFill>
            <a:prstDash val="solid"/>
          </a:ln>
        </p:spPr>
      </p:sp>
      <p:sp>
        <p:nvSpPr>
          <p:cNvPr id="43" name="Shape 37"/>
          <p:cNvSpPr/>
          <p:nvPr/>
        </p:nvSpPr>
        <p:spPr>
          <a:xfrm>
            <a:off x="1307592" y="2578608"/>
            <a:ext cx="402336" cy="402336"/>
          </a:xfrm>
          <a:prstGeom prst="rect">
            <a:avLst/>
          </a:prstGeom>
          <a:solidFill>
            <a:srgbClr val="10A06A"/>
          </a:solidFill>
          <a:ln w="12700">
            <a:solidFill>
              <a:srgbClr val="FFFFFF"/>
            </a:solidFill>
            <a:prstDash val="solid"/>
          </a:ln>
        </p:spPr>
      </p:sp>
      <p:sp>
        <p:nvSpPr>
          <p:cNvPr id="44" name="Shape 38"/>
          <p:cNvSpPr/>
          <p:nvPr/>
        </p:nvSpPr>
        <p:spPr>
          <a:xfrm>
            <a:off x="1709928" y="2578608"/>
            <a:ext cx="402336" cy="402336"/>
          </a:xfrm>
          <a:prstGeom prst="rect">
            <a:avLst/>
          </a:prstGeom>
          <a:solidFill>
            <a:srgbClr val="FFFFFF"/>
          </a:solidFill>
          <a:ln w="12700">
            <a:solidFill>
              <a:srgbClr val="D5DED9"/>
            </a:solidFill>
            <a:prstDash val="dash"/>
          </a:ln>
        </p:spPr>
      </p:sp>
      <p:sp>
        <p:nvSpPr>
          <p:cNvPr id="45" name="Shape 39"/>
          <p:cNvSpPr/>
          <p:nvPr/>
        </p:nvSpPr>
        <p:spPr>
          <a:xfrm>
            <a:off x="2112264" y="2578608"/>
            <a:ext cx="402336" cy="402336"/>
          </a:xfrm>
          <a:prstGeom prst="rect">
            <a:avLst/>
          </a:prstGeom>
          <a:solidFill>
            <a:srgbClr val="FFFFFF"/>
          </a:solidFill>
          <a:ln w="12700">
            <a:solidFill>
              <a:srgbClr val="D5DED9"/>
            </a:solidFill>
            <a:prstDash val="dash"/>
          </a:ln>
        </p:spPr>
      </p:sp>
      <p:pic>
        <p:nvPicPr>
          <p:cNvPr id="46" name="Image 3" descr="preencoded.png"/>
          <p:cNvPicPr>
            <a:picLocks noChangeAspect="1"/>
          </p:cNvPicPr>
          <p:nvPr/>
        </p:nvPicPr>
        <p:blipFill>
          <a:blip r:embed="rId3"/>
          <a:stretch>
            <a:fillRect/>
          </a:stretch>
        </p:blipFill>
        <p:spPr>
          <a:xfrm>
            <a:off x="2212848" y="2679192"/>
            <a:ext cx="219456" cy="219456"/>
          </a:xfrm>
          <a:prstGeom prst="rect">
            <a:avLst/>
          </a:prstGeom>
        </p:spPr>
      </p:pic>
      <p:sp>
        <p:nvSpPr>
          <p:cNvPr id="47" name="Shape 40"/>
          <p:cNvSpPr/>
          <p:nvPr/>
        </p:nvSpPr>
        <p:spPr>
          <a:xfrm>
            <a:off x="2514600" y="2578608"/>
            <a:ext cx="402336" cy="402336"/>
          </a:xfrm>
          <a:prstGeom prst="rect">
            <a:avLst/>
          </a:prstGeom>
          <a:solidFill>
            <a:srgbClr val="FFFFFF"/>
          </a:solidFill>
          <a:ln w="12700">
            <a:solidFill>
              <a:srgbClr val="D5DED9"/>
            </a:solidFill>
            <a:prstDash val="dash"/>
          </a:ln>
        </p:spPr>
      </p:sp>
      <p:pic>
        <p:nvPicPr>
          <p:cNvPr id="48" name="Image 4" descr="preencoded.png"/>
          <p:cNvPicPr>
            <a:picLocks noChangeAspect="1"/>
          </p:cNvPicPr>
          <p:nvPr/>
        </p:nvPicPr>
        <p:blipFill>
          <a:blip r:embed="rId3"/>
          <a:stretch>
            <a:fillRect/>
          </a:stretch>
        </p:blipFill>
        <p:spPr>
          <a:xfrm>
            <a:off x="2615184" y="2679192"/>
            <a:ext cx="219456" cy="219456"/>
          </a:xfrm>
          <a:prstGeom prst="rect">
            <a:avLst/>
          </a:prstGeom>
        </p:spPr>
      </p:pic>
      <p:sp>
        <p:nvSpPr>
          <p:cNvPr id="49" name="Shape 41"/>
          <p:cNvSpPr/>
          <p:nvPr/>
        </p:nvSpPr>
        <p:spPr>
          <a:xfrm>
            <a:off x="2916936" y="2578608"/>
            <a:ext cx="402336" cy="402336"/>
          </a:xfrm>
          <a:prstGeom prst="rect">
            <a:avLst/>
          </a:prstGeom>
          <a:solidFill>
            <a:srgbClr val="FFFFFF"/>
          </a:solidFill>
          <a:ln w="12700">
            <a:solidFill>
              <a:srgbClr val="D5DED9"/>
            </a:solidFill>
            <a:prstDash val="dash"/>
          </a:ln>
        </p:spPr>
      </p:sp>
      <p:sp>
        <p:nvSpPr>
          <p:cNvPr id="50" name="Shape 42"/>
          <p:cNvSpPr/>
          <p:nvPr/>
        </p:nvSpPr>
        <p:spPr>
          <a:xfrm>
            <a:off x="502920" y="2980944"/>
            <a:ext cx="402336" cy="402336"/>
          </a:xfrm>
          <a:prstGeom prst="rect">
            <a:avLst/>
          </a:prstGeom>
          <a:solidFill>
            <a:srgbClr val="10A06A"/>
          </a:solidFill>
          <a:ln w="12700">
            <a:solidFill>
              <a:srgbClr val="FFFFFF"/>
            </a:solidFill>
            <a:prstDash val="solid"/>
          </a:ln>
        </p:spPr>
      </p:sp>
      <p:sp>
        <p:nvSpPr>
          <p:cNvPr id="51" name="Shape 43"/>
          <p:cNvSpPr/>
          <p:nvPr/>
        </p:nvSpPr>
        <p:spPr>
          <a:xfrm>
            <a:off x="905256" y="2980944"/>
            <a:ext cx="402336" cy="402336"/>
          </a:xfrm>
          <a:prstGeom prst="rect">
            <a:avLst/>
          </a:prstGeom>
          <a:solidFill>
            <a:srgbClr val="10A06A"/>
          </a:solidFill>
          <a:ln w="12700">
            <a:solidFill>
              <a:srgbClr val="FFFFFF"/>
            </a:solidFill>
            <a:prstDash val="solid"/>
          </a:ln>
        </p:spPr>
      </p:sp>
      <p:sp>
        <p:nvSpPr>
          <p:cNvPr id="52" name="Shape 44"/>
          <p:cNvSpPr/>
          <p:nvPr/>
        </p:nvSpPr>
        <p:spPr>
          <a:xfrm>
            <a:off x="1307592" y="2980944"/>
            <a:ext cx="402336" cy="402336"/>
          </a:xfrm>
          <a:prstGeom prst="rect">
            <a:avLst/>
          </a:prstGeom>
          <a:solidFill>
            <a:srgbClr val="FFFFFF"/>
          </a:solidFill>
          <a:ln w="12700">
            <a:solidFill>
              <a:srgbClr val="D5DED9"/>
            </a:solidFill>
            <a:prstDash val="dash"/>
          </a:ln>
        </p:spPr>
      </p:sp>
      <p:sp>
        <p:nvSpPr>
          <p:cNvPr id="53" name="Shape 45"/>
          <p:cNvSpPr/>
          <p:nvPr/>
        </p:nvSpPr>
        <p:spPr>
          <a:xfrm>
            <a:off x="1709928" y="2980944"/>
            <a:ext cx="402336" cy="402336"/>
          </a:xfrm>
          <a:prstGeom prst="rect">
            <a:avLst/>
          </a:prstGeom>
          <a:solidFill>
            <a:srgbClr val="FFFFFF"/>
          </a:solidFill>
          <a:ln w="12700">
            <a:solidFill>
              <a:srgbClr val="D5DED9"/>
            </a:solidFill>
            <a:prstDash val="dash"/>
          </a:ln>
        </p:spPr>
      </p:sp>
      <p:pic>
        <p:nvPicPr>
          <p:cNvPr id="54" name="Image 5" descr="preencoded.png"/>
          <p:cNvPicPr>
            <a:picLocks noChangeAspect="1"/>
          </p:cNvPicPr>
          <p:nvPr/>
        </p:nvPicPr>
        <p:blipFill>
          <a:blip r:embed="rId3"/>
          <a:stretch>
            <a:fillRect/>
          </a:stretch>
        </p:blipFill>
        <p:spPr>
          <a:xfrm>
            <a:off x="1810512" y="3081528"/>
            <a:ext cx="219456" cy="219456"/>
          </a:xfrm>
          <a:prstGeom prst="rect">
            <a:avLst/>
          </a:prstGeom>
        </p:spPr>
      </p:pic>
      <p:sp>
        <p:nvSpPr>
          <p:cNvPr id="55" name="Shape 46"/>
          <p:cNvSpPr/>
          <p:nvPr/>
        </p:nvSpPr>
        <p:spPr>
          <a:xfrm>
            <a:off x="2112264" y="2980944"/>
            <a:ext cx="402336" cy="402336"/>
          </a:xfrm>
          <a:prstGeom prst="rect">
            <a:avLst/>
          </a:prstGeom>
          <a:solidFill>
            <a:srgbClr val="FFFFFF"/>
          </a:solidFill>
          <a:ln w="12700">
            <a:solidFill>
              <a:srgbClr val="D5DED9"/>
            </a:solidFill>
            <a:prstDash val="dash"/>
          </a:ln>
        </p:spPr>
      </p:sp>
      <p:sp>
        <p:nvSpPr>
          <p:cNvPr id="56" name="Shape 47"/>
          <p:cNvSpPr/>
          <p:nvPr/>
        </p:nvSpPr>
        <p:spPr>
          <a:xfrm>
            <a:off x="2514600" y="2980944"/>
            <a:ext cx="402336" cy="402336"/>
          </a:xfrm>
          <a:prstGeom prst="rect">
            <a:avLst/>
          </a:prstGeom>
          <a:solidFill>
            <a:srgbClr val="FFFFFF"/>
          </a:solidFill>
          <a:ln w="12700">
            <a:solidFill>
              <a:srgbClr val="D5DED9"/>
            </a:solidFill>
            <a:prstDash val="dash"/>
          </a:ln>
        </p:spPr>
      </p:sp>
      <p:sp>
        <p:nvSpPr>
          <p:cNvPr id="57" name="Shape 48"/>
          <p:cNvSpPr/>
          <p:nvPr/>
        </p:nvSpPr>
        <p:spPr>
          <a:xfrm>
            <a:off x="2916936" y="2980944"/>
            <a:ext cx="402336" cy="402336"/>
          </a:xfrm>
          <a:prstGeom prst="rect">
            <a:avLst/>
          </a:prstGeom>
          <a:solidFill>
            <a:srgbClr val="FFFFFF"/>
          </a:solidFill>
          <a:ln w="12700">
            <a:solidFill>
              <a:srgbClr val="D5DED9"/>
            </a:solidFill>
            <a:prstDash val="dash"/>
          </a:ln>
        </p:spPr>
      </p:sp>
      <p:pic>
        <p:nvPicPr>
          <p:cNvPr id="58" name="Image 6" descr="preencoded.png"/>
          <p:cNvPicPr>
            <a:picLocks noChangeAspect="1"/>
          </p:cNvPicPr>
          <p:nvPr/>
        </p:nvPicPr>
        <p:blipFill>
          <a:blip r:embed="rId3"/>
          <a:stretch>
            <a:fillRect/>
          </a:stretch>
        </p:blipFill>
        <p:spPr>
          <a:xfrm>
            <a:off x="3017520" y="3081528"/>
            <a:ext cx="219456" cy="219456"/>
          </a:xfrm>
          <a:prstGeom prst="rect">
            <a:avLst/>
          </a:prstGeom>
        </p:spPr>
      </p:pic>
      <p:sp>
        <p:nvSpPr>
          <p:cNvPr id="59" name="Shape 49"/>
          <p:cNvSpPr/>
          <p:nvPr/>
        </p:nvSpPr>
        <p:spPr>
          <a:xfrm>
            <a:off x="502920" y="3383280"/>
            <a:ext cx="402336" cy="402336"/>
          </a:xfrm>
          <a:prstGeom prst="rect">
            <a:avLst/>
          </a:prstGeom>
          <a:solidFill>
            <a:srgbClr val="10A06A"/>
          </a:solidFill>
          <a:ln w="12700">
            <a:solidFill>
              <a:srgbClr val="FFFFFF"/>
            </a:solidFill>
            <a:prstDash val="solid"/>
          </a:ln>
        </p:spPr>
      </p:sp>
      <p:sp>
        <p:nvSpPr>
          <p:cNvPr id="60" name="Shape 50"/>
          <p:cNvSpPr/>
          <p:nvPr/>
        </p:nvSpPr>
        <p:spPr>
          <a:xfrm>
            <a:off x="905256" y="3383280"/>
            <a:ext cx="402336" cy="402336"/>
          </a:xfrm>
          <a:prstGeom prst="rect">
            <a:avLst/>
          </a:prstGeom>
          <a:solidFill>
            <a:srgbClr val="FFFFFF"/>
          </a:solidFill>
          <a:ln w="12700">
            <a:solidFill>
              <a:srgbClr val="D5DED9"/>
            </a:solidFill>
            <a:prstDash val="dash"/>
          </a:ln>
        </p:spPr>
      </p:sp>
      <p:sp>
        <p:nvSpPr>
          <p:cNvPr id="61" name="Shape 51"/>
          <p:cNvSpPr/>
          <p:nvPr/>
        </p:nvSpPr>
        <p:spPr>
          <a:xfrm>
            <a:off x="1307592" y="3383280"/>
            <a:ext cx="402336" cy="402336"/>
          </a:xfrm>
          <a:prstGeom prst="rect">
            <a:avLst/>
          </a:prstGeom>
          <a:solidFill>
            <a:srgbClr val="FFFFFF"/>
          </a:solidFill>
          <a:ln w="12700">
            <a:solidFill>
              <a:srgbClr val="D5DED9"/>
            </a:solidFill>
            <a:prstDash val="dash"/>
          </a:ln>
        </p:spPr>
      </p:sp>
      <p:sp>
        <p:nvSpPr>
          <p:cNvPr id="62" name="Shape 52"/>
          <p:cNvSpPr/>
          <p:nvPr/>
        </p:nvSpPr>
        <p:spPr>
          <a:xfrm>
            <a:off x="1709928" y="3383280"/>
            <a:ext cx="402336" cy="402336"/>
          </a:xfrm>
          <a:prstGeom prst="rect">
            <a:avLst/>
          </a:prstGeom>
          <a:solidFill>
            <a:srgbClr val="FFFFFF"/>
          </a:solidFill>
          <a:ln w="12700">
            <a:solidFill>
              <a:srgbClr val="D5DED9"/>
            </a:solidFill>
            <a:prstDash val="dash"/>
          </a:ln>
        </p:spPr>
      </p:sp>
      <p:pic>
        <p:nvPicPr>
          <p:cNvPr id="63" name="Image 7" descr="preencoded.png"/>
          <p:cNvPicPr>
            <a:picLocks noChangeAspect="1"/>
          </p:cNvPicPr>
          <p:nvPr/>
        </p:nvPicPr>
        <p:blipFill>
          <a:blip r:embed="rId3"/>
          <a:stretch>
            <a:fillRect/>
          </a:stretch>
        </p:blipFill>
        <p:spPr>
          <a:xfrm>
            <a:off x="1810512" y="3483864"/>
            <a:ext cx="219456" cy="219456"/>
          </a:xfrm>
          <a:prstGeom prst="rect">
            <a:avLst/>
          </a:prstGeom>
        </p:spPr>
      </p:pic>
      <p:sp>
        <p:nvSpPr>
          <p:cNvPr id="64" name="Shape 53"/>
          <p:cNvSpPr/>
          <p:nvPr/>
        </p:nvSpPr>
        <p:spPr>
          <a:xfrm>
            <a:off x="2112264" y="3383280"/>
            <a:ext cx="402336" cy="402336"/>
          </a:xfrm>
          <a:prstGeom prst="rect">
            <a:avLst/>
          </a:prstGeom>
          <a:solidFill>
            <a:srgbClr val="FFFFFF"/>
          </a:solidFill>
          <a:ln w="12700">
            <a:solidFill>
              <a:srgbClr val="D5DED9"/>
            </a:solidFill>
            <a:prstDash val="dash"/>
          </a:ln>
        </p:spPr>
      </p:sp>
      <p:pic>
        <p:nvPicPr>
          <p:cNvPr id="65" name="Image 8" descr="preencoded.png"/>
          <p:cNvPicPr>
            <a:picLocks noChangeAspect="1"/>
          </p:cNvPicPr>
          <p:nvPr/>
        </p:nvPicPr>
        <p:blipFill>
          <a:blip r:embed="rId3"/>
          <a:stretch>
            <a:fillRect/>
          </a:stretch>
        </p:blipFill>
        <p:spPr>
          <a:xfrm>
            <a:off x="2212848" y="3483864"/>
            <a:ext cx="219456" cy="219456"/>
          </a:xfrm>
          <a:prstGeom prst="rect">
            <a:avLst/>
          </a:prstGeom>
        </p:spPr>
      </p:pic>
      <p:sp>
        <p:nvSpPr>
          <p:cNvPr id="66" name="Shape 54"/>
          <p:cNvSpPr/>
          <p:nvPr/>
        </p:nvSpPr>
        <p:spPr>
          <a:xfrm>
            <a:off x="2514600" y="3383280"/>
            <a:ext cx="402336" cy="402336"/>
          </a:xfrm>
          <a:prstGeom prst="rect">
            <a:avLst/>
          </a:prstGeom>
          <a:solidFill>
            <a:srgbClr val="FFFFFF"/>
          </a:solidFill>
          <a:ln w="12700">
            <a:solidFill>
              <a:srgbClr val="D5DED9"/>
            </a:solidFill>
            <a:prstDash val="dash"/>
          </a:ln>
        </p:spPr>
      </p:sp>
      <p:sp>
        <p:nvSpPr>
          <p:cNvPr id="67" name="Shape 55"/>
          <p:cNvSpPr/>
          <p:nvPr/>
        </p:nvSpPr>
        <p:spPr>
          <a:xfrm>
            <a:off x="2916936" y="3383280"/>
            <a:ext cx="402336" cy="402336"/>
          </a:xfrm>
          <a:prstGeom prst="rect">
            <a:avLst/>
          </a:prstGeom>
          <a:solidFill>
            <a:srgbClr val="FFFFFF"/>
          </a:solidFill>
          <a:ln w="12700">
            <a:solidFill>
              <a:srgbClr val="D5DED9"/>
            </a:solidFill>
            <a:prstDash val="dash"/>
          </a:ln>
        </p:spPr>
      </p:sp>
      <p:sp>
        <p:nvSpPr>
          <p:cNvPr id="68" name="Shape 56"/>
          <p:cNvSpPr/>
          <p:nvPr/>
        </p:nvSpPr>
        <p:spPr>
          <a:xfrm>
            <a:off x="502920" y="3785616"/>
            <a:ext cx="402336" cy="402336"/>
          </a:xfrm>
          <a:prstGeom prst="rect">
            <a:avLst/>
          </a:prstGeom>
          <a:solidFill>
            <a:srgbClr val="FFFFFF"/>
          </a:solidFill>
          <a:ln w="12700">
            <a:solidFill>
              <a:srgbClr val="D5DED9"/>
            </a:solidFill>
            <a:prstDash val="dash"/>
          </a:ln>
        </p:spPr>
      </p:sp>
      <p:sp>
        <p:nvSpPr>
          <p:cNvPr id="69" name="Shape 57"/>
          <p:cNvSpPr/>
          <p:nvPr/>
        </p:nvSpPr>
        <p:spPr>
          <a:xfrm>
            <a:off x="905256" y="3785616"/>
            <a:ext cx="402336" cy="402336"/>
          </a:xfrm>
          <a:prstGeom prst="rect">
            <a:avLst/>
          </a:prstGeom>
          <a:solidFill>
            <a:srgbClr val="FFFFFF"/>
          </a:solidFill>
          <a:ln w="12700">
            <a:solidFill>
              <a:srgbClr val="D5DED9"/>
            </a:solidFill>
            <a:prstDash val="dash"/>
          </a:ln>
        </p:spPr>
      </p:sp>
      <p:sp>
        <p:nvSpPr>
          <p:cNvPr id="70" name="Shape 58"/>
          <p:cNvSpPr/>
          <p:nvPr/>
        </p:nvSpPr>
        <p:spPr>
          <a:xfrm>
            <a:off x="1307592" y="3785616"/>
            <a:ext cx="402336" cy="402336"/>
          </a:xfrm>
          <a:prstGeom prst="rect">
            <a:avLst/>
          </a:prstGeom>
          <a:solidFill>
            <a:srgbClr val="FFFFFF"/>
          </a:solidFill>
          <a:ln w="12700">
            <a:solidFill>
              <a:srgbClr val="D5DED9"/>
            </a:solidFill>
            <a:prstDash val="dash"/>
          </a:ln>
        </p:spPr>
      </p:sp>
      <p:pic>
        <p:nvPicPr>
          <p:cNvPr id="71" name="Image 9" descr="preencoded.png"/>
          <p:cNvPicPr>
            <a:picLocks noChangeAspect="1"/>
          </p:cNvPicPr>
          <p:nvPr/>
        </p:nvPicPr>
        <p:blipFill>
          <a:blip r:embed="rId3"/>
          <a:stretch>
            <a:fillRect/>
          </a:stretch>
        </p:blipFill>
        <p:spPr>
          <a:xfrm>
            <a:off x="1408176" y="3886200"/>
            <a:ext cx="219456" cy="219456"/>
          </a:xfrm>
          <a:prstGeom prst="rect">
            <a:avLst/>
          </a:prstGeom>
        </p:spPr>
      </p:pic>
      <p:sp>
        <p:nvSpPr>
          <p:cNvPr id="72" name="Shape 59"/>
          <p:cNvSpPr/>
          <p:nvPr/>
        </p:nvSpPr>
        <p:spPr>
          <a:xfrm>
            <a:off x="1709928" y="3785616"/>
            <a:ext cx="402336" cy="402336"/>
          </a:xfrm>
          <a:prstGeom prst="rect">
            <a:avLst/>
          </a:prstGeom>
          <a:solidFill>
            <a:srgbClr val="FFFFFF"/>
          </a:solidFill>
          <a:ln w="12700">
            <a:solidFill>
              <a:srgbClr val="D5DED9"/>
            </a:solidFill>
            <a:prstDash val="dash"/>
          </a:ln>
        </p:spPr>
      </p:sp>
      <p:sp>
        <p:nvSpPr>
          <p:cNvPr id="73" name="Shape 60"/>
          <p:cNvSpPr/>
          <p:nvPr/>
        </p:nvSpPr>
        <p:spPr>
          <a:xfrm>
            <a:off x="2112264" y="3785616"/>
            <a:ext cx="402336" cy="402336"/>
          </a:xfrm>
          <a:prstGeom prst="rect">
            <a:avLst/>
          </a:prstGeom>
          <a:solidFill>
            <a:srgbClr val="FFFFFF"/>
          </a:solidFill>
          <a:ln w="12700">
            <a:solidFill>
              <a:srgbClr val="D5DED9"/>
            </a:solidFill>
            <a:prstDash val="dash"/>
          </a:ln>
        </p:spPr>
      </p:sp>
      <p:sp>
        <p:nvSpPr>
          <p:cNvPr id="74" name="Shape 61"/>
          <p:cNvSpPr/>
          <p:nvPr/>
        </p:nvSpPr>
        <p:spPr>
          <a:xfrm>
            <a:off x="2514600" y="3785616"/>
            <a:ext cx="402336" cy="402336"/>
          </a:xfrm>
          <a:prstGeom prst="rect">
            <a:avLst/>
          </a:prstGeom>
          <a:solidFill>
            <a:srgbClr val="FFFFFF"/>
          </a:solidFill>
          <a:ln w="12700">
            <a:solidFill>
              <a:srgbClr val="D5DED9"/>
            </a:solidFill>
            <a:prstDash val="dash"/>
          </a:ln>
        </p:spPr>
      </p:sp>
      <p:sp>
        <p:nvSpPr>
          <p:cNvPr id="75" name="Shape 62"/>
          <p:cNvSpPr/>
          <p:nvPr/>
        </p:nvSpPr>
        <p:spPr>
          <a:xfrm>
            <a:off x="2916936" y="3785616"/>
            <a:ext cx="402336" cy="402336"/>
          </a:xfrm>
          <a:prstGeom prst="rect">
            <a:avLst/>
          </a:prstGeom>
          <a:solidFill>
            <a:srgbClr val="FFFFFF"/>
          </a:solidFill>
          <a:ln w="12700">
            <a:solidFill>
              <a:srgbClr val="D5DED9"/>
            </a:solidFill>
            <a:prstDash val="dash"/>
          </a:ln>
        </p:spPr>
      </p:sp>
      <p:sp>
        <p:nvSpPr>
          <p:cNvPr id="76" name="Shape 63"/>
          <p:cNvSpPr/>
          <p:nvPr/>
        </p:nvSpPr>
        <p:spPr>
          <a:xfrm>
            <a:off x="502920" y="4251960"/>
            <a:ext cx="164592" cy="164592"/>
          </a:xfrm>
          <a:prstGeom prst="rect">
            <a:avLst/>
          </a:prstGeom>
          <a:solidFill>
            <a:srgbClr val="10A06A"/>
          </a:solidFill>
          <a:ln/>
        </p:spPr>
      </p:sp>
      <p:sp>
        <p:nvSpPr>
          <p:cNvPr id="77" name="Text 64"/>
          <p:cNvSpPr txBox="1"/>
          <p:nvPr/>
        </p:nvSpPr>
        <p:spPr>
          <a:xfrm>
            <a:off x="713232" y="4242816"/>
            <a:ext cx="731520" cy="1828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measured</a:t>
            </a:r>
            <a:endParaRPr lang="en-US" sz="900" dirty="0"/>
          </a:p>
        </p:txBody>
      </p:sp>
      <p:sp>
        <p:nvSpPr>
          <p:cNvPr id="78" name="Shape 65"/>
          <p:cNvSpPr/>
          <p:nvPr/>
        </p:nvSpPr>
        <p:spPr>
          <a:xfrm>
            <a:off x="1417320" y="4251960"/>
            <a:ext cx="164592" cy="164592"/>
          </a:xfrm>
          <a:prstGeom prst="rect">
            <a:avLst/>
          </a:prstGeom>
          <a:solidFill>
            <a:srgbClr val="FFFFFF"/>
          </a:solidFill>
          <a:ln w="12700">
            <a:solidFill>
              <a:srgbClr val="D5DED9"/>
            </a:solidFill>
            <a:prstDash val="dash"/>
          </a:ln>
        </p:spPr>
      </p:sp>
      <p:sp>
        <p:nvSpPr>
          <p:cNvPr id="79" name="Text 66"/>
          <p:cNvSpPr txBox="1"/>
          <p:nvPr/>
        </p:nvSpPr>
        <p:spPr>
          <a:xfrm>
            <a:off x="1627632" y="4242816"/>
            <a:ext cx="548640" cy="1828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empty</a:t>
            </a:r>
            <a:endParaRPr lang="en-US" sz="900" dirty="0"/>
          </a:p>
        </p:txBody>
      </p:sp>
      <p:pic>
        <p:nvPicPr>
          <p:cNvPr id="80" name="Image 10" descr="preencoded.png"/>
          <p:cNvPicPr>
            <a:picLocks noChangeAspect="1"/>
          </p:cNvPicPr>
          <p:nvPr/>
        </p:nvPicPr>
        <p:blipFill>
          <a:blip r:embed="rId3"/>
          <a:stretch>
            <a:fillRect/>
          </a:stretch>
        </p:blipFill>
        <p:spPr>
          <a:xfrm>
            <a:off x="2148840" y="4251960"/>
            <a:ext cx="164592" cy="164592"/>
          </a:xfrm>
          <a:prstGeom prst="rect">
            <a:avLst/>
          </a:prstGeom>
        </p:spPr>
      </p:pic>
      <p:sp>
        <p:nvSpPr>
          <p:cNvPr id="81" name="Text 67"/>
          <p:cNvSpPr txBox="1"/>
          <p:nvPr/>
        </p:nvSpPr>
        <p:spPr>
          <a:xfrm>
            <a:off x="2359152" y="4242816"/>
            <a:ext cx="1097280" cy="1828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empty but populated</a:t>
            </a:r>
            <a:endParaRPr lang="en-US" sz="900" dirty="0"/>
          </a:p>
        </p:txBody>
      </p:sp>
      <p:sp>
        <p:nvSpPr>
          <p:cNvPr id="82" name="Text 68"/>
          <p:cNvSpPr txBox="1"/>
          <p:nvPr/>
        </p:nvSpPr>
        <p:spPr>
          <a:xfrm>
            <a:off x="3931920" y="1325880"/>
            <a:ext cx="2743200" cy="201168"/>
          </a:xfrm>
          <a:prstGeom prst="rect">
            <a:avLst/>
          </a:prstGeom>
          <a:noFill/>
          <a:ln/>
        </p:spPr>
        <p:txBody>
          <a:bodyPr wrap="square" lIns="0" tIns="0" rIns="0" bIns="0" rtlCol="0" anchor="t"/>
          <a:lstStyle/>
          <a:p>
            <a:pPr marL="0" indent="0">
              <a:buNone/>
            </a:pPr>
            <a:r>
              <a:rPr lang="en-US" sz="1000" b="1" kern="0" spc="200" dirty="0">
                <a:solidFill>
                  <a:srgbClr val="C4621D"/>
                </a:solidFill>
                <a:latin typeface="Calibri" pitchFamily="34" charset="0"/>
                <a:ea typeface="Calibri" pitchFamily="34" charset="-122"/>
                <a:cs typeface="Calibri" pitchFamily="34" charset="-120"/>
              </a:rPr>
              <a:t>AN EMPTY TILE CAN MEAN</a:t>
            </a:r>
            <a:endParaRPr lang="en-US" sz="1000" dirty="0"/>
          </a:p>
        </p:txBody>
      </p:sp>
      <p:sp>
        <p:nvSpPr>
          <p:cNvPr id="83" name="Shape 69"/>
          <p:cNvSpPr/>
          <p:nvPr/>
        </p:nvSpPr>
        <p:spPr>
          <a:xfrm>
            <a:off x="3931920" y="1600200"/>
            <a:ext cx="2286000" cy="329184"/>
          </a:xfrm>
          <a:prstGeom prst="roundRect">
            <a:avLst>
              <a:gd name="adj" fmla="val 50000"/>
            </a:avLst>
          </a:prstGeom>
          <a:solidFill>
            <a:srgbClr val="C4621D">
              <a:alpha val="12000"/>
            </a:srgbClr>
          </a:solidFill>
          <a:ln w="9525">
            <a:solidFill>
              <a:srgbClr val="C4621D"/>
            </a:solidFill>
            <a:prstDash val="solid"/>
          </a:ln>
        </p:spPr>
      </p:sp>
      <p:sp>
        <p:nvSpPr>
          <p:cNvPr id="84" name="Text 70"/>
          <p:cNvSpPr txBox="1"/>
          <p:nvPr/>
        </p:nvSpPr>
        <p:spPr>
          <a:xfrm>
            <a:off x="4041648" y="1600200"/>
            <a:ext cx="210312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No service</a:t>
            </a:r>
            <a:endParaRPr lang="en-US" sz="1050" dirty="0"/>
          </a:p>
        </p:txBody>
      </p:sp>
      <p:sp>
        <p:nvSpPr>
          <p:cNvPr id="85" name="Shape 71"/>
          <p:cNvSpPr/>
          <p:nvPr/>
        </p:nvSpPr>
        <p:spPr>
          <a:xfrm>
            <a:off x="6327648" y="1600200"/>
            <a:ext cx="2286000" cy="329184"/>
          </a:xfrm>
          <a:prstGeom prst="roundRect">
            <a:avLst>
              <a:gd name="adj" fmla="val 50000"/>
            </a:avLst>
          </a:prstGeom>
          <a:solidFill>
            <a:srgbClr val="C4621D">
              <a:alpha val="12000"/>
            </a:srgbClr>
          </a:solidFill>
          <a:ln w="9525">
            <a:solidFill>
              <a:srgbClr val="C4621D"/>
            </a:solidFill>
            <a:prstDash val="solid"/>
          </a:ln>
        </p:spPr>
      </p:sp>
      <p:sp>
        <p:nvSpPr>
          <p:cNvPr id="86" name="Text 72"/>
          <p:cNvSpPr txBox="1"/>
          <p:nvPr/>
        </p:nvSpPr>
        <p:spPr>
          <a:xfrm>
            <a:off x="6437376" y="1600200"/>
            <a:ext cx="210312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Service nobody can afford</a:t>
            </a:r>
            <a:endParaRPr lang="en-US" sz="1050" dirty="0"/>
          </a:p>
        </p:txBody>
      </p:sp>
      <p:sp>
        <p:nvSpPr>
          <p:cNvPr id="87" name="Shape 73"/>
          <p:cNvSpPr/>
          <p:nvPr/>
        </p:nvSpPr>
        <p:spPr>
          <a:xfrm>
            <a:off x="3931920" y="2011680"/>
            <a:ext cx="2286000" cy="329184"/>
          </a:xfrm>
          <a:prstGeom prst="roundRect">
            <a:avLst>
              <a:gd name="adj" fmla="val 50000"/>
            </a:avLst>
          </a:prstGeom>
          <a:solidFill>
            <a:srgbClr val="C4621D">
              <a:alpha val="12000"/>
            </a:srgbClr>
          </a:solidFill>
          <a:ln w="9525">
            <a:solidFill>
              <a:srgbClr val="C4621D"/>
            </a:solidFill>
            <a:prstDash val="solid"/>
          </a:ln>
        </p:spPr>
      </p:sp>
      <p:sp>
        <p:nvSpPr>
          <p:cNvPr id="88" name="Text 74"/>
          <p:cNvSpPr txBox="1"/>
          <p:nvPr/>
        </p:nvSpPr>
        <p:spPr>
          <a:xfrm>
            <a:off x="4041648" y="2011680"/>
            <a:ext cx="210312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Few or no smartphones</a:t>
            </a:r>
            <a:endParaRPr lang="en-US" sz="1050" dirty="0"/>
          </a:p>
        </p:txBody>
      </p:sp>
      <p:sp>
        <p:nvSpPr>
          <p:cNvPr id="89" name="Shape 75"/>
          <p:cNvSpPr/>
          <p:nvPr/>
        </p:nvSpPr>
        <p:spPr>
          <a:xfrm>
            <a:off x="6327648" y="2011680"/>
            <a:ext cx="2286000" cy="329184"/>
          </a:xfrm>
          <a:prstGeom prst="roundRect">
            <a:avLst>
              <a:gd name="adj" fmla="val 50000"/>
            </a:avLst>
          </a:prstGeom>
          <a:solidFill>
            <a:srgbClr val="C4621D">
              <a:alpha val="12000"/>
            </a:srgbClr>
          </a:solidFill>
          <a:ln w="9525">
            <a:solidFill>
              <a:srgbClr val="C4621D"/>
            </a:solidFill>
            <a:prstDash val="solid"/>
          </a:ln>
        </p:spPr>
      </p:sp>
      <p:sp>
        <p:nvSpPr>
          <p:cNvPr id="90" name="Text 76"/>
          <p:cNvSpPr txBox="1"/>
          <p:nvPr/>
        </p:nvSpPr>
        <p:spPr>
          <a:xfrm>
            <a:off x="6437376" y="2011680"/>
            <a:ext cx="210312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Almost nobody lives there</a:t>
            </a:r>
            <a:endParaRPr lang="en-US" sz="1050" dirty="0"/>
          </a:p>
        </p:txBody>
      </p:sp>
      <p:sp>
        <p:nvSpPr>
          <p:cNvPr id="91" name="Shape 77"/>
          <p:cNvSpPr/>
          <p:nvPr/>
        </p:nvSpPr>
        <p:spPr>
          <a:xfrm>
            <a:off x="3931920" y="2423160"/>
            <a:ext cx="2286000" cy="329184"/>
          </a:xfrm>
          <a:prstGeom prst="roundRect">
            <a:avLst>
              <a:gd name="adj" fmla="val 50000"/>
            </a:avLst>
          </a:prstGeom>
          <a:solidFill>
            <a:srgbClr val="C4621D">
              <a:alpha val="12000"/>
            </a:srgbClr>
          </a:solidFill>
          <a:ln w="9525">
            <a:solidFill>
              <a:srgbClr val="C4621D"/>
            </a:solidFill>
            <a:prstDash val="solid"/>
          </a:ln>
        </p:spPr>
      </p:sp>
      <p:sp>
        <p:nvSpPr>
          <p:cNvPr id="92" name="Text 78"/>
          <p:cNvSpPr txBox="1"/>
          <p:nvPr/>
        </p:nvSpPr>
        <p:spPr>
          <a:xfrm>
            <a:off x="4041648" y="2423160"/>
            <a:ext cx="210312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People who never ran a test</a:t>
            </a:r>
            <a:endParaRPr lang="en-US" sz="1050" dirty="0"/>
          </a:p>
        </p:txBody>
      </p:sp>
      <p:sp>
        <p:nvSpPr>
          <p:cNvPr id="93" name="Shape 79"/>
          <p:cNvSpPr/>
          <p:nvPr/>
        </p:nvSpPr>
        <p:spPr>
          <a:xfrm>
            <a:off x="3931920" y="2926080"/>
            <a:ext cx="4754880" cy="1371600"/>
          </a:xfrm>
          <a:prstGeom prst="roundRect">
            <a:avLst>
              <a:gd name="adj" fmla="val 5333"/>
            </a:avLst>
          </a:prstGeom>
          <a:solidFill>
            <a:srgbClr val="E8F5EF"/>
          </a:solidFill>
          <a:ln w="15875">
            <a:solidFill>
              <a:srgbClr val="00A86A"/>
            </a:solidFill>
            <a:prstDash val="solid"/>
          </a:ln>
        </p:spPr>
      </p:sp>
      <p:sp>
        <p:nvSpPr>
          <p:cNvPr id="94" name="Text 80"/>
          <p:cNvSpPr txBox="1"/>
          <p:nvPr/>
        </p:nvSpPr>
        <p:spPr>
          <a:xfrm>
            <a:off x="4096512" y="2999232"/>
            <a:ext cx="4114800" cy="237744"/>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How to work with it</a:t>
            </a:r>
            <a:endParaRPr lang="en-US" sz="1250" dirty="0"/>
          </a:p>
        </p:txBody>
      </p:sp>
      <p:sp>
        <p:nvSpPr>
          <p:cNvPr id="95" name="Text 81"/>
          <p:cNvSpPr txBox="1"/>
          <p:nvPr/>
        </p:nvSpPr>
        <p:spPr>
          <a:xfrm>
            <a:off x="4096512" y="3291840"/>
            <a:ext cx="4480560" cy="96012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Map tile presence, not only tile values, across several quarters.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Overlay WorldPop: absence in a populated tile is the case to study.</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Treat persistent absence as a lead for field verification, never as a finding.</a:t>
            </a:r>
            <a:endParaRPr lang="en-US" sz="1100" dirty="0"/>
          </a:p>
        </p:txBody>
      </p:sp>
      <p:sp>
        <p:nvSpPr>
          <p:cNvPr id="96" name="Text 82"/>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Schematic illustration, not real data.</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SIGNAL 3</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Substitution: who lives on mobile alone?</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C4621D"/>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7" name="Text 14"/>
          <p:cNvSpPr txBox="1"/>
          <p:nvPr/>
        </p:nvSpPr>
        <p:spPr>
          <a:xfrm>
            <a:off x="1463040" y="1325880"/>
            <a:ext cx="4663440" cy="201168"/>
          </a:xfrm>
          <a:prstGeom prst="rect">
            <a:avLst/>
          </a:prstGeom>
          <a:noFill/>
          <a:ln/>
        </p:spPr>
        <p:txBody>
          <a:bodyPr wrap="square" lIns="0" tIns="0" rIns="0" bIns="0" rtlCol="0" anchor="t"/>
          <a:lstStyle/>
          <a:p>
            <a:pPr marL="0" indent="0" algn="ctr">
              <a:buNone/>
            </a:pPr>
            <a:r>
              <a:rPr lang="en-US" sz="950" b="1" kern="0" spc="200" dirty="0">
                <a:solidFill>
                  <a:srgbClr val="5E6964"/>
                </a:solidFill>
                <a:latin typeface="Calibri" pitchFamily="34" charset="0"/>
                <a:ea typeface="Calibri" pitchFamily="34" charset="-122"/>
                <a:cs typeface="Calibri" pitchFamily="34" charset="-120"/>
              </a:rPr>
              <a:t>FIXED LAYER</a:t>
            </a:r>
            <a:endParaRPr lang="en-US" sz="950" dirty="0"/>
          </a:p>
        </p:txBody>
      </p:sp>
      <p:sp>
        <p:nvSpPr>
          <p:cNvPr id="18" name="Text 15"/>
          <p:cNvSpPr txBox="1"/>
          <p:nvPr/>
        </p:nvSpPr>
        <p:spPr>
          <a:xfrm>
            <a:off x="1463040" y="3977640"/>
            <a:ext cx="2331720" cy="18288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tests present</a:t>
            </a:r>
            <a:endParaRPr lang="en-US" sz="950" dirty="0"/>
          </a:p>
        </p:txBody>
      </p:sp>
      <p:sp>
        <p:nvSpPr>
          <p:cNvPr id="19" name="Text 16"/>
          <p:cNvSpPr txBox="1"/>
          <p:nvPr/>
        </p:nvSpPr>
        <p:spPr>
          <a:xfrm>
            <a:off x="3794760" y="3977640"/>
            <a:ext cx="2331720" cy="18288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no tests</a:t>
            </a:r>
            <a:endParaRPr lang="en-US" sz="950" dirty="0"/>
          </a:p>
        </p:txBody>
      </p:sp>
      <p:sp>
        <p:nvSpPr>
          <p:cNvPr id="20" name="Text 17"/>
          <p:cNvSpPr txBox="1"/>
          <p:nvPr/>
        </p:nvSpPr>
        <p:spPr>
          <a:xfrm>
            <a:off x="182880" y="2633472"/>
            <a:ext cx="1005840" cy="274320"/>
          </a:xfrm>
          <a:prstGeom prst="rect">
            <a:avLst/>
          </a:prstGeom>
          <a:noFill/>
          <a:ln/>
        </p:spPr>
        <p:txBody>
          <a:bodyPr wrap="square" lIns="0" tIns="0" rIns="0" bIns="0" rtlCol="0" anchor="t"/>
          <a:lstStyle/>
          <a:p>
            <a:pPr marL="0" indent="0" algn="r">
              <a:buNone/>
            </a:pPr>
            <a:r>
              <a:rPr lang="en-US" sz="950" b="1" kern="0" spc="100" dirty="0">
                <a:solidFill>
                  <a:srgbClr val="5E6964"/>
                </a:solidFill>
                <a:latin typeface="Calibri" pitchFamily="34" charset="0"/>
                <a:ea typeface="Calibri" pitchFamily="34" charset="-122"/>
                <a:cs typeface="Calibri" pitchFamily="34" charset="-120"/>
              </a:rPr>
              <a:t>MOBILE LAYER</a:t>
            </a:r>
            <a:endParaRPr lang="en-US" sz="950" dirty="0"/>
          </a:p>
        </p:txBody>
      </p:sp>
      <p:sp>
        <p:nvSpPr>
          <p:cNvPr id="21" name="Text 18"/>
          <p:cNvSpPr txBox="1"/>
          <p:nvPr/>
        </p:nvSpPr>
        <p:spPr>
          <a:xfrm>
            <a:off x="822960" y="2057400"/>
            <a:ext cx="566928" cy="228600"/>
          </a:xfrm>
          <a:prstGeom prst="rect">
            <a:avLst/>
          </a:prstGeom>
          <a:noFill/>
          <a:ln/>
        </p:spPr>
        <p:txBody>
          <a:bodyPr wrap="square" lIns="0" tIns="0" rIns="0" bIns="0" rtlCol="0" anchor="t"/>
          <a:lstStyle/>
          <a:p>
            <a:pPr marL="0" indent="0" algn="r">
              <a:buNone/>
            </a:pPr>
            <a:r>
              <a:rPr lang="en-US" sz="950" dirty="0">
                <a:solidFill>
                  <a:srgbClr val="5E6964"/>
                </a:solidFill>
                <a:latin typeface="Calibri" pitchFamily="34" charset="0"/>
                <a:ea typeface="Calibri" pitchFamily="34" charset="-122"/>
                <a:cs typeface="Calibri" pitchFamily="34" charset="-120"/>
              </a:rPr>
              <a:t>present</a:t>
            </a:r>
            <a:endParaRPr lang="en-US" sz="950" dirty="0"/>
          </a:p>
        </p:txBody>
      </p:sp>
      <p:sp>
        <p:nvSpPr>
          <p:cNvPr id="22" name="Text 19"/>
          <p:cNvSpPr txBox="1"/>
          <p:nvPr/>
        </p:nvSpPr>
        <p:spPr>
          <a:xfrm>
            <a:off x="822960" y="3227832"/>
            <a:ext cx="566928" cy="228600"/>
          </a:xfrm>
          <a:prstGeom prst="rect">
            <a:avLst/>
          </a:prstGeom>
          <a:noFill/>
          <a:ln/>
        </p:spPr>
        <p:txBody>
          <a:bodyPr wrap="square" lIns="0" tIns="0" rIns="0" bIns="0" rtlCol="0" anchor="t"/>
          <a:lstStyle/>
          <a:p>
            <a:pPr marL="0" indent="0" algn="r">
              <a:buNone/>
            </a:pPr>
            <a:r>
              <a:rPr lang="en-US" sz="950" dirty="0">
                <a:solidFill>
                  <a:srgbClr val="5E6964"/>
                </a:solidFill>
                <a:latin typeface="Calibri" pitchFamily="34" charset="0"/>
                <a:ea typeface="Calibri" pitchFamily="34" charset="-122"/>
                <a:cs typeface="Calibri" pitchFamily="34" charset="-120"/>
              </a:rPr>
              <a:t>absent</a:t>
            </a:r>
            <a:endParaRPr lang="en-US" sz="950" dirty="0"/>
          </a:p>
        </p:txBody>
      </p:sp>
      <p:sp>
        <p:nvSpPr>
          <p:cNvPr id="23" name="Shape 20"/>
          <p:cNvSpPr/>
          <p:nvPr/>
        </p:nvSpPr>
        <p:spPr>
          <a:xfrm>
            <a:off x="1499616" y="1636776"/>
            <a:ext cx="2258568" cy="1097280"/>
          </a:xfrm>
          <a:prstGeom prst="rect">
            <a:avLst/>
          </a:prstGeom>
          <a:solidFill>
            <a:srgbClr val="F4F7F5"/>
          </a:solidFill>
          <a:ln w="9525">
            <a:solidFill>
              <a:srgbClr val="D5DED9"/>
            </a:solidFill>
            <a:prstDash val="solid"/>
          </a:ln>
        </p:spPr>
      </p:sp>
      <p:sp>
        <p:nvSpPr>
          <p:cNvPr id="24" name="Shape 21"/>
          <p:cNvSpPr/>
          <p:nvPr/>
        </p:nvSpPr>
        <p:spPr>
          <a:xfrm>
            <a:off x="1627632" y="1783080"/>
            <a:ext cx="402336" cy="402336"/>
          </a:xfrm>
          <a:prstGeom prst="ellipse">
            <a:avLst/>
          </a:prstGeom>
          <a:solidFill>
            <a:srgbClr val="00A86A">
              <a:alpha val="22000"/>
            </a:srgbClr>
          </a:solidFill>
          <a:ln/>
        </p:spPr>
      </p:sp>
      <p:pic>
        <p:nvPicPr>
          <p:cNvPr id="25" name="Image 0" descr="preencoded.png"/>
          <p:cNvPicPr>
            <a:picLocks noChangeAspect="1"/>
          </p:cNvPicPr>
          <p:nvPr/>
        </p:nvPicPr>
        <p:blipFill>
          <a:blip r:embed="rId3"/>
          <a:stretch>
            <a:fillRect/>
          </a:stretch>
        </p:blipFill>
        <p:spPr>
          <a:xfrm>
            <a:off x="1724193" y="1879641"/>
            <a:ext cx="209215" cy="209215"/>
          </a:xfrm>
          <a:prstGeom prst="rect">
            <a:avLst/>
          </a:prstGeom>
        </p:spPr>
      </p:pic>
      <p:sp>
        <p:nvSpPr>
          <p:cNvPr id="26" name="Text 22"/>
          <p:cNvSpPr txBox="1"/>
          <p:nvPr/>
        </p:nvSpPr>
        <p:spPr>
          <a:xfrm>
            <a:off x="2121408" y="1801368"/>
            <a:ext cx="1554480" cy="36576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Both</a:t>
            </a:r>
            <a:endParaRPr lang="en-US" sz="1400" dirty="0"/>
          </a:p>
        </p:txBody>
      </p:sp>
      <p:sp>
        <p:nvSpPr>
          <p:cNvPr id="27" name="Text 23"/>
          <p:cNvSpPr txBox="1"/>
          <p:nvPr/>
        </p:nvSpPr>
        <p:spPr>
          <a:xfrm>
            <a:off x="1645920" y="2258568"/>
            <a:ext cx="201168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Choice-rich environment.</a:t>
            </a:r>
            <a:endParaRPr lang="en-US" sz="1050" dirty="0"/>
          </a:p>
        </p:txBody>
      </p:sp>
      <p:sp>
        <p:nvSpPr>
          <p:cNvPr id="28" name="Shape 24"/>
          <p:cNvSpPr/>
          <p:nvPr/>
        </p:nvSpPr>
        <p:spPr>
          <a:xfrm>
            <a:off x="3831336" y="1636776"/>
            <a:ext cx="2258568" cy="1097280"/>
          </a:xfrm>
          <a:prstGeom prst="rect">
            <a:avLst/>
          </a:prstGeom>
          <a:solidFill>
            <a:srgbClr val="FBEFE6"/>
          </a:solidFill>
          <a:ln w="19050">
            <a:solidFill>
              <a:srgbClr val="C4621D"/>
            </a:solidFill>
            <a:prstDash val="solid"/>
          </a:ln>
        </p:spPr>
      </p:sp>
      <p:sp>
        <p:nvSpPr>
          <p:cNvPr id="29" name="Shape 25"/>
          <p:cNvSpPr/>
          <p:nvPr/>
        </p:nvSpPr>
        <p:spPr>
          <a:xfrm>
            <a:off x="3959352" y="1783080"/>
            <a:ext cx="402336" cy="402336"/>
          </a:xfrm>
          <a:prstGeom prst="ellipse">
            <a:avLst/>
          </a:prstGeom>
          <a:solidFill>
            <a:srgbClr val="C4621D">
              <a:alpha val="22000"/>
            </a:srgbClr>
          </a:solidFill>
          <a:ln/>
        </p:spPr>
      </p:sp>
      <p:pic>
        <p:nvPicPr>
          <p:cNvPr id="30" name="Image 1" descr="preencoded.png"/>
          <p:cNvPicPr>
            <a:picLocks noChangeAspect="1"/>
          </p:cNvPicPr>
          <p:nvPr/>
        </p:nvPicPr>
        <p:blipFill>
          <a:blip r:embed="rId4"/>
          <a:stretch>
            <a:fillRect/>
          </a:stretch>
        </p:blipFill>
        <p:spPr>
          <a:xfrm>
            <a:off x="4055913" y="1879641"/>
            <a:ext cx="209215" cy="209215"/>
          </a:xfrm>
          <a:prstGeom prst="rect">
            <a:avLst/>
          </a:prstGeom>
        </p:spPr>
      </p:pic>
      <p:sp>
        <p:nvSpPr>
          <p:cNvPr id="31" name="Text 26"/>
          <p:cNvSpPr txBox="1"/>
          <p:nvPr/>
        </p:nvSpPr>
        <p:spPr>
          <a:xfrm>
            <a:off x="4453128" y="1801368"/>
            <a:ext cx="1554480" cy="36576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Mobile only</a:t>
            </a:r>
            <a:endParaRPr lang="en-US" sz="1400" dirty="0"/>
          </a:p>
        </p:txBody>
      </p:sp>
      <p:sp>
        <p:nvSpPr>
          <p:cNvPr id="32" name="Text 27"/>
          <p:cNvSpPr txBox="1"/>
          <p:nvPr/>
        </p:nvSpPr>
        <p:spPr>
          <a:xfrm>
            <a:off x="3977640" y="2258568"/>
            <a:ext cx="201168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Likely mobile-dependent households.</a:t>
            </a:r>
            <a:endParaRPr lang="en-US" sz="1050" dirty="0"/>
          </a:p>
        </p:txBody>
      </p:sp>
      <p:sp>
        <p:nvSpPr>
          <p:cNvPr id="33" name="Shape 28"/>
          <p:cNvSpPr/>
          <p:nvPr/>
        </p:nvSpPr>
        <p:spPr>
          <a:xfrm>
            <a:off x="1499616" y="2807208"/>
            <a:ext cx="2258568" cy="1097280"/>
          </a:xfrm>
          <a:prstGeom prst="rect">
            <a:avLst/>
          </a:prstGeom>
          <a:solidFill>
            <a:srgbClr val="F4F7F5"/>
          </a:solidFill>
          <a:ln w="9525">
            <a:solidFill>
              <a:srgbClr val="D5DED9"/>
            </a:solidFill>
            <a:prstDash val="solid"/>
          </a:ln>
        </p:spPr>
      </p:sp>
      <p:sp>
        <p:nvSpPr>
          <p:cNvPr id="34" name="Shape 29"/>
          <p:cNvSpPr/>
          <p:nvPr/>
        </p:nvSpPr>
        <p:spPr>
          <a:xfrm>
            <a:off x="1627632" y="2953512"/>
            <a:ext cx="402336" cy="402336"/>
          </a:xfrm>
          <a:prstGeom prst="ellipse">
            <a:avLst/>
          </a:prstGeom>
          <a:solidFill>
            <a:srgbClr val="0E7C86">
              <a:alpha val="22000"/>
            </a:srgbClr>
          </a:solidFill>
          <a:ln/>
        </p:spPr>
      </p:sp>
      <p:pic>
        <p:nvPicPr>
          <p:cNvPr id="35" name="Image 2" descr="preencoded.png"/>
          <p:cNvPicPr>
            <a:picLocks noChangeAspect="1"/>
          </p:cNvPicPr>
          <p:nvPr/>
        </p:nvPicPr>
        <p:blipFill>
          <a:blip r:embed="rId5"/>
          <a:stretch>
            <a:fillRect/>
          </a:stretch>
        </p:blipFill>
        <p:spPr>
          <a:xfrm>
            <a:off x="1724193" y="3050073"/>
            <a:ext cx="209215" cy="209215"/>
          </a:xfrm>
          <a:prstGeom prst="rect">
            <a:avLst/>
          </a:prstGeom>
        </p:spPr>
      </p:pic>
      <p:sp>
        <p:nvSpPr>
          <p:cNvPr id="36" name="Text 30"/>
          <p:cNvSpPr txBox="1"/>
          <p:nvPr/>
        </p:nvSpPr>
        <p:spPr>
          <a:xfrm>
            <a:off x="2121408" y="2971800"/>
            <a:ext cx="1554480" cy="36576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Fixed only</a:t>
            </a:r>
            <a:endParaRPr lang="en-US" sz="1400" dirty="0"/>
          </a:p>
        </p:txBody>
      </p:sp>
      <p:sp>
        <p:nvSpPr>
          <p:cNvPr id="37" name="Text 31"/>
          <p:cNvSpPr txBox="1"/>
          <p:nvPr/>
        </p:nvSpPr>
        <p:spPr>
          <a:xfrm>
            <a:off x="1645920" y="3429000"/>
            <a:ext cx="201168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Weak cellular or indoor reception.</a:t>
            </a:r>
            <a:endParaRPr lang="en-US" sz="1050" dirty="0"/>
          </a:p>
        </p:txBody>
      </p:sp>
      <p:sp>
        <p:nvSpPr>
          <p:cNvPr id="38" name="Shape 32"/>
          <p:cNvSpPr/>
          <p:nvPr/>
        </p:nvSpPr>
        <p:spPr>
          <a:xfrm>
            <a:off x="3831336" y="2807208"/>
            <a:ext cx="2258568" cy="1097280"/>
          </a:xfrm>
          <a:prstGeom prst="rect">
            <a:avLst/>
          </a:prstGeom>
          <a:solidFill>
            <a:srgbClr val="F4F7F5"/>
          </a:solidFill>
          <a:ln w="9525">
            <a:solidFill>
              <a:srgbClr val="D5DED9"/>
            </a:solidFill>
            <a:prstDash val="solid"/>
          </a:ln>
        </p:spPr>
      </p:sp>
      <p:sp>
        <p:nvSpPr>
          <p:cNvPr id="39" name="Shape 33"/>
          <p:cNvSpPr/>
          <p:nvPr/>
        </p:nvSpPr>
        <p:spPr>
          <a:xfrm>
            <a:off x="3959352" y="2953512"/>
            <a:ext cx="402336" cy="402336"/>
          </a:xfrm>
          <a:prstGeom prst="ellipse">
            <a:avLst/>
          </a:prstGeom>
          <a:solidFill>
            <a:srgbClr val="A9B5B0">
              <a:alpha val="22000"/>
            </a:srgbClr>
          </a:solidFill>
          <a:ln/>
        </p:spPr>
      </p:sp>
      <p:pic>
        <p:nvPicPr>
          <p:cNvPr id="40" name="Image 3" descr="preencoded.png"/>
          <p:cNvPicPr>
            <a:picLocks noChangeAspect="1"/>
          </p:cNvPicPr>
          <p:nvPr/>
        </p:nvPicPr>
        <p:blipFill>
          <a:blip r:embed="rId6"/>
          <a:stretch>
            <a:fillRect/>
          </a:stretch>
        </p:blipFill>
        <p:spPr>
          <a:xfrm>
            <a:off x="4055913" y="3050073"/>
            <a:ext cx="209215" cy="209215"/>
          </a:xfrm>
          <a:prstGeom prst="rect">
            <a:avLst/>
          </a:prstGeom>
        </p:spPr>
      </p:pic>
      <p:sp>
        <p:nvSpPr>
          <p:cNvPr id="41" name="Text 34"/>
          <p:cNvSpPr txBox="1"/>
          <p:nvPr/>
        </p:nvSpPr>
        <p:spPr>
          <a:xfrm>
            <a:off x="4453128" y="2971800"/>
            <a:ext cx="1554480" cy="36576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Neither</a:t>
            </a:r>
            <a:endParaRPr lang="en-US" sz="1400" dirty="0"/>
          </a:p>
        </p:txBody>
      </p:sp>
      <p:sp>
        <p:nvSpPr>
          <p:cNvPr id="42" name="Text 35"/>
          <p:cNvSpPr txBox="1"/>
          <p:nvPr/>
        </p:nvSpPr>
        <p:spPr>
          <a:xfrm>
            <a:off x="3977640" y="3429000"/>
            <a:ext cx="201168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Unmeasured: see signal 1.</a:t>
            </a:r>
            <a:endParaRPr lang="en-US" sz="1050" dirty="0"/>
          </a:p>
        </p:txBody>
      </p:sp>
      <p:sp>
        <p:nvSpPr>
          <p:cNvPr id="43" name="Shape 36"/>
          <p:cNvSpPr/>
          <p:nvPr/>
        </p:nvSpPr>
        <p:spPr>
          <a:xfrm>
            <a:off x="6355080" y="1371600"/>
            <a:ext cx="2331720" cy="3063240"/>
          </a:xfrm>
          <a:prstGeom prst="roundRect">
            <a:avLst>
              <a:gd name="adj" fmla="val 3137"/>
            </a:avLst>
          </a:prstGeom>
          <a:solidFill>
            <a:srgbClr val="FFFFFF"/>
          </a:solidFill>
          <a:ln w="15875">
            <a:solidFill>
              <a:srgbClr val="C4621D"/>
            </a:solidFill>
            <a:prstDash val="solid"/>
          </a:ln>
        </p:spPr>
      </p:sp>
      <p:sp>
        <p:nvSpPr>
          <p:cNvPr id="44" name="Shape 37"/>
          <p:cNvSpPr/>
          <p:nvPr/>
        </p:nvSpPr>
        <p:spPr>
          <a:xfrm>
            <a:off x="6492240" y="1481328"/>
            <a:ext cx="420624" cy="420624"/>
          </a:xfrm>
          <a:prstGeom prst="ellipse">
            <a:avLst/>
          </a:prstGeom>
          <a:solidFill>
            <a:srgbClr val="C4621D">
              <a:alpha val="22000"/>
            </a:srgbClr>
          </a:solidFill>
          <a:ln/>
        </p:spPr>
      </p:sp>
      <p:pic>
        <p:nvPicPr>
          <p:cNvPr id="45" name="Image 4" descr="preencoded.png"/>
          <p:cNvPicPr>
            <a:picLocks noChangeAspect="1"/>
          </p:cNvPicPr>
          <p:nvPr/>
        </p:nvPicPr>
        <p:blipFill>
          <a:blip r:embed="rId7"/>
          <a:stretch>
            <a:fillRect/>
          </a:stretch>
        </p:blipFill>
        <p:spPr>
          <a:xfrm>
            <a:off x="6593190" y="1582278"/>
            <a:ext cx="218724" cy="218724"/>
          </a:xfrm>
          <a:prstGeom prst="rect">
            <a:avLst/>
          </a:prstGeom>
        </p:spPr>
      </p:pic>
      <p:sp>
        <p:nvSpPr>
          <p:cNvPr id="46" name="Text 38"/>
          <p:cNvSpPr txBox="1"/>
          <p:nvPr/>
        </p:nvSpPr>
        <p:spPr>
          <a:xfrm>
            <a:off x="6995160" y="1554480"/>
            <a:ext cx="164592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Why it matters</a:t>
            </a:r>
            <a:endParaRPr lang="en-US" sz="1300" dirty="0"/>
          </a:p>
        </p:txBody>
      </p:sp>
      <p:sp>
        <p:nvSpPr>
          <p:cNvPr id="47" name="Text 39"/>
          <p:cNvSpPr txBox="1"/>
          <p:nvPr/>
        </p:nvSpPr>
        <p:spPr>
          <a:xfrm>
            <a:off x="6492240" y="2057400"/>
            <a:ext cx="2103120" cy="22860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Mobile dependence is invisible in coverage statistics and very visible in household budgets.</a:t>
            </a:r>
            <a:endParaRPr lang="en-US" sz="1050" dirty="0"/>
          </a:p>
          <a:p>
            <a:pPr marL="0" indent="0">
              <a:buNone/>
            </a:pPr>
            <a:endParaRPr lang="en-US" sz="1050" dirty="0"/>
          </a:p>
          <a:p>
            <a:pPr marL="0" indent="0">
              <a:buNone/>
            </a:pPr>
            <a:r>
              <a:rPr lang="en-US" sz="1050" dirty="0">
                <a:solidFill>
                  <a:srgbClr val="231F20"/>
                </a:solidFill>
                <a:latin typeface="Calibri" pitchFamily="34" charset="0"/>
                <a:ea typeface="Calibri" pitchFamily="34" charset="-122"/>
                <a:cs typeface="Calibri" pitchFamily="34" charset="-120"/>
              </a:rPr>
              <a:t>This join is one of the few ways open data can surface it, as a hypothesis to test against your household survey.</a:t>
            </a:r>
            <a:endParaRPr lang="en-US" sz="1050" dirty="0"/>
          </a:p>
        </p:txBody>
      </p:sp>
      <p:sp>
        <p:nvSpPr>
          <p:cNvPr id="48" name="Text 40"/>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Join key: quadkey, same quarter. In many African countries the fixed layer is sparse: check counts first.</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06</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Rigour, limits and publication</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What must be true before a number leaves the office?</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5C242"/>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29</a:t>
            </a:r>
            <a:endParaRPr lang="en-US" sz="8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EPISTEMICS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What this data can and cannot tell you</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371600"/>
            <a:ext cx="4023360" cy="3063240"/>
          </a:xfrm>
          <a:prstGeom prst="roundRect">
            <a:avLst>
              <a:gd name="adj" fmla="val 2388"/>
            </a:avLst>
          </a:prstGeom>
          <a:solidFill>
            <a:srgbClr val="FFFFFF"/>
          </a:solidFill>
          <a:ln w="15875">
            <a:solidFill>
              <a:srgbClr val="00A86A"/>
            </a:solidFill>
            <a:prstDash val="solid"/>
          </a:ln>
        </p:spPr>
      </p:sp>
      <p:sp>
        <p:nvSpPr>
          <p:cNvPr id="18" name="Shape 15"/>
          <p:cNvSpPr/>
          <p:nvPr/>
        </p:nvSpPr>
        <p:spPr>
          <a:xfrm>
            <a:off x="457200" y="1371600"/>
            <a:ext cx="4023360" cy="502920"/>
          </a:xfrm>
          <a:prstGeom prst="roundRect">
            <a:avLst>
              <a:gd name="adj" fmla="val 14545"/>
            </a:avLst>
          </a:prstGeom>
          <a:solidFill>
            <a:srgbClr val="E8F5EF"/>
          </a:solidFill>
          <a:ln w="15875">
            <a:solidFill>
              <a:srgbClr val="00A86A"/>
            </a:solidFill>
            <a:prstDash val="solid"/>
          </a:ln>
        </p:spPr>
      </p:sp>
      <p:sp>
        <p:nvSpPr>
          <p:cNvPr id="19" name="Text 16"/>
          <p:cNvSpPr txBox="1"/>
          <p:nvPr/>
        </p:nvSpPr>
        <p:spPr>
          <a:xfrm>
            <a:off x="640080" y="1371600"/>
            <a:ext cx="3657600" cy="502920"/>
          </a:xfrm>
          <a:prstGeom prst="rect">
            <a:avLst/>
          </a:prstGeom>
          <a:noFill/>
          <a:ln/>
        </p:spPr>
        <p:txBody>
          <a:bodyPr wrap="square" lIns="0" tIns="0" rIns="0" bIns="0" rtlCol="0" anchor="ctr"/>
          <a:lstStyle/>
          <a:p>
            <a:pPr marL="0" indent="0">
              <a:buNone/>
            </a:pPr>
            <a:r>
              <a:rPr lang="en-US" sz="1500" b="1" dirty="0">
                <a:solidFill>
                  <a:srgbClr val="00A86A"/>
                </a:solidFill>
                <a:latin typeface="Calibri" pitchFamily="34" charset="0"/>
                <a:ea typeface="Calibri" pitchFamily="34" charset="-122"/>
                <a:cs typeface="Calibri" pitchFamily="34" charset="-120"/>
              </a:rPr>
              <a:t>It can establish</a:t>
            </a:r>
            <a:endParaRPr lang="en-US" sz="1500" dirty="0"/>
          </a:p>
        </p:txBody>
      </p:sp>
      <p:sp>
        <p:nvSpPr>
          <p:cNvPr id="20" name="Shape 17"/>
          <p:cNvSpPr/>
          <p:nvPr/>
        </p:nvSpPr>
        <p:spPr>
          <a:xfrm>
            <a:off x="640080" y="2066544"/>
            <a:ext cx="274320" cy="274320"/>
          </a:xfrm>
          <a:prstGeom prst="ellipse">
            <a:avLst/>
          </a:prstGeom>
          <a:solidFill>
            <a:srgbClr val="00A86A">
              <a:alpha val="20000"/>
            </a:srgbClr>
          </a:solidFill>
          <a:ln/>
        </p:spPr>
      </p:sp>
      <p:pic>
        <p:nvPicPr>
          <p:cNvPr id="21" name="Image 0" descr="preencoded.png"/>
          <p:cNvPicPr>
            <a:picLocks noChangeAspect="1"/>
          </p:cNvPicPr>
          <p:nvPr/>
        </p:nvPicPr>
        <p:blipFill>
          <a:blip r:embed="rId3"/>
          <a:stretch>
            <a:fillRect/>
          </a:stretch>
        </p:blipFill>
        <p:spPr>
          <a:xfrm>
            <a:off x="704088" y="2130552"/>
            <a:ext cx="146304" cy="146304"/>
          </a:xfrm>
          <a:prstGeom prst="rect">
            <a:avLst/>
          </a:prstGeom>
        </p:spPr>
      </p:pic>
      <p:sp>
        <p:nvSpPr>
          <p:cNvPr id="22" name="Text 18"/>
          <p:cNvSpPr txBox="1"/>
          <p:nvPr/>
        </p:nvSpPr>
        <p:spPr>
          <a:xfrm>
            <a:off x="1024128" y="2029968"/>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Performance actually experienced by real users</a:t>
            </a:r>
            <a:endParaRPr lang="en-US" sz="1100" dirty="0"/>
          </a:p>
        </p:txBody>
      </p:sp>
      <p:sp>
        <p:nvSpPr>
          <p:cNvPr id="23" name="Shape 19"/>
          <p:cNvSpPr/>
          <p:nvPr/>
        </p:nvSpPr>
        <p:spPr>
          <a:xfrm>
            <a:off x="640080" y="2542032"/>
            <a:ext cx="274320" cy="274320"/>
          </a:xfrm>
          <a:prstGeom prst="ellipse">
            <a:avLst/>
          </a:prstGeom>
          <a:solidFill>
            <a:srgbClr val="00A86A">
              <a:alpha val="20000"/>
            </a:srgbClr>
          </a:solidFill>
          <a:ln/>
        </p:spPr>
      </p:sp>
      <p:pic>
        <p:nvPicPr>
          <p:cNvPr id="24" name="Image 1" descr="preencoded.png"/>
          <p:cNvPicPr>
            <a:picLocks noChangeAspect="1"/>
          </p:cNvPicPr>
          <p:nvPr/>
        </p:nvPicPr>
        <p:blipFill>
          <a:blip r:embed="rId3"/>
          <a:stretch>
            <a:fillRect/>
          </a:stretch>
        </p:blipFill>
        <p:spPr>
          <a:xfrm>
            <a:off x="704088" y="2606040"/>
            <a:ext cx="146304" cy="146304"/>
          </a:xfrm>
          <a:prstGeom prst="rect">
            <a:avLst/>
          </a:prstGeom>
        </p:spPr>
      </p:pic>
      <p:sp>
        <p:nvSpPr>
          <p:cNvPr id="25" name="Text 20"/>
          <p:cNvSpPr txBox="1"/>
          <p:nvPr/>
        </p:nvSpPr>
        <p:spPr>
          <a:xfrm>
            <a:off x="1024128" y="2505456"/>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Fine spatial patterns invisible in national statistics</a:t>
            </a:r>
            <a:endParaRPr lang="en-US" sz="1100" dirty="0"/>
          </a:p>
        </p:txBody>
      </p:sp>
      <p:sp>
        <p:nvSpPr>
          <p:cNvPr id="26" name="Shape 21"/>
          <p:cNvSpPr/>
          <p:nvPr/>
        </p:nvSpPr>
        <p:spPr>
          <a:xfrm>
            <a:off x="640080" y="3017520"/>
            <a:ext cx="274320" cy="274320"/>
          </a:xfrm>
          <a:prstGeom prst="ellipse">
            <a:avLst/>
          </a:prstGeom>
          <a:solidFill>
            <a:srgbClr val="00A86A">
              <a:alpha val="20000"/>
            </a:srgbClr>
          </a:solidFill>
          <a:ln/>
        </p:spPr>
      </p:sp>
      <p:pic>
        <p:nvPicPr>
          <p:cNvPr id="27" name="Image 2" descr="preencoded.png"/>
          <p:cNvPicPr>
            <a:picLocks noChangeAspect="1"/>
          </p:cNvPicPr>
          <p:nvPr/>
        </p:nvPicPr>
        <p:blipFill>
          <a:blip r:embed="rId3"/>
          <a:stretch>
            <a:fillRect/>
          </a:stretch>
        </p:blipFill>
        <p:spPr>
          <a:xfrm>
            <a:off x="704088" y="3081528"/>
            <a:ext cx="146304" cy="146304"/>
          </a:xfrm>
          <a:prstGeom prst="rect">
            <a:avLst/>
          </a:prstGeom>
        </p:spPr>
      </p:pic>
      <p:sp>
        <p:nvSpPr>
          <p:cNvPr id="28" name="Text 22"/>
          <p:cNvSpPr txBox="1"/>
          <p:nvPr/>
        </p:nvSpPr>
        <p:spPr>
          <a:xfrm>
            <a:off x="1024128" y="2980944"/>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Change quarter by quarter since 2019</a:t>
            </a:r>
            <a:endParaRPr lang="en-US" sz="1100" dirty="0"/>
          </a:p>
        </p:txBody>
      </p:sp>
      <p:sp>
        <p:nvSpPr>
          <p:cNvPr id="29" name="Shape 23"/>
          <p:cNvSpPr/>
          <p:nvPr/>
        </p:nvSpPr>
        <p:spPr>
          <a:xfrm>
            <a:off x="640080" y="3493008"/>
            <a:ext cx="274320" cy="274320"/>
          </a:xfrm>
          <a:prstGeom prst="ellipse">
            <a:avLst/>
          </a:prstGeom>
          <a:solidFill>
            <a:srgbClr val="00A86A">
              <a:alpha val="20000"/>
            </a:srgbClr>
          </a:solidFill>
          <a:ln/>
        </p:spPr>
      </p:sp>
      <p:pic>
        <p:nvPicPr>
          <p:cNvPr id="30" name="Image 3" descr="preencoded.png"/>
          <p:cNvPicPr>
            <a:picLocks noChangeAspect="1"/>
          </p:cNvPicPr>
          <p:nvPr/>
        </p:nvPicPr>
        <p:blipFill>
          <a:blip r:embed="rId3"/>
          <a:stretch>
            <a:fillRect/>
          </a:stretch>
        </p:blipFill>
        <p:spPr>
          <a:xfrm>
            <a:off x="704088" y="3557016"/>
            <a:ext cx="146304" cy="146304"/>
          </a:xfrm>
          <a:prstGeom prst="rect">
            <a:avLst/>
          </a:prstGeom>
        </p:spPr>
      </p:pic>
      <p:sp>
        <p:nvSpPr>
          <p:cNvPr id="31" name="Text 24"/>
          <p:cNvSpPr txBox="1"/>
          <p:nvPr/>
        </p:nvSpPr>
        <p:spPr>
          <a:xfrm>
            <a:off x="1024128" y="3456432"/>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Fixed vs mobile contrast in the same place</a:t>
            </a:r>
            <a:endParaRPr lang="en-US" sz="1100" dirty="0"/>
          </a:p>
        </p:txBody>
      </p:sp>
      <p:sp>
        <p:nvSpPr>
          <p:cNvPr id="32" name="Shape 25"/>
          <p:cNvSpPr/>
          <p:nvPr/>
        </p:nvSpPr>
        <p:spPr>
          <a:xfrm>
            <a:off x="640080" y="3968496"/>
            <a:ext cx="274320" cy="274320"/>
          </a:xfrm>
          <a:prstGeom prst="ellipse">
            <a:avLst/>
          </a:prstGeom>
          <a:solidFill>
            <a:srgbClr val="00A86A">
              <a:alpha val="20000"/>
            </a:srgbClr>
          </a:solidFill>
          <a:ln/>
        </p:spPr>
      </p:sp>
      <p:pic>
        <p:nvPicPr>
          <p:cNvPr id="33" name="Image 4" descr="preencoded.png"/>
          <p:cNvPicPr>
            <a:picLocks noChangeAspect="1"/>
          </p:cNvPicPr>
          <p:nvPr/>
        </p:nvPicPr>
        <p:blipFill>
          <a:blip r:embed="rId3"/>
          <a:stretch>
            <a:fillRect/>
          </a:stretch>
        </p:blipFill>
        <p:spPr>
          <a:xfrm>
            <a:off x="704088" y="4032504"/>
            <a:ext cx="146304" cy="146304"/>
          </a:xfrm>
          <a:prstGeom prst="rect">
            <a:avLst/>
          </a:prstGeom>
        </p:spPr>
      </p:pic>
      <p:sp>
        <p:nvSpPr>
          <p:cNvPr id="34" name="Text 26"/>
          <p:cNvSpPr txBox="1"/>
          <p:nvPr/>
        </p:nvSpPr>
        <p:spPr>
          <a:xfrm>
            <a:off x="1024128" y="3931920"/>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A floor on where service demonstrably exists</a:t>
            </a:r>
            <a:endParaRPr lang="en-US" sz="1100" dirty="0"/>
          </a:p>
        </p:txBody>
      </p:sp>
      <p:sp>
        <p:nvSpPr>
          <p:cNvPr id="35" name="Shape 27"/>
          <p:cNvSpPr/>
          <p:nvPr/>
        </p:nvSpPr>
        <p:spPr>
          <a:xfrm>
            <a:off x="4663440" y="1371600"/>
            <a:ext cx="4023360" cy="3063240"/>
          </a:xfrm>
          <a:prstGeom prst="roundRect">
            <a:avLst>
              <a:gd name="adj" fmla="val 2388"/>
            </a:avLst>
          </a:prstGeom>
          <a:solidFill>
            <a:srgbClr val="FFFFFF"/>
          </a:solidFill>
          <a:ln w="15875">
            <a:solidFill>
              <a:srgbClr val="B83B2E"/>
            </a:solidFill>
            <a:prstDash val="solid"/>
          </a:ln>
        </p:spPr>
      </p:sp>
      <p:sp>
        <p:nvSpPr>
          <p:cNvPr id="36" name="Shape 28"/>
          <p:cNvSpPr/>
          <p:nvPr/>
        </p:nvSpPr>
        <p:spPr>
          <a:xfrm>
            <a:off x="4663440" y="1371600"/>
            <a:ext cx="4023360" cy="502920"/>
          </a:xfrm>
          <a:prstGeom prst="roundRect">
            <a:avLst>
              <a:gd name="adj" fmla="val 14545"/>
            </a:avLst>
          </a:prstGeom>
          <a:solidFill>
            <a:srgbClr val="FBEDEB"/>
          </a:solidFill>
          <a:ln w="15875">
            <a:solidFill>
              <a:srgbClr val="B83B2E"/>
            </a:solidFill>
            <a:prstDash val="solid"/>
          </a:ln>
        </p:spPr>
      </p:sp>
      <p:sp>
        <p:nvSpPr>
          <p:cNvPr id="37" name="Text 29"/>
          <p:cNvSpPr txBox="1"/>
          <p:nvPr/>
        </p:nvSpPr>
        <p:spPr>
          <a:xfrm>
            <a:off x="4846320" y="1371600"/>
            <a:ext cx="3657600" cy="502920"/>
          </a:xfrm>
          <a:prstGeom prst="rect">
            <a:avLst/>
          </a:prstGeom>
          <a:noFill/>
          <a:ln/>
        </p:spPr>
        <p:txBody>
          <a:bodyPr wrap="square" lIns="0" tIns="0" rIns="0" bIns="0" rtlCol="0" anchor="ctr"/>
          <a:lstStyle/>
          <a:p>
            <a:pPr marL="0" indent="0">
              <a:buNone/>
            </a:pPr>
            <a:r>
              <a:rPr lang="en-US" sz="1500" b="1" dirty="0">
                <a:solidFill>
                  <a:srgbClr val="B83B2E"/>
                </a:solidFill>
                <a:latin typeface="Calibri" pitchFamily="34" charset="0"/>
                <a:ea typeface="Calibri" pitchFamily="34" charset="-122"/>
                <a:cs typeface="Calibri" pitchFamily="34" charset="-120"/>
              </a:rPr>
              <a:t>It cannot establish</a:t>
            </a:r>
            <a:endParaRPr lang="en-US" sz="1500" dirty="0"/>
          </a:p>
        </p:txBody>
      </p:sp>
      <p:sp>
        <p:nvSpPr>
          <p:cNvPr id="38" name="Shape 30"/>
          <p:cNvSpPr/>
          <p:nvPr/>
        </p:nvSpPr>
        <p:spPr>
          <a:xfrm>
            <a:off x="4846320" y="2066544"/>
            <a:ext cx="274320" cy="274320"/>
          </a:xfrm>
          <a:prstGeom prst="ellipse">
            <a:avLst/>
          </a:prstGeom>
          <a:solidFill>
            <a:srgbClr val="B83B2E">
              <a:alpha val="20000"/>
            </a:srgbClr>
          </a:solidFill>
          <a:ln/>
        </p:spPr>
      </p:sp>
      <p:pic>
        <p:nvPicPr>
          <p:cNvPr id="39" name="Image 5" descr="preencoded.png"/>
          <p:cNvPicPr>
            <a:picLocks noChangeAspect="1"/>
          </p:cNvPicPr>
          <p:nvPr/>
        </p:nvPicPr>
        <p:blipFill>
          <a:blip r:embed="rId4"/>
          <a:stretch>
            <a:fillRect/>
          </a:stretch>
        </p:blipFill>
        <p:spPr>
          <a:xfrm>
            <a:off x="4910328" y="2130552"/>
            <a:ext cx="146304" cy="146304"/>
          </a:xfrm>
          <a:prstGeom prst="rect">
            <a:avLst/>
          </a:prstGeom>
        </p:spPr>
      </p:pic>
      <p:sp>
        <p:nvSpPr>
          <p:cNvPr id="40" name="Text 31"/>
          <p:cNvSpPr txBox="1"/>
          <p:nvPr/>
        </p:nvSpPr>
        <p:spPr>
          <a:xfrm>
            <a:off x="5230368" y="2029968"/>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Coverage or availability: it is not a coverage map</a:t>
            </a:r>
            <a:endParaRPr lang="en-US" sz="1100" dirty="0"/>
          </a:p>
        </p:txBody>
      </p:sp>
      <p:sp>
        <p:nvSpPr>
          <p:cNvPr id="41" name="Shape 32"/>
          <p:cNvSpPr/>
          <p:nvPr/>
        </p:nvSpPr>
        <p:spPr>
          <a:xfrm>
            <a:off x="4846320" y="2542032"/>
            <a:ext cx="274320" cy="274320"/>
          </a:xfrm>
          <a:prstGeom prst="ellipse">
            <a:avLst/>
          </a:prstGeom>
          <a:solidFill>
            <a:srgbClr val="B83B2E">
              <a:alpha val="20000"/>
            </a:srgbClr>
          </a:solidFill>
          <a:ln/>
        </p:spPr>
      </p:sp>
      <p:pic>
        <p:nvPicPr>
          <p:cNvPr id="42" name="Image 6" descr="preencoded.png"/>
          <p:cNvPicPr>
            <a:picLocks noChangeAspect="1"/>
          </p:cNvPicPr>
          <p:nvPr/>
        </p:nvPicPr>
        <p:blipFill>
          <a:blip r:embed="rId4"/>
          <a:stretch>
            <a:fillRect/>
          </a:stretch>
        </p:blipFill>
        <p:spPr>
          <a:xfrm>
            <a:off x="4910328" y="2606040"/>
            <a:ext cx="146304" cy="146304"/>
          </a:xfrm>
          <a:prstGeom prst="rect">
            <a:avLst/>
          </a:prstGeom>
        </p:spPr>
      </p:pic>
      <p:sp>
        <p:nvSpPr>
          <p:cNvPr id="43" name="Text 33"/>
          <p:cNvSpPr txBox="1"/>
          <p:nvPr/>
        </p:nvSpPr>
        <p:spPr>
          <a:xfrm>
            <a:off x="5230368" y="2505456"/>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Adoption, subscription or penetration rates</a:t>
            </a:r>
            <a:endParaRPr lang="en-US" sz="1100" dirty="0"/>
          </a:p>
        </p:txBody>
      </p:sp>
      <p:sp>
        <p:nvSpPr>
          <p:cNvPr id="44" name="Shape 34"/>
          <p:cNvSpPr/>
          <p:nvPr/>
        </p:nvSpPr>
        <p:spPr>
          <a:xfrm>
            <a:off x="4846320" y="3017520"/>
            <a:ext cx="274320" cy="274320"/>
          </a:xfrm>
          <a:prstGeom prst="ellipse">
            <a:avLst/>
          </a:prstGeom>
          <a:solidFill>
            <a:srgbClr val="B83B2E">
              <a:alpha val="20000"/>
            </a:srgbClr>
          </a:solidFill>
          <a:ln/>
        </p:spPr>
      </p:sp>
      <p:pic>
        <p:nvPicPr>
          <p:cNvPr id="45" name="Image 7" descr="preencoded.png"/>
          <p:cNvPicPr>
            <a:picLocks noChangeAspect="1"/>
          </p:cNvPicPr>
          <p:nvPr/>
        </p:nvPicPr>
        <p:blipFill>
          <a:blip r:embed="rId4"/>
          <a:stretch>
            <a:fillRect/>
          </a:stretch>
        </p:blipFill>
        <p:spPr>
          <a:xfrm>
            <a:off x="4910328" y="3081528"/>
            <a:ext cx="146304" cy="146304"/>
          </a:xfrm>
          <a:prstGeom prst="rect">
            <a:avLst/>
          </a:prstGeom>
        </p:spPr>
      </p:pic>
      <p:sp>
        <p:nvSpPr>
          <p:cNvPr id="46" name="Text 35"/>
          <p:cNvSpPr txBox="1"/>
          <p:nvPr/>
        </p:nvSpPr>
        <p:spPr>
          <a:xfrm>
            <a:off x="5230368" y="2980944"/>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Prices, affordability or household budgets</a:t>
            </a:r>
            <a:endParaRPr lang="en-US" sz="1100" dirty="0"/>
          </a:p>
        </p:txBody>
      </p:sp>
      <p:sp>
        <p:nvSpPr>
          <p:cNvPr id="47" name="Shape 36"/>
          <p:cNvSpPr/>
          <p:nvPr/>
        </p:nvSpPr>
        <p:spPr>
          <a:xfrm>
            <a:off x="4846320" y="3493008"/>
            <a:ext cx="274320" cy="274320"/>
          </a:xfrm>
          <a:prstGeom prst="ellipse">
            <a:avLst/>
          </a:prstGeom>
          <a:solidFill>
            <a:srgbClr val="B83B2E">
              <a:alpha val="20000"/>
            </a:srgbClr>
          </a:solidFill>
          <a:ln/>
        </p:spPr>
      </p:sp>
      <p:pic>
        <p:nvPicPr>
          <p:cNvPr id="48" name="Image 8" descr="preencoded.png"/>
          <p:cNvPicPr>
            <a:picLocks noChangeAspect="1"/>
          </p:cNvPicPr>
          <p:nvPr/>
        </p:nvPicPr>
        <p:blipFill>
          <a:blip r:embed="rId4"/>
          <a:stretch>
            <a:fillRect/>
          </a:stretch>
        </p:blipFill>
        <p:spPr>
          <a:xfrm>
            <a:off x="4910328" y="3557016"/>
            <a:ext cx="146304" cy="146304"/>
          </a:xfrm>
          <a:prstGeom prst="rect">
            <a:avLst/>
          </a:prstGeom>
        </p:spPr>
      </p:pic>
      <p:sp>
        <p:nvSpPr>
          <p:cNvPr id="49" name="Text 37"/>
          <p:cNvSpPr txBox="1"/>
          <p:nvPr/>
        </p:nvSpPr>
        <p:spPr>
          <a:xfrm>
            <a:off x="5230368" y="3456432"/>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Who the users are: no age, sex or income</a:t>
            </a:r>
            <a:endParaRPr lang="en-US" sz="1100" dirty="0"/>
          </a:p>
        </p:txBody>
      </p:sp>
      <p:sp>
        <p:nvSpPr>
          <p:cNvPr id="50" name="Shape 38"/>
          <p:cNvSpPr/>
          <p:nvPr/>
        </p:nvSpPr>
        <p:spPr>
          <a:xfrm>
            <a:off x="4846320" y="3968496"/>
            <a:ext cx="274320" cy="274320"/>
          </a:xfrm>
          <a:prstGeom prst="ellipse">
            <a:avLst/>
          </a:prstGeom>
          <a:solidFill>
            <a:srgbClr val="B83B2E">
              <a:alpha val="20000"/>
            </a:srgbClr>
          </a:solidFill>
          <a:ln/>
        </p:spPr>
      </p:sp>
      <p:pic>
        <p:nvPicPr>
          <p:cNvPr id="51" name="Image 9" descr="preencoded.png"/>
          <p:cNvPicPr>
            <a:picLocks noChangeAspect="1"/>
          </p:cNvPicPr>
          <p:nvPr/>
        </p:nvPicPr>
        <p:blipFill>
          <a:blip r:embed="rId4"/>
          <a:stretch>
            <a:fillRect/>
          </a:stretch>
        </p:blipFill>
        <p:spPr>
          <a:xfrm>
            <a:off x="4910328" y="4032504"/>
            <a:ext cx="146304" cy="146304"/>
          </a:xfrm>
          <a:prstGeom prst="rect">
            <a:avLst/>
          </a:prstGeom>
        </p:spPr>
      </p:pic>
      <p:sp>
        <p:nvSpPr>
          <p:cNvPr id="52" name="Text 39"/>
          <p:cNvSpPr txBox="1"/>
          <p:nvPr/>
        </p:nvSpPr>
        <p:spPr>
          <a:xfrm>
            <a:off x="5230368" y="3931920"/>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The experience of people who never test</a:t>
            </a:r>
            <a:endParaRPr lang="en-US" sz="1100" dirty="0"/>
          </a:p>
        </p:txBody>
      </p:sp>
      <p:sp>
        <p:nvSpPr>
          <p:cNvPr id="53" name="Text 40"/>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Observational, self-selected data: manage the constraint explicitly in every publication.</a:t>
            </a:r>
            <a:endParaRPr lang="en-US" sz="9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FROM LAB TO PRODUCTION</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Who uses this data, and what an NSO could do</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7" name="Text 14"/>
          <p:cNvSpPr txBox="1"/>
          <p:nvPr/>
        </p:nvSpPr>
        <p:spPr>
          <a:xfrm>
            <a:off x="457200" y="1325880"/>
            <a:ext cx="3657600" cy="201168"/>
          </a:xfrm>
          <a:prstGeom prst="rect">
            <a:avLst/>
          </a:prstGeom>
          <a:noFill/>
          <a:ln/>
        </p:spPr>
        <p:txBody>
          <a:bodyPr wrap="square" lIns="0" tIns="0" rIns="0" bIns="0" rtlCol="0" anchor="t"/>
          <a:lstStyle/>
          <a:p>
            <a:pPr marL="0" indent="0">
              <a:buNone/>
            </a:pPr>
            <a:r>
              <a:rPr lang="en-US" sz="1000" b="1" kern="0" spc="200" dirty="0">
                <a:solidFill>
                  <a:srgbClr val="5E6964"/>
                </a:solidFill>
                <a:latin typeface="Calibri" pitchFamily="34" charset="0"/>
                <a:ea typeface="Calibri" pitchFamily="34" charset="-122"/>
                <a:cs typeface="Calibri" pitchFamily="34" charset="-120"/>
              </a:rPr>
              <a:t>DOCUMENTED USERS</a:t>
            </a:r>
            <a:endParaRPr lang="en-US" sz="1000" dirty="0"/>
          </a:p>
        </p:txBody>
      </p:sp>
      <p:sp>
        <p:nvSpPr>
          <p:cNvPr id="18" name="Shape 15"/>
          <p:cNvSpPr/>
          <p:nvPr/>
        </p:nvSpPr>
        <p:spPr>
          <a:xfrm>
            <a:off x="457200" y="1600200"/>
            <a:ext cx="3840480" cy="841248"/>
          </a:xfrm>
          <a:prstGeom prst="roundRect">
            <a:avLst>
              <a:gd name="adj" fmla="val 8696"/>
            </a:avLst>
          </a:prstGeom>
          <a:solidFill>
            <a:srgbClr val="F4F7F5"/>
          </a:solidFill>
          <a:ln w="9525">
            <a:solidFill>
              <a:srgbClr val="D5DED9"/>
            </a:solidFill>
            <a:prstDash val="solid"/>
          </a:ln>
        </p:spPr>
      </p:sp>
      <p:sp>
        <p:nvSpPr>
          <p:cNvPr id="19" name="Shape 16"/>
          <p:cNvSpPr/>
          <p:nvPr/>
        </p:nvSpPr>
        <p:spPr>
          <a:xfrm>
            <a:off x="594360" y="1783080"/>
            <a:ext cx="438912" cy="438912"/>
          </a:xfrm>
          <a:prstGeom prst="ellipse">
            <a:avLst/>
          </a:prstGeom>
          <a:solidFill>
            <a:srgbClr val="5E6964">
              <a:alpha val="22000"/>
            </a:srgbClr>
          </a:solidFill>
          <a:ln/>
        </p:spPr>
      </p:sp>
      <p:pic>
        <p:nvPicPr>
          <p:cNvPr id="20" name="Image 0" descr="preencoded.png"/>
          <p:cNvPicPr>
            <a:picLocks noChangeAspect="1"/>
          </p:cNvPicPr>
          <p:nvPr/>
        </p:nvPicPr>
        <p:blipFill>
          <a:blip r:embed="rId3"/>
          <a:stretch>
            <a:fillRect/>
          </a:stretch>
        </p:blipFill>
        <p:spPr>
          <a:xfrm>
            <a:off x="699699" y="1888419"/>
            <a:ext cx="228234" cy="228234"/>
          </a:xfrm>
          <a:prstGeom prst="rect">
            <a:avLst/>
          </a:prstGeom>
        </p:spPr>
      </p:pic>
      <p:sp>
        <p:nvSpPr>
          <p:cNvPr id="21" name="Text 17"/>
          <p:cNvSpPr txBox="1"/>
          <p:nvPr/>
        </p:nvSpPr>
        <p:spPr>
          <a:xfrm>
            <a:off x="1170432" y="1691640"/>
            <a:ext cx="30175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Regulators</a:t>
            </a:r>
            <a:endParaRPr lang="en-US" sz="1250" dirty="0"/>
          </a:p>
        </p:txBody>
      </p:sp>
      <p:sp>
        <p:nvSpPr>
          <p:cNvPr id="22" name="Text 18"/>
          <p:cNvSpPr txBox="1"/>
          <p:nvPr/>
        </p:nvSpPr>
        <p:spPr>
          <a:xfrm>
            <a:off x="1170432" y="1947672"/>
            <a:ext cx="301752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US FCC and Malaysia's MCMC: operator accountability and connectivity funding.</a:t>
            </a:r>
            <a:endParaRPr lang="en-US" sz="1000" dirty="0"/>
          </a:p>
        </p:txBody>
      </p:sp>
      <p:sp>
        <p:nvSpPr>
          <p:cNvPr id="23" name="Shape 19"/>
          <p:cNvSpPr/>
          <p:nvPr/>
        </p:nvSpPr>
        <p:spPr>
          <a:xfrm>
            <a:off x="457200" y="2560320"/>
            <a:ext cx="3840480" cy="841248"/>
          </a:xfrm>
          <a:prstGeom prst="roundRect">
            <a:avLst>
              <a:gd name="adj" fmla="val 8696"/>
            </a:avLst>
          </a:prstGeom>
          <a:solidFill>
            <a:srgbClr val="F4F7F5"/>
          </a:solidFill>
          <a:ln w="9525">
            <a:solidFill>
              <a:srgbClr val="D5DED9"/>
            </a:solidFill>
            <a:prstDash val="solid"/>
          </a:ln>
        </p:spPr>
      </p:sp>
      <p:sp>
        <p:nvSpPr>
          <p:cNvPr id="24" name="Shape 20"/>
          <p:cNvSpPr/>
          <p:nvPr/>
        </p:nvSpPr>
        <p:spPr>
          <a:xfrm>
            <a:off x="594360" y="2743200"/>
            <a:ext cx="438912" cy="438912"/>
          </a:xfrm>
          <a:prstGeom prst="ellipse">
            <a:avLst/>
          </a:prstGeom>
          <a:solidFill>
            <a:srgbClr val="5E6964">
              <a:alpha val="22000"/>
            </a:srgbClr>
          </a:solidFill>
          <a:ln/>
        </p:spPr>
      </p:sp>
      <p:pic>
        <p:nvPicPr>
          <p:cNvPr id="25" name="Image 1" descr="preencoded.png"/>
          <p:cNvPicPr>
            <a:picLocks noChangeAspect="1"/>
          </p:cNvPicPr>
          <p:nvPr/>
        </p:nvPicPr>
        <p:blipFill>
          <a:blip r:embed="rId4"/>
          <a:stretch>
            <a:fillRect/>
          </a:stretch>
        </p:blipFill>
        <p:spPr>
          <a:xfrm>
            <a:off x="699699" y="2848539"/>
            <a:ext cx="228234" cy="228234"/>
          </a:xfrm>
          <a:prstGeom prst="rect">
            <a:avLst/>
          </a:prstGeom>
        </p:spPr>
      </p:pic>
      <p:sp>
        <p:nvSpPr>
          <p:cNvPr id="26" name="Text 21"/>
          <p:cNvSpPr txBox="1"/>
          <p:nvPr/>
        </p:nvSpPr>
        <p:spPr>
          <a:xfrm>
            <a:off x="1170432" y="2651760"/>
            <a:ext cx="30175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Education</a:t>
            </a:r>
            <a:endParaRPr lang="en-US" sz="1250" dirty="0"/>
          </a:p>
        </p:txBody>
      </p:sp>
      <p:sp>
        <p:nvSpPr>
          <p:cNvPr id="27" name="Text 22"/>
          <p:cNvSpPr txBox="1"/>
          <p:nvPr/>
        </p:nvSpPr>
        <p:spPr>
          <a:xfrm>
            <a:off x="1170432" y="2907792"/>
            <a:ext cx="301752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Georgia (US) Department of Education: placing Wi-Fi school buses.</a:t>
            </a:r>
            <a:endParaRPr lang="en-US" sz="1000" dirty="0"/>
          </a:p>
        </p:txBody>
      </p:sp>
      <p:sp>
        <p:nvSpPr>
          <p:cNvPr id="28" name="Shape 23"/>
          <p:cNvSpPr/>
          <p:nvPr/>
        </p:nvSpPr>
        <p:spPr>
          <a:xfrm>
            <a:off x="457200" y="3520440"/>
            <a:ext cx="3840480" cy="841248"/>
          </a:xfrm>
          <a:prstGeom prst="roundRect">
            <a:avLst>
              <a:gd name="adj" fmla="val 8696"/>
            </a:avLst>
          </a:prstGeom>
          <a:solidFill>
            <a:srgbClr val="F4F7F5"/>
          </a:solidFill>
          <a:ln w="9525">
            <a:solidFill>
              <a:srgbClr val="D5DED9"/>
            </a:solidFill>
            <a:prstDash val="solid"/>
          </a:ln>
        </p:spPr>
      </p:sp>
      <p:sp>
        <p:nvSpPr>
          <p:cNvPr id="29" name="Shape 24"/>
          <p:cNvSpPr/>
          <p:nvPr/>
        </p:nvSpPr>
        <p:spPr>
          <a:xfrm>
            <a:off x="594360" y="3703320"/>
            <a:ext cx="438912" cy="438912"/>
          </a:xfrm>
          <a:prstGeom prst="ellipse">
            <a:avLst/>
          </a:prstGeom>
          <a:solidFill>
            <a:srgbClr val="5E6964">
              <a:alpha val="22000"/>
            </a:srgbClr>
          </a:solidFill>
          <a:ln/>
        </p:spPr>
      </p:sp>
      <p:pic>
        <p:nvPicPr>
          <p:cNvPr id="30" name="Image 2" descr="preencoded.png"/>
          <p:cNvPicPr>
            <a:picLocks noChangeAspect="1"/>
          </p:cNvPicPr>
          <p:nvPr/>
        </p:nvPicPr>
        <p:blipFill>
          <a:blip r:embed="rId5"/>
          <a:stretch>
            <a:fillRect/>
          </a:stretch>
        </p:blipFill>
        <p:spPr>
          <a:xfrm>
            <a:off x="699699" y="3808659"/>
            <a:ext cx="228234" cy="228234"/>
          </a:xfrm>
          <a:prstGeom prst="rect">
            <a:avLst/>
          </a:prstGeom>
        </p:spPr>
      </p:pic>
      <p:sp>
        <p:nvSpPr>
          <p:cNvPr id="31" name="Text 25"/>
          <p:cNvSpPr txBox="1"/>
          <p:nvPr/>
        </p:nvSpPr>
        <p:spPr>
          <a:xfrm>
            <a:off x="1170432" y="3611880"/>
            <a:ext cx="30175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Research &amp; NGOs</a:t>
            </a:r>
            <a:endParaRPr lang="en-US" sz="1250" dirty="0"/>
          </a:p>
        </p:txBody>
      </p:sp>
      <p:sp>
        <p:nvSpPr>
          <p:cNvPr id="32" name="Text 26"/>
          <p:cNvSpPr txBox="1"/>
          <p:nvPr/>
        </p:nvSpPr>
        <p:spPr>
          <a:xfrm>
            <a:off x="1170432" y="3867912"/>
            <a:ext cx="301752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Internet inequality studies; mission connectivity planning.</a:t>
            </a:r>
            <a:endParaRPr lang="en-US" sz="1000" dirty="0"/>
          </a:p>
        </p:txBody>
      </p:sp>
      <p:sp>
        <p:nvSpPr>
          <p:cNvPr id="33" name="Text 27"/>
          <p:cNvSpPr txBox="1"/>
          <p:nvPr/>
        </p:nvSpPr>
        <p:spPr>
          <a:xfrm>
            <a:off x="4572000" y="1325880"/>
            <a:ext cx="3657600" cy="201168"/>
          </a:xfrm>
          <a:prstGeom prst="rect">
            <a:avLst/>
          </a:prstGeom>
          <a:noFill/>
          <a:ln/>
        </p:spPr>
        <p:txBody>
          <a:bodyPr wrap="square" lIns="0" tIns="0" rIns="0" bIns="0" rtlCol="0" anchor="t"/>
          <a:lstStyle/>
          <a:p>
            <a:pPr marL="0" indent="0">
              <a:buNone/>
            </a:pPr>
            <a:r>
              <a:rPr lang="en-US" sz="1000" b="1" kern="0" spc="200" dirty="0">
                <a:solidFill>
                  <a:srgbClr val="00704A"/>
                </a:solidFill>
                <a:latin typeface="Calibri" pitchFamily="34" charset="0"/>
                <a:ea typeface="Calibri" pitchFamily="34" charset="-122"/>
                <a:cs typeface="Calibri" pitchFamily="34" charset="-120"/>
              </a:rPr>
              <a:t>POSSIBLE NSO USES</a:t>
            </a:r>
            <a:endParaRPr lang="en-US" sz="1000" dirty="0"/>
          </a:p>
        </p:txBody>
      </p:sp>
      <p:sp>
        <p:nvSpPr>
          <p:cNvPr id="34" name="Shape 28"/>
          <p:cNvSpPr/>
          <p:nvPr/>
        </p:nvSpPr>
        <p:spPr>
          <a:xfrm>
            <a:off x="4572000" y="1600200"/>
            <a:ext cx="4114800" cy="621792"/>
          </a:xfrm>
          <a:prstGeom prst="roundRect">
            <a:avLst>
              <a:gd name="adj" fmla="val 11765"/>
            </a:avLst>
          </a:prstGeom>
          <a:solidFill>
            <a:srgbClr val="E8F5EF"/>
          </a:solidFill>
          <a:ln w="12700">
            <a:solidFill>
              <a:srgbClr val="00A86A"/>
            </a:solidFill>
            <a:prstDash val="solid"/>
          </a:ln>
        </p:spPr>
      </p:sp>
      <p:sp>
        <p:nvSpPr>
          <p:cNvPr id="35" name="Shape 29"/>
          <p:cNvSpPr/>
          <p:nvPr/>
        </p:nvSpPr>
        <p:spPr>
          <a:xfrm>
            <a:off x="4681728" y="1709928"/>
            <a:ext cx="402336" cy="402336"/>
          </a:xfrm>
          <a:prstGeom prst="ellipse">
            <a:avLst/>
          </a:prstGeom>
          <a:solidFill>
            <a:srgbClr val="00A86A">
              <a:alpha val="22000"/>
            </a:srgbClr>
          </a:solidFill>
          <a:ln/>
        </p:spPr>
      </p:sp>
      <p:pic>
        <p:nvPicPr>
          <p:cNvPr id="36" name="Image 3" descr="preencoded.png"/>
          <p:cNvPicPr>
            <a:picLocks noChangeAspect="1"/>
          </p:cNvPicPr>
          <p:nvPr/>
        </p:nvPicPr>
        <p:blipFill>
          <a:blip r:embed="rId6"/>
          <a:stretch>
            <a:fillRect/>
          </a:stretch>
        </p:blipFill>
        <p:spPr>
          <a:xfrm>
            <a:off x="4778289" y="1806489"/>
            <a:ext cx="209215" cy="209215"/>
          </a:xfrm>
          <a:prstGeom prst="rect">
            <a:avLst/>
          </a:prstGeom>
        </p:spPr>
      </p:pic>
      <p:sp>
        <p:nvSpPr>
          <p:cNvPr id="37" name="Text 30"/>
          <p:cNvSpPr txBox="1"/>
          <p:nvPr/>
        </p:nvSpPr>
        <p:spPr>
          <a:xfrm>
            <a:off x="5193792" y="1664208"/>
            <a:ext cx="342900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Subnational digital-inclusion profiles</a:t>
            </a:r>
            <a:endParaRPr lang="en-US" sz="1150" dirty="0"/>
          </a:p>
        </p:txBody>
      </p:sp>
      <p:sp>
        <p:nvSpPr>
          <p:cNvPr id="38" name="Text 31"/>
          <p:cNvSpPr txBox="1"/>
          <p:nvPr/>
        </p:nvSpPr>
        <p:spPr>
          <a:xfrm>
            <a:off x="5193792" y="1920240"/>
            <a:ext cx="342900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Complement survey-based SDG 17.8.1.</a:t>
            </a:r>
            <a:endParaRPr lang="en-US" sz="1000" dirty="0"/>
          </a:p>
        </p:txBody>
      </p:sp>
      <p:sp>
        <p:nvSpPr>
          <p:cNvPr id="39" name="Shape 32"/>
          <p:cNvSpPr/>
          <p:nvPr/>
        </p:nvSpPr>
        <p:spPr>
          <a:xfrm>
            <a:off x="4572000" y="2322576"/>
            <a:ext cx="4114800" cy="621792"/>
          </a:xfrm>
          <a:prstGeom prst="roundRect">
            <a:avLst>
              <a:gd name="adj" fmla="val 11765"/>
            </a:avLst>
          </a:prstGeom>
          <a:solidFill>
            <a:srgbClr val="E8F5EF"/>
          </a:solidFill>
          <a:ln w="12700">
            <a:solidFill>
              <a:srgbClr val="00A86A"/>
            </a:solidFill>
            <a:prstDash val="solid"/>
          </a:ln>
        </p:spPr>
      </p:sp>
      <p:sp>
        <p:nvSpPr>
          <p:cNvPr id="40" name="Shape 33"/>
          <p:cNvSpPr/>
          <p:nvPr/>
        </p:nvSpPr>
        <p:spPr>
          <a:xfrm>
            <a:off x="4681728" y="2432304"/>
            <a:ext cx="402336" cy="402336"/>
          </a:xfrm>
          <a:prstGeom prst="ellipse">
            <a:avLst/>
          </a:prstGeom>
          <a:solidFill>
            <a:srgbClr val="00A86A">
              <a:alpha val="22000"/>
            </a:srgbClr>
          </a:solidFill>
          <a:ln/>
        </p:spPr>
      </p:sp>
      <p:pic>
        <p:nvPicPr>
          <p:cNvPr id="41" name="Image 4" descr="preencoded.png"/>
          <p:cNvPicPr>
            <a:picLocks noChangeAspect="1"/>
          </p:cNvPicPr>
          <p:nvPr/>
        </p:nvPicPr>
        <p:blipFill>
          <a:blip r:embed="rId7"/>
          <a:stretch>
            <a:fillRect/>
          </a:stretch>
        </p:blipFill>
        <p:spPr>
          <a:xfrm>
            <a:off x="4778289" y="2528865"/>
            <a:ext cx="209215" cy="209215"/>
          </a:xfrm>
          <a:prstGeom prst="rect">
            <a:avLst/>
          </a:prstGeom>
        </p:spPr>
      </p:pic>
      <p:sp>
        <p:nvSpPr>
          <p:cNvPr id="42" name="Text 34"/>
          <p:cNvSpPr txBox="1"/>
          <p:nvPr/>
        </p:nvSpPr>
        <p:spPr>
          <a:xfrm>
            <a:off x="5193792" y="2386584"/>
            <a:ext cx="342900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Covariate for small-area estimation</a:t>
            </a:r>
            <a:endParaRPr lang="en-US" sz="1150" dirty="0"/>
          </a:p>
        </p:txBody>
      </p:sp>
      <p:sp>
        <p:nvSpPr>
          <p:cNvPr id="43" name="Text 35"/>
          <p:cNvSpPr txBox="1"/>
          <p:nvPr/>
        </p:nvSpPr>
        <p:spPr>
          <a:xfrm>
            <a:off x="5193792" y="2642616"/>
            <a:ext cx="342900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Alongside night-time lights data.</a:t>
            </a:r>
            <a:endParaRPr lang="en-US" sz="1000" dirty="0"/>
          </a:p>
        </p:txBody>
      </p:sp>
      <p:sp>
        <p:nvSpPr>
          <p:cNvPr id="44" name="Shape 36"/>
          <p:cNvSpPr/>
          <p:nvPr/>
        </p:nvSpPr>
        <p:spPr>
          <a:xfrm>
            <a:off x="4572000" y="3044952"/>
            <a:ext cx="4114800" cy="621792"/>
          </a:xfrm>
          <a:prstGeom prst="roundRect">
            <a:avLst>
              <a:gd name="adj" fmla="val 11765"/>
            </a:avLst>
          </a:prstGeom>
          <a:solidFill>
            <a:srgbClr val="E8F5EF"/>
          </a:solidFill>
          <a:ln w="12700">
            <a:solidFill>
              <a:srgbClr val="00A86A"/>
            </a:solidFill>
            <a:prstDash val="solid"/>
          </a:ln>
        </p:spPr>
      </p:sp>
      <p:sp>
        <p:nvSpPr>
          <p:cNvPr id="45" name="Shape 37"/>
          <p:cNvSpPr/>
          <p:nvPr/>
        </p:nvSpPr>
        <p:spPr>
          <a:xfrm>
            <a:off x="4681728" y="3154680"/>
            <a:ext cx="402336" cy="402336"/>
          </a:xfrm>
          <a:prstGeom prst="ellipse">
            <a:avLst/>
          </a:prstGeom>
          <a:solidFill>
            <a:srgbClr val="00A86A">
              <a:alpha val="22000"/>
            </a:srgbClr>
          </a:solidFill>
          <a:ln/>
        </p:spPr>
      </p:sp>
      <p:pic>
        <p:nvPicPr>
          <p:cNvPr id="46" name="Image 5" descr="preencoded.png"/>
          <p:cNvPicPr>
            <a:picLocks noChangeAspect="1"/>
          </p:cNvPicPr>
          <p:nvPr/>
        </p:nvPicPr>
        <p:blipFill>
          <a:blip r:embed="rId8"/>
          <a:stretch>
            <a:fillRect/>
          </a:stretch>
        </p:blipFill>
        <p:spPr>
          <a:xfrm>
            <a:off x="4778289" y="3251241"/>
            <a:ext cx="209215" cy="209215"/>
          </a:xfrm>
          <a:prstGeom prst="rect">
            <a:avLst/>
          </a:prstGeom>
        </p:spPr>
      </p:pic>
      <p:sp>
        <p:nvSpPr>
          <p:cNvPr id="47" name="Text 38"/>
          <p:cNvSpPr txBox="1"/>
          <p:nvPr/>
        </p:nvSpPr>
        <p:spPr>
          <a:xfrm>
            <a:off x="5193792" y="3108960"/>
            <a:ext cx="342900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Field operations planning</a:t>
            </a:r>
            <a:endParaRPr lang="en-US" sz="1150" dirty="0"/>
          </a:p>
        </p:txBody>
      </p:sp>
      <p:sp>
        <p:nvSpPr>
          <p:cNvPr id="48" name="Text 39"/>
          <p:cNvSpPr txBox="1"/>
          <p:nvPr/>
        </p:nvSpPr>
        <p:spPr>
          <a:xfrm>
            <a:off x="5193792" y="3364992"/>
            <a:ext cx="342900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Anticipate CAPI upload constraints by area.</a:t>
            </a:r>
            <a:endParaRPr lang="en-US" sz="1000" dirty="0"/>
          </a:p>
        </p:txBody>
      </p:sp>
      <p:sp>
        <p:nvSpPr>
          <p:cNvPr id="49" name="Shape 40"/>
          <p:cNvSpPr/>
          <p:nvPr/>
        </p:nvSpPr>
        <p:spPr>
          <a:xfrm>
            <a:off x="4572000" y="3767328"/>
            <a:ext cx="4114800" cy="621792"/>
          </a:xfrm>
          <a:prstGeom prst="roundRect">
            <a:avLst>
              <a:gd name="adj" fmla="val 11765"/>
            </a:avLst>
          </a:prstGeom>
          <a:solidFill>
            <a:srgbClr val="E8F5EF"/>
          </a:solidFill>
          <a:ln w="12700">
            <a:solidFill>
              <a:srgbClr val="00A86A"/>
            </a:solidFill>
            <a:prstDash val="solid"/>
          </a:ln>
        </p:spPr>
      </p:sp>
      <p:sp>
        <p:nvSpPr>
          <p:cNvPr id="50" name="Shape 41"/>
          <p:cNvSpPr/>
          <p:nvPr/>
        </p:nvSpPr>
        <p:spPr>
          <a:xfrm>
            <a:off x="4681728" y="3877056"/>
            <a:ext cx="402336" cy="402336"/>
          </a:xfrm>
          <a:prstGeom prst="ellipse">
            <a:avLst/>
          </a:prstGeom>
          <a:solidFill>
            <a:srgbClr val="00A86A">
              <a:alpha val="22000"/>
            </a:srgbClr>
          </a:solidFill>
          <a:ln/>
        </p:spPr>
      </p:sp>
      <p:pic>
        <p:nvPicPr>
          <p:cNvPr id="51" name="Image 6" descr="preencoded.png"/>
          <p:cNvPicPr>
            <a:picLocks noChangeAspect="1"/>
          </p:cNvPicPr>
          <p:nvPr/>
        </p:nvPicPr>
        <p:blipFill>
          <a:blip r:embed="rId9"/>
          <a:stretch>
            <a:fillRect/>
          </a:stretch>
        </p:blipFill>
        <p:spPr>
          <a:xfrm>
            <a:off x="4778289" y="3973617"/>
            <a:ext cx="209215" cy="209215"/>
          </a:xfrm>
          <a:prstGeom prst="rect">
            <a:avLst/>
          </a:prstGeom>
        </p:spPr>
      </p:pic>
      <p:sp>
        <p:nvSpPr>
          <p:cNvPr id="52" name="Text 42"/>
          <p:cNvSpPr txBox="1"/>
          <p:nvPr/>
        </p:nvSpPr>
        <p:spPr>
          <a:xfrm>
            <a:off x="5193792" y="3831336"/>
            <a:ext cx="342900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Evidence for data partnerships</a:t>
            </a:r>
            <a:endParaRPr lang="en-US" sz="1150" dirty="0"/>
          </a:p>
        </p:txBody>
      </p:sp>
      <p:sp>
        <p:nvSpPr>
          <p:cNvPr id="53" name="Text 43"/>
          <p:cNvSpPr txBox="1"/>
          <p:nvPr/>
        </p:nvSpPr>
        <p:spPr>
          <a:xfrm>
            <a:off x="5193792" y="4087368"/>
            <a:ext cx="342900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Access agreements with Ookla, operators, regulators.</a:t>
            </a:r>
            <a:endParaRPr lang="en-US" sz="1000" dirty="0"/>
          </a:p>
        </p:txBody>
      </p:sp>
      <p:sp>
        <p:nvSpPr>
          <p:cNvPr id="54" name="Text 44"/>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Documented users: Ookla (Ookla for Good). NSO uses: options for discussion, not endorsements.</a:t>
            </a:r>
            <a:endParaRPr lang="en-US" sz="9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REFERENCES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 and further reading</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Ookla Open Data &amp;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7" name="Shape 14"/>
          <p:cNvSpPr/>
          <p:nvPr/>
        </p:nvSpPr>
        <p:spPr>
          <a:xfrm>
            <a:off x="457200" y="1371600"/>
            <a:ext cx="2606040" cy="2697480"/>
          </a:xfrm>
          <a:prstGeom prst="roundRect">
            <a:avLst>
              <a:gd name="adj" fmla="val 2807"/>
            </a:avLst>
          </a:prstGeom>
          <a:solidFill>
            <a:srgbClr val="F4F7F5"/>
          </a:solidFill>
          <a:ln w="9525">
            <a:solidFill>
              <a:srgbClr val="D5DED9"/>
            </a:solidFill>
            <a:prstDash val="solid"/>
          </a:ln>
        </p:spPr>
      </p:sp>
      <p:sp>
        <p:nvSpPr>
          <p:cNvPr id="18" name="Shape 15"/>
          <p:cNvSpPr/>
          <p:nvPr/>
        </p:nvSpPr>
        <p:spPr>
          <a:xfrm>
            <a:off x="594360" y="1481328"/>
            <a:ext cx="402336" cy="402336"/>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690921" y="1577889"/>
            <a:ext cx="209215" cy="209215"/>
          </a:xfrm>
          <a:prstGeom prst="rect">
            <a:avLst/>
          </a:prstGeom>
        </p:spPr>
      </p:pic>
      <p:sp>
        <p:nvSpPr>
          <p:cNvPr id="20" name="Text 16"/>
          <p:cNvSpPr txBox="1"/>
          <p:nvPr/>
        </p:nvSpPr>
        <p:spPr>
          <a:xfrm>
            <a:off x="1097280" y="1499616"/>
            <a:ext cx="1828800" cy="36576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The data</a:t>
            </a:r>
            <a:endParaRPr lang="en-US" sz="1300" dirty="0"/>
          </a:p>
        </p:txBody>
      </p:sp>
      <p:sp>
        <p:nvSpPr>
          <p:cNvPr id="21" name="Text 17"/>
          <p:cNvSpPr txBox="1"/>
          <p:nvPr/>
        </p:nvSpPr>
        <p:spPr>
          <a:xfrm>
            <a:off x="594360" y="2011680"/>
            <a:ext cx="2377440" cy="20116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Ookla: teamookla/ookla-open-data, README, schema, tutorials (GitHub)</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Ookla: ooklaOpenDataR R package (GitHub)</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AWS Registry of Open Data: Speedtest global performance</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WorldPop Global2 R2025A v1, release statement, DOI 10.5258/SOTON/WP00839</a:t>
            </a:r>
            <a:endParaRPr lang="en-US" sz="950" dirty="0"/>
          </a:p>
        </p:txBody>
      </p:sp>
      <p:sp>
        <p:nvSpPr>
          <p:cNvPr id="22" name="Shape 18"/>
          <p:cNvSpPr/>
          <p:nvPr/>
        </p:nvSpPr>
        <p:spPr>
          <a:xfrm>
            <a:off x="3246120" y="1371600"/>
            <a:ext cx="2606040" cy="2697480"/>
          </a:xfrm>
          <a:prstGeom prst="roundRect">
            <a:avLst>
              <a:gd name="adj" fmla="val 2807"/>
            </a:avLst>
          </a:prstGeom>
          <a:solidFill>
            <a:srgbClr val="F4F7F5"/>
          </a:solidFill>
          <a:ln w="9525">
            <a:solidFill>
              <a:srgbClr val="D5DED9"/>
            </a:solidFill>
            <a:prstDash val="solid"/>
          </a:ln>
        </p:spPr>
      </p:sp>
      <p:sp>
        <p:nvSpPr>
          <p:cNvPr id="23" name="Shape 19"/>
          <p:cNvSpPr/>
          <p:nvPr/>
        </p:nvSpPr>
        <p:spPr>
          <a:xfrm>
            <a:off x="3383280" y="1481328"/>
            <a:ext cx="402336" cy="402336"/>
          </a:xfrm>
          <a:prstGeom prst="ellipse">
            <a:avLst/>
          </a:prstGeom>
          <a:solidFill>
            <a:srgbClr val="0E7C86">
              <a:alpha val="22000"/>
            </a:srgbClr>
          </a:solidFill>
          <a:ln/>
        </p:spPr>
      </p:sp>
      <p:pic>
        <p:nvPicPr>
          <p:cNvPr id="24" name="Image 1" descr="preencoded.png"/>
          <p:cNvPicPr>
            <a:picLocks noChangeAspect="1"/>
          </p:cNvPicPr>
          <p:nvPr/>
        </p:nvPicPr>
        <p:blipFill>
          <a:blip r:embed="rId4"/>
          <a:stretch>
            <a:fillRect/>
          </a:stretch>
        </p:blipFill>
        <p:spPr>
          <a:xfrm>
            <a:off x="3479841" y="1577889"/>
            <a:ext cx="209215" cy="209215"/>
          </a:xfrm>
          <a:prstGeom prst="rect">
            <a:avLst/>
          </a:prstGeom>
        </p:spPr>
      </p:pic>
      <p:sp>
        <p:nvSpPr>
          <p:cNvPr id="25" name="Text 20"/>
          <p:cNvSpPr txBox="1"/>
          <p:nvPr/>
        </p:nvSpPr>
        <p:spPr>
          <a:xfrm>
            <a:off x="3886200" y="1499616"/>
            <a:ext cx="1828800" cy="36576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Global context</a:t>
            </a:r>
            <a:endParaRPr lang="en-US" sz="1300" dirty="0"/>
          </a:p>
        </p:txBody>
      </p:sp>
      <p:sp>
        <p:nvSpPr>
          <p:cNvPr id="26" name="Text 21"/>
          <p:cNvSpPr txBox="1"/>
          <p:nvPr/>
        </p:nvSpPr>
        <p:spPr>
          <a:xfrm>
            <a:off x="3383280" y="2011680"/>
            <a:ext cx="2377440" cy="20116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ITU, Measuring digital development: Facts and Figures 2025 (17 Nov 2025)</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ITU press release, 17 November 2025</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UN Global SDG Indicator Framework: 9.c.1, 17.6.1, 17.8.1</a:t>
            </a:r>
            <a:endParaRPr lang="en-US" sz="950" dirty="0"/>
          </a:p>
        </p:txBody>
      </p:sp>
      <p:sp>
        <p:nvSpPr>
          <p:cNvPr id="27" name="Shape 22"/>
          <p:cNvSpPr/>
          <p:nvPr/>
        </p:nvSpPr>
        <p:spPr>
          <a:xfrm>
            <a:off x="6035040" y="1371600"/>
            <a:ext cx="2606040" cy="2697480"/>
          </a:xfrm>
          <a:prstGeom prst="roundRect">
            <a:avLst>
              <a:gd name="adj" fmla="val 2807"/>
            </a:avLst>
          </a:prstGeom>
          <a:solidFill>
            <a:srgbClr val="F4F7F5"/>
          </a:solidFill>
          <a:ln w="9525">
            <a:solidFill>
              <a:srgbClr val="D5DED9"/>
            </a:solidFill>
            <a:prstDash val="solid"/>
          </a:ln>
        </p:spPr>
      </p:sp>
      <p:sp>
        <p:nvSpPr>
          <p:cNvPr id="28" name="Shape 23"/>
          <p:cNvSpPr/>
          <p:nvPr/>
        </p:nvSpPr>
        <p:spPr>
          <a:xfrm>
            <a:off x="6172200" y="1481328"/>
            <a:ext cx="402336" cy="402336"/>
          </a:xfrm>
          <a:prstGeom prst="ellipse">
            <a:avLst/>
          </a:prstGeom>
          <a:solidFill>
            <a:srgbClr val="D49A00">
              <a:alpha val="22000"/>
            </a:srgbClr>
          </a:solidFill>
          <a:ln/>
        </p:spPr>
      </p:sp>
      <p:pic>
        <p:nvPicPr>
          <p:cNvPr id="29" name="Image 2" descr="preencoded.png"/>
          <p:cNvPicPr>
            <a:picLocks noChangeAspect="1"/>
          </p:cNvPicPr>
          <p:nvPr/>
        </p:nvPicPr>
        <p:blipFill>
          <a:blip r:embed="rId5"/>
          <a:stretch>
            <a:fillRect/>
          </a:stretch>
        </p:blipFill>
        <p:spPr>
          <a:xfrm>
            <a:off x="6268761" y="1577889"/>
            <a:ext cx="209215" cy="209215"/>
          </a:xfrm>
          <a:prstGeom prst="rect">
            <a:avLst/>
          </a:prstGeom>
        </p:spPr>
      </p:pic>
      <p:sp>
        <p:nvSpPr>
          <p:cNvPr id="30" name="Text 24"/>
          <p:cNvSpPr txBox="1"/>
          <p:nvPr/>
        </p:nvSpPr>
        <p:spPr>
          <a:xfrm>
            <a:off x="6675120" y="1499616"/>
            <a:ext cx="1828800" cy="36576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Method</a:t>
            </a:r>
            <a:endParaRPr lang="en-US" sz="1300" dirty="0"/>
          </a:p>
        </p:txBody>
      </p:sp>
      <p:sp>
        <p:nvSpPr>
          <p:cNvPr id="31" name="Text 25"/>
          <p:cNvSpPr txBox="1"/>
          <p:nvPr/>
        </p:nvSpPr>
        <p:spPr>
          <a:xfrm>
            <a:off x="6172200" y="2011680"/>
            <a:ext cx="2377440" cy="20116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Bing Maps Tile System (quadkeys)</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Creative Commons licences: CC BY 4.0, CC BY-NC-SA 4.0</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Peer-reviewed literature on sampling bias in crowdsourced speed tests</a:t>
            </a:r>
            <a:endParaRPr lang="en-US" sz="950" dirty="0"/>
          </a:p>
        </p:txBody>
      </p:sp>
      <p:sp>
        <p:nvSpPr>
          <p:cNvPr id="32" name="Text 26"/>
          <p:cNvSpPr txBox="1"/>
          <p:nvPr/>
        </p:nvSpPr>
        <p:spPr>
          <a:xfrm>
            <a:off x="457200" y="4160520"/>
            <a:ext cx="8229600" cy="36576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Speedtest® by Ookla® Global Fixed and Mobile Network Performance Maps. Ookla trademarks used under license and reprinted with permission. Licensed CC BY-NC-SA 4.0. WorldPop data licensed CC BY 4.0.</a:t>
            </a:r>
            <a:endParaRPr lang="en-US" sz="9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914400"/>
            <a:ext cx="45720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AFDB  ·  DI4A</a:t>
            </a:r>
            <a:endParaRPr lang="en-US" sz="1100" dirty="0"/>
          </a:p>
        </p:txBody>
      </p:sp>
      <p:sp>
        <p:nvSpPr>
          <p:cNvPr id="4" name="Text 2"/>
          <p:cNvSpPr txBox="1"/>
          <p:nvPr/>
        </p:nvSpPr>
        <p:spPr>
          <a:xfrm>
            <a:off x="548640" y="1234440"/>
            <a:ext cx="5852160" cy="132588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Questions, then to the lab</a:t>
            </a:r>
            <a:endParaRPr lang="en-US" sz="4000" dirty="0"/>
          </a:p>
        </p:txBody>
      </p:sp>
      <p:sp>
        <p:nvSpPr>
          <p:cNvPr id="5" name="Text 3"/>
          <p:cNvSpPr txBox="1"/>
          <p:nvPr/>
        </p:nvSpPr>
        <p:spPr>
          <a:xfrm>
            <a:off x="548640" y="2697480"/>
            <a:ext cx="530352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Open your notebook, pick your country, and start with step zero: check the coverage.</a:t>
            </a:r>
            <a:endParaRPr lang="en-US" sz="1700" dirty="0"/>
          </a:p>
        </p:txBody>
      </p:sp>
      <p:sp>
        <p:nvSpPr>
          <p:cNvPr id="9" name="Shape 7"/>
          <p:cNvSpPr/>
          <p:nvPr/>
        </p:nvSpPr>
        <p:spPr>
          <a:xfrm>
            <a:off x="6720840" y="1463040"/>
            <a:ext cx="1920240" cy="192024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7178040" y="1920240"/>
            <a:ext cx="1005840" cy="100584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5545</Words>
  <Application>Microsoft Office PowerPoint</Application>
  <PresentationFormat>On-screen Show (16:9)</PresentationFormat>
  <Paragraphs>577</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Measuring the Connectivity Gap with Ookla Open Data</dc:title>
  <dc:subject>PptxGenJS Presentation</dc:subject>
  <dc:creator>African Development Bank – Data Innovation for Africa (DI4A)</dc:creator>
  <cp:lastModifiedBy>HADJ TAIEB, MOHAMED ALI</cp:lastModifiedBy>
  <cp:revision>4</cp:revision>
  <dcterms:created xsi:type="dcterms:W3CDTF">2026-09-16T14:12:41Z</dcterms:created>
  <dcterms:modified xsi:type="dcterms:W3CDTF">2026-09-30T05:04:43Z</dcterms:modified>
</cp:coreProperties>
</file>