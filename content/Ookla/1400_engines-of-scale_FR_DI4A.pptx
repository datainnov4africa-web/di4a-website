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fr-FR" sz="1100" b="0" i="0" u="none" strike="noStrike">
                <a:solidFill>
                  <a:srgbClr val="231F20"/>
                </a:solidFill>
                <a:latin typeface="Calibri"/>
              </a:rPr>
              <a:t>Octets lus pour une requête analytique (CSV = 100)</a:t>
            </a:r>
          </a:p>
        </c:rich>
      </c:tx>
      <c:overlay val="0"/>
    </c:title>
    <c:autoTitleDeleted val="0"/>
    <c:plotArea>
      <c:layout/>
      <c:barChart>
        <c:barDir val="col"/>
        <c:grouping val="clustered"/>
        <c:varyColors val="0"/>
        <c:ser>
          <c:idx val="0"/>
          <c:order val="0"/>
          <c:tx>
            <c:strRef>
              <c:f>Sheet1!$B$1</c:f>
              <c:strCache>
                <c:ptCount val="1"/>
                <c:pt idx="0">
                  <c:v>Octets lus (relatif)</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B8E4-4170-B47C-6C64A06834CA}"/>
              </c:ext>
            </c:extLst>
          </c:dPt>
          <c:dPt>
            <c:idx val="1"/>
            <c:invertIfNegative val="0"/>
            <c:bubble3D val="0"/>
            <c:spPr>
              <a:solidFill>
                <a:srgbClr val="7BCBA9"/>
              </a:solidFill>
              <a:effectLst/>
            </c:spPr>
            <c:extLst>
              <c:ext xmlns:c16="http://schemas.microsoft.com/office/drawing/2014/chart" uri="{C3380CC4-5D6E-409C-BE32-E72D297353CC}">
                <c16:uniqueId val="{00000003-B8E4-4170-B47C-6C64A06834CA}"/>
              </c:ext>
            </c:extLst>
          </c:dPt>
          <c:dPt>
            <c:idx val="2"/>
            <c:invertIfNegative val="0"/>
            <c:bubble3D val="0"/>
            <c:spPr>
              <a:solidFill>
                <a:srgbClr val="10A06A"/>
              </a:solidFill>
              <a:effectLst/>
            </c:spPr>
            <c:extLst>
              <c:ext xmlns:c16="http://schemas.microsoft.com/office/drawing/2014/chart" uri="{C3380CC4-5D6E-409C-BE32-E72D297353CC}">
                <c16:uniqueId val="{00000005-B8E4-4170-B47C-6C64A06834CA}"/>
              </c:ext>
            </c:extLst>
          </c:dPt>
          <c:dPt>
            <c:idx val="3"/>
            <c:invertIfNegative val="0"/>
            <c:bubble3D val="0"/>
            <c:spPr>
              <a:solidFill>
                <a:srgbClr val="00664A"/>
              </a:solidFill>
              <a:effectLst/>
            </c:spPr>
            <c:extLst>
              <c:ext xmlns:c16="http://schemas.microsoft.com/office/drawing/2014/chart" uri="{C3380CC4-5D6E-409C-BE32-E72D297353CC}">
                <c16:uniqueId val="{00000007-B8E4-4170-B47C-6C64A06834CA}"/>
              </c:ext>
            </c:extLst>
          </c:dPt>
          <c:dLbls>
            <c:numFmt formatCode="#,##0" sourceLinked="0"/>
            <c:spPr>
              <a:noFill/>
              <a:ln>
                <a:noFill/>
              </a:ln>
              <a:effectLst/>
            </c:spPr>
            <c:txPr>
              <a:bodyPr/>
              <a:lstStyle/>
              <a:p>
                <a:pPr>
                  <a:defRPr sz="11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CSV</c:v>
                </c:pt>
                <c:pt idx="1">
                  <c:v>CSV + gzip</c:v>
                </c:pt>
                <c:pt idx="2">
                  <c:v>Parquet</c:v>
                </c:pt>
                <c:pt idx="3">
                  <c:v>Parquet + élagage</c:v>
                </c:pt>
              </c:strCache>
            </c:strRef>
          </c:cat>
          <c:val>
            <c:numRef>
              <c:f>Sheet1!$B$2:$B$5</c:f>
              <c:numCache>
                <c:formatCode>General</c:formatCode>
                <c:ptCount val="4"/>
                <c:pt idx="0">
                  <c:v>100</c:v>
                </c:pt>
                <c:pt idx="1">
                  <c:v>25</c:v>
                </c:pt>
                <c:pt idx="2">
                  <c:v>12</c:v>
                </c:pt>
                <c:pt idx="3">
                  <c:v>3</c:v>
                </c:pt>
              </c:numCache>
            </c:numRef>
          </c:val>
          <c:extLst>
            <c:ext xmlns:c16="http://schemas.microsoft.com/office/drawing/2014/chart" uri="{C3380CC4-5D6E-409C-BE32-E72D297353CC}">
              <c16:uniqueId val="{00000008-B8E4-4170-B47C-6C64A06834C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408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premier notebook pratique, vous travaillez avec les tuiles Ookla Speedtest et WorldPop dans pandas, sur un ordinateur portable. Dans le suivant, vous chargez ces mêmes tuiles dans Elasticsearch. Cette présentation de 30 minutes fait le pont : elle explique les six briques qui composent toute plateforme big data — ingestion, stockage, traitement distribué, indexation et recherche, orchestration, métadonnées et versionnage — et pourquoi chacune compte pour un institut statistique. Tout au long de l’exposé, les données des labos (Ookla, WorldPop, lumières nocturnes) servent de fil conducteur, afin que chaque concept se rattache à quelque chose que vous manipulerez vous-mêmes. Repère de temps : environ 30 secondes par diapositive de section, environ une minute par diapositive de contenu ; les diapositives 13, 22 et 33 peuvent être sautées en cas de manque de temps.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sources utilisées dans les labos, trois problèmes d’échelle. Les tuiles Ookla mesurent environ 611 mètres, sont livrées chaque trimestre pour les réseaux fixes et mobiles depuis 2019, et l’historique grossit donc à chaque trimestre. La grille WorldPop à 100 mètres représente environ trois milliards de cellules pour couvrir les 30 millions de kilomètres carrés de l’Afrique — c’est une simple multiplication, pas un chiffre publié. Black Marble fournit une radiance quotidienne à environ 500 mètres. Selon une règle empirique souvent citée du créateur de pandas, pandas a besoin de cinq à dix fois plus de mémoire que la taille du jeu de données. Sur un portable de 16 Go, cela devient un mur à quelques gigaoctets. Les moteurs présentés ici servent à déplacer ce mur — mais, nous le verrons, la bonne réponse est souvent une machine unique mieux exploitée plutôt qu’un cluster.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carte des 25 prochaines minutes ; elle correspond aux six sections de l’exposé et à leurs couleurs. Quatre briques forment le flux des données de gauche à droite : les données entrent, sont stockées, sont traitées, puis indexées pour être retrouvées et interrogées. Deux briques sont transversales : l’orchestration, qui décide de ce qui s’exécute, quand, et de ce qui se passe en cas d’échec ; et les métadonnées et le versionnage, qui rendent chaque chiffre explicable. Quel que soit le fournisseur ou la pile open source choisie par un pays, elle se projette sur ces six briques — utilisez-les comme grille de lecture d’une proposition technique.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L’ingestion ressemble à de la plomberie, mais c’est là que commence la confiance statistique. Si l’on ne peut pas prouver ce qui a été reçu, de qui, quand et sous quelle licence, rien en aval ne peut être défendu.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Parcourez les cinq modes de gauche à droite ; ils vont à peu près du plus simple et lent au plus exigeant. Le transfert de fichiers par lots, c’est ce qu’utilise le labo Ookla : un bucket public, un ensemble de fichiers Parquet par trimestre. L’appel d’API, c’est la façon d’accéder à NASA Earthdata ou Google Earth Engine. La capture des changements est importante pour les registres administratifs : plutôt que de copier chaque nuit tout un registre fiscal ou d’état civil, on ne capte que les lignes modifiées. Le streaming concerne les flux réellement continus. Enfin, la zone de dépôt sécurisée est la manière dont les données confidentielles de partenaires, comme les enregistrements d’appels d’un opérateur mobile, doivent arriver : chiffrées, journalisées et isolées. Demandez aux participants quel mode leur institut utilise aujourd’hui — beaucoup répondront des fichiers par courriel ou clé USB, ce qui est un bon point de départ pour la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cinq règles ne coûtent presque rien le premier jour et coûtent très cher à mettre en place après coup. La règle deux mérite d’être soulignée ici : la licence des données ouvertes Ookla est CC BY-NC-SA 4.0 — usage non commercial et partage à l’identique — ce qui a des conséquences réelles sur la façon dont un INS peut republier des produits dérivés ; la licence doit donc accompagner les données dès leur arrivée. La règle quatre est concrète elle aussi : Ookla a ajouté des colonnes de latence par sens à partir du T4 2022 et des colonnes de centroïde à partir du T3 2023. Une chaîne écrite pour les fichiers de 2020 doit détecter ce changement plutôt que planter, ou pire, l’ignorer en silence. L’enregistrement à droite est illustratif ; l’essentiel est que chaque fichier de la zone brute en possède 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choix de stockage se font une fois et se paient tous les jours ensuite. Trois idées : distribuer et répliquer, choisir des formats en colonnes, organiser le lac en zones.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socle posé par le Google File System et HDFS d’Hadoop. Les fichiers sont découpés en blocs — 128 mégaoctets par défaut dans HDFS — et chaque bloc est copié par défaut sur trois machines. Dans le schéma, quatre blocs sont chacun répliqués sur trois des quatre nœuds : n’importe quelle machine peut tomber en panne sans perte. La troisième idée est celle qui a rendu le domaine possible : déplacer un téraoctet sur le réseau est lent, mais envoyer quelques kilo-octets de code vers la machine qui détient déjà les données est instantané. Aujourd’hui, la plupart des organisations utilisent un stockage objet — Amazon S3, Azure Blob, ou MinIO sur leurs propres serveurs — qui offre les mêmes garanties sous forme de service. MinIO mérite d’être cité pour les instituts soumis à des contraintes de souveraineté, car il fonctionne sur site avec une interface compatible S3.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graphique est illustratif — les ratios réels dépendent des données et de la requête — mais l’ordre de grandeur est typique. Les requêtes statistiques lisent peu de colonnes sur beaucoup de lignes. Un CSV doit être lu en entier ; un fichier Parquet en colonnes permet de ne lire que les colonnes demandées, se compresse bien car les valeurs similaires sont voisines, et stocke les minimums et maximums par bloc pour sauter des blocs entiers. C’est précisément pour cela qu’Ookla diffuse à la fois en Shapefile et en Parquet. Une vitesse moyenne pondérée par les tests n’utilise que deux des onze colonnes des fichiers récents. Conseil pratique : convertir les données de travail de CSV en Parquet est généralement le gain de performance le moins coûteux pour un INS, sans aucun nouveau matériel.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générations de stockage analytique. L’entrepôt de données est propre et rapide, mais rigide et souvent coûteux. Le lac de données est bon marché et accepte tout, mais sans discipline il devient un « marécage » où personne ne sait quel fichier fait foi. Le lakehouse ajoute des formats de table comme Apache Iceberg ou Delta Lake au-dessus des fichiers du lac, ce qui rétablit les transactions, le contrôle du schéma et l’historique. Pour un institut statistique, le lakehouse correspond naturellement à la chaîne de production déjà connue : données collectées, données traitées, données publiées. C’est l’objet de la diapositive suivante.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l’idée la plus transférable de l’exposé. La zone bronze contient les données exactement telles que reçues. La zone argent contient des données validées, normalisées et reliées à vos propres référentiels — ici, les limites administratives et la grille de population WorldPop. La zone or contient les produits statistiques. Chaque flèche est un contrôle qualité : rien n’avance tant que les vérifications n’ont pas réussi, et chaque zone a un responsable désigné. C’est exactement la séparation, déjà familière à un institut statistique, entre données collectées, traitées et publiées — la technologie ne fait que l’imposer. Le contenu de chaque zone correspond à ce que vos équipes produiront réellement pendant les labos.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capacités transforment un dossier de fichiers Parquet en table gouvernée. Les transactions garantissent que deux traitements qui écrivent en même temps ne laissent pas la table à moitié mise à jour. Le voyage dans le temps permet d’interroger la table telle qu’elle était à n’importe quel moment passé — pour un statisticien, c’est ainsi qu’on explique une révision : on rejoue les entrées exactes du chiffre publié. L’évolution du schéma permet d’ajouter une nouvelle colonne Ookla sans réécrire l’historique. Le partitionnement garantit qu’une requête sur un trimestre ne touche pas les autres. Le SQL à droite fonctionne dans Spark avec Apache Iceberg ; Delta Lake propose la même idée avec VERSION AS OF. Diapositive facultative si le temps manque.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moteurs dont vous entendrez parler — Hadoop, Spark, Flink, BigQuery — sont des variantes d’une même idée. Une fois qu’on l’a comprise, les noms d’outils cessent d’intimider.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Reprenons la question du premier notebook : quel est le débit mobile descendant moyen dans chaque région ? On découpe les tuiles en lots, un par nœud de calcul. Chaque nœud associe (« map ») chaque tuile à une clé, la région, et à un couple de valeurs. Le brassage (« shuffle ») envoie toutes les paires d’une même région sur la même machine — c’est l’étape réseau où les moteurs passent le plus de temps. La réduction (« reduce ») additionne chaque groupe. Ce n’est qu’à la toute fin qu’on divise. L’encadré porte la leçon méthodologique clé : chaque tuile Ookla contient déjà une moyenne, et les tuiles diffèrent énormément par leur nombre de tests. Faire la moyenne des moyennes donnerait à une tuile rurale de trois tests le même poids qu’une tuile urbaine de plusieurs milliers. Transporter sommes et effectifs est à la fois statistiquement correct et parfaitement parallélisable. Médianes et quantiles ne se décomposent pas ainsi, d’où leur approximation par les moteurs.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est le moteur généraliste qui a remplacé MapReduce d’Hadoop, surtout en gardant les résultats intermédiaires en mémoire. Votre notebook est le « driver » : il ne touche pas aux données, il construit un plan. Le gestionnaire de cluster — YARN, Kubernetes ou celui de Spark — lui attribue des « executors » sur les machines de travail, et chaque executor traite des partitions en tâches parallèles. Deux idées comptent au quotidien. L’évaluation paresseuse : filtres et jointures sont seulement enregistrés jusqu’à ce qu’une action comme write ou count demande un résultat, ce qui permet à l’optimiseur Catalyst de réorganiser tout le plan. Et le shuffle : tout regroupement ou jointure déplace des données sur le réseau ; c’est le premier endroit à examiner quand un traitement est lent. Spark fonctionne aussi en mode local sur un simple portable, la meilleure façon de l’apprendre.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Suivez les trois commentaires numérotés. D’abord, la lecture pointe vers la zone argent, où les tuiles ont déjà été rattachées aux unités administratives. Ensuite, l’agrégation applique exactement la moyenne pondérée de la diapositive MapReduce : somme du débit multiplié par les tests, divisée par la somme des tests. On conserve aussi le nombre de tests et de tuiles distinctes, car un chiffre régional fondé sur très peu de tests doit être signalé, pas publié en silence. Enfin, le résultat est écrit dans la zone or, partitionné par année et trimestre. Le message essentiel est à droite : ce même code s’exécute en mode local sur un échantillon et sur un historique continental complet sur un cluster. Seule la configuration du cluster change. Chemins et noms de tables illustratifs.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traitement par lots porte sur un ensemble borné, selon un calendrier ; le streaming traite un flux sans fin, en continu. Le streaming introduit de nouveaux concepts — les fenêtres, qui regroupent les événements par période, et les « watermarks », qui fixent combien de temps attendre les données en retard. Le schéma montre des fenêtres fixes de cinq minutes : chaque événement appartient à une seule fenêtre. Pour un institut statistique, la question décisive est en bas : une décision change-t-elle si le chiffre arrive une heure plus tard ? Pour les indicateurs Ookla trimestriels ou les composites mensuels de lumières nocturnes, la réponse est clairement non ; le traitement par lots est alors moins cher, plus simple et plus facile à auditer. Réservez le streaming à la collecte réellement continue : prix en ligne, suivi des réseaux, systèmes d’alerte précoce.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corrige un réflexe courant. Le matériel a évolué : un serveur ordinaire dispose aujourd’hui de dizaines de cœurs et de centaines de gigaoctets de mémoire, et des moteurs comme DuckDB ou Polars les exploitent entièrement sans cluster à administrer. DuckDB peut même interroger directement les fichiers Parquet Ookla dans le bucket S3 public, en ne lisant que les colonnes nécessaires — l’extrait à droite est un programme complet. Les seuils à gauche sont des règles empiriques, pas des limites strictes ; ils dépendent de la requête et du matériel. L’avertissement du bas est la phrase la plus importante : dans beaucoup d’instituts, l’erreur la plus coûteuse est de déployer et maintenir un cluster pour des données qui tiendraient sur une seule machine. Commencez petit, mesurez, et ne passez à plusieurs machines que lorsque les mesures l’exigent.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section prépare les deux labos qui suivent. On passe du parcours à l’indexation, on regarde le quadkey comme index spatial, puis on ouvre Elasticsearch.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l’analogie du livre. Pour trouver toutes les mentions du Rwanda dans un livre sans index, il faut lire chaque page ; le temps croît avec la longueur du livre. Avec un index en fin d’ouvrage, on cherche le mot et on va directement aux pages. Les moteurs de recherche construisent exactement cela, un index inversé : pour chaque valeur d’un champ, la liste des documents qui la contiennent. À droite, chaque tuile Ookla d’un trimestre est un document, et l’index du champ région pointe directement vers les tuiles correspondantes. Le prix se paie à l’écriture — construire l’index prend du temps et de l’espace disque — en échange de lectures et d’agrégations très rapides. Les bases de données utilisent une structure voisine, l’arbre B, excellente pour les intervalles.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ligne Ookla possède un quadkey, qui est en soi un index spatial. Le monde est divisé en quatre carrés numérotés de zéro à trois ; chaque carré est redivisé, en ajoutant un chiffre par niveau de zoom. Un quadkey de niveau 16 compte donc seize chiffres et décrit une tuile d’environ 611 mètres de côté à l’équateur. Deux conséquences utiles en labo. D’abord, les tuiles qui partagent un préfixe sont voisines : tronquer la clé à douze chiffres agrège en cellules d’environ 9,8 kilomètres sans aucune fonction géospatiale. Ensuite, le quadkey est un identifiant stable pour relier une même tuile d’un trimestre à l’autre. Pour des formes réelles — un polygone de tuile face à une limite de district irrégulière — Elasticsearch utilise son champ geo_shape, indexé en interne dans un arbre BKD. La largeur des tuiles se calcule en divisant la circonférence équatoriale par deux puissance le niveau de zoom.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vocabulaire dont vous aurez besoin en labo. Un cluster est un groupe de nœuds, c’est-à-dire de serveurs. Les données résident dans un index, à peu près l’équivalent d’une table, et chaque enregistrement est un document JSON — pour nous, une tuile Ookla pour un trimestre. Le mapping est le schéma : il indique à Elasticsearch que quadkey est un mot-clé exact, que tests est un entier et que tile est un geo_shape. Chaque index est découpé en shards pour répartir le travail entre les nœuds, et chaque shard primaire a une réplique sur un autre nœud — exactement l’idée de réplication vue dans la section stockage. Notez que P0 et R0 ne sont jamais sur le même nœud. Le tableau de correspondance à droite est le moyen le plus rapide de transposer vos réflexes SQL dans Elasticsearch.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le mapping. Quadkey et admin1 sont des mots-clés — des valeurs exactes, idéales pour filtrer et regrouper. Débits et tests sont des entiers. La tuile est un geo_shape, ce qui permet à Elasticsearch de raisonner sur le vrai polygone. À droite, une recherche qui ne renvoie aucun document individuel — size à zéro — seulement des agrégations. La requête retient les tuiles qui intersectent un rectangle englobant le Rwanda ; les coordonnées de l’enveloppe sont données coin supérieur gauche puis coin inférieur droit, longitude en premier. L’agrégation regroupe par région et calcule une moyenne pondérée du débit descendant, pondérée par les tests — la même statistique que sur la diapositive Spark, calculée cette fois dans le moteur de recherche. Prévenez les participants que le mapping du cluster préinstallé peut légèrement différer ; les instructions du labo font foi.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à laquelle le second labo vous demande de répondre par des mesures ; voici le cadre qualitatif. pandas, l’outil du premier notebook, est imbattable pour un analyste seul sur des données qui tiennent en mémoire. DuckDB sur Parquet pousse beaucoup plus loin cette même machine, presque sans coût d’exploitation. Elasticsearch se justifie quand de nombreux utilisateurs doivent filtrer et agréger de façon interactive, par lieu et par période, avec des réponses en moins d’une seconde — typiquement derrière un tableau de bord ou une API. Mais il a un vrai coût d’exploitation et n’est pas un système de référence : le lakehouse reste la source de vérité, et l’index doit toujours pouvoir être reconstruit à partir de lui. Pendant le labo, mesurez le temps de requête et la mémoire de chaque approche et rédigez votre propre conclusion.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notebook lancé à la main est un prototype. Un produit statistique s’exécute selon un calendrier, dans le bon ordre, avec des contrôles et des alertes automatiques. C’est cela, l’orchestration.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chaîne de traitement est un graphe orienté acyclique : des tâches reliées par des dépendances, sans boucle. Voici la chaîne trimestrielle de connectivité que vos équipes construisent dans les labos, telle qu’un orchestrateur la voit. Deux branches — les tuiles Ookla et la population WorldPop — se rejoignent à la jointure, puis les indicateurs alimentent en parallèle deux sorties : l’index Elasticsearch et la publication GitHub. Le rôle de l’orchestrateur, ce sont les cinq capacités du bas. Le rattrapage est particulièrement précieux en statistique : quand une méthode change, on recalcule tous les trimestres depuis 2019 en une seule commande. Côté outils, commencez simple : une GitHub Action planifiée, voire cron, est une première étape légitime ; Airflow, Dagster ou Prefect deviennent intéressants quand les chaînes se multiplient.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la même chaîne écrite pour Apache Airflow dans le style TaskFlow ; les fonctions de tâche sont définies ailleurs. Trois paramètres font beaucoup : le calendrier trimestriel ; catchup, qui demande à Airflow d’exécuter chaque trimestre depuis la date de départ — c’est le rattrapage ; et retries, pour qu’une erreur réseau passagère lors du téléchargement ne réveille personne. À droite, les contrôles qualité entre zones, écrits sous forme d’assertions automatiques. Ce sont des contrôles statistiques, pas seulement techniques : plages plausibles, clés uniques, chaque tuile dans un seul district, couverture stable d’un trimestre à l’autre. Quand un contrôle échoue, la chaîne s’arrête et alerte une personne — elle ne publie jamais en silence. Des outils comme Great Expectations, les tests dbt, Soda ou pandera expriment ces contrôles sous forme de code versionné.</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instituts statistiques vivent de la confiance. Métadonnées et versionnage rendent cette confiance vérifiable au lieu d’être simplement supposée.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métadonnées se répartissent en trois couches. Les métadonnées techniques décrivent les données en tant que fichiers et tables. Les métadonnées statistiques en décrivent le sens — concepts, nomenclatures, méthodes et, point important ici, limites — et c’est là que des standards comme SDMX, DDI et GSIM stabilisent les définitions entre systèmes. Les métadonnées opérationnelles enregistrent ce qui s’est réellement passé : quelle exécution, quelles entrées, quels contrôles réussis. Le lignage relie les trois. Lisez la chaîne du bas de droite à gauche : un chiffre publié remonte à une table or, une table argent, le fichier brut exact identifié par sa somme de contrôle, et le commit de code exact. Le vrai test de gouvernance : choisissez un chiffre publié au hasard et mesurez le temps nécessaire pour citer toutes ses entrées et transformations.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reproductibilité exige de versionner trois choses ensemble. Le code est la plus familière : Git, avec des demandes de fusion relues et des versions étiquetées. Les données le sont moins : les formats de table lakehouse conservent déjà des instantanés, et des outils comme DVC ou lakeFS font de même pour les fichiers ; la zone brute n’est jamais écrasée. L’environnement est le plus souvent oublié : les versions exactes des bibliothèques, figées dans un fichier de verrouillage ou une image de conteneur, car le même code avec une autre version de pandas peut donner des résultats différents. Le bandeau du bas fait le lien avec la publication des résultats : une version GitHub étiquetée, avec un README précisant méthode, sources, licence et limites, peut recevoir un DOI citable grâce à l’intégration Zenodo. C’est ce qui transforme un notebook de formation en produit public durable.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rassemblant les six briques, voici deux étapes plutôt qu’une architecture idéale. La pile de départ, à gauche, ne coûte presque rien, fonctionne sur un portable ou un serveur, et applique déjà l’essentiel des principes de cet exposé : fichiers bruts préservés, Parquet, DuckDB, Git, tâches planifiées et README documenté. La plateforme partagée, à droite, correspond à un service national ou régional dont dépendent plusieurs domaines et de nombreux utilisateurs. La flèche porte le message clé : passez à droite seulement quand les mesures — volume, nombre d’utilisateurs, temps de requête — l’exigent. Pour les microdonnées confidentielles, gardez le traitement sur site ou dans un environnement souverain doté d’une base légale explicite. Enfin, la mutualisation compte : les hubs régionaux big data et les plateformes partagées sont des lieux naturels pour partager plateformes, code et compétences, plutôt que chaque pays construise seul.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Invitez les participants à placer un projet actuel de leur institut dans la première colonne. En pratique, la plupart des traitements statistiques de nos instituts se situent sur les deux premières lignes, et c’est une bonne nouvelle : ils peuvent être traités dès aujourd’hui, avec le matériel existant et des outils gratuits. La dernière ligne est la plus importante pour ce public : les microdonnées confidentielles, comme les enregistrements d’appels ou les fichiers fiscaux, doivent rester dans un environnement doté d’une base légale explicite — généralement sur site ou dans un cloud souverain — avec contrôle d’accès et vérification des sorties. Diapositive facultative si le temps manque.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message par brique, dans les mêmes couleurs. Si les participants ne doivent en retenir que deux, que ce soient le premier et le dernier : garder les données brutes intactes et documentées dès le premier octet, et rendre chaque chiffre publié traçable jusqu’à ses entrées exactes. Tout ce qui se trouve entre les deux relève d’une ingénierie qui s’apprend et s’améliore pas à pas.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Terminez par la question de discussion et recueillez deux ou trois réponses avant la pause. Notez les obstacles récurrents sur un tableau partagé ; ils peuvent alimenter les messages clés et les thèmes de suivi.</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chiffres de cette présentation proviennent de ces sources ou sont signalés comme illustratifs ou calculés. Les liens vers la documentation officielle sont disponibles dans l’organisation GitHub DI4A.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1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7772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BANQUE AFRICAINE DE DÉVELOPPEMENT · DATA INNOVATION FOR AFRICA (DI4A)</a:t>
            </a:r>
            <a:endParaRPr lang="en-US" sz="1050" dirty="0"/>
          </a:p>
        </p:txBody>
      </p:sp>
      <p:sp>
        <p:nvSpPr>
          <p:cNvPr id="3" name="Text 1"/>
          <p:cNvSpPr txBox="1"/>
          <p:nvPr/>
        </p:nvSpPr>
        <p:spPr>
          <a:xfrm>
            <a:off x="548640" y="1051560"/>
            <a:ext cx="5486400" cy="82296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Passer à l’échelle</a:t>
            </a:r>
            <a:endParaRPr lang="en-US" sz="4600" dirty="0"/>
          </a:p>
        </p:txBody>
      </p:sp>
      <p:sp>
        <p:nvSpPr>
          <p:cNvPr id="4" name="Text 2"/>
          <p:cNvSpPr txBox="1"/>
          <p:nvPr/>
        </p:nvSpPr>
        <p:spPr>
          <a:xfrm>
            <a:off x="548640" y="1874520"/>
            <a:ext cx="512064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Technologies big data pour les systèmes statistiques</a:t>
            </a:r>
            <a:endParaRPr lang="en-US" sz="1800" dirty="0"/>
          </a:p>
        </p:txBody>
      </p:sp>
      <p:sp>
        <p:nvSpPr>
          <p:cNvPr id="5" name="Text 3"/>
          <p:cNvSpPr txBox="1"/>
          <p:nvPr/>
        </p:nvSpPr>
        <p:spPr>
          <a:xfrm>
            <a:off x="548640" y="2304288"/>
            <a:ext cx="475488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Des fichiers bruts aux indicateurs de confiance : les six briques de toute plateforme de données</a:t>
            </a:r>
            <a:endParaRPr lang="en-US" sz="1600" dirty="0"/>
          </a:p>
        </p:txBody>
      </p:sp>
      <p:sp>
        <p:nvSpPr>
          <p:cNvPr id="7" name="Text 5"/>
          <p:cNvSpPr txBox="1"/>
          <p:nvPr/>
        </p:nvSpPr>
        <p:spPr>
          <a:xfrm>
            <a:off x="548640" y="3931920"/>
            <a:ext cx="5029200" cy="365760"/>
          </a:xfrm>
          <a:prstGeom prst="rect">
            <a:avLst/>
          </a:prstGeom>
          <a:noFill/>
          <a:ln/>
        </p:spPr>
        <p:txBody>
          <a:bodyPr wrap="square" lIns="0" tIns="0" rIns="0" bIns="0" rtlCol="0" anchor="t"/>
          <a:lstStyle/>
          <a:p>
            <a:pPr marL="0" indent="0">
              <a:buNone/>
            </a:pPr>
            <a:r>
              <a:rPr lang="en-US" sz="1000" dirty="0">
                <a:solidFill>
                  <a:srgbClr val="E6F6EE"/>
                </a:solidFill>
                <a:latin typeface="Calibri" pitchFamily="34" charset="0"/>
                <a:ea typeface="Calibri" pitchFamily="34" charset="-122"/>
                <a:cs typeface="Calibri" pitchFamily="34" charset="-120"/>
              </a:rPr>
              <a:t>Banque africaine de développement – Data Innovation for Africa (DI4A)</a:t>
            </a:r>
            <a:endParaRPr lang="en-US" sz="1000" dirty="0"/>
          </a:p>
        </p:txBody>
      </p:sp>
      <p:sp>
        <p:nvSpPr>
          <p:cNvPr id="8" name="Shape 6"/>
          <p:cNvSpPr/>
          <p:nvPr/>
        </p:nvSpPr>
        <p:spPr>
          <a:xfrm>
            <a:off x="5440680" y="777240"/>
            <a:ext cx="3474720" cy="3474720"/>
          </a:xfrm>
          <a:prstGeom prst="ellipse">
            <a:avLst/>
          </a:prstGeom>
          <a:solidFill>
            <a:srgbClr val="FFFFFF">
              <a:alpha val="8000"/>
            </a:srgbClr>
          </a:solidFill>
          <a:ln/>
        </p:spPr>
      </p:sp>
      <p:sp>
        <p:nvSpPr>
          <p:cNvPr id="9" name="Shape 7"/>
          <p:cNvSpPr/>
          <p:nvPr/>
        </p:nvSpPr>
        <p:spPr>
          <a:xfrm>
            <a:off x="6675120" y="2011680"/>
            <a:ext cx="1005840" cy="100584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40296" y="2276856"/>
            <a:ext cx="475488" cy="475488"/>
          </a:xfrm>
          <a:prstGeom prst="rect">
            <a:avLst/>
          </a:prstGeom>
        </p:spPr>
      </p:pic>
      <p:sp>
        <p:nvSpPr>
          <p:cNvPr id="11" name="Shape 8"/>
          <p:cNvSpPr/>
          <p:nvPr/>
        </p:nvSpPr>
        <p:spPr>
          <a:xfrm>
            <a:off x="6903720" y="914400"/>
            <a:ext cx="548640" cy="548640"/>
          </a:xfrm>
          <a:prstGeom prst="ellipse">
            <a:avLst/>
          </a:prstGeom>
          <a:solidFill>
            <a:srgbClr val="FFFFFF"/>
          </a:solidFill>
          <a:ln/>
        </p:spPr>
      </p:sp>
      <p:pic>
        <p:nvPicPr>
          <p:cNvPr id="12" name="Image 1" descr="preencoded.png"/>
          <p:cNvPicPr>
            <a:picLocks noChangeAspect="1"/>
          </p:cNvPicPr>
          <p:nvPr/>
        </p:nvPicPr>
        <p:blipFill>
          <a:blip r:embed="rId5"/>
          <a:stretch>
            <a:fillRect/>
          </a:stretch>
        </p:blipFill>
        <p:spPr>
          <a:xfrm>
            <a:off x="7040880" y="1051560"/>
            <a:ext cx="274320" cy="274320"/>
          </a:xfrm>
          <a:prstGeom prst="rect">
            <a:avLst/>
          </a:prstGeom>
        </p:spPr>
      </p:pic>
      <p:sp>
        <p:nvSpPr>
          <p:cNvPr id="13" name="Shape 9"/>
          <p:cNvSpPr/>
          <p:nvPr/>
        </p:nvSpPr>
        <p:spPr>
          <a:xfrm>
            <a:off x="8051966" y="1577340"/>
            <a:ext cx="548640" cy="548640"/>
          </a:xfrm>
          <a:prstGeom prst="ellipse">
            <a:avLst/>
          </a:prstGeom>
          <a:solidFill>
            <a:srgbClr val="FFFFFF"/>
          </a:solidFill>
          <a:ln/>
        </p:spPr>
      </p:sp>
      <p:pic>
        <p:nvPicPr>
          <p:cNvPr id="14" name="Image 2" descr="preencoded.png"/>
          <p:cNvPicPr>
            <a:picLocks noChangeAspect="1"/>
          </p:cNvPicPr>
          <p:nvPr/>
        </p:nvPicPr>
        <p:blipFill>
          <a:blip r:embed="rId6"/>
          <a:stretch>
            <a:fillRect/>
          </a:stretch>
        </p:blipFill>
        <p:spPr>
          <a:xfrm>
            <a:off x="8189126" y="1714500"/>
            <a:ext cx="274320" cy="274320"/>
          </a:xfrm>
          <a:prstGeom prst="rect">
            <a:avLst/>
          </a:prstGeom>
        </p:spPr>
      </p:pic>
      <p:sp>
        <p:nvSpPr>
          <p:cNvPr id="15" name="Shape 10"/>
          <p:cNvSpPr/>
          <p:nvPr/>
        </p:nvSpPr>
        <p:spPr>
          <a:xfrm>
            <a:off x="8051966" y="2903220"/>
            <a:ext cx="548640" cy="548640"/>
          </a:xfrm>
          <a:prstGeom prst="ellipse">
            <a:avLst/>
          </a:prstGeom>
          <a:solidFill>
            <a:srgbClr val="FFFFFF"/>
          </a:solidFill>
          <a:ln/>
        </p:spPr>
      </p:sp>
      <p:pic>
        <p:nvPicPr>
          <p:cNvPr id="16" name="Image 3" descr="preencoded.png"/>
          <p:cNvPicPr>
            <a:picLocks noChangeAspect="1"/>
          </p:cNvPicPr>
          <p:nvPr/>
        </p:nvPicPr>
        <p:blipFill>
          <a:blip r:embed="rId7"/>
          <a:stretch>
            <a:fillRect/>
          </a:stretch>
        </p:blipFill>
        <p:spPr>
          <a:xfrm>
            <a:off x="8189126" y="3040380"/>
            <a:ext cx="274320" cy="274320"/>
          </a:xfrm>
          <a:prstGeom prst="rect">
            <a:avLst/>
          </a:prstGeom>
        </p:spPr>
      </p:pic>
      <p:sp>
        <p:nvSpPr>
          <p:cNvPr id="17" name="Shape 11"/>
          <p:cNvSpPr/>
          <p:nvPr/>
        </p:nvSpPr>
        <p:spPr>
          <a:xfrm>
            <a:off x="6903720" y="3566160"/>
            <a:ext cx="548640" cy="548640"/>
          </a:xfrm>
          <a:prstGeom prst="ellipse">
            <a:avLst/>
          </a:prstGeom>
          <a:solidFill>
            <a:srgbClr val="FFFFFF"/>
          </a:solidFill>
          <a:ln/>
        </p:spPr>
      </p:sp>
      <p:pic>
        <p:nvPicPr>
          <p:cNvPr id="18" name="Image 4" descr="preencoded.png"/>
          <p:cNvPicPr>
            <a:picLocks noChangeAspect="1"/>
          </p:cNvPicPr>
          <p:nvPr/>
        </p:nvPicPr>
        <p:blipFill>
          <a:blip r:embed="rId8"/>
          <a:stretch>
            <a:fillRect/>
          </a:stretch>
        </p:blipFill>
        <p:spPr>
          <a:xfrm>
            <a:off x="7040880" y="3703320"/>
            <a:ext cx="274320" cy="274320"/>
          </a:xfrm>
          <a:prstGeom prst="rect">
            <a:avLst/>
          </a:prstGeom>
        </p:spPr>
      </p:pic>
      <p:sp>
        <p:nvSpPr>
          <p:cNvPr id="19" name="Shape 12"/>
          <p:cNvSpPr/>
          <p:nvPr/>
        </p:nvSpPr>
        <p:spPr>
          <a:xfrm>
            <a:off x="5755474" y="2903220"/>
            <a:ext cx="548640" cy="548640"/>
          </a:xfrm>
          <a:prstGeom prst="ellipse">
            <a:avLst/>
          </a:prstGeom>
          <a:solidFill>
            <a:srgbClr val="FFFFFF"/>
          </a:solidFill>
          <a:ln/>
        </p:spPr>
      </p:sp>
      <p:pic>
        <p:nvPicPr>
          <p:cNvPr id="20" name="Image 5" descr="preencoded.png"/>
          <p:cNvPicPr>
            <a:picLocks noChangeAspect="1"/>
          </p:cNvPicPr>
          <p:nvPr/>
        </p:nvPicPr>
        <p:blipFill>
          <a:blip r:embed="rId9"/>
          <a:stretch>
            <a:fillRect/>
          </a:stretch>
        </p:blipFill>
        <p:spPr>
          <a:xfrm>
            <a:off x="5892634" y="3040380"/>
            <a:ext cx="274320" cy="274320"/>
          </a:xfrm>
          <a:prstGeom prst="rect">
            <a:avLst/>
          </a:prstGeom>
        </p:spPr>
      </p:pic>
      <p:sp>
        <p:nvSpPr>
          <p:cNvPr id="21" name="Shape 13"/>
          <p:cNvSpPr/>
          <p:nvPr/>
        </p:nvSpPr>
        <p:spPr>
          <a:xfrm>
            <a:off x="5755474" y="1577340"/>
            <a:ext cx="548640" cy="548640"/>
          </a:xfrm>
          <a:prstGeom prst="ellipse">
            <a:avLst/>
          </a:prstGeom>
          <a:solidFill>
            <a:srgbClr val="FFFFFF"/>
          </a:solidFill>
          <a:ln/>
        </p:spPr>
      </p:sp>
      <p:pic>
        <p:nvPicPr>
          <p:cNvPr id="22" name="Image 6" descr="preencoded.png"/>
          <p:cNvPicPr>
            <a:picLocks noChangeAspect="1"/>
          </p:cNvPicPr>
          <p:nvPr/>
        </p:nvPicPr>
        <p:blipFill>
          <a:blip r:embed="rId10"/>
          <a:stretch>
            <a:fillRect/>
          </a:stretch>
        </p:blipFill>
        <p:spPr>
          <a:xfrm>
            <a:off x="5892634" y="1714500"/>
            <a:ext cx="274320" cy="27432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L’ENJEU</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Pourquoi les INS ont besoin de moteurs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280160"/>
            <a:ext cx="3749040" cy="960120"/>
          </a:xfrm>
          <a:prstGeom prst="roundRect">
            <a:avLst>
              <a:gd name="adj" fmla="val 7619"/>
            </a:avLst>
          </a:prstGeom>
          <a:solidFill>
            <a:srgbClr val="F4F7F5"/>
          </a:solidFill>
          <a:ln w="9525">
            <a:solidFill>
              <a:srgbClr val="D5DED9"/>
            </a:solidFill>
            <a:prstDash val="solid"/>
          </a:ln>
        </p:spPr>
      </p:sp>
      <p:sp>
        <p:nvSpPr>
          <p:cNvPr id="18" name="Text 15"/>
          <p:cNvSpPr txBox="1"/>
          <p:nvPr/>
        </p:nvSpPr>
        <p:spPr>
          <a:xfrm>
            <a:off x="594360" y="1371600"/>
            <a:ext cx="1783080" cy="777240"/>
          </a:xfrm>
          <a:prstGeom prst="rect">
            <a:avLst/>
          </a:prstGeom>
          <a:noFill/>
          <a:ln/>
        </p:spPr>
        <p:txBody>
          <a:bodyPr wrap="square" lIns="0" tIns="0" rIns="0" bIns="0" rtlCol="0" anchor="ctr"/>
          <a:lstStyle/>
          <a:p>
            <a:pPr marL="0" indent="0">
              <a:buNone/>
            </a:pPr>
            <a:r>
              <a:rPr lang="en-US" sz="2800" b="1" dirty="0">
                <a:solidFill>
                  <a:srgbClr val="00A86A"/>
                </a:solidFill>
                <a:latin typeface="Calibri" pitchFamily="34" charset="0"/>
                <a:ea typeface="Calibri" pitchFamily="34" charset="-122"/>
                <a:cs typeface="Calibri" pitchFamily="34" charset="-120"/>
              </a:rPr>
              <a:t>≈ 611 m</a:t>
            </a:r>
            <a:endParaRPr lang="en-US" sz="2800" dirty="0"/>
          </a:p>
        </p:txBody>
      </p:sp>
      <p:sp>
        <p:nvSpPr>
          <p:cNvPr id="19" name="Text 16"/>
          <p:cNvSpPr txBox="1"/>
          <p:nvPr/>
        </p:nvSpPr>
        <p:spPr>
          <a:xfrm>
            <a:off x="2395728" y="1371600"/>
            <a:ext cx="1737360" cy="27432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Tuiles Ookla Speedtest</a:t>
            </a:r>
            <a:endParaRPr lang="en-US" sz="1150" dirty="0"/>
          </a:p>
        </p:txBody>
      </p:sp>
      <p:sp>
        <p:nvSpPr>
          <p:cNvPr id="20" name="Text 17"/>
          <p:cNvSpPr txBox="1"/>
          <p:nvPr/>
        </p:nvSpPr>
        <p:spPr>
          <a:xfrm>
            <a:off x="2395728" y="1645920"/>
            <a:ext cx="1737360" cy="56692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Tuiles de niveau 16, réseaux fixe et mobile, chaque trimestre depuis 2019</a:t>
            </a:r>
            <a:endParaRPr lang="en-US" sz="900" dirty="0"/>
          </a:p>
        </p:txBody>
      </p:sp>
      <p:sp>
        <p:nvSpPr>
          <p:cNvPr id="21" name="Shape 18"/>
          <p:cNvSpPr/>
          <p:nvPr/>
        </p:nvSpPr>
        <p:spPr>
          <a:xfrm>
            <a:off x="457200" y="2377440"/>
            <a:ext cx="3749040" cy="960120"/>
          </a:xfrm>
          <a:prstGeom prst="roundRect">
            <a:avLst>
              <a:gd name="adj" fmla="val 7619"/>
            </a:avLst>
          </a:prstGeom>
          <a:solidFill>
            <a:srgbClr val="F4F7F5"/>
          </a:solidFill>
          <a:ln w="9525">
            <a:solidFill>
              <a:srgbClr val="D5DED9"/>
            </a:solidFill>
            <a:prstDash val="solid"/>
          </a:ln>
        </p:spPr>
      </p:sp>
      <p:sp>
        <p:nvSpPr>
          <p:cNvPr id="22" name="Text 19"/>
          <p:cNvSpPr txBox="1"/>
          <p:nvPr/>
        </p:nvSpPr>
        <p:spPr>
          <a:xfrm>
            <a:off x="594360" y="2468880"/>
            <a:ext cx="1783080" cy="777240"/>
          </a:xfrm>
          <a:prstGeom prst="rect">
            <a:avLst/>
          </a:prstGeom>
          <a:noFill/>
          <a:ln/>
        </p:spPr>
        <p:txBody>
          <a:bodyPr wrap="square" lIns="0" tIns="0" rIns="0" bIns="0" rtlCol="0" anchor="ctr"/>
          <a:lstStyle/>
          <a:p>
            <a:pPr marL="0" indent="0">
              <a:buNone/>
            </a:pPr>
            <a:r>
              <a:rPr lang="en-US" sz="2300" b="1" dirty="0">
                <a:solidFill>
                  <a:srgbClr val="0E7C86"/>
                </a:solidFill>
                <a:latin typeface="Calibri" pitchFamily="34" charset="0"/>
                <a:ea typeface="Calibri" pitchFamily="34" charset="-122"/>
                <a:cs typeface="Calibri" pitchFamily="34" charset="-120"/>
              </a:rPr>
              <a:t>≈ 3 milliards</a:t>
            </a:r>
            <a:endParaRPr lang="en-US" sz="2300" dirty="0"/>
          </a:p>
        </p:txBody>
      </p:sp>
      <p:sp>
        <p:nvSpPr>
          <p:cNvPr id="23" name="Text 20"/>
          <p:cNvSpPr txBox="1"/>
          <p:nvPr/>
        </p:nvSpPr>
        <p:spPr>
          <a:xfrm>
            <a:off x="2395728" y="2468880"/>
            <a:ext cx="1737360" cy="27432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Grille WorldPop à 100 m</a:t>
            </a:r>
            <a:endParaRPr lang="en-US" sz="1150" dirty="0"/>
          </a:p>
        </p:txBody>
      </p:sp>
      <p:sp>
        <p:nvSpPr>
          <p:cNvPr id="24" name="Text 21"/>
          <p:cNvSpPr txBox="1"/>
          <p:nvPr/>
        </p:nvSpPr>
        <p:spPr>
          <a:xfrm>
            <a:off x="2395728" y="2743200"/>
            <a:ext cx="1737360" cy="56692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Calcul : ≈ 30 millions de km² × 100 cellules par km², par couche et par an</a:t>
            </a:r>
            <a:endParaRPr lang="en-US" sz="900" dirty="0"/>
          </a:p>
        </p:txBody>
      </p:sp>
      <p:sp>
        <p:nvSpPr>
          <p:cNvPr id="25" name="Shape 22"/>
          <p:cNvSpPr/>
          <p:nvPr/>
        </p:nvSpPr>
        <p:spPr>
          <a:xfrm>
            <a:off x="457200" y="3474720"/>
            <a:ext cx="3749040" cy="960120"/>
          </a:xfrm>
          <a:prstGeom prst="roundRect">
            <a:avLst>
              <a:gd name="adj" fmla="val 7619"/>
            </a:avLst>
          </a:prstGeom>
          <a:solidFill>
            <a:srgbClr val="F4F7F5"/>
          </a:solidFill>
          <a:ln w="9525">
            <a:solidFill>
              <a:srgbClr val="D5DED9"/>
            </a:solidFill>
            <a:prstDash val="solid"/>
          </a:ln>
        </p:spPr>
      </p:sp>
      <p:sp>
        <p:nvSpPr>
          <p:cNvPr id="26" name="Text 23"/>
          <p:cNvSpPr txBox="1"/>
          <p:nvPr/>
        </p:nvSpPr>
        <p:spPr>
          <a:xfrm>
            <a:off x="594360" y="3566160"/>
            <a:ext cx="1783080" cy="777240"/>
          </a:xfrm>
          <a:prstGeom prst="rect">
            <a:avLst/>
          </a:prstGeom>
          <a:noFill/>
          <a:ln/>
        </p:spPr>
        <p:txBody>
          <a:bodyPr wrap="square" lIns="0" tIns="0" rIns="0" bIns="0" rtlCol="0" anchor="ctr"/>
          <a:lstStyle/>
          <a:p>
            <a:pPr marL="0" indent="0">
              <a:buNone/>
            </a:pPr>
            <a:r>
              <a:rPr lang="en-US" sz="2800" b="1" dirty="0">
                <a:solidFill>
                  <a:srgbClr val="D49A00"/>
                </a:solidFill>
                <a:latin typeface="Calibri" pitchFamily="34" charset="0"/>
                <a:ea typeface="Calibri" pitchFamily="34" charset="-122"/>
                <a:cs typeface="Calibri" pitchFamily="34" charset="-120"/>
              </a:rPr>
              <a:t>Quotidien</a:t>
            </a:r>
            <a:endParaRPr lang="en-US" sz="2800" dirty="0"/>
          </a:p>
        </p:txBody>
      </p:sp>
      <p:sp>
        <p:nvSpPr>
          <p:cNvPr id="27" name="Text 24"/>
          <p:cNvSpPr txBox="1"/>
          <p:nvPr/>
        </p:nvSpPr>
        <p:spPr>
          <a:xfrm>
            <a:off x="2395728" y="3566160"/>
            <a:ext cx="1737360" cy="27432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Radiance Black Marble</a:t>
            </a:r>
            <a:endParaRPr lang="en-US" sz="1150" dirty="0"/>
          </a:p>
        </p:txBody>
      </p:sp>
      <p:sp>
        <p:nvSpPr>
          <p:cNvPr id="28" name="Text 25"/>
          <p:cNvSpPr txBox="1"/>
          <p:nvPr/>
        </p:nvSpPr>
        <p:spPr>
          <a:xfrm>
            <a:off x="2395728" y="3840480"/>
            <a:ext cx="1737360" cy="56692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Lumières nocturnes VNP46A2 à ~500 m (15 secondes d’arc)</a:t>
            </a:r>
            <a:endParaRPr lang="en-US" sz="900" dirty="0"/>
          </a:p>
        </p:txBody>
      </p:sp>
      <p:sp>
        <p:nvSpPr>
          <p:cNvPr id="29" name="Text 26"/>
          <p:cNvSpPr txBox="1"/>
          <p:nvPr/>
        </p:nvSpPr>
        <p:spPr>
          <a:xfrm>
            <a:off x="4526280" y="1280160"/>
            <a:ext cx="416052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Le mur de la mémoire — et trois façons de le franchir</a:t>
            </a:r>
            <a:endParaRPr lang="en-US" sz="1250" dirty="0"/>
          </a:p>
        </p:txBody>
      </p:sp>
      <p:sp>
        <p:nvSpPr>
          <p:cNvPr id="30" name="Shape 27"/>
          <p:cNvSpPr/>
          <p:nvPr/>
        </p:nvSpPr>
        <p:spPr>
          <a:xfrm>
            <a:off x="4526280" y="1645920"/>
            <a:ext cx="4160520" cy="566928"/>
          </a:xfrm>
          <a:prstGeom prst="roundRect">
            <a:avLst>
              <a:gd name="adj" fmla="val 12903"/>
            </a:avLst>
          </a:prstGeom>
          <a:solidFill>
            <a:srgbClr val="FFFFFF"/>
          </a:solidFill>
          <a:ln w="15875">
            <a:solidFill>
              <a:srgbClr val="A9B5B0"/>
            </a:solidFill>
            <a:prstDash val="solid"/>
          </a:ln>
        </p:spPr>
      </p:sp>
      <p:sp>
        <p:nvSpPr>
          <p:cNvPr id="31" name="Shape 28"/>
          <p:cNvSpPr/>
          <p:nvPr/>
        </p:nvSpPr>
        <p:spPr>
          <a:xfrm>
            <a:off x="4617720" y="1737360"/>
            <a:ext cx="384048" cy="384048"/>
          </a:xfrm>
          <a:prstGeom prst="ellipse">
            <a:avLst/>
          </a:prstGeom>
          <a:solidFill>
            <a:srgbClr val="5E6964">
              <a:alpha val="22000"/>
            </a:srgbClr>
          </a:solidFill>
          <a:ln/>
        </p:spPr>
      </p:sp>
      <p:pic>
        <p:nvPicPr>
          <p:cNvPr id="32" name="Image 0" descr="preencoded.png"/>
          <p:cNvPicPr>
            <a:picLocks noChangeAspect="1"/>
          </p:cNvPicPr>
          <p:nvPr/>
        </p:nvPicPr>
        <p:blipFill>
          <a:blip r:embed="rId3"/>
          <a:stretch>
            <a:fillRect/>
          </a:stretch>
        </p:blipFill>
        <p:spPr>
          <a:xfrm>
            <a:off x="4713732" y="1833372"/>
            <a:ext cx="192024" cy="192024"/>
          </a:xfrm>
          <a:prstGeom prst="rect">
            <a:avLst/>
          </a:prstGeom>
        </p:spPr>
      </p:pic>
      <p:sp>
        <p:nvSpPr>
          <p:cNvPr id="33" name="Text 29"/>
          <p:cNvSpPr txBox="1"/>
          <p:nvPr/>
        </p:nvSpPr>
        <p:spPr>
          <a:xfrm>
            <a:off x="5120640" y="1709928"/>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Tient aisément en mémoire vive</a:t>
            </a:r>
            <a:endParaRPr lang="en-US" sz="1100" dirty="0"/>
          </a:p>
        </p:txBody>
      </p:sp>
      <p:sp>
        <p:nvSpPr>
          <p:cNvPr id="34" name="Text 30"/>
          <p:cNvSpPr txBox="1"/>
          <p:nvPr/>
        </p:nvSpPr>
        <p:spPr>
          <a:xfrm>
            <a:off x="5120640" y="1947672"/>
            <a:ext cx="342900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pandas, R — règle empirique : RAM ≈ 5–10× la taille des données</a:t>
            </a:r>
            <a:endParaRPr lang="en-US" sz="900" dirty="0"/>
          </a:p>
        </p:txBody>
      </p:sp>
      <p:sp>
        <p:nvSpPr>
          <p:cNvPr id="35" name="Shape 31"/>
          <p:cNvSpPr/>
          <p:nvPr/>
        </p:nvSpPr>
        <p:spPr>
          <a:xfrm>
            <a:off x="4526280" y="2304288"/>
            <a:ext cx="4160520" cy="566928"/>
          </a:xfrm>
          <a:prstGeom prst="roundRect">
            <a:avLst>
              <a:gd name="adj" fmla="val 12903"/>
            </a:avLst>
          </a:prstGeom>
          <a:solidFill>
            <a:srgbClr val="FFFFFF"/>
          </a:solidFill>
          <a:ln w="15875">
            <a:solidFill>
              <a:srgbClr val="00A86A"/>
            </a:solidFill>
            <a:prstDash val="solid"/>
          </a:ln>
        </p:spPr>
      </p:sp>
      <p:sp>
        <p:nvSpPr>
          <p:cNvPr id="36" name="Shape 32"/>
          <p:cNvSpPr/>
          <p:nvPr/>
        </p:nvSpPr>
        <p:spPr>
          <a:xfrm>
            <a:off x="4617720" y="2395728"/>
            <a:ext cx="384048" cy="384048"/>
          </a:xfrm>
          <a:prstGeom prst="ellipse">
            <a:avLst/>
          </a:prstGeom>
          <a:solidFill>
            <a:srgbClr val="00A86A">
              <a:alpha val="22000"/>
            </a:srgbClr>
          </a:solidFill>
          <a:ln/>
        </p:spPr>
      </p:sp>
      <p:pic>
        <p:nvPicPr>
          <p:cNvPr id="37" name="Image 1" descr="preencoded.png"/>
          <p:cNvPicPr>
            <a:picLocks noChangeAspect="1"/>
          </p:cNvPicPr>
          <p:nvPr/>
        </p:nvPicPr>
        <p:blipFill>
          <a:blip r:embed="rId4"/>
          <a:stretch>
            <a:fillRect/>
          </a:stretch>
        </p:blipFill>
        <p:spPr>
          <a:xfrm>
            <a:off x="4713732" y="2491740"/>
            <a:ext cx="192024" cy="192024"/>
          </a:xfrm>
          <a:prstGeom prst="rect">
            <a:avLst/>
          </a:prstGeom>
        </p:spPr>
      </p:pic>
      <p:sp>
        <p:nvSpPr>
          <p:cNvPr id="38" name="Text 33"/>
          <p:cNvSpPr txBox="1"/>
          <p:nvPr/>
        </p:nvSpPr>
        <p:spPr>
          <a:xfrm>
            <a:off x="5120640" y="2368296"/>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Tient sur le disque d’une machine</a:t>
            </a:r>
            <a:endParaRPr lang="en-US" sz="1100" dirty="0"/>
          </a:p>
        </p:txBody>
      </p:sp>
      <p:sp>
        <p:nvSpPr>
          <p:cNvPr id="39" name="Text 34"/>
          <p:cNvSpPr txBox="1"/>
          <p:nvPr/>
        </p:nvSpPr>
        <p:spPr>
          <a:xfrm>
            <a:off x="5120640" y="2606040"/>
            <a:ext cx="342900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DuckDB, Polars — lecture des colonnes Parquet, hors mémoire</a:t>
            </a:r>
            <a:endParaRPr lang="en-US" sz="900" dirty="0"/>
          </a:p>
        </p:txBody>
      </p:sp>
      <p:sp>
        <p:nvSpPr>
          <p:cNvPr id="40" name="Shape 35"/>
          <p:cNvSpPr/>
          <p:nvPr/>
        </p:nvSpPr>
        <p:spPr>
          <a:xfrm>
            <a:off x="4526280" y="2962656"/>
            <a:ext cx="4160520" cy="566928"/>
          </a:xfrm>
          <a:prstGeom prst="roundRect">
            <a:avLst>
              <a:gd name="adj" fmla="val 12903"/>
            </a:avLst>
          </a:prstGeom>
          <a:solidFill>
            <a:srgbClr val="FFFFFF"/>
          </a:solidFill>
          <a:ln w="15875">
            <a:solidFill>
              <a:srgbClr val="0E7C86"/>
            </a:solidFill>
            <a:prstDash val="solid"/>
          </a:ln>
        </p:spPr>
      </p:sp>
      <p:sp>
        <p:nvSpPr>
          <p:cNvPr id="41" name="Shape 36"/>
          <p:cNvSpPr/>
          <p:nvPr/>
        </p:nvSpPr>
        <p:spPr>
          <a:xfrm>
            <a:off x="4617720" y="3054096"/>
            <a:ext cx="384048" cy="384048"/>
          </a:xfrm>
          <a:prstGeom prst="ellipse">
            <a:avLst/>
          </a:prstGeom>
          <a:solidFill>
            <a:srgbClr val="0E7C86">
              <a:alpha val="22000"/>
            </a:srgbClr>
          </a:solidFill>
          <a:ln/>
        </p:spPr>
      </p:sp>
      <p:pic>
        <p:nvPicPr>
          <p:cNvPr id="42" name="Image 2" descr="preencoded.png"/>
          <p:cNvPicPr>
            <a:picLocks noChangeAspect="1"/>
          </p:cNvPicPr>
          <p:nvPr/>
        </p:nvPicPr>
        <p:blipFill>
          <a:blip r:embed="rId5"/>
          <a:stretch>
            <a:fillRect/>
          </a:stretch>
        </p:blipFill>
        <p:spPr>
          <a:xfrm>
            <a:off x="4713732" y="3150108"/>
            <a:ext cx="192024" cy="192024"/>
          </a:xfrm>
          <a:prstGeom prst="rect">
            <a:avLst/>
          </a:prstGeom>
        </p:spPr>
      </p:pic>
      <p:sp>
        <p:nvSpPr>
          <p:cNvPr id="43" name="Text 37"/>
          <p:cNvSpPr txBox="1"/>
          <p:nvPr/>
        </p:nvSpPr>
        <p:spPr>
          <a:xfrm>
            <a:off x="5120640" y="3026664"/>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Dépasse une machine ou doit être partagé</a:t>
            </a:r>
            <a:endParaRPr lang="en-US" sz="1100" dirty="0"/>
          </a:p>
        </p:txBody>
      </p:sp>
      <p:sp>
        <p:nvSpPr>
          <p:cNvPr id="44" name="Text 38"/>
          <p:cNvSpPr txBox="1"/>
          <p:nvPr/>
        </p:nvSpPr>
        <p:spPr>
          <a:xfrm>
            <a:off x="5120640" y="3264408"/>
            <a:ext cx="342900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Stockage objet, Spark, lakehouse</a:t>
            </a:r>
            <a:endParaRPr lang="en-US" sz="900" dirty="0"/>
          </a:p>
        </p:txBody>
      </p:sp>
      <p:sp>
        <p:nvSpPr>
          <p:cNvPr id="45" name="Shape 39"/>
          <p:cNvSpPr/>
          <p:nvPr/>
        </p:nvSpPr>
        <p:spPr>
          <a:xfrm>
            <a:off x="4526280" y="3621024"/>
            <a:ext cx="4160520" cy="566928"/>
          </a:xfrm>
          <a:prstGeom prst="roundRect">
            <a:avLst>
              <a:gd name="adj" fmla="val 12903"/>
            </a:avLst>
          </a:prstGeom>
          <a:solidFill>
            <a:srgbClr val="FFFFFF"/>
          </a:solidFill>
          <a:ln w="15875">
            <a:solidFill>
              <a:srgbClr val="D49A00"/>
            </a:solidFill>
            <a:prstDash val="solid"/>
          </a:ln>
        </p:spPr>
      </p:sp>
      <p:sp>
        <p:nvSpPr>
          <p:cNvPr id="46" name="Shape 40"/>
          <p:cNvSpPr/>
          <p:nvPr/>
        </p:nvSpPr>
        <p:spPr>
          <a:xfrm>
            <a:off x="4617720" y="3712464"/>
            <a:ext cx="384048" cy="384048"/>
          </a:xfrm>
          <a:prstGeom prst="ellipse">
            <a:avLst/>
          </a:prstGeom>
          <a:solidFill>
            <a:srgbClr val="D49A00">
              <a:alpha val="22000"/>
            </a:srgbClr>
          </a:solidFill>
          <a:ln/>
        </p:spPr>
      </p:sp>
      <p:pic>
        <p:nvPicPr>
          <p:cNvPr id="47" name="Image 3" descr="preencoded.png"/>
          <p:cNvPicPr>
            <a:picLocks noChangeAspect="1"/>
          </p:cNvPicPr>
          <p:nvPr/>
        </p:nvPicPr>
        <p:blipFill>
          <a:blip r:embed="rId6"/>
          <a:stretch>
            <a:fillRect/>
          </a:stretch>
        </p:blipFill>
        <p:spPr>
          <a:xfrm>
            <a:off x="4713732" y="3808476"/>
            <a:ext cx="192024" cy="192024"/>
          </a:xfrm>
          <a:prstGeom prst="rect">
            <a:avLst/>
          </a:prstGeom>
        </p:spPr>
      </p:pic>
      <p:sp>
        <p:nvSpPr>
          <p:cNvPr id="48" name="Text 41"/>
          <p:cNvSpPr txBox="1"/>
          <p:nvPr/>
        </p:nvSpPr>
        <p:spPr>
          <a:xfrm>
            <a:off x="5120640" y="3685032"/>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Doit répondre vite à des requêtes interactives</a:t>
            </a:r>
            <a:endParaRPr lang="en-US" sz="1100" dirty="0"/>
          </a:p>
        </p:txBody>
      </p:sp>
      <p:sp>
        <p:nvSpPr>
          <p:cNvPr id="49" name="Text 42"/>
          <p:cNvSpPr txBox="1"/>
          <p:nvPr/>
        </p:nvSpPr>
        <p:spPr>
          <a:xfrm>
            <a:off x="5120640" y="3922776"/>
            <a:ext cx="342900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Moteur de recherche : Elasticsearch</a:t>
            </a:r>
            <a:endParaRPr lang="en-US" sz="900" dirty="0"/>
          </a:p>
        </p:txBody>
      </p:sp>
      <p:sp>
        <p:nvSpPr>
          <p:cNvPr id="50" name="Text 43"/>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 Ookla Open Data (GitHub) ; WorldPop ; NASA Black Marble ; W. McKinney, « Apache Arrow and the 10 things I hate about pandas » (2017).</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FEUILLE DE ROUTE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Les six briques de toute plateforme de données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25880"/>
            <a:ext cx="1719072" cy="1691640"/>
          </a:xfrm>
          <a:prstGeom prst="roundRect">
            <a:avLst>
              <a:gd name="adj" fmla="val 4324"/>
            </a:avLst>
          </a:prstGeom>
          <a:solidFill>
            <a:srgbClr val="FFFFFF"/>
          </a:solidFill>
          <a:ln w="19050">
            <a:solidFill>
              <a:srgbClr val="00A86A"/>
            </a:solidFill>
            <a:prstDash val="solid"/>
          </a:ln>
        </p:spPr>
      </p:sp>
      <p:sp>
        <p:nvSpPr>
          <p:cNvPr id="18" name="Shape 15"/>
          <p:cNvSpPr/>
          <p:nvPr/>
        </p:nvSpPr>
        <p:spPr>
          <a:xfrm>
            <a:off x="1042416" y="1463040"/>
            <a:ext cx="548640" cy="54864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1179576" y="1600200"/>
            <a:ext cx="274320" cy="274320"/>
          </a:xfrm>
          <a:prstGeom prst="rect">
            <a:avLst/>
          </a:prstGeom>
        </p:spPr>
      </p:pic>
      <p:sp>
        <p:nvSpPr>
          <p:cNvPr id="20" name="Text 16"/>
          <p:cNvSpPr txBox="1"/>
          <p:nvPr/>
        </p:nvSpPr>
        <p:spPr>
          <a:xfrm>
            <a:off x="566928" y="1417320"/>
            <a:ext cx="365760" cy="228600"/>
          </a:xfrm>
          <a:prstGeom prst="rect">
            <a:avLst/>
          </a:prstGeom>
          <a:noFill/>
          <a:ln/>
        </p:spPr>
        <p:txBody>
          <a:bodyPr wrap="square" lIns="0" tIns="0" rIns="0" bIns="0" rtlCol="0" anchor="t"/>
          <a:lstStyle/>
          <a:p>
            <a:pPr marL="0" indent="0">
              <a:buNone/>
            </a:pPr>
            <a:r>
              <a:rPr lang="en-US" sz="1100" b="1" dirty="0">
                <a:solidFill>
                  <a:srgbClr val="00A86A"/>
                </a:solidFill>
                <a:latin typeface="Calibri" pitchFamily="34" charset="0"/>
                <a:ea typeface="Calibri" pitchFamily="34" charset="-122"/>
                <a:cs typeface="Calibri" pitchFamily="34" charset="-120"/>
              </a:rPr>
              <a:t>01</a:t>
            </a:r>
            <a:endParaRPr lang="en-US" sz="1100" dirty="0"/>
          </a:p>
        </p:txBody>
      </p:sp>
      <p:sp>
        <p:nvSpPr>
          <p:cNvPr id="21" name="Text 17"/>
          <p:cNvSpPr txBox="1"/>
          <p:nvPr/>
        </p:nvSpPr>
        <p:spPr>
          <a:xfrm>
            <a:off x="548640" y="2103120"/>
            <a:ext cx="1536192" cy="365760"/>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Ingestion</a:t>
            </a:r>
            <a:endParaRPr lang="en-US" sz="1250" dirty="0"/>
          </a:p>
        </p:txBody>
      </p:sp>
      <p:sp>
        <p:nvSpPr>
          <p:cNvPr id="22" name="Text 18"/>
          <p:cNvSpPr txBox="1"/>
          <p:nvPr/>
        </p:nvSpPr>
        <p:spPr>
          <a:xfrm>
            <a:off x="566928" y="2487168"/>
            <a:ext cx="1499616" cy="475488"/>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Faire entrer les données, intactes et documentées</a:t>
            </a:r>
            <a:endParaRPr lang="en-US" sz="950" dirty="0"/>
          </a:p>
        </p:txBody>
      </p:sp>
      <p:sp>
        <p:nvSpPr>
          <p:cNvPr id="23" name="Shape 19"/>
          <p:cNvSpPr/>
          <p:nvPr/>
        </p:nvSpPr>
        <p:spPr>
          <a:xfrm>
            <a:off x="2221992" y="2167128"/>
            <a:ext cx="237744" cy="91"/>
          </a:xfrm>
          <a:prstGeom prst="line">
            <a:avLst/>
          </a:prstGeom>
          <a:noFill/>
          <a:ln w="15875">
            <a:solidFill>
              <a:srgbClr val="5E6964"/>
            </a:solidFill>
            <a:prstDash val="solid"/>
            <a:tailEnd type="triangle"/>
          </a:ln>
        </p:spPr>
      </p:sp>
      <p:sp>
        <p:nvSpPr>
          <p:cNvPr id="24" name="Shape 20"/>
          <p:cNvSpPr/>
          <p:nvPr/>
        </p:nvSpPr>
        <p:spPr>
          <a:xfrm>
            <a:off x="2505456" y="1325880"/>
            <a:ext cx="1719072" cy="1691640"/>
          </a:xfrm>
          <a:prstGeom prst="roundRect">
            <a:avLst>
              <a:gd name="adj" fmla="val 4324"/>
            </a:avLst>
          </a:prstGeom>
          <a:solidFill>
            <a:srgbClr val="FFFFFF"/>
          </a:solidFill>
          <a:ln w="19050">
            <a:solidFill>
              <a:srgbClr val="00704A"/>
            </a:solidFill>
            <a:prstDash val="solid"/>
          </a:ln>
        </p:spPr>
      </p:sp>
      <p:sp>
        <p:nvSpPr>
          <p:cNvPr id="25" name="Shape 21"/>
          <p:cNvSpPr/>
          <p:nvPr/>
        </p:nvSpPr>
        <p:spPr>
          <a:xfrm>
            <a:off x="3090672" y="1463040"/>
            <a:ext cx="548640" cy="548640"/>
          </a:xfrm>
          <a:prstGeom prst="ellipse">
            <a:avLst/>
          </a:prstGeom>
          <a:solidFill>
            <a:srgbClr val="00704A">
              <a:alpha val="22000"/>
            </a:srgbClr>
          </a:solidFill>
          <a:ln/>
        </p:spPr>
      </p:sp>
      <p:pic>
        <p:nvPicPr>
          <p:cNvPr id="26" name="Image 1" descr="preencoded.png"/>
          <p:cNvPicPr>
            <a:picLocks noChangeAspect="1"/>
          </p:cNvPicPr>
          <p:nvPr/>
        </p:nvPicPr>
        <p:blipFill>
          <a:blip r:embed="rId4"/>
          <a:stretch>
            <a:fillRect/>
          </a:stretch>
        </p:blipFill>
        <p:spPr>
          <a:xfrm>
            <a:off x="3227832" y="1600200"/>
            <a:ext cx="274320" cy="274320"/>
          </a:xfrm>
          <a:prstGeom prst="rect">
            <a:avLst/>
          </a:prstGeom>
        </p:spPr>
      </p:pic>
      <p:sp>
        <p:nvSpPr>
          <p:cNvPr id="27" name="Text 22"/>
          <p:cNvSpPr txBox="1"/>
          <p:nvPr/>
        </p:nvSpPr>
        <p:spPr>
          <a:xfrm>
            <a:off x="2615184" y="1417320"/>
            <a:ext cx="365760" cy="22860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02</a:t>
            </a:r>
            <a:endParaRPr lang="en-US" sz="1100" dirty="0"/>
          </a:p>
        </p:txBody>
      </p:sp>
      <p:sp>
        <p:nvSpPr>
          <p:cNvPr id="28" name="Text 23"/>
          <p:cNvSpPr txBox="1"/>
          <p:nvPr/>
        </p:nvSpPr>
        <p:spPr>
          <a:xfrm>
            <a:off x="2596896" y="2103120"/>
            <a:ext cx="1536192" cy="365760"/>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Stockage</a:t>
            </a:r>
            <a:endParaRPr lang="en-US" sz="1250" dirty="0"/>
          </a:p>
        </p:txBody>
      </p:sp>
      <p:sp>
        <p:nvSpPr>
          <p:cNvPr id="29" name="Text 24"/>
          <p:cNvSpPr txBox="1"/>
          <p:nvPr/>
        </p:nvSpPr>
        <p:spPr>
          <a:xfrm>
            <a:off x="2615184" y="2487168"/>
            <a:ext cx="1499616" cy="475488"/>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Les conserver à bas coût, en sécurité, lisibles vite</a:t>
            </a:r>
            <a:endParaRPr lang="en-US" sz="950" dirty="0"/>
          </a:p>
        </p:txBody>
      </p:sp>
      <p:sp>
        <p:nvSpPr>
          <p:cNvPr id="30" name="Shape 25"/>
          <p:cNvSpPr/>
          <p:nvPr/>
        </p:nvSpPr>
        <p:spPr>
          <a:xfrm>
            <a:off x="4270248" y="2167128"/>
            <a:ext cx="237744" cy="91"/>
          </a:xfrm>
          <a:prstGeom prst="line">
            <a:avLst/>
          </a:prstGeom>
          <a:noFill/>
          <a:ln w="15875">
            <a:solidFill>
              <a:srgbClr val="5E6964"/>
            </a:solidFill>
            <a:prstDash val="solid"/>
            <a:tailEnd type="triangle"/>
          </a:ln>
        </p:spPr>
      </p:sp>
      <p:sp>
        <p:nvSpPr>
          <p:cNvPr id="31" name="Shape 26"/>
          <p:cNvSpPr/>
          <p:nvPr/>
        </p:nvSpPr>
        <p:spPr>
          <a:xfrm>
            <a:off x="4553712" y="1325880"/>
            <a:ext cx="1719072" cy="1691640"/>
          </a:xfrm>
          <a:prstGeom prst="roundRect">
            <a:avLst>
              <a:gd name="adj" fmla="val 4324"/>
            </a:avLst>
          </a:prstGeom>
          <a:solidFill>
            <a:srgbClr val="FFFFFF"/>
          </a:solidFill>
          <a:ln w="19050">
            <a:solidFill>
              <a:srgbClr val="0E7C86"/>
            </a:solidFill>
            <a:prstDash val="solid"/>
          </a:ln>
        </p:spPr>
      </p:sp>
      <p:sp>
        <p:nvSpPr>
          <p:cNvPr id="32" name="Shape 27"/>
          <p:cNvSpPr/>
          <p:nvPr/>
        </p:nvSpPr>
        <p:spPr>
          <a:xfrm>
            <a:off x="5138928" y="1463040"/>
            <a:ext cx="548640" cy="548640"/>
          </a:xfrm>
          <a:prstGeom prst="ellipse">
            <a:avLst/>
          </a:prstGeom>
          <a:solidFill>
            <a:srgbClr val="0E7C86">
              <a:alpha val="22000"/>
            </a:srgbClr>
          </a:solidFill>
          <a:ln/>
        </p:spPr>
      </p:sp>
      <p:pic>
        <p:nvPicPr>
          <p:cNvPr id="33" name="Image 2" descr="preencoded.png"/>
          <p:cNvPicPr>
            <a:picLocks noChangeAspect="1"/>
          </p:cNvPicPr>
          <p:nvPr/>
        </p:nvPicPr>
        <p:blipFill>
          <a:blip r:embed="rId5"/>
          <a:stretch>
            <a:fillRect/>
          </a:stretch>
        </p:blipFill>
        <p:spPr>
          <a:xfrm>
            <a:off x="5276088" y="1600200"/>
            <a:ext cx="274320" cy="274320"/>
          </a:xfrm>
          <a:prstGeom prst="rect">
            <a:avLst/>
          </a:prstGeom>
        </p:spPr>
      </p:pic>
      <p:sp>
        <p:nvSpPr>
          <p:cNvPr id="34" name="Text 28"/>
          <p:cNvSpPr txBox="1"/>
          <p:nvPr/>
        </p:nvSpPr>
        <p:spPr>
          <a:xfrm>
            <a:off x="4663440" y="1417320"/>
            <a:ext cx="365760" cy="228600"/>
          </a:xfrm>
          <a:prstGeom prst="rect">
            <a:avLst/>
          </a:prstGeom>
          <a:noFill/>
          <a:ln/>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03</a:t>
            </a:r>
            <a:endParaRPr lang="en-US" sz="1100" dirty="0"/>
          </a:p>
        </p:txBody>
      </p:sp>
      <p:sp>
        <p:nvSpPr>
          <p:cNvPr id="35" name="Text 29"/>
          <p:cNvSpPr txBox="1"/>
          <p:nvPr/>
        </p:nvSpPr>
        <p:spPr>
          <a:xfrm>
            <a:off x="4645152" y="2103120"/>
            <a:ext cx="1536192" cy="365760"/>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Traitement distribué</a:t>
            </a:r>
            <a:endParaRPr lang="en-US" sz="1250" dirty="0"/>
          </a:p>
        </p:txBody>
      </p:sp>
      <p:sp>
        <p:nvSpPr>
          <p:cNvPr id="36" name="Text 30"/>
          <p:cNvSpPr txBox="1"/>
          <p:nvPr/>
        </p:nvSpPr>
        <p:spPr>
          <a:xfrm>
            <a:off x="4663440" y="2487168"/>
            <a:ext cx="1499616" cy="475488"/>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Nettoyer, apparier et calculer en parallèle</a:t>
            </a:r>
            <a:endParaRPr lang="en-US" sz="950" dirty="0"/>
          </a:p>
        </p:txBody>
      </p:sp>
      <p:sp>
        <p:nvSpPr>
          <p:cNvPr id="37" name="Shape 31"/>
          <p:cNvSpPr/>
          <p:nvPr/>
        </p:nvSpPr>
        <p:spPr>
          <a:xfrm>
            <a:off x="6318504" y="2167128"/>
            <a:ext cx="237744" cy="91"/>
          </a:xfrm>
          <a:prstGeom prst="line">
            <a:avLst/>
          </a:prstGeom>
          <a:noFill/>
          <a:ln w="15875">
            <a:solidFill>
              <a:srgbClr val="5E6964"/>
            </a:solidFill>
            <a:prstDash val="solid"/>
            <a:tailEnd type="triangle"/>
          </a:ln>
        </p:spPr>
      </p:sp>
      <p:sp>
        <p:nvSpPr>
          <p:cNvPr id="38" name="Shape 32"/>
          <p:cNvSpPr/>
          <p:nvPr/>
        </p:nvSpPr>
        <p:spPr>
          <a:xfrm>
            <a:off x="6601968" y="1325880"/>
            <a:ext cx="1719072" cy="1691640"/>
          </a:xfrm>
          <a:prstGeom prst="roundRect">
            <a:avLst>
              <a:gd name="adj" fmla="val 4324"/>
            </a:avLst>
          </a:prstGeom>
          <a:solidFill>
            <a:srgbClr val="FFFFFF"/>
          </a:solidFill>
          <a:ln w="19050">
            <a:solidFill>
              <a:srgbClr val="D49A00"/>
            </a:solidFill>
            <a:prstDash val="solid"/>
          </a:ln>
        </p:spPr>
      </p:sp>
      <p:sp>
        <p:nvSpPr>
          <p:cNvPr id="39" name="Shape 33"/>
          <p:cNvSpPr/>
          <p:nvPr/>
        </p:nvSpPr>
        <p:spPr>
          <a:xfrm>
            <a:off x="7187184" y="1463040"/>
            <a:ext cx="548640" cy="548640"/>
          </a:xfrm>
          <a:prstGeom prst="ellipse">
            <a:avLst/>
          </a:prstGeom>
          <a:solidFill>
            <a:srgbClr val="D49A00">
              <a:alpha val="22000"/>
            </a:srgbClr>
          </a:solidFill>
          <a:ln/>
        </p:spPr>
      </p:sp>
      <p:pic>
        <p:nvPicPr>
          <p:cNvPr id="40" name="Image 3" descr="preencoded.png"/>
          <p:cNvPicPr>
            <a:picLocks noChangeAspect="1"/>
          </p:cNvPicPr>
          <p:nvPr/>
        </p:nvPicPr>
        <p:blipFill>
          <a:blip r:embed="rId6"/>
          <a:stretch>
            <a:fillRect/>
          </a:stretch>
        </p:blipFill>
        <p:spPr>
          <a:xfrm>
            <a:off x="7324344" y="1600200"/>
            <a:ext cx="274320" cy="274320"/>
          </a:xfrm>
          <a:prstGeom prst="rect">
            <a:avLst/>
          </a:prstGeom>
        </p:spPr>
      </p:pic>
      <p:sp>
        <p:nvSpPr>
          <p:cNvPr id="41" name="Text 34"/>
          <p:cNvSpPr txBox="1"/>
          <p:nvPr/>
        </p:nvSpPr>
        <p:spPr>
          <a:xfrm>
            <a:off x="6711696" y="1417320"/>
            <a:ext cx="365760" cy="228600"/>
          </a:xfrm>
          <a:prstGeom prst="rect">
            <a:avLst/>
          </a:prstGeom>
          <a:noFill/>
          <a:ln/>
        </p:spPr>
        <p:txBody>
          <a:bodyPr wrap="square" lIns="0" tIns="0" rIns="0" bIns="0" rtlCol="0" anchor="t"/>
          <a:lstStyle/>
          <a:p>
            <a:pPr marL="0" indent="0">
              <a:buNone/>
            </a:pPr>
            <a:r>
              <a:rPr lang="en-US" sz="1100" b="1" dirty="0">
                <a:solidFill>
                  <a:srgbClr val="D49A00"/>
                </a:solidFill>
                <a:latin typeface="Calibri" pitchFamily="34" charset="0"/>
                <a:ea typeface="Calibri" pitchFamily="34" charset="-122"/>
                <a:cs typeface="Calibri" pitchFamily="34" charset="-120"/>
              </a:rPr>
              <a:t>04</a:t>
            </a:r>
            <a:endParaRPr lang="en-US" sz="1100" dirty="0"/>
          </a:p>
        </p:txBody>
      </p:sp>
      <p:sp>
        <p:nvSpPr>
          <p:cNvPr id="42" name="Text 35"/>
          <p:cNvSpPr txBox="1"/>
          <p:nvPr/>
        </p:nvSpPr>
        <p:spPr>
          <a:xfrm>
            <a:off x="6693408" y="2103120"/>
            <a:ext cx="1536192" cy="365760"/>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Indexation et recherche</a:t>
            </a:r>
            <a:endParaRPr lang="en-US" sz="1250" dirty="0"/>
          </a:p>
        </p:txBody>
      </p:sp>
      <p:sp>
        <p:nvSpPr>
          <p:cNvPr id="43" name="Text 36"/>
          <p:cNvSpPr txBox="1"/>
          <p:nvPr/>
        </p:nvSpPr>
        <p:spPr>
          <a:xfrm>
            <a:off x="6711696" y="2487168"/>
            <a:ext cx="1499616" cy="475488"/>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Retrouver et interroger en millisecondes</a:t>
            </a:r>
            <a:endParaRPr lang="en-US" sz="950" dirty="0"/>
          </a:p>
        </p:txBody>
      </p:sp>
      <p:sp>
        <p:nvSpPr>
          <p:cNvPr id="44" name="Shape 37"/>
          <p:cNvSpPr/>
          <p:nvPr/>
        </p:nvSpPr>
        <p:spPr>
          <a:xfrm>
            <a:off x="457200" y="3246120"/>
            <a:ext cx="8229600" cy="548640"/>
          </a:xfrm>
          <a:prstGeom prst="roundRect">
            <a:avLst>
              <a:gd name="adj" fmla="val 13333"/>
            </a:avLst>
          </a:prstGeom>
          <a:solidFill>
            <a:srgbClr val="C4621D">
              <a:alpha val="10000"/>
            </a:srgbClr>
          </a:solidFill>
          <a:ln w="12700">
            <a:solidFill>
              <a:srgbClr val="C4621D"/>
            </a:solidFill>
            <a:prstDash val="solid"/>
          </a:ln>
        </p:spPr>
      </p:sp>
      <p:sp>
        <p:nvSpPr>
          <p:cNvPr id="45" name="Shape 38"/>
          <p:cNvSpPr/>
          <p:nvPr/>
        </p:nvSpPr>
        <p:spPr>
          <a:xfrm>
            <a:off x="566928" y="3328416"/>
            <a:ext cx="384048" cy="384048"/>
          </a:xfrm>
          <a:prstGeom prst="ellipse">
            <a:avLst/>
          </a:prstGeom>
          <a:solidFill>
            <a:srgbClr val="C4621D">
              <a:alpha val="22000"/>
            </a:srgbClr>
          </a:solidFill>
          <a:ln/>
        </p:spPr>
      </p:sp>
      <p:pic>
        <p:nvPicPr>
          <p:cNvPr id="46" name="Image 4" descr="preencoded.png"/>
          <p:cNvPicPr>
            <a:picLocks noChangeAspect="1"/>
          </p:cNvPicPr>
          <p:nvPr/>
        </p:nvPicPr>
        <p:blipFill>
          <a:blip r:embed="rId7"/>
          <a:stretch>
            <a:fillRect/>
          </a:stretch>
        </p:blipFill>
        <p:spPr>
          <a:xfrm>
            <a:off x="662940" y="3424428"/>
            <a:ext cx="192024" cy="192024"/>
          </a:xfrm>
          <a:prstGeom prst="rect">
            <a:avLst/>
          </a:prstGeom>
        </p:spPr>
      </p:pic>
      <p:sp>
        <p:nvSpPr>
          <p:cNvPr id="47" name="Text 39"/>
          <p:cNvSpPr txBox="1"/>
          <p:nvPr/>
        </p:nvSpPr>
        <p:spPr>
          <a:xfrm>
            <a:off x="1097280" y="3246120"/>
            <a:ext cx="2651760" cy="548640"/>
          </a:xfrm>
          <a:prstGeom prst="rect">
            <a:avLst/>
          </a:prstGeom>
          <a:noFill/>
          <a:ln/>
        </p:spPr>
        <p:txBody>
          <a:bodyPr wrap="square" lIns="0" tIns="0" rIns="0" bIns="0" rtlCol="0" anchor="ctr"/>
          <a:lstStyle/>
          <a:p>
            <a:pPr marL="0" indent="0">
              <a:buNone/>
            </a:pPr>
            <a:r>
              <a:rPr lang="en-US" sz="1250" b="1" dirty="0">
                <a:solidFill>
                  <a:srgbClr val="C4621D"/>
                </a:solidFill>
                <a:latin typeface="Calibri" pitchFamily="34" charset="0"/>
                <a:ea typeface="Calibri" pitchFamily="34" charset="-122"/>
                <a:cs typeface="Calibri" pitchFamily="34" charset="-120"/>
              </a:rPr>
              <a:t>05  Orchestration</a:t>
            </a:r>
            <a:endParaRPr lang="en-US" sz="1250" dirty="0"/>
          </a:p>
        </p:txBody>
      </p:sp>
      <p:sp>
        <p:nvSpPr>
          <p:cNvPr id="48" name="Text 40"/>
          <p:cNvSpPr txBox="1"/>
          <p:nvPr/>
        </p:nvSpPr>
        <p:spPr>
          <a:xfrm>
            <a:off x="3749040" y="3246120"/>
            <a:ext cx="480060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Planifie chaque étape, gère les dépendances, relance les échecs, alerte</a:t>
            </a:r>
            <a:endParaRPr lang="en-US" sz="1050" dirty="0"/>
          </a:p>
        </p:txBody>
      </p:sp>
      <p:sp>
        <p:nvSpPr>
          <p:cNvPr id="49" name="Shape 41"/>
          <p:cNvSpPr/>
          <p:nvPr/>
        </p:nvSpPr>
        <p:spPr>
          <a:xfrm>
            <a:off x="457200" y="3904488"/>
            <a:ext cx="8229600" cy="548640"/>
          </a:xfrm>
          <a:prstGeom prst="roundRect">
            <a:avLst>
              <a:gd name="adj" fmla="val 13333"/>
            </a:avLst>
          </a:prstGeom>
          <a:solidFill>
            <a:srgbClr val="B83B2E">
              <a:alpha val="10000"/>
            </a:srgbClr>
          </a:solidFill>
          <a:ln w="12700">
            <a:solidFill>
              <a:srgbClr val="B83B2E"/>
            </a:solidFill>
            <a:prstDash val="solid"/>
          </a:ln>
        </p:spPr>
      </p:sp>
      <p:sp>
        <p:nvSpPr>
          <p:cNvPr id="50" name="Shape 42"/>
          <p:cNvSpPr/>
          <p:nvPr/>
        </p:nvSpPr>
        <p:spPr>
          <a:xfrm>
            <a:off x="566928" y="3986784"/>
            <a:ext cx="384048" cy="384048"/>
          </a:xfrm>
          <a:prstGeom prst="ellipse">
            <a:avLst/>
          </a:prstGeom>
          <a:solidFill>
            <a:srgbClr val="B83B2E">
              <a:alpha val="22000"/>
            </a:srgbClr>
          </a:solidFill>
          <a:ln/>
        </p:spPr>
      </p:sp>
      <p:pic>
        <p:nvPicPr>
          <p:cNvPr id="51" name="Image 5" descr="preencoded.png"/>
          <p:cNvPicPr>
            <a:picLocks noChangeAspect="1"/>
          </p:cNvPicPr>
          <p:nvPr/>
        </p:nvPicPr>
        <p:blipFill>
          <a:blip r:embed="rId8"/>
          <a:stretch>
            <a:fillRect/>
          </a:stretch>
        </p:blipFill>
        <p:spPr>
          <a:xfrm>
            <a:off x="662940" y="4082796"/>
            <a:ext cx="192024" cy="192024"/>
          </a:xfrm>
          <a:prstGeom prst="rect">
            <a:avLst/>
          </a:prstGeom>
        </p:spPr>
      </p:pic>
      <p:sp>
        <p:nvSpPr>
          <p:cNvPr id="52" name="Text 43"/>
          <p:cNvSpPr txBox="1"/>
          <p:nvPr/>
        </p:nvSpPr>
        <p:spPr>
          <a:xfrm>
            <a:off x="1097280" y="3904488"/>
            <a:ext cx="2651760" cy="548640"/>
          </a:xfrm>
          <a:prstGeom prst="rect">
            <a:avLst/>
          </a:prstGeom>
          <a:noFill/>
          <a:ln/>
        </p:spPr>
        <p:txBody>
          <a:bodyPr wrap="square" lIns="0" tIns="0" rIns="0" bIns="0" rtlCol="0" anchor="ctr"/>
          <a:lstStyle/>
          <a:p>
            <a:pPr marL="0" indent="0">
              <a:buNone/>
            </a:pPr>
            <a:r>
              <a:rPr lang="en-US" sz="1250" b="1" dirty="0">
                <a:solidFill>
                  <a:srgbClr val="B83B2E"/>
                </a:solidFill>
                <a:latin typeface="Calibri" pitchFamily="34" charset="0"/>
                <a:ea typeface="Calibri" pitchFamily="34" charset="-122"/>
                <a:cs typeface="Calibri" pitchFamily="34" charset="-120"/>
              </a:rPr>
              <a:t>06  Métadonnées et versionnage</a:t>
            </a:r>
            <a:endParaRPr lang="en-US" sz="1250" dirty="0"/>
          </a:p>
        </p:txBody>
      </p:sp>
      <p:sp>
        <p:nvSpPr>
          <p:cNvPr id="53" name="Text 44"/>
          <p:cNvSpPr txBox="1"/>
          <p:nvPr/>
        </p:nvSpPr>
        <p:spPr>
          <a:xfrm>
            <a:off x="3749040" y="3904488"/>
            <a:ext cx="480060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Décrit chaque jeu de données, trace chaque chiffre, versionne code, données et environnement</a:t>
            </a:r>
            <a:endParaRPr lang="en-US" sz="1050" dirty="0"/>
          </a:p>
        </p:txBody>
      </p:sp>
      <p:sp>
        <p:nvSpPr>
          <p:cNvPr id="54" name="Text 45"/>
          <p:cNvSpPr txBox="1"/>
          <p:nvPr/>
        </p:nvSpPr>
        <p:spPr>
          <a:xfrm>
            <a:off x="457200" y="4590288"/>
            <a:ext cx="548640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Transversales : elles couvrent les quatre briques ci-dessus</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68412" y="315468"/>
            <a:ext cx="118872" cy="118872"/>
          </a:xfrm>
          <a:prstGeom prst="ellipse">
            <a:avLst/>
          </a:prstGeom>
          <a:solidFill>
            <a:srgbClr val="F5C242"/>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01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Ingestion</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Comment les données entrent-elles dans le système — et restent-elles fiables dès le premier octet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INGESTION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Cinq façons de faire entrer les données</a:t>
            </a:r>
            <a:endParaRPr lang="en-US" sz="2600" dirty="0"/>
          </a:p>
        </p:txBody>
      </p:sp>
      <p:sp>
        <p:nvSpPr>
          <p:cNvPr id="8" name="Shape 6"/>
          <p:cNvSpPr/>
          <p:nvPr/>
        </p:nvSpPr>
        <p:spPr>
          <a:xfrm>
            <a:off x="7868412" y="315468"/>
            <a:ext cx="118872" cy="118872"/>
          </a:xfrm>
          <a:prstGeom prst="ellipse">
            <a:avLst/>
          </a:prstGeom>
          <a:solidFill>
            <a:srgbClr val="00A86A"/>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280160"/>
            <a:ext cx="1536192" cy="3200400"/>
          </a:xfrm>
          <a:prstGeom prst="roundRect">
            <a:avLst>
              <a:gd name="adj" fmla="val 4762"/>
            </a:avLst>
          </a:prstGeom>
          <a:solidFill>
            <a:srgbClr val="E8F5EF"/>
          </a:solidFill>
          <a:ln w="15875">
            <a:solidFill>
              <a:srgbClr val="00A86A"/>
            </a:solidFill>
            <a:prstDash val="solid"/>
          </a:ln>
        </p:spPr>
      </p:sp>
      <p:sp>
        <p:nvSpPr>
          <p:cNvPr id="18" name="Shape 15"/>
          <p:cNvSpPr/>
          <p:nvPr/>
        </p:nvSpPr>
        <p:spPr>
          <a:xfrm>
            <a:off x="594360" y="1417320"/>
            <a:ext cx="502920" cy="50292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20090" y="1543050"/>
            <a:ext cx="251460" cy="251460"/>
          </a:xfrm>
          <a:prstGeom prst="rect">
            <a:avLst/>
          </a:prstGeom>
        </p:spPr>
      </p:pic>
      <p:sp>
        <p:nvSpPr>
          <p:cNvPr id="20" name="Text 16"/>
          <p:cNvSpPr txBox="1"/>
          <p:nvPr/>
        </p:nvSpPr>
        <p:spPr>
          <a:xfrm>
            <a:off x="594360" y="2011680"/>
            <a:ext cx="1261872"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Transfert par lots</a:t>
            </a:r>
            <a:endParaRPr lang="en-US" sz="1200" dirty="0"/>
          </a:p>
        </p:txBody>
      </p:sp>
      <p:sp>
        <p:nvSpPr>
          <p:cNvPr id="21" name="Text 17"/>
          <p:cNvSpPr txBox="1"/>
          <p:nvPr/>
        </p:nvSpPr>
        <p:spPr>
          <a:xfrm>
            <a:off x="594360" y="2450592"/>
            <a:ext cx="1261872"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Fichiers complets selon un calendrier</a:t>
            </a:r>
            <a:endParaRPr lang="en-US" sz="950" dirty="0"/>
          </a:p>
        </p:txBody>
      </p:sp>
      <p:sp>
        <p:nvSpPr>
          <p:cNvPr id="22" name="Text 18"/>
          <p:cNvSpPr txBox="1"/>
          <p:nvPr/>
        </p:nvSpPr>
        <p:spPr>
          <a:xfrm>
            <a:off x="594360"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EXEMPLE</a:t>
            </a:r>
            <a:endParaRPr lang="en-US" sz="800" dirty="0"/>
          </a:p>
        </p:txBody>
      </p:sp>
      <p:sp>
        <p:nvSpPr>
          <p:cNvPr id="23" name="Text 19"/>
          <p:cNvSpPr txBox="1"/>
          <p:nvPr/>
        </p:nvSpPr>
        <p:spPr>
          <a:xfrm>
            <a:off x="594360" y="3218688"/>
            <a:ext cx="1261872" cy="7772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Tuiles Ookla : Parquet trimestriel depuis un bucket S3 public</a:t>
            </a:r>
            <a:endParaRPr lang="en-US" sz="950" dirty="0"/>
          </a:p>
        </p:txBody>
      </p:sp>
      <p:sp>
        <p:nvSpPr>
          <p:cNvPr id="24" name="Shape 20"/>
          <p:cNvSpPr/>
          <p:nvPr/>
        </p:nvSpPr>
        <p:spPr>
          <a:xfrm>
            <a:off x="594360"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25" name="Text 21"/>
          <p:cNvSpPr txBox="1"/>
          <p:nvPr/>
        </p:nvSpPr>
        <p:spPr>
          <a:xfrm>
            <a:off x="594360"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Heures–jours</a:t>
            </a:r>
            <a:endParaRPr lang="en-US" sz="900" dirty="0"/>
          </a:p>
        </p:txBody>
      </p:sp>
      <p:sp>
        <p:nvSpPr>
          <p:cNvPr id="26" name="Shape 22"/>
          <p:cNvSpPr/>
          <p:nvPr/>
        </p:nvSpPr>
        <p:spPr>
          <a:xfrm>
            <a:off x="2130552" y="1280160"/>
            <a:ext cx="1536192" cy="3200400"/>
          </a:xfrm>
          <a:prstGeom prst="roundRect">
            <a:avLst>
              <a:gd name="adj" fmla="val 4762"/>
            </a:avLst>
          </a:prstGeom>
          <a:solidFill>
            <a:srgbClr val="F4F7F5"/>
          </a:solidFill>
          <a:ln w="9525">
            <a:solidFill>
              <a:srgbClr val="D5DED9"/>
            </a:solidFill>
            <a:prstDash val="solid"/>
          </a:ln>
        </p:spPr>
      </p:sp>
      <p:sp>
        <p:nvSpPr>
          <p:cNvPr id="27" name="Shape 23"/>
          <p:cNvSpPr/>
          <p:nvPr/>
        </p:nvSpPr>
        <p:spPr>
          <a:xfrm>
            <a:off x="2267712" y="1417320"/>
            <a:ext cx="502920" cy="502920"/>
          </a:xfrm>
          <a:prstGeom prst="ellipse">
            <a:avLst/>
          </a:prstGeom>
          <a:solidFill>
            <a:srgbClr val="00A86A">
              <a:alpha val="22000"/>
            </a:srgbClr>
          </a:solidFill>
          <a:ln/>
        </p:spPr>
      </p:sp>
      <p:pic>
        <p:nvPicPr>
          <p:cNvPr id="28" name="Image 1" descr="preencoded.png"/>
          <p:cNvPicPr>
            <a:picLocks noChangeAspect="1"/>
          </p:cNvPicPr>
          <p:nvPr/>
        </p:nvPicPr>
        <p:blipFill>
          <a:blip r:embed="rId4"/>
          <a:stretch>
            <a:fillRect/>
          </a:stretch>
        </p:blipFill>
        <p:spPr>
          <a:xfrm>
            <a:off x="2393442" y="1543050"/>
            <a:ext cx="251460" cy="251460"/>
          </a:xfrm>
          <a:prstGeom prst="rect">
            <a:avLst/>
          </a:prstGeom>
        </p:spPr>
      </p:pic>
      <p:sp>
        <p:nvSpPr>
          <p:cNvPr id="29" name="Text 24"/>
          <p:cNvSpPr txBox="1"/>
          <p:nvPr/>
        </p:nvSpPr>
        <p:spPr>
          <a:xfrm>
            <a:off x="2267712" y="2011680"/>
            <a:ext cx="1261872"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Appel d’API</a:t>
            </a:r>
            <a:endParaRPr lang="en-US" sz="1200" dirty="0"/>
          </a:p>
        </p:txBody>
      </p:sp>
      <p:sp>
        <p:nvSpPr>
          <p:cNvPr id="30" name="Text 25"/>
          <p:cNvSpPr txBox="1"/>
          <p:nvPr/>
        </p:nvSpPr>
        <p:spPr>
          <a:xfrm>
            <a:off x="2267712" y="2450592"/>
            <a:ext cx="1261872"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Requêtes programmées vers un fournisseur</a:t>
            </a:r>
            <a:endParaRPr lang="en-US" sz="950" dirty="0"/>
          </a:p>
        </p:txBody>
      </p:sp>
      <p:sp>
        <p:nvSpPr>
          <p:cNvPr id="31" name="Text 26"/>
          <p:cNvSpPr txBox="1"/>
          <p:nvPr/>
        </p:nvSpPr>
        <p:spPr>
          <a:xfrm>
            <a:off x="2267712"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EXEMPLE</a:t>
            </a:r>
            <a:endParaRPr lang="en-US" sz="800" dirty="0"/>
          </a:p>
        </p:txBody>
      </p:sp>
      <p:sp>
        <p:nvSpPr>
          <p:cNvPr id="32" name="Text 27"/>
          <p:cNvSpPr txBox="1"/>
          <p:nvPr/>
        </p:nvSpPr>
        <p:spPr>
          <a:xfrm>
            <a:off x="2267712" y="3218688"/>
            <a:ext cx="1261872" cy="7772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Lumières nocturnes via NASA Earthdata ou Google Earth Engine</a:t>
            </a:r>
            <a:endParaRPr lang="en-US" sz="950" dirty="0"/>
          </a:p>
        </p:txBody>
      </p:sp>
      <p:sp>
        <p:nvSpPr>
          <p:cNvPr id="33" name="Shape 28"/>
          <p:cNvSpPr/>
          <p:nvPr/>
        </p:nvSpPr>
        <p:spPr>
          <a:xfrm>
            <a:off x="2267712"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34" name="Text 29"/>
          <p:cNvSpPr txBox="1"/>
          <p:nvPr/>
        </p:nvSpPr>
        <p:spPr>
          <a:xfrm>
            <a:off x="2267712"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Minutes–jours</a:t>
            </a:r>
            <a:endParaRPr lang="en-US" sz="900" dirty="0"/>
          </a:p>
        </p:txBody>
      </p:sp>
      <p:sp>
        <p:nvSpPr>
          <p:cNvPr id="35" name="Shape 30"/>
          <p:cNvSpPr/>
          <p:nvPr/>
        </p:nvSpPr>
        <p:spPr>
          <a:xfrm>
            <a:off x="3803904" y="1280160"/>
            <a:ext cx="1536192" cy="3200400"/>
          </a:xfrm>
          <a:prstGeom prst="roundRect">
            <a:avLst>
              <a:gd name="adj" fmla="val 4762"/>
            </a:avLst>
          </a:prstGeom>
          <a:solidFill>
            <a:srgbClr val="F4F7F5"/>
          </a:solidFill>
          <a:ln w="9525">
            <a:solidFill>
              <a:srgbClr val="D5DED9"/>
            </a:solidFill>
            <a:prstDash val="solid"/>
          </a:ln>
        </p:spPr>
      </p:sp>
      <p:sp>
        <p:nvSpPr>
          <p:cNvPr id="36" name="Shape 31"/>
          <p:cNvSpPr/>
          <p:nvPr/>
        </p:nvSpPr>
        <p:spPr>
          <a:xfrm>
            <a:off x="3941064" y="1417320"/>
            <a:ext cx="502920" cy="502920"/>
          </a:xfrm>
          <a:prstGeom prst="ellipse">
            <a:avLst/>
          </a:prstGeom>
          <a:solidFill>
            <a:srgbClr val="00A86A">
              <a:alpha val="22000"/>
            </a:srgbClr>
          </a:solidFill>
          <a:ln/>
        </p:spPr>
      </p:sp>
      <p:pic>
        <p:nvPicPr>
          <p:cNvPr id="37" name="Image 2" descr="preencoded.png"/>
          <p:cNvPicPr>
            <a:picLocks noChangeAspect="1"/>
          </p:cNvPicPr>
          <p:nvPr/>
        </p:nvPicPr>
        <p:blipFill>
          <a:blip r:embed="rId5"/>
          <a:stretch>
            <a:fillRect/>
          </a:stretch>
        </p:blipFill>
        <p:spPr>
          <a:xfrm>
            <a:off x="4066794" y="1543050"/>
            <a:ext cx="251460" cy="251460"/>
          </a:xfrm>
          <a:prstGeom prst="rect">
            <a:avLst/>
          </a:prstGeom>
        </p:spPr>
      </p:pic>
      <p:sp>
        <p:nvSpPr>
          <p:cNvPr id="38" name="Text 32"/>
          <p:cNvSpPr txBox="1"/>
          <p:nvPr/>
        </p:nvSpPr>
        <p:spPr>
          <a:xfrm>
            <a:off x="3941064" y="2011680"/>
            <a:ext cx="1261872"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Capture des changements</a:t>
            </a:r>
            <a:endParaRPr lang="en-US" sz="1200" dirty="0"/>
          </a:p>
        </p:txBody>
      </p:sp>
      <p:sp>
        <p:nvSpPr>
          <p:cNvPr id="39" name="Text 33"/>
          <p:cNvSpPr txBox="1"/>
          <p:nvPr/>
        </p:nvSpPr>
        <p:spPr>
          <a:xfrm>
            <a:off x="3941064" y="2450592"/>
            <a:ext cx="1261872"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Seules les lignes nouvelles ou modifiées sont copiées</a:t>
            </a:r>
            <a:endParaRPr lang="en-US" sz="950" dirty="0"/>
          </a:p>
        </p:txBody>
      </p:sp>
      <p:sp>
        <p:nvSpPr>
          <p:cNvPr id="40" name="Text 34"/>
          <p:cNvSpPr txBox="1"/>
          <p:nvPr/>
        </p:nvSpPr>
        <p:spPr>
          <a:xfrm>
            <a:off x="3941064"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EXEMPLE</a:t>
            </a:r>
            <a:endParaRPr lang="en-US" sz="800" dirty="0"/>
          </a:p>
        </p:txBody>
      </p:sp>
      <p:sp>
        <p:nvSpPr>
          <p:cNvPr id="41" name="Text 35"/>
          <p:cNvSpPr txBox="1"/>
          <p:nvPr/>
        </p:nvSpPr>
        <p:spPr>
          <a:xfrm>
            <a:off x="3941064" y="3218688"/>
            <a:ext cx="1261872" cy="7772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Registres fiscaux, d’entreprises et d’état civil</a:t>
            </a:r>
            <a:endParaRPr lang="en-US" sz="950" dirty="0"/>
          </a:p>
        </p:txBody>
      </p:sp>
      <p:sp>
        <p:nvSpPr>
          <p:cNvPr id="42" name="Shape 36"/>
          <p:cNvSpPr/>
          <p:nvPr/>
        </p:nvSpPr>
        <p:spPr>
          <a:xfrm>
            <a:off x="3941064"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43" name="Text 37"/>
          <p:cNvSpPr txBox="1"/>
          <p:nvPr/>
        </p:nvSpPr>
        <p:spPr>
          <a:xfrm>
            <a:off x="3941064"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Minutes</a:t>
            </a:r>
            <a:endParaRPr lang="en-US" sz="900" dirty="0"/>
          </a:p>
        </p:txBody>
      </p:sp>
      <p:sp>
        <p:nvSpPr>
          <p:cNvPr id="44" name="Shape 38"/>
          <p:cNvSpPr/>
          <p:nvPr/>
        </p:nvSpPr>
        <p:spPr>
          <a:xfrm>
            <a:off x="5477256" y="1280160"/>
            <a:ext cx="1536192" cy="3200400"/>
          </a:xfrm>
          <a:prstGeom prst="roundRect">
            <a:avLst>
              <a:gd name="adj" fmla="val 4762"/>
            </a:avLst>
          </a:prstGeom>
          <a:solidFill>
            <a:srgbClr val="F4F7F5"/>
          </a:solidFill>
          <a:ln w="9525">
            <a:solidFill>
              <a:srgbClr val="D5DED9"/>
            </a:solidFill>
            <a:prstDash val="solid"/>
          </a:ln>
        </p:spPr>
      </p:sp>
      <p:sp>
        <p:nvSpPr>
          <p:cNvPr id="45" name="Shape 39"/>
          <p:cNvSpPr/>
          <p:nvPr/>
        </p:nvSpPr>
        <p:spPr>
          <a:xfrm>
            <a:off x="5614416" y="1417320"/>
            <a:ext cx="502920" cy="502920"/>
          </a:xfrm>
          <a:prstGeom prst="ellipse">
            <a:avLst/>
          </a:prstGeom>
          <a:solidFill>
            <a:srgbClr val="00A86A">
              <a:alpha val="22000"/>
            </a:srgbClr>
          </a:solidFill>
          <a:ln/>
        </p:spPr>
      </p:sp>
      <p:pic>
        <p:nvPicPr>
          <p:cNvPr id="46" name="Image 3" descr="preencoded.png"/>
          <p:cNvPicPr>
            <a:picLocks noChangeAspect="1"/>
          </p:cNvPicPr>
          <p:nvPr/>
        </p:nvPicPr>
        <p:blipFill>
          <a:blip r:embed="rId6"/>
          <a:stretch>
            <a:fillRect/>
          </a:stretch>
        </p:blipFill>
        <p:spPr>
          <a:xfrm>
            <a:off x="5740146" y="1543050"/>
            <a:ext cx="251460" cy="251460"/>
          </a:xfrm>
          <a:prstGeom prst="rect">
            <a:avLst/>
          </a:prstGeom>
        </p:spPr>
      </p:pic>
      <p:sp>
        <p:nvSpPr>
          <p:cNvPr id="47" name="Text 40"/>
          <p:cNvSpPr txBox="1"/>
          <p:nvPr/>
        </p:nvSpPr>
        <p:spPr>
          <a:xfrm>
            <a:off x="5614416" y="2011680"/>
            <a:ext cx="1261872"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Streaming</a:t>
            </a:r>
            <a:endParaRPr lang="en-US" sz="1200" dirty="0"/>
          </a:p>
        </p:txBody>
      </p:sp>
      <p:sp>
        <p:nvSpPr>
          <p:cNvPr id="48" name="Text 41"/>
          <p:cNvSpPr txBox="1"/>
          <p:nvPr/>
        </p:nvSpPr>
        <p:spPr>
          <a:xfrm>
            <a:off x="5614416" y="2450592"/>
            <a:ext cx="1261872"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Événements en flux continu dans un journal (Kafka)</a:t>
            </a:r>
            <a:endParaRPr lang="en-US" sz="950" dirty="0"/>
          </a:p>
        </p:txBody>
      </p:sp>
      <p:sp>
        <p:nvSpPr>
          <p:cNvPr id="49" name="Text 42"/>
          <p:cNvSpPr txBox="1"/>
          <p:nvPr/>
        </p:nvSpPr>
        <p:spPr>
          <a:xfrm>
            <a:off x="5614416"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EXEMPLE</a:t>
            </a:r>
            <a:endParaRPr lang="en-US" sz="800" dirty="0"/>
          </a:p>
        </p:txBody>
      </p:sp>
      <p:sp>
        <p:nvSpPr>
          <p:cNvPr id="50" name="Text 43"/>
          <p:cNvSpPr txBox="1"/>
          <p:nvPr/>
        </p:nvSpPr>
        <p:spPr>
          <a:xfrm>
            <a:off x="5614416" y="3218688"/>
            <a:ext cx="1261872" cy="7772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Collecte de prix en ligne, capteurs, événements réseau</a:t>
            </a:r>
            <a:endParaRPr lang="en-US" sz="950" dirty="0"/>
          </a:p>
        </p:txBody>
      </p:sp>
      <p:sp>
        <p:nvSpPr>
          <p:cNvPr id="51" name="Shape 44"/>
          <p:cNvSpPr/>
          <p:nvPr/>
        </p:nvSpPr>
        <p:spPr>
          <a:xfrm>
            <a:off x="5614416"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52" name="Text 45"/>
          <p:cNvSpPr txBox="1"/>
          <p:nvPr/>
        </p:nvSpPr>
        <p:spPr>
          <a:xfrm>
            <a:off x="5614416"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Secondes</a:t>
            </a:r>
            <a:endParaRPr lang="en-US" sz="900" dirty="0"/>
          </a:p>
        </p:txBody>
      </p:sp>
      <p:sp>
        <p:nvSpPr>
          <p:cNvPr id="53" name="Shape 46"/>
          <p:cNvSpPr/>
          <p:nvPr/>
        </p:nvSpPr>
        <p:spPr>
          <a:xfrm>
            <a:off x="7150608" y="1280160"/>
            <a:ext cx="1536192" cy="3200400"/>
          </a:xfrm>
          <a:prstGeom prst="roundRect">
            <a:avLst>
              <a:gd name="adj" fmla="val 4762"/>
            </a:avLst>
          </a:prstGeom>
          <a:solidFill>
            <a:srgbClr val="F4F7F5"/>
          </a:solidFill>
          <a:ln w="9525">
            <a:solidFill>
              <a:srgbClr val="D5DED9"/>
            </a:solidFill>
            <a:prstDash val="solid"/>
          </a:ln>
        </p:spPr>
      </p:sp>
      <p:sp>
        <p:nvSpPr>
          <p:cNvPr id="54" name="Shape 47"/>
          <p:cNvSpPr/>
          <p:nvPr/>
        </p:nvSpPr>
        <p:spPr>
          <a:xfrm>
            <a:off x="7287768" y="1417320"/>
            <a:ext cx="502920" cy="502920"/>
          </a:xfrm>
          <a:prstGeom prst="ellipse">
            <a:avLst/>
          </a:prstGeom>
          <a:solidFill>
            <a:srgbClr val="00A86A">
              <a:alpha val="22000"/>
            </a:srgbClr>
          </a:solidFill>
          <a:ln/>
        </p:spPr>
      </p:sp>
      <p:pic>
        <p:nvPicPr>
          <p:cNvPr id="55" name="Image 4" descr="preencoded.png"/>
          <p:cNvPicPr>
            <a:picLocks noChangeAspect="1"/>
          </p:cNvPicPr>
          <p:nvPr/>
        </p:nvPicPr>
        <p:blipFill>
          <a:blip r:embed="rId7"/>
          <a:stretch>
            <a:fillRect/>
          </a:stretch>
        </p:blipFill>
        <p:spPr>
          <a:xfrm>
            <a:off x="7413498" y="1543050"/>
            <a:ext cx="251460" cy="251460"/>
          </a:xfrm>
          <a:prstGeom prst="rect">
            <a:avLst/>
          </a:prstGeom>
        </p:spPr>
      </p:pic>
      <p:sp>
        <p:nvSpPr>
          <p:cNvPr id="56" name="Text 48"/>
          <p:cNvSpPr txBox="1"/>
          <p:nvPr/>
        </p:nvSpPr>
        <p:spPr>
          <a:xfrm>
            <a:off x="7287768" y="2011680"/>
            <a:ext cx="1261872"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Dépôt sécurisé</a:t>
            </a:r>
            <a:endParaRPr lang="en-US" sz="1200" dirty="0"/>
          </a:p>
        </p:txBody>
      </p:sp>
      <p:sp>
        <p:nvSpPr>
          <p:cNvPr id="57" name="Text 49"/>
          <p:cNvSpPr txBox="1"/>
          <p:nvPr/>
        </p:nvSpPr>
        <p:spPr>
          <a:xfrm>
            <a:off x="7287768" y="2450592"/>
            <a:ext cx="1261872"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Transfert chiffré et journalisé</a:t>
            </a:r>
            <a:endParaRPr lang="en-US" sz="950" dirty="0"/>
          </a:p>
        </p:txBody>
      </p:sp>
      <p:sp>
        <p:nvSpPr>
          <p:cNvPr id="58" name="Text 50"/>
          <p:cNvSpPr txBox="1"/>
          <p:nvPr/>
        </p:nvSpPr>
        <p:spPr>
          <a:xfrm>
            <a:off x="7287768"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EXEMPLE</a:t>
            </a:r>
            <a:endParaRPr lang="en-US" sz="800" dirty="0"/>
          </a:p>
        </p:txBody>
      </p:sp>
      <p:sp>
        <p:nvSpPr>
          <p:cNvPr id="59" name="Text 51"/>
          <p:cNvSpPr txBox="1"/>
          <p:nvPr/>
        </p:nvSpPr>
        <p:spPr>
          <a:xfrm>
            <a:off x="7287768" y="3218688"/>
            <a:ext cx="1261872" cy="7772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Microdonnées partenaires, ex. extraits d’opérateurs télécoms</a:t>
            </a:r>
            <a:endParaRPr lang="en-US" sz="950" dirty="0"/>
          </a:p>
        </p:txBody>
      </p:sp>
      <p:sp>
        <p:nvSpPr>
          <p:cNvPr id="60" name="Shape 52"/>
          <p:cNvSpPr/>
          <p:nvPr/>
        </p:nvSpPr>
        <p:spPr>
          <a:xfrm>
            <a:off x="7287768"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61" name="Text 53"/>
          <p:cNvSpPr txBox="1"/>
          <p:nvPr/>
        </p:nvSpPr>
        <p:spPr>
          <a:xfrm>
            <a:off x="7287768"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Selon l’accord</a:t>
            </a:r>
            <a:endParaRPr lang="en-US" sz="900" dirty="0"/>
          </a:p>
        </p:txBody>
      </p:sp>
      <p:sp>
        <p:nvSpPr>
          <p:cNvPr id="62" name="Text 54"/>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Délais indicatifs. Bucket Ookla : s3://ookla-open-data (AWS Open Data Registry).</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INGESTION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 contrat d’ingestion : cinq règles à l’entrée</a:t>
            </a:r>
            <a:endParaRPr lang="en-US" sz="2600" dirty="0"/>
          </a:p>
        </p:txBody>
      </p:sp>
      <p:sp>
        <p:nvSpPr>
          <p:cNvPr id="8" name="Shape 6"/>
          <p:cNvSpPr/>
          <p:nvPr/>
        </p:nvSpPr>
        <p:spPr>
          <a:xfrm>
            <a:off x="7868412" y="315468"/>
            <a:ext cx="118872" cy="118872"/>
          </a:xfrm>
          <a:prstGeom prst="ellipse">
            <a:avLst/>
          </a:prstGeom>
          <a:solidFill>
            <a:srgbClr val="00A86A"/>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457200" y="1280160"/>
            <a:ext cx="457200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85216" y="1417320"/>
            <a:ext cx="292608" cy="292608"/>
          </a:xfrm>
          <a:prstGeom prst="ellipse">
            <a:avLst/>
          </a:prstGeom>
          <a:solidFill>
            <a:srgbClr val="00A86A"/>
          </a:solidFill>
          <a:ln/>
        </p:spPr>
      </p:sp>
      <p:sp>
        <p:nvSpPr>
          <p:cNvPr id="19" name="Text 16"/>
          <p:cNvSpPr txBox="1"/>
          <p:nvPr/>
        </p:nvSpPr>
        <p:spPr>
          <a:xfrm>
            <a:off x="585216" y="141732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7"/>
          <p:cNvSpPr txBox="1"/>
          <p:nvPr/>
        </p:nvSpPr>
        <p:spPr>
          <a:xfrm>
            <a:off x="1005840" y="1344168"/>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Ne jamais modifier les données brutes</a:t>
            </a:r>
            <a:endParaRPr lang="en-US" sz="1200" dirty="0"/>
          </a:p>
        </p:txBody>
      </p:sp>
      <p:sp>
        <p:nvSpPr>
          <p:cNvPr id="21" name="Text 18"/>
          <p:cNvSpPr txBox="1"/>
          <p:nvPr/>
        </p:nvSpPr>
        <p:spPr>
          <a:xfrm>
            <a:off x="1005840" y="1563624"/>
            <a:ext cx="393192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Conserver les octets tels que reçus ; les corrections se font en aval.</a:t>
            </a:r>
            <a:endParaRPr lang="en-US" sz="950" dirty="0"/>
          </a:p>
        </p:txBody>
      </p:sp>
      <p:sp>
        <p:nvSpPr>
          <p:cNvPr id="22" name="Shape 19"/>
          <p:cNvSpPr/>
          <p:nvPr/>
        </p:nvSpPr>
        <p:spPr>
          <a:xfrm>
            <a:off x="457200" y="1938528"/>
            <a:ext cx="457200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585216" y="2075688"/>
            <a:ext cx="292608" cy="292608"/>
          </a:xfrm>
          <a:prstGeom prst="ellipse">
            <a:avLst/>
          </a:prstGeom>
          <a:solidFill>
            <a:srgbClr val="00A86A"/>
          </a:solidFill>
          <a:ln/>
        </p:spPr>
      </p:sp>
      <p:sp>
        <p:nvSpPr>
          <p:cNvPr id="24" name="Text 21"/>
          <p:cNvSpPr txBox="1"/>
          <p:nvPr/>
        </p:nvSpPr>
        <p:spPr>
          <a:xfrm>
            <a:off x="585216" y="207568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5" name="Text 22"/>
          <p:cNvSpPr txBox="1"/>
          <p:nvPr/>
        </p:nvSpPr>
        <p:spPr>
          <a:xfrm>
            <a:off x="1005840" y="2002536"/>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Tracer la provenance</a:t>
            </a:r>
            <a:endParaRPr lang="en-US" sz="1200" dirty="0"/>
          </a:p>
        </p:txBody>
      </p:sp>
      <p:sp>
        <p:nvSpPr>
          <p:cNvPr id="26" name="Text 23"/>
          <p:cNvSpPr txBox="1"/>
          <p:nvPr/>
        </p:nvSpPr>
        <p:spPr>
          <a:xfrm>
            <a:off x="1005840" y="2221992"/>
            <a:ext cx="393192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Source, URL, date et licence (Ookla : CC BY-NC-SA 4.0).</a:t>
            </a:r>
            <a:endParaRPr lang="en-US" sz="950" dirty="0"/>
          </a:p>
        </p:txBody>
      </p:sp>
      <p:sp>
        <p:nvSpPr>
          <p:cNvPr id="27" name="Shape 24"/>
          <p:cNvSpPr/>
          <p:nvPr/>
        </p:nvSpPr>
        <p:spPr>
          <a:xfrm>
            <a:off x="457200" y="2596896"/>
            <a:ext cx="457200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85216" y="2734056"/>
            <a:ext cx="292608" cy="292608"/>
          </a:xfrm>
          <a:prstGeom prst="ellipse">
            <a:avLst/>
          </a:prstGeom>
          <a:solidFill>
            <a:srgbClr val="00A86A"/>
          </a:solidFill>
          <a:ln/>
        </p:spPr>
      </p:sp>
      <p:sp>
        <p:nvSpPr>
          <p:cNvPr id="29" name="Text 26"/>
          <p:cNvSpPr txBox="1"/>
          <p:nvPr/>
        </p:nvSpPr>
        <p:spPr>
          <a:xfrm>
            <a:off x="585216" y="27340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7"/>
          <p:cNvSpPr txBox="1"/>
          <p:nvPr/>
        </p:nvSpPr>
        <p:spPr>
          <a:xfrm>
            <a:off x="1005840" y="2660904"/>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Vérifier l’intégrité</a:t>
            </a:r>
            <a:endParaRPr lang="en-US" sz="1200" dirty="0"/>
          </a:p>
        </p:txBody>
      </p:sp>
      <p:sp>
        <p:nvSpPr>
          <p:cNvPr id="31" name="Text 28"/>
          <p:cNvSpPr txBox="1"/>
          <p:nvPr/>
        </p:nvSpPr>
        <p:spPr>
          <a:xfrm>
            <a:off x="1005840" y="2880360"/>
            <a:ext cx="393192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Sommes de contrôle, nombre de lignes et de fichiers attendus par période.</a:t>
            </a:r>
            <a:endParaRPr lang="en-US" sz="950" dirty="0"/>
          </a:p>
        </p:txBody>
      </p:sp>
      <p:sp>
        <p:nvSpPr>
          <p:cNvPr id="32" name="Shape 29"/>
          <p:cNvSpPr/>
          <p:nvPr/>
        </p:nvSpPr>
        <p:spPr>
          <a:xfrm>
            <a:off x="457200" y="3255264"/>
            <a:ext cx="457200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585216" y="3392424"/>
            <a:ext cx="292608" cy="292608"/>
          </a:xfrm>
          <a:prstGeom prst="ellipse">
            <a:avLst/>
          </a:prstGeom>
          <a:solidFill>
            <a:srgbClr val="00A86A"/>
          </a:solidFill>
          <a:ln/>
        </p:spPr>
      </p:sp>
      <p:sp>
        <p:nvSpPr>
          <p:cNvPr id="34" name="Text 31"/>
          <p:cNvSpPr txBox="1"/>
          <p:nvPr/>
        </p:nvSpPr>
        <p:spPr>
          <a:xfrm>
            <a:off x="585216" y="339242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5" name="Text 32"/>
          <p:cNvSpPr txBox="1"/>
          <p:nvPr/>
        </p:nvSpPr>
        <p:spPr>
          <a:xfrm>
            <a:off x="1005840" y="3319272"/>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Contrôler le schéma</a:t>
            </a:r>
            <a:endParaRPr lang="en-US" sz="1200" dirty="0"/>
          </a:p>
        </p:txBody>
      </p:sp>
      <p:sp>
        <p:nvSpPr>
          <p:cNvPr id="36" name="Text 33"/>
          <p:cNvSpPr txBox="1"/>
          <p:nvPr/>
        </p:nvSpPr>
        <p:spPr>
          <a:xfrm>
            <a:off x="1005840" y="3538728"/>
            <a:ext cx="393192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Ookla a ajouté des colonnes en 2022–23 : détecter la dérive, jamais en silence.</a:t>
            </a:r>
            <a:endParaRPr lang="en-US" sz="950" dirty="0"/>
          </a:p>
        </p:txBody>
      </p:sp>
      <p:sp>
        <p:nvSpPr>
          <p:cNvPr id="37" name="Shape 34"/>
          <p:cNvSpPr/>
          <p:nvPr/>
        </p:nvSpPr>
        <p:spPr>
          <a:xfrm>
            <a:off x="457200" y="3913632"/>
            <a:ext cx="457200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85216" y="4050792"/>
            <a:ext cx="292608" cy="292608"/>
          </a:xfrm>
          <a:prstGeom prst="ellipse">
            <a:avLst/>
          </a:prstGeom>
          <a:solidFill>
            <a:srgbClr val="00A86A"/>
          </a:solidFill>
          <a:ln/>
        </p:spPr>
      </p:sp>
      <p:sp>
        <p:nvSpPr>
          <p:cNvPr id="39" name="Text 36"/>
          <p:cNvSpPr txBox="1"/>
          <p:nvPr/>
        </p:nvSpPr>
        <p:spPr>
          <a:xfrm>
            <a:off x="585216" y="405079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Text 37"/>
          <p:cNvSpPr txBox="1"/>
          <p:nvPr/>
        </p:nvSpPr>
        <p:spPr>
          <a:xfrm>
            <a:off x="1005840" y="3977640"/>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Rendre les chargements idempotents</a:t>
            </a:r>
            <a:endParaRPr lang="en-US" sz="1200" dirty="0"/>
          </a:p>
        </p:txBody>
      </p:sp>
      <p:sp>
        <p:nvSpPr>
          <p:cNvPr id="41" name="Text 38"/>
          <p:cNvSpPr txBox="1"/>
          <p:nvPr/>
        </p:nvSpPr>
        <p:spPr>
          <a:xfrm>
            <a:off x="1005840" y="4197096"/>
            <a:ext cx="393192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Relancer un même trimestre donne le même résultat, sans doublons.</a:t>
            </a:r>
            <a:endParaRPr lang="en-US" sz="950" dirty="0"/>
          </a:p>
        </p:txBody>
      </p:sp>
      <p:sp>
        <p:nvSpPr>
          <p:cNvPr id="42" name="Shape 39"/>
          <p:cNvSpPr/>
          <p:nvPr/>
        </p:nvSpPr>
        <p:spPr>
          <a:xfrm>
            <a:off x="5257800" y="1280160"/>
            <a:ext cx="3429000" cy="3200400"/>
          </a:xfrm>
          <a:prstGeom prst="roundRect">
            <a:avLst>
              <a:gd name="adj" fmla="val 2286"/>
            </a:avLst>
          </a:prstGeom>
          <a:solidFill>
            <a:srgbClr val="F4F7F5"/>
          </a:solidFill>
          <a:ln w="9525">
            <a:solidFill>
              <a:srgbClr val="D5DED9"/>
            </a:solidFill>
            <a:prstDash val="solid"/>
          </a:ln>
        </p:spPr>
      </p:sp>
      <p:sp>
        <p:nvSpPr>
          <p:cNvPr id="43" name="Text 40"/>
          <p:cNvSpPr txBox="1"/>
          <p:nvPr/>
        </p:nvSpPr>
        <p:spPr>
          <a:xfrm>
            <a:off x="5394960" y="1371600"/>
            <a:ext cx="315468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ENREGISTREMENT DE PROVENANCE (ILLUSTRATIF)</a:t>
            </a:r>
            <a:endParaRPr lang="en-US" sz="900" dirty="0"/>
          </a:p>
        </p:txBody>
      </p:sp>
      <p:sp>
        <p:nvSpPr>
          <p:cNvPr id="44" name="Text 41"/>
          <p:cNvSpPr txBox="1"/>
          <p:nvPr/>
        </p:nvSpPr>
        <p:spPr>
          <a:xfrm>
            <a:off x="5394960" y="1609344"/>
            <a:ext cx="3154680" cy="2798064"/>
          </a:xfrm>
          <a:prstGeom prst="rect">
            <a:avLst/>
          </a:prstGeom>
          <a:noFill/>
          <a:ln/>
        </p:spPr>
        <p:txBody>
          <a:bodyPr wrap="square" lIns="0" tIns="0" rIns="0" bIns="0" rtlCol="0" anchor="t"/>
          <a:lstStyle/>
          <a:p>
            <a:pPr marL="0" indent="0">
              <a:lnSpc>
                <a:spcPct val="105000"/>
              </a:lnSpc>
              <a:buNone/>
            </a:pPr>
            <a:r>
              <a:rPr lang="en-US" sz="900" i="1" dirty="0">
                <a:solidFill>
                  <a:srgbClr val="00704A"/>
                </a:solidFill>
                <a:latin typeface="Courier New" pitchFamily="34" charset="0"/>
                <a:ea typeface="Courier New" pitchFamily="34" charset="-122"/>
                <a:cs typeface="Courier New" pitchFamily="34" charset="-120"/>
              </a:rPr>
              <a:t># provenance.json — un par fichier brut</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"source": "Speedtest by Ookla",</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"layer": "mobile",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"period": "2025-Q4",</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"uri": "s3://ookla-open-data/</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parquet/performance/type=mobile/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year=2025/quarter=4/",</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"retrieved_at": "2026-01-15T08:12Z",</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"licence": "CC BY-NC-SA 4.0",</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"sha256": "9f2c…e41a",</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"schema_version": "2023-Q3",</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"loaded_by": "pipeline v1.4.0"</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p:txBody>
      </p:sp>
      <p:sp>
        <p:nvSpPr>
          <p:cNvPr id="45" name="Text 42"/>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 documentation Ookla Open Data (historique des colonnes et licence).</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14716" y="315468"/>
            <a:ext cx="118872" cy="118872"/>
          </a:xfrm>
          <a:prstGeom prst="ellipse">
            <a:avLst/>
          </a:prstGeom>
          <a:solidFill>
            <a:srgbClr val="F5C242"/>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02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Stockage</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Où conserver les données pour qu’elles soient peu coûteuses, rapides à lire et impossibles à perdre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Stockage distribué : découper et répliquer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Shape 14"/>
          <p:cNvSpPr/>
          <p:nvPr/>
        </p:nvSpPr>
        <p:spPr>
          <a:xfrm>
            <a:off x="457200" y="1298448"/>
            <a:ext cx="502920" cy="502920"/>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582930" y="1424178"/>
            <a:ext cx="251460" cy="251460"/>
          </a:xfrm>
          <a:prstGeom prst="rect">
            <a:avLst/>
          </a:prstGeom>
        </p:spPr>
      </p:pic>
      <p:sp>
        <p:nvSpPr>
          <p:cNvPr id="19" name="Text 15"/>
          <p:cNvSpPr txBox="1"/>
          <p:nvPr/>
        </p:nvSpPr>
        <p:spPr>
          <a:xfrm>
            <a:off x="1097280" y="1280160"/>
            <a:ext cx="301752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Partitionner</a:t>
            </a:r>
            <a:endParaRPr lang="en-US" sz="1300" dirty="0"/>
          </a:p>
        </p:txBody>
      </p:sp>
      <p:sp>
        <p:nvSpPr>
          <p:cNvPr id="20" name="Text 16"/>
          <p:cNvSpPr txBox="1"/>
          <p:nvPr/>
        </p:nvSpPr>
        <p:spPr>
          <a:xfrm>
            <a:off x="1097280" y="1545336"/>
            <a:ext cx="3063240" cy="60350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Les gros fichiers sont découpés en blocs de taille fixe — 128 Mo par défaut dans HDFS — répartis sur les nœuds.</a:t>
            </a:r>
            <a:endParaRPr lang="en-US" sz="1000" dirty="0"/>
          </a:p>
        </p:txBody>
      </p:sp>
      <p:sp>
        <p:nvSpPr>
          <p:cNvPr id="21" name="Shape 17"/>
          <p:cNvSpPr/>
          <p:nvPr/>
        </p:nvSpPr>
        <p:spPr>
          <a:xfrm>
            <a:off x="457200" y="2231136"/>
            <a:ext cx="502920" cy="502920"/>
          </a:xfrm>
          <a:prstGeom prst="ellipse">
            <a:avLst/>
          </a:prstGeom>
          <a:solidFill>
            <a:srgbClr val="00704A">
              <a:alpha val="22000"/>
            </a:srgbClr>
          </a:solidFill>
          <a:ln/>
        </p:spPr>
      </p:sp>
      <p:pic>
        <p:nvPicPr>
          <p:cNvPr id="22" name="Image 1" descr="preencoded.png"/>
          <p:cNvPicPr>
            <a:picLocks noChangeAspect="1"/>
          </p:cNvPicPr>
          <p:nvPr/>
        </p:nvPicPr>
        <p:blipFill>
          <a:blip r:embed="rId4"/>
          <a:stretch>
            <a:fillRect/>
          </a:stretch>
        </p:blipFill>
        <p:spPr>
          <a:xfrm>
            <a:off x="582930" y="2356866"/>
            <a:ext cx="251460" cy="251460"/>
          </a:xfrm>
          <a:prstGeom prst="rect">
            <a:avLst/>
          </a:prstGeom>
        </p:spPr>
      </p:pic>
      <p:sp>
        <p:nvSpPr>
          <p:cNvPr id="23" name="Text 18"/>
          <p:cNvSpPr txBox="1"/>
          <p:nvPr/>
        </p:nvSpPr>
        <p:spPr>
          <a:xfrm>
            <a:off x="1097280" y="2212848"/>
            <a:ext cx="301752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Répliquer</a:t>
            </a:r>
            <a:endParaRPr lang="en-US" sz="1300" dirty="0"/>
          </a:p>
        </p:txBody>
      </p:sp>
      <p:sp>
        <p:nvSpPr>
          <p:cNvPr id="24" name="Text 19"/>
          <p:cNvSpPr txBox="1"/>
          <p:nvPr/>
        </p:nvSpPr>
        <p:spPr>
          <a:xfrm>
            <a:off x="1097280" y="2478024"/>
            <a:ext cx="3063240" cy="60350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Chaque bloc est stocké sur trois nœuds par défaut. La panne matérielle est considérée comme normale.</a:t>
            </a:r>
            <a:endParaRPr lang="en-US" sz="1000" dirty="0"/>
          </a:p>
        </p:txBody>
      </p:sp>
      <p:sp>
        <p:nvSpPr>
          <p:cNvPr id="25" name="Shape 20"/>
          <p:cNvSpPr/>
          <p:nvPr/>
        </p:nvSpPr>
        <p:spPr>
          <a:xfrm>
            <a:off x="457200" y="3163824"/>
            <a:ext cx="502920" cy="502920"/>
          </a:xfrm>
          <a:prstGeom prst="ellipse">
            <a:avLst/>
          </a:prstGeom>
          <a:solidFill>
            <a:srgbClr val="00704A">
              <a:alpha val="22000"/>
            </a:srgbClr>
          </a:solidFill>
          <a:ln/>
        </p:spPr>
      </p:sp>
      <p:pic>
        <p:nvPicPr>
          <p:cNvPr id="26" name="Image 2" descr="preencoded.png"/>
          <p:cNvPicPr>
            <a:picLocks noChangeAspect="1"/>
          </p:cNvPicPr>
          <p:nvPr/>
        </p:nvPicPr>
        <p:blipFill>
          <a:blip r:embed="rId5"/>
          <a:stretch>
            <a:fillRect/>
          </a:stretch>
        </p:blipFill>
        <p:spPr>
          <a:xfrm>
            <a:off x="582930" y="3289554"/>
            <a:ext cx="251460" cy="251460"/>
          </a:xfrm>
          <a:prstGeom prst="rect">
            <a:avLst/>
          </a:prstGeom>
        </p:spPr>
      </p:pic>
      <p:sp>
        <p:nvSpPr>
          <p:cNvPr id="27" name="Text 21"/>
          <p:cNvSpPr txBox="1"/>
          <p:nvPr/>
        </p:nvSpPr>
        <p:spPr>
          <a:xfrm>
            <a:off x="1097280" y="3145536"/>
            <a:ext cx="301752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Calculer sur place</a:t>
            </a:r>
            <a:endParaRPr lang="en-US" sz="1300" dirty="0"/>
          </a:p>
        </p:txBody>
      </p:sp>
      <p:sp>
        <p:nvSpPr>
          <p:cNvPr id="28" name="Text 22"/>
          <p:cNvSpPr txBox="1"/>
          <p:nvPr/>
        </p:nvSpPr>
        <p:spPr>
          <a:xfrm>
            <a:off x="1097280" y="3410712"/>
            <a:ext cx="3063240" cy="60350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Envoyer le code vers les données, pas l’inverse : la clé de la vitesse à grande échelle.</a:t>
            </a:r>
            <a:endParaRPr lang="en-US" sz="1000" dirty="0"/>
          </a:p>
        </p:txBody>
      </p:sp>
      <p:sp>
        <p:nvSpPr>
          <p:cNvPr id="29" name="Shape 23"/>
          <p:cNvSpPr/>
          <p:nvPr/>
        </p:nvSpPr>
        <p:spPr>
          <a:xfrm>
            <a:off x="4434840" y="1234440"/>
            <a:ext cx="4251960" cy="3291840"/>
          </a:xfrm>
          <a:prstGeom prst="roundRect">
            <a:avLst>
              <a:gd name="adj" fmla="val 2222"/>
            </a:avLst>
          </a:prstGeom>
          <a:solidFill>
            <a:srgbClr val="FFFFFF"/>
          </a:solidFill>
          <a:ln w="9525">
            <a:solidFill>
              <a:srgbClr val="D5DED9"/>
            </a:solidFill>
            <a:prstDash val="solid"/>
          </a:ln>
        </p:spPr>
      </p:sp>
      <p:sp>
        <p:nvSpPr>
          <p:cNvPr id="30" name="Text 24"/>
          <p:cNvSpPr txBox="1"/>
          <p:nvPr/>
        </p:nvSpPr>
        <p:spPr>
          <a:xfrm>
            <a:off x="4572000" y="1325880"/>
            <a:ext cx="3977640"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Un fichier de 512 Mo → 4 blocs → 4 nœuds</a:t>
            </a:r>
            <a:endParaRPr lang="en-US" sz="1100" dirty="0"/>
          </a:p>
        </p:txBody>
      </p:sp>
      <p:sp>
        <p:nvSpPr>
          <p:cNvPr id="31" name="Shape 25"/>
          <p:cNvSpPr/>
          <p:nvPr/>
        </p:nvSpPr>
        <p:spPr>
          <a:xfrm>
            <a:off x="4892040" y="1627632"/>
            <a:ext cx="731520" cy="292608"/>
          </a:xfrm>
          <a:prstGeom prst="roundRect">
            <a:avLst>
              <a:gd name="adj" fmla="val 15625"/>
            </a:avLst>
          </a:prstGeom>
          <a:solidFill>
            <a:srgbClr val="00A86A"/>
          </a:solidFill>
          <a:ln w="9525">
            <a:solidFill>
              <a:srgbClr val="00A86A"/>
            </a:solidFill>
            <a:prstDash val="solid"/>
          </a:ln>
        </p:spPr>
      </p:sp>
      <p:sp>
        <p:nvSpPr>
          <p:cNvPr id="32" name="Text 26"/>
          <p:cNvSpPr txBox="1"/>
          <p:nvPr/>
        </p:nvSpPr>
        <p:spPr>
          <a:xfrm>
            <a:off x="4892040" y="1627632"/>
            <a:ext cx="7315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33" name="Shape 27"/>
          <p:cNvSpPr/>
          <p:nvPr/>
        </p:nvSpPr>
        <p:spPr>
          <a:xfrm>
            <a:off x="5733288" y="1627632"/>
            <a:ext cx="731520" cy="292608"/>
          </a:xfrm>
          <a:prstGeom prst="roundRect">
            <a:avLst>
              <a:gd name="adj" fmla="val 15625"/>
            </a:avLst>
          </a:prstGeom>
          <a:solidFill>
            <a:srgbClr val="00704A"/>
          </a:solidFill>
          <a:ln w="9525">
            <a:solidFill>
              <a:srgbClr val="00704A"/>
            </a:solidFill>
            <a:prstDash val="solid"/>
          </a:ln>
        </p:spPr>
      </p:sp>
      <p:sp>
        <p:nvSpPr>
          <p:cNvPr id="34" name="Text 28"/>
          <p:cNvSpPr txBox="1"/>
          <p:nvPr/>
        </p:nvSpPr>
        <p:spPr>
          <a:xfrm>
            <a:off x="5733288" y="1627632"/>
            <a:ext cx="7315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B2</a:t>
            </a:r>
            <a:endParaRPr lang="en-US" sz="1100" dirty="0"/>
          </a:p>
        </p:txBody>
      </p:sp>
      <p:sp>
        <p:nvSpPr>
          <p:cNvPr id="35" name="Shape 29"/>
          <p:cNvSpPr/>
          <p:nvPr/>
        </p:nvSpPr>
        <p:spPr>
          <a:xfrm>
            <a:off x="6574536" y="1627632"/>
            <a:ext cx="731520" cy="292608"/>
          </a:xfrm>
          <a:prstGeom prst="roundRect">
            <a:avLst>
              <a:gd name="adj" fmla="val 15625"/>
            </a:avLst>
          </a:prstGeom>
          <a:solidFill>
            <a:srgbClr val="0E7C86"/>
          </a:solidFill>
          <a:ln w="9525">
            <a:solidFill>
              <a:srgbClr val="0E7C86"/>
            </a:solidFill>
            <a:prstDash val="solid"/>
          </a:ln>
        </p:spPr>
      </p:sp>
      <p:sp>
        <p:nvSpPr>
          <p:cNvPr id="36" name="Text 30"/>
          <p:cNvSpPr txBox="1"/>
          <p:nvPr/>
        </p:nvSpPr>
        <p:spPr>
          <a:xfrm>
            <a:off x="6574536" y="1627632"/>
            <a:ext cx="7315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B3</a:t>
            </a:r>
            <a:endParaRPr lang="en-US" sz="1100" dirty="0"/>
          </a:p>
        </p:txBody>
      </p:sp>
      <p:sp>
        <p:nvSpPr>
          <p:cNvPr id="37" name="Shape 31"/>
          <p:cNvSpPr/>
          <p:nvPr/>
        </p:nvSpPr>
        <p:spPr>
          <a:xfrm>
            <a:off x="7415784" y="1627632"/>
            <a:ext cx="731520" cy="292608"/>
          </a:xfrm>
          <a:prstGeom prst="roundRect">
            <a:avLst>
              <a:gd name="adj" fmla="val 15625"/>
            </a:avLst>
          </a:prstGeom>
          <a:solidFill>
            <a:srgbClr val="D49A00"/>
          </a:solidFill>
          <a:ln w="9525">
            <a:solidFill>
              <a:srgbClr val="D49A00"/>
            </a:solidFill>
            <a:prstDash val="solid"/>
          </a:ln>
        </p:spPr>
      </p:sp>
      <p:sp>
        <p:nvSpPr>
          <p:cNvPr id="38" name="Text 32"/>
          <p:cNvSpPr txBox="1"/>
          <p:nvPr/>
        </p:nvSpPr>
        <p:spPr>
          <a:xfrm>
            <a:off x="7415784" y="1627632"/>
            <a:ext cx="7315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B4</a:t>
            </a:r>
            <a:endParaRPr lang="en-US" sz="1100" dirty="0"/>
          </a:p>
        </p:txBody>
      </p:sp>
      <p:sp>
        <p:nvSpPr>
          <p:cNvPr id="39" name="Shape 33"/>
          <p:cNvSpPr/>
          <p:nvPr/>
        </p:nvSpPr>
        <p:spPr>
          <a:xfrm>
            <a:off x="6556248" y="1956816"/>
            <a:ext cx="91" cy="219456"/>
          </a:xfrm>
          <a:prstGeom prst="line">
            <a:avLst/>
          </a:prstGeom>
          <a:noFill/>
          <a:ln w="15875">
            <a:solidFill>
              <a:srgbClr val="5E6964"/>
            </a:solidFill>
            <a:prstDash val="solid"/>
            <a:tailEnd type="triangle"/>
          </a:ln>
        </p:spPr>
      </p:sp>
      <p:sp>
        <p:nvSpPr>
          <p:cNvPr id="40" name="Shape 34"/>
          <p:cNvSpPr/>
          <p:nvPr/>
        </p:nvSpPr>
        <p:spPr>
          <a:xfrm>
            <a:off x="4681728" y="2240280"/>
            <a:ext cx="868680" cy="1783080"/>
          </a:xfrm>
          <a:prstGeom prst="roundRect">
            <a:avLst>
              <a:gd name="adj" fmla="val 8421"/>
            </a:avLst>
          </a:prstGeom>
          <a:solidFill>
            <a:srgbClr val="F4F7F5"/>
          </a:solidFill>
          <a:ln w="9525">
            <a:solidFill>
              <a:srgbClr val="D5DED9"/>
            </a:solidFill>
            <a:prstDash val="solid"/>
          </a:ln>
        </p:spPr>
      </p:sp>
      <p:pic>
        <p:nvPicPr>
          <p:cNvPr id="41" name="Image 3" descr="preencoded.png"/>
          <p:cNvPicPr>
            <a:picLocks noChangeAspect="1"/>
          </p:cNvPicPr>
          <p:nvPr/>
        </p:nvPicPr>
        <p:blipFill>
          <a:blip r:embed="rId6"/>
          <a:stretch>
            <a:fillRect/>
          </a:stretch>
        </p:blipFill>
        <p:spPr>
          <a:xfrm>
            <a:off x="5029200" y="2313432"/>
            <a:ext cx="182880" cy="182880"/>
          </a:xfrm>
          <a:prstGeom prst="rect">
            <a:avLst/>
          </a:prstGeom>
        </p:spPr>
      </p:pic>
      <p:sp>
        <p:nvSpPr>
          <p:cNvPr id="42" name="Text 35"/>
          <p:cNvSpPr txBox="1"/>
          <p:nvPr/>
        </p:nvSpPr>
        <p:spPr>
          <a:xfrm>
            <a:off x="4681728" y="2523744"/>
            <a:ext cx="868680" cy="182880"/>
          </a:xfrm>
          <a:prstGeom prst="rect">
            <a:avLst/>
          </a:prstGeom>
          <a:noFill/>
          <a:ln/>
        </p:spPr>
        <p:txBody>
          <a:bodyPr wrap="square" lIns="0" tIns="0" rIns="0" bIns="0" rtlCol="0" anchor="t"/>
          <a:lstStyle/>
          <a:p>
            <a:pPr marL="0" indent="0" algn="ctr">
              <a:buNone/>
            </a:pPr>
            <a:r>
              <a:rPr lang="en-US" sz="900" b="1" dirty="0">
                <a:solidFill>
                  <a:srgbClr val="5E6964"/>
                </a:solidFill>
                <a:latin typeface="Calibri" pitchFamily="34" charset="0"/>
                <a:ea typeface="Calibri" pitchFamily="34" charset="-122"/>
                <a:cs typeface="Calibri" pitchFamily="34" charset="-120"/>
              </a:rPr>
              <a:t>Nœud 1</a:t>
            </a:r>
            <a:endParaRPr lang="en-US" sz="900" dirty="0"/>
          </a:p>
        </p:txBody>
      </p:sp>
      <p:sp>
        <p:nvSpPr>
          <p:cNvPr id="43" name="Shape 36"/>
          <p:cNvSpPr/>
          <p:nvPr/>
        </p:nvSpPr>
        <p:spPr>
          <a:xfrm>
            <a:off x="4791456" y="2761488"/>
            <a:ext cx="649224" cy="310896"/>
          </a:xfrm>
          <a:prstGeom prst="roundRect">
            <a:avLst>
              <a:gd name="adj" fmla="val 14706"/>
            </a:avLst>
          </a:prstGeom>
          <a:solidFill>
            <a:srgbClr val="00A86A"/>
          </a:solidFill>
          <a:ln w="9525">
            <a:solidFill>
              <a:srgbClr val="00A86A"/>
            </a:solidFill>
            <a:prstDash val="solid"/>
          </a:ln>
        </p:spPr>
      </p:sp>
      <p:sp>
        <p:nvSpPr>
          <p:cNvPr id="44" name="Text 37"/>
          <p:cNvSpPr txBox="1"/>
          <p:nvPr/>
        </p:nvSpPr>
        <p:spPr>
          <a:xfrm>
            <a:off x="4791456" y="2761488"/>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45" name="Shape 38"/>
          <p:cNvSpPr/>
          <p:nvPr/>
        </p:nvSpPr>
        <p:spPr>
          <a:xfrm>
            <a:off x="4791456" y="3163824"/>
            <a:ext cx="649224" cy="310896"/>
          </a:xfrm>
          <a:prstGeom prst="roundRect">
            <a:avLst>
              <a:gd name="adj" fmla="val 14706"/>
            </a:avLst>
          </a:prstGeom>
          <a:solidFill>
            <a:srgbClr val="0E7C86"/>
          </a:solidFill>
          <a:ln w="9525">
            <a:solidFill>
              <a:srgbClr val="0E7C86"/>
            </a:solidFill>
            <a:prstDash val="solid"/>
          </a:ln>
        </p:spPr>
      </p:sp>
      <p:sp>
        <p:nvSpPr>
          <p:cNvPr id="46" name="Text 39"/>
          <p:cNvSpPr txBox="1"/>
          <p:nvPr/>
        </p:nvSpPr>
        <p:spPr>
          <a:xfrm>
            <a:off x="4791456" y="3163824"/>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47" name="Shape 40"/>
          <p:cNvSpPr/>
          <p:nvPr/>
        </p:nvSpPr>
        <p:spPr>
          <a:xfrm>
            <a:off x="4791456" y="3566160"/>
            <a:ext cx="649224" cy="310896"/>
          </a:xfrm>
          <a:prstGeom prst="roundRect">
            <a:avLst>
              <a:gd name="adj" fmla="val 14706"/>
            </a:avLst>
          </a:prstGeom>
          <a:solidFill>
            <a:srgbClr val="D49A00"/>
          </a:solidFill>
          <a:ln w="9525">
            <a:solidFill>
              <a:srgbClr val="D49A00"/>
            </a:solidFill>
            <a:prstDash val="solid"/>
          </a:ln>
        </p:spPr>
      </p:sp>
      <p:sp>
        <p:nvSpPr>
          <p:cNvPr id="48" name="Text 41"/>
          <p:cNvSpPr txBox="1"/>
          <p:nvPr/>
        </p:nvSpPr>
        <p:spPr>
          <a:xfrm>
            <a:off x="4791456" y="3566160"/>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49" name="Shape 42"/>
          <p:cNvSpPr/>
          <p:nvPr/>
        </p:nvSpPr>
        <p:spPr>
          <a:xfrm>
            <a:off x="5660136" y="2240280"/>
            <a:ext cx="868680" cy="1783080"/>
          </a:xfrm>
          <a:prstGeom prst="roundRect">
            <a:avLst>
              <a:gd name="adj" fmla="val 8421"/>
            </a:avLst>
          </a:prstGeom>
          <a:solidFill>
            <a:srgbClr val="F4F7F5"/>
          </a:solidFill>
          <a:ln w="9525">
            <a:solidFill>
              <a:srgbClr val="D5DED9"/>
            </a:solidFill>
            <a:prstDash val="solid"/>
          </a:ln>
        </p:spPr>
      </p:sp>
      <p:pic>
        <p:nvPicPr>
          <p:cNvPr id="50" name="Image 4" descr="preencoded.png"/>
          <p:cNvPicPr>
            <a:picLocks noChangeAspect="1"/>
          </p:cNvPicPr>
          <p:nvPr/>
        </p:nvPicPr>
        <p:blipFill>
          <a:blip r:embed="rId6"/>
          <a:stretch>
            <a:fillRect/>
          </a:stretch>
        </p:blipFill>
        <p:spPr>
          <a:xfrm>
            <a:off x="6007608" y="2313432"/>
            <a:ext cx="182880" cy="182880"/>
          </a:xfrm>
          <a:prstGeom prst="rect">
            <a:avLst/>
          </a:prstGeom>
        </p:spPr>
      </p:pic>
      <p:sp>
        <p:nvSpPr>
          <p:cNvPr id="51" name="Text 43"/>
          <p:cNvSpPr txBox="1"/>
          <p:nvPr/>
        </p:nvSpPr>
        <p:spPr>
          <a:xfrm>
            <a:off x="5660136" y="2523744"/>
            <a:ext cx="868680" cy="182880"/>
          </a:xfrm>
          <a:prstGeom prst="rect">
            <a:avLst/>
          </a:prstGeom>
          <a:noFill/>
          <a:ln/>
        </p:spPr>
        <p:txBody>
          <a:bodyPr wrap="square" lIns="0" tIns="0" rIns="0" bIns="0" rtlCol="0" anchor="t"/>
          <a:lstStyle/>
          <a:p>
            <a:pPr marL="0" indent="0" algn="ctr">
              <a:buNone/>
            </a:pPr>
            <a:r>
              <a:rPr lang="en-US" sz="900" b="1" dirty="0">
                <a:solidFill>
                  <a:srgbClr val="5E6964"/>
                </a:solidFill>
                <a:latin typeface="Calibri" pitchFamily="34" charset="0"/>
                <a:ea typeface="Calibri" pitchFamily="34" charset="-122"/>
                <a:cs typeface="Calibri" pitchFamily="34" charset="-120"/>
              </a:rPr>
              <a:t>Nœud 2</a:t>
            </a:r>
            <a:endParaRPr lang="en-US" sz="900" dirty="0"/>
          </a:p>
        </p:txBody>
      </p:sp>
      <p:sp>
        <p:nvSpPr>
          <p:cNvPr id="52" name="Shape 44"/>
          <p:cNvSpPr/>
          <p:nvPr/>
        </p:nvSpPr>
        <p:spPr>
          <a:xfrm>
            <a:off x="5769864" y="2761488"/>
            <a:ext cx="649224" cy="310896"/>
          </a:xfrm>
          <a:prstGeom prst="roundRect">
            <a:avLst>
              <a:gd name="adj" fmla="val 14706"/>
            </a:avLst>
          </a:prstGeom>
          <a:solidFill>
            <a:srgbClr val="00A86A"/>
          </a:solidFill>
          <a:ln w="9525">
            <a:solidFill>
              <a:srgbClr val="00A86A"/>
            </a:solidFill>
            <a:prstDash val="solid"/>
          </a:ln>
        </p:spPr>
      </p:sp>
      <p:sp>
        <p:nvSpPr>
          <p:cNvPr id="53" name="Text 45"/>
          <p:cNvSpPr txBox="1"/>
          <p:nvPr/>
        </p:nvSpPr>
        <p:spPr>
          <a:xfrm>
            <a:off x="5769864" y="2761488"/>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54" name="Shape 46"/>
          <p:cNvSpPr/>
          <p:nvPr/>
        </p:nvSpPr>
        <p:spPr>
          <a:xfrm>
            <a:off x="5769864" y="3163824"/>
            <a:ext cx="649224" cy="310896"/>
          </a:xfrm>
          <a:prstGeom prst="roundRect">
            <a:avLst>
              <a:gd name="adj" fmla="val 14706"/>
            </a:avLst>
          </a:prstGeom>
          <a:solidFill>
            <a:srgbClr val="00704A"/>
          </a:solidFill>
          <a:ln w="9525">
            <a:solidFill>
              <a:srgbClr val="00704A"/>
            </a:solidFill>
            <a:prstDash val="solid"/>
          </a:ln>
        </p:spPr>
      </p:sp>
      <p:sp>
        <p:nvSpPr>
          <p:cNvPr id="55" name="Text 47"/>
          <p:cNvSpPr txBox="1"/>
          <p:nvPr/>
        </p:nvSpPr>
        <p:spPr>
          <a:xfrm>
            <a:off x="5769864" y="3163824"/>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56" name="Shape 48"/>
          <p:cNvSpPr/>
          <p:nvPr/>
        </p:nvSpPr>
        <p:spPr>
          <a:xfrm>
            <a:off x="5769864" y="3566160"/>
            <a:ext cx="649224" cy="310896"/>
          </a:xfrm>
          <a:prstGeom prst="roundRect">
            <a:avLst>
              <a:gd name="adj" fmla="val 14706"/>
            </a:avLst>
          </a:prstGeom>
          <a:solidFill>
            <a:srgbClr val="D49A00"/>
          </a:solidFill>
          <a:ln w="9525">
            <a:solidFill>
              <a:srgbClr val="D49A00"/>
            </a:solidFill>
            <a:prstDash val="solid"/>
          </a:ln>
        </p:spPr>
      </p:sp>
      <p:sp>
        <p:nvSpPr>
          <p:cNvPr id="57" name="Text 49"/>
          <p:cNvSpPr txBox="1"/>
          <p:nvPr/>
        </p:nvSpPr>
        <p:spPr>
          <a:xfrm>
            <a:off x="5769864" y="3566160"/>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58" name="Shape 50"/>
          <p:cNvSpPr/>
          <p:nvPr/>
        </p:nvSpPr>
        <p:spPr>
          <a:xfrm>
            <a:off x="6638544" y="2240280"/>
            <a:ext cx="868680" cy="1783080"/>
          </a:xfrm>
          <a:prstGeom prst="roundRect">
            <a:avLst>
              <a:gd name="adj" fmla="val 8421"/>
            </a:avLst>
          </a:prstGeom>
          <a:solidFill>
            <a:srgbClr val="F4F7F5"/>
          </a:solidFill>
          <a:ln w="9525">
            <a:solidFill>
              <a:srgbClr val="D5DED9"/>
            </a:solidFill>
            <a:prstDash val="solid"/>
          </a:ln>
        </p:spPr>
      </p:sp>
      <p:pic>
        <p:nvPicPr>
          <p:cNvPr id="59" name="Image 5" descr="preencoded.png"/>
          <p:cNvPicPr>
            <a:picLocks noChangeAspect="1"/>
          </p:cNvPicPr>
          <p:nvPr/>
        </p:nvPicPr>
        <p:blipFill>
          <a:blip r:embed="rId6"/>
          <a:stretch>
            <a:fillRect/>
          </a:stretch>
        </p:blipFill>
        <p:spPr>
          <a:xfrm>
            <a:off x="6986016" y="2313432"/>
            <a:ext cx="182880" cy="182880"/>
          </a:xfrm>
          <a:prstGeom prst="rect">
            <a:avLst/>
          </a:prstGeom>
        </p:spPr>
      </p:pic>
      <p:sp>
        <p:nvSpPr>
          <p:cNvPr id="60" name="Text 51"/>
          <p:cNvSpPr txBox="1"/>
          <p:nvPr/>
        </p:nvSpPr>
        <p:spPr>
          <a:xfrm>
            <a:off x="6638544" y="2523744"/>
            <a:ext cx="868680" cy="182880"/>
          </a:xfrm>
          <a:prstGeom prst="rect">
            <a:avLst/>
          </a:prstGeom>
          <a:noFill/>
          <a:ln/>
        </p:spPr>
        <p:txBody>
          <a:bodyPr wrap="square" lIns="0" tIns="0" rIns="0" bIns="0" rtlCol="0" anchor="t"/>
          <a:lstStyle/>
          <a:p>
            <a:pPr marL="0" indent="0" algn="ctr">
              <a:buNone/>
            </a:pPr>
            <a:r>
              <a:rPr lang="en-US" sz="900" b="1" dirty="0">
                <a:solidFill>
                  <a:srgbClr val="5E6964"/>
                </a:solidFill>
                <a:latin typeface="Calibri" pitchFamily="34" charset="0"/>
                <a:ea typeface="Calibri" pitchFamily="34" charset="-122"/>
                <a:cs typeface="Calibri" pitchFamily="34" charset="-120"/>
              </a:rPr>
              <a:t>Nœud 3</a:t>
            </a:r>
            <a:endParaRPr lang="en-US" sz="900" dirty="0"/>
          </a:p>
        </p:txBody>
      </p:sp>
      <p:sp>
        <p:nvSpPr>
          <p:cNvPr id="61" name="Shape 52"/>
          <p:cNvSpPr/>
          <p:nvPr/>
        </p:nvSpPr>
        <p:spPr>
          <a:xfrm>
            <a:off x="6748272" y="2761488"/>
            <a:ext cx="649224" cy="310896"/>
          </a:xfrm>
          <a:prstGeom prst="roundRect">
            <a:avLst>
              <a:gd name="adj" fmla="val 14706"/>
            </a:avLst>
          </a:prstGeom>
          <a:solidFill>
            <a:srgbClr val="00A86A"/>
          </a:solidFill>
          <a:ln w="9525">
            <a:solidFill>
              <a:srgbClr val="00A86A"/>
            </a:solidFill>
            <a:prstDash val="solid"/>
          </a:ln>
        </p:spPr>
      </p:sp>
      <p:sp>
        <p:nvSpPr>
          <p:cNvPr id="62" name="Text 53"/>
          <p:cNvSpPr txBox="1"/>
          <p:nvPr/>
        </p:nvSpPr>
        <p:spPr>
          <a:xfrm>
            <a:off x="6748272" y="2761488"/>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63" name="Shape 54"/>
          <p:cNvSpPr/>
          <p:nvPr/>
        </p:nvSpPr>
        <p:spPr>
          <a:xfrm>
            <a:off x="6748272" y="3163824"/>
            <a:ext cx="649224" cy="310896"/>
          </a:xfrm>
          <a:prstGeom prst="roundRect">
            <a:avLst>
              <a:gd name="adj" fmla="val 14706"/>
            </a:avLst>
          </a:prstGeom>
          <a:solidFill>
            <a:srgbClr val="00704A"/>
          </a:solidFill>
          <a:ln w="9525">
            <a:solidFill>
              <a:srgbClr val="00704A"/>
            </a:solidFill>
            <a:prstDash val="solid"/>
          </a:ln>
        </p:spPr>
      </p:sp>
      <p:sp>
        <p:nvSpPr>
          <p:cNvPr id="64" name="Text 55"/>
          <p:cNvSpPr txBox="1"/>
          <p:nvPr/>
        </p:nvSpPr>
        <p:spPr>
          <a:xfrm>
            <a:off x="6748272" y="3163824"/>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65" name="Shape 56"/>
          <p:cNvSpPr/>
          <p:nvPr/>
        </p:nvSpPr>
        <p:spPr>
          <a:xfrm>
            <a:off x="6748272" y="3566160"/>
            <a:ext cx="649224" cy="310896"/>
          </a:xfrm>
          <a:prstGeom prst="roundRect">
            <a:avLst>
              <a:gd name="adj" fmla="val 14706"/>
            </a:avLst>
          </a:prstGeom>
          <a:solidFill>
            <a:srgbClr val="0E7C86"/>
          </a:solidFill>
          <a:ln w="9525">
            <a:solidFill>
              <a:srgbClr val="0E7C86"/>
            </a:solidFill>
            <a:prstDash val="solid"/>
          </a:ln>
        </p:spPr>
      </p:sp>
      <p:sp>
        <p:nvSpPr>
          <p:cNvPr id="66" name="Text 57"/>
          <p:cNvSpPr txBox="1"/>
          <p:nvPr/>
        </p:nvSpPr>
        <p:spPr>
          <a:xfrm>
            <a:off x="6748272" y="3566160"/>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67" name="Shape 58"/>
          <p:cNvSpPr/>
          <p:nvPr/>
        </p:nvSpPr>
        <p:spPr>
          <a:xfrm>
            <a:off x="7616952" y="2240280"/>
            <a:ext cx="868680" cy="1783080"/>
          </a:xfrm>
          <a:prstGeom prst="roundRect">
            <a:avLst>
              <a:gd name="adj" fmla="val 8421"/>
            </a:avLst>
          </a:prstGeom>
          <a:solidFill>
            <a:srgbClr val="F4F7F5"/>
          </a:solidFill>
          <a:ln w="9525">
            <a:solidFill>
              <a:srgbClr val="D5DED9"/>
            </a:solidFill>
            <a:prstDash val="solid"/>
          </a:ln>
        </p:spPr>
      </p:sp>
      <p:pic>
        <p:nvPicPr>
          <p:cNvPr id="68" name="Image 6" descr="preencoded.png"/>
          <p:cNvPicPr>
            <a:picLocks noChangeAspect="1"/>
          </p:cNvPicPr>
          <p:nvPr/>
        </p:nvPicPr>
        <p:blipFill>
          <a:blip r:embed="rId6"/>
          <a:stretch>
            <a:fillRect/>
          </a:stretch>
        </p:blipFill>
        <p:spPr>
          <a:xfrm>
            <a:off x="7964424" y="2313432"/>
            <a:ext cx="182880" cy="182880"/>
          </a:xfrm>
          <a:prstGeom prst="rect">
            <a:avLst/>
          </a:prstGeom>
        </p:spPr>
      </p:pic>
      <p:sp>
        <p:nvSpPr>
          <p:cNvPr id="69" name="Text 59"/>
          <p:cNvSpPr txBox="1"/>
          <p:nvPr/>
        </p:nvSpPr>
        <p:spPr>
          <a:xfrm>
            <a:off x="7616952" y="2523744"/>
            <a:ext cx="868680" cy="182880"/>
          </a:xfrm>
          <a:prstGeom prst="rect">
            <a:avLst/>
          </a:prstGeom>
          <a:noFill/>
          <a:ln/>
        </p:spPr>
        <p:txBody>
          <a:bodyPr wrap="square" lIns="0" tIns="0" rIns="0" bIns="0" rtlCol="0" anchor="t"/>
          <a:lstStyle/>
          <a:p>
            <a:pPr marL="0" indent="0" algn="ctr">
              <a:buNone/>
            </a:pPr>
            <a:r>
              <a:rPr lang="en-US" sz="900" b="1" dirty="0">
                <a:solidFill>
                  <a:srgbClr val="5E6964"/>
                </a:solidFill>
                <a:latin typeface="Calibri" pitchFamily="34" charset="0"/>
                <a:ea typeface="Calibri" pitchFamily="34" charset="-122"/>
                <a:cs typeface="Calibri" pitchFamily="34" charset="-120"/>
              </a:rPr>
              <a:t>Nœud 4</a:t>
            </a:r>
            <a:endParaRPr lang="en-US" sz="900" dirty="0"/>
          </a:p>
        </p:txBody>
      </p:sp>
      <p:sp>
        <p:nvSpPr>
          <p:cNvPr id="70" name="Shape 60"/>
          <p:cNvSpPr/>
          <p:nvPr/>
        </p:nvSpPr>
        <p:spPr>
          <a:xfrm>
            <a:off x="7726680" y="2761488"/>
            <a:ext cx="649224" cy="310896"/>
          </a:xfrm>
          <a:prstGeom prst="roundRect">
            <a:avLst>
              <a:gd name="adj" fmla="val 14706"/>
            </a:avLst>
          </a:prstGeom>
          <a:solidFill>
            <a:srgbClr val="00704A"/>
          </a:solidFill>
          <a:ln w="9525">
            <a:solidFill>
              <a:srgbClr val="00704A"/>
            </a:solidFill>
            <a:prstDash val="solid"/>
          </a:ln>
        </p:spPr>
      </p:sp>
      <p:sp>
        <p:nvSpPr>
          <p:cNvPr id="71" name="Text 61"/>
          <p:cNvSpPr txBox="1"/>
          <p:nvPr/>
        </p:nvSpPr>
        <p:spPr>
          <a:xfrm>
            <a:off x="7726680" y="2761488"/>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72" name="Shape 62"/>
          <p:cNvSpPr/>
          <p:nvPr/>
        </p:nvSpPr>
        <p:spPr>
          <a:xfrm>
            <a:off x="7726680" y="3163824"/>
            <a:ext cx="649224" cy="310896"/>
          </a:xfrm>
          <a:prstGeom prst="roundRect">
            <a:avLst>
              <a:gd name="adj" fmla="val 14706"/>
            </a:avLst>
          </a:prstGeom>
          <a:solidFill>
            <a:srgbClr val="0E7C86"/>
          </a:solidFill>
          <a:ln w="9525">
            <a:solidFill>
              <a:srgbClr val="0E7C86"/>
            </a:solidFill>
            <a:prstDash val="solid"/>
          </a:ln>
        </p:spPr>
      </p:sp>
      <p:sp>
        <p:nvSpPr>
          <p:cNvPr id="73" name="Text 63"/>
          <p:cNvSpPr txBox="1"/>
          <p:nvPr/>
        </p:nvSpPr>
        <p:spPr>
          <a:xfrm>
            <a:off x="7726680" y="3163824"/>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74" name="Shape 64"/>
          <p:cNvSpPr/>
          <p:nvPr/>
        </p:nvSpPr>
        <p:spPr>
          <a:xfrm>
            <a:off x="7726680" y="3566160"/>
            <a:ext cx="649224" cy="310896"/>
          </a:xfrm>
          <a:prstGeom prst="roundRect">
            <a:avLst>
              <a:gd name="adj" fmla="val 14706"/>
            </a:avLst>
          </a:prstGeom>
          <a:solidFill>
            <a:srgbClr val="D49A00"/>
          </a:solidFill>
          <a:ln w="9525">
            <a:solidFill>
              <a:srgbClr val="D49A00"/>
            </a:solidFill>
            <a:prstDash val="solid"/>
          </a:ln>
        </p:spPr>
      </p:sp>
      <p:sp>
        <p:nvSpPr>
          <p:cNvPr id="75" name="Text 65"/>
          <p:cNvSpPr txBox="1"/>
          <p:nvPr/>
        </p:nvSpPr>
        <p:spPr>
          <a:xfrm>
            <a:off x="7726680" y="3566160"/>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76" name="Text 66"/>
          <p:cNvSpPr txBox="1"/>
          <p:nvPr/>
        </p:nvSpPr>
        <p:spPr>
          <a:xfrm>
            <a:off x="4572000" y="4087368"/>
            <a:ext cx="3977640" cy="365760"/>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Chaque bloc est présent sur 3 des 4 nœuds : un nœud peut tomber sans perte de données.</a:t>
            </a:r>
            <a:endParaRPr lang="en-US" sz="950" dirty="0"/>
          </a:p>
        </p:txBody>
      </p:sp>
      <p:sp>
        <p:nvSpPr>
          <p:cNvPr id="77" name="Text 67"/>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 guide Apache Hadoop « HDFS Architecture » (taille de bloc et facteur de réplication par défaut).</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 format de fichier est un choix de performance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graphicFrame>
        <p:nvGraphicFramePr>
          <p:cNvPr id="17" name="Chart 0"/>
          <p:cNvGraphicFramePr/>
          <p:nvPr/>
        </p:nvGraphicFramePr>
        <p:xfrm>
          <a:off x="457200" y="1234440"/>
          <a:ext cx="42062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4937760" y="1280160"/>
            <a:ext cx="3749040" cy="960120"/>
          </a:xfrm>
          <a:prstGeom prst="roundRect">
            <a:avLst>
              <a:gd name="adj" fmla="val 7619"/>
            </a:avLst>
          </a:prstGeom>
          <a:solidFill>
            <a:srgbClr val="E8F5EF"/>
          </a:solidFill>
          <a:ln w="15875">
            <a:solidFill>
              <a:srgbClr val="00704A"/>
            </a:solidFill>
            <a:prstDash val="solid"/>
          </a:ln>
        </p:spPr>
      </p:sp>
      <p:sp>
        <p:nvSpPr>
          <p:cNvPr id="19" name="Shape 15"/>
          <p:cNvSpPr/>
          <p:nvPr/>
        </p:nvSpPr>
        <p:spPr>
          <a:xfrm>
            <a:off x="5074920" y="1481328"/>
            <a:ext cx="502920" cy="502920"/>
          </a:xfrm>
          <a:prstGeom prst="ellipse">
            <a:avLst/>
          </a:prstGeom>
          <a:solidFill>
            <a:srgbClr val="00704A">
              <a:alpha val="22000"/>
            </a:srgbClr>
          </a:solidFill>
          <a:ln/>
        </p:spPr>
      </p:sp>
      <p:pic>
        <p:nvPicPr>
          <p:cNvPr id="20" name="Image 0" descr="preencoded.png"/>
          <p:cNvPicPr>
            <a:picLocks noChangeAspect="1"/>
          </p:cNvPicPr>
          <p:nvPr/>
        </p:nvPicPr>
        <p:blipFill>
          <a:blip r:embed="rId4"/>
          <a:stretch>
            <a:fillRect/>
          </a:stretch>
        </p:blipFill>
        <p:spPr>
          <a:xfrm>
            <a:off x="5200650" y="1607058"/>
            <a:ext cx="251460" cy="251460"/>
          </a:xfrm>
          <a:prstGeom prst="rect">
            <a:avLst/>
          </a:prstGeom>
        </p:spPr>
      </p:pic>
      <p:sp>
        <p:nvSpPr>
          <p:cNvPr id="21" name="Text 16"/>
          <p:cNvSpPr txBox="1"/>
          <p:nvPr/>
        </p:nvSpPr>
        <p:spPr>
          <a:xfrm>
            <a:off x="5715000" y="1371600"/>
            <a:ext cx="28346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Lire des colonnes, pas des lignes</a:t>
            </a:r>
            <a:endParaRPr lang="en-US" sz="1200" dirty="0"/>
          </a:p>
        </p:txBody>
      </p:sp>
      <p:sp>
        <p:nvSpPr>
          <p:cNvPr id="22" name="Text 17"/>
          <p:cNvSpPr txBox="1"/>
          <p:nvPr/>
        </p:nvSpPr>
        <p:spPr>
          <a:xfrm>
            <a:off x="5715000" y="1645920"/>
            <a:ext cx="288036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Une vitesse moyenne pondérée n’utilise que 2 des 11 colonnes des fichiers Ookla récents.</a:t>
            </a:r>
            <a:endParaRPr lang="en-US" sz="950" dirty="0"/>
          </a:p>
        </p:txBody>
      </p:sp>
      <p:sp>
        <p:nvSpPr>
          <p:cNvPr id="23" name="Shape 18"/>
          <p:cNvSpPr/>
          <p:nvPr/>
        </p:nvSpPr>
        <p:spPr>
          <a:xfrm>
            <a:off x="4937760" y="2359152"/>
            <a:ext cx="3749040" cy="960120"/>
          </a:xfrm>
          <a:prstGeom prst="roundRect">
            <a:avLst>
              <a:gd name="adj" fmla="val 7619"/>
            </a:avLst>
          </a:prstGeom>
          <a:solidFill>
            <a:srgbClr val="F4F7F5"/>
          </a:solidFill>
          <a:ln w="9525">
            <a:solidFill>
              <a:srgbClr val="D5DED9"/>
            </a:solidFill>
            <a:prstDash val="solid"/>
          </a:ln>
        </p:spPr>
      </p:sp>
      <p:sp>
        <p:nvSpPr>
          <p:cNvPr id="24" name="Shape 19"/>
          <p:cNvSpPr/>
          <p:nvPr/>
        </p:nvSpPr>
        <p:spPr>
          <a:xfrm>
            <a:off x="5074920" y="2560320"/>
            <a:ext cx="502920" cy="502920"/>
          </a:xfrm>
          <a:prstGeom prst="ellipse">
            <a:avLst/>
          </a:prstGeom>
          <a:solidFill>
            <a:srgbClr val="00704A">
              <a:alpha val="22000"/>
            </a:srgbClr>
          </a:solidFill>
          <a:ln/>
        </p:spPr>
      </p:sp>
      <p:pic>
        <p:nvPicPr>
          <p:cNvPr id="25" name="Image 1" descr="preencoded.png"/>
          <p:cNvPicPr>
            <a:picLocks noChangeAspect="1"/>
          </p:cNvPicPr>
          <p:nvPr/>
        </p:nvPicPr>
        <p:blipFill>
          <a:blip r:embed="rId5"/>
          <a:stretch>
            <a:fillRect/>
          </a:stretch>
        </p:blipFill>
        <p:spPr>
          <a:xfrm>
            <a:off x="5200650" y="2686050"/>
            <a:ext cx="251460" cy="251460"/>
          </a:xfrm>
          <a:prstGeom prst="rect">
            <a:avLst/>
          </a:prstGeom>
        </p:spPr>
      </p:pic>
      <p:sp>
        <p:nvSpPr>
          <p:cNvPr id="26" name="Text 20"/>
          <p:cNvSpPr txBox="1"/>
          <p:nvPr/>
        </p:nvSpPr>
        <p:spPr>
          <a:xfrm>
            <a:off x="5715000" y="2450592"/>
            <a:ext cx="28346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Compresser les valeurs proches</a:t>
            </a:r>
            <a:endParaRPr lang="en-US" sz="1200" dirty="0"/>
          </a:p>
        </p:txBody>
      </p:sp>
      <p:sp>
        <p:nvSpPr>
          <p:cNvPr id="27" name="Text 21"/>
          <p:cNvSpPr txBox="1"/>
          <p:nvPr/>
        </p:nvSpPr>
        <p:spPr>
          <a:xfrm>
            <a:off x="5715000" y="2724912"/>
            <a:ext cx="288036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Dans une colonne, les valeurs voisines se ressemblent : la compression est bien meilleure.</a:t>
            </a:r>
            <a:endParaRPr lang="en-US" sz="950" dirty="0"/>
          </a:p>
        </p:txBody>
      </p:sp>
      <p:sp>
        <p:nvSpPr>
          <p:cNvPr id="28" name="Shape 22"/>
          <p:cNvSpPr/>
          <p:nvPr/>
        </p:nvSpPr>
        <p:spPr>
          <a:xfrm>
            <a:off x="4937760" y="3438144"/>
            <a:ext cx="3749040" cy="960120"/>
          </a:xfrm>
          <a:prstGeom prst="roundRect">
            <a:avLst>
              <a:gd name="adj" fmla="val 7619"/>
            </a:avLst>
          </a:prstGeom>
          <a:solidFill>
            <a:srgbClr val="F4F7F5"/>
          </a:solidFill>
          <a:ln w="9525">
            <a:solidFill>
              <a:srgbClr val="D5DED9"/>
            </a:solidFill>
            <a:prstDash val="solid"/>
          </a:ln>
        </p:spPr>
      </p:sp>
      <p:sp>
        <p:nvSpPr>
          <p:cNvPr id="29" name="Shape 23"/>
          <p:cNvSpPr/>
          <p:nvPr/>
        </p:nvSpPr>
        <p:spPr>
          <a:xfrm>
            <a:off x="5074920" y="3639312"/>
            <a:ext cx="502920" cy="502920"/>
          </a:xfrm>
          <a:prstGeom prst="ellipse">
            <a:avLst/>
          </a:prstGeom>
          <a:solidFill>
            <a:srgbClr val="00704A">
              <a:alpha val="22000"/>
            </a:srgbClr>
          </a:solidFill>
          <a:ln/>
        </p:spPr>
      </p:sp>
      <p:pic>
        <p:nvPicPr>
          <p:cNvPr id="30" name="Image 2" descr="preencoded.png"/>
          <p:cNvPicPr>
            <a:picLocks noChangeAspect="1"/>
          </p:cNvPicPr>
          <p:nvPr/>
        </p:nvPicPr>
        <p:blipFill>
          <a:blip r:embed="rId6"/>
          <a:stretch>
            <a:fillRect/>
          </a:stretch>
        </p:blipFill>
        <p:spPr>
          <a:xfrm>
            <a:off x="5200650" y="3765042"/>
            <a:ext cx="251460" cy="251460"/>
          </a:xfrm>
          <a:prstGeom prst="rect">
            <a:avLst/>
          </a:prstGeom>
        </p:spPr>
      </p:pic>
      <p:sp>
        <p:nvSpPr>
          <p:cNvPr id="31" name="Text 24"/>
          <p:cNvSpPr txBox="1"/>
          <p:nvPr/>
        </p:nvSpPr>
        <p:spPr>
          <a:xfrm>
            <a:off x="5715000" y="3529584"/>
            <a:ext cx="28346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Ignorer l’inutile</a:t>
            </a:r>
            <a:endParaRPr lang="en-US" sz="1200" dirty="0"/>
          </a:p>
        </p:txBody>
      </p:sp>
      <p:sp>
        <p:nvSpPr>
          <p:cNvPr id="32" name="Text 25"/>
          <p:cNvSpPr txBox="1"/>
          <p:nvPr/>
        </p:nvSpPr>
        <p:spPr>
          <a:xfrm>
            <a:off x="5715000" y="3803904"/>
            <a:ext cx="288036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 min/max par groupe de lignes permettent de sauter des blocs entiers (predicate pushdown).</a:t>
            </a:r>
            <a:endParaRPr lang="en-US" sz="950" dirty="0"/>
          </a:p>
        </p:txBody>
      </p:sp>
      <p:sp>
        <p:nvSpPr>
          <p:cNvPr id="33" name="Text 26"/>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Ordres de grandeur illustratifs, pas un banc d’essai. Sources : documentation Apache Parquet ; schéma Ookla Open Data.</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Entrepôt, lac, lakehouse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280160"/>
            <a:ext cx="2624328" cy="3246120"/>
          </a:xfrm>
          <a:prstGeom prst="roundRect">
            <a:avLst>
              <a:gd name="adj" fmla="val 2787"/>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5E6964">
              <a:alpha val="22000"/>
            </a:srgbClr>
          </a:solidFill>
          <a:ln/>
        </p:spPr>
      </p:sp>
      <p:pic>
        <p:nvPicPr>
          <p:cNvPr id="19" name="Image 0" descr="preencoded.png"/>
          <p:cNvPicPr>
            <a:picLocks noChangeAspect="1"/>
          </p:cNvPicPr>
          <p:nvPr/>
        </p:nvPicPr>
        <p:blipFill>
          <a:blip r:embed="rId3"/>
          <a:stretch>
            <a:fillRect/>
          </a:stretch>
        </p:blipFill>
        <p:spPr>
          <a:xfrm>
            <a:off x="704088" y="1499616"/>
            <a:ext cx="219456" cy="219456"/>
          </a:xfrm>
          <a:prstGeom prst="rect">
            <a:avLst/>
          </a:prstGeom>
        </p:spPr>
      </p:pic>
      <p:sp>
        <p:nvSpPr>
          <p:cNvPr id="20" name="Text 16"/>
          <p:cNvSpPr txBox="1"/>
          <p:nvPr/>
        </p:nvSpPr>
        <p:spPr>
          <a:xfrm>
            <a:off x="1115568" y="1389888"/>
            <a:ext cx="1874520" cy="43891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Entrepôt de données</a:t>
            </a:r>
            <a:endParaRPr lang="en-US" sz="1400" dirty="0"/>
          </a:p>
        </p:txBody>
      </p:sp>
      <p:sp>
        <p:nvSpPr>
          <p:cNvPr id="21" name="Text 17"/>
          <p:cNvSpPr txBox="1"/>
          <p:nvPr/>
        </p:nvSpPr>
        <p:spPr>
          <a:xfrm>
            <a:off x="621792" y="196596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CONTENU</a:t>
            </a:r>
            <a:endParaRPr lang="en-US" sz="750" dirty="0"/>
          </a:p>
        </p:txBody>
      </p:sp>
      <p:sp>
        <p:nvSpPr>
          <p:cNvPr id="22" name="Text 18"/>
          <p:cNvSpPr txBox="1"/>
          <p:nvPr/>
        </p:nvSpPr>
        <p:spPr>
          <a:xfrm>
            <a:off x="621792" y="212140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Tables structurées et curées</a:t>
            </a:r>
            <a:endParaRPr lang="en-US" sz="950" dirty="0"/>
          </a:p>
        </p:txBody>
      </p:sp>
      <p:sp>
        <p:nvSpPr>
          <p:cNvPr id="23" name="Text 19"/>
          <p:cNvSpPr txBox="1"/>
          <p:nvPr/>
        </p:nvSpPr>
        <p:spPr>
          <a:xfrm>
            <a:off x="621792" y="246888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SCHÉMA</a:t>
            </a:r>
            <a:endParaRPr lang="en-US" sz="750" dirty="0"/>
          </a:p>
        </p:txBody>
      </p:sp>
      <p:sp>
        <p:nvSpPr>
          <p:cNvPr id="24" name="Text 20"/>
          <p:cNvSpPr txBox="1"/>
          <p:nvPr/>
        </p:nvSpPr>
        <p:spPr>
          <a:xfrm>
            <a:off x="621792" y="262432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Schéma imposé à l’écriture</a:t>
            </a:r>
            <a:endParaRPr lang="en-US" sz="950" dirty="0"/>
          </a:p>
        </p:txBody>
      </p:sp>
      <p:sp>
        <p:nvSpPr>
          <p:cNvPr id="25" name="Text 21"/>
          <p:cNvSpPr txBox="1"/>
          <p:nvPr/>
        </p:nvSpPr>
        <p:spPr>
          <a:xfrm>
            <a:off x="621792" y="297180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ATOUT</a:t>
            </a:r>
            <a:endParaRPr lang="en-US" sz="750" dirty="0"/>
          </a:p>
        </p:txBody>
      </p:sp>
      <p:sp>
        <p:nvSpPr>
          <p:cNvPr id="26" name="Text 22"/>
          <p:cNvSpPr txBox="1"/>
          <p:nvPr/>
        </p:nvSpPr>
        <p:spPr>
          <a:xfrm>
            <a:off x="621792" y="312724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SQL rapide, gouvernance forte</a:t>
            </a:r>
            <a:endParaRPr lang="en-US" sz="950" dirty="0"/>
          </a:p>
        </p:txBody>
      </p:sp>
      <p:sp>
        <p:nvSpPr>
          <p:cNvPr id="27" name="Text 23"/>
          <p:cNvSpPr txBox="1"/>
          <p:nvPr/>
        </p:nvSpPr>
        <p:spPr>
          <a:xfrm>
            <a:off x="621792" y="347472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POINT DE VIGILANCE</a:t>
            </a:r>
            <a:endParaRPr lang="en-US" sz="750" dirty="0"/>
          </a:p>
        </p:txBody>
      </p:sp>
      <p:sp>
        <p:nvSpPr>
          <p:cNvPr id="28" name="Text 24"/>
          <p:cNvSpPr txBox="1"/>
          <p:nvPr/>
        </p:nvSpPr>
        <p:spPr>
          <a:xfrm>
            <a:off x="621792" y="3630168"/>
            <a:ext cx="2377440" cy="338328"/>
          </a:xfrm>
          <a:prstGeom prst="rect">
            <a:avLst/>
          </a:prstGeom>
          <a:noFill/>
          <a:ln/>
        </p:spPr>
        <p:txBody>
          <a:bodyPr wrap="square" lIns="0" tIns="0" rIns="0" bIns="0" rtlCol="0" anchor="t"/>
          <a:lstStyle/>
          <a:p>
            <a:pPr marL="0" indent="0">
              <a:buNone/>
            </a:pPr>
            <a:r>
              <a:rPr lang="en-US" sz="950" i="1" dirty="0">
                <a:solidFill>
                  <a:srgbClr val="231F20"/>
                </a:solidFill>
                <a:latin typeface="Calibri" pitchFamily="34" charset="0"/>
                <a:ea typeface="Calibri" pitchFamily="34" charset="-122"/>
                <a:cs typeface="Calibri" pitchFamily="34" charset="-120"/>
              </a:rPr>
              <a:t>Rigide ; coûteux à faire grandir</a:t>
            </a:r>
            <a:endParaRPr lang="en-US" sz="950" dirty="0"/>
          </a:p>
        </p:txBody>
      </p:sp>
      <p:sp>
        <p:nvSpPr>
          <p:cNvPr id="29" name="Text 25"/>
          <p:cNvSpPr txBox="1"/>
          <p:nvPr/>
        </p:nvSpPr>
        <p:spPr>
          <a:xfrm>
            <a:off x="621792" y="397764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EXEMPLES</a:t>
            </a:r>
            <a:endParaRPr lang="en-US" sz="750" dirty="0"/>
          </a:p>
        </p:txBody>
      </p:sp>
      <p:sp>
        <p:nvSpPr>
          <p:cNvPr id="30" name="Text 26"/>
          <p:cNvSpPr txBox="1"/>
          <p:nvPr/>
        </p:nvSpPr>
        <p:spPr>
          <a:xfrm>
            <a:off x="621792" y="413308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BigQuery, Snowflake, PostgreSQL</a:t>
            </a:r>
            <a:endParaRPr lang="en-US" sz="950" dirty="0"/>
          </a:p>
        </p:txBody>
      </p:sp>
      <p:sp>
        <p:nvSpPr>
          <p:cNvPr id="31" name="Shape 27"/>
          <p:cNvSpPr/>
          <p:nvPr/>
        </p:nvSpPr>
        <p:spPr>
          <a:xfrm>
            <a:off x="3264408" y="1280160"/>
            <a:ext cx="2624328" cy="3246120"/>
          </a:xfrm>
          <a:prstGeom prst="roundRect">
            <a:avLst>
              <a:gd name="adj" fmla="val 2787"/>
            </a:avLst>
          </a:prstGeom>
          <a:solidFill>
            <a:srgbClr val="F4F7F5"/>
          </a:solidFill>
          <a:ln w="9525">
            <a:solidFill>
              <a:srgbClr val="D5DED9"/>
            </a:solidFill>
            <a:prstDash val="solid"/>
          </a:ln>
        </p:spPr>
      </p:sp>
      <p:sp>
        <p:nvSpPr>
          <p:cNvPr id="32" name="Shape 28"/>
          <p:cNvSpPr/>
          <p:nvPr/>
        </p:nvSpPr>
        <p:spPr>
          <a:xfrm>
            <a:off x="3401568" y="1389888"/>
            <a:ext cx="438912" cy="438912"/>
          </a:xfrm>
          <a:prstGeom prst="ellipse">
            <a:avLst/>
          </a:prstGeom>
          <a:solidFill>
            <a:srgbClr val="0E7C86">
              <a:alpha val="22000"/>
            </a:srgbClr>
          </a:solidFill>
          <a:ln/>
        </p:spPr>
      </p:sp>
      <p:pic>
        <p:nvPicPr>
          <p:cNvPr id="33" name="Image 1" descr="preencoded.png"/>
          <p:cNvPicPr>
            <a:picLocks noChangeAspect="1"/>
          </p:cNvPicPr>
          <p:nvPr/>
        </p:nvPicPr>
        <p:blipFill>
          <a:blip r:embed="rId4"/>
          <a:stretch>
            <a:fillRect/>
          </a:stretch>
        </p:blipFill>
        <p:spPr>
          <a:xfrm>
            <a:off x="3511296" y="1499616"/>
            <a:ext cx="219456" cy="219456"/>
          </a:xfrm>
          <a:prstGeom prst="rect">
            <a:avLst/>
          </a:prstGeom>
        </p:spPr>
      </p:pic>
      <p:sp>
        <p:nvSpPr>
          <p:cNvPr id="34" name="Text 29"/>
          <p:cNvSpPr txBox="1"/>
          <p:nvPr/>
        </p:nvSpPr>
        <p:spPr>
          <a:xfrm>
            <a:off x="3922776" y="1389888"/>
            <a:ext cx="1874520" cy="43891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Lac de données</a:t>
            </a:r>
            <a:endParaRPr lang="en-US" sz="1400" dirty="0"/>
          </a:p>
        </p:txBody>
      </p:sp>
      <p:sp>
        <p:nvSpPr>
          <p:cNvPr id="35" name="Text 30"/>
          <p:cNvSpPr txBox="1"/>
          <p:nvPr/>
        </p:nvSpPr>
        <p:spPr>
          <a:xfrm>
            <a:off x="3429000" y="196596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CONTENU</a:t>
            </a:r>
            <a:endParaRPr lang="en-US" sz="750" dirty="0"/>
          </a:p>
        </p:txBody>
      </p:sp>
      <p:sp>
        <p:nvSpPr>
          <p:cNvPr id="36" name="Text 31"/>
          <p:cNvSpPr txBox="1"/>
          <p:nvPr/>
        </p:nvSpPr>
        <p:spPr>
          <a:xfrm>
            <a:off x="3429000" y="212140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Fichiers bruts, tout format</a:t>
            </a:r>
            <a:endParaRPr lang="en-US" sz="950" dirty="0"/>
          </a:p>
        </p:txBody>
      </p:sp>
      <p:sp>
        <p:nvSpPr>
          <p:cNvPr id="37" name="Text 32"/>
          <p:cNvSpPr txBox="1"/>
          <p:nvPr/>
        </p:nvSpPr>
        <p:spPr>
          <a:xfrm>
            <a:off x="3429000" y="246888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SCHÉMA</a:t>
            </a:r>
            <a:endParaRPr lang="en-US" sz="750" dirty="0"/>
          </a:p>
        </p:txBody>
      </p:sp>
      <p:sp>
        <p:nvSpPr>
          <p:cNvPr id="38" name="Text 33"/>
          <p:cNvSpPr txBox="1"/>
          <p:nvPr/>
        </p:nvSpPr>
        <p:spPr>
          <a:xfrm>
            <a:off x="3429000" y="262432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Schéma interprété à la lecture</a:t>
            </a:r>
            <a:endParaRPr lang="en-US" sz="950" dirty="0"/>
          </a:p>
        </p:txBody>
      </p:sp>
      <p:sp>
        <p:nvSpPr>
          <p:cNvPr id="39" name="Text 34"/>
          <p:cNvSpPr txBox="1"/>
          <p:nvPr/>
        </p:nvSpPr>
        <p:spPr>
          <a:xfrm>
            <a:off x="3429000" y="297180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ATOUT</a:t>
            </a:r>
            <a:endParaRPr lang="en-US" sz="750" dirty="0"/>
          </a:p>
        </p:txBody>
      </p:sp>
      <p:sp>
        <p:nvSpPr>
          <p:cNvPr id="40" name="Text 35"/>
          <p:cNvSpPr txBox="1"/>
          <p:nvPr/>
        </p:nvSpPr>
        <p:spPr>
          <a:xfrm>
            <a:off x="3429000" y="312724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Bon marché, souple, illimité</a:t>
            </a:r>
            <a:endParaRPr lang="en-US" sz="950" dirty="0"/>
          </a:p>
        </p:txBody>
      </p:sp>
      <p:sp>
        <p:nvSpPr>
          <p:cNvPr id="41" name="Text 36"/>
          <p:cNvSpPr txBox="1"/>
          <p:nvPr/>
        </p:nvSpPr>
        <p:spPr>
          <a:xfrm>
            <a:off x="3429000" y="347472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POINT DE VIGILANCE</a:t>
            </a:r>
            <a:endParaRPr lang="en-US" sz="750" dirty="0"/>
          </a:p>
        </p:txBody>
      </p:sp>
      <p:sp>
        <p:nvSpPr>
          <p:cNvPr id="42" name="Text 37"/>
          <p:cNvSpPr txBox="1"/>
          <p:nvPr/>
        </p:nvSpPr>
        <p:spPr>
          <a:xfrm>
            <a:off x="3429000" y="3630168"/>
            <a:ext cx="2377440" cy="338328"/>
          </a:xfrm>
          <a:prstGeom prst="rect">
            <a:avLst/>
          </a:prstGeom>
          <a:noFill/>
          <a:ln/>
        </p:spPr>
        <p:txBody>
          <a:bodyPr wrap="square" lIns="0" tIns="0" rIns="0" bIns="0" rtlCol="0" anchor="t"/>
          <a:lstStyle/>
          <a:p>
            <a:pPr marL="0" indent="0">
              <a:buNone/>
            </a:pPr>
            <a:r>
              <a:rPr lang="en-US" sz="950" i="1" dirty="0">
                <a:solidFill>
                  <a:srgbClr val="231F20"/>
                </a:solidFill>
                <a:latin typeface="Calibri" pitchFamily="34" charset="0"/>
                <a:ea typeface="Calibri" pitchFamily="34" charset="-122"/>
                <a:cs typeface="Calibri" pitchFamily="34" charset="-120"/>
              </a:rPr>
              <a:t>Devient un « marécage » sans discipline</a:t>
            </a:r>
            <a:endParaRPr lang="en-US" sz="950" dirty="0"/>
          </a:p>
        </p:txBody>
      </p:sp>
      <p:sp>
        <p:nvSpPr>
          <p:cNvPr id="43" name="Text 38"/>
          <p:cNvSpPr txBox="1"/>
          <p:nvPr/>
        </p:nvSpPr>
        <p:spPr>
          <a:xfrm>
            <a:off x="3429000" y="397764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EXEMPLES</a:t>
            </a:r>
            <a:endParaRPr lang="en-US" sz="750" dirty="0"/>
          </a:p>
        </p:txBody>
      </p:sp>
      <p:sp>
        <p:nvSpPr>
          <p:cNvPr id="44" name="Text 39"/>
          <p:cNvSpPr txBox="1"/>
          <p:nvPr/>
        </p:nvSpPr>
        <p:spPr>
          <a:xfrm>
            <a:off x="3429000" y="413308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Stockage objet + Parquet, GeoTIFF, HDF5</a:t>
            </a:r>
            <a:endParaRPr lang="en-US" sz="950" dirty="0"/>
          </a:p>
        </p:txBody>
      </p:sp>
      <p:sp>
        <p:nvSpPr>
          <p:cNvPr id="45" name="Shape 40"/>
          <p:cNvSpPr/>
          <p:nvPr/>
        </p:nvSpPr>
        <p:spPr>
          <a:xfrm>
            <a:off x="6071616" y="1280160"/>
            <a:ext cx="2624328" cy="3246120"/>
          </a:xfrm>
          <a:prstGeom prst="roundRect">
            <a:avLst>
              <a:gd name="adj" fmla="val 2787"/>
            </a:avLst>
          </a:prstGeom>
          <a:solidFill>
            <a:srgbClr val="E8F5EF"/>
          </a:solidFill>
          <a:ln w="15875">
            <a:solidFill>
              <a:srgbClr val="00704A"/>
            </a:solidFill>
            <a:prstDash val="solid"/>
          </a:ln>
        </p:spPr>
      </p:sp>
      <p:sp>
        <p:nvSpPr>
          <p:cNvPr id="46" name="Shape 41"/>
          <p:cNvSpPr/>
          <p:nvPr/>
        </p:nvSpPr>
        <p:spPr>
          <a:xfrm>
            <a:off x="6208776" y="1389888"/>
            <a:ext cx="438912" cy="438912"/>
          </a:xfrm>
          <a:prstGeom prst="ellipse">
            <a:avLst/>
          </a:prstGeom>
          <a:solidFill>
            <a:srgbClr val="00704A">
              <a:alpha val="22000"/>
            </a:srgbClr>
          </a:solidFill>
          <a:ln/>
        </p:spPr>
      </p:sp>
      <p:pic>
        <p:nvPicPr>
          <p:cNvPr id="47" name="Image 2" descr="preencoded.png"/>
          <p:cNvPicPr>
            <a:picLocks noChangeAspect="1"/>
          </p:cNvPicPr>
          <p:nvPr/>
        </p:nvPicPr>
        <p:blipFill>
          <a:blip r:embed="rId5"/>
          <a:stretch>
            <a:fillRect/>
          </a:stretch>
        </p:blipFill>
        <p:spPr>
          <a:xfrm>
            <a:off x="6318504" y="1499616"/>
            <a:ext cx="219456" cy="219456"/>
          </a:xfrm>
          <a:prstGeom prst="rect">
            <a:avLst/>
          </a:prstGeom>
        </p:spPr>
      </p:pic>
      <p:sp>
        <p:nvSpPr>
          <p:cNvPr id="48" name="Text 42"/>
          <p:cNvSpPr txBox="1"/>
          <p:nvPr/>
        </p:nvSpPr>
        <p:spPr>
          <a:xfrm>
            <a:off x="6729984" y="1389888"/>
            <a:ext cx="1874520" cy="43891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Lakehouse</a:t>
            </a:r>
            <a:endParaRPr lang="en-US" sz="1400" dirty="0"/>
          </a:p>
        </p:txBody>
      </p:sp>
      <p:sp>
        <p:nvSpPr>
          <p:cNvPr id="49" name="Text 43"/>
          <p:cNvSpPr txBox="1"/>
          <p:nvPr/>
        </p:nvSpPr>
        <p:spPr>
          <a:xfrm>
            <a:off x="6236208" y="196596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CONTENU</a:t>
            </a:r>
            <a:endParaRPr lang="en-US" sz="750" dirty="0"/>
          </a:p>
        </p:txBody>
      </p:sp>
      <p:sp>
        <p:nvSpPr>
          <p:cNvPr id="50" name="Text 44"/>
          <p:cNvSpPr txBox="1"/>
          <p:nvPr/>
        </p:nvSpPr>
        <p:spPr>
          <a:xfrm>
            <a:off x="6236208" y="212140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Du brut au curé, en un seul lieu</a:t>
            </a:r>
            <a:endParaRPr lang="en-US" sz="950" dirty="0"/>
          </a:p>
        </p:txBody>
      </p:sp>
      <p:sp>
        <p:nvSpPr>
          <p:cNvPr id="51" name="Text 45"/>
          <p:cNvSpPr txBox="1"/>
          <p:nvPr/>
        </p:nvSpPr>
        <p:spPr>
          <a:xfrm>
            <a:off x="6236208" y="246888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SCHÉMA</a:t>
            </a:r>
            <a:endParaRPr lang="en-US" sz="750" dirty="0"/>
          </a:p>
        </p:txBody>
      </p:sp>
      <p:sp>
        <p:nvSpPr>
          <p:cNvPr id="52" name="Text 46"/>
          <p:cNvSpPr txBox="1"/>
          <p:nvPr/>
        </p:nvSpPr>
        <p:spPr>
          <a:xfrm>
            <a:off x="6236208" y="262432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À la lecture + tables contrôlées</a:t>
            </a:r>
            <a:endParaRPr lang="en-US" sz="950" dirty="0"/>
          </a:p>
        </p:txBody>
      </p:sp>
      <p:sp>
        <p:nvSpPr>
          <p:cNvPr id="53" name="Text 47"/>
          <p:cNvSpPr txBox="1"/>
          <p:nvPr/>
        </p:nvSpPr>
        <p:spPr>
          <a:xfrm>
            <a:off x="6236208" y="297180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ATOUT</a:t>
            </a:r>
            <a:endParaRPr lang="en-US" sz="750" dirty="0"/>
          </a:p>
        </p:txBody>
      </p:sp>
      <p:sp>
        <p:nvSpPr>
          <p:cNvPr id="54" name="Text 48"/>
          <p:cNvSpPr txBox="1"/>
          <p:nvPr/>
        </p:nvSpPr>
        <p:spPr>
          <a:xfrm>
            <a:off x="6236208" y="312724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Transactions, voyage dans le temps, évolution du schéma</a:t>
            </a:r>
            <a:endParaRPr lang="en-US" sz="950" dirty="0"/>
          </a:p>
        </p:txBody>
      </p:sp>
      <p:sp>
        <p:nvSpPr>
          <p:cNvPr id="55" name="Text 49"/>
          <p:cNvSpPr txBox="1"/>
          <p:nvPr/>
        </p:nvSpPr>
        <p:spPr>
          <a:xfrm>
            <a:off x="6236208" y="347472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POINT DE VIGILANCE</a:t>
            </a:r>
            <a:endParaRPr lang="en-US" sz="750" dirty="0"/>
          </a:p>
        </p:txBody>
      </p:sp>
      <p:sp>
        <p:nvSpPr>
          <p:cNvPr id="56" name="Text 50"/>
          <p:cNvSpPr txBox="1"/>
          <p:nvPr/>
        </p:nvSpPr>
        <p:spPr>
          <a:xfrm>
            <a:off x="6236208" y="3630168"/>
            <a:ext cx="2377440" cy="338328"/>
          </a:xfrm>
          <a:prstGeom prst="rect">
            <a:avLst/>
          </a:prstGeom>
          <a:noFill/>
          <a:ln/>
        </p:spPr>
        <p:txBody>
          <a:bodyPr wrap="square" lIns="0" tIns="0" rIns="0" bIns="0" rtlCol="0" anchor="t"/>
          <a:lstStyle/>
          <a:p>
            <a:pPr marL="0" indent="0">
              <a:buNone/>
            </a:pPr>
            <a:r>
              <a:rPr lang="en-US" sz="950" i="1" dirty="0">
                <a:solidFill>
                  <a:srgbClr val="231F20"/>
                </a:solidFill>
                <a:latin typeface="Calibri" pitchFamily="34" charset="0"/>
                <a:ea typeface="Calibri" pitchFamily="34" charset="-122"/>
                <a:cs typeface="Calibri" pitchFamily="34" charset="-120"/>
              </a:rPr>
              <a:t>Exige une maturité en ingénierie</a:t>
            </a:r>
            <a:endParaRPr lang="en-US" sz="950" dirty="0"/>
          </a:p>
        </p:txBody>
      </p:sp>
      <p:sp>
        <p:nvSpPr>
          <p:cNvPr id="57" name="Text 51"/>
          <p:cNvSpPr txBox="1"/>
          <p:nvPr/>
        </p:nvSpPr>
        <p:spPr>
          <a:xfrm>
            <a:off x="6236208" y="397764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EXEMPLES</a:t>
            </a:r>
            <a:endParaRPr lang="en-US" sz="750" dirty="0"/>
          </a:p>
        </p:txBody>
      </p:sp>
      <p:sp>
        <p:nvSpPr>
          <p:cNvPr id="58" name="Text 52"/>
          <p:cNvSpPr txBox="1"/>
          <p:nvPr/>
        </p:nvSpPr>
        <p:spPr>
          <a:xfrm>
            <a:off x="6236208" y="4133088"/>
            <a:ext cx="2377440" cy="33832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Apache Iceberg, Delta Lake, Apache Hudi</a:t>
            </a:r>
            <a:endParaRPr lang="en-US" sz="950" dirty="0"/>
          </a:p>
        </p:txBody>
      </p:sp>
      <p:sp>
        <p:nvSpPr>
          <p:cNvPr id="59" name="Text 53"/>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 Armbrust et al., « Lakehouse: A New Generation of Open Platforms… », CIDR 2021.</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 modèle médaillon appliqué à nos données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280160"/>
            <a:ext cx="2377440" cy="2834640"/>
          </a:xfrm>
          <a:prstGeom prst="roundRect">
            <a:avLst>
              <a:gd name="adj" fmla="val 3077"/>
            </a:avLst>
          </a:prstGeom>
          <a:solidFill>
            <a:srgbClr val="FFFFFF"/>
          </a:solidFill>
          <a:ln w="19050">
            <a:solidFill>
              <a:srgbClr val="C4621D"/>
            </a:solidFill>
            <a:prstDash val="solid"/>
          </a:ln>
        </p:spPr>
      </p:sp>
      <p:sp>
        <p:nvSpPr>
          <p:cNvPr id="18" name="Shape 15"/>
          <p:cNvSpPr/>
          <p:nvPr/>
        </p:nvSpPr>
        <p:spPr>
          <a:xfrm>
            <a:off x="457200" y="1280160"/>
            <a:ext cx="2377440" cy="640080"/>
          </a:xfrm>
          <a:prstGeom prst="roundRect">
            <a:avLst>
              <a:gd name="adj" fmla="val 11429"/>
            </a:avLst>
          </a:prstGeom>
          <a:solidFill>
            <a:srgbClr val="C4621D"/>
          </a:solidFill>
          <a:ln w="19050">
            <a:solidFill>
              <a:srgbClr val="C4621D"/>
            </a:solidFill>
            <a:prstDash val="solid"/>
          </a:ln>
        </p:spPr>
      </p:sp>
      <p:sp>
        <p:nvSpPr>
          <p:cNvPr id="19" name="Text 16"/>
          <p:cNvSpPr txBox="1"/>
          <p:nvPr/>
        </p:nvSpPr>
        <p:spPr>
          <a:xfrm>
            <a:off x="594360" y="1325880"/>
            <a:ext cx="2103120" cy="320040"/>
          </a:xfrm>
          <a:prstGeom prst="rect">
            <a:avLst/>
          </a:prstGeom>
          <a:noFill/>
          <a:ln/>
        </p:spPr>
        <p:txBody>
          <a:bodyPr wrap="square" lIns="0" tIns="0" rIns="0" bIns="0" rtlCol="0" anchor="t"/>
          <a:lstStyle/>
          <a:p>
            <a:pPr marL="0" indent="0">
              <a:buNone/>
            </a:pPr>
            <a:r>
              <a:rPr lang="en-US" sz="1600" b="1" kern="0" spc="300" dirty="0">
                <a:solidFill>
                  <a:srgbClr val="FFFFFF"/>
                </a:solidFill>
                <a:latin typeface="Calibri" pitchFamily="34" charset="0"/>
                <a:ea typeface="Calibri" pitchFamily="34" charset="-122"/>
                <a:cs typeface="Calibri" pitchFamily="34" charset="-120"/>
              </a:rPr>
              <a:t>BRONZE</a:t>
            </a:r>
            <a:endParaRPr lang="en-US" sz="1600" dirty="0"/>
          </a:p>
        </p:txBody>
      </p:sp>
      <p:sp>
        <p:nvSpPr>
          <p:cNvPr id="20" name="Text 17"/>
          <p:cNvSpPr txBox="1"/>
          <p:nvPr/>
        </p:nvSpPr>
        <p:spPr>
          <a:xfrm>
            <a:off x="594360" y="1627632"/>
            <a:ext cx="2103120" cy="228600"/>
          </a:xfrm>
          <a:prstGeom prst="rect">
            <a:avLst/>
          </a:prstGeom>
          <a:noFill/>
          <a:ln/>
        </p:spPr>
        <p:txBody>
          <a:bodyPr wrap="square" lIns="0" tIns="0" rIns="0" bIns="0" rtlCol="0" anchor="t"/>
          <a:lstStyle/>
          <a:p>
            <a:pPr marL="0" indent="0">
              <a:buNone/>
            </a:pPr>
            <a:r>
              <a:rPr lang="en-US" sz="1050" i="1" dirty="0">
                <a:solidFill>
                  <a:srgbClr val="FFFFFF"/>
                </a:solidFill>
                <a:latin typeface="Calibri" pitchFamily="34" charset="0"/>
                <a:ea typeface="Calibri" pitchFamily="34" charset="-122"/>
                <a:cs typeface="Calibri" pitchFamily="34" charset="-120"/>
              </a:rPr>
              <a:t>Brut, tel que reçu</a:t>
            </a:r>
            <a:endParaRPr lang="en-US" sz="1050" dirty="0"/>
          </a:p>
        </p:txBody>
      </p:sp>
      <p:sp>
        <p:nvSpPr>
          <p:cNvPr id="21" name="Text 18"/>
          <p:cNvSpPr txBox="1"/>
          <p:nvPr/>
        </p:nvSpPr>
        <p:spPr>
          <a:xfrm>
            <a:off x="594360" y="2029968"/>
            <a:ext cx="2103120" cy="201168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Fichiers Parquet trimestriels Ookla</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Rasters GeoTIFF WorldPop</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Granules HDF5 Black Marble</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Fichiers de limites administratives</a:t>
            </a:r>
            <a:endParaRPr lang="en-US" sz="1000" dirty="0"/>
          </a:p>
        </p:txBody>
      </p:sp>
      <p:sp>
        <p:nvSpPr>
          <p:cNvPr id="22" name="Shape 19"/>
          <p:cNvSpPr/>
          <p:nvPr/>
        </p:nvSpPr>
        <p:spPr>
          <a:xfrm>
            <a:off x="2907792" y="2697480"/>
            <a:ext cx="402336" cy="91"/>
          </a:xfrm>
          <a:prstGeom prst="line">
            <a:avLst/>
          </a:prstGeom>
          <a:noFill/>
          <a:ln w="25400">
            <a:solidFill>
              <a:srgbClr val="00A86A"/>
            </a:solidFill>
            <a:prstDash val="solid"/>
            <a:tailEnd type="triangle"/>
          </a:ln>
        </p:spPr>
      </p:sp>
      <p:pic>
        <p:nvPicPr>
          <p:cNvPr id="23" name="Image 0" descr="preencoded.png"/>
          <p:cNvPicPr>
            <a:picLocks noChangeAspect="1"/>
          </p:cNvPicPr>
          <p:nvPr/>
        </p:nvPicPr>
        <p:blipFill>
          <a:blip r:embed="rId3"/>
          <a:stretch>
            <a:fillRect/>
          </a:stretch>
        </p:blipFill>
        <p:spPr>
          <a:xfrm>
            <a:off x="2990088" y="2286000"/>
            <a:ext cx="237744" cy="237744"/>
          </a:xfrm>
          <a:prstGeom prst="rect">
            <a:avLst/>
          </a:prstGeom>
        </p:spPr>
      </p:pic>
      <p:sp>
        <p:nvSpPr>
          <p:cNvPr id="24" name="Shape 20"/>
          <p:cNvSpPr/>
          <p:nvPr/>
        </p:nvSpPr>
        <p:spPr>
          <a:xfrm>
            <a:off x="3383280" y="1280160"/>
            <a:ext cx="2377440" cy="2834640"/>
          </a:xfrm>
          <a:prstGeom prst="roundRect">
            <a:avLst>
              <a:gd name="adj" fmla="val 3077"/>
            </a:avLst>
          </a:prstGeom>
          <a:solidFill>
            <a:srgbClr val="FFFFFF"/>
          </a:solidFill>
          <a:ln w="19050">
            <a:solidFill>
              <a:srgbClr val="5E6964"/>
            </a:solidFill>
            <a:prstDash val="solid"/>
          </a:ln>
        </p:spPr>
      </p:sp>
      <p:sp>
        <p:nvSpPr>
          <p:cNvPr id="25" name="Shape 21"/>
          <p:cNvSpPr/>
          <p:nvPr/>
        </p:nvSpPr>
        <p:spPr>
          <a:xfrm>
            <a:off x="3383280" y="1280160"/>
            <a:ext cx="2377440" cy="640080"/>
          </a:xfrm>
          <a:prstGeom prst="roundRect">
            <a:avLst>
              <a:gd name="adj" fmla="val 11429"/>
            </a:avLst>
          </a:prstGeom>
          <a:solidFill>
            <a:srgbClr val="5E6964"/>
          </a:solidFill>
          <a:ln w="19050">
            <a:solidFill>
              <a:srgbClr val="5E6964"/>
            </a:solidFill>
            <a:prstDash val="solid"/>
          </a:ln>
        </p:spPr>
      </p:sp>
      <p:sp>
        <p:nvSpPr>
          <p:cNvPr id="26" name="Text 22"/>
          <p:cNvSpPr txBox="1"/>
          <p:nvPr/>
        </p:nvSpPr>
        <p:spPr>
          <a:xfrm>
            <a:off x="3520440" y="1325880"/>
            <a:ext cx="2103120" cy="320040"/>
          </a:xfrm>
          <a:prstGeom prst="rect">
            <a:avLst/>
          </a:prstGeom>
          <a:noFill/>
          <a:ln/>
        </p:spPr>
        <p:txBody>
          <a:bodyPr wrap="square" lIns="0" tIns="0" rIns="0" bIns="0" rtlCol="0" anchor="t"/>
          <a:lstStyle/>
          <a:p>
            <a:pPr marL="0" indent="0">
              <a:buNone/>
            </a:pPr>
            <a:r>
              <a:rPr lang="en-US" sz="1600" b="1" kern="0" spc="300" dirty="0">
                <a:solidFill>
                  <a:srgbClr val="FFFFFF"/>
                </a:solidFill>
                <a:latin typeface="Calibri" pitchFamily="34" charset="0"/>
                <a:ea typeface="Calibri" pitchFamily="34" charset="-122"/>
                <a:cs typeface="Calibri" pitchFamily="34" charset="-120"/>
              </a:rPr>
              <a:t>ARGENT</a:t>
            </a:r>
            <a:endParaRPr lang="en-US" sz="1600" dirty="0"/>
          </a:p>
        </p:txBody>
      </p:sp>
      <p:sp>
        <p:nvSpPr>
          <p:cNvPr id="27" name="Text 23"/>
          <p:cNvSpPr txBox="1"/>
          <p:nvPr/>
        </p:nvSpPr>
        <p:spPr>
          <a:xfrm>
            <a:off x="3520440" y="1627632"/>
            <a:ext cx="2103120" cy="228600"/>
          </a:xfrm>
          <a:prstGeom prst="rect">
            <a:avLst/>
          </a:prstGeom>
          <a:noFill/>
          <a:ln/>
        </p:spPr>
        <p:txBody>
          <a:bodyPr wrap="square" lIns="0" tIns="0" rIns="0" bIns="0" rtlCol="0" anchor="t"/>
          <a:lstStyle/>
          <a:p>
            <a:pPr marL="0" indent="0">
              <a:buNone/>
            </a:pPr>
            <a:r>
              <a:rPr lang="en-US" sz="1050" i="1" dirty="0">
                <a:solidFill>
                  <a:srgbClr val="FFFFFF"/>
                </a:solidFill>
                <a:latin typeface="Calibri" pitchFamily="34" charset="0"/>
                <a:ea typeface="Calibri" pitchFamily="34" charset="-122"/>
                <a:cs typeface="Calibri" pitchFamily="34" charset="-120"/>
              </a:rPr>
              <a:t>Validé et relié</a:t>
            </a:r>
            <a:endParaRPr lang="en-US" sz="1050" dirty="0"/>
          </a:p>
        </p:txBody>
      </p:sp>
      <p:sp>
        <p:nvSpPr>
          <p:cNvPr id="28" name="Text 24"/>
          <p:cNvSpPr txBox="1"/>
          <p:nvPr/>
        </p:nvSpPr>
        <p:spPr>
          <a:xfrm>
            <a:off x="3520440" y="2029968"/>
            <a:ext cx="2103120" cy="201168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Tuiles découpées à l’emprise nationale</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Chaque tuile rattachée à son unité administrative</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Population par tuile issue de WorldPop</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Radiance avec masques nuages et qualité</a:t>
            </a:r>
            <a:endParaRPr lang="en-US" sz="1000" dirty="0"/>
          </a:p>
        </p:txBody>
      </p:sp>
      <p:sp>
        <p:nvSpPr>
          <p:cNvPr id="29" name="Shape 25"/>
          <p:cNvSpPr/>
          <p:nvPr/>
        </p:nvSpPr>
        <p:spPr>
          <a:xfrm>
            <a:off x="5833872" y="2697480"/>
            <a:ext cx="402336" cy="91"/>
          </a:xfrm>
          <a:prstGeom prst="line">
            <a:avLst/>
          </a:prstGeom>
          <a:noFill/>
          <a:ln w="25400">
            <a:solidFill>
              <a:srgbClr val="00A86A"/>
            </a:solidFill>
            <a:prstDash val="solid"/>
            <a:tailEnd type="triangle"/>
          </a:ln>
        </p:spPr>
      </p:sp>
      <p:pic>
        <p:nvPicPr>
          <p:cNvPr id="30" name="Image 1" descr="preencoded.png"/>
          <p:cNvPicPr>
            <a:picLocks noChangeAspect="1"/>
          </p:cNvPicPr>
          <p:nvPr/>
        </p:nvPicPr>
        <p:blipFill>
          <a:blip r:embed="rId3"/>
          <a:stretch>
            <a:fillRect/>
          </a:stretch>
        </p:blipFill>
        <p:spPr>
          <a:xfrm>
            <a:off x="5916168" y="2286000"/>
            <a:ext cx="237744" cy="237744"/>
          </a:xfrm>
          <a:prstGeom prst="rect">
            <a:avLst/>
          </a:prstGeom>
        </p:spPr>
      </p:pic>
      <p:sp>
        <p:nvSpPr>
          <p:cNvPr id="31" name="Shape 26"/>
          <p:cNvSpPr/>
          <p:nvPr/>
        </p:nvSpPr>
        <p:spPr>
          <a:xfrm>
            <a:off x="6309360" y="1280160"/>
            <a:ext cx="2377440" cy="2834640"/>
          </a:xfrm>
          <a:prstGeom prst="roundRect">
            <a:avLst>
              <a:gd name="adj" fmla="val 3077"/>
            </a:avLst>
          </a:prstGeom>
          <a:solidFill>
            <a:srgbClr val="FFFFFF"/>
          </a:solidFill>
          <a:ln w="19050">
            <a:solidFill>
              <a:srgbClr val="D49A00"/>
            </a:solidFill>
            <a:prstDash val="solid"/>
          </a:ln>
        </p:spPr>
      </p:sp>
      <p:sp>
        <p:nvSpPr>
          <p:cNvPr id="32" name="Shape 27"/>
          <p:cNvSpPr/>
          <p:nvPr/>
        </p:nvSpPr>
        <p:spPr>
          <a:xfrm>
            <a:off x="6309360" y="1280160"/>
            <a:ext cx="2377440" cy="640080"/>
          </a:xfrm>
          <a:prstGeom prst="roundRect">
            <a:avLst>
              <a:gd name="adj" fmla="val 11429"/>
            </a:avLst>
          </a:prstGeom>
          <a:solidFill>
            <a:srgbClr val="D49A00"/>
          </a:solidFill>
          <a:ln w="19050">
            <a:solidFill>
              <a:srgbClr val="D49A00"/>
            </a:solidFill>
            <a:prstDash val="solid"/>
          </a:ln>
        </p:spPr>
      </p:sp>
      <p:sp>
        <p:nvSpPr>
          <p:cNvPr id="33" name="Text 28"/>
          <p:cNvSpPr txBox="1"/>
          <p:nvPr/>
        </p:nvSpPr>
        <p:spPr>
          <a:xfrm>
            <a:off x="6446520" y="1325880"/>
            <a:ext cx="2103120" cy="320040"/>
          </a:xfrm>
          <a:prstGeom prst="rect">
            <a:avLst/>
          </a:prstGeom>
          <a:noFill/>
          <a:ln/>
        </p:spPr>
        <p:txBody>
          <a:bodyPr wrap="square" lIns="0" tIns="0" rIns="0" bIns="0" rtlCol="0" anchor="t"/>
          <a:lstStyle/>
          <a:p>
            <a:pPr marL="0" indent="0">
              <a:buNone/>
            </a:pPr>
            <a:r>
              <a:rPr lang="en-US" sz="1600" b="1" kern="0" spc="300" dirty="0">
                <a:solidFill>
                  <a:srgbClr val="FFFFFF"/>
                </a:solidFill>
                <a:latin typeface="Calibri" pitchFamily="34" charset="0"/>
                <a:ea typeface="Calibri" pitchFamily="34" charset="-122"/>
                <a:cs typeface="Calibri" pitchFamily="34" charset="-120"/>
              </a:rPr>
              <a:t>OR</a:t>
            </a:r>
            <a:endParaRPr lang="en-US" sz="1600" dirty="0"/>
          </a:p>
        </p:txBody>
      </p:sp>
      <p:sp>
        <p:nvSpPr>
          <p:cNvPr id="34" name="Text 29"/>
          <p:cNvSpPr txBox="1"/>
          <p:nvPr/>
        </p:nvSpPr>
        <p:spPr>
          <a:xfrm>
            <a:off x="6446520" y="1627632"/>
            <a:ext cx="2103120" cy="228600"/>
          </a:xfrm>
          <a:prstGeom prst="rect">
            <a:avLst/>
          </a:prstGeom>
          <a:noFill/>
          <a:ln/>
        </p:spPr>
        <p:txBody>
          <a:bodyPr wrap="square" lIns="0" tIns="0" rIns="0" bIns="0" rtlCol="0" anchor="t"/>
          <a:lstStyle/>
          <a:p>
            <a:pPr marL="0" indent="0">
              <a:buNone/>
            </a:pPr>
            <a:r>
              <a:rPr lang="en-US" sz="1050" i="1" dirty="0">
                <a:solidFill>
                  <a:srgbClr val="FFFFFF"/>
                </a:solidFill>
                <a:latin typeface="Calibri" pitchFamily="34" charset="0"/>
                <a:ea typeface="Calibri" pitchFamily="34" charset="-122"/>
                <a:cs typeface="Calibri" pitchFamily="34" charset="-120"/>
              </a:rPr>
              <a:t>Produits statistiques</a:t>
            </a:r>
            <a:endParaRPr lang="en-US" sz="1050" dirty="0"/>
          </a:p>
        </p:txBody>
      </p:sp>
      <p:sp>
        <p:nvSpPr>
          <p:cNvPr id="35" name="Text 30"/>
          <p:cNvSpPr txBox="1"/>
          <p:nvPr/>
        </p:nvSpPr>
        <p:spPr>
          <a:xfrm>
            <a:off x="6446520" y="2029968"/>
            <a:ext cx="2103120" cy="201168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Connectivité pondérée par la population, par région et trimestre</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Statistiques zonales des lumières nocturnes par niveau administratif</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Tableau de bord et tables sur GitHub</a:t>
            </a:r>
            <a:endParaRPr lang="en-US" sz="1000" dirty="0"/>
          </a:p>
        </p:txBody>
      </p:sp>
      <p:sp>
        <p:nvSpPr>
          <p:cNvPr id="36" name="Text 31"/>
          <p:cNvSpPr txBox="1"/>
          <p:nvPr/>
        </p:nvSpPr>
        <p:spPr>
          <a:xfrm>
            <a:off x="457200" y="4224528"/>
            <a:ext cx="8229600" cy="274320"/>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Contrôle qualité à chaque flèche : </a:t>
            </a:r>
            <a:r>
              <a:rPr lang="en-US" sz="1050" dirty="0">
                <a:solidFill>
                  <a:srgbClr val="231F20"/>
                </a:solidFill>
                <a:latin typeface="Calibri" pitchFamily="34" charset="0"/>
                <a:ea typeface="Calibri" pitchFamily="34" charset="-122"/>
                <a:cs typeface="Calibri" pitchFamily="34" charset="-120"/>
              </a:rPr>
              <a:t>chaque zone a un responsable, un contrat de schéma et des tests. Rien n’avance tant qu’ils ne sont pas validés.</a:t>
            </a:r>
            <a:endParaRPr lang="en-US" sz="10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Ce qu’apporte un format de table lakehouse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80160"/>
            <a:ext cx="1965960" cy="1280160"/>
          </a:xfrm>
          <a:prstGeom prst="roundRect">
            <a:avLst>
              <a:gd name="adj" fmla="val 5714"/>
            </a:avLst>
          </a:prstGeom>
          <a:solidFill>
            <a:srgbClr val="F4F7F5"/>
          </a:solidFill>
          <a:ln w="9525">
            <a:solidFill>
              <a:srgbClr val="D5DED9"/>
            </a:solidFill>
            <a:prstDash val="solid"/>
          </a:ln>
        </p:spPr>
      </p:sp>
      <p:sp>
        <p:nvSpPr>
          <p:cNvPr id="18" name="Shape 15"/>
          <p:cNvSpPr/>
          <p:nvPr/>
        </p:nvSpPr>
        <p:spPr>
          <a:xfrm>
            <a:off x="594360" y="1417320"/>
            <a:ext cx="438912" cy="438912"/>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704088" y="1527048"/>
            <a:ext cx="219456" cy="219456"/>
          </a:xfrm>
          <a:prstGeom prst="rect">
            <a:avLst/>
          </a:prstGeom>
        </p:spPr>
      </p:pic>
      <p:sp>
        <p:nvSpPr>
          <p:cNvPr id="20" name="Text 16"/>
          <p:cNvSpPr txBox="1"/>
          <p:nvPr/>
        </p:nvSpPr>
        <p:spPr>
          <a:xfrm>
            <a:off x="594360" y="1920240"/>
            <a:ext cx="173736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Transactions ACID</a:t>
            </a:r>
            <a:endParaRPr lang="en-US" sz="1150" dirty="0"/>
          </a:p>
        </p:txBody>
      </p:sp>
      <p:sp>
        <p:nvSpPr>
          <p:cNvPr id="21" name="Text 17"/>
          <p:cNvSpPr txBox="1"/>
          <p:nvPr/>
        </p:nvSpPr>
        <p:spPr>
          <a:xfrm>
            <a:off x="594360" y="2157984"/>
            <a:ext cx="1737360"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Des écritures simultanées ne laissent jamais une table incohérente.</a:t>
            </a:r>
            <a:endParaRPr lang="en-US" sz="900" dirty="0"/>
          </a:p>
        </p:txBody>
      </p:sp>
      <p:sp>
        <p:nvSpPr>
          <p:cNvPr id="22" name="Shape 18"/>
          <p:cNvSpPr/>
          <p:nvPr/>
        </p:nvSpPr>
        <p:spPr>
          <a:xfrm>
            <a:off x="2560320" y="1280160"/>
            <a:ext cx="1965960" cy="1280160"/>
          </a:xfrm>
          <a:prstGeom prst="roundRect">
            <a:avLst>
              <a:gd name="adj" fmla="val 5714"/>
            </a:avLst>
          </a:prstGeom>
          <a:solidFill>
            <a:srgbClr val="E8F5EF"/>
          </a:solidFill>
          <a:ln w="15875">
            <a:solidFill>
              <a:srgbClr val="00704A"/>
            </a:solidFill>
            <a:prstDash val="solid"/>
          </a:ln>
        </p:spPr>
      </p:sp>
      <p:sp>
        <p:nvSpPr>
          <p:cNvPr id="23" name="Shape 19"/>
          <p:cNvSpPr/>
          <p:nvPr/>
        </p:nvSpPr>
        <p:spPr>
          <a:xfrm>
            <a:off x="2697480" y="1417320"/>
            <a:ext cx="438912" cy="438912"/>
          </a:xfrm>
          <a:prstGeom prst="ellipse">
            <a:avLst/>
          </a:prstGeom>
          <a:solidFill>
            <a:srgbClr val="00704A">
              <a:alpha val="22000"/>
            </a:srgbClr>
          </a:solidFill>
          <a:ln/>
        </p:spPr>
      </p:sp>
      <p:pic>
        <p:nvPicPr>
          <p:cNvPr id="24" name="Image 1" descr="preencoded.png"/>
          <p:cNvPicPr>
            <a:picLocks noChangeAspect="1"/>
          </p:cNvPicPr>
          <p:nvPr/>
        </p:nvPicPr>
        <p:blipFill>
          <a:blip r:embed="rId4"/>
          <a:stretch>
            <a:fillRect/>
          </a:stretch>
        </p:blipFill>
        <p:spPr>
          <a:xfrm>
            <a:off x="2807208" y="1527048"/>
            <a:ext cx="219456" cy="219456"/>
          </a:xfrm>
          <a:prstGeom prst="rect">
            <a:avLst/>
          </a:prstGeom>
        </p:spPr>
      </p:pic>
      <p:sp>
        <p:nvSpPr>
          <p:cNvPr id="25" name="Text 20"/>
          <p:cNvSpPr txBox="1"/>
          <p:nvPr/>
        </p:nvSpPr>
        <p:spPr>
          <a:xfrm>
            <a:off x="2697480" y="1920240"/>
            <a:ext cx="173736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Voyage dans le temps</a:t>
            </a:r>
            <a:endParaRPr lang="en-US" sz="1150" dirty="0"/>
          </a:p>
        </p:txBody>
      </p:sp>
      <p:sp>
        <p:nvSpPr>
          <p:cNvPr id="26" name="Text 21"/>
          <p:cNvSpPr txBox="1"/>
          <p:nvPr/>
        </p:nvSpPr>
        <p:spPr>
          <a:xfrm>
            <a:off x="2697480" y="2157984"/>
            <a:ext cx="1737360"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Interroger une table telle qu’elle était à une date passée.</a:t>
            </a:r>
            <a:endParaRPr lang="en-US" sz="900" dirty="0"/>
          </a:p>
        </p:txBody>
      </p:sp>
      <p:sp>
        <p:nvSpPr>
          <p:cNvPr id="27" name="Shape 22"/>
          <p:cNvSpPr/>
          <p:nvPr/>
        </p:nvSpPr>
        <p:spPr>
          <a:xfrm>
            <a:off x="457200" y="2697480"/>
            <a:ext cx="1965960" cy="1280160"/>
          </a:xfrm>
          <a:prstGeom prst="roundRect">
            <a:avLst>
              <a:gd name="adj" fmla="val 5714"/>
            </a:avLst>
          </a:prstGeom>
          <a:solidFill>
            <a:srgbClr val="F4F7F5"/>
          </a:solidFill>
          <a:ln w="9525">
            <a:solidFill>
              <a:srgbClr val="D5DED9"/>
            </a:solidFill>
            <a:prstDash val="solid"/>
          </a:ln>
        </p:spPr>
      </p:sp>
      <p:sp>
        <p:nvSpPr>
          <p:cNvPr id="28" name="Shape 23"/>
          <p:cNvSpPr/>
          <p:nvPr/>
        </p:nvSpPr>
        <p:spPr>
          <a:xfrm>
            <a:off x="594360" y="2834640"/>
            <a:ext cx="438912" cy="438912"/>
          </a:xfrm>
          <a:prstGeom prst="ellipse">
            <a:avLst/>
          </a:prstGeom>
          <a:solidFill>
            <a:srgbClr val="00704A">
              <a:alpha val="22000"/>
            </a:srgbClr>
          </a:solidFill>
          <a:ln/>
        </p:spPr>
      </p:sp>
      <p:pic>
        <p:nvPicPr>
          <p:cNvPr id="29" name="Image 2" descr="preencoded.png"/>
          <p:cNvPicPr>
            <a:picLocks noChangeAspect="1"/>
          </p:cNvPicPr>
          <p:nvPr/>
        </p:nvPicPr>
        <p:blipFill>
          <a:blip r:embed="rId5"/>
          <a:stretch>
            <a:fillRect/>
          </a:stretch>
        </p:blipFill>
        <p:spPr>
          <a:xfrm>
            <a:off x="704088" y="2944368"/>
            <a:ext cx="219456" cy="219456"/>
          </a:xfrm>
          <a:prstGeom prst="rect">
            <a:avLst/>
          </a:prstGeom>
        </p:spPr>
      </p:pic>
      <p:sp>
        <p:nvSpPr>
          <p:cNvPr id="30" name="Text 24"/>
          <p:cNvSpPr txBox="1"/>
          <p:nvPr/>
        </p:nvSpPr>
        <p:spPr>
          <a:xfrm>
            <a:off x="594360" y="3337560"/>
            <a:ext cx="173736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Évolution du schéma</a:t>
            </a:r>
            <a:endParaRPr lang="en-US" sz="1150" dirty="0"/>
          </a:p>
        </p:txBody>
      </p:sp>
      <p:sp>
        <p:nvSpPr>
          <p:cNvPr id="31" name="Text 25"/>
          <p:cNvSpPr txBox="1"/>
          <p:nvPr/>
        </p:nvSpPr>
        <p:spPr>
          <a:xfrm>
            <a:off x="594360" y="3575304"/>
            <a:ext cx="1737360"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Ajouter une colonne sans réécrire l’historique.</a:t>
            </a:r>
            <a:endParaRPr lang="en-US" sz="900" dirty="0"/>
          </a:p>
        </p:txBody>
      </p:sp>
      <p:sp>
        <p:nvSpPr>
          <p:cNvPr id="32" name="Shape 26"/>
          <p:cNvSpPr/>
          <p:nvPr/>
        </p:nvSpPr>
        <p:spPr>
          <a:xfrm>
            <a:off x="2560320" y="2697480"/>
            <a:ext cx="1965960" cy="1280160"/>
          </a:xfrm>
          <a:prstGeom prst="roundRect">
            <a:avLst>
              <a:gd name="adj" fmla="val 5714"/>
            </a:avLst>
          </a:prstGeom>
          <a:solidFill>
            <a:srgbClr val="F4F7F5"/>
          </a:solidFill>
          <a:ln w="9525">
            <a:solidFill>
              <a:srgbClr val="D5DED9"/>
            </a:solidFill>
            <a:prstDash val="solid"/>
          </a:ln>
        </p:spPr>
      </p:sp>
      <p:sp>
        <p:nvSpPr>
          <p:cNvPr id="33" name="Shape 27"/>
          <p:cNvSpPr/>
          <p:nvPr/>
        </p:nvSpPr>
        <p:spPr>
          <a:xfrm>
            <a:off x="2697480" y="2834640"/>
            <a:ext cx="438912" cy="438912"/>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2807208" y="2944368"/>
            <a:ext cx="219456" cy="219456"/>
          </a:xfrm>
          <a:prstGeom prst="rect">
            <a:avLst/>
          </a:prstGeom>
        </p:spPr>
      </p:pic>
      <p:sp>
        <p:nvSpPr>
          <p:cNvPr id="35" name="Text 28"/>
          <p:cNvSpPr txBox="1"/>
          <p:nvPr/>
        </p:nvSpPr>
        <p:spPr>
          <a:xfrm>
            <a:off x="2697480" y="3337560"/>
            <a:ext cx="173736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Élagage des partitions</a:t>
            </a:r>
            <a:endParaRPr lang="en-US" sz="1150" dirty="0"/>
          </a:p>
        </p:txBody>
      </p:sp>
      <p:sp>
        <p:nvSpPr>
          <p:cNvPr id="36" name="Text 29"/>
          <p:cNvSpPr txBox="1"/>
          <p:nvPr/>
        </p:nvSpPr>
        <p:spPr>
          <a:xfrm>
            <a:off x="2697480" y="3575304"/>
            <a:ext cx="1737360"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requête sur un trimestre ignore tous les autres.</a:t>
            </a:r>
            <a:endParaRPr lang="en-US" sz="900" dirty="0"/>
          </a:p>
        </p:txBody>
      </p:sp>
      <p:sp>
        <p:nvSpPr>
          <p:cNvPr id="37" name="Shape 30"/>
          <p:cNvSpPr/>
          <p:nvPr/>
        </p:nvSpPr>
        <p:spPr>
          <a:xfrm>
            <a:off x="4754880" y="1280160"/>
            <a:ext cx="3931920" cy="1737360"/>
          </a:xfrm>
          <a:prstGeom prst="roundRect">
            <a:avLst>
              <a:gd name="adj" fmla="val 4211"/>
            </a:avLst>
          </a:prstGeom>
          <a:solidFill>
            <a:srgbClr val="F4F7F5"/>
          </a:solidFill>
          <a:ln w="9525">
            <a:solidFill>
              <a:srgbClr val="D5DED9"/>
            </a:solidFill>
            <a:prstDash val="solid"/>
          </a:ln>
        </p:spPr>
      </p:sp>
      <p:sp>
        <p:nvSpPr>
          <p:cNvPr id="38" name="Text 31"/>
          <p:cNvSpPr txBox="1"/>
          <p:nvPr/>
        </p:nvSpPr>
        <p:spPr>
          <a:xfrm>
            <a:off x="4892040" y="1371600"/>
            <a:ext cx="365760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SPARK SQL + APACHE ICEBERG</a:t>
            </a:r>
            <a:endParaRPr lang="en-US" sz="900" dirty="0"/>
          </a:p>
        </p:txBody>
      </p:sp>
      <p:sp>
        <p:nvSpPr>
          <p:cNvPr id="39" name="Text 32"/>
          <p:cNvSpPr txBox="1"/>
          <p:nvPr/>
        </p:nvSpPr>
        <p:spPr>
          <a:xfrm>
            <a:off x="4892040" y="1609344"/>
            <a:ext cx="3657600" cy="1335024"/>
          </a:xfrm>
          <a:prstGeom prst="rect">
            <a:avLst/>
          </a:prstGeom>
          <a:noFill/>
          <a:ln/>
        </p:spPr>
        <p:txBody>
          <a:bodyPr wrap="square" lIns="0" tIns="0" rIns="0" bIns="0" rtlCol="0" anchor="t"/>
          <a:lstStyle/>
          <a:p>
            <a:pPr marL="0" indent="0">
              <a:lnSpc>
                <a:spcPct val="105000"/>
              </a:lnSpc>
              <a:buNone/>
            </a:pPr>
            <a:r>
              <a:rPr lang="en-US" sz="1000" i="1" dirty="0">
                <a:solidFill>
                  <a:srgbClr val="00704A"/>
                </a:solidFill>
                <a:latin typeface="Courier New" pitchFamily="34" charset="0"/>
                <a:ea typeface="Courier New" pitchFamily="34" charset="-122"/>
                <a:cs typeface="Courier New" pitchFamily="34" charset="-120"/>
              </a:rPr>
              <a:t>-- La table exactement telle qu’elle</a:t>
            </a:r>
            <a:endParaRPr lang="en-US" sz="1000" dirty="0"/>
          </a:p>
          <a:p>
            <a:pPr marL="0" indent="0">
              <a:lnSpc>
                <a:spcPct val="105000"/>
              </a:lnSpc>
              <a:buNone/>
            </a:pPr>
            <a:r>
              <a:rPr lang="en-US" sz="1000" i="1" dirty="0">
                <a:solidFill>
                  <a:srgbClr val="00704A"/>
                </a:solidFill>
                <a:latin typeface="Courier New" pitchFamily="34" charset="0"/>
                <a:ea typeface="Courier New" pitchFamily="34" charset="-122"/>
                <a:cs typeface="Courier New" pitchFamily="34" charset="-120"/>
              </a:rPr>
              <a:t>-- était lors de la publication du T2</a:t>
            </a:r>
            <a:endParaRPr lang="en-US" sz="1000" dirty="0"/>
          </a:p>
          <a:p>
            <a:pPr marL="0" indent="0">
              <a:lnSpc>
                <a:spcPct val="105000"/>
              </a:lnSpc>
              <a:buNone/>
            </a:pPr>
            <a:r>
              <a:rPr lang="en-US" sz="1000" dirty="0">
                <a:solidFill>
                  <a:srgbClr val="231F20"/>
                </a:solidFill>
                <a:latin typeface="Courier New" pitchFamily="34" charset="0"/>
                <a:ea typeface="Courier New" pitchFamily="34" charset="-122"/>
                <a:cs typeface="Courier New" pitchFamily="34" charset="-120"/>
              </a:rPr>
              <a:t>SELECT admin1, dl_kbps_weighted</a:t>
            </a:r>
            <a:endParaRPr lang="en-US" sz="1000" dirty="0"/>
          </a:p>
          <a:p>
            <a:pPr marL="0" indent="0">
              <a:lnSpc>
                <a:spcPct val="105000"/>
              </a:lnSpc>
              <a:buNone/>
            </a:pPr>
            <a:r>
              <a:rPr lang="en-US" sz="1000" dirty="0">
                <a:solidFill>
                  <a:srgbClr val="231F20"/>
                </a:solidFill>
                <a:latin typeface="Courier New" pitchFamily="34" charset="0"/>
                <a:ea typeface="Courier New" pitchFamily="34" charset="-122"/>
                <a:cs typeface="Courier New" pitchFamily="34" charset="-120"/>
              </a:rPr>
              <a:t>FROM   lake.gold.connectivity</a:t>
            </a:r>
            <a:endParaRPr lang="en-US" sz="1000" dirty="0"/>
          </a:p>
          <a:p>
            <a:pPr marL="0" indent="0">
              <a:lnSpc>
                <a:spcPct val="105000"/>
              </a:lnSpc>
              <a:buNone/>
            </a:pPr>
            <a:r>
              <a:rPr lang="en-US" sz="1000" dirty="0">
                <a:solidFill>
                  <a:srgbClr val="231F20"/>
                </a:solidFill>
                <a:latin typeface="Courier New" pitchFamily="34" charset="0"/>
                <a:ea typeface="Courier New" pitchFamily="34" charset="-122"/>
                <a:cs typeface="Courier New" pitchFamily="34" charset="-120"/>
              </a:rPr>
              <a:t>TIMESTAMP AS OF '2026-07-15 00:00:00'</a:t>
            </a:r>
            <a:endParaRPr lang="en-US" sz="1000" dirty="0"/>
          </a:p>
          <a:p>
            <a:pPr marL="0" indent="0">
              <a:lnSpc>
                <a:spcPct val="105000"/>
              </a:lnSpc>
              <a:buNone/>
            </a:pPr>
            <a:r>
              <a:rPr lang="en-US" sz="1000" dirty="0">
                <a:solidFill>
                  <a:srgbClr val="231F20"/>
                </a:solidFill>
                <a:latin typeface="Courier New" pitchFamily="34" charset="0"/>
                <a:ea typeface="Courier New" pitchFamily="34" charset="-122"/>
                <a:cs typeface="Courier New" pitchFamily="34" charset="-120"/>
              </a:rPr>
              <a:t>WHERE  year = 2026 AND quarter = 2;</a:t>
            </a:r>
            <a:endParaRPr lang="en-US" sz="1000" dirty="0"/>
          </a:p>
        </p:txBody>
      </p:sp>
      <p:sp>
        <p:nvSpPr>
          <p:cNvPr id="40" name="Shape 33"/>
          <p:cNvSpPr/>
          <p:nvPr/>
        </p:nvSpPr>
        <p:spPr>
          <a:xfrm>
            <a:off x="4754880" y="3154680"/>
            <a:ext cx="3931920" cy="822960"/>
          </a:xfrm>
          <a:prstGeom prst="roundRect">
            <a:avLst>
              <a:gd name="adj" fmla="val 8889"/>
            </a:avLst>
          </a:prstGeom>
          <a:solidFill>
            <a:srgbClr val="E8F5EF"/>
          </a:solidFill>
          <a:ln w="15875">
            <a:solidFill>
              <a:srgbClr val="00704A"/>
            </a:solidFill>
            <a:prstDash val="solid"/>
          </a:ln>
        </p:spPr>
      </p:sp>
      <p:sp>
        <p:nvSpPr>
          <p:cNvPr id="41" name="Text 34"/>
          <p:cNvSpPr txBox="1"/>
          <p:nvPr/>
        </p:nvSpPr>
        <p:spPr>
          <a:xfrm>
            <a:off x="4919472" y="3218688"/>
            <a:ext cx="3611880" cy="713232"/>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Pourquoi c’est utile au statisticien
</a:t>
            </a:r>
            <a:r>
              <a:rPr lang="en-US" sz="1050" dirty="0">
                <a:solidFill>
                  <a:srgbClr val="231F20"/>
                </a:solidFill>
                <a:latin typeface="Calibri" pitchFamily="34" charset="0"/>
                <a:ea typeface="Calibri" pitchFamily="34" charset="-122"/>
                <a:cs typeface="Calibri" pitchFamily="34" charset="-120"/>
              </a:rPr>
              <a:t>Une révision s’explique en rejouant l’état exact des entrées d’un chiffre publié.</a:t>
            </a:r>
            <a:endParaRPr lang="en-US" sz="1200" dirty="0"/>
          </a:p>
        </p:txBody>
      </p:sp>
      <p:sp>
        <p:nvSpPr>
          <p:cNvPr id="42" name="Text 35"/>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 documentation Apache Iceberg et Delta Lake. Noms de tables et de colonnes illustratifs.</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61020" y="315468"/>
            <a:ext cx="118872" cy="118872"/>
          </a:xfrm>
          <a:prstGeom prst="ellipse">
            <a:avLst/>
          </a:prstGeom>
          <a:solidFill>
            <a:srgbClr val="F5C242"/>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03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Traitement distribué</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Comment cent machines calculent-elles une statistique comme si elles n’en faisaient qu’une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MapReduce : l’idée au cœur de chaque moteur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1188720"/>
            <a:ext cx="8229600" cy="228600"/>
          </a:xfrm>
          <a:prstGeom prst="rect">
            <a:avLst/>
          </a:prstGeom>
          <a:noFill/>
          <a:ln/>
        </p:spPr>
        <p:txBody>
          <a:bodyPr wrap="square" lIns="0" tIns="0" rIns="0" bIns="0" rtlCol="0" anchor="t"/>
          <a:lstStyle/>
          <a:p>
            <a:pPr marL="0" indent="0">
              <a:buNone/>
            </a:pPr>
            <a:r>
              <a:rPr lang="en-US" sz="1100" i="1" dirty="0">
                <a:solidFill>
                  <a:srgbClr val="5E6964"/>
                </a:solidFill>
                <a:latin typeface="Calibri" pitchFamily="34" charset="0"/>
                <a:ea typeface="Calibri" pitchFamily="34" charset="-122"/>
                <a:cs typeface="Calibri" pitchFamily="34" charset="-120"/>
              </a:rPr>
              <a:t>Exemple — débit descendant moyen pondéré par les tests, par région, à partir des tuiles Ookla</a:t>
            </a:r>
            <a:endParaRPr lang="en-US" sz="1100" dirty="0"/>
          </a:p>
        </p:txBody>
      </p:sp>
      <p:sp>
        <p:nvSpPr>
          <p:cNvPr id="18" name="Shape 15"/>
          <p:cNvSpPr/>
          <p:nvPr/>
        </p:nvSpPr>
        <p:spPr>
          <a:xfrm>
            <a:off x="457200" y="1554480"/>
            <a:ext cx="1463040" cy="1874520"/>
          </a:xfrm>
          <a:prstGeom prst="roundRect">
            <a:avLst>
              <a:gd name="adj" fmla="val 5000"/>
            </a:avLst>
          </a:prstGeom>
          <a:solidFill>
            <a:srgbClr val="F4F7F5"/>
          </a:solidFill>
          <a:ln w="9525">
            <a:solidFill>
              <a:srgbClr val="D5DED9"/>
            </a:solidFill>
            <a:prstDash val="solid"/>
          </a:ln>
        </p:spPr>
      </p:sp>
      <p:sp>
        <p:nvSpPr>
          <p:cNvPr id="19" name="Shape 16"/>
          <p:cNvSpPr/>
          <p:nvPr/>
        </p:nvSpPr>
        <p:spPr>
          <a:xfrm>
            <a:off x="594360" y="1673352"/>
            <a:ext cx="365760" cy="365760"/>
          </a:xfrm>
          <a:prstGeom prst="ellipse">
            <a:avLst/>
          </a:prstGeom>
          <a:solidFill>
            <a:srgbClr val="0E7C86"/>
          </a:solidFill>
          <a:ln/>
        </p:spPr>
      </p:sp>
      <p:sp>
        <p:nvSpPr>
          <p:cNvPr id="20" name="Text 17"/>
          <p:cNvSpPr txBox="1"/>
          <p:nvPr/>
        </p:nvSpPr>
        <p:spPr>
          <a:xfrm>
            <a:off x="59436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1024128" y="1673352"/>
            <a:ext cx="86868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Découper</a:t>
            </a:r>
            <a:endParaRPr lang="en-US" sz="1300" dirty="0"/>
          </a:p>
        </p:txBody>
      </p:sp>
      <p:sp>
        <p:nvSpPr>
          <p:cNvPr id="22" name="Text 19"/>
          <p:cNvSpPr txBox="1"/>
          <p:nvPr/>
        </p:nvSpPr>
        <p:spPr>
          <a:xfrm>
            <a:off x="594360" y="2148840"/>
            <a:ext cx="118872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 tuiles sont réparties en lots, un par nœud.</a:t>
            </a:r>
            <a:endParaRPr lang="en-US" sz="950" dirty="0"/>
          </a:p>
        </p:txBody>
      </p:sp>
      <p:sp>
        <p:nvSpPr>
          <p:cNvPr id="23" name="Shape 20"/>
          <p:cNvSpPr/>
          <p:nvPr/>
        </p:nvSpPr>
        <p:spPr>
          <a:xfrm>
            <a:off x="548640" y="2852928"/>
            <a:ext cx="1280160" cy="457200"/>
          </a:xfrm>
          <a:prstGeom prst="roundRect">
            <a:avLst>
              <a:gd name="adj" fmla="val 8000"/>
            </a:avLst>
          </a:prstGeom>
          <a:solidFill>
            <a:srgbClr val="FFFFFF"/>
          </a:solidFill>
          <a:ln w="9525">
            <a:solidFill>
              <a:srgbClr val="D5DED9"/>
            </a:solidFill>
            <a:prstDash val="solid"/>
          </a:ln>
        </p:spPr>
      </p:sp>
      <p:sp>
        <p:nvSpPr>
          <p:cNvPr id="24" name="Text 21"/>
          <p:cNvSpPr txBox="1"/>
          <p:nvPr/>
        </p:nvSpPr>
        <p:spPr>
          <a:xfrm>
            <a:off x="56692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lot 1…n</a:t>
            </a:r>
            <a:endParaRPr lang="en-US" sz="850" dirty="0"/>
          </a:p>
        </p:txBody>
      </p:sp>
      <p:sp>
        <p:nvSpPr>
          <p:cNvPr id="25" name="Shape 22"/>
          <p:cNvSpPr/>
          <p:nvPr/>
        </p:nvSpPr>
        <p:spPr>
          <a:xfrm>
            <a:off x="1947672" y="2487168"/>
            <a:ext cx="173736" cy="91"/>
          </a:xfrm>
          <a:prstGeom prst="line">
            <a:avLst/>
          </a:prstGeom>
          <a:noFill/>
          <a:ln w="15875">
            <a:solidFill>
              <a:srgbClr val="5E6964"/>
            </a:solidFill>
            <a:prstDash val="solid"/>
            <a:tailEnd type="triangle"/>
          </a:ln>
        </p:spPr>
      </p:sp>
      <p:sp>
        <p:nvSpPr>
          <p:cNvPr id="26" name="Shape 23"/>
          <p:cNvSpPr/>
          <p:nvPr/>
        </p:nvSpPr>
        <p:spPr>
          <a:xfrm>
            <a:off x="2148840" y="1554480"/>
            <a:ext cx="1463040" cy="1874520"/>
          </a:xfrm>
          <a:prstGeom prst="roundRect">
            <a:avLst>
              <a:gd name="adj" fmla="val 5000"/>
            </a:avLst>
          </a:prstGeom>
          <a:solidFill>
            <a:srgbClr val="F4F7F5"/>
          </a:solidFill>
          <a:ln w="9525">
            <a:solidFill>
              <a:srgbClr val="D5DED9"/>
            </a:solidFill>
            <a:prstDash val="solid"/>
          </a:ln>
        </p:spPr>
      </p:sp>
      <p:sp>
        <p:nvSpPr>
          <p:cNvPr id="27" name="Shape 24"/>
          <p:cNvSpPr/>
          <p:nvPr/>
        </p:nvSpPr>
        <p:spPr>
          <a:xfrm>
            <a:off x="2286000" y="1673352"/>
            <a:ext cx="365760" cy="365760"/>
          </a:xfrm>
          <a:prstGeom prst="ellipse">
            <a:avLst/>
          </a:prstGeom>
          <a:solidFill>
            <a:srgbClr val="0E7C86"/>
          </a:solidFill>
          <a:ln/>
        </p:spPr>
      </p:sp>
      <p:sp>
        <p:nvSpPr>
          <p:cNvPr id="28" name="Text 25"/>
          <p:cNvSpPr txBox="1"/>
          <p:nvPr/>
        </p:nvSpPr>
        <p:spPr>
          <a:xfrm>
            <a:off x="228600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6"/>
          <p:cNvSpPr txBox="1"/>
          <p:nvPr/>
        </p:nvSpPr>
        <p:spPr>
          <a:xfrm>
            <a:off x="2715768" y="1673352"/>
            <a:ext cx="86868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Map</a:t>
            </a:r>
            <a:endParaRPr lang="en-US" sz="1300" dirty="0"/>
          </a:p>
        </p:txBody>
      </p:sp>
      <p:sp>
        <p:nvSpPr>
          <p:cNvPr id="30" name="Text 27"/>
          <p:cNvSpPr txBox="1"/>
          <p:nvPr/>
        </p:nvSpPr>
        <p:spPr>
          <a:xfrm>
            <a:off x="2286000" y="2148840"/>
            <a:ext cx="118872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Chaque tuile émet sa région et deux nombres.</a:t>
            </a:r>
            <a:endParaRPr lang="en-US" sz="950" dirty="0"/>
          </a:p>
        </p:txBody>
      </p:sp>
      <p:sp>
        <p:nvSpPr>
          <p:cNvPr id="31" name="Shape 28"/>
          <p:cNvSpPr/>
          <p:nvPr/>
        </p:nvSpPr>
        <p:spPr>
          <a:xfrm>
            <a:off x="2240280" y="2852928"/>
            <a:ext cx="1280160" cy="457200"/>
          </a:xfrm>
          <a:prstGeom prst="roundRect">
            <a:avLst>
              <a:gd name="adj" fmla="val 8000"/>
            </a:avLst>
          </a:prstGeom>
          <a:solidFill>
            <a:srgbClr val="FFFFFF"/>
          </a:solidFill>
          <a:ln w="9525">
            <a:solidFill>
              <a:srgbClr val="D5DED9"/>
            </a:solidFill>
            <a:prstDash val="solid"/>
          </a:ln>
        </p:spPr>
      </p:sp>
      <p:sp>
        <p:nvSpPr>
          <p:cNvPr id="32" name="Text 29"/>
          <p:cNvSpPr txBox="1"/>
          <p:nvPr/>
        </p:nvSpPr>
        <p:spPr>
          <a:xfrm>
            <a:off x="225856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(région, débit × tests, tests)</a:t>
            </a:r>
            <a:endParaRPr lang="en-US" sz="850" dirty="0"/>
          </a:p>
        </p:txBody>
      </p:sp>
      <p:sp>
        <p:nvSpPr>
          <p:cNvPr id="33" name="Shape 30"/>
          <p:cNvSpPr/>
          <p:nvPr/>
        </p:nvSpPr>
        <p:spPr>
          <a:xfrm>
            <a:off x="3639312" y="2487168"/>
            <a:ext cx="173736" cy="91"/>
          </a:xfrm>
          <a:prstGeom prst="line">
            <a:avLst/>
          </a:prstGeom>
          <a:noFill/>
          <a:ln w="15875">
            <a:solidFill>
              <a:srgbClr val="5E6964"/>
            </a:solidFill>
            <a:prstDash val="solid"/>
            <a:tailEnd type="triangle"/>
          </a:ln>
        </p:spPr>
      </p:sp>
      <p:sp>
        <p:nvSpPr>
          <p:cNvPr id="34" name="Shape 31"/>
          <p:cNvSpPr/>
          <p:nvPr/>
        </p:nvSpPr>
        <p:spPr>
          <a:xfrm>
            <a:off x="3840480" y="1554480"/>
            <a:ext cx="1463040" cy="1874520"/>
          </a:xfrm>
          <a:prstGeom prst="roundRect">
            <a:avLst>
              <a:gd name="adj" fmla="val 5000"/>
            </a:avLst>
          </a:prstGeom>
          <a:solidFill>
            <a:srgbClr val="E8F5EF"/>
          </a:solidFill>
          <a:ln w="15875">
            <a:solidFill>
              <a:srgbClr val="0E7C86"/>
            </a:solidFill>
            <a:prstDash val="solid"/>
          </a:ln>
        </p:spPr>
      </p:sp>
      <p:sp>
        <p:nvSpPr>
          <p:cNvPr id="35" name="Shape 32"/>
          <p:cNvSpPr/>
          <p:nvPr/>
        </p:nvSpPr>
        <p:spPr>
          <a:xfrm>
            <a:off x="3977640" y="1673352"/>
            <a:ext cx="365760" cy="365760"/>
          </a:xfrm>
          <a:prstGeom prst="ellipse">
            <a:avLst/>
          </a:prstGeom>
          <a:solidFill>
            <a:srgbClr val="0E7C86"/>
          </a:solidFill>
          <a:ln/>
        </p:spPr>
      </p:sp>
      <p:sp>
        <p:nvSpPr>
          <p:cNvPr id="36" name="Text 33"/>
          <p:cNvSpPr txBox="1"/>
          <p:nvPr/>
        </p:nvSpPr>
        <p:spPr>
          <a:xfrm>
            <a:off x="397764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7" name="Text 34"/>
          <p:cNvSpPr txBox="1"/>
          <p:nvPr/>
        </p:nvSpPr>
        <p:spPr>
          <a:xfrm>
            <a:off x="4407408" y="1673352"/>
            <a:ext cx="86868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Shuffle</a:t>
            </a:r>
            <a:endParaRPr lang="en-US" sz="1300" dirty="0"/>
          </a:p>
        </p:txBody>
      </p:sp>
      <p:sp>
        <p:nvSpPr>
          <p:cNvPr id="38" name="Text 35"/>
          <p:cNvSpPr txBox="1"/>
          <p:nvPr/>
        </p:nvSpPr>
        <p:spPr>
          <a:xfrm>
            <a:off x="3977640" y="2148840"/>
            <a:ext cx="118872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 paires d’une même région vont au même nœud.</a:t>
            </a:r>
            <a:endParaRPr lang="en-US" sz="950" dirty="0"/>
          </a:p>
        </p:txBody>
      </p:sp>
      <p:sp>
        <p:nvSpPr>
          <p:cNvPr id="39" name="Shape 36"/>
          <p:cNvSpPr/>
          <p:nvPr/>
        </p:nvSpPr>
        <p:spPr>
          <a:xfrm>
            <a:off x="3931920" y="2852928"/>
            <a:ext cx="1280160" cy="457200"/>
          </a:xfrm>
          <a:prstGeom prst="roundRect">
            <a:avLst>
              <a:gd name="adj" fmla="val 8000"/>
            </a:avLst>
          </a:prstGeom>
          <a:solidFill>
            <a:srgbClr val="FFFFFF"/>
          </a:solidFill>
          <a:ln w="9525">
            <a:solidFill>
              <a:srgbClr val="D5DED9"/>
            </a:solidFill>
            <a:prstDash val="solid"/>
          </a:ln>
        </p:spPr>
      </p:sp>
      <p:sp>
        <p:nvSpPr>
          <p:cNvPr id="40" name="Text 37"/>
          <p:cNvSpPr txBox="1"/>
          <p:nvPr/>
        </p:nvSpPr>
        <p:spPr>
          <a:xfrm>
            <a:off x="395020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Kigali → [ … ]</a:t>
            </a:r>
            <a:endParaRPr lang="en-US" sz="850" dirty="0"/>
          </a:p>
        </p:txBody>
      </p:sp>
      <p:sp>
        <p:nvSpPr>
          <p:cNvPr id="41" name="Shape 38"/>
          <p:cNvSpPr/>
          <p:nvPr/>
        </p:nvSpPr>
        <p:spPr>
          <a:xfrm>
            <a:off x="5330952" y="2487168"/>
            <a:ext cx="173736" cy="91"/>
          </a:xfrm>
          <a:prstGeom prst="line">
            <a:avLst/>
          </a:prstGeom>
          <a:noFill/>
          <a:ln w="15875">
            <a:solidFill>
              <a:srgbClr val="5E6964"/>
            </a:solidFill>
            <a:prstDash val="solid"/>
            <a:tailEnd type="triangle"/>
          </a:ln>
        </p:spPr>
      </p:sp>
      <p:sp>
        <p:nvSpPr>
          <p:cNvPr id="42" name="Shape 39"/>
          <p:cNvSpPr/>
          <p:nvPr/>
        </p:nvSpPr>
        <p:spPr>
          <a:xfrm>
            <a:off x="5532120" y="1554480"/>
            <a:ext cx="1463040" cy="1874520"/>
          </a:xfrm>
          <a:prstGeom prst="roundRect">
            <a:avLst>
              <a:gd name="adj" fmla="val 5000"/>
            </a:avLst>
          </a:prstGeom>
          <a:solidFill>
            <a:srgbClr val="F4F7F5"/>
          </a:solidFill>
          <a:ln w="9525">
            <a:solidFill>
              <a:srgbClr val="D5DED9"/>
            </a:solidFill>
            <a:prstDash val="solid"/>
          </a:ln>
        </p:spPr>
      </p:sp>
      <p:sp>
        <p:nvSpPr>
          <p:cNvPr id="43" name="Shape 40"/>
          <p:cNvSpPr/>
          <p:nvPr/>
        </p:nvSpPr>
        <p:spPr>
          <a:xfrm>
            <a:off x="5669280" y="1673352"/>
            <a:ext cx="365760" cy="365760"/>
          </a:xfrm>
          <a:prstGeom prst="ellipse">
            <a:avLst/>
          </a:prstGeom>
          <a:solidFill>
            <a:srgbClr val="0E7C86"/>
          </a:solidFill>
          <a:ln/>
        </p:spPr>
      </p:sp>
      <p:sp>
        <p:nvSpPr>
          <p:cNvPr id="44" name="Text 41"/>
          <p:cNvSpPr txBox="1"/>
          <p:nvPr/>
        </p:nvSpPr>
        <p:spPr>
          <a:xfrm>
            <a:off x="566928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5" name="Text 42"/>
          <p:cNvSpPr txBox="1"/>
          <p:nvPr/>
        </p:nvSpPr>
        <p:spPr>
          <a:xfrm>
            <a:off x="6099048" y="1673352"/>
            <a:ext cx="86868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Reduce</a:t>
            </a:r>
            <a:endParaRPr lang="en-US" sz="1300" dirty="0"/>
          </a:p>
        </p:txBody>
      </p:sp>
      <p:sp>
        <p:nvSpPr>
          <p:cNvPr id="46" name="Text 43"/>
          <p:cNvSpPr txBox="1"/>
          <p:nvPr/>
        </p:nvSpPr>
        <p:spPr>
          <a:xfrm>
            <a:off x="5669280" y="2148840"/>
            <a:ext cx="118872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Chaque groupe est additionné.</a:t>
            </a:r>
            <a:endParaRPr lang="en-US" sz="950" dirty="0"/>
          </a:p>
        </p:txBody>
      </p:sp>
      <p:sp>
        <p:nvSpPr>
          <p:cNvPr id="47" name="Shape 44"/>
          <p:cNvSpPr/>
          <p:nvPr/>
        </p:nvSpPr>
        <p:spPr>
          <a:xfrm>
            <a:off x="5623560" y="2852928"/>
            <a:ext cx="1280160" cy="457200"/>
          </a:xfrm>
          <a:prstGeom prst="roundRect">
            <a:avLst>
              <a:gd name="adj" fmla="val 8000"/>
            </a:avLst>
          </a:prstGeom>
          <a:solidFill>
            <a:srgbClr val="FFFFFF"/>
          </a:solidFill>
          <a:ln w="9525">
            <a:solidFill>
              <a:srgbClr val="D5DED9"/>
            </a:solidFill>
            <a:prstDash val="solid"/>
          </a:ln>
        </p:spPr>
      </p:sp>
      <p:sp>
        <p:nvSpPr>
          <p:cNvPr id="48" name="Text 45"/>
          <p:cNvSpPr txBox="1"/>
          <p:nvPr/>
        </p:nvSpPr>
        <p:spPr>
          <a:xfrm>
            <a:off x="564184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Σ débit×tests, Σ tests</a:t>
            </a:r>
            <a:endParaRPr lang="en-US" sz="850" dirty="0"/>
          </a:p>
        </p:txBody>
      </p:sp>
      <p:sp>
        <p:nvSpPr>
          <p:cNvPr id="49" name="Shape 46"/>
          <p:cNvSpPr/>
          <p:nvPr/>
        </p:nvSpPr>
        <p:spPr>
          <a:xfrm>
            <a:off x="7022592" y="2487168"/>
            <a:ext cx="173736" cy="91"/>
          </a:xfrm>
          <a:prstGeom prst="line">
            <a:avLst/>
          </a:prstGeom>
          <a:noFill/>
          <a:ln w="15875">
            <a:solidFill>
              <a:srgbClr val="5E6964"/>
            </a:solidFill>
            <a:prstDash val="solid"/>
            <a:tailEnd type="triangle"/>
          </a:ln>
        </p:spPr>
      </p:sp>
      <p:sp>
        <p:nvSpPr>
          <p:cNvPr id="50" name="Shape 47"/>
          <p:cNvSpPr/>
          <p:nvPr/>
        </p:nvSpPr>
        <p:spPr>
          <a:xfrm>
            <a:off x="7223760" y="1554480"/>
            <a:ext cx="1463040" cy="1874520"/>
          </a:xfrm>
          <a:prstGeom prst="roundRect">
            <a:avLst>
              <a:gd name="adj" fmla="val 5000"/>
            </a:avLst>
          </a:prstGeom>
          <a:solidFill>
            <a:srgbClr val="F4F7F5"/>
          </a:solidFill>
          <a:ln w="9525">
            <a:solidFill>
              <a:srgbClr val="D5DED9"/>
            </a:solidFill>
            <a:prstDash val="solid"/>
          </a:ln>
        </p:spPr>
      </p:sp>
      <p:sp>
        <p:nvSpPr>
          <p:cNvPr id="51" name="Shape 48"/>
          <p:cNvSpPr/>
          <p:nvPr/>
        </p:nvSpPr>
        <p:spPr>
          <a:xfrm>
            <a:off x="7360920" y="1673352"/>
            <a:ext cx="365760" cy="365760"/>
          </a:xfrm>
          <a:prstGeom prst="ellipse">
            <a:avLst/>
          </a:prstGeom>
          <a:solidFill>
            <a:srgbClr val="0E7C86"/>
          </a:solidFill>
          <a:ln/>
        </p:spPr>
      </p:sp>
      <p:sp>
        <p:nvSpPr>
          <p:cNvPr id="52" name="Text 49"/>
          <p:cNvSpPr txBox="1"/>
          <p:nvPr/>
        </p:nvSpPr>
        <p:spPr>
          <a:xfrm>
            <a:off x="736092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Text 50"/>
          <p:cNvSpPr txBox="1"/>
          <p:nvPr/>
        </p:nvSpPr>
        <p:spPr>
          <a:xfrm>
            <a:off x="7790688" y="1673352"/>
            <a:ext cx="86868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Résultat</a:t>
            </a:r>
            <a:endParaRPr lang="en-US" sz="1300" dirty="0"/>
          </a:p>
        </p:txBody>
      </p:sp>
      <p:sp>
        <p:nvSpPr>
          <p:cNvPr id="54" name="Text 51"/>
          <p:cNvSpPr txBox="1"/>
          <p:nvPr/>
        </p:nvSpPr>
        <p:spPr>
          <a:xfrm>
            <a:off x="7360920" y="2148840"/>
            <a:ext cx="118872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On divise une seule fois, à la fin.</a:t>
            </a:r>
            <a:endParaRPr lang="en-US" sz="950" dirty="0"/>
          </a:p>
        </p:txBody>
      </p:sp>
      <p:sp>
        <p:nvSpPr>
          <p:cNvPr id="55" name="Shape 52"/>
          <p:cNvSpPr/>
          <p:nvPr/>
        </p:nvSpPr>
        <p:spPr>
          <a:xfrm>
            <a:off x="7315200" y="2852928"/>
            <a:ext cx="1280160" cy="457200"/>
          </a:xfrm>
          <a:prstGeom prst="roundRect">
            <a:avLst>
              <a:gd name="adj" fmla="val 8000"/>
            </a:avLst>
          </a:prstGeom>
          <a:solidFill>
            <a:srgbClr val="FFFFFF"/>
          </a:solidFill>
          <a:ln w="9525">
            <a:solidFill>
              <a:srgbClr val="D5DED9"/>
            </a:solidFill>
            <a:prstDash val="solid"/>
          </a:ln>
        </p:spPr>
      </p:sp>
      <p:sp>
        <p:nvSpPr>
          <p:cNvPr id="56" name="Text 53"/>
          <p:cNvSpPr txBox="1"/>
          <p:nvPr/>
        </p:nvSpPr>
        <p:spPr>
          <a:xfrm>
            <a:off x="733348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Σ(débit×tests) ÷ Σ tests</a:t>
            </a:r>
            <a:endParaRPr lang="en-US" sz="850" dirty="0"/>
          </a:p>
        </p:txBody>
      </p:sp>
      <p:sp>
        <p:nvSpPr>
          <p:cNvPr id="57" name="Text 54"/>
          <p:cNvSpPr txBox="1"/>
          <p:nvPr/>
        </p:nvSpPr>
        <p:spPr>
          <a:xfrm>
            <a:off x="3566160" y="3474720"/>
            <a:ext cx="2011680" cy="182880"/>
          </a:xfrm>
          <a:prstGeom prst="rect">
            <a:avLst/>
          </a:prstGeom>
          <a:noFill/>
          <a:ln/>
        </p:spPr>
        <p:txBody>
          <a:bodyPr wrap="square" lIns="0" tIns="0" rIns="0" bIns="0" rtlCol="0" anchor="t"/>
          <a:lstStyle/>
          <a:p>
            <a:pPr marL="0" indent="0" algn="ctr">
              <a:buNone/>
            </a:pPr>
            <a:r>
              <a:rPr lang="en-US" sz="850" i="1" dirty="0">
                <a:solidFill>
                  <a:srgbClr val="0E7C86"/>
                </a:solidFill>
                <a:latin typeface="Calibri" pitchFamily="34" charset="0"/>
                <a:ea typeface="Calibri" pitchFamily="34" charset="-122"/>
                <a:cs typeface="Calibri" pitchFamily="34" charset="-120"/>
              </a:rPr>
              <a:t>Shuffle = l’étape réseau coûteuse</a:t>
            </a:r>
            <a:endParaRPr lang="en-US" sz="850" dirty="0"/>
          </a:p>
        </p:txBody>
      </p:sp>
      <p:sp>
        <p:nvSpPr>
          <p:cNvPr id="58" name="Shape 55"/>
          <p:cNvSpPr/>
          <p:nvPr/>
        </p:nvSpPr>
        <p:spPr>
          <a:xfrm>
            <a:off x="457200" y="3749040"/>
            <a:ext cx="8229600" cy="749808"/>
          </a:xfrm>
          <a:prstGeom prst="roundRect">
            <a:avLst>
              <a:gd name="adj" fmla="val 9756"/>
            </a:avLst>
          </a:prstGeom>
          <a:solidFill>
            <a:srgbClr val="D49A00">
              <a:alpha val="13000"/>
            </a:srgbClr>
          </a:solidFill>
          <a:ln w="12700">
            <a:solidFill>
              <a:srgbClr val="D49A00"/>
            </a:solidFill>
            <a:prstDash val="solid"/>
          </a:ln>
        </p:spPr>
      </p:sp>
      <p:pic>
        <p:nvPicPr>
          <p:cNvPr id="59" name="Image 0" descr="preencoded.png"/>
          <p:cNvPicPr>
            <a:picLocks noChangeAspect="1"/>
          </p:cNvPicPr>
          <p:nvPr/>
        </p:nvPicPr>
        <p:blipFill>
          <a:blip r:embed="rId3"/>
          <a:stretch>
            <a:fillRect/>
          </a:stretch>
        </p:blipFill>
        <p:spPr>
          <a:xfrm>
            <a:off x="594360" y="4014216"/>
            <a:ext cx="219456" cy="219456"/>
          </a:xfrm>
          <a:prstGeom prst="rect">
            <a:avLst/>
          </a:prstGeom>
        </p:spPr>
      </p:pic>
      <p:sp>
        <p:nvSpPr>
          <p:cNvPr id="60" name="Text 56"/>
          <p:cNvSpPr txBox="1"/>
          <p:nvPr/>
        </p:nvSpPr>
        <p:spPr>
          <a:xfrm>
            <a:off x="932688" y="3749040"/>
            <a:ext cx="7616952" cy="749808"/>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Ne jamais faire la moyenne des moyennes. </a:t>
            </a:r>
            <a:r>
              <a:rPr lang="en-US" sz="1000" dirty="0">
                <a:solidFill>
                  <a:srgbClr val="231F20"/>
                </a:solidFill>
                <a:latin typeface="Calibri" pitchFamily="34" charset="0"/>
                <a:ea typeface="Calibri" pitchFamily="34" charset="-122"/>
                <a:cs typeface="Calibri" pitchFamily="34" charset="-120"/>
              </a:rPr>
              <a:t>Chaque tuile Ookla est déjà une moyenne sur un nombre de tests différent. Transportez sommes et effectifs et divisez à la fin : c’est correct et parfaitement parallèle. Médianes et quantiles ne se décomposent pas ainsi : les moteurs les approchent.</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Apache Spark : comment un traitement s’exécute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280160"/>
            <a:ext cx="4572000" cy="3200400"/>
          </a:xfrm>
          <a:prstGeom prst="roundRect">
            <a:avLst>
              <a:gd name="adj" fmla="val 2286"/>
            </a:avLst>
          </a:prstGeom>
          <a:solidFill>
            <a:srgbClr val="FFFFFF"/>
          </a:solidFill>
          <a:ln w="9525">
            <a:solidFill>
              <a:srgbClr val="D5DED9"/>
            </a:solidFill>
            <a:prstDash val="solid"/>
          </a:ln>
        </p:spPr>
      </p:sp>
      <p:sp>
        <p:nvSpPr>
          <p:cNvPr id="18" name="Shape 15"/>
          <p:cNvSpPr/>
          <p:nvPr/>
        </p:nvSpPr>
        <p:spPr>
          <a:xfrm>
            <a:off x="640080" y="1417320"/>
            <a:ext cx="1417320" cy="1097280"/>
          </a:xfrm>
          <a:prstGeom prst="roundRect">
            <a:avLst>
              <a:gd name="adj" fmla="val 6667"/>
            </a:avLst>
          </a:prstGeom>
          <a:solidFill>
            <a:srgbClr val="E8F5EF"/>
          </a:solidFill>
          <a:ln w="15875">
            <a:solidFill>
              <a:srgbClr val="0E7C86"/>
            </a:solidFill>
            <a:prstDash val="solid"/>
          </a:ln>
        </p:spPr>
      </p:sp>
      <p:pic>
        <p:nvPicPr>
          <p:cNvPr id="19" name="Image 0" descr="preencoded.png"/>
          <p:cNvPicPr>
            <a:picLocks noChangeAspect="1"/>
          </p:cNvPicPr>
          <p:nvPr/>
        </p:nvPicPr>
        <p:blipFill>
          <a:blip r:embed="rId3"/>
          <a:stretch>
            <a:fillRect/>
          </a:stretch>
        </p:blipFill>
        <p:spPr>
          <a:xfrm>
            <a:off x="1188720" y="1508760"/>
            <a:ext cx="320040" cy="320040"/>
          </a:xfrm>
          <a:prstGeom prst="rect">
            <a:avLst/>
          </a:prstGeom>
        </p:spPr>
      </p:pic>
      <p:sp>
        <p:nvSpPr>
          <p:cNvPr id="20" name="Text 16"/>
          <p:cNvSpPr txBox="1"/>
          <p:nvPr/>
        </p:nvSpPr>
        <p:spPr>
          <a:xfrm>
            <a:off x="640080" y="1856232"/>
            <a:ext cx="1417320" cy="22860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Driver</a:t>
            </a:r>
            <a:endParaRPr lang="en-US" sz="1200" dirty="0"/>
          </a:p>
        </p:txBody>
      </p:sp>
      <p:sp>
        <p:nvSpPr>
          <p:cNvPr id="21" name="Text 17"/>
          <p:cNvSpPr txBox="1"/>
          <p:nvPr/>
        </p:nvSpPr>
        <p:spPr>
          <a:xfrm>
            <a:off x="713232" y="2084832"/>
            <a:ext cx="1280160" cy="384048"/>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votre notebook : construit et optimise le plan</a:t>
            </a:r>
            <a:endParaRPr lang="en-US" sz="850" dirty="0"/>
          </a:p>
        </p:txBody>
      </p:sp>
      <p:sp>
        <p:nvSpPr>
          <p:cNvPr id="22" name="Shape 18"/>
          <p:cNvSpPr/>
          <p:nvPr/>
        </p:nvSpPr>
        <p:spPr>
          <a:xfrm>
            <a:off x="2834640" y="1417320"/>
            <a:ext cx="2011680" cy="1097280"/>
          </a:xfrm>
          <a:prstGeom prst="roundRect">
            <a:avLst>
              <a:gd name="adj" fmla="val 6667"/>
            </a:avLst>
          </a:prstGeom>
          <a:solidFill>
            <a:srgbClr val="FFFFFF"/>
          </a:solidFill>
          <a:ln w="15875">
            <a:solidFill>
              <a:srgbClr val="0E7C86"/>
            </a:solidFill>
            <a:prstDash val="solid"/>
          </a:ln>
        </p:spPr>
      </p:sp>
      <p:pic>
        <p:nvPicPr>
          <p:cNvPr id="23" name="Image 1" descr="preencoded.png"/>
          <p:cNvPicPr>
            <a:picLocks noChangeAspect="1"/>
          </p:cNvPicPr>
          <p:nvPr/>
        </p:nvPicPr>
        <p:blipFill>
          <a:blip r:embed="rId4"/>
          <a:stretch>
            <a:fillRect/>
          </a:stretch>
        </p:blipFill>
        <p:spPr>
          <a:xfrm>
            <a:off x="3675888" y="1508760"/>
            <a:ext cx="320040" cy="320040"/>
          </a:xfrm>
          <a:prstGeom prst="rect">
            <a:avLst/>
          </a:prstGeom>
        </p:spPr>
      </p:pic>
      <p:sp>
        <p:nvSpPr>
          <p:cNvPr id="24" name="Text 19"/>
          <p:cNvSpPr txBox="1"/>
          <p:nvPr/>
        </p:nvSpPr>
        <p:spPr>
          <a:xfrm>
            <a:off x="2834640" y="1856232"/>
            <a:ext cx="2011680" cy="228600"/>
          </a:xfrm>
          <a:prstGeom prst="rect">
            <a:avLst/>
          </a:prstGeom>
          <a:noFill/>
          <a:ln/>
        </p:spPr>
        <p:txBody>
          <a:bodyPr wrap="square" lIns="0" tIns="0" rIns="0" bIns="0" rtlCol="0" anchor="t"/>
          <a:lstStyle/>
          <a:p>
            <a:pPr marL="0" indent="0" algn="ctr">
              <a:buNone/>
            </a:pPr>
            <a:r>
              <a:rPr lang="en-US" sz="1150" b="1" dirty="0">
                <a:solidFill>
                  <a:srgbClr val="231F20"/>
                </a:solidFill>
                <a:latin typeface="Calibri" pitchFamily="34" charset="0"/>
                <a:ea typeface="Calibri" pitchFamily="34" charset="-122"/>
                <a:cs typeface="Calibri" pitchFamily="34" charset="-120"/>
              </a:rPr>
              <a:t>Gestionnaire de cluster</a:t>
            </a:r>
            <a:endParaRPr lang="en-US" sz="1150" dirty="0"/>
          </a:p>
        </p:txBody>
      </p:sp>
      <p:sp>
        <p:nvSpPr>
          <p:cNvPr id="25" name="Text 20"/>
          <p:cNvSpPr txBox="1"/>
          <p:nvPr/>
        </p:nvSpPr>
        <p:spPr>
          <a:xfrm>
            <a:off x="2880360" y="2103120"/>
            <a:ext cx="1920240" cy="274320"/>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YARN · Kubernetes · autonome</a:t>
            </a:r>
            <a:endParaRPr lang="en-US" sz="850" dirty="0"/>
          </a:p>
        </p:txBody>
      </p:sp>
      <p:sp>
        <p:nvSpPr>
          <p:cNvPr id="26" name="Shape 21"/>
          <p:cNvSpPr/>
          <p:nvPr/>
        </p:nvSpPr>
        <p:spPr>
          <a:xfrm>
            <a:off x="2103120" y="1965960"/>
            <a:ext cx="685800" cy="91"/>
          </a:xfrm>
          <a:prstGeom prst="line">
            <a:avLst/>
          </a:prstGeom>
          <a:noFill/>
          <a:ln w="19050">
            <a:solidFill>
              <a:srgbClr val="0E7C86"/>
            </a:solidFill>
            <a:prstDash val="solid"/>
            <a:tailEnd type="triangle"/>
          </a:ln>
        </p:spPr>
      </p:sp>
      <p:sp>
        <p:nvSpPr>
          <p:cNvPr id="27" name="Shape 22"/>
          <p:cNvSpPr/>
          <p:nvPr/>
        </p:nvSpPr>
        <p:spPr>
          <a:xfrm>
            <a:off x="685800" y="2971800"/>
            <a:ext cx="1280160" cy="1371600"/>
          </a:xfrm>
          <a:prstGeom prst="roundRect">
            <a:avLst>
              <a:gd name="adj" fmla="val 5714"/>
            </a:avLst>
          </a:prstGeom>
          <a:solidFill>
            <a:srgbClr val="F4F7F5"/>
          </a:solidFill>
          <a:ln w="12700">
            <a:solidFill>
              <a:srgbClr val="0E7C86"/>
            </a:solidFill>
            <a:prstDash val="solid"/>
          </a:ln>
        </p:spPr>
      </p:sp>
      <p:sp>
        <p:nvSpPr>
          <p:cNvPr id="28" name="Text 23"/>
          <p:cNvSpPr txBox="1"/>
          <p:nvPr/>
        </p:nvSpPr>
        <p:spPr>
          <a:xfrm>
            <a:off x="685800" y="3035808"/>
            <a:ext cx="1280160" cy="201168"/>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Executor 1</a:t>
            </a:r>
            <a:endParaRPr lang="en-US" sz="1050" dirty="0"/>
          </a:p>
        </p:txBody>
      </p:sp>
      <p:sp>
        <p:nvSpPr>
          <p:cNvPr id="29" name="Shape 24"/>
          <p:cNvSpPr/>
          <p:nvPr/>
        </p:nvSpPr>
        <p:spPr>
          <a:xfrm>
            <a:off x="804672" y="3310128"/>
            <a:ext cx="1042416" cy="384048"/>
          </a:xfrm>
          <a:prstGeom prst="roundRect">
            <a:avLst>
              <a:gd name="adj" fmla="val 11905"/>
            </a:avLst>
          </a:prstGeom>
          <a:solidFill>
            <a:srgbClr val="0E7C86"/>
          </a:solidFill>
          <a:ln w="9525">
            <a:solidFill>
              <a:srgbClr val="0E7C86"/>
            </a:solidFill>
            <a:prstDash val="solid"/>
          </a:ln>
        </p:spPr>
      </p:sp>
      <p:sp>
        <p:nvSpPr>
          <p:cNvPr id="30" name="Text 25"/>
          <p:cNvSpPr txBox="1"/>
          <p:nvPr/>
        </p:nvSpPr>
        <p:spPr>
          <a:xfrm>
            <a:off x="804672" y="3310128"/>
            <a:ext cx="1042416"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tâche · partition 1</a:t>
            </a:r>
            <a:endParaRPr lang="en-US" sz="800" dirty="0"/>
          </a:p>
        </p:txBody>
      </p:sp>
      <p:sp>
        <p:nvSpPr>
          <p:cNvPr id="31" name="Shape 26"/>
          <p:cNvSpPr/>
          <p:nvPr/>
        </p:nvSpPr>
        <p:spPr>
          <a:xfrm>
            <a:off x="804672" y="3785616"/>
            <a:ext cx="1042416" cy="384048"/>
          </a:xfrm>
          <a:prstGeom prst="roundRect">
            <a:avLst>
              <a:gd name="adj" fmla="val 11905"/>
            </a:avLst>
          </a:prstGeom>
          <a:solidFill>
            <a:srgbClr val="0E7C86"/>
          </a:solidFill>
          <a:ln w="9525">
            <a:solidFill>
              <a:srgbClr val="0E7C86"/>
            </a:solidFill>
            <a:prstDash val="solid"/>
          </a:ln>
        </p:spPr>
      </p:sp>
      <p:sp>
        <p:nvSpPr>
          <p:cNvPr id="32" name="Text 27"/>
          <p:cNvSpPr txBox="1"/>
          <p:nvPr/>
        </p:nvSpPr>
        <p:spPr>
          <a:xfrm>
            <a:off x="804672" y="3785616"/>
            <a:ext cx="1042416"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tâche · partition 2</a:t>
            </a:r>
            <a:endParaRPr lang="en-US" sz="800" dirty="0"/>
          </a:p>
        </p:txBody>
      </p:sp>
      <p:sp>
        <p:nvSpPr>
          <p:cNvPr id="33" name="Shape 28"/>
          <p:cNvSpPr/>
          <p:nvPr/>
        </p:nvSpPr>
        <p:spPr>
          <a:xfrm flipH="1">
            <a:off x="1325880" y="2560320"/>
            <a:ext cx="2514600" cy="365760"/>
          </a:xfrm>
          <a:prstGeom prst="line">
            <a:avLst/>
          </a:prstGeom>
          <a:noFill/>
          <a:ln w="12700">
            <a:solidFill>
              <a:srgbClr val="5E6964"/>
            </a:solidFill>
            <a:prstDash val="solid"/>
            <a:tailEnd type="triangle"/>
          </a:ln>
        </p:spPr>
      </p:sp>
      <p:sp>
        <p:nvSpPr>
          <p:cNvPr id="34" name="Shape 29"/>
          <p:cNvSpPr/>
          <p:nvPr/>
        </p:nvSpPr>
        <p:spPr>
          <a:xfrm>
            <a:off x="2130552" y="2971800"/>
            <a:ext cx="1280160" cy="1371600"/>
          </a:xfrm>
          <a:prstGeom prst="roundRect">
            <a:avLst>
              <a:gd name="adj" fmla="val 5714"/>
            </a:avLst>
          </a:prstGeom>
          <a:solidFill>
            <a:srgbClr val="F4F7F5"/>
          </a:solidFill>
          <a:ln w="12700">
            <a:solidFill>
              <a:srgbClr val="0E7C86"/>
            </a:solidFill>
            <a:prstDash val="solid"/>
          </a:ln>
        </p:spPr>
      </p:sp>
      <p:sp>
        <p:nvSpPr>
          <p:cNvPr id="35" name="Text 30"/>
          <p:cNvSpPr txBox="1"/>
          <p:nvPr/>
        </p:nvSpPr>
        <p:spPr>
          <a:xfrm>
            <a:off x="2130552" y="3035808"/>
            <a:ext cx="1280160" cy="201168"/>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Executor 2</a:t>
            </a:r>
            <a:endParaRPr lang="en-US" sz="1050" dirty="0"/>
          </a:p>
        </p:txBody>
      </p:sp>
      <p:sp>
        <p:nvSpPr>
          <p:cNvPr id="36" name="Shape 31"/>
          <p:cNvSpPr/>
          <p:nvPr/>
        </p:nvSpPr>
        <p:spPr>
          <a:xfrm>
            <a:off x="2249424" y="3310128"/>
            <a:ext cx="1042416" cy="384048"/>
          </a:xfrm>
          <a:prstGeom prst="roundRect">
            <a:avLst>
              <a:gd name="adj" fmla="val 11905"/>
            </a:avLst>
          </a:prstGeom>
          <a:solidFill>
            <a:srgbClr val="0E7C86"/>
          </a:solidFill>
          <a:ln w="9525">
            <a:solidFill>
              <a:srgbClr val="0E7C86"/>
            </a:solidFill>
            <a:prstDash val="solid"/>
          </a:ln>
        </p:spPr>
      </p:sp>
      <p:sp>
        <p:nvSpPr>
          <p:cNvPr id="37" name="Text 32"/>
          <p:cNvSpPr txBox="1"/>
          <p:nvPr/>
        </p:nvSpPr>
        <p:spPr>
          <a:xfrm>
            <a:off x="2249424" y="3310128"/>
            <a:ext cx="1042416"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tâche · partition 3</a:t>
            </a:r>
            <a:endParaRPr lang="en-US" sz="800" dirty="0"/>
          </a:p>
        </p:txBody>
      </p:sp>
      <p:sp>
        <p:nvSpPr>
          <p:cNvPr id="38" name="Shape 33"/>
          <p:cNvSpPr/>
          <p:nvPr/>
        </p:nvSpPr>
        <p:spPr>
          <a:xfrm>
            <a:off x="2249424" y="3785616"/>
            <a:ext cx="1042416" cy="384048"/>
          </a:xfrm>
          <a:prstGeom prst="roundRect">
            <a:avLst>
              <a:gd name="adj" fmla="val 11905"/>
            </a:avLst>
          </a:prstGeom>
          <a:solidFill>
            <a:srgbClr val="0E7C86"/>
          </a:solidFill>
          <a:ln w="9525">
            <a:solidFill>
              <a:srgbClr val="0E7C86"/>
            </a:solidFill>
            <a:prstDash val="solid"/>
          </a:ln>
        </p:spPr>
      </p:sp>
      <p:sp>
        <p:nvSpPr>
          <p:cNvPr id="39" name="Text 34"/>
          <p:cNvSpPr txBox="1"/>
          <p:nvPr/>
        </p:nvSpPr>
        <p:spPr>
          <a:xfrm>
            <a:off x="2249424" y="3785616"/>
            <a:ext cx="1042416"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tâche · partition 4</a:t>
            </a:r>
            <a:endParaRPr lang="en-US" sz="800" dirty="0"/>
          </a:p>
        </p:txBody>
      </p:sp>
      <p:sp>
        <p:nvSpPr>
          <p:cNvPr id="40" name="Shape 35"/>
          <p:cNvSpPr/>
          <p:nvPr/>
        </p:nvSpPr>
        <p:spPr>
          <a:xfrm flipH="1">
            <a:off x="2770632" y="2560320"/>
            <a:ext cx="1069848" cy="365760"/>
          </a:xfrm>
          <a:prstGeom prst="line">
            <a:avLst/>
          </a:prstGeom>
          <a:noFill/>
          <a:ln w="12700">
            <a:solidFill>
              <a:srgbClr val="5E6964"/>
            </a:solidFill>
            <a:prstDash val="solid"/>
            <a:tailEnd type="triangle"/>
          </a:ln>
        </p:spPr>
      </p:sp>
      <p:sp>
        <p:nvSpPr>
          <p:cNvPr id="41" name="Shape 36"/>
          <p:cNvSpPr/>
          <p:nvPr/>
        </p:nvSpPr>
        <p:spPr>
          <a:xfrm>
            <a:off x="3575304" y="2971800"/>
            <a:ext cx="1280160" cy="1371600"/>
          </a:xfrm>
          <a:prstGeom prst="roundRect">
            <a:avLst>
              <a:gd name="adj" fmla="val 5714"/>
            </a:avLst>
          </a:prstGeom>
          <a:solidFill>
            <a:srgbClr val="F4F7F5"/>
          </a:solidFill>
          <a:ln w="12700">
            <a:solidFill>
              <a:srgbClr val="0E7C86"/>
            </a:solidFill>
            <a:prstDash val="solid"/>
          </a:ln>
        </p:spPr>
      </p:sp>
      <p:sp>
        <p:nvSpPr>
          <p:cNvPr id="42" name="Text 37"/>
          <p:cNvSpPr txBox="1"/>
          <p:nvPr/>
        </p:nvSpPr>
        <p:spPr>
          <a:xfrm>
            <a:off x="3575304" y="3035808"/>
            <a:ext cx="1280160" cy="201168"/>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Executor 3</a:t>
            </a:r>
            <a:endParaRPr lang="en-US" sz="1050" dirty="0"/>
          </a:p>
        </p:txBody>
      </p:sp>
      <p:sp>
        <p:nvSpPr>
          <p:cNvPr id="43" name="Shape 38"/>
          <p:cNvSpPr/>
          <p:nvPr/>
        </p:nvSpPr>
        <p:spPr>
          <a:xfrm>
            <a:off x="3694176" y="3310128"/>
            <a:ext cx="1042416" cy="384048"/>
          </a:xfrm>
          <a:prstGeom prst="roundRect">
            <a:avLst>
              <a:gd name="adj" fmla="val 11905"/>
            </a:avLst>
          </a:prstGeom>
          <a:solidFill>
            <a:srgbClr val="0E7C86"/>
          </a:solidFill>
          <a:ln w="9525">
            <a:solidFill>
              <a:srgbClr val="0E7C86"/>
            </a:solidFill>
            <a:prstDash val="solid"/>
          </a:ln>
        </p:spPr>
      </p:sp>
      <p:sp>
        <p:nvSpPr>
          <p:cNvPr id="44" name="Text 39"/>
          <p:cNvSpPr txBox="1"/>
          <p:nvPr/>
        </p:nvSpPr>
        <p:spPr>
          <a:xfrm>
            <a:off x="3694176" y="3310128"/>
            <a:ext cx="1042416"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tâche · partition 5</a:t>
            </a:r>
            <a:endParaRPr lang="en-US" sz="800" dirty="0"/>
          </a:p>
        </p:txBody>
      </p:sp>
      <p:sp>
        <p:nvSpPr>
          <p:cNvPr id="45" name="Shape 40"/>
          <p:cNvSpPr/>
          <p:nvPr/>
        </p:nvSpPr>
        <p:spPr>
          <a:xfrm>
            <a:off x="3694176" y="3785616"/>
            <a:ext cx="1042416" cy="384048"/>
          </a:xfrm>
          <a:prstGeom prst="roundRect">
            <a:avLst>
              <a:gd name="adj" fmla="val 11905"/>
            </a:avLst>
          </a:prstGeom>
          <a:solidFill>
            <a:srgbClr val="0E7C86"/>
          </a:solidFill>
          <a:ln w="9525">
            <a:solidFill>
              <a:srgbClr val="0E7C86"/>
            </a:solidFill>
            <a:prstDash val="solid"/>
          </a:ln>
        </p:spPr>
      </p:sp>
      <p:sp>
        <p:nvSpPr>
          <p:cNvPr id="46" name="Text 41"/>
          <p:cNvSpPr txBox="1"/>
          <p:nvPr/>
        </p:nvSpPr>
        <p:spPr>
          <a:xfrm>
            <a:off x="3694176" y="3785616"/>
            <a:ext cx="1042416"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tâche · partition 6</a:t>
            </a:r>
            <a:endParaRPr lang="en-US" sz="800" dirty="0"/>
          </a:p>
        </p:txBody>
      </p:sp>
      <p:sp>
        <p:nvSpPr>
          <p:cNvPr id="47" name="Shape 42"/>
          <p:cNvSpPr/>
          <p:nvPr/>
        </p:nvSpPr>
        <p:spPr>
          <a:xfrm>
            <a:off x="3840480" y="2560320"/>
            <a:ext cx="374904" cy="365760"/>
          </a:xfrm>
          <a:prstGeom prst="line">
            <a:avLst/>
          </a:prstGeom>
          <a:noFill/>
          <a:ln w="12700">
            <a:solidFill>
              <a:srgbClr val="5E6964"/>
            </a:solidFill>
            <a:prstDash val="solid"/>
            <a:tailEnd type="triangle"/>
          </a:ln>
        </p:spPr>
      </p:sp>
      <p:sp>
        <p:nvSpPr>
          <p:cNvPr id="48" name="Shape 43"/>
          <p:cNvSpPr/>
          <p:nvPr/>
        </p:nvSpPr>
        <p:spPr>
          <a:xfrm>
            <a:off x="1344168" y="2560320"/>
            <a:ext cx="91" cy="365760"/>
          </a:xfrm>
          <a:prstGeom prst="line">
            <a:avLst/>
          </a:prstGeom>
          <a:noFill/>
          <a:ln w="12700">
            <a:solidFill>
              <a:srgbClr val="5E6964"/>
            </a:solidFill>
            <a:prstDash val="solid"/>
            <a:tailEnd type="triangle"/>
          </a:ln>
        </p:spPr>
      </p:sp>
      <p:sp>
        <p:nvSpPr>
          <p:cNvPr id="49" name="Shape 44"/>
          <p:cNvSpPr/>
          <p:nvPr/>
        </p:nvSpPr>
        <p:spPr>
          <a:xfrm>
            <a:off x="5257800" y="1280160"/>
            <a:ext cx="3429000" cy="722376"/>
          </a:xfrm>
          <a:prstGeom prst="roundRect">
            <a:avLst>
              <a:gd name="adj" fmla="val 10127"/>
            </a:avLst>
          </a:prstGeom>
          <a:solidFill>
            <a:srgbClr val="F4F7F5"/>
          </a:solidFill>
          <a:ln w="9525">
            <a:solidFill>
              <a:srgbClr val="D5DED9"/>
            </a:solidFill>
            <a:prstDash val="solid"/>
          </a:ln>
        </p:spPr>
      </p:sp>
      <p:sp>
        <p:nvSpPr>
          <p:cNvPr id="50" name="Text 45"/>
          <p:cNvSpPr txBox="1"/>
          <p:nvPr/>
        </p:nvSpPr>
        <p:spPr>
          <a:xfrm>
            <a:off x="5394960" y="1344168"/>
            <a:ext cx="3154680" cy="219456"/>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Partitions</a:t>
            </a:r>
            <a:endParaRPr lang="en-US" sz="1150" dirty="0"/>
          </a:p>
        </p:txBody>
      </p:sp>
      <p:sp>
        <p:nvSpPr>
          <p:cNvPr id="51" name="Text 46"/>
          <p:cNvSpPr txBox="1"/>
          <p:nvPr/>
        </p:nvSpPr>
        <p:spPr>
          <a:xfrm>
            <a:off x="5394960" y="1572768"/>
            <a:ext cx="3200400" cy="41148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Les données sont découpées ; une tâche traite une partition.</a:t>
            </a:r>
            <a:endParaRPr lang="en-US" sz="950" dirty="0"/>
          </a:p>
        </p:txBody>
      </p:sp>
      <p:sp>
        <p:nvSpPr>
          <p:cNvPr id="52" name="Shape 47"/>
          <p:cNvSpPr/>
          <p:nvPr/>
        </p:nvSpPr>
        <p:spPr>
          <a:xfrm>
            <a:off x="5257800" y="2093976"/>
            <a:ext cx="3429000" cy="722376"/>
          </a:xfrm>
          <a:prstGeom prst="roundRect">
            <a:avLst>
              <a:gd name="adj" fmla="val 10127"/>
            </a:avLst>
          </a:prstGeom>
          <a:solidFill>
            <a:srgbClr val="F4F7F5"/>
          </a:solidFill>
          <a:ln w="9525">
            <a:solidFill>
              <a:srgbClr val="D5DED9"/>
            </a:solidFill>
            <a:prstDash val="solid"/>
          </a:ln>
        </p:spPr>
      </p:sp>
      <p:sp>
        <p:nvSpPr>
          <p:cNvPr id="53" name="Text 48"/>
          <p:cNvSpPr txBox="1"/>
          <p:nvPr/>
        </p:nvSpPr>
        <p:spPr>
          <a:xfrm>
            <a:off x="5394960" y="2157984"/>
            <a:ext cx="3154680" cy="219456"/>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Évaluation paresseuse</a:t>
            </a:r>
            <a:endParaRPr lang="en-US" sz="1150" dirty="0"/>
          </a:p>
        </p:txBody>
      </p:sp>
      <p:sp>
        <p:nvSpPr>
          <p:cNvPr id="54" name="Text 49"/>
          <p:cNvSpPr txBox="1"/>
          <p:nvPr/>
        </p:nvSpPr>
        <p:spPr>
          <a:xfrm>
            <a:off x="5394960" y="2386584"/>
            <a:ext cx="3200400" cy="41148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Les transformations sont enregistrées ; une action (write, count) déclenche le calcul.</a:t>
            </a:r>
            <a:endParaRPr lang="en-US" sz="950" dirty="0"/>
          </a:p>
        </p:txBody>
      </p:sp>
      <p:sp>
        <p:nvSpPr>
          <p:cNvPr id="55" name="Shape 50"/>
          <p:cNvSpPr/>
          <p:nvPr/>
        </p:nvSpPr>
        <p:spPr>
          <a:xfrm>
            <a:off x="5257800" y="2907792"/>
            <a:ext cx="3429000" cy="722376"/>
          </a:xfrm>
          <a:prstGeom prst="roundRect">
            <a:avLst>
              <a:gd name="adj" fmla="val 10127"/>
            </a:avLst>
          </a:prstGeom>
          <a:solidFill>
            <a:srgbClr val="F4F7F5"/>
          </a:solidFill>
          <a:ln w="9525">
            <a:solidFill>
              <a:srgbClr val="D5DED9"/>
            </a:solidFill>
            <a:prstDash val="solid"/>
          </a:ln>
        </p:spPr>
      </p:sp>
      <p:sp>
        <p:nvSpPr>
          <p:cNvPr id="56" name="Text 51"/>
          <p:cNvSpPr txBox="1"/>
          <p:nvPr/>
        </p:nvSpPr>
        <p:spPr>
          <a:xfrm>
            <a:off x="5394960" y="2971800"/>
            <a:ext cx="3154680" cy="219456"/>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Optimiseur (Catalyst)</a:t>
            </a:r>
            <a:endParaRPr lang="en-US" sz="1150" dirty="0"/>
          </a:p>
        </p:txBody>
      </p:sp>
      <p:sp>
        <p:nvSpPr>
          <p:cNvPr id="57" name="Text 52"/>
          <p:cNvSpPr txBox="1"/>
          <p:nvPr/>
        </p:nvSpPr>
        <p:spPr>
          <a:xfrm>
            <a:off x="5394960" y="3200400"/>
            <a:ext cx="3200400" cy="41148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Réécrit tout le plan : filtres au plus tôt, choix des jointures.</a:t>
            </a:r>
            <a:endParaRPr lang="en-US" sz="950" dirty="0"/>
          </a:p>
        </p:txBody>
      </p:sp>
      <p:sp>
        <p:nvSpPr>
          <p:cNvPr id="58" name="Shape 53"/>
          <p:cNvSpPr/>
          <p:nvPr/>
        </p:nvSpPr>
        <p:spPr>
          <a:xfrm>
            <a:off x="5257800" y="3721608"/>
            <a:ext cx="3429000" cy="722376"/>
          </a:xfrm>
          <a:prstGeom prst="roundRect">
            <a:avLst>
              <a:gd name="adj" fmla="val 10127"/>
            </a:avLst>
          </a:prstGeom>
          <a:solidFill>
            <a:srgbClr val="E8F5EF"/>
          </a:solidFill>
          <a:ln w="15875">
            <a:solidFill>
              <a:srgbClr val="0E7C86"/>
            </a:solidFill>
            <a:prstDash val="solid"/>
          </a:ln>
        </p:spPr>
      </p:sp>
      <p:sp>
        <p:nvSpPr>
          <p:cNvPr id="59" name="Text 54"/>
          <p:cNvSpPr txBox="1"/>
          <p:nvPr/>
        </p:nvSpPr>
        <p:spPr>
          <a:xfrm>
            <a:off x="5394960" y="3785616"/>
            <a:ext cx="3154680" cy="219456"/>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Shuffle</a:t>
            </a:r>
            <a:endParaRPr lang="en-US" sz="1150" dirty="0"/>
          </a:p>
        </p:txBody>
      </p:sp>
      <p:sp>
        <p:nvSpPr>
          <p:cNvPr id="60" name="Text 55"/>
          <p:cNvSpPr txBox="1"/>
          <p:nvPr/>
        </p:nvSpPr>
        <p:spPr>
          <a:xfrm>
            <a:off x="5394960" y="4014216"/>
            <a:ext cx="3200400" cy="41148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Regroupements et jointures déplacent les données sur le réseau : le goulot habituel.</a:t>
            </a:r>
            <a:endParaRPr lang="en-US" sz="950" dirty="0"/>
          </a:p>
        </p:txBody>
      </p:sp>
      <p:sp>
        <p:nvSpPr>
          <p:cNvPr id="61" name="Text 56"/>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 documentation Apache Spark (Cluster Mode Overview) ; Zaharia et al., Communications of the ACM, 2016.</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Spark en pratique : un indicateur de connectivité</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280160"/>
            <a:ext cx="521208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493776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PYSPARK</a:t>
            </a:r>
            <a:endParaRPr lang="en-US" sz="900" dirty="0"/>
          </a:p>
        </p:txBody>
      </p:sp>
      <p:sp>
        <p:nvSpPr>
          <p:cNvPr id="19" name="Text 16"/>
          <p:cNvSpPr txBox="1"/>
          <p:nvPr/>
        </p:nvSpPr>
        <p:spPr>
          <a:xfrm>
            <a:off x="594360" y="1609344"/>
            <a:ext cx="4937760" cy="2798064"/>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from pyspark.sql import SparkSession, functions as F</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spark = SparkSession.builder.appName("connectivity").getOrCreate()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i="1" dirty="0">
                <a:solidFill>
                  <a:srgbClr val="00704A"/>
                </a:solidFill>
                <a:latin typeface="Courier New" pitchFamily="34" charset="0"/>
                <a:ea typeface="Courier New" pitchFamily="34" charset="-122"/>
                <a:cs typeface="Courier New" pitchFamily="34" charset="-120"/>
              </a:rPr>
              <a:t># 1. Lire les tuiles validées (argent), déjà rattachées aux régions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tiles = spark.read.parquet("s3://nso-lake/silver/ookla_admin/")</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i="1" dirty="0">
                <a:solidFill>
                  <a:srgbClr val="00704A"/>
                </a:solidFill>
                <a:latin typeface="Courier New" pitchFamily="34" charset="0"/>
                <a:ea typeface="Courier New" pitchFamily="34" charset="-122"/>
                <a:cs typeface="Courier New" pitchFamily="34" charset="-120"/>
              </a:rPr>
              <a:t># 2. Débit moyen pondéré par les tests + diagnostics de couverture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kpi = (tiles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.filter(F.col("tests") &gt; 0)</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.groupBy("country", "admin1", "year", "quarter")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.agg((F.sum(F.col("avg_d_kbps") * F.col("tests"))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 F.sum("tests")).alias("dl_kbps_weighted"),</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F.sum("tests").alias("n_tests"),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F.countDistinct("quadkey").alias("n_tiles")))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i="1" dirty="0">
                <a:solidFill>
                  <a:srgbClr val="00704A"/>
                </a:solidFill>
                <a:latin typeface="Courier New" pitchFamily="34" charset="0"/>
                <a:ea typeface="Courier New" pitchFamily="34" charset="-122"/>
                <a:cs typeface="Courier New" pitchFamily="34" charset="-120"/>
              </a:rPr>
              <a:t># 3. Publier en zone or, un dossier par trimestre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kpi.write.mode("overwrite")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.partitionBy("year", "quarter")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.parquet("s3://nso-lake/gold/connectivity/")</a:t>
            </a:r>
            <a:endParaRPr lang="en-US" sz="850" dirty="0"/>
          </a:p>
        </p:txBody>
      </p:sp>
      <p:sp>
        <p:nvSpPr>
          <p:cNvPr id="20" name="Shape 17"/>
          <p:cNvSpPr/>
          <p:nvPr/>
        </p:nvSpPr>
        <p:spPr>
          <a:xfrm>
            <a:off x="5897880" y="1280160"/>
            <a:ext cx="2788920" cy="969264"/>
          </a:xfrm>
          <a:prstGeom prst="roundRect">
            <a:avLst>
              <a:gd name="adj" fmla="val 7547"/>
            </a:avLst>
          </a:prstGeom>
          <a:solidFill>
            <a:srgbClr val="E8F5EF"/>
          </a:solidFill>
          <a:ln w="15875">
            <a:solidFill>
              <a:srgbClr val="0E7C86"/>
            </a:solidFill>
            <a:prstDash val="solid"/>
          </a:ln>
        </p:spPr>
      </p:sp>
      <p:sp>
        <p:nvSpPr>
          <p:cNvPr id="21" name="Text 18"/>
          <p:cNvSpPr txBox="1"/>
          <p:nvPr/>
        </p:nvSpPr>
        <p:spPr>
          <a:xfrm>
            <a:off x="6035040" y="1362456"/>
            <a:ext cx="2560320" cy="228600"/>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Identique à toute échelle</a:t>
            </a:r>
            <a:endParaRPr lang="en-US" sz="1150" dirty="0"/>
          </a:p>
        </p:txBody>
      </p:sp>
      <p:sp>
        <p:nvSpPr>
          <p:cNvPr id="22" name="Text 19"/>
          <p:cNvSpPr txBox="1"/>
          <p:nvPr/>
        </p:nvSpPr>
        <p:spPr>
          <a:xfrm>
            <a:off x="6035040" y="1600200"/>
            <a:ext cx="2560320" cy="6217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Même script sur un échantillon (mode local) ou sur tout un historique continental. Seule la taille du cluster change.</a:t>
            </a:r>
            <a:endParaRPr lang="en-US" sz="900" dirty="0"/>
          </a:p>
        </p:txBody>
      </p:sp>
      <p:sp>
        <p:nvSpPr>
          <p:cNvPr id="23" name="Shape 20"/>
          <p:cNvSpPr/>
          <p:nvPr/>
        </p:nvSpPr>
        <p:spPr>
          <a:xfrm>
            <a:off x="5897880" y="2359152"/>
            <a:ext cx="2788920" cy="969264"/>
          </a:xfrm>
          <a:prstGeom prst="roundRect">
            <a:avLst>
              <a:gd name="adj" fmla="val 7547"/>
            </a:avLst>
          </a:prstGeom>
          <a:solidFill>
            <a:srgbClr val="F4F7F5"/>
          </a:solidFill>
          <a:ln w="9525">
            <a:solidFill>
              <a:srgbClr val="D5DED9"/>
            </a:solidFill>
            <a:prstDash val="solid"/>
          </a:ln>
        </p:spPr>
      </p:sp>
      <p:sp>
        <p:nvSpPr>
          <p:cNvPr id="24" name="Text 21"/>
          <p:cNvSpPr txBox="1"/>
          <p:nvPr/>
        </p:nvSpPr>
        <p:spPr>
          <a:xfrm>
            <a:off x="6035040" y="2441448"/>
            <a:ext cx="2560320" cy="228600"/>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La statistique d’abord</a:t>
            </a:r>
            <a:endParaRPr lang="en-US" sz="1150" dirty="0"/>
          </a:p>
        </p:txBody>
      </p:sp>
      <p:sp>
        <p:nvSpPr>
          <p:cNvPr id="25" name="Text 22"/>
          <p:cNvSpPr txBox="1"/>
          <p:nvPr/>
        </p:nvSpPr>
        <p:spPr>
          <a:xfrm>
            <a:off x="6035040" y="2679192"/>
            <a:ext cx="2560320" cy="6217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n_tests et n_tiles accompagnent l’estimation : les chiffres régionaux trop fragiles sont signalés avant publication.</a:t>
            </a:r>
            <a:endParaRPr lang="en-US" sz="900" dirty="0"/>
          </a:p>
        </p:txBody>
      </p:sp>
      <p:sp>
        <p:nvSpPr>
          <p:cNvPr id="26" name="Shape 23"/>
          <p:cNvSpPr/>
          <p:nvPr/>
        </p:nvSpPr>
        <p:spPr>
          <a:xfrm>
            <a:off x="5897880" y="3438144"/>
            <a:ext cx="2788920" cy="969264"/>
          </a:xfrm>
          <a:prstGeom prst="roundRect">
            <a:avLst>
              <a:gd name="adj" fmla="val 7547"/>
            </a:avLst>
          </a:prstGeom>
          <a:solidFill>
            <a:srgbClr val="F4F7F5"/>
          </a:solidFill>
          <a:ln w="9525">
            <a:solidFill>
              <a:srgbClr val="D5DED9"/>
            </a:solidFill>
            <a:prstDash val="solid"/>
          </a:ln>
        </p:spPr>
      </p:sp>
      <p:sp>
        <p:nvSpPr>
          <p:cNvPr id="27" name="Text 24"/>
          <p:cNvSpPr txBox="1"/>
          <p:nvPr/>
        </p:nvSpPr>
        <p:spPr>
          <a:xfrm>
            <a:off x="6035040" y="3520440"/>
            <a:ext cx="2560320" cy="228600"/>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Une grammaire familière</a:t>
            </a:r>
            <a:endParaRPr lang="en-US" sz="1150" dirty="0"/>
          </a:p>
        </p:txBody>
      </p:sp>
      <p:sp>
        <p:nvSpPr>
          <p:cNvPr id="28" name="Text 25"/>
          <p:cNvSpPr txBox="1"/>
          <p:nvPr/>
        </p:nvSpPr>
        <p:spPr>
          <a:xfrm>
            <a:off x="6035040" y="3758184"/>
            <a:ext cx="2560320" cy="6217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Filtrer, regrouper, agréger, écrire : les mêmes verbes qu’en SQL, R dplyr ou pandas.</a:t>
            </a:r>
            <a:endParaRPr lang="en-US" sz="900" dirty="0"/>
          </a:p>
        </p:txBody>
      </p:sp>
      <p:sp>
        <p:nvSpPr>
          <p:cNvPr id="29" name="Text 26"/>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Noms de colonnes conformes au schéma Ookla Open Data ; chemins et noms de tables illustratifs.</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Lots ou flux : choisir le modèle temporel</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80160"/>
            <a:ext cx="260604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704088" y="1499616"/>
            <a:ext cx="219456" cy="219456"/>
          </a:xfrm>
          <a:prstGeom prst="rect">
            <a:avLst/>
          </a:prstGeom>
        </p:spPr>
      </p:pic>
      <p:sp>
        <p:nvSpPr>
          <p:cNvPr id="20" name="Text 16"/>
          <p:cNvSpPr txBox="1"/>
          <p:nvPr/>
        </p:nvSpPr>
        <p:spPr>
          <a:xfrm>
            <a:off x="1115568" y="1371600"/>
            <a:ext cx="187452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Par lots (batch)</a:t>
            </a:r>
            <a:endParaRPr lang="en-US" sz="1400" dirty="0"/>
          </a:p>
        </p:txBody>
      </p:sp>
      <p:sp>
        <p:nvSpPr>
          <p:cNvPr id="21" name="Text 17"/>
          <p:cNvSpPr txBox="1"/>
          <p:nvPr/>
        </p:nvSpPr>
        <p:spPr>
          <a:xfrm>
            <a:off x="1115568" y="1645920"/>
            <a:ext cx="1874520" cy="27432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Données bornées, traitées selon un calendrier</a:t>
            </a:r>
            <a:endParaRPr lang="en-US" sz="850" dirty="0"/>
          </a:p>
        </p:txBody>
      </p:sp>
      <p:sp>
        <p:nvSpPr>
          <p:cNvPr id="22" name="Text 18"/>
          <p:cNvSpPr txBox="1"/>
          <p:nvPr/>
        </p:nvSpPr>
        <p:spPr>
          <a:xfrm>
            <a:off x="594360" y="2011680"/>
            <a:ext cx="2377440" cy="15544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Délai : heures à jours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Simple à comprendre et à relancer</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Adapté aux statistiques mensuelles, trimestrielles et annuelles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Outils : Spark, DuckDB, dbt, entrepôts SQL</a:t>
            </a:r>
            <a:endParaRPr lang="en-US" sz="950" dirty="0"/>
          </a:p>
        </p:txBody>
      </p:sp>
      <p:sp>
        <p:nvSpPr>
          <p:cNvPr id="23" name="Shape 19"/>
          <p:cNvSpPr/>
          <p:nvPr/>
        </p:nvSpPr>
        <p:spPr>
          <a:xfrm>
            <a:off x="3246120" y="1280160"/>
            <a:ext cx="2606040" cy="2331720"/>
          </a:xfrm>
          <a:prstGeom prst="roundRect">
            <a:avLst>
              <a:gd name="adj" fmla="val 3137"/>
            </a:avLst>
          </a:prstGeom>
          <a:solidFill>
            <a:srgbClr val="E8F5EF"/>
          </a:solidFill>
          <a:ln w="15875">
            <a:solidFill>
              <a:srgbClr val="0E7C86"/>
            </a:solidFill>
            <a:prstDash val="solid"/>
          </a:ln>
        </p:spPr>
      </p:sp>
      <p:sp>
        <p:nvSpPr>
          <p:cNvPr id="24" name="Shape 20"/>
          <p:cNvSpPr/>
          <p:nvPr/>
        </p:nvSpPr>
        <p:spPr>
          <a:xfrm>
            <a:off x="3383280" y="1389888"/>
            <a:ext cx="438912" cy="438912"/>
          </a:xfrm>
          <a:prstGeom prst="ellipse">
            <a:avLst/>
          </a:prstGeom>
          <a:solidFill>
            <a:srgbClr val="0E7C86">
              <a:alpha val="22000"/>
            </a:srgbClr>
          </a:solidFill>
          <a:ln/>
        </p:spPr>
      </p:sp>
      <p:pic>
        <p:nvPicPr>
          <p:cNvPr id="25" name="Image 1" descr="preencoded.png"/>
          <p:cNvPicPr>
            <a:picLocks noChangeAspect="1"/>
          </p:cNvPicPr>
          <p:nvPr/>
        </p:nvPicPr>
        <p:blipFill>
          <a:blip r:embed="rId4"/>
          <a:stretch>
            <a:fillRect/>
          </a:stretch>
        </p:blipFill>
        <p:spPr>
          <a:xfrm>
            <a:off x="3493008" y="1499616"/>
            <a:ext cx="219456" cy="219456"/>
          </a:xfrm>
          <a:prstGeom prst="rect">
            <a:avLst/>
          </a:prstGeom>
        </p:spPr>
      </p:pic>
      <p:sp>
        <p:nvSpPr>
          <p:cNvPr id="26" name="Text 21"/>
          <p:cNvSpPr txBox="1"/>
          <p:nvPr/>
        </p:nvSpPr>
        <p:spPr>
          <a:xfrm>
            <a:off x="3904488" y="1371600"/>
            <a:ext cx="187452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En flux (streaming)</a:t>
            </a:r>
            <a:endParaRPr lang="en-US" sz="1400" dirty="0"/>
          </a:p>
        </p:txBody>
      </p:sp>
      <p:sp>
        <p:nvSpPr>
          <p:cNvPr id="27" name="Text 22"/>
          <p:cNvSpPr txBox="1"/>
          <p:nvPr/>
        </p:nvSpPr>
        <p:spPr>
          <a:xfrm>
            <a:off x="3904488" y="1645920"/>
            <a:ext cx="1874520" cy="27432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Données sans fin, traitées en continu</a:t>
            </a:r>
            <a:endParaRPr lang="en-US" sz="850" dirty="0"/>
          </a:p>
        </p:txBody>
      </p:sp>
      <p:sp>
        <p:nvSpPr>
          <p:cNvPr id="28" name="Text 23"/>
          <p:cNvSpPr txBox="1"/>
          <p:nvPr/>
        </p:nvSpPr>
        <p:spPr>
          <a:xfrm>
            <a:off x="3383280" y="2011680"/>
            <a:ext cx="2377440" cy="15544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Délai : secondes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Fenêtres, watermarks et temps d’événement</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Adapté au nowcasting, au suivi, aux prix en ligne</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Outils : Apache Kafka, Apache Flink, Spark Structured Streaming</a:t>
            </a:r>
            <a:endParaRPr lang="en-US" sz="950" dirty="0"/>
          </a:p>
        </p:txBody>
      </p:sp>
      <p:sp>
        <p:nvSpPr>
          <p:cNvPr id="29" name="Shape 24"/>
          <p:cNvSpPr/>
          <p:nvPr/>
        </p:nvSpPr>
        <p:spPr>
          <a:xfrm>
            <a:off x="6126480" y="1280160"/>
            <a:ext cx="2560320" cy="2331720"/>
          </a:xfrm>
          <a:prstGeom prst="roundRect">
            <a:avLst>
              <a:gd name="adj" fmla="val 3137"/>
            </a:avLst>
          </a:prstGeom>
          <a:solidFill>
            <a:srgbClr val="FFFFFF"/>
          </a:solidFill>
          <a:ln w="9525">
            <a:solidFill>
              <a:srgbClr val="D5DED9"/>
            </a:solidFill>
            <a:prstDash val="solid"/>
          </a:ln>
        </p:spPr>
      </p:sp>
      <p:sp>
        <p:nvSpPr>
          <p:cNvPr id="30" name="Text 25"/>
          <p:cNvSpPr txBox="1"/>
          <p:nvPr/>
        </p:nvSpPr>
        <p:spPr>
          <a:xfrm>
            <a:off x="6217920" y="1353312"/>
            <a:ext cx="2377440"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Fenêtres fixes (5 min)</a:t>
            </a:r>
            <a:endParaRPr lang="en-US" sz="1100" dirty="0"/>
          </a:p>
        </p:txBody>
      </p:sp>
      <p:sp>
        <p:nvSpPr>
          <p:cNvPr id="31" name="Shape 26"/>
          <p:cNvSpPr/>
          <p:nvPr/>
        </p:nvSpPr>
        <p:spPr>
          <a:xfrm>
            <a:off x="6263640" y="2926080"/>
            <a:ext cx="2286000" cy="91"/>
          </a:xfrm>
          <a:prstGeom prst="line">
            <a:avLst/>
          </a:prstGeom>
          <a:noFill/>
          <a:ln w="12700">
            <a:solidFill>
              <a:srgbClr val="5E6964"/>
            </a:solidFill>
            <a:prstDash val="solid"/>
            <a:tailEnd type="triangle"/>
          </a:ln>
        </p:spPr>
      </p:sp>
      <p:sp>
        <p:nvSpPr>
          <p:cNvPr id="32" name="Text 27"/>
          <p:cNvSpPr txBox="1"/>
          <p:nvPr/>
        </p:nvSpPr>
        <p:spPr>
          <a:xfrm>
            <a:off x="6949440" y="2971800"/>
            <a:ext cx="1645920" cy="182880"/>
          </a:xfrm>
          <a:prstGeom prst="rect">
            <a:avLst/>
          </a:prstGeom>
          <a:noFill/>
          <a:ln/>
        </p:spPr>
        <p:txBody>
          <a:bodyPr wrap="square" lIns="0" tIns="0" rIns="0" bIns="0" rtlCol="0" anchor="t"/>
          <a:lstStyle/>
          <a:p>
            <a:pPr marL="0" indent="0" algn="r">
              <a:buNone/>
            </a:pPr>
            <a:r>
              <a:rPr lang="en-US" sz="800" i="1" dirty="0">
                <a:solidFill>
                  <a:srgbClr val="5E6964"/>
                </a:solidFill>
                <a:latin typeface="Calibri" pitchFamily="34" charset="0"/>
                <a:ea typeface="Calibri" pitchFamily="34" charset="-122"/>
                <a:cs typeface="Calibri" pitchFamily="34" charset="-120"/>
              </a:rPr>
              <a:t>temps de l’événement →</a:t>
            </a:r>
            <a:endParaRPr lang="en-US" sz="800" dirty="0"/>
          </a:p>
        </p:txBody>
      </p:sp>
      <p:sp>
        <p:nvSpPr>
          <p:cNvPr id="33" name="Shape 28"/>
          <p:cNvSpPr/>
          <p:nvPr/>
        </p:nvSpPr>
        <p:spPr>
          <a:xfrm>
            <a:off x="6309360" y="1691640"/>
            <a:ext cx="676656" cy="1188720"/>
          </a:xfrm>
          <a:prstGeom prst="roundRect">
            <a:avLst>
              <a:gd name="adj" fmla="val 5405"/>
            </a:avLst>
          </a:prstGeom>
          <a:solidFill>
            <a:srgbClr val="0E7C86">
              <a:alpha val="12000"/>
            </a:srgbClr>
          </a:solidFill>
          <a:ln w="9525">
            <a:solidFill>
              <a:srgbClr val="0E7C86"/>
            </a:solidFill>
            <a:prstDash val="solid"/>
          </a:ln>
        </p:spPr>
      </p:sp>
      <p:sp>
        <p:nvSpPr>
          <p:cNvPr id="34" name="Text 29"/>
          <p:cNvSpPr txBox="1"/>
          <p:nvPr/>
        </p:nvSpPr>
        <p:spPr>
          <a:xfrm>
            <a:off x="6309360" y="1719072"/>
            <a:ext cx="676656" cy="182880"/>
          </a:xfrm>
          <a:prstGeom prst="rect">
            <a:avLst/>
          </a:prstGeom>
          <a:noFill/>
          <a:ln/>
        </p:spPr>
        <p:txBody>
          <a:bodyPr wrap="square" lIns="0" tIns="0" rIns="0" bIns="0" rtlCol="0" anchor="t"/>
          <a:lstStyle/>
          <a:p>
            <a:pPr marL="0" indent="0" algn="ctr">
              <a:buNone/>
            </a:pPr>
            <a:r>
              <a:rPr lang="en-US" sz="900" b="1" dirty="0">
                <a:solidFill>
                  <a:srgbClr val="0E7C86"/>
                </a:solidFill>
                <a:latin typeface="Calibri" pitchFamily="34" charset="0"/>
                <a:ea typeface="Calibri" pitchFamily="34" charset="-122"/>
                <a:cs typeface="Calibri" pitchFamily="34" charset="-120"/>
              </a:rPr>
              <a:t>F1</a:t>
            </a:r>
            <a:endParaRPr lang="en-US" sz="900" dirty="0"/>
          </a:p>
        </p:txBody>
      </p:sp>
      <p:sp>
        <p:nvSpPr>
          <p:cNvPr id="35" name="Shape 30"/>
          <p:cNvSpPr/>
          <p:nvPr/>
        </p:nvSpPr>
        <p:spPr>
          <a:xfrm>
            <a:off x="7040880" y="1691640"/>
            <a:ext cx="676656" cy="1188720"/>
          </a:xfrm>
          <a:prstGeom prst="roundRect">
            <a:avLst>
              <a:gd name="adj" fmla="val 5405"/>
            </a:avLst>
          </a:prstGeom>
          <a:solidFill>
            <a:srgbClr val="00A86A">
              <a:alpha val="12000"/>
            </a:srgbClr>
          </a:solidFill>
          <a:ln w="9525">
            <a:solidFill>
              <a:srgbClr val="00A86A"/>
            </a:solidFill>
            <a:prstDash val="solid"/>
          </a:ln>
        </p:spPr>
      </p:sp>
      <p:sp>
        <p:nvSpPr>
          <p:cNvPr id="36" name="Text 31"/>
          <p:cNvSpPr txBox="1"/>
          <p:nvPr/>
        </p:nvSpPr>
        <p:spPr>
          <a:xfrm>
            <a:off x="7040880" y="1719072"/>
            <a:ext cx="676656" cy="182880"/>
          </a:xfrm>
          <a:prstGeom prst="rect">
            <a:avLst/>
          </a:prstGeom>
          <a:noFill/>
          <a:ln/>
        </p:spPr>
        <p:txBody>
          <a:bodyPr wrap="square" lIns="0" tIns="0" rIns="0" bIns="0" rtlCol="0" anchor="t"/>
          <a:lstStyle/>
          <a:p>
            <a:pPr marL="0" indent="0" algn="ctr">
              <a:buNone/>
            </a:pPr>
            <a:r>
              <a:rPr lang="en-US" sz="900" b="1" dirty="0">
                <a:solidFill>
                  <a:srgbClr val="00A86A"/>
                </a:solidFill>
                <a:latin typeface="Calibri" pitchFamily="34" charset="0"/>
                <a:ea typeface="Calibri" pitchFamily="34" charset="-122"/>
                <a:cs typeface="Calibri" pitchFamily="34" charset="-120"/>
              </a:rPr>
              <a:t>F2</a:t>
            </a:r>
            <a:endParaRPr lang="en-US" sz="900" dirty="0"/>
          </a:p>
        </p:txBody>
      </p:sp>
      <p:sp>
        <p:nvSpPr>
          <p:cNvPr id="37" name="Shape 32"/>
          <p:cNvSpPr/>
          <p:nvPr/>
        </p:nvSpPr>
        <p:spPr>
          <a:xfrm>
            <a:off x="7772400" y="1691640"/>
            <a:ext cx="676656" cy="1188720"/>
          </a:xfrm>
          <a:prstGeom prst="roundRect">
            <a:avLst>
              <a:gd name="adj" fmla="val 5405"/>
            </a:avLst>
          </a:prstGeom>
          <a:solidFill>
            <a:srgbClr val="00704A">
              <a:alpha val="12000"/>
            </a:srgbClr>
          </a:solidFill>
          <a:ln w="9525">
            <a:solidFill>
              <a:srgbClr val="00704A"/>
            </a:solidFill>
            <a:prstDash val="solid"/>
          </a:ln>
        </p:spPr>
      </p:sp>
      <p:sp>
        <p:nvSpPr>
          <p:cNvPr id="38" name="Text 33"/>
          <p:cNvSpPr txBox="1"/>
          <p:nvPr/>
        </p:nvSpPr>
        <p:spPr>
          <a:xfrm>
            <a:off x="7772400" y="1719072"/>
            <a:ext cx="676656" cy="182880"/>
          </a:xfrm>
          <a:prstGeom prst="rect">
            <a:avLst/>
          </a:prstGeom>
          <a:noFill/>
          <a:ln/>
        </p:spPr>
        <p:txBody>
          <a:bodyPr wrap="square" lIns="0" tIns="0" rIns="0" bIns="0" rtlCol="0" anchor="t"/>
          <a:lstStyle/>
          <a:p>
            <a:pPr marL="0" indent="0" algn="ctr">
              <a:buNone/>
            </a:pPr>
            <a:r>
              <a:rPr lang="en-US" sz="900" b="1" dirty="0">
                <a:solidFill>
                  <a:srgbClr val="00704A"/>
                </a:solidFill>
                <a:latin typeface="Calibri" pitchFamily="34" charset="0"/>
                <a:ea typeface="Calibri" pitchFamily="34" charset="-122"/>
                <a:cs typeface="Calibri" pitchFamily="34" charset="-120"/>
              </a:rPr>
              <a:t>F3</a:t>
            </a:r>
            <a:endParaRPr lang="en-US" sz="900" dirty="0"/>
          </a:p>
        </p:txBody>
      </p:sp>
      <p:sp>
        <p:nvSpPr>
          <p:cNvPr id="39" name="Shape 34"/>
          <p:cNvSpPr/>
          <p:nvPr/>
        </p:nvSpPr>
        <p:spPr>
          <a:xfrm>
            <a:off x="6446520" y="2468880"/>
            <a:ext cx="109728" cy="109728"/>
          </a:xfrm>
          <a:prstGeom prst="ellipse">
            <a:avLst/>
          </a:prstGeom>
          <a:solidFill>
            <a:srgbClr val="0E7C86"/>
          </a:solidFill>
          <a:ln/>
        </p:spPr>
      </p:sp>
      <p:sp>
        <p:nvSpPr>
          <p:cNvPr id="40" name="Shape 35"/>
          <p:cNvSpPr/>
          <p:nvPr/>
        </p:nvSpPr>
        <p:spPr>
          <a:xfrm>
            <a:off x="6583680" y="2240280"/>
            <a:ext cx="109728" cy="109728"/>
          </a:xfrm>
          <a:prstGeom prst="ellipse">
            <a:avLst/>
          </a:prstGeom>
          <a:solidFill>
            <a:srgbClr val="0E7C86"/>
          </a:solidFill>
          <a:ln/>
        </p:spPr>
      </p:sp>
      <p:sp>
        <p:nvSpPr>
          <p:cNvPr id="41" name="Shape 36"/>
          <p:cNvSpPr/>
          <p:nvPr/>
        </p:nvSpPr>
        <p:spPr>
          <a:xfrm>
            <a:off x="6812280" y="2697480"/>
            <a:ext cx="109728" cy="109728"/>
          </a:xfrm>
          <a:prstGeom prst="ellipse">
            <a:avLst/>
          </a:prstGeom>
          <a:solidFill>
            <a:srgbClr val="0E7C86"/>
          </a:solidFill>
          <a:ln/>
        </p:spPr>
      </p:sp>
      <p:sp>
        <p:nvSpPr>
          <p:cNvPr id="42" name="Shape 37"/>
          <p:cNvSpPr/>
          <p:nvPr/>
        </p:nvSpPr>
        <p:spPr>
          <a:xfrm>
            <a:off x="7178040" y="2377440"/>
            <a:ext cx="109728" cy="109728"/>
          </a:xfrm>
          <a:prstGeom prst="ellipse">
            <a:avLst/>
          </a:prstGeom>
          <a:solidFill>
            <a:srgbClr val="00A86A"/>
          </a:solidFill>
          <a:ln/>
        </p:spPr>
      </p:sp>
      <p:sp>
        <p:nvSpPr>
          <p:cNvPr id="43" name="Shape 38"/>
          <p:cNvSpPr/>
          <p:nvPr/>
        </p:nvSpPr>
        <p:spPr>
          <a:xfrm>
            <a:off x="7406640" y="2606040"/>
            <a:ext cx="109728" cy="109728"/>
          </a:xfrm>
          <a:prstGeom prst="ellipse">
            <a:avLst/>
          </a:prstGeom>
          <a:solidFill>
            <a:srgbClr val="00A86A"/>
          </a:solidFill>
          <a:ln/>
        </p:spPr>
      </p:sp>
      <p:sp>
        <p:nvSpPr>
          <p:cNvPr id="44" name="Shape 39"/>
          <p:cNvSpPr/>
          <p:nvPr/>
        </p:nvSpPr>
        <p:spPr>
          <a:xfrm>
            <a:off x="7589520" y="2286000"/>
            <a:ext cx="109728" cy="109728"/>
          </a:xfrm>
          <a:prstGeom prst="ellipse">
            <a:avLst/>
          </a:prstGeom>
          <a:solidFill>
            <a:srgbClr val="00A86A"/>
          </a:solidFill>
          <a:ln/>
        </p:spPr>
      </p:sp>
      <p:sp>
        <p:nvSpPr>
          <p:cNvPr id="45" name="Shape 40"/>
          <p:cNvSpPr/>
          <p:nvPr/>
        </p:nvSpPr>
        <p:spPr>
          <a:xfrm>
            <a:off x="8001000" y="2514600"/>
            <a:ext cx="109728" cy="109728"/>
          </a:xfrm>
          <a:prstGeom prst="ellipse">
            <a:avLst/>
          </a:prstGeom>
          <a:solidFill>
            <a:srgbClr val="00704A"/>
          </a:solidFill>
          <a:ln/>
        </p:spPr>
      </p:sp>
      <p:sp>
        <p:nvSpPr>
          <p:cNvPr id="46" name="Shape 41"/>
          <p:cNvSpPr/>
          <p:nvPr/>
        </p:nvSpPr>
        <p:spPr>
          <a:xfrm>
            <a:off x="8229600" y="2331720"/>
            <a:ext cx="109728" cy="109728"/>
          </a:xfrm>
          <a:prstGeom prst="ellipse">
            <a:avLst/>
          </a:prstGeom>
          <a:solidFill>
            <a:srgbClr val="00704A"/>
          </a:solidFill>
          <a:ln/>
        </p:spPr>
      </p:sp>
      <p:sp>
        <p:nvSpPr>
          <p:cNvPr id="47" name="Text 42"/>
          <p:cNvSpPr txBox="1"/>
          <p:nvPr/>
        </p:nvSpPr>
        <p:spPr>
          <a:xfrm>
            <a:off x="6263640" y="3182112"/>
            <a:ext cx="2286000" cy="384048"/>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Chaque événement appartient à une seule fenêtre ; chaque fenêtre produit un agrégat.</a:t>
            </a:r>
            <a:endParaRPr lang="en-US" sz="850" dirty="0"/>
          </a:p>
        </p:txBody>
      </p:sp>
      <p:sp>
        <p:nvSpPr>
          <p:cNvPr id="48" name="Shape 43"/>
          <p:cNvSpPr/>
          <p:nvPr/>
        </p:nvSpPr>
        <p:spPr>
          <a:xfrm>
            <a:off x="457200" y="3767328"/>
            <a:ext cx="8229600" cy="731520"/>
          </a:xfrm>
          <a:prstGeom prst="roundRect">
            <a:avLst>
              <a:gd name="adj" fmla="val 10000"/>
            </a:avLst>
          </a:prstGeom>
          <a:solidFill>
            <a:srgbClr val="E8F5EF"/>
          </a:solidFill>
          <a:ln w="15875">
            <a:solidFill>
              <a:srgbClr val="0E7C86"/>
            </a:solidFill>
            <a:prstDash val="solid"/>
          </a:ln>
        </p:spPr>
      </p:sp>
      <p:pic>
        <p:nvPicPr>
          <p:cNvPr id="49" name="Image 2" descr="preencoded.png"/>
          <p:cNvPicPr>
            <a:picLocks noChangeAspect="1"/>
          </p:cNvPicPr>
          <p:nvPr/>
        </p:nvPicPr>
        <p:blipFill>
          <a:blip r:embed="rId5"/>
          <a:stretch>
            <a:fillRect/>
          </a:stretch>
        </p:blipFill>
        <p:spPr>
          <a:xfrm>
            <a:off x="621792" y="3959352"/>
            <a:ext cx="347472" cy="347472"/>
          </a:xfrm>
          <a:prstGeom prst="rect">
            <a:avLst/>
          </a:prstGeom>
        </p:spPr>
      </p:pic>
      <p:sp>
        <p:nvSpPr>
          <p:cNvPr id="50" name="Text 44"/>
          <p:cNvSpPr txBox="1"/>
          <p:nvPr/>
        </p:nvSpPr>
        <p:spPr>
          <a:xfrm>
            <a:off x="1143000" y="3767328"/>
            <a:ext cx="7406640" cy="731520"/>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La seule question à se poser : </a:t>
            </a:r>
            <a:r>
              <a:rPr lang="en-US" sz="1050" dirty="0">
                <a:solidFill>
                  <a:srgbClr val="231F20"/>
                </a:solidFill>
                <a:latin typeface="Calibri" pitchFamily="34" charset="0"/>
                <a:ea typeface="Calibri" pitchFamily="34" charset="-122"/>
                <a:cs typeface="Calibri" pitchFamily="34" charset="-120"/>
              </a:rPr>
              <a:t>une décision change-t-elle si le chiffre arrive une heure plus tard ? Sinon, choisissez les lots : moins cher, plus simple, plus facile à auditer. Les indicateurs Ookla trimestriels et les composites mensuels de lumières nocturnes relèvent des lots.</a:t>
            </a:r>
            <a:endParaRPr lang="en-US" sz="10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Dimensionner juste : la renaissance du nœud unique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457200" y="1280160"/>
            <a:ext cx="4343400" cy="585216"/>
          </a:xfrm>
          <a:prstGeom prst="roundRect">
            <a:avLst>
              <a:gd name="adj" fmla="val 12500"/>
            </a:avLst>
          </a:prstGeom>
          <a:solidFill>
            <a:srgbClr val="FFFFFF"/>
          </a:solidFill>
          <a:ln w="15875">
            <a:solidFill>
              <a:srgbClr val="A9B5B0"/>
            </a:solidFill>
            <a:prstDash val="solid"/>
          </a:ln>
        </p:spPr>
      </p:sp>
      <p:sp>
        <p:nvSpPr>
          <p:cNvPr id="18" name="Shape 15"/>
          <p:cNvSpPr/>
          <p:nvPr/>
        </p:nvSpPr>
        <p:spPr>
          <a:xfrm>
            <a:off x="548640" y="1362456"/>
            <a:ext cx="420624" cy="420624"/>
          </a:xfrm>
          <a:prstGeom prst="ellipse">
            <a:avLst/>
          </a:prstGeom>
          <a:solidFill>
            <a:srgbClr val="5E6964">
              <a:alpha val="22000"/>
            </a:srgbClr>
          </a:solidFill>
          <a:ln/>
        </p:spPr>
      </p:sp>
      <p:pic>
        <p:nvPicPr>
          <p:cNvPr id="19" name="Image 0" descr="preencoded.png"/>
          <p:cNvPicPr>
            <a:picLocks noChangeAspect="1"/>
          </p:cNvPicPr>
          <p:nvPr/>
        </p:nvPicPr>
        <p:blipFill>
          <a:blip r:embed="rId3"/>
          <a:stretch>
            <a:fillRect/>
          </a:stretch>
        </p:blipFill>
        <p:spPr>
          <a:xfrm>
            <a:off x="653796" y="1467612"/>
            <a:ext cx="210312" cy="210312"/>
          </a:xfrm>
          <a:prstGeom prst="rect">
            <a:avLst/>
          </a:prstGeom>
        </p:spPr>
      </p:pic>
      <p:sp>
        <p:nvSpPr>
          <p:cNvPr id="20" name="Text 16"/>
          <p:cNvSpPr txBox="1"/>
          <p:nvPr/>
        </p:nvSpPr>
        <p:spPr>
          <a:xfrm>
            <a:off x="1078992" y="1344168"/>
            <a:ext cx="361188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Portable, en mémoire</a:t>
            </a:r>
            <a:endParaRPr lang="en-US" sz="1150" dirty="0"/>
          </a:p>
        </p:txBody>
      </p:sp>
      <p:sp>
        <p:nvSpPr>
          <p:cNvPr id="21" name="Text 17"/>
          <p:cNvSpPr txBox="1"/>
          <p:nvPr/>
        </p:nvSpPr>
        <p:spPr>
          <a:xfrm>
            <a:off x="1078992" y="1600200"/>
            <a:ext cx="3611880" cy="237744"/>
          </a:xfrm>
          <a:prstGeom prst="rect">
            <a:avLst/>
          </a:prstGeom>
          <a:noFill/>
          <a:ln/>
        </p:spPr>
        <p:txBody>
          <a:bodyPr wrap="square" lIns="0" tIns="0" rIns="0" bIns="0" rtlCol="0" anchor="t"/>
          <a:lstStyle/>
          <a:p>
            <a:pPr marL="0" indent="0">
              <a:buNone/>
            </a:pPr>
            <a:r>
              <a:rPr lang="en-US" sz="900" b="1" dirty="0">
                <a:solidFill>
                  <a:srgbClr val="5E6964"/>
                </a:solidFill>
                <a:latin typeface="Calibri" pitchFamily="34" charset="0"/>
                <a:ea typeface="Calibri" pitchFamily="34" charset="-122"/>
                <a:cs typeface="Calibri" pitchFamily="34" charset="-120"/>
              </a:rPr>
              <a:t>Jusqu’à quelques Go</a:t>
            </a:r>
            <a:r>
              <a:rPr lang="en-US" sz="900" dirty="0">
                <a:solidFill>
                  <a:srgbClr val="5E6964"/>
                </a:solidFill>
                <a:latin typeface="Calibri" pitchFamily="34" charset="0"/>
                <a:ea typeface="Calibri" pitchFamily="34" charset="-122"/>
                <a:cs typeface="Calibri" pitchFamily="34" charset="-120"/>
              </a:rPr>
              <a:t>  ·  pandas · R data.frame</a:t>
            </a:r>
            <a:endParaRPr lang="en-US" sz="900" dirty="0"/>
          </a:p>
        </p:txBody>
      </p:sp>
      <p:sp>
        <p:nvSpPr>
          <p:cNvPr id="22" name="Shape 18"/>
          <p:cNvSpPr/>
          <p:nvPr/>
        </p:nvSpPr>
        <p:spPr>
          <a:xfrm>
            <a:off x="685800" y="1938528"/>
            <a:ext cx="4114800" cy="585216"/>
          </a:xfrm>
          <a:prstGeom prst="roundRect">
            <a:avLst>
              <a:gd name="adj" fmla="val 12500"/>
            </a:avLst>
          </a:prstGeom>
          <a:solidFill>
            <a:srgbClr val="FFFFFF"/>
          </a:solidFill>
          <a:ln w="15875">
            <a:solidFill>
              <a:srgbClr val="00A86A"/>
            </a:solidFill>
            <a:prstDash val="solid"/>
          </a:ln>
        </p:spPr>
      </p:sp>
      <p:sp>
        <p:nvSpPr>
          <p:cNvPr id="23" name="Shape 19"/>
          <p:cNvSpPr/>
          <p:nvPr/>
        </p:nvSpPr>
        <p:spPr>
          <a:xfrm>
            <a:off x="777240" y="2020824"/>
            <a:ext cx="420624" cy="420624"/>
          </a:xfrm>
          <a:prstGeom prst="ellipse">
            <a:avLst/>
          </a:prstGeom>
          <a:solidFill>
            <a:srgbClr val="00A86A">
              <a:alpha val="22000"/>
            </a:srgbClr>
          </a:solidFill>
          <a:ln/>
        </p:spPr>
      </p:sp>
      <p:pic>
        <p:nvPicPr>
          <p:cNvPr id="24" name="Image 1" descr="preencoded.png"/>
          <p:cNvPicPr>
            <a:picLocks noChangeAspect="1"/>
          </p:cNvPicPr>
          <p:nvPr/>
        </p:nvPicPr>
        <p:blipFill>
          <a:blip r:embed="rId4"/>
          <a:stretch>
            <a:fillRect/>
          </a:stretch>
        </p:blipFill>
        <p:spPr>
          <a:xfrm>
            <a:off x="882396" y="2125980"/>
            <a:ext cx="210312" cy="210312"/>
          </a:xfrm>
          <a:prstGeom prst="rect">
            <a:avLst/>
          </a:prstGeom>
        </p:spPr>
      </p:pic>
      <p:sp>
        <p:nvSpPr>
          <p:cNvPr id="25" name="Text 20"/>
          <p:cNvSpPr txBox="1"/>
          <p:nvPr/>
        </p:nvSpPr>
        <p:spPr>
          <a:xfrm>
            <a:off x="1307592" y="2002536"/>
            <a:ext cx="338328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Nœud unique, en colonnes</a:t>
            </a:r>
            <a:endParaRPr lang="en-US" sz="1150" dirty="0"/>
          </a:p>
        </p:txBody>
      </p:sp>
      <p:sp>
        <p:nvSpPr>
          <p:cNvPr id="26" name="Text 21"/>
          <p:cNvSpPr txBox="1"/>
          <p:nvPr/>
        </p:nvSpPr>
        <p:spPr>
          <a:xfrm>
            <a:off x="1307592" y="2258568"/>
            <a:ext cx="3383280" cy="237744"/>
          </a:xfrm>
          <a:prstGeom prst="rect">
            <a:avLst/>
          </a:prstGeom>
          <a:noFill/>
          <a:ln/>
        </p:spPr>
        <p:txBody>
          <a:bodyPr wrap="square" lIns="0" tIns="0" rIns="0" bIns="0" rtlCol="0" anchor="t"/>
          <a:lstStyle/>
          <a:p>
            <a:pPr marL="0" indent="0">
              <a:buNone/>
            </a:pPr>
            <a:r>
              <a:rPr lang="en-US" sz="900" b="1" dirty="0">
                <a:solidFill>
                  <a:srgbClr val="00A86A"/>
                </a:solidFill>
                <a:latin typeface="Calibri" pitchFamily="34" charset="0"/>
                <a:ea typeface="Calibri" pitchFamily="34" charset="-122"/>
                <a:cs typeface="Calibri" pitchFamily="34" charset="-120"/>
              </a:rPr>
              <a:t>Jusqu’à des centaines de Go</a:t>
            </a:r>
            <a:r>
              <a:rPr lang="en-US" sz="900" dirty="0">
                <a:solidFill>
                  <a:srgbClr val="5E6964"/>
                </a:solidFill>
                <a:latin typeface="Calibri" pitchFamily="34" charset="0"/>
                <a:ea typeface="Calibri" pitchFamily="34" charset="-122"/>
                <a:cs typeface="Calibri" pitchFamily="34" charset="-120"/>
              </a:rPr>
              <a:t>  ·  DuckDB · Polars · Apache Arrow</a:t>
            </a:r>
            <a:endParaRPr lang="en-US" sz="900" dirty="0"/>
          </a:p>
        </p:txBody>
      </p:sp>
      <p:sp>
        <p:nvSpPr>
          <p:cNvPr id="27" name="Shape 22"/>
          <p:cNvSpPr/>
          <p:nvPr/>
        </p:nvSpPr>
        <p:spPr>
          <a:xfrm>
            <a:off x="914400" y="2596896"/>
            <a:ext cx="3886200" cy="585216"/>
          </a:xfrm>
          <a:prstGeom prst="roundRect">
            <a:avLst>
              <a:gd name="adj" fmla="val 12500"/>
            </a:avLst>
          </a:prstGeom>
          <a:solidFill>
            <a:srgbClr val="FFFFFF"/>
          </a:solidFill>
          <a:ln w="15875">
            <a:solidFill>
              <a:srgbClr val="0E7C86"/>
            </a:solidFill>
            <a:prstDash val="solid"/>
          </a:ln>
        </p:spPr>
      </p:sp>
      <p:sp>
        <p:nvSpPr>
          <p:cNvPr id="28" name="Shape 23"/>
          <p:cNvSpPr/>
          <p:nvPr/>
        </p:nvSpPr>
        <p:spPr>
          <a:xfrm>
            <a:off x="1005840" y="2679192"/>
            <a:ext cx="420624" cy="420624"/>
          </a:xfrm>
          <a:prstGeom prst="ellipse">
            <a:avLst/>
          </a:prstGeom>
          <a:solidFill>
            <a:srgbClr val="0E7C86">
              <a:alpha val="22000"/>
            </a:srgbClr>
          </a:solidFill>
          <a:ln/>
        </p:spPr>
      </p:sp>
      <p:pic>
        <p:nvPicPr>
          <p:cNvPr id="29" name="Image 2" descr="preencoded.png"/>
          <p:cNvPicPr>
            <a:picLocks noChangeAspect="1"/>
          </p:cNvPicPr>
          <p:nvPr/>
        </p:nvPicPr>
        <p:blipFill>
          <a:blip r:embed="rId5"/>
          <a:stretch>
            <a:fillRect/>
          </a:stretch>
        </p:blipFill>
        <p:spPr>
          <a:xfrm>
            <a:off x="1110996" y="2784348"/>
            <a:ext cx="210312" cy="210312"/>
          </a:xfrm>
          <a:prstGeom prst="rect">
            <a:avLst/>
          </a:prstGeom>
        </p:spPr>
      </p:pic>
      <p:sp>
        <p:nvSpPr>
          <p:cNvPr id="30" name="Text 24"/>
          <p:cNvSpPr txBox="1"/>
          <p:nvPr/>
        </p:nvSpPr>
        <p:spPr>
          <a:xfrm>
            <a:off x="1536192" y="2660904"/>
            <a:ext cx="315468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Cluster ou entrepôt cloud</a:t>
            </a:r>
            <a:endParaRPr lang="en-US" sz="1150" dirty="0"/>
          </a:p>
        </p:txBody>
      </p:sp>
      <p:sp>
        <p:nvSpPr>
          <p:cNvPr id="31" name="Text 25"/>
          <p:cNvSpPr txBox="1"/>
          <p:nvPr/>
        </p:nvSpPr>
        <p:spPr>
          <a:xfrm>
            <a:off x="1536192" y="2916936"/>
            <a:ext cx="3154680" cy="237744"/>
          </a:xfrm>
          <a:prstGeom prst="rect">
            <a:avLst/>
          </a:prstGeom>
          <a:noFill/>
          <a:ln/>
        </p:spPr>
        <p:txBody>
          <a:bodyPr wrap="square" lIns="0" tIns="0" rIns="0" bIns="0" rtlCol="0" anchor="t"/>
          <a:lstStyle/>
          <a:p>
            <a:pPr marL="0" indent="0">
              <a:buNone/>
            </a:pPr>
            <a:r>
              <a:rPr lang="en-US" sz="900" b="1" dirty="0">
                <a:solidFill>
                  <a:srgbClr val="0E7C86"/>
                </a:solidFill>
                <a:latin typeface="Calibri" pitchFamily="34" charset="0"/>
                <a:ea typeface="Calibri" pitchFamily="34" charset="-122"/>
                <a:cs typeface="Calibri" pitchFamily="34" charset="-120"/>
              </a:rPr>
              <a:t>Téraoctets, nombreux utilisateurs</a:t>
            </a:r>
            <a:r>
              <a:rPr lang="en-US" sz="900" dirty="0">
                <a:solidFill>
                  <a:srgbClr val="5E6964"/>
                </a:solidFill>
                <a:latin typeface="Calibri" pitchFamily="34" charset="0"/>
                <a:ea typeface="Calibri" pitchFamily="34" charset="-122"/>
                <a:cs typeface="Calibri" pitchFamily="34" charset="-120"/>
              </a:rPr>
              <a:t>  ·  Spark · Trino · BigQuery</a:t>
            </a:r>
            <a:endParaRPr lang="en-US" sz="900" dirty="0"/>
          </a:p>
        </p:txBody>
      </p:sp>
      <p:sp>
        <p:nvSpPr>
          <p:cNvPr id="32" name="Shape 26"/>
          <p:cNvSpPr/>
          <p:nvPr/>
        </p:nvSpPr>
        <p:spPr>
          <a:xfrm>
            <a:off x="1143000" y="3255264"/>
            <a:ext cx="3657600" cy="585216"/>
          </a:xfrm>
          <a:prstGeom prst="roundRect">
            <a:avLst>
              <a:gd name="adj" fmla="val 12500"/>
            </a:avLst>
          </a:prstGeom>
          <a:solidFill>
            <a:srgbClr val="FFFFFF"/>
          </a:solidFill>
          <a:ln w="15875">
            <a:solidFill>
              <a:srgbClr val="00704A"/>
            </a:solidFill>
            <a:prstDash val="solid"/>
          </a:ln>
        </p:spPr>
      </p:sp>
      <p:sp>
        <p:nvSpPr>
          <p:cNvPr id="33" name="Shape 27"/>
          <p:cNvSpPr/>
          <p:nvPr/>
        </p:nvSpPr>
        <p:spPr>
          <a:xfrm>
            <a:off x="1234440" y="3337560"/>
            <a:ext cx="420624" cy="420624"/>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1339596" y="3442716"/>
            <a:ext cx="210312" cy="210312"/>
          </a:xfrm>
          <a:prstGeom prst="rect">
            <a:avLst/>
          </a:prstGeom>
        </p:spPr>
      </p:pic>
      <p:sp>
        <p:nvSpPr>
          <p:cNvPr id="35" name="Text 28"/>
          <p:cNvSpPr txBox="1"/>
          <p:nvPr/>
        </p:nvSpPr>
        <p:spPr>
          <a:xfrm>
            <a:off x="1764792" y="3319272"/>
            <a:ext cx="292608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Plateforme de streaming</a:t>
            </a:r>
            <a:endParaRPr lang="en-US" sz="1150" dirty="0"/>
          </a:p>
        </p:txBody>
      </p:sp>
      <p:sp>
        <p:nvSpPr>
          <p:cNvPr id="36" name="Text 29"/>
          <p:cNvSpPr txBox="1"/>
          <p:nvPr/>
        </p:nvSpPr>
        <p:spPr>
          <a:xfrm>
            <a:off x="1764792" y="3575304"/>
            <a:ext cx="2926080" cy="237744"/>
          </a:xfrm>
          <a:prstGeom prst="rect">
            <a:avLst/>
          </a:prstGeom>
          <a:noFill/>
          <a:ln/>
        </p:spPr>
        <p:txBody>
          <a:bodyPr wrap="square" lIns="0" tIns="0" rIns="0" bIns="0" rtlCol="0" anchor="t"/>
          <a:lstStyle/>
          <a:p>
            <a:pPr marL="0" indent="0">
              <a:buNone/>
            </a:pPr>
            <a:r>
              <a:rPr lang="en-US" sz="900" b="1" dirty="0">
                <a:solidFill>
                  <a:srgbClr val="00704A"/>
                </a:solidFill>
                <a:latin typeface="Calibri" pitchFamily="34" charset="0"/>
                <a:ea typeface="Calibri" pitchFamily="34" charset="-122"/>
                <a:cs typeface="Calibri" pitchFamily="34" charset="-120"/>
              </a:rPr>
              <a:t>Flux continus</a:t>
            </a:r>
            <a:r>
              <a:rPr lang="en-US" sz="900" dirty="0">
                <a:solidFill>
                  <a:srgbClr val="5E6964"/>
                </a:solidFill>
                <a:latin typeface="Calibri" pitchFamily="34" charset="0"/>
                <a:ea typeface="Calibri" pitchFamily="34" charset="-122"/>
                <a:cs typeface="Calibri" pitchFamily="34" charset="-120"/>
              </a:rPr>
              <a:t>  ·  Kafka + Flink</a:t>
            </a:r>
            <a:endParaRPr lang="en-US" sz="900" dirty="0"/>
          </a:p>
        </p:txBody>
      </p:sp>
      <p:sp>
        <p:nvSpPr>
          <p:cNvPr id="37" name="Shape 30"/>
          <p:cNvSpPr/>
          <p:nvPr/>
        </p:nvSpPr>
        <p:spPr>
          <a:xfrm>
            <a:off x="5074920" y="1280160"/>
            <a:ext cx="3611880" cy="2103120"/>
          </a:xfrm>
          <a:prstGeom prst="roundRect">
            <a:avLst>
              <a:gd name="adj" fmla="val 3478"/>
            </a:avLst>
          </a:prstGeom>
          <a:solidFill>
            <a:srgbClr val="F4F7F5"/>
          </a:solidFill>
          <a:ln w="9525">
            <a:solidFill>
              <a:srgbClr val="D5DED9"/>
            </a:solidFill>
            <a:prstDash val="solid"/>
          </a:ln>
        </p:spPr>
      </p:sp>
      <p:sp>
        <p:nvSpPr>
          <p:cNvPr id="38" name="Text 31"/>
          <p:cNvSpPr txBox="1"/>
          <p:nvPr/>
        </p:nvSpPr>
        <p:spPr>
          <a:xfrm>
            <a:off x="5212080" y="1371600"/>
            <a:ext cx="333756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DUCKDB SQL</a:t>
            </a:r>
            <a:endParaRPr lang="en-US" sz="900" dirty="0"/>
          </a:p>
        </p:txBody>
      </p:sp>
      <p:sp>
        <p:nvSpPr>
          <p:cNvPr id="39" name="Text 32"/>
          <p:cNvSpPr txBox="1"/>
          <p:nvPr/>
        </p:nvSpPr>
        <p:spPr>
          <a:xfrm>
            <a:off x="5212080" y="1609344"/>
            <a:ext cx="3337560" cy="1700784"/>
          </a:xfrm>
          <a:prstGeom prst="rect">
            <a:avLst/>
          </a:prstGeom>
          <a:noFill/>
          <a:ln/>
        </p:spPr>
        <p:txBody>
          <a:bodyPr wrap="square" lIns="0" tIns="0" rIns="0" bIns="0" rtlCol="0" anchor="t"/>
          <a:lstStyle/>
          <a:p>
            <a:pPr marL="0" indent="0">
              <a:lnSpc>
                <a:spcPct val="105000"/>
              </a:lnSpc>
              <a:buNone/>
            </a:pPr>
            <a:r>
              <a:rPr lang="en-US" sz="900" i="1" dirty="0">
                <a:solidFill>
                  <a:srgbClr val="00704A"/>
                </a:solidFill>
                <a:latin typeface="Courier New" pitchFamily="34" charset="0"/>
                <a:ea typeface="Courier New" pitchFamily="34" charset="-122"/>
                <a:cs typeface="Courier New" pitchFamily="34" charset="-120"/>
              </a:rPr>
              <a:t>-- DuckDB : interroger Ookla sur place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INSTALL httpfs; LOAD httpfs;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SET s3_region = 'us-west-2';</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SELECT count(*) AS tiles,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sum(tests) AS tests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FROM read_parquet('s3://ookla-open-data/</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parquet/performance/type=mobile/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year=2025/quarter=4/*.parquet');</a:t>
            </a:r>
            <a:endParaRPr lang="en-US" sz="900" dirty="0"/>
          </a:p>
        </p:txBody>
      </p:sp>
      <p:sp>
        <p:nvSpPr>
          <p:cNvPr id="40" name="Text 33"/>
          <p:cNvSpPr txBox="1"/>
          <p:nvPr/>
        </p:nvSpPr>
        <p:spPr>
          <a:xfrm>
            <a:off x="5074920" y="3456432"/>
            <a:ext cx="3611880" cy="32004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Seules les colonnes utiles à la requête sont lues à travers le réseau.</a:t>
            </a:r>
            <a:endParaRPr lang="en-US" sz="900" dirty="0"/>
          </a:p>
        </p:txBody>
      </p:sp>
      <p:sp>
        <p:nvSpPr>
          <p:cNvPr id="41" name="Shape 34"/>
          <p:cNvSpPr/>
          <p:nvPr/>
        </p:nvSpPr>
        <p:spPr>
          <a:xfrm>
            <a:off x="457200" y="3931920"/>
            <a:ext cx="8229600" cy="566928"/>
          </a:xfrm>
          <a:prstGeom prst="roundRect">
            <a:avLst>
              <a:gd name="adj" fmla="val 12903"/>
            </a:avLst>
          </a:prstGeom>
          <a:solidFill>
            <a:srgbClr val="D49A00">
              <a:alpha val="13000"/>
            </a:srgbClr>
          </a:solidFill>
          <a:ln w="12700">
            <a:solidFill>
              <a:srgbClr val="D49A00"/>
            </a:solidFill>
            <a:prstDash val="solid"/>
          </a:ln>
        </p:spPr>
      </p:sp>
      <p:pic>
        <p:nvPicPr>
          <p:cNvPr id="42" name="Image 4" descr="preencoded.png"/>
          <p:cNvPicPr>
            <a:picLocks noChangeAspect="1"/>
          </p:cNvPicPr>
          <p:nvPr/>
        </p:nvPicPr>
        <p:blipFill>
          <a:blip r:embed="rId7"/>
          <a:stretch>
            <a:fillRect/>
          </a:stretch>
        </p:blipFill>
        <p:spPr>
          <a:xfrm>
            <a:off x="594360" y="4105656"/>
            <a:ext cx="219456" cy="219456"/>
          </a:xfrm>
          <a:prstGeom prst="rect">
            <a:avLst/>
          </a:prstGeom>
        </p:spPr>
      </p:pic>
      <p:sp>
        <p:nvSpPr>
          <p:cNvPr id="43" name="Text 35"/>
          <p:cNvSpPr txBox="1"/>
          <p:nvPr/>
        </p:nvSpPr>
        <p:spPr>
          <a:xfrm>
            <a:off x="932688" y="3931920"/>
            <a:ext cx="7616952" cy="5669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L’erreur la plus coûteuse : </a:t>
            </a:r>
            <a:r>
              <a:rPr lang="en-US" sz="1050" dirty="0">
                <a:solidFill>
                  <a:srgbClr val="231F20"/>
                </a:solidFill>
                <a:latin typeface="Calibri" pitchFamily="34" charset="0"/>
                <a:ea typeface="Calibri" pitchFamily="34" charset="-122"/>
                <a:cs typeface="Calibri" pitchFamily="34" charset="-120"/>
              </a:rPr>
              <a:t>exploiter un cluster pour des données qui tiennent sur une seule machine. Mesurez d’abord, puis passez à l’échelle.</a:t>
            </a:r>
            <a:endParaRPr lang="en-US" sz="1050" dirty="0"/>
          </a:p>
        </p:txBody>
      </p:sp>
      <p:sp>
        <p:nvSpPr>
          <p:cNvPr id="44" name="Text 36"/>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Seuils empiriques. Sources : documentation DuckDB (httpfs, read_parquet) ; région du bucket Ookla selon l’AWS Open Data Registry.</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07324" y="315468"/>
            <a:ext cx="118872" cy="118872"/>
          </a:xfrm>
          <a:prstGeom prst="ellipse">
            <a:avLst/>
          </a:prstGeom>
          <a:solidFill>
            <a:srgbClr val="F5C242"/>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04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Indexation et recherche</a:t>
            </a:r>
            <a:endParaRPr lang="en-US" sz="32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Pourquoi un moteur de recherche répond-il en millisecondes quand un parcours complet prend des minutes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Du parcours complet à l’indexation</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280160"/>
            <a:ext cx="393192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594360" y="1389888"/>
            <a:ext cx="420624" cy="420624"/>
          </a:xfrm>
          <a:prstGeom prst="ellipse">
            <a:avLst/>
          </a:prstGeom>
          <a:solidFill>
            <a:srgbClr val="5E6964">
              <a:alpha val="22000"/>
            </a:srgbClr>
          </a:solidFill>
          <a:ln/>
        </p:spPr>
      </p:sp>
      <p:pic>
        <p:nvPicPr>
          <p:cNvPr id="19" name="Image 0" descr="preencoded.png"/>
          <p:cNvPicPr>
            <a:picLocks noChangeAspect="1"/>
          </p:cNvPicPr>
          <p:nvPr/>
        </p:nvPicPr>
        <p:blipFill>
          <a:blip r:embed="rId3"/>
          <a:stretch>
            <a:fillRect/>
          </a:stretch>
        </p:blipFill>
        <p:spPr>
          <a:xfrm>
            <a:off x="699516" y="1495044"/>
            <a:ext cx="210312" cy="210312"/>
          </a:xfrm>
          <a:prstGeom prst="rect">
            <a:avLst/>
          </a:prstGeom>
        </p:spPr>
      </p:pic>
      <p:sp>
        <p:nvSpPr>
          <p:cNvPr id="20" name="Text 16"/>
          <p:cNvSpPr txBox="1"/>
          <p:nvPr/>
        </p:nvSpPr>
        <p:spPr>
          <a:xfrm>
            <a:off x="1143000" y="1389888"/>
            <a:ext cx="27432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Parcours complet</a:t>
            </a:r>
            <a:endParaRPr lang="en-US" sz="1400" dirty="0"/>
          </a:p>
        </p:txBody>
      </p:sp>
      <p:sp>
        <p:nvSpPr>
          <p:cNvPr id="21" name="Text 17"/>
          <p:cNvSpPr txBox="1"/>
          <p:nvPr/>
        </p:nvSpPr>
        <p:spPr>
          <a:xfrm>
            <a:off x="1143000" y="1645920"/>
            <a:ext cx="310896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Lire chaque enregistrement, tester chacun</a:t>
            </a:r>
            <a:endParaRPr lang="en-US" sz="950" dirty="0"/>
          </a:p>
        </p:txBody>
      </p:sp>
      <p:sp>
        <p:nvSpPr>
          <p:cNvPr id="22" name="Shape 18"/>
          <p:cNvSpPr/>
          <p:nvPr/>
        </p:nvSpPr>
        <p:spPr>
          <a:xfrm>
            <a:off x="640080" y="1993392"/>
            <a:ext cx="2103120" cy="155448"/>
          </a:xfrm>
          <a:prstGeom prst="roundRect">
            <a:avLst>
              <a:gd name="adj" fmla="val 11765"/>
            </a:avLst>
          </a:prstGeom>
          <a:solidFill>
            <a:srgbClr val="FFFFFF"/>
          </a:solidFill>
          <a:ln w="9525">
            <a:solidFill>
              <a:srgbClr val="D5DED9"/>
            </a:solidFill>
            <a:prstDash val="solid"/>
          </a:ln>
        </p:spPr>
      </p:sp>
      <p:pic>
        <p:nvPicPr>
          <p:cNvPr id="23" name="Image 1" descr="preencoded.png"/>
          <p:cNvPicPr>
            <a:picLocks noChangeAspect="1"/>
          </p:cNvPicPr>
          <p:nvPr/>
        </p:nvPicPr>
        <p:blipFill>
          <a:blip r:embed="rId4"/>
          <a:stretch>
            <a:fillRect/>
          </a:stretch>
        </p:blipFill>
        <p:spPr>
          <a:xfrm>
            <a:off x="2816352" y="1993392"/>
            <a:ext cx="137160" cy="137160"/>
          </a:xfrm>
          <a:prstGeom prst="rect">
            <a:avLst/>
          </a:prstGeom>
        </p:spPr>
      </p:pic>
      <p:sp>
        <p:nvSpPr>
          <p:cNvPr id="24" name="Shape 19"/>
          <p:cNvSpPr/>
          <p:nvPr/>
        </p:nvSpPr>
        <p:spPr>
          <a:xfrm>
            <a:off x="640080" y="2194560"/>
            <a:ext cx="2103120" cy="155448"/>
          </a:xfrm>
          <a:prstGeom prst="roundRect">
            <a:avLst>
              <a:gd name="adj" fmla="val 11765"/>
            </a:avLst>
          </a:prstGeom>
          <a:solidFill>
            <a:srgbClr val="D49A00">
              <a:alpha val="40000"/>
            </a:srgbClr>
          </a:solidFill>
          <a:ln w="9525">
            <a:solidFill>
              <a:srgbClr val="D5DED9"/>
            </a:solidFill>
            <a:prstDash val="solid"/>
          </a:ln>
        </p:spPr>
      </p:sp>
      <p:pic>
        <p:nvPicPr>
          <p:cNvPr id="25" name="Image 2" descr="preencoded.png"/>
          <p:cNvPicPr>
            <a:picLocks noChangeAspect="1"/>
          </p:cNvPicPr>
          <p:nvPr/>
        </p:nvPicPr>
        <p:blipFill>
          <a:blip r:embed="rId4"/>
          <a:stretch>
            <a:fillRect/>
          </a:stretch>
        </p:blipFill>
        <p:spPr>
          <a:xfrm>
            <a:off x="2816352" y="2194560"/>
            <a:ext cx="137160" cy="137160"/>
          </a:xfrm>
          <a:prstGeom prst="rect">
            <a:avLst/>
          </a:prstGeom>
        </p:spPr>
      </p:pic>
      <p:sp>
        <p:nvSpPr>
          <p:cNvPr id="26" name="Shape 20"/>
          <p:cNvSpPr/>
          <p:nvPr/>
        </p:nvSpPr>
        <p:spPr>
          <a:xfrm>
            <a:off x="640080" y="2395728"/>
            <a:ext cx="2103120" cy="155448"/>
          </a:xfrm>
          <a:prstGeom prst="roundRect">
            <a:avLst>
              <a:gd name="adj" fmla="val 11765"/>
            </a:avLst>
          </a:prstGeom>
          <a:solidFill>
            <a:srgbClr val="FFFFFF"/>
          </a:solidFill>
          <a:ln w="9525">
            <a:solidFill>
              <a:srgbClr val="D5DED9"/>
            </a:solidFill>
            <a:prstDash val="solid"/>
          </a:ln>
        </p:spPr>
      </p:sp>
      <p:pic>
        <p:nvPicPr>
          <p:cNvPr id="27" name="Image 3" descr="preencoded.png"/>
          <p:cNvPicPr>
            <a:picLocks noChangeAspect="1"/>
          </p:cNvPicPr>
          <p:nvPr/>
        </p:nvPicPr>
        <p:blipFill>
          <a:blip r:embed="rId4"/>
          <a:stretch>
            <a:fillRect/>
          </a:stretch>
        </p:blipFill>
        <p:spPr>
          <a:xfrm>
            <a:off x="2816352" y="2395728"/>
            <a:ext cx="137160" cy="137160"/>
          </a:xfrm>
          <a:prstGeom prst="rect">
            <a:avLst/>
          </a:prstGeom>
        </p:spPr>
      </p:pic>
      <p:sp>
        <p:nvSpPr>
          <p:cNvPr id="28" name="Shape 21"/>
          <p:cNvSpPr/>
          <p:nvPr/>
        </p:nvSpPr>
        <p:spPr>
          <a:xfrm>
            <a:off x="640080" y="2596896"/>
            <a:ext cx="2103120" cy="155448"/>
          </a:xfrm>
          <a:prstGeom prst="roundRect">
            <a:avLst>
              <a:gd name="adj" fmla="val 11765"/>
            </a:avLst>
          </a:prstGeom>
          <a:solidFill>
            <a:srgbClr val="FFFFFF"/>
          </a:solidFill>
          <a:ln w="9525">
            <a:solidFill>
              <a:srgbClr val="D5DED9"/>
            </a:solidFill>
            <a:prstDash val="solid"/>
          </a:ln>
        </p:spPr>
      </p:sp>
      <p:pic>
        <p:nvPicPr>
          <p:cNvPr id="29" name="Image 4" descr="preencoded.png"/>
          <p:cNvPicPr>
            <a:picLocks noChangeAspect="1"/>
          </p:cNvPicPr>
          <p:nvPr/>
        </p:nvPicPr>
        <p:blipFill>
          <a:blip r:embed="rId4"/>
          <a:stretch>
            <a:fillRect/>
          </a:stretch>
        </p:blipFill>
        <p:spPr>
          <a:xfrm>
            <a:off x="2816352" y="2596896"/>
            <a:ext cx="137160" cy="137160"/>
          </a:xfrm>
          <a:prstGeom prst="rect">
            <a:avLst/>
          </a:prstGeom>
        </p:spPr>
      </p:pic>
      <p:sp>
        <p:nvSpPr>
          <p:cNvPr id="30" name="Shape 22"/>
          <p:cNvSpPr/>
          <p:nvPr/>
        </p:nvSpPr>
        <p:spPr>
          <a:xfrm>
            <a:off x="640080" y="2798064"/>
            <a:ext cx="2103120" cy="155448"/>
          </a:xfrm>
          <a:prstGeom prst="roundRect">
            <a:avLst>
              <a:gd name="adj" fmla="val 11765"/>
            </a:avLst>
          </a:prstGeom>
          <a:solidFill>
            <a:srgbClr val="D49A00">
              <a:alpha val="40000"/>
            </a:srgbClr>
          </a:solidFill>
          <a:ln w="9525">
            <a:solidFill>
              <a:srgbClr val="D5DED9"/>
            </a:solidFill>
            <a:prstDash val="solid"/>
          </a:ln>
        </p:spPr>
      </p:sp>
      <p:pic>
        <p:nvPicPr>
          <p:cNvPr id="31" name="Image 5" descr="preencoded.png"/>
          <p:cNvPicPr>
            <a:picLocks noChangeAspect="1"/>
          </p:cNvPicPr>
          <p:nvPr/>
        </p:nvPicPr>
        <p:blipFill>
          <a:blip r:embed="rId4"/>
          <a:stretch>
            <a:fillRect/>
          </a:stretch>
        </p:blipFill>
        <p:spPr>
          <a:xfrm>
            <a:off x="2816352" y="2798064"/>
            <a:ext cx="137160" cy="137160"/>
          </a:xfrm>
          <a:prstGeom prst="rect">
            <a:avLst/>
          </a:prstGeom>
        </p:spPr>
      </p:pic>
      <p:sp>
        <p:nvSpPr>
          <p:cNvPr id="32" name="Shape 23"/>
          <p:cNvSpPr/>
          <p:nvPr/>
        </p:nvSpPr>
        <p:spPr>
          <a:xfrm>
            <a:off x="640080" y="2999232"/>
            <a:ext cx="2103120" cy="155448"/>
          </a:xfrm>
          <a:prstGeom prst="roundRect">
            <a:avLst>
              <a:gd name="adj" fmla="val 11765"/>
            </a:avLst>
          </a:prstGeom>
          <a:solidFill>
            <a:srgbClr val="FFFFFF"/>
          </a:solidFill>
          <a:ln w="9525">
            <a:solidFill>
              <a:srgbClr val="D5DED9"/>
            </a:solidFill>
            <a:prstDash val="solid"/>
          </a:ln>
        </p:spPr>
      </p:sp>
      <p:pic>
        <p:nvPicPr>
          <p:cNvPr id="33" name="Image 6" descr="preencoded.png"/>
          <p:cNvPicPr>
            <a:picLocks noChangeAspect="1"/>
          </p:cNvPicPr>
          <p:nvPr/>
        </p:nvPicPr>
        <p:blipFill>
          <a:blip r:embed="rId4"/>
          <a:stretch>
            <a:fillRect/>
          </a:stretch>
        </p:blipFill>
        <p:spPr>
          <a:xfrm>
            <a:off x="2816352" y="2999232"/>
            <a:ext cx="137160" cy="137160"/>
          </a:xfrm>
          <a:prstGeom prst="rect">
            <a:avLst/>
          </a:prstGeom>
        </p:spPr>
      </p:pic>
      <p:sp>
        <p:nvSpPr>
          <p:cNvPr id="34" name="Shape 24"/>
          <p:cNvSpPr/>
          <p:nvPr/>
        </p:nvSpPr>
        <p:spPr>
          <a:xfrm>
            <a:off x="640080" y="3200400"/>
            <a:ext cx="2103120" cy="155448"/>
          </a:xfrm>
          <a:prstGeom prst="roundRect">
            <a:avLst>
              <a:gd name="adj" fmla="val 11765"/>
            </a:avLst>
          </a:prstGeom>
          <a:solidFill>
            <a:srgbClr val="FFFFFF"/>
          </a:solidFill>
          <a:ln w="9525">
            <a:solidFill>
              <a:srgbClr val="D5DED9"/>
            </a:solidFill>
            <a:prstDash val="solid"/>
          </a:ln>
        </p:spPr>
      </p:sp>
      <p:pic>
        <p:nvPicPr>
          <p:cNvPr id="35" name="Image 7" descr="preencoded.png"/>
          <p:cNvPicPr>
            <a:picLocks noChangeAspect="1"/>
          </p:cNvPicPr>
          <p:nvPr/>
        </p:nvPicPr>
        <p:blipFill>
          <a:blip r:embed="rId4"/>
          <a:stretch>
            <a:fillRect/>
          </a:stretch>
        </p:blipFill>
        <p:spPr>
          <a:xfrm>
            <a:off x="2816352" y="3200400"/>
            <a:ext cx="137160" cy="137160"/>
          </a:xfrm>
          <a:prstGeom prst="rect">
            <a:avLst/>
          </a:prstGeom>
        </p:spPr>
      </p:pic>
      <p:sp>
        <p:nvSpPr>
          <p:cNvPr id="36" name="Text 25"/>
          <p:cNvSpPr txBox="1"/>
          <p:nvPr/>
        </p:nvSpPr>
        <p:spPr>
          <a:xfrm>
            <a:off x="3063240" y="2057400"/>
            <a:ext cx="1234440" cy="1280160"/>
          </a:xfrm>
          <a:prstGeom prst="rect">
            <a:avLst/>
          </a:prstGeom>
          <a:noFill/>
          <a:ln/>
        </p:spPr>
        <p:txBody>
          <a:bodyPr wrap="square" lIns="0" tIns="0" rIns="0" bIns="0" rtlCol="0" anchor="ctr"/>
          <a:lstStyle/>
          <a:p>
            <a:pPr marL="0" indent="0">
              <a:buNone/>
            </a:pPr>
            <a:r>
              <a:rPr lang="en-US" sz="950" i="1" dirty="0">
                <a:solidFill>
                  <a:srgbClr val="5E6964"/>
                </a:solidFill>
                <a:latin typeface="Calibri" pitchFamily="34" charset="0"/>
                <a:ea typeface="Calibri" pitchFamily="34" charset="-122"/>
                <a:cs typeface="Calibri" pitchFamily="34" charset="-120"/>
              </a:rPr>
              <a:t>Le travail croît avec le volume : 10× plus de tuiles, ~10× plus de temps.</a:t>
            </a:r>
            <a:endParaRPr lang="en-US" sz="950" dirty="0"/>
          </a:p>
        </p:txBody>
      </p:sp>
      <p:sp>
        <p:nvSpPr>
          <p:cNvPr id="37" name="Shape 26"/>
          <p:cNvSpPr/>
          <p:nvPr/>
        </p:nvSpPr>
        <p:spPr>
          <a:xfrm>
            <a:off x="4754880" y="1280160"/>
            <a:ext cx="3931920" cy="2331720"/>
          </a:xfrm>
          <a:prstGeom prst="roundRect">
            <a:avLst>
              <a:gd name="adj" fmla="val 3137"/>
            </a:avLst>
          </a:prstGeom>
          <a:solidFill>
            <a:srgbClr val="E8F5EF"/>
          </a:solidFill>
          <a:ln w="15875">
            <a:solidFill>
              <a:srgbClr val="D49A00"/>
            </a:solidFill>
            <a:prstDash val="solid"/>
          </a:ln>
        </p:spPr>
      </p:sp>
      <p:sp>
        <p:nvSpPr>
          <p:cNvPr id="38" name="Shape 27"/>
          <p:cNvSpPr/>
          <p:nvPr/>
        </p:nvSpPr>
        <p:spPr>
          <a:xfrm>
            <a:off x="4892040" y="1389888"/>
            <a:ext cx="420624" cy="420624"/>
          </a:xfrm>
          <a:prstGeom prst="ellipse">
            <a:avLst/>
          </a:prstGeom>
          <a:solidFill>
            <a:srgbClr val="D49A00">
              <a:alpha val="22000"/>
            </a:srgbClr>
          </a:solidFill>
          <a:ln/>
        </p:spPr>
      </p:sp>
      <p:pic>
        <p:nvPicPr>
          <p:cNvPr id="39" name="Image 8" descr="preencoded.png"/>
          <p:cNvPicPr>
            <a:picLocks noChangeAspect="1"/>
          </p:cNvPicPr>
          <p:nvPr/>
        </p:nvPicPr>
        <p:blipFill>
          <a:blip r:embed="rId5"/>
          <a:stretch>
            <a:fillRect/>
          </a:stretch>
        </p:blipFill>
        <p:spPr>
          <a:xfrm>
            <a:off x="4997196" y="1495044"/>
            <a:ext cx="210312" cy="210312"/>
          </a:xfrm>
          <a:prstGeom prst="rect">
            <a:avLst/>
          </a:prstGeom>
        </p:spPr>
      </p:pic>
      <p:sp>
        <p:nvSpPr>
          <p:cNvPr id="40" name="Text 28"/>
          <p:cNvSpPr txBox="1"/>
          <p:nvPr/>
        </p:nvSpPr>
        <p:spPr>
          <a:xfrm>
            <a:off x="5440680" y="1389888"/>
            <a:ext cx="27432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Index inversé</a:t>
            </a:r>
            <a:endParaRPr lang="en-US" sz="1400" dirty="0"/>
          </a:p>
        </p:txBody>
      </p:sp>
      <p:sp>
        <p:nvSpPr>
          <p:cNvPr id="41" name="Text 29"/>
          <p:cNvSpPr txBox="1"/>
          <p:nvPr/>
        </p:nvSpPr>
        <p:spPr>
          <a:xfrm>
            <a:off x="5440680" y="1645920"/>
            <a:ext cx="315468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Chercher la valeur, aller droit aux enregistrements</a:t>
            </a:r>
            <a:endParaRPr lang="en-US" sz="950" dirty="0"/>
          </a:p>
        </p:txBody>
      </p:sp>
      <p:sp>
        <p:nvSpPr>
          <p:cNvPr id="42" name="Shape 30"/>
          <p:cNvSpPr/>
          <p:nvPr/>
        </p:nvSpPr>
        <p:spPr>
          <a:xfrm>
            <a:off x="4919472" y="2011680"/>
            <a:ext cx="1737360" cy="347472"/>
          </a:xfrm>
          <a:prstGeom prst="roundRect">
            <a:avLst>
              <a:gd name="adj" fmla="val 10526"/>
            </a:avLst>
          </a:prstGeom>
          <a:solidFill>
            <a:srgbClr val="FFFFFF"/>
          </a:solidFill>
          <a:ln w="9525">
            <a:solidFill>
              <a:srgbClr val="D49A00"/>
            </a:solidFill>
            <a:prstDash val="solid"/>
          </a:ln>
        </p:spPr>
      </p:sp>
      <p:sp>
        <p:nvSpPr>
          <p:cNvPr id="43" name="Text 31"/>
          <p:cNvSpPr txBox="1"/>
          <p:nvPr/>
        </p:nvSpPr>
        <p:spPr>
          <a:xfrm>
            <a:off x="4956048" y="2011680"/>
            <a:ext cx="1664208" cy="347472"/>
          </a:xfrm>
          <a:prstGeom prst="rect">
            <a:avLst/>
          </a:prstGeom>
          <a:noFill/>
          <a:ln/>
        </p:spPr>
        <p:txBody>
          <a:bodyPr wrap="square" lIns="0" tIns="0" rIns="0" bIns="0" rtlCol="0" anchor="ctr"/>
          <a:lstStyle/>
          <a:p>
            <a:pPr marL="0" indent="0" algn="ctr">
              <a:buNone/>
            </a:pPr>
            <a:r>
              <a:rPr lang="en-US" sz="800" dirty="0">
                <a:solidFill>
                  <a:srgbClr val="231F20"/>
                </a:solidFill>
                <a:latin typeface="Courier New" pitchFamily="34" charset="0"/>
                <a:ea typeface="Courier New" pitchFamily="34" charset="-122"/>
                <a:cs typeface="Courier New" pitchFamily="34" charset="-120"/>
              </a:rPr>
              <a:t>admin1 = "Kigali"</a:t>
            </a:r>
            <a:endParaRPr lang="en-US" sz="800" dirty="0"/>
          </a:p>
        </p:txBody>
      </p:sp>
      <p:sp>
        <p:nvSpPr>
          <p:cNvPr id="44" name="Text 32"/>
          <p:cNvSpPr txBox="1"/>
          <p:nvPr/>
        </p:nvSpPr>
        <p:spPr>
          <a:xfrm>
            <a:off x="6748272" y="2011680"/>
            <a:ext cx="1828800" cy="347472"/>
          </a:xfrm>
          <a:prstGeom prst="rect">
            <a:avLst/>
          </a:prstGeom>
          <a:noFill/>
          <a:ln/>
        </p:spPr>
        <p:txBody>
          <a:bodyPr wrap="square" lIns="0" tIns="0" rIns="0" bIns="0" rtlCol="0" anchor="ctr"/>
          <a:lstStyle/>
          <a:p>
            <a:pPr marL="0" indent="0">
              <a:buNone/>
            </a:pPr>
            <a:r>
              <a:rPr lang="en-US" sz="850" dirty="0">
                <a:solidFill>
                  <a:srgbClr val="00704A"/>
                </a:solidFill>
                <a:latin typeface="Courier New" pitchFamily="34" charset="0"/>
                <a:ea typeface="Courier New" pitchFamily="34" charset="-122"/>
                <a:cs typeface="Courier New" pitchFamily="34" charset="-120"/>
              </a:rPr>
              <a:t>→ doc 2, 5, 9, 14…</a:t>
            </a:r>
            <a:endParaRPr lang="en-US" sz="850" dirty="0"/>
          </a:p>
        </p:txBody>
      </p:sp>
      <p:sp>
        <p:nvSpPr>
          <p:cNvPr id="45" name="Shape 33"/>
          <p:cNvSpPr/>
          <p:nvPr/>
        </p:nvSpPr>
        <p:spPr>
          <a:xfrm>
            <a:off x="4919472" y="2468880"/>
            <a:ext cx="1737360" cy="347472"/>
          </a:xfrm>
          <a:prstGeom prst="roundRect">
            <a:avLst>
              <a:gd name="adj" fmla="val 10526"/>
            </a:avLst>
          </a:prstGeom>
          <a:solidFill>
            <a:srgbClr val="FFFFFF"/>
          </a:solidFill>
          <a:ln w="9525">
            <a:solidFill>
              <a:srgbClr val="D49A00"/>
            </a:solidFill>
            <a:prstDash val="solid"/>
          </a:ln>
        </p:spPr>
      </p:sp>
      <p:sp>
        <p:nvSpPr>
          <p:cNvPr id="46" name="Text 34"/>
          <p:cNvSpPr txBox="1"/>
          <p:nvPr/>
        </p:nvSpPr>
        <p:spPr>
          <a:xfrm>
            <a:off x="4956048" y="2468880"/>
            <a:ext cx="1664208" cy="347472"/>
          </a:xfrm>
          <a:prstGeom prst="rect">
            <a:avLst/>
          </a:prstGeom>
          <a:noFill/>
          <a:ln/>
        </p:spPr>
        <p:txBody>
          <a:bodyPr wrap="square" lIns="0" tIns="0" rIns="0" bIns="0" rtlCol="0" anchor="ctr"/>
          <a:lstStyle/>
          <a:p>
            <a:pPr marL="0" indent="0" algn="ctr">
              <a:buNone/>
            </a:pPr>
            <a:r>
              <a:rPr lang="en-US" sz="800" dirty="0">
                <a:solidFill>
                  <a:srgbClr val="231F20"/>
                </a:solidFill>
                <a:latin typeface="Courier New" pitchFamily="34" charset="0"/>
                <a:ea typeface="Courier New" pitchFamily="34" charset="-122"/>
                <a:cs typeface="Courier New" pitchFamily="34" charset="-120"/>
              </a:rPr>
              <a:t>admin1 = "Huye"</a:t>
            </a:r>
            <a:endParaRPr lang="en-US" sz="800" dirty="0"/>
          </a:p>
        </p:txBody>
      </p:sp>
      <p:sp>
        <p:nvSpPr>
          <p:cNvPr id="47" name="Text 35"/>
          <p:cNvSpPr txBox="1"/>
          <p:nvPr/>
        </p:nvSpPr>
        <p:spPr>
          <a:xfrm>
            <a:off x="6748272" y="2468880"/>
            <a:ext cx="1828800" cy="347472"/>
          </a:xfrm>
          <a:prstGeom prst="rect">
            <a:avLst/>
          </a:prstGeom>
          <a:noFill/>
          <a:ln/>
        </p:spPr>
        <p:txBody>
          <a:bodyPr wrap="square" lIns="0" tIns="0" rIns="0" bIns="0" rtlCol="0" anchor="ctr"/>
          <a:lstStyle/>
          <a:p>
            <a:pPr marL="0" indent="0">
              <a:buNone/>
            </a:pPr>
            <a:r>
              <a:rPr lang="en-US" sz="850" dirty="0">
                <a:solidFill>
                  <a:srgbClr val="00704A"/>
                </a:solidFill>
                <a:latin typeface="Courier New" pitchFamily="34" charset="0"/>
                <a:ea typeface="Courier New" pitchFamily="34" charset="-122"/>
                <a:cs typeface="Courier New" pitchFamily="34" charset="-120"/>
              </a:rPr>
              <a:t>→ doc 1, 7, 11…</a:t>
            </a:r>
            <a:endParaRPr lang="en-US" sz="850" dirty="0"/>
          </a:p>
        </p:txBody>
      </p:sp>
      <p:sp>
        <p:nvSpPr>
          <p:cNvPr id="48" name="Shape 36"/>
          <p:cNvSpPr/>
          <p:nvPr/>
        </p:nvSpPr>
        <p:spPr>
          <a:xfrm>
            <a:off x="4919472" y="2926080"/>
            <a:ext cx="1737360" cy="347472"/>
          </a:xfrm>
          <a:prstGeom prst="roundRect">
            <a:avLst>
              <a:gd name="adj" fmla="val 10526"/>
            </a:avLst>
          </a:prstGeom>
          <a:solidFill>
            <a:srgbClr val="FFFFFF"/>
          </a:solidFill>
          <a:ln w="9525">
            <a:solidFill>
              <a:srgbClr val="D49A00"/>
            </a:solidFill>
            <a:prstDash val="solid"/>
          </a:ln>
        </p:spPr>
      </p:sp>
      <p:sp>
        <p:nvSpPr>
          <p:cNvPr id="49" name="Text 37"/>
          <p:cNvSpPr txBox="1"/>
          <p:nvPr/>
        </p:nvSpPr>
        <p:spPr>
          <a:xfrm>
            <a:off x="4956048" y="2926080"/>
            <a:ext cx="1664208" cy="347472"/>
          </a:xfrm>
          <a:prstGeom prst="rect">
            <a:avLst/>
          </a:prstGeom>
          <a:noFill/>
          <a:ln/>
        </p:spPr>
        <p:txBody>
          <a:bodyPr wrap="square" lIns="0" tIns="0" rIns="0" bIns="0" rtlCol="0" anchor="ctr"/>
          <a:lstStyle/>
          <a:p>
            <a:pPr marL="0" indent="0" algn="ctr">
              <a:buNone/>
            </a:pPr>
            <a:r>
              <a:rPr lang="en-US" sz="800" dirty="0">
                <a:solidFill>
                  <a:srgbClr val="231F20"/>
                </a:solidFill>
                <a:latin typeface="Courier New" pitchFamily="34" charset="0"/>
                <a:ea typeface="Courier New" pitchFamily="34" charset="-122"/>
                <a:cs typeface="Courier New" pitchFamily="34" charset="-120"/>
              </a:rPr>
              <a:t>quarter = 2025-Q4</a:t>
            </a:r>
            <a:endParaRPr lang="en-US" sz="800" dirty="0"/>
          </a:p>
        </p:txBody>
      </p:sp>
      <p:sp>
        <p:nvSpPr>
          <p:cNvPr id="50" name="Text 38"/>
          <p:cNvSpPr txBox="1"/>
          <p:nvPr/>
        </p:nvSpPr>
        <p:spPr>
          <a:xfrm>
            <a:off x="6748272" y="2926080"/>
            <a:ext cx="1828800" cy="347472"/>
          </a:xfrm>
          <a:prstGeom prst="rect">
            <a:avLst/>
          </a:prstGeom>
          <a:noFill/>
          <a:ln/>
        </p:spPr>
        <p:txBody>
          <a:bodyPr wrap="square" lIns="0" tIns="0" rIns="0" bIns="0" rtlCol="0" anchor="ctr"/>
          <a:lstStyle/>
          <a:p>
            <a:pPr marL="0" indent="0">
              <a:buNone/>
            </a:pPr>
            <a:r>
              <a:rPr lang="en-US" sz="850" dirty="0">
                <a:solidFill>
                  <a:srgbClr val="00704A"/>
                </a:solidFill>
                <a:latin typeface="Courier New" pitchFamily="34" charset="0"/>
                <a:ea typeface="Courier New" pitchFamily="34" charset="-122"/>
                <a:cs typeface="Courier New" pitchFamily="34" charset="-120"/>
              </a:rPr>
              <a:t>→ doc 5, 7, 9…</a:t>
            </a:r>
            <a:endParaRPr lang="en-US" sz="850" dirty="0"/>
          </a:p>
        </p:txBody>
      </p:sp>
      <p:sp>
        <p:nvSpPr>
          <p:cNvPr id="51" name="Shape 39"/>
          <p:cNvSpPr/>
          <p:nvPr/>
        </p:nvSpPr>
        <p:spPr>
          <a:xfrm>
            <a:off x="457200" y="3767328"/>
            <a:ext cx="2624328" cy="731520"/>
          </a:xfrm>
          <a:prstGeom prst="roundRect">
            <a:avLst>
              <a:gd name="adj" fmla="val 10000"/>
            </a:avLst>
          </a:prstGeom>
          <a:solidFill>
            <a:srgbClr val="FFFFFF"/>
          </a:solidFill>
          <a:ln w="12700">
            <a:solidFill>
              <a:srgbClr val="D49A00"/>
            </a:solidFill>
            <a:prstDash val="solid"/>
          </a:ln>
        </p:spPr>
      </p:sp>
      <p:sp>
        <p:nvSpPr>
          <p:cNvPr id="52" name="Text 40"/>
          <p:cNvSpPr txBox="1"/>
          <p:nvPr/>
        </p:nvSpPr>
        <p:spPr>
          <a:xfrm>
            <a:off x="594360" y="3813048"/>
            <a:ext cx="2377440" cy="228600"/>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Arbre B</a:t>
            </a:r>
            <a:endParaRPr lang="en-US" sz="1200" dirty="0"/>
          </a:p>
        </p:txBody>
      </p:sp>
      <p:sp>
        <p:nvSpPr>
          <p:cNvPr id="53" name="Text 41"/>
          <p:cNvSpPr txBox="1"/>
          <p:nvPr/>
        </p:nvSpPr>
        <p:spPr>
          <a:xfrm>
            <a:off x="594360" y="4050792"/>
            <a:ext cx="2395728" cy="41148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Bases relationnelles : intervalles et tris</a:t>
            </a:r>
            <a:endParaRPr lang="en-US" sz="900" dirty="0"/>
          </a:p>
        </p:txBody>
      </p:sp>
      <p:sp>
        <p:nvSpPr>
          <p:cNvPr id="54" name="Shape 42"/>
          <p:cNvSpPr/>
          <p:nvPr/>
        </p:nvSpPr>
        <p:spPr>
          <a:xfrm>
            <a:off x="3264408" y="3767328"/>
            <a:ext cx="2624328" cy="731520"/>
          </a:xfrm>
          <a:prstGeom prst="roundRect">
            <a:avLst>
              <a:gd name="adj" fmla="val 10000"/>
            </a:avLst>
          </a:prstGeom>
          <a:solidFill>
            <a:srgbClr val="FFFFFF"/>
          </a:solidFill>
          <a:ln w="12700">
            <a:solidFill>
              <a:srgbClr val="D49A00"/>
            </a:solidFill>
            <a:prstDash val="solid"/>
          </a:ln>
        </p:spPr>
      </p:sp>
      <p:sp>
        <p:nvSpPr>
          <p:cNvPr id="55" name="Text 43"/>
          <p:cNvSpPr txBox="1"/>
          <p:nvPr/>
        </p:nvSpPr>
        <p:spPr>
          <a:xfrm>
            <a:off x="3401568" y="3813048"/>
            <a:ext cx="2377440" cy="228600"/>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Index inversé</a:t>
            </a:r>
            <a:endParaRPr lang="en-US" sz="1200" dirty="0"/>
          </a:p>
        </p:txBody>
      </p:sp>
      <p:sp>
        <p:nvSpPr>
          <p:cNvPr id="56" name="Text 44"/>
          <p:cNvSpPr txBox="1"/>
          <p:nvPr/>
        </p:nvSpPr>
        <p:spPr>
          <a:xfrm>
            <a:off x="3401568" y="4050792"/>
            <a:ext cx="2395728" cy="41148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Moteurs de recherche : termes, mots-clés, filtres</a:t>
            </a:r>
            <a:endParaRPr lang="en-US" sz="900" dirty="0"/>
          </a:p>
        </p:txBody>
      </p:sp>
      <p:sp>
        <p:nvSpPr>
          <p:cNvPr id="57" name="Shape 45"/>
          <p:cNvSpPr/>
          <p:nvPr/>
        </p:nvSpPr>
        <p:spPr>
          <a:xfrm>
            <a:off x="6071616" y="3767328"/>
            <a:ext cx="2624328" cy="731520"/>
          </a:xfrm>
          <a:prstGeom prst="roundRect">
            <a:avLst>
              <a:gd name="adj" fmla="val 10000"/>
            </a:avLst>
          </a:prstGeom>
          <a:solidFill>
            <a:srgbClr val="FFFFFF"/>
          </a:solidFill>
          <a:ln w="12700">
            <a:solidFill>
              <a:srgbClr val="D49A00"/>
            </a:solidFill>
            <a:prstDash val="solid"/>
          </a:ln>
        </p:spPr>
      </p:sp>
      <p:sp>
        <p:nvSpPr>
          <p:cNvPr id="58" name="Text 46"/>
          <p:cNvSpPr txBox="1"/>
          <p:nvPr/>
        </p:nvSpPr>
        <p:spPr>
          <a:xfrm>
            <a:off x="6208776" y="3813048"/>
            <a:ext cx="2377440" cy="228600"/>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Index spatial</a:t>
            </a:r>
            <a:endParaRPr lang="en-US" sz="1200" dirty="0"/>
          </a:p>
        </p:txBody>
      </p:sp>
      <p:sp>
        <p:nvSpPr>
          <p:cNvPr id="59" name="Text 47"/>
          <p:cNvSpPr txBox="1"/>
          <p:nvPr/>
        </p:nvSpPr>
        <p:spPr>
          <a:xfrm>
            <a:off x="6208776" y="4050792"/>
            <a:ext cx="2395728" cy="41148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Quadkey, geohash, arbre BKD : « à proximité / à l’intérieur »</a:t>
            </a:r>
            <a:endParaRPr lang="en-US" sz="900" dirty="0"/>
          </a:p>
        </p:txBody>
      </p:sp>
      <p:sp>
        <p:nvSpPr>
          <p:cNvPr id="60" name="Text 48"/>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Un index échange du travail à l’écriture et de l’espace disque contre de la vitesse à la lecture. Identifiants illustratifs.</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 quadkey : un index spatial déjà entre vos mains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548640" y="1325880"/>
            <a:ext cx="1508760" cy="1508760"/>
          </a:xfrm>
          <a:prstGeom prst="roundRect">
            <a:avLst>
              <a:gd name="adj" fmla="val 606"/>
            </a:avLst>
          </a:prstGeom>
          <a:solidFill>
            <a:srgbClr val="D49A00">
              <a:alpha val="25000"/>
            </a:srgbClr>
          </a:solidFill>
          <a:ln w="19050">
            <a:solidFill>
              <a:srgbClr val="FFFFFF"/>
            </a:solidFill>
            <a:prstDash val="solid"/>
          </a:ln>
        </p:spPr>
      </p:sp>
      <p:sp>
        <p:nvSpPr>
          <p:cNvPr id="18" name="Text 15"/>
          <p:cNvSpPr txBox="1"/>
          <p:nvPr/>
        </p:nvSpPr>
        <p:spPr>
          <a:xfrm>
            <a:off x="548640" y="1325880"/>
            <a:ext cx="1508760" cy="1508760"/>
          </a:xfrm>
          <a:prstGeom prst="rect">
            <a:avLst/>
          </a:prstGeom>
          <a:noFill/>
          <a:ln/>
        </p:spPr>
        <p:txBody>
          <a:bodyPr wrap="square" lIns="0" tIns="0" rIns="0" bIns="0" rtlCol="0" anchor="ctr"/>
          <a:lstStyle/>
          <a:p>
            <a:pPr marL="0" indent="0" algn="ctr">
              <a:buNone/>
            </a:pPr>
            <a:r>
              <a:rPr lang="en-US" sz="2000" b="1" dirty="0">
                <a:solidFill>
                  <a:srgbClr val="231F20"/>
                </a:solidFill>
                <a:latin typeface="Calibri" pitchFamily="34" charset="0"/>
                <a:ea typeface="Calibri" pitchFamily="34" charset="-122"/>
                <a:cs typeface="Calibri" pitchFamily="34" charset="-120"/>
              </a:rPr>
              <a:t>0</a:t>
            </a:r>
            <a:endParaRPr lang="en-US" sz="2000" dirty="0"/>
          </a:p>
        </p:txBody>
      </p:sp>
      <p:sp>
        <p:nvSpPr>
          <p:cNvPr id="19" name="Shape 16"/>
          <p:cNvSpPr/>
          <p:nvPr/>
        </p:nvSpPr>
        <p:spPr>
          <a:xfrm>
            <a:off x="2057400" y="1325880"/>
            <a:ext cx="1508760" cy="1508760"/>
          </a:xfrm>
          <a:prstGeom prst="roundRect">
            <a:avLst>
              <a:gd name="adj" fmla="val 606"/>
            </a:avLst>
          </a:prstGeom>
          <a:solidFill>
            <a:srgbClr val="D49A00">
              <a:alpha val="25000"/>
            </a:srgbClr>
          </a:solidFill>
          <a:ln w="19050">
            <a:solidFill>
              <a:srgbClr val="FFFFFF"/>
            </a:solidFill>
            <a:prstDash val="solid"/>
          </a:ln>
        </p:spPr>
      </p:sp>
      <p:sp>
        <p:nvSpPr>
          <p:cNvPr id="20" name="Text 17"/>
          <p:cNvSpPr txBox="1"/>
          <p:nvPr/>
        </p:nvSpPr>
        <p:spPr>
          <a:xfrm>
            <a:off x="2057400" y="1325880"/>
            <a:ext cx="1508760" cy="1508760"/>
          </a:xfrm>
          <a:prstGeom prst="rect">
            <a:avLst/>
          </a:prstGeom>
          <a:noFill/>
          <a:ln/>
        </p:spPr>
        <p:txBody>
          <a:bodyPr wrap="square" lIns="0" tIns="0" rIns="0" bIns="0" rtlCol="0" anchor="ctr"/>
          <a:lstStyle/>
          <a:p>
            <a:pPr marL="0" indent="0" algn="ctr">
              <a:buNone/>
            </a:pPr>
            <a:r>
              <a:rPr lang="en-US" sz="2000" b="1" dirty="0">
                <a:solidFill>
                  <a:srgbClr val="231F20"/>
                </a:solidFill>
                <a:latin typeface="Calibri" pitchFamily="34" charset="0"/>
                <a:ea typeface="Calibri" pitchFamily="34" charset="-122"/>
                <a:cs typeface="Calibri" pitchFamily="34" charset="-120"/>
              </a:rPr>
              <a:t>1</a:t>
            </a:r>
            <a:endParaRPr lang="en-US" sz="2000" dirty="0"/>
          </a:p>
        </p:txBody>
      </p:sp>
      <p:sp>
        <p:nvSpPr>
          <p:cNvPr id="21" name="Shape 18"/>
          <p:cNvSpPr/>
          <p:nvPr/>
        </p:nvSpPr>
        <p:spPr>
          <a:xfrm>
            <a:off x="2057400" y="2834640"/>
            <a:ext cx="1508760" cy="1508760"/>
          </a:xfrm>
          <a:prstGeom prst="roundRect">
            <a:avLst>
              <a:gd name="adj" fmla="val 606"/>
            </a:avLst>
          </a:prstGeom>
          <a:solidFill>
            <a:srgbClr val="D49A00">
              <a:alpha val="25000"/>
            </a:srgbClr>
          </a:solidFill>
          <a:ln w="19050">
            <a:solidFill>
              <a:srgbClr val="FFFFFF"/>
            </a:solidFill>
            <a:prstDash val="solid"/>
          </a:ln>
        </p:spPr>
      </p:sp>
      <p:sp>
        <p:nvSpPr>
          <p:cNvPr id="22" name="Text 19"/>
          <p:cNvSpPr txBox="1"/>
          <p:nvPr/>
        </p:nvSpPr>
        <p:spPr>
          <a:xfrm>
            <a:off x="2057400" y="2834640"/>
            <a:ext cx="1508760" cy="1508760"/>
          </a:xfrm>
          <a:prstGeom prst="rect">
            <a:avLst/>
          </a:prstGeom>
          <a:noFill/>
          <a:ln/>
        </p:spPr>
        <p:txBody>
          <a:bodyPr wrap="square" lIns="0" tIns="0" rIns="0" bIns="0" rtlCol="0" anchor="ctr"/>
          <a:lstStyle/>
          <a:p>
            <a:pPr marL="0" indent="0" algn="ctr">
              <a:buNone/>
            </a:pPr>
            <a:r>
              <a:rPr lang="en-US" sz="2000" b="1" dirty="0">
                <a:solidFill>
                  <a:srgbClr val="231F20"/>
                </a:solidFill>
                <a:latin typeface="Calibri" pitchFamily="34" charset="0"/>
                <a:ea typeface="Calibri" pitchFamily="34" charset="-122"/>
                <a:cs typeface="Calibri" pitchFamily="34" charset="-120"/>
              </a:rPr>
              <a:t>3</a:t>
            </a:r>
            <a:endParaRPr lang="en-US" sz="2000" dirty="0"/>
          </a:p>
        </p:txBody>
      </p:sp>
      <p:sp>
        <p:nvSpPr>
          <p:cNvPr id="23" name="Shape 20"/>
          <p:cNvSpPr/>
          <p:nvPr/>
        </p:nvSpPr>
        <p:spPr>
          <a:xfrm>
            <a:off x="548640" y="2834640"/>
            <a:ext cx="754380" cy="754380"/>
          </a:xfrm>
          <a:prstGeom prst="roundRect">
            <a:avLst>
              <a:gd name="adj" fmla="val 1212"/>
            </a:avLst>
          </a:prstGeom>
          <a:solidFill>
            <a:srgbClr val="D49A00">
              <a:alpha val="55000"/>
            </a:srgbClr>
          </a:solidFill>
          <a:ln w="19050">
            <a:solidFill>
              <a:srgbClr val="FFFFFF"/>
            </a:solidFill>
            <a:prstDash val="solid"/>
          </a:ln>
        </p:spPr>
      </p:sp>
      <p:sp>
        <p:nvSpPr>
          <p:cNvPr id="24" name="Text 21"/>
          <p:cNvSpPr txBox="1"/>
          <p:nvPr/>
        </p:nvSpPr>
        <p:spPr>
          <a:xfrm>
            <a:off x="548640" y="2834640"/>
            <a:ext cx="754380" cy="7543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25" name="Shape 22"/>
          <p:cNvSpPr/>
          <p:nvPr/>
        </p:nvSpPr>
        <p:spPr>
          <a:xfrm>
            <a:off x="1303020" y="2834640"/>
            <a:ext cx="754380" cy="754380"/>
          </a:xfrm>
          <a:prstGeom prst="roundRect">
            <a:avLst>
              <a:gd name="adj" fmla="val 1212"/>
            </a:avLst>
          </a:prstGeom>
          <a:solidFill>
            <a:srgbClr val="D49A00">
              <a:alpha val="55000"/>
            </a:srgbClr>
          </a:solidFill>
          <a:ln w="19050">
            <a:solidFill>
              <a:srgbClr val="FFFFFF"/>
            </a:solidFill>
            <a:prstDash val="solid"/>
          </a:ln>
        </p:spPr>
      </p:sp>
      <p:sp>
        <p:nvSpPr>
          <p:cNvPr id="26" name="Text 23"/>
          <p:cNvSpPr txBox="1"/>
          <p:nvPr/>
        </p:nvSpPr>
        <p:spPr>
          <a:xfrm>
            <a:off x="1303020" y="2834640"/>
            <a:ext cx="754380" cy="7543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27" name="Shape 24"/>
          <p:cNvSpPr/>
          <p:nvPr/>
        </p:nvSpPr>
        <p:spPr>
          <a:xfrm>
            <a:off x="1303020" y="3589020"/>
            <a:ext cx="754380" cy="754380"/>
          </a:xfrm>
          <a:prstGeom prst="roundRect">
            <a:avLst>
              <a:gd name="adj" fmla="val 1212"/>
            </a:avLst>
          </a:prstGeom>
          <a:solidFill>
            <a:srgbClr val="D49A00">
              <a:alpha val="55000"/>
            </a:srgbClr>
          </a:solidFill>
          <a:ln w="19050">
            <a:solidFill>
              <a:srgbClr val="FFFFFF"/>
            </a:solidFill>
            <a:prstDash val="solid"/>
          </a:ln>
        </p:spPr>
      </p:sp>
      <p:sp>
        <p:nvSpPr>
          <p:cNvPr id="28" name="Text 25"/>
          <p:cNvSpPr txBox="1"/>
          <p:nvPr/>
        </p:nvSpPr>
        <p:spPr>
          <a:xfrm>
            <a:off x="1303020" y="3589020"/>
            <a:ext cx="754380" cy="7543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29" name="Shape 26"/>
          <p:cNvSpPr/>
          <p:nvPr/>
        </p:nvSpPr>
        <p:spPr>
          <a:xfrm>
            <a:off x="548640" y="3589020"/>
            <a:ext cx="377190" cy="377190"/>
          </a:xfrm>
          <a:prstGeom prst="roundRect">
            <a:avLst>
              <a:gd name="adj" fmla="val 2424"/>
            </a:avLst>
          </a:prstGeom>
          <a:solidFill>
            <a:srgbClr val="D49A00"/>
          </a:solidFill>
          <a:ln w="19050">
            <a:solidFill>
              <a:srgbClr val="FFFFFF"/>
            </a:solidFill>
            <a:prstDash val="solid"/>
          </a:ln>
        </p:spPr>
      </p:sp>
      <p:sp>
        <p:nvSpPr>
          <p:cNvPr id="30" name="Text 27"/>
          <p:cNvSpPr txBox="1"/>
          <p:nvPr/>
        </p:nvSpPr>
        <p:spPr>
          <a:xfrm>
            <a:off x="548640" y="3589020"/>
            <a:ext cx="377190" cy="37719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220</a:t>
            </a:r>
            <a:endParaRPr lang="en-US" sz="900" dirty="0"/>
          </a:p>
        </p:txBody>
      </p:sp>
      <p:sp>
        <p:nvSpPr>
          <p:cNvPr id="31" name="Shape 28"/>
          <p:cNvSpPr/>
          <p:nvPr/>
        </p:nvSpPr>
        <p:spPr>
          <a:xfrm>
            <a:off x="925830" y="3589020"/>
            <a:ext cx="377190" cy="377190"/>
          </a:xfrm>
          <a:prstGeom prst="roundRect">
            <a:avLst>
              <a:gd name="adj" fmla="val 2424"/>
            </a:avLst>
          </a:prstGeom>
          <a:solidFill>
            <a:srgbClr val="D49A00"/>
          </a:solidFill>
          <a:ln w="19050">
            <a:solidFill>
              <a:srgbClr val="FFFFFF"/>
            </a:solidFill>
            <a:prstDash val="solid"/>
          </a:ln>
        </p:spPr>
      </p:sp>
      <p:sp>
        <p:nvSpPr>
          <p:cNvPr id="32" name="Text 29"/>
          <p:cNvSpPr txBox="1"/>
          <p:nvPr/>
        </p:nvSpPr>
        <p:spPr>
          <a:xfrm>
            <a:off x="925830" y="3589020"/>
            <a:ext cx="377190" cy="37719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221</a:t>
            </a:r>
            <a:endParaRPr lang="en-US" sz="900" dirty="0"/>
          </a:p>
        </p:txBody>
      </p:sp>
      <p:sp>
        <p:nvSpPr>
          <p:cNvPr id="33" name="Shape 30"/>
          <p:cNvSpPr/>
          <p:nvPr/>
        </p:nvSpPr>
        <p:spPr>
          <a:xfrm>
            <a:off x="548640" y="3966210"/>
            <a:ext cx="377190" cy="377190"/>
          </a:xfrm>
          <a:prstGeom prst="roundRect">
            <a:avLst>
              <a:gd name="adj" fmla="val 2424"/>
            </a:avLst>
          </a:prstGeom>
          <a:solidFill>
            <a:srgbClr val="D49A00"/>
          </a:solidFill>
          <a:ln w="19050">
            <a:solidFill>
              <a:srgbClr val="FFFFFF"/>
            </a:solidFill>
            <a:prstDash val="solid"/>
          </a:ln>
        </p:spPr>
      </p:sp>
      <p:sp>
        <p:nvSpPr>
          <p:cNvPr id="34" name="Text 31"/>
          <p:cNvSpPr txBox="1"/>
          <p:nvPr/>
        </p:nvSpPr>
        <p:spPr>
          <a:xfrm>
            <a:off x="548640" y="3966210"/>
            <a:ext cx="377190" cy="37719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222</a:t>
            </a:r>
            <a:endParaRPr lang="en-US" sz="900" dirty="0"/>
          </a:p>
        </p:txBody>
      </p:sp>
      <p:sp>
        <p:nvSpPr>
          <p:cNvPr id="35" name="Shape 32"/>
          <p:cNvSpPr/>
          <p:nvPr/>
        </p:nvSpPr>
        <p:spPr>
          <a:xfrm>
            <a:off x="925830" y="3966210"/>
            <a:ext cx="377190" cy="377190"/>
          </a:xfrm>
          <a:prstGeom prst="roundRect">
            <a:avLst>
              <a:gd name="adj" fmla="val 2424"/>
            </a:avLst>
          </a:prstGeom>
          <a:solidFill>
            <a:srgbClr val="D49A00"/>
          </a:solidFill>
          <a:ln w="19050">
            <a:solidFill>
              <a:srgbClr val="FFFFFF"/>
            </a:solidFill>
            <a:prstDash val="solid"/>
          </a:ln>
        </p:spPr>
      </p:sp>
      <p:sp>
        <p:nvSpPr>
          <p:cNvPr id="36" name="Text 33"/>
          <p:cNvSpPr txBox="1"/>
          <p:nvPr/>
        </p:nvSpPr>
        <p:spPr>
          <a:xfrm>
            <a:off x="925830" y="3966210"/>
            <a:ext cx="377190" cy="37719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223</a:t>
            </a:r>
            <a:endParaRPr lang="en-US" sz="900" dirty="0"/>
          </a:p>
        </p:txBody>
      </p:sp>
      <p:sp>
        <p:nvSpPr>
          <p:cNvPr id="37" name="Text 34"/>
          <p:cNvSpPr txBox="1"/>
          <p:nvPr/>
        </p:nvSpPr>
        <p:spPr>
          <a:xfrm>
            <a:off x="548640" y="4416552"/>
            <a:ext cx="301752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Chaque niveau ajoute un chiffre (0–3)</a:t>
            </a:r>
            <a:endParaRPr lang="en-US" sz="950" dirty="0"/>
          </a:p>
        </p:txBody>
      </p:sp>
      <p:sp>
        <p:nvSpPr>
          <p:cNvPr id="38" name="Shape 35"/>
          <p:cNvSpPr/>
          <p:nvPr/>
        </p:nvSpPr>
        <p:spPr>
          <a:xfrm>
            <a:off x="4023360" y="1280160"/>
            <a:ext cx="4663440" cy="722376"/>
          </a:xfrm>
          <a:prstGeom prst="roundRect">
            <a:avLst>
              <a:gd name="adj" fmla="val 10127"/>
            </a:avLst>
          </a:prstGeom>
          <a:solidFill>
            <a:srgbClr val="F4F7F5"/>
          </a:solidFill>
          <a:ln w="9525">
            <a:solidFill>
              <a:srgbClr val="D5DED9"/>
            </a:solidFill>
            <a:prstDash val="solid"/>
          </a:ln>
        </p:spPr>
      </p:sp>
      <p:sp>
        <p:nvSpPr>
          <p:cNvPr id="39" name="Text 36"/>
          <p:cNvSpPr txBox="1"/>
          <p:nvPr/>
        </p:nvSpPr>
        <p:spPr>
          <a:xfrm>
            <a:off x="4187952" y="1344168"/>
            <a:ext cx="4389120" cy="237744"/>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16 chiffres</a:t>
            </a:r>
            <a:endParaRPr lang="en-US" sz="1200" dirty="0"/>
          </a:p>
        </p:txBody>
      </p:sp>
      <p:sp>
        <p:nvSpPr>
          <p:cNvPr id="40" name="Text 37"/>
          <p:cNvSpPr txBox="1"/>
          <p:nvPr/>
        </p:nvSpPr>
        <p:spPr>
          <a:xfrm>
            <a:off x="4187952" y="1600200"/>
            <a:ext cx="4389120" cy="38404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Un quadkey de niveau 16 ≈ une tuile Ookla de 611 m</a:t>
            </a:r>
            <a:endParaRPr lang="en-US" sz="950" dirty="0"/>
          </a:p>
        </p:txBody>
      </p:sp>
      <p:sp>
        <p:nvSpPr>
          <p:cNvPr id="41" name="Shape 38"/>
          <p:cNvSpPr/>
          <p:nvPr/>
        </p:nvSpPr>
        <p:spPr>
          <a:xfrm>
            <a:off x="4023360" y="2093976"/>
            <a:ext cx="4663440" cy="722376"/>
          </a:xfrm>
          <a:prstGeom prst="roundRect">
            <a:avLst>
              <a:gd name="adj" fmla="val 10127"/>
            </a:avLst>
          </a:prstGeom>
          <a:solidFill>
            <a:srgbClr val="E8F5EF"/>
          </a:solidFill>
          <a:ln w="15875">
            <a:solidFill>
              <a:srgbClr val="00704A"/>
            </a:solidFill>
            <a:prstDash val="solid"/>
          </a:ln>
        </p:spPr>
      </p:sp>
      <p:sp>
        <p:nvSpPr>
          <p:cNvPr id="42" name="Text 39"/>
          <p:cNvSpPr txBox="1"/>
          <p:nvPr/>
        </p:nvSpPr>
        <p:spPr>
          <a:xfrm>
            <a:off x="4187952" y="2157984"/>
            <a:ext cx="438912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Préfixe = voisinage</a:t>
            </a:r>
            <a:endParaRPr lang="en-US" sz="1200" dirty="0"/>
          </a:p>
        </p:txBody>
      </p:sp>
      <p:sp>
        <p:nvSpPr>
          <p:cNvPr id="43" name="Text 40"/>
          <p:cNvSpPr txBox="1"/>
          <p:nvPr/>
        </p:nvSpPr>
        <p:spPr>
          <a:xfrm>
            <a:off x="4187952" y="2414016"/>
            <a:ext cx="4389120" cy="38404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Garder les 12 premiers chiffres agrège en cellules d’≈ 9,8 km, sans fonction SIG</a:t>
            </a:r>
            <a:endParaRPr lang="en-US" sz="950" dirty="0"/>
          </a:p>
        </p:txBody>
      </p:sp>
      <p:sp>
        <p:nvSpPr>
          <p:cNvPr id="44" name="Shape 41"/>
          <p:cNvSpPr/>
          <p:nvPr/>
        </p:nvSpPr>
        <p:spPr>
          <a:xfrm>
            <a:off x="4023360" y="2907792"/>
            <a:ext cx="4663440" cy="722376"/>
          </a:xfrm>
          <a:prstGeom prst="roundRect">
            <a:avLst>
              <a:gd name="adj" fmla="val 10127"/>
            </a:avLst>
          </a:prstGeom>
          <a:solidFill>
            <a:srgbClr val="F4F7F5"/>
          </a:solidFill>
          <a:ln w="9525">
            <a:solidFill>
              <a:srgbClr val="D5DED9"/>
            </a:solidFill>
            <a:prstDash val="solid"/>
          </a:ln>
        </p:spPr>
      </p:sp>
      <p:sp>
        <p:nvSpPr>
          <p:cNvPr id="45" name="Text 42"/>
          <p:cNvSpPr txBox="1"/>
          <p:nvPr/>
        </p:nvSpPr>
        <p:spPr>
          <a:xfrm>
            <a:off x="4187952" y="2971800"/>
            <a:ext cx="4389120" cy="237744"/>
          </a:xfrm>
          <a:prstGeom prst="rect">
            <a:avLst/>
          </a:prstGeom>
          <a:noFill/>
          <a:ln/>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Identifiant stable</a:t>
            </a:r>
            <a:endParaRPr lang="en-US" sz="1200" dirty="0"/>
          </a:p>
        </p:txBody>
      </p:sp>
      <p:sp>
        <p:nvSpPr>
          <p:cNvPr id="46" name="Text 43"/>
          <p:cNvSpPr txBox="1"/>
          <p:nvPr/>
        </p:nvSpPr>
        <p:spPr>
          <a:xfrm>
            <a:off x="4187952" y="3227832"/>
            <a:ext cx="4389120" cy="38404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Relier la même tuile d’un trimestre à l’autre (de 2019 à aujourd’hui) par le seul quadkey</a:t>
            </a:r>
            <a:endParaRPr lang="en-US" sz="950" dirty="0"/>
          </a:p>
        </p:txBody>
      </p:sp>
      <p:sp>
        <p:nvSpPr>
          <p:cNvPr id="47" name="Shape 44"/>
          <p:cNvSpPr/>
          <p:nvPr/>
        </p:nvSpPr>
        <p:spPr>
          <a:xfrm>
            <a:off x="4023360" y="3721608"/>
            <a:ext cx="4663440" cy="722376"/>
          </a:xfrm>
          <a:prstGeom prst="roundRect">
            <a:avLst>
              <a:gd name="adj" fmla="val 10127"/>
            </a:avLst>
          </a:prstGeom>
          <a:solidFill>
            <a:srgbClr val="F4F7F5"/>
          </a:solidFill>
          <a:ln w="9525">
            <a:solidFill>
              <a:srgbClr val="D5DED9"/>
            </a:solidFill>
            <a:prstDash val="solid"/>
          </a:ln>
        </p:spPr>
      </p:sp>
      <p:sp>
        <p:nvSpPr>
          <p:cNvPr id="48" name="Text 45"/>
          <p:cNvSpPr txBox="1"/>
          <p:nvPr/>
        </p:nvSpPr>
        <p:spPr>
          <a:xfrm>
            <a:off x="4187952" y="3785616"/>
            <a:ext cx="4389120" cy="237744"/>
          </a:xfrm>
          <a:prstGeom prst="rect">
            <a:avLst/>
          </a:prstGeom>
          <a:noFill/>
          <a:ln/>
        </p:spPr>
        <p:txBody>
          <a:bodyPr wrap="square" lIns="0" tIns="0" rIns="0" bIns="0" rtlCol="0" anchor="t"/>
          <a:lstStyle/>
          <a:p>
            <a:pPr marL="0" indent="0">
              <a:buNone/>
            </a:pPr>
            <a:r>
              <a:rPr lang="en-US" sz="1200" b="1" dirty="0">
                <a:solidFill>
                  <a:srgbClr val="C4621D"/>
                </a:solidFill>
                <a:latin typeface="Calibri" pitchFamily="34" charset="0"/>
                <a:ea typeface="Calibri" pitchFamily="34" charset="-122"/>
                <a:cs typeface="Calibri" pitchFamily="34" charset="-120"/>
              </a:rPr>
              <a:t>Formes réelles → geo_shape</a:t>
            </a:r>
            <a:endParaRPr lang="en-US" sz="1200" dirty="0"/>
          </a:p>
        </p:txBody>
      </p:sp>
      <p:sp>
        <p:nvSpPr>
          <p:cNvPr id="49" name="Text 46"/>
          <p:cNvSpPr txBox="1"/>
          <p:nvPr/>
        </p:nvSpPr>
        <p:spPr>
          <a:xfrm>
            <a:off x="4187952" y="4041648"/>
            <a:ext cx="4389120" cy="38404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Tuile face à une limite de district : Elasticsearch indexe les formes dans un arbre BKD</a:t>
            </a:r>
            <a:endParaRPr lang="en-US" sz="950" dirty="0"/>
          </a:p>
        </p:txBody>
      </p:sp>
      <p:sp>
        <p:nvSpPr>
          <p:cNvPr id="50" name="Text 47"/>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 README Ookla Open Data ; système de tuiles Bing Maps ; documentation geo_shape d’Elasticsearch. Largeur = 40 075 km ÷ 2^zoom.</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Elasticsearch en une image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280160"/>
            <a:ext cx="4846320" cy="3200400"/>
          </a:xfrm>
          <a:prstGeom prst="roundRect">
            <a:avLst>
              <a:gd name="adj" fmla="val 2286"/>
            </a:avLst>
          </a:prstGeom>
          <a:solidFill>
            <a:srgbClr val="FFFFFF"/>
          </a:solidFill>
          <a:ln w="15875">
            <a:solidFill>
              <a:srgbClr val="D49A00"/>
            </a:solidFill>
            <a:prstDash val="solid"/>
          </a:ln>
        </p:spPr>
      </p:sp>
      <p:sp>
        <p:nvSpPr>
          <p:cNvPr id="18" name="Text 15"/>
          <p:cNvSpPr txBox="1"/>
          <p:nvPr/>
        </p:nvSpPr>
        <p:spPr>
          <a:xfrm>
            <a:off x="594360" y="1344168"/>
            <a:ext cx="1828800" cy="228600"/>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Cluster</a:t>
            </a:r>
            <a:endParaRPr lang="en-US" sz="1200" dirty="0"/>
          </a:p>
        </p:txBody>
      </p:sp>
      <p:sp>
        <p:nvSpPr>
          <p:cNvPr id="19" name="Text 16"/>
          <p:cNvSpPr txBox="1"/>
          <p:nvPr/>
        </p:nvSpPr>
        <p:spPr>
          <a:xfrm>
            <a:off x="1280160" y="1362456"/>
            <a:ext cx="3931920" cy="201168"/>
          </a:xfrm>
          <a:prstGeom prst="rect">
            <a:avLst/>
          </a:prstGeom>
          <a:noFill/>
          <a:ln/>
        </p:spPr>
        <p:txBody>
          <a:bodyPr wrap="square" lIns="0" tIns="0" rIns="0" bIns="0" rtlCol="0" anchor="t"/>
          <a:lstStyle/>
          <a:p>
            <a:pPr marL="0" indent="0" algn="r">
              <a:buNone/>
            </a:pPr>
            <a:r>
              <a:rPr lang="en-US" sz="850" i="1" dirty="0">
                <a:solidFill>
                  <a:srgbClr val="5E6964"/>
                </a:solidFill>
                <a:latin typeface="Calibri" pitchFamily="34" charset="0"/>
                <a:ea typeface="Calibri" pitchFamily="34" charset="-122"/>
                <a:cs typeface="Calibri" pitchFamily="34" charset="-120"/>
              </a:rPr>
              <a:t>index : ookla-tiles  ·  3 shards primaires (P) + 1 réplique chacun (R)</a:t>
            </a:r>
            <a:endParaRPr lang="en-US" sz="850" dirty="0"/>
          </a:p>
        </p:txBody>
      </p:sp>
      <p:sp>
        <p:nvSpPr>
          <p:cNvPr id="20" name="Shape 17"/>
          <p:cNvSpPr/>
          <p:nvPr/>
        </p:nvSpPr>
        <p:spPr>
          <a:xfrm>
            <a:off x="640080" y="1691640"/>
            <a:ext cx="1417320" cy="2057400"/>
          </a:xfrm>
          <a:prstGeom prst="roundRect">
            <a:avLst>
              <a:gd name="adj" fmla="val 5161"/>
            </a:avLst>
          </a:prstGeom>
          <a:solidFill>
            <a:srgbClr val="F4F7F5"/>
          </a:solidFill>
          <a:ln w="9525">
            <a:solidFill>
              <a:srgbClr val="D5DED9"/>
            </a:solidFill>
            <a:prstDash val="solid"/>
          </a:ln>
        </p:spPr>
      </p:sp>
      <p:pic>
        <p:nvPicPr>
          <p:cNvPr id="21" name="Image 0" descr="preencoded.png"/>
          <p:cNvPicPr>
            <a:picLocks noChangeAspect="1"/>
          </p:cNvPicPr>
          <p:nvPr/>
        </p:nvPicPr>
        <p:blipFill>
          <a:blip r:embed="rId3"/>
          <a:stretch>
            <a:fillRect/>
          </a:stretch>
        </p:blipFill>
        <p:spPr>
          <a:xfrm>
            <a:off x="1207008" y="1783080"/>
            <a:ext cx="274320" cy="274320"/>
          </a:xfrm>
          <a:prstGeom prst="rect">
            <a:avLst/>
          </a:prstGeom>
        </p:spPr>
      </p:pic>
      <p:sp>
        <p:nvSpPr>
          <p:cNvPr id="22" name="Text 18"/>
          <p:cNvSpPr txBox="1"/>
          <p:nvPr/>
        </p:nvSpPr>
        <p:spPr>
          <a:xfrm>
            <a:off x="640080" y="2084832"/>
            <a:ext cx="1417320" cy="201168"/>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Nœud 1</a:t>
            </a:r>
            <a:endParaRPr lang="en-US" sz="1000" dirty="0"/>
          </a:p>
        </p:txBody>
      </p:sp>
      <p:sp>
        <p:nvSpPr>
          <p:cNvPr id="23" name="Shape 19"/>
          <p:cNvSpPr/>
          <p:nvPr/>
        </p:nvSpPr>
        <p:spPr>
          <a:xfrm>
            <a:off x="777240" y="2377440"/>
            <a:ext cx="1143000" cy="512064"/>
          </a:xfrm>
          <a:prstGeom prst="roundRect">
            <a:avLst>
              <a:gd name="adj" fmla="val 8929"/>
            </a:avLst>
          </a:prstGeom>
          <a:solidFill>
            <a:srgbClr val="D49A00"/>
          </a:solidFill>
          <a:ln w="15875">
            <a:solidFill>
              <a:srgbClr val="D49A00"/>
            </a:solidFill>
            <a:prstDash val="solid"/>
          </a:ln>
        </p:spPr>
      </p:sp>
      <p:sp>
        <p:nvSpPr>
          <p:cNvPr id="24" name="Text 20"/>
          <p:cNvSpPr txBox="1"/>
          <p:nvPr/>
        </p:nvSpPr>
        <p:spPr>
          <a:xfrm>
            <a:off x="777240" y="2377440"/>
            <a:ext cx="114300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P0</a:t>
            </a:r>
            <a:endParaRPr lang="en-US" sz="1300" dirty="0"/>
          </a:p>
          <a:p>
            <a:pPr marL="0" indent="0" algn="ctr">
              <a:buNone/>
            </a:pPr>
            <a:r>
              <a:rPr lang="en-US" sz="800" dirty="0">
                <a:solidFill>
                  <a:srgbClr val="FFFFFF"/>
                </a:solidFill>
                <a:latin typeface="Calibri" pitchFamily="34" charset="0"/>
                <a:ea typeface="Calibri" pitchFamily="34" charset="-122"/>
                <a:cs typeface="Calibri" pitchFamily="34" charset="-120"/>
              </a:rPr>
              <a:t>primaire</a:t>
            </a:r>
            <a:endParaRPr lang="en-US" sz="1300" dirty="0"/>
          </a:p>
        </p:txBody>
      </p:sp>
      <p:sp>
        <p:nvSpPr>
          <p:cNvPr id="25" name="Shape 21"/>
          <p:cNvSpPr/>
          <p:nvPr/>
        </p:nvSpPr>
        <p:spPr>
          <a:xfrm>
            <a:off x="777240" y="3017520"/>
            <a:ext cx="1143000" cy="512064"/>
          </a:xfrm>
          <a:prstGeom prst="roundRect">
            <a:avLst>
              <a:gd name="adj" fmla="val 8929"/>
            </a:avLst>
          </a:prstGeom>
          <a:solidFill>
            <a:srgbClr val="FFFFFF"/>
          </a:solidFill>
          <a:ln w="15875">
            <a:solidFill>
              <a:srgbClr val="D49A00"/>
            </a:solidFill>
            <a:prstDash val="solid"/>
          </a:ln>
        </p:spPr>
      </p:sp>
      <p:sp>
        <p:nvSpPr>
          <p:cNvPr id="26" name="Text 22"/>
          <p:cNvSpPr txBox="1"/>
          <p:nvPr/>
        </p:nvSpPr>
        <p:spPr>
          <a:xfrm>
            <a:off x="777240" y="3017520"/>
            <a:ext cx="1143000" cy="512064"/>
          </a:xfrm>
          <a:prstGeom prst="rect">
            <a:avLst/>
          </a:prstGeom>
          <a:noFill/>
          <a:ln/>
        </p:spPr>
        <p:txBody>
          <a:bodyPr wrap="square" lIns="0" tIns="0" rIns="0" bIns="0" rtlCol="0" anchor="ctr"/>
          <a:lstStyle/>
          <a:p>
            <a:pPr marL="0" indent="0" algn="ctr">
              <a:buNone/>
            </a:pPr>
            <a:r>
              <a:rPr lang="en-US" sz="1300" b="1" dirty="0">
                <a:solidFill>
                  <a:srgbClr val="D49A00"/>
                </a:solidFill>
                <a:latin typeface="Calibri" pitchFamily="34" charset="0"/>
                <a:ea typeface="Calibri" pitchFamily="34" charset="-122"/>
                <a:cs typeface="Calibri" pitchFamily="34" charset="-120"/>
              </a:rPr>
              <a:t>R1</a:t>
            </a:r>
            <a:endParaRPr lang="en-US" sz="1300" dirty="0"/>
          </a:p>
          <a:p>
            <a:pPr marL="0" indent="0" algn="ctr">
              <a:buNone/>
            </a:pPr>
            <a:r>
              <a:rPr lang="en-US" sz="800" dirty="0">
                <a:solidFill>
                  <a:srgbClr val="D49A00"/>
                </a:solidFill>
                <a:latin typeface="Calibri" pitchFamily="34" charset="0"/>
                <a:ea typeface="Calibri" pitchFamily="34" charset="-122"/>
                <a:cs typeface="Calibri" pitchFamily="34" charset="-120"/>
              </a:rPr>
              <a:t>réplique</a:t>
            </a:r>
            <a:endParaRPr lang="en-US" sz="1300" dirty="0"/>
          </a:p>
        </p:txBody>
      </p:sp>
      <p:sp>
        <p:nvSpPr>
          <p:cNvPr id="27" name="Shape 23"/>
          <p:cNvSpPr/>
          <p:nvPr/>
        </p:nvSpPr>
        <p:spPr>
          <a:xfrm>
            <a:off x="2212848" y="1691640"/>
            <a:ext cx="1417320" cy="2057400"/>
          </a:xfrm>
          <a:prstGeom prst="roundRect">
            <a:avLst>
              <a:gd name="adj" fmla="val 5161"/>
            </a:avLst>
          </a:prstGeom>
          <a:solidFill>
            <a:srgbClr val="F4F7F5"/>
          </a:solidFill>
          <a:ln w="9525">
            <a:solidFill>
              <a:srgbClr val="D5DED9"/>
            </a:solidFill>
            <a:prstDash val="solid"/>
          </a:ln>
        </p:spPr>
      </p:sp>
      <p:pic>
        <p:nvPicPr>
          <p:cNvPr id="28" name="Image 1" descr="preencoded.png"/>
          <p:cNvPicPr>
            <a:picLocks noChangeAspect="1"/>
          </p:cNvPicPr>
          <p:nvPr/>
        </p:nvPicPr>
        <p:blipFill>
          <a:blip r:embed="rId3"/>
          <a:stretch>
            <a:fillRect/>
          </a:stretch>
        </p:blipFill>
        <p:spPr>
          <a:xfrm>
            <a:off x="2779776" y="1783080"/>
            <a:ext cx="274320" cy="274320"/>
          </a:xfrm>
          <a:prstGeom prst="rect">
            <a:avLst/>
          </a:prstGeom>
        </p:spPr>
      </p:pic>
      <p:sp>
        <p:nvSpPr>
          <p:cNvPr id="29" name="Text 24"/>
          <p:cNvSpPr txBox="1"/>
          <p:nvPr/>
        </p:nvSpPr>
        <p:spPr>
          <a:xfrm>
            <a:off x="2212848" y="2084832"/>
            <a:ext cx="1417320" cy="201168"/>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Nœud 2</a:t>
            </a:r>
            <a:endParaRPr lang="en-US" sz="1000" dirty="0"/>
          </a:p>
        </p:txBody>
      </p:sp>
      <p:sp>
        <p:nvSpPr>
          <p:cNvPr id="30" name="Shape 25"/>
          <p:cNvSpPr/>
          <p:nvPr/>
        </p:nvSpPr>
        <p:spPr>
          <a:xfrm>
            <a:off x="2350008" y="2377440"/>
            <a:ext cx="1143000" cy="512064"/>
          </a:xfrm>
          <a:prstGeom prst="roundRect">
            <a:avLst>
              <a:gd name="adj" fmla="val 8929"/>
            </a:avLst>
          </a:prstGeom>
          <a:solidFill>
            <a:srgbClr val="D49A00"/>
          </a:solidFill>
          <a:ln w="15875">
            <a:solidFill>
              <a:srgbClr val="D49A00"/>
            </a:solidFill>
            <a:prstDash val="solid"/>
          </a:ln>
        </p:spPr>
      </p:sp>
      <p:sp>
        <p:nvSpPr>
          <p:cNvPr id="31" name="Text 26"/>
          <p:cNvSpPr txBox="1"/>
          <p:nvPr/>
        </p:nvSpPr>
        <p:spPr>
          <a:xfrm>
            <a:off x="2350008" y="2377440"/>
            <a:ext cx="114300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P1</a:t>
            </a:r>
            <a:endParaRPr lang="en-US" sz="1300" dirty="0"/>
          </a:p>
          <a:p>
            <a:pPr marL="0" indent="0" algn="ctr">
              <a:buNone/>
            </a:pPr>
            <a:r>
              <a:rPr lang="en-US" sz="800" dirty="0">
                <a:solidFill>
                  <a:srgbClr val="FFFFFF"/>
                </a:solidFill>
                <a:latin typeface="Calibri" pitchFamily="34" charset="0"/>
                <a:ea typeface="Calibri" pitchFamily="34" charset="-122"/>
                <a:cs typeface="Calibri" pitchFamily="34" charset="-120"/>
              </a:rPr>
              <a:t>primaire</a:t>
            </a:r>
            <a:endParaRPr lang="en-US" sz="1300" dirty="0"/>
          </a:p>
        </p:txBody>
      </p:sp>
      <p:sp>
        <p:nvSpPr>
          <p:cNvPr id="32" name="Shape 27"/>
          <p:cNvSpPr/>
          <p:nvPr/>
        </p:nvSpPr>
        <p:spPr>
          <a:xfrm>
            <a:off x="2350008" y="3017520"/>
            <a:ext cx="1143000" cy="512064"/>
          </a:xfrm>
          <a:prstGeom prst="roundRect">
            <a:avLst>
              <a:gd name="adj" fmla="val 8929"/>
            </a:avLst>
          </a:prstGeom>
          <a:solidFill>
            <a:srgbClr val="FFFFFF"/>
          </a:solidFill>
          <a:ln w="15875">
            <a:solidFill>
              <a:srgbClr val="D49A00"/>
            </a:solidFill>
            <a:prstDash val="solid"/>
          </a:ln>
        </p:spPr>
      </p:sp>
      <p:sp>
        <p:nvSpPr>
          <p:cNvPr id="33" name="Text 28"/>
          <p:cNvSpPr txBox="1"/>
          <p:nvPr/>
        </p:nvSpPr>
        <p:spPr>
          <a:xfrm>
            <a:off x="2350008" y="3017520"/>
            <a:ext cx="1143000" cy="512064"/>
          </a:xfrm>
          <a:prstGeom prst="rect">
            <a:avLst/>
          </a:prstGeom>
          <a:noFill/>
          <a:ln/>
        </p:spPr>
        <p:txBody>
          <a:bodyPr wrap="square" lIns="0" tIns="0" rIns="0" bIns="0" rtlCol="0" anchor="ctr"/>
          <a:lstStyle/>
          <a:p>
            <a:pPr marL="0" indent="0" algn="ctr">
              <a:buNone/>
            </a:pPr>
            <a:r>
              <a:rPr lang="en-US" sz="1300" b="1" dirty="0">
                <a:solidFill>
                  <a:srgbClr val="D49A00"/>
                </a:solidFill>
                <a:latin typeface="Calibri" pitchFamily="34" charset="0"/>
                <a:ea typeface="Calibri" pitchFamily="34" charset="-122"/>
                <a:cs typeface="Calibri" pitchFamily="34" charset="-120"/>
              </a:rPr>
              <a:t>R2</a:t>
            </a:r>
            <a:endParaRPr lang="en-US" sz="1300" dirty="0"/>
          </a:p>
          <a:p>
            <a:pPr marL="0" indent="0" algn="ctr">
              <a:buNone/>
            </a:pPr>
            <a:r>
              <a:rPr lang="en-US" sz="800" dirty="0">
                <a:solidFill>
                  <a:srgbClr val="D49A00"/>
                </a:solidFill>
                <a:latin typeface="Calibri" pitchFamily="34" charset="0"/>
                <a:ea typeface="Calibri" pitchFamily="34" charset="-122"/>
                <a:cs typeface="Calibri" pitchFamily="34" charset="-120"/>
              </a:rPr>
              <a:t>réplique</a:t>
            </a:r>
            <a:endParaRPr lang="en-US" sz="1300" dirty="0"/>
          </a:p>
        </p:txBody>
      </p:sp>
      <p:sp>
        <p:nvSpPr>
          <p:cNvPr id="34" name="Shape 29"/>
          <p:cNvSpPr/>
          <p:nvPr/>
        </p:nvSpPr>
        <p:spPr>
          <a:xfrm>
            <a:off x="3785616" y="1691640"/>
            <a:ext cx="1417320" cy="2057400"/>
          </a:xfrm>
          <a:prstGeom prst="roundRect">
            <a:avLst>
              <a:gd name="adj" fmla="val 5161"/>
            </a:avLst>
          </a:prstGeom>
          <a:solidFill>
            <a:srgbClr val="F4F7F5"/>
          </a:solidFill>
          <a:ln w="9525">
            <a:solidFill>
              <a:srgbClr val="D5DED9"/>
            </a:solidFill>
            <a:prstDash val="solid"/>
          </a:ln>
        </p:spPr>
      </p:sp>
      <p:pic>
        <p:nvPicPr>
          <p:cNvPr id="35" name="Image 2" descr="preencoded.png"/>
          <p:cNvPicPr>
            <a:picLocks noChangeAspect="1"/>
          </p:cNvPicPr>
          <p:nvPr/>
        </p:nvPicPr>
        <p:blipFill>
          <a:blip r:embed="rId3"/>
          <a:stretch>
            <a:fillRect/>
          </a:stretch>
        </p:blipFill>
        <p:spPr>
          <a:xfrm>
            <a:off x="4352544" y="1783080"/>
            <a:ext cx="274320" cy="274320"/>
          </a:xfrm>
          <a:prstGeom prst="rect">
            <a:avLst/>
          </a:prstGeom>
        </p:spPr>
      </p:pic>
      <p:sp>
        <p:nvSpPr>
          <p:cNvPr id="36" name="Text 30"/>
          <p:cNvSpPr txBox="1"/>
          <p:nvPr/>
        </p:nvSpPr>
        <p:spPr>
          <a:xfrm>
            <a:off x="3785616" y="2084832"/>
            <a:ext cx="1417320" cy="201168"/>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Nœud 3</a:t>
            </a:r>
            <a:endParaRPr lang="en-US" sz="1000" dirty="0"/>
          </a:p>
        </p:txBody>
      </p:sp>
      <p:sp>
        <p:nvSpPr>
          <p:cNvPr id="37" name="Shape 31"/>
          <p:cNvSpPr/>
          <p:nvPr/>
        </p:nvSpPr>
        <p:spPr>
          <a:xfrm>
            <a:off x="3922776" y="2377440"/>
            <a:ext cx="1143000" cy="512064"/>
          </a:xfrm>
          <a:prstGeom prst="roundRect">
            <a:avLst>
              <a:gd name="adj" fmla="val 8929"/>
            </a:avLst>
          </a:prstGeom>
          <a:solidFill>
            <a:srgbClr val="D49A00"/>
          </a:solidFill>
          <a:ln w="15875">
            <a:solidFill>
              <a:srgbClr val="D49A00"/>
            </a:solidFill>
            <a:prstDash val="solid"/>
          </a:ln>
        </p:spPr>
      </p:sp>
      <p:sp>
        <p:nvSpPr>
          <p:cNvPr id="38" name="Text 32"/>
          <p:cNvSpPr txBox="1"/>
          <p:nvPr/>
        </p:nvSpPr>
        <p:spPr>
          <a:xfrm>
            <a:off x="3922776" y="2377440"/>
            <a:ext cx="114300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P2</a:t>
            </a:r>
            <a:endParaRPr lang="en-US" sz="1300" dirty="0"/>
          </a:p>
          <a:p>
            <a:pPr marL="0" indent="0" algn="ctr">
              <a:buNone/>
            </a:pPr>
            <a:r>
              <a:rPr lang="en-US" sz="800" dirty="0">
                <a:solidFill>
                  <a:srgbClr val="FFFFFF"/>
                </a:solidFill>
                <a:latin typeface="Calibri" pitchFamily="34" charset="0"/>
                <a:ea typeface="Calibri" pitchFamily="34" charset="-122"/>
                <a:cs typeface="Calibri" pitchFamily="34" charset="-120"/>
              </a:rPr>
              <a:t>primaire</a:t>
            </a:r>
            <a:endParaRPr lang="en-US" sz="1300" dirty="0"/>
          </a:p>
        </p:txBody>
      </p:sp>
      <p:sp>
        <p:nvSpPr>
          <p:cNvPr id="39" name="Shape 33"/>
          <p:cNvSpPr/>
          <p:nvPr/>
        </p:nvSpPr>
        <p:spPr>
          <a:xfrm>
            <a:off x="3922776" y="3017520"/>
            <a:ext cx="1143000" cy="512064"/>
          </a:xfrm>
          <a:prstGeom prst="roundRect">
            <a:avLst>
              <a:gd name="adj" fmla="val 8929"/>
            </a:avLst>
          </a:prstGeom>
          <a:solidFill>
            <a:srgbClr val="FFFFFF"/>
          </a:solidFill>
          <a:ln w="15875">
            <a:solidFill>
              <a:srgbClr val="D49A00"/>
            </a:solidFill>
            <a:prstDash val="solid"/>
          </a:ln>
        </p:spPr>
      </p:sp>
      <p:sp>
        <p:nvSpPr>
          <p:cNvPr id="40" name="Text 34"/>
          <p:cNvSpPr txBox="1"/>
          <p:nvPr/>
        </p:nvSpPr>
        <p:spPr>
          <a:xfrm>
            <a:off x="3922776" y="3017520"/>
            <a:ext cx="1143000" cy="512064"/>
          </a:xfrm>
          <a:prstGeom prst="rect">
            <a:avLst/>
          </a:prstGeom>
          <a:noFill/>
          <a:ln/>
        </p:spPr>
        <p:txBody>
          <a:bodyPr wrap="square" lIns="0" tIns="0" rIns="0" bIns="0" rtlCol="0" anchor="ctr"/>
          <a:lstStyle/>
          <a:p>
            <a:pPr marL="0" indent="0" algn="ctr">
              <a:buNone/>
            </a:pPr>
            <a:r>
              <a:rPr lang="en-US" sz="1300" b="1" dirty="0">
                <a:solidFill>
                  <a:srgbClr val="D49A00"/>
                </a:solidFill>
                <a:latin typeface="Calibri" pitchFamily="34" charset="0"/>
                <a:ea typeface="Calibri" pitchFamily="34" charset="-122"/>
                <a:cs typeface="Calibri" pitchFamily="34" charset="-120"/>
              </a:rPr>
              <a:t>R0</a:t>
            </a:r>
            <a:endParaRPr lang="en-US" sz="1300" dirty="0"/>
          </a:p>
          <a:p>
            <a:pPr marL="0" indent="0" algn="ctr">
              <a:buNone/>
            </a:pPr>
            <a:r>
              <a:rPr lang="en-US" sz="800" dirty="0">
                <a:solidFill>
                  <a:srgbClr val="D49A00"/>
                </a:solidFill>
                <a:latin typeface="Calibri" pitchFamily="34" charset="0"/>
                <a:ea typeface="Calibri" pitchFamily="34" charset="-122"/>
                <a:cs typeface="Calibri" pitchFamily="34" charset="-120"/>
              </a:rPr>
              <a:t>réplique</a:t>
            </a:r>
            <a:endParaRPr lang="en-US" sz="1300" dirty="0"/>
          </a:p>
        </p:txBody>
      </p:sp>
      <p:sp>
        <p:nvSpPr>
          <p:cNvPr id="41" name="Text 35"/>
          <p:cNvSpPr txBox="1"/>
          <p:nvPr/>
        </p:nvSpPr>
        <p:spPr>
          <a:xfrm>
            <a:off x="640080" y="3822192"/>
            <a:ext cx="4480560" cy="59436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Une réplique n’est jamais sur le même nœud que son primaire : on peut perdre un nœud sans perdre de données — et les répliques servent aussi les requêtes.</a:t>
            </a:r>
            <a:endParaRPr lang="en-US" sz="900" dirty="0"/>
          </a:p>
        </p:txBody>
      </p:sp>
      <p:sp>
        <p:nvSpPr>
          <p:cNvPr id="42" name="Text 36"/>
          <p:cNvSpPr txBox="1"/>
          <p:nvPr/>
        </p:nvSpPr>
        <p:spPr>
          <a:xfrm>
            <a:off x="5532120" y="1280160"/>
            <a:ext cx="31089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Si vous pensez en SQL…</a:t>
            </a:r>
            <a:endParaRPr lang="en-US" sz="1300" dirty="0"/>
          </a:p>
        </p:txBody>
      </p:sp>
      <p:sp>
        <p:nvSpPr>
          <p:cNvPr id="43" name="Shape 37"/>
          <p:cNvSpPr/>
          <p:nvPr/>
        </p:nvSpPr>
        <p:spPr>
          <a:xfrm>
            <a:off x="5532120" y="1627632"/>
            <a:ext cx="3154680" cy="402336"/>
          </a:xfrm>
          <a:prstGeom prst="roundRect">
            <a:avLst>
              <a:gd name="adj" fmla="val 18182"/>
            </a:avLst>
          </a:prstGeom>
          <a:solidFill>
            <a:srgbClr val="F4F7F5"/>
          </a:solidFill>
          <a:ln w="9525">
            <a:solidFill>
              <a:srgbClr val="D5DED9"/>
            </a:solidFill>
            <a:prstDash val="solid"/>
          </a:ln>
        </p:spPr>
      </p:sp>
      <p:sp>
        <p:nvSpPr>
          <p:cNvPr id="44" name="Text 38"/>
          <p:cNvSpPr txBox="1"/>
          <p:nvPr/>
        </p:nvSpPr>
        <p:spPr>
          <a:xfrm>
            <a:off x="5596128" y="1627632"/>
            <a:ext cx="960120"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Table</a:t>
            </a:r>
            <a:endParaRPr lang="en-US" sz="950" dirty="0"/>
          </a:p>
        </p:txBody>
      </p:sp>
      <p:sp>
        <p:nvSpPr>
          <p:cNvPr id="45" name="Text 39"/>
          <p:cNvSpPr txBox="1"/>
          <p:nvPr/>
        </p:nvSpPr>
        <p:spPr>
          <a:xfrm>
            <a:off x="6556248" y="1627632"/>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46" name="Text 40"/>
          <p:cNvSpPr txBox="1"/>
          <p:nvPr/>
        </p:nvSpPr>
        <p:spPr>
          <a:xfrm>
            <a:off x="6748272" y="1627632"/>
            <a:ext cx="1901952"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Index</a:t>
            </a:r>
            <a:endParaRPr lang="en-US" sz="950" dirty="0"/>
          </a:p>
        </p:txBody>
      </p:sp>
      <p:sp>
        <p:nvSpPr>
          <p:cNvPr id="47" name="Shape 41"/>
          <p:cNvSpPr/>
          <p:nvPr/>
        </p:nvSpPr>
        <p:spPr>
          <a:xfrm>
            <a:off x="5532120" y="2103120"/>
            <a:ext cx="3154680" cy="402336"/>
          </a:xfrm>
          <a:prstGeom prst="roundRect">
            <a:avLst>
              <a:gd name="adj" fmla="val 18182"/>
            </a:avLst>
          </a:prstGeom>
          <a:solidFill>
            <a:srgbClr val="FFFFFF"/>
          </a:solidFill>
          <a:ln w="9525">
            <a:solidFill>
              <a:srgbClr val="D5DED9"/>
            </a:solidFill>
            <a:prstDash val="solid"/>
          </a:ln>
        </p:spPr>
      </p:sp>
      <p:sp>
        <p:nvSpPr>
          <p:cNvPr id="48" name="Text 42"/>
          <p:cNvSpPr txBox="1"/>
          <p:nvPr/>
        </p:nvSpPr>
        <p:spPr>
          <a:xfrm>
            <a:off x="5596128" y="2103120"/>
            <a:ext cx="960120"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Ligne</a:t>
            </a:r>
            <a:endParaRPr lang="en-US" sz="950" dirty="0"/>
          </a:p>
        </p:txBody>
      </p:sp>
      <p:sp>
        <p:nvSpPr>
          <p:cNvPr id="49" name="Text 43"/>
          <p:cNvSpPr txBox="1"/>
          <p:nvPr/>
        </p:nvSpPr>
        <p:spPr>
          <a:xfrm>
            <a:off x="6556248" y="2103120"/>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0" name="Text 44"/>
          <p:cNvSpPr txBox="1"/>
          <p:nvPr/>
        </p:nvSpPr>
        <p:spPr>
          <a:xfrm>
            <a:off x="6748272" y="2103120"/>
            <a:ext cx="1901952"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Document (JSON)</a:t>
            </a:r>
            <a:endParaRPr lang="en-US" sz="950" dirty="0"/>
          </a:p>
        </p:txBody>
      </p:sp>
      <p:sp>
        <p:nvSpPr>
          <p:cNvPr id="51" name="Shape 45"/>
          <p:cNvSpPr/>
          <p:nvPr/>
        </p:nvSpPr>
        <p:spPr>
          <a:xfrm>
            <a:off x="5532120" y="2578608"/>
            <a:ext cx="3154680" cy="402336"/>
          </a:xfrm>
          <a:prstGeom prst="roundRect">
            <a:avLst>
              <a:gd name="adj" fmla="val 18182"/>
            </a:avLst>
          </a:prstGeom>
          <a:solidFill>
            <a:srgbClr val="F4F7F5"/>
          </a:solidFill>
          <a:ln w="9525">
            <a:solidFill>
              <a:srgbClr val="D5DED9"/>
            </a:solidFill>
            <a:prstDash val="solid"/>
          </a:ln>
        </p:spPr>
      </p:sp>
      <p:sp>
        <p:nvSpPr>
          <p:cNvPr id="52" name="Text 46"/>
          <p:cNvSpPr txBox="1"/>
          <p:nvPr/>
        </p:nvSpPr>
        <p:spPr>
          <a:xfrm>
            <a:off x="5596128" y="2578608"/>
            <a:ext cx="960120"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Schéma</a:t>
            </a:r>
            <a:endParaRPr lang="en-US" sz="950" dirty="0"/>
          </a:p>
        </p:txBody>
      </p:sp>
      <p:sp>
        <p:nvSpPr>
          <p:cNvPr id="53" name="Text 47"/>
          <p:cNvSpPr txBox="1"/>
          <p:nvPr/>
        </p:nvSpPr>
        <p:spPr>
          <a:xfrm>
            <a:off x="6556248" y="2578608"/>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4" name="Text 48"/>
          <p:cNvSpPr txBox="1"/>
          <p:nvPr/>
        </p:nvSpPr>
        <p:spPr>
          <a:xfrm>
            <a:off x="6748272" y="2578608"/>
            <a:ext cx="1901952"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Mapping</a:t>
            </a:r>
            <a:endParaRPr lang="en-US" sz="950" dirty="0"/>
          </a:p>
        </p:txBody>
      </p:sp>
      <p:sp>
        <p:nvSpPr>
          <p:cNvPr id="55" name="Shape 49"/>
          <p:cNvSpPr/>
          <p:nvPr/>
        </p:nvSpPr>
        <p:spPr>
          <a:xfrm>
            <a:off x="5532120" y="3054096"/>
            <a:ext cx="3154680" cy="402336"/>
          </a:xfrm>
          <a:prstGeom prst="roundRect">
            <a:avLst>
              <a:gd name="adj" fmla="val 18182"/>
            </a:avLst>
          </a:prstGeom>
          <a:solidFill>
            <a:srgbClr val="FFFFFF"/>
          </a:solidFill>
          <a:ln w="9525">
            <a:solidFill>
              <a:srgbClr val="D5DED9"/>
            </a:solidFill>
            <a:prstDash val="solid"/>
          </a:ln>
        </p:spPr>
      </p:sp>
      <p:sp>
        <p:nvSpPr>
          <p:cNvPr id="56" name="Text 50"/>
          <p:cNvSpPr txBox="1"/>
          <p:nvPr/>
        </p:nvSpPr>
        <p:spPr>
          <a:xfrm>
            <a:off x="5596128" y="3054096"/>
            <a:ext cx="960120"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Type de colonne</a:t>
            </a:r>
            <a:endParaRPr lang="en-US" sz="950" dirty="0"/>
          </a:p>
        </p:txBody>
      </p:sp>
      <p:sp>
        <p:nvSpPr>
          <p:cNvPr id="57" name="Text 51"/>
          <p:cNvSpPr txBox="1"/>
          <p:nvPr/>
        </p:nvSpPr>
        <p:spPr>
          <a:xfrm>
            <a:off x="6556248" y="3054096"/>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8" name="Text 52"/>
          <p:cNvSpPr txBox="1"/>
          <p:nvPr/>
        </p:nvSpPr>
        <p:spPr>
          <a:xfrm>
            <a:off x="6748272" y="3054096"/>
            <a:ext cx="1901952"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Type de champ : keyword, integer, geo_shape…</a:t>
            </a:r>
            <a:endParaRPr lang="en-US" sz="950" dirty="0"/>
          </a:p>
        </p:txBody>
      </p:sp>
      <p:sp>
        <p:nvSpPr>
          <p:cNvPr id="59" name="Shape 53"/>
          <p:cNvSpPr/>
          <p:nvPr/>
        </p:nvSpPr>
        <p:spPr>
          <a:xfrm>
            <a:off x="5532120" y="3529584"/>
            <a:ext cx="3154680" cy="402336"/>
          </a:xfrm>
          <a:prstGeom prst="roundRect">
            <a:avLst>
              <a:gd name="adj" fmla="val 18182"/>
            </a:avLst>
          </a:prstGeom>
          <a:solidFill>
            <a:srgbClr val="F4F7F5"/>
          </a:solidFill>
          <a:ln w="9525">
            <a:solidFill>
              <a:srgbClr val="D5DED9"/>
            </a:solidFill>
            <a:prstDash val="solid"/>
          </a:ln>
        </p:spPr>
      </p:sp>
      <p:sp>
        <p:nvSpPr>
          <p:cNvPr id="60" name="Text 54"/>
          <p:cNvSpPr txBox="1"/>
          <p:nvPr/>
        </p:nvSpPr>
        <p:spPr>
          <a:xfrm>
            <a:off x="5596128" y="3529584"/>
            <a:ext cx="960120"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WHERE</a:t>
            </a:r>
            <a:endParaRPr lang="en-US" sz="950" dirty="0"/>
          </a:p>
        </p:txBody>
      </p:sp>
      <p:sp>
        <p:nvSpPr>
          <p:cNvPr id="61" name="Text 55"/>
          <p:cNvSpPr txBox="1"/>
          <p:nvPr/>
        </p:nvSpPr>
        <p:spPr>
          <a:xfrm>
            <a:off x="6556248" y="3529584"/>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62" name="Text 56"/>
          <p:cNvSpPr txBox="1"/>
          <p:nvPr/>
        </p:nvSpPr>
        <p:spPr>
          <a:xfrm>
            <a:off x="6748272" y="3529584"/>
            <a:ext cx="1901952"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Requête (bool, term, range, geo_shape)</a:t>
            </a:r>
            <a:endParaRPr lang="en-US" sz="950" dirty="0"/>
          </a:p>
        </p:txBody>
      </p:sp>
      <p:sp>
        <p:nvSpPr>
          <p:cNvPr id="63" name="Shape 57"/>
          <p:cNvSpPr/>
          <p:nvPr/>
        </p:nvSpPr>
        <p:spPr>
          <a:xfrm>
            <a:off x="5532120" y="4005072"/>
            <a:ext cx="3154680" cy="402336"/>
          </a:xfrm>
          <a:prstGeom prst="roundRect">
            <a:avLst>
              <a:gd name="adj" fmla="val 18182"/>
            </a:avLst>
          </a:prstGeom>
          <a:solidFill>
            <a:srgbClr val="FFFFFF"/>
          </a:solidFill>
          <a:ln w="9525">
            <a:solidFill>
              <a:srgbClr val="D5DED9"/>
            </a:solidFill>
            <a:prstDash val="solid"/>
          </a:ln>
        </p:spPr>
      </p:sp>
      <p:sp>
        <p:nvSpPr>
          <p:cNvPr id="64" name="Text 58"/>
          <p:cNvSpPr txBox="1"/>
          <p:nvPr/>
        </p:nvSpPr>
        <p:spPr>
          <a:xfrm>
            <a:off x="5596128" y="4005072"/>
            <a:ext cx="960120"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GROUP BY</a:t>
            </a:r>
            <a:endParaRPr lang="en-US" sz="950" dirty="0"/>
          </a:p>
        </p:txBody>
      </p:sp>
      <p:sp>
        <p:nvSpPr>
          <p:cNvPr id="65" name="Text 59"/>
          <p:cNvSpPr txBox="1"/>
          <p:nvPr/>
        </p:nvSpPr>
        <p:spPr>
          <a:xfrm>
            <a:off x="6556248" y="4005072"/>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66" name="Text 60"/>
          <p:cNvSpPr txBox="1"/>
          <p:nvPr/>
        </p:nvSpPr>
        <p:spPr>
          <a:xfrm>
            <a:off x="6748272" y="4005072"/>
            <a:ext cx="1901952"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Agrégation (terms, weighted_avg…)</a:t>
            </a:r>
            <a:endParaRPr lang="en-US" sz="950" dirty="0"/>
          </a:p>
        </p:txBody>
      </p:sp>
      <p:sp>
        <p:nvSpPr>
          <p:cNvPr id="67" name="Text 61"/>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 Elasticsearch Reference (clusters, index, shards et mappings).</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Mapping et requête : ce que vous taperez en labo</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280160"/>
            <a:ext cx="347472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320040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1 · MAPPING — LE SCHÉMA</a:t>
            </a:r>
            <a:endParaRPr lang="en-US" sz="900" dirty="0"/>
          </a:p>
        </p:txBody>
      </p:sp>
      <p:sp>
        <p:nvSpPr>
          <p:cNvPr id="19" name="Text 16"/>
          <p:cNvSpPr txBox="1"/>
          <p:nvPr/>
        </p:nvSpPr>
        <p:spPr>
          <a:xfrm>
            <a:off x="594360" y="1609344"/>
            <a:ext cx="3200400" cy="2798064"/>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PUT ookla-tiles</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"mappings": { "properties":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"quadkey":    { "type": "keyword"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"admin1":     { "type": "keyword"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"quarter":    { "type": "date"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"avg_d_kbps": { "type": "integer"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"tests":      { "type": "integer"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"devices":    { "type": "integer"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"tile":       { "type": "geo_shape"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keyword   = valeur exacte</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(filtrer, regrouper)</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geo_shape = vrai polygone de tuile</a:t>
            </a:r>
            <a:endParaRPr lang="en-US" sz="950" dirty="0"/>
          </a:p>
        </p:txBody>
      </p:sp>
      <p:sp>
        <p:nvSpPr>
          <p:cNvPr id="20" name="Shape 17"/>
          <p:cNvSpPr/>
          <p:nvPr/>
        </p:nvSpPr>
        <p:spPr>
          <a:xfrm>
            <a:off x="4114800" y="1280160"/>
            <a:ext cx="4572000" cy="3200400"/>
          </a:xfrm>
          <a:prstGeom prst="roundRect">
            <a:avLst>
              <a:gd name="adj" fmla="val 2286"/>
            </a:avLst>
          </a:prstGeom>
          <a:solidFill>
            <a:srgbClr val="F4F7F5"/>
          </a:solidFill>
          <a:ln w="9525">
            <a:solidFill>
              <a:srgbClr val="D5DED9"/>
            </a:solidFill>
            <a:prstDash val="solid"/>
          </a:ln>
        </p:spPr>
      </p:sp>
      <p:sp>
        <p:nvSpPr>
          <p:cNvPr id="21" name="Text 18"/>
          <p:cNvSpPr txBox="1"/>
          <p:nvPr/>
        </p:nvSpPr>
        <p:spPr>
          <a:xfrm>
            <a:off x="4251960" y="1371600"/>
            <a:ext cx="429768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2 · REQUÊTE + AGRÉGATION — PAR RÉGION</a:t>
            </a:r>
            <a:endParaRPr lang="en-US" sz="900" dirty="0"/>
          </a:p>
        </p:txBody>
      </p:sp>
      <p:sp>
        <p:nvSpPr>
          <p:cNvPr id="22" name="Text 19"/>
          <p:cNvSpPr txBox="1"/>
          <p:nvPr/>
        </p:nvSpPr>
        <p:spPr>
          <a:xfrm>
            <a:off x="4251960" y="1609344"/>
            <a:ext cx="4297680" cy="2798064"/>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GET ookla-tiles/_search</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"size": 0,</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"query": { "geo_shape": { "tile":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"shape": { "type": "envelope",</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"coordinates": [[28.8, -1.0], [30.9, -2.9]]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"relation": "intersects"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"aggs": { "by_region":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"terms": { "field": "admin1"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"aggs": { "dl_weighted": { "weighted_avg":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"value":  { "field": "avg_d_kbps"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"weight": { "field": "tests" }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size 0 = ne renvoyer que l’agrégation</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envelope = [haut-gauche], [bas-droit], lon d’abord</a:t>
            </a:r>
            <a:endParaRPr lang="en-US" sz="950" dirty="0"/>
          </a:p>
        </p:txBody>
      </p:sp>
      <p:sp>
        <p:nvSpPr>
          <p:cNvPr id="23" name="Text 20"/>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 Elasticsearch Reference (requête geo_shape, agrégation weighted_avg). Rectangle approximatif du Rwanda ; le mapping du cluster de labo peut différer.</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Un moteur de recherche : quand est-ce utile ?</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7" name="Shape 14"/>
          <p:cNvSpPr/>
          <p:nvPr/>
        </p:nvSpPr>
        <p:spPr>
          <a:xfrm>
            <a:off x="2103120" y="1261872"/>
            <a:ext cx="2103120" cy="384048"/>
          </a:xfrm>
          <a:prstGeom prst="roundRect">
            <a:avLst>
              <a:gd name="adj" fmla="val 19048"/>
            </a:avLst>
          </a:prstGeom>
          <a:solidFill>
            <a:srgbClr val="F4F7F5"/>
          </a:solidFill>
          <a:ln w="9525">
            <a:solidFill>
              <a:srgbClr val="D5DED9"/>
            </a:solidFill>
            <a:prstDash val="solid"/>
          </a:ln>
        </p:spPr>
      </p:sp>
      <p:sp>
        <p:nvSpPr>
          <p:cNvPr id="18" name="Text 15"/>
          <p:cNvSpPr txBox="1"/>
          <p:nvPr/>
        </p:nvSpPr>
        <p:spPr>
          <a:xfrm>
            <a:off x="2103120" y="1261872"/>
            <a:ext cx="2103120" cy="384048"/>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pandas</a:t>
            </a:r>
            <a:endParaRPr lang="en-US" sz="1200" dirty="0"/>
          </a:p>
        </p:txBody>
      </p:sp>
      <p:sp>
        <p:nvSpPr>
          <p:cNvPr id="19" name="Shape 16"/>
          <p:cNvSpPr/>
          <p:nvPr/>
        </p:nvSpPr>
        <p:spPr>
          <a:xfrm>
            <a:off x="4297680" y="1261872"/>
            <a:ext cx="2103120" cy="384048"/>
          </a:xfrm>
          <a:prstGeom prst="roundRect">
            <a:avLst>
              <a:gd name="adj" fmla="val 19048"/>
            </a:avLst>
          </a:prstGeom>
          <a:solidFill>
            <a:srgbClr val="F4F7F5"/>
          </a:solidFill>
          <a:ln w="9525">
            <a:solidFill>
              <a:srgbClr val="D5DED9"/>
            </a:solidFill>
            <a:prstDash val="solid"/>
          </a:ln>
        </p:spPr>
      </p:sp>
      <p:sp>
        <p:nvSpPr>
          <p:cNvPr id="20" name="Text 17"/>
          <p:cNvSpPr txBox="1"/>
          <p:nvPr/>
        </p:nvSpPr>
        <p:spPr>
          <a:xfrm>
            <a:off x="4297680" y="1261872"/>
            <a:ext cx="2103120" cy="384048"/>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DuckDB sur Parquet</a:t>
            </a:r>
            <a:endParaRPr lang="en-US" sz="1200" dirty="0"/>
          </a:p>
        </p:txBody>
      </p:sp>
      <p:sp>
        <p:nvSpPr>
          <p:cNvPr id="21" name="Shape 18"/>
          <p:cNvSpPr/>
          <p:nvPr/>
        </p:nvSpPr>
        <p:spPr>
          <a:xfrm>
            <a:off x="6492240" y="1261872"/>
            <a:ext cx="2194560" cy="384048"/>
          </a:xfrm>
          <a:prstGeom prst="roundRect">
            <a:avLst>
              <a:gd name="adj" fmla="val 19048"/>
            </a:avLst>
          </a:prstGeom>
          <a:solidFill>
            <a:srgbClr val="D49A00"/>
          </a:solidFill>
          <a:ln w="9525">
            <a:solidFill>
              <a:srgbClr val="D49A00"/>
            </a:solidFill>
            <a:prstDash val="solid"/>
          </a:ln>
        </p:spPr>
      </p:sp>
      <p:sp>
        <p:nvSpPr>
          <p:cNvPr id="22" name="Text 19"/>
          <p:cNvSpPr txBox="1"/>
          <p:nvPr/>
        </p:nvSpPr>
        <p:spPr>
          <a:xfrm>
            <a:off x="6492240" y="1261872"/>
            <a:ext cx="21945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Elasticsearch</a:t>
            </a:r>
            <a:endParaRPr lang="en-US" sz="1200" dirty="0"/>
          </a:p>
        </p:txBody>
      </p:sp>
      <p:sp>
        <p:nvSpPr>
          <p:cNvPr id="23" name="Shape 20"/>
          <p:cNvSpPr/>
          <p:nvPr/>
        </p:nvSpPr>
        <p:spPr>
          <a:xfrm>
            <a:off x="457200" y="1719072"/>
            <a:ext cx="1554480" cy="402336"/>
          </a:xfrm>
          <a:prstGeom prst="roundRect">
            <a:avLst>
              <a:gd name="adj" fmla="val 9091"/>
            </a:avLst>
          </a:prstGeom>
          <a:solidFill>
            <a:srgbClr val="FFFFFF"/>
          </a:solidFill>
          <a:ln w="9525">
            <a:solidFill>
              <a:srgbClr val="D5DED9"/>
            </a:solidFill>
            <a:prstDash val="solid"/>
          </a:ln>
        </p:spPr>
      </p:sp>
      <p:sp>
        <p:nvSpPr>
          <p:cNvPr id="24" name="Text 21"/>
          <p:cNvSpPr txBox="1"/>
          <p:nvPr/>
        </p:nvSpPr>
        <p:spPr>
          <a:xfrm>
            <a:off x="530352" y="1719072"/>
            <a:ext cx="1408176"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Idéal pour</a:t>
            </a:r>
            <a:endParaRPr lang="en-US" sz="950" dirty="0"/>
          </a:p>
        </p:txBody>
      </p:sp>
      <p:sp>
        <p:nvSpPr>
          <p:cNvPr id="25" name="Shape 22"/>
          <p:cNvSpPr/>
          <p:nvPr/>
        </p:nvSpPr>
        <p:spPr>
          <a:xfrm>
            <a:off x="2103120" y="1719072"/>
            <a:ext cx="2103120" cy="402336"/>
          </a:xfrm>
          <a:prstGeom prst="roundRect">
            <a:avLst>
              <a:gd name="adj" fmla="val 9091"/>
            </a:avLst>
          </a:prstGeom>
          <a:solidFill>
            <a:srgbClr val="FFFFFF"/>
          </a:solidFill>
          <a:ln w="9525">
            <a:solidFill>
              <a:srgbClr val="D5DED9"/>
            </a:solidFill>
            <a:prstDash val="solid"/>
          </a:ln>
        </p:spPr>
      </p:sp>
      <p:sp>
        <p:nvSpPr>
          <p:cNvPr id="26" name="Text 23"/>
          <p:cNvSpPr txBox="1"/>
          <p:nvPr/>
        </p:nvSpPr>
        <p:spPr>
          <a:xfrm>
            <a:off x="2176272" y="17190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Un analyste, travail exploratoire</a:t>
            </a:r>
            <a:endParaRPr lang="en-US" sz="900" dirty="0"/>
          </a:p>
        </p:txBody>
      </p:sp>
      <p:sp>
        <p:nvSpPr>
          <p:cNvPr id="27" name="Shape 24"/>
          <p:cNvSpPr/>
          <p:nvPr/>
        </p:nvSpPr>
        <p:spPr>
          <a:xfrm>
            <a:off x="4297680" y="1719072"/>
            <a:ext cx="2103120" cy="402336"/>
          </a:xfrm>
          <a:prstGeom prst="roundRect">
            <a:avLst>
              <a:gd name="adj" fmla="val 9091"/>
            </a:avLst>
          </a:prstGeom>
          <a:solidFill>
            <a:srgbClr val="FFFFFF"/>
          </a:solidFill>
          <a:ln w="9525">
            <a:solidFill>
              <a:srgbClr val="D5DED9"/>
            </a:solidFill>
            <a:prstDash val="solid"/>
          </a:ln>
        </p:spPr>
      </p:sp>
      <p:sp>
        <p:nvSpPr>
          <p:cNvPr id="28" name="Text 25"/>
          <p:cNvSpPr txBox="1"/>
          <p:nvPr/>
        </p:nvSpPr>
        <p:spPr>
          <a:xfrm>
            <a:off x="4370832" y="17190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SQL analytique lourd sur une machine</a:t>
            </a:r>
            <a:endParaRPr lang="en-US" sz="900" dirty="0"/>
          </a:p>
        </p:txBody>
      </p:sp>
      <p:sp>
        <p:nvSpPr>
          <p:cNvPr id="29" name="Shape 26"/>
          <p:cNvSpPr/>
          <p:nvPr/>
        </p:nvSpPr>
        <p:spPr>
          <a:xfrm>
            <a:off x="6492240" y="1719072"/>
            <a:ext cx="2194560" cy="402336"/>
          </a:xfrm>
          <a:prstGeom prst="roundRect">
            <a:avLst>
              <a:gd name="adj" fmla="val 9091"/>
            </a:avLst>
          </a:prstGeom>
          <a:solidFill>
            <a:srgbClr val="E8F5EF"/>
          </a:solidFill>
          <a:ln w="12700">
            <a:solidFill>
              <a:srgbClr val="D49A00"/>
            </a:solidFill>
            <a:prstDash val="solid"/>
          </a:ln>
        </p:spPr>
      </p:sp>
      <p:sp>
        <p:nvSpPr>
          <p:cNvPr id="30" name="Text 27"/>
          <p:cNvSpPr txBox="1"/>
          <p:nvPr/>
        </p:nvSpPr>
        <p:spPr>
          <a:xfrm>
            <a:off x="6565392" y="1719072"/>
            <a:ext cx="204825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Nombreux utilisateurs, filtres et cartes interactifs</a:t>
            </a:r>
            <a:endParaRPr lang="en-US" sz="900" dirty="0"/>
          </a:p>
        </p:txBody>
      </p:sp>
      <p:sp>
        <p:nvSpPr>
          <p:cNvPr id="31" name="Shape 28"/>
          <p:cNvSpPr/>
          <p:nvPr/>
        </p:nvSpPr>
        <p:spPr>
          <a:xfrm>
            <a:off x="457200" y="2176272"/>
            <a:ext cx="1554480" cy="402336"/>
          </a:xfrm>
          <a:prstGeom prst="roundRect">
            <a:avLst>
              <a:gd name="adj" fmla="val 9091"/>
            </a:avLst>
          </a:prstGeom>
          <a:solidFill>
            <a:srgbClr val="FFFFFF"/>
          </a:solidFill>
          <a:ln w="9525">
            <a:solidFill>
              <a:srgbClr val="D5DED9"/>
            </a:solidFill>
            <a:prstDash val="solid"/>
          </a:ln>
        </p:spPr>
      </p:sp>
      <p:sp>
        <p:nvSpPr>
          <p:cNvPr id="32" name="Text 29"/>
          <p:cNvSpPr txBox="1"/>
          <p:nvPr/>
        </p:nvSpPr>
        <p:spPr>
          <a:xfrm>
            <a:off x="530352" y="2176272"/>
            <a:ext cx="1408176"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Mémoire</a:t>
            </a:r>
            <a:endParaRPr lang="en-US" sz="950" dirty="0"/>
          </a:p>
        </p:txBody>
      </p:sp>
      <p:sp>
        <p:nvSpPr>
          <p:cNvPr id="33" name="Shape 30"/>
          <p:cNvSpPr/>
          <p:nvPr/>
        </p:nvSpPr>
        <p:spPr>
          <a:xfrm>
            <a:off x="2103120" y="2176272"/>
            <a:ext cx="2103120" cy="402336"/>
          </a:xfrm>
          <a:prstGeom prst="roundRect">
            <a:avLst>
              <a:gd name="adj" fmla="val 9091"/>
            </a:avLst>
          </a:prstGeom>
          <a:solidFill>
            <a:srgbClr val="FFFFFF"/>
          </a:solidFill>
          <a:ln w="9525">
            <a:solidFill>
              <a:srgbClr val="D5DED9"/>
            </a:solidFill>
            <a:prstDash val="solid"/>
          </a:ln>
        </p:spPr>
      </p:sp>
      <p:sp>
        <p:nvSpPr>
          <p:cNvPr id="34" name="Text 31"/>
          <p:cNvSpPr txBox="1"/>
          <p:nvPr/>
        </p:nvSpPr>
        <p:spPr>
          <a:xfrm>
            <a:off x="2176272" y="21762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Tout le jeu de données en RAM</a:t>
            </a:r>
            <a:endParaRPr lang="en-US" sz="900" dirty="0"/>
          </a:p>
        </p:txBody>
      </p:sp>
      <p:sp>
        <p:nvSpPr>
          <p:cNvPr id="35" name="Shape 32"/>
          <p:cNvSpPr/>
          <p:nvPr/>
        </p:nvSpPr>
        <p:spPr>
          <a:xfrm>
            <a:off x="4297680" y="2176272"/>
            <a:ext cx="2103120" cy="402336"/>
          </a:xfrm>
          <a:prstGeom prst="roundRect">
            <a:avLst>
              <a:gd name="adj" fmla="val 9091"/>
            </a:avLst>
          </a:prstGeom>
          <a:solidFill>
            <a:srgbClr val="FFFFFF"/>
          </a:solidFill>
          <a:ln w="9525">
            <a:solidFill>
              <a:srgbClr val="D5DED9"/>
            </a:solidFill>
            <a:prstDash val="solid"/>
          </a:ln>
        </p:spPr>
      </p:sp>
      <p:sp>
        <p:nvSpPr>
          <p:cNvPr id="36" name="Text 33"/>
          <p:cNvSpPr txBox="1"/>
          <p:nvPr/>
        </p:nvSpPr>
        <p:spPr>
          <a:xfrm>
            <a:off x="4370832" y="21762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Lit les colonnes ; déborde sur disque</a:t>
            </a:r>
            <a:endParaRPr lang="en-US" sz="900" dirty="0"/>
          </a:p>
        </p:txBody>
      </p:sp>
      <p:sp>
        <p:nvSpPr>
          <p:cNvPr id="37" name="Shape 34"/>
          <p:cNvSpPr/>
          <p:nvPr/>
        </p:nvSpPr>
        <p:spPr>
          <a:xfrm>
            <a:off x="6492240" y="2176272"/>
            <a:ext cx="2194560" cy="402336"/>
          </a:xfrm>
          <a:prstGeom prst="roundRect">
            <a:avLst>
              <a:gd name="adj" fmla="val 9091"/>
            </a:avLst>
          </a:prstGeom>
          <a:solidFill>
            <a:srgbClr val="E8F5EF"/>
          </a:solidFill>
          <a:ln w="12700">
            <a:solidFill>
              <a:srgbClr val="D49A00"/>
            </a:solidFill>
            <a:prstDash val="solid"/>
          </a:ln>
        </p:spPr>
      </p:sp>
      <p:sp>
        <p:nvSpPr>
          <p:cNvPr id="38" name="Text 35"/>
          <p:cNvSpPr txBox="1"/>
          <p:nvPr/>
        </p:nvSpPr>
        <p:spPr>
          <a:xfrm>
            <a:off x="6565392" y="2176272"/>
            <a:ext cx="204825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Répartie entre les nœuds</a:t>
            </a:r>
            <a:endParaRPr lang="en-US" sz="900" dirty="0"/>
          </a:p>
        </p:txBody>
      </p:sp>
      <p:sp>
        <p:nvSpPr>
          <p:cNvPr id="39" name="Shape 36"/>
          <p:cNvSpPr/>
          <p:nvPr/>
        </p:nvSpPr>
        <p:spPr>
          <a:xfrm>
            <a:off x="457200" y="2633472"/>
            <a:ext cx="1554480" cy="402336"/>
          </a:xfrm>
          <a:prstGeom prst="roundRect">
            <a:avLst>
              <a:gd name="adj" fmla="val 9091"/>
            </a:avLst>
          </a:prstGeom>
          <a:solidFill>
            <a:srgbClr val="FFFFFF"/>
          </a:solidFill>
          <a:ln w="9525">
            <a:solidFill>
              <a:srgbClr val="D5DED9"/>
            </a:solidFill>
            <a:prstDash val="solid"/>
          </a:ln>
        </p:spPr>
      </p:sp>
      <p:sp>
        <p:nvSpPr>
          <p:cNvPr id="40" name="Text 37"/>
          <p:cNvSpPr txBox="1"/>
          <p:nvPr/>
        </p:nvSpPr>
        <p:spPr>
          <a:xfrm>
            <a:off x="530352" y="2633472"/>
            <a:ext cx="1408176"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Géo et texte</a:t>
            </a:r>
            <a:endParaRPr lang="en-US" sz="950" dirty="0"/>
          </a:p>
        </p:txBody>
      </p:sp>
      <p:sp>
        <p:nvSpPr>
          <p:cNvPr id="41" name="Shape 38"/>
          <p:cNvSpPr/>
          <p:nvPr/>
        </p:nvSpPr>
        <p:spPr>
          <a:xfrm>
            <a:off x="2103120" y="2633472"/>
            <a:ext cx="2103120" cy="402336"/>
          </a:xfrm>
          <a:prstGeom prst="roundRect">
            <a:avLst>
              <a:gd name="adj" fmla="val 9091"/>
            </a:avLst>
          </a:prstGeom>
          <a:solidFill>
            <a:srgbClr val="FFFFFF"/>
          </a:solidFill>
          <a:ln w="9525">
            <a:solidFill>
              <a:srgbClr val="D5DED9"/>
            </a:solidFill>
            <a:prstDash val="solid"/>
          </a:ln>
        </p:spPr>
      </p:sp>
      <p:sp>
        <p:nvSpPr>
          <p:cNvPr id="42" name="Text 39"/>
          <p:cNvSpPr txBox="1"/>
          <p:nvPr/>
        </p:nvSpPr>
        <p:spPr>
          <a:xfrm>
            <a:off x="2176272" y="26334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Via GeoPandas, en mémoire</a:t>
            </a:r>
            <a:endParaRPr lang="en-US" sz="900" dirty="0"/>
          </a:p>
        </p:txBody>
      </p:sp>
      <p:sp>
        <p:nvSpPr>
          <p:cNvPr id="43" name="Shape 40"/>
          <p:cNvSpPr/>
          <p:nvPr/>
        </p:nvSpPr>
        <p:spPr>
          <a:xfrm>
            <a:off x="4297680" y="2633472"/>
            <a:ext cx="2103120" cy="402336"/>
          </a:xfrm>
          <a:prstGeom prst="roundRect">
            <a:avLst>
              <a:gd name="adj" fmla="val 9091"/>
            </a:avLst>
          </a:prstGeom>
          <a:solidFill>
            <a:srgbClr val="FFFFFF"/>
          </a:solidFill>
          <a:ln w="9525">
            <a:solidFill>
              <a:srgbClr val="D5DED9"/>
            </a:solidFill>
            <a:prstDash val="solid"/>
          </a:ln>
        </p:spPr>
      </p:sp>
      <p:sp>
        <p:nvSpPr>
          <p:cNvPr id="44" name="Text 41"/>
          <p:cNvSpPr txBox="1"/>
          <p:nvPr/>
        </p:nvSpPr>
        <p:spPr>
          <a:xfrm>
            <a:off x="4370832" y="26334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Extension spatiale</a:t>
            </a:r>
            <a:endParaRPr lang="en-US" sz="900" dirty="0"/>
          </a:p>
        </p:txBody>
      </p:sp>
      <p:sp>
        <p:nvSpPr>
          <p:cNvPr id="45" name="Shape 42"/>
          <p:cNvSpPr/>
          <p:nvPr/>
        </p:nvSpPr>
        <p:spPr>
          <a:xfrm>
            <a:off x="6492240" y="2633472"/>
            <a:ext cx="2194560" cy="402336"/>
          </a:xfrm>
          <a:prstGeom prst="roundRect">
            <a:avLst>
              <a:gd name="adj" fmla="val 9091"/>
            </a:avLst>
          </a:prstGeom>
          <a:solidFill>
            <a:srgbClr val="E8F5EF"/>
          </a:solidFill>
          <a:ln w="12700">
            <a:solidFill>
              <a:srgbClr val="D49A00"/>
            </a:solidFill>
            <a:prstDash val="solid"/>
          </a:ln>
        </p:spPr>
      </p:sp>
      <p:sp>
        <p:nvSpPr>
          <p:cNvPr id="46" name="Text 43"/>
          <p:cNvSpPr txBox="1"/>
          <p:nvPr/>
        </p:nvSpPr>
        <p:spPr>
          <a:xfrm>
            <a:off x="6565392" y="2633472"/>
            <a:ext cx="204825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geo_shape et plein texte natifs</a:t>
            </a:r>
            <a:endParaRPr lang="en-US" sz="900" dirty="0"/>
          </a:p>
        </p:txBody>
      </p:sp>
      <p:sp>
        <p:nvSpPr>
          <p:cNvPr id="47" name="Shape 44"/>
          <p:cNvSpPr/>
          <p:nvPr/>
        </p:nvSpPr>
        <p:spPr>
          <a:xfrm>
            <a:off x="457200" y="3090672"/>
            <a:ext cx="1554480" cy="402336"/>
          </a:xfrm>
          <a:prstGeom prst="roundRect">
            <a:avLst>
              <a:gd name="adj" fmla="val 9091"/>
            </a:avLst>
          </a:prstGeom>
          <a:solidFill>
            <a:srgbClr val="FFFFFF"/>
          </a:solidFill>
          <a:ln w="9525">
            <a:solidFill>
              <a:srgbClr val="D5DED9"/>
            </a:solidFill>
            <a:prstDash val="solid"/>
          </a:ln>
        </p:spPr>
      </p:sp>
      <p:sp>
        <p:nvSpPr>
          <p:cNvPr id="48" name="Text 45"/>
          <p:cNvSpPr txBox="1"/>
          <p:nvPr/>
        </p:nvSpPr>
        <p:spPr>
          <a:xfrm>
            <a:off x="530352" y="3090672"/>
            <a:ext cx="1408176"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Latence interactive</a:t>
            </a:r>
            <a:endParaRPr lang="en-US" sz="950" dirty="0"/>
          </a:p>
        </p:txBody>
      </p:sp>
      <p:sp>
        <p:nvSpPr>
          <p:cNvPr id="49" name="Shape 46"/>
          <p:cNvSpPr/>
          <p:nvPr/>
        </p:nvSpPr>
        <p:spPr>
          <a:xfrm>
            <a:off x="2103120" y="3090672"/>
            <a:ext cx="2103120" cy="402336"/>
          </a:xfrm>
          <a:prstGeom prst="roundRect">
            <a:avLst>
              <a:gd name="adj" fmla="val 9091"/>
            </a:avLst>
          </a:prstGeom>
          <a:solidFill>
            <a:srgbClr val="FFFFFF"/>
          </a:solidFill>
          <a:ln w="9525">
            <a:solidFill>
              <a:srgbClr val="D5DED9"/>
            </a:solidFill>
            <a:prstDash val="solid"/>
          </a:ln>
        </p:spPr>
      </p:sp>
      <p:sp>
        <p:nvSpPr>
          <p:cNvPr id="50" name="Text 47"/>
          <p:cNvSpPr txBox="1"/>
          <p:nvPr/>
        </p:nvSpPr>
        <p:spPr>
          <a:xfrm>
            <a:off x="2176272" y="30906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Correcte tant que les données sont petites</a:t>
            </a:r>
            <a:endParaRPr lang="en-US" sz="900" dirty="0"/>
          </a:p>
        </p:txBody>
      </p:sp>
      <p:sp>
        <p:nvSpPr>
          <p:cNvPr id="51" name="Shape 48"/>
          <p:cNvSpPr/>
          <p:nvPr/>
        </p:nvSpPr>
        <p:spPr>
          <a:xfrm>
            <a:off x="4297680" y="3090672"/>
            <a:ext cx="2103120" cy="402336"/>
          </a:xfrm>
          <a:prstGeom prst="roundRect">
            <a:avLst>
              <a:gd name="adj" fmla="val 9091"/>
            </a:avLst>
          </a:prstGeom>
          <a:solidFill>
            <a:srgbClr val="FFFFFF"/>
          </a:solidFill>
          <a:ln w="9525">
            <a:solidFill>
              <a:srgbClr val="D5DED9"/>
            </a:solidFill>
            <a:prstDash val="solid"/>
          </a:ln>
        </p:spPr>
      </p:sp>
      <p:sp>
        <p:nvSpPr>
          <p:cNvPr id="52" name="Text 49"/>
          <p:cNvSpPr txBox="1"/>
          <p:nvPr/>
        </p:nvSpPr>
        <p:spPr>
          <a:xfrm>
            <a:off x="4370832" y="30906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Rapide pour parcours et jointures</a:t>
            </a:r>
            <a:endParaRPr lang="en-US" sz="900" dirty="0"/>
          </a:p>
        </p:txBody>
      </p:sp>
      <p:sp>
        <p:nvSpPr>
          <p:cNvPr id="53" name="Shape 50"/>
          <p:cNvSpPr/>
          <p:nvPr/>
        </p:nvSpPr>
        <p:spPr>
          <a:xfrm>
            <a:off x="6492240" y="3090672"/>
            <a:ext cx="2194560" cy="402336"/>
          </a:xfrm>
          <a:prstGeom prst="roundRect">
            <a:avLst>
              <a:gd name="adj" fmla="val 9091"/>
            </a:avLst>
          </a:prstGeom>
          <a:solidFill>
            <a:srgbClr val="E8F5EF"/>
          </a:solidFill>
          <a:ln w="12700">
            <a:solidFill>
              <a:srgbClr val="D49A00"/>
            </a:solidFill>
            <a:prstDash val="solid"/>
          </a:ln>
        </p:spPr>
      </p:sp>
      <p:sp>
        <p:nvSpPr>
          <p:cNvPr id="54" name="Text 51"/>
          <p:cNvSpPr txBox="1"/>
          <p:nvPr/>
        </p:nvSpPr>
        <p:spPr>
          <a:xfrm>
            <a:off x="6565392" y="3090672"/>
            <a:ext cx="204825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Conçu pour des réponses &lt; 1 s</a:t>
            </a:r>
            <a:endParaRPr lang="en-US" sz="900" dirty="0"/>
          </a:p>
        </p:txBody>
      </p:sp>
      <p:sp>
        <p:nvSpPr>
          <p:cNvPr id="55" name="Shape 52"/>
          <p:cNvSpPr/>
          <p:nvPr/>
        </p:nvSpPr>
        <p:spPr>
          <a:xfrm>
            <a:off x="457200" y="3547872"/>
            <a:ext cx="1554480" cy="402336"/>
          </a:xfrm>
          <a:prstGeom prst="roundRect">
            <a:avLst>
              <a:gd name="adj" fmla="val 9091"/>
            </a:avLst>
          </a:prstGeom>
          <a:solidFill>
            <a:srgbClr val="FFFFFF"/>
          </a:solidFill>
          <a:ln w="9525">
            <a:solidFill>
              <a:srgbClr val="D5DED9"/>
            </a:solidFill>
            <a:prstDash val="solid"/>
          </a:ln>
        </p:spPr>
      </p:sp>
      <p:sp>
        <p:nvSpPr>
          <p:cNvPr id="56" name="Text 53"/>
          <p:cNvSpPr txBox="1"/>
          <p:nvPr/>
        </p:nvSpPr>
        <p:spPr>
          <a:xfrm>
            <a:off x="530352" y="3547872"/>
            <a:ext cx="1408176" cy="40233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Coût d’exploitation</a:t>
            </a:r>
            <a:endParaRPr lang="en-US" sz="950" dirty="0"/>
          </a:p>
        </p:txBody>
      </p:sp>
      <p:sp>
        <p:nvSpPr>
          <p:cNvPr id="57" name="Shape 54"/>
          <p:cNvSpPr/>
          <p:nvPr/>
        </p:nvSpPr>
        <p:spPr>
          <a:xfrm>
            <a:off x="2103120" y="3547872"/>
            <a:ext cx="2103120" cy="402336"/>
          </a:xfrm>
          <a:prstGeom prst="roundRect">
            <a:avLst>
              <a:gd name="adj" fmla="val 9091"/>
            </a:avLst>
          </a:prstGeom>
          <a:solidFill>
            <a:srgbClr val="FFFFFF"/>
          </a:solidFill>
          <a:ln w="9525">
            <a:solidFill>
              <a:srgbClr val="D5DED9"/>
            </a:solidFill>
            <a:prstDash val="solid"/>
          </a:ln>
        </p:spPr>
      </p:sp>
      <p:sp>
        <p:nvSpPr>
          <p:cNvPr id="58" name="Text 55"/>
          <p:cNvSpPr txBox="1"/>
          <p:nvPr/>
        </p:nvSpPr>
        <p:spPr>
          <a:xfrm>
            <a:off x="2176272" y="35478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Nul</a:t>
            </a:r>
            <a:endParaRPr lang="en-US" sz="900" dirty="0"/>
          </a:p>
        </p:txBody>
      </p:sp>
      <p:sp>
        <p:nvSpPr>
          <p:cNvPr id="59" name="Shape 56"/>
          <p:cNvSpPr/>
          <p:nvPr/>
        </p:nvSpPr>
        <p:spPr>
          <a:xfrm>
            <a:off x="4297680" y="3547872"/>
            <a:ext cx="2103120" cy="402336"/>
          </a:xfrm>
          <a:prstGeom prst="roundRect">
            <a:avLst>
              <a:gd name="adj" fmla="val 9091"/>
            </a:avLst>
          </a:prstGeom>
          <a:solidFill>
            <a:srgbClr val="FFFFFF"/>
          </a:solidFill>
          <a:ln w="9525">
            <a:solidFill>
              <a:srgbClr val="D5DED9"/>
            </a:solidFill>
            <a:prstDash val="solid"/>
          </a:ln>
        </p:spPr>
      </p:sp>
      <p:sp>
        <p:nvSpPr>
          <p:cNvPr id="60" name="Text 57"/>
          <p:cNvSpPr txBox="1"/>
          <p:nvPr/>
        </p:nvSpPr>
        <p:spPr>
          <a:xfrm>
            <a:off x="4370832" y="3547872"/>
            <a:ext cx="195681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Très faible</a:t>
            </a:r>
            <a:endParaRPr lang="en-US" sz="900" dirty="0"/>
          </a:p>
        </p:txBody>
      </p:sp>
      <p:sp>
        <p:nvSpPr>
          <p:cNvPr id="61" name="Shape 58"/>
          <p:cNvSpPr/>
          <p:nvPr/>
        </p:nvSpPr>
        <p:spPr>
          <a:xfrm>
            <a:off x="6492240" y="3547872"/>
            <a:ext cx="2194560" cy="402336"/>
          </a:xfrm>
          <a:prstGeom prst="roundRect">
            <a:avLst>
              <a:gd name="adj" fmla="val 9091"/>
            </a:avLst>
          </a:prstGeom>
          <a:solidFill>
            <a:srgbClr val="E8F5EF"/>
          </a:solidFill>
          <a:ln w="12700">
            <a:solidFill>
              <a:srgbClr val="D49A00"/>
            </a:solidFill>
            <a:prstDash val="solid"/>
          </a:ln>
        </p:spPr>
      </p:sp>
      <p:sp>
        <p:nvSpPr>
          <p:cNvPr id="62" name="Text 59"/>
          <p:cNvSpPr txBox="1"/>
          <p:nvPr/>
        </p:nvSpPr>
        <p:spPr>
          <a:xfrm>
            <a:off x="6565392" y="3547872"/>
            <a:ext cx="2048256" cy="40233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Un cluster à gérer, sécuriser et surveiller</a:t>
            </a:r>
            <a:endParaRPr lang="en-US" sz="900" dirty="0"/>
          </a:p>
        </p:txBody>
      </p:sp>
      <p:sp>
        <p:nvSpPr>
          <p:cNvPr id="63" name="Shape 60"/>
          <p:cNvSpPr/>
          <p:nvPr/>
        </p:nvSpPr>
        <p:spPr>
          <a:xfrm>
            <a:off x="457200" y="4023360"/>
            <a:ext cx="8229600" cy="475488"/>
          </a:xfrm>
          <a:prstGeom prst="roundRect">
            <a:avLst>
              <a:gd name="adj" fmla="val 15385"/>
            </a:avLst>
          </a:prstGeom>
          <a:solidFill>
            <a:srgbClr val="D49A00">
              <a:alpha val="13000"/>
            </a:srgbClr>
          </a:solidFill>
          <a:ln w="12700">
            <a:solidFill>
              <a:srgbClr val="D49A00"/>
            </a:solidFill>
            <a:prstDash val="solid"/>
          </a:ln>
        </p:spPr>
      </p:sp>
      <p:pic>
        <p:nvPicPr>
          <p:cNvPr id="64" name="Image 0" descr="preencoded.png"/>
          <p:cNvPicPr>
            <a:picLocks noChangeAspect="1"/>
          </p:cNvPicPr>
          <p:nvPr/>
        </p:nvPicPr>
        <p:blipFill>
          <a:blip r:embed="rId3"/>
          <a:stretch>
            <a:fillRect/>
          </a:stretch>
        </p:blipFill>
        <p:spPr>
          <a:xfrm>
            <a:off x="594360" y="4151376"/>
            <a:ext cx="219456" cy="219456"/>
          </a:xfrm>
          <a:prstGeom prst="rect">
            <a:avLst/>
          </a:prstGeom>
        </p:spPr>
      </p:pic>
      <p:sp>
        <p:nvSpPr>
          <p:cNvPr id="65" name="Text 61"/>
          <p:cNvSpPr txBox="1"/>
          <p:nvPr/>
        </p:nvSpPr>
        <p:spPr>
          <a:xfrm>
            <a:off x="932688" y="4023360"/>
            <a:ext cx="7616952" cy="475488"/>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Un moteur de recherche est un index, pas un système de référence. </a:t>
            </a:r>
            <a:r>
              <a:rPr lang="en-US" sz="1000" dirty="0">
                <a:solidFill>
                  <a:srgbClr val="231F20"/>
                </a:solidFill>
                <a:latin typeface="Calibri" pitchFamily="34" charset="0"/>
                <a:ea typeface="Calibri" pitchFamily="34" charset="-122"/>
                <a:cs typeface="Calibri" pitchFamily="34" charset="-120"/>
              </a:rPr>
              <a:t>Le lakehouse reste la source de vérité ; l’index se reconstruit à partir de lui.</a:t>
            </a:r>
            <a:endParaRPr lang="en-US" sz="1000" dirty="0"/>
          </a:p>
        </p:txBody>
      </p:sp>
      <p:sp>
        <p:nvSpPr>
          <p:cNvPr id="66" name="Text 62"/>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Comparaison qualitative — la partie 2 du labo vous demande de mesurer vous-mêmes temps de requête et empreinte mémoire.</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53628" y="315468"/>
            <a:ext cx="118872" cy="118872"/>
          </a:xfrm>
          <a:prstGeom prst="ellipse">
            <a:avLst/>
          </a:prstGeom>
          <a:solidFill>
            <a:srgbClr val="F5C242"/>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05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Orchestration</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Qui lance la chaîne à 2 heures du matin — et que se passe-t-il quand une étape échoue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ORCHESTRATION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Une chaîne de traitement est un graphe de tâches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53628" y="315468"/>
            <a:ext cx="118872" cy="118872"/>
          </a:xfrm>
          <a:prstGeom prst="ellipse">
            <a:avLst/>
          </a:prstGeom>
          <a:solidFill>
            <a:srgbClr val="C4621D"/>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457200" y="1261872"/>
            <a:ext cx="8229600" cy="2286000"/>
          </a:xfrm>
          <a:prstGeom prst="roundRect">
            <a:avLst>
              <a:gd name="adj" fmla="val 3200"/>
            </a:avLst>
          </a:prstGeom>
          <a:solidFill>
            <a:srgbClr val="FFFFFF"/>
          </a:solidFill>
          <a:ln w="9525">
            <a:solidFill>
              <a:srgbClr val="D5DED9"/>
            </a:solidFill>
            <a:prstDash val="solid"/>
          </a:ln>
        </p:spPr>
      </p:sp>
      <p:sp>
        <p:nvSpPr>
          <p:cNvPr id="18" name="Shape 15"/>
          <p:cNvSpPr/>
          <p:nvPr/>
        </p:nvSpPr>
        <p:spPr>
          <a:xfrm>
            <a:off x="640080" y="1463040"/>
            <a:ext cx="1325880" cy="566928"/>
          </a:xfrm>
          <a:prstGeom prst="roundRect">
            <a:avLst>
              <a:gd name="adj" fmla="val 12903"/>
            </a:avLst>
          </a:prstGeom>
          <a:solidFill>
            <a:srgbClr val="FFFFFF"/>
          </a:solidFill>
          <a:ln w="15875">
            <a:solidFill>
              <a:srgbClr val="C4621D"/>
            </a:solidFill>
            <a:prstDash val="solid"/>
          </a:ln>
        </p:spPr>
      </p:sp>
      <p:sp>
        <p:nvSpPr>
          <p:cNvPr id="19" name="Text 16"/>
          <p:cNvSpPr txBox="1"/>
          <p:nvPr/>
        </p:nvSpPr>
        <p:spPr>
          <a:xfrm>
            <a:off x="685800" y="1517904"/>
            <a:ext cx="1234440" cy="256032"/>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Télécharger Ookla</a:t>
            </a:r>
            <a:endParaRPr lang="en-US" sz="1000" dirty="0"/>
          </a:p>
        </p:txBody>
      </p:sp>
      <p:sp>
        <p:nvSpPr>
          <p:cNvPr id="20" name="Text 17"/>
          <p:cNvSpPr txBox="1"/>
          <p:nvPr/>
        </p:nvSpPr>
        <p:spPr>
          <a:xfrm>
            <a:off x="685800" y="1764792"/>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Parquet trimestriel</a:t>
            </a:r>
            <a:endParaRPr lang="en-US" sz="850" dirty="0"/>
          </a:p>
        </p:txBody>
      </p:sp>
      <p:sp>
        <p:nvSpPr>
          <p:cNvPr id="21" name="Shape 18"/>
          <p:cNvSpPr/>
          <p:nvPr/>
        </p:nvSpPr>
        <p:spPr>
          <a:xfrm>
            <a:off x="2194560" y="1463040"/>
            <a:ext cx="1325880" cy="566928"/>
          </a:xfrm>
          <a:prstGeom prst="roundRect">
            <a:avLst>
              <a:gd name="adj" fmla="val 12903"/>
            </a:avLst>
          </a:prstGeom>
          <a:solidFill>
            <a:srgbClr val="FFFFFF"/>
          </a:solidFill>
          <a:ln w="15875">
            <a:solidFill>
              <a:srgbClr val="C4621D"/>
            </a:solidFill>
            <a:prstDash val="solid"/>
          </a:ln>
        </p:spPr>
      </p:sp>
      <p:sp>
        <p:nvSpPr>
          <p:cNvPr id="22" name="Text 19"/>
          <p:cNvSpPr txBox="1"/>
          <p:nvPr/>
        </p:nvSpPr>
        <p:spPr>
          <a:xfrm>
            <a:off x="2240280" y="1517904"/>
            <a:ext cx="1234440" cy="256032"/>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Valider</a:t>
            </a:r>
            <a:endParaRPr lang="en-US" sz="1000" dirty="0"/>
          </a:p>
        </p:txBody>
      </p:sp>
      <p:sp>
        <p:nvSpPr>
          <p:cNvPr id="23" name="Text 20"/>
          <p:cNvSpPr txBox="1"/>
          <p:nvPr/>
        </p:nvSpPr>
        <p:spPr>
          <a:xfrm>
            <a:off x="2240280" y="1764792"/>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schéma · effectifs</a:t>
            </a:r>
            <a:endParaRPr lang="en-US" sz="850" dirty="0"/>
          </a:p>
        </p:txBody>
      </p:sp>
      <p:sp>
        <p:nvSpPr>
          <p:cNvPr id="24" name="Shape 21"/>
          <p:cNvSpPr/>
          <p:nvPr/>
        </p:nvSpPr>
        <p:spPr>
          <a:xfrm>
            <a:off x="640080" y="2697480"/>
            <a:ext cx="1325880" cy="566928"/>
          </a:xfrm>
          <a:prstGeom prst="roundRect">
            <a:avLst>
              <a:gd name="adj" fmla="val 12903"/>
            </a:avLst>
          </a:prstGeom>
          <a:solidFill>
            <a:srgbClr val="FFFFFF"/>
          </a:solidFill>
          <a:ln w="15875">
            <a:solidFill>
              <a:srgbClr val="C4621D"/>
            </a:solidFill>
            <a:prstDash val="solid"/>
          </a:ln>
        </p:spPr>
      </p:sp>
      <p:sp>
        <p:nvSpPr>
          <p:cNvPr id="25" name="Text 22"/>
          <p:cNvSpPr txBox="1"/>
          <p:nvPr/>
        </p:nvSpPr>
        <p:spPr>
          <a:xfrm>
            <a:off x="685800" y="2752344"/>
            <a:ext cx="1234440" cy="256032"/>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Télécharger WorldPop</a:t>
            </a:r>
            <a:endParaRPr lang="en-US" sz="1000" dirty="0"/>
          </a:p>
        </p:txBody>
      </p:sp>
      <p:sp>
        <p:nvSpPr>
          <p:cNvPr id="26" name="Text 23"/>
          <p:cNvSpPr txBox="1"/>
          <p:nvPr/>
        </p:nvSpPr>
        <p:spPr>
          <a:xfrm>
            <a:off x="685800" y="2999232"/>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GeoTIFF annuel</a:t>
            </a:r>
            <a:endParaRPr lang="en-US" sz="850" dirty="0"/>
          </a:p>
        </p:txBody>
      </p:sp>
      <p:sp>
        <p:nvSpPr>
          <p:cNvPr id="27" name="Shape 24"/>
          <p:cNvSpPr/>
          <p:nvPr/>
        </p:nvSpPr>
        <p:spPr>
          <a:xfrm>
            <a:off x="2194560" y="2697480"/>
            <a:ext cx="1325880" cy="566928"/>
          </a:xfrm>
          <a:prstGeom prst="roundRect">
            <a:avLst>
              <a:gd name="adj" fmla="val 12903"/>
            </a:avLst>
          </a:prstGeom>
          <a:solidFill>
            <a:srgbClr val="FFFFFF"/>
          </a:solidFill>
          <a:ln w="15875">
            <a:solidFill>
              <a:srgbClr val="C4621D"/>
            </a:solidFill>
            <a:prstDash val="solid"/>
          </a:ln>
        </p:spPr>
      </p:sp>
      <p:sp>
        <p:nvSpPr>
          <p:cNvPr id="28" name="Text 25"/>
          <p:cNvSpPr txBox="1"/>
          <p:nvPr/>
        </p:nvSpPr>
        <p:spPr>
          <a:xfrm>
            <a:off x="2240280" y="2752344"/>
            <a:ext cx="1234440" cy="256032"/>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Population / tuile</a:t>
            </a:r>
            <a:endParaRPr lang="en-US" sz="1000" dirty="0"/>
          </a:p>
        </p:txBody>
      </p:sp>
      <p:sp>
        <p:nvSpPr>
          <p:cNvPr id="29" name="Text 26"/>
          <p:cNvSpPr txBox="1"/>
          <p:nvPr/>
        </p:nvSpPr>
        <p:spPr>
          <a:xfrm>
            <a:off x="2240280" y="2999232"/>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somme zonale</a:t>
            </a:r>
            <a:endParaRPr lang="en-US" sz="850" dirty="0"/>
          </a:p>
        </p:txBody>
      </p:sp>
      <p:sp>
        <p:nvSpPr>
          <p:cNvPr id="30" name="Shape 27"/>
          <p:cNvSpPr/>
          <p:nvPr/>
        </p:nvSpPr>
        <p:spPr>
          <a:xfrm>
            <a:off x="3794760" y="2075688"/>
            <a:ext cx="1325880" cy="566928"/>
          </a:xfrm>
          <a:prstGeom prst="roundRect">
            <a:avLst>
              <a:gd name="adj" fmla="val 12903"/>
            </a:avLst>
          </a:prstGeom>
          <a:solidFill>
            <a:srgbClr val="E8F5EF"/>
          </a:solidFill>
          <a:ln w="15875">
            <a:solidFill>
              <a:srgbClr val="C4621D"/>
            </a:solidFill>
            <a:prstDash val="solid"/>
          </a:ln>
        </p:spPr>
      </p:sp>
      <p:sp>
        <p:nvSpPr>
          <p:cNvPr id="31" name="Text 28"/>
          <p:cNvSpPr txBox="1"/>
          <p:nvPr/>
        </p:nvSpPr>
        <p:spPr>
          <a:xfrm>
            <a:off x="3840480" y="2130552"/>
            <a:ext cx="1234440" cy="256032"/>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Rattacher régions</a:t>
            </a:r>
            <a:endParaRPr lang="en-US" sz="1000" dirty="0"/>
          </a:p>
        </p:txBody>
      </p:sp>
      <p:sp>
        <p:nvSpPr>
          <p:cNvPr id="32" name="Text 29"/>
          <p:cNvSpPr txBox="1"/>
          <p:nvPr/>
        </p:nvSpPr>
        <p:spPr>
          <a:xfrm>
            <a:off x="3840480" y="2377440"/>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table argent</a:t>
            </a:r>
            <a:endParaRPr lang="en-US" sz="850" dirty="0"/>
          </a:p>
        </p:txBody>
      </p:sp>
      <p:sp>
        <p:nvSpPr>
          <p:cNvPr id="33" name="Shape 30"/>
          <p:cNvSpPr/>
          <p:nvPr/>
        </p:nvSpPr>
        <p:spPr>
          <a:xfrm>
            <a:off x="5394960" y="2075688"/>
            <a:ext cx="1325880" cy="566928"/>
          </a:xfrm>
          <a:prstGeom prst="roundRect">
            <a:avLst>
              <a:gd name="adj" fmla="val 12903"/>
            </a:avLst>
          </a:prstGeom>
          <a:solidFill>
            <a:srgbClr val="E8F5EF"/>
          </a:solidFill>
          <a:ln w="15875">
            <a:solidFill>
              <a:srgbClr val="C4621D"/>
            </a:solidFill>
            <a:prstDash val="solid"/>
          </a:ln>
        </p:spPr>
      </p:sp>
      <p:sp>
        <p:nvSpPr>
          <p:cNvPr id="34" name="Text 31"/>
          <p:cNvSpPr txBox="1"/>
          <p:nvPr/>
        </p:nvSpPr>
        <p:spPr>
          <a:xfrm>
            <a:off x="5440680" y="2130552"/>
            <a:ext cx="1234440" cy="256032"/>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Indicateurs</a:t>
            </a:r>
            <a:endParaRPr lang="en-US" sz="1000" dirty="0"/>
          </a:p>
        </p:txBody>
      </p:sp>
      <p:sp>
        <p:nvSpPr>
          <p:cNvPr id="35" name="Text 32"/>
          <p:cNvSpPr txBox="1"/>
          <p:nvPr/>
        </p:nvSpPr>
        <p:spPr>
          <a:xfrm>
            <a:off x="5440680" y="2377440"/>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table or</a:t>
            </a:r>
            <a:endParaRPr lang="en-US" sz="850" dirty="0"/>
          </a:p>
        </p:txBody>
      </p:sp>
      <p:sp>
        <p:nvSpPr>
          <p:cNvPr id="36" name="Shape 33"/>
          <p:cNvSpPr/>
          <p:nvPr/>
        </p:nvSpPr>
        <p:spPr>
          <a:xfrm>
            <a:off x="7086600" y="1463040"/>
            <a:ext cx="1417320" cy="566928"/>
          </a:xfrm>
          <a:prstGeom prst="roundRect">
            <a:avLst>
              <a:gd name="adj" fmla="val 12903"/>
            </a:avLst>
          </a:prstGeom>
          <a:solidFill>
            <a:srgbClr val="FFFFFF"/>
          </a:solidFill>
          <a:ln w="15875">
            <a:solidFill>
              <a:srgbClr val="D49A00"/>
            </a:solidFill>
            <a:prstDash val="solid"/>
          </a:ln>
        </p:spPr>
      </p:sp>
      <p:sp>
        <p:nvSpPr>
          <p:cNvPr id="37" name="Text 34"/>
          <p:cNvSpPr txBox="1"/>
          <p:nvPr/>
        </p:nvSpPr>
        <p:spPr>
          <a:xfrm>
            <a:off x="7132320" y="1517904"/>
            <a:ext cx="1325880" cy="256032"/>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Indexer</a:t>
            </a:r>
            <a:endParaRPr lang="en-US" sz="1000" dirty="0"/>
          </a:p>
        </p:txBody>
      </p:sp>
      <p:sp>
        <p:nvSpPr>
          <p:cNvPr id="38" name="Text 35"/>
          <p:cNvSpPr txBox="1"/>
          <p:nvPr/>
        </p:nvSpPr>
        <p:spPr>
          <a:xfrm>
            <a:off x="7132320" y="1764792"/>
            <a:ext cx="132588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Elasticsearch</a:t>
            </a:r>
            <a:endParaRPr lang="en-US" sz="850" dirty="0"/>
          </a:p>
        </p:txBody>
      </p:sp>
      <p:sp>
        <p:nvSpPr>
          <p:cNvPr id="39" name="Shape 36"/>
          <p:cNvSpPr/>
          <p:nvPr/>
        </p:nvSpPr>
        <p:spPr>
          <a:xfrm>
            <a:off x="7086600" y="2697480"/>
            <a:ext cx="1417320" cy="566928"/>
          </a:xfrm>
          <a:prstGeom prst="roundRect">
            <a:avLst>
              <a:gd name="adj" fmla="val 12903"/>
            </a:avLst>
          </a:prstGeom>
          <a:solidFill>
            <a:srgbClr val="FFFFFF"/>
          </a:solidFill>
          <a:ln w="15875">
            <a:solidFill>
              <a:srgbClr val="00704A"/>
            </a:solidFill>
            <a:prstDash val="solid"/>
          </a:ln>
        </p:spPr>
      </p:sp>
      <p:sp>
        <p:nvSpPr>
          <p:cNvPr id="40" name="Text 37"/>
          <p:cNvSpPr txBox="1"/>
          <p:nvPr/>
        </p:nvSpPr>
        <p:spPr>
          <a:xfrm>
            <a:off x="7132320" y="2752344"/>
            <a:ext cx="1325880" cy="256032"/>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Publier</a:t>
            </a:r>
            <a:endParaRPr lang="en-US" sz="1000" dirty="0"/>
          </a:p>
        </p:txBody>
      </p:sp>
      <p:sp>
        <p:nvSpPr>
          <p:cNvPr id="41" name="Text 38"/>
          <p:cNvSpPr txBox="1"/>
          <p:nvPr/>
        </p:nvSpPr>
        <p:spPr>
          <a:xfrm>
            <a:off x="7132320" y="2999232"/>
            <a:ext cx="132588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GitHub Pages</a:t>
            </a:r>
            <a:endParaRPr lang="en-US" sz="850" dirty="0"/>
          </a:p>
        </p:txBody>
      </p:sp>
      <p:sp>
        <p:nvSpPr>
          <p:cNvPr id="42" name="Shape 39"/>
          <p:cNvSpPr/>
          <p:nvPr/>
        </p:nvSpPr>
        <p:spPr>
          <a:xfrm>
            <a:off x="1993392" y="1746504"/>
            <a:ext cx="173736" cy="91"/>
          </a:xfrm>
          <a:prstGeom prst="line">
            <a:avLst/>
          </a:prstGeom>
          <a:noFill/>
          <a:ln w="15875">
            <a:solidFill>
              <a:srgbClr val="5E6964"/>
            </a:solidFill>
            <a:prstDash val="solid"/>
            <a:tailEnd type="triangle"/>
          </a:ln>
        </p:spPr>
      </p:sp>
      <p:sp>
        <p:nvSpPr>
          <p:cNvPr id="43" name="Shape 40"/>
          <p:cNvSpPr/>
          <p:nvPr/>
        </p:nvSpPr>
        <p:spPr>
          <a:xfrm>
            <a:off x="1993392" y="2980944"/>
            <a:ext cx="173736" cy="91"/>
          </a:xfrm>
          <a:prstGeom prst="line">
            <a:avLst/>
          </a:prstGeom>
          <a:noFill/>
          <a:ln w="15875">
            <a:solidFill>
              <a:srgbClr val="5E6964"/>
            </a:solidFill>
            <a:prstDash val="solid"/>
            <a:tailEnd type="triangle"/>
          </a:ln>
        </p:spPr>
      </p:sp>
      <p:sp>
        <p:nvSpPr>
          <p:cNvPr id="44" name="Shape 41"/>
          <p:cNvSpPr/>
          <p:nvPr/>
        </p:nvSpPr>
        <p:spPr>
          <a:xfrm>
            <a:off x="3547872" y="1783080"/>
            <a:ext cx="384048" cy="320040"/>
          </a:xfrm>
          <a:prstGeom prst="line">
            <a:avLst/>
          </a:prstGeom>
          <a:noFill/>
          <a:ln w="15875">
            <a:solidFill>
              <a:srgbClr val="5E6964"/>
            </a:solidFill>
            <a:prstDash val="solid"/>
            <a:tailEnd type="triangle"/>
          </a:ln>
        </p:spPr>
      </p:sp>
      <p:sp>
        <p:nvSpPr>
          <p:cNvPr id="45" name="Shape 42"/>
          <p:cNvSpPr/>
          <p:nvPr/>
        </p:nvSpPr>
        <p:spPr>
          <a:xfrm flipV="1">
            <a:off x="3547872" y="2615184"/>
            <a:ext cx="384048" cy="329184"/>
          </a:xfrm>
          <a:prstGeom prst="line">
            <a:avLst/>
          </a:prstGeom>
          <a:noFill/>
          <a:ln w="15875">
            <a:solidFill>
              <a:srgbClr val="5E6964"/>
            </a:solidFill>
            <a:prstDash val="solid"/>
            <a:tailEnd type="triangle"/>
          </a:ln>
        </p:spPr>
      </p:sp>
      <p:sp>
        <p:nvSpPr>
          <p:cNvPr id="46" name="Shape 43"/>
          <p:cNvSpPr/>
          <p:nvPr/>
        </p:nvSpPr>
        <p:spPr>
          <a:xfrm>
            <a:off x="5148072" y="2359152"/>
            <a:ext cx="219456" cy="91"/>
          </a:xfrm>
          <a:prstGeom prst="line">
            <a:avLst/>
          </a:prstGeom>
          <a:noFill/>
          <a:ln w="15875">
            <a:solidFill>
              <a:srgbClr val="5E6964"/>
            </a:solidFill>
            <a:prstDash val="solid"/>
            <a:tailEnd type="triangle"/>
          </a:ln>
        </p:spPr>
      </p:sp>
      <p:sp>
        <p:nvSpPr>
          <p:cNvPr id="47" name="Shape 44"/>
          <p:cNvSpPr/>
          <p:nvPr/>
        </p:nvSpPr>
        <p:spPr>
          <a:xfrm flipV="1">
            <a:off x="6748272" y="1783080"/>
            <a:ext cx="310896" cy="411480"/>
          </a:xfrm>
          <a:prstGeom prst="line">
            <a:avLst/>
          </a:prstGeom>
          <a:noFill/>
          <a:ln w="15875">
            <a:solidFill>
              <a:srgbClr val="5E6964"/>
            </a:solidFill>
            <a:prstDash val="solid"/>
            <a:tailEnd type="triangle"/>
          </a:ln>
        </p:spPr>
      </p:sp>
      <p:sp>
        <p:nvSpPr>
          <p:cNvPr id="48" name="Shape 45"/>
          <p:cNvSpPr/>
          <p:nvPr/>
        </p:nvSpPr>
        <p:spPr>
          <a:xfrm>
            <a:off x="6748272" y="2523744"/>
            <a:ext cx="310896" cy="420624"/>
          </a:xfrm>
          <a:prstGeom prst="line">
            <a:avLst/>
          </a:prstGeom>
          <a:noFill/>
          <a:ln w="15875">
            <a:solidFill>
              <a:srgbClr val="5E6964"/>
            </a:solidFill>
            <a:prstDash val="solid"/>
            <a:tailEnd type="triangle"/>
          </a:ln>
        </p:spPr>
      </p:sp>
      <p:sp>
        <p:nvSpPr>
          <p:cNvPr id="49" name="Shape 46"/>
          <p:cNvSpPr/>
          <p:nvPr/>
        </p:nvSpPr>
        <p:spPr>
          <a:xfrm>
            <a:off x="457200"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0" name="Image 0" descr="preencoded.png"/>
          <p:cNvPicPr>
            <a:picLocks noChangeAspect="1"/>
          </p:cNvPicPr>
          <p:nvPr/>
        </p:nvPicPr>
        <p:blipFill>
          <a:blip r:embed="rId3"/>
          <a:stretch>
            <a:fillRect/>
          </a:stretch>
        </p:blipFill>
        <p:spPr>
          <a:xfrm>
            <a:off x="594360" y="3776472"/>
            <a:ext cx="219456" cy="219456"/>
          </a:xfrm>
          <a:prstGeom prst="rect">
            <a:avLst/>
          </a:prstGeom>
        </p:spPr>
      </p:pic>
      <p:sp>
        <p:nvSpPr>
          <p:cNvPr id="51" name="Text 47"/>
          <p:cNvSpPr txBox="1"/>
          <p:nvPr/>
        </p:nvSpPr>
        <p:spPr>
          <a:xfrm>
            <a:off x="868680" y="3675888"/>
            <a:ext cx="1069848" cy="420624"/>
          </a:xfrm>
          <a:prstGeom prst="rect">
            <a:avLst/>
          </a:prstGeom>
          <a:noFill/>
          <a:ln/>
        </p:spPr>
        <p:txBody>
          <a:bodyPr wrap="square" lIns="0" tIns="0" rIns="0" bIns="0" rtlCol="0" anchor="ctr"/>
          <a:lstStyle/>
          <a:p>
            <a:pPr marL="0" indent="0">
              <a:buNone/>
            </a:pPr>
            <a:r>
              <a:rPr lang="en-US" sz="1050" b="1" dirty="0">
                <a:solidFill>
                  <a:srgbClr val="C4621D"/>
                </a:solidFill>
                <a:latin typeface="Calibri" pitchFamily="34" charset="0"/>
                <a:ea typeface="Calibri" pitchFamily="34" charset="-122"/>
                <a:cs typeface="Calibri" pitchFamily="34" charset="-120"/>
              </a:rPr>
              <a:t>Planification</a:t>
            </a:r>
            <a:endParaRPr lang="en-US" sz="1050" dirty="0"/>
          </a:p>
        </p:txBody>
      </p:sp>
      <p:sp>
        <p:nvSpPr>
          <p:cNvPr id="52" name="Shape 48"/>
          <p:cNvSpPr/>
          <p:nvPr/>
        </p:nvSpPr>
        <p:spPr>
          <a:xfrm>
            <a:off x="2139696"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3" name="Image 1" descr="preencoded.png"/>
          <p:cNvPicPr>
            <a:picLocks noChangeAspect="1"/>
          </p:cNvPicPr>
          <p:nvPr/>
        </p:nvPicPr>
        <p:blipFill>
          <a:blip r:embed="rId4"/>
          <a:stretch>
            <a:fillRect/>
          </a:stretch>
        </p:blipFill>
        <p:spPr>
          <a:xfrm>
            <a:off x="2276856" y="3776472"/>
            <a:ext cx="219456" cy="219456"/>
          </a:xfrm>
          <a:prstGeom prst="rect">
            <a:avLst/>
          </a:prstGeom>
        </p:spPr>
      </p:pic>
      <p:sp>
        <p:nvSpPr>
          <p:cNvPr id="54" name="Text 49"/>
          <p:cNvSpPr txBox="1"/>
          <p:nvPr/>
        </p:nvSpPr>
        <p:spPr>
          <a:xfrm>
            <a:off x="2551176" y="3675888"/>
            <a:ext cx="1069848" cy="420624"/>
          </a:xfrm>
          <a:prstGeom prst="rect">
            <a:avLst/>
          </a:prstGeom>
          <a:noFill/>
          <a:ln/>
        </p:spPr>
        <p:txBody>
          <a:bodyPr wrap="square" lIns="0" tIns="0" rIns="0" bIns="0" rtlCol="0" anchor="ctr"/>
          <a:lstStyle/>
          <a:p>
            <a:pPr marL="0" indent="0">
              <a:buNone/>
            </a:pPr>
            <a:r>
              <a:rPr lang="en-US" sz="1050" b="1" dirty="0">
                <a:solidFill>
                  <a:srgbClr val="C4621D"/>
                </a:solidFill>
                <a:latin typeface="Calibri" pitchFamily="34" charset="0"/>
                <a:ea typeface="Calibri" pitchFamily="34" charset="-122"/>
                <a:cs typeface="Calibri" pitchFamily="34" charset="-120"/>
              </a:rPr>
              <a:t>Dépendances</a:t>
            </a:r>
            <a:endParaRPr lang="en-US" sz="1050" dirty="0"/>
          </a:p>
        </p:txBody>
      </p:sp>
      <p:sp>
        <p:nvSpPr>
          <p:cNvPr id="55" name="Shape 50"/>
          <p:cNvSpPr/>
          <p:nvPr/>
        </p:nvSpPr>
        <p:spPr>
          <a:xfrm>
            <a:off x="3822192"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6" name="Image 2" descr="preencoded.png"/>
          <p:cNvPicPr>
            <a:picLocks noChangeAspect="1"/>
          </p:cNvPicPr>
          <p:nvPr/>
        </p:nvPicPr>
        <p:blipFill>
          <a:blip r:embed="rId5"/>
          <a:stretch>
            <a:fillRect/>
          </a:stretch>
        </p:blipFill>
        <p:spPr>
          <a:xfrm>
            <a:off x="3959352" y="3776472"/>
            <a:ext cx="219456" cy="219456"/>
          </a:xfrm>
          <a:prstGeom prst="rect">
            <a:avLst/>
          </a:prstGeom>
        </p:spPr>
      </p:pic>
      <p:sp>
        <p:nvSpPr>
          <p:cNvPr id="57" name="Text 51"/>
          <p:cNvSpPr txBox="1"/>
          <p:nvPr/>
        </p:nvSpPr>
        <p:spPr>
          <a:xfrm>
            <a:off x="4233672" y="3675888"/>
            <a:ext cx="1069848" cy="420624"/>
          </a:xfrm>
          <a:prstGeom prst="rect">
            <a:avLst/>
          </a:prstGeom>
          <a:noFill/>
          <a:ln/>
        </p:spPr>
        <p:txBody>
          <a:bodyPr wrap="square" lIns="0" tIns="0" rIns="0" bIns="0" rtlCol="0" anchor="ctr"/>
          <a:lstStyle/>
          <a:p>
            <a:pPr marL="0" indent="0">
              <a:buNone/>
            </a:pPr>
            <a:r>
              <a:rPr lang="en-US" sz="1050" b="1" dirty="0">
                <a:solidFill>
                  <a:srgbClr val="C4621D"/>
                </a:solidFill>
                <a:latin typeface="Calibri" pitchFamily="34" charset="0"/>
                <a:ea typeface="Calibri" pitchFamily="34" charset="-122"/>
                <a:cs typeface="Calibri" pitchFamily="34" charset="-120"/>
              </a:rPr>
              <a:t>Relances</a:t>
            </a:r>
            <a:endParaRPr lang="en-US" sz="1050" dirty="0"/>
          </a:p>
        </p:txBody>
      </p:sp>
      <p:sp>
        <p:nvSpPr>
          <p:cNvPr id="58" name="Shape 52"/>
          <p:cNvSpPr/>
          <p:nvPr/>
        </p:nvSpPr>
        <p:spPr>
          <a:xfrm>
            <a:off x="5504688"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9" name="Image 3" descr="preencoded.png"/>
          <p:cNvPicPr>
            <a:picLocks noChangeAspect="1"/>
          </p:cNvPicPr>
          <p:nvPr/>
        </p:nvPicPr>
        <p:blipFill>
          <a:blip r:embed="rId6"/>
          <a:stretch>
            <a:fillRect/>
          </a:stretch>
        </p:blipFill>
        <p:spPr>
          <a:xfrm>
            <a:off x="5641848" y="3776472"/>
            <a:ext cx="219456" cy="219456"/>
          </a:xfrm>
          <a:prstGeom prst="rect">
            <a:avLst/>
          </a:prstGeom>
        </p:spPr>
      </p:pic>
      <p:sp>
        <p:nvSpPr>
          <p:cNvPr id="60" name="Text 53"/>
          <p:cNvSpPr txBox="1"/>
          <p:nvPr/>
        </p:nvSpPr>
        <p:spPr>
          <a:xfrm>
            <a:off x="5916168" y="3675888"/>
            <a:ext cx="1069848" cy="420624"/>
          </a:xfrm>
          <a:prstGeom prst="rect">
            <a:avLst/>
          </a:prstGeom>
          <a:noFill/>
          <a:ln/>
        </p:spPr>
        <p:txBody>
          <a:bodyPr wrap="square" lIns="0" tIns="0" rIns="0" bIns="0" rtlCol="0" anchor="ctr"/>
          <a:lstStyle/>
          <a:p>
            <a:pPr marL="0" indent="0">
              <a:buNone/>
            </a:pPr>
            <a:r>
              <a:rPr lang="en-US" sz="1050" b="1" dirty="0">
                <a:solidFill>
                  <a:srgbClr val="C4621D"/>
                </a:solidFill>
                <a:latin typeface="Calibri" pitchFamily="34" charset="0"/>
                <a:ea typeface="Calibri" pitchFamily="34" charset="-122"/>
                <a:cs typeface="Calibri" pitchFamily="34" charset="-120"/>
              </a:rPr>
              <a:t>Alertes</a:t>
            </a:r>
            <a:endParaRPr lang="en-US" sz="1050" dirty="0"/>
          </a:p>
        </p:txBody>
      </p:sp>
      <p:sp>
        <p:nvSpPr>
          <p:cNvPr id="61" name="Shape 54"/>
          <p:cNvSpPr/>
          <p:nvPr/>
        </p:nvSpPr>
        <p:spPr>
          <a:xfrm>
            <a:off x="7187184"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62" name="Image 4" descr="preencoded.png"/>
          <p:cNvPicPr>
            <a:picLocks noChangeAspect="1"/>
          </p:cNvPicPr>
          <p:nvPr/>
        </p:nvPicPr>
        <p:blipFill>
          <a:blip r:embed="rId7"/>
          <a:stretch>
            <a:fillRect/>
          </a:stretch>
        </p:blipFill>
        <p:spPr>
          <a:xfrm>
            <a:off x="7324344" y="3776472"/>
            <a:ext cx="219456" cy="219456"/>
          </a:xfrm>
          <a:prstGeom prst="rect">
            <a:avLst/>
          </a:prstGeom>
        </p:spPr>
      </p:pic>
      <p:sp>
        <p:nvSpPr>
          <p:cNvPr id="63" name="Text 55"/>
          <p:cNvSpPr txBox="1"/>
          <p:nvPr/>
        </p:nvSpPr>
        <p:spPr>
          <a:xfrm>
            <a:off x="7598664" y="3675888"/>
            <a:ext cx="1069848" cy="420624"/>
          </a:xfrm>
          <a:prstGeom prst="rect">
            <a:avLst/>
          </a:prstGeom>
          <a:noFill/>
          <a:ln/>
        </p:spPr>
        <p:txBody>
          <a:bodyPr wrap="square" lIns="0" tIns="0" rIns="0" bIns="0" rtlCol="0" anchor="ctr"/>
          <a:lstStyle/>
          <a:p>
            <a:pPr marL="0" indent="0">
              <a:buNone/>
            </a:pPr>
            <a:r>
              <a:rPr lang="en-US" sz="1050" b="1" dirty="0">
                <a:solidFill>
                  <a:srgbClr val="C4621D"/>
                </a:solidFill>
                <a:latin typeface="Calibri" pitchFamily="34" charset="0"/>
                <a:ea typeface="Calibri" pitchFamily="34" charset="-122"/>
                <a:cs typeface="Calibri" pitchFamily="34" charset="-120"/>
              </a:rPr>
              <a:t>Rattrapage</a:t>
            </a:r>
            <a:endParaRPr lang="en-US" sz="1050" dirty="0"/>
          </a:p>
        </p:txBody>
      </p:sp>
      <p:sp>
        <p:nvSpPr>
          <p:cNvPr id="64" name="Text 56"/>
          <p:cNvSpPr txBox="1"/>
          <p:nvPr/>
        </p:nvSpPr>
        <p:spPr>
          <a:xfrm>
            <a:off x="457200" y="4224528"/>
            <a:ext cx="8229600" cy="27432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Outils, du plus simple au plus complet :  </a:t>
            </a:r>
            <a:r>
              <a:rPr lang="en-US" sz="1000" dirty="0">
                <a:solidFill>
                  <a:srgbClr val="231F20"/>
                </a:solidFill>
                <a:latin typeface="Calibri" pitchFamily="34" charset="0"/>
                <a:ea typeface="Calibri" pitchFamily="34" charset="-122"/>
                <a:cs typeface="Calibri" pitchFamily="34" charset="-120"/>
              </a:rPr>
              <a:t>cron · GitHub Actions  →  Apache Airflow · Dagster · Prefect  ·  dbt pour les transformations SQL</a:t>
            </a:r>
            <a:endParaRPr lang="en-US" sz="10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ORCHESTRATION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La chaîne en code, avec contrôles qualité</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53628" y="315468"/>
            <a:ext cx="118872" cy="118872"/>
          </a:xfrm>
          <a:prstGeom prst="ellipse">
            <a:avLst/>
          </a:prstGeom>
          <a:solidFill>
            <a:srgbClr val="C4621D"/>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Shape 14"/>
          <p:cNvSpPr/>
          <p:nvPr/>
        </p:nvSpPr>
        <p:spPr>
          <a:xfrm>
            <a:off x="457200" y="1280160"/>
            <a:ext cx="448056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420624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APACHE AIRFLOW (API TASKFLOW)</a:t>
            </a:r>
            <a:endParaRPr lang="en-US" sz="900" dirty="0"/>
          </a:p>
        </p:txBody>
      </p:sp>
      <p:sp>
        <p:nvSpPr>
          <p:cNvPr id="19" name="Text 16"/>
          <p:cNvSpPr txBox="1"/>
          <p:nvPr/>
        </p:nvSpPr>
        <p:spPr>
          <a:xfrm>
            <a:off x="594360" y="1609344"/>
            <a:ext cx="4206240" cy="2798064"/>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from airflow.decorators import dag</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import pendulum</a:t>
            </a:r>
            <a:endParaRPr lang="en-US" sz="850" dirty="0"/>
          </a:p>
          <a:p>
            <a:pPr marL="0" indent="0">
              <a:lnSpc>
                <a:spcPct val="105000"/>
              </a:lnSpc>
              <a:buNone/>
            </a:pPr>
            <a:r>
              <a:rPr lang="en-US" sz="850" i="1" dirty="0">
                <a:solidFill>
                  <a:srgbClr val="00704A"/>
                </a:solidFill>
                <a:latin typeface="Courier New" pitchFamily="34" charset="0"/>
                <a:ea typeface="Courier New" pitchFamily="34" charset="-122"/>
                <a:cs typeface="Courier New" pitchFamily="34" charset="-120"/>
              </a:rPr>
              <a:t># download_tiles, validate… = fonctions @task</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@dag(schedule="@quarterly",</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start_date=pendulum.datetime(2019, 1, 1),</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catchup=True,            # = rattrapage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default_args={"retries": 2})</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def ookla_connectivity():</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raw    = download_tiles()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ok     = validate(raw)       # contrôle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pop    = population_per_tile()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silver = join_admin(ok, pop)</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gold   = indicators(silver)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index_elasticsearch(gold)</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publish_github(gold)</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ookla_connectivity()</a:t>
            </a:r>
            <a:endParaRPr lang="en-US" sz="850" dirty="0"/>
          </a:p>
        </p:txBody>
      </p:sp>
      <p:sp>
        <p:nvSpPr>
          <p:cNvPr id="20" name="Text 17"/>
          <p:cNvSpPr txBox="1"/>
          <p:nvPr/>
        </p:nvSpPr>
        <p:spPr>
          <a:xfrm>
            <a:off x="5166360" y="1280160"/>
            <a:ext cx="35204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Contrôles qualité, écrits comme des tests</a:t>
            </a:r>
            <a:endParaRPr lang="en-US" sz="1250" dirty="0"/>
          </a:p>
        </p:txBody>
      </p:sp>
      <p:sp>
        <p:nvSpPr>
          <p:cNvPr id="21" name="Shape 18"/>
          <p:cNvSpPr/>
          <p:nvPr/>
        </p:nvSpPr>
        <p:spPr>
          <a:xfrm>
            <a:off x="5166360" y="1627632"/>
            <a:ext cx="3520440" cy="384048"/>
          </a:xfrm>
          <a:prstGeom prst="roundRect">
            <a:avLst>
              <a:gd name="adj" fmla="val 19048"/>
            </a:avLst>
          </a:prstGeom>
          <a:solidFill>
            <a:srgbClr val="FFFFFF"/>
          </a:solidFill>
          <a:ln w="9525">
            <a:solidFill>
              <a:srgbClr val="D5DED9"/>
            </a:solidFill>
            <a:prstDash val="solid"/>
          </a:ln>
        </p:spPr>
      </p:sp>
      <p:pic>
        <p:nvPicPr>
          <p:cNvPr id="22" name="Image 0" descr="preencoded.png"/>
          <p:cNvPicPr>
            <a:picLocks noChangeAspect="1"/>
          </p:cNvPicPr>
          <p:nvPr/>
        </p:nvPicPr>
        <p:blipFill>
          <a:blip r:embed="rId3"/>
          <a:stretch>
            <a:fillRect/>
          </a:stretch>
        </p:blipFill>
        <p:spPr>
          <a:xfrm>
            <a:off x="5266944" y="1719072"/>
            <a:ext cx="201168" cy="201168"/>
          </a:xfrm>
          <a:prstGeom prst="rect">
            <a:avLst/>
          </a:prstGeom>
        </p:spPr>
      </p:pic>
      <p:sp>
        <p:nvSpPr>
          <p:cNvPr id="23" name="Text 19"/>
          <p:cNvSpPr txBox="1"/>
          <p:nvPr/>
        </p:nvSpPr>
        <p:spPr>
          <a:xfrm>
            <a:off x="5559552" y="1627632"/>
            <a:ext cx="3090672" cy="38404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tests &gt; 0 pour chaque tuile</a:t>
            </a:r>
            <a:endParaRPr lang="en-US" sz="850" dirty="0"/>
          </a:p>
        </p:txBody>
      </p:sp>
      <p:sp>
        <p:nvSpPr>
          <p:cNvPr id="24" name="Shape 20"/>
          <p:cNvSpPr/>
          <p:nvPr/>
        </p:nvSpPr>
        <p:spPr>
          <a:xfrm>
            <a:off x="5166360" y="2084832"/>
            <a:ext cx="3520440" cy="384048"/>
          </a:xfrm>
          <a:prstGeom prst="roundRect">
            <a:avLst>
              <a:gd name="adj" fmla="val 19048"/>
            </a:avLst>
          </a:prstGeom>
          <a:solidFill>
            <a:srgbClr val="FFFFFF"/>
          </a:solidFill>
          <a:ln w="9525">
            <a:solidFill>
              <a:srgbClr val="D5DED9"/>
            </a:solidFill>
            <a:prstDash val="solid"/>
          </a:ln>
        </p:spPr>
      </p:sp>
      <p:pic>
        <p:nvPicPr>
          <p:cNvPr id="25" name="Image 1" descr="preencoded.png"/>
          <p:cNvPicPr>
            <a:picLocks noChangeAspect="1"/>
          </p:cNvPicPr>
          <p:nvPr/>
        </p:nvPicPr>
        <p:blipFill>
          <a:blip r:embed="rId3"/>
          <a:stretch>
            <a:fillRect/>
          </a:stretch>
        </p:blipFill>
        <p:spPr>
          <a:xfrm>
            <a:off x="5266944" y="2176272"/>
            <a:ext cx="201168" cy="201168"/>
          </a:xfrm>
          <a:prstGeom prst="rect">
            <a:avLst/>
          </a:prstGeom>
        </p:spPr>
      </p:pic>
      <p:sp>
        <p:nvSpPr>
          <p:cNvPr id="26" name="Text 21"/>
          <p:cNvSpPr txBox="1"/>
          <p:nvPr/>
        </p:nvSpPr>
        <p:spPr>
          <a:xfrm>
            <a:off x="5559552" y="2084832"/>
            <a:ext cx="3090672" cy="38404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quadkey unique par trimestre</a:t>
            </a:r>
            <a:endParaRPr lang="en-US" sz="850" dirty="0"/>
          </a:p>
        </p:txBody>
      </p:sp>
      <p:sp>
        <p:nvSpPr>
          <p:cNvPr id="27" name="Shape 22"/>
          <p:cNvSpPr/>
          <p:nvPr/>
        </p:nvSpPr>
        <p:spPr>
          <a:xfrm>
            <a:off x="5166360" y="2542032"/>
            <a:ext cx="3520440" cy="384048"/>
          </a:xfrm>
          <a:prstGeom prst="roundRect">
            <a:avLst>
              <a:gd name="adj" fmla="val 19048"/>
            </a:avLst>
          </a:prstGeom>
          <a:solidFill>
            <a:srgbClr val="FFFFFF"/>
          </a:solidFill>
          <a:ln w="9525">
            <a:solidFill>
              <a:srgbClr val="D5DED9"/>
            </a:solidFill>
            <a:prstDash val="solid"/>
          </a:ln>
        </p:spPr>
      </p:sp>
      <p:pic>
        <p:nvPicPr>
          <p:cNvPr id="28" name="Image 2" descr="preencoded.png"/>
          <p:cNvPicPr>
            <a:picLocks noChangeAspect="1"/>
          </p:cNvPicPr>
          <p:nvPr/>
        </p:nvPicPr>
        <p:blipFill>
          <a:blip r:embed="rId3"/>
          <a:stretch>
            <a:fillRect/>
          </a:stretch>
        </p:blipFill>
        <p:spPr>
          <a:xfrm>
            <a:off x="5266944" y="2633472"/>
            <a:ext cx="201168" cy="201168"/>
          </a:xfrm>
          <a:prstGeom prst="rect">
            <a:avLst/>
          </a:prstGeom>
        </p:spPr>
      </p:pic>
      <p:sp>
        <p:nvSpPr>
          <p:cNvPr id="29" name="Text 23"/>
          <p:cNvSpPr txBox="1"/>
          <p:nvPr/>
        </p:nvSpPr>
        <p:spPr>
          <a:xfrm>
            <a:off x="5559552" y="2542032"/>
            <a:ext cx="3090672" cy="38404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avg_d_kbps dans une plage plausible</a:t>
            </a:r>
            <a:endParaRPr lang="en-US" sz="850" dirty="0"/>
          </a:p>
        </p:txBody>
      </p:sp>
      <p:sp>
        <p:nvSpPr>
          <p:cNvPr id="30" name="Shape 24"/>
          <p:cNvSpPr/>
          <p:nvPr/>
        </p:nvSpPr>
        <p:spPr>
          <a:xfrm>
            <a:off x="5166360" y="2999232"/>
            <a:ext cx="3520440" cy="384048"/>
          </a:xfrm>
          <a:prstGeom prst="roundRect">
            <a:avLst>
              <a:gd name="adj" fmla="val 19048"/>
            </a:avLst>
          </a:prstGeom>
          <a:solidFill>
            <a:srgbClr val="FFFFFF"/>
          </a:solidFill>
          <a:ln w="9525">
            <a:solidFill>
              <a:srgbClr val="D5DED9"/>
            </a:solidFill>
            <a:prstDash val="solid"/>
          </a:ln>
        </p:spPr>
      </p:sp>
      <p:pic>
        <p:nvPicPr>
          <p:cNvPr id="31" name="Image 3" descr="preencoded.png"/>
          <p:cNvPicPr>
            <a:picLocks noChangeAspect="1"/>
          </p:cNvPicPr>
          <p:nvPr/>
        </p:nvPicPr>
        <p:blipFill>
          <a:blip r:embed="rId3"/>
          <a:stretch>
            <a:fillRect/>
          </a:stretch>
        </p:blipFill>
        <p:spPr>
          <a:xfrm>
            <a:off x="5266944" y="3090672"/>
            <a:ext cx="201168" cy="201168"/>
          </a:xfrm>
          <a:prstGeom prst="rect">
            <a:avLst/>
          </a:prstGeom>
        </p:spPr>
      </p:pic>
      <p:sp>
        <p:nvSpPr>
          <p:cNvPr id="32" name="Text 25"/>
          <p:cNvSpPr txBox="1"/>
          <p:nvPr/>
        </p:nvSpPr>
        <p:spPr>
          <a:xfrm>
            <a:off x="5559552" y="2999232"/>
            <a:ext cx="3090672" cy="38404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chaque tuile dans une seule unité admin.</a:t>
            </a:r>
            <a:endParaRPr lang="en-US" sz="850" dirty="0"/>
          </a:p>
        </p:txBody>
      </p:sp>
      <p:sp>
        <p:nvSpPr>
          <p:cNvPr id="33" name="Shape 26"/>
          <p:cNvSpPr/>
          <p:nvPr/>
        </p:nvSpPr>
        <p:spPr>
          <a:xfrm>
            <a:off x="5166360" y="3456432"/>
            <a:ext cx="3520440" cy="384048"/>
          </a:xfrm>
          <a:prstGeom prst="roundRect">
            <a:avLst>
              <a:gd name="adj" fmla="val 19048"/>
            </a:avLst>
          </a:prstGeom>
          <a:solidFill>
            <a:srgbClr val="FFFFFF"/>
          </a:solidFill>
          <a:ln w="9525">
            <a:solidFill>
              <a:srgbClr val="D5DED9"/>
            </a:solidFill>
            <a:prstDash val="solid"/>
          </a:ln>
        </p:spPr>
      </p:sp>
      <p:pic>
        <p:nvPicPr>
          <p:cNvPr id="34" name="Image 4" descr="preencoded.png"/>
          <p:cNvPicPr>
            <a:picLocks noChangeAspect="1"/>
          </p:cNvPicPr>
          <p:nvPr/>
        </p:nvPicPr>
        <p:blipFill>
          <a:blip r:embed="rId3"/>
          <a:stretch>
            <a:fillRect/>
          </a:stretch>
        </p:blipFill>
        <p:spPr>
          <a:xfrm>
            <a:off x="5266944" y="3547872"/>
            <a:ext cx="201168" cy="201168"/>
          </a:xfrm>
          <a:prstGeom prst="rect">
            <a:avLst/>
          </a:prstGeom>
        </p:spPr>
      </p:pic>
      <p:sp>
        <p:nvSpPr>
          <p:cNvPr id="35" name="Text 27"/>
          <p:cNvSpPr txBox="1"/>
          <p:nvPr/>
        </p:nvSpPr>
        <p:spPr>
          <a:xfrm>
            <a:off x="5559552" y="3456432"/>
            <a:ext cx="3090672" cy="38404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nb de tuiles à ±X % du trimestre précédent</a:t>
            </a:r>
            <a:endParaRPr lang="en-US" sz="850" dirty="0"/>
          </a:p>
        </p:txBody>
      </p:sp>
      <p:sp>
        <p:nvSpPr>
          <p:cNvPr id="36" name="Shape 28"/>
          <p:cNvSpPr/>
          <p:nvPr/>
        </p:nvSpPr>
        <p:spPr>
          <a:xfrm>
            <a:off x="5166360" y="3968496"/>
            <a:ext cx="3520440" cy="512064"/>
          </a:xfrm>
          <a:prstGeom prst="roundRect">
            <a:avLst>
              <a:gd name="adj" fmla="val 14286"/>
            </a:avLst>
          </a:prstGeom>
          <a:solidFill>
            <a:srgbClr val="C4621D">
              <a:alpha val="12000"/>
            </a:srgbClr>
          </a:solidFill>
          <a:ln w="12700">
            <a:solidFill>
              <a:srgbClr val="C4621D"/>
            </a:solidFill>
            <a:prstDash val="solid"/>
          </a:ln>
        </p:spPr>
      </p:sp>
      <p:sp>
        <p:nvSpPr>
          <p:cNvPr id="37" name="Text 29"/>
          <p:cNvSpPr txBox="1"/>
          <p:nvPr/>
        </p:nvSpPr>
        <p:spPr>
          <a:xfrm>
            <a:off x="5285232" y="3968496"/>
            <a:ext cx="3328416" cy="512064"/>
          </a:xfrm>
          <a:prstGeom prst="rect">
            <a:avLst/>
          </a:prstGeom>
          <a:noFill/>
          <a:ln/>
        </p:spPr>
        <p:txBody>
          <a:bodyPr wrap="square" lIns="0" tIns="0" rIns="0" bIns="0" rtlCol="0" anchor="ctr"/>
          <a:lstStyle/>
          <a:p>
            <a:pPr marL="0" indent="0">
              <a:buNone/>
            </a:pPr>
            <a:r>
              <a:rPr lang="en-US" sz="900" b="1" dirty="0">
                <a:solidFill>
                  <a:srgbClr val="C4621D"/>
                </a:solidFill>
                <a:latin typeface="Calibri" pitchFamily="34" charset="0"/>
                <a:ea typeface="Calibri" pitchFamily="34" charset="-122"/>
                <a:cs typeface="Calibri" pitchFamily="34" charset="-120"/>
              </a:rPr>
              <a:t>En cas d’échec : </a:t>
            </a:r>
            <a:r>
              <a:rPr lang="en-US" sz="900" dirty="0">
                <a:solidFill>
                  <a:srgbClr val="231F20"/>
                </a:solidFill>
                <a:latin typeface="Calibri" pitchFamily="34" charset="0"/>
                <a:ea typeface="Calibri" pitchFamily="34" charset="-122"/>
                <a:cs typeface="Calibri" pitchFamily="34" charset="-120"/>
              </a:rPr>
              <a:t>arrêter, alerter une personne, ne jamais publier en silence. Outils : Great Expectations · tests dbt · Soda · pandera</a:t>
            </a:r>
            <a:endParaRPr lang="en-US" sz="900" dirty="0"/>
          </a:p>
        </p:txBody>
      </p:sp>
      <p:sp>
        <p:nvSpPr>
          <p:cNvPr id="38" name="Text 30"/>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 documentation Apache Airflow (API TaskFlow, catchup). Les seuils sont fixés par le méthodologue.</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599932" y="315468"/>
            <a:ext cx="118872" cy="118872"/>
          </a:xfrm>
          <a:prstGeom prst="ellipse">
            <a:avLst/>
          </a:prstGeom>
          <a:solidFill>
            <a:srgbClr val="F5C242"/>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06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Métadonnées et versionnage</a:t>
            </a:r>
            <a:endParaRPr lang="en-US" sz="32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Pouvez-vous prouver, des mois plus tard, comment un chiffre publié a été produit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MÉTADONNÉES ET VERSIONNAGE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Trois couches de métadonnées et le lignage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599932" y="315468"/>
            <a:ext cx="118872" cy="118872"/>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280160"/>
            <a:ext cx="2624328" cy="1691640"/>
          </a:xfrm>
          <a:prstGeom prst="roundRect">
            <a:avLst>
              <a:gd name="adj" fmla="val 4324"/>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704088" y="1499616"/>
            <a:ext cx="219456" cy="219456"/>
          </a:xfrm>
          <a:prstGeom prst="rect">
            <a:avLst/>
          </a:prstGeom>
        </p:spPr>
      </p:pic>
      <p:sp>
        <p:nvSpPr>
          <p:cNvPr id="20" name="Text 16"/>
          <p:cNvSpPr txBox="1"/>
          <p:nvPr/>
        </p:nvSpPr>
        <p:spPr>
          <a:xfrm>
            <a:off x="1115568" y="1389888"/>
            <a:ext cx="1874520" cy="43891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Techniques</a:t>
            </a:r>
            <a:endParaRPr lang="en-US" sz="1400" dirty="0"/>
          </a:p>
        </p:txBody>
      </p:sp>
      <p:sp>
        <p:nvSpPr>
          <p:cNvPr id="21" name="Text 17"/>
          <p:cNvSpPr txBox="1"/>
          <p:nvPr/>
        </p:nvSpPr>
        <p:spPr>
          <a:xfrm>
            <a:off x="594360" y="1920240"/>
            <a:ext cx="2377440" cy="56692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Schéma, types, formats, partitions, volume, emplacement</a:t>
            </a:r>
            <a:endParaRPr lang="en-US" sz="1000" dirty="0"/>
          </a:p>
        </p:txBody>
      </p:sp>
      <p:sp>
        <p:nvSpPr>
          <p:cNvPr id="22" name="Text 18"/>
          <p:cNvSpPr txBox="1"/>
          <p:nvPr/>
        </p:nvSpPr>
        <p:spPr>
          <a:xfrm>
            <a:off x="594360" y="2560320"/>
            <a:ext cx="2377440" cy="347472"/>
          </a:xfrm>
          <a:prstGeom prst="rect">
            <a:avLst/>
          </a:prstGeom>
          <a:noFill/>
          <a:ln/>
        </p:spPr>
        <p:txBody>
          <a:bodyPr wrap="square" lIns="0" tIns="0" rIns="0" bIns="0" rtlCol="0" anchor="t"/>
          <a:lstStyle/>
          <a:p>
            <a:pPr marL="0" indent="0">
              <a:buNone/>
            </a:pPr>
            <a:r>
              <a:rPr lang="en-US" sz="900" b="1" i="1" dirty="0">
                <a:solidFill>
                  <a:srgbClr val="B83B2E"/>
                </a:solidFill>
                <a:latin typeface="Calibri" pitchFamily="34" charset="0"/>
                <a:ea typeface="Calibri" pitchFamily="34" charset="-122"/>
                <a:cs typeface="Calibri" pitchFamily="34" charset="-120"/>
              </a:rPr>
              <a:t>Schéma Parquet · catalogue Iceberg</a:t>
            </a:r>
            <a:endParaRPr lang="en-US" sz="900" dirty="0"/>
          </a:p>
        </p:txBody>
      </p:sp>
      <p:sp>
        <p:nvSpPr>
          <p:cNvPr id="23" name="Shape 19"/>
          <p:cNvSpPr/>
          <p:nvPr/>
        </p:nvSpPr>
        <p:spPr>
          <a:xfrm>
            <a:off x="3264408" y="1280160"/>
            <a:ext cx="2624328" cy="1691640"/>
          </a:xfrm>
          <a:prstGeom prst="roundRect">
            <a:avLst>
              <a:gd name="adj" fmla="val 4324"/>
            </a:avLst>
          </a:prstGeom>
          <a:solidFill>
            <a:srgbClr val="E8F5EF"/>
          </a:solidFill>
          <a:ln w="15875">
            <a:solidFill>
              <a:srgbClr val="B83B2E"/>
            </a:solidFill>
            <a:prstDash val="solid"/>
          </a:ln>
        </p:spPr>
      </p:sp>
      <p:sp>
        <p:nvSpPr>
          <p:cNvPr id="24" name="Shape 20"/>
          <p:cNvSpPr/>
          <p:nvPr/>
        </p:nvSpPr>
        <p:spPr>
          <a:xfrm>
            <a:off x="3401568" y="1389888"/>
            <a:ext cx="438912" cy="438912"/>
          </a:xfrm>
          <a:prstGeom prst="ellipse">
            <a:avLst/>
          </a:prstGeom>
          <a:solidFill>
            <a:srgbClr val="B83B2E">
              <a:alpha val="22000"/>
            </a:srgbClr>
          </a:solidFill>
          <a:ln/>
        </p:spPr>
      </p:sp>
      <p:pic>
        <p:nvPicPr>
          <p:cNvPr id="25" name="Image 1" descr="preencoded.png"/>
          <p:cNvPicPr>
            <a:picLocks noChangeAspect="1"/>
          </p:cNvPicPr>
          <p:nvPr/>
        </p:nvPicPr>
        <p:blipFill>
          <a:blip r:embed="rId4"/>
          <a:stretch>
            <a:fillRect/>
          </a:stretch>
        </p:blipFill>
        <p:spPr>
          <a:xfrm>
            <a:off x="3511296" y="1499616"/>
            <a:ext cx="219456" cy="219456"/>
          </a:xfrm>
          <a:prstGeom prst="rect">
            <a:avLst/>
          </a:prstGeom>
        </p:spPr>
      </p:pic>
      <p:sp>
        <p:nvSpPr>
          <p:cNvPr id="26" name="Text 21"/>
          <p:cNvSpPr txBox="1"/>
          <p:nvPr/>
        </p:nvSpPr>
        <p:spPr>
          <a:xfrm>
            <a:off x="3922776" y="1389888"/>
            <a:ext cx="1874520" cy="43891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Statistiques</a:t>
            </a:r>
            <a:endParaRPr lang="en-US" sz="1400" dirty="0"/>
          </a:p>
        </p:txBody>
      </p:sp>
      <p:sp>
        <p:nvSpPr>
          <p:cNvPr id="27" name="Text 22"/>
          <p:cNvSpPr txBox="1"/>
          <p:nvPr/>
        </p:nvSpPr>
        <p:spPr>
          <a:xfrm>
            <a:off x="3401568" y="1920240"/>
            <a:ext cx="2377440" cy="56692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Concepts, définitions, nomenclatures, méthodes, limites</a:t>
            </a:r>
            <a:endParaRPr lang="en-US" sz="1000" dirty="0"/>
          </a:p>
        </p:txBody>
      </p:sp>
      <p:sp>
        <p:nvSpPr>
          <p:cNvPr id="28" name="Text 23"/>
          <p:cNvSpPr txBox="1"/>
          <p:nvPr/>
        </p:nvSpPr>
        <p:spPr>
          <a:xfrm>
            <a:off x="3401568" y="2560320"/>
            <a:ext cx="2377440" cy="347472"/>
          </a:xfrm>
          <a:prstGeom prst="rect">
            <a:avLst/>
          </a:prstGeom>
          <a:noFill/>
          <a:ln/>
        </p:spPr>
        <p:txBody>
          <a:bodyPr wrap="square" lIns="0" tIns="0" rIns="0" bIns="0" rtlCol="0" anchor="t"/>
          <a:lstStyle/>
          <a:p>
            <a:pPr marL="0" indent="0">
              <a:buNone/>
            </a:pPr>
            <a:r>
              <a:rPr lang="en-US" sz="900" b="1" i="1" dirty="0">
                <a:solidFill>
                  <a:srgbClr val="B83B2E"/>
                </a:solidFill>
                <a:latin typeface="Calibri" pitchFamily="34" charset="0"/>
                <a:ea typeface="Calibri" pitchFamily="34" charset="-122"/>
                <a:cs typeface="Calibri" pitchFamily="34" charset="-120"/>
              </a:rPr>
              <a:t>SDMX · DDI · GSIM</a:t>
            </a:r>
            <a:endParaRPr lang="en-US" sz="900" dirty="0"/>
          </a:p>
        </p:txBody>
      </p:sp>
      <p:sp>
        <p:nvSpPr>
          <p:cNvPr id="29" name="Shape 24"/>
          <p:cNvSpPr/>
          <p:nvPr/>
        </p:nvSpPr>
        <p:spPr>
          <a:xfrm>
            <a:off x="6071616" y="1280160"/>
            <a:ext cx="2624328" cy="1691640"/>
          </a:xfrm>
          <a:prstGeom prst="roundRect">
            <a:avLst>
              <a:gd name="adj" fmla="val 4324"/>
            </a:avLst>
          </a:prstGeom>
          <a:solidFill>
            <a:srgbClr val="F4F7F5"/>
          </a:solidFill>
          <a:ln w="9525">
            <a:solidFill>
              <a:srgbClr val="D5DED9"/>
            </a:solidFill>
            <a:prstDash val="solid"/>
          </a:ln>
        </p:spPr>
      </p:sp>
      <p:sp>
        <p:nvSpPr>
          <p:cNvPr id="30" name="Shape 25"/>
          <p:cNvSpPr/>
          <p:nvPr/>
        </p:nvSpPr>
        <p:spPr>
          <a:xfrm>
            <a:off x="6208776" y="1389888"/>
            <a:ext cx="438912" cy="438912"/>
          </a:xfrm>
          <a:prstGeom prst="ellipse">
            <a:avLst/>
          </a:prstGeom>
          <a:solidFill>
            <a:srgbClr val="B83B2E">
              <a:alpha val="22000"/>
            </a:srgbClr>
          </a:solidFill>
          <a:ln/>
        </p:spPr>
      </p:sp>
      <p:pic>
        <p:nvPicPr>
          <p:cNvPr id="31" name="Image 2" descr="preencoded.png"/>
          <p:cNvPicPr>
            <a:picLocks noChangeAspect="1"/>
          </p:cNvPicPr>
          <p:nvPr/>
        </p:nvPicPr>
        <p:blipFill>
          <a:blip r:embed="rId5"/>
          <a:stretch>
            <a:fillRect/>
          </a:stretch>
        </p:blipFill>
        <p:spPr>
          <a:xfrm>
            <a:off x="6318504" y="1499616"/>
            <a:ext cx="219456" cy="219456"/>
          </a:xfrm>
          <a:prstGeom prst="rect">
            <a:avLst/>
          </a:prstGeom>
        </p:spPr>
      </p:pic>
      <p:sp>
        <p:nvSpPr>
          <p:cNvPr id="32" name="Text 26"/>
          <p:cNvSpPr txBox="1"/>
          <p:nvPr/>
        </p:nvSpPr>
        <p:spPr>
          <a:xfrm>
            <a:off x="6729984" y="1389888"/>
            <a:ext cx="1874520" cy="43891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Opérationnelles</a:t>
            </a:r>
            <a:endParaRPr lang="en-US" sz="1400" dirty="0"/>
          </a:p>
        </p:txBody>
      </p:sp>
      <p:sp>
        <p:nvSpPr>
          <p:cNvPr id="33" name="Text 27"/>
          <p:cNvSpPr txBox="1"/>
          <p:nvPr/>
        </p:nvSpPr>
        <p:spPr>
          <a:xfrm>
            <a:off x="6208776" y="1920240"/>
            <a:ext cx="2377440" cy="56692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Lignage, journaux d’exécution, résultats qualité, accès</a:t>
            </a:r>
            <a:endParaRPr lang="en-US" sz="1000" dirty="0"/>
          </a:p>
        </p:txBody>
      </p:sp>
      <p:sp>
        <p:nvSpPr>
          <p:cNvPr id="34" name="Text 28"/>
          <p:cNvSpPr txBox="1"/>
          <p:nvPr/>
        </p:nvSpPr>
        <p:spPr>
          <a:xfrm>
            <a:off x="6208776" y="2560320"/>
            <a:ext cx="2377440" cy="347472"/>
          </a:xfrm>
          <a:prstGeom prst="rect">
            <a:avLst/>
          </a:prstGeom>
          <a:noFill/>
          <a:ln/>
        </p:spPr>
        <p:txBody>
          <a:bodyPr wrap="square" lIns="0" tIns="0" rIns="0" bIns="0" rtlCol="0" anchor="t"/>
          <a:lstStyle/>
          <a:p>
            <a:pPr marL="0" indent="0">
              <a:buNone/>
            </a:pPr>
            <a:r>
              <a:rPr lang="en-US" sz="900" b="1" i="1" dirty="0">
                <a:solidFill>
                  <a:srgbClr val="B83B2E"/>
                </a:solidFill>
                <a:latin typeface="Calibri" pitchFamily="34" charset="0"/>
                <a:ea typeface="Calibri" pitchFamily="34" charset="-122"/>
                <a:cs typeface="Calibri" pitchFamily="34" charset="-120"/>
              </a:rPr>
              <a:t>Journaux de chaîne · lignage du catalogue</a:t>
            </a:r>
            <a:endParaRPr lang="en-US" sz="900" dirty="0"/>
          </a:p>
        </p:txBody>
      </p:sp>
      <p:sp>
        <p:nvSpPr>
          <p:cNvPr id="35" name="Text 29"/>
          <p:cNvSpPr txBox="1"/>
          <p:nvPr/>
        </p:nvSpPr>
        <p:spPr>
          <a:xfrm>
            <a:off x="457200" y="3127248"/>
            <a:ext cx="822960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Lignage : chaque chiffre publié remonte à des entrées exactes</a:t>
            </a:r>
            <a:endParaRPr lang="en-US" sz="1200" dirty="0"/>
          </a:p>
        </p:txBody>
      </p:sp>
      <p:sp>
        <p:nvSpPr>
          <p:cNvPr id="36" name="Shape 30"/>
          <p:cNvSpPr/>
          <p:nvPr/>
        </p:nvSpPr>
        <p:spPr>
          <a:xfrm>
            <a:off x="457200" y="3493008"/>
            <a:ext cx="1463040" cy="731520"/>
          </a:xfrm>
          <a:prstGeom prst="roundRect">
            <a:avLst>
              <a:gd name="adj" fmla="val 10000"/>
            </a:avLst>
          </a:prstGeom>
          <a:solidFill>
            <a:srgbClr val="FFFFFF"/>
          </a:solidFill>
          <a:ln w="15875">
            <a:solidFill>
              <a:srgbClr val="C4621D"/>
            </a:solidFill>
            <a:prstDash val="solid"/>
          </a:ln>
        </p:spPr>
      </p:sp>
      <p:sp>
        <p:nvSpPr>
          <p:cNvPr id="37" name="Text 31"/>
          <p:cNvSpPr txBox="1"/>
          <p:nvPr/>
        </p:nvSpPr>
        <p:spPr>
          <a:xfrm>
            <a:off x="45720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Fichier brut</a:t>
            </a:r>
            <a:endParaRPr lang="en-US" sz="1100" dirty="0"/>
          </a:p>
        </p:txBody>
      </p:sp>
      <p:sp>
        <p:nvSpPr>
          <p:cNvPr id="38" name="Text 32"/>
          <p:cNvSpPr txBox="1"/>
          <p:nvPr/>
        </p:nvSpPr>
        <p:spPr>
          <a:xfrm>
            <a:off x="45720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sha256 9f2c…</a:t>
            </a:r>
            <a:endParaRPr lang="en-US" sz="850" dirty="0"/>
          </a:p>
        </p:txBody>
      </p:sp>
      <p:sp>
        <p:nvSpPr>
          <p:cNvPr id="39" name="Shape 33"/>
          <p:cNvSpPr/>
          <p:nvPr/>
        </p:nvSpPr>
        <p:spPr>
          <a:xfrm>
            <a:off x="1947672" y="3858768"/>
            <a:ext cx="173736" cy="91"/>
          </a:xfrm>
          <a:prstGeom prst="line">
            <a:avLst/>
          </a:prstGeom>
          <a:noFill/>
          <a:ln w="15875">
            <a:solidFill>
              <a:srgbClr val="5E6964"/>
            </a:solidFill>
            <a:prstDash val="solid"/>
            <a:tailEnd type="triangle"/>
          </a:ln>
        </p:spPr>
      </p:sp>
      <p:sp>
        <p:nvSpPr>
          <p:cNvPr id="40" name="Shape 34"/>
          <p:cNvSpPr/>
          <p:nvPr/>
        </p:nvSpPr>
        <p:spPr>
          <a:xfrm>
            <a:off x="2148840" y="3493008"/>
            <a:ext cx="1463040" cy="731520"/>
          </a:xfrm>
          <a:prstGeom prst="roundRect">
            <a:avLst>
              <a:gd name="adj" fmla="val 10000"/>
            </a:avLst>
          </a:prstGeom>
          <a:solidFill>
            <a:srgbClr val="FFFFFF"/>
          </a:solidFill>
          <a:ln w="15875">
            <a:solidFill>
              <a:srgbClr val="5E6964"/>
            </a:solidFill>
            <a:prstDash val="solid"/>
          </a:ln>
        </p:spPr>
      </p:sp>
      <p:sp>
        <p:nvSpPr>
          <p:cNvPr id="41" name="Text 35"/>
          <p:cNvSpPr txBox="1"/>
          <p:nvPr/>
        </p:nvSpPr>
        <p:spPr>
          <a:xfrm>
            <a:off x="214884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Commit de code</a:t>
            </a:r>
            <a:endParaRPr lang="en-US" sz="1100" dirty="0"/>
          </a:p>
        </p:txBody>
      </p:sp>
      <p:sp>
        <p:nvSpPr>
          <p:cNvPr id="42" name="Text 36"/>
          <p:cNvSpPr txBox="1"/>
          <p:nvPr/>
        </p:nvSpPr>
        <p:spPr>
          <a:xfrm>
            <a:off x="214884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git a41f9c2</a:t>
            </a:r>
            <a:endParaRPr lang="en-US" sz="850" dirty="0"/>
          </a:p>
        </p:txBody>
      </p:sp>
      <p:sp>
        <p:nvSpPr>
          <p:cNvPr id="43" name="Shape 37"/>
          <p:cNvSpPr/>
          <p:nvPr/>
        </p:nvSpPr>
        <p:spPr>
          <a:xfrm>
            <a:off x="3639312" y="3858768"/>
            <a:ext cx="173736" cy="91"/>
          </a:xfrm>
          <a:prstGeom prst="line">
            <a:avLst/>
          </a:prstGeom>
          <a:noFill/>
          <a:ln w="15875">
            <a:solidFill>
              <a:srgbClr val="5E6964"/>
            </a:solidFill>
            <a:prstDash val="solid"/>
            <a:tailEnd type="triangle"/>
          </a:ln>
        </p:spPr>
      </p:sp>
      <p:sp>
        <p:nvSpPr>
          <p:cNvPr id="44" name="Shape 38"/>
          <p:cNvSpPr/>
          <p:nvPr/>
        </p:nvSpPr>
        <p:spPr>
          <a:xfrm>
            <a:off x="3840480" y="3493008"/>
            <a:ext cx="1463040" cy="731520"/>
          </a:xfrm>
          <a:prstGeom prst="roundRect">
            <a:avLst>
              <a:gd name="adj" fmla="val 10000"/>
            </a:avLst>
          </a:prstGeom>
          <a:solidFill>
            <a:srgbClr val="FFFFFF"/>
          </a:solidFill>
          <a:ln w="15875">
            <a:solidFill>
              <a:srgbClr val="5E6964"/>
            </a:solidFill>
            <a:prstDash val="solid"/>
          </a:ln>
        </p:spPr>
      </p:sp>
      <p:sp>
        <p:nvSpPr>
          <p:cNvPr id="45" name="Text 39"/>
          <p:cNvSpPr txBox="1"/>
          <p:nvPr/>
        </p:nvSpPr>
        <p:spPr>
          <a:xfrm>
            <a:off x="384048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Table argent</a:t>
            </a:r>
            <a:endParaRPr lang="en-US" sz="1100" dirty="0"/>
          </a:p>
        </p:txBody>
      </p:sp>
      <p:sp>
        <p:nvSpPr>
          <p:cNvPr id="46" name="Text 40"/>
          <p:cNvSpPr txBox="1"/>
          <p:nvPr/>
        </p:nvSpPr>
        <p:spPr>
          <a:xfrm>
            <a:off x="384048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snapshot 118</a:t>
            </a:r>
            <a:endParaRPr lang="en-US" sz="850" dirty="0"/>
          </a:p>
        </p:txBody>
      </p:sp>
      <p:sp>
        <p:nvSpPr>
          <p:cNvPr id="47" name="Shape 41"/>
          <p:cNvSpPr/>
          <p:nvPr/>
        </p:nvSpPr>
        <p:spPr>
          <a:xfrm>
            <a:off x="5330952" y="3858768"/>
            <a:ext cx="173736" cy="91"/>
          </a:xfrm>
          <a:prstGeom prst="line">
            <a:avLst/>
          </a:prstGeom>
          <a:noFill/>
          <a:ln w="15875">
            <a:solidFill>
              <a:srgbClr val="5E6964"/>
            </a:solidFill>
            <a:prstDash val="solid"/>
            <a:tailEnd type="triangle"/>
          </a:ln>
        </p:spPr>
      </p:sp>
      <p:sp>
        <p:nvSpPr>
          <p:cNvPr id="48" name="Shape 42"/>
          <p:cNvSpPr/>
          <p:nvPr/>
        </p:nvSpPr>
        <p:spPr>
          <a:xfrm>
            <a:off x="5532120" y="3493008"/>
            <a:ext cx="1463040" cy="731520"/>
          </a:xfrm>
          <a:prstGeom prst="roundRect">
            <a:avLst>
              <a:gd name="adj" fmla="val 10000"/>
            </a:avLst>
          </a:prstGeom>
          <a:solidFill>
            <a:srgbClr val="FFFFFF"/>
          </a:solidFill>
          <a:ln w="15875">
            <a:solidFill>
              <a:srgbClr val="D49A00"/>
            </a:solidFill>
            <a:prstDash val="solid"/>
          </a:ln>
        </p:spPr>
      </p:sp>
      <p:sp>
        <p:nvSpPr>
          <p:cNvPr id="49" name="Text 43"/>
          <p:cNvSpPr txBox="1"/>
          <p:nvPr/>
        </p:nvSpPr>
        <p:spPr>
          <a:xfrm>
            <a:off x="553212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Table or</a:t>
            </a:r>
            <a:endParaRPr lang="en-US" sz="1100" dirty="0"/>
          </a:p>
        </p:txBody>
      </p:sp>
      <p:sp>
        <p:nvSpPr>
          <p:cNvPr id="50" name="Text 44"/>
          <p:cNvSpPr txBox="1"/>
          <p:nvPr/>
        </p:nvSpPr>
        <p:spPr>
          <a:xfrm>
            <a:off x="553212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snapshot 57</a:t>
            </a:r>
            <a:endParaRPr lang="en-US" sz="850" dirty="0"/>
          </a:p>
        </p:txBody>
      </p:sp>
      <p:sp>
        <p:nvSpPr>
          <p:cNvPr id="51" name="Shape 45"/>
          <p:cNvSpPr/>
          <p:nvPr/>
        </p:nvSpPr>
        <p:spPr>
          <a:xfrm>
            <a:off x="7022592" y="3858768"/>
            <a:ext cx="173736" cy="91"/>
          </a:xfrm>
          <a:prstGeom prst="line">
            <a:avLst/>
          </a:prstGeom>
          <a:noFill/>
          <a:ln w="15875">
            <a:solidFill>
              <a:srgbClr val="5E6964"/>
            </a:solidFill>
            <a:prstDash val="solid"/>
            <a:tailEnd type="triangle"/>
          </a:ln>
        </p:spPr>
      </p:sp>
      <p:sp>
        <p:nvSpPr>
          <p:cNvPr id="52" name="Shape 46"/>
          <p:cNvSpPr/>
          <p:nvPr/>
        </p:nvSpPr>
        <p:spPr>
          <a:xfrm>
            <a:off x="7223760" y="3493008"/>
            <a:ext cx="1463040" cy="731520"/>
          </a:xfrm>
          <a:prstGeom prst="roundRect">
            <a:avLst>
              <a:gd name="adj" fmla="val 10000"/>
            </a:avLst>
          </a:prstGeom>
          <a:solidFill>
            <a:srgbClr val="E8F5EF"/>
          </a:solidFill>
          <a:ln w="15875">
            <a:solidFill>
              <a:srgbClr val="B83B2E"/>
            </a:solidFill>
            <a:prstDash val="solid"/>
          </a:ln>
        </p:spPr>
      </p:sp>
      <p:sp>
        <p:nvSpPr>
          <p:cNvPr id="53" name="Text 47"/>
          <p:cNvSpPr txBox="1"/>
          <p:nvPr/>
        </p:nvSpPr>
        <p:spPr>
          <a:xfrm>
            <a:off x="722376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Chiffre publié</a:t>
            </a:r>
            <a:endParaRPr lang="en-US" sz="1100" dirty="0"/>
          </a:p>
        </p:txBody>
      </p:sp>
      <p:sp>
        <p:nvSpPr>
          <p:cNvPr id="54" name="Text 48"/>
          <p:cNvSpPr txBox="1"/>
          <p:nvPr/>
        </p:nvSpPr>
        <p:spPr>
          <a:xfrm>
            <a:off x="722376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T4 2025 · Kigali</a:t>
            </a:r>
            <a:endParaRPr lang="en-US" sz="850" dirty="0"/>
          </a:p>
        </p:txBody>
      </p:sp>
      <p:sp>
        <p:nvSpPr>
          <p:cNvPr id="55" name="Text 49"/>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Outils de catalogue : DataHub, OpenMetadata, CKAN ; description des jeux de données : W3C DCAT. Identifiants illustratifs.</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MÉTADONNÉES ET VERSIONNAGE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Versionner trois choses, pas une seule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599932" y="315468"/>
            <a:ext cx="118872" cy="118872"/>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280160"/>
            <a:ext cx="2624328" cy="2148840"/>
          </a:xfrm>
          <a:prstGeom prst="roundRect">
            <a:avLst>
              <a:gd name="adj" fmla="val 3404"/>
            </a:avLst>
          </a:prstGeom>
          <a:solidFill>
            <a:srgbClr val="F4F7F5"/>
          </a:solidFill>
          <a:ln w="9525">
            <a:solidFill>
              <a:srgbClr val="D5DED9"/>
            </a:solidFill>
            <a:prstDash val="solid"/>
          </a:ln>
        </p:spPr>
      </p:sp>
      <p:sp>
        <p:nvSpPr>
          <p:cNvPr id="18" name="Shape 15"/>
          <p:cNvSpPr/>
          <p:nvPr/>
        </p:nvSpPr>
        <p:spPr>
          <a:xfrm>
            <a:off x="1490472" y="1389888"/>
            <a:ext cx="548640" cy="548640"/>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1627632" y="1527048"/>
            <a:ext cx="274320" cy="274320"/>
          </a:xfrm>
          <a:prstGeom prst="rect">
            <a:avLst/>
          </a:prstGeom>
        </p:spPr>
      </p:pic>
      <p:sp>
        <p:nvSpPr>
          <p:cNvPr id="20" name="Text 16"/>
          <p:cNvSpPr txBox="1"/>
          <p:nvPr/>
        </p:nvSpPr>
        <p:spPr>
          <a:xfrm>
            <a:off x="457200" y="1984248"/>
            <a:ext cx="2624328" cy="2743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Code</a:t>
            </a:r>
            <a:endParaRPr lang="en-US" sz="1500" dirty="0"/>
          </a:p>
        </p:txBody>
      </p:sp>
      <p:sp>
        <p:nvSpPr>
          <p:cNvPr id="21" name="Text 17"/>
          <p:cNvSpPr txBox="1"/>
          <p:nvPr/>
        </p:nvSpPr>
        <p:spPr>
          <a:xfrm>
            <a:off x="594360" y="2331720"/>
            <a:ext cx="2395728" cy="105156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Dépôt Git, demandes de fusion relues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Versions étiquetées (v1.2.0)</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Tests automatiques en CI</a:t>
            </a:r>
            <a:endParaRPr lang="en-US" sz="950" dirty="0"/>
          </a:p>
        </p:txBody>
      </p:sp>
      <p:sp>
        <p:nvSpPr>
          <p:cNvPr id="22" name="Shape 18"/>
          <p:cNvSpPr/>
          <p:nvPr/>
        </p:nvSpPr>
        <p:spPr>
          <a:xfrm>
            <a:off x="3264408" y="1280160"/>
            <a:ext cx="2624328" cy="2148840"/>
          </a:xfrm>
          <a:prstGeom prst="roundRect">
            <a:avLst>
              <a:gd name="adj" fmla="val 3404"/>
            </a:avLst>
          </a:prstGeom>
          <a:solidFill>
            <a:srgbClr val="F4F7F5"/>
          </a:solidFill>
          <a:ln w="9525">
            <a:solidFill>
              <a:srgbClr val="D5DED9"/>
            </a:solidFill>
            <a:prstDash val="solid"/>
          </a:ln>
        </p:spPr>
      </p:sp>
      <p:sp>
        <p:nvSpPr>
          <p:cNvPr id="23" name="Shape 19"/>
          <p:cNvSpPr/>
          <p:nvPr/>
        </p:nvSpPr>
        <p:spPr>
          <a:xfrm>
            <a:off x="4297680" y="1389888"/>
            <a:ext cx="548640" cy="548640"/>
          </a:xfrm>
          <a:prstGeom prst="ellipse">
            <a:avLst/>
          </a:prstGeom>
          <a:solidFill>
            <a:srgbClr val="B83B2E">
              <a:alpha val="22000"/>
            </a:srgbClr>
          </a:solidFill>
          <a:ln/>
        </p:spPr>
      </p:sp>
      <p:pic>
        <p:nvPicPr>
          <p:cNvPr id="24" name="Image 1" descr="preencoded.png"/>
          <p:cNvPicPr>
            <a:picLocks noChangeAspect="1"/>
          </p:cNvPicPr>
          <p:nvPr/>
        </p:nvPicPr>
        <p:blipFill>
          <a:blip r:embed="rId4"/>
          <a:stretch>
            <a:fillRect/>
          </a:stretch>
        </p:blipFill>
        <p:spPr>
          <a:xfrm>
            <a:off x="4434840" y="1527048"/>
            <a:ext cx="274320" cy="274320"/>
          </a:xfrm>
          <a:prstGeom prst="rect">
            <a:avLst/>
          </a:prstGeom>
        </p:spPr>
      </p:pic>
      <p:sp>
        <p:nvSpPr>
          <p:cNvPr id="25" name="Text 20"/>
          <p:cNvSpPr txBox="1"/>
          <p:nvPr/>
        </p:nvSpPr>
        <p:spPr>
          <a:xfrm>
            <a:off x="3264408" y="1984248"/>
            <a:ext cx="2624328" cy="2743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Données</a:t>
            </a:r>
            <a:endParaRPr lang="en-US" sz="1500" dirty="0"/>
          </a:p>
        </p:txBody>
      </p:sp>
      <p:sp>
        <p:nvSpPr>
          <p:cNvPr id="26" name="Text 21"/>
          <p:cNvSpPr txBox="1"/>
          <p:nvPr/>
        </p:nvSpPr>
        <p:spPr>
          <a:xfrm>
            <a:off x="3401568" y="2331720"/>
            <a:ext cx="2395728" cy="105156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Instantanés de tables : Iceberg, Delta Lake</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Versionnage de fichiers : DVC, lakeFS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La zone bronze n’est jamais écrasée</a:t>
            </a:r>
            <a:endParaRPr lang="en-US" sz="950" dirty="0"/>
          </a:p>
        </p:txBody>
      </p:sp>
      <p:sp>
        <p:nvSpPr>
          <p:cNvPr id="27" name="Shape 22"/>
          <p:cNvSpPr/>
          <p:nvPr/>
        </p:nvSpPr>
        <p:spPr>
          <a:xfrm>
            <a:off x="6071616" y="1280160"/>
            <a:ext cx="2624328" cy="2148840"/>
          </a:xfrm>
          <a:prstGeom prst="roundRect">
            <a:avLst>
              <a:gd name="adj" fmla="val 3404"/>
            </a:avLst>
          </a:prstGeom>
          <a:solidFill>
            <a:srgbClr val="F4F7F5"/>
          </a:solidFill>
          <a:ln w="9525">
            <a:solidFill>
              <a:srgbClr val="D5DED9"/>
            </a:solidFill>
            <a:prstDash val="solid"/>
          </a:ln>
        </p:spPr>
      </p:sp>
      <p:sp>
        <p:nvSpPr>
          <p:cNvPr id="28" name="Shape 23"/>
          <p:cNvSpPr/>
          <p:nvPr/>
        </p:nvSpPr>
        <p:spPr>
          <a:xfrm>
            <a:off x="7104888" y="1389888"/>
            <a:ext cx="548640" cy="548640"/>
          </a:xfrm>
          <a:prstGeom prst="ellipse">
            <a:avLst/>
          </a:prstGeom>
          <a:solidFill>
            <a:srgbClr val="B83B2E">
              <a:alpha val="22000"/>
            </a:srgbClr>
          </a:solidFill>
          <a:ln/>
        </p:spPr>
      </p:sp>
      <p:pic>
        <p:nvPicPr>
          <p:cNvPr id="29" name="Image 2" descr="preencoded.png"/>
          <p:cNvPicPr>
            <a:picLocks noChangeAspect="1"/>
          </p:cNvPicPr>
          <p:nvPr/>
        </p:nvPicPr>
        <p:blipFill>
          <a:blip r:embed="rId5"/>
          <a:stretch>
            <a:fillRect/>
          </a:stretch>
        </p:blipFill>
        <p:spPr>
          <a:xfrm>
            <a:off x="7242048" y="1527048"/>
            <a:ext cx="274320" cy="274320"/>
          </a:xfrm>
          <a:prstGeom prst="rect">
            <a:avLst/>
          </a:prstGeom>
        </p:spPr>
      </p:pic>
      <p:sp>
        <p:nvSpPr>
          <p:cNvPr id="30" name="Text 24"/>
          <p:cNvSpPr txBox="1"/>
          <p:nvPr/>
        </p:nvSpPr>
        <p:spPr>
          <a:xfrm>
            <a:off x="6071616" y="1984248"/>
            <a:ext cx="2624328" cy="2743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Environnement</a:t>
            </a:r>
            <a:endParaRPr lang="en-US" sz="1500" dirty="0"/>
          </a:p>
        </p:txBody>
      </p:sp>
      <p:sp>
        <p:nvSpPr>
          <p:cNvPr id="31" name="Text 25"/>
          <p:cNvSpPr txBox="1"/>
          <p:nvPr/>
        </p:nvSpPr>
        <p:spPr>
          <a:xfrm>
            <a:off x="6208776" y="2331720"/>
            <a:ext cx="2395728" cy="105156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Dépendances figées : fichiers de verrouillage</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Environnements Conda ou conteneurs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Mêmes entrées + même code + même env. = même chiffre</a:t>
            </a:r>
            <a:endParaRPr lang="en-US" sz="950" dirty="0"/>
          </a:p>
        </p:txBody>
      </p:sp>
      <p:sp>
        <p:nvSpPr>
          <p:cNvPr id="32" name="Shape 26"/>
          <p:cNvSpPr/>
          <p:nvPr/>
        </p:nvSpPr>
        <p:spPr>
          <a:xfrm>
            <a:off x="457200" y="3611880"/>
            <a:ext cx="8229600" cy="868680"/>
          </a:xfrm>
          <a:prstGeom prst="roundRect">
            <a:avLst>
              <a:gd name="adj" fmla="val 8421"/>
            </a:avLst>
          </a:prstGeom>
          <a:solidFill>
            <a:srgbClr val="E8F5EF"/>
          </a:solidFill>
          <a:ln w="15875">
            <a:solidFill>
              <a:srgbClr val="B83B2E"/>
            </a:solidFill>
            <a:prstDash val="solid"/>
          </a:ln>
        </p:spPr>
      </p:sp>
      <p:sp>
        <p:nvSpPr>
          <p:cNvPr id="33" name="Shape 27"/>
          <p:cNvSpPr/>
          <p:nvPr/>
        </p:nvSpPr>
        <p:spPr>
          <a:xfrm>
            <a:off x="621792" y="3813048"/>
            <a:ext cx="475488" cy="475488"/>
          </a:xfrm>
          <a:prstGeom prst="ellipse">
            <a:avLst/>
          </a:prstGeom>
          <a:solidFill>
            <a:srgbClr val="231F20">
              <a:alpha val="22000"/>
            </a:srgbClr>
          </a:solidFill>
          <a:ln/>
        </p:spPr>
      </p:sp>
      <p:pic>
        <p:nvPicPr>
          <p:cNvPr id="34" name="Image 3" descr="preencoded.png"/>
          <p:cNvPicPr>
            <a:picLocks noChangeAspect="1"/>
          </p:cNvPicPr>
          <p:nvPr/>
        </p:nvPicPr>
        <p:blipFill>
          <a:blip r:embed="rId6"/>
          <a:stretch>
            <a:fillRect/>
          </a:stretch>
        </p:blipFill>
        <p:spPr>
          <a:xfrm>
            <a:off x="740664" y="3931920"/>
            <a:ext cx="237744" cy="237744"/>
          </a:xfrm>
          <a:prstGeom prst="rect">
            <a:avLst/>
          </a:prstGeom>
        </p:spPr>
      </p:pic>
      <p:sp>
        <p:nvSpPr>
          <p:cNvPr id="35" name="Text 28"/>
          <p:cNvSpPr txBox="1"/>
          <p:nvPr/>
        </p:nvSpPr>
        <p:spPr>
          <a:xfrm>
            <a:off x="1280160" y="3675888"/>
            <a:ext cx="7223760" cy="256032"/>
          </a:xfrm>
          <a:prstGeom prst="rect">
            <a:avLst/>
          </a:prstGeom>
          <a:noFill/>
          <a:ln/>
        </p:spPr>
        <p:txBody>
          <a:bodyPr wrap="square" lIns="0" tIns="0" rIns="0" bIns="0" rtlCol="0" anchor="t"/>
          <a:lstStyle/>
          <a:p>
            <a:pPr marL="0" indent="0">
              <a:buNone/>
            </a:pPr>
            <a:r>
              <a:rPr lang="en-US" sz="1250" b="1" dirty="0">
                <a:solidFill>
                  <a:srgbClr val="B83B2E"/>
                </a:solidFill>
                <a:latin typeface="Calibri" pitchFamily="34" charset="0"/>
                <a:ea typeface="Calibri" pitchFamily="34" charset="-122"/>
                <a:cs typeface="Calibri" pitchFamily="34" charset="-120"/>
              </a:rPr>
              <a:t>La version publiée = ce que produiront les jours 3 à 5</a:t>
            </a:r>
            <a:endParaRPr lang="en-US" sz="1250" dirty="0"/>
          </a:p>
        </p:txBody>
      </p:sp>
      <p:sp>
        <p:nvSpPr>
          <p:cNvPr id="36" name="Text 29"/>
          <p:cNvSpPr txBox="1"/>
          <p:nvPr/>
        </p:nvSpPr>
        <p:spPr>
          <a:xfrm>
            <a:off x="1280160" y="3950208"/>
            <a:ext cx="722376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Version GitHub étiquetée  +  README (méthode, sources, licence, limites)  +  DOI citable via Zenodo  +  responsable de maintenance désigné</a:t>
            </a:r>
            <a:endParaRPr lang="en-US" sz="1050" dirty="0"/>
          </a:p>
        </p:txBody>
      </p:sp>
      <p:sp>
        <p:nvSpPr>
          <p:cNvPr id="37" name="Text 30"/>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 documentation de l’intégration GitHub–Zenodo ; documentation DVC et lakeFS.</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SYNTHÈSE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Une plateforme qu’un INS peut faire grandir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280160"/>
            <a:ext cx="3840480" cy="2697480"/>
          </a:xfrm>
          <a:prstGeom prst="roundRect">
            <a:avLst>
              <a:gd name="adj" fmla="val 2712"/>
            </a:avLst>
          </a:prstGeom>
          <a:solidFill>
            <a:srgbClr val="F4F7F5"/>
          </a:solidFill>
          <a:ln w="9525">
            <a:solidFill>
              <a:srgbClr val="D5DED9"/>
            </a:solidFill>
            <a:prstDash val="solid"/>
          </a:ln>
        </p:spPr>
      </p:sp>
      <p:sp>
        <p:nvSpPr>
          <p:cNvPr id="18" name="Text 15"/>
          <p:cNvSpPr txBox="1"/>
          <p:nvPr/>
        </p:nvSpPr>
        <p:spPr>
          <a:xfrm>
            <a:off x="621792" y="1371600"/>
            <a:ext cx="1188720" cy="256032"/>
          </a:xfrm>
          <a:prstGeom prst="rect">
            <a:avLst/>
          </a:prstGeom>
          <a:noFill/>
          <a:ln/>
        </p:spPr>
        <p:txBody>
          <a:bodyPr wrap="square" lIns="0" tIns="0" rIns="0" bIns="0" rtlCol="0" anchor="t"/>
          <a:lstStyle/>
          <a:p>
            <a:pPr marL="0" indent="0">
              <a:buNone/>
            </a:pPr>
            <a:r>
              <a:rPr lang="en-US" sz="1200" b="1" kern="0" spc="300" dirty="0">
                <a:solidFill>
                  <a:srgbClr val="00A86A"/>
                </a:solidFill>
                <a:latin typeface="Calibri" pitchFamily="34" charset="0"/>
                <a:ea typeface="Calibri" pitchFamily="34" charset="-122"/>
                <a:cs typeface="Calibri" pitchFamily="34" charset="-120"/>
              </a:rPr>
              <a:t>DÉPART</a:t>
            </a:r>
            <a:endParaRPr lang="en-US" sz="1200" dirty="0"/>
          </a:p>
        </p:txBody>
      </p:sp>
      <p:sp>
        <p:nvSpPr>
          <p:cNvPr id="19" name="Text 16"/>
          <p:cNvSpPr txBox="1"/>
          <p:nvPr/>
        </p:nvSpPr>
        <p:spPr>
          <a:xfrm>
            <a:off x="1737360" y="1371600"/>
            <a:ext cx="2423160" cy="256032"/>
          </a:xfrm>
          <a:prstGeom prst="rect">
            <a:avLst/>
          </a:prstGeom>
          <a:noFill/>
          <a:ln/>
        </p:spPr>
        <p:txBody>
          <a:bodyPr wrap="square" lIns="0" tIns="0" rIns="0" bIns="0" rtlCol="0" anchor="t"/>
          <a:lstStyle/>
          <a:p>
            <a:pPr marL="0" indent="0" algn="r">
              <a:buNone/>
            </a:pPr>
            <a:r>
              <a:rPr lang="en-US" sz="1150" b="1" dirty="0">
                <a:solidFill>
                  <a:srgbClr val="231F20"/>
                </a:solidFill>
                <a:latin typeface="Calibri" pitchFamily="34" charset="0"/>
                <a:ea typeface="Calibri" pitchFamily="34" charset="-122"/>
                <a:cs typeface="Calibri" pitchFamily="34" charset="-120"/>
              </a:rPr>
              <a:t>Un serveur ou un portable</a:t>
            </a:r>
            <a:endParaRPr lang="en-US" sz="1150" dirty="0"/>
          </a:p>
        </p:txBody>
      </p:sp>
      <p:sp>
        <p:nvSpPr>
          <p:cNvPr id="20" name="Shape 17"/>
          <p:cNvSpPr/>
          <p:nvPr/>
        </p:nvSpPr>
        <p:spPr>
          <a:xfrm>
            <a:off x="640080" y="1837944"/>
            <a:ext cx="109728" cy="109728"/>
          </a:xfrm>
          <a:prstGeom prst="ellipse">
            <a:avLst/>
          </a:prstGeom>
          <a:solidFill>
            <a:srgbClr val="00704A"/>
          </a:solidFill>
          <a:ln/>
        </p:spPr>
      </p:sp>
      <p:sp>
        <p:nvSpPr>
          <p:cNvPr id="21" name="Text 18"/>
          <p:cNvSpPr txBox="1"/>
          <p:nvPr/>
        </p:nvSpPr>
        <p:spPr>
          <a:xfrm>
            <a:off x="841248" y="173736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Stockage</a:t>
            </a:r>
            <a:endParaRPr lang="en-US" sz="950" dirty="0"/>
          </a:p>
        </p:txBody>
      </p:sp>
      <p:sp>
        <p:nvSpPr>
          <p:cNvPr id="22" name="Text 19"/>
          <p:cNvSpPr txBox="1"/>
          <p:nvPr/>
        </p:nvSpPr>
        <p:spPr>
          <a:xfrm>
            <a:off x="1965960" y="173736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Dossiers ou MinIO + Parquet</a:t>
            </a:r>
            <a:endParaRPr lang="en-US" sz="1000" dirty="0"/>
          </a:p>
        </p:txBody>
      </p:sp>
      <p:sp>
        <p:nvSpPr>
          <p:cNvPr id="23" name="Shape 20"/>
          <p:cNvSpPr/>
          <p:nvPr/>
        </p:nvSpPr>
        <p:spPr>
          <a:xfrm>
            <a:off x="640080" y="2203704"/>
            <a:ext cx="109728" cy="109728"/>
          </a:xfrm>
          <a:prstGeom prst="ellipse">
            <a:avLst/>
          </a:prstGeom>
          <a:solidFill>
            <a:srgbClr val="0E7C86"/>
          </a:solidFill>
          <a:ln/>
        </p:spPr>
      </p:sp>
      <p:sp>
        <p:nvSpPr>
          <p:cNvPr id="24" name="Text 21"/>
          <p:cNvSpPr txBox="1"/>
          <p:nvPr/>
        </p:nvSpPr>
        <p:spPr>
          <a:xfrm>
            <a:off x="841248" y="210312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Traitement</a:t>
            </a:r>
            <a:endParaRPr lang="en-US" sz="950" dirty="0"/>
          </a:p>
        </p:txBody>
      </p:sp>
      <p:sp>
        <p:nvSpPr>
          <p:cNvPr id="25" name="Text 22"/>
          <p:cNvSpPr txBox="1"/>
          <p:nvPr/>
        </p:nvSpPr>
        <p:spPr>
          <a:xfrm>
            <a:off x="1965960" y="210312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DuckDB · Polars · pandas</a:t>
            </a:r>
            <a:endParaRPr lang="en-US" sz="1000" dirty="0"/>
          </a:p>
        </p:txBody>
      </p:sp>
      <p:sp>
        <p:nvSpPr>
          <p:cNvPr id="26" name="Shape 23"/>
          <p:cNvSpPr/>
          <p:nvPr/>
        </p:nvSpPr>
        <p:spPr>
          <a:xfrm>
            <a:off x="640080" y="2569464"/>
            <a:ext cx="109728" cy="109728"/>
          </a:xfrm>
          <a:prstGeom prst="ellipse">
            <a:avLst/>
          </a:prstGeom>
          <a:solidFill>
            <a:srgbClr val="D49A00"/>
          </a:solidFill>
          <a:ln/>
        </p:spPr>
      </p:sp>
      <p:sp>
        <p:nvSpPr>
          <p:cNvPr id="27" name="Text 24"/>
          <p:cNvSpPr txBox="1"/>
          <p:nvPr/>
        </p:nvSpPr>
        <p:spPr>
          <a:xfrm>
            <a:off x="841248" y="246888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Recherche</a:t>
            </a:r>
            <a:endParaRPr lang="en-US" sz="950" dirty="0"/>
          </a:p>
        </p:txBody>
      </p:sp>
      <p:sp>
        <p:nvSpPr>
          <p:cNvPr id="28" name="Text 25"/>
          <p:cNvSpPr txBox="1"/>
          <p:nvPr/>
        </p:nvSpPr>
        <p:spPr>
          <a:xfrm>
            <a:off x="1965960" y="246888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Facultative</a:t>
            </a:r>
            <a:endParaRPr lang="en-US" sz="1000" dirty="0"/>
          </a:p>
        </p:txBody>
      </p:sp>
      <p:sp>
        <p:nvSpPr>
          <p:cNvPr id="29" name="Shape 26"/>
          <p:cNvSpPr/>
          <p:nvPr/>
        </p:nvSpPr>
        <p:spPr>
          <a:xfrm>
            <a:off x="640080" y="2935224"/>
            <a:ext cx="109728" cy="109728"/>
          </a:xfrm>
          <a:prstGeom prst="ellipse">
            <a:avLst/>
          </a:prstGeom>
          <a:solidFill>
            <a:srgbClr val="C4621D"/>
          </a:solidFill>
          <a:ln/>
        </p:spPr>
      </p:sp>
      <p:sp>
        <p:nvSpPr>
          <p:cNvPr id="30" name="Text 27"/>
          <p:cNvSpPr txBox="1"/>
          <p:nvPr/>
        </p:nvSpPr>
        <p:spPr>
          <a:xfrm>
            <a:off x="841248" y="283464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Orchestration</a:t>
            </a:r>
            <a:endParaRPr lang="en-US" sz="950" dirty="0"/>
          </a:p>
        </p:txBody>
      </p:sp>
      <p:sp>
        <p:nvSpPr>
          <p:cNvPr id="31" name="Text 28"/>
          <p:cNvSpPr txBox="1"/>
          <p:nvPr/>
        </p:nvSpPr>
        <p:spPr>
          <a:xfrm>
            <a:off x="1965960" y="283464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cron · GitHub Actions</a:t>
            </a:r>
            <a:endParaRPr lang="en-US" sz="1000" dirty="0"/>
          </a:p>
        </p:txBody>
      </p:sp>
      <p:sp>
        <p:nvSpPr>
          <p:cNvPr id="32" name="Shape 29"/>
          <p:cNvSpPr/>
          <p:nvPr/>
        </p:nvSpPr>
        <p:spPr>
          <a:xfrm>
            <a:off x="640080" y="3300984"/>
            <a:ext cx="109728" cy="109728"/>
          </a:xfrm>
          <a:prstGeom prst="ellipse">
            <a:avLst/>
          </a:prstGeom>
          <a:solidFill>
            <a:srgbClr val="B83B2E"/>
          </a:solidFill>
          <a:ln/>
        </p:spPr>
      </p:sp>
      <p:sp>
        <p:nvSpPr>
          <p:cNvPr id="33" name="Text 30"/>
          <p:cNvSpPr txBox="1"/>
          <p:nvPr/>
        </p:nvSpPr>
        <p:spPr>
          <a:xfrm>
            <a:off x="841248" y="320040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Métadonnées</a:t>
            </a:r>
            <a:endParaRPr lang="en-US" sz="950" dirty="0"/>
          </a:p>
        </p:txBody>
      </p:sp>
      <p:sp>
        <p:nvSpPr>
          <p:cNvPr id="34" name="Text 31"/>
          <p:cNvSpPr txBox="1"/>
          <p:nvPr/>
        </p:nvSpPr>
        <p:spPr>
          <a:xfrm>
            <a:off x="1965960" y="320040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README + fichiers de provenance</a:t>
            </a:r>
            <a:endParaRPr lang="en-US" sz="1000" dirty="0"/>
          </a:p>
        </p:txBody>
      </p:sp>
      <p:sp>
        <p:nvSpPr>
          <p:cNvPr id="35" name="Shape 32"/>
          <p:cNvSpPr/>
          <p:nvPr/>
        </p:nvSpPr>
        <p:spPr>
          <a:xfrm>
            <a:off x="640080" y="3666744"/>
            <a:ext cx="109728" cy="109728"/>
          </a:xfrm>
          <a:prstGeom prst="ellipse">
            <a:avLst/>
          </a:prstGeom>
          <a:solidFill>
            <a:srgbClr val="B83B2E"/>
          </a:solidFill>
          <a:ln/>
        </p:spPr>
      </p:sp>
      <p:sp>
        <p:nvSpPr>
          <p:cNvPr id="36" name="Text 33"/>
          <p:cNvSpPr txBox="1"/>
          <p:nvPr/>
        </p:nvSpPr>
        <p:spPr>
          <a:xfrm>
            <a:off x="841248" y="356616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Versionnage</a:t>
            </a:r>
            <a:endParaRPr lang="en-US" sz="950" dirty="0"/>
          </a:p>
        </p:txBody>
      </p:sp>
      <p:sp>
        <p:nvSpPr>
          <p:cNvPr id="37" name="Text 34"/>
          <p:cNvSpPr txBox="1"/>
          <p:nvPr/>
        </p:nvSpPr>
        <p:spPr>
          <a:xfrm>
            <a:off x="1965960" y="356616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Git + GitHub</a:t>
            </a:r>
            <a:endParaRPr lang="en-US" sz="1000" dirty="0"/>
          </a:p>
        </p:txBody>
      </p:sp>
      <p:sp>
        <p:nvSpPr>
          <p:cNvPr id="38" name="Shape 35"/>
          <p:cNvSpPr/>
          <p:nvPr/>
        </p:nvSpPr>
        <p:spPr>
          <a:xfrm>
            <a:off x="4846320" y="1280160"/>
            <a:ext cx="3840480" cy="2697480"/>
          </a:xfrm>
          <a:prstGeom prst="roundRect">
            <a:avLst>
              <a:gd name="adj" fmla="val 2712"/>
            </a:avLst>
          </a:prstGeom>
          <a:solidFill>
            <a:srgbClr val="E8F5EF"/>
          </a:solidFill>
          <a:ln w="15875">
            <a:solidFill>
              <a:srgbClr val="00704A"/>
            </a:solidFill>
            <a:prstDash val="solid"/>
          </a:ln>
        </p:spPr>
      </p:sp>
      <p:sp>
        <p:nvSpPr>
          <p:cNvPr id="39" name="Text 36"/>
          <p:cNvSpPr txBox="1"/>
          <p:nvPr/>
        </p:nvSpPr>
        <p:spPr>
          <a:xfrm>
            <a:off x="5010912" y="1371600"/>
            <a:ext cx="1188720" cy="256032"/>
          </a:xfrm>
          <a:prstGeom prst="rect">
            <a:avLst/>
          </a:prstGeom>
          <a:noFill/>
          <a:ln/>
        </p:spPr>
        <p:txBody>
          <a:bodyPr wrap="square" lIns="0" tIns="0" rIns="0" bIns="0" rtlCol="0" anchor="t"/>
          <a:lstStyle/>
          <a:p>
            <a:pPr marL="0" indent="0">
              <a:buNone/>
            </a:pPr>
            <a:r>
              <a:rPr lang="en-US" sz="1200" b="1" kern="0" spc="300" dirty="0">
                <a:solidFill>
                  <a:srgbClr val="00704A"/>
                </a:solidFill>
                <a:latin typeface="Calibri" pitchFamily="34" charset="0"/>
                <a:ea typeface="Calibri" pitchFamily="34" charset="-122"/>
                <a:cs typeface="Calibri" pitchFamily="34" charset="-120"/>
              </a:rPr>
              <a:t>ÉCHELLE</a:t>
            </a:r>
            <a:endParaRPr lang="en-US" sz="1200" dirty="0"/>
          </a:p>
        </p:txBody>
      </p:sp>
      <p:sp>
        <p:nvSpPr>
          <p:cNvPr id="40" name="Text 37"/>
          <p:cNvSpPr txBox="1"/>
          <p:nvPr/>
        </p:nvSpPr>
        <p:spPr>
          <a:xfrm>
            <a:off x="6126480" y="1371600"/>
            <a:ext cx="2423160" cy="256032"/>
          </a:xfrm>
          <a:prstGeom prst="rect">
            <a:avLst/>
          </a:prstGeom>
          <a:noFill/>
          <a:ln/>
        </p:spPr>
        <p:txBody>
          <a:bodyPr wrap="square" lIns="0" tIns="0" rIns="0" bIns="0" rtlCol="0" anchor="t"/>
          <a:lstStyle/>
          <a:p>
            <a:pPr marL="0" indent="0" algn="r">
              <a:buNone/>
            </a:pPr>
            <a:r>
              <a:rPr lang="en-US" sz="1150" b="1" dirty="0">
                <a:solidFill>
                  <a:srgbClr val="231F20"/>
                </a:solidFill>
                <a:latin typeface="Calibri" pitchFamily="34" charset="0"/>
                <a:ea typeface="Calibri" pitchFamily="34" charset="-122"/>
                <a:cs typeface="Calibri" pitchFamily="34" charset="-120"/>
              </a:rPr>
              <a:t>Plateforme nationale ou régionale</a:t>
            </a:r>
            <a:endParaRPr lang="en-US" sz="1150" dirty="0"/>
          </a:p>
        </p:txBody>
      </p:sp>
      <p:sp>
        <p:nvSpPr>
          <p:cNvPr id="41" name="Shape 38"/>
          <p:cNvSpPr/>
          <p:nvPr/>
        </p:nvSpPr>
        <p:spPr>
          <a:xfrm>
            <a:off x="5029200" y="1837944"/>
            <a:ext cx="109728" cy="109728"/>
          </a:xfrm>
          <a:prstGeom prst="ellipse">
            <a:avLst/>
          </a:prstGeom>
          <a:solidFill>
            <a:srgbClr val="00704A"/>
          </a:solidFill>
          <a:ln/>
        </p:spPr>
      </p:sp>
      <p:sp>
        <p:nvSpPr>
          <p:cNvPr id="42" name="Text 39"/>
          <p:cNvSpPr txBox="1"/>
          <p:nvPr/>
        </p:nvSpPr>
        <p:spPr>
          <a:xfrm>
            <a:off x="5230368" y="173736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Stockage</a:t>
            </a:r>
            <a:endParaRPr lang="en-US" sz="950" dirty="0"/>
          </a:p>
        </p:txBody>
      </p:sp>
      <p:sp>
        <p:nvSpPr>
          <p:cNvPr id="43" name="Text 40"/>
          <p:cNvSpPr txBox="1"/>
          <p:nvPr/>
        </p:nvSpPr>
        <p:spPr>
          <a:xfrm>
            <a:off x="6355080" y="173736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Stockage objet + Iceberg / Delta</a:t>
            </a:r>
            <a:endParaRPr lang="en-US" sz="1000" dirty="0"/>
          </a:p>
        </p:txBody>
      </p:sp>
      <p:sp>
        <p:nvSpPr>
          <p:cNvPr id="44" name="Shape 41"/>
          <p:cNvSpPr/>
          <p:nvPr/>
        </p:nvSpPr>
        <p:spPr>
          <a:xfrm>
            <a:off x="5029200" y="2203704"/>
            <a:ext cx="109728" cy="109728"/>
          </a:xfrm>
          <a:prstGeom prst="ellipse">
            <a:avLst/>
          </a:prstGeom>
          <a:solidFill>
            <a:srgbClr val="0E7C86"/>
          </a:solidFill>
          <a:ln/>
        </p:spPr>
      </p:sp>
      <p:sp>
        <p:nvSpPr>
          <p:cNvPr id="45" name="Text 42"/>
          <p:cNvSpPr txBox="1"/>
          <p:nvPr/>
        </p:nvSpPr>
        <p:spPr>
          <a:xfrm>
            <a:off x="5230368" y="210312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Traitement</a:t>
            </a:r>
            <a:endParaRPr lang="en-US" sz="950" dirty="0"/>
          </a:p>
        </p:txBody>
      </p:sp>
      <p:sp>
        <p:nvSpPr>
          <p:cNvPr id="46" name="Text 43"/>
          <p:cNvSpPr txBox="1"/>
          <p:nvPr/>
        </p:nvSpPr>
        <p:spPr>
          <a:xfrm>
            <a:off x="6355080" y="210312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Spark · Trino</a:t>
            </a:r>
            <a:endParaRPr lang="en-US" sz="1000" dirty="0"/>
          </a:p>
        </p:txBody>
      </p:sp>
      <p:sp>
        <p:nvSpPr>
          <p:cNvPr id="47" name="Shape 44"/>
          <p:cNvSpPr/>
          <p:nvPr/>
        </p:nvSpPr>
        <p:spPr>
          <a:xfrm>
            <a:off x="5029200" y="2569464"/>
            <a:ext cx="109728" cy="109728"/>
          </a:xfrm>
          <a:prstGeom prst="ellipse">
            <a:avLst/>
          </a:prstGeom>
          <a:solidFill>
            <a:srgbClr val="D49A00"/>
          </a:solidFill>
          <a:ln/>
        </p:spPr>
      </p:sp>
      <p:sp>
        <p:nvSpPr>
          <p:cNvPr id="48" name="Text 45"/>
          <p:cNvSpPr txBox="1"/>
          <p:nvPr/>
        </p:nvSpPr>
        <p:spPr>
          <a:xfrm>
            <a:off x="5230368" y="246888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Recherche</a:t>
            </a:r>
            <a:endParaRPr lang="en-US" sz="950" dirty="0"/>
          </a:p>
        </p:txBody>
      </p:sp>
      <p:sp>
        <p:nvSpPr>
          <p:cNvPr id="49" name="Text 46"/>
          <p:cNvSpPr txBox="1"/>
          <p:nvPr/>
        </p:nvSpPr>
        <p:spPr>
          <a:xfrm>
            <a:off x="6355080" y="246888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Cluster Elasticsearch</a:t>
            </a:r>
            <a:endParaRPr lang="en-US" sz="1000" dirty="0"/>
          </a:p>
        </p:txBody>
      </p:sp>
      <p:sp>
        <p:nvSpPr>
          <p:cNvPr id="50" name="Shape 47"/>
          <p:cNvSpPr/>
          <p:nvPr/>
        </p:nvSpPr>
        <p:spPr>
          <a:xfrm>
            <a:off x="5029200" y="2935224"/>
            <a:ext cx="109728" cy="109728"/>
          </a:xfrm>
          <a:prstGeom prst="ellipse">
            <a:avLst/>
          </a:prstGeom>
          <a:solidFill>
            <a:srgbClr val="C4621D"/>
          </a:solidFill>
          <a:ln/>
        </p:spPr>
      </p:sp>
      <p:sp>
        <p:nvSpPr>
          <p:cNvPr id="51" name="Text 48"/>
          <p:cNvSpPr txBox="1"/>
          <p:nvPr/>
        </p:nvSpPr>
        <p:spPr>
          <a:xfrm>
            <a:off x="5230368" y="283464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Orchestration</a:t>
            </a:r>
            <a:endParaRPr lang="en-US" sz="950" dirty="0"/>
          </a:p>
        </p:txBody>
      </p:sp>
      <p:sp>
        <p:nvSpPr>
          <p:cNvPr id="52" name="Text 49"/>
          <p:cNvSpPr txBox="1"/>
          <p:nvPr/>
        </p:nvSpPr>
        <p:spPr>
          <a:xfrm>
            <a:off x="6355080" y="283464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Airflow · Dagster</a:t>
            </a:r>
            <a:endParaRPr lang="en-US" sz="1000" dirty="0"/>
          </a:p>
        </p:txBody>
      </p:sp>
      <p:sp>
        <p:nvSpPr>
          <p:cNvPr id="53" name="Shape 50"/>
          <p:cNvSpPr/>
          <p:nvPr/>
        </p:nvSpPr>
        <p:spPr>
          <a:xfrm>
            <a:off x="5029200" y="3300984"/>
            <a:ext cx="109728" cy="109728"/>
          </a:xfrm>
          <a:prstGeom prst="ellipse">
            <a:avLst/>
          </a:prstGeom>
          <a:solidFill>
            <a:srgbClr val="B83B2E"/>
          </a:solidFill>
          <a:ln/>
        </p:spPr>
      </p:sp>
      <p:sp>
        <p:nvSpPr>
          <p:cNvPr id="54" name="Text 51"/>
          <p:cNvSpPr txBox="1"/>
          <p:nvPr/>
        </p:nvSpPr>
        <p:spPr>
          <a:xfrm>
            <a:off x="5230368" y="320040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Métadonnées</a:t>
            </a:r>
            <a:endParaRPr lang="en-US" sz="950" dirty="0"/>
          </a:p>
        </p:txBody>
      </p:sp>
      <p:sp>
        <p:nvSpPr>
          <p:cNvPr id="55" name="Text 52"/>
          <p:cNvSpPr txBox="1"/>
          <p:nvPr/>
        </p:nvSpPr>
        <p:spPr>
          <a:xfrm>
            <a:off x="6355080" y="320040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DataHub / OpenMetadata, SDMX</a:t>
            </a:r>
            <a:endParaRPr lang="en-US" sz="1000" dirty="0"/>
          </a:p>
        </p:txBody>
      </p:sp>
      <p:sp>
        <p:nvSpPr>
          <p:cNvPr id="56" name="Shape 53"/>
          <p:cNvSpPr/>
          <p:nvPr/>
        </p:nvSpPr>
        <p:spPr>
          <a:xfrm>
            <a:off x="5029200" y="3666744"/>
            <a:ext cx="109728" cy="109728"/>
          </a:xfrm>
          <a:prstGeom prst="ellipse">
            <a:avLst/>
          </a:prstGeom>
          <a:solidFill>
            <a:srgbClr val="B83B2E"/>
          </a:solidFill>
          <a:ln/>
        </p:spPr>
      </p:sp>
      <p:sp>
        <p:nvSpPr>
          <p:cNvPr id="57" name="Text 54"/>
          <p:cNvSpPr txBox="1"/>
          <p:nvPr/>
        </p:nvSpPr>
        <p:spPr>
          <a:xfrm>
            <a:off x="5230368" y="3566160"/>
            <a:ext cx="114300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Versionnage</a:t>
            </a:r>
            <a:endParaRPr lang="en-US" sz="950" dirty="0"/>
          </a:p>
        </p:txBody>
      </p:sp>
      <p:sp>
        <p:nvSpPr>
          <p:cNvPr id="58" name="Text 55"/>
          <p:cNvSpPr txBox="1"/>
          <p:nvPr/>
        </p:nvSpPr>
        <p:spPr>
          <a:xfrm>
            <a:off x="6355080" y="3566160"/>
            <a:ext cx="228600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Instantanés, conteneurs, CI/CD</a:t>
            </a:r>
            <a:endParaRPr lang="en-US" sz="1000" dirty="0"/>
          </a:p>
        </p:txBody>
      </p:sp>
      <p:sp>
        <p:nvSpPr>
          <p:cNvPr id="59" name="Shape 56"/>
          <p:cNvSpPr/>
          <p:nvPr/>
        </p:nvSpPr>
        <p:spPr>
          <a:xfrm>
            <a:off x="4370832" y="2606040"/>
            <a:ext cx="402336" cy="91"/>
          </a:xfrm>
          <a:prstGeom prst="line">
            <a:avLst/>
          </a:prstGeom>
          <a:noFill/>
          <a:ln w="31750">
            <a:solidFill>
              <a:srgbClr val="00A86A"/>
            </a:solidFill>
            <a:prstDash val="solid"/>
            <a:tailEnd type="triangle"/>
          </a:ln>
        </p:spPr>
      </p:sp>
      <p:sp>
        <p:nvSpPr>
          <p:cNvPr id="60" name="Text 57"/>
          <p:cNvSpPr txBox="1"/>
          <p:nvPr/>
        </p:nvSpPr>
        <p:spPr>
          <a:xfrm>
            <a:off x="4315968" y="2011680"/>
            <a:ext cx="512064" cy="548640"/>
          </a:xfrm>
          <a:prstGeom prst="rect">
            <a:avLst/>
          </a:prstGeom>
          <a:noFill/>
          <a:ln/>
        </p:spPr>
        <p:txBody>
          <a:bodyPr wrap="square" lIns="0" tIns="0" rIns="0" bIns="0" rtlCol="0" anchor="t"/>
          <a:lstStyle/>
          <a:p>
            <a:pPr marL="0" indent="0" algn="ctr">
              <a:buNone/>
            </a:pPr>
            <a:r>
              <a:rPr lang="en-US" sz="750" i="1" dirty="0">
                <a:solidFill>
                  <a:srgbClr val="00704A"/>
                </a:solidFill>
                <a:latin typeface="Calibri" pitchFamily="34" charset="0"/>
                <a:ea typeface="Calibri" pitchFamily="34" charset="-122"/>
                <a:cs typeface="Calibri" pitchFamily="34" charset="-120"/>
              </a:rPr>
              <a:t>grandir selon les mesures</a:t>
            </a:r>
            <a:endParaRPr lang="en-US" sz="750" dirty="0"/>
          </a:p>
        </p:txBody>
      </p:sp>
      <p:sp>
        <p:nvSpPr>
          <p:cNvPr id="61" name="Shape 58"/>
          <p:cNvSpPr/>
          <p:nvPr/>
        </p:nvSpPr>
        <p:spPr>
          <a:xfrm>
            <a:off x="457200" y="4096512"/>
            <a:ext cx="8229600" cy="457200"/>
          </a:xfrm>
          <a:prstGeom prst="roundRect">
            <a:avLst>
              <a:gd name="adj" fmla="val 16000"/>
            </a:avLst>
          </a:prstGeom>
          <a:solidFill>
            <a:srgbClr val="F4F7F5"/>
          </a:solidFill>
          <a:ln w="9525">
            <a:solidFill>
              <a:srgbClr val="D5DED9"/>
            </a:solidFill>
            <a:prstDash val="solid"/>
          </a:ln>
        </p:spPr>
      </p:sp>
      <p:pic>
        <p:nvPicPr>
          <p:cNvPr id="62" name="Image 0" descr="preencoded.png"/>
          <p:cNvPicPr>
            <a:picLocks noChangeAspect="1"/>
          </p:cNvPicPr>
          <p:nvPr/>
        </p:nvPicPr>
        <p:blipFill>
          <a:blip r:embed="rId3"/>
          <a:stretch>
            <a:fillRect/>
          </a:stretch>
        </p:blipFill>
        <p:spPr>
          <a:xfrm>
            <a:off x="594360" y="4206240"/>
            <a:ext cx="237744" cy="237744"/>
          </a:xfrm>
          <a:prstGeom prst="rect">
            <a:avLst/>
          </a:prstGeom>
        </p:spPr>
      </p:pic>
      <p:sp>
        <p:nvSpPr>
          <p:cNvPr id="63" name="Text 59"/>
          <p:cNvSpPr txBox="1"/>
          <p:nvPr/>
        </p:nvSpPr>
        <p:spPr>
          <a:xfrm>
            <a:off x="960120" y="4096512"/>
            <a:ext cx="7635240" cy="457200"/>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Mutualiser : des hubs régionaux big data et des plateformes nationales partagées permettent de partager plateformes, code et compétences.</a:t>
            </a:r>
            <a:r>
              <a:rPr lang="en-US" sz="950" dirty="0">
                <a:solidFill>
                  <a:srgbClr val="231F20"/>
                </a:solidFill>
                <a:latin typeface="Calibri" pitchFamily="34" charset="0"/>
                <a:ea typeface="Calibri" pitchFamily="34" charset="-122"/>
                <a:cs typeface="Calibri" pitchFamily="34" charset="-120"/>
              </a:rPr>
              <a:t/>
            </a:r>
            <a:endParaRPr lang="en-US" sz="9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GUIDE DE DÉCISION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Choisir le bon moteur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Shape 14"/>
          <p:cNvSpPr/>
          <p:nvPr/>
        </p:nvSpPr>
        <p:spPr>
          <a:xfrm>
            <a:off x="457200" y="1261872"/>
            <a:ext cx="3063240" cy="347472"/>
          </a:xfrm>
          <a:prstGeom prst="roundRect">
            <a:avLst>
              <a:gd name="adj" fmla="val 21053"/>
            </a:avLst>
          </a:prstGeom>
          <a:solidFill>
            <a:srgbClr val="5E6964"/>
          </a:solidFill>
          <a:ln w="9525">
            <a:solidFill>
              <a:srgbClr val="5E6964"/>
            </a:solidFill>
            <a:prstDash val="solid"/>
          </a:ln>
        </p:spPr>
      </p:sp>
      <p:sp>
        <p:nvSpPr>
          <p:cNvPr id="18" name="Text 15"/>
          <p:cNvSpPr txBox="1"/>
          <p:nvPr/>
        </p:nvSpPr>
        <p:spPr>
          <a:xfrm>
            <a:off x="566928" y="1261872"/>
            <a:ext cx="284378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Si votre situation est…</a:t>
            </a:r>
            <a:endParaRPr lang="en-US" sz="1150" dirty="0"/>
          </a:p>
        </p:txBody>
      </p:sp>
      <p:sp>
        <p:nvSpPr>
          <p:cNvPr id="19" name="Shape 16"/>
          <p:cNvSpPr/>
          <p:nvPr/>
        </p:nvSpPr>
        <p:spPr>
          <a:xfrm>
            <a:off x="3657600" y="1261872"/>
            <a:ext cx="2377440" cy="347472"/>
          </a:xfrm>
          <a:prstGeom prst="roundRect">
            <a:avLst>
              <a:gd name="adj" fmla="val 21053"/>
            </a:avLst>
          </a:prstGeom>
          <a:solidFill>
            <a:srgbClr val="00A86A"/>
          </a:solidFill>
          <a:ln w="9525">
            <a:solidFill>
              <a:srgbClr val="00A86A"/>
            </a:solidFill>
            <a:prstDash val="solid"/>
          </a:ln>
        </p:spPr>
      </p:sp>
      <p:sp>
        <p:nvSpPr>
          <p:cNvPr id="20" name="Text 17"/>
          <p:cNvSpPr txBox="1"/>
          <p:nvPr/>
        </p:nvSpPr>
        <p:spPr>
          <a:xfrm>
            <a:off x="3767328" y="1261872"/>
            <a:ext cx="215798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Privilégier</a:t>
            </a:r>
            <a:endParaRPr lang="en-US" sz="1150" dirty="0"/>
          </a:p>
        </p:txBody>
      </p:sp>
      <p:sp>
        <p:nvSpPr>
          <p:cNvPr id="21" name="Shape 18"/>
          <p:cNvSpPr/>
          <p:nvPr/>
        </p:nvSpPr>
        <p:spPr>
          <a:xfrm>
            <a:off x="6172200" y="1261872"/>
            <a:ext cx="2514600" cy="347472"/>
          </a:xfrm>
          <a:prstGeom prst="roundRect">
            <a:avLst>
              <a:gd name="adj" fmla="val 21053"/>
            </a:avLst>
          </a:prstGeom>
          <a:solidFill>
            <a:srgbClr val="B83B2E"/>
          </a:solidFill>
          <a:ln w="9525">
            <a:solidFill>
              <a:srgbClr val="B83B2E"/>
            </a:solidFill>
            <a:prstDash val="solid"/>
          </a:ln>
        </p:spPr>
      </p:sp>
      <p:sp>
        <p:nvSpPr>
          <p:cNvPr id="22" name="Text 19"/>
          <p:cNvSpPr txBox="1"/>
          <p:nvPr/>
        </p:nvSpPr>
        <p:spPr>
          <a:xfrm>
            <a:off x="6281928" y="1261872"/>
            <a:ext cx="229514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Éviter</a:t>
            </a:r>
            <a:endParaRPr lang="en-US" sz="1150" dirty="0"/>
          </a:p>
        </p:txBody>
      </p:sp>
      <p:sp>
        <p:nvSpPr>
          <p:cNvPr id="23" name="Shape 20"/>
          <p:cNvSpPr/>
          <p:nvPr/>
        </p:nvSpPr>
        <p:spPr>
          <a:xfrm>
            <a:off x="457200" y="1682496"/>
            <a:ext cx="3063240" cy="402336"/>
          </a:xfrm>
          <a:prstGeom prst="roundRect">
            <a:avLst>
              <a:gd name="adj" fmla="val 9091"/>
            </a:avLst>
          </a:prstGeom>
          <a:solidFill>
            <a:srgbClr val="F4F7F5"/>
          </a:solidFill>
          <a:ln w="9525">
            <a:solidFill>
              <a:srgbClr val="D5DED9"/>
            </a:solidFill>
            <a:prstDash val="solid"/>
          </a:ln>
        </p:spPr>
      </p:sp>
      <p:sp>
        <p:nvSpPr>
          <p:cNvPr id="24" name="Text 21"/>
          <p:cNvSpPr txBox="1"/>
          <p:nvPr/>
        </p:nvSpPr>
        <p:spPr>
          <a:xfrm>
            <a:off x="548640" y="1682496"/>
            <a:ext cx="288036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Données en mémoire, un analyste</a:t>
            </a:r>
            <a:endParaRPr lang="en-US" sz="950" dirty="0"/>
          </a:p>
        </p:txBody>
      </p:sp>
      <p:sp>
        <p:nvSpPr>
          <p:cNvPr id="25" name="Shape 22"/>
          <p:cNvSpPr/>
          <p:nvPr/>
        </p:nvSpPr>
        <p:spPr>
          <a:xfrm>
            <a:off x="3657600" y="1682496"/>
            <a:ext cx="2377440" cy="402336"/>
          </a:xfrm>
          <a:prstGeom prst="roundRect">
            <a:avLst>
              <a:gd name="adj" fmla="val 9091"/>
            </a:avLst>
          </a:prstGeom>
          <a:solidFill>
            <a:srgbClr val="E8F5EF"/>
          </a:solidFill>
          <a:ln w="9525">
            <a:solidFill>
              <a:srgbClr val="D5DED9"/>
            </a:solidFill>
            <a:prstDash val="solid"/>
          </a:ln>
        </p:spPr>
      </p:sp>
      <p:sp>
        <p:nvSpPr>
          <p:cNvPr id="26" name="Text 23"/>
          <p:cNvSpPr txBox="1"/>
          <p:nvPr/>
        </p:nvSpPr>
        <p:spPr>
          <a:xfrm>
            <a:off x="3749040" y="1682496"/>
            <a:ext cx="2194560"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pandas, R, DuckDB</a:t>
            </a:r>
            <a:endParaRPr lang="en-US" sz="950" dirty="0"/>
          </a:p>
        </p:txBody>
      </p:sp>
      <p:sp>
        <p:nvSpPr>
          <p:cNvPr id="27" name="Shape 24"/>
          <p:cNvSpPr/>
          <p:nvPr/>
        </p:nvSpPr>
        <p:spPr>
          <a:xfrm>
            <a:off x="6172200" y="1682496"/>
            <a:ext cx="2514600" cy="402336"/>
          </a:xfrm>
          <a:prstGeom prst="roundRect">
            <a:avLst>
              <a:gd name="adj" fmla="val 9091"/>
            </a:avLst>
          </a:prstGeom>
          <a:solidFill>
            <a:srgbClr val="FBEFED"/>
          </a:solidFill>
          <a:ln w="9525">
            <a:solidFill>
              <a:srgbClr val="D5DED9"/>
            </a:solidFill>
            <a:prstDash val="solid"/>
          </a:ln>
        </p:spPr>
      </p:sp>
      <p:sp>
        <p:nvSpPr>
          <p:cNvPr id="28" name="Text 25"/>
          <p:cNvSpPr txBox="1"/>
          <p:nvPr/>
        </p:nvSpPr>
        <p:spPr>
          <a:xfrm>
            <a:off x="6263640" y="1682496"/>
            <a:ext cx="233172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Monter un cluster</a:t>
            </a:r>
            <a:endParaRPr lang="en-US" sz="950" dirty="0"/>
          </a:p>
        </p:txBody>
      </p:sp>
      <p:sp>
        <p:nvSpPr>
          <p:cNvPr id="29" name="Shape 26"/>
          <p:cNvSpPr/>
          <p:nvPr/>
        </p:nvSpPr>
        <p:spPr>
          <a:xfrm>
            <a:off x="457200" y="2157984"/>
            <a:ext cx="3063240" cy="402336"/>
          </a:xfrm>
          <a:prstGeom prst="roundRect">
            <a:avLst>
              <a:gd name="adj" fmla="val 9091"/>
            </a:avLst>
          </a:prstGeom>
          <a:solidFill>
            <a:srgbClr val="F4F7F5"/>
          </a:solidFill>
          <a:ln w="9525">
            <a:solidFill>
              <a:srgbClr val="D5DED9"/>
            </a:solidFill>
            <a:prstDash val="solid"/>
          </a:ln>
        </p:spPr>
      </p:sp>
      <p:sp>
        <p:nvSpPr>
          <p:cNvPr id="30" name="Text 27"/>
          <p:cNvSpPr txBox="1"/>
          <p:nvPr/>
        </p:nvSpPr>
        <p:spPr>
          <a:xfrm>
            <a:off x="548640" y="2157984"/>
            <a:ext cx="288036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Dizaines à centaines de Go, SQL complexe</a:t>
            </a:r>
            <a:endParaRPr lang="en-US" sz="950" dirty="0"/>
          </a:p>
        </p:txBody>
      </p:sp>
      <p:sp>
        <p:nvSpPr>
          <p:cNvPr id="31" name="Shape 28"/>
          <p:cNvSpPr/>
          <p:nvPr/>
        </p:nvSpPr>
        <p:spPr>
          <a:xfrm>
            <a:off x="3657600" y="2157984"/>
            <a:ext cx="2377440" cy="402336"/>
          </a:xfrm>
          <a:prstGeom prst="roundRect">
            <a:avLst>
              <a:gd name="adj" fmla="val 9091"/>
            </a:avLst>
          </a:prstGeom>
          <a:solidFill>
            <a:srgbClr val="E8F5EF"/>
          </a:solidFill>
          <a:ln w="9525">
            <a:solidFill>
              <a:srgbClr val="D5DED9"/>
            </a:solidFill>
            <a:prstDash val="solid"/>
          </a:ln>
        </p:spPr>
      </p:sp>
      <p:sp>
        <p:nvSpPr>
          <p:cNvPr id="32" name="Text 29"/>
          <p:cNvSpPr txBox="1"/>
          <p:nvPr/>
        </p:nvSpPr>
        <p:spPr>
          <a:xfrm>
            <a:off x="3749040" y="2157984"/>
            <a:ext cx="2194560"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DuckDB ou Polars sur un serveur puissant</a:t>
            </a:r>
            <a:endParaRPr lang="en-US" sz="950" dirty="0"/>
          </a:p>
        </p:txBody>
      </p:sp>
      <p:sp>
        <p:nvSpPr>
          <p:cNvPr id="33" name="Shape 30"/>
          <p:cNvSpPr/>
          <p:nvPr/>
        </p:nvSpPr>
        <p:spPr>
          <a:xfrm>
            <a:off x="6172200" y="2157984"/>
            <a:ext cx="2514600" cy="402336"/>
          </a:xfrm>
          <a:prstGeom prst="roundRect">
            <a:avLst>
              <a:gd name="adj" fmla="val 9091"/>
            </a:avLst>
          </a:prstGeom>
          <a:solidFill>
            <a:srgbClr val="FBEFED"/>
          </a:solidFill>
          <a:ln w="9525">
            <a:solidFill>
              <a:srgbClr val="D5DED9"/>
            </a:solidFill>
            <a:prstDash val="solid"/>
          </a:ln>
        </p:spPr>
      </p:sp>
      <p:sp>
        <p:nvSpPr>
          <p:cNvPr id="34" name="Text 31"/>
          <p:cNvSpPr txBox="1"/>
          <p:nvPr/>
        </p:nvSpPr>
        <p:spPr>
          <a:xfrm>
            <a:off x="6263640" y="2157984"/>
            <a:ext cx="233172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Copier des CSV entre portables</a:t>
            </a:r>
            <a:endParaRPr lang="en-US" sz="950" dirty="0"/>
          </a:p>
        </p:txBody>
      </p:sp>
      <p:sp>
        <p:nvSpPr>
          <p:cNvPr id="35" name="Shape 32"/>
          <p:cNvSpPr/>
          <p:nvPr/>
        </p:nvSpPr>
        <p:spPr>
          <a:xfrm>
            <a:off x="457200" y="2633472"/>
            <a:ext cx="3063240" cy="402336"/>
          </a:xfrm>
          <a:prstGeom prst="roundRect">
            <a:avLst>
              <a:gd name="adj" fmla="val 9091"/>
            </a:avLst>
          </a:prstGeom>
          <a:solidFill>
            <a:srgbClr val="F4F7F5"/>
          </a:solidFill>
          <a:ln w="9525">
            <a:solidFill>
              <a:srgbClr val="D5DED9"/>
            </a:solidFill>
            <a:prstDash val="solid"/>
          </a:ln>
        </p:spPr>
      </p:sp>
      <p:sp>
        <p:nvSpPr>
          <p:cNvPr id="36" name="Text 33"/>
          <p:cNvSpPr txBox="1"/>
          <p:nvPr/>
        </p:nvSpPr>
        <p:spPr>
          <a:xfrm>
            <a:off x="548640" y="2633472"/>
            <a:ext cx="288036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Téraoctets, plusieurs équipes, tables partagées</a:t>
            </a:r>
            <a:endParaRPr lang="en-US" sz="950" dirty="0"/>
          </a:p>
        </p:txBody>
      </p:sp>
      <p:sp>
        <p:nvSpPr>
          <p:cNvPr id="37" name="Shape 34"/>
          <p:cNvSpPr/>
          <p:nvPr/>
        </p:nvSpPr>
        <p:spPr>
          <a:xfrm>
            <a:off x="3657600" y="2633472"/>
            <a:ext cx="2377440" cy="402336"/>
          </a:xfrm>
          <a:prstGeom prst="roundRect">
            <a:avLst>
              <a:gd name="adj" fmla="val 9091"/>
            </a:avLst>
          </a:prstGeom>
          <a:solidFill>
            <a:srgbClr val="E8F5EF"/>
          </a:solidFill>
          <a:ln w="9525">
            <a:solidFill>
              <a:srgbClr val="D5DED9"/>
            </a:solidFill>
            <a:prstDash val="solid"/>
          </a:ln>
        </p:spPr>
      </p:sp>
      <p:sp>
        <p:nvSpPr>
          <p:cNvPr id="38" name="Text 35"/>
          <p:cNvSpPr txBox="1"/>
          <p:nvPr/>
        </p:nvSpPr>
        <p:spPr>
          <a:xfrm>
            <a:off x="3749040" y="2633472"/>
            <a:ext cx="2194560"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Lakehouse + Spark ou Trino</a:t>
            </a:r>
            <a:endParaRPr lang="en-US" sz="950" dirty="0"/>
          </a:p>
        </p:txBody>
      </p:sp>
      <p:sp>
        <p:nvSpPr>
          <p:cNvPr id="39" name="Shape 36"/>
          <p:cNvSpPr/>
          <p:nvPr/>
        </p:nvSpPr>
        <p:spPr>
          <a:xfrm>
            <a:off x="6172200" y="2633472"/>
            <a:ext cx="2514600" cy="402336"/>
          </a:xfrm>
          <a:prstGeom prst="roundRect">
            <a:avLst>
              <a:gd name="adj" fmla="val 9091"/>
            </a:avLst>
          </a:prstGeom>
          <a:solidFill>
            <a:srgbClr val="FBEFED"/>
          </a:solidFill>
          <a:ln w="9525">
            <a:solidFill>
              <a:srgbClr val="D5DED9"/>
            </a:solidFill>
            <a:prstDash val="solid"/>
          </a:ln>
        </p:spPr>
      </p:sp>
      <p:sp>
        <p:nvSpPr>
          <p:cNvPr id="40" name="Text 37"/>
          <p:cNvSpPr txBox="1"/>
          <p:nvPr/>
        </p:nvSpPr>
        <p:spPr>
          <a:xfrm>
            <a:off x="6263640" y="2633472"/>
            <a:ext cx="233172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Partages réseau non gouvernés</a:t>
            </a:r>
            <a:endParaRPr lang="en-US" sz="950" dirty="0"/>
          </a:p>
        </p:txBody>
      </p:sp>
      <p:sp>
        <p:nvSpPr>
          <p:cNvPr id="41" name="Shape 38"/>
          <p:cNvSpPr/>
          <p:nvPr/>
        </p:nvSpPr>
        <p:spPr>
          <a:xfrm>
            <a:off x="457200" y="3108960"/>
            <a:ext cx="3063240" cy="402336"/>
          </a:xfrm>
          <a:prstGeom prst="roundRect">
            <a:avLst>
              <a:gd name="adj" fmla="val 9091"/>
            </a:avLst>
          </a:prstGeom>
          <a:solidFill>
            <a:srgbClr val="F4F7F5"/>
          </a:solidFill>
          <a:ln w="9525">
            <a:solidFill>
              <a:srgbClr val="D5DED9"/>
            </a:solidFill>
            <a:prstDash val="solid"/>
          </a:ln>
        </p:spPr>
      </p:sp>
      <p:sp>
        <p:nvSpPr>
          <p:cNvPr id="42" name="Text 39"/>
          <p:cNvSpPr txBox="1"/>
          <p:nvPr/>
        </p:nvSpPr>
        <p:spPr>
          <a:xfrm>
            <a:off x="548640" y="3108960"/>
            <a:ext cx="288036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Nombreux utilisateurs filtrant par lieu et période</a:t>
            </a:r>
            <a:endParaRPr lang="en-US" sz="950" dirty="0"/>
          </a:p>
        </p:txBody>
      </p:sp>
      <p:sp>
        <p:nvSpPr>
          <p:cNvPr id="43" name="Shape 40"/>
          <p:cNvSpPr/>
          <p:nvPr/>
        </p:nvSpPr>
        <p:spPr>
          <a:xfrm>
            <a:off x="3657600" y="3108960"/>
            <a:ext cx="2377440" cy="402336"/>
          </a:xfrm>
          <a:prstGeom prst="roundRect">
            <a:avLst>
              <a:gd name="adj" fmla="val 9091"/>
            </a:avLst>
          </a:prstGeom>
          <a:solidFill>
            <a:srgbClr val="E8F5EF"/>
          </a:solidFill>
          <a:ln w="9525">
            <a:solidFill>
              <a:srgbClr val="D5DED9"/>
            </a:solidFill>
            <a:prstDash val="solid"/>
          </a:ln>
        </p:spPr>
      </p:sp>
      <p:sp>
        <p:nvSpPr>
          <p:cNvPr id="44" name="Text 41"/>
          <p:cNvSpPr txBox="1"/>
          <p:nvPr/>
        </p:nvSpPr>
        <p:spPr>
          <a:xfrm>
            <a:off x="3749040" y="3108960"/>
            <a:ext cx="2194560"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Elasticsearch alimenté par le lakehouse</a:t>
            </a:r>
            <a:endParaRPr lang="en-US" sz="950" dirty="0"/>
          </a:p>
        </p:txBody>
      </p:sp>
      <p:sp>
        <p:nvSpPr>
          <p:cNvPr id="45" name="Shape 42"/>
          <p:cNvSpPr/>
          <p:nvPr/>
        </p:nvSpPr>
        <p:spPr>
          <a:xfrm>
            <a:off x="6172200" y="3108960"/>
            <a:ext cx="2514600" cy="402336"/>
          </a:xfrm>
          <a:prstGeom prst="roundRect">
            <a:avLst>
              <a:gd name="adj" fmla="val 9091"/>
            </a:avLst>
          </a:prstGeom>
          <a:solidFill>
            <a:srgbClr val="FBEFED"/>
          </a:solidFill>
          <a:ln w="9525">
            <a:solidFill>
              <a:srgbClr val="D5DED9"/>
            </a:solidFill>
            <a:prstDash val="solid"/>
          </a:ln>
        </p:spPr>
      </p:sp>
      <p:sp>
        <p:nvSpPr>
          <p:cNvPr id="46" name="Text 43"/>
          <p:cNvSpPr txBox="1"/>
          <p:nvPr/>
        </p:nvSpPr>
        <p:spPr>
          <a:xfrm>
            <a:off x="6263640" y="3108960"/>
            <a:ext cx="233172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L’index comme unique copie</a:t>
            </a:r>
            <a:endParaRPr lang="en-US" sz="950" dirty="0"/>
          </a:p>
        </p:txBody>
      </p:sp>
      <p:sp>
        <p:nvSpPr>
          <p:cNvPr id="47" name="Shape 44"/>
          <p:cNvSpPr/>
          <p:nvPr/>
        </p:nvSpPr>
        <p:spPr>
          <a:xfrm>
            <a:off x="457200" y="3584448"/>
            <a:ext cx="3063240" cy="402336"/>
          </a:xfrm>
          <a:prstGeom prst="roundRect">
            <a:avLst>
              <a:gd name="adj" fmla="val 9091"/>
            </a:avLst>
          </a:prstGeom>
          <a:solidFill>
            <a:srgbClr val="F4F7F5"/>
          </a:solidFill>
          <a:ln w="9525">
            <a:solidFill>
              <a:srgbClr val="D5DED9"/>
            </a:solidFill>
            <a:prstDash val="solid"/>
          </a:ln>
        </p:spPr>
      </p:sp>
      <p:sp>
        <p:nvSpPr>
          <p:cNvPr id="48" name="Text 45"/>
          <p:cNvSpPr txBox="1"/>
          <p:nvPr/>
        </p:nvSpPr>
        <p:spPr>
          <a:xfrm>
            <a:off x="548640" y="3584448"/>
            <a:ext cx="288036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Latence inférieure à la minute réellement requise</a:t>
            </a:r>
            <a:endParaRPr lang="en-US" sz="950" dirty="0"/>
          </a:p>
        </p:txBody>
      </p:sp>
      <p:sp>
        <p:nvSpPr>
          <p:cNvPr id="49" name="Shape 46"/>
          <p:cNvSpPr/>
          <p:nvPr/>
        </p:nvSpPr>
        <p:spPr>
          <a:xfrm>
            <a:off x="3657600" y="3584448"/>
            <a:ext cx="2377440" cy="402336"/>
          </a:xfrm>
          <a:prstGeom prst="roundRect">
            <a:avLst>
              <a:gd name="adj" fmla="val 9091"/>
            </a:avLst>
          </a:prstGeom>
          <a:solidFill>
            <a:srgbClr val="E8F5EF"/>
          </a:solidFill>
          <a:ln w="9525">
            <a:solidFill>
              <a:srgbClr val="D5DED9"/>
            </a:solidFill>
            <a:prstDash val="solid"/>
          </a:ln>
        </p:spPr>
      </p:sp>
      <p:sp>
        <p:nvSpPr>
          <p:cNvPr id="50" name="Text 47"/>
          <p:cNvSpPr txBox="1"/>
          <p:nvPr/>
        </p:nvSpPr>
        <p:spPr>
          <a:xfrm>
            <a:off x="3749040" y="3584448"/>
            <a:ext cx="2194560"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Kafka + Flink</a:t>
            </a:r>
            <a:endParaRPr lang="en-US" sz="950" dirty="0"/>
          </a:p>
        </p:txBody>
      </p:sp>
      <p:sp>
        <p:nvSpPr>
          <p:cNvPr id="51" name="Shape 48"/>
          <p:cNvSpPr/>
          <p:nvPr/>
        </p:nvSpPr>
        <p:spPr>
          <a:xfrm>
            <a:off x="6172200" y="3584448"/>
            <a:ext cx="2514600" cy="402336"/>
          </a:xfrm>
          <a:prstGeom prst="roundRect">
            <a:avLst>
              <a:gd name="adj" fmla="val 9091"/>
            </a:avLst>
          </a:prstGeom>
          <a:solidFill>
            <a:srgbClr val="FBEFED"/>
          </a:solidFill>
          <a:ln w="9525">
            <a:solidFill>
              <a:srgbClr val="D5DED9"/>
            </a:solidFill>
            <a:prstDash val="solid"/>
          </a:ln>
        </p:spPr>
      </p:sp>
      <p:sp>
        <p:nvSpPr>
          <p:cNvPr id="52" name="Text 49"/>
          <p:cNvSpPr txBox="1"/>
          <p:nvPr/>
        </p:nvSpPr>
        <p:spPr>
          <a:xfrm>
            <a:off x="6263640" y="3584448"/>
            <a:ext cx="233172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Du streaming pour des statistiques trimestrielles</a:t>
            </a:r>
            <a:endParaRPr lang="en-US" sz="950" dirty="0"/>
          </a:p>
        </p:txBody>
      </p:sp>
      <p:sp>
        <p:nvSpPr>
          <p:cNvPr id="53" name="Shape 50"/>
          <p:cNvSpPr/>
          <p:nvPr/>
        </p:nvSpPr>
        <p:spPr>
          <a:xfrm>
            <a:off x="457200" y="4059936"/>
            <a:ext cx="3063240" cy="402336"/>
          </a:xfrm>
          <a:prstGeom prst="roundRect">
            <a:avLst>
              <a:gd name="adj" fmla="val 9091"/>
            </a:avLst>
          </a:prstGeom>
          <a:solidFill>
            <a:srgbClr val="F4F7F5"/>
          </a:solidFill>
          <a:ln w="9525">
            <a:solidFill>
              <a:srgbClr val="D5DED9"/>
            </a:solidFill>
            <a:prstDash val="solid"/>
          </a:ln>
        </p:spPr>
      </p:sp>
      <p:sp>
        <p:nvSpPr>
          <p:cNvPr id="54" name="Text 51"/>
          <p:cNvSpPr txBox="1"/>
          <p:nvPr/>
        </p:nvSpPr>
        <p:spPr>
          <a:xfrm>
            <a:off x="548640" y="4059936"/>
            <a:ext cx="288036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Microdonnées confidentielles (CDR, fiscalité)</a:t>
            </a:r>
            <a:endParaRPr lang="en-US" sz="950" dirty="0"/>
          </a:p>
        </p:txBody>
      </p:sp>
      <p:sp>
        <p:nvSpPr>
          <p:cNvPr id="55" name="Shape 52"/>
          <p:cNvSpPr/>
          <p:nvPr/>
        </p:nvSpPr>
        <p:spPr>
          <a:xfrm>
            <a:off x="3657600" y="4059936"/>
            <a:ext cx="2377440" cy="402336"/>
          </a:xfrm>
          <a:prstGeom prst="roundRect">
            <a:avLst>
              <a:gd name="adj" fmla="val 9091"/>
            </a:avLst>
          </a:prstGeom>
          <a:solidFill>
            <a:srgbClr val="E8F5EF"/>
          </a:solidFill>
          <a:ln w="9525">
            <a:solidFill>
              <a:srgbClr val="D5DED9"/>
            </a:solidFill>
            <a:prstDash val="solid"/>
          </a:ln>
        </p:spPr>
      </p:sp>
      <p:sp>
        <p:nvSpPr>
          <p:cNvPr id="56" name="Text 53"/>
          <p:cNvSpPr txBox="1"/>
          <p:nvPr/>
        </p:nvSpPr>
        <p:spPr>
          <a:xfrm>
            <a:off x="3749040" y="4059936"/>
            <a:ext cx="2194560" cy="402336"/>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Enclave sur site ou souveraine</a:t>
            </a:r>
            <a:endParaRPr lang="en-US" sz="950" dirty="0"/>
          </a:p>
        </p:txBody>
      </p:sp>
      <p:sp>
        <p:nvSpPr>
          <p:cNvPr id="57" name="Shape 54"/>
          <p:cNvSpPr/>
          <p:nvPr/>
        </p:nvSpPr>
        <p:spPr>
          <a:xfrm>
            <a:off x="6172200" y="4059936"/>
            <a:ext cx="2514600" cy="402336"/>
          </a:xfrm>
          <a:prstGeom prst="roundRect">
            <a:avLst>
              <a:gd name="adj" fmla="val 9091"/>
            </a:avLst>
          </a:prstGeom>
          <a:solidFill>
            <a:srgbClr val="FBEFED"/>
          </a:solidFill>
          <a:ln w="9525">
            <a:solidFill>
              <a:srgbClr val="D5DED9"/>
            </a:solidFill>
            <a:prstDash val="solid"/>
          </a:ln>
        </p:spPr>
      </p:sp>
      <p:sp>
        <p:nvSpPr>
          <p:cNvPr id="58" name="Text 55"/>
          <p:cNvSpPr txBox="1"/>
          <p:nvPr/>
        </p:nvSpPr>
        <p:spPr>
          <a:xfrm>
            <a:off x="6263640" y="4059936"/>
            <a:ext cx="233172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Cloud public sans base légale</a:t>
            </a:r>
            <a:endParaRPr lang="en-US" sz="950" dirty="0"/>
          </a:p>
        </p:txBody>
      </p:sp>
      <p:sp>
        <p:nvSpPr>
          <p:cNvPr id="59" name="Text 56"/>
          <p:cNvSpPr txBox="1"/>
          <p:nvPr/>
        </p:nvSpPr>
        <p:spPr>
          <a:xfrm>
            <a:off x="457200" y="4590288"/>
            <a:ext cx="8229600" cy="201168"/>
          </a:xfrm>
          <a:prstGeom prst="rect">
            <a:avLst/>
          </a:prstGeom>
          <a:noFill/>
          <a:ln/>
        </p:spPr>
        <p:txBody>
          <a:bodyPr wrap="square" lIns="0" tIns="0" rIns="0" bIns="0" rtlCol="0" anchor="b"/>
          <a:lstStyle/>
          <a:p>
            <a:pPr marL="0" indent="0">
              <a:buNone/>
            </a:pPr>
            <a:r>
              <a:rPr lang="en-US" sz="1000" b="1" i="1" dirty="0">
                <a:solidFill>
                  <a:srgbClr val="00704A"/>
                </a:solidFill>
                <a:latin typeface="Calibri" pitchFamily="34" charset="0"/>
                <a:ea typeface="Calibri" pitchFamily="34" charset="-122"/>
                <a:cs typeface="Calibri" pitchFamily="34" charset="-120"/>
              </a:rPr>
              <a:t>Choisissez pour les données que vous avez, pas pour celles que vous imaginez avoir dans cinq ans.</a:t>
            </a:r>
            <a:endParaRPr lang="en-US" sz="10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MESSAGES CLÉS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choses à retenir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457200" y="1280160"/>
            <a:ext cx="2624328" cy="1554480"/>
          </a:xfrm>
          <a:prstGeom prst="roundRect">
            <a:avLst>
              <a:gd name="adj" fmla="val 4706"/>
            </a:avLst>
          </a:prstGeom>
          <a:solidFill>
            <a:srgbClr val="FFFFFF"/>
          </a:solidFill>
          <a:ln w="15875">
            <a:solidFill>
              <a:srgbClr val="00A86A"/>
            </a:solidFill>
            <a:prstDash val="solid"/>
          </a:ln>
        </p:spPr>
      </p:sp>
      <p:sp>
        <p:nvSpPr>
          <p:cNvPr id="18" name="Shape 15"/>
          <p:cNvSpPr/>
          <p:nvPr/>
        </p:nvSpPr>
        <p:spPr>
          <a:xfrm>
            <a:off x="594360" y="1417320"/>
            <a:ext cx="457200" cy="45720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08660" y="1531620"/>
            <a:ext cx="228600" cy="228600"/>
          </a:xfrm>
          <a:prstGeom prst="rect">
            <a:avLst/>
          </a:prstGeom>
        </p:spPr>
      </p:pic>
      <p:sp>
        <p:nvSpPr>
          <p:cNvPr id="20" name="Text 16"/>
          <p:cNvSpPr txBox="1"/>
          <p:nvPr/>
        </p:nvSpPr>
        <p:spPr>
          <a:xfrm>
            <a:off x="2468880" y="1417320"/>
            <a:ext cx="457200" cy="365760"/>
          </a:xfrm>
          <a:prstGeom prst="rect">
            <a:avLst/>
          </a:prstGeom>
          <a:noFill/>
          <a:ln/>
        </p:spPr>
        <p:txBody>
          <a:bodyPr wrap="square" lIns="0" tIns="0" rIns="0" bIns="0" rtlCol="0" anchor="t"/>
          <a:lstStyle/>
          <a:p>
            <a:pPr marL="0" indent="0" algn="r">
              <a:buNone/>
            </a:pPr>
            <a:r>
              <a:rPr lang="en-US" sz="2000" b="1" dirty="0">
                <a:solidFill>
                  <a:srgbClr val="00A86A"/>
                </a:solidFill>
                <a:latin typeface="Calibri" pitchFamily="34" charset="0"/>
                <a:ea typeface="Calibri" pitchFamily="34" charset="-122"/>
                <a:cs typeface="Calibri" pitchFamily="34" charset="-120"/>
              </a:rPr>
              <a:t>01</a:t>
            </a:r>
            <a:endParaRPr lang="en-US" sz="2000" dirty="0"/>
          </a:p>
        </p:txBody>
      </p:sp>
      <p:sp>
        <p:nvSpPr>
          <p:cNvPr id="21" name="Text 17"/>
          <p:cNvSpPr txBox="1"/>
          <p:nvPr/>
        </p:nvSpPr>
        <p:spPr>
          <a:xfrm>
            <a:off x="594360" y="1938528"/>
            <a:ext cx="23774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Ingérer avec rigueur</a:t>
            </a:r>
            <a:endParaRPr lang="en-US" sz="1200" dirty="0"/>
          </a:p>
        </p:txBody>
      </p:sp>
      <p:sp>
        <p:nvSpPr>
          <p:cNvPr id="22" name="Text 18"/>
          <p:cNvSpPr txBox="1"/>
          <p:nvPr/>
        </p:nvSpPr>
        <p:spPr>
          <a:xfrm>
            <a:off x="594360" y="2212848"/>
            <a:ext cx="2395728" cy="58521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Garder les données brutes intactes ; tracer source, date et licence dès le premier octet.</a:t>
            </a:r>
            <a:endParaRPr lang="en-US" sz="950" dirty="0"/>
          </a:p>
        </p:txBody>
      </p:sp>
      <p:sp>
        <p:nvSpPr>
          <p:cNvPr id="23" name="Shape 19"/>
          <p:cNvSpPr/>
          <p:nvPr/>
        </p:nvSpPr>
        <p:spPr>
          <a:xfrm>
            <a:off x="3264408" y="1280160"/>
            <a:ext cx="2624328" cy="1554480"/>
          </a:xfrm>
          <a:prstGeom prst="roundRect">
            <a:avLst>
              <a:gd name="adj" fmla="val 4706"/>
            </a:avLst>
          </a:prstGeom>
          <a:solidFill>
            <a:srgbClr val="FFFFFF"/>
          </a:solidFill>
          <a:ln w="15875">
            <a:solidFill>
              <a:srgbClr val="00704A"/>
            </a:solidFill>
            <a:prstDash val="solid"/>
          </a:ln>
        </p:spPr>
      </p:sp>
      <p:sp>
        <p:nvSpPr>
          <p:cNvPr id="24" name="Shape 20"/>
          <p:cNvSpPr/>
          <p:nvPr/>
        </p:nvSpPr>
        <p:spPr>
          <a:xfrm>
            <a:off x="3401568" y="1417320"/>
            <a:ext cx="457200" cy="457200"/>
          </a:xfrm>
          <a:prstGeom prst="ellipse">
            <a:avLst/>
          </a:prstGeom>
          <a:solidFill>
            <a:srgbClr val="00704A">
              <a:alpha val="22000"/>
            </a:srgbClr>
          </a:solidFill>
          <a:ln/>
        </p:spPr>
      </p:sp>
      <p:pic>
        <p:nvPicPr>
          <p:cNvPr id="25" name="Image 1" descr="preencoded.png"/>
          <p:cNvPicPr>
            <a:picLocks noChangeAspect="1"/>
          </p:cNvPicPr>
          <p:nvPr/>
        </p:nvPicPr>
        <p:blipFill>
          <a:blip r:embed="rId4"/>
          <a:stretch>
            <a:fillRect/>
          </a:stretch>
        </p:blipFill>
        <p:spPr>
          <a:xfrm>
            <a:off x="3515868" y="1531620"/>
            <a:ext cx="228600" cy="228600"/>
          </a:xfrm>
          <a:prstGeom prst="rect">
            <a:avLst/>
          </a:prstGeom>
        </p:spPr>
      </p:pic>
      <p:sp>
        <p:nvSpPr>
          <p:cNvPr id="26" name="Text 21"/>
          <p:cNvSpPr txBox="1"/>
          <p:nvPr/>
        </p:nvSpPr>
        <p:spPr>
          <a:xfrm>
            <a:off x="5276088" y="1417320"/>
            <a:ext cx="457200" cy="365760"/>
          </a:xfrm>
          <a:prstGeom prst="rect">
            <a:avLst/>
          </a:prstGeom>
          <a:noFill/>
          <a:ln/>
        </p:spPr>
        <p:txBody>
          <a:bodyPr wrap="square" lIns="0" tIns="0" rIns="0" bIns="0" rtlCol="0" anchor="t"/>
          <a:lstStyle/>
          <a:p>
            <a:pPr marL="0" indent="0" algn="r">
              <a:buNone/>
            </a:pPr>
            <a:r>
              <a:rPr lang="en-US" sz="2000" b="1" dirty="0">
                <a:solidFill>
                  <a:srgbClr val="00704A"/>
                </a:solidFill>
                <a:latin typeface="Calibri" pitchFamily="34" charset="0"/>
                <a:ea typeface="Calibri" pitchFamily="34" charset="-122"/>
                <a:cs typeface="Calibri" pitchFamily="34" charset="-120"/>
              </a:rPr>
              <a:t>02</a:t>
            </a:r>
            <a:endParaRPr lang="en-US" sz="2000" dirty="0"/>
          </a:p>
        </p:txBody>
      </p:sp>
      <p:sp>
        <p:nvSpPr>
          <p:cNvPr id="27" name="Text 22"/>
          <p:cNvSpPr txBox="1"/>
          <p:nvPr/>
        </p:nvSpPr>
        <p:spPr>
          <a:xfrm>
            <a:off x="3401568" y="1938528"/>
            <a:ext cx="23774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Stocker en zones et en colonnes</a:t>
            </a:r>
            <a:endParaRPr lang="en-US" sz="1200" dirty="0"/>
          </a:p>
        </p:txBody>
      </p:sp>
      <p:sp>
        <p:nvSpPr>
          <p:cNvPr id="28" name="Text 23"/>
          <p:cNvSpPr txBox="1"/>
          <p:nvPr/>
        </p:nvSpPr>
        <p:spPr>
          <a:xfrm>
            <a:off x="3401568" y="2212848"/>
            <a:ext cx="2395728" cy="58521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Parquet + bronze / argent / or : vitesse et chaîne de production claire.</a:t>
            </a:r>
            <a:endParaRPr lang="en-US" sz="950" dirty="0"/>
          </a:p>
        </p:txBody>
      </p:sp>
      <p:sp>
        <p:nvSpPr>
          <p:cNvPr id="29" name="Shape 24"/>
          <p:cNvSpPr/>
          <p:nvPr/>
        </p:nvSpPr>
        <p:spPr>
          <a:xfrm>
            <a:off x="6071616" y="1280160"/>
            <a:ext cx="2624328" cy="1554480"/>
          </a:xfrm>
          <a:prstGeom prst="roundRect">
            <a:avLst>
              <a:gd name="adj" fmla="val 4706"/>
            </a:avLst>
          </a:prstGeom>
          <a:solidFill>
            <a:srgbClr val="FFFFFF"/>
          </a:solidFill>
          <a:ln w="15875">
            <a:solidFill>
              <a:srgbClr val="0E7C86"/>
            </a:solidFill>
            <a:prstDash val="solid"/>
          </a:ln>
        </p:spPr>
      </p:sp>
      <p:sp>
        <p:nvSpPr>
          <p:cNvPr id="30" name="Shape 25"/>
          <p:cNvSpPr/>
          <p:nvPr/>
        </p:nvSpPr>
        <p:spPr>
          <a:xfrm>
            <a:off x="6208776" y="1417320"/>
            <a:ext cx="457200" cy="457200"/>
          </a:xfrm>
          <a:prstGeom prst="ellipse">
            <a:avLst/>
          </a:prstGeom>
          <a:solidFill>
            <a:srgbClr val="0E7C86">
              <a:alpha val="22000"/>
            </a:srgbClr>
          </a:solidFill>
          <a:ln/>
        </p:spPr>
      </p:sp>
      <p:pic>
        <p:nvPicPr>
          <p:cNvPr id="31" name="Image 2" descr="preencoded.png"/>
          <p:cNvPicPr>
            <a:picLocks noChangeAspect="1"/>
          </p:cNvPicPr>
          <p:nvPr/>
        </p:nvPicPr>
        <p:blipFill>
          <a:blip r:embed="rId5"/>
          <a:stretch>
            <a:fillRect/>
          </a:stretch>
        </p:blipFill>
        <p:spPr>
          <a:xfrm>
            <a:off x="6323076" y="1531620"/>
            <a:ext cx="228600" cy="228600"/>
          </a:xfrm>
          <a:prstGeom prst="rect">
            <a:avLst/>
          </a:prstGeom>
        </p:spPr>
      </p:pic>
      <p:sp>
        <p:nvSpPr>
          <p:cNvPr id="32" name="Text 26"/>
          <p:cNvSpPr txBox="1"/>
          <p:nvPr/>
        </p:nvSpPr>
        <p:spPr>
          <a:xfrm>
            <a:off x="8083296" y="1417320"/>
            <a:ext cx="457200" cy="365760"/>
          </a:xfrm>
          <a:prstGeom prst="rect">
            <a:avLst/>
          </a:prstGeom>
          <a:noFill/>
          <a:ln/>
        </p:spPr>
        <p:txBody>
          <a:bodyPr wrap="square" lIns="0" tIns="0" rIns="0" bIns="0" rtlCol="0" anchor="t"/>
          <a:lstStyle/>
          <a:p>
            <a:pPr marL="0" indent="0" algn="r">
              <a:buNone/>
            </a:pPr>
            <a:r>
              <a:rPr lang="en-US" sz="2000" b="1" dirty="0">
                <a:solidFill>
                  <a:srgbClr val="0E7C86"/>
                </a:solidFill>
                <a:latin typeface="Calibri" pitchFamily="34" charset="0"/>
                <a:ea typeface="Calibri" pitchFamily="34" charset="-122"/>
                <a:cs typeface="Calibri" pitchFamily="34" charset="-120"/>
              </a:rPr>
              <a:t>03</a:t>
            </a:r>
            <a:endParaRPr lang="en-US" sz="2000" dirty="0"/>
          </a:p>
        </p:txBody>
      </p:sp>
      <p:sp>
        <p:nvSpPr>
          <p:cNvPr id="33" name="Text 27"/>
          <p:cNvSpPr txBox="1"/>
          <p:nvPr/>
        </p:nvSpPr>
        <p:spPr>
          <a:xfrm>
            <a:off x="6208776" y="1938528"/>
            <a:ext cx="23774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Calculer avec des sommes</a:t>
            </a:r>
            <a:endParaRPr lang="en-US" sz="1200" dirty="0"/>
          </a:p>
        </p:txBody>
      </p:sp>
      <p:sp>
        <p:nvSpPr>
          <p:cNvPr id="34" name="Text 28"/>
          <p:cNvSpPr txBox="1"/>
          <p:nvPr/>
        </p:nvSpPr>
        <p:spPr>
          <a:xfrm>
            <a:off x="6208776" y="2212848"/>
            <a:ext cx="2395728" cy="58521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 moteurs parallèles exigent des statistiques décomposables ; dimensionner avant de multiplier.</a:t>
            </a:r>
            <a:endParaRPr lang="en-US" sz="950" dirty="0"/>
          </a:p>
        </p:txBody>
      </p:sp>
      <p:sp>
        <p:nvSpPr>
          <p:cNvPr id="35" name="Shape 29"/>
          <p:cNvSpPr/>
          <p:nvPr/>
        </p:nvSpPr>
        <p:spPr>
          <a:xfrm>
            <a:off x="457200" y="2971800"/>
            <a:ext cx="2624328" cy="1554480"/>
          </a:xfrm>
          <a:prstGeom prst="roundRect">
            <a:avLst>
              <a:gd name="adj" fmla="val 4706"/>
            </a:avLst>
          </a:prstGeom>
          <a:solidFill>
            <a:srgbClr val="FFFFFF"/>
          </a:solidFill>
          <a:ln w="15875">
            <a:solidFill>
              <a:srgbClr val="D49A00"/>
            </a:solidFill>
            <a:prstDash val="solid"/>
          </a:ln>
        </p:spPr>
      </p:sp>
      <p:sp>
        <p:nvSpPr>
          <p:cNvPr id="36" name="Shape 30"/>
          <p:cNvSpPr/>
          <p:nvPr/>
        </p:nvSpPr>
        <p:spPr>
          <a:xfrm>
            <a:off x="594360" y="3108960"/>
            <a:ext cx="457200" cy="457200"/>
          </a:xfrm>
          <a:prstGeom prst="ellipse">
            <a:avLst/>
          </a:prstGeom>
          <a:solidFill>
            <a:srgbClr val="D49A00">
              <a:alpha val="22000"/>
            </a:srgbClr>
          </a:solidFill>
          <a:ln/>
        </p:spPr>
      </p:sp>
      <p:pic>
        <p:nvPicPr>
          <p:cNvPr id="37" name="Image 3" descr="preencoded.png"/>
          <p:cNvPicPr>
            <a:picLocks noChangeAspect="1"/>
          </p:cNvPicPr>
          <p:nvPr/>
        </p:nvPicPr>
        <p:blipFill>
          <a:blip r:embed="rId6"/>
          <a:stretch>
            <a:fillRect/>
          </a:stretch>
        </p:blipFill>
        <p:spPr>
          <a:xfrm>
            <a:off x="708660" y="3223260"/>
            <a:ext cx="228600" cy="228600"/>
          </a:xfrm>
          <a:prstGeom prst="rect">
            <a:avLst/>
          </a:prstGeom>
        </p:spPr>
      </p:pic>
      <p:sp>
        <p:nvSpPr>
          <p:cNvPr id="38" name="Text 31"/>
          <p:cNvSpPr txBox="1"/>
          <p:nvPr/>
        </p:nvSpPr>
        <p:spPr>
          <a:xfrm>
            <a:off x="2468880" y="3108960"/>
            <a:ext cx="457200" cy="365760"/>
          </a:xfrm>
          <a:prstGeom prst="rect">
            <a:avLst/>
          </a:prstGeom>
          <a:noFill/>
          <a:ln/>
        </p:spPr>
        <p:txBody>
          <a:bodyPr wrap="square" lIns="0" tIns="0" rIns="0" bIns="0" rtlCol="0" anchor="t"/>
          <a:lstStyle/>
          <a:p>
            <a:pPr marL="0" indent="0" algn="r">
              <a:buNone/>
            </a:pPr>
            <a:r>
              <a:rPr lang="en-US" sz="2000" b="1" dirty="0">
                <a:solidFill>
                  <a:srgbClr val="D49A00"/>
                </a:solidFill>
                <a:latin typeface="Calibri" pitchFamily="34" charset="0"/>
                <a:ea typeface="Calibri" pitchFamily="34" charset="-122"/>
                <a:cs typeface="Calibri" pitchFamily="34" charset="-120"/>
              </a:rPr>
              <a:t>04</a:t>
            </a:r>
            <a:endParaRPr lang="en-US" sz="2000" dirty="0"/>
          </a:p>
        </p:txBody>
      </p:sp>
      <p:sp>
        <p:nvSpPr>
          <p:cNvPr id="39" name="Text 32"/>
          <p:cNvSpPr txBox="1"/>
          <p:nvPr/>
        </p:nvSpPr>
        <p:spPr>
          <a:xfrm>
            <a:off x="594360" y="3630168"/>
            <a:ext cx="23774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Indexer pour l’interactivité</a:t>
            </a:r>
            <a:endParaRPr lang="en-US" sz="1200" dirty="0"/>
          </a:p>
        </p:txBody>
      </p:sp>
      <p:sp>
        <p:nvSpPr>
          <p:cNvPr id="40" name="Text 33"/>
          <p:cNvSpPr txBox="1"/>
          <p:nvPr/>
        </p:nvSpPr>
        <p:spPr>
          <a:xfrm>
            <a:off x="594360" y="3904488"/>
            <a:ext cx="2395728" cy="58521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Un moteur de recherche répond vite, mais reste un index, jamais la source de vérité.</a:t>
            </a:r>
            <a:endParaRPr lang="en-US" sz="950" dirty="0"/>
          </a:p>
        </p:txBody>
      </p:sp>
      <p:sp>
        <p:nvSpPr>
          <p:cNvPr id="41" name="Shape 34"/>
          <p:cNvSpPr/>
          <p:nvPr/>
        </p:nvSpPr>
        <p:spPr>
          <a:xfrm>
            <a:off x="3264408" y="2971800"/>
            <a:ext cx="2624328" cy="1554480"/>
          </a:xfrm>
          <a:prstGeom prst="roundRect">
            <a:avLst>
              <a:gd name="adj" fmla="val 4706"/>
            </a:avLst>
          </a:prstGeom>
          <a:solidFill>
            <a:srgbClr val="FFFFFF"/>
          </a:solidFill>
          <a:ln w="15875">
            <a:solidFill>
              <a:srgbClr val="C4621D"/>
            </a:solidFill>
            <a:prstDash val="solid"/>
          </a:ln>
        </p:spPr>
      </p:sp>
      <p:sp>
        <p:nvSpPr>
          <p:cNvPr id="42" name="Shape 35"/>
          <p:cNvSpPr/>
          <p:nvPr/>
        </p:nvSpPr>
        <p:spPr>
          <a:xfrm>
            <a:off x="3401568" y="3108960"/>
            <a:ext cx="457200" cy="457200"/>
          </a:xfrm>
          <a:prstGeom prst="ellipse">
            <a:avLst/>
          </a:prstGeom>
          <a:solidFill>
            <a:srgbClr val="C4621D">
              <a:alpha val="22000"/>
            </a:srgbClr>
          </a:solidFill>
          <a:ln/>
        </p:spPr>
      </p:sp>
      <p:pic>
        <p:nvPicPr>
          <p:cNvPr id="43" name="Image 4" descr="preencoded.png"/>
          <p:cNvPicPr>
            <a:picLocks noChangeAspect="1"/>
          </p:cNvPicPr>
          <p:nvPr/>
        </p:nvPicPr>
        <p:blipFill>
          <a:blip r:embed="rId7"/>
          <a:stretch>
            <a:fillRect/>
          </a:stretch>
        </p:blipFill>
        <p:spPr>
          <a:xfrm>
            <a:off x="3515868" y="3223260"/>
            <a:ext cx="228600" cy="228600"/>
          </a:xfrm>
          <a:prstGeom prst="rect">
            <a:avLst/>
          </a:prstGeom>
        </p:spPr>
      </p:pic>
      <p:sp>
        <p:nvSpPr>
          <p:cNvPr id="44" name="Text 36"/>
          <p:cNvSpPr txBox="1"/>
          <p:nvPr/>
        </p:nvSpPr>
        <p:spPr>
          <a:xfrm>
            <a:off x="5276088" y="3108960"/>
            <a:ext cx="457200" cy="365760"/>
          </a:xfrm>
          <a:prstGeom prst="rect">
            <a:avLst/>
          </a:prstGeom>
          <a:noFill/>
          <a:ln/>
        </p:spPr>
        <p:txBody>
          <a:bodyPr wrap="square" lIns="0" tIns="0" rIns="0" bIns="0" rtlCol="0" anchor="t"/>
          <a:lstStyle/>
          <a:p>
            <a:pPr marL="0" indent="0" algn="r">
              <a:buNone/>
            </a:pPr>
            <a:r>
              <a:rPr lang="en-US" sz="2000" b="1" dirty="0">
                <a:solidFill>
                  <a:srgbClr val="C4621D"/>
                </a:solidFill>
                <a:latin typeface="Calibri" pitchFamily="34" charset="0"/>
                <a:ea typeface="Calibri" pitchFamily="34" charset="-122"/>
                <a:cs typeface="Calibri" pitchFamily="34" charset="-120"/>
              </a:rPr>
              <a:t>05</a:t>
            </a:r>
            <a:endParaRPr lang="en-US" sz="2000" dirty="0"/>
          </a:p>
        </p:txBody>
      </p:sp>
      <p:sp>
        <p:nvSpPr>
          <p:cNvPr id="45" name="Text 37"/>
          <p:cNvSpPr txBox="1"/>
          <p:nvPr/>
        </p:nvSpPr>
        <p:spPr>
          <a:xfrm>
            <a:off x="3401568" y="3630168"/>
            <a:ext cx="23774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Automatiser avec des contrôles</a:t>
            </a:r>
            <a:endParaRPr lang="en-US" sz="1200" dirty="0"/>
          </a:p>
        </p:txBody>
      </p:sp>
      <p:sp>
        <p:nvSpPr>
          <p:cNvPr id="46" name="Text 38"/>
          <p:cNvSpPr txBox="1"/>
          <p:nvPr/>
        </p:nvSpPr>
        <p:spPr>
          <a:xfrm>
            <a:off x="3401568" y="3904488"/>
            <a:ext cx="2395728" cy="58521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 chaînes s’exécutent au calendrier et s’arrêtent en cas d’échec : jamais de publication silencieuse.</a:t>
            </a:r>
            <a:endParaRPr lang="en-US" sz="950" dirty="0"/>
          </a:p>
        </p:txBody>
      </p:sp>
      <p:sp>
        <p:nvSpPr>
          <p:cNvPr id="47" name="Shape 39"/>
          <p:cNvSpPr/>
          <p:nvPr/>
        </p:nvSpPr>
        <p:spPr>
          <a:xfrm>
            <a:off x="6071616" y="2971800"/>
            <a:ext cx="2624328" cy="1554480"/>
          </a:xfrm>
          <a:prstGeom prst="roundRect">
            <a:avLst>
              <a:gd name="adj" fmla="val 4706"/>
            </a:avLst>
          </a:prstGeom>
          <a:solidFill>
            <a:srgbClr val="FFFFFF"/>
          </a:solidFill>
          <a:ln w="15875">
            <a:solidFill>
              <a:srgbClr val="B83B2E"/>
            </a:solidFill>
            <a:prstDash val="solid"/>
          </a:ln>
        </p:spPr>
      </p:sp>
      <p:sp>
        <p:nvSpPr>
          <p:cNvPr id="48" name="Shape 40"/>
          <p:cNvSpPr/>
          <p:nvPr/>
        </p:nvSpPr>
        <p:spPr>
          <a:xfrm>
            <a:off x="6208776" y="3108960"/>
            <a:ext cx="457200" cy="457200"/>
          </a:xfrm>
          <a:prstGeom prst="ellipse">
            <a:avLst/>
          </a:prstGeom>
          <a:solidFill>
            <a:srgbClr val="B83B2E">
              <a:alpha val="22000"/>
            </a:srgbClr>
          </a:solidFill>
          <a:ln/>
        </p:spPr>
      </p:sp>
      <p:pic>
        <p:nvPicPr>
          <p:cNvPr id="49" name="Image 5" descr="preencoded.png"/>
          <p:cNvPicPr>
            <a:picLocks noChangeAspect="1"/>
          </p:cNvPicPr>
          <p:nvPr/>
        </p:nvPicPr>
        <p:blipFill>
          <a:blip r:embed="rId8"/>
          <a:stretch>
            <a:fillRect/>
          </a:stretch>
        </p:blipFill>
        <p:spPr>
          <a:xfrm>
            <a:off x="6323076" y="3223260"/>
            <a:ext cx="228600" cy="228600"/>
          </a:xfrm>
          <a:prstGeom prst="rect">
            <a:avLst/>
          </a:prstGeom>
        </p:spPr>
      </p:pic>
      <p:sp>
        <p:nvSpPr>
          <p:cNvPr id="50" name="Text 41"/>
          <p:cNvSpPr txBox="1"/>
          <p:nvPr/>
        </p:nvSpPr>
        <p:spPr>
          <a:xfrm>
            <a:off x="8083296" y="3108960"/>
            <a:ext cx="457200" cy="365760"/>
          </a:xfrm>
          <a:prstGeom prst="rect">
            <a:avLst/>
          </a:prstGeom>
          <a:noFill/>
          <a:ln/>
        </p:spPr>
        <p:txBody>
          <a:bodyPr wrap="square" lIns="0" tIns="0" rIns="0" bIns="0" rtlCol="0" anchor="t"/>
          <a:lstStyle/>
          <a:p>
            <a:pPr marL="0" indent="0" algn="r">
              <a:buNone/>
            </a:pPr>
            <a:r>
              <a:rPr lang="en-US" sz="2000" b="1" dirty="0">
                <a:solidFill>
                  <a:srgbClr val="B83B2E"/>
                </a:solidFill>
                <a:latin typeface="Calibri" pitchFamily="34" charset="0"/>
                <a:ea typeface="Calibri" pitchFamily="34" charset="-122"/>
                <a:cs typeface="Calibri" pitchFamily="34" charset="-120"/>
              </a:rPr>
              <a:t>06</a:t>
            </a:r>
            <a:endParaRPr lang="en-US" sz="2000" dirty="0"/>
          </a:p>
        </p:txBody>
      </p:sp>
      <p:sp>
        <p:nvSpPr>
          <p:cNvPr id="51" name="Text 42"/>
          <p:cNvSpPr txBox="1"/>
          <p:nvPr/>
        </p:nvSpPr>
        <p:spPr>
          <a:xfrm>
            <a:off x="6208776" y="3630168"/>
            <a:ext cx="237744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Rendre chaque chiffre traçable</a:t>
            </a:r>
            <a:endParaRPr lang="en-US" sz="1200" dirty="0"/>
          </a:p>
        </p:txBody>
      </p:sp>
      <p:sp>
        <p:nvSpPr>
          <p:cNvPr id="52" name="Text 43"/>
          <p:cNvSpPr txBox="1"/>
          <p:nvPr/>
        </p:nvSpPr>
        <p:spPr>
          <a:xfrm>
            <a:off x="6208776" y="3904488"/>
            <a:ext cx="2395728" cy="58521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Versionner code, données et environnement ; documenter méthodes et limites.</a:t>
            </a:r>
            <a:endParaRPr lang="en-US" sz="9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QUESTIONS ET DISCUSSION</a:t>
            </a:r>
            <a:endParaRPr lang="en-US" sz="1050" dirty="0"/>
          </a:p>
        </p:txBody>
      </p:sp>
      <p:sp>
        <p:nvSpPr>
          <p:cNvPr id="3" name="Text 1"/>
          <p:cNvSpPr txBox="1"/>
          <p:nvPr/>
        </p:nvSpPr>
        <p:spPr>
          <a:xfrm>
            <a:off x="548640" y="1143000"/>
            <a:ext cx="54864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Merci</a:t>
            </a:r>
            <a:endParaRPr lang="en-US" sz="4800" dirty="0"/>
          </a:p>
        </p:txBody>
      </p:sp>
      <p:sp>
        <p:nvSpPr>
          <p:cNvPr id="7" name="Shape 5"/>
          <p:cNvSpPr/>
          <p:nvPr/>
        </p:nvSpPr>
        <p:spPr>
          <a:xfrm>
            <a:off x="6172200" y="1325880"/>
            <a:ext cx="2468880" cy="2468880"/>
          </a:xfrm>
          <a:prstGeom prst="ellipse">
            <a:avLst/>
          </a:prstGeom>
          <a:solidFill>
            <a:srgbClr val="FFFFFF">
              <a:alpha val="10000"/>
            </a:srgbClr>
          </a:solidFill>
          <a:ln/>
        </p:spPr>
      </p:sp>
      <p:sp>
        <p:nvSpPr>
          <p:cNvPr id="8" name="Shape 6"/>
          <p:cNvSpPr/>
          <p:nvPr/>
        </p:nvSpPr>
        <p:spPr>
          <a:xfrm>
            <a:off x="6537960" y="1691640"/>
            <a:ext cx="1737360" cy="1737360"/>
          </a:xfrm>
          <a:prstGeom prst="ellipse">
            <a:avLst/>
          </a:prstGeom>
          <a:solidFill>
            <a:srgbClr val="FFFFFF">
              <a:alpha val="15000"/>
            </a:srgbClr>
          </a:solidFill>
          <a:ln/>
        </p:spPr>
      </p:sp>
      <p:sp>
        <p:nvSpPr>
          <p:cNvPr id="9" name="Shape 7"/>
          <p:cNvSpPr/>
          <p:nvPr/>
        </p:nvSpPr>
        <p:spPr>
          <a:xfrm>
            <a:off x="6858000" y="2011680"/>
            <a:ext cx="1097280" cy="109728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7132320" y="2286000"/>
            <a:ext cx="548640" cy="548640"/>
          </a:xfrm>
          <a:prstGeom prst="rect">
            <a:avLst/>
          </a:prstGeom>
        </p:spPr>
      </p:pic>
      <p:sp>
        <p:nvSpPr>
          <p:cNvPr id="11" name="Text 8"/>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RÉFÉRENCES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Sources et lectures complémentaires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BAD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7" name="Shape 14"/>
          <p:cNvSpPr/>
          <p:nvPr/>
        </p:nvSpPr>
        <p:spPr>
          <a:xfrm>
            <a:off x="457200" y="1280160"/>
            <a:ext cx="4023360" cy="1508760"/>
          </a:xfrm>
          <a:prstGeom prst="roundRect">
            <a:avLst>
              <a:gd name="adj" fmla="val 4848"/>
            </a:avLst>
          </a:prstGeom>
          <a:solidFill>
            <a:srgbClr val="F4F7F5"/>
          </a:solidFill>
          <a:ln w="9525">
            <a:solidFill>
              <a:srgbClr val="D5DED9"/>
            </a:solidFill>
            <a:prstDash val="solid"/>
          </a:ln>
        </p:spPr>
      </p:sp>
      <p:sp>
        <p:nvSpPr>
          <p:cNvPr id="18" name="Text 15"/>
          <p:cNvSpPr txBox="1"/>
          <p:nvPr/>
        </p:nvSpPr>
        <p:spPr>
          <a:xfrm>
            <a:off x="594360" y="1371600"/>
            <a:ext cx="374904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Données utilisées dans les labos</a:t>
            </a:r>
            <a:endParaRPr lang="en-US" sz="1200" dirty="0"/>
          </a:p>
        </p:txBody>
      </p:sp>
      <p:sp>
        <p:nvSpPr>
          <p:cNvPr id="19" name="Text 16"/>
          <p:cNvSpPr txBox="1"/>
          <p:nvPr/>
        </p:nvSpPr>
        <p:spPr>
          <a:xfrm>
            <a:off x="594360" y="1645920"/>
            <a:ext cx="3749040" cy="111556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Ookla — Speedtest Global Performance Open Data, github.com/teamookla/ookla-open-data</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WorldPop — données démographiques spatiales ouvertes, worldpop.org</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NASA — lumières nocturnes Black Marble (produits VNP46)</a:t>
            </a:r>
            <a:endParaRPr lang="en-US" sz="850" dirty="0"/>
          </a:p>
        </p:txBody>
      </p:sp>
      <p:sp>
        <p:nvSpPr>
          <p:cNvPr id="20" name="Shape 17"/>
          <p:cNvSpPr/>
          <p:nvPr/>
        </p:nvSpPr>
        <p:spPr>
          <a:xfrm>
            <a:off x="4663440" y="1280160"/>
            <a:ext cx="4023360" cy="1508760"/>
          </a:xfrm>
          <a:prstGeom prst="roundRect">
            <a:avLst>
              <a:gd name="adj" fmla="val 4848"/>
            </a:avLst>
          </a:prstGeom>
          <a:solidFill>
            <a:srgbClr val="F4F7F5"/>
          </a:solidFill>
          <a:ln w="9525">
            <a:solidFill>
              <a:srgbClr val="D5DED9"/>
            </a:solidFill>
            <a:prstDash val="solid"/>
          </a:ln>
        </p:spPr>
      </p:sp>
      <p:sp>
        <p:nvSpPr>
          <p:cNvPr id="21" name="Text 18"/>
          <p:cNvSpPr txBox="1"/>
          <p:nvPr/>
        </p:nvSpPr>
        <p:spPr>
          <a:xfrm>
            <a:off x="4800600" y="1371600"/>
            <a:ext cx="374904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Fondements</a:t>
            </a:r>
            <a:endParaRPr lang="en-US" sz="1200" dirty="0"/>
          </a:p>
        </p:txBody>
      </p:sp>
      <p:sp>
        <p:nvSpPr>
          <p:cNvPr id="22" name="Text 19"/>
          <p:cNvSpPr txBox="1"/>
          <p:nvPr/>
        </p:nvSpPr>
        <p:spPr>
          <a:xfrm>
            <a:off x="4800600" y="1645920"/>
            <a:ext cx="3749040" cy="111556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Dean &amp; Ghemawat, « MapReduce », OSDI 2004</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Zaharia et al., « Apache Spark: A Unified Engine for Big Data Processing », CACM 2016</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Armbrust et al., « Lakehouse », CIDR 2021</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McKinney, « Apache Arrow and the 10 Things I Hate About pandas », 2017</a:t>
            </a:r>
            <a:endParaRPr lang="en-US" sz="850" dirty="0"/>
          </a:p>
        </p:txBody>
      </p:sp>
      <p:sp>
        <p:nvSpPr>
          <p:cNvPr id="23" name="Shape 20"/>
          <p:cNvSpPr/>
          <p:nvPr/>
        </p:nvSpPr>
        <p:spPr>
          <a:xfrm>
            <a:off x="457200" y="2926080"/>
            <a:ext cx="4023360" cy="1508760"/>
          </a:xfrm>
          <a:prstGeom prst="roundRect">
            <a:avLst>
              <a:gd name="adj" fmla="val 4848"/>
            </a:avLst>
          </a:prstGeom>
          <a:solidFill>
            <a:srgbClr val="F4F7F5"/>
          </a:solidFill>
          <a:ln w="9525">
            <a:solidFill>
              <a:srgbClr val="D5DED9"/>
            </a:solidFill>
            <a:prstDash val="solid"/>
          </a:ln>
        </p:spPr>
      </p:sp>
      <p:sp>
        <p:nvSpPr>
          <p:cNvPr id="24" name="Text 21"/>
          <p:cNvSpPr txBox="1"/>
          <p:nvPr/>
        </p:nvSpPr>
        <p:spPr>
          <a:xfrm>
            <a:off x="594360" y="3017520"/>
            <a:ext cx="374904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Documentation technique</a:t>
            </a:r>
            <a:endParaRPr lang="en-US" sz="1200" dirty="0"/>
          </a:p>
        </p:txBody>
      </p:sp>
      <p:sp>
        <p:nvSpPr>
          <p:cNvPr id="25" name="Text 22"/>
          <p:cNvSpPr txBox="1"/>
          <p:nvPr/>
        </p:nvSpPr>
        <p:spPr>
          <a:xfrm>
            <a:off x="594360" y="3291840"/>
            <a:ext cx="3749040" cy="111556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Apache Hadoop HDFS Architecture · Apache Parquet</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Apache Spark · Apache Iceberg · Delta Lake</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DuckDB · Elasticsearch Reference</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Apache Airflow · intégration GitHub–Zenodo</a:t>
            </a:r>
            <a:endParaRPr lang="en-US" sz="850" dirty="0"/>
          </a:p>
        </p:txBody>
      </p:sp>
      <p:sp>
        <p:nvSpPr>
          <p:cNvPr id="26" name="Shape 23"/>
          <p:cNvSpPr/>
          <p:nvPr/>
        </p:nvSpPr>
        <p:spPr>
          <a:xfrm>
            <a:off x="4663440" y="2926080"/>
            <a:ext cx="4023360" cy="1508760"/>
          </a:xfrm>
          <a:prstGeom prst="roundRect">
            <a:avLst>
              <a:gd name="adj" fmla="val 4848"/>
            </a:avLst>
          </a:prstGeom>
          <a:solidFill>
            <a:srgbClr val="F4F7F5"/>
          </a:solidFill>
          <a:ln w="9525">
            <a:solidFill>
              <a:srgbClr val="D5DED9"/>
            </a:solidFill>
            <a:prstDash val="solid"/>
          </a:ln>
        </p:spPr>
      </p:sp>
      <p:sp>
        <p:nvSpPr>
          <p:cNvPr id="27" name="Text 24"/>
          <p:cNvSpPr txBox="1"/>
          <p:nvPr/>
        </p:nvSpPr>
        <p:spPr>
          <a:xfrm>
            <a:off x="4800600" y="3017520"/>
            <a:ext cx="374904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Cadres de la statistique officielle</a:t>
            </a:r>
            <a:endParaRPr lang="en-US" sz="1200" dirty="0"/>
          </a:p>
        </p:txBody>
      </p:sp>
      <p:sp>
        <p:nvSpPr>
          <p:cNvPr id="28" name="Text 25"/>
          <p:cNvSpPr txBox="1"/>
          <p:nvPr/>
        </p:nvSpPr>
        <p:spPr>
          <a:xfrm>
            <a:off x="4800600" y="3291840"/>
            <a:ext cx="3749040" cy="111556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CEE-ONU — Modèle générique du processus de production statistique (GSBPM)</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CEE-ONU — Cadre de qualité pour les statistiques issues du big data</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SDMX · DDI · GSIM · W3C DCAT</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Comité d’experts des Nations unies sur le big data et la science des données pour la statistique officielle</a:t>
            </a:r>
            <a:endParaRPr lang="en-US" sz="8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9263</Words>
  <Application>Microsoft Office PowerPoint</Application>
  <PresentationFormat>On-screen Show (16:9)</PresentationFormat>
  <Paragraphs>833</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Banque africaine de développement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Passer à l’échelle : technologies big data pour les systèmes statistiques</dc:title>
  <dc:subject>BAD – Data Innovation for Africa (DI4A)</dc:subject>
  <dc:creator>BAD – Data Innovation for Africa (DI4A)</dc:creator>
  <cp:lastModifiedBy>HADJ TAIEB, MOHAMED ALI</cp:lastModifiedBy>
  <cp:revision>4</cp:revision>
  <dcterms:created xsi:type="dcterms:W3CDTF">2026-09-16T13:52:31Z</dcterms:created>
  <dcterms:modified xsi:type="dcterms:W3CDTF">2026-09-30T05:15:43Z</dcterms:modified>
</cp:coreProperties>
</file>